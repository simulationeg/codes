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204"/>
  </p:notesMasterIdLst>
  <p:sldIdLst>
    <p:sldId id="256" r:id="rId2"/>
    <p:sldId id="257" r:id="rId3"/>
    <p:sldId id="258" r:id="rId4"/>
    <p:sldId id="259" r:id="rId5"/>
    <p:sldId id="260" r:id="rId6"/>
    <p:sldId id="261" r:id="rId7"/>
    <p:sldId id="262" r:id="rId8"/>
    <p:sldId id="264" r:id="rId9"/>
    <p:sldId id="265" r:id="rId10"/>
    <p:sldId id="266" r:id="rId11"/>
    <p:sldId id="267" r:id="rId12"/>
    <p:sldId id="268" r:id="rId13"/>
    <p:sldId id="269" r:id="rId14"/>
    <p:sldId id="270" r:id="rId15"/>
    <p:sldId id="271" r:id="rId16"/>
    <p:sldId id="272" r:id="rId17"/>
    <p:sldId id="273" r:id="rId18"/>
    <p:sldId id="274" r:id="rId19"/>
    <p:sldId id="275" r:id="rId20"/>
    <p:sldId id="277" r:id="rId21"/>
    <p:sldId id="278" r:id="rId22"/>
    <p:sldId id="279" r:id="rId23"/>
    <p:sldId id="280" r:id="rId24"/>
    <p:sldId id="281" r:id="rId25"/>
    <p:sldId id="282" r:id="rId26"/>
    <p:sldId id="283" r:id="rId27"/>
    <p:sldId id="285" r:id="rId28"/>
    <p:sldId id="286" r:id="rId29"/>
    <p:sldId id="444" r:id="rId30"/>
    <p:sldId id="287" r:id="rId31"/>
    <p:sldId id="445" r:id="rId32"/>
    <p:sldId id="446" r:id="rId33"/>
    <p:sldId id="447" r:id="rId34"/>
    <p:sldId id="448" r:id="rId35"/>
    <p:sldId id="449" r:id="rId36"/>
    <p:sldId id="288" r:id="rId37"/>
    <p:sldId id="451" r:id="rId38"/>
    <p:sldId id="290" r:id="rId39"/>
    <p:sldId id="291" r:id="rId40"/>
    <p:sldId id="292" r:id="rId41"/>
    <p:sldId id="293" r:id="rId42"/>
    <p:sldId id="295" r:id="rId43"/>
    <p:sldId id="296" r:id="rId44"/>
    <p:sldId id="452" r:id="rId45"/>
    <p:sldId id="453" r:id="rId46"/>
    <p:sldId id="454" r:id="rId47"/>
    <p:sldId id="455" r:id="rId48"/>
    <p:sldId id="456" r:id="rId49"/>
    <p:sldId id="457" r:id="rId50"/>
    <p:sldId id="458" r:id="rId51"/>
    <p:sldId id="459" r:id="rId52"/>
    <p:sldId id="474" r:id="rId53"/>
    <p:sldId id="460" r:id="rId54"/>
    <p:sldId id="461" r:id="rId55"/>
    <p:sldId id="462" r:id="rId56"/>
    <p:sldId id="463" r:id="rId57"/>
    <p:sldId id="464" r:id="rId58"/>
    <p:sldId id="465" r:id="rId59"/>
    <p:sldId id="466" r:id="rId60"/>
    <p:sldId id="467" r:id="rId61"/>
    <p:sldId id="468" r:id="rId62"/>
    <p:sldId id="469" r:id="rId63"/>
    <p:sldId id="470" r:id="rId64"/>
    <p:sldId id="471" r:id="rId65"/>
    <p:sldId id="472" r:id="rId66"/>
    <p:sldId id="476" r:id="rId67"/>
    <p:sldId id="477" r:id="rId68"/>
    <p:sldId id="473" r:id="rId69"/>
    <p:sldId id="478" r:id="rId70"/>
    <p:sldId id="479" r:id="rId71"/>
    <p:sldId id="480" r:id="rId72"/>
    <p:sldId id="481" r:id="rId73"/>
    <p:sldId id="482" r:id="rId74"/>
    <p:sldId id="483" r:id="rId75"/>
    <p:sldId id="484" r:id="rId76"/>
    <p:sldId id="334" r:id="rId77"/>
    <p:sldId id="335" r:id="rId78"/>
    <p:sldId id="336" r:id="rId79"/>
    <p:sldId id="337" r:id="rId80"/>
    <p:sldId id="338" r:id="rId81"/>
    <p:sldId id="339" r:id="rId82"/>
    <p:sldId id="340" r:id="rId83"/>
    <p:sldId id="486" r:id="rId84"/>
    <p:sldId id="344" r:id="rId85"/>
    <p:sldId id="487" r:id="rId86"/>
    <p:sldId id="506" r:id="rId87"/>
    <p:sldId id="509" r:id="rId88"/>
    <p:sldId id="510" r:id="rId89"/>
    <p:sldId id="345" r:id="rId90"/>
    <p:sldId id="346" r:id="rId91"/>
    <p:sldId id="347" r:id="rId92"/>
    <p:sldId id="348" r:id="rId93"/>
    <p:sldId id="349" r:id="rId94"/>
    <p:sldId id="350" r:id="rId95"/>
    <p:sldId id="351" r:id="rId96"/>
    <p:sldId id="352" r:id="rId97"/>
    <p:sldId id="353" r:id="rId98"/>
    <p:sldId id="354" r:id="rId99"/>
    <p:sldId id="355" r:id="rId100"/>
    <p:sldId id="356" r:id="rId101"/>
    <p:sldId id="358" r:id="rId102"/>
    <p:sldId id="360" r:id="rId103"/>
    <p:sldId id="361" r:id="rId104"/>
    <p:sldId id="362" r:id="rId105"/>
    <p:sldId id="363" r:id="rId106"/>
    <p:sldId id="364" r:id="rId107"/>
    <p:sldId id="365" r:id="rId108"/>
    <p:sldId id="366" r:id="rId109"/>
    <p:sldId id="367" r:id="rId110"/>
    <p:sldId id="368" r:id="rId111"/>
    <p:sldId id="369" r:id="rId112"/>
    <p:sldId id="370" r:id="rId113"/>
    <p:sldId id="371" r:id="rId114"/>
    <p:sldId id="372" r:id="rId115"/>
    <p:sldId id="373" r:id="rId116"/>
    <p:sldId id="374" r:id="rId117"/>
    <p:sldId id="375" r:id="rId118"/>
    <p:sldId id="376" r:id="rId119"/>
    <p:sldId id="377" r:id="rId120"/>
    <p:sldId id="496" r:id="rId121"/>
    <p:sldId id="512" r:id="rId122"/>
    <p:sldId id="405" r:id="rId123"/>
    <p:sldId id="511" r:id="rId124"/>
    <p:sldId id="513" r:id="rId125"/>
    <p:sldId id="497" r:id="rId126"/>
    <p:sldId id="378" r:id="rId127"/>
    <p:sldId id="488" r:id="rId128"/>
    <p:sldId id="379" r:id="rId129"/>
    <p:sldId id="498" r:id="rId130"/>
    <p:sldId id="383" r:id="rId131"/>
    <p:sldId id="384" r:id="rId132"/>
    <p:sldId id="385" r:id="rId133"/>
    <p:sldId id="489" r:id="rId134"/>
    <p:sldId id="386" r:id="rId135"/>
    <p:sldId id="387" r:id="rId136"/>
    <p:sldId id="388" r:id="rId137"/>
    <p:sldId id="389" r:id="rId138"/>
    <p:sldId id="390" r:id="rId139"/>
    <p:sldId id="391" r:id="rId140"/>
    <p:sldId id="392" r:id="rId141"/>
    <p:sldId id="393" r:id="rId142"/>
    <p:sldId id="499" r:id="rId143"/>
    <p:sldId id="394" r:id="rId144"/>
    <p:sldId id="395" r:id="rId145"/>
    <p:sldId id="396" r:id="rId146"/>
    <p:sldId id="397" r:id="rId147"/>
    <p:sldId id="398" r:id="rId148"/>
    <p:sldId id="399" r:id="rId149"/>
    <p:sldId id="500" r:id="rId150"/>
    <p:sldId id="400" r:id="rId151"/>
    <p:sldId id="490" r:id="rId152"/>
    <p:sldId id="491" r:id="rId153"/>
    <p:sldId id="401" r:id="rId154"/>
    <p:sldId id="402" r:id="rId155"/>
    <p:sldId id="403" r:id="rId156"/>
    <p:sldId id="404" r:id="rId157"/>
    <p:sldId id="492" r:id="rId158"/>
    <p:sldId id="501" r:id="rId159"/>
    <p:sldId id="409" r:id="rId160"/>
    <p:sldId id="406" r:id="rId161"/>
    <p:sldId id="410" r:id="rId162"/>
    <p:sldId id="411" r:id="rId163"/>
    <p:sldId id="493" r:id="rId164"/>
    <p:sldId id="407" r:id="rId165"/>
    <p:sldId id="408" r:id="rId166"/>
    <p:sldId id="412" r:id="rId167"/>
    <p:sldId id="413" r:id="rId168"/>
    <p:sldId id="502" r:id="rId169"/>
    <p:sldId id="414" r:id="rId170"/>
    <p:sldId id="415" r:id="rId171"/>
    <p:sldId id="416" r:id="rId172"/>
    <p:sldId id="494" r:id="rId173"/>
    <p:sldId id="503" r:id="rId174"/>
    <p:sldId id="417" r:id="rId175"/>
    <p:sldId id="418" r:id="rId176"/>
    <p:sldId id="419" r:id="rId177"/>
    <p:sldId id="420" r:id="rId178"/>
    <p:sldId id="421" r:id="rId179"/>
    <p:sldId id="422" r:id="rId180"/>
    <p:sldId id="504" r:id="rId181"/>
    <p:sldId id="423" r:id="rId182"/>
    <p:sldId id="424" r:id="rId183"/>
    <p:sldId id="425" r:id="rId184"/>
    <p:sldId id="426" r:id="rId185"/>
    <p:sldId id="427" r:id="rId186"/>
    <p:sldId id="428" r:id="rId187"/>
    <p:sldId id="505" r:id="rId188"/>
    <p:sldId id="429" r:id="rId189"/>
    <p:sldId id="430" r:id="rId190"/>
    <p:sldId id="431" r:id="rId191"/>
    <p:sldId id="432" r:id="rId192"/>
    <p:sldId id="433" r:id="rId193"/>
    <p:sldId id="434" r:id="rId194"/>
    <p:sldId id="435" r:id="rId195"/>
    <p:sldId id="436" r:id="rId196"/>
    <p:sldId id="437" r:id="rId197"/>
    <p:sldId id="438" r:id="rId198"/>
    <p:sldId id="439" r:id="rId199"/>
    <p:sldId id="440" r:id="rId200"/>
    <p:sldId id="441" r:id="rId201"/>
    <p:sldId id="442" r:id="rId202"/>
    <p:sldId id="443" r:id="rId203"/>
  </p:sldIdLst>
  <p:sldSz cx="12192000" cy="6858000"/>
  <p:notesSz cx="6858000" cy="12192000"/>
  <p:defaultTex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611"/>
    <p:restoredTop sz="94610"/>
  </p:normalViewPr>
  <p:slideViewPr>
    <p:cSldViewPr snapToGrid="0" snapToObjects="1">
      <p:cViewPr varScale="1">
        <p:scale>
          <a:sx n="93" d="100"/>
          <a:sy n="93" d="100"/>
        </p:scale>
        <p:origin x="312" y="8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presProps" Target="presProps.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viewProps" Target="viewProps.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theme" Target="theme/theme1.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199" Type="http://schemas.openxmlformats.org/officeDocument/2006/relationships/slide" Target="slides/slide198.xml"/><Relationship Id="rId203" Type="http://schemas.openxmlformats.org/officeDocument/2006/relationships/slide" Target="slides/slide202.xml"/><Relationship Id="rId208" Type="http://schemas.openxmlformats.org/officeDocument/2006/relationships/tableStyles" Target="tableStyle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190" Type="http://schemas.openxmlformats.org/officeDocument/2006/relationships/slide" Target="slides/slide189.xml"/><Relationship Id="rId204" Type="http://schemas.openxmlformats.org/officeDocument/2006/relationships/notesMaster" Target="notesMasters/notesMaster1.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0657468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Part 11. We have written a lot of rules; now we prove they work, automatically, after every change. We start from zero: why we test and what a test is. Then one tool at a time, each one only when a problem needs it. At the end we test the real SwiftBite repository like a real company would.</a:t>
            </a:r>
          </a:p>
          <a:p>
            <a:r>
              <a:rPr lang="en-US" dirty="0"/>
              <a:t>Ask: How do you know today that the code you wrote last week still works?</a:t>
            </a: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Six chapters. Every new tool appears only when a problem asks for it: we never install a library before we need it.</a:t>
            </a:r>
          </a:p>
          <a:p>
            <a:r>
              <a:rPr lang="en-US" dirty="0"/>
              <a:t>Ask: Who has ever fixed one bug and created another one somewhere else?</a:t>
            </a:r>
          </a:p>
          <a:p>
            <a:r>
              <a:rPr lang="en-US" dirty="0"/>
              <a:t>Clicks: 1: why test · 2: first test · 3: many cases · 4: hidden inputs · 5: test doubles · 6: real project · 7: the rule of this part.</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Chapter 01. No code yet. First we agree on WHY.</a:t>
            </a: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Tell it like a story. A developer cleans up the discount code before the weekend. One extra zero. Nobody re-checks every order type by hand. On Saturday the cap is 500 instead of 50 and big orders get huge discounts.</a:t>
            </a:r>
          </a:p>
          <a:p>
            <a:r>
              <a:rPr lang="en-US" dirty="0"/>
              <a:t>Ask: What would have caught this in 2 seconds, before the merge? (A test with the row 1000 → 950.)</a:t>
            </a:r>
          </a:p>
          <a:p>
            <a:r>
              <a:rPr lang="en-US" dirty="0"/>
              <a:t>Clicks: 1: code · 2: review · 3: deploy · 4: production · 5: the cost · 6: one test row would have caught it.</a:t>
            </a: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These are well-documented public incidents. In each case one assumption was never checked under the real conditions.</a:t>
            </a:r>
          </a:p>
          <a:p>
            <a:r>
              <a:rPr lang="en-US" dirty="0"/>
              <a:t>Ariane 5 (1996): code reused from Ariane 4 converted a 64-bit number to a 16-bit integer; the larger value overflowed and the rocket was lost about 37 seconds after launch.</a:t>
            </a:r>
          </a:p>
          <a:p>
            <a:r>
              <a:rPr lang="en-US" dirty="0"/>
              <a:t>Mars Climate Orbiter (1999): one team used imperial units, the other metric; the spacecraft was lost.</a:t>
            </a:r>
          </a:p>
          <a:p>
            <a:r>
              <a:rPr lang="en-US" dirty="0"/>
              <a:t>Knight Capital (2012): a deployment reactivated old code on one server; the firm lost about 440 million dollars in roughly 45 minutes.</a:t>
            </a:r>
          </a:p>
          <a:p>
            <a:r>
              <a:rPr lang="en-US" dirty="0"/>
              <a:t>CrowdStrike (2024): a faulty configuration update crashed about 8.5 million Windows machines worldwide.</a:t>
            </a:r>
          </a:p>
          <a:p>
            <a:r>
              <a:rPr lang="en-US" dirty="0"/>
              <a:t>Ask: Which of these four is a boundary problem? Which is a units problem?</a:t>
            </a:r>
          </a:p>
          <a:p>
            <a:r>
              <a:rPr lang="en-US" dirty="0"/>
              <a:t>Clicks: 1: Ariane 5 · 2: Mars Climate Orbiter · 3: Knight Capital · 4: CrowdStrike.</a:t>
            </a: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You change one line in a price calculation. To be sure nothing broke, you would have to run the app and click through every rule by hand. Nobody does that after every change, so bugs slip through. A test is code that checks code: it runs every rule in seconds, the same way every time. The later a bug is found, the more it costs.</a:t>
            </a:r>
          </a:p>
          <a:p>
            <a:r>
              <a:rPr lang="en-US" dirty="0"/>
              <a:t>Ask: How long would it take you to re-check every rule of your last project by hand?</a:t>
            </a:r>
          </a:p>
          <a:p>
            <a:r>
              <a:rPr lang="en-US" dirty="0"/>
              <a:t>Clicks: 1: checking by hand · 2: automated tests · 3: the cost of a bug grows.</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Show the flow. We give the unit a known input, we know the correct answer in advance, and the test compares. A unit is one method or one class, running in memory: no database, no network, no files, so it runs in milliseconds.</a:t>
            </a:r>
          </a:p>
          <a:p>
            <a:r>
              <a:rPr lang="en-US" dirty="0"/>
              <a:t>Ask: If we already know the correct answer, why do we still need the test? (Because the code changes; the answer must not.)</a:t>
            </a:r>
          </a:p>
          <a:p>
            <a:r>
              <a:rPr lang="en-US" dirty="0"/>
              <a:t>Clicks: 1: compare with the expected value · 2: green or red · 3: what makes it a UNIT test.</a:t>
            </a: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Most tests should be unit tests: they are fast and point exactly at the broken rule. Integration tests check real pieces together. A few end-to-end tests drive the whole app like a user. Higher tests catch wiring mistakes but are slower and harder to debug.</a:t>
            </a:r>
          </a:p>
          <a:p>
            <a:r>
              <a:rPr lang="en-US" dirty="0"/>
              <a:t>Ask: Which level would test that a score of 84 gives a B?</a:t>
            </a:r>
          </a:p>
          <a:p>
            <a:r>
              <a:rPr lang="en-US" dirty="0"/>
              <a:t>Clicks: 1: unit: the base · 2: integration · 3: end-to-end · 4: the shape.</a:t>
            </a: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Students often ask "do I test everything?" No. Test behavior that has rules and can break. Do not test code you did not write or code with no logic.</a:t>
            </a:r>
          </a:p>
          <a:p>
            <a:r>
              <a:rPr lang="en-US" dirty="0"/>
              <a:t>Ask: A class has 10 auto-properties and one CalculateTotal method. How many of those deserve tests?</a:t>
            </a:r>
          </a:p>
          <a:p>
            <a:r>
              <a:rPr lang="en-US" dirty="0"/>
              <a:t>Clicks: 1: test these · 2: skip these · 3: rule of thumb.</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In most software houses a feature is not "done" until it has tests and the CI pipeline is green. The pipeline runs dotnet test on every pull request; a red build blocks the merge.</a:t>
            </a:r>
          </a:p>
          <a:p>
            <a:r>
              <a:rPr lang="en-US" dirty="0"/>
              <a:t>Ask: Who loses more time: the developer who writes 4 tests, or the team that debugs production on Saturday?</a:t>
            </a:r>
          </a:p>
          <a:p>
            <a:r>
              <a:rPr lang="en-US" dirty="0"/>
              <a:t>Clicks: 1: a red build · 2: team rules.</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Chapter 02. One small class, BankAccount, from the first line to a full test class.</a:t>
            </a: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We start with a tiny class so the tool does not hide the idea. Read Deposit line by line and turn every branch into a sentence: that list is your test plan.</a:t>
            </a:r>
          </a:p>
          <a:p>
            <a:r>
              <a:rPr lang="en-US" dirty="0"/>
              <a:t>Ask: How many rules can you find in Deposit? (Three: it adds, it refuses 0 or less, and a refused deposit changes nothing.)</a:t>
            </a:r>
          </a:p>
          <a:p>
            <a:r>
              <a:rPr lang="en-US" dirty="0"/>
              <a:t>Clicks: 1: R1: it adds · 2: R2: it refuses · 3: R3: nothing changes · 4: tip.</a:t>
            </a: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There is no magic number. Walk each rule through four questions: the normal case, the edges, the invalid input, and the state after a refusal. Values that behave the same (all negative numbers) need only one representative: that is called an equivalence class.</a:t>
            </a:r>
          </a:p>
          <a:p>
            <a:r>
              <a:rPr lang="en-US" dirty="0"/>
              <a:t>Ask: Why is -50 enough, and we do not also test -51, -52, -1000? (Same behavior: one class.)</a:t>
            </a:r>
          </a:p>
          <a:p>
            <a:r>
              <a:rPr lang="en-US" dirty="0"/>
              <a:t>Clicks: 1: apply them to Deposit · 2: the number.</a:t>
            </a: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When a test turns red in CI, you see its name before you open anything. A good name already says which method, in which situation, and what should have happened.</a:t>
            </a:r>
          </a:p>
          <a:p>
            <a:r>
              <a:rPr lang="en-US" dirty="0"/>
              <a:t>Also name the class after the class under test (BankAccountTests) and mirror the folders of src.</a:t>
            </a:r>
          </a:p>
          <a:p>
            <a:r>
              <a:rPr lang="en-US" dirty="0"/>
              <a:t>Ask: "Test1 failed." What do you know? "Deposit_Zero_Throws failed." What do you know now?</a:t>
            </a:r>
          </a:p>
          <a:p>
            <a:r>
              <a:rPr lang="en-US" dirty="0"/>
              <a:t>Clicks: 1: bad names · 2: good names = documentation.</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 xunit template already contains everything for a first test: xUnit, its runner and the test SDK. We do NOT install other libraries yet; each one will be added the moment a problem needs it.</a:t>
            </a:r>
          </a:p>
          <a:p>
            <a:r>
              <a:rPr lang="en-US" dirty="0"/>
              <a:t>Ask: Why should the tests not live inside Bank.Core itself? (They would ship to production.)</a:t>
            </a:r>
          </a:p>
          <a:p>
            <a:r>
              <a:rPr lang="en-US" dirty="0"/>
              <a:t>Clicks: 1: four commands · 2: what the template has · 3: what we do not install yet.</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Every test has three parts. Arrange: build what you need. Act: call the ONE thing you test. Assert: check the result. [Fact] tells xUnit "this method is a test". Assert.Equal takes the EXPECTED value first, then the ACTUAL one.</a:t>
            </a:r>
          </a:p>
          <a:p>
            <a:r>
              <a:rPr lang="en-US" dirty="0"/>
              <a:t>Ask: If this test fails, what does its name tell you before you even open it?</a:t>
            </a:r>
          </a:p>
          <a:p>
            <a:r>
              <a:rPr lang="en-US" dirty="0"/>
              <a:t>Clicks: 1: [fact] · 2: arrange · 3: act · 4: assert.</a:t>
            </a: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Green the first time proves little: maybe the test checks nothing. Break the code on purpose (+= becomes -=), run again, and read the failure message. Then undo the break. Now you know the test can catch that bug.</a:t>
            </a:r>
          </a:p>
          <a:p>
            <a:r>
              <a:rPr lang="en-US" dirty="0"/>
              <a:t>Ask: What would it mean if the test stayed green after you broke the code?</a:t>
            </a:r>
          </a:p>
          <a:p>
            <a:r>
              <a:rPr lang="en-US" dirty="0"/>
              <a:t>Clicks: 1: green · 2: break the code · 3: red: the message · 4: the rule.</a:t>
            </a: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This looks like a test of the exception, but it has no assertion. If Deposit throws, the catch swallows it: green. If someone deletes the check and Deposit accepts -50: also green. A test that can never fail tests nothing.</a:t>
            </a:r>
          </a:p>
          <a:p>
            <a:r>
              <a:rPr lang="en-US" dirty="0"/>
              <a:t>Ask: Delete the if from Deposit. What color is this test?</a:t>
            </a:r>
          </a:p>
          <a:p>
            <a:r>
              <a:rPr lang="en-US" dirty="0"/>
              <a:t>Clicks: 1: the trap · 2: what we need.</a:t>
            </a: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Assert.Throws&lt;T&gt; runs the lambda, fails the test if no exception (or another type) is thrown, and RETURNS the exception so we can check which rule fired. We pass a lambda because xUnit must call the code inside its own try/catch. Then we check R3: the balance did not change.</a:t>
            </a:r>
          </a:p>
          <a:p>
            <a:r>
              <a:rPr lang="en-US" dirty="0"/>
              <a:t>For async code: await Assert.ThrowsAsync&lt;T&gt;(...).</a:t>
            </a:r>
          </a:p>
          <a:p>
            <a:r>
              <a:rPr lang="en-US" dirty="0"/>
              <a:t>Ask: Why pass () =&gt; account.Deposit(-50m) and not call account.Deposit(-50m) directly?</a:t>
            </a:r>
          </a:p>
          <a:p>
            <a:r>
              <a:rPr lang="en-US" dirty="0"/>
              <a:t>Clicks: 1: Assert.Throws + lambda · 2: the right rule · 3: nothing changed · 4: now it CAN fail.</a:t>
            </a: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Five properties of a good unit test. Fast: milliseconds. Isolated: does not depend on other tests. Repeatable: same result on every machine, every time. Self-checking: it asserts; nobody reads output by eye. Timely: written with the code, not months later.</a:t>
            </a:r>
          </a:p>
          <a:p>
            <a:r>
              <a:rPr lang="en-US" dirty="0"/>
              <a:t>Ask: Which letter does the try/catch test from before break? (S: it does not check itself.)</a:t>
            </a: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Ask: Let pairs list the cases on paper before revealing.</a:t>
            </a:r>
          </a:p>
          <a:p>
            <a:r>
              <a:rPr lang="en-US" dirty="0"/>
              <a:t>Clicks: 1: reveal the answer.</a:t>
            </a: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Chapter 03. We ended Chapter 02 with two tests that had the same body. Now we fix that.</a:t>
            </a: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A Fact takes no parameters, so every input becomes a new method with the same body. Nine inputs, nine copies. A change to the assertion must be copied nine times, and the input is hidden inside a method name.</a:t>
            </a:r>
          </a:p>
          <a:p>
            <a:r>
              <a:rPr lang="en-US" dirty="0"/>
              <a:t>Ask: You find a new bad email. How many lines do you add?</a:t>
            </a:r>
          </a:p>
          <a:p>
            <a:r>
              <a:rPr lang="en-US" dirty="0"/>
              <a:t>Clicks: 1: one method per input · 2: only the input changes.</a:t>
            </a: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A Theory is a test WITH parameters. Every InlineData row is one set of arguments. xUnit runs the method once per row and lists each row as its own test, so you see exactly which input failed. A new case is one line, not a new method. Still no new package: Theory is part of xUnit.</a:t>
            </a:r>
          </a:p>
          <a:p>
            <a:r>
              <a:rPr lang="en-US" dirty="0"/>
              <a:t>Ask: You find an email the validator gets wrong. What do you add?</a:t>
            </a:r>
          </a:p>
          <a:p>
            <a:r>
              <a:rPr lang="en-US" dirty="0"/>
              <a:t>Clicks: 1: [Theory] · 2: rows of data · 3: the parameter · 4: each row is its own test · 5: Fact vs Theory.</a:t>
            </a: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Look at each condition in IsValid and break it on purpose: empty, missing @, nothing before @, two @, no dot after @, a dot at the end. Every condition in the code gets a row that violates it. That is how you choose the rows.</a:t>
            </a:r>
          </a:p>
          <a:p>
            <a:r>
              <a:rPr lang="en-US" dirty="0"/>
              <a:t>Ask: Which line of IsValid does "mona@@gmail.com" attack?</a:t>
            </a:r>
          </a:p>
          <a:p>
            <a:r>
              <a:rPr lang="en-US" dirty="0"/>
              <a:t>Clicks: 1: every row passes · 2: how to choose rows.</a:t>
            </a: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A row can hold several values: the input AND the result you expect. The rows become a table of the rule. Pick the edges: 85 is the lowest A, 84 the highest B. The second theory checks the out-of-range scores.</a:t>
            </a:r>
          </a:p>
          <a:p>
            <a:r>
              <a:rPr lang="en-US" dirty="0"/>
              <a:t>Ask: A developer changes "&gt;= 85" to "&gt; 85". Which row turns red?</a:t>
            </a:r>
          </a:p>
          <a:p>
            <a:r>
              <a:rPr lang="en-US" dirty="0"/>
              <a:t>Clicks: 1: the tests · 2: a row = input + expected · 3: which row catches "&gt; 85"?.</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Attribute arguments must be compile-time constants of a few simple types. decimal is not one of them, so [InlineData(99.90m)] does not compile. Using double instead is wrong for money (0.1 + 0.2 is not 0.3). We need rows that live in normal C# code.</a:t>
            </a:r>
          </a:p>
          <a:p>
            <a:r>
              <a:rPr lang="en-US" dirty="0"/>
              <a:t>Ask: Why not just use double for prices in the test?</a:t>
            </a:r>
          </a:p>
          <a:p>
            <a:r>
              <a:rPr lang="en-US" dirty="0"/>
              <a:t>Clicks: 1: decimal rows · 2: it does not compile.</a:t>
            </a: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Put the rows in a static property and point the Theory at it with MemberData(nameof(...)). TheoryData&lt;T1, T2&gt; is a typed list of rows, so the compiler checks every row. Any type works: decimal, dates, objects. The 1000 row is exactly the Friday bug from Chapter 01. ClassData is a third option for rows kept in their own class.</a:t>
            </a:r>
          </a:p>
          <a:p>
            <a:r>
              <a:rPr lang="en-US" dirty="0"/>
              <a:t>Ask: Which row would fail if someone forgot the Math.Min cap? Which if someone wrote 500m instead of 50m?</a:t>
            </a:r>
          </a:p>
          <a:p>
            <a:r>
              <a:rPr lang="en-US" dirty="0"/>
              <a:t>Clicks: 1: typed rows in a property · 2: point the Theory at them · 3: the Friday bug row · 4: three ways to give rows.</a:t>
            </a: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Start from the familiar version: the rows sit directly above the test method. ClassData moves the same rows into a class of their own. Step 1: a class that inherits TheoryData&lt;decimal, decimal&gt;: every row has two decimals, price and expected, and the constructor adds the rows. Step 2: point the Theory at that class with [ClassData(typeof(PriceTestData))].</a:t>
            </a:r>
          </a:p>
          <a:p>
            <a:r>
              <a:rPr lang="en-US" dirty="0"/>
              <a:t>When the test runs, xUnit creates a PriceTestData instance, reads its rows, runs the test once per row, and reports each row as its own result.</a:t>
            </a:r>
          </a:p>
          <a:p>
            <a:r>
              <a:rPr lang="en-US" dirty="0"/>
              <a:t>Ask: Which other test class could reuse PriceTestData?</a:t>
            </a:r>
          </a:p>
          <a:p>
            <a:r>
              <a:rPr lang="en-US" dirty="0"/>
              <a:t>Clicks: 1: step 1: the data class · 2: the rows · 3: step 2: connect it · 4: what xUnit does.</a:t>
            </a: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With many tests, the failure message is what you read first. xUnit prints two numbers; which variable? Swap the arguments and the message lies. Shouldly turns asserts into extension methods: actual.ShouldBe(expected), and prints the EXPRESSION that failed. This is the first extra package, so we install it now.</a:t>
            </a:r>
          </a:p>
          <a:p>
            <a:r>
              <a:rPr lang="en-US" dirty="0"/>
              <a:t>FluentAssertions is the other popular library, but version 8+ (January 2025) needs a paid license for commercial use; version 7 stays free. Shouldly is free.</a:t>
            </a:r>
          </a:p>
          <a:p>
            <a:r>
              <a:rPr lang="en-US" dirty="0"/>
              <a:t>Ask: Assert.Equal(account.Balance, 150m): what is wrong?</a:t>
            </a:r>
          </a:p>
          <a:p>
            <a:r>
              <a:rPr lang="en-US" dirty="0"/>
              <a:t>Clicks: 1: the confusing failure · 2: install Shouldly now · 3: reads like English · 4: the message names the expression · 5: about FluentAssertions.</a:t>
            </a: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Every xUnit assert has a Shouldly twin. The big change is the order: you start from the value you have, then say what it should be. No more guessing which argument is expected and which is actual.</a:t>
            </a:r>
          </a:p>
          <a:p>
            <a:r>
              <a:rPr lang="en-US" dirty="0"/>
              <a:t>Ask: Read row 1 aloud in English. Which version sounds like a sentence?</a:t>
            </a:r>
          </a:p>
          <a:p>
            <a:r>
              <a:rPr lang="en-US" dirty="0"/>
              <a:t>Clicks: 1: equality · 2: bool and null · 3: strings, collections, ranges · 4: exceptions.</a:t>
            </a: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ShouldBe is the one you will use most. Add a custom message as a second argument when the number alone is not clear. For ranges and limits there are readable helpers: ShouldBeInRange, ShouldBeLessThan, ShouldBeGreaterThanOrEqualTo, ShouldBePositive. For double, always give a tolerance: floating-point math is never exact.</a:t>
            </a:r>
          </a:p>
          <a:p>
            <a:r>
              <a:rPr lang="en-US" dirty="0"/>
              <a:t>Ask: Which assertion would you use for "the discount is never more than 50 EGP"?</a:t>
            </a:r>
          </a:p>
          <a:p>
            <a:r>
              <a:rPr lang="en-US" dirty="0"/>
              <a:t>Clicks: 1: ShouldBe + a message · 2: your message in the failure · 3: ranges and limits · 4: double needs a tolerance.</a:t>
            </a: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Booleans read like sentences. For strings, check the part that matters, not the whole text: ShouldStartWith, ShouldContain, ShouldMatch for a pattern. Case.Insensitive when capital letters do not matter. ShouldBeNull and ShouldNotBeNull for lookups.</a:t>
            </a:r>
          </a:p>
          <a:p>
            <a:r>
              <a:rPr lang="en-US" dirty="0"/>
              <a:t>Ask: Why check ShouldContain("100.00 EGP") instead of ShouldBe on the whole receipt?</a:t>
            </a:r>
          </a:p>
          <a:p>
            <a:r>
              <a:rPr lang="en-US" dirty="0"/>
              <a:t>Clicks: 1: booleans · 2: strings: check the part · 3: null.</a:t>
            </a: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Lists are where Shouldly shines. ShouldAllBe checks every item with one condition. ShouldContain and ShouldNotContain take a condition too. ShouldBe on two lists compares item by item; ignoreOrder: true when order does not matter. ShouldHaveSingleItem returns that item, so you can keep checking it.</a:t>
            </a:r>
          </a:p>
          <a:p>
            <a:r>
              <a:rPr lang="en-US" dirty="0"/>
              <a:t>Ask: Which assertion fails if Bogus generated the same email twice?</a:t>
            </a:r>
          </a:p>
          <a:p>
            <a:r>
              <a:rPr lang="en-US" dirty="0"/>
              <a:t>Clicks: 1: every item, any item, no item · 2: it names the bad items · 3: comparing lists · 4: exactly one.</a:t>
            </a: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Should.Throw&lt;T&gt; works like Assert.Throws and returns the exception, so you check the message. Should.NotThrow for "this must stay quiet". Should.ThrowAsync for async code. ShouldSatisfyAllConditions runs every check and reports ALL failures together, instead of stopping at the first one.</a:t>
            </a:r>
          </a:p>
          <a:p>
            <a:r>
              <a:rPr lang="en-US" dirty="0"/>
              <a:t>Ask: Subtotal and VAT are both wrong. How many failures does a normal test show? How many with ShouldSatisfyAllConditions?</a:t>
            </a:r>
          </a:p>
          <a:p>
            <a:r>
              <a:rPr lang="en-US" dirty="0"/>
              <a:t>Clicks: 1: Should.Throw + the message · 2: NotThrow and ThrowAsync · 3: many checks at once.</a:t>
            </a: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Bogus generates realistic names, emails, phones and numbers, so one test can check a hundred valid inputs. RuleFor says how to fill each property. "010########" replaces every # with a digit. UseSeed makes the data identical on every run, so a red test can be reproduced. Second package: install it now.</a:t>
            </a:r>
          </a:p>
          <a:p>
            <a:r>
              <a:rPr lang="en-US" dirty="0"/>
              <a:t>Also know AutoFixture: "any valid value" for fields you do not care about.</a:t>
            </a:r>
          </a:p>
          <a:p>
            <a:r>
              <a:rPr lang="en-US" dirty="0"/>
              <a:t>Ask: A Bogus-based test fails once in 200 runs. What is the first thing to add?</a:t>
            </a:r>
          </a:p>
          <a:p>
            <a:r>
              <a:rPr lang="en-US" dirty="0"/>
              <a:t>Clicks: 1: install Bogus now · 2: a Faker with rules · 3: realistic values · 4: always seed it · 5: 100 customers, one test.</a:t>
            </a: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UseSeed(2026) fixes one long random sequence. A Faker keeps the state of its random generator, and the state moves forward with every Generate. So with one shared static Faker, Test 1 takes customers 1–100 of the sequence and Test 2 takes 101–200: not the same customers. Worse, xUnit does not promise an order: if Test 2 runs first, it gets 1–100. The data now depends on which tests ran before, exactly the flaky-test problem.</a:t>
            </a:r>
          </a:p>
          <a:p>
            <a:r>
              <a:rPr lang="en-US" dirty="0"/>
              <a:t>Fix: create a NEW Faker for every test with the same seed. Every test starts at the beginning of the sequence: same ages, same order, in any run order.</a:t>
            </a:r>
          </a:p>
          <a:p>
            <a:r>
              <a:rPr lang="en-US" dirty="0"/>
              <a:t>Ask: Your Bogus test fails only in the full run, never alone. What do you check first?</a:t>
            </a:r>
          </a:p>
          <a:p>
            <a:r>
              <a:rPr lang="en-US" dirty="0"/>
              <a:t>Clicks: 1: one shared Faker · 2: two tests use it · 3: Test 1 takes the first 100 · 4: Test 2 gets the NEXT 100 · 5: the fix: a new Faker per test · 6: both start at the beginning.</a:t>
            </a: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Chapter 04. Code that is hard to test, and the small design changes that make it testable.</a:t>
            </a: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 class reads DateTime.Now itself. So "closed at 11 PM" passes only when the test runs at night. The test is not wrong: the class hides an input. Random, DateTime.Now, files and the network are all hidden inputs.</a:t>
            </a:r>
          </a:p>
          <a:p>
            <a:r>
              <a:rPr lang="en-US" dirty="0"/>
              <a:t>Ask: Which other hidden inputs make tests flaky the same way?</a:t>
            </a:r>
          </a:p>
          <a:p>
            <a:r>
              <a:rPr lang="en-US" dirty="0"/>
              <a:t>Clicks: 1: run it at different times · 2: the hidden input.</a:t>
            </a: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Give the class the time from outside. .NET 8 has TimeProvider for exactly this. Production passes TimeProvider.System; the test passes a FakeTimeProvider frozen at any moment and moved with Advance. It lives in a separate package, so we install it now. For a simple method, a DateTime parameter works too: SwiftBite does that.</a:t>
            </a:r>
          </a:p>
          <a:p>
            <a:r>
              <a:rPr lang="en-US" dirty="0"/>
              <a:t>Ask: What does the production code pass to ShopHours?</a:t>
            </a:r>
          </a:p>
          <a:p>
            <a:r>
              <a:rPr lang="en-US" dirty="0"/>
              <a:t>Clicks: 1: time comes in · 2: install the fake clock · 3: freeze it at 23:00 · 4: move it forward.</a:t>
            </a: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A flaky test passes or fails without any code change. Number comes from a static counter shared by the whole run: the first invoice is 1 only if no other test created one before. xUnit runs test classes in parallel and in no fixed order. PaymentCode is random. Fix: assert RELATIVE to the objects, check the shape of random values, never change static or global settings in a test.</a:t>
            </a:r>
          </a:p>
          <a:p>
            <a:r>
              <a:rPr lang="en-US" dirty="0"/>
              <a:t>Ask: The suite passes alone, but fails on the build server. What do you suspect first?</a:t>
            </a:r>
          </a:p>
          <a:p>
            <a:r>
              <a:rPr lang="en-US" dirty="0"/>
              <a:t>Clicks: 1: the hidden traps · 2: assert relative to the objects.</a:t>
            </a: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If every test writes to the same file, one test leaves data that the next one reads, and results depend on the order. xUnit already helps: it creates a NEW instance of the test class for every test. The constructor is your setup; Dispose (IDisposable) is your cleanup. Each test gets its own temporary folder, deleted afterwards. For something expensive to share, xUnit has IClassFixture.</a:t>
            </a:r>
          </a:p>
          <a:p>
            <a:r>
              <a:rPr lang="en-US" dirty="0"/>
              <a:t>Ask: If test 1 adds Mona to a field list, does test 2 see her?</a:t>
            </a:r>
          </a:p>
          <a:p>
            <a:r>
              <a:rPr lang="en-US" dirty="0"/>
              <a:t>Clicks: 1: constructor = setup · 2: Dispose = cleanup · 3: a new object for every test · 4: isolated by design · 5: sharing on purpose.</a:t>
            </a: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An async void test cannot be awaited by the runner: it may report success before the test finished; the xUnit analyzer warns about it and xUnit v3 refuses it. .Result blocks and wraps exceptions. A test method can simply return Task, and xUnit awaits it.</a:t>
            </a:r>
          </a:p>
          <a:p>
            <a:r>
              <a:rPr lang="en-US" dirty="0"/>
              <a:t>Ask: Why is async void even worse in a test than in normal code?</a:t>
            </a:r>
          </a:p>
          <a:p>
            <a:r>
              <a:rPr lang="en-US" dirty="0"/>
              <a:t>Clicks: 1: two traps · 2: async Task + await.</a:t>
            </a: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Chapter 05. Real classes have dependencies. We learn five doubles, one page each, from the simplest to the most used.</a:t>
            </a: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TransferService moves money between two BankAccounts. To do that it needs three things it does not own: a repository (a SQL database in production), an email sender (a real SMTP server) and a logger. It depends on INTERFACES for all three: the Dependency Inversion Principle. If a test used the real ones it would need a server, send real emails to real customers, run slowly, and still could not check that an email was sent.</a:t>
            </a:r>
          </a:p>
          <a:p>
            <a:r>
              <a:rPr lang="en-US" dirty="0"/>
              <a:t>Ask: What would happen if a test used the real email sender?</a:t>
            </a:r>
          </a:p>
          <a:p>
            <a:r>
              <a:rPr lang="en-US" dirty="0"/>
              <a:t>Clicks: 1: the service · 2: the risky calls.</a:t>
            </a: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In production, TransferService talks to a real database and a real SMTP server. In a test we pass stand-ins, like a stunt double in a film. Because the service depends on interfaces, the swap needs no change in the service.</a:t>
            </a:r>
          </a:p>
          <a:p>
            <a:r>
              <a:rPr lang="en-US" dirty="0"/>
              <a:t>Ask: Which SOLID principle makes this swap possible?</a:t>
            </a:r>
          </a:p>
          <a:p>
            <a:r>
              <a:rPr lang="en-US" dirty="0"/>
              <a:t>Clicks: 1: it depends on interfaces · 2: in production · 3: in the test · 4: the rule.</a:t>
            </a: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the table row by row. The stars show how often you will really use each one in a company.</a:t>
            </a:r>
          </a:p>
          <a:p>
            <a:r>
              <a:rPr lang="en-US" dirty="0"/>
              <a:t>STUB and MOCK are the two you use every day (with NSubstitute). FAKE is common for repositories. DUMMY and SPY are good to know, but you rarely name them: NSubstitute covers them.</a:t>
            </a:r>
          </a:p>
          <a:p>
            <a:r>
              <a:rPr lang="en-US" dirty="0"/>
              <a:t>We learn them from the simplest to the most used: dummy → fake → spy by hand, then stub → mock with NSubstitute.</a:t>
            </a:r>
          </a:p>
          <a:p>
            <a:r>
              <a:rPr lang="en-US" dirty="0"/>
              <a:t>Clicks: 1: stub · 2: mock · 3: fake · 4: dummy · 5: spy · 6: our order.</a:t>
            </a: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PriceCalculator needs an ILogger, but only uses it when the quantity is negative. Our test checks the normal path: 10 × 3 = 30.</a:t>
            </a:r>
          </a:p>
          <a:p>
            <a:r>
              <a:rPr lang="en-US" dirty="0"/>
              <a:t>We still MUST pass something to the constructor. A dummy fills the parameter and does nothing.</a:t>
            </a:r>
          </a:p>
          <a:p>
            <a:r>
              <a:rPr lang="en-US" dirty="0"/>
              <a:t>With NSubstitute later, Substitute.For&lt;ILogger&gt;() is a dummy in one line, so you rarely write or name dummies in real projects.</a:t>
            </a:r>
          </a:p>
          <a:p>
            <a:r>
              <a:rPr lang="en-US" dirty="0"/>
              <a:t>Clicks: 1: when to use it · 2: what you need · 3: the class + the dummy · 4: the test · 5: highlight: new DummyLogger() · 6: remember.</a:t>
            </a: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TransferService finds two accounts, changes them and SAVES them. A stub that returns fixed answers would not remember the saves.</a:t>
            </a:r>
          </a:p>
          <a:p>
            <a:r>
              <a:rPr lang="en-US" dirty="0"/>
              <a:t>A fake is a real implementation, just simple: a Dictionary instead of SQL Server. We save Mona and Ali, run the REAL TransferService, and read the balances back: 400 and 150.</a:t>
            </a:r>
          </a:p>
          <a:p>
            <a:r>
              <a:rPr lang="en-US" dirty="0"/>
              <a:t>Email and logger are not part of this test: dummies.</a:t>
            </a:r>
          </a:p>
          <a:p>
            <a:r>
              <a:rPr lang="en-US" dirty="0"/>
              <a:t>Clicks: 1: when to use it · 2: what you need · 3: the fake · 4: the test · 5: highlight: new InMemoryAccountRepository() · 6: highlight: Balance.ShouldBe(400m) · 7: remember.</a:t>
            </a: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Send returns void: there is no result to check. The spy simply remembers every call in a list.</a:t>
            </a:r>
          </a:p>
          <a:p>
            <a:r>
              <a:rPr lang="en-US" dirty="0"/>
              <a:t>After the transfer, the test reads the list: exactly one email, to Mona, with the right text.</a:t>
            </a:r>
          </a:p>
          <a:p>
            <a:r>
              <a:rPr lang="en-US" dirty="0"/>
              <a:t>This is the same idea a mock library gives us with Received(). That is why, after the next slide, we rarely write spies by hand.</a:t>
            </a:r>
          </a:p>
          <a:p>
            <a:r>
              <a:rPr lang="en-US" dirty="0"/>
              <a:t>Clicks: 1: when to use it · 2: what you need · 3: the spy · 4: the test · 5: highlight: new SpyEmailSender() · 6: highlight: Assert.Single · 7: remember.</a:t>
            </a: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Hand-written doubles work, but they multiply: a stub that returns 48.5, another that returns 0, another that throws; a spy for emails, another for SMS. The doubles become more code than the tests. A mocking library creates them at runtime in one line. This is when we install NSubstitute.</a:t>
            </a:r>
          </a:p>
          <a:p>
            <a:r>
              <a:rPr lang="en-US" dirty="0"/>
              <a:t>Ask: How many hand-written classes would 10 interfaces × 3 behaviors need?</a:t>
            </a:r>
          </a:p>
          <a:p>
            <a:r>
              <a:rPr lang="en-US" dirty="0"/>
              <a:t>Clicks: 1: install NSubstitute now · 2: one line instead of a class.</a:t>
            </a: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the table row by row. The jobs are identical: create, pass to the class, stub an answer, make it throw, verify a call, verify no call.</a:t>
            </a:r>
          </a:p>
          <a:p>
            <a:r>
              <a:rPr lang="en-US" dirty="0"/>
              <a:t>Moq: the most common in existing .NET code. You work with a Mock&lt;T&gt; object and pass .Object; Setup/Verify with lambdas.</a:t>
            </a:r>
          </a:p>
          <a:p>
            <a:r>
              <a:rPr lang="en-US" dirty="0"/>
              <a:t>NSubstitute: the double IS the interface, shortest syntax. Our choice in this course.</a:t>
            </a:r>
          </a:p>
          <a:p>
            <a:r>
              <a:rPr lang="en-US" dirty="0"/>
              <a:t>FakeItEasy: A.Fake / A.CallTo, very readable, smaller community.</a:t>
            </a:r>
          </a:p>
          <a:p>
            <a:r>
              <a:rPr lang="en-US" dirty="0"/>
              <a:t>Clicks: 1: row: create · 2: row: pass it · 3: row: stub · 4: row: any arg · 5: row: throw · 6: row: verify once · 7: row: verify never · 8: how each one feels.</a:t>
            </a:r>
          </a:p>
        </p:txBody>
      </p:sp>
    </p:spTree>
    <p:extLst>
      <p:ext uri="{BB962C8B-B14F-4D97-AF65-F5344CB8AC3E}">
        <p14:creationId xmlns:p14="http://schemas.microsoft.com/office/powerpoint/2010/main" val="385906726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CurrencyConverter needs today's rate. In production it comes from a web API: slow, needs internet, different every minute. The test cannot predict it.</a:t>
            </a:r>
          </a:p>
          <a:p>
            <a:r>
              <a:rPr lang="en-US" dirty="0"/>
              <a:t>A stub returns exactly what the test says: 48.5. Now 10 USD must be 485 EGP on every run.</a:t>
            </a:r>
          </a:p>
          <a:p>
            <a:r>
              <a:rPr lang="en-US" dirty="0"/>
              <a:t>What you need: the interface (the class receives it in the constructor), the NSubstitute package, using NSubstitute, Substitute.For&lt;T&gt;() and .Returns(value).</a:t>
            </a:r>
          </a:p>
          <a:p>
            <a:r>
              <a:rPr lang="en-US" dirty="0"/>
              <a:t>Important: a stub is only asked for data. We check the RESULT (485), not how the stub was called.</a:t>
            </a:r>
          </a:p>
          <a:p>
            <a:r>
              <a:rPr lang="en-US" dirty="0"/>
              <a:t>Clicks: 1: when to use it · 2: what you need · 3: the class under test · 4: the test · 5: highlight: Substitute.For · 6: highlight: .Returns(48.5m) · 7: highlight: ShouldBe(485m) · 8: remember.</a:t>
            </a: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Go through the recipes. Each one answers: which situation do I want the class to see?</a:t>
            </a:r>
          </a:p>
          <a:p>
            <a:r>
              <a:rPr lang="en-US" dirty="0"/>
              <a:t>Fixed answer, any argument, a different answer on each call (retries, paging), the dependency FAILING (API down), and "not found" (null).</a:t>
            </a:r>
          </a:p>
          <a:p>
            <a:r>
              <a:rPr lang="en-US" dirty="0"/>
              <a:t>The test below makes the API fail and checks the converter does not hide the error.</a:t>
            </a:r>
          </a:p>
          <a:p>
            <a:r>
              <a:rPr lang="en-US" dirty="0"/>
              <a:t>Clicks: 1: recipe 1 · 2: recipe 2 · 3: recipe 3 · 4: recipe 4 · 5: recipe 5 · 6: a full test: the API fails.</a:t>
            </a: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SendReceipt returns nothing. How do we know it worked? The email sender must have been called once, with the right text.</a:t>
            </a:r>
          </a:p>
          <a:p>
            <a:r>
              <a:rPr lang="en-US" dirty="0"/>
              <a:t>A mock is a double the test VERIFIES afterwards: Received(1) = exactly once. DidNotReceive = must not happen: on the happy path, nothing is logged as an error.</a:t>
            </a:r>
          </a:p>
          <a:p>
            <a:r>
              <a:rPr lang="en-US" dirty="0"/>
              <a:t>Same package as the stub. The difference is how the test uses it: a stub ANSWERS, a mock is CHECKED.</a:t>
            </a:r>
          </a:p>
          <a:p>
            <a:r>
              <a:rPr lang="en-US" dirty="0"/>
              <a:t>Clicks: 1: when to use it · 2: what you need · 3: the class under test · 4: the test · 5: highlight: Received(1) · 6: highlight: DidNotReceive · 7: remember.</a:t>
            </a: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Now the important path: the email server is down. We make the double FAIL on purpose. Send returns void, so we use When(...).Do(...) instead of Returns.</a:t>
            </a:r>
          </a:p>
          <a:p>
            <a:r>
              <a:rPr lang="en-US" dirty="0"/>
              <a:t>Two checks: SendReceipt must not throw (the payment is not cancelled), and the logger must receive exactly one Error with the right message.</a:t>
            </a:r>
          </a:p>
          <a:p>
            <a:r>
              <a:rPr lang="en-US" dirty="0"/>
              <a:t>The toolbox on top: Received(n), DidNotReceive, Arg.Any, Arg.Is, When/Do.</a:t>
            </a:r>
          </a:p>
          <a:p>
            <a:r>
              <a:rPr lang="en-US" dirty="0"/>
              <a:t>Clicks: 1: when to use it · 2: what you need · 3: the mock toolbox · 4: the test · 5: highlight: .Do(_ =&gt; throw · 6: highlight: logger.Received(1) · 7: remember.</a:t>
            </a: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Substitute.For&lt;T&gt;() creates an object that implements the interface at runtime: no class to write. Returns stubs an answer. Received checks a call afterwards; Arg.Is matches an argument with a condition. The substitutes are fields and the stubs are set in the constructor: xUnit builds a new test class for every test, so every test starts with fresh doubles (Chapter 04).</a:t>
            </a:r>
          </a:p>
          <a:p>
            <a:r>
              <a:rPr lang="en-US" dirty="0"/>
              <a:t>Ask: Why check Contains("100.00") and not the whole email body?</a:t>
            </a:r>
          </a:p>
          <a:p>
            <a:r>
              <a:rPr lang="en-US" dirty="0"/>
              <a:t>Clicks: 1: create the doubles · 2: stub answers · 3: verify the email · 4: the rest of the vocabulary.</a:t>
            </a: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Use this every time you write a test with a dependency. Ask in this order.</a:t>
            </a:r>
          </a:p>
          <a:p>
            <a:r>
              <a:rPr lang="en-US" dirty="0"/>
              <a:t>Does the class ASK the dependency for data? Stub. Is the result a CALL with no return value? Mock. Must it really store and return data? Fake. Is it only a required parameter? Dummy. Writing by hand and recording calls? Spy.</a:t>
            </a:r>
          </a:p>
          <a:p>
            <a:r>
              <a:rPr lang="en-US" dirty="0"/>
              <a:t>One dependency can be a stub in one test and a mock in another: it depends on what THIS test checks.</a:t>
            </a:r>
          </a:p>
          <a:p>
            <a:r>
              <a:rPr lang="en-US" dirty="0"/>
              <a:t>Clicks: 1: stub · 2: mock · 3: fake · 4: dummy · 5: spy · 6: same dependency, different job.</a:t>
            </a: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Two ways to assert. State: look at the result: Mona has 400 and Ali 150. Interaction: look at the calls made to a double: an email was sent. State tests survive refactoring better. Use interaction checks at the edges, where the only visible effect is a call.</a:t>
            </a:r>
          </a:p>
          <a:p>
            <a:r>
              <a:rPr lang="en-US" dirty="0"/>
              <a:t>Ask: Is "Ali now has 150" a state check or an interaction check?</a:t>
            </a:r>
          </a:p>
          <a:p>
            <a:r>
              <a:rPr lang="en-US" dirty="0"/>
              <a:t>Clicks: 1: state: the balances · 2: interaction: the email · 3: prefer state · 4: interaction at the edges.</a:t>
            </a: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An over-mocked test checks HOW the code works instead of WHAT it achieves. Checking the exact log text breaks when someone rewords it. Checking every Find and Save breaks after a refactor. These tests go red without a bug and teach the team to ignore red tests. Check the outcome. Use real objects for real logic: BankAccount is fast and deterministic, never mock it.</a:t>
            </a:r>
          </a:p>
          <a:p>
            <a:r>
              <a:rPr lang="en-US" dirty="0"/>
              <a:t>Ask: A test breaks because "Transferred" became "Sent". Bug or noise?</a:t>
            </a:r>
          </a:p>
          <a:p>
            <a:r>
              <a:rPr lang="en-US" dirty="0"/>
              <a:t>Clicks: 1: why it fails · 2: check the outcome · 3: the rule.</a:t>
            </a: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Person A: "Relying on fakes and mocks is a sure sign of dirty architecture." Person B: "Then how do you unit test code that has dependencies?"</a:t>
            </a:r>
          </a:p>
          <a:p>
            <a:r>
              <a:rPr lang="en-US" dirty="0"/>
              <a:t>A: "Use a pure domain model that knows nothing about the database, HTTP, loggers." B: "But an orchestration service still needs a logger." A: "Inject a function instead of an interface."</a:t>
            </a:r>
          </a:p>
          <a:p>
            <a:r>
              <a:rPr lang="en-US" dirty="0"/>
              <a:t>Verdict: A is right about the principle (separate the logic, mock less), wrong about the generalization (a mock is not proof of bad design).</a:t>
            </a:r>
          </a:p>
          <a:p>
            <a:r>
              <a:rPr lang="en-US" dirty="0"/>
              <a:t>Lesson: good architecture reduces the need for mocks, but using mocks does not mean you have bad architecture.</a:t>
            </a:r>
          </a:p>
          <a:p>
            <a:r>
              <a:rPr lang="en-US" dirty="0"/>
              <a:t>Clicks: 1: A: line 1 · 2: B: line 2 · 3: A: line 3 · 4: B: line 4 · 5: A: line 5 · 6: verdict: separate business logic from infrastructure · 7: verdict: use fewer mocks · 8: verdict: pure domain models are easy to test · 9: verdict: a mock = proof of dirty architecture · 10: verdict: you can avoid ALL test doubles · 11: the lesson · 12: the warning sign.</a:t>
            </a: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Look at OrderService: the discount rule (a pure calculation) lives next to the payment call.</a:t>
            </a:r>
          </a:p>
          <a:p>
            <a:r>
              <a:rPr lang="en-US" dirty="0"/>
              <a:t>Result: to test 100 − 20 = 80 we must create a payment double, stub it, and check the math through Received(80). Every discount case repeats this.</a:t>
            </a:r>
          </a:p>
          <a:p>
            <a:r>
              <a:rPr lang="en-US" dirty="0"/>
              <a:t>That is the real smell the debate talks about: the mock is not the problem, the MIXED responsibilities are.</a:t>
            </a:r>
          </a:p>
          <a:p>
            <a:r>
              <a:rPr lang="en-US" dirty="0"/>
              <a:t>Clicks: 1: the test · 2: the rule hidden in the service · 3: don't.</a:t>
            </a: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Pricing.Total is pure: same input, same output, no database, no payment. We test every discount case with a Theory, no doubles at all.</a:t>
            </a:r>
          </a:p>
          <a:p>
            <a:r>
              <a:rPr lang="en-US" dirty="0"/>
              <a:t>OrderService only coordinates: it calls Pricing and the payment gateway. ONE test with ONE mock checks that the right total is charged.</a:t>
            </a:r>
          </a:p>
          <a:p>
            <a:r>
              <a:rPr lang="en-US" dirty="0"/>
              <a:t>This is what "pure domain model" means in practice. Fewer mocks, but we did not remove them completely: the edge still needs one.</a:t>
            </a:r>
          </a:p>
          <a:p>
            <a:r>
              <a:rPr lang="en-US" dirty="0"/>
              <a:t>Clicks: 1: the tests · 2: do.</a:t>
            </a: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service receives a function. In production we pass a real logging function; in the test we pass messages.Add and read the list.</a:t>
            </a:r>
          </a:p>
          <a:p>
            <a:r>
              <a:rPr lang="en-US" dirty="0"/>
              <a:t>Nice and simple for small dependencies: logging, Func&lt;DateTimeOffset&gt; for the clock, Func&lt;Guid&gt; for ids.</a:t>
            </a:r>
          </a:p>
          <a:p>
            <a:r>
              <a:rPr lang="en-US" dirty="0"/>
              <a:t>But notice: messages.Add IS a test double: it is a spy, it records the calls. We avoided the LIBRARY, not the IDEA of replacing a dependency in a test. That weakens the original claim.</a:t>
            </a:r>
          </a:p>
          <a:p>
            <a:r>
              <a:rPr lang="en-US" dirty="0"/>
              <a:t>Clicks: 1: the test · 2: good for · 3: but notice: still a spy.</a:t>
            </a: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Domain logic (rules, calculations): test it directly. No doubles.</a:t>
            </a:r>
          </a:p>
          <a:p>
            <a:r>
              <a:rPr lang="en-US" dirty="0"/>
              <a:t>Application services (they coordinate repository, payment, email): fakes or mocks only for the edges.</a:t>
            </a:r>
          </a:p>
          <a:p>
            <a:r>
              <a:rPr lang="en-US" dirty="0"/>
              <a:t>Database and external APIs: an integration test with the real thing (a test database, a container) proves the real integration works. A mock cannot prove your SQL is right.</a:t>
            </a:r>
          </a:p>
          <a:p>
            <a:r>
              <a:rPr lang="en-US" dirty="0"/>
              <a:t>Do not mock types you do not own (HttpClient, DbContext): wrap them in your own small interface and mock that, or use an integration test.</a:t>
            </a:r>
          </a:p>
          <a:p>
            <a:r>
              <a:rPr lang="en-US" dirty="0"/>
              <a:t>Clicks: 1: domain logic · 2: application services · 3: database / external api · 4: don't · 5: do.</a:t>
            </a: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Look at the repository: a real EF Core query. Now look at the mock: we only TOLD it to return a User.</a:t>
            </a:r>
          </a:p>
          <a:p>
            <a:r>
              <a:rPr lang="en-US" dirty="0"/>
              <a:t>Did we test the SQL? No. We never checked that the query runs on a real database, that EF Core translates it correctly, that the mapping is right, or that the database constraints work.</a:t>
            </a:r>
          </a:p>
          <a:p>
            <a:r>
              <a:rPr lang="en-US" dirty="0"/>
              <a:t>That is the job of an integration test: run the REAL repository against a REAL database, for example SQL Server or PostgreSQL in a Docker container with Testcontainers.</a:t>
            </a:r>
          </a:p>
          <a:p>
            <a:r>
              <a:rPr lang="en-US" dirty="0"/>
              <a:t>Both kinds are needed: unit tests with mocks isolate the business logic and are fast; integration tests check the integration with the database and are slower.</a:t>
            </a:r>
          </a:p>
          <a:p>
            <a:r>
              <a:rPr lang="en-US" dirty="0"/>
              <a:t>Clicks: 1: the mock · 2: did we test the SQL? no · 3: not tested · 4: compare: the repository · 5: compare: the SQL · 6: compare: speed · 7: compare: it checks · 8: integration tests + Testcontainers · 9: you need both.</a:t>
            </a: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LEFT, "Don't mock what you don't own" (Freeman &amp; Pryce, Growing Object-Oriented Software, Guided by Tests): HttpClient, DbContext and other third-party types are complex and change without asking you. A mock of them only copies your GUESS of how they behave.</a:t>
            </a:r>
          </a:p>
          <a:p>
            <a:r>
              <a:rPr lang="en-US" dirty="0"/>
              <a:t>Instead, wrap them in your own small interface (IUserRepository), mock THAT in unit tests, and test the real wrapper with an integration test.</a:t>
            </a:r>
          </a:p>
          <a:p>
            <a:r>
              <a:rPr lang="en-US" dirty="0"/>
              <a:t>RIGHT, the Moq SponsorLink story (August 2023): Moq 4.20.0 added a dependency called SponsorLink. During the build it read the developer's email from the git config and sent a hash of it to check if they were a sponsor. It was not announced clearly, so there was a big backlash; it was removed in 4.20.2. Some teams moved to NSubstitute or FakeItEasy.</a:t>
            </a:r>
          </a:p>
          <a:p>
            <a:r>
              <a:rPr lang="en-US" dirty="0"/>
              <a:t>Lesson: test packages run on your machine and your CI with your permissions. Check what they do, pin versions, read release notes.</a:t>
            </a:r>
          </a:p>
          <a:p>
            <a:r>
              <a:rPr lang="en-US" dirty="0"/>
              <a:t>Clicks: 1: the rule · 2: don't: mock DbContext · 3: do: your own interface · 4: lesson · 5: sponsorlink step 1 · 6: sponsorlink step 2 · 7: sponsorlink step 3 · 8: sponsorlink step 4 · 9: sponsorlink step 5 · 10: lesson.</a:t>
            </a: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NSubstitute reads like normal code: the substitute IS the interface. Moq is the one you will meet most in existing company code: you configure a Mock&lt;T&gt; and pass mock.Object. FakeItEasy uses A.Fake and A.CallTo. Learn one well; reading the others takes minutes.</a:t>
            </a:r>
          </a:p>
          <a:p>
            <a:r>
              <a:rPr lang="en-US" dirty="0"/>
              <a:t>Ask: Your new company uses Moq. What changes in the test, and what stays the same?</a:t>
            </a:r>
          </a:p>
          <a:p>
            <a:r>
              <a:rPr lang="en-US" dirty="0"/>
              <a:t>Clicks: 1: NSubstitute · 2: Moq · 3: FakeItEasy · 4: the rule.</a:t>
            </a: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Chapter 06. Until now we wrote the code, then the test. TDD flips the order.</a:t>
            </a: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usual way: write the production code, then (maybe) write a unit test for it.</a:t>
            </a:r>
          </a:p>
          <a:p>
            <a:r>
              <a:rPr lang="en-US" dirty="0"/>
              <a:t>TDD flips it: write a unit test first, then the production code that makes it pass, then improve the design.</a:t>
            </a:r>
          </a:p>
          <a:p>
            <a:r>
              <a:rPr lang="en-US" dirty="0"/>
              <a:t>It is not only "write the test first": we follow a short loop called Red, Green, Refactor, and repeat it for every new behavior.</a:t>
            </a:r>
          </a:p>
          <a:p>
            <a:r>
              <a:rPr lang="en-US" dirty="0"/>
              <a:t>Clicks: 1: TDD order · 2: Red, Green, Refactor · 3: a loop · 4: ask.</a:t>
            </a: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RED: write ONE small test for the next behavior. Run it. It must fail: that proves the test can catch a bug.</a:t>
            </a:r>
          </a:p>
          <a:p>
            <a:r>
              <a:rPr lang="en-US" dirty="0"/>
              <a:t>GREEN: write the LEAST production code that makes it pass. Ugly is allowed here.</a:t>
            </a:r>
          </a:p>
          <a:p>
            <a:r>
              <a:rPr lang="en-US" dirty="0"/>
              <a:t>REFACTOR: clean the code (names, duplication) without changing behavior. The tests stay green and protect you.</a:t>
            </a:r>
          </a:p>
          <a:p>
            <a:r>
              <a:rPr lang="en-US" dirty="0"/>
              <a:t>Then pick the next behavior and go around again.</a:t>
            </a:r>
          </a:p>
          <a:p>
            <a:r>
              <a:rPr lang="en-US" dirty="0"/>
              <a:t>Clicks: 1: red · 2: green · 3: refactor · 4: repeat · 5: the rule.</a:t>
            </a: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Write the test first. It describes what we WANT: 100 with a 20 discount gives 80.</a:t>
            </a:r>
          </a:p>
          <a:p>
            <a:r>
              <a:rPr lang="en-US" dirty="0"/>
              <a:t>At first it does not even compile: Pricing does not exist. A compile error counts as red.</a:t>
            </a:r>
          </a:p>
          <a:p>
            <a:r>
              <a:rPr lang="en-US" dirty="0"/>
              <a:t>Add the smallest class and method that compile (return 0). Run again: now it fails for the RIGHT reason: expected 80, got 0.</a:t>
            </a:r>
          </a:p>
          <a:p>
            <a:r>
              <a:rPr lang="en-US" dirty="0"/>
              <a:t>Why insist on red? A test you never saw fail might be testing nothing.</a:t>
            </a:r>
          </a:p>
          <a:p>
            <a:r>
              <a:rPr lang="en-US" dirty="0"/>
              <a:t>Clicks: 1: does not compile · 2: just enough to compile · 3: red for the right reason · 4: why red.</a:t>
            </a: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Now write the simplest production code that makes the test pass: price − discount.</a:t>
            </a:r>
          </a:p>
          <a:p>
            <a:r>
              <a:rPr lang="en-US" dirty="0"/>
              <a:t>Run the tests: green. Stop here. Do not add validation, rounding or extra features: no test asked for them yet. They come with their own red test.</a:t>
            </a:r>
          </a:p>
          <a:p>
            <a:r>
              <a:rPr lang="en-US" dirty="0"/>
              <a:t>Then REFACTOR: look at the code. Is anything duplicated or badly named? In this tiny example, no change is needed. The tests stay green.</a:t>
            </a:r>
          </a:p>
          <a:p>
            <a:r>
              <a:rPr lang="en-US" dirty="0"/>
              <a:t>Clicks: 1: the least code · 2: green · 3: stop here · 4: refactor · 5: next behavior.</a:t>
            </a: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New rule: the total can never go below zero. Start with a red test: 50 with an 80 discount must be 0. Run it: it fails, it returns −30.</a:t>
            </a:r>
          </a:p>
          <a:p>
            <a:r>
              <a:rPr lang="en-US" dirty="0"/>
              <a:t>Green: the smallest change, an if. Both tests pass.</a:t>
            </a:r>
          </a:p>
          <a:p>
            <a:r>
              <a:rPr lang="en-US" dirty="0"/>
              <a:t>Refactor: the same behavior in one clear line with Math.Max. Run the tests: still green. The two tests are our safety net while we change the code.</a:t>
            </a:r>
          </a:p>
          <a:p>
            <a:r>
              <a:rPr lang="en-US" dirty="0"/>
              <a:t>Clicks: 1: 1 · red · 2: 2 · green · 3: refactor.</a:t>
            </a: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Code first: you design while coding, then write tests to check it. Tests are often skipped when time is short, and code written without tests in mind is often hard to test (hidden dependencies, big methods).</a:t>
            </a:r>
          </a:p>
          <a:p>
            <a:r>
              <a:rPr lang="en-US" dirty="0"/>
              <a:t>Test first (TDD): the test is the first USER of your code, so you design the API from the outside; you only write code that a test asks for; every line is covered; the tests are the safety net for refactoring.</a:t>
            </a:r>
          </a:p>
          <a:p>
            <a:r>
              <a:rPr lang="en-US" dirty="0"/>
              <a:t>Costs of TDD: slower at the start, hard when you do not know what you want yet, and a learning curve.</a:t>
            </a:r>
          </a:p>
          <a:p>
            <a:r>
              <a:rPr lang="en-US" dirty="0"/>
              <a:t>When code first is fine: spikes and prototypes you will throw away, exploring a new library, UI layout. Then write tests before keeping the code.</a:t>
            </a:r>
          </a:p>
          <a:p>
            <a:r>
              <a:rPr lang="en-US" dirty="0"/>
              <a:t>Research results on TDD are mixed: it usually helps quality, but it is not magic. Use it where it pays off most: business rules and bug fixes.</a:t>
            </a:r>
          </a:p>
          <a:p>
            <a:r>
              <a:rPr lang="en-US" dirty="0"/>
              <a:t>Clicks: 1: code first · 2: test first  (tdd) · 3: prefer test first when … · 4: code first is fine when ….</a:t>
            </a: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Part 11, topic 2. We proved our code works; now we learn how teams decide WHAT to build and WHEN — from the idea of a methodology, through the Agile mindset and Manifesto, to living one real Scrum Sprint with a customer.</a:t>
            </a:r>
          </a:p>
          <a:p>
            <a:r>
              <a:rPr lang="en-US" dirty="0"/>
              <a:t>Ask: Have you ever built something for weeks and then heard "that is not what we needed"?</a:t>
            </a: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Six chapters. First WHY methodologies exist, then the Agile mindset, the 4 values and 12 principles, then we join a company and live one complete Scrum Sprint for Care Hospital, and finally practice on GitHub.</a:t>
            </a:r>
          </a:p>
          <a:p>
            <a:r>
              <a:rPr lang="en-US" dirty="0"/>
              <a:t>Ask: Which word on this slide have you heard at work but never had explained?</a:t>
            </a:r>
          </a:p>
          <a:p>
            <a:r>
              <a:rPr lang="en-US" dirty="0"/>
              <a:t>Clicks: 1: methodologies · 2: agile mindset · 3: manifesto values · 4: 12 principles · 5: scrum: one sprint · 6: practice lab · 7: how we will learn.</a:t>
            </a: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Chapter 01. Before Agile, we need to understand why methodologies exist at all.</a:t>
            </a: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Everyone in the room already knows the SDLC phases: requirements, design, build, test, deploy, maintain. The question is whether knowing the phases tells a company HOW to work.</a:t>
            </a:r>
          </a:p>
          <a:p>
            <a:r>
              <a:rPr lang="en-US" dirty="0"/>
              <a:t>Ask: Hands up for A, B, C, D. Then reveal.</a:t>
            </a:r>
          </a:p>
          <a:p>
            <a:r>
              <a:rPr lang="en-US" dirty="0"/>
              <a:t>Clicks: 1: reveal the answer · 2: the point.</a:t>
            </a: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A methodology is not another lifecycle. The same six phases stay on the map; the methodology decides how we travel through them, and which trade-off we optimize.</a:t>
            </a:r>
          </a:p>
          <a:p>
            <a:r>
              <a:rPr lang="en-US" dirty="0"/>
              <a:t>Ask: If someone says "we stopped using the SDLC, we are Agile now", what is wrong with that sentence?</a:t>
            </a:r>
          </a:p>
          <a:p>
            <a:r>
              <a:rPr lang="en-US" dirty="0"/>
              <a:t>Clicks: 1: not · 2: is · 3: goal · 4: remember.</a:t>
            </a: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You must go from Cairo to Alexandria. Car, train, plane or bus: the destination never changes, only the way you travel, and each way has its own cost, speed and flexibility.</a:t>
            </a:r>
          </a:p>
          <a:p>
            <a:r>
              <a:rPr lang="en-US" dirty="0"/>
              <a:t>Student line: نفس الوجهة، طرق مختلفة.</a:t>
            </a:r>
          </a:p>
          <a:p>
            <a:r>
              <a:rPr lang="en-US" dirty="0"/>
              <a:t>Ask: Which vehicle feels like Waterfall to you? Which feels like Agile?</a:t>
            </a:r>
          </a:p>
          <a:p>
            <a:r>
              <a:rPr lang="en-US" dirty="0"/>
              <a:t>Clicks: 1: destination fixed · 2: SDLC = milestones · 3: methodology = how · 4: student line.</a:t>
            </a: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One SDLC map at the top, six execution styles below. Waterfall, V-Model, Spiral, Incremental, Iterative and Agile all go through the same phases. They differ in timing, feedback and risk strategy.</a:t>
            </a:r>
          </a:p>
          <a:p>
            <a:r>
              <a:rPr lang="en-US" dirty="0"/>
              <a:t>This slide kills the myth: "Agile replaces the SDLC."</a:t>
            </a:r>
          </a:p>
          <a:p>
            <a:r>
              <a:rPr lang="en-US" dirty="0"/>
              <a:t>Ask: Which style would you choose for software inside a medical device? Why?</a:t>
            </a:r>
          </a:p>
          <a:p>
            <a:r>
              <a:rPr lang="en-US" dirty="0"/>
              <a:t>Clicks: 1: six execution styles · 2: the myth killer.</a:t>
            </a: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six ways deal with the same SDLC phases: Requirements, Design, Build, Test, Deploy, Maintain.</a:t>
            </a:r>
          </a:p>
          <a:p>
            <a:r>
              <a:rPr lang="en-US" dirty="0"/>
              <a:t>The difference is in the answers to five questions: must we finish all requirements before coding? Ship everything at once or in parts? Can the design change during development? Test at the end or all the time? How do we handle risk and customer changes?</a:t>
            </a:r>
          </a:p>
          <a:p>
            <a:r>
              <a:rPr lang="en-US" dirty="0"/>
              <a:t>Running example for all of them: an E-commerce system with Login, Products, Cart, Orders and Payments.</a:t>
            </a:r>
          </a:p>
          <a:p>
            <a:r>
              <a:rPr lang="en-US" dirty="0"/>
              <a:t>Clicks: 1: 5 questions · 2: six models · 3: running example.</a:t>
            </a: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HealthCare.gov launched on 1 October 2013 as one big release; it collapsed under real traffic and only a handful of people could enroll on day one. It was rescued by a small team that fixed and released in short cycles.</a:t>
            </a:r>
          </a:p>
          <a:p>
            <a:r>
              <a:rPr lang="en-US" dirty="0"/>
              <a:t>The FBI Virtual Case File was abandoned in 2005 after about 170 million dollars, without a working system. Its successor, Sentinel, switched to an agile, incremental approach and went live in 2012.</a:t>
            </a:r>
          </a:p>
          <a:p>
            <a:r>
              <a:rPr lang="en-US" dirty="0"/>
              <a:t>Ask: What would a two-week demo to real users have revealed in each project?</a:t>
            </a:r>
          </a:p>
          <a:p>
            <a:r>
              <a:rPr lang="en-US" dirty="0"/>
              <a:t>Clicks: 1: HealthCare.gov · 2: FBI: from VCF to Sentinel.</a:t>
            </a: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Waterfall goes phase by phase and tries to finish each one before moving on.</a:t>
            </a:r>
          </a:p>
          <a:p>
            <a:r>
              <a:rPr lang="en-US" dirty="0"/>
              <a:t>For our E-commerce: collect ALL the requirements with the client, design the whole database and architecture, write the code for the whole system, test after building, then deploy.</a:t>
            </a:r>
          </a:p>
          <a:p>
            <a:r>
              <a:rPr lang="en-US" dirty="0"/>
              <a:t>The problem: we finished the design and wrote a big part of the code, and the client says "I want to change the payment system completely". The change is expensive: we go back and rework finished phases.</a:t>
            </a:r>
          </a:p>
          <a:p>
            <a:r>
              <a:rPr lang="en-US" dirty="0"/>
              <a:t>Use it when requirements are clear and fairly stable, and the project needs strong up-front planning and documentation.</a:t>
            </a:r>
          </a:p>
          <a:p>
            <a:r>
              <a:rPr lang="en-US" dirty="0"/>
              <a:t>Note: Waterfall does not forbid testing during coding or going back. It just reduces iteration and change compared to adaptive approaches.</a:t>
            </a:r>
          </a:p>
          <a:p>
            <a:r>
              <a:rPr lang="en-US" dirty="0"/>
              <a:t>Clicks: 1: the e-commerce steps · 2: the problem · 3: use it when · 4: note · 5: idea.</a:t>
            </a: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Waterfall, every phase produces documents. There are four big families.</a:t>
            </a:r>
          </a:p>
          <a:p>
            <a:r>
              <a:rPr lang="en-US" dirty="0"/>
              <a:t>Requirements: what the client wants (the SRS). Design: how the system will be built (architecture, ERD, API contracts, sequence diagrams, integrations). Testing: how we prove it works (test plan, test cases). Deployment and maintenance: how to install, configure, run and fix it.</a:t>
            </a:r>
          </a:p>
          <a:p>
            <a:r>
              <a:rPr lang="en-US" dirty="0"/>
              <a:t>Running example: an online learning platform with students, instructors and paid courses.</a:t>
            </a:r>
          </a:p>
          <a:p>
            <a:r>
              <a:rPr lang="en-US" dirty="0"/>
              <a:t>Clicks: 1: 1  requirements · 2: 2  design · 3: 3  testing · 4: 4  deploy &amp; maintain · 5: running example.</a:t>
            </a: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Waterfall each phase delivers outputs to the next phase.</a:t>
            </a:r>
          </a:p>
          <a:p>
            <a:r>
              <a:rPr lang="en-US" dirty="0"/>
              <a:t>The requirements team delivers the SRS. The design team relies on the SRS to design the system. The development team relies on the design and requirements documents to write the code. The testing team relies on the requirements and acceptance criteria to verify the results.</a:t>
            </a:r>
          </a:p>
          <a:p>
            <a:r>
              <a:rPr lang="en-US" dirty="0"/>
              <a:t>If a document is wrong or vague, every phase after it builds on the mistake. Compare with Agile: working software and conversation over comprehensive documentation (documents still exist, but they are not the main handoff).</a:t>
            </a:r>
          </a:p>
          <a:p>
            <a:r>
              <a:rPr lang="en-US" dirty="0"/>
              <a:t>Clicks: 1: requirements team · 2: design team · 3: development team · 4: testing team · 5: the risk · 6: agile by contrast · 7: key.</a:t>
            </a: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Scenario: the client agreed on an E-commerce system: registration and login, products, cart, orders, online payment. Requirements and design are completed and approved. Development is 70% done.</a:t>
            </a:r>
          </a:p>
          <a:p>
            <a:r>
              <a:rPr lang="en-US" dirty="0"/>
              <a:t>Suddenly: "I do not want one-time payment only, I also want monthly subscriptions." Do we say no because we are Waterfall? Of course not.</a:t>
            </a:r>
          </a:p>
          <a:p>
            <a:r>
              <a:rPr lang="en-US" dirty="0"/>
              <a:t>We follow a Change Request process: 1) the client requests the change, 2) impact analysis on time, cost, design and code, 3) the people with authority approve, reject or postpone, 4) update the documents, plan and affected parts, then implement and test.</a:t>
            </a:r>
          </a:p>
          <a:p>
            <a:r>
              <a:rPr lang="en-US" dirty="0"/>
              <a:t>Example result: "Subscriptions need changes to the database, the payment service and the APIs: +3 weeks." The client can accept the extra time and cost, postpone to a later release, re-scope the project, or reject the change. The numbers are only an example.</a:t>
            </a:r>
          </a:p>
          <a:p>
            <a:r>
              <a:rPr lang="en-US" dirty="0"/>
              <a:t>The later the change comes, the more finished work we must redo: requirements (cheap) → design → development → testing → after deployment (a new release).</a:t>
            </a:r>
          </a:p>
          <a:p>
            <a:r>
              <a:rPr lang="en-US" dirty="0"/>
              <a:t>Clicks: 1: the client changes their mind · 2: say no? no! · 3: change request step 1 · 4: change request step 2 · 5: change request step 3 · 6: change request step 4 · 7: impact result · 8: the client options · 9: the later, the costlier.</a:t>
            </a: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Chapter 02. Before any framework, we need the thinking behind it.</a:t>
            </a: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Many people meet Agile through Scrum boards and stand-ups, so they think Agile IS those rituals. Agile is the thinking behind them: how we decide, collaborate and react to change.</a:t>
            </a:r>
          </a:p>
          <a:p>
            <a:r>
              <a:rPr lang="en-US" dirty="0"/>
              <a:t>Ask: If a team does daily stand-ups but never changes its plan, is it Agile?</a:t>
            </a:r>
          </a:p>
          <a:p>
            <a:r>
              <a:rPr lang="en-US" dirty="0"/>
              <a:t>Clicks: 1: bust the myth · 2: the reality.</a:t>
            </a: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Agile does not tell you which meeting to hold. It tells you what to optimize when you face a choice.</a:t>
            </a:r>
          </a:p>
          <a:p>
            <a:r>
              <a:rPr lang="en-US" dirty="0"/>
              <a:t>Ask: Last week your team made one decision under pressure. Which of these three did it optimize?</a:t>
            </a:r>
          </a:p>
          <a:p>
            <a:r>
              <a:rPr lang="en-US" dirty="0"/>
              <a:t>Clicks: 1: build · 2: collaborate · 3: adapt.</a:t>
            </a: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Two teams, same budget. One spends months producing documents. The other ships a playable version every week or two.</a:t>
            </a:r>
          </a:p>
          <a:p>
            <a:r>
              <a:rPr lang="en-US" dirty="0"/>
              <a:t>Ask: After four months, which team would you rather have paid?</a:t>
            </a:r>
          </a:p>
          <a:p>
            <a:r>
              <a:rPr lang="en-US" dirty="0"/>
              <a:t>Clicks: 1: docs first · 2: working software.</a:t>
            </a: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Chapter 03. The Manifesto in one page, then each value tested on a real Food Delivery case.</a:t>
            </a: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In February 2001, seventeen software practitioners met in Snowbird, Utah, and wrote a one-page declaration. It is not a method you install; it is a compass for decisions.</a:t>
            </a:r>
          </a:p>
          <a:p>
            <a:r>
              <a:rPr lang="en-US" dirty="0"/>
              <a:t>Ask: Why would a one-page text from 2001 still matter more than any tool?</a:t>
            </a:r>
          </a:p>
          <a:p>
            <a:r>
              <a:rPr lang="en-US" dirty="0"/>
              <a:t>Clicks: 1: definition · 2: not · not · is.</a:t>
            </a: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 four values are what we prefer. The twelve principles turn them into daily guidance. Frameworks such as Scrum, Kanban and XP are concrete tools built on top.</a:t>
            </a:r>
          </a:p>
          <a:p>
            <a:r>
              <a:rPr lang="en-US" dirty="0"/>
              <a:t>Ask: If you copy Scrum ceremonies without the values, which part of the tree is missing?</a:t>
            </a:r>
          </a:p>
          <a:p>
            <a:r>
              <a:rPr lang="en-US" dirty="0"/>
              <a:t>Clicks: 1: roots: values · 2: branches: principles · 3: tools: frameworks.</a:t>
            </a: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"Over" means "we value more", not "instead of". Both sides of each value matter. When time and attention are limited, the left side wins.</a:t>
            </a:r>
          </a:p>
          <a:p>
            <a:r>
              <a:rPr lang="en-US" dirty="0"/>
              <a:t>Ask: Does "working software over documentation" mean we write zero documentation? Why not?</a:t>
            </a:r>
          </a:p>
          <a:p>
            <a:r>
              <a:rPr lang="en-US" dirty="0"/>
              <a:t>Clicks: 1: left side: we value more · 2: right side: still useful · 3: "over" ≠ "instead of".</a:t>
            </a: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Read each row left to right with the word "over" in the middle. We will now take each value, define it, and test it on a real case.</a:t>
            </a:r>
          </a:p>
          <a:p>
            <a:r>
              <a:rPr lang="en-US" dirty="0"/>
              <a:t>Ask: Which value do you think teams break most often?</a:t>
            </a: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Tools and processes help, but software is built by people talking to each other. When something is unclear or blocked, a conversation beats a perfect ticket.</a:t>
            </a:r>
          </a:p>
          <a:p>
            <a:r>
              <a:rPr lang="en-US" dirty="0"/>
              <a:t>Ask: When were you last blocked for a day because nobody asked a question?</a:t>
            </a: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Same bug, two teams. One follows the ticket process strictly. The other talks first and uses tools after.</a:t>
            </a:r>
          </a:p>
          <a:p>
            <a:r>
              <a:rPr lang="en-US" dirty="0"/>
              <a:t>Ask: A team has perfect tickets in Jira, but nobody talks when a payment bug appears. Are they Agile?</a:t>
            </a:r>
          </a:p>
          <a:p>
            <a:r>
              <a:rPr lang="en-US" dirty="0"/>
              <a:t>Let the class answer before revealing each path.</a:t>
            </a:r>
          </a:p>
          <a:p>
            <a:r>
              <a:rPr lang="en-US" dirty="0"/>
              <a:t>Clicks: 1: process-only path · 2: people + interactions path.</a:t>
            </a: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Progress is what runs. A document can say everything is fine while the product does not exist yet.</a:t>
            </a:r>
          </a:p>
          <a:p>
            <a:r>
              <a:rPr lang="en-US" dirty="0"/>
              <a:t>Ask: Which column discovers the riskiest problem first?</a:t>
            </a:r>
          </a:p>
          <a:p>
            <a:r>
              <a:rPr lang="en-US" dirty="0"/>
              <a:t>Clicks: 1: week 2 output · 2: the customer can… · 3: risk discovery · 4: role of docs.</a:t>
            </a: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 customer brings goals, priorities and constraints; the team brings options, trade-offs and honest estimates. They meet often. The contract frames money and scope, but it is not the relationship.</a:t>
            </a:r>
          </a:p>
          <a:p>
            <a:r>
              <a:rPr lang="en-US" dirty="0"/>
              <a:t>Ask: What does a customer learn from a demo that no contract clause could tell them?</a:t>
            </a:r>
          </a:p>
          <a:p>
            <a:r>
              <a:rPr lang="en-US" dirty="0"/>
              <a:t>Clicks: 1: they talk · 2: the contract.</a:t>
            </a: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Plans are necessary. Blind loyalty to an outdated plan is expensive. Treat the plan as a hypothesis, feedback as data, and change as an update.</a:t>
            </a:r>
          </a:p>
          <a:p>
            <a:r>
              <a:rPr lang="en-US" dirty="0"/>
              <a:t>Ask: When the market changes, which path still reaches a product people want?</a:t>
            </a:r>
          </a:p>
          <a:p>
            <a:r>
              <a:rPr lang="en-US" dirty="0"/>
              <a:t>Clicks: 1: fixed plan path · 2: adaptive path · 3: how to think about a plan.</a:t>
            </a: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 Q2 roadmap was written before anyone thought about Ramadan. Iftar peak hours will break the current capacity.</a:t>
            </a:r>
          </a:p>
          <a:p>
            <a:r>
              <a:rPr lang="en-US" dirty="0"/>
              <a:t>Ask: Ramadan starts in 3 weeks. Your roadmap ignored iftar peak hours. Stick to the Q2 plan?</a:t>
            </a:r>
          </a:p>
          <a:p>
            <a:r>
              <a:rPr lang="en-US" dirty="0"/>
              <a:t>Clicks: 1: the problem · 2: reprioritize.</a:t>
            </a: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Chapter 04. Same pattern twelve times: define, ask, real case. Use the tracker at the top right to show progress.</a:t>
            </a: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Twelve principles turn the four values into daily behavior. We take each one with the same pattern: define it, ask the class, then see a real Food Delivery case.</a:t>
            </a:r>
          </a:p>
          <a:p>
            <a:r>
              <a:rPr lang="en-US" dirty="0"/>
              <a:t>Ask: Which principle do you expect will be the hardest to apply at a real company?</a:t>
            </a: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Early and continuous delivery of valuable software. Read the Manifesto wording aloud, then translate it to the Food Delivery case.</a:t>
            </a:r>
          </a:p>
          <a:p>
            <a:r>
              <a:rPr lang="en-US" dirty="0"/>
              <a:t>Ask: Is a perfect plan more important than a first working release in week 2?</a:t>
            </a:r>
          </a:p>
          <a:p>
            <a:r>
              <a:rPr lang="en-US" dirty="0"/>
              <a:t>Clicks: 1: ask the class · 2: ignore it · 3: apply it.</a:t>
            </a: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Even late change can help the customer win. Read the Manifesto wording aloud, then translate it to the Food Delivery case.</a:t>
            </a:r>
          </a:p>
          <a:p>
            <a:r>
              <a:rPr lang="en-US" dirty="0"/>
              <a:t>Ask: A competitor launches live tracking. Do we ignore it because the sprint is locked?</a:t>
            </a:r>
          </a:p>
          <a:p>
            <a:r>
              <a:rPr lang="en-US" dirty="0"/>
              <a:t>Clicks: 1: ask the class · 2: ignore it · 3: apply it.</a:t>
            </a: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Prefer weeks over months. Read the Manifesto wording aloud, then translate it to the Food Delivery case.</a:t>
            </a:r>
          </a:p>
          <a:p>
            <a:r>
              <a:rPr lang="en-US" dirty="0"/>
              <a:t>Ask: Why is a 6-month big-bang release risky for a food app?</a:t>
            </a:r>
          </a:p>
          <a:p>
            <a:r>
              <a:rPr lang="en-US" dirty="0"/>
              <a:t>Clicks: 1: ask the class · 2: ignore it · 3: apply it.</a:t>
            </a: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Daily cooperation, not ticket tennis. Read the Manifesto wording aloud, then translate it to the Food Delivery case.</a:t>
            </a:r>
          </a:p>
          <a:p>
            <a:r>
              <a:rPr lang="en-US" dirty="0"/>
              <a:t>Ask: Who should decide courier fee rules: only finance, or finance + engineering?</a:t>
            </a:r>
          </a:p>
          <a:p>
            <a:r>
              <a:rPr lang="en-US" dirty="0"/>
              <a:t>Clicks: 1: ask the class · 2: ignore it · 3: apply it.</a:t>
            </a: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Support and trust the team. Read the Manifesto wording aloud, then translate it to the Food Delivery case.</a:t>
            </a:r>
          </a:p>
          <a:p>
            <a:r>
              <a:rPr lang="en-US" dirty="0"/>
              <a:t>Ask: Does micromanaging every commit make the software better?</a:t>
            </a:r>
          </a:p>
          <a:p>
            <a:r>
              <a:rPr lang="en-US" dirty="0"/>
              <a:t>Clicks: 1: ask the class · 2: ignore it · 3: apply it.</a:t>
            </a: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 richest communication channel. Read the Manifesto wording aloud, then translate it to the Food Delivery case.</a:t>
            </a:r>
          </a:p>
          <a:p>
            <a:r>
              <a:rPr lang="en-US" dirty="0"/>
              <a:t>Ask: A confusing payment bug: a 20-message Slack thread, or a 5-minute huddle?</a:t>
            </a:r>
          </a:p>
          <a:p>
            <a:r>
              <a:rPr lang="en-US" dirty="0"/>
              <a:t>Clicks: 1: ask the class · 2: ignore it · 3: apply it.</a:t>
            </a: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 primary measure of progress. Read the Manifesto wording aloud, then translate it to the Food Delivery case.</a:t>
            </a:r>
          </a:p>
          <a:p>
            <a:r>
              <a:rPr lang="en-US" dirty="0"/>
              <a:t>Ask: Is '80% of the docs are done' real progress for customers?</a:t>
            </a:r>
          </a:p>
          <a:p>
            <a:r>
              <a:rPr lang="en-US" dirty="0"/>
              <a:t>Clicks: 1: ask the class · 2: ignore it · 3: apply it.</a:t>
            </a: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 team should be able to keep going indefinitely. Read the Manifesto wording aloud, then translate it to the Food Delivery case.</a:t>
            </a:r>
          </a:p>
          <a:p>
            <a:r>
              <a:rPr lang="en-US" dirty="0"/>
              <a:t>Ask: Can a team crunch 70-hour weeks for 3 months and stay Agile?</a:t>
            </a:r>
          </a:p>
          <a:p>
            <a:r>
              <a:rPr lang="en-US" dirty="0"/>
              <a:t>Clicks: 1: ask the class · 2: ignore it · 3: apply it.</a:t>
            </a: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Good design makes you more Agile. Read the Manifesto wording aloud, then translate it to the Food Delivery case.</a:t>
            </a:r>
          </a:p>
          <a:p>
            <a:r>
              <a:rPr lang="en-US" dirty="0"/>
              <a:t>Ask: Why does messy code make change slower next month?</a:t>
            </a:r>
          </a:p>
          <a:p>
            <a:r>
              <a:rPr lang="en-US" dirty="0"/>
              <a:t>Clicks: 1: ask the class · 2: ignore it · 3: apply it.</a:t>
            </a: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Maximize the work NOT done. Read the Manifesto wording aloud, then translate it to the Food Delivery case.</a:t>
            </a:r>
          </a:p>
          <a:p>
            <a:r>
              <a:rPr lang="en-US" dirty="0"/>
              <a:t>Ask: Do we need AI recommendations before basic search works?</a:t>
            </a:r>
          </a:p>
          <a:p>
            <a:r>
              <a:rPr lang="en-US" dirty="0"/>
              <a:t>Clicks: 1: ask the class · 2: ignore it · 3: apply it.</a:t>
            </a: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 best designs emerge from the team. Read the Manifesto wording aloud, then translate it to the Food Delivery case.</a:t>
            </a:r>
          </a:p>
          <a:p>
            <a:r>
              <a:rPr lang="en-US" dirty="0"/>
              <a:t>Ask: Should a manager assign every task, or can the team pull the work?</a:t>
            </a:r>
          </a:p>
          <a:p>
            <a:r>
              <a:rPr lang="en-US" dirty="0"/>
              <a:t>Clicks: 1: ask the class · 2: ignore it · 3: apply it.</a:t>
            </a: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Regular retrospectives, then changed behavior. Read the Manifesto wording aloud, then translate it to the Food Delivery case.</a:t>
            </a:r>
          </a:p>
          <a:p>
            <a:r>
              <a:rPr lang="en-US" dirty="0"/>
              <a:t>Ask: If the same deploy pain happens every week, what should we do?</a:t>
            </a:r>
          </a:p>
          <a:p>
            <a:r>
              <a:rPr lang="en-US" dirty="0"/>
              <a:t>Clicks: 1: ask the class · 2: ignore it · 3: apply it.</a:t>
            </a: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Agile done badly can be worse than no Agile. Let groups take one card each for two minutes, then share.</a:t>
            </a:r>
          </a:p>
          <a:p>
            <a:r>
              <a:rPr lang="en-US" dirty="0"/>
              <a:t>Ask: Read the yellow question on each card.</a:t>
            </a:r>
          </a:p>
          <a:p>
            <a:r>
              <a:rPr lang="en-US" dirty="0"/>
              <a:t>Clicks: 1: fake agile · 2: unclear ownership · 3: stakeholder impatience · 4: wrong context.</a:t>
            </a: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Welcome learners as if they just joined Simulation Software House.</a:t>
            </a:r>
          </a:p>
          <a:p>
            <a:r>
              <a:rPr lang="en-US" dirty="0"/>
              <a:t>Today we will not start with a glossary of Scrum terms. We will live one complete Sprint with Care Hospital.</a:t>
            </a:r>
          </a:p>
          <a:p>
            <a:r>
              <a:rPr lang="en-US" dirty="0"/>
              <a:t>Ask: Who has worked on a project where requirements changed after coding started?</a:t>
            </a:r>
          </a:p>
          <a:p>
            <a:r>
              <a:rPr lang="en-US" dirty="0"/>
              <a:t>Promise: By the end, you will know why each Scrum idea exists, not only what it is called.</a:t>
            </a: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Scene 1 of the story: A New Team Is Formed.</a:t>
            </a:r>
          </a:p>
          <a:p>
            <a:r>
              <a:rPr lang="en-US" dirty="0"/>
              <a:t>Six people meet for the first time. Nobody knows the client, the product, or the team's speed.</a:t>
            </a:r>
          </a:p>
          <a:p>
            <a:r>
              <a:rPr lang="en-US" dirty="0"/>
              <a:t>In this scene: who is on the team, what "Developers" means.</a:t>
            </a: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Agile is a mindset: 4 values and 12 principles. It does not tell you what to do on Monday morning.</a:t>
            </a:r>
          </a:p>
          <a:p>
            <a:r>
              <a:rPr lang="en-US" dirty="0"/>
              <a:t>Scrum is a lightweight framework that turns those ideas into roles, events and artifacts. Read each row: the Agile idea on the left, the Scrum practice that applies it on the right.</a:t>
            </a:r>
          </a:p>
          <a:p>
            <a:r>
              <a:rPr lang="en-US" dirty="0"/>
              <a:t>Deliver working software frequently → a Sprint that ends with a usable Increment. Welcome change → the Product Owner re-orders the Product Backlog every Sprint. Business and developers together → the PO and the Sprint Review with stakeholders. Self-organizing teams and conversation → the Daily Scrum, Developers plan their own work. Reflect and adjust → the Retrospective. Working software is progress → the Definition of Done.</a:t>
            </a:r>
          </a:p>
          <a:p>
            <a:r>
              <a:rPr lang="en-US" dirty="0"/>
              <a:t>Scrum is not the only way to apply Agile: Kanban and XP are others. Scrum is the most common one, so we learn it with a real story.</a:t>
            </a:r>
          </a:p>
          <a:p>
            <a:r>
              <a:rPr lang="en-US" dirty="0"/>
              <a:t>Clicks: 1: agile = mindset · 2: scrum = framework · 3: agile idea → scrum: row 1 · 4: agile idea → scrum: row 2 · 5: agile idea → scrum: row 3 · 6: agile idea → scrum: row 4 · 7: agile idea → scrum: row 5 · 8: agile idea → scrum: row 6 · 9: note.</a:t>
            </a: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Use accountability language from the Scrum Guide.</a:t>
            </a:r>
          </a:p>
          <a:p>
            <a:r>
              <a:rPr lang="en-US" dirty="0"/>
              <a:t>Ask: Is QA a separate team outside Scrum? In this model, Maya is one of the Developers.</a:t>
            </a:r>
          </a:p>
          <a:p>
            <a:r>
              <a:rPr lang="en-US" dirty="0"/>
              <a:t>Clicks: 1: who “Developers” are.</a:t>
            </a: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Definition (Scrum Guide): the Product Owner is accountable for maximizing the value of the product resulting from the work of the Scrum Team.</a:t>
            </a:r>
          </a:p>
          <a:p>
            <a:r>
              <a:rPr lang="en-US" dirty="0"/>
              <a:t>Responsibilities: develop and communicate the Product Goal; create and clearly communicate Product Backlog items; order the Product Backlog; make sure the backlog is transparent, visible and understood. She may delegate some work, but she stays accountable.</a:t>
            </a:r>
          </a:p>
          <a:p>
            <a:r>
              <a:rPr lang="en-US" dirty="0"/>
              <a:t>In practice: she talks to the client and stakeholders, refines stories with the team, answers questions during the Sprint, accepts the work and decides what goes live, and leads the Sprint Review conversation about what comes next.</a:t>
            </a:r>
          </a:p>
          <a:p>
            <a:r>
              <a:rPr lang="en-US" dirty="0"/>
              <a:t>The PO is ONE person, not a committee. The organization must respect her decisions. She does NOT assign tasks, decide HOW to build, estimate for the Developers, or manage people.</a:t>
            </a:r>
          </a:p>
          <a:p>
            <a:r>
              <a:rPr lang="en-US" dirty="0"/>
              <a:t>Clicks: 1: accountable for · 2: delegate · 3: in a normal sprint · 4: she does not.</a:t>
            </a:r>
          </a:p>
        </p:txBody>
      </p:sp>
    </p:spTree>
    <p:extLst>
      <p:ext uri="{BB962C8B-B14F-4D97-AF65-F5344CB8AC3E}">
        <p14:creationId xmlns:p14="http://schemas.microsoft.com/office/powerpoint/2010/main" val="158117420"/>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Definition (Scrum Guide): the Scrum Master is accountable for establishing Scrum and for the Scrum Team's effectiveness. He is a true leader who serves the team and the organization.</a:t>
            </a:r>
          </a:p>
          <a:p>
            <a:r>
              <a:rPr lang="en-US" dirty="0"/>
              <a:t>He serves three groups. The Developers: coaches self-management, helps them focus on Done Increments, removes impediments, makes sure events happen and stay inside their timebox. The Product Owner: helps with techniques for the Product Goal and backlog management, helps stakeholders collaborate. The organization: trains and coaches Scrum adoption, removes barriers between stakeholders and the team.</a:t>
            </a:r>
          </a:p>
          <a:p>
            <a:r>
              <a:rPr lang="en-US" dirty="0"/>
              <a:t>In a normal Sprint: facilitates events when needed, watches for blockers, protects the team from interruptions, keeps the Daily short, makes sure the Retro produces an action.</a:t>
            </a:r>
          </a:p>
          <a:p>
            <a:r>
              <a:rPr lang="en-US" dirty="0"/>
              <a:t>He is NOT a project manager assigning tasks, not the boss, not the meeting secretary, not the person who fixes every bug.</a:t>
            </a:r>
          </a:p>
          <a:p>
            <a:r>
              <a:rPr lang="en-US" dirty="0"/>
              <a:t>Clicks: 1: he serves · 2: effectiveness · 3: in a normal sprint · 4: he does not.</a:t>
            </a: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Scene 2 of the story: The First Client.</a:t>
            </a:r>
          </a:p>
          <a:p>
            <a:r>
              <a:rPr lang="en-US" dirty="0"/>
              <a:t>Care Hospital arrives with a lot of pain and no clear solution.</a:t>
            </a:r>
          </a:p>
          <a:p>
            <a:r>
              <a:rPr lang="en-US" dirty="0"/>
              <a:t>In this scene: before the contract, why Scrum, the Product Owner.</a:t>
            </a: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the customer quote slowly. Pause on each problem.</a:t>
            </a:r>
          </a:p>
          <a:p>
            <a:r>
              <a:rPr lang="en-US" dirty="0"/>
              <a:t>Ask: Should developers start coding now? Reveal: No. We need product understanding and value first.</a:t>
            </a:r>
          </a:p>
          <a:p>
            <a:r>
              <a:rPr lang="en-US" dirty="0"/>
              <a:t>Misunderstanding: 'The customer already knows everything.' They know the pain, not the full solution.</a:t>
            </a:r>
          </a:p>
          <a:p>
            <a:r>
              <a:rPr lang="en-US" dirty="0"/>
              <a:t>Clicks: 1: the five pains · 2: ask the class · 3: answer.</a:t>
            </a: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Before signing, the client already has a general plan: the main things they want built, the big idea.</a:t>
            </a:r>
          </a:p>
          <a:p>
            <a:r>
              <a:rPr lang="en-US" dirty="0"/>
              <a:t>The Product Owner (or a business analyst) sometimes visits the client company and sits with their employees to understand how they really work: receptionists, doctors, patients.</a:t>
            </a:r>
          </a:p>
          <a:p>
            <a:r>
              <a:rPr lang="en-US" dirty="0"/>
              <a:t>Then comes the contract: we agree on WHAT we will build and with which level of detail. That scope is the starting point of the Product Backlog.</a:t>
            </a:r>
          </a:p>
          <a:p>
            <a:r>
              <a:rPr lang="en-US" dirty="0"/>
              <a:t>Clicks: 1: step 1 · 2: step 2 · 3: step 3 · 4: step 4 · 5: Sarah visits the client · 6: why visit · 7: key.</a:t>
            </a: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Apply the mindset to Care Hospital: they cannot wait a year for pharmacy + lab + billing + appointments.</a:t>
            </a:r>
          </a:p>
          <a:p>
            <a:r>
              <a:rPr lang="en-US" dirty="0"/>
              <a:t>Ask: What is the smallest valuable piece for receptionists?</a:t>
            </a:r>
          </a:p>
          <a:p>
            <a:r>
              <a:rPr lang="en-US" dirty="0"/>
              <a:t>Misunderstanding: Agile means no planning. Reality: planning is continuous and shorter.</a:t>
            </a:r>
          </a:p>
          <a:p>
            <a:r>
              <a:rPr lang="en-US" dirty="0"/>
              <a:t>Official note: Agile is a mindset and a family of approaches; Scrum is one framework.</a:t>
            </a:r>
          </a:p>
          <a:p>
            <a:r>
              <a:rPr lang="en-US" dirty="0"/>
              <a:t>Clicks: 1: the Agile loop · 2: main idea.</a:t>
            </a: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Scene 3 of the story: From an Idea to a Backlog.</a:t>
            </a:r>
          </a:p>
          <a:p>
            <a:r>
              <a:rPr lang="en-US" dirty="0"/>
              <a:t>Sarah turns the client's pain into an ordered list of work.</a:t>
            </a:r>
          </a:p>
          <a:p>
            <a:r>
              <a:rPr lang="en-US" dirty="0"/>
              <a:t>In this scene: vision, milestones, epics and user stories, Definition of Ready.</a:t>
            </a: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Compare the shopping list with the vision aloud.</a:t>
            </a:r>
          </a:p>
          <a:p>
            <a:r>
              <a:rPr lang="en-US" dirty="0"/>
              <a:t>Ask: If we only had a feature list, how would we decide what comes first?</a:t>
            </a:r>
          </a:p>
          <a:p>
            <a:r>
              <a:rPr lang="en-US" dirty="0"/>
              <a:t>Vision guides ordering. Scrum connection: the Product Goal aligns with this direction; the Product Backlog serves it.</a:t>
            </a:r>
          </a:p>
          <a:p>
            <a:r>
              <a:rPr lang="en-US" dirty="0"/>
              <a:t>Clicks: 1: feature list · 2: vision.</a:t>
            </a: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Show the messy stickies first, then Sarah orders them into one backlog.</a:t>
            </a:r>
          </a:p>
          <a:p>
            <a:r>
              <a:rPr lang="en-US" dirty="0"/>
              <a:t>Ask: Is the backlog a contract signed on day one? No. It changes as we learn.</a:t>
            </a:r>
          </a:p>
          <a:p>
            <a:r>
              <a:rPr lang="en-US" dirty="0"/>
              <a:t>Official: the Product Backlog is a Scrum artifact. Its commitment is the Product Goal.</a:t>
            </a:r>
          </a:p>
          <a:p>
            <a:r>
              <a:rPr lang="en-US" dirty="0"/>
              <a:t>Clicks: 1: Sarah orders them · 2: definition.</a:t>
            </a: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Prioritize by value, urgency, risk, dependencies and learning.</a:t>
            </a:r>
          </a:p>
          <a:p>
            <a:r>
              <a:rPr lang="en-US" dirty="0"/>
              <a:t>Introduce MoSCoW as a discussion tool: an optional Agile practice, not required by Scrum.</a:t>
            </a:r>
          </a:p>
          <a:p>
            <a:r>
              <a:rPr lang="en-US" dirty="0"/>
              <a:t>Ask: Who is accountable for backlog order? The Product Owner. MoSCoW does not replace her.</a:t>
            </a:r>
          </a:p>
          <a:p>
            <a:r>
              <a:rPr lang="en-US" dirty="0"/>
              <a:t>Clicks: 1: first-release focus · 2: later · 3: MoSCoW.</a:t>
            </a: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After the contract the PO writes the Product Backlog and runs a launch (kickoff) meeting.</a:t>
            </a:r>
          </a:p>
          <a:p>
            <a:r>
              <a:rPr lang="en-US" dirty="0"/>
              <a:t>Some companies explain it to the team leads first; others hold a meeting for the whole company.</a:t>
            </a:r>
          </a:p>
          <a:p>
            <a:r>
              <a:rPr lang="en-US" dirty="0"/>
              <a:t>Together they refine it: clarify, split, order. Then the work is grouped into milestones: big deliverables with a target date.</a:t>
            </a:r>
          </a:p>
          <a:p>
            <a:r>
              <a:rPr lang="en-US" dirty="0"/>
              <a:t>Each milestone will be reached through several sprints.</a:t>
            </a:r>
          </a:p>
          <a:p>
            <a:r>
              <a:rPr lang="en-US" dirty="0"/>
              <a:t>Clicks: 1: step 1 · 2: step 2 · 3: step 3 · 4: step 4 · 5: who attends · 6: milestones · 7: then.</a:t>
            </a:r>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Show one giant card, then break it.</a:t>
            </a:r>
          </a:p>
          <a:p>
            <a:r>
              <a:rPr lang="en-US" dirty="0"/>
              <a:t>Ask: Could we finish Appointment Management in one Sprint with confidence? Probably not.</a:t>
            </a:r>
          </a:p>
          <a:p>
            <a:r>
              <a:rPr lang="en-US" dirty="0"/>
              <a:t>Clarify: "Epic" is common Agile language, not Scrum Guide terminology. Scrum talks about Product Backlog Items.</a:t>
            </a:r>
          </a:p>
          <a:p>
            <a:r>
              <a:rPr lang="en-US" dirty="0"/>
              <a:t>Clicks: 1: break it down · 2: note.</a:t>
            </a: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Highlight who / what / why.</a:t>
            </a:r>
          </a:p>
          <a:p>
            <a:r>
              <a:rPr lang="en-US" dirty="0"/>
              <a:t>Ask: Is this a technical specification? No.</a:t>
            </a:r>
          </a:p>
          <a:p>
            <a:r>
              <a:rPr lang="en-US" dirty="0"/>
              <a:t>User Stories are a common Agile practice; Scrum does not require this template.</a:t>
            </a:r>
          </a:p>
          <a:p>
            <a:r>
              <a:rPr lang="en-US" dirty="0"/>
              <a:t>Misunderstanding: a story is a ticket with every field. A story starts a conversation.</a:t>
            </a:r>
          </a:p>
          <a:p>
            <a:r>
              <a:rPr lang="en-US" dirty="0"/>
              <a:t>Clicks: 1: who · 2: what · 3: why.</a:t>
            </a: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Walk through why the bad version hurts: it locks the design early, confuses stakeholders, and ages badly.</a:t>
            </a:r>
          </a:p>
          <a:p>
            <a:r>
              <a:rPr lang="en-US" dirty="0"/>
              <a:t>Ask: Where do technical details belong? Developer tasks, design, engineering docs.</a:t>
            </a:r>
          </a:p>
          <a:p>
            <a:r>
              <a:rPr lang="en-US" dirty="0"/>
              <a:t>Clicks: 1: the bad version · 2: main idea.</a:t>
            </a: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 Maya's question introduce Acceptance Criteria; do not start with a definition.</a:t>
            </a:r>
          </a:p>
          <a:p>
            <a:r>
              <a:rPr lang="en-US" dirty="0"/>
              <a:t>Definition after examples: conditions for expected business behavior.</a:t>
            </a:r>
          </a:p>
          <a:p>
            <a:r>
              <a:rPr lang="en-US" dirty="0"/>
              <a:t>Ask: Are AC the same as the Definition of Done? No. AC are item-specific; DoD is the shared quality bar.</a:t>
            </a:r>
          </a:p>
          <a:p>
            <a:r>
              <a:rPr lang="en-US" dirty="0"/>
              <a:t>Clicks: 1: the criteria.</a:t>
            </a: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Three-column teaching. Emphasize that Developers own the tasks.</a:t>
            </a:r>
          </a:p>
          <a:p>
            <a:r>
              <a:rPr lang="en-US" dirty="0"/>
              <a:t>Ask: Who writes tasks, the PO? Usually Developers, during planning and execution.</a:t>
            </a:r>
          </a:p>
          <a:p>
            <a:r>
              <a:rPr lang="en-US" dirty="0"/>
              <a:t>Clicks: 1: story · 2: acceptance criteria · 3: tasks · 4: note.</a:t>
            </a: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Show the frustration of estimating fog.</a:t>
            </a:r>
          </a:p>
          <a:p>
            <a:r>
              <a:rPr lang="en-US" dirty="0"/>
              <a:t>Introduce Refinement as the activity that makes items plannable. Official: not a Scrum event; it is ongoing.</a:t>
            </a:r>
          </a:p>
          <a:p>
            <a:r>
              <a:rPr lang="en-US" dirty="0"/>
              <a:t>Ask: Should we pull this into Sprint Planning as-is? No.</a:t>
            </a:r>
          </a:p>
          <a:p>
            <a:r>
              <a:rPr lang="en-US" dirty="0"/>
              <a:t>Clicks: 1: developer questions · 2: refinement.</a:t>
            </a: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Be explicit: DoR is optional; DoD is the Increment commitment in Scrum.</a:t>
            </a:r>
          </a:p>
          <a:p>
            <a:r>
              <a:rPr lang="en-US" dirty="0"/>
              <a:t>Ask: What happens if Ready becomes a wall? Collaboration dies.</a:t>
            </a:r>
          </a:p>
          <a:p>
            <a:r>
              <a:rPr lang="en-US" dirty="0"/>
              <a:t>Clicks: 1: tick the checklist · 2: warning.</a:t>
            </a: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INVEST is Agile practice guidance, not Scrum law.</a:t>
            </a:r>
          </a:p>
          <a:p>
            <a:r>
              <a:rPr lang="en-US" dirty="0"/>
              <a:t>Ask for each letter: which Care Hospital story fails?</a:t>
            </a:r>
          </a:p>
          <a:p>
            <a:r>
              <a:rPr lang="en-US" dirty="0"/>
              <a:t>End on the improved booking story.</a:t>
            </a:r>
          </a:p>
          <a:p>
            <a:r>
              <a:rPr lang="en-US" dirty="0"/>
              <a:t>Clicks: 1: I: independent · 2: N: negotiable · 3: V: valuable · 4: E: estimable · 5: S: small · 6: T: testable · 7: the improved story.</a:t>
            </a: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Scene 4 of the story: How Big Is the Work?.</a:t>
            </a:r>
          </a:p>
          <a:p>
            <a:r>
              <a:rPr lang="en-US" dirty="0"/>
              <a:t>Before promising anything, the team sizes the stories together.</a:t>
            </a:r>
          </a:p>
          <a:p>
            <a:r>
              <a:rPr lang="en-US" dirty="0"/>
              <a:t>In this scene: story points, Fibonacci, planning poker, spikes.</a:t>
            </a: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Hard rule: Developers estimate, because they create the Increment.</a:t>
            </a:r>
          </a:p>
          <a:p>
            <a:r>
              <a:rPr lang="en-US" dirty="0"/>
              <a:t>Ask: Can Adam pick 5 points for the team? No.</a:t>
            </a:r>
          </a:p>
          <a:p>
            <a:r>
              <a:rPr lang="en-US" dirty="0"/>
              <a:t>Misunderstanding: the PO estimates because she 'owns' the backlog. Ownership of order ≠ ownership of effort.</a:t>
            </a:r>
          </a:p>
          <a:p>
            <a:r>
              <a:rPr lang="en-US" dirty="0"/>
              <a:t>Clicks: 1: product owner · 2: scrum master · 3: developers.</a:t>
            </a: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Never say 1 point = 4 hours: it destroys relative estimation.</a:t>
            </a:r>
          </a:p>
          <a:p>
            <a:r>
              <a:rPr lang="en-US" dirty="0"/>
              <a:t>Ask: Why do hours create false precision?</a:t>
            </a:r>
          </a:p>
          <a:p>
            <a:r>
              <a:rPr lang="en-US" dirty="0"/>
              <a:t>Points help the same team compare items, not measure individual speed.</a:t>
            </a:r>
          </a:p>
          <a:p>
            <a:r>
              <a:rPr lang="en-US" dirty="0"/>
              <a:t>Clicks: 1: Omar · 2: new developer · 3: ask the class · 4: answer.</a:t>
            </a: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calibration story anchors the scale.</a:t>
            </a:r>
          </a:p>
          <a:p>
            <a:r>
              <a:rPr lang="en-US" dirty="0"/>
              <a:t>Ask: Is insurance 13 because it takes 13 hours? No: relative uncertainty.</a:t>
            </a:r>
          </a:p>
          <a:p>
            <a:r>
              <a:rPr lang="en-US" dirty="0"/>
              <a:t>Clicks: 1: register a new patient · 2: book an available appointment · 3: integrate external insurance.</a:t>
            </a: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 growing gaps as honesty about uncertainty.</a:t>
            </a:r>
          </a:p>
          <a:p>
            <a:r>
              <a:rPr lang="en-US" dirty="0"/>
              <a:t>Briefly explain the special cards: 0, ½, ?, ∞.</a:t>
            </a:r>
          </a:p>
          <a:p>
            <a:r>
              <a:rPr lang="en-US" dirty="0"/>
              <a:t>Clarify: Fibonacci is common practice, not a Scrum mandate.</a:t>
            </a:r>
          </a:p>
          <a:p>
            <a:r>
              <a:rPr lang="en-US" dirty="0"/>
              <a:t>Clicks: 1: the gaps grow · 2: special cards · 3: key point.</a:t>
            </a: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Emphasize the simultaneous reveal: nobody anchors on the senior.</a:t>
            </a:r>
          </a:p>
          <a:p>
            <a:r>
              <a:rPr lang="en-US" dirty="0"/>
              <a:t>Ask: Why did Maya say 13 while Omar said 5? Different assumptions.</a:t>
            </a:r>
          </a:p>
          <a:p>
            <a:r>
              <a:rPr lang="en-US" dirty="0"/>
              <a:t>Main message: Planning Poker is a conversation tool. Never average the numbers.</a:t>
            </a:r>
          </a:p>
          <a:p>
            <a:r>
              <a:rPr lang="en-US" dirty="0"/>
              <a:t>Clicks: 1: reveal round 1 · 2: discuss · 3: round 2.</a:t>
            </a: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Spikes buy learning, not features.</a:t>
            </a:r>
          </a:p>
          <a:p>
            <a:r>
              <a:rPr lang="en-US" dirty="0"/>
              <a:t>Ask: Should a Spike be open-ended for two weeks? No: time-box it.</a:t>
            </a:r>
          </a:p>
          <a:p>
            <a:r>
              <a:rPr lang="en-US" dirty="0"/>
              <a:t>Clicks: 1: the spike.</a:t>
            </a: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Scene 5 of the story: The First Sprint Starts.</a:t>
            </a:r>
          </a:p>
          <a:p>
            <a:r>
              <a:rPr lang="en-US" dirty="0"/>
              <a:t>The team picks a Sprint length, measures itself, and plans.</a:t>
            </a:r>
          </a:p>
          <a:p>
            <a:r>
              <a:rPr lang="en-US" dirty="0"/>
              <a:t>In this scene: Sprint, Sprint 0, Sprint Planning, Sprint Backlog.</a:t>
            </a: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Sprint is an official Scrum event: the container for all other events.</a:t>
            </a:r>
          </a:p>
          <a:p>
            <a:r>
              <a:rPr lang="en-US" dirty="0"/>
              <a:t>Ask: Should Sprint length change every two weeks randomly? Prefer consistency.</a:t>
            </a:r>
          </a:p>
          <a:p>
            <a:r>
              <a:rPr lang="en-US" dirty="0"/>
              <a:t>Clicks: 1: keep it consistent.</a:t>
            </a:r>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Many companies start with a "Sprint 0". The Team Lead or Scrum Master does not yet know how much this team can finish in a fixed time.</a:t>
            </a:r>
          </a:p>
          <a:p>
            <a:r>
              <a:rPr lang="en-US" dirty="0"/>
              <a:t>Fix the length (for example 2 weeks), pull a set of tasks, estimate them with story points (weighting / estimation), and work.</a:t>
            </a:r>
          </a:p>
          <a:p>
            <a:r>
              <a:rPr lang="en-US" dirty="0"/>
              <a:t>Add up the points that are really DONE: that is the team's baseline (buffer). Later sprints plan about the same number, or a little more, not less.</a:t>
            </a:r>
          </a:p>
          <a:p>
            <a:r>
              <a:rPr lang="en-US" dirty="0"/>
              <a:t>Honest note: "Sprint 0" is not in the Scrum Guide, and real velocity can go down (holidays, sick days, a hard story). Use the baseline as a guide, not a promise.</a:t>
            </a:r>
          </a:p>
          <a:p>
            <a:r>
              <a:rPr lang="en-US" dirty="0"/>
              <a:t>Clicks: 1: step 1 · 2: step 2 · 3: step 3 · 4: step 4 · 5: the baseline: 18 points · 6: next sprints: same or a bit more · 7: the goal · 8: honest note.</a:t>
            </a: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Sprint Planning: the whole Scrum Team attends.</a:t>
            </a:r>
          </a:p>
          <a:p>
            <a:r>
              <a:rPr lang="en-US" dirty="0"/>
              <a:t>In many companies, a short meeting happens BEFORE it with the Scrum Master and the Product Owner (often team leads too). They check the top of the backlog is clear and ready, so the team's time is not wasted.</a:t>
            </a:r>
          </a:p>
          <a:p>
            <a:r>
              <a:rPr lang="en-US" dirty="0"/>
              <a:t>Why? In many companies the Product Owner is weak: stories are unclear, priorities are missing. The prep meeting covers that gap.</a:t>
            </a:r>
          </a:p>
          <a:p>
            <a:r>
              <a:rPr lang="en-US" dirty="0"/>
              <a:t>The official Scrum way is continuous Backlog Refinement with the Developers and a strong PO. The prep meeting is a workaround: useful, but it should not replace refinement.</a:t>
            </a:r>
          </a:p>
          <a:p>
            <a:r>
              <a:rPr lang="en-US" dirty="0"/>
              <a:t>Clicks: 1: step 1 · 2: step 2 · 3: step 3 · 4: why companies do it · 5: the scrum way · 6: discuss.</a:t>
            </a:r>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Sprint Goal is the commitment of the Sprint Backlog.</a:t>
            </a:r>
          </a:p>
          <a:p>
            <a:r>
              <a:rPr lang="en-US" dirty="0"/>
              <a:t>Ask: Which goal survives a mid-Sprint surprise better? The outcome goal.</a:t>
            </a:r>
          </a:p>
          <a:p>
            <a:r>
              <a:rPr lang="en-US" dirty="0"/>
              <a:t>Clicks: 1: weak goal · 2: strong goal.</a:t>
            </a: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Selected work serves the Sprint Goal.</a:t>
            </a:r>
          </a:p>
          <a:p>
            <a:r>
              <a:rPr lang="en-US" dirty="0"/>
              <a:t>Ask: Who decides how many points? The Developers forecast.</a:t>
            </a:r>
          </a:p>
          <a:p>
            <a:r>
              <a:rPr lang="en-US" dirty="0"/>
              <a:t>PO does not command a fixed number. Developers consider capacity, risks, DoD, holidays.</a:t>
            </a:r>
          </a:p>
          <a:p>
            <a:r>
              <a:rPr lang="en-US" dirty="0"/>
              <a:t>Clicks: 1: who decides.</a:t>
            </a:r>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 every task must be known before the Sprint starts.</a:t>
            </a:r>
          </a:p>
          <a:p>
            <a:r>
              <a:rPr lang="en-US" dirty="0"/>
              <a:t>Ask: Is the plan frozen on Monday? No. Developers adapt it every day.</a:t>
            </a:r>
          </a:p>
          <a:p>
            <a:r>
              <a:rPr lang="en-US" dirty="0"/>
              <a:t>Clicks: 1: ownership.</a:t>
            </a: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Official Scrum artifact. Its commitment: the Sprint Goal.</a:t>
            </a:r>
          </a:p>
          <a:p>
            <a:r>
              <a:rPr lang="en-US" dirty="0"/>
              <a:t>Ownership: Developers update it throughout the Sprint.</a:t>
            </a:r>
          </a:p>
          <a:p>
            <a:r>
              <a:rPr lang="en-US" dirty="0"/>
              <a:t>Clicks: 1: + selected PBIs · 2: + plan · 3: = Sprint Backlog · 4: definition.</a:t>
            </a: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story: a pig and a chicken want to open a restaurant called "Ham and Eggs". The chicken is only INVOLVED (gives eggs); the pig is COMMITTED (gives itself).</a:t>
            </a:r>
          </a:p>
          <a:p>
            <a:r>
              <a:rPr lang="en-US" dirty="0"/>
              <a:t>Pigs = the people who do the work and own the result (the Scrum Team). Chickens = involved stakeholders (managers, other departments, the client). In the Daily Scrum, chickens may listen but do not interrupt.</a:t>
            </a:r>
          </a:p>
          <a:p>
            <a:r>
              <a:rPr lang="en-US" dirty="0"/>
              <a:t>Whose word counts? In many companies: DURING the sprint the Scrum Master protects the team and the Sprint Backlog: no new work pushed in. BEFORE and AFTER the sprint the Product Owner decides what comes next.</a:t>
            </a:r>
          </a:p>
          <a:p>
            <a:r>
              <a:rPr lang="en-US" dirty="0"/>
              <a:t>Precise version (Scrum Guide): the PO always owns the Product Backlog; the Developers own the Sprint Backlog; the SM protects the process. The pig/chicken terms were removed from the Scrum Guide in 2011, but you will still hear them.</a:t>
            </a:r>
          </a:p>
          <a:p>
            <a:r>
              <a:rPr lang="en-US" dirty="0"/>
              <a:t>Clicks: 1: pigs · 2: chickens · 3: whose word: timeline · 4: precise version.</a:t>
            </a:r>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Scene 6 of the story: Inside the Sprint.</a:t>
            </a:r>
          </a:p>
          <a:p>
            <a:r>
              <a:rPr lang="en-US" dirty="0"/>
              <a:t>Two weeks of real work: dailies, blockers, surprises.</a:t>
            </a:r>
          </a:p>
          <a:p>
            <a:r>
              <a:rPr lang="en-US" dirty="0"/>
              <a:t>In this scene: self-management, Daily Scrum, Scrum Master, change requests.</a:t>
            </a:r>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Show the board. Warn against mini-waterfall.</a:t>
            </a:r>
          </a:p>
          <a:p>
            <a:r>
              <a:rPr lang="en-US" dirty="0"/>
              <a:t>Ask: When should Maya start thinking about tests? Early: during refinement and coding.</a:t>
            </a:r>
          </a:p>
          <a:p>
            <a:r>
              <a:rPr lang="en-US" dirty="0"/>
              <a:t>Clicks: 1: Register starts: together · 2: vertical slices.</a:t>
            </a: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Vertical slices beat mini-waterfall handoffs.</a:t>
            </a:r>
          </a:p>
          <a:p>
            <a:r>
              <a:rPr lang="en-US" dirty="0"/>
              <a:t>Ask: Should Maya wait until Friday to test? Prefer earlier collaboration.</a:t>
            </a:r>
          </a:p>
          <a:p>
            <a:r>
              <a:rPr lang="en-US" dirty="0"/>
              <a:t>Clicks: 1: manager style · 2: Scrum approach · 3: self-managing ≠ no accountability.</a:t>
            </a:r>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Official Scrum event. 15 minutes. Developers own it.</a:t>
            </a:r>
          </a:p>
          <a:p>
            <a:r>
              <a:rPr lang="en-US" dirty="0"/>
              <a:t>Misunderstanding: everyone must answer yesterday/today/blockers to a manager. Those three questions are only one optional format.</a:t>
            </a:r>
          </a:p>
          <a:p>
            <a:r>
              <a:rPr lang="en-US" dirty="0"/>
              <a:t>Clicks: 1: purpose · 2: better focus · 3: who it is for.</a:t>
            </a:r>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Daily Scrum produces an adapted plan, not a report.</a:t>
            </a:r>
          </a:p>
          <a:p>
            <a:r>
              <a:rPr lang="en-US" dirty="0"/>
              <a:t>Ask: Did they change the Sprint Goal? No.</a:t>
            </a:r>
          </a:p>
          <a:p>
            <a:r>
              <a:rPr lang="en-US" dirty="0"/>
              <a:t>Clicks: 1: Omar · 2: Maya · 3: Lina · 4: Daniel · 5: decision.</a:t>
            </a:r>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Every day at a fixed time, morning or evening. 15 minutes. Everyone stands (online is fine sitting).</a:t>
            </a:r>
          </a:p>
          <a:p>
            <a:r>
              <a:rPr lang="en-US" dirty="0"/>
              <a:t>Morning stand-up: what did you do YESTERDAY? Evening stand-up: what did you do TODAY?</a:t>
            </a:r>
          </a:p>
          <a:p>
            <a:r>
              <a:rPr lang="en-US" dirty="0"/>
              <a:t>Then: what will you do next? Is anything blocking you? Many teams add: did you learn something new? Did you hit a blocker and solve it (so others can learn)?</a:t>
            </a:r>
          </a:p>
          <a:p>
            <a:r>
              <a:rPr lang="en-US" dirty="0"/>
              <a:t>Remember the previous slide: these questions are a company format. The goal is still to inspect progress toward the Sprint Goal and adapt the plan.</a:t>
            </a:r>
          </a:p>
          <a:p>
            <a:r>
              <a:rPr lang="en-US" dirty="0"/>
              <a:t>Clicks: 1: morning · 2: end of day · 3: then everyone answers · 4: the rules · 5: remember.</a:t>
            </a:r>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Introduce the Scrum Master through pain, not a role poster.</a:t>
            </a:r>
          </a:p>
          <a:p>
            <a:r>
              <a:rPr lang="en-US" dirty="0"/>
              <a:t>Ask: Is Adam responsible for delivery dates alone? No.</a:t>
            </a:r>
          </a:p>
          <a:p>
            <a:r>
              <a:rPr lang="en-US" dirty="0"/>
              <a:t>Clicks: 1: problems appear · 2: what Adam does · 3: what Adam is not.</a:t>
            </a:r>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Main message: the Scrum Master helps remove impediments; the team is not passive.</a:t>
            </a:r>
          </a:p>
          <a:p>
            <a:r>
              <a:rPr lang="en-US" dirty="0"/>
              <a:t>Ask: Should the Scrum Master assign the blocker to someone? No.</a:t>
            </a:r>
          </a:p>
          <a:p>
            <a:r>
              <a:rPr lang="en-US" dirty="0"/>
              <a:t>Clicks: 1: technical · 2: product clarification · 3: org / process · 4: external vendor · 5: ask the class · 6: answer.</a:t>
            </a:r>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Sprint Goal should remain stable. Scope may be renegotiated between the PO and the Developers.</a:t>
            </a:r>
          </a:p>
          <a:p>
            <a:r>
              <a:rPr lang="en-US" dirty="0"/>
              <a:t>The Product Backlog can change at any time; the Sprint Backlog is adapted by the Developers.</a:t>
            </a:r>
          </a:p>
          <a:p>
            <a:r>
              <a:rPr lang="en-US" dirty="0"/>
              <a:t>Ask: Should we add insurance this Sprint? Usually no, if it endangers the Goal.</a:t>
            </a:r>
          </a:p>
          <a:p>
            <a:r>
              <a:rPr lang="en-US" dirty="0"/>
              <a:t>Clicks: 1: wrong reaction · 2: proper discussion.</a:t>
            </a:r>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Sprint has a fixed duration.</a:t>
            </a:r>
          </a:p>
          <a:p>
            <a:r>
              <a:rPr lang="en-US" dirty="0"/>
              <a:t>Ask: Should incomplete work receive partial points? No.</a:t>
            </a:r>
          </a:p>
          <a:p>
            <a:r>
              <a:rPr lang="en-US" dirty="0"/>
              <a:t>Clicks: 1: the rules.</a:t>
            </a:r>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Scene 7 of the story: Is It Really Done?.</a:t>
            </a:r>
          </a:p>
          <a:p>
            <a:r>
              <a:rPr lang="en-US" dirty="0"/>
              <a:t>"The code is finished" is not the same as done.</a:t>
            </a:r>
          </a:p>
          <a:p>
            <a:r>
              <a:rPr lang="en-US" dirty="0"/>
              <a:t>In this scene: Definition of Done, Increment, release approval.</a:t>
            </a:r>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Create the need for the Definition of Done through Maya's checklist.</a:t>
            </a:r>
          </a:p>
          <a:p>
            <a:r>
              <a:rPr lang="en-US" dirty="0"/>
              <a:t>Ask each question; the answer is no every time.</a:t>
            </a:r>
          </a:p>
          <a:p>
            <a:r>
              <a:rPr lang="en-US" dirty="0"/>
              <a:t>Clicks: 1: Maya's questions · 2: the answers · 3: ask the class · 4: answer.</a:t>
            </a: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DoD is the commitment for the Increment artifact.</a:t>
            </a:r>
          </a:p>
          <a:p>
            <a:r>
              <a:rPr lang="en-US" dirty="0"/>
              <a:t>Ask: Can one team member invent a weaker Done for speed? No: it is a shared standard.</a:t>
            </a:r>
          </a:p>
          <a:p>
            <a:r>
              <a:rPr lang="en-US" dirty="0"/>
              <a:t>Clicks: 1: tick every box · 2: DoD vs AC.</a:t>
            </a:r>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Official artifact. Its commitment: the Definition of Done.</a:t>
            </a:r>
          </a:p>
          <a:p>
            <a:r>
              <a:rPr lang="en-US" dirty="0"/>
              <a:t>Ask: Is a pile of half-built screens an Increment? No.</a:t>
            </a:r>
          </a:p>
          <a:p>
            <a:r>
              <a:rPr lang="en-US" dirty="0"/>
              <a:t>Clicks: 1: they work together · 2: definition · 3: rules.</a:t>
            </a:r>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At the end of the work, QA tests the increment and hands a report to the Product Owner: these items pass, these do not.</a:t>
            </a:r>
          </a:p>
          <a:p>
            <a:r>
              <a:rPr lang="en-US" dirty="0"/>
              <a:t>Then the Product Owner decides: release this item now, or hold it. The PO is accountable for the value that reaches users.</a:t>
            </a:r>
          </a:p>
          <a:p>
            <a:r>
              <a:rPr lang="en-US" dirty="0"/>
              <a:t>Example: booking works, the SMS reminder has a bug with Arabic names. The PO releases booking and holds the reminder for the next sprint.</a:t>
            </a:r>
          </a:p>
          <a:p>
            <a:r>
              <a:rPr lang="en-US" dirty="0"/>
              <a:t>Clicks: 1: step 1 · 2: step 2 · 3: step 3 · 4: step 4 · 5: the QA report · 6: Sarah decides · 7: rule.</a:t>
            </a:r>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Scene 8 of the story: The Sprint Ends.</a:t>
            </a:r>
          </a:p>
          <a:p>
            <a:r>
              <a:rPr lang="en-US" dirty="0"/>
              <a:t>Show the work to the client, then improve the way we work.</a:t>
            </a:r>
          </a:p>
          <a:p>
            <a:r>
              <a:rPr lang="en-US" dirty="0"/>
              <a:t>In this scene: Sprint Review, Retrospective.</a:t>
            </a:r>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Ask: Who attends the Sprint Review? The Scrum Team + stakeholders.</a:t>
            </a:r>
          </a:p>
          <a:p>
            <a:r>
              <a:rPr lang="en-US" dirty="0"/>
              <a:t>Contrast later with the Retrospective attendees.</a:t>
            </a:r>
          </a:p>
          <a:p>
            <a:r>
              <a:rPr lang="en-US" dirty="0"/>
              <a:t>Clicks: 1: stakeholders join · 2: purpose.</a:t>
            </a:r>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Demo the happy path as a receptionist would.</a:t>
            </a:r>
          </a:p>
          <a:p>
            <a:r>
              <a:rPr lang="en-US" dirty="0"/>
              <a:t>Ask: Should we show slides of tickets instead of the product? Prefer the working Increment.</a:t>
            </a:r>
          </a:p>
          <a:p>
            <a:r>
              <a:rPr lang="en-US" dirty="0"/>
              <a:t>Clicks: 1: live demo.</a:t>
            </a:r>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Main message: feedback feeds future decisions.</a:t>
            </a:r>
          </a:p>
          <a:p>
            <a:r>
              <a:rPr lang="en-US" dirty="0"/>
              <a:t>Ask: Do we reopen Done items to rewrite history? No. We adapt the backlog.</a:t>
            </a:r>
          </a:p>
          <a:p>
            <a:r>
              <a:rPr lang="en-US" dirty="0"/>
              <a:t>Clicks: 1: receptionist feedback · 2: operations feedback · 3: Sarah's response.</a:t>
            </a:r>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Ask learners which Review they have seen in real jobs.</a:t>
            </a:r>
          </a:p>
          <a:p>
            <a:r>
              <a:rPr lang="en-US" dirty="0"/>
              <a:t>A status meeting lists tickets. A Sprint Review inspects a usable Increment and adapts the Product Backlog.</a:t>
            </a:r>
          </a:p>
          <a:p>
            <a:r>
              <a:rPr lang="en-US" dirty="0"/>
              <a:t>Misunderstanding: Sprint Review = demo only. The demo is part of inspection, not the whole purpose.</a:t>
            </a:r>
          </a:p>
          <a:p>
            <a:r>
              <a:rPr lang="en-US" dirty="0"/>
              <a:t>Clicks: 1: bad review · 2: good review.</a:t>
            </a:r>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Use Care Hospital specifics, not generic Retro posters.</a:t>
            </a:r>
          </a:p>
          <a:p>
            <a:r>
              <a:rPr lang="en-US" dirty="0"/>
              <a:t>Ask: Which slowing factor is technical? Which is organizational?</a:t>
            </a:r>
          </a:p>
          <a:p>
            <a:r>
              <a:rPr lang="en-US" dirty="0"/>
              <a:t>The late concurrency discovery should become a Refinement habit.</a:t>
            </a:r>
          </a:p>
          <a:p>
            <a:r>
              <a:rPr lang="en-US" dirty="0"/>
              <a:t>Clicks: 1: What helped us? · 2: What slowed us? · 3: What will we change?.</a:t>
            </a:r>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One or two realistic actions beat twenty sticky notes.</a:t>
            </a:r>
          </a:p>
          <a:p>
            <a:r>
              <a:rPr lang="en-US" dirty="0"/>
              <a:t>Ask: Who owns each action? When do we check it?</a:t>
            </a:r>
          </a:p>
          <a:p>
            <a:r>
              <a:rPr lang="en-US" dirty="0"/>
              <a:t>Clicks: 1: action 1 · 2: action 2 · 3: the rule.</a:t>
            </a: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Scene 9 of the story: Looking Back at Sprint 1.</a:t>
            </a:r>
          </a:p>
          <a:p>
            <a:r>
              <a:rPr lang="en-US" dirty="0"/>
              <a:t>What did we already practice, and how fast are we?</a:t>
            </a:r>
          </a:p>
          <a:p>
            <a:r>
              <a:rPr lang="en-US" dirty="0"/>
              <a:t>In this scene: Scrum values &amp; pillars, velocity, burndown.</a:t>
            </a:r>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Values guide behavior when Scrum gets hard.</a:t>
            </a:r>
          </a:p>
          <a:p>
            <a:r>
              <a:rPr lang="en-US" dirty="0"/>
              <a:t>Ask for another Courage example from their own jobs.</a:t>
            </a:r>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Map the pillars back to story beats.</a:t>
            </a:r>
          </a:p>
          <a:p>
            <a:r>
              <a:rPr lang="en-US" dirty="0"/>
              <a:t>Transparency: ordered backlog, Sprint Goal, DoD, honest board. Inspection: Daily, Review, Retro, Refinement. Adaptation: the pairing plan, backlog updates, Retro actions.</a:t>
            </a:r>
          </a:p>
          <a:p>
            <a:r>
              <a:rPr lang="en-US" dirty="0"/>
              <a:t>Ask: If the board lies about progress, which pillar breaks first? Transparency, and then inspection fails.</a:t>
            </a:r>
          </a:p>
          <a:p>
            <a:r>
              <a:rPr lang="en-US" dirty="0"/>
              <a:t>Clicks: 1: transparency · 2: inspection · 3: adaptation · 4: the roof: empiricism · 5: why all three.</a:t>
            </a:r>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Define Velocity: estimated work completed in a Sprint, according to the DoD.</a:t>
            </a:r>
          </a:p>
          <a:p>
            <a:r>
              <a:rPr lang="en-US" dirty="0"/>
              <a:t>Ask: Is Velocity a productivity score? No.</a:t>
            </a:r>
          </a:p>
          <a:p>
            <a:r>
              <a:rPr lang="en-US" dirty="0"/>
              <a:t>List the misuse patterns and why each harms trust.</a:t>
            </a:r>
          </a:p>
          <a:p>
            <a:r>
              <a:rPr lang="en-US" dirty="0"/>
              <a:t>Clicks: 1: definition · 2: misuse.</a:t>
            </a:r>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Ask: Should Sprint 5 commit to 40 because management wants it? No.</a:t>
            </a:r>
          </a:p>
          <a:p>
            <a:r>
              <a:rPr lang="en-US" dirty="0"/>
              <a:t>Possible forecast ≈ 19–21 points, adjusted for capacity. Historical evidence, not a promise.</a:t>
            </a:r>
          </a:p>
          <a:p>
            <a:r>
              <a:rPr lang="en-US" dirty="0"/>
              <a:t>Clicks: 1: the pattern · 2: the forecast · 3: management wants 40.</a:t>
            </a:r>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Describe the flat section: the staging blocker days.</a:t>
            </a:r>
          </a:p>
          <a:p>
            <a:r>
              <a:rPr lang="en-US" dirty="0"/>
              <a:t>Ask: What does a flat burndown suggest? What does a late cliff suggest?</a:t>
            </a:r>
          </a:p>
          <a:p>
            <a:r>
              <a:rPr lang="en-US" dirty="0"/>
              <a:t>Clicks: 1: ideal trend · 2: actual Sprint · 3: how to use it.</a:t>
            </a:r>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the management quote dramatically.</a:t>
            </a:r>
          </a:p>
          <a:p>
            <a:r>
              <a:rPr lang="en-US" dirty="0"/>
              <a:t>Ask: Why is comparing 30 vs 18 across teams invalid? Collect answers.</a:t>
            </a:r>
          </a:p>
          <a:p>
            <a:r>
              <a:rPr lang="en-US" dirty="0"/>
              <a:t>Main message: metrics improve the system; they do not judge people.</a:t>
            </a:r>
          </a:p>
          <a:p>
            <a:r>
              <a:rPr lang="en-US" dirty="0"/>
              <a:t>Clicks: 1: why it is invalid · 2: the rule.</a:t>
            </a: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Scene 10 of the story: Sprint 2 and the Big Picture.</a:t>
            </a:r>
          </a:p>
          <a:p>
            <a:r>
              <a:rPr lang="en-US" dirty="0"/>
              <a:t>The loop starts again. Now see all of Scrum on one page.</a:t>
            </a:r>
          </a:p>
          <a:p>
            <a:r>
              <a:rPr lang="en-US" dirty="0"/>
              <a:t>In this scene: Sprint 2, 3 · 5 · 3, Scrum vs Kanban, quizzes.</a:t>
            </a: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Scrum is a repeated cycle, not a one-time sequence.</a:t>
            </a:r>
          </a:p>
          <a:p>
            <a:r>
              <a:rPr lang="en-US" dirty="0"/>
              <a:t>Ask: Which items came from the Review feedback? Phone search and the audit history.</a:t>
            </a:r>
          </a:p>
          <a:p>
            <a:r>
              <a:rPr lang="en-US" dirty="0"/>
              <a:t>Clicks: 1: the cycle repeats.</a:t>
            </a:r>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Now that every idea appeared in the story, here is the official skeleton: 3 accountabilities, 5 events, 3 artifacts, each artifact with its commitment.</a:t>
            </a:r>
          </a:p>
          <a:p>
            <a:r>
              <a:rPr lang="en-US" dirty="0"/>
              <a:t>Ask: Point at one box and ask which Care Hospital moment it was.</a:t>
            </a:r>
          </a:p>
          <a:p>
            <a:r>
              <a:rPr lang="en-US" dirty="0"/>
              <a:t>Clicks: 1: accountabilities · 2: events · 3: artifacts → commitment · 4: practices vs. the Guide.</a:t>
            </a: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 Sprint contains every other event. For a one-month Sprint the Scrum Guide sets maximums: Planning 8 hours, Daily 15 minutes, Review 4 hours, Retro 3 hours. Our two-week Sprint uses roughly half.</a:t>
            </a:r>
          </a:p>
          <a:p>
            <a:r>
              <a:rPr lang="en-US" dirty="0"/>
              <a:t>Ask: Why is the Daily Scrum the only event with the same timebox regardless of Sprint length?</a:t>
            </a:r>
          </a:p>
          <a:p>
            <a:r>
              <a:rPr lang="en-US" dirty="0"/>
              <a:t>Clicks: 1: planning starts it · 2: a Daily every day · 3: Review, then Retro · 4: Refinement · 5: the numbers.</a:t>
            </a:r>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This is a typical calendar, not a rule from the Scrum Guide. Planning on the first morning, a 15-minute Daily every day at the same time, a refinement session in the middle, and Review then Retro on the last afternoon.</a:t>
            </a:r>
          </a:p>
          <a:p>
            <a:r>
              <a:rPr lang="en-US" dirty="0"/>
              <a:t>Ask: Why do teams put the Daily at the same time every day?</a:t>
            </a: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Trace Care Hospital through the flow once more.</a:t>
            </a:r>
          </a:p>
          <a:p>
            <a:r>
              <a:rPr lang="en-US" dirty="0"/>
              <a:t>Note: Refinement is ongoing, not an official event; it is shown because the team uses it.</a:t>
            </a:r>
          </a:p>
          <a:p>
            <a:r>
              <a:rPr lang="en-US" dirty="0"/>
              <a:t>Clicks: 1: accountabilities.</a:t>
            </a:r>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Kanban was mentioned as another way to apply the mindset. Scrum fits product development with regular feedback; Kanban fits a continuous stream of incoming work such as support or operations. Many teams mix both.</a:t>
            </a:r>
          </a:p>
          <a:p>
            <a:r>
              <a:rPr lang="en-US" dirty="0"/>
              <a:t>Ask: Care Hospital IT support after go-live: Scrum or Kanban?</a:t>
            </a:r>
          </a:p>
          <a:p>
            <a:r>
              <a:rPr lang="en-US" dirty="0"/>
              <a:t>Clicks: 1: cadence · 2: roles · 3: change · 4: limit · 5: key metrics · 6: best for · 7: they can mix.</a:t>
            </a: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Close the story: you joined Simulation, lived Sprint 1 with Care Hospital, delivered a usable Increment, improved, and started Sprint 2.</a:t>
            </a:r>
          </a:p>
          <a:p>
            <a:r>
              <a:rPr lang="en-US" dirty="0"/>
              <a:t>Ask learners to retell the journey in 60 seconds without jargon, then map the jargon back onto the moments.</a:t>
            </a:r>
          </a:p>
          <a:p>
            <a:r>
              <a:rPr lang="en-US" dirty="0"/>
              <a:t>Thank the cast: Sarah, Adam, Omar, Lina, Maya, Daniel, and the Care Hospital stakeholders.</a:t>
            </a:r>
          </a:p>
          <a:p>
            <a:r>
              <a:rPr lang="en-US" dirty="0"/>
              <a:t>Clicks: 1: the loop · 2: thank the cast.</a:t>
            </a: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Ask: Hands up for A, B, C, D before the reveal.</a:t>
            </a:r>
          </a:p>
          <a:p>
            <a:r>
              <a:rPr lang="en-US" dirty="0"/>
              <a:t>Clicks: 1: reveal the answer.</a:t>
            </a:r>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Ask: Which DoD items are missing? Connect to the 12-item DoD slide.</a:t>
            </a:r>
          </a:p>
          <a:p>
            <a:r>
              <a:rPr lang="en-US" dirty="0"/>
              <a:t>Clicks: 1: reveal the answer.</a:t>
            </a:r>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Ask: What would make cancelling the Sprint the right answer? Only if the Sprint Goal becomes obsolete.</a:t>
            </a:r>
          </a:p>
          <a:p>
            <a:r>
              <a:rPr lang="en-US" dirty="0"/>
              <a:t>Clicks: 1: reveal the answer.</a:t>
            </a:r>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The whole part on one slide.</a:t>
            </a:r>
          </a:p>
          <a:p>
            <a:r>
              <a:rPr lang="en-US" dirty="0"/>
              <a:t>Ask: Point at a row and ask for the matching Care Hospital moment.</a:t>
            </a:r>
          </a:p>
          <a:p>
            <a:r>
              <a:rPr lang="en-US" dirty="0"/>
              <a:t>Clicks: 1: methodology &amp; ownership · 2: estimation &amp; planning · 3: done, change &amp; improvement.</a:t>
            </a:r>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Chapter 06. Everything from the story, now on a real repository.</a:t>
            </a: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You lived one Sprint as a story. Now you practice the same loop with GitHub Issues, Projects, PRs and code review, before implementing features.</a:t>
            </a:r>
          </a:p>
          <a:p>
            <a:r>
              <a:rPr lang="en-US" dirty="0"/>
              <a:t>Ask: Which GitHub feature would you use for the Definition of Done?</a:t>
            </a:r>
          </a:p>
          <a:p>
            <a:r>
              <a:rPr lang="en-US" dirty="0"/>
              <a:t>Clicks: 1: Scrum → GitHub mapping.</a:t>
            </a:r>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Walk through each view in the training repository. Students should open it on their laptops.</a:t>
            </a: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Open the repository together. Read docs/agile, run the setup script, and look at the Sprint 1 seed backlog.</a:t>
            </a:r>
          </a:p>
          <a:p>
            <a:r>
              <a:rPr lang="en-US" dirty="0"/>
              <a:t>Sprint 1 goal: users can create an account and log in successfully. Capacity: 20 points.</a:t>
            </a:r>
          </a:p>
          <a:p>
            <a:r>
              <a:rPr lang="en-US" dirty="0"/>
              <a:t>Clicks: 1: inside the repo · 2: Sprint 1 goal.</a:t>
            </a: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cSld name="BLANK">
    <p:bg>
      <p:bgPr>
        <a:solidFill>
          <a:srgbClr val="0F172A"/>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3426296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BCAD085-E8A6-8845-BD4E-CB4CCA059FC4}" type="datetimeFigureOut">
              <a:rPr lang="en-US" smtClean="0"/>
              <a:t>10/22/2026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499996748"/>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png"/><Relationship Id="rId7" Type="http://schemas.openxmlformats.org/officeDocument/2006/relationships/image" Target="../media/image5.png"/><Relationship Id="rId2" Type="http://schemas.openxmlformats.org/officeDocument/2006/relationships/notesSlide" Target="../notesSlides/notesSlide2.xml"/><Relationship Id="rId1" Type="http://schemas.openxmlformats.org/officeDocument/2006/relationships/slideLayout" Target="../slideLayouts/slideLayout1.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 Id="rId9" Type="http://schemas.openxmlformats.org/officeDocument/2006/relationships/image" Target="../media/image7.png"/></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1.png"/><Relationship Id="rId2" Type="http://schemas.openxmlformats.org/officeDocument/2006/relationships/notesSlide" Target="../notesSlides/notesSlide4.xml"/><Relationship Id="rId1" Type="http://schemas.openxmlformats.org/officeDocument/2006/relationships/slideLayout" Target="../slideLayouts/slideLayout1.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image" Target="../media/image8.png"/></Relationships>
</file>

<file path=ppt/slides/_rels/slide5.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5.png"/><Relationship Id="rId2" Type="http://schemas.openxmlformats.org/officeDocument/2006/relationships/notesSlide" Target="../notesSlides/notesSlide5.xml"/><Relationship Id="rId1" Type="http://schemas.openxmlformats.org/officeDocument/2006/relationships/slideLayout" Target="../slideLayouts/slideLayout1.xml"/><Relationship Id="rId6" Type="http://schemas.openxmlformats.org/officeDocument/2006/relationships/image" Target="../media/image14.png"/><Relationship Id="rId5" Type="http://schemas.openxmlformats.org/officeDocument/2006/relationships/image" Target="../media/image13.png"/><Relationship Id="rId4" Type="http://schemas.openxmlformats.org/officeDocument/2006/relationships/image" Target="../media/image12.png"/></Relationships>
</file>

<file path=ppt/slides/_rels/slide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xml"/><Relationship Id="rId1" Type="http://schemas.openxmlformats.org/officeDocument/2006/relationships/slideLayout" Target="../slideLayouts/slideLayout1.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s/_rels/slide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8.png"/><Relationship Id="rId3" Type="http://schemas.openxmlformats.org/officeDocument/2006/relationships/image" Target="../media/image1.png"/><Relationship Id="rId7" Type="http://schemas.openxmlformats.org/officeDocument/2006/relationships/image" Target="../media/image22.png"/><Relationship Id="rId12" Type="http://schemas.openxmlformats.org/officeDocument/2006/relationships/image" Target="../media/image27.png"/><Relationship Id="rId2" Type="http://schemas.openxmlformats.org/officeDocument/2006/relationships/notesSlide" Target="../notesSlides/notesSlide9.xml"/><Relationship Id="rId1" Type="http://schemas.openxmlformats.org/officeDocument/2006/relationships/slideLayout" Target="../slideLayouts/slideLayout1.xml"/><Relationship Id="rId6" Type="http://schemas.openxmlformats.org/officeDocument/2006/relationships/image" Target="../media/image21.png"/><Relationship Id="rId11" Type="http://schemas.openxmlformats.org/officeDocument/2006/relationships/image" Target="../media/image26.png"/><Relationship Id="rId5" Type="http://schemas.openxmlformats.org/officeDocument/2006/relationships/image" Target="../media/image20.png"/><Relationship Id="rId10" Type="http://schemas.openxmlformats.org/officeDocument/2006/relationships/image" Target="../media/image25.png"/><Relationship Id="rId4" Type="http://schemas.openxmlformats.org/officeDocument/2006/relationships/image" Target="../media/image19.png"/><Relationship Id="rId9" Type="http://schemas.openxmlformats.org/officeDocument/2006/relationships/image" Target="../media/image24.png"/></Relationships>
</file>

<file path=ppt/slides/_rels/slide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xml"/><Relationship Id="rId1" Type="http://schemas.openxmlformats.org/officeDocument/2006/relationships/slideLayout" Target="../slideLayouts/slideLayout1.xml"/><Relationship Id="rId6" Type="http://schemas.openxmlformats.org/officeDocument/2006/relationships/image" Target="../media/image30.png"/><Relationship Id="rId5" Type="http://schemas.openxmlformats.org/officeDocument/2006/relationships/image" Target="../media/image2.png"/><Relationship Id="rId4" Type="http://schemas.openxmlformats.org/officeDocument/2006/relationships/image" Target="../media/image29.png"/></Relationships>
</file>

<file path=ppt/slides/_rels/slide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xml"/><Relationship Id="rId1" Type="http://schemas.openxmlformats.org/officeDocument/2006/relationships/slideLayout" Target="../slideLayouts/slideLayout1.xml"/><Relationship Id="rId4" Type="http://schemas.openxmlformats.org/officeDocument/2006/relationships/image" Target="../media/image31.png"/></Relationships>
</file>

<file path=ppt/slides/_rels/slide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xml"/><Relationship Id="rId1" Type="http://schemas.openxmlformats.org/officeDocument/2006/relationships/slideLayout" Target="../slideLayouts/slideLayout1.xml"/><Relationship Id="rId4" Type="http://schemas.openxmlformats.org/officeDocument/2006/relationships/image" Target="../media/image32.png"/></Relationships>
</file>

<file path=ppt/slides/_rels/slide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9.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4.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image" Target="../media/image1.png"/><Relationship Id="rId7" Type="http://schemas.openxmlformats.org/officeDocument/2006/relationships/image" Target="../media/image36.png"/><Relationship Id="rId2" Type="http://schemas.openxmlformats.org/officeDocument/2006/relationships/notesSlide" Target="../notesSlides/notesSlide77.xml"/><Relationship Id="rId1" Type="http://schemas.openxmlformats.org/officeDocument/2006/relationships/slideLayout" Target="../slideLayouts/slideLayout1.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33.png"/><Relationship Id="rId9" Type="http://schemas.openxmlformats.org/officeDocument/2006/relationships/image" Target="../media/image38.png"/></Relationships>
</file>

<file path=ppt/slides/_rels/slide7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8.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9.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42.png"/><Relationship Id="rId2" Type="http://schemas.openxmlformats.org/officeDocument/2006/relationships/notesSlide" Target="../notesSlides/notesSlide81.xml"/><Relationship Id="rId1" Type="http://schemas.openxmlformats.org/officeDocument/2006/relationships/slideLayout" Target="../slideLayouts/slideLayout1.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39.png"/></Relationships>
</file>

<file path=ppt/slides/_rels/slide82.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image" Target="../media/image1.png"/><Relationship Id="rId7" Type="http://schemas.openxmlformats.org/officeDocument/2006/relationships/image" Target="../media/image46.png"/><Relationship Id="rId2" Type="http://schemas.openxmlformats.org/officeDocument/2006/relationships/notesSlide" Target="../notesSlides/notesSlide82.xml"/><Relationship Id="rId1" Type="http://schemas.openxmlformats.org/officeDocument/2006/relationships/slideLayout" Target="../slideLayouts/slideLayout1.xml"/><Relationship Id="rId6" Type="http://schemas.openxmlformats.org/officeDocument/2006/relationships/image" Target="../media/image45.png"/><Relationship Id="rId5" Type="http://schemas.openxmlformats.org/officeDocument/2006/relationships/image" Target="../media/image44.png"/><Relationship Id="rId4" Type="http://schemas.openxmlformats.org/officeDocument/2006/relationships/image" Target="../media/image43.png"/><Relationship Id="rId9" Type="http://schemas.openxmlformats.org/officeDocument/2006/relationships/image" Target="../media/image48.png"/></Relationships>
</file>

<file path=ppt/slides/_rels/slide8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3.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4.xml"/><Relationship Id="rId1" Type="http://schemas.openxmlformats.org/officeDocument/2006/relationships/slideLayout" Target="../slideLayouts/slideLayout1.xml"/><Relationship Id="rId5" Type="http://schemas.openxmlformats.org/officeDocument/2006/relationships/image" Target="../media/image50.png"/><Relationship Id="rId4" Type="http://schemas.openxmlformats.org/officeDocument/2006/relationships/image" Target="../media/image49.png"/></Relationships>
</file>

<file path=ppt/slides/_rels/slide8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0.xml"/><Relationship Id="rId1" Type="http://schemas.openxmlformats.org/officeDocument/2006/relationships/slideLayout" Target="../slideLayouts/slideLayout1.xml"/><Relationship Id="rId5" Type="http://schemas.openxmlformats.org/officeDocument/2006/relationships/image" Target="../media/image32.png"/><Relationship Id="rId4" Type="http://schemas.openxmlformats.org/officeDocument/2006/relationships/image" Target="../media/image51.png"/></Relationships>
</file>

<file path=ppt/slides/_rels/slide9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1.xml"/><Relationship Id="rId1" Type="http://schemas.openxmlformats.org/officeDocument/2006/relationships/slideLayout" Target="../slideLayouts/slideLayout1.xml"/><Relationship Id="rId6" Type="http://schemas.openxmlformats.org/officeDocument/2006/relationships/image" Target="../media/image54.png"/><Relationship Id="rId5" Type="http://schemas.openxmlformats.org/officeDocument/2006/relationships/image" Target="../media/image53.png"/><Relationship Id="rId4" Type="http://schemas.openxmlformats.org/officeDocument/2006/relationships/image" Target="../media/image52.png"/></Relationships>
</file>

<file path=ppt/slides/_rels/slide9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2.xml"/><Relationship Id="rId1" Type="http://schemas.openxmlformats.org/officeDocument/2006/relationships/slideLayout" Target="../slideLayouts/slideLayout1.xml"/><Relationship Id="rId4" Type="http://schemas.openxmlformats.org/officeDocument/2006/relationships/image" Target="../media/image55.png"/></Relationships>
</file>

<file path=ppt/slides/_rels/slide9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3.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8" Type="http://schemas.openxmlformats.org/officeDocument/2006/relationships/image" Target="../media/image59.png"/><Relationship Id="rId3" Type="http://schemas.openxmlformats.org/officeDocument/2006/relationships/image" Target="../media/image1.png"/><Relationship Id="rId7" Type="http://schemas.openxmlformats.org/officeDocument/2006/relationships/image" Target="../media/image58.png"/><Relationship Id="rId2" Type="http://schemas.openxmlformats.org/officeDocument/2006/relationships/notesSlide" Target="../notesSlides/notesSlide94.xml"/><Relationship Id="rId1" Type="http://schemas.openxmlformats.org/officeDocument/2006/relationships/slideLayout" Target="../slideLayouts/slideLayout1.xml"/><Relationship Id="rId6" Type="http://schemas.openxmlformats.org/officeDocument/2006/relationships/image" Target="../media/image35.png"/><Relationship Id="rId5" Type="http://schemas.openxmlformats.org/officeDocument/2006/relationships/image" Target="../media/image57.png"/><Relationship Id="rId4" Type="http://schemas.openxmlformats.org/officeDocument/2006/relationships/image" Target="../media/image56.png"/><Relationship Id="rId9" Type="http://schemas.openxmlformats.org/officeDocument/2006/relationships/image" Target="../media/image34.png"/></Relationships>
</file>

<file path=ppt/slides/_rels/slide9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5.xml"/><Relationship Id="rId1" Type="http://schemas.openxmlformats.org/officeDocument/2006/relationships/slideLayout" Target="../slideLayouts/slideLayout1.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image" Target="../media/image60.png"/></Relationships>
</file>

<file path=ppt/slides/_rels/slide9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6.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54.png"/><Relationship Id="rId2" Type="http://schemas.openxmlformats.org/officeDocument/2006/relationships/notesSlide" Target="../notesSlides/notesSlide97.xml"/><Relationship Id="rId1" Type="http://schemas.openxmlformats.org/officeDocument/2006/relationships/slideLayout" Target="../slideLayouts/slideLayout1.xml"/><Relationship Id="rId6" Type="http://schemas.openxmlformats.org/officeDocument/2006/relationships/image" Target="../media/image53.png"/><Relationship Id="rId5" Type="http://schemas.openxmlformats.org/officeDocument/2006/relationships/image" Target="../media/image64.png"/><Relationship Id="rId4" Type="http://schemas.openxmlformats.org/officeDocument/2006/relationships/image" Target="../media/image63.png"/></Relationships>
</file>

<file path=ppt/slides/_rels/slide98.xml.rels><?xml version="1.0" encoding="UTF-8" standalone="yes"?>
<Relationships xmlns="http://schemas.openxmlformats.org/package/2006/relationships"><Relationship Id="rId8" Type="http://schemas.openxmlformats.org/officeDocument/2006/relationships/image" Target="../media/image68.png"/><Relationship Id="rId3" Type="http://schemas.openxmlformats.org/officeDocument/2006/relationships/image" Target="../media/image1.png"/><Relationship Id="rId7" Type="http://schemas.openxmlformats.org/officeDocument/2006/relationships/image" Target="../media/image67.png"/><Relationship Id="rId2" Type="http://schemas.openxmlformats.org/officeDocument/2006/relationships/notesSlide" Target="../notesSlides/notesSlide98.xml"/><Relationship Id="rId1" Type="http://schemas.openxmlformats.org/officeDocument/2006/relationships/slideLayout" Target="../slideLayouts/slideLayout1.xml"/><Relationship Id="rId6" Type="http://schemas.openxmlformats.org/officeDocument/2006/relationships/image" Target="../media/image66.png"/><Relationship Id="rId5" Type="http://schemas.openxmlformats.org/officeDocument/2006/relationships/image" Target="../media/image65.png"/><Relationship Id="rId4" Type="http://schemas.openxmlformats.org/officeDocument/2006/relationships/image" Target="../media/image63.png"/></Relationships>
</file>

<file path=ppt/slides/_rels/slide9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9.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0.xml"/><Relationship Id="rId1" Type="http://schemas.openxmlformats.org/officeDocument/2006/relationships/slideLayout" Target="../slideLayouts/slideLayout1.xml"/><Relationship Id="rId5" Type="http://schemas.openxmlformats.org/officeDocument/2006/relationships/image" Target="../media/image70.png"/><Relationship Id="rId4" Type="http://schemas.openxmlformats.org/officeDocument/2006/relationships/image" Target="../media/image69.png"/></Relationships>
</file>

<file path=ppt/slides/_rels/slide10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1.xml"/><Relationship Id="rId1" Type="http://schemas.openxmlformats.org/officeDocument/2006/relationships/slideLayout" Target="../slideLayouts/slideLayout1.xml"/><Relationship Id="rId6" Type="http://schemas.openxmlformats.org/officeDocument/2006/relationships/image" Target="../media/image72.png"/><Relationship Id="rId5" Type="http://schemas.openxmlformats.org/officeDocument/2006/relationships/image" Target="../media/image63.png"/><Relationship Id="rId4" Type="http://schemas.openxmlformats.org/officeDocument/2006/relationships/image" Target="../media/image71.png"/></Relationships>
</file>

<file path=ppt/slides/_rels/slide10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2.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3.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8" Type="http://schemas.openxmlformats.org/officeDocument/2006/relationships/image" Target="../media/image76.png"/><Relationship Id="rId13" Type="http://schemas.openxmlformats.org/officeDocument/2006/relationships/image" Target="../media/image81.png"/><Relationship Id="rId3" Type="http://schemas.openxmlformats.org/officeDocument/2006/relationships/image" Target="../media/image1.png"/><Relationship Id="rId7" Type="http://schemas.openxmlformats.org/officeDocument/2006/relationships/image" Target="../media/image53.png"/><Relationship Id="rId12" Type="http://schemas.openxmlformats.org/officeDocument/2006/relationships/image" Target="../media/image80.png"/><Relationship Id="rId2" Type="http://schemas.openxmlformats.org/officeDocument/2006/relationships/notesSlide" Target="../notesSlides/notesSlide105.xml"/><Relationship Id="rId1" Type="http://schemas.openxmlformats.org/officeDocument/2006/relationships/slideLayout" Target="../slideLayouts/slideLayout1.xml"/><Relationship Id="rId6" Type="http://schemas.openxmlformats.org/officeDocument/2006/relationships/image" Target="../media/image75.png"/><Relationship Id="rId11" Type="http://schemas.openxmlformats.org/officeDocument/2006/relationships/image" Target="../media/image79.png"/><Relationship Id="rId5" Type="http://schemas.openxmlformats.org/officeDocument/2006/relationships/image" Target="../media/image74.png"/><Relationship Id="rId15" Type="http://schemas.openxmlformats.org/officeDocument/2006/relationships/image" Target="../media/image83.png"/><Relationship Id="rId10" Type="http://schemas.openxmlformats.org/officeDocument/2006/relationships/image" Target="../media/image78.png"/><Relationship Id="rId4" Type="http://schemas.openxmlformats.org/officeDocument/2006/relationships/image" Target="../media/image73.png"/><Relationship Id="rId9" Type="http://schemas.openxmlformats.org/officeDocument/2006/relationships/image" Target="../media/image77.png"/><Relationship Id="rId14" Type="http://schemas.openxmlformats.org/officeDocument/2006/relationships/image" Target="../media/image82.png"/></Relationships>
</file>

<file path=ppt/slides/_rels/slide10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6.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73.png"/></Relationships>
</file>

<file path=ppt/slides/_rels/slide10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7.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74.png"/></Relationships>
</file>

<file path=ppt/slides/_rels/slide10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8.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75.png"/></Relationships>
</file>

<file path=ppt/slides/_rels/slide10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9.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53.png"/></Relationships>
</file>

<file path=ppt/slides/_rels/slide1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0.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76.png"/></Relationships>
</file>

<file path=ppt/slides/_rels/slide1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1.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77.png"/></Relationships>
</file>

<file path=ppt/slides/_rels/slide1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2.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78.png"/></Relationships>
</file>

<file path=ppt/slides/_rels/slide1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3.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79.png"/></Relationships>
</file>

<file path=ppt/slides/_rels/slide1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4.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80.png"/></Relationships>
</file>

<file path=ppt/slides/_rels/slide1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5.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81.png"/></Relationships>
</file>

<file path=ppt/slides/_rels/slide1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6.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82.png"/></Relationships>
</file>

<file path=ppt/slides/_rels/slide1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7.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83.png"/></Relationships>
</file>

<file path=ppt/slides/_rels/slide118.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87.png"/><Relationship Id="rId2" Type="http://schemas.openxmlformats.org/officeDocument/2006/relationships/notesSlide" Target="../notesSlides/notesSlide118.xml"/><Relationship Id="rId1" Type="http://schemas.openxmlformats.org/officeDocument/2006/relationships/slideLayout" Target="../slideLayouts/slideLayout1.xml"/><Relationship Id="rId6" Type="http://schemas.openxmlformats.org/officeDocument/2006/relationships/image" Target="../media/image86.png"/><Relationship Id="rId5" Type="http://schemas.openxmlformats.org/officeDocument/2006/relationships/image" Target="../media/image85.png"/><Relationship Id="rId4" Type="http://schemas.openxmlformats.org/officeDocument/2006/relationships/image" Target="../media/image84.png"/></Relationships>
</file>

<file path=ppt/slides/_rels/slide1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9.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0.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1.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4.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5.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8" Type="http://schemas.openxmlformats.org/officeDocument/2006/relationships/image" Target="../media/image91.png"/><Relationship Id="rId3" Type="http://schemas.openxmlformats.org/officeDocument/2006/relationships/image" Target="../media/image1.png"/><Relationship Id="rId7" Type="http://schemas.openxmlformats.org/officeDocument/2006/relationships/image" Target="../media/image90.png"/><Relationship Id="rId2" Type="http://schemas.openxmlformats.org/officeDocument/2006/relationships/notesSlide" Target="../notesSlides/notesSlide126.xml"/><Relationship Id="rId1" Type="http://schemas.openxmlformats.org/officeDocument/2006/relationships/slideLayout" Target="../slideLayouts/slideLayout1.xml"/><Relationship Id="rId6" Type="http://schemas.openxmlformats.org/officeDocument/2006/relationships/image" Target="../media/image89.png"/><Relationship Id="rId5" Type="http://schemas.openxmlformats.org/officeDocument/2006/relationships/image" Target="../media/image88.png"/><Relationship Id="rId4" Type="http://schemas.openxmlformats.org/officeDocument/2006/relationships/image" Target="../media/image37.png"/><Relationship Id="rId9" Type="http://schemas.openxmlformats.org/officeDocument/2006/relationships/image" Target="../media/image92.png"/></Relationships>
</file>

<file path=ppt/slides/_rels/slide1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9.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0.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17.png"/></Relationships>
</file>

<file path=ppt/slides/_rels/slide1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2.xml"/><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3.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4.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5.xml"/><Relationship Id="rId1" Type="http://schemas.openxmlformats.org/officeDocument/2006/relationships/slideLayout" Target="../slideLayouts/slideLayout1.xml"/><Relationship Id="rId6" Type="http://schemas.openxmlformats.org/officeDocument/2006/relationships/image" Target="../media/image95.png"/><Relationship Id="rId5" Type="http://schemas.openxmlformats.org/officeDocument/2006/relationships/image" Target="../media/image94.png"/><Relationship Id="rId4" Type="http://schemas.openxmlformats.org/officeDocument/2006/relationships/image" Target="../media/image93.png"/></Relationships>
</file>

<file path=ppt/slides/_rels/slide1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6.xml"/><Relationship Id="rId1" Type="http://schemas.openxmlformats.org/officeDocument/2006/relationships/slideLayout" Target="../slideLayouts/slideLayout1.xml"/><Relationship Id="rId5" Type="http://schemas.openxmlformats.org/officeDocument/2006/relationships/image" Target="../media/image51.png"/><Relationship Id="rId4" Type="http://schemas.openxmlformats.org/officeDocument/2006/relationships/image" Target="../media/image32.png"/></Relationships>
</file>

<file path=ppt/slides/_rels/slide13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7.xml"/><Relationship Id="rId1" Type="http://schemas.openxmlformats.org/officeDocument/2006/relationships/slideLayout" Target="../slideLayouts/slideLayout1.xml"/><Relationship Id="rId4" Type="http://schemas.openxmlformats.org/officeDocument/2006/relationships/image" Target="../media/image32.png"/></Relationships>
</file>

<file path=ppt/slides/_rels/slide13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8.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9.xml"/><Relationship Id="rId1" Type="http://schemas.openxmlformats.org/officeDocument/2006/relationships/slideLayout" Target="../slideLayouts/slideLayout1.xml"/><Relationship Id="rId4" Type="http://schemas.openxmlformats.org/officeDocument/2006/relationships/image" Target="../media/image96.png"/></Relationships>
</file>

<file path=ppt/slides/_rels/slide14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0.xml"/><Relationship Id="rId1" Type="http://schemas.openxmlformats.org/officeDocument/2006/relationships/slideLayout" Target="../slideLayouts/slideLayout1.xml"/><Relationship Id="rId4" Type="http://schemas.openxmlformats.org/officeDocument/2006/relationships/image" Target="../media/image70.png"/></Relationships>
</file>

<file path=ppt/slides/_rels/slide14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1.xml"/><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2.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3.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4.xml"/><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5.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6.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7.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8.xml"/><Relationship Id="rId1" Type="http://schemas.openxmlformats.org/officeDocument/2006/relationships/slideLayout" Target="../slideLayouts/slideLayout1.xml"/><Relationship Id="rId4" Type="http://schemas.openxmlformats.org/officeDocument/2006/relationships/image" Target="../media/image97.png"/></Relationships>
</file>

<file path=ppt/slides/_rels/slide14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9.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0.xml"/><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1.xml"/><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2.xml"/><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3.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51.png"/><Relationship Id="rId4" Type="http://schemas.openxmlformats.org/officeDocument/2006/relationships/image" Target="../media/image98.png"/></Relationships>
</file>

<file path=ppt/slides/_rels/slide15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4.xml"/><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5.xml"/><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6.xml"/><Relationship Id="rId1" Type="http://schemas.openxmlformats.org/officeDocument/2006/relationships/slideLayout" Target="../slideLayouts/slideLayout1.xml"/><Relationship Id="rId6" Type="http://schemas.openxmlformats.org/officeDocument/2006/relationships/image" Target="../media/image100.png"/><Relationship Id="rId5" Type="http://schemas.openxmlformats.org/officeDocument/2006/relationships/image" Target="../media/image99.png"/><Relationship Id="rId4" Type="http://schemas.openxmlformats.org/officeDocument/2006/relationships/image" Target="../media/image98.png"/></Relationships>
</file>

<file path=ppt/slides/_rels/slide15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7.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8.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9.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0.xml"/><Relationship Id="rId1" Type="http://schemas.openxmlformats.org/officeDocument/2006/relationships/slideLayout" Target="../slideLayouts/slideLayout1.xml"/><Relationship Id="rId5" Type="http://schemas.openxmlformats.org/officeDocument/2006/relationships/image" Target="../media/image32.png"/><Relationship Id="rId4" Type="http://schemas.openxmlformats.org/officeDocument/2006/relationships/image" Target="../media/image51.png"/></Relationships>
</file>

<file path=ppt/slides/_rels/slide16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1.xml"/><Relationship Id="rId1" Type="http://schemas.openxmlformats.org/officeDocument/2006/relationships/slideLayout" Target="../slideLayouts/slideLayout1.xml"/></Relationships>
</file>

<file path=ppt/slides/_rels/slide16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2.xml"/><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3.xml"/><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4.xml"/><Relationship Id="rId1" Type="http://schemas.openxmlformats.org/officeDocument/2006/relationships/slideLayout" Target="../slideLayouts/slideLayout1.xml"/><Relationship Id="rId5" Type="http://schemas.openxmlformats.org/officeDocument/2006/relationships/image" Target="../media/image102.png"/><Relationship Id="rId4" Type="http://schemas.openxmlformats.org/officeDocument/2006/relationships/image" Target="../media/image101.png"/></Relationships>
</file>

<file path=ppt/slides/_rels/slide165.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05.png"/><Relationship Id="rId2" Type="http://schemas.openxmlformats.org/officeDocument/2006/relationships/notesSlide" Target="../notesSlides/notesSlide165.xml"/><Relationship Id="rId1" Type="http://schemas.openxmlformats.org/officeDocument/2006/relationships/slideLayout" Target="../slideLayouts/slideLayout1.xml"/><Relationship Id="rId6" Type="http://schemas.openxmlformats.org/officeDocument/2006/relationships/image" Target="../media/image104.png"/><Relationship Id="rId5" Type="http://schemas.openxmlformats.org/officeDocument/2006/relationships/image" Target="../media/image103.png"/><Relationship Id="rId4" Type="http://schemas.openxmlformats.org/officeDocument/2006/relationships/image" Target="../media/image68.png"/></Relationships>
</file>

<file path=ppt/slides/_rels/slide16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6.xml"/><Relationship Id="rId1" Type="http://schemas.openxmlformats.org/officeDocument/2006/relationships/slideLayout" Target="../slideLayouts/slideLayout1.xml"/><Relationship Id="rId5" Type="http://schemas.openxmlformats.org/officeDocument/2006/relationships/image" Target="../media/image32.png"/><Relationship Id="rId4" Type="http://schemas.openxmlformats.org/officeDocument/2006/relationships/image" Target="../media/image51.png"/></Relationships>
</file>

<file path=ppt/slides/_rels/slide167.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08.png"/><Relationship Id="rId2" Type="http://schemas.openxmlformats.org/officeDocument/2006/relationships/notesSlide" Target="../notesSlides/notesSlide167.xml"/><Relationship Id="rId1" Type="http://schemas.openxmlformats.org/officeDocument/2006/relationships/slideLayout" Target="../slideLayouts/slideLayout1.xml"/><Relationship Id="rId6" Type="http://schemas.openxmlformats.org/officeDocument/2006/relationships/image" Target="../media/image107.png"/><Relationship Id="rId5" Type="http://schemas.openxmlformats.org/officeDocument/2006/relationships/image" Target="../media/image106.png"/><Relationship Id="rId4" Type="http://schemas.openxmlformats.org/officeDocument/2006/relationships/image" Target="../media/image69.png"/></Relationships>
</file>

<file path=ppt/slides/_rels/slide1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8.xml"/><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9.xml"/><Relationship Id="rId1" Type="http://schemas.openxmlformats.org/officeDocument/2006/relationships/slideLayout" Target="../slideLayouts/slideLayout1.xml"/><Relationship Id="rId4" Type="http://schemas.openxmlformats.org/officeDocument/2006/relationships/image" Target="../media/image51.png"/></Relationships>
</file>

<file path=ppt/slides/_rels/slide1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0.xml"/><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1.xml"/><Relationship Id="rId1" Type="http://schemas.openxmlformats.org/officeDocument/2006/relationships/slideLayout" Target="../slideLayouts/slideLayout1.xml"/></Relationships>
</file>

<file path=ppt/slides/_rels/slide1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2.xml"/><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3.xml"/><Relationship Id="rId1" Type="http://schemas.openxmlformats.org/officeDocument/2006/relationships/slideLayout" Target="../slideLayouts/slideLayout1.xml"/></Relationships>
</file>

<file path=ppt/slides/_rels/slide17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4.xml"/><Relationship Id="rId1" Type="http://schemas.openxmlformats.org/officeDocument/2006/relationships/slideLayout" Target="../slideLayouts/slideLayout1.xml"/><Relationship Id="rId6" Type="http://schemas.openxmlformats.org/officeDocument/2006/relationships/image" Target="../media/image110.png"/><Relationship Id="rId5" Type="http://schemas.openxmlformats.org/officeDocument/2006/relationships/image" Target="../media/image109.png"/><Relationship Id="rId4" Type="http://schemas.openxmlformats.org/officeDocument/2006/relationships/image" Target="../media/image104.png"/></Relationships>
</file>

<file path=ppt/slides/_rels/slide17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5.xml"/><Relationship Id="rId1" Type="http://schemas.openxmlformats.org/officeDocument/2006/relationships/slideLayout" Target="../slideLayouts/slideLayout1.xml"/></Relationships>
</file>

<file path=ppt/slides/_rels/slide17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6.xml"/><Relationship Id="rId1" Type="http://schemas.openxmlformats.org/officeDocument/2006/relationships/slideLayout" Target="../slideLayouts/slideLayout1.xml"/></Relationships>
</file>

<file path=ppt/slides/_rels/slide17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7.xml"/><Relationship Id="rId1" Type="http://schemas.openxmlformats.org/officeDocument/2006/relationships/slideLayout" Target="../slideLayouts/slideLayout1.xml"/><Relationship Id="rId5" Type="http://schemas.openxmlformats.org/officeDocument/2006/relationships/image" Target="../media/image32.png"/><Relationship Id="rId4" Type="http://schemas.openxmlformats.org/officeDocument/2006/relationships/image" Target="../media/image51.png"/></Relationships>
</file>

<file path=ppt/slides/_rels/slide17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8.xml"/><Relationship Id="rId1" Type="http://schemas.openxmlformats.org/officeDocument/2006/relationships/slideLayout" Target="../slideLayouts/slideLayout1.xml"/></Relationships>
</file>

<file path=ppt/slides/_rels/slide17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9.xml"/><Relationship Id="rId1" Type="http://schemas.openxmlformats.org/officeDocument/2006/relationships/slideLayout" Target="../slideLayouts/slideLayout1.xml"/></Relationships>
</file>

<file path=ppt/slides/_rels/slide18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0.xml"/><Relationship Id="rId1" Type="http://schemas.openxmlformats.org/officeDocument/2006/relationships/slideLayout" Target="../slideLayouts/slideLayout1.xml"/></Relationships>
</file>

<file path=ppt/slides/_rels/slide181.xml.rels><?xml version="1.0" encoding="UTF-8" standalone="yes"?>
<Relationships xmlns="http://schemas.openxmlformats.org/package/2006/relationships"><Relationship Id="rId8" Type="http://schemas.openxmlformats.org/officeDocument/2006/relationships/image" Target="../media/image114.png"/><Relationship Id="rId3" Type="http://schemas.openxmlformats.org/officeDocument/2006/relationships/image" Target="../media/image1.png"/><Relationship Id="rId7" Type="http://schemas.openxmlformats.org/officeDocument/2006/relationships/image" Target="../media/image113.png"/><Relationship Id="rId2" Type="http://schemas.openxmlformats.org/officeDocument/2006/relationships/notesSlide" Target="../notesSlides/notesSlide181.xml"/><Relationship Id="rId1" Type="http://schemas.openxmlformats.org/officeDocument/2006/relationships/slideLayout" Target="../slideLayouts/slideLayout1.xml"/><Relationship Id="rId6" Type="http://schemas.openxmlformats.org/officeDocument/2006/relationships/image" Target="../media/image9.png"/><Relationship Id="rId5" Type="http://schemas.openxmlformats.org/officeDocument/2006/relationships/image" Target="../media/image112.png"/><Relationship Id="rId4" Type="http://schemas.openxmlformats.org/officeDocument/2006/relationships/image" Target="../media/image111.png"/></Relationships>
</file>

<file path=ppt/slides/_rels/slide18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2.xml"/><Relationship Id="rId1" Type="http://schemas.openxmlformats.org/officeDocument/2006/relationships/slideLayout" Target="../slideLayouts/slideLayout1.xml"/><Relationship Id="rId6" Type="http://schemas.openxmlformats.org/officeDocument/2006/relationships/image" Target="../media/image117.png"/><Relationship Id="rId5" Type="http://schemas.openxmlformats.org/officeDocument/2006/relationships/image" Target="../media/image116.png"/><Relationship Id="rId4" Type="http://schemas.openxmlformats.org/officeDocument/2006/relationships/image" Target="../media/image115.png"/></Relationships>
</file>

<file path=ppt/slides/_rels/slide18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3.xml"/><Relationship Id="rId1" Type="http://schemas.openxmlformats.org/officeDocument/2006/relationships/slideLayout" Target="../slideLayouts/slideLayout1.xml"/></Relationships>
</file>

<file path=ppt/slides/_rels/slide18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4.xml"/><Relationship Id="rId1" Type="http://schemas.openxmlformats.org/officeDocument/2006/relationships/slideLayout" Target="../slideLayouts/slideLayout1.xml"/></Relationships>
</file>

<file path=ppt/slides/_rels/slide18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5.xml"/><Relationship Id="rId1" Type="http://schemas.openxmlformats.org/officeDocument/2006/relationships/slideLayout" Target="../slideLayouts/slideLayout1.xml"/></Relationships>
</file>

<file path=ppt/slides/_rels/slide186.xml.rels><?xml version="1.0" encoding="UTF-8" standalone="yes"?>
<Relationships xmlns="http://schemas.openxmlformats.org/package/2006/relationships"><Relationship Id="rId8" Type="http://schemas.openxmlformats.org/officeDocument/2006/relationships/image" Target="../media/image58.png"/><Relationship Id="rId3" Type="http://schemas.openxmlformats.org/officeDocument/2006/relationships/image" Target="../media/image1.png"/><Relationship Id="rId7" Type="http://schemas.openxmlformats.org/officeDocument/2006/relationships/image" Target="../media/image120.png"/><Relationship Id="rId2" Type="http://schemas.openxmlformats.org/officeDocument/2006/relationships/notesSlide" Target="../notesSlides/notesSlide186.xml"/><Relationship Id="rId1" Type="http://schemas.openxmlformats.org/officeDocument/2006/relationships/slideLayout" Target="../slideLayouts/slideLayout1.xml"/><Relationship Id="rId6" Type="http://schemas.openxmlformats.org/officeDocument/2006/relationships/image" Target="../media/image119.png"/><Relationship Id="rId5" Type="http://schemas.openxmlformats.org/officeDocument/2006/relationships/image" Target="../media/image25.png"/><Relationship Id="rId4" Type="http://schemas.openxmlformats.org/officeDocument/2006/relationships/image" Target="../media/image118.png"/></Relationships>
</file>

<file path=ppt/slides/_rels/slide18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7.xml"/><Relationship Id="rId1" Type="http://schemas.openxmlformats.org/officeDocument/2006/relationships/slideLayout" Target="../slideLayouts/slideLayout1.xml"/></Relationships>
</file>

<file path=ppt/slides/_rels/slide18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8.xml"/><Relationship Id="rId1" Type="http://schemas.openxmlformats.org/officeDocument/2006/relationships/slideLayout" Target="../slideLayouts/slideLayout1.xml"/></Relationships>
</file>

<file path=ppt/slides/_rels/slide18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9.xml"/><Relationship Id="rId1" Type="http://schemas.openxmlformats.org/officeDocument/2006/relationships/slideLayout" Target="../slideLayouts/slideLayout1.xml"/></Relationships>
</file>

<file path=ppt/slides/_rels/slide19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0.xml"/><Relationship Id="rId1" Type="http://schemas.openxmlformats.org/officeDocument/2006/relationships/slideLayout" Target="../slideLayouts/slideLayout1.xml"/></Relationships>
</file>

<file path=ppt/slides/_rels/slide19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1.xml"/><Relationship Id="rId1" Type="http://schemas.openxmlformats.org/officeDocument/2006/relationships/slideLayout" Target="../slideLayouts/slideLayout1.xml"/></Relationships>
</file>

<file path=ppt/slides/_rels/slide19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2.xml"/><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3.xml"/><Relationship Id="rId1" Type="http://schemas.openxmlformats.org/officeDocument/2006/relationships/slideLayout" Target="../slideLayouts/slideLayout1.xml"/></Relationships>
</file>

<file path=ppt/slides/_rels/slide19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4.xml"/><Relationship Id="rId1" Type="http://schemas.openxmlformats.org/officeDocument/2006/relationships/slideLayout" Target="../slideLayouts/slideLayout1.xml"/></Relationships>
</file>

<file path=ppt/slides/_rels/slide19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5.xml"/><Relationship Id="rId1" Type="http://schemas.openxmlformats.org/officeDocument/2006/relationships/slideLayout" Target="../slideLayouts/slideLayout1.xml"/><Relationship Id="rId4" Type="http://schemas.openxmlformats.org/officeDocument/2006/relationships/image" Target="../media/image32.png"/></Relationships>
</file>

<file path=ppt/slides/_rels/slide19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6.xml"/><Relationship Id="rId1" Type="http://schemas.openxmlformats.org/officeDocument/2006/relationships/slideLayout" Target="../slideLayouts/slideLayout1.xml"/><Relationship Id="rId4" Type="http://schemas.openxmlformats.org/officeDocument/2006/relationships/image" Target="../media/image32.png"/></Relationships>
</file>

<file path=ppt/slides/_rels/slide19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7.xml"/><Relationship Id="rId1" Type="http://schemas.openxmlformats.org/officeDocument/2006/relationships/slideLayout" Target="../slideLayouts/slideLayout1.xml"/><Relationship Id="rId4" Type="http://schemas.openxmlformats.org/officeDocument/2006/relationships/image" Target="../media/image32.png"/></Relationships>
</file>

<file path=ppt/slides/_rels/slide19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8.xml"/><Relationship Id="rId1" Type="http://schemas.openxmlformats.org/officeDocument/2006/relationships/slideLayout" Target="../slideLayouts/slideLayout1.xml"/></Relationships>
</file>

<file path=ppt/slides/_rels/slide19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9.xml"/><Relationship Id="rId1" Type="http://schemas.openxmlformats.org/officeDocument/2006/relationships/slideLayout" Target="../slideLayouts/slideLayout1.xml"/></Relationships>
</file>

<file path=ppt/slides/_rels/slide20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0.xml"/><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8" Type="http://schemas.openxmlformats.org/officeDocument/2006/relationships/image" Target="../media/image124.png"/><Relationship Id="rId3" Type="http://schemas.openxmlformats.org/officeDocument/2006/relationships/image" Target="../media/image1.png"/><Relationship Id="rId7" Type="http://schemas.openxmlformats.org/officeDocument/2006/relationships/image" Target="../media/image2.png"/><Relationship Id="rId2" Type="http://schemas.openxmlformats.org/officeDocument/2006/relationships/notesSlide" Target="../notesSlides/notesSlide201.xml"/><Relationship Id="rId1" Type="http://schemas.openxmlformats.org/officeDocument/2006/relationships/slideLayout" Target="../slideLayouts/slideLayout1.xml"/><Relationship Id="rId6" Type="http://schemas.openxmlformats.org/officeDocument/2006/relationships/image" Target="../media/image123.png"/><Relationship Id="rId5" Type="http://schemas.openxmlformats.org/officeDocument/2006/relationships/image" Target="../media/image122.png"/><Relationship Id="rId4" Type="http://schemas.openxmlformats.org/officeDocument/2006/relationships/image" Target="../media/image121.png"/><Relationship Id="rId9" Type="http://schemas.openxmlformats.org/officeDocument/2006/relationships/image" Target="../media/image125.png"/></Relationships>
</file>

<file path=ppt/slides/_rels/slide202.xml.rels><?xml version="1.0" encoding="UTF-8" standalone="yes"?>
<Relationships xmlns="http://schemas.openxmlformats.org/package/2006/relationships"><Relationship Id="rId8" Type="http://schemas.openxmlformats.org/officeDocument/2006/relationships/image" Target="../media/image129.png"/><Relationship Id="rId3" Type="http://schemas.openxmlformats.org/officeDocument/2006/relationships/image" Target="../media/image1.png"/><Relationship Id="rId7" Type="http://schemas.openxmlformats.org/officeDocument/2006/relationships/image" Target="../media/image128.png"/><Relationship Id="rId2" Type="http://schemas.openxmlformats.org/officeDocument/2006/relationships/notesSlide" Target="../notesSlides/notesSlide202.xml"/><Relationship Id="rId1" Type="http://schemas.openxmlformats.org/officeDocument/2006/relationships/slideLayout" Target="../slideLayouts/slideLayout1.xml"/><Relationship Id="rId6" Type="http://schemas.openxmlformats.org/officeDocument/2006/relationships/image" Target="../media/image127.png"/><Relationship Id="rId5" Type="http://schemas.openxmlformats.org/officeDocument/2006/relationships/image" Target="../media/image126.png"/><Relationship Id="rId4" Type="http://schemas.openxmlformats.org/officeDocument/2006/relationships/image" Target="../media/image3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8238"/>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PART 1</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103</a:t>
            </a:r>
            <a:endParaRPr lang="en-US" sz="850" dirty="0"/>
          </a:p>
        </p:txBody>
      </p:sp>
      <p:sp>
        <p:nvSpPr>
          <p:cNvPr id="101" name="s101"/>
          <p:cNvSpPr txBox="1"/>
          <p:nvPr/>
        </p:nvSpPr>
        <p:spPr>
          <a:xfrm>
            <a:off x="543154" y="1234440"/>
            <a:ext cx="2286000" cy="13716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F87171"/>
                </a:solidFill>
                <a:latin typeface="Segoe UI"/>
                <a:ea typeface="Segoe UI"/>
                <a:cs typeface="Segoe UI"/>
              </a:rPr>
              <a:t>1</a:t>
            </a:r>
            <a:endParaRPr lang="en-US" sz="9600" dirty="0"/>
          </a:p>
        </p:txBody>
      </p:sp>
      <p:sp>
        <p:nvSpPr>
          <p:cNvPr id="102" name="s102"/>
          <p:cNvSpPr txBox="1"/>
          <p:nvPr/>
        </p:nvSpPr>
        <p:spPr>
          <a:xfrm>
            <a:off x="543154" y="2514600"/>
            <a:ext cx="6949440" cy="9144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5400" b="1" dirty="0">
                <a:solidFill>
                  <a:srgbClr val="FFFFFF"/>
                </a:solidFill>
                <a:latin typeface="Segoe UI"/>
                <a:ea typeface="Segoe UI"/>
                <a:cs typeface="Segoe UI"/>
              </a:rPr>
              <a:t>Unit Testing</a:t>
            </a:r>
            <a:endParaRPr lang="en-US" sz="5400" dirty="0"/>
          </a:p>
        </p:txBody>
      </p:sp>
      <p:sp>
        <p:nvSpPr>
          <p:cNvPr id="103" name="s103"/>
          <p:cNvSpPr txBox="1"/>
          <p:nvPr/>
        </p:nvSpPr>
        <p:spPr>
          <a:xfrm>
            <a:off x="570586" y="3520440"/>
            <a:ext cx="694944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2000" b="0" dirty="0">
                <a:solidFill>
                  <a:srgbClr val="E2E8F0"/>
                </a:solidFill>
                <a:latin typeface="Segoe UI"/>
                <a:ea typeface="Segoe UI"/>
                <a:cs typeface="Segoe UI"/>
              </a:rPr>
              <a:t>Prove your code works, after every change, in seconds.</a:t>
            </a:r>
            <a:endParaRPr lang="en-US" sz="2000" dirty="0"/>
          </a:p>
        </p:txBody>
      </p:sp>
      <p:sp>
        <p:nvSpPr>
          <p:cNvPr id="104" name="s104"/>
          <p:cNvSpPr txBox="1"/>
          <p:nvPr/>
        </p:nvSpPr>
        <p:spPr>
          <a:xfrm>
            <a:off x="570586" y="4160520"/>
            <a:ext cx="6766560" cy="914400"/>
          </a:xfrm>
          <a:prstGeom prst="rect">
            <a:avLst/>
          </a:prstGeom>
          <a:noFill/>
          <a:ln>
            <a:noFill/>
          </a:ln>
        </p:spPr>
        <p:txBody>
          <a:bodyPr wrap="square" lIns="0" tIns="0" rIns="0" bIns="0" rtlCol="0" anchor="t">
            <a:noAutofit/>
          </a:bodyPr>
          <a:lstStyle/>
          <a:p>
            <a:pPr marL="0" indent="0" algn="l">
              <a:lnSpc>
                <a:spcPct val="125000"/>
              </a:lnSpc>
              <a:spcBef>
                <a:spcPts val="0"/>
              </a:spcBef>
              <a:spcAft>
                <a:spcPts val="0"/>
              </a:spcAft>
              <a:buNone/>
            </a:pPr>
            <a:r>
              <a:rPr lang="en-US" sz="1300" b="0" dirty="0">
                <a:solidFill>
                  <a:srgbClr val="94A3B8"/>
                </a:solidFill>
                <a:latin typeface="Segoe UI"/>
                <a:ea typeface="Segoe UI"/>
                <a:cs typeface="Segoe UI"/>
              </a:rPr>
              <a:t>Why test  ·  types of tests  ·  what to test  ·  how many tests  ·  naming  ·  xUnit  ·  Theory  ·  MemberData  ·  Shouldly  ·  Bogus  ·  testable code  ·  test doubles  ·  NSubstitute  ·  TDD  ·  coverage  ·  CI  ·  SwiftBite lab</a:t>
            </a:r>
            <a:endParaRPr lang="en-US" sz="1300" dirty="0"/>
          </a:p>
        </p:txBody>
      </p:sp>
      <p:sp>
        <p:nvSpPr>
          <p:cNvPr id="105" name="s105"/>
          <p:cNvSpPr/>
          <p:nvPr/>
        </p:nvSpPr>
        <p:spPr>
          <a:xfrm>
            <a:off x="8001000" y="1600200"/>
            <a:ext cx="3611880" cy="3291840"/>
          </a:xfrm>
          <a:prstGeom prst="roundRect">
            <a:avLst>
              <a:gd name="adj" fmla="val 4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6" name="s106"/>
          <p:cNvSpPr txBox="1"/>
          <p:nvPr/>
        </p:nvSpPr>
        <p:spPr>
          <a:xfrm>
            <a:off x="8229600" y="1737360"/>
            <a:ext cx="32004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0" dirty="0">
                <a:solidFill>
                  <a:srgbClr val="94A3B8"/>
                </a:solidFill>
                <a:latin typeface="Consolas"/>
                <a:ea typeface="Consolas"/>
                <a:cs typeface="Consolas"/>
              </a:rPr>
              <a:t>Test Explorer</a:t>
            </a:r>
            <a:endParaRPr lang="en-US" sz="1000" dirty="0"/>
          </a:p>
        </p:txBody>
      </p:sp>
      <p:sp>
        <p:nvSpPr>
          <p:cNvPr id="107" name="s107"/>
          <p:cNvSpPr txBox="1"/>
          <p:nvPr/>
        </p:nvSpPr>
        <p:spPr>
          <a:xfrm>
            <a:off x="8229600" y="2148840"/>
            <a:ext cx="3291840" cy="32918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50" b="1" dirty="0">
                <a:solidFill>
                  <a:srgbClr val="34D399"/>
                </a:solidFill>
                <a:latin typeface="Consolas"/>
                <a:ea typeface="Consolas"/>
                <a:cs typeface="Consolas"/>
              </a:rPr>
              <a:t>✓  </a:t>
            </a:r>
            <a:r>
              <a:rPr lang="en-US" sz="1050" b="0" dirty="0">
                <a:solidFill>
                  <a:srgbClr val="E2E8F0"/>
                </a:solidFill>
                <a:latin typeface="Consolas"/>
                <a:ea typeface="Consolas"/>
                <a:cs typeface="Consolas"/>
              </a:rPr>
              <a:t>Deposit_ValidAmount_IncreasesBalance</a:t>
            </a:r>
            <a:endParaRPr lang="en-US" sz="1050" dirty="0"/>
          </a:p>
        </p:txBody>
      </p:sp>
      <p:sp>
        <p:nvSpPr>
          <p:cNvPr id="108" name="s108"/>
          <p:cNvSpPr txBox="1"/>
          <p:nvPr/>
        </p:nvSpPr>
        <p:spPr>
          <a:xfrm>
            <a:off x="8229600" y="2532888"/>
            <a:ext cx="3291840" cy="32918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50" b="1" dirty="0">
                <a:solidFill>
                  <a:srgbClr val="34D399"/>
                </a:solidFill>
                <a:latin typeface="Consolas"/>
                <a:ea typeface="Consolas"/>
                <a:cs typeface="Consolas"/>
              </a:rPr>
              <a:t>✓  </a:t>
            </a:r>
            <a:r>
              <a:rPr lang="en-US" sz="1050" b="0" dirty="0">
                <a:solidFill>
                  <a:srgbClr val="E2E8F0"/>
                </a:solidFill>
                <a:latin typeface="Consolas"/>
                <a:ea typeface="Consolas"/>
                <a:cs typeface="Consolas"/>
              </a:rPr>
              <a:t>Deposit_Zero_Throws</a:t>
            </a:r>
            <a:endParaRPr lang="en-US" sz="1050" dirty="0"/>
          </a:p>
        </p:txBody>
      </p:sp>
      <p:sp>
        <p:nvSpPr>
          <p:cNvPr id="109" name="s109"/>
          <p:cNvSpPr txBox="1"/>
          <p:nvPr/>
        </p:nvSpPr>
        <p:spPr>
          <a:xfrm>
            <a:off x="8229600" y="2916936"/>
            <a:ext cx="3291840" cy="32918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50" b="1" dirty="0">
                <a:solidFill>
                  <a:srgbClr val="F87171"/>
                </a:solidFill>
                <a:latin typeface="Consolas"/>
                <a:ea typeface="Consolas"/>
                <a:cs typeface="Consolas"/>
              </a:rPr>
              <a:t>✗  </a:t>
            </a:r>
            <a:r>
              <a:rPr lang="en-US" sz="1050" b="0" dirty="0">
                <a:solidFill>
                  <a:srgbClr val="E2E8F0"/>
                </a:solidFill>
                <a:latin typeface="Consolas"/>
                <a:ea typeface="Consolas"/>
                <a:cs typeface="Consolas"/>
              </a:rPr>
              <a:t>Withdraw_MoreThanBalance_Throws</a:t>
            </a:r>
            <a:endParaRPr lang="en-US" sz="1050" dirty="0"/>
          </a:p>
        </p:txBody>
      </p:sp>
      <p:sp>
        <p:nvSpPr>
          <p:cNvPr id="110" name="s110"/>
          <p:cNvSpPr txBox="1"/>
          <p:nvPr/>
        </p:nvSpPr>
        <p:spPr>
          <a:xfrm>
            <a:off x="8229600" y="3300984"/>
            <a:ext cx="3291840" cy="32918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50" b="1" dirty="0">
                <a:solidFill>
                  <a:srgbClr val="34D399"/>
                </a:solidFill>
                <a:latin typeface="Consolas"/>
                <a:ea typeface="Consolas"/>
                <a:cs typeface="Consolas"/>
              </a:rPr>
              <a:t>✓  </a:t>
            </a:r>
            <a:r>
              <a:rPr lang="en-US" sz="1050" b="0" dirty="0">
                <a:solidFill>
                  <a:srgbClr val="E2E8F0"/>
                </a:solidFill>
                <a:latin typeface="Consolas"/>
                <a:ea typeface="Consolas"/>
                <a:cs typeface="Consolas"/>
              </a:rPr>
              <a:t>Grade_84_IsB</a:t>
            </a:r>
            <a:endParaRPr lang="en-US" sz="1050" dirty="0"/>
          </a:p>
        </p:txBody>
      </p:sp>
      <p:sp>
        <p:nvSpPr>
          <p:cNvPr id="111" name="s111"/>
          <p:cNvSpPr txBox="1"/>
          <p:nvPr/>
        </p:nvSpPr>
        <p:spPr>
          <a:xfrm>
            <a:off x="8229600" y="3685032"/>
            <a:ext cx="3291840" cy="32918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50" b="1" dirty="0">
                <a:solidFill>
                  <a:srgbClr val="34D399"/>
                </a:solidFill>
                <a:latin typeface="Consolas"/>
                <a:ea typeface="Consolas"/>
                <a:cs typeface="Consolas"/>
              </a:rPr>
              <a:t>✓  </a:t>
            </a:r>
            <a:r>
              <a:rPr lang="en-US" sz="1050" b="0" dirty="0">
                <a:solidFill>
                  <a:srgbClr val="E2E8F0"/>
                </a:solidFill>
                <a:latin typeface="Consolas"/>
                <a:ea typeface="Consolas"/>
                <a:cs typeface="Consolas"/>
              </a:rPr>
              <a:t>PriceFor_Age60_IsSenior</a:t>
            </a:r>
            <a:endParaRPr lang="en-US" sz="1050" dirty="0"/>
          </a:p>
        </p:txBody>
      </p:sp>
      <p:sp>
        <p:nvSpPr>
          <p:cNvPr id="112" name="s112"/>
          <p:cNvSpPr txBox="1"/>
          <p:nvPr/>
        </p:nvSpPr>
        <p:spPr>
          <a:xfrm>
            <a:off x="8229600" y="4069080"/>
            <a:ext cx="3291840" cy="32918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50" b="1" dirty="0">
                <a:solidFill>
                  <a:srgbClr val="34D399"/>
                </a:solidFill>
                <a:latin typeface="Consolas"/>
                <a:ea typeface="Consolas"/>
                <a:cs typeface="Consolas"/>
              </a:rPr>
              <a:t>✓  </a:t>
            </a:r>
            <a:r>
              <a:rPr lang="en-US" sz="1050" b="0" dirty="0">
                <a:solidFill>
                  <a:srgbClr val="E2E8F0"/>
                </a:solidFill>
                <a:latin typeface="Consolas"/>
                <a:ea typeface="Consolas"/>
                <a:cs typeface="Consolas"/>
              </a:rPr>
              <a:t>Transfer_EmailsTheSender</a:t>
            </a:r>
            <a:endParaRPr lang="en-US" sz="1050" dirty="0"/>
          </a:p>
        </p:txBody>
      </p:sp>
      <p:sp>
        <p:nvSpPr>
          <p:cNvPr id="113" name="s113"/>
          <p:cNvSpPr txBox="1"/>
          <p:nvPr/>
        </p:nvSpPr>
        <p:spPr>
          <a:xfrm>
            <a:off x="8229600" y="2916936"/>
            <a:ext cx="3291840" cy="32918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50" b="1" dirty="0">
                <a:solidFill>
                  <a:srgbClr val="34D399"/>
                </a:solidFill>
                <a:latin typeface="Consolas"/>
                <a:ea typeface="Consolas"/>
                <a:cs typeface="Consolas"/>
              </a:rPr>
              <a:t>✓  </a:t>
            </a:r>
            <a:r>
              <a:rPr lang="en-US" sz="1050" b="0" dirty="0">
                <a:solidFill>
                  <a:srgbClr val="E2E8F0"/>
                </a:solidFill>
                <a:latin typeface="Consolas"/>
                <a:ea typeface="Consolas"/>
                <a:cs typeface="Consolas"/>
              </a:rPr>
              <a:t>Withdraw_MoreThanBalance_Throws</a:t>
            </a:r>
            <a:endParaRPr lang="en-US" sz="1050" dirty="0"/>
          </a:p>
        </p:txBody>
      </p:sp>
      <p:sp>
        <p:nvSpPr>
          <p:cNvPr id="114" name="s114"/>
          <p:cNvSpPr/>
          <p:nvPr/>
        </p:nvSpPr>
        <p:spPr>
          <a:xfrm>
            <a:off x="8138160" y="2916936"/>
            <a:ext cx="3383280" cy="329184"/>
          </a:xfrm>
          <a:prstGeom prst="rect">
            <a:avLst/>
          </a:prstGeom>
          <a:solidFill>
            <a:srgbClr val="060D18"/>
          </a:solidFill>
          <a:ln>
            <a:noFill/>
          </a:ln>
        </p:spPr>
        <p:txBody>
          <a:bodyPr wrap="square" lIns="164592" tIns="109728" rIns="137160" bIns="91440" rtlCol="0" anchor="t">
            <a:noAutofit/>
          </a:bodyPr>
          <a:lstStyle/>
          <a:p>
            <a:endParaRPr lang="en-US"/>
          </a:p>
        </p:txBody>
      </p:sp>
      <p:sp>
        <p:nvSpPr>
          <p:cNvPr id="115" name="s115"/>
          <p:cNvSpPr/>
          <p:nvPr/>
        </p:nvSpPr>
        <p:spPr>
          <a:xfrm>
            <a:off x="8229600" y="4480560"/>
            <a:ext cx="3154680" cy="274320"/>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Passed: 6   Failed: 0</a:t>
            </a:r>
            <a:endParaRPr lang="en-US" sz="1000" dirty="0"/>
          </a:p>
        </p:txBody>
      </p:sp>
    </p:spTree>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6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600" decel="100000" fill="hold"/>
                                        <p:tgtEl>
                                          <p:spTgt spid="101"/>
                                        </p:tgtEl>
                                        <p:attrNameLst>
                                          <p:attrName>ppt_h</p:attrName>
                                        </p:attrNameLst>
                                      </p:cBhvr>
                                      <p:tavLst>
                                        <p:tav tm="0">
                                          <p:val>
                                            <p:strVal val="#ppt_h*0.3"/>
                                          </p:val>
                                        </p:tav>
                                        <p:tav tm="100000">
                                          <p:val>
                                            <p:strVal val="#ppt_h*1.08"/>
                                          </p:val>
                                        </p:tav>
                                      </p:tavLst>
                                    </p:anim>
                                    <p:animEffect transition="in" filter="fade">
                                      <p:cBhvr>
                                        <p:cTn id="9" dur="300"/>
                                        <p:tgtEl>
                                          <p:spTgt spid="101"/>
                                        </p:tgtEl>
                                      </p:cBhvr>
                                    </p:animEffect>
                                    <p:anim calcmode="lin" valueType="num">
                                      <p:cBhvr additive="base">
                                        <p:cTn id="10" dur="160" fill="hold">
                                          <p:stCondLst>
                                            <p:cond delay="6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60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6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600"/>
                                        <p:tgtEl>
                                          <p:spTgt spid="102"/>
                                        </p:tgtEl>
                                      </p:cBhvr>
                                    </p:animEffect>
                                    <p:anim calcmode="lin" valueType="num">
                                      <p:cBhvr additive="base">
                                        <p:cTn id="15" dur="6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32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600"/>
                                        <p:tgtEl>
                                          <p:spTgt spid="103"/>
                                        </p:tgtEl>
                                      </p:cBhvr>
                                    </p:animEffect>
                                    <p:anim calcmode="lin" valueType="num">
                                      <p:cBhvr additive="base">
                                        <p:cTn id="19" dur="600" decel="100000" fill="hold"/>
                                        <p:tgtEl>
                                          <p:spTgt spid="103"/>
                                        </p:tgtEl>
                                        <p:attrNameLst>
                                          <p:attrName>ppt_y</p:attrName>
                                        </p:attrNameLst>
                                      </p:cBhvr>
                                      <p:tavLst>
                                        <p:tav tm="0">
                                          <p:val>
                                            <p:strVal val="#ppt_y+0.06"/>
                                          </p:val>
                                        </p:tav>
                                        <p:tav tm="100000">
                                          <p:val>
                                            <p:strVal val="#ppt_y"/>
                                          </p:val>
                                        </p:tav>
                                      </p:tavLst>
                                    </p:anim>
                                  </p:childTnLst>
                                </p:cTn>
                              </p:par>
                              <p:par>
                                <p:cTn id="20" presetID="10" presetClass="entr" presetSubtype="0" fill="hold" grpId="0" nodeType="withEffect">
                                  <p:stCondLst>
                                    <p:cond delay="48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600"/>
                                        <p:tgtEl>
                                          <p:spTgt spid="104"/>
                                        </p:tgtEl>
                                      </p:cBhvr>
                                    </p:animEffect>
                                  </p:childTnLst>
                                </p:cTn>
                              </p:par>
                              <p:par>
                                <p:cTn id="23" presetID="53" presetClass="entr" presetSubtype="16" fill="hold" grpId="0" nodeType="withEffect">
                                  <p:stCondLst>
                                    <p:cond delay="630"/>
                                  </p:stCondLst>
                                  <p:childTnLst>
                                    <p:set>
                                      <p:cBhvr>
                                        <p:cTn id="24" dur="1" fill="hold">
                                          <p:stCondLst>
                                            <p:cond delay="0"/>
                                          </p:stCondLst>
                                        </p:cTn>
                                        <p:tgtEl>
                                          <p:spTgt spid="105"/>
                                        </p:tgtEl>
                                        <p:attrNameLst>
                                          <p:attrName>style.visibility</p:attrName>
                                        </p:attrNameLst>
                                      </p:cBhvr>
                                      <p:to>
                                        <p:strVal val="visible"/>
                                      </p:to>
                                    </p:set>
                                    <p:anim calcmode="lin" valueType="num">
                                      <p:cBhvr additive="base">
                                        <p:cTn id="25" dur="5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26" dur="500" decel="100000" fill="hold"/>
                                        <p:tgtEl>
                                          <p:spTgt spid="105"/>
                                        </p:tgtEl>
                                        <p:attrNameLst>
                                          <p:attrName>ppt_h</p:attrName>
                                        </p:attrNameLst>
                                      </p:cBhvr>
                                      <p:tavLst>
                                        <p:tav tm="0">
                                          <p:val>
                                            <p:strVal val="#ppt_h*0.55"/>
                                          </p:val>
                                        </p:tav>
                                        <p:tav tm="100000">
                                          <p:val>
                                            <p:strVal val="#ppt_h"/>
                                          </p:val>
                                        </p:tav>
                                      </p:tavLst>
                                    </p:anim>
                                    <p:animEffect transition="in" filter="fade">
                                      <p:cBhvr>
                                        <p:cTn id="27" dur="500"/>
                                        <p:tgtEl>
                                          <p:spTgt spid="105"/>
                                        </p:tgtEl>
                                      </p:cBhvr>
                                    </p:animEffect>
                                  </p:childTnLst>
                                </p:cTn>
                              </p:par>
                              <p:par>
                                <p:cTn id="28" presetID="53" presetClass="entr" presetSubtype="16" fill="hold" grpId="0" nodeType="withEffect">
                                  <p:stCondLst>
                                    <p:cond delay="630"/>
                                  </p:stCondLst>
                                  <p:childTnLst>
                                    <p:set>
                                      <p:cBhvr>
                                        <p:cTn id="29" dur="1" fill="hold">
                                          <p:stCondLst>
                                            <p:cond delay="0"/>
                                          </p:stCondLst>
                                        </p:cTn>
                                        <p:tgtEl>
                                          <p:spTgt spid="106"/>
                                        </p:tgtEl>
                                        <p:attrNameLst>
                                          <p:attrName>style.visibility</p:attrName>
                                        </p:attrNameLst>
                                      </p:cBhvr>
                                      <p:to>
                                        <p:strVal val="visible"/>
                                      </p:to>
                                    </p:set>
                                    <p:anim calcmode="lin" valueType="num">
                                      <p:cBhvr additive="base">
                                        <p:cTn id="30"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31" dur="500" decel="100000" fill="hold"/>
                                        <p:tgtEl>
                                          <p:spTgt spid="106"/>
                                        </p:tgtEl>
                                        <p:attrNameLst>
                                          <p:attrName>ppt_h</p:attrName>
                                        </p:attrNameLst>
                                      </p:cBhvr>
                                      <p:tavLst>
                                        <p:tav tm="0">
                                          <p:val>
                                            <p:strVal val="#ppt_h*0.55"/>
                                          </p:val>
                                        </p:tav>
                                        <p:tav tm="100000">
                                          <p:val>
                                            <p:strVal val="#ppt_h"/>
                                          </p:val>
                                        </p:tav>
                                      </p:tavLst>
                                    </p:anim>
                                    <p:animEffect transition="in" filter="fade">
                                      <p:cBhvr>
                                        <p:cTn id="32" dur="500"/>
                                        <p:tgtEl>
                                          <p:spTgt spid="106"/>
                                        </p:tgtEl>
                                      </p:cBhvr>
                                    </p:animEffect>
                                  </p:childTnLst>
                                </p:cTn>
                              </p:par>
                              <p:par>
                                <p:cTn id="33" presetID="42" presetClass="entr" presetSubtype="0" fill="hold" grpId="0" nodeType="withEffect">
                                  <p:stCondLst>
                                    <p:cond delay="630"/>
                                  </p:stCondLst>
                                  <p:childTnLst>
                                    <p:set>
                                      <p:cBhvr>
                                        <p:cTn id="34" dur="1" fill="hold">
                                          <p:stCondLst>
                                            <p:cond delay="0"/>
                                          </p:stCondLst>
                                        </p:cTn>
                                        <p:tgtEl>
                                          <p:spTgt spid="107"/>
                                        </p:tgtEl>
                                        <p:attrNameLst>
                                          <p:attrName>style.visibility</p:attrName>
                                        </p:attrNameLst>
                                      </p:cBhvr>
                                      <p:to>
                                        <p:strVal val="visible"/>
                                      </p:to>
                                    </p:set>
                                    <p:animEffect transition="in" filter="fade">
                                      <p:cBhvr>
                                        <p:cTn id="35" dur="500"/>
                                        <p:tgtEl>
                                          <p:spTgt spid="107"/>
                                        </p:tgtEl>
                                      </p:cBhvr>
                                    </p:animEffect>
                                    <p:anim calcmode="lin" valueType="num">
                                      <p:cBhvr additive="base">
                                        <p:cTn id="36" dur="500" decel="100000" fill="hold"/>
                                        <p:tgtEl>
                                          <p:spTgt spid="107"/>
                                        </p:tgtEl>
                                        <p:attrNameLst>
                                          <p:attrName>ppt_x</p:attrName>
                                        </p:attrNameLst>
                                      </p:cBhvr>
                                      <p:tavLst>
                                        <p:tav tm="0">
                                          <p:val>
                                            <p:strVal val="#ppt_x-0.05"/>
                                          </p:val>
                                        </p:tav>
                                        <p:tav tm="100000">
                                          <p:val>
                                            <p:strVal val="#ppt_x"/>
                                          </p:val>
                                        </p:tav>
                                      </p:tavLst>
                                    </p:anim>
                                  </p:childTnLst>
                                </p:cTn>
                              </p:par>
                              <p:par>
                                <p:cTn id="37" presetID="42" presetClass="entr" presetSubtype="0" fill="hold" grpId="0" nodeType="withEffect">
                                  <p:stCondLst>
                                    <p:cond delay="750"/>
                                  </p:stCondLst>
                                  <p:childTnLst>
                                    <p:set>
                                      <p:cBhvr>
                                        <p:cTn id="38" dur="1" fill="hold">
                                          <p:stCondLst>
                                            <p:cond delay="0"/>
                                          </p:stCondLst>
                                        </p:cTn>
                                        <p:tgtEl>
                                          <p:spTgt spid="108"/>
                                        </p:tgtEl>
                                        <p:attrNameLst>
                                          <p:attrName>style.visibility</p:attrName>
                                        </p:attrNameLst>
                                      </p:cBhvr>
                                      <p:to>
                                        <p:strVal val="visible"/>
                                      </p:to>
                                    </p:set>
                                    <p:animEffect transition="in" filter="fade">
                                      <p:cBhvr>
                                        <p:cTn id="39" dur="500"/>
                                        <p:tgtEl>
                                          <p:spTgt spid="108"/>
                                        </p:tgtEl>
                                      </p:cBhvr>
                                    </p:animEffect>
                                    <p:anim calcmode="lin" valueType="num">
                                      <p:cBhvr additive="base">
                                        <p:cTn id="40" dur="500" decel="100000" fill="hold"/>
                                        <p:tgtEl>
                                          <p:spTgt spid="108"/>
                                        </p:tgtEl>
                                        <p:attrNameLst>
                                          <p:attrName>ppt_x</p:attrName>
                                        </p:attrNameLst>
                                      </p:cBhvr>
                                      <p:tavLst>
                                        <p:tav tm="0">
                                          <p:val>
                                            <p:strVal val="#ppt_x-0.05"/>
                                          </p:val>
                                        </p:tav>
                                        <p:tav tm="100000">
                                          <p:val>
                                            <p:strVal val="#ppt_x"/>
                                          </p:val>
                                        </p:tav>
                                      </p:tavLst>
                                    </p:anim>
                                  </p:childTnLst>
                                </p:cTn>
                              </p:par>
                              <p:par>
                                <p:cTn id="41" presetID="42" presetClass="entr" presetSubtype="0" fill="hold" grpId="0" nodeType="withEffect">
                                  <p:stCondLst>
                                    <p:cond delay="870"/>
                                  </p:stCondLst>
                                  <p:childTnLst>
                                    <p:set>
                                      <p:cBhvr>
                                        <p:cTn id="42" dur="1" fill="hold">
                                          <p:stCondLst>
                                            <p:cond delay="0"/>
                                          </p:stCondLst>
                                        </p:cTn>
                                        <p:tgtEl>
                                          <p:spTgt spid="109"/>
                                        </p:tgtEl>
                                        <p:attrNameLst>
                                          <p:attrName>style.visibility</p:attrName>
                                        </p:attrNameLst>
                                      </p:cBhvr>
                                      <p:to>
                                        <p:strVal val="visible"/>
                                      </p:to>
                                    </p:set>
                                    <p:animEffect transition="in" filter="fade">
                                      <p:cBhvr>
                                        <p:cTn id="43" dur="500"/>
                                        <p:tgtEl>
                                          <p:spTgt spid="109"/>
                                        </p:tgtEl>
                                      </p:cBhvr>
                                    </p:animEffect>
                                    <p:anim calcmode="lin" valueType="num">
                                      <p:cBhvr additive="base">
                                        <p:cTn id="44" dur="500" decel="100000" fill="hold"/>
                                        <p:tgtEl>
                                          <p:spTgt spid="109"/>
                                        </p:tgtEl>
                                        <p:attrNameLst>
                                          <p:attrName>ppt_x</p:attrName>
                                        </p:attrNameLst>
                                      </p:cBhvr>
                                      <p:tavLst>
                                        <p:tav tm="0">
                                          <p:val>
                                            <p:strVal val="#ppt_x-0.05"/>
                                          </p:val>
                                        </p:tav>
                                        <p:tav tm="100000">
                                          <p:val>
                                            <p:strVal val="#ppt_x"/>
                                          </p:val>
                                        </p:tav>
                                      </p:tavLst>
                                    </p:anim>
                                  </p:childTnLst>
                                </p:cTn>
                              </p:par>
                              <p:par>
                                <p:cTn id="45" presetID="42" presetClass="entr" presetSubtype="0" fill="hold" grpId="0" nodeType="withEffect">
                                  <p:stCondLst>
                                    <p:cond delay="990"/>
                                  </p:stCondLst>
                                  <p:childTnLst>
                                    <p:set>
                                      <p:cBhvr>
                                        <p:cTn id="46" dur="1" fill="hold">
                                          <p:stCondLst>
                                            <p:cond delay="0"/>
                                          </p:stCondLst>
                                        </p:cTn>
                                        <p:tgtEl>
                                          <p:spTgt spid="110"/>
                                        </p:tgtEl>
                                        <p:attrNameLst>
                                          <p:attrName>style.visibility</p:attrName>
                                        </p:attrNameLst>
                                      </p:cBhvr>
                                      <p:to>
                                        <p:strVal val="visible"/>
                                      </p:to>
                                    </p:set>
                                    <p:animEffect transition="in" filter="fade">
                                      <p:cBhvr>
                                        <p:cTn id="47" dur="500"/>
                                        <p:tgtEl>
                                          <p:spTgt spid="110"/>
                                        </p:tgtEl>
                                      </p:cBhvr>
                                    </p:animEffect>
                                    <p:anim calcmode="lin" valueType="num">
                                      <p:cBhvr additive="base">
                                        <p:cTn id="48" dur="500" decel="100000" fill="hold"/>
                                        <p:tgtEl>
                                          <p:spTgt spid="110"/>
                                        </p:tgtEl>
                                        <p:attrNameLst>
                                          <p:attrName>ppt_x</p:attrName>
                                        </p:attrNameLst>
                                      </p:cBhvr>
                                      <p:tavLst>
                                        <p:tav tm="0">
                                          <p:val>
                                            <p:strVal val="#ppt_x-0.05"/>
                                          </p:val>
                                        </p:tav>
                                        <p:tav tm="100000">
                                          <p:val>
                                            <p:strVal val="#ppt_x"/>
                                          </p:val>
                                        </p:tav>
                                      </p:tavLst>
                                    </p:anim>
                                  </p:childTnLst>
                                </p:cTn>
                              </p:par>
                              <p:par>
                                <p:cTn id="49" presetID="42" presetClass="entr" presetSubtype="0" fill="hold" grpId="0" nodeType="withEffect">
                                  <p:stCondLst>
                                    <p:cond delay="1110"/>
                                  </p:stCondLst>
                                  <p:childTnLst>
                                    <p:set>
                                      <p:cBhvr>
                                        <p:cTn id="50" dur="1" fill="hold">
                                          <p:stCondLst>
                                            <p:cond delay="0"/>
                                          </p:stCondLst>
                                        </p:cTn>
                                        <p:tgtEl>
                                          <p:spTgt spid="111"/>
                                        </p:tgtEl>
                                        <p:attrNameLst>
                                          <p:attrName>style.visibility</p:attrName>
                                        </p:attrNameLst>
                                      </p:cBhvr>
                                      <p:to>
                                        <p:strVal val="visible"/>
                                      </p:to>
                                    </p:set>
                                    <p:animEffect transition="in" filter="fade">
                                      <p:cBhvr>
                                        <p:cTn id="51" dur="500"/>
                                        <p:tgtEl>
                                          <p:spTgt spid="111"/>
                                        </p:tgtEl>
                                      </p:cBhvr>
                                    </p:animEffect>
                                    <p:anim calcmode="lin" valueType="num">
                                      <p:cBhvr additive="base">
                                        <p:cTn id="52" dur="500" decel="100000" fill="hold"/>
                                        <p:tgtEl>
                                          <p:spTgt spid="111"/>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1230"/>
                                  </p:stCondLst>
                                  <p:childTnLst>
                                    <p:set>
                                      <p:cBhvr>
                                        <p:cTn id="54" dur="1" fill="hold">
                                          <p:stCondLst>
                                            <p:cond delay="0"/>
                                          </p:stCondLst>
                                        </p:cTn>
                                        <p:tgtEl>
                                          <p:spTgt spid="112"/>
                                        </p:tgtEl>
                                        <p:attrNameLst>
                                          <p:attrName>style.visibility</p:attrName>
                                        </p:attrNameLst>
                                      </p:cBhvr>
                                      <p:to>
                                        <p:strVal val="visible"/>
                                      </p:to>
                                    </p:set>
                                    <p:animEffect transition="in" filter="fade">
                                      <p:cBhvr>
                                        <p:cTn id="55" dur="500"/>
                                        <p:tgtEl>
                                          <p:spTgt spid="112"/>
                                        </p:tgtEl>
                                      </p:cBhvr>
                                    </p:animEffect>
                                    <p:anim calcmode="lin" valueType="num">
                                      <p:cBhvr additive="base">
                                        <p:cTn id="56" dur="500" decel="100000" fill="hold"/>
                                        <p:tgtEl>
                                          <p:spTgt spid="112"/>
                                        </p:tgtEl>
                                        <p:attrNameLst>
                                          <p:attrName>ppt_x</p:attrName>
                                        </p:attrNameLst>
                                      </p:cBhvr>
                                      <p:tavLst>
                                        <p:tav tm="0">
                                          <p:val>
                                            <p:strVal val="#ppt_x-0.05"/>
                                          </p:val>
                                        </p:tav>
                                        <p:tav tm="100000">
                                          <p:val>
                                            <p:strVal val="#ppt_x"/>
                                          </p:val>
                                        </p:tav>
                                      </p:tavLst>
                                    </p:anim>
                                  </p:childTnLst>
                                </p:cTn>
                              </p:par>
                              <p:par>
                                <p:cTn id="57" presetID="10" presetClass="entr" presetSubtype="0" fill="hold" grpId="0" nodeType="withEffect">
                                  <p:stCondLst>
                                    <p:cond delay="173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childTnLst>
                                </p:cTn>
                              </p:par>
                              <p:par>
                                <p:cTn id="60" presetID="10" presetClass="entr" presetSubtype="0" fill="hold" grpId="0" nodeType="withEffect">
                                  <p:stCondLst>
                                    <p:cond delay="1980"/>
                                  </p:stCondLst>
                                  <p:childTnLst>
                                    <p:set>
                                      <p:cBhvr>
                                        <p:cTn id="61" dur="1" fill="hold">
                                          <p:stCondLst>
                                            <p:cond delay="0"/>
                                          </p:stCondLst>
                                        </p:cTn>
                                        <p:tgtEl>
                                          <p:spTgt spid="113"/>
                                        </p:tgtEl>
                                        <p:attrNameLst>
                                          <p:attrName>style.visibility</p:attrName>
                                        </p:attrNameLst>
                                      </p:cBhvr>
                                      <p:to>
                                        <p:strVal val="visible"/>
                                      </p:to>
                                    </p:set>
                                    <p:animEffect transition="in" filter="fade">
                                      <p:cBhvr>
                                        <p:cTn id="62" dur="500"/>
                                        <p:tgtEl>
                                          <p:spTgt spid="113"/>
                                        </p:tgtEl>
                                      </p:cBhvr>
                                    </p:animEffect>
                                  </p:childTnLst>
                                </p:cTn>
                              </p:par>
                              <p:par>
                                <p:cTn id="63" presetID="53" presetClass="entr" presetSubtype="16" fill="hold" grpId="0" nodeType="withEffect">
                                  <p:stCondLst>
                                    <p:cond delay="2230"/>
                                  </p:stCondLst>
                                  <p:childTnLst>
                                    <p:set>
                                      <p:cBhvr>
                                        <p:cTn id="64" dur="1" fill="hold">
                                          <p:stCondLst>
                                            <p:cond delay="0"/>
                                          </p:stCondLst>
                                        </p:cTn>
                                        <p:tgtEl>
                                          <p:spTgt spid="115"/>
                                        </p:tgtEl>
                                        <p:attrNameLst>
                                          <p:attrName>style.visibility</p:attrName>
                                        </p:attrNameLst>
                                      </p:cBhvr>
                                      <p:to>
                                        <p:strVal val="visible"/>
                                      </p:to>
                                    </p:set>
                                    <p:anim calcmode="lin" valueType="num">
                                      <p:cBhvr additive="base">
                                        <p:cTn id="65" dur="5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66" dur="500" decel="100000" fill="hold"/>
                                        <p:tgtEl>
                                          <p:spTgt spid="115"/>
                                        </p:tgtEl>
                                        <p:attrNameLst>
                                          <p:attrName>ppt_h</p:attrName>
                                        </p:attrNameLst>
                                      </p:cBhvr>
                                      <p:tavLst>
                                        <p:tav tm="0">
                                          <p:val>
                                            <p:strVal val="#ppt_h*0.3"/>
                                          </p:val>
                                        </p:tav>
                                        <p:tav tm="100000">
                                          <p:val>
                                            <p:strVal val="#ppt_h*1.08"/>
                                          </p:val>
                                        </p:tav>
                                      </p:tavLst>
                                    </p:anim>
                                    <p:animEffect transition="in" filter="fade">
                                      <p:cBhvr>
                                        <p:cTn id="67" dur="250"/>
                                        <p:tgtEl>
                                          <p:spTgt spid="115"/>
                                        </p:tgtEl>
                                      </p:cBhvr>
                                    </p:animEffect>
                                    <p:anim calcmode="lin" valueType="num">
                                      <p:cBhvr additive="base">
                                        <p:cTn id="68" dur="160" fill="hold">
                                          <p:stCondLst>
                                            <p:cond delay="500"/>
                                          </p:stCondLst>
                                        </p:cTn>
                                        <p:tgtEl>
                                          <p:spTgt spid="115"/>
                                        </p:tgtEl>
                                        <p:attrNameLst>
                                          <p:attrName>ppt_w</p:attrName>
                                        </p:attrNameLst>
                                      </p:cBhvr>
                                      <p:tavLst>
                                        <p:tav tm="0">
                                          <p:val>
                                            <p:strVal val="#ppt_w*1.08"/>
                                          </p:val>
                                        </p:tav>
                                        <p:tav tm="100000">
                                          <p:val>
                                            <p:strVal val="#ppt_w"/>
                                          </p:val>
                                        </p:tav>
                                      </p:tavLst>
                                    </p:anim>
                                    <p:anim calcmode="lin" valueType="num">
                                      <p:cBhvr additive="base">
                                        <p:cTn id="69" dur="160" fill="hold">
                                          <p:stCondLst>
                                            <p:cond delay="5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ROADMAP</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From Zero to Testing a Real Project</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104</a:t>
            </a:r>
            <a:endParaRPr lang="en-US" sz="850" dirty="0"/>
          </a:p>
        </p:txBody>
      </p:sp>
      <p:cxnSp>
        <p:nvCxnSpPr>
          <p:cNvPr id="101" name="ln101"/>
          <p:cNvCxnSpPr/>
          <p:nvPr/>
        </p:nvCxnSpPr>
        <p:spPr>
          <a:xfrm>
            <a:off x="1390955" y="2331720"/>
            <a:ext cx="9392412" cy="0"/>
          </a:xfrm>
          <a:prstGeom prst="line">
            <a:avLst/>
          </a:prstGeom>
          <a:ln w="25400">
            <a:solidFill>
              <a:srgbClr val="1E3A5F"/>
            </a:solidFill>
          </a:ln>
        </p:spPr>
      </p:cxnSp>
      <p:sp>
        <p:nvSpPr>
          <p:cNvPr id="102" name="s102"/>
          <p:cNvSpPr/>
          <p:nvPr/>
        </p:nvSpPr>
        <p:spPr>
          <a:xfrm>
            <a:off x="543154" y="1828800"/>
            <a:ext cx="1695602" cy="2926080"/>
          </a:xfrm>
          <a:prstGeom prst="roundRect">
            <a:avLst>
              <a:gd name="adj" fmla="val 9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03" name="s103"/>
          <p:cNvSpPr/>
          <p:nvPr/>
        </p:nvSpPr>
        <p:spPr>
          <a:xfrm>
            <a:off x="1061771" y="2011680"/>
            <a:ext cx="658368" cy="658368"/>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4" name="img104"/>
          <p:cNvPicPr>
            <a:picLocks noChangeAspect="1"/>
          </p:cNvPicPr>
          <p:nvPr/>
        </p:nvPicPr>
        <p:blipFill>
          <a:blip r:embed="rId4"/>
          <a:stretch>
            <a:fillRect/>
          </a:stretch>
        </p:blipFill>
        <p:spPr>
          <a:xfrm>
            <a:off x="1219779" y="2169688"/>
            <a:ext cx="342351" cy="342351"/>
          </a:xfrm>
          <a:prstGeom prst="rect">
            <a:avLst/>
          </a:prstGeom>
        </p:spPr>
      </p:pic>
      <p:sp>
        <p:nvSpPr>
          <p:cNvPr id="105" name="s105"/>
          <p:cNvSpPr txBox="1"/>
          <p:nvPr/>
        </p:nvSpPr>
        <p:spPr>
          <a:xfrm>
            <a:off x="543154" y="2816352"/>
            <a:ext cx="169560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2600" b="1" dirty="0">
                <a:solidFill>
                  <a:srgbClr val="F87171"/>
                </a:solidFill>
                <a:latin typeface="Segoe UI"/>
                <a:ea typeface="Segoe UI"/>
                <a:cs typeface="Segoe UI"/>
              </a:rPr>
              <a:t>01</a:t>
            </a:r>
            <a:endParaRPr lang="en-US" sz="2600" dirty="0"/>
          </a:p>
        </p:txBody>
      </p:sp>
      <p:sp>
        <p:nvSpPr>
          <p:cNvPr id="106" name="s106"/>
          <p:cNvSpPr txBox="1"/>
          <p:nvPr/>
        </p:nvSpPr>
        <p:spPr>
          <a:xfrm>
            <a:off x="634594" y="3401568"/>
            <a:ext cx="1512722"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Why test</a:t>
            </a:r>
            <a:endParaRPr lang="en-US" sz="1400" dirty="0"/>
          </a:p>
        </p:txBody>
      </p:sp>
      <p:sp>
        <p:nvSpPr>
          <p:cNvPr id="107" name="s107"/>
          <p:cNvSpPr txBox="1"/>
          <p:nvPr/>
        </p:nvSpPr>
        <p:spPr>
          <a:xfrm>
            <a:off x="634594" y="3822192"/>
            <a:ext cx="1512722" cy="8229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0" dirty="0">
                <a:solidFill>
                  <a:srgbClr val="94A3B8"/>
                </a:solidFill>
                <a:latin typeface="Segoe UI"/>
                <a:ea typeface="Segoe UI"/>
                <a:cs typeface="Segoe UI"/>
              </a:rPr>
              <a:t>bugs, types of tests,</a:t>
            </a:r>
            <a:endParaRPr lang="en-US" sz="1100" dirty="0"/>
          </a:p>
          <a:p>
            <a:pPr marL="0" indent="0" algn="ctr">
              <a:spcBef>
                <a:spcPts val="0"/>
              </a:spcBef>
              <a:spcAft>
                <a:spcPts val="0"/>
              </a:spcAft>
              <a:buNone/>
            </a:pPr>
            <a:r>
              <a:rPr lang="en-US" sz="1100" b="0" dirty="0">
                <a:solidFill>
                  <a:srgbClr val="94A3B8"/>
                </a:solidFill>
                <a:latin typeface="Segoe UI"/>
                <a:ea typeface="Segoe UI"/>
                <a:cs typeface="Segoe UI"/>
              </a:rPr>
              <a:t>what to test</a:t>
            </a:r>
            <a:endParaRPr lang="en-US" sz="1100" dirty="0"/>
          </a:p>
        </p:txBody>
      </p:sp>
      <p:sp>
        <p:nvSpPr>
          <p:cNvPr id="108" name="s108"/>
          <p:cNvSpPr/>
          <p:nvPr/>
        </p:nvSpPr>
        <p:spPr>
          <a:xfrm>
            <a:off x="2421636" y="1828800"/>
            <a:ext cx="1695602" cy="2926080"/>
          </a:xfrm>
          <a:prstGeom prst="roundRect">
            <a:avLst>
              <a:gd name="adj" fmla="val 9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09" name="s109"/>
          <p:cNvSpPr/>
          <p:nvPr/>
        </p:nvSpPr>
        <p:spPr>
          <a:xfrm>
            <a:off x="2940253" y="2011680"/>
            <a:ext cx="658368" cy="658368"/>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10" name="img110"/>
          <p:cNvPicPr>
            <a:picLocks noChangeAspect="1"/>
          </p:cNvPicPr>
          <p:nvPr/>
        </p:nvPicPr>
        <p:blipFill>
          <a:blip r:embed="rId5"/>
          <a:stretch>
            <a:fillRect/>
          </a:stretch>
        </p:blipFill>
        <p:spPr>
          <a:xfrm>
            <a:off x="3098262" y="2169688"/>
            <a:ext cx="342351" cy="342351"/>
          </a:xfrm>
          <a:prstGeom prst="rect">
            <a:avLst/>
          </a:prstGeom>
        </p:spPr>
      </p:pic>
      <p:sp>
        <p:nvSpPr>
          <p:cNvPr id="111" name="s111"/>
          <p:cNvSpPr txBox="1"/>
          <p:nvPr/>
        </p:nvSpPr>
        <p:spPr>
          <a:xfrm>
            <a:off x="2421636" y="2816352"/>
            <a:ext cx="169560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2600" b="1" dirty="0">
                <a:solidFill>
                  <a:srgbClr val="13D0F7"/>
                </a:solidFill>
                <a:latin typeface="Segoe UI"/>
                <a:ea typeface="Segoe UI"/>
                <a:cs typeface="Segoe UI"/>
              </a:rPr>
              <a:t>02</a:t>
            </a:r>
            <a:endParaRPr lang="en-US" sz="2600" dirty="0"/>
          </a:p>
        </p:txBody>
      </p:sp>
      <p:sp>
        <p:nvSpPr>
          <p:cNvPr id="112" name="s112"/>
          <p:cNvSpPr txBox="1"/>
          <p:nvPr/>
        </p:nvSpPr>
        <p:spPr>
          <a:xfrm>
            <a:off x="2513076" y="3401568"/>
            <a:ext cx="1512722"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First test</a:t>
            </a:r>
            <a:endParaRPr lang="en-US" sz="1400" dirty="0"/>
          </a:p>
        </p:txBody>
      </p:sp>
      <p:sp>
        <p:nvSpPr>
          <p:cNvPr id="113" name="s113"/>
          <p:cNvSpPr txBox="1"/>
          <p:nvPr/>
        </p:nvSpPr>
        <p:spPr>
          <a:xfrm>
            <a:off x="2513076" y="3822192"/>
            <a:ext cx="1512722" cy="8229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0" dirty="0">
                <a:solidFill>
                  <a:srgbClr val="94A3B8"/>
                </a:solidFill>
                <a:latin typeface="Segoe UI"/>
                <a:ea typeface="Segoe UI"/>
                <a:cs typeface="Segoe UI"/>
              </a:rPr>
              <a:t>how many tests,</a:t>
            </a:r>
            <a:endParaRPr lang="en-US" sz="1100" dirty="0"/>
          </a:p>
          <a:p>
            <a:pPr marL="0" indent="0" algn="ctr">
              <a:spcBef>
                <a:spcPts val="0"/>
              </a:spcBef>
              <a:spcAft>
                <a:spcPts val="0"/>
              </a:spcAft>
              <a:buNone/>
            </a:pPr>
            <a:r>
              <a:rPr lang="en-US" sz="1100" b="0" dirty="0">
                <a:solidFill>
                  <a:srgbClr val="94A3B8"/>
                </a:solidFill>
                <a:latin typeface="Segoe UI"/>
                <a:ea typeface="Segoe UI"/>
                <a:cs typeface="Segoe UI"/>
              </a:rPr>
              <a:t>naming, Arrange-Act-Assert</a:t>
            </a:r>
            <a:endParaRPr lang="en-US" sz="1100" dirty="0"/>
          </a:p>
        </p:txBody>
      </p:sp>
      <p:sp>
        <p:nvSpPr>
          <p:cNvPr id="114" name="s114"/>
          <p:cNvSpPr/>
          <p:nvPr/>
        </p:nvSpPr>
        <p:spPr>
          <a:xfrm>
            <a:off x="4300118" y="1828800"/>
            <a:ext cx="1695602" cy="2926080"/>
          </a:xfrm>
          <a:prstGeom prst="roundRect">
            <a:avLst>
              <a:gd name="adj" fmla="val 9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15" name="s115"/>
          <p:cNvSpPr/>
          <p:nvPr/>
        </p:nvSpPr>
        <p:spPr>
          <a:xfrm>
            <a:off x="4818736" y="2011680"/>
            <a:ext cx="658368" cy="658368"/>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6" name="img116"/>
          <p:cNvPicPr>
            <a:picLocks noChangeAspect="1"/>
          </p:cNvPicPr>
          <p:nvPr/>
        </p:nvPicPr>
        <p:blipFill>
          <a:blip r:embed="rId6"/>
          <a:stretch>
            <a:fillRect/>
          </a:stretch>
        </p:blipFill>
        <p:spPr>
          <a:xfrm>
            <a:off x="4976744" y="2169688"/>
            <a:ext cx="342351" cy="342351"/>
          </a:xfrm>
          <a:prstGeom prst="rect">
            <a:avLst/>
          </a:prstGeom>
        </p:spPr>
      </p:pic>
      <p:sp>
        <p:nvSpPr>
          <p:cNvPr id="117" name="s117"/>
          <p:cNvSpPr txBox="1"/>
          <p:nvPr/>
        </p:nvSpPr>
        <p:spPr>
          <a:xfrm>
            <a:off x="4300118" y="2816352"/>
            <a:ext cx="169560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2600" b="1" dirty="0">
                <a:solidFill>
                  <a:srgbClr val="FBBF24"/>
                </a:solidFill>
                <a:latin typeface="Segoe UI"/>
                <a:ea typeface="Segoe UI"/>
                <a:cs typeface="Segoe UI"/>
              </a:rPr>
              <a:t>03</a:t>
            </a:r>
            <a:endParaRPr lang="en-US" sz="2600" dirty="0"/>
          </a:p>
        </p:txBody>
      </p:sp>
      <p:sp>
        <p:nvSpPr>
          <p:cNvPr id="118" name="s118"/>
          <p:cNvSpPr txBox="1"/>
          <p:nvPr/>
        </p:nvSpPr>
        <p:spPr>
          <a:xfrm>
            <a:off x="4391558" y="3401568"/>
            <a:ext cx="1512722"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Many cases</a:t>
            </a:r>
            <a:endParaRPr lang="en-US" sz="1400" dirty="0"/>
          </a:p>
        </p:txBody>
      </p:sp>
      <p:sp>
        <p:nvSpPr>
          <p:cNvPr id="119" name="s119"/>
          <p:cNvSpPr txBox="1"/>
          <p:nvPr/>
        </p:nvSpPr>
        <p:spPr>
          <a:xfrm>
            <a:off x="4391558" y="3822192"/>
            <a:ext cx="1512722" cy="8229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0" dirty="0">
                <a:solidFill>
                  <a:srgbClr val="94A3B8"/>
                </a:solidFill>
                <a:latin typeface="Segoe UI"/>
                <a:ea typeface="Segoe UI"/>
                <a:cs typeface="Segoe UI"/>
              </a:rPr>
              <a:t>Theory, InlineData,</a:t>
            </a:r>
            <a:endParaRPr lang="en-US" sz="1100" dirty="0"/>
          </a:p>
          <a:p>
            <a:pPr marL="0" indent="0" algn="ctr">
              <a:spcBef>
                <a:spcPts val="0"/>
              </a:spcBef>
              <a:spcAft>
                <a:spcPts val="0"/>
              </a:spcAft>
              <a:buNone/>
            </a:pPr>
            <a:r>
              <a:rPr lang="en-US" sz="1100" b="0" dirty="0">
                <a:solidFill>
                  <a:srgbClr val="94A3B8"/>
                </a:solidFill>
                <a:latin typeface="Segoe UI"/>
                <a:ea typeface="Segoe UI"/>
                <a:cs typeface="Segoe UI"/>
              </a:rPr>
              <a:t>MemberData, Shouldly, Bogus</a:t>
            </a:r>
            <a:endParaRPr lang="en-US" sz="1100" dirty="0"/>
          </a:p>
        </p:txBody>
      </p:sp>
      <p:sp>
        <p:nvSpPr>
          <p:cNvPr id="120" name="s120"/>
          <p:cNvSpPr/>
          <p:nvPr/>
        </p:nvSpPr>
        <p:spPr>
          <a:xfrm>
            <a:off x="6178601" y="1828800"/>
            <a:ext cx="1695602" cy="2926080"/>
          </a:xfrm>
          <a:prstGeom prst="roundRect">
            <a:avLst>
              <a:gd name="adj" fmla="val 9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21" name="s121"/>
          <p:cNvSpPr/>
          <p:nvPr/>
        </p:nvSpPr>
        <p:spPr>
          <a:xfrm>
            <a:off x="6697218" y="2011680"/>
            <a:ext cx="658368" cy="658368"/>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22" name="img122"/>
          <p:cNvPicPr>
            <a:picLocks noChangeAspect="1"/>
          </p:cNvPicPr>
          <p:nvPr/>
        </p:nvPicPr>
        <p:blipFill>
          <a:blip r:embed="rId7"/>
          <a:stretch>
            <a:fillRect/>
          </a:stretch>
        </p:blipFill>
        <p:spPr>
          <a:xfrm>
            <a:off x="6855226" y="2169688"/>
            <a:ext cx="342351" cy="342351"/>
          </a:xfrm>
          <a:prstGeom prst="rect">
            <a:avLst/>
          </a:prstGeom>
        </p:spPr>
      </p:pic>
      <p:sp>
        <p:nvSpPr>
          <p:cNvPr id="123" name="s123"/>
          <p:cNvSpPr txBox="1"/>
          <p:nvPr/>
        </p:nvSpPr>
        <p:spPr>
          <a:xfrm>
            <a:off x="6178601" y="2816352"/>
            <a:ext cx="169560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2600" b="1" dirty="0">
                <a:solidFill>
                  <a:srgbClr val="A78BFA"/>
                </a:solidFill>
                <a:latin typeface="Segoe UI"/>
                <a:ea typeface="Segoe UI"/>
                <a:cs typeface="Segoe UI"/>
              </a:rPr>
              <a:t>04</a:t>
            </a:r>
            <a:endParaRPr lang="en-US" sz="2600" dirty="0"/>
          </a:p>
        </p:txBody>
      </p:sp>
      <p:sp>
        <p:nvSpPr>
          <p:cNvPr id="124" name="s124"/>
          <p:cNvSpPr txBox="1"/>
          <p:nvPr/>
        </p:nvSpPr>
        <p:spPr>
          <a:xfrm>
            <a:off x="6270041" y="3401568"/>
            <a:ext cx="1512722"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Hidden inputs</a:t>
            </a:r>
            <a:endParaRPr lang="en-US" sz="1400" dirty="0"/>
          </a:p>
        </p:txBody>
      </p:sp>
      <p:sp>
        <p:nvSpPr>
          <p:cNvPr id="125" name="s125"/>
          <p:cNvSpPr txBox="1"/>
          <p:nvPr/>
        </p:nvSpPr>
        <p:spPr>
          <a:xfrm>
            <a:off x="6270041" y="3822192"/>
            <a:ext cx="1512722" cy="8229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0" dirty="0">
                <a:solidFill>
                  <a:srgbClr val="94A3B8"/>
                </a:solidFill>
                <a:latin typeface="Segoe UI"/>
                <a:ea typeface="Segoe UI"/>
                <a:cs typeface="Segoe UI"/>
              </a:rPr>
              <a:t>time, randomness,</a:t>
            </a:r>
            <a:endParaRPr lang="en-US" sz="1100" dirty="0"/>
          </a:p>
          <a:p>
            <a:pPr marL="0" indent="0" algn="ctr">
              <a:spcBef>
                <a:spcPts val="0"/>
              </a:spcBef>
              <a:spcAft>
                <a:spcPts val="0"/>
              </a:spcAft>
              <a:buNone/>
            </a:pPr>
            <a:r>
              <a:rPr lang="en-US" sz="1100" b="0" dirty="0">
                <a:solidFill>
                  <a:srgbClr val="94A3B8"/>
                </a:solidFill>
                <a:latin typeface="Segoe UI"/>
                <a:ea typeface="Segoe UI"/>
                <a:cs typeface="Segoe UI"/>
              </a:rPr>
              <a:t>shared state, async</a:t>
            </a:r>
            <a:endParaRPr lang="en-US" sz="1100" dirty="0"/>
          </a:p>
        </p:txBody>
      </p:sp>
      <p:sp>
        <p:nvSpPr>
          <p:cNvPr id="126" name="s126"/>
          <p:cNvSpPr/>
          <p:nvPr/>
        </p:nvSpPr>
        <p:spPr>
          <a:xfrm>
            <a:off x="8057083" y="1828800"/>
            <a:ext cx="1695602" cy="2926080"/>
          </a:xfrm>
          <a:prstGeom prst="roundRect">
            <a:avLst>
              <a:gd name="adj" fmla="val 9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575700" y="2011680"/>
            <a:ext cx="658368" cy="658368"/>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8"/>
          <a:stretch>
            <a:fillRect/>
          </a:stretch>
        </p:blipFill>
        <p:spPr>
          <a:xfrm>
            <a:off x="8733709" y="2169688"/>
            <a:ext cx="342351" cy="342351"/>
          </a:xfrm>
          <a:prstGeom prst="rect">
            <a:avLst/>
          </a:prstGeom>
        </p:spPr>
      </p:pic>
      <p:sp>
        <p:nvSpPr>
          <p:cNvPr id="129" name="s129"/>
          <p:cNvSpPr txBox="1"/>
          <p:nvPr/>
        </p:nvSpPr>
        <p:spPr>
          <a:xfrm>
            <a:off x="8057083" y="2816352"/>
            <a:ext cx="169560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2600" b="1" dirty="0">
                <a:solidFill>
                  <a:srgbClr val="34D399"/>
                </a:solidFill>
                <a:latin typeface="Segoe UI"/>
                <a:ea typeface="Segoe UI"/>
                <a:cs typeface="Segoe UI"/>
              </a:rPr>
              <a:t>05</a:t>
            </a:r>
            <a:endParaRPr lang="en-US" sz="2600" dirty="0"/>
          </a:p>
        </p:txBody>
      </p:sp>
      <p:sp>
        <p:nvSpPr>
          <p:cNvPr id="130" name="s130"/>
          <p:cNvSpPr txBox="1"/>
          <p:nvPr/>
        </p:nvSpPr>
        <p:spPr>
          <a:xfrm>
            <a:off x="8148523" y="3401568"/>
            <a:ext cx="1512722"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Test doubles</a:t>
            </a:r>
            <a:endParaRPr lang="en-US" sz="1400" dirty="0"/>
          </a:p>
        </p:txBody>
      </p:sp>
      <p:sp>
        <p:nvSpPr>
          <p:cNvPr id="131" name="s131"/>
          <p:cNvSpPr txBox="1"/>
          <p:nvPr/>
        </p:nvSpPr>
        <p:spPr>
          <a:xfrm>
            <a:off x="8148523" y="3822192"/>
            <a:ext cx="1512722" cy="8229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0" dirty="0">
                <a:solidFill>
                  <a:srgbClr val="94A3B8"/>
                </a:solidFill>
                <a:latin typeface="Segoe UI"/>
                <a:ea typeface="Segoe UI"/>
                <a:cs typeface="Segoe UI"/>
              </a:rPr>
              <a:t>fake, stub, mock,</a:t>
            </a:r>
            <a:endParaRPr lang="en-US" sz="1100" dirty="0"/>
          </a:p>
          <a:p>
            <a:pPr marL="0" indent="0" algn="ctr">
              <a:spcBef>
                <a:spcPts val="0"/>
              </a:spcBef>
              <a:spcAft>
                <a:spcPts val="0"/>
              </a:spcAft>
              <a:buNone/>
            </a:pPr>
            <a:r>
              <a:rPr lang="en-US" sz="1100" b="0" dirty="0">
                <a:solidFill>
                  <a:srgbClr val="94A3B8"/>
                </a:solidFill>
                <a:latin typeface="Segoe UI"/>
                <a:ea typeface="Segoe UI"/>
                <a:cs typeface="Segoe UI"/>
              </a:rPr>
              <a:t>NSubstitute</a:t>
            </a:r>
            <a:endParaRPr lang="en-US" sz="1100" dirty="0"/>
          </a:p>
        </p:txBody>
      </p:sp>
      <p:sp>
        <p:nvSpPr>
          <p:cNvPr id="132" name="s132"/>
          <p:cNvSpPr/>
          <p:nvPr/>
        </p:nvSpPr>
        <p:spPr>
          <a:xfrm>
            <a:off x="9935566" y="1828800"/>
            <a:ext cx="1695602" cy="2926080"/>
          </a:xfrm>
          <a:prstGeom prst="roundRect">
            <a:avLst>
              <a:gd name="adj" fmla="val 9000"/>
            </a:avLst>
          </a:prstGeom>
          <a:solidFill>
            <a:srgbClr val="111B2E"/>
          </a:solidFill>
          <a:ln w="12700">
            <a:solidFill>
              <a:srgbClr val="60A5FA"/>
            </a:solidFill>
            <a:prstDash val="solid"/>
          </a:ln>
        </p:spPr>
        <p:txBody>
          <a:bodyPr wrap="square" lIns="164592" tIns="109728" rIns="137160" bIns="91440" rtlCol="0" anchor="t">
            <a:noAutofit/>
          </a:bodyPr>
          <a:lstStyle/>
          <a:p>
            <a:endParaRPr lang="en-US"/>
          </a:p>
        </p:txBody>
      </p:sp>
      <p:sp>
        <p:nvSpPr>
          <p:cNvPr id="133" name="s133"/>
          <p:cNvSpPr/>
          <p:nvPr/>
        </p:nvSpPr>
        <p:spPr>
          <a:xfrm>
            <a:off x="10454183" y="2011680"/>
            <a:ext cx="658368" cy="658368"/>
          </a:xfrm>
          <a:prstGeom prst="ellipse">
            <a:avLst/>
          </a:prstGeom>
          <a:solidFill>
            <a:srgbClr val="60A5FA">
              <a:alpha val="16000"/>
            </a:srgbClr>
          </a:solidFill>
          <a:ln w="12700">
            <a:solidFill>
              <a:srgbClr val="60A5FA">
                <a:alpha val="55000"/>
              </a:srgbClr>
            </a:solidFill>
            <a:prstDash val="solid"/>
          </a:ln>
        </p:spPr>
        <p:txBody>
          <a:bodyPr wrap="square" lIns="164592" tIns="109728" rIns="137160" bIns="91440" rtlCol="0" anchor="t">
            <a:noAutofit/>
          </a:bodyPr>
          <a:lstStyle/>
          <a:p>
            <a:endParaRPr lang="en-US"/>
          </a:p>
        </p:txBody>
      </p:sp>
      <p:pic>
        <p:nvPicPr>
          <p:cNvPr id="134" name="img134"/>
          <p:cNvPicPr>
            <a:picLocks noChangeAspect="1"/>
          </p:cNvPicPr>
          <p:nvPr/>
        </p:nvPicPr>
        <p:blipFill>
          <a:blip r:embed="rId9"/>
          <a:stretch>
            <a:fillRect/>
          </a:stretch>
        </p:blipFill>
        <p:spPr>
          <a:xfrm>
            <a:off x="10612191" y="2169688"/>
            <a:ext cx="342351" cy="342351"/>
          </a:xfrm>
          <a:prstGeom prst="rect">
            <a:avLst/>
          </a:prstGeom>
        </p:spPr>
      </p:pic>
      <p:sp>
        <p:nvSpPr>
          <p:cNvPr id="135" name="s135"/>
          <p:cNvSpPr txBox="1"/>
          <p:nvPr/>
        </p:nvSpPr>
        <p:spPr>
          <a:xfrm>
            <a:off x="9935566" y="2816352"/>
            <a:ext cx="169560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2600" b="1" dirty="0">
                <a:solidFill>
                  <a:srgbClr val="60A5FA"/>
                </a:solidFill>
                <a:latin typeface="Segoe UI"/>
                <a:ea typeface="Segoe UI"/>
                <a:cs typeface="Segoe UI"/>
              </a:rPr>
              <a:t>06</a:t>
            </a:r>
            <a:endParaRPr lang="en-US" sz="2600" dirty="0"/>
          </a:p>
        </p:txBody>
      </p:sp>
      <p:sp>
        <p:nvSpPr>
          <p:cNvPr id="136" name="s136"/>
          <p:cNvSpPr txBox="1"/>
          <p:nvPr/>
        </p:nvSpPr>
        <p:spPr>
          <a:xfrm>
            <a:off x="10027006" y="3401568"/>
            <a:ext cx="1512722"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Real project</a:t>
            </a:r>
            <a:endParaRPr lang="en-US" sz="1400" dirty="0"/>
          </a:p>
        </p:txBody>
      </p:sp>
      <p:sp>
        <p:nvSpPr>
          <p:cNvPr id="137" name="s137"/>
          <p:cNvSpPr txBox="1"/>
          <p:nvPr/>
        </p:nvSpPr>
        <p:spPr>
          <a:xfrm>
            <a:off x="10027006" y="3822192"/>
            <a:ext cx="1512722" cy="8229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0" dirty="0">
                <a:solidFill>
                  <a:srgbClr val="94A3B8"/>
                </a:solidFill>
                <a:latin typeface="Segoe UI"/>
                <a:ea typeface="Segoe UI"/>
                <a:cs typeface="Segoe UI"/>
              </a:rPr>
              <a:t>TDD, coverage, CI,</a:t>
            </a:r>
            <a:endParaRPr lang="en-US" sz="1100" dirty="0"/>
          </a:p>
          <a:p>
            <a:pPr marL="0" indent="0" algn="ctr">
              <a:spcBef>
                <a:spcPts val="0"/>
              </a:spcBef>
              <a:spcAft>
                <a:spcPts val="0"/>
              </a:spcAft>
              <a:buNone/>
            </a:pPr>
            <a:r>
              <a:rPr lang="en-US" sz="1100" b="0" dirty="0">
                <a:solidFill>
                  <a:srgbClr val="94A3B8"/>
                </a:solidFill>
                <a:latin typeface="Segoe UI"/>
                <a:ea typeface="Segoe UI"/>
                <a:cs typeface="Segoe UI"/>
              </a:rPr>
              <a:t>SwiftBite lab</a:t>
            </a:r>
            <a:endParaRPr lang="en-US" sz="1100" dirty="0"/>
          </a:p>
        </p:txBody>
      </p:sp>
      <p:sp>
        <p:nvSpPr>
          <p:cNvPr id="138" name="s138"/>
          <p:cNvSpPr/>
          <p:nvPr/>
        </p:nvSpPr>
        <p:spPr>
          <a:xfrm>
            <a:off x="543154" y="5029200"/>
            <a:ext cx="11088014" cy="566928"/>
          </a:xfrm>
          <a:prstGeom prst="roundRect">
            <a:avLst>
              <a:gd name="adj" fmla="val 12000"/>
            </a:avLst>
          </a:prstGeom>
          <a:solidFill>
            <a:srgbClr val="111B2E"/>
          </a:solidFill>
          <a:ln w="12700">
            <a:solidFill>
              <a:srgbClr val="13D0F7"/>
            </a:solidFill>
            <a:prstDash val="solid"/>
          </a:ln>
        </p:spPr>
        <p:txBody>
          <a:bodyPr wrap="square" lIns="228600" tIns="45720" rIns="228600" bIns="45720" rtlCol="0" anchor="ctr">
            <a:noAutofit/>
          </a:bodyPr>
          <a:lstStyle/>
          <a:p>
            <a:pPr marL="0" indent="0" algn="ctr">
              <a:spcBef>
                <a:spcPts val="0"/>
              </a:spcBef>
              <a:spcAft>
                <a:spcPts val="0"/>
              </a:spcAft>
              <a:buNone/>
            </a:pPr>
            <a:r>
              <a:rPr lang="en-US" sz="1300" b="0" dirty="0">
                <a:solidFill>
                  <a:srgbClr val="E2E8F0"/>
                </a:solidFill>
                <a:latin typeface="Segoe UI"/>
                <a:ea typeface="Segoe UI"/>
                <a:cs typeface="Segoe UI"/>
              </a:rPr>
              <a:t>Rule of this part: </a:t>
            </a:r>
            <a:r>
              <a:rPr lang="en-US" sz="1300" b="1" dirty="0">
                <a:solidFill>
                  <a:srgbClr val="13D0F7"/>
                </a:solidFill>
                <a:latin typeface="Segoe UI"/>
                <a:ea typeface="Segoe UI"/>
                <a:cs typeface="Segoe UI"/>
              </a:rPr>
              <a:t>no new tool before the problem it solves.</a:t>
            </a:r>
            <a:r>
              <a:rPr lang="en-US" sz="1300" b="0" dirty="0">
                <a:solidFill>
                  <a:srgbClr val="E2E8F0"/>
                </a:solidFill>
                <a:latin typeface="Segoe UI"/>
                <a:ea typeface="Segoe UI"/>
                <a:cs typeface="Segoe UI"/>
              </a:rPr>
              <a:t>  Small standalone classes first, the real SwiftBite repository at the end.</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wipe(left)">
                                      <p:cBhvr>
                                        <p:cTn id="7" dur="900"/>
                                        <p:tgtEl>
                                          <p:spTgt spid="101"/>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102"/>
                                        </p:tgtEl>
                                        <p:attrNameLst>
                                          <p:attrName>style.visibility</p:attrName>
                                        </p:attrNameLst>
                                      </p:cBhvr>
                                      <p:to>
                                        <p:strVal val="visible"/>
                                      </p:to>
                                    </p:set>
                                    <p:animEffect transition="in" filter="fade">
                                      <p:cBhvr>
                                        <p:cTn id="12" dur="500"/>
                                        <p:tgtEl>
                                          <p:spTgt spid="102"/>
                                        </p:tgtEl>
                                      </p:cBhvr>
                                    </p:animEffect>
                                    <p:anim calcmode="lin" valueType="num">
                                      <p:cBhvr additive="base">
                                        <p:cTn id="13" dur="500" decel="100000" fill="hold"/>
                                        <p:tgtEl>
                                          <p:spTgt spid="102"/>
                                        </p:tgtEl>
                                        <p:attrNameLst>
                                          <p:attrName>ppt_y</p:attrName>
                                        </p:attrNameLst>
                                      </p:cBhvr>
                                      <p:tavLst>
                                        <p:tav tm="0">
                                          <p:val>
                                            <p:strVal val="#ppt_y+0.06"/>
                                          </p:val>
                                        </p:tav>
                                        <p:tav tm="100000">
                                          <p:val>
                                            <p:strVal val="#ppt_y"/>
                                          </p:val>
                                        </p:tav>
                                      </p:tavLst>
                                    </p:anim>
                                  </p:childTnLst>
                                </p:cTn>
                              </p:par>
                              <p:par>
                                <p:cTn id="14" presetID="42" presetClass="entr" presetSubtype="0" fill="hold" grpId="0" nodeType="withEffect">
                                  <p:stCondLst>
                                    <p:cond delay="0"/>
                                  </p:stCondLst>
                                  <p:childTnLst>
                                    <p:set>
                                      <p:cBhvr>
                                        <p:cTn id="15" dur="1" fill="hold">
                                          <p:stCondLst>
                                            <p:cond delay="0"/>
                                          </p:stCondLst>
                                        </p:cTn>
                                        <p:tgtEl>
                                          <p:spTgt spid="103"/>
                                        </p:tgtEl>
                                        <p:attrNameLst>
                                          <p:attrName>style.visibility</p:attrName>
                                        </p:attrNameLst>
                                      </p:cBhvr>
                                      <p:to>
                                        <p:strVal val="visible"/>
                                      </p:to>
                                    </p:set>
                                    <p:animEffect transition="in" filter="fade">
                                      <p:cBhvr>
                                        <p:cTn id="16" dur="500"/>
                                        <p:tgtEl>
                                          <p:spTgt spid="103"/>
                                        </p:tgtEl>
                                      </p:cBhvr>
                                    </p:animEffect>
                                    <p:anim calcmode="lin" valueType="num">
                                      <p:cBhvr additive="base">
                                        <p:cTn id="17" dur="500" decel="100000" fill="hold"/>
                                        <p:tgtEl>
                                          <p:spTgt spid="103"/>
                                        </p:tgtEl>
                                        <p:attrNameLst>
                                          <p:attrName>ppt_y</p:attrName>
                                        </p:attrNameLst>
                                      </p:cBhvr>
                                      <p:tavLst>
                                        <p:tav tm="0">
                                          <p:val>
                                            <p:strVal val="#ppt_y+0.06"/>
                                          </p:val>
                                        </p:tav>
                                        <p:tav tm="100000">
                                          <p:val>
                                            <p:strVal val="#ppt_y"/>
                                          </p:val>
                                        </p:tav>
                                      </p:tavLst>
                                    </p:anim>
                                  </p:childTnLst>
                                </p:cTn>
                              </p:par>
                              <p:par>
                                <p:cTn id="18" presetID="42" presetClass="entr" presetSubtype="0" fill="hold" nodeType="withEffect">
                                  <p:stCondLst>
                                    <p:cond delay="0"/>
                                  </p:stCondLst>
                                  <p:childTnLst>
                                    <p:set>
                                      <p:cBhvr>
                                        <p:cTn id="19" dur="1" fill="hold">
                                          <p:stCondLst>
                                            <p:cond delay="0"/>
                                          </p:stCondLst>
                                        </p:cTn>
                                        <p:tgtEl>
                                          <p:spTgt spid="104"/>
                                        </p:tgtEl>
                                        <p:attrNameLst>
                                          <p:attrName>style.visibility</p:attrName>
                                        </p:attrNameLst>
                                      </p:cBhvr>
                                      <p:to>
                                        <p:strVal val="visible"/>
                                      </p:to>
                                    </p:set>
                                    <p:animEffect transition="in" filter="fade">
                                      <p:cBhvr>
                                        <p:cTn id="20" dur="500"/>
                                        <p:tgtEl>
                                          <p:spTgt spid="104"/>
                                        </p:tgtEl>
                                      </p:cBhvr>
                                    </p:animEffect>
                                    <p:anim calcmode="lin" valueType="num">
                                      <p:cBhvr additive="base">
                                        <p:cTn id="21" dur="500" decel="100000" fill="hold"/>
                                        <p:tgtEl>
                                          <p:spTgt spid="104"/>
                                        </p:tgtEl>
                                        <p:attrNameLst>
                                          <p:attrName>ppt_y</p:attrName>
                                        </p:attrNameLst>
                                      </p:cBhvr>
                                      <p:tavLst>
                                        <p:tav tm="0">
                                          <p:val>
                                            <p:strVal val="#ppt_y+0.06"/>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105"/>
                                        </p:tgtEl>
                                        <p:attrNameLst>
                                          <p:attrName>style.visibility</p:attrName>
                                        </p:attrNameLst>
                                      </p:cBhvr>
                                      <p:to>
                                        <p:strVal val="visible"/>
                                      </p:to>
                                    </p:set>
                                    <p:animEffect transition="in" filter="fade">
                                      <p:cBhvr>
                                        <p:cTn id="24" dur="500"/>
                                        <p:tgtEl>
                                          <p:spTgt spid="105"/>
                                        </p:tgtEl>
                                      </p:cBhvr>
                                    </p:animEffect>
                                    <p:anim calcmode="lin" valueType="num">
                                      <p:cBhvr additive="base">
                                        <p:cTn id="25" dur="500" decel="100000" fill="hold"/>
                                        <p:tgtEl>
                                          <p:spTgt spid="105"/>
                                        </p:tgtEl>
                                        <p:attrNameLst>
                                          <p:attrName>ppt_y</p:attrName>
                                        </p:attrNameLst>
                                      </p:cBhvr>
                                      <p:tavLst>
                                        <p:tav tm="0">
                                          <p:val>
                                            <p:strVal val="#ppt_y+0.06"/>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106"/>
                                        </p:tgtEl>
                                        <p:attrNameLst>
                                          <p:attrName>style.visibility</p:attrName>
                                        </p:attrNameLst>
                                      </p:cBhvr>
                                      <p:to>
                                        <p:strVal val="visible"/>
                                      </p:to>
                                    </p:set>
                                    <p:animEffect transition="in" filter="fade">
                                      <p:cBhvr>
                                        <p:cTn id="28" dur="500"/>
                                        <p:tgtEl>
                                          <p:spTgt spid="106"/>
                                        </p:tgtEl>
                                      </p:cBhvr>
                                    </p:animEffect>
                                    <p:anim calcmode="lin" valueType="num">
                                      <p:cBhvr additive="base">
                                        <p:cTn id="29" dur="500" decel="100000" fill="hold"/>
                                        <p:tgtEl>
                                          <p:spTgt spid="106"/>
                                        </p:tgtEl>
                                        <p:attrNameLst>
                                          <p:attrName>ppt_y</p:attrName>
                                        </p:attrNameLst>
                                      </p:cBhvr>
                                      <p:tavLst>
                                        <p:tav tm="0">
                                          <p:val>
                                            <p:strVal val="#ppt_y+0.06"/>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107"/>
                                        </p:tgtEl>
                                        <p:attrNameLst>
                                          <p:attrName>style.visibility</p:attrName>
                                        </p:attrNameLst>
                                      </p:cBhvr>
                                      <p:to>
                                        <p:strVal val="visible"/>
                                      </p:to>
                                    </p:set>
                                    <p:animEffect transition="in" filter="fade">
                                      <p:cBhvr>
                                        <p:cTn id="32" dur="500"/>
                                        <p:tgtEl>
                                          <p:spTgt spid="107"/>
                                        </p:tgtEl>
                                      </p:cBhvr>
                                    </p:animEffect>
                                    <p:anim calcmode="lin" valueType="num">
                                      <p:cBhvr additive="base">
                                        <p:cTn id="33" dur="500" decel="100000" fill="hold"/>
                                        <p:tgtEl>
                                          <p:spTgt spid="107"/>
                                        </p:tgtEl>
                                        <p:attrNameLst>
                                          <p:attrName>ppt_y</p:attrName>
                                        </p:attrNameLst>
                                      </p:cBhvr>
                                      <p:tavLst>
                                        <p:tav tm="0">
                                          <p:val>
                                            <p:strVal val="#ppt_y+0.06"/>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grpId="0" nodeType="clickEffect">
                                  <p:stCondLst>
                                    <p:cond delay="0"/>
                                  </p:stCondLst>
                                  <p:childTnLst>
                                    <p:set>
                                      <p:cBhvr>
                                        <p:cTn id="37" dur="1" fill="hold">
                                          <p:stCondLst>
                                            <p:cond delay="0"/>
                                          </p:stCondLst>
                                        </p:cTn>
                                        <p:tgtEl>
                                          <p:spTgt spid="108"/>
                                        </p:tgtEl>
                                        <p:attrNameLst>
                                          <p:attrName>style.visibility</p:attrName>
                                        </p:attrNameLst>
                                      </p:cBhvr>
                                      <p:to>
                                        <p:strVal val="visible"/>
                                      </p:to>
                                    </p:set>
                                    <p:animEffect transition="in" filter="fade">
                                      <p:cBhvr>
                                        <p:cTn id="38" dur="500"/>
                                        <p:tgtEl>
                                          <p:spTgt spid="108"/>
                                        </p:tgtEl>
                                      </p:cBhvr>
                                    </p:animEffect>
                                    <p:anim calcmode="lin" valueType="num">
                                      <p:cBhvr additive="base">
                                        <p:cTn id="39" dur="500" decel="100000" fill="hold"/>
                                        <p:tgtEl>
                                          <p:spTgt spid="108"/>
                                        </p:tgtEl>
                                        <p:attrNameLst>
                                          <p:attrName>ppt_y</p:attrName>
                                        </p:attrNameLst>
                                      </p:cBhvr>
                                      <p:tavLst>
                                        <p:tav tm="0">
                                          <p:val>
                                            <p:strVal val="#ppt_y+0.06"/>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109"/>
                                        </p:tgtEl>
                                        <p:attrNameLst>
                                          <p:attrName>style.visibility</p:attrName>
                                        </p:attrNameLst>
                                      </p:cBhvr>
                                      <p:to>
                                        <p:strVal val="visible"/>
                                      </p:to>
                                    </p:set>
                                    <p:animEffect transition="in" filter="fade">
                                      <p:cBhvr>
                                        <p:cTn id="42" dur="500"/>
                                        <p:tgtEl>
                                          <p:spTgt spid="109"/>
                                        </p:tgtEl>
                                      </p:cBhvr>
                                    </p:animEffect>
                                    <p:anim calcmode="lin" valueType="num">
                                      <p:cBhvr additive="base">
                                        <p:cTn id="43" dur="500" decel="100000" fill="hold"/>
                                        <p:tgtEl>
                                          <p:spTgt spid="109"/>
                                        </p:tgtEl>
                                        <p:attrNameLst>
                                          <p:attrName>ppt_y</p:attrName>
                                        </p:attrNameLst>
                                      </p:cBhvr>
                                      <p:tavLst>
                                        <p:tav tm="0">
                                          <p:val>
                                            <p:strVal val="#ppt_y+0.06"/>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110"/>
                                        </p:tgtEl>
                                        <p:attrNameLst>
                                          <p:attrName>style.visibility</p:attrName>
                                        </p:attrNameLst>
                                      </p:cBhvr>
                                      <p:to>
                                        <p:strVal val="visible"/>
                                      </p:to>
                                    </p:set>
                                    <p:animEffect transition="in" filter="fade">
                                      <p:cBhvr>
                                        <p:cTn id="46" dur="500"/>
                                        <p:tgtEl>
                                          <p:spTgt spid="110"/>
                                        </p:tgtEl>
                                      </p:cBhvr>
                                    </p:animEffect>
                                    <p:anim calcmode="lin" valueType="num">
                                      <p:cBhvr additive="base">
                                        <p:cTn id="47" dur="500" decel="100000" fill="hold"/>
                                        <p:tgtEl>
                                          <p:spTgt spid="110"/>
                                        </p:tgtEl>
                                        <p:attrNameLst>
                                          <p:attrName>ppt_y</p:attrName>
                                        </p:attrNameLst>
                                      </p:cBhvr>
                                      <p:tavLst>
                                        <p:tav tm="0">
                                          <p:val>
                                            <p:strVal val="#ppt_y+0.06"/>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111"/>
                                        </p:tgtEl>
                                        <p:attrNameLst>
                                          <p:attrName>style.visibility</p:attrName>
                                        </p:attrNameLst>
                                      </p:cBhvr>
                                      <p:to>
                                        <p:strVal val="visible"/>
                                      </p:to>
                                    </p:set>
                                    <p:animEffect transition="in" filter="fade">
                                      <p:cBhvr>
                                        <p:cTn id="50" dur="500"/>
                                        <p:tgtEl>
                                          <p:spTgt spid="111"/>
                                        </p:tgtEl>
                                      </p:cBhvr>
                                    </p:animEffect>
                                    <p:anim calcmode="lin" valueType="num">
                                      <p:cBhvr additive="base">
                                        <p:cTn id="51" dur="500" decel="100000" fill="hold"/>
                                        <p:tgtEl>
                                          <p:spTgt spid="111"/>
                                        </p:tgtEl>
                                        <p:attrNameLst>
                                          <p:attrName>ppt_y</p:attrName>
                                        </p:attrNameLst>
                                      </p:cBhvr>
                                      <p:tavLst>
                                        <p:tav tm="0">
                                          <p:val>
                                            <p:strVal val="#ppt_y+0.06"/>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12"/>
                                        </p:tgtEl>
                                        <p:attrNameLst>
                                          <p:attrName>style.visibility</p:attrName>
                                        </p:attrNameLst>
                                      </p:cBhvr>
                                      <p:to>
                                        <p:strVal val="visible"/>
                                      </p:to>
                                    </p:set>
                                    <p:animEffect transition="in" filter="fade">
                                      <p:cBhvr>
                                        <p:cTn id="54" dur="500"/>
                                        <p:tgtEl>
                                          <p:spTgt spid="112"/>
                                        </p:tgtEl>
                                      </p:cBhvr>
                                    </p:animEffect>
                                    <p:anim calcmode="lin" valueType="num">
                                      <p:cBhvr additive="base">
                                        <p:cTn id="55" dur="500" decel="100000" fill="hold"/>
                                        <p:tgtEl>
                                          <p:spTgt spid="112"/>
                                        </p:tgtEl>
                                        <p:attrNameLst>
                                          <p:attrName>ppt_y</p:attrName>
                                        </p:attrNameLst>
                                      </p:cBhvr>
                                      <p:tavLst>
                                        <p:tav tm="0">
                                          <p:val>
                                            <p:strVal val="#ppt_y+0.06"/>
                                          </p:val>
                                        </p:tav>
                                        <p:tav tm="100000">
                                          <p:val>
                                            <p:strVal val="#ppt_y"/>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113"/>
                                        </p:tgtEl>
                                        <p:attrNameLst>
                                          <p:attrName>style.visibility</p:attrName>
                                        </p:attrNameLst>
                                      </p:cBhvr>
                                      <p:to>
                                        <p:strVal val="visible"/>
                                      </p:to>
                                    </p:set>
                                    <p:animEffect transition="in" filter="fade">
                                      <p:cBhvr>
                                        <p:cTn id="58" dur="500"/>
                                        <p:tgtEl>
                                          <p:spTgt spid="113"/>
                                        </p:tgtEl>
                                      </p:cBhvr>
                                    </p:animEffect>
                                    <p:anim calcmode="lin" valueType="num">
                                      <p:cBhvr additive="base">
                                        <p:cTn id="59" dur="500" decel="100000" fill="hold"/>
                                        <p:tgtEl>
                                          <p:spTgt spid="113"/>
                                        </p:tgtEl>
                                        <p:attrNameLst>
                                          <p:attrName>ppt_y</p:attrName>
                                        </p:attrNameLst>
                                      </p:cBhvr>
                                      <p:tavLst>
                                        <p:tav tm="0">
                                          <p:val>
                                            <p:strVal val="#ppt_y+0.06"/>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114"/>
                                        </p:tgtEl>
                                        <p:attrNameLst>
                                          <p:attrName>style.visibility</p:attrName>
                                        </p:attrNameLst>
                                      </p:cBhvr>
                                      <p:to>
                                        <p:strVal val="visible"/>
                                      </p:to>
                                    </p:set>
                                    <p:animEffect transition="in" filter="fade">
                                      <p:cBhvr>
                                        <p:cTn id="64" dur="500"/>
                                        <p:tgtEl>
                                          <p:spTgt spid="114"/>
                                        </p:tgtEl>
                                      </p:cBhvr>
                                    </p:animEffect>
                                    <p:anim calcmode="lin" valueType="num">
                                      <p:cBhvr additive="base">
                                        <p:cTn id="65" dur="500" decel="100000" fill="hold"/>
                                        <p:tgtEl>
                                          <p:spTgt spid="114"/>
                                        </p:tgtEl>
                                        <p:attrNameLst>
                                          <p:attrName>ppt_y</p:attrName>
                                        </p:attrNameLst>
                                      </p:cBhvr>
                                      <p:tavLst>
                                        <p:tav tm="0">
                                          <p:val>
                                            <p:strVal val="#ppt_y+0.06"/>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115"/>
                                        </p:tgtEl>
                                        <p:attrNameLst>
                                          <p:attrName>style.visibility</p:attrName>
                                        </p:attrNameLst>
                                      </p:cBhvr>
                                      <p:to>
                                        <p:strVal val="visible"/>
                                      </p:to>
                                    </p:set>
                                    <p:animEffect transition="in" filter="fade">
                                      <p:cBhvr>
                                        <p:cTn id="68" dur="500"/>
                                        <p:tgtEl>
                                          <p:spTgt spid="115"/>
                                        </p:tgtEl>
                                      </p:cBhvr>
                                    </p:animEffect>
                                    <p:anim calcmode="lin" valueType="num">
                                      <p:cBhvr additive="base">
                                        <p:cTn id="69" dur="500" decel="100000" fill="hold"/>
                                        <p:tgtEl>
                                          <p:spTgt spid="115"/>
                                        </p:tgtEl>
                                        <p:attrNameLst>
                                          <p:attrName>ppt_y</p:attrName>
                                        </p:attrNameLst>
                                      </p:cBhvr>
                                      <p:tavLst>
                                        <p:tav tm="0">
                                          <p:val>
                                            <p:strVal val="#ppt_y+0.06"/>
                                          </p:val>
                                        </p:tav>
                                        <p:tav tm="100000">
                                          <p:val>
                                            <p:strVal val="#ppt_y"/>
                                          </p:val>
                                        </p:tav>
                                      </p:tavLst>
                                    </p:anim>
                                  </p:childTnLst>
                                </p:cTn>
                              </p:par>
                              <p:par>
                                <p:cTn id="70" presetID="42" presetClass="entr" presetSubtype="0" fill="hold" nodeType="withEffect">
                                  <p:stCondLst>
                                    <p:cond delay="0"/>
                                  </p:stCondLst>
                                  <p:childTnLst>
                                    <p:set>
                                      <p:cBhvr>
                                        <p:cTn id="71" dur="1" fill="hold">
                                          <p:stCondLst>
                                            <p:cond delay="0"/>
                                          </p:stCondLst>
                                        </p:cTn>
                                        <p:tgtEl>
                                          <p:spTgt spid="116"/>
                                        </p:tgtEl>
                                        <p:attrNameLst>
                                          <p:attrName>style.visibility</p:attrName>
                                        </p:attrNameLst>
                                      </p:cBhvr>
                                      <p:to>
                                        <p:strVal val="visible"/>
                                      </p:to>
                                    </p:set>
                                    <p:animEffect transition="in" filter="fade">
                                      <p:cBhvr>
                                        <p:cTn id="72" dur="500"/>
                                        <p:tgtEl>
                                          <p:spTgt spid="116"/>
                                        </p:tgtEl>
                                      </p:cBhvr>
                                    </p:animEffect>
                                    <p:anim calcmode="lin" valueType="num">
                                      <p:cBhvr additive="base">
                                        <p:cTn id="73" dur="500" decel="100000" fill="hold"/>
                                        <p:tgtEl>
                                          <p:spTgt spid="116"/>
                                        </p:tgtEl>
                                        <p:attrNameLst>
                                          <p:attrName>ppt_y</p:attrName>
                                        </p:attrNameLst>
                                      </p:cBhvr>
                                      <p:tavLst>
                                        <p:tav tm="0">
                                          <p:val>
                                            <p:strVal val="#ppt_y+0.06"/>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117"/>
                                        </p:tgtEl>
                                        <p:attrNameLst>
                                          <p:attrName>style.visibility</p:attrName>
                                        </p:attrNameLst>
                                      </p:cBhvr>
                                      <p:to>
                                        <p:strVal val="visible"/>
                                      </p:to>
                                    </p:set>
                                    <p:animEffect transition="in" filter="fade">
                                      <p:cBhvr>
                                        <p:cTn id="76" dur="500"/>
                                        <p:tgtEl>
                                          <p:spTgt spid="117"/>
                                        </p:tgtEl>
                                      </p:cBhvr>
                                    </p:animEffect>
                                    <p:anim calcmode="lin" valueType="num">
                                      <p:cBhvr additive="base">
                                        <p:cTn id="77" dur="500" decel="100000" fill="hold"/>
                                        <p:tgtEl>
                                          <p:spTgt spid="117"/>
                                        </p:tgtEl>
                                        <p:attrNameLst>
                                          <p:attrName>ppt_y</p:attrName>
                                        </p:attrNameLst>
                                      </p:cBhvr>
                                      <p:tavLst>
                                        <p:tav tm="0">
                                          <p:val>
                                            <p:strVal val="#ppt_y+0.06"/>
                                          </p:val>
                                        </p:tav>
                                        <p:tav tm="100000">
                                          <p:val>
                                            <p:strVal val="#ppt_y"/>
                                          </p:val>
                                        </p:tav>
                                      </p:tavLst>
                                    </p:anim>
                                  </p:childTnLst>
                                </p:cTn>
                              </p:par>
                              <p:par>
                                <p:cTn id="78" presetID="42" presetClass="entr" presetSubtype="0" fill="hold" grpId="0" nodeType="withEffect">
                                  <p:stCondLst>
                                    <p:cond delay="0"/>
                                  </p:stCondLst>
                                  <p:childTnLst>
                                    <p:set>
                                      <p:cBhvr>
                                        <p:cTn id="79" dur="1" fill="hold">
                                          <p:stCondLst>
                                            <p:cond delay="0"/>
                                          </p:stCondLst>
                                        </p:cTn>
                                        <p:tgtEl>
                                          <p:spTgt spid="118"/>
                                        </p:tgtEl>
                                        <p:attrNameLst>
                                          <p:attrName>style.visibility</p:attrName>
                                        </p:attrNameLst>
                                      </p:cBhvr>
                                      <p:to>
                                        <p:strVal val="visible"/>
                                      </p:to>
                                    </p:set>
                                    <p:animEffect transition="in" filter="fade">
                                      <p:cBhvr>
                                        <p:cTn id="80" dur="500"/>
                                        <p:tgtEl>
                                          <p:spTgt spid="118"/>
                                        </p:tgtEl>
                                      </p:cBhvr>
                                    </p:animEffect>
                                    <p:anim calcmode="lin" valueType="num">
                                      <p:cBhvr additive="base">
                                        <p:cTn id="81" dur="500" decel="100000" fill="hold"/>
                                        <p:tgtEl>
                                          <p:spTgt spid="118"/>
                                        </p:tgtEl>
                                        <p:attrNameLst>
                                          <p:attrName>ppt_y</p:attrName>
                                        </p:attrNameLst>
                                      </p:cBhvr>
                                      <p:tavLst>
                                        <p:tav tm="0">
                                          <p:val>
                                            <p:strVal val="#ppt_y+0.06"/>
                                          </p:val>
                                        </p:tav>
                                        <p:tav tm="100000">
                                          <p:val>
                                            <p:strVal val="#ppt_y"/>
                                          </p:val>
                                        </p:tav>
                                      </p:tavLst>
                                    </p:anim>
                                  </p:childTnLst>
                                </p:cTn>
                              </p:par>
                              <p:par>
                                <p:cTn id="82" presetID="42" presetClass="entr" presetSubtype="0" fill="hold" grpId="0" nodeType="withEffect">
                                  <p:stCondLst>
                                    <p:cond delay="0"/>
                                  </p:stCondLst>
                                  <p:childTnLst>
                                    <p:set>
                                      <p:cBhvr>
                                        <p:cTn id="83" dur="1" fill="hold">
                                          <p:stCondLst>
                                            <p:cond delay="0"/>
                                          </p:stCondLst>
                                        </p:cTn>
                                        <p:tgtEl>
                                          <p:spTgt spid="119"/>
                                        </p:tgtEl>
                                        <p:attrNameLst>
                                          <p:attrName>style.visibility</p:attrName>
                                        </p:attrNameLst>
                                      </p:cBhvr>
                                      <p:to>
                                        <p:strVal val="visible"/>
                                      </p:to>
                                    </p:set>
                                    <p:animEffect transition="in" filter="fade">
                                      <p:cBhvr>
                                        <p:cTn id="84" dur="500"/>
                                        <p:tgtEl>
                                          <p:spTgt spid="119"/>
                                        </p:tgtEl>
                                      </p:cBhvr>
                                    </p:animEffect>
                                    <p:anim calcmode="lin" valueType="num">
                                      <p:cBhvr additive="base">
                                        <p:cTn id="85" dur="5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par>
                    <p:cTn id="86" fill="hold">
                      <p:stCondLst>
                        <p:cond delay="indefinite"/>
                      </p:stCondLst>
                      <p:childTnLst>
                        <p:par>
                          <p:cTn id="87" fill="hold">
                            <p:stCondLst>
                              <p:cond delay="0"/>
                            </p:stCondLst>
                            <p:childTnLst>
                              <p:par>
                                <p:cTn id="88" presetID="42" presetClass="entr" presetSubtype="0" fill="hold" grpId="0" nodeType="clickEffect">
                                  <p:stCondLst>
                                    <p:cond delay="0"/>
                                  </p:stCondLst>
                                  <p:childTnLst>
                                    <p:set>
                                      <p:cBhvr>
                                        <p:cTn id="89" dur="1" fill="hold">
                                          <p:stCondLst>
                                            <p:cond delay="0"/>
                                          </p:stCondLst>
                                        </p:cTn>
                                        <p:tgtEl>
                                          <p:spTgt spid="120"/>
                                        </p:tgtEl>
                                        <p:attrNameLst>
                                          <p:attrName>style.visibility</p:attrName>
                                        </p:attrNameLst>
                                      </p:cBhvr>
                                      <p:to>
                                        <p:strVal val="visible"/>
                                      </p:to>
                                    </p:set>
                                    <p:animEffect transition="in" filter="fade">
                                      <p:cBhvr>
                                        <p:cTn id="90" dur="500"/>
                                        <p:tgtEl>
                                          <p:spTgt spid="120"/>
                                        </p:tgtEl>
                                      </p:cBhvr>
                                    </p:animEffect>
                                    <p:anim calcmode="lin" valueType="num">
                                      <p:cBhvr additive="base">
                                        <p:cTn id="91" dur="500" decel="100000" fill="hold"/>
                                        <p:tgtEl>
                                          <p:spTgt spid="120"/>
                                        </p:tgtEl>
                                        <p:attrNameLst>
                                          <p:attrName>ppt_y</p:attrName>
                                        </p:attrNameLst>
                                      </p:cBhvr>
                                      <p:tavLst>
                                        <p:tav tm="0">
                                          <p:val>
                                            <p:strVal val="#ppt_y+0.06"/>
                                          </p:val>
                                        </p:tav>
                                        <p:tav tm="100000">
                                          <p:val>
                                            <p:strVal val="#ppt_y"/>
                                          </p:val>
                                        </p:tav>
                                      </p:tavLst>
                                    </p:anim>
                                  </p:childTnLst>
                                </p:cTn>
                              </p:par>
                              <p:par>
                                <p:cTn id="92" presetID="42" presetClass="entr" presetSubtype="0" fill="hold" grpId="0" nodeType="withEffect">
                                  <p:stCondLst>
                                    <p:cond delay="0"/>
                                  </p:stCondLst>
                                  <p:childTnLst>
                                    <p:set>
                                      <p:cBhvr>
                                        <p:cTn id="93" dur="1" fill="hold">
                                          <p:stCondLst>
                                            <p:cond delay="0"/>
                                          </p:stCondLst>
                                        </p:cTn>
                                        <p:tgtEl>
                                          <p:spTgt spid="121"/>
                                        </p:tgtEl>
                                        <p:attrNameLst>
                                          <p:attrName>style.visibility</p:attrName>
                                        </p:attrNameLst>
                                      </p:cBhvr>
                                      <p:to>
                                        <p:strVal val="visible"/>
                                      </p:to>
                                    </p:set>
                                    <p:animEffect transition="in" filter="fade">
                                      <p:cBhvr>
                                        <p:cTn id="94" dur="500"/>
                                        <p:tgtEl>
                                          <p:spTgt spid="121"/>
                                        </p:tgtEl>
                                      </p:cBhvr>
                                    </p:animEffect>
                                    <p:anim calcmode="lin" valueType="num">
                                      <p:cBhvr additive="base">
                                        <p:cTn id="95" dur="500" decel="100000" fill="hold"/>
                                        <p:tgtEl>
                                          <p:spTgt spid="121"/>
                                        </p:tgtEl>
                                        <p:attrNameLst>
                                          <p:attrName>ppt_y</p:attrName>
                                        </p:attrNameLst>
                                      </p:cBhvr>
                                      <p:tavLst>
                                        <p:tav tm="0">
                                          <p:val>
                                            <p:strVal val="#ppt_y+0.06"/>
                                          </p:val>
                                        </p:tav>
                                        <p:tav tm="100000">
                                          <p:val>
                                            <p:strVal val="#ppt_y"/>
                                          </p:val>
                                        </p:tav>
                                      </p:tavLst>
                                    </p:anim>
                                  </p:childTnLst>
                                </p:cTn>
                              </p:par>
                              <p:par>
                                <p:cTn id="96" presetID="42" presetClass="entr" presetSubtype="0" fill="hold" nodeType="withEffect">
                                  <p:stCondLst>
                                    <p:cond delay="0"/>
                                  </p:stCondLst>
                                  <p:childTnLst>
                                    <p:set>
                                      <p:cBhvr>
                                        <p:cTn id="97" dur="1" fill="hold">
                                          <p:stCondLst>
                                            <p:cond delay="0"/>
                                          </p:stCondLst>
                                        </p:cTn>
                                        <p:tgtEl>
                                          <p:spTgt spid="122"/>
                                        </p:tgtEl>
                                        <p:attrNameLst>
                                          <p:attrName>style.visibility</p:attrName>
                                        </p:attrNameLst>
                                      </p:cBhvr>
                                      <p:to>
                                        <p:strVal val="visible"/>
                                      </p:to>
                                    </p:set>
                                    <p:animEffect transition="in" filter="fade">
                                      <p:cBhvr>
                                        <p:cTn id="98" dur="500"/>
                                        <p:tgtEl>
                                          <p:spTgt spid="122"/>
                                        </p:tgtEl>
                                      </p:cBhvr>
                                    </p:animEffect>
                                    <p:anim calcmode="lin" valueType="num">
                                      <p:cBhvr additive="base">
                                        <p:cTn id="99" dur="500" decel="100000" fill="hold"/>
                                        <p:tgtEl>
                                          <p:spTgt spid="122"/>
                                        </p:tgtEl>
                                        <p:attrNameLst>
                                          <p:attrName>ppt_y</p:attrName>
                                        </p:attrNameLst>
                                      </p:cBhvr>
                                      <p:tavLst>
                                        <p:tav tm="0">
                                          <p:val>
                                            <p:strVal val="#ppt_y+0.06"/>
                                          </p:val>
                                        </p:tav>
                                        <p:tav tm="100000">
                                          <p:val>
                                            <p:strVal val="#ppt_y"/>
                                          </p:val>
                                        </p:tav>
                                      </p:tavLst>
                                    </p:anim>
                                  </p:childTnLst>
                                </p:cTn>
                              </p:par>
                              <p:par>
                                <p:cTn id="100" presetID="42" presetClass="entr" presetSubtype="0" fill="hold" grpId="0" nodeType="withEffect">
                                  <p:stCondLst>
                                    <p:cond delay="0"/>
                                  </p:stCondLst>
                                  <p:childTnLst>
                                    <p:set>
                                      <p:cBhvr>
                                        <p:cTn id="101" dur="1" fill="hold">
                                          <p:stCondLst>
                                            <p:cond delay="0"/>
                                          </p:stCondLst>
                                        </p:cTn>
                                        <p:tgtEl>
                                          <p:spTgt spid="123"/>
                                        </p:tgtEl>
                                        <p:attrNameLst>
                                          <p:attrName>style.visibility</p:attrName>
                                        </p:attrNameLst>
                                      </p:cBhvr>
                                      <p:to>
                                        <p:strVal val="visible"/>
                                      </p:to>
                                    </p:set>
                                    <p:animEffect transition="in" filter="fade">
                                      <p:cBhvr>
                                        <p:cTn id="102" dur="500"/>
                                        <p:tgtEl>
                                          <p:spTgt spid="123"/>
                                        </p:tgtEl>
                                      </p:cBhvr>
                                    </p:animEffect>
                                    <p:anim calcmode="lin" valueType="num">
                                      <p:cBhvr additive="base">
                                        <p:cTn id="103" dur="500" decel="100000" fill="hold"/>
                                        <p:tgtEl>
                                          <p:spTgt spid="123"/>
                                        </p:tgtEl>
                                        <p:attrNameLst>
                                          <p:attrName>ppt_y</p:attrName>
                                        </p:attrNameLst>
                                      </p:cBhvr>
                                      <p:tavLst>
                                        <p:tav tm="0">
                                          <p:val>
                                            <p:strVal val="#ppt_y+0.06"/>
                                          </p:val>
                                        </p:tav>
                                        <p:tav tm="100000">
                                          <p:val>
                                            <p:strVal val="#ppt_y"/>
                                          </p:val>
                                        </p:tav>
                                      </p:tavLst>
                                    </p:anim>
                                  </p:childTnLst>
                                </p:cTn>
                              </p:par>
                              <p:par>
                                <p:cTn id="104" presetID="42" presetClass="entr" presetSubtype="0" fill="hold" grpId="0" nodeType="withEffect">
                                  <p:stCondLst>
                                    <p:cond delay="0"/>
                                  </p:stCondLst>
                                  <p:childTnLst>
                                    <p:set>
                                      <p:cBhvr>
                                        <p:cTn id="105" dur="1" fill="hold">
                                          <p:stCondLst>
                                            <p:cond delay="0"/>
                                          </p:stCondLst>
                                        </p:cTn>
                                        <p:tgtEl>
                                          <p:spTgt spid="124"/>
                                        </p:tgtEl>
                                        <p:attrNameLst>
                                          <p:attrName>style.visibility</p:attrName>
                                        </p:attrNameLst>
                                      </p:cBhvr>
                                      <p:to>
                                        <p:strVal val="visible"/>
                                      </p:to>
                                    </p:set>
                                    <p:animEffect transition="in" filter="fade">
                                      <p:cBhvr>
                                        <p:cTn id="106" dur="500"/>
                                        <p:tgtEl>
                                          <p:spTgt spid="124"/>
                                        </p:tgtEl>
                                      </p:cBhvr>
                                    </p:animEffect>
                                    <p:anim calcmode="lin" valueType="num">
                                      <p:cBhvr additive="base">
                                        <p:cTn id="107" dur="500" decel="100000" fill="hold"/>
                                        <p:tgtEl>
                                          <p:spTgt spid="124"/>
                                        </p:tgtEl>
                                        <p:attrNameLst>
                                          <p:attrName>ppt_y</p:attrName>
                                        </p:attrNameLst>
                                      </p:cBhvr>
                                      <p:tavLst>
                                        <p:tav tm="0">
                                          <p:val>
                                            <p:strVal val="#ppt_y+0.06"/>
                                          </p:val>
                                        </p:tav>
                                        <p:tav tm="100000">
                                          <p:val>
                                            <p:strVal val="#ppt_y"/>
                                          </p:val>
                                        </p:tav>
                                      </p:tavLst>
                                    </p:anim>
                                  </p:childTnLst>
                                </p:cTn>
                              </p:par>
                              <p:par>
                                <p:cTn id="108" presetID="42" presetClass="entr" presetSubtype="0" fill="hold" grpId="0" nodeType="withEffect">
                                  <p:stCondLst>
                                    <p:cond delay="0"/>
                                  </p:stCondLst>
                                  <p:childTnLst>
                                    <p:set>
                                      <p:cBhvr>
                                        <p:cTn id="109" dur="1" fill="hold">
                                          <p:stCondLst>
                                            <p:cond delay="0"/>
                                          </p:stCondLst>
                                        </p:cTn>
                                        <p:tgtEl>
                                          <p:spTgt spid="125"/>
                                        </p:tgtEl>
                                        <p:attrNameLst>
                                          <p:attrName>style.visibility</p:attrName>
                                        </p:attrNameLst>
                                      </p:cBhvr>
                                      <p:to>
                                        <p:strVal val="visible"/>
                                      </p:to>
                                    </p:set>
                                    <p:animEffect transition="in" filter="fade">
                                      <p:cBhvr>
                                        <p:cTn id="110" dur="500"/>
                                        <p:tgtEl>
                                          <p:spTgt spid="125"/>
                                        </p:tgtEl>
                                      </p:cBhvr>
                                    </p:animEffect>
                                    <p:anim calcmode="lin" valueType="num">
                                      <p:cBhvr additive="base">
                                        <p:cTn id="111" dur="500" decel="100000" fill="hold"/>
                                        <p:tgtEl>
                                          <p:spTgt spid="125"/>
                                        </p:tgtEl>
                                        <p:attrNameLst>
                                          <p:attrName>ppt_y</p:attrName>
                                        </p:attrNameLst>
                                      </p:cBhvr>
                                      <p:tavLst>
                                        <p:tav tm="0">
                                          <p:val>
                                            <p:strVal val="#ppt_y+0.06"/>
                                          </p:val>
                                        </p:tav>
                                        <p:tav tm="100000">
                                          <p:val>
                                            <p:strVal val="#ppt_y"/>
                                          </p:val>
                                        </p:tav>
                                      </p:tavLst>
                                    </p:anim>
                                  </p:childTnLst>
                                </p:cTn>
                              </p:par>
                            </p:childTnLst>
                          </p:cTn>
                        </p:par>
                      </p:childTnLst>
                    </p:cTn>
                  </p:par>
                  <p:par>
                    <p:cTn id="112" fill="hold">
                      <p:stCondLst>
                        <p:cond delay="indefinite"/>
                      </p:stCondLst>
                      <p:childTnLst>
                        <p:par>
                          <p:cTn id="113" fill="hold">
                            <p:stCondLst>
                              <p:cond delay="0"/>
                            </p:stCondLst>
                            <p:childTnLst>
                              <p:par>
                                <p:cTn id="114" presetID="42" presetClass="entr" presetSubtype="0" fill="hold" grpId="0" nodeType="clickEffect">
                                  <p:stCondLst>
                                    <p:cond delay="0"/>
                                  </p:stCondLst>
                                  <p:childTnLst>
                                    <p:set>
                                      <p:cBhvr>
                                        <p:cTn id="115" dur="1" fill="hold">
                                          <p:stCondLst>
                                            <p:cond delay="0"/>
                                          </p:stCondLst>
                                        </p:cTn>
                                        <p:tgtEl>
                                          <p:spTgt spid="126"/>
                                        </p:tgtEl>
                                        <p:attrNameLst>
                                          <p:attrName>style.visibility</p:attrName>
                                        </p:attrNameLst>
                                      </p:cBhvr>
                                      <p:to>
                                        <p:strVal val="visible"/>
                                      </p:to>
                                    </p:set>
                                    <p:animEffect transition="in" filter="fade">
                                      <p:cBhvr>
                                        <p:cTn id="116" dur="500"/>
                                        <p:tgtEl>
                                          <p:spTgt spid="126"/>
                                        </p:tgtEl>
                                      </p:cBhvr>
                                    </p:animEffect>
                                    <p:anim calcmode="lin" valueType="num">
                                      <p:cBhvr additive="base">
                                        <p:cTn id="117" dur="500" decel="100000" fill="hold"/>
                                        <p:tgtEl>
                                          <p:spTgt spid="126"/>
                                        </p:tgtEl>
                                        <p:attrNameLst>
                                          <p:attrName>ppt_y</p:attrName>
                                        </p:attrNameLst>
                                      </p:cBhvr>
                                      <p:tavLst>
                                        <p:tav tm="0">
                                          <p:val>
                                            <p:strVal val="#ppt_y+0.06"/>
                                          </p:val>
                                        </p:tav>
                                        <p:tav tm="100000">
                                          <p:val>
                                            <p:strVal val="#ppt_y"/>
                                          </p:val>
                                        </p:tav>
                                      </p:tavLst>
                                    </p:anim>
                                  </p:childTnLst>
                                </p:cTn>
                              </p:par>
                              <p:par>
                                <p:cTn id="118" presetID="42" presetClass="entr" presetSubtype="0" fill="hold" grpId="0" nodeType="withEffect">
                                  <p:stCondLst>
                                    <p:cond delay="0"/>
                                  </p:stCondLst>
                                  <p:childTnLst>
                                    <p:set>
                                      <p:cBhvr>
                                        <p:cTn id="119" dur="1" fill="hold">
                                          <p:stCondLst>
                                            <p:cond delay="0"/>
                                          </p:stCondLst>
                                        </p:cTn>
                                        <p:tgtEl>
                                          <p:spTgt spid="127"/>
                                        </p:tgtEl>
                                        <p:attrNameLst>
                                          <p:attrName>style.visibility</p:attrName>
                                        </p:attrNameLst>
                                      </p:cBhvr>
                                      <p:to>
                                        <p:strVal val="visible"/>
                                      </p:to>
                                    </p:set>
                                    <p:animEffect transition="in" filter="fade">
                                      <p:cBhvr>
                                        <p:cTn id="120" dur="500"/>
                                        <p:tgtEl>
                                          <p:spTgt spid="127"/>
                                        </p:tgtEl>
                                      </p:cBhvr>
                                    </p:animEffect>
                                    <p:anim calcmode="lin" valueType="num">
                                      <p:cBhvr additive="base">
                                        <p:cTn id="121" dur="500" decel="100000" fill="hold"/>
                                        <p:tgtEl>
                                          <p:spTgt spid="127"/>
                                        </p:tgtEl>
                                        <p:attrNameLst>
                                          <p:attrName>ppt_y</p:attrName>
                                        </p:attrNameLst>
                                      </p:cBhvr>
                                      <p:tavLst>
                                        <p:tav tm="0">
                                          <p:val>
                                            <p:strVal val="#ppt_y+0.06"/>
                                          </p:val>
                                        </p:tav>
                                        <p:tav tm="100000">
                                          <p:val>
                                            <p:strVal val="#ppt_y"/>
                                          </p:val>
                                        </p:tav>
                                      </p:tavLst>
                                    </p:anim>
                                  </p:childTnLst>
                                </p:cTn>
                              </p:par>
                              <p:par>
                                <p:cTn id="122" presetID="42" presetClass="entr" presetSubtype="0" fill="hold" nodeType="withEffect">
                                  <p:stCondLst>
                                    <p:cond delay="0"/>
                                  </p:stCondLst>
                                  <p:childTnLst>
                                    <p:set>
                                      <p:cBhvr>
                                        <p:cTn id="123" dur="1" fill="hold">
                                          <p:stCondLst>
                                            <p:cond delay="0"/>
                                          </p:stCondLst>
                                        </p:cTn>
                                        <p:tgtEl>
                                          <p:spTgt spid="128"/>
                                        </p:tgtEl>
                                        <p:attrNameLst>
                                          <p:attrName>style.visibility</p:attrName>
                                        </p:attrNameLst>
                                      </p:cBhvr>
                                      <p:to>
                                        <p:strVal val="visible"/>
                                      </p:to>
                                    </p:set>
                                    <p:animEffect transition="in" filter="fade">
                                      <p:cBhvr>
                                        <p:cTn id="124" dur="500"/>
                                        <p:tgtEl>
                                          <p:spTgt spid="128"/>
                                        </p:tgtEl>
                                      </p:cBhvr>
                                    </p:animEffect>
                                    <p:anim calcmode="lin" valueType="num">
                                      <p:cBhvr additive="base">
                                        <p:cTn id="125" dur="500" decel="100000" fill="hold"/>
                                        <p:tgtEl>
                                          <p:spTgt spid="128"/>
                                        </p:tgtEl>
                                        <p:attrNameLst>
                                          <p:attrName>ppt_y</p:attrName>
                                        </p:attrNameLst>
                                      </p:cBhvr>
                                      <p:tavLst>
                                        <p:tav tm="0">
                                          <p:val>
                                            <p:strVal val="#ppt_y+0.06"/>
                                          </p:val>
                                        </p:tav>
                                        <p:tav tm="100000">
                                          <p:val>
                                            <p:strVal val="#ppt_y"/>
                                          </p:val>
                                        </p:tav>
                                      </p:tavLst>
                                    </p:anim>
                                  </p:childTnLst>
                                </p:cTn>
                              </p:par>
                              <p:par>
                                <p:cTn id="126" presetID="42" presetClass="entr" presetSubtype="0" fill="hold" grpId="0" nodeType="withEffect">
                                  <p:stCondLst>
                                    <p:cond delay="0"/>
                                  </p:stCondLst>
                                  <p:childTnLst>
                                    <p:set>
                                      <p:cBhvr>
                                        <p:cTn id="127" dur="1" fill="hold">
                                          <p:stCondLst>
                                            <p:cond delay="0"/>
                                          </p:stCondLst>
                                        </p:cTn>
                                        <p:tgtEl>
                                          <p:spTgt spid="129"/>
                                        </p:tgtEl>
                                        <p:attrNameLst>
                                          <p:attrName>style.visibility</p:attrName>
                                        </p:attrNameLst>
                                      </p:cBhvr>
                                      <p:to>
                                        <p:strVal val="visible"/>
                                      </p:to>
                                    </p:set>
                                    <p:animEffect transition="in" filter="fade">
                                      <p:cBhvr>
                                        <p:cTn id="128" dur="500"/>
                                        <p:tgtEl>
                                          <p:spTgt spid="129"/>
                                        </p:tgtEl>
                                      </p:cBhvr>
                                    </p:animEffect>
                                    <p:anim calcmode="lin" valueType="num">
                                      <p:cBhvr additive="base">
                                        <p:cTn id="129" dur="500" decel="100000" fill="hold"/>
                                        <p:tgtEl>
                                          <p:spTgt spid="129"/>
                                        </p:tgtEl>
                                        <p:attrNameLst>
                                          <p:attrName>ppt_y</p:attrName>
                                        </p:attrNameLst>
                                      </p:cBhvr>
                                      <p:tavLst>
                                        <p:tav tm="0">
                                          <p:val>
                                            <p:strVal val="#ppt_y+0.06"/>
                                          </p:val>
                                        </p:tav>
                                        <p:tav tm="100000">
                                          <p:val>
                                            <p:strVal val="#ppt_y"/>
                                          </p:val>
                                        </p:tav>
                                      </p:tavLst>
                                    </p:anim>
                                  </p:childTnLst>
                                </p:cTn>
                              </p:par>
                              <p:par>
                                <p:cTn id="130" presetID="42" presetClass="entr" presetSubtype="0" fill="hold" grpId="0" nodeType="withEffect">
                                  <p:stCondLst>
                                    <p:cond delay="0"/>
                                  </p:stCondLst>
                                  <p:childTnLst>
                                    <p:set>
                                      <p:cBhvr>
                                        <p:cTn id="131" dur="1" fill="hold">
                                          <p:stCondLst>
                                            <p:cond delay="0"/>
                                          </p:stCondLst>
                                        </p:cTn>
                                        <p:tgtEl>
                                          <p:spTgt spid="130"/>
                                        </p:tgtEl>
                                        <p:attrNameLst>
                                          <p:attrName>style.visibility</p:attrName>
                                        </p:attrNameLst>
                                      </p:cBhvr>
                                      <p:to>
                                        <p:strVal val="visible"/>
                                      </p:to>
                                    </p:set>
                                    <p:animEffect transition="in" filter="fade">
                                      <p:cBhvr>
                                        <p:cTn id="132" dur="500"/>
                                        <p:tgtEl>
                                          <p:spTgt spid="130"/>
                                        </p:tgtEl>
                                      </p:cBhvr>
                                    </p:animEffect>
                                    <p:anim calcmode="lin" valueType="num">
                                      <p:cBhvr additive="base">
                                        <p:cTn id="133" dur="500" decel="100000" fill="hold"/>
                                        <p:tgtEl>
                                          <p:spTgt spid="130"/>
                                        </p:tgtEl>
                                        <p:attrNameLst>
                                          <p:attrName>ppt_y</p:attrName>
                                        </p:attrNameLst>
                                      </p:cBhvr>
                                      <p:tavLst>
                                        <p:tav tm="0">
                                          <p:val>
                                            <p:strVal val="#ppt_y+0.06"/>
                                          </p:val>
                                        </p:tav>
                                        <p:tav tm="100000">
                                          <p:val>
                                            <p:strVal val="#ppt_y"/>
                                          </p:val>
                                        </p:tav>
                                      </p:tavLst>
                                    </p:anim>
                                  </p:childTnLst>
                                </p:cTn>
                              </p:par>
                              <p:par>
                                <p:cTn id="134" presetID="42" presetClass="entr" presetSubtype="0" fill="hold" grpId="0" nodeType="withEffect">
                                  <p:stCondLst>
                                    <p:cond delay="0"/>
                                  </p:stCondLst>
                                  <p:childTnLst>
                                    <p:set>
                                      <p:cBhvr>
                                        <p:cTn id="135" dur="1" fill="hold">
                                          <p:stCondLst>
                                            <p:cond delay="0"/>
                                          </p:stCondLst>
                                        </p:cTn>
                                        <p:tgtEl>
                                          <p:spTgt spid="131"/>
                                        </p:tgtEl>
                                        <p:attrNameLst>
                                          <p:attrName>style.visibility</p:attrName>
                                        </p:attrNameLst>
                                      </p:cBhvr>
                                      <p:to>
                                        <p:strVal val="visible"/>
                                      </p:to>
                                    </p:set>
                                    <p:animEffect transition="in" filter="fade">
                                      <p:cBhvr>
                                        <p:cTn id="136" dur="500"/>
                                        <p:tgtEl>
                                          <p:spTgt spid="131"/>
                                        </p:tgtEl>
                                      </p:cBhvr>
                                    </p:animEffect>
                                    <p:anim calcmode="lin" valueType="num">
                                      <p:cBhvr additive="base">
                                        <p:cTn id="137" dur="500" decel="100000" fill="hold"/>
                                        <p:tgtEl>
                                          <p:spTgt spid="131"/>
                                        </p:tgtEl>
                                        <p:attrNameLst>
                                          <p:attrName>ppt_y</p:attrName>
                                        </p:attrNameLst>
                                      </p:cBhvr>
                                      <p:tavLst>
                                        <p:tav tm="0">
                                          <p:val>
                                            <p:strVal val="#ppt_y+0.06"/>
                                          </p:val>
                                        </p:tav>
                                        <p:tav tm="100000">
                                          <p:val>
                                            <p:strVal val="#ppt_y"/>
                                          </p:val>
                                        </p:tav>
                                      </p:tavLst>
                                    </p:anim>
                                  </p:childTnLst>
                                </p:cTn>
                              </p:par>
                            </p:childTnLst>
                          </p:cTn>
                        </p:par>
                      </p:childTnLst>
                    </p:cTn>
                  </p:par>
                  <p:par>
                    <p:cTn id="138" fill="hold">
                      <p:stCondLst>
                        <p:cond delay="indefinite"/>
                      </p:stCondLst>
                      <p:childTnLst>
                        <p:par>
                          <p:cTn id="139" fill="hold">
                            <p:stCondLst>
                              <p:cond delay="0"/>
                            </p:stCondLst>
                            <p:childTnLst>
                              <p:par>
                                <p:cTn id="140" presetID="42" presetClass="entr" presetSubtype="0" fill="hold" grpId="0" nodeType="clickEffect">
                                  <p:stCondLst>
                                    <p:cond delay="0"/>
                                  </p:stCondLst>
                                  <p:childTnLst>
                                    <p:set>
                                      <p:cBhvr>
                                        <p:cTn id="141" dur="1" fill="hold">
                                          <p:stCondLst>
                                            <p:cond delay="0"/>
                                          </p:stCondLst>
                                        </p:cTn>
                                        <p:tgtEl>
                                          <p:spTgt spid="132"/>
                                        </p:tgtEl>
                                        <p:attrNameLst>
                                          <p:attrName>style.visibility</p:attrName>
                                        </p:attrNameLst>
                                      </p:cBhvr>
                                      <p:to>
                                        <p:strVal val="visible"/>
                                      </p:to>
                                    </p:set>
                                    <p:animEffect transition="in" filter="fade">
                                      <p:cBhvr>
                                        <p:cTn id="142" dur="500"/>
                                        <p:tgtEl>
                                          <p:spTgt spid="132"/>
                                        </p:tgtEl>
                                      </p:cBhvr>
                                    </p:animEffect>
                                    <p:anim calcmode="lin" valueType="num">
                                      <p:cBhvr additive="base">
                                        <p:cTn id="143" dur="500" decel="100000" fill="hold"/>
                                        <p:tgtEl>
                                          <p:spTgt spid="132"/>
                                        </p:tgtEl>
                                        <p:attrNameLst>
                                          <p:attrName>ppt_y</p:attrName>
                                        </p:attrNameLst>
                                      </p:cBhvr>
                                      <p:tavLst>
                                        <p:tav tm="0">
                                          <p:val>
                                            <p:strVal val="#ppt_y+0.06"/>
                                          </p:val>
                                        </p:tav>
                                        <p:tav tm="100000">
                                          <p:val>
                                            <p:strVal val="#ppt_y"/>
                                          </p:val>
                                        </p:tav>
                                      </p:tavLst>
                                    </p:anim>
                                  </p:childTnLst>
                                </p:cTn>
                              </p:par>
                              <p:par>
                                <p:cTn id="144" presetID="42" presetClass="entr" presetSubtype="0" fill="hold" grpId="0" nodeType="withEffect">
                                  <p:stCondLst>
                                    <p:cond delay="0"/>
                                  </p:stCondLst>
                                  <p:childTnLst>
                                    <p:set>
                                      <p:cBhvr>
                                        <p:cTn id="145" dur="1" fill="hold">
                                          <p:stCondLst>
                                            <p:cond delay="0"/>
                                          </p:stCondLst>
                                        </p:cTn>
                                        <p:tgtEl>
                                          <p:spTgt spid="133"/>
                                        </p:tgtEl>
                                        <p:attrNameLst>
                                          <p:attrName>style.visibility</p:attrName>
                                        </p:attrNameLst>
                                      </p:cBhvr>
                                      <p:to>
                                        <p:strVal val="visible"/>
                                      </p:to>
                                    </p:set>
                                    <p:animEffect transition="in" filter="fade">
                                      <p:cBhvr>
                                        <p:cTn id="146" dur="500"/>
                                        <p:tgtEl>
                                          <p:spTgt spid="133"/>
                                        </p:tgtEl>
                                      </p:cBhvr>
                                    </p:animEffect>
                                    <p:anim calcmode="lin" valueType="num">
                                      <p:cBhvr additive="base">
                                        <p:cTn id="147" dur="500" decel="100000" fill="hold"/>
                                        <p:tgtEl>
                                          <p:spTgt spid="133"/>
                                        </p:tgtEl>
                                        <p:attrNameLst>
                                          <p:attrName>ppt_y</p:attrName>
                                        </p:attrNameLst>
                                      </p:cBhvr>
                                      <p:tavLst>
                                        <p:tav tm="0">
                                          <p:val>
                                            <p:strVal val="#ppt_y+0.06"/>
                                          </p:val>
                                        </p:tav>
                                        <p:tav tm="100000">
                                          <p:val>
                                            <p:strVal val="#ppt_y"/>
                                          </p:val>
                                        </p:tav>
                                      </p:tavLst>
                                    </p:anim>
                                  </p:childTnLst>
                                </p:cTn>
                              </p:par>
                              <p:par>
                                <p:cTn id="148" presetID="42" presetClass="entr" presetSubtype="0" fill="hold" nodeType="withEffect">
                                  <p:stCondLst>
                                    <p:cond delay="0"/>
                                  </p:stCondLst>
                                  <p:childTnLst>
                                    <p:set>
                                      <p:cBhvr>
                                        <p:cTn id="149" dur="1" fill="hold">
                                          <p:stCondLst>
                                            <p:cond delay="0"/>
                                          </p:stCondLst>
                                        </p:cTn>
                                        <p:tgtEl>
                                          <p:spTgt spid="134"/>
                                        </p:tgtEl>
                                        <p:attrNameLst>
                                          <p:attrName>style.visibility</p:attrName>
                                        </p:attrNameLst>
                                      </p:cBhvr>
                                      <p:to>
                                        <p:strVal val="visible"/>
                                      </p:to>
                                    </p:set>
                                    <p:animEffect transition="in" filter="fade">
                                      <p:cBhvr>
                                        <p:cTn id="150" dur="500"/>
                                        <p:tgtEl>
                                          <p:spTgt spid="134"/>
                                        </p:tgtEl>
                                      </p:cBhvr>
                                    </p:animEffect>
                                    <p:anim calcmode="lin" valueType="num">
                                      <p:cBhvr additive="base">
                                        <p:cTn id="151" dur="500" decel="100000" fill="hold"/>
                                        <p:tgtEl>
                                          <p:spTgt spid="134"/>
                                        </p:tgtEl>
                                        <p:attrNameLst>
                                          <p:attrName>ppt_y</p:attrName>
                                        </p:attrNameLst>
                                      </p:cBhvr>
                                      <p:tavLst>
                                        <p:tav tm="0">
                                          <p:val>
                                            <p:strVal val="#ppt_y+0.06"/>
                                          </p:val>
                                        </p:tav>
                                        <p:tav tm="100000">
                                          <p:val>
                                            <p:strVal val="#ppt_y"/>
                                          </p:val>
                                        </p:tav>
                                      </p:tavLst>
                                    </p:anim>
                                  </p:childTnLst>
                                </p:cTn>
                              </p:par>
                              <p:par>
                                <p:cTn id="152" presetID="42" presetClass="entr" presetSubtype="0" fill="hold" grpId="0" nodeType="withEffect">
                                  <p:stCondLst>
                                    <p:cond delay="0"/>
                                  </p:stCondLst>
                                  <p:childTnLst>
                                    <p:set>
                                      <p:cBhvr>
                                        <p:cTn id="153" dur="1" fill="hold">
                                          <p:stCondLst>
                                            <p:cond delay="0"/>
                                          </p:stCondLst>
                                        </p:cTn>
                                        <p:tgtEl>
                                          <p:spTgt spid="135"/>
                                        </p:tgtEl>
                                        <p:attrNameLst>
                                          <p:attrName>style.visibility</p:attrName>
                                        </p:attrNameLst>
                                      </p:cBhvr>
                                      <p:to>
                                        <p:strVal val="visible"/>
                                      </p:to>
                                    </p:set>
                                    <p:animEffect transition="in" filter="fade">
                                      <p:cBhvr>
                                        <p:cTn id="154" dur="500"/>
                                        <p:tgtEl>
                                          <p:spTgt spid="135"/>
                                        </p:tgtEl>
                                      </p:cBhvr>
                                    </p:animEffect>
                                    <p:anim calcmode="lin" valueType="num">
                                      <p:cBhvr additive="base">
                                        <p:cTn id="155" dur="500" decel="100000" fill="hold"/>
                                        <p:tgtEl>
                                          <p:spTgt spid="135"/>
                                        </p:tgtEl>
                                        <p:attrNameLst>
                                          <p:attrName>ppt_y</p:attrName>
                                        </p:attrNameLst>
                                      </p:cBhvr>
                                      <p:tavLst>
                                        <p:tav tm="0">
                                          <p:val>
                                            <p:strVal val="#ppt_y+0.06"/>
                                          </p:val>
                                        </p:tav>
                                        <p:tav tm="100000">
                                          <p:val>
                                            <p:strVal val="#ppt_y"/>
                                          </p:val>
                                        </p:tav>
                                      </p:tavLst>
                                    </p:anim>
                                  </p:childTnLst>
                                </p:cTn>
                              </p:par>
                              <p:par>
                                <p:cTn id="156" presetID="42" presetClass="entr" presetSubtype="0" fill="hold" grpId="0" nodeType="withEffect">
                                  <p:stCondLst>
                                    <p:cond delay="0"/>
                                  </p:stCondLst>
                                  <p:childTnLst>
                                    <p:set>
                                      <p:cBhvr>
                                        <p:cTn id="157" dur="1" fill="hold">
                                          <p:stCondLst>
                                            <p:cond delay="0"/>
                                          </p:stCondLst>
                                        </p:cTn>
                                        <p:tgtEl>
                                          <p:spTgt spid="136"/>
                                        </p:tgtEl>
                                        <p:attrNameLst>
                                          <p:attrName>style.visibility</p:attrName>
                                        </p:attrNameLst>
                                      </p:cBhvr>
                                      <p:to>
                                        <p:strVal val="visible"/>
                                      </p:to>
                                    </p:set>
                                    <p:animEffect transition="in" filter="fade">
                                      <p:cBhvr>
                                        <p:cTn id="158" dur="500"/>
                                        <p:tgtEl>
                                          <p:spTgt spid="136"/>
                                        </p:tgtEl>
                                      </p:cBhvr>
                                    </p:animEffect>
                                    <p:anim calcmode="lin" valueType="num">
                                      <p:cBhvr additive="base">
                                        <p:cTn id="159" dur="500" decel="100000" fill="hold"/>
                                        <p:tgtEl>
                                          <p:spTgt spid="136"/>
                                        </p:tgtEl>
                                        <p:attrNameLst>
                                          <p:attrName>ppt_y</p:attrName>
                                        </p:attrNameLst>
                                      </p:cBhvr>
                                      <p:tavLst>
                                        <p:tav tm="0">
                                          <p:val>
                                            <p:strVal val="#ppt_y+0.06"/>
                                          </p:val>
                                        </p:tav>
                                        <p:tav tm="100000">
                                          <p:val>
                                            <p:strVal val="#ppt_y"/>
                                          </p:val>
                                        </p:tav>
                                      </p:tavLst>
                                    </p:anim>
                                  </p:childTnLst>
                                </p:cTn>
                              </p:par>
                              <p:par>
                                <p:cTn id="160" presetID="42" presetClass="entr" presetSubtype="0" fill="hold" grpId="0" nodeType="withEffect">
                                  <p:stCondLst>
                                    <p:cond delay="0"/>
                                  </p:stCondLst>
                                  <p:childTnLst>
                                    <p:set>
                                      <p:cBhvr>
                                        <p:cTn id="161" dur="1" fill="hold">
                                          <p:stCondLst>
                                            <p:cond delay="0"/>
                                          </p:stCondLst>
                                        </p:cTn>
                                        <p:tgtEl>
                                          <p:spTgt spid="137"/>
                                        </p:tgtEl>
                                        <p:attrNameLst>
                                          <p:attrName>style.visibility</p:attrName>
                                        </p:attrNameLst>
                                      </p:cBhvr>
                                      <p:to>
                                        <p:strVal val="visible"/>
                                      </p:to>
                                    </p:set>
                                    <p:animEffect transition="in" filter="fade">
                                      <p:cBhvr>
                                        <p:cTn id="162" dur="500"/>
                                        <p:tgtEl>
                                          <p:spTgt spid="137"/>
                                        </p:tgtEl>
                                      </p:cBhvr>
                                    </p:animEffect>
                                    <p:anim calcmode="lin" valueType="num">
                                      <p:cBhvr additive="base">
                                        <p:cTn id="163" dur="500" decel="100000" fill="hold"/>
                                        <p:tgtEl>
                                          <p:spTgt spid="137"/>
                                        </p:tgtEl>
                                        <p:attrNameLst>
                                          <p:attrName>ppt_y</p:attrName>
                                        </p:attrNameLst>
                                      </p:cBhvr>
                                      <p:tavLst>
                                        <p:tav tm="0">
                                          <p:val>
                                            <p:strVal val="#ppt_y+0.06"/>
                                          </p:val>
                                        </p:tav>
                                        <p:tav tm="100000">
                                          <p:val>
                                            <p:strVal val="#ppt_y"/>
                                          </p:val>
                                        </p:tav>
                                      </p:tavLst>
                                    </p:anim>
                                  </p:childTnLst>
                                </p:cTn>
                              </p:par>
                            </p:childTnLst>
                          </p:cTn>
                        </p:par>
                      </p:childTnLst>
                    </p:cTn>
                  </p:par>
                  <p:par>
                    <p:cTn id="164" fill="hold">
                      <p:stCondLst>
                        <p:cond delay="indefinite"/>
                      </p:stCondLst>
                      <p:childTnLst>
                        <p:par>
                          <p:cTn id="165" fill="hold">
                            <p:stCondLst>
                              <p:cond delay="0"/>
                            </p:stCondLst>
                            <p:childTnLst>
                              <p:par>
                                <p:cTn id="166" presetID="42" presetClass="entr" presetSubtype="0" fill="hold" grpId="0" nodeType="clickEffect">
                                  <p:stCondLst>
                                    <p:cond delay="0"/>
                                  </p:stCondLst>
                                  <p:childTnLst>
                                    <p:set>
                                      <p:cBhvr>
                                        <p:cTn id="167" dur="1" fill="hold">
                                          <p:stCondLst>
                                            <p:cond delay="0"/>
                                          </p:stCondLst>
                                        </p:cTn>
                                        <p:tgtEl>
                                          <p:spTgt spid="138"/>
                                        </p:tgtEl>
                                        <p:attrNameLst>
                                          <p:attrName>style.visibility</p:attrName>
                                        </p:attrNameLst>
                                      </p:cBhvr>
                                      <p:to>
                                        <p:strVal val="visible"/>
                                      </p:to>
                                    </p:set>
                                    <p:animEffect transition="in" filter="fade">
                                      <p:cBhvr>
                                        <p:cTn id="168" dur="500"/>
                                        <p:tgtEl>
                                          <p:spTgt spid="138"/>
                                        </p:tgtEl>
                                      </p:cBhvr>
                                    </p:animEffect>
                                    <p:anim calcmode="lin" valueType="num">
                                      <p:cBhvr additive="base">
                                        <p:cTn id="169" dur="500" decel="100000" fill="hold"/>
                                        <p:tgtEl>
                                          <p:spTgt spid="13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5" grpId="0" animBg="1"/>
      <p:bldP spid="106" grpId="0" animBg="1"/>
      <p:bldP spid="107" grpId="0" animBg="1"/>
      <p:bldP spid="108" grpId="0" animBg="1"/>
      <p:bldP spid="109" grpId="0" animBg="1"/>
      <p:bldP spid="111" grpId="0" animBg="1"/>
      <p:bldP spid="112" grpId="0" animBg="1"/>
      <p:bldP spid="113" grpId="0" animBg="1"/>
      <p:bldP spid="114" grpId="0" animBg="1"/>
      <p:bldP spid="115" grpId="0" animBg="1"/>
      <p:bldP spid="117" grpId="0" animBg="1"/>
      <p:bldP spid="118" grpId="0" animBg="1"/>
      <p:bldP spid="119" grpId="0" animBg="1"/>
      <p:bldP spid="120" grpId="0" animBg="1"/>
      <p:bldP spid="121" grpId="0" animBg="1"/>
      <p:bldP spid="123" grpId="0" animBg="1"/>
      <p:bldP spid="124" grpId="0" animBg="1"/>
      <p:bldP spid="125" grpId="0" animBg="1"/>
      <p:bldP spid="126" grpId="0" animBg="1"/>
      <p:bldP spid="127" grpId="0" animBg="1"/>
      <p:bldP spid="129" grpId="0" animBg="1"/>
      <p:bldP spid="130" grpId="0" animBg="1"/>
      <p:bldP spid="131" grpId="0" animBg="1"/>
      <p:bldP spid="132" grpId="0" animBg="1"/>
      <p:bldP spid="133" grpId="0" animBg="1"/>
      <p:bldP spid="135" grpId="0" animBg="1"/>
      <p:bldP spid="136" grpId="0" animBg="1"/>
      <p:bldP spid="137" grpId="0" animBg="1"/>
      <p:bldP spid="13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CHAPTER 01</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WHY</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105</a:t>
            </a:r>
            <a:endParaRPr lang="en-US" sz="850" dirty="0"/>
          </a:p>
        </p:txBody>
      </p:sp>
      <p:sp>
        <p:nvSpPr>
          <p:cNvPr id="101" name="!!bignum"/>
          <p:cNvSpPr txBox="1"/>
          <p:nvPr/>
        </p:nvSpPr>
        <p:spPr>
          <a:xfrm>
            <a:off x="497434" y="960120"/>
            <a:ext cx="2926080" cy="1463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F87171"/>
                </a:solidFill>
                <a:latin typeface="Segoe UI"/>
                <a:ea typeface="Segoe UI"/>
                <a:cs typeface="Segoe UI"/>
              </a:rPr>
              <a:t>01</a:t>
            </a:r>
            <a:endParaRPr lang="en-US" sz="9600" dirty="0"/>
          </a:p>
        </p:txBody>
      </p:sp>
      <p:sp>
        <p:nvSpPr>
          <p:cNvPr id="102" name="s102"/>
          <p:cNvSpPr txBox="1"/>
          <p:nvPr/>
        </p:nvSpPr>
        <p:spPr>
          <a:xfrm>
            <a:off x="543154" y="2377440"/>
            <a:ext cx="10515600" cy="8229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Why Test?</a:t>
            </a:r>
            <a:endParaRPr lang="en-US" sz="4000" dirty="0"/>
          </a:p>
        </p:txBody>
      </p:sp>
      <p:sp>
        <p:nvSpPr>
          <p:cNvPr id="103" name="s103"/>
          <p:cNvSpPr txBox="1"/>
          <p:nvPr/>
        </p:nvSpPr>
        <p:spPr>
          <a:xfrm>
            <a:off x="543154" y="3154680"/>
            <a:ext cx="1051560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0" dirty="0">
                <a:solidFill>
                  <a:srgbClr val="CBD5E1"/>
                </a:solidFill>
                <a:latin typeface="Segoe UI"/>
                <a:ea typeface="Segoe UI"/>
                <a:cs typeface="Segoe UI"/>
              </a:rPr>
              <a:t>Before any tool: what goes wrong without tests, what a test is, and what to test.</a:t>
            </a:r>
            <a:endParaRPr lang="en-US" sz="1600" dirty="0"/>
          </a:p>
        </p:txBody>
      </p:sp>
      <p:sp>
        <p:nvSpPr>
          <p:cNvPr id="104" name="s104"/>
          <p:cNvSpPr/>
          <p:nvPr/>
        </p:nvSpPr>
        <p:spPr>
          <a:xfrm>
            <a:off x="543154" y="3840480"/>
            <a:ext cx="3513125" cy="960120"/>
          </a:xfrm>
          <a:prstGeom prst="roundRect">
            <a:avLst>
              <a:gd name="adj" fmla="val 10000"/>
            </a:avLst>
          </a:prstGeom>
          <a:solidFill>
            <a:srgbClr val="111B2E"/>
          </a:solidFill>
          <a:ln w="12700">
            <a:solidFill>
              <a:srgbClr val="F87171"/>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87171"/>
                </a:solidFill>
                <a:latin typeface="Segoe UI"/>
                <a:ea typeface="Segoe UI"/>
                <a:cs typeface="Segoe UI"/>
              </a:rPr>
              <a:t>The problem</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A one-line change breaks production.</a:t>
            </a:r>
            <a:endParaRPr lang="en-US" sz="1200" dirty="0"/>
          </a:p>
        </p:txBody>
      </p:sp>
      <p:sp>
        <p:nvSpPr>
          <p:cNvPr id="105" name="s105"/>
          <p:cNvSpPr/>
          <p:nvPr/>
        </p:nvSpPr>
        <p:spPr>
          <a:xfrm>
            <a:off x="4330598" y="3840480"/>
            <a:ext cx="3513125" cy="960120"/>
          </a:xfrm>
          <a:prstGeom prst="roundRect">
            <a:avLst>
              <a:gd name="adj" fmla="val 10000"/>
            </a:avLst>
          </a:prstGeom>
          <a:solidFill>
            <a:srgbClr val="111B2E"/>
          </a:solidFill>
          <a:ln w="12700">
            <a:solidFill>
              <a:srgbClr val="F87171"/>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87171"/>
                </a:solidFill>
                <a:latin typeface="Segoe UI"/>
                <a:ea typeface="Segoe UI"/>
                <a:cs typeface="Segoe UI"/>
              </a:rPr>
              <a:t>The idea</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Code that checks code, in seconds.</a:t>
            </a:r>
            <a:endParaRPr lang="en-US" sz="1200" dirty="0"/>
          </a:p>
        </p:txBody>
      </p:sp>
      <p:sp>
        <p:nvSpPr>
          <p:cNvPr id="106" name="s106"/>
          <p:cNvSpPr/>
          <p:nvPr/>
        </p:nvSpPr>
        <p:spPr>
          <a:xfrm>
            <a:off x="8118043" y="3840480"/>
            <a:ext cx="3513125" cy="960120"/>
          </a:xfrm>
          <a:prstGeom prst="roundRect">
            <a:avLst>
              <a:gd name="adj" fmla="val 10000"/>
            </a:avLst>
          </a:prstGeom>
          <a:solidFill>
            <a:srgbClr val="111B2E"/>
          </a:solidFill>
          <a:ln w="12700">
            <a:solidFill>
              <a:srgbClr val="F87171"/>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87171"/>
                </a:solidFill>
                <a:latin typeface="Segoe UI"/>
                <a:ea typeface="Segoe UI"/>
                <a:cs typeface="Segoe UI"/>
              </a:rPr>
              <a:t>The scope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Types of tests, and what to test.</a:t>
            </a:r>
            <a:endParaRPr lang="en-US" sz="1200" dirty="0"/>
          </a:p>
        </p:txBody>
      </p:sp>
      <p:sp>
        <p:nvSpPr>
          <p:cNvPr id="107" name="!!chap0"/>
          <p:cNvSpPr/>
          <p:nvPr/>
        </p:nvSpPr>
        <p:spPr>
          <a:xfrm>
            <a:off x="543154" y="5074920"/>
            <a:ext cx="1756562" cy="457200"/>
          </a:xfrm>
          <a:prstGeom prst="roundRect">
            <a:avLst>
              <a:gd name="adj" fmla="val 50000"/>
            </a:avLst>
          </a:prstGeom>
          <a:solidFill>
            <a:srgbClr val="F87171"/>
          </a:solidFill>
          <a:ln w="12700">
            <a:solidFill>
              <a:srgbClr val="F87171"/>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01  Why test</a:t>
            </a:r>
            <a:endParaRPr lang="en-US" sz="1100" dirty="0"/>
          </a:p>
        </p:txBody>
      </p:sp>
      <p:sp>
        <p:nvSpPr>
          <p:cNvPr id="108" name="!!chap1"/>
          <p:cNvSpPr/>
          <p:nvPr/>
        </p:nvSpPr>
        <p:spPr>
          <a:xfrm>
            <a:off x="240944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02  </a:t>
            </a:r>
            <a:r>
              <a:rPr lang="en-US" sz="1100" b="0" dirty="0">
                <a:solidFill>
                  <a:srgbClr val="94A3B8"/>
                </a:solidFill>
                <a:latin typeface="Segoe UI"/>
                <a:ea typeface="Segoe UI"/>
                <a:cs typeface="Segoe UI"/>
              </a:rPr>
              <a:t>First test</a:t>
            </a:r>
            <a:endParaRPr lang="en-US" sz="1100" dirty="0"/>
          </a:p>
        </p:txBody>
      </p:sp>
      <p:sp>
        <p:nvSpPr>
          <p:cNvPr id="109" name="!!chap2"/>
          <p:cNvSpPr/>
          <p:nvPr/>
        </p:nvSpPr>
        <p:spPr>
          <a:xfrm>
            <a:off x="427573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03  </a:t>
            </a:r>
            <a:r>
              <a:rPr lang="en-US" sz="1100" b="0" dirty="0">
                <a:solidFill>
                  <a:srgbClr val="94A3B8"/>
                </a:solidFill>
                <a:latin typeface="Segoe UI"/>
                <a:ea typeface="Segoe UI"/>
                <a:cs typeface="Segoe UI"/>
              </a:rPr>
              <a:t>Many cases</a:t>
            </a:r>
            <a:endParaRPr lang="en-US" sz="1100" dirty="0"/>
          </a:p>
        </p:txBody>
      </p:sp>
      <p:sp>
        <p:nvSpPr>
          <p:cNvPr id="110" name="!!chap3"/>
          <p:cNvSpPr/>
          <p:nvPr/>
        </p:nvSpPr>
        <p:spPr>
          <a:xfrm>
            <a:off x="614202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04  </a:t>
            </a:r>
            <a:r>
              <a:rPr lang="en-US" sz="1100" b="0" dirty="0">
                <a:solidFill>
                  <a:srgbClr val="94A3B8"/>
                </a:solidFill>
                <a:latin typeface="Segoe UI"/>
                <a:ea typeface="Segoe UI"/>
                <a:cs typeface="Segoe UI"/>
              </a:rPr>
              <a:t>Hidden inputs</a:t>
            </a:r>
            <a:endParaRPr lang="en-US" sz="1100" dirty="0"/>
          </a:p>
        </p:txBody>
      </p:sp>
      <p:sp>
        <p:nvSpPr>
          <p:cNvPr id="111" name="!!chap4"/>
          <p:cNvSpPr/>
          <p:nvPr/>
        </p:nvSpPr>
        <p:spPr>
          <a:xfrm>
            <a:off x="800831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05  </a:t>
            </a:r>
            <a:r>
              <a:rPr lang="en-US" sz="1100" b="0" dirty="0">
                <a:solidFill>
                  <a:srgbClr val="94A3B8"/>
                </a:solidFill>
                <a:latin typeface="Segoe UI"/>
                <a:ea typeface="Segoe UI"/>
                <a:cs typeface="Segoe UI"/>
              </a:rPr>
              <a:t>Test doubles</a:t>
            </a:r>
            <a:endParaRPr lang="en-US" sz="1100" dirty="0"/>
          </a:p>
        </p:txBody>
      </p:sp>
      <p:sp>
        <p:nvSpPr>
          <p:cNvPr id="112" name="!!chap5"/>
          <p:cNvSpPr/>
          <p:nvPr/>
        </p:nvSpPr>
        <p:spPr>
          <a:xfrm>
            <a:off x="9874606"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06  </a:t>
            </a:r>
            <a:r>
              <a:rPr lang="en-US" sz="1100" b="0" dirty="0">
                <a:solidFill>
                  <a:srgbClr val="94A3B8"/>
                </a:solidFill>
                <a:latin typeface="Segoe UI"/>
                <a:ea typeface="Segoe UI"/>
                <a:cs typeface="Segoe UI"/>
              </a:rPr>
              <a:t>Real project</a:t>
            </a:r>
            <a:endParaRPr lang="en-US" sz="11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5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50" decel="100000" fill="hold"/>
                                        <p:tgtEl>
                                          <p:spTgt spid="101"/>
                                        </p:tgtEl>
                                        <p:attrNameLst>
                                          <p:attrName>ppt_h</p:attrName>
                                        </p:attrNameLst>
                                      </p:cBhvr>
                                      <p:tavLst>
                                        <p:tav tm="0">
                                          <p:val>
                                            <p:strVal val="#ppt_h*0.3"/>
                                          </p:val>
                                        </p:tav>
                                        <p:tav tm="100000">
                                          <p:val>
                                            <p:strVal val="#ppt_h*1.08"/>
                                          </p:val>
                                        </p:tav>
                                      </p:tavLst>
                                    </p:anim>
                                    <p:animEffect transition="in" filter="fade">
                                      <p:cBhvr>
                                        <p:cTn id="9" dur="275"/>
                                        <p:tgtEl>
                                          <p:spTgt spid="101"/>
                                        </p:tgtEl>
                                      </p:cBhvr>
                                    </p:animEffect>
                                    <p:anim calcmode="lin" valueType="num">
                                      <p:cBhvr additive="base">
                                        <p:cTn id="10" dur="160" fill="hold">
                                          <p:stCondLst>
                                            <p:cond delay="55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5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4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50"/>
                                        <p:tgtEl>
                                          <p:spTgt spid="102"/>
                                        </p:tgtEl>
                                      </p:cBhvr>
                                    </p:animEffect>
                                    <p:anim calcmode="lin" valueType="num">
                                      <p:cBhvr additive="base">
                                        <p:cTn id="15" dur="55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8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50"/>
                                        <p:tgtEl>
                                          <p:spTgt spid="103"/>
                                        </p:tgtEl>
                                      </p:cBhvr>
                                    </p:animEffect>
                                    <p:anim calcmode="lin" valueType="num">
                                      <p:cBhvr additive="base">
                                        <p:cTn id="19" dur="55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42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50"/>
                                        <p:tgtEl>
                                          <p:spTgt spid="104"/>
                                        </p:tgtEl>
                                      </p:cBhvr>
                                    </p:animEffect>
                                    <p:anim calcmode="lin" valueType="num">
                                      <p:cBhvr additive="base">
                                        <p:cTn id="23" dur="55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56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50"/>
                                        <p:tgtEl>
                                          <p:spTgt spid="105"/>
                                        </p:tgtEl>
                                      </p:cBhvr>
                                    </p:animEffect>
                                    <p:anim calcmode="lin" valueType="num">
                                      <p:cBhvr additive="base">
                                        <p:cTn id="27" dur="55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70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50"/>
                                        <p:tgtEl>
                                          <p:spTgt spid="106"/>
                                        </p:tgtEl>
                                      </p:cBhvr>
                                    </p:animEffect>
                                    <p:anim calcmode="lin" valueType="num">
                                      <p:cBhvr additive="base">
                                        <p:cTn id="31" dur="550" decel="100000" fill="hold"/>
                                        <p:tgtEl>
                                          <p:spTgt spid="106"/>
                                        </p:tgtEl>
                                        <p:attrNameLst>
                                          <p:attrName>ppt_y</p:attrName>
                                        </p:attrNameLst>
                                      </p:cBhvr>
                                      <p:tavLst>
                                        <p:tav tm="0">
                                          <p:val>
                                            <p:strVal val="#ppt_y+0.06"/>
                                          </p:val>
                                        </p:tav>
                                        <p:tav tm="100000">
                                          <p:val>
                                            <p:strVal val="#ppt_y"/>
                                          </p:val>
                                        </p:tav>
                                      </p:tavLst>
                                    </p:anim>
                                  </p:childTnLst>
                                </p:cTn>
                              </p:par>
                              <p:par>
                                <p:cTn id="32" presetID="10" presetClass="entr" presetSubtype="0" fill="hold" grpId="0" nodeType="withEffect">
                                  <p:stCondLst>
                                    <p:cond delay="85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childTnLst>
                                </p:cTn>
                              </p:par>
                              <p:par>
                                <p:cTn id="35" presetID="10" presetClass="entr" presetSubtype="0" fill="hold" grpId="0" nodeType="withEffect">
                                  <p:stCondLst>
                                    <p:cond delay="85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85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85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85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85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SCENARIO</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Friday, 5 PM: One Line Changes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 real-life story from a software house. No tests in the project.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WHY</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106</a:t>
            </a:r>
            <a:endParaRPr lang="en-US" sz="850" dirty="0"/>
          </a:p>
        </p:txBody>
      </p:sp>
      <p:sp>
        <p:nvSpPr>
          <p:cNvPr id="101" name="s101"/>
          <p:cNvSpPr/>
          <p:nvPr/>
        </p:nvSpPr>
        <p:spPr>
          <a:xfrm>
            <a:off x="543154" y="1920240"/>
            <a:ext cx="2634844" cy="2148840"/>
          </a:xfrm>
          <a:prstGeom prst="roundRect">
            <a:avLst>
              <a:gd name="adj" fmla="val 9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02" name="s102"/>
          <p:cNvSpPr/>
          <p:nvPr/>
        </p:nvSpPr>
        <p:spPr>
          <a:xfrm>
            <a:off x="744322" y="2103120"/>
            <a:ext cx="502920" cy="50292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865022" y="2223821"/>
            <a:ext cx="261518" cy="261518"/>
          </a:xfrm>
          <a:prstGeom prst="rect">
            <a:avLst/>
          </a:prstGeom>
        </p:spPr>
      </p:pic>
      <p:sp>
        <p:nvSpPr>
          <p:cNvPr id="104" name="s104"/>
          <p:cNvSpPr txBox="1"/>
          <p:nvPr/>
        </p:nvSpPr>
        <p:spPr>
          <a:xfrm>
            <a:off x="1366114" y="2103120"/>
            <a:ext cx="1720444"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1" dirty="0">
                <a:solidFill>
                  <a:srgbClr val="94A3B8"/>
                </a:solidFill>
                <a:latin typeface="Segoe UI"/>
                <a:ea typeface="Segoe UI"/>
                <a:cs typeface="Segoe UI"/>
              </a:rPr>
              <a:t>Thu 16:00</a:t>
            </a:r>
            <a:endParaRPr lang="en-US" sz="1000" dirty="0"/>
          </a:p>
          <a:p>
            <a:pPr marL="0" indent="0" algn="l">
              <a:spcBef>
                <a:spcPts val="0"/>
              </a:spcBef>
              <a:spcAft>
                <a:spcPts val="0"/>
              </a:spcAft>
              <a:buNone/>
            </a:pPr>
            <a:r>
              <a:rPr lang="en-US" sz="1400" b="1" dirty="0">
                <a:solidFill>
                  <a:srgbClr val="13D0F7"/>
                </a:solidFill>
                <a:latin typeface="Segoe UI"/>
                <a:ea typeface="Segoe UI"/>
                <a:cs typeface="Segoe UI"/>
              </a:rPr>
              <a:t>Code</a:t>
            </a:r>
            <a:endParaRPr lang="en-US" sz="1400" dirty="0"/>
          </a:p>
        </p:txBody>
      </p:sp>
      <p:sp>
        <p:nvSpPr>
          <p:cNvPr id="105" name="s105"/>
          <p:cNvSpPr txBox="1"/>
          <p:nvPr/>
        </p:nvSpPr>
        <p:spPr>
          <a:xfrm>
            <a:off x="744322" y="2788920"/>
            <a:ext cx="2269084" cy="11887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Developer “cleans up” PriceCalculator: cap 50m → 500m</a:t>
            </a:r>
            <a:endParaRPr lang="en-US" sz="1250" dirty="0"/>
          </a:p>
        </p:txBody>
      </p:sp>
      <p:sp>
        <p:nvSpPr>
          <p:cNvPr id="106" name="s106"/>
          <p:cNvSpPr/>
          <p:nvPr/>
        </p:nvSpPr>
        <p:spPr>
          <a:xfrm>
            <a:off x="3360877" y="1920240"/>
            <a:ext cx="2634844" cy="2148840"/>
          </a:xfrm>
          <a:prstGeom prst="roundRect">
            <a:avLst>
              <a:gd name="adj" fmla="val 9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07" name="s107"/>
          <p:cNvSpPr/>
          <p:nvPr/>
        </p:nvSpPr>
        <p:spPr>
          <a:xfrm>
            <a:off x="3562045" y="2103120"/>
            <a:ext cx="502920" cy="50292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08" name="img108"/>
          <p:cNvPicPr>
            <a:picLocks noChangeAspect="1"/>
          </p:cNvPicPr>
          <p:nvPr/>
        </p:nvPicPr>
        <p:blipFill>
          <a:blip r:embed="rId5"/>
          <a:stretch>
            <a:fillRect/>
          </a:stretch>
        </p:blipFill>
        <p:spPr>
          <a:xfrm>
            <a:off x="3682746" y="2223821"/>
            <a:ext cx="261518" cy="261518"/>
          </a:xfrm>
          <a:prstGeom prst="rect">
            <a:avLst/>
          </a:prstGeom>
        </p:spPr>
      </p:pic>
      <p:sp>
        <p:nvSpPr>
          <p:cNvPr id="109" name="s109"/>
          <p:cNvSpPr txBox="1"/>
          <p:nvPr/>
        </p:nvSpPr>
        <p:spPr>
          <a:xfrm>
            <a:off x="4183837" y="2103120"/>
            <a:ext cx="1720444"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1" dirty="0">
                <a:solidFill>
                  <a:srgbClr val="94A3B8"/>
                </a:solidFill>
                <a:latin typeface="Segoe UI"/>
                <a:ea typeface="Segoe UI"/>
                <a:cs typeface="Segoe UI"/>
              </a:rPr>
              <a:t>Thu 17:00</a:t>
            </a:r>
            <a:endParaRPr lang="en-US" sz="1000" dirty="0"/>
          </a:p>
          <a:p>
            <a:pPr marL="0" indent="0" algn="l">
              <a:spcBef>
                <a:spcPts val="0"/>
              </a:spcBef>
              <a:spcAft>
                <a:spcPts val="0"/>
              </a:spcAft>
              <a:buNone/>
            </a:pPr>
            <a:r>
              <a:rPr lang="en-US" sz="1400" b="1" dirty="0">
                <a:solidFill>
                  <a:srgbClr val="FBBF24"/>
                </a:solidFill>
                <a:latin typeface="Segoe UI"/>
                <a:ea typeface="Segoe UI"/>
                <a:cs typeface="Segoe UI"/>
              </a:rPr>
              <a:t>Review</a:t>
            </a:r>
            <a:endParaRPr lang="en-US" sz="1400" dirty="0"/>
          </a:p>
        </p:txBody>
      </p:sp>
      <p:sp>
        <p:nvSpPr>
          <p:cNvPr id="110" name="s110"/>
          <p:cNvSpPr txBox="1"/>
          <p:nvPr/>
        </p:nvSpPr>
        <p:spPr>
          <a:xfrm>
            <a:off x="3562045" y="2788920"/>
            <a:ext cx="2269084" cy="11887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Reviewer reads 40 changed lines. The zero is easy to miss.</a:t>
            </a:r>
            <a:endParaRPr lang="en-US" sz="1250" dirty="0"/>
          </a:p>
        </p:txBody>
      </p:sp>
      <p:cxnSp>
        <p:nvCxnSpPr>
          <p:cNvPr id="111" name="ln111"/>
          <p:cNvCxnSpPr/>
          <p:nvPr/>
        </p:nvCxnSpPr>
        <p:spPr>
          <a:xfrm>
            <a:off x="3196285" y="2990088"/>
            <a:ext cx="146304" cy="0"/>
          </a:xfrm>
          <a:prstGeom prst="line">
            <a:avLst/>
          </a:prstGeom>
          <a:ln w="19050">
            <a:solidFill>
              <a:srgbClr val="94A3B8"/>
            </a:solidFill>
            <a:tailEnd type="triangle" w="med" len="med"/>
          </a:ln>
        </p:spPr>
      </p:cxnSp>
      <p:sp>
        <p:nvSpPr>
          <p:cNvPr id="112" name="s112"/>
          <p:cNvSpPr/>
          <p:nvPr/>
        </p:nvSpPr>
        <p:spPr>
          <a:xfrm>
            <a:off x="6178601" y="1920240"/>
            <a:ext cx="2634844" cy="2148840"/>
          </a:xfrm>
          <a:prstGeom prst="roundRect">
            <a:avLst>
              <a:gd name="adj" fmla="val 9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13" name="s113"/>
          <p:cNvSpPr/>
          <p:nvPr/>
        </p:nvSpPr>
        <p:spPr>
          <a:xfrm>
            <a:off x="6379769" y="2103120"/>
            <a:ext cx="502920" cy="50292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14" name="img114"/>
          <p:cNvPicPr>
            <a:picLocks noChangeAspect="1"/>
          </p:cNvPicPr>
          <p:nvPr/>
        </p:nvPicPr>
        <p:blipFill>
          <a:blip r:embed="rId6"/>
          <a:stretch>
            <a:fillRect/>
          </a:stretch>
        </p:blipFill>
        <p:spPr>
          <a:xfrm>
            <a:off x="6500470" y="2223821"/>
            <a:ext cx="261518" cy="261518"/>
          </a:xfrm>
          <a:prstGeom prst="rect">
            <a:avLst/>
          </a:prstGeom>
        </p:spPr>
      </p:pic>
      <p:sp>
        <p:nvSpPr>
          <p:cNvPr id="115" name="s115"/>
          <p:cNvSpPr txBox="1"/>
          <p:nvPr/>
        </p:nvSpPr>
        <p:spPr>
          <a:xfrm>
            <a:off x="7001561" y="2103120"/>
            <a:ext cx="1720444"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1" dirty="0">
                <a:solidFill>
                  <a:srgbClr val="94A3B8"/>
                </a:solidFill>
                <a:latin typeface="Segoe UI"/>
                <a:ea typeface="Segoe UI"/>
                <a:cs typeface="Segoe UI"/>
              </a:rPr>
              <a:t>Fri 17:00</a:t>
            </a:r>
            <a:endParaRPr lang="en-US" sz="1000" dirty="0"/>
          </a:p>
          <a:p>
            <a:pPr marL="0" indent="0" algn="l">
              <a:spcBef>
                <a:spcPts val="0"/>
              </a:spcBef>
              <a:spcAft>
                <a:spcPts val="0"/>
              </a:spcAft>
              <a:buNone/>
            </a:pPr>
            <a:r>
              <a:rPr lang="en-US" sz="1400" b="1" dirty="0">
                <a:solidFill>
                  <a:srgbClr val="A78BFA"/>
                </a:solidFill>
                <a:latin typeface="Segoe UI"/>
                <a:ea typeface="Segoe UI"/>
                <a:cs typeface="Segoe UI"/>
              </a:rPr>
              <a:t>Deploy</a:t>
            </a:r>
            <a:endParaRPr lang="en-US" sz="1400" dirty="0"/>
          </a:p>
        </p:txBody>
      </p:sp>
      <p:sp>
        <p:nvSpPr>
          <p:cNvPr id="116" name="s116"/>
          <p:cNvSpPr txBox="1"/>
          <p:nvPr/>
        </p:nvSpPr>
        <p:spPr>
          <a:xfrm>
            <a:off x="6379769" y="2788920"/>
            <a:ext cx="2269084" cy="11887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Released before the weekend. Nobody clicks through every case.</a:t>
            </a:r>
            <a:endParaRPr lang="en-US" sz="1250" dirty="0"/>
          </a:p>
        </p:txBody>
      </p:sp>
      <p:cxnSp>
        <p:nvCxnSpPr>
          <p:cNvPr id="117" name="ln117"/>
          <p:cNvCxnSpPr/>
          <p:nvPr/>
        </p:nvCxnSpPr>
        <p:spPr>
          <a:xfrm>
            <a:off x="6014009" y="2990088"/>
            <a:ext cx="146304" cy="0"/>
          </a:xfrm>
          <a:prstGeom prst="line">
            <a:avLst/>
          </a:prstGeom>
          <a:ln w="19050">
            <a:solidFill>
              <a:srgbClr val="94A3B8"/>
            </a:solidFill>
            <a:tailEnd type="triangle" w="med" len="med"/>
          </a:ln>
        </p:spPr>
      </p:cxnSp>
      <p:sp>
        <p:nvSpPr>
          <p:cNvPr id="118" name="s118"/>
          <p:cNvSpPr/>
          <p:nvPr/>
        </p:nvSpPr>
        <p:spPr>
          <a:xfrm>
            <a:off x="8996324" y="1920240"/>
            <a:ext cx="2634844" cy="2148840"/>
          </a:xfrm>
          <a:prstGeom prst="roundRect">
            <a:avLst>
              <a:gd name="adj" fmla="val 9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19" name="s119"/>
          <p:cNvSpPr/>
          <p:nvPr/>
        </p:nvSpPr>
        <p:spPr>
          <a:xfrm>
            <a:off x="9197492" y="2103120"/>
            <a:ext cx="502920" cy="50292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0" name="img120"/>
          <p:cNvPicPr>
            <a:picLocks noChangeAspect="1"/>
          </p:cNvPicPr>
          <p:nvPr/>
        </p:nvPicPr>
        <p:blipFill>
          <a:blip r:embed="rId7"/>
          <a:stretch>
            <a:fillRect/>
          </a:stretch>
        </p:blipFill>
        <p:spPr>
          <a:xfrm>
            <a:off x="9318193" y="2223821"/>
            <a:ext cx="261518" cy="261518"/>
          </a:xfrm>
          <a:prstGeom prst="rect">
            <a:avLst/>
          </a:prstGeom>
        </p:spPr>
      </p:pic>
      <p:sp>
        <p:nvSpPr>
          <p:cNvPr id="121" name="s121"/>
          <p:cNvSpPr txBox="1"/>
          <p:nvPr/>
        </p:nvSpPr>
        <p:spPr>
          <a:xfrm>
            <a:off x="9819284" y="2103120"/>
            <a:ext cx="1720444"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1" dirty="0">
                <a:solidFill>
                  <a:srgbClr val="94A3B8"/>
                </a:solidFill>
                <a:latin typeface="Segoe UI"/>
                <a:ea typeface="Segoe UI"/>
                <a:cs typeface="Segoe UI"/>
              </a:rPr>
              <a:t>Sat 13:00</a:t>
            </a:r>
            <a:endParaRPr lang="en-US" sz="1000" dirty="0"/>
          </a:p>
          <a:p>
            <a:pPr marL="0" indent="0" algn="l">
              <a:spcBef>
                <a:spcPts val="0"/>
              </a:spcBef>
              <a:spcAft>
                <a:spcPts val="0"/>
              </a:spcAft>
              <a:buNone/>
            </a:pPr>
            <a:r>
              <a:rPr lang="en-US" sz="1400" b="1" dirty="0">
                <a:solidFill>
                  <a:srgbClr val="F87171"/>
                </a:solidFill>
                <a:latin typeface="Segoe UI"/>
                <a:ea typeface="Segoe UI"/>
                <a:cs typeface="Segoe UI"/>
              </a:rPr>
              <a:t>Production</a:t>
            </a:r>
            <a:endParaRPr lang="en-US" sz="1400" dirty="0"/>
          </a:p>
        </p:txBody>
      </p:sp>
      <p:sp>
        <p:nvSpPr>
          <p:cNvPr id="122" name="s122"/>
          <p:cNvSpPr txBox="1"/>
          <p:nvPr/>
        </p:nvSpPr>
        <p:spPr>
          <a:xfrm>
            <a:off x="9197492" y="2788920"/>
            <a:ext cx="2269084" cy="11887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Orders of 1,000 EGP get 100 EGP off instead of 50.</a:t>
            </a:r>
            <a:endParaRPr lang="en-US" sz="1250" dirty="0"/>
          </a:p>
        </p:txBody>
      </p:sp>
      <p:cxnSp>
        <p:nvCxnSpPr>
          <p:cNvPr id="123" name="ln123"/>
          <p:cNvCxnSpPr/>
          <p:nvPr/>
        </p:nvCxnSpPr>
        <p:spPr>
          <a:xfrm>
            <a:off x="8831732" y="2990088"/>
            <a:ext cx="146304" cy="0"/>
          </a:xfrm>
          <a:prstGeom prst="line">
            <a:avLst/>
          </a:prstGeom>
          <a:ln w="19050">
            <a:solidFill>
              <a:srgbClr val="94A3B8"/>
            </a:solidFill>
            <a:tailEnd type="triangle" w="med" len="med"/>
          </a:ln>
        </p:spPr>
      </p:cxnSp>
      <p:sp>
        <p:nvSpPr>
          <p:cNvPr id="124" name="s124"/>
          <p:cNvSpPr/>
          <p:nvPr/>
        </p:nvSpPr>
        <p:spPr>
          <a:xfrm>
            <a:off x="543154" y="4297680"/>
            <a:ext cx="5486400" cy="1325880"/>
          </a:xfrm>
          <a:prstGeom prst="roundRect">
            <a:avLst>
              <a:gd name="adj" fmla="val 10000"/>
            </a:avLst>
          </a:prstGeom>
          <a:solidFill>
            <a:srgbClr val="F87171">
              <a:alpha val="10000"/>
            </a:srgbClr>
          </a:solidFill>
          <a:ln w="12700">
            <a:solidFill>
              <a:srgbClr val="F87171"/>
            </a:solidFill>
            <a:prstDash val="solid"/>
          </a:ln>
        </p:spPr>
        <p:txBody>
          <a:bodyPr wrap="square" lIns="274320" tIns="91440" rIns="228600" bIns="91440" rtlCol="0" anchor="ctr">
            <a:noAutofit/>
          </a:bodyPr>
          <a:lstStyle/>
          <a:p>
            <a:pPr marL="0" indent="0" algn="l">
              <a:spcBef>
                <a:spcPts val="0"/>
              </a:spcBef>
              <a:spcAft>
                <a:spcPts val="400"/>
              </a:spcAft>
              <a:buNone/>
            </a:pPr>
            <a:r>
              <a:rPr lang="en-US" sz="1050" b="1" dirty="0">
                <a:solidFill>
                  <a:srgbClr val="F87171"/>
                </a:solidFill>
                <a:latin typeface="Segoe UI"/>
                <a:ea typeface="Segoe UI"/>
                <a:cs typeface="Segoe UI"/>
              </a:rPr>
              <a:t>MONDAY MORNING</a:t>
            </a:r>
            <a:endParaRPr lang="en-US" sz="1050" dirty="0"/>
          </a:p>
          <a:p>
            <a:pPr marL="0" indent="0" algn="l">
              <a:spcBef>
                <a:spcPts val="0"/>
              </a:spcBef>
              <a:spcAft>
                <a:spcPts val="0"/>
              </a:spcAft>
              <a:buNone/>
            </a:pPr>
            <a:r>
              <a:rPr lang="en-US" sz="1400" b="1" dirty="0">
                <a:solidFill>
                  <a:srgbClr val="FFFFFF"/>
                </a:solidFill>
                <a:latin typeface="Segoe UI"/>
                <a:ea typeface="Segoe UI"/>
                <a:cs typeface="Segoe UI"/>
              </a:rPr>
              <a:t>Hundreds of orders with the wrong price, refunds, angry restaurants, and a weekend of hot-fixes.</a:t>
            </a:r>
            <a:endParaRPr lang="en-US" sz="1400" dirty="0"/>
          </a:p>
        </p:txBody>
      </p:sp>
      <p:sp>
        <p:nvSpPr>
          <p:cNvPr id="125" name="s125"/>
          <p:cNvSpPr/>
          <p:nvPr/>
        </p:nvSpPr>
        <p:spPr>
          <a:xfrm>
            <a:off x="6303874" y="4297680"/>
            <a:ext cx="5327294" cy="13258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6" name="s126"/>
          <p:cNvSpPr/>
          <p:nvPr/>
        </p:nvSpPr>
        <p:spPr>
          <a:xfrm>
            <a:off x="6468466" y="44439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7" name="s127"/>
          <p:cNvSpPr/>
          <p:nvPr/>
        </p:nvSpPr>
        <p:spPr>
          <a:xfrm>
            <a:off x="6651346" y="44439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8" name="s128"/>
          <p:cNvSpPr/>
          <p:nvPr/>
        </p:nvSpPr>
        <p:spPr>
          <a:xfrm>
            <a:off x="6834226" y="44439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9" name="s129"/>
          <p:cNvSpPr/>
          <p:nvPr/>
        </p:nvSpPr>
        <p:spPr>
          <a:xfrm>
            <a:off x="7081114" y="437083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PriceCalculatorTests.cs</a:t>
            </a:r>
            <a:endParaRPr lang="en-US" sz="950" dirty="0"/>
          </a:p>
        </p:txBody>
      </p:sp>
      <p:cxnSp>
        <p:nvCxnSpPr>
          <p:cNvPr id="130" name="ln130"/>
          <p:cNvCxnSpPr/>
          <p:nvPr/>
        </p:nvCxnSpPr>
        <p:spPr>
          <a:xfrm>
            <a:off x="6303874" y="4709160"/>
            <a:ext cx="5327294" cy="0"/>
          </a:xfrm>
          <a:prstGeom prst="line">
            <a:avLst/>
          </a:prstGeom>
          <a:ln w="9525">
            <a:solidFill>
              <a:srgbClr val="1E3A5F"/>
            </a:solidFill>
          </a:ln>
        </p:spPr>
      </p:cxnSp>
      <p:sp>
        <p:nvSpPr>
          <p:cNvPr id="131" name="s131"/>
          <p:cNvSpPr/>
          <p:nvPr/>
        </p:nvSpPr>
        <p:spPr>
          <a:xfrm>
            <a:off x="6303874" y="4828032"/>
            <a:ext cx="53272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[InlineData(1000, 950)]</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10% capped at 50</a:t>
            </a:r>
            <a:endParaRPr lang="en-US" sz="1150" dirty="0"/>
          </a:p>
        </p:txBody>
      </p:sp>
      <p:sp>
        <p:nvSpPr>
          <p:cNvPr id="132" name="s132"/>
          <p:cNvSpPr/>
          <p:nvPr/>
        </p:nvSpPr>
        <p:spPr>
          <a:xfrm>
            <a:off x="6303874" y="5003292"/>
            <a:ext cx="53272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FAE7A"/>
                </a:solidFill>
                <a:latin typeface="Consolas"/>
                <a:ea typeface="Consolas"/>
                <a:cs typeface="Consolas"/>
              </a:rPr>
              <a:t>// ✗ Expected 950, Actual 900  → caught in 2 seconds</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ppt_x</p:attrName>
                                        </p:attrNameLst>
                                      </p:cBhvr>
                                      <p:tavLst>
                                        <p:tav tm="0">
                                          <p:val>
                                            <p:strVal val="#ppt_x-0.05"/>
                                          </p:val>
                                        </p:tav>
                                        <p:tav tm="100000">
                                          <p:val>
                                            <p:strVal val="#ppt_x"/>
                                          </p:val>
                                        </p:tav>
                                      </p:tavLst>
                                    </p:anim>
                                  </p:childTnLst>
                                </p:cTn>
                              </p:par>
                              <p:par>
                                <p:cTn id="13" presetID="42" presetClass="entr" presetSubtype="0"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ppt_x</p:attrName>
                                        </p:attrNameLst>
                                      </p:cBhvr>
                                      <p:tavLst>
                                        <p:tav tm="0">
                                          <p:val>
                                            <p:strVal val="#ppt_x-0.05"/>
                                          </p:val>
                                        </p:tav>
                                        <p:tav tm="100000">
                                          <p:val>
                                            <p:strVal val="#ppt_x"/>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ppt_x</p:attrName>
                                        </p:attrNameLst>
                                      </p:cBhvr>
                                      <p:tavLst>
                                        <p:tav tm="0">
                                          <p:val>
                                            <p:strVal val="#ppt_x-0.05"/>
                                          </p:val>
                                        </p:tav>
                                        <p:tav tm="100000">
                                          <p:val>
                                            <p:strVal val="#ppt_x"/>
                                          </p:val>
                                        </p:tav>
                                      </p:tavLst>
                                    </p:anim>
                                  </p:childTnLst>
                                </p:cTn>
                              </p:par>
                              <p:par>
                                <p:cTn id="47" presetID="42" presetClass="entr" presetSubtype="0" fill="hold" nodeType="withEffect">
                                  <p:stCondLst>
                                    <p:cond delay="0"/>
                                  </p:stCondLst>
                                  <p:childTnLst>
                                    <p:set>
                                      <p:cBhvr>
                                        <p:cTn id="48" dur="1" fill="hold">
                                          <p:stCondLst>
                                            <p:cond delay="0"/>
                                          </p:stCondLst>
                                        </p:cTn>
                                        <p:tgtEl>
                                          <p:spTgt spid="111"/>
                                        </p:tgtEl>
                                        <p:attrNameLst>
                                          <p:attrName>style.visibility</p:attrName>
                                        </p:attrNameLst>
                                      </p:cBhvr>
                                      <p:to>
                                        <p:strVal val="visible"/>
                                      </p:to>
                                    </p:set>
                                    <p:animEffect transition="in" filter="fade">
                                      <p:cBhvr>
                                        <p:cTn id="49" dur="500"/>
                                        <p:tgtEl>
                                          <p:spTgt spid="111"/>
                                        </p:tgtEl>
                                      </p:cBhvr>
                                    </p:animEffect>
                                    <p:anim calcmode="lin" valueType="num">
                                      <p:cBhvr additive="base">
                                        <p:cTn id="50" dur="500" decel="100000" fill="hold"/>
                                        <p:tgtEl>
                                          <p:spTgt spid="111"/>
                                        </p:tgtEl>
                                        <p:attrNameLst>
                                          <p:attrName>ppt_x</p:attrName>
                                        </p:attrNameLst>
                                      </p:cBhvr>
                                      <p:tavLst>
                                        <p:tav tm="0">
                                          <p:val>
                                            <p:strVal val="#ppt_x-0.05"/>
                                          </p:val>
                                        </p:tav>
                                        <p:tav tm="100000">
                                          <p:val>
                                            <p:strVal val="#ppt_x"/>
                                          </p:val>
                                        </p:tav>
                                      </p:tavLst>
                                    </p:anim>
                                  </p:childTnLst>
                                </p:cTn>
                              </p:par>
                            </p:childTnLst>
                          </p:cTn>
                        </p:par>
                      </p:childTnLst>
                    </p:cTn>
                  </p:par>
                  <p:par>
                    <p:cTn id="51" fill="hold">
                      <p:stCondLst>
                        <p:cond delay="indefinite"/>
                      </p:stCondLst>
                      <p:childTnLst>
                        <p:par>
                          <p:cTn id="52" fill="hold">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112"/>
                                        </p:tgtEl>
                                        <p:attrNameLst>
                                          <p:attrName>style.visibility</p:attrName>
                                        </p:attrNameLst>
                                      </p:cBhvr>
                                      <p:to>
                                        <p:strVal val="visible"/>
                                      </p:to>
                                    </p:set>
                                    <p:animEffect transition="in" filter="fade">
                                      <p:cBhvr>
                                        <p:cTn id="55" dur="500"/>
                                        <p:tgtEl>
                                          <p:spTgt spid="112"/>
                                        </p:tgtEl>
                                      </p:cBhvr>
                                    </p:animEffect>
                                    <p:anim calcmode="lin" valueType="num">
                                      <p:cBhvr additive="base">
                                        <p:cTn id="56" dur="500" decel="100000" fill="hold"/>
                                        <p:tgtEl>
                                          <p:spTgt spid="112"/>
                                        </p:tgtEl>
                                        <p:attrNameLst>
                                          <p:attrName>ppt_x</p:attrName>
                                        </p:attrNameLst>
                                      </p:cBhvr>
                                      <p:tavLst>
                                        <p:tav tm="0">
                                          <p:val>
                                            <p:strVal val="#ppt_x-0.05"/>
                                          </p:val>
                                        </p:tav>
                                        <p:tav tm="100000">
                                          <p:val>
                                            <p:strVal val="#ppt_x"/>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3"/>
                                        </p:tgtEl>
                                        <p:attrNameLst>
                                          <p:attrName>style.visibility</p:attrName>
                                        </p:attrNameLst>
                                      </p:cBhvr>
                                      <p:to>
                                        <p:strVal val="visible"/>
                                      </p:to>
                                    </p:set>
                                    <p:animEffect transition="in" filter="fade">
                                      <p:cBhvr>
                                        <p:cTn id="59" dur="500"/>
                                        <p:tgtEl>
                                          <p:spTgt spid="113"/>
                                        </p:tgtEl>
                                      </p:cBhvr>
                                    </p:animEffect>
                                    <p:anim calcmode="lin" valueType="num">
                                      <p:cBhvr additive="base">
                                        <p:cTn id="60" dur="500" decel="100000" fill="hold"/>
                                        <p:tgtEl>
                                          <p:spTgt spid="113"/>
                                        </p:tgtEl>
                                        <p:attrNameLst>
                                          <p:attrName>ppt_x</p:attrName>
                                        </p:attrNameLst>
                                      </p:cBhvr>
                                      <p:tavLst>
                                        <p:tav tm="0">
                                          <p:val>
                                            <p:strVal val="#ppt_x-0.05"/>
                                          </p:val>
                                        </p:tav>
                                        <p:tav tm="100000">
                                          <p:val>
                                            <p:strVal val="#ppt_x"/>
                                          </p:val>
                                        </p:tav>
                                      </p:tavLst>
                                    </p:anim>
                                  </p:childTnLst>
                                </p:cTn>
                              </p:par>
                              <p:par>
                                <p:cTn id="61" presetID="42" presetClass="entr" presetSubtype="0" fill="hold" nodeType="withEffect">
                                  <p:stCondLst>
                                    <p:cond delay="0"/>
                                  </p:stCondLst>
                                  <p:childTnLst>
                                    <p:set>
                                      <p:cBhvr>
                                        <p:cTn id="62" dur="1" fill="hold">
                                          <p:stCondLst>
                                            <p:cond delay="0"/>
                                          </p:stCondLst>
                                        </p:cTn>
                                        <p:tgtEl>
                                          <p:spTgt spid="114"/>
                                        </p:tgtEl>
                                        <p:attrNameLst>
                                          <p:attrName>style.visibility</p:attrName>
                                        </p:attrNameLst>
                                      </p:cBhvr>
                                      <p:to>
                                        <p:strVal val="visible"/>
                                      </p:to>
                                    </p:set>
                                    <p:animEffect transition="in" filter="fade">
                                      <p:cBhvr>
                                        <p:cTn id="63" dur="500"/>
                                        <p:tgtEl>
                                          <p:spTgt spid="114"/>
                                        </p:tgtEl>
                                      </p:cBhvr>
                                    </p:animEffect>
                                    <p:anim calcmode="lin" valueType="num">
                                      <p:cBhvr additive="base">
                                        <p:cTn id="64" dur="500" decel="100000" fill="hold"/>
                                        <p:tgtEl>
                                          <p:spTgt spid="114"/>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5"/>
                                        </p:tgtEl>
                                        <p:attrNameLst>
                                          <p:attrName>style.visibility</p:attrName>
                                        </p:attrNameLst>
                                      </p:cBhvr>
                                      <p:to>
                                        <p:strVal val="visible"/>
                                      </p:to>
                                    </p:set>
                                    <p:animEffect transition="in" filter="fade">
                                      <p:cBhvr>
                                        <p:cTn id="67" dur="500"/>
                                        <p:tgtEl>
                                          <p:spTgt spid="115"/>
                                        </p:tgtEl>
                                      </p:cBhvr>
                                    </p:animEffect>
                                    <p:anim calcmode="lin" valueType="num">
                                      <p:cBhvr additive="base">
                                        <p:cTn id="68" dur="500" decel="100000" fill="hold"/>
                                        <p:tgtEl>
                                          <p:spTgt spid="115"/>
                                        </p:tgtEl>
                                        <p:attrNameLst>
                                          <p:attrName>ppt_x</p:attrName>
                                        </p:attrNameLst>
                                      </p:cBhvr>
                                      <p:tavLst>
                                        <p:tav tm="0">
                                          <p:val>
                                            <p:strVal val="#ppt_x-0.05"/>
                                          </p:val>
                                        </p:tav>
                                        <p:tav tm="100000">
                                          <p:val>
                                            <p:strVal val="#ppt_x"/>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6"/>
                                        </p:tgtEl>
                                        <p:attrNameLst>
                                          <p:attrName>style.visibility</p:attrName>
                                        </p:attrNameLst>
                                      </p:cBhvr>
                                      <p:to>
                                        <p:strVal val="visible"/>
                                      </p:to>
                                    </p:set>
                                    <p:animEffect transition="in" filter="fade">
                                      <p:cBhvr>
                                        <p:cTn id="71" dur="500"/>
                                        <p:tgtEl>
                                          <p:spTgt spid="116"/>
                                        </p:tgtEl>
                                      </p:cBhvr>
                                    </p:animEffect>
                                    <p:anim calcmode="lin" valueType="num">
                                      <p:cBhvr additive="base">
                                        <p:cTn id="72" dur="500" decel="100000" fill="hold"/>
                                        <p:tgtEl>
                                          <p:spTgt spid="116"/>
                                        </p:tgtEl>
                                        <p:attrNameLst>
                                          <p:attrName>ppt_x</p:attrName>
                                        </p:attrNameLst>
                                      </p:cBhvr>
                                      <p:tavLst>
                                        <p:tav tm="0">
                                          <p:val>
                                            <p:strVal val="#ppt_x-0.05"/>
                                          </p:val>
                                        </p:tav>
                                        <p:tav tm="100000">
                                          <p:val>
                                            <p:strVal val="#ppt_x"/>
                                          </p:val>
                                        </p:tav>
                                      </p:tavLst>
                                    </p:anim>
                                  </p:childTnLst>
                                </p:cTn>
                              </p:par>
                              <p:par>
                                <p:cTn id="73" presetID="42" presetClass="entr" presetSubtype="0" fill="hold" nodeType="withEffect">
                                  <p:stCondLst>
                                    <p:cond delay="0"/>
                                  </p:stCondLst>
                                  <p:childTnLst>
                                    <p:set>
                                      <p:cBhvr>
                                        <p:cTn id="74" dur="1" fill="hold">
                                          <p:stCondLst>
                                            <p:cond delay="0"/>
                                          </p:stCondLst>
                                        </p:cTn>
                                        <p:tgtEl>
                                          <p:spTgt spid="117"/>
                                        </p:tgtEl>
                                        <p:attrNameLst>
                                          <p:attrName>style.visibility</p:attrName>
                                        </p:attrNameLst>
                                      </p:cBhvr>
                                      <p:to>
                                        <p:strVal val="visible"/>
                                      </p:to>
                                    </p:set>
                                    <p:animEffect transition="in" filter="fade">
                                      <p:cBhvr>
                                        <p:cTn id="75" dur="500"/>
                                        <p:tgtEl>
                                          <p:spTgt spid="117"/>
                                        </p:tgtEl>
                                      </p:cBhvr>
                                    </p:animEffect>
                                    <p:anim calcmode="lin" valueType="num">
                                      <p:cBhvr additive="base">
                                        <p:cTn id="76" dur="500" decel="100000" fill="hold"/>
                                        <p:tgtEl>
                                          <p:spTgt spid="117"/>
                                        </p:tgtEl>
                                        <p:attrNameLst>
                                          <p:attrName>ppt_x</p:attrName>
                                        </p:attrNameLst>
                                      </p:cBhvr>
                                      <p:tavLst>
                                        <p:tav tm="0">
                                          <p:val>
                                            <p:strVal val="#ppt_x-0.05"/>
                                          </p:val>
                                        </p:tav>
                                        <p:tav tm="100000">
                                          <p:val>
                                            <p:strVal val="#ppt_x"/>
                                          </p:val>
                                        </p:tav>
                                      </p:tavLst>
                                    </p:anim>
                                  </p:childTnLst>
                                </p:cTn>
                              </p:par>
                            </p:childTnLst>
                          </p:cTn>
                        </p:par>
                      </p:childTnLst>
                    </p:cTn>
                  </p:par>
                  <p:par>
                    <p:cTn id="77" fill="hold">
                      <p:stCondLst>
                        <p:cond delay="indefinite"/>
                      </p:stCondLst>
                      <p:childTnLst>
                        <p:par>
                          <p:cTn id="78" fill="hold">
                            <p:stCondLst>
                              <p:cond delay="0"/>
                            </p:stCondLst>
                            <p:childTnLst>
                              <p:par>
                                <p:cTn id="79" presetID="42" presetClass="entr" presetSubtype="0" fill="hold" grpId="0" nodeType="clickEffect">
                                  <p:stCondLst>
                                    <p:cond delay="0"/>
                                  </p:stCondLst>
                                  <p:childTnLst>
                                    <p:set>
                                      <p:cBhvr>
                                        <p:cTn id="80" dur="1" fill="hold">
                                          <p:stCondLst>
                                            <p:cond delay="0"/>
                                          </p:stCondLst>
                                        </p:cTn>
                                        <p:tgtEl>
                                          <p:spTgt spid="118"/>
                                        </p:tgtEl>
                                        <p:attrNameLst>
                                          <p:attrName>style.visibility</p:attrName>
                                        </p:attrNameLst>
                                      </p:cBhvr>
                                      <p:to>
                                        <p:strVal val="visible"/>
                                      </p:to>
                                    </p:set>
                                    <p:animEffect transition="in" filter="fade">
                                      <p:cBhvr>
                                        <p:cTn id="81" dur="500"/>
                                        <p:tgtEl>
                                          <p:spTgt spid="118"/>
                                        </p:tgtEl>
                                      </p:cBhvr>
                                    </p:animEffect>
                                    <p:anim calcmode="lin" valueType="num">
                                      <p:cBhvr additive="base">
                                        <p:cTn id="82" dur="500" decel="100000" fill="hold"/>
                                        <p:tgtEl>
                                          <p:spTgt spid="118"/>
                                        </p:tgtEl>
                                        <p:attrNameLst>
                                          <p:attrName>ppt_x</p:attrName>
                                        </p:attrNameLst>
                                      </p:cBhvr>
                                      <p:tavLst>
                                        <p:tav tm="0">
                                          <p:val>
                                            <p:strVal val="#ppt_x-0.05"/>
                                          </p:val>
                                        </p:tav>
                                        <p:tav tm="100000">
                                          <p:val>
                                            <p:strVal val="#ppt_x"/>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19"/>
                                        </p:tgtEl>
                                        <p:attrNameLst>
                                          <p:attrName>style.visibility</p:attrName>
                                        </p:attrNameLst>
                                      </p:cBhvr>
                                      <p:to>
                                        <p:strVal val="visible"/>
                                      </p:to>
                                    </p:set>
                                    <p:animEffect transition="in" filter="fade">
                                      <p:cBhvr>
                                        <p:cTn id="85" dur="500"/>
                                        <p:tgtEl>
                                          <p:spTgt spid="119"/>
                                        </p:tgtEl>
                                      </p:cBhvr>
                                    </p:animEffect>
                                    <p:anim calcmode="lin" valueType="num">
                                      <p:cBhvr additive="base">
                                        <p:cTn id="86" dur="500" decel="100000" fill="hold"/>
                                        <p:tgtEl>
                                          <p:spTgt spid="119"/>
                                        </p:tgtEl>
                                        <p:attrNameLst>
                                          <p:attrName>ppt_x</p:attrName>
                                        </p:attrNameLst>
                                      </p:cBhvr>
                                      <p:tavLst>
                                        <p:tav tm="0">
                                          <p:val>
                                            <p:strVal val="#ppt_x-0.05"/>
                                          </p:val>
                                        </p:tav>
                                        <p:tav tm="100000">
                                          <p:val>
                                            <p:strVal val="#ppt_x"/>
                                          </p:val>
                                        </p:tav>
                                      </p:tavLst>
                                    </p:anim>
                                  </p:childTnLst>
                                </p:cTn>
                              </p:par>
                              <p:par>
                                <p:cTn id="87" presetID="42" presetClass="entr" presetSubtype="0" fill="hold" nodeType="withEffect">
                                  <p:stCondLst>
                                    <p:cond delay="0"/>
                                  </p:stCondLst>
                                  <p:childTnLst>
                                    <p:set>
                                      <p:cBhvr>
                                        <p:cTn id="88" dur="1" fill="hold">
                                          <p:stCondLst>
                                            <p:cond delay="0"/>
                                          </p:stCondLst>
                                        </p:cTn>
                                        <p:tgtEl>
                                          <p:spTgt spid="120"/>
                                        </p:tgtEl>
                                        <p:attrNameLst>
                                          <p:attrName>style.visibility</p:attrName>
                                        </p:attrNameLst>
                                      </p:cBhvr>
                                      <p:to>
                                        <p:strVal val="visible"/>
                                      </p:to>
                                    </p:set>
                                    <p:animEffect transition="in" filter="fade">
                                      <p:cBhvr>
                                        <p:cTn id="89" dur="500"/>
                                        <p:tgtEl>
                                          <p:spTgt spid="120"/>
                                        </p:tgtEl>
                                      </p:cBhvr>
                                    </p:animEffect>
                                    <p:anim calcmode="lin" valueType="num">
                                      <p:cBhvr additive="base">
                                        <p:cTn id="90" dur="500" decel="100000" fill="hold"/>
                                        <p:tgtEl>
                                          <p:spTgt spid="120"/>
                                        </p:tgtEl>
                                        <p:attrNameLst>
                                          <p:attrName>ppt_x</p:attrName>
                                        </p:attrNameLst>
                                      </p:cBhvr>
                                      <p:tavLst>
                                        <p:tav tm="0">
                                          <p:val>
                                            <p:strVal val="#ppt_x-0.05"/>
                                          </p:val>
                                        </p:tav>
                                        <p:tav tm="100000">
                                          <p:val>
                                            <p:strVal val="#ppt_x"/>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1"/>
                                        </p:tgtEl>
                                        <p:attrNameLst>
                                          <p:attrName>style.visibility</p:attrName>
                                        </p:attrNameLst>
                                      </p:cBhvr>
                                      <p:to>
                                        <p:strVal val="visible"/>
                                      </p:to>
                                    </p:set>
                                    <p:animEffect transition="in" filter="fade">
                                      <p:cBhvr>
                                        <p:cTn id="93" dur="500"/>
                                        <p:tgtEl>
                                          <p:spTgt spid="121"/>
                                        </p:tgtEl>
                                      </p:cBhvr>
                                    </p:animEffect>
                                    <p:anim calcmode="lin" valueType="num">
                                      <p:cBhvr additive="base">
                                        <p:cTn id="94" dur="500" decel="100000" fill="hold"/>
                                        <p:tgtEl>
                                          <p:spTgt spid="121"/>
                                        </p:tgtEl>
                                        <p:attrNameLst>
                                          <p:attrName>ppt_x</p:attrName>
                                        </p:attrNameLst>
                                      </p:cBhvr>
                                      <p:tavLst>
                                        <p:tav tm="0">
                                          <p:val>
                                            <p:strVal val="#ppt_x-0.05"/>
                                          </p:val>
                                        </p:tav>
                                        <p:tav tm="100000">
                                          <p:val>
                                            <p:strVal val="#ppt_x"/>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2"/>
                                        </p:tgtEl>
                                        <p:attrNameLst>
                                          <p:attrName>style.visibility</p:attrName>
                                        </p:attrNameLst>
                                      </p:cBhvr>
                                      <p:to>
                                        <p:strVal val="visible"/>
                                      </p:to>
                                    </p:set>
                                    <p:animEffect transition="in" filter="fade">
                                      <p:cBhvr>
                                        <p:cTn id="97" dur="500"/>
                                        <p:tgtEl>
                                          <p:spTgt spid="122"/>
                                        </p:tgtEl>
                                      </p:cBhvr>
                                    </p:animEffect>
                                    <p:anim calcmode="lin" valueType="num">
                                      <p:cBhvr additive="base">
                                        <p:cTn id="98" dur="500" decel="100000" fill="hold"/>
                                        <p:tgtEl>
                                          <p:spTgt spid="122"/>
                                        </p:tgtEl>
                                        <p:attrNameLst>
                                          <p:attrName>ppt_x</p:attrName>
                                        </p:attrNameLst>
                                      </p:cBhvr>
                                      <p:tavLst>
                                        <p:tav tm="0">
                                          <p:val>
                                            <p:strVal val="#ppt_x-0.05"/>
                                          </p:val>
                                        </p:tav>
                                        <p:tav tm="100000">
                                          <p:val>
                                            <p:strVal val="#ppt_x"/>
                                          </p:val>
                                        </p:tav>
                                      </p:tavLst>
                                    </p:anim>
                                  </p:childTnLst>
                                </p:cTn>
                              </p:par>
                              <p:par>
                                <p:cTn id="99" presetID="42" presetClass="entr" presetSubtype="0" fill="hold" nodeType="withEffect">
                                  <p:stCondLst>
                                    <p:cond delay="0"/>
                                  </p:stCondLst>
                                  <p:childTnLst>
                                    <p:set>
                                      <p:cBhvr>
                                        <p:cTn id="100" dur="1" fill="hold">
                                          <p:stCondLst>
                                            <p:cond delay="0"/>
                                          </p:stCondLst>
                                        </p:cTn>
                                        <p:tgtEl>
                                          <p:spTgt spid="123"/>
                                        </p:tgtEl>
                                        <p:attrNameLst>
                                          <p:attrName>style.visibility</p:attrName>
                                        </p:attrNameLst>
                                      </p:cBhvr>
                                      <p:to>
                                        <p:strVal val="visible"/>
                                      </p:to>
                                    </p:set>
                                    <p:animEffect transition="in" filter="fade">
                                      <p:cBhvr>
                                        <p:cTn id="101" dur="500"/>
                                        <p:tgtEl>
                                          <p:spTgt spid="123"/>
                                        </p:tgtEl>
                                      </p:cBhvr>
                                    </p:animEffect>
                                    <p:anim calcmode="lin" valueType="num">
                                      <p:cBhvr additive="base">
                                        <p:cTn id="102" dur="500" decel="100000" fill="hold"/>
                                        <p:tgtEl>
                                          <p:spTgt spid="123"/>
                                        </p:tgtEl>
                                        <p:attrNameLst>
                                          <p:attrName>ppt_x</p:attrName>
                                        </p:attrNameLst>
                                      </p:cBhvr>
                                      <p:tavLst>
                                        <p:tav tm="0">
                                          <p:val>
                                            <p:strVal val="#ppt_x-0.05"/>
                                          </p:val>
                                        </p:tav>
                                        <p:tav tm="100000">
                                          <p:val>
                                            <p:strVal val="#ppt_x"/>
                                          </p:val>
                                        </p:tav>
                                      </p:tavLst>
                                    </p:anim>
                                  </p:childTnLst>
                                </p:cTn>
                              </p:par>
                            </p:childTnLst>
                          </p:cTn>
                        </p:par>
                      </p:childTnLst>
                    </p:cTn>
                  </p:par>
                  <p:par>
                    <p:cTn id="103" fill="hold">
                      <p:stCondLst>
                        <p:cond delay="indefinite"/>
                      </p:stCondLst>
                      <p:childTnLst>
                        <p:par>
                          <p:cTn id="104" fill="hold">
                            <p:stCondLst>
                              <p:cond delay="0"/>
                            </p:stCondLst>
                            <p:childTnLst>
                              <p:par>
                                <p:cTn id="105" presetID="53" presetClass="entr" presetSubtype="16" fill="hold" grpId="0" nodeType="clickEffect">
                                  <p:stCondLst>
                                    <p:cond delay="0"/>
                                  </p:stCondLst>
                                  <p:childTnLst>
                                    <p:set>
                                      <p:cBhvr>
                                        <p:cTn id="106" dur="1" fill="hold">
                                          <p:stCondLst>
                                            <p:cond delay="0"/>
                                          </p:stCondLst>
                                        </p:cTn>
                                        <p:tgtEl>
                                          <p:spTgt spid="124"/>
                                        </p:tgtEl>
                                        <p:attrNameLst>
                                          <p:attrName>style.visibility</p:attrName>
                                        </p:attrNameLst>
                                      </p:cBhvr>
                                      <p:to>
                                        <p:strVal val="visible"/>
                                      </p:to>
                                    </p:set>
                                    <p:anim calcmode="lin" valueType="num">
                                      <p:cBhvr additive="base">
                                        <p:cTn id="107" dur="500" decel="100000" fill="hold"/>
                                        <p:tgtEl>
                                          <p:spTgt spid="124"/>
                                        </p:tgtEl>
                                        <p:attrNameLst>
                                          <p:attrName>ppt_w</p:attrName>
                                        </p:attrNameLst>
                                      </p:cBhvr>
                                      <p:tavLst>
                                        <p:tav tm="0">
                                          <p:val>
                                            <p:strVal val="#ppt_w*0.55"/>
                                          </p:val>
                                        </p:tav>
                                        <p:tav tm="100000">
                                          <p:val>
                                            <p:strVal val="#ppt_w"/>
                                          </p:val>
                                        </p:tav>
                                      </p:tavLst>
                                    </p:anim>
                                    <p:anim calcmode="lin" valueType="num">
                                      <p:cBhvr additive="base">
                                        <p:cTn id="108" dur="500" decel="100000" fill="hold"/>
                                        <p:tgtEl>
                                          <p:spTgt spid="124"/>
                                        </p:tgtEl>
                                        <p:attrNameLst>
                                          <p:attrName>ppt_h</p:attrName>
                                        </p:attrNameLst>
                                      </p:cBhvr>
                                      <p:tavLst>
                                        <p:tav tm="0">
                                          <p:val>
                                            <p:strVal val="#ppt_h*0.55"/>
                                          </p:val>
                                        </p:tav>
                                        <p:tav tm="100000">
                                          <p:val>
                                            <p:strVal val="#ppt_h"/>
                                          </p:val>
                                        </p:tav>
                                      </p:tavLst>
                                    </p:anim>
                                    <p:animEffect transition="in" filter="fade">
                                      <p:cBhvr>
                                        <p:cTn id="109" dur="500"/>
                                        <p:tgtEl>
                                          <p:spTgt spid="124"/>
                                        </p:tgtEl>
                                      </p:cBhvr>
                                    </p:animEffect>
                                  </p:childTnLst>
                                </p:cTn>
                              </p:par>
                            </p:childTnLst>
                          </p:cTn>
                        </p:par>
                      </p:childTnLst>
                    </p:cTn>
                  </p:par>
                  <p:par>
                    <p:cTn id="110" fill="hold">
                      <p:stCondLst>
                        <p:cond delay="indefinite"/>
                      </p:stCondLst>
                      <p:childTnLst>
                        <p:par>
                          <p:cTn id="111" fill="hold">
                            <p:stCondLst>
                              <p:cond delay="0"/>
                            </p:stCondLst>
                            <p:childTnLst>
                              <p:par>
                                <p:cTn id="112" presetID="42" presetClass="entr" presetSubtype="0" fill="hold" grpId="0" nodeType="clickEffect">
                                  <p:stCondLst>
                                    <p:cond delay="0"/>
                                  </p:stCondLst>
                                  <p:childTnLst>
                                    <p:set>
                                      <p:cBhvr>
                                        <p:cTn id="113" dur="1" fill="hold">
                                          <p:stCondLst>
                                            <p:cond delay="0"/>
                                          </p:stCondLst>
                                        </p:cTn>
                                        <p:tgtEl>
                                          <p:spTgt spid="125"/>
                                        </p:tgtEl>
                                        <p:attrNameLst>
                                          <p:attrName>style.visibility</p:attrName>
                                        </p:attrNameLst>
                                      </p:cBhvr>
                                      <p:to>
                                        <p:strVal val="visible"/>
                                      </p:to>
                                    </p:set>
                                    <p:animEffect transition="in" filter="fade">
                                      <p:cBhvr>
                                        <p:cTn id="114" dur="500"/>
                                        <p:tgtEl>
                                          <p:spTgt spid="125"/>
                                        </p:tgtEl>
                                      </p:cBhvr>
                                    </p:animEffect>
                                    <p:anim calcmode="lin" valueType="num">
                                      <p:cBhvr additive="base">
                                        <p:cTn id="115" dur="500" decel="100000" fill="hold"/>
                                        <p:tgtEl>
                                          <p:spTgt spid="125"/>
                                        </p:tgtEl>
                                        <p:attrNameLst>
                                          <p:attrName>ppt_y</p:attrName>
                                        </p:attrNameLst>
                                      </p:cBhvr>
                                      <p:tavLst>
                                        <p:tav tm="0">
                                          <p:val>
                                            <p:strVal val="#ppt_y+0.06"/>
                                          </p:val>
                                        </p:tav>
                                        <p:tav tm="100000">
                                          <p:val>
                                            <p:strVal val="#ppt_y"/>
                                          </p:val>
                                        </p:tav>
                                      </p:tavLst>
                                    </p:anim>
                                  </p:childTnLst>
                                </p:cTn>
                              </p:par>
                              <p:par>
                                <p:cTn id="116" presetID="42" presetClass="entr" presetSubtype="0" fill="hold" grpId="0" nodeType="withEffect">
                                  <p:stCondLst>
                                    <p:cond delay="0"/>
                                  </p:stCondLst>
                                  <p:childTnLst>
                                    <p:set>
                                      <p:cBhvr>
                                        <p:cTn id="117" dur="1" fill="hold">
                                          <p:stCondLst>
                                            <p:cond delay="0"/>
                                          </p:stCondLst>
                                        </p:cTn>
                                        <p:tgtEl>
                                          <p:spTgt spid="126"/>
                                        </p:tgtEl>
                                        <p:attrNameLst>
                                          <p:attrName>style.visibility</p:attrName>
                                        </p:attrNameLst>
                                      </p:cBhvr>
                                      <p:to>
                                        <p:strVal val="visible"/>
                                      </p:to>
                                    </p:set>
                                    <p:animEffect transition="in" filter="fade">
                                      <p:cBhvr>
                                        <p:cTn id="118" dur="500"/>
                                        <p:tgtEl>
                                          <p:spTgt spid="126"/>
                                        </p:tgtEl>
                                      </p:cBhvr>
                                    </p:animEffect>
                                    <p:anim calcmode="lin" valueType="num">
                                      <p:cBhvr additive="base">
                                        <p:cTn id="119" dur="500" decel="100000" fill="hold"/>
                                        <p:tgtEl>
                                          <p:spTgt spid="126"/>
                                        </p:tgtEl>
                                        <p:attrNameLst>
                                          <p:attrName>ppt_y</p:attrName>
                                        </p:attrNameLst>
                                      </p:cBhvr>
                                      <p:tavLst>
                                        <p:tav tm="0">
                                          <p:val>
                                            <p:strVal val="#ppt_y+0.06"/>
                                          </p:val>
                                        </p:tav>
                                        <p:tav tm="100000">
                                          <p:val>
                                            <p:strVal val="#ppt_y"/>
                                          </p:val>
                                        </p:tav>
                                      </p:tavLst>
                                    </p:anim>
                                  </p:childTnLst>
                                </p:cTn>
                              </p:par>
                              <p:par>
                                <p:cTn id="120" presetID="42" presetClass="entr" presetSubtype="0" fill="hold" grpId="0" nodeType="withEffect">
                                  <p:stCondLst>
                                    <p:cond delay="0"/>
                                  </p:stCondLst>
                                  <p:childTnLst>
                                    <p:set>
                                      <p:cBhvr>
                                        <p:cTn id="121" dur="1" fill="hold">
                                          <p:stCondLst>
                                            <p:cond delay="0"/>
                                          </p:stCondLst>
                                        </p:cTn>
                                        <p:tgtEl>
                                          <p:spTgt spid="127"/>
                                        </p:tgtEl>
                                        <p:attrNameLst>
                                          <p:attrName>style.visibility</p:attrName>
                                        </p:attrNameLst>
                                      </p:cBhvr>
                                      <p:to>
                                        <p:strVal val="visible"/>
                                      </p:to>
                                    </p:set>
                                    <p:animEffect transition="in" filter="fade">
                                      <p:cBhvr>
                                        <p:cTn id="122" dur="500"/>
                                        <p:tgtEl>
                                          <p:spTgt spid="127"/>
                                        </p:tgtEl>
                                      </p:cBhvr>
                                    </p:animEffect>
                                    <p:anim calcmode="lin" valueType="num">
                                      <p:cBhvr additive="base">
                                        <p:cTn id="123" dur="500" decel="100000" fill="hold"/>
                                        <p:tgtEl>
                                          <p:spTgt spid="127"/>
                                        </p:tgtEl>
                                        <p:attrNameLst>
                                          <p:attrName>ppt_y</p:attrName>
                                        </p:attrNameLst>
                                      </p:cBhvr>
                                      <p:tavLst>
                                        <p:tav tm="0">
                                          <p:val>
                                            <p:strVal val="#ppt_y+0.06"/>
                                          </p:val>
                                        </p:tav>
                                        <p:tav tm="100000">
                                          <p:val>
                                            <p:strVal val="#ppt_y"/>
                                          </p:val>
                                        </p:tav>
                                      </p:tavLst>
                                    </p:anim>
                                  </p:childTnLst>
                                </p:cTn>
                              </p:par>
                              <p:par>
                                <p:cTn id="124" presetID="42" presetClass="entr" presetSubtype="0" fill="hold" grpId="0" nodeType="withEffect">
                                  <p:stCondLst>
                                    <p:cond delay="0"/>
                                  </p:stCondLst>
                                  <p:childTnLst>
                                    <p:set>
                                      <p:cBhvr>
                                        <p:cTn id="125" dur="1" fill="hold">
                                          <p:stCondLst>
                                            <p:cond delay="0"/>
                                          </p:stCondLst>
                                        </p:cTn>
                                        <p:tgtEl>
                                          <p:spTgt spid="128"/>
                                        </p:tgtEl>
                                        <p:attrNameLst>
                                          <p:attrName>style.visibility</p:attrName>
                                        </p:attrNameLst>
                                      </p:cBhvr>
                                      <p:to>
                                        <p:strVal val="visible"/>
                                      </p:to>
                                    </p:set>
                                    <p:animEffect transition="in" filter="fade">
                                      <p:cBhvr>
                                        <p:cTn id="126" dur="500"/>
                                        <p:tgtEl>
                                          <p:spTgt spid="128"/>
                                        </p:tgtEl>
                                      </p:cBhvr>
                                    </p:animEffect>
                                    <p:anim calcmode="lin" valueType="num">
                                      <p:cBhvr additive="base">
                                        <p:cTn id="127" dur="500" decel="100000" fill="hold"/>
                                        <p:tgtEl>
                                          <p:spTgt spid="128"/>
                                        </p:tgtEl>
                                        <p:attrNameLst>
                                          <p:attrName>ppt_y</p:attrName>
                                        </p:attrNameLst>
                                      </p:cBhvr>
                                      <p:tavLst>
                                        <p:tav tm="0">
                                          <p:val>
                                            <p:strVal val="#ppt_y+0.06"/>
                                          </p:val>
                                        </p:tav>
                                        <p:tav tm="100000">
                                          <p:val>
                                            <p:strVal val="#ppt_y"/>
                                          </p:val>
                                        </p:tav>
                                      </p:tavLst>
                                    </p:anim>
                                  </p:childTnLst>
                                </p:cTn>
                              </p:par>
                              <p:par>
                                <p:cTn id="128" presetID="42" presetClass="entr" presetSubtype="0" fill="hold" grpId="0" nodeType="withEffect">
                                  <p:stCondLst>
                                    <p:cond delay="0"/>
                                  </p:stCondLst>
                                  <p:childTnLst>
                                    <p:set>
                                      <p:cBhvr>
                                        <p:cTn id="129" dur="1" fill="hold">
                                          <p:stCondLst>
                                            <p:cond delay="0"/>
                                          </p:stCondLst>
                                        </p:cTn>
                                        <p:tgtEl>
                                          <p:spTgt spid="129"/>
                                        </p:tgtEl>
                                        <p:attrNameLst>
                                          <p:attrName>style.visibility</p:attrName>
                                        </p:attrNameLst>
                                      </p:cBhvr>
                                      <p:to>
                                        <p:strVal val="visible"/>
                                      </p:to>
                                    </p:set>
                                    <p:animEffect transition="in" filter="fade">
                                      <p:cBhvr>
                                        <p:cTn id="130" dur="500"/>
                                        <p:tgtEl>
                                          <p:spTgt spid="129"/>
                                        </p:tgtEl>
                                      </p:cBhvr>
                                    </p:animEffect>
                                    <p:anim calcmode="lin" valueType="num">
                                      <p:cBhvr additive="base">
                                        <p:cTn id="131" dur="500" decel="100000" fill="hold"/>
                                        <p:tgtEl>
                                          <p:spTgt spid="129"/>
                                        </p:tgtEl>
                                        <p:attrNameLst>
                                          <p:attrName>ppt_y</p:attrName>
                                        </p:attrNameLst>
                                      </p:cBhvr>
                                      <p:tavLst>
                                        <p:tav tm="0">
                                          <p:val>
                                            <p:strVal val="#ppt_y+0.06"/>
                                          </p:val>
                                        </p:tav>
                                        <p:tav tm="100000">
                                          <p:val>
                                            <p:strVal val="#ppt_y"/>
                                          </p:val>
                                        </p:tav>
                                      </p:tavLst>
                                    </p:anim>
                                  </p:childTnLst>
                                </p:cTn>
                              </p:par>
                              <p:par>
                                <p:cTn id="132" presetID="42" presetClass="entr" presetSubtype="0" fill="hold" nodeType="withEffect">
                                  <p:stCondLst>
                                    <p:cond delay="0"/>
                                  </p:stCondLst>
                                  <p:childTnLst>
                                    <p:set>
                                      <p:cBhvr>
                                        <p:cTn id="133" dur="1" fill="hold">
                                          <p:stCondLst>
                                            <p:cond delay="0"/>
                                          </p:stCondLst>
                                        </p:cTn>
                                        <p:tgtEl>
                                          <p:spTgt spid="130"/>
                                        </p:tgtEl>
                                        <p:attrNameLst>
                                          <p:attrName>style.visibility</p:attrName>
                                        </p:attrNameLst>
                                      </p:cBhvr>
                                      <p:to>
                                        <p:strVal val="visible"/>
                                      </p:to>
                                    </p:set>
                                    <p:animEffect transition="in" filter="fade">
                                      <p:cBhvr>
                                        <p:cTn id="134" dur="500"/>
                                        <p:tgtEl>
                                          <p:spTgt spid="130"/>
                                        </p:tgtEl>
                                      </p:cBhvr>
                                    </p:animEffect>
                                    <p:anim calcmode="lin" valueType="num">
                                      <p:cBhvr additive="base">
                                        <p:cTn id="135" dur="500" decel="100000" fill="hold"/>
                                        <p:tgtEl>
                                          <p:spTgt spid="130"/>
                                        </p:tgtEl>
                                        <p:attrNameLst>
                                          <p:attrName>ppt_y</p:attrName>
                                        </p:attrNameLst>
                                      </p:cBhvr>
                                      <p:tavLst>
                                        <p:tav tm="0">
                                          <p:val>
                                            <p:strVal val="#ppt_y+0.06"/>
                                          </p:val>
                                        </p:tav>
                                        <p:tav tm="100000">
                                          <p:val>
                                            <p:strVal val="#ppt_y"/>
                                          </p:val>
                                        </p:tav>
                                      </p:tavLst>
                                    </p:anim>
                                  </p:childTnLst>
                                </p:cTn>
                              </p:par>
                              <p:par>
                                <p:cTn id="136" presetID="42" presetClass="entr" presetSubtype="0" fill="hold" grpId="0" nodeType="withEffect">
                                  <p:stCondLst>
                                    <p:cond delay="0"/>
                                  </p:stCondLst>
                                  <p:childTnLst>
                                    <p:set>
                                      <p:cBhvr>
                                        <p:cTn id="137" dur="1" fill="hold">
                                          <p:stCondLst>
                                            <p:cond delay="0"/>
                                          </p:stCondLst>
                                        </p:cTn>
                                        <p:tgtEl>
                                          <p:spTgt spid="131"/>
                                        </p:tgtEl>
                                        <p:attrNameLst>
                                          <p:attrName>style.visibility</p:attrName>
                                        </p:attrNameLst>
                                      </p:cBhvr>
                                      <p:to>
                                        <p:strVal val="visible"/>
                                      </p:to>
                                    </p:set>
                                    <p:animEffect transition="in" filter="fade">
                                      <p:cBhvr>
                                        <p:cTn id="138" dur="500"/>
                                        <p:tgtEl>
                                          <p:spTgt spid="131"/>
                                        </p:tgtEl>
                                      </p:cBhvr>
                                    </p:animEffect>
                                    <p:anim calcmode="lin" valueType="num">
                                      <p:cBhvr additive="base">
                                        <p:cTn id="139" dur="500" decel="100000" fill="hold"/>
                                        <p:tgtEl>
                                          <p:spTgt spid="131"/>
                                        </p:tgtEl>
                                        <p:attrNameLst>
                                          <p:attrName>ppt_y</p:attrName>
                                        </p:attrNameLst>
                                      </p:cBhvr>
                                      <p:tavLst>
                                        <p:tav tm="0">
                                          <p:val>
                                            <p:strVal val="#ppt_y+0.06"/>
                                          </p:val>
                                        </p:tav>
                                        <p:tav tm="100000">
                                          <p:val>
                                            <p:strVal val="#ppt_y"/>
                                          </p:val>
                                        </p:tav>
                                      </p:tavLst>
                                    </p:anim>
                                  </p:childTnLst>
                                </p:cTn>
                              </p:par>
                              <p:par>
                                <p:cTn id="140" presetID="42" presetClass="entr" presetSubtype="0" fill="hold" grpId="0" nodeType="withEffect">
                                  <p:stCondLst>
                                    <p:cond delay="0"/>
                                  </p:stCondLst>
                                  <p:childTnLst>
                                    <p:set>
                                      <p:cBhvr>
                                        <p:cTn id="141" dur="1" fill="hold">
                                          <p:stCondLst>
                                            <p:cond delay="0"/>
                                          </p:stCondLst>
                                        </p:cTn>
                                        <p:tgtEl>
                                          <p:spTgt spid="132"/>
                                        </p:tgtEl>
                                        <p:attrNameLst>
                                          <p:attrName>style.visibility</p:attrName>
                                        </p:attrNameLst>
                                      </p:cBhvr>
                                      <p:to>
                                        <p:strVal val="visible"/>
                                      </p:to>
                                    </p:set>
                                    <p:animEffect transition="in" filter="fade">
                                      <p:cBhvr>
                                        <p:cTn id="142" dur="500"/>
                                        <p:tgtEl>
                                          <p:spTgt spid="132"/>
                                        </p:tgtEl>
                                      </p:cBhvr>
                                    </p:animEffect>
                                    <p:anim calcmode="lin" valueType="num">
                                      <p:cBhvr additive="base">
                                        <p:cTn id="143" dur="500" decel="100000" fill="hold"/>
                                        <p:tgtEl>
                                          <p:spTgt spid="132"/>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9" grpId="0" animBg="1"/>
      <p:bldP spid="110" grpId="0" animBg="1"/>
      <p:bldP spid="112" grpId="0" animBg="1"/>
      <p:bldP spid="113" grpId="0" animBg="1"/>
      <p:bldP spid="115" grpId="0" animBg="1"/>
      <p:bldP spid="116" grpId="0" animBg="1"/>
      <p:bldP spid="118" grpId="0" animBg="1"/>
      <p:bldP spid="119" grpId="0" animBg="1"/>
      <p:bldP spid="121" grpId="0" animBg="1"/>
      <p:bldP spid="122" grpId="0" animBg="1"/>
      <p:bldP spid="124" grpId="0" animBg="1"/>
      <p:bldP spid="125" grpId="0" animBg="1"/>
      <p:bldP spid="126" grpId="0" animBg="1"/>
      <p:bldP spid="127" grpId="0" animBg="1"/>
      <p:bldP spid="128" grpId="0" animBg="1"/>
      <p:bldP spid="129" grpId="0" animBg="1"/>
      <p:bldP spid="131" grpId="0" animBg="1"/>
      <p:bldP spid="132"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REAL WORLD</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When Software Was Not Tested Well Enough</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Four famous failures. Each one is a missing check at a boundary, a unit, or a release.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WHY</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107</a:t>
            </a:r>
            <a:endParaRPr lang="en-US" sz="850" dirty="0"/>
          </a:p>
        </p:txBody>
      </p:sp>
      <p:sp>
        <p:nvSpPr>
          <p:cNvPr id="101" name="s101"/>
          <p:cNvSpPr/>
          <p:nvPr/>
        </p:nvSpPr>
        <p:spPr>
          <a:xfrm>
            <a:off x="543154" y="1920240"/>
            <a:ext cx="5406847" cy="1737360"/>
          </a:xfrm>
          <a:prstGeom prst="roundRect">
            <a:avLst>
              <a:gd name="adj" fmla="val 9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02" name="s102"/>
          <p:cNvSpPr/>
          <p:nvPr/>
        </p:nvSpPr>
        <p:spPr>
          <a:xfrm>
            <a:off x="771754" y="2148840"/>
            <a:ext cx="548640" cy="54864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903427" y="2280514"/>
            <a:ext cx="285293" cy="285293"/>
          </a:xfrm>
          <a:prstGeom prst="rect">
            <a:avLst/>
          </a:prstGeom>
        </p:spPr>
      </p:pic>
      <p:sp>
        <p:nvSpPr>
          <p:cNvPr id="104" name="s104"/>
          <p:cNvSpPr txBox="1"/>
          <p:nvPr/>
        </p:nvSpPr>
        <p:spPr>
          <a:xfrm>
            <a:off x="1503274" y="2148840"/>
            <a:ext cx="426384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F87171"/>
                </a:solidFill>
                <a:latin typeface="Segoe UI"/>
                <a:ea typeface="Segoe UI"/>
                <a:cs typeface="Segoe UI"/>
              </a:rPr>
              <a:t>Ariane 5 · 1996</a:t>
            </a:r>
            <a:endParaRPr lang="en-US" sz="1600" dirty="0"/>
          </a:p>
        </p:txBody>
      </p:sp>
      <p:sp>
        <p:nvSpPr>
          <p:cNvPr id="105" name="s105"/>
          <p:cNvSpPr txBox="1"/>
          <p:nvPr/>
        </p:nvSpPr>
        <p:spPr>
          <a:xfrm>
            <a:off x="817474" y="2761488"/>
            <a:ext cx="4903927"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A 64-bit value was squeezed into a 16-bit integer. It overflowed; the rocket was lost ~37 s after launch.</a:t>
            </a:r>
            <a:endParaRPr lang="en-US" sz="1250" dirty="0"/>
          </a:p>
        </p:txBody>
      </p:sp>
      <p:sp>
        <p:nvSpPr>
          <p:cNvPr id="106" name="s106"/>
          <p:cNvSpPr txBox="1"/>
          <p:nvPr/>
        </p:nvSpPr>
        <p:spPr>
          <a:xfrm>
            <a:off x="817474" y="3291840"/>
            <a:ext cx="4903927"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1" dirty="0">
                <a:solidFill>
                  <a:srgbClr val="34D399"/>
                </a:solidFill>
                <a:latin typeface="Segoe UI"/>
                <a:ea typeface="Segoe UI"/>
                <a:cs typeface="Segoe UI"/>
              </a:rPr>
              <a:t>Lesson: </a:t>
            </a:r>
            <a:r>
              <a:rPr lang="en-US" sz="1150" b="0" dirty="0">
                <a:solidFill>
                  <a:srgbClr val="34D399"/>
                </a:solidFill>
                <a:latin typeface="Segoe UI"/>
                <a:ea typeface="Segoe UI"/>
                <a:cs typeface="Segoe UI"/>
              </a:rPr>
              <a:t>Test the boundaries with the NEW data.</a:t>
            </a:r>
            <a:endParaRPr lang="en-US" sz="1150" dirty="0"/>
          </a:p>
        </p:txBody>
      </p:sp>
      <p:sp>
        <p:nvSpPr>
          <p:cNvPr id="107" name="s107"/>
          <p:cNvSpPr/>
          <p:nvPr/>
        </p:nvSpPr>
        <p:spPr>
          <a:xfrm>
            <a:off x="6224321" y="1920240"/>
            <a:ext cx="5406847" cy="1737360"/>
          </a:xfrm>
          <a:prstGeom prst="roundRect">
            <a:avLst>
              <a:gd name="adj" fmla="val 9000"/>
            </a:avLst>
          </a:prstGeom>
          <a:solidFill>
            <a:srgbClr val="111B2E"/>
          </a:solidFill>
          <a:ln w="12700">
            <a:solidFill>
              <a:srgbClr val="F0A98B"/>
            </a:solidFill>
            <a:prstDash val="solid"/>
          </a:ln>
        </p:spPr>
        <p:txBody>
          <a:bodyPr wrap="square" lIns="164592" tIns="109728" rIns="137160" bIns="91440" rtlCol="0" anchor="t">
            <a:noAutofit/>
          </a:bodyPr>
          <a:lstStyle/>
          <a:p>
            <a:endParaRPr lang="en-US"/>
          </a:p>
        </p:txBody>
      </p:sp>
      <p:sp>
        <p:nvSpPr>
          <p:cNvPr id="108" name="s108"/>
          <p:cNvSpPr/>
          <p:nvPr/>
        </p:nvSpPr>
        <p:spPr>
          <a:xfrm>
            <a:off x="6452921" y="2148840"/>
            <a:ext cx="548640" cy="548640"/>
          </a:xfrm>
          <a:prstGeom prst="ellipse">
            <a:avLst/>
          </a:prstGeom>
          <a:solidFill>
            <a:srgbClr val="F0A98B">
              <a:alpha val="16000"/>
            </a:srgbClr>
          </a:solidFill>
          <a:ln w="12700">
            <a:solidFill>
              <a:srgbClr val="F0A98B">
                <a:alpha val="55000"/>
              </a:srgbClr>
            </a:solidFill>
            <a:prstDash val="solid"/>
          </a:ln>
        </p:spPr>
        <p:txBody>
          <a:bodyPr wrap="square" lIns="164592" tIns="109728" rIns="137160" bIns="91440" rtlCol="0" anchor="t">
            <a:noAutofit/>
          </a:bodyPr>
          <a:lstStyle/>
          <a:p>
            <a:endParaRPr lang="en-US"/>
          </a:p>
        </p:txBody>
      </p:sp>
      <p:pic>
        <p:nvPicPr>
          <p:cNvPr id="109" name="img109"/>
          <p:cNvPicPr>
            <a:picLocks noChangeAspect="1"/>
          </p:cNvPicPr>
          <p:nvPr/>
        </p:nvPicPr>
        <p:blipFill>
          <a:blip r:embed="rId5"/>
          <a:stretch>
            <a:fillRect/>
          </a:stretch>
        </p:blipFill>
        <p:spPr>
          <a:xfrm>
            <a:off x="6584594" y="2280514"/>
            <a:ext cx="285293" cy="285293"/>
          </a:xfrm>
          <a:prstGeom prst="rect">
            <a:avLst/>
          </a:prstGeom>
        </p:spPr>
      </p:pic>
      <p:sp>
        <p:nvSpPr>
          <p:cNvPr id="110" name="s110"/>
          <p:cNvSpPr txBox="1"/>
          <p:nvPr/>
        </p:nvSpPr>
        <p:spPr>
          <a:xfrm>
            <a:off x="7184441" y="2148840"/>
            <a:ext cx="426384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F0A98B"/>
                </a:solidFill>
                <a:latin typeface="Segoe UI"/>
                <a:ea typeface="Segoe UI"/>
                <a:cs typeface="Segoe UI"/>
              </a:rPr>
              <a:t>Mars Climate Orbiter · 1999</a:t>
            </a:r>
            <a:endParaRPr lang="en-US" sz="1600" dirty="0"/>
          </a:p>
        </p:txBody>
      </p:sp>
      <p:sp>
        <p:nvSpPr>
          <p:cNvPr id="111" name="s111"/>
          <p:cNvSpPr txBox="1"/>
          <p:nvPr/>
        </p:nvSpPr>
        <p:spPr>
          <a:xfrm>
            <a:off x="6498641" y="2761488"/>
            <a:ext cx="4903927"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One team used imperial units, the other metric. The spacecraft was lost.</a:t>
            </a:r>
            <a:endParaRPr lang="en-US" sz="1250" dirty="0"/>
          </a:p>
        </p:txBody>
      </p:sp>
      <p:sp>
        <p:nvSpPr>
          <p:cNvPr id="112" name="s112"/>
          <p:cNvSpPr txBox="1"/>
          <p:nvPr/>
        </p:nvSpPr>
        <p:spPr>
          <a:xfrm>
            <a:off x="6498641" y="3291840"/>
            <a:ext cx="4903927"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1" dirty="0">
                <a:solidFill>
                  <a:srgbClr val="34D399"/>
                </a:solidFill>
                <a:latin typeface="Segoe UI"/>
                <a:ea typeface="Segoe UI"/>
                <a:cs typeface="Segoe UI"/>
              </a:rPr>
              <a:t>Lesson: </a:t>
            </a:r>
            <a:r>
              <a:rPr lang="en-US" sz="1150" b="0" dirty="0">
                <a:solidFill>
                  <a:srgbClr val="34D399"/>
                </a:solidFill>
                <a:latin typeface="Segoe UI"/>
                <a:ea typeface="Segoe UI"/>
                <a:cs typeface="Segoe UI"/>
              </a:rPr>
              <a:t>A test with known input and expected output.</a:t>
            </a:r>
            <a:endParaRPr lang="en-US" sz="1150" dirty="0"/>
          </a:p>
        </p:txBody>
      </p:sp>
      <p:sp>
        <p:nvSpPr>
          <p:cNvPr id="113" name="s113"/>
          <p:cNvSpPr/>
          <p:nvPr/>
        </p:nvSpPr>
        <p:spPr>
          <a:xfrm>
            <a:off x="543154" y="3840480"/>
            <a:ext cx="5406847" cy="1737360"/>
          </a:xfrm>
          <a:prstGeom prst="roundRect">
            <a:avLst>
              <a:gd name="adj" fmla="val 9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14" name="s114"/>
          <p:cNvSpPr/>
          <p:nvPr/>
        </p:nvSpPr>
        <p:spPr>
          <a:xfrm>
            <a:off x="771754" y="4069080"/>
            <a:ext cx="548640" cy="5486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6"/>
          <a:stretch>
            <a:fillRect/>
          </a:stretch>
        </p:blipFill>
        <p:spPr>
          <a:xfrm>
            <a:off x="903427" y="4200754"/>
            <a:ext cx="285293" cy="285293"/>
          </a:xfrm>
          <a:prstGeom prst="rect">
            <a:avLst/>
          </a:prstGeom>
        </p:spPr>
      </p:pic>
      <p:sp>
        <p:nvSpPr>
          <p:cNvPr id="116" name="s116"/>
          <p:cNvSpPr txBox="1"/>
          <p:nvPr/>
        </p:nvSpPr>
        <p:spPr>
          <a:xfrm>
            <a:off x="1503274" y="4069080"/>
            <a:ext cx="426384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FBBF24"/>
                </a:solidFill>
                <a:latin typeface="Segoe UI"/>
                <a:ea typeface="Segoe UI"/>
                <a:cs typeface="Segoe UI"/>
              </a:rPr>
              <a:t>Knight Capital · 2012</a:t>
            </a:r>
            <a:endParaRPr lang="en-US" sz="1600" dirty="0"/>
          </a:p>
        </p:txBody>
      </p:sp>
      <p:sp>
        <p:nvSpPr>
          <p:cNvPr id="117" name="s117"/>
          <p:cNvSpPr txBox="1"/>
          <p:nvPr/>
        </p:nvSpPr>
        <p:spPr>
          <a:xfrm>
            <a:off x="817474" y="4681728"/>
            <a:ext cx="4903927"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A release re-activated old code on one server: ~$440M lost in ~45 minutes.</a:t>
            </a:r>
            <a:endParaRPr lang="en-US" sz="1250" dirty="0"/>
          </a:p>
        </p:txBody>
      </p:sp>
      <p:sp>
        <p:nvSpPr>
          <p:cNvPr id="118" name="s118"/>
          <p:cNvSpPr txBox="1"/>
          <p:nvPr/>
        </p:nvSpPr>
        <p:spPr>
          <a:xfrm>
            <a:off x="817474" y="5212080"/>
            <a:ext cx="4903927"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1" dirty="0">
                <a:solidFill>
                  <a:srgbClr val="34D399"/>
                </a:solidFill>
                <a:latin typeface="Segoe UI"/>
                <a:ea typeface="Segoe UI"/>
                <a:cs typeface="Segoe UI"/>
              </a:rPr>
              <a:t>Lesson: </a:t>
            </a:r>
            <a:r>
              <a:rPr lang="en-US" sz="1150" b="0" dirty="0">
                <a:solidFill>
                  <a:srgbClr val="34D399"/>
                </a:solidFill>
                <a:latin typeface="Segoe UI"/>
                <a:ea typeface="Segoe UI"/>
                <a:cs typeface="Segoe UI"/>
              </a:rPr>
              <a:t>Test the release, not only the code.</a:t>
            </a:r>
            <a:endParaRPr lang="en-US" sz="1150" dirty="0"/>
          </a:p>
        </p:txBody>
      </p:sp>
      <p:sp>
        <p:nvSpPr>
          <p:cNvPr id="119" name="s119"/>
          <p:cNvSpPr/>
          <p:nvPr/>
        </p:nvSpPr>
        <p:spPr>
          <a:xfrm>
            <a:off x="6224321" y="3840480"/>
            <a:ext cx="5406847" cy="1737360"/>
          </a:xfrm>
          <a:prstGeom prst="roundRect">
            <a:avLst>
              <a:gd name="adj" fmla="val 9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20" name="s120"/>
          <p:cNvSpPr/>
          <p:nvPr/>
        </p:nvSpPr>
        <p:spPr>
          <a:xfrm>
            <a:off x="6452921" y="4069080"/>
            <a:ext cx="548640" cy="54864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21" name="img121"/>
          <p:cNvPicPr>
            <a:picLocks noChangeAspect="1"/>
          </p:cNvPicPr>
          <p:nvPr/>
        </p:nvPicPr>
        <p:blipFill>
          <a:blip r:embed="rId7"/>
          <a:stretch>
            <a:fillRect/>
          </a:stretch>
        </p:blipFill>
        <p:spPr>
          <a:xfrm>
            <a:off x="6584594" y="4200754"/>
            <a:ext cx="285293" cy="285293"/>
          </a:xfrm>
          <a:prstGeom prst="rect">
            <a:avLst/>
          </a:prstGeom>
        </p:spPr>
      </p:pic>
      <p:sp>
        <p:nvSpPr>
          <p:cNvPr id="122" name="s122"/>
          <p:cNvSpPr txBox="1"/>
          <p:nvPr/>
        </p:nvSpPr>
        <p:spPr>
          <a:xfrm>
            <a:off x="7184441" y="4069080"/>
            <a:ext cx="426384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A78BFA"/>
                </a:solidFill>
                <a:latin typeface="Segoe UI"/>
                <a:ea typeface="Segoe UI"/>
                <a:cs typeface="Segoe UI"/>
              </a:rPr>
              <a:t>CrowdStrike · 2024</a:t>
            </a:r>
            <a:endParaRPr lang="en-US" sz="1600" dirty="0"/>
          </a:p>
        </p:txBody>
      </p:sp>
      <p:sp>
        <p:nvSpPr>
          <p:cNvPr id="123" name="s123"/>
          <p:cNvSpPr txBox="1"/>
          <p:nvPr/>
        </p:nvSpPr>
        <p:spPr>
          <a:xfrm>
            <a:off x="6498641" y="4681728"/>
            <a:ext cx="4903927"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One faulty update crashed ~8.5 million Windows machines.</a:t>
            </a:r>
            <a:endParaRPr lang="en-US" sz="1250" dirty="0"/>
          </a:p>
        </p:txBody>
      </p:sp>
      <p:sp>
        <p:nvSpPr>
          <p:cNvPr id="124" name="s124"/>
          <p:cNvSpPr txBox="1"/>
          <p:nvPr/>
        </p:nvSpPr>
        <p:spPr>
          <a:xfrm>
            <a:off x="6498641" y="5212080"/>
            <a:ext cx="4903927"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1" dirty="0">
                <a:solidFill>
                  <a:srgbClr val="34D399"/>
                </a:solidFill>
                <a:latin typeface="Segoe UI"/>
                <a:ea typeface="Segoe UI"/>
                <a:cs typeface="Segoe UI"/>
              </a:rPr>
              <a:t>Lesson: </a:t>
            </a:r>
            <a:r>
              <a:rPr lang="en-US" sz="1150" b="0" dirty="0">
                <a:solidFill>
                  <a:srgbClr val="34D399"/>
                </a:solidFill>
                <a:latin typeface="Segoe UI"/>
                <a:ea typeface="Segoe UI"/>
                <a:cs typeface="Segoe UI"/>
              </a:rPr>
              <a:t>Test before you ship to everyone.</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3" dur="500" decel="100000" fill="hold"/>
                                        <p:tgtEl>
                                          <p:spTgt spid="102"/>
                                        </p:tgtEl>
                                        <p:attrNameLst>
                                          <p:attrName>ppt_h</p:attrName>
                                        </p:attrNameLst>
                                      </p:cBhvr>
                                      <p:tavLst>
                                        <p:tav tm="0">
                                          <p:val>
                                            <p:strVal val="#ppt_h*0.55"/>
                                          </p:val>
                                        </p:tav>
                                        <p:tav tm="100000">
                                          <p:val>
                                            <p:strVal val="#ppt_h"/>
                                          </p:val>
                                        </p:tav>
                                      </p:tavLst>
                                    </p:anim>
                                    <p:animEffect transition="in" filter="fade">
                                      <p:cBhvr>
                                        <p:cTn id="14" dur="500"/>
                                        <p:tgtEl>
                                          <p:spTgt spid="102"/>
                                        </p:tgtEl>
                                      </p:cBhvr>
                                    </p:animEffect>
                                  </p:childTnLst>
                                </p:cTn>
                              </p:par>
                              <p:par>
                                <p:cTn id="15" presetID="53" presetClass="entr" presetSubtype="16" fill="hold" nodeType="withEffect">
                                  <p:stCondLst>
                                    <p:cond delay="0"/>
                                  </p:stCondLst>
                                  <p:childTnLst>
                                    <p:set>
                                      <p:cBhvr>
                                        <p:cTn id="16" dur="1" fill="hold">
                                          <p:stCondLst>
                                            <p:cond delay="0"/>
                                          </p:stCondLst>
                                        </p:cTn>
                                        <p:tgtEl>
                                          <p:spTgt spid="103"/>
                                        </p:tgtEl>
                                        <p:attrNameLst>
                                          <p:attrName>style.visibility</p:attrName>
                                        </p:attrNameLst>
                                      </p:cBhvr>
                                      <p:to>
                                        <p:strVal val="visible"/>
                                      </p:to>
                                    </p:set>
                                    <p:anim calcmode="lin" valueType="num">
                                      <p:cBhvr additive="base">
                                        <p:cTn id="17"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8" dur="500" decel="100000" fill="hold"/>
                                        <p:tgtEl>
                                          <p:spTgt spid="103"/>
                                        </p:tgtEl>
                                        <p:attrNameLst>
                                          <p:attrName>ppt_h</p:attrName>
                                        </p:attrNameLst>
                                      </p:cBhvr>
                                      <p:tavLst>
                                        <p:tav tm="0">
                                          <p:val>
                                            <p:strVal val="#ppt_h*0.55"/>
                                          </p:val>
                                        </p:tav>
                                        <p:tav tm="100000">
                                          <p:val>
                                            <p:strVal val="#ppt_h"/>
                                          </p:val>
                                        </p:tav>
                                      </p:tavLst>
                                    </p:anim>
                                    <p:animEffect transition="in" filter="fade">
                                      <p:cBhvr>
                                        <p:cTn id="19" dur="500"/>
                                        <p:tgtEl>
                                          <p:spTgt spid="10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04"/>
                                        </p:tgtEl>
                                        <p:attrNameLst>
                                          <p:attrName>style.visibility</p:attrName>
                                        </p:attrNameLst>
                                      </p:cBhvr>
                                      <p:to>
                                        <p:strVal val="visible"/>
                                      </p:to>
                                    </p:set>
                                    <p:anim calcmode="lin" valueType="num">
                                      <p:cBhvr additive="base">
                                        <p:cTn id="22" dur="500" decel="100000" fill="hold"/>
                                        <p:tgtEl>
                                          <p:spTgt spid="104"/>
                                        </p:tgtEl>
                                        <p:attrNameLst>
                                          <p:attrName>ppt_w</p:attrName>
                                        </p:attrNameLst>
                                      </p:cBhvr>
                                      <p:tavLst>
                                        <p:tav tm="0">
                                          <p:val>
                                            <p:strVal val="#ppt_w*0.55"/>
                                          </p:val>
                                        </p:tav>
                                        <p:tav tm="100000">
                                          <p:val>
                                            <p:strVal val="#ppt_w"/>
                                          </p:val>
                                        </p:tav>
                                      </p:tavLst>
                                    </p:anim>
                                    <p:anim calcmode="lin" valueType="num">
                                      <p:cBhvr additive="base">
                                        <p:cTn id="23" dur="500" decel="100000" fill="hold"/>
                                        <p:tgtEl>
                                          <p:spTgt spid="104"/>
                                        </p:tgtEl>
                                        <p:attrNameLst>
                                          <p:attrName>ppt_h</p:attrName>
                                        </p:attrNameLst>
                                      </p:cBhvr>
                                      <p:tavLst>
                                        <p:tav tm="0">
                                          <p:val>
                                            <p:strVal val="#ppt_h*0.55"/>
                                          </p:val>
                                        </p:tav>
                                        <p:tav tm="100000">
                                          <p:val>
                                            <p:strVal val="#ppt_h"/>
                                          </p:val>
                                        </p:tav>
                                      </p:tavLst>
                                    </p:anim>
                                    <p:animEffect transition="in" filter="fade">
                                      <p:cBhvr>
                                        <p:cTn id="24" dur="500"/>
                                        <p:tgtEl>
                                          <p:spTgt spid="104"/>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05"/>
                                        </p:tgtEl>
                                        <p:attrNameLst>
                                          <p:attrName>style.visibility</p:attrName>
                                        </p:attrNameLst>
                                      </p:cBhvr>
                                      <p:to>
                                        <p:strVal val="visible"/>
                                      </p:to>
                                    </p:set>
                                    <p:anim calcmode="lin" valueType="num">
                                      <p:cBhvr additive="base">
                                        <p:cTn id="27" dur="5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28" dur="500" decel="100000" fill="hold"/>
                                        <p:tgtEl>
                                          <p:spTgt spid="105"/>
                                        </p:tgtEl>
                                        <p:attrNameLst>
                                          <p:attrName>ppt_h</p:attrName>
                                        </p:attrNameLst>
                                      </p:cBhvr>
                                      <p:tavLst>
                                        <p:tav tm="0">
                                          <p:val>
                                            <p:strVal val="#ppt_h*0.55"/>
                                          </p:val>
                                        </p:tav>
                                        <p:tav tm="100000">
                                          <p:val>
                                            <p:strVal val="#ppt_h"/>
                                          </p:val>
                                        </p:tav>
                                      </p:tavLst>
                                    </p:anim>
                                    <p:animEffect transition="in" filter="fade">
                                      <p:cBhvr>
                                        <p:cTn id="29" dur="500"/>
                                        <p:tgtEl>
                                          <p:spTgt spid="105"/>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106"/>
                                        </p:tgtEl>
                                        <p:attrNameLst>
                                          <p:attrName>style.visibility</p:attrName>
                                        </p:attrNameLst>
                                      </p:cBhvr>
                                      <p:to>
                                        <p:strVal val="visible"/>
                                      </p:to>
                                    </p:set>
                                    <p:anim calcmode="lin" valueType="num">
                                      <p:cBhvr additive="base">
                                        <p:cTn id="32"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33" dur="500" decel="100000" fill="hold"/>
                                        <p:tgtEl>
                                          <p:spTgt spid="106"/>
                                        </p:tgtEl>
                                        <p:attrNameLst>
                                          <p:attrName>ppt_h</p:attrName>
                                        </p:attrNameLst>
                                      </p:cBhvr>
                                      <p:tavLst>
                                        <p:tav tm="0">
                                          <p:val>
                                            <p:strVal val="#ppt_h*0.55"/>
                                          </p:val>
                                        </p:tav>
                                        <p:tav tm="100000">
                                          <p:val>
                                            <p:strVal val="#ppt_h"/>
                                          </p:val>
                                        </p:tav>
                                      </p:tavLst>
                                    </p:anim>
                                    <p:animEffect transition="in" filter="fade">
                                      <p:cBhvr>
                                        <p:cTn id="34" dur="500"/>
                                        <p:tgtEl>
                                          <p:spTgt spid="106"/>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107"/>
                                        </p:tgtEl>
                                        <p:attrNameLst>
                                          <p:attrName>style.visibility</p:attrName>
                                        </p:attrNameLst>
                                      </p:cBhvr>
                                      <p:to>
                                        <p:strVal val="visible"/>
                                      </p:to>
                                    </p:set>
                                    <p:anim calcmode="lin" valueType="num">
                                      <p:cBhvr additive="base">
                                        <p:cTn id="39"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40" dur="500" decel="100000" fill="hold"/>
                                        <p:tgtEl>
                                          <p:spTgt spid="107"/>
                                        </p:tgtEl>
                                        <p:attrNameLst>
                                          <p:attrName>ppt_h</p:attrName>
                                        </p:attrNameLst>
                                      </p:cBhvr>
                                      <p:tavLst>
                                        <p:tav tm="0">
                                          <p:val>
                                            <p:strVal val="#ppt_h*0.55"/>
                                          </p:val>
                                        </p:tav>
                                        <p:tav tm="100000">
                                          <p:val>
                                            <p:strVal val="#ppt_h"/>
                                          </p:val>
                                        </p:tav>
                                      </p:tavLst>
                                    </p:anim>
                                    <p:animEffect transition="in" filter="fade">
                                      <p:cBhvr>
                                        <p:cTn id="41" dur="500"/>
                                        <p:tgtEl>
                                          <p:spTgt spid="107"/>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08"/>
                                        </p:tgtEl>
                                        <p:attrNameLst>
                                          <p:attrName>style.visibility</p:attrName>
                                        </p:attrNameLst>
                                      </p:cBhvr>
                                      <p:to>
                                        <p:strVal val="visible"/>
                                      </p:to>
                                    </p:set>
                                    <p:anim calcmode="lin" valueType="num">
                                      <p:cBhvr additive="base">
                                        <p:cTn id="44"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5" dur="500" decel="100000" fill="hold"/>
                                        <p:tgtEl>
                                          <p:spTgt spid="108"/>
                                        </p:tgtEl>
                                        <p:attrNameLst>
                                          <p:attrName>ppt_h</p:attrName>
                                        </p:attrNameLst>
                                      </p:cBhvr>
                                      <p:tavLst>
                                        <p:tav tm="0">
                                          <p:val>
                                            <p:strVal val="#ppt_h*0.55"/>
                                          </p:val>
                                        </p:tav>
                                        <p:tav tm="100000">
                                          <p:val>
                                            <p:strVal val="#ppt_h"/>
                                          </p:val>
                                        </p:tav>
                                      </p:tavLst>
                                    </p:anim>
                                    <p:animEffect transition="in" filter="fade">
                                      <p:cBhvr>
                                        <p:cTn id="46" dur="500"/>
                                        <p:tgtEl>
                                          <p:spTgt spid="108"/>
                                        </p:tgtEl>
                                      </p:cBhvr>
                                    </p:animEffect>
                                  </p:childTnLst>
                                </p:cTn>
                              </p:par>
                              <p:par>
                                <p:cTn id="47" presetID="53" presetClass="entr" presetSubtype="16" fill="hold" nodeType="withEffect">
                                  <p:stCondLst>
                                    <p:cond delay="0"/>
                                  </p:stCondLst>
                                  <p:childTnLst>
                                    <p:set>
                                      <p:cBhvr>
                                        <p:cTn id="48" dur="1" fill="hold">
                                          <p:stCondLst>
                                            <p:cond delay="0"/>
                                          </p:stCondLst>
                                        </p:cTn>
                                        <p:tgtEl>
                                          <p:spTgt spid="109"/>
                                        </p:tgtEl>
                                        <p:attrNameLst>
                                          <p:attrName>style.visibility</p:attrName>
                                        </p:attrNameLst>
                                      </p:cBhvr>
                                      <p:to>
                                        <p:strVal val="visible"/>
                                      </p:to>
                                    </p:set>
                                    <p:anim calcmode="lin" valueType="num">
                                      <p:cBhvr additive="base">
                                        <p:cTn id="49"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50" dur="500" decel="100000" fill="hold"/>
                                        <p:tgtEl>
                                          <p:spTgt spid="109"/>
                                        </p:tgtEl>
                                        <p:attrNameLst>
                                          <p:attrName>ppt_h</p:attrName>
                                        </p:attrNameLst>
                                      </p:cBhvr>
                                      <p:tavLst>
                                        <p:tav tm="0">
                                          <p:val>
                                            <p:strVal val="#ppt_h*0.55"/>
                                          </p:val>
                                        </p:tav>
                                        <p:tav tm="100000">
                                          <p:val>
                                            <p:strVal val="#ppt_h"/>
                                          </p:val>
                                        </p:tav>
                                      </p:tavLst>
                                    </p:anim>
                                    <p:animEffect transition="in" filter="fade">
                                      <p:cBhvr>
                                        <p:cTn id="51" dur="500"/>
                                        <p:tgtEl>
                                          <p:spTgt spid="109"/>
                                        </p:tgtEl>
                                      </p:cBhvr>
                                    </p:animEffect>
                                  </p:childTnLst>
                                </p:cTn>
                              </p:par>
                              <p:par>
                                <p:cTn id="52" presetID="53" presetClass="entr" presetSubtype="16" fill="hold" grpId="0" nodeType="withEffect">
                                  <p:stCondLst>
                                    <p:cond delay="0"/>
                                  </p:stCondLst>
                                  <p:childTnLst>
                                    <p:set>
                                      <p:cBhvr>
                                        <p:cTn id="53" dur="1" fill="hold">
                                          <p:stCondLst>
                                            <p:cond delay="0"/>
                                          </p:stCondLst>
                                        </p:cTn>
                                        <p:tgtEl>
                                          <p:spTgt spid="110"/>
                                        </p:tgtEl>
                                        <p:attrNameLst>
                                          <p:attrName>style.visibility</p:attrName>
                                        </p:attrNameLst>
                                      </p:cBhvr>
                                      <p:to>
                                        <p:strVal val="visible"/>
                                      </p:to>
                                    </p:set>
                                    <p:anim calcmode="lin" valueType="num">
                                      <p:cBhvr additive="base">
                                        <p:cTn id="54" dur="500" decel="100000" fill="hold"/>
                                        <p:tgtEl>
                                          <p:spTgt spid="110"/>
                                        </p:tgtEl>
                                        <p:attrNameLst>
                                          <p:attrName>ppt_w</p:attrName>
                                        </p:attrNameLst>
                                      </p:cBhvr>
                                      <p:tavLst>
                                        <p:tav tm="0">
                                          <p:val>
                                            <p:strVal val="#ppt_w*0.55"/>
                                          </p:val>
                                        </p:tav>
                                        <p:tav tm="100000">
                                          <p:val>
                                            <p:strVal val="#ppt_w"/>
                                          </p:val>
                                        </p:tav>
                                      </p:tavLst>
                                    </p:anim>
                                    <p:anim calcmode="lin" valueType="num">
                                      <p:cBhvr additive="base">
                                        <p:cTn id="55" dur="500" decel="100000" fill="hold"/>
                                        <p:tgtEl>
                                          <p:spTgt spid="110"/>
                                        </p:tgtEl>
                                        <p:attrNameLst>
                                          <p:attrName>ppt_h</p:attrName>
                                        </p:attrNameLst>
                                      </p:cBhvr>
                                      <p:tavLst>
                                        <p:tav tm="0">
                                          <p:val>
                                            <p:strVal val="#ppt_h*0.55"/>
                                          </p:val>
                                        </p:tav>
                                        <p:tav tm="100000">
                                          <p:val>
                                            <p:strVal val="#ppt_h"/>
                                          </p:val>
                                        </p:tav>
                                      </p:tavLst>
                                    </p:anim>
                                    <p:animEffect transition="in" filter="fade">
                                      <p:cBhvr>
                                        <p:cTn id="56" dur="500"/>
                                        <p:tgtEl>
                                          <p:spTgt spid="110"/>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111"/>
                                        </p:tgtEl>
                                        <p:attrNameLst>
                                          <p:attrName>style.visibility</p:attrName>
                                        </p:attrNameLst>
                                      </p:cBhvr>
                                      <p:to>
                                        <p:strVal val="visible"/>
                                      </p:to>
                                    </p:set>
                                    <p:anim calcmode="lin" valueType="num">
                                      <p:cBhvr additive="base">
                                        <p:cTn id="59" dur="500" decel="100000" fill="hold"/>
                                        <p:tgtEl>
                                          <p:spTgt spid="111"/>
                                        </p:tgtEl>
                                        <p:attrNameLst>
                                          <p:attrName>ppt_w</p:attrName>
                                        </p:attrNameLst>
                                      </p:cBhvr>
                                      <p:tavLst>
                                        <p:tav tm="0">
                                          <p:val>
                                            <p:strVal val="#ppt_w*0.55"/>
                                          </p:val>
                                        </p:tav>
                                        <p:tav tm="100000">
                                          <p:val>
                                            <p:strVal val="#ppt_w"/>
                                          </p:val>
                                        </p:tav>
                                      </p:tavLst>
                                    </p:anim>
                                    <p:anim calcmode="lin" valueType="num">
                                      <p:cBhvr additive="base">
                                        <p:cTn id="60" dur="500" decel="100000" fill="hold"/>
                                        <p:tgtEl>
                                          <p:spTgt spid="111"/>
                                        </p:tgtEl>
                                        <p:attrNameLst>
                                          <p:attrName>ppt_h</p:attrName>
                                        </p:attrNameLst>
                                      </p:cBhvr>
                                      <p:tavLst>
                                        <p:tav tm="0">
                                          <p:val>
                                            <p:strVal val="#ppt_h*0.55"/>
                                          </p:val>
                                        </p:tav>
                                        <p:tav tm="100000">
                                          <p:val>
                                            <p:strVal val="#ppt_h"/>
                                          </p:val>
                                        </p:tav>
                                      </p:tavLst>
                                    </p:anim>
                                    <p:animEffect transition="in" filter="fade">
                                      <p:cBhvr>
                                        <p:cTn id="61" dur="500"/>
                                        <p:tgtEl>
                                          <p:spTgt spid="111"/>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112"/>
                                        </p:tgtEl>
                                        <p:attrNameLst>
                                          <p:attrName>style.visibility</p:attrName>
                                        </p:attrNameLst>
                                      </p:cBhvr>
                                      <p:to>
                                        <p:strVal val="visible"/>
                                      </p:to>
                                    </p:set>
                                    <p:anim calcmode="lin" valueType="num">
                                      <p:cBhvr additive="base">
                                        <p:cTn id="64" dur="500" decel="100000" fill="hold"/>
                                        <p:tgtEl>
                                          <p:spTgt spid="112"/>
                                        </p:tgtEl>
                                        <p:attrNameLst>
                                          <p:attrName>ppt_w</p:attrName>
                                        </p:attrNameLst>
                                      </p:cBhvr>
                                      <p:tavLst>
                                        <p:tav tm="0">
                                          <p:val>
                                            <p:strVal val="#ppt_w*0.55"/>
                                          </p:val>
                                        </p:tav>
                                        <p:tav tm="100000">
                                          <p:val>
                                            <p:strVal val="#ppt_w"/>
                                          </p:val>
                                        </p:tav>
                                      </p:tavLst>
                                    </p:anim>
                                    <p:anim calcmode="lin" valueType="num">
                                      <p:cBhvr additive="base">
                                        <p:cTn id="65" dur="500" decel="100000" fill="hold"/>
                                        <p:tgtEl>
                                          <p:spTgt spid="112"/>
                                        </p:tgtEl>
                                        <p:attrNameLst>
                                          <p:attrName>ppt_h</p:attrName>
                                        </p:attrNameLst>
                                      </p:cBhvr>
                                      <p:tavLst>
                                        <p:tav tm="0">
                                          <p:val>
                                            <p:strVal val="#ppt_h*0.55"/>
                                          </p:val>
                                        </p:tav>
                                        <p:tav tm="100000">
                                          <p:val>
                                            <p:strVal val="#ppt_h"/>
                                          </p:val>
                                        </p:tav>
                                      </p:tavLst>
                                    </p:anim>
                                    <p:animEffect transition="in" filter="fade">
                                      <p:cBhvr>
                                        <p:cTn id="66" dur="500"/>
                                        <p:tgtEl>
                                          <p:spTgt spid="112"/>
                                        </p:tgtEl>
                                      </p:cBhvr>
                                    </p:animEffect>
                                  </p:childTnLst>
                                </p:cTn>
                              </p:par>
                            </p:childTnLst>
                          </p:cTn>
                        </p:par>
                      </p:childTnLst>
                    </p:cTn>
                  </p:par>
                  <p:par>
                    <p:cTn id="67" fill="hold">
                      <p:stCondLst>
                        <p:cond delay="indefinite"/>
                      </p:stCondLst>
                      <p:childTnLst>
                        <p:par>
                          <p:cTn id="68" fill="hold">
                            <p:stCondLst>
                              <p:cond delay="0"/>
                            </p:stCondLst>
                            <p:childTnLst>
                              <p:par>
                                <p:cTn id="69" presetID="53" presetClass="entr" presetSubtype="16" fill="hold" grpId="0" nodeType="clickEffect">
                                  <p:stCondLst>
                                    <p:cond delay="0"/>
                                  </p:stCondLst>
                                  <p:childTnLst>
                                    <p:set>
                                      <p:cBhvr>
                                        <p:cTn id="70" dur="1" fill="hold">
                                          <p:stCondLst>
                                            <p:cond delay="0"/>
                                          </p:stCondLst>
                                        </p:cTn>
                                        <p:tgtEl>
                                          <p:spTgt spid="113"/>
                                        </p:tgtEl>
                                        <p:attrNameLst>
                                          <p:attrName>style.visibility</p:attrName>
                                        </p:attrNameLst>
                                      </p:cBhvr>
                                      <p:to>
                                        <p:strVal val="visible"/>
                                      </p:to>
                                    </p:set>
                                    <p:anim calcmode="lin" valueType="num">
                                      <p:cBhvr additive="base">
                                        <p:cTn id="71" dur="500" decel="100000" fill="hold"/>
                                        <p:tgtEl>
                                          <p:spTgt spid="113"/>
                                        </p:tgtEl>
                                        <p:attrNameLst>
                                          <p:attrName>ppt_w</p:attrName>
                                        </p:attrNameLst>
                                      </p:cBhvr>
                                      <p:tavLst>
                                        <p:tav tm="0">
                                          <p:val>
                                            <p:strVal val="#ppt_w*0.55"/>
                                          </p:val>
                                        </p:tav>
                                        <p:tav tm="100000">
                                          <p:val>
                                            <p:strVal val="#ppt_w"/>
                                          </p:val>
                                        </p:tav>
                                      </p:tavLst>
                                    </p:anim>
                                    <p:anim calcmode="lin" valueType="num">
                                      <p:cBhvr additive="base">
                                        <p:cTn id="72" dur="500" decel="100000" fill="hold"/>
                                        <p:tgtEl>
                                          <p:spTgt spid="113"/>
                                        </p:tgtEl>
                                        <p:attrNameLst>
                                          <p:attrName>ppt_h</p:attrName>
                                        </p:attrNameLst>
                                      </p:cBhvr>
                                      <p:tavLst>
                                        <p:tav tm="0">
                                          <p:val>
                                            <p:strVal val="#ppt_h*0.55"/>
                                          </p:val>
                                        </p:tav>
                                        <p:tav tm="100000">
                                          <p:val>
                                            <p:strVal val="#ppt_h"/>
                                          </p:val>
                                        </p:tav>
                                      </p:tavLst>
                                    </p:anim>
                                    <p:animEffect transition="in" filter="fade">
                                      <p:cBhvr>
                                        <p:cTn id="73" dur="500"/>
                                        <p:tgtEl>
                                          <p:spTgt spid="113"/>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114"/>
                                        </p:tgtEl>
                                        <p:attrNameLst>
                                          <p:attrName>style.visibility</p:attrName>
                                        </p:attrNameLst>
                                      </p:cBhvr>
                                      <p:to>
                                        <p:strVal val="visible"/>
                                      </p:to>
                                    </p:set>
                                    <p:anim calcmode="lin" valueType="num">
                                      <p:cBhvr additive="base">
                                        <p:cTn id="76" dur="500" decel="100000" fill="hold"/>
                                        <p:tgtEl>
                                          <p:spTgt spid="114"/>
                                        </p:tgtEl>
                                        <p:attrNameLst>
                                          <p:attrName>ppt_w</p:attrName>
                                        </p:attrNameLst>
                                      </p:cBhvr>
                                      <p:tavLst>
                                        <p:tav tm="0">
                                          <p:val>
                                            <p:strVal val="#ppt_w*0.55"/>
                                          </p:val>
                                        </p:tav>
                                        <p:tav tm="100000">
                                          <p:val>
                                            <p:strVal val="#ppt_w"/>
                                          </p:val>
                                        </p:tav>
                                      </p:tavLst>
                                    </p:anim>
                                    <p:anim calcmode="lin" valueType="num">
                                      <p:cBhvr additive="base">
                                        <p:cTn id="77" dur="500" decel="100000" fill="hold"/>
                                        <p:tgtEl>
                                          <p:spTgt spid="114"/>
                                        </p:tgtEl>
                                        <p:attrNameLst>
                                          <p:attrName>ppt_h</p:attrName>
                                        </p:attrNameLst>
                                      </p:cBhvr>
                                      <p:tavLst>
                                        <p:tav tm="0">
                                          <p:val>
                                            <p:strVal val="#ppt_h*0.55"/>
                                          </p:val>
                                        </p:tav>
                                        <p:tav tm="100000">
                                          <p:val>
                                            <p:strVal val="#ppt_h"/>
                                          </p:val>
                                        </p:tav>
                                      </p:tavLst>
                                    </p:anim>
                                    <p:animEffect transition="in" filter="fade">
                                      <p:cBhvr>
                                        <p:cTn id="78" dur="500"/>
                                        <p:tgtEl>
                                          <p:spTgt spid="114"/>
                                        </p:tgtEl>
                                      </p:cBhvr>
                                    </p:animEffect>
                                  </p:childTnLst>
                                </p:cTn>
                              </p:par>
                              <p:par>
                                <p:cTn id="79" presetID="53" presetClass="entr" presetSubtype="16" fill="hold" nodeType="withEffect">
                                  <p:stCondLst>
                                    <p:cond delay="0"/>
                                  </p:stCondLst>
                                  <p:childTnLst>
                                    <p:set>
                                      <p:cBhvr>
                                        <p:cTn id="80" dur="1" fill="hold">
                                          <p:stCondLst>
                                            <p:cond delay="0"/>
                                          </p:stCondLst>
                                        </p:cTn>
                                        <p:tgtEl>
                                          <p:spTgt spid="115"/>
                                        </p:tgtEl>
                                        <p:attrNameLst>
                                          <p:attrName>style.visibility</p:attrName>
                                        </p:attrNameLst>
                                      </p:cBhvr>
                                      <p:to>
                                        <p:strVal val="visible"/>
                                      </p:to>
                                    </p:set>
                                    <p:anim calcmode="lin" valueType="num">
                                      <p:cBhvr additive="base">
                                        <p:cTn id="81" dur="500" decel="100000" fill="hold"/>
                                        <p:tgtEl>
                                          <p:spTgt spid="115"/>
                                        </p:tgtEl>
                                        <p:attrNameLst>
                                          <p:attrName>ppt_w</p:attrName>
                                        </p:attrNameLst>
                                      </p:cBhvr>
                                      <p:tavLst>
                                        <p:tav tm="0">
                                          <p:val>
                                            <p:strVal val="#ppt_w*0.55"/>
                                          </p:val>
                                        </p:tav>
                                        <p:tav tm="100000">
                                          <p:val>
                                            <p:strVal val="#ppt_w"/>
                                          </p:val>
                                        </p:tav>
                                      </p:tavLst>
                                    </p:anim>
                                    <p:anim calcmode="lin" valueType="num">
                                      <p:cBhvr additive="base">
                                        <p:cTn id="82" dur="500" decel="100000" fill="hold"/>
                                        <p:tgtEl>
                                          <p:spTgt spid="115"/>
                                        </p:tgtEl>
                                        <p:attrNameLst>
                                          <p:attrName>ppt_h</p:attrName>
                                        </p:attrNameLst>
                                      </p:cBhvr>
                                      <p:tavLst>
                                        <p:tav tm="0">
                                          <p:val>
                                            <p:strVal val="#ppt_h*0.55"/>
                                          </p:val>
                                        </p:tav>
                                        <p:tav tm="100000">
                                          <p:val>
                                            <p:strVal val="#ppt_h"/>
                                          </p:val>
                                        </p:tav>
                                      </p:tavLst>
                                    </p:anim>
                                    <p:animEffect transition="in" filter="fade">
                                      <p:cBhvr>
                                        <p:cTn id="83" dur="500"/>
                                        <p:tgtEl>
                                          <p:spTgt spid="115"/>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116"/>
                                        </p:tgtEl>
                                        <p:attrNameLst>
                                          <p:attrName>style.visibility</p:attrName>
                                        </p:attrNameLst>
                                      </p:cBhvr>
                                      <p:to>
                                        <p:strVal val="visible"/>
                                      </p:to>
                                    </p:set>
                                    <p:anim calcmode="lin" valueType="num">
                                      <p:cBhvr additive="base">
                                        <p:cTn id="86" dur="500" decel="100000" fill="hold"/>
                                        <p:tgtEl>
                                          <p:spTgt spid="116"/>
                                        </p:tgtEl>
                                        <p:attrNameLst>
                                          <p:attrName>ppt_w</p:attrName>
                                        </p:attrNameLst>
                                      </p:cBhvr>
                                      <p:tavLst>
                                        <p:tav tm="0">
                                          <p:val>
                                            <p:strVal val="#ppt_w*0.55"/>
                                          </p:val>
                                        </p:tav>
                                        <p:tav tm="100000">
                                          <p:val>
                                            <p:strVal val="#ppt_w"/>
                                          </p:val>
                                        </p:tav>
                                      </p:tavLst>
                                    </p:anim>
                                    <p:anim calcmode="lin" valueType="num">
                                      <p:cBhvr additive="base">
                                        <p:cTn id="87" dur="500" decel="100000" fill="hold"/>
                                        <p:tgtEl>
                                          <p:spTgt spid="116"/>
                                        </p:tgtEl>
                                        <p:attrNameLst>
                                          <p:attrName>ppt_h</p:attrName>
                                        </p:attrNameLst>
                                      </p:cBhvr>
                                      <p:tavLst>
                                        <p:tav tm="0">
                                          <p:val>
                                            <p:strVal val="#ppt_h*0.55"/>
                                          </p:val>
                                        </p:tav>
                                        <p:tav tm="100000">
                                          <p:val>
                                            <p:strVal val="#ppt_h"/>
                                          </p:val>
                                        </p:tav>
                                      </p:tavLst>
                                    </p:anim>
                                    <p:animEffect transition="in" filter="fade">
                                      <p:cBhvr>
                                        <p:cTn id="88" dur="500"/>
                                        <p:tgtEl>
                                          <p:spTgt spid="116"/>
                                        </p:tgtEl>
                                      </p:cBhvr>
                                    </p:animEffect>
                                  </p:childTnLst>
                                </p:cTn>
                              </p:par>
                              <p:par>
                                <p:cTn id="89" presetID="53" presetClass="entr" presetSubtype="16" fill="hold" grpId="0" nodeType="withEffect">
                                  <p:stCondLst>
                                    <p:cond delay="0"/>
                                  </p:stCondLst>
                                  <p:childTnLst>
                                    <p:set>
                                      <p:cBhvr>
                                        <p:cTn id="90" dur="1" fill="hold">
                                          <p:stCondLst>
                                            <p:cond delay="0"/>
                                          </p:stCondLst>
                                        </p:cTn>
                                        <p:tgtEl>
                                          <p:spTgt spid="117"/>
                                        </p:tgtEl>
                                        <p:attrNameLst>
                                          <p:attrName>style.visibility</p:attrName>
                                        </p:attrNameLst>
                                      </p:cBhvr>
                                      <p:to>
                                        <p:strVal val="visible"/>
                                      </p:to>
                                    </p:set>
                                    <p:anim calcmode="lin" valueType="num">
                                      <p:cBhvr additive="base">
                                        <p:cTn id="91" dur="500" decel="100000" fill="hold"/>
                                        <p:tgtEl>
                                          <p:spTgt spid="117"/>
                                        </p:tgtEl>
                                        <p:attrNameLst>
                                          <p:attrName>ppt_w</p:attrName>
                                        </p:attrNameLst>
                                      </p:cBhvr>
                                      <p:tavLst>
                                        <p:tav tm="0">
                                          <p:val>
                                            <p:strVal val="#ppt_w*0.55"/>
                                          </p:val>
                                        </p:tav>
                                        <p:tav tm="100000">
                                          <p:val>
                                            <p:strVal val="#ppt_w"/>
                                          </p:val>
                                        </p:tav>
                                      </p:tavLst>
                                    </p:anim>
                                    <p:anim calcmode="lin" valueType="num">
                                      <p:cBhvr additive="base">
                                        <p:cTn id="92" dur="500" decel="100000" fill="hold"/>
                                        <p:tgtEl>
                                          <p:spTgt spid="117"/>
                                        </p:tgtEl>
                                        <p:attrNameLst>
                                          <p:attrName>ppt_h</p:attrName>
                                        </p:attrNameLst>
                                      </p:cBhvr>
                                      <p:tavLst>
                                        <p:tav tm="0">
                                          <p:val>
                                            <p:strVal val="#ppt_h*0.55"/>
                                          </p:val>
                                        </p:tav>
                                        <p:tav tm="100000">
                                          <p:val>
                                            <p:strVal val="#ppt_h"/>
                                          </p:val>
                                        </p:tav>
                                      </p:tavLst>
                                    </p:anim>
                                    <p:animEffect transition="in" filter="fade">
                                      <p:cBhvr>
                                        <p:cTn id="93" dur="500"/>
                                        <p:tgtEl>
                                          <p:spTgt spid="117"/>
                                        </p:tgtEl>
                                      </p:cBhvr>
                                    </p:animEffect>
                                  </p:childTnLst>
                                </p:cTn>
                              </p:par>
                              <p:par>
                                <p:cTn id="94" presetID="53" presetClass="entr" presetSubtype="16" fill="hold" grpId="0" nodeType="withEffect">
                                  <p:stCondLst>
                                    <p:cond delay="0"/>
                                  </p:stCondLst>
                                  <p:childTnLst>
                                    <p:set>
                                      <p:cBhvr>
                                        <p:cTn id="95" dur="1" fill="hold">
                                          <p:stCondLst>
                                            <p:cond delay="0"/>
                                          </p:stCondLst>
                                        </p:cTn>
                                        <p:tgtEl>
                                          <p:spTgt spid="118"/>
                                        </p:tgtEl>
                                        <p:attrNameLst>
                                          <p:attrName>style.visibility</p:attrName>
                                        </p:attrNameLst>
                                      </p:cBhvr>
                                      <p:to>
                                        <p:strVal val="visible"/>
                                      </p:to>
                                    </p:set>
                                    <p:anim calcmode="lin" valueType="num">
                                      <p:cBhvr additive="base">
                                        <p:cTn id="96" dur="500" decel="100000" fill="hold"/>
                                        <p:tgtEl>
                                          <p:spTgt spid="118"/>
                                        </p:tgtEl>
                                        <p:attrNameLst>
                                          <p:attrName>ppt_w</p:attrName>
                                        </p:attrNameLst>
                                      </p:cBhvr>
                                      <p:tavLst>
                                        <p:tav tm="0">
                                          <p:val>
                                            <p:strVal val="#ppt_w*0.55"/>
                                          </p:val>
                                        </p:tav>
                                        <p:tav tm="100000">
                                          <p:val>
                                            <p:strVal val="#ppt_w"/>
                                          </p:val>
                                        </p:tav>
                                      </p:tavLst>
                                    </p:anim>
                                    <p:anim calcmode="lin" valueType="num">
                                      <p:cBhvr additive="base">
                                        <p:cTn id="97" dur="500" decel="100000" fill="hold"/>
                                        <p:tgtEl>
                                          <p:spTgt spid="118"/>
                                        </p:tgtEl>
                                        <p:attrNameLst>
                                          <p:attrName>ppt_h</p:attrName>
                                        </p:attrNameLst>
                                      </p:cBhvr>
                                      <p:tavLst>
                                        <p:tav tm="0">
                                          <p:val>
                                            <p:strVal val="#ppt_h*0.55"/>
                                          </p:val>
                                        </p:tav>
                                        <p:tav tm="100000">
                                          <p:val>
                                            <p:strVal val="#ppt_h"/>
                                          </p:val>
                                        </p:tav>
                                      </p:tavLst>
                                    </p:anim>
                                    <p:animEffect transition="in" filter="fade">
                                      <p:cBhvr>
                                        <p:cTn id="98" dur="500"/>
                                        <p:tgtEl>
                                          <p:spTgt spid="118"/>
                                        </p:tgtEl>
                                      </p:cBhvr>
                                    </p:animEffect>
                                  </p:childTnLst>
                                </p:cTn>
                              </p:par>
                            </p:childTnLst>
                          </p:cTn>
                        </p:par>
                      </p:childTnLst>
                    </p:cTn>
                  </p:par>
                  <p:par>
                    <p:cTn id="99" fill="hold">
                      <p:stCondLst>
                        <p:cond delay="indefinite"/>
                      </p:stCondLst>
                      <p:childTnLst>
                        <p:par>
                          <p:cTn id="100" fill="hold">
                            <p:stCondLst>
                              <p:cond delay="0"/>
                            </p:stCondLst>
                            <p:childTnLst>
                              <p:par>
                                <p:cTn id="101" presetID="53" presetClass="entr" presetSubtype="16" fill="hold" grpId="0" nodeType="clickEffect">
                                  <p:stCondLst>
                                    <p:cond delay="0"/>
                                  </p:stCondLst>
                                  <p:childTnLst>
                                    <p:set>
                                      <p:cBhvr>
                                        <p:cTn id="102" dur="1" fill="hold">
                                          <p:stCondLst>
                                            <p:cond delay="0"/>
                                          </p:stCondLst>
                                        </p:cTn>
                                        <p:tgtEl>
                                          <p:spTgt spid="119"/>
                                        </p:tgtEl>
                                        <p:attrNameLst>
                                          <p:attrName>style.visibility</p:attrName>
                                        </p:attrNameLst>
                                      </p:cBhvr>
                                      <p:to>
                                        <p:strVal val="visible"/>
                                      </p:to>
                                    </p:set>
                                    <p:anim calcmode="lin" valueType="num">
                                      <p:cBhvr additive="base">
                                        <p:cTn id="103" dur="500" decel="100000" fill="hold"/>
                                        <p:tgtEl>
                                          <p:spTgt spid="119"/>
                                        </p:tgtEl>
                                        <p:attrNameLst>
                                          <p:attrName>ppt_w</p:attrName>
                                        </p:attrNameLst>
                                      </p:cBhvr>
                                      <p:tavLst>
                                        <p:tav tm="0">
                                          <p:val>
                                            <p:strVal val="#ppt_w*0.55"/>
                                          </p:val>
                                        </p:tav>
                                        <p:tav tm="100000">
                                          <p:val>
                                            <p:strVal val="#ppt_w"/>
                                          </p:val>
                                        </p:tav>
                                      </p:tavLst>
                                    </p:anim>
                                    <p:anim calcmode="lin" valueType="num">
                                      <p:cBhvr additive="base">
                                        <p:cTn id="104" dur="500" decel="100000" fill="hold"/>
                                        <p:tgtEl>
                                          <p:spTgt spid="119"/>
                                        </p:tgtEl>
                                        <p:attrNameLst>
                                          <p:attrName>ppt_h</p:attrName>
                                        </p:attrNameLst>
                                      </p:cBhvr>
                                      <p:tavLst>
                                        <p:tav tm="0">
                                          <p:val>
                                            <p:strVal val="#ppt_h*0.55"/>
                                          </p:val>
                                        </p:tav>
                                        <p:tav tm="100000">
                                          <p:val>
                                            <p:strVal val="#ppt_h"/>
                                          </p:val>
                                        </p:tav>
                                      </p:tavLst>
                                    </p:anim>
                                    <p:animEffect transition="in" filter="fade">
                                      <p:cBhvr>
                                        <p:cTn id="105" dur="500"/>
                                        <p:tgtEl>
                                          <p:spTgt spid="119"/>
                                        </p:tgtEl>
                                      </p:cBhvr>
                                    </p:animEffect>
                                  </p:childTnLst>
                                </p:cTn>
                              </p:par>
                              <p:par>
                                <p:cTn id="106" presetID="53" presetClass="entr" presetSubtype="16" fill="hold" grpId="0" nodeType="withEffect">
                                  <p:stCondLst>
                                    <p:cond delay="0"/>
                                  </p:stCondLst>
                                  <p:childTnLst>
                                    <p:set>
                                      <p:cBhvr>
                                        <p:cTn id="107" dur="1" fill="hold">
                                          <p:stCondLst>
                                            <p:cond delay="0"/>
                                          </p:stCondLst>
                                        </p:cTn>
                                        <p:tgtEl>
                                          <p:spTgt spid="120"/>
                                        </p:tgtEl>
                                        <p:attrNameLst>
                                          <p:attrName>style.visibility</p:attrName>
                                        </p:attrNameLst>
                                      </p:cBhvr>
                                      <p:to>
                                        <p:strVal val="visible"/>
                                      </p:to>
                                    </p:set>
                                    <p:anim calcmode="lin" valueType="num">
                                      <p:cBhvr additive="base">
                                        <p:cTn id="108" dur="500" decel="100000" fill="hold"/>
                                        <p:tgtEl>
                                          <p:spTgt spid="120"/>
                                        </p:tgtEl>
                                        <p:attrNameLst>
                                          <p:attrName>ppt_w</p:attrName>
                                        </p:attrNameLst>
                                      </p:cBhvr>
                                      <p:tavLst>
                                        <p:tav tm="0">
                                          <p:val>
                                            <p:strVal val="#ppt_w*0.55"/>
                                          </p:val>
                                        </p:tav>
                                        <p:tav tm="100000">
                                          <p:val>
                                            <p:strVal val="#ppt_w"/>
                                          </p:val>
                                        </p:tav>
                                      </p:tavLst>
                                    </p:anim>
                                    <p:anim calcmode="lin" valueType="num">
                                      <p:cBhvr additive="base">
                                        <p:cTn id="109" dur="500" decel="100000" fill="hold"/>
                                        <p:tgtEl>
                                          <p:spTgt spid="120"/>
                                        </p:tgtEl>
                                        <p:attrNameLst>
                                          <p:attrName>ppt_h</p:attrName>
                                        </p:attrNameLst>
                                      </p:cBhvr>
                                      <p:tavLst>
                                        <p:tav tm="0">
                                          <p:val>
                                            <p:strVal val="#ppt_h*0.55"/>
                                          </p:val>
                                        </p:tav>
                                        <p:tav tm="100000">
                                          <p:val>
                                            <p:strVal val="#ppt_h"/>
                                          </p:val>
                                        </p:tav>
                                      </p:tavLst>
                                    </p:anim>
                                    <p:animEffect transition="in" filter="fade">
                                      <p:cBhvr>
                                        <p:cTn id="110" dur="500"/>
                                        <p:tgtEl>
                                          <p:spTgt spid="120"/>
                                        </p:tgtEl>
                                      </p:cBhvr>
                                    </p:animEffect>
                                  </p:childTnLst>
                                </p:cTn>
                              </p:par>
                              <p:par>
                                <p:cTn id="111" presetID="53" presetClass="entr" presetSubtype="16" fill="hold" nodeType="withEffect">
                                  <p:stCondLst>
                                    <p:cond delay="0"/>
                                  </p:stCondLst>
                                  <p:childTnLst>
                                    <p:set>
                                      <p:cBhvr>
                                        <p:cTn id="112" dur="1" fill="hold">
                                          <p:stCondLst>
                                            <p:cond delay="0"/>
                                          </p:stCondLst>
                                        </p:cTn>
                                        <p:tgtEl>
                                          <p:spTgt spid="121"/>
                                        </p:tgtEl>
                                        <p:attrNameLst>
                                          <p:attrName>style.visibility</p:attrName>
                                        </p:attrNameLst>
                                      </p:cBhvr>
                                      <p:to>
                                        <p:strVal val="visible"/>
                                      </p:to>
                                    </p:set>
                                    <p:anim calcmode="lin" valueType="num">
                                      <p:cBhvr additive="base">
                                        <p:cTn id="113" dur="500" decel="100000" fill="hold"/>
                                        <p:tgtEl>
                                          <p:spTgt spid="121"/>
                                        </p:tgtEl>
                                        <p:attrNameLst>
                                          <p:attrName>ppt_w</p:attrName>
                                        </p:attrNameLst>
                                      </p:cBhvr>
                                      <p:tavLst>
                                        <p:tav tm="0">
                                          <p:val>
                                            <p:strVal val="#ppt_w*0.55"/>
                                          </p:val>
                                        </p:tav>
                                        <p:tav tm="100000">
                                          <p:val>
                                            <p:strVal val="#ppt_w"/>
                                          </p:val>
                                        </p:tav>
                                      </p:tavLst>
                                    </p:anim>
                                    <p:anim calcmode="lin" valueType="num">
                                      <p:cBhvr additive="base">
                                        <p:cTn id="114" dur="500" decel="100000" fill="hold"/>
                                        <p:tgtEl>
                                          <p:spTgt spid="121"/>
                                        </p:tgtEl>
                                        <p:attrNameLst>
                                          <p:attrName>ppt_h</p:attrName>
                                        </p:attrNameLst>
                                      </p:cBhvr>
                                      <p:tavLst>
                                        <p:tav tm="0">
                                          <p:val>
                                            <p:strVal val="#ppt_h*0.55"/>
                                          </p:val>
                                        </p:tav>
                                        <p:tav tm="100000">
                                          <p:val>
                                            <p:strVal val="#ppt_h"/>
                                          </p:val>
                                        </p:tav>
                                      </p:tavLst>
                                    </p:anim>
                                    <p:animEffect transition="in" filter="fade">
                                      <p:cBhvr>
                                        <p:cTn id="115" dur="500"/>
                                        <p:tgtEl>
                                          <p:spTgt spid="121"/>
                                        </p:tgtEl>
                                      </p:cBhvr>
                                    </p:animEffect>
                                  </p:childTnLst>
                                </p:cTn>
                              </p:par>
                              <p:par>
                                <p:cTn id="116" presetID="53" presetClass="entr" presetSubtype="16" fill="hold" grpId="0" nodeType="withEffect">
                                  <p:stCondLst>
                                    <p:cond delay="0"/>
                                  </p:stCondLst>
                                  <p:childTnLst>
                                    <p:set>
                                      <p:cBhvr>
                                        <p:cTn id="117" dur="1" fill="hold">
                                          <p:stCondLst>
                                            <p:cond delay="0"/>
                                          </p:stCondLst>
                                        </p:cTn>
                                        <p:tgtEl>
                                          <p:spTgt spid="122"/>
                                        </p:tgtEl>
                                        <p:attrNameLst>
                                          <p:attrName>style.visibility</p:attrName>
                                        </p:attrNameLst>
                                      </p:cBhvr>
                                      <p:to>
                                        <p:strVal val="visible"/>
                                      </p:to>
                                    </p:set>
                                    <p:anim calcmode="lin" valueType="num">
                                      <p:cBhvr additive="base">
                                        <p:cTn id="118" dur="500" decel="100000" fill="hold"/>
                                        <p:tgtEl>
                                          <p:spTgt spid="122"/>
                                        </p:tgtEl>
                                        <p:attrNameLst>
                                          <p:attrName>ppt_w</p:attrName>
                                        </p:attrNameLst>
                                      </p:cBhvr>
                                      <p:tavLst>
                                        <p:tav tm="0">
                                          <p:val>
                                            <p:strVal val="#ppt_w*0.55"/>
                                          </p:val>
                                        </p:tav>
                                        <p:tav tm="100000">
                                          <p:val>
                                            <p:strVal val="#ppt_w"/>
                                          </p:val>
                                        </p:tav>
                                      </p:tavLst>
                                    </p:anim>
                                    <p:anim calcmode="lin" valueType="num">
                                      <p:cBhvr additive="base">
                                        <p:cTn id="119" dur="500" decel="100000" fill="hold"/>
                                        <p:tgtEl>
                                          <p:spTgt spid="122"/>
                                        </p:tgtEl>
                                        <p:attrNameLst>
                                          <p:attrName>ppt_h</p:attrName>
                                        </p:attrNameLst>
                                      </p:cBhvr>
                                      <p:tavLst>
                                        <p:tav tm="0">
                                          <p:val>
                                            <p:strVal val="#ppt_h*0.55"/>
                                          </p:val>
                                        </p:tav>
                                        <p:tav tm="100000">
                                          <p:val>
                                            <p:strVal val="#ppt_h"/>
                                          </p:val>
                                        </p:tav>
                                      </p:tavLst>
                                    </p:anim>
                                    <p:animEffect transition="in" filter="fade">
                                      <p:cBhvr>
                                        <p:cTn id="120" dur="500"/>
                                        <p:tgtEl>
                                          <p:spTgt spid="122"/>
                                        </p:tgtEl>
                                      </p:cBhvr>
                                    </p:animEffect>
                                  </p:childTnLst>
                                </p:cTn>
                              </p:par>
                              <p:par>
                                <p:cTn id="121" presetID="53" presetClass="entr" presetSubtype="16" fill="hold" grpId="0" nodeType="withEffect">
                                  <p:stCondLst>
                                    <p:cond delay="0"/>
                                  </p:stCondLst>
                                  <p:childTnLst>
                                    <p:set>
                                      <p:cBhvr>
                                        <p:cTn id="122" dur="1" fill="hold">
                                          <p:stCondLst>
                                            <p:cond delay="0"/>
                                          </p:stCondLst>
                                        </p:cTn>
                                        <p:tgtEl>
                                          <p:spTgt spid="123"/>
                                        </p:tgtEl>
                                        <p:attrNameLst>
                                          <p:attrName>style.visibility</p:attrName>
                                        </p:attrNameLst>
                                      </p:cBhvr>
                                      <p:to>
                                        <p:strVal val="visible"/>
                                      </p:to>
                                    </p:set>
                                    <p:anim calcmode="lin" valueType="num">
                                      <p:cBhvr additive="base">
                                        <p:cTn id="123" dur="500" decel="100000" fill="hold"/>
                                        <p:tgtEl>
                                          <p:spTgt spid="123"/>
                                        </p:tgtEl>
                                        <p:attrNameLst>
                                          <p:attrName>ppt_w</p:attrName>
                                        </p:attrNameLst>
                                      </p:cBhvr>
                                      <p:tavLst>
                                        <p:tav tm="0">
                                          <p:val>
                                            <p:strVal val="#ppt_w*0.55"/>
                                          </p:val>
                                        </p:tav>
                                        <p:tav tm="100000">
                                          <p:val>
                                            <p:strVal val="#ppt_w"/>
                                          </p:val>
                                        </p:tav>
                                      </p:tavLst>
                                    </p:anim>
                                    <p:anim calcmode="lin" valueType="num">
                                      <p:cBhvr additive="base">
                                        <p:cTn id="124" dur="500" decel="100000" fill="hold"/>
                                        <p:tgtEl>
                                          <p:spTgt spid="123"/>
                                        </p:tgtEl>
                                        <p:attrNameLst>
                                          <p:attrName>ppt_h</p:attrName>
                                        </p:attrNameLst>
                                      </p:cBhvr>
                                      <p:tavLst>
                                        <p:tav tm="0">
                                          <p:val>
                                            <p:strVal val="#ppt_h*0.55"/>
                                          </p:val>
                                        </p:tav>
                                        <p:tav tm="100000">
                                          <p:val>
                                            <p:strVal val="#ppt_h"/>
                                          </p:val>
                                        </p:tav>
                                      </p:tavLst>
                                    </p:anim>
                                    <p:animEffect transition="in" filter="fade">
                                      <p:cBhvr>
                                        <p:cTn id="125" dur="500"/>
                                        <p:tgtEl>
                                          <p:spTgt spid="123"/>
                                        </p:tgtEl>
                                      </p:cBhvr>
                                    </p:animEffect>
                                  </p:childTnLst>
                                </p:cTn>
                              </p:par>
                              <p:par>
                                <p:cTn id="126" presetID="53" presetClass="entr" presetSubtype="16" fill="hold" grpId="0" nodeType="withEffect">
                                  <p:stCondLst>
                                    <p:cond delay="0"/>
                                  </p:stCondLst>
                                  <p:childTnLst>
                                    <p:set>
                                      <p:cBhvr>
                                        <p:cTn id="127" dur="1" fill="hold">
                                          <p:stCondLst>
                                            <p:cond delay="0"/>
                                          </p:stCondLst>
                                        </p:cTn>
                                        <p:tgtEl>
                                          <p:spTgt spid="124"/>
                                        </p:tgtEl>
                                        <p:attrNameLst>
                                          <p:attrName>style.visibility</p:attrName>
                                        </p:attrNameLst>
                                      </p:cBhvr>
                                      <p:to>
                                        <p:strVal val="visible"/>
                                      </p:to>
                                    </p:set>
                                    <p:anim calcmode="lin" valueType="num">
                                      <p:cBhvr additive="base">
                                        <p:cTn id="128" dur="500" decel="100000" fill="hold"/>
                                        <p:tgtEl>
                                          <p:spTgt spid="124"/>
                                        </p:tgtEl>
                                        <p:attrNameLst>
                                          <p:attrName>ppt_w</p:attrName>
                                        </p:attrNameLst>
                                      </p:cBhvr>
                                      <p:tavLst>
                                        <p:tav tm="0">
                                          <p:val>
                                            <p:strVal val="#ppt_w*0.55"/>
                                          </p:val>
                                        </p:tav>
                                        <p:tav tm="100000">
                                          <p:val>
                                            <p:strVal val="#ppt_w"/>
                                          </p:val>
                                        </p:tav>
                                      </p:tavLst>
                                    </p:anim>
                                    <p:anim calcmode="lin" valueType="num">
                                      <p:cBhvr additive="base">
                                        <p:cTn id="129" dur="500" decel="100000" fill="hold"/>
                                        <p:tgtEl>
                                          <p:spTgt spid="124"/>
                                        </p:tgtEl>
                                        <p:attrNameLst>
                                          <p:attrName>ppt_h</p:attrName>
                                        </p:attrNameLst>
                                      </p:cBhvr>
                                      <p:tavLst>
                                        <p:tav tm="0">
                                          <p:val>
                                            <p:strVal val="#ppt_h*0.55"/>
                                          </p:val>
                                        </p:tav>
                                        <p:tav tm="100000">
                                          <p:val>
                                            <p:strVal val="#ppt_h"/>
                                          </p:val>
                                        </p:tav>
                                      </p:tavLst>
                                    </p:anim>
                                    <p:animEffect transition="in" filter="fade">
                                      <p:cBhvr>
                                        <p:cTn id="130" dur="500"/>
                                        <p:tgtEl>
                                          <p:spTgt spid="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8" grpId="0" animBg="1"/>
      <p:bldP spid="110" grpId="0" animBg="1"/>
      <p:bldP spid="111" grpId="0" animBg="1"/>
      <p:bldP spid="112" grpId="0" animBg="1"/>
      <p:bldP spid="113" grpId="0" animBg="1"/>
      <p:bldP spid="114" grpId="0" animBg="1"/>
      <p:bldP spid="116" grpId="0" animBg="1"/>
      <p:bldP spid="117" grpId="0" animBg="1"/>
      <p:bldP spid="118" grpId="0" animBg="1"/>
      <p:bldP spid="119" grpId="0" animBg="1"/>
      <p:bldP spid="120" grpId="0" animBg="1"/>
      <p:bldP spid="122" grpId="0" animBg="1"/>
      <p:bldP spid="123" grpId="0" animBg="1"/>
      <p:bldP spid="124"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WHY TEST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Manual Checking Does Not Scale</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WHY</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108</a:t>
            </a:r>
            <a:endParaRPr lang="en-US" sz="850" dirty="0"/>
          </a:p>
        </p:txBody>
      </p:sp>
      <p:sp>
        <p:nvSpPr>
          <p:cNvPr id="101" name="s101"/>
          <p:cNvSpPr/>
          <p:nvPr/>
        </p:nvSpPr>
        <p:spPr>
          <a:xfrm>
            <a:off x="543154" y="1783080"/>
            <a:ext cx="5406847" cy="1874520"/>
          </a:xfrm>
          <a:prstGeom prst="roundRect">
            <a:avLst>
              <a:gd name="adj" fmla="val 9000"/>
            </a:avLst>
          </a:prstGeom>
          <a:solidFill>
            <a:srgbClr val="111B2E"/>
          </a:solidFill>
          <a:ln w="12700">
            <a:solidFill>
              <a:srgbClr val="F87171"/>
            </a:solidFill>
            <a:prstDash val="solid"/>
          </a:ln>
        </p:spPr>
        <p:txBody>
          <a:bodyPr wrap="square" lIns="274320" tIns="182880" rIns="182880" bIns="91440" rtlCol="0" anchor="t">
            <a:noAutofit/>
          </a:bodyPr>
          <a:lstStyle/>
          <a:p>
            <a:pPr marL="0" indent="0" algn="l">
              <a:spcBef>
                <a:spcPts val="0"/>
              </a:spcBef>
              <a:spcAft>
                <a:spcPts val="600"/>
              </a:spcAft>
              <a:buNone/>
            </a:pPr>
            <a:r>
              <a:rPr lang="en-US" sz="1300" b="1" dirty="0">
                <a:solidFill>
                  <a:srgbClr val="F87171"/>
                </a:solidFill>
                <a:latin typeface="Segoe UI"/>
                <a:ea typeface="Segoe UI"/>
                <a:cs typeface="Segoe UI"/>
              </a:rPr>
              <a:t>✗  CHECKING BY HAND</a:t>
            </a:r>
            <a:endParaRPr lang="en-US" sz="1300" dirty="0"/>
          </a:p>
          <a:p>
            <a:pPr marL="0" indent="0" algn="l">
              <a:spcBef>
                <a:spcPts val="0"/>
              </a:spcBef>
              <a:spcAft>
                <a:spcPts val="200"/>
              </a:spcAft>
              <a:buNone/>
            </a:pPr>
            <a:r>
              <a:rPr lang="en-US" sz="1250" b="0" dirty="0">
                <a:solidFill>
                  <a:srgbClr val="CBD5E1"/>
                </a:solidFill>
                <a:latin typeface="Segoe UI"/>
                <a:ea typeface="Segoe UI"/>
                <a:cs typeface="Segoe UI"/>
              </a:rPr>
              <a:t>1. run the app</a:t>
            </a:r>
            <a:endParaRPr lang="en-US" sz="1250" dirty="0"/>
          </a:p>
          <a:p>
            <a:pPr marL="0" indent="0" algn="l">
              <a:spcBef>
                <a:spcPts val="0"/>
              </a:spcBef>
              <a:spcAft>
                <a:spcPts val="200"/>
              </a:spcAft>
              <a:buNone/>
            </a:pPr>
            <a:r>
              <a:rPr lang="en-US" sz="1250" b="0" dirty="0">
                <a:solidFill>
                  <a:srgbClr val="CBD5E1"/>
                </a:solidFill>
                <a:latin typeface="Segoe UI"/>
                <a:ea typeface="Segoe UI"/>
                <a:cs typeface="Segoe UI"/>
              </a:rPr>
              <a:t>2. click through a scenario, read the result</a:t>
            </a:r>
            <a:endParaRPr lang="en-US" sz="1250" dirty="0"/>
          </a:p>
          <a:p>
            <a:pPr marL="0" indent="0" algn="l">
              <a:spcBef>
                <a:spcPts val="0"/>
              </a:spcBef>
              <a:spcAft>
                <a:spcPts val="200"/>
              </a:spcAft>
              <a:buNone/>
            </a:pPr>
            <a:r>
              <a:rPr lang="en-US" sz="1250" b="0" dirty="0">
                <a:solidFill>
                  <a:srgbClr val="CBD5E1"/>
                </a:solidFill>
                <a:latin typeface="Segoe UI"/>
                <a:ea typeface="Segoe UI"/>
                <a:cs typeface="Segoe UI"/>
              </a:rPr>
              <a:t>3. repeat for every rule, after every change</a:t>
            </a:r>
            <a:endParaRPr lang="en-US" sz="1250" dirty="0"/>
          </a:p>
          <a:p>
            <a:pPr marL="0" indent="0" algn="l">
              <a:spcBef>
                <a:spcPts val="400"/>
              </a:spcBef>
              <a:spcAft>
                <a:spcPts val="0"/>
              </a:spcAft>
              <a:buNone/>
            </a:pPr>
            <a:r>
              <a:rPr lang="en-US" sz="1250" b="1" dirty="0">
                <a:solidFill>
                  <a:srgbClr val="F87171"/>
                </a:solidFill>
                <a:latin typeface="Segoe UI"/>
                <a:ea typeface="Segoe UI"/>
                <a:cs typeface="Segoe UI"/>
              </a:rPr>
              <a:t>slow · boring · forgotten · not repeatable</a:t>
            </a:r>
            <a:endParaRPr lang="en-US" sz="1250" dirty="0"/>
          </a:p>
        </p:txBody>
      </p:sp>
      <p:sp>
        <p:nvSpPr>
          <p:cNvPr id="102" name="s102"/>
          <p:cNvSpPr/>
          <p:nvPr/>
        </p:nvSpPr>
        <p:spPr>
          <a:xfrm>
            <a:off x="6224321" y="1783080"/>
            <a:ext cx="5406847" cy="1874520"/>
          </a:xfrm>
          <a:prstGeom prst="roundRect">
            <a:avLst>
              <a:gd name="adj" fmla="val 9000"/>
            </a:avLst>
          </a:prstGeom>
          <a:solidFill>
            <a:srgbClr val="111B2E"/>
          </a:solidFill>
          <a:ln w="12700">
            <a:solidFill>
              <a:srgbClr val="34D399"/>
            </a:solidFill>
            <a:prstDash val="solid"/>
          </a:ln>
        </p:spPr>
        <p:txBody>
          <a:bodyPr wrap="square" lIns="274320" tIns="182880" rIns="182880" bIns="91440" rtlCol="0" anchor="t">
            <a:noAutofit/>
          </a:bodyPr>
          <a:lstStyle/>
          <a:p>
            <a:pPr marL="0" indent="0" algn="l">
              <a:spcBef>
                <a:spcPts val="0"/>
              </a:spcBef>
              <a:spcAft>
                <a:spcPts val="600"/>
              </a:spcAft>
              <a:buNone/>
            </a:pPr>
            <a:r>
              <a:rPr lang="en-US" sz="1300" b="1" dirty="0">
                <a:solidFill>
                  <a:srgbClr val="34D399"/>
                </a:solidFill>
                <a:latin typeface="Segoe UI"/>
                <a:ea typeface="Segoe UI"/>
                <a:cs typeface="Segoe UI"/>
              </a:rPr>
              <a:t>✓  AUTOMATED TESTS</a:t>
            </a:r>
            <a:endParaRPr lang="en-US" sz="1300" dirty="0"/>
          </a:p>
          <a:p>
            <a:pPr marL="0" indent="0" algn="l">
              <a:spcBef>
                <a:spcPts val="0"/>
              </a:spcBef>
              <a:spcAft>
                <a:spcPts val="200"/>
              </a:spcAft>
              <a:buNone/>
            </a:pPr>
            <a:r>
              <a:rPr lang="en-US" sz="1500" b="1" dirty="0">
                <a:solidFill>
                  <a:srgbClr val="13D0F7"/>
                </a:solidFill>
                <a:latin typeface="Consolas"/>
                <a:ea typeface="Consolas"/>
                <a:cs typeface="Consolas"/>
              </a:rPr>
              <a:t>dotnet test</a:t>
            </a:r>
            <a:endParaRPr lang="en-US" sz="1500" dirty="0"/>
          </a:p>
          <a:p>
            <a:pPr marL="0" indent="0" algn="l">
              <a:spcBef>
                <a:spcPts val="0"/>
              </a:spcBef>
              <a:spcAft>
                <a:spcPts val="200"/>
              </a:spcAft>
              <a:buNone/>
            </a:pPr>
            <a:r>
              <a:rPr lang="en-US" sz="1250" b="0" dirty="0">
                <a:solidFill>
                  <a:srgbClr val="CBD5E1"/>
                </a:solidFill>
                <a:latin typeface="Segoe UI"/>
                <a:ea typeface="Segoe UI"/>
                <a:cs typeface="Segoe UI"/>
              </a:rPr>
              <a:t>every rule checked in seconds</a:t>
            </a:r>
            <a:endParaRPr lang="en-US" sz="1250" dirty="0"/>
          </a:p>
          <a:p>
            <a:pPr marL="0" indent="0" algn="l">
              <a:spcBef>
                <a:spcPts val="0"/>
              </a:spcBef>
              <a:spcAft>
                <a:spcPts val="200"/>
              </a:spcAft>
              <a:buNone/>
            </a:pPr>
            <a:r>
              <a:rPr lang="en-US" sz="1250" b="0" dirty="0">
                <a:solidFill>
                  <a:srgbClr val="CBD5E1"/>
                </a:solidFill>
                <a:latin typeface="Segoe UI"/>
                <a:ea typeface="Segoe UI"/>
                <a:cs typeface="Segoe UI"/>
              </a:rPr>
              <a:t>after every change, by everyone, in CI</a:t>
            </a:r>
            <a:endParaRPr lang="en-US" sz="1250" dirty="0"/>
          </a:p>
          <a:p>
            <a:pPr marL="0" indent="0" algn="l">
              <a:spcBef>
                <a:spcPts val="400"/>
              </a:spcBef>
              <a:spcAft>
                <a:spcPts val="0"/>
              </a:spcAft>
              <a:buNone/>
            </a:pPr>
            <a:r>
              <a:rPr lang="en-US" sz="1250" b="1" dirty="0">
                <a:solidFill>
                  <a:srgbClr val="34D399"/>
                </a:solidFill>
                <a:latin typeface="Segoe UI"/>
                <a:ea typeface="Segoe UI"/>
                <a:cs typeface="Segoe UI"/>
              </a:rPr>
              <a:t>fast · repeatable · documents the rules</a:t>
            </a:r>
            <a:endParaRPr lang="en-US" sz="1250" dirty="0"/>
          </a:p>
        </p:txBody>
      </p:sp>
      <p:sp>
        <p:nvSpPr>
          <p:cNvPr id="103" name="s103"/>
          <p:cNvSpPr txBox="1"/>
          <p:nvPr/>
        </p:nvSpPr>
        <p:spPr>
          <a:xfrm>
            <a:off x="543154" y="3886200"/>
            <a:ext cx="73152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THE COST OF A BUG GROWS WITH TIME  (illustrative)</a:t>
            </a:r>
            <a:endParaRPr lang="en-US" sz="1100" dirty="0"/>
          </a:p>
        </p:txBody>
      </p:sp>
      <p:sp>
        <p:nvSpPr>
          <p:cNvPr id="104" name="s104"/>
          <p:cNvSpPr txBox="1"/>
          <p:nvPr/>
        </p:nvSpPr>
        <p:spPr>
          <a:xfrm>
            <a:off x="543154" y="4251960"/>
            <a:ext cx="2194560" cy="29260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while coding</a:t>
            </a:r>
            <a:endParaRPr lang="en-US" sz="1200" dirty="0"/>
          </a:p>
        </p:txBody>
      </p:sp>
      <p:sp>
        <p:nvSpPr>
          <p:cNvPr id="105" name="s105"/>
          <p:cNvSpPr/>
          <p:nvPr/>
        </p:nvSpPr>
        <p:spPr>
          <a:xfrm>
            <a:off x="2829154" y="4288536"/>
            <a:ext cx="548640" cy="237744"/>
          </a:xfrm>
          <a:prstGeom prst="roundRect">
            <a:avLst>
              <a:gd name="adj" fmla="val 40000"/>
            </a:avLst>
          </a:prstGeom>
          <a:solidFill>
            <a:srgbClr val="34D399"/>
          </a:solidFill>
          <a:ln>
            <a:noFill/>
          </a:ln>
        </p:spPr>
        <p:txBody>
          <a:bodyPr wrap="square" lIns="164592" tIns="109728" rIns="137160" bIns="91440" rtlCol="0" anchor="t">
            <a:noAutofit/>
          </a:bodyPr>
          <a:lstStyle/>
          <a:p>
            <a:endParaRPr lang="en-US"/>
          </a:p>
        </p:txBody>
      </p:sp>
      <p:sp>
        <p:nvSpPr>
          <p:cNvPr id="106" name="s106"/>
          <p:cNvSpPr txBox="1"/>
          <p:nvPr/>
        </p:nvSpPr>
        <p:spPr>
          <a:xfrm>
            <a:off x="543154" y="4636008"/>
            <a:ext cx="2194560" cy="29260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code review / tests</a:t>
            </a:r>
            <a:endParaRPr lang="en-US" sz="1200" dirty="0"/>
          </a:p>
        </p:txBody>
      </p:sp>
      <p:sp>
        <p:nvSpPr>
          <p:cNvPr id="107" name="s107"/>
          <p:cNvSpPr/>
          <p:nvPr/>
        </p:nvSpPr>
        <p:spPr>
          <a:xfrm>
            <a:off x="2829154" y="4672584"/>
            <a:ext cx="1280160" cy="237744"/>
          </a:xfrm>
          <a:prstGeom prst="roundRect">
            <a:avLst>
              <a:gd name="adj" fmla="val 40000"/>
            </a:avLst>
          </a:prstGeom>
          <a:solidFill>
            <a:srgbClr val="13D0F7"/>
          </a:solidFill>
          <a:ln>
            <a:noFill/>
          </a:ln>
        </p:spPr>
        <p:txBody>
          <a:bodyPr wrap="square" lIns="164592" tIns="109728" rIns="137160" bIns="91440" rtlCol="0" anchor="t">
            <a:noAutofit/>
          </a:bodyPr>
          <a:lstStyle/>
          <a:p>
            <a:endParaRPr lang="en-US"/>
          </a:p>
        </p:txBody>
      </p:sp>
      <p:sp>
        <p:nvSpPr>
          <p:cNvPr id="108" name="s108"/>
          <p:cNvSpPr txBox="1"/>
          <p:nvPr/>
        </p:nvSpPr>
        <p:spPr>
          <a:xfrm>
            <a:off x="543154" y="5020056"/>
            <a:ext cx="2194560" cy="29260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QA</a:t>
            </a:r>
            <a:endParaRPr lang="en-US" sz="1200" dirty="0"/>
          </a:p>
        </p:txBody>
      </p:sp>
      <p:sp>
        <p:nvSpPr>
          <p:cNvPr id="109" name="s109"/>
          <p:cNvSpPr/>
          <p:nvPr/>
        </p:nvSpPr>
        <p:spPr>
          <a:xfrm>
            <a:off x="2829154" y="5056632"/>
            <a:ext cx="2926080" cy="237744"/>
          </a:xfrm>
          <a:prstGeom prst="roundRect">
            <a:avLst>
              <a:gd name="adj" fmla="val 40000"/>
            </a:avLst>
          </a:prstGeom>
          <a:solidFill>
            <a:srgbClr val="FBBF24"/>
          </a:solidFill>
          <a:ln>
            <a:noFill/>
          </a:ln>
        </p:spPr>
        <p:txBody>
          <a:bodyPr wrap="square" lIns="164592" tIns="109728" rIns="137160" bIns="91440" rtlCol="0" anchor="t">
            <a:noAutofit/>
          </a:bodyPr>
          <a:lstStyle/>
          <a:p>
            <a:endParaRPr lang="en-US"/>
          </a:p>
        </p:txBody>
      </p:sp>
      <p:sp>
        <p:nvSpPr>
          <p:cNvPr id="110" name="s110"/>
          <p:cNvSpPr txBox="1"/>
          <p:nvPr/>
        </p:nvSpPr>
        <p:spPr>
          <a:xfrm>
            <a:off x="543154" y="5404104"/>
            <a:ext cx="2194560" cy="29260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production</a:t>
            </a:r>
            <a:endParaRPr lang="en-US" sz="1200" dirty="0"/>
          </a:p>
        </p:txBody>
      </p:sp>
      <p:sp>
        <p:nvSpPr>
          <p:cNvPr id="111" name="s111"/>
          <p:cNvSpPr/>
          <p:nvPr/>
        </p:nvSpPr>
        <p:spPr>
          <a:xfrm>
            <a:off x="2829154" y="5440680"/>
            <a:ext cx="7132320" cy="237744"/>
          </a:xfrm>
          <a:prstGeom prst="roundRect">
            <a:avLst>
              <a:gd name="adj" fmla="val 40000"/>
            </a:avLst>
          </a:prstGeom>
          <a:solidFill>
            <a:srgbClr val="F87171"/>
          </a:solidFill>
          <a:ln>
            <a:noFill/>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2"/>
                                        </p:tgtEl>
                                        <p:attrNameLst>
                                          <p:attrName>style.visibility</p:attrName>
                                        </p:attrNameLst>
                                      </p:cBhvr>
                                      <p:to>
                                        <p:strVal val="visible"/>
                                      </p:to>
                                    </p:set>
                                    <p:animEffect transition="in" filter="fade">
                                      <p:cBhvr>
                                        <p:cTn id="13" dur="500"/>
                                        <p:tgtEl>
                                          <p:spTgt spid="102"/>
                                        </p:tgtEl>
                                      </p:cBhvr>
                                    </p:animEffect>
                                    <p:anim calcmode="lin" valueType="num">
                                      <p:cBhvr additive="base">
                                        <p:cTn id="14"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103"/>
                                        </p:tgtEl>
                                        <p:attrNameLst>
                                          <p:attrName>style.visibility</p:attrName>
                                        </p:attrNameLst>
                                      </p:cBhvr>
                                      <p:to>
                                        <p:strVal val="visible"/>
                                      </p:to>
                                    </p:set>
                                    <p:animEffect transition="in" filter="fade">
                                      <p:cBhvr>
                                        <p:cTn id="19" dur="600"/>
                                        <p:tgtEl>
                                          <p:spTgt spid="103"/>
                                        </p:tgtEl>
                                      </p:cBhvr>
                                    </p:animEffect>
                                  </p:childTnLst>
                                </p:cTn>
                              </p:par>
                              <p:par>
                                <p:cTn id="20" presetID="10" presetClass="entr" presetSubtype="0" fill="hold" grpId="0" nodeType="withEffect">
                                  <p:stCondLst>
                                    <p:cond delay="15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600"/>
                                        <p:tgtEl>
                                          <p:spTgt spid="104"/>
                                        </p:tgtEl>
                                      </p:cBhvr>
                                    </p:animEffect>
                                  </p:childTnLst>
                                </p:cTn>
                              </p:par>
                              <p:par>
                                <p:cTn id="23" presetID="22" presetClass="entr" presetSubtype="8" fill="hold" grpId="0" nodeType="withEffect">
                                  <p:stCondLst>
                                    <p:cond delay="300"/>
                                  </p:stCondLst>
                                  <p:childTnLst>
                                    <p:set>
                                      <p:cBhvr>
                                        <p:cTn id="24" dur="1" fill="hold">
                                          <p:stCondLst>
                                            <p:cond delay="0"/>
                                          </p:stCondLst>
                                        </p:cTn>
                                        <p:tgtEl>
                                          <p:spTgt spid="105"/>
                                        </p:tgtEl>
                                        <p:attrNameLst>
                                          <p:attrName>style.visibility</p:attrName>
                                        </p:attrNameLst>
                                      </p:cBhvr>
                                      <p:to>
                                        <p:strVal val="visible"/>
                                      </p:to>
                                    </p:set>
                                    <p:animEffect transition="in" filter="wipe(left)">
                                      <p:cBhvr>
                                        <p:cTn id="25" dur="600"/>
                                        <p:tgtEl>
                                          <p:spTgt spid="105"/>
                                        </p:tgtEl>
                                      </p:cBhvr>
                                    </p:animEffect>
                                  </p:childTnLst>
                                </p:cTn>
                              </p:par>
                              <p:par>
                                <p:cTn id="26" presetID="10" presetClass="entr" presetSubtype="0" fill="hold" grpId="0" nodeType="withEffect">
                                  <p:stCondLst>
                                    <p:cond delay="450"/>
                                  </p:stCondLst>
                                  <p:childTnLst>
                                    <p:set>
                                      <p:cBhvr>
                                        <p:cTn id="27" dur="1" fill="hold">
                                          <p:stCondLst>
                                            <p:cond delay="0"/>
                                          </p:stCondLst>
                                        </p:cTn>
                                        <p:tgtEl>
                                          <p:spTgt spid="106"/>
                                        </p:tgtEl>
                                        <p:attrNameLst>
                                          <p:attrName>style.visibility</p:attrName>
                                        </p:attrNameLst>
                                      </p:cBhvr>
                                      <p:to>
                                        <p:strVal val="visible"/>
                                      </p:to>
                                    </p:set>
                                    <p:animEffect transition="in" filter="fade">
                                      <p:cBhvr>
                                        <p:cTn id="28" dur="600"/>
                                        <p:tgtEl>
                                          <p:spTgt spid="106"/>
                                        </p:tgtEl>
                                      </p:cBhvr>
                                    </p:animEffect>
                                  </p:childTnLst>
                                </p:cTn>
                              </p:par>
                              <p:par>
                                <p:cTn id="29" presetID="22" presetClass="entr" presetSubtype="8" fill="hold" grpId="0" nodeType="withEffect">
                                  <p:stCondLst>
                                    <p:cond delay="600"/>
                                  </p:stCondLst>
                                  <p:childTnLst>
                                    <p:set>
                                      <p:cBhvr>
                                        <p:cTn id="30" dur="1" fill="hold">
                                          <p:stCondLst>
                                            <p:cond delay="0"/>
                                          </p:stCondLst>
                                        </p:cTn>
                                        <p:tgtEl>
                                          <p:spTgt spid="107"/>
                                        </p:tgtEl>
                                        <p:attrNameLst>
                                          <p:attrName>style.visibility</p:attrName>
                                        </p:attrNameLst>
                                      </p:cBhvr>
                                      <p:to>
                                        <p:strVal val="visible"/>
                                      </p:to>
                                    </p:set>
                                    <p:animEffect transition="in" filter="wipe(left)">
                                      <p:cBhvr>
                                        <p:cTn id="31" dur="600"/>
                                        <p:tgtEl>
                                          <p:spTgt spid="107"/>
                                        </p:tgtEl>
                                      </p:cBhvr>
                                    </p:animEffect>
                                  </p:childTnLst>
                                </p:cTn>
                              </p:par>
                              <p:par>
                                <p:cTn id="32" presetID="10" presetClass="entr" presetSubtype="0" fill="hold" grpId="0" nodeType="withEffect">
                                  <p:stCondLst>
                                    <p:cond delay="750"/>
                                  </p:stCondLst>
                                  <p:childTnLst>
                                    <p:set>
                                      <p:cBhvr>
                                        <p:cTn id="33" dur="1" fill="hold">
                                          <p:stCondLst>
                                            <p:cond delay="0"/>
                                          </p:stCondLst>
                                        </p:cTn>
                                        <p:tgtEl>
                                          <p:spTgt spid="108"/>
                                        </p:tgtEl>
                                        <p:attrNameLst>
                                          <p:attrName>style.visibility</p:attrName>
                                        </p:attrNameLst>
                                      </p:cBhvr>
                                      <p:to>
                                        <p:strVal val="visible"/>
                                      </p:to>
                                    </p:set>
                                    <p:animEffect transition="in" filter="fade">
                                      <p:cBhvr>
                                        <p:cTn id="34" dur="600"/>
                                        <p:tgtEl>
                                          <p:spTgt spid="108"/>
                                        </p:tgtEl>
                                      </p:cBhvr>
                                    </p:animEffect>
                                  </p:childTnLst>
                                </p:cTn>
                              </p:par>
                              <p:par>
                                <p:cTn id="35" presetID="22" presetClass="entr" presetSubtype="8" fill="hold" grpId="0" nodeType="withEffect">
                                  <p:stCondLst>
                                    <p:cond delay="900"/>
                                  </p:stCondLst>
                                  <p:childTnLst>
                                    <p:set>
                                      <p:cBhvr>
                                        <p:cTn id="36" dur="1" fill="hold">
                                          <p:stCondLst>
                                            <p:cond delay="0"/>
                                          </p:stCondLst>
                                        </p:cTn>
                                        <p:tgtEl>
                                          <p:spTgt spid="109"/>
                                        </p:tgtEl>
                                        <p:attrNameLst>
                                          <p:attrName>style.visibility</p:attrName>
                                        </p:attrNameLst>
                                      </p:cBhvr>
                                      <p:to>
                                        <p:strVal val="visible"/>
                                      </p:to>
                                    </p:set>
                                    <p:animEffect transition="in" filter="wipe(left)">
                                      <p:cBhvr>
                                        <p:cTn id="37" dur="600"/>
                                        <p:tgtEl>
                                          <p:spTgt spid="109"/>
                                        </p:tgtEl>
                                      </p:cBhvr>
                                    </p:animEffect>
                                  </p:childTnLst>
                                </p:cTn>
                              </p:par>
                              <p:par>
                                <p:cTn id="38" presetID="10" presetClass="entr" presetSubtype="0" fill="hold" grpId="0" nodeType="withEffect">
                                  <p:stCondLst>
                                    <p:cond delay="1050"/>
                                  </p:stCondLst>
                                  <p:childTnLst>
                                    <p:set>
                                      <p:cBhvr>
                                        <p:cTn id="39" dur="1" fill="hold">
                                          <p:stCondLst>
                                            <p:cond delay="0"/>
                                          </p:stCondLst>
                                        </p:cTn>
                                        <p:tgtEl>
                                          <p:spTgt spid="110"/>
                                        </p:tgtEl>
                                        <p:attrNameLst>
                                          <p:attrName>style.visibility</p:attrName>
                                        </p:attrNameLst>
                                      </p:cBhvr>
                                      <p:to>
                                        <p:strVal val="visible"/>
                                      </p:to>
                                    </p:set>
                                    <p:animEffect transition="in" filter="fade">
                                      <p:cBhvr>
                                        <p:cTn id="40" dur="600"/>
                                        <p:tgtEl>
                                          <p:spTgt spid="110"/>
                                        </p:tgtEl>
                                      </p:cBhvr>
                                    </p:animEffect>
                                  </p:childTnLst>
                                </p:cTn>
                              </p:par>
                              <p:par>
                                <p:cTn id="41" presetID="22" presetClass="entr" presetSubtype="8" fill="hold" grpId="0" nodeType="withEffect">
                                  <p:stCondLst>
                                    <p:cond delay="1200"/>
                                  </p:stCondLst>
                                  <p:childTnLst>
                                    <p:set>
                                      <p:cBhvr>
                                        <p:cTn id="42" dur="1" fill="hold">
                                          <p:stCondLst>
                                            <p:cond delay="0"/>
                                          </p:stCondLst>
                                        </p:cTn>
                                        <p:tgtEl>
                                          <p:spTgt spid="111"/>
                                        </p:tgtEl>
                                        <p:attrNameLst>
                                          <p:attrName>style.visibility</p:attrName>
                                        </p:attrNameLst>
                                      </p:cBhvr>
                                      <p:to>
                                        <p:strVal val="visible"/>
                                      </p:to>
                                    </p:set>
                                    <p:animEffect transition="in" filter="wipe(left)">
                                      <p:cBhvr>
                                        <p:cTn id="43" dur="6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DEFINE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Is a Unit Test?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 small method that runs ONE piece of your code and checks the answer automatically.</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WHY</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109</a:t>
            </a:r>
            <a:endParaRPr lang="en-US" sz="850" dirty="0"/>
          </a:p>
        </p:txBody>
      </p:sp>
      <p:sp>
        <p:nvSpPr>
          <p:cNvPr id="101" name="s101"/>
          <p:cNvSpPr/>
          <p:nvPr/>
        </p:nvSpPr>
        <p:spPr>
          <a:xfrm>
            <a:off x="543154" y="2148840"/>
            <a:ext cx="2194560" cy="1097280"/>
          </a:xfrm>
          <a:prstGeom prst="roundRect">
            <a:avLst>
              <a:gd name="adj" fmla="val 12000"/>
            </a:avLst>
          </a:prstGeom>
          <a:solidFill>
            <a:srgbClr val="111B2E"/>
          </a:solidFill>
          <a:ln w="12700">
            <a:solidFill>
              <a:srgbClr val="13D0F7"/>
            </a:solidFill>
            <a:prstDash val="solid"/>
          </a:ln>
        </p:spPr>
        <p:txBody>
          <a:bodyPr wrap="square" lIns="164592" tIns="109728" rIns="137160" bIns="9144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KNOWN INPUT</a:t>
            </a:r>
            <a:endParaRPr lang="en-US" sz="1000" dirty="0"/>
          </a:p>
          <a:p>
            <a:pPr marL="0" indent="0" algn="ctr">
              <a:spcBef>
                <a:spcPts val="0"/>
              </a:spcBef>
              <a:spcAft>
                <a:spcPts val="0"/>
              </a:spcAft>
              <a:buNone/>
            </a:pPr>
            <a:r>
              <a:rPr lang="en-US" sz="1500" b="1" dirty="0">
                <a:solidFill>
                  <a:srgbClr val="FFFFFF"/>
                </a:solidFill>
                <a:latin typeface="Consolas"/>
                <a:ea typeface="Consolas"/>
                <a:cs typeface="Consolas"/>
              </a:rPr>
              <a:t>Deposit(100)</a:t>
            </a:r>
            <a:endParaRPr lang="en-US" sz="1500" dirty="0"/>
          </a:p>
        </p:txBody>
      </p:sp>
      <p:cxnSp>
        <p:nvCxnSpPr>
          <p:cNvPr id="102" name="ln102"/>
          <p:cNvCxnSpPr/>
          <p:nvPr/>
        </p:nvCxnSpPr>
        <p:spPr>
          <a:xfrm>
            <a:off x="2829154" y="2697480"/>
            <a:ext cx="640080" cy="0"/>
          </a:xfrm>
          <a:prstGeom prst="line">
            <a:avLst/>
          </a:prstGeom>
          <a:ln w="31750">
            <a:solidFill>
              <a:srgbClr val="13D0F7"/>
            </a:solidFill>
            <a:tailEnd type="triangle" w="med" len="med"/>
          </a:ln>
        </p:spPr>
      </p:cxnSp>
      <p:sp>
        <p:nvSpPr>
          <p:cNvPr id="103" name="s103"/>
          <p:cNvSpPr/>
          <p:nvPr/>
        </p:nvSpPr>
        <p:spPr>
          <a:xfrm>
            <a:off x="3560674" y="1965960"/>
            <a:ext cx="2560320" cy="1463040"/>
          </a:xfrm>
          <a:prstGeom prst="roundRect">
            <a:avLst>
              <a:gd name="adj" fmla="val 12000"/>
            </a:avLst>
          </a:prstGeom>
          <a:solidFill>
            <a:srgbClr val="005EB5">
              <a:alpha val="35000"/>
            </a:srgbClr>
          </a:solidFill>
          <a:ln w="25400">
            <a:solidFill>
              <a:srgbClr val="13D0F7"/>
            </a:solidFill>
            <a:prstDash val="solid"/>
          </a:ln>
        </p:spPr>
        <p:txBody>
          <a:bodyPr wrap="square" lIns="164592" tIns="109728" rIns="137160" bIns="9144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THE UNIT</a:t>
            </a:r>
            <a:endParaRPr lang="en-US" sz="1000" dirty="0"/>
          </a:p>
          <a:p>
            <a:pPr marL="0" indent="0" algn="ctr">
              <a:spcBef>
                <a:spcPts val="0"/>
              </a:spcBef>
              <a:spcAft>
                <a:spcPts val="0"/>
              </a:spcAft>
              <a:buNone/>
            </a:pPr>
            <a:r>
              <a:rPr lang="en-US" sz="1700" b="1" dirty="0">
                <a:solidFill>
                  <a:srgbClr val="FFFFFF"/>
                </a:solidFill>
                <a:latin typeface="Consolas"/>
                <a:ea typeface="Consolas"/>
                <a:cs typeface="Consolas"/>
              </a:rPr>
              <a:t>BankAccount</a:t>
            </a:r>
            <a:endParaRPr lang="en-US" sz="1700" dirty="0"/>
          </a:p>
          <a:p>
            <a:pPr marL="0" indent="0" algn="ctr">
              <a:spcBef>
                <a:spcPts val="0"/>
              </a:spcBef>
              <a:spcAft>
                <a:spcPts val="0"/>
              </a:spcAft>
              <a:buNone/>
            </a:pPr>
            <a:r>
              <a:rPr lang="en-US" sz="1050" b="0" dirty="0">
                <a:solidFill>
                  <a:srgbClr val="94A3B8"/>
                </a:solidFill>
                <a:latin typeface="Segoe UI"/>
                <a:ea typeface="Segoe UI"/>
                <a:cs typeface="Segoe UI"/>
              </a:rPr>
              <a:t>one class, in memory</a:t>
            </a:r>
            <a:endParaRPr lang="en-US" sz="1050" dirty="0"/>
          </a:p>
        </p:txBody>
      </p:sp>
      <p:cxnSp>
        <p:nvCxnSpPr>
          <p:cNvPr id="104" name="ln104"/>
          <p:cNvCxnSpPr/>
          <p:nvPr/>
        </p:nvCxnSpPr>
        <p:spPr>
          <a:xfrm>
            <a:off x="6212434" y="2697480"/>
            <a:ext cx="640080" cy="0"/>
          </a:xfrm>
          <a:prstGeom prst="line">
            <a:avLst/>
          </a:prstGeom>
          <a:ln w="31750">
            <a:solidFill>
              <a:srgbClr val="13D0F7"/>
            </a:solidFill>
            <a:tailEnd type="triangle" w="med" len="med"/>
          </a:ln>
        </p:spPr>
      </p:cxnSp>
      <p:sp>
        <p:nvSpPr>
          <p:cNvPr id="105" name="s105"/>
          <p:cNvSpPr/>
          <p:nvPr/>
        </p:nvSpPr>
        <p:spPr>
          <a:xfrm>
            <a:off x="6943954" y="2148840"/>
            <a:ext cx="2103120" cy="1097280"/>
          </a:xfrm>
          <a:prstGeom prst="roundRect">
            <a:avLst>
              <a:gd name="adj" fmla="val 12000"/>
            </a:avLst>
          </a:prstGeom>
          <a:solidFill>
            <a:srgbClr val="111B2E"/>
          </a:solidFill>
          <a:ln w="12700">
            <a:solidFill>
              <a:srgbClr val="94A3B8"/>
            </a:solidFill>
            <a:prstDash val="solid"/>
          </a:ln>
        </p:spPr>
        <p:txBody>
          <a:bodyPr wrap="square" lIns="164592" tIns="109728" rIns="137160" bIns="91440" rtlCol="0" anchor="ctr">
            <a:noAutofit/>
          </a:bodyPr>
          <a:lstStyle/>
          <a:p>
            <a:pPr marL="0" indent="0" algn="ctr">
              <a:spcBef>
                <a:spcPts val="0"/>
              </a:spcBef>
              <a:spcAft>
                <a:spcPts val="0"/>
              </a:spcAft>
              <a:buNone/>
            </a:pPr>
            <a:r>
              <a:rPr lang="en-US" sz="1000" b="1" dirty="0">
                <a:solidFill>
                  <a:srgbClr val="94A3B8"/>
                </a:solidFill>
                <a:latin typeface="Segoe UI"/>
                <a:ea typeface="Segoe UI"/>
                <a:cs typeface="Segoe UI"/>
              </a:rPr>
              <a:t>ACTUAL</a:t>
            </a:r>
            <a:endParaRPr lang="en-US" sz="1000" dirty="0"/>
          </a:p>
          <a:p>
            <a:pPr marL="0" indent="0" algn="ctr">
              <a:spcBef>
                <a:spcPts val="0"/>
              </a:spcBef>
              <a:spcAft>
                <a:spcPts val="0"/>
              </a:spcAft>
              <a:buNone/>
            </a:pPr>
            <a:r>
              <a:rPr lang="en-US" sz="1500" b="1" dirty="0">
                <a:solidFill>
                  <a:srgbClr val="FFFFFF"/>
                </a:solidFill>
                <a:latin typeface="Consolas"/>
                <a:ea typeface="Consolas"/>
                <a:cs typeface="Consolas"/>
              </a:rPr>
              <a:t>Balance = 100</a:t>
            </a:r>
            <a:endParaRPr lang="en-US" sz="1500" dirty="0"/>
          </a:p>
        </p:txBody>
      </p:sp>
      <p:sp>
        <p:nvSpPr>
          <p:cNvPr id="106" name="s106"/>
          <p:cNvSpPr txBox="1"/>
          <p:nvPr/>
        </p:nvSpPr>
        <p:spPr>
          <a:xfrm>
            <a:off x="9047074" y="2148840"/>
            <a:ext cx="502920" cy="109728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2200" b="1" dirty="0">
                <a:solidFill>
                  <a:srgbClr val="FBBF24"/>
                </a:solidFill>
                <a:latin typeface="Segoe UI"/>
                <a:ea typeface="Segoe UI"/>
                <a:cs typeface="Segoe UI"/>
              </a:rPr>
              <a:t>=?</a:t>
            </a:r>
            <a:endParaRPr lang="en-US" sz="2200" dirty="0"/>
          </a:p>
        </p:txBody>
      </p:sp>
      <p:sp>
        <p:nvSpPr>
          <p:cNvPr id="107" name="s107"/>
          <p:cNvSpPr/>
          <p:nvPr/>
        </p:nvSpPr>
        <p:spPr>
          <a:xfrm>
            <a:off x="9549994" y="2148840"/>
            <a:ext cx="2081174" cy="1097280"/>
          </a:xfrm>
          <a:prstGeom prst="roundRect">
            <a:avLst>
              <a:gd name="adj" fmla="val 12000"/>
            </a:avLst>
          </a:prstGeom>
          <a:solidFill>
            <a:srgbClr val="111B2E"/>
          </a:solidFill>
          <a:ln w="12700">
            <a:solidFill>
              <a:srgbClr val="FBBF24"/>
            </a:solidFill>
            <a:prstDash val="solid"/>
          </a:ln>
        </p:spPr>
        <p:txBody>
          <a:bodyPr wrap="square" lIns="164592" tIns="109728" rIns="137160" bIns="9144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EXPECTED</a:t>
            </a:r>
            <a:endParaRPr lang="en-US" sz="1000" dirty="0"/>
          </a:p>
          <a:p>
            <a:pPr marL="0" indent="0" algn="ctr">
              <a:spcBef>
                <a:spcPts val="0"/>
              </a:spcBef>
              <a:spcAft>
                <a:spcPts val="0"/>
              </a:spcAft>
              <a:buNone/>
            </a:pPr>
            <a:r>
              <a:rPr lang="en-US" sz="1500" b="1" dirty="0">
                <a:solidFill>
                  <a:srgbClr val="FFFFFF"/>
                </a:solidFill>
                <a:latin typeface="Consolas"/>
                <a:ea typeface="Consolas"/>
                <a:cs typeface="Consolas"/>
              </a:rPr>
              <a:t>100</a:t>
            </a:r>
            <a:endParaRPr lang="en-US" sz="1500" dirty="0"/>
          </a:p>
        </p:txBody>
      </p:sp>
      <p:sp>
        <p:nvSpPr>
          <p:cNvPr id="108" name="s108"/>
          <p:cNvSpPr/>
          <p:nvPr/>
        </p:nvSpPr>
        <p:spPr>
          <a:xfrm>
            <a:off x="6943954" y="3520440"/>
            <a:ext cx="2103120" cy="384048"/>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0F172A"/>
                </a:solidFill>
                <a:latin typeface="Segoe UI"/>
                <a:ea typeface="Segoe UI"/>
                <a:cs typeface="Segoe UI"/>
              </a:rPr>
              <a:t>✓  equal → GREEN</a:t>
            </a:r>
            <a:endParaRPr lang="en-US" sz="1200" dirty="0"/>
          </a:p>
        </p:txBody>
      </p:sp>
      <p:sp>
        <p:nvSpPr>
          <p:cNvPr id="109" name="s109"/>
          <p:cNvSpPr/>
          <p:nvPr/>
        </p:nvSpPr>
        <p:spPr>
          <a:xfrm>
            <a:off x="9549994" y="3520440"/>
            <a:ext cx="2081174" cy="384048"/>
          </a:xfrm>
          <a:prstGeom prst="roundRect">
            <a:avLst>
              <a:gd name="adj" fmla="val 50000"/>
            </a:avLst>
          </a:prstGeom>
          <a:solidFill>
            <a:srgbClr val="F87171"/>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0F172A"/>
                </a:solidFill>
                <a:latin typeface="Segoe UI"/>
                <a:ea typeface="Segoe UI"/>
                <a:cs typeface="Segoe UI"/>
              </a:rPr>
              <a:t>✗  different → RED</a:t>
            </a:r>
            <a:endParaRPr lang="en-US" sz="1200" dirty="0"/>
          </a:p>
        </p:txBody>
      </p:sp>
      <p:sp>
        <p:nvSpPr>
          <p:cNvPr id="110" name="s110"/>
          <p:cNvSpPr/>
          <p:nvPr/>
        </p:nvSpPr>
        <p:spPr>
          <a:xfrm>
            <a:off x="543154" y="4343400"/>
            <a:ext cx="3543605" cy="1280160"/>
          </a:xfrm>
          <a:prstGeom prst="roundRect">
            <a:avLst>
              <a:gd name="adj" fmla="val 10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11" name="s111"/>
          <p:cNvSpPr/>
          <p:nvPr/>
        </p:nvSpPr>
        <p:spPr>
          <a:xfrm>
            <a:off x="744322" y="4526280"/>
            <a:ext cx="457200" cy="45720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12" name="img112"/>
          <p:cNvPicPr>
            <a:picLocks noChangeAspect="1"/>
          </p:cNvPicPr>
          <p:nvPr/>
        </p:nvPicPr>
        <p:blipFill>
          <a:blip r:embed="rId4"/>
          <a:stretch>
            <a:fillRect/>
          </a:stretch>
        </p:blipFill>
        <p:spPr>
          <a:xfrm>
            <a:off x="854050" y="4636008"/>
            <a:ext cx="237744" cy="237744"/>
          </a:xfrm>
          <a:prstGeom prst="rect">
            <a:avLst/>
          </a:prstGeom>
        </p:spPr>
      </p:pic>
      <p:sp>
        <p:nvSpPr>
          <p:cNvPr id="113" name="s113"/>
          <p:cNvSpPr txBox="1"/>
          <p:nvPr/>
        </p:nvSpPr>
        <p:spPr>
          <a:xfrm>
            <a:off x="1320394" y="4498848"/>
            <a:ext cx="2629205"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13D0F7"/>
                </a:solidFill>
                <a:latin typeface="Segoe UI"/>
                <a:ea typeface="Segoe UI"/>
                <a:cs typeface="Segoe UI"/>
              </a:rPr>
              <a:t>Milliseconds</a:t>
            </a:r>
            <a:endParaRPr lang="en-US" sz="1400" dirty="0"/>
          </a:p>
        </p:txBody>
      </p:sp>
      <p:sp>
        <p:nvSpPr>
          <p:cNvPr id="114" name="s114"/>
          <p:cNvSpPr txBox="1"/>
          <p:nvPr/>
        </p:nvSpPr>
        <p:spPr>
          <a:xfrm>
            <a:off x="771754" y="5074920"/>
            <a:ext cx="3132125" cy="5029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0" dirty="0">
                <a:solidFill>
                  <a:srgbClr val="E2E8F0"/>
                </a:solidFill>
                <a:latin typeface="Segoe UI"/>
                <a:ea typeface="Segoe UI"/>
                <a:cs typeface="Segoe UI"/>
              </a:rPr>
              <a:t>No database, no network, no files.</a:t>
            </a:r>
            <a:endParaRPr lang="en-US" sz="1200" dirty="0"/>
          </a:p>
        </p:txBody>
      </p:sp>
      <p:sp>
        <p:nvSpPr>
          <p:cNvPr id="115" name="s115"/>
          <p:cNvSpPr/>
          <p:nvPr/>
        </p:nvSpPr>
        <p:spPr>
          <a:xfrm>
            <a:off x="4315358" y="4343400"/>
            <a:ext cx="3543605" cy="1280160"/>
          </a:xfrm>
          <a:prstGeom prst="roundRect">
            <a:avLst>
              <a:gd name="adj" fmla="val 10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16" name="s116"/>
          <p:cNvSpPr/>
          <p:nvPr/>
        </p:nvSpPr>
        <p:spPr>
          <a:xfrm>
            <a:off x="4516526" y="4526280"/>
            <a:ext cx="457200" cy="45720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7" name="img117"/>
          <p:cNvPicPr>
            <a:picLocks noChangeAspect="1"/>
          </p:cNvPicPr>
          <p:nvPr/>
        </p:nvPicPr>
        <p:blipFill>
          <a:blip r:embed="rId5"/>
          <a:stretch>
            <a:fillRect/>
          </a:stretch>
        </p:blipFill>
        <p:spPr>
          <a:xfrm>
            <a:off x="4626254" y="4636008"/>
            <a:ext cx="237744" cy="237744"/>
          </a:xfrm>
          <a:prstGeom prst="rect">
            <a:avLst/>
          </a:prstGeom>
        </p:spPr>
      </p:pic>
      <p:sp>
        <p:nvSpPr>
          <p:cNvPr id="118" name="s118"/>
          <p:cNvSpPr txBox="1"/>
          <p:nvPr/>
        </p:nvSpPr>
        <p:spPr>
          <a:xfrm>
            <a:off x="5092598" y="4498848"/>
            <a:ext cx="2629205"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BBF24"/>
                </a:solidFill>
                <a:latin typeface="Segoe UI"/>
                <a:ea typeface="Segoe UI"/>
                <a:cs typeface="Segoe UI"/>
              </a:rPr>
              <a:t>One unit</a:t>
            </a:r>
            <a:endParaRPr lang="en-US" sz="1400" dirty="0"/>
          </a:p>
        </p:txBody>
      </p:sp>
      <p:sp>
        <p:nvSpPr>
          <p:cNvPr id="119" name="s119"/>
          <p:cNvSpPr txBox="1"/>
          <p:nvPr/>
        </p:nvSpPr>
        <p:spPr>
          <a:xfrm>
            <a:off x="4543958" y="5074920"/>
            <a:ext cx="3132125" cy="5029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0" dirty="0">
                <a:solidFill>
                  <a:srgbClr val="E2E8F0"/>
                </a:solidFill>
                <a:latin typeface="Segoe UI"/>
                <a:ea typeface="Segoe UI"/>
                <a:cs typeface="Segoe UI"/>
              </a:rPr>
              <a:t>One method or class, one behavior per test.</a:t>
            </a:r>
            <a:endParaRPr lang="en-US" sz="1200" dirty="0"/>
          </a:p>
        </p:txBody>
      </p:sp>
      <p:sp>
        <p:nvSpPr>
          <p:cNvPr id="120" name="s120"/>
          <p:cNvSpPr/>
          <p:nvPr/>
        </p:nvSpPr>
        <p:spPr>
          <a:xfrm>
            <a:off x="8087563" y="4343400"/>
            <a:ext cx="3543605" cy="1280160"/>
          </a:xfrm>
          <a:prstGeom prst="roundRect">
            <a:avLst>
              <a:gd name="adj" fmla="val 10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21" name="s121"/>
          <p:cNvSpPr/>
          <p:nvPr/>
        </p:nvSpPr>
        <p:spPr>
          <a:xfrm>
            <a:off x="8288731" y="452628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2" name="img122"/>
          <p:cNvPicPr>
            <a:picLocks noChangeAspect="1"/>
          </p:cNvPicPr>
          <p:nvPr/>
        </p:nvPicPr>
        <p:blipFill>
          <a:blip r:embed="rId6"/>
          <a:stretch>
            <a:fillRect/>
          </a:stretch>
        </p:blipFill>
        <p:spPr>
          <a:xfrm>
            <a:off x="8398459" y="4636008"/>
            <a:ext cx="237744" cy="237744"/>
          </a:xfrm>
          <a:prstGeom prst="rect">
            <a:avLst/>
          </a:prstGeom>
        </p:spPr>
      </p:pic>
      <p:sp>
        <p:nvSpPr>
          <p:cNvPr id="123" name="s123"/>
          <p:cNvSpPr txBox="1"/>
          <p:nvPr/>
        </p:nvSpPr>
        <p:spPr>
          <a:xfrm>
            <a:off x="8864803" y="4498848"/>
            <a:ext cx="2629205"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34D399"/>
                </a:solidFill>
                <a:latin typeface="Segoe UI"/>
                <a:ea typeface="Segoe UI"/>
                <a:cs typeface="Segoe UI"/>
              </a:rPr>
              <a:t>Automatic</a:t>
            </a:r>
            <a:endParaRPr lang="en-US" sz="1400" dirty="0"/>
          </a:p>
        </p:txBody>
      </p:sp>
      <p:sp>
        <p:nvSpPr>
          <p:cNvPr id="124" name="s124"/>
          <p:cNvSpPr txBox="1"/>
          <p:nvPr/>
        </p:nvSpPr>
        <p:spPr>
          <a:xfrm>
            <a:off x="8316163" y="5074920"/>
            <a:ext cx="3132125" cy="5029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0" dirty="0">
                <a:solidFill>
                  <a:srgbClr val="E2E8F0"/>
                </a:solidFill>
                <a:latin typeface="Segoe UI"/>
                <a:ea typeface="Segoe UI"/>
                <a:cs typeface="Segoe UI"/>
              </a:rPr>
              <a:t>Runs on every save, every PR, by everyone.</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22" presetClass="entr" presetSubtype="8" fill="hold" nodeType="withEffect">
                                  <p:stCondLst>
                                    <p:cond delay="200"/>
                                  </p:stCondLst>
                                  <p:childTnLst>
                                    <p:set>
                                      <p:cBhvr>
                                        <p:cTn id="10" dur="1" fill="hold">
                                          <p:stCondLst>
                                            <p:cond delay="0"/>
                                          </p:stCondLst>
                                        </p:cTn>
                                        <p:tgtEl>
                                          <p:spTgt spid="102"/>
                                        </p:tgtEl>
                                        <p:attrNameLst>
                                          <p:attrName>style.visibility</p:attrName>
                                        </p:attrNameLst>
                                      </p:cBhvr>
                                      <p:to>
                                        <p:strVal val="visible"/>
                                      </p:to>
                                    </p:set>
                                    <p:animEffect transition="in" filter="wipe(left)">
                                      <p:cBhvr>
                                        <p:cTn id="11" dur="500"/>
                                        <p:tgtEl>
                                          <p:spTgt spid="102"/>
                                        </p:tgtEl>
                                      </p:cBhvr>
                                    </p:animEffect>
                                  </p:childTnLst>
                                </p:cTn>
                              </p:par>
                              <p:par>
                                <p:cTn id="12" presetID="53" presetClass="entr" presetSubtype="16" fill="hold" grpId="0" nodeType="withEffect">
                                  <p:stCondLst>
                                    <p:cond delay="400"/>
                                  </p:stCondLst>
                                  <p:childTnLst>
                                    <p:set>
                                      <p:cBhvr>
                                        <p:cTn id="13" dur="1" fill="hold">
                                          <p:stCondLst>
                                            <p:cond delay="0"/>
                                          </p:stCondLst>
                                        </p:cTn>
                                        <p:tgtEl>
                                          <p:spTgt spid="103"/>
                                        </p:tgtEl>
                                        <p:attrNameLst>
                                          <p:attrName>style.visibility</p:attrName>
                                        </p:attrNameLst>
                                      </p:cBhvr>
                                      <p:to>
                                        <p:strVal val="visible"/>
                                      </p:to>
                                    </p:set>
                                    <p:anim calcmode="lin" valueType="num">
                                      <p:cBhvr additive="base">
                                        <p:cTn id="14"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5" dur="500" decel="100000" fill="hold"/>
                                        <p:tgtEl>
                                          <p:spTgt spid="103"/>
                                        </p:tgtEl>
                                        <p:attrNameLst>
                                          <p:attrName>ppt_h</p:attrName>
                                        </p:attrNameLst>
                                      </p:cBhvr>
                                      <p:tavLst>
                                        <p:tav tm="0">
                                          <p:val>
                                            <p:strVal val="#ppt_h*0.55"/>
                                          </p:val>
                                        </p:tav>
                                        <p:tav tm="100000">
                                          <p:val>
                                            <p:strVal val="#ppt_h"/>
                                          </p:val>
                                        </p:tav>
                                      </p:tavLst>
                                    </p:anim>
                                    <p:animEffect transition="in" filter="fade">
                                      <p:cBhvr>
                                        <p:cTn id="16" dur="500"/>
                                        <p:tgtEl>
                                          <p:spTgt spid="103"/>
                                        </p:tgtEl>
                                      </p:cBhvr>
                                    </p:animEffect>
                                  </p:childTnLst>
                                </p:cTn>
                              </p:par>
                              <p:par>
                                <p:cTn id="17" presetID="22" presetClass="entr" presetSubtype="8" fill="hold" nodeType="withEffect">
                                  <p:stCondLst>
                                    <p:cond delay="600"/>
                                  </p:stCondLst>
                                  <p:childTnLst>
                                    <p:set>
                                      <p:cBhvr>
                                        <p:cTn id="18" dur="1" fill="hold">
                                          <p:stCondLst>
                                            <p:cond delay="0"/>
                                          </p:stCondLst>
                                        </p:cTn>
                                        <p:tgtEl>
                                          <p:spTgt spid="104"/>
                                        </p:tgtEl>
                                        <p:attrNameLst>
                                          <p:attrName>style.visibility</p:attrName>
                                        </p:attrNameLst>
                                      </p:cBhvr>
                                      <p:to>
                                        <p:strVal val="visible"/>
                                      </p:to>
                                    </p:set>
                                    <p:animEffect transition="in" filter="wipe(left)">
                                      <p:cBhvr>
                                        <p:cTn id="19" dur="500"/>
                                        <p:tgtEl>
                                          <p:spTgt spid="104"/>
                                        </p:tgtEl>
                                      </p:cBhvr>
                                    </p:animEffect>
                                  </p:childTnLst>
                                </p:cTn>
                              </p:par>
                              <p:par>
                                <p:cTn id="20" presetID="42" presetClass="entr" presetSubtype="0" fill="hold" grpId="0" nodeType="withEffect">
                                  <p:stCondLst>
                                    <p:cond delay="800"/>
                                  </p:stCondLst>
                                  <p:childTnLst>
                                    <p:set>
                                      <p:cBhvr>
                                        <p:cTn id="21" dur="1" fill="hold">
                                          <p:stCondLst>
                                            <p:cond delay="0"/>
                                          </p:stCondLst>
                                        </p:cTn>
                                        <p:tgtEl>
                                          <p:spTgt spid="105"/>
                                        </p:tgtEl>
                                        <p:attrNameLst>
                                          <p:attrName>style.visibility</p:attrName>
                                        </p:attrNameLst>
                                      </p:cBhvr>
                                      <p:to>
                                        <p:strVal val="visible"/>
                                      </p:to>
                                    </p:set>
                                    <p:animEffect transition="in" filter="fade">
                                      <p:cBhvr>
                                        <p:cTn id="22" dur="500"/>
                                        <p:tgtEl>
                                          <p:spTgt spid="105"/>
                                        </p:tgtEl>
                                      </p:cBhvr>
                                    </p:animEffect>
                                    <p:anim calcmode="lin" valueType="num">
                                      <p:cBhvr additive="base">
                                        <p:cTn id="23" dur="500" decel="100000" fill="hold"/>
                                        <p:tgtEl>
                                          <p:spTgt spid="105"/>
                                        </p:tgtEl>
                                        <p:attrNameLst>
                                          <p:attrName>ppt_y</p:attrName>
                                        </p:attrNameLst>
                                      </p:cBhvr>
                                      <p:tavLst>
                                        <p:tav tm="0">
                                          <p:val>
                                            <p:strVal val="#ppt_y+0.06"/>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106"/>
                                        </p:tgtEl>
                                        <p:attrNameLst>
                                          <p:attrName>style.visibility</p:attrName>
                                        </p:attrNameLst>
                                      </p:cBhvr>
                                      <p:to>
                                        <p:strVal val="visible"/>
                                      </p:to>
                                    </p:set>
                                    <p:anim calcmode="lin" valueType="num">
                                      <p:cBhvr additive="base">
                                        <p:cTn id="28"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29" dur="500" decel="100000" fill="hold"/>
                                        <p:tgtEl>
                                          <p:spTgt spid="106"/>
                                        </p:tgtEl>
                                        <p:attrNameLst>
                                          <p:attrName>ppt_h</p:attrName>
                                        </p:attrNameLst>
                                      </p:cBhvr>
                                      <p:tavLst>
                                        <p:tav tm="0">
                                          <p:val>
                                            <p:strVal val="#ppt_h*0.3"/>
                                          </p:val>
                                        </p:tav>
                                        <p:tav tm="100000">
                                          <p:val>
                                            <p:strVal val="#ppt_h*1.08"/>
                                          </p:val>
                                        </p:tav>
                                      </p:tavLst>
                                    </p:anim>
                                    <p:animEffect transition="in" filter="fade">
                                      <p:cBhvr>
                                        <p:cTn id="30" dur="250"/>
                                        <p:tgtEl>
                                          <p:spTgt spid="106"/>
                                        </p:tgtEl>
                                      </p:cBhvr>
                                    </p:animEffect>
                                    <p:anim calcmode="lin" valueType="num">
                                      <p:cBhvr additive="base">
                                        <p:cTn id="31"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32"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par>
                                <p:cTn id="33" presetID="42" presetClass="entr" presetSubtype="0" fill="hold" grpId="0" nodeType="withEffect">
                                  <p:stCondLst>
                                    <p:cond delay="200"/>
                                  </p:stCondLst>
                                  <p:childTnLst>
                                    <p:set>
                                      <p:cBhvr>
                                        <p:cTn id="34" dur="1" fill="hold">
                                          <p:stCondLst>
                                            <p:cond delay="0"/>
                                          </p:stCondLst>
                                        </p:cTn>
                                        <p:tgtEl>
                                          <p:spTgt spid="107"/>
                                        </p:tgtEl>
                                        <p:attrNameLst>
                                          <p:attrName>style.visibility</p:attrName>
                                        </p:attrNameLst>
                                      </p:cBhvr>
                                      <p:to>
                                        <p:strVal val="visible"/>
                                      </p:to>
                                    </p:set>
                                    <p:animEffect transition="in" filter="fade">
                                      <p:cBhvr>
                                        <p:cTn id="35" dur="500"/>
                                        <p:tgtEl>
                                          <p:spTgt spid="107"/>
                                        </p:tgtEl>
                                      </p:cBhvr>
                                    </p:animEffect>
                                    <p:anim calcmode="lin" valueType="num">
                                      <p:cBhvr additive="base">
                                        <p:cTn id="36" dur="500" decel="100000" fill="hold"/>
                                        <p:tgtEl>
                                          <p:spTgt spid="107"/>
                                        </p:tgtEl>
                                        <p:attrNameLst>
                                          <p:attrName>ppt_y</p:attrName>
                                        </p:attrNameLst>
                                      </p:cBhvr>
                                      <p:tavLst>
                                        <p:tav tm="0">
                                          <p:val>
                                            <p:strVal val="#ppt_y+0.06"/>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53" presetClass="entr" presetSubtype="16" fill="hold" grpId="0" nodeType="clickEffect">
                                  <p:stCondLst>
                                    <p:cond delay="0"/>
                                  </p:stCondLst>
                                  <p:childTnLst>
                                    <p:set>
                                      <p:cBhvr>
                                        <p:cTn id="40" dur="1" fill="hold">
                                          <p:stCondLst>
                                            <p:cond delay="0"/>
                                          </p:stCondLst>
                                        </p:cTn>
                                        <p:tgtEl>
                                          <p:spTgt spid="108"/>
                                        </p:tgtEl>
                                        <p:attrNameLst>
                                          <p:attrName>style.visibility</p:attrName>
                                        </p:attrNameLst>
                                      </p:cBhvr>
                                      <p:to>
                                        <p:strVal val="visible"/>
                                      </p:to>
                                    </p:set>
                                    <p:anim calcmode="lin" valueType="num">
                                      <p:cBhvr additive="base">
                                        <p:cTn id="41" dur="50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42" dur="500" decel="100000" fill="hold"/>
                                        <p:tgtEl>
                                          <p:spTgt spid="108"/>
                                        </p:tgtEl>
                                        <p:attrNameLst>
                                          <p:attrName>ppt_h</p:attrName>
                                        </p:attrNameLst>
                                      </p:cBhvr>
                                      <p:tavLst>
                                        <p:tav tm="0">
                                          <p:val>
                                            <p:strVal val="#ppt_h*0.3"/>
                                          </p:val>
                                        </p:tav>
                                        <p:tav tm="100000">
                                          <p:val>
                                            <p:strVal val="#ppt_h*1.08"/>
                                          </p:val>
                                        </p:tav>
                                      </p:tavLst>
                                    </p:anim>
                                    <p:animEffect transition="in" filter="fade">
                                      <p:cBhvr>
                                        <p:cTn id="43" dur="250"/>
                                        <p:tgtEl>
                                          <p:spTgt spid="108"/>
                                        </p:tgtEl>
                                      </p:cBhvr>
                                    </p:animEffect>
                                    <p:anim calcmode="lin" valueType="num">
                                      <p:cBhvr additive="base">
                                        <p:cTn id="44" dur="160" fill="hold">
                                          <p:stCondLst>
                                            <p:cond delay="500"/>
                                          </p:stCondLst>
                                        </p:cTn>
                                        <p:tgtEl>
                                          <p:spTgt spid="108"/>
                                        </p:tgtEl>
                                        <p:attrNameLst>
                                          <p:attrName>ppt_w</p:attrName>
                                        </p:attrNameLst>
                                      </p:cBhvr>
                                      <p:tavLst>
                                        <p:tav tm="0">
                                          <p:val>
                                            <p:strVal val="#ppt_w*1.08"/>
                                          </p:val>
                                        </p:tav>
                                        <p:tav tm="100000">
                                          <p:val>
                                            <p:strVal val="#ppt_w"/>
                                          </p:val>
                                        </p:tav>
                                      </p:tavLst>
                                    </p:anim>
                                    <p:anim calcmode="lin" valueType="num">
                                      <p:cBhvr additive="base">
                                        <p:cTn id="45" dur="160" fill="hold">
                                          <p:stCondLst>
                                            <p:cond delay="500"/>
                                          </p:stCondLst>
                                        </p:cTn>
                                        <p:tgtEl>
                                          <p:spTgt spid="108"/>
                                        </p:tgtEl>
                                        <p:attrNameLst>
                                          <p:attrName>ppt_h</p:attrName>
                                        </p:attrNameLst>
                                      </p:cBhvr>
                                      <p:tavLst>
                                        <p:tav tm="0">
                                          <p:val>
                                            <p:strVal val="#ppt_h*1.08"/>
                                          </p:val>
                                        </p:tav>
                                        <p:tav tm="100000">
                                          <p:val>
                                            <p:strVal val="#ppt_h"/>
                                          </p:val>
                                        </p:tav>
                                      </p:tavLst>
                                    </p:anim>
                                  </p:childTnLst>
                                </p:cTn>
                              </p:par>
                              <p:par>
                                <p:cTn id="46" presetID="53" presetClass="entr" presetSubtype="16" fill="hold" grpId="0" nodeType="withEffect">
                                  <p:stCondLst>
                                    <p:cond delay="250"/>
                                  </p:stCondLst>
                                  <p:childTnLst>
                                    <p:set>
                                      <p:cBhvr>
                                        <p:cTn id="47" dur="1" fill="hold">
                                          <p:stCondLst>
                                            <p:cond delay="0"/>
                                          </p:stCondLst>
                                        </p:cTn>
                                        <p:tgtEl>
                                          <p:spTgt spid="109"/>
                                        </p:tgtEl>
                                        <p:attrNameLst>
                                          <p:attrName>style.visibility</p:attrName>
                                        </p:attrNameLst>
                                      </p:cBhvr>
                                      <p:to>
                                        <p:strVal val="visible"/>
                                      </p:to>
                                    </p:set>
                                    <p:anim calcmode="lin" valueType="num">
                                      <p:cBhvr additive="base">
                                        <p:cTn id="48" dur="50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49" dur="500" decel="100000" fill="hold"/>
                                        <p:tgtEl>
                                          <p:spTgt spid="109"/>
                                        </p:tgtEl>
                                        <p:attrNameLst>
                                          <p:attrName>ppt_h</p:attrName>
                                        </p:attrNameLst>
                                      </p:cBhvr>
                                      <p:tavLst>
                                        <p:tav tm="0">
                                          <p:val>
                                            <p:strVal val="#ppt_h*0.3"/>
                                          </p:val>
                                        </p:tav>
                                        <p:tav tm="100000">
                                          <p:val>
                                            <p:strVal val="#ppt_h*1.08"/>
                                          </p:val>
                                        </p:tav>
                                      </p:tavLst>
                                    </p:anim>
                                    <p:animEffect transition="in" filter="fade">
                                      <p:cBhvr>
                                        <p:cTn id="50" dur="250"/>
                                        <p:tgtEl>
                                          <p:spTgt spid="109"/>
                                        </p:tgtEl>
                                      </p:cBhvr>
                                    </p:animEffect>
                                    <p:anim calcmode="lin" valueType="num">
                                      <p:cBhvr additive="base">
                                        <p:cTn id="51" dur="160" fill="hold">
                                          <p:stCondLst>
                                            <p:cond delay="500"/>
                                          </p:stCondLst>
                                        </p:cTn>
                                        <p:tgtEl>
                                          <p:spTgt spid="109"/>
                                        </p:tgtEl>
                                        <p:attrNameLst>
                                          <p:attrName>ppt_w</p:attrName>
                                        </p:attrNameLst>
                                      </p:cBhvr>
                                      <p:tavLst>
                                        <p:tav tm="0">
                                          <p:val>
                                            <p:strVal val="#ppt_w*1.08"/>
                                          </p:val>
                                        </p:tav>
                                        <p:tav tm="100000">
                                          <p:val>
                                            <p:strVal val="#ppt_w"/>
                                          </p:val>
                                        </p:tav>
                                      </p:tavLst>
                                    </p:anim>
                                    <p:anim calcmode="lin" valueType="num">
                                      <p:cBhvr additive="base">
                                        <p:cTn id="52" dur="160" fill="hold">
                                          <p:stCondLst>
                                            <p:cond delay="500"/>
                                          </p:stCondLst>
                                        </p:cTn>
                                        <p:tgtEl>
                                          <p:spTgt spid="109"/>
                                        </p:tgtEl>
                                        <p:attrNameLst>
                                          <p:attrName>ppt_h</p:attrName>
                                        </p:attrNameLst>
                                      </p:cBhvr>
                                      <p:tavLst>
                                        <p:tav tm="0">
                                          <p:val>
                                            <p:strVal val="#ppt_h*1.08"/>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42" presetClass="entr" presetSubtype="0" fill="hold" grpId="0" nodeType="clickEffect">
                                  <p:stCondLst>
                                    <p:cond delay="0"/>
                                  </p:stCondLst>
                                  <p:childTnLst>
                                    <p:set>
                                      <p:cBhvr>
                                        <p:cTn id="56" dur="1" fill="hold">
                                          <p:stCondLst>
                                            <p:cond delay="0"/>
                                          </p:stCondLst>
                                        </p:cTn>
                                        <p:tgtEl>
                                          <p:spTgt spid="110"/>
                                        </p:tgtEl>
                                        <p:attrNameLst>
                                          <p:attrName>style.visibility</p:attrName>
                                        </p:attrNameLst>
                                      </p:cBhvr>
                                      <p:to>
                                        <p:strVal val="visible"/>
                                      </p:to>
                                    </p:set>
                                    <p:animEffect transition="in" filter="fade">
                                      <p:cBhvr>
                                        <p:cTn id="57" dur="500"/>
                                        <p:tgtEl>
                                          <p:spTgt spid="110"/>
                                        </p:tgtEl>
                                      </p:cBhvr>
                                    </p:animEffect>
                                    <p:anim calcmode="lin" valueType="num">
                                      <p:cBhvr additive="base">
                                        <p:cTn id="58" dur="500" decel="100000" fill="hold"/>
                                        <p:tgtEl>
                                          <p:spTgt spid="110"/>
                                        </p:tgtEl>
                                        <p:attrNameLst>
                                          <p:attrName>ppt_y</p:attrName>
                                        </p:attrNameLst>
                                      </p:cBhvr>
                                      <p:tavLst>
                                        <p:tav tm="0">
                                          <p:val>
                                            <p:strVal val="#ppt_y+0.06"/>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11"/>
                                        </p:tgtEl>
                                        <p:attrNameLst>
                                          <p:attrName>style.visibility</p:attrName>
                                        </p:attrNameLst>
                                      </p:cBhvr>
                                      <p:to>
                                        <p:strVal val="visible"/>
                                      </p:to>
                                    </p:set>
                                    <p:animEffect transition="in" filter="fade">
                                      <p:cBhvr>
                                        <p:cTn id="61" dur="500"/>
                                        <p:tgtEl>
                                          <p:spTgt spid="111"/>
                                        </p:tgtEl>
                                      </p:cBhvr>
                                    </p:animEffect>
                                    <p:anim calcmode="lin" valueType="num">
                                      <p:cBhvr additive="base">
                                        <p:cTn id="62" dur="500" decel="100000" fill="hold"/>
                                        <p:tgtEl>
                                          <p:spTgt spid="111"/>
                                        </p:tgtEl>
                                        <p:attrNameLst>
                                          <p:attrName>ppt_y</p:attrName>
                                        </p:attrNameLst>
                                      </p:cBhvr>
                                      <p:tavLst>
                                        <p:tav tm="0">
                                          <p:val>
                                            <p:strVal val="#ppt_y+0.06"/>
                                          </p:val>
                                        </p:tav>
                                        <p:tav tm="100000">
                                          <p:val>
                                            <p:strVal val="#ppt_y"/>
                                          </p:val>
                                        </p:tav>
                                      </p:tavLst>
                                    </p:anim>
                                  </p:childTnLst>
                                </p:cTn>
                              </p:par>
                              <p:par>
                                <p:cTn id="63" presetID="42" presetClass="entr" presetSubtype="0" fill="hold" nodeType="withEffect">
                                  <p:stCondLst>
                                    <p:cond delay="0"/>
                                  </p:stCondLst>
                                  <p:childTnLst>
                                    <p:set>
                                      <p:cBhvr>
                                        <p:cTn id="64" dur="1" fill="hold">
                                          <p:stCondLst>
                                            <p:cond delay="0"/>
                                          </p:stCondLst>
                                        </p:cTn>
                                        <p:tgtEl>
                                          <p:spTgt spid="112"/>
                                        </p:tgtEl>
                                        <p:attrNameLst>
                                          <p:attrName>style.visibility</p:attrName>
                                        </p:attrNameLst>
                                      </p:cBhvr>
                                      <p:to>
                                        <p:strVal val="visible"/>
                                      </p:to>
                                    </p:set>
                                    <p:animEffect transition="in" filter="fade">
                                      <p:cBhvr>
                                        <p:cTn id="65" dur="500"/>
                                        <p:tgtEl>
                                          <p:spTgt spid="112"/>
                                        </p:tgtEl>
                                      </p:cBhvr>
                                    </p:animEffect>
                                    <p:anim calcmode="lin" valueType="num">
                                      <p:cBhvr additive="base">
                                        <p:cTn id="66" dur="500" decel="100000" fill="hold"/>
                                        <p:tgtEl>
                                          <p:spTgt spid="112"/>
                                        </p:tgtEl>
                                        <p:attrNameLst>
                                          <p:attrName>ppt_y</p:attrName>
                                        </p:attrNameLst>
                                      </p:cBhvr>
                                      <p:tavLst>
                                        <p:tav tm="0">
                                          <p:val>
                                            <p:strVal val="#ppt_y+0.06"/>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113"/>
                                        </p:tgtEl>
                                        <p:attrNameLst>
                                          <p:attrName>style.visibility</p:attrName>
                                        </p:attrNameLst>
                                      </p:cBhvr>
                                      <p:to>
                                        <p:strVal val="visible"/>
                                      </p:to>
                                    </p:set>
                                    <p:animEffect transition="in" filter="fade">
                                      <p:cBhvr>
                                        <p:cTn id="69" dur="500"/>
                                        <p:tgtEl>
                                          <p:spTgt spid="113"/>
                                        </p:tgtEl>
                                      </p:cBhvr>
                                    </p:animEffect>
                                    <p:anim calcmode="lin" valueType="num">
                                      <p:cBhvr additive="base">
                                        <p:cTn id="70" dur="500" decel="100000" fill="hold"/>
                                        <p:tgtEl>
                                          <p:spTgt spid="113"/>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114"/>
                                        </p:tgtEl>
                                        <p:attrNameLst>
                                          <p:attrName>style.visibility</p:attrName>
                                        </p:attrNameLst>
                                      </p:cBhvr>
                                      <p:to>
                                        <p:strVal val="visible"/>
                                      </p:to>
                                    </p:set>
                                    <p:animEffect transition="in" filter="fade">
                                      <p:cBhvr>
                                        <p:cTn id="73" dur="500"/>
                                        <p:tgtEl>
                                          <p:spTgt spid="114"/>
                                        </p:tgtEl>
                                      </p:cBhvr>
                                    </p:animEffect>
                                    <p:anim calcmode="lin" valueType="num">
                                      <p:cBhvr additive="base">
                                        <p:cTn id="74" dur="500" decel="100000" fill="hold"/>
                                        <p:tgtEl>
                                          <p:spTgt spid="114"/>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150"/>
                                  </p:stCondLst>
                                  <p:childTnLst>
                                    <p:set>
                                      <p:cBhvr>
                                        <p:cTn id="76" dur="1" fill="hold">
                                          <p:stCondLst>
                                            <p:cond delay="0"/>
                                          </p:stCondLst>
                                        </p:cTn>
                                        <p:tgtEl>
                                          <p:spTgt spid="115"/>
                                        </p:tgtEl>
                                        <p:attrNameLst>
                                          <p:attrName>style.visibility</p:attrName>
                                        </p:attrNameLst>
                                      </p:cBhvr>
                                      <p:to>
                                        <p:strVal val="visible"/>
                                      </p:to>
                                    </p:set>
                                    <p:animEffect transition="in" filter="fade">
                                      <p:cBhvr>
                                        <p:cTn id="77" dur="500"/>
                                        <p:tgtEl>
                                          <p:spTgt spid="115"/>
                                        </p:tgtEl>
                                      </p:cBhvr>
                                    </p:animEffect>
                                    <p:anim calcmode="lin" valueType="num">
                                      <p:cBhvr additive="base">
                                        <p:cTn id="78" dur="500" decel="100000" fill="hold"/>
                                        <p:tgtEl>
                                          <p:spTgt spid="115"/>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150"/>
                                  </p:stCondLst>
                                  <p:childTnLst>
                                    <p:set>
                                      <p:cBhvr>
                                        <p:cTn id="80" dur="1" fill="hold">
                                          <p:stCondLst>
                                            <p:cond delay="0"/>
                                          </p:stCondLst>
                                        </p:cTn>
                                        <p:tgtEl>
                                          <p:spTgt spid="116"/>
                                        </p:tgtEl>
                                        <p:attrNameLst>
                                          <p:attrName>style.visibility</p:attrName>
                                        </p:attrNameLst>
                                      </p:cBhvr>
                                      <p:to>
                                        <p:strVal val="visible"/>
                                      </p:to>
                                    </p:set>
                                    <p:animEffect transition="in" filter="fade">
                                      <p:cBhvr>
                                        <p:cTn id="81" dur="500"/>
                                        <p:tgtEl>
                                          <p:spTgt spid="116"/>
                                        </p:tgtEl>
                                      </p:cBhvr>
                                    </p:animEffect>
                                    <p:anim calcmode="lin" valueType="num">
                                      <p:cBhvr additive="base">
                                        <p:cTn id="82" dur="500" decel="100000" fill="hold"/>
                                        <p:tgtEl>
                                          <p:spTgt spid="116"/>
                                        </p:tgtEl>
                                        <p:attrNameLst>
                                          <p:attrName>ppt_y</p:attrName>
                                        </p:attrNameLst>
                                      </p:cBhvr>
                                      <p:tavLst>
                                        <p:tav tm="0">
                                          <p:val>
                                            <p:strVal val="#ppt_y+0.06"/>
                                          </p:val>
                                        </p:tav>
                                        <p:tav tm="100000">
                                          <p:val>
                                            <p:strVal val="#ppt_y"/>
                                          </p:val>
                                        </p:tav>
                                      </p:tavLst>
                                    </p:anim>
                                  </p:childTnLst>
                                </p:cTn>
                              </p:par>
                              <p:par>
                                <p:cTn id="83" presetID="42" presetClass="entr" presetSubtype="0" fill="hold" nodeType="withEffect">
                                  <p:stCondLst>
                                    <p:cond delay="150"/>
                                  </p:stCondLst>
                                  <p:childTnLst>
                                    <p:set>
                                      <p:cBhvr>
                                        <p:cTn id="84" dur="1" fill="hold">
                                          <p:stCondLst>
                                            <p:cond delay="0"/>
                                          </p:stCondLst>
                                        </p:cTn>
                                        <p:tgtEl>
                                          <p:spTgt spid="117"/>
                                        </p:tgtEl>
                                        <p:attrNameLst>
                                          <p:attrName>style.visibility</p:attrName>
                                        </p:attrNameLst>
                                      </p:cBhvr>
                                      <p:to>
                                        <p:strVal val="visible"/>
                                      </p:to>
                                    </p:set>
                                    <p:animEffect transition="in" filter="fade">
                                      <p:cBhvr>
                                        <p:cTn id="85" dur="500"/>
                                        <p:tgtEl>
                                          <p:spTgt spid="117"/>
                                        </p:tgtEl>
                                      </p:cBhvr>
                                    </p:animEffect>
                                    <p:anim calcmode="lin" valueType="num">
                                      <p:cBhvr additive="base">
                                        <p:cTn id="86" dur="500" decel="100000" fill="hold"/>
                                        <p:tgtEl>
                                          <p:spTgt spid="117"/>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150"/>
                                  </p:stCondLst>
                                  <p:childTnLst>
                                    <p:set>
                                      <p:cBhvr>
                                        <p:cTn id="88" dur="1" fill="hold">
                                          <p:stCondLst>
                                            <p:cond delay="0"/>
                                          </p:stCondLst>
                                        </p:cTn>
                                        <p:tgtEl>
                                          <p:spTgt spid="118"/>
                                        </p:tgtEl>
                                        <p:attrNameLst>
                                          <p:attrName>style.visibility</p:attrName>
                                        </p:attrNameLst>
                                      </p:cBhvr>
                                      <p:to>
                                        <p:strVal val="visible"/>
                                      </p:to>
                                    </p:set>
                                    <p:animEffect transition="in" filter="fade">
                                      <p:cBhvr>
                                        <p:cTn id="89" dur="500"/>
                                        <p:tgtEl>
                                          <p:spTgt spid="118"/>
                                        </p:tgtEl>
                                      </p:cBhvr>
                                    </p:animEffect>
                                    <p:anim calcmode="lin" valueType="num">
                                      <p:cBhvr additive="base">
                                        <p:cTn id="90" dur="500" decel="100000" fill="hold"/>
                                        <p:tgtEl>
                                          <p:spTgt spid="118"/>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150"/>
                                  </p:stCondLst>
                                  <p:childTnLst>
                                    <p:set>
                                      <p:cBhvr>
                                        <p:cTn id="92" dur="1" fill="hold">
                                          <p:stCondLst>
                                            <p:cond delay="0"/>
                                          </p:stCondLst>
                                        </p:cTn>
                                        <p:tgtEl>
                                          <p:spTgt spid="119"/>
                                        </p:tgtEl>
                                        <p:attrNameLst>
                                          <p:attrName>style.visibility</p:attrName>
                                        </p:attrNameLst>
                                      </p:cBhvr>
                                      <p:to>
                                        <p:strVal val="visible"/>
                                      </p:to>
                                    </p:set>
                                    <p:animEffect transition="in" filter="fade">
                                      <p:cBhvr>
                                        <p:cTn id="93" dur="500"/>
                                        <p:tgtEl>
                                          <p:spTgt spid="119"/>
                                        </p:tgtEl>
                                      </p:cBhvr>
                                    </p:animEffect>
                                    <p:anim calcmode="lin" valueType="num">
                                      <p:cBhvr additive="base">
                                        <p:cTn id="94" dur="500" decel="100000" fill="hold"/>
                                        <p:tgtEl>
                                          <p:spTgt spid="119"/>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300"/>
                                  </p:stCondLst>
                                  <p:childTnLst>
                                    <p:set>
                                      <p:cBhvr>
                                        <p:cTn id="96" dur="1" fill="hold">
                                          <p:stCondLst>
                                            <p:cond delay="0"/>
                                          </p:stCondLst>
                                        </p:cTn>
                                        <p:tgtEl>
                                          <p:spTgt spid="120"/>
                                        </p:tgtEl>
                                        <p:attrNameLst>
                                          <p:attrName>style.visibility</p:attrName>
                                        </p:attrNameLst>
                                      </p:cBhvr>
                                      <p:to>
                                        <p:strVal val="visible"/>
                                      </p:to>
                                    </p:set>
                                    <p:animEffect transition="in" filter="fade">
                                      <p:cBhvr>
                                        <p:cTn id="97" dur="500"/>
                                        <p:tgtEl>
                                          <p:spTgt spid="120"/>
                                        </p:tgtEl>
                                      </p:cBhvr>
                                    </p:animEffect>
                                    <p:anim calcmode="lin" valueType="num">
                                      <p:cBhvr additive="base">
                                        <p:cTn id="98" dur="500" decel="100000" fill="hold"/>
                                        <p:tgtEl>
                                          <p:spTgt spid="120"/>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300"/>
                                  </p:stCondLst>
                                  <p:childTnLst>
                                    <p:set>
                                      <p:cBhvr>
                                        <p:cTn id="100" dur="1" fill="hold">
                                          <p:stCondLst>
                                            <p:cond delay="0"/>
                                          </p:stCondLst>
                                        </p:cTn>
                                        <p:tgtEl>
                                          <p:spTgt spid="121"/>
                                        </p:tgtEl>
                                        <p:attrNameLst>
                                          <p:attrName>style.visibility</p:attrName>
                                        </p:attrNameLst>
                                      </p:cBhvr>
                                      <p:to>
                                        <p:strVal val="visible"/>
                                      </p:to>
                                    </p:set>
                                    <p:animEffect transition="in" filter="fade">
                                      <p:cBhvr>
                                        <p:cTn id="101" dur="500"/>
                                        <p:tgtEl>
                                          <p:spTgt spid="121"/>
                                        </p:tgtEl>
                                      </p:cBhvr>
                                    </p:animEffect>
                                    <p:anim calcmode="lin" valueType="num">
                                      <p:cBhvr additive="base">
                                        <p:cTn id="102" dur="500" decel="100000" fill="hold"/>
                                        <p:tgtEl>
                                          <p:spTgt spid="121"/>
                                        </p:tgtEl>
                                        <p:attrNameLst>
                                          <p:attrName>ppt_y</p:attrName>
                                        </p:attrNameLst>
                                      </p:cBhvr>
                                      <p:tavLst>
                                        <p:tav tm="0">
                                          <p:val>
                                            <p:strVal val="#ppt_y+0.06"/>
                                          </p:val>
                                        </p:tav>
                                        <p:tav tm="100000">
                                          <p:val>
                                            <p:strVal val="#ppt_y"/>
                                          </p:val>
                                        </p:tav>
                                      </p:tavLst>
                                    </p:anim>
                                  </p:childTnLst>
                                </p:cTn>
                              </p:par>
                              <p:par>
                                <p:cTn id="103" presetID="42" presetClass="entr" presetSubtype="0" fill="hold" nodeType="withEffect">
                                  <p:stCondLst>
                                    <p:cond delay="300"/>
                                  </p:stCondLst>
                                  <p:childTnLst>
                                    <p:set>
                                      <p:cBhvr>
                                        <p:cTn id="104" dur="1" fill="hold">
                                          <p:stCondLst>
                                            <p:cond delay="0"/>
                                          </p:stCondLst>
                                        </p:cTn>
                                        <p:tgtEl>
                                          <p:spTgt spid="122"/>
                                        </p:tgtEl>
                                        <p:attrNameLst>
                                          <p:attrName>style.visibility</p:attrName>
                                        </p:attrNameLst>
                                      </p:cBhvr>
                                      <p:to>
                                        <p:strVal val="visible"/>
                                      </p:to>
                                    </p:set>
                                    <p:animEffect transition="in" filter="fade">
                                      <p:cBhvr>
                                        <p:cTn id="105" dur="500"/>
                                        <p:tgtEl>
                                          <p:spTgt spid="122"/>
                                        </p:tgtEl>
                                      </p:cBhvr>
                                    </p:animEffect>
                                    <p:anim calcmode="lin" valueType="num">
                                      <p:cBhvr additive="base">
                                        <p:cTn id="106" dur="500" decel="100000" fill="hold"/>
                                        <p:tgtEl>
                                          <p:spTgt spid="122"/>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300"/>
                                  </p:stCondLst>
                                  <p:childTnLst>
                                    <p:set>
                                      <p:cBhvr>
                                        <p:cTn id="108" dur="1" fill="hold">
                                          <p:stCondLst>
                                            <p:cond delay="0"/>
                                          </p:stCondLst>
                                        </p:cTn>
                                        <p:tgtEl>
                                          <p:spTgt spid="123"/>
                                        </p:tgtEl>
                                        <p:attrNameLst>
                                          <p:attrName>style.visibility</p:attrName>
                                        </p:attrNameLst>
                                      </p:cBhvr>
                                      <p:to>
                                        <p:strVal val="visible"/>
                                      </p:to>
                                    </p:set>
                                    <p:animEffect transition="in" filter="fade">
                                      <p:cBhvr>
                                        <p:cTn id="109" dur="500"/>
                                        <p:tgtEl>
                                          <p:spTgt spid="123"/>
                                        </p:tgtEl>
                                      </p:cBhvr>
                                    </p:animEffect>
                                    <p:anim calcmode="lin" valueType="num">
                                      <p:cBhvr additive="base">
                                        <p:cTn id="110" dur="500" decel="100000" fill="hold"/>
                                        <p:tgtEl>
                                          <p:spTgt spid="123"/>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300"/>
                                  </p:stCondLst>
                                  <p:childTnLst>
                                    <p:set>
                                      <p:cBhvr>
                                        <p:cTn id="112" dur="1" fill="hold">
                                          <p:stCondLst>
                                            <p:cond delay="0"/>
                                          </p:stCondLst>
                                        </p:cTn>
                                        <p:tgtEl>
                                          <p:spTgt spid="124"/>
                                        </p:tgtEl>
                                        <p:attrNameLst>
                                          <p:attrName>style.visibility</p:attrName>
                                        </p:attrNameLst>
                                      </p:cBhvr>
                                      <p:to>
                                        <p:strVal val="visible"/>
                                      </p:to>
                                    </p:set>
                                    <p:animEffect transition="in" filter="fade">
                                      <p:cBhvr>
                                        <p:cTn id="113" dur="500"/>
                                        <p:tgtEl>
                                          <p:spTgt spid="124"/>
                                        </p:tgtEl>
                                      </p:cBhvr>
                                    </p:animEffect>
                                    <p:anim calcmode="lin" valueType="num">
                                      <p:cBhvr additive="base">
                                        <p:cTn id="114" dur="500" decel="100000" fill="hold"/>
                                        <p:tgtEl>
                                          <p:spTgt spid="124"/>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3" grpId="0" animBg="1"/>
      <p:bldP spid="105" grpId="0" animBg="1"/>
      <p:bldP spid="106" grpId="0" animBg="1"/>
      <p:bldP spid="107" grpId="0" animBg="1"/>
      <p:bldP spid="108" grpId="0" animBg="1"/>
      <p:bldP spid="109" grpId="0" animBg="1"/>
      <p:bldP spid="110" grpId="0" animBg="1"/>
      <p:bldP spid="111" grpId="0" animBg="1"/>
      <p:bldP spid="113" grpId="0" animBg="1"/>
      <p:bldP spid="114" grpId="0" animBg="1"/>
      <p:bldP spid="115" grpId="0" animBg="1"/>
      <p:bldP spid="116" grpId="0" animBg="1"/>
      <p:bldP spid="118" grpId="0" animBg="1"/>
      <p:bldP spid="119" grpId="0" animBg="1"/>
      <p:bldP spid="120" grpId="0" animBg="1"/>
      <p:bldP spid="121" grpId="0" animBg="1"/>
      <p:bldP spid="123" grpId="0" animBg="1"/>
      <p:bldP spid="124"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TEST PYRAMID</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Test Pyramid: Many Small, Few Big</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WHY</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110</a:t>
            </a:r>
            <a:endParaRPr lang="en-US" sz="850" dirty="0"/>
          </a:p>
        </p:txBody>
      </p:sp>
      <p:sp>
        <p:nvSpPr>
          <p:cNvPr id="101" name="s101"/>
          <p:cNvSpPr/>
          <p:nvPr/>
        </p:nvSpPr>
        <p:spPr>
          <a:xfrm>
            <a:off x="726034" y="4160520"/>
            <a:ext cx="6217920" cy="914400"/>
          </a:xfrm>
          <a:prstGeom prst="roundRect">
            <a:avLst>
              <a:gd name="adj" fmla="val 12000"/>
            </a:avLst>
          </a:prstGeom>
          <a:solidFill>
            <a:srgbClr val="13D0F7">
              <a:alpha val="14000"/>
            </a:srgbClr>
          </a:solidFill>
          <a:ln w="19050">
            <a:solidFill>
              <a:srgbClr val="13D0F7"/>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13D0F7"/>
                </a:solidFill>
                <a:latin typeface="Segoe UI"/>
                <a:ea typeface="Segoe UI"/>
                <a:cs typeface="Segoe UI"/>
              </a:rPr>
              <a:t>UNIT</a:t>
            </a:r>
            <a:endParaRPr lang="en-US" sz="1300" dirty="0"/>
          </a:p>
          <a:p>
            <a:pPr marL="0" indent="0" algn="ctr">
              <a:spcBef>
                <a:spcPts val="0"/>
              </a:spcBef>
              <a:spcAft>
                <a:spcPts val="0"/>
              </a:spcAft>
              <a:buNone/>
            </a:pPr>
            <a:r>
              <a:rPr lang="en-US" sz="1100" b="0" dirty="0">
                <a:solidFill>
                  <a:srgbClr val="FFFFFF"/>
                </a:solidFill>
                <a:latin typeface="Segoe UI"/>
                <a:ea typeface="Segoe UI"/>
                <a:cs typeface="Segoe UI"/>
              </a:rPr>
              <a:t>one class, in memory, milliseconds</a:t>
            </a:r>
            <a:endParaRPr lang="en-US" sz="1100" dirty="0"/>
          </a:p>
          <a:p>
            <a:pPr marL="0" indent="0" algn="ctr">
              <a:spcBef>
                <a:spcPts val="0"/>
              </a:spcBef>
              <a:spcAft>
                <a:spcPts val="0"/>
              </a:spcAft>
              <a:buNone/>
            </a:pPr>
            <a:r>
              <a:rPr lang="en-US" sz="1000" b="0" dirty="0">
                <a:solidFill>
                  <a:srgbClr val="94A3B8"/>
                </a:solidFill>
                <a:latin typeface="Consolas"/>
                <a:ea typeface="Consolas"/>
                <a:cs typeface="Consolas"/>
              </a:rPr>
              <a:t>BankAccount · EmailValidator · GradeCalculator</a:t>
            </a:r>
            <a:endParaRPr lang="en-US" sz="1000" dirty="0"/>
          </a:p>
        </p:txBody>
      </p:sp>
      <p:sp>
        <p:nvSpPr>
          <p:cNvPr id="102" name="s102"/>
          <p:cNvSpPr/>
          <p:nvPr/>
        </p:nvSpPr>
        <p:spPr>
          <a:xfrm>
            <a:off x="1594714" y="3108960"/>
            <a:ext cx="4480560" cy="914400"/>
          </a:xfrm>
          <a:prstGeom prst="roundRect">
            <a:avLst>
              <a:gd name="adj" fmla="val 12000"/>
            </a:avLst>
          </a:prstGeom>
          <a:solidFill>
            <a:srgbClr val="FBBF24">
              <a:alpha val="14000"/>
            </a:srgbClr>
          </a:solidFill>
          <a:ln w="19050">
            <a:solidFill>
              <a:srgbClr val="FBBF24"/>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INTEGRATION</a:t>
            </a:r>
            <a:endParaRPr lang="en-US" sz="1300" dirty="0"/>
          </a:p>
          <a:p>
            <a:pPr marL="0" indent="0" algn="ctr">
              <a:spcBef>
                <a:spcPts val="0"/>
              </a:spcBef>
              <a:spcAft>
                <a:spcPts val="0"/>
              </a:spcAft>
              <a:buNone/>
            </a:pPr>
            <a:r>
              <a:rPr lang="en-US" sz="1100" b="0" dirty="0">
                <a:solidFill>
                  <a:srgbClr val="FFFFFF"/>
                </a:solidFill>
                <a:latin typeface="Segoe UI"/>
                <a:ea typeface="Segoe UI"/>
                <a:cs typeface="Segoe UI"/>
              </a:rPr>
              <a:t>real pieces together</a:t>
            </a:r>
            <a:endParaRPr lang="en-US" sz="1100" dirty="0"/>
          </a:p>
          <a:p>
            <a:pPr marL="0" indent="0" algn="ctr">
              <a:spcBef>
                <a:spcPts val="0"/>
              </a:spcBef>
              <a:spcAft>
                <a:spcPts val="0"/>
              </a:spcAft>
              <a:buNone/>
            </a:pPr>
            <a:r>
              <a:rPr lang="en-US" sz="1000" b="0" dirty="0">
                <a:solidFill>
                  <a:srgbClr val="94A3B8"/>
                </a:solidFill>
                <a:latin typeface="Consolas"/>
                <a:ea typeface="Consolas"/>
                <a:cs typeface="Consolas"/>
              </a:rPr>
              <a:t>FileEmployeeRepository + a real file</a:t>
            </a:r>
            <a:endParaRPr lang="en-US" sz="1000" dirty="0"/>
          </a:p>
        </p:txBody>
      </p:sp>
      <p:sp>
        <p:nvSpPr>
          <p:cNvPr id="103" name="s103"/>
          <p:cNvSpPr/>
          <p:nvPr/>
        </p:nvSpPr>
        <p:spPr>
          <a:xfrm>
            <a:off x="2463394" y="2057400"/>
            <a:ext cx="2743200" cy="914400"/>
          </a:xfrm>
          <a:prstGeom prst="roundRect">
            <a:avLst>
              <a:gd name="adj" fmla="val 12000"/>
            </a:avLst>
          </a:prstGeom>
          <a:solidFill>
            <a:srgbClr val="A78BFA">
              <a:alpha val="14000"/>
            </a:srgbClr>
          </a:solidFill>
          <a:ln w="19050">
            <a:solidFill>
              <a:srgbClr val="A78BFA"/>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A78BFA"/>
                </a:solidFill>
                <a:latin typeface="Segoe UI"/>
                <a:ea typeface="Segoe UI"/>
                <a:cs typeface="Segoe UI"/>
              </a:rPr>
              <a:t>END-TO-END</a:t>
            </a:r>
            <a:endParaRPr lang="en-US" sz="1300" dirty="0"/>
          </a:p>
          <a:p>
            <a:pPr marL="0" indent="0" algn="ctr">
              <a:spcBef>
                <a:spcPts val="0"/>
              </a:spcBef>
              <a:spcAft>
                <a:spcPts val="0"/>
              </a:spcAft>
              <a:buNone/>
            </a:pPr>
            <a:r>
              <a:rPr lang="en-US" sz="1100" b="0" dirty="0">
                <a:solidFill>
                  <a:srgbClr val="FFFFFF"/>
                </a:solidFill>
                <a:latin typeface="Segoe UI"/>
                <a:ea typeface="Segoe UI"/>
                <a:cs typeface="Segoe UI"/>
              </a:rPr>
              <a:t>the whole app, like a user</a:t>
            </a:r>
            <a:endParaRPr lang="en-US" sz="1100" dirty="0"/>
          </a:p>
          <a:p>
            <a:pPr marL="0" indent="0" algn="ctr">
              <a:spcBef>
                <a:spcPts val="0"/>
              </a:spcBef>
              <a:spcAft>
                <a:spcPts val="0"/>
              </a:spcAft>
              <a:buNone/>
            </a:pPr>
            <a:r>
              <a:rPr lang="en-US" sz="1000" b="0" dirty="0">
                <a:solidFill>
                  <a:srgbClr val="94A3B8"/>
                </a:solidFill>
                <a:latin typeface="Consolas"/>
                <a:ea typeface="Consolas"/>
                <a:cs typeface="Consolas"/>
              </a:rPr>
              <a:t>drive the app through its UI / API</a:t>
            </a:r>
            <a:endParaRPr lang="en-US" sz="1000" dirty="0"/>
          </a:p>
        </p:txBody>
      </p:sp>
      <p:sp>
        <p:nvSpPr>
          <p:cNvPr id="104" name="s104"/>
          <p:cNvSpPr/>
          <p:nvPr/>
        </p:nvSpPr>
        <p:spPr>
          <a:xfrm>
            <a:off x="7401154" y="2057400"/>
            <a:ext cx="4230014" cy="1143000"/>
          </a:xfrm>
          <a:prstGeom prst="roundRect">
            <a:avLst>
              <a:gd name="adj" fmla="val 10000"/>
            </a:avLst>
          </a:prstGeom>
          <a:solidFill>
            <a:srgbClr val="A78BFA">
              <a:alpha val="8000"/>
            </a:srgbClr>
          </a:solidFill>
          <a:ln w="12700">
            <a:solidFill>
              <a:srgbClr val="A78BFA"/>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A78BFA"/>
                </a:solidFill>
                <a:latin typeface="Segoe UI"/>
                <a:ea typeface="Segoe UI"/>
                <a:cs typeface="Segoe UI"/>
              </a:rPr>
              <a:t>FEW, SLOW</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E2E: a handful of key journeys (log in, order, pay).</a:t>
            </a:r>
            <a:endParaRPr lang="en-US" sz="1250" dirty="0"/>
          </a:p>
        </p:txBody>
      </p:sp>
      <p:sp>
        <p:nvSpPr>
          <p:cNvPr id="105" name="s105"/>
          <p:cNvSpPr/>
          <p:nvPr/>
        </p:nvSpPr>
        <p:spPr>
          <a:xfrm>
            <a:off x="7401154" y="3931920"/>
            <a:ext cx="4230014" cy="1143000"/>
          </a:xfrm>
          <a:prstGeom prst="roundRect">
            <a:avLst>
              <a:gd name="adj" fmla="val 10000"/>
            </a:avLst>
          </a:prstGeom>
          <a:solidFill>
            <a:srgbClr val="13D0F7">
              <a:alpha val="8000"/>
            </a:srgbClr>
          </a:solidFill>
          <a:ln w="12700">
            <a:solidFill>
              <a:srgbClr val="13D0F7"/>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13D0F7"/>
                </a:solidFill>
                <a:latin typeface="Segoe UI"/>
                <a:ea typeface="Segoe UI"/>
                <a:cs typeface="Segoe UI"/>
              </a:rPr>
              <a:t>MANY, FAST</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Unit tests: hundreds, run on every save.</a:t>
            </a:r>
            <a:endParaRPr lang="en-US" sz="1250" dirty="0"/>
          </a:p>
        </p:txBody>
      </p:sp>
      <p:sp>
        <p:nvSpPr>
          <p:cNvPr id="106" name="s106"/>
          <p:cNvSpPr/>
          <p:nvPr/>
        </p:nvSpPr>
        <p:spPr>
          <a:xfrm>
            <a:off x="543154" y="5349240"/>
            <a:ext cx="11088014" cy="502920"/>
          </a:xfrm>
          <a:prstGeom prst="roundRect">
            <a:avLst>
              <a:gd name="adj" fmla="val 12000"/>
            </a:avLst>
          </a:prstGeom>
          <a:solidFill>
            <a:srgbClr val="111B2E"/>
          </a:solidFill>
          <a:ln w="12700">
            <a:solidFill>
              <a:srgbClr val="13D0F7"/>
            </a:solidFill>
            <a:prstDash val="solid"/>
          </a:ln>
        </p:spPr>
        <p:txBody>
          <a:bodyPr wrap="square" lIns="228600" tIns="45720" rIns="228600" bIns="45720" rtlCol="0" anchor="ctr">
            <a:noAutofit/>
          </a:bodyPr>
          <a:lstStyle/>
          <a:p>
            <a:pPr marL="0" indent="0" algn="ctr">
              <a:spcBef>
                <a:spcPts val="0"/>
              </a:spcBef>
              <a:spcAft>
                <a:spcPts val="0"/>
              </a:spcAft>
              <a:buNone/>
            </a:pPr>
            <a:r>
              <a:rPr lang="en-US" sz="1300" b="0" dirty="0">
                <a:solidFill>
                  <a:srgbClr val="E2E8F0"/>
                </a:solidFill>
                <a:latin typeface="Segoe UI"/>
                <a:ea typeface="Segoe UI"/>
                <a:cs typeface="Segoe UI"/>
              </a:rPr>
              <a:t>Lots of fast unit tests at the base, fewer and slower tests as you go up.</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wipe(down)">
                                      <p:cBhvr>
                                        <p:cTn id="7" dur="500"/>
                                        <p:tgtEl>
                                          <p:spTgt spid="101"/>
                                        </p:tgtEl>
                                      </p:cBhvr>
                                    </p:animEffect>
                                  </p:childTnLst>
                                </p:cTn>
                              </p:par>
                              <p:par>
                                <p:cTn id="8" presetID="42" presetClass="entr" presetSubtype="0" fill="hold" grpId="0" nodeType="withEffect">
                                  <p:stCondLst>
                                    <p:cond delay="200"/>
                                  </p:stCondLst>
                                  <p:childTnLst>
                                    <p:set>
                                      <p:cBhvr>
                                        <p:cTn id="9" dur="1" fill="hold">
                                          <p:stCondLst>
                                            <p:cond delay="0"/>
                                          </p:stCondLst>
                                        </p:cTn>
                                        <p:tgtEl>
                                          <p:spTgt spid="105"/>
                                        </p:tgtEl>
                                        <p:attrNameLst>
                                          <p:attrName>style.visibility</p:attrName>
                                        </p:attrNameLst>
                                      </p:cBhvr>
                                      <p:to>
                                        <p:strVal val="visible"/>
                                      </p:to>
                                    </p:set>
                                    <p:animEffect transition="in" filter="fade">
                                      <p:cBhvr>
                                        <p:cTn id="10" dur="500"/>
                                        <p:tgtEl>
                                          <p:spTgt spid="105"/>
                                        </p:tgtEl>
                                      </p:cBhvr>
                                    </p:animEffect>
                                    <p:anim calcmode="lin" valueType="num">
                                      <p:cBhvr additive="base">
                                        <p:cTn id="11" dur="500" decel="100000" fill="hold"/>
                                        <p:tgtEl>
                                          <p:spTgt spid="105"/>
                                        </p:tgtEl>
                                        <p:attrNameLst>
                                          <p:attrName>ppt_x</p:attrName>
                                        </p:attrNameLst>
                                      </p:cBhvr>
                                      <p:tavLst>
                                        <p:tav tm="0">
                                          <p:val>
                                            <p:strVal val="#ppt_x+0.05"/>
                                          </p:val>
                                        </p:tav>
                                        <p:tav tm="100000">
                                          <p:val>
                                            <p:strVal val="#ppt_x"/>
                                          </p:val>
                                        </p:tav>
                                      </p:tavLst>
                                    </p:anim>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102"/>
                                        </p:tgtEl>
                                        <p:attrNameLst>
                                          <p:attrName>style.visibility</p:attrName>
                                        </p:attrNameLst>
                                      </p:cBhvr>
                                      <p:to>
                                        <p:strVal val="visible"/>
                                      </p:to>
                                    </p:set>
                                    <p:animEffect transition="in" filter="wipe(down)">
                                      <p:cBhvr>
                                        <p:cTn id="16" dur="500"/>
                                        <p:tgtEl>
                                          <p:spTgt spid="10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103"/>
                                        </p:tgtEl>
                                        <p:attrNameLst>
                                          <p:attrName>style.visibility</p:attrName>
                                        </p:attrNameLst>
                                      </p:cBhvr>
                                      <p:to>
                                        <p:strVal val="visible"/>
                                      </p:to>
                                    </p:set>
                                    <p:animEffect transition="in" filter="wipe(down)">
                                      <p:cBhvr>
                                        <p:cTn id="21" dur="500"/>
                                        <p:tgtEl>
                                          <p:spTgt spid="103"/>
                                        </p:tgtEl>
                                      </p:cBhvr>
                                    </p:animEffect>
                                  </p:childTnLst>
                                </p:cTn>
                              </p:par>
                              <p:par>
                                <p:cTn id="22" presetID="42" presetClass="entr" presetSubtype="0" fill="hold" grpId="0" nodeType="withEffect">
                                  <p:stCondLst>
                                    <p:cond delay="200"/>
                                  </p:stCondLst>
                                  <p:childTnLst>
                                    <p:set>
                                      <p:cBhvr>
                                        <p:cTn id="23" dur="1" fill="hold">
                                          <p:stCondLst>
                                            <p:cond delay="0"/>
                                          </p:stCondLst>
                                        </p:cTn>
                                        <p:tgtEl>
                                          <p:spTgt spid="104"/>
                                        </p:tgtEl>
                                        <p:attrNameLst>
                                          <p:attrName>style.visibility</p:attrName>
                                        </p:attrNameLst>
                                      </p:cBhvr>
                                      <p:to>
                                        <p:strVal val="visible"/>
                                      </p:to>
                                    </p:set>
                                    <p:animEffect transition="in" filter="fade">
                                      <p:cBhvr>
                                        <p:cTn id="24" dur="500"/>
                                        <p:tgtEl>
                                          <p:spTgt spid="104"/>
                                        </p:tgtEl>
                                      </p:cBhvr>
                                    </p:animEffect>
                                    <p:anim calcmode="lin" valueType="num">
                                      <p:cBhvr additive="base">
                                        <p:cTn id="25" dur="500" decel="100000" fill="hold"/>
                                        <p:tgtEl>
                                          <p:spTgt spid="104"/>
                                        </p:tgtEl>
                                        <p:attrNameLst>
                                          <p:attrName>ppt_x</p:attrName>
                                        </p:attrNameLst>
                                      </p:cBhvr>
                                      <p:tavLst>
                                        <p:tav tm="0">
                                          <p:val>
                                            <p:strVal val="#ppt_x+0.05"/>
                                          </p:val>
                                        </p:tav>
                                        <p:tav tm="100000">
                                          <p:val>
                                            <p:strVal val="#ppt_x"/>
                                          </p:val>
                                        </p:tav>
                                      </p:tavLst>
                                    </p:anim>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00"/>
                                        <p:tgtEl>
                                          <p:spTgt spid="106"/>
                                        </p:tgtEl>
                                      </p:cBhvr>
                                    </p:animEffect>
                                    <p:anim calcmode="lin" valueType="num">
                                      <p:cBhvr additive="base">
                                        <p:cTn id="31" dur="500" decel="100000" fill="hold"/>
                                        <p:tgtEl>
                                          <p:spTgt spid="106"/>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SCOPE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Do I Write Tests For?</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If it can break, and the user would notice, test it.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WHY</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111</a:t>
            </a:r>
            <a:endParaRPr lang="en-US" sz="850" dirty="0"/>
          </a:p>
        </p:txBody>
      </p:sp>
      <p:sp>
        <p:nvSpPr>
          <p:cNvPr id="101" name="s101"/>
          <p:cNvSpPr/>
          <p:nvPr/>
        </p:nvSpPr>
        <p:spPr>
          <a:xfrm>
            <a:off x="543154" y="1783080"/>
            <a:ext cx="5406847" cy="3794760"/>
          </a:xfrm>
          <a:prstGeom prst="roundRect">
            <a:avLst>
              <a:gd name="adj" fmla="val 8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02" name="s102"/>
          <p:cNvSpPr txBox="1"/>
          <p:nvPr/>
        </p:nvSpPr>
        <p:spPr>
          <a:xfrm>
            <a:off x="817474" y="1874520"/>
            <a:ext cx="4858207"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34D399"/>
                </a:solidFill>
                <a:latin typeface="Segoe UI"/>
                <a:ea typeface="Segoe UI"/>
                <a:cs typeface="Segoe UI"/>
              </a:rPr>
              <a:t>✓  TEST THESE</a:t>
            </a:r>
            <a:endParaRPr lang="en-US" sz="1300" dirty="0"/>
          </a:p>
        </p:txBody>
      </p:sp>
      <p:sp>
        <p:nvSpPr>
          <p:cNvPr id="103" name="s103"/>
          <p:cNvSpPr/>
          <p:nvPr/>
        </p:nvSpPr>
        <p:spPr>
          <a:xfrm>
            <a:off x="817474" y="2377440"/>
            <a:ext cx="411480" cy="41148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04" name="img104"/>
          <p:cNvPicPr>
            <a:picLocks noChangeAspect="1"/>
          </p:cNvPicPr>
          <p:nvPr/>
        </p:nvPicPr>
        <p:blipFill>
          <a:blip r:embed="rId4"/>
          <a:stretch>
            <a:fillRect/>
          </a:stretch>
        </p:blipFill>
        <p:spPr>
          <a:xfrm>
            <a:off x="916229" y="2476195"/>
            <a:ext cx="213970" cy="213970"/>
          </a:xfrm>
          <a:prstGeom prst="rect">
            <a:avLst/>
          </a:prstGeom>
        </p:spPr>
      </p:pic>
      <p:sp>
        <p:nvSpPr>
          <p:cNvPr id="105" name="s105"/>
          <p:cNvSpPr txBox="1"/>
          <p:nvPr/>
        </p:nvSpPr>
        <p:spPr>
          <a:xfrm>
            <a:off x="1411834" y="2331720"/>
            <a:ext cx="430956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Business rules &amp; calculations</a:t>
            </a:r>
            <a:endParaRPr lang="en-US" sz="1350" dirty="0"/>
          </a:p>
          <a:p>
            <a:pPr marL="0" indent="0" algn="l">
              <a:spcBef>
                <a:spcPts val="0"/>
              </a:spcBef>
              <a:spcAft>
                <a:spcPts val="0"/>
              </a:spcAft>
              <a:buNone/>
            </a:pPr>
            <a:r>
              <a:rPr lang="en-US" sz="1100" b="0" dirty="0">
                <a:solidFill>
                  <a:srgbClr val="94A3B8"/>
                </a:solidFill>
                <a:latin typeface="Segoe UI"/>
                <a:ea typeface="Segoe UI"/>
                <a:cs typeface="Segoe UI"/>
              </a:rPr>
              <a:t>fees, discounts, grades, VAT</a:t>
            </a:r>
            <a:endParaRPr lang="en-US" sz="1100" dirty="0"/>
          </a:p>
        </p:txBody>
      </p:sp>
      <p:sp>
        <p:nvSpPr>
          <p:cNvPr id="106" name="s106"/>
          <p:cNvSpPr/>
          <p:nvPr/>
        </p:nvSpPr>
        <p:spPr>
          <a:xfrm>
            <a:off x="817474" y="3008376"/>
            <a:ext cx="411480" cy="41148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07" name="img107"/>
          <p:cNvPicPr>
            <a:picLocks noChangeAspect="1"/>
          </p:cNvPicPr>
          <p:nvPr/>
        </p:nvPicPr>
        <p:blipFill>
          <a:blip r:embed="rId5"/>
          <a:stretch>
            <a:fillRect/>
          </a:stretch>
        </p:blipFill>
        <p:spPr>
          <a:xfrm>
            <a:off x="916229" y="3107131"/>
            <a:ext cx="213970" cy="213970"/>
          </a:xfrm>
          <a:prstGeom prst="rect">
            <a:avLst/>
          </a:prstGeom>
        </p:spPr>
      </p:pic>
      <p:sp>
        <p:nvSpPr>
          <p:cNvPr id="108" name="s108"/>
          <p:cNvSpPr txBox="1"/>
          <p:nvPr/>
        </p:nvSpPr>
        <p:spPr>
          <a:xfrm>
            <a:off x="1411834" y="2962656"/>
            <a:ext cx="430956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Validation</a:t>
            </a:r>
            <a:endParaRPr lang="en-US" sz="1350" dirty="0"/>
          </a:p>
          <a:p>
            <a:pPr marL="0" indent="0" algn="l">
              <a:spcBef>
                <a:spcPts val="0"/>
              </a:spcBef>
              <a:spcAft>
                <a:spcPts val="0"/>
              </a:spcAft>
              <a:buNone/>
            </a:pPr>
            <a:r>
              <a:rPr lang="en-US" sz="1100" b="0" dirty="0">
                <a:solidFill>
                  <a:srgbClr val="94A3B8"/>
                </a:solidFill>
                <a:latin typeface="Segoe UI"/>
                <a:ea typeface="Segoe UI"/>
                <a:cs typeface="Segoe UI"/>
              </a:rPr>
              <a:t>email, mobile number, age limits</a:t>
            </a:r>
            <a:endParaRPr lang="en-US" sz="1100" dirty="0"/>
          </a:p>
        </p:txBody>
      </p:sp>
      <p:sp>
        <p:nvSpPr>
          <p:cNvPr id="109" name="s109"/>
          <p:cNvSpPr/>
          <p:nvPr/>
        </p:nvSpPr>
        <p:spPr>
          <a:xfrm>
            <a:off x="817474" y="3639312"/>
            <a:ext cx="411480" cy="41148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10" name="img110"/>
          <p:cNvPicPr>
            <a:picLocks noChangeAspect="1"/>
          </p:cNvPicPr>
          <p:nvPr/>
        </p:nvPicPr>
        <p:blipFill>
          <a:blip r:embed="rId6"/>
          <a:stretch>
            <a:fillRect/>
          </a:stretch>
        </p:blipFill>
        <p:spPr>
          <a:xfrm>
            <a:off x="916229" y="3738067"/>
            <a:ext cx="213970" cy="213970"/>
          </a:xfrm>
          <a:prstGeom prst="rect">
            <a:avLst/>
          </a:prstGeom>
        </p:spPr>
      </p:pic>
      <p:sp>
        <p:nvSpPr>
          <p:cNvPr id="111" name="s111"/>
          <p:cNvSpPr txBox="1"/>
          <p:nvPr/>
        </p:nvSpPr>
        <p:spPr>
          <a:xfrm>
            <a:off x="1411834" y="3593592"/>
            <a:ext cx="430956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Every branch</a:t>
            </a:r>
            <a:endParaRPr lang="en-US" sz="1350" dirty="0"/>
          </a:p>
          <a:p>
            <a:pPr marL="0" indent="0" algn="l">
              <a:spcBef>
                <a:spcPts val="0"/>
              </a:spcBef>
              <a:spcAft>
                <a:spcPts val="0"/>
              </a:spcAft>
              <a:buNone/>
            </a:pPr>
            <a:r>
              <a:rPr lang="en-US" sz="1100" b="0" dirty="0">
                <a:solidFill>
                  <a:srgbClr val="94A3B8"/>
                </a:solidFill>
                <a:latin typeface="Segoe UI"/>
                <a:ea typeface="Segoe UI"/>
                <a:cs typeface="Segoe UI"/>
              </a:rPr>
              <a:t>each if / switch case / early return</a:t>
            </a:r>
            <a:endParaRPr lang="en-US" sz="1100" dirty="0"/>
          </a:p>
        </p:txBody>
      </p:sp>
      <p:sp>
        <p:nvSpPr>
          <p:cNvPr id="112" name="s112"/>
          <p:cNvSpPr/>
          <p:nvPr/>
        </p:nvSpPr>
        <p:spPr>
          <a:xfrm>
            <a:off x="817474" y="4270248"/>
            <a:ext cx="411480" cy="41148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13" name="img113"/>
          <p:cNvPicPr>
            <a:picLocks noChangeAspect="1"/>
          </p:cNvPicPr>
          <p:nvPr/>
        </p:nvPicPr>
        <p:blipFill>
          <a:blip r:embed="rId7"/>
          <a:stretch>
            <a:fillRect/>
          </a:stretch>
        </p:blipFill>
        <p:spPr>
          <a:xfrm>
            <a:off x="916229" y="4369003"/>
            <a:ext cx="213970" cy="213970"/>
          </a:xfrm>
          <a:prstGeom prst="rect">
            <a:avLst/>
          </a:prstGeom>
        </p:spPr>
      </p:pic>
      <p:sp>
        <p:nvSpPr>
          <p:cNvPr id="114" name="s114"/>
          <p:cNvSpPr txBox="1"/>
          <p:nvPr/>
        </p:nvSpPr>
        <p:spPr>
          <a:xfrm>
            <a:off x="1411834" y="4224528"/>
            <a:ext cx="430956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What must be refused</a:t>
            </a:r>
            <a:endParaRPr lang="en-US" sz="1350" dirty="0"/>
          </a:p>
          <a:p>
            <a:pPr marL="0" indent="0" algn="l">
              <a:spcBef>
                <a:spcPts val="0"/>
              </a:spcBef>
              <a:spcAft>
                <a:spcPts val="0"/>
              </a:spcAft>
              <a:buNone/>
            </a:pPr>
            <a:r>
              <a:rPr lang="en-US" sz="1100" b="0" dirty="0">
                <a:solidFill>
                  <a:srgbClr val="94A3B8"/>
                </a:solidFill>
                <a:latin typeface="Segoe UI"/>
                <a:ea typeface="Segoe UI"/>
                <a:cs typeface="Segoe UI"/>
              </a:rPr>
              <a:t>invalid input, not enough money</a:t>
            </a:r>
            <a:endParaRPr lang="en-US" sz="1100" dirty="0"/>
          </a:p>
        </p:txBody>
      </p:sp>
      <p:sp>
        <p:nvSpPr>
          <p:cNvPr id="115" name="s115"/>
          <p:cNvSpPr/>
          <p:nvPr/>
        </p:nvSpPr>
        <p:spPr>
          <a:xfrm>
            <a:off x="817474" y="4901184"/>
            <a:ext cx="411480" cy="41148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16" name="img116"/>
          <p:cNvPicPr>
            <a:picLocks noChangeAspect="1"/>
          </p:cNvPicPr>
          <p:nvPr/>
        </p:nvPicPr>
        <p:blipFill>
          <a:blip r:embed="rId8"/>
          <a:stretch>
            <a:fillRect/>
          </a:stretch>
        </p:blipFill>
        <p:spPr>
          <a:xfrm>
            <a:off x="916229" y="4999939"/>
            <a:ext cx="213970" cy="213970"/>
          </a:xfrm>
          <a:prstGeom prst="rect">
            <a:avLst/>
          </a:prstGeom>
        </p:spPr>
      </p:pic>
      <p:sp>
        <p:nvSpPr>
          <p:cNvPr id="117" name="s117"/>
          <p:cNvSpPr txBox="1"/>
          <p:nvPr/>
        </p:nvSpPr>
        <p:spPr>
          <a:xfrm>
            <a:off x="1411834" y="4855464"/>
            <a:ext cx="430956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Every bug you fixed</a:t>
            </a:r>
            <a:endParaRPr lang="en-US" sz="1350" dirty="0"/>
          </a:p>
          <a:p>
            <a:pPr marL="0" indent="0" algn="l">
              <a:spcBef>
                <a:spcPts val="0"/>
              </a:spcBef>
              <a:spcAft>
                <a:spcPts val="0"/>
              </a:spcAft>
              <a:buNone/>
            </a:pPr>
            <a:r>
              <a:rPr lang="en-US" sz="1100" b="0" dirty="0">
                <a:solidFill>
                  <a:srgbClr val="94A3B8"/>
                </a:solidFill>
                <a:latin typeface="Segoe UI"/>
                <a:ea typeface="Segoe UI"/>
                <a:cs typeface="Segoe UI"/>
              </a:rPr>
              <a:t>a regression test keeps it fixed</a:t>
            </a:r>
            <a:endParaRPr lang="en-US" sz="1100" dirty="0"/>
          </a:p>
        </p:txBody>
      </p:sp>
      <p:sp>
        <p:nvSpPr>
          <p:cNvPr id="118" name="s118"/>
          <p:cNvSpPr/>
          <p:nvPr/>
        </p:nvSpPr>
        <p:spPr>
          <a:xfrm>
            <a:off x="6224321" y="1783080"/>
            <a:ext cx="5406847" cy="379476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19" name="s119"/>
          <p:cNvSpPr txBox="1"/>
          <p:nvPr/>
        </p:nvSpPr>
        <p:spPr>
          <a:xfrm>
            <a:off x="6498641" y="1874520"/>
            <a:ext cx="4858207"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87171"/>
                </a:solidFill>
                <a:latin typeface="Segoe UI"/>
                <a:ea typeface="Segoe UI"/>
                <a:cs typeface="Segoe UI"/>
              </a:rPr>
              <a:t>✗  NOT WITH UNIT TESTS</a:t>
            </a:r>
            <a:endParaRPr lang="en-US" sz="1300" dirty="0"/>
          </a:p>
        </p:txBody>
      </p:sp>
      <p:sp>
        <p:nvSpPr>
          <p:cNvPr id="120" name="s120"/>
          <p:cNvSpPr/>
          <p:nvPr/>
        </p:nvSpPr>
        <p:spPr>
          <a:xfrm>
            <a:off x="6498641" y="2377440"/>
            <a:ext cx="411480" cy="41148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1" name="img121"/>
          <p:cNvPicPr>
            <a:picLocks noChangeAspect="1"/>
          </p:cNvPicPr>
          <p:nvPr/>
        </p:nvPicPr>
        <p:blipFill>
          <a:blip r:embed="rId9"/>
          <a:stretch>
            <a:fillRect/>
          </a:stretch>
        </p:blipFill>
        <p:spPr>
          <a:xfrm>
            <a:off x="6597396" y="2476195"/>
            <a:ext cx="213970" cy="213970"/>
          </a:xfrm>
          <a:prstGeom prst="rect">
            <a:avLst/>
          </a:prstGeom>
        </p:spPr>
      </p:pic>
      <p:sp>
        <p:nvSpPr>
          <p:cNvPr id="122" name="s122"/>
          <p:cNvSpPr txBox="1"/>
          <p:nvPr/>
        </p:nvSpPr>
        <p:spPr>
          <a:xfrm>
            <a:off x="7093001" y="2331720"/>
            <a:ext cx="430956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Auto-properties</a:t>
            </a:r>
            <a:endParaRPr lang="en-US" sz="1350" dirty="0"/>
          </a:p>
          <a:p>
            <a:pPr marL="0" indent="0" algn="l">
              <a:spcBef>
                <a:spcPts val="0"/>
              </a:spcBef>
              <a:spcAft>
                <a:spcPts val="0"/>
              </a:spcAft>
              <a:buNone/>
            </a:pPr>
            <a:r>
              <a:rPr lang="en-US" sz="1100" b="0" dirty="0">
                <a:solidFill>
                  <a:srgbClr val="94A3B8"/>
                </a:solidFill>
                <a:latin typeface="Consolas"/>
                <a:ea typeface="Consolas"/>
                <a:cs typeface="Consolas"/>
              </a:rPr>
              <a:t>public string Name { get; set; }</a:t>
            </a:r>
            <a:endParaRPr lang="en-US" sz="1100" dirty="0"/>
          </a:p>
        </p:txBody>
      </p:sp>
      <p:sp>
        <p:nvSpPr>
          <p:cNvPr id="123" name="s123"/>
          <p:cNvSpPr/>
          <p:nvPr/>
        </p:nvSpPr>
        <p:spPr>
          <a:xfrm>
            <a:off x="6498641" y="3008376"/>
            <a:ext cx="411480" cy="41148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4" name="img124"/>
          <p:cNvPicPr>
            <a:picLocks noChangeAspect="1"/>
          </p:cNvPicPr>
          <p:nvPr/>
        </p:nvPicPr>
        <p:blipFill>
          <a:blip r:embed="rId10"/>
          <a:stretch>
            <a:fillRect/>
          </a:stretch>
        </p:blipFill>
        <p:spPr>
          <a:xfrm>
            <a:off x="6597396" y="3107131"/>
            <a:ext cx="213970" cy="213970"/>
          </a:xfrm>
          <a:prstGeom prst="rect">
            <a:avLst/>
          </a:prstGeom>
        </p:spPr>
      </p:pic>
      <p:sp>
        <p:nvSpPr>
          <p:cNvPr id="125" name="s125"/>
          <p:cNvSpPr txBox="1"/>
          <p:nvPr/>
        </p:nvSpPr>
        <p:spPr>
          <a:xfrm>
            <a:off x="7093001" y="2962656"/>
            <a:ext cx="430956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Framework code</a:t>
            </a:r>
            <a:endParaRPr lang="en-US" sz="1350" dirty="0"/>
          </a:p>
          <a:p>
            <a:pPr marL="0" indent="0" algn="l">
              <a:spcBef>
                <a:spcPts val="0"/>
              </a:spcBef>
              <a:spcAft>
                <a:spcPts val="0"/>
              </a:spcAft>
              <a:buNone/>
            </a:pPr>
            <a:r>
              <a:rPr lang="en-US" sz="1100" b="0" dirty="0">
                <a:solidFill>
                  <a:srgbClr val="94A3B8"/>
                </a:solidFill>
                <a:latin typeface="Segoe UI"/>
                <a:ea typeface="Segoe UI"/>
                <a:cs typeface="Segoe UI"/>
              </a:rPr>
              <a:t>EF Core, ASP.NET already tested</a:t>
            </a:r>
            <a:endParaRPr lang="en-US" sz="1100" dirty="0"/>
          </a:p>
        </p:txBody>
      </p:sp>
      <p:sp>
        <p:nvSpPr>
          <p:cNvPr id="126" name="s126"/>
          <p:cNvSpPr/>
          <p:nvPr/>
        </p:nvSpPr>
        <p:spPr>
          <a:xfrm>
            <a:off x="6498641" y="3639312"/>
            <a:ext cx="411480" cy="41148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7" name="img127"/>
          <p:cNvPicPr>
            <a:picLocks noChangeAspect="1"/>
          </p:cNvPicPr>
          <p:nvPr/>
        </p:nvPicPr>
        <p:blipFill>
          <a:blip r:embed="rId11"/>
          <a:stretch>
            <a:fillRect/>
          </a:stretch>
        </p:blipFill>
        <p:spPr>
          <a:xfrm>
            <a:off x="6597396" y="3738067"/>
            <a:ext cx="213970" cy="213970"/>
          </a:xfrm>
          <a:prstGeom prst="rect">
            <a:avLst/>
          </a:prstGeom>
        </p:spPr>
      </p:pic>
      <p:sp>
        <p:nvSpPr>
          <p:cNvPr id="128" name="s128"/>
          <p:cNvSpPr txBox="1"/>
          <p:nvPr/>
        </p:nvSpPr>
        <p:spPr>
          <a:xfrm>
            <a:off x="7093001" y="3593592"/>
            <a:ext cx="430956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Private methods directly</a:t>
            </a:r>
            <a:endParaRPr lang="en-US" sz="1350" dirty="0"/>
          </a:p>
          <a:p>
            <a:pPr marL="0" indent="0" algn="l">
              <a:spcBef>
                <a:spcPts val="0"/>
              </a:spcBef>
              <a:spcAft>
                <a:spcPts val="0"/>
              </a:spcAft>
              <a:buNone/>
            </a:pPr>
            <a:r>
              <a:rPr lang="en-US" sz="1100" b="0" dirty="0">
                <a:solidFill>
                  <a:srgbClr val="94A3B8"/>
                </a:solidFill>
                <a:latin typeface="Segoe UI"/>
                <a:ea typeface="Segoe UI"/>
                <a:cs typeface="Segoe UI"/>
              </a:rPr>
              <a:t>test them through the public API</a:t>
            </a:r>
            <a:endParaRPr lang="en-US" sz="1100" dirty="0"/>
          </a:p>
        </p:txBody>
      </p:sp>
      <p:sp>
        <p:nvSpPr>
          <p:cNvPr id="129" name="s129"/>
          <p:cNvSpPr/>
          <p:nvPr/>
        </p:nvSpPr>
        <p:spPr>
          <a:xfrm>
            <a:off x="6498641" y="4270248"/>
            <a:ext cx="411480" cy="41148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30" name="img130"/>
          <p:cNvPicPr>
            <a:picLocks noChangeAspect="1"/>
          </p:cNvPicPr>
          <p:nvPr/>
        </p:nvPicPr>
        <p:blipFill>
          <a:blip r:embed="rId12"/>
          <a:stretch>
            <a:fillRect/>
          </a:stretch>
        </p:blipFill>
        <p:spPr>
          <a:xfrm>
            <a:off x="6597396" y="4369003"/>
            <a:ext cx="213970" cy="213970"/>
          </a:xfrm>
          <a:prstGeom prst="rect">
            <a:avLst/>
          </a:prstGeom>
        </p:spPr>
      </p:pic>
      <p:sp>
        <p:nvSpPr>
          <p:cNvPr id="131" name="s131"/>
          <p:cNvSpPr txBox="1"/>
          <p:nvPr/>
        </p:nvSpPr>
        <p:spPr>
          <a:xfrm>
            <a:off x="7093001" y="4224528"/>
            <a:ext cx="430956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Third-party libraries</a:t>
            </a:r>
            <a:endParaRPr lang="en-US" sz="1350" dirty="0"/>
          </a:p>
          <a:p>
            <a:pPr marL="0" indent="0" algn="l">
              <a:spcBef>
                <a:spcPts val="0"/>
              </a:spcBef>
              <a:spcAft>
                <a:spcPts val="0"/>
              </a:spcAft>
              <a:buNone/>
            </a:pPr>
            <a:r>
              <a:rPr lang="en-US" sz="1100" b="0" dirty="0">
                <a:solidFill>
                  <a:srgbClr val="94A3B8"/>
                </a:solidFill>
                <a:latin typeface="Segoe UI"/>
                <a:ea typeface="Segoe UI"/>
                <a:cs typeface="Segoe UI"/>
              </a:rPr>
              <a:t>test YOUR use of them</a:t>
            </a:r>
            <a:endParaRPr lang="en-US" sz="1100" dirty="0"/>
          </a:p>
        </p:txBody>
      </p:sp>
      <p:sp>
        <p:nvSpPr>
          <p:cNvPr id="132" name="s132"/>
          <p:cNvSpPr/>
          <p:nvPr/>
        </p:nvSpPr>
        <p:spPr>
          <a:xfrm>
            <a:off x="6498641" y="4901184"/>
            <a:ext cx="411480" cy="41148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33" name="img133"/>
          <p:cNvPicPr>
            <a:picLocks noChangeAspect="1"/>
          </p:cNvPicPr>
          <p:nvPr/>
        </p:nvPicPr>
        <p:blipFill>
          <a:blip r:embed="rId13"/>
          <a:stretch>
            <a:fillRect/>
          </a:stretch>
        </p:blipFill>
        <p:spPr>
          <a:xfrm>
            <a:off x="6597396" y="4999939"/>
            <a:ext cx="213970" cy="213970"/>
          </a:xfrm>
          <a:prstGeom prst="rect">
            <a:avLst/>
          </a:prstGeom>
        </p:spPr>
      </p:pic>
      <p:sp>
        <p:nvSpPr>
          <p:cNvPr id="134" name="s134"/>
          <p:cNvSpPr txBox="1"/>
          <p:nvPr/>
        </p:nvSpPr>
        <p:spPr>
          <a:xfrm>
            <a:off x="7093001" y="4855464"/>
            <a:ext cx="430956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UI layout</a:t>
            </a:r>
            <a:endParaRPr lang="en-US" sz="1350" dirty="0"/>
          </a:p>
          <a:p>
            <a:pPr marL="0" indent="0" algn="l">
              <a:spcBef>
                <a:spcPts val="0"/>
              </a:spcBef>
              <a:spcAft>
                <a:spcPts val="0"/>
              </a:spcAft>
              <a:buNone/>
            </a:pPr>
            <a:r>
              <a:rPr lang="en-US" sz="1100" b="0" dirty="0">
                <a:solidFill>
                  <a:srgbClr val="94A3B8"/>
                </a:solidFill>
                <a:latin typeface="Segoe UI"/>
                <a:ea typeface="Segoe UI"/>
                <a:cs typeface="Segoe UI"/>
              </a:rPr>
              <a:t>colors and pixels: not unit tests</a:t>
            </a:r>
            <a:endParaRPr lang="en-US" sz="1100" dirty="0"/>
          </a:p>
        </p:txBody>
      </p:sp>
      <p:sp>
        <p:nvSpPr>
          <p:cNvPr id="135" name="s135"/>
          <p:cNvSpPr/>
          <p:nvPr/>
        </p:nvSpPr>
        <p:spPr>
          <a:xfrm>
            <a:off x="543154" y="5669280"/>
            <a:ext cx="11088014" cy="457200"/>
          </a:xfrm>
          <a:prstGeom prst="roundRect">
            <a:avLst>
              <a:gd name="adj" fmla="val 12000"/>
            </a:avLst>
          </a:prstGeom>
          <a:solidFill>
            <a:srgbClr val="111B2E"/>
          </a:solidFill>
          <a:ln w="12700">
            <a:solidFill>
              <a:srgbClr val="13D0F7"/>
            </a:solidFill>
            <a:prstDash val="solid"/>
          </a:ln>
        </p:spPr>
        <p:txBody>
          <a:bodyPr wrap="square" lIns="228600" tIns="45720" rIns="228600" bIns="45720" rtlCol="0" anchor="ctr">
            <a:noAutofit/>
          </a:bodyPr>
          <a:lstStyle/>
          <a:p>
            <a:pPr marL="0" indent="0" algn="ctr">
              <a:spcBef>
                <a:spcPts val="0"/>
              </a:spcBef>
              <a:spcAft>
                <a:spcPts val="0"/>
              </a:spcAft>
              <a:buNone/>
            </a:pPr>
            <a:r>
              <a:rPr lang="en-US" sz="1300" b="1" dirty="0">
                <a:solidFill>
                  <a:srgbClr val="13D0F7"/>
                </a:solidFill>
                <a:latin typeface="Segoe UI"/>
                <a:ea typeface="Segoe UI"/>
                <a:cs typeface="Segoe UI"/>
              </a:rPr>
              <a:t>Rule of thumb: </a:t>
            </a:r>
            <a:r>
              <a:rPr lang="en-US" sz="1300" b="0" dirty="0">
                <a:solidFill>
                  <a:srgbClr val="E2E8F0"/>
                </a:solidFill>
                <a:latin typeface="Segoe UI"/>
                <a:ea typeface="Segoe UI"/>
                <a:cs typeface="Segoe UI"/>
              </a:rPr>
              <a:t>test behavior with rules. Each rule × each outcome = at least one test.</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12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ppt_x</p:attrName>
                                        </p:attrNameLst>
                                      </p:cBhvr>
                                      <p:tavLst>
                                        <p:tav tm="0">
                                          <p:val>
                                            <p:strVal val="#ppt_x-0.05"/>
                                          </p:val>
                                        </p:tav>
                                        <p:tav tm="100000">
                                          <p:val>
                                            <p:strVal val="#ppt_x"/>
                                          </p:val>
                                        </p:tav>
                                      </p:tavLst>
                                    </p:anim>
                                  </p:childTnLst>
                                </p:cTn>
                              </p:par>
                              <p:par>
                                <p:cTn id="17" presetID="42" presetClass="entr" presetSubtype="0" fill="hold" nodeType="withEffect">
                                  <p:stCondLst>
                                    <p:cond delay="12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12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24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ppt_x</p:attrName>
                                        </p:attrNameLst>
                                      </p:cBhvr>
                                      <p:tavLst>
                                        <p:tav tm="0">
                                          <p:val>
                                            <p:strVal val="#ppt_x-0.05"/>
                                          </p:val>
                                        </p:tav>
                                        <p:tav tm="100000">
                                          <p:val>
                                            <p:strVal val="#ppt_x"/>
                                          </p:val>
                                        </p:tav>
                                      </p:tavLst>
                                    </p:anim>
                                  </p:childTnLst>
                                </p:cTn>
                              </p:par>
                              <p:par>
                                <p:cTn id="29" presetID="42" presetClass="entr" presetSubtype="0" fill="hold" nodeType="withEffect">
                                  <p:stCondLst>
                                    <p:cond delay="24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ppt_x</p:attrName>
                                        </p:attrNameLst>
                                      </p:cBhvr>
                                      <p:tavLst>
                                        <p:tav tm="0">
                                          <p:val>
                                            <p:strVal val="#ppt_x-0.05"/>
                                          </p:val>
                                        </p:tav>
                                        <p:tav tm="100000">
                                          <p:val>
                                            <p:strVal val="#ppt_x"/>
                                          </p:val>
                                        </p:tav>
                                      </p:tavLst>
                                    </p:anim>
                                  </p:childTnLst>
                                </p:cTn>
                              </p:par>
                              <p:par>
                                <p:cTn id="33" presetID="42" presetClass="entr" presetSubtype="0" fill="hold" grpId="0" nodeType="withEffect">
                                  <p:stCondLst>
                                    <p:cond delay="24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ppt_x</p:attrName>
                                        </p:attrNameLst>
                                      </p:cBhvr>
                                      <p:tavLst>
                                        <p:tav tm="0">
                                          <p:val>
                                            <p:strVal val="#ppt_x-0.05"/>
                                          </p:val>
                                        </p:tav>
                                        <p:tav tm="100000">
                                          <p:val>
                                            <p:strVal val="#ppt_x"/>
                                          </p:val>
                                        </p:tav>
                                      </p:tavLst>
                                    </p:anim>
                                  </p:childTnLst>
                                </p:cTn>
                              </p:par>
                              <p:par>
                                <p:cTn id="37" presetID="42" presetClass="entr" presetSubtype="0" fill="hold" grpId="0" nodeType="withEffect">
                                  <p:stCondLst>
                                    <p:cond delay="36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ppt_x</p:attrName>
                                        </p:attrNameLst>
                                      </p:cBhvr>
                                      <p:tavLst>
                                        <p:tav tm="0">
                                          <p:val>
                                            <p:strVal val="#ppt_x-0.05"/>
                                          </p:val>
                                        </p:tav>
                                        <p:tav tm="100000">
                                          <p:val>
                                            <p:strVal val="#ppt_x"/>
                                          </p:val>
                                        </p:tav>
                                      </p:tavLst>
                                    </p:anim>
                                  </p:childTnLst>
                                </p:cTn>
                              </p:par>
                              <p:par>
                                <p:cTn id="41" presetID="42" presetClass="entr" presetSubtype="0" fill="hold" nodeType="withEffect">
                                  <p:stCondLst>
                                    <p:cond delay="36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ppt_x</p:attrName>
                                        </p:attrNameLst>
                                      </p:cBhvr>
                                      <p:tavLst>
                                        <p:tav tm="0">
                                          <p:val>
                                            <p:strVal val="#ppt_x-0.05"/>
                                          </p:val>
                                        </p:tav>
                                        <p:tav tm="100000">
                                          <p:val>
                                            <p:strVal val="#ppt_x"/>
                                          </p:val>
                                        </p:tav>
                                      </p:tavLst>
                                    </p:anim>
                                  </p:childTnLst>
                                </p:cTn>
                              </p:par>
                              <p:par>
                                <p:cTn id="45" presetID="42" presetClass="entr" presetSubtype="0" fill="hold" grpId="0" nodeType="withEffect">
                                  <p:stCondLst>
                                    <p:cond delay="36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ppt_x</p:attrName>
                                        </p:attrNameLst>
                                      </p:cBhvr>
                                      <p:tavLst>
                                        <p:tav tm="0">
                                          <p:val>
                                            <p:strVal val="#ppt_x-0.05"/>
                                          </p:val>
                                        </p:tav>
                                        <p:tav tm="100000">
                                          <p:val>
                                            <p:strVal val="#ppt_x"/>
                                          </p:val>
                                        </p:tav>
                                      </p:tavLst>
                                    </p:anim>
                                  </p:childTnLst>
                                </p:cTn>
                              </p:par>
                              <p:par>
                                <p:cTn id="49" presetID="42" presetClass="entr" presetSubtype="0" fill="hold" grpId="0" nodeType="withEffect">
                                  <p:stCondLst>
                                    <p:cond delay="48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ppt_x</p:attrName>
                                        </p:attrNameLst>
                                      </p:cBhvr>
                                      <p:tavLst>
                                        <p:tav tm="0">
                                          <p:val>
                                            <p:strVal val="#ppt_x-0.05"/>
                                          </p:val>
                                        </p:tav>
                                        <p:tav tm="100000">
                                          <p:val>
                                            <p:strVal val="#ppt_x"/>
                                          </p:val>
                                        </p:tav>
                                      </p:tavLst>
                                    </p:anim>
                                  </p:childTnLst>
                                </p:cTn>
                              </p:par>
                              <p:par>
                                <p:cTn id="53" presetID="42" presetClass="entr" presetSubtype="0" fill="hold" nodeType="withEffect">
                                  <p:stCondLst>
                                    <p:cond delay="48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ppt_x</p:attrName>
                                        </p:attrNameLst>
                                      </p:cBhvr>
                                      <p:tavLst>
                                        <p:tav tm="0">
                                          <p:val>
                                            <p:strVal val="#ppt_x-0.05"/>
                                          </p:val>
                                        </p:tav>
                                        <p:tav tm="100000">
                                          <p:val>
                                            <p:strVal val="#ppt_x"/>
                                          </p:val>
                                        </p:tav>
                                      </p:tavLst>
                                    </p:anim>
                                  </p:childTnLst>
                                </p:cTn>
                              </p:par>
                              <p:par>
                                <p:cTn id="57" presetID="42" presetClass="entr" presetSubtype="0" fill="hold" grpId="0" nodeType="withEffect">
                                  <p:stCondLst>
                                    <p:cond delay="48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60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ppt_x</p:attrName>
                                        </p:attrNameLst>
                                      </p:cBhvr>
                                      <p:tavLst>
                                        <p:tav tm="0">
                                          <p:val>
                                            <p:strVal val="#ppt_x-0.05"/>
                                          </p:val>
                                        </p:tav>
                                        <p:tav tm="100000">
                                          <p:val>
                                            <p:strVal val="#ppt_x"/>
                                          </p:val>
                                        </p:tav>
                                      </p:tavLst>
                                    </p:anim>
                                  </p:childTnLst>
                                </p:cTn>
                              </p:par>
                              <p:par>
                                <p:cTn id="65" presetID="42" presetClass="entr" presetSubtype="0" fill="hold" nodeType="withEffect">
                                  <p:stCondLst>
                                    <p:cond delay="60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ppt_x</p:attrName>
                                        </p:attrNameLst>
                                      </p:cBhvr>
                                      <p:tavLst>
                                        <p:tav tm="0">
                                          <p:val>
                                            <p:strVal val="#ppt_x-0.05"/>
                                          </p:val>
                                        </p:tav>
                                        <p:tav tm="100000">
                                          <p:val>
                                            <p:strVal val="#ppt_x"/>
                                          </p:val>
                                        </p:tav>
                                      </p:tavLst>
                                    </p:anim>
                                  </p:childTnLst>
                                </p:cTn>
                              </p:par>
                              <p:par>
                                <p:cTn id="69" presetID="42" presetClass="entr" presetSubtype="0" fill="hold" grpId="0" nodeType="withEffect">
                                  <p:stCondLst>
                                    <p:cond delay="60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ppt_x</p:attrName>
                                        </p:attrNameLst>
                                      </p:cBhvr>
                                      <p:tavLst>
                                        <p:tav tm="0">
                                          <p:val>
                                            <p:strVal val="#ppt_x-0.05"/>
                                          </p:val>
                                        </p:tav>
                                        <p:tav tm="100000">
                                          <p:val>
                                            <p:strVal val="#ppt_x"/>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grpId="0" nodeType="clickEffect">
                                  <p:stCondLst>
                                    <p:cond delay="0"/>
                                  </p:stCondLst>
                                  <p:childTnLst>
                                    <p:set>
                                      <p:cBhvr>
                                        <p:cTn id="76" dur="1" fill="hold">
                                          <p:stCondLst>
                                            <p:cond delay="0"/>
                                          </p:stCondLst>
                                        </p:cTn>
                                        <p:tgtEl>
                                          <p:spTgt spid="118"/>
                                        </p:tgtEl>
                                        <p:attrNameLst>
                                          <p:attrName>style.visibility</p:attrName>
                                        </p:attrNameLst>
                                      </p:cBhvr>
                                      <p:to>
                                        <p:strVal val="visible"/>
                                      </p:to>
                                    </p:set>
                                    <p:animEffect transition="in" filter="fade">
                                      <p:cBhvr>
                                        <p:cTn id="77" dur="500"/>
                                        <p:tgtEl>
                                          <p:spTgt spid="118"/>
                                        </p:tgtEl>
                                      </p:cBhvr>
                                    </p:animEffect>
                                    <p:anim calcmode="lin" valueType="num">
                                      <p:cBhvr additive="base">
                                        <p:cTn id="78" dur="500" decel="100000" fill="hold"/>
                                        <p:tgtEl>
                                          <p:spTgt spid="118"/>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19"/>
                                        </p:tgtEl>
                                        <p:attrNameLst>
                                          <p:attrName>style.visibility</p:attrName>
                                        </p:attrNameLst>
                                      </p:cBhvr>
                                      <p:to>
                                        <p:strVal val="visible"/>
                                      </p:to>
                                    </p:set>
                                    <p:animEffect transition="in" filter="fade">
                                      <p:cBhvr>
                                        <p:cTn id="81" dur="500"/>
                                        <p:tgtEl>
                                          <p:spTgt spid="119"/>
                                        </p:tgtEl>
                                      </p:cBhvr>
                                    </p:animEffect>
                                    <p:anim calcmode="lin" valueType="num">
                                      <p:cBhvr additive="base">
                                        <p:cTn id="82" dur="500" decel="100000" fill="hold"/>
                                        <p:tgtEl>
                                          <p:spTgt spid="119"/>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120"/>
                                  </p:stCondLst>
                                  <p:childTnLst>
                                    <p:set>
                                      <p:cBhvr>
                                        <p:cTn id="84" dur="1" fill="hold">
                                          <p:stCondLst>
                                            <p:cond delay="0"/>
                                          </p:stCondLst>
                                        </p:cTn>
                                        <p:tgtEl>
                                          <p:spTgt spid="120"/>
                                        </p:tgtEl>
                                        <p:attrNameLst>
                                          <p:attrName>style.visibility</p:attrName>
                                        </p:attrNameLst>
                                      </p:cBhvr>
                                      <p:to>
                                        <p:strVal val="visible"/>
                                      </p:to>
                                    </p:set>
                                    <p:animEffect transition="in" filter="fade">
                                      <p:cBhvr>
                                        <p:cTn id="85" dur="500"/>
                                        <p:tgtEl>
                                          <p:spTgt spid="120"/>
                                        </p:tgtEl>
                                      </p:cBhvr>
                                    </p:animEffect>
                                    <p:anim calcmode="lin" valueType="num">
                                      <p:cBhvr additive="base">
                                        <p:cTn id="86" dur="500" decel="100000" fill="hold"/>
                                        <p:tgtEl>
                                          <p:spTgt spid="120"/>
                                        </p:tgtEl>
                                        <p:attrNameLst>
                                          <p:attrName>ppt_x</p:attrName>
                                        </p:attrNameLst>
                                      </p:cBhvr>
                                      <p:tavLst>
                                        <p:tav tm="0">
                                          <p:val>
                                            <p:strVal val="#ppt_x-0.05"/>
                                          </p:val>
                                        </p:tav>
                                        <p:tav tm="100000">
                                          <p:val>
                                            <p:strVal val="#ppt_x"/>
                                          </p:val>
                                        </p:tav>
                                      </p:tavLst>
                                    </p:anim>
                                  </p:childTnLst>
                                </p:cTn>
                              </p:par>
                              <p:par>
                                <p:cTn id="87" presetID="42" presetClass="entr" presetSubtype="0" fill="hold" nodeType="withEffect">
                                  <p:stCondLst>
                                    <p:cond delay="120"/>
                                  </p:stCondLst>
                                  <p:childTnLst>
                                    <p:set>
                                      <p:cBhvr>
                                        <p:cTn id="88" dur="1" fill="hold">
                                          <p:stCondLst>
                                            <p:cond delay="0"/>
                                          </p:stCondLst>
                                        </p:cTn>
                                        <p:tgtEl>
                                          <p:spTgt spid="121"/>
                                        </p:tgtEl>
                                        <p:attrNameLst>
                                          <p:attrName>style.visibility</p:attrName>
                                        </p:attrNameLst>
                                      </p:cBhvr>
                                      <p:to>
                                        <p:strVal val="visible"/>
                                      </p:to>
                                    </p:set>
                                    <p:animEffect transition="in" filter="fade">
                                      <p:cBhvr>
                                        <p:cTn id="89" dur="500"/>
                                        <p:tgtEl>
                                          <p:spTgt spid="121"/>
                                        </p:tgtEl>
                                      </p:cBhvr>
                                    </p:animEffect>
                                    <p:anim calcmode="lin" valueType="num">
                                      <p:cBhvr additive="base">
                                        <p:cTn id="90" dur="500" decel="100000" fill="hold"/>
                                        <p:tgtEl>
                                          <p:spTgt spid="121"/>
                                        </p:tgtEl>
                                        <p:attrNameLst>
                                          <p:attrName>ppt_x</p:attrName>
                                        </p:attrNameLst>
                                      </p:cBhvr>
                                      <p:tavLst>
                                        <p:tav tm="0">
                                          <p:val>
                                            <p:strVal val="#ppt_x-0.05"/>
                                          </p:val>
                                        </p:tav>
                                        <p:tav tm="100000">
                                          <p:val>
                                            <p:strVal val="#ppt_x"/>
                                          </p:val>
                                        </p:tav>
                                      </p:tavLst>
                                    </p:anim>
                                  </p:childTnLst>
                                </p:cTn>
                              </p:par>
                              <p:par>
                                <p:cTn id="91" presetID="42" presetClass="entr" presetSubtype="0" fill="hold" grpId="0" nodeType="withEffect">
                                  <p:stCondLst>
                                    <p:cond delay="120"/>
                                  </p:stCondLst>
                                  <p:childTnLst>
                                    <p:set>
                                      <p:cBhvr>
                                        <p:cTn id="92" dur="1" fill="hold">
                                          <p:stCondLst>
                                            <p:cond delay="0"/>
                                          </p:stCondLst>
                                        </p:cTn>
                                        <p:tgtEl>
                                          <p:spTgt spid="122"/>
                                        </p:tgtEl>
                                        <p:attrNameLst>
                                          <p:attrName>style.visibility</p:attrName>
                                        </p:attrNameLst>
                                      </p:cBhvr>
                                      <p:to>
                                        <p:strVal val="visible"/>
                                      </p:to>
                                    </p:set>
                                    <p:animEffect transition="in" filter="fade">
                                      <p:cBhvr>
                                        <p:cTn id="93" dur="500"/>
                                        <p:tgtEl>
                                          <p:spTgt spid="122"/>
                                        </p:tgtEl>
                                      </p:cBhvr>
                                    </p:animEffect>
                                    <p:anim calcmode="lin" valueType="num">
                                      <p:cBhvr additive="base">
                                        <p:cTn id="94" dur="500" decel="100000" fill="hold"/>
                                        <p:tgtEl>
                                          <p:spTgt spid="122"/>
                                        </p:tgtEl>
                                        <p:attrNameLst>
                                          <p:attrName>ppt_x</p:attrName>
                                        </p:attrNameLst>
                                      </p:cBhvr>
                                      <p:tavLst>
                                        <p:tav tm="0">
                                          <p:val>
                                            <p:strVal val="#ppt_x-0.05"/>
                                          </p:val>
                                        </p:tav>
                                        <p:tav tm="100000">
                                          <p:val>
                                            <p:strVal val="#ppt_x"/>
                                          </p:val>
                                        </p:tav>
                                      </p:tavLst>
                                    </p:anim>
                                  </p:childTnLst>
                                </p:cTn>
                              </p:par>
                              <p:par>
                                <p:cTn id="95" presetID="42" presetClass="entr" presetSubtype="0" fill="hold" grpId="0" nodeType="withEffect">
                                  <p:stCondLst>
                                    <p:cond delay="240"/>
                                  </p:stCondLst>
                                  <p:childTnLst>
                                    <p:set>
                                      <p:cBhvr>
                                        <p:cTn id="96" dur="1" fill="hold">
                                          <p:stCondLst>
                                            <p:cond delay="0"/>
                                          </p:stCondLst>
                                        </p:cTn>
                                        <p:tgtEl>
                                          <p:spTgt spid="123"/>
                                        </p:tgtEl>
                                        <p:attrNameLst>
                                          <p:attrName>style.visibility</p:attrName>
                                        </p:attrNameLst>
                                      </p:cBhvr>
                                      <p:to>
                                        <p:strVal val="visible"/>
                                      </p:to>
                                    </p:set>
                                    <p:animEffect transition="in" filter="fade">
                                      <p:cBhvr>
                                        <p:cTn id="97" dur="500"/>
                                        <p:tgtEl>
                                          <p:spTgt spid="123"/>
                                        </p:tgtEl>
                                      </p:cBhvr>
                                    </p:animEffect>
                                    <p:anim calcmode="lin" valueType="num">
                                      <p:cBhvr additive="base">
                                        <p:cTn id="98" dur="500" decel="100000" fill="hold"/>
                                        <p:tgtEl>
                                          <p:spTgt spid="123"/>
                                        </p:tgtEl>
                                        <p:attrNameLst>
                                          <p:attrName>ppt_x</p:attrName>
                                        </p:attrNameLst>
                                      </p:cBhvr>
                                      <p:tavLst>
                                        <p:tav tm="0">
                                          <p:val>
                                            <p:strVal val="#ppt_x-0.05"/>
                                          </p:val>
                                        </p:tav>
                                        <p:tav tm="100000">
                                          <p:val>
                                            <p:strVal val="#ppt_x"/>
                                          </p:val>
                                        </p:tav>
                                      </p:tavLst>
                                    </p:anim>
                                  </p:childTnLst>
                                </p:cTn>
                              </p:par>
                              <p:par>
                                <p:cTn id="99" presetID="42" presetClass="entr" presetSubtype="0" fill="hold" nodeType="withEffect">
                                  <p:stCondLst>
                                    <p:cond delay="240"/>
                                  </p:stCondLst>
                                  <p:childTnLst>
                                    <p:set>
                                      <p:cBhvr>
                                        <p:cTn id="100" dur="1" fill="hold">
                                          <p:stCondLst>
                                            <p:cond delay="0"/>
                                          </p:stCondLst>
                                        </p:cTn>
                                        <p:tgtEl>
                                          <p:spTgt spid="124"/>
                                        </p:tgtEl>
                                        <p:attrNameLst>
                                          <p:attrName>style.visibility</p:attrName>
                                        </p:attrNameLst>
                                      </p:cBhvr>
                                      <p:to>
                                        <p:strVal val="visible"/>
                                      </p:to>
                                    </p:set>
                                    <p:animEffect transition="in" filter="fade">
                                      <p:cBhvr>
                                        <p:cTn id="101" dur="500"/>
                                        <p:tgtEl>
                                          <p:spTgt spid="124"/>
                                        </p:tgtEl>
                                      </p:cBhvr>
                                    </p:animEffect>
                                    <p:anim calcmode="lin" valueType="num">
                                      <p:cBhvr additive="base">
                                        <p:cTn id="102" dur="500" decel="100000" fill="hold"/>
                                        <p:tgtEl>
                                          <p:spTgt spid="124"/>
                                        </p:tgtEl>
                                        <p:attrNameLst>
                                          <p:attrName>ppt_x</p:attrName>
                                        </p:attrNameLst>
                                      </p:cBhvr>
                                      <p:tavLst>
                                        <p:tav tm="0">
                                          <p:val>
                                            <p:strVal val="#ppt_x-0.05"/>
                                          </p:val>
                                        </p:tav>
                                        <p:tav tm="100000">
                                          <p:val>
                                            <p:strVal val="#ppt_x"/>
                                          </p:val>
                                        </p:tav>
                                      </p:tavLst>
                                    </p:anim>
                                  </p:childTnLst>
                                </p:cTn>
                              </p:par>
                              <p:par>
                                <p:cTn id="103" presetID="42" presetClass="entr" presetSubtype="0" fill="hold" grpId="0" nodeType="withEffect">
                                  <p:stCondLst>
                                    <p:cond delay="240"/>
                                  </p:stCondLst>
                                  <p:childTnLst>
                                    <p:set>
                                      <p:cBhvr>
                                        <p:cTn id="104" dur="1" fill="hold">
                                          <p:stCondLst>
                                            <p:cond delay="0"/>
                                          </p:stCondLst>
                                        </p:cTn>
                                        <p:tgtEl>
                                          <p:spTgt spid="125"/>
                                        </p:tgtEl>
                                        <p:attrNameLst>
                                          <p:attrName>style.visibility</p:attrName>
                                        </p:attrNameLst>
                                      </p:cBhvr>
                                      <p:to>
                                        <p:strVal val="visible"/>
                                      </p:to>
                                    </p:set>
                                    <p:animEffect transition="in" filter="fade">
                                      <p:cBhvr>
                                        <p:cTn id="105" dur="500"/>
                                        <p:tgtEl>
                                          <p:spTgt spid="125"/>
                                        </p:tgtEl>
                                      </p:cBhvr>
                                    </p:animEffect>
                                    <p:anim calcmode="lin" valueType="num">
                                      <p:cBhvr additive="base">
                                        <p:cTn id="106" dur="500" decel="100000" fill="hold"/>
                                        <p:tgtEl>
                                          <p:spTgt spid="125"/>
                                        </p:tgtEl>
                                        <p:attrNameLst>
                                          <p:attrName>ppt_x</p:attrName>
                                        </p:attrNameLst>
                                      </p:cBhvr>
                                      <p:tavLst>
                                        <p:tav tm="0">
                                          <p:val>
                                            <p:strVal val="#ppt_x-0.05"/>
                                          </p:val>
                                        </p:tav>
                                        <p:tav tm="100000">
                                          <p:val>
                                            <p:strVal val="#ppt_x"/>
                                          </p:val>
                                        </p:tav>
                                      </p:tavLst>
                                    </p:anim>
                                  </p:childTnLst>
                                </p:cTn>
                              </p:par>
                              <p:par>
                                <p:cTn id="107" presetID="42" presetClass="entr" presetSubtype="0" fill="hold" grpId="0" nodeType="withEffect">
                                  <p:stCondLst>
                                    <p:cond delay="360"/>
                                  </p:stCondLst>
                                  <p:childTnLst>
                                    <p:set>
                                      <p:cBhvr>
                                        <p:cTn id="108" dur="1" fill="hold">
                                          <p:stCondLst>
                                            <p:cond delay="0"/>
                                          </p:stCondLst>
                                        </p:cTn>
                                        <p:tgtEl>
                                          <p:spTgt spid="126"/>
                                        </p:tgtEl>
                                        <p:attrNameLst>
                                          <p:attrName>style.visibility</p:attrName>
                                        </p:attrNameLst>
                                      </p:cBhvr>
                                      <p:to>
                                        <p:strVal val="visible"/>
                                      </p:to>
                                    </p:set>
                                    <p:animEffect transition="in" filter="fade">
                                      <p:cBhvr>
                                        <p:cTn id="109" dur="500"/>
                                        <p:tgtEl>
                                          <p:spTgt spid="126"/>
                                        </p:tgtEl>
                                      </p:cBhvr>
                                    </p:animEffect>
                                    <p:anim calcmode="lin" valueType="num">
                                      <p:cBhvr additive="base">
                                        <p:cTn id="110" dur="500" decel="100000" fill="hold"/>
                                        <p:tgtEl>
                                          <p:spTgt spid="126"/>
                                        </p:tgtEl>
                                        <p:attrNameLst>
                                          <p:attrName>ppt_x</p:attrName>
                                        </p:attrNameLst>
                                      </p:cBhvr>
                                      <p:tavLst>
                                        <p:tav tm="0">
                                          <p:val>
                                            <p:strVal val="#ppt_x-0.05"/>
                                          </p:val>
                                        </p:tav>
                                        <p:tav tm="100000">
                                          <p:val>
                                            <p:strVal val="#ppt_x"/>
                                          </p:val>
                                        </p:tav>
                                      </p:tavLst>
                                    </p:anim>
                                  </p:childTnLst>
                                </p:cTn>
                              </p:par>
                              <p:par>
                                <p:cTn id="111" presetID="42" presetClass="entr" presetSubtype="0" fill="hold" nodeType="withEffect">
                                  <p:stCondLst>
                                    <p:cond delay="360"/>
                                  </p:stCondLst>
                                  <p:childTnLst>
                                    <p:set>
                                      <p:cBhvr>
                                        <p:cTn id="112" dur="1" fill="hold">
                                          <p:stCondLst>
                                            <p:cond delay="0"/>
                                          </p:stCondLst>
                                        </p:cTn>
                                        <p:tgtEl>
                                          <p:spTgt spid="127"/>
                                        </p:tgtEl>
                                        <p:attrNameLst>
                                          <p:attrName>style.visibility</p:attrName>
                                        </p:attrNameLst>
                                      </p:cBhvr>
                                      <p:to>
                                        <p:strVal val="visible"/>
                                      </p:to>
                                    </p:set>
                                    <p:animEffect transition="in" filter="fade">
                                      <p:cBhvr>
                                        <p:cTn id="113" dur="500"/>
                                        <p:tgtEl>
                                          <p:spTgt spid="127"/>
                                        </p:tgtEl>
                                      </p:cBhvr>
                                    </p:animEffect>
                                    <p:anim calcmode="lin" valueType="num">
                                      <p:cBhvr additive="base">
                                        <p:cTn id="114" dur="500" decel="100000" fill="hold"/>
                                        <p:tgtEl>
                                          <p:spTgt spid="127"/>
                                        </p:tgtEl>
                                        <p:attrNameLst>
                                          <p:attrName>ppt_x</p:attrName>
                                        </p:attrNameLst>
                                      </p:cBhvr>
                                      <p:tavLst>
                                        <p:tav tm="0">
                                          <p:val>
                                            <p:strVal val="#ppt_x-0.05"/>
                                          </p:val>
                                        </p:tav>
                                        <p:tav tm="100000">
                                          <p:val>
                                            <p:strVal val="#ppt_x"/>
                                          </p:val>
                                        </p:tav>
                                      </p:tavLst>
                                    </p:anim>
                                  </p:childTnLst>
                                </p:cTn>
                              </p:par>
                              <p:par>
                                <p:cTn id="115" presetID="42" presetClass="entr" presetSubtype="0" fill="hold" grpId="0" nodeType="withEffect">
                                  <p:stCondLst>
                                    <p:cond delay="360"/>
                                  </p:stCondLst>
                                  <p:childTnLst>
                                    <p:set>
                                      <p:cBhvr>
                                        <p:cTn id="116" dur="1" fill="hold">
                                          <p:stCondLst>
                                            <p:cond delay="0"/>
                                          </p:stCondLst>
                                        </p:cTn>
                                        <p:tgtEl>
                                          <p:spTgt spid="128"/>
                                        </p:tgtEl>
                                        <p:attrNameLst>
                                          <p:attrName>style.visibility</p:attrName>
                                        </p:attrNameLst>
                                      </p:cBhvr>
                                      <p:to>
                                        <p:strVal val="visible"/>
                                      </p:to>
                                    </p:set>
                                    <p:animEffect transition="in" filter="fade">
                                      <p:cBhvr>
                                        <p:cTn id="117" dur="500"/>
                                        <p:tgtEl>
                                          <p:spTgt spid="128"/>
                                        </p:tgtEl>
                                      </p:cBhvr>
                                    </p:animEffect>
                                    <p:anim calcmode="lin" valueType="num">
                                      <p:cBhvr additive="base">
                                        <p:cTn id="118" dur="500" decel="100000" fill="hold"/>
                                        <p:tgtEl>
                                          <p:spTgt spid="128"/>
                                        </p:tgtEl>
                                        <p:attrNameLst>
                                          <p:attrName>ppt_x</p:attrName>
                                        </p:attrNameLst>
                                      </p:cBhvr>
                                      <p:tavLst>
                                        <p:tav tm="0">
                                          <p:val>
                                            <p:strVal val="#ppt_x-0.05"/>
                                          </p:val>
                                        </p:tav>
                                        <p:tav tm="100000">
                                          <p:val>
                                            <p:strVal val="#ppt_x"/>
                                          </p:val>
                                        </p:tav>
                                      </p:tavLst>
                                    </p:anim>
                                  </p:childTnLst>
                                </p:cTn>
                              </p:par>
                              <p:par>
                                <p:cTn id="119" presetID="42" presetClass="entr" presetSubtype="0" fill="hold" grpId="0" nodeType="withEffect">
                                  <p:stCondLst>
                                    <p:cond delay="480"/>
                                  </p:stCondLst>
                                  <p:childTnLst>
                                    <p:set>
                                      <p:cBhvr>
                                        <p:cTn id="120" dur="1" fill="hold">
                                          <p:stCondLst>
                                            <p:cond delay="0"/>
                                          </p:stCondLst>
                                        </p:cTn>
                                        <p:tgtEl>
                                          <p:spTgt spid="129"/>
                                        </p:tgtEl>
                                        <p:attrNameLst>
                                          <p:attrName>style.visibility</p:attrName>
                                        </p:attrNameLst>
                                      </p:cBhvr>
                                      <p:to>
                                        <p:strVal val="visible"/>
                                      </p:to>
                                    </p:set>
                                    <p:animEffect transition="in" filter="fade">
                                      <p:cBhvr>
                                        <p:cTn id="121" dur="500"/>
                                        <p:tgtEl>
                                          <p:spTgt spid="129"/>
                                        </p:tgtEl>
                                      </p:cBhvr>
                                    </p:animEffect>
                                    <p:anim calcmode="lin" valueType="num">
                                      <p:cBhvr additive="base">
                                        <p:cTn id="122" dur="500" decel="100000" fill="hold"/>
                                        <p:tgtEl>
                                          <p:spTgt spid="129"/>
                                        </p:tgtEl>
                                        <p:attrNameLst>
                                          <p:attrName>ppt_x</p:attrName>
                                        </p:attrNameLst>
                                      </p:cBhvr>
                                      <p:tavLst>
                                        <p:tav tm="0">
                                          <p:val>
                                            <p:strVal val="#ppt_x-0.05"/>
                                          </p:val>
                                        </p:tav>
                                        <p:tav tm="100000">
                                          <p:val>
                                            <p:strVal val="#ppt_x"/>
                                          </p:val>
                                        </p:tav>
                                      </p:tavLst>
                                    </p:anim>
                                  </p:childTnLst>
                                </p:cTn>
                              </p:par>
                              <p:par>
                                <p:cTn id="123" presetID="42" presetClass="entr" presetSubtype="0" fill="hold" nodeType="withEffect">
                                  <p:stCondLst>
                                    <p:cond delay="480"/>
                                  </p:stCondLst>
                                  <p:childTnLst>
                                    <p:set>
                                      <p:cBhvr>
                                        <p:cTn id="124" dur="1" fill="hold">
                                          <p:stCondLst>
                                            <p:cond delay="0"/>
                                          </p:stCondLst>
                                        </p:cTn>
                                        <p:tgtEl>
                                          <p:spTgt spid="130"/>
                                        </p:tgtEl>
                                        <p:attrNameLst>
                                          <p:attrName>style.visibility</p:attrName>
                                        </p:attrNameLst>
                                      </p:cBhvr>
                                      <p:to>
                                        <p:strVal val="visible"/>
                                      </p:to>
                                    </p:set>
                                    <p:animEffect transition="in" filter="fade">
                                      <p:cBhvr>
                                        <p:cTn id="125" dur="500"/>
                                        <p:tgtEl>
                                          <p:spTgt spid="130"/>
                                        </p:tgtEl>
                                      </p:cBhvr>
                                    </p:animEffect>
                                    <p:anim calcmode="lin" valueType="num">
                                      <p:cBhvr additive="base">
                                        <p:cTn id="126" dur="500" decel="100000" fill="hold"/>
                                        <p:tgtEl>
                                          <p:spTgt spid="130"/>
                                        </p:tgtEl>
                                        <p:attrNameLst>
                                          <p:attrName>ppt_x</p:attrName>
                                        </p:attrNameLst>
                                      </p:cBhvr>
                                      <p:tavLst>
                                        <p:tav tm="0">
                                          <p:val>
                                            <p:strVal val="#ppt_x-0.05"/>
                                          </p:val>
                                        </p:tav>
                                        <p:tav tm="100000">
                                          <p:val>
                                            <p:strVal val="#ppt_x"/>
                                          </p:val>
                                        </p:tav>
                                      </p:tavLst>
                                    </p:anim>
                                  </p:childTnLst>
                                </p:cTn>
                              </p:par>
                              <p:par>
                                <p:cTn id="127" presetID="42" presetClass="entr" presetSubtype="0" fill="hold" grpId="0" nodeType="withEffect">
                                  <p:stCondLst>
                                    <p:cond delay="480"/>
                                  </p:stCondLst>
                                  <p:childTnLst>
                                    <p:set>
                                      <p:cBhvr>
                                        <p:cTn id="128" dur="1" fill="hold">
                                          <p:stCondLst>
                                            <p:cond delay="0"/>
                                          </p:stCondLst>
                                        </p:cTn>
                                        <p:tgtEl>
                                          <p:spTgt spid="131"/>
                                        </p:tgtEl>
                                        <p:attrNameLst>
                                          <p:attrName>style.visibility</p:attrName>
                                        </p:attrNameLst>
                                      </p:cBhvr>
                                      <p:to>
                                        <p:strVal val="visible"/>
                                      </p:to>
                                    </p:set>
                                    <p:animEffect transition="in" filter="fade">
                                      <p:cBhvr>
                                        <p:cTn id="129" dur="500"/>
                                        <p:tgtEl>
                                          <p:spTgt spid="131"/>
                                        </p:tgtEl>
                                      </p:cBhvr>
                                    </p:animEffect>
                                    <p:anim calcmode="lin" valueType="num">
                                      <p:cBhvr additive="base">
                                        <p:cTn id="130" dur="500" decel="100000" fill="hold"/>
                                        <p:tgtEl>
                                          <p:spTgt spid="131"/>
                                        </p:tgtEl>
                                        <p:attrNameLst>
                                          <p:attrName>ppt_x</p:attrName>
                                        </p:attrNameLst>
                                      </p:cBhvr>
                                      <p:tavLst>
                                        <p:tav tm="0">
                                          <p:val>
                                            <p:strVal val="#ppt_x-0.05"/>
                                          </p:val>
                                        </p:tav>
                                        <p:tav tm="100000">
                                          <p:val>
                                            <p:strVal val="#ppt_x"/>
                                          </p:val>
                                        </p:tav>
                                      </p:tavLst>
                                    </p:anim>
                                  </p:childTnLst>
                                </p:cTn>
                              </p:par>
                              <p:par>
                                <p:cTn id="131" presetID="42" presetClass="entr" presetSubtype="0" fill="hold" grpId="0" nodeType="withEffect">
                                  <p:stCondLst>
                                    <p:cond delay="600"/>
                                  </p:stCondLst>
                                  <p:childTnLst>
                                    <p:set>
                                      <p:cBhvr>
                                        <p:cTn id="132" dur="1" fill="hold">
                                          <p:stCondLst>
                                            <p:cond delay="0"/>
                                          </p:stCondLst>
                                        </p:cTn>
                                        <p:tgtEl>
                                          <p:spTgt spid="132"/>
                                        </p:tgtEl>
                                        <p:attrNameLst>
                                          <p:attrName>style.visibility</p:attrName>
                                        </p:attrNameLst>
                                      </p:cBhvr>
                                      <p:to>
                                        <p:strVal val="visible"/>
                                      </p:to>
                                    </p:set>
                                    <p:animEffect transition="in" filter="fade">
                                      <p:cBhvr>
                                        <p:cTn id="133" dur="500"/>
                                        <p:tgtEl>
                                          <p:spTgt spid="132"/>
                                        </p:tgtEl>
                                      </p:cBhvr>
                                    </p:animEffect>
                                    <p:anim calcmode="lin" valueType="num">
                                      <p:cBhvr additive="base">
                                        <p:cTn id="134" dur="500" decel="100000" fill="hold"/>
                                        <p:tgtEl>
                                          <p:spTgt spid="132"/>
                                        </p:tgtEl>
                                        <p:attrNameLst>
                                          <p:attrName>ppt_x</p:attrName>
                                        </p:attrNameLst>
                                      </p:cBhvr>
                                      <p:tavLst>
                                        <p:tav tm="0">
                                          <p:val>
                                            <p:strVal val="#ppt_x-0.05"/>
                                          </p:val>
                                        </p:tav>
                                        <p:tav tm="100000">
                                          <p:val>
                                            <p:strVal val="#ppt_x"/>
                                          </p:val>
                                        </p:tav>
                                      </p:tavLst>
                                    </p:anim>
                                  </p:childTnLst>
                                </p:cTn>
                              </p:par>
                              <p:par>
                                <p:cTn id="135" presetID="42" presetClass="entr" presetSubtype="0" fill="hold" nodeType="withEffect">
                                  <p:stCondLst>
                                    <p:cond delay="600"/>
                                  </p:stCondLst>
                                  <p:childTnLst>
                                    <p:set>
                                      <p:cBhvr>
                                        <p:cTn id="136" dur="1" fill="hold">
                                          <p:stCondLst>
                                            <p:cond delay="0"/>
                                          </p:stCondLst>
                                        </p:cTn>
                                        <p:tgtEl>
                                          <p:spTgt spid="133"/>
                                        </p:tgtEl>
                                        <p:attrNameLst>
                                          <p:attrName>style.visibility</p:attrName>
                                        </p:attrNameLst>
                                      </p:cBhvr>
                                      <p:to>
                                        <p:strVal val="visible"/>
                                      </p:to>
                                    </p:set>
                                    <p:animEffect transition="in" filter="fade">
                                      <p:cBhvr>
                                        <p:cTn id="137" dur="500"/>
                                        <p:tgtEl>
                                          <p:spTgt spid="133"/>
                                        </p:tgtEl>
                                      </p:cBhvr>
                                    </p:animEffect>
                                    <p:anim calcmode="lin" valueType="num">
                                      <p:cBhvr additive="base">
                                        <p:cTn id="138" dur="500" decel="100000" fill="hold"/>
                                        <p:tgtEl>
                                          <p:spTgt spid="133"/>
                                        </p:tgtEl>
                                        <p:attrNameLst>
                                          <p:attrName>ppt_x</p:attrName>
                                        </p:attrNameLst>
                                      </p:cBhvr>
                                      <p:tavLst>
                                        <p:tav tm="0">
                                          <p:val>
                                            <p:strVal val="#ppt_x-0.05"/>
                                          </p:val>
                                        </p:tav>
                                        <p:tav tm="100000">
                                          <p:val>
                                            <p:strVal val="#ppt_x"/>
                                          </p:val>
                                        </p:tav>
                                      </p:tavLst>
                                    </p:anim>
                                  </p:childTnLst>
                                </p:cTn>
                              </p:par>
                              <p:par>
                                <p:cTn id="139" presetID="42" presetClass="entr" presetSubtype="0" fill="hold" grpId="0" nodeType="withEffect">
                                  <p:stCondLst>
                                    <p:cond delay="600"/>
                                  </p:stCondLst>
                                  <p:childTnLst>
                                    <p:set>
                                      <p:cBhvr>
                                        <p:cTn id="140" dur="1" fill="hold">
                                          <p:stCondLst>
                                            <p:cond delay="0"/>
                                          </p:stCondLst>
                                        </p:cTn>
                                        <p:tgtEl>
                                          <p:spTgt spid="134"/>
                                        </p:tgtEl>
                                        <p:attrNameLst>
                                          <p:attrName>style.visibility</p:attrName>
                                        </p:attrNameLst>
                                      </p:cBhvr>
                                      <p:to>
                                        <p:strVal val="visible"/>
                                      </p:to>
                                    </p:set>
                                    <p:animEffect transition="in" filter="fade">
                                      <p:cBhvr>
                                        <p:cTn id="141" dur="500"/>
                                        <p:tgtEl>
                                          <p:spTgt spid="134"/>
                                        </p:tgtEl>
                                      </p:cBhvr>
                                    </p:animEffect>
                                    <p:anim calcmode="lin" valueType="num">
                                      <p:cBhvr additive="base">
                                        <p:cTn id="142" dur="500" decel="100000" fill="hold"/>
                                        <p:tgtEl>
                                          <p:spTgt spid="134"/>
                                        </p:tgtEl>
                                        <p:attrNameLst>
                                          <p:attrName>ppt_x</p:attrName>
                                        </p:attrNameLst>
                                      </p:cBhvr>
                                      <p:tavLst>
                                        <p:tav tm="0">
                                          <p:val>
                                            <p:strVal val="#ppt_x-0.05"/>
                                          </p:val>
                                        </p:tav>
                                        <p:tav tm="100000">
                                          <p:val>
                                            <p:strVal val="#ppt_x"/>
                                          </p:val>
                                        </p:tav>
                                      </p:tavLst>
                                    </p:anim>
                                  </p:childTnLst>
                                </p:cTn>
                              </p:par>
                            </p:childTnLst>
                          </p:cTn>
                        </p:par>
                      </p:childTnLst>
                    </p:cTn>
                  </p:par>
                  <p:par>
                    <p:cTn id="143" fill="hold">
                      <p:stCondLst>
                        <p:cond delay="indefinite"/>
                      </p:stCondLst>
                      <p:childTnLst>
                        <p:par>
                          <p:cTn id="144" fill="hold">
                            <p:stCondLst>
                              <p:cond delay="0"/>
                            </p:stCondLst>
                            <p:childTnLst>
                              <p:par>
                                <p:cTn id="145" presetID="42" presetClass="entr" presetSubtype="0" fill="hold" grpId="0" nodeType="clickEffect">
                                  <p:stCondLst>
                                    <p:cond delay="0"/>
                                  </p:stCondLst>
                                  <p:childTnLst>
                                    <p:set>
                                      <p:cBhvr>
                                        <p:cTn id="146" dur="1" fill="hold">
                                          <p:stCondLst>
                                            <p:cond delay="0"/>
                                          </p:stCondLst>
                                        </p:cTn>
                                        <p:tgtEl>
                                          <p:spTgt spid="135"/>
                                        </p:tgtEl>
                                        <p:attrNameLst>
                                          <p:attrName>style.visibility</p:attrName>
                                        </p:attrNameLst>
                                      </p:cBhvr>
                                      <p:to>
                                        <p:strVal val="visible"/>
                                      </p:to>
                                    </p:set>
                                    <p:animEffect transition="in" filter="fade">
                                      <p:cBhvr>
                                        <p:cTn id="147" dur="500"/>
                                        <p:tgtEl>
                                          <p:spTgt spid="135"/>
                                        </p:tgtEl>
                                      </p:cBhvr>
                                    </p:animEffect>
                                    <p:anim calcmode="lin" valueType="num">
                                      <p:cBhvr additive="base">
                                        <p:cTn id="148" dur="500" decel="100000" fill="hold"/>
                                        <p:tgtEl>
                                          <p:spTgt spid="135"/>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5" grpId="0" animBg="1"/>
      <p:bldP spid="106" grpId="0" animBg="1"/>
      <p:bldP spid="108" grpId="0" animBg="1"/>
      <p:bldP spid="109" grpId="0" animBg="1"/>
      <p:bldP spid="111" grpId="0" animBg="1"/>
      <p:bldP spid="112" grpId="0" animBg="1"/>
      <p:bldP spid="114" grpId="0" animBg="1"/>
      <p:bldP spid="115" grpId="0" animBg="1"/>
      <p:bldP spid="117" grpId="0" animBg="1"/>
      <p:bldP spid="118" grpId="0" animBg="1"/>
      <p:bldP spid="119" grpId="0" animBg="1"/>
      <p:bldP spid="120" grpId="0" animBg="1"/>
      <p:bldP spid="122" grpId="0" animBg="1"/>
      <p:bldP spid="123" grpId="0" animBg="1"/>
      <p:bldP spid="125" grpId="0" animBg="1"/>
      <p:bldP spid="126" grpId="0" animBg="1"/>
      <p:bldP spid="128" grpId="0" animBg="1"/>
      <p:bldP spid="129" grpId="0" animBg="1"/>
      <p:bldP spid="131" grpId="0" animBg="1"/>
      <p:bldP spid="132" grpId="0" animBg="1"/>
      <p:bldP spid="134" grpId="0" animBg="1"/>
      <p:bldP spid="13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IN A COMPANY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Where Tests Live in a Real Company</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Tests are part of every pull request, not an extra task at the end.</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WHY</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112</a:t>
            </a:r>
            <a:endParaRPr lang="en-US" sz="850" dirty="0"/>
          </a:p>
        </p:txBody>
      </p:sp>
      <p:sp>
        <p:nvSpPr>
          <p:cNvPr id="101" name="s101"/>
          <p:cNvSpPr/>
          <p:nvPr/>
        </p:nvSpPr>
        <p:spPr>
          <a:xfrm>
            <a:off x="543154" y="2011680"/>
            <a:ext cx="1828800" cy="594360"/>
          </a:xfrm>
          <a:prstGeom prst="roundRect">
            <a:avLst>
              <a:gd name="adj" fmla="val 30000"/>
            </a:avLst>
          </a:prstGeom>
          <a:solidFill>
            <a:srgbClr val="13D0F7">
              <a:alpha val="14000"/>
            </a:srgbClr>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Write code + tests</a:t>
            </a:r>
            <a:endParaRPr lang="en-US" sz="1250" dirty="0"/>
          </a:p>
        </p:txBody>
      </p:sp>
      <p:sp>
        <p:nvSpPr>
          <p:cNvPr id="102" name="s102"/>
          <p:cNvSpPr/>
          <p:nvPr/>
        </p:nvSpPr>
        <p:spPr>
          <a:xfrm>
            <a:off x="2856586" y="2011680"/>
            <a:ext cx="1828800" cy="594360"/>
          </a:xfrm>
          <a:prstGeom prst="roundRect">
            <a:avLst>
              <a:gd name="adj" fmla="val 30000"/>
            </a:avLst>
          </a:prstGeom>
          <a:solidFill>
            <a:srgbClr val="13D0F7">
              <a:alpha val="14000"/>
            </a:srgbClr>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Push a branch</a:t>
            </a:r>
            <a:endParaRPr lang="en-US" sz="1250" dirty="0"/>
          </a:p>
        </p:txBody>
      </p:sp>
      <p:cxnSp>
        <p:nvCxnSpPr>
          <p:cNvPr id="103" name="ln103"/>
          <p:cNvCxnSpPr/>
          <p:nvPr/>
        </p:nvCxnSpPr>
        <p:spPr>
          <a:xfrm>
            <a:off x="2408530" y="2308860"/>
            <a:ext cx="411480" cy="0"/>
          </a:xfrm>
          <a:prstGeom prst="line">
            <a:avLst/>
          </a:prstGeom>
          <a:ln w="19050">
            <a:solidFill>
              <a:srgbClr val="13D0F7"/>
            </a:solidFill>
            <a:tailEnd type="triangle" w="med" len="med"/>
          </a:ln>
        </p:spPr>
      </p:cxnSp>
      <p:sp>
        <p:nvSpPr>
          <p:cNvPr id="104" name="s104"/>
          <p:cNvSpPr/>
          <p:nvPr/>
        </p:nvSpPr>
        <p:spPr>
          <a:xfrm>
            <a:off x="5170018" y="2011680"/>
            <a:ext cx="1828800" cy="594360"/>
          </a:xfrm>
          <a:prstGeom prst="roundRect">
            <a:avLst>
              <a:gd name="adj" fmla="val 30000"/>
            </a:avLst>
          </a:prstGeom>
          <a:solidFill>
            <a:srgbClr val="13D0F7">
              <a:alpha val="14000"/>
            </a:srgbClr>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CI: dotnet test</a:t>
            </a:r>
            <a:endParaRPr lang="en-US" sz="1250" dirty="0"/>
          </a:p>
        </p:txBody>
      </p:sp>
      <p:cxnSp>
        <p:nvCxnSpPr>
          <p:cNvPr id="105" name="ln105"/>
          <p:cNvCxnSpPr/>
          <p:nvPr/>
        </p:nvCxnSpPr>
        <p:spPr>
          <a:xfrm>
            <a:off x="4721962" y="2308860"/>
            <a:ext cx="411480" cy="0"/>
          </a:xfrm>
          <a:prstGeom prst="line">
            <a:avLst/>
          </a:prstGeom>
          <a:ln w="19050">
            <a:solidFill>
              <a:srgbClr val="13D0F7"/>
            </a:solidFill>
            <a:tailEnd type="triangle" w="med" len="med"/>
          </a:ln>
        </p:spPr>
      </p:cxnSp>
      <p:sp>
        <p:nvSpPr>
          <p:cNvPr id="106" name="s106"/>
          <p:cNvSpPr/>
          <p:nvPr/>
        </p:nvSpPr>
        <p:spPr>
          <a:xfrm>
            <a:off x="7483450" y="2011680"/>
            <a:ext cx="1828800" cy="594360"/>
          </a:xfrm>
          <a:prstGeom prst="roundRect">
            <a:avLst>
              <a:gd name="adj" fmla="val 30000"/>
            </a:avLst>
          </a:prstGeom>
          <a:solidFill>
            <a:srgbClr val="13D0F7">
              <a:alpha val="14000"/>
            </a:srgbClr>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Code review</a:t>
            </a:r>
            <a:endParaRPr lang="en-US" sz="1250" dirty="0"/>
          </a:p>
        </p:txBody>
      </p:sp>
      <p:cxnSp>
        <p:nvCxnSpPr>
          <p:cNvPr id="107" name="ln107"/>
          <p:cNvCxnSpPr/>
          <p:nvPr/>
        </p:nvCxnSpPr>
        <p:spPr>
          <a:xfrm>
            <a:off x="7035394" y="2308860"/>
            <a:ext cx="411480" cy="0"/>
          </a:xfrm>
          <a:prstGeom prst="line">
            <a:avLst/>
          </a:prstGeom>
          <a:ln w="19050">
            <a:solidFill>
              <a:srgbClr val="13D0F7"/>
            </a:solidFill>
            <a:tailEnd type="triangle" w="med" len="med"/>
          </a:ln>
        </p:spPr>
      </p:cxnSp>
      <p:sp>
        <p:nvSpPr>
          <p:cNvPr id="108" name="s108"/>
          <p:cNvSpPr/>
          <p:nvPr/>
        </p:nvSpPr>
        <p:spPr>
          <a:xfrm>
            <a:off x="9796882" y="2011680"/>
            <a:ext cx="1828800" cy="594360"/>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Merge</a:t>
            </a:r>
            <a:endParaRPr lang="en-US" sz="1250" dirty="0"/>
          </a:p>
        </p:txBody>
      </p:sp>
      <p:cxnSp>
        <p:nvCxnSpPr>
          <p:cNvPr id="109" name="ln109"/>
          <p:cNvCxnSpPr/>
          <p:nvPr/>
        </p:nvCxnSpPr>
        <p:spPr>
          <a:xfrm>
            <a:off x="9348826" y="2308860"/>
            <a:ext cx="411480" cy="0"/>
          </a:xfrm>
          <a:prstGeom prst="line">
            <a:avLst/>
          </a:prstGeom>
          <a:ln w="19050">
            <a:solidFill>
              <a:srgbClr val="34D399"/>
            </a:solidFill>
            <a:tailEnd type="triangle" w="med" len="med"/>
          </a:ln>
        </p:spPr>
      </p:cxnSp>
      <p:sp>
        <p:nvSpPr>
          <p:cNvPr id="110" name="s110"/>
          <p:cNvSpPr/>
          <p:nvPr/>
        </p:nvSpPr>
        <p:spPr>
          <a:xfrm>
            <a:off x="5170018" y="2788920"/>
            <a:ext cx="1828800" cy="502920"/>
          </a:xfrm>
          <a:prstGeom prst="roundRect">
            <a:avLst>
              <a:gd name="adj" fmla="val 20000"/>
            </a:avLst>
          </a:prstGeom>
          <a:solidFill>
            <a:srgbClr val="F87171">
              <a:alpha val="14000"/>
            </a:srgbClr>
          </a:solidFill>
          <a:ln w="12700">
            <a:solidFill>
              <a:srgbClr val="F87171"/>
            </a:solidFill>
            <a:prstDash val="solid"/>
          </a:ln>
        </p:spPr>
        <p:txBody>
          <a:bodyPr wrap="square" lIns="164592" tIns="109728" rIns="137160" bIns="91440" rtlCol="0" anchor="ctr">
            <a:noAutofit/>
          </a:bodyPr>
          <a:lstStyle/>
          <a:p>
            <a:pPr marL="0" indent="0" algn="ctr">
              <a:spcBef>
                <a:spcPts val="0"/>
              </a:spcBef>
              <a:spcAft>
                <a:spcPts val="0"/>
              </a:spcAft>
              <a:buNone/>
            </a:pPr>
            <a:r>
              <a:rPr lang="en-US" sz="1200" b="1" dirty="0">
                <a:solidFill>
                  <a:srgbClr val="F87171"/>
                </a:solidFill>
                <a:latin typeface="Segoe UI"/>
                <a:ea typeface="Segoe UI"/>
                <a:cs typeface="Segoe UI"/>
              </a:rPr>
              <a:t>✗ red → blocked</a:t>
            </a:r>
            <a:endParaRPr lang="en-US" sz="1200" dirty="0"/>
          </a:p>
        </p:txBody>
      </p:sp>
      <p:cxnSp>
        <p:nvCxnSpPr>
          <p:cNvPr id="111" name="ln111"/>
          <p:cNvCxnSpPr/>
          <p:nvPr/>
        </p:nvCxnSpPr>
        <p:spPr>
          <a:xfrm flipH="1">
            <a:off x="1457554" y="3310128"/>
            <a:ext cx="4626864" cy="0"/>
          </a:xfrm>
          <a:prstGeom prst="line">
            <a:avLst/>
          </a:prstGeom>
          <a:ln w="19050">
            <a:solidFill>
              <a:srgbClr val="F87171"/>
            </a:solidFill>
            <a:prstDash val="dash"/>
            <a:tailEnd type="triangle" w="med" len="med"/>
          </a:ln>
        </p:spPr>
      </p:cxnSp>
      <p:sp>
        <p:nvSpPr>
          <p:cNvPr id="112" name="s112"/>
          <p:cNvSpPr txBox="1"/>
          <p:nvPr/>
        </p:nvSpPr>
        <p:spPr>
          <a:xfrm>
            <a:off x="1640434" y="3364992"/>
            <a:ext cx="36576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0" dirty="0">
                <a:solidFill>
                  <a:srgbClr val="F87171"/>
                </a:solidFill>
                <a:latin typeface="Segoe UI"/>
                <a:ea typeface="Segoe UI"/>
                <a:cs typeface="Segoe UI"/>
              </a:rPr>
              <a:t>fix it before anyone reviews</a:t>
            </a:r>
            <a:endParaRPr lang="en-US" sz="1050" dirty="0"/>
          </a:p>
        </p:txBody>
      </p:sp>
      <p:sp>
        <p:nvSpPr>
          <p:cNvPr id="113" name="s113"/>
          <p:cNvSpPr/>
          <p:nvPr/>
        </p:nvSpPr>
        <p:spPr>
          <a:xfrm>
            <a:off x="543154" y="3931920"/>
            <a:ext cx="3543605" cy="1508760"/>
          </a:xfrm>
          <a:prstGeom prst="roundRect">
            <a:avLst>
              <a:gd name="adj" fmla="val 10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14" name="s114"/>
          <p:cNvSpPr/>
          <p:nvPr/>
        </p:nvSpPr>
        <p:spPr>
          <a:xfrm>
            <a:off x="771754" y="4114800"/>
            <a:ext cx="502920" cy="50292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892454" y="4235501"/>
            <a:ext cx="261518" cy="261518"/>
          </a:xfrm>
          <a:prstGeom prst="rect">
            <a:avLst/>
          </a:prstGeom>
        </p:spPr>
      </p:pic>
      <p:sp>
        <p:nvSpPr>
          <p:cNvPr id="116" name="s116"/>
          <p:cNvSpPr txBox="1"/>
          <p:nvPr/>
        </p:nvSpPr>
        <p:spPr>
          <a:xfrm>
            <a:off x="1411834" y="4114800"/>
            <a:ext cx="2537765"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13D0F7"/>
                </a:solidFill>
                <a:latin typeface="Segoe UI"/>
                <a:ea typeface="Segoe UI"/>
                <a:cs typeface="Segoe UI"/>
              </a:rPr>
              <a:t>New rule → new tests</a:t>
            </a:r>
            <a:endParaRPr lang="en-US" sz="1400" dirty="0"/>
          </a:p>
        </p:txBody>
      </p:sp>
      <p:sp>
        <p:nvSpPr>
          <p:cNvPr id="117" name="s117"/>
          <p:cNvSpPr txBox="1"/>
          <p:nvPr/>
        </p:nvSpPr>
        <p:spPr>
          <a:xfrm>
            <a:off x="817474" y="4754880"/>
            <a:ext cx="3086405"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The PR shows the rule AND its tests.</a:t>
            </a:r>
            <a:endParaRPr lang="en-US" sz="1250" dirty="0"/>
          </a:p>
        </p:txBody>
      </p:sp>
      <p:sp>
        <p:nvSpPr>
          <p:cNvPr id="118" name="s118"/>
          <p:cNvSpPr/>
          <p:nvPr/>
        </p:nvSpPr>
        <p:spPr>
          <a:xfrm>
            <a:off x="4315358" y="3931920"/>
            <a:ext cx="3543605" cy="1508760"/>
          </a:xfrm>
          <a:prstGeom prst="roundRect">
            <a:avLst>
              <a:gd name="adj" fmla="val 10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19" name="s119"/>
          <p:cNvSpPr/>
          <p:nvPr/>
        </p:nvSpPr>
        <p:spPr>
          <a:xfrm>
            <a:off x="4543958" y="4114800"/>
            <a:ext cx="502920" cy="50292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0" name="img120"/>
          <p:cNvPicPr>
            <a:picLocks noChangeAspect="1"/>
          </p:cNvPicPr>
          <p:nvPr/>
        </p:nvPicPr>
        <p:blipFill>
          <a:blip r:embed="rId5"/>
          <a:stretch>
            <a:fillRect/>
          </a:stretch>
        </p:blipFill>
        <p:spPr>
          <a:xfrm>
            <a:off x="4664659" y="4235501"/>
            <a:ext cx="261518" cy="261518"/>
          </a:xfrm>
          <a:prstGeom prst="rect">
            <a:avLst/>
          </a:prstGeom>
        </p:spPr>
      </p:pic>
      <p:sp>
        <p:nvSpPr>
          <p:cNvPr id="121" name="s121"/>
          <p:cNvSpPr txBox="1"/>
          <p:nvPr/>
        </p:nvSpPr>
        <p:spPr>
          <a:xfrm>
            <a:off x="5184038" y="4114800"/>
            <a:ext cx="2537765"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87171"/>
                </a:solidFill>
                <a:latin typeface="Segoe UI"/>
                <a:ea typeface="Segoe UI"/>
                <a:cs typeface="Segoe UI"/>
              </a:rPr>
              <a:t>Bug fix → failing test first</a:t>
            </a:r>
            <a:endParaRPr lang="en-US" sz="1400" dirty="0"/>
          </a:p>
        </p:txBody>
      </p:sp>
      <p:sp>
        <p:nvSpPr>
          <p:cNvPr id="122" name="s122"/>
          <p:cNvSpPr txBox="1"/>
          <p:nvPr/>
        </p:nvSpPr>
        <p:spPr>
          <a:xfrm>
            <a:off x="4589678" y="4754880"/>
            <a:ext cx="3086405"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Reproduce the bug in a test, then fix it.</a:t>
            </a:r>
            <a:endParaRPr lang="en-US" sz="1250" dirty="0"/>
          </a:p>
        </p:txBody>
      </p:sp>
      <p:sp>
        <p:nvSpPr>
          <p:cNvPr id="123" name="s123"/>
          <p:cNvSpPr/>
          <p:nvPr/>
        </p:nvSpPr>
        <p:spPr>
          <a:xfrm>
            <a:off x="8087563" y="3931920"/>
            <a:ext cx="3543605" cy="1508760"/>
          </a:xfrm>
          <a:prstGeom prst="roundRect">
            <a:avLst>
              <a:gd name="adj" fmla="val 10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24" name="s124"/>
          <p:cNvSpPr/>
          <p:nvPr/>
        </p:nvSpPr>
        <p:spPr>
          <a:xfrm>
            <a:off x="8316163" y="4114800"/>
            <a:ext cx="502920" cy="50292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5" name="img125"/>
          <p:cNvPicPr>
            <a:picLocks noChangeAspect="1"/>
          </p:cNvPicPr>
          <p:nvPr/>
        </p:nvPicPr>
        <p:blipFill>
          <a:blip r:embed="rId6"/>
          <a:stretch>
            <a:fillRect/>
          </a:stretch>
        </p:blipFill>
        <p:spPr>
          <a:xfrm>
            <a:off x="8436864" y="4235501"/>
            <a:ext cx="261518" cy="261518"/>
          </a:xfrm>
          <a:prstGeom prst="rect">
            <a:avLst/>
          </a:prstGeom>
        </p:spPr>
      </p:pic>
      <p:sp>
        <p:nvSpPr>
          <p:cNvPr id="126" name="s126"/>
          <p:cNvSpPr txBox="1"/>
          <p:nvPr/>
        </p:nvSpPr>
        <p:spPr>
          <a:xfrm>
            <a:off x="8956243" y="4114800"/>
            <a:ext cx="2537765"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34D399"/>
                </a:solidFill>
                <a:latin typeface="Segoe UI"/>
                <a:ea typeface="Segoe UI"/>
                <a:cs typeface="Segoe UI"/>
              </a:rPr>
              <a:t>No green, no merge</a:t>
            </a:r>
            <a:endParaRPr lang="en-US" sz="1400" dirty="0"/>
          </a:p>
        </p:txBody>
      </p:sp>
      <p:sp>
        <p:nvSpPr>
          <p:cNvPr id="127" name="s127"/>
          <p:cNvSpPr txBox="1"/>
          <p:nvPr/>
        </p:nvSpPr>
        <p:spPr>
          <a:xfrm>
            <a:off x="8361883" y="4754880"/>
            <a:ext cx="3086405"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The pipeline protects the main branch.</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nodeType="withEffect">
                                  <p:stCondLst>
                                    <p:cond delay="20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anim calcmode="lin" valueType="num">
                                      <p:cBhvr additive="base">
                                        <p:cTn id="12" dur="500" decel="100000" fill="hold"/>
                                        <p:tgtEl>
                                          <p:spTgt spid="103"/>
                                        </p:tgtEl>
                                        <p:attrNameLst>
                                          <p:attrName>ppt_x</p:attrName>
                                        </p:attrNameLst>
                                      </p:cBhvr>
                                      <p:tavLst>
                                        <p:tav tm="0">
                                          <p:val>
                                            <p:strVal val="#ppt_x-0.05"/>
                                          </p:val>
                                        </p:tav>
                                        <p:tav tm="100000">
                                          <p:val>
                                            <p:strVal val="#ppt_x"/>
                                          </p:val>
                                        </p:tav>
                                      </p:tavLst>
                                    </p:anim>
                                  </p:childTnLst>
                                </p:cTn>
                              </p:par>
                              <p:par>
                                <p:cTn id="13" presetID="42" presetClass="entr" presetSubtype="0" fill="hold" grpId="0" nodeType="withEffect">
                                  <p:stCondLst>
                                    <p:cond delay="200"/>
                                  </p:stCondLst>
                                  <p:childTnLst>
                                    <p:set>
                                      <p:cBhvr>
                                        <p:cTn id="14" dur="1" fill="hold">
                                          <p:stCondLst>
                                            <p:cond delay="0"/>
                                          </p:stCondLst>
                                        </p:cTn>
                                        <p:tgtEl>
                                          <p:spTgt spid="102"/>
                                        </p:tgtEl>
                                        <p:attrNameLst>
                                          <p:attrName>style.visibility</p:attrName>
                                        </p:attrNameLst>
                                      </p:cBhvr>
                                      <p:to>
                                        <p:strVal val="visible"/>
                                      </p:to>
                                    </p:set>
                                    <p:animEffect transition="in" filter="fade">
                                      <p:cBhvr>
                                        <p:cTn id="15" dur="500"/>
                                        <p:tgtEl>
                                          <p:spTgt spid="102"/>
                                        </p:tgtEl>
                                      </p:cBhvr>
                                    </p:animEffect>
                                    <p:anim calcmode="lin" valueType="num">
                                      <p:cBhvr additive="base">
                                        <p:cTn id="16" dur="500" decel="100000" fill="hold"/>
                                        <p:tgtEl>
                                          <p:spTgt spid="102"/>
                                        </p:tgtEl>
                                        <p:attrNameLst>
                                          <p:attrName>ppt_x</p:attrName>
                                        </p:attrNameLst>
                                      </p:cBhvr>
                                      <p:tavLst>
                                        <p:tav tm="0">
                                          <p:val>
                                            <p:strVal val="#ppt_x-0.05"/>
                                          </p:val>
                                        </p:tav>
                                        <p:tav tm="100000">
                                          <p:val>
                                            <p:strVal val="#ppt_x"/>
                                          </p:val>
                                        </p:tav>
                                      </p:tavLst>
                                    </p:anim>
                                  </p:childTnLst>
                                </p:cTn>
                              </p:par>
                              <p:par>
                                <p:cTn id="17" presetID="42" presetClass="entr" presetSubtype="0" fill="hold" nodeType="withEffect">
                                  <p:stCondLst>
                                    <p:cond delay="40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400"/>
                                  </p:stCondLst>
                                  <p:childTnLst>
                                    <p:set>
                                      <p:cBhvr>
                                        <p:cTn id="22" dur="1" fill="hold">
                                          <p:stCondLst>
                                            <p:cond delay="0"/>
                                          </p:stCondLst>
                                        </p:cTn>
                                        <p:tgtEl>
                                          <p:spTgt spid="104"/>
                                        </p:tgtEl>
                                        <p:attrNameLst>
                                          <p:attrName>style.visibility</p:attrName>
                                        </p:attrNameLst>
                                      </p:cBhvr>
                                      <p:to>
                                        <p:strVal val="visible"/>
                                      </p:to>
                                    </p:set>
                                    <p:animEffect transition="in" filter="fade">
                                      <p:cBhvr>
                                        <p:cTn id="23" dur="500"/>
                                        <p:tgtEl>
                                          <p:spTgt spid="104"/>
                                        </p:tgtEl>
                                      </p:cBhvr>
                                    </p:animEffect>
                                    <p:anim calcmode="lin" valueType="num">
                                      <p:cBhvr additive="base">
                                        <p:cTn id="24" dur="500" decel="100000" fill="hold"/>
                                        <p:tgtEl>
                                          <p:spTgt spid="104"/>
                                        </p:tgtEl>
                                        <p:attrNameLst>
                                          <p:attrName>ppt_x</p:attrName>
                                        </p:attrNameLst>
                                      </p:cBhvr>
                                      <p:tavLst>
                                        <p:tav tm="0">
                                          <p:val>
                                            <p:strVal val="#ppt_x-0.05"/>
                                          </p:val>
                                        </p:tav>
                                        <p:tav tm="100000">
                                          <p:val>
                                            <p:strVal val="#ppt_x"/>
                                          </p:val>
                                        </p:tav>
                                      </p:tavLst>
                                    </p:anim>
                                  </p:childTnLst>
                                </p:cTn>
                              </p:par>
                              <p:par>
                                <p:cTn id="25" presetID="42" presetClass="entr" presetSubtype="0" fill="hold" nodeType="withEffect">
                                  <p:stCondLst>
                                    <p:cond delay="60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ppt_x</p:attrName>
                                        </p:attrNameLst>
                                      </p:cBhvr>
                                      <p:tavLst>
                                        <p:tav tm="0">
                                          <p:val>
                                            <p:strVal val="#ppt_x-0.05"/>
                                          </p:val>
                                        </p:tav>
                                        <p:tav tm="100000">
                                          <p:val>
                                            <p:strVal val="#ppt_x"/>
                                          </p:val>
                                        </p:tav>
                                      </p:tavLst>
                                    </p:anim>
                                  </p:childTnLst>
                                </p:cTn>
                              </p:par>
                              <p:par>
                                <p:cTn id="29" presetID="42" presetClass="entr" presetSubtype="0" fill="hold" grpId="0" nodeType="withEffect">
                                  <p:stCondLst>
                                    <p:cond delay="600"/>
                                  </p:stCondLst>
                                  <p:childTnLst>
                                    <p:set>
                                      <p:cBhvr>
                                        <p:cTn id="30" dur="1" fill="hold">
                                          <p:stCondLst>
                                            <p:cond delay="0"/>
                                          </p:stCondLst>
                                        </p:cTn>
                                        <p:tgtEl>
                                          <p:spTgt spid="106"/>
                                        </p:tgtEl>
                                        <p:attrNameLst>
                                          <p:attrName>style.visibility</p:attrName>
                                        </p:attrNameLst>
                                      </p:cBhvr>
                                      <p:to>
                                        <p:strVal val="visible"/>
                                      </p:to>
                                    </p:set>
                                    <p:animEffect transition="in" filter="fade">
                                      <p:cBhvr>
                                        <p:cTn id="31" dur="500"/>
                                        <p:tgtEl>
                                          <p:spTgt spid="106"/>
                                        </p:tgtEl>
                                      </p:cBhvr>
                                    </p:animEffect>
                                    <p:anim calcmode="lin" valueType="num">
                                      <p:cBhvr additive="base">
                                        <p:cTn id="32" dur="500" decel="100000" fill="hold"/>
                                        <p:tgtEl>
                                          <p:spTgt spid="106"/>
                                        </p:tgtEl>
                                        <p:attrNameLst>
                                          <p:attrName>ppt_x</p:attrName>
                                        </p:attrNameLst>
                                      </p:cBhvr>
                                      <p:tavLst>
                                        <p:tav tm="0">
                                          <p:val>
                                            <p:strVal val="#ppt_x-0.05"/>
                                          </p:val>
                                        </p:tav>
                                        <p:tav tm="100000">
                                          <p:val>
                                            <p:strVal val="#ppt_x"/>
                                          </p:val>
                                        </p:tav>
                                      </p:tavLst>
                                    </p:anim>
                                  </p:childTnLst>
                                </p:cTn>
                              </p:par>
                              <p:par>
                                <p:cTn id="33" presetID="42" presetClass="entr" presetSubtype="0" fill="hold" nodeType="withEffect">
                                  <p:stCondLst>
                                    <p:cond delay="80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ppt_x</p:attrName>
                                        </p:attrNameLst>
                                      </p:cBhvr>
                                      <p:tavLst>
                                        <p:tav tm="0">
                                          <p:val>
                                            <p:strVal val="#ppt_x-0.05"/>
                                          </p:val>
                                        </p:tav>
                                        <p:tav tm="100000">
                                          <p:val>
                                            <p:strVal val="#ppt_x"/>
                                          </p:val>
                                        </p:tav>
                                      </p:tavLst>
                                    </p:anim>
                                  </p:childTnLst>
                                </p:cTn>
                              </p:par>
                              <p:par>
                                <p:cTn id="37" presetID="42" presetClass="entr" presetSubtype="0" fill="hold" grpId="0" nodeType="withEffect">
                                  <p:stCondLst>
                                    <p:cond delay="800"/>
                                  </p:stCondLst>
                                  <p:childTnLst>
                                    <p:set>
                                      <p:cBhvr>
                                        <p:cTn id="38" dur="1" fill="hold">
                                          <p:stCondLst>
                                            <p:cond delay="0"/>
                                          </p:stCondLst>
                                        </p:cTn>
                                        <p:tgtEl>
                                          <p:spTgt spid="108"/>
                                        </p:tgtEl>
                                        <p:attrNameLst>
                                          <p:attrName>style.visibility</p:attrName>
                                        </p:attrNameLst>
                                      </p:cBhvr>
                                      <p:to>
                                        <p:strVal val="visible"/>
                                      </p:to>
                                    </p:set>
                                    <p:animEffect transition="in" filter="fade">
                                      <p:cBhvr>
                                        <p:cTn id="39" dur="500"/>
                                        <p:tgtEl>
                                          <p:spTgt spid="108"/>
                                        </p:tgtEl>
                                      </p:cBhvr>
                                    </p:animEffect>
                                    <p:anim calcmode="lin" valueType="num">
                                      <p:cBhvr additive="base">
                                        <p:cTn id="40" dur="500" decel="100000" fill="hold"/>
                                        <p:tgtEl>
                                          <p:spTgt spid="108"/>
                                        </p:tgtEl>
                                        <p:attrNameLst>
                                          <p:attrName>ppt_x</p:attrName>
                                        </p:attrNameLst>
                                      </p:cBhvr>
                                      <p:tavLst>
                                        <p:tav tm="0">
                                          <p:val>
                                            <p:strVal val="#ppt_x-0.05"/>
                                          </p:val>
                                        </p:tav>
                                        <p:tav tm="100000">
                                          <p:val>
                                            <p:strVal val="#ppt_x"/>
                                          </p:val>
                                        </p:tav>
                                      </p:tavLst>
                                    </p:anim>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110"/>
                                        </p:tgtEl>
                                        <p:attrNameLst>
                                          <p:attrName>style.visibility</p:attrName>
                                        </p:attrNameLst>
                                      </p:cBhvr>
                                      <p:to>
                                        <p:strVal val="visible"/>
                                      </p:to>
                                    </p:set>
                                    <p:anim calcmode="lin" valueType="num">
                                      <p:cBhvr additive="base">
                                        <p:cTn id="45" dur="500" decel="100000" fill="hold"/>
                                        <p:tgtEl>
                                          <p:spTgt spid="110"/>
                                        </p:tgtEl>
                                        <p:attrNameLst>
                                          <p:attrName>ppt_w</p:attrName>
                                        </p:attrNameLst>
                                      </p:cBhvr>
                                      <p:tavLst>
                                        <p:tav tm="0">
                                          <p:val>
                                            <p:strVal val="#ppt_w*0.3"/>
                                          </p:val>
                                        </p:tav>
                                        <p:tav tm="100000">
                                          <p:val>
                                            <p:strVal val="#ppt_w*1.08"/>
                                          </p:val>
                                        </p:tav>
                                      </p:tavLst>
                                    </p:anim>
                                    <p:anim calcmode="lin" valueType="num">
                                      <p:cBhvr additive="base">
                                        <p:cTn id="46" dur="500" decel="100000" fill="hold"/>
                                        <p:tgtEl>
                                          <p:spTgt spid="110"/>
                                        </p:tgtEl>
                                        <p:attrNameLst>
                                          <p:attrName>ppt_h</p:attrName>
                                        </p:attrNameLst>
                                      </p:cBhvr>
                                      <p:tavLst>
                                        <p:tav tm="0">
                                          <p:val>
                                            <p:strVal val="#ppt_h*0.3"/>
                                          </p:val>
                                        </p:tav>
                                        <p:tav tm="100000">
                                          <p:val>
                                            <p:strVal val="#ppt_h*1.08"/>
                                          </p:val>
                                        </p:tav>
                                      </p:tavLst>
                                    </p:anim>
                                    <p:animEffect transition="in" filter="fade">
                                      <p:cBhvr>
                                        <p:cTn id="47" dur="250"/>
                                        <p:tgtEl>
                                          <p:spTgt spid="110"/>
                                        </p:tgtEl>
                                      </p:cBhvr>
                                    </p:animEffect>
                                    <p:anim calcmode="lin" valueType="num">
                                      <p:cBhvr additive="base">
                                        <p:cTn id="48" dur="160" fill="hold">
                                          <p:stCondLst>
                                            <p:cond delay="500"/>
                                          </p:stCondLst>
                                        </p:cTn>
                                        <p:tgtEl>
                                          <p:spTgt spid="110"/>
                                        </p:tgtEl>
                                        <p:attrNameLst>
                                          <p:attrName>ppt_w</p:attrName>
                                        </p:attrNameLst>
                                      </p:cBhvr>
                                      <p:tavLst>
                                        <p:tav tm="0">
                                          <p:val>
                                            <p:strVal val="#ppt_w*1.08"/>
                                          </p:val>
                                        </p:tav>
                                        <p:tav tm="100000">
                                          <p:val>
                                            <p:strVal val="#ppt_w"/>
                                          </p:val>
                                        </p:tav>
                                      </p:tavLst>
                                    </p:anim>
                                    <p:anim calcmode="lin" valueType="num">
                                      <p:cBhvr additive="base">
                                        <p:cTn id="49" dur="160" fill="hold">
                                          <p:stCondLst>
                                            <p:cond delay="500"/>
                                          </p:stCondLst>
                                        </p:cTn>
                                        <p:tgtEl>
                                          <p:spTgt spid="110"/>
                                        </p:tgtEl>
                                        <p:attrNameLst>
                                          <p:attrName>ppt_h</p:attrName>
                                        </p:attrNameLst>
                                      </p:cBhvr>
                                      <p:tavLst>
                                        <p:tav tm="0">
                                          <p:val>
                                            <p:strVal val="#ppt_h*1.08"/>
                                          </p:val>
                                        </p:tav>
                                        <p:tav tm="100000">
                                          <p:val>
                                            <p:strVal val="#ppt_h"/>
                                          </p:val>
                                        </p:tav>
                                      </p:tavLst>
                                    </p:anim>
                                  </p:childTnLst>
                                </p:cTn>
                              </p:par>
                              <p:par>
                                <p:cTn id="50" presetID="22" presetClass="entr" presetSubtype="2" fill="hold" nodeType="withEffect">
                                  <p:stCondLst>
                                    <p:cond delay="200"/>
                                  </p:stCondLst>
                                  <p:childTnLst>
                                    <p:set>
                                      <p:cBhvr>
                                        <p:cTn id="51" dur="1" fill="hold">
                                          <p:stCondLst>
                                            <p:cond delay="0"/>
                                          </p:stCondLst>
                                        </p:cTn>
                                        <p:tgtEl>
                                          <p:spTgt spid="111"/>
                                        </p:tgtEl>
                                        <p:attrNameLst>
                                          <p:attrName>style.visibility</p:attrName>
                                        </p:attrNameLst>
                                      </p:cBhvr>
                                      <p:to>
                                        <p:strVal val="visible"/>
                                      </p:to>
                                    </p:set>
                                    <p:animEffect transition="in" filter="wipe(right)">
                                      <p:cBhvr>
                                        <p:cTn id="52" dur="500"/>
                                        <p:tgtEl>
                                          <p:spTgt spid="111"/>
                                        </p:tgtEl>
                                      </p:cBhvr>
                                    </p:animEffect>
                                  </p:childTnLst>
                                </p:cTn>
                              </p:par>
                              <p:par>
                                <p:cTn id="53" presetID="10" presetClass="entr" presetSubtype="0" fill="hold" grpId="0" nodeType="withEffect">
                                  <p:stCondLst>
                                    <p:cond delay="400"/>
                                  </p:stCondLst>
                                  <p:childTnLst>
                                    <p:set>
                                      <p:cBhvr>
                                        <p:cTn id="54" dur="1" fill="hold">
                                          <p:stCondLst>
                                            <p:cond delay="0"/>
                                          </p:stCondLst>
                                        </p:cTn>
                                        <p:tgtEl>
                                          <p:spTgt spid="112"/>
                                        </p:tgtEl>
                                        <p:attrNameLst>
                                          <p:attrName>style.visibility</p:attrName>
                                        </p:attrNameLst>
                                      </p:cBhvr>
                                      <p:to>
                                        <p:strVal val="visible"/>
                                      </p:to>
                                    </p:set>
                                    <p:animEffect transition="in" filter="fade">
                                      <p:cBhvr>
                                        <p:cTn id="55" dur="500"/>
                                        <p:tgtEl>
                                          <p:spTgt spid="112"/>
                                        </p:tgtEl>
                                      </p:cBhvr>
                                    </p:animEffect>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grpId="0" nodeType="clickEffect">
                                  <p:stCondLst>
                                    <p:cond delay="0"/>
                                  </p:stCondLst>
                                  <p:childTnLst>
                                    <p:set>
                                      <p:cBhvr>
                                        <p:cTn id="59" dur="1" fill="hold">
                                          <p:stCondLst>
                                            <p:cond delay="0"/>
                                          </p:stCondLst>
                                        </p:cTn>
                                        <p:tgtEl>
                                          <p:spTgt spid="113"/>
                                        </p:tgtEl>
                                        <p:attrNameLst>
                                          <p:attrName>style.visibility</p:attrName>
                                        </p:attrNameLst>
                                      </p:cBhvr>
                                      <p:to>
                                        <p:strVal val="visible"/>
                                      </p:to>
                                    </p:set>
                                    <p:animEffect transition="in" filter="fade">
                                      <p:cBhvr>
                                        <p:cTn id="60" dur="500"/>
                                        <p:tgtEl>
                                          <p:spTgt spid="113"/>
                                        </p:tgtEl>
                                      </p:cBhvr>
                                    </p:animEffect>
                                    <p:anim calcmode="lin" valueType="num">
                                      <p:cBhvr additive="base">
                                        <p:cTn id="61" dur="500" decel="100000" fill="hold"/>
                                        <p:tgtEl>
                                          <p:spTgt spid="113"/>
                                        </p:tgtEl>
                                        <p:attrNameLst>
                                          <p:attrName>ppt_y</p:attrName>
                                        </p:attrNameLst>
                                      </p:cBhvr>
                                      <p:tavLst>
                                        <p:tav tm="0">
                                          <p:val>
                                            <p:strVal val="#ppt_y+0.06"/>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114"/>
                                        </p:tgtEl>
                                        <p:attrNameLst>
                                          <p:attrName>style.visibility</p:attrName>
                                        </p:attrNameLst>
                                      </p:cBhvr>
                                      <p:to>
                                        <p:strVal val="visible"/>
                                      </p:to>
                                    </p:set>
                                    <p:animEffect transition="in" filter="fade">
                                      <p:cBhvr>
                                        <p:cTn id="64" dur="500"/>
                                        <p:tgtEl>
                                          <p:spTgt spid="114"/>
                                        </p:tgtEl>
                                      </p:cBhvr>
                                    </p:animEffect>
                                    <p:anim calcmode="lin" valueType="num">
                                      <p:cBhvr additive="base">
                                        <p:cTn id="65" dur="500" decel="100000" fill="hold"/>
                                        <p:tgtEl>
                                          <p:spTgt spid="114"/>
                                        </p:tgtEl>
                                        <p:attrNameLst>
                                          <p:attrName>ppt_y</p:attrName>
                                        </p:attrNameLst>
                                      </p:cBhvr>
                                      <p:tavLst>
                                        <p:tav tm="0">
                                          <p:val>
                                            <p:strVal val="#ppt_y+0.06"/>
                                          </p:val>
                                        </p:tav>
                                        <p:tav tm="100000">
                                          <p:val>
                                            <p:strVal val="#ppt_y"/>
                                          </p:val>
                                        </p:tav>
                                      </p:tavLst>
                                    </p:anim>
                                  </p:childTnLst>
                                </p:cTn>
                              </p:par>
                              <p:par>
                                <p:cTn id="66" presetID="42" presetClass="entr" presetSubtype="0" fill="hold" nodeType="withEffect">
                                  <p:stCondLst>
                                    <p:cond delay="0"/>
                                  </p:stCondLst>
                                  <p:childTnLst>
                                    <p:set>
                                      <p:cBhvr>
                                        <p:cTn id="67" dur="1" fill="hold">
                                          <p:stCondLst>
                                            <p:cond delay="0"/>
                                          </p:stCondLst>
                                        </p:cTn>
                                        <p:tgtEl>
                                          <p:spTgt spid="115"/>
                                        </p:tgtEl>
                                        <p:attrNameLst>
                                          <p:attrName>style.visibility</p:attrName>
                                        </p:attrNameLst>
                                      </p:cBhvr>
                                      <p:to>
                                        <p:strVal val="visible"/>
                                      </p:to>
                                    </p:set>
                                    <p:animEffect transition="in" filter="fade">
                                      <p:cBhvr>
                                        <p:cTn id="68" dur="500"/>
                                        <p:tgtEl>
                                          <p:spTgt spid="115"/>
                                        </p:tgtEl>
                                      </p:cBhvr>
                                    </p:animEffect>
                                    <p:anim calcmode="lin" valueType="num">
                                      <p:cBhvr additive="base">
                                        <p:cTn id="69" dur="500" decel="100000" fill="hold"/>
                                        <p:tgtEl>
                                          <p:spTgt spid="115"/>
                                        </p:tgtEl>
                                        <p:attrNameLst>
                                          <p:attrName>ppt_y</p:attrName>
                                        </p:attrNameLst>
                                      </p:cBhvr>
                                      <p:tavLst>
                                        <p:tav tm="0">
                                          <p:val>
                                            <p:strVal val="#ppt_y+0.06"/>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116"/>
                                        </p:tgtEl>
                                        <p:attrNameLst>
                                          <p:attrName>style.visibility</p:attrName>
                                        </p:attrNameLst>
                                      </p:cBhvr>
                                      <p:to>
                                        <p:strVal val="visible"/>
                                      </p:to>
                                    </p:set>
                                    <p:animEffect transition="in" filter="fade">
                                      <p:cBhvr>
                                        <p:cTn id="72" dur="500"/>
                                        <p:tgtEl>
                                          <p:spTgt spid="116"/>
                                        </p:tgtEl>
                                      </p:cBhvr>
                                    </p:animEffect>
                                    <p:anim calcmode="lin" valueType="num">
                                      <p:cBhvr additive="base">
                                        <p:cTn id="73" dur="500" decel="100000" fill="hold"/>
                                        <p:tgtEl>
                                          <p:spTgt spid="116"/>
                                        </p:tgtEl>
                                        <p:attrNameLst>
                                          <p:attrName>ppt_y</p:attrName>
                                        </p:attrNameLst>
                                      </p:cBhvr>
                                      <p:tavLst>
                                        <p:tav tm="0">
                                          <p:val>
                                            <p:strVal val="#ppt_y+0.06"/>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117"/>
                                        </p:tgtEl>
                                        <p:attrNameLst>
                                          <p:attrName>style.visibility</p:attrName>
                                        </p:attrNameLst>
                                      </p:cBhvr>
                                      <p:to>
                                        <p:strVal val="visible"/>
                                      </p:to>
                                    </p:set>
                                    <p:animEffect transition="in" filter="fade">
                                      <p:cBhvr>
                                        <p:cTn id="76" dur="500"/>
                                        <p:tgtEl>
                                          <p:spTgt spid="117"/>
                                        </p:tgtEl>
                                      </p:cBhvr>
                                    </p:animEffect>
                                    <p:anim calcmode="lin" valueType="num">
                                      <p:cBhvr additive="base">
                                        <p:cTn id="77" dur="500" decel="100000" fill="hold"/>
                                        <p:tgtEl>
                                          <p:spTgt spid="117"/>
                                        </p:tgtEl>
                                        <p:attrNameLst>
                                          <p:attrName>ppt_y</p:attrName>
                                        </p:attrNameLst>
                                      </p:cBhvr>
                                      <p:tavLst>
                                        <p:tav tm="0">
                                          <p:val>
                                            <p:strVal val="#ppt_y+0.06"/>
                                          </p:val>
                                        </p:tav>
                                        <p:tav tm="100000">
                                          <p:val>
                                            <p:strVal val="#ppt_y"/>
                                          </p:val>
                                        </p:tav>
                                      </p:tavLst>
                                    </p:anim>
                                  </p:childTnLst>
                                </p:cTn>
                              </p:par>
                              <p:par>
                                <p:cTn id="78" presetID="42" presetClass="entr" presetSubtype="0" fill="hold" grpId="0" nodeType="withEffect">
                                  <p:stCondLst>
                                    <p:cond delay="150"/>
                                  </p:stCondLst>
                                  <p:childTnLst>
                                    <p:set>
                                      <p:cBhvr>
                                        <p:cTn id="79" dur="1" fill="hold">
                                          <p:stCondLst>
                                            <p:cond delay="0"/>
                                          </p:stCondLst>
                                        </p:cTn>
                                        <p:tgtEl>
                                          <p:spTgt spid="118"/>
                                        </p:tgtEl>
                                        <p:attrNameLst>
                                          <p:attrName>style.visibility</p:attrName>
                                        </p:attrNameLst>
                                      </p:cBhvr>
                                      <p:to>
                                        <p:strVal val="visible"/>
                                      </p:to>
                                    </p:set>
                                    <p:animEffect transition="in" filter="fade">
                                      <p:cBhvr>
                                        <p:cTn id="80" dur="500"/>
                                        <p:tgtEl>
                                          <p:spTgt spid="118"/>
                                        </p:tgtEl>
                                      </p:cBhvr>
                                    </p:animEffect>
                                    <p:anim calcmode="lin" valueType="num">
                                      <p:cBhvr additive="base">
                                        <p:cTn id="81" dur="500" decel="100000" fill="hold"/>
                                        <p:tgtEl>
                                          <p:spTgt spid="118"/>
                                        </p:tgtEl>
                                        <p:attrNameLst>
                                          <p:attrName>ppt_y</p:attrName>
                                        </p:attrNameLst>
                                      </p:cBhvr>
                                      <p:tavLst>
                                        <p:tav tm="0">
                                          <p:val>
                                            <p:strVal val="#ppt_y+0.06"/>
                                          </p:val>
                                        </p:tav>
                                        <p:tav tm="100000">
                                          <p:val>
                                            <p:strVal val="#ppt_y"/>
                                          </p:val>
                                        </p:tav>
                                      </p:tavLst>
                                    </p:anim>
                                  </p:childTnLst>
                                </p:cTn>
                              </p:par>
                              <p:par>
                                <p:cTn id="82" presetID="42" presetClass="entr" presetSubtype="0" fill="hold" grpId="0" nodeType="withEffect">
                                  <p:stCondLst>
                                    <p:cond delay="150"/>
                                  </p:stCondLst>
                                  <p:childTnLst>
                                    <p:set>
                                      <p:cBhvr>
                                        <p:cTn id="83" dur="1" fill="hold">
                                          <p:stCondLst>
                                            <p:cond delay="0"/>
                                          </p:stCondLst>
                                        </p:cTn>
                                        <p:tgtEl>
                                          <p:spTgt spid="119"/>
                                        </p:tgtEl>
                                        <p:attrNameLst>
                                          <p:attrName>style.visibility</p:attrName>
                                        </p:attrNameLst>
                                      </p:cBhvr>
                                      <p:to>
                                        <p:strVal val="visible"/>
                                      </p:to>
                                    </p:set>
                                    <p:animEffect transition="in" filter="fade">
                                      <p:cBhvr>
                                        <p:cTn id="84" dur="500"/>
                                        <p:tgtEl>
                                          <p:spTgt spid="119"/>
                                        </p:tgtEl>
                                      </p:cBhvr>
                                    </p:animEffect>
                                    <p:anim calcmode="lin" valueType="num">
                                      <p:cBhvr additive="base">
                                        <p:cTn id="85" dur="500" decel="100000" fill="hold"/>
                                        <p:tgtEl>
                                          <p:spTgt spid="119"/>
                                        </p:tgtEl>
                                        <p:attrNameLst>
                                          <p:attrName>ppt_y</p:attrName>
                                        </p:attrNameLst>
                                      </p:cBhvr>
                                      <p:tavLst>
                                        <p:tav tm="0">
                                          <p:val>
                                            <p:strVal val="#ppt_y+0.06"/>
                                          </p:val>
                                        </p:tav>
                                        <p:tav tm="100000">
                                          <p:val>
                                            <p:strVal val="#ppt_y"/>
                                          </p:val>
                                        </p:tav>
                                      </p:tavLst>
                                    </p:anim>
                                  </p:childTnLst>
                                </p:cTn>
                              </p:par>
                              <p:par>
                                <p:cTn id="86" presetID="42" presetClass="entr" presetSubtype="0" fill="hold" nodeType="withEffect">
                                  <p:stCondLst>
                                    <p:cond delay="150"/>
                                  </p:stCondLst>
                                  <p:childTnLst>
                                    <p:set>
                                      <p:cBhvr>
                                        <p:cTn id="87" dur="1" fill="hold">
                                          <p:stCondLst>
                                            <p:cond delay="0"/>
                                          </p:stCondLst>
                                        </p:cTn>
                                        <p:tgtEl>
                                          <p:spTgt spid="120"/>
                                        </p:tgtEl>
                                        <p:attrNameLst>
                                          <p:attrName>style.visibility</p:attrName>
                                        </p:attrNameLst>
                                      </p:cBhvr>
                                      <p:to>
                                        <p:strVal val="visible"/>
                                      </p:to>
                                    </p:set>
                                    <p:animEffect transition="in" filter="fade">
                                      <p:cBhvr>
                                        <p:cTn id="88" dur="500"/>
                                        <p:tgtEl>
                                          <p:spTgt spid="120"/>
                                        </p:tgtEl>
                                      </p:cBhvr>
                                    </p:animEffect>
                                    <p:anim calcmode="lin" valueType="num">
                                      <p:cBhvr additive="base">
                                        <p:cTn id="89" dur="500" decel="100000" fill="hold"/>
                                        <p:tgtEl>
                                          <p:spTgt spid="120"/>
                                        </p:tgtEl>
                                        <p:attrNameLst>
                                          <p:attrName>ppt_y</p:attrName>
                                        </p:attrNameLst>
                                      </p:cBhvr>
                                      <p:tavLst>
                                        <p:tav tm="0">
                                          <p:val>
                                            <p:strVal val="#ppt_y+0.06"/>
                                          </p:val>
                                        </p:tav>
                                        <p:tav tm="100000">
                                          <p:val>
                                            <p:strVal val="#ppt_y"/>
                                          </p:val>
                                        </p:tav>
                                      </p:tavLst>
                                    </p:anim>
                                  </p:childTnLst>
                                </p:cTn>
                              </p:par>
                              <p:par>
                                <p:cTn id="90" presetID="42" presetClass="entr" presetSubtype="0" fill="hold" grpId="0" nodeType="withEffect">
                                  <p:stCondLst>
                                    <p:cond delay="150"/>
                                  </p:stCondLst>
                                  <p:childTnLst>
                                    <p:set>
                                      <p:cBhvr>
                                        <p:cTn id="91" dur="1" fill="hold">
                                          <p:stCondLst>
                                            <p:cond delay="0"/>
                                          </p:stCondLst>
                                        </p:cTn>
                                        <p:tgtEl>
                                          <p:spTgt spid="121"/>
                                        </p:tgtEl>
                                        <p:attrNameLst>
                                          <p:attrName>style.visibility</p:attrName>
                                        </p:attrNameLst>
                                      </p:cBhvr>
                                      <p:to>
                                        <p:strVal val="visible"/>
                                      </p:to>
                                    </p:set>
                                    <p:animEffect transition="in" filter="fade">
                                      <p:cBhvr>
                                        <p:cTn id="92" dur="500"/>
                                        <p:tgtEl>
                                          <p:spTgt spid="121"/>
                                        </p:tgtEl>
                                      </p:cBhvr>
                                    </p:animEffect>
                                    <p:anim calcmode="lin" valueType="num">
                                      <p:cBhvr additive="base">
                                        <p:cTn id="93" dur="500" decel="100000" fill="hold"/>
                                        <p:tgtEl>
                                          <p:spTgt spid="121"/>
                                        </p:tgtEl>
                                        <p:attrNameLst>
                                          <p:attrName>ppt_y</p:attrName>
                                        </p:attrNameLst>
                                      </p:cBhvr>
                                      <p:tavLst>
                                        <p:tav tm="0">
                                          <p:val>
                                            <p:strVal val="#ppt_y+0.06"/>
                                          </p:val>
                                        </p:tav>
                                        <p:tav tm="100000">
                                          <p:val>
                                            <p:strVal val="#ppt_y"/>
                                          </p:val>
                                        </p:tav>
                                      </p:tavLst>
                                    </p:anim>
                                  </p:childTnLst>
                                </p:cTn>
                              </p:par>
                              <p:par>
                                <p:cTn id="94" presetID="42" presetClass="entr" presetSubtype="0" fill="hold" grpId="0" nodeType="withEffect">
                                  <p:stCondLst>
                                    <p:cond delay="150"/>
                                  </p:stCondLst>
                                  <p:childTnLst>
                                    <p:set>
                                      <p:cBhvr>
                                        <p:cTn id="95" dur="1" fill="hold">
                                          <p:stCondLst>
                                            <p:cond delay="0"/>
                                          </p:stCondLst>
                                        </p:cTn>
                                        <p:tgtEl>
                                          <p:spTgt spid="122"/>
                                        </p:tgtEl>
                                        <p:attrNameLst>
                                          <p:attrName>style.visibility</p:attrName>
                                        </p:attrNameLst>
                                      </p:cBhvr>
                                      <p:to>
                                        <p:strVal val="visible"/>
                                      </p:to>
                                    </p:set>
                                    <p:animEffect transition="in" filter="fade">
                                      <p:cBhvr>
                                        <p:cTn id="96" dur="500"/>
                                        <p:tgtEl>
                                          <p:spTgt spid="122"/>
                                        </p:tgtEl>
                                      </p:cBhvr>
                                    </p:animEffect>
                                    <p:anim calcmode="lin" valueType="num">
                                      <p:cBhvr additive="base">
                                        <p:cTn id="97" dur="500" decel="100000" fill="hold"/>
                                        <p:tgtEl>
                                          <p:spTgt spid="122"/>
                                        </p:tgtEl>
                                        <p:attrNameLst>
                                          <p:attrName>ppt_y</p:attrName>
                                        </p:attrNameLst>
                                      </p:cBhvr>
                                      <p:tavLst>
                                        <p:tav tm="0">
                                          <p:val>
                                            <p:strVal val="#ppt_y+0.06"/>
                                          </p:val>
                                        </p:tav>
                                        <p:tav tm="100000">
                                          <p:val>
                                            <p:strVal val="#ppt_y"/>
                                          </p:val>
                                        </p:tav>
                                      </p:tavLst>
                                    </p:anim>
                                  </p:childTnLst>
                                </p:cTn>
                              </p:par>
                              <p:par>
                                <p:cTn id="98" presetID="42" presetClass="entr" presetSubtype="0" fill="hold" grpId="0" nodeType="withEffect">
                                  <p:stCondLst>
                                    <p:cond delay="300"/>
                                  </p:stCondLst>
                                  <p:childTnLst>
                                    <p:set>
                                      <p:cBhvr>
                                        <p:cTn id="99" dur="1" fill="hold">
                                          <p:stCondLst>
                                            <p:cond delay="0"/>
                                          </p:stCondLst>
                                        </p:cTn>
                                        <p:tgtEl>
                                          <p:spTgt spid="123"/>
                                        </p:tgtEl>
                                        <p:attrNameLst>
                                          <p:attrName>style.visibility</p:attrName>
                                        </p:attrNameLst>
                                      </p:cBhvr>
                                      <p:to>
                                        <p:strVal val="visible"/>
                                      </p:to>
                                    </p:set>
                                    <p:animEffect transition="in" filter="fade">
                                      <p:cBhvr>
                                        <p:cTn id="100" dur="500"/>
                                        <p:tgtEl>
                                          <p:spTgt spid="123"/>
                                        </p:tgtEl>
                                      </p:cBhvr>
                                    </p:animEffect>
                                    <p:anim calcmode="lin" valueType="num">
                                      <p:cBhvr additive="base">
                                        <p:cTn id="101" dur="500" decel="100000" fill="hold"/>
                                        <p:tgtEl>
                                          <p:spTgt spid="123"/>
                                        </p:tgtEl>
                                        <p:attrNameLst>
                                          <p:attrName>ppt_y</p:attrName>
                                        </p:attrNameLst>
                                      </p:cBhvr>
                                      <p:tavLst>
                                        <p:tav tm="0">
                                          <p:val>
                                            <p:strVal val="#ppt_y+0.06"/>
                                          </p:val>
                                        </p:tav>
                                        <p:tav tm="100000">
                                          <p:val>
                                            <p:strVal val="#ppt_y"/>
                                          </p:val>
                                        </p:tav>
                                      </p:tavLst>
                                    </p:anim>
                                  </p:childTnLst>
                                </p:cTn>
                              </p:par>
                              <p:par>
                                <p:cTn id="102" presetID="42" presetClass="entr" presetSubtype="0" fill="hold" grpId="0" nodeType="withEffect">
                                  <p:stCondLst>
                                    <p:cond delay="300"/>
                                  </p:stCondLst>
                                  <p:childTnLst>
                                    <p:set>
                                      <p:cBhvr>
                                        <p:cTn id="103" dur="1" fill="hold">
                                          <p:stCondLst>
                                            <p:cond delay="0"/>
                                          </p:stCondLst>
                                        </p:cTn>
                                        <p:tgtEl>
                                          <p:spTgt spid="124"/>
                                        </p:tgtEl>
                                        <p:attrNameLst>
                                          <p:attrName>style.visibility</p:attrName>
                                        </p:attrNameLst>
                                      </p:cBhvr>
                                      <p:to>
                                        <p:strVal val="visible"/>
                                      </p:to>
                                    </p:set>
                                    <p:animEffect transition="in" filter="fade">
                                      <p:cBhvr>
                                        <p:cTn id="104" dur="500"/>
                                        <p:tgtEl>
                                          <p:spTgt spid="124"/>
                                        </p:tgtEl>
                                      </p:cBhvr>
                                    </p:animEffect>
                                    <p:anim calcmode="lin" valueType="num">
                                      <p:cBhvr additive="base">
                                        <p:cTn id="105" dur="500" decel="100000" fill="hold"/>
                                        <p:tgtEl>
                                          <p:spTgt spid="124"/>
                                        </p:tgtEl>
                                        <p:attrNameLst>
                                          <p:attrName>ppt_y</p:attrName>
                                        </p:attrNameLst>
                                      </p:cBhvr>
                                      <p:tavLst>
                                        <p:tav tm="0">
                                          <p:val>
                                            <p:strVal val="#ppt_y+0.06"/>
                                          </p:val>
                                        </p:tav>
                                        <p:tav tm="100000">
                                          <p:val>
                                            <p:strVal val="#ppt_y"/>
                                          </p:val>
                                        </p:tav>
                                      </p:tavLst>
                                    </p:anim>
                                  </p:childTnLst>
                                </p:cTn>
                              </p:par>
                              <p:par>
                                <p:cTn id="106" presetID="42" presetClass="entr" presetSubtype="0" fill="hold" nodeType="withEffect">
                                  <p:stCondLst>
                                    <p:cond delay="300"/>
                                  </p:stCondLst>
                                  <p:childTnLst>
                                    <p:set>
                                      <p:cBhvr>
                                        <p:cTn id="107" dur="1" fill="hold">
                                          <p:stCondLst>
                                            <p:cond delay="0"/>
                                          </p:stCondLst>
                                        </p:cTn>
                                        <p:tgtEl>
                                          <p:spTgt spid="125"/>
                                        </p:tgtEl>
                                        <p:attrNameLst>
                                          <p:attrName>style.visibility</p:attrName>
                                        </p:attrNameLst>
                                      </p:cBhvr>
                                      <p:to>
                                        <p:strVal val="visible"/>
                                      </p:to>
                                    </p:set>
                                    <p:animEffect transition="in" filter="fade">
                                      <p:cBhvr>
                                        <p:cTn id="108" dur="500"/>
                                        <p:tgtEl>
                                          <p:spTgt spid="125"/>
                                        </p:tgtEl>
                                      </p:cBhvr>
                                    </p:animEffect>
                                    <p:anim calcmode="lin" valueType="num">
                                      <p:cBhvr additive="base">
                                        <p:cTn id="109" dur="500" decel="100000" fill="hold"/>
                                        <p:tgtEl>
                                          <p:spTgt spid="125"/>
                                        </p:tgtEl>
                                        <p:attrNameLst>
                                          <p:attrName>ppt_y</p:attrName>
                                        </p:attrNameLst>
                                      </p:cBhvr>
                                      <p:tavLst>
                                        <p:tav tm="0">
                                          <p:val>
                                            <p:strVal val="#ppt_y+0.06"/>
                                          </p:val>
                                        </p:tav>
                                        <p:tav tm="100000">
                                          <p:val>
                                            <p:strVal val="#ppt_y"/>
                                          </p:val>
                                        </p:tav>
                                      </p:tavLst>
                                    </p:anim>
                                  </p:childTnLst>
                                </p:cTn>
                              </p:par>
                              <p:par>
                                <p:cTn id="110" presetID="42" presetClass="entr" presetSubtype="0" fill="hold" grpId="0" nodeType="withEffect">
                                  <p:stCondLst>
                                    <p:cond delay="300"/>
                                  </p:stCondLst>
                                  <p:childTnLst>
                                    <p:set>
                                      <p:cBhvr>
                                        <p:cTn id="111" dur="1" fill="hold">
                                          <p:stCondLst>
                                            <p:cond delay="0"/>
                                          </p:stCondLst>
                                        </p:cTn>
                                        <p:tgtEl>
                                          <p:spTgt spid="126"/>
                                        </p:tgtEl>
                                        <p:attrNameLst>
                                          <p:attrName>style.visibility</p:attrName>
                                        </p:attrNameLst>
                                      </p:cBhvr>
                                      <p:to>
                                        <p:strVal val="visible"/>
                                      </p:to>
                                    </p:set>
                                    <p:animEffect transition="in" filter="fade">
                                      <p:cBhvr>
                                        <p:cTn id="112" dur="500"/>
                                        <p:tgtEl>
                                          <p:spTgt spid="126"/>
                                        </p:tgtEl>
                                      </p:cBhvr>
                                    </p:animEffect>
                                    <p:anim calcmode="lin" valueType="num">
                                      <p:cBhvr additive="base">
                                        <p:cTn id="113" dur="500" decel="100000" fill="hold"/>
                                        <p:tgtEl>
                                          <p:spTgt spid="126"/>
                                        </p:tgtEl>
                                        <p:attrNameLst>
                                          <p:attrName>ppt_y</p:attrName>
                                        </p:attrNameLst>
                                      </p:cBhvr>
                                      <p:tavLst>
                                        <p:tav tm="0">
                                          <p:val>
                                            <p:strVal val="#ppt_y+0.06"/>
                                          </p:val>
                                        </p:tav>
                                        <p:tav tm="100000">
                                          <p:val>
                                            <p:strVal val="#ppt_y"/>
                                          </p:val>
                                        </p:tav>
                                      </p:tavLst>
                                    </p:anim>
                                  </p:childTnLst>
                                </p:cTn>
                              </p:par>
                              <p:par>
                                <p:cTn id="114" presetID="42" presetClass="entr" presetSubtype="0" fill="hold" grpId="0" nodeType="withEffect">
                                  <p:stCondLst>
                                    <p:cond delay="300"/>
                                  </p:stCondLst>
                                  <p:childTnLst>
                                    <p:set>
                                      <p:cBhvr>
                                        <p:cTn id="115" dur="1" fill="hold">
                                          <p:stCondLst>
                                            <p:cond delay="0"/>
                                          </p:stCondLst>
                                        </p:cTn>
                                        <p:tgtEl>
                                          <p:spTgt spid="127"/>
                                        </p:tgtEl>
                                        <p:attrNameLst>
                                          <p:attrName>style.visibility</p:attrName>
                                        </p:attrNameLst>
                                      </p:cBhvr>
                                      <p:to>
                                        <p:strVal val="visible"/>
                                      </p:to>
                                    </p:set>
                                    <p:animEffect transition="in" filter="fade">
                                      <p:cBhvr>
                                        <p:cTn id="116" dur="500"/>
                                        <p:tgtEl>
                                          <p:spTgt spid="127"/>
                                        </p:tgtEl>
                                      </p:cBhvr>
                                    </p:animEffect>
                                    <p:anim calcmode="lin" valueType="num">
                                      <p:cBhvr additive="base">
                                        <p:cTn id="117" dur="500" decel="100000" fill="hold"/>
                                        <p:tgtEl>
                                          <p:spTgt spid="127"/>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6" grpId="0" animBg="1"/>
      <p:bldP spid="108" grpId="0" animBg="1"/>
      <p:bldP spid="110" grpId="0" animBg="1"/>
      <p:bldP spid="112" grpId="0" animBg="1"/>
      <p:bldP spid="113" grpId="0" animBg="1"/>
      <p:bldP spid="114" grpId="0" animBg="1"/>
      <p:bldP spid="116" grpId="0" animBg="1"/>
      <p:bldP spid="117" grpId="0" animBg="1"/>
      <p:bldP spid="118" grpId="0" animBg="1"/>
      <p:bldP spid="119" grpId="0" animBg="1"/>
      <p:bldP spid="121" grpId="0" animBg="1"/>
      <p:bldP spid="122" grpId="0" animBg="1"/>
      <p:bldP spid="123" grpId="0" animBg="1"/>
      <p:bldP spid="124" grpId="0" animBg="1"/>
      <p:bldP spid="126" grpId="0" animBg="1"/>
      <p:bldP spid="127"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CHAPTER 02</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FIRST TEST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113</a:t>
            </a:r>
            <a:endParaRPr lang="en-US" sz="850" dirty="0"/>
          </a:p>
        </p:txBody>
      </p:sp>
      <p:sp>
        <p:nvSpPr>
          <p:cNvPr id="101" name="!!bignum"/>
          <p:cNvSpPr txBox="1"/>
          <p:nvPr/>
        </p:nvSpPr>
        <p:spPr>
          <a:xfrm>
            <a:off x="497434" y="960120"/>
            <a:ext cx="2926080" cy="1463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13D0F7"/>
                </a:solidFill>
                <a:latin typeface="Segoe UI"/>
                <a:ea typeface="Segoe UI"/>
                <a:cs typeface="Segoe UI"/>
              </a:rPr>
              <a:t>02</a:t>
            </a:r>
            <a:endParaRPr lang="en-US" sz="9600" dirty="0"/>
          </a:p>
        </p:txBody>
      </p:sp>
      <p:sp>
        <p:nvSpPr>
          <p:cNvPr id="102" name="s102"/>
          <p:cNvSpPr txBox="1"/>
          <p:nvPr/>
        </p:nvSpPr>
        <p:spPr>
          <a:xfrm>
            <a:off x="543154" y="2377440"/>
            <a:ext cx="10515600" cy="8229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Your First Test</a:t>
            </a:r>
            <a:endParaRPr lang="en-US" sz="4000" dirty="0"/>
          </a:p>
        </p:txBody>
      </p:sp>
      <p:sp>
        <p:nvSpPr>
          <p:cNvPr id="103" name="s103"/>
          <p:cNvSpPr txBox="1"/>
          <p:nvPr/>
        </p:nvSpPr>
        <p:spPr>
          <a:xfrm>
            <a:off x="543154" y="3154680"/>
            <a:ext cx="1051560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0" dirty="0">
                <a:solidFill>
                  <a:srgbClr val="CBD5E1"/>
                </a:solidFill>
                <a:latin typeface="Segoe UI"/>
                <a:ea typeface="Segoe UI"/>
                <a:cs typeface="Segoe UI"/>
              </a:rPr>
              <a:t>Read the rules, choose the cases, name them, write them, see them fail.</a:t>
            </a:r>
            <a:endParaRPr lang="en-US" sz="1600" dirty="0"/>
          </a:p>
        </p:txBody>
      </p:sp>
      <p:sp>
        <p:nvSpPr>
          <p:cNvPr id="104" name="s104"/>
          <p:cNvSpPr/>
          <p:nvPr/>
        </p:nvSpPr>
        <p:spPr>
          <a:xfrm>
            <a:off x="543154" y="3840480"/>
            <a:ext cx="3513125" cy="960120"/>
          </a:xfrm>
          <a:prstGeom prst="roundRect">
            <a:avLst>
              <a:gd name="adj" fmla="val 10000"/>
            </a:avLst>
          </a:prstGeom>
          <a:solidFill>
            <a:srgbClr val="111B2E"/>
          </a:solidFill>
          <a:ln w="12700">
            <a:solidFill>
              <a:srgbClr val="13D0F7"/>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13D0F7"/>
                </a:solidFill>
                <a:latin typeface="Segoe UI"/>
                <a:ea typeface="Segoe UI"/>
                <a:cs typeface="Segoe UI"/>
              </a:rPr>
              <a:t>Plan</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How many tests, and why that number.</a:t>
            </a:r>
            <a:endParaRPr lang="en-US" sz="1200" dirty="0"/>
          </a:p>
        </p:txBody>
      </p:sp>
      <p:sp>
        <p:nvSpPr>
          <p:cNvPr id="105" name="s105"/>
          <p:cNvSpPr/>
          <p:nvPr/>
        </p:nvSpPr>
        <p:spPr>
          <a:xfrm>
            <a:off x="4330598" y="3840480"/>
            <a:ext cx="3513125" cy="960120"/>
          </a:xfrm>
          <a:prstGeom prst="roundRect">
            <a:avLst>
              <a:gd name="adj" fmla="val 10000"/>
            </a:avLst>
          </a:prstGeom>
          <a:solidFill>
            <a:srgbClr val="111B2E"/>
          </a:solidFill>
          <a:ln w="12700">
            <a:solidFill>
              <a:srgbClr val="13D0F7"/>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13D0F7"/>
                </a:solidFill>
                <a:latin typeface="Segoe UI"/>
                <a:ea typeface="Segoe UI"/>
                <a:cs typeface="Segoe UI"/>
              </a:rPr>
              <a:t>Write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Naming, Arrange-Act-Assert, xUnit.</a:t>
            </a:r>
            <a:endParaRPr lang="en-US" sz="1200" dirty="0"/>
          </a:p>
        </p:txBody>
      </p:sp>
      <p:sp>
        <p:nvSpPr>
          <p:cNvPr id="106" name="s106"/>
          <p:cNvSpPr/>
          <p:nvPr/>
        </p:nvSpPr>
        <p:spPr>
          <a:xfrm>
            <a:off x="8118043" y="3840480"/>
            <a:ext cx="3513125" cy="960120"/>
          </a:xfrm>
          <a:prstGeom prst="roundRect">
            <a:avLst>
              <a:gd name="adj" fmla="val 10000"/>
            </a:avLst>
          </a:prstGeom>
          <a:solidFill>
            <a:srgbClr val="111B2E"/>
          </a:solidFill>
          <a:ln w="12700">
            <a:solidFill>
              <a:srgbClr val="13D0F7"/>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13D0F7"/>
                </a:solidFill>
                <a:latin typeface="Segoe UI"/>
                <a:ea typeface="Segoe UI"/>
                <a:cs typeface="Segoe UI"/>
              </a:rPr>
              <a:t>Trust</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See it fail; test the refusals.</a:t>
            </a:r>
            <a:endParaRPr lang="en-US" sz="1200" dirty="0"/>
          </a:p>
        </p:txBody>
      </p:sp>
      <p:sp>
        <p:nvSpPr>
          <p:cNvPr id="107" name="!!chap0"/>
          <p:cNvSpPr/>
          <p:nvPr/>
        </p:nvSpPr>
        <p:spPr>
          <a:xfrm>
            <a:off x="54315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87171"/>
                </a:solidFill>
                <a:latin typeface="Segoe UI"/>
                <a:ea typeface="Segoe UI"/>
                <a:cs typeface="Segoe UI"/>
              </a:rPr>
              <a:t>01  </a:t>
            </a:r>
            <a:r>
              <a:rPr lang="en-US" sz="1100" b="0" dirty="0">
                <a:solidFill>
                  <a:srgbClr val="94A3B8"/>
                </a:solidFill>
                <a:latin typeface="Segoe UI"/>
                <a:ea typeface="Segoe UI"/>
                <a:cs typeface="Segoe UI"/>
              </a:rPr>
              <a:t>Why test</a:t>
            </a:r>
            <a:endParaRPr lang="en-US" sz="1100" dirty="0"/>
          </a:p>
        </p:txBody>
      </p:sp>
      <p:sp>
        <p:nvSpPr>
          <p:cNvPr id="108" name="!!chap1"/>
          <p:cNvSpPr/>
          <p:nvPr/>
        </p:nvSpPr>
        <p:spPr>
          <a:xfrm>
            <a:off x="2409444" y="5074920"/>
            <a:ext cx="1756562" cy="457200"/>
          </a:xfrm>
          <a:prstGeom prst="roundRect">
            <a:avLst>
              <a:gd name="adj" fmla="val 50000"/>
            </a:avLst>
          </a:prstGeom>
          <a:solidFill>
            <a:srgbClr val="13D0F7"/>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02  First test</a:t>
            </a:r>
            <a:endParaRPr lang="en-US" sz="1100" dirty="0"/>
          </a:p>
        </p:txBody>
      </p:sp>
      <p:sp>
        <p:nvSpPr>
          <p:cNvPr id="109" name="!!chap2"/>
          <p:cNvSpPr/>
          <p:nvPr/>
        </p:nvSpPr>
        <p:spPr>
          <a:xfrm>
            <a:off x="427573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03  </a:t>
            </a:r>
            <a:r>
              <a:rPr lang="en-US" sz="1100" b="0" dirty="0">
                <a:solidFill>
                  <a:srgbClr val="94A3B8"/>
                </a:solidFill>
                <a:latin typeface="Segoe UI"/>
                <a:ea typeface="Segoe UI"/>
                <a:cs typeface="Segoe UI"/>
              </a:rPr>
              <a:t>Many cases</a:t>
            </a:r>
            <a:endParaRPr lang="en-US" sz="1100" dirty="0"/>
          </a:p>
        </p:txBody>
      </p:sp>
      <p:sp>
        <p:nvSpPr>
          <p:cNvPr id="110" name="!!chap3"/>
          <p:cNvSpPr/>
          <p:nvPr/>
        </p:nvSpPr>
        <p:spPr>
          <a:xfrm>
            <a:off x="614202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04  </a:t>
            </a:r>
            <a:r>
              <a:rPr lang="en-US" sz="1100" b="0" dirty="0">
                <a:solidFill>
                  <a:srgbClr val="94A3B8"/>
                </a:solidFill>
                <a:latin typeface="Segoe UI"/>
                <a:ea typeface="Segoe UI"/>
                <a:cs typeface="Segoe UI"/>
              </a:rPr>
              <a:t>Hidden inputs</a:t>
            </a:r>
            <a:endParaRPr lang="en-US" sz="1100" dirty="0"/>
          </a:p>
        </p:txBody>
      </p:sp>
      <p:sp>
        <p:nvSpPr>
          <p:cNvPr id="111" name="!!chap4"/>
          <p:cNvSpPr/>
          <p:nvPr/>
        </p:nvSpPr>
        <p:spPr>
          <a:xfrm>
            <a:off x="800831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05  </a:t>
            </a:r>
            <a:r>
              <a:rPr lang="en-US" sz="1100" b="0" dirty="0">
                <a:solidFill>
                  <a:srgbClr val="94A3B8"/>
                </a:solidFill>
                <a:latin typeface="Segoe UI"/>
                <a:ea typeface="Segoe UI"/>
                <a:cs typeface="Segoe UI"/>
              </a:rPr>
              <a:t>Test doubles</a:t>
            </a:r>
            <a:endParaRPr lang="en-US" sz="1100" dirty="0"/>
          </a:p>
        </p:txBody>
      </p:sp>
      <p:sp>
        <p:nvSpPr>
          <p:cNvPr id="112" name="!!chap5"/>
          <p:cNvSpPr/>
          <p:nvPr/>
        </p:nvSpPr>
        <p:spPr>
          <a:xfrm>
            <a:off x="9874606"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06  </a:t>
            </a:r>
            <a:r>
              <a:rPr lang="en-US" sz="1100" b="0" dirty="0">
                <a:solidFill>
                  <a:srgbClr val="94A3B8"/>
                </a:solidFill>
                <a:latin typeface="Segoe UI"/>
                <a:ea typeface="Segoe UI"/>
                <a:cs typeface="Segoe UI"/>
              </a:rPr>
              <a:t>Real project</a:t>
            </a:r>
            <a:endParaRPr lang="en-US" sz="11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5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50" decel="100000" fill="hold"/>
                                        <p:tgtEl>
                                          <p:spTgt spid="101"/>
                                        </p:tgtEl>
                                        <p:attrNameLst>
                                          <p:attrName>ppt_h</p:attrName>
                                        </p:attrNameLst>
                                      </p:cBhvr>
                                      <p:tavLst>
                                        <p:tav tm="0">
                                          <p:val>
                                            <p:strVal val="#ppt_h*0.3"/>
                                          </p:val>
                                        </p:tav>
                                        <p:tav tm="100000">
                                          <p:val>
                                            <p:strVal val="#ppt_h*1.08"/>
                                          </p:val>
                                        </p:tav>
                                      </p:tavLst>
                                    </p:anim>
                                    <p:animEffect transition="in" filter="fade">
                                      <p:cBhvr>
                                        <p:cTn id="9" dur="275"/>
                                        <p:tgtEl>
                                          <p:spTgt spid="101"/>
                                        </p:tgtEl>
                                      </p:cBhvr>
                                    </p:animEffect>
                                    <p:anim calcmode="lin" valueType="num">
                                      <p:cBhvr additive="base">
                                        <p:cTn id="10" dur="160" fill="hold">
                                          <p:stCondLst>
                                            <p:cond delay="55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5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4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50"/>
                                        <p:tgtEl>
                                          <p:spTgt spid="102"/>
                                        </p:tgtEl>
                                      </p:cBhvr>
                                    </p:animEffect>
                                    <p:anim calcmode="lin" valueType="num">
                                      <p:cBhvr additive="base">
                                        <p:cTn id="15" dur="55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8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50"/>
                                        <p:tgtEl>
                                          <p:spTgt spid="103"/>
                                        </p:tgtEl>
                                      </p:cBhvr>
                                    </p:animEffect>
                                    <p:anim calcmode="lin" valueType="num">
                                      <p:cBhvr additive="base">
                                        <p:cTn id="19" dur="55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42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50"/>
                                        <p:tgtEl>
                                          <p:spTgt spid="104"/>
                                        </p:tgtEl>
                                      </p:cBhvr>
                                    </p:animEffect>
                                    <p:anim calcmode="lin" valueType="num">
                                      <p:cBhvr additive="base">
                                        <p:cTn id="23" dur="55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56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50"/>
                                        <p:tgtEl>
                                          <p:spTgt spid="105"/>
                                        </p:tgtEl>
                                      </p:cBhvr>
                                    </p:animEffect>
                                    <p:anim calcmode="lin" valueType="num">
                                      <p:cBhvr additive="base">
                                        <p:cTn id="27" dur="55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70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50"/>
                                        <p:tgtEl>
                                          <p:spTgt spid="106"/>
                                        </p:tgtEl>
                                      </p:cBhvr>
                                    </p:animEffect>
                                    <p:anim calcmode="lin" valueType="num">
                                      <p:cBhvr additive="base">
                                        <p:cTn id="31" dur="550" decel="100000" fill="hold"/>
                                        <p:tgtEl>
                                          <p:spTgt spid="106"/>
                                        </p:tgtEl>
                                        <p:attrNameLst>
                                          <p:attrName>ppt_y</p:attrName>
                                        </p:attrNameLst>
                                      </p:cBhvr>
                                      <p:tavLst>
                                        <p:tav tm="0">
                                          <p:val>
                                            <p:strVal val="#ppt_y+0.06"/>
                                          </p:val>
                                        </p:tav>
                                        <p:tav tm="100000">
                                          <p:val>
                                            <p:strVal val="#ppt_y"/>
                                          </p:val>
                                        </p:tav>
                                      </p:tavLst>
                                    </p:anim>
                                  </p:childTnLst>
                                </p:cTn>
                              </p:par>
                              <p:par>
                                <p:cTn id="32" presetID="10" presetClass="entr" presetSubtype="0" fill="hold" grpId="0" nodeType="withEffect">
                                  <p:stCondLst>
                                    <p:cond delay="85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childTnLst>
                                </p:cTn>
                              </p:par>
                              <p:par>
                                <p:cTn id="35" presetID="10" presetClass="entr" presetSubtype="0" fill="hold" grpId="0" nodeType="withEffect">
                                  <p:stCondLst>
                                    <p:cond delay="85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85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85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85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85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07085"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THE CLASS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Meet the Class: BankAccount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Before writing any test, read the code and list its rules.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FIRST TEST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114</a:t>
            </a:r>
            <a:endParaRPr lang="en-US" sz="850" dirty="0"/>
          </a:p>
        </p:txBody>
      </p:sp>
      <p:sp>
        <p:nvSpPr>
          <p:cNvPr id="101" name="s101"/>
          <p:cNvSpPr txBox="1"/>
          <p:nvPr/>
        </p:nvSpPr>
        <p:spPr>
          <a:xfrm>
            <a:off x="543154" y="1810512"/>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THE CLASS UNDER TEST</a:t>
            </a:r>
            <a:endParaRPr lang="en-US" sz="1050" dirty="0"/>
          </a:p>
        </p:txBody>
      </p:sp>
      <p:sp>
        <p:nvSpPr>
          <p:cNvPr id="102" name="s102"/>
          <p:cNvSpPr/>
          <p:nvPr/>
        </p:nvSpPr>
        <p:spPr>
          <a:xfrm>
            <a:off x="543154" y="2084832"/>
            <a:ext cx="5349240" cy="356616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157984"/>
            <a:ext cx="1318565"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BankAccount.cs</a:t>
            </a:r>
            <a:endParaRPr lang="en-US" sz="950" dirty="0"/>
          </a:p>
        </p:txBody>
      </p:sp>
      <p:cxnSp>
        <p:nvCxnSpPr>
          <p:cNvPr id="107" name="ln107"/>
          <p:cNvCxnSpPr/>
          <p:nvPr/>
        </p:nvCxnSpPr>
        <p:spPr>
          <a:xfrm>
            <a:off x="543154" y="2496312"/>
            <a:ext cx="5349240" cy="0"/>
          </a:xfrm>
          <a:prstGeom prst="line">
            <a:avLst/>
          </a:prstGeom>
          <a:ln w="9525">
            <a:solidFill>
              <a:srgbClr val="1E3A5F"/>
            </a:solidFill>
          </a:ln>
        </p:spPr>
      </p:cxnSp>
      <p:sp>
        <p:nvSpPr>
          <p:cNvPr id="108" name="s108"/>
          <p:cNvSpPr/>
          <p:nvPr/>
        </p:nvSpPr>
        <p:spPr>
          <a:xfrm>
            <a:off x="543154" y="26151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class</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BankAccount</a:t>
            </a:r>
            <a:endParaRPr lang="en-US" sz="1000" dirty="0"/>
          </a:p>
        </p:txBody>
      </p:sp>
      <p:sp>
        <p:nvSpPr>
          <p:cNvPr id="109" name="s109"/>
          <p:cNvSpPr/>
          <p:nvPr/>
        </p:nvSpPr>
        <p:spPr>
          <a:xfrm>
            <a:off x="543154" y="27675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10" name="s110"/>
          <p:cNvSpPr/>
          <p:nvPr/>
        </p:nvSpPr>
        <p:spPr>
          <a:xfrm>
            <a:off x="543154" y="29199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string</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Owner</a:t>
            </a:r>
            <a:r>
              <a:rPr lang="en-US" sz="1000" b="0" dirty="0">
                <a:solidFill>
                  <a:srgbClr val="E2E8F0"/>
                </a:solidFill>
                <a:latin typeface="Consolas"/>
                <a:ea typeface="Consolas"/>
                <a:cs typeface="Consolas"/>
              </a:rPr>
              <a:t> { </a:t>
            </a:r>
            <a:r>
              <a:rPr lang="en-US" sz="1000" b="0" dirty="0">
                <a:solidFill>
                  <a:srgbClr val="60A5FA"/>
                </a:solidFill>
                <a:latin typeface="Consolas"/>
                <a:ea typeface="Consolas"/>
                <a:cs typeface="Consolas"/>
              </a:rPr>
              <a:t>get</a:t>
            </a:r>
            <a:r>
              <a:rPr lang="en-US" sz="1000" b="0" dirty="0">
                <a:solidFill>
                  <a:srgbClr val="E2E8F0"/>
                </a:solidFill>
                <a:latin typeface="Consolas"/>
                <a:ea typeface="Consolas"/>
                <a:cs typeface="Consolas"/>
              </a:rPr>
              <a:t>; }</a:t>
            </a:r>
            <a:endParaRPr lang="en-US" sz="1000" dirty="0"/>
          </a:p>
        </p:txBody>
      </p:sp>
      <p:sp>
        <p:nvSpPr>
          <p:cNvPr id="111" name="s111"/>
          <p:cNvSpPr/>
          <p:nvPr/>
        </p:nvSpPr>
        <p:spPr>
          <a:xfrm>
            <a:off x="543154" y="30723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decimal</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Balance</a:t>
            </a:r>
            <a:r>
              <a:rPr lang="en-US" sz="1000" b="0" dirty="0">
                <a:solidFill>
                  <a:srgbClr val="E2E8F0"/>
                </a:solidFill>
                <a:latin typeface="Consolas"/>
                <a:ea typeface="Consolas"/>
                <a:cs typeface="Consolas"/>
              </a:rPr>
              <a:t> { </a:t>
            </a:r>
            <a:r>
              <a:rPr lang="en-US" sz="1000" b="0" dirty="0">
                <a:solidFill>
                  <a:srgbClr val="60A5FA"/>
                </a:solidFill>
                <a:latin typeface="Consolas"/>
                <a:ea typeface="Consolas"/>
                <a:cs typeface="Consolas"/>
              </a:rPr>
              <a:t>get</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private</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set</a:t>
            </a:r>
            <a:r>
              <a:rPr lang="en-US" sz="1000" b="0" dirty="0">
                <a:solidFill>
                  <a:srgbClr val="E2E8F0"/>
                </a:solidFill>
                <a:latin typeface="Consolas"/>
                <a:ea typeface="Consolas"/>
                <a:cs typeface="Consolas"/>
              </a:rPr>
              <a:t>; }</a:t>
            </a:r>
            <a:endParaRPr lang="en-US" sz="1000" dirty="0"/>
          </a:p>
        </p:txBody>
      </p:sp>
      <p:sp>
        <p:nvSpPr>
          <p:cNvPr id="112" name="s112"/>
          <p:cNvSpPr/>
          <p:nvPr/>
        </p:nvSpPr>
        <p:spPr>
          <a:xfrm>
            <a:off x="543154" y="33771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BankAccount</a:t>
            </a:r>
            <a:r>
              <a:rPr lang="en-US" sz="1000" b="0" dirty="0">
                <a:solidFill>
                  <a:srgbClr val="E2E8F0"/>
                </a:solidFill>
                <a:latin typeface="Consolas"/>
                <a:ea typeface="Consolas"/>
                <a:cs typeface="Consolas"/>
              </a:rPr>
              <a:t>(</a:t>
            </a:r>
            <a:r>
              <a:rPr lang="en-US" sz="1000" b="0" dirty="0">
                <a:solidFill>
                  <a:srgbClr val="60A5FA"/>
                </a:solidFill>
                <a:latin typeface="Consolas"/>
                <a:ea typeface="Consolas"/>
                <a:cs typeface="Consolas"/>
              </a:rPr>
              <a:t>string</a:t>
            </a:r>
            <a:r>
              <a:rPr lang="en-US" sz="1000" b="0" dirty="0">
                <a:solidFill>
                  <a:srgbClr val="E2E8F0"/>
                </a:solidFill>
                <a:latin typeface="Consolas"/>
                <a:ea typeface="Consolas"/>
                <a:cs typeface="Consolas"/>
              </a:rPr>
              <a:t> owner, </a:t>
            </a:r>
            <a:r>
              <a:rPr lang="en-US" sz="1000" b="0" dirty="0">
                <a:solidFill>
                  <a:srgbClr val="60A5FA"/>
                </a:solidFill>
                <a:latin typeface="Consolas"/>
                <a:ea typeface="Consolas"/>
                <a:cs typeface="Consolas"/>
              </a:rPr>
              <a:t>decimal</a:t>
            </a:r>
            <a:r>
              <a:rPr lang="en-US" sz="1000" b="0" dirty="0">
                <a:solidFill>
                  <a:srgbClr val="E2E8F0"/>
                </a:solidFill>
                <a:latin typeface="Consolas"/>
                <a:ea typeface="Consolas"/>
                <a:cs typeface="Consolas"/>
              </a:rPr>
              <a:t> openingBalance = </a:t>
            </a:r>
            <a:r>
              <a:rPr lang="en-US" sz="1000" b="0" dirty="0">
                <a:solidFill>
                  <a:srgbClr val="C4B5FD"/>
                </a:solidFill>
                <a:latin typeface="Consolas"/>
                <a:ea typeface="Consolas"/>
                <a:cs typeface="Consolas"/>
              </a:rPr>
              <a:t>0</a:t>
            </a:r>
            <a:r>
              <a:rPr lang="en-US" sz="1000" b="0" dirty="0">
                <a:solidFill>
                  <a:srgbClr val="E2E8F0"/>
                </a:solidFill>
                <a:latin typeface="Consolas"/>
                <a:ea typeface="Consolas"/>
                <a:cs typeface="Consolas"/>
              </a:rPr>
              <a:t>)</a:t>
            </a:r>
            <a:endParaRPr lang="en-US" sz="1000" dirty="0"/>
          </a:p>
        </p:txBody>
      </p:sp>
      <p:sp>
        <p:nvSpPr>
          <p:cNvPr id="113" name="s113"/>
          <p:cNvSpPr/>
          <p:nvPr/>
        </p:nvSpPr>
        <p:spPr>
          <a:xfrm>
            <a:off x="543154" y="35295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=&gt; (</a:t>
            </a:r>
            <a:r>
              <a:rPr lang="en-US" sz="1000" b="0" dirty="0">
                <a:solidFill>
                  <a:srgbClr val="7DD3FC"/>
                </a:solidFill>
                <a:latin typeface="Consolas"/>
                <a:ea typeface="Consolas"/>
                <a:cs typeface="Consolas"/>
              </a:rPr>
              <a:t>Owner</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Balance</a:t>
            </a:r>
            <a:r>
              <a:rPr lang="en-US" sz="1000" b="0" dirty="0">
                <a:solidFill>
                  <a:srgbClr val="E2E8F0"/>
                </a:solidFill>
                <a:latin typeface="Consolas"/>
                <a:ea typeface="Consolas"/>
                <a:cs typeface="Consolas"/>
              </a:rPr>
              <a:t>) = (owner, openingBalance);</a:t>
            </a:r>
            <a:endParaRPr lang="en-US" sz="1000" dirty="0"/>
          </a:p>
        </p:txBody>
      </p:sp>
      <p:sp>
        <p:nvSpPr>
          <p:cNvPr id="114" name="s114"/>
          <p:cNvSpPr/>
          <p:nvPr/>
        </p:nvSpPr>
        <p:spPr>
          <a:xfrm>
            <a:off x="543154" y="38343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void</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Deposit</a:t>
            </a:r>
            <a:r>
              <a:rPr lang="en-US" sz="1000" b="0" dirty="0">
                <a:solidFill>
                  <a:srgbClr val="E2E8F0"/>
                </a:solidFill>
                <a:latin typeface="Consolas"/>
                <a:ea typeface="Consolas"/>
                <a:cs typeface="Consolas"/>
              </a:rPr>
              <a:t>(</a:t>
            </a:r>
            <a:r>
              <a:rPr lang="en-US" sz="1000" b="0" dirty="0">
                <a:solidFill>
                  <a:srgbClr val="60A5FA"/>
                </a:solidFill>
                <a:latin typeface="Consolas"/>
                <a:ea typeface="Consolas"/>
                <a:cs typeface="Consolas"/>
              </a:rPr>
              <a:t>decimal</a:t>
            </a:r>
            <a:r>
              <a:rPr lang="en-US" sz="1000" b="0" dirty="0">
                <a:solidFill>
                  <a:srgbClr val="E2E8F0"/>
                </a:solidFill>
                <a:latin typeface="Consolas"/>
                <a:ea typeface="Consolas"/>
                <a:cs typeface="Consolas"/>
              </a:rPr>
              <a:t> amount)</a:t>
            </a:r>
            <a:endParaRPr lang="en-US" sz="1000" dirty="0"/>
          </a:p>
        </p:txBody>
      </p:sp>
      <p:sp>
        <p:nvSpPr>
          <p:cNvPr id="115" name="s115"/>
          <p:cNvSpPr/>
          <p:nvPr/>
        </p:nvSpPr>
        <p:spPr>
          <a:xfrm>
            <a:off x="543154" y="39867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endParaRPr lang="en-US" sz="1000" dirty="0"/>
          </a:p>
        </p:txBody>
      </p:sp>
      <p:sp>
        <p:nvSpPr>
          <p:cNvPr id="116" name="s116"/>
          <p:cNvSpPr/>
          <p:nvPr/>
        </p:nvSpPr>
        <p:spPr>
          <a:xfrm>
            <a:off x="543154" y="41391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if</a:t>
            </a:r>
            <a:r>
              <a:rPr lang="en-US" sz="1000" b="0" dirty="0">
                <a:solidFill>
                  <a:srgbClr val="E2E8F0"/>
                </a:solidFill>
                <a:latin typeface="Consolas"/>
                <a:ea typeface="Consolas"/>
                <a:cs typeface="Consolas"/>
              </a:rPr>
              <a:t> (amount &lt;= </a:t>
            </a:r>
            <a:r>
              <a:rPr lang="en-US" sz="1000" b="0" dirty="0">
                <a:solidFill>
                  <a:srgbClr val="C4B5FD"/>
                </a:solidFill>
                <a:latin typeface="Consolas"/>
                <a:ea typeface="Consolas"/>
                <a:cs typeface="Consolas"/>
              </a:rPr>
              <a:t>0</a:t>
            </a:r>
            <a:r>
              <a:rPr lang="en-US" sz="1000" b="0" dirty="0">
                <a:solidFill>
                  <a:srgbClr val="E2E8F0"/>
                </a:solidFill>
                <a:latin typeface="Consolas"/>
                <a:ea typeface="Consolas"/>
                <a:cs typeface="Consolas"/>
              </a:rPr>
              <a:t>)</a:t>
            </a:r>
            <a:endParaRPr lang="en-US" sz="1000" dirty="0"/>
          </a:p>
        </p:txBody>
      </p:sp>
      <p:sp>
        <p:nvSpPr>
          <p:cNvPr id="117" name="s117"/>
          <p:cNvSpPr/>
          <p:nvPr/>
        </p:nvSpPr>
        <p:spPr>
          <a:xfrm>
            <a:off x="543154" y="42915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throw</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new</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ArgumentOutOfRangeException</a:t>
            </a:r>
            <a:r>
              <a:rPr lang="en-US" sz="1000" b="0" dirty="0">
                <a:solidFill>
                  <a:srgbClr val="E2E8F0"/>
                </a:solidFill>
                <a:latin typeface="Consolas"/>
                <a:ea typeface="Consolas"/>
                <a:cs typeface="Consolas"/>
              </a:rPr>
              <a:t>(nameof(amount));</a:t>
            </a:r>
            <a:endParaRPr lang="en-US" sz="1000" dirty="0"/>
          </a:p>
        </p:txBody>
      </p:sp>
      <p:sp>
        <p:nvSpPr>
          <p:cNvPr id="118" name="s118"/>
          <p:cNvSpPr/>
          <p:nvPr/>
        </p:nvSpPr>
        <p:spPr>
          <a:xfrm>
            <a:off x="543154" y="44439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Balance</a:t>
            </a:r>
            <a:r>
              <a:rPr lang="en-US" sz="1000" b="0" dirty="0">
                <a:solidFill>
                  <a:srgbClr val="E2E8F0"/>
                </a:solidFill>
                <a:latin typeface="Consolas"/>
                <a:ea typeface="Consolas"/>
                <a:cs typeface="Consolas"/>
              </a:rPr>
              <a:t> += amount;</a:t>
            </a:r>
            <a:endParaRPr lang="en-US" sz="1000" dirty="0"/>
          </a:p>
        </p:txBody>
      </p:sp>
      <p:sp>
        <p:nvSpPr>
          <p:cNvPr id="119" name="s119"/>
          <p:cNvSpPr/>
          <p:nvPr/>
        </p:nvSpPr>
        <p:spPr>
          <a:xfrm>
            <a:off x="543154" y="45963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endParaRPr lang="en-US" sz="1000" dirty="0"/>
          </a:p>
        </p:txBody>
      </p:sp>
      <p:sp>
        <p:nvSpPr>
          <p:cNvPr id="120" name="s120"/>
          <p:cNvSpPr/>
          <p:nvPr/>
        </p:nvSpPr>
        <p:spPr>
          <a:xfrm>
            <a:off x="543154" y="47487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21" name="s121"/>
          <p:cNvSpPr txBox="1"/>
          <p:nvPr/>
        </p:nvSpPr>
        <p:spPr>
          <a:xfrm>
            <a:off x="6120994" y="1810512"/>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13D0F7"/>
                </a:solidFill>
                <a:latin typeface="Segoe UI"/>
                <a:ea typeface="Segoe UI"/>
                <a:cs typeface="Segoe UI"/>
              </a:rPr>
              <a:t>ITS RULES, IN PLAIN WORDS</a:t>
            </a:r>
            <a:endParaRPr lang="en-US" sz="1050" dirty="0"/>
          </a:p>
        </p:txBody>
      </p:sp>
      <p:sp>
        <p:nvSpPr>
          <p:cNvPr id="122" name="s122"/>
          <p:cNvSpPr/>
          <p:nvPr/>
        </p:nvSpPr>
        <p:spPr>
          <a:xfrm>
            <a:off x="6120994" y="2084832"/>
            <a:ext cx="5510174" cy="731520"/>
          </a:xfrm>
          <a:prstGeom prst="roundRect">
            <a:avLst>
              <a:gd name="adj" fmla="val 12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23" name="s123"/>
          <p:cNvSpPr/>
          <p:nvPr/>
        </p:nvSpPr>
        <p:spPr>
          <a:xfrm>
            <a:off x="6303874" y="2276856"/>
            <a:ext cx="594360" cy="347472"/>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0F172A"/>
                </a:solidFill>
                <a:latin typeface="Segoe UI"/>
                <a:ea typeface="Segoe UI"/>
                <a:cs typeface="Segoe UI"/>
              </a:rPr>
              <a:t>R1</a:t>
            </a:r>
            <a:endParaRPr lang="en-US" sz="1200" dirty="0"/>
          </a:p>
        </p:txBody>
      </p:sp>
      <p:sp>
        <p:nvSpPr>
          <p:cNvPr id="124" name="s124"/>
          <p:cNvSpPr txBox="1"/>
          <p:nvPr/>
        </p:nvSpPr>
        <p:spPr>
          <a:xfrm>
            <a:off x="7081114" y="2084832"/>
            <a:ext cx="4412894" cy="7315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A valid deposit adds the amount to the Balance.</a:t>
            </a:r>
            <a:endParaRPr lang="en-US" sz="1400" dirty="0"/>
          </a:p>
        </p:txBody>
      </p:sp>
      <p:sp>
        <p:nvSpPr>
          <p:cNvPr id="125" name="s125"/>
          <p:cNvSpPr/>
          <p:nvPr/>
        </p:nvSpPr>
        <p:spPr>
          <a:xfrm>
            <a:off x="6120994" y="2953512"/>
            <a:ext cx="5510174" cy="731520"/>
          </a:xfrm>
          <a:prstGeom prst="roundRect">
            <a:avLst>
              <a:gd name="adj" fmla="val 12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6" name="s126"/>
          <p:cNvSpPr/>
          <p:nvPr/>
        </p:nvSpPr>
        <p:spPr>
          <a:xfrm>
            <a:off x="6303874" y="3145536"/>
            <a:ext cx="594360" cy="347472"/>
          </a:xfrm>
          <a:prstGeom prst="roundRect">
            <a:avLst>
              <a:gd name="adj" fmla="val 50000"/>
            </a:avLst>
          </a:prstGeom>
          <a:solidFill>
            <a:srgbClr val="F87171"/>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0F172A"/>
                </a:solidFill>
                <a:latin typeface="Segoe UI"/>
                <a:ea typeface="Segoe UI"/>
                <a:cs typeface="Segoe UI"/>
              </a:rPr>
              <a:t>R2</a:t>
            </a:r>
            <a:endParaRPr lang="en-US" sz="1200" dirty="0"/>
          </a:p>
        </p:txBody>
      </p:sp>
      <p:sp>
        <p:nvSpPr>
          <p:cNvPr id="127" name="s127"/>
          <p:cNvSpPr txBox="1"/>
          <p:nvPr/>
        </p:nvSpPr>
        <p:spPr>
          <a:xfrm>
            <a:off x="7081114" y="2953512"/>
            <a:ext cx="4412894" cy="7315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A deposit of 0 or less is refused (throws).</a:t>
            </a:r>
            <a:endParaRPr lang="en-US" sz="1400" dirty="0"/>
          </a:p>
        </p:txBody>
      </p:sp>
      <p:sp>
        <p:nvSpPr>
          <p:cNvPr id="128" name="s128"/>
          <p:cNvSpPr/>
          <p:nvPr/>
        </p:nvSpPr>
        <p:spPr>
          <a:xfrm>
            <a:off x="6120994" y="3822192"/>
            <a:ext cx="5510174" cy="731520"/>
          </a:xfrm>
          <a:prstGeom prst="roundRect">
            <a:avLst>
              <a:gd name="adj" fmla="val 12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29" name="s129"/>
          <p:cNvSpPr/>
          <p:nvPr/>
        </p:nvSpPr>
        <p:spPr>
          <a:xfrm>
            <a:off x="6303874" y="4014216"/>
            <a:ext cx="594360" cy="347472"/>
          </a:xfrm>
          <a:prstGeom prst="roundRect">
            <a:avLst>
              <a:gd name="adj" fmla="val 50000"/>
            </a:avLst>
          </a:prstGeom>
          <a:solidFill>
            <a:srgbClr val="FBBF24"/>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0F172A"/>
                </a:solidFill>
                <a:latin typeface="Segoe UI"/>
                <a:ea typeface="Segoe UI"/>
                <a:cs typeface="Segoe UI"/>
              </a:rPr>
              <a:t>R3</a:t>
            </a:r>
            <a:endParaRPr lang="en-US" sz="1200" dirty="0"/>
          </a:p>
        </p:txBody>
      </p:sp>
      <p:sp>
        <p:nvSpPr>
          <p:cNvPr id="130" name="s130"/>
          <p:cNvSpPr txBox="1"/>
          <p:nvPr/>
        </p:nvSpPr>
        <p:spPr>
          <a:xfrm>
            <a:off x="7081114" y="3822192"/>
            <a:ext cx="4412894" cy="7315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A refused deposit leaves the Balance unchanged.</a:t>
            </a:r>
            <a:endParaRPr lang="en-US" sz="1400" dirty="0"/>
          </a:p>
        </p:txBody>
      </p:sp>
      <p:sp>
        <p:nvSpPr>
          <p:cNvPr id="131" name="s131"/>
          <p:cNvSpPr/>
          <p:nvPr/>
        </p:nvSpPr>
        <p:spPr>
          <a:xfrm>
            <a:off x="652882" y="4416552"/>
            <a:ext cx="5129784" cy="20726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32" name="s132"/>
          <p:cNvSpPr/>
          <p:nvPr/>
        </p:nvSpPr>
        <p:spPr>
          <a:xfrm>
            <a:off x="652882" y="4111752"/>
            <a:ext cx="5129784" cy="35966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33" name="s133"/>
          <p:cNvSpPr/>
          <p:nvPr/>
        </p:nvSpPr>
        <p:spPr>
          <a:xfrm>
            <a:off x="6120994" y="4754880"/>
            <a:ext cx="5510174" cy="896112"/>
          </a:xfrm>
          <a:prstGeom prst="roundRect">
            <a:avLst>
              <a:gd name="adj" fmla="val 10000"/>
            </a:avLst>
          </a:prstGeom>
          <a:solidFill>
            <a:srgbClr val="13D0F7">
              <a:alpha val="8000"/>
            </a:srgbClr>
          </a:solidFill>
          <a:ln w="12700">
            <a:solidFill>
              <a:srgbClr val="13D0F7"/>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13D0F7"/>
                </a:solidFill>
                <a:latin typeface="Segoe UI"/>
                <a:ea typeface="Segoe UI"/>
                <a:cs typeface="Segoe UI"/>
              </a:rPr>
              <a:t>TIP</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Every if, every throw and every calculation is a rule. Rules become tests.</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anim calcmode="lin" valueType="num">
                                      <p:cBhvr additive="base">
                                        <p:cTn id="12" dur="500" decel="100000" fill="hold"/>
                                        <p:tgtEl>
                                          <p:spTgt spid="103"/>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7"/>
                                        </p:tgtEl>
                                        <p:attrNameLst>
                                          <p:attrName>style.visibility</p:attrName>
                                        </p:attrNameLst>
                                      </p:cBhvr>
                                      <p:to>
                                        <p:strVal val="visible"/>
                                      </p:to>
                                    </p:set>
                                    <p:animEffect transition="in" filter="fade">
                                      <p:cBhvr>
                                        <p:cTn id="67" dur="500"/>
                                        <p:tgtEl>
                                          <p:spTgt spid="117"/>
                                        </p:tgtEl>
                                      </p:cBhvr>
                                    </p:animEffect>
                                    <p:anim calcmode="lin" valueType="num">
                                      <p:cBhvr additive="base">
                                        <p:cTn id="68" dur="500" decel="100000" fill="hold"/>
                                        <p:tgtEl>
                                          <p:spTgt spid="117"/>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8"/>
                                        </p:tgtEl>
                                        <p:attrNameLst>
                                          <p:attrName>style.visibility</p:attrName>
                                        </p:attrNameLst>
                                      </p:cBhvr>
                                      <p:to>
                                        <p:strVal val="visible"/>
                                      </p:to>
                                    </p:set>
                                    <p:animEffect transition="in" filter="fade">
                                      <p:cBhvr>
                                        <p:cTn id="71" dur="500"/>
                                        <p:tgtEl>
                                          <p:spTgt spid="118"/>
                                        </p:tgtEl>
                                      </p:cBhvr>
                                    </p:animEffect>
                                    <p:anim calcmode="lin" valueType="num">
                                      <p:cBhvr additive="base">
                                        <p:cTn id="72" dur="500" decel="100000" fill="hold"/>
                                        <p:tgtEl>
                                          <p:spTgt spid="118"/>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9"/>
                                        </p:tgtEl>
                                        <p:attrNameLst>
                                          <p:attrName>style.visibility</p:attrName>
                                        </p:attrNameLst>
                                      </p:cBhvr>
                                      <p:to>
                                        <p:strVal val="visible"/>
                                      </p:to>
                                    </p:set>
                                    <p:animEffect transition="in" filter="fade">
                                      <p:cBhvr>
                                        <p:cTn id="75" dur="500"/>
                                        <p:tgtEl>
                                          <p:spTgt spid="119"/>
                                        </p:tgtEl>
                                      </p:cBhvr>
                                    </p:animEffect>
                                    <p:anim calcmode="lin" valueType="num">
                                      <p:cBhvr additive="base">
                                        <p:cTn id="76" dur="500" decel="100000" fill="hold"/>
                                        <p:tgtEl>
                                          <p:spTgt spid="119"/>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20"/>
                                        </p:tgtEl>
                                        <p:attrNameLst>
                                          <p:attrName>style.visibility</p:attrName>
                                        </p:attrNameLst>
                                      </p:cBhvr>
                                      <p:to>
                                        <p:strVal val="visible"/>
                                      </p:to>
                                    </p:set>
                                    <p:animEffect transition="in" filter="fade">
                                      <p:cBhvr>
                                        <p:cTn id="79" dur="500"/>
                                        <p:tgtEl>
                                          <p:spTgt spid="120"/>
                                        </p:tgtEl>
                                      </p:cBhvr>
                                    </p:animEffect>
                                    <p:anim calcmode="lin" valueType="num">
                                      <p:cBhvr additive="base">
                                        <p:cTn id="80" dur="500" decel="100000" fill="hold"/>
                                        <p:tgtEl>
                                          <p:spTgt spid="120"/>
                                        </p:tgtEl>
                                        <p:attrNameLst>
                                          <p:attrName>ppt_y</p:attrName>
                                        </p:attrNameLst>
                                      </p:cBhvr>
                                      <p:tavLst>
                                        <p:tav tm="0">
                                          <p:val>
                                            <p:strVal val="#ppt_y+0.06"/>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42" presetClass="entr" presetSubtype="0" fill="hold" grpId="0" nodeType="clickEffect">
                                  <p:stCondLst>
                                    <p:cond delay="0"/>
                                  </p:stCondLst>
                                  <p:childTnLst>
                                    <p:set>
                                      <p:cBhvr>
                                        <p:cTn id="84" dur="1" fill="hold">
                                          <p:stCondLst>
                                            <p:cond delay="0"/>
                                          </p:stCondLst>
                                        </p:cTn>
                                        <p:tgtEl>
                                          <p:spTgt spid="122"/>
                                        </p:tgtEl>
                                        <p:attrNameLst>
                                          <p:attrName>style.visibility</p:attrName>
                                        </p:attrNameLst>
                                      </p:cBhvr>
                                      <p:to>
                                        <p:strVal val="visible"/>
                                      </p:to>
                                    </p:set>
                                    <p:animEffect transition="in" filter="fade">
                                      <p:cBhvr>
                                        <p:cTn id="85" dur="500"/>
                                        <p:tgtEl>
                                          <p:spTgt spid="122"/>
                                        </p:tgtEl>
                                      </p:cBhvr>
                                    </p:animEffect>
                                    <p:anim calcmode="lin" valueType="num">
                                      <p:cBhvr additive="base">
                                        <p:cTn id="86" dur="500" decel="100000" fill="hold"/>
                                        <p:tgtEl>
                                          <p:spTgt spid="122"/>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23"/>
                                        </p:tgtEl>
                                        <p:attrNameLst>
                                          <p:attrName>style.visibility</p:attrName>
                                        </p:attrNameLst>
                                      </p:cBhvr>
                                      <p:to>
                                        <p:strVal val="visible"/>
                                      </p:to>
                                    </p:set>
                                    <p:animEffect transition="in" filter="fade">
                                      <p:cBhvr>
                                        <p:cTn id="89" dur="500"/>
                                        <p:tgtEl>
                                          <p:spTgt spid="123"/>
                                        </p:tgtEl>
                                      </p:cBhvr>
                                    </p:animEffect>
                                    <p:anim calcmode="lin" valueType="num">
                                      <p:cBhvr additive="base">
                                        <p:cTn id="90" dur="500" decel="100000" fill="hold"/>
                                        <p:tgtEl>
                                          <p:spTgt spid="123"/>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4"/>
                                        </p:tgtEl>
                                        <p:attrNameLst>
                                          <p:attrName>style.visibility</p:attrName>
                                        </p:attrNameLst>
                                      </p:cBhvr>
                                      <p:to>
                                        <p:strVal val="visible"/>
                                      </p:to>
                                    </p:set>
                                    <p:animEffect transition="in" filter="fade">
                                      <p:cBhvr>
                                        <p:cTn id="93" dur="500"/>
                                        <p:tgtEl>
                                          <p:spTgt spid="124"/>
                                        </p:tgtEl>
                                      </p:cBhvr>
                                    </p:animEffect>
                                    <p:anim calcmode="lin" valueType="num">
                                      <p:cBhvr additive="base">
                                        <p:cTn id="94" dur="500" decel="100000" fill="hold"/>
                                        <p:tgtEl>
                                          <p:spTgt spid="124"/>
                                        </p:tgtEl>
                                        <p:attrNameLst>
                                          <p:attrName>ppt_y</p:attrName>
                                        </p:attrNameLst>
                                      </p:cBhvr>
                                      <p:tavLst>
                                        <p:tav tm="0">
                                          <p:val>
                                            <p:strVal val="#ppt_y+0.06"/>
                                          </p:val>
                                        </p:tav>
                                        <p:tav tm="100000">
                                          <p:val>
                                            <p:strVal val="#ppt_y"/>
                                          </p:val>
                                        </p:tav>
                                      </p:tavLst>
                                    </p:anim>
                                  </p:childTnLst>
                                </p:cTn>
                              </p:par>
                              <p:par>
                                <p:cTn id="95" presetID="53" presetClass="entr" presetSubtype="16" fill="hold" grpId="0" nodeType="withEffect">
                                  <p:stCondLst>
                                    <p:cond delay="150"/>
                                  </p:stCondLst>
                                  <p:childTnLst>
                                    <p:set>
                                      <p:cBhvr>
                                        <p:cTn id="96" dur="1" fill="hold">
                                          <p:stCondLst>
                                            <p:cond delay="0"/>
                                          </p:stCondLst>
                                        </p:cTn>
                                        <p:tgtEl>
                                          <p:spTgt spid="131"/>
                                        </p:tgtEl>
                                        <p:attrNameLst>
                                          <p:attrName>style.visibility</p:attrName>
                                        </p:attrNameLst>
                                      </p:cBhvr>
                                      <p:to>
                                        <p:strVal val="visible"/>
                                      </p:to>
                                    </p:set>
                                    <p:anim calcmode="lin" valueType="num">
                                      <p:cBhvr additive="base">
                                        <p:cTn id="97" dur="500" decel="100000" fill="hold"/>
                                        <p:tgtEl>
                                          <p:spTgt spid="131"/>
                                        </p:tgtEl>
                                        <p:attrNameLst>
                                          <p:attrName>ppt_w</p:attrName>
                                        </p:attrNameLst>
                                      </p:cBhvr>
                                      <p:tavLst>
                                        <p:tav tm="0">
                                          <p:val>
                                            <p:strVal val="#ppt_w*0.3"/>
                                          </p:val>
                                        </p:tav>
                                        <p:tav tm="100000">
                                          <p:val>
                                            <p:strVal val="#ppt_w*1.08"/>
                                          </p:val>
                                        </p:tav>
                                      </p:tavLst>
                                    </p:anim>
                                    <p:anim calcmode="lin" valueType="num">
                                      <p:cBhvr additive="base">
                                        <p:cTn id="98" dur="500" decel="100000" fill="hold"/>
                                        <p:tgtEl>
                                          <p:spTgt spid="131"/>
                                        </p:tgtEl>
                                        <p:attrNameLst>
                                          <p:attrName>ppt_h</p:attrName>
                                        </p:attrNameLst>
                                      </p:cBhvr>
                                      <p:tavLst>
                                        <p:tav tm="0">
                                          <p:val>
                                            <p:strVal val="#ppt_h*0.3"/>
                                          </p:val>
                                        </p:tav>
                                        <p:tav tm="100000">
                                          <p:val>
                                            <p:strVal val="#ppt_h*1.08"/>
                                          </p:val>
                                        </p:tav>
                                      </p:tavLst>
                                    </p:anim>
                                    <p:animEffect transition="in" filter="fade">
                                      <p:cBhvr>
                                        <p:cTn id="99" dur="250"/>
                                        <p:tgtEl>
                                          <p:spTgt spid="131"/>
                                        </p:tgtEl>
                                      </p:cBhvr>
                                    </p:animEffect>
                                    <p:anim calcmode="lin" valueType="num">
                                      <p:cBhvr additive="base">
                                        <p:cTn id="100" dur="160" fill="hold">
                                          <p:stCondLst>
                                            <p:cond delay="500"/>
                                          </p:stCondLst>
                                        </p:cTn>
                                        <p:tgtEl>
                                          <p:spTgt spid="131"/>
                                        </p:tgtEl>
                                        <p:attrNameLst>
                                          <p:attrName>ppt_w</p:attrName>
                                        </p:attrNameLst>
                                      </p:cBhvr>
                                      <p:tavLst>
                                        <p:tav tm="0">
                                          <p:val>
                                            <p:strVal val="#ppt_w*1.08"/>
                                          </p:val>
                                        </p:tav>
                                        <p:tav tm="100000">
                                          <p:val>
                                            <p:strVal val="#ppt_w"/>
                                          </p:val>
                                        </p:tav>
                                      </p:tavLst>
                                    </p:anim>
                                    <p:anim calcmode="lin" valueType="num">
                                      <p:cBhvr additive="base">
                                        <p:cTn id="101" dur="160" fill="hold">
                                          <p:stCondLst>
                                            <p:cond delay="500"/>
                                          </p:stCondLst>
                                        </p:cTn>
                                        <p:tgtEl>
                                          <p:spTgt spid="131"/>
                                        </p:tgtEl>
                                        <p:attrNameLst>
                                          <p:attrName>ppt_h</p:attrName>
                                        </p:attrNameLst>
                                      </p:cBhvr>
                                      <p:tavLst>
                                        <p:tav tm="0">
                                          <p:val>
                                            <p:strVal val="#ppt_h*1.08"/>
                                          </p:val>
                                        </p:tav>
                                        <p:tav tm="100000">
                                          <p:val>
                                            <p:strVal val="#ppt_h"/>
                                          </p:val>
                                        </p:tav>
                                      </p:tavLst>
                                    </p:anim>
                                  </p:childTnLst>
                                </p:cTn>
                              </p:par>
                            </p:childTnLst>
                          </p:cTn>
                        </p:par>
                      </p:childTnLst>
                    </p:cTn>
                  </p:par>
                  <p:par>
                    <p:cTn id="102" fill="hold">
                      <p:stCondLst>
                        <p:cond delay="indefinite"/>
                      </p:stCondLst>
                      <p:childTnLst>
                        <p:par>
                          <p:cTn id="103" fill="hold">
                            <p:stCondLst>
                              <p:cond delay="0"/>
                            </p:stCondLst>
                            <p:childTnLst>
                              <p:par>
                                <p:cTn id="104" presetID="42" presetClass="entr" presetSubtype="0" fill="hold" grpId="0" nodeType="clickEffect">
                                  <p:stCondLst>
                                    <p:cond delay="0"/>
                                  </p:stCondLst>
                                  <p:childTnLst>
                                    <p:set>
                                      <p:cBhvr>
                                        <p:cTn id="105" dur="1" fill="hold">
                                          <p:stCondLst>
                                            <p:cond delay="0"/>
                                          </p:stCondLst>
                                        </p:cTn>
                                        <p:tgtEl>
                                          <p:spTgt spid="125"/>
                                        </p:tgtEl>
                                        <p:attrNameLst>
                                          <p:attrName>style.visibility</p:attrName>
                                        </p:attrNameLst>
                                      </p:cBhvr>
                                      <p:to>
                                        <p:strVal val="visible"/>
                                      </p:to>
                                    </p:set>
                                    <p:animEffect transition="in" filter="fade">
                                      <p:cBhvr>
                                        <p:cTn id="106" dur="500"/>
                                        <p:tgtEl>
                                          <p:spTgt spid="125"/>
                                        </p:tgtEl>
                                      </p:cBhvr>
                                    </p:animEffect>
                                    <p:anim calcmode="lin" valueType="num">
                                      <p:cBhvr additive="base">
                                        <p:cTn id="107" dur="500" decel="100000" fill="hold"/>
                                        <p:tgtEl>
                                          <p:spTgt spid="125"/>
                                        </p:tgtEl>
                                        <p:attrNameLst>
                                          <p:attrName>ppt_y</p:attrName>
                                        </p:attrNameLst>
                                      </p:cBhvr>
                                      <p:tavLst>
                                        <p:tav tm="0">
                                          <p:val>
                                            <p:strVal val="#ppt_y+0.06"/>
                                          </p:val>
                                        </p:tav>
                                        <p:tav tm="100000">
                                          <p:val>
                                            <p:strVal val="#ppt_y"/>
                                          </p:val>
                                        </p:tav>
                                      </p:tavLst>
                                    </p:anim>
                                  </p:childTnLst>
                                </p:cTn>
                              </p:par>
                              <p:par>
                                <p:cTn id="108" presetID="42" presetClass="entr" presetSubtype="0" fill="hold" grpId="0" nodeType="withEffect">
                                  <p:stCondLst>
                                    <p:cond delay="0"/>
                                  </p:stCondLst>
                                  <p:childTnLst>
                                    <p:set>
                                      <p:cBhvr>
                                        <p:cTn id="109" dur="1" fill="hold">
                                          <p:stCondLst>
                                            <p:cond delay="0"/>
                                          </p:stCondLst>
                                        </p:cTn>
                                        <p:tgtEl>
                                          <p:spTgt spid="126"/>
                                        </p:tgtEl>
                                        <p:attrNameLst>
                                          <p:attrName>style.visibility</p:attrName>
                                        </p:attrNameLst>
                                      </p:cBhvr>
                                      <p:to>
                                        <p:strVal val="visible"/>
                                      </p:to>
                                    </p:set>
                                    <p:animEffect transition="in" filter="fade">
                                      <p:cBhvr>
                                        <p:cTn id="110" dur="500"/>
                                        <p:tgtEl>
                                          <p:spTgt spid="126"/>
                                        </p:tgtEl>
                                      </p:cBhvr>
                                    </p:animEffect>
                                    <p:anim calcmode="lin" valueType="num">
                                      <p:cBhvr additive="base">
                                        <p:cTn id="111" dur="500" decel="100000" fill="hold"/>
                                        <p:tgtEl>
                                          <p:spTgt spid="126"/>
                                        </p:tgtEl>
                                        <p:attrNameLst>
                                          <p:attrName>ppt_y</p:attrName>
                                        </p:attrNameLst>
                                      </p:cBhvr>
                                      <p:tavLst>
                                        <p:tav tm="0">
                                          <p:val>
                                            <p:strVal val="#ppt_y+0.06"/>
                                          </p:val>
                                        </p:tav>
                                        <p:tav tm="100000">
                                          <p:val>
                                            <p:strVal val="#ppt_y"/>
                                          </p:val>
                                        </p:tav>
                                      </p:tavLst>
                                    </p:anim>
                                  </p:childTnLst>
                                </p:cTn>
                              </p:par>
                              <p:par>
                                <p:cTn id="112" presetID="42" presetClass="entr" presetSubtype="0" fill="hold" grpId="0" nodeType="withEffect">
                                  <p:stCondLst>
                                    <p:cond delay="0"/>
                                  </p:stCondLst>
                                  <p:childTnLst>
                                    <p:set>
                                      <p:cBhvr>
                                        <p:cTn id="113" dur="1" fill="hold">
                                          <p:stCondLst>
                                            <p:cond delay="0"/>
                                          </p:stCondLst>
                                        </p:cTn>
                                        <p:tgtEl>
                                          <p:spTgt spid="127"/>
                                        </p:tgtEl>
                                        <p:attrNameLst>
                                          <p:attrName>style.visibility</p:attrName>
                                        </p:attrNameLst>
                                      </p:cBhvr>
                                      <p:to>
                                        <p:strVal val="visible"/>
                                      </p:to>
                                    </p:set>
                                    <p:animEffect transition="in" filter="fade">
                                      <p:cBhvr>
                                        <p:cTn id="114" dur="500"/>
                                        <p:tgtEl>
                                          <p:spTgt spid="127"/>
                                        </p:tgtEl>
                                      </p:cBhvr>
                                    </p:animEffect>
                                    <p:anim calcmode="lin" valueType="num">
                                      <p:cBhvr additive="base">
                                        <p:cTn id="115" dur="500" decel="100000" fill="hold"/>
                                        <p:tgtEl>
                                          <p:spTgt spid="127"/>
                                        </p:tgtEl>
                                        <p:attrNameLst>
                                          <p:attrName>ppt_y</p:attrName>
                                        </p:attrNameLst>
                                      </p:cBhvr>
                                      <p:tavLst>
                                        <p:tav tm="0">
                                          <p:val>
                                            <p:strVal val="#ppt_y+0.06"/>
                                          </p:val>
                                        </p:tav>
                                        <p:tav tm="100000">
                                          <p:val>
                                            <p:strVal val="#ppt_y"/>
                                          </p:val>
                                        </p:tav>
                                      </p:tavLst>
                                    </p:anim>
                                  </p:childTnLst>
                                </p:cTn>
                              </p:par>
                              <p:par>
                                <p:cTn id="116" presetID="53" presetClass="entr" presetSubtype="16" fill="hold" grpId="0" nodeType="withEffect">
                                  <p:stCondLst>
                                    <p:cond delay="150"/>
                                  </p:stCondLst>
                                  <p:childTnLst>
                                    <p:set>
                                      <p:cBhvr>
                                        <p:cTn id="117" dur="1" fill="hold">
                                          <p:stCondLst>
                                            <p:cond delay="0"/>
                                          </p:stCondLst>
                                        </p:cTn>
                                        <p:tgtEl>
                                          <p:spTgt spid="132"/>
                                        </p:tgtEl>
                                        <p:attrNameLst>
                                          <p:attrName>style.visibility</p:attrName>
                                        </p:attrNameLst>
                                      </p:cBhvr>
                                      <p:to>
                                        <p:strVal val="visible"/>
                                      </p:to>
                                    </p:set>
                                    <p:anim calcmode="lin" valueType="num">
                                      <p:cBhvr additive="base">
                                        <p:cTn id="118" dur="500" decel="100000" fill="hold"/>
                                        <p:tgtEl>
                                          <p:spTgt spid="132"/>
                                        </p:tgtEl>
                                        <p:attrNameLst>
                                          <p:attrName>ppt_w</p:attrName>
                                        </p:attrNameLst>
                                      </p:cBhvr>
                                      <p:tavLst>
                                        <p:tav tm="0">
                                          <p:val>
                                            <p:strVal val="#ppt_w*0.3"/>
                                          </p:val>
                                        </p:tav>
                                        <p:tav tm="100000">
                                          <p:val>
                                            <p:strVal val="#ppt_w*1.08"/>
                                          </p:val>
                                        </p:tav>
                                      </p:tavLst>
                                    </p:anim>
                                    <p:anim calcmode="lin" valueType="num">
                                      <p:cBhvr additive="base">
                                        <p:cTn id="119" dur="500" decel="100000" fill="hold"/>
                                        <p:tgtEl>
                                          <p:spTgt spid="132"/>
                                        </p:tgtEl>
                                        <p:attrNameLst>
                                          <p:attrName>ppt_h</p:attrName>
                                        </p:attrNameLst>
                                      </p:cBhvr>
                                      <p:tavLst>
                                        <p:tav tm="0">
                                          <p:val>
                                            <p:strVal val="#ppt_h*0.3"/>
                                          </p:val>
                                        </p:tav>
                                        <p:tav tm="100000">
                                          <p:val>
                                            <p:strVal val="#ppt_h*1.08"/>
                                          </p:val>
                                        </p:tav>
                                      </p:tavLst>
                                    </p:anim>
                                    <p:animEffect transition="in" filter="fade">
                                      <p:cBhvr>
                                        <p:cTn id="120" dur="250"/>
                                        <p:tgtEl>
                                          <p:spTgt spid="132"/>
                                        </p:tgtEl>
                                      </p:cBhvr>
                                    </p:animEffect>
                                    <p:anim calcmode="lin" valueType="num">
                                      <p:cBhvr additive="base">
                                        <p:cTn id="121" dur="160" fill="hold">
                                          <p:stCondLst>
                                            <p:cond delay="500"/>
                                          </p:stCondLst>
                                        </p:cTn>
                                        <p:tgtEl>
                                          <p:spTgt spid="132"/>
                                        </p:tgtEl>
                                        <p:attrNameLst>
                                          <p:attrName>ppt_w</p:attrName>
                                        </p:attrNameLst>
                                      </p:cBhvr>
                                      <p:tavLst>
                                        <p:tav tm="0">
                                          <p:val>
                                            <p:strVal val="#ppt_w*1.08"/>
                                          </p:val>
                                        </p:tav>
                                        <p:tav tm="100000">
                                          <p:val>
                                            <p:strVal val="#ppt_w"/>
                                          </p:val>
                                        </p:tav>
                                      </p:tavLst>
                                    </p:anim>
                                    <p:anim calcmode="lin" valueType="num">
                                      <p:cBhvr additive="base">
                                        <p:cTn id="122" dur="160" fill="hold">
                                          <p:stCondLst>
                                            <p:cond delay="500"/>
                                          </p:stCondLst>
                                        </p:cTn>
                                        <p:tgtEl>
                                          <p:spTgt spid="132"/>
                                        </p:tgtEl>
                                        <p:attrNameLst>
                                          <p:attrName>ppt_h</p:attrName>
                                        </p:attrNameLst>
                                      </p:cBhvr>
                                      <p:tavLst>
                                        <p:tav tm="0">
                                          <p:val>
                                            <p:strVal val="#ppt_h*1.08"/>
                                          </p:val>
                                        </p:tav>
                                        <p:tav tm="100000">
                                          <p:val>
                                            <p:strVal val="#ppt_h"/>
                                          </p:val>
                                        </p:tav>
                                      </p:tavLst>
                                    </p:anim>
                                  </p:childTnLst>
                                </p:cTn>
                              </p:par>
                            </p:childTnLst>
                          </p:cTn>
                        </p:par>
                      </p:childTnLst>
                    </p:cTn>
                  </p:par>
                  <p:par>
                    <p:cTn id="123" fill="hold">
                      <p:stCondLst>
                        <p:cond delay="indefinite"/>
                      </p:stCondLst>
                      <p:childTnLst>
                        <p:par>
                          <p:cTn id="124" fill="hold">
                            <p:stCondLst>
                              <p:cond delay="0"/>
                            </p:stCondLst>
                            <p:childTnLst>
                              <p:par>
                                <p:cTn id="125" presetID="42" presetClass="entr" presetSubtype="0" fill="hold" grpId="0" nodeType="clickEffect">
                                  <p:stCondLst>
                                    <p:cond delay="0"/>
                                  </p:stCondLst>
                                  <p:childTnLst>
                                    <p:set>
                                      <p:cBhvr>
                                        <p:cTn id="126" dur="1" fill="hold">
                                          <p:stCondLst>
                                            <p:cond delay="0"/>
                                          </p:stCondLst>
                                        </p:cTn>
                                        <p:tgtEl>
                                          <p:spTgt spid="128"/>
                                        </p:tgtEl>
                                        <p:attrNameLst>
                                          <p:attrName>style.visibility</p:attrName>
                                        </p:attrNameLst>
                                      </p:cBhvr>
                                      <p:to>
                                        <p:strVal val="visible"/>
                                      </p:to>
                                    </p:set>
                                    <p:animEffect transition="in" filter="fade">
                                      <p:cBhvr>
                                        <p:cTn id="127" dur="500"/>
                                        <p:tgtEl>
                                          <p:spTgt spid="128"/>
                                        </p:tgtEl>
                                      </p:cBhvr>
                                    </p:animEffect>
                                    <p:anim calcmode="lin" valueType="num">
                                      <p:cBhvr additive="base">
                                        <p:cTn id="128" dur="500" decel="100000" fill="hold"/>
                                        <p:tgtEl>
                                          <p:spTgt spid="128"/>
                                        </p:tgtEl>
                                        <p:attrNameLst>
                                          <p:attrName>ppt_y</p:attrName>
                                        </p:attrNameLst>
                                      </p:cBhvr>
                                      <p:tavLst>
                                        <p:tav tm="0">
                                          <p:val>
                                            <p:strVal val="#ppt_y+0.06"/>
                                          </p:val>
                                        </p:tav>
                                        <p:tav tm="100000">
                                          <p:val>
                                            <p:strVal val="#ppt_y"/>
                                          </p:val>
                                        </p:tav>
                                      </p:tavLst>
                                    </p:anim>
                                  </p:childTnLst>
                                </p:cTn>
                              </p:par>
                              <p:par>
                                <p:cTn id="129" presetID="42" presetClass="entr" presetSubtype="0" fill="hold" grpId="0" nodeType="withEffect">
                                  <p:stCondLst>
                                    <p:cond delay="0"/>
                                  </p:stCondLst>
                                  <p:childTnLst>
                                    <p:set>
                                      <p:cBhvr>
                                        <p:cTn id="130" dur="1" fill="hold">
                                          <p:stCondLst>
                                            <p:cond delay="0"/>
                                          </p:stCondLst>
                                        </p:cTn>
                                        <p:tgtEl>
                                          <p:spTgt spid="129"/>
                                        </p:tgtEl>
                                        <p:attrNameLst>
                                          <p:attrName>style.visibility</p:attrName>
                                        </p:attrNameLst>
                                      </p:cBhvr>
                                      <p:to>
                                        <p:strVal val="visible"/>
                                      </p:to>
                                    </p:set>
                                    <p:animEffect transition="in" filter="fade">
                                      <p:cBhvr>
                                        <p:cTn id="131" dur="500"/>
                                        <p:tgtEl>
                                          <p:spTgt spid="129"/>
                                        </p:tgtEl>
                                      </p:cBhvr>
                                    </p:animEffect>
                                    <p:anim calcmode="lin" valueType="num">
                                      <p:cBhvr additive="base">
                                        <p:cTn id="132" dur="500" decel="100000" fill="hold"/>
                                        <p:tgtEl>
                                          <p:spTgt spid="129"/>
                                        </p:tgtEl>
                                        <p:attrNameLst>
                                          <p:attrName>ppt_y</p:attrName>
                                        </p:attrNameLst>
                                      </p:cBhvr>
                                      <p:tavLst>
                                        <p:tav tm="0">
                                          <p:val>
                                            <p:strVal val="#ppt_y+0.06"/>
                                          </p:val>
                                        </p:tav>
                                        <p:tav tm="100000">
                                          <p:val>
                                            <p:strVal val="#ppt_y"/>
                                          </p:val>
                                        </p:tav>
                                      </p:tavLst>
                                    </p:anim>
                                  </p:childTnLst>
                                </p:cTn>
                              </p:par>
                              <p:par>
                                <p:cTn id="133" presetID="42" presetClass="entr" presetSubtype="0" fill="hold" grpId="0" nodeType="withEffect">
                                  <p:stCondLst>
                                    <p:cond delay="0"/>
                                  </p:stCondLst>
                                  <p:childTnLst>
                                    <p:set>
                                      <p:cBhvr>
                                        <p:cTn id="134" dur="1" fill="hold">
                                          <p:stCondLst>
                                            <p:cond delay="0"/>
                                          </p:stCondLst>
                                        </p:cTn>
                                        <p:tgtEl>
                                          <p:spTgt spid="130"/>
                                        </p:tgtEl>
                                        <p:attrNameLst>
                                          <p:attrName>style.visibility</p:attrName>
                                        </p:attrNameLst>
                                      </p:cBhvr>
                                      <p:to>
                                        <p:strVal val="visible"/>
                                      </p:to>
                                    </p:set>
                                    <p:animEffect transition="in" filter="fade">
                                      <p:cBhvr>
                                        <p:cTn id="135" dur="500"/>
                                        <p:tgtEl>
                                          <p:spTgt spid="130"/>
                                        </p:tgtEl>
                                      </p:cBhvr>
                                    </p:animEffect>
                                    <p:anim calcmode="lin" valueType="num">
                                      <p:cBhvr additive="base">
                                        <p:cTn id="136" dur="500" decel="100000" fill="hold"/>
                                        <p:tgtEl>
                                          <p:spTgt spid="130"/>
                                        </p:tgtEl>
                                        <p:attrNameLst>
                                          <p:attrName>ppt_y</p:attrName>
                                        </p:attrNameLst>
                                      </p:cBhvr>
                                      <p:tavLst>
                                        <p:tav tm="0">
                                          <p:val>
                                            <p:strVal val="#ppt_y+0.06"/>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42" presetClass="entr" presetSubtype="0" fill="hold" grpId="0" nodeType="clickEffect">
                                  <p:stCondLst>
                                    <p:cond delay="0"/>
                                  </p:stCondLst>
                                  <p:childTnLst>
                                    <p:set>
                                      <p:cBhvr>
                                        <p:cTn id="140" dur="1" fill="hold">
                                          <p:stCondLst>
                                            <p:cond delay="0"/>
                                          </p:stCondLst>
                                        </p:cTn>
                                        <p:tgtEl>
                                          <p:spTgt spid="133"/>
                                        </p:tgtEl>
                                        <p:attrNameLst>
                                          <p:attrName>style.visibility</p:attrName>
                                        </p:attrNameLst>
                                      </p:cBhvr>
                                      <p:to>
                                        <p:strVal val="visible"/>
                                      </p:to>
                                    </p:set>
                                    <p:animEffect transition="in" filter="fade">
                                      <p:cBhvr>
                                        <p:cTn id="141" dur="500"/>
                                        <p:tgtEl>
                                          <p:spTgt spid="133"/>
                                        </p:tgtEl>
                                      </p:cBhvr>
                                    </p:animEffect>
                                    <p:anim calcmode="lin" valueType="num">
                                      <p:cBhvr additive="base">
                                        <p:cTn id="142" dur="500" decel="100000" fill="hold"/>
                                        <p:tgtEl>
                                          <p:spTgt spid="133"/>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07085"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HOW MANY?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How Many Tests? Pick Cases, Not a Number</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Four questions give you the list. The list gives you the number.</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FIRST TEST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115</a:t>
            </a:r>
            <a:endParaRPr lang="en-US" sz="850" dirty="0"/>
          </a:p>
        </p:txBody>
      </p:sp>
      <p:sp>
        <p:nvSpPr>
          <p:cNvPr id="101" name="s101"/>
          <p:cNvSpPr/>
          <p:nvPr/>
        </p:nvSpPr>
        <p:spPr>
          <a:xfrm>
            <a:off x="543154" y="1783080"/>
            <a:ext cx="2651760" cy="822960"/>
          </a:xfrm>
          <a:prstGeom prst="roundRect">
            <a:avLst>
              <a:gd name="adj" fmla="val 12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02" name="s102"/>
          <p:cNvSpPr/>
          <p:nvPr/>
        </p:nvSpPr>
        <p:spPr>
          <a:xfrm>
            <a:off x="680314" y="1965960"/>
            <a:ext cx="457200" cy="457200"/>
          </a:xfrm>
          <a:prstGeom prst="ellipse">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400" b="1" dirty="0">
                <a:solidFill>
                  <a:srgbClr val="0F172A"/>
                </a:solidFill>
                <a:latin typeface="Segoe UI"/>
                <a:ea typeface="Segoe UI"/>
                <a:cs typeface="Segoe UI"/>
              </a:rPr>
              <a:t>1</a:t>
            </a:r>
            <a:endParaRPr lang="en-US" sz="1400" dirty="0"/>
          </a:p>
        </p:txBody>
      </p:sp>
      <p:sp>
        <p:nvSpPr>
          <p:cNvPr id="103" name="s103"/>
          <p:cNvSpPr txBox="1"/>
          <p:nvPr/>
        </p:nvSpPr>
        <p:spPr>
          <a:xfrm>
            <a:off x="1274674" y="1856232"/>
            <a:ext cx="1828800" cy="6858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34D399"/>
                </a:solidFill>
                <a:latin typeface="Segoe UI"/>
                <a:ea typeface="Segoe UI"/>
                <a:cs typeface="Segoe UI"/>
              </a:rPr>
              <a:t>Happy path</a:t>
            </a:r>
            <a:endParaRPr lang="en-US" sz="1400" dirty="0"/>
          </a:p>
          <a:p>
            <a:pPr marL="0" indent="0" algn="l">
              <a:spcBef>
                <a:spcPts val="0"/>
              </a:spcBef>
              <a:spcAft>
                <a:spcPts val="0"/>
              </a:spcAft>
              <a:buNone/>
            </a:pPr>
            <a:r>
              <a:rPr lang="en-US" sz="1100" b="0" dirty="0">
                <a:solidFill>
                  <a:srgbClr val="94A3B8"/>
                </a:solidFill>
                <a:latin typeface="Segoe UI"/>
                <a:ea typeface="Segoe UI"/>
                <a:cs typeface="Segoe UI"/>
              </a:rPr>
              <a:t>a normal valid input</a:t>
            </a:r>
            <a:endParaRPr lang="en-US" sz="1100" dirty="0"/>
          </a:p>
        </p:txBody>
      </p:sp>
      <p:sp>
        <p:nvSpPr>
          <p:cNvPr id="104" name="s104"/>
          <p:cNvSpPr/>
          <p:nvPr/>
        </p:nvSpPr>
        <p:spPr>
          <a:xfrm>
            <a:off x="543154" y="2743200"/>
            <a:ext cx="2651760" cy="822960"/>
          </a:xfrm>
          <a:prstGeom prst="roundRect">
            <a:avLst>
              <a:gd name="adj" fmla="val 12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05" name="s105"/>
          <p:cNvSpPr/>
          <p:nvPr/>
        </p:nvSpPr>
        <p:spPr>
          <a:xfrm>
            <a:off x="680314" y="2926080"/>
            <a:ext cx="457200" cy="457200"/>
          </a:xfrm>
          <a:prstGeom prst="ellipse">
            <a:avLst/>
          </a:prstGeom>
          <a:solidFill>
            <a:srgbClr val="FBBF24"/>
          </a:solidFill>
          <a:ln>
            <a:noFill/>
          </a:ln>
        </p:spPr>
        <p:txBody>
          <a:bodyPr wrap="square" lIns="0" tIns="0" rIns="0" bIns="0" rtlCol="0" anchor="ctr">
            <a:noAutofit/>
          </a:bodyPr>
          <a:lstStyle/>
          <a:p>
            <a:pPr marL="0" indent="0" algn="ctr">
              <a:spcBef>
                <a:spcPts val="0"/>
              </a:spcBef>
              <a:spcAft>
                <a:spcPts val="0"/>
              </a:spcAft>
              <a:buNone/>
            </a:pPr>
            <a:r>
              <a:rPr lang="en-US" sz="1400" b="1" dirty="0">
                <a:solidFill>
                  <a:srgbClr val="0F172A"/>
                </a:solidFill>
                <a:latin typeface="Segoe UI"/>
                <a:ea typeface="Segoe UI"/>
                <a:cs typeface="Segoe UI"/>
              </a:rPr>
              <a:t>2</a:t>
            </a:r>
            <a:endParaRPr lang="en-US" sz="1400" dirty="0"/>
          </a:p>
        </p:txBody>
      </p:sp>
      <p:sp>
        <p:nvSpPr>
          <p:cNvPr id="106" name="s106"/>
          <p:cNvSpPr txBox="1"/>
          <p:nvPr/>
        </p:nvSpPr>
        <p:spPr>
          <a:xfrm>
            <a:off x="1274674" y="2816352"/>
            <a:ext cx="1828800" cy="6858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BBF24"/>
                </a:solidFill>
                <a:latin typeface="Segoe UI"/>
                <a:ea typeface="Segoe UI"/>
                <a:cs typeface="Segoe UI"/>
              </a:rPr>
              <a:t>Boundaries</a:t>
            </a:r>
            <a:endParaRPr lang="en-US" sz="1400" dirty="0"/>
          </a:p>
          <a:p>
            <a:pPr marL="0" indent="0" algn="l">
              <a:spcBef>
                <a:spcPts val="0"/>
              </a:spcBef>
              <a:spcAft>
                <a:spcPts val="0"/>
              </a:spcAft>
              <a:buNone/>
            </a:pPr>
            <a:r>
              <a:rPr lang="en-US" sz="1100" b="0" dirty="0">
                <a:solidFill>
                  <a:srgbClr val="94A3B8"/>
                </a:solidFill>
                <a:latin typeface="Segoe UI"/>
                <a:ea typeface="Segoe UI"/>
                <a:cs typeface="Segoe UI"/>
              </a:rPr>
              <a:t>the first valid, the first invalid</a:t>
            </a:r>
            <a:endParaRPr lang="en-US" sz="1100" dirty="0"/>
          </a:p>
        </p:txBody>
      </p:sp>
      <p:sp>
        <p:nvSpPr>
          <p:cNvPr id="107" name="s107"/>
          <p:cNvSpPr/>
          <p:nvPr/>
        </p:nvSpPr>
        <p:spPr>
          <a:xfrm>
            <a:off x="543154" y="3703320"/>
            <a:ext cx="2651760" cy="822960"/>
          </a:xfrm>
          <a:prstGeom prst="roundRect">
            <a:avLst>
              <a:gd name="adj" fmla="val 12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08" name="s108"/>
          <p:cNvSpPr/>
          <p:nvPr/>
        </p:nvSpPr>
        <p:spPr>
          <a:xfrm>
            <a:off x="680314" y="3886200"/>
            <a:ext cx="457200" cy="457200"/>
          </a:xfrm>
          <a:prstGeom prst="ellipse">
            <a:avLst/>
          </a:prstGeom>
          <a:solidFill>
            <a:srgbClr val="F87171"/>
          </a:solidFill>
          <a:ln>
            <a:noFill/>
          </a:ln>
        </p:spPr>
        <p:txBody>
          <a:bodyPr wrap="square" lIns="0" tIns="0" rIns="0" bIns="0" rtlCol="0" anchor="ctr">
            <a:noAutofit/>
          </a:bodyPr>
          <a:lstStyle/>
          <a:p>
            <a:pPr marL="0" indent="0" algn="ctr">
              <a:spcBef>
                <a:spcPts val="0"/>
              </a:spcBef>
              <a:spcAft>
                <a:spcPts val="0"/>
              </a:spcAft>
              <a:buNone/>
            </a:pPr>
            <a:r>
              <a:rPr lang="en-US" sz="1400" b="1" dirty="0">
                <a:solidFill>
                  <a:srgbClr val="0F172A"/>
                </a:solidFill>
                <a:latin typeface="Segoe UI"/>
                <a:ea typeface="Segoe UI"/>
                <a:cs typeface="Segoe UI"/>
              </a:rPr>
              <a:t>3</a:t>
            </a:r>
            <a:endParaRPr lang="en-US" sz="1400" dirty="0"/>
          </a:p>
        </p:txBody>
      </p:sp>
      <p:sp>
        <p:nvSpPr>
          <p:cNvPr id="109" name="s109"/>
          <p:cNvSpPr txBox="1"/>
          <p:nvPr/>
        </p:nvSpPr>
        <p:spPr>
          <a:xfrm>
            <a:off x="1274674" y="3776472"/>
            <a:ext cx="1828800" cy="6858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87171"/>
                </a:solidFill>
                <a:latin typeface="Segoe UI"/>
                <a:ea typeface="Segoe UI"/>
                <a:cs typeface="Segoe UI"/>
              </a:rPr>
              <a:t>Invalid input</a:t>
            </a:r>
            <a:endParaRPr lang="en-US" sz="1400" dirty="0"/>
          </a:p>
          <a:p>
            <a:pPr marL="0" indent="0" algn="l">
              <a:spcBef>
                <a:spcPts val="0"/>
              </a:spcBef>
              <a:spcAft>
                <a:spcPts val="0"/>
              </a:spcAft>
              <a:buNone/>
            </a:pPr>
            <a:r>
              <a:rPr lang="en-US" sz="1100" b="0" dirty="0">
                <a:solidFill>
                  <a:srgbClr val="94A3B8"/>
                </a:solidFill>
                <a:latin typeface="Segoe UI"/>
                <a:ea typeface="Segoe UI"/>
                <a:cs typeface="Segoe UI"/>
              </a:rPr>
              <a:t>what must be refused</a:t>
            </a:r>
            <a:endParaRPr lang="en-US" sz="1100" dirty="0"/>
          </a:p>
        </p:txBody>
      </p:sp>
      <p:sp>
        <p:nvSpPr>
          <p:cNvPr id="110" name="s110"/>
          <p:cNvSpPr/>
          <p:nvPr/>
        </p:nvSpPr>
        <p:spPr>
          <a:xfrm>
            <a:off x="543154" y="4663440"/>
            <a:ext cx="2651760" cy="822960"/>
          </a:xfrm>
          <a:prstGeom prst="roundRect">
            <a:avLst>
              <a:gd name="adj" fmla="val 12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11" name="s111"/>
          <p:cNvSpPr/>
          <p:nvPr/>
        </p:nvSpPr>
        <p:spPr>
          <a:xfrm>
            <a:off x="680314" y="4846320"/>
            <a:ext cx="457200" cy="457200"/>
          </a:xfrm>
          <a:prstGeom prst="ellipse">
            <a:avLst/>
          </a:prstGeom>
          <a:solidFill>
            <a:srgbClr val="A78BFA"/>
          </a:solidFill>
          <a:ln>
            <a:noFill/>
          </a:ln>
        </p:spPr>
        <p:txBody>
          <a:bodyPr wrap="square" lIns="0" tIns="0" rIns="0" bIns="0" rtlCol="0" anchor="ctr">
            <a:noAutofit/>
          </a:bodyPr>
          <a:lstStyle/>
          <a:p>
            <a:pPr marL="0" indent="0" algn="ctr">
              <a:spcBef>
                <a:spcPts val="0"/>
              </a:spcBef>
              <a:spcAft>
                <a:spcPts val="0"/>
              </a:spcAft>
              <a:buNone/>
            </a:pPr>
            <a:r>
              <a:rPr lang="en-US" sz="1400" b="1" dirty="0">
                <a:solidFill>
                  <a:srgbClr val="0F172A"/>
                </a:solidFill>
                <a:latin typeface="Segoe UI"/>
                <a:ea typeface="Segoe UI"/>
                <a:cs typeface="Segoe UI"/>
              </a:rPr>
              <a:t>4</a:t>
            </a:r>
            <a:endParaRPr lang="en-US" sz="1400" dirty="0"/>
          </a:p>
        </p:txBody>
      </p:sp>
      <p:sp>
        <p:nvSpPr>
          <p:cNvPr id="112" name="s112"/>
          <p:cNvSpPr txBox="1"/>
          <p:nvPr/>
        </p:nvSpPr>
        <p:spPr>
          <a:xfrm>
            <a:off x="1274674" y="4736592"/>
            <a:ext cx="1828800" cy="6858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A78BFA"/>
                </a:solidFill>
                <a:latin typeface="Segoe UI"/>
                <a:ea typeface="Segoe UI"/>
                <a:cs typeface="Segoe UI"/>
              </a:rPr>
              <a:t>State after error</a:t>
            </a:r>
            <a:endParaRPr lang="en-US" sz="1400" dirty="0"/>
          </a:p>
          <a:p>
            <a:pPr marL="0" indent="0" algn="l">
              <a:spcBef>
                <a:spcPts val="0"/>
              </a:spcBef>
              <a:spcAft>
                <a:spcPts val="0"/>
              </a:spcAft>
              <a:buNone/>
            </a:pPr>
            <a:r>
              <a:rPr lang="en-US" sz="1100" b="0" dirty="0">
                <a:solidFill>
                  <a:srgbClr val="94A3B8"/>
                </a:solidFill>
                <a:latin typeface="Segoe UI"/>
                <a:ea typeface="Segoe UI"/>
                <a:cs typeface="Segoe UI"/>
              </a:rPr>
              <a:t>nothing changed by mistake</a:t>
            </a:r>
            <a:endParaRPr lang="en-US" sz="1100" dirty="0"/>
          </a:p>
        </p:txBody>
      </p:sp>
      <p:sp>
        <p:nvSpPr>
          <p:cNvPr id="113" name="s113"/>
          <p:cNvSpPr txBox="1"/>
          <p:nvPr/>
        </p:nvSpPr>
        <p:spPr>
          <a:xfrm>
            <a:off x="3606394" y="1783080"/>
            <a:ext cx="22860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1" dirty="0">
                <a:solidFill>
                  <a:srgbClr val="94A3B8"/>
                </a:solidFill>
                <a:latin typeface="Segoe UI"/>
                <a:ea typeface="Segoe UI"/>
                <a:cs typeface="Segoe UI"/>
              </a:rPr>
              <a:t>CASE</a:t>
            </a:r>
            <a:endParaRPr lang="en-US" sz="1000" dirty="0"/>
          </a:p>
        </p:txBody>
      </p:sp>
      <p:sp>
        <p:nvSpPr>
          <p:cNvPr id="114" name="s114"/>
          <p:cNvSpPr txBox="1"/>
          <p:nvPr/>
        </p:nvSpPr>
        <p:spPr>
          <a:xfrm>
            <a:off x="5618074" y="1783080"/>
            <a:ext cx="22860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1" dirty="0">
                <a:solidFill>
                  <a:srgbClr val="94A3B8"/>
                </a:solidFill>
                <a:latin typeface="Segoe UI"/>
                <a:ea typeface="Segoe UI"/>
                <a:cs typeface="Segoe UI"/>
              </a:rPr>
              <a:t>INPUT</a:t>
            </a:r>
            <a:endParaRPr lang="en-US" sz="1000" dirty="0"/>
          </a:p>
        </p:txBody>
      </p:sp>
      <p:sp>
        <p:nvSpPr>
          <p:cNvPr id="115" name="s115"/>
          <p:cNvSpPr txBox="1"/>
          <p:nvPr/>
        </p:nvSpPr>
        <p:spPr>
          <a:xfrm>
            <a:off x="7218274" y="1783080"/>
            <a:ext cx="22860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1" dirty="0">
                <a:solidFill>
                  <a:srgbClr val="94A3B8"/>
                </a:solidFill>
                <a:latin typeface="Segoe UI"/>
                <a:ea typeface="Segoe UI"/>
                <a:cs typeface="Segoe UI"/>
              </a:rPr>
              <a:t>EXPECTED</a:t>
            </a:r>
            <a:endParaRPr lang="en-US" sz="1000" dirty="0"/>
          </a:p>
        </p:txBody>
      </p:sp>
      <p:sp>
        <p:nvSpPr>
          <p:cNvPr id="116" name="s116"/>
          <p:cNvSpPr txBox="1"/>
          <p:nvPr/>
        </p:nvSpPr>
        <p:spPr>
          <a:xfrm>
            <a:off x="8955634" y="1783080"/>
            <a:ext cx="22860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1" dirty="0">
                <a:solidFill>
                  <a:srgbClr val="94A3B8"/>
                </a:solidFill>
                <a:latin typeface="Segoe UI"/>
                <a:ea typeface="Segoe UI"/>
                <a:cs typeface="Segoe UI"/>
              </a:rPr>
              <a:t>TEST NAME</a:t>
            </a:r>
            <a:endParaRPr lang="en-US" sz="1000" dirty="0"/>
          </a:p>
        </p:txBody>
      </p:sp>
      <p:sp>
        <p:nvSpPr>
          <p:cNvPr id="117" name="s117"/>
          <p:cNvSpPr/>
          <p:nvPr/>
        </p:nvSpPr>
        <p:spPr>
          <a:xfrm>
            <a:off x="3514954" y="2103120"/>
            <a:ext cx="8116214" cy="512064"/>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8" name="s118"/>
          <p:cNvSpPr txBox="1"/>
          <p:nvPr/>
        </p:nvSpPr>
        <p:spPr>
          <a:xfrm>
            <a:off x="3606394" y="2103120"/>
            <a:ext cx="228600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34D399"/>
                </a:solidFill>
                <a:latin typeface="Segoe UI"/>
                <a:ea typeface="Segoe UI"/>
                <a:cs typeface="Segoe UI"/>
              </a:rPr>
              <a:t>Happy path</a:t>
            </a:r>
            <a:endParaRPr lang="en-US" sz="1250" dirty="0"/>
          </a:p>
        </p:txBody>
      </p:sp>
      <p:sp>
        <p:nvSpPr>
          <p:cNvPr id="119" name="s119"/>
          <p:cNvSpPr txBox="1"/>
          <p:nvPr/>
        </p:nvSpPr>
        <p:spPr>
          <a:xfrm>
            <a:off x="5618074" y="2103120"/>
            <a:ext cx="173736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FFFFF"/>
                </a:solidFill>
                <a:latin typeface="Consolas"/>
                <a:ea typeface="Consolas"/>
                <a:cs typeface="Consolas"/>
              </a:rPr>
              <a:t>Deposit(100)</a:t>
            </a:r>
            <a:endParaRPr lang="en-US" sz="1150" dirty="0"/>
          </a:p>
        </p:txBody>
      </p:sp>
      <p:sp>
        <p:nvSpPr>
          <p:cNvPr id="120" name="s120"/>
          <p:cNvSpPr txBox="1"/>
          <p:nvPr/>
        </p:nvSpPr>
        <p:spPr>
          <a:xfrm>
            <a:off x="7218274" y="2103120"/>
            <a:ext cx="173736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Balance = 100</a:t>
            </a:r>
            <a:endParaRPr lang="en-US" sz="1150" dirty="0"/>
          </a:p>
        </p:txBody>
      </p:sp>
      <p:sp>
        <p:nvSpPr>
          <p:cNvPr id="121" name="s121"/>
          <p:cNvSpPr txBox="1"/>
          <p:nvPr/>
        </p:nvSpPr>
        <p:spPr>
          <a:xfrm>
            <a:off x="8955634" y="2103120"/>
            <a:ext cx="2629814"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13D0F7"/>
                </a:solidFill>
                <a:latin typeface="Consolas"/>
                <a:ea typeface="Consolas"/>
                <a:cs typeface="Consolas"/>
              </a:rPr>
              <a:t>ValidAmount_IncreasesBalance</a:t>
            </a:r>
            <a:endParaRPr lang="en-US" sz="1000" dirty="0"/>
          </a:p>
        </p:txBody>
      </p:sp>
      <p:sp>
        <p:nvSpPr>
          <p:cNvPr id="122" name="s122"/>
          <p:cNvSpPr/>
          <p:nvPr/>
        </p:nvSpPr>
        <p:spPr>
          <a:xfrm>
            <a:off x="3514954" y="2706624"/>
            <a:ext cx="8116214" cy="512064"/>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3" name="s123"/>
          <p:cNvSpPr txBox="1"/>
          <p:nvPr/>
        </p:nvSpPr>
        <p:spPr>
          <a:xfrm>
            <a:off x="3606394" y="2706624"/>
            <a:ext cx="228600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BBF24"/>
                </a:solidFill>
                <a:latin typeface="Segoe UI"/>
                <a:ea typeface="Segoe UI"/>
                <a:cs typeface="Segoe UI"/>
              </a:rPr>
              <a:t>Smallest valid</a:t>
            </a:r>
            <a:endParaRPr lang="en-US" sz="1250" dirty="0"/>
          </a:p>
        </p:txBody>
      </p:sp>
      <p:sp>
        <p:nvSpPr>
          <p:cNvPr id="124" name="s124"/>
          <p:cNvSpPr txBox="1"/>
          <p:nvPr/>
        </p:nvSpPr>
        <p:spPr>
          <a:xfrm>
            <a:off x="5618074" y="2706624"/>
            <a:ext cx="173736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FFFFF"/>
                </a:solidFill>
                <a:latin typeface="Consolas"/>
                <a:ea typeface="Consolas"/>
                <a:cs typeface="Consolas"/>
              </a:rPr>
              <a:t>Deposit(0.01)</a:t>
            </a:r>
            <a:endParaRPr lang="en-US" sz="1150" dirty="0"/>
          </a:p>
        </p:txBody>
      </p:sp>
      <p:sp>
        <p:nvSpPr>
          <p:cNvPr id="125" name="s125"/>
          <p:cNvSpPr txBox="1"/>
          <p:nvPr/>
        </p:nvSpPr>
        <p:spPr>
          <a:xfrm>
            <a:off x="7218274" y="2706624"/>
            <a:ext cx="173736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Balance = 0.01</a:t>
            </a:r>
            <a:endParaRPr lang="en-US" sz="1150" dirty="0"/>
          </a:p>
        </p:txBody>
      </p:sp>
      <p:sp>
        <p:nvSpPr>
          <p:cNvPr id="126" name="s126"/>
          <p:cNvSpPr txBox="1"/>
          <p:nvPr/>
        </p:nvSpPr>
        <p:spPr>
          <a:xfrm>
            <a:off x="8955634" y="2706624"/>
            <a:ext cx="2629814"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13D0F7"/>
                </a:solidFill>
                <a:latin typeface="Consolas"/>
                <a:ea typeface="Consolas"/>
                <a:cs typeface="Consolas"/>
              </a:rPr>
              <a:t>SmallestAmount_IsAccepted</a:t>
            </a:r>
            <a:endParaRPr lang="en-US" sz="1000" dirty="0"/>
          </a:p>
        </p:txBody>
      </p:sp>
      <p:sp>
        <p:nvSpPr>
          <p:cNvPr id="127" name="s127"/>
          <p:cNvSpPr/>
          <p:nvPr/>
        </p:nvSpPr>
        <p:spPr>
          <a:xfrm>
            <a:off x="3514954" y="3310128"/>
            <a:ext cx="8116214" cy="512064"/>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8" name="s128"/>
          <p:cNvSpPr txBox="1"/>
          <p:nvPr/>
        </p:nvSpPr>
        <p:spPr>
          <a:xfrm>
            <a:off x="3606394" y="3310128"/>
            <a:ext cx="228600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BBF24"/>
                </a:solidFill>
                <a:latin typeface="Segoe UI"/>
                <a:ea typeface="Segoe UI"/>
                <a:cs typeface="Segoe UI"/>
              </a:rPr>
              <a:t>First invalid</a:t>
            </a:r>
            <a:endParaRPr lang="en-US" sz="1250" dirty="0"/>
          </a:p>
        </p:txBody>
      </p:sp>
      <p:sp>
        <p:nvSpPr>
          <p:cNvPr id="129" name="s129"/>
          <p:cNvSpPr txBox="1"/>
          <p:nvPr/>
        </p:nvSpPr>
        <p:spPr>
          <a:xfrm>
            <a:off x="5618074" y="3310128"/>
            <a:ext cx="173736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FFFFF"/>
                </a:solidFill>
                <a:latin typeface="Consolas"/>
                <a:ea typeface="Consolas"/>
                <a:cs typeface="Consolas"/>
              </a:rPr>
              <a:t>Deposit(0)</a:t>
            </a:r>
            <a:endParaRPr lang="en-US" sz="1150" dirty="0"/>
          </a:p>
        </p:txBody>
      </p:sp>
      <p:sp>
        <p:nvSpPr>
          <p:cNvPr id="130" name="s130"/>
          <p:cNvSpPr txBox="1"/>
          <p:nvPr/>
        </p:nvSpPr>
        <p:spPr>
          <a:xfrm>
            <a:off x="7218274" y="3310128"/>
            <a:ext cx="173736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throws</a:t>
            </a:r>
            <a:endParaRPr lang="en-US" sz="1150" dirty="0"/>
          </a:p>
        </p:txBody>
      </p:sp>
      <p:sp>
        <p:nvSpPr>
          <p:cNvPr id="131" name="s131"/>
          <p:cNvSpPr txBox="1"/>
          <p:nvPr/>
        </p:nvSpPr>
        <p:spPr>
          <a:xfrm>
            <a:off x="8955634" y="3310128"/>
            <a:ext cx="2629814"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13D0F7"/>
                </a:solidFill>
                <a:latin typeface="Consolas"/>
                <a:ea typeface="Consolas"/>
                <a:cs typeface="Consolas"/>
              </a:rPr>
              <a:t>Zero_Throws</a:t>
            </a:r>
            <a:endParaRPr lang="en-US" sz="1000" dirty="0"/>
          </a:p>
        </p:txBody>
      </p:sp>
      <p:sp>
        <p:nvSpPr>
          <p:cNvPr id="132" name="s132"/>
          <p:cNvSpPr/>
          <p:nvPr/>
        </p:nvSpPr>
        <p:spPr>
          <a:xfrm>
            <a:off x="3514954" y="3913632"/>
            <a:ext cx="8116214" cy="512064"/>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3" name="s133"/>
          <p:cNvSpPr txBox="1"/>
          <p:nvPr/>
        </p:nvSpPr>
        <p:spPr>
          <a:xfrm>
            <a:off x="3606394" y="3913632"/>
            <a:ext cx="228600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87171"/>
                </a:solidFill>
                <a:latin typeface="Segoe UI"/>
                <a:ea typeface="Segoe UI"/>
                <a:cs typeface="Segoe UI"/>
              </a:rPr>
              <a:t>Invalid</a:t>
            </a:r>
            <a:endParaRPr lang="en-US" sz="1250" dirty="0"/>
          </a:p>
        </p:txBody>
      </p:sp>
      <p:sp>
        <p:nvSpPr>
          <p:cNvPr id="134" name="s134"/>
          <p:cNvSpPr txBox="1"/>
          <p:nvPr/>
        </p:nvSpPr>
        <p:spPr>
          <a:xfrm>
            <a:off x="5618074" y="3913632"/>
            <a:ext cx="173736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FFFFF"/>
                </a:solidFill>
                <a:latin typeface="Consolas"/>
                <a:ea typeface="Consolas"/>
                <a:cs typeface="Consolas"/>
              </a:rPr>
              <a:t>Deposit(-50)</a:t>
            </a:r>
            <a:endParaRPr lang="en-US" sz="1150" dirty="0"/>
          </a:p>
        </p:txBody>
      </p:sp>
      <p:sp>
        <p:nvSpPr>
          <p:cNvPr id="135" name="s135"/>
          <p:cNvSpPr txBox="1"/>
          <p:nvPr/>
        </p:nvSpPr>
        <p:spPr>
          <a:xfrm>
            <a:off x="7218274" y="3913632"/>
            <a:ext cx="173736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throws + Balance 0</a:t>
            </a:r>
            <a:endParaRPr lang="en-US" sz="1150" dirty="0"/>
          </a:p>
        </p:txBody>
      </p:sp>
      <p:sp>
        <p:nvSpPr>
          <p:cNvPr id="136" name="s136"/>
          <p:cNvSpPr txBox="1"/>
          <p:nvPr/>
        </p:nvSpPr>
        <p:spPr>
          <a:xfrm>
            <a:off x="8955634" y="3913632"/>
            <a:ext cx="2629814"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13D0F7"/>
                </a:solidFill>
                <a:latin typeface="Consolas"/>
                <a:ea typeface="Consolas"/>
                <a:cs typeface="Consolas"/>
              </a:rPr>
              <a:t>Negative_ThrowsAndKeepsBalance</a:t>
            </a:r>
            <a:endParaRPr lang="en-US" sz="1000" dirty="0"/>
          </a:p>
        </p:txBody>
      </p:sp>
      <p:sp>
        <p:nvSpPr>
          <p:cNvPr id="137" name="s137"/>
          <p:cNvSpPr/>
          <p:nvPr/>
        </p:nvSpPr>
        <p:spPr>
          <a:xfrm>
            <a:off x="3514954" y="4572000"/>
            <a:ext cx="2103120" cy="1051560"/>
          </a:xfrm>
          <a:prstGeom prst="roundRect">
            <a:avLst>
              <a:gd name="adj" fmla="val 12000"/>
            </a:avLst>
          </a:prstGeom>
          <a:solidFill>
            <a:srgbClr val="13D0F7">
              <a:alpha val="12000"/>
            </a:srgbClr>
          </a:solidFill>
          <a:ln w="25400">
            <a:solidFill>
              <a:srgbClr val="13D0F7"/>
            </a:solidFill>
            <a:prstDash val="solid"/>
          </a:ln>
        </p:spPr>
        <p:txBody>
          <a:bodyPr wrap="square" lIns="164592" tIns="109728" rIns="137160" bIns="91440" rtlCol="0" anchor="ctr">
            <a:noAutofit/>
          </a:bodyPr>
          <a:lstStyle/>
          <a:p>
            <a:pPr marL="0" indent="0" algn="ctr">
              <a:spcBef>
                <a:spcPts val="0"/>
              </a:spcBef>
              <a:spcAft>
                <a:spcPts val="0"/>
              </a:spcAft>
              <a:buNone/>
            </a:pPr>
            <a:r>
              <a:rPr lang="en-US" sz="4000" b="1" dirty="0">
                <a:solidFill>
                  <a:srgbClr val="FFFFFF"/>
                </a:solidFill>
                <a:latin typeface="Segoe UI"/>
                <a:ea typeface="Segoe UI"/>
                <a:cs typeface="Segoe UI"/>
              </a:rPr>
              <a:t>4</a:t>
            </a:r>
            <a:endParaRPr lang="en-US" sz="4000" dirty="0"/>
          </a:p>
        </p:txBody>
      </p:sp>
      <p:sp>
        <p:nvSpPr>
          <p:cNvPr id="138" name="s138"/>
          <p:cNvSpPr txBox="1"/>
          <p:nvPr/>
        </p:nvSpPr>
        <p:spPr>
          <a:xfrm>
            <a:off x="5755234" y="4572000"/>
            <a:ext cx="5875934" cy="10515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FFFFFF"/>
                </a:solidFill>
                <a:latin typeface="Segoe UI"/>
                <a:ea typeface="Segoe UI"/>
                <a:cs typeface="Segoe UI"/>
              </a:rPr>
              <a:t>tests for Deposit</a:t>
            </a:r>
            <a:endParaRPr lang="en-US" sz="1600" dirty="0"/>
          </a:p>
          <a:p>
            <a:pPr marL="0" indent="0" algn="l">
              <a:spcBef>
                <a:spcPts val="0"/>
              </a:spcBef>
              <a:spcAft>
                <a:spcPts val="0"/>
              </a:spcAft>
              <a:buNone/>
            </a:pPr>
            <a:r>
              <a:rPr lang="en-US" sz="1200" b="0" dirty="0">
                <a:solidFill>
                  <a:srgbClr val="94A3B8"/>
                </a:solidFill>
                <a:latin typeface="Segoe UI"/>
                <a:ea typeface="Segoe UI"/>
                <a:cs typeface="Segoe UI"/>
              </a:rPr>
              <a:t>≈ one test per rule × outcome. Every if gives at least 2. Every limit gives 2. Same behavior = one representative.</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ppt_x</p:attrName>
                                        </p:attrNameLst>
                                      </p:cBhvr>
                                      <p:tavLst>
                                        <p:tav tm="0">
                                          <p:val>
                                            <p:strVal val="#ppt_x-0.05"/>
                                          </p:val>
                                        </p:tav>
                                        <p:tav tm="100000">
                                          <p:val>
                                            <p:strVal val="#ppt_x"/>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ppt_x</p:attrName>
                                        </p:attrNameLst>
                                      </p:cBhvr>
                                      <p:tavLst>
                                        <p:tav tm="0">
                                          <p:val>
                                            <p:strVal val="#ppt_x-0.05"/>
                                          </p:val>
                                        </p:tav>
                                        <p:tav tm="100000">
                                          <p:val>
                                            <p:strVal val="#ppt_x"/>
                                          </p:val>
                                        </p:tav>
                                      </p:tavLst>
                                    </p:anim>
                                  </p:childTnLst>
                                </p:cTn>
                              </p:par>
                              <p:par>
                                <p:cTn id="17" presetID="42" presetClass="entr" presetSubtype="0" fill="hold" grpId="0" nodeType="withEffect">
                                  <p:stCondLst>
                                    <p:cond delay="15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15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15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ppt_x</p:attrName>
                                        </p:attrNameLst>
                                      </p:cBhvr>
                                      <p:tavLst>
                                        <p:tav tm="0">
                                          <p:val>
                                            <p:strVal val="#ppt_x-0.05"/>
                                          </p:val>
                                        </p:tav>
                                        <p:tav tm="100000">
                                          <p:val>
                                            <p:strVal val="#ppt_x"/>
                                          </p:val>
                                        </p:tav>
                                      </p:tavLst>
                                    </p:anim>
                                  </p:childTnLst>
                                </p:cTn>
                              </p:par>
                              <p:par>
                                <p:cTn id="29" presetID="42" presetClass="entr" presetSubtype="0" fill="hold" grpId="0" nodeType="withEffect">
                                  <p:stCondLst>
                                    <p:cond delay="30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ppt_x</p:attrName>
                                        </p:attrNameLst>
                                      </p:cBhvr>
                                      <p:tavLst>
                                        <p:tav tm="0">
                                          <p:val>
                                            <p:strVal val="#ppt_x-0.05"/>
                                          </p:val>
                                        </p:tav>
                                        <p:tav tm="100000">
                                          <p:val>
                                            <p:strVal val="#ppt_x"/>
                                          </p:val>
                                        </p:tav>
                                      </p:tavLst>
                                    </p:anim>
                                  </p:childTnLst>
                                </p:cTn>
                              </p:par>
                              <p:par>
                                <p:cTn id="33" presetID="42" presetClass="entr" presetSubtype="0" fill="hold" grpId="0" nodeType="withEffect">
                                  <p:stCondLst>
                                    <p:cond delay="30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ppt_x</p:attrName>
                                        </p:attrNameLst>
                                      </p:cBhvr>
                                      <p:tavLst>
                                        <p:tav tm="0">
                                          <p:val>
                                            <p:strVal val="#ppt_x-0.05"/>
                                          </p:val>
                                        </p:tav>
                                        <p:tav tm="100000">
                                          <p:val>
                                            <p:strVal val="#ppt_x"/>
                                          </p:val>
                                        </p:tav>
                                      </p:tavLst>
                                    </p:anim>
                                  </p:childTnLst>
                                </p:cTn>
                              </p:par>
                              <p:par>
                                <p:cTn id="37" presetID="42" presetClass="entr" presetSubtype="0" fill="hold" grpId="0" nodeType="withEffect">
                                  <p:stCondLst>
                                    <p:cond delay="30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ppt_x</p:attrName>
                                        </p:attrNameLst>
                                      </p:cBhvr>
                                      <p:tavLst>
                                        <p:tav tm="0">
                                          <p:val>
                                            <p:strVal val="#ppt_x-0.05"/>
                                          </p:val>
                                        </p:tav>
                                        <p:tav tm="100000">
                                          <p:val>
                                            <p:strVal val="#ppt_x"/>
                                          </p:val>
                                        </p:tav>
                                      </p:tavLst>
                                    </p:anim>
                                  </p:childTnLst>
                                </p:cTn>
                              </p:par>
                              <p:par>
                                <p:cTn id="41" presetID="42" presetClass="entr" presetSubtype="0" fill="hold" grpId="0" nodeType="withEffect">
                                  <p:stCondLst>
                                    <p:cond delay="45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ppt_x</p:attrName>
                                        </p:attrNameLst>
                                      </p:cBhvr>
                                      <p:tavLst>
                                        <p:tav tm="0">
                                          <p:val>
                                            <p:strVal val="#ppt_x-0.05"/>
                                          </p:val>
                                        </p:tav>
                                        <p:tav tm="100000">
                                          <p:val>
                                            <p:strVal val="#ppt_x"/>
                                          </p:val>
                                        </p:tav>
                                      </p:tavLst>
                                    </p:anim>
                                  </p:childTnLst>
                                </p:cTn>
                              </p:par>
                              <p:par>
                                <p:cTn id="45" presetID="42" presetClass="entr" presetSubtype="0" fill="hold" grpId="0" nodeType="withEffect">
                                  <p:stCondLst>
                                    <p:cond delay="45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ppt_x</p:attrName>
                                        </p:attrNameLst>
                                      </p:cBhvr>
                                      <p:tavLst>
                                        <p:tav tm="0">
                                          <p:val>
                                            <p:strVal val="#ppt_x-0.05"/>
                                          </p:val>
                                        </p:tav>
                                        <p:tav tm="100000">
                                          <p:val>
                                            <p:strVal val="#ppt_x"/>
                                          </p:val>
                                        </p:tav>
                                      </p:tavLst>
                                    </p:anim>
                                  </p:childTnLst>
                                </p:cTn>
                              </p:par>
                              <p:par>
                                <p:cTn id="49" presetID="42" presetClass="entr" presetSubtype="0" fill="hold" grpId="0" nodeType="withEffect">
                                  <p:stCondLst>
                                    <p:cond delay="45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ppt_x</p:attrName>
                                        </p:attrNameLst>
                                      </p:cBhvr>
                                      <p:tavLst>
                                        <p:tav tm="0">
                                          <p:val>
                                            <p:strVal val="#ppt_x-0.05"/>
                                          </p:val>
                                        </p:tav>
                                        <p:tav tm="100000">
                                          <p:val>
                                            <p:strVal val="#ppt_x"/>
                                          </p:val>
                                        </p:tav>
                                      </p:tavLst>
                                    </p:anim>
                                  </p:childTnLst>
                                </p:cTn>
                              </p:par>
                            </p:childTnLst>
                          </p:cTn>
                        </p:par>
                      </p:childTnLst>
                    </p:cTn>
                  </p:par>
                  <p:par>
                    <p:cTn id="53" fill="hold">
                      <p:stCondLst>
                        <p:cond delay="indefinite"/>
                      </p:stCondLst>
                      <p:childTnLst>
                        <p:par>
                          <p:cTn id="54" fill="hold">
                            <p:stCondLst>
                              <p:cond delay="0"/>
                            </p:stCondLst>
                            <p:childTnLst>
                              <p:par>
                                <p:cTn id="55" presetID="42" presetClass="entr" presetSubtype="0" fill="hold" grpId="0" nodeType="clickEffect">
                                  <p:stCondLst>
                                    <p:cond delay="0"/>
                                  </p:stCondLst>
                                  <p:childTnLst>
                                    <p:set>
                                      <p:cBhvr>
                                        <p:cTn id="56" dur="1" fill="hold">
                                          <p:stCondLst>
                                            <p:cond delay="0"/>
                                          </p:stCondLst>
                                        </p:cTn>
                                        <p:tgtEl>
                                          <p:spTgt spid="113"/>
                                        </p:tgtEl>
                                        <p:attrNameLst>
                                          <p:attrName>style.visibility</p:attrName>
                                        </p:attrNameLst>
                                      </p:cBhvr>
                                      <p:to>
                                        <p:strVal val="visible"/>
                                      </p:to>
                                    </p:set>
                                    <p:animEffect transition="in" filter="fade">
                                      <p:cBhvr>
                                        <p:cTn id="57" dur="500"/>
                                        <p:tgtEl>
                                          <p:spTgt spid="113"/>
                                        </p:tgtEl>
                                      </p:cBhvr>
                                    </p:animEffect>
                                    <p:anim calcmode="lin" valueType="num">
                                      <p:cBhvr additive="base">
                                        <p:cTn id="58" dur="500" decel="100000" fill="hold"/>
                                        <p:tgtEl>
                                          <p:spTgt spid="113"/>
                                        </p:tgtEl>
                                        <p:attrNameLst>
                                          <p:attrName>ppt_y</p:attrName>
                                        </p:attrNameLst>
                                      </p:cBhvr>
                                      <p:tavLst>
                                        <p:tav tm="0">
                                          <p:val>
                                            <p:strVal val="#ppt_y+0.06"/>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14"/>
                                        </p:tgtEl>
                                        <p:attrNameLst>
                                          <p:attrName>style.visibility</p:attrName>
                                        </p:attrNameLst>
                                      </p:cBhvr>
                                      <p:to>
                                        <p:strVal val="visible"/>
                                      </p:to>
                                    </p:set>
                                    <p:animEffect transition="in" filter="fade">
                                      <p:cBhvr>
                                        <p:cTn id="61" dur="500"/>
                                        <p:tgtEl>
                                          <p:spTgt spid="114"/>
                                        </p:tgtEl>
                                      </p:cBhvr>
                                    </p:animEffect>
                                    <p:anim calcmode="lin" valueType="num">
                                      <p:cBhvr additive="base">
                                        <p:cTn id="62" dur="500" decel="100000" fill="hold"/>
                                        <p:tgtEl>
                                          <p:spTgt spid="114"/>
                                        </p:tgtEl>
                                        <p:attrNameLst>
                                          <p:attrName>ppt_y</p:attrName>
                                        </p:attrNameLst>
                                      </p:cBhvr>
                                      <p:tavLst>
                                        <p:tav tm="0">
                                          <p:val>
                                            <p:strVal val="#ppt_y+0.06"/>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115"/>
                                        </p:tgtEl>
                                        <p:attrNameLst>
                                          <p:attrName>style.visibility</p:attrName>
                                        </p:attrNameLst>
                                      </p:cBhvr>
                                      <p:to>
                                        <p:strVal val="visible"/>
                                      </p:to>
                                    </p:set>
                                    <p:animEffect transition="in" filter="fade">
                                      <p:cBhvr>
                                        <p:cTn id="65" dur="500"/>
                                        <p:tgtEl>
                                          <p:spTgt spid="115"/>
                                        </p:tgtEl>
                                      </p:cBhvr>
                                    </p:animEffect>
                                    <p:anim calcmode="lin" valueType="num">
                                      <p:cBhvr additive="base">
                                        <p:cTn id="66" dur="500" decel="100000" fill="hold"/>
                                        <p:tgtEl>
                                          <p:spTgt spid="115"/>
                                        </p:tgtEl>
                                        <p:attrNameLst>
                                          <p:attrName>ppt_y</p:attrName>
                                        </p:attrNameLst>
                                      </p:cBhvr>
                                      <p:tavLst>
                                        <p:tav tm="0">
                                          <p:val>
                                            <p:strVal val="#ppt_y+0.06"/>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500"/>
                                        <p:tgtEl>
                                          <p:spTgt spid="116"/>
                                        </p:tgtEl>
                                      </p:cBhvr>
                                    </p:animEffect>
                                    <p:anim calcmode="lin" valueType="num">
                                      <p:cBhvr additive="base">
                                        <p:cTn id="70" dur="500" decel="100000" fill="hold"/>
                                        <p:tgtEl>
                                          <p:spTgt spid="116"/>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150"/>
                                  </p:stCondLst>
                                  <p:childTnLst>
                                    <p:set>
                                      <p:cBhvr>
                                        <p:cTn id="72" dur="1" fill="hold">
                                          <p:stCondLst>
                                            <p:cond delay="0"/>
                                          </p:stCondLst>
                                        </p:cTn>
                                        <p:tgtEl>
                                          <p:spTgt spid="117"/>
                                        </p:tgtEl>
                                        <p:attrNameLst>
                                          <p:attrName>style.visibility</p:attrName>
                                        </p:attrNameLst>
                                      </p:cBhvr>
                                      <p:to>
                                        <p:strVal val="visible"/>
                                      </p:to>
                                    </p:set>
                                    <p:animEffect transition="in" filter="fade">
                                      <p:cBhvr>
                                        <p:cTn id="73" dur="500"/>
                                        <p:tgtEl>
                                          <p:spTgt spid="117"/>
                                        </p:tgtEl>
                                      </p:cBhvr>
                                    </p:animEffect>
                                    <p:anim calcmode="lin" valueType="num">
                                      <p:cBhvr additive="base">
                                        <p:cTn id="74" dur="500" decel="100000" fill="hold"/>
                                        <p:tgtEl>
                                          <p:spTgt spid="117"/>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150"/>
                                  </p:stCondLst>
                                  <p:childTnLst>
                                    <p:set>
                                      <p:cBhvr>
                                        <p:cTn id="76" dur="1" fill="hold">
                                          <p:stCondLst>
                                            <p:cond delay="0"/>
                                          </p:stCondLst>
                                        </p:cTn>
                                        <p:tgtEl>
                                          <p:spTgt spid="118"/>
                                        </p:tgtEl>
                                        <p:attrNameLst>
                                          <p:attrName>style.visibility</p:attrName>
                                        </p:attrNameLst>
                                      </p:cBhvr>
                                      <p:to>
                                        <p:strVal val="visible"/>
                                      </p:to>
                                    </p:set>
                                    <p:animEffect transition="in" filter="fade">
                                      <p:cBhvr>
                                        <p:cTn id="77" dur="500"/>
                                        <p:tgtEl>
                                          <p:spTgt spid="118"/>
                                        </p:tgtEl>
                                      </p:cBhvr>
                                    </p:animEffect>
                                    <p:anim calcmode="lin" valueType="num">
                                      <p:cBhvr additive="base">
                                        <p:cTn id="78" dur="500" decel="100000" fill="hold"/>
                                        <p:tgtEl>
                                          <p:spTgt spid="118"/>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150"/>
                                  </p:stCondLst>
                                  <p:childTnLst>
                                    <p:set>
                                      <p:cBhvr>
                                        <p:cTn id="80" dur="1" fill="hold">
                                          <p:stCondLst>
                                            <p:cond delay="0"/>
                                          </p:stCondLst>
                                        </p:cTn>
                                        <p:tgtEl>
                                          <p:spTgt spid="119"/>
                                        </p:tgtEl>
                                        <p:attrNameLst>
                                          <p:attrName>style.visibility</p:attrName>
                                        </p:attrNameLst>
                                      </p:cBhvr>
                                      <p:to>
                                        <p:strVal val="visible"/>
                                      </p:to>
                                    </p:set>
                                    <p:animEffect transition="in" filter="fade">
                                      <p:cBhvr>
                                        <p:cTn id="81" dur="500"/>
                                        <p:tgtEl>
                                          <p:spTgt spid="119"/>
                                        </p:tgtEl>
                                      </p:cBhvr>
                                    </p:animEffect>
                                    <p:anim calcmode="lin" valueType="num">
                                      <p:cBhvr additive="base">
                                        <p:cTn id="82" dur="500" decel="100000" fill="hold"/>
                                        <p:tgtEl>
                                          <p:spTgt spid="119"/>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150"/>
                                  </p:stCondLst>
                                  <p:childTnLst>
                                    <p:set>
                                      <p:cBhvr>
                                        <p:cTn id="84" dur="1" fill="hold">
                                          <p:stCondLst>
                                            <p:cond delay="0"/>
                                          </p:stCondLst>
                                        </p:cTn>
                                        <p:tgtEl>
                                          <p:spTgt spid="120"/>
                                        </p:tgtEl>
                                        <p:attrNameLst>
                                          <p:attrName>style.visibility</p:attrName>
                                        </p:attrNameLst>
                                      </p:cBhvr>
                                      <p:to>
                                        <p:strVal val="visible"/>
                                      </p:to>
                                    </p:set>
                                    <p:animEffect transition="in" filter="fade">
                                      <p:cBhvr>
                                        <p:cTn id="85" dur="500"/>
                                        <p:tgtEl>
                                          <p:spTgt spid="120"/>
                                        </p:tgtEl>
                                      </p:cBhvr>
                                    </p:animEffect>
                                    <p:anim calcmode="lin" valueType="num">
                                      <p:cBhvr additive="base">
                                        <p:cTn id="86" dur="500" decel="100000" fill="hold"/>
                                        <p:tgtEl>
                                          <p:spTgt spid="120"/>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150"/>
                                  </p:stCondLst>
                                  <p:childTnLst>
                                    <p:set>
                                      <p:cBhvr>
                                        <p:cTn id="88" dur="1" fill="hold">
                                          <p:stCondLst>
                                            <p:cond delay="0"/>
                                          </p:stCondLst>
                                        </p:cTn>
                                        <p:tgtEl>
                                          <p:spTgt spid="121"/>
                                        </p:tgtEl>
                                        <p:attrNameLst>
                                          <p:attrName>style.visibility</p:attrName>
                                        </p:attrNameLst>
                                      </p:cBhvr>
                                      <p:to>
                                        <p:strVal val="visible"/>
                                      </p:to>
                                    </p:set>
                                    <p:animEffect transition="in" filter="fade">
                                      <p:cBhvr>
                                        <p:cTn id="89" dur="500"/>
                                        <p:tgtEl>
                                          <p:spTgt spid="121"/>
                                        </p:tgtEl>
                                      </p:cBhvr>
                                    </p:animEffect>
                                    <p:anim calcmode="lin" valueType="num">
                                      <p:cBhvr additive="base">
                                        <p:cTn id="90" dur="500" decel="100000" fill="hold"/>
                                        <p:tgtEl>
                                          <p:spTgt spid="121"/>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300"/>
                                  </p:stCondLst>
                                  <p:childTnLst>
                                    <p:set>
                                      <p:cBhvr>
                                        <p:cTn id="92" dur="1" fill="hold">
                                          <p:stCondLst>
                                            <p:cond delay="0"/>
                                          </p:stCondLst>
                                        </p:cTn>
                                        <p:tgtEl>
                                          <p:spTgt spid="122"/>
                                        </p:tgtEl>
                                        <p:attrNameLst>
                                          <p:attrName>style.visibility</p:attrName>
                                        </p:attrNameLst>
                                      </p:cBhvr>
                                      <p:to>
                                        <p:strVal val="visible"/>
                                      </p:to>
                                    </p:set>
                                    <p:animEffect transition="in" filter="fade">
                                      <p:cBhvr>
                                        <p:cTn id="93" dur="500"/>
                                        <p:tgtEl>
                                          <p:spTgt spid="122"/>
                                        </p:tgtEl>
                                      </p:cBhvr>
                                    </p:animEffect>
                                    <p:anim calcmode="lin" valueType="num">
                                      <p:cBhvr additive="base">
                                        <p:cTn id="94" dur="500" decel="100000" fill="hold"/>
                                        <p:tgtEl>
                                          <p:spTgt spid="122"/>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300"/>
                                  </p:stCondLst>
                                  <p:childTnLst>
                                    <p:set>
                                      <p:cBhvr>
                                        <p:cTn id="96" dur="1" fill="hold">
                                          <p:stCondLst>
                                            <p:cond delay="0"/>
                                          </p:stCondLst>
                                        </p:cTn>
                                        <p:tgtEl>
                                          <p:spTgt spid="123"/>
                                        </p:tgtEl>
                                        <p:attrNameLst>
                                          <p:attrName>style.visibility</p:attrName>
                                        </p:attrNameLst>
                                      </p:cBhvr>
                                      <p:to>
                                        <p:strVal val="visible"/>
                                      </p:to>
                                    </p:set>
                                    <p:animEffect transition="in" filter="fade">
                                      <p:cBhvr>
                                        <p:cTn id="97" dur="500"/>
                                        <p:tgtEl>
                                          <p:spTgt spid="123"/>
                                        </p:tgtEl>
                                      </p:cBhvr>
                                    </p:animEffect>
                                    <p:anim calcmode="lin" valueType="num">
                                      <p:cBhvr additive="base">
                                        <p:cTn id="98" dur="500" decel="100000" fill="hold"/>
                                        <p:tgtEl>
                                          <p:spTgt spid="123"/>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300"/>
                                  </p:stCondLst>
                                  <p:childTnLst>
                                    <p:set>
                                      <p:cBhvr>
                                        <p:cTn id="100" dur="1" fill="hold">
                                          <p:stCondLst>
                                            <p:cond delay="0"/>
                                          </p:stCondLst>
                                        </p:cTn>
                                        <p:tgtEl>
                                          <p:spTgt spid="124"/>
                                        </p:tgtEl>
                                        <p:attrNameLst>
                                          <p:attrName>style.visibility</p:attrName>
                                        </p:attrNameLst>
                                      </p:cBhvr>
                                      <p:to>
                                        <p:strVal val="visible"/>
                                      </p:to>
                                    </p:set>
                                    <p:animEffect transition="in" filter="fade">
                                      <p:cBhvr>
                                        <p:cTn id="101" dur="500"/>
                                        <p:tgtEl>
                                          <p:spTgt spid="124"/>
                                        </p:tgtEl>
                                      </p:cBhvr>
                                    </p:animEffect>
                                    <p:anim calcmode="lin" valueType="num">
                                      <p:cBhvr additive="base">
                                        <p:cTn id="102" dur="500" decel="100000" fill="hold"/>
                                        <p:tgtEl>
                                          <p:spTgt spid="124"/>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300"/>
                                  </p:stCondLst>
                                  <p:childTnLst>
                                    <p:set>
                                      <p:cBhvr>
                                        <p:cTn id="104" dur="1" fill="hold">
                                          <p:stCondLst>
                                            <p:cond delay="0"/>
                                          </p:stCondLst>
                                        </p:cTn>
                                        <p:tgtEl>
                                          <p:spTgt spid="125"/>
                                        </p:tgtEl>
                                        <p:attrNameLst>
                                          <p:attrName>style.visibility</p:attrName>
                                        </p:attrNameLst>
                                      </p:cBhvr>
                                      <p:to>
                                        <p:strVal val="visible"/>
                                      </p:to>
                                    </p:set>
                                    <p:animEffect transition="in" filter="fade">
                                      <p:cBhvr>
                                        <p:cTn id="105" dur="500"/>
                                        <p:tgtEl>
                                          <p:spTgt spid="125"/>
                                        </p:tgtEl>
                                      </p:cBhvr>
                                    </p:animEffect>
                                    <p:anim calcmode="lin" valueType="num">
                                      <p:cBhvr additive="base">
                                        <p:cTn id="106" dur="500" decel="100000" fill="hold"/>
                                        <p:tgtEl>
                                          <p:spTgt spid="125"/>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300"/>
                                  </p:stCondLst>
                                  <p:childTnLst>
                                    <p:set>
                                      <p:cBhvr>
                                        <p:cTn id="108" dur="1" fill="hold">
                                          <p:stCondLst>
                                            <p:cond delay="0"/>
                                          </p:stCondLst>
                                        </p:cTn>
                                        <p:tgtEl>
                                          <p:spTgt spid="126"/>
                                        </p:tgtEl>
                                        <p:attrNameLst>
                                          <p:attrName>style.visibility</p:attrName>
                                        </p:attrNameLst>
                                      </p:cBhvr>
                                      <p:to>
                                        <p:strVal val="visible"/>
                                      </p:to>
                                    </p:set>
                                    <p:animEffect transition="in" filter="fade">
                                      <p:cBhvr>
                                        <p:cTn id="109" dur="500"/>
                                        <p:tgtEl>
                                          <p:spTgt spid="126"/>
                                        </p:tgtEl>
                                      </p:cBhvr>
                                    </p:animEffect>
                                    <p:anim calcmode="lin" valueType="num">
                                      <p:cBhvr additive="base">
                                        <p:cTn id="110" dur="500" decel="100000" fill="hold"/>
                                        <p:tgtEl>
                                          <p:spTgt spid="126"/>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450"/>
                                  </p:stCondLst>
                                  <p:childTnLst>
                                    <p:set>
                                      <p:cBhvr>
                                        <p:cTn id="112" dur="1" fill="hold">
                                          <p:stCondLst>
                                            <p:cond delay="0"/>
                                          </p:stCondLst>
                                        </p:cTn>
                                        <p:tgtEl>
                                          <p:spTgt spid="127"/>
                                        </p:tgtEl>
                                        <p:attrNameLst>
                                          <p:attrName>style.visibility</p:attrName>
                                        </p:attrNameLst>
                                      </p:cBhvr>
                                      <p:to>
                                        <p:strVal val="visible"/>
                                      </p:to>
                                    </p:set>
                                    <p:animEffect transition="in" filter="fade">
                                      <p:cBhvr>
                                        <p:cTn id="113" dur="500"/>
                                        <p:tgtEl>
                                          <p:spTgt spid="127"/>
                                        </p:tgtEl>
                                      </p:cBhvr>
                                    </p:animEffect>
                                    <p:anim calcmode="lin" valueType="num">
                                      <p:cBhvr additive="base">
                                        <p:cTn id="114" dur="500" decel="100000" fill="hold"/>
                                        <p:tgtEl>
                                          <p:spTgt spid="127"/>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450"/>
                                  </p:stCondLst>
                                  <p:childTnLst>
                                    <p:set>
                                      <p:cBhvr>
                                        <p:cTn id="116" dur="1" fill="hold">
                                          <p:stCondLst>
                                            <p:cond delay="0"/>
                                          </p:stCondLst>
                                        </p:cTn>
                                        <p:tgtEl>
                                          <p:spTgt spid="128"/>
                                        </p:tgtEl>
                                        <p:attrNameLst>
                                          <p:attrName>style.visibility</p:attrName>
                                        </p:attrNameLst>
                                      </p:cBhvr>
                                      <p:to>
                                        <p:strVal val="visible"/>
                                      </p:to>
                                    </p:set>
                                    <p:animEffect transition="in" filter="fade">
                                      <p:cBhvr>
                                        <p:cTn id="117" dur="500"/>
                                        <p:tgtEl>
                                          <p:spTgt spid="128"/>
                                        </p:tgtEl>
                                      </p:cBhvr>
                                    </p:animEffect>
                                    <p:anim calcmode="lin" valueType="num">
                                      <p:cBhvr additive="base">
                                        <p:cTn id="118" dur="500" decel="100000" fill="hold"/>
                                        <p:tgtEl>
                                          <p:spTgt spid="128"/>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450"/>
                                  </p:stCondLst>
                                  <p:childTnLst>
                                    <p:set>
                                      <p:cBhvr>
                                        <p:cTn id="120" dur="1" fill="hold">
                                          <p:stCondLst>
                                            <p:cond delay="0"/>
                                          </p:stCondLst>
                                        </p:cTn>
                                        <p:tgtEl>
                                          <p:spTgt spid="129"/>
                                        </p:tgtEl>
                                        <p:attrNameLst>
                                          <p:attrName>style.visibility</p:attrName>
                                        </p:attrNameLst>
                                      </p:cBhvr>
                                      <p:to>
                                        <p:strVal val="visible"/>
                                      </p:to>
                                    </p:set>
                                    <p:animEffect transition="in" filter="fade">
                                      <p:cBhvr>
                                        <p:cTn id="121" dur="500"/>
                                        <p:tgtEl>
                                          <p:spTgt spid="129"/>
                                        </p:tgtEl>
                                      </p:cBhvr>
                                    </p:animEffect>
                                    <p:anim calcmode="lin" valueType="num">
                                      <p:cBhvr additive="base">
                                        <p:cTn id="122" dur="500" decel="100000" fill="hold"/>
                                        <p:tgtEl>
                                          <p:spTgt spid="129"/>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450"/>
                                  </p:stCondLst>
                                  <p:childTnLst>
                                    <p:set>
                                      <p:cBhvr>
                                        <p:cTn id="124" dur="1" fill="hold">
                                          <p:stCondLst>
                                            <p:cond delay="0"/>
                                          </p:stCondLst>
                                        </p:cTn>
                                        <p:tgtEl>
                                          <p:spTgt spid="130"/>
                                        </p:tgtEl>
                                        <p:attrNameLst>
                                          <p:attrName>style.visibility</p:attrName>
                                        </p:attrNameLst>
                                      </p:cBhvr>
                                      <p:to>
                                        <p:strVal val="visible"/>
                                      </p:to>
                                    </p:set>
                                    <p:animEffect transition="in" filter="fade">
                                      <p:cBhvr>
                                        <p:cTn id="125" dur="500"/>
                                        <p:tgtEl>
                                          <p:spTgt spid="130"/>
                                        </p:tgtEl>
                                      </p:cBhvr>
                                    </p:animEffect>
                                    <p:anim calcmode="lin" valueType="num">
                                      <p:cBhvr additive="base">
                                        <p:cTn id="126" dur="500" decel="100000" fill="hold"/>
                                        <p:tgtEl>
                                          <p:spTgt spid="130"/>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450"/>
                                  </p:stCondLst>
                                  <p:childTnLst>
                                    <p:set>
                                      <p:cBhvr>
                                        <p:cTn id="128" dur="1" fill="hold">
                                          <p:stCondLst>
                                            <p:cond delay="0"/>
                                          </p:stCondLst>
                                        </p:cTn>
                                        <p:tgtEl>
                                          <p:spTgt spid="131"/>
                                        </p:tgtEl>
                                        <p:attrNameLst>
                                          <p:attrName>style.visibility</p:attrName>
                                        </p:attrNameLst>
                                      </p:cBhvr>
                                      <p:to>
                                        <p:strVal val="visible"/>
                                      </p:to>
                                    </p:set>
                                    <p:animEffect transition="in" filter="fade">
                                      <p:cBhvr>
                                        <p:cTn id="129" dur="500"/>
                                        <p:tgtEl>
                                          <p:spTgt spid="131"/>
                                        </p:tgtEl>
                                      </p:cBhvr>
                                    </p:animEffect>
                                    <p:anim calcmode="lin" valueType="num">
                                      <p:cBhvr additive="base">
                                        <p:cTn id="130" dur="500" decel="100000" fill="hold"/>
                                        <p:tgtEl>
                                          <p:spTgt spid="131"/>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600"/>
                                  </p:stCondLst>
                                  <p:childTnLst>
                                    <p:set>
                                      <p:cBhvr>
                                        <p:cTn id="132" dur="1" fill="hold">
                                          <p:stCondLst>
                                            <p:cond delay="0"/>
                                          </p:stCondLst>
                                        </p:cTn>
                                        <p:tgtEl>
                                          <p:spTgt spid="132"/>
                                        </p:tgtEl>
                                        <p:attrNameLst>
                                          <p:attrName>style.visibility</p:attrName>
                                        </p:attrNameLst>
                                      </p:cBhvr>
                                      <p:to>
                                        <p:strVal val="visible"/>
                                      </p:to>
                                    </p:set>
                                    <p:animEffect transition="in" filter="fade">
                                      <p:cBhvr>
                                        <p:cTn id="133" dur="500"/>
                                        <p:tgtEl>
                                          <p:spTgt spid="132"/>
                                        </p:tgtEl>
                                      </p:cBhvr>
                                    </p:animEffect>
                                    <p:anim calcmode="lin" valueType="num">
                                      <p:cBhvr additive="base">
                                        <p:cTn id="134" dur="500" decel="100000" fill="hold"/>
                                        <p:tgtEl>
                                          <p:spTgt spid="132"/>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600"/>
                                  </p:stCondLst>
                                  <p:childTnLst>
                                    <p:set>
                                      <p:cBhvr>
                                        <p:cTn id="136" dur="1" fill="hold">
                                          <p:stCondLst>
                                            <p:cond delay="0"/>
                                          </p:stCondLst>
                                        </p:cTn>
                                        <p:tgtEl>
                                          <p:spTgt spid="133"/>
                                        </p:tgtEl>
                                        <p:attrNameLst>
                                          <p:attrName>style.visibility</p:attrName>
                                        </p:attrNameLst>
                                      </p:cBhvr>
                                      <p:to>
                                        <p:strVal val="visible"/>
                                      </p:to>
                                    </p:set>
                                    <p:animEffect transition="in" filter="fade">
                                      <p:cBhvr>
                                        <p:cTn id="137" dur="500"/>
                                        <p:tgtEl>
                                          <p:spTgt spid="133"/>
                                        </p:tgtEl>
                                      </p:cBhvr>
                                    </p:animEffect>
                                    <p:anim calcmode="lin" valueType="num">
                                      <p:cBhvr additive="base">
                                        <p:cTn id="138" dur="500" decel="100000" fill="hold"/>
                                        <p:tgtEl>
                                          <p:spTgt spid="133"/>
                                        </p:tgtEl>
                                        <p:attrNameLst>
                                          <p:attrName>ppt_y</p:attrName>
                                        </p:attrNameLst>
                                      </p:cBhvr>
                                      <p:tavLst>
                                        <p:tav tm="0">
                                          <p:val>
                                            <p:strVal val="#ppt_y+0.06"/>
                                          </p:val>
                                        </p:tav>
                                        <p:tav tm="100000">
                                          <p:val>
                                            <p:strVal val="#ppt_y"/>
                                          </p:val>
                                        </p:tav>
                                      </p:tavLst>
                                    </p:anim>
                                  </p:childTnLst>
                                </p:cTn>
                              </p:par>
                              <p:par>
                                <p:cTn id="139" presetID="42" presetClass="entr" presetSubtype="0" fill="hold" grpId="0" nodeType="withEffect">
                                  <p:stCondLst>
                                    <p:cond delay="600"/>
                                  </p:stCondLst>
                                  <p:childTnLst>
                                    <p:set>
                                      <p:cBhvr>
                                        <p:cTn id="140" dur="1" fill="hold">
                                          <p:stCondLst>
                                            <p:cond delay="0"/>
                                          </p:stCondLst>
                                        </p:cTn>
                                        <p:tgtEl>
                                          <p:spTgt spid="134"/>
                                        </p:tgtEl>
                                        <p:attrNameLst>
                                          <p:attrName>style.visibility</p:attrName>
                                        </p:attrNameLst>
                                      </p:cBhvr>
                                      <p:to>
                                        <p:strVal val="visible"/>
                                      </p:to>
                                    </p:set>
                                    <p:animEffect transition="in" filter="fade">
                                      <p:cBhvr>
                                        <p:cTn id="141" dur="500"/>
                                        <p:tgtEl>
                                          <p:spTgt spid="134"/>
                                        </p:tgtEl>
                                      </p:cBhvr>
                                    </p:animEffect>
                                    <p:anim calcmode="lin" valueType="num">
                                      <p:cBhvr additive="base">
                                        <p:cTn id="142" dur="500" decel="100000" fill="hold"/>
                                        <p:tgtEl>
                                          <p:spTgt spid="134"/>
                                        </p:tgtEl>
                                        <p:attrNameLst>
                                          <p:attrName>ppt_y</p:attrName>
                                        </p:attrNameLst>
                                      </p:cBhvr>
                                      <p:tavLst>
                                        <p:tav tm="0">
                                          <p:val>
                                            <p:strVal val="#ppt_y+0.06"/>
                                          </p:val>
                                        </p:tav>
                                        <p:tav tm="100000">
                                          <p:val>
                                            <p:strVal val="#ppt_y"/>
                                          </p:val>
                                        </p:tav>
                                      </p:tavLst>
                                    </p:anim>
                                  </p:childTnLst>
                                </p:cTn>
                              </p:par>
                              <p:par>
                                <p:cTn id="143" presetID="42" presetClass="entr" presetSubtype="0" fill="hold" grpId="0" nodeType="withEffect">
                                  <p:stCondLst>
                                    <p:cond delay="600"/>
                                  </p:stCondLst>
                                  <p:childTnLst>
                                    <p:set>
                                      <p:cBhvr>
                                        <p:cTn id="144" dur="1" fill="hold">
                                          <p:stCondLst>
                                            <p:cond delay="0"/>
                                          </p:stCondLst>
                                        </p:cTn>
                                        <p:tgtEl>
                                          <p:spTgt spid="135"/>
                                        </p:tgtEl>
                                        <p:attrNameLst>
                                          <p:attrName>style.visibility</p:attrName>
                                        </p:attrNameLst>
                                      </p:cBhvr>
                                      <p:to>
                                        <p:strVal val="visible"/>
                                      </p:to>
                                    </p:set>
                                    <p:animEffect transition="in" filter="fade">
                                      <p:cBhvr>
                                        <p:cTn id="145" dur="500"/>
                                        <p:tgtEl>
                                          <p:spTgt spid="135"/>
                                        </p:tgtEl>
                                      </p:cBhvr>
                                    </p:animEffect>
                                    <p:anim calcmode="lin" valueType="num">
                                      <p:cBhvr additive="base">
                                        <p:cTn id="146" dur="500" decel="100000" fill="hold"/>
                                        <p:tgtEl>
                                          <p:spTgt spid="135"/>
                                        </p:tgtEl>
                                        <p:attrNameLst>
                                          <p:attrName>ppt_y</p:attrName>
                                        </p:attrNameLst>
                                      </p:cBhvr>
                                      <p:tavLst>
                                        <p:tav tm="0">
                                          <p:val>
                                            <p:strVal val="#ppt_y+0.06"/>
                                          </p:val>
                                        </p:tav>
                                        <p:tav tm="100000">
                                          <p:val>
                                            <p:strVal val="#ppt_y"/>
                                          </p:val>
                                        </p:tav>
                                      </p:tavLst>
                                    </p:anim>
                                  </p:childTnLst>
                                </p:cTn>
                              </p:par>
                              <p:par>
                                <p:cTn id="147" presetID="42" presetClass="entr" presetSubtype="0" fill="hold" grpId="0" nodeType="withEffect">
                                  <p:stCondLst>
                                    <p:cond delay="600"/>
                                  </p:stCondLst>
                                  <p:childTnLst>
                                    <p:set>
                                      <p:cBhvr>
                                        <p:cTn id="148" dur="1" fill="hold">
                                          <p:stCondLst>
                                            <p:cond delay="0"/>
                                          </p:stCondLst>
                                        </p:cTn>
                                        <p:tgtEl>
                                          <p:spTgt spid="136"/>
                                        </p:tgtEl>
                                        <p:attrNameLst>
                                          <p:attrName>style.visibility</p:attrName>
                                        </p:attrNameLst>
                                      </p:cBhvr>
                                      <p:to>
                                        <p:strVal val="visible"/>
                                      </p:to>
                                    </p:set>
                                    <p:animEffect transition="in" filter="fade">
                                      <p:cBhvr>
                                        <p:cTn id="149" dur="500"/>
                                        <p:tgtEl>
                                          <p:spTgt spid="136"/>
                                        </p:tgtEl>
                                      </p:cBhvr>
                                    </p:animEffect>
                                    <p:anim calcmode="lin" valueType="num">
                                      <p:cBhvr additive="base">
                                        <p:cTn id="150" dur="500" decel="100000" fill="hold"/>
                                        <p:tgtEl>
                                          <p:spTgt spid="136"/>
                                        </p:tgtEl>
                                        <p:attrNameLst>
                                          <p:attrName>ppt_y</p:attrName>
                                        </p:attrNameLst>
                                      </p:cBhvr>
                                      <p:tavLst>
                                        <p:tav tm="0">
                                          <p:val>
                                            <p:strVal val="#ppt_y+0.06"/>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53" presetClass="entr" presetSubtype="16" fill="hold" grpId="0" nodeType="clickEffect">
                                  <p:stCondLst>
                                    <p:cond delay="0"/>
                                  </p:stCondLst>
                                  <p:childTnLst>
                                    <p:set>
                                      <p:cBhvr>
                                        <p:cTn id="154" dur="1" fill="hold">
                                          <p:stCondLst>
                                            <p:cond delay="0"/>
                                          </p:stCondLst>
                                        </p:cTn>
                                        <p:tgtEl>
                                          <p:spTgt spid="137"/>
                                        </p:tgtEl>
                                        <p:attrNameLst>
                                          <p:attrName>style.visibility</p:attrName>
                                        </p:attrNameLst>
                                      </p:cBhvr>
                                      <p:to>
                                        <p:strVal val="visible"/>
                                      </p:to>
                                    </p:set>
                                    <p:anim calcmode="lin" valueType="num">
                                      <p:cBhvr additive="base">
                                        <p:cTn id="155" dur="500" decel="100000" fill="hold"/>
                                        <p:tgtEl>
                                          <p:spTgt spid="137"/>
                                        </p:tgtEl>
                                        <p:attrNameLst>
                                          <p:attrName>ppt_w</p:attrName>
                                        </p:attrNameLst>
                                      </p:cBhvr>
                                      <p:tavLst>
                                        <p:tav tm="0">
                                          <p:val>
                                            <p:strVal val="#ppt_w*0.3"/>
                                          </p:val>
                                        </p:tav>
                                        <p:tav tm="100000">
                                          <p:val>
                                            <p:strVal val="#ppt_w*1.08"/>
                                          </p:val>
                                        </p:tav>
                                      </p:tavLst>
                                    </p:anim>
                                    <p:anim calcmode="lin" valueType="num">
                                      <p:cBhvr additive="base">
                                        <p:cTn id="156" dur="500" decel="100000" fill="hold"/>
                                        <p:tgtEl>
                                          <p:spTgt spid="137"/>
                                        </p:tgtEl>
                                        <p:attrNameLst>
                                          <p:attrName>ppt_h</p:attrName>
                                        </p:attrNameLst>
                                      </p:cBhvr>
                                      <p:tavLst>
                                        <p:tav tm="0">
                                          <p:val>
                                            <p:strVal val="#ppt_h*0.3"/>
                                          </p:val>
                                        </p:tav>
                                        <p:tav tm="100000">
                                          <p:val>
                                            <p:strVal val="#ppt_h*1.08"/>
                                          </p:val>
                                        </p:tav>
                                      </p:tavLst>
                                    </p:anim>
                                    <p:animEffect transition="in" filter="fade">
                                      <p:cBhvr>
                                        <p:cTn id="157" dur="250"/>
                                        <p:tgtEl>
                                          <p:spTgt spid="137"/>
                                        </p:tgtEl>
                                      </p:cBhvr>
                                    </p:animEffect>
                                    <p:anim calcmode="lin" valueType="num">
                                      <p:cBhvr additive="base">
                                        <p:cTn id="158" dur="160" fill="hold">
                                          <p:stCondLst>
                                            <p:cond delay="500"/>
                                          </p:stCondLst>
                                        </p:cTn>
                                        <p:tgtEl>
                                          <p:spTgt spid="137"/>
                                        </p:tgtEl>
                                        <p:attrNameLst>
                                          <p:attrName>ppt_w</p:attrName>
                                        </p:attrNameLst>
                                      </p:cBhvr>
                                      <p:tavLst>
                                        <p:tav tm="0">
                                          <p:val>
                                            <p:strVal val="#ppt_w*1.08"/>
                                          </p:val>
                                        </p:tav>
                                        <p:tav tm="100000">
                                          <p:val>
                                            <p:strVal val="#ppt_w"/>
                                          </p:val>
                                        </p:tav>
                                      </p:tavLst>
                                    </p:anim>
                                    <p:anim calcmode="lin" valueType="num">
                                      <p:cBhvr additive="base">
                                        <p:cTn id="159" dur="160" fill="hold">
                                          <p:stCondLst>
                                            <p:cond delay="500"/>
                                          </p:stCondLst>
                                        </p:cTn>
                                        <p:tgtEl>
                                          <p:spTgt spid="137"/>
                                        </p:tgtEl>
                                        <p:attrNameLst>
                                          <p:attrName>ppt_h</p:attrName>
                                        </p:attrNameLst>
                                      </p:cBhvr>
                                      <p:tavLst>
                                        <p:tav tm="0">
                                          <p:val>
                                            <p:strVal val="#ppt_h*1.08"/>
                                          </p:val>
                                        </p:tav>
                                        <p:tav tm="100000">
                                          <p:val>
                                            <p:strVal val="#ppt_h"/>
                                          </p:val>
                                        </p:tav>
                                      </p:tavLst>
                                    </p:anim>
                                  </p:childTnLst>
                                </p:cTn>
                              </p:par>
                              <p:par>
                                <p:cTn id="160" presetID="10" presetClass="entr" presetSubtype="0" fill="hold" grpId="0" nodeType="withEffect">
                                  <p:stCondLst>
                                    <p:cond delay="150"/>
                                  </p:stCondLst>
                                  <p:childTnLst>
                                    <p:set>
                                      <p:cBhvr>
                                        <p:cTn id="161" dur="1" fill="hold">
                                          <p:stCondLst>
                                            <p:cond delay="0"/>
                                          </p:stCondLst>
                                        </p:cTn>
                                        <p:tgtEl>
                                          <p:spTgt spid="138"/>
                                        </p:tgtEl>
                                        <p:attrNameLst>
                                          <p:attrName>style.visibility</p:attrName>
                                        </p:attrNameLst>
                                      </p:cBhvr>
                                      <p:to>
                                        <p:strVal val="visible"/>
                                      </p:to>
                                    </p:set>
                                    <p:animEffect transition="in" filter="fade">
                                      <p:cBhvr>
                                        <p:cTn id="162"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NAMING</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Naming: The Name Is the Bug Report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Method _ Scenario _ ExpectedResult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FIRST TEST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116</a:t>
            </a:r>
            <a:endParaRPr lang="en-US" sz="850" dirty="0"/>
          </a:p>
        </p:txBody>
      </p:sp>
      <p:sp>
        <p:nvSpPr>
          <p:cNvPr id="101" name="s101"/>
          <p:cNvSpPr/>
          <p:nvPr/>
        </p:nvSpPr>
        <p:spPr>
          <a:xfrm>
            <a:off x="543154" y="1783080"/>
            <a:ext cx="11088014" cy="777240"/>
          </a:xfrm>
          <a:prstGeom prst="roundRect">
            <a:avLst>
              <a:gd name="adj" fmla="val 12000"/>
            </a:avLst>
          </a:prstGeom>
          <a:solidFill>
            <a:srgbClr val="060D18"/>
          </a:solidFill>
          <a:ln w="12700">
            <a:solidFill>
              <a:srgbClr val="13D0F7"/>
            </a:solidFill>
            <a:prstDash val="solid"/>
          </a:ln>
        </p:spPr>
        <p:txBody>
          <a:bodyPr wrap="square" lIns="164592" tIns="109728" rIns="137160" bIns="91440" rtlCol="0" anchor="ctr">
            <a:noAutofit/>
          </a:bodyPr>
          <a:lstStyle/>
          <a:p>
            <a:pPr marL="0" indent="0" algn="ctr">
              <a:spcBef>
                <a:spcPts val="0"/>
              </a:spcBef>
              <a:spcAft>
                <a:spcPts val="0"/>
              </a:spcAft>
              <a:buNone/>
            </a:pPr>
            <a:r>
              <a:rPr lang="en-US" sz="2600" b="1" dirty="0">
                <a:solidFill>
                  <a:srgbClr val="13D0F7"/>
                </a:solidFill>
                <a:latin typeface="Consolas"/>
                <a:ea typeface="Consolas"/>
                <a:cs typeface="Consolas"/>
              </a:rPr>
              <a:t>Deposit</a:t>
            </a:r>
            <a:r>
              <a:rPr lang="en-US" sz="2600" b="0" dirty="0">
                <a:solidFill>
                  <a:srgbClr val="94A3B8"/>
                </a:solidFill>
                <a:latin typeface="Consolas"/>
                <a:ea typeface="Consolas"/>
                <a:cs typeface="Consolas"/>
              </a:rPr>
              <a:t>_</a:t>
            </a:r>
            <a:r>
              <a:rPr lang="en-US" sz="2600" b="1" dirty="0">
                <a:solidFill>
                  <a:srgbClr val="FBBF24"/>
                </a:solidFill>
                <a:latin typeface="Consolas"/>
                <a:ea typeface="Consolas"/>
                <a:cs typeface="Consolas"/>
              </a:rPr>
              <a:t>Zero</a:t>
            </a:r>
            <a:r>
              <a:rPr lang="en-US" sz="2600" b="0" dirty="0">
                <a:solidFill>
                  <a:srgbClr val="94A3B8"/>
                </a:solidFill>
                <a:latin typeface="Consolas"/>
                <a:ea typeface="Consolas"/>
                <a:cs typeface="Consolas"/>
              </a:rPr>
              <a:t>_</a:t>
            </a:r>
            <a:r>
              <a:rPr lang="en-US" sz="2600" b="1" dirty="0">
                <a:solidFill>
                  <a:srgbClr val="34D399"/>
                </a:solidFill>
                <a:latin typeface="Consolas"/>
                <a:ea typeface="Consolas"/>
                <a:cs typeface="Consolas"/>
              </a:rPr>
              <a:t>Throws</a:t>
            </a:r>
            <a:endParaRPr lang="en-US" sz="2600" dirty="0"/>
          </a:p>
        </p:txBody>
      </p:sp>
      <p:sp>
        <p:nvSpPr>
          <p:cNvPr id="102" name="s102"/>
          <p:cNvSpPr txBox="1"/>
          <p:nvPr/>
        </p:nvSpPr>
        <p:spPr>
          <a:xfrm>
            <a:off x="2737714" y="2606040"/>
            <a:ext cx="201168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1" dirty="0">
                <a:solidFill>
                  <a:srgbClr val="13D0F7"/>
                </a:solidFill>
                <a:latin typeface="Segoe UI"/>
                <a:ea typeface="Segoe UI"/>
                <a:cs typeface="Segoe UI"/>
              </a:rPr>
              <a:t>the method</a:t>
            </a:r>
            <a:endParaRPr lang="en-US" sz="1100" dirty="0"/>
          </a:p>
        </p:txBody>
      </p:sp>
      <p:sp>
        <p:nvSpPr>
          <p:cNvPr id="103" name="s103"/>
          <p:cNvSpPr txBox="1"/>
          <p:nvPr/>
        </p:nvSpPr>
        <p:spPr>
          <a:xfrm>
            <a:off x="5115154" y="2606040"/>
            <a:ext cx="201168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1" dirty="0">
                <a:solidFill>
                  <a:srgbClr val="FBBF24"/>
                </a:solidFill>
                <a:latin typeface="Segoe UI"/>
                <a:ea typeface="Segoe UI"/>
                <a:cs typeface="Segoe UI"/>
              </a:rPr>
              <a:t>the scenario</a:t>
            </a:r>
            <a:endParaRPr lang="en-US" sz="1100" dirty="0"/>
          </a:p>
        </p:txBody>
      </p:sp>
      <p:sp>
        <p:nvSpPr>
          <p:cNvPr id="104" name="s104"/>
          <p:cNvSpPr txBox="1"/>
          <p:nvPr/>
        </p:nvSpPr>
        <p:spPr>
          <a:xfrm>
            <a:off x="7401154" y="2606040"/>
            <a:ext cx="21945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1" dirty="0">
                <a:solidFill>
                  <a:srgbClr val="34D399"/>
                </a:solidFill>
                <a:latin typeface="Segoe UI"/>
                <a:ea typeface="Segoe UI"/>
                <a:cs typeface="Segoe UI"/>
              </a:rPr>
              <a:t>expected result</a:t>
            </a:r>
            <a:endParaRPr lang="en-US" sz="1100" dirty="0"/>
          </a:p>
        </p:txBody>
      </p:sp>
      <p:sp>
        <p:nvSpPr>
          <p:cNvPr id="105" name="s105"/>
          <p:cNvSpPr/>
          <p:nvPr/>
        </p:nvSpPr>
        <p:spPr>
          <a:xfrm>
            <a:off x="543154" y="3063240"/>
            <a:ext cx="5406847" cy="2514600"/>
          </a:xfrm>
          <a:prstGeom prst="roundRect">
            <a:avLst>
              <a:gd name="adj" fmla="val 9000"/>
            </a:avLst>
          </a:prstGeom>
          <a:solidFill>
            <a:srgbClr val="111B2E"/>
          </a:solidFill>
          <a:ln w="12700">
            <a:solidFill>
              <a:srgbClr val="F87171"/>
            </a:solidFill>
            <a:prstDash val="solid"/>
          </a:ln>
        </p:spPr>
        <p:txBody>
          <a:bodyPr wrap="square" lIns="274320" tIns="182880" rIns="182880" bIns="91440" rtlCol="0" anchor="t">
            <a:noAutofit/>
          </a:bodyPr>
          <a:lstStyle/>
          <a:p>
            <a:pPr marL="0" indent="0" algn="l">
              <a:spcBef>
                <a:spcPts val="0"/>
              </a:spcBef>
              <a:spcAft>
                <a:spcPts val="800"/>
              </a:spcAft>
              <a:buNone/>
            </a:pPr>
            <a:r>
              <a:rPr lang="en-US" sz="1200" b="1" dirty="0">
                <a:solidFill>
                  <a:srgbClr val="F87171"/>
                </a:solidFill>
                <a:latin typeface="Segoe UI"/>
                <a:ea typeface="Segoe UI"/>
                <a:cs typeface="Segoe UI"/>
              </a:rPr>
              <a:t>✗  TELLS YOU NOTHING</a:t>
            </a:r>
            <a:endParaRPr lang="en-US" sz="1200" dirty="0"/>
          </a:p>
          <a:p>
            <a:pPr marL="0" indent="0" algn="l">
              <a:spcBef>
                <a:spcPts val="0"/>
              </a:spcBef>
              <a:spcAft>
                <a:spcPts val="600"/>
              </a:spcAft>
              <a:buNone/>
            </a:pPr>
            <a:r>
              <a:rPr lang="en-US" sz="1400" b="0" dirty="0">
                <a:solidFill>
                  <a:srgbClr val="CBD5E1"/>
                </a:solidFill>
                <a:latin typeface="Consolas"/>
                <a:ea typeface="Consolas"/>
                <a:cs typeface="Consolas"/>
              </a:rPr>
              <a:t>Test1</a:t>
            </a:r>
            <a:endParaRPr lang="en-US" sz="1400" dirty="0"/>
          </a:p>
          <a:p>
            <a:pPr marL="0" indent="0" algn="l">
              <a:spcBef>
                <a:spcPts val="0"/>
              </a:spcBef>
              <a:spcAft>
                <a:spcPts val="600"/>
              </a:spcAft>
              <a:buNone/>
            </a:pPr>
            <a:r>
              <a:rPr lang="en-US" sz="1400" b="0" dirty="0">
                <a:solidFill>
                  <a:srgbClr val="CBD5E1"/>
                </a:solidFill>
                <a:latin typeface="Consolas"/>
                <a:ea typeface="Consolas"/>
                <a:cs typeface="Consolas"/>
              </a:rPr>
              <a:t>DepositTest</a:t>
            </a:r>
            <a:endParaRPr lang="en-US" sz="1400" dirty="0"/>
          </a:p>
          <a:p>
            <a:pPr marL="0" indent="0" algn="l">
              <a:spcBef>
                <a:spcPts val="0"/>
              </a:spcBef>
              <a:spcAft>
                <a:spcPts val="600"/>
              </a:spcAft>
              <a:buNone/>
            </a:pPr>
            <a:r>
              <a:rPr lang="en-US" sz="1400" b="0" dirty="0">
                <a:solidFill>
                  <a:srgbClr val="CBD5E1"/>
                </a:solidFill>
                <a:latin typeface="Consolas"/>
                <a:ea typeface="Consolas"/>
                <a:cs typeface="Consolas"/>
              </a:rPr>
              <a:t>Deposit_Works</a:t>
            </a:r>
            <a:endParaRPr lang="en-US" sz="1400" dirty="0"/>
          </a:p>
          <a:p>
            <a:pPr marL="0" indent="0" algn="l">
              <a:spcBef>
                <a:spcPts val="0"/>
              </a:spcBef>
              <a:spcAft>
                <a:spcPts val="600"/>
              </a:spcAft>
              <a:buNone/>
            </a:pPr>
            <a:r>
              <a:rPr lang="en-US" sz="1400" b="0" dirty="0">
                <a:solidFill>
                  <a:srgbClr val="CBD5E1"/>
                </a:solidFill>
                <a:latin typeface="Consolas"/>
                <a:ea typeface="Consolas"/>
                <a:cs typeface="Consolas"/>
              </a:rPr>
              <a:t>ShouldWork</a:t>
            </a:r>
            <a:endParaRPr lang="en-US" sz="1400" dirty="0"/>
          </a:p>
        </p:txBody>
      </p:sp>
      <p:sp>
        <p:nvSpPr>
          <p:cNvPr id="106" name="s106"/>
          <p:cNvSpPr/>
          <p:nvPr/>
        </p:nvSpPr>
        <p:spPr>
          <a:xfrm>
            <a:off x="6224321" y="3063240"/>
            <a:ext cx="5406847" cy="251460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07" name="s107"/>
          <p:cNvSpPr/>
          <p:nvPr/>
        </p:nvSpPr>
        <p:spPr>
          <a:xfrm>
            <a:off x="6388913" y="320954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8" name="s108"/>
          <p:cNvSpPr/>
          <p:nvPr/>
        </p:nvSpPr>
        <p:spPr>
          <a:xfrm>
            <a:off x="6571793" y="320954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9" name="s109"/>
          <p:cNvSpPr/>
          <p:nvPr/>
        </p:nvSpPr>
        <p:spPr>
          <a:xfrm>
            <a:off x="6754673" y="320954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10" name="s110"/>
          <p:cNvSpPr/>
          <p:nvPr/>
        </p:nvSpPr>
        <p:spPr>
          <a:xfrm>
            <a:off x="7001561" y="3136392"/>
            <a:ext cx="2531059"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Test Explorer: BankAccountTests</a:t>
            </a:r>
            <a:endParaRPr lang="en-US" sz="950" dirty="0"/>
          </a:p>
        </p:txBody>
      </p:sp>
      <p:cxnSp>
        <p:nvCxnSpPr>
          <p:cNvPr id="111" name="ln111"/>
          <p:cNvCxnSpPr/>
          <p:nvPr/>
        </p:nvCxnSpPr>
        <p:spPr>
          <a:xfrm>
            <a:off x="6224321" y="3474720"/>
            <a:ext cx="5406847" cy="0"/>
          </a:xfrm>
          <a:prstGeom prst="line">
            <a:avLst/>
          </a:prstGeom>
          <a:ln w="9525">
            <a:solidFill>
              <a:srgbClr val="1E3A5F"/>
            </a:solidFill>
          </a:ln>
        </p:spPr>
      </p:cxnSp>
      <p:sp>
        <p:nvSpPr>
          <p:cNvPr id="112" name="s112"/>
          <p:cNvSpPr/>
          <p:nvPr/>
        </p:nvSpPr>
        <p:spPr>
          <a:xfrm>
            <a:off x="6224321" y="3593592"/>
            <a:ext cx="5406847" cy="1828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00" b="0" dirty="0">
                <a:solidFill>
                  <a:srgbClr val="34D399"/>
                </a:solidFill>
                <a:latin typeface="Consolas"/>
                <a:ea typeface="Consolas"/>
                <a:cs typeface="Consolas"/>
              </a:rPr>
              <a:t>✓ Deposit_ValidAmount_IncreasesBalance</a:t>
            </a:r>
            <a:endParaRPr lang="en-US" sz="1200" dirty="0"/>
          </a:p>
        </p:txBody>
      </p:sp>
      <p:sp>
        <p:nvSpPr>
          <p:cNvPr id="113" name="s113"/>
          <p:cNvSpPr/>
          <p:nvPr/>
        </p:nvSpPr>
        <p:spPr>
          <a:xfrm>
            <a:off x="6224321" y="3776472"/>
            <a:ext cx="5406847" cy="1828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00" b="0" dirty="0">
                <a:solidFill>
                  <a:srgbClr val="34D399"/>
                </a:solidFill>
                <a:latin typeface="Consolas"/>
                <a:ea typeface="Consolas"/>
                <a:cs typeface="Consolas"/>
              </a:rPr>
              <a:t>✓ Deposit_SmallestAmount_IsAccepted</a:t>
            </a:r>
            <a:endParaRPr lang="en-US" sz="1200" dirty="0"/>
          </a:p>
        </p:txBody>
      </p:sp>
      <p:sp>
        <p:nvSpPr>
          <p:cNvPr id="114" name="s114"/>
          <p:cNvSpPr/>
          <p:nvPr/>
        </p:nvSpPr>
        <p:spPr>
          <a:xfrm>
            <a:off x="6224321" y="3959352"/>
            <a:ext cx="5406847" cy="1828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00" b="0" dirty="0">
                <a:solidFill>
                  <a:srgbClr val="F87171"/>
                </a:solidFill>
                <a:latin typeface="Consolas"/>
                <a:ea typeface="Consolas"/>
                <a:cs typeface="Consolas"/>
              </a:rPr>
              <a:t>✗ Deposit_Zero_Throws</a:t>
            </a:r>
            <a:endParaRPr lang="en-US" sz="1200" dirty="0"/>
          </a:p>
        </p:txBody>
      </p:sp>
      <p:sp>
        <p:nvSpPr>
          <p:cNvPr id="115" name="s115"/>
          <p:cNvSpPr/>
          <p:nvPr/>
        </p:nvSpPr>
        <p:spPr>
          <a:xfrm>
            <a:off x="6224321" y="4142232"/>
            <a:ext cx="5406847" cy="1828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00" b="0" dirty="0">
                <a:solidFill>
                  <a:srgbClr val="34D399"/>
                </a:solidFill>
                <a:latin typeface="Consolas"/>
                <a:ea typeface="Consolas"/>
                <a:cs typeface="Consolas"/>
              </a:rPr>
              <a:t>✓ Deposit_Negative_ThrowsAndKeepsBalance</a:t>
            </a:r>
            <a:endParaRPr lang="en-US" sz="1200" dirty="0"/>
          </a:p>
        </p:txBody>
      </p:sp>
      <p:sp>
        <p:nvSpPr>
          <p:cNvPr id="116" name="s116"/>
          <p:cNvSpPr/>
          <p:nvPr/>
        </p:nvSpPr>
        <p:spPr>
          <a:xfrm>
            <a:off x="6224321" y="4507992"/>
            <a:ext cx="5406847" cy="1828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00" b="0" dirty="0">
                <a:solidFill>
                  <a:srgbClr val="E2E8F0"/>
                </a:solidFill>
                <a:latin typeface="Consolas"/>
                <a:ea typeface="Consolas"/>
                <a:cs typeface="Consolas"/>
              </a:rPr>
              <a:t>→ zero is accepted: R2 is broken</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42" presetClass="entr" presetSubtype="0" fill="hold" grpId="0" nodeType="withEffect">
                                  <p:stCondLst>
                                    <p:cond delay="100"/>
                                  </p:stCondLst>
                                  <p:childTnLst>
                                    <p:set>
                                      <p:cBhvr>
                                        <p:cTn id="11" dur="1" fill="hold">
                                          <p:stCondLst>
                                            <p:cond delay="0"/>
                                          </p:stCondLst>
                                        </p:cTn>
                                        <p:tgtEl>
                                          <p:spTgt spid="102"/>
                                        </p:tgtEl>
                                        <p:attrNameLst>
                                          <p:attrName>style.visibility</p:attrName>
                                        </p:attrNameLst>
                                      </p:cBhvr>
                                      <p:to>
                                        <p:strVal val="visible"/>
                                      </p:to>
                                    </p:set>
                                    <p:animEffect transition="in" filter="fade">
                                      <p:cBhvr>
                                        <p:cTn id="12" dur="500"/>
                                        <p:tgtEl>
                                          <p:spTgt spid="102"/>
                                        </p:tgtEl>
                                      </p:cBhvr>
                                    </p:animEffect>
                                    <p:anim calcmode="lin" valueType="num">
                                      <p:cBhvr additive="base">
                                        <p:cTn id="13" dur="500" decel="100000" fill="hold"/>
                                        <p:tgtEl>
                                          <p:spTgt spid="102"/>
                                        </p:tgtEl>
                                        <p:attrNameLst>
                                          <p:attrName>ppt_y</p:attrName>
                                        </p:attrNameLst>
                                      </p:cBhvr>
                                      <p:tavLst>
                                        <p:tav tm="0">
                                          <p:val>
                                            <p:strVal val="#ppt_y+0.06"/>
                                          </p:val>
                                        </p:tav>
                                        <p:tav tm="100000">
                                          <p:val>
                                            <p:strVal val="#ppt_y"/>
                                          </p:val>
                                        </p:tav>
                                      </p:tavLst>
                                    </p:anim>
                                  </p:childTnLst>
                                </p:cTn>
                              </p:par>
                              <p:par>
                                <p:cTn id="14" presetID="42" presetClass="entr" presetSubtype="0" fill="hold" grpId="0" nodeType="withEffect">
                                  <p:stCondLst>
                                    <p:cond delay="250"/>
                                  </p:stCondLst>
                                  <p:childTnLst>
                                    <p:set>
                                      <p:cBhvr>
                                        <p:cTn id="15" dur="1" fill="hold">
                                          <p:stCondLst>
                                            <p:cond delay="0"/>
                                          </p:stCondLst>
                                        </p:cTn>
                                        <p:tgtEl>
                                          <p:spTgt spid="103"/>
                                        </p:tgtEl>
                                        <p:attrNameLst>
                                          <p:attrName>style.visibility</p:attrName>
                                        </p:attrNameLst>
                                      </p:cBhvr>
                                      <p:to>
                                        <p:strVal val="visible"/>
                                      </p:to>
                                    </p:set>
                                    <p:animEffect transition="in" filter="fade">
                                      <p:cBhvr>
                                        <p:cTn id="16" dur="500"/>
                                        <p:tgtEl>
                                          <p:spTgt spid="103"/>
                                        </p:tgtEl>
                                      </p:cBhvr>
                                    </p:animEffect>
                                    <p:anim calcmode="lin" valueType="num">
                                      <p:cBhvr additive="base">
                                        <p:cTn id="17" dur="500" decel="100000" fill="hold"/>
                                        <p:tgtEl>
                                          <p:spTgt spid="103"/>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400"/>
                                  </p:stCondLst>
                                  <p:childTnLst>
                                    <p:set>
                                      <p:cBhvr>
                                        <p:cTn id="19" dur="1" fill="hold">
                                          <p:stCondLst>
                                            <p:cond delay="0"/>
                                          </p:stCondLst>
                                        </p:cTn>
                                        <p:tgtEl>
                                          <p:spTgt spid="104"/>
                                        </p:tgtEl>
                                        <p:attrNameLst>
                                          <p:attrName>style.visibility</p:attrName>
                                        </p:attrNameLst>
                                      </p:cBhvr>
                                      <p:to>
                                        <p:strVal val="visible"/>
                                      </p:to>
                                    </p:set>
                                    <p:animEffect transition="in" filter="fade">
                                      <p:cBhvr>
                                        <p:cTn id="20" dur="500"/>
                                        <p:tgtEl>
                                          <p:spTgt spid="104"/>
                                        </p:tgtEl>
                                      </p:cBhvr>
                                    </p:animEffect>
                                    <p:anim calcmode="lin" valueType="num">
                                      <p:cBhvr additive="base">
                                        <p:cTn id="21" dur="500" decel="100000" fill="hold"/>
                                        <p:tgtEl>
                                          <p:spTgt spid="104"/>
                                        </p:tgtEl>
                                        <p:attrNameLst>
                                          <p:attrName>ppt_y</p:attrName>
                                        </p:attrNameLst>
                                      </p:cBhvr>
                                      <p:tavLst>
                                        <p:tav tm="0">
                                          <p:val>
                                            <p:strVal val="#ppt_y+0.06"/>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00"/>
                                        <p:tgtEl>
                                          <p:spTgt spid="105"/>
                                        </p:tgtEl>
                                      </p:cBhvr>
                                    </p:animEffect>
                                    <p:anim calcmode="lin" valueType="num">
                                      <p:cBhvr additive="base">
                                        <p:cTn id="27" dur="500" decel="100000" fill="hold"/>
                                        <p:tgtEl>
                                          <p:spTgt spid="105"/>
                                        </p:tgtEl>
                                        <p:attrNameLst>
                                          <p:attrName>ppt_x</p:attrName>
                                        </p:attrNameLst>
                                      </p:cBhvr>
                                      <p:tavLst>
                                        <p:tav tm="0">
                                          <p:val>
                                            <p:strVal val="#ppt_x-0.05"/>
                                          </p:val>
                                        </p:tav>
                                        <p:tav tm="100000">
                                          <p:val>
                                            <p:strVal val="#ppt_x"/>
                                          </p:val>
                                        </p:tav>
                                      </p:tavLst>
                                    </p:anim>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grpId="0" nodeType="clickEffect">
                                  <p:stCondLst>
                                    <p:cond delay="0"/>
                                  </p:stCondLst>
                                  <p:childTnLst>
                                    <p:set>
                                      <p:cBhvr>
                                        <p:cTn id="31" dur="1" fill="hold">
                                          <p:stCondLst>
                                            <p:cond delay="0"/>
                                          </p:stCondLst>
                                        </p:cTn>
                                        <p:tgtEl>
                                          <p:spTgt spid="106"/>
                                        </p:tgtEl>
                                        <p:attrNameLst>
                                          <p:attrName>style.visibility</p:attrName>
                                        </p:attrNameLst>
                                      </p:cBhvr>
                                      <p:to>
                                        <p:strVal val="visible"/>
                                      </p:to>
                                    </p:set>
                                    <p:animEffect transition="in" filter="fade">
                                      <p:cBhvr>
                                        <p:cTn id="32" dur="500"/>
                                        <p:tgtEl>
                                          <p:spTgt spid="106"/>
                                        </p:tgtEl>
                                      </p:cBhvr>
                                    </p:animEffect>
                                    <p:anim calcmode="lin" valueType="num">
                                      <p:cBhvr additive="base">
                                        <p:cTn id="33" dur="500" decel="100000" fill="hold"/>
                                        <p:tgtEl>
                                          <p:spTgt spid="106"/>
                                        </p:tgtEl>
                                        <p:attrNameLst>
                                          <p:attrName>ppt_x</p:attrName>
                                        </p:attrNameLst>
                                      </p:cBhvr>
                                      <p:tavLst>
                                        <p:tav tm="0">
                                          <p:val>
                                            <p:strVal val="#ppt_x+0.05"/>
                                          </p:val>
                                        </p:tav>
                                        <p:tav tm="100000">
                                          <p:val>
                                            <p:strVal val="#ppt_x"/>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07"/>
                                        </p:tgtEl>
                                        <p:attrNameLst>
                                          <p:attrName>style.visibility</p:attrName>
                                        </p:attrNameLst>
                                      </p:cBhvr>
                                      <p:to>
                                        <p:strVal val="visible"/>
                                      </p:to>
                                    </p:set>
                                    <p:animEffect transition="in" filter="fade">
                                      <p:cBhvr>
                                        <p:cTn id="36" dur="500"/>
                                        <p:tgtEl>
                                          <p:spTgt spid="107"/>
                                        </p:tgtEl>
                                      </p:cBhvr>
                                    </p:animEffect>
                                    <p:anim calcmode="lin" valueType="num">
                                      <p:cBhvr additive="base">
                                        <p:cTn id="37" dur="500" decel="100000" fill="hold"/>
                                        <p:tgtEl>
                                          <p:spTgt spid="107"/>
                                        </p:tgtEl>
                                        <p:attrNameLst>
                                          <p:attrName>ppt_x</p:attrName>
                                        </p:attrNameLst>
                                      </p:cBhvr>
                                      <p:tavLst>
                                        <p:tav tm="0">
                                          <p:val>
                                            <p:strVal val="#ppt_x+0.05"/>
                                          </p:val>
                                        </p:tav>
                                        <p:tav tm="100000">
                                          <p:val>
                                            <p:strVal val="#ppt_x"/>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108"/>
                                        </p:tgtEl>
                                        <p:attrNameLst>
                                          <p:attrName>style.visibility</p:attrName>
                                        </p:attrNameLst>
                                      </p:cBhvr>
                                      <p:to>
                                        <p:strVal val="visible"/>
                                      </p:to>
                                    </p:set>
                                    <p:animEffect transition="in" filter="fade">
                                      <p:cBhvr>
                                        <p:cTn id="40" dur="500"/>
                                        <p:tgtEl>
                                          <p:spTgt spid="108"/>
                                        </p:tgtEl>
                                      </p:cBhvr>
                                    </p:animEffect>
                                    <p:anim calcmode="lin" valueType="num">
                                      <p:cBhvr additive="base">
                                        <p:cTn id="41" dur="500" decel="100000" fill="hold"/>
                                        <p:tgtEl>
                                          <p:spTgt spid="108"/>
                                        </p:tgtEl>
                                        <p:attrNameLst>
                                          <p:attrName>ppt_x</p:attrName>
                                        </p:attrNameLst>
                                      </p:cBhvr>
                                      <p:tavLst>
                                        <p:tav tm="0">
                                          <p:val>
                                            <p:strVal val="#ppt_x+0.05"/>
                                          </p:val>
                                        </p:tav>
                                        <p:tav tm="100000">
                                          <p:val>
                                            <p:strVal val="#ppt_x"/>
                                          </p:val>
                                        </p:tav>
                                      </p:tavLst>
                                    </p:anim>
                                  </p:childTnLst>
                                </p:cTn>
                              </p:par>
                              <p:par>
                                <p:cTn id="42" presetID="42" presetClass="entr" presetSubtype="0" fill="hold" grpId="0" nodeType="withEffect">
                                  <p:stCondLst>
                                    <p:cond delay="0"/>
                                  </p:stCondLst>
                                  <p:childTnLst>
                                    <p:set>
                                      <p:cBhvr>
                                        <p:cTn id="43" dur="1" fill="hold">
                                          <p:stCondLst>
                                            <p:cond delay="0"/>
                                          </p:stCondLst>
                                        </p:cTn>
                                        <p:tgtEl>
                                          <p:spTgt spid="109"/>
                                        </p:tgtEl>
                                        <p:attrNameLst>
                                          <p:attrName>style.visibility</p:attrName>
                                        </p:attrNameLst>
                                      </p:cBhvr>
                                      <p:to>
                                        <p:strVal val="visible"/>
                                      </p:to>
                                    </p:set>
                                    <p:animEffect transition="in" filter="fade">
                                      <p:cBhvr>
                                        <p:cTn id="44" dur="500"/>
                                        <p:tgtEl>
                                          <p:spTgt spid="109"/>
                                        </p:tgtEl>
                                      </p:cBhvr>
                                    </p:animEffect>
                                    <p:anim calcmode="lin" valueType="num">
                                      <p:cBhvr additive="base">
                                        <p:cTn id="45" dur="500" decel="100000" fill="hold"/>
                                        <p:tgtEl>
                                          <p:spTgt spid="109"/>
                                        </p:tgtEl>
                                        <p:attrNameLst>
                                          <p:attrName>ppt_x</p:attrName>
                                        </p:attrNameLst>
                                      </p:cBhvr>
                                      <p:tavLst>
                                        <p:tav tm="0">
                                          <p:val>
                                            <p:strVal val="#ppt_x+0.05"/>
                                          </p:val>
                                        </p:tav>
                                        <p:tav tm="100000">
                                          <p:val>
                                            <p:strVal val="#ppt_x"/>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110"/>
                                        </p:tgtEl>
                                        <p:attrNameLst>
                                          <p:attrName>style.visibility</p:attrName>
                                        </p:attrNameLst>
                                      </p:cBhvr>
                                      <p:to>
                                        <p:strVal val="visible"/>
                                      </p:to>
                                    </p:set>
                                    <p:animEffect transition="in" filter="fade">
                                      <p:cBhvr>
                                        <p:cTn id="48" dur="500"/>
                                        <p:tgtEl>
                                          <p:spTgt spid="110"/>
                                        </p:tgtEl>
                                      </p:cBhvr>
                                    </p:animEffect>
                                    <p:anim calcmode="lin" valueType="num">
                                      <p:cBhvr additive="base">
                                        <p:cTn id="49" dur="500" decel="100000" fill="hold"/>
                                        <p:tgtEl>
                                          <p:spTgt spid="110"/>
                                        </p:tgtEl>
                                        <p:attrNameLst>
                                          <p:attrName>ppt_x</p:attrName>
                                        </p:attrNameLst>
                                      </p:cBhvr>
                                      <p:tavLst>
                                        <p:tav tm="0">
                                          <p:val>
                                            <p:strVal val="#ppt_x+0.05"/>
                                          </p:val>
                                        </p:tav>
                                        <p:tav tm="100000">
                                          <p:val>
                                            <p:strVal val="#ppt_x"/>
                                          </p:val>
                                        </p:tav>
                                      </p:tavLst>
                                    </p:anim>
                                  </p:childTnLst>
                                </p:cTn>
                              </p:par>
                              <p:par>
                                <p:cTn id="50" presetID="42" presetClass="entr" presetSubtype="0" fill="hold" nodeType="withEffect">
                                  <p:stCondLst>
                                    <p:cond delay="0"/>
                                  </p:stCondLst>
                                  <p:childTnLst>
                                    <p:set>
                                      <p:cBhvr>
                                        <p:cTn id="51" dur="1" fill="hold">
                                          <p:stCondLst>
                                            <p:cond delay="0"/>
                                          </p:stCondLst>
                                        </p:cTn>
                                        <p:tgtEl>
                                          <p:spTgt spid="111"/>
                                        </p:tgtEl>
                                        <p:attrNameLst>
                                          <p:attrName>style.visibility</p:attrName>
                                        </p:attrNameLst>
                                      </p:cBhvr>
                                      <p:to>
                                        <p:strVal val="visible"/>
                                      </p:to>
                                    </p:set>
                                    <p:animEffect transition="in" filter="fade">
                                      <p:cBhvr>
                                        <p:cTn id="52" dur="500"/>
                                        <p:tgtEl>
                                          <p:spTgt spid="111"/>
                                        </p:tgtEl>
                                      </p:cBhvr>
                                    </p:animEffect>
                                    <p:anim calcmode="lin" valueType="num">
                                      <p:cBhvr additive="base">
                                        <p:cTn id="53" dur="500" decel="100000" fill="hold"/>
                                        <p:tgtEl>
                                          <p:spTgt spid="111"/>
                                        </p:tgtEl>
                                        <p:attrNameLst>
                                          <p:attrName>ppt_x</p:attrName>
                                        </p:attrNameLst>
                                      </p:cBhvr>
                                      <p:tavLst>
                                        <p:tav tm="0">
                                          <p:val>
                                            <p:strVal val="#ppt_x+0.05"/>
                                          </p:val>
                                        </p:tav>
                                        <p:tav tm="100000">
                                          <p:val>
                                            <p:strVal val="#ppt_x"/>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12"/>
                                        </p:tgtEl>
                                        <p:attrNameLst>
                                          <p:attrName>style.visibility</p:attrName>
                                        </p:attrNameLst>
                                      </p:cBhvr>
                                      <p:to>
                                        <p:strVal val="visible"/>
                                      </p:to>
                                    </p:set>
                                    <p:animEffect transition="in" filter="fade">
                                      <p:cBhvr>
                                        <p:cTn id="56" dur="500"/>
                                        <p:tgtEl>
                                          <p:spTgt spid="112"/>
                                        </p:tgtEl>
                                      </p:cBhvr>
                                    </p:animEffect>
                                    <p:anim calcmode="lin" valueType="num">
                                      <p:cBhvr additive="base">
                                        <p:cTn id="57" dur="500" decel="100000" fill="hold"/>
                                        <p:tgtEl>
                                          <p:spTgt spid="112"/>
                                        </p:tgtEl>
                                        <p:attrNameLst>
                                          <p:attrName>ppt_x</p:attrName>
                                        </p:attrNameLst>
                                      </p:cBhvr>
                                      <p:tavLst>
                                        <p:tav tm="0">
                                          <p:val>
                                            <p:strVal val="#ppt_x+0.05"/>
                                          </p:val>
                                        </p:tav>
                                        <p:tav tm="100000">
                                          <p:val>
                                            <p:strVal val="#ppt_x"/>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113"/>
                                        </p:tgtEl>
                                        <p:attrNameLst>
                                          <p:attrName>style.visibility</p:attrName>
                                        </p:attrNameLst>
                                      </p:cBhvr>
                                      <p:to>
                                        <p:strVal val="visible"/>
                                      </p:to>
                                    </p:set>
                                    <p:animEffect transition="in" filter="fade">
                                      <p:cBhvr>
                                        <p:cTn id="60" dur="500"/>
                                        <p:tgtEl>
                                          <p:spTgt spid="113"/>
                                        </p:tgtEl>
                                      </p:cBhvr>
                                    </p:animEffect>
                                    <p:anim calcmode="lin" valueType="num">
                                      <p:cBhvr additive="base">
                                        <p:cTn id="61" dur="500" decel="100000" fill="hold"/>
                                        <p:tgtEl>
                                          <p:spTgt spid="113"/>
                                        </p:tgtEl>
                                        <p:attrNameLst>
                                          <p:attrName>ppt_x</p:attrName>
                                        </p:attrNameLst>
                                      </p:cBhvr>
                                      <p:tavLst>
                                        <p:tav tm="0">
                                          <p:val>
                                            <p:strVal val="#ppt_x+0.05"/>
                                          </p:val>
                                        </p:tav>
                                        <p:tav tm="100000">
                                          <p:val>
                                            <p:strVal val="#ppt_x"/>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114"/>
                                        </p:tgtEl>
                                        <p:attrNameLst>
                                          <p:attrName>style.visibility</p:attrName>
                                        </p:attrNameLst>
                                      </p:cBhvr>
                                      <p:to>
                                        <p:strVal val="visible"/>
                                      </p:to>
                                    </p:set>
                                    <p:animEffect transition="in" filter="fade">
                                      <p:cBhvr>
                                        <p:cTn id="64" dur="500"/>
                                        <p:tgtEl>
                                          <p:spTgt spid="114"/>
                                        </p:tgtEl>
                                      </p:cBhvr>
                                    </p:animEffect>
                                    <p:anim calcmode="lin" valueType="num">
                                      <p:cBhvr additive="base">
                                        <p:cTn id="65" dur="500" decel="100000" fill="hold"/>
                                        <p:tgtEl>
                                          <p:spTgt spid="114"/>
                                        </p:tgtEl>
                                        <p:attrNameLst>
                                          <p:attrName>ppt_x</p:attrName>
                                        </p:attrNameLst>
                                      </p:cBhvr>
                                      <p:tavLst>
                                        <p:tav tm="0">
                                          <p:val>
                                            <p:strVal val="#ppt_x+0.05"/>
                                          </p:val>
                                        </p:tav>
                                        <p:tav tm="100000">
                                          <p:val>
                                            <p:strVal val="#ppt_x"/>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115"/>
                                        </p:tgtEl>
                                        <p:attrNameLst>
                                          <p:attrName>style.visibility</p:attrName>
                                        </p:attrNameLst>
                                      </p:cBhvr>
                                      <p:to>
                                        <p:strVal val="visible"/>
                                      </p:to>
                                    </p:set>
                                    <p:animEffect transition="in" filter="fade">
                                      <p:cBhvr>
                                        <p:cTn id="68" dur="500"/>
                                        <p:tgtEl>
                                          <p:spTgt spid="115"/>
                                        </p:tgtEl>
                                      </p:cBhvr>
                                    </p:animEffect>
                                    <p:anim calcmode="lin" valueType="num">
                                      <p:cBhvr additive="base">
                                        <p:cTn id="69" dur="500" decel="100000" fill="hold"/>
                                        <p:tgtEl>
                                          <p:spTgt spid="115"/>
                                        </p:tgtEl>
                                        <p:attrNameLst>
                                          <p:attrName>ppt_x</p:attrName>
                                        </p:attrNameLst>
                                      </p:cBhvr>
                                      <p:tavLst>
                                        <p:tav tm="0">
                                          <p:val>
                                            <p:strVal val="#ppt_x+0.05"/>
                                          </p:val>
                                        </p:tav>
                                        <p:tav tm="100000">
                                          <p:val>
                                            <p:strVal val="#ppt_x"/>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116"/>
                                        </p:tgtEl>
                                        <p:attrNameLst>
                                          <p:attrName>style.visibility</p:attrName>
                                        </p:attrNameLst>
                                      </p:cBhvr>
                                      <p:to>
                                        <p:strVal val="visible"/>
                                      </p:to>
                                    </p:set>
                                    <p:animEffect transition="in" filter="fade">
                                      <p:cBhvr>
                                        <p:cTn id="72" dur="500"/>
                                        <p:tgtEl>
                                          <p:spTgt spid="116"/>
                                        </p:tgtEl>
                                      </p:cBhvr>
                                    </p:animEffect>
                                    <p:anim calcmode="lin" valueType="num">
                                      <p:cBhvr additive="base">
                                        <p:cTn id="73" dur="500" decel="100000" fill="hold"/>
                                        <p:tgtEl>
                                          <p:spTgt spid="116"/>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2" grpId="0" animBg="1"/>
      <p:bldP spid="113" grpId="0" animBg="1"/>
      <p:bldP spid="114" grpId="0" animBg="1"/>
      <p:bldP spid="115" grpId="0" animBg="1"/>
      <p:bldP spid="116"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SETUP</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Create the Test Project: Only xUnit for Now</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Tests live in their own project, next to the code, never inside it.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FIRST TEST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117</a:t>
            </a:r>
            <a:endParaRPr lang="en-US" sz="850" dirty="0"/>
          </a:p>
        </p:txBody>
      </p:sp>
      <p:sp>
        <p:nvSpPr>
          <p:cNvPr id="101" name="s101"/>
          <p:cNvSpPr/>
          <p:nvPr/>
        </p:nvSpPr>
        <p:spPr>
          <a:xfrm>
            <a:off x="543154" y="1783080"/>
            <a:ext cx="4206240" cy="2743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890626"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Solution</a:t>
            </a:r>
            <a:endParaRPr lang="en-US" sz="950" dirty="0"/>
          </a:p>
        </p:txBody>
      </p:sp>
      <p:cxnSp>
        <p:nvCxnSpPr>
          <p:cNvPr id="106" name="ln106"/>
          <p:cNvCxnSpPr/>
          <p:nvPr/>
        </p:nvCxnSpPr>
        <p:spPr>
          <a:xfrm>
            <a:off x="543154" y="2194560"/>
            <a:ext cx="4206240" cy="0"/>
          </a:xfrm>
          <a:prstGeom prst="line">
            <a:avLst/>
          </a:prstGeom>
          <a:ln w="9525">
            <a:solidFill>
              <a:srgbClr val="1E3A5F"/>
            </a:solidFill>
          </a:ln>
        </p:spPr>
      </p:cxnSp>
      <p:sp>
        <p:nvSpPr>
          <p:cNvPr id="107" name="s107"/>
          <p:cNvSpPr/>
          <p:nvPr/>
        </p:nvSpPr>
        <p:spPr>
          <a:xfrm>
            <a:off x="543154" y="2313432"/>
            <a:ext cx="4206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Bank/</a:t>
            </a:r>
            <a:endParaRPr lang="en-US" sz="1150" dirty="0"/>
          </a:p>
        </p:txBody>
      </p:sp>
      <p:sp>
        <p:nvSpPr>
          <p:cNvPr id="108" name="s108"/>
          <p:cNvSpPr/>
          <p:nvPr/>
        </p:nvSpPr>
        <p:spPr>
          <a:xfrm>
            <a:off x="543154" y="2488692"/>
            <a:ext cx="4206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src/</a:t>
            </a:r>
            <a:endParaRPr lang="en-US" sz="1150" dirty="0"/>
          </a:p>
        </p:txBody>
      </p:sp>
      <p:sp>
        <p:nvSpPr>
          <p:cNvPr id="109" name="s109"/>
          <p:cNvSpPr/>
          <p:nvPr/>
        </p:nvSpPr>
        <p:spPr>
          <a:xfrm>
            <a:off x="543154" y="2663952"/>
            <a:ext cx="4206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 Bank.Core/           ← the code</a:t>
            </a:r>
            <a:endParaRPr lang="en-US" sz="1150" dirty="0"/>
          </a:p>
        </p:txBody>
      </p:sp>
      <p:sp>
        <p:nvSpPr>
          <p:cNvPr id="110" name="s110"/>
          <p:cNvSpPr/>
          <p:nvPr/>
        </p:nvSpPr>
        <p:spPr>
          <a:xfrm>
            <a:off x="543154" y="2839212"/>
            <a:ext cx="4206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 BankAccount.cs</a:t>
            </a:r>
            <a:endParaRPr lang="en-US" sz="1150" dirty="0"/>
          </a:p>
        </p:txBody>
      </p:sp>
      <p:sp>
        <p:nvSpPr>
          <p:cNvPr id="111" name="s111"/>
          <p:cNvSpPr/>
          <p:nvPr/>
        </p:nvSpPr>
        <p:spPr>
          <a:xfrm>
            <a:off x="543154" y="3014472"/>
            <a:ext cx="4206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tests/</a:t>
            </a:r>
            <a:endParaRPr lang="en-US" sz="1150" dirty="0"/>
          </a:p>
        </p:txBody>
      </p:sp>
      <p:sp>
        <p:nvSpPr>
          <p:cNvPr id="112" name="s112"/>
          <p:cNvSpPr/>
          <p:nvPr/>
        </p:nvSpPr>
        <p:spPr>
          <a:xfrm>
            <a:off x="543154" y="3189732"/>
            <a:ext cx="4206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 Bank.Core.Tests/     ← new</a:t>
            </a:r>
            <a:endParaRPr lang="en-US" sz="1150" dirty="0"/>
          </a:p>
        </p:txBody>
      </p:sp>
      <p:sp>
        <p:nvSpPr>
          <p:cNvPr id="113" name="s113"/>
          <p:cNvSpPr/>
          <p:nvPr/>
        </p:nvSpPr>
        <p:spPr>
          <a:xfrm>
            <a:off x="543154" y="3364992"/>
            <a:ext cx="4206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 BankAccountTests.cs</a:t>
            </a:r>
            <a:endParaRPr lang="en-US" sz="1150" dirty="0"/>
          </a:p>
        </p:txBody>
      </p:sp>
      <p:sp>
        <p:nvSpPr>
          <p:cNvPr id="114" name="s114"/>
          <p:cNvSpPr/>
          <p:nvPr/>
        </p:nvSpPr>
        <p:spPr>
          <a:xfrm>
            <a:off x="4977994" y="1783080"/>
            <a:ext cx="6653174" cy="2743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5" name="s115"/>
          <p:cNvSpPr/>
          <p:nvPr/>
        </p:nvSpPr>
        <p:spPr>
          <a:xfrm>
            <a:off x="514258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6" name="s116"/>
          <p:cNvSpPr/>
          <p:nvPr/>
        </p:nvSpPr>
        <p:spPr>
          <a:xfrm>
            <a:off x="532546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17" name="s117"/>
          <p:cNvSpPr/>
          <p:nvPr/>
        </p:nvSpPr>
        <p:spPr>
          <a:xfrm>
            <a:off x="550834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18" name="s118"/>
          <p:cNvSpPr/>
          <p:nvPr/>
        </p:nvSpPr>
        <p:spPr>
          <a:xfrm>
            <a:off x="5755234" y="1856232"/>
            <a:ext cx="890626"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Terminal</a:t>
            </a:r>
            <a:endParaRPr lang="en-US" sz="950" dirty="0"/>
          </a:p>
        </p:txBody>
      </p:sp>
      <p:cxnSp>
        <p:nvCxnSpPr>
          <p:cNvPr id="119" name="ln119"/>
          <p:cNvCxnSpPr/>
          <p:nvPr/>
        </p:nvCxnSpPr>
        <p:spPr>
          <a:xfrm>
            <a:off x="4977994" y="2194560"/>
            <a:ext cx="6653174" cy="0"/>
          </a:xfrm>
          <a:prstGeom prst="line">
            <a:avLst/>
          </a:prstGeom>
          <a:ln w="9525">
            <a:solidFill>
              <a:srgbClr val="1E3A5F"/>
            </a:solidFill>
          </a:ln>
        </p:spPr>
      </p:cxnSp>
      <p:sp>
        <p:nvSpPr>
          <p:cNvPr id="120" name="s120"/>
          <p:cNvSpPr/>
          <p:nvPr/>
        </p:nvSpPr>
        <p:spPr>
          <a:xfrm>
            <a:off x="4977994" y="2313432"/>
            <a:ext cx="6653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FAE7A"/>
                </a:solidFill>
                <a:latin typeface="Consolas"/>
                <a:ea typeface="Consolas"/>
                <a:cs typeface="Consolas"/>
              </a:rPr>
              <a:t># 1. create the test project</a:t>
            </a:r>
            <a:endParaRPr lang="en-US" sz="1150" dirty="0"/>
          </a:p>
        </p:txBody>
      </p:sp>
      <p:sp>
        <p:nvSpPr>
          <p:cNvPr id="121" name="s121"/>
          <p:cNvSpPr/>
          <p:nvPr/>
        </p:nvSpPr>
        <p:spPr>
          <a:xfrm>
            <a:off x="4977994" y="2488692"/>
            <a:ext cx="6653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1" dirty="0">
                <a:solidFill>
                  <a:srgbClr val="13D0F7"/>
                </a:solidFill>
                <a:latin typeface="Consolas"/>
                <a:ea typeface="Consolas"/>
                <a:cs typeface="Consolas"/>
              </a:rPr>
              <a:t>dotnet</a:t>
            </a:r>
            <a:r>
              <a:rPr lang="en-US" sz="1150" b="0" dirty="0">
                <a:solidFill>
                  <a:srgbClr val="E2E8F0"/>
                </a:solidFill>
                <a:latin typeface="Consolas"/>
                <a:ea typeface="Consolas"/>
                <a:cs typeface="Consolas"/>
              </a:rPr>
              <a:t> new xunit -n Bank.Core.Tests -o tests/Bank.Core.Tests</a:t>
            </a:r>
            <a:endParaRPr lang="en-US" sz="1150" dirty="0"/>
          </a:p>
        </p:txBody>
      </p:sp>
      <p:sp>
        <p:nvSpPr>
          <p:cNvPr id="122" name="s122"/>
          <p:cNvSpPr/>
          <p:nvPr/>
        </p:nvSpPr>
        <p:spPr>
          <a:xfrm>
            <a:off x="4977994" y="2663952"/>
            <a:ext cx="6653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FAE7A"/>
                </a:solidFill>
                <a:latin typeface="Consolas"/>
                <a:ea typeface="Consolas"/>
                <a:cs typeface="Consolas"/>
              </a:rPr>
              <a:t># 2. add it to the solution</a:t>
            </a:r>
            <a:endParaRPr lang="en-US" sz="1150" dirty="0"/>
          </a:p>
        </p:txBody>
      </p:sp>
      <p:sp>
        <p:nvSpPr>
          <p:cNvPr id="123" name="s123"/>
          <p:cNvSpPr/>
          <p:nvPr/>
        </p:nvSpPr>
        <p:spPr>
          <a:xfrm>
            <a:off x="4977994" y="2839212"/>
            <a:ext cx="6653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1" dirty="0">
                <a:solidFill>
                  <a:srgbClr val="13D0F7"/>
                </a:solidFill>
                <a:latin typeface="Consolas"/>
                <a:ea typeface="Consolas"/>
                <a:cs typeface="Consolas"/>
              </a:rPr>
              <a:t>dotnet</a:t>
            </a:r>
            <a:r>
              <a:rPr lang="en-US" sz="1150" b="0" dirty="0">
                <a:solidFill>
                  <a:srgbClr val="E2E8F0"/>
                </a:solidFill>
                <a:latin typeface="Consolas"/>
                <a:ea typeface="Consolas"/>
                <a:cs typeface="Consolas"/>
              </a:rPr>
              <a:t> sln add tests/Bank.Core.Tests</a:t>
            </a:r>
            <a:endParaRPr lang="en-US" sz="1150" dirty="0"/>
          </a:p>
        </p:txBody>
      </p:sp>
      <p:sp>
        <p:nvSpPr>
          <p:cNvPr id="124" name="s124"/>
          <p:cNvSpPr/>
          <p:nvPr/>
        </p:nvSpPr>
        <p:spPr>
          <a:xfrm>
            <a:off x="4977994" y="3014472"/>
            <a:ext cx="6653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FAE7A"/>
                </a:solidFill>
                <a:latin typeface="Consolas"/>
                <a:ea typeface="Consolas"/>
                <a:cs typeface="Consolas"/>
              </a:rPr>
              <a:t># 3. let it see the code under test</a:t>
            </a:r>
            <a:endParaRPr lang="en-US" sz="1150" dirty="0"/>
          </a:p>
        </p:txBody>
      </p:sp>
      <p:sp>
        <p:nvSpPr>
          <p:cNvPr id="125" name="s125"/>
          <p:cNvSpPr/>
          <p:nvPr/>
        </p:nvSpPr>
        <p:spPr>
          <a:xfrm>
            <a:off x="4977994" y="3189732"/>
            <a:ext cx="6653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1" dirty="0">
                <a:solidFill>
                  <a:srgbClr val="13D0F7"/>
                </a:solidFill>
                <a:latin typeface="Consolas"/>
                <a:ea typeface="Consolas"/>
                <a:cs typeface="Consolas"/>
              </a:rPr>
              <a:t>dotnet</a:t>
            </a:r>
            <a:r>
              <a:rPr lang="en-US" sz="1150" b="0" dirty="0">
                <a:solidFill>
                  <a:srgbClr val="E2E8F0"/>
                </a:solidFill>
                <a:latin typeface="Consolas"/>
                <a:ea typeface="Consolas"/>
                <a:cs typeface="Consolas"/>
              </a:rPr>
              <a:t> add tests/Bank.Core.Tests reference src/Bank.Core</a:t>
            </a:r>
            <a:endParaRPr lang="en-US" sz="1150" dirty="0"/>
          </a:p>
        </p:txBody>
      </p:sp>
      <p:sp>
        <p:nvSpPr>
          <p:cNvPr id="126" name="s126"/>
          <p:cNvSpPr/>
          <p:nvPr/>
        </p:nvSpPr>
        <p:spPr>
          <a:xfrm>
            <a:off x="4977994" y="3364992"/>
            <a:ext cx="6653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FAE7A"/>
                </a:solidFill>
                <a:latin typeface="Consolas"/>
                <a:ea typeface="Consolas"/>
                <a:cs typeface="Consolas"/>
              </a:rPr>
              <a:t># 4. build and run every test</a:t>
            </a:r>
            <a:endParaRPr lang="en-US" sz="1150" dirty="0"/>
          </a:p>
        </p:txBody>
      </p:sp>
      <p:sp>
        <p:nvSpPr>
          <p:cNvPr id="127" name="s127"/>
          <p:cNvSpPr/>
          <p:nvPr/>
        </p:nvSpPr>
        <p:spPr>
          <a:xfrm>
            <a:off x="4977994" y="3540252"/>
            <a:ext cx="6653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1" dirty="0">
                <a:solidFill>
                  <a:srgbClr val="13D0F7"/>
                </a:solidFill>
                <a:latin typeface="Consolas"/>
                <a:ea typeface="Consolas"/>
                <a:cs typeface="Consolas"/>
              </a:rPr>
              <a:t>dotnet</a:t>
            </a:r>
            <a:r>
              <a:rPr lang="en-US" sz="1150" b="0" dirty="0">
                <a:solidFill>
                  <a:srgbClr val="E2E8F0"/>
                </a:solidFill>
                <a:latin typeface="Consolas"/>
                <a:ea typeface="Consolas"/>
                <a:cs typeface="Consolas"/>
              </a:rPr>
              <a:t> test</a:t>
            </a:r>
            <a:endParaRPr lang="en-US" sz="1150" dirty="0"/>
          </a:p>
        </p:txBody>
      </p:sp>
      <p:sp>
        <p:nvSpPr>
          <p:cNvPr id="128" name="s128"/>
          <p:cNvSpPr/>
          <p:nvPr/>
        </p:nvSpPr>
        <p:spPr>
          <a:xfrm>
            <a:off x="543154" y="4754880"/>
            <a:ext cx="5486400" cy="868680"/>
          </a:xfrm>
          <a:prstGeom prst="roundRect">
            <a:avLst>
              <a:gd name="adj" fmla="val 10000"/>
            </a:avLst>
          </a:prstGeom>
          <a:solidFill>
            <a:srgbClr val="13D0F7">
              <a:alpha val="8000"/>
            </a:srgbClr>
          </a:solidFill>
          <a:ln w="12700">
            <a:solidFill>
              <a:srgbClr val="13D0F7"/>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13D0F7"/>
                </a:solidFill>
                <a:latin typeface="Segoe UI"/>
                <a:ea typeface="Segoe UI"/>
                <a:cs typeface="Segoe UI"/>
              </a:rPr>
              <a:t>ALREADY IN THE TEMPLATE</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xunit · xunit.runner.visualstudio · Microsoft.NET.Test.Sdk · coverlet.collector</a:t>
            </a:r>
            <a:endParaRPr lang="en-US" sz="1200" dirty="0"/>
          </a:p>
        </p:txBody>
      </p:sp>
      <p:sp>
        <p:nvSpPr>
          <p:cNvPr id="129" name="s129"/>
          <p:cNvSpPr/>
          <p:nvPr/>
        </p:nvSpPr>
        <p:spPr>
          <a:xfrm>
            <a:off x="6303874" y="4754880"/>
            <a:ext cx="5327294" cy="868680"/>
          </a:xfrm>
          <a:prstGeom prst="roundRect">
            <a:avLst>
              <a:gd name="adj" fmla="val 10000"/>
            </a:avLst>
          </a:prstGeom>
          <a:solidFill>
            <a:srgbClr val="FBBF24">
              <a:alpha val="8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BBF24"/>
                </a:solidFill>
                <a:latin typeface="Segoe UI"/>
                <a:ea typeface="Segoe UI"/>
                <a:cs typeface="Segoe UI"/>
              </a:rPr>
              <a:t>NOT YET</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No Shouldly, no NSubstitute, no Bogus. Each one arrives with its problem.</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grpId="0" nodeType="clickEffect">
                                  <p:stCondLst>
                                    <p:cond delay="0"/>
                                  </p:stCondLst>
                                  <p:childTnLst>
                                    <p:set>
                                      <p:cBhvr>
                                        <p:cTn id="60" dur="1" fill="hold">
                                          <p:stCondLst>
                                            <p:cond delay="0"/>
                                          </p:stCondLst>
                                        </p:cTn>
                                        <p:tgtEl>
                                          <p:spTgt spid="114"/>
                                        </p:tgtEl>
                                        <p:attrNameLst>
                                          <p:attrName>style.visibility</p:attrName>
                                        </p:attrNameLst>
                                      </p:cBhvr>
                                      <p:to>
                                        <p:strVal val="visible"/>
                                      </p:to>
                                    </p:set>
                                    <p:animEffect transition="in" filter="fade">
                                      <p:cBhvr>
                                        <p:cTn id="61" dur="500"/>
                                        <p:tgtEl>
                                          <p:spTgt spid="114"/>
                                        </p:tgtEl>
                                      </p:cBhvr>
                                    </p:animEffect>
                                    <p:anim calcmode="lin" valueType="num">
                                      <p:cBhvr additive="base">
                                        <p:cTn id="62" dur="500" decel="100000" fill="hold"/>
                                        <p:tgtEl>
                                          <p:spTgt spid="114"/>
                                        </p:tgtEl>
                                        <p:attrNameLst>
                                          <p:attrName>ppt_y</p:attrName>
                                        </p:attrNameLst>
                                      </p:cBhvr>
                                      <p:tavLst>
                                        <p:tav tm="0">
                                          <p:val>
                                            <p:strVal val="#ppt_y+0.06"/>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115"/>
                                        </p:tgtEl>
                                        <p:attrNameLst>
                                          <p:attrName>style.visibility</p:attrName>
                                        </p:attrNameLst>
                                      </p:cBhvr>
                                      <p:to>
                                        <p:strVal val="visible"/>
                                      </p:to>
                                    </p:set>
                                    <p:animEffect transition="in" filter="fade">
                                      <p:cBhvr>
                                        <p:cTn id="65" dur="500"/>
                                        <p:tgtEl>
                                          <p:spTgt spid="115"/>
                                        </p:tgtEl>
                                      </p:cBhvr>
                                    </p:animEffect>
                                    <p:anim calcmode="lin" valueType="num">
                                      <p:cBhvr additive="base">
                                        <p:cTn id="66" dur="500" decel="100000" fill="hold"/>
                                        <p:tgtEl>
                                          <p:spTgt spid="115"/>
                                        </p:tgtEl>
                                        <p:attrNameLst>
                                          <p:attrName>ppt_y</p:attrName>
                                        </p:attrNameLst>
                                      </p:cBhvr>
                                      <p:tavLst>
                                        <p:tav tm="0">
                                          <p:val>
                                            <p:strVal val="#ppt_y+0.06"/>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500"/>
                                        <p:tgtEl>
                                          <p:spTgt spid="116"/>
                                        </p:tgtEl>
                                      </p:cBhvr>
                                    </p:animEffect>
                                    <p:anim calcmode="lin" valueType="num">
                                      <p:cBhvr additive="base">
                                        <p:cTn id="70" dur="500" decel="100000" fill="hold"/>
                                        <p:tgtEl>
                                          <p:spTgt spid="116"/>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117"/>
                                        </p:tgtEl>
                                        <p:attrNameLst>
                                          <p:attrName>style.visibility</p:attrName>
                                        </p:attrNameLst>
                                      </p:cBhvr>
                                      <p:to>
                                        <p:strVal val="visible"/>
                                      </p:to>
                                    </p:set>
                                    <p:animEffect transition="in" filter="fade">
                                      <p:cBhvr>
                                        <p:cTn id="73" dur="500"/>
                                        <p:tgtEl>
                                          <p:spTgt spid="117"/>
                                        </p:tgtEl>
                                      </p:cBhvr>
                                    </p:animEffect>
                                    <p:anim calcmode="lin" valueType="num">
                                      <p:cBhvr additive="base">
                                        <p:cTn id="74" dur="500" decel="100000" fill="hold"/>
                                        <p:tgtEl>
                                          <p:spTgt spid="117"/>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118"/>
                                        </p:tgtEl>
                                        <p:attrNameLst>
                                          <p:attrName>style.visibility</p:attrName>
                                        </p:attrNameLst>
                                      </p:cBhvr>
                                      <p:to>
                                        <p:strVal val="visible"/>
                                      </p:to>
                                    </p:set>
                                    <p:animEffect transition="in" filter="fade">
                                      <p:cBhvr>
                                        <p:cTn id="77" dur="500"/>
                                        <p:tgtEl>
                                          <p:spTgt spid="118"/>
                                        </p:tgtEl>
                                      </p:cBhvr>
                                    </p:animEffect>
                                    <p:anim calcmode="lin" valueType="num">
                                      <p:cBhvr additive="base">
                                        <p:cTn id="78" dur="500" decel="100000" fill="hold"/>
                                        <p:tgtEl>
                                          <p:spTgt spid="118"/>
                                        </p:tgtEl>
                                        <p:attrNameLst>
                                          <p:attrName>ppt_y</p:attrName>
                                        </p:attrNameLst>
                                      </p:cBhvr>
                                      <p:tavLst>
                                        <p:tav tm="0">
                                          <p:val>
                                            <p:strVal val="#ppt_y+0.06"/>
                                          </p:val>
                                        </p:tav>
                                        <p:tav tm="100000">
                                          <p:val>
                                            <p:strVal val="#ppt_y"/>
                                          </p:val>
                                        </p:tav>
                                      </p:tavLst>
                                    </p:anim>
                                  </p:childTnLst>
                                </p:cTn>
                              </p:par>
                              <p:par>
                                <p:cTn id="79" presetID="42" presetClass="entr" presetSubtype="0" fill="hold" nodeType="withEffect">
                                  <p:stCondLst>
                                    <p:cond delay="0"/>
                                  </p:stCondLst>
                                  <p:childTnLst>
                                    <p:set>
                                      <p:cBhvr>
                                        <p:cTn id="80" dur="1" fill="hold">
                                          <p:stCondLst>
                                            <p:cond delay="0"/>
                                          </p:stCondLst>
                                        </p:cTn>
                                        <p:tgtEl>
                                          <p:spTgt spid="119"/>
                                        </p:tgtEl>
                                        <p:attrNameLst>
                                          <p:attrName>style.visibility</p:attrName>
                                        </p:attrNameLst>
                                      </p:cBhvr>
                                      <p:to>
                                        <p:strVal val="visible"/>
                                      </p:to>
                                    </p:set>
                                    <p:animEffect transition="in" filter="fade">
                                      <p:cBhvr>
                                        <p:cTn id="81" dur="500"/>
                                        <p:tgtEl>
                                          <p:spTgt spid="119"/>
                                        </p:tgtEl>
                                      </p:cBhvr>
                                    </p:animEffect>
                                    <p:anim calcmode="lin" valueType="num">
                                      <p:cBhvr additive="base">
                                        <p:cTn id="82" dur="500" decel="100000" fill="hold"/>
                                        <p:tgtEl>
                                          <p:spTgt spid="119"/>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20"/>
                                        </p:tgtEl>
                                        <p:attrNameLst>
                                          <p:attrName>style.visibility</p:attrName>
                                        </p:attrNameLst>
                                      </p:cBhvr>
                                      <p:to>
                                        <p:strVal val="visible"/>
                                      </p:to>
                                    </p:set>
                                    <p:animEffect transition="in" filter="fade">
                                      <p:cBhvr>
                                        <p:cTn id="85" dur="500"/>
                                        <p:tgtEl>
                                          <p:spTgt spid="120"/>
                                        </p:tgtEl>
                                      </p:cBhvr>
                                    </p:animEffect>
                                    <p:anim calcmode="lin" valueType="num">
                                      <p:cBhvr additive="base">
                                        <p:cTn id="86" dur="500" decel="100000" fill="hold"/>
                                        <p:tgtEl>
                                          <p:spTgt spid="120"/>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21"/>
                                        </p:tgtEl>
                                        <p:attrNameLst>
                                          <p:attrName>style.visibility</p:attrName>
                                        </p:attrNameLst>
                                      </p:cBhvr>
                                      <p:to>
                                        <p:strVal val="visible"/>
                                      </p:to>
                                    </p:set>
                                    <p:animEffect transition="in" filter="fade">
                                      <p:cBhvr>
                                        <p:cTn id="89" dur="500"/>
                                        <p:tgtEl>
                                          <p:spTgt spid="121"/>
                                        </p:tgtEl>
                                      </p:cBhvr>
                                    </p:animEffect>
                                    <p:anim calcmode="lin" valueType="num">
                                      <p:cBhvr additive="base">
                                        <p:cTn id="90" dur="500" decel="100000" fill="hold"/>
                                        <p:tgtEl>
                                          <p:spTgt spid="121"/>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2"/>
                                        </p:tgtEl>
                                        <p:attrNameLst>
                                          <p:attrName>style.visibility</p:attrName>
                                        </p:attrNameLst>
                                      </p:cBhvr>
                                      <p:to>
                                        <p:strVal val="visible"/>
                                      </p:to>
                                    </p:set>
                                    <p:animEffect transition="in" filter="fade">
                                      <p:cBhvr>
                                        <p:cTn id="93" dur="500"/>
                                        <p:tgtEl>
                                          <p:spTgt spid="122"/>
                                        </p:tgtEl>
                                      </p:cBhvr>
                                    </p:animEffect>
                                    <p:anim calcmode="lin" valueType="num">
                                      <p:cBhvr additive="base">
                                        <p:cTn id="94" dur="500" decel="100000" fill="hold"/>
                                        <p:tgtEl>
                                          <p:spTgt spid="122"/>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3"/>
                                        </p:tgtEl>
                                        <p:attrNameLst>
                                          <p:attrName>style.visibility</p:attrName>
                                        </p:attrNameLst>
                                      </p:cBhvr>
                                      <p:to>
                                        <p:strVal val="visible"/>
                                      </p:to>
                                    </p:set>
                                    <p:animEffect transition="in" filter="fade">
                                      <p:cBhvr>
                                        <p:cTn id="97" dur="500"/>
                                        <p:tgtEl>
                                          <p:spTgt spid="123"/>
                                        </p:tgtEl>
                                      </p:cBhvr>
                                    </p:animEffect>
                                    <p:anim calcmode="lin" valueType="num">
                                      <p:cBhvr additive="base">
                                        <p:cTn id="98" dur="500" decel="100000" fill="hold"/>
                                        <p:tgtEl>
                                          <p:spTgt spid="123"/>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4"/>
                                        </p:tgtEl>
                                        <p:attrNameLst>
                                          <p:attrName>style.visibility</p:attrName>
                                        </p:attrNameLst>
                                      </p:cBhvr>
                                      <p:to>
                                        <p:strVal val="visible"/>
                                      </p:to>
                                    </p:set>
                                    <p:animEffect transition="in" filter="fade">
                                      <p:cBhvr>
                                        <p:cTn id="101" dur="500"/>
                                        <p:tgtEl>
                                          <p:spTgt spid="124"/>
                                        </p:tgtEl>
                                      </p:cBhvr>
                                    </p:animEffect>
                                    <p:anim calcmode="lin" valueType="num">
                                      <p:cBhvr additive="base">
                                        <p:cTn id="102" dur="500" decel="100000" fill="hold"/>
                                        <p:tgtEl>
                                          <p:spTgt spid="124"/>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5"/>
                                        </p:tgtEl>
                                        <p:attrNameLst>
                                          <p:attrName>style.visibility</p:attrName>
                                        </p:attrNameLst>
                                      </p:cBhvr>
                                      <p:to>
                                        <p:strVal val="visible"/>
                                      </p:to>
                                    </p:set>
                                    <p:animEffect transition="in" filter="fade">
                                      <p:cBhvr>
                                        <p:cTn id="105" dur="500"/>
                                        <p:tgtEl>
                                          <p:spTgt spid="125"/>
                                        </p:tgtEl>
                                      </p:cBhvr>
                                    </p:animEffect>
                                    <p:anim calcmode="lin" valueType="num">
                                      <p:cBhvr additive="base">
                                        <p:cTn id="106" dur="500" decel="100000" fill="hold"/>
                                        <p:tgtEl>
                                          <p:spTgt spid="125"/>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6"/>
                                        </p:tgtEl>
                                        <p:attrNameLst>
                                          <p:attrName>style.visibility</p:attrName>
                                        </p:attrNameLst>
                                      </p:cBhvr>
                                      <p:to>
                                        <p:strVal val="visible"/>
                                      </p:to>
                                    </p:set>
                                    <p:animEffect transition="in" filter="fade">
                                      <p:cBhvr>
                                        <p:cTn id="109" dur="500"/>
                                        <p:tgtEl>
                                          <p:spTgt spid="126"/>
                                        </p:tgtEl>
                                      </p:cBhvr>
                                    </p:animEffect>
                                    <p:anim calcmode="lin" valueType="num">
                                      <p:cBhvr additive="base">
                                        <p:cTn id="110" dur="500" decel="100000" fill="hold"/>
                                        <p:tgtEl>
                                          <p:spTgt spid="126"/>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7"/>
                                        </p:tgtEl>
                                        <p:attrNameLst>
                                          <p:attrName>style.visibility</p:attrName>
                                        </p:attrNameLst>
                                      </p:cBhvr>
                                      <p:to>
                                        <p:strVal val="visible"/>
                                      </p:to>
                                    </p:set>
                                    <p:animEffect transition="in" filter="fade">
                                      <p:cBhvr>
                                        <p:cTn id="113" dur="500"/>
                                        <p:tgtEl>
                                          <p:spTgt spid="127"/>
                                        </p:tgtEl>
                                      </p:cBhvr>
                                    </p:animEffect>
                                    <p:anim calcmode="lin" valueType="num">
                                      <p:cBhvr additive="base">
                                        <p:cTn id="114" dur="500" decel="100000" fill="hold"/>
                                        <p:tgtEl>
                                          <p:spTgt spid="127"/>
                                        </p:tgtEl>
                                        <p:attrNameLst>
                                          <p:attrName>ppt_y</p:attrName>
                                        </p:attrNameLst>
                                      </p:cBhvr>
                                      <p:tavLst>
                                        <p:tav tm="0">
                                          <p:val>
                                            <p:strVal val="#ppt_y+0.06"/>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42" presetClass="entr" presetSubtype="0" fill="hold" grpId="0" nodeType="clickEffect">
                                  <p:stCondLst>
                                    <p:cond delay="0"/>
                                  </p:stCondLst>
                                  <p:childTnLst>
                                    <p:set>
                                      <p:cBhvr>
                                        <p:cTn id="118" dur="1" fill="hold">
                                          <p:stCondLst>
                                            <p:cond delay="0"/>
                                          </p:stCondLst>
                                        </p:cTn>
                                        <p:tgtEl>
                                          <p:spTgt spid="128"/>
                                        </p:tgtEl>
                                        <p:attrNameLst>
                                          <p:attrName>style.visibility</p:attrName>
                                        </p:attrNameLst>
                                      </p:cBhvr>
                                      <p:to>
                                        <p:strVal val="visible"/>
                                      </p:to>
                                    </p:set>
                                    <p:animEffect transition="in" filter="fade">
                                      <p:cBhvr>
                                        <p:cTn id="119" dur="500"/>
                                        <p:tgtEl>
                                          <p:spTgt spid="128"/>
                                        </p:tgtEl>
                                      </p:cBhvr>
                                    </p:animEffect>
                                    <p:anim calcmode="lin" valueType="num">
                                      <p:cBhvr additive="base">
                                        <p:cTn id="120" dur="500" decel="100000" fill="hold"/>
                                        <p:tgtEl>
                                          <p:spTgt spid="128"/>
                                        </p:tgtEl>
                                        <p:attrNameLst>
                                          <p:attrName>ppt_y</p:attrName>
                                        </p:attrNameLst>
                                      </p:cBhvr>
                                      <p:tavLst>
                                        <p:tav tm="0">
                                          <p:val>
                                            <p:strVal val="#ppt_y+0.06"/>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42" presetClass="entr" presetSubtype="0" fill="hold" grpId="0" nodeType="clickEffect">
                                  <p:stCondLst>
                                    <p:cond delay="0"/>
                                  </p:stCondLst>
                                  <p:childTnLst>
                                    <p:set>
                                      <p:cBhvr>
                                        <p:cTn id="124" dur="1" fill="hold">
                                          <p:stCondLst>
                                            <p:cond delay="0"/>
                                          </p:stCondLst>
                                        </p:cTn>
                                        <p:tgtEl>
                                          <p:spTgt spid="129"/>
                                        </p:tgtEl>
                                        <p:attrNameLst>
                                          <p:attrName>style.visibility</p:attrName>
                                        </p:attrNameLst>
                                      </p:cBhvr>
                                      <p:to>
                                        <p:strVal val="visible"/>
                                      </p:to>
                                    </p:set>
                                    <p:animEffect transition="in" filter="fade">
                                      <p:cBhvr>
                                        <p:cTn id="125" dur="500"/>
                                        <p:tgtEl>
                                          <p:spTgt spid="129"/>
                                        </p:tgtEl>
                                      </p:cBhvr>
                                    </p:animEffect>
                                    <p:anim calcmode="lin" valueType="num">
                                      <p:cBhvr additive="base">
                                        <p:cTn id="126" dur="500" decel="100000" fill="hold"/>
                                        <p:tgtEl>
                                          <p:spTgt spid="129"/>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FIRST TEST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Your First Test: Arrange, Act, Assert</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FIRST TEST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118</a:t>
            </a:r>
            <a:endParaRPr lang="en-US" sz="850" dirty="0"/>
          </a:p>
        </p:txBody>
      </p:sp>
      <p:sp>
        <p:nvSpPr>
          <p:cNvPr id="101" name="s101"/>
          <p:cNvSpPr/>
          <p:nvPr/>
        </p:nvSpPr>
        <p:spPr>
          <a:xfrm>
            <a:off x="543154" y="1783080"/>
            <a:ext cx="6766560" cy="38404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675181"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BankAccountTests.cs</a:t>
            </a:r>
            <a:endParaRPr lang="en-US" sz="950" dirty="0"/>
          </a:p>
        </p:txBody>
      </p:sp>
      <p:cxnSp>
        <p:nvCxnSpPr>
          <p:cNvPr id="106" name="ln106"/>
          <p:cNvCxnSpPr/>
          <p:nvPr/>
        </p:nvCxnSpPr>
        <p:spPr>
          <a:xfrm>
            <a:off x="543154" y="2194560"/>
            <a:ext cx="6766560" cy="0"/>
          </a:xfrm>
          <a:prstGeom prst="line">
            <a:avLst/>
          </a:prstGeom>
          <a:ln w="9525">
            <a:solidFill>
              <a:srgbClr val="1E3A5F"/>
            </a:solidFill>
          </a:ln>
        </p:spPr>
      </p:cxnSp>
      <p:sp>
        <p:nvSpPr>
          <p:cNvPr id="107" name="s107"/>
          <p:cNvSpPr/>
          <p:nvPr/>
        </p:nvSpPr>
        <p:spPr>
          <a:xfrm>
            <a:off x="543154" y="231343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class</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BankAccountTests</a:t>
            </a:r>
            <a:endParaRPr lang="en-US" sz="1150" dirty="0"/>
          </a:p>
        </p:txBody>
      </p:sp>
      <p:sp>
        <p:nvSpPr>
          <p:cNvPr id="108" name="s108"/>
          <p:cNvSpPr/>
          <p:nvPr/>
        </p:nvSpPr>
        <p:spPr>
          <a:xfrm>
            <a:off x="543154" y="248869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09" name="s109"/>
          <p:cNvSpPr/>
          <p:nvPr/>
        </p:nvSpPr>
        <p:spPr>
          <a:xfrm>
            <a:off x="543154" y="266395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FBBF24"/>
                </a:solidFill>
                <a:latin typeface="Consolas"/>
                <a:ea typeface="Consolas"/>
                <a:cs typeface="Consolas"/>
              </a:rPr>
              <a:t>[Fact]</a:t>
            </a:r>
            <a:endParaRPr lang="en-US" sz="1150" dirty="0"/>
          </a:p>
        </p:txBody>
      </p:sp>
      <p:sp>
        <p:nvSpPr>
          <p:cNvPr id="110" name="s110"/>
          <p:cNvSpPr/>
          <p:nvPr/>
        </p:nvSpPr>
        <p:spPr>
          <a:xfrm>
            <a:off x="543154" y="283921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void</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Deposit_ValidAmount_IncreasesBalance</a:t>
            </a:r>
            <a:r>
              <a:rPr lang="en-US" sz="1150" b="0" dirty="0">
                <a:solidFill>
                  <a:srgbClr val="E2E8F0"/>
                </a:solidFill>
                <a:latin typeface="Consolas"/>
                <a:ea typeface="Consolas"/>
                <a:cs typeface="Consolas"/>
              </a:rPr>
              <a:t>()</a:t>
            </a:r>
            <a:endParaRPr lang="en-US" sz="1150" dirty="0"/>
          </a:p>
        </p:txBody>
      </p:sp>
      <p:sp>
        <p:nvSpPr>
          <p:cNvPr id="111" name="s111"/>
          <p:cNvSpPr/>
          <p:nvPr/>
        </p:nvSpPr>
        <p:spPr>
          <a:xfrm>
            <a:off x="543154" y="301447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endParaRPr lang="en-US" sz="1150" dirty="0"/>
          </a:p>
        </p:txBody>
      </p:sp>
      <p:sp>
        <p:nvSpPr>
          <p:cNvPr id="112" name="s112"/>
          <p:cNvSpPr/>
          <p:nvPr/>
        </p:nvSpPr>
        <p:spPr>
          <a:xfrm>
            <a:off x="543154" y="318973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Arrange</a:t>
            </a:r>
            <a:endParaRPr lang="en-US" sz="1150" dirty="0"/>
          </a:p>
        </p:txBody>
      </p:sp>
      <p:sp>
        <p:nvSpPr>
          <p:cNvPr id="113" name="s113"/>
          <p:cNvSpPr/>
          <p:nvPr/>
        </p:nvSpPr>
        <p:spPr>
          <a:xfrm>
            <a:off x="543154" y="336499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var</a:t>
            </a:r>
            <a:r>
              <a:rPr lang="en-US" sz="1150" b="0" dirty="0">
                <a:solidFill>
                  <a:srgbClr val="E2E8F0"/>
                </a:solidFill>
                <a:latin typeface="Consolas"/>
                <a:ea typeface="Consolas"/>
                <a:cs typeface="Consolas"/>
              </a:rPr>
              <a:t> account = </a:t>
            </a:r>
            <a:r>
              <a:rPr lang="en-US" sz="1150" b="0" dirty="0">
                <a:solidFill>
                  <a:srgbClr val="60A5FA"/>
                </a:solidFill>
                <a:latin typeface="Consolas"/>
                <a:ea typeface="Consolas"/>
                <a:cs typeface="Consolas"/>
              </a:rPr>
              <a:t>new</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BankAccount</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"mona@bank.eg"</a:t>
            </a:r>
            <a:r>
              <a:rPr lang="en-US" sz="1150" b="0" dirty="0">
                <a:solidFill>
                  <a:srgbClr val="E2E8F0"/>
                </a:solidFill>
                <a:latin typeface="Consolas"/>
                <a:ea typeface="Consolas"/>
                <a:cs typeface="Consolas"/>
              </a:rPr>
              <a:t>);</a:t>
            </a:r>
            <a:endParaRPr lang="en-US" sz="1150" dirty="0"/>
          </a:p>
        </p:txBody>
      </p:sp>
      <p:sp>
        <p:nvSpPr>
          <p:cNvPr id="114" name="s114"/>
          <p:cNvSpPr/>
          <p:nvPr/>
        </p:nvSpPr>
        <p:spPr>
          <a:xfrm>
            <a:off x="543154" y="371551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Act</a:t>
            </a:r>
            <a:endParaRPr lang="en-US" sz="1150" dirty="0"/>
          </a:p>
        </p:txBody>
      </p:sp>
      <p:sp>
        <p:nvSpPr>
          <p:cNvPr id="115" name="s115"/>
          <p:cNvSpPr/>
          <p:nvPr/>
        </p:nvSpPr>
        <p:spPr>
          <a:xfrm>
            <a:off x="543154" y="389077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account.</a:t>
            </a:r>
            <a:r>
              <a:rPr lang="en-US" sz="1150" b="0" dirty="0">
                <a:solidFill>
                  <a:srgbClr val="7DD3FC"/>
                </a:solidFill>
                <a:latin typeface="Consolas"/>
                <a:ea typeface="Consolas"/>
                <a:cs typeface="Consolas"/>
              </a:rPr>
              <a:t>Deposit</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100m</a:t>
            </a:r>
            <a:r>
              <a:rPr lang="en-US" sz="1150" b="0" dirty="0">
                <a:solidFill>
                  <a:srgbClr val="E2E8F0"/>
                </a:solidFill>
                <a:latin typeface="Consolas"/>
                <a:ea typeface="Consolas"/>
                <a:cs typeface="Consolas"/>
              </a:rPr>
              <a:t>);</a:t>
            </a:r>
            <a:endParaRPr lang="en-US" sz="1150" dirty="0"/>
          </a:p>
        </p:txBody>
      </p:sp>
      <p:sp>
        <p:nvSpPr>
          <p:cNvPr id="116" name="s116"/>
          <p:cNvSpPr/>
          <p:nvPr/>
        </p:nvSpPr>
        <p:spPr>
          <a:xfrm>
            <a:off x="543154" y="424129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Assert</a:t>
            </a:r>
            <a:endParaRPr lang="en-US" sz="1150" dirty="0"/>
          </a:p>
        </p:txBody>
      </p:sp>
      <p:sp>
        <p:nvSpPr>
          <p:cNvPr id="117" name="s117"/>
          <p:cNvSpPr/>
          <p:nvPr/>
        </p:nvSpPr>
        <p:spPr>
          <a:xfrm>
            <a:off x="543154" y="441655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Assert</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Equal</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100m</a:t>
            </a:r>
            <a:r>
              <a:rPr lang="en-US" sz="1150" b="0" dirty="0">
                <a:solidFill>
                  <a:srgbClr val="E2E8F0"/>
                </a:solidFill>
                <a:latin typeface="Consolas"/>
                <a:ea typeface="Consolas"/>
                <a:cs typeface="Consolas"/>
              </a:rPr>
              <a:t>, account.</a:t>
            </a:r>
            <a:r>
              <a:rPr lang="en-US" sz="1150" b="0" dirty="0">
                <a:solidFill>
                  <a:srgbClr val="7DD3FC"/>
                </a:solidFill>
                <a:latin typeface="Consolas"/>
                <a:ea typeface="Consolas"/>
                <a:cs typeface="Consolas"/>
              </a:rPr>
              <a:t>Balance</a:t>
            </a:r>
            <a:r>
              <a:rPr lang="en-US" sz="1150" b="0" dirty="0">
                <a:solidFill>
                  <a:srgbClr val="E2E8F0"/>
                </a:solidFill>
                <a:latin typeface="Consolas"/>
                <a:ea typeface="Consolas"/>
                <a:cs typeface="Consolas"/>
              </a:rPr>
              <a:t>);</a:t>
            </a:r>
            <a:endParaRPr lang="en-US" sz="1150" dirty="0"/>
          </a:p>
        </p:txBody>
      </p:sp>
      <p:sp>
        <p:nvSpPr>
          <p:cNvPr id="118" name="s118"/>
          <p:cNvSpPr/>
          <p:nvPr/>
        </p:nvSpPr>
        <p:spPr>
          <a:xfrm>
            <a:off x="543154" y="459181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endParaRPr lang="en-US" sz="1150" dirty="0"/>
          </a:p>
        </p:txBody>
      </p:sp>
      <p:sp>
        <p:nvSpPr>
          <p:cNvPr id="119" name="s119"/>
          <p:cNvSpPr/>
          <p:nvPr/>
        </p:nvSpPr>
        <p:spPr>
          <a:xfrm>
            <a:off x="543154" y="4767072"/>
            <a:ext cx="67665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20" name="s120"/>
          <p:cNvSpPr/>
          <p:nvPr/>
        </p:nvSpPr>
        <p:spPr>
          <a:xfrm>
            <a:off x="7584034" y="1783080"/>
            <a:ext cx="4047134" cy="822960"/>
          </a:xfrm>
          <a:prstGeom prst="roundRect">
            <a:avLst>
              <a:gd name="adj" fmla="val 10000"/>
            </a:avLst>
          </a:prstGeom>
          <a:solidFill>
            <a:srgbClr val="FBBF24">
              <a:alpha val="8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BBF24"/>
                </a:solidFill>
                <a:latin typeface="Segoe UI"/>
                <a:ea typeface="Segoe UI"/>
                <a:cs typeface="Segoe UI"/>
              </a:rPr>
              <a:t>[FACT]</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This method is a test. No parameters.</a:t>
            </a:r>
            <a:endParaRPr lang="en-US" sz="1250" dirty="0"/>
          </a:p>
        </p:txBody>
      </p:sp>
      <p:sp>
        <p:nvSpPr>
          <p:cNvPr id="121" name="s121"/>
          <p:cNvSpPr/>
          <p:nvPr/>
        </p:nvSpPr>
        <p:spPr>
          <a:xfrm>
            <a:off x="652882" y="2636520"/>
            <a:ext cx="6547104" cy="23012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
        <p:nvSpPr>
          <p:cNvPr id="122" name="s122"/>
          <p:cNvSpPr/>
          <p:nvPr/>
        </p:nvSpPr>
        <p:spPr>
          <a:xfrm>
            <a:off x="7584034" y="2743200"/>
            <a:ext cx="4047134" cy="822960"/>
          </a:xfrm>
          <a:prstGeom prst="roundRect">
            <a:avLst>
              <a:gd name="adj" fmla="val 10000"/>
            </a:avLst>
          </a:prstGeom>
          <a:solidFill>
            <a:srgbClr val="13D0F7">
              <a:alpha val="8000"/>
            </a:srgbClr>
          </a:solidFill>
          <a:ln w="12700">
            <a:solidFill>
              <a:srgbClr val="13D0F7"/>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13D0F7"/>
                </a:solidFill>
                <a:latin typeface="Segoe UI"/>
                <a:ea typeface="Segoe UI"/>
                <a:cs typeface="Segoe UI"/>
              </a:rPr>
              <a:t>ARRANGE</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Create the objects you need.</a:t>
            </a:r>
            <a:endParaRPr lang="en-US" sz="1250" dirty="0"/>
          </a:p>
        </p:txBody>
      </p:sp>
      <p:sp>
        <p:nvSpPr>
          <p:cNvPr id="123" name="s123"/>
          <p:cNvSpPr/>
          <p:nvPr/>
        </p:nvSpPr>
        <p:spPr>
          <a:xfrm>
            <a:off x="652882" y="3162300"/>
            <a:ext cx="6547104" cy="405384"/>
          </a:xfrm>
          <a:prstGeom prst="roundRect">
            <a:avLst>
              <a:gd name="adj" fmla="val 6000"/>
            </a:avLst>
          </a:prstGeom>
          <a:solidFill>
            <a:srgbClr val="13D0F7">
              <a:alpha val="10000"/>
            </a:srgbClr>
          </a:solidFill>
          <a:ln w="15875">
            <a:solidFill>
              <a:srgbClr val="13D0F7"/>
            </a:solidFill>
            <a:prstDash val="solid"/>
          </a:ln>
        </p:spPr>
        <p:txBody>
          <a:bodyPr wrap="square" lIns="164592" tIns="109728" rIns="137160" bIns="91440" rtlCol="0" anchor="t">
            <a:noAutofit/>
          </a:bodyPr>
          <a:lstStyle/>
          <a:p>
            <a:endParaRPr lang="en-US"/>
          </a:p>
        </p:txBody>
      </p:sp>
      <p:sp>
        <p:nvSpPr>
          <p:cNvPr id="124" name="s124"/>
          <p:cNvSpPr/>
          <p:nvPr/>
        </p:nvSpPr>
        <p:spPr>
          <a:xfrm>
            <a:off x="7584034" y="3703320"/>
            <a:ext cx="4047134" cy="822960"/>
          </a:xfrm>
          <a:prstGeom prst="roundRect">
            <a:avLst>
              <a:gd name="adj" fmla="val 10000"/>
            </a:avLst>
          </a:prstGeom>
          <a:solidFill>
            <a:srgbClr val="A78BFA">
              <a:alpha val="8000"/>
            </a:srgbClr>
          </a:solidFill>
          <a:ln w="12700">
            <a:solidFill>
              <a:srgbClr val="A78BFA"/>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A78BFA"/>
                </a:solidFill>
                <a:latin typeface="Segoe UI"/>
                <a:ea typeface="Segoe UI"/>
                <a:cs typeface="Segoe UI"/>
              </a:rPr>
              <a:t>ACT</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Call the ONE method under test.</a:t>
            </a:r>
            <a:endParaRPr lang="en-US" sz="1250" dirty="0"/>
          </a:p>
        </p:txBody>
      </p:sp>
      <p:sp>
        <p:nvSpPr>
          <p:cNvPr id="125" name="s125"/>
          <p:cNvSpPr/>
          <p:nvPr/>
        </p:nvSpPr>
        <p:spPr>
          <a:xfrm>
            <a:off x="652882" y="3688080"/>
            <a:ext cx="6547104" cy="405384"/>
          </a:xfrm>
          <a:prstGeom prst="roundRect">
            <a:avLst>
              <a:gd name="adj" fmla="val 6000"/>
            </a:avLst>
          </a:prstGeom>
          <a:solidFill>
            <a:srgbClr val="A78BFA">
              <a:alpha val="10000"/>
            </a:srgbClr>
          </a:solidFill>
          <a:ln w="15875">
            <a:solidFill>
              <a:srgbClr val="A78BFA"/>
            </a:solidFill>
            <a:prstDash val="solid"/>
          </a:ln>
        </p:spPr>
        <p:txBody>
          <a:bodyPr wrap="square" lIns="164592" tIns="109728" rIns="137160" bIns="91440" rtlCol="0" anchor="t">
            <a:noAutofit/>
          </a:bodyPr>
          <a:lstStyle/>
          <a:p>
            <a:endParaRPr lang="en-US"/>
          </a:p>
        </p:txBody>
      </p:sp>
      <p:sp>
        <p:nvSpPr>
          <p:cNvPr id="126" name="s126"/>
          <p:cNvSpPr/>
          <p:nvPr/>
        </p:nvSpPr>
        <p:spPr>
          <a:xfrm>
            <a:off x="7584034" y="4663440"/>
            <a:ext cx="4047134" cy="82296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ASSERT</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Compare: expected first, actual second.</a:t>
            </a:r>
            <a:endParaRPr lang="en-US" sz="1250" dirty="0"/>
          </a:p>
        </p:txBody>
      </p:sp>
      <p:sp>
        <p:nvSpPr>
          <p:cNvPr id="127" name="s127"/>
          <p:cNvSpPr/>
          <p:nvPr/>
        </p:nvSpPr>
        <p:spPr>
          <a:xfrm>
            <a:off x="652882" y="4213860"/>
            <a:ext cx="6547104" cy="40538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53" presetClass="entr" presetSubtype="16" fill="hold" grpId="0" nodeType="clickEffect">
                                  <p:stCondLst>
                                    <p:cond delay="0"/>
                                  </p:stCondLst>
                                  <p:childTnLst>
                                    <p:set>
                                      <p:cBhvr>
                                        <p:cTn id="84" dur="1" fill="hold">
                                          <p:stCondLst>
                                            <p:cond delay="0"/>
                                          </p:stCondLst>
                                        </p:cTn>
                                        <p:tgtEl>
                                          <p:spTgt spid="121"/>
                                        </p:tgtEl>
                                        <p:attrNameLst>
                                          <p:attrName>style.visibility</p:attrName>
                                        </p:attrNameLst>
                                      </p:cBhvr>
                                      <p:to>
                                        <p:strVal val="visible"/>
                                      </p:to>
                                    </p:set>
                                    <p:anim calcmode="lin" valueType="num">
                                      <p:cBhvr additive="base">
                                        <p:cTn id="85" dur="500" decel="100000" fill="hold"/>
                                        <p:tgtEl>
                                          <p:spTgt spid="121"/>
                                        </p:tgtEl>
                                        <p:attrNameLst>
                                          <p:attrName>ppt_w</p:attrName>
                                        </p:attrNameLst>
                                      </p:cBhvr>
                                      <p:tavLst>
                                        <p:tav tm="0">
                                          <p:val>
                                            <p:strVal val="#ppt_w*0.3"/>
                                          </p:val>
                                        </p:tav>
                                        <p:tav tm="100000">
                                          <p:val>
                                            <p:strVal val="#ppt_w*1.08"/>
                                          </p:val>
                                        </p:tav>
                                      </p:tavLst>
                                    </p:anim>
                                    <p:anim calcmode="lin" valueType="num">
                                      <p:cBhvr additive="base">
                                        <p:cTn id="86" dur="500" decel="100000" fill="hold"/>
                                        <p:tgtEl>
                                          <p:spTgt spid="121"/>
                                        </p:tgtEl>
                                        <p:attrNameLst>
                                          <p:attrName>ppt_h</p:attrName>
                                        </p:attrNameLst>
                                      </p:cBhvr>
                                      <p:tavLst>
                                        <p:tav tm="0">
                                          <p:val>
                                            <p:strVal val="#ppt_h*0.3"/>
                                          </p:val>
                                        </p:tav>
                                        <p:tav tm="100000">
                                          <p:val>
                                            <p:strVal val="#ppt_h*1.08"/>
                                          </p:val>
                                        </p:tav>
                                      </p:tavLst>
                                    </p:anim>
                                    <p:animEffect transition="in" filter="fade">
                                      <p:cBhvr>
                                        <p:cTn id="87" dur="250"/>
                                        <p:tgtEl>
                                          <p:spTgt spid="121"/>
                                        </p:tgtEl>
                                      </p:cBhvr>
                                    </p:animEffect>
                                    <p:anim calcmode="lin" valueType="num">
                                      <p:cBhvr additive="base">
                                        <p:cTn id="88" dur="160" fill="hold">
                                          <p:stCondLst>
                                            <p:cond delay="500"/>
                                          </p:stCondLst>
                                        </p:cTn>
                                        <p:tgtEl>
                                          <p:spTgt spid="121"/>
                                        </p:tgtEl>
                                        <p:attrNameLst>
                                          <p:attrName>ppt_w</p:attrName>
                                        </p:attrNameLst>
                                      </p:cBhvr>
                                      <p:tavLst>
                                        <p:tav tm="0">
                                          <p:val>
                                            <p:strVal val="#ppt_w*1.08"/>
                                          </p:val>
                                        </p:tav>
                                        <p:tav tm="100000">
                                          <p:val>
                                            <p:strVal val="#ppt_w"/>
                                          </p:val>
                                        </p:tav>
                                      </p:tavLst>
                                    </p:anim>
                                    <p:anim calcmode="lin" valueType="num">
                                      <p:cBhvr additive="base">
                                        <p:cTn id="89" dur="160" fill="hold">
                                          <p:stCondLst>
                                            <p:cond delay="500"/>
                                          </p:stCondLst>
                                        </p:cTn>
                                        <p:tgtEl>
                                          <p:spTgt spid="121"/>
                                        </p:tgtEl>
                                        <p:attrNameLst>
                                          <p:attrName>ppt_h</p:attrName>
                                        </p:attrNameLst>
                                      </p:cBhvr>
                                      <p:tavLst>
                                        <p:tav tm="0">
                                          <p:val>
                                            <p:strVal val="#ppt_h*1.08"/>
                                          </p:val>
                                        </p:tav>
                                        <p:tav tm="100000">
                                          <p:val>
                                            <p:strVal val="#ppt_h"/>
                                          </p:val>
                                        </p:tav>
                                      </p:tavLst>
                                    </p:anim>
                                  </p:childTnLst>
                                </p:cTn>
                              </p:par>
                              <p:par>
                                <p:cTn id="90" presetID="42" presetClass="entr" presetSubtype="0" fill="hold" grpId="0" nodeType="withEffect">
                                  <p:stCondLst>
                                    <p:cond delay="150"/>
                                  </p:stCondLst>
                                  <p:childTnLst>
                                    <p:set>
                                      <p:cBhvr>
                                        <p:cTn id="91" dur="1" fill="hold">
                                          <p:stCondLst>
                                            <p:cond delay="0"/>
                                          </p:stCondLst>
                                        </p:cTn>
                                        <p:tgtEl>
                                          <p:spTgt spid="120"/>
                                        </p:tgtEl>
                                        <p:attrNameLst>
                                          <p:attrName>style.visibility</p:attrName>
                                        </p:attrNameLst>
                                      </p:cBhvr>
                                      <p:to>
                                        <p:strVal val="visible"/>
                                      </p:to>
                                    </p:set>
                                    <p:animEffect transition="in" filter="fade">
                                      <p:cBhvr>
                                        <p:cTn id="92" dur="500"/>
                                        <p:tgtEl>
                                          <p:spTgt spid="120"/>
                                        </p:tgtEl>
                                      </p:cBhvr>
                                    </p:animEffect>
                                    <p:anim calcmode="lin" valueType="num">
                                      <p:cBhvr additive="base">
                                        <p:cTn id="93" dur="500" decel="100000" fill="hold"/>
                                        <p:tgtEl>
                                          <p:spTgt spid="120"/>
                                        </p:tgtEl>
                                        <p:attrNameLst>
                                          <p:attrName>ppt_x</p:attrName>
                                        </p:attrNameLst>
                                      </p:cBhvr>
                                      <p:tavLst>
                                        <p:tav tm="0">
                                          <p:val>
                                            <p:strVal val="#ppt_x-0.05"/>
                                          </p:val>
                                        </p:tav>
                                        <p:tav tm="100000">
                                          <p:val>
                                            <p:strVal val="#ppt_x"/>
                                          </p:val>
                                        </p:tav>
                                      </p:tavLst>
                                    </p:anim>
                                  </p:childTnLst>
                                </p:cTn>
                              </p:par>
                            </p:childTnLst>
                          </p:cTn>
                        </p:par>
                      </p:childTnLst>
                    </p:cTn>
                  </p:par>
                  <p:par>
                    <p:cTn id="94" fill="hold">
                      <p:stCondLst>
                        <p:cond delay="indefinite"/>
                      </p:stCondLst>
                      <p:childTnLst>
                        <p:par>
                          <p:cTn id="95" fill="hold">
                            <p:stCondLst>
                              <p:cond delay="0"/>
                            </p:stCondLst>
                            <p:childTnLst>
                              <p:par>
                                <p:cTn id="96" presetID="53" presetClass="entr" presetSubtype="16" fill="hold" grpId="0" nodeType="clickEffect">
                                  <p:stCondLst>
                                    <p:cond delay="0"/>
                                  </p:stCondLst>
                                  <p:childTnLst>
                                    <p:set>
                                      <p:cBhvr>
                                        <p:cTn id="97" dur="1" fill="hold">
                                          <p:stCondLst>
                                            <p:cond delay="0"/>
                                          </p:stCondLst>
                                        </p:cTn>
                                        <p:tgtEl>
                                          <p:spTgt spid="123"/>
                                        </p:tgtEl>
                                        <p:attrNameLst>
                                          <p:attrName>style.visibility</p:attrName>
                                        </p:attrNameLst>
                                      </p:cBhvr>
                                      <p:to>
                                        <p:strVal val="visible"/>
                                      </p:to>
                                    </p:set>
                                    <p:anim calcmode="lin" valueType="num">
                                      <p:cBhvr additive="base">
                                        <p:cTn id="98" dur="500" decel="100000" fill="hold"/>
                                        <p:tgtEl>
                                          <p:spTgt spid="123"/>
                                        </p:tgtEl>
                                        <p:attrNameLst>
                                          <p:attrName>ppt_w</p:attrName>
                                        </p:attrNameLst>
                                      </p:cBhvr>
                                      <p:tavLst>
                                        <p:tav tm="0">
                                          <p:val>
                                            <p:strVal val="#ppt_w*0.3"/>
                                          </p:val>
                                        </p:tav>
                                        <p:tav tm="100000">
                                          <p:val>
                                            <p:strVal val="#ppt_w*1.08"/>
                                          </p:val>
                                        </p:tav>
                                      </p:tavLst>
                                    </p:anim>
                                    <p:anim calcmode="lin" valueType="num">
                                      <p:cBhvr additive="base">
                                        <p:cTn id="99" dur="500" decel="100000" fill="hold"/>
                                        <p:tgtEl>
                                          <p:spTgt spid="123"/>
                                        </p:tgtEl>
                                        <p:attrNameLst>
                                          <p:attrName>ppt_h</p:attrName>
                                        </p:attrNameLst>
                                      </p:cBhvr>
                                      <p:tavLst>
                                        <p:tav tm="0">
                                          <p:val>
                                            <p:strVal val="#ppt_h*0.3"/>
                                          </p:val>
                                        </p:tav>
                                        <p:tav tm="100000">
                                          <p:val>
                                            <p:strVal val="#ppt_h*1.08"/>
                                          </p:val>
                                        </p:tav>
                                      </p:tavLst>
                                    </p:anim>
                                    <p:animEffect transition="in" filter="fade">
                                      <p:cBhvr>
                                        <p:cTn id="100" dur="250"/>
                                        <p:tgtEl>
                                          <p:spTgt spid="123"/>
                                        </p:tgtEl>
                                      </p:cBhvr>
                                    </p:animEffect>
                                    <p:anim calcmode="lin" valueType="num">
                                      <p:cBhvr additive="base">
                                        <p:cTn id="101" dur="160" fill="hold">
                                          <p:stCondLst>
                                            <p:cond delay="500"/>
                                          </p:stCondLst>
                                        </p:cTn>
                                        <p:tgtEl>
                                          <p:spTgt spid="123"/>
                                        </p:tgtEl>
                                        <p:attrNameLst>
                                          <p:attrName>ppt_w</p:attrName>
                                        </p:attrNameLst>
                                      </p:cBhvr>
                                      <p:tavLst>
                                        <p:tav tm="0">
                                          <p:val>
                                            <p:strVal val="#ppt_w*1.08"/>
                                          </p:val>
                                        </p:tav>
                                        <p:tav tm="100000">
                                          <p:val>
                                            <p:strVal val="#ppt_w"/>
                                          </p:val>
                                        </p:tav>
                                      </p:tavLst>
                                    </p:anim>
                                    <p:anim calcmode="lin" valueType="num">
                                      <p:cBhvr additive="base">
                                        <p:cTn id="102" dur="160" fill="hold">
                                          <p:stCondLst>
                                            <p:cond delay="500"/>
                                          </p:stCondLst>
                                        </p:cTn>
                                        <p:tgtEl>
                                          <p:spTgt spid="123"/>
                                        </p:tgtEl>
                                        <p:attrNameLst>
                                          <p:attrName>ppt_h</p:attrName>
                                        </p:attrNameLst>
                                      </p:cBhvr>
                                      <p:tavLst>
                                        <p:tav tm="0">
                                          <p:val>
                                            <p:strVal val="#ppt_h*1.08"/>
                                          </p:val>
                                        </p:tav>
                                        <p:tav tm="100000">
                                          <p:val>
                                            <p:strVal val="#ppt_h"/>
                                          </p:val>
                                        </p:tav>
                                      </p:tavLst>
                                    </p:anim>
                                  </p:childTnLst>
                                </p:cTn>
                              </p:par>
                              <p:par>
                                <p:cTn id="103" presetID="42" presetClass="entr" presetSubtype="0" fill="hold" grpId="0" nodeType="withEffect">
                                  <p:stCondLst>
                                    <p:cond delay="150"/>
                                  </p:stCondLst>
                                  <p:childTnLst>
                                    <p:set>
                                      <p:cBhvr>
                                        <p:cTn id="104" dur="1" fill="hold">
                                          <p:stCondLst>
                                            <p:cond delay="0"/>
                                          </p:stCondLst>
                                        </p:cTn>
                                        <p:tgtEl>
                                          <p:spTgt spid="122"/>
                                        </p:tgtEl>
                                        <p:attrNameLst>
                                          <p:attrName>style.visibility</p:attrName>
                                        </p:attrNameLst>
                                      </p:cBhvr>
                                      <p:to>
                                        <p:strVal val="visible"/>
                                      </p:to>
                                    </p:set>
                                    <p:animEffect transition="in" filter="fade">
                                      <p:cBhvr>
                                        <p:cTn id="105" dur="500"/>
                                        <p:tgtEl>
                                          <p:spTgt spid="122"/>
                                        </p:tgtEl>
                                      </p:cBhvr>
                                    </p:animEffect>
                                    <p:anim calcmode="lin" valueType="num">
                                      <p:cBhvr additive="base">
                                        <p:cTn id="106" dur="500" decel="100000" fill="hold"/>
                                        <p:tgtEl>
                                          <p:spTgt spid="122"/>
                                        </p:tgtEl>
                                        <p:attrNameLst>
                                          <p:attrName>ppt_x</p:attrName>
                                        </p:attrNameLst>
                                      </p:cBhvr>
                                      <p:tavLst>
                                        <p:tav tm="0">
                                          <p:val>
                                            <p:strVal val="#ppt_x-0.05"/>
                                          </p:val>
                                        </p:tav>
                                        <p:tav tm="100000">
                                          <p:val>
                                            <p:strVal val="#ppt_x"/>
                                          </p:val>
                                        </p:tav>
                                      </p:tavLst>
                                    </p:anim>
                                  </p:childTnLst>
                                </p:cTn>
                              </p:par>
                            </p:childTnLst>
                          </p:cTn>
                        </p:par>
                      </p:childTnLst>
                    </p:cTn>
                  </p:par>
                  <p:par>
                    <p:cTn id="107" fill="hold">
                      <p:stCondLst>
                        <p:cond delay="indefinite"/>
                      </p:stCondLst>
                      <p:childTnLst>
                        <p:par>
                          <p:cTn id="108" fill="hold">
                            <p:stCondLst>
                              <p:cond delay="0"/>
                            </p:stCondLst>
                            <p:childTnLst>
                              <p:par>
                                <p:cTn id="109" presetID="53" presetClass="entr" presetSubtype="16" fill="hold" grpId="0" nodeType="clickEffect">
                                  <p:stCondLst>
                                    <p:cond delay="0"/>
                                  </p:stCondLst>
                                  <p:childTnLst>
                                    <p:set>
                                      <p:cBhvr>
                                        <p:cTn id="110" dur="1" fill="hold">
                                          <p:stCondLst>
                                            <p:cond delay="0"/>
                                          </p:stCondLst>
                                        </p:cTn>
                                        <p:tgtEl>
                                          <p:spTgt spid="125"/>
                                        </p:tgtEl>
                                        <p:attrNameLst>
                                          <p:attrName>style.visibility</p:attrName>
                                        </p:attrNameLst>
                                      </p:cBhvr>
                                      <p:to>
                                        <p:strVal val="visible"/>
                                      </p:to>
                                    </p:set>
                                    <p:anim calcmode="lin" valueType="num">
                                      <p:cBhvr additive="base">
                                        <p:cTn id="111" dur="500" decel="100000" fill="hold"/>
                                        <p:tgtEl>
                                          <p:spTgt spid="125"/>
                                        </p:tgtEl>
                                        <p:attrNameLst>
                                          <p:attrName>ppt_w</p:attrName>
                                        </p:attrNameLst>
                                      </p:cBhvr>
                                      <p:tavLst>
                                        <p:tav tm="0">
                                          <p:val>
                                            <p:strVal val="#ppt_w*0.3"/>
                                          </p:val>
                                        </p:tav>
                                        <p:tav tm="100000">
                                          <p:val>
                                            <p:strVal val="#ppt_w*1.08"/>
                                          </p:val>
                                        </p:tav>
                                      </p:tavLst>
                                    </p:anim>
                                    <p:anim calcmode="lin" valueType="num">
                                      <p:cBhvr additive="base">
                                        <p:cTn id="112" dur="500" decel="100000" fill="hold"/>
                                        <p:tgtEl>
                                          <p:spTgt spid="125"/>
                                        </p:tgtEl>
                                        <p:attrNameLst>
                                          <p:attrName>ppt_h</p:attrName>
                                        </p:attrNameLst>
                                      </p:cBhvr>
                                      <p:tavLst>
                                        <p:tav tm="0">
                                          <p:val>
                                            <p:strVal val="#ppt_h*0.3"/>
                                          </p:val>
                                        </p:tav>
                                        <p:tav tm="100000">
                                          <p:val>
                                            <p:strVal val="#ppt_h*1.08"/>
                                          </p:val>
                                        </p:tav>
                                      </p:tavLst>
                                    </p:anim>
                                    <p:animEffect transition="in" filter="fade">
                                      <p:cBhvr>
                                        <p:cTn id="113" dur="250"/>
                                        <p:tgtEl>
                                          <p:spTgt spid="125"/>
                                        </p:tgtEl>
                                      </p:cBhvr>
                                    </p:animEffect>
                                    <p:anim calcmode="lin" valueType="num">
                                      <p:cBhvr additive="base">
                                        <p:cTn id="114" dur="160" fill="hold">
                                          <p:stCondLst>
                                            <p:cond delay="500"/>
                                          </p:stCondLst>
                                        </p:cTn>
                                        <p:tgtEl>
                                          <p:spTgt spid="125"/>
                                        </p:tgtEl>
                                        <p:attrNameLst>
                                          <p:attrName>ppt_w</p:attrName>
                                        </p:attrNameLst>
                                      </p:cBhvr>
                                      <p:tavLst>
                                        <p:tav tm="0">
                                          <p:val>
                                            <p:strVal val="#ppt_w*1.08"/>
                                          </p:val>
                                        </p:tav>
                                        <p:tav tm="100000">
                                          <p:val>
                                            <p:strVal val="#ppt_w"/>
                                          </p:val>
                                        </p:tav>
                                      </p:tavLst>
                                    </p:anim>
                                    <p:anim calcmode="lin" valueType="num">
                                      <p:cBhvr additive="base">
                                        <p:cTn id="115" dur="160" fill="hold">
                                          <p:stCondLst>
                                            <p:cond delay="500"/>
                                          </p:stCondLst>
                                        </p:cTn>
                                        <p:tgtEl>
                                          <p:spTgt spid="125"/>
                                        </p:tgtEl>
                                        <p:attrNameLst>
                                          <p:attrName>ppt_h</p:attrName>
                                        </p:attrNameLst>
                                      </p:cBhvr>
                                      <p:tavLst>
                                        <p:tav tm="0">
                                          <p:val>
                                            <p:strVal val="#ppt_h*1.08"/>
                                          </p:val>
                                        </p:tav>
                                        <p:tav tm="100000">
                                          <p:val>
                                            <p:strVal val="#ppt_h"/>
                                          </p:val>
                                        </p:tav>
                                      </p:tavLst>
                                    </p:anim>
                                  </p:childTnLst>
                                </p:cTn>
                              </p:par>
                              <p:par>
                                <p:cTn id="116" presetID="42" presetClass="entr" presetSubtype="0" fill="hold" grpId="0" nodeType="withEffect">
                                  <p:stCondLst>
                                    <p:cond delay="150"/>
                                  </p:stCondLst>
                                  <p:childTnLst>
                                    <p:set>
                                      <p:cBhvr>
                                        <p:cTn id="117" dur="1" fill="hold">
                                          <p:stCondLst>
                                            <p:cond delay="0"/>
                                          </p:stCondLst>
                                        </p:cTn>
                                        <p:tgtEl>
                                          <p:spTgt spid="124"/>
                                        </p:tgtEl>
                                        <p:attrNameLst>
                                          <p:attrName>style.visibility</p:attrName>
                                        </p:attrNameLst>
                                      </p:cBhvr>
                                      <p:to>
                                        <p:strVal val="visible"/>
                                      </p:to>
                                    </p:set>
                                    <p:animEffect transition="in" filter="fade">
                                      <p:cBhvr>
                                        <p:cTn id="118" dur="500"/>
                                        <p:tgtEl>
                                          <p:spTgt spid="124"/>
                                        </p:tgtEl>
                                      </p:cBhvr>
                                    </p:animEffect>
                                    <p:anim calcmode="lin" valueType="num">
                                      <p:cBhvr additive="base">
                                        <p:cTn id="119" dur="500" decel="100000" fill="hold"/>
                                        <p:tgtEl>
                                          <p:spTgt spid="124"/>
                                        </p:tgtEl>
                                        <p:attrNameLst>
                                          <p:attrName>ppt_x</p:attrName>
                                        </p:attrNameLst>
                                      </p:cBhvr>
                                      <p:tavLst>
                                        <p:tav tm="0">
                                          <p:val>
                                            <p:strVal val="#ppt_x-0.05"/>
                                          </p:val>
                                        </p:tav>
                                        <p:tav tm="100000">
                                          <p:val>
                                            <p:strVal val="#ppt_x"/>
                                          </p:val>
                                        </p:tav>
                                      </p:tavLst>
                                    </p:anim>
                                  </p:childTnLst>
                                </p:cTn>
                              </p:par>
                            </p:childTnLst>
                          </p:cTn>
                        </p:par>
                      </p:childTnLst>
                    </p:cTn>
                  </p:par>
                  <p:par>
                    <p:cTn id="120" fill="hold">
                      <p:stCondLst>
                        <p:cond delay="indefinite"/>
                      </p:stCondLst>
                      <p:childTnLst>
                        <p:par>
                          <p:cTn id="121" fill="hold">
                            <p:stCondLst>
                              <p:cond delay="0"/>
                            </p:stCondLst>
                            <p:childTnLst>
                              <p:par>
                                <p:cTn id="122" presetID="53" presetClass="entr" presetSubtype="16" fill="hold" grpId="0" nodeType="clickEffect">
                                  <p:stCondLst>
                                    <p:cond delay="0"/>
                                  </p:stCondLst>
                                  <p:childTnLst>
                                    <p:set>
                                      <p:cBhvr>
                                        <p:cTn id="123" dur="1" fill="hold">
                                          <p:stCondLst>
                                            <p:cond delay="0"/>
                                          </p:stCondLst>
                                        </p:cTn>
                                        <p:tgtEl>
                                          <p:spTgt spid="127"/>
                                        </p:tgtEl>
                                        <p:attrNameLst>
                                          <p:attrName>style.visibility</p:attrName>
                                        </p:attrNameLst>
                                      </p:cBhvr>
                                      <p:to>
                                        <p:strVal val="visible"/>
                                      </p:to>
                                    </p:set>
                                    <p:anim calcmode="lin" valueType="num">
                                      <p:cBhvr additive="base">
                                        <p:cTn id="124" dur="500" decel="100000" fill="hold"/>
                                        <p:tgtEl>
                                          <p:spTgt spid="127"/>
                                        </p:tgtEl>
                                        <p:attrNameLst>
                                          <p:attrName>ppt_w</p:attrName>
                                        </p:attrNameLst>
                                      </p:cBhvr>
                                      <p:tavLst>
                                        <p:tav tm="0">
                                          <p:val>
                                            <p:strVal val="#ppt_w*0.3"/>
                                          </p:val>
                                        </p:tav>
                                        <p:tav tm="100000">
                                          <p:val>
                                            <p:strVal val="#ppt_w*1.08"/>
                                          </p:val>
                                        </p:tav>
                                      </p:tavLst>
                                    </p:anim>
                                    <p:anim calcmode="lin" valueType="num">
                                      <p:cBhvr additive="base">
                                        <p:cTn id="125" dur="500" decel="100000" fill="hold"/>
                                        <p:tgtEl>
                                          <p:spTgt spid="127"/>
                                        </p:tgtEl>
                                        <p:attrNameLst>
                                          <p:attrName>ppt_h</p:attrName>
                                        </p:attrNameLst>
                                      </p:cBhvr>
                                      <p:tavLst>
                                        <p:tav tm="0">
                                          <p:val>
                                            <p:strVal val="#ppt_h*0.3"/>
                                          </p:val>
                                        </p:tav>
                                        <p:tav tm="100000">
                                          <p:val>
                                            <p:strVal val="#ppt_h*1.08"/>
                                          </p:val>
                                        </p:tav>
                                      </p:tavLst>
                                    </p:anim>
                                    <p:animEffect transition="in" filter="fade">
                                      <p:cBhvr>
                                        <p:cTn id="126" dur="250"/>
                                        <p:tgtEl>
                                          <p:spTgt spid="127"/>
                                        </p:tgtEl>
                                      </p:cBhvr>
                                    </p:animEffect>
                                    <p:anim calcmode="lin" valueType="num">
                                      <p:cBhvr additive="base">
                                        <p:cTn id="127" dur="160" fill="hold">
                                          <p:stCondLst>
                                            <p:cond delay="500"/>
                                          </p:stCondLst>
                                        </p:cTn>
                                        <p:tgtEl>
                                          <p:spTgt spid="127"/>
                                        </p:tgtEl>
                                        <p:attrNameLst>
                                          <p:attrName>ppt_w</p:attrName>
                                        </p:attrNameLst>
                                      </p:cBhvr>
                                      <p:tavLst>
                                        <p:tav tm="0">
                                          <p:val>
                                            <p:strVal val="#ppt_w*1.08"/>
                                          </p:val>
                                        </p:tav>
                                        <p:tav tm="100000">
                                          <p:val>
                                            <p:strVal val="#ppt_w"/>
                                          </p:val>
                                        </p:tav>
                                      </p:tavLst>
                                    </p:anim>
                                    <p:anim calcmode="lin" valueType="num">
                                      <p:cBhvr additive="base">
                                        <p:cTn id="128" dur="160" fill="hold">
                                          <p:stCondLst>
                                            <p:cond delay="500"/>
                                          </p:stCondLst>
                                        </p:cTn>
                                        <p:tgtEl>
                                          <p:spTgt spid="127"/>
                                        </p:tgtEl>
                                        <p:attrNameLst>
                                          <p:attrName>ppt_h</p:attrName>
                                        </p:attrNameLst>
                                      </p:cBhvr>
                                      <p:tavLst>
                                        <p:tav tm="0">
                                          <p:val>
                                            <p:strVal val="#ppt_h*1.08"/>
                                          </p:val>
                                        </p:tav>
                                        <p:tav tm="100000">
                                          <p:val>
                                            <p:strVal val="#ppt_h"/>
                                          </p:val>
                                        </p:tav>
                                      </p:tavLst>
                                    </p:anim>
                                  </p:childTnLst>
                                </p:cTn>
                              </p:par>
                              <p:par>
                                <p:cTn id="129" presetID="42" presetClass="entr" presetSubtype="0" fill="hold" grpId="0" nodeType="withEffect">
                                  <p:stCondLst>
                                    <p:cond delay="150"/>
                                  </p:stCondLst>
                                  <p:childTnLst>
                                    <p:set>
                                      <p:cBhvr>
                                        <p:cTn id="130" dur="1" fill="hold">
                                          <p:stCondLst>
                                            <p:cond delay="0"/>
                                          </p:stCondLst>
                                        </p:cTn>
                                        <p:tgtEl>
                                          <p:spTgt spid="126"/>
                                        </p:tgtEl>
                                        <p:attrNameLst>
                                          <p:attrName>style.visibility</p:attrName>
                                        </p:attrNameLst>
                                      </p:cBhvr>
                                      <p:to>
                                        <p:strVal val="visible"/>
                                      </p:to>
                                    </p:set>
                                    <p:animEffect transition="in" filter="fade">
                                      <p:cBhvr>
                                        <p:cTn id="131" dur="500"/>
                                        <p:tgtEl>
                                          <p:spTgt spid="126"/>
                                        </p:tgtEl>
                                      </p:cBhvr>
                                    </p:animEffect>
                                    <p:anim calcmode="lin" valueType="num">
                                      <p:cBhvr additive="base">
                                        <p:cTn id="132" dur="500" decel="100000" fill="hold"/>
                                        <p:tgtEl>
                                          <p:spTgt spid="126"/>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RUN IT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Run It, Then Watch It Fail on Purpose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Never trust a test you have not seen fail.</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FIRST TEST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119</a:t>
            </a:r>
            <a:endParaRPr lang="en-US" sz="850" dirty="0"/>
          </a:p>
        </p:txBody>
      </p:sp>
      <p:sp>
        <p:nvSpPr>
          <p:cNvPr id="101" name="s101"/>
          <p:cNvSpPr/>
          <p:nvPr/>
        </p:nvSpPr>
        <p:spPr>
          <a:xfrm>
            <a:off x="543154" y="1783080"/>
            <a:ext cx="5406847" cy="13716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890626"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Terminal</a:t>
            </a:r>
            <a:endParaRPr lang="en-US" sz="950" dirty="0"/>
          </a:p>
        </p:txBody>
      </p:sp>
      <p:cxnSp>
        <p:nvCxnSpPr>
          <p:cNvPr id="106" name="ln106"/>
          <p:cNvCxnSpPr/>
          <p:nvPr/>
        </p:nvCxnSpPr>
        <p:spPr>
          <a:xfrm>
            <a:off x="543154" y="2194560"/>
            <a:ext cx="5406847" cy="0"/>
          </a:xfrm>
          <a:prstGeom prst="line">
            <a:avLst/>
          </a:prstGeom>
          <a:ln w="9525">
            <a:solidFill>
              <a:srgbClr val="1E3A5F"/>
            </a:solidFill>
          </a:ln>
        </p:spPr>
      </p:cxnSp>
      <p:sp>
        <p:nvSpPr>
          <p:cNvPr id="107" name="s107"/>
          <p:cNvSpPr/>
          <p:nvPr/>
        </p:nvSpPr>
        <p:spPr>
          <a:xfrm>
            <a:off x="543154" y="2313432"/>
            <a:ext cx="540684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1" dirty="0">
                <a:solidFill>
                  <a:srgbClr val="13D0F7"/>
                </a:solidFill>
                <a:latin typeface="Consolas"/>
                <a:ea typeface="Consolas"/>
                <a:cs typeface="Consolas"/>
              </a:rPr>
              <a:t>dotnet</a:t>
            </a:r>
            <a:r>
              <a:rPr lang="en-US" sz="1150" b="0" dirty="0">
                <a:solidFill>
                  <a:srgbClr val="E2E8F0"/>
                </a:solidFill>
                <a:latin typeface="Consolas"/>
                <a:ea typeface="Consolas"/>
                <a:cs typeface="Consolas"/>
              </a:rPr>
              <a:t> test</a:t>
            </a:r>
            <a:endParaRPr lang="en-US" sz="1150" dirty="0"/>
          </a:p>
        </p:txBody>
      </p:sp>
      <p:sp>
        <p:nvSpPr>
          <p:cNvPr id="108" name="s108"/>
          <p:cNvSpPr/>
          <p:nvPr/>
        </p:nvSpPr>
        <p:spPr>
          <a:xfrm>
            <a:off x="543154" y="3291840"/>
            <a:ext cx="5406847" cy="118872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09" name="s109"/>
          <p:cNvSpPr/>
          <p:nvPr/>
        </p:nvSpPr>
        <p:spPr>
          <a:xfrm>
            <a:off x="707746" y="343814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0" name="s110"/>
          <p:cNvSpPr/>
          <p:nvPr/>
        </p:nvSpPr>
        <p:spPr>
          <a:xfrm>
            <a:off x="890626" y="343814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11" name="s111"/>
          <p:cNvSpPr/>
          <p:nvPr/>
        </p:nvSpPr>
        <p:spPr>
          <a:xfrm>
            <a:off x="1073506" y="343814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12" name="s112"/>
          <p:cNvSpPr/>
          <p:nvPr/>
        </p:nvSpPr>
        <p:spPr>
          <a:xfrm>
            <a:off x="1320394" y="3364992"/>
            <a:ext cx="747979"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Output</a:t>
            </a:r>
            <a:endParaRPr lang="en-US" sz="950" dirty="0"/>
          </a:p>
        </p:txBody>
      </p:sp>
      <p:cxnSp>
        <p:nvCxnSpPr>
          <p:cNvPr id="113" name="ln113"/>
          <p:cNvCxnSpPr/>
          <p:nvPr/>
        </p:nvCxnSpPr>
        <p:spPr>
          <a:xfrm>
            <a:off x="543154" y="3703320"/>
            <a:ext cx="5406847" cy="0"/>
          </a:xfrm>
          <a:prstGeom prst="line">
            <a:avLst/>
          </a:prstGeom>
          <a:ln w="9525">
            <a:solidFill>
              <a:srgbClr val="1E3A5F"/>
            </a:solidFill>
          </a:ln>
        </p:spPr>
      </p:cxnSp>
      <p:sp>
        <p:nvSpPr>
          <p:cNvPr id="114" name="s114"/>
          <p:cNvSpPr/>
          <p:nvPr/>
        </p:nvSpPr>
        <p:spPr>
          <a:xfrm>
            <a:off x="543154" y="3822192"/>
            <a:ext cx="540684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34D399"/>
                </a:solidFill>
                <a:latin typeface="Consolas"/>
                <a:ea typeface="Consolas"/>
                <a:cs typeface="Consolas"/>
              </a:rPr>
              <a:t>Passed!  - Failed: 0, Passed: 1, Total: 1</a:t>
            </a:r>
            <a:endParaRPr lang="en-US" sz="1150" dirty="0"/>
          </a:p>
        </p:txBody>
      </p:sp>
      <p:sp>
        <p:nvSpPr>
          <p:cNvPr id="115" name="s115"/>
          <p:cNvSpPr/>
          <p:nvPr/>
        </p:nvSpPr>
        <p:spPr>
          <a:xfrm>
            <a:off x="6224321" y="1783080"/>
            <a:ext cx="5406847" cy="13716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6" name="s116"/>
          <p:cNvSpPr/>
          <p:nvPr/>
        </p:nvSpPr>
        <p:spPr>
          <a:xfrm>
            <a:off x="6388913"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7" name="s117"/>
          <p:cNvSpPr/>
          <p:nvPr/>
        </p:nvSpPr>
        <p:spPr>
          <a:xfrm>
            <a:off x="6571793"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18" name="s118"/>
          <p:cNvSpPr/>
          <p:nvPr/>
        </p:nvSpPr>
        <p:spPr>
          <a:xfrm>
            <a:off x="6754673"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19" name="s119"/>
          <p:cNvSpPr/>
          <p:nvPr/>
        </p:nvSpPr>
        <p:spPr>
          <a:xfrm>
            <a:off x="7001561" y="1856232"/>
            <a:ext cx="281635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BankAccount.cs  (broken on purpose)</a:t>
            </a:r>
            <a:endParaRPr lang="en-US" sz="950" dirty="0"/>
          </a:p>
        </p:txBody>
      </p:sp>
      <p:cxnSp>
        <p:nvCxnSpPr>
          <p:cNvPr id="120" name="ln120"/>
          <p:cNvCxnSpPr/>
          <p:nvPr/>
        </p:nvCxnSpPr>
        <p:spPr>
          <a:xfrm>
            <a:off x="6224321" y="2194560"/>
            <a:ext cx="5406847" cy="0"/>
          </a:xfrm>
          <a:prstGeom prst="line">
            <a:avLst/>
          </a:prstGeom>
          <a:ln w="9525">
            <a:solidFill>
              <a:srgbClr val="1E3A5F"/>
            </a:solidFill>
          </a:ln>
        </p:spPr>
      </p:cxnSp>
      <p:sp>
        <p:nvSpPr>
          <p:cNvPr id="121" name="s121"/>
          <p:cNvSpPr/>
          <p:nvPr/>
        </p:nvSpPr>
        <p:spPr>
          <a:xfrm>
            <a:off x="6224321" y="2313432"/>
            <a:ext cx="540684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7DD3FC"/>
                </a:solidFill>
                <a:latin typeface="Consolas"/>
                <a:ea typeface="Consolas"/>
                <a:cs typeface="Consolas"/>
              </a:rPr>
              <a:t>Balance</a:t>
            </a:r>
            <a:r>
              <a:rPr lang="en-US" sz="1150" b="0" dirty="0">
                <a:solidFill>
                  <a:srgbClr val="E2E8F0"/>
                </a:solidFill>
                <a:latin typeface="Consolas"/>
                <a:ea typeface="Consolas"/>
                <a:cs typeface="Consolas"/>
              </a:rPr>
              <a:t> -= amount;   </a:t>
            </a:r>
            <a:r>
              <a:rPr lang="en-US" sz="1150" b="0" dirty="0">
                <a:solidFill>
                  <a:srgbClr val="6FAE7A"/>
                </a:solidFill>
                <a:latin typeface="Consolas"/>
                <a:ea typeface="Consolas"/>
                <a:cs typeface="Consolas"/>
              </a:rPr>
              <a:t>// was +=</a:t>
            </a:r>
            <a:endParaRPr lang="en-US" sz="1150" dirty="0"/>
          </a:p>
        </p:txBody>
      </p:sp>
      <p:sp>
        <p:nvSpPr>
          <p:cNvPr id="122" name="s122"/>
          <p:cNvSpPr/>
          <p:nvPr/>
        </p:nvSpPr>
        <p:spPr>
          <a:xfrm>
            <a:off x="6224321" y="3291840"/>
            <a:ext cx="5406847" cy="118872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23" name="s123"/>
          <p:cNvSpPr/>
          <p:nvPr/>
        </p:nvSpPr>
        <p:spPr>
          <a:xfrm>
            <a:off x="6388913" y="343814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4" name="s124"/>
          <p:cNvSpPr/>
          <p:nvPr/>
        </p:nvSpPr>
        <p:spPr>
          <a:xfrm>
            <a:off x="6571793" y="343814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5" name="s125"/>
          <p:cNvSpPr/>
          <p:nvPr/>
        </p:nvSpPr>
        <p:spPr>
          <a:xfrm>
            <a:off x="6754673" y="343814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6" name="s126"/>
          <p:cNvSpPr/>
          <p:nvPr/>
        </p:nvSpPr>
        <p:spPr>
          <a:xfrm>
            <a:off x="7001561" y="3364992"/>
            <a:ext cx="747979"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Output</a:t>
            </a:r>
            <a:endParaRPr lang="en-US" sz="950" dirty="0"/>
          </a:p>
        </p:txBody>
      </p:sp>
      <p:cxnSp>
        <p:nvCxnSpPr>
          <p:cNvPr id="127" name="ln127"/>
          <p:cNvCxnSpPr/>
          <p:nvPr/>
        </p:nvCxnSpPr>
        <p:spPr>
          <a:xfrm>
            <a:off x="6224321" y="3703320"/>
            <a:ext cx="5406847" cy="0"/>
          </a:xfrm>
          <a:prstGeom prst="line">
            <a:avLst/>
          </a:prstGeom>
          <a:ln w="9525">
            <a:solidFill>
              <a:srgbClr val="1E3A5F"/>
            </a:solidFill>
          </a:ln>
        </p:spPr>
      </p:cxnSp>
      <p:sp>
        <p:nvSpPr>
          <p:cNvPr id="128" name="s128"/>
          <p:cNvSpPr/>
          <p:nvPr/>
        </p:nvSpPr>
        <p:spPr>
          <a:xfrm>
            <a:off x="6224321" y="3822192"/>
            <a:ext cx="5406847"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F87171"/>
                </a:solidFill>
                <a:latin typeface="Consolas"/>
                <a:ea typeface="Consolas"/>
                <a:cs typeface="Consolas"/>
              </a:rPr>
              <a:t>Failed! Deposit_ValidAmount_IncreasesBalance</a:t>
            </a:r>
            <a:endParaRPr lang="en-US" sz="900" dirty="0"/>
          </a:p>
        </p:txBody>
      </p:sp>
      <p:sp>
        <p:nvSpPr>
          <p:cNvPr id="129" name="s129"/>
          <p:cNvSpPr/>
          <p:nvPr/>
        </p:nvSpPr>
        <p:spPr>
          <a:xfrm>
            <a:off x="6224321" y="3959352"/>
            <a:ext cx="5406847"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F87171"/>
                </a:solidFill>
                <a:latin typeface="Consolas"/>
                <a:ea typeface="Consolas"/>
                <a:cs typeface="Consolas"/>
              </a:rPr>
              <a:t>Assert.Equal() Failure: Values differ</a:t>
            </a:r>
            <a:endParaRPr lang="en-US" sz="900" dirty="0"/>
          </a:p>
        </p:txBody>
      </p:sp>
      <p:sp>
        <p:nvSpPr>
          <p:cNvPr id="130" name="s130"/>
          <p:cNvSpPr/>
          <p:nvPr/>
        </p:nvSpPr>
        <p:spPr>
          <a:xfrm>
            <a:off x="6224321" y="4096512"/>
            <a:ext cx="5406847"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F87171"/>
                </a:solidFill>
                <a:latin typeface="Consolas"/>
                <a:ea typeface="Consolas"/>
                <a:cs typeface="Consolas"/>
              </a:rPr>
              <a:t>Expected: 100</a:t>
            </a:r>
            <a:endParaRPr lang="en-US" sz="900" dirty="0"/>
          </a:p>
        </p:txBody>
      </p:sp>
      <p:sp>
        <p:nvSpPr>
          <p:cNvPr id="131" name="s131"/>
          <p:cNvSpPr/>
          <p:nvPr/>
        </p:nvSpPr>
        <p:spPr>
          <a:xfrm>
            <a:off x="6224321" y="4233672"/>
            <a:ext cx="5406847"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F87171"/>
                </a:solidFill>
                <a:latin typeface="Consolas"/>
                <a:ea typeface="Consolas"/>
                <a:cs typeface="Consolas"/>
              </a:rPr>
              <a:t>Actual:   -100</a:t>
            </a:r>
            <a:endParaRPr lang="en-US" sz="900" dirty="0"/>
          </a:p>
        </p:txBody>
      </p:sp>
      <p:sp>
        <p:nvSpPr>
          <p:cNvPr id="132" name="s132"/>
          <p:cNvSpPr/>
          <p:nvPr/>
        </p:nvSpPr>
        <p:spPr>
          <a:xfrm>
            <a:off x="543154" y="4754880"/>
            <a:ext cx="11088014" cy="777240"/>
          </a:xfrm>
          <a:prstGeom prst="roundRect">
            <a:avLst>
              <a:gd name="adj" fmla="val 12000"/>
            </a:avLst>
          </a:prstGeom>
          <a:solidFill>
            <a:srgbClr val="111B2E"/>
          </a:solidFill>
          <a:ln w="12700">
            <a:solidFill>
              <a:srgbClr val="13D0F7"/>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13D0F7"/>
                </a:solidFill>
                <a:latin typeface="Segoe UI"/>
                <a:ea typeface="Segoe UI"/>
                <a:cs typeface="Segoe UI"/>
              </a:rPr>
              <a:t>Red, then green. </a:t>
            </a:r>
            <a:r>
              <a:rPr lang="en-US" sz="1350" b="0" dirty="0">
                <a:solidFill>
                  <a:srgbClr val="E2E8F0"/>
                </a:solidFill>
                <a:latin typeface="Segoe UI"/>
                <a:ea typeface="Segoe UI"/>
                <a:cs typeface="Segoe UI"/>
              </a:rPr>
              <a:t>A test that has never failed might be testing nothing. Break it once, read the message, undo.</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ppt_y</p:attrName>
                                        </p:attrNameLst>
                                      </p:cBhvr>
                                      <p:tavLst>
                                        <p:tav tm="0">
                                          <p:val>
                                            <p:strVal val="#ppt_y+0.06"/>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ppt_y</p:attrName>
                                        </p:attrNameLst>
                                      </p:cBhvr>
                                      <p:tavLst>
                                        <p:tav tm="0">
                                          <p:val>
                                            <p:strVal val="#ppt_y+0.06"/>
                                          </p:val>
                                        </p:tav>
                                        <p:tav tm="100000">
                                          <p:val>
                                            <p:strVal val="#ppt_y"/>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ppt_y</p:attrName>
                                        </p:attrNameLst>
                                      </p:cBhvr>
                                      <p:tavLst>
                                        <p:tav tm="0">
                                          <p:val>
                                            <p:strVal val="#ppt_y+0.06"/>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111"/>
                                        </p:tgtEl>
                                        <p:attrNameLst>
                                          <p:attrName>style.visibility</p:attrName>
                                        </p:attrNameLst>
                                      </p:cBhvr>
                                      <p:to>
                                        <p:strVal val="visible"/>
                                      </p:to>
                                    </p:set>
                                    <p:animEffect transition="in" filter="fade">
                                      <p:cBhvr>
                                        <p:cTn id="49" dur="500"/>
                                        <p:tgtEl>
                                          <p:spTgt spid="111"/>
                                        </p:tgtEl>
                                      </p:cBhvr>
                                    </p:animEffect>
                                    <p:anim calcmode="lin" valueType="num">
                                      <p:cBhvr additive="base">
                                        <p:cTn id="50" dur="500" decel="100000" fill="hold"/>
                                        <p:tgtEl>
                                          <p:spTgt spid="111"/>
                                        </p:tgtEl>
                                        <p:attrNameLst>
                                          <p:attrName>ppt_y</p:attrName>
                                        </p:attrNameLst>
                                      </p:cBhvr>
                                      <p:tavLst>
                                        <p:tav tm="0">
                                          <p:val>
                                            <p:strVal val="#ppt_y+0.06"/>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112"/>
                                        </p:tgtEl>
                                        <p:attrNameLst>
                                          <p:attrName>style.visibility</p:attrName>
                                        </p:attrNameLst>
                                      </p:cBhvr>
                                      <p:to>
                                        <p:strVal val="visible"/>
                                      </p:to>
                                    </p:set>
                                    <p:animEffect transition="in" filter="fade">
                                      <p:cBhvr>
                                        <p:cTn id="53" dur="500"/>
                                        <p:tgtEl>
                                          <p:spTgt spid="112"/>
                                        </p:tgtEl>
                                      </p:cBhvr>
                                    </p:animEffect>
                                    <p:anim calcmode="lin" valueType="num">
                                      <p:cBhvr additive="base">
                                        <p:cTn id="54" dur="500" decel="100000" fill="hold"/>
                                        <p:tgtEl>
                                          <p:spTgt spid="112"/>
                                        </p:tgtEl>
                                        <p:attrNameLst>
                                          <p:attrName>ppt_y</p:attrName>
                                        </p:attrNameLst>
                                      </p:cBhvr>
                                      <p:tavLst>
                                        <p:tav tm="0">
                                          <p:val>
                                            <p:strVal val="#ppt_y+0.06"/>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13"/>
                                        </p:tgtEl>
                                        <p:attrNameLst>
                                          <p:attrName>style.visibility</p:attrName>
                                        </p:attrNameLst>
                                      </p:cBhvr>
                                      <p:to>
                                        <p:strVal val="visible"/>
                                      </p:to>
                                    </p:set>
                                    <p:animEffect transition="in" filter="fade">
                                      <p:cBhvr>
                                        <p:cTn id="57" dur="500"/>
                                        <p:tgtEl>
                                          <p:spTgt spid="113"/>
                                        </p:tgtEl>
                                      </p:cBhvr>
                                    </p:animEffect>
                                    <p:anim calcmode="lin" valueType="num">
                                      <p:cBhvr additive="base">
                                        <p:cTn id="58" dur="500" decel="100000" fill="hold"/>
                                        <p:tgtEl>
                                          <p:spTgt spid="113"/>
                                        </p:tgtEl>
                                        <p:attrNameLst>
                                          <p:attrName>ppt_y</p:attrName>
                                        </p:attrNameLst>
                                      </p:cBhvr>
                                      <p:tavLst>
                                        <p:tav tm="0">
                                          <p:val>
                                            <p:strVal val="#ppt_y+0.06"/>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14"/>
                                        </p:tgtEl>
                                        <p:attrNameLst>
                                          <p:attrName>style.visibility</p:attrName>
                                        </p:attrNameLst>
                                      </p:cBhvr>
                                      <p:to>
                                        <p:strVal val="visible"/>
                                      </p:to>
                                    </p:set>
                                    <p:animEffect transition="in" filter="fade">
                                      <p:cBhvr>
                                        <p:cTn id="61" dur="500"/>
                                        <p:tgtEl>
                                          <p:spTgt spid="114"/>
                                        </p:tgtEl>
                                      </p:cBhvr>
                                    </p:animEffect>
                                    <p:anim calcmode="lin" valueType="num">
                                      <p:cBhvr additive="base">
                                        <p:cTn id="62"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115"/>
                                        </p:tgtEl>
                                        <p:attrNameLst>
                                          <p:attrName>style.visibility</p:attrName>
                                        </p:attrNameLst>
                                      </p:cBhvr>
                                      <p:to>
                                        <p:strVal val="visible"/>
                                      </p:to>
                                    </p:set>
                                    <p:animEffect transition="in" filter="fade">
                                      <p:cBhvr>
                                        <p:cTn id="67" dur="500"/>
                                        <p:tgtEl>
                                          <p:spTgt spid="115"/>
                                        </p:tgtEl>
                                      </p:cBhvr>
                                    </p:animEffect>
                                    <p:anim calcmode="lin" valueType="num">
                                      <p:cBhvr additive="base">
                                        <p:cTn id="68" dur="500" decel="100000" fill="hold"/>
                                        <p:tgtEl>
                                          <p:spTgt spid="115"/>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6"/>
                                        </p:tgtEl>
                                        <p:attrNameLst>
                                          <p:attrName>style.visibility</p:attrName>
                                        </p:attrNameLst>
                                      </p:cBhvr>
                                      <p:to>
                                        <p:strVal val="visible"/>
                                      </p:to>
                                    </p:set>
                                    <p:animEffect transition="in" filter="fade">
                                      <p:cBhvr>
                                        <p:cTn id="71" dur="500"/>
                                        <p:tgtEl>
                                          <p:spTgt spid="116"/>
                                        </p:tgtEl>
                                      </p:cBhvr>
                                    </p:animEffect>
                                    <p:anim calcmode="lin" valueType="num">
                                      <p:cBhvr additive="base">
                                        <p:cTn id="72" dur="500" decel="100000" fill="hold"/>
                                        <p:tgtEl>
                                          <p:spTgt spid="116"/>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7"/>
                                        </p:tgtEl>
                                        <p:attrNameLst>
                                          <p:attrName>style.visibility</p:attrName>
                                        </p:attrNameLst>
                                      </p:cBhvr>
                                      <p:to>
                                        <p:strVal val="visible"/>
                                      </p:to>
                                    </p:set>
                                    <p:animEffect transition="in" filter="fade">
                                      <p:cBhvr>
                                        <p:cTn id="75" dur="500"/>
                                        <p:tgtEl>
                                          <p:spTgt spid="117"/>
                                        </p:tgtEl>
                                      </p:cBhvr>
                                    </p:animEffect>
                                    <p:anim calcmode="lin" valueType="num">
                                      <p:cBhvr additive="base">
                                        <p:cTn id="76" dur="500" decel="100000" fill="hold"/>
                                        <p:tgtEl>
                                          <p:spTgt spid="117"/>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8"/>
                                        </p:tgtEl>
                                        <p:attrNameLst>
                                          <p:attrName>style.visibility</p:attrName>
                                        </p:attrNameLst>
                                      </p:cBhvr>
                                      <p:to>
                                        <p:strVal val="visible"/>
                                      </p:to>
                                    </p:set>
                                    <p:animEffect transition="in" filter="fade">
                                      <p:cBhvr>
                                        <p:cTn id="79" dur="500"/>
                                        <p:tgtEl>
                                          <p:spTgt spid="118"/>
                                        </p:tgtEl>
                                      </p:cBhvr>
                                    </p:animEffect>
                                    <p:anim calcmode="lin" valueType="num">
                                      <p:cBhvr additive="base">
                                        <p:cTn id="80" dur="500" decel="100000" fill="hold"/>
                                        <p:tgtEl>
                                          <p:spTgt spid="118"/>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19"/>
                                        </p:tgtEl>
                                        <p:attrNameLst>
                                          <p:attrName>style.visibility</p:attrName>
                                        </p:attrNameLst>
                                      </p:cBhvr>
                                      <p:to>
                                        <p:strVal val="visible"/>
                                      </p:to>
                                    </p:set>
                                    <p:animEffect transition="in" filter="fade">
                                      <p:cBhvr>
                                        <p:cTn id="83" dur="500"/>
                                        <p:tgtEl>
                                          <p:spTgt spid="119"/>
                                        </p:tgtEl>
                                      </p:cBhvr>
                                    </p:animEffect>
                                    <p:anim calcmode="lin" valueType="num">
                                      <p:cBhvr additive="base">
                                        <p:cTn id="84" dur="500" decel="100000" fill="hold"/>
                                        <p:tgtEl>
                                          <p:spTgt spid="119"/>
                                        </p:tgtEl>
                                        <p:attrNameLst>
                                          <p:attrName>ppt_y</p:attrName>
                                        </p:attrNameLst>
                                      </p:cBhvr>
                                      <p:tavLst>
                                        <p:tav tm="0">
                                          <p:val>
                                            <p:strVal val="#ppt_y+0.06"/>
                                          </p:val>
                                        </p:tav>
                                        <p:tav tm="100000">
                                          <p:val>
                                            <p:strVal val="#ppt_y"/>
                                          </p:val>
                                        </p:tav>
                                      </p:tavLst>
                                    </p:anim>
                                  </p:childTnLst>
                                </p:cTn>
                              </p:par>
                              <p:par>
                                <p:cTn id="85" presetID="42" presetClass="entr" presetSubtype="0" fill="hold" nodeType="withEffect">
                                  <p:stCondLst>
                                    <p:cond delay="0"/>
                                  </p:stCondLst>
                                  <p:childTnLst>
                                    <p:set>
                                      <p:cBhvr>
                                        <p:cTn id="86" dur="1" fill="hold">
                                          <p:stCondLst>
                                            <p:cond delay="0"/>
                                          </p:stCondLst>
                                        </p:cTn>
                                        <p:tgtEl>
                                          <p:spTgt spid="120"/>
                                        </p:tgtEl>
                                        <p:attrNameLst>
                                          <p:attrName>style.visibility</p:attrName>
                                        </p:attrNameLst>
                                      </p:cBhvr>
                                      <p:to>
                                        <p:strVal val="visible"/>
                                      </p:to>
                                    </p:set>
                                    <p:animEffect transition="in" filter="fade">
                                      <p:cBhvr>
                                        <p:cTn id="87" dur="500"/>
                                        <p:tgtEl>
                                          <p:spTgt spid="120"/>
                                        </p:tgtEl>
                                      </p:cBhvr>
                                    </p:animEffect>
                                    <p:anim calcmode="lin" valueType="num">
                                      <p:cBhvr additive="base">
                                        <p:cTn id="88" dur="500" decel="100000" fill="hold"/>
                                        <p:tgtEl>
                                          <p:spTgt spid="120"/>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121"/>
                                        </p:tgtEl>
                                        <p:attrNameLst>
                                          <p:attrName>style.visibility</p:attrName>
                                        </p:attrNameLst>
                                      </p:cBhvr>
                                      <p:to>
                                        <p:strVal val="visible"/>
                                      </p:to>
                                    </p:set>
                                    <p:animEffect transition="in" filter="fade">
                                      <p:cBhvr>
                                        <p:cTn id="91" dur="500"/>
                                        <p:tgtEl>
                                          <p:spTgt spid="121"/>
                                        </p:tgtEl>
                                      </p:cBhvr>
                                    </p:animEffect>
                                    <p:anim calcmode="lin" valueType="num">
                                      <p:cBhvr additive="base">
                                        <p:cTn id="92" dur="500" decel="100000" fill="hold"/>
                                        <p:tgtEl>
                                          <p:spTgt spid="121"/>
                                        </p:tgtEl>
                                        <p:attrNameLst>
                                          <p:attrName>ppt_y</p:attrName>
                                        </p:attrNameLst>
                                      </p:cBhvr>
                                      <p:tavLst>
                                        <p:tav tm="0">
                                          <p:val>
                                            <p:strVal val="#ppt_y+0.06"/>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42" presetClass="entr" presetSubtype="0" fill="hold" grpId="0" nodeType="clickEffect">
                                  <p:stCondLst>
                                    <p:cond delay="0"/>
                                  </p:stCondLst>
                                  <p:childTnLst>
                                    <p:set>
                                      <p:cBhvr>
                                        <p:cTn id="96" dur="1" fill="hold">
                                          <p:stCondLst>
                                            <p:cond delay="0"/>
                                          </p:stCondLst>
                                        </p:cTn>
                                        <p:tgtEl>
                                          <p:spTgt spid="122"/>
                                        </p:tgtEl>
                                        <p:attrNameLst>
                                          <p:attrName>style.visibility</p:attrName>
                                        </p:attrNameLst>
                                      </p:cBhvr>
                                      <p:to>
                                        <p:strVal val="visible"/>
                                      </p:to>
                                    </p:set>
                                    <p:animEffect transition="in" filter="fade">
                                      <p:cBhvr>
                                        <p:cTn id="97" dur="500"/>
                                        <p:tgtEl>
                                          <p:spTgt spid="122"/>
                                        </p:tgtEl>
                                      </p:cBhvr>
                                    </p:animEffect>
                                    <p:anim calcmode="lin" valueType="num">
                                      <p:cBhvr additive="base">
                                        <p:cTn id="98" dur="500" decel="100000" fill="hold"/>
                                        <p:tgtEl>
                                          <p:spTgt spid="122"/>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3"/>
                                        </p:tgtEl>
                                        <p:attrNameLst>
                                          <p:attrName>style.visibility</p:attrName>
                                        </p:attrNameLst>
                                      </p:cBhvr>
                                      <p:to>
                                        <p:strVal val="visible"/>
                                      </p:to>
                                    </p:set>
                                    <p:animEffect transition="in" filter="fade">
                                      <p:cBhvr>
                                        <p:cTn id="101" dur="500"/>
                                        <p:tgtEl>
                                          <p:spTgt spid="123"/>
                                        </p:tgtEl>
                                      </p:cBhvr>
                                    </p:animEffect>
                                    <p:anim calcmode="lin" valueType="num">
                                      <p:cBhvr additive="base">
                                        <p:cTn id="102" dur="500" decel="100000" fill="hold"/>
                                        <p:tgtEl>
                                          <p:spTgt spid="123"/>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4"/>
                                        </p:tgtEl>
                                        <p:attrNameLst>
                                          <p:attrName>style.visibility</p:attrName>
                                        </p:attrNameLst>
                                      </p:cBhvr>
                                      <p:to>
                                        <p:strVal val="visible"/>
                                      </p:to>
                                    </p:set>
                                    <p:animEffect transition="in" filter="fade">
                                      <p:cBhvr>
                                        <p:cTn id="105" dur="500"/>
                                        <p:tgtEl>
                                          <p:spTgt spid="124"/>
                                        </p:tgtEl>
                                      </p:cBhvr>
                                    </p:animEffect>
                                    <p:anim calcmode="lin" valueType="num">
                                      <p:cBhvr additive="base">
                                        <p:cTn id="106" dur="500" decel="100000" fill="hold"/>
                                        <p:tgtEl>
                                          <p:spTgt spid="124"/>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5"/>
                                        </p:tgtEl>
                                        <p:attrNameLst>
                                          <p:attrName>style.visibility</p:attrName>
                                        </p:attrNameLst>
                                      </p:cBhvr>
                                      <p:to>
                                        <p:strVal val="visible"/>
                                      </p:to>
                                    </p:set>
                                    <p:animEffect transition="in" filter="fade">
                                      <p:cBhvr>
                                        <p:cTn id="109" dur="500"/>
                                        <p:tgtEl>
                                          <p:spTgt spid="125"/>
                                        </p:tgtEl>
                                      </p:cBhvr>
                                    </p:animEffect>
                                    <p:anim calcmode="lin" valueType="num">
                                      <p:cBhvr additive="base">
                                        <p:cTn id="110" dur="500" decel="100000" fill="hold"/>
                                        <p:tgtEl>
                                          <p:spTgt spid="125"/>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6"/>
                                        </p:tgtEl>
                                        <p:attrNameLst>
                                          <p:attrName>style.visibility</p:attrName>
                                        </p:attrNameLst>
                                      </p:cBhvr>
                                      <p:to>
                                        <p:strVal val="visible"/>
                                      </p:to>
                                    </p:set>
                                    <p:animEffect transition="in" filter="fade">
                                      <p:cBhvr>
                                        <p:cTn id="113" dur="500"/>
                                        <p:tgtEl>
                                          <p:spTgt spid="126"/>
                                        </p:tgtEl>
                                      </p:cBhvr>
                                    </p:animEffect>
                                    <p:anim calcmode="lin" valueType="num">
                                      <p:cBhvr additive="base">
                                        <p:cTn id="114" dur="500" decel="100000" fill="hold"/>
                                        <p:tgtEl>
                                          <p:spTgt spid="126"/>
                                        </p:tgtEl>
                                        <p:attrNameLst>
                                          <p:attrName>ppt_y</p:attrName>
                                        </p:attrNameLst>
                                      </p:cBhvr>
                                      <p:tavLst>
                                        <p:tav tm="0">
                                          <p:val>
                                            <p:strVal val="#ppt_y+0.06"/>
                                          </p:val>
                                        </p:tav>
                                        <p:tav tm="100000">
                                          <p:val>
                                            <p:strVal val="#ppt_y"/>
                                          </p:val>
                                        </p:tav>
                                      </p:tavLst>
                                    </p:anim>
                                  </p:childTnLst>
                                </p:cTn>
                              </p:par>
                              <p:par>
                                <p:cTn id="115" presetID="42" presetClass="entr" presetSubtype="0" fill="hold" nodeType="withEffect">
                                  <p:stCondLst>
                                    <p:cond delay="0"/>
                                  </p:stCondLst>
                                  <p:childTnLst>
                                    <p:set>
                                      <p:cBhvr>
                                        <p:cTn id="116" dur="1" fill="hold">
                                          <p:stCondLst>
                                            <p:cond delay="0"/>
                                          </p:stCondLst>
                                        </p:cTn>
                                        <p:tgtEl>
                                          <p:spTgt spid="127"/>
                                        </p:tgtEl>
                                        <p:attrNameLst>
                                          <p:attrName>style.visibility</p:attrName>
                                        </p:attrNameLst>
                                      </p:cBhvr>
                                      <p:to>
                                        <p:strVal val="visible"/>
                                      </p:to>
                                    </p:set>
                                    <p:animEffect transition="in" filter="fade">
                                      <p:cBhvr>
                                        <p:cTn id="117" dur="500"/>
                                        <p:tgtEl>
                                          <p:spTgt spid="127"/>
                                        </p:tgtEl>
                                      </p:cBhvr>
                                    </p:animEffect>
                                    <p:anim calcmode="lin" valueType="num">
                                      <p:cBhvr additive="base">
                                        <p:cTn id="118" dur="500" decel="100000" fill="hold"/>
                                        <p:tgtEl>
                                          <p:spTgt spid="127"/>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28"/>
                                        </p:tgtEl>
                                        <p:attrNameLst>
                                          <p:attrName>style.visibility</p:attrName>
                                        </p:attrNameLst>
                                      </p:cBhvr>
                                      <p:to>
                                        <p:strVal val="visible"/>
                                      </p:to>
                                    </p:set>
                                    <p:animEffect transition="in" filter="fade">
                                      <p:cBhvr>
                                        <p:cTn id="121" dur="500"/>
                                        <p:tgtEl>
                                          <p:spTgt spid="128"/>
                                        </p:tgtEl>
                                      </p:cBhvr>
                                    </p:animEffect>
                                    <p:anim calcmode="lin" valueType="num">
                                      <p:cBhvr additive="base">
                                        <p:cTn id="122" dur="500" decel="100000" fill="hold"/>
                                        <p:tgtEl>
                                          <p:spTgt spid="128"/>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29"/>
                                        </p:tgtEl>
                                        <p:attrNameLst>
                                          <p:attrName>style.visibility</p:attrName>
                                        </p:attrNameLst>
                                      </p:cBhvr>
                                      <p:to>
                                        <p:strVal val="visible"/>
                                      </p:to>
                                    </p:set>
                                    <p:animEffect transition="in" filter="fade">
                                      <p:cBhvr>
                                        <p:cTn id="125" dur="500"/>
                                        <p:tgtEl>
                                          <p:spTgt spid="129"/>
                                        </p:tgtEl>
                                      </p:cBhvr>
                                    </p:animEffect>
                                    <p:anim calcmode="lin" valueType="num">
                                      <p:cBhvr additive="base">
                                        <p:cTn id="126" dur="500" decel="100000" fill="hold"/>
                                        <p:tgtEl>
                                          <p:spTgt spid="129"/>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30"/>
                                        </p:tgtEl>
                                        <p:attrNameLst>
                                          <p:attrName>style.visibility</p:attrName>
                                        </p:attrNameLst>
                                      </p:cBhvr>
                                      <p:to>
                                        <p:strVal val="visible"/>
                                      </p:to>
                                    </p:set>
                                    <p:animEffect transition="in" filter="fade">
                                      <p:cBhvr>
                                        <p:cTn id="129" dur="500"/>
                                        <p:tgtEl>
                                          <p:spTgt spid="130"/>
                                        </p:tgtEl>
                                      </p:cBhvr>
                                    </p:animEffect>
                                    <p:anim calcmode="lin" valueType="num">
                                      <p:cBhvr additive="base">
                                        <p:cTn id="130" dur="500" decel="100000" fill="hold"/>
                                        <p:tgtEl>
                                          <p:spTgt spid="130"/>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31"/>
                                        </p:tgtEl>
                                        <p:attrNameLst>
                                          <p:attrName>style.visibility</p:attrName>
                                        </p:attrNameLst>
                                      </p:cBhvr>
                                      <p:to>
                                        <p:strVal val="visible"/>
                                      </p:to>
                                    </p:set>
                                    <p:animEffect transition="in" filter="fade">
                                      <p:cBhvr>
                                        <p:cTn id="133" dur="500"/>
                                        <p:tgtEl>
                                          <p:spTgt spid="131"/>
                                        </p:tgtEl>
                                      </p:cBhvr>
                                    </p:animEffect>
                                    <p:anim calcmode="lin" valueType="num">
                                      <p:cBhvr additive="base">
                                        <p:cTn id="134" dur="500" decel="100000" fill="hold"/>
                                        <p:tgtEl>
                                          <p:spTgt spid="131"/>
                                        </p:tgtEl>
                                        <p:attrNameLst>
                                          <p:attrName>ppt_y</p:attrName>
                                        </p:attrNameLst>
                                      </p:cBhvr>
                                      <p:tavLst>
                                        <p:tav tm="0">
                                          <p:val>
                                            <p:strVal val="#ppt_y+0.06"/>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42" presetClass="entr" presetSubtype="0" fill="hold" grpId="0" nodeType="clickEffect">
                                  <p:stCondLst>
                                    <p:cond delay="0"/>
                                  </p:stCondLst>
                                  <p:childTnLst>
                                    <p:set>
                                      <p:cBhvr>
                                        <p:cTn id="138" dur="1" fill="hold">
                                          <p:stCondLst>
                                            <p:cond delay="0"/>
                                          </p:stCondLst>
                                        </p:cTn>
                                        <p:tgtEl>
                                          <p:spTgt spid="132"/>
                                        </p:tgtEl>
                                        <p:attrNameLst>
                                          <p:attrName>style.visibility</p:attrName>
                                        </p:attrNameLst>
                                      </p:cBhvr>
                                      <p:to>
                                        <p:strVal val="visible"/>
                                      </p:to>
                                    </p:set>
                                    <p:animEffect transition="in" filter="fade">
                                      <p:cBhvr>
                                        <p:cTn id="139" dur="500"/>
                                        <p:tgtEl>
                                          <p:spTgt spid="132"/>
                                        </p:tgtEl>
                                      </p:cBhvr>
                                    </p:animEffect>
                                    <p:anim calcmode="lin" valueType="num">
                                      <p:cBhvr additive="base">
                                        <p:cTn id="140" dur="500" decel="100000" fill="hold"/>
                                        <p:tgtEl>
                                          <p:spTgt spid="132"/>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4" grpId="0" animBg="1"/>
      <p:bldP spid="115" grpId="0" animBg="1"/>
      <p:bldP spid="116" grpId="0" animBg="1"/>
      <p:bldP spid="117" grpId="0" animBg="1"/>
      <p:bldP spid="118" grpId="0" animBg="1"/>
      <p:bldP spid="119" grpId="0" animBg="1"/>
      <p:bldP spid="121" grpId="0" animBg="1"/>
      <p:bldP spid="122" grpId="0" animBg="1"/>
      <p:bldP spid="123" grpId="0" animBg="1"/>
      <p:bldP spid="124" grpId="0" animBg="1"/>
      <p:bldP spid="125" grpId="0" animBg="1"/>
      <p:bldP spid="126" grpId="0" animBg="1"/>
      <p:bldP spid="128" grpId="0" animBg="1"/>
      <p:bldP spid="129" grpId="0" animBg="1"/>
      <p:bldP spid="130" grpId="0" animBg="1"/>
      <p:bldP spid="131" grpId="0" animBg="1"/>
      <p:bldP spid="13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PROBLEM</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How Do I Test That the Code Says NO?</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R2: a negative deposit must throw. A first attempt: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FIRST TEST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120</a:t>
            </a:r>
            <a:endParaRPr lang="en-US" sz="850" dirty="0"/>
          </a:p>
        </p:txBody>
      </p:sp>
      <p:sp>
        <p:nvSpPr>
          <p:cNvPr id="101" name="s101"/>
          <p:cNvSpPr/>
          <p:nvPr/>
        </p:nvSpPr>
        <p:spPr>
          <a:xfrm>
            <a:off x="543154" y="1783080"/>
            <a:ext cx="5760720" cy="38404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675181"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BankAccountTests.cs</a:t>
            </a:r>
            <a:endParaRPr lang="en-US" sz="950" dirty="0"/>
          </a:p>
        </p:txBody>
      </p:sp>
      <p:cxnSp>
        <p:nvCxnSpPr>
          <p:cNvPr id="106" name="ln106"/>
          <p:cNvCxnSpPr/>
          <p:nvPr/>
        </p:nvCxnSpPr>
        <p:spPr>
          <a:xfrm>
            <a:off x="543154" y="2194560"/>
            <a:ext cx="5760720" cy="0"/>
          </a:xfrm>
          <a:prstGeom prst="line">
            <a:avLst/>
          </a:prstGeom>
          <a:ln w="9525">
            <a:solidFill>
              <a:srgbClr val="1E3A5F"/>
            </a:solidFill>
          </a:ln>
        </p:spPr>
      </p:cxnSp>
      <p:sp>
        <p:nvSpPr>
          <p:cNvPr id="107" name="s107"/>
          <p:cNvSpPr/>
          <p:nvPr/>
        </p:nvSpPr>
        <p:spPr>
          <a:xfrm>
            <a:off x="543154" y="2313432"/>
            <a:ext cx="57607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[Fact]</a:t>
            </a:r>
            <a:endParaRPr lang="en-US" sz="1150" dirty="0"/>
          </a:p>
        </p:txBody>
      </p:sp>
      <p:sp>
        <p:nvSpPr>
          <p:cNvPr id="108" name="s108"/>
          <p:cNvSpPr/>
          <p:nvPr/>
        </p:nvSpPr>
        <p:spPr>
          <a:xfrm>
            <a:off x="543154" y="2488692"/>
            <a:ext cx="57607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void</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Deposit_Negative_Throws</a:t>
            </a:r>
            <a:r>
              <a:rPr lang="en-US" sz="1150" b="0" dirty="0">
                <a:solidFill>
                  <a:srgbClr val="E2E8F0"/>
                </a:solidFill>
                <a:latin typeface="Consolas"/>
                <a:ea typeface="Consolas"/>
                <a:cs typeface="Consolas"/>
              </a:rPr>
              <a:t>()</a:t>
            </a:r>
            <a:endParaRPr lang="en-US" sz="1150" dirty="0"/>
          </a:p>
        </p:txBody>
      </p:sp>
      <p:sp>
        <p:nvSpPr>
          <p:cNvPr id="109" name="s109"/>
          <p:cNvSpPr/>
          <p:nvPr/>
        </p:nvSpPr>
        <p:spPr>
          <a:xfrm>
            <a:off x="543154" y="2663952"/>
            <a:ext cx="57607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0" name="s110"/>
          <p:cNvSpPr/>
          <p:nvPr/>
        </p:nvSpPr>
        <p:spPr>
          <a:xfrm>
            <a:off x="543154" y="2839212"/>
            <a:ext cx="57607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var</a:t>
            </a:r>
            <a:r>
              <a:rPr lang="en-US" sz="1150" b="0" dirty="0">
                <a:solidFill>
                  <a:srgbClr val="E2E8F0"/>
                </a:solidFill>
                <a:latin typeface="Consolas"/>
                <a:ea typeface="Consolas"/>
                <a:cs typeface="Consolas"/>
              </a:rPr>
              <a:t> account = </a:t>
            </a:r>
            <a:r>
              <a:rPr lang="en-US" sz="1150" b="0" dirty="0">
                <a:solidFill>
                  <a:srgbClr val="60A5FA"/>
                </a:solidFill>
                <a:latin typeface="Consolas"/>
                <a:ea typeface="Consolas"/>
                <a:cs typeface="Consolas"/>
              </a:rPr>
              <a:t>new</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BankAccount</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"mona@bank.eg"</a:t>
            </a:r>
            <a:r>
              <a:rPr lang="en-US" sz="1150" b="0" dirty="0">
                <a:solidFill>
                  <a:srgbClr val="E2E8F0"/>
                </a:solidFill>
                <a:latin typeface="Consolas"/>
                <a:ea typeface="Consolas"/>
                <a:cs typeface="Consolas"/>
              </a:rPr>
              <a:t>);</a:t>
            </a:r>
            <a:endParaRPr lang="en-US" sz="1150" dirty="0"/>
          </a:p>
        </p:txBody>
      </p:sp>
      <p:sp>
        <p:nvSpPr>
          <p:cNvPr id="111" name="s111"/>
          <p:cNvSpPr/>
          <p:nvPr/>
        </p:nvSpPr>
        <p:spPr>
          <a:xfrm>
            <a:off x="543154" y="3014472"/>
            <a:ext cx="57607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try</a:t>
            </a:r>
            <a:endParaRPr lang="en-US" sz="1150" dirty="0"/>
          </a:p>
        </p:txBody>
      </p:sp>
      <p:sp>
        <p:nvSpPr>
          <p:cNvPr id="112" name="s112"/>
          <p:cNvSpPr/>
          <p:nvPr/>
        </p:nvSpPr>
        <p:spPr>
          <a:xfrm>
            <a:off x="543154" y="3189732"/>
            <a:ext cx="57607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endParaRPr lang="en-US" sz="1150" dirty="0"/>
          </a:p>
        </p:txBody>
      </p:sp>
      <p:sp>
        <p:nvSpPr>
          <p:cNvPr id="113" name="s113"/>
          <p:cNvSpPr/>
          <p:nvPr/>
        </p:nvSpPr>
        <p:spPr>
          <a:xfrm>
            <a:off x="543154" y="3364992"/>
            <a:ext cx="57607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account.</a:t>
            </a:r>
            <a:r>
              <a:rPr lang="en-US" sz="1150" b="0" dirty="0">
                <a:solidFill>
                  <a:srgbClr val="7DD3FC"/>
                </a:solidFill>
                <a:latin typeface="Consolas"/>
                <a:ea typeface="Consolas"/>
                <a:cs typeface="Consolas"/>
              </a:rPr>
              <a:t>Deposit</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50m</a:t>
            </a:r>
            <a:r>
              <a:rPr lang="en-US" sz="1150" b="0" dirty="0">
                <a:solidFill>
                  <a:srgbClr val="E2E8F0"/>
                </a:solidFill>
                <a:latin typeface="Consolas"/>
                <a:ea typeface="Consolas"/>
                <a:cs typeface="Consolas"/>
              </a:rPr>
              <a:t>);</a:t>
            </a:r>
            <a:endParaRPr lang="en-US" sz="1150" dirty="0"/>
          </a:p>
        </p:txBody>
      </p:sp>
      <p:sp>
        <p:nvSpPr>
          <p:cNvPr id="114" name="s114"/>
          <p:cNvSpPr/>
          <p:nvPr/>
        </p:nvSpPr>
        <p:spPr>
          <a:xfrm>
            <a:off x="543154" y="3540252"/>
            <a:ext cx="57607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endParaRPr lang="en-US" sz="1150" dirty="0"/>
          </a:p>
        </p:txBody>
      </p:sp>
      <p:sp>
        <p:nvSpPr>
          <p:cNvPr id="115" name="s115"/>
          <p:cNvSpPr/>
          <p:nvPr/>
        </p:nvSpPr>
        <p:spPr>
          <a:xfrm>
            <a:off x="543154" y="3715512"/>
            <a:ext cx="57607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catch</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ArgumentOutOfRangeException</a:t>
            </a:r>
            <a:r>
              <a:rPr lang="en-US" sz="1150" b="0" dirty="0">
                <a:solidFill>
                  <a:srgbClr val="E2E8F0"/>
                </a:solidFill>
                <a:latin typeface="Consolas"/>
                <a:ea typeface="Consolas"/>
                <a:cs typeface="Consolas"/>
              </a:rPr>
              <a:t>) { }</a:t>
            </a:r>
            <a:endParaRPr lang="en-US" sz="1150" dirty="0"/>
          </a:p>
        </p:txBody>
      </p:sp>
      <p:sp>
        <p:nvSpPr>
          <p:cNvPr id="116" name="s116"/>
          <p:cNvSpPr/>
          <p:nvPr/>
        </p:nvSpPr>
        <p:spPr>
          <a:xfrm>
            <a:off x="543154" y="3890772"/>
            <a:ext cx="57607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7" name="s117"/>
          <p:cNvSpPr/>
          <p:nvPr/>
        </p:nvSpPr>
        <p:spPr>
          <a:xfrm>
            <a:off x="6578194" y="1783080"/>
            <a:ext cx="5052974" cy="2514600"/>
          </a:xfrm>
          <a:prstGeom prst="roundRect">
            <a:avLst>
              <a:gd name="adj" fmla="val 9000"/>
            </a:avLst>
          </a:prstGeom>
          <a:solidFill>
            <a:srgbClr val="F87171">
              <a:alpha val="8000"/>
            </a:srgbClr>
          </a:solidFill>
          <a:ln w="12700">
            <a:solidFill>
              <a:srgbClr val="F87171"/>
            </a:solidFill>
            <a:prstDash val="solid"/>
          </a:ln>
        </p:spPr>
        <p:txBody>
          <a:bodyPr wrap="square" lIns="164592" tIns="109728" rIns="137160" bIns="91440" rtlCol="0" anchor="t">
            <a:noAutofit/>
          </a:bodyPr>
          <a:lstStyle/>
          <a:p>
            <a:endParaRPr lang="en-US"/>
          </a:p>
        </p:txBody>
      </p:sp>
      <p:sp>
        <p:nvSpPr>
          <p:cNvPr id="118" name="s118"/>
          <p:cNvSpPr/>
          <p:nvPr/>
        </p:nvSpPr>
        <p:spPr>
          <a:xfrm>
            <a:off x="6761074" y="1947672"/>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19" name="img119"/>
          <p:cNvPicPr>
            <a:picLocks noChangeAspect="1"/>
          </p:cNvPicPr>
          <p:nvPr/>
        </p:nvPicPr>
        <p:blipFill>
          <a:blip r:embed="rId4"/>
          <a:stretch>
            <a:fillRect/>
          </a:stretch>
        </p:blipFill>
        <p:spPr>
          <a:xfrm>
            <a:off x="6870802" y="2057400"/>
            <a:ext cx="237744" cy="237744"/>
          </a:xfrm>
          <a:prstGeom prst="rect">
            <a:avLst/>
          </a:prstGeom>
        </p:spPr>
      </p:pic>
      <p:sp>
        <p:nvSpPr>
          <p:cNvPr id="120" name="s120"/>
          <p:cNvSpPr txBox="1"/>
          <p:nvPr/>
        </p:nvSpPr>
        <p:spPr>
          <a:xfrm>
            <a:off x="7355434" y="1947672"/>
            <a:ext cx="4138574"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1" dirty="0">
                <a:solidFill>
                  <a:srgbClr val="F87171"/>
                </a:solidFill>
                <a:latin typeface="Segoe UI"/>
                <a:ea typeface="Segoe UI"/>
                <a:cs typeface="Segoe UI"/>
              </a:rPr>
              <a:t>THE PROBLEM</a:t>
            </a:r>
            <a:endParaRPr lang="en-US" sz="1000" dirty="0"/>
          </a:p>
          <a:p>
            <a:pPr marL="0" indent="0" algn="l">
              <a:spcBef>
                <a:spcPts val="0"/>
              </a:spcBef>
              <a:spcAft>
                <a:spcPts val="0"/>
              </a:spcAft>
              <a:buNone/>
            </a:pPr>
            <a:r>
              <a:rPr lang="en-US" sz="1400" b="1" dirty="0">
                <a:solidFill>
                  <a:srgbClr val="FFFFFF"/>
                </a:solidFill>
                <a:latin typeface="Segoe UI"/>
                <a:ea typeface="Segoe UI"/>
                <a:cs typeface="Segoe UI"/>
              </a:rPr>
              <a:t>This test can never fail</a:t>
            </a:r>
            <a:endParaRPr lang="en-US" sz="1400" dirty="0"/>
          </a:p>
        </p:txBody>
      </p:sp>
      <p:sp>
        <p:nvSpPr>
          <p:cNvPr id="121" name="s121"/>
          <p:cNvSpPr txBox="1"/>
          <p:nvPr/>
        </p:nvSpPr>
        <p:spPr>
          <a:xfrm>
            <a:off x="6806794" y="2560320"/>
            <a:ext cx="4641494" cy="164592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300" b="0" dirty="0">
                <a:solidFill>
                  <a:srgbClr val="F87171"/>
                </a:solidFill>
                <a:latin typeface="Segoe UI"/>
                <a:ea typeface="Segoe UI"/>
                <a:cs typeface="Segoe UI"/>
              </a:rPr>
              <a:t>•  </a:t>
            </a:r>
            <a:r>
              <a:rPr lang="en-US" sz="1300" b="0" dirty="0">
                <a:solidFill>
                  <a:srgbClr val="E2E8F0"/>
                </a:solidFill>
                <a:latin typeface="Segoe UI"/>
                <a:ea typeface="Segoe UI"/>
                <a:cs typeface="Segoe UI"/>
              </a:rPr>
              <a:t>Deposit throws → caught → green.</a:t>
            </a:r>
            <a:endParaRPr lang="en-US" sz="1300" dirty="0"/>
          </a:p>
          <a:p>
            <a:pPr marL="0" indent="0" algn="l">
              <a:spcBef>
                <a:spcPts val="0"/>
              </a:spcBef>
              <a:spcAft>
                <a:spcPts val="500"/>
              </a:spcAft>
              <a:buNone/>
            </a:pPr>
            <a:r>
              <a:rPr lang="en-US" sz="1300" b="0" dirty="0">
                <a:solidFill>
                  <a:srgbClr val="F87171"/>
                </a:solidFill>
                <a:latin typeface="Segoe UI"/>
                <a:ea typeface="Segoe UI"/>
                <a:cs typeface="Segoe UI"/>
              </a:rPr>
              <a:t>•  </a:t>
            </a:r>
            <a:r>
              <a:rPr lang="en-US" sz="1300" b="0" dirty="0">
                <a:solidFill>
                  <a:srgbClr val="E2E8F0"/>
                </a:solidFill>
                <a:latin typeface="Segoe UI"/>
                <a:ea typeface="Segoe UI"/>
                <a:cs typeface="Segoe UI"/>
              </a:rPr>
              <a:t>Check deleted, no throw → green too.</a:t>
            </a:r>
            <a:endParaRPr lang="en-US" sz="1300" dirty="0"/>
          </a:p>
          <a:p>
            <a:pPr marL="0" indent="0" algn="l">
              <a:spcBef>
                <a:spcPts val="0"/>
              </a:spcBef>
              <a:spcAft>
                <a:spcPts val="500"/>
              </a:spcAft>
              <a:buNone/>
            </a:pPr>
            <a:r>
              <a:rPr lang="en-US" sz="1300" b="0" dirty="0">
                <a:solidFill>
                  <a:srgbClr val="F87171"/>
                </a:solidFill>
                <a:latin typeface="Segoe UI"/>
                <a:ea typeface="Segoe UI"/>
                <a:cs typeface="Segoe UI"/>
              </a:rPr>
              <a:t>•  </a:t>
            </a:r>
            <a:r>
              <a:rPr lang="en-US" sz="1300" b="0" dirty="0">
                <a:solidFill>
                  <a:srgbClr val="E2E8F0"/>
                </a:solidFill>
                <a:latin typeface="Segoe UI"/>
                <a:ea typeface="Segoe UI"/>
                <a:cs typeface="Segoe UI"/>
              </a:rPr>
              <a:t>No assertion: nothing is checked.</a:t>
            </a:r>
            <a:endParaRPr lang="en-US" sz="1300" dirty="0"/>
          </a:p>
        </p:txBody>
      </p:sp>
      <p:sp>
        <p:nvSpPr>
          <p:cNvPr id="122" name="s122"/>
          <p:cNvSpPr/>
          <p:nvPr/>
        </p:nvSpPr>
        <p:spPr>
          <a:xfrm>
            <a:off x="6578194" y="4526280"/>
            <a:ext cx="5052974" cy="109728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WHAT WE NEED</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A way to say: "this call MUST throw this exception type", and fail if it does not.</a:t>
            </a:r>
            <a:endParaRPr lang="en-US" sz="1250" dirty="0"/>
          </a:p>
        </p:txBody>
      </p:sp>
      <p:sp>
        <p:nvSpPr>
          <p:cNvPr id="123" name="s123"/>
          <p:cNvSpPr/>
          <p:nvPr/>
        </p:nvSpPr>
        <p:spPr>
          <a:xfrm>
            <a:off x="652882" y="2987040"/>
            <a:ext cx="5541264" cy="93116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53" presetClass="entr" presetSubtype="16" fill="hold" grpId="0" nodeType="clickEffect">
                                  <p:stCondLst>
                                    <p:cond delay="0"/>
                                  </p:stCondLst>
                                  <p:childTnLst>
                                    <p:set>
                                      <p:cBhvr>
                                        <p:cTn id="72" dur="1" fill="hold">
                                          <p:stCondLst>
                                            <p:cond delay="0"/>
                                          </p:stCondLst>
                                        </p:cTn>
                                        <p:tgtEl>
                                          <p:spTgt spid="123"/>
                                        </p:tgtEl>
                                        <p:attrNameLst>
                                          <p:attrName>style.visibility</p:attrName>
                                        </p:attrNameLst>
                                      </p:cBhvr>
                                      <p:to>
                                        <p:strVal val="visible"/>
                                      </p:to>
                                    </p:set>
                                    <p:anim calcmode="lin" valueType="num">
                                      <p:cBhvr additive="base">
                                        <p:cTn id="73" dur="500" decel="100000" fill="hold"/>
                                        <p:tgtEl>
                                          <p:spTgt spid="123"/>
                                        </p:tgtEl>
                                        <p:attrNameLst>
                                          <p:attrName>ppt_w</p:attrName>
                                        </p:attrNameLst>
                                      </p:cBhvr>
                                      <p:tavLst>
                                        <p:tav tm="0">
                                          <p:val>
                                            <p:strVal val="#ppt_w*0.3"/>
                                          </p:val>
                                        </p:tav>
                                        <p:tav tm="100000">
                                          <p:val>
                                            <p:strVal val="#ppt_w*1.08"/>
                                          </p:val>
                                        </p:tav>
                                      </p:tavLst>
                                    </p:anim>
                                    <p:anim calcmode="lin" valueType="num">
                                      <p:cBhvr additive="base">
                                        <p:cTn id="74" dur="500" decel="100000" fill="hold"/>
                                        <p:tgtEl>
                                          <p:spTgt spid="123"/>
                                        </p:tgtEl>
                                        <p:attrNameLst>
                                          <p:attrName>ppt_h</p:attrName>
                                        </p:attrNameLst>
                                      </p:cBhvr>
                                      <p:tavLst>
                                        <p:tav tm="0">
                                          <p:val>
                                            <p:strVal val="#ppt_h*0.3"/>
                                          </p:val>
                                        </p:tav>
                                        <p:tav tm="100000">
                                          <p:val>
                                            <p:strVal val="#ppt_h*1.08"/>
                                          </p:val>
                                        </p:tav>
                                      </p:tavLst>
                                    </p:anim>
                                    <p:animEffect transition="in" filter="fade">
                                      <p:cBhvr>
                                        <p:cTn id="75" dur="250"/>
                                        <p:tgtEl>
                                          <p:spTgt spid="123"/>
                                        </p:tgtEl>
                                      </p:cBhvr>
                                    </p:animEffect>
                                    <p:anim calcmode="lin" valueType="num">
                                      <p:cBhvr additive="base">
                                        <p:cTn id="76" dur="160" fill="hold">
                                          <p:stCondLst>
                                            <p:cond delay="500"/>
                                          </p:stCondLst>
                                        </p:cTn>
                                        <p:tgtEl>
                                          <p:spTgt spid="123"/>
                                        </p:tgtEl>
                                        <p:attrNameLst>
                                          <p:attrName>ppt_w</p:attrName>
                                        </p:attrNameLst>
                                      </p:cBhvr>
                                      <p:tavLst>
                                        <p:tav tm="0">
                                          <p:val>
                                            <p:strVal val="#ppt_w*1.08"/>
                                          </p:val>
                                        </p:tav>
                                        <p:tav tm="100000">
                                          <p:val>
                                            <p:strVal val="#ppt_w"/>
                                          </p:val>
                                        </p:tav>
                                      </p:tavLst>
                                    </p:anim>
                                    <p:anim calcmode="lin" valueType="num">
                                      <p:cBhvr additive="base">
                                        <p:cTn id="77" dur="160" fill="hold">
                                          <p:stCondLst>
                                            <p:cond delay="500"/>
                                          </p:stCondLst>
                                        </p:cTn>
                                        <p:tgtEl>
                                          <p:spTgt spid="123"/>
                                        </p:tgtEl>
                                        <p:attrNameLst>
                                          <p:attrName>ppt_h</p:attrName>
                                        </p:attrNameLst>
                                      </p:cBhvr>
                                      <p:tavLst>
                                        <p:tav tm="0">
                                          <p:val>
                                            <p:strVal val="#ppt_h*1.08"/>
                                          </p:val>
                                        </p:tav>
                                        <p:tav tm="100000">
                                          <p:val>
                                            <p:strVal val="#ppt_h"/>
                                          </p:val>
                                        </p:tav>
                                      </p:tavLst>
                                    </p:anim>
                                  </p:childTnLst>
                                </p:cTn>
                              </p:par>
                              <p:par>
                                <p:cTn id="78" presetID="42" presetClass="entr" presetSubtype="0" fill="hold" grpId="0" nodeType="withEffect">
                                  <p:stCondLst>
                                    <p:cond delay="200"/>
                                  </p:stCondLst>
                                  <p:childTnLst>
                                    <p:set>
                                      <p:cBhvr>
                                        <p:cTn id="79" dur="1" fill="hold">
                                          <p:stCondLst>
                                            <p:cond delay="0"/>
                                          </p:stCondLst>
                                        </p:cTn>
                                        <p:tgtEl>
                                          <p:spTgt spid="117"/>
                                        </p:tgtEl>
                                        <p:attrNameLst>
                                          <p:attrName>style.visibility</p:attrName>
                                        </p:attrNameLst>
                                      </p:cBhvr>
                                      <p:to>
                                        <p:strVal val="visible"/>
                                      </p:to>
                                    </p:set>
                                    <p:animEffect transition="in" filter="fade">
                                      <p:cBhvr>
                                        <p:cTn id="80" dur="500"/>
                                        <p:tgtEl>
                                          <p:spTgt spid="117"/>
                                        </p:tgtEl>
                                      </p:cBhvr>
                                    </p:animEffect>
                                    <p:anim calcmode="lin" valueType="num">
                                      <p:cBhvr additive="base">
                                        <p:cTn id="81" dur="500" decel="100000" fill="hold"/>
                                        <p:tgtEl>
                                          <p:spTgt spid="117"/>
                                        </p:tgtEl>
                                        <p:attrNameLst>
                                          <p:attrName>ppt_y</p:attrName>
                                        </p:attrNameLst>
                                      </p:cBhvr>
                                      <p:tavLst>
                                        <p:tav tm="0">
                                          <p:val>
                                            <p:strVal val="#ppt_y+0.06"/>
                                          </p:val>
                                        </p:tav>
                                        <p:tav tm="100000">
                                          <p:val>
                                            <p:strVal val="#ppt_y"/>
                                          </p:val>
                                        </p:tav>
                                      </p:tavLst>
                                    </p:anim>
                                  </p:childTnLst>
                                </p:cTn>
                              </p:par>
                              <p:par>
                                <p:cTn id="82" presetID="42" presetClass="entr" presetSubtype="0" fill="hold" grpId="0" nodeType="withEffect">
                                  <p:stCondLst>
                                    <p:cond delay="200"/>
                                  </p:stCondLst>
                                  <p:childTnLst>
                                    <p:set>
                                      <p:cBhvr>
                                        <p:cTn id="83" dur="1" fill="hold">
                                          <p:stCondLst>
                                            <p:cond delay="0"/>
                                          </p:stCondLst>
                                        </p:cTn>
                                        <p:tgtEl>
                                          <p:spTgt spid="118"/>
                                        </p:tgtEl>
                                        <p:attrNameLst>
                                          <p:attrName>style.visibility</p:attrName>
                                        </p:attrNameLst>
                                      </p:cBhvr>
                                      <p:to>
                                        <p:strVal val="visible"/>
                                      </p:to>
                                    </p:set>
                                    <p:animEffect transition="in" filter="fade">
                                      <p:cBhvr>
                                        <p:cTn id="84" dur="500"/>
                                        <p:tgtEl>
                                          <p:spTgt spid="118"/>
                                        </p:tgtEl>
                                      </p:cBhvr>
                                    </p:animEffect>
                                    <p:anim calcmode="lin" valueType="num">
                                      <p:cBhvr additive="base">
                                        <p:cTn id="85" dur="500" decel="100000" fill="hold"/>
                                        <p:tgtEl>
                                          <p:spTgt spid="118"/>
                                        </p:tgtEl>
                                        <p:attrNameLst>
                                          <p:attrName>ppt_y</p:attrName>
                                        </p:attrNameLst>
                                      </p:cBhvr>
                                      <p:tavLst>
                                        <p:tav tm="0">
                                          <p:val>
                                            <p:strVal val="#ppt_y+0.06"/>
                                          </p:val>
                                        </p:tav>
                                        <p:tav tm="100000">
                                          <p:val>
                                            <p:strVal val="#ppt_y"/>
                                          </p:val>
                                        </p:tav>
                                      </p:tavLst>
                                    </p:anim>
                                  </p:childTnLst>
                                </p:cTn>
                              </p:par>
                              <p:par>
                                <p:cTn id="86" presetID="42" presetClass="entr" presetSubtype="0" fill="hold" nodeType="withEffect">
                                  <p:stCondLst>
                                    <p:cond delay="200"/>
                                  </p:stCondLst>
                                  <p:childTnLst>
                                    <p:set>
                                      <p:cBhvr>
                                        <p:cTn id="87" dur="1" fill="hold">
                                          <p:stCondLst>
                                            <p:cond delay="0"/>
                                          </p:stCondLst>
                                        </p:cTn>
                                        <p:tgtEl>
                                          <p:spTgt spid="119"/>
                                        </p:tgtEl>
                                        <p:attrNameLst>
                                          <p:attrName>style.visibility</p:attrName>
                                        </p:attrNameLst>
                                      </p:cBhvr>
                                      <p:to>
                                        <p:strVal val="visible"/>
                                      </p:to>
                                    </p:set>
                                    <p:animEffect transition="in" filter="fade">
                                      <p:cBhvr>
                                        <p:cTn id="88" dur="500"/>
                                        <p:tgtEl>
                                          <p:spTgt spid="119"/>
                                        </p:tgtEl>
                                      </p:cBhvr>
                                    </p:animEffect>
                                    <p:anim calcmode="lin" valueType="num">
                                      <p:cBhvr additive="base">
                                        <p:cTn id="89" dur="500" decel="100000" fill="hold"/>
                                        <p:tgtEl>
                                          <p:spTgt spid="119"/>
                                        </p:tgtEl>
                                        <p:attrNameLst>
                                          <p:attrName>ppt_y</p:attrName>
                                        </p:attrNameLst>
                                      </p:cBhvr>
                                      <p:tavLst>
                                        <p:tav tm="0">
                                          <p:val>
                                            <p:strVal val="#ppt_y+0.06"/>
                                          </p:val>
                                        </p:tav>
                                        <p:tav tm="100000">
                                          <p:val>
                                            <p:strVal val="#ppt_y"/>
                                          </p:val>
                                        </p:tav>
                                      </p:tavLst>
                                    </p:anim>
                                  </p:childTnLst>
                                </p:cTn>
                              </p:par>
                              <p:par>
                                <p:cTn id="90" presetID="42" presetClass="entr" presetSubtype="0" fill="hold" grpId="0" nodeType="withEffect">
                                  <p:stCondLst>
                                    <p:cond delay="200"/>
                                  </p:stCondLst>
                                  <p:childTnLst>
                                    <p:set>
                                      <p:cBhvr>
                                        <p:cTn id="91" dur="1" fill="hold">
                                          <p:stCondLst>
                                            <p:cond delay="0"/>
                                          </p:stCondLst>
                                        </p:cTn>
                                        <p:tgtEl>
                                          <p:spTgt spid="120"/>
                                        </p:tgtEl>
                                        <p:attrNameLst>
                                          <p:attrName>style.visibility</p:attrName>
                                        </p:attrNameLst>
                                      </p:cBhvr>
                                      <p:to>
                                        <p:strVal val="visible"/>
                                      </p:to>
                                    </p:set>
                                    <p:animEffect transition="in" filter="fade">
                                      <p:cBhvr>
                                        <p:cTn id="92" dur="500"/>
                                        <p:tgtEl>
                                          <p:spTgt spid="120"/>
                                        </p:tgtEl>
                                      </p:cBhvr>
                                    </p:animEffect>
                                    <p:anim calcmode="lin" valueType="num">
                                      <p:cBhvr additive="base">
                                        <p:cTn id="93" dur="500" decel="100000" fill="hold"/>
                                        <p:tgtEl>
                                          <p:spTgt spid="120"/>
                                        </p:tgtEl>
                                        <p:attrNameLst>
                                          <p:attrName>ppt_y</p:attrName>
                                        </p:attrNameLst>
                                      </p:cBhvr>
                                      <p:tavLst>
                                        <p:tav tm="0">
                                          <p:val>
                                            <p:strVal val="#ppt_y+0.06"/>
                                          </p:val>
                                        </p:tav>
                                        <p:tav tm="100000">
                                          <p:val>
                                            <p:strVal val="#ppt_y"/>
                                          </p:val>
                                        </p:tav>
                                      </p:tavLst>
                                    </p:anim>
                                  </p:childTnLst>
                                </p:cTn>
                              </p:par>
                              <p:par>
                                <p:cTn id="94" presetID="42" presetClass="entr" presetSubtype="0" fill="hold" grpId="0" nodeType="withEffect">
                                  <p:stCondLst>
                                    <p:cond delay="200"/>
                                  </p:stCondLst>
                                  <p:childTnLst>
                                    <p:set>
                                      <p:cBhvr>
                                        <p:cTn id="95" dur="1" fill="hold">
                                          <p:stCondLst>
                                            <p:cond delay="0"/>
                                          </p:stCondLst>
                                        </p:cTn>
                                        <p:tgtEl>
                                          <p:spTgt spid="121"/>
                                        </p:tgtEl>
                                        <p:attrNameLst>
                                          <p:attrName>style.visibility</p:attrName>
                                        </p:attrNameLst>
                                      </p:cBhvr>
                                      <p:to>
                                        <p:strVal val="visible"/>
                                      </p:to>
                                    </p:set>
                                    <p:animEffect transition="in" filter="fade">
                                      <p:cBhvr>
                                        <p:cTn id="96" dur="500"/>
                                        <p:tgtEl>
                                          <p:spTgt spid="121"/>
                                        </p:tgtEl>
                                      </p:cBhvr>
                                    </p:animEffect>
                                    <p:anim calcmode="lin" valueType="num">
                                      <p:cBhvr additive="base">
                                        <p:cTn id="97" dur="500" decel="100000" fill="hold"/>
                                        <p:tgtEl>
                                          <p:spTgt spid="121"/>
                                        </p:tgtEl>
                                        <p:attrNameLst>
                                          <p:attrName>ppt_y</p:attrName>
                                        </p:attrNameLst>
                                      </p:cBhvr>
                                      <p:tavLst>
                                        <p:tav tm="0">
                                          <p:val>
                                            <p:strVal val="#ppt_y+0.06"/>
                                          </p:val>
                                        </p:tav>
                                        <p:tav tm="100000">
                                          <p:val>
                                            <p:strVal val="#ppt_y"/>
                                          </p:val>
                                        </p:tav>
                                      </p:tavLst>
                                    </p:anim>
                                  </p:childTnLst>
                                </p:cTn>
                              </p:par>
                            </p:childTnLst>
                          </p:cTn>
                        </p:par>
                      </p:childTnLst>
                    </p:cTn>
                  </p:par>
                  <p:par>
                    <p:cTn id="98" fill="hold">
                      <p:stCondLst>
                        <p:cond delay="indefinite"/>
                      </p:stCondLst>
                      <p:childTnLst>
                        <p:par>
                          <p:cTn id="99" fill="hold">
                            <p:stCondLst>
                              <p:cond delay="0"/>
                            </p:stCondLst>
                            <p:childTnLst>
                              <p:par>
                                <p:cTn id="100" presetID="42" presetClass="entr" presetSubtype="0" fill="hold" grpId="0" nodeType="clickEffect">
                                  <p:stCondLst>
                                    <p:cond delay="0"/>
                                  </p:stCondLst>
                                  <p:childTnLst>
                                    <p:set>
                                      <p:cBhvr>
                                        <p:cTn id="101" dur="1" fill="hold">
                                          <p:stCondLst>
                                            <p:cond delay="0"/>
                                          </p:stCondLst>
                                        </p:cTn>
                                        <p:tgtEl>
                                          <p:spTgt spid="122"/>
                                        </p:tgtEl>
                                        <p:attrNameLst>
                                          <p:attrName>style.visibility</p:attrName>
                                        </p:attrNameLst>
                                      </p:cBhvr>
                                      <p:to>
                                        <p:strVal val="visible"/>
                                      </p:to>
                                    </p:set>
                                    <p:animEffect transition="in" filter="fade">
                                      <p:cBhvr>
                                        <p:cTn id="102" dur="500"/>
                                        <p:tgtEl>
                                          <p:spTgt spid="122"/>
                                        </p:tgtEl>
                                      </p:cBhvr>
                                    </p:animEffect>
                                    <p:anim calcmode="lin" valueType="num">
                                      <p:cBhvr additive="base">
                                        <p:cTn id="103" dur="500" decel="100000" fill="hold"/>
                                        <p:tgtEl>
                                          <p:spTgt spid="122"/>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20" grpId="0" animBg="1"/>
      <p:bldP spid="121" grpId="0" animBg="1"/>
      <p:bldP spid="122" grpId="0" animBg="1"/>
      <p:bldP spid="123"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SOLUTION</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Assert.Throws: The Call MUST Throw</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FIRST TEST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121</a:t>
            </a:r>
            <a:endParaRPr lang="en-US" sz="850" dirty="0"/>
          </a:p>
        </p:txBody>
      </p:sp>
      <p:sp>
        <p:nvSpPr>
          <p:cNvPr id="101" name="s101"/>
          <p:cNvSpPr/>
          <p:nvPr/>
        </p:nvSpPr>
        <p:spPr>
          <a:xfrm>
            <a:off x="543154" y="1783080"/>
            <a:ext cx="6492240" cy="310896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675181"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BankAccountTests.cs</a:t>
            </a:r>
            <a:endParaRPr lang="en-US" sz="950" dirty="0"/>
          </a:p>
        </p:txBody>
      </p:sp>
      <p:cxnSp>
        <p:nvCxnSpPr>
          <p:cNvPr id="106" name="ln106"/>
          <p:cNvCxnSpPr/>
          <p:nvPr/>
        </p:nvCxnSpPr>
        <p:spPr>
          <a:xfrm>
            <a:off x="543154" y="2194560"/>
            <a:ext cx="6492240" cy="0"/>
          </a:xfrm>
          <a:prstGeom prst="line">
            <a:avLst/>
          </a:prstGeom>
          <a:ln w="9525">
            <a:solidFill>
              <a:srgbClr val="1E3A5F"/>
            </a:solidFill>
          </a:ln>
        </p:spPr>
      </p:cxnSp>
      <p:sp>
        <p:nvSpPr>
          <p:cNvPr id="107" name="s107"/>
          <p:cNvSpPr/>
          <p:nvPr/>
        </p:nvSpPr>
        <p:spPr>
          <a:xfrm>
            <a:off x="543154" y="2313432"/>
            <a:ext cx="6492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[Fact]</a:t>
            </a:r>
            <a:endParaRPr lang="en-US" sz="1150" dirty="0"/>
          </a:p>
        </p:txBody>
      </p:sp>
      <p:sp>
        <p:nvSpPr>
          <p:cNvPr id="108" name="s108"/>
          <p:cNvSpPr/>
          <p:nvPr/>
        </p:nvSpPr>
        <p:spPr>
          <a:xfrm>
            <a:off x="543154" y="2488692"/>
            <a:ext cx="6492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void</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Deposit_Negative_ThrowsAndKeepsBalance</a:t>
            </a:r>
            <a:r>
              <a:rPr lang="en-US" sz="1150" b="0" dirty="0">
                <a:solidFill>
                  <a:srgbClr val="E2E8F0"/>
                </a:solidFill>
                <a:latin typeface="Consolas"/>
                <a:ea typeface="Consolas"/>
                <a:cs typeface="Consolas"/>
              </a:rPr>
              <a:t>()</a:t>
            </a:r>
            <a:endParaRPr lang="en-US" sz="1150" dirty="0"/>
          </a:p>
        </p:txBody>
      </p:sp>
      <p:sp>
        <p:nvSpPr>
          <p:cNvPr id="109" name="s109"/>
          <p:cNvSpPr/>
          <p:nvPr/>
        </p:nvSpPr>
        <p:spPr>
          <a:xfrm>
            <a:off x="543154" y="2663952"/>
            <a:ext cx="6492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0" name="s110"/>
          <p:cNvSpPr/>
          <p:nvPr/>
        </p:nvSpPr>
        <p:spPr>
          <a:xfrm>
            <a:off x="543154" y="2839212"/>
            <a:ext cx="6492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var</a:t>
            </a:r>
            <a:r>
              <a:rPr lang="en-US" sz="1150" b="0" dirty="0">
                <a:solidFill>
                  <a:srgbClr val="E2E8F0"/>
                </a:solidFill>
                <a:latin typeface="Consolas"/>
                <a:ea typeface="Consolas"/>
                <a:cs typeface="Consolas"/>
              </a:rPr>
              <a:t> account = </a:t>
            </a:r>
            <a:r>
              <a:rPr lang="en-US" sz="1150" b="0" dirty="0">
                <a:solidFill>
                  <a:srgbClr val="60A5FA"/>
                </a:solidFill>
                <a:latin typeface="Consolas"/>
                <a:ea typeface="Consolas"/>
                <a:cs typeface="Consolas"/>
              </a:rPr>
              <a:t>new</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BankAccount</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"mona@bank.eg"</a:t>
            </a:r>
            <a:r>
              <a:rPr lang="en-US" sz="1150" b="0" dirty="0">
                <a:solidFill>
                  <a:srgbClr val="E2E8F0"/>
                </a:solidFill>
                <a:latin typeface="Consolas"/>
                <a:ea typeface="Consolas"/>
                <a:cs typeface="Consolas"/>
              </a:rPr>
              <a:t>);</a:t>
            </a:r>
            <a:endParaRPr lang="en-US" sz="1150" dirty="0"/>
          </a:p>
        </p:txBody>
      </p:sp>
      <p:sp>
        <p:nvSpPr>
          <p:cNvPr id="111" name="s111"/>
          <p:cNvSpPr/>
          <p:nvPr/>
        </p:nvSpPr>
        <p:spPr>
          <a:xfrm>
            <a:off x="543154" y="3189732"/>
            <a:ext cx="6492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var</a:t>
            </a:r>
            <a:r>
              <a:rPr lang="en-US" sz="1150" b="0" dirty="0">
                <a:solidFill>
                  <a:srgbClr val="E2E8F0"/>
                </a:solidFill>
                <a:latin typeface="Consolas"/>
                <a:ea typeface="Consolas"/>
                <a:cs typeface="Consolas"/>
              </a:rPr>
              <a:t> ex = </a:t>
            </a:r>
            <a:r>
              <a:rPr lang="en-US" sz="1150" b="0" dirty="0">
                <a:solidFill>
                  <a:srgbClr val="7DD3FC"/>
                </a:solidFill>
                <a:latin typeface="Consolas"/>
                <a:ea typeface="Consolas"/>
                <a:cs typeface="Consolas"/>
              </a:rPr>
              <a:t>Assert</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Throws</a:t>
            </a:r>
            <a:r>
              <a:rPr lang="en-US" sz="1150" b="0" dirty="0">
                <a:solidFill>
                  <a:srgbClr val="E2E8F0"/>
                </a:solidFill>
                <a:latin typeface="Consolas"/>
                <a:ea typeface="Consolas"/>
                <a:cs typeface="Consolas"/>
              </a:rPr>
              <a:t>&lt;</a:t>
            </a:r>
            <a:r>
              <a:rPr lang="en-US" sz="1150" b="0" dirty="0">
                <a:solidFill>
                  <a:srgbClr val="7DD3FC"/>
                </a:solidFill>
                <a:latin typeface="Consolas"/>
                <a:ea typeface="Consolas"/>
                <a:cs typeface="Consolas"/>
              </a:rPr>
              <a:t>ArgumentOutOfRangeException</a:t>
            </a:r>
            <a:r>
              <a:rPr lang="en-US" sz="1150" b="0" dirty="0">
                <a:solidFill>
                  <a:srgbClr val="E2E8F0"/>
                </a:solidFill>
                <a:latin typeface="Consolas"/>
                <a:ea typeface="Consolas"/>
                <a:cs typeface="Consolas"/>
              </a:rPr>
              <a:t>&gt;(</a:t>
            </a:r>
            <a:endParaRPr lang="en-US" sz="1150" dirty="0"/>
          </a:p>
        </p:txBody>
      </p:sp>
      <p:sp>
        <p:nvSpPr>
          <p:cNvPr id="112" name="s112"/>
          <p:cNvSpPr/>
          <p:nvPr/>
        </p:nvSpPr>
        <p:spPr>
          <a:xfrm>
            <a:off x="543154" y="3364992"/>
            <a:ext cx="6492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 =&gt; account.</a:t>
            </a:r>
            <a:r>
              <a:rPr lang="en-US" sz="1150" b="0" dirty="0">
                <a:solidFill>
                  <a:srgbClr val="7DD3FC"/>
                </a:solidFill>
                <a:latin typeface="Consolas"/>
                <a:ea typeface="Consolas"/>
                <a:cs typeface="Consolas"/>
              </a:rPr>
              <a:t>Deposit</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50m</a:t>
            </a:r>
            <a:r>
              <a:rPr lang="en-US" sz="1150" b="0" dirty="0">
                <a:solidFill>
                  <a:srgbClr val="E2E8F0"/>
                </a:solidFill>
                <a:latin typeface="Consolas"/>
                <a:ea typeface="Consolas"/>
                <a:cs typeface="Consolas"/>
              </a:rPr>
              <a:t>));</a:t>
            </a:r>
            <a:endParaRPr lang="en-US" sz="1150" dirty="0"/>
          </a:p>
        </p:txBody>
      </p:sp>
      <p:sp>
        <p:nvSpPr>
          <p:cNvPr id="113" name="s113"/>
          <p:cNvSpPr/>
          <p:nvPr/>
        </p:nvSpPr>
        <p:spPr>
          <a:xfrm>
            <a:off x="543154" y="3715512"/>
            <a:ext cx="6492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Assert</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Equal</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"amount"</a:t>
            </a:r>
            <a:r>
              <a:rPr lang="en-US" sz="1150" b="0" dirty="0">
                <a:solidFill>
                  <a:srgbClr val="E2E8F0"/>
                </a:solidFill>
                <a:latin typeface="Consolas"/>
                <a:ea typeface="Consolas"/>
                <a:cs typeface="Consolas"/>
              </a:rPr>
              <a:t>, ex.</a:t>
            </a:r>
            <a:r>
              <a:rPr lang="en-US" sz="1150" b="0" dirty="0">
                <a:solidFill>
                  <a:srgbClr val="7DD3FC"/>
                </a:solidFill>
                <a:latin typeface="Consolas"/>
                <a:ea typeface="Consolas"/>
                <a:cs typeface="Consolas"/>
              </a:rPr>
              <a:t>ParamName</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the right rule</a:t>
            </a:r>
            <a:endParaRPr lang="en-US" sz="1150" dirty="0"/>
          </a:p>
        </p:txBody>
      </p:sp>
      <p:sp>
        <p:nvSpPr>
          <p:cNvPr id="114" name="s114"/>
          <p:cNvSpPr/>
          <p:nvPr/>
        </p:nvSpPr>
        <p:spPr>
          <a:xfrm>
            <a:off x="543154" y="3890772"/>
            <a:ext cx="6492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Assert</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Equal</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0m</a:t>
            </a:r>
            <a:r>
              <a:rPr lang="en-US" sz="1150" b="0" dirty="0">
                <a:solidFill>
                  <a:srgbClr val="E2E8F0"/>
                </a:solidFill>
                <a:latin typeface="Consolas"/>
                <a:ea typeface="Consolas"/>
                <a:cs typeface="Consolas"/>
              </a:rPr>
              <a:t>, account.</a:t>
            </a:r>
            <a:r>
              <a:rPr lang="en-US" sz="1150" b="0" dirty="0">
                <a:solidFill>
                  <a:srgbClr val="7DD3FC"/>
                </a:solidFill>
                <a:latin typeface="Consolas"/>
                <a:ea typeface="Consolas"/>
                <a:cs typeface="Consolas"/>
              </a:rPr>
              <a:t>Balance</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R3: unchanged</a:t>
            </a:r>
            <a:endParaRPr lang="en-US" sz="1150" dirty="0"/>
          </a:p>
        </p:txBody>
      </p:sp>
      <p:sp>
        <p:nvSpPr>
          <p:cNvPr id="115" name="s115"/>
          <p:cNvSpPr/>
          <p:nvPr/>
        </p:nvSpPr>
        <p:spPr>
          <a:xfrm>
            <a:off x="543154" y="4066032"/>
            <a:ext cx="6492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6" name="s116"/>
          <p:cNvSpPr/>
          <p:nvPr/>
        </p:nvSpPr>
        <p:spPr>
          <a:xfrm>
            <a:off x="7309714" y="1783080"/>
            <a:ext cx="4321454" cy="960120"/>
          </a:xfrm>
          <a:prstGeom prst="roundRect">
            <a:avLst>
              <a:gd name="adj" fmla="val 10000"/>
            </a:avLst>
          </a:prstGeom>
          <a:solidFill>
            <a:srgbClr val="13D0F7">
              <a:alpha val="8000"/>
            </a:srgbClr>
          </a:solidFill>
          <a:ln w="12700">
            <a:solidFill>
              <a:srgbClr val="13D0F7"/>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13D0F7"/>
                </a:solidFill>
                <a:latin typeface="Segoe UI"/>
                <a:ea typeface="Segoe UI"/>
                <a:cs typeface="Segoe UI"/>
              </a:rPr>
              <a:t>A LAMBDA</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xUnit calls it inside its own try/catch.</a:t>
            </a:r>
            <a:endParaRPr lang="en-US" sz="1250" dirty="0"/>
          </a:p>
        </p:txBody>
      </p:sp>
      <p:sp>
        <p:nvSpPr>
          <p:cNvPr id="117" name="s117"/>
          <p:cNvSpPr/>
          <p:nvPr/>
        </p:nvSpPr>
        <p:spPr>
          <a:xfrm>
            <a:off x="7309714" y="2880360"/>
            <a:ext cx="4321454" cy="960120"/>
          </a:xfrm>
          <a:prstGeom prst="roundRect">
            <a:avLst>
              <a:gd name="adj" fmla="val 10000"/>
            </a:avLst>
          </a:prstGeom>
          <a:solidFill>
            <a:srgbClr val="FBBF24">
              <a:alpha val="8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BBF24"/>
                </a:solidFill>
                <a:latin typeface="Segoe UI"/>
                <a:ea typeface="Segoe UI"/>
                <a:cs typeface="Segoe UI"/>
              </a:rPr>
              <a:t>IT RETURNS THE EXCEPTION</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Check the parameter or message: the RIGHT rule fired.</a:t>
            </a:r>
            <a:endParaRPr lang="en-US" sz="1250" dirty="0"/>
          </a:p>
        </p:txBody>
      </p:sp>
      <p:sp>
        <p:nvSpPr>
          <p:cNvPr id="118" name="s118"/>
          <p:cNvSpPr/>
          <p:nvPr/>
        </p:nvSpPr>
        <p:spPr>
          <a:xfrm>
            <a:off x="7309714" y="3977640"/>
            <a:ext cx="4321454" cy="91440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CHECK THE STATE</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A refusal that still changed data is a bug.</a:t>
            </a:r>
            <a:endParaRPr lang="en-US" sz="1250" dirty="0"/>
          </a:p>
        </p:txBody>
      </p:sp>
      <p:sp>
        <p:nvSpPr>
          <p:cNvPr id="119" name="s119"/>
          <p:cNvSpPr/>
          <p:nvPr/>
        </p:nvSpPr>
        <p:spPr>
          <a:xfrm>
            <a:off x="543154" y="4983480"/>
            <a:ext cx="6492240" cy="86868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20" name="s120"/>
          <p:cNvSpPr/>
          <p:nvPr/>
        </p:nvSpPr>
        <p:spPr>
          <a:xfrm>
            <a:off x="707746" y="51297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1" name="s121"/>
          <p:cNvSpPr/>
          <p:nvPr/>
        </p:nvSpPr>
        <p:spPr>
          <a:xfrm>
            <a:off x="890626" y="51297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2" name="s122"/>
          <p:cNvSpPr/>
          <p:nvPr/>
        </p:nvSpPr>
        <p:spPr>
          <a:xfrm>
            <a:off x="1073506" y="51297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3" name="s123"/>
          <p:cNvSpPr/>
          <p:nvPr/>
        </p:nvSpPr>
        <p:spPr>
          <a:xfrm>
            <a:off x="1320394" y="5056632"/>
            <a:ext cx="747979"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Output</a:t>
            </a:r>
            <a:endParaRPr lang="en-US" sz="950" dirty="0"/>
          </a:p>
        </p:txBody>
      </p:sp>
      <p:cxnSp>
        <p:nvCxnSpPr>
          <p:cNvPr id="124" name="ln124"/>
          <p:cNvCxnSpPr/>
          <p:nvPr/>
        </p:nvCxnSpPr>
        <p:spPr>
          <a:xfrm>
            <a:off x="543154" y="5394960"/>
            <a:ext cx="6492240" cy="0"/>
          </a:xfrm>
          <a:prstGeom prst="line">
            <a:avLst/>
          </a:prstGeom>
          <a:ln w="9525">
            <a:solidFill>
              <a:srgbClr val="1E3A5F"/>
            </a:solidFill>
          </a:ln>
        </p:spPr>
      </p:cxnSp>
      <p:sp>
        <p:nvSpPr>
          <p:cNvPr id="125" name="s125"/>
          <p:cNvSpPr/>
          <p:nvPr/>
        </p:nvSpPr>
        <p:spPr>
          <a:xfrm>
            <a:off x="543154" y="5513832"/>
            <a:ext cx="6492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F87171"/>
                </a:solidFill>
                <a:latin typeface="Consolas"/>
                <a:ea typeface="Consolas"/>
                <a:cs typeface="Consolas"/>
              </a:rPr>
              <a:t>✗ if Deposit allowed it:  Assert.Throws() Failure: No exception was thrown</a:t>
            </a:r>
            <a:endParaRPr lang="en-US" sz="1050" dirty="0"/>
          </a:p>
        </p:txBody>
      </p:sp>
      <p:sp>
        <p:nvSpPr>
          <p:cNvPr id="126" name="s126"/>
          <p:cNvSpPr/>
          <p:nvPr/>
        </p:nvSpPr>
        <p:spPr>
          <a:xfrm>
            <a:off x="652882" y="3162300"/>
            <a:ext cx="6272784" cy="405384"/>
          </a:xfrm>
          <a:prstGeom prst="roundRect">
            <a:avLst>
              <a:gd name="adj" fmla="val 6000"/>
            </a:avLst>
          </a:prstGeom>
          <a:solidFill>
            <a:srgbClr val="13D0F7">
              <a:alpha val="10000"/>
            </a:srgbClr>
          </a:solidFill>
          <a:ln w="15875">
            <a:solidFill>
              <a:srgbClr val="13D0F7"/>
            </a:solidFill>
            <a:prstDash val="solid"/>
          </a:ln>
        </p:spPr>
        <p:txBody>
          <a:bodyPr wrap="square" lIns="164592" tIns="109728" rIns="137160" bIns="91440" rtlCol="0" anchor="t">
            <a:noAutofit/>
          </a:bodyPr>
          <a:lstStyle/>
          <a:p>
            <a:endParaRPr lang="en-US"/>
          </a:p>
        </p:txBody>
      </p:sp>
      <p:sp>
        <p:nvSpPr>
          <p:cNvPr id="127" name="s127"/>
          <p:cNvSpPr/>
          <p:nvPr/>
        </p:nvSpPr>
        <p:spPr>
          <a:xfrm>
            <a:off x="652882" y="3688080"/>
            <a:ext cx="6272784" cy="23012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
        <p:nvSpPr>
          <p:cNvPr id="128" name="s128"/>
          <p:cNvSpPr/>
          <p:nvPr/>
        </p:nvSpPr>
        <p:spPr>
          <a:xfrm>
            <a:off x="652882" y="3863340"/>
            <a:ext cx="6272784" cy="23012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53" presetClass="entr" presetSubtype="16" fill="hold" grpId="0" nodeType="clickEffect">
                                  <p:stCondLst>
                                    <p:cond delay="0"/>
                                  </p:stCondLst>
                                  <p:childTnLst>
                                    <p:set>
                                      <p:cBhvr>
                                        <p:cTn id="68" dur="1" fill="hold">
                                          <p:stCondLst>
                                            <p:cond delay="0"/>
                                          </p:stCondLst>
                                        </p:cTn>
                                        <p:tgtEl>
                                          <p:spTgt spid="126"/>
                                        </p:tgtEl>
                                        <p:attrNameLst>
                                          <p:attrName>style.visibility</p:attrName>
                                        </p:attrNameLst>
                                      </p:cBhvr>
                                      <p:to>
                                        <p:strVal val="visible"/>
                                      </p:to>
                                    </p:set>
                                    <p:anim calcmode="lin" valueType="num">
                                      <p:cBhvr additive="base">
                                        <p:cTn id="69" dur="500" decel="100000" fill="hold"/>
                                        <p:tgtEl>
                                          <p:spTgt spid="126"/>
                                        </p:tgtEl>
                                        <p:attrNameLst>
                                          <p:attrName>ppt_w</p:attrName>
                                        </p:attrNameLst>
                                      </p:cBhvr>
                                      <p:tavLst>
                                        <p:tav tm="0">
                                          <p:val>
                                            <p:strVal val="#ppt_w*0.3"/>
                                          </p:val>
                                        </p:tav>
                                        <p:tav tm="100000">
                                          <p:val>
                                            <p:strVal val="#ppt_w*1.08"/>
                                          </p:val>
                                        </p:tav>
                                      </p:tavLst>
                                    </p:anim>
                                    <p:anim calcmode="lin" valueType="num">
                                      <p:cBhvr additive="base">
                                        <p:cTn id="70" dur="500" decel="100000" fill="hold"/>
                                        <p:tgtEl>
                                          <p:spTgt spid="126"/>
                                        </p:tgtEl>
                                        <p:attrNameLst>
                                          <p:attrName>ppt_h</p:attrName>
                                        </p:attrNameLst>
                                      </p:cBhvr>
                                      <p:tavLst>
                                        <p:tav tm="0">
                                          <p:val>
                                            <p:strVal val="#ppt_h*0.3"/>
                                          </p:val>
                                        </p:tav>
                                        <p:tav tm="100000">
                                          <p:val>
                                            <p:strVal val="#ppt_h*1.08"/>
                                          </p:val>
                                        </p:tav>
                                      </p:tavLst>
                                    </p:anim>
                                    <p:animEffect transition="in" filter="fade">
                                      <p:cBhvr>
                                        <p:cTn id="71" dur="250"/>
                                        <p:tgtEl>
                                          <p:spTgt spid="126"/>
                                        </p:tgtEl>
                                      </p:cBhvr>
                                    </p:animEffect>
                                    <p:anim calcmode="lin" valueType="num">
                                      <p:cBhvr additive="base">
                                        <p:cTn id="72" dur="160" fill="hold">
                                          <p:stCondLst>
                                            <p:cond delay="500"/>
                                          </p:stCondLst>
                                        </p:cTn>
                                        <p:tgtEl>
                                          <p:spTgt spid="126"/>
                                        </p:tgtEl>
                                        <p:attrNameLst>
                                          <p:attrName>ppt_w</p:attrName>
                                        </p:attrNameLst>
                                      </p:cBhvr>
                                      <p:tavLst>
                                        <p:tav tm="0">
                                          <p:val>
                                            <p:strVal val="#ppt_w*1.08"/>
                                          </p:val>
                                        </p:tav>
                                        <p:tav tm="100000">
                                          <p:val>
                                            <p:strVal val="#ppt_w"/>
                                          </p:val>
                                        </p:tav>
                                      </p:tavLst>
                                    </p:anim>
                                    <p:anim calcmode="lin" valueType="num">
                                      <p:cBhvr additive="base">
                                        <p:cTn id="73" dur="160" fill="hold">
                                          <p:stCondLst>
                                            <p:cond delay="500"/>
                                          </p:stCondLst>
                                        </p:cTn>
                                        <p:tgtEl>
                                          <p:spTgt spid="126"/>
                                        </p:tgtEl>
                                        <p:attrNameLst>
                                          <p:attrName>ppt_h</p:attrName>
                                        </p:attrNameLst>
                                      </p:cBhvr>
                                      <p:tavLst>
                                        <p:tav tm="0">
                                          <p:val>
                                            <p:strVal val="#ppt_h*1.08"/>
                                          </p:val>
                                        </p:tav>
                                        <p:tav tm="100000">
                                          <p:val>
                                            <p:strVal val="#ppt_h"/>
                                          </p:val>
                                        </p:tav>
                                      </p:tavLst>
                                    </p:anim>
                                  </p:childTnLst>
                                </p:cTn>
                              </p:par>
                              <p:par>
                                <p:cTn id="74" presetID="42" presetClass="entr" presetSubtype="0" fill="hold" grpId="0" nodeType="withEffect">
                                  <p:stCondLst>
                                    <p:cond delay="150"/>
                                  </p:stCondLst>
                                  <p:childTnLst>
                                    <p:set>
                                      <p:cBhvr>
                                        <p:cTn id="75" dur="1" fill="hold">
                                          <p:stCondLst>
                                            <p:cond delay="0"/>
                                          </p:stCondLst>
                                        </p:cTn>
                                        <p:tgtEl>
                                          <p:spTgt spid="116"/>
                                        </p:tgtEl>
                                        <p:attrNameLst>
                                          <p:attrName>style.visibility</p:attrName>
                                        </p:attrNameLst>
                                      </p:cBhvr>
                                      <p:to>
                                        <p:strVal val="visible"/>
                                      </p:to>
                                    </p:set>
                                    <p:animEffect transition="in" filter="fade">
                                      <p:cBhvr>
                                        <p:cTn id="76" dur="500"/>
                                        <p:tgtEl>
                                          <p:spTgt spid="116"/>
                                        </p:tgtEl>
                                      </p:cBhvr>
                                    </p:animEffect>
                                    <p:anim calcmode="lin" valueType="num">
                                      <p:cBhvr additive="base">
                                        <p:cTn id="77"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78" fill="hold">
                      <p:stCondLst>
                        <p:cond delay="indefinite"/>
                      </p:stCondLst>
                      <p:childTnLst>
                        <p:par>
                          <p:cTn id="79" fill="hold">
                            <p:stCondLst>
                              <p:cond delay="0"/>
                            </p:stCondLst>
                            <p:childTnLst>
                              <p:par>
                                <p:cTn id="80" presetID="53" presetClass="entr" presetSubtype="16" fill="hold" grpId="0" nodeType="clickEffect">
                                  <p:stCondLst>
                                    <p:cond delay="0"/>
                                  </p:stCondLst>
                                  <p:childTnLst>
                                    <p:set>
                                      <p:cBhvr>
                                        <p:cTn id="81" dur="1" fill="hold">
                                          <p:stCondLst>
                                            <p:cond delay="0"/>
                                          </p:stCondLst>
                                        </p:cTn>
                                        <p:tgtEl>
                                          <p:spTgt spid="127"/>
                                        </p:tgtEl>
                                        <p:attrNameLst>
                                          <p:attrName>style.visibility</p:attrName>
                                        </p:attrNameLst>
                                      </p:cBhvr>
                                      <p:to>
                                        <p:strVal val="visible"/>
                                      </p:to>
                                    </p:set>
                                    <p:anim calcmode="lin" valueType="num">
                                      <p:cBhvr additive="base">
                                        <p:cTn id="82" dur="500" decel="100000" fill="hold"/>
                                        <p:tgtEl>
                                          <p:spTgt spid="127"/>
                                        </p:tgtEl>
                                        <p:attrNameLst>
                                          <p:attrName>ppt_w</p:attrName>
                                        </p:attrNameLst>
                                      </p:cBhvr>
                                      <p:tavLst>
                                        <p:tav tm="0">
                                          <p:val>
                                            <p:strVal val="#ppt_w*0.3"/>
                                          </p:val>
                                        </p:tav>
                                        <p:tav tm="100000">
                                          <p:val>
                                            <p:strVal val="#ppt_w*1.08"/>
                                          </p:val>
                                        </p:tav>
                                      </p:tavLst>
                                    </p:anim>
                                    <p:anim calcmode="lin" valueType="num">
                                      <p:cBhvr additive="base">
                                        <p:cTn id="83" dur="500" decel="100000" fill="hold"/>
                                        <p:tgtEl>
                                          <p:spTgt spid="127"/>
                                        </p:tgtEl>
                                        <p:attrNameLst>
                                          <p:attrName>ppt_h</p:attrName>
                                        </p:attrNameLst>
                                      </p:cBhvr>
                                      <p:tavLst>
                                        <p:tav tm="0">
                                          <p:val>
                                            <p:strVal val="#ppt_h*0.3"/>
                                          </p:val>
                                        </p:tav>
                                        <p:tav tm="100000">
                                          <p:val>
                                            <p:strVal val="#ppt_h*1.08"/>
                                          </p:val>
                                        </p:tav>
                                      </p:tavLst>
                                    </p:anim>
                                    <p:animEffect transition="in" filter="fade">
                                      <p:cBhvr>
                                        <p:cTn id="84" dur="250"/>
                                        <p:tgtEl>
                                          <p:spTgt spid="127"/>
                                        </p:tgtEl>
                                      </p:cBhvr>
                                    </p:animEffect>
                                    <p:anim calcmode="lin" valueType="num">
                                      <p:cBhvr additive="base">
                                        <p:cTn id="85" dur="160" fill="hold">
                                          <p:stCondLst>
                                            <p:cond delay="500"/>
                                          </p:stCondLst>
                                        </p:cTn>
                                        <p:tgtEl>
                                          <p:spTgt spid="127"/>
                                        </p:tgtEl>
                                        <p:attrNameLst>
                                          <p:attrName>ppt_w</p:attrName>
                                        </p:attrNameLst>
                                      </p:cBhvr>
                                      <p:tavLst>
                                        <p:tav tm="0">
                                          <p:val>
                                            <p:strVal val="#ppt_w*1.08"/>
                                          </p:val>
                                        </p:tav>
                                        <p:tav tm="100000">
                                          <p:val>
                                            <p:strVal val="#ppt_w"/>
                                          </p:val>
                                        </p:tav>
                                      </p:tavLst>
                                    </p:anim>
                                    <p:anim calcmode="lin" valueType="num">
                                      <p:cBhvr additive="base">
                                        <p:cTn id="86" dur="160" fill="hold">
                                          <p:stCondLst>
                                            <p:cond delay="500"/>
                                          </p:stCondLst>
                                        </p:cTn>
                                        <p:tgtEl>
                                          <p:spTgt spid="127"/>
                                        </p:tgtEl>
                                        <p:attrNameLst>
                                          <p:attrName>ppt_h</p:attrName>
                                        </p:attrNameLst>
                                      </p:cBhvr>
                                      <p:tavLst>
                                        <p:tav tm="0">
                                          <p:val>
                                            <p:strVal val="#ppt_h*1.08"/>
                                          </p:val>
                                        </p:tav>
                                        <p:tav tm="100000">
                                          <p:val>
                                            <p:strVal val="#ppt_h"/>
                                          </p:val>
                                        </p:tav>
                                      </p:tavLst>
                                    </p:anim>
                                  </p:childTnLst>
                                </p:cTn>
                              </p:par>
                              <p:par>
                                <p:cTn id="87" presetID="42" presetClass="entr" presetSubtype="0" fill="hold" grpId="0" nodeType="withEffect">
                                  <p:stCondLst>
                                    <p:cond delay="150"/>
                                  </p:stCondLst>
                                  <p:childTnLst>
                                    <p:set>
                                      <p:cBhvr>
                                        <p:cTn id="88" dur="1" fill="hold">
                                          <p:stCondLst>
                                            <p:cond delay="0"/>
                                          </p:stCondLst>
                                        </p:cTn>
                                        <p:tgtEl>
                                          <p:spTgt spid="117"/>
                                        </p:tgtEl>
                                        <p:attrNameLst>
                                          <p:attrName>style.visibility</p:attrName>
                                        </p:attrNameLst>
                                      </p:cBhvr>
                                      <p:to>
                                        <p:strVal val="visible"/>
                                      </p:to>
                                    </p:set>
                                    <p:animEffect transition="in" filter="fade">
                                      <p:cBhvr>
                                        <p:cTn id="89" dur="500"/>
                                        <p:tgtEl>
                                          <p:spTgt spid="117"/>
                                        </p:tgtEl>
                                      </p:cBhvr>
                                    </p:animEffect>
                                    <p:anim calcmode="lin" valueType="num">
                                      <p:cBhvr additive="base">
                                        <p:cTn id="90" dur="500" decel="100000" fill="hold"/>
                                        <p:tgtEl>
                                          <p:spTgt spid="117"/>
                                        </p:tgtEl>
                                        <p:attrNameLst>
                                          <p:attrName>ppt_y</p:attrName>
                                        </p:attrNameLst>
                                      </p:cBhvr>
                                      <p:tavLst>
                                        <p:tav tm="0">
                                          <p:val>
                                            <p:strVal val="#ppt_y+0.06"/>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53" presetClass="entr" presetSubtype="16" fill="hold" grpId="0" nodeType="clickEffect">
                                  <p:stCondLst>
                                    <p:cond delay="0"/>
                                  </p:stCondLst>
                                  <p:childTnLst>
                                    <p:set>
                                      <p:cBhvr>
                                        <p:cTn id="94" dur="1" fill="hold">
                                          <p:stCondLst>
                                            <p:cond delay="0"/>
                                          </p:stCondLst>
                                        </p:cTn>
                                        <p:tgtEl>
                                          <p:spTgt spid="128"/>
                                        </p:tgtEl>
                                        <p:attrNameLst>
                                          <p:attrName>style.visibility</p:attrName>
                                        </p:attrNameLst>
                                      </p:cBhvr>
                                      <p:to>
                                        <p:strVal val="visible"/>
                                      </p:to>
                                    </p:set>
                                    <p:anim calcmode="lin" valueType="num">
                                      <p:cBhvr additive="base">
                                        <p:cTn id="95" dur="500" decel="100000" fill="hold"/>
                                        <p:tgtEl>
                                          <p:spTgt spid="128"/>
                                        </p:tgtEl>
                                        <p:attrNameLst>
                                          <p:attrName>ppt_w</p:attrName>
                                        </p:attrNameLst>
                                      </p:cBhvr>
                                      <p:tavLst>
                                        <p:tav tm="0">
                                          <p:val>
                                            <p:strVal val="#ppt_w*0.3"/>
                                          </p:val>
                                        </p:tav>
                                        <p:tav tm="100000">
                                          <p:val>
                                            <p:strVal val="#ppt_w*1.08"/>
                                          </p:val>
                                        </p:tav>
                                      </p:tavLst>
                                    </p:anim>
                                    <p:anim calcmode="lin" valueType="num">
                                      <p:cBhvr additive="base">
                                        <p:cTn id="96" dur="500" decel="100000" fill="hold"/>
                                        <p:tgtEl>
                                          <p:spTgt spid="128"/>
                                        </p:tgtEl>
                                        <p:attrNameLst>
                                          <p:attrName>ppt_h</p:attrName>
                                        </p:attrNameLst>
                                      </p:cBhvr>
                                      <p:tavLst>
                                        <p:tav tm="0">
                                          <p:val>
                                            <p:strVal val="#ppt_h*0.3"/>
                                          </p:val>
                                        </p:tav>
                                        <p:tav tm="100000">
                                          <p:val>
                                            <p:strVal val="#ppt_h*1.08"/>
                                          </p:val>
                                        </p:tav>
                                      </p:tavLst>
                                    </p:anim>
                                    <p:animEffect transition="in" filter="fade">
                                      <p:cBhvr>
                                        <p:cTn id="97" dur="250"/>
                                        <p:tgtEl>
                                          <p:spTgt spid="128"/>
                                        </p:tgtEl>
                                      </p:cBhvr>
                                    </p:animEffect>
                                    <p:anim calcmode="lin" valueType="num">
                                      <p:cBhvr additive="base">
                                        <p:cTn id="98" dur="160" fill="hold">
                                          <p:stCondLst>
                                            <p:cond delay="500"/>
                                          </p:stCondLst>
                                        </p:cTn>
                                        <p:tgtEl>
                                          <p:spTgt spid="128"/>
                                        </p:tgtEl>
                                        <p:attrNameLst>
                                          <p:attrName>ppt_w</p:attrName>
                                        </p:attrNameLst>
                                      </p:cBhvr>
                                      <p:tavLst>
                                        <p:tav tm="0">
                                          <p:val>
                                            <p:strVal val="#ppt_w*1.08"/>
                                          </p:val>
                                        </p:tav>
                                        <p:tav tm="100000">
                                          <p:val>
                                            <p:strVal val="#ppt_w"/>
                                          </p:val>
                                        </p:tav>
                                      </p:tavLst>
                                    </p:anim>
                                    <p:anim calcmode="lin" valueType="num">
                                      <p:cBhvr additive="base">
                                        <p:cTn id="99" dur="160" fill="hold">
                                          <p:stCondLst>
                                            <p:cond delay="500"/>
                                          </p:stCondLst>
                                        </p:cTn>
                                        <p:tgtEl>
                                          <p:spTgt spid="128"/>
                                        </p:tgtEl>
                                        <p:attrNameLst>
                                          <p:attrName>ppt_h</p:attrName>
                                        </p:attrNameLst>
                                      </p:cBhvr>
                                      <p:tavLst>
                                        <p:tav tm="0">
                                          <p:val>
                                            <p:strVal val="#ppt_h*1.08"/>
                                          </p:val>
                                        </p:tav>
                                        <p:tav tm="100000">
                                          <p:val>
                                            <p:strVal val="#ppt_h"/>
                                          </p:val>
                                        </p:tav>
                                      </p:tavLst>
                                    </p:anim>
                                  </p:childTnLst>
                                </p:cTn>
                              </p:par>
                              <p:par>
                                <p:cTn id="100" presetID="42" presetClass="entr" presetSubtype="0" fill="hold" grpId="0" nodeType="withEffect">
                                  <p:stCondLst>
                                    <p:cond delay="150"/>
                                  </p:stCondLst>
                                  <p:childTnLst>
                                    <p:set>
                                      <p:cBhvr>
                                        <p:cTn id="101" dur="1" fill="hold">
                                          <p:stCondLst>
                                            <p:cond delay="0"/>
                                          </p:stCondLst>
                                        </p:cTn>
                                        <p:tgtEl>
                                          <p:spTgt spid="118"/>
                                        </p:tgtEl>
                                        <p:attrNameLst>
                                          <p:attrName>style.visibility</p:attrName>
                                        </p:attrNameLst>
                                      </p:cBhvr>
                                      <p:to>
                                        <p:strVal val="visible"/>
                                      </p:to>
                                    </p:set>
                                    <p:animEffect transition="in" filter="fade">
                                      <p:cBhvr>
                                        <p:cTn id="102" dur="500"/>
                                        <p:tgtEl>
                                          <p:spTgt spid="118"/>
                                        </p:tgtEl>
                                      </p:cBhvr>
                                    </p:animEffect>
                                    <p:anim calcmode="lin" valueType="num">
                                      <p:cBhvr additive="base">
                                        <p:cTn id="103" dur="500" decel="100000" fill="hold"/>
                                        <p:tgtEl>
                                          <p:spTgt spid="118"/>
                                        </p:tgtEl>
                                        <p:attrNameLst>
                                          <p:attrName>ppt_y</p:attrName>
                                        </p:attrNameLst>
                                      </p:cBhvr>
                                      <p:tavLst>
                                        <p:tav tm="0">
                                          <p:val>
                                            <p:strVal val="#ppt_y+0.06"/>
                                          </p:val>
                                        </p:tav>
                                        <p:tav tm="100000">
                                          <p:val>
                                            <p:strVal val="#ppt_y"/>
                                          </p:val>
                                        </p:tav>
                                      </p:tavLst>
                                    </p:anim>
                                  </p:childTnLst>
                                </p:cTn>
                              </p:par>
                            </p:childTnLst>
                          </p:cTn>
                        </p:par>
                      </p:childTnLst>
                    </p:cTn>
                  </p:par>
                  <p:par>
                    <p:cTn id="104" fill="hold">
                      <p:stCondLst>
                        <p:cond delay="indefinite"/>
                      </p:stCondLst>
                      <p:childTnLst>
                        <p:par>
                          <p:cTn id="105" fill="hold">
                            <p:stCondLst>
                              <p:cond delay="0"/>
                            </p:stCondLst>
                            <p:childTnLst>
                              <p:par>
                                <p:cTn id="106" presetID="42" presetClass="entr" presetSubtype="0" fill="hold" grpId="0" nodeType="clickEffect">
                                  <p:stCondLst>
                                    <p:cond delay="0"/>
                                  </p:stCondLst>
                                  <p:childTnLst>
                                    <p:set>
                                      <p:cBhvr>
                                        <p:cTn id="107" dur="1" fill="hold">
                                          <p:stCondLst>
                                            <p:cond delay="0"/>
                                          </p:stCondLst>
                                        </p:cTn>
                                        <p:tgtEl>
                                          <p:spTgt spid="119"/>
                                        </p:tgtEl>
                                        <p:attrNameLst>
                                          <p:attrName>style.visibility</p:attrName>
                                        </p:attrNameLst>
                                      </p:cBhvr>
                                      <p:to>
                                        <p:strVal val="visible"/>
                                      </p:to>
                                    </p:set>
                                    <p:animEffect transition="in" filter="fade">
                                      <p:cBhvr>
                                        <p:cTn id="108" dur="500"/>
                                        <p:tgtEl>
                                          <p:spTgt spid="119"/>
                                        </p:tgtEl>
                                      </p:cBhvr>
                                    </p:animEffect>
                                    <p:anim calcmode="lin" valueType="num">
                                      <p:cBhvr additive="base">
                                        <p:cTn id="109" dur="500" decel="100000" fill="hold"/>
                                        <p:tgtEl>
                                          <p:spTgt spid="119"/>
                                        </p:tgtEl>
                                        <p:attrNameLst>
                                          <p:attrName>ppt_y</p:attrName>
                                        </p:attrNameLst>
                                      </p:cBhvr>
                                      <p:tavLst>
                                        <p:tav tm="0">
                                          <p:val>
                                            <p:strVal val="#ppt_y+0.06"/>
                                          </p:val>
                                        </p:tav>
                                        <p:tav tm="100000">
                                          <p:val>
                                            <p:strVal val="#ppt_y"/>
                                          </p:val>
                                        </p:tav>
                                      </p:tavLst>
                                    </p:anim>
                                  </p:childTnLst>
                                </p:cTn>
                              </p:par>
                              <p:par>
                                <p:cTn id="110" presetID="42" presetClass="entr" presetSubtype="0" fill="hold" grpId="0" nodeType="withEffect">
                                  <p:stCondLst>
                                    <p:cond delay="0"/>
                                  </p:stCondLst>
                                  <p:childTnLst>
                                    <p:set>
                                      <p:cBhvr>
                                        <p:cTn id="111" dur="1" fill="hold">
                                          <p:stCondLst>
                                            <p:cond delay="0"/>
                                          </p:stCondLst>
                                        </p:cTn>
                                        <p:tgtEl>
                                          <p:spTgt spid="120"/>
                                        </p:tgtEl>
                                        <p:attrNameLst>
                                          <p:attrName>style.visibility</p:attrName>
                                        </p:attrNameLst>
                                      </p:cBhvr>
                                      <p:to>
                                        <p:strVal val="visible"/>
                                      </p:to>
                                    </p:set>
                                    <p:animEffect transition="in" filter="fade">
                                      <p:cBhvr>
                                        <p:cTn id="112" dur="500"/>
                                        <p:tgtEl>
                                          <p:spTgt spid="120"/>
                                        </p:tgtEl>
                                      </p:cBhvr>
                                    </p:animEffect>
                                    <p:anim calcmode="lin" valueType="num">
                                      <p:cBhvr additive="base">
                                        <p:cTn id="113" dur="500" decel="100000" fill="hold"/>
                                        <p:tgtEl>
                                          <p:spTgt spid="120"/>
                                        </p:tgtEl>
                                        <p:attrNameLst>
                                          <p:attrName>ppt_y</p:attrName>
                                        </p:attrNameLst>
                                      </p:cBhvr>
                                      <p:tavLst>
                                        <p:tav tm="0">
                                          <p:val>
                                            <p:strVal val="#ppt_y+0.06"/>
                                          </p:val>
                                        </p:tav>
                                        <p:tav tm="100000">
                                          <p:val>
                                            <p:strVal val="#ppt_y"/>
                                          </p:val>
                                        </p:tav>
                                      </p:tavLst>
                                    </p:anim>
                                  </p:childTnLst>
                                </p:cTn>
                              </p:par>
                              <p:par>
                                <p:cTn id="114" presetID="42" presetClass="entr" presetSubtype="0" fill="hold" grpId="0" nodeType="withEffect">
                                  <p:stCondLst>
                                    <p:cond delay="0"/>
                                  </p:stCondLst>
                                  <p:childTnLst>
                                    <p:set>
                                      <p:cBhvr>
                                        <p:cTn id="115" dur="1" fill="hold">
                                          <p:stCondLst>
                                            <p:cond delay="0"/>
                                          </p:stCondLst>
                                        </p:cTn>
                                        <p:tgtEl>
                                          <p:spTgt spid="121"/>
                                        </p:tgtEl>
                                        <p:attrNameLst>
                                          <p:attrName>style.visibility</p:attrName>
                                        </p:attrNameLst>
                                      </p:cBhvr>
                                      <p:to>
                                        <p:strVal val="visible"/>
                                      </p:to>
                                    </p:set>
                                    <p:animEffect transition="in" filter="fade">
                                      <p:cBhvr>
                                        <p:cTn id="116" dur="500"/>
                                        <p:tgtEl>
                                          <p:spTgt spid="121"/>
                                        </p:tgtEl>
                                      </p:cBhvr>
                                    </p:animEffect>
                                    <p:anim calcmode="lin" valueType="num">
                                      <p:cBhvr additive="base">
                                        <p:cTn id="117" dur="500" decel="100000" fill="hold"/>
                                        <p:tgtEl>
                                          <p:spTgt spid="121"/>
                                        </p:tgtEl>
                                        <p:attrNameLst>
                                          <p:attrName>ppt_y</p:attrName>
                                        </p:attrNameLst>
                                      </p:cBhvr>
                                      <p:tavLst>
                                        <p:tav tm="0">
                                          <p:val>
                                            <p:strVal val="#ppt_y+0.06"/>
                                          </p:val>
                                        </p:tav>
                                        <p:tav tm="100000">
                                          <p:val>
                                            <p:strVal val="#ppt_y"/>
                                          </p:val>
                                        </p:tav>
                                      </p:tavLst>
                                    </p:anim>
                                  </p:childTnLst>
                                </p:cTn>
                              </p:par>
                              <p:par>
                                <p:cTn id="118" presetID="42" presetClass="entr" presetSubtype="0" fill="hold" grpId="0" nodeType="withEffect">
                                  <p:stCondLst>
                                    <p:cond delay="0"/>
                                  </p:stCondLst>
                                  <p:childTnLst>
                                    <p:set>
                                      <p:cBhvr>
                                        <p:cTn id="119" dur="1" fill="hold">
                                          <p:stCondLst>
                                            <p:cond delay="0"/>
                                          </p:stCondLst>
                                        </p:cTn>
                                        <p:tgtEl>
                                          <p:spTgt spid="122"/>
                                        </p:tgtEl>
                                        <p:attrNameLst>
                                          <p:attrName>style.visibility</p:attrName>
                                        </p:attrNameLst>
                                      </p:cBhvr>
                                      <p:to>
                                        <p:strVal val="visible"/>
                                      </p:to>
                                    </p:set>
                                    <p:animEffect transition="in" filter="fade">
                                      <p:cBhvr>
                                        <p:cTn id="120" dur="500"/>
                                        <p:tgtEl>
                                          <p:spTgt spid="122"/>
                                        </p:tgtEl>
                                      </p:cBhvr>
                                    </p:animEffect>
                                    <p:anim calcmode="lin" valueType="num">
                                      <p:cBhvr additive="base">
                                        <p:cTn id="121" dur="500" decel="100000" fill="hold"/>
                                        <p:tgtEl>
                                          <p:spTgt spid="122"/>
                                        </p:tgtEl>
                                        <p:attrNameLst>
                                          <p:attrName>ppt_y</p:attrName>
                                        </p:attrNameLst>
                                      </p:cBhvr>
                                      <p:tavLst>
                                        <p:tav tm="0">
                                          <p:val>
                                            <p:strVal val="#ppt_y+0.06"/>
                                          </p:val>
                                        </p:tav>
                                        <p:tav tm="100000">
                                          <p:val>
                                            <p:strVal val="#ppt_y"/>
                                          </p:val>
                                        </p:tav>
                                      </p:tavLst>
                                    </p:anim>
                                  </p:childTnLst>
                                </p:cTn>
                              </p:par>
                              <p:par>
                                <p:cTn id="122" presetID="42" presetClass="entr" presetSubtype="0" fill="hold" grpId="0" nodeType="withEffect">
                                  <p:stCondLst>
                                    <p:cond delay="0"/>
                                  </p:stCondLst>
                                  <p:childTnLst>
                                    <p:set>
                                      <p:cBhvr>
                                        <p:cTn id="123" dur="1" fill="hold">
                                          <p:stCondLst>
                                            <p:cond delay="0"/>
                                          </p:stCondLst>
                                        </p:cTn>
                                        <p:tgtEl>
                                          <p:spTgt spid="123"/>
                                        </p:tgtEl>
                                        <p:attrNameLst>
                                          <p:attrName>style.visibility</p:attrName>
                                        </p:attrNameLst>
                                      </p:cBhvr>
                                      <p:to>
                                        <p:strVal val="visible"/>
                                      </p:to>
                                    </p:set>
                                    <p:animEffect transition="in" filter="fade">
                                      <p:cBhvr>
                                        <p:cTn id="124" dur="500"/>
                                        <p:tgtEl>
                                          <p:spTgt spid="123"/>
                                        </p:tgtEl>
                                      </p:cBhvr>
                                    </p:animEffect>
                                    <p:anim calcmode="lin" valueType="num">
                                      <p:cBhvr additive="base">
                                        <p:cTn id="125" dur="500" decel="100000" fill="hold"/>
                                        <p:tgtEl>
                                          <p:spTgt spid="123"/>
                                        </p:tgtEl>
                                        <p:attrNameLst>
                                          <p:attrName>ppt_y</p:attrName>
                                        </p:attrNameLst>
                                      </p:cBhvr>
                                      <p:tavLst>
                                        <p:tav tm="0">
                                          <p:val>
                                            <p:strVal val="#ppt_y+0.06"/>
                                          </p:val>
                                        </p:tav>
                                        <p:tav tm="100000">
                                          <p:val>
                                            <p:strVal val="#ppt_y"/>
                                          </p:val>
                                        </p:tav>
                                      </p:tavLst>
                                    </p:anim>
                                  </p:childTnLst>
                                </p:cTn>
                              </p:par>
                              <p:par>
                                <p:cTn id="126" presetID="42" presetClass="entr" presetSubtype="0" fill="hold" nodeType="withEffect">
                                  <p:stCondLst>
                                    <p:cond delay="0"/>
                                  </p:stCondLst>
                                  <p:childTnLst>
                                    <p:set>
                                      <p:cBhvr>
                                        <p:cTn id="127" dur="1" fill="hold">
                                          <p:stCondLst>
                                            <p:cond delay="0"/>
                                          </p:stCondLst>
                                        </p:cTn>
                                        <p:tgtEl>
                                          <p:spTgt spid="124"/>
                                        </p:tgtEl>
                                        <p:attrNameLst>
                                          <p:attrName>style.visibility</p:attrName>
                                        </p:attrNameLst>
                                      </p:cBhvr>
                                      <p:to>
                                        <p:strVal val="visible"/>
                                      </p:to>
                                    </p:set>
                                    <p:animEffect transition="in" filter="fade">
                                      <p:cBhvr>
                                        <p:cTn id="128" dur="500"/>
                                        <p:tgtEl>
                                          <p:spTgt spid="124"/>
                                        </p:tgtEl>
                                      </p:cBhvr>
                                    </p:animEffect>
                                    <p:anim calcmode="lin" valueType="num">
                                      <p:cBhvr additive="base">
                                        <p:cTn id="129" dur="500" decel="100000" fill="hold"/>
                                        <p:tgtEl>
                                          <p:spTgt spid="124"/>
                                        </p:tgtEl>
                                        <p:attrNameLst>
                                          <p:attrName>ppt_y</p:attrName>
                                        </p:attrNameLst>
                                      </p:cBhvr>
                                      <p:tavLst>
                                        <p:tav tm="0">
                                          <p:val>
                                            <p:strVal val="#ppt_y+0.06"/>
                                          </p:val>
                                        </p:tav>
                                        <p:tav tm="100000">
                                          <p:val>
                                            <p:strVal val="#ppt_y"/>
                                          </p:val>
                                        </p:tav>
                                      </p:tavLst>
                                    </p:anim>
                                  </p:childTnLst>
                                </p:cTn>
                              </p:par>
                              <p:par>
                                <p:cTn id="130" presetID="42" presetClass="entr" presetSubtype="0" fill="hold" grpId="0" nodeType="withEffect">
                                  <p:stCondLst>
                                    <p:cond delay="0"/>
                                  </p:stCondLst>
                                  <p:childTnLst>
                                    <p:set>
                                      <p:cBhvr>
                                        <p:cTn id="131" dur="1" fill="hold">
                                          <p:stCondLst>
                                            <p:cond delay="0"/>
                                          </p:stCondLst>
                                        </p:cTn>
                                        <p:tgtEl>
                                          <p:spTgt spid="125"/>
                                        </p:tgtEl>
                                        <p:attrNameLst>
                                          <p:attrName>style.visibility</p:attrName>
                                        </p:attrNameLst>
                                      </p:cBhvr>
                                      <p:to>
                                        <p:strVal val="visible"/>
                                      </p:to>
                                    </p:set>
                                    <p:animEffect transition="in" filter="fade">
                                      <p:cBhvr>
                                        <p:cTn id="132" dur="500"/>
                                        <p:tgtEl>
                                          <p:spTgt spid="125"/>
                                        </p:tgtEl>
                                      </p:cBhvr>
                                    </p:animEffect>
                                    <p:anim calcmode="lin" valueType="num">
                                      <p:cBhvr additive="base">
                                        <p:cTn id="133" dur="500" decel="100000" fill="hold"/>
                                        <p:tgtEl>
                                          <p:spTgt spid="125"/>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5" grpId="0" animBg="1"/>
      <p:bldP spid="126" grpId="0" animBg="1"/>
      <p:bldP spid="127" grpId="0" animBg="1"/>
      <p:bldP spid="128"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GOOD TESTS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Good Tests Are FIRST</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FIRST TEST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122</a:t>
            </a:r>
            <a:endParaRPr lang="en-US" sz="850" dirty="0"/>
          </a:p>
        </p:txBody>
      </p:sp>
      <p:sp>
        <p:nvSpPr>
          <p:cNvPr id="101" name="s101"/>
          <p:cNvSpPr/>
          <p:nvPr/>
        </p:nvSpPr>
        <p:spPr>
          <a:xfrm>
            <a:off x="543154" y="1828800"/>
            <a:ext cx="2071299" cy="3291840"/>
          </a:xfrm>
          <a:prstGeom prst="roundRect">
            <a:avLst>
              <a:gd name="adj" fmla="val 9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02" name="s102"/>
          <p:cNvSpPr txBox="1"/>
          <p:nvPr/>
        </p:nvSpPr>
        <p:spPr>
          <a:xfrm>
            <a:off x="543154" y="2011680"/>
            <a:ext cx="2071299" cy="109728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6000" b="1" dirty="0">
                <a:solidFill>
                  <a:srgbClr val="13D0F7"/>
                </a:solidFill>
                <a:latin typeface="Segoe UI"/>
                <a:ea typeface="Segoe UI"/>
                <a:cs typeface="Segoe UI"/>
              </a:rPr>
              <a:t>F</a:t>
            </a:r>
            <a:endParaRPr lang="en-US" sz="6000" dirty="0"/>
          </a:p>
        </p:txBody>
      </p:sp>
      <p:sp>
        <p:nvSpPr>
          <p:cNvPr id="103" name="s103"/>
          <p:cNvSpPr txBox="1"/>
          <p:nvPr/>
        </p:nvSpPr>
        <p:spPr>
          <a:xfrm>
            <a:off x="634594" y="3200400"/>
            <a:ext cx="1888419"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500" b="1" dirty="0">
                <a:solidFill>
                  <a:srgbClr val="FFFFFF"/>
                </a:solidFill>
                <a:latin typeface="Segoe UI"/>
                <a:ea typeface="Segoe UI"/>
                <a:cs typeface="Segoe UI"/>
              </a:rPr>
              <a:t>Fast</a:t>
            </a:r>
            <a:endParaRPr lang="en-US" sz="1500" dirty="0"/>
          </a:p>
        </p:txBody>
      </p:sp>
      <p:sp>
        <p:nvSpPr>
          <p:cNvPr id="104" name="s104"/>
          <p:cNvSpPr txBox="1"/>
          <p:nvPr/>
        </p:nvSpPr>
        <p:spPr>
          <a:xfrm>
            <a:off x="726034" y="3657600"/>
            <a:ext cx="1705539" cy="12801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0" dirty="0">
                <a:solidFill>
                  <a:srgbClr val="E2E8F0"/>
                </a:solidFill>
                <a:latin typeface="Segoe UI"/>
                <a:ea typeface="Segoe UI"/>
                <a:cs typeface="Segoe UI"/>
              </a:rPr>
              <a:t>Milliseconds. You run them hundreds of times a day.</a:t>
            </a:r>
            <a:endParaRPr lang="en-US" sz="1200" dirty="0"/>
          </a:p>
        </p:txBody>
      </p:sp>
      <p:sp>
        <p:nvSpPr>
          <p:cNvPr id="105" name="s105"/>
          <p:cNvSpPr/>
          <p:nvPr/>
        </p:nvSpPr>
        <p:spPr>
          <a:xfrm>
            <a:off x="2797332" y="1828800"/>
            <a:ext cx="2071299" cy="3291840"/>
          </a:xfrm>
          <a:prstGeom prst="roundRect">
            <a:avLst>
              <a:gd name="adj" fmla="val 9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06" name="s106"/>
          <p:cNvSpPr txBox="1"/>
          <p:nvPr/>
        </p:nvSpPr>
        <p:spPr>
          <a:xfrm>
            <a:off x="2797332" y="2011680"/>
            <a:ext cx="2071299" cy="109728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6000" b="1" dirty="0">
                <a:solidFill>
                  <a:srgbClr val="FBBF24"/>
                </a:solidFill>
                <a:latin typeface="Segoe UI"/>
                <a:ea typeface="Segoe UI"/>
                <a:cs typeface="Segoe UI"/>
              </a:rPr>
              <a:t>I</a:t>
            </a:r>
            <a:endParaRPr lang="en-US" sz="6000" dirty="0"/>
          </a:p>
        </p:txBody>
      </p:sp>
      <p:sp>
        <p:nvSpPr>
          <p:cNvPr id="107" name="s107"/>
          <p:cNvSpPr txBox="1"/>
          <p:nvPr/>
        </p:nvSpPr>
        <p:spPr>
          <a:xfrm>
            <a:off x="2888772" y="3200400"/>
            <a:ext cx="1888419"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500" b="1" dirty="0">
                <a:solidFill>
                  <a:srgbClr val="FFFFFF"/>
                </a:solidFill>
                <a:latin typeface="Segoe UI"/>
                <a:ea typeface="Segoe UI"/>
                <a:cs typeface="Segoe UI"/>
              </a:rPr>
              <a:t>Isolated</a:t>
            </a:r>
            <a:endParaRPr lang="en-US" sz="1500" dirty="0"/>
          </a:p>
        </p:txBody>
      </p:sp>
      <p:sp>
        <p:nvSpPr>
          <p:cNvPr id="108" name="s108"/>
          <p:cNvSpPr txBox="1"/>
          <p:nvPr/>
        </p:nvSpPr>
        <p:spPr>
          <a:xfrm>
            <a:off x="2980212" y="3657600"/>
            <a:ext cx="1705539" cy="12801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0" dirty="0">
                <a:solidFill>
                  <a:srgbClr val="E2E8F0"/>
                </a:solidFill>
                <a:latin typeface="Segoe UI"/>
                <a:ea typeface="Segoe UI"/>
                <a:cs typeface="Segoe UI"/>
              </a:rPr>
              <a:t>No test depends on another, or on the order they run. Also isolate from any external dependencies like database or network</a:t>
            </a:r>
            <a:endParaRPr lang="en-US" sz="1200" dirty="0"/>
          </a:p>
        </p:txBody>
      </p:sp>
      <p:sp>
        <p:nvSpPr>
          <p:cNvPr id="109" name="s109"/>
          <p:cNvSpPr/>
          <p:nvPr/>
        </p:nvSpPr>
        <p:spPr>
          <a:xfrm>
            <a:off x="5051511" y="1828800"/>
            <a:ext cx="2071299" cy="3291840"/>
          </a:xfrm>
          <a:prstGeom prst="roundRect">
            <a:avLst>
              <a:gd name="adj" fmla="val 9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10" name="s110"/>
          <p:cNvSpPr txBox="1"/>
          <p:nvPr/>
        </p:nvSpPr>
        <p:spPr>
          <a:xfrm>
            <a:off x="5051511" y="2011680"/>
            <a:ext cx="2071299" cy="109728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6000" b="1" dirty="0">
                <a:solidFill>
                  <a:srgbClr val="A78BFA"/>
                </a:solidFill>
                <a:latin typeface="Segoe UI"/>
                <a:ea typeface="Segoe UI"/>
                <a:cs typeface="Segoe UI"/>
              </a:rPr>
              <a:t>R</a:t>
            </a:r>
            <a:endParaRPr lang="en-US" sz="6000" dirty="0"/>
          </a:p>
        </p:txBody>
      </p:sp>
      <p:sp>
        <p:nvSpPr>
          <p:cNvPr id="111" name="s111"/>
          <p:cNvSpPr txBox="1"/>
          <p:nvPr/>
        </p:nvSpPr>
        <p:spPr>
          <a:xfrm>
            <a:off x="5142951" y="3200400"/>
            <a:ext cx="1888419"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500" b="1" dirty="0">
                <a:solidFill>
                  <a:srgbClr val="FFFFFF"/>
                </a:solidFill>
                <a:latin typeface="Segoe UI"/>
                <a:ea typeface="Segoe UI"/>
                <a:cs typeface="Segoe UI"/>
              </a:rPr>
              <a:t>Repeatable</a:t>
            </a:r>
            <a:endParaRPr lang="en-US" sz="1500" dirty="0"/>
          </a:p>
        </p:txBody>
      </p:sp>
      <p:sp>
        <p:nvSpPr>
          <p:cNvPr id="112" name="s112"/>
          <p:cNvSpPr txBox="1"/>
          <p:nvPr/>
        </p:nvSpPr>
        <p:spPr>
          <a:xfrm>
            <a:off x="5234391" y="3657600"/>
            <a:ext cx="1705539" cy="12801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0" dirty="0">
                <a:solidFill>
                  <a:srgbClr val="E2E8F0"/>
                </a:solidFill>
                <a:latin typeface="Segoe UI"/>
                <a:ea typeface="Segoe UI"/>
                <a:cs typeface="Segoe UI"/>
              </a:rPr>
              <a:t>Same result on every machine, at any time of day.</a:t>
            </a:r>
            <a:endParaRPr lang="en-US" sz="1200" dirty="0"/>
          </a:p>
        </p:txBody>
      </p:sp>
      <p:sp>
        <p:nvSpPr>
          <p:cNvPr id="113" name="s113"/>
          <p:cNvSpPr/>
          <p:nvPr/>
        </p:nvSpPr>
        <p:spPr>
          <a:xfrm>
            <a:off x="7305690" y="1828800"/>
            <a:ext cx="2071299" cy="3291840"/>
          </a:xfrm>
          <a:prstGeom prst="roundRect">
            <a:avLst>
              <a:gd name="adj" fmla="val 9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14" name="s114"/>
          <p:cNvSpPr txBox="1"/>
          <p:nvPr/>
        </p:nvSpPr>
        <p:spPr>
          <a:xfrm>
            <a:off x="7305690" y="2011680"/>
            <a:ext cx="2071299" cy="109728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6000" b="1" dirty="0">
                <a:solidFill>
                  <a:srgbClr val="34D399"/>
                </a:solidFill>
                <a:latin typeface="Segoe UI"/>
                <a:ea typeface="Segoe UI"/>
                <a:cs typeface="Segoe UI"/>
              </a:rPr>
              <a:t>S</a:t>
            </a:r>
            <a:endParaRPr lang="en-US" sz="6000" dirty="0"/>
          </a:p>
        </p:txBody>
      </p:sp>
      <p:sp>
        <p:nvSpPr>
          <p:cNvPr id="115" name="s115"/>
          <p:cNvSpPr txBox="1"/>
          <p:nvPr/>
        </p:nvSpPr>
        <p:spPr>
          <a:xfrm>
            <a:off x="7397130" y="3200400"/>
            <a:ext cx="1888419"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500" b="1" dirty="0">
                <a:solidFill>
                  <a:srgbClr val="FFFFFF"/>
                </a:solidFill>
                <a:latin typeface="Segoe UI"/>
                <a:ea typeface="Segoe UI"/>
                <a:cs typeface="Segoe UI"/>
              </a:rPr>
              <a:t>Self-checking</a:t>
            </a:r>
            <a:endParaRPr lang="en-US" sz="1500" dirty="0"/>
          </a:p>
        </p:txBody>
      </p:sp>
      <p:sp>
        <p:nvSpPr>
          <p:cNvPr id="116" name="s116"/>
          <p:cNvSpPr txBox="1"/>
          <p:nvPr/>
        </p:nvSpPr>
        <p:spPr>
          <a:xfrm>
            <a:off x="7488570" y="3657600"/>
            <a:ext cx="1705539" cy="12801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0" dirty="0">
                <a:solidFill>
                  <a:srgbClr val="E2E8F0"/>
                </a:solidFill>
                <a:latin typeface="Segoe UI"/>
                <a:ea typeface="Segoe UI"/>
                <a:cs typeface="Segoe UI"/>
              </a:rPr>
              <a:t>It asserts. Nobody reads the output by eye.</a:t>
            </a:r>
            <a:endParaRPr lang="en-US" sz="1200" dirty="0"/>
          </a:p>
        </p:txBody>
      </p:sp>
      <p:sp>
        <p:nvSpPr>
          <p:cNvPr id="117" name="s117"/>
          <p:cNvSpPr/>
          <p:nvPr/>
        </p:nvSpPr>
        <p:spPr>
          <a:xfrm>
            <a:off x="9559869" y="1828800"/>
            <a:ext cx="2071299" cy="3291840"/>
          </a:xfrm>
          <a:prstGeom prst="roundRect">
            <a:avLst>
              <a:gd name="adj" fmla="val 9000"/>
            </a:avLst>
          </a:prstGeom>
          <a:solidFill>
            <a:srgbClr val="111B2E"/>
          </a:solidFill>
          <a:ln w="12700">
            <a:solidFill>
              <a:srgbClr val="F472B6"/>
            </a:solidFill>
            <a:prstDash val="solid"/>
          </a:ln>
        </p:spPr>
        <p:txBody>
          <a:bodyPr wrap="square" lIns="164592" tIns="109728" rIns="137160" bIns="91440" rtlCol="0" anchor="t">
            <a:noAutofit/>
          </a:bodyPr>
          <a:lstStyle/>
          <a:p>
            <a:endParaRPr lang="en-US"/>
          </a:p>
        </p:txBody>
      </p:sp>
      <p:sp>
        <p:nvSpPr>
          <p:cNvPr id="118" name="s118"/>
          <p:cNvSpPr txBox="1"/>
          <p:nvPr/>
        </p:nvSpPr>
        <p:spPr>
          <a:xfrm>
            <a:off x="9559869" y="2011680"/>
            <a:ext cx="2071299" cy="109728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6000" b="1" dirty="0">
                <a:solidFill>
                  <a:srgbClr val="F472B6"/>
                </a:solidFill>
                <a:latin typeface="Segoe UI"/>
                <a:ea typeface="Segoe UI"/>
                <a:cs typeface="Segoe UI"/>
              </a:rPr>
              <a:t>T</a:t>
            </a:r>
            <a:endParaRPr lang="en-US" sz="6000" dirty="0"/>
          </a:p>
        </p:txBody>
      </p:sp>
      <p:sp>
        <p:nvSpPr>
          <p:cNvPr id="119" name="s119"/>
          <p:cNvSpPr txBox="1"/>
          <p:nvPr/>
        </p:nvSpPr>
        <p:spPr>
          <a:xfrm>
            <a:off x="9651309" y="3200400"/>
            <a:ext cx="1888419"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500" b="1" dirty="0">
                <a:solidFill>
                  <a:srgbClr val="FFFFFF"/>
                </a:solidFill>
                <a:latin typeface="Segoe UI"/>
                <a:ea typeface="Segoe UI"/>
                <a:cs typeface="Segoe UI"/>
              </a:rPr>
              <a:t>Timely</a:t>
            </a:r>
            <a:endParaRPr lang="en-US" sz="1500" dirty="0"/>
          </a:p>
        </p:txBody>
      </p:sp>
      <p:sp>
        <p:nvSpPr>
          <p:cNvPr id="120" name="s120"/>
          <p:cNvSpPr txBox="1"/>
          <p:nvPr/>
        </p:nvSpPr>
        <p:spPr>
          <a:xfrm>
            <a:off x="9742749" y="3657600"/>
            <a:ext cx="1705539" cy="12801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0" dirty="0">
                <a:solidFill>
                  <a:srgbClr val="E2E8F0"/>
                </a:solidFill>
                <a:latin typeface="Segoe UI"/>
                <a:ea typeface="Segoe UI"/>
                <a:cs typeface="Segoe UI"/>
              </a:rPr>
              <a:t>Written with the code, not months later.</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3" dur="500" decel="100000" fill="hold"/>
                                        <p:tgtEl>
                                          <p:spTgt spid="102"/>
                                        </p:tgtEl>
                                        <p:attrNameLst>
                                          <p:attrName>ppt_h</p:attrName>
                                        </p:attrNameLst>
                                      </p:cBhvr>
                                      <p:tavLst>
                                        <p:tav tm="0">
                                          <p:val>
                                            <p:strVal val="#ppt_h*0.55"/>
                                          </p:val>
                                        </p:tav>
                                        <p:tav tm="100000">
                                          <p:val>
                                            <p:strVal val="#ppt_h"/>
                                          </p:val>
                                        </p:tav>
                                      </p:tavLst>
                                    </p:anim>
                                    <p:animEffect transition="in" filter="fade">
                                      <p:cBhvr>
                                        <p:cTn id="14" dur="500"/>
                                        <p:tgtEl>
                                          <p:spTgt spid="10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03"/>
                                        </p:tgtEl>
                                        <p:attrNameLst>
                                          <p:attrName>style.visibility</p:attrName>
                                        </p:attrNameLst>
                                      </p:cBhvr>
                                      <p:to>
                                        <p:strVal val="visible"/>
                                      </p:to>
                                    </p:set>
                                    <p:anim calcmode="lin" valueType="num">
                                      <p:cBhvr additive="base">
                                        <p:cTn id="17"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8" dur="500" decel="100000" fill="hold"/>
                                        <p:tgtEl>
                                          <p:spTgt spid="103"/>
                                        </p:tgtEl>
                                        <p:attrNameLst>
                                          <p:attrName>ppt_h</p:attrName>
                                        </p:attrNameLst>
                                      </p:cBhvr>
                                      <p:tavLst>
                                        <p:tav tm="0">
                                          <p:val>
                                            <p:strVal val="#ppt_h*0.55"/>
                                          </p:val>
                                        </p:tav>
                                        <p:tav tm="100000">
                                          <p:val>
                                            <p:strVal val="#ppt_h"/>
                                          </p:val>
                                        </p:tav>
                                      </p:tavLst>
                                    </p:anim>
                                    <p:animEffect transition="in" filter="fade">
                                      <p:cBhvr>
                                        <p:cTn id="19" dur="500"/>
                                        <p:tgtEl>
                                          <p:spTgt spid="10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04"/>
                                        </p:tgtEl>
                                        <p:attrNameLst>
                                          <p:attrName>style.visibility</p:attrName>
                                        </p:attrNameLst>
                                      </p:cBhvr>
                                      <p:to>
                                        <p:strVal val="visible"/>
                                      </p:to>
                                    </p:set>
                                    <p:anim calcmode="lin" valueType="num">
                                      <p:cBhvr additive="base">
                                        <p:cTn id="22" dur="500" decel="100000" fill="hold"/>
                                        <p:tgtEl>
                                          <p:spTgt spid="104"/>
                                        </p:tgtEl>
                                        <p:attrNameLst>
                                          <p:attrName>ppt_w</p:attrName>
                                        </p:attrNameLst>
                                      </p:cBhvr>
                                      <p:tavLst>
                                        <p:tav tm="0">
                                          <p:val>
                                            <p:strVal val="#ppt_w*0.55"/>
                                          </p:val>
                                        </p:tav>
                                        <p:tav tm="100000">
                                          <p:val>
                                            <p:strVal val="#ppt_w"/>
                                          </p:val>
                                        </p:tav>
                                      </p:tavLst>
                                    </p:anim>
                                    <p:anim calcmode="lin" valueType="num">
                                      <p:cBhvr additive="base">
                                        <p:cTn id="23" dur="500" decel="100000" fill="hold"/>
                                        <p:tgtEl>
                                          <p:spTgt spid="104"/>
                                        </p:tgtEl>
                                        <p:attrNameLst>
                                          <p:attrName>ppt_h</p:attrName>
                                        </p:attrNameLst>
                                      </p:cBhvr>
                                      <p:tavLst>
                                        <p:tav tm="0">
                                          <p:val>
                                            <p:strVal val="#ppt_h*0.55"/>
                                          </p:val>
                                        </p:tav>
                                        <p:tav tm="100000">
                                          <p:val>
                                            <p:strVal val="#ppt_h"/>
                                          </p:val>
                                        </p:tav>
                                      </p:tavLst>
                                    </p:anim>
                                    <p:animEffect transition="in" filter="fade">
                                      <p:cBhvr>
                                        <p:cTn id="24" dur="500"/>
                                        <p:tgtEl>
                                          <p:spTgt spid="104"/>
                                        </p:tgtEl>
                                      </p:cBhvr>
                                    </p:animEffect>
                                  </p:childTnLst>
                                </p:cTn>
                              </p:par>
                              <p:par>
                                <p:cTn id="25" presetID="53" presetClass="entr" presetSubtype="16" fill="hold" grpId="0" nodeType="withEffect">
                                  <p:stCondLst>
                                    <p:cond delay="150"/>
                                  </p:stCondLst>
                                  <p:childTnLst>
                                    <p:set>
                                      <p:cBhvr>
                                        <p:cTn id="26" dur="1" fill="hold">
                                          <p:stCondLst>
                                            <p:cond delay="0"/>
                                          </p:stCondLst>
                                        </p:cTn>
                                        <p:tgtEl>
                                          <p:spTgt spid="105"/>
                                        </p:tgtEl>
                                        <p:attrNameLst>
                                          <p:attrName>style.visibility</p:attrName>
                                        </p:attrNameLst>
                                      </p:cBhvr>
                                      <p:to>
                                        <p:strVal val="visible"/>
                                      </p:to>
                                    </p:set>
                                    <p:anim calcmode="lin" valueType="num">
                                      <p:cBhvr additive="base">
                                        <p:cTn id="27" dur="5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28" dur="500" decel="100000" fill="hold"/>
                                        <p:tgtEl>
                                          <p:spTgt spid="105"/>
                                        </p:tgtEl>
                                        <p:attrNameLst>
                                          <p:attrName>ppt_h</p:attrName>
                                        </p:attrNameLst>
                                      </p:cBhvr>
                                      <p:tavLst>
                                        <p:tav tm="0">
                                          <p:val>
                                            <p:strVal val="#ppt_h*0.55"/>
                                          </p:val>
                                        </p:tav>
                                        <p:tav tm="100000">
                                          <p:val>
                                            <p:strVal val="#ppt_h"/>
                                          </p:val>
                                        </p:tav>
                                      </p:tavLst>
                                    </p:anim>
                                    <p:animEffect transition="in" filter="fade">
                                      <p:cBhvr>
                                        <p:cTn id="29" dur="500"/>
                                        <p:tgtEl>
                                          <p:spTgt spid="105"/>
                                        </p:tgtEl>
                                      </p:cBhvr>
                                    </p:animEffect>
                                  </p:childTnLst>
                                </p:cTn>
                              </p:par>
                              <p:par>
                                <p:cTn id="30" presetID="53" presetClass="entr" presetSubtype="16" fill="hold" grpId="0" nodeType="withEffect">
                                  <p:stCondLst>
                                    <p:cond delay="150"/>
                                  </p:stCondLst>
                                  <p:childTnLst>
                                    <p:set>
                                      <p:cBhvr>
                                        <p:cTn id="31" dur="1" fill="hold">
                                          <p:stCondLst>
                                            <p:cond delay="0"/>
                                          </p:stCondLst>
                                        </p:cTn>
                                        <p:tgtEl>
                                          <p:spTgt spid="106"/>
                                        </p:tgtEl>
                                        <p:attrNameLst>
                                          <p:attrName>style.visibility</p:attrName>
                                        </p:attrNameLst>
                                      </p:cBhvr>
                                      <p:to>
                                        <p:strVal val="visible"/>
                                      </p:to>
                                    </p:set>
                                    <p:anim calcmode="lin" valueType="num">
                                      <p:cBhvr additive="base">
                                        <p:cTn id="32"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33" dur="500" decel="100000" fill="hold"/>
                                        <p:tgtEl>
                                          <p:spTgt spid="106"/>
                                        </p:tgtEl>
                                        <p:attrNameLst>
                                          <p:attrName>ppt_h</p:attrName>
                                        </p:attrNameLst>
                                      </p:cBhvr>
                                      <p:tavLst>
                                        <p:tav tm="0">
                                          <p:val>
                                            <p:strVal val="#ppt_h*0.55"/>
                                          </p:val>
                                        </p:tav>
                                        <p:tav tm="100000">
                                          <p:val>
                                            <p:strVal val="#ppt_h"/>
                                          </p:val>
                                        </p:tav>
                                      </p:tavLst>
                                    </p:anim>
                                    <p:animEffect transition="in" filter="fade">
                                      <p:cBhvr>
                                        <p:cTn id="34" dur="500"/>
                                        <p:tgtEl>
                                          <p:spTgt spid="106"/>
                                        </p:tgtEl>
                                      </p:cBhvr>
                                    </p:animEffect>
                                  </p:childTnLst>
                                </p:cTn>
                              </p:par>
                              <p:par>
                                <p:cTn id="35" presetID="53" presetClass="entr" presetSubtype="16" fill="hold" grpId="0" nodeType="withEffect">
                                  <p:stCondLst>
                                    <p:cond delay="150"/>
                                  </p:stCondLst>
                                  <p:childTnLst>
                                    <p:set>
                                      <p:cBhvr>
                                        <p:cTn id="36" dur="1" fill="hold">
                                          <p:stCondLst>
                                            <p:cond delay="0"/>
                                          </p:stCondLst>
                                        </p:cTn>
                                        <p:tgtEl>
                                          <p:spTgt spid="107"/>
                                        </p:tgtEl>
                                        <p:attrNameLst>
                                          <p:attrName>style.visibility</p:attrName>
                                        </p:attrNameLst>
                                      </p:cBhvr>
                                      <p:to>
                                        <p:strVal val="visible"/>
                                      </p:to>
                                    </p:set>
                                    <p:anim calcmode="lin" valueType="num">
                                      <p:cBhvr additive="base">
                                        <p:cTn id="37"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8" dur="500" decel="100000" fill="hold"/>
                                        <p:tgtEl>
                                          <p:spTgt spid="107"/>
                                        </p:tgtEl>
                                        <p:attrNameLst>
                                          <p:attrName>ppt_h</p:attrName>
                                        </p:attrNameLst>
                                      </p:cBhvr>
                                      <p:tavLst>
                                        <p:tav tm="0">
                                          <p:val>
                                            <p:strVal val="#ppt_h*0.55"/>
                                          </p:val>
                                        </p:tav>
                                        <p:tav tm="100000">
                                          <p:val>
                                            <p:strVal val="#ppt_h"/>
                                          </p:val>
                                        </p:tav>
                                      </p:tavLst>
                                    </p:anim>
                                    <p:animEffect transition="in" filter="fade">
                                      <p:cBhvr>
                                        <p:cTn id="39" dur="500"/>
                                        <p:tgtEl>
                                          <p:spTgt spid="107"/>
                                        </p:tgtEl>
                                      </p:cBhvr>
                                    </p:animEffect>
                                  </p:childTnLst>
                                </p:cTn>
                              </p:par>
                              <p:par>
                                <p:cTn id="40" presetID="53" presetClass="entr" presetSubtype="16" fill="hold" grpId="0" nodeType="withEffect">
                                  <p:stCondLst>
                                    <p:cond delay="150"/>
                                  </p:stCondLst>
                                  <p:childTnLst>
                                    <p:set>
                                      <p:cBhvr>
                                        <p:cTn id="41" dur="1" fill="hold">
                                          <p:stCondLst>
                                            <p:cond delay="0"/>
                                          </p:stCondLst>
                                        </p:cTn>
                                        <p:tgtEl>
                                          <p:spTgt spid="108"/>
                                        </p:tgtEl>
                                        <p:attrNameLst>
                                          <p:attrName>style.visibility</p:attrName>
                                        </p:attrNameLst>
                                      </p:cBhvr>
                                      <p:to>
                                        <p:strVal val="visible"/>
                                      </p:to>
                                    </p:set>
                                    <p:anim calcmode="lin" valueType="num">
                                      <p:cBhvr additive="base">
                                        <p:cTn id="42"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3" dur="500" decel="100000" fill="hold"/>
                                        <p:tgtEl>
                                          <p:spTgt spid="108"/>
                                        </p:tgtEl>
                                        <p:attrNameLst>
                                          <p:attrName>ppt_h</p:attrName>
                                        </p:attrNameLst>
                                      </p:cBhvr>
                                      <p:tavLst>
                                        <p:tav tm="0">
                                          <p:val>
                                            <p:strVal val="#ppt_h*0.55"/>
                                          </p:val>
                                        </p:tav>
                                        <p:tav tm="100000">
                                          <p:val>
                                            <p:strVal val="#ppt_h"/>
                                          </p:val>
                                        </p:tav>
                                      </p:tavLst>
                                    </p:anim>
                                    <p:animEffect transition="in" filter="fade">
                                      <p:cBhvr>
                                        <p:cTn id="44" dur="500"/>
                                        <p:tgtEl>
                                          <p:spTgt spid="108"/>
                                        </p:tgtEl>
                                      </p:cBhvr>
                                    </p:animEffect>
                                  </p:childTnLst>
                                </p:cTn>
                              </p:par>
                              <p:par>
                                <p:cTn id="45" presetID="53" presetClass="entr" presetSubtype="16" fill="hold" grpId="0" nodeType="withEffect">
                                  <p:stCondLst>
                                    <p:cond delay="300"/>
                                  </p:stCondLst>
                                  <p:childTnLst>
                                    <p:set>
                                      <p:cBhvr>
                                        <p:cTn id="46" dur="1" fill="hold">
                                          <p:stCondLst>
                                            <p:cond delay="0"/>
                                          </p:stCondLst>
                                        </p:cTn>
                                        <p:tgtEl>
                                          <p:spTgt spid="109"/>
                                        </p:tgtEl>
                                        <p:attrNameLst>
                                          <p:attrName>style.visibility</p:attrName>
                                        </p:attrNameLst>
                                      </p:cBhvr>
                                      <p:to>
                                        <p:strVal val="visible"/>
                                      </p:to>
                                    </p:set>
                                    <p:anim calcmode="lin" valueType="num">
                                      <p:cBhvr additive="base">
                                        <p:cTn id="47"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48" dur="500" decel="100000" fill="hold"/>
                                        <p:tgtEl>
                                          <p:spTgt spid="109"/>
                                        </p:tgtEl>
                                        <p:attrNameLst>
                                          <p:attrName>ppt_h</p:attrName>
                                        </p:attrNameLst>
                                      </p:cBhvr>
                                      <p:tavLst>
                                        <p:tav tm="0">
                                          <p:val>
                                            <p:strVal val="#ppt_h*0.55"/>
                                          </p:val>
                                        </p:tav>
                                        <p:tav tm="100000">
                                          <p:val>
                                            <p:strVal val="#ppt_h"/>
                                          </p:val>
                                        </p:tav>
                                      </p:tavLst>
                                    </p:anim>
                                    <p:animEffect transition="in" filter="fade">
                                      <p:cBhvr>
                                        <p:cTn id="49" dur="500"/>
                                        <p:tgtEl>
                                          <p:spTgt spid="109"/>
                                        </p:tgtEl>
                                      </p:cBhvr>
                                    </p:animEffect>
                                  </p:childTnLst>
                                </p:cTn>
                              </p:par>
                              <p:par>
                                <p:cTn id="50" presetID="53" presetClass="entr" presetSubtype="16" fill="hold" grpId="0" nodeType="withEffect">
                                  <p:stCondLst>
                                    <p:cond delay="300"/>
                                  </p:stCondLst>
                                  <p:childTnLst>
                                    <p:set>
                                      <p:cBhvr>
                                        <p:cTn id="51" dur="1" fill="hold">
                                          <p:stCondLst>
                                            <p:cond delay="0"/>
                                          </p:stCondLst>
                                        </p:cTn>
                                        <p:tgtEl>
                                          <p:spTgt spid="110"/>
                                        </p:tgtEl>
                                        <p:attrNameLst>
                                          <p:attrName>style.visibility</p:attrName>
                                        </p:attrNameLst>
                                      </p:cBhvr>
                                      <p:to>
                                        <p:strVal val="visible"/>
                                      </p:to>
                                    </p:set>
                                    <p:anim calcmode="lin" valueType="num">
                                      <p:cBhvr additive="base">
                                        <p:cTn id="52" dur="500" decel="100000" fill="hold"/>
                                        <p:tgtEl>
                                          <p:spTgt spid="110"/>
                                        </p:tgtEl>
                                        <p:attrNameLst>
                                          <p:attrName>ppt_w</p:attrName>
                                        </p:attrNameLst>
                                      </p:cBhvr>
                                      <p:tavLst>
                                        <p:tav tm="0">
                                          <p:val>
                                            <p:strVal val="#ppt_w*0.55"/>
                                          </p:val>
                                        </p:tav>
                                        <p:tav tm="100000">
                                          <p:val>
                                            <p:strVal val="#ppt_w"/>
                                          </p:val>
                                        </p:tav>
                                      </p:tavLst>
                                    </p:anim>
                                    <p:anim calcmode="lin" valueType="num">
                                      <p:cBhvr additive="base">
                                        <p:cTn id="53" dur="500" decel="100000" fill="hold"/>
                                        <p:tgtEl>
                                          <p:spTgt spid="110"/>
                                        </p:tgtEl>
                                        <p:attrNameLst>
                                          <p:attrName>ppt_h</p:attrName>
                                        </p:attrNameLst>
                                      </p:cBhvr>
                                      <p:tavLst>
                                        <p:tav tm="0">
                                          <p:val>
                                            <p:strVal val="#ppt_h*0.55"/>
                                          </p:val>
                                        </p:tav>
                                        <p:tav tm="100000">
                                          <p:val>
                                            <p:strVal val="#ppt_h"/>
                                          </p:val>
                                        </p:tav>
                                      </p:tavLst>
                                    </p:anim>
                                    <p:animEffect transition="in" filter="fade">
                                      <p:cBhvr>
                                        <p:cTn id="54" dur="500"/>
                                        <p:tgtEl>
                                          <p:spTgt spid="110"/>
                                        </p:tgtEl>
                                      </p:cBhvr>
                                    </p:animEffect>
                                  </p:childTnLst>
                                </p:cTn>
                              </p:par>
                              <p:par>
                                <p:cTn id="55" presetID="53" presetClass="entr" presetSubtype="16" fill="hold" grpId="0" nodeType="withEffect">
                                  <p:stCondLst>
                                    <p:cond delay="300"/>
                                  </p:stCondLst>
                                  <p:childTnLst>
                                    <p:set>
                                      <p:cBhvr>
                                        <p:cTn id="56" dur="1" fill="hold">
                                          <p:stCondLst>
                                            <p:cond delay="0"/>
                                          </p:stCondLst>
                                        </p:cTn>
                                        <p:tgtEl>
                                          <p:spTgt spid="111"/>
                                        </p:tgtEl>
                                        <p:attrNameLst>
                                          <p:attrName>style.visibility</p:attrName>
                                        </p:attrNameLst>
                                      </p:cBhvr>
                                      <p:to>
                                        <p:strVal val="visible"/>
                                      </p:to>
                                    </p:set>
                                    <p:anim calcmode="lin" valueType="num">
                                      <p:cBhvr additive="base">
                                        <p:cTn id="57" dur="500" decel="100000" fill="hold"/>
                                        <p:tgtEl>
                                          <p:spTgt spid="111"/>
                                        </p:tgtEl>
                                        <p:attrNameLst>
                                          <p:attrName>ppt_w</p:attrName>
                                        </p:attrNameLst>
                                      </p:cBhvr>
                                      <p:tavLst>
                                        <p:tav tm="0">
                                          <p:val>
                                            <p:strVal val="#ppt_w*0.55"/>
                                          </p:val>
                                        </p:tav>
                                        <p:tav tm="100000">
                                          <p:val>
                                            <p:strVal val="#ppt_w"/>
                                          </p:val>
                                        </p:tav>
                                      </p:tavLst>
                                    </p:anim>
                                    <p:anim calcmode="lin" valueType="num">
                                      <p:cBhvr additive="base">
                                        <p:cTn id="58" dur="500" decel="100000" fill="hold"/>
                                        <p:tgtEl>
                                          <p:spTgt spid="111"/>
                                        </p:tgtEl>
                                        <p:attrNameLst>
                                          <p:attrName>ppt_h</p:attrName>
                                        </p:attrNameLst>
                                      </p:cBhvr>
                                      <p:tavLst>
                                        <p:tav tm="0">
                                          <p:val>
                                            <p:strVal val="#ppt_h*0.55"/>
                                          </p:val>
                                        </p:tav>
                                        <p:tav tm="100000">
                                          <p:val>
                                            <p:strVal val="#ppt_h"/>
                                          </p:val>
                                        </p:tav>
                                      </p:tavLst>
                                    </p:anim>
                                    <p:animEffect transition="in" filter="fade">
                                      <p:cBhvr>
                                        <p:cTn id="59" dur="500"/>
                                        <p:tgtEl>
                                          <p:spTgt spid="111"/>
                                        </p:tgtEl>
                                      </p:cBhvr>
                                    </p:animEffect>
                                  </p:childTnLst>
                                </p:cTn>
                              </p:par>
                              <p:par>
                                <p:cTn id="60" presetID="53" presetClass="entr" presetSubtype="16" fill="hold" grpId="0" nodeType="withEffect">
                                  <p:stCondLst>
                                    <p:cond delay="300"/>
                                  </p:stCondLst>
                                  <p:childTnLst>
                                    <p:set>
                                      <p:cBhvr>
                                        <p:cTn id="61" dur="1" fill="hold">
                                          <p:stCondLst>
                                            <p:cond delay="0"/>
                                          </p:stCondLst>
                                        </p:cTn>
                                        <p:tgtEl>
                                          <p:spTgt spid="112"/>
                                        </p:tgtEl>
                                        <p:attrNameLst>
                                          <p:attrName>style.visibility</p:attrName>
                                        </p:attrNameLst>
                                      </p:cBhvr>
                                      <p:to>
                                        <p:strVal val="visible"/>
                                      </p:to>
                                    </p:set>
                                    <p:anim calcmode="lin" valueType="num">
                                      <p:cBhvr additive="base">
                                        <p:cTn id="62" dur="500" decel="100000" fill="hold"/>
                                        <p:tgtEl>
                                          <p:spTgt spid="112"/>
                                        </p:tgtEl>
                                        <p:attrNameLst>
                                          <p:attrName>ppt_w</p:attrName>
                                        </p:attrNameLst>
                                      </p:cBhvr>
                                      <p:tavLst>
                                        <p:tav tm="0">
                                          <p:val>
                                            <p:strVal val="#ppt_w*0.55"/>
                                          </p:val>
                                        </p:tav>
                                        <p:tav tm="100000">
                                          <p:val>
                                            <p:strVal val="#ppt_w"/>
                                          </p:val>
                                        </p:tav>
                                      </p:tavLst>
                                    </p:anim>
                                    <p:anim calcmode="lin" valueType="num">
                                      <p:cBhvr additive="base">
                                        <p:cTn id="63" dur="500" decel="100000" fill="hold"/>
                                        <p:tgtEl>
                                          <p:spTgt spid="112"/>
                                        </p:tgtEl>
                                        <p:attrNameLst>
                                          <p:attrName>ppt_h</p:attrName>
                                        </p:attrNameLst>
                                      </p:cBhvr>
                                      <p:tavLst>
                                        <p:tav tm="0">
                                          <p:val>
                                            <p:strVal val="#ppt_h*0.55"/>
                                          </p:val>
                                        </p:tav>
                                        <p:tav tm="100000">
                                          <p:val>
                                            <p:strVal val="#ppt_h"/>
                                          </p:val>
                                        </p:tav>
                                      </p:tavLst>
                                    </p:anim>
                                    <p:animEffect transition="in" filter="fade">
                                      <p:cBhvr>
                                        <p:cTn id="64" dur="500"/>
                                        <p:tgtEl>
                                          <p:spTgt spid="112"/>
                                        </p:tgtEl>
                                      </p:cBhvr>
                                    </p:animEffect>
                                  </p:childTnLst>
                                </p:cTn>
                              </p:par>
                              <p:par>
                                <p:cTn id="65" presetID="53" presetClass="entr" presetSubtype="16" fill="hold" grpId="0" nodeType="withEffect">
                                  <p:stCondLst>
                                    <p:cond delay="450"/>
                                  </p:stCondLst>
                                  <p:childTnLst>
                                    <p:set>
                                      <p:cBhvr>
                                        <p:cTn id="66" dur="1" fill="hold">
                                          <p:stCondLst>
                                            <p:cond delay="0"/>
                                          </p:stCondLst>
                                        </p:cTn>
                                        <p:tgtEl>
                                          <p:spTgt spid="113"/>
                                        </p:tgtEl>
                                        <p:attrNameLst>
                                          <p:attrName>style.visibility</p:attrName>
                                        </p:attrNameLst>
                                      </p:cBhvr>
                                      <p:to>
                                        <p:strVal val="visible"/>
                                      </p:to>
                                    </p:set>
                                    <p:anim calcmode="lin" valueType="num">
                                      <p:cBhvr additive="base">
                                        <p:cTn id="67" dur="500" decel="100000" fill="hold"/>
                                        <p:tgtEl>
                                          <p:spTgt spid="113"/>
                                        </p:tgtEl>
                                        <p:attrNameLst>
                                          <p:attrName>ppt_w</p:attrName>
                                        </p:attrNameLst>
                                      </p:cBhvr>
                                      <p:tavLst>
                                        <p:tav tm="0">
                                          <p:val>
                                            <p:strVal val="#ppt_w*0.55"/>
                                          </p:val>
                                        </p:tav>
                                        <p:tav tm="100000">
                                          <p:val>
                                            <p:strVal val="#ppt_w"/>
                                          </p:val>
                                        </p:tav>
                                      </p:tavLst>
                                    </p:anim>
                                    <p:anim calcmode="lin" valueType="num">
                                      <p:cBhvr additive="base">
                                        <p:cTn id="68" dur="500" decel="100000" fill="hold"/>
                                        <p:tgtEl>
                                          <p:spTgt spid="113"/>
                                        </p:tgtEl>
                                        <p:attrNameLst>
                                          <p:attrName>ppt_h</p:attrName>
                                        </p:attrNameLst>
                                      </p:cBhvr>
                                      <p:tavLst>
                                        <p:tav tm="0">
                                          <p:val>
                                            <p:strVal val="#ppt_h*0.55"/>
                                          </p:val>
                                        </p:tav>
                                        <p:tav tm="100000">
                                          <p:val>
                                            <p:strVal val="#ppt_h"/>
                                          </p:val>
                                        </p:tav>
                                      </p:tavLst>
                                    </p:anim>
                                    <p:animEffect transition="in" filter="fade">
                                      <p:cBhvr>
                                        <p:cTn id="69" dur="500"/>
                                        <p:tgtEl>
                                          <p:spTgt spid="113"/>
                                        </p:tgtEl>
                                      </p:cBhvr>
                                    </p:animEffect>
                                  </p:childTnLst>
                                </p:cTn>
                              </p:par>
                              <p:par>
                                <p:cTn id="70" presetID="53" presetClass="entr" presetSubtype="16" fill="hold" grpId="0" nodeType="withEffect">
                                  <p:stCondLst>
                                    <p:cond delay="450"/>
                                  </p:stCondLst>
                                  <p:childTnLst>
                                    <p:set>
                                      <p:cBhvr>
                                        <p:cTn id="71" dur="1" fill="hold">
                                          <p:stCondLst>
                                            <p:cond delay="0"/>
                                          </p:stCondLst>
                                        </p:cTn>
                                        <p:tgtEl>
                                          <p:spTgt spid="114"/>
                                        </p:tgtEl>
                                        <p:attrNameLst>
                                          <p:attrName>style.visibility</p:attrName>
                                        </p:attrNameLst>
                                      </p:cBhvr>
                                      <p:to>
                                        <p:strVal val="visible"/>
                                      </p:to>
                                    </p:set>
                                    <p:anim calcmode="lin" valueType="num">
                                      <p:cBhvr additive="base">
                                        <p:cTn id="72" dur="500" decel="100000" fill="hold"/>
                                        <p:tgtEl>
                                          <p:spTgt spid="114"/>
                                        </p:tgtEl>
                                        <p:attrNameLst>
                                          <p:attrName>ppt_w</p:attrName>
                                        </p:attrNameLst>
                                      </p:cBhvr>
                                      <p:tavLst>
                                        <p:tav tm="0">
                                          <p:val>
                                            <p:strVal val="#ppt_w*0.55"/>
                                          </p:val>
                                        </p:tav>
                                        <p:tav tm="100000">
                                          <p:val>
                                            <p:strVal val="#ppt_w"/>
                                          </p:val>
                                        </p:tav>
                                      </p:tavLst>
                                    </p:anim>
                                    <p:anim calcmode="lin" valueType="num">
                                      <p:cBhvr additive="base">
                                        <p:cTn id="73" dur="500" decel="100000" fill="hold"/>
                                        <p:tgtEl>
                                          <p:spTgt spid="114"/>
                                        </p:tgtEl>
                                        <p:attrNameLst>
                                          <p:attrName>ppt_h</p:attrName>
                                        </p:attrNameLst>
                                      </p:cBhvr>
                                      <p:tavLst>
                                        <p:tav tm="0">
                                          <p:val>
                                            <p:strVal val="#ppt_h*0.55"/>
                                          </p:val>
                                        </p:tav>
                                        <p:tav tm="100000">
                                          <p:val>
                                            <p:strVal val="#ppt_h"/>
                                          </p:val>
                                        </p:tav>
                                      </p:tavLst>
                                    </p:anim>
                                    <p:animEffect transition="in" filter="fade">
                                      <p:cBhvr>
                                        <p:cTn id="74" dur="500"/>
                                        <p:tgtEl>
                                          <p:spTgt spid="114"/>
                                        </p:tgtEl>
                                      </p:cBhvr>
                                    </p:animEffect>
                                  </p:childTnLst>
                                </p:cTn>
                              </p:par>
                              <p:par>
                                <p:cTn id="75" presetID="53" presetClass="entr" presetSubtype="16" fill="hold" grpId="0" nodeType="withEffect">
                                  <p:stCondLst>
                                    <p:cond delay="450"/>
                                  </p:stCondLst>
                                  <p:childTnLst>
                                    <p:set>
                                      <p:cBhvr>
                                        <p:cTn id="76" dur="1" fill="hold">
                                          <p:stCondLst>
                                            <p:cond delay="0"/>
                                          </p:stCondLst>
                                        </p:cTn>
                                        <p:tgtEl>
                                          <p:spTgt spid="115"/>
                                        </p:tgtEl>
                                        <p:attrNameLst>
                                          <p:attrName>style.visibility</p:attrName>
                                        </p:attrNameLst>
                                      </p:cBhvr>
                                      <p:to>
                                        <p:strVal val="visible"/>
                                      </p:to>
                                    </p:set>
                                    <p:anim calcmode="lin" valueType="num">
                                      <p:cBhvr additive="base">
                                        <p:cTn id="77" dur="500" decel="100000" fill="hold"/>
                                        <p:tgtEl>
                                          <p:spTgt spid="115"/>
                                        </p:tgtEl>
                                        <p:attrNameLst>
                                          <p:attrName>ppt_w</p:attrName>
                                        </p:attrNameLst>
                                      </p:cBhvr>
                                      <p:tavLst>
                                        <p:tav tm="0">
                                          <p:val>
                                            <p:strVal val="#ppt_w*0.55"/>
                                          </p:val>
                                        </p:tav>
                                        <p:tav tm="100000">
                                          <p:val>
                                            <p:strVal val="#ppt_w"/>
                                          </p:val>
                                        </p:tav>
                                      </p:tavLst>
                                    </p:anim>
                                    <p:anim calcmode="lin" valueType="num">
                                      <p:cBhvr additive="base">
                                        <p:cTn id="78" dur="500" decel="100000" fill="hold"/>
                                        <p:tgtEl>
                                          <p:spTgt spid="115"/>
                                        </p:tgtEl>
                                        <p:attrNameLst>
                                          <p:attrName>ppt_h</p:attrName>
                                        </p:attrNameLst>
                                      </p:cBhvr>
                                      <p:tavLst>
                                        <p:tav tm="0">
                                          <p:val>
                                            <p:strVal val="#ppt_h*0.55"/>
                                          </p:val>
                                        </p:tav>
                                        <p:tav tm="100000">
                                          <p:val>
                                            <p:strVal val="#ppt_h"/>
                                          </p:val>
                                        </p:tav>
                                      </p:tavLst>
                                    </p:anim>
                                    <p:animEffect transition="in" filter="fade">
                                      <p:cBhvr>
                                        <p:cTn id="79" dur="500"/>
                                        <p:tgtEl>
                                          <p:spTgt spid="115"/>
                                        </p:tgtEl>
                                      </p:cBhvr>
                                    </p:animEffect>
                                  </p:childTnLst>
                                </p:cTn>
                              </p:par>
                              <p:par>
                                <p:cTn id="80" presetID="53" presetClass="entr" presetSubtype="16" fill="hold" grpId="0" nodeType="withEffect">
                                  <p:stCondLst>
                                    <p:cond delay="450"/>
                                  </p:stCondLst>
                                  <p:childTnLst>
                                    <p:set>
                                      <p:cBhvr>
                                        <p:cTn id="81" dur="1" fill="hold">
                                          <p:stCondLst>
                                            <p:cond delay="0"/>
                                          </p:stCondLst>
                                        </p:cTn>
                                        <p:tgtEl>
                                          <p:spTgt spid="116"/>
                                        </p:tgtEl>
                                        <p:attrNameLst>
                                          <p:attrName>style.visibility</p:attrName>
                                        </p:attrNameLst>
                                      </p:cBhvr>
                                      <p:to>
                                        <p:strVal val="visible"/>
                                      </p:to>
                                    </p:set>
                                    <p:anim calcmode="lin" valueType="num">
                                      <p:cBhvr additive="base">
                                        <p:cTn id="82" dur="500" decel="100000" fill="hold"/>
                                        <p:tgtEl>
                                          <p:spTgt spid="116"/>
                                        </p:tgtEl>
                                        <p:attrNameLst>
                                          <p:attrName>ppt_w</p:attrName>
                                        </p:attrNameLst>
                                      </p:cBhvr>
                                      <p:tavLst>
                                        <p:tav tm="0">
                                          <p:val>
                                            <p:strVal val="#ppt_w*0.55"/>
                                          </p:val>
                                        </p:tav>
                                        <p:tav tm="100000">
                                          <p:val>
                                            <p:strVal val="#ppt_w"/>
                                          </p:val>
                                        </p:tav>
                                      </p:tavLst>
                                    </p:anim>
                                    <p:anim calcmode="lin" valueType="num">
                                      <p:cBhvr additive="base">
                                        <p:cTn id="83" dur="500" decel="100000" fill="hold"/>
                                        <p:tgtEl>
                                          <p:spTgt spid="116"/>
                                        </p:tgtEl>
                                        <p:attrNameLst>
                                          <p:attrName>ppt_h</p:attrName>
                                        </p:attrNameLst>
                                      </p:cBhvr>
                                      <p:tavLst>
                                        <p:tav tm="0">
                                          <p:val>
                                            <p:strVal val="#ppt_h*0.55"/>
                                          </p:val>
                                        </p:tav>
                                        <p:tav tm="100000">
                                          <p:val>
                                            <p:strVal val="#ppt_h"/>
                                          </p:val>
                                        </p:tav>
                                      </p:tavLst>
                                    </p:anim>
                                    <p:animEffect transition="in" filter="fade">
                                      <p:cBhvr>
                                        <p:cTn id="84" dur="500"/>
                                        <p:tgtEl>
                                          <p:spTgt spid="116"/>
                                        </p:tgtEl>
                                      </p:cBhvr>
                                    </p:animEffect>
                                  </p:childTnLst>
                                </p:cTn>
                              </p:par>
                              <p:par>
                                <p:cTn id="85" presetID="53" presetClass="entr" presetSubtype="16" fill="hold" grpId="0" nodeType="withEffect">
                                  <p:stCondLst>
                                    <p:cond delay="600"/>
                                  </p:stCondLst>
                                  <p:childTnLst>
                                    <p:set>
                                      <p:cBhvr>
                                        <p:cTn id="86" dur="1" fill="hold">
                                          <p:stCondLst>
                                            <p:cond delay="0"/>
                                          </p:stCondLst>
                                        </p:cTn>
                                        <p:tgtEl>
                                          <p:spTgt spid="117"/>
                                        </p:tgtEl>
                                        <p:attrNameLst>
                                          <p:attrName>style.visibility</p:attrName>
                                        </p:attrNameLst>
                                      </p:cBhvr>
                                      <p:to>
                                        <p:strVal val="visible"/>
                                      </p:to>
                                    </p:set>
                                    <p:anim calcmode="lin" valueType="num">
                                      <p:cBhvr additive="base">
                                        <p:cTn id="87" dur="500" decel="100000" fill="hold"/>
                                        <p:tgtEl>
                                          <p:spTgt spid="117"/>
                                        </p:tgtEl>
                                        <p:attrNameLst>
                                          <p:attrName>ppt_w</p:attrName>
                                        </p:attrNameLst>
                                      </p:cBhvr>
                                      <p:tavLst>
                                        <p:tav tm="0">
                                          <p:val>
                                            <p:strVal val="#ppt_w*0.55"/>
                                          </p:val>
                                        </p:tav>
                                        <p:tav tm="100000">
                                          <p:val>
                                            <p:strVal val="#ppt_w"/>
                                          </p:val>
                                        </p:tav>
                                      </p:tavLst>
                                    </p:anim>
                                    <p:anim calcmode="lin" valueType="num">
                                      <p:cBhvr additive="base">
                                        <p:cTn id="88" dur="500" decel="100000" fill="hold"/>
                                        <p:tgtEl>
                                          <p:spTgt spid="117"/>
                                        </p:tgtEl>
                                        <p:attrNameLst>
                                          <p:attrName>ppt_h</p:attrName>
                                        </p:attrNameLst>
                                      </p:cBhvr>
                                      <p:tavLst>
                                        <p:tav tm="0">
                                          <p:val>
                                            <p:strVal val="#ppt_h*0.55"/>
                                          </p:val>
                                        </p:tav>
                                        <p:tav tm="100000">
                                          <p:val>
                                            <p:strVal val="#ppt_h"/>
                                          </p:val>
                                        </p:tav>
                                      </p:tavLst>
                                    </p:anim>
                                    <p:animEffect transition="in" filter="fade">
                                      <p:cBhvr>
                                        <p:cTn id="89" dur="500"/>
                                        <p:tgtEl>
                                          <p:spTgt spid="117"/>
                                        </p:tgtEl>
                                      </p:cBhvr>
                                    </p:animEffect>
                                  </p:childTnLst>
                                </p:cTn>
                              </p:par>
                              <p:par>
                                <p:cTn id="90" presetID="53" presetClass="entr" presetSubtype="16" fill="hold" grpId="0" nodeType="withEffect">
                                  <p:stCondLst>
                                    <p:cond delay="600"/>
                                  </p:stCondLst>
                                  <p:childTnLst>
                                    <p:set>
                                      <p:cBhvr>
                                        <p:cTn id="91" dur="1" fill="hold">
                                          <p:stCondLst>
                                            <p:cond delay="0"/>
                                          </p:stCondLst>
                                        </p:cTn>
                                        <p:tgtEl>
                                          <p:spTgt spid="118"/>
                                        </p:tgtEl>
                                        <p:attrNameLst>
                                          <p:attrName>style.visibility</p:attrName>
                                        </p:attrNameLst>
                                      </p:cBhvr>
                                      <p:to>
                                        <p:strVal val="visible"/>
                                      </p:to>
                                    </p:set>
                                    <p:anim calcmode="lin" valueType="num">
                                      <p:cBhvr additive="base">
                                        <p:cTn id="92" dur="500" decel="100000" fill="hold"/>
                                        <p:tgtEl>
                                          <p:spTgt spid="118"/>
                                        </p:tgtEl>
                                        <p:attrNameLst>
                                          <p:attrName>ppt_w</p:attrName>
                                        </p:attrNameLst>
                                      </p:cBhvr>
                                      <p:tavLst>
                                        <p:tav tm="0">
                                          <p:val>
                                            <p:strVal val="#ppt_w*0.55"/>
                                          </p:val>
                                        </p:tav>
                                        <p:tav tm="100000">
                                          <p:val>
                                            <p:strVal val="#ppt_w"/>
                                          </p:val>
                                        </p:tav>
                                      </p:tavLst>
                                    </p:anim>
                                    <p:anim calcmode="lin" valueType="num">
                                      <p:cBhvr additive="base">
                                        <p:cTn id="93" dur="500" decel="100000" fill="hold"/>
                                        <p:tgtEl>
                                          <p:spTgt spid="118"/>
                                        </p:tgtEl>
                                        <p:attrNameLst>
                                          <p:attrName>ppt_h</p:attrName>
                                        </p:attrNameLst>
                                      </p:cBhvr>
                                      <p:tavLst>
                                        <p:tav tm="0">
                                          <p:val>
                                            <p:strVal val="#ppt_h*0.55"/>
                                          </p:val>
                                        </p:tav>
                                        <p:tav tm="100000">
                                          <p:val>
                                            <p:strVal val="#ppt_h"/>
                                          </p:val>
                                        </p:tav>
                                      </p:tavLst>
                                    </p:anim>
                                    <p:animEffect transition="in" filter="fade">
                                      <p:cBhvr>
                                        <p:cTn id="94" dur="500"/>
                                        <p:tgtEl>
                                          <p:spTgt spid="118"/>
                                        </p:tgtEl>
                                      </p:cBhvr>
                                    </p:animEffect>
                                  </p:childTnLst>
                                </p:cTn>
                              </p:par>
                              <p:par>
                                <p:cTn id="95" presetID="53" presetClass="entr" presetSubtype="16" fill="hold" grpId="0" nodeType="withEffect">
                                  <p:stCondLst>
                                    <p:cond delay="600"/>
                                  </p:stCondLst>
                                  <p:childTnLst>
                                    <p:set>
                                      <p:cBhvr>
                                        <p:cTn id="96" dur="1" fill="hold">
                                          <p:stCondLst>
                                            <p:cond delay="0"/>
                                          </p:stCondLst>
                                        </p:cTn>
                                        <p:tgtEl>
                                          <p:spTgt spid="119"/>
                                        </p:tgtEl>
                                        <p:attrNameLst>
                                          <p:attrName>style.visibility</p:attrName>
                                        </p:attrNameLst>
                                      </p:cBhvr>
                                      <p:to>
                                        <p:strVal val="visible"/>
                                      </p:to>
                                    </p:set>
                                    <p:anim calcmode="lin" valueType="num">
                                      <p:cBhvr additive="base">
                                        <p:cTn id="97" dur="500" decel="100000" fill="hold"/>
                                        <p:tgtEl>
                                          <p:spTgt spid="119"/>
                                        </p:tgtEl>
                                        <p:attrNameLst>
                                          <p:attrName>ppt_w</p:attrName>
                                        </p:attrNameLst>
                                      </p:cBhvr>
                                      <p:tavLst>
                                        <p:tav tm="0">
                                          <p:val>
                                            <p:strVal val="#ppt_w*0.55"/>
                                          </p:val>
                                        </p:tav>
                                        <p:tav tm="100000">
                                          <p:val>
                                            <p:strVal val="#ppt_w"/>
                                          </p:val>
                                        </p:tav>
                                      </p:tavLst>
                                    </p:anim>
                                    <p:anim calcmode="lin" valueType="num">
                                      <p:cBhvr additive="base">
                                        <p:cTn id="98" dur="500" decel="100000" fill="hold"/>
                                        <p:tgtEl>
                                          <p:spTgt spid="119"/>
                                        </p:tgtEl>
                                        <p:attrNameLst>
                                          <p:attrName>ppt_h</p:attrName>
                                        </p:attrNameLst>
                                      </p:cBhvr>
                                      <p:tavLst>
                                        <p:tav tm="0">
                                          <p:val>
                                            <p:strVal val="#ppt_h*0.55"/>
                                          </p:val>
                                        </p:tav>
                                        <p:tav tm="100000">
                                          <p:val>
                                            <p:strVal val="#ppt_h"/>
                                          </p:val>
                                        </p:tav>
                                      </p:tavLst>
                                    </p:anim>
                                    <p:animEffect transition="in" filter="fade">
                                      <p:cBhvr>
                                        <p:cTn id="99" dur="500"/>
                                        <p:tgtEl>
                                          <p:spTgt spid="119"/>
                                        </p:tgtEl>
                                      </p:cBhvr>
                                    </p:animEffect>
                                  </p:childTnLst>
                                </p:cTn>
                              </p:par>
                              <p:par>
                                <p:cTn id="100" presetID="53" presetClass="entr" presetSubtype="16" fill="hold" grpId="0" nodeType="withEffect">
                                  <p:stCondLst>
                                    <p:cond delay="600"/>
                                  </p:stCondLst>
                                  <p:childTnLst>
                                    <p:set>
                                      <p:cBhvr>
                                        <p:cTn id="101" dur="1" fill="hold">
                                          <p:stCondLst>
                                            <p:cond delay="0"/>
                                          </p:stCondLst>
                                        </p:cTn>
                                        <p:tgtEl>
                                          <p:spTgt spid="120"/>
                                        </p:tgtEl>
                                        <p:attrNameLst>
                                          <p:attrName>style.visibility</p:attrName>
                                        </p:attrNameLst>
                                      </p:cBhvr>
                                      <p:to>
                                        <p:strVal val="visible"/>
                                      </p:to>
                                    </p:set>
                                    <p:anim calcmode="lin" valueType="num">
                                      <p:cBhvr additive="base">
                                        <p:cTn id="102" dur="500" decel="100000" fill="hold"/>
                                        <p:tgtEl>
                                          <p:spTgt spid="120"/>
                                        </p:tgtEl>
                                        <p:attrNameLst>
                                          <p:attrName>ppt_w</p:attrName>
                                        </p:attrNameLst>
                                      </p:cBhvr>
                                      <p:tavLst>
                                        <p:tav tm="0">
                                          <p:val>
                                            <p:strVal val="#ppt_w*0.55"/>
                                          </p:val>
                                        </p:tav>
                                        <p:tav tm="100000">
                                          <p:val>
                                            <p:strVal val="#ppt_w"/>
                                          </p:val>
                                        </p:tav>
                                      </p:tavLst>
                                    </p:anim>
                                    <p:anim calcmode="lin" valueType="num">
                                      <p:cBhvr additive="base">
                                        <p:cTn id="103" dur="500" decel="100000" fill="hold"/>
                                        <p:tgtEl>
                                          <p:spTgt spid="120"/>
                                        </p:tgtEl>
                                        <p:attrNameLst>
                                          <p:attrName>ppt_h</p:attrName>
                                        </p:attrNameLst>
                                      </p:cBhvr>
                                      <p:tavLst>
                                        <p:tav tm="0">
                                          <p:val>
                                            <p:strVal val="#ppt_h*0.55"/>
                                          </p:val>
                                        </p:tav>
                                        <p:tav tm="100000">
                                          <p:val>
                                            <p:strVal val="#ppt_h"/>
                                          </p:val>
                                        </p:tav>
                                      </p:tavLst>
                                    </p:anim>
                                    <p:animEffect transition="in" filter="fade">
                                      <p:cBhvr>
                                        <p:cTn id="104"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STOP &amp; ASK</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Quiz: How Many Test Cases for Withdraw?</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FIRST TEST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123</a:t>
            </a:r>
            <a:endParaRPr lang="en-US" sz="850" dirty="0"/>
          </a:p>
        </p:txBody>
      </p:sp>
      <p:sp>
        <p:nvSpPr>
          <p:cNvPr id="101" name="s101"/>
          <p:cNvSpPr/>
          <p:nvPr/>
        </p:nvSpPr>
        <p:spPr>
          <a:xfrm>
            <a:off x="543154" y="1920240"/>
            <a:ext cx="5486400" cy="3017520"/>
          </a:xfrm>
          <a:prstGeom prst="roundRect">
            <a:avLst>
              <a:gd name="adj" fmla="val 4000"/>
            </a:avLst>
          </a:prstGeom>
          <a:solidFill>
            <a:srgbClr val="060D18"/>
          </a:solidFill>
          <a:ln w="12700">
            <a:solidFill>
              <a:srgbClr val="1E3A5F"/>
            </a:solidFill>
            <a:prstDash val="solid"/>
          </a:ln>
        </p:spPr>
        <p:txBody>
          <a:bodyPr wrap="square" lIns="274320" tIns="228600" rIns="274320" bIns="182880" rtlCol="0" anchor="t">
            <a:noAutofit/>
          </a:bodyPr>
          <a:lstStyle/>
          <a:p>
            <a:pPr marL="0" indent="0" algn="l">
              <a:spcBef>
                <a:spcPts val="0"/>
              </a:spcBef>
              <a:spcAft>
                <a:spcPts val="800"/>
              </a:spcAft>
              <a:buNone/>
            </a:pPr>
            <a:r>
              <a:rPr lang="en-US" sz="1000" b="1" dirty="0">
                <a:solidFill>
                  <a:srgbClr val="FBBF24"/>
                </a:solidFill>
                <a:latin typeface="Segoe UI"/>
                <a:ea typeface="Segoe UI"/>
                <a:cs typeface="Segoe UI"/>
              </a:rPr>
              <a:t>THE RULES</a:t>
            </a:r>
            <a:endParaRPr lang="en-US" sz="1000" dirty="0"/>
          </a:p>
          <a:p>
            <a:pPr marL="0" indent="0" algn="l">
              <a:spcBef>
                <a:spcPts val="0"/>
              </a:spcBef>
              <a:spcAft>
                <a:spcPts val="800"/>
              </a:spcAft>
              <a:buNone/>
            </a:pPr>
            <a:r>
              <a:rPr lang="en-US" sz="1400" b="0" dirty="0">
                <a:solidFill>
                  <a:srgbClr val="E2E8F0"/>
                </a:solidFill>
                <a:latin typeface="Segoe UI"/>
                <a:ea typeface="Segoe UI"/>
                <a:cs typeface="Segoe UI"/>
              </a:rPr>
              <a:t>Withdraw(amount):</a:t>
            </a:r>
            <a:endParaRPr lang="en-US" sz="1400" dirty="0"/>
          </a:p>
          <a:p>
            <a:pPr marL="0" indent="0" algn="l">
              <a:spcBef>
                <a:spcPts val="0"/>
              </a:spcBef>
              <a:spcAft>
                <a:spcPts val="800"/>
              </a:spcAft>
              <a:buNone/>
            </a:pPr>
            <a:r>
              <a:rPr lang="en-US" sz="1400" b="0" dirty="0">
                <a:solidFill>
                  <a:srgbClr val="E2E8F0"/>
                </a:solidFill>
                <a:latin typeface="Segoe UI"/>
                <a:ea typeface="Segoe UI"/>
                <a:cs typeface="Segoe UI"/>
              </a:rPr>
              <a:t>• amount ≤ 0 → throws</a:t>
            </a:r>
            <a:endParaRPr lang="en-US" sz="1400" dirty="0"/>
          </a:p>
          <a:p>
            <a:pPr marL="0" indent="0" algn="l">
              <a:spcBef>
                <a:spcPts val="0"/>
              </a:spcBef>
              <a:spcAft>
                <a:spcPts val="800"/>
              </a:spcAft>
              <a:buNone/>
            </a:pPr>
            <a:r>
              <a:rPr lang="en-US" sz="1400" b="0" dirty="0">
                <a:solidFill>
                  <a:srgbClr val="E2E8F0"/>
                </a:solidFill>
                <a:latin typeface="Segoe UI"/>
                <a:ea typeface="Segoe UI"/>
                <a:cs typeface="Segoe UI"/>
              </a:rPr>
              <a:t>• amount &gt; Balance → throws "Insufficient funds."</a:t>
            </a:r>
            <a:endParaRPr lang="en-US" sz="1400" dirty="0"/>
          </a:p>
          <a:p>
            <a:pPr marL="0" indent="0" algn="l">
              <a:spcBef>
                <a:spcPts val="0"/>
              </a:spcBef>
              <a:spcAft>
                <a:spcPts val="800"/>
              </a:spcAft>
              <a:buNone/>
            </a:pPr>
            <a:r>
              <a:rPr lang="en-US" sz="1400" b="0" dirty="0">
                <a:solidFill>
                  <a:srgbClr val="E2E8F0"/>
                </a:solidFill>
                <a:latin typeface="Segoe UI"/>
                <a:ea typeface="Segoe UI"/>
                <a:cs typeface="Segoe UI"/>
              </a:rPr>
              <a:t>• otherwise Balance -= amount</a:t>
            </a:r>
            <a:endParaRPr lang="en-US" sz="1400" dirty="0"/>
          </a:p>
        </p:txBody>
      </p:sp>
      <p:sp>
        <p:nvSpPr>
          <p:cNvPr id="102" name="s102"/>
          <p:cNvSpPr/>
          <p:nvPr/>
        </p:nvSpPr>
        <p:spPr>
          <a:xfrm>
            <a:off x="6303874" y="1920240"/>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A   </a:t>
            </a:r>
            <a:r>
              <a:rPr lang="en-US" sz="1400" b="0" dirty="0">
                <a:solidFill>
                  <a:srgbClr val="E2E8F0"/>
                </a:solidFill>
                <a:latin typeface="Segoe UI"/>
                <a:ea typeface="Segoe UI"/>
                <a:cs typeface="Segoe UI"/>
              </a:rPr>
              <a:t>1: one test is enough</a:t>
            </a:r>
            <a:endParaRPr lang="en-US" sz="1400" dirty="0"/>
          </a:p>
        </p:txBody>
      </p:sp>
      <p:sp>
        <p:nvSpPr>
          <p:cNvPr id="103" name="s103"/>
          <p:cNvSpPr/>
          <p:nvPr/>
        </p:nvSpPr>
        <p:spPr>
          <a:xfrm>
            <a:off x="6303874" y="2706624"/>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B   </a:t>
            </a:r>
            <a:r>
              <a:rPr lang="en-US" sz="1400" b="0" dirty="0">
                <a:solidFill>
                  <a:srgbClr val="E2E8F0"/>
                </a:solidFill>
                <a:latin typeface="Segoe UI"/>
                <a:ea typeface="Segoe UI"/>
                <a:cs typeface="Segoe UI"/>
              </a:rPr>
              <a:t>3: two </a:t>
            </a:r>
            <a:r>
              <a:rPr lang="en-US" sz="1400" dirty="0">
                <a:solidFill>
                  <a:srgbClr val="E2E8F0"/>
                </a:solidFill>
                <a:latin typeface="Segoe UI"/>
                <a:ea typeface="Segoe UI"/>
                <a:cs typeface="Segoe UI"/>
              </a:rPr>
              <a:t>inv</a:t>
            </a:r>
            <a:r>
              <a:rPr lang="en-US" sz="1400" b="0" dirty="0">
                <a:solidFill>
                  <a:srgbClr val="E2E8F0"/>
                </a:solidFill>
                <a:latin typeface="Segoe UI"/>
                <a:ea typeface="Segoe UI"/>
                <a:cs typeface="Segoe UI"/>
              </a:rPr>
              <a:t>alid, one valid</a:t>
            </a:r>
            <a:endParaRPr lang="en-US" sz="1400" dirty="0"/>
          </a:p>
        </p:txBody>
      </p:sp>
      <p:sp>
        <p:nvSpPr>
          <p:cNvPr id="104" name="s104"/>
          <p:cNvSpPr/>
          <p:nvPr/>
        </p:nvSpPr>
        <p:spPr>
          <a:xfrm>
            <a:off x="6303874" y="3493008"/>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C   </a:t>
            </a:r>
            <a:r>
              <a:rPr lang="en-US" sz="1400" b="0" dirty="0">
                <a:solidFill>
                  <a:srgbClr val="E2E8F0"/>
                </a:solidFill>
                <a:latin typeface="Segoe UI"/>
                <a:ea typeface="Segoe UI"/>
                <a:cs typeface="Segoe UI"/>
              </a:rPr>
              <a:t>About 5–6: one per case</a:t>
            </a:r>
            <a:endParaRPr lang="en-US" sz="1400" dirty="0"/>
          </a:p>
        </p:txBody>
      </p:sp>
      <p:sp>
        <p:nvSpPr>
          <p:cNvPr id="105" name="s105"/>
          <p:cNvSpPr/>
          <p:nvPr/>
        </p:nvSpPr>
        <p:spPr>
          <a:xfrm>
            <a:off x="6303874" y="4279392"/>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D   </a:t>
            </a:r>
            <a:r>
              <a:rPr lang="en-US" sz="1400" b="0" dirty="0">
                <a:solidFill>
                  <a:srgbClr val="E2E8F0"/>
                </a:solidFill>
                <a:latin typeface="Segoe UI"/>
                <a:ea typeface="Segoe UI"/>
                <a:cs typeface="Segoe UI"/>
              </a:rPr>
              <a:t>20 or more, to be safe</a:t>
            </a:r>
            <a:endParaRPr lang="en-US" sz="1400" dirty="0"/>
          </a:p>
        </p:txBody>
      </p:sp>
      <p:sp>
        <p:nvSpPr>
          <p:cNvPr id="106" name="s106"/>
          <p:cNvSpPr/>
          <p:nvPr/>
        </p:nvSpPr>
        <p:spPr>
          <a:xfrm>
            <a:off x="6303874" y="3493008"/>
            <a:ext cx="5327294" cy="658368"/>
          </a:xfrm>
          <a:prstGeom prst="roundRect">
            <a:avLst>
              <a:gd name="adj" fmla="val 10000"/>
            </a:avLst>
          </a:prstGeom>
          <a:solidFill>
            <a:srgbClr val="123A33"/>
          </a:solidFill>
          <a:ln w="28575">
            <a:solidFill>
              <a:srgbClr val="34D399"/>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34D399"/>
                </a:solidFill>
                <a:latin typeface="Segoe UI"/>
                <a:ea typeface="Segoe UI"/>
                <a:cs typeface="Segoe UI"/>
              </a:rPr>
              <a:t>C   </a:t>
            </a:r>
            <a:r>
              <a:rPr lang="en-US" sz="1400" b="1" dirty="0">
                <a:solidFill>
                  <a:srgbClr val="FFFFFF"/>
                </a:solidFill>
                <a:latin typeface="Segoe UI"/>
                <a:ea typeface="Segoe UI"/>
                <a:cs typeface="Segoe UI"/>
              </a:rPr>
              <a:t>About 4–6: one per case</a:t>
            </a:r>
            <a:endParaRPr lang="en-US" sz="1400" dirty="0"/>
          </a:p>
        </p:txBody>
      </p:sp>
      <p:pic>
        <p:nvPicPr>
          <p:cNvPr id="107" name="img107"/>
          <p:cNvPicPr>
            <a:picLocks noChangeAspect="1"/>
          </p:cNvPicPr>
          <p:nvPr/>
        </p:nvPicPr>
        <p:blipFill>
          <a:blip r:embed="rId4"/>
          <a:stretch>
            <a:fillRect/>
          </a:stretch>
        </p:blipFill>
        <p:spPr>
          <a:xfrm>
            <a:off x="11064240" y="3611880"/>
            <a:ext cx="420624" cy="420624"/>
          </a:xfrm>
          <a:prstGeom prst="rect">
            <a:avLst/>
          </a:prstGeom>
        </p:spPr>
      </p:pic>
      <p:sp>
        <p:nvSpPr>
          <p:cNvPr id="108" name="s108"/>
          <p:cNvSpPr/>
          <p:nvPr/>
        </p:nvSpPr>
        <p:spPr>
          <a:xfrm>
            <a:off x="543154" y="5074920"/>
            <a:ext cx="11088014" cy="566928"/>
          </a:xfrm>
          <a:prstGeom prst="roundRect">
            <a:avLst>
              <a:gd name="adj" fmla="val 12000"/>
            </a:avLst>
          </a:prstGeom>
          <a:solidFill>
            <a:srgbClr val="111B2E"/>
          </a:solidFill>
          <a:ln w="12700">
            <a:solidFill>
              <a:srgbClr val="34D399"/>
            </a:solidFill>
            <a:prstDash val="solid"/>
          </a:ln>
        </p:spPr>
        <p:txBody>
          <a:bodyPr wrap="square" lIns="228600" tIns="0" rIns="228600" bIns="0" rtlCol="0" anchor="ctr">
            <a:noAutofit/>
          </a:bodyPr>
          <a:lstStyle/>
          <a:p>
            <a:pPr marL="0" indent="0" algn="ctr">
              <a:spcBef>
                <a:spcPts val="0"/>
              </a:spcBef>
              <a:spcAft>
                <a:spcPts val="0"/>
              </a:spcAft>
              <a:buNone/>
            </a:pPr>
            <a:r>
              <a:rPr lang="en-US" sz="1300" b="1" dirty="0">
                <a:solidFill>
                  <a:srgbClr val="34D399"/>
                </a:solidFill>
                <a:latin typeface="Segoe UI"/>
                <a:ea typeface="Segoe UI"/>
                <a:cs typeface="Segoe UI"/>
              </a:rPr>
              <a:t>ANSWER C   </a:t>
            </a:r>
            <a:r>
              <a:rPr lang="en-US" sz="1300" b="0" dirty="0">
                <a:solidFill>
                  <a:srgbClr val="E2E8F0"/>
                </a:solidFill>
                <a:latin typeface="Segoe UI"/>
                <a:ea typeface="Segoe UI"/>
                <a:cs typeface="Segoe UI"/>
              </a:rPr>
              <a:t>Happy (50 of 100) · boundary: exactly the balance · balance + 0.01 refused · 0 refused · negative refused · state unchanged after a refusal.</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11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22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33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44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grpId="0" nodeType="clickEffect">
                                  <p:stCondLst>
                                    <p:cond delay="0"/>
                                  </p:stCondLst>
                                  <p:childTnLst>
                                    <p:set>
                                      <p:cBhvr>
                                        <p:cTn id="28" dur="1" fill="hold">
                                          <p:stCondLst>
                                            <p:cond delay="0"/>
                                          </p:stCondLst>
                                        </p:cTn>
                                        <p:tgtEl>
                                          <p:spTgt spid="106"/>
                                        </p:tgtEl>
                                        <p:attrNameLst>
                                          <p:attrName>style.visibility</p:attrName>
                                        </p:attrNameLst>
                                      </p:cBhvr>
                                      <p:to>
                                        <p:strVal val="visible"/>
                                      </p:to>
                                    </p:set>
                                    <p:anim calcmode="lin" valueType="num">
                                      <p:cBhvr additive="base">
                                        <p:cTn id="29"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30" dur="500" decel="100000" fill="hold"/>
                                        <p:tgtEl>
                                          <p:spTgt spid="106"/>
                                        </p:tgtEl>
                                        <p:attrNameLst>
                                          <p:attrName>ppt_h</p:attrName>
                                        </p:attrNameLst>
                                      </p:cBhvr>
                                      <p:tavLst>
                                        <p:tav tm="0">
                                          <p:val>
                                            <p:strVal val="#ppt_h*0.3"/>
                                          </p:val>
                                        </p:tav>
                                        <p:tav tm="100000">
                                          <p:val>
                                            <p:strVal val="#ppt_h*1.08"/>
                                          </p:val>
                                        </p:tav>
                                      </p:tavLst>
                                    </p:anim>
                                    <p:animEffect transition="in" filter="fade">
                                      <p:cBhvr>
                                        <p:cTn id="31" dur="250"/>
                                        <p:tgtEl>
                                          <p:spTgt spid="106"/>
                                        </p:tgtEl>
                                      </p:cBhvr>
                                    </p:animEffect>
                                    <p:anim calcmode="lin" valueType="num">
                                      <p:cBhvr additive="base">
                                        <p:cTn id="32"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33"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par>
                                <p:cTn id="34" presetID="53" presetClass="entr" presetSubtype="16" fill="hold" nodeType="withEffect">
                                  <p:stCondLst>
                                    <p:cond delay="200"/>
                                  </p:stCondLst>
                                  <p:childTnLst>
                                    <p:set>
                                      <p:cBhvr>
                                        <p:cTn id="35" dur="1" fill="hold">
                                          <p:stCondLst>
                                            <p:cond delay="0"/>
                                          </p:stCondLst>
                                        </p:cTn>
                                        <p:tgtEl>
                                          <p:spTgt spid="107"/>
                                        </p:tgtEl>
                                        <p:attrNameLst>
                                          <p:attrName>style.visibility</p:attrName>
                                        </p:attrNameLst>
                                      </p:cBhvr>
                                      <p:to>
                                        <p:strVal val="visible"/>
                                      </p:to>
                                    </p:set>
                                    <p:anim calcmode="lin" valueType="num">
                                      <p:cBhvr additive="base">
                                        <p:cTn id="36"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7" dur="500" decel="100000" fill="hold"/>
                                        <p:tgtEl>
                                          <p:spTgt spid="107"/>
                                        </p:tgtEl>
                                        <p:attrNameLst>
                                          <p:attrName>ppt_h</p:attrName>
                                        </p:attrNameLst>
                                      </p:cBhvr>
                                      <p:tavLst>
                                        <p:tav tm="0">
                                          <p:val>
                                            <p:strVal val="#ppt_h*0.55"/>
                                          </p:val>
                                        </p:tav>
                                        <p:tav tm="100000">
                                          <p:val>
                                            <p:strVal val="#ppt_h"/>
                                          </p:val>
                                        </p:tav>
                                      </p:tavLst>
                                    </p:anim>
                                    <p:animEffect transition="in" filter="fade">
                                      <p:cBhvr>
                                        <p:cTn id="38" dur="500"/>
                                        <p:tgtEl>
                                          <p:spTgt spid="107"/>
                                        </p:tgtEl>
                                      </p:cBhvr>
                                    </p:animEffect>
                                  </p:childTnLst>
                                </p:cTn>
                              </p:par>
                              <p:par>
                                <p:cTn id="39" presetID="42" presetClass="entr" presetSubtype="0" fill="hold" grpId="0" nodeType="withEffect">
                                  <p:stCondLst>
                                    <p:cond delay="400"/>
                                  </p:stCondLst>
                                  <p:childTnLst>
                                    <p:set>
                                      <p:cBhvr>
                                        <p:cTn id="40" dur="1" fill="hold">
                                          <p:stCondLst>
                                            <p:cond delay="0"/>
                                          </p:stCondLst>
                                        </p:cTn>
                                        <p:tgtEl>
                                          <p:spTgt spid="108"/>
                                        </p:tgtEl>
                                        <p:attrNameLst>
                                          <p:attrName>style.visibility</p:attrName>
                                        </p:attrNameLst>
                                      </p:cBhvr>
                                      <p:to>
                                        <p:strVal val="visible"/>
                                      </p:to>
                                    </p:set>
                                    <p:animEffect transition="in" filter="fade">
                                      <p:cBhvr>
                                        <p:cTn id="41" dur="500"/>
                                        <p:tgtEl>
                                          <p:spTgt spid="108"/>
                                        </p:tgtEl>
                                      </p:cBhvr>
                                    </p:animEffect>
                                    <p:anim calcmode="lin" valueType="num">
                                      <p:cBhvr additive="base">
                                        <p:cTn id="42" dur="500" decel="100000" fill="hold"/>
                                        <p:tgtEl>
                                          <p:spTgt spid="10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8"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CHAPTER 03</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124</a:t>
            </a:r>
            <a:endParaRPr lang="en-US" sz="850" dirty="0"/>
          </a:p>
        </p:txBody>
      </p:sp>
      <p:sp>
        <p:nvSpPr>
          <p:cNvPr id="101" name="!!bignum"/>
          <p:cNvSpPr txBox="1"/>
          <p:nvPr/>
        </p:nvSpPr>
        <p:spPr>
          <a:xfrm>
            <a:off x="497434" y="960120"/>
            <a:ext cx="2926080" cy="1463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FBBF24"/>
                </a:solidFill>
                <a:latin typeface="Segoe UI"/>
                <a:ea typeface="Segoe UI"/>
                <a:cs typeface="Segoe UI"/>
              </a:rPr>
              <a:t>03</a:t>
            </a:r>
            <a:endParaRPr lang="en-US" sz="9600" dirty="0"/>
          </a:p>
        </p:txBody>
      </p:sp>
      <p:sp>
        <p:nvSpPr>
          <p:cNvPr id="102" name="s102"/>
          <p:cNvSpPr txBox="1"/>
          <p:nvPr/>
        </p:nvSpPr>
        <p:spPr>
          <a:xfrm>
            <a:off x="543154" y="2377440"/>
            <a:ext cx="10515600" cy="8229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Many Cases, Little Code</a:t>
            </a:r>
            <a:endParaRPr lang="en-US" sz="4000" dirty="0"/>
          </a:p>
        </p:txBody>
      </p:sp>
      <p:sp>
        <p:nvSpPr>
          <p:cNvPr id="103" name="s103"/>
          <p:cNvSpPr txBox="1"/>
          <p:nvPr/>
        </p:nvSpPr>
        <p:spPr>
          <a:xfrm>
            <a:off x="543154" y="3154680"/>
            <a:ext cx="1051560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0" dirty="0">
                <a:solidFill>
                  <a:srgbClr val="CBD5E1"/>
                </a:solidFill>
                <a:latin typeface="Segoe UI"/>
                <a:ea typeface="Segoe UI"/>
                <a:cs typeface="Segoe UI"/>
              </a:rPr>
              <a:t>Copy-paste is the problem. Theory, rows and better data are the answers.</a:t>
            </a:r>
            <a:endParaRPr lang="en-US" sz="1600" dirty="0"/>
          </a:p>
        </p:txBody>
      </p:sp>
      <p:sp>
        <p:nvSpPr>
          <p:cNvPr id="104" name="s104"/>
          <p:cNvSpPr/>
          <p:nvPr/>
        </p:nvSpPr>
        <p:spPr>
          <a:xfrm>
            <a:off x="543154" y="3840480"/>
            <a:ext cx="3513125" cy="960120"/>
          </a:xfrm>
          <a:prstGeom prst="roundRect">
            <a:avLst>
              <a:gd name="adj" fmla="val 10000"/>
            </a:avLst>
          </a:prstGeom>
          <a:solidFill>
            <a:srgbClr val="111B2E"/>
          </a:solidFill>
          <a:ln w="12700">
            <a:solidFill>
              <a:srgbClr val="FBBF24"/>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BBF24"/>
                </a:solidFill>
                <a:latin typeface="Segoe UI"/>
                <a:ea typeface="Segoe UI"/>
                <a:cs typeface="Segoe UI"/>
              </a:rPr>
              <a:t>Rows</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[Theory], [InlineData], boundaries.</a:t>
            </a:r>
            <a:endParaRPr lang="en-US" sz="1200" dirty="0"/>
          </a:p>
        </p:txBody>
      </p:sp>
      <p:sp>
        <p:nvSpPr>
          <p:cNvPr id="105" name="s105"/>
          <p:cNvSpPr/>
          <p:nvPr/>
        </p:nvSpPr>
        <p:spPr>
          <a:xfrm>
            <a:off x="4330598" y="3840480"/>
            <a:ext cx="3513125" cy="960120"/>
          </a:xfrm>
          <a:prstGeom prst="roundRect">
            <a:avLst>
              <a:gd name="adj" fmla="val 10000"/>
            </a:avLst>
          </a:prstGeom>
          <a:solidFill>
            <a:srgbClr val="111B2E"/>
          </a:solidFill>
          <a:ln w="12700">
            <a:solidFill>
              <a:srgbClr val="FBBF24"/>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BBF24"/>
                </a:solidFill>
                <a:latin typeface="Segoe UI"/>
                <a:ea typeface="Segoe UI"/>
                <a:cs typeface="Segoe UI"/>
              </a:rPr>
              <a:t>Any type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[MemberData] for decimal and objects.</a:t>
            </a:r>
            <a:endParaRPr lang="en-US" sz="1200" dirty="0"/>
          </a:p>
        </p:txBody>
      </p:sp>
      <p:sp>
        <p:nvSpPr>
          <p:cNvPr id="106" name="s106"/>
          <p:cNvSpPr/>
          <p:nvPr/>
        </p:nvSpPr>
        <p:spPr>
          <a:xfrm>
            <a:off x="8118043" y="3840480"/>
            <a:ext cx="3513125" cy="960120"/>
          </a:xfrm>
          <a:prstGeom prst="roundRect">
            <a:avLst>
              <a:gd name="adj" fmla="val 10000"/>
            </a:avLst>
          </a:prstGeom>
          <a:solidFill>
            <a:srgbClr val="111B2E"/>
          </a:solidFill>
          <a:ln w="12700">
            <a:solidFill>
              <a:srgbClr val="FBBF24"/>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BBF24"/>
                </a:solidFill>
                <a:latin typeface="Segoe UI"/>
                <a:ea typeface="Segoe UI"/>
                <a:cs typeface="Segoe UI"/>
              </a:rPr>
              <a:t>Tools</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Shouldly and Bogus, when we need them.</a:t>
            </a:r>
            <a:endParaRPr lang="en-US" sz="1200" dirty="0"/>
          </a:p>
        </p:txBody>
      </p:sp>
      <p:sp>
        <p:nvSpPr>
          <p:cNvPr id="107" name="!!chap0"/>
          <p:cNvSpPr/>
          <p:nvPr/>
        </p:nvSpPr>
        <p:spPr>
          <a:xfrm>
            <a:off x="54315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87171"/>
                </a:solidFill>
                <a:latin typeface="Segoe UI"/>
                <a:ea typeface="Segoe UI"/>
                <a:cs typeface="Segoe UI"/>
              </a:rPr>
              <a:t>01  </a:t>
            </a:r>
            <a:r>
              <a:rPr lang="en-US" sz="1100" b="0" dirty="0">
                <a:solidFill>
                  <a:srgbClr val="94A3B8"/>
                </a:solidFill>
                <a:latin typeface="Segoe UI"/>
                <a:ea typeface="Segoe UI"/>
                <a:cs typeface="Segoe UI"/>
              </a:rPr>
              <a:t>Why test</a:t>
            </a:r>
            <a:endParaRPr lang="en-US" sz="1100" dirty="0"/>
          </a:p>
        </p:txBody>
      </p:sp>
      <p:sp>
        <p:nvSpPr>
          <p:cNvPr id="108" name="!!chap1"/>
          <p:cNvSpPr/>
          <p:nvPr/>
        </p:nvSpPr>
        <p:spPr>
          <a:xfrm>
            <a:off x="240944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02  </a:t>
            </a:r>
            <a:r>
              <a:rPr lang="en-US" sz="1100" b="0" dirty="0">
                <a:solidFill>
                  <a:srgbClr val="94A3B8"/>
                </a:solidFill>
                <a:latin typeface="Segoe UI"/>
                <a:ea typeface="Segoe UI"/>
                <a:cs typeface="Segoe UI"/>
              </a:rPr>
              <a:t>First test</a:t>
            </a:r>
            <a:endParaRPr lang="en-US" sz="1100" dirty="0"/>
          </a:p>
        </p:txBody>
      </p:sp>
      <p:sp>
        <p:nvSpPr>
          <p:cNvPr id="109" name="!!chap2"/>
          <p:cNvSpPr/>
          <p:nvPr/>
        </p:nvSpPr>
        <p:spPr>
          <a:xfrm>
            <a:off x="4275734" y="5074920"/>
            <a:ext cx="1756562" cy="457200"/>
          </a:xfrm>
          <a:prstGeom prst="roundRect">
            <a:avLst>
              <a:gd name="adj" fmla="val 50000"/>
            </a:avLst>
          </a:prstGeom>
          <a:solidFill>
            <a:srgbClr val="FBBF24"/>
          </a:solidFill>
          <a:ln w="12700">
            <a:solidFill>
              <a:srgbClr val="FBBF24"/>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03  Many cases</a:t>
            </a:r>
            <a:endParaRPr lang="en-US" sz="1100" dirty="0"/>
          </a:p>
        </p:txBody>
      </p:sp>
      <p:sp>
        <p:nvSpPr>
          <p:cNvPr id="110" name="!!chap3"/>
          <p:cNvSpPr/>
          <p:nvPr/>
        </p:nvSpPr>
        <p:spPr>
          <a:xfrm>
            <a:off x="614202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04  </a:t>
            </a:r>
            <a:r>
              <a:rPr lang="en-US" sz="1100" b="0" dirty="0">
                <a:solidFill>
                  <a:srgbClr val="94A3B8"/>
                </a:solidFill>
                <a:latin typeface="Segoe UI"/>
                <a:ea typeface="Segoe UI"/>
                <a:cs typeface="Segoe UI"/>
              </a:rPr>
              <a:t>Hidden inputs</a:t>
            </a:r>
            <a:endParaRPr lang="en-US" sz="1100" dirty="0"/>
          </a:p>
        </p:txBody>
      </p:sp>
      <p:sp>
        <p:nvSpPr>
          <p:cNvPr id="111" name="!!chap4"/>
          <p:cNvSpPr/>
          <p:nvPr/>
        </p:nvSpPr>
        <p:spPr>
          <a:xfrm>
            <a:off x="800831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05  </a:t>
            </a:r>
            <a:r>
              <a:rPr lang="en-US" sz="1100" b="0" dirty="0">
                <a:solidFill>
                  <a:srgbClr val="94A3B8"/>
                </a:solidFill>
                <a:latin typeface="Segoe UI"/>
                <a:ea typeface="Segoe UI"/>
                <a:cs typeface="Segoe UI"/>
              </a:rPr>
              <a:t>Test doubles</a:t>
            </a:r>
            <a:endParaRPr lang="en-US" sz="1100" dirty="0"/>
          </a:p>
        </p:txBody>
      </p:sp>
      <p:sp>
        <p:nvSpPr>
          <p:cNvPr id="112" name="!!chap5"/>
          <p:cNvSpPr/>
          <p:nvPr/>
        </p:nvSpPr>
        <p:spPr>
          <a:xfrm>
            <a:off x="9874606"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06  </a:t>
            </a:r>
            <a:r>
              <a:rPr lang="en-US" sz="1100" b="0" dirty="0">
                <a:solidFill>
                  <a:srgbClr val="94A3B8"/>
                </a:solidFill>
                <a:latin typeface="Segoe UI"/>
                <a:ea typeface="Segoe UI"/>
                <a:cs typeface="Segoe UI"/>
              </a:rPr>
              <a:t>Real project</a:t>
            </a:r>
            <a:endParaRPr lang="en-US" sz="11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5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50" decel="100000" fill="hold"/>
                                        <p:tgtEl>
                                          <p:spTgt spid="101"/>
                                        </p:tgtEl>
                                        <p:attrNameLst>
                                          <p:attrName>ppt_h</p:attrName>
                                        </p:attrNameLst>
                                      </p:cBhvr>
                                      <p:tavLst>
                                        <p:tav tm="0">
                                          <p:val>
                                            <p:strVal val="#ppt_h*0.3"/>
                                          </p:val>
                                        </p:tav>
                                        <p:tav tm="100000">
                                          <p:val>
                                            <p:strVal val="#ppt_h*1.08"/>
                                          </p:val>
                                        </p:tav>
                                      </p:tavLst>
                                    </p:anim>
                                    <p:animEffect transition="in" filter="fade">
                                      <p:cBhvr>
                                        <p:cTn id="9" dur="275"/>
                                        <p:tgtEl>
                                          <p:spTgt spid="101"/>
                                        </p:tgtEl>
                                      </p:cBhvr>
                                    </p:animEffect>
                                    <p:anim calcmode="lin" valueType="num">
                                      <p:cBhvr additive="base">
                                        <p:cTn id="10" dur="160" fill="hold">
                                          <p:stCondLst>
                                            <p:cond delay="55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5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4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50"/>
                                        <p:tgtEl>
                                          <p:spTgt spid="102"/>
                                        </p:tgtEl>
                                      </p:cBhvr>
                                    </p:animEffect>
                                    <p:anim calcmode="lin" valueType="num">
                                      <p:cBhvr additive="base">
                                        <p:cTn id="15" dur="55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8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50"/>
                                        <p:tgtEl>
                                          <p:spTgt spid="103"/>
                                        </p:tgtEl>
                                      </p:cBhvr>
                                    </p:animEffect>
                                    <p:anim calcmode="lin" valueType="num">
                                      <p:cBhvr additive="base">
                                        <p:cTn id="19" dur="55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42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50"/>
                                        <p:tgtEl>
                                          <p:spTgt spid="104"/>
                                        </p:tgtEl>
                                      </p:cBhvr>
                                    </p:animEffect>
                                    <p:anim calcmode="lin" valueType="num">
                                      <p:cBhvr additive="base">
                                        <p:cTn id="23" dur="55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56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50"/>
                                        <p:tgtEl>
                                          <p:spTgt spid="105"/>
                                        </p:tgtEl>
                                      </p:cBhvr>
                                    </p:animEffect>
                                    <p:anim calcmode="lin" valueType="num">
                                      <p:cBhvr additive="base">
                                        <p:cTn id="27" dur="55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70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50"/>
                                        <p:tgtEl>
                                          <p:spTgt spid="106"/>
                                        </p:tgtEl>
                                      </p:cBhvr>
                                    </p:animEffect>
                                    <p:anim calcmode="lin" valueType="num">
                                      <p:cBhvr additive="base">
                                        <p:cTn id="31" dur="550" decel="100000" fill="hold"/>
                                        <p:tgtEl>
                                          <p:spTgt spid="106"/>
                                        </p:tgtEl>
                                        <p:attrNameLst>
                                          <p:attrName>ppt_y</p:attrName>
                                        </p:attrNameLst>
                                      </p:cBhvr>
                                      <p:tavLst>
                                        <p:tav tm="0">
                                          <p:val>
                                            <p:strVal val="#ppt_y+0.06"/>
                                          </p:val>
                                        </p:tav>
                                        <p:tav tm="100000">
                                          <p:val>
                                            <p:strVal val="#ppt_y"/>
                                          </p:val>
                                        </p:tav>
                                      </p:tavLst>
                                    </p:anim>
                                  </p:childTnLst>
                                </p:cTn>
                              </p:par>
                              <p:par>
                                <p:cTn id="32" presetID="10" presetClass="entr" presetSubtype="0" fill="hold" grpId="0" nodeType="withEffect">
                                  <p:stCondLst>
                                    <p:cond delay="85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childTnLst>
                                </p:cTn>
                              </p:par>
                              <p:par>
                                <p:cTn id="35" presetID="10" presetClass="entr" presetSubtype="0" fill="hold" grpId="0" nodeType="withEffect">
                                  <p:stCondLst>
                                    <p:cond delay="85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85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85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85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85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PROBLEM</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Same Test, Many Inputs: Copy-Paste?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EmailValidator has many good and bad inputs. With [Fact] only, each input needs a method.</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125</a:t>
            </a:r>
            <a:endParaRPr lang="en-US" sz="850" dirty="0"/>
          </a:p>
        </p:txBody>
      </p:sp>
      <p:sp>
        <p:nvSpPr>
          <p:cNvPr id="101" name="s101"/>
          <p:cNvSpPr txBox="1"/>
          <p:nvPr/>
        </p:nvSpPr>
        <p:spPr>
          <a:xfrm>
            <a:off x="543154" y="1810512"/>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THE CLASS</a:t>
            </a:r>
            <a:endParaRPr lang="en-US" sz="1050" dirty="0"/>
          </a:p>
        </p:txBody>
      </p:sp>
      <p:sp>
        <p:nvSpPr>
          <p:cNvPr id="102" name="s102"/>
          <p:cNvSpPr/>
          <p:nvPr/>
        </p:nvSpPr>
        <p:spPr>
          <a:xfrm>
            <a:off x="543154" y="2084832"/>
            <a:ext cx="5349240" cy="260604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157984"/>
            <a:ext cx="153253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EmailValidator.cs</a:t>
            </a:r>
            <a:endParaRPr lang="en-US" sz="950" dirty="0"/>
          </a:p>
        </p:txBody>
      </p:sp>
      <p:cxnSp>
        <p:nvCxnSpPr>
          <p:cNvPr id="107" name="ln107"/>
          <p:cNvCxnSpPr/>
          <p:nvPr/>
        </p:nvCxnSpPr>
        <p:spPr>
          <a:xfrm>
            <a:off x="543154" y="2496312"/>
            <a:ext cx="5349240" cy="0"/>
          </a:xfrm>
          <a:prstGeom prst="line">
            <a:avLst/>
          </a:prstGeom>
          <a:ln w="9525">
            <a:solidFill>
              <a:srgbClr val="1E3A5F"/>
            </a:solidFill>
          </a:ln>
        </p:spPr>
      </p:cxnSp>
      <p:sp>
        <p:nvSpPr>
          <p:cNvPr id="108" name="s108"/>
          <p:cNvSpPr/>
          <p:nvPr/>
        </p:nvSpPr>
        <p:spPr>
          <a:xfrm>
            <a:off x="543154" y="26151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static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class</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EmailValidator</a:t>
            </a:r>
            <a:endParaRPr lang="en-US" sz="1000" dirty="0"/>
          </a:p>
        </p:txBody>
      </p:sp>
      <p:sp>
        <p:nvSpPr>
          <p:cNvPr id="109" name="s109"/>
          <p:cNvSpPr/>
          <p:nvPr/>
        </p:nvSpPr>
        <p:spPr>
          <a:xfrm>
            <a:off x="543154" y="27675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10" name="s110"/>
          <p:cNvSpPr/>
          <p:nvPr/>
        </p:nvSpPr>
        <p:spPr>
          <a:xfrm>
            <a:off x="543154" y="29199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static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bool</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IsValid</a:t>
            </a:r>
            <a:r>
              <a:rPr lang="en-US" sz="1000" b="0" dirty="0">
                <a:solidFill>
                  <a:srgbClr val="E2E8F0"/>
                </a:solidFill>
                <a:latin typeface="Consolas"/>
                <a:ea typeface="Consolas"/>
                <a:cs typeface="Consolas"/>
              </a:rPr>
              <a:t>(</a:t>
            </a:r>
            <a:r>
              <a:rPr lang="en-US" sz="1000" b="0" dirty="0">
                <a:solidFill>
                  <a:srgbClr val="60A5FA"/>
                </a:solidFill>
                <a:latin typeface="Consolas"/>
                <a:ea typeface="Consolas"/>
                <a:cs typeface="Consolas"/>
              </a:rPr>
              <a:t>string</a:t>
            </a:r>
            <a:r>
              <a:rPr lang="en-US" sz="1000" b="0" dirty="0">
                <a:solidFill>
                  <a:srgbClr val="E2E8F0"/>
                </a:solidFill>
                <a:latin typeface="Consolas"/>
                <a:ea typeface="Consolas"/>
                <a:cs typeface="Consolas"/>
              </a:rPr>
              <a:t>? email)</a:t>
            </a:r>
            <a:endParaRPr lang="en-US" sz="1000" dirty="0"/>
          </a:p>
        </p:txBody>
      </p:sp>
      <p:sp>
        <p:nvSpPr>
          <p:cNvPr id="111" name="s111"/>
          <p:cNvSpPr/>
          <p:nvPr/>
        </p:nvSpPr>
        <p:spPr>
          <a:xfrm>
            <a:off x="543154" y="30723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endParaRPr lang="en-US" sz="1000" dirty="0"/>
          </a:p>
        </p:txBody>
      </p:sp>
      <p:sp>
        <p:nvSpPr>
          <p:cNvPr id="112" name="s112"/>
          <p:cNvSpPr/>
          <p:nvPr/>
        </p:nvSpPr>
        <p:spPr>
          <a:xfrm>
            <a:off x="543154" y="32247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if</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string</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IsNullOrWhiteSpace</a:t>
            </a:r>
            <a:r>
              <a:rPr lang="en-US" sz="1000" b="0" dirty="0">
                <a:solidFill>
                  <a:srgbClr val="E2E8F0"/>
                </a:solidFill>
                <a:latin typeface="Consolas"/>
                <a:ea typeface="Consolas"/>
                <a:cs typeface="Consolas"/>
              </a:rPr>
              <a:t>(email)) </a:t>
            </a:r>
            <a:r>
              <a:rPr lang="en-US" sz="1000" b="0" dirty="0">
                <a:solidFill>
                  <a:srgbClr val="60A5FA"/>
                </a:solidFill>
                <a:latin typeface="Consolas"/>
                <a:ea typeface="Consolas"/>
                <a:cs typeface="Consolas"/>
              </a:rPr>
              <a:t>return</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false</a:t>
            </a:r>
            <a:r>
              <a:rPr lang="en-US" sz="1000" b="0" dirty="0">
                <a:solidFill>
                  <a:srgbClr val="E2E8F0"/>
                </a:solidFill>
                <a:latin typeface="Consolas"/>
                <a:ea typeface="Consolas"/>
                <a:cs typeface="Consolas"/>
              </a:rPr>
              <a:t>;</a:t>
            </a:r>
            <a:endParaRPr lang="en-US" sz="1000" dirty="0"/>
          </a:p>
        </p:txBody>
      </p:sp>
      <p:sp>
        <p:nvSpPr>
          <p:cNvPr id="113" name="s113"/>
          <p:cNvSpPr/>
          <p:nvPr/>
        </p:nvSpPr>
        <p:spPr>
          <a:xfrm>
            <a:off x="543154" y="33771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int</a:t>
            </a:r>
            <a:r>
              <a:rPr lang="en-US" sz="1000" b="0" dirty="0">
                <a:solidFill>
                  <a:srgbClr val="E2E8F0"/>
                </a:solidFill>
                <a:latin typeface="Consolas"/>
                <a:ea typeface="Consolas"/>
                <a:cs typeface="Consolas"/>
              </a:rPr>
              <a:t> at = email.</a:t>
            </a:r>
            <a:r>
              <a:rPr lang="en-US" sz="1000" b="0" dirty="0">
                <a:solidFill>
                  <a:srgbClr val="7DD3FC"/>
                </a:solidFill>
                <a:latin typeface="Consolas"/>
                <a:ea typeface="Consolas"/>
                <a:cs typeface="Consolas"/>
              </a:rPr>
              <a:t>IndexOf</a:t>
            </a:r>
            <a:r>
              <a:rPr lang="en-US" sz="1000" b="0" dirty="0">
                <a:solidFill>
                  <a:srgbClr val="E2E8F0"/>
                </a:solidFill>
                <a:latin typeface="Consolas"/>
                <a:ea typeface="Consolas"/>
                <a:cs typeface="Consolas"/>
              </a:rPr>
              <a:t>(</a:t>
            </a:r>
            <a:r>
              <a:rPr lang="en-US" sz="1000" b="0" dirty="0">
                <a:solidFill>
                  <a:srgbClr val="F0A98B"/>
                </a:solidFill>
                <a:latin typeface="Consolas"/>
                <a:ea typeface="Consolas"/>
                <a:cs typeface="Consolas"/>
              </a:rPr>
              <a:t>'@'</a:t>
            </a:r>
            <a:r>
              <a:rPr lang="en-US" sz="1000" b="0" dirty="0">
                <a:solidFill>
                  <a:srgbClr val="E2E8F0"/>
                </a:solidFill>
                <a:latin typeface="Consolas"/>
                <a:ea typeface="Consolas"/>
                <a:cs typeface="Consolas"/>
              </a:rPr>
              <a:t>);</a:t>
            </a:r>
            <a:endParaRPr lang="en-US" sz="1000" dirty="0"/>
          </a:p>
        </p:txBody>
      </p:sp>
      <p:sp>
        <p:nvSpPr>
          <p:cNvPr id="114" name="s114"/>
          <p:cNvSpPr/>
          <p:nvPr/>
        </p:nvSpPr>
        <p:spPr>
          <a:xfrm>
            <a:off x="543154" y="35295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return</a:t>
            </a:r>
            <a:r>
              <a:rPr lang="en-US" sz="1000" b="0" dirty="0">
                <a:solidFill>
                  <a:srgbClr val="E2E8F0"/>
                </a:solidFill>
                <a:latin typeface="Consolas"/>
                <a:ea typeface="Consolas"/>
                <a:cs typeface="Consolas"/>
              </a:rPr>
              <a:t> at &gt; </a:t>
            </a:r>
            <a:r>
              <a:rPr lang="en-US" sz="1000" b="0" dirty="0">
                <a:solidFill>
                  <a:srgbClr val="C4B5FD"/>
                </a:solidFill>
                <a:latin typeface="Consolas"/>
                <a:ea typeface="Consolas"/>
                <a:cs typeface="Consolas"/>
              </a:rPr>
              <a:t>0</a:t>
            </a:r>
            <a:r>
              <a:rPr lang="en-US" sz="1000" b="0" dirty="0">
                <a:solidFill>
                  <a:srgbClr val="E2E8F0"/>
                </a:solidFill>
                <a:latin typeface="Consolas"/>
                <a:ea typeface="Consolas"/>
                <a:cs typeface="Consolas"/>
              </a:rPr>
              <a:t>                            </a:t>
            </a:r>
            <a:r>
              <a:rPr lang="en-US" sz="1000" b="0" dirty="0">
                <a:solidFill>
                  <a:srgbClr val="6FAE7A"/>
                </a:solidFill>
                <a:latin typeface="Consolas"/>
                <a:ea typeface="Consolas"/>
                <a:cs typeface="Consolas"/>
              </a:rPr>
              <a:t>// text before @</a:t>
            </a:r>
            <a:endParaRPr lang="en-US" sz="1000" dirty="0"/>
          </a:p>
        </p:txBody>
      </p:sp>
      <p:sp>
        <p:nvSpPr>
          <p:cNvPr id="115" name="s115"/>
          <p:cNvSpPr/>
          <p:nvPr/>
        </p:nvSpPr>
        <p:spPr>
          <a:xfrm>
            <a:off x="543154" y="36819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&amp;&amp; at == email.</a:t>
            </a:r>
            <a:r>
              <a:rPr lang="en-US" sz="1000" b="0" dirty="0">
                <a:solidFill>
                  <a:srgbClr val="7DD3FC"/>
                </a:solidFill>
                <a:latin typeface="Consolas"/>
                <a:ea typeface="Consolas"/>
                <a:cs typeface="Consolas"/>
              </a:rPr>
              <a:t>LastIndexOf</a:t>
            </a:r>
            <a:r>
              <a:rPr lang="en-US" sz="1000" b="0" dirty="0">
                <a:solidFill>
                  <a:srgbClr val="E2E8F0"/>
                </a:solidFill>
                <a:latin typeface="Consolas"/>
                <a:ea typeface="Consolas"/>
                <a:cs typeface="Consolas"/>
              </a:rPr>
              <a:t>(</a:t>
            </a:r>
            <a:r>
              <a:rPr lang="en-US" sz="1000" b="0" dirty="0">
                <a:solidFill>
                  <a:srgbClr val="F0A98B"/>
                </a:solidFill>
                <a:latin typeface="Consolas"/>
                <a:ea typeface="Consolas"/>
                <a:cs typeface="Consolas"/>
              </a:rPr>
              <a:t>'@'</a:t>
            </a:r>
            <a:r>
              <a:rPr lang="en-US" sz="1000" b="0" dirty="0">
                <a:solidFill>
                  <a:srgbClr val="E2E8F0"/>
                </a:solidFill>
                <a:latin typeface="Consolas"/>
                <a:ea typeface="Consolas"/>
                <a:cs typeface="Consolas"/>
              </a:rPr>
              <a:t>)      </a:t>
            </a:r>
            <a:r>
              <a:rPr lang="en-US" sz="1000" b="0" dirty="0">
                <a:solidFill>
                  <a:srgbClr val="6FAE7A"/>
                </a:solidFill>
                <a:latin typeface="Consolas"/>
                <a:ea typeface="Consolas"/>
                <a:cs typeface="Consolas"/>
              </a:rPr>
              <a:t>// only one @</a:t>
            </a:r>
            <a:endParaRPr lang="en-US" sz="1000" dirty="0"/>
          </a:p>
        </p:txBody>
      </p:sp>
      <p:sp>
        <p:nvSpPr>
          <p:cNvPr id="116" name="s116"/>
          <p:cNvSpPr/>
          <p:nvPr/>
        </p:nvSpPr>
        <p:spPr>
          <a:xfrm>
            <a:off x="543154" y="38343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&amp;&amp; email.</a:t>
            </a:r>
            <a:r>
              <a:rPr lang="en-US" sz="1000" b="0" dirty="0">
                <a:solidFill>
                  <a:srgbClr val="7DD3FC"/>
                </a:solidFill>
                <a:latin typeface="Consolas"/>
                <a:ea typeface="Consolas"/>
                <a:cs typeface="Consolas"/>
              </a:rPr>
              <a:t>IndexOf</a:t>
            </a:r>
            <a:r>
              <a:rPr lang="en-US" sz="1000" b="0" dirty="0">
                <a:solidFill>
                  <a:srgbClr val="E2E8F0"/>
                </a:solidFill>
                <a:latin typeface="Consolas"/>
                <a:ea typeface="Consolas"/>
                <a:cs typeface="Consolas"/>
              </a:rPr>
              <a:t>(</a:t>
            </a:r>
            <a:r>
              <a:rPr lang="en-US" sz="1000" b="0" dirty="0">
                <a:solidFill>
                  <a:srgbClr val="F0A98B"/>
                </a:solidFill>
                <a:latin typeface="Consolas"/>
                <a:ea typeface="Consolas"/>
                <a:cs typeface="Consolas"/>
              </a:rPr>
              <a:t>'.'</a:t>
            </a:r>
            <a:r>
              <a:rPr lang="en-US" sz="1000" b="0" dirty="0">
                <a:solidFill>
                  <a:srgbClr val="E2E8F0"/>
                </a:solidFill>
                <a:latin typeface="Consolas"/>
                <a:ea typeface="Consolas"/>
                <a:cs typeface="Consolas"/>
              </a:rPr>
              <a:t>, at) &gt; at + </a:t>
            </a:r>
            <a:r>
              <a:rPr lang="en-US" sz="1000" b="0" dirty="0">
                <a:solidFill>
                  <a:srgbClr val="C4B5FD"/>
                </a:solidFill>
                <a:latin typeface="Consolas"/>
                <a:ea typeface="Consolas"/>
                <a:cs typeface="Consolas"/>
              </a:rPr>
              <a:t>1</a:t>
            </a:r>
            <a:r>
              <a:rPr lang="en-US" sz="1000" b="0" dirty="0">
                <a:solidFill>
                  <a:srgbClr val="E2E8F0"/>
                </a:solidFill>
                <a:latin typeface="Consolas"/>
                <a:ea typeface="Consolas"/>
                <a:cs typeface="Consolas"/>
              </a:rPr>
              <a:t>   </a:t>
            </a:r>
            <a:r>
              <a:rPr lang="en-US" sz="1000" b="0" dirty="0">
                <a:solidFill>
                  <a:srgbClr val="6FAE7A"/>
                </a:solidFill>
                <a:latin typeface="Consolas"/>
                <a:ea typeface="Consolas"/>
                <a:cs typeface="Consolas"/>
              </a:rPr>
              <a:t>// a dot after it</a:t>
            </a:r>
            <a:endParaRPr lang="en-US" sz="1000" dirty="0"/>
          </a:p>
        </p:txBody>
      </p:sp>
      <p:sp>
        <p:nvSpPr>
          <p:cNvPr id="117" name="s117"/>
          <p:cNvSpPr/>
          <p:nvPr/>
        </p:nvSpPr>
        <p:spPr>
          <a:xfrm>
            <a:off x="543154" y="39867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&amp;&amp; !email.</a:t>
            </a:r>
            <a:r>
              <a:rPr lang="en-US" sz="1000" b="0" dirty="0">
                <a:solidFill>
                  <a:srgbClr val="7DD3FC"/>
                </a:solidFill>
                <a:latin typeface="Consolas"/>
                <a:ea typeface="Consolas"/>
                <a:cs typeface="Consolas"/>
              </a:rPr>
              <a:t>EndsWith</a:t>
            </a:r>
            <a:r>
              <a:rPr lang="en-US" sz="1000" b="0" dirty="0">
                <a:solidFill>
                  <a:srgbClr val="E2E8F0"/>
                </a:solidFill>
                <a:latin typeface="Consolas"/>
                <a:ea typeface="Consolas"/>
                <a:cs typeface="Consolas"/>
              </a:rPr>
              <a:t>(</a:t>
            </a:r>
            <a:r>
              <a:rPr lang="en-US" sz="1000" b="0" dirty="0">
                <a:solidFill>
                  <a:srgbClr val="F0A98B"/>
                </a:solidFill>
                <a:latin typeface="Consolas"/>
                <a:ea typeface="Consolas"/>
                <a:cs typeface="Consolas"/>
              </a:rPr>
              <a:t>'.'</a:t>
            </a:r>
            <a:r>
              <a:rPr lang="en-US" sz="1000" b="0" dirty="0">
                <a:solidFill>
                  <a:srgbClr val="E2E8F0"/>
                </a:solidFill>
                <a:latin typeface="Consolas"/>
                <a:ea typeface="Consolas"/>
                <a:cs typeface="Consolas"/>
              </a:rPr>
              <a:t>);</a:t>
            </a:r>
            <a:endParaRPr lang="en-US" sz="1000" dirty="0"/>
          </a:p>
        </p:txBody>
      </p:sp>
      <p:sp>
        <p:nvSpPr>
          <p:cNvPr id="118" name="s118"/>
          <p:cNvSpPr/>
          <p:nvPr/>
        </p:nvSpPr>
        <p:spPr>
          <a:xfrm>
            <a:off x="543154" y="41391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endParaRPr lang="en-US" sz="1000" dirty="0"/>
          </a:p>
        </p:txBody>
      </p:sp>
      <p:sp>
        <p:nvSpPr>
          <p:cNvPr id="119" name="s119"/>
          <p:cNvSpPr/>
          <p:nvPr/>
        </p:nvSpPr>
        <p:spPr>
          <a:xfrm>
            <a:off x="543154" y="42915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20" name="s120"/>
          <p:cNvSpPr txBox="1"/>
          <p:nvPr/>
        </p:nvSpPr>
        <p:spPr>
          <a:xfrm>
            <a:off x="6120994" y="1810512"/>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87171"/>
                </a:solidFill>
                <a:latin typeface="Segoe UI"/>
                <a:ea typeface="Segoe UI"/>
                <a:cs typeface="Segoe UI"/>
              </a:rPr>
              <a:t>THE TESTS: ONE FACT PER INPUT</a:t>
            </a:r>
            <a:endParaRPr lang="en-US" sz="1050" dirty="0"/>
          </a:p>
        </p:txBody>
      </p:sp>
      <p:sp>
        <p:nvSpPr>
          <p:cNvPr id="121" name="s121"/>
          <p:cNvSpPr/>
          <p:nvPr/>
        </p:nvSpPr>
        <p:spPr>
          <a:xfrm>
            <a:off x="6120994" y="2084832"/>
            <a:ext cx="5510174" cy="356616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2" name="s122"/>
          <p:cNvSpPr/>
          <p:nvPr/>
        </p:nvSpPr>
        <p:spPr>
          <a:xfrm>
            <a:off x="628558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3" name="s123"/>
          <p:cNvSpPr/>
          <p:nvPr/>
        </p:nvSpPr>
        <p:spPr>
          <a:xfrm>
            <a:off x="646846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4" name="s124"/>
          <p:cNvSpPr/>
          <p:nvPr/>
        </p:nvSpPr>
        <p:spPr>
          <a:xfrm>
            <a:off x="665134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5" name="s125"/>
          <p:cNvSpPr/>
          <p:nvPr/>
        </p:nvSpPr>
        <p:spPr>
          <a:xfrm>
            <a:off x="6898234" y="2157984"/>
            <a:ext cx="1889150"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EmailValidatorTests.cs</a:t>
            </a:r>
            <a:endParaRPr lang="en-US" sz="950" dirty="0"/>
          </a:p>
        </p:txBody>
      </p:sp>
      <p:cxnSp>
        <p:nvCxnSpPr>
          <p:cNvPr id="126" name="ln126"/>
          <p:cNvCxnSpPr/>
          <p:nvPr/>
        </p:nvCxnSpPr>
        <p:spPr>
          <a:xfrm>
            <a:off x="6120994" y="2496312"/>
            <a:ext cx="5510174" cy="0"/>
          </a:xfrm>
          <a:prstGeom prst="line">
            <a:avLst/>
          </a:prstGeom>
          <a:ln w="9525">
            <a:solidFill>
              <a:srgbClr val="1E3A5F"/>
            </a:solidFill>
          </a:ln>
        </p:spPr>
      </p:cxnSp>
      <p:sp>
        <p:nvSpPr>
          <p:cNvPr id="127" name="s127"/>
          <p:cNvSpPr/>
          <p:nvPr/>
        </p:nvSpPr>
        <p:spPr>
          <a:xfrm>
            <a:off x="6120994" y="261518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FBBF24"/>
                </a:solidFill>
                <a:latin typeface="Consolas"/>
                <a:ea typeface="Consolas"/>
                <a:cs typeface="Consolas"/>
              </a:rPr>
              <a:t>[Fact]</a:t>
            </a:r>
            <a:endParaRPr lang="en-US" sz="1050" dirty="0"/>
          </a:p>
        </p:txBody>
      </p:sp>
      <p:sp>
        <p:nvSpPr>
          <p:cNvPr id="128" name="s128"/>
          <p:cNvSpPr/>
          <p:nvPr/>
        </p:nvSpPr>
        <p:spPr>
          <a:xfrm>
            <a:off x="6120994" y="277520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60A5FA"/>
                </a:solidFill>
                <a:latin typeface="Consolas"/>
                <a:ea typeface="Consolas"/>
                <a:cs typeface="Consolas"/>
              </a:rPr>
              <a:t>public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void</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IsValid_Gmail_ReturnsTrue</a:t>
            </a:r>
            <a:r>
              <a:rPr lang="en-US" sz="1050" b="0" dirty="0">
                <a:solidFill>
                  <a:srgbClr val="E2E8F0"/>
                </a:solidFill>
                <a:latin typeface="Consolas"/>
                <a:ea typeface="Consolas"/>
                <a:cs typeface="Consolas"/>
              </a:rPr>
              <a:t>()</a:t>
            </a:r>
            <a:endParaRPr lang="en-US" sz="1050" dirty="0"/>
          </a:p>
        </p:txBody>
      </p:sp>
      <p:sp>
        <p:nvSpPr>
          <p:cNvPr id="129" name="s129"/>
          <p:cNvSpPr/>
          <p:nvPr/>
        </p:nvSpPr>
        <p:spPr>
          <a:xfrm>
            <a:off x="6120994" y="293522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30" name="s130"/>
          <p:cNvSpPr/>
          <p:nvPr/>
        </p:nvSpPr>
        <p:spPr>
          <a:xfrm>
            <a:off x="6120994" y="309524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Assert</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True</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EmailValidator</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IsValid</a:t>
            </a:r>
            <a:r>
              <a:rPr lang="en-US" sz="1050" b="0" dirty="0">
                <a:solidFill>
                  <a:srgbClr val="E2E8F0"/>
                </a:solidFill>
                <a:latin typeface="Consolas"/>
                <a:ea typeface="Consolas"/>
                <a:cs typeface="Consolas"/>
              </a:rPr>
              <a:t>(</a:t>
            </a:r>
            <a:r>
              <a:rPr lang="en-US" sz="1050" b="0" dirty="0">
                <a:solidFill>
                  <a:srgbClr val="F0A98B"/>
                </a:solidFill>
                <a:latin typeface="Consolas"/>
                <a:ea typeface="Consolas"/>
                <a:cs typeface="Consolas"/>
              </a:rPr>
              <a:t>"mona@gmail.com"</a:t>
            </a:r>
            <a:r>
              <a:rPr lang="en-US" sz="1050" b="0" dirty="0">
                <a:solidFill>
                  <a:srgbClr val="E2E8F0"/>
                </a:solidFill>
                <a:latin typeface="Consolas"/>
                <a:ea typeface="Consolas"/>
                <a:cs typeface="Consolas"/>
              </a:rPr>
              <a:t>));</a:t>
            </a:r>
            <a:endParaRPr lang="en-US" sz="1050" dirty="0"/>
          </a:p>
        </p:txBody>
      </p:sp>
      <p:sp>
        <p:nvSpPr>
          <p:cNvPr id="131" name="s131"/>
          <p:cNvSpPr/>
          <p:nvPr/>
        </p:nvSpPr>
        <p:spPr>
          <a:xfrm>
            <a:off x="6120994" y="325526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32" name="s132"/>
          <p:cNvSpPr/>
          <p:nvPr/>
        </p:nvSpPr>
        <p:spPr>
          <a:xfrm>
            <a:off x="6120994" y="357530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FBBF24"/>
                </a:solidFill>
                <a:latin typeface="Consolas"/>
                <a:ea typeface="Consolas"/>
                <a:cs typeface="Consolas"/>
              </a:rPr>
              <a:t>[Fact]</a:t>
            </a:r>
            <a:endParaRPr lang="en-US" sz="1050" dirty="0"/>
          </a:p>
        </p:txBody>
      </p:sp>
      <p:sp>
        <p:nvSpPr>
          <p:cNvPr id="133" name="s133"/>
          <p:cNvSpPr/>
          <p:nvPr/>
        </p:nvSpPr>
        <p:spPr>
          <a:xfrm>
            <a:off x="6120994" y="373532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60A5FA"/>
                </a:solidFill>
                <a:latin typeface="Consolas"/>
                <a:ea typeface="Consolas"/>
                <a:cs typeface="Consolas"/>
              </a:rPr>
              <a:t>public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void</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IsValid_CompanyEmail_ReturnsTrue</a:t>
            </a:r>
            <a:r>
              <a:rPr lang="en-US" sz="1050" b="0" dirty="0">
                <a:solidFill>
                  <a:srgbClr val="E2E8F0"/>
                </a:solidFill>
                <a:latin typeface="Consolas"/>
                <a:ea typeface="Consolas"/>
                <a:cs typeface="Consolas"/>
              </a:rPr>
              <a:t>()</a:t>
            </a:r>
            <a:endParaRPr lang="en-US" sz="1050" dirty="0"/>
          </a:p>
        </p:txBody>
      </p:sp>
      <p:sp>
        <p:nvSpPr>
          <p:cNvPr id="134" name="s134"/>
          <p:cNvSpPr/>
          <p:nvPr/>
        </p:nvSpPr>
        <p:spPr>
          <a:xfrm>
            <a:off x="6120994" y="389534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35" name="s135"/>
          <p:cNvSpPr/>
          <p:nvPr/>
        </p:nvSpPr>
        <p:spPr>
          <a:xfrm>
            <a:off x="6120994" y="405536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Assert</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True</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EmailValidator</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IsValid</a:t>
            </a:r>
            <a:r>
              <a:rPr lang="en-US" sz="1050" b="0" dirty="0">
                <a:solidFill>
                  <a:srgbClr val="E2E8F0"/>
                </a:solidFill>
                <a:latin typeface="Consolas"/>
                <a:ea typeface="Consolas"/>
                <a:cs typeface="Consolas"/>
              </a:rPr>
              <a:t>(</a:t>
            </a:r>
            <a:r>
              <a:rPr lang="en-US" sz="1050" b="0" dirty="0">
                <a:solidFill>
                  <a:srgbClr val="F0A98B"/>
                </a:solidFill>
                <a:latin typeface="Consolas"/>
                <a:ea typeface="Consolas"/>
                <a:cs typeface="Consolas"/>
              </a:rPr>
              <a:t>"ali.hassan@company.eg"</a:t>
            </a:r>
            <a:r>
              <a:rPr lang="en-US" sz="1050" b="0" dirty="0">
                <a:solidFill>
                  <a:srgbClr val="E2E8F0"/>
                </a:solidFill>
                <a:latin typeface="Consolas"/>
                <a:ea typeface="Consolas"/>
                <a:cs typeface="Consolas"/>
              </a:rPr>
              <a:t>));</a:t>
            </a:r>
            <a:endParaRPr lang="en-US" sz="1050" dirty="0"/>
          </a:p>
        </p:txBody>
      </p:sp>
      <p:sp>
        <p:nvSpPr>
          <p:cNvPr id="136" name="s136"/>
          <p:cNvSpPr/>
          <p:nvPr/>
        </p:nvSpPr>
        <p:spPr>
          <a:xfrm>
            <a:off x="6120994" y="421538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37" name="s137"/>
          <p:cNvSpPr/>
          <p:nvPr/>
        </p:nvSpPr>
        <p:spPr>
          <a:xfrm>
            <a:off x="6120994" y="453542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FBBF24"/>
                </a:solidFill>
                <a:latin typeface="Consolas"/>
                <a:ea typeface="Consolas"/>
                <a:cs typeface="Consolas"/>
              </a:rPr>
              <a:t>[Fact]</a:t>
            </a:r>
            <a:endParaRPr lang="en-US" sz="1050" dirty="0"/>
          </a:p>
        </p:txBody>
      </p:sp>
      <p:sp>
        <p:nvSpPr>
          <p:cNvPr id="138" name="s138"/>
          <p:cNvSpPr/>
          <p:nvPr/>
        </p:nvSpPr>
        <p:spPr>
          <a:xfrm>
            <a:off x="6120994" y="469544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60A5FA"/>
                </a:solidFill>
                <a:latin typeface="Consolas"/>
                <a:ea typeface="Consolas"/>
                <a:cs typeface="Consolas"/>
              </a:rPr>
              <a:t>public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void</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IsValid_ShortEmail_ReturnsTrue</a:t>
            </a:r>
            <a:r>
              <a:rPr lang="en-US" sz="1050" b="0" dirty="0">
                <a:solidFill>
                  <a:srgbClr val="E2E8F0"/>
                </a:solidFill>
                <a:latin typeface="Consolas"/>
                <a:ea typeface="Consolas"/>
                <a:cs typeface="Consolas"/>
              </a:rPr>
              <a:t>()</a:t>
            </a:r>
            <a:endParaRPr lang="en-US" sz="1050" dirty="0"/>
          </a:p>
        </p:txBody>
      </p:sp>
      <p:sp>
        <p:nvSpPr>
          <p:cNvPr id="139" name="s139"/>
          <p:cNvSpPr/>
          <p:nvPr/>
        </p:nvSpPr>
        <p:spPr>
          <a:xfrm>
            <a:off x="6120994" y="485546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40" name="s140"/>
          <p:cNvSpPr/>
          <p:nvPr/>
        </p:nvSpPr>
        <p:spPr>
          <a:xfrm>
            <a:off x="6120994" y="501548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Assert</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True</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EmailValidator</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IsValid</a:t>
            </a:r>
            <a:r>
              <a:rPr lang="en-US" sz="1050" b="0" dirty="0">
                <a:solidFill>
                  <a:srgbClr val="E2E8F0"/>
                </a:solidFill>
                <a:latin typeface="Consolas"/>
                <a:ea typeface="Consolas"/>
                <a:cs typeface="Consolas"/>
              </a:rPr>
              <a:t>(</a:t>
            </a:r>
            <a:r>
              <a:rPr lang="en-US" sz="1050" b="0" dirty="0">
                <a:solidFill>
                  <a:srgbClr val="F0A98B"/>
                </a:solidFill>
                <a:latin typeface="Consolas"/>
                <a:ea typeface="Consolas"/>
                <a:cs typeface="Consolas"/>
              </a:rPr>
              <a:t>"a@b.co"</a:t>
            </a:r>
            <a:r>
              <a:rPr lang="en-US" sz="1050" b="0" dirty="0">
                <a:solidFill>
                  <a:srgbClr val="E2E8F0"/>
                </a:solidFill>
                <a:latin typeface="Consolas"/>
                <a:ea typeface="Consolas"/>
                <a:cs typeface="Consolas"/>
              </a:rPr>
              <a:t>));</a:t>
            </a:r>
            <a:endParaRPr lang="en-US" sz="1050" dirty="0"/>
          </a:p>
        </p:txBody>
      </p:sp>
      <p:sp>
        <p:nvSpPr>
          <p:cNvPr id="141" name="s141"/>
          <p:cNvSpPr/>
          <p:nvPr/>
        </p:nvSpPr>
        <p:spPr>
          <a:xfrm>
            <a:off x="6120994" y="517550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42" name="s142"/>
          <p:cNvSpPr/>
          <p:nvPr/>
        </p:nvSpPr>
        <p:spPr>
          <a:xfrm>
            <a:off x="6120994" y="533552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6FAE7A"/>
                </a:solidFill>
                <a:latin typeface="Consolas"/>
                <a:ea typeface="Consolas"/>
                <a:cs typeface="Consolas"/>
              </a:rPr>
              <a:t>// ... and 6 more for the bad emails</a:t>
            </a:r>
            <a:endParaRPr lang="en-US" sz="1050" dirty="0"/>
          </a:p>
        </p:txBody>
      </p:sp>
      <p:sp>
        <p:nvSpPr>
          <p:cNvPr id="143" name="s143"/>
          <p:cNvSpPr/>
          <p:nvPr/>
        </p:nvSpPr>
        <p:spPr>
          <a:xfrm>
            <a:off x="543154" y="4846320"/>
            <a:ext cx="5349240" cy="777240"/>
          </a:xfrm>
          <a:prstGeom prst="roundRect">
            <a:avLst>
              <a:gd name="adj" fmla="val 20000"/>
            </a:avLst>
          </a:prstGeom>
          <a:solidFill>
            <a:srgbClr val="F87171">
              <a:alpha val="10000"/>
            </a:srgbClr>
          </a:solidFill>
          <a:ln w="12700">
            <a:solidFill>
              <a:srgbClr val="F87171"/>
            </a:solidFill>
            <a:prstDash val="solid"/>
          </a:ln>
        </p:spPr>
        <p:txBody>
          <a:bodyPr wrap="square" lIns="228600" tIns="0" rIns="137160" bIns="0" rtlCol="0" anchor="ctr">
            <a:noAutofit/>
          </a:bodyPr>
          <a:lstStyle/>
          <a:p>
            <a:pPr marL="0" indent="0" algn="l">
              <a:spcBef>
                <a:spcPts val="0"/>
              </a:spcBef>
              <a:spcAft>
                <a:spcPts val="0"/>
              </a:spcAft>
              <a:buNone/>
            </a:pPr>
            <a:r>
              <a:rPr lang="en-US" sz="1250" b="1" dirty="0">
                <a:solidFill>
                  <a:srgbClr val="F87171"/>
                </a:solidFill>
                <a:latin typeface="Segoe UI"/>
                <a:ea typeface="Segoe UI"/>
                <a:cs typeface="Segoe UI"/>
              </a:rPr>
              <a:t>⚠  THE PROBLEM   </a:t>
            </a:r>
            <a:r>
              <a:rPr lang="en-US" sz="1250" b="1" dirty="0">
                <a:solidFill>
                  <a:srgbClr val="FFFFFF"/>
                </a:solidFill>
                <a:latin typeface="Segoe UI"/>
                <a:ea typeface="Segoe UI"/>
                <a:cs typeface="Segoe UI"/>
              </a:rPr>
              <a:t>Same body, copied for every input</a:t>
            </a:r>
            <a:endParaRPr lang="en-US" sz="1250" dirty="0"/>
          </a:p>
        </p:txBody>
      </p:sp>
      <p:sp>
        <p:nvSpPr>
          <p:cNvPr id="144" name="s144"/>
          <p:cNvSpPr/>
          <p:nvPr/>
        </p:nvSpPr>
        <p:spPr>
          <a:xfrm>
            <a:off x="6230722" y="3067812"/>
            <a:ext cx="5290718" cy="21488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45" name="s145"/>
          <p:cNvSpPr/>
          <p:nvPr/>
        </p:nvSpPr>
        <p:spPr>
          <a:xfrm>
            <a:off x="6230722" y="4027932"/>
            <a:ext cx="5290718" cy="21488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46" name="s146"/>
          <p:cNvSpPr/>
          <p:nvPr/>
        </p:nvSpPr>
        <p:spPr>
          <a:xfrm>
            <a:off x="6230722" y="4988052"/>
            <a:ext cx="5290718" cy="21488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anim calcmode="lin" valueType="num">
                                      <p:cBhvr additive="base">
                                        <p:cTn id="12" dur="500" decel="100000" fill="hold"/>
                                        <p:tgtEl>
                                          <p:spTgt spid="103"/>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7"/>
                                        </p:tgtEl>
                                        <p:attrNameLst>
                                          <p:attrName>style.visibility</p:attrName>
                                        </p:attrNameLst>
                                      </p:cBhvr>
                                      <p:to>
                                        <p:strVal val="visible"/>
                                      </p:to>
                                    </p:set>
                                    <p:animEffect transition="in" filter="fade">
                                      <p:cBhvr>
                                        <p:cTn id="67" dur="500"/>
                                        <p:tgtEl>
                                          <p:spTgt spid="117"/>
                                        </p:tgtEl>
                                      </p:cBhvr>
                                    </p:animEffect>
                                    <p:anim calcmode="lin" valueType="num">
                                      <p:cBhvr additive="base">
                                        <p:cTn id="68" dur="500" decel="100000" fill="hold"/>
                                        <p:tgtEl>
                                          <p:spTgt spid="117"/>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8"/>
                                        </p:tgtEl>
                                        <p:attrNameLst>
                                          <p:attrName>style.visibility</p:attrName>
                                        </p:attrNameLst>
                                      </p:cBhvr>
                                      <p:to>
                                        <p:strVal val="visible"/>
                                      </p:to>
                                    </p:set>
                                    <p:animEffect transition="in" filter="fade">
                                      <p:cBhvr>
                                        <p:cTn id="71" dur="500"/>
                                        <p:tgtEl>
                                          <p:spTgt spid="118"/>
                                        </p:tgtEl>
                                      </p:cBhvr>
                                    </p:animEffect>
                                    <p:anim calcmode="lin" valueType="num">
                                      <p:cBhvr additive="base">
                                        <p:cTn id="72" dur="500" decel="100000" fill="hold"/>
                                        <p:tgtEl>
                                          <p:spTgt spid="118"/>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9"/>
                                        </p:tgtEl>
                                        <p:attrNameLst>
                                          <p:attrName>style.visibility</p:attrName>
                                        </p:attrNameLst>
                                      </p:cBhvr>
                                      <p:to>
                                        <p:strVal val="visible"/>
                                      </p:to>
                                    </p:set>
                                    <p:animEffect transition="in" filter="fade">
                                      <p:cBhvr>
                                        <p:cTn id="75" dur="500"/>
                                        <p:tgtEl>
                                          <p:spTgt spid="119"/>
                                        </p:tgtEl>
                                      </p:cBhvr>
                                    </p:animEffect>
                                    <p:anim calcmode="lin" valueType="num">
                                      <p:cBhvr additive="base">
                                        <p:cTn id="76" dur="5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2" presetClass="entr" presetSubtype="0" fill="hold" grpId="0" nodeType="clickEffect">
                                  <p:stCondLst>
                                    <p:cond delay="0"/>
                                  </p:stCondLst>
                                  <p:childTnLst>
                                    <p:set>
                                      <p:cBhvr>
                                        <p:cTn id="80" dur="1" fill="hold">
                                          <p:stCondLst>
                                            <p:cond delay="0"/>
                                          </p:stCondLst>
                                        </p:cTn>
                                        <p:tgtEl>
                                          <p:spTgt spid="121"/>
                                        </p:tgtEl>
                                        <p:attrNameLst>
                                          <p:attrName>style.visibility</p:attrName>
                                        </p:attrNameLst>
                                      </p:cBhvr>
                                      <p:to>
                                        <p:strVal val="visible"/>
                                      </p:to>
                                    </p:set>
                                    <p:animEffect transition="in" filter="fade">
                                      <p:cBhvr>
                                        <p:cTn id="81" dur="500"/>
                                        <p:tgtEl>
                                          <p:spTgt spid="121"/>
                                        </p:tgtEl>
                                      </p:cBhvr>
                                    </p:animEffect>
                                    <p:anim calcmode="lin" valueType="num">
                                      <p:cBhvr additive="base">
                                        <p:cTn id="82" dur="500" decel="100000" fill="hold"/>
                                        <p:tgtEl>
                                          <p:spTgt spid="121"/>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22"/>
                                        </p:tgtEl>
                                        <p:attrNameLst>
                                          <p:attrName>style.visibility</p:attrName>
                                        </p:attrNameLst>
                                      </p:cBhvr>
                                      <p:to>
                                        <p:strVal val="visible"/>
                                      </p:to>
                                    </p:set>
                                    <p:animEffect transition="in" filter="fade">
                                      <p:cBhvr>
                                        <p:cTn id="85" dur="500"/>
                                        <p:tgtEl>
                                          <p:spTgt spid="122"/>
                                        </p:tgtEl>
                                      </p:cBhvr>
                                    </p:animEffect>
                                    <p:anim calcmode="lin" valueType="num">
                                      <p:cBhvr additive="base">
                                        <p:cTn id="86" dur="500" decel="100000" fill="hold"/>
                                        <p:tgtEl>
                                          <p:spTgt spid="122"/>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23"/>
                                        </p:tgtEl>
                                        <p:attrNameLst>
                                          <p:attrName>style.visibility</p:attrName>
                                        </p:attrNameLst>
                                      </p:cBhvr>
                                      <p:to>
                                        <p:strVal val="visible"/>
                                      </p:to>
                                    </p:set>
                                    <p:animEffect transition="in" filter="fade">
                                      <p:cBhvr>
                                        <p:cTn id="89" dur="500"/>
                                        <p:tgtEl>
                                          <p:spTgt spid="123"/>
                                        </p:tgtEl>
                                      </p:cBhvr>
                                    </p:animEffect>
                                    <p:anim calcmode="lin" valueType="num">
                                      <p:cBhvr additive="base">
                                        <p:cTn id="90" dur="500" decel="100000" fill="hold"/>
                                        <p:tgtEl>
                                          <p:spTgt spid="123"/>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4"/>
                                        </p:tgtEl>
                                        <p:attrNameLst>
                                          <p:attrName>style.visibility</p:attrName>
                                        </p:attrNameLst>
                                      </p:cBhvr>
                                      <p:to>
                                        <p:strVal val="visible"/>
                                      </p:to>
                                    </p:set>
                                    <p:animEffect transition="in" filter="fade">
                                      <p:cBhvr>
                                        <p:cTn id="93" dur="500"/>
                                        <p:tgtEl>
                                          <p:spTgt spid="124"/>
                                        </p:tgtEl>
                                      </p:cBhvr>
                                    </p:animEffect>
                                    <p:anim calcmode="lin" valueType="num">
                                      <p:cBhvr additive="base">
                                        <p:cTn id="94" dur="500" decel="100000" fill="hold"/>
                                        <p:tgtEl>
                                          <p:spTgt spid="124"/>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5"/>
                                        </p:tgtEl>
                                        <p:attrNameLst>
                                          <p:attrName>style.visibility</p:attrName>
                                        </p:attrNameLst>
                                      </p:cBhvr>
                                      <p:to>
                                        <p:strVal val="visible"/>
                                      </p:to>
                                    </p:set>
                                    <p:animEffect transition="in" filter="fade">
                                      <p:cBhvr>
                                        <p:cTn id="97" dur="500"/>
                                        <p:tgtEl>
                                          <p:spTgt spid="125"/>
                                        </p:tgtEl>
                                      </p:cBhvr>
                                    </p:animEffect>
                                    <p:anim calcmode="lin" valueType="num">
                                      <p:cBhvr additive="base">
                                        <p:cTn id="98" dur="500" decel="100000" fill="hold"/>
                                        <p:tgtEl>
                                          <p:spTgt spid="125"/>
                                        </p:tgtEl>
                                        <p:attrNameLst>
                                          <p:attrName>ppt_y</p:attrName>
                                        </p:attrNameLst>
                                      </p:cBhvr>
                                      <p:tavLst>
                                        <p:tav tm="0">
                                          <p:val>
                                            <p:strVal val="#ppt_y+0.06"/>
                                          </p:val>
                                        </p:tav>
                                        <p:tav tm="100000">
                                          <p:val>
                                            <p:strVal val="#ppt_y"/>
                                          </p:val>
                                        </p:tav>
                                      </p:tavLst>
                                    </p:anim>
                                  </p:childTnLst>
                                </p:cTn>
                              </p:par>
                              <p:par>
                                <p:cTn id="99" presetID="42" presetClass="entr" presetSubtype="0" fill="hold" nodeType="withEffect">
                                  <p:stCondLst>
                                    <p:cond delay="0"/>
                                  </p:stCondLst>
                                  <p:childTnLst>
                                    <p:set>
                                      <p:cBhvr>
                                        <p:cTn id="100" dur="1" fill="hold">
                                          <p:stCondLst>
                                            <p:cond delay="0"/>
                                          </p:stCondLst>
                                        </p:cTn>
                                        <p:tgtEl>
                                          <p:spTgt spid="126"/>
                                        </p:tgtEl>
                                        <p:attrNameLst>
                                          <p:attrName>style.visibility</p:attrName>
                                        </p:attrNameLst>
                                      </p:cBhvr>
                                      <p:to>
                                        <p:strVal val="visible"/>
                                      </p:to>
                                    </p:set>
                                    <p:animEffect transition="in" filter="fade">
                                      <p:cBhvr>
                                        <p:cTn id="101" dur="500"/>
                                        <p:tgtEl>
                                          <p:spTgt spid="126"/>
                                        </p:tgtEl>
                                      </p:cBhvr>
                                    </p:animEffect>
                                    <p:anim calcmode="lin" valueType="num">
                                      <p:cBhvr additive="base">
                                        <p:cTn id="102" dur="500" decel="100000" fill="hold"/>
                                        <p:tgtEl>
                                          <p:spTgt spid="126"/>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7"/>
                                        </p:tgtEl>
                                        <p:attrNameLst>
                                          <p:attrName>style.visibility</p:attrName>
                                        </p:attrNameLst>
                                      </p:cBhvr>
                                      <p:to>
                                        <p:strVal val="visible"/>
                                      </p:to>
                                    </p:set>
                                    <p:animEffect transition="in" filter="fade">
                                      <p:cBhvr>
                                        <p:cTn id="105" dur="500"/>
                                        <p:tgtEl>
                                          <p:spTgt spid="127"/>
                                        </p:tgtEl>
                                      </p:cBhvr>
                                    </p:animEffect>
                                    <p:anim calcmode="lin" valueType="num">
                                      <p:cBhvr additive="base">
                                        <p:cTn id="106" dur="500" decel="100000" fill="hold"/>
                                        <p:tgtEl>
                                          <p:spTgt spid="127"/>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8"/>
                                        </p:tgtEl>
                                        <p:attrNameLst>
                                          <p:attrName>style.visibility</p:attrName>
                                        </p:attrNameLst>
                                      </p:cBhvr>
                                      <p:to>
                                        <p:strVal val="visible"/>
                                      </p:to>
                                    </p:set>
                                    <p:animEffect transition="in" filter="fade">
                                      <p:cBhvr>
                                        <p:cTn id="109" dur="500"/>
                                        <p:tgtEl>
                                          <p:spTgt spid="128"/>
                                        </p:tgtEl>
                                      </p:cBhvr>
                                    </p:animEffect>
                                    <p:anim calcmode="lin" valueType="num">
                                      <p:cBhvr additive="base">
                                        <p:cTn id="110" dur="500" decel="100000" fill="hold"/>
                                        <p:tgtEl>
                                          <p:spTgt spid="128"/>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9"/>
                                        </p:tgtEl>
                                        <p:attrNameLst>
                                          <p:attrName>style.visibility</p:attrName>
                                        </p:attrNameLst>
                                      </p:cBhvr>
                                      <p:to>
                                        <p:strVal val="visible"/>
                                      </p:to>
                                    </p:set>
                                    <p:animEffect transition="in" filter="fade">
                                      <p:cBhvr>
                                        <p:cTn id="113" dur="500"/>
                                        <p:tgtEl>
                                          <p:spTgt spid="129"/>
                                        </p:tgtEl>
                                      </p:cBhvr>
                                    </p:animEffect>
                                    <p:anim calcmode="lin" valueType="num">
                                      <p:cBhvr additive="base">
                                        <p:cTn id="114" dur="500" decel="100000" fill="hold"/>
                                        <p:tgtEl>
                                          <p:spTgt spid="129"/>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30"/>
                                        </p:tgtEl>
                                        <p:attrNameLst>
                                          <p:attrName>style.visibility</p:attrName>
                                        </p:attrNameLst>
                                      </p:cBhvr>
                                      <p:to>
                                        <p:strVal val="visible"/>
                                      </p:to>
                                    </p:set>
                                    <p:animEffect transition="in" filter="fade">
                                      <p:cBhvr>
                                        <p:cTn id="117" dur="500"/>
                                        <p:tgtEl>
                                          <p:spTgt spid="130"/>
                                        </p:tgtEl>
                                      </p:cBhvr>
                                    </p:animEffect>
                                    <p:anim calcmode="lin" valueType="num">
                                      <p:cBhvr additive="base">
                                        <p:cTn id="118" dur="500" decel="100000" fill="hold"/>
                                        <p:tgtEl>
                                          <p:spTgt spid="130"/>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31"/>
                                        </p:tgtEl>
                                        <p:attrNameLst>
                                          <p:attrName>style.visibility</p:attrName>
                                        </p:attrNameLst>
                                      </p:cBhvr>
                                      <p:to>
                                        <p:strVal val="visible"/>
                                      </p:to>
                                    </p:set>
                                    <p:animEffect transition="in" filter="fade">
                                      <p:cBhvr>
                                        <p:cTn id="121" dur="500"/>
                                        <p:tgtEl>
                                          <p:spTgt spid="131"/>
                                        </p:tgtEl>
                                      </p:cBhvr>
                                    </p:animEffect>
                                    <p:anim calcmode="lin" valueType="num">
                                      <p:cBhvr additive="base">
                                        <p:cTn id="122" dur="500" decel="100000" fill="hold"/>
                                        <p:tgtEl>
                                          <p:spTgt spid="131"/>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32"/>
                                        </p:tgtEl>
                                        <p:attrNameLst>
                                          <p:attrName>style.visibility</p:attrName>
                                        </p:attrNameLst>
                                      </p:cBhvr>
                                      <p:to>
                                        <p:strVal val="visible"/>
                                      </p:to>
                                    </p:set>
                                    <p:animEffect transition="in" filter="fade">
                                      <p:cBhvr>
                                        <p:cTn id="125" dur="500"/>
                                        <p:tgtEl>
                                          <p:spTgt spid="132"/>
                                        </p:tgtEl>
                                      </p:cBhvr>
                                    </p:animEffect>
                                    <p:anim calcmode="lin" valueType="num">
                                      <p:cBhvr additive="base">
                                        <p:cTn id="126" dur="500" decel="100000" fill="hold"/>
                                        <p:tgtEl>
                                          <p:spTgt spid="132"/>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33"/>
                                        </p:tgtEl>
                                        <p:attrNameLst>
                                          <p:attrName>style.visibility</p:attrName>
                                        </p:attrNameLst>
                                      </p:cBhvr>
                                      <p:to>
                                        <p:strVal val="visible"/>
                                      </p:to>
                                    </p:set>
                                    <p:animEffect transition="in" filter="fade">
                                      <p:cBhvr>
                                        <p:cTn id="129" dur="500"/>
                                        <p:tgtEl>
                                          <p:spTgt spid="133"/>
                                        </p:tgtEl>
                                      </p:cBhvr>
                                    </p:animEffect>
                                    <p:anim calcmode="lin" valueType="num">
                                      <p:cBhvr additive="base">
                                        <p:cTn id="130" dur="500" decel="100000" fill="hold"/>
                                        <p:tgtEl>
                                          <p:spTgt spid="133"/>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34"/>
                                        </p:tgtEl>
                                        <p:attrNameLst>
                                          <p:attrName>style.visibility</p:attrName>
                                        </p:attrNameLst>
                                      </p:cBhvr>
                                      <p:to>
                                        <p:strVal val="visible"/>
                                      </p:to>
                                    </p:set>
                                    <p:animEffect transition="in" filter="fade">
                                      <p:cBhvr>
                                        <p:cTn id="133" dur="500"/>
                                        <p:tgtEl>
                                          <p:spTgt spid="134"/>
                                        </p:tgtEl>
                                      </p:cBhvr>
                                    </p:animEffect>
                                    <p:anim calcmode="lin" valueType="num">
                                      <p:cBhvr additive="base">
                                        <p:cTn id="134" dur="500" decel="100000" fill="hold"/>
                                        <p:tgtEl>
                                          <p:spTgt spid="134"/>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135"/>
                                        </p:tgtEl>
                                        <p:attrNameLst>
                                          <p:attrName>style.visibility</p:attrName>
                                        </p:attrNameLst>
                                      </p:cBhvr>
                                      <p:to>
                                        <p:strVal val="visible"/>
                                      </p:to>
                                    </p:set>
                                    <p:animEffect transition="in" filter="fade">
                                      <p:cBhvr>
                                        <p:cTn id="137" dur="500"/>
                                        <p:tgtEl>
                                          <p:spTgt spid="135"/>
                                        </p:tgtEl>
                                      </p:cBhvr>
                                    </p:animEffect>
                                    <p:anim calcmode="lin" valueType="num">
                                      <p:cBhvr additive="base">
                                        <p:cTn id="138" dur="500" decel="100000" fill="hold"/>
                                        <p:tgtEl>
                                          <p:spTgt spid="135"/>
                                        </p:tgtEl>
                                        <p:attrNameLst>
                                          <p:attrName>ppt_y</p:attrName>
                                        </p:attrNameLst>
                                      </p:cBhvr>
                                      <p:tavLst>
                                        <p:tav tm="0">
                                          <p:val>
                                            <p:strVal val="#ppt_y+0.06"/>
                                          </p:val>
                                        </p:tav>
                                        <p:tav tm="100000">
                                          <p:val>
                                            <p:strVal val="#ppt_y"/>
                                          </p:val>
                                        </p:tav>
                                      </p:tavLst>
                                    </p:anim>
                                  </p:childTnLst>
                                </p:cTn>
                              </p:par>
                              <p:par>
                                <p:cTn id="139" presetID="42" presetClass="entr" presetSubtype="0" fill="hold" grpId="0" nodeType="withEffect">
                                  <p:stCondLst>
                                    <p:cond delay="0"/>
                                  </p:stCondLst>
                                  <p:childTnLst>
                                    <p:set>
                                      <p:cBhvr>
                                        <p:cTn id="140" dur="1" fill="hold">
                                          <p:stCondLst>
                                            <p:cond delay="0"/>
                                          </p:stCondLst>
                                        </p:cTn>
                                        <p:tgtEl>
                                          <p:spTgt spid="136"/>
                                        </p:tgtEl>
                                        <p:attrNameLst>
                                          <p:attrName>style.visibility</p:attrName>
                                        </p:attrNameLst>
                                      </p:cBhvr>
                                      <p:to>
                                        <p:strVal val="visible"/>
                                      </p:to>
                                    </p:set>
                                    <p:animEffect transition="in" filter="fade">
                                      <p:cBhvr>
                                        <p:cTn id="141" dur="500"/>
                                        <p:tgtEl>
                                          <p:spTgt spid="136"/>
                                        </p:tgtEl>
                                      </p:cBhvr>
                                    </p:animEffect>
                                    <p:anim calcmode="lin" valueType="num">
                                      <p:cBhvr additive="base">
                                        <p:cTn id="142" dur="500" decel="100000" fill="hold"/>
                                        <p:tgtEl>
                                          <p:spTgt spid="136"/>
                                        </p:tgtEl>
                                        <p:attrNameLst>
                                          <p:attrName>ppt_y</p:attrName>
                                        </p:attrNameLst>
                                      </p:cBhvr>
                                      <p:tavLst>
                                        <p:tav tm="0">
                                          <p:val>
                                            <p:strVal val="#ppt_y+0.06"/>
                                          </p:val>
                                        </p:tav>
                                        <p:tav tm="100000">
                                          <p:val>
                                            <p:strVal val="#ppt_y"/>
                                          </p:val>
                                        </p:tav>
                                      </p:tavLst>
                                    </p:anim>
                                  </p:childTnLst>
                                </p:cTn>
                              </p:par>
                              <p:par>
                                <p:cTn id="143" presetID="42" presetClass="entr" presetSubtype="0" fill="hold" grpId="0" nodeType="withEffect">
                                  <p:stCondLst>
                                    <p:cond delay="0"/>
                                  </p:stCondLst>
                                  <p:childTnLst>
                                    <p:set>
                                      <p:cBhvr>
                                        <p:cTn id="144" dur="1" fill="hold">
                                          <p:stCondLst>
                                            <p:cond delay="0"/>
                                          </p:stCondLst>
                                        </p:cTn>
                                        <p:tgtEl>
                                          <p:spTgt spid="137"/>
                                        </p:tgtEl>
                                        <p:attrNameLst>
                                          <p:attrName>style.visibility</p:attrName>
                                        </p:attrNameLst>
                                      </p:cBhvr>
                                      <p:to>
                                        <p:strVal val="visible"/>
                                      </p:to>
                                    </p:set>
                                    <p:animEffect transition="in" filter="fade">
                                      <p:cBhvr>
                                        <p:cTn id="145" dur="500"/>
                                        <p:tgtEl>
                                          <p:spTgt spid="137"/>
                                        </p:tgtEl>
                                      </p:cBhvr>
                                    </p:animEffect>
                                    <p:anim calcmode="lin" valueType="num">
                                      <p:cBhvr additive="base">
                                        <p:cTn id="146" dur="500" decel="100000" fill="hold"/>
                                        <p:tgtEl>
                                          <p:spTgt spid="137"/>
                                        </p:tgtEl>
                                        <p:attrNameLst>
                                          <p:attrName>ppt_y</p:attrName>
                                        </p:attrNameLst>
                                      </p:cBhvr>
                                      <p:tavLst>
                                        <p:tav tm="0">
                                          <p:val>
                                            <p:strVal val="#ppt_y+0.06"/>
                                          </p:val>
                                        </p:tav>
                                        <p:tav tm="100000">
                                          <p:val>
                                            <p:strVal val="#ppt_y"/>
                                          </p:val>
                                        </p:tav>
                                      </p:tavLst>
                                    </p:anim>
                                  </p:childTnLst>
                                </p:cTn>
                              </p:par>
                              <p:par>
                                <p:cTn id="147" presetID="42" presetClass="entr" presetSubtype="0" fill="hold" grpId="0" nodeType="withEffect">
                                  <p:stCondLst>
                                    <p:cond delay="0"/>
                                  </p:stCondLst>
                                  <p:childTnLst>
                                    <p:set>
                                      <p:cBhvr>
                                        <p:cTn id="148" dur="1" fill="hold">
                                          <p:stCondLst>
                                            <p:cond delay="0"/>
                                          </p:stCondLst>
                                        </p:cTn>
                                        <p:tgtEl>
                                          <p:spTgt spid="138"/>
                                        </p:tgtEl>
                                        <p:attrNameLst>
                                          <p:attrName>style.visibility</p:attrName>
                                        </p:attrNameLst>
                                      </p:cBhvr>
                                      <p:to>
                                        <p:strVal val="visible"/>
                                      </p:to>
                                    </p:set>
                                    <p:animEffect transition="in" filter="fade">
                                      <p:cBhvr>
                                        <p:cTn id="149" dur="500"/>
                                        <p:tgtEl>
                                          <p:spTgt spid="138"/>
                                        </p:tgtEl>
                                      </p:cBhvr>
                                    </p:animEffect>
                                    <p:anim calcmode="lin" valueType="num">
                                      <p:cBhvr additive="base">
                                        <p:cTn id="150" dur="500" decel="100000" fill="hold"/>
                                        <p:tgtEl>
                                          <p:spTgt spid="138"/>
                                        </p:tgtEl>
                                        <p:attrNameLst>
                                          <p:attrName>ppt_y</p:attrName>
                                        </p:attrNameLst>
                                      </p:cBhvr>
                                      <p:tavLst>
                                        <p:tav tm="0">
                                          <p:val>
                                            <p:strVal val="#ppt_y+0.06"/>
                                          </p:val>
                                        </p:tav>
                                        <p:tav tm="100000">
                                          <p:val>
                                            <p:strVal val="#ppt_y"/>
                                          </p:val>
                                        </p:tav>
                                      </p:tavLst>
                                    </p:anim>
                                  </p:childTnLst>
                                </p:cTn>
                              </p:par>
                              <p:par>
                                <p:cTn id="151" presetID="42" presetClass="entr" presetSubtype="0" fill="hold" grpId="0" nodeType="withEffect">
                                  <p:stCondLst>
                                    <p:cond delay="0"/>
                                  </p:stCondLst>
                                  <p:childTnLst>
                                    <p:set>
                                      <p:cBhvr>
                                        <p:cTn id="152" dur="1" fill="hold">
                                          <p:stCondLst>
                                            <p:cond delay="0"/>
                                          </p:stCondLst>
                                        </p:cTn>
                                        <p:tgtEl>
                                          <p:spTgt spid="139"/>
                                        </p:tgtEl>
                                        <p:attrNameLst>
                                          <p:attrName>style.visibility</p:attrName>
                                        </p:attrNameLst>
                                      </p:cBhvr>
                                      <p:to>
                                        <p:strVal val="visible"/>
                                      </p:to>
                                    </p:set>
                                    <p:animEffect transition="in" filter="fade">
                                      <p:cBhvr>
                                        <p:cTn id="153" dur="500"/>
                                        <p:tgtEl>
                                          <p:spTgt spid="139"/>
                                        </p:tgtEl>
                                      </p:cBhvr>
                                    </p:animEffect>
                                    <p:anim calcmode="lin" valueType="num">
                                      <p:cBhvr additive="base">
                                        <p:cTn id="154" dur="500" decel="100000" fill="hold"/>
                                        <p:tgtEl>
                                          <p:spTgt spid="139"/>
                                        </p:tgtEl>
                                        <p:attrNameLst>
                                          <p:attrName>ppt_y</p:attrName>
                                        </p:attrNameLst>
                                      </p:cBhvr>
                                      <p:tavLst>
                                        <p:tav tm="0">
                                          <p:val>
                                            <p:strVal val="#ppt_y+0.06"/>
                                          </p:val>
                                        </p:tav>
                                        <p:tav tm="100000">
                                          <p:val>
                                            <p:strVal val="#ppt_y"/>
                                          </p:val>
                                        </p:tav>
                                      </p:tavLst>
                                    </p:anim>
                                  </p:childTnLst>
                                </p:cTn>
                              </p:par>
                              <p:par>
                                <p:cTn id="155" presetID="42" presetClass="entr" presetSubtype="0" fill="hold" grpId="0" nodeType="withEffect">
                                  <p:stCondLst>
                                    <p:cond delay="0"/>
                                  </p:stCondLst>
                                  <p:childTnLst>
                                    <p:set>
                                      <p:cBhvr>
                                        <p:cTn id="156" dur="1" fill="hold">
                                          <p:stCondLst>
                                            <p:cond delay="0"/>
                                          </p:stCondLst>
                                        </p:cTn>
                                        <p:tgtEl>
                                          <p:spTgt spid="140"/>
                                        </p:tgtEl>
                                        <p:attrNameLst>
                                          <p:attrName>style.visibility</p:attrName>
                                        </p:attrNameLst>
                                      </p:cBhvr>
                                      <p:to>
                                        <p:strVal val="visible"/>
                                      </p:to>
                                    </p:set>
                                    <p:animEffect transition="in" filter="fade">
                                      <p:cBhvr>
                                        <p:cTn id="157" dur="500"/>
                                        <p:tgtEl>
                                          <p:spTgt spid="140"/>
                                        </p:tgtEl>
                                      </p:cBhvr>
                                    </p:animEffect>
                                    <p:anim calcmode="lin" valueType="num">
                                      <p:cBhvr additive="base">
                                        <p:cTn id="158" dur="500" decel="100000" fill="hold"/>
                                        <p:tgtEl>
                                          <p:spTgt spid="140"/>
                                        </p:tgtEl>
                                        <p:attrNameLst>
                                          <p:attrName>ppt_y</p:attrName>
                                        </p:attrNameLst>
                                      </p:cBhvr>
                                      <p:tavLst>
                                        <p:tav tm="0">
                                          <p:val>
                                            <p:strVal val="#ppt_y+0.06"/>
                                          </p:val>
                                        </p:tav>
                                        <p:tav tm="100000">
                                          <p:val>
                                            <p:strVal val="#ppt_y"/>
                                          </p:val>
                                        </p:tav>
                                      </p:tavLst>
                                    </p:anim>
                                  </p:childTnLst>
                                </p:cTn>
                              </p:par>
                              <p:par>
                                <p:cTn id="159" presetID="42" presetClass="entr" presetSubtype="0" fill="hold" grpId="0" nodeType="withEffect">
                                  <p:stCondLst>
                                    <p:cond delay="0"/>
                                  </p:stCondLst>
                                  <p:childTnLst>
                                    <p:set>
                                      <p:cBhvr>
                                        <p:cTn id="160" dur="1" fill="hold">
                                          <p:stCondLst>
                                            <p:cond delay="0"/>
                                          </p:stCondLst>
                                        </p:cTn>
                                        <p:tgtEl>
                                          <p:spTgt spid="141"/>
                                        </p:tgtEl>
                                        <p:attrNameLst>
                                          <p:attrName>style.visibility</p:attrName>
                                        </p:attrNameLst>
                                      </p:cBhvr>
                                      <p:to>
                                        <p:strVal val="visible"/>
                                      </p:to>
                                    </p:set>
                                    <p:animEffect transition="in" filter="fade">
                                      <p:cBhvr>
                                        <p:cTn id="161" dur="500"/>
                                        <p:tgtEl>
                                          <p:spTgt spid="141"/>
                                        </p:tgtEl>
                                      </p:cBhvr>
                                    </p:animEffect>
                                    <p:anim calcmode="lin" valueType="num">
                                      <p:cBhvr additive="base">
                                        <p:cTn id="162" dur="500" decel="100000" fill="hold"/>
                                        <p:tgtEl>
                                          <p:spTgt spid="141"/>
                                        </p:tgtEl>
                                        <p:attrNameLst>
                                          <p:attrName>ppt_y</p:attrName>
                                        </p:attrNameLst>
                                      </p:cBhvr>
                                      <p:tavLst>
                                        <p:tav tm="0">
                                          <p:val>
                                            <p:strVal val="#ppt_y+0.06"/>
                                          </p:val>
                                        </p:tav>
                                        <p:tav tm="100000">
                                          <p:val>
                                            <p:strVal val="#ppt_y"/>
                                          </p:val>
                                        </p:tav>
                                      </p:tavLst>
                                    </p:anim>
                                  </p:childTnLst>
                                </p:cTn>
                              </p:par>
                              <p:par>
                                <p:cTn id="163" presetID="42" presetClass="entr" presetSubtype="0" fill="hold" grpId="0" nodeType="withEffect">
                                  <p:stCondLst>
                                    <p:cond delay="0"/>
                                  </p:stCondLst>
                                  <p:childTnLst>
                                    <p:set>
                                      <p:cBhvr>
                                        <p:cTn id="164" dur="1" fill="hold">
                                          <p:stCondLst>
                                            <p:cond delay="0"/>
                                          </p:stCondLst>
                                        </p:cTn>
                                        <p:tgtEl>
                                          <p:spTgt spid="142"/>
                                        </p:tgtEl>
                                        <p:attrNameLst>
                                          <p:attrName>style.visibility</p:attrName>
                                        </p:attrNameLst>
                                      </p:cBhvr>
                                      <p:to>
                                        <p:strVal val="visible"/>
                                      </p:to>
                                    </p:set>
                                    <p:animEffect transition="in" filter="fade">
                                      <p:cBhvr>
                                        <p:cTn id="165" dur="500"/>
                                        <p:tgtEl>
                                          <p:spTgt spid="142"/>
                                        </p:tgtEl>
                                      </p:cBhvr>
                                    </p:animEffect>
                                    <p:anim calcmode="lin" valueType="num">
                                      <p:cBhvr additive="base">
                                        <p:cTn id="166" dur="500" decel="100000" fill="hold"/>
                                        <p:tgtEl>
                                          <p:spTgt spid="142"/>
                                        </p:tgtEl>
                                        <p:attrNameLst>
                                          <p:attrName>ppt_y</p:attrName>
                                        </p:attrNameLst>
                                      </p:cBhvr>
                                      <p:tavLst>
                                        <p:tav tm="0">
                                          <p:val>
                                            <p:strVal val="#ppt_y+0.06"/>
                                          </p:val>
                                        </p:tav>
                                        <p:tav tm="100000">
                                          <p:val>
                                            <p:strVal val="#ppt_y"/>
                                          </p:val>
                                        </p:tav>
                                      </p:tavLst>
                                    </p:anim>
                                  </p:childTnLst>
                                </p:cTn>
                              </p:par>
                            </p:childTnLst>
                          </p:cTn>
                        </p:par>
                      </p:childTnLst>
                    </p:cTn>
                  </p:par>
                  <p:par>
                    <p:cTn id="167" fill="hold">
                      <p:stCondLst>
                        <p:cond delay="indefinite"/>
                      </p:stCondLst>
                      <p:childTnLst>
                        <p:par>
                          <p:cTn id="168" fill="hold">
                            <p:stCondLst>
                              <p:cond delay="0"/>
                            </p:stCondLst>
                            <p:childTnLst>
                              <p:par>
                                <p:cTn id="169" presetID="53" presetClass="entr" presetSubtype="16" fill="hold" grpId="0" nodeType="clickEffect">
                                  <p:stCondLst>
                                    <p:cond delay="0"/>
                                  </p:stCondLst>
                                  <p:childTnLst>
                                    <p:set>
                                      <p:cBhvr>
                                        <p:cTn id="170" dur="1" fill="hold">
                                          <p:stCondLst>
                                            <p:cond delay="0"/>
                                          </p:stCondLst>
                                        </p:cTn>
                                        <p:tgtEl>
                                          <p:spTgt spid="144"/>
                                        </p:tgtEl>
                                        <p:attrNameLst>
                                          <p:attrName>style.visibility</p:attrName>
                                        </p:attrNameLst>
                                      </p:cBhvr>
                                      <p:to>
                                        <p:strVal val="visible"/>
                                      </p:to>
                                    </p:set>
                                    <p:anim calcmode="lin" valueType="num">
                                      <p:cBhvr additive="base">
                                        <p:cTn id="171" dur="500" decel="100000" fill="hold"/>
                                        <p:tgtEl>
                                          <p:spTgt spid="144"/>
                                        </p:tgtEl>
                                        <p:attrNameLst>
                                          <p:attrName>ppt_w</p:attrName>
                                        </p:attrNameLst>
                                      </p:cBhvr>
                                      <p:tavLst>
                                        <p:tav tm="0">
                                          <p:val>
                                            <p:strVal val="#ppt_w*0.3"/>
                                          </p:val>
                                        </p:tav>
                                        <p:tav tm="100000">
                                          <p:val>
                                            <p:strVal val="#ppt_w*1.08"/>
                                          </p:val>
                                        </p:tav>
                                      </p:tavLst>
                                    </p:anim>
                                    <p:anim calcmode="lin" valueType="num">
                                      <p:cBhvr additive="base">
                                        <p:cTn id="172" dur="500" decel="100000" fill="hold"/>
                                        <p:tgtEl>
                                          <p:spTgt spid="144"/>
                                        </p:tgtEl>
                                        <p:attrNameLst>
                                          <p:attrName>ppt_h</p:attrName>
                                        </p:attrNameLst>
                                      </p:cBhvr>
                                      <p:tavLst>
                                        <p:tav tm="0">
                                          <p:val>
                                            <p:strVal val="#ppt_h*0.3"/>
                                          </p:val>
                                        </p:tav>
                                        <p:tav tm="100000">
                                          <p:val>
                                            <p:strVal val="#ppt_h*1.08"/>
                                          </p:val>
                                        </p:tav>
                                      </p:tavLst>
                                    </p:anim>
                                    <p:animEffect transition="in" filter="fade">
                                      <p:cBhvr>
                                        <p:cTn id="173" dur="250"/>
                                        <p:tgtEl>
                                          <p:spTgt spid="144"/>
                                        </p:tgtEl>
                                      </p:cBhvr>
                                    </p:animEffect>
                                    <p:anim calcmode="lin" valueType="num">
                                      <p:cBhvr additive="base">
                                        <p:cTn id="174" dur="160" fill="hold">
                                          <p:stCondLst>
                                            <p:cond delay="500"/>
                                          </p:stCondLst>
                                        </p:cTn>
                                        <p:tgtEl>
                                          <p:spTgt spid="144"/>
                                        </p:tgtEl>
                                        <p:attrNameLst>
                                          <p:attrName>ppt_w</p:attrName>
                                        </p:attrNameLst>
                                      </p:cBhvr>
                                      <p:tavLst>
                                        <p:tav tm="0">
                                          <p:val>
                                            <p:strVal val="#ppt_w*1.08"/>
                                          </p:val>
                                        </p:tav>
                                        <p:tav tm="100000">
                                          <p:val>
                                            <p:strVal val="#ppt_w"/>
                                          </p:val>
                                        </p:tav>
                                      </p:tavLst>
                                    </p:anim>
                                    <p:anim calcmode="lin" valueType="num">
                                      <p:cBhvr additive="base">
                                        <p:cTn id="175" dur="160" fill="hold">
                                          <p:stCondLst>
                                            <p:cond delay="500"/>
                                          </p:stCondLst>
                                        </p:cTn>
                                        <p:tgtEl>
                                          <p:spTgt spid="144"/>
                                        </p:tgtEl>
                                        <p:attrNameLst>
                                          <p:attrName>ppt_h</p:attrName>
                                        </p:attrNameLst>
                                      </p:cBhvr>
                                      <p:tavLst>
                                        <p:tav tm="0">
                                          <p:val>
                                            <p:strVal val="#ppt_h*1.08"/>
                                          </p:val>
                                        </p:tav>
                                        <p:tav tm="100000">
                                          <p:val>
                                            <p:strVal val="#ppt_h"/>
                                          </p:val>
                                        </p:tav>
                                      </p:tavLst>
                                    </p:anim>
                                  </p:childTnLst>
                                </p:cTn>
                              </p:par>
                              <p:par>
                                <p:cTn id="176" presetID="53" presetClass="entr" presetSubtype="16" fill="hold" grpId="0" nodeType="withEffect">
                                  <p:stCondLst>
                                    <p:cond delay="150"/>
                                  </p:stCondLst>
                                  <p:childTnLst>
                                    <p:set>
                                      <p:cBhvr>
                                        <p:cTn id="177" dur="1" fill="hold">
                                          <p:stCondLst>
                                            <p:cond delay="0"/>
                                          </p:stCondLst>
                                        </p:cTn>
                                        <p:tgtEl>
                                          <p:spTgt spid="145"/>
                                        </p:tgtEl>
                                        <p:attrNameLst>
                                          <p:attrName>style.visibility</p:attrName>
                                        </p:attrNameLst>
                                      </p:cBhvr>
                                      <p:to>
                                        <p:strVal val="visible"/>
                                      </p:to>
                                    </p:set>
                                    <p:anim calcmode="lin" valueType="num">
                                      <p:cBhvr additive="base">
                                        <p:cTn id="178" dur="500" decel="100000" fill="hold"/>
                                        <p:tgtEl>
                                          <p:spTgt spid="145"/>
                                        </p:tgtEl>
                                        <p:attrNameLst>
                                          <p:attrName>ppt_w</p:attrName>
                                        </p:attrNameLst>
                                      </p:cBhvr>
                                      <p:tavLst>
                                        <p:tav tm="0">
                                          <p:val>
                                            <p:strVal val="#ppt_w*0.3"/>
                                          </p:val>
                                        </p:tav>
                                        <p:tav tm="100000">
                                          <p:val>
                                            <p:strVal val="#ppt_w*1.08"/>
                                          </p:val>
                                        </p:tav>
                                      </p:tavLst>
                                    </p:anim>
                                    <p:anim calcmode="lin" valueType="num">
                                      <p:cBhvr additive="base">
                                        <p:cTn id="179" dur="500" decel="100000" fill="hold"/>
                                        <p:tgtEl>
                                          <p:spTgt spid="145"/>
                                        </p:tgtEl>
                                        <p:attrNameLst>
                                          <p:attrName>ppt_h</p:attrName>
                                        </p:attrNameLst>
                                      </p:cBhvr>
                                      <p:tavLst>
                                        <p:tav tm="0">
                                          <p:val>
                                            <p:strVal val="#ppt_h*0.3"/>
                                          </p:val>
                                        </p:tav>
                                        <p:tav tm="100000">
                                          <p:val>
                                            <p:strVal val="#ppt_h*1.08"/>
                                          </p:val>
                                        </p:tav>
                                      </p:tavLst>
                                    </p:anim>
                                    <p:animEffect transition="in" filter="fade">
                                      <p:cBhvr>
                                        <p:cTn id="180" dur="250"/>
                                        <p:tgtEl>
                                          <p:spTgt spid="145"/>
                                        </p:tgtEl>
                                      </p:cBhvr>
                                    </p:animEffect>
                                    <p:anim calcmode="lin" valueType="num">
                                      <p:cBhvr additive="base">
                                        <p:cTn id="181" dur="160" fill="hold">
                                          <p:stCondLst>
                                            <p:cond delay="500"/>
                                          </p:stCondLst>
                                        </p:cTn>
                                        <p:tgtEl>
                                          <p:spTgt spid="145"/>
                                        </p:tgtEl>
                                        <p:attrNameLst>
                                          <p:attrName>ppt_w</p:attrName>
                                        </p:attrNameLst>
                                      </p:cBhvr>
                                      <p:tavLst>
                                        <p:tav tm="0">
                                          <p:val>
                                            <p:strVal val="#ppt_w*1.08"/>
                                          </p:val>
                                        </p:tav>
                                        <p:tav tm="100000">
                                          <p:val>
                                            <p:strVal val="#ppt_w"/>
                                          </p:val>
                                        </p:tav>
                                      </p:tavLst>
                                    </p:anim>
                                    <p:anim calcmode="lin" valueType="num">
                                      <p:cBhvr additive="base">
                                        <p:cTn id="182" dur="160" fill="hold">
                                          <p:stCondLst>
                                            <p:cond delay="500"/>
                                          </p:stCondLst>
                                        </p:cTn>
                                        <p:tgtEl>
                                          <p:spTgt spid="145"/>
                                        </p:tgtEl>
                                        <p:attrNameLst>
                                          <p:attrName>ppt_h</p:attrName>
                                        </p:attrNameLst>
                                      </p:cBhvr>
                                      <p:tavLst>
                                        <p:tav tm="0">
                                          <p:val>
                                            <p:strVal val="#ppt_h*1.08"/>
                                          </p:val>
                                        </p:tav>
                                        <p:tav tm="100000">
                                          <p:val>
                                            <p:strVal val="#ppt_h"/>
                                          </p:val>
                                        </p:tav>
                                      </p:tavLst>
                                    </p:anim>
                                  </p:childTnLst>
                                </p:cTn>
                              </p:par>
                              <p:par>
                                <p:cTn id="183" presetID="53" presetClass="entr" presetSubtype="16" fill="hold" grpId="0" nodeType="withEffect">
                                  <p:stCondLst>
                                    <p:cond delay="300"/>
                                  </p:stCondLst>
                                  <p:childTnLst>
                                    <p:set>
                                      <p:cBhvr>
                                        <p:cTn id="184" dur="1" fill="hold">
                                          <p:stCondLst>
                                            <p:cond delay="0"/>
                                          </p:stCondLst>
                                        </p:cTn>
                                        <p:tgtEl>
                                          <p:spTgt spid="146"/>
                                        </p:tgtEl>
                                        <p:attrNameLst>
                                          <p:attrName>style.visibility</p:attrName>
                                        </p:attrNameLst>
                                      </p:cBhvr>
                                      <p:to>
                                        <p:strVal val="visible"/>
                                      </p:to>
                                    </p:set>
                                    <p:anim calcmode="lin" valueType="num">
                                      <p:cBhvr additive="base">
                                        <p:cTn id="185" dur="500" decel="100000" fill="hold"/>
                                        <p:tgtEl>
                                          <p:spTgt spid="146"/>
                                        </p:tgtEl>
                                        <p:attrNameLst>
                                          <p:attrName>ppt_w</p:attrName>
                                        </p:attrNameLst>
                                      </p:cBhvr>
                                      <p:tavLst>
                                        <p:tav tm="0">
                                          <p:val>
                                            <p:strVal val="#ppt_w*0.3"/>
                                          </p:val>
                                        </p:tav>
                                        <p:tav tm="100000">
                                          <p:val>
                                            <p:strVal val="#ppt_w*1.08"/>
                                          </p:val>
                                        </p:tav>
                                      </p:tavLst>
                                    </p:anim>
                                    <p:anim calcmode="lin" valueType="num">
                                      <p:cBhvr additive="base">
                                        <p:cTn id="186" dur="500" decel="100000" fill="hold"/>
                                        <p:tgtEl>
                                          <p:spTgt spid="146"/>
                                        </p:tgtEl>
                                        <p:attrNameLst>
                                          <p:attrName>ppt_h</p:attrName>
                                        </p:attrNameLst>
                                      </p:cBhvr>
                                      <p:tavLst>
                                        <p:tav tm="0">
                                          <p:val>
                                            <p:strVal val="#ppt_h*0.3"/>
                                          </p:val>
                                        </p:tav>
                                        <p:tav tm="100000">
                                          <p:val>
                                            <p:strVal val="#ppt_h*1.08"/>
                                          </p:val>
                                        </p:tav>
                                      </p:tavLst>
                                    </p:anim>
                                    <p:animEffect transition="in" filter="fade">
                                      <p:cBhvr>
                                        <p:cTn id="187" dur="250"/>
                                        <p:tgtEl>
                                          <p:spTgt spid="146"/>
                                        </p:tgtEl>
                                      </p:cBhvr>
                                    </p:animEffect>
                                    <p:anim calcmode="lin" valueType="num">
                                      <p:cBhvr additive="base">
                                        <p:cTn id="188" dur="160" fill="hold">
                                          <p:stCondLst>
                                            <p:cond delay="500"/>
                                          </p:stCondLst>
                                        </p:cTn>
                                        <p:tgtEl>
                                          <p:spTgt spid="146"/>
                                        </p:tgtEl>
                                        <p:attrNameLst>
                                          <p:attrName>ppt_w</p:attrName>
                                        </p:attrNameLst>
                                      </p:cBhvr>
                                      <p:tavLst>
                                        <p:tav tm="0">
                                          <p:val>
                                            <p:strVal val="#ppt_w*1.08"/>
                                          </p:val>
                                        </p:tav>
                                        <p:tav tm="100000">
                                          <p:val>
                                            <p:strVal val="#ppt_w"/>
                                          </p:val>
                                        </p:tav>
                                      </p:tavLst>
                                    </p:anim>
                                    <p:anim calcmode="lin" valueType="num">
                                      <p:cBhvr additive="base">
                                        <p:cTn id="189" dur="160" fill="hold">
                                          <p:stCondLst>
                                            <p:cond delay="500"/>
                                          </p:stCondLst>
                                        </p:cTn>
                                        <p:tgtEl>
                                          <p:spTgt spid="146"/>
                                        </p:tgtEl>
                                        <p:attrNameLst>
                                          <p:attrName>ppt_h</p:attrName>
                                        </p:attrNameLst>
                                      </p:cBhvr>
                                      <p:tavLst>
                                        <p:tav tm="0">
                                          <p:val>
                                            <p:strVal val="#ppt_h*1.08"/>
                                          </p:val>
                                        </p:tav>
                                        <p:tav tm="100000">
                                          <p:val>
                                            <p:strVal val="#ppt_h"/>
                                          </p:val>
                                        </p:tav>
                                      </p:tavLst>
                                    </p:anim>
                                  </p:childTnLst>
                                </p:cTn>
                              </p:par>
                              <p:par>
                                <p:cTn id="190" presetID="42" presetClass="entr" presetSubtype="0" fill="hold" grpId="0" nodeType="withEffect">
                                  <p:stCondLst>
                                    <p:cond delay="450"/>
                                  </p:stCondLst>
                                  <p:childTnLst>
                                    <p:set>
                                      <p:cBhvr>
                                        <p:cTn id="191" dur="1" fill="hold">
                                          <p:stCondLst>
                                            <p:cond delay="0"/>
                                          </p:stCondLst>
                                        </p:cTn>
                                        <p:tgtEl>
                                          <p:spTgt spid="143"/>
                                        </p:tgtEl>
                                        <p:attrNameLst>
                                          <p:attrName>style.visibility</p:attrName>
                                        </p:attrNameLst>
                                      </p:cBhvr>
                                      <p:to>
                                        <p:strVal val="visible"/>
                                      </p:to>
                                    </p:set>
                                    <p:animEffect transition="in" filter="fade">
                                      <p:cBhvr>
                                        <p:cTn id="192" dur="500"/>
                                        <p:tgtEl>
                                          <p:spTgt spid="143"/>
                                        </p:tgtEl>
                                      </p:cBhvr>
                                    </p:animEffect>
                                    <p:anim calcmode="lin" valueType="num">
                                      <p:cBhvr additive="base">
                                        <p:cTn id="193" dur="500" decel="100000" fill="hold"/>
                                        <p:tgtEl>
                                          <p:spTgt spid="143"/>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1" grpId="0" animBg="1"/>
      <p:bldP spid="122" grpId="0" animBg="1"/>
      <p:bldP spid="123" grpId="0" animBg="1"/>
      <p:bldP spid="124" grpId="0" animBg="1"/>
      <p:bldP spid="125"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P spid="146"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SOLUTION</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[Theory] + [InlineData]: One Test, Many Rows</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126</a:t>
            </a:r>
            <a:endParaRPr lang="en-US" sz="850" dirty="0"/>
          </a:p>
        </p:txBody>
      </p:sp>
      <p:sp>
        <p:nvSpPr>
          <p:cNvPr id="101" name="s101"/>
          <p:cNvSpPr/>
          <p:nvPr/>
        </p:nvSpPr>
        <p:spPr>
          <a:xfrm>
            <a:off x="543154" y="1783080"/>
            <a:ext cx="6949440" cy="2743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889150"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EmailValidatorTests.cs</a:t>
            </a:r>
            <a:endParaRPr lang="en-US" sz="950" dirty="0"/>
          </a:p>
        </p:txBody>
      </p:sp>
      <p:cxnSp>
        <p:nvCxnSpPr>
          <p:cNvPr id="106" name="ln106"/>
          <p:cNvCxnSpPr/>
          <p:nvPr/>
        </p:nvCxnSpPr>
        <p:spPr>
          <a:xfrm>
            <a:off x="543154" y="2194560"/>
            <a:ext cx="6949440" cy="0"/>
          </a:xfrm>
          <a:prstGeom prst="line">
            <a:avLst/>
          </a:prstGeom>
          <a:ln w="9525">
            <a:solidFill>
              <a:srgbClr val="1E3A5F"/>
            </a:solidFill>
          </a:ln>
        </p:spPr>
      </p:cxnSp>
      <p:sp>
        <p:nvSpPr>
          <p:cNvPr id="107" name="s107"/>
          <p:cNvSpPr/>
          <p:nvPr/>
        </p:nvSpPr>
        <p:spPr>
          <a:xfrm>
            <a:off x="543154" y="231343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[Theory]</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a test WITH parameters</a:t>
            </a:r>
            <a:endParaRPr lang="en-US" sz="1150" dirty="0"/>
          </a:p>
        </p:txBody>
      </p:sp>
      <p:sp>
        <p:nvSpPr>
          <p:cNvPr id="108" name="s108"/>
          <p:cNvSpPr/>
          <p:nvPr/>
        </p:nvSpPr>
        <p:spPr>
          <a:xfrm>
            <a:off x="543154" y="248869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[InlineData("mona@gmail.com")]</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row 1</a:t>
            </a:r>
            <a:endParaRPr lang="en-US" sz="1150" dirty="0"/>
          </a:p>
        </p:txBody>
      </p:sp>
      <p:sp>
        <p:nvSpPr>
          <p:cNvPr id="109" name="s109"/>
          <p:cNvSpPr/>
          <p:nvPr/>
        </p:nvSpPr>
        <p:spPr>
          <a:xfrm>
            <a:off x="543154" y="266395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[InlineData("ali.hassan@company.eg")]</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row 2</a:t>
            </a:r>
            <a:endParaRPr lang="en-US" sz="1150" dirty="0"/>
          </a:p>
        </p:txBody>
      </p:sp>
      <p:sp>
        <p:nvSpPr>
          <p:cNvPr id="110" name="s110"/>
          <p:cNvSpPr/>
          <p:nvPr/>
        </p:nvSpPr>
        <p:spPr>
          <a:xfrm>
            <a:off x="543154" y="283921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[InlineData("a@b.co")]</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row 3</a:t>
            </a:r>
            <a:endParaRPr lang="en-US" sz="1150" dirty="0"/>
          </a:p>
        </p:txBody>
      </p:sp>
      <p:sp>
        <p:nvSpPr>
          <p:cNvPr id="111" name="s111"/>
          <p:cNvSpPr/>
          <p:nvPr/>
        </p:nvSpPr>
        <p:spPr>
          <a:xfrm>
            <a:off x="543154" y="301447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void</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IsValid_GoodEmails_ReturnsTrue</a:t>
            </a:r>
            <a:r>
              <a:rPr lang="en-US" sz="1150" b="0" dirty="0">
                <a:solidFill>
                  <a:srgbClr val="E2E8F0"/>
                </a:solidFill>
                <a:latin typeface="Consolas"/>
                <a:ea typeface="Consolas"/>
                <a:cs typeface="Consolas"/>
              </a:rPr>
              <a:t>(</a:t>
            </a:r>
            <a:r>
              <a:rPr lang="en-US" sz="1150" b="0" dirty="0">
                <a:solidFill>
                  <a:srgbClr val="60A5FA"/>
                </a:solidFill>
                <a:latin typeface="Consolas"/>
                <a:ea typeface="Consolas"/>
                <a:cs typeface="Consolas"/>
              </a:rPr>
              <a:t>string</a:t>
            </a:r>
            <a:r>
              <a:rPr lang="en-US" sz="1150" b="0" dirty="0">
                <a:solidFill>
                  <a:srgbClr val="E2E8F0"/>
                </a:solidFill>
                <a:latin typeface="Consolas"/>
                <a:ea typeface="Consolas"/>
                <a:cs typeface="Consolas"/>
              </a:rPr>
              <a:t> email)</a:t>
            </a:r>
            <a:endParaRPr lang="en-US" sz="1150" dirty="0"/>
          </a:p>
        </p:txBody>
      </p:sp>
      <p:sp>
        <p:nvSpPr>
          <p:cNvPr id="112" name="s112"/>
          <p:cNvSpPr/>
          <p:nvPr/>
        </p:nvSpPr>
        <p:spPr>
          <a:xfrm>
            <a:off x="543154" y="318973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3" name="s113"/>
          <p:cNvSpPr/>
          <p:nvPr/>
        </p:nvSpPr>
        <p:spPr>
          <a:xfrm>
            <a:off x="543154" y="336499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Assert</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True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EmailValidator</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IsValid</a:t>
            </a:r>
            <a:r>
              <a:rPr lang="en-US" sz="1150" b="0" dirty="0">
                <a:solidFill>
                  <a:srgbClr val="E2E8F0"/>
                </a:solidFill>
                <a:latin typeface="Consolas"/>
                <a:ea typeface="Consolas"/>
                <a:cs typeface="Consolas"/>
              </a:rPr>
              <a:t>(email));</a:t>
            </a:r>
            <a:endParaRPr lang="en-US" sz="1150" dirty="0"/>
          </a:p>
        </p:txBody>
      </p:sp>
      <p:sp>
        <p:nvSpPr>
          <p:cNvPr id="114" name="s114"/>
          <p:cNvSpPr/>
          <p:nvPr/>
        </p:nvSpPr>
        <p:spPr>
          <a:xfrm>
            <a:off x="543154" y="354025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5" name="s115"/>
          <p:cNvSpPr/>
          <p:nvPr/>
        </p:nvSpPr>
        <p:spPr>
          <a:xfrm>
            <a:off x="7766914" y="1783080"/>
            <a:ext cx="3864254" cy="274320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16" name="s116"/>
          <p:cNvSpPr/>
          <p:nvPr/>
        </p:nvSpPr>
        <p:spPr>
          <a:xfrm>
            <a:off x="793150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7" name="s117"/>
          <p:cNvSpPr/>
          <p:nvPr/>
        </p:nvSpPr>
        <p:spPr>
          <a:xfrm>
            <a:off x="811438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18" name="s118"/>
          <p:cNvSpPr/>
          <p:nvPr/>
        </p:nvSpPr>
        <p:spPr>
          <a:xfrm>
            <a:off x="829726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19" name="s119"/>
          <p:cNvSpPr/>
          <p:nvPr/>
        </p:nvSpPr>
        <p:spPr>
          <a:xfrm>
            <a:off x="8544154" y="1856232"/>
            <a:ext cx="124724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Test Explorer</a:t>
            </a:r>
            <a:endParaRPr lang="en-US" sz="950" dirty="0"/>
          </a:p>
        </p:txBody>
      </p:sp>
      <p:cxnSp>
        <p:nvCxnSpPr>
          <p:cNvPr id="120" name="ln120"/>
          <p:cNvCxnSpPr/>
          <p:nvPr/>
        </p:nvCxnSpPr>
        <p:spPr>
          <a:xfrm>
            <a:off x="7766914" y="2194560"/>
            <a:ext cx="3864254" cy="0"/>
          </a:xfrm>
          <a:prstGeom prst="line">
            <a:avLst/>
          </a:prstGeom>
          <a:ln w="9525">
            <a:solidFill>
              <a:srgbClr val="1E3A5F"/>
            </a:solidFill>
          </a:ln>
        </p:spPr>
      </p:cxnSp>
      <p:sp>
        <p:nvSpPr>
          <p:cNvPr id="121" name="s121"/>
          <p:cNvSpPr/>
          <p:nvPr/>
        </p:nvSpPr>
        <p:spPr>
          <a:xfrm>
            <a:off x="7766914" y="2313432"/>
            <a:ext cx="386425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34D399"/>
                </a:solidFill>
                <a:latin typeface="Consolas"/>
                <a:ea typeface="Consolas"/>
                <a:cs typeface="Consolas"/>
              </a:rPr>
              <a:t>✓ IsValid_GoodEmails (3)</a:t>
            </a:r>
            <a:endParaRPr lang="en-US" sz="1150" dirty="0"/>
          </a:p>
        </p:txBody>
      </p:sp>
      <p:sp>
        <p:nvSpPr>
          <p:cNvPr id="122" name="s122"/>
          <p:cNvSpPr/>
          <p:nvPr/>
        </p:nvSpPr>
        <p:spPr>
          <a:xfrm>
            <a:off x="7766914" y="2488692"/>
            <a:ext cx="386425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34D399"/>
                </a:solidFill>
                <a:latin typeface="Consolas"/>
                <a:ea typeface="Consolas"/>
                <a:cs typeface="Consolas"/>
              </a:rPr>
              <a:t>  ✓ "mona@gmail.com"</a:t>
            </a:r>
            <a:endParaRPr lang="en-US" sz="1150" dirty="0"/>
          </a:p>
        </p:txBody>
      </p:sp>
      <p:sp>
        <p:nvSpPr>
          <p:cNvPr id="123" name="s123"/>
          <p:cNvSpPr/>
          <p:nvPr/>
        </p:nvSpPr>
        <p:spPr>
          <a:xfrm>
            <a:off x="7766914" y="2663952"/>
            <a:ext cx="386425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34D399"/>
                </a:solidFill>
                <a:latin typeface="Consolas"/>
                <a:ea typeface="Consolas"/>
                <a:cs typeface="Consolas"/>
              </a:rPr>
              <a:t>  ✓ "ali.hassan@company.eg"</a:t>
            </a:r>
            <a:endParaRPr lang="en-US" sz="1150" dirty="0"/>
          </a:p>
        </p:txBody>
      </p:sp>
      <p:sp>
        <p:nvSpPr>
          <p:cNvPr id="124" name="s124"/>
          <p:cNvSpPr/>
          <p:nvPr/>
        </p:nvSpPr>
        <p:spPr>
          <a:xfrm>
            <a:off x="7766914" y="2839212"/>
            <a:ext cx="386425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34D399"/>
                </a:solidFill>
                <a:latin typeface="Consolas"/>
                <a:ea typeface="Consolas"/>
                <a:cs typeface="Consolas"/>
              </a:rPr>
              <a:t>  ✓ "a@b.co"</a:t>
            </a:r>
            <a:endParaRPr lang="en-US" sz="1150" dirty="0"/>
          </a:p>
        </p:txBody>
      </p:sp>
      <p:sp>
        <p:nvSpPr>
          <p:cNvPr id="125" name="s125"/>
          <p:cNvSpPr/>
          <p:nvPr/>
        </p:nvSpPr>
        <p:spPr>
          <a:xfrm>
            <a:off x="543154" y="4709160"/>
            <a:ext cx="5406847" cy="914400"/>
          </a:xfrm>
          <a:prstGeom prst="roundRect">
            <a:avLst>
              <a:gd name="adj" fmla="val 10000"/>
            </a:avLst>
          </a:prstGeom>
          <a:solidFill>
            <a:srgbClr val="13D0F7">
              <a:alpha val="8000"/>
            </a:srgbClr>
          </a:solidFill>
          <a:ln w="12700">
            <a:solidFill>
              <a:srgbClr val="13D0F7"/>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13D0F7"/>
                </a:solidFill>
                <a:latin typeface="Segoe UI"/>
                <a:ea typeface="Segoe UI"/>
                <a:cs typeface="Segoe UI"/>
              </a:rPr>
              <a:t>[Fact]</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One fixed example. No parameters.</a:t>
            </a:r>
            <a:endParaRPr lang="en-US" sz="1250" dirty="0"/>
          </a:p>
        </p:txBody>
      </p:sp>
      <p:sp>
        <p:nvSpPr>
          <p:cNvPr id="126" name="s126"/>
          <p:cNvSpPr/>
          <p:nvPr/>
        </p:nvSpPr>
        <p:spPr>
          <a:xfrm>
            <a:off x="6224321" y="4709160"/>
            <a:ext cx="5406847" cy="91440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[Theory] + [InlineData]</a:t>
            </a:r>
            <a:endParaRPr lang="en-US" sz="1050" dirty="0"/>
          </a:p>
          <a:p>
            <a:pPr marL="0" indent="0" algn="l">
              <a:spcBef>
                <a:spcPts val="0"/>
              </a:spcBef>
              <a:spcAft>
                <a:spcPts val="200"/>
              </a:spcAft>
              <a:buNone/>
            </a:pPr>
            <a:r>
              <a:rPr lang="en-US" sz="1250" b="0" dirty="0">
                <a:solidFill>
                  <a:srgbClr val="E2E8F0"/>
                </a:solidFill>
                <a:latin typeface="Segoe UI"/>
                <a:ea typeface="Segoe UI"/>
                <a:cs typeface="Segoe UI"/>
              </a:rPr>
              <a:t>The same check for many inputs. One row = one test.</a:t>
            </a:r>
            <a:endParaRPr lang="en-US" sz="1250" dirty="0"/>
          </a:p>
        </p:txBody>
      </p:sp>
      <p:sp>
        <p:nvSpPr>
          <p:cNvPr id="127" name="s127"/>
          <p:cNvSpPr/>
          <p:nvPr/>
        </p:nvSpPr>
        <p:spPr>
          <a:xfrm>
            <a:off x="652882" y="2286000"/>
            <a:ext cx="6729984" cy="23012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
        <p:nvSpPr>
          <p:cNvPr id="128" name="s128"/>
          <p:cNvSpPr/>
          <p:nvPr/>
        </p:nvSpPr>
        <p:spPr>
          <a:xfrm>
            <a:off x="652882" y="2461260"/>
            <a:ext cx="6729984" cy="580644"/>
          </a:xfrm>
          <a:prstGeom prst="roundRect">
            <a:avLst>
              <a:gd name="adj" fmla="val 6000"/>
            </a:avLst>
          </a:prstGeom>
          <a:solidFill>
            <a:srgbClr val="13D0F7">
              <a:alpha val="10000"/>
            </a:srgbClr>
          </a:solidFill>
          <a:ln w="15875">
            <a:solidFill>
              <a:srgbClr val="13D0F7"/>
            </a:solidFill>
            <a:prstDash val="solid"/>
          </a:ln>
        </p:spPr>
        <p:txBody>
          <a:bodyPr wrap="square" lIns="164592" tIns="109728" rIns="137160" bIns="91440" rtlCol="0" anchor="t">
            <a:noAutofit/>
          </a:bodyPr>
          <a:lstStyle/>
          <a:p>
            <a:endParaRPr lang="en-US"/>
          </a:p>
        </p:txBody>
      </p:sp>
      <p:sp>
        <p:nvSpPr>
          <p:cNvPr id="129" name="s129"/>
          <p:cNvSpPr/>
          <p:nvPr/>
        </p:nvSpPr>
        <p:spPr>
          <a:xfrm>
            <a:off x="652882" y="2987040"/>
            <a:ext cx="6729984" cy="23012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127"/>
                                        </p:tgtEl>
                                        <p:attrNameLst>
                                          <p:attrName>style.visibility</p:attrName>
                                        </p:attrNameLst>
                                      </p:cBhvr>
                                      <p:to>
                                        <p:strVal val="visible"/>
                                      </p:to>
                                    </p:set>
                                    <p:anim calcmode="lin" valueType="num">
                                      <p:cBhvr additive="base">
                                        <p:cTn id="65" dur="500" decel="100000" fill="hold"/>
                                        <p:tgtEl>
                                          <p:spTgt spid="127"/>
                                        </p:tgtEl>
                                        <p:attrNameLst>
                                          <p:attrName>ppt_w</p:attrName>
                                        </p:attrNameLst>
                                      </p:cBhvr>
                                      <p:tavLst>
                                        <p:tav tm="0">
                                          <p:val>
                                            <p:strVal val="#ppt_w*0.3"/>
                                          </p:val>
                                        </p:tav>
                                        <p:tav tm="100000">
                                          <p:val>
                                            <p:strVal val="#ppt_w*1.08"/>
                                          </p:val>
                                        </p:tav>
                                      </p:tavLst>
                                    </p:anim>
                                    <p:anim calcmode="lin" valueType="num">
                                      <p:cBhvr additive="base">
                                        <p:cTn id="66" dur="500" decel="100000" fill="hold"/>
                                        <p:tgtEl>
                                          <p:spTgt spid="127"/>
                                        </p:tgtEl>
                                        <p:attrNameLst>
                                          <p:attrName>ppt_h</p:attrName>
                                        </p:attrNameLst>
                                      </p:cBhvr>
                                      <p:tavLst>
                                        <p:tav tm="0">
                                          <p:val>
                                            <p:strVal val="#ppt_h*0.3"/>
                                          </p:val>
                                        </p:tav>
                                        <p:tav tm="100000">
                                          <p:val>
                                            <p:strVal val="#ppt_h*1.08"/>
                                          </p:val>
                                        </p:tav>
                                      </p:tavLst>
                                    </p:anim>
                                    <p:animEffect transition="in" filter="fade">
                                      <p:cBhvr>
                                        <p:cTn id="67" dur="250"/>
                                        <p:tgtEl>
                                          <p:spTgt spid="127"/>
                                        </p:tgtEl>
                                      </p:cBhvr>
                                    </p:animEffect>
                                    <p:anim calcmode="lin" valueType="num">
                                      <p:cBhvr additive="base">
                                        <p:cTn id="68" dur="160" fill="hold">
                                          <p:stCondLst>
                                            <p:cond delay="500"/>
                                          </p:stCondLst>
                                        </p:cTn>
                                        <p:tgtEl>
                                          <p:spTgt spid="127"/>
                                        </p:tgtEl>
                                        <p:attrNameLst>
                                          <p:attrName>ppt_w</p:attrName>
                                        </p:attrNameLst>
                                      </p:cBhvr>
                                      <p:tavLst>
                                        <p:tav tm="0">
                                          <p:val>
                                            <p:strVal val="#ppt_w*1.08"/>
                                          </p:val>
                                        </p:tav>
                                        <p:tav tm="100000">
                                          <p:val>
                                            <p:strVal val="#ppt_w"/>
                                          </p:val>
                                        </p:tav>
                                      </p:tavLst>
                                    </p:anim>
                                    <p:anim calcmode="lin" valueType="num">
                                      <p:cBhvr additive="base">
                                        <p:cTn id="69" dur="160" fill="hold">
                                          <p:stCondLst>
                                            <p:cond delay="500"/>
                                          </p:stCondLst>
                                        </p:cTn>
                                        <p:tgtEl>
                                          <p:spTgt spid="127"/>
                                        </p:tgtEl>
                                        <p:attrNameLst>
                                          <p:attrName>ppt_h</p:attrName>
                                        </p:attrNameLst>
                                      </p:cBhvr>
                                      <p:tavLst>
                                        <p:tav tm="0">
                                          <p:val>
                                            <p:strVal val="#ppt_h*1.08"/>
                                          </p:val>
                                        </p:tav>
                                        <p:tav tm="100000">
                                          <p:val>
                                            <p:strVal val="#ppt_h"/>
                                          </p:val>
                                        </p:tav>
                                      </p:tavLst>
                                    </p:anim>
                                  </p:childTnLst>
                                </p:cTn>
                              </p:par>
                            </p:childTnLst>
                          </p:cTn>
                        </p:par>
                      </p:childTnLst>
                    </p:cTn>
                  </p:par>
                  <p:par>
                    <p:cTn id="70" fill="hold">
                      <p:stCondLst>
                        <p:cond delay="indefinite"/>
                      </p:stCondLst>
                      <p:childTnLst>
                        <p:par>
                          <p:cTn id="71" fill="hold">
                            <p:stCondLst>
                              <p:cond delay="0"/>
                            </p:stCondLst>
                            <p:childTnLst>
                              <p:par>
                                <p:cTn id="72" presetID="53" presetClass="entr" presetSubtype="16" fill="hold" grpId="0" nodeType="clickEffect">
                                  <p:stCondLst>
                                    <p:cond delay="0"/>
                                  </p:stCondLst>
                                  <p:childTnLst>
                                    <p:set>
                                      <p:cBhvr>
                                        <p:cTn id="73" dur="1" fill="hold">
                                          <p:stCondLst>
                                            <p:cond delay="0"/>
                                          </p:stCondLst>
                                        </p:cTn>
                                        <p:tgtEl>
                                          <p:spTgt spid="128"/>
                                        </p:tgtEl>
                                        <p:attrNameLst>
                                          <p:attrName>style.visibility</p:attrName>
                                        </p:attrNameLst>
                                      </p:cBhvr>
                                      <p:to>
                                        <p:strVal val="visible"/>
                                      </p:to>
                                    </p:set>
                                    <p:anim calcmode="lin" valueType="num">
                                      <p:cBhvr additive="base">
                                        <p:cTn id="74" dur="500" decel="100000" fill="hold"/>
                                        <p:tgtEl>
                                          <p:spTgt spid="128"/>
                                        </p:tgtEl>
                                        <p:attrNameLst>
                                          <p:attrName>ppt_w</p:attrName>
                                        </p:attrNameLst>
                                      </p:cBhvr>
                                      <p:tavLst>
                                        <p:tav tm="0">
                                          <p:val>
                                            <p:strVal val="#ppt_w*0.3"/>
                                          </p:val>
                                        </p:tav>
                                        <p:tav tm="100000">
                                          <p:val>
                                            <p:strVal val="#ppt_w*1.08"/>
                                          </p:val>
                                        </p:tav>
                                      </p:tavLst>
                                    </p:anim>
                                    <p:anim calcmode="lin" valueType="num">
                                      <p:cBhvr additive="base">
                                        <p:cTn id="75" dur="500" decel="100000" fill="hold"/>
                                        <p:tgtEl>
                                          <p:spTgt spid="128"/>
                                        </p:tgtEl>
                                        <p:attrNameLst>
                                          <p:attrName>ppt_h</p:attrName>
                                        </p:attrNameLst>
                                      </p:cBhvr>
                                      <p:tavLst>
                                        <p:tav tm="0">
                                          <p:val>
                                            <p:strVal val="#ppt_h*0.3"/>
                                          </p:val>
                                        </p:tav>
                                        <p:tav tm="100000">
                                          <p:val>
                                            <p:strVal val="#ppt_h*1.08"/>
                                          </p:val>
                                        </p:tav>
                                      </p:tavLst>
                                    </p:anim>
                                    <p:animEffect transition="in" filter="fade">
                                      <p:cBhvr>
                                        <p:cTn id="76" dur="250"/>
                                        <p:tgtEl>
                                          <p:spTgt spid="128"/>
                                        </p:tgtEl>
                                      </p:cBhvr>
                                    </p:animEffect>
                                    <p:anim calcmode="lin" valueType="num">
                                      <p:cBhvr additive="base">
                                        <p:cTn id="77" dur="160" fill="hold">
                                          <p:stCondLst>
                                            <p:cond delay="500"/>
                                          </p:stCondLst>
                                        </p:cTn>
                                        <p:tgtEl>
                                          <p:spTgt spid="128"/>
                                        </p:tgtEl>
                                        <p:attrNameLst>
                                          <p:attrName>ppt_w</p:attrName>
                                        </p:attrNameLst>
                                      </p:cBhvr>
                                      <p:tavLst>
                                        <p:tav tm="0">
                                          <p:val>
                                            <p:strVal val="#ppt_w*1.08"/>
                                          </p:val>
                                        </p:tav>
                                        <p:tav tm="100000">
                                          <p:val>
                                            <p:strVal val="#ppt_w"/>
                                          </p:val>
                                        </p:tav>
                                      </p:tavLst>
                                    </p:anim>
                                    <p:anim calcmode="lin" valueType="num">
                                      <p:cBhvr additive="base">
                                        <p:cTn id="78" dur="160" fill="hold">
                                          <p:stCondLst>
                                            <p:cond delay="500"/>
                                          </p:stCondLst>
                                        </p:cTn>
                                        <p:tgtEl>
                                          <p:spTgt spid="128"/>
                                        </p:tgtEl>
                                        <p:attrNameLst>
                                          <p:attrName>ppt_h</p:attrName>
                                        </p:attrNameLst>
                                      </p:cBhvr>
                                      <p:tavLst>
                                        <p:tav tm="0">
                                          <p:val>
                                            <p:strVal val="#ppt_h*1.08"/>
                                          </p:val>
                                        </p:tav>
                                        <p:tav tm="100000">
                                          <p:val>
                                            <p:strVal val="#ppt_h"/>
                                          </p:val>
                                        </p:tav>
                                      </p:tavLst>
                                    </p:anim>
                                  </p:childTnLst>
                                </p:cTn>
                              </p:par>
                            </p:childTnLst>
                          </p:cTn>
                        </p:par>
                      </p:childTnLst>
                    </p:cTn>
                  </p:par>
                  <p:par>
                    <p:cTn id="79" fill="hold">
                      <p:stCondLst>
                        <p:cond delay="indefinite"/>
                      </p:stCondLst>
                      <p:childTnLst>
                        <p:par>
                          <p:cTn id="80" fill="hold">
                            <p:stCondLst>
                              <p:cond delay="0"/>
                            </p:stCondLst>
                            <p:childTnLst>
                              <p:par>
                                <p:cTn id="81" presetID="53" presetClass="entr" presetSubtype="16" fill="hold" grpId="0" nodeType="clickEffect">
                                  <p:stCondLst>
                                    <p:cond delay="0"/>
                                  </p:stCondLst>
                                  <p:childTnLst>
                                    <p:set>
                                      <p:cBhvr>
                                        <p:cTn id="82" dur="1" fill="hold">
                                          <p:stCondLst>
                                            <p:cond delay="0"/>
                                          </p:stCondLst>
                                        </p:cTn>
                                        <p:tgtEl>
                                          <p:spTgt spid="129"/>
                                        </p:tgtEl>
                                        <p:attrNameLst>
                                          <p:attrName>style.visibility</p:attrName>
                                        </p:attrNameLst>
                                      </p:cBhvr>
                                      <p:to>
                                        <p:strVal val="visible"/>
                                      </p:to>
                                    </p:set>
                                    <p:anim calcmode="lin" valueType="num">
                                      <p:cBhvr additive="base">
                                        <p:cTn id="83" dur="500" decel="100000" fill="hold"/>
                                        <p:tgtEl>
                                          <p:spTgt spid="129"/>
                                        </p:tgtEl>
                                        <p:attrNameLst>
                                          <p:attrName>ppt_w</p:attrName>
                                        </p:attrNameLst>
                                      </p:cBhvr>
                                      <p:tavLst>
                                        <p:tav tm="0">
                                          <p:val>
                                            <p:strVal val="#ppt_w*0.3"/>
                                          </p:val>
                                        </p:tav>
                                        <p:tav tm="100000">
                                          <p:val>
                                            <p:strVal val="#ppt_w*1.08"/>
                                          </p:val>
                                        </p:tav>
                                      </p:tavLst>
                                    </p:anim>
                                    <p:anim calcmode="lin" valueType="num">
                                      <p:cBhvr additive="base">
                                        <p:cTn id="84" dur="500" decel="100000" fill="hold"/>
                                        <p:tgtEl>
                                          <p:spTgt spid="129"/>
                                        </p:tgtEl>
                                        <p:attrNameLst>
                                          <p:attrName>ppt_h</p:attrName>
                                        </p:attrNameLst>
                                      </p:cBhvr>
                                      <p:tavLst>
                                        <p:tav tm="0">
                                          <p:val>
                                            <p:strVal val="#ppt_h*0.3"/>
                                          </p:val>
                                        </p:tav>
                                        <p:tav tm="100000">
                                          <p:val>
                                            <p:strVal val="#ppt_h*1.08"/>
                                          </p:val>
                                        </p:tav>
                                      </p:tavLst>
                                    </p:anim>
                                    <p:animEffect transition="in" filter="fade">
                                      <p:cBhvr>
                                        <p:cTn id="85" dur="250"/>
                                        <p:tgtEl>
                                          <p:spTgt spid="129"/>
                                        </p:tgtEl>
                                      </p:cBhvr>
                                    </p:animEffect>
                                    <p:anim calcmode="lin" valueType="num">
                                      <p:cBhvr additive="base">
                                        <p:cTn id="86" dur="160" fill="hold">
                                          <p:stCondLst>
                                            <p:cond delay="500"/>
                                          </p:stCondLst>
                                        </p:cTn>
                                        <p:tgtEl>
                                          <p:spTgt spid="129"/>
                                        </p:tgtEl>
                                        <p:attrNameLst>
                                          <p:attrName>ppt_w</p:attrName>
                                        </p:attrNameLst>
                                      </p:cBhvr>
                                      <p:tavLst>
                                        <p:tav tm="0">
                                          <p:val>
                                            <p:strVal val="#ppt_w*1.08"/>
                                          </p:val>
                                        </p:tav>
                                        <p:tav tm="100000">
                                          <p:val>
                                            <p:strVal val="#ppt_w"/>
                                          </p:val>
                                        </p:tav>
                                      </p:tavLst>
                                    </p:anim>
                                    <p:anim calcmode="lin" valueType="num">
                                      <p:cBhvr additive="base">
                                        <p:cTn id="87" dur="160" fill="hold">
                                          <p:stCondLst>
                                            <p:cond delay="500"/>
                                          </p:stCondLst>
                                        </p:cTn>
                                        <p:tgtEl>
                                          <p:spTgt spid="129"/>
                                        </p:tgtEl>
                                        <p:attrNameLst>
                                          <p:attrName>ppt_h</p:attrName>
                                        </p:attrNameLst>
                                      </p:cBhvr>
                                      <p:tavLst>
                                        <p:tav tm="0">
                                          <p:val>
                                            <p:strVal val="#ppt_h*1.08"/>
                                          </p:val>
                                        </p:tav>
                                        <p:tav tm="100000">
                                          <p:val>
                                            <p:strVal val="#ppt_h"/>
                                          </p:val>
                                        </p:tav>
                                      </p:tavLst>
                                    </p:anim>
                                  </p:childTnLst>
                                </p:cTn>
                              </p:par>
                            </p:childTnLst>
                          </p:cTn>
                        </p:par>
                      </p:childTnLst>
                    </p:cTn>
                  </p:par>
                  <p:par>
                    <p:cTn id="88" fill="hold">
                      <p:stCondLst>
                        <p:cond delay="indefinite"/>
                      </p:stCondLst>
                      <p:childTnLst>
                        <p:par>
                          <p:cTn id="89" fill="hold">
                            <p:stCondLst>
                              <p:cond delay="0"/>
                            </p:stCondLst>
                            <p:childTnLst>
                              <p:par>
                                <p:cTn id="90" presetID="42" presetClass="entr" presetSubtype="0" fill="hold" grpId="0" nodeType="clickEffect">
                                  <p:stCondLst>
                                    <p:cond delay="0"/>
                                  </p:stCondLst>
                                  <p:childTnLst>
                                    <p:set>
                                      <p:cBhvr>
                                        <p:cTn id="91" dur="1" fill="hold">
                                          <p:stCondLst>
                                            <p:cond delay="0"/>
                                          </p:stCondLst>
                                        </p:cTn>
                                        <p:tgtEl>
                                          <p:spTgt spid="115"/>
                                        </p:tgtEl>
                                        <p:attrNameLst>
                                          <p:attrName>style.visibility</p:attrName>
                                        </p:attrNameLst>
                                      </p:cBhvr>
                                      <p:to>
                                        <p:strVal val="visible"/>
                                      </p:to>
                                    </p:set>
                                    <p:animEffect transition="in" filter="fade">
                                      <p:cBhvr>
                                        <p:cTn id="92" dur="500"/>
                                        <p:tgtEl>
                                          <p:spTgt spid="115"/>
                                        </p:tgtEl>
                                      </p:cBhvr>
                                    </p:animEffect>
                                    <p:anim calcmode="lin" valueType="num">
                                      <p:cBhvr additive="base">
                                        <p:cTn id="93" dur="500" decel="100000" fill="hold"/>
                                        <p:tgtEl>
                                          <p:spTgt spid="115"/>
                                        </p:tgtEl>
                                        <p:attrNameLst>
                                          <p:attrName>ppt_y</p:attrName>
                                        </p:attrNameLst>
                                      </p:cBhvr>
                                      <p:tavLst>
                                        <p:tav tm="0">
                                          <p:val>
                                            <p:strVal val="#ppt_y+0.06"/>
                                          </p:val>
                                        </p:tav>
                                        <p:tav tm="100000">
                                          <p:val>
                                            <p:strVal val="#ppt_y"/>
                                          </p:val>
                                        </p:tav>
                                      </p:tavLst>
                                    </p:anim>
                                  </p:childTnLst>
                                </p:cTn>
                              </p:par>
                              <p:par>
                                <p:cTn id="94" presetID="42" presetClass="entr" presetSubtype="0" fill="hold" grpId="0" nodeType="withEffect">
                                  <p:stCondLst>
                                    <p:cond delay="0"/>
                                  </p:stCondLst>
                                  <p:childTnLst>
                                    <p:set>
                                      <p:cBhvr>
                                        <p:cTn id="95" dur="1" fill="hold">
                                          <p:stCondLst>
                                            <p:cond delay="0"/>
                                          </p:stCondLst>
                                        </p:cTn>
                                        <p:tgtEl>
                                          <p:spTgt spid="116"/>
                                        </p:tgtEl>
                                        <p:attrNameLst>
                                          <p:attrName>style.visibility</p:attrName>
                                        </p:attrNameLst>
                                      </p:cBhvr>
                                      <p:to>
                                        <p:strVal val="visible"/>
                                      </p:to>
                                    </p:set>
                                    <p:animEffect transition="in" filter="fade">
                                      <p:cBhvr>
                                        <p:cTn id="96" dur="500"/>
                                        <p:tgtEl>
                                          <p:spTgt spid="116"/>
                                        </p:tgtEl>
                                      </p:cBhvr>
                                    </p:animEffect>
                                    <p:anim calcmode="lin" valueType="num">
                                      <p:cBhvr additive="base">
                                        <p:cTn id="97" dur="500" decel="100000" fill="hold"/>
                                        <p:tgtEl>
                                          <p:spTgt spid="116"/>
                                        </p:tgtEl>
                                        <p:attrNameLst>
                                          <p:attrName>ppt_y</p:attrName>
                                        </p:attrNameLst>
                                      </p:cBhvr>
                                      <p:tavLst>
                                        <p:tav tm="0">
                                          <p:val>
                                            <p:strVal val="#ppt_y+0.06"/>
                                          </p:val>
                                        </p:tav>
                                        <p:tav tm="100000">
                                          <p:val>
                                            <p:strVal val="#ppt_y"/>
                                          </p:val>
                                        </p:tav>
                                      </p:tavLst>
                                    </p:anim>
                                  </p:childTnLst>
                                </p:cTn>
                              </p:par>
                              <p:par>
                                <p:cTn id="98" presetID="42" presetClass="entr" presetSubtype="0" fill="hold" grpId="0" nodeType="withEffect">
                                  <p:stCondLst>
                                    <p:cond delay="0"/>
                                  </p:stCondLst>
                                  <p:childTnLst>
                                    <p:set>
                                      <p:cBhvr>
                                        <p:cTn id="99" dur="1" fill="hold">
                                          <p:stCondLst>
                                            <p:cond delay="0"/>
                                          </p:stCondLst>
                                        </p:cTn>
                                        <p:tgtEl>
                                          <p:spTgt spid="117"/>
                                        </p:tgtEl>
                                        <p:attrNameLst>
                                          <p:attrName>style.visibility</p:attrName>
                                        </p:attrNameLst>
                                      </p:cBhvr>
                                      <p:to>
                                        <p:strVal val="visible"/>
                                      </p:to>
                                    </p:set>
                                    <p:animEffect transition="in" filter="fade">
                                      <p:cBhvr>
                                        <p:cTn id="100" dur="500"/>
                                        <p:tgtEl>
                                          <p:spTgt spid="117"/>
                                        </p:tgtEl>
                                      </p:cBhvr>
                                    </p:animEffect>
                                    <p:anim calcmode="lin" valueType="num">
                                      <p:cBhvr additive="base">
                                        <p:cTn id="101" dur="500" decel="100000" fill="hold"/>
                                        <p:tgtEl>
                                          <p:spTgt spid="117"/>
                                        </p:tgtEl>
                                        <p:attrNameLst>
                                          <p:attrName>ppt_y</p:attrName>
                                        </p:attrNameLst>
                                      </p:cBhvr>
                                      <p:tavLst>
                                        <p:tav tm="0">
                                          <p:val>
                                            <p:strVal val="#ppt_y+0.06"/>
                                          </p:val>
                                        </p:tav>
                                        <p:tav tm="100000">
                                          <p:val>
                                            <p:strVal val="#ppt_y"/>
                                          </p:val>
                                        </p:tav>
                                      </p:tavLst>
                                    </p:anim>
                                  </p:childTnLst>
                                </p:cTn>
                              </p:par>
                              <p:par>
                                <p:cTn id="102" presetID="42" presetClass="entr" presetSubtype="0" fill="hold" grpId="0" nodeType="withEffect">
                                  <p:stCondLst>
                                    <p:cond delay="0"/>
                                  </p:stCondLst>
                                  <p:childTnLst>
                                    <p:set>
                                      <p:cBhvr>
                                        <p:cTn id="103" dur="1" fill="hold">
                                          <p:stCondLst>
                                            <p:cond delay="0"/>
                                          </p:stCondLst>
                                        </p:cTn>
                                        <p:tgtEl>
                                          <p:spTgt spid="118"/>
                                        </p:tgtEl>
                                        <p:attrNameLst>
                                          <p:attrName>style.visibility</p:attrName>
                                        </p:attrNameLst>
                                      </p:cBhvr>
                                      <p:to>
                                        <p:strVal val="visible"/>
                                      </p:to>
                                    </p:set>
                                    <p:animEffect transition="in" filter="fade">
                                      <p:cBhvr>
                                        <p:cTn id="104" dur="500"/>
                                        <p:tgtEl>
                                          <p:spTgt spid="118"/>
                                        </p:tgtEl>
                                      </p:cBhvr>
                                    </p:animEffect>
                                    <p:anim calcmode="lin" valueType="num">
                                      <p:cBhvr additive="base">
                                        <p:cTn id="105" dur="500" decel="100000" fill="hold"/>
                                        <p:tgtEl>
                                          <p:spTgt spid="118"/>
                                        </p:tgtEl>
                                        <p:attrNameLst>
                                          <p:attrName>ppt_y</p:attrName>
                                        </p:attrNameLst>
                                      </p:cBhvr>
                                      <p:tavLst>
                                        <p:tav tm="0">
                                          <p:val>
                                            <p:strVal val="#ppt_y+0.06"/>
                                          </p:val>
                                        </p:tav>
                                        <p:tav tm="100000">
                                          <p:val>
                                            <p:strVal val="#ppt_y"/>
                                          </p:val>
                                        </p:tav>
                                      </p:tavLst>
                                    </p:anim>
                                  </p:childTnLst>
                                </p:cTn>
                              </p:par>
                              <p:par>
                                <p:cTn id="106" presetID="42" presetClass="entr" presetSubtype="0" fill="hold" grpId="0" nodeType="withEffect">
                                  <p:stCondLst>
                                    <p:cond delay="0"/>
                                  </p:stCondLst>
                                  <p:childTnLst>
                                    <p:set>
                                      <p:cBhvr>
                                        <p:cTn id="107" dur="1" fill="hold">
                                          <p:stCondLst>
                                            <p:cond delay="0"/>
                                          </p:stCondLst>
                                        </p:cTn>
                                        <p:tgtEl>
                                          <p:spTgt spid="119"/>
                                        </p:tgtEl>
                                        <p:attrNameLst>
                                          <p:attrName>style.visibility</p:attrName>
                                        </p:attrNameLst>
                                      </p:cBhvr>
                                      <p:to>
                                        <p:strVal val="visible"/>
                                      </p:to>
                                    </p:set>
                                    <p:animEffect transition="in" filter="fade">
                                      <p:cBhvr>
                                        <p:cTn id="108" dur="500"/>
                                        <p:tgtEl>
                                          <p:spTgt spid="119"/>
                                        </p:tgtEl>
                                      </p:cBhvr>
                                    </p:animEffect>
                                    <p:anim calcmode="lin" valueType="num">
                                      <p:cBhvr additive="base">
                                        <p:cTn id="109" dur="500" decel="100000" fill="hold"/>
                                        <p:tgtEl>
                                          <p:spTgt spid="119"/>
                                        </p:tgtEl>
                                        <p:attrNameLst>
                                          <p:attrName>ppt_y</p:attrName>
                                        </p:attrNameLst>
                                      </p:cBhvr>
                                      <p:tavLst>
                                        <p:tav tm="0">
                                          <p:val>
                                            <p:strVal val="#ppt_y+0.06"/>
                                          </p:val>
                                        </p:tav>
                                        <p:tav tm="100000">
                                          <p:val>
                                            <p:strVal val="#ppt_y"/>
                                          </p:val>
                                        </p:tav>
                                      </p:tavLst>
                                    </p:anim>
                                  </p:childTnLst>
                                </p:cTn>
                              </p:par>
                              <p:par>
                                <p:cTn id="110" presetID="42" presetClass="entr" presetSubtype="0" fill="hold" nodeType="withEffect">
                                  <p:stCondLst>
                                    <p:cond delay="0"/>
                                  </p:stCondLst>
                                  <p:childTnLst>
                                    <p:set>
                                      <p:cBhvr>
                                        <p:cTn id="111" dur="1" fill="hold">
                                          <p:stCondLst>
                                            <p:cond delay="0"/>
                                          </p:stCondLst>
                                        </p:cTn>
                                        <p:tgtEl>
                                          <p:spTgt spid="120"/>
                                        </p:tgtEl>
                                        <p:attrNameLst>
                                          <p:attrName>style.visibility</p:attrName>
                                        </p:attrNameLst>
                                      </p:cBhvr>
                                      <p:to>
                                        <p:strVal val="visible"/>
                                      </p:to>
                                    </p:set>
                                    <p:animEffect transition="in" filter="fade">
                                      <p:cBhvr>
                                        <p:cTn id="112" dur="500"/>
                                        <p:tgtEl>
                                          <p:spTgt spid="120"/>
                                        </p:tgtEl>
                                      </p:cBhvr>
                                    </p:animEffect>
                                    <p:anim calcmode="lin" valueType="num">
                                      <p:cBhvr additive="base">
                                        <p:cTn id="113" dur="500" decel="100000" fill="hold"/>
                                        <p:tgtEl>
                                          <p:spTgt spid="120"/>
                                        </p:tgtEl>
                                        <p:attrNameLst>
                                          <p:attrName>ppt_y</p:attrName>
                                        </p:attrNameLst>
                                      </p:cBhvr>
                                      <p:tavLst>
                                        <p:tav tm="0">
                                          <p:val>
                                            <p:strVal val="#ppt_y+0.06"/>
                                          </p:val>
                                        </p:tav>
                                        <p:tav tm="100000">
                                          <p:val>
                                            <p:strVal val="#ppt_y"/>
                                          </p:val>
                                        </p:tav>
                                      </p:tavLst>
                                    </p:anim>
                                  </p:childTnLst>
                                </p:cTn>
                              </p:par>
                              <p:par>
                                <p:cTn id="114" presetID="42" presetClass="entr" presetSubtype="0" fill="hold" grpId="0" nodeType="withEffect">
                                  <p:stCondLst>
                                    <p:cond delay="0"/>
                                  </p:stCondLst>
                                  <p:childTnLst>
                                    <p:set>
                                      <p:cBhvr>
                                        <p:cTn id="115" dur="1" fill="hold">
                                          <p:stCondLst>
                                            <p:cond delay="0"/>
                                          </p:stCondLst>
                                        </p:cTn>
                                        <p:tgtEl>
                                          <p:spTgt spid="121"/>
                                        </p:tgtEl>
                                        <p:attrNameLst>
                                          <p:attrName>style.visibility</p:attrName>
                                        </p:attrNameLst>
                                      </p:cBhvr>
                                      <p:to>
                                        <p:strVal val="visible"/>
                                      </p:to>
                                    </p:set>
                                    <p:animEffect transition="in" filter="fade">
                                      <p:cBhvr>
                                        <p:cTn id="116" dur="500"/>
                                        <p:tgtEl>
                                          <p:spTgt spid="121"/>
                                        </p:tgtEl>
                                      </p:cBhvr>
                                    </p:animEffect>
                                    <p:anim calcmode="lin" valueType="num">
                                      <p:cBhvr additive="base">
                                        <p:cTn id="117" dur="500" decel="100000" fill="hold"/>
                                        <p:tgtEl>
                                          <p:spTgt spid="121"/>
                                        </p:tgtEl>
                                        <p:attrNameLst>
                                          <p:attrName>ppt_y</p:attrName>
                                        </p:attrNameLst>
                                      </p:cBhvr>
                                      <p:tavLst>
                                        <p:tav tm="0">
                                          <p:val>
                                            <p:strVal val="#ppt_y+0.06"/>
                                          </p:val>
                                        </p:tav>
                                        <p:tav tm="100000">
                                          <p:val>
                                            <p:strVal val="#ppt_y"/>
                                          </p:val>
                                        </p:tav>
                                      </p:tavLst>
                                    </p:anim>
                                  </p:childTnLst>
                                </p:cTn>
                              </p:par>
                              <p:par>
                                <p:cTn id="118" presetID="42" presetClass="entr" presetSubtype="0" fill="hold" grpId="0" nodeType="withEffect">
                                  <p:stCondLst>
                                    <p:cond delay="0"/>
                                  </p:stCondLst>
                                  <p:childTnLst>
                                    <p:set>
                                      <p:cBhvr>
                                        <p:cTn id="119" dur="1" fill="hold">
                                          <p:stCondLst>
                                            <p:cond delay="0"/>
                                          </p:stCondLst>
                                        </p:cTn>
                                        <p:tgtEl>
                                          <p:spTgt spid="122"/>
                                        </p:tgtEl>
                                        <p:attrNameLst>
                                          <p:attrName>style.visibility</p:attrName>
                                        </p:attrNameLst>
                                      </p:cBhvr>
                                      <p:to>
                                        <p:strVal val="visible"/>
                                      </p:to>
                                    </p:set>
                                    <p:animEffect transition="in" filter="fade">
                                      <p:cBhvr>
                                        <p:cTn id="120" dur="500"/>
                                        <p:tgtEl>
                                          <p:spTgt spid="122"/>
                                        </p:tgtEl>
                                      </p:cBhvr>
                                    </p:animEffect>
                                    <p:anim calcmode="lin" valueType="num">
                                      <p:cBhvr additive="base">
                                        <p:cTn id="121" dur="500" decel="100000" fill="hold"/>
                                        <p:tgtEl>
                                          <p:spTgt spid="122"/>
                                        </p:tgtEl>
                                        <p:attrNameLst>
                                          <p:attrName>ppt_y</p:attrName>
                                        </p:attrNameLst>
                                      </p:cBhvr>
                                      <p:tavLst>
                                        <p:tav tm="0">
                                          <p:val>
                                            <p:strVal val="#ppt_y+0.06"/>
                                          </p:val>
                                        </p:tav>
                                        <p:tav tm="100000">
                                          <p:val>
                                            <p:strVal val="#ppt_y"/>
                                          </p:val>
                                        </p:tav>
                                      </p:tavLst>
                                    </p:anim>
                                  </p:childTnLst>
                                </p:cTn>
                              </p:par>
                              <p:par>
                                <p:cTn id="122" presetID="42" presetClass="entr" presetSubtype="0" fill="hold" grpId="0" nodeType="withEffect">
                                  <p:stCondLst>
                                    <p:cond delay="0"/>
                                  </p:stCondLst>
                                  <p:childTnLst>
                                    <p:set>
                                      <p:cBhvr>
                                        <p:cTn id="123" dur="1" fill="hold">
                                          <p:stCondLst>
                                            <p:cond delay="0"/>
                                          </p:stCondLst>
                                        </p:cTn>
                                        <p:tgtEl>
                                          <p:spTgt spid="123"/>
                                        </p:tgtEl>
                                        <p:attrNameLst>
                                          <p:attrName>style.visibility</p:attrName>
                                        </p:attrNameLst>
                                      </p:cBhvr>
                                      <p:to>
                                        <p:strVal val="visible"/>
                                      </p:to>
                                    </p:set>
                                    <p:animEffect transition="in" filter="fade">
                                      <p:cBhvr>
                                        <p:cTn id="124" dur="500"/>
                                        <p:tgtEl>
                                          <p:spTgt spid="123"/>
                                        </p:tgtEl>
                                      </p:cBhvr>
                                    </p:animEffect>
                                    <p:anim calcmode="lin" valueType="num">
                                      <p:cBhvr additive="base">
                                        <p:cTn id="125" dur="500" decel="100000" fill="hold"/>
                                        <p:tgtEl>
                                          <p:spTgt spid="123"/>
                                        </p:tgtEl>
                                        <p:attrNameLst>
                                          <p:attrName>ppt_y</p:attrName>
                                        </p:attrNameLst>
                                      </p:cBhvr>
                                      <p:tavLst>
                                        <p:tav tm="0">
                                          <p:val>
                                            <p:strVal val="#ppt_y+0.06"/>
                                          </p:val>
                                        </p:tav>
                                        <p:tav tm="100000">
                                          <p:val>
                                            <p:strVal val="#ppt_y"/>
                                          </p:val>
                                        </p:tav>
                                      </p:tavLst>
                                    </p:anim>
                                  </p:childTnLst>
                                </p:cTn>
                              </p:par>
                              <p:par>
                                <p:cTn id="126" presetID="42" presetClass="entr" presetSubtype="0" fill="hold" grpId="0" nodeType="withEffect">
                                  <p:stCondLst>
                                    <p:cond delay="0"/>
                                  </p:stCondLst>
                                  <p:childTnLst>
                                    <p:set>
                                      <p:cBhvr>
                                        <p:cTn id="127" dur="1" fill="hold">
                                          <p:stCondLst>
                                            <p:cond delay="0"/>
                                          </p:stCondLst>
                                        </p:cTn>
                                        <p:tgtEl>
                                          <p:spTgt spid="124"/>
                                        </p:tgtEl>
                                        <p:attrNameLst>
                                          <p:attrName>style.visibility</p:attrName>
                                        </p:attrNameLst>
                                      </p:cBhvr>
                                      <p:to>
                                        <p:strVal val="visible"/>
                                      </p:to>
                                    </p:set>
                                    <p:animEffect transition="in" filter="fade">
                                      <p:cBhvr>
                                        <p:cTn id="128" dur="500"/>
                                        <p:tgtEl>
                                          <p:spTgt spid="124"/>
                                        </p:tgtEl>
                                      </p:cBhvr>
                                    </p:animEffect>
                                    <p:anim calcmode="lin" valueType="num">
                                      <p:cBhvr additive="base">
                                        <p:cTn id="129" dur="500" decel="100000" fill="hold"/>
                                        <p:tgtEl>
                                          <p:spTgt spid="124"/>
                                        </p:tgtEl>
                                        <p:attrNameLst>
                                          <p:attrName>ppt_y</p:attrName>
                                        </p:attrNameLst>
                                      </p:cBhvr>
                                      <p:tavLst>
                                        <p:tav tm="0">
                                          <p:val>
                                            <p:strVal val="#ppt_y+0.06"/>
                                          </p:val>
                                        </p:tav>
                                        <p:tav tm="100000">
                                          <p:val>
                                            <p:strVal val="#ppt_y"/>
                                          </p:val>
                                        </p:tav>
                                      </p:tavLst>
                                    </p:anim>
                                  </p:childTnLst>
                                </p:cTn>
                              </p:par>
                            </p:childTnLst>
                          </p:cTn>
                        </p:par>
                      </p:childTnLst>
                    </p:cTn>
                  </p:par>
                  <p:par>
                    <p:cTn id="130" fill="hold">
                      <p:stCondLst>
                        <p:cond delay="indefinite"/>
                      </p:stCondLst>
                      <p:childTnLst>
                        <p:par>
                          <p:cTn id="131" fill="hold">
                            <p:stCondLst>
                              <p:cond delay="0"/>
                            </p:stCondLst>
                            <p:childTnLst>
                              <p:par>
                                <p:cTn id="132" presetID="42" presetClass="entr" presetSubtype="0" fill="hold" grpId="0" nodeType="clickEffect">
                                  <p:stCondLst>
                                    <p:cond delay="0"/>
                                  </p:stCondLst>
                                  <p:childTnLst>
                                    <p:set>
                                      <p:cBhvr>
                                        <p:cTn id="133" dur="1" fill="hold">
                                          <p:stCondLst>
                                            <p:cond delay="0"/>
                                          </p:stCondLst>
                                        </p:cTn>
                                        <p:tgtEl>
                                          <p:spTgt spid="125"/>
                                        </p:tgtEl>
                                        <p:attrNameLst>
                                          <p:attrName>style.visibility</p:attrName>
                                        </p:attrNameLst>
                                      </p:cBhvr>
                                      <p:to>
                                        <p:strVal val="visible"/>
                                      </p:to>
                                    </p:set>
                                    <p:animEffect transition="in" filter="fade">
                                      <p:cBhvr>
                                        <p:cTn id="134" dur="500"/>
                                        <p:tgtEl>
                                          <p:spTgt spid="125"/>
                                        </p:tgtEl>
                                      </p:cBhvr>
                                    </p:animEffect>
                                    <p:anim calcmode="lin" valueType="num">
                                      <p:cBhvr additive="base">
                                        <p:cTn id="135" dur="500" decel="100000" fill="hold"/>
                                        <p:tgtEl>
                                          <p:spTgt spid="125"/>
                                        </p:tgtEl>
                                        <p:attrNameLst>
                                          <p:attrName>ppt_y</p:attrName>
                                        </p:attrNameLst>
                                      </p:cBhvr>
                                      <p:tavLst>
                                        <p:tav tm="0">
                                          <p:val>
                                            <p:strVal val="#ppt_y+0.06"/>
                                          </p:val>
                                        </p:tav>
                                        <p:tav tm="100000">
                                          <p:val>
                                            <p:strVal val="#ppt_y"/>
                                          </p:val>
                                        </p:tav>
                                      </p:tavLst>
                                    </p:anim>
                                  </p:childTnLst>
                                </p:cTn>
                              </p:par>
                              <p:par>
                                <p:cTn id="136" presetID="42" presetClass="entr" presetSubtype="0" fill="hold" grpId="0" nodeType="withEffect">
                                  <p:stCondLst>
                                    <p:cond delay="150"/>
                                  </p:stCondLst>
                                  <p:childTnLst>
                                    <p:set>
                                      <p:cBhvr>
                                        <p:cTn id="137" dur="1" fill="hold">
                                          <p:stCondLst>
                                            <p:cond delay="0"/>
                                          </p:stCondLst>
                                        </p:cTn>
                                        <p:tgtEl>
                                          <p:spTgt spid="126"/>
                                        </p:tgtEl>
                                        <p:attrNameLst>
                                          <p:attrName>style.visibility</p:attrName>
                                        </p:attrNameLst>
                                      </p:cBhvr>
                                      <p:to>
                                        <p:strVal val="visible"/>
                                      </p:to>
                                    </p:set>
                                    <p:animEffect transition="in" filter="fade">
                                      <p:cBhvr>
                                        <p:cTn id="138" dur="500"/>
                                        <p:tgtEl>
                                          <p:spTgt spid="126"/>
                                        </p:tgtEl>
                                      </p:cBhvr>
                                    </p:animEffect>
                                    <p:anim calcmode="lin" valueType="num">
                                      <p:cBhvr additive="base">
                                        <p:cTn id="139" dur="500" decel="100000" fill="hold"/>
                                        <p:tgtEl>
                                          <p:spTgt spid="126"/>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INLINEDATA</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Think Like an Attacker: The Bad Inputs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One row per way to break it. Comment WHY each row exists.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127</a:t>
            </a:r>
            <a:endParaRPr lang="en-US" sz="850" dirty="0"/>
          </a:p>
        </p:txBody>
      </p:sp>
      <p:sp>
        <p:nvSpPr>
          <p:cNvPr id="101" name="s101"/>
          <p:cNvSpPr/>
          <p:nvPr/>
        </p:nvSpPr>
        <p:spPr>
          <a:xfrm>
            <a:off x="543154" y="1783080"/>
            <a:ext cx="6949440" cy="38404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889150"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EmailValidatorTests.cs</a:t>
            </a:r>
            <a:endParaRPr lang="en-US" sz="950" dirty="0"/>
          </a:p>
        </p:txBody>
      </p:sp>
      <p:cxnSp>
        <p:nvCxnSpPr>
          <p:cNvPr id="106" name="ln106"/>
          <p:cNvCxnSpPr/>
          <p:nvPr/>
        </p:nvCxnSpPr>
        <p:spPr>
          <a:xfrm>
            <a:off x="543154" y="2194560"/>
            <a:ext cx="6949440" cy="0"/>
          </a:xfrm>
          <a:prstGeom prst="line">
            <a:avLst/>
          </a:prstGeom>
          <a:ln w="9525">
            <a:solidFill>
              <a:srgbClr val="1E3A5F"/>
            </a:solidFill>
          </a:ln>
        </p:spPr>
      </p:cxnSp>
      <p:sp>
        <p:nvSpPr>
          <p:cNvPr id="107" name="s107"/>
          <p:cNvSpPr/>
          <p:nvPr/>
        </p:nvSpPr>
        <p:spPr>
          <a:xfrm>
            <a:off x="543154" y="231343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[Theory]</a:t>
            </a:r>
            <a:endParaRPr lang="en-US" sz="1150" dirty="0"/>
          </a:p>
        </p:txBody>
      </p:sp>
      <p:sp>
        <p:nvSpPr>
          <p:cNvPr id="108" name="s108"/>
          <p:cNvSpPr/>
          <p:nvPr/>
        </p:nvSpPr>
        <p:spPr>
          <a:xfrm>
            <a:off x="543154" y="248869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a:t>
            </a:r>
            <a:endParaRPr lang="en-US" sz="1150" dirty="0"/>
          </a:p>
        </p:txBody>
      </p:sp>
      <p:sp>
        <p:nvSpPr>
          <p:cNvPr id="109" name="s109"/>
          <p:cNvSpPr/>
          <p:nvPr/>
        </p:nvSpPr>
        <p:spPr>
          <a:xfrm>
            <a:off x="543154" y="266395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[InlineData("mona")]</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no @</a:t>
            </a:r>
            <a:endParaRPr lang="en-US" sz="1150" dirty="0"/>
          </a:p>
        </p:txBody>
      </p:sp>
      <p:sp>
        <p:nvSpPr>
          <p:cNvPr id="110" name="s110"/>
          <p:cNvSpPr/>
          <p:nvPr/>
        </p:nvSpPr>
        <p:spPr>
          <a:xfrm>
            <a:off x="543154" y="283921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[InlineData("@gmail.com")]</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nothing before @</a:t>
            </a:r>
            <a:endParaRPr lang="en-US" sz="1150" dirty="0"/>
          </a:p>
        </p:txBody>
      </p:sp>
      <p:sp>
        <p:nvSpPr>
          <p:cNvPr id="111" name="s111"/>
          <p:cNvSpPr/>
          <p:nvPr/>
        </p:nvSpPr>
        <p:spPr>
          <a:xfrm>
            <a:off x="543154" y="301447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[InlineData("mona@@gmail.com")]</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two @</a:t>
            </a:r>
            <a:endParaRPr lang="en-US" sz="1150" dirty="0"/>
          </a:p>
        </p:txBody>
      </p:sp>
      <p:sp>
        <p:nvSpPr>
          <p:cNvPr id="112" name="s112"/>
          <p:cNvSpPr/>
          <p:nvPr/>
        </p:nvSpPr>
        <p:spPr>
          <a:xfrm>
            <a:off x="543154" y="318973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[InlineData("mona@gmail")]</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no dot after @</a:t>
            </a:r>
            <a:endParaRPr lang="en-US" sz="1150" dirty="0"/>
          </a:p>
        </p:txBody>
      </p:sp>
      <p:sp>
        <p:nvSpPr>
          <p:cNvPr id="113" name="s113"/>
          <p:cNvSpPr/>
          <p:nvPr/>
        </p:nvSpPr>
        <p:spPr>
          <a:xfrm>
            <a:off x="543154" y="336499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[InlineData("mona@gmail.")]</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ends with a dot</a:t>
            </a:r>
            <a:endParaRPr lang="en-US" sz="1150" dirty="0"/>
          </a:p>
        </p:txBody>
      </p:sp>
      <p:sp>
        <p:nvSpPr>
          <p:cNvPr id="114" name="s114"/>
          <p:cNvSpPr/>
          <p:nvPr/>
        </p:nvSpPr>
        <p:spPr>
          <a:xfrm>
            <a:off x="543154" y="354025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void</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IsValid_BadEmails_ReturnsFalse</a:t>
            </a:r>
            <a:r>
              <a:rPr lang="en-US" sz="1150" b="0" dirty="0">
                <a:solidFill>
                  <a:srgbClr val="E2E8F0"/>
                </a:solidFill>
                <a:latin typeface="Consolas"/>
                <a:ea typeface="Consolas"/>
                <a:cs typeface="Consolas"/>
              </a:rPr>
              <a:t>(</a:t>
            </a:r>
            <a:r>
              <a:rPr lang="en-US" sz="1150" b="0" dirty="0">
                <a:solidFill>
                  <a:srgbClr val="60A5FA"/>
                </a:solidFill>
                <a:latin typeface="Consolas"/>
                <a:ea typeface="Consolas"/>
                <a:cs typeface="Consolas"/>
              </a:rPr>
              <a:t>string</a:t>
            </a:r>
            <a:r>
              <a:rPr lang="en-US" sz="1150" b="0" dirty="0">
                <a:solidFill>
                  <a:srgbClr val="E2E8F0"/>
                </a:solidFill>
                <a:latin typeface="Consolas"/>
                <a:ea typeface="Consolas"/>
                <a:cs typeface="Consolas"/>
              </a:rPr>
              <a:t> email)</a:t>
            </a:r>
            <a:endParaRPr lang="en-US" sz="1150" dirty="0"/>
          </a:p>
        </p:txBody>
      </p:sp>
      <p:sp>
        <p:nvSpPr>
          <p:cNvPr id="115" name="s115"/>
          <p:cNvSpPr/>
          <p:nvPr/>
        </p:nvSpPr>
        <p:spPr>
          <a:xfrm>
            <a:off x="543154" y="371551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6" name="s116"/>
          <p:cNvSpPr/>
          <p:nvPr/>
        </p:nvSpPr>
        <p:spPr>
          <a:xfrm>
            <a:off x="543154" y="389077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Assert</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False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EmailValidator</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IsValid</a:t>
            </a:r>
            <a:r>
              <a:rPr lang="en-US" sz="1150" b="0" dirty="0">
                <a:solidFill>
                  <a:srgbClr val="E2E8F0"/>
                </a:solidFill>
                <a:latin typeface="Consolas"/>
                <a:ea typeface="Consolas"/>
                <a:cs typeface="Consolas"/>
              </a:rPr>
              <a:t>(email));</a:t>
            </a:r>
            <a:endParaRPr lang="en-US" sz="1150" dirty="0"/>
          </a:p>
        </p:txBody>
      </p:sp>
      <p:sp>
        <p:nvSpPr>
          <p:cNvPr id="117" name="s117"/>
          <p:cNvSpPr/>
          <p:nvPr/>
        </p:nvSpPr>
        <p:spPr>
          <a:xfrm>
            <a:off x="543154" y="4066032"/>
            <a:ext cx="69494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8" name="s118"/>
          <p:cNvSpPr/>
          <p:nvPr/>
        </p:nvSpPr>
        <p:spPr>
          <a:xfrm>
            <a:off x="7766914" y="1783080"/>
            <a:ext cx="3864254" cy="265176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19" name="s119"/>
          <p:cNvSpPr/>
          <p:nvPr/>
        </p:nvSpPr>
        <p:spPr>
          <a:xfrm>
            <a:off x="793150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0" name="s120"/>
          <p:cNvSpPr/>
          <p:nvPr/>
        </p:nvSpPr>
        <p:spPr>
          <a:xfrm>
            <a:off x="811438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1" name="s121"/>
          <p:cNvSpPr/>
          <p:nvPr/>
        </p:nvSpPr>
        <p:spPr>
          <a:xfrm>
            <a:off x="829726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2" name="s122"/>
          <p:cNvSpPr/>
          <p:nvPr/>
        </p:nvSpPr>
        <p:spPr>
          <a:xfrm>
            <a:off x="8544154" y="1856232"/>
            <a:ext cx="124724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Test Explorer</a:t>
            </a:r>
            <a:endParaRPr lang="en-US" sz="950" dirty="0"/>
          </a:p>
        </p:txBody>
      </p:sp>
      <p:cxnSp>
        <p:nvCxnSpPr>
          <p:cNvPr id="123" name="ln123"/>
          <p:cNvCxnSpPr/>
          <p:nvPr/>
        </p:nvCxnSpPr>
        <p:spPr>
          <a:xfrm>
            <a:off x="7766914" y="2194560"/>
            <a:ext cx="3864254" cy="0"/>
          </a:xfrm>
          <a:prstGeom prst="line">
            <a:avLst/>
          </a:prstGeom>
          <a:ln w="9525">
            <a:solidFill>
              <a:srgbClr val="1E3A5F"/>
            </a:solidFill>
          </a:ln>
        </p:spPr>
      </p:cxnSp>
      <p:sp>
        <p:nvSpPr>
          <p:cNvPr id="124" name="s124"/>
          <p:cNvSpPr/>
          <p:nvPr/>
        </p:nvSpPr>
        <p:spPr>
          <a:xfrm>
            <a:off x="7766914" y="2313432"/>
            <a:ext cx="386425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34D399"/>
                </a:solidFill>
                <a:latin typeface="Consolas"/>
                <a:ea typeface="Consolas"/>
                <a:cs typeface="Consolas"/>
              </a:rPr>
              <a:t>✓ IsValid_BadEmails (6)</a:t>
            </a:r>
            <a:endParaRPr lang="en-US" sz="1150" dirty="0"/>
          </a:p>
        </p:txBody>
      </p:sp>
      <p:sp>
        <p:nvSpPr>
          <p:cNvPr id="125" name="s125"/>
          <p:cNvSpPr/>
          <p:nvPr/>
        </p:nvSpPr>
        <p:spPr>
          <a:xfrm>
            <a:off x="7766914" y="2488692"/>
            <a:ext cx="386425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34D399"/>
                </a:solidFill>
                <a:latin typeface="Consolas"/>
                <a:ea typeface="Consolas"/>
                <a:cs typeface="Consolas"/>
              </a:rPr>
              <a:t>  ✓ ""</a:t>
            </a:r>
            <a:endParaRPr lang="en-US" sz="1150" dirty="0"/>
          </a:p>
        </p:txBody>
      </p:sp>
      <p:sp>
        <p:nvSpPr>
          <p:cNvPr id="126" name="s126"/>
          <p:cNvSpPr/>
          <p:nvPr/>
        </p:nvSpPr>
        <p:spPr>
          <a:xfrm>
            <a:off x="7766914" y="2663952"/>
            <a:ext cx="386425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34D399"/>
                </a:solidFill>
                <a:latin typeface="Consolas"/>
                <a:ea typeface="Consolas"/>
                <a:cs typeface="Consolas"/>
              </a:rPr>
              <a:t>  ✓ "mona"</a:t>
            </a:r>
            <a:endParaRPr lang="en-US" sz="1150" dirty="0"/>
          </a:p>
        </p:txBody>
      </p:sp>
      <p:sp>
        <p:nvSpPr>
          <p:cNvPr id="127" name="s127"/>
          <p:cNvSpPr/>
          <p:nvPr/>
        </p:nvSpPr>
        <p:spPr>
          <a:xfrm>
            <a:off x="7766914" y="2839212"/>
            <a:ext cx="386425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34D399"/>
                </a:solidFill>
                <a:latin typeface="Consolas"/>
                <a:ea typeface="Consolas"/>
                <a:cs typeface="Consolas"/>
              </a:rPr>
              <a:t>  ✓ "@gmail.com"</a:t>
            </a:r>
            <a:endParaRPr lang="en-US" sz="1150" dirty="0"/>
          </a:p>
        </p:txBody>
      </p:sp>
      <p:sp>
        <p:nvSpPr>
          <p:cNvPr id="128" name="s128"/>
          <p:cNvSpPr/>
          <p:nvPr/>
        </p:nvSpPr>
        <p:spPr>
          <a:xfrm>
            <a:off x="7766914" y="3014472"/>
            <a:ext cx="386425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34D399"/>
                </a:solidFill>
                <a:latin typeface="Consolas"/>
                <a:ea typeface="Consolas"/>
                <a:cs typeface="Consolas"/>
              </a:rPr>
              <a:t>  ✓ "mona@@gmail.com"</a:t>
            </a:r>
            <a:endParaRPr lang="en-US" sz="1150" dirty="0"/>
          </a:p>
        </p:txBody>
      </p:sp>
      <p:sp>
        <p:nvSpPr>
          <p:cNvPr id="129" name="s129"/>
          <p:cNvSpPr/>
          <p:nvPr/>
        </p:nvSpPr>
        <p:spPr>
          <a:xfrm>
            <a:off x="7766914" y="3189732"/>
            <a:ext cx="386425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34D399"/>
                </a:solidFill>
                <a:latin typeface="Consolas"/>
                <a:ea typeface="Consolas"/>
                <a:cs typeface="Consolas"/>
              </a:rPr>
              <a:t>  ✓ "mona@gmail"</a:t>
            </a:r>
            <a:endParaRPr lang="en-US" sz="1150" dirty="0"/>
          </a:p>
        </p:txBody>
      </p:sp>
      <p:sp>
        <p:nvSpPr>
          <p:cNvPr id="130" name="s130"/>
          <p:cNvSpPr/>
          <p:nvPr/>
        </p:nvSpPr>
        <p:spPr>
          <a:xfrm>
            <a:off x="7766914" y="3364992"/>
            <a:ext cx="386425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34D399"/>
                </a:solidFill>
                <a:latin typeface="Consolas"/>
                <a:ea typeface="Consolas"/>
                <a:cs typeface="Consolas"/>
              </a:rPr>
              <a:t>  ✓ "mona@gmail."</a:t>
            </a:r>
            <a:endParaRPr lang="en-US" sz="1150" dirty="0"/>
          </a:p>
        </p:txBody>
      </p:sp>
      <p:sp>
        <p:nvSpPr>
          <p:cNvPr id="131" name="s131"/>
          <p:cNvSpPr/>
          <p:nvPr/>
        </p:nvSpPr>
        <p:spPr>
          <a:xfrm>
            <a:off x="7766914" y="4572000"/>
            <a:ext cx="3864254" cy="1051560"/>
          </a:xfrm>
          <a:prstGeom prst="roundRect">
            <a:avLst>
              <a:gd name="adj" fmla="val 10000"/>
            </a:avLst>
          </a:prstGeom>
          <a:solidFill>
            <a:srgbClr val="FBBF24">
              <a:alpha val="8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BBF24"/>
                </a:solidFill>
                <a:latin typeface="Segoe UI"/>
                <a:ea typeface="Segoe UI"/>
                <a:cs typeface="Segoe UI"/>
              </a:rPr>
              <a:t>HOW TO CHOOSE ROWS</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One row per condition in the code, each breaking exactly one condition.</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grpId="0" nodeType="clickEffect">
                                  <p:stCondLst>
                                    <p:cond delay="0"/>
                                  </p:stCondLst>
                                  <p:childTnLst>
                                    <p:set>
                                      <p:cBhvr>
                                        <p:cTn id="76" dur="1" fill="hold">
                                          <p:stCondLst>
                                            <p:cond delay="0"/>
                                          </p:stCondLst>
                                        </p:cTn>
                                        <p:tgtEl>
                                          <p:spTgt spid="118"/>
                                        </p:tgtEl>
                                        <p:attrNameLst>
                                          <p:attrName>style.visibility</p:attrName>
                                        </p:attrNameLst>
                                      </p:cBhvr>
                                      <p:to>
                                        <p:strVal val="visible"/>
                                      </p:to>
                                    </p:set>
                                    <p:animEffect transition="in" filter="fade">
                                      <p:cBhvr>
                                        <p:cTn id="77" dur="500"/>
                                        <p:tgtEl>
                                          <p:spTgt spid="118"/>
                                        </p:tgtEl>
                                      </p:cBhvr>
                                    </p:animEffect>
                                    <p:anim calcmode="lin" valueType="num">
                                      <p:cBhvr additive="base">
                                        <p:cTn id="78" dur="500" decel="100000" fill="hold"/>
                                        <p:tgtEl>
                                          <p:spTgt spid="118"/>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19"/>
                                        </p:tgtEl>
                                        <p:attrNameLst>
                                          <p:attrName>style.visibility</p:attrName>
                                        </p:attrNameLst>
                                      </p:cBhvr>
                                      <p:to>
                                        <p:strVal val="visible"/>
                                      </p:to>
                                    </p:set>
                                    <p:animEffect transition="in" filter="fade">
                                      <p:cBhvr>
                                        <p:cTn id="81" dur="500"/>
                                        <p:tgtEl>
                                          <p:spTgt spid="119"/>
                                        </p:tgtEl>
                                      </p:cBhvr>
                                    </p:animEffect>
                                    <p:anim calcmode="lin" valueType="num">
                                      <p:cBhvr additive="base">
                                        <p:cTn id="82" dur="500" decel="100000" fill="hold"/>
                                        <p:tgtEl>
                                          <p:spTgt spid="119"/>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20"/>
                                        </p:tgtEl>
                                        <p:attrNameLst>
                                          <p:attrName>style.visibility</p:attrName>
                                        </p:attrNameLst>
                                      </p:cBhvr>
                                      <p:to>
                                        <p:strVal val="visible"/>
                                      </p:to>
                                    </p:set>
                                    <p:animEffect transition="in" filter="fade">
                                      <p:cBhvr>
                                        <p:cTn id="85" dur="500"/>
                                        <p:tgtEl>
                                          <p:spTgt spid="120"/>
                                        </p:tgtEl>
                                      </p:cBhvr>
                                    </p:animEffect>
                                    <p:anim calcmode="lin" valueType="num">
                                      <p:cBhvr additive="base">
                                        <p:cTn id="86" dur="500" decel="100000" fill="hold"/>
                                        <p:tgtEl>
                                          <p:spTgt spid="120"/>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21"/>
                                        </p:tgtEl>
                                        <p:attrNameLst>
                                          <p:attrName>style.visibility</p:attrName>
                                        </p:attrNameLst>
                                      </p:cBhvr>
                                      <p:to>
                                        <p:strVal val="visible"/>
                                      </p:to>
                                    </p:set>
                                    <p:animEffect transition="in" filter="fade">
                                      <p:cBhvr>
                                        <p:cTn id="89" dur="500"/>
                                        <p:tgtEl>
                                          <p:spTgt spid="121"/>
                                        </p:tgtEl>
                                      </p:cBhvr>
                                    </p:animEffect>
                                    <p:anim calcmode="lin" valueType="num">
                                      <p:cBhvr additive="base">
                                        <p:cTn id="90" dur="500" decel="100000" fill="hold"/>
                                        <p:tgtEl>
                                          <p:spTgt spid="121"/>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2"/>
                                        </p:tgtEl>
                                        <p:attrNameLst>
                                          <p:attrName>style.visibility</p:attrName>
                                        </p:attrNameLst>
                                      </p:cBhvr>
                                      <p:to>
                                        <p:strVal val="visible"/>
                                      </p:to>
                                    </p:set>
                                    <p:animEffect transition="in" filter="fade">
                                      <p:cBhvr>
                                        <p:cTn id="93" dur="500"/>
                                        <p:tgtEl>
                                          <p:spTgt spid="122"/>
                                        </p:tgtEl>
                                      </p:cBhvr>
                                    </p:animEffect>
                                    <p:anim calcmode="lin" valueType="num">
                                      <p:cBhvr additive="base">
                                        <p:cTn id="94" dur="500" decel="100000" fill="hold"/>
                                        <p:tgtEl>
                                          <p:spTgt spid="122"/>
                                        </p:tgtEl>
                                        <p:attrNameLst>
                                          <p:attrName>ppt_y</p:attrName>
                                        </p:attrNameLst>
                                      </p:cBhvr>
                                      <p:tavLst>
                                        <p:tav tm="0">
                                          <p:val>
                                            <p:strVal val="#ppt_y+0.06"/>
                                          </p:val>
                                        </p:tav>
                                        <p:tav tm="100000">
                                          <p:val>
                                            <p:strVal val="#ppt_y"/>
                                          </p:val>
                                        </p:tav>
                                      </p:tavLst>
                                    </p:anim>
                                  </p:childTnLst>
                                </p:cTn>
                              </p:par>
                              <p:par>
                                <p:cTn id="95" presetID="42" presetClass="entr" presetSubtype="0" fill="hold" nodeType="withEffect">
                                  <p:stCondLst>
                                    <p:cond delay="0"/>
                                  </p:stCondLst>
                                  <p:childTnLst>
                                    <p:set>
                                      <p:cBhvr>
                                        <p:cTn id="96" dur="1" fill="hold">
                                          <p:stCondLst>
                                            <p:cond delay="0"/>
                                          </p:stCondLst>
                                        </p:cTn>
                                        <p:tgtEl>
                                          <p:spTgt spid="123"/>
                                        </p:tgtEl>
                                        <p:attrNameLst>
                                          <p:attrName>style.visibility</p:attrName>
                                        </p:attrNameLst>
                                      </p:cBhvr>
                                      <p:to>
                                        <p:strVal val="visible"/>
                                      </p:to>
                                    </p:set>
                                    <p:animEffect transition="in" filter="fade">
                                      <p:cBhvr>
                                        <p:cTn id="97" dur="500"/>
                                        <p:tgtEl>
                                          <p:spTgt spid="123"/>
                                        </p:tgtEl>
                                      </p:cBhvr>
                                    </p:animEffect>
                                    <p:anim calcmode="lin" valueType="num">
                                      <p:cBhvr additive="base">
                                        <p:cTn id="98" dur="500" decel="100000" fill="hold"/>
                                        <p:tgtEl>
                                          <p:spTgt spid="123"/>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4"/>
                                        </p:tgtEl>
                                        <p:attrNameLst>
                                          <p:attrName>style.visibility</p:attrName>
                                        </p:attrNameLst>
                                      </p:cBhvr>
                                      <p:to>
                                        <p:strVal val="visible"/>
                                      </p:to>
                                    </p:set>
                                    <p:animEffect transition="in" filter="fade">
                                      <p:cBhvr>
                                        <p:cTn id="101" dur="500"/>
                                        <p:tgtEl>
                                          <p:spTgt spid="124"/>
                                        </p:tgtEl>
                                      </p:cBhvr>
                                    </p:animEffect>
                                    <p:anim calcmode="lin" valueType="num">
                                      <p:cBhvr additive="base">
                                        <p:cTn id="102" dur="500" decel="100000" fill="hold"/>
                                        <p:tgtEl>
                                          <p:spTgt spid="124"/>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5"/>
                                        </p:tgtEl>
                                        <p:attrNameLst>
                                          <p:attrName>style.visibility</p:attrName>
                                        </p:attrNameLst>
                                      </p:cBhvr>
                                      <p:to>
                                        <p:strVal val="visible"/>
                                      </p:to>
                                    </p:set>
                                    <p:animEffect transition="in" filter="fade">
                                      <p:cBhvr>
                                        <p:cTn id="105" dur="500"/>
                                        <p:tgtEl>
                                          <p:spTgt spid="125"/>
                                        </p:tgtEl>
                                      </p:cBhvr>
                                    </p:animEffect>
                                    <p:anim calcmode="lin" valueType="num">
                                      <p:cBhvr additive="base">
                                        <p:cTn id="106" dur="500" decel="100000" fill="hold"/>
                                        <p:tgtEl>
                                          <p:spTgt spid="125"/>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6"/>
                                        </p:tgtEl>
                                        <p:attrNameLst>
                                          <p:attrName>style.visibility</p:attrName>
                                        </p:attrNameLst>
                                      </p:cBhvr>
                                      <p:to>
                                        <p:strVal val="visible"/>
                                      </p:to>
                                    </p:set>
                                    <p:animEffect transition="in" filter="fade">
                                      <p:cBhvr>
                                        <p:cTn id="109" dur="500"/>
                                        <p:tgtEl>
                                          <p:spTgt spid="126"/>
                                        </p:tgtEl>
                                      </p:cBhvr>
                                    </p:animEffect>
                                    <p:anim calcmode="lin" valueType="num">
                                      <p:cBhvr additive="base">
                                        <p:cTn id="110" dur="500" decel="100000" fill="hold"/>
                                        <p:tgtEl>
                                          <p:spTgt spid="126"/>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7"/>
                                        </p:tgtEl>
                                        <p:attrNameLst>
                                          <p:attrName>style.visibility</p:attrName>
                                        </p:attrNameLst>
                                      </p:cBhvr>
                                      <p:to>
                                        <p:strVal val="visible"/>
                                      </p:to>
                                    </p:set>
                                    <p:animEffect transition="in" filter="fade">
                                      <p:cBhvr>
                                        <p:cTn id="113" dur="500"/>
                                        <p:tgtEl>
                                          <p:spTgt spid="127"/>
                                        </p:tgtEl>
                                      </p:cBhvr>
                                    </p:animEffect>
                                    <p:anim calcmode="lin" valueType="num">
                                      <p:cBhvr additive="base">
                                        <p:cTn id="114" dur="500" decel="100000" fill="hold"/>
                                        <p:tgtEl>
                                          <p:spTgt spid="127"/>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8"/>
                                        </p:tgtEl>
                                        <p:attrNameLst>
                                          <p:attrName>style.visibility</p:attrName>
                                        </p:attrNameLst>
                                      </p:cBhvr>
                                      <p:to>
                                        <p:strVal val="visible"/>
                                      </p:to>
                                    </p:set>
                                    <p:animEffect transition="in" filter="fade">
                                      <p:cBhvr>
                                        <p:cTn id="117" dur="500"/>
                                        <p:tgtEl>
                                          <p:spTgt spid="128"/>
                                        </p:tgtEl>
                                      </p:cBhvr>
                                    </p:animEffect>
                                    <p:anim calcmode="lin" valueType="num">
                                      <p:cBhvr additive="base">
                                        <p:cTn id="118" dur="500" decel="100000" fill="hold"/>
                                        <p:tgtEl>
                                          <p:spTgt spid="128"/>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29"/>
                                        </p:tgtEl>
                                        <p:attrNameLst>
                                          <p:attrName>style.visibility</p:attrName>
                                        </p:attrNameLst>
                                      </p:cBhvr>
                                      <p:to>
                                        <p:strVal val="visible"/>
                                      </p:to>
                                    </p:set>
                                    <p:animEffect transition="in" filter="fade">
                                      <p:cBhvr>
                                        <p:cTn id="121" dur="500"/>
                                        <p:tgtEl>
                                          <p:spTgt spid="129"/>
                                        </p:tgtEl>
                                      </p:cBhvr>
                                    </p:animEffect>
                                    <p:anim calcmode="lin" valueType="num">
                                      <p:cBhvr additive="base">
                                        <p:cTn id="122" dur="500" decel="100000" fill="hold"/>
                                        <p:tgtEl>
                                          <p:spTgt spid="129"/>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30"/>
                                        </p:tgtEl>
                                        <p:attrNameLst>
                                          <p:attrName>style.visibility</p:attrName>
                                        </p:attrNameLst>
                                      </p:cBhvr>
                                      <p:to>
                                        <p:strVal val="visible"/>
                                      </p:to>
                                    </p:set>
                                    <p:animEffect transition="in" filter="fade">
                                      <p:cBhvr>
                                        <p:cTn id="125" dur="500"/>
                                        <p:tgtEl>
                                          <p:spTgt spid="130"/>
                                        </p:tgtEl>
                                      </p:cBhvr>
                                    </p:animEffect>
                                    <p:anim calcmode="lin" valueType="num">
                                      <p:cBhvr additive="base">
                                        <p:cTn id="126" dur="500" decel="100000" fill="hold"/>
                                        <p:tgtEl>
                                          <p:spTgt spid="130"/>
                                        </p:tgtEl>
                                        <p:attrNameLst>
                                          <p:attrName>ppt_y</p:attrName>
                                        </p:attrNameLst>
                                      </p:cBhvr>
                                      <p:tavLst>
                                        <p:tav tm="0">
                                          <p:val>
                                            <p:strVal val="#ppt_y+0.06"/>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42" presetClass="entr" presetSubtype="0" fill="hold" grpId="0" nodeType="clickEffect">
                                  <p:stCondLst>
                                    <p:cond delay="0"/>
                                  </p:stCondLst>
                                  <p:childTnLst>
                                    <p:set>
                                      <p:cBhvr>
                                        <p:cTn id="130" dur="1" fill="hold">
                                          <p:stCondLst>
                                            <p:cond delay="0"/>
                                          </p:stCondLst>
                                        </p:cTn>
                                        <p:tgtEl>
                                          <p:spTgt spid="131"/>
                                        </p:tgtEl>
                                        <p:attrNameLst>
                                          <p:attrName>style.visibility</p:attrName>
                                        </p:attrNameLst>
                                      </p:cBhvr>
                                      <p:to>
                                        <p:strVal val="visible"/>
                                      </p:to>
                                    </p:set>
                                    <p:animEffect transition="in" filter="fade">
                                      <p:cBhvr>
                                        <p:cTn id="131" dur="500"/>
                                        <p:tgtEl>
                                          <p:spTgt spid="131"/>
                                        </p:tgtEl>
                                      </p:cBhvr>
                                    </p:animEffect>
                                    <p:anim calcmode="lin" valueType="num">
                                      <p:cBhvr additive="base">
                                        <p:cTn id="132" dur="500" decel="100000" fill="hold"/>
                                        <p:tgtEl>
                                          <p:spTgt spid="131"/>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4" grpId="0" animBg="1"/>
      <p:bldP spid="125" grpId="0" animBg="1"/>
      <p:bldP spid="126" grpId="0" animBg="1"/>
      <p:bldP spid="127" grpId="0" animBg="1"/>
      <p:bldP spid="128" grpId="0" animBg="1"/>
      <p:bldP spid="129" grpId="0" animBg="1"/>
      <p:bldP spid="130" grpId="0" animBg="1"/>
      <p:bldP spid="131"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INLINEDATA</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Different Input, Different Answer: Put Both in the Row</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Problem: every score has its own grade. One fixed "expected" cannot check A, B, C, D and F.</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128</a:t>
            </a:r>
            <a:endParaRPr lang="en-US" sz="850" dirty="0"/>
          </a:p>
        </p:txBody>
      </p:sp>
      <p:sp>
        <p:nvSpPr>
          <p:cNvPr id="101" name="s101"/>
          <p:cNvSpPr txBox="1"/>
          <p:nvPr/>
        </p:nvSpPr>
        <p:spPr>
          <a:xfrm>
            <a:off x="543154" y="1783080"/>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THE CLASS</a:t>
            </a:r>
            <a:endParaRPr lang="en-US" sz="1050" dirty="0"/>
          </a:p>
        </p:txBody>
      </p:sp>
      <p:sp>
        <p:nvSpPr>
          <p:cNvPr id="102" name="s102"/>
          <p:cNvSpPr/>
          <p:nvPr/>
        </p:nvSpPr>
        <p:spPr>
          <a:xfrm>
            <a:off x="543154" y="2057400"/>
            <a:ext cx="4572000" cy="36118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0370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0370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0370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130552"/>
            <a:ext cx="1603858"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GradeCalculator.cs</a:t>
            </a:r>
            <a:endParaRPr lang="en-US" sz="950" dirty="0"/>
          </a:p>
        </p:txBody>
      </p:sp>
      <p:cxnSp>
        <p:nvCxnSpPr>
          <p:cNvPr id="107" name="ln107"/>
          <p:cNvCxnSpPr/>
          <p:nvPr/>
        </p:nvCxnSpPr>
        <p:spPr>
          <a:xfrm>
            <a:off x="543154" y="2468880"/>
            <a:ext cx="4572000" cy="0"/>
          </a:xfrm>
          <a:prstGeom prst="line">
            <a:avLst/>
          </a:prstGeom>
          <a:ln w="9525">
            <a:solidFill>
              <a:srgbClr val="1E3A5F"/>
            </a:solidFill>
          </a:ln>
        </p:spPr>
      </p:cxnSp>
      <p:sp>
        <p:nvSpPr>
          <p:cNvPr id="108" name="s108"/>
          <p:cNvSpPr/>
          <p:nvPr/>
        </p:nvSpPr>
        <p:spPr>
          <a:xfrm>
            <a:off x="543154" y="258775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60A5FA"/>
                </a:solidFill>
                <a:latin typeface="Consolas"/>
                <a:ea typeface="Consolas"/>
                <a:cs typeface="Consolas"/>
              </a:rPr>
              <a:t>public</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static</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class</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GradeCalculator</a:t>
            </a:r>
            <a:endParaRPr lang="en-US" sz="850" dirty="0"/>
          </a:p>
        </p:txBody>
      </p:sp>
      <p:sp>
        <p:nvSpPr>
          <p:cNvPr id="109" name="s109"/>
          <p:cNvSpPr/>
          <p:nvPr/>
        </p:nvSpPr>
        <p:spPr>
          <a:xfrm>
            <a:off x="543154" y="271729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a:t>
            </a:r>
            <a:endParaRPr lang="en-US" sz="850" dirty="0"/>
          </a:p>
        </p:txBody>
      </p:sp>
      <p:sp>
        <p:nvSpPr>
          <p:cNvPr id="110" name="s110"/>
          <p:cNvSpPr/>
          <p:nvPr/>
        </p:nvSpPr>
        <p:spPr>
          <a:xfrm>
            <a:off x="543154" y="284683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public</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static</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string</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Grade</a:t>
            </a:r>
            <a:r>
              <a:rPr lang="en-US" sz="850" b="0" dirty="0">
                <a:solidFill>
                  <a:srgbClr val="E2E8F0"/>
                </a:solidFill>
                <a:latin typeface="Consolas"/>
                <a:ea typeface="Consolas"/>
                <a:cs typeface="Consolas"/>
              </a:rPr>
              <a:t>(</a:t>
            </a:r>
            <a:r>
              <a:rPr lang="en-US" sz="850" b="0" dirty="0">
                <a:solidFill>
                  <a:srgbClr val="60A5FA"/>
                </a:solidFill>
                <a:latin typeface="Consolas"/>
                <a:ea typeface="Consolas"/>
                <a:cs typeface="Consolas"/>
              </a:rPr>
              <a:t>int</a:t>
            </a:r>
            <a:r>
              <a:rPr lang="en-US" sz="850" b="0" dirty="0">
                <a:solidFill>
                  <a:srgbClr val="E2E8F0"/>
                </a:solidFill>
                <a:latin typeface="Consolas"/>
                <a:ea typeface="Consolas"/>
                <a:cs typeface="Consolas"/>
              </a:rPr>
              <a:t> score)</a:t>
            </a:r>
            <a:endParaRPr lang="en-US" sz="850" dirty="0"/>
          </a:p>
        </p:txBody>
      </p:sp>
      <p:sp>
        <p:nvSpPr>
          <p:cNvPr id="111" name="s111"/>
          <p:cNvSpPr/>
          <p:nvPr/>
        </p:nvSpPr>
        <p:spPr>
          <a:xfrm>
            <a:off x="543154" y="297637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endParaRPr lang="en-US" sz="850" dirty="0"/>
          </a:p>
        </p:txBody>
      </p:sp>
      <p:sp>
        <p:nvSpPr>
          <p:cNvPr id="112" name="s112"/>
          <p:cNvSpPr/>
          <p:nvPr/>
        </p:nvSpPr>
        <p:spPr>
          <a:xfrm>
            <a:off x="543154" y="310591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if</a:t>
            </a:r>
            <a:r>
              <a:rPr lang="en-US" sz="850" b="0" dirty="0">
                <a:solidFill>
                  <a:srgbClr val="E2E8F0"/>
                </a:solidFill>
                <a:latin typeface="Consolas"/>
                <a:ea typeface="Consolas"/>
                <a:cs typeface="Consolas"/>
              </a:rPr>
              <a:t> (score &lt; </a:t>
            </a:r>
            <a:r>
              <a:rPr lang="en-US" sz="850" b="0" dirty="0">
                <a:solidFill>
                  <a:srgbClr val="C4B5FD"/>
                </a:solidFill>
                <a:latin typeface="Consolas"/>
                <a:ea typeface="Consolas"/>
                <a:cs typeface="Consolas"/>
              </a:rPr>
              <a:t>0</a:t>
            </a:r>
            <a:r>
              <a:rPr lang="en-US" sz="850" b="0" dirty="0">
                <a:solidFill>
                  <a:srgbClr val="E2E8F0"/>
                </a:solidFill>
                <a:latin typeface="Consolas"/>
                <a:ea typeface="Consolas"/>
                <a:cs typeface="Consolas"/>
              </a:rPr>
              <a:t> || score &gt; </a:t>
            </a:r>
            <a:r>
              <a:rPr lang="en-US" sz="850" b="0" dirty="0">
                <a:solidFill>
                  <a:srgbClr val="C4B5FD"/>
                </a:solidFill>
                <a:latin typeface="Consolas"/>
                <a:ea typeface="Consolas"/>
                <a:cs typeface="Consolas"/>
              </a:rPr>
              <a:t>100</a:t>
            </a:r>
            <a:r>
              <a:rPr lang="en-US" sz="850" b="0" dirty="0">
                <a:solidFill>
                  <a:srgbClr val="E2E8F0"/>
                </a:solidFill>
                <a:latin typeface="Consolas"/>
                <a:ea typeface="Consolas"/>
                <a:cs typeface="Consolas"/>
              </a:rPr>
              <a:t>)</a:t>
            </a:r>
            <a:endParaRPr lang="en-US" sz="850" dirty="0"/>
          </a:p>
        </p:txBody>
      </p:sp>
      <p:sp>
        <p:nvSpPr>
          <p:cNvPr id="113" name="s113"/>
          <p:cNvSpPr/>
          <p:nvPr/>
        </p:nvSpPr>
        <p:spPr>
          <a:xfrm>
            <a:off x="543154" y="323545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throw</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new</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ArgumentOutOfRangeException</a:t>
            </a:r>
            <a:r>
              <a:rPr lang="en-US" sz="850" b="0" dirty="0">
                <a:solidFill>
                  <a:srgbClr val="E2E8F0"/>
                </a:solidFill>
                <a:latin typeface="Consolas"/>
                <a:ea typeface="Consolas"/>
                <a:cs typeface="Consolas"/>
              </a:rPr>
              <a:t>(nameof(score));</a:t>
            </a:r>
            <a:endParaRPr lang="en-US" sz="850" dirty="0"/>
          </a:p>
        </p:txBody>
      </p:sp>
      <p:sp>
        <p:nvSpPr>
          <p:cNvPr id="114" name="s114"/>
          <p:cNvSpPr/>
          <p:nvPr/>
        </p:nvSpPr>
        <p:spPr>
          <a:xfrm>
            <a:off x="543154" y="336499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return</a:t>
            </a:r>
            <a:r>
              <a:rPr lang="en-US" sz="850" b="0" dirty="0">
                <a:solidFill>
                  <a:srgbClr val="E2E8F0"/>
                </a:solidFill>
                <a:latin typeface="Consolas"/>
                <a:ea typeface="Consolas"/>
                <a:cs typeface="Consolas"/>
              </a:rPr>
              <a:t> score </a:t>
            </a:r>
            <a:r>
              <a:rPr lang="en-US" sz="850" b="0" dirty="0">
                <a:solidFill>
                  <a:srgbClr val="60A5FA"/>
                </a:solidFill>
                <a:latin typeface="Consolas"/>
                <a:ea typeface="Consolas"/>
                <a:cs typeface="Consolas"/>
              </a:rPr>
              <a:t>switch</a:t>
            </a:r>
            <a:endParaRPr lang="en-US" sz="850" dirty="0"/>
          </a:p>
        </p:txBody>
      </p:sp>
      <p:sp>
        <p:nvSpPr>
          <p:cNvPr id="115" name="s115"/>
          <p:cNvSpPr/>
          <p:nvPr/>
        </p:nvSpPr>
        <p:spPr>
          <a:xfrm>
            <a:off x="543154" y="349453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endParaRPr lang="en-US" sz="850" dirty="0"/>
          </a:p>
        </p:txBody>
      </p:sp>
      <p:sp>
        <p:nvSpPr>
          <p:cNvPr id="116" name="s116"/>
          <p:cNvSpPr/>
          <p:nvPr/>
        </p:nvSpPr>
        <p:spPr>
          <a:xfrm>
            <a:off x="543154" y="362407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&gt;= </a:t>
            </a:r>
            <a:r>
              <a:rPr lang="en-US" sz="850" b="0" dirty="0">
                <a:solidFill>
                  <a:srgbClr val="C4B5FD"/>
                </a:solidFill>
                <a:latin typeface="Consolas"/>
                <a:ea typeface="Consolas"/>
                <a:cs typeface="Consolas"/>
              </a:rPr>
              <a:t>85</a:t>
            </a:r>
            <a:r>
              <a:rPr lang="en-US" sz="850" b="0" dirty="0">
                <a:solidFill>
                  <a:srgbClr val="E2E8F0"/>
                </a:solidFill>
                <a:latin typeface="Consolas"/>
                <a:ea typeface="Consolas"/>
                <a:cs typeface="Consolas"/>
              </a:rPr>
              <a:t> =&gt; </a:t>
            </a:r>
            <a:r>
              <a:rPr lang="en-US" sz="850" b="0" dirty="0">
                <a:solidFill>
                  <a:srgbClr val="F0A98B"/>
                </a:solidFill>
                <a:latin typeface="Consolas"/>
                <a:ea typeface="Consolas"/>
                <a:cs typeface="Consolas"/>
              </a:rPr>
              <a:t>"A"</a:t>
            </a:r>
            <a:r>
              <a:rPr lang="en-US" sz="850" b="0" dirty="0">
                <a:solidFill>
                  <a:srgbClr val="E2E8F0"/>
                </a:solidFill>
                <a:latin typeface="Consolas"/>
                <a:ea typeface="Consolas"/>
                <a:cs typeface="Consolas"/>
              </a:rPr>
              <a:t>,</a:t>
            </a:r>
            <a:endParaRPr lang="en-US" sz="850" dirty="0"/>
          </a:p>
        </p:txBody>
      </p:sp>
      <p:sp>
        <p:nvSpPr>
          <p:cNvPr id="117" name="s117"/>
          <p:cNvSpPr/>
          <p:nvPr/>
        </p:nvSpPr>
        <p:spPr>
          <a:xfrm>
            <a:off x="543154" y="375361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&gt;= </a:t>
            </a:r>
            <a:r>
              <a:rPr lang="en-US" sz="850" b="0" dirty="0">
                <a:solidFill>
                  <a:srgbClr val="C4B5FD"/>
                </a:solidFill>
                <a:latin typeface="Consolas"/>
                <a:ea typeface="Consolas"/>
                <a:cs typeface="Consolas"/>
              </a:rPr>
              <a:t>75</a:t>
            </a:r>
            <a:r>
              <a:rPr lang="en-US" sz="850" b="0" dirty="0">
                <a:solidFill>
                  <a:srgbClr val="E2E8F0"/>
                </a:solidFill>
                <a:latin typeface="Consolas"/>
                <a:ea typeface="Consolas"/>
                <a:cs typeface="Consolas"/>
              </a:rPr>
              <a:t> =&gt; </a:t>
            </a:r>
            <a:r>
              <a:rPr lang="en-US" sz="850" b="0" dirty="0">
                <a:solidFill>
                  <a:srgbClr val="F0A98B"/>
                </a:solidFill>
                <a:latin typeface="Consolas"/>
                <a:ea typeface="Consolas"/>
                <a:cs typeface="Consolas"/>
              </a:rPr>
              <a:t>"B"</a:t>
            </a:r>
            <a:r>
              <a:rPr lang="en-US" sz="850" b="0" dirty="0">
                <a:solidFill>
                  <a:srgbClr val="E2E8F0"/>
                </a:solidFill>
                <a:latin typeface="Consolas"/>
                <a:ea typeface="Consolas"/>
                <a:cs typeface="Consolas"/>
              </a:rPr>
              <a:t>,</a:t>
            </a:r>
            <a:endParaRPr lang="en-US" sz="850" dirty="0"/>
          </a:p>
        </p:txBody>
      </p:sp>
      <p:sp>
        <p:nvSpPr>
          <p:cNvPr id="118" name="s118"/>
          <p:cNvSpPr/>
          <p:nvPr/>
        </p:nvSpPr>
        <p:spPr>
          <a:xfrm>
            <a:off x="543154" y="388315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&gt;= </a:t>
            </a:r>
            <a:r>
              <a:rPr lang="en-US" sz="850" b="0" dirty="0">
                <a:solidFill>
                  <a:srgbClr val="C4B5FD"/>
                </a:solidFill>
                <a:latin typeface="Consolas"/>
                <a:ea typeface="Consolas"/>
                <a:cs typeface="Consolas"/>
              </a:rPr>
              <a:t>65</a:t>
            </a:r>
            <a:r>
              <a:rPr lang="en-US" sz="850" b="0" dirty="0">
                <a:solidFill>
                  <a:srgbClr val="E2E8F0"/>
                </a:solidFill>
                <a:latin typeface="Consolas"/>
                <a:ea typeface="Consolas"/>
                <a:cs typeface="Consolas"/>
              </a:rPr>
              <a:t> =&gt; </a:t>
            </a:r>
            <a:r>
              <a:rPr lang="en-US" sz="850" b="0" dirty="0">
                <a:solidFill>
                  <a:srgbClr val="F0A98B"/>
                </a:solidFill>
                <a:latin typeface="Consolas"/>
                <a:ea typeface="Consolas"/>
                <a:cs typeface="Consolas"/>
              </a:rPr>
              <a:t>"C"</a:t>
            </a:r>
            <a:r>
              <a:rPr lang="en-US" sz="850" b="0" dirty="0">
                <a:solidFill>
                  <a:srgbClr val="E2E8F0"/>
                </a:solidFill>
                <a:latin typeface="Consolas"/>
                <a:ea typeface="Consolas"/>
                <a:cs typeface="Consolas"/>
              </a:rPr>
              <a:t>,</a:t>
            </a:r>
            <a:endParaRPr lang="en-US" sz="850" dirty="0"/>
          </a:p>
        </p:txBody>
      </p:sp>
      <p:sp>
        <p:nvSpPr>
          <p:cNvPr id="119" name="s119"/>
          <p:cNvSpPr/>
          <p:nvPr/>
        </p:nvSpPr>
        <p:spPr>
          <a:xfrm>
            <a:off x="543154" y="401269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&gt;= </a:t>
            </a:r>
            <a:r>
              <a:rPr lang="en-US" sz="850" b="0" dirty="0">
                <a:solidFill>
                  <a:srgbClr val="C4B5FD"/>
                </a:solidFill>
                <a:latin typeface="Consolas"/>
                <a:ea typeface="Consolas"/>
                <a:cs typeface="Consolas"/>
              </a:rPr>
              <a:t>50</a:t>
            </a:r>
            <a:r>
              <a:rPr lang="en-US" sz="850" b="0" dirty="0">
                <a:solidFill>
                  <a:srgbClr val="E2E8F0"/>
                </a:solidFill>
                <a:latin typeface="Consolas"/>
                <a:ea typeface="Consolas"/>
                <a:cs typeface="Consolas"/>
              </a:rPr>
              <a:t> =&gt; </a:t>
            </a:r>
            <a:r>
              <a:rPr lang="en-US" sz="850" b="0" dirty="0">
                <a:solidFill>
                  <a:srgbClr val="F0A98B"/>
                </a:solidFill>
                <a:latin typeface="Consolas"/>
                <a:ea typeface="Consolas"/>
                <a:cs typeface="Consolas"/>
              </a:rPr>
              <a:t>"D"</a:t>
            </a:r>
            <a:r>
              <a:rPr lang="en-US" sz="850" b="0" dirty="0">
                <a:solidFill>
                  <a:srgbClr val="E2E8F0"/>
                </a:solidFill>
                <a:latin typeface="Consolas"/>
                <a:ea typeface="Consolas"/>
                <a:cs typeface="Consolas"/>
              </a:rPr>
              <a:t>,</a:t>
            </a:r>
            <a:endParaRPr lang="en-US" sz="850" dirty="0"/>
          </a:p>
        </p:txBody>
      </p:sp>
      <p:sp>
        <p:nvSpPr>
          <p:cNvPr id="120" name="s120"/>
          <p:cNvSpPr/>
          <p:nvPr/>
        </p:nvSpPr>
        <p:spPr>
          <a:xfrm>
            <a:off x="543154" y="414223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_     =&gt; </a:t>
            </a:r>
            <a:r>
              <a:rPr lang="en-US" sz="850" b="0" dirty="0">
                <a:solidFill>
                  <a:srgbClr val="F0A98B"/>
                </a:solidFill>
                <a:latin typeface="Consolas"/>
                <a:ea typeface="Consolas"/>
                <a:cs typeface="Consolas"/>
              </a:rPr>
              <a:t>"F"</a:t>
            </a:r>
            <a:r>
              <a:rPr lang="en-US" sz="850" b="0" dirty="0">
                <a:solidFill>
                  <a:srgbClr val="E2E8F0"/>
                </a:solidFill>
                <a:latin typeface="Consolas"/>
                <a:ea typeface="Consolas"/>
                <a:cs typeface="Consolas"/>
              </a:rPr>
              <a:t>,</a:t>
            </a:r>
            <a:endParaRPr lang="en-US" sz="850" dirty="0"/>
          </a:p>
        </p:txBody>
      </p:sp>
      <p:sp>
        <p:nvSpPr>
          <p:cNvPr id="121" name="s121"/>
          <p:cNvSpPr/>
          <p:nvPr/>
        </p:nvSpPr>
        <p:spPr>
          <a:xfrm>
            <a:off x="543154" y="427177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endParaRPr lang="en-US" sz="850" dirty="0"/>
          </a:p>
        </p:txBody>
      </p:sp>
      <p:sp>
        <p:nvSpPr>
          <p:cNvPr id="122" name="s122"/>
          <p:cNvSpPr/>
          <p:nvPr/>
        </p:nvSpPr>
        <p:spPr>
          <a:xfrm>
            <a:off x="543154" y="440131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endParaRPr lang="en-US" sz="850" dirty="0"/>
          </a:p>
        </p:txBody>
      </p:sp>
      <p:sp>
        <p:nvSpPr>
          <p:cNvPr id="123" name="s123"/>
          <p:cNvSpPr/>
          <p:nvPr/>
        </p:nvSpPr>
        <p:spPr>
          <a:xfrm>
            <a:off x="543154" y="4530852"/>
            <a:ext cx="457200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a:t>
            </a:r>
            <a:endParaRPr lang="en-US" sz="850" dirty="0"/>
          </a:p>
        </p:txBody>
      </p:sp>
      <p:sp>
        <p:nvSpPr>
          <p:cNvPr id="124" name="s124"/>
          <p:cNvSpPr txBox="1"/>
          <p:nvPr/>
        </p:nvSpPr>
        <p:spPr>
          <a:xfrm>
            <a:off x="5343754" y="1783080"/>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BBF24"/>
                </a:solidFill>
                <a:latin typeface="Segoe UI"/>
                <a:ea typeface="Segoe UI"/>
                <a:cs typeface="Segoe UI"/>
              </a:rPr>
              <a:t>THE TESTS</a:t>
            </a:r>
            <a:endParaRPr lang="en-US" sz="1050" dirty="0"/>
          </a:p>
        </p:txBody>
      </p:sp>
      <p:sp>
        <p:nvSpPr>
          <p:cNvPr id="125" name="s125"/>
          <p:cNvSpPr/>
          <p:nvPr/>
        </p:nvSpPr>
        <p:spPr>
          <a:xfrm>
            <a:off x="5343754" y="2057400"/>
            <a:ext cx="6287414" cy="36118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6" name="s126"/>
          <p:cNvSpPr/>
          <p:nvPr/>
        </p:nvSpPr>
        <p:spPr>
          <a:xfrm>
            <a:off x="5508346" y="220370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7" name="s127"/>
          <p:cNvSpPr/>
          <p:nvPr/>
        </p:nvSpPr>
        <p:spPr>
          <a:xfrm>
            <a:off x="5691226" y="220370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8" name="s128"/>
          <p:cNvSpPr/>
          <p:nvPr/>
        </p:nvSpPr>
        <p:spPr>
          <a:xfrm>
            <a:off x="5874106" y="220370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9" name="s129"/>
          <p:cNvSpPr/>
          <p:nvPr/>
        </p:nvSpPr>
        <p:spPr>
          <a:xfrm>
            <a:off x="6120994" y="213055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GradeCalculatorTests.cs</a:t>
            </a:r>
            <a:endParaRPr lang="en-US" sz="950" dirty="0"/>
          </a:p>
        </p:txBody>
      </p:sp>
      <p:cxnSp>
        <p:nvCxnSpPr>
          <p:cNvPr id="130" name="ln130"/>
          <p:cNvCxnSpPr/>
          <p:nvPr/>
        </p:nvCxnSpPr>
        <p:spPr>
          <a:xfrm>
            <a:off x="5343754" y="2468880"/>
            <a:ext cx="6287414" cy="0"/>
          </a:xfrm>
          <a:prstGeom prst="line">
            <a:avLst/>
          </a:prstGeom>
          <a:ln w="9525">
            <a:solidFill>
              <a:srgbClr val="1E3A5F"/>
            </a:solidFill>
          </a:ln>
        </p:spPr>
      </p:cxnSp>
      <p:sp>
        <p:nvSpPr>
          <p:cNvPr id="131" name="s131"/>
          <p:cNvSpPr/>
          <p:nvPr/>
        </p:nvSpPr>
        <p:spPr>
          <a:xfrm>
            <a:off x="5343754" y="25877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[Theory]</a:t>
            </a:r>
            <a:endParaRPr lang="en-US" sz="1000" dirty="0"/>
          </a:p>
        </p:txBody>
      </p:sp>
      <p:sp>
        <p:nvSpPr>
          <p:cNvPr id="132" name="s132"/>
          <p:cNvSpPr/>
          <p:nvPr/>
        </p:nvSpPr>
        <p:spPr>
          <a:xfrm>
            <a:off x="5343754" y="27401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[InlineData(100, "A")]</a:t>
            </a:r>
            <a:endParaRPr lang="en-US" sz="1000" dirty="0"/>
          </a:p>
        </p:txBody>
      </p:sp>
      <p:sp>
        <p:nvSpPr>
          <p:cNvPr id="133" name="s133"/>
          <p:cNvSpPr/>
          <p:nvPr/>
        </p:nvSpPr>
        <p:spPr>
          <a:xfrm>
            <a:off x="5343754" y="28925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[InlineData(85,  "A")]</a:t>
            </a:r>
            <a:r>
              <a:rPr lang="en-US" sz="1000" b="0" dirty="0">
                <a:solidFill>
                  <a:srgbClr val="E2E8F0"/>
                </a:solidFill>
                <a:latin typeface="Consolas"/>
                <a:ea typeface="Consolas"/>
                <a:cs typeface="Consolas"/>
              </a:rPr>
              <a:t>     </a:t>
            </a:r>
            <a:r>
              <a:rPr lang="en-US" sz="1000" b="0" dirty="0">
                <a:solidFill>
                  <a:srgbClr val="6FAE7A"/>
                </a:solidFill>
                <a:latin typeface="Consolas"/>
                <a:ea typeface="Consolas"/>
                <a:cs typeface="Consolas"/>
              </a:rPr>
              <a:t>// lowest A</a:t>
            </a:r>
            <a:endParaRPr lang="en-US" sz="1000" dirty="0"/>
          </a:p>
        </p:txBody>
      </p:sp>
      <p:sp>
        <p:nvSpPr>
          <p:cNvPr id="134" name="s134"/>
          <p:cNvSpPr/>
          <p:nvPr/>
        </p:nvSpPr>
        <p:spPr>
          <a:xfrm>
            <a:off x="5343754" y="30449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[InlineData(84,  "B")]</a:t>
            </a:r>
            <a:r>
              <a:rPr lang="en-US" sz="1000" b="0" dirty="0">
                <a:solidFill>
                  <a:srgbClr val="E2E8F0"/>
                </a:solidFill>
                <a:latin typeface="Consolas"/>
                <a:ea typeface="Consolas"/>
                <a:cs typeface="Consolas"/>
              </a:rPr>
              <a:t>     </a:t>
            </a:r>
            <a:r>
              <a:rPr lang="en-US" sz="1000" b="0" dirty="0">
                <a:solidFill>
                  <a:srgbClr val="6FAE7A"/>
                </a:solidFill>
                <a:latin typeface="Consolas"/>
                <a:ea typeface="Consolas"/>
                <a:cs typeface="Consolas"/>
              </a:rPr>
              <a:t>// highest B</a:t>
            </a:r>
            <a:endParaRPr lang="en-US" sz="1000" dirty="0"/>
          </a:p>
        </p:txBody>
      </p:sp>
      <p:sp>
        <p:nvSpPr>
          <p:cNvPr id="135" name="s135"/>
          <p:cNvSpPr/>
          <p:nvPr/>
        </p:nvSpPr>
        <p:spPr>
          <a:xfrm>
            <a:off x="5343754" y="31973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[InlineData(75,  "B")]</a:t>
            </a:r>
            <a:endParaRPr lang="en-US" sz="1000" dirty="0"/>
          </a:p>
        </p:txBody>
      </p:sp>
      <p:sp>
        <p:nvSpPr>
          <p:cNvPr id="136" name="s136"/>
          <p:cNvSpPr/>
          <p:nvPr/>
        </p:nvSpPr>
        <p:spPr>
          <a:xfrm>
            <a:off x="5343754" y="33497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[InlineData(65,  "C")]</a:t>
            </a:r>
            <a:endParaRPr lang="en-US" sz="1000" dirty="0"/>
          </a:p>
        </p:txBody>
      </p:sp>
      <p:sp>
        <p:nvSpPr>
          <p:cNvPr id="137" name="s137"/>
          <p:cNvSpPr/>
          <p:nvPr/>
        </p:nvSpPr>
        <p:spPr>
          <a:xfrm>
            <a:off x="5343754" y="35021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[InlineData(50,  "D")]</a:t>
            </a:r>
            <a:r>
              <a:rPr lang="en-US" sz="1000" b="0" dirty="0">
                <a:solidFill>
                  <a:srgbClr val="E2E8F0"/>
                </a:solidFill>
                <a:latin typeface="Consolas"/>
                <a:ea typeface="Consolas"/>
                <a:cs typeface="Consolas"/>
              </a:rPr>
              <a:t>     </a:t>
            </a:r>
            <a:r>
              <a:rPr lang="en-US" sz="1000" b="0" dirty="0">
                <a:solidFill>
                  <a:srgbClr val="6FAE7A"/>
                </a:solidFill>
                <a:latin typeface="Consolas"/>
                <a:ea typeface="Consolas"/>
                <a:cs typeface="Consolas"/>
              </a:rPr>
              <a:t>// lowest pass</a:t>
            </a:r>
            <a:endParaRPr lang="en-US" sz="1000" dirty="0"/>
          </a:p>
        </p:txBody>
      </p:sp>
      <p:sp>
        <p:nvSpPr>
          <p:cNvPr id="138" name="s138"/>
          <p:cNvSpPr/>
          <p:nvPr/>
        </p:nvSpPr>
        <p:spPr>
          <a:xfrm>
            <a:off x="5343754" y="36545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[InlineData(49,  "F")]</a:t>
            </a:r>
            <a:endParaRPr lang="en-US" sz="1000" dirty="0"/>
          </a:p>
        </p:txBody>
      </p:sp>
      <p:sp>
        <p:nvSpPr>
          <p:cNvPr id="139" name="s139"/>
          <p:cNvSpPr/>
          <p:nvPr/>
        </p:nvSpPr>
        <p:spPr>
          <a:xfrm>
            <a:off x="5343754" y="38069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void</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Grade_ByScore</a:t>
            </a:r>
            <a:r>
              <a:rPr lang="en-US" sz="1000" b="0" dirty="0">
                <a:solidFill>
                  <a:srgbClr val="E2E8F0"/>
                </a:solidFill>
                <a:latin typeface="Consolas"/>
                <a:ea typeface="Consolas"/>
                <a:cs typeface="Consolas"/>
              </a:rPr>
              <a:t>(</a:t>
            </a:r>
            <a:r>
              <a:rPr lang="en-US" sz="1000" b="0" dirty="0">
                <a:solidFill>
                  <a:srgbClr val="60A5FA"/>
                </a:solidFill>
                <a:latin typeface="Consolas"/>
                <a:ea typeface="Consolas"/>
                <a:cs typeface="Consolas"/>
              </a:rPr>
              <a:t>int</a:t>
            </a:r>
            <a:r>
              <a:rPr lang="en-US" sz="1000" b="0" dirty="0">
                <a:solidFill>
                  <a:srgbClr val="E2E8F0"/>
                </a:solidFill>
                <a:latin typeface="Consolas"/>
                <a:ea typeface="Consolas"/>
                <a:cs typeface="Consolas"/>
              </a:rPr>
              <a:t> score, </a:t>
            </a:r>
            <a:r>
              <a:rPr lang="en-US" sz="1000" b="0" dirty="0">
                <a:solidFill>
                  <a:srgbClr val="60A5FA"/>
                </a:solidFill>
                <a:latin typeface="Consolas"/>
                <a:ea typeface="Consolas"/>
                <a:cs typeface="Consolas"/>
              </a:rPr>
              <a:t>string</a:t>
            </a:r>
            <a:r>
              <a:rPr lang="en-US" sz="1000" b="0" dirty="0">
                <a:solidFill>
                  <a:srgbClr val="E2E8F0"/>
                </a:solidFill>
                <a:latin typeface="Consolas"/>
                <a:ea typeface="Consolas"/>
                <a:cs typeface="Consolas"/>
              </a:rPr>
              <a:t> expected)</a:t>
            </a:r>
            <a:endParaRPr lang="en-US" sz="1000" dirty="0"/>
          </a:p>
        </p:txBody>
      </p:sp>
      <p:sp>
        <p:nvSpPr>
          <p:cNvPr id="140" name="s140"/>
          <p:cNvSpPr/>
          <p:nvPr/>
        </p:nvSpPr>
        <p:spPr>
          <a:xfrm>
            <a:off x="5343754" y="39593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41" name="s141"/>
          <p:cNvSpPr/>
          <p:nvPr/>
        </p:nvSpPr>
        <p:spPr>
          <a:xfrm>
            <a:off x="5343754" y="41117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Assert</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Equal</a:t>
            </a:r>
            <a:r>
              <a:rPr lang="en-US" sz="1000" b="0" dirty="0">
                <a:solidFill>
                  <a:srgbClr val="E2E8F0"/>
                </a:solidFill>
                <a:latin typeface="Consolas"/>
                <a:ea typeface="Consolas"/>
                <a:cs typeface="Consolas"/>
              </a:rPr>
              <a:t>(expected, </a:t>
            </a:r>
            <a:r>
              <a:rPr lang="en-US" sz="1000" b="0" dirty="0">
                <a:solidFill>
                  <a:srgbClr val="7DD3FC"/>
                </a:solidFill>
                <a:latin typeface="Consolas"/>
                <a:ea typeface="Consolas"/>
                <a:cs typeface="Consolas"/>
              </a:rPr>
              <a:t>GradeCalculator</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Grade</a:t>
            </a:r>
            <a:r>
              <a:rPr lang="en-US" sz="1000" b="0" dirty="0">
                <a:solidFill>
                  <a:srgbClr val="E2E8F0"/>
                </a:solidFill>
                <a:latin typeface="Consolas"/>
                <a:ea typeface="Consolas"/>
                <a:cs typeface="Consolas"/>
              </a:rPr>
              <a:t>(score));</a:t>
            </a:r>
            <a:endParaRPr lang="en-US" sz="1000" dirty="0"/>
          </a:p>
        </p:txBody>
      </p:sp>
      <p:sp>
        <p:nvSpPr>
          <p:cNvPr id="142" name="s142"/>
          <p:cNvSpPr/>
          <p:nvPr/>
        </p:nvSpPr>
        <p:spPr>
          <a:xfrm>
            <a:off x="5343754" y="42641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43" name="s143"/>
          <p:cNvSpPr/>
          <p:nvPr/>
        </p:nvSpPr>
        <p:spPr>
          <a:xfrm>
            <a:off x="5343754" y="45689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[Theory]</a:t>
            </a:r>
            <a:endParaRPr lang="en-US" sz="1000" dirty="0"/>
          </a:p>
        </p:txBody>
      </p:sp>
      <p:sp>
        <p:nvSpPr>
          <p:cNvPr id="144" name="s144"/>
          <p:cNvSpPr/>
          <p:nvPr/>
        </p:nvSpPr>
        <p:spPr>
          <a:xfrm>
            <a:off x="5343754" y="47213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[InlineData(-1)]</a:t>
            </a:r>
            <a:endParaRPr lang="en-US" sz="1000" dirty="0"/>
          </a:p>
        </p:txBody>
      </p:sp>
      <p:sp>
        <p:nvSpPr>
          <p:cNvPr id="145" name="s145"/>
          <p:cNvSpPr/>
          <p:nvPr/>
        </p:nvSpPr>
        <p:spPr>
          <a:xfrm>
            <a:off x="5343754" y="48737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[InlineData(101)]</a:t>
            </a:r>
            <a:endParaRPr lang="en-US" sz="1000" dirty="0"/>
          </a:p>
        </p:txBody>
      </p:sp>
      <p:sp>
        <p:nvSpPr>
          <p:cNvPr id="146" name="s146"/>
          <p:cNvSpPr/>
          <p:nvPr/>
        </p:nvSpPr>
        <p:spPr>
          <a:xfrm>
            <a:off x="5343754" y="50261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void</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Grade_OutOfRange_Throws</a:t>
            </a:r>
            <a:r>
              <a:rPr lang="en-US" sz="1000" b="0" dirty="0">
                <a:solidFill>
                  <a:srgbClr val="E2E8F0"/>
                </a:solidFill>
                <a:latin typeface="Consolas"/>
                <a:ea typeface="Consolas"/>
                <a:cs typeface="Consolas"/>
              </a:rPr>
              <a:t>(</a:t>
            </a:r>
            <a:r>
              <a:rPr lang="en-US" sz="1000" b="0" dirty="0">
                <a:solidFill>
                  <a:srgbClr val="60A5FA"/>
                </a:solidFill>
                <a:latin typeface="Consolas"/>
                <a:ea typeface="Consolas"/>
                <a:cs typeface="Consolas"/>
              </a:rPr>
              <a:t>int</a:t>
            </a:r>
            <a:r>
              <a:rPr lang="en-US" sz="1000" b="0" dirty="0">
                <a:solidFill>
                  <a:srgbClr val="E2E8F0"/>
                </a:solidFill>
                <a:latin typeface="Consolas"/>
                <a:ea typeface="Consolas"/>
                <a:cs typeface="Consolas"/>
              </a:rPr>
              <a:t> score) =&gt;</a:t>
            </a:r>
            <a:endParaRPr lang="en-US" sz="1000" dirty="0"/>
          </a:p>
        </p:txBody>
      </p:sp>
      <p:sp>
        <p:nvSpPr>
          <p:cNvPr id="147" name="s147"/>
          <p:cNvSpPr/>
          <p:nvPr/>
        </p:nvSpPr>
        <p:spPr>
          <a:xfrm>
            <a:off x="5343754" y="51785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Assert</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Throws</a:t>
            </a:r>
            <a:r>
              <a:rPr lang="en-US" sz="1000" b="0" dirty="0">
                <a:solidFill>
                  <a:srgbClr val="E2E8F0"/>
                </a:solidFill>
                <a:latin typeface="Consolas"/>
                <a:ea typeface="Consolas"/>
                <a:cs typeface="Consolas"/>
              </a:rPr>
              <a:t>&lt;</a:t>
            </a:r>
            <a:r>
              <a:rPr lang="en-US" sz="1000" b="0" dirty="0">
                <a:solidFill>
                  <a:srgbClr val="7DD3FC"/>
                </a:solidFill>
                <a:latin typeface="Consolas"/>
                <a:ea typeface="Consolas"/>
                <a:cs typeface="Consolas"/>
              </a:rPr>
              <a:t>ArgumentOutOfRangeException</a:t>
            </a:r>
            <a:r>
              <a:rPr lang="en-US" sz="1000" b="0" dirty="0">
                <a:solidFill>
                  <a:srgbClr val="E2E8F0"/>
                </a:solidFill>
                <a:latin typeface="Consolas"/>
                <a:ea typeface="Consolas"/>
                <a:cs typeface="Consolas"/>
              </a:rPr>
              <a:t>&gt;(</a:t>
            </a:r>
            <a:endParaRPr lang="en-US" sz="1000" dirty="0"/>
          </a:p>
        </p:txBody>
      </p:sp>
      <p:sp>
        <p:nvSpPr>
          <p:cNvPr id="148" name="s148"/>
          <p:cNvSpPr/>
          <p:nvPr/>
        </p:nvSpPr>
        <p:spPr>
          <a:xfrm>
            <a:off x="5343754" y="5330952"/>
            <a:ext cx="62874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 =&gt; </a:t>
            </a:r>
            <a:r>
              <a:rPr lang="en-US" sz="1000" b="0" dirty="0">
                <a:solidFill>
                  <a:srgbClr val="7DD3FC"/>
                </a:solidFill>
                <a:latin typeface="Consolas"/>
                <a:ea typeface="Consolas"/>
                <a:cs typeface="Consolas"/>
              </a:rPr>
              <a:t>GradeCalculator</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Grade</a:t>
            </a:r>
            <a:r>
              <a:rPr lang="en-US" sz="1000" b="0" dirty="0">
                <a:solidFill>
                  <a:srgbClr val="E2E8F0"/>
                </a:solidFill>
                <a:latin typeface="Consolas"/>
                <a:ea typeface="Consolas"/>
                <a:cs typeface="Consolas"/>
              </a:rPr>
              <a:t>(score));</a:t>
            </a:r>
            <a:endParaRPr lang="en-US" sz="1000" dirty="0"/>
          </a:p>
        </p:txBody>
      </p:sp>
      <p:sp>
        <p:nvSpPr>
          <p:cNvPr id="149" name="s149"/>
          <p:cNvSpPr/>
          <p:nvPr/>
        </p:nvSpPr>
        <p:spPr>
          <a:xfrm>
            <a:off x="5453482" y="2712720"/>
            <a:ext cx="6067958" cy="112166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
        <p:nvSpPr>
          <p:cNvPr id="150" name="s150"/>
          <p:cNvSpPr/>
          <p:nvPr/>
        </p:nvSpPr>
        <p:spPr>
          <a:xfrm>
            <a:off x="5453482" y="3779520"/>
            <a:ext cx="6067958" cy="20726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51" name="s151"/>
          <p:cNvSpPr/>
          <p:nvPr/>
        </p:nvSpPr>
        <p:spPr>
          <a:xfrm>
            <a:off x="5453482" y="2865120"/>
            <a:ext cx="6067958" cy="35966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anim calcmode="lin" valueType="num">
                                      <p:cBhvr additive="base">
                                        <p:cTn id="12" dur="500" decel="100000" fill="hold"/>
                                        <p:tgtEl>
                                          <p:spTgt spid="103"/>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7"/>
                                        </p:tgtEl>
                                        <p:attrNameLst>
                                          <p:attrName>style.visibility</p:attrName>
                                        </p:attrNameLst>
                                      </p:cBhvr>
                                      <p:to>
                                        <p:strVal val="visible"/>
                                      </p:to>
                                    </p:set>
                                    <p:animEffect transition="in" filter="fade">
                                      <p:cBhvr>
                                        <p:cTn id="67" dur="500"/>
                                        <p:tgtEl>
                                          <p:spTgt spid="117"/>
                                        </p:tgtEl>
                                      </p:cBhvr>
                                    </p:animEffect>
                                    <p:anim calcmode="lin" valueType="num">
                                      <p:cBhvr additive="base">
                                        <p:cTn id="68" dur="500" decel="100000" fill="hold"/>
                                        <p:tgtEl>
                                          <p:spTgt spid="117"/>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8"/>
                                        </p:tgtEl>
                                        <p:attrNameLst>
                                          <p:attrName>style.visibility</p:attrName>
                                        </p:attrNameLst>
                                      </p:cBhvr>
                                      <p:to>
                                        <p:strVal val="visible"/>
                                      </p:to>
                                    </p:set>
                                    <p:animEffect transition="in" filter="fade">
                                      <p:cBhvr>
                                        <p:cTn id="71" dur="500"/>
                                        <p:tgtEl>
                                          <p:spTgt spid="118"/>
                                        </p:tgtEl>
                                      </p:cBhvr>
                                    </p:animEffect>
                                    <p:anim calcmode="lin" valueType="num">
                                      <p:cBhvr additive="base">
                                        <p:cTn id="72" dur="500" decel="100000" fill="hold"/>
                                        <p:tgtEl>
                                          <p:spTgt spid="118"/>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9"/>
                                        </p:tgtEl>
                                        <p:attrNameLst>
                                          <p:attrName>style.visibility</p:attrName>
                                        </p:attrNameLst>
                                      </p:cBhvr>
                                      <p:to>
                                        <p:strVal val="visible"/>
                                      </p:to>
                                    </p:set>
                                    <p:animEffect transition="in" filter="fade">
                                      <p:cBhvr>
                                        <p:cTn id="75" dur="500"/>
                                        <p:tgtEl>
                                          <p:spTgt spid="119"/>
                                        </p:tgtEl>
                                      </p:cBhvr>
                                    </p:animEffect>
                                    <p:anim calcmode="lin" valueType="num">
                                      <p:cBhvr additive="base">
                                        <p:cTn id="76" dur="500" decel="100000" fill="hold"/>
                                        <p:tgtEl>
                                          <p:spTgt spid="119"/>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20"/>
                                        </p:tgtEl>
                                        <p:attrNameLst>
                                          <p:attrName>style.visibility</p:attrName>
                                        </p:attrNameLst>
                                      </p:cBhvr>
                                      <p:to>
                                        <p:strVal val="visible"/>
                                      </p:to>
                                    </p:set>
                                    <p:animEffect transition="in" filter="fade">
                                      <p:cBhvr>
                                        <p:cTn id="79" dur="500"/>
                                        <p:tgtEl>
                                          <p:spTgt spid="120"/>
                                        </p:tgtEl>
                                      </p:cBhvr>
                                    </p:animEffect>
                                    <p:anim calcmode="lin" valueType="num">
                                      <p:cBhvr additive="base">
                                        <p:cTn id="80" dur="500" decel="100000" fill="hold"/>
                                        <p:tgtEl>
                                          <p:spTgt spid="120"/>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1"/>
                                        </p:tgtEl>
                                        <p:attrNameLst>
                                          <p:attrName>style.visibility</p:attrName>
                                        </p:attrNameLst>
                                      </p:cBhvr>
                                      <p:to>
                                        <p:strVal val="visible"/>
                                      </p:to>
                                    </p:set>
                                    <p:animEffect transition="in" filter="fade">
                                      <p:cBhvr>
                                        <p:cTn id="83" dur="500"/>
                                        <p:tgtEl>
                                          <p:spTgt spid="121"/>
                                        </p:tgtEl>
                                      </p:cBhvr>
                                    </p:animEffect>
                                    <p:anim calcmode="lin" valueType="num">
                                      <p:cBhvr additive="base">
                                        <p:cTn id="84" dur="500" decel="100000" fill="hold"/>
                                        <p:tgtEl>
                                          <p:spTgt spid="121"/>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122"/>
                                        </p:tgtEl>
                                        <p:attrNameLst>
                                          <p:attrName>style.visibility</p:attrName>
                                        </p:attrNameLst>
                                      </p:cBhvr>
                                      <p:to>
                                        <p:strVal val="visible"/>
                                      </p:to>
                                    </p:set>
                                    <p:animEffect transition="in" filter="fade">
                                      <p:cBhvr>
                                        <p:cTn id="87" dur="500"/>
                                        <p:tgtEl>
                                          <p:spTgt spid="122"/>
                                        </p:tgtEl>
                                      </p:cBhvr>
                                    </p:animEffect>
                                    <p:anim calcmode="lin" valueType="num">
                                      <p:cBhvr additive="base">
                                        <p:cTn id="88" dur="500" decel="100000" fill="hold"/>
                                        <p:tgtEl>
                                          <p:spTgt spid="122"/>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123"/>
                                        </p:tgtEl>
                                        <p:attrNameLst>
                                          <p:attrName>style.visibility</p:attrName>
                                        </p:attrNameLst>
                                      </p:cBhvr>
                                      <p:to>
                                        <p:strVal val="visible"/>
                                      </p:to>
                                    </p:set>
                                    <p:animEffect transition="in" filter="fade">
                                      <p:cBhvr>
                                        <p:cTn id="91" dur="500"/>
                                        <p:tgtEl>
                                          <p:spTgt spid="123"/>
                                        </p:tgtEl>
                                      </p:cBhvr>
                                    </p:animEffect>
                                    <p:anim calcmode="lin" valueType="num">
                                      <p:cBhvr additive="base">
                                        <p:cTn id="92" dur="500" decel="100000" fill="hold"/>
                                        <p:tgtEl>
                                          <p:spTgt spid="123"/>
                                        </p:tgtEl>
                                        <p:attrNameLst>
                                          <p:attrName>ppt_y</p:attrName>
                                        </p:attrNameLst>
                                      </p:cBhvr>
                                      <p:tavLst>
                                        <p:tav tm="0">
                                          <p:val>
                                            <p:strVal val="#ppt_y+0.06"/>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42" presetClass="entr" presetSubtype="0" fill="hold" grpId="0" nodeType="clickEffect">
                                  <p:stCondLst>
                                    <p:cond delay="0"/>
                                  </p:stCondLst>
                                  <p:childTnLst>
                                    <p:set>
                                      <p:cBhvr>
                                        <p:cTn id="96" dur="1" fill="hold">
                                          <p:stCondLst>
                                            <p:cond delay="0"/>
                                          </p:stCondLst>
                                        </p:cTn>
                                        <p:tgtEl>
                                          <p:spTgt spid="125"/>
                                        </p:tgtEl>
                                        <p:attrNameLst>
                                          <p:attrName>style.visibility</p:attrName>
                                        </p:attrNameLst>
                                      </p:cBhvr>
                                      <p:to>
                                        <p:strVal val="visible"/>
                                      </p:to>
                                    </p:set>
                                    <p:animEffect transition="in" filter="fade">
                                      <p:cBhvr>
                                        <p:cTn id="97" dur="500"/>
                                        <p:tgtEl>
                                          <p:spTgt spid="125"/>
                                        </p:tgtEl>
                                      </p:cBhvr>
                                    </p:animEffect>
                                    <p:anim calcmode="lin" valueType="num">
                                      <p:cBhvr additive="base">
                                        <p:cTn id="98" dur="500" decel="100000" fill="hold"/>
                                        <p:tgtEl>
                                          <p:spTgt spid="125"/>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6"/>
                                        </p:tgtEl>
                                        <p:attrNameLst>
                                          <p:attrName>style.visibility</p:attrName>
                                        </p:attrNameLst>
                                      </p:cBhvr>
                                      <p:to>
                                        <p:strVal val="visible"/>
                                      </p:to>
                                    </p:set>
                                    <p:animEffect transition="in" filter="fade">
                                      <p:cBhvr>
                                        <p:cTn id="101" dur="500"/>
                                        <p:tgtEl>
                                          <p:spTgt spid="126"/>
                                        </p:tgtEl>
                                      </p:cBhvr>
                                    </p:animEffect>
                                    <p:anim calcmode="lin" valueType="num">
                                      <p:cBhvr additive="base">
                                        <p:cTn id="102" dur="500" decel="100000" fill="hold"/>
                                        <p:tgtEl>
                                          <p:spTgt spid="126"/>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7"/>
                                        </p:tgtEl>
                                        <p:attrNameLst>
                                          <p:attrName>style.visibility</p:attrName>
                                        </p:attrNameLst>
                                      </p:cBhvr>
                                      <p:to>
                                        <p:strVal val="visible"/>
                                      </p:to>
                                    </p:set>
                                    <p:animEffect transition="in" filter="fade">
                                      <p:cBhvr>
                                        <p:cTn id="105" dur="500"/>
                                        <p:tgtEl>
                                          <p:spTgt spid="127"/>
                                        </p:tgtEl>
                                      </p:cBhvr>
                                    </p:animEffect>
                                    <p:anim calcmode="lin" valueType="num">
                                      <p:cBhvr additive="base">
                                        <p:cTn id="106" dur="500" decel="100000" fill="hold"/>
                                        <p:tgtEl>
                                          <p:spTgt spid="127"/>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8"/>
                                        </p:tgtEl>
                                        <p:attrNameLst>
                                          <p:attrName>style.visibility</p:attrName>
                                        </p:attrNameLst>
                                      </p:cBhvr>
                                      <p:to>
                                        <p:strVal val="visible"/>
                                      </p:to>
                                    </p:set>
                                    <p:animEffect transition="in" filter="fade">
                                      <p:cBhvr>
                                        <p:cTn id="109" dur="500"/>
                                        <p:tgtEl>
                                          <p:spTgt spid="128"/>
                                        </p:tgtEl>
                                      </p:cBhvr>
                                    </p:animEffect>
                                    <p:anim calcmode="lin" valueType="num">
                                      <p:cBhvr additive="base">
                                        <p:cTn id="110" dur="500" decel="100000" fill="hold"/>
                                        <p:tgtEl>
                                          <p:spTgt spid="128"/>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9"/>
                                        </p:tgtEl>
                                        <p:attrNameLst>
                                          <p:attrName>style.visibility</p:attrName>
                                        </p:attrNameLst>
                                      </p:cBhvr>
                                      <p:to>
                                        <p:strVal val="visible"/>
                                      </p:to>
                                    </p:set>
                                    <p:animEffect transition="in" filter="fade">
                                      <p:cBhvr>
                                        <p:cTn id="113" dur="500"/>
                                        <p:tgtEl>
                                          <p:spTgt spid="129"/>
                                        </p:tgtEl>
                                      </p:cBhvr>
                                    </p:animEffect>
                                    <p:anim calcmode="lin" valueType="num">
                                      <p:cBhvr additive="base">
                                        <p:cTn id="114" dur="500" decel="100000" fill="hold"/>
                                        <p:tgtEl>
                                          <p:spTgt spid="129"/>
                                        </p:tgtEl>
                                        <p:attrNameLst>
                                          <p:attrName>ppt_y</p:attrName>
                                        </p:attrNameLst>
                                      </p:cBhvr>
                                      <p:tavLst>
                                        <p:tav tm="0">
                                          <p:val>
                                            <p:strVal val="#ppt_y+0.06"/>
                                          </p:val>
                                        </p:tav>
                                        <p:tav tm="100000">
                                          <p:val>
                                            <p:strVal val="#ppt_y"/>
                                          </p:val>
                                        </p:tav>
                                      </p:tavLst>
                                    </p:anim>
                                  </p:childTnLst>
                                </p:cTn>
                              </p:par>
                              <p:par>
                                <p:cTn id="115" presetID="42" presetClass="entr" presetSubtype="0" fill="hold" nodeType="withEffect">
                                  <p:stCondLst>
                                    <p:cond delay="0"/>
                                  </p:stCondLst>
                                  <p:childTnLst>
                                    <p:set>
                                      <p:cBhvr>
                                        <p:cTn id="116" dur="1" fill="hold">
                                          <p:stCondLst>
                                            <p:cond delay="0"/>
                                          </p:stCondLst>
                                        </p:cTn>
                                        <p:tgtEl>
                                          <p:spTgt spid="130"/>
                                        </p:tgtEl>
                                        <p:attrNameLst>
                                          <p:attrName>style.visibility</p:attrName>
                                        </p:attrNameLst>
                                      </p:cBhvr>
                                      <p:to>
                                        <p:strVal val="visible"/>
                                      </p:to>
                                    </p:set>
                                    <p:animEffect transition="in" filter="fade">
                                      <p:cBhvr>
                                        <p:cTn id="117" dur="500"/>
                                        <p:tgtEl>
                                          <p:spTgt spid="130"/>
                                        </p:tgtEl>
                                      </p:cBhvr>
                                    </p:animEffect>
                                    <p:anim calcmode="lin" valueType="num">
                                      <p:cBhvr additive="base">
                                        <p:cTn id="118" dur="500" decel="100000" fill="hold"/>
                                        <p:tgtEl>
                                          <p:spTgt spid="130"/>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31"/>
                                        </p:tgtEl>
                                        <p:attrNameLst>
                                          <p:attrName>style.visibility</p:attrName>
                                        </p:attrNameLst>
                                      </p:cBhvr>
                                      <p:to>
                                        <p:strVal val="visible"/>
                                      </p:to>
                                    </p:set>
                                    <p:animEffect transition="in" filter="fade">
                                      <p:cBhvr>
                                        <p:cTn id="121" dur="500"/>
                                        <p:tgtEl>
                                          <p:spTgt spid="131"/>
                                        </p:tgtEl>
                                      </p:cBhvr>
                                    </p:animEffect>
                                    <p:anim calcmode="lin" valueType="num">
                                      <p:cBhvr additive="base">
                                        <p:cTn id="122" dur="500" decel="100000" fill="hold"/>
                                        <p:tgtEl>
                                          <p:spTgt spid="131"/>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32"/>
                                        </p:tgtEl>
                                        <p:attrNameLst>
                                          <p:attrName>style.visibility</p:attrName>
                                        </p:attrNameLst>
                                      </p:cBhvr>
                                      <p:to>
                                        <p:strVal val="visible"/>
                                      </p:to>
                                    </p:set>
                                    <p:animEffect transition="in" filter="fade">
                                      <p:cBhvr>
                                        <p:cTn id="125" dur="500"/>
                                        <p:tgtEl>
                                          <p:spTgt spid="132"/>
                                        </p:tgtEl>
                                      </p:cBhvr>
                                    </p:animEffect>
                                    <p:anim calcmode="lin" valueType="num">
                                      <p:cBhvr additive="base">
                                        <p:cTn id="126" dur="500" decel="100000" fill="hold"/>
                                        <p:tgtEl>
                                          <p:spTgt spid="132"/>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33"/>
                                        </p:tgtEl>
                                        <p:attrNameLst>
                                          <p:attrName>style.visibility</p:attrName>
                                        </p:attrNameLst>
                                      </p:cBhvr>
                                      <p:to>
                                        <p:strVal val="visible"/>
                                      </p:to>
                                    </p:set>
                                    <p:animEffect transition="in" filter="fade">
                                      <p:cBhvr>
                                        <p:cTn id="129" dur="500"/>
                                        <p:tgtEl>
                                          <p:spTgt spid="133"/>
                                        </p:tgtEl>
                                      </p:cBhvr>
                                    </p:animEffect>
                                    <p:anim calcmode="lin" valueType="num">
                                      <p:cBhvr additive="base">
                                        <p:cTn id="130" dur="500" decel="100000" fill="hold"/>
                                        <p:tgtEl>
                                          <p:spTgt spid="133"/>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34"/>
                                        </p:tgtEl>
                                        <p:attrNameLst>
                                          <p:attrName>style.visibility</p:attrName>
                                        </p:attrNameLst>
                                      </p:cBhvr>
                                      <p:to>
                                        <p:strVal val="visible"/>
                                      </p:to>
                                    </p:set>
                                    <p:animEffect transition="in" filter="fade">
                                      <p:cBhvr>
                                        <p:cTn id="133" dur="500"/>
                                        <p:tgtEl>
                                          <p:spTgt spid="134"/>
                                        </p:tgtEl>
                                      </p:cBhvr>
                                    </p:animEffect>
                                    <p:anim calcmode="lin" valueType="num">
                                      <p:cBhvr additive="base">
                                        <p:cTn id="134" dur="500" decel="100000" fill="hold"/>
                                        <p:tgtEl>
                                          <p:spTgt spid="134"/>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135"/>
                                        </p:tgtEl>
                                        <p:attrNameLst>
                                          <p:attrName>style.visibility</p:attrName>
                                        </p:attrNameLst>
                                      </p:cBhvr>
                                      <p:to>
                                        <p:strVal val="visible"/>
                                      </p:to>
                                    </p:set>
                                    <p:animEffect transition="in" filter="fade">
                                      <p:cBhvr>
                                        <p:cTn id="137" dur="500"/>
                                        <p:tgtEl>
                                          <p:spTgt spid="135"/>
                                        </p:tgtEl>
                                      </p:cBhvr>
                                    </p:animEffect>
                                    <p:anim calcmode="lin" valueType="num">
                                      <p:cBhvr additive="base">
                                        <p:cTn id="138" dur="500" decel="100000" fill="hold"/>
                                        <p:tgtEl>
                                          <p:spTgt spid="135"/>
                                        </p:tgtEl>
                                        <p:attrNameLst>
                                          <p:attrName>ppt_y</p:attrName>
                                        </p:attrNameLst>
                                      </p:cBhvr>
                                      <p:tavLst>
                                        <p:tav tm="0">
                                          <p:val>
                                            <p:strVal val="#ppt_y+0.06"/>
                                          </p:val>
                                        </p:tav>
                                        <p:tav tm="100000">
                                          <p:val>
                                            <p:strVal val="#ppt_y"/>
                                          </p:val>
                                        </p:tav>
                                      </p:tavLst>
                                    </p:anim>
                                  </p:childTnLst>
                                </p:cTn>
                              </p:par>
                              <p:par>
                                <p:cTn id="139" presetID="42" presetClass="entr" presetSubtype="0" fill="hold" grpId="0" nodeType="withEffect">
                                  <p:stCondLst>
                                    <p:cond delay="0"/>
                                  </p:stCondLst>
                                  <p:childTnLst>
                                    <p:set>
                                      <p:cBhvr>
                                        <p:cTn id="140" dur="1" fill="hold">
                                          <p:stCondLst>
                                            <p:cond delay="0"/>
                                          </p:stCondLst>
                                        </p:cTn>
                                        <p:tgtEl>
                                          <p:spTgt spid="136"/>
                                        </p:tgtEl>
                                        <p:attrNameLst>
                                          <p:attrName>style.visibility</p:attrName>
                                        </p:attrNameLst>
                                      </p:cBhvr>
                                      <p:to>
                                        <p:strVal val="visible"/>
                                      </p:to>
                                    </p:set>
                                    <p:animEffect transition="in" filter="fade">
                                      <p:cBhvr>
                                        <p:cTn id="141" dur="500"/>
                                        <p:tgtEl>
                                          <p:spTgt spid="136"/>
                                        </p:tgtEl>
                                      </p:cBhvr>
                                    </p:animEffect>
                                    <p:anim calcmode="lin" valueType="num">
                                      <p:cBhvr additive="base">
                                        <p:cTn id="142" dur="500" decel="100000" fill="hold"/>
                                        <p:tgtEl>
                                          <p:spTgt spid="136"/>
                                        </p:tgtEl>
                                        <p:attrNameLst>
                                          <p:attrName>ppt_y</p:attrName>
                                        </p:attrNameLst>
                                      </p:cBhvr>
                                      <p:tavLst>
                                        <p:tav tm="0">
                                          <p:val>
                                            <p:strVal val="#ppt_y+0.06"/>
                                          </p:val>
                                        </p:tav>
                                        <p:tav tm="100000">
                                          <p:val>
                                            <p:strVal val="#ppt_y"/>
                                          </p:val>
                                        </p:tav>
                                      </p:tavLst>
                                    </p:anim>
                                  </p:childTnLst>
                                </p:cTn>
                              </p:par>
                              <p:par>
                                <p:cTn id="143" presetID="42" presetClass="entr" presetSubtype="0" fill="hold" grpId="0" nodeType="withEffect">
                                  <p:stCondLst>
                                    <p:cond delay="0"/>
                                  </p:stCondLst>
                                  <p:childTnLst>
                                    <p:set>
                                      <p:cBhvr>
                                        <p:cTn id="144" dur="1" fill="hold">
                                          <p:stCondLst>
                                            <p:cond delay="0"/>
                                          </p:stCondLst>
                                        </p:cTn>
                                        <p:tgtEl>
                                          <p:spTgt spid="137"/>
                                        </p:tgtEl>
                                        <p:attrNameLst>
                                          <p:attrName>style.visibility</p:attrName>
                                        </p:attrNameLst>
                                      </p:cBhvr>
                                      <p:to>
                                        <p:strVal val="visible"/>
                                      </p:to>
                                    </p:set>
                                    <p:animEffect transition="in" filter="fade">
                                      <p:cBhvr>
                                        <p:cTn id="145" dur="500"/>
                                        <p:tgtEl>
                                          <p:spTgt spid="137"/>
                                        </p:tgtEl>
                                      </p:cBhvr>
                                    </p:animEffect>
                                    <p:anim calcmode="lin" valueType="num">
                                      <p:cBhvr additive="base">
                                        <p:cTn id="146" dur="500" decel="100000" fill="hold"/>
                                        <p:tgtEl>
                                          <p:spTgt spid="137"/>
                                        </p:tgtEl>
                                        <p:attrNameLst>
                                          <p:attrName>ppt_y</p:attrName>
                                        </p:attrNameLst>
                                      </p:cBhvr>
                                      <p:tavLst>
                                        <p:tav tm="0">
                                          <p:val>
                                            <p:strVal val="#ppt_y+0.06"/>
                                          </p:val>
                                        </p:tav>
                                        <p:tav tm="100000">
                                          <p:val>
                                            <p:strVal val="#ppt_y"/>
                                          </p:val>
                                        </p:tav>
                                      </p:tavLst>
                                    </p:anim>
                                  </p:childTnLst>
                                </p:cTn>
                              </p:par>
                              <p:par>
                                <p:cTn id="147" presetID="42" presetClass="entr" presetSubtype="0" fill="hold" grpId="0" nodeType="withEffect">
                                  <p:stCondLst>
                                    <p:cond delay="0"/>
                                  </p:stCondLst>
                                  <p:childTnLst>
                                    <p:set>
                                      <p:cBhvr>
                                        <p:cTn id="148" dur="1" fill="hold">
                                          <p:stCondLst>
                                            <p:cond delay="0"/>
                                          </p:stCondLst>
                                        </p:cTn>
                                        <p:tgtEl>
                                          <p:spTgt spid="138"/>
                                        </p:tgtEl>
                                        <p:attrNameLst>
                                          <p:attrName>style.visibility</p:attrName>
                                        </p:attrNameLst>
                                      </p:cBhvr>
                                      <p:to>
                                        <p:strVal val="visible"/>
                                      </p:to>
                                    </p:set>
                                    <p:animEffect transition="in" filter="fade">
                                      <p:cBhvr>
                                        <p:cTn id="149" dur="500"/>
                                        <p:tgtEl>
                                          <p:spTgt spid="138"/>
                                        </p:tgtEl>
                                      </p:cBhvr>
                                    </p:animEffect>
                                    <p:anim calcmode="lin" valueType="num">
                                      <p:cBhvr additive="base">
                                        <p:cTn id="150" dur="500" decel="100000" fill="hold"/>
                                        <p:tgtEl>
                                          <p:spTgt spid="138"/>
                                        </p:tgtEl>
                                        <p:attrNameLst>
                                          <p:attrName>ppt_y</p:attrName>
                                        </p:attrNameLst>
                                      </p:cBhvr>
                                      <p:tavLst>
                                        <p:tav tm="0">
                                          <p:val>
                                            <p:strVal val="#ppt_y+0.06"/>
                                          </p:val>
                                        </p:tav>
                                        <p:tav tm="100000">
                                          <p:val>
                                            <p:strVal val="#ppt_y"/>
                                          </p:val>
                                        </p:tav>
                                      </p:tavLst>
                                    </p:anim>
                                  </p:childTnLst>
                                </p:cTn>
                              </p:par>
                              <p:par>
                                <p:cTn id="151" presetID="42" presetClass="entr" presetSubtype="0" fill="hold" grpId="0" nodeType="withEffect">
                                  <p:stCondLst>
                                    <p:cond delay="0"/>
                                  </p:stCondLst>
                                  <p:childTnLst>
                                    <p:set>
                                      <p:cBhvr>
                                        <p:cTn id="152" dur="1" fill="hold">
                                          <p:stCondLst>
                                            <p:cond delay="0"/>
                                          </p:stCondLst>
                                        </p:cTn>
                                        <p:tgtEl>
                                          <p:spTgt spid="139"/>
                                        </p:tgtEl>
                                        <p:attrNameLst>
                                          <p:attrName>style.visibility</p:attrName>
                                        </p:attrNameLst>
                                      </p:cBhvr>
                                      <p:to>
                                        <p:strVal val="visible"/>
                                      </p:to>
                                    </p:set>
                                    <p:animEffect transition="in" filter="fade">
                                      <p:cBhvr>
                                        <p:cTn id="153" dur="500"/>
                                        <p:tgtEl>
                                          <p:spTgt spid="139"/>
                                        </p:tgtEl>
                                      </p:cBhvr>
                                    </p:animEffect>
                                    <p:anim calcmode="lin" valueType="num">
                                      <p:cBhvr additive="base">
                                        <p:cTn id="154" dur="500" decel="100000" fill="hold"/>
                                        <p:tgtEl>
                                          <p:spTgt spid="139"/>
                                        </p:tgtEl>
                                        <p:attrNameLst>
                                          <p:attrName>ppt_y</p:attrName>
                                        </p:attrNameLst>
                                      </p:cBhvr>
                                      <p:tavLst>
                                        <p:tav tm="0">
                                          <p:val>
                                            <p:strVal val="#ppt_y+0.06"/>
                                          </p:val>
                                        </p:tav>
                                        <p:tav tm="100000">
                                          <p:val>
                                            <p:strVal val="#ppt_y"/>
                                          </p:val>
                                        </p:tav>
                                      </p:tavLst>
                                    </p:anim>
                                  </p:childTnLst>
                                </p:cTn>
                              </p:par>
                              <p:par>
                                <p:cTn id="155" presetID="42" presetClass="entr" presetSubtype="0" fill="hold" grpId="0" nodeType="withEffect">
                                  <p:stCondLst>
                                    <p:cond delay="0"/>
                                  </p:stCondLst>
                                  <p:childTnLst>
                                    <p:set>
                                      <p:cBhvr>
                                        <p:cTn id="156" dur="1" fill="hold">
                                          <p:stCondLst>
                                            <p:cond delay="0"/>
                                          </p:stCondLst>
                                        </p:cTn>
                                        <p:tgtEl>
                                          <p:spTgt spid="140"/>
                                        </p:tgtEl>
                                        <p:attrNameLst>
                                          <p:attrName>style.visibility</p:attrName>
                                        </p:attrNameLst>
                                      </p:cBhvr>
                                      <p:to>
                                        <p:strVal val="visible"/>
                                      </p:to>
                                    </p:set>
                                    <p:animEffect transition="in" filter="fade">
                                      <p:cBhvr>
                                        <p:cTn id="157" dur="500"/>
                                        <p:tgtEl>
                                          <p:spTgt spid="140"/>
                                        </p:tgtEl>
                                      </p:cBhvr>
                                    </p:animEffect>
                                    <p:anim calcmode="lin" valueType="num">
                                      <p:cBhvr additive="base">
                                        <p:cTn id="158" dur="500" decel="100000" fill="hold"/>
                                        <p:tgtEl>
                                          <p:spTgt spid="140"/>
                                        </p:tgtEl>
                                        <p:attrNameLst>
                                          <p:attrName>ppt_y</p:attrName>
                                        </p:attrNameLst>
                                      </p:cBhvr>
                                      <p:tavLst>
                                        <p:tav tm="0">
                                          <p:val>
                                            <p:strVal val="#ppt_y+0.06"/>
                                          </p:val>
                                        </p:tav>
                                        <p:tav tm="100000">
                                          <p:val>
                                            <p:strVal val="#ppt_y"/>
                                          </p:val>
                                        </p:tav>
                                      </p:tavLst>
                                    </p:anim>
                                  </p:childTnLst>
                                </p:cTn>
                              </p:par>
                              <p:par>
                                <p:cTn id="159" presetID="42" presetClass="entr" presetSubtype="0" fill="hold" grpId="0" nodeType="withEffect">
                                  <p:stCondLst>
                                    <p:cond delay="0"/>
                                  </p:stCondLst>
                                  <p:childTnLst>
                                    <p:set>
                                      <p:cBhvr>
                                        <p:cTn id="160" dur="1" fill="hold">
                                          <p:stCondLst>
                                            <p:cond delay="0"/>
                                          </p:stCondLst>
                                        </p:cTn>
                                        <p:tgtEl>
                                          <p:spTgt spid="141"/>
                                        </p:tgtEl>
                                        <p:attrNameLst>
                                          <p:attrName>style.visibility</p:attrName>
                                        </p:attrNameLst>
                                      </p:cBhvr>
                                      <p:to>
                                        <p:strVal val="visible"/>
                                      </p:to>
                                    </p:set>
                                    <p:animEffect transition="in" filter="fade">
                                      <p:cBhvr>
                                        <p:cTn id="161" dur="500"/>
                                        <p:tgtEl>
                                          <p:spTgt spid="141"/>
                                        </p:tgtEl>
                                      </p:cBhvr>
                                    </p:animEffect>
                                    <p:anim calcmode="lin" valueType="num">
                                      <p:cBhvr additive="base">
                                        <p:cTn id="162" dur="500" decel="100000" fill="hold"/>
                                        <p:tgtEl>
                                          <p:spTgt spid="141"/>
                                        </p:tgtEl>
                                        <p:attrNameLst>
                                          <p:attrName>ppt_y</p:attrName>
                                        </p:attrNameLst>
                                      </p:cBhvr>
                                      <p:tavLst>
                                        <p:tav tm="0">
                                          <p:val>
                                            <p:strVal val="#ppt_y+0.06"/>
                                          </p:val>
                                        </p:tav>
                                        <p:tav tm="100000">
                                          <p:val>
                                            <p:strVal val="#ppt_y"/>
                                          </p:val>
                                        </p:tav>
                                      </p:tavLst>
                                    </p:anim>
                                  </p:childTnLst>
                                </p:cTn>
                              </p:par>
                              <p:par>
                                <p:cTn id="163" presetID="42" presetClass="entr" presetSubtype="0" fill="hold" grpId="0" nodeType="withEffect">
                                  <p:stCondLst>
                                    <p:cond delay="0"/>
                                  </p:stCondLst>
                                  <p:childTnLst>
                                    <p:set>
                                      <p:cBhvr>
                                        <p:cTn id="164" dur="1" fill="hold">
                                          <p:stCondLst>
                                            <p:cond delay="0"/>
                                          </p:stCondLst>
                                        </p:cTn>
                                        <p:tgtEl>
                                          <p:spTgt spid="142"/>
                                        </p:tgtEl>
                                        <p:attrNameLst>
                                          <p:attrName>style.visibility</p:attrName>
                                        </p:attrNameLst>
                                      </p:cBhvr>
                                      <p:to>
                                        <p:strVal val="visible"/>
                                      </p:to>
                                    </p:set>
                                    <p:animEffect transition="in" filter="fade">
                                      <p:cBhvr>
                                        <p:cTn id="165" dur="500"/>
                                        <p:tgtEl>
                                          <p:spTgt spid="142"/>
                                        </p:tgtEl>
                                      </p:cBhvr>
                                    </p:animEffect>
                                    <p:anim calcmode="lin" valueType="num">
                                      <p:cBhvr additive="base">
                                        <p:cTn id="166" dur="500" decel="100000" fill="hold"/>
                                        <p:tgtEl>
                                          <p:spTgt spid="142"/>
                                        </p:tgtEl>
                                        <p:attrNameLst>
                                          <p:attrName>ppt_y</p:attrName>
                                        </p:attrNameLst>
                                      </p:cBhvr>
                                      <p:tavLst>
                                        <p:tav tm="0">
                                          <p:val>
                                            <p:strVal val="#ppt_y+0.06"/>
                                          </p:val>
                                        </p:tav>
                                        <p:tav tm="100000">
                                          <p:val>
                                            <p:strVal val="#ppt_y"/>
                                          </p:val>
                                        </p:tav>
                                      </p:tavLst>
                                    </p:anim>
                                  </p:childTnLst>
                                </p:cTn>
                              </p:par>
                              <p:par>
                                <p:cTn id="167" presetID="42" presetClass="entr" presetSubtype="0" fill="hold" grpId="0" nodeType="withEffect">
                                  <p:stCondLst>
                                    <p:cond delay="0"/>
                                  </p:stCondLst>
                                  <p:childTnLst>
                                    <p:set>
                                      <p:cBhvr>
                                        <p:cTn id="168" dur="1" fill="hold">
                                          <p:stCondLst>
                                            <p:cond delay="0"/>
                                          </p:stCondLst>
                                        </p:cTn>
                                        <p:tgtEl>
                                          <p:spTgt spid="143"/>
                                        </p:tgtEl>
                                        <p:attrNameLst>
                                          <p:attrName>style.visibility</p:attrName>
                                        </p:attrNameLst>
                                      </p:cBhvr>
                                      <p:to>
                                        <p:strVal val="visible"/>
                                      </p:to>
                                    </p:set>
                                    <p:animEffect transition="in" filter="fade">
                                      <p:cBhvr>
                                        <p:cTn id="169" dur="500"/>
                                        <p:tgtEl>
                                          <p:spTgt spid="143"/>
                                        </p:tgtEl>
                                      </p:cBhvr>
                                    </p:animEffect>
                                    <p:anim calcmode="lin" valueType="num">
                                      <p:cBhvr additive="base">
                                        <p:cTn id="170" dur="500" decel="100000" fill="hold"/>
                                        <p:tgtEl>
                                          <p:spTgt spid="143"/>
                                        </p:tgtEl>
                                        <p:attrNameLst>
                                          <p:attrName>ppt_y</p:attrName>
                                        </p:attrNameLst>
                                      </p:cBhvr>
                                      <p:tavLst>
                                        <p:tav tm="0">
                                          <p:val>
                                            <p:strVal val="#ppt_y+0.06"/>
                                          </p:val>
                                        </p:tav>
                                        <p:tav tm="100000">
                                          <p:val>
                                            <p:strVal val="#ppt_y"/>
                                          </p:val>
                                        </p:tav>
                                      </p:tavLst>
                                    </p:anim>
                                  </p:childTnLst>
                                </p:cTn>
                              </p:par>
                              <p:par>
                                <p:cTn id="171" presetID="42" presetClass="entr" presetSubtype="0" fill="hold" grpId="0" nodeType="withEffect">
                                  <p:stCondLst>
                                    <p:cond delay="0"/>
                                  </p:stCondLst>
                                  <p:childTnLst>
                                    <p:set>
                                      <p:cBhvr>
                                        <p:cTn id="172" dur="1" fill="hold">
                                          <p:stCondLst>
                                            <p:cond delay="0"/>
                                          </p:stCondLst>
                                        </p:cTn>
                                        <p:tgtEl>
                                          <p:spTgt spid="144"/>
                                        </p:tgtEl>
                                        <p:attrNameLst>
                                          <p:attrName>style.visibility</p:attrName>
                                        </p:attrNameLst>
                                      </p:cBhvr>
                                      <p:to>
                                        <p:strVal val="visible"/>
                                      </p:to>
                                    </p:set>
                                    <p:animEffect transition="in" filter="fade">
                                      <p:cBhvr>
                                        <p:cTn id="173" dur="500"/>
                                        <p:tgtEl>
                                          <p:spTgt spid="144"/>
                                        </p:tgtEl>
                                      </p:cBhvr>
                                    </p:animEffect>
                                    <p:anim calcmode="lin" valueType="num">
                                      <p:cBhvr additive="base">
                                        <p:cTn id="174" dur="500" decel="100000" fill="hold"/>
                                        <p:tgtEl>
                                          <p:spTgt spid="144"/>
                                        </p:tgtEl>
                                        <p:attrNameLst>
                                          <p:attrName>ppt_y</p:attrName>
                                        </p:attrNameLst>
                                      </p:cBhvr>
                                      <p:tavLst>
                                        <p:tav tm="0">
                                          <p:val>
                                            <p:strVal val="#ppt_y+0.06"/>
                                          </p:val>
                                        </p:tav>
                                        <p:tav tm="100000">
                                          <p:val>
                                            <p:strVal val="#ppt_y"/>
                                          </p:val>
                                        </p:tav>
                                      </p:tavLst>
                                    </p:anim>
                                  </p:childTnLst>
                                </p:cTn>
                              </p:par>
                              <p:par>
                                <p:cTn id="175" presetID="42" presetClass="entr" presetSubtype="0" fill="hold" grpId="0" nodeType="withEffect">
                                  <p:stCondLst>
                                    <p:cond delay="0"/>
                                  </p:stCondLst>
                                  <p:childTnLst>
                                    <p:set>
                                      <p:cBhvr>
                                        <p:cTn id="176" dur="1" fill="hold">
                                          <p:stCondLst>
                                            <p:cond delay="0"/>
                                          </p:stCondLst>
                                        </p:cTn>
                                        <p:tgtEl>
                                          <p:spTgt spid="145"/>
                                        </p:tgtEl>
                                        <p:attrNameLst>
                                          <p:attrName>style.visibility</p:attrName>
                                        </p:attrNameLst>
                                      </p:cBhvr>
                                      <p:to>
                                        <p:strVal val="visible"/>
                                      </p:to>
                                    </p:set>
                                    <p:animEffect transition="in" filter="fade">
                                      <p:cBhvr>
                                        <p:cTn id="177" dur="500"/>
                                        <p:tgtEl>
                                          <p:spTgt spid="145"/>
                                        </p:tgtEl>
                                      </p:cBhvr>
                                    </p:animEffect>
                                    <p:anim calcmode="lin" valueType="num">
                                      <p:cBhvr additive="base">
                                        <p:cTn id="178" dur="500" decel="100000" fill="hold"/>
                                        <p:tgtEl>
                                          <p:spTgt spid="145"/>
                                        </p:tgtEl>
                                        <p:attrNameLst>
                                          <p:attrName>ppt_y</p:attrName>
                                        </p:attrNameLst>
                                      </p:cBhvr>
                                      <p:tavLst>
                                        <p:tav tm="0">
                                          <p:val>
                                            <p:strVal val="#ppt_y+0.06"/>
                                          </p:val>
                                        </p:tav>
                                        <p:tav tm="100000">
                                          <p:val>
                                            <p:strVal val="#ppt_y"/>
                                          </p:val>
                                        </p:tav>
                                      </p:tavLst>
                                    </p:anim>
                                  </p:childTnLst>
                                </p:cTn>
                              </p:par>
                              <p:par>
                                <p:cTn id="179" presetID="42" presetClass="entr" presetSubtype="0" fill="hold" grpId="0" nodeType="withEffect">
                                  <p:stCondLst>
                                    <p:cond delay="0"/>
                                  </p:stCondLst>
                                  <p:childTnLst>
                                    <p:set>
                                      <p:cBhvr>
                                        <p:cTn id="180" dur="1" fill="hold">
                                          <p:stCondLst>
                                            <p:cond delay="0"/>
                                          </p:stCondLst>
                                        </p:cTn>
                                        <p:tgtEl>
                                          <p:spTgt spid="146"/>
                                        </p:tgtEl>
                                        <p:attrNameLst>
                                          <p:attrName>style.visibility</p:attrName>
                                        </p:attrNameLst>
                                      </p:cBhvr>
                                      <p:to>
                                        <p:strVal val="visible"/>
                                      </p:to>
                                    </p:set>
                                    <p:animEffect transition="in" filter="fade">
                                      <p:cBhvr>
                                        <p:cTn id="181" dur="500"/>
                                        <p:tgtEl>
                                          <p:spTgt spid="146"/>
                                        </p:tgtEl>
                                      </p:cBhvr>
                                    </p:animEffect>
                                    <p:anim calcmode="lin" valueType="num">
                                      <p:cBhvr additive="base">
                                        <p:cTn id="182" dur="500" decel="100000" fill="hold"/>
                                        <p:tgtEl>
                                          <p:spTgt spid="146"/>
                                        </p:tgtEl>
                                        <p:attrNameLst>
                                          <p:attrName>ppt_y</p:attrName>
                                        </p:attrNameLst>
                                      </p:cBhvr>
                                      <p:tavLst>
                                        <p:tav tm="0">
                                          <p:val>
                                            <p:strVal val="#ppt_y+0.06"/>
                                          </p:val>
                                        </p:tav>
                                        <p:tav tm="100000">
                                          <p:val>
                                            <p:strVal val="#ppt_y"/>
                                          </p:val>
                                        </p:tav>
                                      </p:tavLst>
                                    </p:anim>
                                  </p:childTnLst>
                                </p:cTn>
                              </p:par>
                              <p:par>
                                <p:cTn id="183" presetID="42" presetClass="entr" presetSubtype="0" fill="hold" grpId="0" nodeType="withEffect">
                                  <p:stCondLst>
                                    <p:cond delay="0"/>
                                  </p:stCondLst>
                                  <p:childTnLst>
                                    <p:set>
                                      <p:cBhvr>
                                        <p:cTn id="184" dur="1" fill="hold">
                                          <p:stCondLst>
                                            <p:cond delay="0"/>
                                          </p:stCondLst>
                                        </p:cTn>
                                        <p:tgtEl>
                                          <p:spTgt spid="147"/>
                                        </p:tgtEl>
                                        <p:attrNameLst>
                                          <p:attrName>style.visibility</p:attrName>
                                        </p:attrNameLst>
                                      </p:cBhvr>
                                      <p:to>
                                        <p:strVal val="visible"/>
                                      </p:to>
                                    </p:set>
                                    <p:animEffect transition="in" filter="fade">
                                      <p:cBhvr>
                                        <p:cTn id="185" dur="500"/>
                                        <p:tgtEl>
                                          <p:spTgt spid="147"/>
                                        </p:tgtEl>
                                      </p:cBhvr>
                                    </p:animEffect>
                                    <p:anim calcmode="lin" valueType="num">
                                      <p:cBhvr additive="base">
                                        <p:cTn id="186" dur="500" decel="100000" fill="hold"/>
                                        <p:tgtEl>
                                          <p:spTgt spid="147"/>
                                        </p:tgtEl>
                                        <p:attrNameLst>
                                          <p:attrName>ppt_y</p:attrName>
                                        </p:attrNameLst>
                                      </p:cBhvr>
                                      <p:tavLst>
                                        <p:tav tm="0">
                                          <p:val>
                                            <p:strVal val="#ppt_y+0.06"/>
                                          </p:val>
                                        </p:tav>
                                        <p:tav tm="100000">
                                          <p:val>
                                            <p:strVal val="#ppt_y"/>
                                          </p:val>
                                        </p:tav>
                                      </p:tavLst>
                                    </p:anim>
                                  </p:childTnLst>
                                </p:cTn>
                              </p:par>
                              <p:par>
                                <p:cTn id="187" presetID="42" presetClass="entr" presetSubtype="0" fill="hold" grpId="0" nodeType="withEffect">
                                  <p:stCondLst>
                                    <p:cond delay="0"/>
                                  </p:stCondLst>
                                  <p:childTnLst>
                                    <p:set>
                                      <p:cBhvr>
                                        <p:cTn id="188" dur="1" fill="hold">
                                          <p:stCondLst>
                                            <p:cond delay="0"/>
                                          </p:stCondLst>
                                        </p:cTn>
                                        <p:tgtEl>
                                          <p:spTgt spid="148"/>
                                        </p:tgtEl>
                                        <p:attrNameLst>
                                          <p:attrName>style.visibility</p:attrName>
                                        </p:attrNameLst>
                                      </p:cBhvr>
                                      <p:to>
                                        <p:strVal val="visible"/>
                                      </p:to>
                                    </p:set>
                                    <p:animEffect transition="in" filter="fade">
                                      <p:cBhvr>
                                        <p:cTn id="189" dur="500"/>
                                        <p:tgtEl>
                                          <p:spTgt spid="148"/>
                                        </p:tgtEl>
                                      </p:cBhvr>
                                    </p:animEffect>
                                    <p:anim calcmode="lin" valueType="num">
                                      <p:cBhvr additive="base">
                                        <p:cTn id="190" dur="500" decel="100000" fill="hold"/>
                                        <p:tgtEl>
                                          <p:spTgt spid="148"/>
                                        </p:tgtEl>
                                        <p:attrNameLst>
                                          <p:attrName>ppt_y</p:attrName>
                                        </p:attrNameLst>
                                      </p:cBhvr>
                                      <p:tavLst>
                                        <p:tav tm="0">
                                          <p:val>
                                            <p:strVal val="#ppt_y+0.06"/>
                                          </p:val>
                                        </p:tav>
                                        <p:tav tm="100000">
                                          <p:val>
                                            <p:strVal val="#ppt_y"/>
                                          </p:val>
                                        </p:tav>
                                      </p:tavLst>
                                    </p:anim>
                                  </p:childTnLst>
                                </p:cTn>
                              </p:par>
                            </p:childTnLst>
                          </p:cTn>
                        </p:par>
                      </p:childTnLst>
                    </p:cTn>
                  </p:par>
                  <p:par>
                    <p:cTn id="191" fill="hold">
                      <p:stCondLst>
                        <p:cond delay="indefinite"/>
                      </p:stCondLst>
                      <p:childTnLst>
                        <p:par>
                          <p:cTn id="192" fill="hold">
                            <p:stCondLst>
                              <p:cond delay="0"/>
                            </p:stCondLst>
                            <p:childTnLst>
                              <p:par>
                                <p:cTn id="193" presetID="53" presetClass="entr" presetSubtype="16" fill="hold" grpId="0" nodeType="clickEffect">
                                  <p:stCondLst>
                                    <p:cond delay="0"/>
                                  </p:stCondLst>
                                  <p:childTnLst>
                                    <p:set>
                                      <p:cBhvr>
                                        <p:cTn id="194" dur="1" fill="hold">
                                          <p:stCondLst>
                                            <p:cond delay="0"/>
                                          </p:stCondLst>
                                        </p:cTn>
                                        <p:tgtEl>
                                          <p:spTgt spid="149"/>
                                        </p:tgtEl>
                                        <p:attrNameLst>
                                          <p:attrName>style.visibility</p:attrName>
                                        </p:attrNameLst>
                                      </p:cBhvr>
                                      <p:to>
                                        <p:strVal val="visible"/>
                                      </p:to>
                                    </p:set>
                                    <p:anim calcmode="lin" valueType="num">
                                      <p:cBhvr additive="base">
                                        <p:cTn id="195" dur="500" decel="100000" fill="hold"/>
                                        <p:tgtEl>
                                          <p:spTgt spid="149"/>
                                        </p:tgtEl>
                                        <p:attrNameLst>
                                          <p:attrName>ppt_w</p:attrName>
                                        </p:attrNameLst>
                                      </p:cBhvr>
                                      <p:tavLst>
                                        <p:tav tm="0">
                                          <p:val>
                                            <p:strVal val="#ppt_w*0.3"/>
                                          </p:val>
                                        </p:tav>
                                        <p:tav tm="100000">
                                          <p:val>
                                            <p:strVal val="#ppt_w*1.08"/>
                                          </p:val>
                                        </p:tav>
                                      </p:tavLst>
                                    </p:anim>
                                    <p:anim calcmode="lin" valueType="num">
                                      <p:cBhvr additive="base">
                                        <p:cTn id="196" dur="500" decel="100000" fill="hold"/>
                                        <p:tgtEl>
                                          <p:spTgt spid="149"/>
                                        </p:tgtEl>
                                        <p:attrNameLst>
                                          <p:attrName>ppt_h</p:attrName>
                                        </p:attrNameLst>
                                      </p:cBhvr>
                                      <p:tavLst>
                                        <p:tav tm="0">
                                          <p:val>
                                            <p:strVal val="#ppt_h*0.3"/>
                                          </p:val>
                                        </p:tav>
                                        <p:tav tm="100000">
                                          <p:val>
                                            <p:strVal val="#ppt_h*1.08"/>
                                          </p:val>
                                        </p:tav>
                                      </p:tavLst>
                                    </p:anim>
                                    <p:animEffect transition="in" filter="fade">
                                      <p:cBhvr>
                                        <p:cTn id="197" dur="250"/>
                                        <p:tgtEl>
                                          <p:spTgt spid="149"/>
                                        </p:tgtEl>
                                      </p:cBhvr>
                                    </p:animEffect>
                                    <p:anim calcmode="lin" valueType="num">
                                      <p:cBhvr additive="base">
                                        <p:cTn id="198" dur="160" fill="hold">
                                          <p:stCondLst>
                                            <p:cond delay="500"/>
                                          </p:stCondLst>
                                        </p:cTn>
                                        <p:tgtEl>
                                          <p:spTgt spid="149"/>
                                        </p:tgtEl>
                                        <p:attrNameLst>
                                          <p:attrName>ppt_w</p:attrName>
                                        </p:attrNameLst>
                                      </p:cBhvr>
                                      <p:tavLst>
                                        <p:tav tm="0">
                                          <p:val>
                                            <p:strVal val="#ppt_w*1.08"/>
                                          </p:val>
                                        </p:tav>
                                        <p:tav tm="100000">
                                          <p:val>
                                            <p:strVal val="#ppt_w"/>
                                          </p:val>
                                        </p:tav>
                                      </p:tavLst>
                                    </p:anim>
                                    <p:anim calcmode="lin" valueType="num">
                                      <p:cBhvr additive="base">
                                        <p:cTn id="199" dur="160" fill="hold">
                                          <p:stCondLst>
                                            <p:cond delay="500"/>
                                          </p:stCondLst>
                                        </p:cTn>
                                        <p:tgtEl>
                                          <p:spTgt spid="149"/>
                                        </p:tgtEl>
                                        <p:attrNameLst>
                                          <p:attrName>ppt_h</p:attrName>
                                        </p:attrNameLst>
                                      </p:cBhvr>
                                      <p:tavLst>
                                        <p:tav tm="0">
                                          <p:val>
                                            <p:strVal val="#ppt_h*1.08"/>
                                          </p:val>
                                        </p:tav>
                                        <p:tav tm="100000">
                                          <p:val>
                                            <p:strVal val="#ppt_h"/>
                                          </p:val>
                                        </p:tav>
                                      </p:tavLst>
                                    </p:anim>
                                  </p:childTnLst>
                                </p:cTn>
                              </p:par>
                              <p:par>
                                <p:cTn id="200" presetID="53" presetClass="entr" presetSubtype="16" fill="hold" grpId="0" nodeType="withEffect">
                                  <p:stCondLst>
                                    <p:cond delay="200"/>
                                  </p:stCondLst>
                                  <p:childTnLst>
                                    <p:set>
                                      <p:cBhvr>
                                        <p:cTn id="201" dur="1" fill="hold">
                                          <p:stCondLst>
                                            <p:cond delay="0"/>
                                          </p:stCondLst>
                                        </p:cTn>
                                        <p:tgtEl>
                                          <p:spTgt spid="150"/>
                                        </p:tgtEl>
                                        <p:attrNameLst>
                                          <p:attrName>style.visibility</p:attrName>
                                        </p:attrNameLst>
                                      </p:cBhvr>
                                      <p:to>
                                        <p:strVal val="visible"/>
                                      </p:to>
                                    </p:set>
                                    <p:anim calcmode="lin" valueType="num">
                                      <p:cBhvr additive="base">
                                        <p:cTn id="202" dur="500" decel="100000" fill="hold"/>
                                        <p:tgtEl>
                                          <p:spTgt spid="150"/>
                                        </p:tgtEl>
                                        <p:attrNameLst>
                                          <p:attrName>ppt_w</p:attrName>
                                        </p:attrNameLst>
                                      </p:cBhvr>
                                      <p:tavLst>
                                        <p:tav tm="0">
                                          <p:val>
                                            <p:strVal val="#ppt_w*0.3"/>
                                          </p:val>
                                        </p:tav>
                                        <p:tav tm="100000">
                                          <p:val>
                                            <p:strVal val="#ppt_w*1.08"/>
                                          </p:val>
                                        </p:tav>
                                      </p:tavLst>
                                    </p:anim>
                                    <p:anim calcmode="lin" valueType="num">
                                      <p:cBhvr additive="base">
                                        <p:cTn id="203" dur="500" decel="100000" fill="hold"/>
                                        <p:tgtEl>
                                          <p:spTgt spid="150"/>
                                        </p:tgtEl>
                                        <p:attrNameLst>
                                          <p:attrName>ppt_h</p:attrName>
                                        </p:attrNameLst>
                                      </p:cBhvr>
                                      <p:tavLst>
                                        <p:tav tm="0">
                                          <p:val>
                                            <p:strVal val="#ppt_h*0.3"/>
                                          </p:val>
                                        </p:tav>
                                        <p:tav tm="100000">
                                          <p:val>
                                            <p:strVal val="#ppt_h*1.08"/>
                                          </p:val>
                                        </p:tav>
                                      </p:tavLst>
                                    </p:anim>
                                    <p:animEffect transition="in" filter="fade">
                                      <p:cBhvr>
                                        <p:cTn id="204" dur="250"/>
                                        <p:tgtEl>
                                          <p:spTgt spid="150"/>
                                        </p:tgtEl>
                                      </p:cBhvr>
                                    </p:animEffect>
                                    <p:anim calcmode="lin" valueType="num">
                                      <p:cBhvr additive="base">
                                        <p:cTn id="205" dur="160" fill="hold">
                                          <p:stCondLst>
                                            <p:cond delay="500"/>
                                          </p:stCondLst>
                                        </p:cTn>
                                        <p:tgtEl>
                                          <p:spTgt spid="150"/>
                                        </p:tgtEl>
                                        <p:attrNameLst>
                                          <p:attrName>ppt_w</p:attrName>
                                        </p:attrNameLst>
                                      </p:cBhvr>
                                      <p:tavLst>
                                        <p:tav tm="0">
                                          <p:val>
                                            <p:strVal val="#ppt_w*1.08"/>
                                          </p:val>
                                        </p:tav>
                                        <p:tav tm="100000">
                                          <p:val>
                                            <p:strVal val="#ppt_w"/>
                                          </p:val>
                                        </p:tav>
                                      </p:tavLst>
                                    </p:anim>
                                    <p:anim calcmode="lin" valueType="num">
                                      <p:cBhvr additive="base">
                                        <p:cTn id="206" dur="160" fill="hold">
                                          <p:stCondLst>
                                            <p:cond delay="500"/>
                                          </p:stCondLst>
                                        </p:cTn>
                                        <p:tgtEl>
                                          <p:spTgt spid="150"/>
                                        </p:tgtEl>
                                        <p:attrNameLst>
                                          <p:attrName>ppt_h</p:attrName>
                                        </p:attrNameLst>
                                      </p:cBhvr>
                                      <p:tavLst>
                                        <p:tav tm="0">
                                          <p:val>
                                            <p:strVal val="#ppt_h*1.08"/>
                                          </p:val>
                                        </p:tav>
                                        <p:tav tm="100000">
                                          <p:val>
                                            <p:strVal val="#ppt_h"/>
                                          </p:val>
                                        </p:tav>
                                      </p:tavLst>
                                    </p:anim>
                                  </p:childTnLst>
                                </p:cTn>
                              </p:par>
                            </p:childTnLst>
                          </p:cTn>
                        </p:par>
                      </p:childTnLst>
                    </p:cTn>
                  </p:par>
                  <p:par>
                    <p:cTn id="207" fill="hold">
                      <p:stCondLst>
                        <p:cond delay="indefinite"/>
                      </p:stCondLst>
                      <p:childTnLst>
                        <p:par>
                          <p:cTn id="208" fill="hold">
                            <p:stCondLst>
                              <p:cond delay="0"/>
                            </p:stCondLst>
                            <p:childTnLst>
                              <p:par>
                                <p:cTn id="209" presetID="53" presetClass="entr" presetSubtype="16" fill="hold" grpId="0" nodeType="clickEffect">
                                  <p:stCondLst>
                                    <p:cond delay="0"/>
                                  </p:stCondLst>
                                  <p:childTnLst>
                                    <p:set>
                                      <p:cBhvr>
                                        <p:cTn id="210" dur="1" fill="hold">
                                          <p:stCondLst>
                                            <p:cond delay="0"/>
                                          </p:stCondLst>
                                        </p:cTn>
                                        <p:tgtEl>
                                          <p:spTgt spid="151"/>
                                        </p:tgtEl>
                                        <p:attrNameLst>
                                          <p:attrName>style.visibility</p:attrName>
                                        </p:attrNameLst>
                                      </p:cBhvr>
                                      <p:to>
                                        <p:strVal val="visible"/>
                                      </p:to>
                                    </p:set>
                                    <p:anim calcmode="lin" valueType="num">
                                      <p:cBhvr additive="base">
                                        <p:cTn id="211" dur="500" decel="100000" fill="hold"/>
                                        <p:tgtEl>
                                          <p:spTgt spid="151"/>
                                        </p:tgtEl>
                                        <p:attrNameLst>
                                          <p:attrName>ppt_w</p:attrName>
                                        </p:attrNameLst>
                                      </p:cBhvr>
                                      <p:tavLst>
                                        <p:tav tm="0">
                                          <p:val>
                                            <p:strVal val="#ppt_w*0.3"/>
                                          </p:val>
                                        </p:tav>
                                        <p:tav tm="100000">
                                          <p:val>
                                            <p:strVal val="#ppt_w*1.08"/>
                                          </p:val>
                                        </p:tav>
                                      </p:tavLst>
                                    </p:anim>
                                    <p:anim calcmode="lin" valueType="num">
                                      <p:cBhvr additive="base">
                                        <p:cTn id="212" dur="500" decel="100000" fill="hold"/>
                                        <p:tgtEl>
                                          <p:spTgt spid="151"/>
                                        </p:tgtEl>
                                        <p:attrNameLst>
                                          <p:attrName>ppt_h</p:attrName>
                                        </p:attrNameLst>
                                      </p:cBhvr>
                                      <p:tavLst>
                                        <p:tav tm="0">
                                          <p:val>
                                            <p:strVal val="#ppt_h*0.3"/>
                                          </p:val>
                                        </p:tav>
                                        <p:tav tm="100000">
                                          <p:val>
                                            <p:strVal val="#ppt_h*1.08"/>
                                          </p:val>
                                        </p:tav>
                                      </p:tavLst>
                                    </p:anim>
                                    <p:animEffect transition="in" filter="fade">
                                      <p:cBhvr>
                                        <p:cTn id="213" dur="250"/>
                                        <p:tgtEl>
                                          <p:spTgt spid="151"/>
                                        </p:tgtEl>
                                      </p:cBhvr>
                                    </p:animEffect>
                                    <p:anim calcmode="lin" valueType="num">
                                      <p:cBhvr additive="base">
                                        <p:cTn id="214" dur="160" fill="hold">
                                          <p:stCondLst>
                                            <p:cond delay="500"/>
                                          </p:stCondLst>
                                        </p:cTn>
                                        <p:tgtEl>
                                          <p:spTgt spid="151"/>
                                        </p:tgtEl>
                                        <p:attrNameLst>
                                          <p:attrName>ppt_w</p:attrName>
                                        </p:attrNameLst>
                                      </p:cBhvr>
                                      <p:tavLst>
                                        <p:tav tm="0">
                                          <p:val>
                                            <p:strVal val="#ppt_w*1.08"/>
                                          </p:val>
                                        </p:tav>
                                        <p:tav tm="100000">
                                          <p:val>
                                            <p:strVal val="#ppt_w"/>
                                          </p:val>
                                        </p:tav>
                                      </p:tavLst>
                                    </p:anim>
                                    <p:anim calcmode="lin" valueType="num">
                                      <p:cBhvr additive="base">
                                        <p:cTn id="215" dur="160" fill="hold">
                                          <p:stCondLst>
                                            <p:cond delay="500"/>
                                          </p:stCondLst>
                                        </p:cTn>
                                        <p:tgtEl>
                                          <p:spTgt spid="151"/>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5" grpId="0" animBg="1"/>
      <p:bldP spid="126" grpId="0" animBg="1"/>
      <p:bldP spid="127" grpId="0" animBg="1"/>
      <p:bldP spid="128" grpId="0" animBg="1"/>
      <p:bldP spid="129"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P spid="146" grpId="0" animBg="1"/>
      <p:bldP spid="147" grpId="0" animBg="1"/>
      <p:bldP spid="148" grpId="0" animBg="1"/>
      <p:bldP spid="149" grpId="0" animBg="1"/>
      <p:bldP spid="150" grpId="0" animBg="1"/>
      <p:bldP spid="151"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PROBLEM</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r>
              <a:rPr lang="en-US" sz="3000" b="1" dirty="0" err="1">
                <a:solidFill>
                  <a:srgbClr val="FFFFFF"/>
                </a:solidFill>
                <a:latin typeface="Segoe UI"/>
                <a:ea typeface="Segoe UI"/>
                <a:cs typeface="Segoe UI"/>
              </a:rPr>
              <a:t>InlineData</a:t>
            </a:r>
            <a:r>
              <a:rPr lang="en-US" sz="3000" b="1" dirty="0">
                <a:solidFill>
                  <a:srgbClr val="FFFFFF"/>
                </a:solidFill>
                <a:latin typeface="Segoe UI"/>
                <a:ea typeface="Segoe UI"/>
                <a:cs typeface="Segoe UI"/>
              </a:rPr>
              <a:t> </a:t>
            </a:r>
            <a:r>
              <a:rPr lang="en-US" sz="3000" b="1" dirty="0" err="1">
                <a:solidFill>
                  <a:srgbClr val="FFFFFF"/>
                </a:solidFill>
                <a:latin typeface="Segoe UI"/>
                <a:ea typeface="Segoe UI"/>
                <a:cs typeface="Segoe UI"/>
              </a:rPr>
              <a:t>Refues</a:t>
            </a:r>
            <a:r>
              <a:rPr lang="en-US" sz="3000" b="1" dirty="0">
                <a:solidFill>
                  <a:srgbClr val="FFFFFF"/>
                </a:solidFill>
                <a:latin typeface="Segoe UI"/>
                <a:ea typeface="Segoe UI"/>
                <a:cs typeface="Segoe UI"/>
              </a:rPr>
              <a:t> Decimal , </a:t>
            </a:r>
            <a:r>
              <a:rPr lang="en-US" sz="3000" b="1" dirty="0" err="1">
                <a:solidFill>
                  <a:srgbClr val="FFFFFF"/>
                </a:solidFill>
                <a:latin typeface="Segoe UI"/>
                <a:ea typeface="Segoe UI"/>
                <a:cs typeface="Segoe UI"/>
              </a:rPr>
              <a:t>DataTime</a:t>
            </a:r>
            <a:r>
              <a:rPr lang="en-US" sz="3000" b="1" dirty="0">
                <a:solidFill>
                  <a:srgbClr val="FFFFFF"/>
                </a:solidFill>
                <a:latin typeface="Segoe UI"/>
                <a:ea typeface="Segoe UI"/>
                <a:cs typeface="Segoe UI"/>
              </a:rPr>
              <a:t> and objects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The Friday bug from Chapter 01. We want rows for it, with real decimal prices.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129</a:t>
            </a:r>
            <a:endParaRPr lang="en-US" sz="850" dirty="0"/>
          </a:p>
        </p:txBody>
      </p:sp>
      <p:sp>
        <p:nvSpPr>
          <p:cNvPr id="101" name="s101"/>
          <p:cNvSpPr txBox="1"/>
          <p:nvPr/>
        </p:nvSpPr>
        <p:spPr>
          <a:xfrm>
            <a:off x="543154" y="1783080"/>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THE CLASS: THE FRIDAY BUG</a:t>
            </a:r>
            <a:endParaRPr lang="en-US" sz="1050" dirty="0"/>
          </a:p>
        </p:txBody>
      </p:sp>
      <p:sp>
        <p:nvSpPr>
          <p:cNvPr id="102" name="s102"/>
          <p:cNvSpPr/>
          <p:nvPr/>
        </p:nvSpPr>
        <p:spPr>
          <a:xfrm>
            <a:off x="543154" y="2057400"/>
            <a:ext cx="5349240" cy="237744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0370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0370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0370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130552"/>
            <a:ext cx="1603858"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PriceCalculator.cs</a:t>
            </a:r>
            <a:endParaRPr lang="en-US" sz="950" dirty="0"/>
          </a:p>
        </p:txBody>
      </p:sp>
      <p:cxnSp>
        <p:nvCxnSpPr>
          <p:cNvPr id="107" name="ln107"/>
          <p:cNvCxnSpPr/>
          <p:nvPr/>
        </p:nvCxnSpPr>
        <p:spPr>
          <a:xfrm>
            <a:off x="543154" y="2468880"/>
            <a:ext cx="5349240" cy="0"/>
          </a:xfrm>
          <a:prstGeom prst="line">
            <a:avLst/>
          </a:prstGeom>
          <a:ln w="9525">
            <a:solidFill>
              <a:srgbClr val="1E3A5F"/>
            </a:solidFill>
          </a:ln>
        </p:spPr>
      </p:cxnSp>
      <p:sp>
        <p:nvSpPr>
          <p:cNvPr id="108" name="s108"/>
          <p:cNvSpPr/>
          <p:nvPr/>
        </p:nvSpPr>
        <p:spPr>
          <a:xfrm>
            <a:off x="543154" y="258775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static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class</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PriceCalculator</a:t>
            </a:r>
            <a:endParaRPr lang="en-US" sz="1150" dirty="0"/>
          </a:p>
        </p:txBody>
      </p:sp>
      <p:sp>
        <p:nvSpPr>
          <p:cNvPr id="109" name="s109"/>
          <p:cNvSpPr/>
          <p:nvPr/>
        </p:nvSpPr>
        <p:spPr>
          <a:xfrm>
            <a:off x="543154" y="276301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0" name="s110"/>
          <p:cNvSpPr/>
          <p:nvPr/>
        </p:nvSpPr>
        <p:spPr>
          <a:xfrm>
            <a:off x="543154" y="293827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10% off, but never more than 50 EGP</a:t>
            </a:r>
            <a:endParaRPr lang="en-US" sz="1150" dirty="0"/>
          </a:p>
        </p:txBody>
      </p:sp>
      <p:sp>
        <p:nvSpPr>
          <p:cNvPr id="111" name="s111"/>
          <p:cNvSpPr/>
          <p:nvPr/>
        </p:nvSpPr>
        <p:spPr>
          <a:xfrm>
            <a:off x="543154" y="311353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static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decimal</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WithDiscount</a:t>
            </a:r>
            <a:r>
              <a:rPr lang="en-US" sz="1150" b="0" dirty="0">
                <a:solidFill>
                  <a:srgbClr val="E2E8F0"/>
                </a:solidFill>
                <a:latin typeface="Consolas"/>
                <a:ea typeface="Consolas"/>
                <a:cs typeface="Consolas"/>
              </a:rPr>
              <a:t>(</a:t>
            </a:r>
            <a:r>
              <a:rPr lang="en-US" sz="1150" b="0" dirty="0">
                <a:solidFill>
                  <a:srgbClr val="60A5FA"/>
                </a:solidFill>
                <a:latin typeface="Consolas"/>
                <a:ea typeface="Consolas"/>
                <a:cs typeface="Consolas"/>
              </a:rPr>
              <a:t>decimal</a:t>
            </a:r>
            <a:r>
              <a:rPr lang="en-US" sz="1150" b="0" dirty="0">
                <a:solidFill>
                  <a:srgbClr val="E2E8F0"/>
                </a:solidFill>
                <a:latin typeface="Consolas"/>
                <a:ea typeface="Consolas"/>
                <a:cs typeface="Consolas"/>
              </a:rPr>
              <a:t> price)</a:t>
            </a:r>
            <a:endParaRPr lang="en-US" sz="1150" dirty="0"/>
          </a:p>
        </p:txBody>
      </p:sp>
      <p:sp>
        <p:nvSpPr>
          <p:cNvPr id="112" name="s112"/>
          <p:cNvSpPr/>
          <p:nvPr/>
        </p:nvSpPr>
        <p:spPr>
          <a:xfrm>
            <a:off x="543154" y="328879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endParaRPr lang="en-US" sz="1150" dirty="0"/>
          </a:p>
        </p:txBody>
      </p:sp>
      <p:sp>
        <p:nvSpPr>
          <p:cNvPr id="113" name="s113"/>
          <p:cNvSpPr/>
          <p:nvPr/>
        </p:nvSpPr>
        <p:spPr>
          <a:xfrm>
            <a:off x="543154" y="346405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decimal</a:t>
            </a:r>
            <a:r>
              <a:rPr lang="en-US" sz="1150" b="0" dirty="0">
                <a:solidFill>
                  <a:srgbClr val="E2E8F0"/>
                </a:solidFill>
                <a:latin typeface="Consolas"/>
                <a:ea typeface="Consolas"/>
                <a:cs typeface="Consolas"/>
              </a:rPr>
              <a:t> discount = </a:t>
            </a:r>
            <a:r>
              <a:rPr lang="en-US" sz="1150" b="0" dirty="0">
                <a:solidFill>
                  <a:srgbClr val="7DD3FC"/>
                </a:solidFill>
                <a:latin typeface="Consolas"/>
                <a:ea typeface="Consolas"/>
                <a:cs typeface="Consolas"/>
              </a:rPr>
              <a:t>Math</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Min</a:t>
            </a:r>
            <a:r>
              <a:rPr lang="en-US" sz="1150" b="0" dirty="0">
                <a:solidFill>
                  <a:srgbClr val="E2E8F0"/>
                </a:solidFill>
                <a:latin typeface="Consolas"/>
                <a:ea typeface="Consolas"/>
                <a:cs typeface="Consolas"/>
              </a:rPr>
              <a:t>(price * </a:t>
            </a:r>
            <a:r>
              <a:rPr lang="en-US" sz="1150" b="0" dirty="0">
                <a:solidFill>
                  <a:srgbClr val="C4B5FD"/>
                </a:solidFill>
                <a:latin typeface="Consolas"/>
                <a:ea typeface="Consolas"/>
                <a:cs typeface="Consolas"/>
              </a:rPr>
              <a:t>0.10m</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50m</a:t>
            </a:r>
            <a:r>
              <a:rPr lang="en-US" sz="1150" b="0" dirty="0">
                <a:solidFill>
                  <a:srgbClr val="E2E8F0"/>
                </a:solidFill>
                <a:latin typeface="Consolas"/>
                <a:ea typeface="Consolas"/>
                <a:cs typeface="Consolas"/>
              </a:rPr>
              <a:t>);</a:t>
            </a:r>
            <a:endParaRPr lang="en-US" sz="1150" dirty="0"/>
          </a:p>
        </p:txBody>
      </p:sp>
      <p:sp>
        <p:nvSpPr>
          <p:cNvPr id="114" name="s114"/>
          <p:cNvSpPr/>
          <p:nvPr/>
        </p:nvSpPr>
        <p:spPr>
          <a:xfrm>
            <a:off x="543154" y="363931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return</a:t>
            </a:r>
            <a:r>
              <a:rPr lang="en-US" sz="1150" b="0" dirty="0">
                <a:solidFill>
                  <a:srgbClr val="E2E8F0"/>
                </a:solidFill>
                <a:latin typeface="Consolas"/>
                <a:ea typeface="Consolas"/>
                <a:cs typeface="Consolas"/>
              </a:rPr>
              <a:t> price - discount;</a:t>
            </a:r>
            <a:endParaRPr lang="en-US" sz="1150" dirty="0"/>
          </a:p>
        </p:txBody>
      </p:sp>
      <p:sp>
        <p:nvSpPr>
          <p:cNvPr id="115" name="s115"/>
          <p:cNvSpPr/>
          <p:nvPr/>
        </p:nvSpPr>
        <p:spPr>
          <a:xfrm>
            <a:off x="543154" y="381457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endParaRPr lang="en-US" sz="1150" dirty="0"/>
          </a:p>
        </p:txBody>
      </p:sp>
      <p:sp>
        <p:nvSpPr>
          <p:cNvPr id="116" name="s116"/>
          <p:cNvSpPr/>
          <p:nvPr/>
        </p:nvSpPr>
        <p:spPr>
          <a:xfrm>
            <a:off x="543154" y="398983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7" name="s117"/>
          <p:cNvSpPr txBox="1"/>
          <p:nvPr/>
        </p:nvSpPr>
        <p:spPr>
          <a:xfrm>
            <a:off x="6120994" y="1783080"/>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87171"/>
                </a:solidFill>
                <a:latin typeface="Segoe UI"/>
                <a:ea typeface="Segoe UI"/>
                <a:cs typeface="Segoe UI"/>
              </a:rPr>
              <a:t>FIRST ATTEMPT</a:t>
            </a:r>
            <a:endParaRPr lang="en-US" sz="1050" dirty="0"/>
          </a:p>
        </p:txBody>
      </p:sp>
      <p:sp>
        <p:nvSpPr>
          <p:cNvPr id="118" name="s118"/>
          <p:cNvSpPr/>
          <p:nvPr/>
        </p:nvSpPr>
        <p:spPr>
          <a:xfrm>
            <a:off x="6120994" y="2057400"/>
            <a:ext cx="5510174" cy="237744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9" name="s119"/>
          <p:cNvSpPr/>
          <p:nvPr/>
        </p:nvSpPr>
        <p:spPr>
          <a:xfrm>
            <a:off x="6285586" y="220370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0" name="s120"/>
          <p:cNvSpPr/>
          <p:nvPr/>
        </p:nvSpPr>
        <p:spPr>
          <a:xfrm>
            <a:off x="6468466" y="220370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1" name="s121"/>
          <p:cNvSpPr/>
          <p:nvPr/>
        </p:nvSpPr>
        <p:spPr>
          <a:xfrm>
            <a:off x="6651346" y="220370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2" name="s122"/>
          <p:cNvSpPr/>
          <p:nvPr/>
        </p:nvSpPr>
        <p:spPr>
          <a:xfrm>
            <a:off x="6898234" y="213055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PriceCalculatorTests.cs</a:t>
            </a:r>
            <a:endParaRPr lang="en-US" sz="950" dirty="0"/>
          </a:p>
        </p:txBody>
      </p:sp>
      <p:cxnSp>
        <p:nvCxnSpPr>
          <p:cNvPr id="123" name="ln123"/>
          <p:cNvCxnSpPr/>
          <p:nvPr/>
        </p:nvCxnSpPr>
        <p:spPr>
          <a:xfrm>
            <a:off x="6120994" y="2468880"/>
            <a:ext cx="5510174" cy="0"/>
          </a:xfrm>
          <a:prstGeom prst="line">
            <a:avLst/>
          </a:prstGeom>
          <a:ln w="9525">
            <a:solidFill>
              <a:srgbClr val="1E3A5F"/>
            </a:solidFill>
          </a:ln>
        </p:spPr>
      </p:cxnSp>
      <p:sp>
        <p:nvSpPr>
          <p:cNvPr id="124" name="s124"/>
          <p:cNvSpPr/>
          <p:nvPr/>
        </p:nvSpPr>
        <p:spPr>
          <a:xfrm>
            <a:off x="6120994" y="258775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[Theory]</a:t>
            </a:r>
            <a:endParaRPr lang="en-US" sz="1150" dirty="0"/>
          </a:p>
        </p:txBody>
      </p:sp>
      <p:sp>
        <p:nvSpPr>
          <p:cNvPr id="125" name="s125"/>
          <p:cNvSpPr/>
          <p:nvPr/>
        </p:nvSpPr>
        <p:spPr>
          <a:xfrm>
            <a:off x="6120994" y="276301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[InlineData(100m, 90m)]</a:t>
            </a:r>
            <a:endParaRPr lang="en-US" sz="1150" dirty="0"/>
          </a:p>
        </p:txBody>
      </p:sp>
      <p:sp>
        <p:nvSpPr>
          <p:cNvPr id="126" name="s126"/>
          <p:cNvSpPr/>
          <p:nvPr/>
        </p:nvSpPr>
        <p:spPr>
          <a:xfrm>
            <a:off x="6120994" y="293827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[InlineData(1000m, 950m)]</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capped at 50</a:t>
            </a:r>
            <a:endParaRPr lang="en-US" sz="1150" dirty="0"/>
          </a:p>
        </p:txBody>
      </p:sp>
      <p:sp>
        <p:nvSpPr>
          <p:cNvPr id="127" name="s127"/>
          <p:cNvSpPr/>
          <p:nvPr/>
        </p:nvSpPr>
        <p:spPr>
          <a:xfrm>
            <a:off x="6120994" y="311353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[InlineData(99.90m, 89.91m)]</a:t>
            </a:r>
            <a:endParaRPr lang="en-US" sz="1150" dirty="0"/>
          </a:p>
        </p:txBody>
      </p:sp>
      <p:sp>
        <p:nvSpPr>
          <p:cNvPr id="128" name="s128"/>
          <p:cNvSpPr/>
          <p:nvPr/>
        </p:nvSpPr>
        <p:spPr>
          <a:xfrm>
            <a:off x="6120994" y="328879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void</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WithDiscount_TenPercentCappedAt50</a:t>
            </a:r>
            <a:r>
              <a:rPr lang="en-US" sz="1150" b="0" dirty="0">
                <a:solidFill>
                  <a:srgbClr val="E2E8F0"/>
                </a:solidFill>
                <a:latin typeface="Consolas"/>
                <a:ea typeface="Consolas"/>
                <a:cs typeface="Consolas"/>
              </a:rPr>
              <a:t>(</a:t>
            </a:r>
            <a:endParaRPr lang="en-US" sz="1150" dirty="0"/>
          </a:p>
        </p:txBody>
      </p:sp>
      <p:sp>
        <p:nvSpPr>
          <p:cNvPr id="129" name="s129"/>
          <p:cNvSpPr/>
          <p:nvPr/>
        </p:nvSpPr>
        <p:spPr>
          <a:xfrm>
            <a:off x="6120994" y="346405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decimal</a:t>
            </a:r>
            <a:r>
              <a:rPr lang="en-US" sz="1150" b="0" dirty="0">
                <a:solidFill>
                  <a:srgbClr val="E2E8F0"/>
                </a:solidFill>
                <a:latin typeface="Consolas"/>
                <a:ea typeface="Consolas"/>
                <a:cs typeface="Consolas"/>
              </a:rPr>
              <a:t> price, </a:t>
            </a:r>
            <a:r>
              <a:rPr lang="en-US" sz="1150" b="0" dirty="0">
                <a:solidFill>
                  <a:srgbClr val="60A5FA"/>
                </a:solidFill>
                <a:latin typeface="Consolas"/>
                <a:ea typeface="Consolas"/>
                <a:cs typeface="Consolas"/>
              </a:rPr>
              <a:t>decimal</a:t>
            </a:r>
            <a:r>
              <a:rPr lang="en-US" sz="1150" b="0" dirty="0">
                <a:solidFill>
                  <a:srgbClr val="E2E8F0"/>
                </a:solidFill>
                <a:latin typeface="Consolas"/>
                <a:ea typeface="Consolas"/>
                <a:cs typeface="Consolas"/>
              </a:rPr>
              <a:t> expected) { ... }</a:t>
            </a:r>
            <a:endParaRPr lang="en-US" sz="1150" dirty="0"/>
          </a:p>
        </p:txBody>
      </p:sp>
      <p:sp>
        <p:nvSpPr>
          <p:cNvPr id="130" name="s130"/>
          <p:cNvSpPr/>
          <p:nvPr/>
        </p:nvSpPr>
        <p:spPr>
          <a:xfrm>
            <a:off x="543154" y="4617720"/>
            <a:ext cx="11088014" cy="100584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31" name="s131"/>
          <p:cNvSpPr/>
          <p:nvPr/>
        </p:nvSpPr>
        <p:spPr>
          <a:xfrm>
            <a:off x="707746" y="476402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32" name="s132"/>
          <p:cNvSpPr/>
          <p:nvPr/>
        </p:nvSpPr>
        <p:spPr>
          <a:xfrm>
            <a:off x="890626" y="476402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33" name="s133"/>
          <p:cNvSpPr/>
          <p:nvPr/>
        </p:nvSpPr>
        <p:spPr>
          <a:xfrm>
            <a:off x="1073506" y="476402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34" name="s134"/>
          <p:cNvSpPr/>
          <p:nvPr/>
        </p:nvSpPr>
        <p:spPr>
          <a:xfrm>
            <a:off x="1320394" y="4690872"/>
            <a:ext cx="1175918"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Build output</a:t>
            </a:r>
            <a:endParaRPr lang="en-US" sz="950" dirty="0"/>
          </a:p>
        </p:txBody>
      </p:sp>
      <p:cxnSp>
        <p:nvCxnSpPr>
          <p:cNvPr id="135" name="ln135"/>
          <p:cNvCxnSpPr/>
          <p:nvPr/>
        </p:nvCxnSpPr>
        <p:spPr>
          <a:xfrm>
            <a:off x="543154" y="5029200"/>
            <a:ext cx="11088014" cy="0"/>
          </a:xfrm>
          <a:prstGeom prst="line">
            <a:avLst/>
          </a:prstGeom>
          <a:ln w="9525">
            <a:solidFill>
              <a:srgbClr val="1E3A5F"/>
            </a:solidFill>
          </a:ln>
        </p:spPr>
      </p:cxnSp>
      <p:sp>
        <p:nvSpPr>
          <p:cNvPr id="136" name="s136"/>
          <p:cNvSpPr/>
          <p:nvPr/>
        </p:nvSpPr>
        <p:spPr>
          <a:xfrm>
            <a:off x="543154" y="5148072"/>
            <a:ext cx="1108801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87171"/>
                </a:solidFill>
                <a:latin typeface="Consolas"/>
                <a:ea typeface="Consolas"/>
                <a:cs typeface="Consolas"/>
              </a:rPr>
              <a:t>error CS0182: An attribute argument must be a constant expression, typeof expression</a:t>
            </a:r>
            <a:endParaRPr lang="en-US" sz="1150" dirty="0"/>
          </a:p>
        </p:txBody>
      </p:sp>
      <p:sp>
        <p:nvSpPr>
          <p:cNvPr id="137" name="s137"/>
          <p:cNvSpPr/>
          <p:nvPr/>
        </p:nvSpPr>
        <p:spPr>
          <a:xfrm>
            <a:off x="543154" y="5323332"/>
            <a:ext cx="1108801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or array creation expression of an attribute parameter type</a:t>
            </a:r>
            <a:endParaRPr lang="en-US" sz="1150" dirty="0"/>
          </a:p>
        </p:txBody>
      </p:sp>
      <p:sp>
        <p:nvSpPr>
          <p:cNvPr id="138" name="s138"/>
          <p:cNvSpPr/>
          <p:nvPr/>
        </p:nvSpPr>
        <p:spPr>
          <a:xfrm>
            <a:off x="6230722" y="2735580"/>
            <a:ext cx="5290718" cy="58064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anim calcmode="lin" valueType="num">
                                      <p:cBhvr additive="base">
                                        <p:cTn id="12" dur="500" decel="100000" fill="hold"/>
                                        <p:tgtEl>
                                          <p:spTgt spid="103"/>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18"/>
                                        </p:tgtEl>
                                        <p:attrNameLst>
                                          <p:attrName>style.visibility</p:attrName>
                                        </p:attrNameLst>
                                      </p:cBhvr>
                                      <p:to>
                                        <p:strVal val="visible"/>
                                      </p:to>
                                    </p:set>
                                    <p:animEffect transition="in" filter="fade">
                                      <p:cBhvr>
                                        <p:cTn id="69" dur="500"/>
                                        <p:tgtEl>
                                          <p:spTgt spid="118"/>
                                        </p:tgtEl>
                                      </p:cBhvr>
                                    </p:animEffect>
                                    <p:anim calcmode="lin" valueType="num">
                                      <p:cBhvr additive="base">
                                        <p:cTn id="70" dur="500" decel="100000" fill="hold"/>
                                        <p:tgtEl>
                                          <p:spTgt spid="118"/>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119"/>
                                        </p:tgtEl>
                                        <p:attrNameLst>
                                          <p:attrName>style.visibility</p:attrName>
                                        </p:attrNameLst>
                                      </p:cBhvr>
                                      <p:to>
                                        <p:strVal val="visible"/>
                                      </p:to>
                                    </p:set>
                                    <p:animEffect transition="in" filter="fade">
                                      <p:cBhvr>
                                        <p:cTn id="73" dur="500"/>
                                        <p:tgtEl>
                                          <p:spTgt spid="119"/>
                                        </p:tgtEl>
                                      </p:cBhvr>
                                    </p:animEffect>
                                    <p:anim calcmode="lin" valueType="num">
                                      <p:cBhvr additive="base">
                                        <p:cTn id="74" dur="500" decel="100000" fill="hold"/>
                                        <p:tgtEl>
                                          <p:spTgt spid="119"/>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120"/>
                                        </p:tgtEl>
                                        <p:attrNameLst>
                                          <p:attrName>style.visibility</p:attrName>
                                        </p:attrNameLst>
                                      </p:cBhvr>
                                      <p:to>
                                        <p:strVal val="visible"/>
                                      </p:to>
                                    </p:set>
                                    <p:animEffect transition="in" filter="fade">
                                      <p:cBhvr>
                                        <p:cTn id="77" dur="500"/>
                                        <p:tgtEl>
                                          <p:spTgt spid="120"/>
                                        </p:tgtEl>
                                      </p:cBhvr>
                                    </p:animEffect>
                                    <p:anim calcmode="lin" valueType="num">
                                      <p:cBhvr additive="base">
                                        <p:cTn id="78" dur="500" decel="100000" fill="hold"/>
                                        <p:tgtEl>
                                          <p:spTgt spid="120"/>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21"/>
                                        </p:tgtEl>
                                        <p:attrNameLst>
                                          <p:attrName>style.visibility</p:attrName>
                                        </p:attrNameLst>
                                      </p:cBhvr>
                                      <p:to>
                                        <p:strVal val="visible"/>
                                      </p:to>
                                    </p:set>
                                    <p:animEffect transition="in" filter="fade">
                                      <p:cBhvr>
                                        <p:cTn id="81" dur="500"/>
                                        <p:tgtEl>
                                          <p:spTgt spid="121"/>
                                        </p:tgtEl>
                                      </p:cBhvr>
                                    </p:animEffect>
                                    <p:anim calcmode="lin" valueType="num">
                                      <p:cBhvr additive="base">
                                        <p:cTn id="82" dur="500" decel="100000" fill="hold"/>
                                        <p:tgtEl>
                                          <p:spTgt spid="121"/>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22"/>
                                        </p:tgtEl>
                                        <p:attrNameLst>
                                          <p:attrName>style.visibility</p:attrName>
                                        </p:attrNameLst>
                                      </p:cBhvr>
                                      <p:to>
                                        <p:strVal val="visible"/>
                                      </p:to>
                                    </p:set>
                                    <p:animEffect transition="in" filter="fade">
                                      <p:cBhvr>
                                        <p:cTn id="85" dur="500"/>
                                        <p:tgtEl>
                                          <p:spTgt spid="122"/>
                                        </p:tgtEl>
                                      </p:cBhvr>
                                    </p:animEffect>
                                    <p:anim calcmode="lin" valueType="num">
                                      <p:cBhvr additive="base">
                                        <p:cTn id="86" dur="500" decel="100000" fill="hold"/>
                                        <p:tgtEl>
                                          <p:spTgt spid="122"/>
                                        </p:tgtEl>
                                        <p:attrNameLst>
                                          <p:attrName>ppt_y</p:attrName>
                                        </p:attrNameLst>
                                      </p:cBhvr>
                                      <p:tavLst>
                                        <p:tav tm="0">
                                          <p:val>
                                            <p:strVal val="#ppt_y+0.06"/>
                                          </p:val>
                                        </p:tav>
                                        <p:tav tm="100000">
                                          <p:val>
                                            <p:strVal val="#ppt_y"/>
                                          </p:val>
                                        </p:tav>
                                      </p:tavLst>
                                    </p:anim>
                                  </p:childTnLst>
                                </p:cTn>
                              </p:par>
                              <p:par>
                                <p:cTn id="87" presetID="42" presetClass="entr" presetSubtype="0" fill="hold" nodeType="withEffect">
                                  <p:stCondLst>
                                    <p:cond delay="0"/>
                                  </p:stCondLst>
                                  <p:childTnLst>
                                    <p:set>
                                      <p:cBhvr>
                                        <p:cTn id="88" dur="1" fill="hold">
                                          <p:stCondLst>
                                            <p:cond delay="0"/>
                                          </p:stCondLst>
                                        </p:cTn>
                                        <p:tgtEl>
                                          <p:spTgt spid="123"/>
                                        </p:tgtEl>
                                        <p:attrNameLst>
                                          <p:attrName>style.visibility</p:attrName>
                                        </p:attrNameLst>
                                      </p:cBhvr>
                                      <p:to>
                                        <p:strVal val="visible"/>
                                      </p:to>
                                    </p:set>
                                    <p:animEffect transition="in" filter="fade">
                                      <p:cBhvr>
                                        <p:cTn id="89" dur="500"/>
                                        <p:tgtEl>
                                          <p:spTgt spid="123"/>
                                        </p:tgtEl>
                                      </p:cBhvr>
                                    </p:animEffect>
                                    <p:anim calcmode="lin" valueType="num">
                                      <p:cBhvr additive="base">
                                        <p:cTn id="90" dur="500" decel="100000" fill="hold"/>
                                        <p:tgtEl>
                                          <p:spTgt spid="123"/>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4"/>
                                        </p:tgtEl>
                                        <p:attrNameLst>
                                          <p:attrName>style.visibility</p:attrName>
                                        </p:attrNameLst>
                                      </p:cBhvr>
                                      <p:to>
                                        <p:strVal val="visible"/>
                                      </p:to>
                                    </p:set>
                                    <p:animEffect transition="in" filter="fade">
                                      <p:cBhvr>
                                        <p:cTn id="93" dur="500"/>
                                        <p:tgtEl>
                                          <p:spTgt spid="124"/>
                                        </p:tgtEl>
                                      </p:cBhvr>
                                    </p:animEffect>
                                    <p:anim calcmode="lin" valueType="num">
                                      <p:cBhvr additive="base">
                                        <p:cTn id="94" dur="500" decel="100000" fill="hold"/>
                                        <p:tgtEl>
                                          <p:spTgt spid="124"/>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5"/>
                                        </p:tgtEl>
                                        <p:attrNameLst>
                                          <p:attrName>style.visibility</p:attrName>
                                        </p:attrNameLst>
                                      </p:cBhvr>
                                      <p:to>
                                        <p:strVal val="visible"/>
                                      </p:to>
                                    </p:set>
                                    <p:animEffect transition="in" filter="fade">
                                      <p:cBhvr>
                                        <p:cTn id="97" dur="500"/>
                                        <p:tgtEl>
                                          <p:spTgt spid="125"/>
                                        </p:tgtEl>
                                      </p:cBhvr>
                                    </p:animEffect>
                                    <p:anim calcmode="lin" valueType="num">
                                      <p:cBhvr additive="base">
                                        <p:cTn id="98" dur="500" decel="100000" fill="hold"/>
                                        <p:tgtEl>
                                          <p:spTgt spid="125"/>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6"/>
                                        </p:tgtEl>
                                        <p:attrNameLst>
                                          <p:attrName>style.visibility</p:attrName>
                                        </p:attrNameLst>
                                      </p:cBhvr>
                                      <p:to>
                                        <p:strVal val="visible"/>
                                      </p:to>
                                    </p:set>
                                    <p:animEffect transition="in" filter="fade">
                                      <p:cBhvr>
                                        <p:cTn id="101" dur="500"/>
                                        <p:tgtEl>
                                          <p:spTgt spid="126"/>
                                        </p:tgtEl>
                                      </p:cBhvr>
                                    </p:animEffect>
                                    <p:anim calcmode="lin" valueType="num">
                                      <p:cBhvr additive="base">
                                        <p:cTn id="102" dur="500" decel="100000" fill="hold"/>
                                        <p:tgtEl>
                                          <p:spTgt spid="126"/>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7"/>
                                        </p:tgtEl>
                                        <p:attrNameLst>
                                          <p:attrName>style.visibility</p:attrName>
                                        </p:attrNameLst>
                                      </p:cBhvr>
                                      <p:to>
                                        <p:strVal val="visible"/>
                                      </p:to>
                                    </p:set>
                                    <p:animEffect transition="in" filter="fade">
                                      <p:cBhvr>
                                        <p:cTn id="105" dur="500"/>
                                        <p:tgtEl>
                                          <p:spTgt spid="127"/>
                                        </p:tgtEl>
                                      </p:cBhvr>
                                    </p:animEffect>
                                    <p:anim calcmode="lin" valueType="num">
                                      <p:cBhvr additive="base">
                                        <p:cTn id="106" dur="500" decel="100000" fill="hold"/>
                                        <p:tgtEl>
                                          <p:spTgt spid="127"/>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8"/>
                                        </p:tgtEl>
                                        <p:attrNameLst>
                                          <p:attrName>style.visibility</p:attrName>
                                        </p:attrNameLst>
                                      </p:cBhvr>
                                      <p:to>
                                        <p:strVal val="visible"/>
                                      </p:to>
                                    </p:set>
                                    <p:animEffect transition="in" filter="fade">
                                      <p:cBhvr>
                                        <p:cTn id="109" dur="500"/>
                                        <p:tgtEl>
                                          <p:spTgt spid="128"/>
                                        </p:tgtEl>
                                      </p:cBhvr>
                                    </p:animEffect>
                                    <p:anim calcmode="lin" valueType="num">
                                      <p:cBhvr additive="base">
                                        <p:cTn id="110" dur="500" decel="100000" fill="hold"/>
                                        <p:tgtEl>
                                          <p:spTgt spid="128"/>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9"/>
                                        </p:tgtEl>
                                        <p:attrNameLst>
                                          <p:attrName>style.visibility</p:attrName>
                                        </p:attrNameLst>
                                      </p:cBhvr>
                                      <p:to>
                                        <p:strVal val="visible"/>
                                      </p:to>
                                    </p:set>
                                    <p:animEffect transition="in" filter="fade">
                                      <p:cBhvr>
                                        <p:cTn id="113" dur="500"/>
                                        <p:tgtEl>
                                          <p:spTgt spid="129"/>
                                        </p:tgtEl>
                                      </p:cBhvr>
                                    </p:animEffect>
                                    <p:anim calcmode="lin" valueType="num">
                                      <p:cBhvr additive="base">
                                        <p:cTn id="114" dur="500" decel="100000" fill="hold"/>
                                        <p:tgtEl>
                                          <p:spTgt spid="129"/>
                                        </p:tgtEl>
                                        <p:attrNameLst>
                                          <p:attrName>ppt_y</p:attrName>
                                        </p:attrNameLst>
                                      </p:cBhvr>
                                      <p:tavLst>
                                        <p:tav tm="0">
                                          <p:val>
                                            <p:strVal val="#ppt_y+0.06"/>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53" presetClass="entr" presetSubtype="16" fill="hold" grpId="0" nodeType="clickEffect">
                                  <p:stCondLst>
                                    <p:cond delay="0"/>
                                  </p:stCondLst>
                                  <p:childTnLst>
                                    <p:set>
                                      <p:cBhvr>
                                        <p:cTn id="118" dur="1" fill="hold">
                                          <p:stCondLst>
                                            <p:cond delay="0"/>
                                          </p:stCondLst>
                                        </p:cTn>
                                        <p:tgtEl>
                                          <p:spTgt spid="138"/>
                                        </p:tgtEl>
                                        <p:attrNameLst>
                                          <p:attrName>style.visibility</p:attrName>
                                        </p:attrNameLst>
                                      </p:cBhvr>
                                      <p:to>
                                        <p:strVal val="visible"/>
                                      </p:to>
                                    </p:set>
                                    <p:anim calcmode="lin" valueType="num">
                                      <p:cBhvr additive="base">
                                        <p:cTn id="119" dur="500" decel="100000" fill="hold"/>
                                        <p:tgtEl>
                                          <p:spTgt spid="138"/>
                                        </p:tgtEl>
                                        <p:attrNameLst>
                                          <p:attrName>ppt_w</p:attrName>
                                        </p:attrNameLst>
                                      </p:cBhvr>
                                      <p:tavLst>
                                        <p:tav tm="0">
                                          <p:val>
                                            <p:strVal val="#ppt_w*0.3"/>
                                          </p:val>
                                        </p:tav>
                                        <p:tav tm="100000">
                                          <p:val>
                                            <p:strVal val="#ppt_w*1.08"/>
                                          </p:val>
                                        </p:tav>
                                      </p:tavLst>
                                    </p:anim>
                                    <p:anim calcmode="lin" valueType="num">
                                      <p:cBhvr additive="base">
                                        <p:cTn id="120" dur="500" decel="100000" fill="hold"/>
                                        <p:tgtEl>
                                          <p:spTgt spid="138"/>
                                        </p:tgtEl>
                                        <p:attrNameLst>
                                          <p:attrName>ppt_h</p:attrName>
                                        </p:attrNameLst>
                                      </p:cBhvr>
                                      <p:tavLst>
                                        <p:tav tm="0">
                                          <p:val>
                                            <p:strVal val="#ppt_h*0.3"/>
                                          </p:val>
                                        </p:tav>
                                        <p:tav tm="100000">
                                          <p:val>
                                            <p:strVal val="#ppt_h*1.08"/>
                                          </p:val>
                                        </p:tav>
                                      </p:tavLst>
                                    </p:anim>
                                    <p:animEffect transition="in" filter="fade">
                                      <p:cBhvr>
                                        <p:cTn id="121" dur="250"/>
                                        <p:tgtEl>
                                          <p:spTgt spid="138"/>
                                        </p:tgtEl>
                                      </p:cBhvr>
                                    </p:animEffect>
                                    <p:anim calcmode="lin" valueType="num">
                                      <p:cBhvr additive="base">
                                        <p:cTn id="122" dur="160" fill="hold">
                                          <p:stCondLst>
                                            <p:cond delay="500"/>
                                          </p:stCondLst>
                                        </p:cTn>
                                        <p:tgtEl>
                                          <p:spTgt spid="138"/>
                                        </p:tgtEl>
                                        <p:attrNameLst>
                                          <p:attrName>ppt_w</p:attrName>
                                        </p:attrNameLst>
                                      </p:cBhvr>
                                      <p:tavLst>
                                        <p:tav tm="0">
                                          <p:val>
                                            <p:strVal val="#ppt_w*1.08"/>
                                          </p:val>
                                        </p:tav>
                                        <p:tav tm="100000">
                                          <p:val>
                                            <p:strVal val="#ppt_w"/>
                                          </p:val>
                                        </p:tav>
                                      </p:tavLst>
                                    </p:anim>
                                    <p:anim calcmode="lin" valueType="num">
                                      <p:cBhvr additive="base">
                                        <p:cTn id="123" dur="160" fill="hold">
                                          <p:stCondLst>
                                            <p:cond delay="500"/>
                                          </p:stCondLst>
                                        </p:cTn>
                                        <p:tgtEl>
                                          <p:spTgt spid="138"/>
                                        </p:tgtEl>
                                        <p:attrNameLst>
                                          <p:attrName>ppt_h</p:attrName>
                                        </p:attrNameLst>
                                      </p:cBhvr>
                                      <p:tavLst>
                                        <p:tav tm="0">
                                          <p:val>
                                            <p:strVal val="#ppt_h*1.08"/>
                                          </p:val>
                                        </p:tav>
                                        <p:tav tm="100000">
                                          <p:val>
                                            <p:strVal val="#ppt_h"/>
                                          </p:val>
                                        </p:tav>
                                      </p:tavLst>
                                    </p:anim>
                                  </p:childTnLst>
                                </p:cTn>
                              </p:par>
                              <p:par>
                                <p:cTn id="124" presetID="42" presetClass="entr" presetSubtype="0" fill="hold" grpId="0" nodeType="withEffect">
                                  <p:stCondLst>
                                    <p:cond delay="200"/>
                                  </p:stCondLst>
                                  <p:childTnLst>
                                    <p:set>
                                      <p:cBhvr>
                                        <p:cTn id="125" dur="1" fill="hold">
                                          <p:stCondLst>
                                            <p:cond delay="0"/>
                                          </p:stCondLst>
                                        </p:cTn>
                                        <p:tgtEl>
                                          <p:spTgt spid="130"/>
                                        </p:tgtEl>
                                        <p:attrNameLst>
                                          <p:attrName>style.visibility</p:attrName>
                                        </p:attrNameLst>
                                      </p:cBhvr>
                                      <p:to>
                                        <p:strVal val="visible"/>
                                      </p:to>
                                    </p:set>
                                    <p:animEffect transition="in" filter="fade">
                                      <p:cBhvr>
                                        <p:cTn id="126" dur="500"/>
                                        <p:tgtEl>
                                          <p:spTgt spid="130"/>
                                        </p:tgtEl>
                                      </p:cBhvr>
                                    </p:animEffect>
                                    <p:anim calcmode="lin" valueType="num">
                                      <p:cBhvr additive="base">
                                        <p:cTn id="127" dur="500" decel="100000" fill="hold"/>
                                        <p:tgtEl>
                                          <p:spTgt spid="130"/>
                                        </p:tgtEl>
                                        <p:attrNameLst>
                                          <p:attrName>ppt_y</p:attrName>
                                        </p:attrNameLst>
                                      </p:cBhvr>
                                      <p:tavLst>
                                        <p:tav tm="0">
                                          <p:val>
                                            <p:strVal val="#ppt_y+0.06"/>
                                          </p:val>
                                        </p:tav>
                                        <p:tav tm="100000">
                                          <p:val>
                                            <p:strVal val="#ppt_y"/>
                                          </p:val>
                                        </p:tav>
                                      </p:tavLst>
                                    </p:anim>
                                  </p:childTnLst>
                                </p:cTn>
                              </p:par>
                              <p:par>
                                <p:cTn id="128" presetID="42" presetClass="entr" presetSubtype="0" fill="hold" grpId="0" nodeType="withEffect">
                                  <p:stCondLst>
                                    <p:cond delay="200"/>
                                  </p:stCondLst>
                                  <p:childTnLst>
                                    <p:set>
                                      <p:cBhvr>
                                        <p:cTn id="129" dur="1" fill="hold">
                                          <p:stCondLst>
                                            <p:cond delay="0"/>
                                          </p:stCondLst>
                                        </p:cTn>
                                        <p:tgtEl>
                                          <p:spTgt spid="131"/>
                                        </p:tgtEl>
                                        <p:attrNameLst>
                                          <p:attrName>style.visibility</p:attrName>
                                        </p:attrNameLst>
                                      </p:cBhvr>
                                      <p:to>
                                        <p:strVal val="visible"/>
                                      </p:to>
                                    </p:set>
                                    <p:animEffect transition="in" filter="fade">
                                      <p:cBhvr>
                                        <p:cTn id="130" dur="500"/>
                                        <p:tgtEl>
                                          <p:spTgt spid="131"/>
                                        </p:tgtEl>
                                      </p:cBhvr>
                                    </p:animEffect>
                                    <p:anim calcmode="lin" valueType="num">
                                      <p:cBhvr additive="base">
                                        <p:cTn id="131" dur="500" decel="100000" fill="hold"/>
                                        <p:tgtEl>
                                          <p:spTgt spid="131"/>
                                        </p:tgtEl>
                                        <p:attrNameLst>
                                          <p:attrName>ppt_y</p:attrName>
                                        </p:attrNameLst>
                                      </p:cBhvr>
                                      <p:tavLst>
                                        <p:tav tm="0">
                                          <p:val>
                                            <p:strVal val="#ppt_y+0.06"/>
                                          </p:val>
                                        </p:tav>
                                        <p:tav tm="100000">
                                          <p:val>
                                            <p:strVal val="#ppt_y"/>
                                          </p:val>
                                        </p:tav>
                                      </p:tavLst>
                                    </p:anim>
                                  </p:childTnLst>
                                </p:cTn>
                              </p:par>
                              <p:par>
                                <p:cTn id="132" presetID="42" presetClass="entr" presetSubtype="0" fill="hold" grpId="0" nodeType="withEffect">
                                  <p:stCondLst>
                                    <p:cond delay="200"/>
                                  </p:stCondLst>
                                  <p:childTnLst>
                                    <p:set>
                                      <p:cBhvr>
                                        <p:cTn id="133" dur="1" fill="hold">
                                          <p:stCondLst>
                                            <p:cond delay="0"/>
                                          </p:stCondLst>
                                        </p:cTn>
                                        <p:tgtEl>
                                          <p:spTgt spid="132"/>
                                        </p:tgtEl>
                                        <p:attrNameLst>
                                          <p:attrName>style.visibility</p:attrName>
                                        </p:attrNameLst>
                                      </p:cBhvr>
                                      <p:to>
                                        <p:strVal val="visible"/>
                                      </p:to>
                                    </p:set>
                                    <p:animEffect transition="in" filter="fade">
                                      <p:cBhvr>
                                        <p:cTn id="134" dur="500"/>
                                        <p:tgtEl>
                                          <p:spTgt spid="132"/>
                                        </p:tgtEl>
                                      </p:cBhvr>
                                    </p:animEffect>
                                    <p:anim calcmode="lin" valueType="num">
                                      <p:cBhvr additive="base">
                                        <p:cTn id="135" dur="500" decel="100000" fill="hold"/>
                                        <p:tgtEl>
                                          <p:spTgt spid="132"/>
                                        </p:tgtEl>
                                        <p:attrNameLst>
                                          <p:attrName>ppt_y</p:attrName>
                                        </p:attrNameLst>
                                      </p:cBhvr>
                                      <p:tavLst>
                                        <p:tav tm="0">
                                          <p:val>
                                            <p:strVal val="#ppt_y+0.06"/>
                                          </p:val>
                                        </p:tav>
                                        <p:tav tm="100000">
                                          <p:val>
                                            <p:strVal val="#ppt_y"/>
                                          </p:val>
                                        </p:tav>
                                      </p:tavLst>
                                    </p:anim>
                                  </p:childTnLst>
                                </p:cTn>
                              </p:par>
                              <p:par>
                                <p:cTn id="136" presetID="42" presetClass="entr" presetSubtype="0" fill="hold" grpId="0" nodeType="withEffect">
                                  <p:stCondLst>
                                    <p:cond delay="200"/>
                                  </p:stCondLst>
                                  <p:childTnLst>
                                    <p:set>
                                      <p:cBhvr>
                                        <p:cTn id="137" dur="1" fill="hold">
                                          <p:stCondLst>
                                            <p:cond delay="0"/>
                                          </p:stCondLst>
                                        </p:cTn>
                                        <p:tgtEl>
                                          <p:spTgt spid="133"/>
                                        </p:tgtEl>
                                        <p:attrNameLst>
                                          <p:attrName>style.visibility</p:attrName>
                                        </p:attrNameLst>
                                      </p:cBhvr>
                                      <p:to>
                                        <p:strVal val="visible"/>
                                      </p:to>
                                    </p:set>
                                    <p:animEffect transition="in" filter="fade">
                                      <p:cBhvr>
                                        <p:cTn id="138" dur="500"/>
                                        <p:tgtEl>
                                          <p:spTgt spid="133"/>
                                        </p:tgtEl>
                                      </p:cBhvr>
                                    </p:animEffect>
                                    <p:anim calcmode="lin" valueType="num">
                                      <p:cBhvr additive="base">
                                        <p:cTn id="139" dur="500" decel="100000" fill="hold"/>
                                        <p:tgtEl>
                                          <p:spTgt spid="133"/>
                                        </p:tgtEl>
                                        <p:attrNameLst>
                                          <p:attrName>ppt_y</p:attrName>
                                        </p:attrNameLst>
                                      </p:cBhvr>
                                      <p:tavLst>
                                        <p:tav tm="0">
                                          <p:val>
                                            <p:strVal val="#ppt_y+0.06"/>
                                          </p:val>
                                        </p:tav>
                                        <p:tav tm="100000">
                                          <p:val>
                                            <p:strVal val="#ppt_y"/>
                                          </p:val>
                                        </p:tav>
                                      </p:tavLst>
                                    </p:anim>
                                  </p:childTnLst>
                                </p:cTn>
                              </p:par>
                              <p:par>
                                <p:cTn id="140" presetID="42" presetClass="entr" presetSubtype="0" fill="hold" grpId="0" nodeType="withEffect">
                                  <p:stCondLst>
                                    <p:cond delay="200"/>
                                  </p:stCondLst>
                                  <p:childTnLst>
                                    <p:set>
                                      <p:cBhvr>
                                        <p:cTn id="141" dur="1" fill="hold">
                                          <p:stCondLst>
                                            <p:cond delay="0"/>
                                          </p:stCondLst>
                                        </p:cTn>
                                        <p:tgtEl>
                                          <p:spTgt spid="134"/>
                                        </p:tgtEl>
                                        <p:attrNameLst>
                                          <p:attrName>style.visibility</p:attrName>
                                        </p:attrNameLst>
                                      </p:cBhvr>
                                      <p:to>
                                        <p:strVal val="visible"/>
                                      </p:to>
                                    </p:set>
                                    <p:animEffect transition="in" filter="fade">
                                      <p:cBhvr>
                                        <p:cTn id="142" dur="500"/>
                                        <p:tgtEl>
                                          <p:spTgt spid="134"/>
                                        </p:tgtEl>
                                      </p:cBhvr>
                                    </p:animEffect>
                                    <p:anim calcmode="lin" valueType="num">
                                      <p:cBhvr additive="base">
                                        <p:cTn id="143" dur="500" decel="100000" fill="hold"/>
                                        <p:tgtEl>
                                          <p:spTgt spid="134"/>
                                        </p:tgtEl>
                                        <p:attrNameLst>
                                          <p:attrName>ppt_y</p:attrName>
                                        </p:attrNameLst>
                                      </p:cBhvr>
                                      <p:tavLst>
                                        <p:tav tm="0">
                                          <p:val>
                                            <p:strVal val="#ppt_y+0.06"/>
                                          </p:val>
                                        </p:tav>
                                        <p:tav tm="100000">
                                          <p:val>
                                            <p:strVal val="#ppt_y"/>
                                          </p:val>
                                        </p:tav>
                                      </p:tavLst>
                                    </p:anim>
                                  </p:childTnLst>
                                </p:cTn>
                              </p:par>
                              <p:par>
                                <p:cTn id="144" presetID="42" presetClass="entr" presetSubtype="0" fill="hold" nodeType="withEffect">
                                  <p:stCondLst>
                                    <p:cond delay="200"/>
                                  </p:stCondLst>
                                  <p:childTnLst>
                                    <p:set>
                                      <p:cBhvr>
                                        <p:cTn id="145" dur="1" fill="hold">
                                          <p:stCondLst>
                                            <p:cond delay="0"/>
                                          </p:stCondLst>
                                        </p:cTn>
                                        <p:tgtEl>
                                          <p:spTgt spid="135"/>
                                        </p:tgtEl>
                                        <p:attrNameLst>
                                          <p:attrName>style.visibility</p:attrName>
                                        </p:attrNameLst>
                                      </p:cBhvr>
                                      <p:to>
                                        <p:strVal val="visible"/>
                                      </p:to>
                                    </p:set>
                                    <p:animEffect transition="in" filter="fade">
                                      <p:cBhvr>
                                        <p:cTn id="146" dur="500"/>
                                        <p:tgtEl>
                                          <p:spTgt spid="135"/>
                                        </p:tgtEl>
                                      </p:cBhvr>
                                    </p:animEffect>
                                    <p:anim calcmode="lin" valueType="num">
                                      <p:cBhvr additive="base">
                                        <p:cTn id="147" dur="500" decel="100000" fill="hold"/>
                                        <p:tgtEl>
                                          <p:spTgt spid="135"/>
                                        </p:tgtEl>
                                        <p:attrNameLst>
                                          <p:attrName>ppt_y</p:attrName>
                                        </p:attrNameLst>
                                      </p:cBhvr>
                                      <p:tavLst>
                                        <p:tav tm="0">
                                          <p:val>
                                            <p:strVal val="#ppt_y+0.06"/>
                                          </p:val>
                                        </p:tav>
                                        <p:tav tm="100000">
                                          <p:val>
                                            <p:strVal val="#ppt_y"/>
                                          </p:val>
                                        </p:tav>
                                      </p:tavLst>
                                    </p:anim>
                                  </p:childTnLst>
                                </p:cTn>
                              </p:par>
                              <p:par>
                                <p:cTn id="148" presetID="42" presetClass="entr" presetSubtype="0" fill="hold" grpId="0" nodeType="withEffect">
                                  <p:stCondLst>
                                    <p:cond delay="200"/>
                                  </p:stCondLst>
                                  <p:childTnLst>
                                    <p:set>
                                      <p:cBhvr>
                                        <p:cTn id="149" dur="1" fill="hold">
                                          <p:stCondLst>
                                            <p:cond delay="0"/>
                                          </p:stCondLst>
                                        </p:cTn>
                                        <p:tgtEl>
                                          <p:spTgt spid="136"/>
                                        </p:tgtEl>
                                        <p:attrNameLst>
                                          <p:attrName>style.visibility</p:attrName>
                                        </p:attrNameLst>
                                      </p:cBhvr>
                                      <p:to>
                                        <p:strVal val="visible"/>
                                      </p:to>
                                    </p:set>
                                    <p:animEffect transition="in" filter="fade">
                                      <p:cBhvr>
                                        <p:cTn id="150" dur="500"/>
                                        <p:tgtEl>
                                          <p:spTgt spid="136"/>
                                        </p:tgtEl>
                                      </p:cBhvr>
                                    </p:animEffect>
                                    <p:anim calcmode="lin" valueType="num">
                                      <p:cBhvr additive="base">
                                        <p:cTn id="151" dur="500" decel="100000" fill="hold"/>
                                        <p:tgtEl>
                                          <p:spTgt spid="136"/>
                                        </p:tgtEl>
                                        <p:attrNameLst>
                                          <p:attrName>ppt_y</p:attrName>
                                        </p:attrNameLst>
                                      </p:cBhvr>
                                      <p:tavLst>
                                        <p:tav tm="0">
                                          <p:val>
                                            <p:strVal val="#ppt_y+0.06"/>
                                          </p:val>
                                        </p:tav>
                                        <p:tav tm="100000">
                                          <p:val>
                                            <p:strVal val="#ppt_y"/>
                                          </p:val>
                                        </p:tav>
                                      </p:tavLst>
                                    </p:anim>
                                  </p:childTnLst>
                                </p:cTn>
                              </p:par>
                              <p:par>
                                <p:cTn id="152" presetID="42" presetClass="entr" presetSubtype="0" fill="hold" grpId="0" nodeType="withEffect">
                                  <p:stCondLst>
                                    <p:cond delay="200"/>
                                  </p:stCondLst>
                                  <p:childTnLst>
                                    <p:set>
                                      <p:cBhvr>
                                        <p:cTn id="153" dur="1" fill="hold">
                                          <p:stCondLst>
                                            <p:cond delay="0"/>
                                          </p:stCondLst>
                                        </p:cTn>
                                        <p:tgtEl>
                                          <p:spTgt spid="137"/>
                                        </p:tgtEl>
                                        <p:attrNameLst>
                                          <p:attrName>style.visibility</p:attrName>
                                        </p:attrNameLst>
                                      </p:cBhvr>
                                      <p:to>
                                        <p:strVal val="visible"/>
                                      </p:to>
                                    </p:set>
                                    <p:animEffect transition="in" filter="fade">
                                      <p:cBhvr>
                                        <p:cTn id="154" dur="500"/>
                                        <p:tgtEl>
                                          <p:spTgt spid="137"/>
                                        </p:tgtEl>
                                      </p:cBhvr>
                                    </p:animEffect>
                                    <p:anim calcmode="lin" valueType="num">
                                      <p:cBhvr additive="base">
                                        <p:cTn id="155" dur="500" decel="100000" fill="hold"/>
                                        <p:tgtEl>
                                          <p:spTgt spid="137"/>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8" grpId="0" animBg="1"/>
      <p:bldP spid="119" grpId="0" animBg="1"/>
      <p:bldP spid="120" grpId="0" animBg="1"/>
      <p:bldP spid="121" grpId="0" animBg="1"/>
      <p:bldP spid="122"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6" grpId="0" animBg="1"/>
      <p:bldP spid="137" grpId="0" animBg="1"/>
      <p:bldP spid="13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SOLUTION</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MemberData + TheoryData: Rows in Normal C#</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130</a:t>
            </a:r>
            <a:endParaRPr lang="en-US" sz="850" dirty="0"/>
          </a:p>
        </p:txBody>
      </p:sp>
      <p:sp>
        <p:nvSpPr>
          <p:cNvPr id="101" name="s101"/>
          <p:cNvSpPr/>
          <p:nvPr/>
        </p:nvSpPr>
        <p:spPr>
          <a:xfrm>
            <a:off x="543154" y="1783080"/>
            <a:ext cx="7589520" cy="38404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PriceCalculatorTests.cs</a:t>
            </a:r>
            <a:endParaRPr lang="en-US" sz="950" dirty="0"/>
          </a:p>
        </p:txBody>
      </p:sp>
      <p:cxnSp>
        <p:nvCxnSpPr>
          <p:cNvPr id="106" name="ln106"/>
          <p:cNvCxnSpPr/>
          <p:nvPr/>
        </p:nvCxnSpPr>
        <p:spPr>
          <a:xfrm>
            <a:off x="543154" y="2194560"/>
            <a:ext cx="7589520" cy="0"/>
          </a:xfrm>
          <a:prstGeom prst="line">
            <a:avLst/>
          </a:prstGeom>
          <a:ln w="9525">
            <a:solidFill>
              <a:srgbClr val="1E3A5F"/>
            </a:solidFill>
          </a:ln>
        </p:spPr>
      </p:cxnSp>
      <p:sp>
        <p:nvSpPr>
          <p:cNvPr id="107" name="s107"/>
          <p:cNvSpPr/>
          <p:nvPr/>
        </p:nvSpPr>
        <p:spPr>
          <a:xfrm>
            <a:off x="543154" y="231343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static</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TheoryData</a:t>
            </a:r>
            <a:r>
              <a:rPr lang="en-US" sz="1150" b="0" dirty="0">
                <a:solidFill>
                  <a:srgbClr val="E2E8F0"/>
                </a:solidFill>
                <a:latin typeface="Consolas"/>
                <a:ea typeface="Consolas"/>
                <a:cs typeface="Consolas"/>
              </a:rPr>
              <a:t>&lt;</a:t>
            </a:r>
            <a:r>
              <a:rPr lang="en-US" sz="1150" b="0" dirty="0">
                <a:solidFill>
                  <a:srgbClr val="60A5FA"/>
                </a:solidFill>
                <a:latin typeface="Consolas"/>
                <a:ea typeface="Consolas"/>
                <a:cs typeface="Consolas"/>
              </a:rPr>
              <a:t>decimal</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decimal</a:t>
            </a:r>
            <a:r>
              <a:rPr lang="en-US" sz="1150" b="0" dirty="0">
                <a:solidFill>
                  <a:srgbClr val="E2E8F0"/>
                </a:solidFill>
                <a:latin typeface="Consolas"/>
                <a:ea typeface="Consolas"/>
                <a:cs typeface="Consolas"/>
              </a:rPr>
              <a:t>&gt; </a:t>
            </a:r>
            <a:r>
              <a:rPr lang="en-US" sz="1150" b="0" dirty="0">
                <a:solidFill>
                  <a:srgbClr val="7DD3FC"/>
                </a:solidFill>
                <a:latin typeface="Consolas"/>
                <a:ea typeface="Consolas"/>
                <a:cs typeface="Consolas"/>
              </a:rPr>
              <a:t>Prices</a:t>
            </a:r>
            <a:r>
              <a:rPr lang="en-US" sz="1150" b="0" dirty="0">
                <a:solidFill>
                  <a:srgbClr val="E2E8F0"/>
                </a:solidFill>
                <a:latin typeface="Consolas"/>
                <a:ea typeface="Consolas"/>
                <a:cs typeface="Consolas"/>
              </a:rPr>
              <a:t> =&gt; </a:t>
            </a:r>
            <a:r>
              <a:rPr lang="en-US" sz="1150" b="0" dirty="0">
                <a:solidFill>
                  <a:srgbClr val="60A5FA"/>
                </a:solidFill>
                <a:latin typeface="Consolas"/>
                <a:ea typeface="Consolas"/>
                <a:cs typeface="Consolas"/>
              </a:rPr>
              <a:t>new</a:t>
            </a:r>
            <a:r>
              <a:rPr lang="en-US" sz="1150" b="0" dirty="0">
                <a:solidFill>
                  <a:srgbClr val="E2E8F0"/>
                </a:solidFill>
                <a:latin typeface="Consolas"/>
                <a:ea typeface="Consolas"/>
                <a:cs typeface="Consolas"/>
              </a:rPr>
              <a:t>()</a:t>
            </a:r>
            <a:endParaRPr lang="en-US" sz="1150" dirty="0"/>
          </a:p>
        </p:txBody>
      </p:sp>
      <p:sp>
        <p:nvSpPr>
          <p:cNvPr id="108" name="s108"/>
          <p:cNvSpPr/>
          <p:nvPr/>
        </p:nvSpPr>
        <p:spPr>
          <a:xfrm>
            <a:off x="543154" y="248869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09" name="s109"/>
          <p:cNvSpPr/>
          <p:nvPr/>
        </p:nvSpPr>
        <p:spPr>
          <a:xfrm>
            <a:off x="543154" y="266395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 </a:t>
            </a:r>
            <a:r>
              <a:rPr lang="en-US" sz="1150" b="0" dirty="0">
                <a:solidFill>
                  <a:srgbClr val="C4B5FD"/>
                </a:solidFill>
                <a:latin typeface="Consolas"/>
                <a:ea typeface="Consolas"/>
                <a:cs typeface="Consolas"/>
              </a:rPr>
              <a:t>100m</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90m</a:t>
            </a:r>
            <a:r>
              <a:rPr lang="en-US" sz="1150" b="0" dirty="0">
                <a:solidFill>
                  <a:srgbClr val="E2E8F0"/>
                </a:solidFill>
                <a:latin typeface="Consolas"/>
                <a:ea typeface="Consolas"/>
                <a:cs typeface="Consolas"/>
              </a:rPr>
              <a:t> },</a:t>
            </a:r>
            <a:endParaRPr lang="en-US" sz="1150" dirty="0"/>
          </a:p>
        </p:txBody>
      </p:sp>
      <p:sp>
        <p:nvSpPr>
          <p:cNvPr id="110" name="s110"/>
          <p:cNvSpPr/>
          <p:nvPr/>
        </p:nvSpPr>
        <p:spPr>
          <a:xfrm>
            <a:off x="543154" y="283921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 </a:t>
            </a:r>
            <a:r>
              <a:rPr lang="en-US" sz="1150" b="0" dirty="0">
                <a:solidFill>
                  <a:srgbClr val="C4B5FD"/>
                </a:solidFill>
                <a:latin typeface="Consolas"/>
                <a:ea typeface="Consolas"/>
                <a:cs typeface="Consolas"/>
              </a:rPr>
              <a:t>200m</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180m</a:t>
            </a:r>
            <a:r>
              <a:rPr lang="en-US" sz="1150" b="0" dirty="0">
                <a:solidFill>
                  <a:srgbClr val="E2E8F0"/>
                </a:solidFill>
                <a:latin typeface="Consolas"/>
                <a:ea typeface="Consolas"/>
                <a:cs typeface="Consolas"/>
              </a:rPr>
              <a:t> },</a:t>
            </a:r>
            <a:endParaRPr lang="en-US" sz="1150" dirty="0"/>
          </a:p>
        </p:txBody>
      </p:sp>
      <p:sp>
        <p:nvSpPr>
          <p:cNvPr id="111" name="s111"/>
          <p:cNvSpPr/>
          <p:nvPr/>
        </p:nvSpPr>
        <p:spPr>
          <a:xfrm>
            <a:off x="543154" y="301447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 </a:t>
            </a:r>
            <a:r>
              <a:rPr lang="en-US" sz="1150" b="0" dirty="0">
                <a:solidFill>
                  <a:srgbClr val="C4B5FD"/>
                </a:solidFill>
                <a:latin typeface="Consolas"/>
                <a:ea typeface="Consolas"/>
                <a:cs typeface="Consolas"/>
              </a:rPr>
              <a:t>500m</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450m</a:t>
            </a:r>
            <a:r>
              <a:rPr lang="en-US" sz="1150" b="0" dirty="0">
                <a:solidFill>
                  <a:srgbClr val="E2E8F0"/>
                </a:solidFill>
                <a:latin typeface="Consolas"/>
                <a:ea typeface="Consolas"/>
                <a:cs typeface="Consolas"/>
              </a:rPr>
              <a:t> },     </a:t>
            </a:r>
            <a:r>
              <a:rPr lang="en-US" sz="1150" b="0" dirty="0">
                <a:solidFill>
                  <a:srgbClr val="6FAE7A"/>
                </a:solidFill>
                <a:latin typeface="Consolas"/>
                <a:ea typeface="Consolas"/>
                <a:cs typeface="Consolas"/>
              </a:rPr>
              <a:t>// 10% is exactly the 50 cap</a:t>
            </a:r>
            <a:endParaRPr lang="en-US" sz="1150" dirty="0"/>
          </a:p>
        </p:txBody>
      </p:sp>
      <p:sp>
        <p:nvSpPr>
          <p:cNvPr id="112" name="s112"/>
          <p:cNvSpPr/>
          <p:nvPr/>
        </p:nvSpPr>
        <p:spPr>
          <a:xfrm>
            <a:off x="543154" y="318973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 </a:t>
            </a:r>
            <a:r>
              <a:rPr lang="en-US" sz="1150" b="0" dirty="0">
                <a:solidFill>
                  <a:srgbClr val="C4B5FD"/>
                </a:solidFill>
                <a:latin typeface="Consolas"/>
                <a:ea typeface="Consolas"/>
                <a:cs typeface="Consolas"/>
              </a:rPr>
              <a:t>1000m</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950m</a:t>
            </a:r>
            <a:r>
              <a:rPr lang="en-US" sz="1150" b="0" dirty="0">
                <a:solidFill>
                  <a:srgbClr val="E2E8F0"/>
                </a:solidFill>
                <a:latin typeface="Consolas"/>
                <a:ea typeface="Consolas"/>
                <a:cs typeface="Consolas"/>
              </a:rPr>
              <a:t> },     </a:t>
            </a:r>
            <a:r>
              <a:rPr lang="en-US" sz="1150" b="0" dirty="0">
                <a:solidFill>
                  <a:srgbClr val="6FAE7A"/>
                </a:solidFill>
                <a:latin typeface="Consolas"/>
                <a:ea typeface="Consolas"/>
                <a:cs typeface="Consolas"/>
              </a:rPr>
              <a:t>// 10% would be 100: capped  ← the Friday bug</a:t>
            </a:r>
            <a:endParaRPr lang="en-US" sz="1150" dirty="0"/>
          </a:p>
        </p:txBody>
      </p:sp>
      <p:sp>
        <p:nvSpPr>
          <p:cNvPr id="113" name="s113"/>
          <p:cNvSpPr/>
          <p:nvPr/>
        </p:nvSpPr>
        <p:spPr>
          <a:xfrm>
            <a:off x="543154" y="336499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 </a:t>
            </a:r>
            <a:r>
              <a:rPr lang="en-US" sz="1150" b="0" dirty="0">
                <a:solidFill>
                  <a:srgbClr val="C4B5FD"/>
                </a:solidFill>
                <a:latin typeface="Consolas"/>
                <a:ea typeface="Consolas"/>
                <a:cs typeface="Consolas"/>
              </a:rPr>
              <a:t>99.90m</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89.91m</a:t>
            </a:r>
            <a:r>
              <a:rPr lang="en-US" sz="1150" b="0" dirty="0">
                <a:solidFill>
                  <a:srgbClr val="E2E8F0"/>
                </a:solidFill>
                <a:latin typeface="Consolas"/>
                <a:ea typeface="Consolas"/>
                <a:cs typeface="Consolas"/>
              </a:rPr>
              <a:t> },</a:t>
            </a:r>
            <a:endParaRPr lang="en-US" sz="1150" dirty="0"/>
          </a:p>
        </p:txBody>
      </p:sp>
      <p:sp>
        <p:nvSpPr>
          <p:cNvPr id="114" name="s114"/>
          <p:cNvSpPr/>
          <p:nvPr/>
        </p:nvSpPr>
        <p:spPr>
          <a:xfrm>
            <a:off x="543154" y="354025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5" name="s115"/>
          <p:cNvSpPr/>
          <p:nvPr/>
        </p:nvSpPr>
        <p:spPr>
          <a:xfrm>
            <a:off x="543154" y="389077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[Theory]</a:t>
            </a:r>
            <a:endParaRPr lang="en-US" sz="1150" dirty="0"/>
          </a:p>
        </p:txBody>
      </p:sp>
      <p:sp>
        <p:nvSpPr>
          <p:cNvPr id="116" name="s116"/>
          <p:cNvSpPr/>
          <p:nvPr/>
        </p:nvSpPr>
        <p:spPr>
          <a:xfrm>
            <a:off x="543154" y="406603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[MemberData(nameof(Prices))]</a:t>
            </a:r>
            <a:endParaRPr lang="en-US" sz="1150" dirty="0"/>
          </a:p>
        </p:txBody>
      </p:sp>
      <p:sp>
        <p:nvSpPr>
          <p:cNvPr id="117" name="s117"/>
          <p:cNvSpPr/>
          <p:nvPr/>
        </p:nvSpPr>
        <p:spPr>
          <a:xfrm>
            <a:off x="543154" y="424129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void</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WithDiscount_TenPercentCappedAt50</a:t>
            </a:r>
            <a:r>
              <a:rPr lang="en-US" sz="1150" b="0" dirty="0">
                <a:solidFill>
                  <a:srgbClr val="E2E8F0"/>
                </a:solidFill>
                <a:latin typeface="Consolas"/>
                <a:ea typeface="Consolas"/>
                <a:cs typeface="Consolas"/>
              </a:rPr>
              <a:t>(</a:t>
            </a:r>
            <a:r>
              <a:rPr lang="en-US" sz="1150" b="0" dirty="0">
                <a:solidFill>
                  <a:srgbClr val="60A5FA"/>
                </a:solidFill>
                <a:latin typeface="Consolas"/>
                <a:ea typeface="Consolas"/>
                <a:cs typeface="Consolas"/>
              </a:rPr>
              <a:t>decimal</a:t>
            </a:r>
            <a:r>
              <a:rPr lang="en-US" sz="1150" b="0" dirty="0">
                <a:solidFill>
                  <a:srgbClr val="E2E8F0"/>
                </a:solidFill>
                <a:latin typeface="Consolas"/>
                <a:ea typeface="Consolas"/>
                <a:cs typeface="Consolas"/>
              </a:rPr>
              <a:t> price, </a:t>
            </a:r>
            <a:r>
              <a:rPr lang="en-US" sz="1150" b="0" dirty="0">
                <a:solidFill>
                  <a:srgbClr val="60A5FA"/>
                </a:solidFill>
                <a:latin typeface="Consolas"/>
                <a:ea typeface="Consolas"/>
                <a:cs typeface="Consolas"/>
              </a:rPr>
              <a:t>decimal</a:t>
            </a:r>
            <a:r>
              <a:rPr lang="en-US" sz="1150" b="0" dirty="0">
                <a:solidFill>
                  <a:srgbClr val="E2E8F0"/>
                </a:solidFill>
                <a:latin typeface="Consolas"/>
                <a:ea typeface="Consolas"/>
                <a:cs typeface="Consolas"/>
              </a:rPr>
              <a:t> expected)</a:t>
            </a:r>
            <a:endParaRPr lang="en-US" sz="1150" dirty="0"/>
          </a:p>
        </p:txBody>
      </p:sp>
      <p:sp>
        <p:nvSpPr>
          <p:cNvPr id="118" name="s118"/>
          <p:cNvSpPr/>
          <p:nvPr/>
        </p:nvSpPr>
        <p:spPr>
          <a:xfrm>
            <a:off x="543154" y="441655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9" name="s119"/>
          <p:cNvSpPr/>
          <p:nvPr/>
        </p:nvSpPr>
        <p:spPr>
          <a:xfrm>
            <a:off x="543154" y="459181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Assert</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Equal</a:t>
            </a:r>
            <a:r>
              <a:rPr lang="en-US" sz="1150" b="0" dirty="0">
                <a:solidFill>
                  <a:srgbClr val="E2E8F0"/>
                </a:solidFill>
                <a:latin typeface="Consolas"/>
                <a:ea typeface="Consolas"/>
                <a:cs typeface="Consolas"/>
              </a:rPr>
              <a:t>(expected, </a:t>
            </a:r>
            <a:r>
              <a:rPr lang="en-US" sz="1150" b="0" dirty="0">
                <a:solidFill>
                  <a:srgbClr val="7DD3FC"/>
                </a:solidFill>
                <a:latin typeface="Consolas"/>
                <a:ea typeface="Consolas"/>
                <a:cs typeface="Consolas"/>
              </a:rPr>
              <a:t>PriceCalculator</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WithDiscount</a:t>
            </a:r>
            <a:r>
              <a:rPr lang="en-US" sz="1150" b="0" dirty="0">
                <a:solidFill>
                  <a:srgbClr val="E2E8F0"/>
                </a:solidFill>
                <a:latin typeface="Consolas"/>
                <a:ea typeface="Consolas"/>
                <a:cs typeface="Consolas"/>
              </a:rPr>
              <a:t>(price));</a:t>
            </a:r>
            <a:endParaRPr lang="en-US" sz="1150" dirty="0"/>
          </a:p>
        </p:txBody>
      </p:sp>
      <p:sp>
        <p:nvSpPr>
          <p:cNvPr id="120" name="s120"/>
          <p:cNvSpPr/>
          <p:nvPr/>
        </p:nvSpPr>
        <p:spPr>
          <a:xfrm>
            <a:off x="543154" y="4767072"/>
            <a:ext cx="758952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21" name="s121"/>
          <p:cNvSpPr/>
          <p:nvPr/>
        </p:nvSpPr>
        <p:spPr>
          <a:xfrm>
            <a:off x="8361274" y="1783080"/>
            <a:ext cx="3269894" cy="896112"/>
          </a:xfrm>
          <a:prstGeom prst="roundRect">
            <a:avLst>
              <a:gd name="adj" fmla="val 10000"/>
            </a:avLst>
          </a:prstGeom>
          <a:solidFill>
            <a:srgbClr val="FBBF24">
              <a:alpha val="8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BBF24"/>
                </a:solidFill>
                <a:latin typeface="Segoe UI"/>
                <a:ea typeface="Segoe UI"/>
                <a:cs typeface="Segoe UI"/>
              </a:rPr>
              <a:t>[InlineData]</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Constants only: int, string, bool, double.</a:t>
            </a:r>
            <a:endParaRPr lang="en-US" sz="1200" dirty="0"/>
          </a:p>
        </p:txBody>
      </p:sp>
      <p:sp>
        <p:nvSpPr>
          <p:cNvPr id="122" name="s122"/>
          <p:cNvSpPr/>
          <p:nvPr/>
        </p:nvSpPr>
        <p:spPr>
          <a:xfrm>
            <a:off x="8361274" y="2807208"/>
            <a:ext cx="3269894" cy="896112"/>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[MemberData]</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A static property: decimal, objects, dates.</a:t>
            </a:r>
            <a:endParaRPr lang="en-US" sz="1200" dirty="0"/>
          </a:p>
        </p:txBody>
      </p:sp>
      <p:sp>
        <p:nvSpPr>
          <p:cNvPr id="123" name="s123"/>
          <p:cNvSpPr/>
          <p:nvPr/>
        </p:nvSpPr>
        <p:spPr>
          <a:xfrm>
            <a:off x="8361274" y="3831336"/>
            <a:ext cx="3269894" cy="896112"/>
          </a:xfrm>
          <a:prstGeom prst="roundRect">
            <a:avLst>
              <a:gd name="adj" fmla="val 10000"/>
            </a:avLst>
          </a:prstGeom>
          <a:solidFill>
            <a:srgbClr val="13D0F7">
              <a:alpha val="8000"/>
            </a:srgbClr>
          </a:solidFill>
          <a:ln w="12700">
            <a:solidFill>
              <a:srgbClr val="13D0F7"/>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13D0F7"/>
                </a:solidFill>
                <a:latin typeface="Segoe UI"/>
                <a:ea typeface="Segoe UI"/>
                <a:cs typeface="Segoe UI"/>
              </a:rPr>
              <a:t>[ClassData]</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Rows in a separate class, reused by many tests.</a:t>
            </a:r>
            <a:endParaRPr lang="en-US" sz="1200" dirty="0"/>
          </a:p>
        </p:txBody>
      </p:sp>
      <p:sp>
        <p:nvSpPr>
          <p:cNvPr id="124" name="s124"/>
          <p:cNvSpPr/>
          <p:nvPr/>
        </p:nvSpPr>
        <p:spPr>
          <a:xfrm>
            <a:off x="8361274" y="4937760"/>
            <a:ext cx="3269894" cy="457200"/>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0F172A"/>
                </a:solidFill>
                <a:latin typeface="Segoe UI"/>
                <a:ea typeface="Segoe UI"/>
                <a:cs typeface="Segoe UI"/>
              </a:rPr>
              <a:t>✓ the Friday bug: caught</a:t>
            </a:r>
            <a:endParaRPr lang="en-US" sz="1200" dirty="0"/>
          </a:p>
        </p:txBody>
      </p:sp>
      <p:sp>
        <p:nvSpPr>
          <p:cNvPr id="125" name="s125"/>
          <p:cNvSpPr/>
          <p:nvPr/>
        </p:nvSpPr>
        <p:spPr>
          <a:xfrm>
            <a:off x="652882" y="2286000"/>
            <a:ext cx="7370064" cy="145694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26" name="s126"/>
          <p:cNvSpPr/>
          <p:nvPr/>
        </p:nvSpPr>
        <p:spPr>
          <a:xfrm>
            <a:off x="652882" y="3162300"/>
            <a:ext cx="7370064" cy="23012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27" name="s127"/>
          <p:cNvSpPr/>
          <p:nvPr/>
        </p:nvSpPr>
        <p:spPr>
          <a:xfrm>
            <a:off x="652882" y="4038600"/>
            <a:ext cx="7370064" cy="23012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0"/>
                                        </p:tgtEl>
                                        <p:attrNameLst>
                                          <p:attrName>style.visibility</p:attrName>
                                        </p:attrNameLst>
                                      </p:cBhvr>
                                      <p:to>
                                        <p:strVal val="visible"/>
                                      </p:to>
                                    </p:set>
                                    <p:animEffect transition="in" filter="fade">
                                      <p:cBhvr>
                                        <p:cTn id="83" dur="500"/>
                                        <p:tgtEl>
                                          <p:spTgt spid="120"/>
                                        </p:tgtEl>
                                      </p:cBhvr>
                                    </p:animEffect>
                                    <p:anim calcmode="lin" valueType="num">
                                      <p:cBhvr additive="base">
                                        <p:cTn id="84" dur="500" decel="100000" fill="hold"/>
                                        <p:tgtEl>
                                          <p:spTgt spid="120"/>
                                        </p:tgtEl>
                                        <p:attrNameLst>
                                          <p:attrName>ppt_y</p:attrName>
                                        </p:attrNameLst>
                                      </p:cBhvr>
                                      <p:tavLst>
                                        <p:tav tm="0">
                                          <p:val>
                                            <p:strVal val="#ppt_y+0.06"/>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53" presetClass="entr" presetSubtype="16" fill="hold" grpId="0" nodeType="clickEffect">
                                  <p:stCondLst>
                                    <p:cond delay="0"/>
                                  </p:stCondLst>
                                  <p:childTnLst>
                                    <p:set>
                                      <p:cBhvr>
                                        <p:cTn id="88" dur="1" fill="hold">
                                          <p:stCondLst>
                                            <p:cond delay="0"/>
                                          </p:stCondLst>
                                        </p:cTn>
                                        <p:tgtEl>
                                          <p:spTgt spid="125"/>
                                        </p:tgtEl>
                                        <p:attrNameLst>
                                          <p:attrName>style.visibility</p:attrName>
                                        </p:attrNameLst>
                                      </p:cBhvr>
                                      <p:to>
                                        <p:strVal val="visible"/>
                                      </p:to>
                                    </p:set>
                                    <p:anim calcmode="lin" valueType="num">
                                      <p:cBhvr additive="base">
                                        <p:cTn id="89" dur="500" decel="100000" fill="hold"/>
                                        <p:tgtEl>
                                          <p:spTgt spid="125"/>
                                        </p:tgtEl>
                                        <p:attrNameLst>
                                          <p:attrName>ppt_w</p:attrName>
                                        </p:attrNameLst>
                                      </p:cBhvr>
                                      <p:tavLst>
                                        <p:tav tm="0">
                                          <p:val>
                                            <p:strVal val="#ppt_w*0.3"/>
                                          </p:val>
                                        </p:tav>
                                        <p:tav tm="100000">
                                          <p:val>
                                            <p:strVal val="#ppt_w*1.08"/>
                                          </p:val>
                                        </p:tav>
                                      </p:tavLst>
                                    </p:anim>
                                    <p:anim calcmode="lin" valueType="num">
                                      <p:cBhvr additive="base">
                                        <p:cTn id="90" dur="500" decel="100000" fill="hold"/>
                                        <p:tgtEl>
                                          <p:spTgt spid="125"/>
                                        </p:tgtEl>
                                        <p:attrNameLst>
                                          <p:attrName>ppt_h</p:attrName>
                                        </p:attrNameLst>
                                      </p:cBhvr>
                                      <p:tavLst>
                                        <p:tav tm="0">
                                          <p:val>
                                            <p:strVal val="#ppt_h*0.3"/>
                                          </p:val>
                                        </p:tav>
                                        <p:tav tm="100000">
                                          <p:val>
                                            <p:strVal val="#ppt_h*1.08"/>
                                          </p:val>
                                        </p:tav>
                                      </p:tavLst>
                                    </p:anim>
                                    <p:animEffect transition="in" filter="fade">
                                      <p:cBhvr>
                                        <p:cTn id="91" dur="250"/>
                                        <p:tgtEl>
                                          <p:spTgt spid="125"/>
                                        </p:tgtEl>
                                      </p:cBhvr>
                                    </p:animEffect>
                                    <p:anim calcmode="lin" valueType="num">
                                      <p:cBhvr additive="base">
                                        <p:cTn id="92" dur="160" fill="hold">
                                          <p:stCondLst>
                                            <p:cond delay="500"/>
                                          </p:stCondLst>
                                        </p:cTn>
                                        <p:tgtEl>
                                          <p:spTgt spid="125"/>
                                        </p:tgtEl>
                                        <p:attrNameLst>
                                          <p:attrName>ppt_w</p:attrName>
                                        </p:attrNameLst>
                                      </p:cBhvr>
                                      <p:tavLst>
                                        <p:tav tm="0">
                                          <p:val>
                                            <p:strVal val="#ppt_w*1.08"/>
                                          </p:val>
                                        </p:tav>
                                        <p:tav tm="100000">
                                          <p:val>
                                            <p:strVal val="#ppt_w"/>
                                          </p:val>
                                        </p:tav>
                                      </p:tavLst>
                                    </p:anim>
                                    <p:anim calcmode="lin" valueType="num">
                                      <p:cBhvr additive="base">
                                        <p:cTn id="93" dur="160" fill="hold">
                                          <p:stCondLst>
                                            <p:cond delay="500"/>
                                          </p:stCondLst>
                                        </p:cTn>
                                        <p:tgtEl>
                                          <p:spTgt spid="125"/>
                                        </p:tgtEl>
                                        <p:attrNameLst>
                                          <p:attrName>ppt_h</p:attrName>
                                        </p:attrNameLst>
                                      </p:cBhvr>
                                      <p:tavLst>
                                        <p:tav tm="0">
                                          <p:val>
                                            <p:strVal val="#ppt_h*1.08"/>
                                          </p:val>
                                        </p:tav>
                                        <p:tav tm="100000">
                                          <p:val>
                                            <p:strVal val="#ppt_h"/>
                                          </p:val>
                                        </p:tav>
                                      </p:tavLst>
                                    </p:anim>
                                  </p:childTnLst>
                                </p:cTn>
                              </p:par>
                            </p:childTnLst>
                          </p:cTn>
                        </p:par>
                      </p:childTnLst>
                    </p:cTn>
                  </p:par>
                  <p:par>
                    <p:cTn id="94" fill="hold">
                      <p:stCondLst>
                        <p:cond delay="indefinite"/>
                      </p:stCondLst>
                      <p:childTnLst>
                        <p:par>
                          <p:cTn id="95" fill="hold">
                            <p:stCondLst>
                              <p:cond delay="0"/>
                            </p:stCondLst>
                            <p:childTnLst>
                              <p:par>
                                <p:cTn id="96" presetID="53" presetClass="entr" presetSubtype="16" fill="hold" grpId="0" nodeType="clickEffect">
                                  <p:stCondLst>
                                    <p:cond delay="0"/>
                                  </p:stCondLst>
                                  <p:childTnLst>
                                    <p:set>
                                      <p:cBhvr>
                                        <p:cTn id="97" dur="1" fill="hold">
                                          <p:stCondLst>
                                            <p:cond delay="0"/>
                                          </p:stCondLst>
                                        </p:cTn>
                                        <p:tgtEl>
                                          <p:spTgt spid="127"/>
                                        </p:tgtEl>
                                        <p:attrNameLst>
                                          <p:attrName>style.visibility</p:attrName>
                                        </p:attrNameLst>
                                      </p:cBhvr>
                                      <p:to>
                                        <p:strVal val="visible"/>
                                      </p:to>
                                    </p:set>
                                    <p:anim calcmode="lin" valueType="num">
                                      <p:cBhvr additive="base">
                                        <p:cTn id="98" dur="500" decel="100000" fill="hold"/>
                                        <p:tgtEl>
                                          <p:spTgt spid="127"/>
                                        </p:tgtEl>
                                        <p:attrNameLst>
                                          <p:attrName>ppt_w</p:attrName>
                                        </p:attrNameLst>
                                      </p:cBhvr>
                                      <p:tavLst>
                                        <p:tav tm="0">
                                          <p:val>
                                            <p:strVal val="#ppt_w*0.3"/>
                                          </p:val>
                                        </p:tav>
                                        <p:tav tm="100000">
                                          <p:val>
                                            <p:strVal val="#ppt_w*1.08"/>
                                          </p:val>
                                        </p:tav>
                                      </p:tavLst>
                                    </p:anim>
                                    <p:anim calcmode="lin" valueType="num">
                                      <p:cBhvr additive="base">
                                        <p:cTn id="99" dur="500" decel="100000" fill="hold"/>
                                        <p:tgtEl>
                                          <p:spTgt spid="127"/>
                                        </p:tgtEl>
                                        <p:attrNameLst>
                                          <p:attrName>ppt_h</p:attrName>
                                        </p:attrNameLst>
                                      </p:cBhvr>
                                      <p:tavLst>
                                        <p:tav tm="0">
                                          <p:val>
                                            <p:strVal val="#ppt_h*0.3"/>
                                          </p:val>
                                        </p:tav>
                                        <p:tav tm="100000">
                                          <p:val>
                                            <p:strVal val="#ppt_h*1.08"/>
                                          </p:val>
                                        </p:tav>
                                      </p:tavLst>
                                    </p:anim>
                                    <p:animEffect transition="in" filter="fade">
                                      <p:cBhvr>
                                        <p:cTn id="100" dur="250"/>
                                        <p:tgtEl>
                                          <p:spTgt spid="127"/>
                                        </p:tgtEl>
                                      </p:cBhvr>
                                    </p:animEffect>
                                    <p:anim calcmode="lin" valueType="num">
                                      <p:cBhvr additive="base">
                                        <p:cTn id="101" dur="160" fill="hold">
                                          <p:stCondLst>
                                            <p:cond delay="500"/>
                                          </p:stCondLst>
                                        </p:cTn>
                                        <p:tgtEl>
                                          <p:spTgt spid="127"/>
                                        </p:tgtEl>
                                        <p:attrNameLst>
                                          <p:attrName>ppt_w</p:attrName>
                                        </p:attrNameLst>
                                      </p:cBhvr>
                                      <p:tavLst>
                                        <p:tav tm="0">
                                          <p:val>
                                            <p:strVal val="#ppt_w*1.08"/>
                                          </p:val>
                                        </p:tav>
                                        <p:tav tm="100000">
                                          <p:val>
                                            <p:strVal val="#ppt_w"/>
                                          </p:val>
                                        </p:tav>
                                      </p:tavLst>
                                    </p:anim>
                                    <p:anim calcmode="lin" valueType="num">
                                      <p:cBhvr additive="base">
                                        <p:cTn id="102" dur="160" fill="hold">
                                          <p:stCondLst>
                                            <p:cond delay="500"/>
                                          </p:stCondLst>
                                        </p:cTn>
                                        <p:tgtEl>
                                          <p:spTgt spid="127"/>
                                        </p:tgtEl>
                                        <p:attrNameLst>
                                          <p:attrName>ppt_h</p:attrName>
                                        </p:attrNameLst>
                                      </p:cBhvr>
                                      <p:tavLst>
                                        <p:tav tm="0">
                                          <p:val>
                                            <p:strVal val="#ppt_h*1.08"/>
                                          </p:val>
                                        </p:tav>
                                        <p:tav tm="100000">
                                          <p:val>
                                            <p:strVal val="#ppt_h"/>
                                          </p:val>
                                        </p:tav>
                                      </p:tavLst>
                                    </p:anim>
                                  </p:childTnLst>
                                </p:cTn>
                              </p:par>
                            </p:childTnLst>
                          </p:cTn>
                        </p:par>
                      </p:childTnLst>
                    </p:cTn>
                  </p:par>
                  <p:par>
                    <p:cTn id="103" fill="hold">
                      <p:stCondLst>
                        <p:cond delay="indefinite"/>
                      </p:stCondLst>
                      <p:childTnLst>
                        <p:par>
                          <p:cTn id="104" fill="hold">
                            <p:stCondLst>
                              <p:cond delay="0"/>
                            </p:stCondLst>
                            <p:childTnLst>
                              <p:par>
                                <p:cTn id="105" presetID="53" presetClass="entr" presetSubtype="16" fill="hold" grpId="0" nodeType="clickEffect">
                                  <p:stCondLst>
                                    <p:cond delay="0"/>
                                  </p:stCondLst>
                                  <p:childTnLst>
                                    <p:set>
                                      <p:cBhvr>
                                        <p:cTn id="106" dur="1" fill="hold">
                                          <p:stCondLst>
                                            <p:cond delay="0"/>
                                          </p:stCondLst>
                                        </p:cTn>
                                        <p:tgtEl>
                                          <p:spTgt spid="126"/>
                                        </p:tgtEl>
                                        <p:attrNameLst>
                                          <p:attrName>style.visibility</p:attrName>
                                        </p:attrNameLst>
                                      </p:cBhvr>
                                      <p:to>
                                        <p:strVal val="visible"/>
                                      </p:to>
                                    </p:set>
                                    <p:anim calcmode="lin" valueType="num">
                                      <p:cBhvr additive="base">
                                        <p:cTn id="107" dur="500" decel="100000" fill="hold"/>
                                        <p:tgtEl>
                                          <p:spTgt spid="126"/>
                                        </p:tgtEl>
                                        <p:attrNameLst>
                                          <p:attrName>ppt_w</p:attrName>
                                        </p:attrNameLst>
                                      </p:cBhvr>
                                      <p:tavLst>
                                        <p:tav tm="0">
                                          <p:val>
                                            <p:strVal val="#ppt_w*0.3"/>
                                          </p:val>
                                        </p:tav>
                                        <p:tav tm="100000">
                                          <p:val>
                                            <p:strVal val="#ppt_w*1.08"/>
                                          </p:val>
                                        </p:tav>
                                      </p:tavLst>
                                    </p:anim>
                                    <p:anim calcmode="lin" valueType="num">
                                      <p:cBhvr additive="base">
                                        <p:cTn id="108" dur="500" decel="100000" fill="hold"/>
                                        <p:tgtEl>
                                          <p:spTgt spid="126"/>
                                        </p:tgtEl>
                                        <p:attrNameLst>
                                          <p:attrName>ppt_h</p:attrName>
                                        </p:attrNameLst>
                                      </p:cBhvr>
                                      <p:tavLst>
                                        <p:tav tm="0">
                                          <p:val>
                                            <p:strVal val="#ppt_h*0.3"/>
                                          </p:val>
                                        </p:tav>
                                        <p:tav tm="100000">
                                          <p:val>
                                            <p:strVal val="#ppt_h*1.08"/>
                                          </p:val>
                                        </p:tav>
                                      </p:tavLst>
                                    </p:anim>
                                    <p:animEffect transition="in" filter="fade">
                                      <p:cBhvr>
                                        <p:cTn id="109" dur="250"/>
                                        <p:tgtEl>
                                          <p:spTgt spid="126"/>
                                        </p:tgtEl>
                                      </p:cBhvr>
                                    </p:animEffect>
                                    <p:anim calcmode="lin" valueType="num">
                                      <p:cBhvr additive="base">
                                        <p:cTn id="110" dur="160" fill="hold">
                                          <p:stCondLst>
                                            <p:cond delay="500"/>
                                          </p:stCondLst>
                                        </p:cTn>
                                        <p:tgtEl>
                                          <p:spTgt spid="126"/>
                                        </p:tgtEl>
                                        <p:attrNameLst>
                                          <p:attrName>ppt_w</p:attrName>
                                        </p:attrNameLst>
                                      </p:cBhvr>
                                      <p:tavLst>
                                        <p:tav tm="0">
                                          <p:val>
                                            <p:strVal val="#ppt_w*1.08"/>
                                          </p:val>
                                        </p:tav>
                                        <p:tav tm="100000">
                                          <p:val>
                                            <p:strVal val="#ppt_w"/>
                                          </p:val>
                                        </p:tav>
                                      </p:tavLst>
                                    </p:anim>
                                    <p:anim calcmode="lin" valueType="num">
                                      <p:cBhvr additive="base">
                                        <p:cTn id="111" dur="160" fill="hold">
                                          <p:stCondLst>
                                            <p:cond delay="500"/>
                                          </p:stCondLst>
                                        </p:cTn>
                                        <p:tgtEl>
                                          <p:spTgt spid="126"/>
                                        </p:tgtEl>
                                        <p:attrNameLst>
                                          <p:attrName>ppt_h</p:attrName>
                                        </p:attrNameLst>
                                      </p:cBhvr>
                                      <p:tavLst>
                                        <p:tav tm="0">
                                          <p:val>
                                            <p:strVal val="#ppt_h*1.08"/>
                                          </p:val>
                                        </p:tav>
                                        <p:tav tm="100000">
                                          <p:val>
                                            <p:strVal val="#ppt_h"/>
                                          </p:val>
                                        </p:tav>
                                      </p:tavLst>
                                    </p:anim>
                                  </p:childTnLst>
                                </p:cTn>
                              </p:par>
                              <p:par>
                                <p:cTn id="112" presetID="53" presetClass="entr" presetSubtype="16" fill="hold" grpId="0" nodeType="withEffect">
                                  <p:stCondLst>
                                    <p:cond delay="200"/>
                                  </p:stCondLst>
                                  <p:childTnLst>
                                    <p:set>
                                      <p:cBhvr>
                                        <p:cTn id="113" dur="1" fill="hold">
                                          <p:stCondLst>
                                            <p:cond delay="0"/>
                                          </p:stCondLst>
                                        </p:cTn>
                                        <p:tgtEl>
                                          <p:spTgt spid="124"/>
                                        </p:tgtEl>
                                        <p:attrNameLst>
                                          <p:attrName>style.visibility</p:attrName>
                                        </p:attrNameLst>
                                      </p:cBhvr>
                                      <p:to>
                                        <p:strVal val="visible"/>
                                      </p:to>
                                    </p:set>
                                    <p:anim calcmode="lin" valueType="num">
                                      <p:cBhvr additive="base">
                                        <p:cTn id="114" dur="500" decel="100000" fill="hold"/>
                                        <p:tgtEl>
                                          <p:spTgt spid="124"/>
                                        </p:tgtEl>
                                        <p:attrNameLst>
                                          <p:attrName>ppt_w</p:attrName>
                                        </p:attrNameLst>
                                      </p:cBhvr>
                                      <p:tavLst>
                                        <p:tav tm="0">
                                          <p:val>
                                            <p:strVal val="#ppt_w*0.3"/>
                                          </p:val>
                                        </p:tav>
                                        <p:tav tm="100000">
                                          <p:val>
                                            <p:strVal val="#ppt_w*1.08"/>
                                          </p:val>
                                        </p:tav>
                                      </p:tavLst>
                                    </p:anim>
                                    <p:anim calcmode="lin" valueType="num">
                                      <p:cBhvr additive="base">
                                        <p:cTn id="115" dur="500" decel="100000" fill="hold"/>
                                        <p:tgtEl>
                                          <p:spTgt spid="124"/>
                                        </p:tgtEl>
                                        <p:attrNameLst>
                                          <p:attrName>ppt_h</p:attrName>
                                        </p:attrNameLst>
                                      </p:cBhvr>
                                      <p:tavLst>
                                        <p:tav tm="0">
                                          <p:val>
                                            <p:strVal val="#ppt_h*0.3"/>
                                          </p:val>
                                        </p:tav>
                                        <p:tav tm="100000">
                                          <p:val>
                                            <p:strVal val="#ppt_h*1.08"/>
                                          </p:val>
                                        </p:tav>
                                      </p:tavLst>
                                    </p:anim>
                                    <p:animEffect transition="in" filter="fade">
                                      <p:cBhvr>
                                        <p:cTn id="116" dur="250"/>
                                        <p:tgtEl>
                                          <p:spTgt spid="124"/>
                                        </p:tgtEl>
                                      </p:cBhvr>
                                    </p:animEffect>
                                    <p:anim calcmode="lin" valueType="num">
                                      <p:cBhvr additive="base">
                                        <p:cTn id="117" dur="160" fill="hold">
                                          <p:stCondLst>
                                            <p:cond delay="500"/>
                                          </p:stCondLst>
                                        </p:cTn>
                                        <p:tgtEl>
                                          <p:spTgt spid="124"/>
                                        </p:tgtEl>
                                        <p:attrNameLst>
                                          <p:attrName>ppt_w</p:attrName>
                                        </p:attrNameLst>
                                      </p:cBhvr>
                                      <p:tavLst>
                                        <p:tav tm="0">
                                          <p:val>
                                            <p:strVal val="#ppt_w*1.08"/>
                                          </p:val>
                                        </p:tav>
                                        <p:tav tm="100000">
                                          <p:val>
                                            <p:strVal val="#ppt_w"/>
                                          </p:val>
                                        </p:tav>
                                      </p:tavLst>
                                    </p:anim>
                                    <p:anim calcmode="lin" valueType="num">
                                      <p:cBhvr additive="base">
                                        <p:cTn id="118" dur="160" fill="hold">
                                          <p:stCondLst>
                                            <p:cond delay="500"/>
                                          </p:stCondLst>
                                        </p:cTn>
                                        <p:tgtEl>
                                          <p:spTgt spid="124"/>
                                        </p:tgtEl>
                                        <p:attrNameLst>
                                          <p:attrName>ppt_h</p:attrName>
                                        </p:attrNameLst>
                                      </p:cBhvr>
                                      <p:tavLst>
                                        <p:tav tm="0">
                                          <p:val>
                                            <p:strVal val="#ppt_h*1.08"/>
                                          </p:val>
                                        </p:tav>
                                        <p:tav tm="100000">
                                          <p:val>
                                            <p:strVal val="#ppt_h"/>
                                          </p:val>
                                        </p:tav>
                                      </p:tavLst>
                                    </p:anim>
                                  </p:childTnLst>
                                </p:cTn>
                              </p:par>
                            </p:childTnLst>
                          </p:cTn>
                        </p:par>
                      </p:childTnLst>
                    </p:cTn>
                  </p:par>
                  <p:par>
                    <p:cTn id="119" fill="hold">
                      <p:stCondLst>
                        <p:cond delay="indefinite"/>
                      </p:stCondLst>
                      <p:childTnLst>
                        <p:par>
                          <p:cTn id="120" fill="hold">
                            <p:stCondLst>
                              <p:cond delay="0"/>
                            </p:stCondLst>
                            <p:childTnLst>
                              <p:par>
                                <p:cTn id="121" presetID="42" presetClass="entr" presetSubtype="0" fill="hold" grpId="0" nodeType="clickEffect">
                                  <p:stCondLst>
                                    <p:cond delay="0"/>
                                  </p:stCondLst>
                                  <p:childTnLst>
                                    <p:set>
                                      <p:cBhvr>
                                        <p:cTn id="122" dur="1" fill="hold">
                                          <p:stCondLst>
                                            <p:cond delay="0"/>
                                          </p:stCondLst>
                                        </p:cTn>
                                        <p:tgtEl>
                                          <p:spTgt spid="121"/>
                                        </p:tgtEl>
                                        <p:attrNameLst>
                                          <p:attrName>style.visibility</p:attrName>
                                        </p:attrNameLst>
                                      </p:cBhvr>
                                      <p:to>
                                        <p:strVal val="visible"/>
                                      </p:to>
                                    </p:set>
                                    <p:animEffect transition="in" filter="fade">
                                      <p:cBhvr>
                                        <p:cTn id="123" dur="500"/>
                                        <p:tgtEl>
                                          <p:spTgt spid="121"/>
                                        </p:tgtEl>
                                      </p:cBhvr>
                                    </p:animEffect>
                                    <p:anim calcmode="lin" valueType="num">
                                      <p:cBhvr additive="base">
                                        <p:cTn id="124" dur="500" decel="100000" fill="hold"/>
                                        <p:tgtEl>
                                          <p:spTgt spid="121"/>
                                        </p:tgtEl>
                                        <p:attrNameLst>
                                          <p:attrName>ppt_x</p:attrName>
                                        </p:attrNameLst>
                                      </p:cBhvr>
                                      <p:tavLst>
                                        <p:tav tm="0">
                                          <p:val>
                                            <p:strVal val="#ppt_x-0.05"/>
                                          </p:val>
                                        </p:tav>
                                        <p:tav tm="100000">
                                          <p:val>
                                            <p:strVal val="#ppt_x"/>
                                          </p:val>
                                        </p:tav>
                                      </p:tavLst>
                                    </p:anim>
                                  </p:childTnLst>
                                </p:cTn>
                              </p:par>
                              <p:par>
                                <p:cTn id="125" presetID="42" presetClass="entr" presetSubtype="0" fill="hold" grpId="0" nodeType="withEffect">
                                  <p:stCondLst>
                                    <p:cond delay="150"/>
                                  </p:stCondLst>
                                  <p:childTnLst>
                                    <p:set>
                                      <p:cBhvr>
                                        <p:cTn id="126" dur="1" fill="hold">
                                          <p:stCondLst>
                                            <p:cond delay="0"/>
                                          </p:stCondLst>
                                        </p:cTn>
                                        <p:tgtEl>
                                          <p:spTgt spid="122"/>
                                        </p:tgtEl>
                                        <p:attrNameLst>
                                          <p:attrName>style.visibility</p:attrName>
                                        </p:attrNameLst>
                                      </p:cBhvr>
                                      <p:to>
                                        <p:strVal val="visible"/>
                                      </p:to>
                                    </p:set>
                                    <p:animEffect transition="in" filter="fade">
                                      <p:cBhvr>
                                        <p:cTn id="127" dur="500"/>
                                        <p:tgtEl>
                                          <p:spTgt spid="122"/>
                                        </p:tgtEl>
                                      </p:cBhvr>
                                    </p:animEffect>
                                    <p:anim calcmode="lin" valueType="num">
                                      <p:cBhvr additive="base">
                                        <p:cTn id="128" dur="500" decel="100000" fill="hold"/>
                                        <p:tgtEl>
                                          <p:spTgt spid="122"/>
                                        </p:tgtEl>
                                        <p:attrNameLst>
                                          <p:attrName>ppt_x</p:attrName>
                                        </p:attrNameLst>
                                      </p:cBhvr>
                                      <p:tavLst>
                                        <p:tav tm="0">
                                          <p:val>
                                            <p:strVal val="#ppt_x-0.05"/>
                                          </p:val>
                                        </p:tav>
                                        <p:tav tm="100000">
                                          <p:val>
                                            <p:strVal val="#ppt_x"/>
                                          </p:val>
                                        </p:tav>
                                      </p:tavLst>
                                    </p:anim>
                                  </p:childTnLst>
                                </p:cTn>
                              </p:par>
                              <p:par>
                                <p:cTn id="129" presetID="42" presetClass="entr" presetSubtype="0" fill="hold" grpId="0" nodeType="withEffect">
                                  <p:stCondLst>
                                    <p:cond delay="300"/>
                                  </p:stCondLst>
                                  <p:childTnLst>
                                    <p:set>
                                      <p:cBhvr>
                                        <p:cTn id="130" dur="1" fill="hold">
                                          <p:stCondLst>
                                            <p:cond delay="0"/>
                                          </p:stCondLst>
                                        </p:cTn>
                                        <p:tgtEl>
                                          <p:spTgt spid="123"/>
                                        </p:tgtEl>
                                        <p:attrNameLst>
                                          <p:attrName>style.visibility</p:attrName>
                                        </p:attrNameLst>
                                      </p:cBhvr>
                                      <p:to>
                                        <p:strVal val="visible"/>
                                      </p:to>
                                    </p:set>
                                    <p:animEffect transition="in" filter="fade">
                                      <p:cBhvr>
                                        <p:cTn id="131" dur="500"/>
                                        <p:tgtEl>
                                          <p:spTgt spid="123"/>
                                        </p:tgtEl>
                                      </p:cBhvr>
                                    </p:animEffect>
                                    <p:anim calcmode="lin" valueType="num">
                                      <p:cBhvr additive="base">
                                        <p:cTn id="132" dur="500" decel="100000" fill="hold"/>
                                        <p:tgtEl>
                                          <p:spTgt spid="123"/>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07085"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CLASSDATA</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ClassData: Move the Rows Into Their Own Class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InlineData keeps the rows above the test. What if we want them in a separate, reusable class?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131</a:t>
            </a:r>
            <a:endParaRPr lang="en-US" sz="850" dirty="0"/>
          </a:p>
        </p:txBody>
      </p:sp>
      <p:sp>
        <p:nvSpPr>
          <p:cNvPr id="101" name="s101"/>
          <p:cNvSpPr/>
          <p:nvPr/>
        </p:nvSpPr>
        <p:spPr>
          <a:xfrm>
            <a:off x="543154" y="1828800"/>
            <a:ext cx="3586277" cy="329184"/>
          </a:xfrm>
          <a:prstGeom prst="roundRect">
            <a:avLst>
              <a:gd name="adj" fmla="val 30000"/>
            </a:avLst>
          </a:prstGeom>
          <a:solidFill>
            <a:srgbClr val="94A3B8">
              <a:alpha val="16000"/>
            </a:srgbClr>
          </a:solidFill>
          <a:ln w="12700">
            <a:solidFill>
              <a:srgbClr val="94A3B8"/>
            </a:solidFill>
            <a:prstDash val="solid"/>
          </a:ln>
        </p:spPr>
        <p:txBody>
          <a:bodyPr wrap="square" lIns="182880" tIns="0" rIns="91440" bIns="0" rtlCol="0" anchor="ctr">
            <a:noAutofit/>
          </a:bodyPr>
          <a:lstStyle/>
          <a:p>
            <a:pPr marL="0" indent="0" algn="l">
              <a:spcBef>
                <a:spcPts val="0"/>
              </a:spcBef>
              <a:spcAft>
                <a:spcPts val="0"/>
              </a:spcAft>
              <a:buNone/>
            </a:pPr>
            <a:r>
              <a:rPr lang="en-US" sz="1150" b="1" dirty="0">
                <a:solidFill>
                  <a:srgbClr val="94A3B8"/>
                </a:solidFill>
                <a:latin typeface="Segoe UI"/>
                <a:ea typeface="Segoe UI"/>
                <a:cs typeface="Segoe UI"/>
              </a:rPr>
              <a:t>BEFORE   </a:t>
            </a:r>
            <a:r>
              <a:rPr lang="en-US" sz="1150" b="1" dirty="0">
                <a:solidFill>
                  <a:srgbClr val="FFFFFF"/>
                </a:solidFill>
                <a:latin typeface="Segoe UI"/>
                <a:ea typeface="Segoe UI"/>
                <a:cs typeface="Segoe UI"/>
              </a:rPr>
              <a:t>rows above the test</a:t>
            </a:r>
            <a:endParaRPr lang="en-US" sz="1150" dirty="0"/>
          </a:p>
        </p:txBody>
      </p:sp>
      <p:sp>
        <p:nvSpPr>
          <p:cNvPr id="102" name="s102"/>
          <p:cNvSpPr/>
          <p:nvPr/>
        </p:nvSpPr>
        <p:spPr>
          <a:xfrm>
            <a:off x="4294022" y="1828800"/>
            <a:ext cx="3586277" cy="329184"/>
          </a:xfrm>
          <a:prstGeom prst="roundRect">
            <a:avLst>
              <a:gd name="adj" fmla="val 30000"/>
            </a:avLst>
          </a:prstGeom>
          <a:solidFill>
            <a:srgbClr val="FBBF24">
              <a:alpha val="16000"/>
            </a:srgbClr>
          </a:solidFill>
          <a:ln w="12700">
            <a:solidFill>
              <a:srgbClr val="FBBF24"/>
            </a:solidFill>
            <a:prstDash val="solid"/>
          </a:ln>
        </p:spPr>
        <p:txBody>
          <a:bodyPr wrap="square" lIns="182880" tIns="0" rIns="91440" bIns="0" rtlCol="0" anchor="ctr">
            <a:noAutofit/>
          </a:bodyPr>
          <a:lstStyle/>
          <a:p>
            <a:pPr marL="0" indent="0" algn="l">
              <a:spcBef>
                <a:spcPts val="0"/>
              </a:spcBef>
              <a:spcAft>
                <a:spcPts val="0"/>
              </a:spcAft>
              <a:buNone/>
            </a:pPr>
            <a:r>
              <a:rPr lang="en-US" sz="1150" b="1" dirty="0">
                <a:solidFill>
                  <a:srgbClr val="FBBF24"/>
                </a:solidFill>
                <a:latin typeface="Segoe UI"/>
                <a:ea typeface="Segoe UI"/>
                <a:cs typeface="Segoe UI"/>
              </a:rPr>
              <a:t>STEP 1   </a:t>
            </a:r>
            <a:r>
              <a:rPr lang="en-US" sz="1150" b="1" dirty="0">
                <a:solidFill>
                  <a:srgbClr val="FFFFFF"/>
                </a:solidFill>
                <a:latin typeface="Segoe UI"/>
                <a:ea typeface="Segoe UI"/>
                <a:cs typeface="Segoe UI"/>
              </a:rPr>
              <a:t>a class with the rows</a:t>
            </a:r>
            <a:endParaRPr lang="en-US" sz="1150" dirty="0"/>
          </a:p>
        </p:txBody>
      </p:sp>
      <p:sp>
        <p:nvSpPr>
          <p:cNvPr id="103" name="s103"/>
          <p:cNvSpPr/>
          <p:nvPr/>
        </p:nvSpPr>
        <p:spPr>
          <a:xfrm>
            <a:off x="8044891" y="1828800"/>
            <a:ext cx="3586277" cy="329184"/>
          </a:xfrm>
          <a:prstGeom prst="roundRect">
            <a:avLst>
              <a:gd name="adj" fmla="val 30000"/>
            </a:avLst>
          </a:prstGeom>
          <a:solidFill>
            <a:srgbClr val="34D399">
              <a:alpha val="16000"/>
            </a:srgbClr>
          </a:solidFill>
          <a:ln w="12700">
            <a:solidFill>
              <a:srgbClr val="34D399"/>
            </a:solidFill>
            <a:prstDash val="solid"/>
          </a:ln>
        </p:spPr>
        <p:txBody>
          <a:bodyPr wrap="square" lIns="182880" tIns="0" rIns="9144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STEP 2   </a:t>
            </a:r>
            <a:r>
              <a:rPr lang="en-US" sz="1150" b="1" dirty="0">
                <a:solidFill>
                  <a:srgbClr val="FFFFFF"/>
                </a:solidFill>
                <a:latin typeface="Segoe UI"/>
                <a:ea typeface="Segoe UI"/>
                <a:cs typeface="Segoe UI"/>
              </a:rPr>
              <a:t>connect it to the test</a:t>
            </a:r>
            <a:endParaRPr lang="en-US" sz="1150" dirty="0"/>
          </a:p>
        </p:txBody>
      </p:sp>
      <p:sp>
        <p:nvSpPr>
          <p:cNvPr id="104" name="s104"/>
          <p:cNvSpPr/>
          <p:nvPr/>
        </p:nvSpPr>
        <p:spPr>
          <a:xfrm>
            <a:off x="543154" y="2240280"/>
            <a:ext cx="3586277" cy="25146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5" name="s105"/>
          <p:cNvSpPr/>
          <p:nvPr/>
        </p:nvSpPr>
        <p:spPr>
          <a:xfrm>
            <a:off x="707746" y="23865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6" name="s106"/>
          <p:cNvSpPr/>
          <p:nvPr/>
        </p:nvSpPr>
        <p:spPr>
          <a:xfrm>
            <a:off x="890626" y="23865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7" name="s107"/>
          <p:cNvSpPr/>
          <p:nvPr/>
        </p:nvSpPr>
        <p:spPr>
          <a:xfrm>
            <a:off x="1073506" y="23865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8" name="s108"/>
          <p:cNvSpPr/>
          <p:nvPr/>
        </p:nvSpPr>
        <p:spPr>
          <a:xfrm>
            <a:off x="1320394" y="231343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PriceCalculatorTests.cs</a:t>
            </a:r>
            <a:endParaRPr lang="en-US" sz="950" dirty="0"/>
          </a:p>
        </p:txBody>
      </p:sp>
      <p:cxnSp>
        <p:nvCxnSpPr>
          <p:cNvPr id="109" name="ln109"/>
          <p:cNvCxnSpPr/>
          <p:nvPr/>
        </p:nvCxnSpPr>
        <p:spPr>
          <a:xfrm>
            <a:off x="543154" y="2651760"/>
            <a:ext cx="3586277" cy="0"/>
          </a:xfrm>
          <a:prstGeom prst="line">
            <a:avLst/>
          </a:prstGeom>
          <a:ln w="9525">
            <a:solidFill>
              <a:srgbClr val="1E3A5F"/>
            </a:solidFill>
          </a:ln>
        </p:spPr>
      </p:cxnSp>
      <p:sp>
        <p:nvSpPr>
          <p:cNvPr id="110" name="s110"/>
          <p:cNvSpPr/>
          <p:nvPr/>
        </p:nvSpPr>
        <p:spPr>
          <a:xfrm>
            <a:off x="543154" y="2770632"/>
            <a:ext cx="3586277"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[Theory]</a:t>
            </a:r>
            <a:endParaRPr lang="en-US" sz="800" dirty="0"/>
          </a:p>
        </p:txBody>
      </p:sp>
      <p:sp>
        <p:nvSpPr>
          <p:cNvPr id="111" name="s111"/>
          <p:cNvSpPr/>
          <p:nvPr/>
        </p:nvSpPr>
        <p:spPr>
          <a:xfrm>
            <a:off x="543154" y="2892552"/>
            <a:ext cx="3586277"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[InlineData(100, 90)]</a:t>
            </a:r>
            <a:endParaRPr lang="en-US" sz="800" dirty="0"/>
          </a:p>
        </p:txBody>
      </p:sp>
      <p:sp>
        <p:nvSpPr>
          <p:cNvPr id="112" name="s112"/>
          <p:cNvSpPr/>
          <p:nvPr/>
        </p:nvSpPr>
        <p:spPr>
          <a:xfrm>
            <a:off x="543154" y="3014472"/>
            <a:ext cx="3586277"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[InlineData(200, 180)]</a:t>
            </a:r>
            <a:endParaRPr lang="en-US" sz="800" dirty="0"/>
          </a:p>
        </p:txBody>
      </p:sp>
      <p:sp>
        <p:nvSpPr>
          <p:cNvPr id="113" name="s113"/>
          <p:cNvSpPr/>
          <p:nvPr/>
        </p:nvSpPr>
        <p:spPr>
          <a:xfrm>
            <a:off x="543154" y="3136392"/>
            <a:ext cx="3586277"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[InlineData(500, 450)]</a:t>
            </a:r>
            <a:endParaRPr lang="en-US" sz="800" dirty="0"/>
          </a:p>
        </p:txBody>
      </p:sp>
      <p:sp>
        <p:nvSpPr>
          <p:cNvPr id="114" name="s114"/>
          <p:cNvSpPr/>
          <p:nvPr/>
        </p:nvSpPr>
        <p:spPr>
          <a:xfrm>
            <a:off x="543154" y="3258312"/>
            <a:ext cx="3586277"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CalculateDiscount_ReturnsExpected</a:t>
            </a:r>
            <a:r>
              <a:rPr lang="en-US" sz="800" b="0" dirty="0">
                <a:solidFill>
                  <a:srgbClr val="E2E8F0"/>
                </a:solidFill>
                <a:latin typeface="Consolas"/>
                <a:ea typeface="Consolas"/>
                <a:cs typeface="Consolas"/>
              </a:rPr>
              <a:t>(</a:t>
            </a:r>
            <a:endParaRPr lang="en-US" sz="800" dirty="0"/>
          </a:p>
        </p:txBody>
      </p:sp>
      <p:sp>
        <p:nvSpPr>
          <p:cNvPr id="115" name="s115"/>
          <p:cNvSpPr/>
          <p:nvPr/>
        </p:nvSpPr>
        <p:spPr>
          <a:xfrm>
            <a:off x="543154" y="3380232"/>
            <a:ext cx="3586277"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decimal</a:t>
            </a:r>
            <a:r>
              <a:rPr lang="en-US" sz="800" b="0" dirty="0">
                <a:solidFill>
                  <a:srgbClr val="E2E8F0"/>
                </a:solidFill>
                <a:latin typeface="Consolas"/>
                <a:ea typeface="Consolas"/>
                <a:cs typeface="Consolas"/>
              </a:rPr>
              <a:t> price,</a:t>
            </a:r>
            <a:endParaRPr lang="en-US" sz="800" dirty="0"/>
          </a:p>
        </p:txBody>
      </p:sp>
      <p:sp>
        <p:nvSpPr>
          <p:cNvPr id="116" name="s116"/>
          <p:cNvSpPr/>
          <p:nvPr/>
        </p:nvSpPr>
        <p:spPr>
          <a:xfrm>
            <a:off x="543154" y="3502152"/>
            <a:ext cx="3586277"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decimal</a:t>
            </a:r>
            <a:r>
              <a:rPr lang="en-US" sz="800" b="0" dirty="0">
                <a:solidFill>
                  <a:srgbClr val="E2E8F0"/>
                </a:solidFill>
                <a:latin typeface="Consolas"/>
                <a:ea typeface="Consolas"/>
                <a:cs typeface="Consolas"/>
              </a:rPr>
              <a:t> expected)</a:t>
            </a:r>
            <a:endParaRPr lang="en-US" sz="800" dirty="0"/>
          </a:p>
        </p:txBody>
      </p:sp>
      <p:sp>
        <p:nvSpPr>
          <p:cNvPr id="117" name="s117"/>
          <p:cNvSpPr/>
          <p:nvPr/>
        </p:nvSpPr>
        <p:spPr>
          <a:xfrm>
            <a:off x="543154" y="3624072"/>
            <a:ext cx="3586277"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18" name="s118"/>
          <p:cNvSpPr/>
          <p:nvPr/>
        </p:nvSpPr>
        <p:spPr>
          <a:xfrm>
            <a:off x="543154" y="3745992"/>
            <a:ext cx="3586277"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var</a:t>
            </a:r>
            <a:r>
              <a:rPr lang="en-US" sz="800" b="0" dirty="0">
                <a:solidFill>
                  <a:srgbClr val="E2E8F0"/>
                </a:solidFill>
                <a:latin typeface="Consolas"/>
                <a:ea typeface="Consolas"/>
                <a:cs typeface="Consolas"/>
              </a:rPr>
              <a:t> result = </a:t>
            </a:r>
            <a:r>
              <a:rPr lang="en-US" sz="800" b="0" dirty="0">
                <a:solidFill>
                  <a:srgbClr val="7DD3FC"/>
                </a:solidFill>
                <a:latin typeface="Consolas"/>
                <a:ea typeface="Consolas"/>
                <a:cs typeface="Consolas"/>
              </a:rPr>
              <a:t>PriceCalculator</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WithDiscount</a:t>
            </a:r>
            <a:r>
              <a:rPr lang="en-US" sz="800" b="0" dirty="0">
                <a:solidFill>
                  <a:srgbClr val="E2E8F0"/>
                </a:solidFill>
                <a:latin typeface="Consolas"/>
                <a:ea typeface="Consolas"/>
                <a:cs typeface="Consolas"/>
              </a:rPr>
              <a:t>(price);</a:t>
            </a:r>
            <a:endParaRPr lang="en-US" sz="800" dirty="0"/>
          </a:p>
        </p:txBody>
      </p:sp>
      <p:sp>
        <p:nvSpPr>
          <p:cNvPr id="119" name="s119"/>
          <p:cNvSpPr/>
          <p:nvPr/>
        </p:nvSpPr>
        <p:spPr>
          <a:xfrm>
            <a:off x="543154" y="3989832"/>
            <a:ext cx="3586277"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Assert</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Equal</a:t>
            </a:r>
            <a:r>
              <a:rPr lang="en-US" sz="800" b="0" dirty="0">
                <a:solidFill>
                  <a:srgbClr val="E2E8F0"/>
                </a:solidFill>
                <a:latin typeface="Consolas"/>
                <a:ea typeface="Consolas"/>
                <a:cs typeface="Consolas"/>
              </a:rPr>
              <a:t>(expected, result);</a:t>
            </a:r>
            <a:endParaRPr lang="en-US" sz="800" dirty="0"/>
          </a:p>
        </p:txBody>
      </p:sp>
      <p:sp>
        <p:nvSpPr>
          <p:cNvPr id="120" name="s120"/>
          <p:cNvSpPr/>
          <p:nvPr/>
        </p:nvSpPr>
        <p:spPr>
          <a:xfrm>
            <a:off x="543154" y="4111752"/>
            <a:ext cx="3586277"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21" name="s121"/>
          <p:cNvSpPr/>
          <p:nvPr/>
        </p:nvSpPr>
        <p:spPr>
          <a:xfrm>
            <a:off x="4294022" y="2240280"/>
            <a:ext cx="3586277" cy="25146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2" name="s122"/>
          <p:cNvSpPr/>
          <p:nvPr/>
        </p:nvSpPr>
        <p:spPr>
          <a:xfrm>
            <a:off x="4458614" y="23865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3" name="s123"/>
          <p:cNvSpPr/>
          <p:nvPr/>
        </p:nvSpPr>
        <p:spPr>
          <a:xfrm>
            <a:off x="4641494" y="23865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4" name="s124"/>
          <p:cNvSpPr/>
          <p:nvPr/>
        </p:nvSpPr>
        <p:spPr>
          <a:xfrm>
            <a:off x="4824374" y="23865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5" name="s125"/>
          <p:cNvSpPr/>
          <p:nvPr/>
        </p:nvSpPr>
        <p:spPr>
          <a:xfrm>
            <a:off x="5071262" y="2313432"/>
            <a:ext cx="1461211"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PriceTestData.cs</a:t>
            </a:r>
            <a:endParaRPr lang="en-US" sz="950" dirty="0"/>
          </a:p>
        </p:txBody>
      </p:sp>
      <p:cxnSp>
        <p:nvCxnSpPr>
          <p:cNvPr id="126" name="ln126"/>
          <p:cNvCxnSpPr/>
          <p:nvPr/>
        </p:nvCxnSpPr>
        <p:spPr>
          <a:xfrm>
            <a:off x="4294022" y="2651760"/>
            <a:ext cx="3586277" cy="0"/>
          </a:xfrm>
          <a:prstGeom prst="line">
            <a:avLst/>
          </a:prstGeom>
          <a:ln w="9525">
            <a:solidFill>
              <a:srgbClr val="1E3A5F"/>
            </a:solidFill>
          </a:ln>
        </p:spPr>
      </p:cxnSp>
      <p:sp>
        <p:nvSpPr>
          <p:cNvPr id="127" name="s127"/>
          <p:cNvSpPr/>
          <p:nvPr/>
        </p:nvSpPr>
        <p:spPr>
          <a:xfrm>
            <a:off x="4294022" y="27706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60A5FA"/>
                </a:solidFill>
                <a:latin typeface="Consolas"/>
                <a:ea typeface="Consolas"/>
                <a:cs typeface="Consolas"/>
              </a:rPr>
              <a:t>public</a:t>
            </a:r>
            <a:r>
              <a:rPr lang="en-US" sz="750" b="0" dirty="0">
                <a:solidFill>
                  <a:srgbClr val="E2E8F0"/>
                </a:solidFill>
                <a:latin typeface="Consolas"/>
                <a:ea typeface="Consolas"/>
                <a:cs typeface="Consolas"/>
              </a:rPr>
              <a:t> </a:t>
            </a:r>
            <a:r>
              <a:rPr lang="en-US" sz="750" b="0" dirty="0">
                <a:solidFill>
                  <a:srgbClr val="60A5FA"/>
                </a:solidFill>
                <a:latin typeface="Consolas"/>
                <a:ea typeface="Consolas"/>
                <a:cs typeface="Consolas"/>
              </a:rPr>
              <a:t>class</a:t>
            </a:r>
            <a:r>
              <a:rPr lang="en-US" sz="750" b="0" dirty="0">
                <a:solidFill>
                  <a:srgbClr val="E2E8F0"/>
                </a:solidFill>
                <a:latin typeface="Consolas"/>
                <a:ea typeface="Consolas"/>
                <a:cs typeface="Consolas"/>
              </a:rPr>
              <a:t> </a:t>
            </a:r>
            <a:r>
              <a:rPr lang="en-US" sz="750" b="0" dirty="0">
                <a:solidFill>
                  <a:srgbClr val="7DD3FC"/>
                </a:solidFill>
                <a:latin typeface="Consolas"/>
                <a:ea typeface="Consolas"/>
                <a:cs typeface="Consolas"/>
              </a:rPr>
              <a:t>PriceTestData</a:t>
            </a:r>
            <a:r>
              <a:rPr lang="en-US" sz="750" b="0" dirty="0">
                <a:solidFill>
                  <a:srgbClr val="E2E8F0"/>
                </a:solidFill>
                <a:latin typeface="Consolas"/>
                <a:ea typeface="Consolas"/>
                <a:cs typeface="Consolas"/>
              </a:rPr>
              <a:t> : </a:t>
            </a:r>
            <a:r>
              <a:rPr lang="en-US" sz="750" b="0" dirty="0">
                <a:solidFill>
                  <a:srgbClr val="7DD3FC"/>
                </a:solidFill>
                <a:latin typeface="Consolas"/>
                <a:ea typeface="Consolas"/>
                <a:cs typeface="Consolas"/>
              </a:rPr>
              <a:t>TheoryData</a:t>
            </a:r>
            <a:r>
              <a:rPr lang="en-US" sz="750" b="0" dirty="0">
                <a:solidFill>
                  <a:srgbClr val="E2E8F0"/>
                </a:solidFill>
                <a:latin typeface="Consolas"/>
                <a:ea typeface="Consolas"/>
                <a:cs typeface="Consolas"/>
              </a:rPr>
              <a:t>&lt;</a:t>
            </a:r>
            <a:r>
              <a:rPr lang="en-US" sz="750" b="0" dirty="0">
                <a:solidFill>
                  <a:srgbClr val="60A5FA"/>
                </a:solidFill>
                <a:latin typeface="Consolas"/>
                <a:ea typeface="Consolas"/>
                <a:cs typeface="Consolas"/>
              </a:rPr>
              <a:t>decimal</a:t>
            </a:r>
            <a:r>
              <a:rPr lang="en-US" sz="750" b="0" dirty="0">
                <a:solidFill>
                  <a:srgbClr val="E2E8F0"/>
                </a:solidFill>
                <a:latin typeface="Consolas"/>
                <a:ea typeface="Consolas"/>
                <a:cs typeface="Consolas"/>
              </a:rPr>
              <a:t>, </a:t>
            </a:r>
            <a:r>
              <a:rPr lang="en-US" sz="750" b="0" dirty="0">
                <a:solidFill>
                  <a:srgbClr val="60A5FA"/>
                </a:solidFill>
                <a:latin typeface="Consolas"/>
                <a:ea typeface="Consolas"/>
                <a:cs typeface="Consolas"/>
              </a:rPr>
              <a:t>decimal</a:t>
            </a:r>
            <a:r>
              <a:rPr lang="en-US" sz="750" b="0" dirty="0">
                <a:solidFill>
                  <a:srgbClr val="E2E8F0"/>
                </a:solidFill>
                <a:latin typeface="Consolas"/>
                <a:ea typeface="Consolas"/>
                <a:cs typeface="Consolas"/>
              </a:rPr>
              <a:t>&gt;</a:t>
            </a:r>
            <a:endParaRPr lang="en-US" sz="750" dirty="0"/>
          </a:p>
        </p:txBody>
      </p:sp>
      <p:sp>
        <p:nvSpPr>
          <p:cNvPr id="128" name="s128"/>
          <p:cNvSpPr/>
          <p:nvPr/>
        </p:nvSpPr>
        <p:spPr>
          <a:xfrm>
            <a:off x="4294022" y="28849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a:t>
            </a:r>
            <a:endParaRPr lang="en-US" sz="750" dirty="0"/>
          </a:p>
        </p:txBody>
      </p:sp>
      <p:sp>
        <p:nvSpPr>
          <p:cNvPr id="129" name="s129"/>
          <p:cNvSpPr/>
          <p:nvPr/>
        </p:nvSpPr>
        <p:spPr>
          <a:xfrm>
            <a:off x="4294022" y="29992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r>
              <a:rPr lang="en-US" sz="750" b="0" dirty="0">
                <a:solidFill>
                  <a:srgbClr val="60A5FA"/>
                </a:solidFill>
                <a:latin typeface="Consolas"/>
                <a:ea typeface="Consolas"/>
                <a:cs typeface="Consolas"/>
              </a:rPr>
              <a:t>public</a:t>
            </a:r>
            <a:r>
              <a:rPr lang="en-US" sz="750" b="0" dirty="0">
                <a:solidFill>
                  <a:srgbClr val="E2E8F0"/>
                </a:solidFill>
                <a:latin typeface="Consolas"/>
                <a:ea typeface="Consolas"/>
                <a:cs typeface="Consolas"/>
              </a:rPr>
              <a:t> </a:t>
            </a:r>
            <a:r>
              <a:rPr lang="en-US" sz="750" b="0" dirty="0">
                <a:solidFill>
                  <a:srgbClr val="7DD3FC"/>
                </a:solidFill>
                <a:latin typeface="Consolas"/>
                <a:ea typeface="Consolas"/>
                <a:cs typeface="Consolas"/>
              </a:rPr>
              <a:t>PriceTestData</a:t>
            </a:r>
            <a:r>
              <a:rPr lang="en-US" sz="750" b="0" dirty="0">
                <a:solidFill>
                  <a:srgbClr val="E2E8F0"/>
                </a:solidFill>
                <a:latin typeface="Consolas"/>
                <a:ea typeface="Consolas"/>
                <a:cs typeface="Consolas"/>
              </a:rPr>
              <a:t>()</a:t>
            </a:r>
            <a:endParaRPr lang="en-US" sz="750" dirty="0"/>
          </a:p>
        </p:txBody>
      </p:sp>
      <p:sp>
        <p:nvSpPr>
          <p:cNvPr id="130" name="s130"/>
          <p:cNvSpPr/>
          <p:nvPr/>
        </p:nvSpPr>
        <p:spPr>
          <a:xfrm>
            <a:off x="4294022" y="31135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endParaRPr lang="en-US" sz="750" dirty="0"/>
          </a:p>
        </p:txBody>
      </p:sp>
      <p:sp>
        <p:nvSpPr>
          <p:cNvPr id="131" name="s131"/>
          <p:cNvSpPr/>
          <p:nvPr/>
        </p:nvSpPr>
        <p:spPr>
          <a:xfrm>
            <a:off x="4294022" y="32278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r>
              <a:rPr lang="en-US" sz="750" b="0" dirty="0">
                <a:solidFill>
                  <a:srgbClr val="7DD3FC"/>
                </a:solidFill>
                <a:latin typeface="Consolas"/>
                <a:ea typeface="Consolas"/>
                <a:cs typeface="Consolas"/>
              </a:rPr>
              <a:t>Add</a:t>
            </a:r>
            <a:r>
              <a:rPr lang="en-US" sz="750" b="0" dirty="0">
                <a:solidFill>
                  <a:srgbClr val="E2E8F0"/>
                </a:solidFill>
                <a:latin typeface="Consolas"/>
                <a:ea typeface="Consolas"/>
                <a:cs typeface="Consolas"/>
              </a:rPr>
              <a:t>(</a:t>
            </a:r>
            <a:r>
              <a:rPr lang="en-US" sz="750" b="0" dirty="0">
                <a:solidFill>
                  <a:srgbClr val="C4B5FD"/>
                </a:solidFill>
                <a:latin typeface="Consolas"/>
                <a:ea typeface="Consolas"/>
                <a:cs typeface="Consolas"/>
              </a:rPr>
              <a:t>100m</a:t>
            </a:r>
            <a:r>
              <a:rPr lang="en-US" sz="750" b="0" dirty="0">
                <a:solidFill>
                  <a:srgbClr val="E2E8F0"/>
                </a:solidFill>
                <a:latin typeface="Consolas"/>
                <a:ea typeface="Consolas"/>
                <a:cs typeface="Consolas"/>
              </a:rPr>
              <a:t>, </a:t>
            </a:r>
            <a:r>
              <a:rPr lang="en-US" sz="750" b="0" dirty="0">
                <a:solidFill>
                  <a:srgbClr val="C4B5FD"/>
                </a:solidFill>
                <a:latin typeface="Consolas"/>
                <a:ea typeface="Consolas"/>
                <a:cs typeface="Consolas"/>
              </a:rPr>
              <a:t>90m</a:t>
            </a:r>
            <a:r>
              <a:rPr lang="en-US" sz="750" b="0" dirty="0">
                <a:solidFill>
                  <a:srgbClr val="E2E8F0"/>
                </a:solidFill>
                <a:latin typeface="Consolas"/>
                <a:ea typeface="Consolas"/>
                <a:cs typeface="Consolas"/>
              </a:rPr>
              <a:t>);</a:t>
            </a:r>
            <a:endParaRPr lang="en-US" sz="750" dirty="0"/>
          </a:p>
        </p:txBody>
      </p:sp>
      <p:sp>
        <p:nvSpPr>
          <p:cNvPr id="132" name="s132"/>
          <p:cNvSpPr/>
          <p:nvPr/>
        </p:nvSpPr>
        <p:spPr>
          <a:xfrm>
            <a:off x="4294022" y="33421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r>
              <a:rPr lang="en-US" sz="750" b="0" dirty="0">
                <a:solidFill>
                  <a:srgbClr val="7DD3FC"/>
                </a:solidFill>
                <a:latin typeface="Consolas"/>
                <a:ea typeface="Consolas"/>
                <a:cs typeface="Consolas"/>
              </a:rPr>
              <a:t>Add</a:t>
            </a:r>
            <a:r>
              <a:rPr lang="en-US" sz="750" b="0" dirty="0">
                <a:solidFill>
                  <a:srgbClr val="E2E8F0"/>
                </a:solidFill>
                <a:latin typeface="Consolas"/>
                <a:ea typeface="Consolas"/>
                <a:cs typeface="Consolas"/>
              </a:rPr>
              <a:t>(</a:t>
            </a:r>
            <a:r>
              <a:rPr lang="en-US" sz="750" b="0" dirty="0">
                <a:solidFill>
                  <a:srgbClr val="C4B5FD"/>
                </a:solidFill>
                <a:latin typeface="Consolas"/>
                <a:ea typeface="Consolas"/>
                <a:cs typeface="Consolas"/>
              </a:rPr>
              <a:t>200m</a:t>
            </a:r>
            <a:r>
              <a:rPr lang="en-US" sz="750" b="0" dirty="0">
                <a:solidFill>
                  <a:srgbClr val="E2E8F0"/>
                </a:solidFill>
                <a:latin typeface="Consolas"/>
                <a:ea typeface="Consolas"/>
                <a:cs typeface="Consolas"/>
              </a:rPr>
              <a:t>, </a:t>
            </a:r>
            <a:r>
              <a:rPr lang="en-US" sz="750" b="0" dirty="0">
                <a:solidFill>
                  <a:srgbClr val="C4B5FD"/>
                </a:solidFill>
                <a:latin typeface="Consolas"/>
                <a:ea typeface="Consolas"/>
                <a:cs typeface="Consolas"/>
              </a:rPr>
              <a:t>180m</a:t>
            </a:r>
            <a:r>
              <a:rPr lang="en-US" sz="750" b="0" dirty="0">
                <a:solidFill>
                  <a:srgbClr val="E2E8F0"/>
                </a:solidFill>
                <a:latin typeface="Consolas"/>
                <a:ea typeface="Consolas"/>
                <a:cs typeface="Consolas"/>
              </a:rPr>
              <a:t>);</a:t>
            </a:r>
            <a:endParaRPr lang="en-US" sz="750" dirty="0"/>
          </a:p>
        </p:txBody>
      </p:sp>
      <p:sp>
        <p:nvSpPr>
          <p:cNvPr id="133" name="s133"/>
          <p:cNvSpPr/>
          <p:nvPr/>
        </p:nvSpPr>
        <p:spPr>
          <a:xfrm>
            <a:off x="4294022" y="34564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r>
              <a:rPr lang="en-US" sz="750" b="0" dirty="0">
                <a:solidFill>
                  <a:srgbClr val="7DD3FC"/>
                </a:solidFill>
                <a:latin typeface="Consolas"/>
                <a:ea typeface="Consolas"/>
                <a:cs typeface="Consolas"/>
              </a:rPr>
              <a:t>Add</a:t>
            </a:r>
            <a:r>
              <a:rPr lang="en-US" sz="750" b="0" dirty="0">
                <a:solidFill>
                  <a:srgbClr val="E2E8F0"/>
                </a:solidFill>
                <a:latin typeface="Consolas"/>
                <a:ea typeface="Consolas"/>
                <a:cs typeface="Consolas"/>
              </a:rPr>
              <a:t>(</a:t>
            </a:r>
            <a:r>
              <a:rPr lang="en-US" sz="750" b="0" dirty="0">
                <a:solidFill>
                  <a:srgbClr val="C4B5FD"/>
                </a:solidFill>
                <a:latin typeface="Consolas"/>
                <a:ea typeface="Consolas"/>
                <a:cs typeface="Consolas"/>
              </a:rPr>
              <a:t>500m</a:t>
            </a:r>
            <a:r>
              <a:rPr lang="en-US" sz="750" b="0" dirty="0">
                <a:solidFill>
                  <a:srgbClr val="E2E8F0"/>
                </a:solidFill>
                <a:latin typeface="Consolas"/>
                <a:ea typeface="Consolas"/>
                <a:cs typeface="Consolas"/>
              </a:rPr>
              <a:t>, </a:t>
            </a:r>
            <a:r>
              <a:rPr lang="en-US" sz="750" b="0" dirty="0">
                <a:solidFill>
                  <a:srgbClr val="C4B5FD"/>
                </a:solidFill>
                <a:latin typeface="Consolas"/>
                <a:ea typeface="Consolas"/>
                <a:cs typeface="Consolas"/>
              </a:rPr>
              <a:t>450m</a:t>
            </a:r>
            <a:r>
              <a:rPr lang="en-US" sz="750" b="0" dirty="0">
                <a:solidFill>
                  <a:srgbClr val="E2E8F0"/>
                </a:solidFill>
                <a:latin typeface="Consolas"/>
                <a:ea typeface="Consolas"/>
                <a:cs typeface="Consolas"/>
              </a:rPr>
              <a:t>);</a:t>
            </a:r>
            <a:endParaRPr lang="en-US" sz="750" dirty="0"/>
          </a:p>
        </p:txBody>
      </p:sp>
      <p:sp>
        <p:nvSpPr>
          <p:cNvPr id="134" name="s134"/>
          <p:cNvSpPr/>
          <p:nvPr/>
        </p:nvSpPr>
        <p:spPr>
          <a:xfrm>
            <a:off x="4294022" y="35707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r>
              <a:rPr lang="en-US" sz="750" b="0" dirty="0">
                <a:solidFill>
                  <a:srgbClr val="7DD3FC"/>
                </a:solidFill>
                <a:latin typeface="Consolas"/>
                <a:ea typeface="Consolas"/>
                <a:cs typeface="Consolas"/>
              </a:rPr>
              <a:t>Add</a:t>
            </a:r>
            <a:r>
              <a:rPr lang="en-US" sz="750" b="0" dirty="0">
                <a:solidFill>
                  <a:srgbClr val="E2E8F0"/>
                </a:solidFill>
                <a:latin typeface="Consolas"/>
                <a:ea typeface="Consolas"/>
                <a:cs typeface="Consolas"/>
              </a:rPr>
              <a:t>(</a:t>
            </a:r>
            <a:r>
              <a:rPr lang="en-US" sz="750" b="0" dirty="0">
                <a:solidFill>
                  <a:srgbClr val="C4B5FD"/>
                </a:solidFill>
                <a:latin typeface="Consolas"/>
                <a:ea typeface="Consolas"/>
                <a:cs typeface="Consolas"/>
              </a:rPr>
              <a:t>1000m</a:t>
            </a:r>
            <a:r>
              <a:rPr lang="en-US" sz="750" b="0" dirty="0">
                <a:solidFill>
                  <a:srgbClr val="E2E8F0"/>
                </a:solidFill>
                <a:latin typeface="Consolas"/>
                <a:ea typeface="Consolas"/>
                <a:cs typeface="Consolas"/>
              </a:rPr>
              <a:t>, </a:t>
            </a:r>
            <a:r>
              <a:rPr lang="en-US" sz="750" b="0" dirty="0">
                <a:solidFill>
                  <a:srgbClr val="C4B5FD"/>
                </a:solidFill>
                <a:latin typeface="Consolas"/>
                <a:ea typeface="Consolas"/>
                <a:cs typeface="Consolas"/>
              </a:rPr>
              <a:t>950m</a:t>
            </a:r>
            <a:r>
              <a:rPr lang="en-US" sz="750" b="0" dirty="0">
                <a:solidFill>
                  <a:srgbClr val="E2E8F0"/>
                </a:solidFill>
                <a:latin typeface="Consolas"/>
                <a:ea typeface="Consolas"/>
                <a:cs typeface="Consolas"/>
              </a:rPr>
              <a:t>);</a:t>
            </a:r>
            <a:endParaRPr lang="en-US" sz="750" dirty="0"/>
          </a:p>
        </p:txBody>
      </p:sp>
      <p:sp>
        <p:nvSpPr>
          <p:cNvPr id="135" name="s135"/>
          <p:cNvSpPr/>
          <p:nvPr/>
        </p:nvSpPr>
        <p:spPr>
          <a:xfrm>
            <a:off x="4294022" y="36850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endParaRPr lang="en-US" sz="750" dirty="0"/>
          </a:p>
        </p:txBody>
      </p:sp>
      <p:sp>
        <p:nvSpPr>
          <p:cNvPr id="136" name="s136"/>
          <p:cNvSpPr/>
          <p:nvPr/>
        </p:nvSpPr>
        <p:spPr>
          <a:xfrm>
            <a:off x="4294022" y="37993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a:t>
            </a:r>
            <a:endParaRPr lang="en-US" sz="750" dirty="0"/>
          </a:p>
        </p:txBody>
      </p:sp>
      <p:sp>
        <p:nvSpPr>
          <p:cNvPr id="137" name="s137"/>
          <p:cNvSpPr/>
          <p:nvPr/>
        </p:nvSpPr>
        <p:spPr>
          <a:xfrm>
            <a:off x="8044891" y="2240280"/>
            <a:ext cx="3586277" cy="25146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38" name="s138"/>
          <p:cNvSpPr/>
          <p:nvPr/>
        </p:nvSpPr>
        <p:spPr>
          <a:xfrm>
            <a:off x="8209483" y="23865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39" name="s139"/>
          <p:cNvSpPr/>
          <p:nvPr/>
        </p:nvSpPr>
        <p:spPr>
          <a:xfrm>
            <a:off x="8392363" y="23865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40" name="s140"/>
          <p:cNvSpPr/>
          <p:nvPr/>
        </p:nvSpPr>
        <p:spPr>
          <a:xfrm>
            <a:off x="8575243" y="23865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41" name="s141"/>
          <p:cNvSpPr/>
          <p:nvPr/>
        </p:nvSpPr>
        <p:spPr>
          <a:xfrm>
            <a:off x="8822131" y="231343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PriceCalculatorTests.cs</a:t>
            </a:r>
            <a:endParaRPr lang="en-US" sz="950" dirty="0"/>
          </a:p>
        </p:txBody>
      </p:sp>
      <p:cxnSp>
        <p:nvCxnSpPr>
          <p:cNvPr id="142" name="ln142"/>
          <p:cNvCxnSpPr/>
          <p:nvPr/>
        </p:nvCxnSpPr>
        <p:spPr>
          <a:xfrm>
            <a:off x="8044891" y="2651760"/>
            <a:ext cx="3586277" cy="0"/>
          </a:xfrm>
          <a:prstGeom prst="line">
            <a:avLst/>
          </a:prstGeom>
          <a:ln w="9525">
            <a:solidFill>
              <a:srgbClr val="1E3A5F"/>
            </a:solidFill>
          </a:ln>
        </p:spPr>
      </p:cxnSp>
      <p:sp>
        <p:nvSpPr>
          <p:cNvPr id="143" name="s143"/>
          <p:cNvSpPr/>
          <p:nvPr/>
        </p:nvSpPr>
        <p:spPr>
          <a:xfrm>
            <a:off x="8044891" y="27706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60A5FA"/>
                </a:solidFill>
                <a:latin typeface="Consolas"/>
                <a:ea typeface="Consolas"/>
                <a:cs typeface="Consolas"/>
              </a:rPr>
              <a:t>public</a:t>
            </a:r>
            <a:r>
              <a:rPr lang="en-US" sz="750" b="0" dirty="0">
                <a:solidFill>
                  <a:srgbClr val="E2E8F0"/>
                </a:solidFill>
                <a:latin typeface="Consolas"/>
                <a:ea typeface="Consolas"/>
                <a:cs typeface="Consolas"/>
              </a:rPr>
              <a:t> </a:t>
            </a:r>
            <a:r>
              <a:rPr lang="en-US" sz="750" b="0" dirty="0">
                <a:solidFill>
                  <a:srgbClr val="60A5FA"/>
                </a:solidFill>
                <a:latin typeface="Consolas"/>
                <a:ea typeface="Consolas"/>
                <a:cs typeface="Consolas"/>
              </a:rPr>
              <a:t>class</a:t>
            </a:r>
            <a:r>
              <a:rPr lang="en-US" sz="750" b="0" dirty="0">
                <a:solidFill>
                  <a:srgbClr val="E2E8F0"/>
                </a:solidFill>
                <a:latin typeface="Consolas"/>
                <a:ea typeface="Consolas"/>
                <a:cs typeface="Consolas"/>
              </a:rPr>
              <a:t> </a:t>
            </a:r>
            <a:r>
              <a:rPr lang="en-US" sz="750" b="0" dirty="0">
                <a:solidFill>
                  <a:srgbClr val="7DD3FC"/>
                </a:solidFill>
                <a:latin typeface="Consolas"/>
                <a:ea typeface="Consolas"/>
                <a:cs typeface="Consolas"/>
              </a:rPr>
              <a:t>PriceCalculatorTests</a:t>
            </a:r>
            <a:endParaRPr lang="en-US" sz="750" dirty="0"/>
          </a:p>
        </p:txBody>
      </p:sp>
      <p:sp>
        <p:nvSpPr>
          <p:cNvPr id="144" name="s144"/>
          <p:cNvSpPr/>
          <p:nvPr/>
        </p:nvSpPr>
        <p:spPr>
          <a:xfrm>
            <a:off x="8044891" y="28849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a:t>
            </a:r>
            <a:endParaRPr lang="en-US" sz="750" dirty="0"/>
          </a:p>
        </p:txBody>
      </p:sp>
      <p:sp>
        <p:nvSpPr>
          <p:cNvPr id="145" name="s145"/>
          <p:cNvSpPr/>
          <p:nvPr/>
        </p:nvSpPr>
        <p:spPr>
          <a:xfrm>
            <a:off x="8044891" y="29992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r>
              <a:rPr lang="en-US" sz="750" b="0" dirty="0">
                <a:solidFill>
                  <a:srgbClr val="FBBF24"/>
                </a:solidFill>
                <a:latin typeface="Consolas"/>
                <a:ea typeface="Consolas"/>
                <a:cs typeface="Consolas"/>
              </a:rPr>
              <a:t>[Theory]</a:t>
            </a:r>
            <a:endParaRPr lang="en-US" sz="750" dirty="0"/>
          </a:p>
        </p:txBody>
      </p:sp>
      <p:sp>
        <p:nvSpPr>
          <p:cNvPr id="146" name="s146"/>
          <p:cNvSpPr/>
          <p:nvPr/>
        </p:nvSpPr>
        <p:spPr>
          <a:xfrm>
            <a:off x="8044891" y="31135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r>
              <a:rPr lang="en-US" sz="750" b="0" dirty="0">
                <a:solidFill>
                  <a:srgbClr val="FBBF24"/>
                </a:solidFill>
                <a:latin typeface="Consolas"/>
                <a:ea typeface="Consolas"/>
                <a:cs typeface="Consolas"/>
              </a:rPr>
              <a:t>[ClassData(typeof(PriceTestData))]</a:t>
            </a:r>
            <a:endParaRPr lang="en-US" sz="750" dirty="0"/>
          </a:p>
        </p:txBody>
      </p:sp>
      <p:sp>
        <p:nvSpPr>
          <p:cNvPr id="147" name="s147"/>
          <p:cNvSpPr/>
          <p:nvPr/>
        </p:nvSpPr>
        <p:spPr>
          <a:xfrm>
            <a:off x="8044891" y="32278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r>
              <a:rPr lang="en-US" sz="750" b="0" dirty="0">
                <a:solidFill>
                  <a:srgbClr val="60A5FA"/>
                </a:solidFill>
                <a:latin typeface="Consolas"/>
                <a:ea typeface="Consolas"/>
                <a:cs typeface="Consolas"/>
              </a:rPr>
              <a:t>public</a:t>
            </a:r>
            <a:r>
              <a:rPr lang="en-US" sz="750" b="0" dirty="0">
                <a:solidFill>
                  <a:srgbClr val="E2E8F0"/>
                </a:solidFill>
                <a:latin typeface="Consolas"/>
                <a:ea typeface="Consolas"/>
                <a:cs typeface="Consolas"/>
              </a:rPr>
              <a:t> </a:t>
            </a:r>
            <a:r>
              <a:rPr lang="en-US" sz="750" b="0" dirty="0">
                <a:solidFill>
                  <a:srgbClr val="60A5FA"/>
                </a:solidFill>
                <a:latin typeface="Consolas"/>
                <a:ea typeface="Consolas"/>
                <a:cs typeface="Consolas"/>
              </a:rPr>
              <a:t>void</a:t>
            </a:r>
            <a:r>
              <a:rPr lang="en-US" sz="750" b="0" dirty="0">
                <a:solidFill>
                  <a:srgbClr val="E2E8F0"/>
                </a:solidFill>
                <a:latin typeface="Consolas"/>
                <a:ea typeface="Consolas"/>
                <a:cs typeface="Consolas"/>
              </a:rPr>
              <a:t> </a:t>
            </a:r>
            <a:r>
              <a:rPr lang="en-US" sz="750" b="0" dirty="0">
                <a:solidFill>
                  <a:srgbClr val="7DD3FC"/>
                </a:solidFill>
                <a:latin typeface="Consolas"/>
                <a:ea typeface="Consolas"/>
                <a:cs typeface="Consolas"/>
              </a:rPr>
              <a:t>CalculateDiscount_ReturnsExpected</a:t>
            </a:r>
            <a:r>
              <a:rPr lang="en-US" sz="750" b="0" dirty="0">
                <a:solidFill>
                  <a:srgbClr val="E2E8F0"/>
                </a:solidFill>
                <a:latin typeface="Consolas"/>
                <a:ea typeface="Consolas"/>
                <a:cs typeface="Consolas"/>
              </a:rPr>
              <a:t>(</a:t>
            </a:r>
            <a:endParaRPr lang="en-US" sz="750" dirty="0"/>
          </a:p>
        </p:txBody>
      </p:sp>
      <p:sp>
        <p:nvSpPr>
          <p:cNvPr id="148" name="s148"/>
          <p:cNvSpPr/>
          <p:nvPr/>
        </p:nvSpPr>
        <p:spPr>
          <a:xfrm>
            <a:off x="8044891" y="33421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r>
              <a:rPr lang="en-US" sz="750" b="0" dirty="0">
                <a:solidFill>
                  <a:srgbClr val="60A5FA"/>
                </a:solidFill>
                <a:latin typeface="Consolas"/>
                <a:ea typeface="Consolas"/>
                <a:cs typeface="Consolas"/>
              </a:rPr>
              <a:t>decimal</a:t>
            </a:r>
            <a:r>
              <a:rPr lang="en-US" sz="750" b="0" dirty="0">
                <a:solidFill>
                  <a:srgbClr val="E2E8F0"/>
                </a:solidFill>
                <a:latin typeface="Consolas"/>
                <a:ea typeface="Consolas"/>
                <a:cs typeface="Consolas"/>
              </a:rPr>
              <a:t> price,</a:t>
            </a:r>
            <a:endParaRPr lang="en-US" sz="750" dirty="0"/>
          </a:p>
        </p:txBody>
      </p:sp>
      <p:sp>
        <p:nvSpPr>
          <p:cNvPr id="149" name="s149"/>
          <p:cNvSpPr/>
          <p:nvPr/>
        </p:nvSpPr>
        <p:spPr>
          <a:xfrm>
            <a:off x="8044891" y="34564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r>
              <a:rPr lang="en-US" sz="750" b="0" dirty="0">
                <a:solidFill>
                  <a:srgbClr val="60A5FA"/>
                </a:solidFill>
                <a:latin typeface="Consolas"/>
                <a:ea typeface="Consolas"/>
                <a:cs typeface="Consolas"/>
              </a:rPr>
              <a:t>decimal</a:t>
            </a:r>
            <a:r>
              <a:rPr lang="en-US" sz="750" b="0" dirty="0">
                <a:solidFill>
                  <a:srgbClr val="E2E8F0"/>
                </a:solidFill>
                <a:latin typeface="Consolas"/>
                <a:ea typeface="Consolas"/>
                <a:cs typeface="Consolas"/>
              </a:rPr>
              <a:t> expected)</a:t>
            </a:r>
            <a:endParaRPr lang="en-US" sz="750" dirty="0"/>
          </a:p>
        </p:txBody>
      </p:sp>
      <p:sp>
        <p:nvSpPr>
          <p:cNvPr id="150" name="s150"/>
          <p:cNvSpPr/>
          <p:nvPr/>
        </p:nvSpPr>
        <p:spPr>
          <a:xfrm>
            <a:off x="8044891" y="35707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endParaRPr lang="en-US" sz="750" dirty="0"/>
          </a:p>
        </p:txBody>
      </p:sp>
      <p:sp>
        <p:nvSpPr>
          <p:cNvPr id="151" name="s151"/>
          <p:cNvSpPr/>
          <p:nvPr/>
        </p:nvSpPr>
        <p:spPr>
          <a:xfrm>
            <a:off x="8044891" y="36850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r>
              <a:rPr lang="en-US" sz="750" b="0" dirty="0">
                <a:solidFill>
                  <a:srgbClr val="60A5FA"/>
                </a:solidFill>
                <a:latin typeface="Consolas"/>
                <a:ea typeface="Consolas"/>
                <a:cs typeface="Consolas"/>
              </a:rPr>
              <a:t>var</a:t>
            </a:r>
            <a:r>
              <a:rPr lang="en-US" sz="750" b="0" dirty="0">
                <a:solidFill>
                  <a:srgbClr val="E2E8F0"/>
                </a:solidFill>
                <a:latin typeface="Consolas"/>
                <a:ea typeface="Consolas"/>
                <a:cs typeface="Consolas"/>
              </a:rPr>
              <a:t> result = </a:t>
            </a:r>
            <a:r>
              <a:rPr lang="en-US" sz="750" b="0" dirty="0">
                <a:solidFill>
                  <a:srgbClr val="7DD3FC"/>
                </a:solidFill>
                <a:latin typeface="Consolas"/>
                <a:ea typeface="Consolas"/>
                <a:cs typeface="Consolas"/>
              </a:rPr>
              <a:t>PriceCalculator</a:t>
            </a:r>
            <a:r>
              <a:rPr lang="en-US" sz="750" b="0" dirty="0">
                <a:solidFill>
                  <a:srgbClr val="E2E8F0"/>
                </a:solidFill>
                <a:latin typeface="Consolas"/>
                <a:ea typeface="Consolas"/>
                <a:cs typeface="Consolas"/>
              </a:rPr>
              <a:t>.</a:t>
            </a:r>
            <a:r>
              <a:rPr lang="en-US" sz="750" b="0" dirty="0">
                <a:solidFill>
                  <a:srgbClr val="7DD3FC"/>
                </a:solidFill>
                <a:latin typeface="Consolas"/>
                <a:ea typeface="Consolas"/>
                <a:cs typeface="Consolas"/>
              </a:rPr>
              <a:t>WithDiscount</a:t>
            </a:r>
            <a:r>
              <a:rPr lang="en-US" sz="750" b="0" dirty="0">
                <a:solidFill>
                  <a:srgbClr val="E2E8F0"/>
                </a:solidFill>
                <a:latin typeface="Consolas"/>
                <a:ea typeface="Consolas"/>
                <a:cs typeface="Consolas"/>
              </a:rPr>
              <a:t>(price);</a:t>
            </a:r>
            <a:endParaRPr lang="en-US" sz="750" dirty="0"/>
          </a:p>
        </p:txBody>
      </p:sp>
      <p:sp>
        <p:nvSpPr>
          <p:cNvPr id="152" name="s152"/>
          <p:cNvSpPr/>
          <p:nvPr/>
        </p:nvSpPr>
        <p:spPr>
          <a:xfrm>
            <a:off x="8044891" y="39136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r>
              <a:rPr lang="en-US" sz="750" b="0" dirty="0">
                <a:solidFill>
                  <a:srgbClr val="7DD3FC"/>
                </a:solidFill>
                <a:latin typeface="Consolas"/>
                <a:ea typeface="Consolas"/>
                <a:cs typeface="Consolas"/>
              </a:rPr>
              <a:t>Assert</a:t>
            </a:r>
            <a:r>
              <a:rPr lang="en-US" sz="750" b="0" dirty="0">
                <a:solidFill>
                  <a:srgbClr val="E2E8F0"/>
                </a:solidFill>
                <a:latin typeface="Consolas"/>
                <a:ea typeface="Consolas"/>
                <a:cs typeface="Consolas"/>
              </a:rPr>
              <a:t>.</a:t>
            </a:r>
            <a:r>
              <a:rPr lang="en-US" sz="750" b="0" dirty="0">
                <a:solidFill>
                  <a:srgbClr val="7DD3FC"/>
                </a:solidFill>
                <a:latin typeface="Consolas"/>
                <a:ea typeface="Consolas"/>
                <a:cs typeface="Consolas"/>
              </a:rPr>
              <a:t>Equal</a:t>
            </a:r>
            <a:r>
              <a:rPr lang="en-US" sz="750" b="0" dirty="0">
                <a:solidFill>
                  <a:srgbClr val="E2E8F0"/>
                </a:solidFill>
                <a:latin typeface="Consolas"/>
                <a:ea typeface="Consolas"/>
                <a:cs typeface="Consolas"/>
              </a:rPr>
              <a:t>(expected, result);</a:t>
            </a:r>
            <a:endParaRPr lang="en-US" sz="750" dirty="0"/>
          </a:p>
        </p:txBody>
      </p:sp>
      <p:sp>
        <p:nvSpPr>
          <p:cNvPr id="153" name="s153"/>
          <p:cNvSpPr/>
          <p:nvPr/>
        </p:nvSpPr>
        <p:spPr>
          <a:xfrm>
            <a:off x="8044891" y="40279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    }</a:t>
            </a:r>
            <a:endParaRPr lang="en-US" sz="750" dirty="0"/>
          </a:p>
        </p:txBody>
      </p:sp>
      <p:sp>
        <p:nvSpPr>
          <p:cNvPr id="154" name="s154"/>
          <p:cNvSpPr/>
          <p:nvPr/>
        </p:nvSpPr>
        <p:spPr>
          <a:xfrm>
            <a:off x="8044891" y="4142232"/>
            <a:ext cx="3586277" cy="1143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750" b="0" dirty="0">
                <a:solidFill>
                  <a:srgbClr val="E2E8F0"/>
                </a:solidFill>
                <a:latin typeface="Consolas"/>
                <a:ea typeface="Consolas"/>
                <a:cs typeface="Consolas"/>
              </a:rPr>
              <a:t>}</a:t>
            </a:r>
            <a:endParaRPr lang="en-US" sz="750" dirty="0"/>
          </a:p>
        </p:txBody>
      </p:sp>
      <p:sp>
        <p:nvSpPr>
          <p:cNvPr id="155" name="s155"/>
          <p:cNvSpPr/>
          <p:nvPr/>
        </p:nvSpPr>
        <p:spPr>
          <a:xfrm>
            <a:off x="652882" y="2865120"/>
            <a:ext cx="3366821" cy="420624"/>
          </a:xfrm>
          <a:prstGeom prst="roundRect">
            <a:avLst>
              <a:gd name="adj" fmla="val 6000"/>
            </a:avLst>
          </a:prstGeom>
          <a:solidFill>
            <a:srgbClr val="94A3B8">
              <a:alpha val="10000"/>
            </a:srgbClr>
          </a:solidFill>
          <a:ln w="15875">
            <a:solidFill>
              <a:srgbClr val="94A3B8"/>
            </a:solidFill>
            <a:prstDash val="solid"/>
          </a:ln>
        </p:spPr>
        <p:txBody>
          <a:bodyPr wrap="square" lIns="164592" tIns="109728" rIns="137160" bIns="91440" rtlCol="0" anchor="t">
            <a:noAutofit/>
          </a:bodyPr>
          <a:lstStyle/>
          <a:p>
            <a:endParaRPr lang="en-US"/>
          </a:p>
        </p:txBody>
      </p:sp>
      <p:sp>
        <p:nvSpPr>
          <p:cNvPr id="156" name="s156"/>
          <p:cNvSpPr/>
          <p:nvPr/>
        </p:nvSpPr>
        <p:spPr>
          <a:xfrm>
            <a:off x="4403750" y="2743200"/>
            <a:ext cx="3366821" cy="16916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
        <p:nvSpPr>
          <p:cNvPr id="157" name="s157"/>
          <p:cNvSpPr/>
          <p:nvPr/>
        </p:nvSpPr>
        <p:spPr>
          <a:xfrm>
            <a:off x="4403750" y="3200400"/>
            <a:ext cx="3366821" cy="51206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
        <p:nvSpPr>
          <p:cNvPr id="158" name="s158"/>
          <p:cNvSpPr/>
          <p:nvPr/>
        </p:nvSpPr>
        <p:spPr>
          <a:xfrm>
            <a:off x="8154619" y="2971800"/>
            <a:ext cx="3366821" cy="28346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59" name="s159"/>
          <p:cNvSpPr/>
          <p:nvPr/>
        </p:nvSpPr>
        <p:spPr>
          <a:xfrm>
            <a:off x="4294022" y="4846320"/>
            <a:ext cx="3586277" cy="457200"/>
          </a:xfrm>
          <a:prstGeom prst="roundRect">
            <a:avLst>
              <a:gd name="adj" fmla="val 20000"/>
            </a:avLst>
          </a:prstGeom>
          <a:solidFill>
            <a:srgbClr val="111B2E"/>
          </a:solidFill>
          <a:ln w="12700">
            <a:solidFill>
              <a:srgbClr val="FBBF24"/>
            </a:solidFill>
            <a:prstDash val="solid"/>
          </a:ln>
        </p:spPr>
        <p:txBody>
          <a:bodyPr wrap="square" lIns="137160" tIns="0" rIns="91440" bIns="0" rtlCol="0" anchor="ctr">
            <a:noAutofit/>
          </a:bodyPr>
          <a:lstStyle/>
          <a:p>
            <a:pPr marL="0" indent="0" algn="l">
              <a:spcBef>
                <a:spcPts val="0"/>
              </a:spcBef>
              <a:spcAft>
                <a:spcPts val="0"/>
              </a:spcAft>
              <a:buNone/>
            </a:pPr>
            <a:r>
              <a:rPr lang="en-US" sz="1000" b="1" dirty="0">
                <a:solidFill>
                  <a:srgbClr val="FBBF24"/>
                </a:solidFill>
                <a:latin typeface="Consolas"/>
                <a:ea typeface="Consolas"/>
                <a:cs typeface="Consolas"/>
              </a:rPr>
              <a:t>TheoryData&lt;decimal, decimal&gt;</a:t>
            </a:r>
            <a:r>
              <a:rPr lang="en-US" sz="1000" b="0" dirty="0">
                <a:solidFill>
                  <a:srgbClr val="E2E8F0"/>
                </a:solidFill>
                <a:latin typeface="Segoe UI"/>
                <a:ea typeface="Segoe UI"/>
                <a:cs typeface="Segoe UI"/>
              </a:rPr>
              <a:t> = price, expected</a:t>
            </a:r>
            <a:endParaRPr lang="en-US" sz="1000" dirty="0"/>
          </a:p>
        </p:txBody>
      </p:sp>
      <p:sp>
        <p:nvSpPr>
          <p:cNvPr id="160" name="s160"/>
          <p:cNvSpPr txBox="1"/>
          <p:nvPr/>
        </p:nvSpPr>
        <p:spPr>
          <a:xfrm>
            <a:off x="543154" y="5266944"/>
            <a:ext cx="54864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1" dirty="0">
                <a:solidFill>
                  <a:srgbClr val="13D0F7"/>
                </a:solidFill>
                <a:latin typeface="Segoe UI"/>
                <a:ea typeface="Segoe UI"/>
                <a:cs typeface="Segoe UI"/>
              </a:rPr>
              <a:t>WHEN xUNIT RUNS THE TEST, IT…</a:t>
            </a:r>
            <a:endParaRPr lang="en-US" sz="1000" dirty="0"/>
          </a:p>
        </p:txBody>
      </p:sp>
      <p:sp>
        <p:nvSpPr>
          <p:cNvPr id="161" name="s161"/>
          <p:cNvSpPr/>
          <p:nvPr/>
        </p:nvSpPr>
        <p:spPr>
          <a:xfrm>
            <a:off x="543154" y="5559552"/>
            <a:ext cx="2634844" cy="502920"/>
          </a:xfrm>
          <a:prstGeom prst="roundRect">
            <a:avLst>
              <a:gd name="adj" fmla="val 20000"/>
            </a:avLst>
          </a:prstGeom>
          <a:solidFill>
            <a:srgbClr val="13D0F7">
              <a:alpha val="10000"/>
            </a:srgbClr>
          </a:solidFill>
          <a:ln w="12700">
            <a:solidFill>
              <a:srgbClr val="13D0F7"/>
            </a:solidFill>
            <a:prstDash val="solid"/>
          </a:ln>
        </p:spPr>
        <p:txBody>
          <a:bodyPr wrap="square" lIns="137160" tIns="0" rIns="91440" bIns="0" rtlCol="0" anchor="ctr">
            <a:noAutofit/>
          </a:bodyPr>
          <a:lstStyle/>
          <a:p>
            <a:pPr marL="0" indent="0" algn="l">
              <a:spcBef>
                <a:spcPts val="0"/>
              </a:spcBef>
              <a:spcAft>
                <a:spcPts val="0"/>
              </a:spcAft>
              <a:buNone/>
            </a:pPr>
            <a:r>
              <a:rPr lang="en-US" sz="1150" b="1" dirty="0">
                <a:solidFill>
                  <a:srgbClr val="13D0F7"/>
                </a:solidFill>
                <a:latin typeface="Segoe UI"/>
                <a:ea typeface="Segoe UI"/>
                <a:cs typeface="Segoe UI"/>
              </a:rPr>
              <a:t>1  </a:t>
            </a:r>
            <a:r>
              <a:rPr lang="en-US" sz="1150" b="1" dirty="0">
                <a:solidFill>
                  <a:srgbClr val="FFFFFF"/>
                </a:solidFill>
                <a:latin typeface="Segoe UI"/>
                <a:ea typeface="Segoe UI"/>
                <a:cs typeface="Segoe UI"/>
              </a:rPr>
              <a:t>Creates an instance of PriceTestData</a:t>
            </a:r>
            <a:endParaRPr lang="en-US" sz="1150" dirty="0"/>
          </a:p>
        </p:txBody>
      </p:sp>
      <p:sp>
        <p:nvSpPr>
          <p:cNvPr id="162" name="s162"/>
          <p:cNvSpPr/>
          <p:nvPr/>
        </p:nvSpPr>
        <p:spPr>
          <a:xfrm>
            <a:off x="3360877" y="5559552"/>
            <a:ext cx="2634844" cy="502920"/>
          </a:xfrm>
          <a:prstGeom prst="roundRect">
            <a:avLst>
              <a:gd name="adj" fmla="val 20000"/>
            </a:avLst>
          </a:prstGeom>
          <a:solidFill>
            <a:srgbClr val="13D0F7">
              <a:alpha val="10000"/>
            </a:srgbClr>
          </a:solidFill>
          <a:ln w="12700">
            <a:solidFill>
              <a:srgbClr val="13D0F7"/>
            </a:solidFill>
            <a:prstDash val="solid"/>
          </a:ln>
        </p:spPr>
        <p:txBody>
          <a:bodyPr wrap="square" lIns="137160" tIns="0" rIns="91440" bIns="0" rtlCol="0" anchor="ctr">
            <a:noAutofit/>
          </a:bodyPr>
          <a:lstStyle/>
          <a:p>
            <a:pPr marL="0" indent="0" algn="l">
              <a:spcBef>
                <a:spcPts val="0"/>
              </a:spcBef>
              <a:spcAft>
                <a:spcPts val="0"/>
              </a:spcAft>
              <a:buNone/>
            </a:pPr>
            <a:r>
              <a:rPr lang="en-US" sz="1150" b="1" dirty="0">
                <a:solidFill>
                  <a:srgbClr val="13D0F7"/>
                </a:solidFill>
                <a:latin typeface="Segoe UI"/>
                <a:ea typeface="Segoe UI"/>
                <a:cs typeface="Segoe UI"/>
              </a:rPr>
              <a:t>2  </a:t>
            </a:r>
            <a:r>
              <a:rPr lang="en-US" sz="1150" b="1" dirty="0">
                <a:solidFill>
                  <a:srgbClr val="FFFFFF"/>
                </a:solidFill>
                <a:latin typeface="Segoe UI"/>
                <a:ea typeface="Segoe UI"/>
                <a:cs typeface="Segoe UI"/>
              </a:rPr>
              <a:t>Reads the rows from that class</a:t>
            </a:r>
            <a:endParaRPr lang="en-US" sz="1150" dirty="0"/>
          </a:p>
        </p:txBody>
      </p:sp>
      <p:cxnSp>
        <p:nvCxnSpPr>
          <p:cNvPr id="163" name="ln163"/>
          <p:cNvCxnSpPr/>
          <p:nvPr/>
        </p:nvCxnSpPr>
        <p:spPr>
          <a:xfrm>
            <a:off x="3205429" y="5811012"/>
            <a:ext cx="128016" cy="0"/>
          </a:xfrm>
          <a:prstGeom prst="line">
            <a:avLst/>
          </a:prstGeom>
          <a:ln w="19050">
            <a:solidFill>
              <a:srgbClr val="13D0F7"/>
            </a:solidFill>
            <a:tailEnd type="triangle" w="med" len="med"/>
          </a:ln>
        </p:spPr>
      </p:cxnSp>
      <p:sp>
        <p:nvSpPr>
          <p:cNvPr id="164" name="s164"/>
          <p:cNvSpPr/>
          <p:nvPr/>
        </p:nvSpPr>
        <p:spPr>
          <a:xfrm>
            <a:off x="6178601" y="5559552"/>
            <a:ext cx="2634844" cy="502920"/>
          </a:xfrm>
          <a:prstGeom prst="roundRect">
            <a:avLst>
              <a:gd name="adj" fmla="val 20000"/>
            </a:avLst>
          </a:prstGeom>
          <a:solidFill>
            <a:srgbClr val="13D0F7">
              <a:alpha val="10000"/>
            </a:srgbClr>
          </a:solidFill>
          <a:ln w="12700">
            <a:solidFill>
              <a:srgbClr val="13D0F7"/>
            </a:solidFill>
            <a:prstDash val="solid"/>
          </a:ln>
        </p:spPr>
        <p:txBody>
          <a:bodyPr wrap="square" lIns="137160" tIns="0" rIns="91440" bIns="0" rtlCol="0" anchor="ctr">
            <a:noAutofit/>
          </a:bodyPr>
          <a:lstStyle/>
          <a:p>
            <a:pPr marL="0" indent="0" algn="l">
              <a:spcBef>
                <a:spcPts val="0"/>
              </a:spcBef>
              <a:spcAft>
                <a:spcPts val="0"/>
              </a:spcAft>
              <a:buNone/>
            </a:pPr>
            <a:r>
              <a:rPr lang="en-US" sz="1150" b="1" dirty="0">
                <a:solidFill>
                  <a:srgbClr val="13D0F7"/>
                </a:solidFill>
                <a:latin typeface="Segoe UI"/>
                <a:ea typeface="Segoe UI"/>
                <a:cs typeface="Segoe UI"/>
              </a:rPr>
              <a:t>3  </a:t>
            </a:r>
            <a:r>
              <a:rPr lang="en-US" sz="1150" b="1" dirty="0">
                <a:solidFill>
                  <a:srgbClr val="FFFFFF"/>
                </a:solidFill>
                <a:latin typeface="Segoe UI"/>
                <a:ea typeface="Segoe UI"/>
                <a:cs typeface="Segoe UI"/>
              </a:rPr>
              <a:t>Runs the test once per row</a:t>
            </a:r>
            <a:endParaRPr lang="en-US" sz="1150" dirty="0"/>
          </a:p>
        </p:txBody>
      </p:sp>
      <p:cxnSp>
        <p:nvCxnSpPr>
          <p:cNvPr id="165" name="ln165"/>
          <p:cNvCxnSpPr/>
          <p:nvPr/>
        </p:nvCxnSpPr>
        <p:spPr>
          <a:xfrm>
            <a:off x="6023153" y="5811012"/>
            <a:ext cx="128016" cy="0"/>
          </a:xfrm>
          <a:prstGeom prst="line">
            <a:avLst/>
          </a:prstGeom>
          <a:ln w="19050">
            <a:solidFill>
              <a:srgbClr val="13D0F7"/>
            </a:solidFill>
            <a:tailEnd type="triangle" w="med" len="med"/>
          </a:ln>
        </p:spPr>
      </p:cxnSp>
      <p:sp>
        <p:nvSpPr>
          <p:cNvPr id="166" name="s166"/>
          <p:cNvSpPr/>
          <p:nvPr/>
        </p:nvSpPr>
        <p:spPr>
          <a:xfrm>
            <a:off x="8996324" y="5559552"/>
            <a:ext cx="2634844" cy="502920"/>
          </a:xfrm>
          <a:prstGeom prst="roundRect">
            <a:avLst>
              <a:gd name="adj" fmla="val 20000"/>
            </a:avLst>
          </a:prstGeom>
          <a:solidFill>
            <a:srgbClr val="13D0F7">
              <a:alpha val="10000"/>
            </a:srgbClr>
          </a:solidFill>
          <a:ln w="12700">
            <a:solidFill>
              <a:srgbClr val="13D0F7"/>
            </a:solidFill>
            <a:prstDash val="solid"/>
          </a:ln>
        </p:spPr>
        <p:txBody>
          <a:bodyPr wrap="square" lIns="137160" tIns="0" rIns="91440" bIns="0" rtlCol="0" anchor="ctr">
            <a:noAutofit/>
          </a:bodyPr>
          <a:lstStyle/>
          <a:p>
            <a:pPr marL="0" indent="0" algn="l">
              <a:spcBef>
                <a:spcPts val="0"/>
              </a:spcBef>
              <a:spcAft>
                <a:spcPts val="0"/>
              </a:spcAft>
              <a:buNone/>
            </a:pPr>
            <a:r>
              <a:rPr lang="en-US" sz="1150" b="1" dirty="0">
                <a:solidFill>
                  <a:srgbClr val="13D0F7"/>
                </a:solidFill>
                <a:latin typeface="Segoe UI"/>
                <a:ea typeface="Segoe UI"/>
                <a:cs typeface="Segoe UI"/>
              </a:rPr>
              <a:t>4  </a:t>
            </a:r>
            <a:r>
              <a:rPr lang="en-US" sz="1150" b="1" dirty="0">
                <a:solidFill>
                  <a:srgbClr val="FFFFFF"/>
                </a:solidFill>
                <a:latin typeface="Segoe UI"/>
                <a:ea typeface="Segoe UI"/>
                <a:cs typeface="Segoe UI"/>
              </a:rPr>
              <a:t>Reports a result for each row</a:t>
            </a:r>
            <a:endParaRPr lang="en-US" sz="1150" dirty="0"/>
          </a:p>
        </p:txBody>
      </p:sp>
      <p:cxnSp>
        <p:nvCxnSpPr>
          <p:cNvPr id="167" name="ln167"/>
          <p:cNvCxnSpPr/>
          <p:nvPr/>
        </p:nvCxnSpPr>
        <p:spPr>
          <a:xfrm>
            <a:off x="8840876" y="5811012"/>
            <a:ext cx="128016" cy="0"/>
          </a:xfrm>
          <a:prstGeom prst="line">
            <a:avLst/>
          </a:prstGeom>
          <a:ln w="19050">
            <a:solidFill>
              <a:srgbClr val="13D0F7"/>
            </a:solidFill>
            <a:tailEnd type="triangle" w="med" len="med"/>
          </a:ln>
        </p:spPr>
      </p:cxn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childTnLst>
                                </p:cTn>
                              </p:par>
                              <p:par>
                                <p:cTn id="8" presetID="42" presetClass="entr" presetSubtype="0" fill="hold" grpId="0" nodeType="withEffect">
                                  <p:stCondLst>
                                    <p:cond delay="150"/>
                                  </p:stCondLst>
                                  <p:childTnLst>
                                    <p:set>
                                      <p:cBhvr>
                                        <p:cTn id="9" dur="1" fill="hold">
                                          <p:stCondLst>
                                            <p:cond delay="0"/>
                                          </p:stCondLst>
                                        </p:cTn>
                                        <p:tgtEl>
                                          <p:spTgt spid="104"/>
                                        </p:tgtEl>
                                        <p:attrNameLst>
                                          <p:attrName>style.visibility</p:attrName>
                                        </p:attrNameLst>
                                      </p:cBhvr>
                                      <p:to>
                                        <p:strVal val="visible"/>
                                      </p:to>
                                    </p:set>
                                    <p:animEffect transition="in" filter="fade">
                                      <p:cBhvr>
                                        <p:cTn id="10" dur="500"/>
                                        <p:tgtEl>
                                          <p:spTgt spid="104"/>
                                        </p:tgtEl>
                                      </p:cBhvr>
                                    </p:animEffect>
                                    <p:anim calcmode="lin" valueType="num">
                                      <p:cBhvr additive="base">
                                        <p:cTn id="11" dur="500" decel="100000" fill="hold"/>
                                        <p:tgtEl>
                                          <p:spTgt spid="104"/>
                                        </p:tgtEl>
                                        <p:attrNameLst>
                                          <p:attrName>ppt_y</p:attrName>
                                        </p:attrNameLst>
                                      </p:cBhvr>
                                      <p:tavLst>
                                        <p:tav tm="0">
                                          <p:val>
                                            <p:strVal val="#ppt_y+0.06"/>
                                          </p:val>
                                        </p:tav>
                                        <p:tav tm="100000">
                                          <p:val>
                                            <p:strVal val="#ppt_y"/>
                                          </p:val>
                                        </p:tav>
                                      </p:tavLst>
                                    </p:anim>
                                  </p:childTnLst>
                                </p:cTn>
                              </p:par>
                              <p:par>
                                <p:cTn id="12" presetID="42" presetClass="entr" presetSubtype="0" fill="hold" grpId="0" nodeType="withEffect">
                                  <p:stCondLst>
                                    <p:cond delay="150"/>
                                  </p:stCondLst>
                                  <p:childTnLst>
                                    <p:set>
                                      <p:cBhvr>
                                        <p:cTn id="13" dur="1" fill="hold">
                                          <p:stCondLst>
                                            <p:cond delay="0"/>
                                          </p:stCondLst>
                                        </p:cTn>
                                        <p:tgtEl>
                                          <p:spTgt spid="105"/>
                                        </p:tgtEl>
                                        <p:attrNameLst>
                                          <p:attrName>style.visibility</p:attrName>
                                        </p:attrNameLst>
                                      </p:cBhvr>
                                      <p:to>
                                        <p:strVal val="visible"/>
                                      </p:to>
                                    </p:set>
                                    <p:animEffect transition="in" filter="fade">
                                      <p:cBhvr>
                                        <p:cTn id="14" dur="500"/>
                                        <p:tgtEl>
                                          <p:spTgt spid="105"/>
                                        </p:tgtEl>
                                      </p:cBhvr>
                                    </p:animEffect>
                                    <p:anim calcmode="lin" valueType="num">
                                      <p:cBhvr additive="base">
                                        <p:cTn id="15" dur="500" decel="100000" fill="hold"/>
                                        <p:tgtEl>
                                          <p:spTgt spid="105"/>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150"/>
                                  </p:stCondLst>
                                  <p:childTnLst>
                                    <p:set>
                                      <p:cBhvr>
                                        <p:cTn id="17" dur="1" fill="hold">
                                          <p:stCondLst>
                                            <p:cond delay="0"/>
                                          </p:stCondLst>
                                        </p:cTn>
                                        <p:tgtEl>
                                          <p:spTgt spid="106"/>
                                        </p:tgtEl>
                                        <p:attrNameLst>
                                          <p:attrName>style.visibility</p:attrName>
                                        </p:attrNameLst>
                                      </p:cBhvr>
                                      <p:to>
                                        <p:strVal val="visible"/>
                                      </p:to>
                                    </p:set>
                                    <p:animEffect transition="in" filter="fade">
                                      <p:cBhvr>
                                        <p:cTn id="18" dur="500"/>
                                        <p:tgtEl>
                                          <p:spTgt spid="106"/>
                                        </p:tgtEl>
                                      </p:cBhvr>
                                    </p:animEffect>
                                    <p:anim calcmode="lin" valueType="num">
                                      <p:cBhvr additive="base">
                                        <p:cTn id="19" dur="500" decel="100000" fill="hold"/>
                                        <p:tgtEl>
                                          <p:spTgt spid="106"/>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150"/>
                                  </p:stCondLst>
                                  <p:childTnLst>
                                    <p:set>
                                      <p:cBhvr>
                                        <p:cTn id="21" dur="1" fill="hold">
                                          <p:stCondLst>
                                            <p:cond delay="0"/>
                                          </p:stCondLst>
                                        </p:cTn>
                                        <p:tgtEl>
                                          <p:spTgt spid="107"/>
                                        </p:tgtEl>
                                        <p:attrNameLst>
                                          <p:attrName>style.visibility</p:attrName>
                                        </p:attrNameLst>
                                      </p:cBhvr>
                                      <p:to>
                                        <p:strVal val="visible"/>
                                      </p:to>
                                    </p:set>
                                    <p:animEffect transition="in" filter="fade">
                                      <p:cBhvr>
                                        <p:cTn id="22" dur="500"/>
                                        <p:tgtEl>
                                          <p:spTgt spid="107"/>
                                        </p:tgtEl>
                                      </p:cBhvr>
                                    </p:animEffect>
                                    <p:anim calcmode="lin" valueType="num">
                                      <p:cBhvr additive="base">
                                        <p:cTn id="23" dur="500" decel="100000" fill="hold"/>
                                        <p:tgtEl>
                                          <p:spTgt spid="107"/>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150"/>
                                  </p:stCondLst>
                                  <p:childTnLst>
                                    <p:set>
                                      <p:cBhvr>
                                        <p:cTn id="25" dur="1" fill="hold">
                                          <p:stCondLst>
                                            <p:cond delay="0"/>
                                          </p:stCondLst>
                                        </p:cTn>
                                        <p:tgtEl>
                                          <p:spTgt spid="108"/>
                                        </p:tgtEl>
                                        <p:attrNameLst>
                                          <p:attrName>style.visibility</p:attrName>
                                        </p:attrNameLst>
                                      </p:cBhvr>
                                      <p:to>
                                        <p:strVal val="visible"/>
                                      </p:to>
                                    </p:set>
                                    <p:animEffect transition="in" filter="fade">
                                      <p:cBhvr>
                                        <p:cTn id="26" dur="500"/>
                                        <p:tgtEl>
                                          <p:spTgt spid="108"/>
                                        </p:tgtEl>
                                      </p:cBhvr>
                                    </p:animEffect>
                                    <p:anim calcmode="lin" valueType="num">
                                      <p:cBhvr additive="base">
                                        <p:cTn id="27" dur="500" decel="100000" fill="hold"/>
                                        <p:tgtEl>
                                          <p:spTgt spid="108"/>
                                        </p:tgtEl>
                                        <p:attrNameLst>
                                          <p:attrName>ppt_y</p:attrName>
                                        </p:attrNameLst>
                                      </p:cBhvr>
                                      <p:tavLst>
                                        <p:tav tm="0">
                                          <p:val>
                                            <p:strVal val="#ppt_y+0.06"/>
                                          </p:val>
                                        </p:tav>
                                        <p:tav tm="100000">
                                          <p:val>
                                            <p:strVal val="#ppt_y"/>
                                          </p:val>
                                        </p:tav>
                                      </p:tavLst>
                                    </p:anim>
                                  </p:childTnLst>
                                </p:cTn>
                              </p:par>
                              <p:par>
                                <p:cTn id="28" presetID="42" presetClass="entr" presetSubtype="0" fill="hold" nodeType="withEffect">
                                  <p:stCondLst>
                                    <p:cond delay="150"/>
                                  </p:stCondLst>
                                  <p:childTnLst>
                                    <p:set>
                                      <p:cBhvr>
                                        <p:cTn id="29" dur="1" fill="hold">
                                          <p:stCondLst>
                                            <p:cond delay="0"/>
                                          </p:stCondLst>
                                        </p:cTn>
                                        <p:tgtEl>
                                          <p:spTgt spid="109"/>
                                        </p:tgtEl>
                                        <p:attrNameLst>
                                          <p:attrName>style.visibility</p:attrName>
                                        </p:attrNameLst>
                                      </p:cBhvr>
                                      <p:to>
                                        <p:strVal val="visible"/>
                                      </p:to>
                                    </p:set>
                                    <p:animEffect transition="in" filter="fade">
                                      <p:cBhvr>
                                        <p:cTn id="30" dur="500"/>
                                        <p:tgtEl>
                                          <p:spTgt spid="109"/>
                                        </p:tgtEl>
                                      </p:cBhvr>
                                    </p:animEffect>
                                    <p:anim calcmode="lin" valueType="num">
                                      <p:cBhvr additive="base">
                                        <p:cTn id="31" dur="500" decel="100000" fill="hold"/>
                                        <p:tgtEl>
                                          <p:spTgt spid="109"/>
                                        </p:tgtEl>
                                        <p:attrNameLst>
                                          <p:attrName>ppt_y</p:attrName>
                                        </p:attrNameLst>
                                      </p:cBhvr>
                                      <p:tavLst>
                                        <p:tav tm="0">
                                          <p:val>
                                            <p:strVal val="#ppt_y+0.06"/>
                                          </p:val>
                                        </p:tav>
                                        <p:tav tm="100000">
                                          <p:val>
                                            <p:strVal val="#ppt_y"/>
                                          </p:val>
                                        </p:tav>
                                      </p:tavLst>
                                    </p:anim>
                                  </p:childTnLst>
                                </p:cTn>
                              </p:par>
                              <p:par>
                                <p:cTn id="32" presetID="42" presetClass="entr" presetSubtype="0" fill="hold" grpId="0" nodeType="withEffect">
                                  <p:stCondLst>
                                    <p:cond delay="150"/>
                                  </p:stCondLst>
                                  <p:childTnLst>
                                    <p:set>
                                      <p:cBhvr>
                                        <p:cTn id="33" dur="1" fill="hold">
                                          <p:stCondLst>
                                            <p:cond delay="0"/>
                                          </p:stCondLst>
                                        </p:cTn>
                                        <p:tgtEl>
                                          <p:spTgt spid="110"/>
                                        </p:tgtEl>
                                        <p:attrNameLst>
                                          <p:attrName>style.visibility</p:attrName>
                                        </p:attrNameLst>
                                      </p:cBhvr>
                                      <p:to>
                                        <p:strVal val="visible"/>
                                      </p:to>
                                    </p:set>
                                    <p:animEffect transition="in" filter="fade">
                                      <p:cBhvr>
                                        <p:cTn id="34" dur="500"/>
                                        <p:tgtEl>
                                          <p:spTgt spid="110"/>
                                        </p:tgtEl>
                                      </p:cBhvr>
                                    </p:animEffect>
                                    <p:anim calcmode="lin" valueType="num">
                                      <p:cBhvr additive="base">
                                        <p:cTn id="35" dur="500" decel="100000" fill="hold"/>
                                        <p:tgtEl>
                                          <p:spTgt spid="110"/>
                                        </p:tgtEl>
                                        <p:attrNameLst>
                                          <p:attrName>ppt_y</p:attrName>
                                        </p:attrNameLst>
                                      </p:cBhvr>
                                      <p:tavLst>
                                        <p:tav tm="0">
                                          <p:val>
                                            <p:strVal val="#ppt_y+0.06"/>
                                          </p:val>
                                        </p:tav>
                                        <p:tav tm="100000">
                                          <p:val>
                                            <p:strVal val="#ppt_y"/>
                                          </p:val>
                                        </p:tav>
                                      </p:tavLst>
                                    </p:anim>
                                  </p:childTnLst>
                                </p:cTn>
                              </p:par>
                              <p:par>
                                <p:cTn id="36" presetID="42" presetClass="entr" presetSubtype="0" fill="hold" grpId="0" nodeType="withEffect">
                                  <p:stCondLst>
                                    <p:cond delay="150"/>
                                  </p:stCondLst>
                                  <p:childTnLst>
                                    <p:set>
                                      <p:cBhvr>
                                        <p:cTn id="37" dur="1" fill="hold">
                                          <p:stCondLst>
                                            <p:cond delay="0"/>
                                          </p:stCondLst>
                                        </p:cTn>
                                        <p:tgtEl>
                                          <p:spTgt spid="111"/>
                                        </p:tgtEl>
                                        <p:attrNameLst>
                                          <p:attrName>style.visibility</p:attrName>
                                        </p:attrNameLst>
                                      </p:cBhvr>
                                      <p:to>
                                        <p:strVal val="visible"/>
                                      </p:to>
                                    </p:set>
                                    <p:animEffect transition="in" filter="fade">
                                      <p:cBhvr>
                                        <p:cTn id="38" dur="500"/>
                                        <p:tgtEl>
                                          <p:spTgt spid="111"/>
                                        </p:tgtEl>
                                      </p:cBhvr>
                                    </p:animEffect>
                                    <p:anim calcmode="lin" valueType="num">
                                      <p:cBhvr additive="base">
                                        <p:cTn id="39" dur="500" decel="100000" fill="hold"/>
                                        <p:tgtEl>
                                          <p:spTgt spid="111"/>
                                        </p:tgtEl>
                                        <p:attrNameLst>
                                          <p:attrName>ppt_y</p:attrName>
                                        </p:attrNameLst>
                                      </p:cBhvr>
                                      <p:tavLst>
                                        <p:tav tm="0">
                                          <p:val>
                                            <p:strVal val="#ppt_y+0.06"/>
                                          </p:val>
                                        </p:tav>
                                        <p:tav tm="100000">
                                          <p:val>
                                            <p:strVal val="#ppt_y"/>
                                          </p:val>
                                        </p:tav>
                                      </p:tavLst>
                                    </p:anim>
                                  </p:childTnLst>
                                </p:cTn>
                              </p:par>
                              <p:par>
                                <p:cTn id="40" presetID="42" presetClass="entr" presetSubtype="0" fill="hold" grpId="0" nodeType="withEffect">
                                  <p:stCondLst>
                                    <p:cond delay="150"/>
                                  </p:stCondLst>
                                  <p:childTnLst>
                                    <p:set>
                                      <p:cBhvr>
                                        <p:cTn id="41" dur="1" fill="hold">
                                          <p:stCondLst>
                                            <p:cond delay="0"/>
                                          </p:stCondLst>
                                        </p:cTn>
                                        <p:tgtEl>
                                          <p:spTgt spid="112"/>
                                        </p:tgtEl>
                                        <p:attrNameLst>
                                          <p:attrName>style.visibility</p:attrName>
                                        </p:attrNameLst>
                                      </p:cBhvr>
                                      <p:to>
                                        <p:strVal val="visible"/>
                                      </p:to>
                                    </p:set>
                                    <p:animEffect transition="in" filter="fade">
                                      <p:cBhvr>
                                        <p:cTn id="42" dur="500"/>
                                        <p:tgtEl>
                                          <p:spTgt spid="112"/>
                                        </p:tgtEl>
                                      </p:cBhvr>
                                    </p:animEffect>
                                    <p:anim calcmode="lin" valueType="num">
                                      <p:cBhvr additive="base">
                                        <p:cTn id="43" dur="500" decel="100000" fill="hold"/>
                                        <p:tgtEl>
                                          <p:spTgt spid="112"/>
                                        </p:tgtEl>
                                        <p:attrNameLst>
                                          <p:attrName>ppt_y</p:attrName>
                                        </p:attrNameLst>
                                      </p:cBhvr>
                                      <p:tavLst>
                                        <p:tav tm="0">
                                          <p:val>
                                            <p:strVal val="#ppt_y+0.06"/>
                                          </p:val>
                                        </p:tav>
                                        <p:tav tm="100000">
                                          <p:val>
                                            <p:strVal val="#ppt_y"/>
                                          </p:val>
                                        </p:tav>
                                      </p:tavLst>
                                    </p:anim>
                                  </p:childTnLst>
                                </p:cTn>
                              </p:par>
                              <p:par>
                                <p:cTn id="44" presetID="42" presetClass="entr" presetSubtype="0" fill="hold" grpId="0" nodeType="withEffect">
                                  <p:stCondLst>
                                    <p:cond delay="150"/>
                                  </p:stCondLst>
                                  <p:childTnLst>
                                    <p:set>
                                      <p:cBhvr>
                                        <p:cTn id="45" dur="1" fill="hold">
                                          <p:stCondLst>
                                            <p:cond delay="0"/>
                                          </p:stCondLst>
                                        </p:cTn>
                                        <p:tgtEl>
                                          <p:spTgt spid="113"/>
                                        </p:tgtEl>
                                        <p:attrNameLst>
                                          <p:attrName>style.visibility</p:attrName>
                                        </p:attrNameLst>
                                      </p:cBhvr>
                                      <p:to>
                                        <p:strVal val="visible"/>
                                      </p:to>
                                    </p:set>
                                    <p:animEffect transition="in" filter="fade">
                                      <p:cBhvr>
                                        <p:cTn id="46" dur="500"/>
                                        <p:tgtEl>
                                          <p:spTgt spid="113"/>
                                        </p:tgtEl>
                                      </p:cBhvr>
                                    </p:animEffect>
                                    <p:anim calcmode="lin" valueType="num">
                                      <p:cBhvr additive="base">
                                        <p:cTn id="47" dur="500" decel="100000" fill="hold"/>
                                        <p:tgtEl>
                                          <p:spTgt spid="113"/>
                                        </p:tgtEl>
                                        <p:attrNameLst>
                                          <p:attrName>ppt_y</p:attrName>
                                        </p:attrNameLst>
                                      </p:cBhvr>
                                      <p:tavLst>
                                        <p:tav tm="0">
                                          <p:val>
                                            <p:strVal val="#ppt_y+0.06"/>
                                          </p:val>
                                        </p:tav>
                                        <p:tav tm="100000">
                                          <p:val>
                                            <p:strVal val="#ppt_y"/>
                                          </p:val>
                                        </p:tav>
                                      </p:tavLst>
                                    </p:anim>
                                  </p:childTnLst>
                                </p:cTn>
                              </p:par>
                              <p:par>
                                <p:cTn id="48" presetID="42" presetClass="entr" presetSubtype="0" fill="hold" grpId="0" nodeType="withEffect">
                                  <p:stCondLst>
                                    <p:cond delay="150"/>
                                  </p:stCondLst>
                                  <p:childTnLst>
                                    <p:set>
                                      <p:cBhvr>
                                        <p:cTn id="49" dur="1" fill="hold">
                                          <p:stCondLst>
                                            <p:cond delay="0"/>
                                          </p:stCondLst>
                                        </p:cTn>
                                        <p:tgtEl>
                                          <p:spTgt spid="114"/>
                                        </p:tgtEl>
                                        <p:attrNameLst>
                                          <p:attrName>style.visibility</p:attrName>
                                        </p:attrNameLst>
                                      </p:cBhvr>
                                      <p:to>
                                        <p:strVal val="visible"/>
                                      </p:to>
                                    </p:set>
                                    <p:animEffect transition="in" filter="fade">
                                      <p:cBhvr>
                                        <p:cTn id="50" dur="500"/>
                                        <p:tgtEl>
                                          <p:spTgt spid="114"/>
                                        </p:tgtEl>
                                      </p:cBhvr>
                                    </p:animEffect>
                                    <p:anim calcmode="lin" valueType="num">
                                      <p:cBhvr additive="base">
                                        <p:cTn id="51" dur="500" decel="100000" fill="hold"/>
                                        <p:tgtEl>
                                          <p:spTgt spid="114"/>
                                        </p:tgtEl>
                                        <p:attrNameLst>
                                          <p:attrName>ppt_y</p:attrName>
                                        </p:attrNameLst>
                                      </p:cBhvr>
                                      <p:tavLst>
                                        <p:tav tm="0">
                                          <p:val>
                                            <p:strVal val="#ppt_y+0.06"/>
                                          </p:val>
                                        </p:tav>
                                        <p:tav tm="100000">
                                          <p:val>
                                            <p:strVal val="#ppt_y"/>
                                          </p:val>
                                        </p:tav>
                                      </p:tavLst>
                                    </p:anim>
                                  </p:childTnLst>
                                </p:cTn>
                              </p:par>
                              <p:par>
                                <p:cTn id="52" presetID="42" presetClass="entr" presetSubtype="0" fill="hold" grpId="0" nodeType="withEffect">
                                  <p:stCondLst>
                                    <p:cond delay="150"/>
                                  </p:stCondLst>
                                  <p:childTnLst>
                                    <p:set>
                                      <p:cBhvr>
                                        <p:cTn id="53" dur="1" fill="hold">
                                          <p:stCondLst>
                                            <p:cond delay="0"/>
                                          </p:stCondLst>
                                        </p:cTn>
                                        <p:tgtEl>
                                          <p:spTgt spid="115"/>
                                        </p:tgtEl>
                                        <p:attrNameLst>
                                          <p:attrName>style.visibility</p:attrName>
                                        </p:attrNameLst>
                                      </p:cBhvr>
                                      <p:to>
                                        <p:strVal val="visible"/>
                                      </p:to>
                                    </p:set>
                                    <p:animEffect transition="in" filter="fade">
                                      <p:cBhvr>
                                        <p:cTn id="54" dur="500"/>
                                        <p:tgtEl>
                                          <p:spTgt spid="115"/>
                                        </p:tgtEl>
                                      </p:cBhvr>
                                    </p:animEffect>
                                    <p:anim calcmode="lin" valueType="num">
                                      <p:cBhvr additive="base">
                                        <p:cTn id="55" dur="500" decel="100000" fill="hold"/>
                                        <p:tgtEl>
                                          <p:spTgt spid="115"/>
                                        </p:tgtEl>
                                        <p:attrNameLst>
                                          <p:attrName>ppt_y</p:attrName>
                                        </p:attrNameLst>
                                      </p:cBhvr>
                                      <p:tavLst>
                                        <p:tav tm="0">
                                          <p:val>
                                            <p:strVal val="#ppt_y+0.06"/>
                                          </p:val>
                                        </p:tav>
                                        <p:tav tm="100000">
                                          <p:val>
                                            <p:strVal val="#ppt_y"/>
                                          </p:val>
                                        </p:tav>
                                      </p:tavLst>
                                    </p:anim>
                                  </p:childTnLst>
                                </p:cTn>
                              </p:par>
                              <p:par>
                                <p:cTn id="56" presetID="42" presetClass="entr" presetSubtype="0" fill="hold" grpId="0" nodeType="withEffect">
                                  <p:stCondLst>
                                    <p:cond delay="150"/>
                                  </p:stCondLst>
                                  <p:childTnLst>
                                    <p:set>
                                      <p:cBhvr>
                                        <p:cTn id="57" dur="1" fill="hold">
                                          <p:stCondLst>
                                            <p:cond delay="0"/>
                                          </p:stCondLst>
                                        </p:cTn>
                                        <p:tgtEl>
                                          <p:spTgt spid="116"/>
                                        </p:tgtEl>
                                        <p:attrNameLst>
                                          <p:attrName>style.visibility</p:attrName>
                                        </p:attrNameLst>
                                      </p:cBhvr>
                                      <p:to>
                                        <p:strVal val="visible"/>
                                      </p:to>
                                    </p:set>
                                    <p:animEffect transition="in" filter="fade">
                                      <p:cBhvr>
                                        <p:cTn id="58" dur="500"/>
                                        <p:tgtEl>
                                          <p:spTgt spid="116"/>
                                        </p:tgtEl>
                                      </p:cBhvr>
                                    </p:animEffect>
                                    <p:anim calcmode="lin" valueType="num">
                                      <p:cBhvr additive="base">
                                        <p:cTn id="59" dur="500" decel="100000" fill="hold"/>
                                        <p:tgtEl>
                                          <p:spTgt spid="116"/>
                                        </p:tgtEl>
                                        <p:attrNameLst>
                                          <p:attrName>ppt_y</p:attrName>
                                        </p:attrNameLst>
                                      </p:cBhvr>
                                      <p:tavLst>
                                        <p:tav tm="0">
                                          <p:val>
                                            <p:strVal val="#ppt_y+0.06"/>
                                          </p:val>
                                        </p:tav>
                                        <p:tav tm="100000">
                                          <p:val>
                                            <p:strVal val="#ppt_y"/>
                                          </p:val>
                                        </p:tav>
                                      </p:tavLst>
                                    </p:anim>
                                  </p:childTnLst>
                                </p:cTn>
                              </p:par>
                              <p:par>
                                <p:cTn id="60" presetID="42" presetClass="entr" presetSubtype="0" fill="hold" grpId="0" nodeType="withEffect">
                                  <p:stCondLst>
                                    <p:cond delay="150"/>
                                  </p:stCondLst>
                                  <p:childTnLst>
                                    <p:set>
                                      <p:cBhvr>
                                        <p:cTn id="61" dur="1" fill="hold">
                                          <p:stCondLst>
                                            <p:cond delay="0"/>
                                          </p:stCondLst>
                                        </p:cTn>
                                        <p:tgtEl>
                                          <p:spTgt spid="117"/>
                                        </p:tgtEl>
                                        <p:attrNameLst>
                                          <p:attrName>style.visibility</p:attrName>
                                        </p:attrNameLst>
                                      </p:cBhvr>
                                      <p:to>
                                        <p:strVal val="visible"/>
                                      </p:to>
                                    </p:set>
                                    <p:animEffect transition="in" filter="fade">
                                      <p:cBhvr>
                                        <p:cTn id="62" dur="500"/>
                                        <p:tgtEl>
                                          <p:spTgt spid="117"/>
                                        </p:tgtEl>
                                      </p:cBhvr>
                                    </p:animEffect>
                                    <p:anim calcmode="lin" valueType="num">
                                      <p:cBhvr additive="base">
                                        <p:cTn id="63" dur="500" decel="100000" fill="hold"/>
                                        <p:tgtEl>
                                          <p:spTgt spid="117"/>
                                        </p:tgtEl>
                                        <p:attrNameLst>
                                          <p:attrName>ppt_y</p:attrName>
                                        </p:attrNameLst>
                                      </p:cBhvr>
                                      <p:tavLst>
                                        <p:tav tm="0">
                                          <p:val>
                                            <p:strVal val="#ppt_y+0.06"/>
                                          </p:val>
                                        </p:tav>
                                        <p:tav tm="100000">
                                          <p:val>
                                            <p:strVal val="#ppt_y"/>
                                          </p:val>
                                        </p:tav>
                                      </p:tavLst>
                                    </p:anim>
                                  </p:childTnLst>
                                </p:cTn>
                              </p:par>
                              <p:par>
                                <p:cTn id="64" presetID="42" presetClass="entr" presetSubtype="0" fill="hold" grpId="0" nodeType="withEffect">
                                  <p:stCondLst>
                                    <p:cond delay="150"/>
                                  </p:stCondLst>
                                  <p:childTnLst>
                                    <p:set>
                                      <p:cBhvr>
                                        <p:cTn id="65" dur="1" fill="hold">
                                          <p:stCondLst>
                                            <p:cond delay="0"/>
                                          </p:stCondLst>
                                        </p:cTn>
                                        <p:tgtEl>
                                          <p:spTgt spid="118"/>
                                        </p:tgtEl>
                                        <p:attrNameLst>
                                          <p:attrName>style.visibility</p:attrName>
                                        </p:attrNameLst>
                                      </p:cBhvr>
                                      <p:to>
                                        <p:strVal val="visible"/>
                                      </p:to>
                                    </p:set>
                                    <p:animEffect transition="in" filter="fade">
                                      <p:cBhvr>
                                        <p:cTn id="66" dur="500"/>
                                        <p:tgtEl>
                                          <p:spTgt spid="118"/>
                                        </p:tgtEl>
                                      </p:cBhvr>
                                    </p:animEffect>
                                    <p:anim calcmode="lin" valueType="num">
                                      <p:cBhvr additive="base">
                                        <p:cTn id="67" dur="500" decel="100000" fill="hold"/>
                                        <p:tgtEl>
                                          <p:spTgt spid="118"/>
                                        </p:tgtEl>
                                        <p:attrNameLst>
                                          <p:attrName>ppt_y</p:attrName>
                                        </p:attrNameLst>
                                      </p:cBhvr>
                                      <p:tavLst>
                                        <p:tav tm="0">
                                          <p:val>
                                            <p:strVal val="#ppt_y+0.06"/>
                                          </p:val>
                                        </p:tav>
                                        <p:tav tm="100000">
                                          <p:val>
                                            <p:strVal val="#ppt_y"/>
                                          </p:val>
                                        </p:tav>
                                      </p:tavLst>
                                    </p:anim>
                                  </p:childTnLst>
                                </p:cTn>
                              </p:par>
                              <p:par>
                                <p:cTn id="68" presetID="42" presetClass="entr" presetSubtype="0" fill="hold" grpId="0" nodeType="withEffect">
                                  <p:stCondLst>
                                    <p:cond delay="150"/>
                                  </p:stCondLst>
                                  <p:childTnLst>
                                    <p:set>
                                      <p:cBhvr>
                                        <p:cTn id="69" dur="1" fill="hold">
                                          <p:stCondLst>
                                            <p:cond delay="0"/>
                                          </p:stCondLst>
                                        </p:cTn>
                                        <p:tgtEl>
                                          <p:spTgt spid="119"/>
                                        </p:tgtEl>
                                        <p:attrNameLst>
                                          <p:attrName>style.visibility</p:attrName>
                                        </p:attrNameLst>
                                      </p:cBhvr>
                                      <p:to>
                                        <p:strVal val="visible"/>
                                      </p:to>
                                    </p:set>
                                    <p:animEffect transition="in" filter="fade">
                                      <p:cBhvr>
                                        <p:cTn id="70" dur="500"/>
                                        <p:tgtEl>
                                          <p:spTgt spid="119"/>
                                        </p:tgtEl>
                                      </p:cBhvr>
                                    </p:animEffect>
                                    <p:anim calcmode="lin" valueType="num">
                                      <p:cBhvr additive="base">
                                        <p:cTn id="71" dur="500" decel="100000" fill="hold"/>
                                        <p:tgtEl>
                                          <p:spTgt spid="119"/>
                                        </p:tgtEl>
                                        <p:attrNameLst>
                                          <p:attrName>ppt_y</p:attrName>
                                        </p:attrNameLst>
                                      </p:cBhvr>
                                      <p:tavLst>
                                        <p:tav tm="0">
                                          <p:val>
                                            <p:strVal val="#ppt_y+0.06"/>
                                          </p:val>
                                        </p:tav>
                                        <p:tav tm="100000">
                                          <p:val>
                                            <p:strVal val="#ppt_y"/>
                                          </p:val>
                                        </p:tav>
                                      </p:tavLst>
                                    </p:anim>
                                  </p:childTnLst>
                                </p:cTn>
                              </p:par>
                              <p:par>
                                <p:cTn id="72" presetID="42" presetClass="entr" presetSubtype="0" fill="hold" grpId="0" nodeType="withEffect">
                                  <p:stCondLst>
                                    <p:cond delay="150"/>
                                  </p:stCondLst>
                                  <p:childTnLst>
                                    <p:set>
                                      <p:cBhvr>
                                        <p:cTn id="73" dur="1" fill="hold">
                                          <p:stCondLst>
                                            <p:cond delay="0"/>
                                          </p:stCondLst>
                                        </p:cTn>
                                        <p:tgtEl>
                                          <p:spTgt spid="120"/>
                                        </p:tgtEl>
                                        <p:attrNameLst>
                                          <p:attrName>style.visibility</p:attrName>
                                        </p:attrNameLst>
                                      </p:cBhvr>
                                      <p:to>
                                        <p:strVal val="visible"/>
                                      </p:to>
                                    </p:set>
                                    <p:animEffect transition="in" filter="fade">
                                      <p:cBhvr>
                                        <p:cTn id="74" dur="500"/>
                                        <p:tgtEl>
                                          <p:spTgt spid="120"/>
                                        </p:tgtEl>
                                      </p:cBhvr>
                                    </p:animEffect>
                                    <p:anim calcmode="lin" valueType="num">
                                      <p:cBhvr additive="base">
                                        <p:cTn id="75" dur="500" decel="100000" fill="hold"/>
                                        <p:tgtEl>
                                          <p:spTgt spid="120"/>
                                        </p:tgtEl>
                                        <p:attrNameLst>
                                          <p:attrName>ppt_y</p:attrName>
                                        </p:attrNameLst>
                                      </p:cBhvr>
                                      <p:tavLst>
                                        <p:tav tm="0">
                                          <p:val>
                                            <p:strVal val="#ppt_y+0.06"/>
                                          </p:val>
                                        </p:tav>
                                        <p:tav tm="100000">
                                          <p:val>
                                            <p:strVal val="#ppt_y"/>
                                          </p:val>
                                        </p:tav>
                                      </p:tavLst>
                                    </p:anim>
                                  </p:childTnLst>
                                </p:cTn>
                              </p:par>
                              <p:par>
                                <p:cTn id="76" presetID="53" presetClass="entr" presetSubtype="16" fill="hold" grpId="0" nodeType="withEffect">
                                  <p:stCondLst>
                                    <p:cond delay="400"/>
                                  </p:stCondLst>
                                  <p:childTnLst>
                                    <p:set>
                                      <p:cBhvr>
                                        <p:cTn id="77" dur="1" fill="hold">
                                          <p:stCondLst>
                                            <p:cond delay="0"/>
                                          </p:stCondLst>
                                        </p:cTn>
                                        <p:tgtEl>
                                          <p:spTgt spid="155"/>
                                        </p:tgtEl>
                                        <p:attrNameLst>
                                          <p:attrName>style.visibility</p:attrName>
                                        </p:attrNameLst>
                                      </p:cBhvr>
                                      <p:to>
                                        <p:strVal val="visible"/>
                                      </p:to>
                                    </p:set>
                                    <p:anim calcmode="lin" valueType="num">
                                      <p:cBhvr additive="base">
                                        <p:cTn id="78" dur="500" decel="100000" fill="hold"/>
                                        <p:tgtEl>
                                          <p:spTgt spid="155"/>
                                        </p:tgtEl>
                                        <p:attrNameLst>
                                          <p:attrName>ppt_w</p:attrName>
                                        </p:attrNameLst>
                                      </p:cBhvr>
                                      <p:tavLst>
                                        <p:tav tm="0">
                                          <p:val>
                                            <p:strVal val="#ppt_w*0.3"/>
                                          </p:val>
                                        </p:tav>
                                        <p:tav tm="100000">
                                          <p:val>
                                            <p:strVal val="#ppt_w*1.08"/>
                                          </p:val>
                                        </p:tav>
                                      </p:tavLst>
                                    </p:anim>
                                    <p:anim calcmode="lin" valueType="num">
                                      <p:cBhvr additive="base">
                                        <p:cTn id="79" dur="500" decel="100000" fill="hold"/>
                                        <p:tgtEl>
                                          <p:spTgt spid="155"/>
                                        </p:tgtEl>
                                        <p:attrNameLst>
                                          <p:attrName>ppt_h</p:attrName>
                                        </p:attrNameLst>
                                      </p:cBhvr>
                                      <p:tavLst>
                                        <p:tav tm="0">
                                          <p:val>
                                            <p:strVal val="#ppt_h*0.3"/>
                                          </p:val>
                                        </p:tav>
                                        <p:tav tm="100000">
                                          <p:val>
                                            <p:strVal val="#ppt_h*1.08"/>
                                          </p:val>
                                        </p:tav>
                                      </p:tavLst>
                                    </p:anim>
                                    <p:animEffect transition="in" filter="fade">
                                      <p:cBhvr>
                                        <p:cTn id="80" dur="250"/>
                                        <p:tgtEl>
                                          <p:spTgt spid="155"/>
                                        </p:tgtEl>
                                      </p:cBhvr>
                                    </p:animEffect>
                                    <p:anim calcmode="lin" valueType="num">
                                      <p:cBhvr additive="base">
                                        <p:cTn id="81" dur="160" fill="hold">
                                          <p:stCondLst>
                                            <p:cond delay="500"/>
                                          </p:stCondLst>
                                        </p:cTn>
                                        <p:tgtEl>
                                          <p:spTgt spid="155"/>
                                        </p:tgtEl>
                                        <p:attrNameLst>
                                          <p:attrName>ppt_w</p:attrName>
                                        </p:attrNameLst>
                                      </p:cBhvr>
                                      <p:tavLst>
                                        <p:tav tm="0">
                                          <p:val>
                                            <p:strVal val="#ppt_w*1.08"/>
                                          </p:val>
                                        </p:tav>
                                        <p:tav tm="100000">
                                          <p:val>
                                            <p:strVal val="#ppt_w"/>
                                          </p:val>
                                        </p:tav>
                                      </p:tavLst>
                                    </p:anim>
                                    <p:anim calcmode="lin" valueType="num">
                                      <p:cBhvr additive="base">
                                        <p:cTn id="82" dur="160" fill="hold">
                                          <p:stCondLst>
                                            <p:cond delay="500"/>
                                          </p:stCondLst>
                                        </p:cTn>
                                        <p:tgtEl>
                                          <p:spTgt spid="155"/>
                                        </p:tgtEl>
                                        <p:attrNameLst>
                                          <p:attrName>ppt_h</p:attrName>
                                        </p:attrNameLst>
                                      </p:cBhvr>
                                      <p:tavLst>
                                        <p:tav tm="0">
                                          <p:val>
                                            <p:strVal val="#ppt_h*1.08"/>
                                          </p:val>
                                        </p:tav>
                                        <p:tav tm="100000">
                                          <p:val>
                                            <p:strVal val="#ppt_h"/>
                                          </p:val>
                                        </p:tav>
                                      </p:tavLst>
                                    </p:anim>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102"/>
                                        </p:tgtEl>
                                        <p:attrNameLst>
                                          <p:attrName>style.visibility</p:attrName>
                                        </p:attrNameLst>
                                      </p:cBhvr>
                                      <p:to>
                                        <p:strVal val="visible"/>
                                      </p:to>
                                    </p:set>
                                    <p:animEffect transition="in" filter="fade">
                                      <p:cBhvr>
                                        <p:cTn id="87" dur="500"/>
                                        <p:tgtEl>
                                          <p:spTgt spid="102"/>
                                        </p:tgtEl>
                                      </p:cBhvr>
                                    </p:animEffect>
                                  </p:childTnLst>
                                </p:cTn>
                              </p:par>
                              <p:par>
                                <p:cTn id="88" presetID="42" presetClass="entr" presetSubtype="0" fill="hold" grpId="0" nodeType="withEffect">
                                  <p:stCondLst>
                                    <p:cond delay="150"/>
                                  </p:stCondLst>
                                  <p:childTnLst>
                                    <p:set>
                                      <p:cBhvr>
                                        <p:cTn id="89" dur="1" fill="hold">
                                          <p:stCondLst>
                                            <p:cond delay="0"/>
                                          </p:stCondLst>
                                        </p:cTn>
                                        <p:tgtEl>
                                          <p:spTgt spid="121"/>
                                        </p:tgtEl>
                                        <p:attrNameLst>
                                          <p:attrName>style.visibility</p:attrName>
                                        </p:attrNameLst>
                                      </p:cBhvr>
                                      <p:to>
                                        <p:strVal val="visible"/>
                                      </p:to>
                                    </p:set>
                                    <p:animEffect transition="in" filter="fade">
                                      <p:cBhvr>
                                        <p:cTn id="90" dur="500"/>
                                        <p:tgtEl>
                                          <p:spTgt spid="121"/>
                                        </p:tgtEl>
                                      </p:cBhvr>
                                    </p:animEffect>
                                    <p:anim calcmode="lin" valueType="num">
                                      <p:cBhvr additive="base">
                                        <p:cTn id="91" dur="500" decel="100000" fill="hold"/>
                                        <p:tgtEl>
                                          <p:spTgt spid="121"/>
                                        </p:tgtEl>
                                        <p:attrNameLst>
                                          <p:attrName>ppt_y</p:attrName>
                                        </p:attrNameLst>
                                      </p:cBhvr>
                                      <p:tavLst>
                                        <p:tav tm="0">
                                          <p:val>
                                            <p:strVal val="#ppt_y+0.06"/>
                                          </p:val>
                                        </p:tav>
                                        <p:tav tm="100000">
                                          <p:val>
                                            <p:strVal val="#ppt_y"/>
                                          </p:val>
                                        </p:tav>
                                      </p:tavLst>
                                    </p:anim>
                                  </p:childTnLst>
                                </p:cTn>
                              </p:par>
                              <p:par>
                                <p:cTn id="92" presetID="42" presetClass="entr" presetSubtype="0" fill="hold" grpId="0" nodeType="withEffect">
                                  <p:stCondLst>
                                    <p:cond delay="150"/>
                                  </p:stCondLst>
                                  <p:childTnLst>
                                    <p:set>
                                      <p:cBhvr>
                                        <p:cTn id="93" dur="1" fill="hold">
                                          <p:stCondLst>
                                            <p:cond delay="0"/>
                                          </p:stCondLst>
                                        </p:cTn>
                                        <p:tgtEl>
                                          <p:spTgt spid="122"/>
                                        </p:tgtEl>
                                        <p:attrNameLst>
                                          <p:attrName>style.visibility</p:attrName>
                                        </p:attrNameLst>
                                      </p:cBhvr>
                                      <p:to>
                                        <p:strVal val="visible"/>
                                      </p:to>
                                    </p:set>
                                    <p:animEffect transition="in" filter="fade">
                                      <p:cBhvr>
                                        <p:cTn id="94" dur="500"/>
                                        <p:tgtEl>
                                          <p:spTgt spid="122"/>
                                        </p:tgtEl>
                                      </p:cBhvr>
                                    </p:animEffect>
                                    <p:anim calcmode="lin" valueType="num">
                                      <p:cBhvr additive="base">
                                        <p:cTn id="95" dur="500" decel="100000" fill="hold"/>
                                        <p:tgtEl>
                                          <p:spTgt spid="122"/>
                                        </p:tgtEl>
                                        <p:attrNameLst>
                                          <p:attrName>ppt_y</p:attrName>
                                        </p:attrNameLst>
                                      </p:cBhvr>
                                      <p:tavLst>
                                        <p:tav tm="0">
                                          <p:val>
                                            <p:strVal val="#ppt_y+0.06"/>
                                          </p:val>
                                        </p:tav>
                                        <p:tav tm="100000">
                                          <p:val>
                                            <p:strVal val="#ppt_y"/>
                                          </p:val>
                                        </p:tav>
                                      </p:tavLst>
                                    </p:anim>
                                  </p:childTnLst>
                                </p:cTn>
                              </p:par>
                              <p:par>
                                <p:cTn id="96" presetID="42" presetClass="entr" presetSubtype="0" fill="hold" grpId="0" nodeType="withEffect">
                                  <p:stCondLst>
                                    <p:cond delay="150"/>
                                  </p:stCondLst>
                                  <p:childTnLst>
                                    <p:set>
                                      <p:cBhvr>
                                        <p:cTn id="97" dur="1" fill="hold">
                                          <p:stCondLst>
                                            <p:cond delay="0"/>
                                          </p:stCondLst>
                                        </p:cTn>
                                        <p:tgtEl>
                                          <p:spTgt spid="123"/>
                                        </p:tgtEl>
                                        <p:attrNameLst>
                                          <p:attrName>style.visibility</p:attrName>
                                        </p:attrNameLst>
                                      </p:cBhvr>
                                      <p:to>
                                        <p:strVal val="visible"/>
                                      </p:to>
                                    </p:set>
                                    <p:animEffect transition="in" filter="fade">
                                      <p:cBhvr>
                                        <p:cTn id="98" dur="500"/>
                                        <p:tgtEl>
                                          <p:spTgt spid="123"/>
                                        </p:tgtEl>
                                      </p:cBhvr>
                                    </p:animEffect>
                                    <p:anim calcmode="lin" valueType="num">
                                      <p:cBhvr additive="base">
                                        <p:cTn id="99" dur="500" decel="100000" fill="hold"/>
                                        <p:tgtEl>
                                          <p:spTgt spid="123"/>
                                        </p:tgtEl>
                                        <p:attrNameLst>
                                          <p:attrName>ppt_y</p:attrName>
                                        </p:attrNameLst>
                                      </p:cBhvr>
                                      <p:tavLst>
                                        <p:tav tm="0">
                                          <p:val>
                                            <p:strVal val="#ppt_y+0.06"/>
                                          </p:val>
                                        </p:tav>
                                        <p:tav tm="100000">
                                          <p:val>
                                            <p:strVal val="#ppt_y"/>
                                          </p:val>
                                        </p:tav>
                                      </p:tavLst>
                                    </p:anim>
                                  </p:childTnLst>
                                </p:cTn>
                              </p:par>
                              <p:par>
                                <p:cTn id="100" presetID="42" presetClass="entr" presetSubtype="0" fill="hold" grpId="0" nodeType="withEffect">
                                  <p:stCondLst>
                                    <p:cond delay="150"/>
                                  </p:stCondLst>
                                  <p:childTnLst>
                                    <p:set>
                                      <p:cBhvr>
                                        <p:cTn id="101" dur="1" fill="hold">
                                          <p:stCondLst>
                                            <p:cond delay="0"/>
                                          </p:stCondLst>
                                        </p:cTn>
                                        <p:tgtEl>
                                          <p:spTgt spid="124"/>
                                        </p:tgtEl>
                                        <p:attrNameLst>
                                          <p:attrName>style.visibility</p:attrName>
                                        </p:attrNameLst>
                                      </p:cBhvr>
                                      <p:to>
                                        <p:strVal val="visible"/>
                                      </p:to>
                                    </p:set>
                                    <p:animEffect transition="in" filter="fade">
                                      <p:cBhvr>
                                        <p:cTn id="102" dur="500"/>
                                        <p:tgtEl>
                                          <p:spTgt spid="124"/>
                                        </p:tgtEl>
                                      </p:cBhvr>
                                    </p:animEffect>
                                    <p:anim calcmode="lin" valueType="num">
                                      <p:cBhvr additive="base">
                                        <p:cTn id="103" dur="500" decel="100000" fill="hold"/>
                                        <p:tgtEl>
                                          <p:spTgt spid="124"/>
                                        </p:tgtEl>
                                        <p:attrNameLst>
                                          <p:attrName>ppt_y</p:attrName>
                                        </p:attrNameLst>
                                      </p:cBhvr>
                                      <p:tavLst>
                                        <p:tav tm="0">
                                          <p:val>
                                            <p:strVal val="#ppt_y+0.06"/>
                                          </p:val>
                                        </p:tav>
                                        <p:tav tm="100000">
                                          <p:val>
                                            <p:strVal val="#ppt_y"/>
                                          </p:val>
                                        </p:tav>
                                      </p:tavLst>
                                    </p:anim>
                                  </p:childTnLst>
                                </p:cTn>
                              </p:par>
                              <p:par>
                                <p:cTn id="104" presetID="42" presetClass="entr" presetSubtype="0" fill="hold" grpId="0" nodeType="withEffect">
                                  <p:stCondLst>
                                    <p:cond delay="150"/>
                                  </p:stCondLst>
                                  <p:childTnLst>
                                    <p:set>
                                      <p:cBhvr>
                                        <p:cTn id="105" dur="1" fill="hold">
                                          <p:stCondLst>
                                            <p:cond delay="0"/>
                                          </p:stCondLst>
                                        </p:cTn>
                                        <p:tgtEl>
                                          <p:spTgt spid="125"/>
                                        </p:tgtEl>
                                        <p:attrNameLst>
                                          <p:attrName>style.visibility</p:attrName>
                                        </p:attrNameLst>
                                      </p:cBhvr>
                                      <p:to>
                                        <p:strVal val="visible"/>
                                      </p:to>
                                    </p:set>
                                    <p:animEffect transition="in" filter="fade">
                                      <p:cBhvr>
                                        <p:cTn id="106" dur="500"/>
                                        <p:tgtEl>
                                          <p:spTgt spid="125"/>
                                        </p:tgtEl>
                                      </p:cBhvr>
                                    </p:animEffect>
                                    <p:anim calcmode="lin" valueType="num">
                                      <p:cBhvr additive="base">
                                        <p:cTn id="107" dur="500" decel="100000" fill="hold"/>
                                        <p:tgtEl>
                                          <p:spTgt spid="125"/>
                                        </p:tgtEl>
                                        <p:attrNameLst>
                                          <p:attrName>ppt_y</p:attrName>
                                        </p:attrNameLst>
                                      </p:cBhvr>
                                      <p:tavLst>
                                        <p:tav tm="0">
                                          <p:val>
                                            <p:strVal val="#ppt_y+0.06"/>
                                          </p:val>
                                        </p:tav>
                                        <p:tav tm="100000">
                                          <p:val>
                                            <p:strVal val="#ppt_y"/>
                                          </p:val>
                                        </p:tav>
                                      </p:tavLst>
                                    </p:anim>
                                  </p:childTnLst>
                                </p:cTn>
                              </p:par>
                              <p:par>
                                <p:cTn id="108" presetID="42" presetClass="entr" presetSubtype="0" fill="hold" nodeType="withEffect">
                                  <p:stCondLst>
                                    <p:cond delay="150"/>
                                  </p:stCondLst>
                                  <p:childTnLst>
                                    <p:set>
                                      <p:cBhvr>
                                        <p:cTn id="109" dur="1" fill="hold">
                                          <p:stCondLst>
                                            <p:cond delay="0"/>
                                          </p:stCondLst>
                                        </p:cTn>
                                        <p:tgtEl>
                                          <p:spTgt spid="126"/>
                                        </p:tgtEl>
                                        <p:attrNameLst>
                                          <p:attrName>style.visibility</p:attrName>
                                        </p:attrNameLst>
                                      </p:cBhvr>
                                      <p:to>
                                        <p:strVal val="visible"/>
                                      </p:to>
                                    </p:set>
                                    <p:animEffect transition="in" filter="fade">
                                      <p:cBhvr>
                                        <p:cTn id="110" dur="500"/>
                                        <p:tgtEl>
                                          <p:spTgt spid="126"/>
                                        </p:tgtEl>
                                      </p:cBhvr>
                                    </p:animEffect>
                                    <p:anim calcmode="lin" valueType="num">
                                      <p:cBhvr additive="base">
                                        <p:cTn id="111" dur="500" decel="100000" fill="hold"/>
                                        <p:tgtEl>
                                          <p:spTgt spid="126"/>
                                        </p:tgtEl>
                                        <p:attrNameLst>
                                          <p:attrName>ppt_y</p:attrName>
                                        </p:attrNameLst>
                                      </p:cBhvr>
                                      <p:tavLst>
                                        <p:tav tm="0">
                                          <p:val>
                                            <p:strVal val="#ppt_y+0.06"/>
                                          </p:val>
                                        </p:tav>
                                        <p:tav tm="100000">
                                          <p:val>
                                            <p:strVal val="#ppt_y"/>
                                          </p:val>
                                        </p:tav>
                                      </p:tavLst>
                                    </p:anim>
                                  </p:childTnLst>
                                </p:cTn>
                              </p:par>
                              <p:par>
                                <p:cTn id="112" presetID="42" presetClass="entr" presetSubtype="0" fill="hold" grpId="0" nodeType="withEffect">
                                  <p:stCondLst>
                                    <p:cond delay="150"/>
                                  </p:stCondLst>
                                  <p:childTnLst>
                                    <p:set>
                                      <p:cBhvr>
                                        <p:cTn id="113" dur="1" fill="hold">
                                          <p:stCondLst>
                                            <p:cond delay="0"/>
                                          </p:stCondLst>
                                        </p:cTn>
                                        <p:tgtEl>
                                          <p:spTgt spid="127"/>
                                        </p:tgtEl>
                                        <p:attrNameLst>
                                          <p:attrName>style.visibility</p:attrName>
                                        </p:attrNameLst>
                                      </p:cBhvr>
                                      <p:to>
                                        <p:strVal val="visible"/>
                                      </p:to>
                                    </p:set>
                                    <p:animEffect transition="in" filter="fade">
                                      <p:cBhvr>
                                        <p:cTn id="114" dur="500"/>
                                        <p:tgtEl>
                                          <p:spTgt spid="127"/>
                                        </p:tgtEl>
                                      </p:cBhvr>
                                    </p:animEffect>
                                    <p:anim calcmode="lin" valueType="num">
                                      <p:cBhvr additive="base">
                                        <p:cTn id="115" dur="500" decel="100000" fill="hold"/>
                                        <p:tgtEl>
                                          <p:spTgt spid="127"/>
                                        </p:tgtEl>
                                        <p:attrNameLst>
                                          <p:attrName>ppt_y</p:attrName>
                                        </p:attrNameLst>
                                      </p:cBhvr>
                                      <p:tavLst>
                                        <p:tav tm="0">
                                          <p:val>
                                            <p:strVal val="#ppt_y+0.06"/>
                                          </p:val>
                                        </p:tav>
                                        <p:tav tm="100000">
                                          <p:val>
                                            <p:strVal val="#ppt_y"/>
                                          </p:val>
                                        </p:tav>
                                      </p:tavLst>
                                    </p:anim>
                                  </p:childTnLst>
                                </p:cTn>
                              </p:par>
                              <p:par>
                                <p:cTn id="116" presetID="42" presetClass="entr" presetSubtype="0" fill="hold" grpId="0" nodeType="withEffect">
                                  <p:stCondLst>
                                    <p:cond delay="150"/>
                                  </p:stCondLst>
                                  <p:childTnLst>
                                    <p:set>
                                      <p:cBhvr>
                                        <p:cTn id="117" dur="1" fill="hold">
                                          <p:stCondLst>
                                            <p:cond delay="0"/>
                                          </p:stCondLst>
                                        </p:cTn>
                                        <p:tgtEl>
                                          <p:spTgt spid="128"/>
                                        </p:tgtEl>
                                        <p:attrNameLst>
                                          <p:attrName>style.visibility</p:attrName>
                                        </p:attrNameLst>
                                      </p:cBhvr>
                                      <p:to>
                                        <p:strVal val="visible"/>
                                      </p:to>
                                    </p:set>
                                    <p:animEffect transition="in" filter="fade">
                                      <p:cBhvr>
                                        <p:cTn id="118" dur="500"/>
                                        <p:tgtEl>
                                          <p:spTgt spid="128"/>
                                        </p:tgtEl>
                                      </p:cBhvr>
                                    </p:animEffect>
                                    <p:anim calcmode="lin" valueType="num">
                                      <p:cBhvr additive="base">
                                        <p:cTn id="119" dur="500" decel="100000" fill="hold"/>
                                        <p:tgtEl>
                                          <p:spTgt spid="128"/>
                                        </p:tgtEl>
                                        <p:attrNameLst>
                                          <p:attrName>ppt_y</p:attrName>
                                        </p:attrNameLst>
                                      </p:cBhvr>
                                      <p:tavLst>
                                        <p:tav tm="0">
                                          <p:val>
                                            <p:strVal val="#ppt_y+0.06"/>
                                          </p:val>
                                        </p:tav>
                                        <p:tav tm="100000">
                                          <p:val>
                                            <p:strVal val="#ppt_y"/>
                                          </p:val>
                                        </p:tav>
                                      </p:tavLst>
                                    </p:anim>
                                  </p:childTnLst>
                                </p:cTn>
                              </p:par>
                              <p:par>
                                <p:cTn id="120" presetID="42" presetClass="entr" presetSubtype="0" fill="hold" grpId="0" nodeType="withEffect">
                                  <p:stCondLst>
                                    <p:cond delay="150"/>
                                  </p:stCondLst>
                                  <p:childTnLst>
                                    <p:set>
                                      <p:cBhvr>
                                        <p:cTn id="121" dur="1" fill="hold">
                                          <p:stCondLst>
                                            <p:cond delay="0"/>
                                          </p:stCondLst>
                                        </p:cTn>
                                        <p:tgtEl>
                                          <p:spTgt spid="129"/>
                                        </p:tgtEl>
                                        <p:attrNameLst>
                                          <p:attrName>style.visibility</p:attrName>
                                        </p:attrNameLst>
                                      </p:cBhvr>
                                      <p:to>
                                        <p:strVal val="visible"/>
                                      </p:to>
                                    </p:set>
                                    <p:animEffect transition="in" filter="fade">
                                      <p:cBhvr>
                                        <p:cTn id="122" dur="500"/>
                                        <p:tgtEl>
                                          <p:spTgt spid="129"/>
                                        </p:tgtEl>
                                      </p:cBhvr>
                                    </p:animEffect>
                                    <p:anim calcmode="lin" valueType="num">
                                      <p:cBhvr additive="base">
                                        <p:cTn id="123" dur="500" decel="100000" fill="hold"/>
                                        <p:tgtEl>
                                          <p:spTgt spid="129"/>
                                        </p:tgtEl>
                                        <p:attrNameLst>
                                          <p:attrName>ppt_y</p:attrName>
                                        </p:attrNameLst>
                                      </p:cBhvr>
                                      <p:tavLst>
                                        <p:tav tm="0">
                                          <p:val>
                                            <p:strVal val="#ppt_y+0.06"/>
                                          </p:val>
                                        </p:tav>
                                        <p:tav tm="100000">
                                          <p:val>
                                            <p:strVal val="#ppt_y"/>
                                          </p:val>
                                        </p:tav>
                                      </p:tavLst>
                                    </p:anim>
                                  </p:childTnLst>
                                </p:cTn>
                              </p:par>
                              <p:par>
                                <p:cTn id="124" presetID="42" presetClass="entr" presetSubtype="0" fill="hold" grpId="0" nodeType="withEffect">
                                  <p:stCondLst>
                                    <p:cond delay="150"/>
                                  </p:stCondLst>
                                  <p:childTnLst>
                                    <p:set>
                                      <p:cBhvr>
                                        <p:cTn id="125" dur="1" fill="hold">
                                          <p:stCondLst>
                                            <p:cond delay="0"/>
                                          </p:stCondLst>
                                        </p:cTn>
                                        <p:tgtEl>
                                          <p:spTgt spid="130"/>
                                        </p:tgtEl>
                                        <p:attrNameLst>
                                          <p:attrName>style.visibility</p:attrName>
                                        </p:attrNameLst>
                                      </p:cBhvr>
                                      <p:to>
                                        <p:strVal val="visible"/>
                                      </p:to>
                                    </p:set>
                                    <p:animEffect transition="in" filter="fade">
                                      <p:cBhvr>
                                        <p:cTn id="126" dur="500"/>
                                        <p:tgtEl>
                                          <p:spTgt spid="130"/>
                                        </p:tgtEl>
                                      </p:cBhvr>
                                    </p:animEffect>
                                    <p:anim calcmode="lin" valueType="num">
                                      <p:cBhvr additive="base">
                                        <p:cTn id="127" dur="500" decel="100000" fill="hold"/>
                                        <p:tgtEl>
                                          <p:spTgt spid="130"/>
                                        </p:tgtEl>
                                        <p:attrNameLst>
                                          <p:attrName>ppt_y</p:attrName>
                                        </p:attrNameLst>
                                      </p:cBhvr>
                                      <p:tavLst>
                                        <p:tav tm="0">
                                          <p:val>
                                            <p:strVal val="#ppt_y+0.06"/>
                                          </p:val>
                                        </p:tav>
                                        <p:tav tm="100000">
                                          <p:val>
                                            <p:strVal val="#ppt_y"/>
                                          </p:val>
                                        </p:tav>
                                      </p:tavLst>
                                    </p:anim>
                                  </p:childTnLst>
                                </p:cTn>
                              </p:par>
                              <p:par>
                                <p:cTn id="128" presetID="42" presetClass="entr" presetSubtype="0" fill="hold" grpId="0" nodeType="withEffect">
                                  <p:stCondLst>
                                    <p:cond delay="150"/>
                                  </p:stCondLst>
                                  <p:childTnLst>
                                    <p:set>
                                      <p:cBhvr>
                                        <p:cTn id="129" dur="1" fill="hold">
                                          <p:stCondLst>
                                            <p:cond delay="0"/>
                                          </p:stCondLst>
                                        </p:cTn>
                                        <p:tgtEl>
                                          <p:spTgt spid="131"/>
                                        </p:tgtEl>
                                        <p:attrNameLst>
                                          <p:attrName>style.visibility</p:attrName>
                                        </p:attrNameLst>
                                      </p:cBhvr>
                                      <p:to>
                                        <p:strVal val="visible"/>
                                      </p:to>
                                    </p:set>
                                    <p:animEffect transition="in" filter="fade">
                                      <p:cBhvr>
                                        <p:cTn id="130" dur="500"/>
                                        <p:tgtEl>
                                          <p:spTgt spid="131"/>
                                        </p:tgtEl>
                                      </p:cBhvr>
                                    </p:animEffect>
                                    <p:anim calcmode="lin" valueType="num">
                                      <p:cBhvr additive="base">
                                        <p:cTn id="131" dur="500" decel="100000" fill="hold"/>
                                        <p:tgtEl>
                                          <p:spTgt spid="131"/>
                                        </p:tgtEl>
                                        <p:attrNameLst>
                                          <p:attrName>ppt_y</p:attrName>
                                        </p:attrNameLst>
                                      </p:cBhvr>
                                      <p:tavLst>
                                        <p:tav tm="0">
                                          <p:val>
                                            <p:strVal val="#ppt_y+0.06"/>
                                          </p:val>
                                        </p:tav>
                                        <p:tav tm="100000">
                                          <p:val>
                                            <p:strVal val="#ppt_y"/>
                                          </p:val>
                                        </p:tav>
                                      </p:tavLst>
                                    </p:anim>
                                  </p:childTnLst>
                                </p:cTn>
                              </p:par>
                              <p:par>
                                <p:cTn id="132" presetID="42" presetClass="entr" presetSubtype="0" fill="hold" grpId="0" nodeType="withEffect">
                                  <p:stCondLst>
                                    <p:cond delay="150"/>
                                  </p:stCondLst>
                                  <p:childTnLst>
                                    <p:set>
                                      <p:cBhvr>
                                        <p:cTn id="133" dur="1" fill="hold">
                                          <p:stCondLst>
                                            <p:cond delay="0"/>
                                          </p:stCondLst>
                                        </p:cTn>
                                        <p:tgtEl>
                                          <p:spTgt spid="132"/>
                                        </p:tgtEl>
                                        <p:attrNameLst>
                                          <p:attrName>style.visibility</p:attrName>
                                        </p:attrNameLst>
                                      </p:cBhvr>
                                      <p:to>
                                        <p:strVal val="visible"/>
                                      </p:to>
                                    </p:set>
                                    <p:animEffect transition="in" filter="fade">
                                      <p:cBhvr>
                                        <p:cTn id="134" dur="500"/>
                                        <p:tgtEl>
                                          <p:spTgt spid="132"/>
                                        </p:tgtEl>
                                      </p:cBhvr>
                                    </p:animEffect>
                                    <p:anim calcmode="lin" valueType="num">
                                      <p:cBhvr additive="base">
                                        <p:cTn id="135" dur="500" decel="100000" fill="hold"/>
                                        <p:tgtEl>
                                          <p:spTgt spid="132"/>
                                        </p:tgtEl>
                                        <p:attrNameLst>
                                          <p:attrName>ppt_y</p:attrName>
                                        </p:attrNameLst>
                                      </p:cBhvr>
                                      <p:tavLst>
                                        <p:tav tm="0">
                                          <p:val>
                                            <p:strVal val="#ppt_y+0.06"/>
                                          </p:val>
                                        </p:tav>
                                        <p:tav tm="100000">
                                          <p:val>
                                            <p:strVal val="#ppt_y"/>
                                          </p:val>
                                        </p:tav>
                                      </p:tavLst>
                                    </p:anim>
                                  </p:childTnLst>
                                </p:cTn>
                              </p:par>
                              <p:par>
                                <p:cTn id="136" presetID="42" presetClass="entr" presetSubtype="0" fill="hold" grpId="0" nodeType="withEffect">
                                  <p:stCondLst>
                                    <p:cond delay="150"/>
                                  </p:stCondLst>
                                  <p:childTnLst>
                                    <p:set>
                                      <p:cBhvr>
                                        <p:cTn id="137" dur="1" fill="hold">
                                          <p:stCondLst>
                                            <p:cond delay="0"/>
                                          </p:stCondLst>
                                        </p:cTn>
                                        <p:tgtEl>
                                          <p:spTgt spid="133"/>
                                        </p:tgtEl>
                                        <p:attrNameLst>
                                          <p:attrName>style.visibility</p:attrName>
                                        </p:attrNameLst>
                                      </p:cBhvr>
                                      <p:to>
                                        <p:strVal val="visible"/>
                                      </p:to>
                                    </p:set>
                                    <p:animEffect transition="in" filter="fade">
                                      <p:cBhvr>
                                        <p:cTn id="138" dur="500"/>
                                        <p:tgtEl>
                                          <p:spTgt spid="133"/>
                                        </p:tgtEl>
                                      </p:cBhvr>
                                    </p:animEffect>
                                    <p:anim calcmode="lin" valueType="num">
                                      <p:cBhvr additive="base">
                                        <p:cTn id="139" dur="500" decel="100000" fill="hold"/>
                                        <p:tgtEl>
                                          <p:spTgt spid="133"/>
                                        </p:tgtEl>
                                        <p:attrNameLst>
                                          <p:attrName>ppt_y</p:attrName>
                                        </p:attrNameLst>
                                      </p:cBhvr>
                                      <p:tavLst>
                                        <p:tav tm="0">
                                          <p:val>
                                            <p:strVal val="#ppt_y+0.06"/>
                                          </p:val>
                                        </p:tav>
                                        <p:tav tm="100000">
                                          <p:val>
                                            <p:strVal val="#ppt_y"/>
                                          </p:val>
                                        </p:tav>
                                      </p:tavLst>
                                    </p:anim>
                                  </p:childTnLst>
                                </p:cTn>
                              </p:par>
                              <p:par>
                                <p:cTn id="140" presetID="42" presetClass="entr" presetSubtype="0" fill="hold" grpId="0" nodeType="withEffect">
                                  <p:stCondLst>
                                    <p:cond delay="150"/>
                                  </p:stCondLst>
                                  <p:childTnLst>
                                    <p:set>
                                      <p:cBhvr>
                                        <p:cTn id="141" dur="1" fill="hold">
                                          <p:stCondLst>
                                            <p:cond delay="0"/>
                                          </p:stCondLst>
                                        </p:cTn>
                                        <p:tgtEl>
                                          <p:spTgt spid="134"/>
                                        </p:tgtEl>
                                        <p:attrNameLst>
                                          <p:attrName>style.visibility</p:attrName>
                                        </p:attrNameLst>
                                      </p:cBhvr>
                                      <p:to>
                                        <p:strVal val="visible"/>
                                      </p:to>
                                    </p:set>
                                    <p:animEffect transition="in" filter="fade">
                                      <p:cBhvr>
                                        <p:cTn id="142" dur="500"/>
                                        <p:tgtEl>
                                          <p:spTgt spid="134"/>
                                        </p:tgtEl>
                                      </p:cBhvr>
                                    </p:animEffect>
                                    <p:anim calcmode="lin" valueType="num">
                                      <p:cBhvr additive="base">
                                        <p:cTn id="143" dur="500" decel="100000" fill="hold"/>
                                        <p:tgtEl>
                                          <p:spTgt spid="134"/>
                                        </p:tgtEl>
                                        <p:attrNameLst>
                                          <p:attrName>ppt_y</p:attrName>
                                        </p:attrNameLst>
                                      </p:cBhvr>
                                      <p:tavLst>
                                        <p:tav tm="0">
                                          <p:val>
                                            <p:strVal val="#ppt_y+0.06"/>
                                          </p:val>
                                        </p:tav>
                                        <p:tav tm="100000">
                                          <p:val>
                                            <p:strVal val="#ppt_y"/>
                                          </p:val>
                                        </p:tav>
                                      </p:tavLst>
                                    </p:anim>
                                  </p:childTnLst>
                                </p:cTn>
                              </p:par>
                              <p:par>
                                <p:cTn id="144" presetID="42" presetClass="entr" presetSubtype="0" fill="hold" grpId="0" nodeType="withEffect">
                                  <p:stCondLst>
                                    <p:cond delay="150"/>
                                  </p:stCondLst>
                                  <p:childTnLst>
                                    <p:set>
                                      <p:cBhvr>
                                        <p:cTn id="145" dur="1" fill="hold">
                                          <p:stCondLst>
                                            <p:cond delay="0"/>
                                          </p:stCondLst>
                                        </p:cTn>
                                        <p:tgtEl>
                                          <p:spTgt spid="135"/>
                                        </p:tgtEl>
                                        <p:attrNameLst>
                                          <p:attrName>style.visibility</p:attrName>
                                        </p:attrNameLst>
                                      </p:cBhvr>
                                      <p:to>
                                        <p:strVal val="visible"/>
                                      </p:to>
                                    </p:set>
                                    <p:animEffect transition="in" filter="fade">
                                      <p:cBhvr>
                                        <p:cTn id="146" dur="500"/>
                                        <p:tgtEl>
                                          <p:spTgt spid="135"/>
                                        </p:tgtEl>
                                      </p:cBhvr>
                                    </p:animEffect>
                                    <p:anim calcmode="lin" valueType="num">
                                      <p:cBhvr additive="base">
                                        <p:cTn id="147" dur="500" decel="100000" fill="hold"/>
                                        <p:tgtEl>
                                          <p:spTgt spid="135"/>
                                        </p:tgtEl>
                                        <p:attrNameLst>
                                          <p:attrName>ppt_y</p:attrName>
                                        </p:attrNameLst>
                                      </p:cBhvr>
                                      <p:tavLst>
                                        <p:tav tm="0">
                                          <p:val>
                                            <p:strVal val="#ppt_y+0.06"/>
                                          </p:val>
                                        </p:tav>
                                        <p:tav tm="100000">
                                          <p:val>
                                            <p:strVal val="#ppt_y"/>
                                          </p:val>
                                        </p:tav>
                                      </p:tavLst>
                                    </p:anim>
                                  </p:childTnLst>
                                </p:cTn>
                              </p:par>
                              <p:par>
                                <p:cTn id="148" presetID="42" presetClass="entr" presetSubtype="0" fill="hold" grpId="0" nodeType="withEffect">
                                  <p:stCondLst>
                                    <p:cond delay="150"/>
                                  </p:stCondLst>
                                  <p:childTnLst>
                                    <p:set>
                                      <p:cBhvr>
                                        <p:cTn id="149" dur="1" fill="hold">
                                          <p:stCondLst>
                                            <p:cond delay="0"/>
                                          </p:stCondLst>
                                        </p:cTn>
                                        <p:tgtEl>
                                          <p:spTgt spid="136"/>
                                        </p:tgtEl>
                                        <p:attrNameLst>
                                          <p:attrName>style.visibility</p:attrName>
                                        </p:attrNameLst>
                                      </p:cBhvr>
                                      <p:to>
                                        <p:strVal val="visible"/>
                                      </p:to>
                                    </p:set>
                                    <p:animEffect transition="in" filter="fade">
                                      <p:cBhvr>
                                        <p:cTn id="150" dur="500"/>
                                        <p:tgtEl>
                                          <p:spTgt spid="136"/>
                                        </p:tgtEl>
                                      </p:cBhvr>
                                    </p:animEffect>
                                    <p:anim calcmode="lin" valueType="num">
                                      <p:cBhvr additive="base">
                                        <p:cTn id="151" dur="500" decel="100000" fill="hold"/>
                                        <p:tgtEl>
                                          <p:spTgt spid="136"/>
                                        </p:tgtEl>
                                        <p:attrNameLst>
                                          <p:attrName>ppt_y</p:attrName>
                                        </p:attrNameLst>
                                      </p:cBhvr>
                                      <p:tavLst>
                                        <p:tav tm="0">
                                          <p:val>
                                            <p:strVal val="#ppt_y+0.06"/>
                                          </p:val>
                                        </p:tav>
                                        <p:tav tm="100000">
                                          <p:val>
                                            <p:strVal val="#ppt_y"/>
                                          </p:val>
                                        </p:tav>
                                      </p:tavLst>
                                    </p:anim>
                                  </p:childTnLst>
                                </p:cTn>
                              </p:par>
                              <p:par>
                                <p:cTn id="152" presetID="53" presetClass="entr" presetSubtype="16" fill="hold" grpId="0" nodeType="withEffect">
                                  <p:stCondLst>
                                    <p:cond delay="350"/>
                                  </p:stCondLst>
                                  <p:childTnLst>
                                    <p:set>
                                      <p:cBhvr>
                                        <p:cTn id="153" dur="1" fill="hold">
                                          <p:stCondLst>
                                            <p:cond delay="0"/>
                                          </p:stCondLst>
                                        </p:cTn>
                                        <p:tgtEl>
                                          <p:spTgt spid="156"/>
                                        </p:tgtEl>
                                        <p:attrNameLst>
                                          <p:attrName>style.visibility</p:attrName>
                                        </p:attrNameLst>
                                      </p:cBhvr>
                                      <p:to>
                                        <p:strVal val="visible"/>
                                      </p:to>
                                    </p:set>
                                    <p:anim calcmode="lin" valueType="num">
                                      <p:cBhvr additive="base">
                                        <p:cTn id="154" dur="500" decel="100000" fill="hold"/>
                                        <p:tgtEl>
                                          <p:spTgt spid="156"/>
                                        </p:tgtEl>
                                        <p:attrNameLst>
                                          <p:attrName>ppt_w</p:attrName>
                                        </p:attrNameLst>
                                      </p:cBhvr>
                                      <p:tavLst>
                                        <p:tav tm="0">
                                          <p:val>
                                            <p:strVal val="#ppt_w*0.3"/>
                                          </p:val>
                                        </p:tav>
                                        <p:tav tm="100000">
                                          <p:val>
                                            <p:strVal val="#ppt_w*1.08"/>
                                          </p:val>
                                        </p:tav>
                                      </p:tavLst>
                                    </p:anim>
                                    <p:anim calcmode="lin" valueType="num">
                                      <p:cBhvr additive="base">
                                        <p:cTn id="155" dur="500" decel="100000" fill="hold"/>
                                        <p:tgtEl>
                                          <p:spTgt spid="156"/>
                                        </p:tgtEl>
                                        <p:attrNameLst>
                                          <p:attrName>ppt_h</p:attrName>
                                        </p:attrNameLst>
                                      </p:cBhvr>
                                      <p:tavLst>
                                        <p:tav tm="0">
                                          <p:val>
                                            <p:strVal val="#ppt_h*0.3"/>
                                          </p:val>
                                        </p:tav>
                                        <p:tav tm="100000">
                                          <p:val>
                                            <p:strVal val="#ppt_h*1.08"/>
                                          </p:val>
                                        </p:tav>
                                      </p:tavLst>
                                    </p:anim>
                                    <p:animEffect transition="in" filter="fade">
                                      <p:cBhvr>
                                        <p:cTn id="156" dur="250"/>
                                        <p:tgtEl>
                                          <p:spTgt spid="156"/>
                                        </p:tgtEl>
                                      </p:cBhvr>
                                    </p:animEffect>
                                    <p:anim calcmode="lin" valueType="num">
                                      <p:cBhvr additive="base">
                                        <p:cTn id="157" dur="160" fill="hold">
                                          <p:stCondLst>
                                            <p:cond delay="500"/>
                                          </p:stCondLst>
                                        </p:cTn>
                                        <p:tgtEl>
                                          <p:spTgt spid="156"/>
                                        </p:tgtEl>
                                        <p:attrNameLst>
                                          <p:attrName>ppt_w</p:attrName>
                                        </p:attrNameLst>
                                      </p:cBhvr>
                                      <p:tavLst>
                                        <p:tav tm="0">
                                          <p:val>
                                            <p:strVal val="#ppt_w*1.08"/>
                                          </p:val>
                                        </p:tav>
                                        <p:tav tm="100000">
                                          <p:val>
                                            <p:strVal val="#ppt_w"/>
                                          </p:val>
                                        </p:tav>
                                      </p:tavLst>
                                    </p:anim>
                                    <p:anim calcmode="lin" valueType="num">
                                      <p:cBhvr additive="base">
                                        <p:cTn id="158" dur="160" fill="hold">
                                          <p:stCondLst>
                                            <p:cond delay="500"/>
                                          </p:stCondLst>
                                        </p:cTn>
                                        <p:tgtEl>
                                          <p:spTgt spid="156"/>
                                        </p:tgtEl>
                                        <p:attrNameLst>
                                          <p:attrName>ppt_h</p:attrName>
                                        </p:attrNameLst>
                                      </p:cBhvr>
                                      <p:tavLst>
                                        <p:tav tm="0">
                                          <p:val>
                                            <p:strVal val="#ppt_h*1.08"/>
                                          </p:val>
                                        </p:tav>
                                        <p:tav tm="100000">
                                          <p:val>
                                            <p:strVal val="#ppt_h"/>
                                          </p:val>
                                        </p:tav>
                                      </p:tavLst>
                                    </p:anim>
                                  </p:childTnLst>
                                </p:cTn>
                              </p:par>
                              <p:par>
                                <p:cTn id="159" presetID="42" presetClass="entr" presetSubtype="0" fill="hold" grpId="0" nodeType="withEffect">
                                  <p:stCondLst>
                                    <p:cond delay="550"/>
                                  </p:stCondLst>
                                  <p:childTnLst>
                                    <p:set>
                                      <p:cBhvr>
                                        <p:cTn id="160" dur="1" fill="hold">
                                          <p:stCondLst>
                                            <p:cond delay="0"/>
                                          </p:stCondLst>
                                        </p:cTn>
                                        <p:tgtEl>
                                          <p:spTgt spid="159"/>
                                        </p:tgtEl>
                                        <p:attrNameLst>
                                          <p:attrName>style.visibility</p:attrName>
                                        </p:attrNameLst>
                                      </p:cBhvr>
                                      <p:to>
                                        <p:strVal val="visible"/>
                                      </p:to>
                                    </p:set>
                                    <p:animEffect transition="in" filter="fade">
                                      <p:cBhvr>
                                        <p:cTn id="161" dur="500"/>
                                        <p:tgtEl>
                                          <p:spTgt spid="159"/>
                                        </p:tgtEl>
                                      </p:cBhvr>
                                    </p:animEffect>
                                    <p:anim calcmode="lin" valueType="num">
                                      <p:cBhvr additive="base">
                                        <p:cTn id="162" dur="500" decel="100000" fill="hold"/>
                                        <p:tgtEl>
                                          <p:spTgt spid="159"/>
                                        </p:tgtEl>
                                        <p:attrNameLst>
                                          <p:attrName>ppt_y</p:attrName>
                                        </p:attrNameLst>
                                      </p:cBhvr>
                                      <p:tavLst>
                                        <p:tav tm="0">
                                          <p:val>
                                            <p:strVal val="#ppt_y+0.06"/>
                                          </p:val>
                                        </p:tav>
                                        <p:tav tm="100000">
                                          <p:val>
                                            <p:strVal val="#ppt_y"/>
                                          </p:val>
                                        </p:tav>
                                      </p:tavLst>
                                    </p:anim>
                                  </p:childTnLst>
                                </p:cTn>
                              </p:par>
                            </p:childTnLst>
                          </p:cTn>
                        </p:par>
                      </p:childTnLst>
                    </p:cTn>
                  </p:par>
                  <p:par>
                    <p:cTn id="163" fill="hold">
                      <p:stCondLst>
                        <p:cond delay="indefinite"/>
                      </p:stCondLst>
                      <p:childTnLst>
                        <p:par>
                          <p:cTn id="164" fill="hold">
                            <p:stCondLst>
                              <p:cond delay="0"/>
                            </p:stCondLst>
                            <p:childTnLst>
                              <p:par>
                                <p:cTn id="165" presetID="53" presetClass="entr" presetSubtype="16" fill="hold" grpId="0" nodeType="clickEffect">
                                  <p:stCondLst>
                                    <p:cond delay="0"/>
                                  </p:stCondLst>
                                  <p:childTnLst>
                                    <p:set>
                                      <p:cBhvr>
                                        <p:cTn id="166" dur="1" fill="hold">
                                          <p:stCondLst>
                                            <p:cond delay="0"/>
                                          </p:stCondLst>
                                        </p:cTn>
                                        <p:tgtEl>
                                          <p:spTgt spid="157"/>
                                        </p:tgtEl>
                                        <p:attrNameLst>
                                          <p:attrName>style.visibility</p:attrName>
                                        </p:attrNameLst>
                                      </p:cBhvr>
                                      <p:to>
                                        <p:strVal val="visible"/>
                                      </p:to>
                                    </p:set>
                                    <p:anim calcmode="lin" valueType="num">
                                      <p:cBhvr additive="base">
                                        <p:cTn id="167" dur="500" decel="100000" fill="hold"/>
                                        <p:tgtEl>
                                          <p:spTgt spid="157"/>
                                        </p:tgtEl>
                                        <p:attrNameLst>
                                          <p:attrName>ppt_w</p:attrName>
                                        </p:attrNameLst>
                                      </p:cBhvr>
                                      <p:tavLst>
                                        <p:tav tm="0">
                                          <p:val>
                                            <p:strVal val="#ppt_w*0.3"/>
                                          </p:val>
                                        </p:tav>
                                        <p:tav tm="100000">
                                          <p:val>
                                            <p:strVal val="#ppt_w*1.08"/>
                                          </p:val>
                                        </p:tav>
                                      </p:tavLst>
                                    </p:anim>
                                    <p:anim calcmode="lin" valueType="num">
                                      <p:cBhvr additive="base">
                                        <p:cTn id="168" dur="500" decel="100000" fill="hold"/>
                                        <p:tgtEl>
                                          <p:spTgt spid="157"/>
                                        </p:tgtEl>
                                        <p:attrNameLst>
                                          <p:attrName>ppt_h</p:attrName>
                                        </p:attrNameLst>
                                      </p:cBhvr>
                                      <p:tavLst>
                                        <p:tav tm="0">
                                          <p:val>
                                            <p:strVal val="#ppt_h*0.3"/>
                                          </p:val>
                                        </p:tav>
                                        <p:tav tm="100000">
                                          <p:val>
                                            <p:strVal val="#ppt_h*1.08"/>
                                          </p:val>
                                        </p:tav>
                                      </p:tavLst>
                                    </p:anim>
                                    <p:animEffect transition="in" filter="fade">
                                      <p:cBhvr>
                                        <p:cTn id="169" dur="250"/>
                                        <p:tgtEl>
                                          <p:spTgt spid="157"/>
                                        </p:tgtEl>
                                      </p:cBhvr>
                                    </p:animEffect>
                                    <p:anim calcmode="lin" valueType="num">
                                      <p:cBhvr additive="base">
                                        <p:cTn id="170" dur="160" fill="hold">
                                          <p:stCondLst>
                                            <p:cond delay="500"/>
                                          </p:stCondLst>
                                        </p:cTn>
                                        <p:tgtEl>
                                          <p:spTgt spid="157"/>
                                        </p:tgtEl>
                                        <p:attrNameLst>
                                          <p:attrName>ppt_w</p:attrName>
                                        </p:attrNameLst>
                                      </p:cBhvr>
                                      <p:tavLst>
                                        <p:tav tm="0">
                                          <p:val>
                                            <p:strVal val="#ppt_w*1.08"/>
                                          </p:val>
                                        </p:tav>
                                        <p:tav tm="100000">
                                          <p:val>
                                            <p:strVal val="#ppt_w"/>
                                          </p:val>
                                        </p:tav>
                                      </p:tavLst>
                                    </p:anim>
                                    <p:anim calcmode="lin" valueType="num">
                                      <p:cBhvr additive="base">
                                        <p:cTn id="171" dur="160" fill="hold">
                                          <p:stCondLst>
                                            <p:cond delay="500"/>
                                          </p:stCondLst>
                                        </p:cTn>
                                        <p:tgtEl>
                                          <p:spTgt spid="157"/>
                                        </p:tgtEl>
                                        <p:attrNameLst>
                                          <p:attrName>ppt_h</p:attrName>
                                        </p:attrNameLst>
                                      </p:cBhvr>
                                      <p:tavLst>
                                        <p:tav tm="0">
                                          <p:val>
                                            <p:strVal val="#ppt_h*1.08"/>
                                          </p:val>
                                        </p:tav>
                                        <p:tav tm="100000">
                                          <p:val>
                                            <p:strVal val="#ppt_h"/>
                                          </p:val>
                                        </p:tav>
                                      </p:tavLst>
                                    </p:anim>
                                  </p:childTnLst>
                                </p:cTn>
                              </p:par>
                            </p:childTnLst>
                          </p:cTn>
                        </p:par>
                      </p:childTnLst>
                    </p:cTn>
                  </p:par>
                  <p:par>
                    <p:cTn id="172" fill="hold">
                      <p:stCondLst>
                        <p:cond delay="indefinite"/>
                      </p:stCondLst>
                      <p:childTnLst>
                        <p:par>
                          <p:cTn id="173" fill="hold">
                            <p:stCondLst>
                              <p:cond delay="0"/>
                            </p:stCondLst>
                            <p:childTnLst>
                              <p:par>
                                <p:cTn id="174" presetID="10" presetClass="entr" presetSubtype="0" fill="hold" grpId="0" nodeType="clickEffect">
                                  <p:stCondLst>
                                    <p:cond delay="0"/>
                                  </p:stCondLst>
                                  <p:childTnLst>
                                    <p:set>
                                      <p:cBhvr>
                                        <p:cTn id="175" dur="1" fill="hold">
                                          <p:stCondLst>
                                            <p:cond delay="0"/>
                                          </p:stCondLst>
                                        </p:cTn>
                                        <p:tgtEl>
                                          <p:spTgt spid="103"/>
                                        </p:tgtEl>
                                        <p:attrNameLst>
                                          <p:attrName>style.visibility</p:attrName>
                                        </p:attrNameLst>
                                      </p:cBhvr>
                                      <p:to>
                                        <p:strVal val="visible"/>
                                      </p:to>
                                    </p:set>
                                    <p:animEffect transition="in" filter="fade">
                                      <p:cBhvr>
                                        <p:cTn id="176" dur="500"/>
                                        <p:tgtEl>
                                          <p:spTgt spid="103"/>
                                        </p:tgtEl>
                                      </p:cBhvr>
                                    </p:animEffect>
                                  </p:childTnLst>
                                </p:cTn>
                              </p:par>
                              <p:par>
                                <p:cTn id="177" presetID="42" presetClass="entr" presetSubtype="0" fill="hold" grpId="0" nodeType="withEffect">
                                  <p:stCondLst>
                                    <p:cond delay="150"/>
                                  </p:stCondLst>
                                  <p:childTnLst>
                                    <p:set>
                                      <p:cBhvr>
                                        <p:cTn id="178" dur="1" fill="hold">
                                          <p:stCondLst>
                                            <p:cond delay="0"/>
                                          </p:stCondLst>
                                        </p:cTn>
                                        <p:tgtEl>
                                          <p:spTgt spid="137"/>
                                        </p:tgtEl>
                                        <p:attrNameLst>
                                          <p:attrName>style.visibility</p:attrName>
                                        </p:attrNameLst>
                                      </p:cBhvr>
                                      <p:to>
                                        <p:strVal val="visible"/>
                                      </p:to>
                                    </p:set>
                                    <p:animEffect transition="in" filter="fade">
                                      <p:cBhvr>
                                        <p:cTn id="179" dur="500"/>
                                        <p:tgtEl>
                                          <p:spTgt spid="137"/>
                                        </p:tgtEl>
                                      </p:cBhvr>
                                    </p:animEffect>
                                    <p:anim calcmode="lin" valueType="num">
                                      <p:cBhvr additive="base">
                                        <p:cTn id="180" dur="500" decel="100000" fill="hold"/>
                                        <p:tgtEl>
                                          <p:spTgt spid="137"/>
                                        </p:tgtEl>
                                        <p:attrNameLst>
                                          <p:attrName>ppt_y</p:attrName>
                                        </p:attrNameLst>
                                      </p:cBhvr>
                                      <p:tavLst>
                                        <p:tav tm="0">
                                          <p:val>
                                            <p:strVal val="#ppt_y+0.06"/>
                                          </p:val>
                                        </p:tav>
                                        <p:tav tm="100000">
                                          <p:val>
                                            <p:strVal val="#ppt_y"/>
                                          </p:val>
                                        </p:tav>
                                      </p:tavLst>
                                    </p:anim>
                                  </p:childTnLst>
                                </p:cTn>
                              </p:par>
                              <p:par>
                                <p:cTn id="181" presetID="42" presetClass="entr" presetSubtype="0" fill="hold" grpId="0" nodeType="withEffect">
                                  <p:stCondLst>
                                    <p:cond delay="150"/>
                                  </p:stCondLst>
                                  <p:childTnLst>
                                    <p:set>
                                      <p:cBhvr>
                                        <p:cTn id="182" dur="1" fill="hold">
                                          <p:stCondLst>
                                            <p:cond delay="0"/>
                                          </p:stCondLst>
                                        </p:cTn>
                                        <p:tgtEl>
                                          <p:spTgt spid="138"/>
                                        </p:tgtEl>
                                        <p:attrNameLst>
                                          <p:attrName>style.visibility</p:attrName>
                                        </p:attrNameLst>
                                      </p:cBhvr>
                                      <p:to>
                                        <p:strVal val="visible"/>
                                      </p:to>
                                    </p:set>
                                    <p:animEffect transition="in" filter="fade">
                                      <p:cBhvr>
                                        <p:cTn id="183" dur="500"/>
                                        <p:tgtEl>
                                          <p:spTgt spid="138"/>
                                        </p:tgtEl>
                                      </p:cBhvr>
                                    </p:animEffect>
                                    <p:anim calcmode="lin" valueType="num">
                                      <p:cBhvr additive="base">
                                        <p:cTn id="184" dur="500" decel="100000" fill="hold"/>
                                        <p:tgtEl>
                                          <p:spTgt spid="138"/>
                                        </p:tgtEl>
                                        <p:attrNameLst>
                                          <p:attrName>ppt_y</p:attrName>
                                        </p:attrNameLst>
                                      </p:cBhvr>
                                      <p:tavLst>
                                        <p:tav tm="0">
                                          <p:val>
                                            <p:strVal val="#ppt_y+0.06"/>
                                          </p:val>
                                        </p:tav>
                                        <p:tav tm="100000">
                                          <p:val>
                                            <p:strVal val="#ppt_y"/>
                                          </p:val>
                                        </p:tav>
                                      </p:tavLst>
                                    </p:anim>
                                  </p:childTnLst>
                                </p:cTn>
                              </p:par>
                              <p:par>
                                <p:cTn id="185" presetID="42" presetClass="entr" presetSubtype="0" fill="hold" grpId="0" nodeType="withEffect">
                                  <p:stCondLst>
                                    <p:cond delay="150"/>
                                  </p:stCondLst>
                                  <p:childTnLst>
                                    <p:set>
                                      <p:cBhvr>
                                        <p:cTn id="186" dur="1" fill="hold">
                                          <p:stCondLst>
                                            <p:cond delay="0"/>
                                          </p:stCondLst>
                                        </p:cTn>
                                        <p:tgtEl>
                                          <p:spTgt spid="139"/>
                                        </p:tgtEl>
                                        <p:attrNameLst>
                                          <p:attrName>style.visibility</p:attrName>
                                        </p:attrNameLst>
                                      </p:cBhvr>
                                      <p:to>
                                        <p:strVal val="visible"/>
                                      </p:to>
                                    </p:set>
                                    <p:animEffect transition="in" filter="fade">
                                      <p:cBhvr>
                                        <p:cTn id="187" dur="500"/>
                                        <p:tgtEl>
                                          <p:spTgt spid="139"/>
                                        </p:tgtEl>
                                      </p:cBhvr>
                                    </p:animEffect>
                                    <p:anim calcmode="lin" valueType="num">
                                      <p:cBhvr additive="base">
                                        <p:cTn id="188" dur="500" decel="100000" fill="hold"/>
                                        <p:tgtEl>
                                          <p:spTgt spid="139"/>
                                        </p:tgtEl>
                                        <p:attrNameLst>
                                          <p:attrName>ppt_y</p:attrName>
                                        </p:attrNameLst>
                                      </p:cBhvr>
                                      <p:tavLst>
                                        <p:tav tm="0">
                                          <p:val>
                                            <p:strVal val="#ppt_y+0.06"/>
                                          </p:val>
                                        </p:tav>
                                        <p:tav tm="100000">
                                          <p:val>
                                            <p:strVal val="#ppt_y"/>
                                          </p:val>
                                        </p:tav>
                                      </p:tavLst>
                                    </p:anim>
                                  </p:childTnLst>
                                </p:cTn>
                              </p:par>
                              <p:par>
                                <p:cTn id="189" presetID="42" presetClass="entr" presetSubtype="0" fill="hold" grpId="0" nodeType="withEffect">
                                  <p:stCondLst>
                                    <p:cond delay="150"/>
                                  </p:stCondLst>
                                  <p:childTnLst>
                                    <p:set>
                                      <p:cBhvr>
                                        <p:cTn id="190" dur="1" fill="hold">
                                          <p:stCondLst>
                                            <p:cond delay="0"/>
                                          </p:stCondLst>
                                        </p:cTn>
                                        <p:tgtEl>
                                          <p:spTgt spid="140"/>
                                        </p:tgtEl>
                                        <p:attrNameLst>
                                          <p:attrName>style.visibility</p:attrName>
                                        </p:attrNameLst>
                                      </p:cBhvr>
                                      <p:to>
                                        <p:strVal val="visible"/>
                                      </p:to>
                                    </p:set>
                                    <p:animEffect transition="in" filter="fade">
                                      <p:cBhvr>
                                        <p:cTn id="191" dur="500"/>
                                        <p:tgtEl>
                                          <p:spTgt spid="140"/>
                                        </p:tgtEl>
                                      </p:cBhvr>
                                    </p:animEffect>
                                    <p:anim calcmode="lin" valueType="num">
                                      <p:cBhvr additive="base">
                                        <p:cTn id="192" dur="500" decel="100000" fill="hold"/>
                                        <p:tgtEl>
                                          <p:spTgt spid="140"/>
                                        </p:tgtEl>
                                        <p:attrNameLst>
                                          <p:attrName>ppt_y</p:attrName>
                                        </p:attrNameLst>
                                      </p:cBhvr>
                                      <p:tavLst>
                                        <p:tav tm="0">
                                          <p:val>
                                            <p:strVal val="#ppt_y+0.06"/>
                                          </p:val>
                                        </p:tav>
                                        <p:tav tm="100000">
                                          <p:val>
                                            <p:strVal val="#ppt_y"/>
                                          </p:val>
                                        </p:tav>
                                      </p:tavLst>
                                    </p:anim>
                                  </p:childTnLst>
                                </p:cTn>
                              </p:par>
                              <p:par>
                                <p:cTn id="193" presetID="42" presetClass="entr" presetSubtype="0" fill="hold" grpId="0" nodeType="withEffect">
                                  <p:stCondLst>
                                    <p:cond delay="150"/>
                                  </p:stCondLst>
                                  <p:childTnLst>
                                    <p:set>
                                      <p:cBhvr>
                                        <p:cTn id="194" dur="1" fill="hold">
                                          <p:stCondLst>
                                            <p:cond delay="0"/>
                                          </p:stCondLst>
                                        </p:cTn>
                                        <p:tgtEl>
                                          <p:spTgt spid="141"/>
                                        </p:tgtEl>
                                        <p:attrNameLst>
                                          <p:attrName>style.visibility</p:attrName>
                                        </p:attrNameLst>
                                      </p:cBhvr>
                                      <p:to>
                                        <p:strVal val="visible"/>
                                      </p:to>
                                    </p:set>
                                    <p:animEffect transition="in" filter="fade">
                                      <p:cBhvr>
                                        <p:cTn id="195" dur="500"/>
                                        <p:tgtEl>
                                          <p:spTgt spid="141"/>
                                        </p:tgtEl>
                                      </p:cBhvr>
                                    </p:animEffect>
                                    <p:anim calcmode="lin" valueType="num">
                                      <p:cBhvr additive="base">
                                        <p:cTn id="196" dur="500" decel="100000" fill="hold"/>
                                        <p:tgtEl>
                                          <p:spTgt spid="141"/>
                                        </p:tgtEl>
                                        <p:attrNameLst>
                                          <p:attrName>ppt_y</p:attrName>
                                        </p:attrNameLst>
                                      </p:cBhvr>
                                      <p:tavLst>
                                        <p:tav tm="0">
                                          <p:val>
                                            <p:strVal val="#ppt_y+0.06"/>
                                          </p:val>
                                        </p:tav>
                                        <p:tav tm="100000">
                                          <p:val>
                                            <p:strVal val="#ppt_y"/>
                                          </p:val>
                                        </p:tav>
                                      </p:tavLst>
                                    </p:anim>
                                  </p:childTnLst>
                                </p:cTn>
                              </p:par>
                              <p:par>
                                <p:cTn id="197" presetID="42" presetClass="entr" presetSubtype="0" fill="hold" nodeType="withEffect">
                                  <p:stCondLst>
                                    <p:cond delay="150"/>
                                  </p:stCondLst>
                                  <p:childTnLst>
                                    <p:set>
                                      <p:cBhvr>
                                        <p:cTn id="198" dur="1" fill="hold">
                                          <p:stCondLst>
                                            <p:cond delay="0"/>
                                          </p:stCondLst>
                                        </p:cTn>
                                        <p:tgtEl>
                                          <p:spTgt spid="142"/>
                                        </p:tgtEl>
                                        <p:attrNameLst>
                                          <p:attrName>style.visibility</p:attrName>
                                        </p:attrNameLst>
                                      </p:cBhvr>
                                      <p:to>
                                        <p:strVal val="visible"/>
                                      </p:to>
                                    </p:set>
                                    <p:animEffect transition="in" filter="fade">
                                      <p:cBhvr>
                                        <p:cTn id="199" dur="500"/>
                                        <p:tgtEl>
                                          <p:spTgt spid="142"/>
                                        </p:tgtEl>
                                      </p:cBhvr>
                                    </p:animEffect>
                                    <p:anim calcmode="lin" valueType="num">
                                      <p:cBhvr additive="base">
                                        <p:cTn id="200" dur="500" decel="100000" fill="hold"/>
                                        <p:tgtEl>
                                          <p:spTgt spid="142"/>
                                        </p:tgtEl>
                                        <p:attrNameLst>
                                          <p:attrName>ppt_y</p:attrName>
                                        </p:attrNameLst>
                                      </p:cBhvr>
                                      <p:tavLst>
                                        <p:tav tm="0">
                                          <p:val>
                                            <p:strVal val="#ppt_y+0.06"/>
                                          </p:val>
                                        </p:tav>
                                        <p:tav tm="100000">
                                          <p:val>
                                            <p:strVal val="#ppt_y"/>
                                          </p:val>
                                        </p:tav>
                                      </p:tavLst>
                                    </p:anim>
                                  </p:childTnLst>
                                </p:cTn>
                              </p:par>
                              <p:par>
                                <p:cTn id="201" presetID="42" presetClass="entr" presetSubtype="0" fill="hold" grpId="0" nodeType="withEffect">
                                  <p:stCondLst>
                                    <p:cond delay="150"/>
                                  </p:stCondLst>
                                  <p:childTnLst>
                                    <p:set>
                                      <p:cBhvr>
                                        <p:cTn id="202" dur="1" fill="hold">
                                          <p:stCondLst>
                                            <p:cond delay="0"/>
                                          </p:stCondLst>
                                        </p:cTn>
                                        <p:tgtEl>
                                          <p:spTgt spid="143"/>
                                        </p:tgtEl>
                                        <p:attrNameLst>
                                          <p:attrName>style.visibility</p:attrName>
                                        </p:attrNameLst>
                                      </p:cBhvr>
                                      <p:to>
                                        <p:strVal val="visible"/>
                                      </p:to>
                                    </p:set>
                                    <p:animEffect transition="in" filter="fade">
                                      <p:cBhvr>
                                        <p:cTn id="203" dur="500"/>
                                        <p:tgtEl>
                                          <p:spTgt spid="143"/>
                                        </p:tgtEl>
                                      </p:cBhvr>
                                    </p:animEffect>
                                    <p:anim calcmode="lin" valueType="num">
                                      <p:cBhvr additive="base">
                                        <p:cTn id="204" dur="500" decel="100000" fill="hold"/>
                                        <p:tgtEl>
                                          <p:spTgt spid="143"/>
                                        </p:tgtEl>
                                        <p:attrNameLst>
                                          <p:attrName>ppt_y</p:attrName>
                                        </p:attrNameLst>
                                      </p:cBhvr>
                                      <p:tavLst>
                                        <p:tav tm="0">
                                          <p:val>
                                            <p:strVal val="#ppt_y+0.06"/>
                                          </p:val>
                                        </p:tav>
                                        <p:tav tm="100000">
                                          <p:val>
                                            <p:strVal val="#ppt_y"/>
                                          </p:val>
                                        </p:tav>
                                      </p:tavLst>
                                    </p:anim>
                                  </p:childTnLst>
                                </p:cTn>
                              </p:par>
                              <p:par>
                                <p:cTn id="205" presetID="42" presetClass="entr" presetSubtype="0" fill="hold" grpId="0" nodeType="withEffect">
                                  <p:stCondLst>
                                    <p:cond delay="150"/>
                                  </p:stCondLst>
                                  <p:childTnLst>
                                    <p:set>
                                      <p:cBhvr>
                                        <p:cTn id="206" dur="1" fill="hold">
                                          <p:stCondLst>
                                            <p:cond delay="0"/>
                                          </p:stCondLst>
                                        </p:cTn>
                                        <p:tgtEl>
                                          <p:spTgt spid="144"/>
                                        </p:tgtEl>
                                        <p:attrNameLst>
                                          <p:attrName>style.visibility</p:attrName>
                                        </p:attrNameLst>
                                      </p:cBhvr>
                                      <p:to>
                                        <p:strVal val="visible"/>
                                      </p:to>
                                    </p:set>
                                    <p:animEffect transition="in" filter="fade">
                                      <p:cBhvr>
                                        <p:cTn id="207" dur="500"/>
                                        <p:tgtEl>
                                          <p:spTgt spid="144"/>
                                        </p:tgtEl>
                                      </p:cBhvr>
                                    </p:animEffect>
                                    <p:anim calcmode="lin" valueType="num">
                                      <p:cBhvr additive="base">
                                        <p:cTn id="208" dur="500" decel="100000" fill="hold"/>
                                        <p:tgtEl>
                                          <p:spTgt spid="144"/>
                                        </p:tgtEl>
                                        <p:attrNameLst>
                                          <p:attrName>ppt_y</p:attrName>
                                        </p:attrNameLst>
                                      </p:cBhvr>
                                      <p:tavLst>
                                        <p:tav tm="0">
                                          <p:val>
                                            <p:strVal val="#ppt_y+0.06"/>
                                          </p:val>
                                        </p:tav>
                                        <p:tav tm="100000">
                                          <p:val>
                                            <p:strVal val="#ppt_y"/>
                                          </p:val>
                                        </p:tav>
                                      </p:tavLst>
                                    </p:anim>
                                  </p:childTnLst>
                                </p:cTn>
                              </p:par>
                              <p:par>
                                <p:cTn id="209" presetID="42" presetClass="entr" presetSubtype="0" fill="hold" grpId="0" nodeType="withEffect">
                                  <p:stCondLst>
                                    <p:cond delay="150"/>
                                  </p:stCondLst>
                                  <p:childTnLst>
                                    <p:set>
                                      <p:cBhvr>
                                        <p:cTn id="210" dur="1" fill="hold">
                                          <p:stCondLst>
                                            <p:cond delay="0"/>
                                          </p:stCondLst>
                                        </p:cTn>
                                        <p:tgtEl>
                                          <p:spTgt spid="145"/>
                                        </p:tgtEl>
                                        <p:attrNameLst>
                                          <p:attrName>style.visibility</p:attrName>
                                        </p:attrNameLst>
                                      </p:cBhvr>
                                      <p:to>
                                        <p:strVal val="visible"/>
                                      </p:to>
                                    </p:set>
                                    <p:animEffect transition="in" filter="fade">
                                      <p:cBhvr>
                                        <p:cTn id="211" dur="500"/>
                                        <p:tgtEl>
                                          <p:spTgt spid="145"/>
                                        </p:tgtEl>
                                      </p:cBhvr>
                                    </p:animEffect>
                                    <p:anim calcmode="lin" valueType="num">
                                      <p:cBhvr additive="base">
                                        <p:cTn id="212" dur="500" decel="100000" fill="hold"/>
                                        <p:tgtEl>
                                          <p:spTgt spid="145"/>
                                        </p:tgtEl>
                                        <p:attrNameLst>
                                          <p:attrName>ppt_y</p:attrName>
                                        </p:attrNameLst>
                                      </p:cBhvr>
                                      <p:tavLst>
                                        <p:tav tm="0">
                                          <p:val>
                                            <p:strVal val="#ppt_y+0.06"/>
                                          </p:val>
                                        </p:tav>
                                        <p:tav tm="100000">
                                          <p:val>
                                            <p:strVal val="#ppt_y"/>
                                          </p:val>
                                        </p:tav>
                                      </p:tavLst>
                                    </p:anim>
                                  </p:childTnLst>
                                </p:cTn>
                              </p:par>
                              <p:par>
                                <p:cTn id="213" presetID="42" presetClass="entr" presetSubtype="0" fill="hold" grpId="0" nodeType="withEffect">
                                  <p:stCondLst>
                                    <p:cond delay="150"/>
                                  </p:stCondLst>
                                  <p:childTnLst>
                                    <p:set>
                                      <p:cBhvr>
                                        <p:cTn id="214" dur="1" fill="hold">
                                          <p:stCondLst>
                                            <p:cond delay="0"/>
                                          </p:stCondLst>
                                        </p:cTn>
                                        <p:tgtEl>
                                          <p:spTgt spid="146"/>
                                        </p:tgtEl>
                                        <p:attrNameLst>
                                          <p:attrName>style.visibility</p:attrName>
                                        </p:attrNameLst>
                                      </p:cBhvr>
                                      <p:to>
                                        <p:strVal val="visible"/>
                                      </p:to>
                                    </p:set>
                                    <p:animEffect transition="in" filter="fade">
                                      <p:cBhvr>
                                        <p:cTn id="215" dur="500"/>
                                        <p:tgtEl>
                                          <p:spTgt spid="146"/>
                                        </p:tgtEl>
                                      </p:cBhvr>
                                    </p:animEffect>
                                    <p:anim calcmode="lin" valueType="num">
                                      <p:cBhvr additive="base">
                                        <p:cTn id="216" dur="500" decel="100000" fill="hold"/>
                                        <p:tgtEl>
                                          <p:spTgt spid="146"/>
                                        </p:tgtEl>
                                        <p:attrNameLst>
                                          <p:attrName>ppt_y</p:attrName>
                                        </p:attrNameLst>
                                      </p:cBhvr>
                                      <p:tavLst>
                                        <p:tav tm="0">
                                          <p:val>
                                            <p:strVal val="#ppt_y+0.06"/>
                                          </p:val>
                                        </p:tav>
                                        <p:tav tm="100000">
                                          <p:val>
                                            <p:strVal val="#ppt_y"/>
                                          </p:val>
                                        </p:tav>
                                      </p:tavLst>
                                    </p:anim>
                                  </p:childTnLst>
                                </p:cTn>
                              </p:par>
                              <p:par>
                                <p:cTn id="217" presetID="42" presetClass="entr" presetSubtype="0" fill="hold" grpId="0" nodeType="withEffect">
                                  <p:stCondLst>
                                    <p:cond delay="150"/>
                                  </p:stCondLst>
                                  <p:childTnLst>
                                    <p:set>
                                      <p:cBhvr>
                                        <p:cTn id="218" dur="1" fill="hold">
                                          <p:stCondLst>
                                            <p:cond delay="0"/>
                                          </p:stCondLst>
                                        </p:cTn>
                                        <p:tgtEl>
                                          <p:spTgt spid="147"/>
                                        </p:tgtEl>
                                        <p:attrNameLst>
                                          <p:attrName>style.visibility</p:attrName>
                                        </p:attrNameLst>
                                      </p:cBhvr>
                                      <p:to>
                                        <p:strVal val="visible"/>
                                      </p:to>
                                    </p:set>
                                    <p:animEffect transition="in" filter="fade">
                                      <p:cBhvr>
                                        <p:cTn id="219" dur="500"/>
                                        <p:tgtEl>
                                          <p:spTgt spid="147"/>
                                        </p:tgtEl>
                                      </p:cBhvr>
                                    </p:animEffect>
                                    <p:anim calcmode="lin" valueType="num">
                                      <p:cBhvr additive="base">
                                        <p:cTn id="220" dur="500" decel="100000" fill="hold"/>
                                        <p:tgtEl>
                                          <p:spTgt spid="147"/>
                                        </p:tgtEl>
                                        <p:attrNameLst>
                                          <p:attrName>ppt_y</p:attrName>
                                        </p:attrNameLst>
                                      </p:cBhvr>
                                      <p:tavLst>
                                        <p:tav tm="0">
                                          <p:val>
                                            <p:strVal val="#ppt_y+0.06"/>
                                          </p:val>
                                        </p:tav>
                                        <p:tav tm="100000">
                                          <p:val>
                                            <p:strVal val="#ppt_y"/>
                                          </p:val>
                                        </p:tav>
                                      </p:tavLst>
                                    </p:anim>
                                  </p:childTnLst>
                                </p:cTn>
                              </p:par>
                              <p:par>
                                <p:cTn id="221" presetID="42" presetClass="entr" presetSubtype="0" fill="hold" grpId="0" nodeType="withEffect">
                                  <p:stCondLst>
                                    <p:cond delay="150"/>
                                  </p:stCondLst>
                                  <p:childTnLst>
                                    <p:set>
                                      <p:cBhvr>
                                        <p:cTn id="222" dur="1" fill="hold">
                                          <p:stCondLst>
                                            <p:cond delay="0"/>
                                          </p:stCondLst>
                                        </p:cTn>
                                        <p:tgtEl>
                                          <p:spTgt spid="148"/>
                                        </p:tgtEl>
                                        <p:attrNameLst>
                                          <p:attrName>style.visibility</p:attrName>
                                        </p:attrNameLst>
                                      </p:cBhvr>
                                      <p:to>
                                        <p:strVal val="visible"/>
                                      </p:to>
                                    </p:set>
                                    <p:animEffect transition="in" filter="fade">
                                      <p:cBhvr>
                                        <p:cTn id="223" dur="500"/>
                                        <p:tgtEl>
                                          <p:spTgt spid="148"/>
                                        </p:tgtEl>
                                      </p:cBhvr>
                                    </p:animEffect>
                                    <p:anim calcmode="lin" valueType="num">
                                      <p:cBhvr additive="base">
                                        <p:cTn id="224" dur="500" decel="100000" fill="hold"/>
                                        <p:tgtEl>
                                          <p:spTgt spid="148"/>
                                        </p:tgtEl>
                                        <p:attrNameLst>
                                          <p:attrName>ppt_y</p:attrName>
                                        </p:attrNameLst>
                                      </p:cBhvr>
                                      <p:tavLst>
                                        <p:tav tm="0">
                                          <p:val>
                                            <p:strVal val="#ppt_y+0.06"/>
                                          </p:val>
                                        </p:tav>
                                        <p:tav tm="100000">
                                          <p:val>
                                            <p:strVal val="#ppt_y"/>
                                          </p:val>
                                        </p:tav>
                                      </p:tavLst>
                                    </p:anim>
                                  </p:childTnLst>
                                </p:cTn>
                              </p:par>
                              <p:par>
                                <p:cTn id="225" presetID="42" presetClass="entr" presetSubtype="0" fill="hold" grpId="0" nodeType="withEffect">
                                  <p:stCondLst>
                                    <p:cond delay="150"/>
                                  </p:stCondLst>
                                  <p:childTnLst>
                                    <p:set>
                                      <p:cBhvr>
                                        <p:cTn id="226" dur="1" fill="hold">
                                          <p:stCondLst>
                                            <p:cond delay="0"/>
                                          </p:stCondLst>
                                        </p:cTn>
                                        <p:tgtEl>
                                          <p:spTgt spid="149"/>
                                        </p:tgtEl>
                                        <p:attrNameLst>
                                          <p:attrName>style.visibility</p:attrName>
                                        </p:attrNameLst>
                                      </p:cBhvr>
                                      <p:to>
                                        <p:strVal val="visible"/>
                                      </p:to>
                                    </p:set>
                                    <p:animEffect transition="in" filter="fade">
                                      <p:cBhvr>
                                        <p:cTn id="227" dur="500"/>
                                        <p:tgtEl>
                                          <p:spTgt spid="149"/>
                                        </p:tgtEl>
                                      </p:cBhvr>
                                    </p:animEffect>
                                    <p:anim calcmode="lin" valueType="num">
                                      <p:cBhvr additive="base">
                                        <p:cTn id="228" dur="500" decel="100000" fill="hold"/>
                                        <p:tgtEl>
                                          <p:spTgt spid="149"/>
                                        </p:tgtEl>
                                        <p:attrNameLst>
                                          <p:attrName>ppt_y</p:attrName>
                                        </p:attrNameLst>
                                      </p:cBhvr>
                                      <p:tavLst>
                                        <p:tav tm="0">
                                          <p:val>
                                            <p:strVal val="#ppt_y+0.06"/>
                                          </p:val>
                                        </p:tav>
                                        <p:tav tm="100000">
                                          <p:val>
                                            <p:strVal val="#ppt_y"/>
                                          </p:val>
                                        </p:tav>
                                      </p:tavLst>
                                    </p:anim>
                                  </p:childTnLst>
                                </p:cTn>
                              </p:par>
                              <p:par>
                                <p:cTn id="229" presetID="42" presetClass="entr" presetSubtype="0" fill="hold" grpId="0" nodeType="withEffect">
                                  <p:stCondLst>
                                    <p:cond delay="150"/>
                                  </p:stCondLst>
                                  <p:childTnLst>
                                    <p:set>
                                      <p:cBhvr>
                                        <p:cTn id="230" dur="1" fill="hold">
                                          <p:stCondLst>
                                            <p:cond delay="0"/>
                                          </p:stCondLst>
                                        </p:cTn>
                                        <p:tgtEl>
                                          <p:spTgt spid="150"/>
                                        </p:tgtEl>
                                        <p:attrNameLst>
                                          <p:attrName>style.visibility</p:attrName>
                                        </p:attrNameLst>
                                      </p:cBhvr>
                                      <p:to>
                                        <p:strVal val="visible"/>
                                      </p:to>
                                    </p:set>
                                    <p:animEffect transition="in" filter="fade">
                                      <p:cBhvr>
                                        <p:cTn id="231" dur="500"/>
                                        <p:tgtEl>
                                          <p:spTgt spid="150"/>
                                        </p:tgtEl>
                                      </p:cBhvr>
                                    </p:animEffect>
                                    <p:anim calcmode="lin" valueType="num">
                                      <p:cBhvr additive="base">
                                        <p:cTn id="232" dur="500" decel="100000" fill="hold"/>
                                        <p:tgtEl>
                                          <p:spTgt spid="150"/>
                                        </p:tgtEl>
                                        <p:attrNameLst>
                                          <p:attrName>ppt_y</p:attrName>
                                        </p:attrNameLst>
                                      </p:cBhvr>
                                      <p:tavLst>
                                        <p:tav tm="0">
                                          <p:val>
                                            <p:strVal val="#ppt_y+0.06"/>
                                          </p:val>
                                        </p:tav>
                                        <p:tav tm="100000">
                                          <p:val>
                                            <p:strVal val="#ppt_y"/>
                                          </p:val>
                                        </p:tav>
                                      </p:tavLst>
                                    </p:anim>
                                  </p:childTnLst>
                                </p:cTn>
                              </p:par>
                              <p:par>
                                <p:cTn id="233" presetID="42" presetClass="entr" presetSubtype="0" fill="hold" grpId="0" nodeType="withEffect">
                                  <p:stCondLst>
                                    <p:cond delay="150"/>
                                  </p:stCondLst>
                                  <p:childTnLst>
                                    <p:set>
                                      <p:cBhvr>
                                        <p:cTn id="234" dur="1" fill="hold">
                                          <p:stCondLst>
                                            <p:cond delay="0"/>
                                          </p:stCondLst>
                                        </p:cTn>
                                        <p:tgtEl>
                                          <p:spTgt spid="151"/>
                                        </p:tgtEl>
                                        <p:attrNameLst>
                                          <p:attrName>style.visibility</p:attrName>
                                        </p:attrNameLst>
                                      </p:cBhvr>
                                      <p:to>
                                        <p:strVal val="visible"/>
                                      </p:to>
                                    </p:set>
                                    <p:animEffect transition="in" filter="fade">
                                      <p:cBhvr>
                                        <p:cTn id="235" dur="500"/>
                                        <p:tgtEl>
                                          <p:spTgt spid="151"/>
                                        </p:tgtEl>
                                      </p:cBhvr>
                                    </p:animEffect>
                                    <p:anim calcmode="lin" valueType="num">
                                      <p:cBhvr additive="base">
                                        <p:cTn id="236" dur="500" decel="100000" fill="hold"/>
                                        <p:tgtEl>
                                          <p:spTgt spid="151"/>
                                        </p:tgtEl>
                                        <p:attrNameLst>
                                          <p:attrName>ppt_y</p:attrName>
                                        </p:attrNameLst>
                                      </p:cBhvr>
                                      <p:tavLst>
                                        <p:tav tm="0">
                                          <p:val>
                                            <p:strVal val="#ppt_y+0.06"/>
                                          </p:val>
                                        </p:tav>
                                        <p:tav tm="100000">
                                          <p:val>
                                            <p:strVal val="#ppt_y"/>
                                          </p:val>
                                        </p:tav>
                                      </p:tavLst>
                                    </p:anim>
                                  </p:childTnLst>
                                </p:cTn>
                              </p:par>
                              <p:par>
                                <p:cTn id="237" presetID="42" presetClass="entr" presetSubtype="0" fill="hold" grpId="0" nodeType="withEffect">
                                  <p:stCondLst>
                                    <p:cond delay="150"/>
                                  </p:stCondLst>
                                  <p:childTnLst>
                                    <p:set>
                                      <p:cBhvr>
                                        <p:cTn id="238" dur="1" fill="hold">
                                          <p:stCondLst>
                                            <p:cond delay="0"/>
                                          </p:stCondLst>
                                        </p:cTn>
                                        <p:tgtEl>
                                          <p:spTgt spid="152"/>
                                        </p:tgtEl>
                                        <p:attrNameLst>
                                          <p:attrName>style.visibility</p:attrName>
                                        </p:attrNameLst>
                                      </p:cBhvr>
                                      <p:to>
                                        <p:strVal val="visible"/>
                                      </p:to>
                                    </p:set>
                                    <p:animEffect transition="in" filter="fade">
                                      <p:cBhvr>
                                        <p:cTn id="239" dur="500"/>
                                        <p:tgtEl>
                                          <p:spTgt spid="152"/>
                                        </p:tgtEl>
                                      </p:cBhvr>
                                    </p:animEffect>
                                    <p:anim calcmode="lin" valueType="num">
                                      <p:cBhvr additive="base">
                                        <p:cTn id="240" dur="500" decel="100000" fill="hold"/>
                                        <p:tgtEl>
                                          <p:spTgt spid="152"/>
                                        </p:tgtEl>
                                        <p:attrNameLst>
                                          <p:attrName>ppt_y</p:attrName>
                                        </p:attrNameLst>
                                      </p:cBhvr>
                                      <p:tavLst>
                                        <p:tav tm="0">
                                          <p:val>
                                            <p:strVal val="#ppt_y+0.06"/>
                                          </p:val>
                                        </p:tav>
                                        <p:tav tm="100000">
                                          <p:val>
                                            <p:strVal val="#ppt_y"/>
                                          </p:val>
                                        </p:tav>
                                      </p:tavLst>
                                    </p:anim>
                                  </p:childTnLst>
                                </p:cTn>
                              </p:par>
                              <p:par>
                                <p:cTn id="241" presetID="42" presetClass="entr" presetSubtype="0" fill="hold" grpId="0" nodeType="withEffect">
                                  <p:stCondLst>
                                    <p:cond delay="150"/>
                                  </p:stCondLst>
                                  <p:childTnLst>
                                    <p:set>
                                      <p:cBhvr>
                                        <p:cTn id="242" dur="1" fill="hold">
                                          <p:stCondLst>
                                            <p:cond delay="0"/>
                                          </p:stCondLst>
                                        </p:cTn>
                                        <p:tgtEl>
                                          <p:spTgt spid="153"/>
                                        </p:tgtEl>
                                        <p:attrNameLst>
                                          <p:attrName>style.visibility</p:attrName>
                                        </p:attrNameLst>
                                      </p:cBhvr>
                                      <p:to>
                                        <p:strVal val="visible"/>
                                      </p:to>
                                    </p:set>
                                    <p:animEffect transition="in" filter="fade">
                                      <p:cBhvr>
                                        <p:cTn id="243" dur="500"/>
                                        <p:tgtEl>
                                          <p:spTgt spid="153"/>
                                        </p:tgtEl>
                                      </p:cBhvr>
                                    </p:animEffect>
                                    <p:anim calcmode="lin" valueType="num">
                                      <p:cBhvr additive="base">
                                        <p:cTn id="244" dur="500" decel="100000" fill="hold"/>
                                        <p:tgtEl>
                                          <p:spTgt spid="153"/>
                                        </p:tgtEl>
                                        <p:attrNameLst>
                                          <p:attrName>ppt_y</p:attrName>
                                        </p:attrNameLst>
                                      </p:cBhvr>
                                      <p:tavLst>
                                        <p:tav tm="0">
                                          <p:val>
                                            <p:strVal val="#ppt_y+0.06"/>
                                          </p:val>
                                        </p:tav>
                                        <p:tav tm="100000">
                                          <p:val>
                                            <p:strVal val="#ppt_y"/>
                                          </p:val>
                                        </p:tav>
                                      </p:tavLst>
                                    </p:anim>
                                  </p:childTnLst>
                                </p:cTn>
                              </p:par>
                              <p:par>
                                <p:cTn id="245" presetID="42" presetClass="entr" presetSubtype="0" fill="hold" grpId="0" nodeType="withEffect">
                                  <p:stCondLst>
                                    <p:cond delay="150"/>
                                  </p:stCondLst>
                                  <p:childTnLst>
                                    <p:set>
                                      <p:cBhvr>
                                        <p:cTn id="246" dur="1" fill="hold">
                                          <p:stCondLst>
                                            <p:cond delay="0"/>
                                          </p:stCondLst>
                                        </p:cTn>
                                        <p:tgtEl>
                                          <p:spTgt spid="154"/>
                                        </p:tgtEl>
                                        <p:attrNameLst>
                                          <p:attrName>style.visibility</p:attrName>
                                        </p:attrNameLst>
                                      </p:cBhvr>
                                      <p:to>
                                        <p:strVal val="visible"/>
                                      </p:to>
                                    </p:set>
                                    <p:animEffect transition="in" filter="fade">
                                      <p:cBhvr>
                                        <p:cTn id="247" dur="500"/>
                                        <p:tgtEl>
                                          <p:spTgt spid="154"/>
                                        </p:tgtEl>
                                      </p:cBhvr>
                                    </p:animEffect>
                                    <p:anim calcmode="lin" valueType="num">
                                      <p:cBhvr additive="base">
                                        <p:cTn id="248" dur="500" decel="100000" fill="hold"/>
                                        <p:tgtEl>
                                          <p:spTgt spid="154"/>
                                        </p:tgtEl>
                                        <p:attrNameLst>
                                          <p:attrName>ppt_y</p:attrName>
                                        </p:attrNameLst>
                                      </p:cBhvr>
                                      <p:tavLst>
                                        <p:tav tm="0">
                                          <p:val>
                                            <p:strVal val="#ppt_y+0.06"/>
                                          </p:val>
                                        </p:tav>
                                        <p:tav tm="100000">
                                          <p:val>
                                            <p:strVal val="#ppt_y"/>
                                          </p:val>
                                        </p:tav>
                                      </p:tavLst>
                                    </p:anim>
                                  </p:childTnLst>
                                </p:cTn>
                              </p:par>
                              <p:par>
                                <p:cTn id="249" presetID="53" presetClass="entr" presetSubtype="16" fill="hold" grpId="0" nodeType="withEffect">
                                  <p:stCondLst>
                                    <p:cond delay="350"/>
                                  </p:stCondLst>
                                  <p:childTnLst>
                                    <p:set>
                                      <p:cBhvr>
                                        <p:cTn id="250" dur="1" fill="hold">
                                          <p:stCondLst>
                                            <p:cond delay="0"/>
                                          </p:stCondLst>
                                        </p:cTn>
                                        <p:tgtEl>
                                          <p:spTgt spid="158"/>
                                        </p:tgtEl>
                                        <p:attrNameLst>
                                          <p:attrName>style.visibility</p:attrName>
                                        </p:attrNameLst>
                                      </p:cBhvr>
                                      <p:to>
                                        <p:strVal val="visible"/>
                                      </p:to>
                                    </p:set>
                                    <p:anim calcmode="lin" valueType="num">
                                      <p:cBhvr additive="base">
                                        <p:cTn id="251" dur="500" decel="100000" fill="hold"/>
                                        <p:tgtEl>
                                          <p:spTgt spid="158"/>
                                        </p:tgtEl>
                                        <p:attrNameLst>
                                          <p:attrName>ppt_w</p:attrName>
                                        </p:attrNameLst>
                                      </p:cBhvr>
                                      <p:tavLst>
                                        <p:tav tm="0">
                                          <p:val>
                                            <p:strVal val="#ppt_w*0.3"/>
                                          </p:val>
                                        </p:tav>
                                        <p:tav tm="100000">
                                          <p:val>
                                            <p:strVal val="#ppt_w*1.08"/>
                                          </p:val>
                                        </p:tav>
                                      </p:tavLst>
                                    </p:anim>
                                    <p:anim calcmode="lin" valueType="num">
                                      <p:cBhvr additive="base">
                                        <p:cTn id="252" dur="500" decel="100000" fill="hold"/>
                                        <p:tgtEl>
                                          <p:spTgt spid="158"/>
                                        </p:tgtEl>
                                        <p:attrNameLst>
                                          <p:attrName>ppt_h</p:attrName>
                                        </p:attrNameLst>
                                      </p:cBhvr>
                                      <p:tavLst>
                                        <p:tav tm="0">
                                          <p:val>
                                            <p:strVal val="#ppt_h*0.3"/>
                                          </p:val>
                                        </p:tav>
                                        <p:tav tm="100000">
                                          <p:val>
                                            <p:strVal val="#ppt_h*1.08"/>
                                          </p:val>
                                        </p:tav>
                                      </p:tavLst>
                                    </p:anim>
                                    <p:animEffect transition="in" filter="fade">
                                      <p:cBhvr>
                                        <p:cTn id="253" dur="250"/>
                                        <p:tgtEl>
                                          <p:spTgt spid="158"/>
                                        </p:tgtEl>
                                      </p:cBhvr>
                                    </p:animEffect>
                                    <p:anim calcmode="lin" valueType="num">
                                      <p:cBhvr additive="base">
                                        <p:cTn id="254" dur="160" fill="hold">
                                          <p:stCondLst>
                                            <p:cond delay="500"/>
                                          </p:stCondLst>
                                        </p:cTn>
                                        <p:tgtEl>
                                          <p:spTgt spid="158"/>
                                        </p:tgtEl>
                                        <p:attrNameLst>
                                          <p:attrName>ppt_w</p:attrName>
                                        </p:attrNameLst>
                                      </p:cBhvr>
                                      <p:tavLst>
                                        <p:tav tm="0">
                                          <p:val>
                                            <p:strVal val="#ppt_w*1.08"/>
                                          </p:val>
                                        </p:tav>
                                        <p:tav tm="100000">
                                          <p:val>
                                            <p:strVal val="#ppt_w"/>
                                          </p:val>
                                        </p:tav>
                                      </p:tavLst>
                                    </p:anim>
                                    <p:anim calcmode="lin" valueType="num">
                                      <p:cBhvr additive="base">
                                        <p:cTn id="255" dur="160" fill="hold">
                                          <p:stCondLst>
                                            <p:cond delay="500"/>
                                          </p:stCondLst>
                                        </p:cTn>
                                        <p:tgtEl>
                                          <p:spTgt spid="158"/>
                                        </p:tgtEl>
                                        <p:attrNameLst>
                                          <p:attrName>ppt_h</p:attrName>
                                        </p:attrNameLst>
                                      </p:cBhvr>
                                      <p:tavLst>
                                        <p:tav tm="0">
                                          <p:val>
                                            <p:strVal val="#ppt_h*1.08"/>
                                          </p:val>
                                        </p:tav>
                                        <p:tav tm="100000">
                                          <p:val>
                                            <p:strVal val="#ppt_h"/>
                                          </p:val>
                                        </p:tav>
                                      </p:tavLst>
                                    </p:anim>
                                  </p:childTnLst>
                                </p:cTn>
                              </p:par>
                            </p:childTnLst>
                          </p:cTn>
                        </p:par>
                      </p:childTnLst>
                    </p:cTn>
                  </p:par>
                  <p:par>
                    <p:cTn id="256" fill="hold">
                      <p:stCondLst>
                        <p:cond delay="indefinite"/>
                      </p:stCondLst>
                      <p:childTnLst>
                        <p:par>
                          <p:cTn id="257" fill="hold">
                            <p:stCondLst>
                              <p:cond delay="0"/>
                            </p:stCondLst>
                            <p:childTnLst>
                              <p:par>
                                <p:cTn id="258" presetID="10" presetClass="entr" presetSubtype="0" fill="hold" grpId="0" nodeType="clickEffect">
                                  <p:stCondLst>
                                    <p:cond delay="0"/>
                                  </p:stCondLst>
                                  <p:childTnLst>
                                    <p:set>
                                      <p:cBhvr>
                                        <p:cTn id="259" dur="1" fill="hold">
                                          <p:stCondLst>
                                            <p:cond delay="0"/>
                                          </p:stCondLst>
                                        </p:cTn>
                                        <p:tgtEl>
                                          <p:spTgt spid="160"/>
                                        </p:tgtEl>
                                        <p:attrNameLst>
                                          <p:attrName>style.visibility</p:attrName>
                                        </p:attrNameLst>
                                      </p:cBhvr>
                                      <p:to>
                                        <p:strVal val="visible"/>
                                      </p:to>
                                    </p:set>
                                    <p:animEffect transition="in" filter="fade">
                                      <p:cBhvr>
                                        <p:cTn id="260" dur="500"/>
                                        <p:tgtEl>
                                          <p:spTgt spid="160"/>
                                        </p:tgtEl>
                                      </p:cBhvr>
                                    </p:animEffect>
                                  </p:childTnLst>
                                </p:cTn>
                              </p:par>
                              <p:par>
                                <p:cTn id="261" presetID="42" presetClass="entr" presetSubtype="0" fill="hold" grpId="0" nodeType="withEffect">
                                  <p:stCondLst>
                                    <p:cond delay="200"/>
                                  </p:stCondLst>
                                  <p:childTnLst>
                                    <p:set>
                                      <p:cBhvr>
                                        <p:cTn id="262" dur="1" fill="hold">
                                          <p:stCondLst>
                                            <p:cond delay="0"/>
                                          </p:stCondLst>
                                        </p:cTn>
                                        <p:tgtEl>
                                          <p:spTgt spid="161"/>
                                        </p:tgtEl>
                                        <p:attrNameLst>
                                          <p:attrName>style.visibility</p:attrName>
                                        </p:attrNameLst>
                                      </p:cBhvr>
                                      <p:to>
                                        <p:strVal val="visible"/>
                                      </p:to>
                                    </p:set>
                                    <p:animEffect transition="in" filter="fade">
                                      <p:cBhvr>
                                        <p:cTn id="263" dur="500"/>
                                        <p:tgtEl>
                                          <p:spTgt spid="161"/>
                                        </p:tgtEl>
                                      </p:cBhvr>
                                    </p:animEffect>
                                    <p:anim calcmode="lin" valueType="num">
                                      <p:cBhvr additive="base">
                                        <p:cTn id="264" dur="500" decel="100000" fill="hold"/>
                                        <p:tgtEl>
                                          <p:spTgt spid="161"/>
                                        </p:tgtEl>
                                        <p:attrNameLst>
                                          <p:attrName>ppt_x</p:attrName>
                                        </p:attrNameLst>
                                      </p:cBhvr>
                                      <p:tavLst>
                                        <p:tav tm="0">
                                          <p:val>
                                            <p:strVal val="#ppt_x-0.05"/>
                                          </p:val>
                                        </p:tav>
                                        <p:tav tm="100000">
                                          <p:val>
                                            <p:strVal val="#ppt_x"/>
                                          </p:val>
                                        </p:tav>
                                      </p:tavLst>
                                    </p:anim>
                                  </p:childTnLst>
                                </p:cTn>
                              </p:par>
                              <p:par>
                                <p:cTn id="265" presetID="42" presetClass="entr" presetSubtype="0" fill="hold" nodeType="withEffect">
                                  <p:stCondLst>
                                    <p:cond delay="400"/>
                                  </p:stCondLst>
                                  <p:childTnLst>
                                    <p:set>
                                      <p:cBhvr>
                                        <p:cTn id="266" dur="1" fill="hold">
                                          <p:stCondLst>
                                            <p:cond delay="0"/>
                                          </p:stCondLst>
                                        </p:cTn>
                                        <p:tgtEl>
                                          <p:spTgt spid="163"/>
                                        </p:tgtEl>
                                        <p:attrNameLst>
                                          <p:attrName>style.visibility</p:attrName>
                                        </p:attrNameLst>
                                      </p:cBhvr>
                                      <p:to>
                                        <p:strVal val="visible"/>
                                      </p:to>
                                    </p:set>
                                    <p:animEffect transition="in" filter="fade">
                                      <p:cBhvr>
                                        <p:cTn id="267" dur="500"/>
                                        <p:tgtEl>
                                          <p:spTgt spid="163"/>
                                        </p:tgtEl>
                                      </p:cBhvr>
                                    </p:animEffect>
                                    <p:anim calcmode="lin" valueType="num">
                                      <p:cBhvr additive="base">
                                        <p:cTn id="268" dur="500" decel="100000" fill="hold"/>
                                        <p:tgtEl>
                                          <p:spTgt spid="163"/>
                                        </p:tgtEl>
                                        <p:attrNameLst>
                                          <p:attrName>ppt_x</p:attrName>
                                        </p:attrNameLst>
                                      </p:cBhvr>
                                      <p:tavLst>
                                        <p:tav tm="0">
                                          <p:val>
                                            <p:strVal val="#ppt_x-0.05"/>
                                          </p:val>
                                        </p:tav>
                                        <p:tav tm="100000">
                                          <p:val>
                                            <p:strVal val="#ppt_x"/>
                                          </p:val>
                                        </p:tav>
                                      </p:tavLst>
                                    </p:anim>
                                  </p:childTnLst>
                                </p:cTn>
                              </p:par>
                              <p:par>
                                <p:cTn id="269" presetID="42" presetClass="entr" presetSubtype="0" fill="hold" grpId="0" nodeType="withEffect">
                                  <p:stCondLst>
                                    <p:cond delay="400"/>
                                  </p:stCondLst>
                                  <p:childTnLst>
                                    <p:set>
                                      <p:cBhvr>
                                        <p:cTn id="270" dur="1" fill="hold">
                                          <p:stCondLst>
                                            <p:cond delay="0"/>
                                          </p:stCondLst>
                                        </p:cTn>
                                        <p:tgtEl>
                                          <p:spTgt spid="162"/>
                                        </p:tgtEl>
                                        <p:attrNameLst>
                                          <p:attrName>style.visibility</p:attrName>
                                        </p:attrNameLst>
                                      </p:cBhvr>
                                      <p:to>
                                        <p:strVal val="visible"/>
                                      </p:to>
                                    </p:set>
                                    <p:animEffect transition="in" filter="fade">
                                      <p:cBhvr>
                                        <p:cTn id="271" dur="500"/>
                                        <p:tgtEl>
                                          <p:spTgt spid="162"/>
                                        </p:tgtEl>
                                      </p:cBhvr>
                                    </p:animEffect>
                                    <p:anim calcmode="lin" valueType="num">
                                      <p:cBhvr additive="base">
                                        <p:cTn id="272" dur="500" decel="100000" fill="hold"/>
                                        <p:tgtEl>
                                          <p:spTgt spid="162"/>
                                        </p:tgtEl>
                                        <p:attrNameLst>
                                          <p:attrName>ppt_x</p:attrName>
                                        </p:attrNameLst>
                                      </p:cBhvr>
                                      <p:tavLst>
                                        <p:tav tm="0">
                                          <p:val>
                                            <p:strVal val="#ppt_x-0.05"/>
                                          </p:val>
                                        </p:tav>
                                        <p:tav tm="100000">
                                          <p:val>
                                            <p:strVal val="#ppt_x"/>
                                          </p:val>
                                        </p:tav>
                                      </p:tavLst>
                                    </p:anim>
                                  </p:childTnLst>
                                </p:cTn>
                              </p:par>
                              <p:par>
                                <p:cTn id="273" presetID="42" presetClass="entr" presetSubtype="0" fill="hold" nodeType="withEffect">
                                  <p:stCondLst>
                                    <p:cond delay="600"/>
                                  </p:stCondLst>
                                  <p:childTnLst>
                                    <p:set>
                                      <p:cBhvr>
                                        <p:cTn id="274" dur="1" fill="hold">
                                          <p:stCondLst>
                                            <p:cond delay="0"/>
                                          </p:stCondLst>
                                        </p:cTn>
                                        <p:tgtEl>
                                          <p:spTgt spid="165"/>
                                        </p:tgtEl>
                                        <p:attrNameLst>
                                          <p:attrName>style.visibility</p:attrName>
                                        </p:attrNameLst>
                                      </p:cBhvr>
                                      <p:to>
                                        <p:strVal val="visible"/>
                                      </p:to>
                                    </p:set>
                                    <p:animEffect transition="in" filter="fade">
                                      <p:cBhvr>
                                        <p:cTn id="275" dur="500"/>
                                        <p:tgtEl>
                                          <p:spTgt spid="165"/>
                                        </p:tgtEl>
                                      </p:cBhvr>
                                    </p:animEffect>
                                    <p:anim calcmode="lin" valueType="num">
                                      <p:cBhvr additive="base">
                                        <p:cTn id="276" dur="500" decel="100000" fill="hold"/>
                                        <p:tgtEl>
                                          <p:spTgt spid="165"/>
                                        </p:tgtEl>
                                        <p:attrNameLst>
                                          <p:attrName>ppt_x</p:attrName>
                                        </p:attrNameLst>
                                      </p:cBhvr>
                                      <p:tavLst>
                                        <p:tav tm="0">
                                          <p:val>
                                            <p:strVal val="#ppt_x-0.05"/>
                                          </p:val>
                                        </p:tav>
                                        <p:tav tm="100000">
                                          <p:val>
                                            <p:strVal val="#ppt_x"/>
                                          </p:val>
                                        </p:tav>
                                      </p:tavLst>
                                    </p:anim>
                                  </p:childTnLst>
                                </p:cTn>
                              </p:par>
                              <p:par>
                                <p:cTn id="277" presetID="42" presetClass="entr" presetSubtype="0" fill="hold" grpId="0" nodeType="withEffect">
                                  <p:stCondLst>
                                    <p:cond delay="600"/>
                                  </p:stCondLst>
                                  <p:childTnLst>
                                    <p:set>
                                      <p:cBhvr>
                                        <p:cTn id="278" dur="1" fill="hold">
                                          <p:stCondLst>
                                            <p:cond delay="0"/>
                                          </p:stCondLst>
                                        </p:cTn>
                                        <p:tgtEl>
                                          <p:spTgt spid="164"/>
                                        </p:tgtEl>
                                        <p:attrNameLst>
                                          <p:attrName>style.visibility</p:attrName>
                                        </p:attrNameLst>
                                      </p:cBhvr>
                                      <p:to>
                                        <p:strVal val="visible"/>
                                      </p:to>
                                    </p:set>
                                    <p:animEffect transition="in" filter="fade">
                                      <p:cBhvr>
                                        <p:cTn id="279" dur="500"/>
                                        <p:tgtEl>
                                          <p:spTgt spid="164"/>
                                        </p:tgtEl>
                                      </p:cBhvr>
                                    </p:animEffect>
                                    <p:anim calcmode="lin" valueType="num">
                                      <p:cBhvr additive="base">
                                        <p:cTn id="280" dur="500" decel="100000" fill="hold"/>
                                        <p:tgtEl>
                                          <p:spTgt spid="164"/>
                                        </p:tgtEl>
                                        <p:attrNameLst>
                                          <p:attrName>ppt_x</p:attrName>
                                        </p:attrNameLst>
                                      </p:cBhvr>
                                      <p:tavLst>
                                        <p:tav tm="0">
                                          <p:val>
                                            <p:strVal val="#ppt_x-0.05"/>
                                          </p:val>
                                        </p:tav>
                                        <p:tav tm="100000">
                                          <p:val>
                                            <p:strVal val="#ppt_x"/>
                                          </p:val>
                                        </p:tav>
                                      </p:tavLst>
                                    </p:anim>
                                  </p:childTnLst>
                                </p:cTn>
                              </p:par>
                              <p:par>
                                <p:cTn id="281" presetID="42" presetClass="entr" presetSubtype="0" fill="hold" nodeType="withEffect">
                                  <p:stCondLst>
                                    <p:cond delay="800"/>
                                  </p:stCondLst>
                                  <p:childTnLst>
                                    <p:set>
                                      <p:cBhvr>
                                        <p:cTn id="282" dur="1" fill="hold">
                                          <p:stCondLst>
                                            <p:cond delay="0"/>
                                          </p:stCondLst>
                                        </p:cTn>
                                        <p:tgtEl>
                                          <p:spTgt spid="167"/>
                                        </p:tgtEl>
                                        <p:attrNameLst>
                                          <p:attrName>style.visibility</p:attrName>
                                        </p:attrNameLst>
                                      </p:cBhvr>
                                      <p:to>
                                        <p:strVal val="visible"/>
                                      </p:to>
                                    </p:set>
                                    <p:animEffect transition="in" filter="fade">
                                      <p:cBhvr>
                                        <p:cTn id="283" dur="500"/>
                                        <p:tgtEl>
                                          <p:spTgt spid="167"/>
                                        </p:tgtEl>
                                      </p:cBhvr>
                                    </p:animEffect>
                                    <p:anim calcmode="lin" valueType="num">
                                      <p:cBhvr additive="base">
                                        <p:cTn id="284" dur="500" decel="100000" fill="hold"/>
                                        <p:tgtEl>
                                          <p:spTgt spid="167"/>
                                        </p:tgtEl>
                                        <p:attrNameLst>
                                          <p:attrName>ppt_x</p:attrName>
                                        </p:attrNameLst>
                                      </p:cBhvr>
                                      <p:tavLst>
                                        <p:tav tm="0">
                                          <p:val>
                                            <p:strVal val="#ppt_x-0.05"/>
                                          </p:val>
                                        </p:tav>
                                        <p:tav tm="100000">
                                          <p:val>
                                            <p:strVal val="#ppt_x"/>
                                          </p:val>
                                        </p:tav>
                                      </p:tavLst>
                                    </p:anim>
                                  </p:childTnLst>
                                </p:cTn>
                              </p:par>
                              <p:par>
                                <p:cTn id="285" presetID="42" presetClass="entr" presetSubtype="0" fill="hold" grpId="0" nodeType="withEffect">
                                  <p:stCondLst>
                                    <p:cond delay="800"/>
                                  </p:stCondLst>
                                  <p:childTnLst>
                                    <p:set>
                                      <p:cBhvr>
                                        <p:cTn id="286" dur="1" fill="hold">
                                          <p:stCondLst>
                                            <p:cond delay="0"/>
                                          </p:stCondLst>
                                        </p:cTn>
                                        <p:tgtEl>
                                          <p:spTgt spid="166"/>
                                        </p:tgtEl>
                                        <p:attrNameLst>
                                          <p:attrName>style.visibility</p:attrName>
                                        </p:attrNameLst>
                                      </p:cBhvr>
                                      <p:to>
                                        <p:strVal val="visible"/>
                                      </p:to>
                                    </p:set>
                                    <p:animEffect transition="in" filter="fade">
                                      <p:cBhvr>
                                        <p:cTn id="287" dur="500"/>
                                        <p:tgtEl>
                                          <p:spTgt spid="166"/>
                                        </p:tgtEl>
                                      </p:cBhvr>
                                    </p:animEffect>
                                    <p:anim calcmode="lin" valueType="num">
                                      <p:cBhvr additive="base">
                                        <p:cTn id="288" dur="500" decel="100000" fill="hold"/>
                                        <p:tgtEl>
                                          <p:spTgt spid="166"/>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3" grpId="0" animBg="1"/>
      <p:bldP spid="144" grpId="0" animBg="1"/>
      <p:bldP spid="145" grpId="0" animBg="1"/>
      <p:bldP spid="146" grpId="0" animBg="1"/>
      <p:bldP spid="147" grpId="0" animBg="1"/>
      <p:bldP spid="148" grpId="0" animBg="1"/>
      <p:bldP spid="149" grpId="0" animBg="1"/>
      <p:bldP spid="150" grpId="0" animBg="1"/>
      <p:bldP spid="151" grpId="0" animBg="1"/>
      <p:bldP spid="152" grpId="0" animBg="1"/>
      <p:bldP spid="153" grpId="0" animBg="1"/>
      <p:bldP spid="154" grpId="0" animBg="1"/>
      <p:bldP spid="155" grpId="0" animBg="1"/>
      <p:bldP spid="156" grpId="0" animBg="1"/>
      <p:bldP spid="157" grpId="0" animBg="1"/>
      <p:bldP spid="158" grpId="0" animBg="1"/>
      <p:bldP spid="159" grpId="0" animBg="1"/>
      <p:bldP spid="160" grpId="0" animBg="1"/>
      <p:bldP spid="161" grpId="0" animBg="1"/>
      <p:bldP spid="162" grpId="0" animBg="1"/>
      <p:bldP spid="164" grpId="0" animBg="1"/>
      <p:bldP spid="166"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12032"/>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SHOULDLY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Problem: Assert Messages Hide What Broke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Assert.Equal(expected, actual) is easy to write backwards, and its failure shows only values.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132</a:t>
            </a:r>
            <a:endParaRPr lang="en-US" sz="850" dirty="0"/>
          </a:p>
        </p:txBody>
      </p:sp>
      <p:sp>
        <p:nvSpPr>
          <p:cNvPr id="101" name="s101"/>
          <p:cNvSpPr/>
          <p:nvPr/>
        </p:nvSpPr>
        <p:spPr>
          <a:xfrm>
            <a:off x="543154" y="1783080"/>
            <a:ext cx="5406847" cy="13258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175918"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xUnit Assert</a:t>
            </a:r>
            <a:endParaRPr lang="en-US" sz="950" dirty="0"/>
          </a:p>
        </p:txBody>
      </p:sp>
      <p:cxnSp>
        <p:nvCxnSpPr>
          <p:cNvPr id="106" name="ln106"/>
          <p:cNvCxnSpPr/>
          <p:nvPr/>
        </p:nvCxnSpPr>
        <p:spPr>
          <a:xfrm>
            <a:off x="543154" y="2194560"/>
            <a:ext cx="5406847" cy="0"/>
          </a:xfrm>
          <a:prstGeom prst="line">
            <a:avLst/>
          </a:prstGeom>
          <a:ln w="9525">
            <a:solidFill>
              <a:srgbClr val="1E3A5F"/>
            </a:solidFill>
          </a:ln>
        </p:spPr>
      </p:cxnSp>
      <p:sp>
        <p:nvSpPr>
          <p:cNvPr id="107" name="s107"/>
          <p:cNvSpPr/>
          <p:nvPr/>
        </p:nvSpPr>
        <p:spPr>
          <a:xfrm>
            <a:off x="543154" y="2313432"/>
            <a:ext cx="540684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7DD3FC"/>
                </a:solidFill>
                <a:latin typeface="Consolas"/>
                <a:ea typeface="Consolas"/>
                <a:cs typeface="Consolas"/>
              </a:rPr>
              <a:t>Assert</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Equal</a:t>
            </a:r>
            <a:r>
              <a:rPr lang="en-US" sz="1150" b="0" dirty="0">
                <a:solidFill>
                  <a:srgbClr val="E2E8F0"/>
                </a:solidFill>
                <a:latin typeface="Consolas"/>
                <a:ea typeface="Consolas"/>
                <a:cs typeface="Consolas"/>
              </a:rPr>
              <a:t>(account.</a:t>
            </a:r>
            <a:r>
              <a:rPr lang="en-US" sz="1150" b="0" dirty="0">
                <a:solidFill>
                  <a:srgbClr val="7DD3FC"/>
                </a:solidFill>
                <a:latin typeface="Consolas"/>
                <a:ea typeface="Consolas"/>
                <a:cs typeface="Consolas"/>
              </a:rPr>
              <a:t>Balance</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150m</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backwards!</a:t>
            </a:r>
            <a:endParaRPr lang="en-US" sz="1150" dirty="0"/>
          </a:p>
        </p:txBody>
      </p:sp>
      <p:sp>
        <p:nvSpPr>
          <p:cNvPr id="108" name="s108"/>
          <p:cNvSpPr/>
          <p:nvPr/>
        </p:nvSpPr>
        <p:spPr>
          <a:xfrm>
            <a:off x="543154" y="3200400"/>
            <a:ext cx="5406847" cy="123444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09" name="s109"/>
          <p:cNvSpPr/>
          <p:nvPr/>
        </p:nvSpPr>
        <p:spPr>
          <a:xfrm>
            <a:off x="707746" y="334670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0" name="s110"/>
          <p:cNvSpPr/>
          <p:nvPr/>
        </p:nvSpPr>
        <p:spPr>
          <a:xfrm>
            <a:off x="890626" y="334670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11" name="s111"/>
          <p:cNvSpPr/>
          <p:nvPr/>
        </p:nvSpPr>
        <p:spPr>
          <a:xfrm>
            <a:off x="1073506" y="334670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12" name="s112"/>
          <p:cNvSpPr/>
          <p:nvPr/>
        </p:nvSpPr>
        <p:spPr>
          <a:xfrm>
            <a:off x="1320394" y="3273552"/>
            <a:ext cx="81930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Failure</a:t>
            </a:r>
            <a:endParaRPr lang="en-US" sz="950" dirty="0"/>
          </a:p>
        </p:txBody>
      </p:sp>
      <p:cxnSp>
        <p:nvCxnSpPr>
          <p:cNvPr id="113" name="ln113"/>
          <p:cNvCxnSpPr/>
          <p:nvPr/>
        </p:nvCxnSpPr>
        <p:spPr>
          <a:xfrm>
            <a:off x="543154" y="3611880"/>
            <a:ext cx="5406847" cy="0"/>
          </a:xfrm>
          <a:prstGeom prst="line">
            <a:avLst/>
          </a:prstGeom>
          <a:ln w="9525">
            <a:solidFill>
              <a:srgbClr val="1E3A5F"/>
            </a:solidFill>
          </a:ln>
        </p:spPr>
      </p:cxnSp>
      <p:sp>
        <p:nvSpPr>
          <p:cNvPr id="114" name="s114"/>
          <p:cNvSpPr/>
          <p:nvPr/>
        </p:nvSpPr>
        <p:spPr>
          <a:xfrm>
            <a:off x="543154" y="3730752"/>
            <a:ext cx="540684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87171"/>
                </a:solidFill>
                <a:latin typeface="Consolas"/>
                <a:ea typeface="Consolas"/>
                <a:cs typeface="Consolas"/>
              </a:rPr>
              <a:t>Assert.Equal() Failure: Values differ</a:t>
            </a:r>
            <a:endParaRPr lang="en-US" sz="1150" dirty="0"/>
          </a:p>
        </p:txBody>
      </p:sp>
      <p:sp>
        <p:nvSpPr>
          <p:cNvPr id="115" name="s115"/>
          <p:cNvSpPr/>
          <p:nvPr/>
        </p:nvSpPr>
        <p:spPr>
          <a:xfrm>
            <a:off x="543154" y="3906012"/>
            <a:ext cx="540684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87171"/>
                </a:solidFill>
                <a:latin typeface="Consolas"/>
                <a:ea typeface="Consolas"/>
                <a:cs typeface="Consolas"/>
              </a:rPr>
              <a:t>Expected: 100     ← wrong way round</a:t>
            </a:r>
            <a:endParaRPr lang="en-US" sz="1150" dirty="0"/>
          </a:p>
        </p:txBody>
      </p:sp>
      <p:sp>
        <p:nvSpPr>
          <p:cNvPr id="116" name="s116"/>
          <p:cNvSpPr/>
          <p:nvPr/>
        </p:nvSpPr>
        <p:spPr>
          <a:xfrm>
            <a:off x="543154" y="4081272"/>
            <a:ext cx="540684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87171"/>
                </a:solidFill>
                <a:latin typeface="Consolas"/>
                <a:ea typeface="Consolas"/>
                <a:cs typeface="Consolas"/>
              </a:rPr>
              <a:t>Actual:   150</a:t>
            </a:r>
            <a:endParaRPr lang="en-US" sz="1150" dirty="0"/>
          </a:p>
        </p:txBody>
      </p:sp>
      <p:sp>
        <p:nvSpPr>
          <p:cNvPr id="117" name="s117"/>
          <p:cNvSpPr/>
          <p:nvPr/>
        </p:nvSpPr>
        <p:spPr>
          <a:xfrm>
            <a:off x="6224321" y="1938528"/>
            <a:ext cx="5406847" cy="457200"/>
          </a:xfrm>
          <a:prstGeom prst="roundRect">
            <a:avLst>
              <a:gd name="adj" fmla="val 12000"/>
            </a:avLst>
          </a:prstGeom>
          <a:solidFill>
            <a:srgbClr val="060D18"/>
          </a:solidFill>
          <a:ln w="12700">
            <a:solidFill>
              <a:srgbClr val="34D399">
                <a:alpha val="7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150" b="0" dirty="0">
                <a:solidFill>
                  <a:srgbClr val="94A3B8"/>
                </a:solidFill>
                <a:latin typeface="Consolas"/>
                <a:ea typeface="Consolas"/>
                <a:cs typeface="Consolas"/>
              </a:rPr>
              <a:t>$ </a:t>
            </a:r>
            <a:r>
              <a:rPr lang="en-US" sz="1150" b="1" dirty="0">
                <a:solidFill>
                  <a:srgbClr val="34D399"/>
                </a:solidFill>
                <a:latin typeface="Consolas"/>
                <a:ea typeface="Consolas"/>
                <a:cs typeface="Consolas"/>
              </a:rPr>
              <a:t>dotnet add package Shouldly</a:t>
            </a:r>
            <a:endParaRPr lang="en-US" sz="1150" dirty="0"/>
          </a:p>
        </p:txBody>
      </p:sp>
      <p:sp>
        <p:nvSpPr>
          <p:cNvPr id="118" name="s118"/>
          <p:cNvSpPr/>
          <p:nvPr/>
        </p:nvSpPr>
        <p:spPr>
          <a:xfrm>
            <a:off x="10259568" y="1783080"/>
            <a:ext cx="1280160" cy="274320"/>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900" b="1" dirty="0">
                <a:solidFill>
                  <a:srgbClr val="0F172A"/>
                </a:solidFill>
                <a:latin typeface="Segoe UI"/>
                <a:ea typeface="Segoe UI"/>
                <a:cs typeface="Segoe UI"/>
              </a:rPr>
              <a:t>INSTALL NOW</a:t>
            </a:r>
            <a:endParaRPr lang="en-US" sz="900" dirty="0"/>
          </a:p>
        </p:txBody>
      </p:sp>
      <p:sp>
        <p:nvSpPr>
          <p:cNvPr id="119" name="s119"/>
          <p:cNvSpPr txBox="1"/>
          <p:nvPr/>
        </p:nvSpPr>
        <p:spPr>
          <a:xfrm>
            <a:off x="6224321" y="2441448"/>
            <a:ext cx="5406847"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34D399"/>
                </a:solidFill>
                <a:latin typeface="Segoe UI"/>
                <a:ea typeface="Segoe UI"/>
                <a:cs typeface="Segoe UI"/>
              </a:rPr>
              <a:t>Why now? </a:t>
            </a:r>
            <a:r>
              <a:rPr lang="en-US" sz="1100" b="0" dirty="0">
                <a:solidFill>
                  <a:srgbClr val="94A3B8"/>
                </a:solidFill>
                <a:latin typeface="Segoe UI"/>
                <a:ea typeface="Segoe UI"/>
                <a:cs typeface="Segoe UI"/>
              </a:rPr>
              <a:t>many tests now; we need messages we can read.</a:t>
            </a:r>
            <a:endParaRPr lang="en-US" sz="1100" dirty="0"/>
          </a:p>
        </p:txBody>
      </p:sp>
      <p:sp>
        <p:nvSpPr>
          <p:cNvPr id="120" name="s120"/>
          <p:cNvSpPr/>
          <p:nvPr/>
        </p:nvSpPr>
        <p:spPr>
          <a:xfrm>
            <a:off x="6224321" y="2788920"/>
            <a:ext cx="5406847" cy="164592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1" name="s121"/>
          <p:cNvSpPr/>
          <p:nvPr/>
        </p:nvSpPr>
        <p:spPr>
          <a:xfrm>
            <a:off x="6388913" y="293522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2" name="s122"/>
          <p:cNvSpPr/>
          <p:nvPr/>
        </p:nvSpPr>
        <p:spPr>
          <a:xfrm>
            <a:off x="6571793" y="293522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3" name="s123"/>
          <p:cNvSpPr/>
          <p:nvPr/>
        </p:nvSpPr>
        <p:spPr>
          <a:xfrm>
            <a:off x="6754673" y="293522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4" name="s124"/>
          <p:cNvSpPr/>
          <p:nvPr/>
        </p:nvSpPr>
        <p:spPr>
          <a:xfrm>
            <a:off x="7001561" y="2862072"/>
            <a:ext cx="890626"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Shouldly</a:t>
            </a:r>
            <a:endParaRPr lang="en-US" sz="950" dirty="0"/>
          </a:p>
        </p:txBody>
      </p:sp>
      <p:cxnSp>
        <p:nvCxnSpPr>
          <p:cNvPr id="125" name="ln125"/>
          <p:cNvCxnSpPr/>
          <p:nvPr/>
        </p:nvCxnSpPr>
        <p:spPr>
          <a:xfrm>
            <a:off x="6224321" y="3200400"/>
            <a:ext cx="5406847" cy="0"/>
          </a:xfrm>
          <a:prstGeom prst="line">
            <a:avLst/>
          </a:prstGeom>
          <a:ln w="9525">
            <a:solidFill>
              <a:srgbClr val="1E3A5F"/>
            </a:solidFill>
          </a:ln>
        </p:spPr>
      </p:cxnSp>
      <p:sp>
        <p:nvSpPr>
          <p:cNvPr id="126" name="s126"/>
          <p:cNvSpPr/>
          <p:nvPr/>
        </p:nvSpPr>
        <p:spPr>
          <a:xfrm>
            <a:off x="6224321" y="3319272"/>
            <a:ext cx="540684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account.</a:t>
            </a:r>
            <a:r>
              <a:rPr lang="en-US" sz="1000" b="0" dirty="0">
                <a:solidFill>
                  <a:srgbClr val="7DD3FC"/>
                </a:solidFill>
                <a:latin typeface="Consolas"/>
                <a:ea typeface="Consolas"/>
                <a:cs typeface="Consolas"/>
              </a:rPr>
              <a:t>Balance</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ShouldBe</a:t>
            </a:r>
            <a:r>
              <a:rPr lang="en-US" sz="1000" b="0" dirty="0">
                <a:solidFill>
                  <a:srgbClr val="E2E8F0"/>
                </a:solidFill>
                <a:latin typeface="Consolas"/>
                <a:ea typeface="Consolas"/>
                <a:cs typeface="Consolas"/>
              </a:rPr>
              <a:t>(</a:t>
            </a:r>
            <a:r>
              <a:rPr lang="en-US" sz="1000" b="0" dirty="0">
                <a:solidFill>
                  <a:srgbClr val="C4B5FD"/>
                </a:solidFill>
                <a:latin typeface="Consolas"/>
                <a:ea typeface="Consolas"/>
                <a:cs typeface="Consolas"/>
              </a:rPr>
              <a:t>150m</a:t>
            </a:r>
            <a:r>
              <a:rPr lang="en-US" sz="1000" b="0" dirty="0">
                <a:solidFill>
                  <a:srgbClr val="E2E8F0"/>
                </a:solidFill>
                <a:latin typeface="Consolas"/>
                <a:ea typeface="Consolas"/>
                <a:cs typeface="Consolas"/>
              </a:rPr>
              <a:t>);</a:t>
            </a:r>
            <a:endParaRPr lang="en-US" sz="1000" dirty="0"/>
          </a:p>
        </p:txBody>
      </p:sp>
      <p:sp>
        <p:nvSpPr>
          <p:cNvPr id="127" name="s127"/>
          <p:cNvSpPr/>
          <p:nvPr/>
        </p:nvSpPr>
        <p:spPr>
          <a:xfrm>
            <a:off x="6224321" y="3471672"/>
            <a:ext cx="540684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7DD3FC"/>
                </a:solidFill>
                <a:latin typeface="Consolas"/>
                <a:ea typeface="Consolas"/>
                <a:cs typeface="Consolas"/>
              </a:rPr>
              <a:t>Should</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Throw</a:t>
            </a:r>
            <a:r>
              <a:rPr lang="en-US" sz="1000" b="0" dirty="0">
                <a:solidFill>
                  <a:srgbClr val="E2E8F0"/>
                </a:solidFill>
                <a:latin typeface="Consolas"/>
                <a:ea typeface="Consolas"/>
                <a:cs typeface="Consolas"/>
              </a:rPr>
              <a:t>&lt;</a:t>
            </a:r>
            <a:r>
              <a:rPr lang="en-US" sz="1000" b="0" dirty="0">
                <a:solidFill>
                  <a:srgbClr val="7DD3FC"/>
                </a:solidFill>
                <a:latin typeface="Consolas"/>
                <a:ea typeface="Consolas"/>
                <a:cs typeface="Consolas"/>
              </a:rPr>
              <a:t>InvalidOperationException</a:t>
            </a:r>
            <a:r>
              <a:rPr lang="en-US" sz="1000" b="0" dirty="0">
                <a:solidFill>
                  <a:srgbClr val="E2E8F0"/>
                </a:solidFill>
                <a:latin typeface="Consolas"/>
                <a:ea typeface="Consolas"/>
                <a:cs typeface="Consolas"/>
              </a:rPr>
              <a:t>&gt;(() =&gt; account.</a:t>
            </a:r>
            <a:r>
              <a:rPr lang="en-US" sz="1000" b="0" dirty="0">
                <a:solidFill>
                  <a:srgbClr val="7DD3FC"/>
                </a:solidFill>
                <a:latin typeface="Consolas"/>
                <a:ea typeface="Consolas"/>
                <a:cs typeface="Consolas"/>
              </a:rPr>
              <a:t>Withdraw</a:t>
            </a:r>
            <a:r>
              <a:rPr lang="en-US" sz="1000" b="0" dirty="0">
                <a:solidFill>
                  <a:srgbClr val="E2E8F0"/>
                </a:solidFill>
                <a:latin typeface="Consolas"/>
                <a:ea typeface="Consolas"/>
                <a:cs typeface="Consolas"/>
              </a:rPr>
              <a:t>(</a:t>
            </a:r>
            <a:r>
              <a:rPr lang="en-US" sz="1000" b="0" dirty="0">
                <a:solidFill>
                  <a:srgbClr val="C4B5FD"/>
                </a:solidFill>
                <a:latin typeface="Consolas"/>
                <a:ea typeface="Consolas"/>
                <a:cs typeface="Consolas"/>
              </a:rPr>
              <a:t>900m</a:t>
            </a:r>
            <a:r>
              <a:rPr lang="en-US" sz="1000" b="0" dirty="0">
                <a:solidFill>
                  <a:srgbClr val="E2E8F0"/>
                </a:solidFill>
                <a:latin typeface="Consolas"/>
                <a:ea typeface="Consolas"/>
                <a:cs typeface="Consolas"/>
              </a:rPr>
              <a:t>))</a:t>
            </a:r>
            <a:endParaRPr lang="en-US" sz="1000" dirty="0"/>
          </a:p>
        </p:txBody>
      </p:sp>
      <p:sp>
        <p:nvSpPr>
          <p:cNvPr id="128" name="s128"/>
          <p:cNvSpPr/>
          <p:nvPr/>
        </p:nvSpPr>
        <p:spPr>
          <a:xfrm>
            <a:off x="6224321" y="3624072"/>
            <a:ext cx="540684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Message</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ShouldBe</a:t>
            </a:r>
            <a:r>
              <a:rPr lang="en-US" sz="1000" b="0" dirty="0">
                <a:solidFill>
                  <a:srgbClr val="E2E8F0"/>
                </a:solidFill>
                <a:latin typeface="Consolas"/>
                <a:ea typeface="Consolas"/>
                <a:cs typeface="Consolas"/>
              </a:rPr>
              <a:t>(</a:t>
            </a:r>
            <a:r>
              <a:rPr lang="en-US" sz="1000" b="0" dirty="0">
                <a:solidFill>
                  <a:srgbClr val="F0A98B"/>
                </a:solidFill>
                <a:latin typeface="Consolas"/>
                <a:ea typeface="Consolas"/>
                <a:cs typeface="Consolas"/>
              </a:rPr>
              <a:t>"Insufficient funds."</a:t>
            </a:r>
            <a:r>
              <a:rPr lang="en-US" sz="1000" b="0" dirty="0">
                <a:solidFill>
                  <a:srgbClr val="E2E8F0"/>
                </a:solidFill>
                <a:latin typeface="Consolas"/>
                <a:ea typeface="Consolas"/>
                <a:cs typeface="Consolas"/>
              </a:rPr>
              <a:t>);</a:t>
            </a:r>
            <a:endParaRPr lang="en-US" sz="1000" dirty="0"/>
          </a:p>
        </p:txBody>
      </p:sp>
      <p:sp>
        <p:nvSpPr>
          <p:cNvPr id="129" name="s129"/>
          <p:cNvSpPr/>
          <p:nvPr/>
        </p:nvSpPr>
        <p:spPr>
          <a:xfrm>
            <a:off x="6224321" y="3776472"/>
            <a:ext cx="540684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body.</a:t>
            </a:r>
            <a:r>
              <a:rPr lang="en-US" sz="1000" b="0" dirty="0">
                <a:solidFill>
                  <a:srgbClr val="7DD3FC"/>
                </a:solidFill>
                <a:latin typeface="Consolas"/>
                <a:ea typeface="Consolas"/>
                <a:cs typeface="Consolas"/>
              </a:rPr>
              <a:t>ShouldContain</a:t>
            </a:r>
            <a:r>
              <a:rPr lang="en-US" sz="1000" b="0" dirty="0">
                <a:solidFill>
                  <a:srgbClr val="E2E8F0"/>
                </a:solidFill>
                <a:latin typeface="Consolas"/>
                <a:ea typeface="Consolas"/>
                <a:cs typeface="Consolas"/>
              </a:rPr>
              <a:t>(</a:t>
            </a:r>
            <a:r>
              <a:rPr lang="en-US" sz="1000" b="0" dirty="0">
                <a:solidFill>
                  <a:srgbClr val="F0A98B"/>
                </a:solidFill>
                <a:latin typeface="Consolas"/>
                <a:ea typeface="Consolas"/>
                <a:cs typeface="Consolas"/>
              </a:rPr>
              <a:t>"100.00"</a:t>
            </a:r>
            <a:r>
              <a:rPr lang="en-US" sz="1000" b="0" dirty="0">
                <a:solidFill>
                  <a:srgbClr val="E2E8F0"/>
                </a:solidFill>
                <a:latin typeface="Consolas"/>
                <a:ea typeface="Consolas"/>
                <a:cs typeface="Consolas"/>
              </a:rPr>
              <a:t>);</a:t>
            </a:r>
            <a:endParaRPr lang="en-US" sz="1000" dirty="0"/>
          </a:p>
        </p:txBody>
      </p:sp>
      <p:sp>
        <p:nvSpPr>
          <p:cNvPr id="130" name="s130"/>
          <p:cNvSpPr/>
          <p:nvPr/>
        </p:nvSpPr>
        <p:spPr>
          <a:xfrm>
            <a:off x="6224321" y="4526280"/>
            <a:ext cx="5406847" cy="109728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31" name="s131"/>
          <p:cNvSpPr/>
          <p:nvPr/>
        </p:nvSpPr>
        <p:spPr>
          <a:xfrm>
            <a:off x="6388913" y="46725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32" name="s132"/>
          <p:cNvSpPr/>
          <p:nvPr/>
        </p:nvSpPr>
        <p:spPr>
          <a:xfrm>
            <a:off x="6571793" y="46725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33" name="s133"/>
          <p:cNvSpPr/>
          <p:nvPr/>
        </p:nvSpPr>
        <p:spPr>
          <a:xfrm>
            <a:off x="6754673" y="46725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34" name="s134"/>
          <p:cNvSpPr/>
          <p:nvPr/>
        </p:nvSpPr>
        <p:spPr>
          <a:xfrm>
            <a:off x="7001561" y="4599432"/>
            <a:ext cx="81930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Failure</a:t>
            </a:r>
            <a:endParaRPr lang="en-US" sz="950" dirty="0"/>
          </a:p>
        </p:txBody>
      </p:sp>
      <p:cxnSp>
        <p:nvCxnSpPr>
          <p:cNvPr id="135" name="ln135"/>
          <p:cNvCxnSpPr/>
          <p:nvPr/>
        </p:nvCxnSpPr>
        <p:spPr>
          <a:xfrm>
            <a:off x="6224321" y="4937760"/>
            <a:ext cx="5406847" cy="0"/>
          </a:xfrm>
          <a:prstGeom prst="line">
            <a:avLst/>
          </a:prstGeom>
          <a:ln w="9525">
            <a:solidFill>
              <a:srgbClr val="1E3A5F"/>
            </a:solidFill>
          </a:ln>
        </p:spPr>
      </p:cxnSp>
      <p:sp>
        <p:nvSpPr>
          <p:cNvPr id="136" name="s136"/>
          <p:cNvSpPr/>
          <p:nvPr/>
        </p:nvSpPr>
        <p:spPr>
          <a:xfrm>
            <a:off x="6224321" y="5056632"/>
            <a:ext cx="540684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account.Balance</a:t>
            </a:r>
            <a:endParaRPr lang="en-US" sz="1000" dirty="0"/>
          </a:p>
        </p:txBody>
      </p:sp>
      <p:sp>
        <p:nvSpPr>
          <p:cNvPr id="137" name="s137"/>
          <p:cNvSpPr/>
          <p:nvPr/>
        </p:nvSpPr>
        <p:spPr>
          <a:xfrm>
            <a:off x="6224321" y="5209032"/>
            <a:ext cx="540684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87171"/>
                </a:solidFill>
                <a:latin typeface="Consolas"/>
                <a:ea typeface="Consolas"/>
                <a:cs typeface="Consolas"/>
              </a:rPr>
              <a:t>    should be 150m</a:t>
            </a:r>
            <a:endParaRPr lang="en-US" sz="1000" dirty="0"/>
          </a:p>
        </p:txBody>
      </p:sp>
      <p:sp>
        <p:nvSpPr>
          <p:cNvPr id="138" name="s138"/>
          <p:cNvSpPr/>
          <p:nvPr/>
        </p:nvSpPr>
        <p:spPr>
          <a:xfrm>
            <a:off x="6224321" y="5361432"/>
            <a:ext cx="540684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87171"/>
                </a:solidFill>
                <a:latin typeface="Consolas"/>
                <a:ea typeface="Consolas"/>
                <a:cs typeface="Consolas"/>
              </a:rPr>
              <a:t>    but was 100m</a:t>
            </a:r>
            <a:endParaRPr lang="en-US" sz="1000" dirty="0"/>
          </a:p>
        </p:txBody>
      </p:sp>
      <p:sp>
        <p:nvSpPr>
          <p:cNvPr id="139" name="s139"/>
          <p:cNvSpPr/>
          <p:nvPr/>
        </p:nvSpPr>
        <p:spPr>
          <a:xfrm>
            <a:off x="543154" y="4572000"/>
            <a:ext cx="5406847" cy="1051560"/>
          </a:xfrm>
          <a:prstGeom prst="roundRect">
            <a:avLst>
              <a:gd name="adj" fmla="val 10000"/>
            </a:avLst>
          </a:prstGeom>
          <a:solidFill>
            <a:srgbClr val="FBBF24">
              <a:alpha val="8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BBF24"/>
                </a:solidFill>
                <a:latin typeface="Segoe UI"/>
                <a:ea typeface="Segoe UI"/>
                <a:cs typeface="Segoe UI"/>
              </a:rPr>
              <a:t>FLUENTASSERTIONS: CHECK THE LICENSE</a:t>
            </a:r>
            <a:endParaRPr lang="en-US" sz="1050" dirty="0"/>
          </a:p>
          <a:p>
            <a:pPr marL="0" indent="0" algn="l">
              <a:spcBef>
                <a:spcPts val="0"/>
              </a:spcBef>
              <a:spcAft>
                <a:spcPts val="200"/>
              </a:spcAft>
              <a:buNone/>
            </a:pPr>
            <a:r>
              <a:rPr lang="en-US" sz="1150" b="0" dirty="0">
                <a:solidFill>
                  <a:srgbClr val="E2E8F0"/>
                </a:solidFill>
                <a:latin typeface="Segoe UI"/>
                <a:ea typeface="Segoe UI"/>
                <a:cs typeface="Segoe UI"/>
              </a:rPr>
              <a:t>v8+ (Jan 2025) is paid for commercial use. v7 stays free. Shouldly is free (BSD).</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ppt_y</p:attrName>
                                        </p:attrNameLst>
                                      </p:cBhvr>
                                      <p:tavLst>
                                        <p:tav tm="0">
                                          <p:val>
                                            <p:strVal val="#ppt_y+0.06"/>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ppt_y</p:attrName>
                                        </p:attrNameLst>
                                      </p:cBhvr>
                                      <p:tavLst>
                                        <p:tav tm="0">
                                          <p:val>
                                            <p:strVal val="#ppt_y+0.06"/>
                                          </p:val>
                                        </p:tav>
                                        <p:tav tm="100000">
                                          <p:val>
                                            <p:strVal val="#ppt_y"/>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ppt_y</p:attrName>
                                        </p:attrNameLst>
                                      </p:cBhvr>
                                      <p:tavLst>
                                        <p:tav tm="0">
                                          <p:val>
                                            <p:strVal val="#ppt_y+0.06"/>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111"/>
                                        </p:tgtEl>
                                        <p:attrNameLst>
                                          <p:attrName>style.visibility</p:attrName>
                                        </p:attrNameLst>
                                      </p:cBhvr>
                                      <p:to>
                                        <p:strVal val="visible"/>
                                      </p:to>
                                    </p:set>
                                    <p:animEffect transition="in" filter="fade">
                                      <p:cBhvr>
                                        <p:cTn id="49" dur="500"/>
                                        <p:tgtEl>
                                          <p:spTgt spid="111"/>
                                        </p:tgtEl>
                                      </p:cBhvr>
                                    </p:animEffect>
                                    <p:anim calcmode="lin" valueType="num">
                                      <p:cBhvr additive="base">
                                        <p:cTn id="50" dur="500" decel="100000" fill="hold"/>
                                        <p:tgtEl>
                                          <p:spTgt spid="111"/>
                                        </p:tgtEl>
                                        <p:attrNameLst>
                                          <p:attrName>ppt_y</p:attrName>
                                        </p:attrNameLst>
                                      </p:cBhvr>
                                      <p:tavLst>
                                        <p:tav tm="0">
                                          <p:val>
                                            <p:strVal val="#ppt_y+0.06"/>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112"/>
                                        </p:tgtEl>
                                        <p:attrNameLst>
                                          <p:attrName>style.visibility</p:attrName>
                                        </p:attrNameLst>
                                      </p:cBhvr>
                                      <p:to>
                                        <p:strVal val="visible"/>
                                      </p:to>
                                    </p:set>
                                    <p:animEffect transition="in" filter="fade">
                                      <p:cBhvr>
                                        <p:cTn id="53" dur="500"/>
                                        <p:tgtEl>
                                          <p:spTgt spid="112"/>
                                        </p:tgtEl>
                                      </p:cBhvr>
                                    </p:animEffect>
                                    <p:anim calcmode="lin" valueType="num">
                                      <p:cBhvr additive="base">
                                        <p:cTn id="54" dur="500" decel="100000" fill="hold"/>
                                        <p:tgtEl>
                                          <p:spTgt spid="112"/>
                                        </p:tgtEl>
                                        <p:attrNameLst>
                                          <p:attrName>ppt_y</p:attrName>
                                        </p:attrNameLst>
                                      </p:cBhvr>
                                      <p:tavLst>
                                        <p:tav tm="0">
                                          <p:val>
                                            <p:strVal val="#ppt_y+0.06"/>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13"/>
                                        </p:tgtEl>
                                        <p:attrNameLst>
                                          <p:attrName>style.visibility</p:attrName>
                                        </p:attrNameLst>
                                      </p:cBhvr>
                                      <p:to>
                                        <p:strVal val="visible"/>
                                      </p:to>
                                    </p:set>
                                    <p:animEffect transition="in" filter="fade">
                                      <p:cBhvr>
                                        <p:cTn id="57" dur="500"/>
                                        <p:tgtEl>
                                          <p:spTgt spid="113"/>
                                        </p:tgtEl>
                                      </p:cBhvr>
                                    </p:animEffect>
                                    <p:anim calcmode="lin" valueType="num">
                                      <p:cBhvr additive="base">
                                        <p:cTn id="58" dur="500" decel="100000" fill="hold"/>
                                        <p:tgtEl>
                                          <p:spTgt spid="113"/>
                                        </p:tgtEl>
                                        <p:attrNameLst>
                                          <p:attrName>ppt_y</p:attrName>
                                        </p:attrNameLst>
                                      </p:cBhvr>
                                      <p:tavLst>
                                        <p:tav tm="0">
                                          <p:val>
                                            <p:strVal val="#ppt_y+0.06"/>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14"/>
                                        </p:tgtEl>
                                        <p:attrNameLst>
                                          <p:attrName>style.visibility</p:attrName>
                                        </p:attrNameLst>
                                      </p:cBhvr>
                                      <p:to>
                                        <p:strVal val="visible"/>
                                      </p:to>
                                    </p:set>
                                    <p:animEffect transition="in" filter="fade">
                                      <p:cBhvr>
                                        <p:cTn id="61" dur="500"/>
                                        <p:tgtEl>
                                          <p:spTgt spid="114"/>
                                        </p:tgtEl>
                                      </p:cBhvr>
                                    </p:animEffect>
                                    <p:anim calcmode="lin" valueType="num">
                                      <p:cBhvr additive="base">
                                        <p:cTn id="62" dur="500" decel="100000" fill="hold"/>
                                        <p:tgtEl>
                                          <p:spTgt spid="114"/>
                                        </p:tgtEl>
                                        <p:attrNameLst>
                                          <p:attrName>ppt_y</p:attrName>
                                        </p:attrNameLst>
                                      </p:cBhvr>
                                      <p:tavLst>
                                        <p:tav tm="0">
                                          <p:val>
                                            <p:strVal val="#ppt_y+0.06"/>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115"/>
                                        </p:tgtEl>
                                        <p:attrNameLst>
                                          <p:attrName>style.visibility</p:attrName>
                                        </p:attrNameLst>
                                      </p:cBhvr>
                                      <p:to>
                                        <p:strVal val="visible"/>
                                      </p:to>
                                    </p:set>
                                    <p:animEffect transition="in" filter="fade">
                                      <p:cBhvr>
                                        <p:cTn id="65" dur="500"/>
                                        <p:tgtEl>
                                          <p:spTgt spid="115"/>
                                        </p:tgtEl>
                                      </p:cBhvr>
                                    </p:animEffect>
                                    <p:anim calcmode="lin" valueType="num">
                                      <p:cBhvr additive="base">
                                        <p:cTn id="66" dur="500" decel="100000" fill="hold"/>
                                        <p:tgtEl>
                                          <p:spTgt spid="115"/>
                                        </p:tgtEl>
                                        <p:attrNameLst>
                                          <p:attrName>ppt_y</p:attrName>
                                        </p:attrNameLst>
                                      </p:cBhvr>
                                      <p:tavLst>
                                        <p:tav tm="0">
                                          <p:val>
                                            <p:strVal val="#ppt_y+0.06"/>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500"/>
                                        <p:tgtEl>
                                          <p:spTgt spid="116"/>
                                        </p:tgtEl>
                                      </p:cBhvr>
                                    </p:animEffect>
                                    <p:anim calcmode="lin" valueType="num">
                                      <p:cBhvr additive="base">
                                        <p:cTn id="70"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53" presetClass="entr" presetSubtype="16" fill="hold" grpId="0" nodeType="clickEffect">
                                  <p:stCondLst>
                                    <p:cond delay="0"/>
                                  </p:stCondLst>
                                  <p:childTnLst>
                                    <p:set>
                                      <p:cBhvr>
                                        <p:cTn id="74" dur="1" fill="hold">
                                          <p:stCondLst>
                                            <p:cond delay="0"/>
                                          </p:stCondLst>
                                        </p:cTn>
                                        <p:tgtEl>
                                          <p:spTgt spid="117"/>
                                        </p:tgtEl>
                                        <p:attrNameLst>
                                          <p:attrName>style.visibility</p:attrName>
                                        </p:attrNameLst>
                                      </p:cBhvr>
                                      <p:to>
                                        <p:strVal val="visible"/>
                                      </p:to>
                                    </p:set>
                                    <p:anim calcmode="lin" valueType="num">
                                      <p:cBhvr additive="base">
                                        <p:cTn id="75" dur="500" decel="100000" fill="hold"/>
                                        <p:tgtEl>
                                          <p:spTgt spid="117"/>
                                        </p:tgtEl>
                                        <p:attrNameLst>
                                          <p:attrName>ppt_w</p:attrName>
                                        </p:attrNameLst>
                                      </p:cBhvr>
                                      <p:tavLst>
                                        <p:tav tm="0">
                                          <p:val>
                                            <p:strVal val="#ppt_w*0.55"/>
                                          </p:val>
                                        </p:tav>
                                        <p:tav tm="100000">
                                          <p:val>
                                            <p:strVal val="#ppt_w"/>
                                          </p:val>
                                        </p:tav>
                                      </p:tavLst>
                                    </p:anim>
                                    <p:anim calcmode="lin" valueType="num">
                                      <p:cBhvr additive="base">
                                        <p:cTn id="76" dur="500" decel="100000" fill="hold"/>
                                        <p:tgtEl>
                                          <p:spTgt spid="117"/>
                                        </p:tgtEl>
                                        <p:attrNameLst>
                                          <p:attrName>ppt_h</p:attrName>
                                        </p:attrNameLst>
                                      </p:cBhvr>
                                      <p:tavLst>
                                        <p:tav tm="0">
                                          <p:val>
                                            <p:strVal val="#ppt_h*0.55"/>
                                          </p:val>
                                        </p:tav>
                                        <p:tav tm="100000">
                                          <p:val>
                                            <p:strVal val="#ppt_h"/>
                                          </p:val>
                                        </p:tav>
                                      </p:tavLst>
                                    </p:anim>
                                    <p:animEffect transition="in" filter="fade">
                                      <p:cBhvr>
                                        <p:cTn id="77" dur="500"/>
                                        <p:tgtEl>
                                          <p:spTgt spid="117"/>
                                        </p:tgtEl>
                                      </p:cBhvr>
                                    </p:animEffect>
                                  </p:childTnLst>
                                </p:cTn>
                              </p:par>
                              <p:par>
                                <p:cTn id="78" presetID="53" presetClass="entr" presetSubtype="16" fill="hold" grpId="0" nodeType="withEffect">
                                  <p:stCondLst>
                                    <p:cond delay="0"/>
                                  </p:stCondLst>
                                  <p:childTnLst>
                                    <p:set>
                                      <p:cBhvr>
                                        <p:cTn id="79" dur="1" fill="hold">
                                          <p:stCondLst>
                                            <p:cond delay="0"/>
                                          </p:stCondLst>
                                        </p:cTn>
                                        <p:tgtEl>
                                          <p:spTgt spid="118"/>
                                        </p:tgtEl>
                                        <p:attrNameLst>
                                          <p:attrName>style.visibility</p:attrName>
                                        </p:attrNameLst>
                                      </p:cBhvr>
                                      <p:to>
                                        <p:strVal val="visible"/>
                                      </p:to>
                                    </p:set>
                                    <p:anim calcmode="lin" valueType="num">
                                      <p:cBhvr additive="base">
                                        <p:cTn id="80" dur="500" decel="100000" fill="hold"/>
                                        <p:tgtEl>
                                          <p:spTgt spid="118"/>
                                        </p:tgtEl>
                                        <p:attrNameLst>
                                          <p:attrName>ppt_w</p:attrName>
                                        </p:attrNameLst>
                                      </p:cBhvr>
                                      <p:tavLst>
                                        <p:tav tm="0">
                                          <p:val>
                                            <p:strVal val="#ppt_w*0.55"/>
                                          </p:val>
                                        </p:tav>
                                        <p:tav tm="100000">
                                          <p:val>
                                            <p:strVal val="#ppt_w"/>
                                          </p:val>
                                        </p:tav>
                                      </p:tavLst>
                                    </p:anim>
                                    <p:anim calcmode="lin" valueType="num">
                                      <p:cBhvr additive="base">
                                        <p:cTn id="81" dur="500" decel="100000" fill="hold"/>
                                        <p:tgtEl>
                                          <p:spTgt spid="118"/>
                                        </p:tgtEl>
                                        <p:attrNameLst>
                                          <p:attrName>ppt_h</p:attrName>
                                        </p:attrNameLst>
                                      </p:cBhvr>
                                      <p:tavLst>
                                        <p:tav tm="0">
                                          <p:val>
                                            <p:strVal val="#ppt_h*0.55"/>
                                          </p:val>
                                        </p:tav>
                                        <p:tav tm="100000">
                                          <p:val>
                                            <p:strVal val="#ppt_h"/>
                                          </p:val>
                                        </p:tav>
                                      </p:tavLst>
                                    </p:anim>
                                    <p:animEffect transition="in" filter="fade">
                                      <p:cBhvr>
                                        <p:cTn id="82" dur="500"/>
                                        <p:tgtEl>
                                          <p:spTgt spid="118"/>
                                        </p:tgtEl>
                                      </p:cBhvr>
                                    </p:animEffect>
                                  </p:childTnLst>
                                </p:cTn>
                              </p:par>
                              <p:par>
                                <p:cTn id="83" presetID="53" presetClass="entr" presetSubtype="16" fill="hold" grpId="0" nodeType="withEffect">
                                  <p:stCondLst>
                                    <p:cond delay="0"/>
                                  </p:stCondLst>
                                  <p:childTnLst>
                                    <p:set>
                                      <p:cBhvr>
                                        <p:cTn id="84" dur="1" fill="hold">
                                          <p:stCondLst>
                                            <p:cond delay="0"/>
                                          </p:stCondLst>
                                        </p:cTn>
                                        <p:tgtEl>
                                          <p:spTgt spid="119"/>
                                        </p:tgtEl>
                                        <p:attrNameLst>
                                          <p:attrName>style.visibility</p:attrName>
                                        </p:attrNameLst>
                                      </p:cBhvr>
                                      <p:to>
                                        <p:strVal val="visible"/>
                                      </p:to>
                                    </p:set>
                                    <p:anim calcmode="lin" valueType="num">
                                      <p:cBhvr additive="base">
                                        <p:cTn id="85" dur="500" decel="100000" fill="hold"/>
                                        <p:tgtEl>
                                          <p:spTgt spid="119"/>
                                        </p:tgtEl>
                                        <p:attrNameLst>
                                          <p:attrName>ppt_w</p:attrName>
                                        </p:attrNameLst>
                                      </p:cBhvr>
                                      <p:tavLst>
                                        <p:tav tm="0">
                                          <p:val>
                                            <p:strVal val="#ppt_w*0.55"/>
                                          </p:val>
                                        </p:tav>
                                        <p:tav tm="100000">
                                          <p:val>
                                            <p:strVal val="#ppt_w"/>
                                          </p:val>
                                        </p:tav>
                                      </p:tavLst>
                                    </p:anim>
                                    <p:anim calcmode="lin" valueType="num">
                                      <p:cBhvr additive="base">
                                        <p:cTn id="86" dur="500" decel="100000" fill="hold"/>
                                        <p:tgtEl>
                                          <p:spTgt spid="119"/>
                                        </p:tgtEl>
                                        <p:attrNameLst>
                                          <p:attrName>ppt_h</p:attrName>
                                        </p:attrNameLst>
                                      </p:cBhvr>
                                      <p:tavLst>
                                        <p:tav tm="0">
                                          <p:val>
                                            <p:strVal val="#ppt_h*0.55"/>
                                          </p:val>
                                        </p:tav>
                                        <p:tav tm="100000">
                                          <p:val>
                                            <p:strVal val="#ppt_h"/>
                                          </p:val>
                                        </p:tav>
                                      </p:tavLst>
                                    </p:anim>
                                    <p:animEffect transition="in" filter="fade">
                                      <p:cBhvr>
                                        <p:cTn id="87" dur="500"/>
                                        <p:tgtEl>
                                          <p:spTgt spid="119"/>
                                        </p:tgtEl>
                                      </p:cBhvr>
                                    </p:animEffect>
                                  </p:childTnLst>
                                </p:cTn>
                              </p:par>
                            </p:childTnLst>
                          </p:cTn>
                        </p:par>
                      </p:childTnLst>
                    </p:cTn>
                  </p:par>
                  <p:par>
                    <p:cTn id="88" fill="hold">
                      <p:stCondLst>
                        <p:cond delay="indefinite"/>
                      </p:stCondLst>
                      <p:childTnLst>
                        <p:par>
                          <p:cTn id="89" fill="hold">
                            <p:stCondLst>
                              <p:cond delay="0"/>
                            </p:stCondLst>
                            <p:childTnLst>
                              <p:par>
                                <p:cTn id="90" presetID="42" presetClass="entr" presetSubtype="0" fill="hold" grpId="0" nodeType="clickEffect">
                                  <p:stCondLst>
                                    <p:cond delay="0"/>
                                  </p:stCondLst>
                                  <p:childTnLst>
                                    <p:set>
                                      <p:cBhvr>
                                        <p:cTn id="91" dur="1" fill="hold">
                                          <p:stCondLst>
                                            <p:cond delay="0"/>
                                          </p:stCondLst>
                                        </p:cTn>
                                        <p:tgtEl>
                                          <p:spTgt spid="120"/>
                                        </p:tgtEl>
                                        <p:attrNameLst>
                                          <p:attrName>style.visibility</p:attrName>
                                        </p:attrNameLst>
                                      </p:cBhvr>
                                      <p:to>
                                        <p:strVal val="visible"/>
                                      </p:to>
                                    </p:set>
                                    <p:animEffect transition="in" filter="fade">
                                      <p:cBhvr>
                                        <p:cTn id="92" dur="500"/>
                                        <p:tgtEl>
                                          <p:spTgt spid="120"/>
                                        </p:tgtEl>
                                      </p:cBhvr>
                                    </p:animEffect>
                                    <p:anim calcmode="lin" valueType="num">
                                      <p:cBhvr additive="base">
                                        <p:cTn id="93" dur="500" decel="100000" fill="hold"/>
                                        <p:tgtEl>
                                          <p:spTgt spid="120"/>
                                        </p:tgtEl>
                                        <p:attrNameLst>
                                          <p:attrName>ppt_y</p:attrName>
                                        </p:attrNameLst>
                                      </p:cBhvr>
                                      <p:tavLst>
                                        <p:tav tm="0">
                                          <p:val>
                                            <p:strVal val="#ppt_y+0.06"/>
                                          </p:val>
                                        </p:tav>
                                        <p:tav tm="100000">
                                          <p:val>
                                            <p:strVal val="#ppt_y"/>
                                          </p:val>
                                        </p:tav>
                                      </p:tavLst>
                                    </p:anim>
                                  </p:childTnLst>
                                </p:cTn>
                              </p:par>
                              <p:par>
                                <p:cTn id="94" presetID="42" presetClass="entr" presetSubtype="0" fill="hold" grpId="0" nodeType="withEffect">
                                  <p:stCondLst>
                                    <p:cond delay="0"/>
                                  </p:stCondLst>
                                  <p:childTnLst>
                                    <p:set>
                                      <p:cBhvr>
                                        <p:cTn id="95" dur="1" fill="hold">
                                          <p:stCondLst>
                                            <p:cond delay="0"/>
                                          </p:stCondLst>
                                        </p:cTn>
                                        <p:tgtEl>
                                          <p:spTgt spid="121"/>
                                        </p:tgtEl>
                                        <p:attrNameLst>
                                          <p:attrName>style.visibility</p:attrName>
                                        </p:attrNameLst>
                                      </p:cBhvr>
                                      <p:to>
                                        <p:strVal val="visible"/>
                                      </p:to>
                                    </p:set>
                                    <p:animEffect transition="in" filter="fade">
                                      <p:cBhvr>
                                        <p:cTn id="96" dur="500"/>
                                        <p:tgtEl>
                                          <p:spTgt spid="121"/>
                                        </p:tgtEl>
                                      </p:cBhvr>
                                    </p:animEffect>
                                    <p:anim calcmode="lin" valueType="num">
                                      <p:cBhvr additive="base">
                                        <p:cTn id="97" dur="500" decel="100000" fill="hold"/>
                                        <p:tgtEl>
                                          <p:spTgt spid="121"/>
                                        </p:tgtEl>
                                        <p:attrNameLst>
                                          <p:attrName>ppt_y</p:attrName>
                                        </p:attrNameLst>
                                      </p:cBhvr>
                                      <p:tavLst>
                                        <p:tav tm="0">
                                          <p:val>
                                            <p:strVal val="#ppt_y+0.06"/>
                                          </p:val>
                                        </p:tav>
                                        <p:tav tm="100000">
                                          <p:val>
                                            <p:strVal val="#ppt_y"/>
                                          </p:val>
                                        </p:tav>
                                      </p:tavLst>
                                    </p:anim>
                                  </p:childTnLst>
                                </p:cTn>
                              </p:par>
                              <p:par>
                                <p:cTn id="98" presetID="42" presetClass="entr" presetSubtype="0" fill="hold" grpId="0" nodeType="withEffect">
                                  <p:stCondLst>
                                    <p:cond delay="0"/>
                                  </p:stCondLst>
                                  <p:childTnLst>
                                    <p:set>
                                      <p:cBhvr>
                                        <p:cTn id="99" dur="1" fill="hold">
                                          <p:stCondLst>
                                            <p:cond delay="0"/>
                                          </p:stCondLst>
                                        </p:cTn>
                                        <p:tgtEl>
                                          <p:spTgt spid="122"/>
                                        </p:tgtEl>
                                        <p:attrNameLst>
                                          <p:attrName>style.visibility</p:attrName>
                                        </p:attrNameLst>
                                      </p:cBhvr>
                                      <p:to>
                                        <p:strVal val="visible"/>
                                      </p:to>
                                    </p:set>
                                    <p:animEffect transition="in" filter="fade">
                                      <p:cBhvr>
                                        <p:cTn id="100" dur="500"/>
                                        <p:tgtEl>
                                          <p:spTgt spid="122"/>
                                        </p:tgtEl>
                                      </p:cBhvr>
                                    </p:animEffect>
                                    <p:anim calcmode="lin" valueType="num">
                                      <p:cBhvr additive="base">
                                        <p:cTn id="101" dur="500" decel="100000" fill="hold"/>
                                        <p:tgtEl>
                                          <p:spTgt spid="122"/>
                                        </p:tgtEl>
                                        <p:attrNameLst>
                                          <p:attrName>ppt_y</p:attrName>
                                        </p:attrNameLst>
                                      </p:cBhvr>
                                      <p:tavLst>
                                        <p:tav tm="0">
                                          <p:val>
                                            <p:strVal val="#ppt_y+0.06"/>
                                          </p:val>
                                        </p:tav>
                                        <p:tav tm="100000">
                                          <p:val>
                                            <p:strVal val="#ppt_y"/>
                                          </p:val>
                                        </p:tav>
                                      </p:tavLst>
                                    </p:anim>
                                  </p:childTnLst>
                                </p:cTn>
                              </p:par>
                              <p:par>
                                <p:cTn id="102" presetID="42" presetClass="entr" presetSubtype="0" fill="hold" grpId="0" nodeType="withEffect">
                                  <p:stCondLst>
                                    <p:cond delay="0"/>
                                  </p:stCondLst>
                                  <p:childTnLst>
                                    <p:set>
                                      <p:cBhvr>
                                        <p:cTn id="103" dur="1" fill="hold">
                                          <p:stCondLst>
                                            <p:cond delay="0"/>
                                          </p:stCondLst>
                                        </p:cTn>
                                        <p:tgtEl>
                                          <p:spTgt spid="123"/>
                                        </p:tgtEl>
                                        <p:attrNameLst>
                                          <p:attrName>style.visibility</p:attrName>
                                        </p:attrNameLst>
                                      </p:cBhvr>
                                      <p:to>
                                        <p:strVal val="visible"/>
                                      </p:to>
                                    </p:set>
                                    <p:animEffect transition="in" filter="fade">
                                      <p:cBhvr>
                                        <p:cTn id="104" dur="500"/>
                                        <p:tgtEl>
                                          <p:spTgt spid="123"/>
                                        </p:tgtEl>
                                      </p:cBhvr>
                                    </p:animEffect>
                                    <p:anim calcmode="lin" valueType="num">
                                      <p:cBhvr additive="base">
                                        <p:cTn id="105" dur="500" decel="100000" fill="hold"/>
                                        <p:tgtEl>
                                          <p:spTgt spid="123"/>
                                        </p:tgtEl>
                                        <p:attrNameLst>
                                          <p:attrName>ppt_y</p:attrName>
                                        </p:attrNameLst>
                                      </p:cBhvr>
                                      <p:tavLst>
                                        <p:tav tm="0">
                                          <p:val>
                                            <p:strVal val="#ppt_y+0.06"/>
                                          </p:val>
                                        </p:tav>
                                        <p:tav tm="100000">
                                          <p:val>
                                            <p:strVal val="#ppt_y"/>
                                          </p:val>
                                        </p:tav>
                                      </p:tavLst>
                                    </p:anim>
                                  </p:childTnLst>
                                </p:cTn>
                              </p:par>
                              <p:par>
                                <p:cTn id="106" presetID="42" presetClass="entr" presetSubtype="0" fill="hold" grpId="0" nodeType="withEffect">
                                  <p:stCondLst>
                                    <p:cond delay="0"/>
                                  </p:stCondLst>
                                  <p:childTnLst>
                                    <p:set>
                                      <p:cBhvr>
                                        <p:cTn id="107" dur="1" fill="hold">
                                          <p:stCondLst>
                                            <p:cond delay="0"/>
                                          </p:stCondLst>
                                        </p:cTn>
                                        <p:tgtEl>
                                          <p:spTgt spid="124"/>
                                        </p:tgtEl>
                                        <p:attrNameLst>
                                          <p:attrName>style.visibility</p:attrName>
                                        </p:attrNameLst>
                                      </p:cBhvr>
                                      <p:to>
                                        <p:strVal val="visible"/>
                                      </p:to>
                                    </p:set>
                                    <p:animEffect transition="in" filter="fade">
                                      <p:cBhvr>
                                        <p:cTn id="108" dur="500"/>
                                        <p:tgtEl>
                                          <p:spTgt spid="124"/>
                                        </p:tgtEl>
                                      </p:cBhvr>
                                    </p:animEffect>
                                    <p:anim calcmode="lin" valueType="num">
                                      <p:cBhvr additive="base">
                                        <p:cTn id="109" dur="500" decel="100000" fill="hold"/>
                                        <p:tgtEl>
                                          <p:spTgt spid="124"/>
                                        </p:tgtEl>
                                        <p:attrNameLst>
                                          <p:attrName>ppt_y</p:attrName>
                                        </p:attrNameLst>
                                      </p:cBhvr>
                                      <p:tavLst>
                                        <p:tav tm="0">
                                          <p:val>
                                            <p:strVal val="#ppt_y+0.06"/>
                                          </p:val>
                                        </p:tav>
                                        <p:tav tm="100000">
                                          <p:val>
                                            <p:strVal val="#ppt_y"/>
                                          </p:val>
                                        </p:tav>
                                      </p:tavLst>
                                    </p:anim>
                                  </p:childTnLst>
                                </p:cTn>
                              </p:par>
                              <p:par>
                                <p:cTn id="110" presetID="42" presetClass="entr" presetSubtype="0" fill="hold" nodeType="withEffect">
                                  <p:stCondLst>
                                    <p:cond delay="0"/>
                                  </p:stCondLst>
                                  <p:childTnLst>
                                    <p:set>
                                      <p:cBhvr>
                                        <p:cTn id="111" dur="1" fill="hold">
                                          <p:stCondLst>
                                            <p:cond delay="0"/>
                                          </p:stCondLst>
                                        </p:cTn>
                                        <p:tgtEl>
                                          <p:spTgt spid="125"/>
                                        </p:tgtEl>
                                        <p:attrNameLst>
                                          <p:attrName>style.visibility</p:attrName>
                                        </p:attrNameLst>
                                      </p:cBhvr>
                                      <p:to>
                                        <p:strVal val="visible"/>
                                      </p:to>
                                    </p:set>
                                    <p:animEffect transition="in" filter="fade">
                                      <p:cBhvr>
                                        <p:cTn id="112" dur="500"/>
                                        <p:tgtEl>
                                          <p:spTgt spid="125"/>
                                        </p:tgtEl>
                                      </p:cBhvr>
                                    </p:animEffect>
                                    <p:anim calcmode="lin" valueType="num">
                                      <p:cBhvr additive="base">
                                        <p:cTn id="113" dur="500" decel="100000" fill="hold"/>
                                        <p:tgtEl>
                                          <p:spTgt spid="125"/>
                                        </p:tgtEl>
                                        <p:attrNameLst>
                                          <p:attrName>ppt_y</p:attrName>
                                        </p:attrNameLst>
                                      </p:cBhvr>
                                      <p:tavLst>
                                        <p:tav tm="0">
                                          <p:val>
                                            <p:strVal val="#ppt_y+0.06"/>
                                          </p:val>
                                        </p:tav>
                                        <p:tav tm="100000">
                                          <p:val>
                                            <p:strVal val="#ppt_y"/>
                                          </p:val>
                                        </p:tav>
                                      </p:tavLst>
                                    </p:anim>
                                  </p:childTnLst>
                                </p:cTn>
                              </p:par>
                              <p:par>
                                <p:cTn id="114" presetID="42" presetClass="entr" presetSubtype="0" fill="hold" grpId="0" nodeType="withEffect">
                                  <p:stCondLst>
                                    <p:cond delay="0"/>
                                  </p:stCondLst>
                                  <p:childTnLst>
                                    <p:set>
                                      <p:cBhvr>
                                        <p:cTn id="115" dur="1" fill="hold">
                                          <p:stCondLst>
                                            <p:cond delay="0"/>
                                          </p:stCondLst>
                                        </p:cTn>
                                        <p:tgtEl>
                                          <p:spTgt spid="126"/>
                                        </p:tgtEl>
                                        <p:attrNameLst>
                                          <p:attrName>style.visibility</p:attrName>
                                        </p:attrNameLst>
                                      </p:cBhvr>
                                      <p:to>
                                        <p:strVal val="visible"/>
                                      </p:to>
                                    </p:set>
                                    <p:animEffect transition="in" filter="fade">
                                      <p:cBhvr>
                                        <p:cTn id="116" dur="500"/>
                                        <p:tgtEl>
                                          <p:spTgt spid="126"/>
                                        </p:tgtEl>
                                      </p:cBhvr>
                                    </p:animEffect>
                                    <p:anim calcmode="lin" valueType="num">
                                      <p:cBhvr additive="base">
                                        <p:cTn id="117" dur="500" decel="100000" fill="hold"/>
                                        <p:tgtEl>
                                          <p:spTgt spid="126"/>
                                        </p:tgtEl>
                                        <p:attrNameLst>
                                          <p:attrName>ppt_y</p:attrName>
                                        </p:attrNameLst>
                                      </p:cBhvr>
                                      <p:tavLst>
                                        <p:tav tm="0">
                                          <p:val>
                                            <p:strVal val="#ppt_y+0.06"/>
                                          </p:val>
                                        </p:tav>
                                        <p:tav tm="100000">
                                          <p:val>
                                            <p:strVal val="#ppt_y"/>
                                          </p:val>
                                        </p:tav>
                                      </p:tavLst>
                                    </p:anim>
                                  </p:childTnLst>
                                </p:cTn>
                              </p:par>
                              <p:par>
                                <p:cTn id="118" presetID="42" presetClass="entr" presetSubtype="0" fill="hold" grpId="0" nodeType="withEffect">
                                  <p:stCondLst>
                                    <p:cond delay="0"/>
                                  </p:stCondLst>
                                  <p:childTnLst>
                                    <p:set>
                                      <p:cBhvr>
                                        <p:cTn id="119" dur="1" fill="hold">
                                          <p:stCondLst>
                                            <p:cond delay="0"/>
                                          </p:stCondLst>
                                        </p:cTn>
                                        <p:tgtEl>
                                          <p:spTgt spid="127"/>
                                        </p:tgtEl>
                                        <p:attrNameLst>
                                          <p:attrName>style.visibility</p:attrName>
                                        </p:attrNameLst>
                                      </p:cBhvr>
                                      <p:to>
                                        <p:strVal val="visible"/>
                                      </p:to>
                                    </p:set>
                                    <p:animEffect transition="in" filter="fade">
                                      <p:cBhvr>
                                        <p:cTn id="120" dur="500"/>
                                        <p:tgtEl>
                                          <p:spTgt spid="127"/>
                                        </p:tgtEl>
                                      </p:cBhvr>
                                    </p:animEffect>
                                    <p:anim calcmode="lin" valueType="num">
                                      <p:cBhvr additive="base">
                                        <p:cTn id="121" dur="500" decel="100000" fill="hold"/>
                                        <p:tgtEl>
                                          <p:spTgt spid="127"/>
                                        </p:tgtEl>
                                        <p:attrNameLst>
                                          <p:attrName>ppt_y</p:attrName>
                                        </p:attrNameLst>
                                      </p:cBhvr>
                                      <p:tavLst>
                                        <p:tav tm="0">
                                          <p:val>
                                            <p:strVal val="#ppt_y+0.06"/>
                                          </p:val>
                                        </p:tav>
                                        <p:tav tm="100000">
                                          <p:val>
                                            <p:strVal val="#ppt_y"/>
                                          </p:val>
                                        </p:tav>
                                      </p:tavLst>
                                    </p:anim>
                                  </p:childTnLst>
                                </p:cTn>
                              </p:par>
                              <p:par>
                                <p:cTn id="122" presetID="42" presetClass="entr" presetSubtype="0" fill="hold" grpId="0" nodeType="withEffect">
                                  <p:stCondLst>
                                    <p:cond delay="0"/>
                                  </p:stCondLst>
                                  <p:childTnLst>
                                    <p:set>
                                      <p:cBhvr>
                                        <p:cTn id="123" dur="1" fill="hold">
                                          <p:stCondLst>
                                            <p:cond delay="0"/>
                                          </p:stCondLst>
                                        </p:cTn>
                                        <p:tgtEl>
                                          <p:spTgt spid="128"/>
                                        </p:tgtEl>
                                        <p:attrNameLst>
                                          <p:attrName>style.visibility</p:attrName>
                                        </p:attrNameLst>
                                      </p:cBhvr>
                                      <p:to>
                                        <p:strVal val="visible"/>
                                      </p:to>
                                    </p:set>
                                    <p:animEffect transition="in" filter="fade">
                                      <p:cBhvr>
                                        <p:cTn id="124" dur="500"/>
                                        <p:tgtEl>
                                          <p:spTgt spid="128"/>
                                        </p:tgtEl>
                                      </p:cBhvr>
                                    </p:animEffect>
                                    <p:anim calcmode="lin" valueType="num">
                                      <p:cBhvr additive="base">
                                        <p:cTn id="125" dur="500" decel="100000" fill="hold"/>
                                        <p:tgtEl>
                                          <p:spTgt spid="128"/>
                                        </p:tgtEl>
                                        <p:attrNameLst>
                                          <p:attrName>ppt_y</p:attrName>
                                        </p:attrNameLst>
                                      </p:cBhvr>
                                      <p:tavLst>
                                        <p:tav tm="0">
                                          <p:val>
                                            <p:strVal val="#ppt_y+0.06"/>
                                          </p:val>
                                        </p:tav>
                                        <p:tav tm="100000">
                                          <p:val>
                                            <p:strVal val="#ppt_y"/>
                                          </p:val>
                                        </p:tav>
                                      </p:tavLst>
                                    </p:anim>
                                  </p:childTnLst>
                                </p:cTn>
                              </p:par>
                              <p:par>
                                <p:cTn id="126" presetID="42" presetClass="entr" presetSubtype="0" fill="hold" grpId="0" nodeType="withEffect">
                                  <p:stCondLst>
                                    <p:cond delay="0"/>
                                  </p:stCondLst>
                                  <p:childTnLst>
                                    <p:set>
                                      <p:cBhvr>
                                        <p:cTn id="127" dur="1" fill="hold">
                                          <p:stCondLst>
                                            <p:cond delay="0"/>
                                          </p:stCondLst>
                                        </p:cTn>
                                        <p:tgtEl>
                                          <p:spTgt spid="129"/>
                                        </p:tgtEl>
                                        <p:attrNameLst>
                                          <p:attrName>style.visibility</p:attrName>
                                        </p:attrNameLst>
                                      </p:cBhvr>
                                      <p:to>
                                        <p:strVal val="visible"/>
                                      </p:to>
                                    </p:set>
                                    <p:animEffect transition="in" filter="fade">
                                      <p:cBhvr>
                                        <p:cTn id="128" dur="500"/>
                                        <p:tgtEl>
                                          <p:spTgt spid="129"/>
                                        </p:tgtEl>
                                      </p:cBhvr>
                                    </p:animEffect>
                                    <p:anim calcmode="lin" valueType="num">
                                      <p:cBhvr additive="base">
                                        <p:cTn id="129" dur="500" decel="100000" fill="hold"/>
                                        <p:tgtEl>
                                          <p:spTgt spid="129"/>
                                        </p:tgtEl>
                                        <p:attrNameLst>
                                          <p:attrName>ppt_y</p:attrName>
                                        </p:attrNameLst>
                                      </p:cBhvr>
                                      <p:tavLst>
                                        <p:tav tm="0">
                                          <p:val>
                                            <p:strVal val="#ppt_y+0.06"/>
                                          </p:val>
                                        </p:tav>
                                        <p:tav tm="100000">
                                          <p:val>
                                            <p:strVal val="#ppt_y"/>
                                          </p:val>
                                        </p:tav>
                                      </p:tavLst>
                                    </p:anim>
                                  </p:childTnLst>
                                </p:cTn>
                              </p:par>
                            </p:childTnLst>
                          </p:cTn>
                        </p:par>
                      </p:childTnLst>
                    </p:cTn>
                  </p:par>
                  <p:par>
                    <p:cTn id="130" fill="hold">
                      <p:stCondLst>
                        <p:cond delay="indefinite"/>
                      </p:stCondLst>
                      <p:childTnLst>
                        <p:par>
                          <p:cTn id="131" fill="hold">
                            <p:stCondLst>
                              <p:cond delay="0"/>
                            </p:stCondLst>
                            <p:childTnLst>
                              <p:par>
                                <p:cTn id="132" presetID="42" presetClass="entr" presetSubtype="0" fill="hold" grpId="0" nodeType="clickEffect">
                                  <p:stCondLst>
                                    <p:cond delay="0"/>
                                  </p:stCondLst>
                                  <p:childTnLst>
                                    <p:set>
                                      <p:cBhvr>
                                        <p:cTn id="133" dur="1" fill="hold">
                                          <p:stCondLst>
                                            <p:cond delay="0"/>
                                          </p:stCondLst>
                                        </p:cTn>
                                        <p:tgtEl>
                                          <p:spTgt spid="130"/>
                                        </p:tgtEl>
                                        <p:attrNameLst>
                                          <p:attrName>style.visibility</p:attrName>
                                        </p:attrNameLst>
                                      </p:cBhvr>
                                      <p:to>
                                        <p:strVal val="visible"/>
                                      </p:to>
                                    </p:set>
                                    <p:animEffect transition="in" filter="fade">
                                      <p:cBhvr>
                                        <p:cTn id="134" dur="500"/>
                                        <p:tgtEl>
                                          <p:spTgt spid="130"/>
                                        </p:tgtEl>
                                      </p:cBhvr>
                                    </p:animEffect>
                                    <p:anim calcmode="lin" valueType="num">
                                      <p:cBhvr additive="base">
                                        <p:cTn id="135" dur="500" decel="100000" fill="hold"/>
                                        <p:tgtEl>
                                          <p:spTgt spid="130"/>
                                        </p:tgtEl>
                                        <p:attrNameLst>
                                          <p:attrName>ppt_y</p:attrName>
                                        </p:attrNameLst>
                                      </p:cBhvr>
                                      <p:tavLst>
                                        <p:tav tm="0">
                                          <p:val>
                                            <p:strVal val="#ppt_y+0.06"/>
                                          </p:val>
                                        </p:tav>
                                        <p:tav tm="100000">
                                          <p:val>
                                            <p:strVal val="#ppt_y"/>
                                          </p:val>
                                        </p:tav>
                                      </p:tavLst>
                                    </p:anim>
                                  </p:childTnLst>
                                </p:cTn>
                              </p:par>
                              <p:par>
                                <p:cTn id="136" presetID="42" presetClass="entr" presetSubtype="0" fill="hold" grpId="0" nodeType="withEffect">
                                  <p:stCondLst>
                                    <p:cond delay="0"/>
                                  </p:stCondLst>
                                  <p:childTnLst>
                                    <p:set>
                                      <p:cBhvr>
                                        <p:cTn id="137" dur="1" fill="hold">
                                          <p:stCondLst>
                                            <p:cond delay="0"/>
                                          </p:stCondLst>
                                        </p:cTn>
                                        <p:tgtEl>
                                          <p:spTgt spid="131"/>
                                        </p:tgtEl>
                                        <p:attrNameLst>
                                          <p:attrName>style.visibility</p:attrName>
                                        </p:attrNameLst>
                                      </p:cBhvr>
                                      <p:to>
                                        <p:strVal val="visible"/>
                                      </p:to>
                                    </p:set>
                                    <p:animEffect transition="in" filter="fade">
                                      <p:cBhvr>
                                        <p:cTn id="138" dur="500"/>
                                        <p:tgtEl>
                                          <p:spTgt spid="131"/>
                                        </p:tgtEl>
                                      </p:cBhvr>
                                    </p:animEffect>
                                    <p:anim calcmode="lin" valueType="num">
                                      <p:cBhvr additive="base">
                                        <p:cTn id="139" dur="500" decel="100000" fill="hold"/>
                                        <p:tgtEl>
                                          <p:spTgt spid="131"/>
                                        </p:tgtEl>
                                        <p:attrNameLst>
                                          <p:attrName>ppt_y</p:attrName>
                                        </p:attrNameLst>
                                      </p:cBhvr>
                                      <p:tavLst>
                                        <p:tav tm="0">
                                          <p:val>
                                            <p:strVal val="#ppt_y+0.06"/>
                                          </p:val>
                                        </p:tav>
                                        <p:tav tm="100000">
                                          <p:val>
                                            <p:strVal val="#ppt_y"/>
                                          </p:val>
                                        </p:tav>
                                      </p:tavLst>
                                    </p:anim>
                                  </p:childTnLst>
                                </p:cTn>
                              </p:par>
                              <p:par>
                                <p:cTn id="140" presetID="42" presetClass="entr" presetSubtype="0" fill="hold" grpId="0" nodeType="withEffect">
                                  <p:stCondLst>
                                    <p:cond delay="0"/>
                                  </p:stCondLst>
                                  <p:childTnLst>
                                    <p:set>
                                      <p:cBhvr>
                                        <p:cTn id="141" dur="1" fill="hold">
                                          <p:stCondLst>
                                            <p:cond delay="0"/>
                                          </p:stCondLst>
                                        </p:cTn>
                                        <p:tgtEl>
                                          <p:spTgt spid="132"/>
                                        </p:tgtEl>
                                        <p:attrNameLst>
                                          <p:attrName>style.visibility</p:attrName>
                                        </p:attrNameLst>
                                      </p:cBhvr>
                                      <p:to>
                                        <p:strVal val="visible"/>
                                      </p:to>
                                    </p:set>
                                    <p:animEffect transition="in" filter="fade">
                                      <p:cBhvr>
                                        <p:cTn id="142" dur="500"/>
                                        <p:tgtEl>
                                          <p:spTgt spid="132"/>
                                        </p:tgtEl>
                                      </p:cBhvr>
                                    </p:animEffect>
                                    <p:anim calcmode="lin" valueType="num">
                                      <p:cBhvr additive="base">
                                        <p:cTn id="143" dur="500" decel="100000" fill="hold"/>
                                        <p:tgtEl>
                                          <p:spTgt spid="132"/>
                                        </p:tgtEl>
                                        <p:attrNameLst>
                                          <p:attrName>ppt_y</p:attrName>
                                        </p:attrNameLst>
                                      </p:cBhvr>
                                      <p:tavLst>
                                        <p:tav tm="0">
                                          <p:val>
                                            <p:strVal val="#ppt_y+0.06"/>
                                          </p:val>
                                        </p:tav>
                                        <p:tav tm="100000">
                                          <p:val>
                                            <p:strVal val="#ppt_y"/>
                                          </p:val>
                                        </p:tav>
                                      </p:tavLst>
                                    </p:anim>
                                  </p:childTnLst>
                                </p:cTn>
                              </p:par>
                              <p:par>
                                <p:cTn id="144" presetID="42" presetClass="entr" presetSubtype="0" fill="hold" grpId="0" nodeType="withEffect">
                                  <p:stCondLst>
                                    <p:cond delay="0"/>
                                  </p:stCondLst>
                                  <p:childTnLst>
                                    <p:set>
                                      <p:cBhvr>
                                        <p:cTn id="145" dur="1" fill="hold">
                                          <p:stCondLst>
                                            <p:cond delay="0"/>
                                          </p:stCondLst>
                                        </p:cTn>
                                        <p:tgtEl>
                                          <p:spTgt spid="133"/>
                                        </p:tgtEl>
                                        <p:attrNameLst>
                                          <p:attrName>style.visibility</p:attrName>
                                        </p:attrNameLst>
                                      </p:cBhvr>
                                      <p:to>
                                        <p:strVal val="visible"/>
                                      </p:to>
                                    </p:set>
                                    <p:animEffect transition="in" filter="fade">
                                      <p:cBhvr>
                                        <p:cTn id="146" dur="500"/>
                                        <p:tgtEl>
                                          <p:spTgt spid="133"/>
                                        </p:tgtEl>
                                      </p:cBhvr>
                                    </p:animEffect>
                                    <p:anim calcmode="lin" valueType="num">
                                      <p:cBhvr additive="base">
                                        <p:cTn id="147" dur="500" decel="100000" fill="hold"/>
                                        <p:tgtEl>
                                          <p:spTgt spid="133"/>
                                        </p:tgtEl>
                                        <p:attrNameLst>
                                          <p:attrName>ppt_y</p:attrName>
                                        </p:attrNameLst>
                                      </p:cBhvr>
                                      <p:tavLst>
                                        <p:tav tm="0">
                                          <p:val>
                                            <p:strVal val="#ppt_y+0.06"/>
                                          </p:val>
                                        </p:tav>
                                        <p:tav tm="100000">
                                          <p:val>
                                            <p:strVal val="#ppt_y"/>
                                          </p:val>
                                        </p:tav>
                                      </p:tavLst>
                                    </p:anim>
                                  </p:childTnLst>
                                </p:cTn>
                              </p:par>
                              <p:par>
                                <p:cTn id="148" presetID="42" presetClass="entr" presetSubtype="0" fill="hold" grpId="0" nodeType="withEffect">
                                  <p:stCondLst>
                                    <p:cond delay="0"/>
                                  </p:stCondLst>
                                  <p:childTnLst>
                                    <p:set>
                                      <p:cBhvr>
                                        <p:cTn id="149" dur="1" fill="hold">
                                          <p:stCondLst>
                                            <p:cond delay="0"/>
                                          </p:stCondLst>
                                        </p:cTn>
                                        <p:tgtEl>
                                          <p:spTgt spid="134"/>
                                        </p:tgtEl>
                                        <p:attrNameLst>
                                          <p:attrName>style.visibility</p:attrName>
                                        </p:attrNameLst>
                                      </p:cBhvr>
                                      <p:to>
                                        <p:strVal val="visible"/>
                                      </p:to>
                                    </p:set>
                                    <p:animEffect transition="in" filter="fade">
                                      <p:cBhvr>
                                        <p:cTn id="150" dur="500"/>
                                        <p:tgtEl>
                                          <p:spTgt spid="134"/>
                                        </p:tgtEl>
                                      </p:cBhvr>
                                    </p:animEffect>
                                    <p:anim calcmode="lin" valueType="num">
                                      <p:cBhvr additive="base">
                                        <p:cTn id="151" dur="500" decel="100000" fill="hold"/>
                                        <p:tgtEl>
                                          <p:spTgt spid="134"/>
                                        </p:tgtEl>
                                        <p:attrNameLst>
                                          <p:attrName>ppt_y</p:attrName>
                                        </p:attrNameLst>
                                      </p:cBhvr>
                                      <p:tavLst>
                                        <p:tav tm="0">
                                          <p:val>
                                            <p:strVal val="#ppt_y+0.06"/>
                                          </p:val>
                                        </p:tav>
                                        <p:tav tm="100000">
                                          <p:val>
                                            <p:strVal val="#ppt_y"/>
                                          </p:val>
                                        </p:tav>
                                      </p:tavLst>
                                    </p:anim>
                                  </p:childTnLst>
                                </p:cTn>
                              </p:par>
                              <p:par>
                                <p:cTn id="152" presetID="42" presetClass="entr" presetSubtype="0" fill="hold" nodeType="withEffect">
                                  <p:stCondLst>
                                    <p:cond delay="0"/>
                                  </p:stCondLst>
                                  <p:childTnLst>
                                    <p:set>
                                      <p:cBhvr>
                                        <p:cTn id="153" dur="1" fill="hold">
                                          <p:stCondLst>
                                            <p:cond delay="0"/>
                                          </p:stCondLst>
                                        </p:cTn>
                                        <p:tgtEl>
                                          <p:spTgt spid="135"/>
                                        </p:tgtEl>
                                        <p:attrNameLst>
                                          <p:attrName>style.visibility</p:attrName>
                                        </p:attrNameLst>
                                      </p:cBhvr>
                                      <p:to>
                                        <p:strVal val="visible"/>
                                      </p:to>
                                    </p:set>
                                    <p:animEffect transition="in" filter="fade">
                                      <p:cBhvr>
                                        <p:cTn id="154" dur="500"/>
                                        <p:tgtEl>
                                          <p:spTgt spid="135"/>
                                        </p:tgtEl>
                                      </p:cBhvr>
                                    </p:animEffect>
                                    <p:anim calcmode="lin" valueType="num">
                                      <p:cBhvr additive="base">
                                        <p:cTn id="155" dur="500" decel="100000" fill="hold"/>
                                        <p:tgtEl>
                                          <p:spTgt spid="135"/>
                                        </p:tgtEl>
                                        <p:attrNameLst>
                                          <p:attrName>ppt_y</p:attrName>
                                        </p:attrNameLst>
                                      </p:cBhvr>
                                      <p:tavLst>
                                        <p:tav tm="0">
                                          <p:val>
                                            <p:strVal val="#ppt_y+0.06"/>
                                          </p:val>
                                        </p:tav>
                                        <p:tav tm="100000">
                                          <p:val>
                                            <p:strVal val="#ppt_y"/>
                                          </p:val>
                                        </p:tav>
                                      </p:tavLst>
                                    </p:anim>
                                  </p:childTnLst>
                                </p:cTn>
                              </p:par>
                              <p:par>
                                <p:cTn id="156" presetID="42" presetClass="entr" presetSubtype="0" fill="hold" grpId="0" nodeType="withEffect">
                                  <p:stCondLst>
                                    <p:cond delay="0"/>
                                  </p:stCondLst>
                                  <p:childTnLst>
                                    <p:set>
                                      <p:cBhvr>
                                        <p:cTn id="157" dur="1" fill="hold">
                                          <p:stCondLst>
                                            <p:cond delay="0"/>
                                          </p:stCondLst>
                                        </p:cTn>
                                        <p:tgtEl>
                                          <p:spTgt spid="136"/>
                                        </p:tgtEl>
                                        <p:attrNameLst>
                                          <p:attrName>style.visibility</p:attrName>
                                        </p:attrNameLst>
                                      </p:cBhvr>
                                      <p:to>
                                        <p:strVal val="visible"/>
                                      </p:to>
                                    </p:set>
                                    <p:animEffect transition="in" filter="fade">
                                      <p:cBhvr>
                                        <p:cTn id="158" dur="500"/>
                                        <p:tgtEl>
                                          <p:spTgt spid="136"/>
                                        </p:tgtEl>
                                      </p:cBhvr>
                                    </p:animEffect>
                                    <p:anim calcmode="lin" valueType="num">
                                      <p:cBhvr additive="base">
                                        <p:cTn id="159" dur="500" decel="100000" fill="hold"/>
                                        <p:tgtEl>
                                          <p:spTgt spid="136"/>
                                        </p:tgtEl>
                                        <p:attrNameLst>
                                          <p:attrName>ppt_y</p:attrName>
                                        </p:attrNameLst>
                                      </p:cBhvr>
                                      <p:tavLst>
                                        <p:tav tm="0">
                                          <p:val>
                                            <p:strVal val="#ppt_y+0.06"/>
                                          </p:val>
                                        </p:tav>
                                        <p:tav tm="100000">
                                          <p:val>
                                            <p:strVal val="#ppt_y"/>
                                          </p:val>
                                        </p:tav>
                                      </p:tavLst>
                                    </p:anim>
                                  </p:childTnLst>
                                </p:cTn>
                              </p:par>
                              <p:par>
                                <p:cTn id="160" presetID="42" presetClass="entr" presetSubtype="0" fill="hold" grpId="0" nodeType="withEffect">
                                  <p:stCondLst>
                                    <p:cond delay="0"/>
                                  </p:stCondLst>
                                  <p:childTnLst>
                                    <p:set>
                                      <p:cBhvr>
                                        <p:cTn id="161" dur="1" fill="hold">
                                          <p:stCondLst>
                                            <p:cond delay="0"/>
                                          </p:stCondLst>
                                        </p:cTn>
                                        <p:tgtEl>
                                          <p:spTgt spid="137"/>
                                        </p:tgtEl>
                                        <p:attrNameLst>
                                          <p:attrName>style.visibility</p:attrName>
                                        </p:attrNameLst>
                                      </p:cBhvr>
                                      <p:to>
                                        <p:strVal val="visible"/>
                                      </p:to>
                                    </p:set>
                                    <p:animEffect transition="in" filter="fade">
                                      <p:cBhvr>
                                        <p:cTn id="162" dur="500"/>
                                        <p:tgtEl>
                                          <p:spTgt spid="137"/>
                                        </p:tgtEl>
                                      </p:cBhvr>
                                    </p:animEffect>
                                    <p:anim calcmode="lin" valueType="num">
                                      <p:cBhvr additive="base">
                                        <p:cTn id="163" dur="500" decel="100000" fill="hold"/>
                                        <p:tgtEl>
                                          <p:spTgt spid="137"/>
                                        </p:tgtEl>
                                        <p:attrNameLst>
                                          <p:attrName>ppt_y</p:attrName>
                                        </p:attrNameLst>
                                      </p:cBhvr>
                                      <p:tavLst>
                                        <p:tav tm="0">
                                          <p:val>
                                            <p:strVal val="#ppt_y+0.06"/>
                                          </p:val>
                                        </p:tav>
                                        <p:tav tm="100000">
                                          <p:val>
                                            <p:strVal val="#ppt_y"/>
                                          </p:val>
                                        </p:tav>
                                      </p:tavLst>
                                    </p:anim>
                                  </p:childTnLst>
                                </p:cTn>
                              </p:par>
                              <p:par>
                                <p:cTn id="164" presetID="42" presetClass="entr" presetSubtype="0" fill="hold" grpId="0" nodeType="withEffect">
                                  <p:stCondLst>
                                    <p:cond delay="0"/>
                                  </p:stCondLst>
                                  <p:childTnLst>
                                    <p:set>
                                      <p:cBhvr>
                                        <p:cTn id="165" dur="1" fill="hold">
                                          <p:stCondLst>
                                            <p:cond delay="0"/>
                                          </p:stCondLst>
                                        </p:cTn>
                                        <p:tgtEl>
                                          <p:spTgt spid="138"/>
                                        </p:tgtEl>
                                        <p:attrNameLst>
                                          <p:attrName>style.visibility</p:attrName>
                                        </p:attrNameLst>
                                      </p:cBhvr>
                                      <p:to>
                                        <p:strVal val="visible"/>
                                      </p:to>
                                    </p:set>
                                    <p:animEffect transition="in" filter="fade">
                                      <p:cBhvr>
                                        <p:cTn id="166" dur="500"/>
                                        <p:tgtEl>
                                          <p:spTgt spid="138"/>
                                        </p:tgtEl>
                                      </p:cBhvr>
                                    </p:animEffect>
                                    <p:anim calcmode="lin" valueType="num">
                                      <p:cBhvr additive="base">
                                        <p:cTn id="167" dur="500" decel="100000" fill="hold"/>
                                        <p:tgtEl>
                                          <p:spTgt spid="138"/>
                                        </p:tgtEl>
                                        <p:attrNameLst>
                                          <p:attrName>ppt_y</p:attrName>
                                        </p:attrNameLst>
                                      </p:cBhvr>
                                      <p:tavLst>
                                        <p:tav tm="0">
                                          <p:val>
                                            <p:strVal val="#ppt_y+0.06"/>
                                          </p:val>
                                        </p:tav>
                                        <p:tav tm="100000">
                                          <p:val>
                                            <p:strVal val="#ppt_y"/>
                                          </p:val>
                                        </p:tav>
                                      </p:tavLst>
                                    </p:anim>
                                  </p:childTnLst>
                                </p:cTn>
                              </p:par>
                            </p:childTnLst>
                          </p:cTn>
                        </p:par>
                      </p:childTnLst>
                    </p:cTn>
                  </p:par>
                  <p:par>
                    <p:cTn id="168" fill="hold">
                      <p:stCondLst>
                        <p:cond delay="indefinite"/>
                      </p:stCondLst>
                      <p:childTnLst>
                        <p:par>
                          <p:cTn id="169" fill="hold">
                            <p:stCondLst>
                              <p:cond delay="0"/>
                            </p:stCondLst>
                            <p:childTnLst>
                              <p:par>
                                <p:cTn id="170" presetID="42" presetClass="entr" presetSubtype="0" fill="hold" grpId="0" nodeType="clickEffect">
                                  <p:stCondLst>
                                    <p:cond delay="0"/>
                                  </p:stCondLst>
                                  <p:childTnLst>
                                    <p:set>
                                      <p:cBhvr>
                                        <p:cTn id="171" dur="1" fill="hold">
                                          <p:stCondLst>
                                            <p:cond delay="0"/>
                                          </p:stCondLst>
                                        </p:cTn>
                                        <p:tgtEl>
                                          <p:spTgt spid="139"/>
                                        </p:tgtEl>
                                        <p:attrNameLst>
                                          <p:attrName>style.visibility</p:attrName>
                                        </p:attrNameLst>
                                      </p:cBhvr>
                                      <p:to>
                                        <p:strVal val="visible"/>
                                      </p:to>
                                    </p:set>
                                    <p:animEffect transition="in" filter="fade">
                                      <p:cBhvr>
                                        <p:cTn id="172" dur="500"/>
                                        <p:tgtEl>
                                          <p:spTgt spid="139"/>
                                        </p:tgtEl>
                                      </p:cBhvr>
                                    </p:animEffect>
                                    <p:anim calcmode="lin" valueType="num">
                                      <p:cBhvr additive="base">
                                        <p:cTn id="173" dur="500" decel="100000" fill="hold"/>
                                        <p:tgtEl>
                                          <p:spTgt spid="139"/>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6" grpId="0" animBg="1"/>
      <p:bldP spid="137" grpId="0" animBg="1"/>
      <p:bldP spid="138" grpId="0" animBg="1"/>
      <p:bldP spid="139"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SHOULDLY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From Assert to Shouldly: The Same Checks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Shouldly reads left to right: the ACTUAL value first, then what it should be.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133</a:t>
            </a:r>
            <a:endParaRPr lang="en-US" sz="850" dirty="0"/>
          </a:p>
        </p:txBody>
      </p:sp>
      <p:sp>
        <p:nvSpPr>
          <p:cNvPr id="101" name="s101"/>
          <p:cNvSpPr txBox="1"/>
          <p:nvPr/>
        </p:nvSpPr>
        <p:spPr>
          <a:xfrm>
            <a:off x="726034" y="1828800"/>
            <a:ext cx="5269687"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xUNIT ASSERT</a:t>
            </a:r>
            <a:endParaRPr lang="en-US" sz="1050" dirty="0"/>
          </a:p>
        </p:txBody>
      </p:sp>
      <p:sp>
        <p:nvSpPr>
          <p:cNvPr id="102" name="s102"/>
          <p:cNvSpPr txBox="1"/>
          <p:nvPr/>
        </p:nvSpPr>
        <p:spPr>
          <a:xfrm>
            <a:off x="6544361" y="1828800"/>
            <a:ext cx="5269687"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13D0F7"/>
                </a:solidFill>
                <a:latin typeface="Segoe UI"/>
                <a:ea typeface="Segoe UI"/>
                <a:cs typeface="Segoe UI"/>
              </a:rPr>
              <a:t>SHOULDLY</a:t>
            </a:r>
            <a:endParaRPr lang="en-US" sz="1050" dirty="0"/>
          </a:p>
        </p:txBody>
      </p:sp>
      <p:sp>
        <p:nvSpPr>
          <p:cNvPr id="103" name="s103"/>
          <p:cNvSpPr/>
          <p:nvPr/>
        </p:nvSpPr>
        <p:spPr>
          <a:xfrm>
            <a:off x="543154" y="2176272"/>
            <a:ext cx="5269687" cy="384048"/>
          </a:xfrm>
          <a:prstGeom prst="roundRect">
            <a:avLst>
              <a:gd name="adj" fmla="val 15000"/>
            </a:avLst>
          </a:prstGeom>
          <a:solidFill>
            <a:srgbClr val="060D18"/>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Assert.Equal(150m, account.Balance);</a:t>
            </a:r>
            <a:endParaRPr lang="en-US" sz="1150" dirty="0"/>
          </a:p>
        </p:txBody>
      </p:sp>
      <p:cxnSp>
        <p:nvCxnSpPr>
          <p:cNvPr id="104" name="ln104"/>
          <p:cNvCxnSpPr/>
          <p:nvPr/>
        </p:nvCxnSpPr>
        <p:spPr>
          <a:xfrm>
            <a:off x="5885993" y="2368296"/>
            <a:ext cx="402336" cy="0"/>
          </a:xfrm>
          <a:prstGeom prst="line">
            <a:avLst/>
          </a:prstGeom>
          <a:ln w="22225">
            <a:solidFill>
              <a:srgbClr val="13D0F7"/>
            </a:solidFill>
            <a:tailEnd type="triangle" w="med" len="med"/>
          </a:ln>
        </p:spPr>
      </p:cxnSp>
      <p:sp>
        <p:nvSpPr>
          <p:cNvPr id="105" name="s105"/>
          <p:cNvSpPr/>
          <p:nvPr/>
        </p:nvSpPr>
        <p:spPr>
          <a:xfrm>
            <a:off x="6361481" y="2176272"/>
            <a:ext cx="5269687" cy="38404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150" b="1" dirty="0">
                <a:solidFill>
                  <a:srgbClr val="FFFFFF"/>
                </a:solidFill>
                <a:latin typeface="Consolas"/>
                <a:ea typeface="Consolas"/>
                <a:cs typeface="Consolas"/>
              </a:rPr>
              <a:t>account.Balance.ShouldBe(150m);</a:t>
            </a:r>
            <a:endParaRPr lang="en-US" sz="1150" dirty="0"/>
          </a:p>
        </p:txBody>
      </p:sp>
      <p:sp>
        <p:nvSpPr>
          <p:cNvPr id="106" name="s106"/>
          <p:cNvSpPr/>
          <p:nvPr/>
        </p:nvSpPr>
        <p:spPr>
          <a:xfrm>
            <a:off x="543154" y="2633472"/>
            <a:ext cx="5269687" cy="384048"/>
          </a:xfrm>
          <a:prstGeom prst="roundRect">
            <a:avLst>
              <a:gd name="adj" fmla="val 15000"/>
            </a:avLst>
          </a:prstGeom>
          <a:solidFill>
            <a:srgbClr val="060D18"/>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Assert.NotEqual(0m, total);</a:t>
            </a:r>
            <a:endParaRPr lang="en-US" sz="1150" dirty="0"/>
          </a:p>
        </p:txBody>
      </p:sp>
      <p:cxnSp>
        <p:nvCxnSpPr>
          <p:cNvPr id="107" name="ln107"/>
          <p:cNvCxnSpPr/>
          <p:nvPr/>
        </p:nvCxnSpPr>
        <p:spPr>
          <a:xfrm>
            <a:off x="5885993" y="2825496"/>
            <a:ext cx="402336" cy="0"/>
          </a:xfrm>
          <a:prstGeom prst="line">
            <a:avLst/>
          </a:prstGeom>
          <a:ln w="22225">
            <a:solidFill>
              <a:srgbClr val="13D0F7"/>
            </a:solidFill>
            <a:tailEnd type="triangle" w="med" len="med"/>
          </a:ln>
        </p:spPr>
      </p:cxnSp>
      <p:sp>
        <p:nvSpPr>
          <p:cNvPr id="108" name="s108"/>
          <p:cNvSpPr/>
          <p:nvPr/>
        </p:nvSpPr>
        <p:spPr>
          <a:xfrm>
            <a:off x="6361481" y="2633472"/>
            <a:ext cx="5269687" cy="38404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150" b="1" dirty="0">
                <a:solidFill>
                  <a:srgbClr val="FFFFFF"/>
                </a:solidFill>
                <a:latin typeface="Consolas"/>
                <a:ea typeface="Consolas"/>
                <a:cs typeface="Consolas"/>
              </a:rPr>
              <a:t>total.ShouldNotBe(0m);</a:t>
            </a:r>
            <a:endParaRPr lang="en-US" sz="1150" dirty="0"/>
          </a:p>
        </p:txBody>
      </p:sp>
      <p:sp>
        <p:nvSpPr>
          <p:cNvPr id="109" name="s109"/>
          <p:cNvSpPr/>
          <p:nvPr/>
        </p:nvSpPr>
        <p:spPr>
          <a:xfrm>
            <a:off x="543154" y="3090672"/>
            <a:ext cx="5269687" cy="384048"/>
          </a:xfrm>
          <a:prstGeom prst="roundRect">
            <a:avLst>
              <a:gd name="adj" fmla="val 15000"/>
            </a:avLst>
          </a:prstGeom>
          <a:solidFill>
            <a:srgbClr val="060D18"/>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Assert.True(EmailValidator.IsValid(e));</a:t>
            </a:r>
            <a:endParaRPr lang="en-US" sz="1150" dirty="0"/>
          </a:p>
        </p:txBody>
      </p:sp>
      <p:cxnSp>
        <p:nvCxnSpPr>
          <p:cNvPr id="110" name="ln110"/>
          <p:cNvCxnSpPr/>
          <p:nvPr/>
        </p:nvCxnSpPr>
        <p:spPr>
          <a:xfrm>
            <a:off x="5885993" y="3282696"/>
            <a:ext cx="402336" cy="0"/>
          </a:xfrm>
          <a:prstGeom prst="line">
            <a:avLst/>
          </a:prstGeom>
          <a:ln w="22225">
            <a:solidFill>
              <a:srgbClr val="13D0F7"/>
            </a:solidFill>
            <a:tailEnd type="triangle" w="med" len="med"/>
          </a:ln>
        </p:spPr>
      </p:cxnSp>
      <p:sp>
        <p:nvSpPr>
          <p:cNvPr id="111" name="s111"/>
          <p:cNvSpPr/>
          <p:nvPr/>
        </p:nvSpPr>
        <p:spPr>
          <a:xfrm>
            <a:off x="6361481" y="3090672"/>
            <a:ext cx="5269687" cy="38404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150" b="1" dirty="0">
                <a:solidFill>
                  <a:srgbClr val="FFFFFF"/>
                </a:solidFill>
                <a:latin typeface="Consolas"/>
                <a:ea typeface="Consolas"/>
                <a:cs typeface="Consolas"/>
              </a:rPr>
              <a:t>EmailValidator.IsValid(e).ShouldBeTrue();</a:t>
            </a:r>
            <a:endParaRPr lang="en-US" sz="1150" dirty="0"/>
          </a:p>
        </p:txBody>
      </p:sp>
      <p:sp>
        <p:nvSpPr>
          <p:cNvPr id="112" name="s112"/>
          <p:cNvSpPr/>
          <p:nvPr/>
        </p:nvSpPr>
        <p:spPr>
          <a:xfrm>
            <a:off x="543154" y="3547872"/>
            <a:ext cx="5269687" cy="384048"/>
          </a:xfrm>
          <a:prstGeom prst="roundRect">
            <a:avLst>
              <a:gd name="adj" fmla="val 15000"/>
            </a:avLst>
          </a:prstGeom>
          <a:solidFill>
            <a:srgbClr val="060D18"/>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Assert.Null(repo.Find("x"));</a:t>
            </a:r>
            <a:endParaRPr lang="en-US" sz="1150" dirty="0"/>
          </a:p>
        </p:txBody>
      </p:sp>
      <p:cxnSp>
        <p:nvCxnSpPr>
          <p:cNvPr id="113" name="ln113"/>
          <p:cNvCxnSpPr/>
          <p:nvPr/>
        </p:nvCxnSpPr>
        <p:spPr>
          <a:xfrm>
            <a:off x="5885993" y="3739896"/>
            <a:ext cx="402336" cy="0"/>
          </a:xfrm>
          <a:prstGeom prst="line">
            <a:avLst/>
          </a:prstGeom>
          <a:ln w="22225">
            <a:solidFill>
              <a:srgbClr val="13D0F7"/>
            </a:solidFill>
            <a:tailEnd type="triangle" w="med" len="med"/>
          </a:ln>
        </p:spPr>
      </p:cxnSp>
      <p:sp>
        <p:nvSpPr>
          <p:cNvPr id="114" name="s114"/>
          <p:cNvSpPr/>
          <p:nvPr/>
        </p:nvSpPr>
        <p:spPr>
          <a:xfrm>
            <a:off x="6361481" y="3547872"/>
            <a:ext cx="5269687" cy="38404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150" b="1" dirty="0">
                <a:solidFill>
                  <a:srgbClr val="FFFFFF"/>
                </a:solidFill>
                <a:latin typeface="Consolas"/>
                <a:ea typeface="Consolas"/>
                <a:cs typeface="Consolas"/>
              </a:rPr>
              <a:t>repo.Find("x").ShouldBeNull();</a:t>
            </a:r>
            <a:endParaRPr lang="en-US" sz="1150" dirty="0"/>
          </a:p>
        </p:txBody>
      </p:sp>
      <p:sp>
        <p:nvSpPr>
          <p:cNvPr id="115" name="s115"/>
          <p:cNvSpPr/>
          <p:nvPr/>
        </p:nvSpPr>
        <p:spPr>
          <a:xfrm>
            <a:off x="543154" y="4005072"/>
            <a:ext cx="5269687" cy="384048"/>
          </a:xfrm>
          <a:prstGeom prst="roundRect">
            <a:avLst>
              <a:gd name="adj" fmla="val 15000"/>
            </a:avLst>
          </a:prstGeom>
          <a:solidFill>
            <a:srgbClr val="060D18"/>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Assert.Contains("100.00", body);</a:t>
            </a:r>
            <a:endParaRPr lang="en-US" sz="1150" dirty="0"/>
          </a:p>
        </p:txBody>
      </p:sp>
      <p:cxnSp>
        <p:nvCxnSpPr>
          <p:cNvPr id="116" name="ln116"/>
          <p:cNvCxnSpPr/>
          <p:nvPr/>
        </p:nvCxnSpPr>
        <p:spPr>
          <a:xfrm>
            <a:off x="5885993" y="4197096"/>
            <a:ext cx="402336" cy="0"/>
          </a:xfrm>
          <a:prstGeom prst="line">
            <a:avLst/>
          </a:prstGeom>
          <a:ln w="22225">
            <a:solidFill>
              <a:srgbClr val="13D0F7"/>
            </a:solidFill>
            <a:tailEnd type="triangle" w="med" len="med"/>
          </a:ln>
        </p:spPr>
      </p:cxnSp>
      <p:sp>
        <p:nvSpPr>
          <p:cNvPr id="117" name="s117"/>
          <p:cNvSpPr/>
          <p:nvPr/>
        </p:nvSpPr>
        <p:spPr>
          <a:xfrm>
            <a:off x="6361481" y="4005072"/>
            <a:ext cx="5269687" cy="38404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150" b="1" dirty="0">
                <a:solidFill>
                  <a:srgbClr val="FFFFFF"/>
                </a:solidFill>
                <a:latin typeface="Consolas"/>
                <a:ea typeface="Consolas"/>
                <a:cs typeface="Consolas"/>
              </a:rPr>
              <a:t>body.ShouldContain("100.00");</a:t>
            </a:r>
            <a:endParaRPr lang="en-US" sz="1150" dirty="0"/>
          </a:p>
        </p:txBody>
      </p:sp>
      <p:sp>
        <p:nvSpPr>
          <p:cNvPr id="118" name="s118"/>
          <p:cNvSpPr/>
          <p:nvPr/>
        </p:nvSpPr>
        <p:spPr>
          <a:xfrm>
            <a:off x="543154" y="4462272"/>
            <a:ext cx="5269687" cy="384048"/>
          </a:xfrm>
          <a:prstGeom prst="roundRect">
            <a:avLst>
              <a:gd name="adj" fmla="val 15000"/>
            </a:avLst>
          </a:prstGeom>
          <a:solidFill>
            <a:srgbClr val="060D18"/>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Assert.Empty(cart.Items);</a:t>
            </a:r>
            <a:endParaRPr lang="en-US" sz="1150" dirty="0"/>
          </a:p>
        </p:txBody>
      </p:sp>
      <p:cxnSp>
        <p:nvCxnSpPr>
          <p:cNvPr id="119" name="ln119"/>
          <p:cNvCxnSpPr/>
          <p:nvPr/>
        </p:nvCxnSpPr>
        <p:spPr>
          <a:xfrm>
            <a:off x="5885993" y="4654296"/>
            <a:ext cx="402336" cy="0"/>
          </a:xfrm>
          <a:prstGeom prst="line">
            <a:avLst/>
          </a:prstGeom>
          <a:ln w="22225">
            <a:solidFill>
              <a:srgbClr val="13D0F7"/>
            </a:solidFill>
            <a:tailEnd type="triangle" w="med" len="med"/>
          </a:ln>
        </p:spPr>
      </p:cxnSp>
      <p:sp>
        <p:nvSpPr>
          <p:cNvPr id="120" name="s120"/>
          <p:cNvSpPr/>
          <p:nvPr/>
        </p:nvSpPr>
        <p:spPr>
          <a:xfrm>
            <a:off x="6361481" y="4462272"/>
            <a:ext cx="5269687" cy="38404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150" b="1" dirty="0">
                <a:solidFill>
                  <a:srgbClr val="FFFFFF"/>
                </a:solidFill>
                <a:latin typeface="Consolas"/>
                <a:ea typeface="Consolas"/>
                <a:cs typeface="Consolas"/>
              </a:rPr>
              <a:t>cart.Items.ShouldBeEmpty();</a:t>
            </a:r>
            <a:endParaRPr lang="en-US" sz="1150" dirty="0"/>
          </a:p>
        </p:txBody>
      </p:sp>
      <p:sp>
        <p:nvSpPr>
          <p:cNvPr id="121" name="s121"/>
          <p:cNvSpPr/>
          <p:nvPr/>
        </p:nvSpPr>
        <p:spPr>
          <a:xfrm>
            <a:off x="543154" y="4919472"/>
            <a:ext cx="5269687" cy="384048"/>
          </a:xfrm>
          <a:prstGeom prst="roundRect">
            <a:avLst>
              <a:gd name="adj" fmla="val 15000"/>
            </a:avLst>
          </a:prstGeom>
          <a:solidFill>
            <a:srgbClr val="060D18"/>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Assert.InRange(price, 60m, 120m);</a:t>
            </a:r>
            <a:endParaRPr lang="en-US" sz="1150" dirty="0"/>
          </a:p>
        </p:txBody>
      </p:sp>
      <p:cxnSp>
        <p:nvCxnSpPr>
          <p:cNvPr id="122" name="ln122"/>
          <p:cNvCxnSpPr/>
          <p:nvPr/>
        </p:nvCxnSpPr>
        <p:spPr>
          <a:xfrm>
            <a:off x="5885993" y="5111496"/>
            <a:ext cx="402336" cy="0"/>
          </a:xfrm>
          <a:prstGeom prst="line">
            <a:avLst/>
          </a:prstGeom>
          <a:ln w="22225">
            <a:solidFill>
              <a:srgbClr val="13D0F7"/>
            </a:solidFill>
            <a:tailEnd type="triangle" w="med" len="med"/>
          </a:ln>
        </p:spPr>
      </p:cxnSp>
      <p:sp>
        <p:nvSpPr>
          <p:cNvPr id="123" name="s123"/>
          <p:cNvSpPr/>
          <p:nvPr/>
        </p:nvSpPr>
        <p:spPr>
          <a:xfrm>
            <a:off x="6361481" y="4919472"/>
            <a:ext cx="5269687" cy="38404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150" b="1" dirty="0">
                <a:solidFill>
                  <a:srgbClr val="FFFFFF"/>
                </a:solidFill>
                <a:latin typeface="Consolas"/>
                <a:ea typeface="Consolas"/>
                <a:cs typeface="Consolas"/>
              </a:rPr>
              <a:t>price.ShouldBeInRange(60m, 120m);</a:t>
            </a:r>
            <a:endParaRPr lang="en-US" sz="1150" dirty="0"/>
          </a:p>
        </p:txBody>
      </p:sp>
      <p:sp>
        <p:nvSpPr>
          <p:cNvPr id="124" name="s124"/>
          <p:cNvSpPr/>
          <p:nvPr/>
        </p:nvSpPr>
        <p:spPr>
          <a:xfrm>
            <a:off x="543154" y="5376672"/>
            <a:ext cx="5269687" cy="384048"/>
          </a:xfrm>
          <a:prstGeom prst="roundRect">
            <a:avLst>
              <a:gd name="adj" fmla="val 15000"/>
            </a:avLst>
          </a:prstGeom>
          <a:solidFill>
            <a:srgbClr val="060D18"/>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Assert.Throws&lt;T&gt;(() =&gt; …);</a:t>
            </a:r>
            <a:endParaRPr lang="en-US" sz="1150" dirty="0"/>
          </a:p>
        </p:txBody>
      </p:sp>
      <p:cxnSp>
        <p:nvCxnSpPr>
          <p:cNvPr id="125" name="ln125"/>
          <p:cNvCxnSpPr/>
          <p:nvPr/>
        </p:nvCxnSpPr>
        <p:spPr>
          <a:xfrm>
            <a:off x="5885993" y="5568696"/>
            <a:ext cx="402336" cy="0"/>
          </a:xfrm>
          <a:prstGeom prst="line">
            <a:avLst/>
          </a:prstGeom>
          <a:ln w="22225">
            <a:solidFill>
              <a:srgbClr val="13D0F7"/>
            </a:solidFill>
            <a:tailEnd type="triangle" w="med" len="med"/>
          </a:ln>
        </p:spPr>
      </p:cxnSp>
      <p:sp>
        <p:nvSpPr>
          <p:cNvPr id="126" name="s126"/>
          <p:cNvSpPr/>
          <p:nvPr/>
        </p:nvSpPr>
        <p:spPr>
          <a:xfrm>
            <a:off x="6361481" y="5376672"/>
            <a:ext cx="5269687" cy="38404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150" b="1" dirty="0">
                <a:solidFill>
                  <a:srgbClr val="FFFFFF"/>
                </a:solidFill>
                <a:latin typeface="Consolas"/>
                <a:ea typeface="Consolas"/>
                <a:cs typeface="Consolas"/>
              </a:rPr>
              <a:t>Should.Throw&lt;T&gt;(() =&gt; …);</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2"/>
                                        </p:tgtEl>
                                        <p:attrNameLst>
                                          <p:attrName>style.visibility</p:attrName>
                                        </p:attrNameLst>
                                      </p:cBhvr>
                                      <p:to>
                                        <p:strVal val="visible"/>
                                      </p:to>
                                    </p:set>
                                    <p:animEffect transition="in" filter="fade">
                                      <p:cBhvr>
                                        <p:cTn id="10" dur="500"/>
                                        <p:tgtEl>
                                          <p:spTgt spid="102"/>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ppt_x</p:attrName>
                                        </p:attrNameLst>
                                      </p:cBhvr>
                                      <p:tavLst>
                                        <p:tav tm="0">
                                          <p:val>
                                            <p:strVal val="#ppt_x-0.05"/>
                                          </p:val>
                                        </p:tav>
                                        <p:tav tm="100000">
                                          <p:val>
                                            <p:strVal val="#ppt_x"/>
                                          </p:val>
                                        </p:tav>
                                      </p:tavLst>
                                    </p:anim>
                                  </p:childTnLst>
                                </p:cTn>
                              </p:par>
                              <p:par>
                                <p:cTn id="17" presetID="42" presetClass="entr" presetSubtype="0" fill="hold"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15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ppt_x</p:attrName>
                                        </p:attrNameLst>
                                      </p:cBhvr>
                                      <p:tavLst>
                                        <p:tav tm="0">
                                          <p:val>
                                            <p:strVal val="#ppt_x-0.05"/>
                                          </p:val>
                                        </p:tav>
                                        <p:tav tm="100000">
                                          <p:val>
                                            <p:strVal val="#ppt_x"/>
                                          </p:val>
                                        </p:tav>
                                      </p:tavLst>
                                    </p:anim>
                                  </p:childTnLst>
                                </p:cTn>
                              </p:par>
                              <p:par>
                                <p:cTn id="29" presetID="42" presetClass="entr" presetSubtype="0" fill="hold" nodeType="withEffect">
                                  <p:stCondLst>
                                    <p:cond delay="15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ppt_x</p:attrName>
                                        </p:attrNameLst>
                                      </p:cBhvr>
                                      <p:tavLst>
                                        <p:tav tm="0">
                                          <p:val>
                                            <p:strVal val="#ppt_x-0.05"/>
                                          </p:val>
                                        </p:tav>
                                        <p:tav tm="100000">
                                          <p:val>
                                            <p:strVal val="#ppt_x"/>
                                          </p:val>
                                        </p:tav>
                                      </p:tavLst>
                                    </p:anim>
                                  </p:childTnLst>
                                </p:cTn>
                              </p:par>
                              <p:par>
                                <p:cTn id="33" presetID="42" presetClass="entr" presetSubtype="0" fill="hold" grpId="0" nodeType="withEffect">
                                  <p:stCondLst>
                                    <p:cond delay="15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ppt_x</p:attrName>
                                        </p:attrNameLst>
                                      </p:cBhvr>
                                      <p:tavLst>
                                        <p:tav tm="0">
                                          <p:val>
                                            <p:strVal val="#ppt_x-0.05"/>
                                          </p:val>
                                        </p:tav>
                                        <p:tav tm="100000">
                                          <p:val>
                                            <p:strVal val="#ppt_x"/>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ppt_x</p:attrName>
                                        </p:attrNameLst>
                                      </p:cBhvr>
                                      <p:tavLst>
                                        <p:tav tm="0">
                                          <p:val>
                                            <p:strVal val="#ppt_x-0.05"/>
                                          </p:val>
                                        </p:tav>
                                        <p:tav tm="100000">
                                          <p:val>
                                            <p:strVal val="#ppt_x"/>
                                          </p:val>
                                        </p:tav>
                                      </p:tavLst>
                                    </p:anim>
                                  </p:childTnLst>
                                </p:cTn>
                              </p:par>
                              <p:par>
                                <p:cTn id="43" presetID="42" presetClass="entr" presetSubtype="0" fill="hold" nodeType="withEffect">
                                  <p:stCondLst>
                                    <p:cond delay="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ppt_x</p:attrName>
                                        </p:attrNameLst>
                                      </p:cBhvr>
                                      <p:tavLst>
                                        <p:tav tm="0">
                                          <p:val>
                                            <p:strVal val="#ppt_x-0.05"/>
                                          </p:val>
                                        </p:tav>
                                        <p:tav tm="100000">
                                          <p:val>
                                            <p:strVal val="#ppt_x"/>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111"/>
                                        </p:tgtEl>
                                        <p:attrNameLst>
                                          <p:attrName>style.visibility</p:attrName>
                                        </p:attrNameLst>
                                      </p:cBhvr>
                                      <p:to>
                                        <p:strVal val="visible"/>
                                      </p:to>
                                    </p:set>
                                    <p:animEffect transition="in" filter="fade">
                                      <p:cBhvr>
                                        <p:cTn id="49" dur="500"/>
                                        <p:tgtEl>
                                          <p:spTgt spid="111"/>
                                        </p:tgtEl>
                                      </p:cBhvr>
                                    </p:animEffect>
                                    <p:anim calcmode="lin" valueType="num">
                                      <p:cBhvr additive="base">
                                        <p:cTn id="50" dur="500" decel="100000" fill="hold"/>
                                        <p:tgtEl>
                                          <p:spTgt spid="111"/>
                                        </p:tgtEl>
                                        <p:attrNameLst>
                                          <p:attrName>ppt_x</p:attrName>
                                        </p:attrNameLst>
                                      </p:cBhvr>
                                      <p:tavLst>
                                        <p:tav tm="0">
                                          <p:val>
                                            <p:strVal val="#ppt_x-0.05"/>
                                          </p:val>
                                        </p:tav>
                                        <p:tav tm="100000">
                                          <p:val>
                                            <p:strVal val="#ppt_x"/>
                                          </p:val>
                                        </p:tav>
                                      </p:tavLst>
                                    </p:anim>
                                  </p:childTnLst>
                                </p:cTn>
                              </p:par>
                              <p:par>
                                <p:cTn id="51" presetID="42" presetClass="entr" presetSubtype="0" fill="hold" grpId="0" nodeType="withEffect">
                                  <p:stCondLst>
                                    <p:cond delay="150"/>
                                  </p:stCondLst>
                                  <p:childTnLst>
                                    <p:set>
                                      <p:cBhvr>
                                        <p:cTn id="52" dur="1" fill="hold">
                                          <p:stCondLst>
                                            <p:cond delay="0"/>
                                          </p:stCondLst>
                                        </p:cTn>
                                        <p:tgtEl>
                                          <p:spTgt spid="112"/>
                                        </p:tgtEl>
                                        <p:attrNameLst>
                                          <p:attrName>style.visibility</p:attrName>
                                        </p:attrNameLst>
                                      </p:cBhvr>
                                      <p:to>
                                        <p:strVal val="visible"/>
                                      </p:to>
                                    </p:set>
                                    <p:animEffect transition="in" filter="fade">
                                      <p:cBhvr>
                                        <p:cTn id="53" dur="500"/>
                                        <p:tgtEl>
                                          <p:spTgt spid="112"/>
                                        </p:tgtEl>
                                      </p:cBhvr>
                                    </p:animEffect>
                                    <p:anim calcmode="lin" valueType="num">
                                      <p:cBhvr additive="base">
                                        <p:cTn id="54" dur="500" decel="100000" fill="hold"/>
                                        <p:tgtEl>
                                          <p:spTgt spid="112"/>
                                        </p:tgtEl>
                                        <p:attrNameLst>
                                          <p:attrName>ppt_x</p:attrName>
                                        </p:attrNameLst>
                                      </p:cBhvr>
                                      <p:tavLst>
                                        <p:tav tm="0">
                                          <p:val>
                                            <p:strVal val="#ppt_x-0.05"/>
                                          </p:val>
                                        </p:tav>
                                        <p:tav tm="100000">
                                          <p:val>
                                            <p:strVal val="#ppt_x"/>
                                          </p:val>
                                        </p:tav>
                                      </p:tavLst>
                                    </p:anim>
                                  </p:childTnLst>
                                </p:cTn>
                              </p:par>
                              <p:par>
                                <p:cTn id="55" presetID="42" presetClass="entr" presetSubtype="0" fill="hold" nodeType="withEffect">
                                  <p:stCondLst>
                                    <p:cond delay="150"/>
                                  </p:stCondLst>
                                  <p:childTnLst>
                                    <p:set>
                                      <p:cBhvr>
                                        <p:cTn id="56" dur="1" fill="hold">
                                          <p:stCondLst>
                                            <p:cond delay="0"/>
                                          </p:stCondLst>
                                        </p:cTn>
                                        <p:tgtEl>
                                          <p:spTgt spid="113"/>
                                        </p:tgtEl>
                                        <p:attrNameLst>
                                          <p:attrName>style.visibility</p:attrName>
                                        </p:attrNameLst>
                                      </p:cBhvr>
                                      <p:to>
                                        <p:strVal val="visible"/>
                                      </p:to>
                                    </p:set>
                                    <p:animEffect transition="in" filter="fade">
                                      <p:cBhvr>
                                        <p:cTn id="57" dur="500"/>
                                        <p:tgtEl>
                                          <p:spTgt spid="113"/>
                                        </p:tgtEl>
                                      </p:cBhvr>
                                    </p:animEffect>
                                    <p:anim calcmode="lin" valueType="num">
                                      <p:cBhvr additive="base">
                                        <p:cTn id="58" dur="500" decel="100000" fill="hold"/>
                                        <p:tgtEl>
                                          <p:spTgt spid="113"/>
                                        </p:tgtEl>
                                        <p:attrNameLst>
                                          <p:attrName>ppt_x</p:attrName>
                                        </p:attrNameLst>
                                      </p:cBhvr>
                                      <p:tavLst>
                                        <p:tav tm="0">
                                          <p:val>
                                            <p:strVal val="#ppt_x-0.05"/>
                                          </p:val>
                                        </p:tav>
                                        <p:tav tm="100000">
                                          <p:val>
                                            <p:strVal val="#ppt_x"/>
                                          </p:val>
                                        </p:tav>
                                      </p:tavLst>
                                    </p:anim>
                                  </p:childTnLst>
                                </p:cTn>
                              </p:par>
                              <p:par>
                                <p:cTn id="59" presetID="42" presetClass="entr" presetSubtype="0" fill="hold" grpId="0" nodeType="withEffect">
                                  <p:stCondLst>
                                    <p:cond delay="150"/>
                                  </p:stCondLst>
                                  <p:childTnLst>
                                    <p:set>
                                      <p:cBhvr>
                                        <p:cTn id="60" dur="1" fill="hold">
                                          <p:stCondLst>
                                            <p:cond delay="0"/>
                                          </p:stCondLst>
                                        </p:cTn>
                                        <p:tgtEl>
                                          <p:spTgt spid="114"/>
                                        </p:tgtEl>
                                        <p:attrNameLst>
                                          <p:attrName>style.visibility</p:attrName>
                                        </p:attrNameLst>
                                      </p:cBhvr>
                                      <p:to>
                                        <p:strVal val="visible"/>
                                      </p:to>
                                    </p:set>
                                    <p:animEffect transition="in" filter="fade">
                                      <p:cBhvr>
                                        <p:cTn id="61" dur="500"/>
                                        <p:tgtEl>
                                          <p:spTgt spid="114"/>
                                        </p:tgtEl>
                                      </p:cBhvr>
                                    </p:animEffect>
                                    <p:anim calcmode="lin" valueType="num">
                                      <p:cBhvr additive="base">
                                        <p:cTn id="62" dur="500" decel="100000" fill="hold"/>
                                        <p:tgtEl>
                                          <p:spTgt spid="114"/>
                                        </p:tgtEl>
                                        <p:attrNameLst>
                                          <p:attrName>ppt_x</p:attrName>
                                        </p:attrNameLst>
                                      </p:cBhvr>
                                      <p:tavLst>
                                        <p:tav tm="0">
                                          <p:val>
                                            <p:strVal val="#ppt_x-0.05"/>
                                          </p:val>
                                        </p:tav>
                                        <p:tav tm="100000">
                                          <p:val>
                                            <p:strVal val="#ppt_x"/>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115"/>
                                        </p:tgtEl>
                                        <p:attrNameLst>
                                          <p:attrName>style.visibility</p:attrName>
                                        </p:attrNameLst>
                                      </p:cBhvr>
                                      <p:to>
                                        <p:strVal val="visible"/>
                                      </p:to>
                                    </p:set>
                                    <p:animEffect transition="in" filter="fade">
                                      <p:cBhvr>
                                        <p:cTn id="67" dur="500"/>
                                        <p:tgtEl>
                                          <p:spTgt spid="115"/>
                                        </p:tgtEl>
                                      </p:cBhvr>
                                    </p:animEffect>
                                    <p:anim calcmode="lin" valueType="num">
                                      <p:cBhvr additive="base">
                                        <p:cTn id="68" dur="500" decel="100000" fill="hold"/>
                                        <p:tgtEl>
                                          <p:spTgt spid="115"/>
                                        </p:tgtEl>
                                        <p:attrNameLst>
                                          <p:attrName>ppt_x</p:attrName>
                                        </p:attrNameLst>
                                      </p:cBhvr>
                                      <p:tavLst>
                                        <p:tav tm="0">
                                          <p:val>
                                            <p:strVal val="#ppt_x-0.05"/>
                                          </p:val>
                                        </p:tav>
                                        <p:tav tm="100000">
                                          <p:val>
                                            <p:strVal val="#ppt_x"/>
                                          </p:val>
                                        </p:tav>
                                      </p:tavLst>
                                    </p:anim>
                                  </p:childTnLst>
                                </p:cTn>
                              </p:par>
                              <p:par>
                                <p:cTn id="69" presetID="42" presetClass="entr" presetSubtype="0" fill="hold" nodeType="withEffect">
                                  <p:stCondLst>
                                    <p:cond delay="0"/>
                                  </p:stCondLst>
                                  <p:childTnLst>
                                    <p:set>
                                      <p:cBhvr>
                                        <p:cTn id="70" dur="1" fill="hold">
                                          <p:stCondLst>
                                            <p:cond delay="0"/>
                                          </p:stCondLst>
                                        </p:cTn>
                                        <p:tgtEl>
                                          <p:spTgt spid="116"/>
                                        </p:tgtEl>
                                        <p:attrNameLst>
                                          <p:attrName>style.visibility</p:attrName>
                                        </p:attrNameLst>
                                      </p:cBhvr>
                                      <p:to>
                                        <p:strVal val="visible"/>
                                      </p:to>
                                    </p:set>
                                    <p:animEffect transition="in" filter="fade">
                                      <p:cBhvr>
                                        <p:cTn id="71" dur="500"/>
                                        <p:tgtEl>
                                          <p:spTgt spid="116"/>
                                        </p:tgtEl>
                                      </p:cBhvr>
                                    </p:animEffect>
                                    <p:anim calcmode="lin" valueType="num">
                                      <p:cBhvr additive="base">
                                        <p:cTn id="72" dur="500" decel="100000" fill="hold"/>
                                        <p:tgtEl>
                                          <p:spTgt spid="116"/>
                                        </p:tgtEl>
                                        <p:attrNameLst>
                                          <p:attrName>ppt_x</p:attrName>
                                        </p:attrNameLst>
                                      </p:cBhvr>
                                      <p:tavLst>
                                        <p:tav tm="0">
                                          <p:val>
                                            <p:strVal val="#ppt_x-0.05"/>
                                          </p:val>
                                        </p:tav>
                                        <p:tav tm="100000">
                                          <p:val>
                                            <p:strVal val="#ppt_x"/>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7"/>
                                        </p:tgtEl>
                                        <p:attrNameLst>
                                          <p:attrName>style.visibility</p:attrName>
                                        </p:attrNameLst>
                                      </p:cBhvr>
                                      <p:to>
                                        <p:strVal val="visible"/>
                                      </p:to>
                                    </p:set>
                                    <p:animEffect transition="in" filter="fade">
                                      <p:cBhvr>
                                        <p:cTn id="75" dur="500"/>
                                        <p:tgtEl>
                                          <p:spTgt spid="117"/>
                                        </p:tgtEl>
                                      </p:cBhvr>
                                    </p:animEffect>
                                    <p:anim calcmode="lin" valueType="num">
                                      <p:cBhvr additive="base">
                                        <p:cTn id="76" dur="500" decel="100000" fill="hold"/>
                                        <p:tgtEl>
                                          <p:spTgt spid="117"/>
                                        </p:tgtEl>
                                        <p:attrNameLst>
                                          <p:attrName>ppt_x</p:attrName>
                                        </p:attrNameLst>
                                      </p:cBhvr>
                                      <p:tavLst>
                                        <p:tav tm="0">
                                          <p:val>
                                            <p:strVal val="#ppt_x-0.05"/>
                                          </p:val>
                                        </p:tav>
                                        <p:tav tm="100000">
                                          <p:val>
                                            <p:strVal val="#ppt_x"/>
                                          </p:val>
                                        </p:tav>
                                      </p:tavLst>
                                    </p:anim>
                                  </p:childTnLst>
                                </p:cTn>
                              </p:par>
                              <p:par>
                                <p:cTn id="77" presetID="42" presetClass="entr" presetSubtype="0" fill="hold" grpId="0" nodeType="withEffect">
                                  <p:stCondLst>
                                    <p:cond delay="150"/>
                                  </p:stCondLst>
                                  <p:childTnLst>
                                    <p:set>
                                      <p:cBhvr>
                                        <p:cTn id="78" dur="1" fill="hold">
                                          <p:stCondLst>
                                            <p:cond delay="0"/>
                                          </p:stCondLst>
                                        </p:cTn>
                                        <p:tgtEl>
                                          <p:spTgt spid="118"/>
                                        </p:tgtEl>
                                        <p:attrNameLst>
                                          <p:attrName>style.visibility</p:attrName>
                                        </p:attrNameLst>
                                      </p:cBhvr>
                                      <p:to>
                                        <p:strVal val="visible"/>
                                      </p:to>
                                    </p:set>
                                    <p:animEffect transition="in" filter="fade">
                                      <p:cBhvr>
                                        <p:cTn id="79" dur="500"/>
                                        <p:tgtEl>
                                          <p:spTgt spid="118"/>
                                        </p:tgtEl>
                                      </p:cBhvr>
                                    </p:animEffect>
                                    <p:anim calcmode="lin" valueType="num">
                                      <p:cBhvr additive="base">
                                        <p:cTn id="80" dur="500" decel="100000" fill="hold"/>
                                        <p:tgtEl>
                                          <p:spTgt spid="118"/>
                                        </p:tgtEl>
                                        <p:attrNameLst>
                                          <p:attrName>ppt_x</p:attrName>
                                        </p:attrNameLst>
                                      </p:cBhvr>
                                      <p:tavLst>
                                        <p:tav tm="0">
                                          <p:val>
                                            <p:strVal val="#ppt_x-0.05"/>
                                          </p:val>
                                        </p:tav>
                                        <p:tav tm="100000">
                                          <p:val>
                                            <p:strVal val="#ppt_x"/>
                                          </p:val>
                                        </p:tav>
                                      </p:tavLst>
                                    </p:anim>
                                  </p:childTnLst>
                                </p:cTn>
                              </p:par>
                              <p:par>
                                <p:cTn id="81" presetID="42" presetClass="entr" presetSubtype="0" fill="hold" nodeType="withEffect">
                                  <p:stCondLst>
                                    <p:cond delay="150"/>
                                  </p:stCondLst>
                                  <p:childTnLst>
                                    <p:set>
                                      <p:cBhvr>
                                        <p:cTn id="82" dur="1" fill="hold">
                                          <p:stCondLst>
                                            <p:cond delay="0"/>
                                          </p:stCondLst>
                                        </p:cTn>
                                        <p:tgtEl>
                                          <p:spTgt spid="119"/>
                                        </p:tgtEl>
                                        <p:attrNameLst>
                                          <p:attrName>style.visibility</p:attrName>
                                        </p:attrNameLst>
                                      </p:cBhvr>
                                      <p:to>
                                        <p:strVal val="visible"/>
                                      </p:to>
                                    </p:set>
                                    <p:animEffect transition="in" filter="fade">
                                      <p:cBhvr>
                                        <p:cTn id="83" dur="500"/>
                                        <p:tgtEl>
                                          <p:spTgt spid="119"/>
                                        </p:tgtEl>
                                      </p:cBhvr>
                                    </p:animEffect>
                                    <p:anim calcmode="lin" valueType="num">
                                      <p:cBhvr additive="base">
                                        <p:cTn id="84" dur="500" decel="100000" fill="hold"/>
                                        <p:tgtEl>
                                          <p:spTgt spid="119"/>
                                        </p:tgtEl>
                                        <p:attrNameLst>
                                          <p:attrName>ppt_x</p:attrName>
                                        </p:attrNameLst>
                                      </p:cBhvr>
                                      <p:tavLst>
                                        <p:tav tm="0">
                                          <p:val>
                                            <p:strVal val="#ppt_x-0.05"/>
                                          </p:val>
                                        </p:tav>
                                        <p:tav tm="100000">
                                          <p:val>
                                            <p:strVal val="#ppt_x"/>
                                          </p:val>
                                        </p:tav>
                                      </p:tavLst>
                                    </p:anim>
                                  </p:childTnLst>
                                </p:cTn>
                              </p:par>
                              <p:par>
                                <p:cTn id="85" presetID="42" presetClass="entr" presetSubtype="0" fill="hold" grpId="0" nodeType="withEffect">
                                  <p:stCondLst>
                                    <p:cond delay="150"/>
                                  </p:stCondLst>
                                  <p:childTnLst>
                                    <p:set>
                                      <p:cBhvr>
                                        <p:cTn id="86" dur="1" fill="hold">
                                          <p:stCondLst>
                                            <p:cond delay="0"/>
                                          </p:stCondLst>
                                        </p:cTn>
                                        <p:tgtEl>
                                          <p:spTgt spid="120"/>
                                        </p:tgtEl>
                                        <p:attrNameLst>
                                          <p:attrName>style.visibility</p:attrName>
                                        </p:attrNameLst>
                                      </p:cBhvr>
                                      <p:to>
                                        <p:strVal val="visible"/>
                                      </p:to>
                                    </p:set>
                                    <p:animEffect transition="in" filter="fade">
                                      <p:cBhvr>
                                        <p:cTn id="87" dur="500"/>
                                        <p:tgtEl>
                                          <p:spTgt spid="120"/>
                                        </p:tgtEl>
                                      </p:cBhvr>
                                    </p:animEffect>
                                    <p:anim calcmode="lin" valueType="num">
                                      <p:cBhvr additive="base">
                                        <p:cTn id="88" dur="500" decel="100000" fill="hold"/>
                                        <p:tgtEl>
                                          <p:spTgt spid="120"/>
                                        </p:tgtEl>
                                        <p:attrNameLst>
                                          <p:attrName>ppt_x</p:attrName>
                                        </p:attrNameLst>
                                      </p:cBhvr>
                                      <p:tavLst>
                                        <p:tav tm="0">
                                          <p:val>
                                            <p:strVal val="#ppt_x-0.05"/>
                                          </p:val>
                                        </p:tav>
                                        <p:tav tm="100000">
                                          <p:val>
                                            <p:strVal val="#ppt_x"/>
                                          </p:val>
                                        </p:tav>
                                      </p:tavLst>
                                    </p:anim>
                                  </p:childTnLst>
                                </p:cTn>
                              </p:par>
                              <p:par>
                                <p:cTn id="89" presetID="42" presetClass="entr" presetSubtype="0" fill="hold" grpId="0" nodeType="withEffect">
                                  <p:stCondLst>
                                    <p:cond delay="300"/>
                                  </p:stCondLst>
                                  <p:childTnLst>
                                    <p:set>
                                      <p:cBhvr>
                                        <p:cTn id="90" dur="1" fill="hold">
                                          <p:stCondLst>
                                            <p:cond delay="0"/>
                                          </p:stCondLst>
                                        </p:cTn>
                                        <p:tgtEl>
                                          <p:spTgt spid="121"/>
                                        </p:tgtEl>
                                        <p:attrNameLst>
                                          <p:attrName>style.visibility</p:attrName>
                                        </p:attrNameLst>
                                      </p:cBhvr>
                                      <p:to>
                                        <p:strVal val="visible"/>
                                      </p:to>
                                    </p:set>
                                    <p:animEffect transition="in" filter="fade">
                                      <p:cBhvr>
                                        <p:cTn id="91" dur="500"/>
                                        <p:tgtEl>
                                          <p:spTgt spid="121"/>
                                        </p:tgtEl>
                                      </p:cBhvr>
                                    </p:animEffect>
                                    <p:anim calcmode="lin" valueType="num">
                                      <p:cBhvr additive="base">
                                        <p:cTn id="92" dur="500" decel="100000" fill="hold"/>
                                        <p:tgtEl>
                                          <p:spTgt spid="121"/>
                                        </p:tgtEl>
                                        <p:attrNameLst>
                                          <p:attrName>ppt_x</p:attrName>
                                        </p:attrNameLst>
                                      </p:cBhvr>
                                      <p:tavLst>
                                        <p:tav tm="0">
                                          <p:val>
                                            <p:strVal val="#ppt_x-0.05"/>
                                          </p:val>
                                        </p:tav>
                                        <p:tav tm="100000">
                                          <p:val>
                                            <p:strVal val="#ppt_x"/>
                                          </p:val>
                                        </p:tav>
                                      </p:tavLst>
                                    </p:anim>
                                  </p:childTnLst>
                                </p:cTn>
                              </p:par>
                              <p:par>
                                <p:cTn id="93" presetID="42" presetClass="entr" presetSubtype="0" fill="hold" nodeType="withEffect">
                                  <p:stCondLst>
                                    <p:cond delay="300"/>
                                  </p:stCondLst>
                                  <p:childTnLst>
                                    <p:set>
                                      <p:cBhvr>
                                        <p:cTn id="94" dur="1" fill="hold">
                                          <p:stCondLst>
                                            <p:cond delay="0"/>
                                          </p:stCondLst>
                                        </p:cTn>
                                        <p:tgtEl>
                                          <p:spTgt spid="122"/>
                                        </p:tgtEl>
                                        <p:attrNameLst>
                                          <p:attrName>style.visibility</p:attrName>
                                        </p:attrNameLst>
                                      </p:cBhvr>
                                      <p:to>
                                        <p:strVal val="visible"/>
                                      </p:to>
                                    </p:set>
                                    <p:animEffect transition="in" filter="fade">
                                      <p:cBhvr>
                                        <p:cTn id="95" dur="500"/>
                                        <p:tgtEl>
                                          <p:spTgt spid="122"/>
                                        </p:tgtEl>
                                      </p:cBhvr>
                                    </p:animEffect>
                                    <p:anim calcmode="lin" valueType="num">
                                      <p:cBhvr additive="base">
                                        <p:cTn id="96" dur="500" decel="100000" fill="hold"/>
                                        <p:tgtEl>
                                          <p:spTgt spid="122"/>
                                        </p:tgtEl>
                                        <p:attrNameLst>
                                          <p:attrName>ppt_x</p:attrName>
                                        </p:attrNameLst>
                                      </p:cBhvr>
                                      <p:tavLst>
                                        <p:tav tm="0">
                                          <p:val>
                                            <p:strVal val="#ppt_x-0.05"/>
                                          </p:val>
                                        </p:tav>
                                        <p:tav tm="100000">
                                          <p:val>
                                            <p:strVal val="#ppt_x"/>
                                          </p:val>
                                        </p:tav>
                                      </p:tavLst>
                                    </p:anim>
                                  </p:childTnLst>
                                </p:cTn>
                              </p:par>
                              <p:par>
                                <p:cTn id="97" presetID="42" presetClass="entr" presetSubtype="0" fill="hold" grpId="0" nodeType="withEffect">
                                  <p:stCondLst>
                                    <p:cond delay="300"/>
                                  </p:stCondLst>
                                  <p:childTnLst>
                                    <p:set>
                                      <p:cBhvr>
                                        <p:cTn id="98" dur="1" fill="hold">
                                          <p:stCondLst>
                                            <p:cond delay="0"/>
                                          </p:stCondLst>
                                        </p:cTn>
                                        <p:tgtEl>
                                          <p:spTgt spid="123"/>
                                        </p:tgtEl>
                                        <p:attrNameLst>
                                          <p:attrName>style.visibility</p:attrName>
                                        </p:attrNameLst>
                                      </p:cBhvr>
                                      <p:to>
                                        <p:strVal val="visible"/>
                                      </p:to>
                                    </p:set>
                                    <p:animEffect transition="in" filter="fade">
                                      <p:cBhvr>
                                        <p:cTn id="99" dur="500"/>
                                        <p:tgtEl>
                                          <p:spTgt spid="123"/>
                                        </p:tgtEl>
                                      </p:cBhvr>
                                    </p:animEffect>
                                    <p:anim calcmode="lin" valueType="num">
                                      <p:cBhvr additive="base">
                                        <p:cTn id="100" dur="500" decel="100000" fill="hold"/>
                                        <p:tgtEl>
                                          <p:spTgt spid="123"/>
                                        </p:tgtEl>
                                        <p:attrNameLst>
                                          <p:attrName>ppt_x</p:attrName>
                                        </p:attrNameLst>
                                      </p:cBhvr>
                                      <p:tavLst>
                                        <p:tav tm="0">
                                          <p:val>
                                            <p:strVal val="#ppt_x-0.05"/>
                                          </p:val>
                                        </p:tav>
                                        <p:tav tm="100000">
                                          <p:val>
                                            <p:strVal val="#ppt_x"/>
                                          </p:val>
                                        </p:tav>
                                      </p:tavLst>
                                    </p:anim>
                                  </p:childTnLst>
                                </p:cTn>
                              </p:par>
                            </p:childTnLst>
                          </p:cTn>
                        </p:par>
                      </p:childTnLst>
                    </p:cTn>
                  </p:par>
                  <p:par>
                    <p:cTn id="101" fill="hold">
                      <p:stCondLst>
                        <p:cond delay="indefinite"/>
                      </p:stCondLst>
                      <p:childTnLst>
                        <p:par>
                          <p:cTn id="102" fill="hold">
                            <p:stCondLst>
                              <p:cond delay="0"/>
                            </p:stCondLst>
                            <p:childTnLst>
                              <p:par>
                                <p:cTn id="103" presetID="42" presetClass="entr" presetSubtype="0" fill="hold" grpId="0" nodeType="clickEffect">
                                  <p:stCondLst>
                                    <p:cond delay="0"/>
                                  </p:stCondLst>
                                  <p:childTnLst>
                                    <p:set>
                                      <p:cBhvr>
                                        <p:cTn id="104" dur="1" fill="hold">
                                          <p:stCondLst>
                                            <p:cond delay="0"/>
                                          </p:stCondLst>
                                        </p:cTn>
                                        <p:tgtEl>
                                          <p:spTgt spid="124"/>
                                        </p:tgtEl>
                                        <p:attrNameLst>
                                          <p:attrName>style.visibility</p:attrName>
                                        </p:attrNameLst>
                                      </p:cBhvr>
                                      <p:to>
                                        <p:strVal val="visible"/>
                                      </p:to>
                                    </p:set>
                                    <p:animEffect transition="in" filter="fade">
                                      <p:cBhvr>
                                        <p:cTn id="105" dur="500"/>
                                        <p:tgtEl>
                                          <p:spTgt spid="124"/>
                                        </p:tgtEl>
                                      </p:cBhvr>
                                    </p:animEffect>
                                    <p:anim calcmode="lin" valueType="num">
                                      <p:cBhvr additive="base">
                                        <p:cTn id="106" dur="500" decel="100000" fill="hold"/>
                                        <p:tgtEl>
                                          <p:spTgt spid="124"/>
                                        </p:tgtEl>
                                        <p:attrNameLst>
                                          <p:attrName>ppt_x</p:attrName>
                                        </p:attrNameLst>
                                      </p:cBhvr>
                                      <p:tavLst>
                                        <p:tav tm="0">
                                          <p:val>
                                            <p:strVal val="#ppt_x-0.05"/>
                                          </p:val>
                                        </p:tav>
                                        <p:tav tm="100000">
                                          <p:val>
                                            <p:strVal val="#ppt_x"/>
                                          </p:val>
                                        </p:tav>
                                      </p:tavLst>
                                    </p:anim>
                                  </p:childTnLst>
                                </p:cTn>
                              </p:par>
                              <p:par>
                                <p:cTn id="107" presetID="42" presetClass="entr" presetSubtype="0" fill="hold" nodeType="withEffect">
                                  <p:stCondLst>
                                    <p:cond delay="0"/>
                                  </p:stCondLst>
                                  <p:childTnLst>
                                    <p:set>
                                      <p:cBhvr>
                                        <p:cTn id="108" dur="1" fill="hold">
                                          <p:stCondLst>
                                            <p:cond delay="0"/>
                                          </p:stCondLst>
                                        </p:cTn>
                                        <p:tgtEl>
                                          <p:spTgt spid="125"/>
                                        </p:tgtEl>
                                        <p:attrNameLst>
                                          <p:attrName>style.visibility</p:attrName>
                                        </p:attrNameLst>
                                      </p:cBhvr>
                                      <p:to>
                                        <p:strVal val="visible"/>
                                      </p:to>
                                    </p:set>
                                    <p:animEffect transition="in" filter="fade">
                                      <p:cBhvr>
                                        <p:cTn id="109" dur="500"/>
                                        <p:tgtEl>
                                          <p:spTgt spid="125"/>
                                        </p:tgtEl>
                                      </p:cBhvr>
                                    </p:animEffect>
                                    <p:anim calcmode="lin" valueType="num">
                                      <p:cBhvr additive="base">
                                        <p:cTn id="110" dur="500" decel="100000" fill="hold"/>
                                        <p:tgtEl>
                                          <p:spTgt spid="125"/>
                                        </p:tgtEl>
                                        <p:attrNameLst>
                                          <p:attrName>ppt_x</p:attrName>
                                        </p:attrNameLst>
                                      </p:cBhvr>
                                      <p:tavLst>
                                        <p:tav tm="0">
                                          <p:val>
                                            <p:strVal val="#ppt_x-0.05"/>
                                          </p:val>
                                        </p:tav>
                                        <p:tav tm="100000">
                                          <p:val>
                                            <p:strVal val="#ppt_x"/>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6"/>
                                        </p:tgtEl>
                                        <p:attrNameLst>
                                          <p:attrName>style.visibility</p:attrName>
                                        </p:attrNameLst>
                                      </p:cBhvr>
                                      <p:to>
                                        <p:strVal val="visible"/>
                                      </p:to>
                                    </p:set>
                                    <p:animEffect transition="in" filter="fade">
                                      <p:cBhvr>
                                        <p:cTn id="113" dur="500"/>
                                        <p:tgtEl>
                                          <p:spTgt spid="126"/>
                                        </p:tgtEl>
                                      </p:cBhvr>
                                    </p:animEffect>
                                    <p:anim calcmode="lin" valueType="num">
                                      <p:cBhvr additive="base">
                                        <p:cTn id="114" dur="500" decel="100000" fill="hold"/>
                                        <p:tgtEl>
                                          <p:spTgt spid="126"/>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5" grpId="0" animBg="1"/>
      <p:bldP spid="106" grpId="0" animBg="1"/>
      <p:bldP spid="108" grpId="0" animBg="1"/>
      <p:bldP spid="109" grpId="0" animBg="1"/>
      <p:bldP spid="111" grpId="0" animBg="1"/>
      <p:bldP spid="112" grpId="0" animBg="1"/>
      <p:bldP spid="114" grpId="0" animBg="1"/>
      <p:bldP spid="115" grpId="0" animBg="1"/>
      <p:bldP spid="117" grpId="0" animBg="1"/>
      <p:bldP spid="118" grpId="0" animBg="1"/>
      <p:bldP spid="120" grpId="0" animBg="1"/>
      <p:bldP spid="121" grpId="0" animBg="1"/>
      <p:bldP spid="123" grpId="0" animBg="1"/>
      <p:bldP spid="124" grpId="0" animBg="1"/>
      <p:bldP spid="126"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SHOULDLY · 1</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Example 1: Numbers and Equality</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134</a:t>
            </a:r>
            <a:endParaRPr lang="en-US" sz="850" dirty="0"/>
          </a:p>
        </p:txBody>
      </p:sp>
      <p:sp>
        <p:nvSpPr>
          <p:cNvPr id="101" name="s101"/>
          <p:cNvSpPr/>
          <p:nvPr/>
        </p:nvSpPr>
        <p:spPr>
          <a:xfrm>
            <a:off x="543154" y="1783080"/>
            <a:ext cx="6400800" cy="3886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675181"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BankAccountTests.cs</a:t>
            </a:r>
            <a:endParaRPr lang="en-US" sz="950" dirty="0"/>
          </a:p>
        </p:txBody>
      </p:sp>
      <p:cxnSp>
        <p:nvCxnSpPr>
          <p:cNvPr id="106" name="ln106"/>
          <p:cNvCxnSpPr/>
          <p:nvPr/>
        </p:nvCxnSpPr>
        <p:spPr>
          <a:xfrm>
            <a:off x="543154" y="2194560"/>
            <a:ext cx="6400800" cy="0"/>
          </a:xfrm>
          <a:prstGeom prst="line">
            <a:avLst/>
          </a:prstGeom>
          <a:ln w="9525">
            <a:solidFill>
              <a:srgbClr val="1E3A5F"/>
            </a:solidFill>
          </a:ln>
        </p:spPr>
      </p:cxnSp>
      <p:sp>
        <p:nvSpPr>
          <p:cNvPr id="107" name="s107"/>
          <p:cNvSpPr/>
          <p:nvPr/>
        </p:nvSpPr>
        <p:spPr>
          <a:xfrm>
            <a:off x="543154" y="231343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FBBF24"/>
                </a:solidFill>
                <a:latin typeface="Consolas"/>
                <a:ea typeface="Consolas"/>
                <a:cs typeface="Consolas"/>
              </a:rPr>
              <a:t>[Fact]</a:t>
            </a:r>
            <a:endParaRPr lang="en-US" sz="900" dirty="0"/>
          </a:p>
        </p:txBody>
      </p:sp>
      <p:sp>
        <p:nvSpPr>
          <p:cNvPr id="108" name="s108"/>
          <p:cNvSpPr/>
          <p:nvPr/>
        </p:nvSpPr>
        <p:spPr>
          <a:xfrm>
            <a:off x="543154" y="245059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void</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Deposit_TwoTimes_AddsBoth</a:t>
            </a:r>
            <a:r>
              <a:rPr lang="en-US" sz="900" b="0" dirty="0">
                <a:solidFill>
                  <a:srgbClr val="E2E8F0"/>
                </a:solidFill>
                <a:latin typeface="Consolas"/>
                <a:ea typeface="Consolas"/>
                <a:cs typeface="Consolas"/>
              </a:rPr>
              <a:t>()</a:t>
            </a:r>
            <a:endParaRPr lang="en-US" sz="900" dirty="0"/>
          </a:p>
        </p:txBody>
      </p:sp>
      <p:sp>
        <p:nvSpPr>
          <p:cNvPr id="109" name="s109"/>
          <p:cNvSpPr/>
          <p:nvPr/>
        </p:nvSpPr>
        <p:spPr>
          <a:xfrm>
            <a:off x="543154" y="258775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10" name="s110"/>
          <p:cNvSpPr/>
          <p:nvPr/>
        </p:nvSpPr>
        <p:spPr>
          <a:xfrm>
            <a:off x="543154" y="272491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var</a:t>
            </a:r>
            <a:r>
              <a:rPr lang="en-US" sz="900" b="0" dirty="0">
                <a:solidFill>
                  <a:srgbClr val="E2E8F0"/>
                </a:solidFill>
                <a:latin typeface="Consolas"/>
                <a:ea typeface="Consolas"/>
                <a:cs typeface="Consolas"/>
              </a:rPr>
              <a:t> account = </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BankAccount</a:t>
            </a:r>
            <a:r>
              <a:rPr lang="en-US" sz="900" b="0" dirty="0">
                <a:solidFill>
                  <a:srgbClr val="E2E8F0"/>
                </a:solidFill>
                <a:latin typeface="Consolas"/>
                <a:ea typeface="Consolas"/>
                <a:cs typeface="Consolas"/>
              </a:rPr>
              <a:t>(</a:t>
            </a:r>
            <a:r>
              <a:rPr lang="en-US" sz="900" b="0" dirty="0">
                <a:solidFill>
                  <a:srgbClr val="F0A98B"/>
                </a:solidFill>
                <a:latin typeface="Consolas"/>
                <a:ea typeface="Consolas"/>
                <a:cs typeface="Consolas"/>
              </a:rPr>
              <a:t>"mona@bank.eg"</a:t>
            </a:r>
            <a:r>
              <a:rPr lang="en-US" sz="900" b="0" dirty="0">
                <a:solidFill>
                  <a:srgbClr val="E2E8F0"/>
                </a:solidFill>
                <a:latin typeface="Consolas"/>
                <a:ea typeface="Consolas"/>
                <a:cs typeface="Consolas"/>
              </a:rPr>
              <a:t>);</a:t>
            </a:r>
            <a:endParaRPr lang="en-US" sz="900" dirty="0"/>
          </a:p>
        </p:txBody>
      </p:sp>
      <p:sp>
        <p:nvSpPr>
          <p:cNvPr id="111" name="s111"/>
          <p:cNvSpPr/>
          <p:nvPr/>
        </p:nvSpPr>
        <p:spPr>
          <a:xfrm>
            <a:off x="543154" y="286207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account.</a:t>
            </a:r>
            <a:r>
              <a:rPr lang="en-US" sz="900" b="0" dirty="0">
                <a:solidFill>
                  <a:srgbClr val="7DD3FC"/>
                </a:solidFill>
                <a:latin typeface="Consolas"/>
                <a:ea typeface="Consolas"/>
                <a:cs typeface="Consolas"/>
              </a:rPr>
              <a:t>Deposit</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100m</a:t>
            </a:r>
            <a:r>
              <a:rPr lang="en-US" sz="900" b="0" dirty="0">
                <a:solidFill>
                  <a:srgbClr val="E2E8F0"/>
                </a:solidFill>
                <a:latin typeface="Consolas"/>
                <a:ea typeface="Consolas"/>
                <a:cs typeface="Consolas"/>
              </a:rPr>
              <a:t>);</a:t>
            </a:r>
            <a:endParaRPr lang="en-US" sz="900" dirty="0"/>
          </a:p>
        </p:txBody>
      </p:sp>
      <p:sp>
        <p:nvSpPr>
          <p:cNvPr id="112" name="s112"/>
          <p:cNvSpPr/>
          <p:nvPr/>
        </p:nvSpPr>
        <p:spPr>
          <a:xfrm>
            <a:off x="543154" y="299923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account.</a:t>
            </a:r>
            <a:r>
              <a:rPr lang="en-US" sz="900" b="0" dirty="0">
                <a:solidFill>
                  <a:srgbClr val="7DD3FC"/>
                </a:solidFill>
                <a:latin typeface="Consolas"/>
                <a:ea typeface="Consolas"/>
                <a:cs typeface="Consolas"/>
              </a:rPr>
              <a:t>Deposit</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50m</a:t>
            </a:r>
            <a:r>
              <a:rPr lang="en-US" sz="900" b="0" dirty="0">
                <a:solidFill>
                  <a:srgbClr val="E2E8F0"/>
                </a:solidFill>
                <a:latin typeface="Consolas"/>
                <a:ea typeface="Consolas"/>
                <a:cs typeface="Consolas"/>
              </a:rPr>
              <a:t>);</a:t>
            </a:r>
            <a:endParaRPr lang="en-US" sz="900" dirty="0"/>
          </a:p>
        </p:txBody>
      </p:sp>
      <p:sp>
        <p:nvSpPr>
          <p:cNvPr id="113" name="s113"/>
          <p:cNvSpPr/>
          <p:nvPr/>
        </p:nvSpPr>
        <p:spPr>
          <a:xfrm>
            <a:off x="543154" y="327355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account.</a:t>
            </a:r>
            <a:r>
              <a:rPr lang="en-US" sz="900" b="0" dirty="0">
                <a:solidFill>
                  <a:srgbClr val="7DD3FC"/>
                </a:solidFill>
                <a:latin typeface="Consolas"/>
                <a:ea typeface="Consolas"/>
                <a:cs typeface="Consolas"/>
              </a:rPr>
              <a:t>Balance</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ShouldBe</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150m</a:t>
            </a:r>
            <a:r>
              <a:rPr lang="en-US" sz="900" b="0" dirty="0">
                <a:solidFill>
                  <a:srgbClr val="E2E8F0"/>
                </a:solidFill>
                <a:latin typeface="Consolas"/>
                <a:ea typeface="Consolas"/>
                <a:cs typeface="Consolas"/>
              </a:rPr>
              <a:t>);</a:t>
            </a:r>
            <a:endParaRPr lang="en-US" sz="900" dirty="0"/>
          </a:p>
        </p:txBody>
      </p:sp>
      <p:sp>
        <p:nvSpPr>
          <p:cNvPr id="114" name="s114"/>
          <p:cNvSpPr/>
          <p:nvPr/>
        </p:nvSpPr>
        <p:spPr>
          <a:xfrm>
            <a:off x="543154" y="341071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account.</a:t>
            </a:r>
            <a:r>
              <a:rPr lang="en-US" sz="900" b="0" dirty="0">
                <a:solidFill>
                  <a:srgbClr val="7DD3FC"/>
                </a:solidFill>
                <a:latin typeface="Consolas"/>
                <a:ea typeface="Consolas"/>
                <a:cs typeface="Consolas"/>
              </a:rPr>
              <a:t>Balance</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ShouldBe</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150m</a:t>
            </a:r>
            <a:r>
              <a:rPr lang="en-US" sz="900" b="0" dirty="0">
                <a:solidFill>
                  <a:srgbClr val="E2E8F0"/>
                </a:solidFill>
                <a:latin typeface="Consolas"/>
                <a:ea typeface="Consolas"/>
                <a:cs typeface="Consolas"/>
              </a:rPr>
              <a:t>, </a:t>
            </a:r>
            <a:r>
              <a:rPr lang="en-US" sz="900" b="0" dirty="0">
                <a:solidFill>
                  <a:srgbClr val="F0A98B"/>
                </a:solidFill>
                <a:latin typeface="Consolas"/>
                <a:ea typeface="Consolas"/>
                <a:cs typeface="Consolas"/>
              </a:rPr>
              <a:t>"after two deposits"</a:t>
            </a:r>
            <a:r>
              <a:rPr lang="en-US" sz="900" b="0" dirty="0">
                <a:solidFill>
                  <a:srgbClr val="E2E8F0"/>
                </a:solidFill>
                <a:latin typeface="Consolas"/>
                <a:ea typeface="Consolas"/>
                <a:cs typeface="Consolas"/>
              </a:rPr>
              <a:t>);  </a:t>
            </a:r>
            <a:r>
              <a:rPr lang="en-US" sz="900" b="0" dirty="0">
                <a:solidFill>
                  <a:srgbClr val="6FAE7A"/>
                </a:solidFill>
                <a:latin typeface="Consolas"/>
                <a:ea typeface="Consolas"/>
                <a:cs typeface="Consolas"/>
              </a:rPr>
              <a:t>// your message</a:t>
            </a:r>
            <a:endParaRPr lang="en-US" sz="900" dirty="0"/>
          </a:p>
        </p:txBody>
      </p:sp>
      <p:sp>
        <p:nvSpPr>
          <p:cNvPr id="115" name="s115"/>
          <p:cNvSpPr/>
          <p:nvPr/>
        </p:nvSpPr>
        <p:spPr>
          <a:xfrm>
            <a:off x="543154" y="354787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account.</a:t>
            </a:r>
            <a:r>
              <a:rPr lang="en-US" sz="900" b="0" dirty="0">
                <a:solidFill>
                  <a:srgbClr val="7DD3FC"/>
                </a:solidFill>
                <a:latin typeface="Consolas"/>
                <a:ea typeface="Consolas"/>
                <a:cs typeface="Consolas"/>
              </a:rPr>
              <a:t>Balance</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ShouldBePositive</a:t>
            </a:r>
            <a:r>
              <a:rPr lang="en-US" sz="900" b="0" dirty="0">
                <a:solidFill>
                  <a:srgbClr val="E2E8F0"/>
                </a:solidFill>
                <a:latin typeface="Consolas"/>
                <a:ea typeface="Consolas"/>
                <a:cs typeface="Consolas"/>
              </a:rPr>
              <a:t>();</a:t>
            </a:r>
            <a:endParaRPr lang="en-US" sz="900" dirty="0"/>
          </a:p>
        </p:txBody>
      </p:sp>
      <p:sp>
        <p:nvSpPr>
          <p:cNvPr id="116" name="s116"/>
          <p:cNvSpPr/>
          <p:nvPr/>
        </p:nvSpPr>
        <p:spPr>
          <a:xfrm>
            <a:off x="543154" y="368503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17" name="s117"/>
          <p:cNvSpPr/>
          <p:nvPr/>
        </p:nvSpPr>
        <p:spPr>
          <a:xfrm>
            <a:off x="543154" y="395935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FBBF24"/>
                </a:solidFill>
                <a:latin typeface="Consolas"/>
                <a:ea typeface="Consolas"/>
                <a:cs typeface="Consolas"/>
              </a:rPr>
              <a:t>[Fact]</a:t>
            </a:r>
            <a:endParaRPr lang="en-US" sz="900" dirty="0"/>
          </a:p>
        </p:txBody>
      </p:sp>
      <p:sp>
        <p:nvSpPr>
          <p:cNvPr id="118" name="s118"/>
          <p:cNvSpPr/>
          <p:nvPr/>
        </p:nvSpPr>
        <p:spPr>
          <a:xfrm>
            <a:off x="543154" y="409651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void</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PriceFor_AnyAge_IsBetween60And120</a:t>
            </a:r>
            <a:r>
              <a:rPr lang="en-US" sz="900" b="0" dirty="0">
                <a:solidFill>
                  <a:srgbClr val="E2E8F0"/>
                </a:solidFill>
                <a:latin typeface="Consolas"/>
                <a:ea typeface="Consolas"/>
                <a:cs typeface="Consolas"/>
              </a:rPr>
              <a:t>()</a:t>
            </a:r>
            <a:endParaRPr lang="en-US" sz="900" dirty="0"/>
          </a:p>
        </p:txBody>
      </p:sp>
      <p:sp>
        <p:nvSpPr>
          <p:cNvPr id="119" name="s119"/>
          <p:cNvSpPr/>
          <p:nvPr/>
        </p:nvSpPr>
        <p:spPr>
          <a:xfrm>
            <a:off x="543154" y="423367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20" name="s120"/>
          <p:cNvSpPr/>
          <p:nvPr/>
        </p:nvSpPr>
        <p:spPr>
          <a:xfrm>
            <a:off x="543154" y="437083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TicketPricer</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PriceFor</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30</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ShouldBeInRange</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60m</a:t>
            </a:r>
            <a:r>
              <a:rPr lang="en-US" sz="900" b="0" dirty="0">
                <a:solidFill>
                  <a:srgbClr val="E2E8F0"/>
                </a:solidFill>
                <a:latin typeface="Consolas"/>
                <a:ea typeface="Consolas"/>
                <a:cs typeface="Consolas"/>
              </a:rPr>
              <a:t>, </a:t>
            </a:r>
            <a:r>
              <a:rPr lang="en-US" sz="900" b="0" dirty="0">
                <a:solidFill>
                  <a:srgbClr val="C4B5FD"/>
                </a:solidFill>
                <a:latin typeface="Consolas"/>
                <a:ea typeface="Consolas"/>
                <a:cs typeface="Consolas"/>
              </a:rPr>
              <a:t>120m</a:t>
            </a:r>
            <a:r>
              <a:rPr lang="en-US" sz="900" b="0" dirty="0">
                <a:solidFill>
                  <a:srgbClr val="E2E8F0"/>
                </a:solidFill>
                <a:latin typeface="Consolas"/>
                <a:ea typeface="Consolas"/>
                <a:cs typeface="Consolas"/>
              </a:rPr>
              <a:t>);</a:t>
            </a:r>
            <a:endParaRPr lang="en-US" sz="900" dirty="0"/>
          </a:p>
        </p:txBody>
      </p:sp>
      <p:sp>
        <p:nvSpPr>
          <p:cNvPr id="121" name="s121"/>
          <p:cNvSpPr/>
          <p:nvPr/>
        </p:nvSpPr>
        <p:spPr>
          <a:xfrm>
            <a:off x="543154" y="450799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TicketPricer</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PriceFor</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70</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ShouldBeLessThan</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120m</a:t>
            </a:r>
            <a:r>
              <a:rPr lang="en-US" sz="900" b="0" dirty="0">
                <a:solidFill>
                  <a:srgbClr val="E2E8F0"/>
                </a:solidFill>
                <a:latin typeface="Consolas"/>
                <a:ea typeface="Consolas"/>
                <a:cs typeface="Consolas"/>
              </a:rPr>
              <a:t>);</a:t>
            </a:r>
            <a:endParaRPr lang="en-US" sz="900" dirty="0"/>
          </a:p>
        </p:txBody>
      </p:sp>
      <p:sp>
        <p:nvSpPr>
          <p:cNvPr id="122" name="s122"/>
          <p:cNvSpPr/>
          <p:nvPr/>
        </p:nvSpPr>
        <p:spPr>
          <a:xfrm>
            <a:off x="543154" y="464515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PriceCalculator</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WithDiscount</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1000m</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ShouldBeGreaterThanOrEqualTo</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950m</a:t>
            </a:r>
            <a:r>
              <a:rPr lang="en-US" sz="900" b="0" dirty="0">
                <a:solidFill>
                  <a:srgbClr val="E2E8F0"/>
                </a:solidFill>
                <a:latin typeface="Consolas"/>
                <a:ea typeface="Consolas"/>
                <a:cs typeface="Consolas"/>
              </a:rPr>
              <a:t>);</a:t>
            </a:r>
            <a:endParaRPr lang="en-US" sz="900" dirty="0"/>
          </a:p>
        </p:txBody>
      </p:sp>
      <p:sp>
        <p:nvSpPr>
          <p:cNvPr id="123" name="s123"/>
          <p:cNvSpPr/>
          <p:nvPr/>
        </p:nvSpPr>
        <p:spPr>
          <a:xfrm>
            <a:off x="543154" y="478231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24" name="s124"/>
          <p:cNvSpPr/>
          <p:nvPr/>
        </p:nvSpPr>
        <p:spPr>
          <a:xfrm>
            <a:off x="543154" y="505663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FBBF24"/>
                </a:solidFill>
                <a:latin typeface="Consolas"/>
                <a:ea typeface="Consolas"/>
                <a:cs typeface="Consolas"/>
              </a:rPr>
              <a:t>[Fact]</a:t>
            </a:r>
            <a:endParaRPr lang="en-US" sz="900" dirty="0"/>
          </a:p>
        </p:txBody>
      </p:sp>
      <p:sp>
        <p:nvSpPr>
          <p:cNvPr id="125" name="s125"/>
          <p:cNvSpPr/>
          <p:nvPr/>
        </p:nvSpPr>
        <p:spPr>
          <a:xfrm>
            <a:off x="543154" y="519379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void</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Pi_IsCloseEnough</a:t>
            </a:r>
            <a:r>
              <a:rPr lang="en-US" sz="900" b="0" dirty="0">
                <a:solidFill>
                  <a:srgbClr val="E2E8F0"/>
                </a:solidFill>
                <a:latin typeface="Consolas"/>
                <a:ea typeface="Consolas"/>
                <a:cs typeface="Consolas"/>
              </a:rPr>
              <a:t>() =&gt;</a:t>
            </a:r>
            <a:endParaRPr lang="en-US" sz="900" dirty="0"/>
          </a:p>
        </p:txBody>
      </p:sp>
      <p:sp>
        <p:nvSpPr>
          <p:cNvPr id="126" name="s126"/>
          <p:cNvSpPr/>
          <p:nvPr/>
        </p:nvSpPr>
        <p:spPr>
          <a:xfrm>
            <a:off x="543154" y="5330952"/>
            <a:ext cx="6400800"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Math</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Round</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Math</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PI</a:t>
            </a:r>
            <a:r>
              <a:rPr lang="en-US" sz="900" b="0" dirty="0">
                <a:solidFill>
                  <a:srgbClr val="E2E8F0"/>
                </a:solidFill>
                <a:latin typeface="Consolas"/>
                <a:ea typeface="Consolas"/>
                <a:cs typeface="Consolas"/>
              </a:rPr>
              <a:t>, </a:t>
            </a:r>
            <a:r>
              <a:rPr lang="en-US" sz="900" b="0" dirty="0">
                <a:solidFill>
                  <a:srgbClr val="C4B5FD"/>
                </a:solidFill>
                <a:latin typeface="Consolas"/>
                <a:ea typeface="Consolas"/>
                <a:cs typeface="Consolas"/>
              </a:rPr>
              <a:t>2</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ShouldBe</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3.14</a:t>
            </a:r>
            <a:r>
              <a:rPr lang="en-US" sz="900" b="0" dirty="0">
                <a:solidFill>
                  <a:srgbClr val="E2E8F0"/>
                </a:solidFill>
                <a:latin typeface="Consolas"/>
                <a:ea typeface="Consolas"/>
                <a:cs typeface="Consolas"/>
              </a:rPr>
              <a:t>, tolerance: </a:t>
            </a:r>
            <a:r>
              <a:rPr lang="en-US" sz="900" b="0" dirty="0">
                <a:solidFill>
                  <a:srgbClr val="C4B5FD"/>
                </a:solidFill>
                <a:latin typeface="Consolas"/>
                <a:ea typeface="Consolas"/>
                <a:cs typeface="Consolas"/>
              </a:rPr>
              <a:t>0.001</a:t>
            </a:r>
            <a:r>
              <a:rPr lang="en-US" sz="900" b="0" dirty="0">
                <a:solidFill>
                  <a:srgbClr val="E2E8F0"/>
                </a:solidFill>
                <a:latin typeface="Consolas"/>
                <a:ea typeface="Consolas"/>
                <a:cs typeface="Consolas"/>
              </a:rPr>
              <a:t>);   </a:t>
            </a:r>
            <a:r>
              <a:rPr lang="en-US" sz="900" b="0" dirty="0">
                <a:solidFill>
                  <a:srgbClr val="6FAE7A"/>
                </a:solidFill>
                <a:latin typeface="Consolas"/>
                <a:ea typeface="Consolas"/>
                <a:cs typeface="Consolas"/>
              </a:rPr>
              <a:t>// double</a:t>
            </a:r>
            <a:endParaRPr lang="en-US" sz="900" dirty="0"/>
          </a:p>
        </p:txBody>
      </p:sp>
      <p:sp>
        <p:nvSpPr>
          <p:cNvPr id="127" name="s127"/>
          <p:cNvSpPr/>
          <p:nvPr/>
        </p:nvSpPr>
        <p:spPr>
          <a:xfrm>
            <a:off x="7172554" y="1783080"/>
            <a:ext cx="4458614" cy="173736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28" name="s128"/>
          <p:cNvSpPr/>
          <p:nvPr/>
        </p:nvSpPr>
        <p:spPr>
          <a:xfrm>
            <a:off x="73371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9" name="s129"/>
          <p:cNvSpPr/>
          <p:nvPr/>
        </p:nvSpPr>
        <p:spPr>
          <a:xfrm>
            <a:off x="75200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30" name="s130"/>
          <p:cNvSpPr/>
          <p:nvPr/>
        </p:nvSpPr>
        <p:spPr>
          <a:xfrm>
            <a:off x="77029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31" name="s131"/>
          <p:cNvSpPr/>
          <p:nvPr/>
        </p:nvSpPr>
        <p:spPr>
          <a:xfrm>
            <a:off x="7949794" y="1856232"/>
            <a:ext cx="2673706"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If Deposit forgot the second call</a:t>
            </a:r>
            <a:endParaRPr lang="en-US" sz="950" dirty="0"/>
          </a:p>
        </p:txBody>
      </p:sp>
      <p:cxnSp>
        <p:nvCxnSpPr>
          <p:cNvPr id="132" name="ln132"/>
          <p:cNvCxnSpPr/>
          <p:nvPr/>
        </p:nvCxnSpPr>
        <p:spPr>
          <a:xfrm>
            <a:off x="7172554" y="2194560"/>
            <a:ext cx="4458614" cy="0"/>
          </a:xfrm>
          <a:prstGeom prst="line">
            <a:avLst/>
          </a:prstGeom>
          <a:ln w="9525">
            <a:solidFill>
              <a:srgbClr val="1E3A5F"/>
            </a:solidFill>
          </a:ln>
        </p:spPr>
      </p:cxnSp>
      <p:sp>
        <p:nvSpPr>
          <p:cNvPr id="133" name="s133"/>
          <p:cNvSpPr/>
          <p:nvPr/>
        </p:nvSpPr>
        <p:spPr>
          <a:xfrm>
            <a:off x="7172554" y="2313432"/>
            <a:ext cx="445861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account.Balance</a:t>
            </a:r>
            <a:endParaRPr lang="en-US" sz="900" dirty="0"/>
          </a:p>
        </p:txBody>
      </p:sp>
      <p:sp>
        <p:nvSpPr>
          <p:cNvPr id="134" name="s134"/>
          <p:cNvSpPr/>
          <p:nvPr/>
        </p:nvSpPr>
        <p:spPr>
          <a:xfrm>
            <a:off x="7172554" y="2450592"/>
            <a:ext cx="445861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F87171"/>
                </a:solidFill>
                <a:latin typeface="Consolas"/>
                <a:ea typeface="Consolas"/>
                <a:cs typeface="Consolas"/>
              </a:rPr>
              <a:t>    should be</a:t>
            </a:r>
            <a:endParaRPr lang="en-US" sz="900" dirty="0"/>
          </a:p>
        </p:txBody>
      </p:sp>
      <p:sp>
        <p:nvSpPr>
          <p:cNvPr id="135" name="s135"/>
          <p:cNvSpPr/>
          <p:nvPr/>
        </p:nvSpPr>
        <p:spPr>
          <a:xfrm>
            <a:off x="7172554" y="2587752"/>
            <a:ext cx="445861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150m</a:t>
            </a:r>
            <a:endParaRPr lang="en-US" sz="900" dirty="0"/>
          </a:p>
        </p:txBody>
      </p:sp>
      <p:sp>
        <p:nvSpPr>
          <p:cNvPr id="136" name="s136"/>
          <p:cNvSpPr/>
          <p:nvPr/>
        </p:nvSpPr>
        <p:spPr>
          <a:xfrm>
            <a:off x="7172554" y="2724912"/>
            <a:ext cx="445861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F87171"/>
                </a:solidFill>
                <a:latin typeface="Consolas"/>
                <a:ea typeface="Consolas"/>
                <a:cs typeface="Consolas"/>
              </a:rPr>
              <a:t>    but was</a:t>
            </a:r>
            <a:endParaRPr lang="en-US" sz="900" dirty="0"/>
          </a:p>
        </p:txBody>
      </p:sp>
      <p:sp>
        <p:nvSpPr>
          <p:cNvPr id="137" name="s137"/>
          <p:cNvSpPr/>
          <p:nvPr/>
        </p:nvSpPr>
        <p:spPr>
          <a:xfrm>
            <a:off x="7172554" y="2862072"/>
            <a:ext cx="445861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100m</a:t>
            </a:r>
            <a:endParaRPr lang="en-US" sz="900" dirty="0"/>
          </a:p>
        </p:txBody>
      </p:sp>
      <p:sp>
        <p:nvSpPr>
          <p:cNvPr id="138" name="s138"/>
          <p:cNvSpPr/>
          <p:nvPr/>
        </p:nvSpPr>
        <p:spPr>
          <a:xfrm>
            <a:off x="7172554" y="3136392"/>
            <a:ext cx="445861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Additional Info:</a:t>
            </a:r>
            <a:endParaRPr lang="en-US" sz="900" dirty="0"/>
          </a:p>
        </p:txBody>
      </p:sp>
      <p:sp>
        <p:nvSpPr>
          <p:cNvPr id="139" name="s139"/>
          <p:cNvSpPr/>
          <p:nvPr/>
        </p:nvSpPr>
        <p:spPr>
          <a:xfrm>
            <a:off x="7172554" y="3273552"/>
            <a:ext cx="445861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after two deposits</a:t>
            </a:r>
            <a:endParaRPr lang="en-US" sz="900" dirty="0"/>
          </a:p>
        </p:txBody>
      </p:sp>
      <p:sp>
        <p:nvSpPr>
          <p:cNvPr id="140" name="s140"/>
          <p:cNvSpPr/>
          <p:nvPr/>
        </p:nvSpPr>
        <p:spPr>
          <a:xfrm>
            <a:off x="7172554" y="3657600"/>
            <a:ext cx="4458614" cy="914400"/>
          </a:xfrm>
          <a:prstGeom prst="roundRect">
            <a:avLst>
              <a:gd name="adj" fmla="val 10000"/>
            </a:avLst>
          </a:prstGeom>
          <a:solidFill>
            <a:srgbClr val="FBBF24">
              <a:alpha val="8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BBF24"/>
                </a:solidFill>
                <a:latin typeface="Segoe UI"/>
                <a:ea typeface="Segoe UI"/>
                <a:cs typeface="Segoe UI"/>
              </a:rPr>
              <a:t>CUSTOM MESSAGE</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The 2nd argument is printed when it fails: explain WHY.</a:t>
            </a:r>
            <a:endParaRPr lang="en-US" sz="1200" dirty="0"/>
          </a:p>
        </p:txBody>
      </p:sp>
      <p:sp>
        <p:nvSpPr>
          <p:cNvPr id="141" name="s141"/>
          <p:cNvSpPr/>
          <p:nvPr/>
        </p:nvSpPr>
        <p:spPr>
          <a:xfrm>
            <a:off x="7172554" y="4709160"/>
            <a:ext cx="4458614" cy="960120"/>
          </a:xfrm>
          <a:prstGeom prst="roundRect">
            <a:avLst>
              <a:gd name="adj" fmla="val 10000"/>
            </a:avLst>
          </a:prstGeom>
          <a:solidFill>
            <a:srgbClr val="A78BFA">
              <a:alpha val="8000"/>
            </a:srgbClr>
          </a:solidFill>
          <a:ln w="12700">
            <a:solidFill>
              <a:srgbClr val="A78BFA"/>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A78BFA"/>
                </a:solidFill>
                <a:latin typeface="Segoe UI"/>
                <a:ea typeface="Segoe UI"/>
                <a:cs typeface="Segoe UI"/>
              </a:rPr>
              <a:t>DOUBLE?</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Use a tolerance. Money is decimal: exact.</a:t>
            </a:r>
            <a:endParaRPr lang="en-US" sz="1200" dirty="0"/>
          </a:p>
        </p:txBody>
      </p:sp>
      <p:sp>
        <p:nvSpPr>
          <p:cNvPr id="142" name="s142"/>
          <p:cNvSpPr/>
          <p:nvPr/>
        </p:nvSpPr>
        <p:spPr>
          <a:xfrm>
            <a:off x="652882" y="3246120"/>
            <a:ext cx="6181344" cy="466344"/>
          </a:xfrm>
          <a:prstGeom prst="roundRect">
            <a:avLst>
              <a:gd name="adj" fmla="val 6000"/>
            </a:avLst>
          </a:prstGeom>
          <a:solidFill>
            <a:srgbClr val="13D0F7">
              <a:alpha val="10000"/>
            </a:srgbClr>
          </a:solidFill>
          <a:ln w="15875">
            <a:solidFill>
              <a:srgbClr val="13D0F7"/>
            </a:solidFill>
            <a:prstDash val="solid"/>
          </a:ln>
        </p:spPr>
        <p:txBody>
          <a:bodyPr wrap="square" lIns="164592" tIns="109728" rIns="137160" bIns="91440" rtlCol="0" anchor="t">
            <a:noAutofit/>
          </a:bodyPr>
          <a:lstStyle/>
          <a:p>
            <a:endParaRPr lang="en-US"/>
          </a:p>
        </p:txBody>
      </p:sp>
      <p:sp>
        <p:nvSpPr>
          <p:cNvPr id="143" name="s143"/>
          <p:cNvSpPr/>
          <p:nvPr/>
        </p:nvSpPr>
        <p:spPr>
          <a:xfrm>
            <a:off x="652882" y="4343400"/>
            <a:ext cx="6181344" cy="46634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44" name="s144"/>
          <p:cNvSpPr/>
          <p:nvPr/>
        </p:nvSpPr>
        <p:spPr>
          <a:xfrm>
            <a:off x="652882" y="5303520"/>
            <a:ext cx="6181344" cy="192024"/>
          </a:xfrm>
          <a:prstGeom prst="roundRect">
            <a:avLst>
              <a:gd name="adj" fmla="val 6000"/>
            </a:avLst>
          </a:prstGeom>
          <a:solidFill>
            <a:srgbClr val="A78BFA">
              <a:alpha val="10000"/>
            </a:srgbClr>
          </a:solidFill>
          <a:ln w="15875">
            <a:solidFill>
              <a:srgbClr val="A78BFA"/>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0"/>
                                        </p:tgtEl>
                                        <p:attrNameLst>
                                          <p:attrName>style.visibility</p:attrName>
                                        </p:attrNameLst>
                                      </p:cBhvr>
                                      <p:to>
                                        <p:strVal val="visible"/>
                                      </p:to>
                                    </p:set>
                                    <p:animEffect transition="in" filter="fade">
                                      <p:cBhvr>
                                        <p:cTn id="83" dur="500"/>
                                        <p:tgtEl>
                                          <p:spTgt spid="120"/>
                                        </p:tgtEl>
                                      </p:cBhvr>
                                    </p:animEffect>
                                    <p:anim calcmode="lin" valueType="num">
                                      <p:cBhvr additive="base">
                                        <p:cTn id="84" dur="500" decel="100000" fill="hold"/>
                                        <p:tgtEl>
                                          <p:spTgt spid="120"/>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121"/>
                                        </p:tgtEl>
                                        <p:attrNameLst>
                                          <p:attrName>style.visibility</p:attrName>
                                        </p:attrNameLst>
                                      </p:cBhvr>
                                      <p:to>
                                        <p:strVal val="visible"/>
                                      </p:to>
                                    </p:set>
                                    <p:animEffect transition="in" filter="fade">
                                      <p:cBhvr>
                                        <p:cTn id="87" dur="500"/>
                                        <p:tgtEl>
                                          <p:spTgt spid="121"/>
                                        </p:tgtEl>
                                      </p:cBhvr>
                                    </p:animEffect>
                                    <p:anim calcmode="lin" valueType="num">
                                      <p:cBhvr additive="base">
                                        <p:cTn id="88" dur="500" decel="100000" fill="hold"/>
                                        <p:tgtEl>
                                          <p:spTgt spid="121"/>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122"/>
                                        </p:tgtEl>
                                        <p:attrNameLst>
                                          <p:attrName>style.visibility</p:attrName>
                                        </p:attrNameLst>
                                      </p:cBhvr>
                                      <p:to>
                                        <p:strVal val="visible"/>
                                      </p:to>
                                    </p:set>
                                    <p:animEffect transition="in" filter="fade">
                                      <p:cBhvr>
                                        <p:cTn id="91" dur="500"/>
                                        <p:tgtEl>
                                          <p:spTgt spid="122"/>
                                        </p:tgtEl>
                                      </p:cBhvr>
                                    </p:animEffect>
                                    <p:anim calcmode="lin" valueType="num">
                                      <p:cBhvr additive="base">
                                        <p:cTn id="92" dur="500" decel="100000" fill="hold"/>
                                        <p:tgtEl>
                                          <p:spTgt spid="122"/>
                                        </p:tgtEl>
                                        <p:attrNameLst>
                                          <p:attrName>ppt_y</p:attrName>
                                        </p:attrNameLst>
                                      </p:cBhvr>
                                      <p:tavLst>
                                        <p:tav tm="0">
                                          <p:val>
                                            <p:strVal val="#ppt_y+0.06"/>
                                          </p:val>
                                        </p:tav>
                                        <p:tav tm="100000">
                                          <p:val>
                                            <p:strVal val="#ppt_y"/>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123"/>
                                        </p:tgtEl>
                                        <p:attrNameLst>
                                          <p:attrName>style.visibility</p:attrName>
                                        </p:attrNameLst>
                                      </p:cBhvr>
                                      <p:to>
                                        <p:strVal val="visible"/>
                                      </p:to>
                                    </p:set>
                                    <p:animEffect transition="in" filter="fade">
                                      <p:cBhvr>
                                        <p:cTn id="95" dur="500"/>
                                        <p:tgtEl>
                                          <p:spTgt spid="123"/>
                                        </p:tgtEl>
                                      </p:cBhvr>
                                    </p:animEffect>
                                    <p:anim calcmode="lin" valueType="num">
                                      <p:cBhvr additive="base">
                                        <p:cTn id="96" dur="500" decel="100000" fill="hold"/>
                                        <p:tgtEl>
                                          <p:spTgt spid="123"/>
                                        </p:tgtEl>
                                        <p:attrNameLst>
                                          <p:attrName>ppt_y</p:attrName>
                                        </p:attrNameLst>
                                      </p:cBhvr>
                                      <p:tavLst>
                                        <p:tav tm="0">
                                          <p:val>
                                            <p:strVal val="#ppt_y+0.06"/>
                                          </p:val>
                                        </p:tav>
                                        <p:tav tm="100000">
                                          <p:val>
                                            <p:strVal val="#ppt_y"/>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4"/>
                                        </p:tgtEl>
                                        <p:attrNameLst>
                                          <p:attrName>style.visibility</p:attrName>
                                        </p:attrNameLst>
                                      </p:cBhvr>
                                      <p:to>
                                        <p:strVal val="visible"/>
                                      </p:to>
                                    </p:set>
                                    <p:animEffect transition="in" filter="fade">
                                      <p:cBhvr>
                                        <p:cTn id="99" dur="500"/>
                                        <p:tgtEl>
                                          <p:spTgt spid="124"/>
                                        </p:tgtEl>
                                      </p:cBhvr>
                                    </p:animEffect>
                                    <p:anim calcmode="lin" valueType="num">
                                      <p:cBhvr additive="base">
                                        <p:cTn id="100" dur="500" decel="100000" fill="hold"/>
                                        <p:tgtEl>
                                          <p:spTgt spid="124"/>
                                        </p:tgtEl>
                                        <p:attrNameLst>
                                          <p:attrName>ppt_y</p:attrName>
                                        </p:attrNameLst>
                                      </p:cBhvr>
                                      <p:tavLst>
                                        <p:tav tm="0">
                                          <p:val>
                                            <p:strVal val="#ppt_y+0.06"/>
                                          </p:val>
                                        </p:tav>
                                        <p:tav tm="100000">
                                          <p:val>
                                            <p:strVal val="#ppt_y"/>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25"/>
                                        </p:tgtEl>
                                        <p:attrNameLst>
                                          <p:attrName>style.visibility</p:attrName>
                                        </p:attrNameLst>
                                      </p:cBhvr>
                                      <p:to>
                                        <p:strVal val="visible"/>
                                      </p:to>
                                    </p:set>
                                    <p:animEffect transition="in" filter="fade">
                                      <p:cBhvr>
                                        <p:cTn id="103" dur="500"/>
                                        <p:tgtEl>
                                          <p:spTgt spid="125"/>
                                        </p:tgtEl>
                                      </p:cBhvr>
                                    </p:animEffect>
                                    <p:anim calcmode="lin" valueType="num">
                                      <p:cBhvr additive="base">
                                        <p:cTn id="104" dur="500" decel="100000" fill="hold"/>
                                        <p:tgtEl>
                                          <p:spTgt spid="125"/>
                                        </p:tgtEl>
                                        <p:attrNameLst>
                                          <p:attrName>ppt_y</p:attrName>
                                        </p:attrNameLst>
                                      </p:cBhvr>
                                      <p:tavLst>
                                        <p:tav tm="0">
                                          <p:val>
                                            <p:strVal val="#ppt_y+0.06"/>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26"/>
                                        </p:tgtEl>
                                        <p:attrNameLst>
                                          <p:attrName>style.visibility</p:attrName>
                                        </p:attrNameLst>
                                      </p:cBhvr>
                                      <p:to>
                                        <p:strVal val="visible"/>
                                      </p:to>
                                    </p:set>
                                    <p:animEffect transition="in" filter="fade">
                                      <p:cBhvr>
                                        <p:cTn id="107" dur="500"/>
                                        <p:tgtEl>
                                          <p:spTgt spid="126"/>
                                        </p:tgtEl>
                                      </p:cBhvr>
                                    </p:animEffect>
                                    <p:anim calcmode="lin" valueType="num">
                                      <p:cBhvr additive="base">
                                        <p:cTn id="108" dur="500" decel="100000" fill="hold"/>
                                        <p:tgtEl>
                                          <p:spTgt spid="126"/>
                                        </p:tgtEl>
                                        <p:attrNameLst>
                                          <p:attrName>ppt_y</p:attrName>
                                        </p:attrNameLst>
                                      </p:cBhvr>
                                      <p:tavLst>
                                        <p:tav tm="0">
                                          <p:val>
                                            <p:strVal val="#ppt_y+0.06"/>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53" presetClass="entr" presetSubtype="16" fill="hold" grpId="0" nodeType="clickEffect">
                                  <p:stCondLst>
                                    <p:cond delay="0"/>
                                  </p:stCondLst>
                                  <p:childTnLst>
                                    <p:set>
                                      <p:cBhvr>
                                        <p:cTn id="112" dur="1" fill="hold">
                                          <p:stCondLst>
                                            <p:cond delay="0"/>
                                          </p:stCondLst>
                                        </p:cTn>
                                        <p:tgtEl>
                                          <p:spTgt spid="142"/>
                                        </p:tgtEl>
                                        <p:attrNameLst>
                                          <p:attrName>style.visibility</p:attrName>
                                        </p:attrNameLst>
                                      </p:cBhvr>
                                      <p:to>
                                        <p:strVal val="visible"/>
                                      </p:to>
                                    </p:set>
                                    <p:anim calcmode="lin" valueType="num">
                                      <p:cBhvr additive="base">
                                        <p:cTn id="113" dur="500" decel="100000" fill="hold"/>
                                        <p:tgtEl>
                                          <p:spTgt spid="142"/>
                                        </p:tgtEl>
                                        <p:attrNameLst>
                                          <p:attrName>ppt_w</p:attrName>
                                        </p:attrNameLst>
                                      </p:cBhvr>
                                      <p:tavLst>
                                        <p:tav tm="0">
                                          <p:val>
                                            <p:strVal val="#ppt_w*0.3"/>
                                          </p:val>
                                        </p:tav>
                                        <p:tav tm="100000">
                                          <p:val>
                                            <p:strVal val="#ppt_w*1.08"/>
                                          </p:val>
                                        </p:tav>
                                      </p:tavLst>
                                    </p:anim>
                                    <p:anim calcmode="lin" valueType="num">
                                      <p:cBhvr additive="base">
                                        <p:cTn id="114" dur="500" decel="100000" fill="hold"/>
                                        <p:tgtEl>
                                          <p:spTgt spid="142"/>
                                        </p:tgtEl>
                                        <p:attrNameLst>
                                          <p:attrName>ppt_h</p:attrName>
                                        </p:attrNameLst>
                                      </p:cBhvr>
                                      <p:tavLst>
                                        <p:tav tm="0">
                                          <p:val>
                                            <p:strVal val="#ppt_h*0.3"/>
                                          </p:val>
                                        </p:tav>
                                        <p:tav tm="100000">
                                          <p:val>
                                            <p:strVal val="#ppt_h*1.08"/>
                                          </p:val>
                                        </p:tav>
                                      </p:tavLst>
                                    </p:anim>
                                    <p:animEffect transition="in" filter="fade">
                                      <p:cBhvr>
                                        <p:cTn id="115" dur="250"/>
                                        <p:tgtEl>
                                          <p:spTgt spid="142"/>
                                        </p:tgtEl>
                                      </p:cBhvr>
                                    </p:animEffect>
                                    <p:anim calcmode="lin" valueType="num">
                                      <p:cBhvr additive="base">
                                        <p:cTn id="116" dur="160" fill="hold">
                                          <p:stCondLst>
                                            <p:cond delay="500"/>
                                          </p:stCondLst>
                                        </p:cTn>
                                        <p:tgtEl>
                                          <p:spTgt spid="142"/>
                                        </p:tgtEl>
                                        <p:attrNameLst>
                                          <p:attrName>ppt_w</p:attrName>
                                        </p:attrNameLst>
                                      </p:cBhvr>
                                      <p:tavLst>
                                        <p:tav tm="0">
                                          <p:val>
                                            <p:strVal val="#ppt_w*1.08"/>
                                          </p:val>
                                        </p:tav>
                                        <p:tav tm="100000">
                                          <p:val>
                                            <p:strVal val="#ppt_w"/>
                                          </p:val>
                                        </p:tav>
                                      </p:tavLst>
                                    </p:anim>
                                    <p:anim calcmode="lin" valueType="num">
                                      <p:cBhvr additive="base">
                                        <p:cTn id="117" dur="160" fill="hold">
                                          <p:stCondLst>
                                            <p:cond delay="500"/>
                                          </p:stCondLst>
                                        </p:cTn>
                                        <p:tgtEl>
                                          <p:spTgt spid="142"/>
                                        </p:tgtEl>
                                        <p:attrNameLst>
                                          <p:attrName>ppt_h</p:attrName>
                                        </p:attrNameLst>
                                      </p:cBhvr>
                                      <p:tavLst>
                                        <p:tav tm="0">
                                          <p:val>
                                            <p:strVal val="#ppt_h*1.08"/>
                                          </p:val>
                                        </p:tav>
                                        <p:tav tm="100000">
                                          <p:val>
                                            <p:strVal val="#ppt_h"/>
                                          </p:val>
                                        </p:tav>
                                      </p:tavLst>
                                    </p:anim>
                                  </p:childTnLst>
                                </p:cTn>
                              </p:par>
                              <p:par>
                                <p:cTn id="118" presetID="42" presetClass="entr" presetSubtype="0" fill="hold" grpId="0" nodeType="withEffect">
                                  <p:stCondLst>
                                    <p:cond delay="200"/>
                                  </p:stCondLst>
                                  <p:childTnLst>
                                    <p:set>
                                      <p:cBhvr>
                                        <p:cTn id="119" dur="1" fill="hold">
                                          <p:stCondLst>
                                            <p:cond delay="0"/>
                                          </p:stCondLst>
                                        </p:cTn>
                                        <p:tgtEl>
                                          <p:spTgt spid="127"/>
                                        </p:tgtEl>
                                        <p:attrNameLst>
                                          <p:attrName>style.visibility</p:attrName>
                                        </p:attrNameLst>
                                      </p:cBhvr>
                                      <p:to>
                                        <p:strVal val="visible"/>
                                      </p:to>
                                    </p:set>
                                    <p:animEffect transition="in" filter="fade">
                                      <p:cBhvr>
                                        <p:cTn id="120" dur="500"/>
                                        <p:tgtEl>
                                          <p:spTgt spid="127"/>
                                        </p:tgtEl>
                                      </p:cBhvr>
                                    </p:animEffect>
                                    <p:anim calcmode="lin" valueType="num">
                                      <p:cBhvr additive="base">
                                        <p:cTn id="121" dur="500" decel="100000" fill="hold"/>
                                        <p:tgtEl>
                                          <p:spTgt spid="127"/>
                                        </p:tgtEl>
                                        <p:attrNameLst>
                                          <p:attrName>ppt_y</p:attrName>
                                        </p:attrNameLst>
                                      </p:cBhvr>
                                      <p:tavLst>
                                        <p:tav tm="0">
                                          <p:val>
                                            <p:strVal val="#ppt_y+0.06"/>
                                          </p:val>
                                        </p:tav>
                                        <p:tav tm="100000">
                                          <p:val>
                                            <p:strVal val="#ppt_y"/>
                                          </p:val>
                                        </p:tav>
                                      </p:tavLst>
                                    </p:anim>
                                  </p:childTnLst>
                                </p:cTn>
                              </p:par>
                              <p:par>
                                <p:cTn id="122" presetID="42" presetClass="entr" presetSubtype="0" fill="hold" grpId="0" nodeType="withEffect">
                                  <p:stCondLst>
                                    <p:cond delay="200"/>
                                  </p:stCondLst>
                                  <p:childTnLst>
                                    <p:set>
                                      <p:cBhvr>
                                        <p:cTn id="123" dur="1" fill="hold">
                                          <p:stCondLst>
                                            <p:cond delay="0"/>
                                          </p:stCondLst>
                                        </p:cTn>
                                        <p:tgtEl>
                                          <p:spTgt spid="128"/>
                                        </p:tgtEl>
                                        <p:attrNameLst>
                                          <p:attrName>style.visibility</p:attrName>
                                        </p:attrNameLst>
                                      </p:cBhvr>
                                      <p:to>
                                        <p:strVal val="visible"/>
                                      </p:to>
                                    </p:set>
                                    <p:animEffect transition="in" filter="fade">
                                      <p:cBhvr>
                                        <p:cTn id="124" dur="500"/>
                                        <p:tgtEl>
                                          <p:spTgt spid="128"/>
                                        </p:tgtEl>
                                      </p:cBhvr>
                                    </p:animEffect>
                                    <p:anim calcmode="lin" valueType="num">
                                      <p:cBhvr additive="base">
                                        <p:cTn id="125" dur="500" decel="100000" fill="hold"/>
                                        <p:tgtEl>
                                          <p:spTgt spid="128"/>
                                        </p:tgtEl>
                                        <p:attrNameLst>
                                          <p:attrName>ppt_y</p:attrName>
                                        </p:attrNameLst>
                                      </p:cBhvr>
                                      <p:tavLst>
                                        <p:tav tm="0">
                                          <p:val>
                                            <p:strVal val="#ppt_y+0.06"/>
                                          </p:val>
                                        </p:tav>
                                        <p:tav tm="100000">
                                          <p:val>
                                            <p:strVal val="#ppt_y"/>
                                          </p:val>
                                        </p:tav>
                                      </p:tavLst>
                                    </p:anim>
                                  </p:childTnLst>
                                </p:cTn>
                              </p:par>
                              <p:par>
                                <p:cTn id="126" presetID="42" presetClass="entr" presetSubtype="0" fill="hold" grpId="0" nodeType="withEffect">
                                  <p:stCondLst>
                                    <p:cond delay="200"/>
                                  </p:stCondLst>
                                  <p:childTnLst>
                                    <p:set>
                                      <p:cBhvr>
                                        <p:cTn id="127" dur="1" fill="hold">
                                          <p:stCondLst>
                                            <p:cond delay="0"/>
                                          </p:stCondLst>
                                        </p:cTn>
                                        <p:tgtEl>
                                          <p:spTgt spid="129"/>
                                        </p:tgtEl>
                                        <p:attrNameLst>
                                          <p:attrName>style.visibility</p:attrName>
                                        </p:attrNameLst>
                                      </p:cBhvr>
                                      <p:to>
                                        <p:strVal val="visible"/>
                                      </p:to>
                                    </p:set>
                                    <p:animEffect transition="in" filter="fade">
                                      <p:cBhvr>
                                        <p:cTn id="128" dur="500"/>
                                        <p:tgtEl>
                                          <p:spTgt spid="129"/>
                                        </p:tgtEl>
                                      </p:cBhvr>
                                    </p:animEffect>
                                    <p:anim calcmode="lin" valueType="num">
                                      <p:cBhvr additive="base">
                                        <p:cTn id="129" dur="500" decel="100000" fill="hold"/>
                                        <p:tgtEl>
                                          <p:spTgt spid="129"/>
                                        </p:tgtEl>
                                        <p:attrNameLst>
                                          <p:attrName>ppt_y</p:attrName>
                                        </p:attrNameLst>
                                      </p:cBhvr>
                                      <p:tavLst>
                                        <p:tav tm="0">
                                          <p:val>
                                            <p:strVal val="#ppt_y+0.06"/>
                                          </p:val>
                                        </p:tav>
                                        <p:tav tm="100000">
                                          <p:val>
                                            <p:strVal val="#ppt_y"/>
                                          </p:val>
                                        </p:tav>
                                      </p:tavLst>
                                    </p:anim>
                                  </p:childTnLst>
                                </p:cTn>
                              </p:par>
                              <p:par>
                                <p:cTn id="130" presetID="42" presetClass="entr" presetSubtype="0" fill="hold" grpId="0" nodeType="withEffect">
                                  <p:stCondLst>
                                    <p:cond delay="200"/>
                                  </p:stCondLst>
                                  <p:childTnLst>
                                    <p:set>
                                      <p:cBhvr>
                                        <p:cTn id="131" dur="1" fill="hold">
                                          <p:stCondLst>
                                            <p:cond delay="0"/>
                                          </p:stCondLst>
                                        </p:cTn>
                                        <p:tgtEl>
                                          <p:spTgt spid="130"/>
                                        </p:tgtEl>
                                        <p:attrNameLst>
                                          <p:attrName>style.visibility</p:attrName>
                                        </p:attrNameLst>
                                      </p:cBhvr>
                                      <p:to>
                                        <p:strVal val="visible"/>
                                      </p:to>
                                    </p:set>
                                    <p:animEffect transition="in" filter="fade">
                                      <p:cBhvr>
                                        <p:cTn id="132" dur="500"/>
                                        <p:tgtEl>
                                          <p:spTgt spid="130"/>
                                        </p:tgtEl>
                                      </p:cBhvr>
                                    </p:animEffect>
                                    <p:anim calcmode="lin" valueType="num">
                                      <p:cBhvr additive="base">
                                        <p:cTn id="133" dur="500" decel="100000" fill="hold"/>
                                        <p:tgtEl>
                                          <p:spTgt spid="130"/>
                                        </p:tgtEl>
                                        <p:attrNameLst>
                                          <p:attrName>ppt_y</p:attrName>
                                        </p:attrNameLst>
                                      </p:cBhvr>
                                      <p:tavLst>
                                        <p:tav tm="0">
                                          <p:val>
                                            <p:strVal val="#ppt_y+0.06"/>
                                          </p:val>
                                        </p:tav>
                                        <p:tav tm="100000">
                                          <p:val>
                                            <p:strVal val="#ppt_y"/>
                                          </p:val>
                                        </p:tav>
                                      </p:tavLst>
                                    </p:anim>
                                  </p:childTnLst>
                                </p:cTn>
                              </p:par>
                              <p:par>
                                <p:cTn id="134" presetID="42" presetClass="entr" presetSubtype="0" fill="hold" grpId="0" nodeType="withEffect">
                                  <p:stCondLst>
                                    <p:cond delay="200"/>
                                  </p:stCondLst>
                                  <p:childTnLst>
                                    <p:set>
                                      <p:cBhvr>
                                        <p:cTn id="135" dur="1" fill="hold">
                                          <p:stCondLst>
                                            <p:cond delay="0"/>
                                          </p:stCondLst>
                                        </p:cTn>
                                        <p:tgtEl>
                                          <p:spTgt spid="131"/>
                                        </p:tgtEl>
                                        <p:attrNameLst>
                                          <p:attrName>style.visibility</p:attrName>
                                        </p:attrNameLst>
                                      </p:cBhvr>
                                      <p:to>
                                        <p:strVal val="visible"/>
                                      </p:to>
                                    </p:set>
                                    <p:animEffect transition="in" filter="fade">
                                      <p:cBhvr>
                                        <p:cTn id="136" dur="500"/>
                                        <p:tgtEl>
                                          <p:spTgt spid="131"/>
                                        </p:tgtEl>
                                      </p:cBhvr>
                                    </p:animEffect>
                                    <p:anim calcmode="lin" valueType="num">
                                      <p:cBhvr additive="base">
                                        <p:cTn id="137" dur="500" decel="100000" fill="hold"/>
                                        <p:tgtEl>
                                          <p:spTgt spid="131"/>
                                        </p:tgtEl>
                                        <p:attrNameLst>
                                          <p:attrName>ppt_y</p:attrName>
                                        </p:attrNameLst>
                                      </p:cBhvr>
                                      <p:tavLst>
                                        <p:tav tm="0">
                                          <p:val>
                                            <p:strVal val="#ppt_y+0.06"/>
                                          </p:val>
                                        </p:tav>
                                        <p:tav tm="100000">
                                          <p:val>
                                            <p:strVal val="#ppt_y"/>
                                          </p:val>
                                        </p:tav>
                                      </p:tavLst>
                                    </p:anim>
                                  </p:childTnLst>
                                </p:cTn>
                              </p:par>
                              <p:par>
                                <p:cTn id="138" presetID="42" presetClass="entr" presetSubtype="0" fill="hold" nodeType="withEffect">
                                  <p:stCondLst>
                                    <p:cond delay="200"/>
                                  </p:stCondLst>
                                  <p:childTnLst>
                                    <p:set>
                                      <p:cBhvr>
                                        <p:cTn id="139" dur="1" fill="hold">
                                          <p:stCondLst>
                                            <p:cond delay="0"/>
                                          </p:stCondLst>
                                        </p:cTn>
                                        <p:tgtEl>
                                          <p:spTgt spid="132"/>
                                        </p:tgtEl>
                                        <p:attrNameLst>
                                          <p:attrName>style.visibility</p:attrName>
                                        </p:attrNameLst>
                                      </p:cBhvr>
                                      <p:to>
                                        <p:strVal val="visible"/>
                                      </p:to>
                                    </p:set>
                                    <p:animEffect transition="in" filter="fade">
                                      <p:cBhvr>
                                        <p:cTn id="140" dur="500"/>
                                        <p:tgtEl>
                                          <p:spTgt spid="132"/>
                                        </p:tgtEl>
                                      </p:cBhvr>
                                    </p:animEffect>
                                    <p:anim calcmode="lin" valueType="num">
                                      <p:cBhvr additive="base">
                                        <p:cTn id="141" dur="500" decel="100000" fill="hold"/>
                                        <p:tgtEl>
                                          <p:spTgt spid="132"/>
                                        </p:tgtEl>
                                        <p:attrNameLst>
                                          <p:attrName>ppt_y</p:attrName>
                                        </p:attrNameLst>
                                      </p:cBhvr>
                                      <p:tavLst>
                                        <p:tav tm="0">
                                          <p:val>
                                            <p:strVal val="#ppt_y+0.06"/>
                                          </p:val>
                                        </p:tav>
                                        <p:tav tm="100000">
                                          <p:val>
                                            <p:strVal val="#ppt_y"/>
                                          </p:val>
                                        </p:tav>
                                      </p:tavLst>
                                    </p:anim>
                                  </p:childTnLst>
                                </p:cTn>
                              </p:par>
                              <p:par>
                                <p:cTn id="142" presetID="42" presetClass="entr" presetSubtype="0" fill="hold" grpId="0" nodeType="withEffect">
                                  <p:stCondLst>
                                    <p:cond delay="200"/>
                                  </p:stCondLst>
                                  <p:childTnLst>
                                    <p:set>
                                      <p:cBhvr>
                                        <p:cTn id="143" dur="1" fill="hold">
                                          <p:stCondLst>
                                            <p:cond delay="0"/>
                                          </p:stCondLst>
                                        </p:cTn>
                                        <p:tgtEl>
                                          <p:spTgt spid="133"/>
                                        </p:tgtEl>
                                        <p:attrNameLst>
                                          <p:attrName>style.visibility</p:attrName>
                                        </p:attrNameLst>
                                      </p:cBhvr>
                                      <p:to>
                                        <p:strVal val="visible"/>
                                      </p:to>
                                    </p:set>
                                    <p:animEffect transition="in" filter="fade">
                                      <p:cBhvr>
                                        <p:cTn id="144" dur="500"/>
                                        <p:tgtEl>
                                          <p:spTgt spid="133"/>
                                        </p:tgtEl>
                                      </p:cBhvr>
                                    </p:animEffect>
                                    <p:anim calcmode="lin" valueType="num">
                                      <p:cBhvr additive="base">
                                        <p:cTn id="145" dur="500" decel="100000" fill="hold"/>
                                        <p:tgtEl>
                                          <p:spTgt spid="133"/>
                                        </p:tgtEl>
                                        <p:attrNameLst>
                                          <p:attrName>ppt_y</p:attrName>
                                        </p:attrNameLst>
                                      </p:cBhvr>
                                      <p:tavLst>
                                        <p:tav tm="0">
                                          <p:val>
                                            <p:strVal val="#ppt_y+0.06"/>
                                          </p:val>
                                        </p:tav>
                                        <p:tav tm="100000">
                                          <p:val>
                                            <p:strVal val="#ppt_y"/>
                                          </p:val>
                                        </p:tav>
                                      </p:tavLst>
                                    </p:anim>
                                  </p:childTnLst>
                                </p:cTn>
                              </p:par>
                              <p:par>
                                <p:cTn id="146" presetID="42" presetClass="entr" presetSubtype="0" fill="hold" grpId="0" nodeType="withEffect">
                                  <p:stCondLst>
                                    <p:cond delay="200"/>
                                  </p:stCondLst>
                                  <p:childTnLst>
                                    <p:set>
                                      <p:cBhvr>
                                        <p:cTn id="147" dur="1" fill="hold">
                                          <p:stCondLst>
                                            <p:cond delay="0"/>
                                          </p:stCondLst>
                                        </p:cTn>
                                        <p:tgtEl>
                                          <p:spTgt spid="134"/>
                                        </p:tgtEl>
                                        <p:attrNameLst>
                                          <p:attrName>style.visibility</p:attrName>
                                        </p:attrNameLst>
                                      </p:cBhvr>
                                      <p:to>
                                        <p:strVal val="visible"/>
                                      </p:to>
                                    </p:set>
                                    <p:animEffect transition="in" filter="fade">
                                      <p:cBhvr>
                                        <p:cTn id="148" dur="500"/>
                                        <p:tgtEl>
                                          <p:spTgt spid="134"/>
                                        </p:tgtEl>
                                      </p:cBhvr>
                                    </p:animEffect>
                                    <p:anim calcmode="lin" valueType="num">
                                      <p:cBhvr additive="base">
                                        <p:cTn id="149" dur="500" decel="100000" fill="hold"/>
                                        <p:tgtEl>
                                          <p:spTgt spid="134"/>
                                        </p:tgtEl>
                                        <p:attrNameLst>
                                          <p:attrName>ppt_y</p:attrName>
                                        </p:attrNameLst>
                                      </p:cBhvr>
                                      <p:tavLst>
                                        <p:tav tm="0">
                                          <p:val>
                                            <p:strVal val="#ppt_y+0.06"/>
                                          </p:val>
                                        </p:tav>
                                        <p:tav tm="100000">
                                          <p:val>
                                            <p:strVal val="#ppt_y"/>
                                          </p:val>
                                        </p:tav>
                                      </p:tavLst>
                                    </p:anim>
                                  </p:childTnLst>
                                </p:cTn>
                              </p:par>
                              <p:par>
                                <p:cTn id="150" presetID="42" presetClass="entr" presetSubtype="0" fill="hold" grpId="0" nodeType="withEffect">
                                  <p:stCondLst>
                                    <p:cond delay="200"/>
                                  </p:stCondLst>
                                  <p:childTnLst>
                                    <p:set>
                                      <p:cBhvr>
                                        <p:cTn id="151" dur="1" fill="hold">
                                          <p:stCondLst>
                                            <p:cond delay="0"/>
                                          </p:stCondLst>
                                        </p:cTn>
                                        <p:tgtEl>
                                          <p:spTgt spid="135"/>
                                        </p:tgtEl>
                                        <p:attrNameLst>
                                          <p:attrName>style.visibility</p:attrName>
                                        </p:attrNameLst>
                                      </p:cBhvr>
                                      <p:to>
                                        <p:strVal val="visible"/>
                                      </p:to>
                                    </p:set>
                                    <p:animEffect transition="in" filter="fade">
                                      <p:cBhvr>
                                        <p:cTn id="152" dur="500"/>
                                        <p:tgtEl>
                                          <p:spTgt spid="135"/>
                                        </p:tgtEl>
                                      </p:cBhvr>
                                    </p:animEffect>
                                    <p:anim calcmode="lin" valueType="num">
                                      <p:cBhvr additive="base">
                                        <p:cTn id="153" dur="500" decel="100000" fill="hold"/>
                                        <p:tgtEl>
                                          <p:spTgt spid="135"/>
                                        </p:tgtEl>
                                        <p:attrNameLst>
                                          <p:attrName>ppt_y</p:attrName>
                                        </p:attrNameLst>
                                      </p:cBhvr>
                                      <p:tavLst>
                                        <p:tav tm="0">
                                          <p:val>
                                            <p:strVal val="#ppt_y+0.06"/>
                                          </p:val>
                                        </p:tav>
                                        <p:tav tm="100000">
                                          <p:val>
                                            <p:strVal val="#ppt_y"/>
                                          </p:val>
                                        </p:tav>
                                      </p:tavLst>
                                    </p:anim>
                                  </p:childTnLst>
                                </p:cTn>
                              </p:par>
                              <p:par>
                                <p:cTn id="154" presetID="42" presetClass="entr" presetSubtype="0" fill="hold" grpId="0" nodeType="withEffect">
                                  <p:stCondLst>
                                    <p:cond delay="200"/>
                                  </p:stCondLst>
                                  <p:childTnLst>
                                    <p:set>
                                      <p:cBhvr>
                                        <p:cTn id="155" dur="1" fill="hold">
                                          <p:stCondLst>
                                            <p:cond delay="0"/>
                                          </p:stCondLst>
                                        </p:cTn>
                                        <p:tgtEl>
                                          <p:spTgt spid="136"/>
                                        </p:tgtEl>
                                        <p:attrNameLst>
                                          <p:attrName>style.visibility</p:attrName>
                                        </p:attrNameLst>
                                      </p:cBhvr>
                                      <p:to>
                                        <p:strVal val="visible"/>
                                      </p:to>
                                    </p:set>
                                    <p:animEffect transition="in" filter="fade">
                                      <p:cBhvr>
                                        <p:cTn id="156" dur="500"/>
                                        <p:tgtEl>
                                          <p:spTgt spid="136"/>
                                        </p:tgtEl>
                                      </p:cBhvr>
                                    </p:animEffect>
                                    <p:anim calcmode="lin" valueType="num">
                                      <p:cBhvr additive="base">
                                        <p:cTn id="157" dur="500" decel="100000" fill="hold"/>
                                        <p:tgtEl>
                                          <p:spTgt spid="136"/>
                                        </p:tgtEl>
                                        <p:attrNameLst>
                                          <p:attrName>ppt_y</p:attrName>
                                        </p:attrNameLst>
                                      </p:cBhvr>
                                      <p:tavLst>
                                        <p:tav tm="0">
                                          <p:val>
                                            <p:strVal val="#ppt_y+0.06"/>
                                          </p:val>
                                        </p:tav>
                                        <p:tav tm="100000">
                                          <p:val>
                                            <p:strVal val="#ppt_y"/>
                                          </p:val>
                                        </p:tav>
                                      </p:tavLst>
                                    </p:anim>
                                  </p:childTnLst>
                                </p:cTn>
                              </p:par>
                              <p:par>
                                <p:cTn id="158" presetID="42" presetClass="entr" presetSubtype="0" fill="hold" grpId="0" nodeType="withEffect">
                                  <p:stCondLst>
                                    <p:cond delay="200"/>
                                  </p:stCondLst>
                                  <p:childTnLst>
                                    <p:set>
                                      <p:cBhvr>
                                        <p:cTn id="159" dur="1" fill="hold">
                                          <p:stCondLst>
                                            <p:cond delay="0"/>
                                          </p:stCondLst>
                                        </p:cTn>
                                        <p:tgtEl>
                                          <p:spTgt spid="137"/>
                                        </p:tgtEl>
                                        <p:attrNameLst>
                                          <p:attrName>style.visibility</p:attrName>
                                        </p:attrNameLst>
                                      </p:cBhvr>
                                      <p:to>
                                        <p:strVal val="visible"/>
                                      </p:to>
                                    </p:set>
                                    <p:animEffect transition="in" filter="fade">
                                      <p:cBhvr>
                                        <p:cTn id="160" dur="500"/>
                                        <p:tgtEl>
                                          <p:spTgt spid="137"/>
                                        </p:tgtEl>
                                      </p:cBhvr>
                                    </p:animEffect>
                                    <p:anim calcmode="lin" valueType="num">
                                      <p:cBhvr additive="base">
                                        <p:cTn id="161" dur="500" decel="100000" fill="hold"/>
                                        <p:tgtEl>
                                          <p:spTgt spid="137"/>
                                        </p:tgtEl>
                                        <p:attrNameLst>
                                          <p:attrName>ppt_y</p:attrName>
                                        </p:attrNameLst>
                                      </p:cBhvr>
                                      <p:tavLst>
                                        <p:tav tm="0">
                                          <p:val>
                                            <p:strVal val="#ppt_y+0.06"/>
                                          </p:val>
                                        </p:tav>
                                        <p:tav tm="100000">
                                          <p:val>
                                            <p:strVal val="#ppt_y"/>
                                          </p:val>
                                        </p:tav>
                                      </p:tavLst>
                                    </p:anim>
                                  </p:childTnLst>
                                </p:cTn>
                              </p:par>
                              <p:par>
                                <p:cTn id="162" presetID="42" presetClass="entr" presetSubtype="0" fill="hold" grpId="0" nodeType="withEffect">
                                  <p:stCondLst>
                                    <p:cond delay="200"/>
                                  </p:stCondLst>
                                  <p:childTnLst>
                                    <p:set>
                                      <p:cBhvr>
                                        <p:cTn id="163" dur="1" fill="hold">
                                          <p:stCondLst>
                                            <p:cond delay="0"/>
                                          </p:stCondLst>
                                        </p:cTn>
                                        <p:tgtEl>
                                          <p:spTgt spid="138"/>
                                        </p:tgtEl>
                                        <p:attrNameLst>
                                          <p:attrName>style.visibility</p:attrName>
                                        </p:attrNameLst>
                                      </p:cBhvr>
                                      <p:to>
                                        <p:strVal val="visible"/>
                                      </p:to>
                                    </p:set>
                                    <p:animEffect transition="in" filter="fade">
                                      <p:cBhvr>
                                        <p:cTn id="164" dur="500"/>
                                        <p:tgtEl>
                                          <p:spTgt spid="138"/>
                                        </p:tgtEl>
                                      </p:cBhvr>
                                    </p:animEffect>
                                    <p:anim calcmode="lin" valueType="num">
                                      <p:cBhvr additive="base">
                                        <p:cTn id="165" dur="500" decel="100000" fill="hold"/>
                                        <p:tgtEl>
                                          <p:spTgt spid="138"/>
                                        </p:tgtEl>
                                        <p:attrNameLst>
                                          <p:attrName>ppt_y</p:attrName>
                                        </p:attrNameLst>
                                      </p:cBhvr>
                                      <p:tavLst>
                                        <p:tav tm="0">
                                          <p:val>
                                            <p:strVal val="#ppt_y+0.06"/>
                                          </p:val>
                                        </p:tav>
                                        <p:tav tm="100000">
                                          <p:val>
                                            <p:strVal val="#ppt_y"/>
                                          </p:val>
                                        </p:tav>
                                      </p:tavLst>
                                    </p:anim>
                                  </p:childTnLst>
                                </p:cTn>
                              </p:par>
                              <p:par>
                                <p:cTn id="166" presetID="42" presetClass="entr" presetSubtype="0" fill="hold" grpId="0" nodeType="withEffect">
                                  <p:stCondLst>
                                    <p:cond delay="200"/>
                                  </p:stCondLst>
                                  <p:childTnLst>
                                    <p:set>
                                      <p:cBhvr>
                                        <p:cTn id="167" dur="1" fill="hold">
                                          <p:stCondLst>
                                            <p:cond delay="0"/>
                                          </p:stCondLst>
                                        </p:cTn>
                                        <p:tgtEl>
                                          <p:spTgt spid="139"/>
                                        </p:tgtEl>
                                        <p:attrNameLst>
                                          <p:attrName>style.visibility</p:attrName>
                                        </p:attrNameLst>
                                      </p:cBhvr>
                                      <p:to>
                                        <p:strVal val="visible"/>
                                      </p:to>
                                    </p:set>
                                    <p:animEffect transition="in" filter="fade">
                                      <p:cBhvr>
                                        <p:cTn id="168" dur="500"/>
                                        <p:tgtEl>
                                          <p:spTgt spid="139"/>
                                        </p:tgtEl>
                                      </p:cBhvr>
                                    </p:animEffect>
                                    <p:anim calcmode="lin" valueType="num">
                                      <p:cBhvr additive="base">
                                        <p:cTn id="169" dur="500" decel="100000" fill="hold"/>
                                        <p:tgtEl>
                                          <p:spTgt spid="139"/>
                                        </p:tgtEl>
                                        <p:attrNameLst>
                                          <p:attrName>ppt_y</p:attrName>
                                        </p:attrNameLst>
                                      </p:cBhvr>
                                      <p:tavLst>
                                        <p:tav tm="0">
                                          <p:val>
                                            <p:strVal val="#ppt_y+0.06"/>
                                          </p:val>
                                        </p:tav>
                                        <p:tav tm="100000">
                                          <p:val>
                                            <p:strVal val="#ppt_y"/>
                                          </p:val>
                                        </p:tav>
                                      </p:tavLst>
                                    </p:anim>
                                  </p:childTnLst>
                                </p:cTn>
                              </p:par>
                            </p:childTnLst>
                          </p:cTn>
                        </p:par>
                      </p:childTnLst>
                    </p:cTn>
                  </p:par>
                  <p:par>
                    <p:cTn id="170" fill="hold">
                      <p:stCondLst>
                        <p:cond delay="indefinite"/>
                      </p:stCondLst>
                      <p:childTnLst>
                        <p:par>
                          <p:cTn id="171" fill="hold">
                            <p:stCondLst>
                              <p:cond delay="0"/>
                            </p:stCondLst>
                            <p:childTnLst>
                              <p:par>
                                <p:cTn id="172" presetID="42" presetClass="entr" presetSubtype="0" fill="hold" grpId="0" nodeType="clickEffect">
                                  <p:stCondLst>
                                    <p:cond delay="0"/>
                                  </p:stCondLst>
                                  <p:childTnLst>
                                    <p:set>
                                      <p:cBhvr>
                                        <p:cTn id="173" dur="1" fill="hold">
                                          <p:stCondLst>
                                            <p:cond delay="0"/>
                                          </p:stCondLst>
                                        </p:cTn>
                                        <p:tgtEl>
                                          <p:spTgt spid="140"/>
                                        </p:tgtEl>
                                        <p:attrNameLst>
                                          <p:attrName>style.visibility</p:attrName>
                                        </p:attrNameLst>
                                      </p:cBhvr>
                                      <p:to>
                                        <p:strVal val="visible"/>
                                      </p:to>
                                    </p:set>
                                    <p:animEffect transition="in" filter="fade">
                                      <p:cBhvr>
                                        <p:cTn id="174" dur="500"/>
                                        <p:tgtEl>
                                          <p:spTgt spid="140"/>
                                        </p:tgtEl>
                                      </p:cBhvr>
                                    </p:animEffect>
                                    <p:anim calcmode="lin" valueType="num">
                                      <p:cBhvr additive="base">
                                        <p:cTn id="175" dur="500" decel="100000" fill="hold"/>
                                        <p:tgtEl>
                                          <p:spTgt spid="140"/>
                                        </p:tgtEl>
                                        <p:attrNameLst>
                                          <p:attrName>ppt_y</p:attrName>
                                        </p:attrNameLst>
                                      </p:cBhvr>
                                      <p:tavLst>
                                        <p:tav tm="0">
                                          <p:val>
                                            <p:strVal val="#ppt_y+0.06"/>
                                          </p:val>
                                        </p:tav>
                                        <p:tav tm="100000">
                                          <p:val>
                                            <p:strVal val="#ppt_y"/>
                                          </p:val>
                                        </p:tav>
                                      </p:tavLst>
                                    </p:anim>
                                  </p:childTnLst>
                                </p:cTn>
                              </p:par>
                            </p:childTnLst>
                          </p:cTn>
                        </p:par>
                      </p:childTnLst>
                    </p:cTn>
                  </p:par>
                  <p:par>
                    <p:cTn id="176" fill="hold">
                      <p:stCondLst>
                        <p:cond delay="indefinite"/>
                      </p:stCondLst>
                      <p:childTnLst>
                        <p:par>
                          <p:cTn id="177" fill="hold">
                            <p:stCondLst>
                              <p:cond delay="0"/>
                            </p:stCondLst>
                            <p:childTnLst>
                              <p:par>
                                <p:cTn id="178" presetID="53" presetClass="entr" presetSubtype="16" fill="hold" grpId="0" nodeType="clickEffect">
                                  <p:stCondLst>
                                    <p:cond delay="0"/>
                                  </p:stCondLst>
                                  <p:childTnLst>
                                    <p:set>
                                      <p:cBhvr>
                                        <p:cTn id="179" dur="1" fill="hold">
                                          <p:stCondLst>
                                            <p:cond delay="0"/>
                                          </p:stCondLst>
                                        </p:cTn>
                                        <p:tgtEl>
                                          <p:spTgt spid="143"/>
                                        </p:tgtEl>
                                        <p:attrNameLst>
                                          <p:attrName>style.visibility</p:attrName>
                                        </p:attrNameLst>
                                      </p:cBhvr>
                                      <p:to>
                                        <p:strVal val="visible"/>
                                      </p:to>
                                    </p:set>
                                    <p:anim calcmode="lin" valueType="num">
                                      <p:cBhvr additive="base">
                                        <p:cTn id="180" dur="500" decel="100000" fill="hold"/>
                                        <p:tgtEl>
                                          <p:spTgt spid="143"/>
                                        </p:tgtEl>
                                        <p:attrNameLst>
                                          <p:attrName>ppt_w</p:attrName>
                                        </p:attrNameLst>
                                      </p:cBhvr>
                                      <p:tavLst>
                                        <p:tav tm="0">
                                          <p:val>
                                            <p:strVal val="#ppt_w*0.3"/>
                                          </p:val>
                                        </p:tav>
                                        <p:tav tm="100000">
                                          <p:val>
                                            <p:strVal val="#ppt_w*1.08"/>
                                          </p:val>
                                        </p:tav>
                                      </p:tavLst>
                                    </p:anim>
                                    <p:anim calcmode="lin" valueType="num">
                                      <p:cBhvr additive="base">
                                        <p:cTn id="181" dur="500" decel="100000" fill="hold"/>
                                        <p:tgtEl>
                                          <p:spTgt spid="143"/>
                                        </p:tgtEl>
                                        <p:attrNameLst>
                                          <p:attrName>ppt_h</p:attrName>
                                        </p:attrNameLst>
                                      </p:cBhvr>
                                      <p:tavLst>
                                        <p:tav tm="0">
                                          <p:val>
                                            <p:strVal val="#ppt_h*0.3"/>
                                          </p:val>
                                        </p:tav>
                                        <p:tav tm="100000">
                                          <p:val>
                                            <p:strVal val="#ppt_h*1.08"/>
                                          </p:val>
                                        </p:tav>
                                      </p:tavLst>
                                    </p:anim>
                                    <p:animEffect transition="in" filter="fade">
                                      <p:cBhvr>
                                        <p:cTn id="182" dur="250"/>
                                        <p:tgtEl>
                                          <p:spTgt spid="143"/>
                                        </p:tgtEl>
                                      </p:cBhvr>
                                    </p:animEffect>
                                    <p:anim calcmode="lin" valueType="num">
                                      <p:cBhvr additive="base">
                                        <p:cTn id="183" dur="160" fill="hold">
                                          <p:stCondLst>
                                            <p:cond delay="500"/>
                                          </p:stCondLst>
                                        </p:cTn>
                                        <p:tgtEl>
                                          <p:spTgt spid="143"/>
                                        </p:tgtEl>
                                        <p:attrNameLst>
                                          <p:attrName>ppt_w</p:attrName>
                                        </p:attrNameLst>
                                      </p:cBhvr>
                                      <p:tavLst>
                                        <p:tav tm="0">
                                          <p:val>
                                            <p:strVal val="#ppt_w*1.08"/>
                                          </p:val>
                                        </p:tav>
                                        <p:tav tm="100000">
                                          <p:val>
                                            <p:strVal val="#ppt_w"/>
                                          </p:val>
                                        </p:tav>
                                      </p:tavLst>
                                    </p:anim>
                                    <p:anim calcmode="lin" valueType="num">
                                      <p:cBhvr additive="base">
                                        <p:cTn id="184" dur="160" fill="hold">
                                          <p:stCondLst>
                                            <p:cond delay="500"/>
                                          </p:stCondLst>
                                        </p:cTn>
                                        <p:tgtEl>
                                          <p:spTgt spid="143"/>
                                        </p:tgtEl>
                                        <p:attrNameLst>
                                          <p:attrName>ppt_h</p:attrName>
                                        </p:attrNameLst>
                                      </p:cBhvr>
                                      <p:tavLst>
                                        <p:tav tm="0">
                                          <p:val>
                                            <p:strVal val="#ppt_h*1.08"/>
                                          </p:val>
                                        </p:tav>
                                        <p:tav tm="100000">
                                          <p:val>
                                            <p:strVal val="#ppt_h"/>
                                          </p:val>
                                        </p:tav>
                                      </p:tavLst>
                                    </p:anim>
                                  </p:childTnLst>
                                </p:cTn>
                              </p:par>
                            </p:childTnLst>
                          </p:cTn>
                        </p:par>
                      </p:childTnLst>
                    </p:cTn>
                  </p:par>
                  <p:par>
                    <p:cTn id="185" fill="hold">
                      <p:stCondLst>
                        <p:cond delay="indefinite"/>
                      </p:stCondLst>
                      <p:childTnLst>
                        <p:par>
                          <p:cTn id="186" fill="hold">
                            <p:stCondLst>
                              <p:cond delay="0"/>
                            </p:stCondLst>
                            <p:childTnLst>
                              <p:par>
                                <p:cTn id="187" presetID="53" presetClass="entr" presetSubtype="16" fill="hold" grpId="0" nodeType="clickEffect">
                                  <p:stCondLst>
                                    <p:cond delay="0"/>
                                  </p:stCondLst>
                                  <p:childTnLst>
                                    <p:set>
                                      <p:cBhvr>
                                        <p:cTn id="188" dur="1" fill="hold">
                                          <p:stCondLst>
                                            <p:cond delay="0"/>
                                          </p:stCondLst>
                                        </p:cTn>
                                        <p:tgtEl>
                                          <p:spTgt spid="144"/>
                                        </p:tgtEl>
                                        <p:attrNameLst>
                                          <p:attrName>style.visibility</p:attrName>
                                        </p:attrNameLst>
                                      </p:cBhvr>
                                      <p:to>
                                        <p:strVal val="visible"/>
                                      </p:to>
                                    </p:set>
                                    <p:anim calcmode="lin" valueType="num">
                                      <p:cBhvr additive="base">
                                        <p:cTn id="189" dur="500" decel="100000" fill="hold"/>
                                        <p:tgtEl>
                                          <p:spTgt spid="144"/>
                                        </p:tgtEl>
                                        <p:attrNameLst>
                                          <p:attrName>ppt_w</p:attrName>
                                        </p:attrNameLst>
                                      </p:cBhvr>
                                      <p:tavLst>
                                        <p:tav tm="0">
                                          <p:val>
                                            <p:strVal val="#ppt_w*0.3"/>
                                          </p:val>
                                        </p:tav>
                                        <p:tav tm="100000">
                                          <p:val>
                                            <p:strVal val="#ppt_w*1.08"/>
                                          </p:val>
                                        </p:tav>
                                      </p:tavLst>
                                    </p:anim>
                                    <p:anim calcmode="lin" valueType="num">
                                      <p:cBhvr additive="base">
                                        <p:cTn id="190" dur="500" decel="100000" fill="hold"/>
                                        <p:tgtEl>
                                          <p:spTgt spid="144"/>
                                        </p:tgtEl>
                                        <p:attrNameLst>
                                          <p:attrName>ppt_h</p:attrName>
                                        </p:attrNameLst>
                                      </p:cBhvr>
                                      <p:tavLst>
                                        <p:tav tm="0">
                                          <p:val>
                                            <p:strVal val="#ppt_h*0.3"/>
                                          </p:val>
                                        </p:tav>
                                        <p:tav tm="100000">
                                          <p:val>
                                            <p:strVal val="#ppt_h*1.08"/>
                                          </p:val>
                                        </p:tav>
                                      </p:tavLst>
                                    </p:anim>
                                    <p:animEffect transition="in" filter="fade">
                                      <p:cBhvr>
                                        <p:cTn id="191" dur="250"/>
                                        <p:tgtEl>
                                          <p:spTgt spid="144"/>
                                        </p:tgtEl>
                                      </p:cBhvr>
                                    </p:animEffect>
                                    <p:anim calcmode="lin" valueType="num">
                                      <p:cBhvr additive="base">
                                        <p:cTn id="192" dur="160" fill="hold">
                                          <p:stCondLst>
                                            <p:cond delay="500"/>
                                          </p:stCondLst>
                                        </p:cTn>
                                        <p:tgtEl>
                                          <p:spTgt spid="144"/>
                                        </p:tgtEl>
                                        <p:attrNameLst>
                                          <p:attrName>ppt_w</p:attrName>
                                        </p:attrNameLst>
                                      </p:cBhvr>
                                      <p:tavLst>
                                        <p:tav tm="0">
                                          <p:val>
                                            <p:strVal val="#ppt_w*1.08"/>
                                          </p:val>
                                        </p:tav>
                                        <p:tav tm="100000">
                                          <p:val>
                                            <p:strVal val="#ppt_w"/>
                                          </p:val>
                                        </p:tav>
                                      </p:tavLst>
                                    </p:anim>
                                    <p:anim calcmode="lin" valueType="num">
                                      <p:cBhvr additive="base">
                                        <p:cTn id="193" dur="160" fill="hold">
                                          <p:stCondLst>
                                            <p:cond delay="500"/>
                                          </p:stCondLst>
                                        </p:cTn>
                                        <p:tgtEl>
                                          <p:spTgt spid="144"/>
                                        </p:tgtEl>
                                        <p:attrNameLst>
                                          <p:attrName>ppt_h</p:attrName>
                                        </p:attrNameLst>
                                      </p:cBhvr>
                                      <p:tavLst>
                                        <p:tav tm="0">
                                          <p:val>
                                            <p:strVal val="#ppt_h*1.08"/>
                                          </p:val>
                                        </p:tav>
                                        <p:tav tm="100000">
                                          <p:val>
                                            <p:strVal val="#ppt_h"/>
                                          </p:val>
                                        </p:tav>
                                      </p:tavLst>
                                    </p:anim>
                                  </p:childTnLst>
                                </p:cTn>
                              </p:par>
                              <p:par>
                                <p:cTn id="194" presetID="42" presetClass="entr" presetSubtype="0" fill="hold" grpId="0" nodeType="withEffect">
                                  <p:stCondLst>
                                    <p:cond delay="200"/>
                                  </p:stCondLst>
                                  <p:childTnLst>
                                    <p:set>
                                      <p:cBhvr>
                                        <p:cTn id="195" dur="1" fill="hold">
                                          <p:stCondLst>
                                            <p:cond delay="0"/>
                                          </p:stCondLst>
                                        </p:cTn>
                                        <p:tgtEl>
                                          <p:spTgt spid="141"/>
                                        </p:tgtEl>
                                        <p:attrNameLst>
                                          <p:attrName>style.visibility</p:attrName>
                                        </p:attrNameLst>
                                      </p:cBhvr>
                                      <p:to>
                                        <p:strVal val="visible"/>
                                      </p:to>
                                    </p:set>
                                    <p:animEffect transition="in" filter="fade">
                                      <p:cBhvr>
                                        <p:cTn id="196" dur="500"/>
                                        <p:tgtEl>
                                          <p:spTgt spid="141"/>
                                        </p:tgtEl>
                                      </p:cBhvr>
                                    </p:animEffect>
                                    <p:anim calcmode="lin" valueType="num">
                                      <p:cBhvr additive="base">
                                        <p:cTn id="197" dur="500" decel="100000" fill="hold"/>
                                        <p:tgtEl>
                                          <p:spTgt spid="141"/>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SHOULDLY · 2</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Example 2: Booleans, Strings and Null</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135</a:t>
            </a:r>
            <a:endParaRPr lang="en-US" sz="850" dirty="0"/>
          </a:p>
        </p:txBody>
      </p:sp>
      <p:sp>
        <p:nvSpPr>
          <p:cNvPr id="101" name="s101"/>
          <p:cNvSpPr/>
          <p:nvPr/>
        </p:nvSpPr>
        <p:spPr>
          <a:xfrm>
            <a:off x="543154" y="1783080"/>
            <a:ext cx="6400800" cy="3886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817827"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TransferEmailTests.cs</a:t>
            </a:r>
            <a:endParaRPr lang="en-US" sz="950" dirty="0"/>
          </a:p>
        </p:txBody>
      </p:sp>
      <p:cxnSp>
        <p:nvCxnSpPr>
          <p:cNvPr id="106" name="ln106"/>
          <p:cNvCxnSpPr/>
          <p:nvPr/>
        </p:nvCxnSpPr>
        <p:spPr>
          <a:xfrm>
            <a:off x="543154" y="2194560"/>
            <a:ext cx="6400800" cy="0"/>
          </a:xfrm>
          <a:prstGeom prst="line">
            <a:avLst/>
          </a:prstGeom>
          <a:ln w="9525">
            <a:solidFill>
              <a:srgbClr val="1E3A5F"/>
            </a:solidFill>
          </a:ln>
        </p:spPr>
      </p:cxnSp>
      <p:sp>
        <p:nvSpPr>
          <p:cNvPr id="107" name="s107"/>
          <p:cNvSpPr/>
          <p:nvPr/>
        </p:nvSpPr>
        <p:spPr>
          <a:xfrm>
            <a:off x="543154" y="23134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[Fact]</a:t>
            </a:r>
            <a:endParaRPr lang="en-US" sz="800" dirty="0"/>
          </a:p>
        </p:txBody>
      </p:sp>
      <p:sp>
        <p:nvSpPr>
          <p:cNvPr id="108" name="s108"/>
          <p:cNvSpPr/>
          <p:nvPr/>
        </p:nvSpPr>
        <p:spPr>
          <a:xfrm>
            <a:off x="543154" y="24353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IsValid_GoodAndBad</a:t>
            </a:r>
            <a:r>
              <a:rPr lang="en-US" sz="800" b="0" dirty="0">
                <a:solidFill>
                  <a:srgbClr val="E2E8F0"/>
                </a:solidFill>
                <a:latin typeface="Consolas"/>
                <a:ea typeface="Consolas"/>
                <a:cs typeface="Consolas"/>
              </a:rPr>
              <a:t>()</a:t>
            </a:r>
            <a:endParaRPr lang="en-US" sz="800" dirty="0"/>
          </a:p>
        </p:txBody>
      </p:sp>
      <p:sp>
        <p:nvSpPr>
          <p:cNvPr id="109" name="s109"/>
          <p:cNvSpPr/>
          <p:nvPr/>
        </p:nvSpPr>
        <p:spPr>
          <a:xfrm>
            <a:off x="543154" y="255727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10" name="s110"/>
          <p:cNvSpPr/>
          <p:nvPr/>
        </p:nvSpPr>
        <p:spPr>
          <a:xfrm>
            <a:off x="543154" y="26791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EmailValidator</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IsValid</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"mona@gmail.com"</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ShouldBeTrue</a:t>
            </a:r>
            <a:r>
              <a:rPr lang="en-US" sz="800" b="0" dirty="0">
                <a:solidFill>
                  <a:srgbClr val="E2E8F0"/>
                </a:solidFill>
                <a:latin typeface="Consolas"/>
                <a:ea typeface="Consolas"/>
                <a:cs typeface="Consolas"/>
              </a:rPr>
              <a:t>();</a:t>
            </a:r>
            <a:endParaRPr lang="en-US" sz="800" dirty="0"/>
          </a:p>
        </p:txBody>
      </p:sp>
      <p:sp>
        <p:nvSpPr>
          <p:cNvPr id="111" name="s111"/>
          <p:cNvSpPr/>
          <p:nvPr/>
        </p:nvSpPr>
        <p:spPr>
          <a:xfrm>
            <a:off x="543154" y="280111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EmailValidator</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IsValid</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"mona@@gmail.com"</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ShouldBeFalse</a:t>
            </a:r>
            <a:r>
              <a:rPr lang="en-US" sz="800" b="0" dirty="0">
                <a:solidFill>
                  <a:srgbClr val="E2E8F0"/>
                </a:solidFill>
                <a:latin typeface="Consolas"/>
                <a:ea typeface="Consolas"/>
                <a:cs typeface="Consolas"/>
              </a:rPr>
              <a:t>();</a:t>
            </a:r>
            <a:endParaRPr lang="en-US" sz="800" dirty="0"/>
          </a:p>
        </p:txBody>
      </p:sp>
      <p:sp>
        <p:nvSpPr>
          <p:cNvPr id="112" name="s112"/>
          <p:cNvSpPr/>
          <p:nvPr/>
        </p:nvSpPr>
        <p:spPr>
          <a:xfrm>
            <a:off x="543154" y="29230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13" name="s113"/>
          <p:cNvSpPr/>
          <p:nvPr/>
        </p:nvSpPr>
        <p:spPr>
          <a:xfrm>
            <a:off x="543154" y="316687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[Fact]</a:t>
            </a:r>
            <a:endParaRPr lang="en-US" sz="800" dirty="0"/>
          </a:p>
        </p:txBody>
      </p:sp>
      <p:sp>
        <p:nvSpPr>
          <p:cNvPr id="114" name="s114"/>
          <p:cNvSpPr/>
          <p:nvPr/>
        </p:nvSpPr>
        <p:spPr>
          <a:xfrm>
            <a:off x="543154" y="32887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Transfer_Email_HasTheAmount</a:t>
            </a:r>
            <a:r>
              <a:rPr lang="en-US" sz="800" b="0" dirty="0">
                <a:solidFill>
                  <a:srgbClr val="E2E8F0"/>
                </a:solidFill>
                <a:latin typeface="Consolas"/>
                <a:ea typeface="Consolas"/>
                <a:cs typeface="Consolas"/>
              </a:rPr>
              <a:t>()</a:t>
            </a:r>
            <a:endParaRPr lang="en-US" sz="800" dirty="0"/>
          </a:p>
        </p:txBody>
      </p:sp>
      <p:sp>
        <p:nvSpPr>
          <p:cNvPr id="115" name="s115"/>
          <p:cNvSpPr/>
          <p:nvPr/>
        </p:nvSpPr>
        <p:spPr>
          <a:xfrm>
            <a:off x="543154" y="341071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16" name="s116"/>
          <p:cNvSpPr/>
          <p:nvPr/>
        </p:nvSpPr>
        <p:spPr>
          <a:xfrm>
            <a:off x="543154" y="35326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service.</a:t>
            </a:r>
            <a:r>
              <a:rPr lang="en-US" sz="800" b="0" dirty="0">
                <a:solidFill>
                  <a:srgbClr val="7DD3FC"/>
                </a:solidFill>
                <a:latin typeface="Consolas"/>
                <a:ea typeface="Consolas"/>
                <a:cs typeface="Consolas"/>
              </a:rPr>
              <a:t>Transfer</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"mona@bank.eg"</a:t>
            </a:r>
            <a:r>
              <a:rPr lang="en-US" sz="800" b="0" dirty="0">
                <a:solidFill>
                  <a:srgbClr val="E2E8F0"/>
                </a:solidFill>
                <a:latin typeface="Consolas"/>
                <a:ea typeface="Consolas"/>
                <a:cs typeface="Consolas"/>
              </a:rPr>
              <a:t>, </a:t>
            </a:r>
            <a:r>
              <a:rPr lang="en-US" sz="800" b="0" dirty="0">
                <a:solidFill>
                  <a:srgbClr val="F0A98B"/>
                </a:solidFill>
                <a:latin typeface="Consolas"/>
                <a:ea typeface="Consolas"/>
                <a:cs typeface="Consolas"/>
              </a:rPr>
              <a:t>"ali@bank.eg"</a:t>
            </a:r>
            <a:r>
              <a:rPr lang="en-US" sz="800" b="0" dirty="0">
                <a:solidFill>
                  <a:srgbClr val="E2E8F0"/>
                </a:solidFill>
                <a:latin typeface="Consolas"/>
                <a:ea typeface="Consolas"/>
                <a:cs typeface="Consolas"/>
              </a:rPr>
              <a:t>, </a:t>
            </a:r>
            <a:r>
              <a:rPr lang="en-US" sz="800" b="0" dirty="0">
                <a:solidFill>
                  <a:srgbClr val="C4B5FD"/>
                </a:solidFill>
                <a:latin typeface="Consolas"/>
                <a:ea typeface="Consolas"/>
                <a:cs typeface="Consolas"/>
              </a:rPr>
              <a:t>100m</a:t>
            </a:r>
            <a:r>
              <a:rPr lang="en-US" sz="800" b="0" dirty="0">
                <a:solidFill>
                  <a:srgbClr val="E2E8F0"/>
                </a:solidFill>
                <a:latin typeface="Consolas"/>
                <a:ea typeface="Consolas"/>
                <a:cs typeface="Consolas"/>
              </a:rPr>
              <a:t>);</a:t>
            </a:r>
            <a:endParaRPr lang="en-US" sz="800" dirty="0"/>
          </a:p>
        </p:txBody>
      </p:sp>
      <p:sp>
        <p:nvSpPr>
          <p:cNvPr id="117" name="s117"/>
          <p:cNvSpPr/>
          <p:nvPr/>
        </p:nvSpPr>
        <p:spPr>
          <a:xfrm>
            <a:off x="543154" y="36545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string</a:t>
            </a:r>
            <a:r>
              <a:rPr lang="en-US" sz="800" b="0" dirty="0">
                <a:solidFill>
                  <a:srgbClr val="E2E8F0"/>
                </a:solidFill>
                <a:latin typeface="Consolas"/>
                <a:ea typeface="Consolas"/>
                <a:cs typeface="Consolas"/>
              </a:rPr>
              <a:t> body = spy.</a:t>
            </a:r>
            <a:r>
              <a:rPr lang="en-US" sz="800" b="0" dirty="0">
                <a:solidFill>
                  <a:srgbClr val="7DD3FC"/>
                </a:solidFill>
                <a:latin typeface="Consolas"/>
                <a:ea typeface="Consolas"/>
                <a:cs typeface="Consolas"/>
              </a:rPr>
              <a:t>Sent</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Single</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Body</a:t>
            </a:r>
            <a:r>
              <a:rPr lang="en-US" sz="800" b="0" dirty="0">
                <a:solidFill>
                  <a:srgbClr val="E2E8F0"/>
                </a:solidFill>
                <a:latin typeface="Consolas"/>
                <a:ea typeface="Consolas"/>
                <a:cs typeface="Consolas"/>
              </a:rPr>
              <a:t>;   </a:t>
            </a:r>
            <a:r>
              <a:rPr lang="en-US" sz="800" b="0" dirty="0">
                <a:solidFill>
                  <a:srgbClr val="6FAE7A"/>
                </a:solidFill>
                <a:latin typeface="Consolas"/>
                <a:ea typeface="Consolas"/>
                <a:cs typeface="Consolas"/>
              </a:rPr>
              <a:t>// "You sent 100.00 EGP to ali@bank.eg."</a:t>
            </a:r>
            <a:endParaRPr lang="en-US" sz="800" dirty="0"/>
          </a:p>
        </p:txBody>
      </p:sp>
      <p:sp>
        <p:nvSpPr>
          <p:cNvPr id="118" name="s118"/>
          <p:cNvSpPr/>
          <p:nvPr/>
        </p:nvSpPr>
        <p:spPr>
          <a:xfrm>
            <a:off x="543154" y="38983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body.</a:t>
            </a:r>
            <a:r>
              <a:rPr lang="en-US" sz="800" b="0" dirty="0">
                <a:solidFill>
                  <a:srgbClr val="7DD3FC"/>
                </a:solidFill>
                <a:latin typeface="Consolas"/>
                <a:ea typeface="Consolas"/>
                <a:cs typeface="Consolas"/>
              </a:rPr>
              <a:t>ShouldNotBeNullOrWhiteSpace</a:t>
            </a:r>
            <a:r>
              <a:rPr lang="en-US" sz="800" b="0" dirty="0">
                <a:solidFill>
                  <a:srgbClr val="E2E8F0"/>
                </a:solidFill>
                <a:latin typeface="Consolas"/>
                <a:ea typeface="Consolas"/>
                <a:cs typeface="Consolas"/>
              </a:rPr>
              <a:t>();</a:t>
            </a:r>
            <a:endParaRPr lang="en-US" sz="800" dirty="0"/>
          </a:p>
        </p:txBody>
      </p:sp>
      <p:sp>
        <p:nvSpPr>
          <p:cNvPr id="119" name="s119"/>
          <p:cNvSpPr/>
          <p:nvPr/>
        </p:nvSpPr>
        <p:spPr>
          <a:xfrm>
            <a:off x="543154" y="402031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body.</a:t>
            </a:r>
            <a:r>
              <a:rPr lang="en-US" sz="800" b="0" dirty="0">
                <a:solidFill>
                  <a:srgbClr val="7DD3FC"/>
                </a:solidFill>
                <a:latin typeface="Consolas"/>
                <a:ea typeface="Consolas"/>
                <a:cs typeface="Consolas"/>
              </a:rPr>
              <a:t>ShouldStartWith</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"You sent"</a:t>
            </a:r>
            <a:r>
              <a:rPr lang="en-US" sz="800" b="0" dirty="0">
                <a:solidFill>
                  <a:srgbClr val="E2E8F0"/>
                </a:solidFill>
                <a:latin typeface="Consolas"/>
                <a:ea typeface="Consolas"/>
                <a:cs typeface="Consolas"/>
              </a:rPr>
              <a:t>);</a:t>
            </a:r>
            <a:endParaRPr lang="en-US" sz="800" dirty="0"/>
          </a:p>
        </p:txBody>
      </p:sp>
      <p:sp>
        <p:nvSpPr>
          <p:cNvPr id="120" name="s120"/>
          <p:cNvSpPr/>
          <p:nvPr/>
        </p:nvSpPr>
        <p:spPr>
          <a:xfrm>
            <a:off x="543154" y="41422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body.</a:t>
            </a:r>
            <a:r>
              <a:rPr lang="en-US" sz="800" b="0" dirty="0">
                <a:solidFill>
                  <a:srgbClr val="7DD3FC"/>
                </a:solidFill>
                <a:latin typeface="Consolas"/>
                <a:ea typeface="Consolas"/>
                <a:cs typeface="Consolas"/>
              </a:rPr>
              <a:t>ShouldContain</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"100.00 EGP"</a:t>
            </a:r>
            <a:r>
              <a:rPr lang="en-US" sz="800" b="0" dirty="0">
                <a:solidFill>
                  <a:srgbClr val="E2E8F0"/>
                </a:solidFill>
                <a:latin typeface="Consolas"/>
                <a:ea typeface="Consolas"/>
                <a:cs typeface="Consolas"/>
              </a:rPr>
              <a:t>);</a:t>
            </a:r>
            <a:endParaRPr lang="en-US" sz="800" dirty="0"/>
          </a:p>
        </p:txBody>
      </p:sp>
      <p:sp>
        <p:nvSpPr>
          <p:cNvPr id="121" name="s121"/>
          <p:cNvSpPr/>
          <p:nvPr/>
        </p:nvSpPr>
        <p:spPr>
          <a:xfrm>
            <a:off x="543154" y="42641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body.</a:t>
            </a:r>
            <a:r>
              <a:rPr lang="en-US" sz="800" b="0" dirty="0">
                <a:solidFill>
                  <a:srgbClr val="7DD3FC"/>
                </a:solidFill>
                <a:latin typeface="Consolas"/>
                <a:ea typeface="Consolas"/>
                <a:cs typeface="Consolas"/>
              </a:rPr>
              <a:t>ShouldEndWith</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"ali@bank.eg."</a:t>
            </a:r>
            <a:r>
              <a:rPr lang="en-US" sz="800" b="0" dirty="0">
                <a:solidFill>
                  <a:srgbClr val="E2E8F0"/>
                </a:solidFill>
                <a:latin typeface="Consolas"/>
                <a:ea typeface="Consolas"/>
                <a:cs typeface="Consolas"/>
              </a:rPr>
              <a:t>);</a:t>
            </a:r>
            <a:endParaRPr lang="en-US" sz="800" dirty="0"/>
          </a:p>
        </p:txBody>
      </p:sp>
      <p:sp>
        <p:nvSpPr>
          <p:cNvPr id="122" name="s122"/>
          <p:cNvSpPr/>
          <p:nvPr/>
        </p:nvSpPr>
        <p:spPr>
          <a:xfrm>
            <a:off x="543154" y="438607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body.</a:t>
            </a:r>
            <a:r>
              <a:rPr lang="en-US" sz="800" b="0" dirty="0">
                <a:solidFill>
                  <a:srgbClr val="7DD3FC"/>
                </a:solidFill>
                <a:latin typeface="Consolas"/>
                <a:ea typeface="Consolas"/>
                <a:cs typeface="Consolas"/>
              </a:rPr>
              <a:t>ShouldContain</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"egp"</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Case</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Insensitive</a:t>
            </a:r>
            <a:r>
              <a:rPr lang="en-US" sz="800" b="0" dirty="0">
                <a:solidFill>
                  <a:srgbClr val="E2E8F0"/>
                </a:solidFill>
                <a:latin typeface="Consolas"/>
                <a:ea typeface="Consolas"/>
                <a:cs typeface="Consolas"/>
              </a:rPr>
              <a:t>);</a:t>
            </a:r>
            <a:endParaRPr lang="en-US" sz="800" dirty="0"/>
          </a:p>
        </p:txBody>
      </p:sp>
      <p:sp>
        <p:nvSpPr>
          <p:cNvPr id="123" name="s123"/>
          <p:cNvSpPr/>
          <p:nvPr/>
        </p:nvSpPr>
        <p:spPr>
          <a:xfrm>
            <a:off x="543154" y="45079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body.</a:t>
            </a:r>
            <a:r>
              <a:rPr lang="en-US" sz="800" b="0" dirty="0">
                <a:solidFill>
                  <a:srgbClr val="7DD3FC"/>
                </a:solidFill>
                <a:latin typeface="Consolas"/>
                <a:ea typeface="Consolas"/>
                <a:cs typeface="Consolas"/>
              </a:rPr>
              <a:t>ShouldMatch</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@"^You sent \d+\.\d{2} EGP to .+\.$"</a:t>
            </a:r>
            <a:r>
              <a:rPr lang="en-US" sz="800" b="0" dirty="0">
                <a:solidFill>
                  <a:srgbClr val="E2E8F0"/>
                </a:solidFill>
                <a:latin typeface="Consolas"/>
                <a:ea typeface="Consolas"/>
                <a:cs typeface="Consolas"/>
              </a:rPr>
              <a:t>);   </a:t>
            </a:r>
            <a:r>
              <a:rPr lang="en-US" sz="800" b="0" dirty="0">
                <a:solidFill>
                  <a:srgbClr val="6FAE7A"/>
                </a:solidFill>
                <a:latin typeface="Consolas"/>
                <a:ea typeface="Consolas"/>
                <a:cs typeface="Consolas"/>
              </a:rPr>
              <a:t>// regex</a:t>
            </a:r>
            <a:endParaRPr lang="en-US" sz="800" dirty="0"/>
          </a:p>
        </p:txBody>
      </p:sp>
      <p:sp>
        <p:nvSpPr>
          <p:cNvPr id="124" name="s124"/>
          <p:cNvSpPr/>
          <p:nvPr/>
        </p:nvSpPr>
        <p:spPr>
          <a:xfrm>
            <a:off x="543154" y="462991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25" name="s125"/>
          <p:cNvSpPr/>
          <p:nvPr/>
        </p:nvSpPr>
        <p:spPr>
          <a:xfrm>
            <a:off x="543154" y="48737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[Fact]</a:t>
            </a:r>
            <a:endParaRPr lang="en-US" sz="800" dirty="0"/>
          </a:p>
        </p:txBody>
      </p:sp>
      <p:sp>
        <p:nvSpPr>
          <p:cNvPr id="126" name="s126"/>
          <p:cNvSpPr/>
          <p:nvPr/>
        </p:nvSpPr>
        <p:spPr>
          <a:xfrm>
            <a:off x="543154" y="499567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Find_Missing_ReturnsNull</a:t>
            </a:r>
            <a:r>
              <a:rPr lang="en-US" sz="800" b="0" dirty="0">
                <a:solidFill>
                  <a:srgbClr val="E2E8F0"/>
                </a:solidFill>
                <a:latin typeface="Consolas"/>
                <a:ea typeface="Consolas"/>
                <a:cs typeface="Consolas"/>
              </a:rPr>
              <a:t>()</a:t>
            </a:r>
            <a:endParaRPr lang="en-US" sz="800" dirty="0"/>
          </a:p>
        </p:txBody>
      </p:sp>
      <p:sp>
        <p:nvSpPr>
          <p:cNvPr id="127" name="s127"/>
          <p:cNvSpPr/>
          <p:nvPr/>
        </p:nvSpPr>
        <p:spPr>
          <a:xfrm>
            <a:off x="543154" y="51175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28" name="s128"/>
          <p:cNvSpPr/>
          <p:nvPr/>
        </p:nvSpPr>
        <p:spPr>
          <a:xfrm>
            <a:off x="543154" y="523951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repo.</a:t>
            </a:r>
            <a:r>
              <a:rPr lang="en-US" sz="800" b="0" dirty="0">
                <a:solidFill>
                  <a:srgbClr val="7DD3FC"/>
                </a:solidFill>
                <a:latin typeface="Consolas"/>
                <a:ea typeface="Consolas"/>
                <a:cs typeface="Consolas"/>
              </a:rPr>
              <a:t>Find</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"nobody@bank.eg"</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ShouldBeNull</a:t>
            </a:r>
            <a:r>
              <a:rPr lang="en-US" sz="800" b="0" dirty="0">
                <a:solidFill>
                  <a:srgbClr val="E2E8F0"/>
                </a:solidFill>
                <a:latin typeface="Consolas"/>
                <a:ea typeface="Consolas"/>
                <a:cs typeface="Consolas"/>
              </a:rPr>
              <a:t>();</a:t>
            </a:r>
            <a:endParaRPr lang="en-US" sz="800" dirty="0"/>
          </a:p>
        </p:txBody>
      </p:sp>
      <p:sp>
        <p:nvSpPr>
          <p:cNvPr id="129" name="s129"/>
          <p:cNvSpPr/>
          <p:nvPr/>
        </p:nvSpPr>
        <p:spPr>
          <a:xfrm>
            <a:off x="543154" y="53614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repo.</a:t>
            </a:r>
            <a:r>
              <a:rPr lang="en-US" sz="800" b="0" dirty="0">
                <a:solidFill>
                  <a:srgbClr val="7DD3FC"/>
                </a:solidFill>
                <a:latin typeface="Consolas"/>
                <a:ea typeface="Consolas"/>
                <a:cs typeface="Consolas"/>
              </a:rPr>
              <a:t>Find</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"mona@bank.eg"</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ShouldNotBeNull</a:t>
            </a:r>
            <a:r>
              <a:rPr lang="en-US" sz="800" b="0" dirty="0">
                <a:solidFill>
                  <a:srgbClr val="E2E8F0"/>
                </a:solidFill>
                <a:latin typeface="Consolas"/>
                <a:ea typeface="Consolas"/>
                <a:cs typeface="Consolas"/>
              </a:rPr>
              <a:t>();</a:t>
            </a:r>
            <a:endParaRPr lang="en-US" sz="800" dirty="0"/>
          </a:p>
        </p:txBody>
      </p:sp>
      <p:sp>
        <p:nvSpPr>
          <p:cNvPr id="130" name="s130"/>
          <p:cNvSpPr/>
          <p:nvPr/>
        </p:nvSpPr>
        <p:spPr>
          <a:xfrm>
            <a:off x="543154" y="54833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31" name="s131"/>
          <p:cNvSpPr/>
          <p:nvPr/>
        </p:nvSpPr>
        <p:spPr>
          <a:xfrm>
            <a:off x="7172554" y="1783080"/>
            <a:ext cx="4458614" cy="160020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32" name="s132"/>
          <p:cNvSpPr/>
          <p:nvPr/>
        </p:nvSpPr>
        <p:spPr>
          <a:xfrm>
            <a:off x="73371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33" name="s133"/>
          <p:cNvSpPr/>
          <p:nvPr/>
        </p:nvSpPr>
        <p:spPr>
          <a:xfrm>
            <a:off x="75200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34" name="s134"/>
          <p:cNvSpPr/>
          <p:nvPr/>
        </p:nvSpPr>
        <p:spPr>
          <a:xfrm>
            <a:off x="77029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35" name="s135"/>
          <p:cNvSpPr/>
          <p:nvPr/>
        </p:nvSpPr>
        <p:spPr>
          <a:xfrm>
            <a:off x="7949794" y="1856232"/>
            <a:ext cx="2388413"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If the amount format is wrong</a:t>
            </a:r>
            <a:endParaRPr lang="en-US" sz="950" dirty="0"/>
          </a:p>
        </p:txBody>
      </p:sp>
      <p:cxnSp>
        <p:nvCxnSpPr>
          <p:cNvPr id="136" name="ln136"/>
          <p:cNvCxnSpPr/>
          <p:nvPr/>
        </p:nvCxnSpPr>
        <p:spPr>
          <a:xfrm>
            <a:off x="7172554" y="2194560"/>
            <a:ext cx="4458614" cy="0"/>
          </a:xfrm>
          <a:prstGeom prst="line">
            <a:avLst/>
          </a:prstGeom>
          <a:ln w="9525">
            <a:solidFill>
              <a:srgbClr val="1E3A5F"/>
            </a:solidFill>
          </a:ln>
        </p:spPr>
      </p:cxnSp>
      <p:sp>
        <p:nvSpPr>
          <p:cNvPr id="137" name="s137"/>
          <p:cNvSpPr/>
          <p:nvPr/>
        </p:nvSpPr>
        <p:spPr>
          <a:xfrm>
            <a:off x="7172554" y="2313432"/>
            <a:ext cx="445861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body</a:t>
            </a:r>
            <a:endParaRPr lang="en-US" sz="1050" dirty="0"/>
          </a:p>
        </p:txBody>
      </p:sp>
      <p:sp>
        <p:nvSpPr>
          <p:cNvPr id="138" name="s138"/>
          <p:cNvSpPr/>
          <p:nvPr/>
        </p:nvSpPr>
        <p:spPr>
          <a:xfrm>
            <a:off x="7172554" y="2473452"/>
            <a:ext cx="445861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should contain (case sensitive)</a:t>
            </a:r>
            <a:endParaRPr lang="en-US" sz="1050" dirty="0"/>
          </a:p>
        </p:txBody>
      </p:sp>
      <p:sp>
        <p:nvSpPr>
          <p:cNvPr id="139" name="s139"/>
          <p:cNvSpPr/>
          <p:nvPr/>
        </p:nvSpPr>
        <p:spPr>
          <a:xfrm>
            <a:off x="7172554" y="2633472"/>
            <a:ext cx="445861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"100.00 EGP"</a:t>
            </a:r>
            <a:endParaRPr lang="en-US" sz="1050" dirty="0"/>
          </a:p>
        </p:txBody>
      </p:sp>
      <p:sp>
        <p:nvSpPr>
          <p:cNvPr id="140" name="s140"/>
          <p:cNvSpPr/>
          <p:nvPr/>
        </p:nvSpPr>
        <p:spPr>
          <a:xfrm>
            <a:off x="7172554" y="2793492"/>
            <a:ext cx="445861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F87171"/>
                </a:solidFill>
                <a:latin typeface="Consolas"/>
                <a:ea typeface="Consolas"/>
                <a:cs typeface="Consolas"/>
              </a:rPr>
              <a:t>    but was actually</a:t>
            </a:r>
            <a:endParaRPr lang="en-US" sz="1050" dirty="0"/>
          </a:p>
        </p:txBody>
      </p:sp>
      <p:sp>
        <p:nvSpPr>
          <p:cNvPr id="141" name="s141"/>
          <p:cNvSpPr/>
          <p:nvPr/>
        </p:nvSpPr>
        <p:spPr>
          <a:xfrm>
            <a:off x="7172554" y="2953512"/>
            <a:ext cx="445861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"You sent 100 EGP to ali@bank.eg."</a:t>
            </a:r>
            <a:endParaRPr lang="en-US" sz="1050" dirty="0"/>
          </a:p>
        </p:txBody>
      </p:sp>
      <p:sp>
        <p:nvSpPr>
          <p:cNvPr id="142" name="s142"/>
          <p:cNvSpPr/>
          <p:nvPr/>
        </p:nvSpPr>
        <p:spPr>
          <a:xfrm>
            <a:off x="7172554" y="3520440"/>
            <a:ext cx="4458614" cy="100584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CHECK THE PART THAT MATTERS</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A full-text ShouldBe breaks when someone adds one word.</a:t>
            </a:r>
            <a:endParaRPr lang="en-US" sz="1200" dirty="0"/>
          </a:p>
        </p:txBody>
      </p:sp>
      <p:sp>
        <p:nvSpPr>
          <p:cNvPr id="143" name="s143"/>
          <p:cNvSpPr/>
          <p:nvPr/>
        </p:nvSpPr>
        <p:spPr>
          <a:xfrm>
            <a:off x="7172554" y="4663440"/>
            <a:ext cx="4458614" cy="1005840"/>
          </a:xfrm>
          <a:prstGeom prst="roundRect">
            <a:avLst>
              <a:gd name="adj" fmla="val 10000"/>
            </a:avLst>
          </a:prstGeom>
          <a:solidFill>
            <a:srgbClr val="FBBF24">
              <a:alpha val="8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BBF24"/>
                </a:solidFill>
                <a:latin typeface="Segoe UI"/>
                <a:ea typeface="Segoe UI"/>
                <a:cs typeface="Segoe UI"/>
              </a:rPr>
              <a:t>NULL</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ShouldNotBeNull() also tells the compiler the value is safe to use.</a:t>
            </a:r>
            <a:endParaRPr lang="en-US" sz="1200" dirty="0"/>
          </a:p>
        </p:txBody>
      </p:sp>
      <p:sp>
        <p:nvSpPr>
          <p:cNvPr id="144" name="s144"/>
          <p:cNvSpPr/>
          <p:nvPr/>
        </p:nvSpPr>
        <p:spPr>
          <a:xfrm>
            <a:off x="652882" y="2651760"/>
            <a:ext cx="6181344" cy="298704"/>
          </a:xfrm>
          <a:prstGeom prst="roundRect">
            <a:avLst>
              <a:gd name="adj" fmla="val 6000"/>
            </a:avLst>
          </a:prstGeom>
          <a:solidFill>
            <a:srgbClr val="13D0F7">
              <a:alpha val="10000"/>
            </a:srgbClr>
          </a:solidFill>
          <a:ln w="15875">
            <a:solidFill>
              <a:srgbClr val="13D0F7"/>
            </a:solidFill>
            <a:prstDash val="solid"/>
          </a:ln>
        </p:spPr>
        <p:txBody>
          <a:bodyPr wrap="square" lIns="164592" tIns="109728" rIns="137160" bIns="91440" rtlCol="0" anchor="t">
            <a:noAutofit/>
          </a:bodyPr>
          <a:lstStyle/>
          <a:p>
            <a:endParaRPr lang="en-US"/>
          </a:p>
        </p:txBody>
      </p:sp>
      <p:sp>
        <p:nvSpPr>
          <p:cNvPr id="145" name="s145"/>
          <p:cNvSpPr/>
          <p:nvPr/>
        </p:nvSpPr>
        <p:spPr>
          <a:xfrm>
            <a:off x="652882" y="3870960"/>
            <a:ext cx="6181344" cy="78638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46" name="s146"/>
          <p:cNvSpPr/>
          <p:nvPr/>
        </p:nvSpPr>
        <p:spPr>
          <a:xfrm>
            <a:off x="652882" y="5212080"/>
            <a:ext cx="6181344" cy="29870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0"/>
                                        </p:tgtEl>
                                        <p:attrNameLst>
                                          <p:attrName>style.visibility</p:attrName>
                                        </p:attrNameLst>
                                      </p:cBhvr>
                                      <p:to>
                                        <p:strVal val="visible"/>
                                      </p:to>
                                    </p:set>
                                    <p:animEffect transition="in" filter="fade">
                                      <p:cBhvr>
                                        <p:cTn id="83" dur="500"/>
                                        <p:tgtEl>
                                          <p:spTgt spid="120"/>
                                        </p:tgtEl>
                                      </p:cBhvr>
                                    </p:animEffect>
                                    <p:anim calcmode="lin" valueType="num">
                                      <p:cBhvr additive="base">
                                        <p:cTn id="84" dur="500" decel="100000" fill="hold"/>
                                        <p:tgtEl>
                                          <p:spTgt spid="120"/>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121"/>
                                        </p:tgtEl>
                                        <p:attrNameLst>
                                          <p:attrName>style.visibility</p:attrName>
                                        </p:attrNameLst>
                                      </p:cBhvr>
                                      <p:to>
                                        <p:strVal val="visible"/>
                                      </p:to>
                                    </p:set>
                                    <p:animEffect transition="in" filter="fade">
                                      <p:cBhvr>
                                        <p:cTn id="87" dur="500"/>
                                        <p:tgtEl>
                                          <p:spTgt spid="121"/>
                                        </p:tgtEl>
                                      </p:cBhvr>
                                    </p:animEffect>
                                    <p:anim calcmode="lin" valueType="num">
                                      <p:cBhvr additive="base">
                                        <p:cTn id="88" dur="500" decel="100000" fill="hold"/>
                                        <p:tgtEl>
                                          <p:spTgt spid="121"/>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122"/>
                                        </p:tgtEl>
                                        <p:attrNameLst>
                                          <p:attrName>style.visibility</p:attrName>
                                        </p:attrNameLst>
                                      </p:cBhvr>
                                      <p:to>
                                        <p:strVal val="visible"/>
                                      </p:to>
                                    </p:set>
                                    <p:animEffect transition="in" filter="fade">
                                      <p:cBhvr>
                                        <p:cTn id="91" dur="500"/>
                                        <p:tgtEl>
                                          <p:spTgt spid="122"/>
                                        </p:tgtEl>
                                      </p:cBhvr>
                                    </p:animEffect>
                                    <p:anim calcmode="lin" valueType="num">
                                      <p:cBhvr additive="base">
                                        <p:cTn id="92" dur="500" decel="100000" fill="hold"/>
                                        <p:tgtEl>
                                          <p:spTgt spid="122"/>
                                        </p:tgtEl>
                                        <p:attrNameLst>
                                          <p:attrName>ppt_y</p:attrName>
                                        </p:attrNameLst>
                                      </p:cBhvr>
                                      <p:tavLst>
                                        <p:tav tm="0">
                                          <p:val>
                                            <p:strVal val="#ppt_y+0.06"/>
                                          </p:val>
                                        </p:tav>
                                        <p:tav tm="100000">
                                          <p:val>
                                            <p:strVal val="#ppt_y"/>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123"/>
                                        </p:tgtEl>
                                        <p:attrNameLst>
                                          <p:attrName>style.visibility</p:attrName>
                                        </p:attrNameLst>
                                      </p:cBhvr>
                                      <p:to>
                                        <p:strVal val="visible"/>
                                      </p:to>
                                    </p:set>
                                    <p:animEffect transition="in" filter="fade">
                                      <p:cBhvr>
                                        <p:cTn id="95" dur="500"/>
                                        <p:tgtEl>
                                          <p:spTgt spid="123"/>
                                        </p:tgtEl>
                                      </p:cBhvr>
                                    </p:animEffect>
                                    <p:anim calcmode="lin" valueType="num">
                                      <p:cBhvr additive="base">
                                        <p:cTn id="96" dur="500" decel="100000" fill="hold"/>
                                        <p:tgtEl>
                                          <p:spTgt spid="123"/>
                                        </p:tgtEl>
                                        <p:attrNameLst>
                                          <p:attrName>ppt_y</p:attrName>
                                        </p:attrNameLst>
                                      </p:cBhvr>
                                      <p:tavLst>
                                        <p:tav tm="0">
                                          <p:val>
                                            <p:strVal val="#ppt_y+0.06"/>
                                          </p:val>
                                        </p:tav>
                                        <p:tav tm="100000">
                                          <p:val>
                                            <p:strVal val="#ppt_y"/>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4"/>
                                        </p:tgtEl>
                                        <p:attrNameLst>
                                          <p:attrName>style.visibility</p:attrName>
                                        </p:attrNameLst>
                                      </p:cBhvr>
                                      <p:to>
                                        <p:strVal val="visible"/>
                                      </p:to>
                                    </p:set>
                                    <p:animEffect transition="in" filter="fade">
                                      <p:cBhvr>
                                        <p:cTn id="99" dur="500"/>
                                        <p:tgtEl>
                                          <p:spTgt spid="124"/>
                                        </p:tgtEl>
                                      </p:cBhvr>
                                    </p:animEffect>
                                    <p:anim calcmode="lin" valueType="num">
                                      <p:cBhvr additive="base">
                                        <p:cTn id="100" dur="500" decel="100000" fill="hold"/>
                                        <p:tgtEl>
                                          <p:spTgt spid="124"/>
                                        </p:tgtEl>
                                        <p:attrNameLst>
                                          <p:attrName>ppt_y</p:attrName>
                                        </p:attrNameLst>
                                      </p:cBhvr>
                                      <p:tavLst>
                                        <p:tav tm="0">
                                          <p:val>
                                            <p:strVal val="#ppt_y+0.06"/>
                                          </p:val>
                                        </p:tav>
                                        <p:tav tm="100000">
                                          <p:val>
                                            <p:strVal val="#ppt_y"/>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25"/>
                                        </p:tgtEl>
                                        <p:attrNameLst>
                                          <p:attrName>style.visibility</p:attrName>
                                        </p:attrNameLst>
                                      </p:cBhvr>
                                      <p:to>
                                        <p:strVal val="visible"/>
                                      </p:to>
                                    </p:set>
                                    <p:animEffect transition="in" filter="fade">
                                      <p:cBhvr>
                                        <p:cTn id="103" dur="500"/>
                                        <p:tgtEl>
                                          <p:spTgt spid="125"/>
                                        </p:tgtEl>
                                      </p:cBhvr>
                                    </p:animEffect>
                                    <p:anim calcmode="lin" valueType="num">
                                      <p:cBhvr additive="base">
                                        <p:cTn id="104" dur="500" decel="100000" fill="hold"/>
                                        <p:tgtEl>
                                          <p:spTgt spid="125"/>
                                        </p:tgtEl>
                                        <p:attrNameLst>
                                          <p:attrName>ppt_y</p:attrName>
                                        </p:attrNameLst>
                                      </p:cBhvr>
                                      <p:tavLst>
                                        <p:tav tm="0">
                                          <p:val>
                                            <p:strVal val="#ppt_y+0.06"/>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26"/>
                                        </p:tgtEl>
                                        <p:attrNameLst>
                                          <p:attrName>style.visibility</p:attrName>
                                        </p:attrNameLst>
                                      </p:cBhvr>
                                      <p:to>
                                        <p:strVal val="visible"/>
                                      </p:to>
                                    </p:set>
                                    <p:animEffect transition="in" filter="fade">
                                      <p:cBhvr>
                                        <p:cTn id="107" dur="500"/>
                                        <p:tgtEl>
                                          <p:spTgt spid="126"/>
                                        </p:tgtEl>
                                      </p:cBhvr>
                                    </p:animEffect>
                                    <p:anim calcmode="lin" valueType="num">
                                      <p:cBhvr additive="base">
                                        <p:cTn id="108" dur="500" decel="100000" fill="hold"/>
                                        <p:tgtEl>
                                          <p:spTgt spid="126"/>
                                        </p:tgtEl>
                                        <p:attrNameLst>
                                          <p:attrName>ppt_y</p:attrName>
                                        </p:attrNameLst>
                                      </p:cBhvr>
                                      <p:tavLst>
                                        <p:tav tm="0">
                                          <p:val>
                                            <p:strVal val="#ppt_y+0.06"/>
                                          </p:val>
                                        </p:tav>
                                        <p:tav tm="100000">
                                          <p:val>
                                            <p:strVal val="#ppt_y"/>
                                          </p:val>
                                        </p:tav>
                                      </p:tavLst>
                                    </p:anim>
                                  </p:childTnLst>
                                </p:cTn>
                              </p:par>
                              <p:par>
                                <p:cTn id="109" presetID="42" presetClass="entr" presetSubtype="0" fill="hold" grpId="0" nodeType="withEffect">
                                  <p:stCondLst>
                                    <p:cond delay="0"/>
                                  </p:stCondLst>
                                  <p:childTnLst>
                                    <p:set>
                                      <p:cBhvr>
                                        <p:cTn id="110" dur="1" fill="hold">
                                          <p:stCondLst>
                                            <p:cond delay="0"/>
                                          </p:stCondLst>
                                        </p:cTn>
                                        <p:tgtEl>
                                          <p:spTgt spid="127"/>
                                        </p:tgtEl>
                                        <p:attrNameLst>
                                          <p:attrName>style.visibility</p:attrName>
                                        </p:attrNameLst>
                                      </p:cBhvr>
                                      <p:to>
                                        <p:strVal val="visible"/>
                                      </p:to>
                                    </p:set>
                                    <p:animEffect transition="in" filter="fade">
                                      <p:cBhvr>
                                        <p:cTn id="111" dur="500"/>
                                        <p:tgtEl>
                                          <p:spTgt spid="127"/>
                                        </p:tgtEl>
                                      </p:cBhvr>
                                    </p:animEffect>
                                    <p:anim calcmode="lin" valueType="num">
                                      <p:cBhvr additive="base">
                                        <p:cTn id="112" dur="500" decel="100000" fill="hold"/>
                                        <p:tgtEl>
                                          <p:spTgt spid="127"/>
                                        </p:tgtEl>
                                        <p:attrNameLst>
                                          <p:attrName>ppt_y</p:attrName>
                                        </p:attrNameLst>
                                      </p:cBhvr>
                                      <p:tavLst>
                                        <p:tav tm="0">
                                          <p:val>
                                            <p:strVal val="#ppt_y+0.06"/>
                                          </p:val>
                                        </p:tav>
                                        <p:tav tm="100000">
                                          <p:val>
                                            <p:strVal val="#ppt_y"/>
                                          </p:val>
                                        </p:tav>
                                      </p:tavLst>
                                    </p:anim>
                                  </p:childTnLst>
                                </p:cTn>
                              </p:par>
                              <p:par>
                                <p:cTn id="113" presetID="42" presetClass="entr" presetSubtype="0" fill="hold" grpId="0" nodeType="withEffect">
                                  <p:stCondLst>
                                    <p:cond delay="0"/>
                                  </p:stCondLst>
                                  <p:childTnLst>
                                    <p:set>
                                      <p:cBhvr>
                                        <p:cTn id="114" dur="1" fill="hold">
                                          <p:stCondLst>
                                            <p:cond delay="0"/>
                                          </p:stCondLst>
                                        </p:cTn>
                                        <p:tgtEl>
                                          <p:spTgt spid="128"/>
                                        </p:tgtEl>
                                        <p:attrNameLst>
                                          <p:attrName>style.visibility</p:attrName>
                                        </p:attrNameLst>
                                      </p:cBhvr>
                                      <p:to>
                                        <p:strVal val="visible"/>
                                      </p:to>
                                    </p:set>
                                    <p:animEffect transition="in" filter="fade">
                                      <p:cBhvr>
                                        <p:cTn id="115" dur="500"/>
                                        <p:tgtEl>
                                          <p:spTgt spid="128"/>
                                        </p:tgtEl>
                                      </p:cBhvr>
                                    </p:animEffect>
                                    <p:anim calcmode="lin" valueType="num">
                                      <p:cBhvr additive="base">
                                        <p:cTn id="116" dur="500" decel="100000" fill="hold"/>
                                        <p:tgtEl>
                                          <p:spTgt spid="128"/>
                                        </p:tgtEl>
                                        <p:attrNameLst>
                                          <p:attrName>ppt_y</p:attrName>
                                        </p:attrNameLst>
                                      </p:cBhvr>
                                      <p:tavLst>
                                        <p:tav tm="0">
                                          <p:val>
                                            <p:strVal val="#ppt_y+0.06"/>
                                          </p:val>
                                        </p:tav>
                                        <p:tav tm="100000">
                                          <p:val>
                                            <p:strVal val="#ppt_y"/>
                                          </p:val>
                                        </p:tav>
                                      </p:tavLst>
                                    </p:anim>
                                  </p:childTnLst>
                                </p:cTn>
                              </p:par>
                              <p:par>
                                <p:cTn id="117" presetID="42" presetClass="entr" presetSubtype="0" fill="hold" grpId="0" nodeType="withEffect">
                                  <p:stCondLst>
                                    <p:cond delay="0"/>
                                  </p:stCondLst>
                                  <p:childTnLst>
                                    <p:set>
                                      <p:cBhvr>
                                        <p:cTn id="118" dur="1" fill="hold">
                                          <p:stCondLst>
                                            <p:cond delay="0"/>
                                          </p:stCondLst>
                                        </p:cTn>
                                        <p:tgtEl>
                                          <p:spTgt spid="129"/>
                                        </p:tgtEl>
                                        <p:attrNameLst>
                                          <p:attrName>style.visibility</p:attrName>
                                        </p:attrNameLst>
                                      </p:cBhvr>
                                      <p:to>
                                        <p:strVal val="visible"/>
                                      </p:to>
                                    </p:set>
                                    <p:animEffect transition="in" filter="fade">
                                      <p:cBhvr>
                                        <p:cTn id="119" dur="500"/>
                                        <p:tgtEl>
                                          <p:spTgt spid="129"/>
                                        </p:tgtEl>
                                      </p:cBhvr>
                                    </p:animEffect>
                                    <p:anim calcmode="lin" valueType="num">
                                      <p:cBhvr additive="base">
                                        <p:cTn id="120" dur="500" decel="100000" fill="hold"/>
                                        <p:tgtEl>
                                          <p:spTgt spid="129"/>
                                        </p:tgtEl>
                                        <p:attrNameLst>
                                          <p:attrName>ppt_y</p:attrName>
                                        </p:attrNameLst>
                                      </p:cBhvr>
                                      <p:tavLst>
                                        <p:tav tm="0">
                                          <p:val>
                                            <p:strVal val="#ppt_y+0.06"/>
                                          </p:val>
                                        </p:tav>
                                        <p:tav tm="100000">
                                          <p:val>
                                            <p:strVal val="#ppt_y"/>
                                          </p:val>
                                        </p:tav>
                                      </p:tavLst>
                                    </p:anim>
                                  </p:childTnLst>
                                </p:cTn>
                              </p:par>
                              <p:par>
                                <p:cTn id="121" presetID="42" presetClass="entr" presetSubtype="0" fill="hold" grpId="0" nodeType="withEffect">
                                  <p:stCondLst>
                                    <p:cond delay="0"/>
                                  </p:stCondLst>
                                  <p:childTnLst>
                                    <p:set>
                                      <p:cBhvr>
                                        <p:cTn id="122" dur="1" fill="hold">
                                          <p:stCondLst>
                                            <p:cond delay="0"/>
                                          </p:stCondLst>
                                        </p:cTn>
                                        <p:tgtEl>
                                          <p:spTgt spid="130"/>
                                        </p:tgtEl>
                                        <p:attrNameLst>
                                          <p:attrName>style.visibility</p:attrName>
                                        </p:attrNameLst>
                                      </p:cBhvr>
                                      <p:to>
                                        <p:strVal val="visible"/>
                                      </p:to>
                                    </p:set>
                                    <p:animEffect transition="in" filter="fade">
                                      <p:cBhvr>
                                        <p:cTn id="123" dur="500"/>
                                        <p:tgtEl>
                                          <p:spTgt spid="130"/>
                                        </p:tgtEl>
                                      </p:cBhvr>
                                    </p:animEffect>
                                    <p:anim calcmode="lin" valueType="num">
                                      <p:cBhvr additive="base">
                                        <p:cTn id="124" dur="500" decel="100000" fill="hold"/>
                                        <p:tgtEl>
                                          <p:spTgt spid="130"/>
                                        </p:tgtEl>
                                        <p:attrNameLst>
                                          <p:attrName>ppt_y</p:attrName>
                                        </p:attrNameLst>
                                      </p:cBhvr>
                                      <p:tavLst>
                                        <p:tav tm="0">
                                          <p:val>
                                            <p:strVal val="#ppt_y+0.06"/>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53" presetClass="entr" presetSubtype="16" fill="hold" grpId="0" nodeType="clickEffect">
                                  <p:stCondLst>
                                    <p:cond delay="0"/>
                                  </p:stCondLst>
                                  <p:childTnLst>
                                    <p:set>
                                      <p:cBhvr>
                                        <p:cTn id="128" dur="1" fill="hold">
                                          <p:stCondLst>
                                            <p:cond delay="0"/>
                                          </p:stCondLst>
                                        </p:cTn>
                                        <p:tgtEl>
                                          <p:spTgt spid="144"/>
                                        </p:tgtEl>
                                        <p:attrNameLst>
                                          <p:attrName>style.visibility</p:attrName>
                                        </p:attrNameLst>
                                      </p:cBhvr>
                                      <p:to>
                                        <p:strVal val="visible"/>
                                      </p:to>
                                    </p:set>
                                    <p:anim calcmode="lin" valueType="num">
                                      <p:cBhvr additive="base">
                                        <p:cTn id="129" dur="500" decel="100000" fill="hold"/>
                                        <p:tgtEl>
                                          <p:spTgt spid="144"/>
                                        </p:tgtEl>
                                        <p:attrNameLst>
                                          <p:attrName>ppt_w</p:attrName>
                                        </p:attrNameLst>
                                      </p:cBhvr>
                                      <p:tavLst>
                                        <p:tav tm="0">
                                          <p:val>
                                            <p:strVal val="#ppt_w*0.3"/>
                                          </p:val>
                                        </p:tav>
                                        <p:tav tm="100000">
                                          <p:val>
                                            <p:strVal val="#ppt_w*1.08"/>
                                          </p:val>
                                        </p:tav>
                                      </p:tavLst>
                                    </p:anim>
                                    <p:anim calcmode="lin" valueType="num">
                                      <p:cBhvr additive="base">
                                        <p:cTn id="130" dur="500" decel="100000" fill="hold"/>
                                        <p:tgtEl>
                                          <p:spTgt spid="144"/>
                                        </p:tgtEl>
                                        <p:attrNameLst>
                                          <p:attrName>ppt_h</p:attrName>
                                        </p:attrNameLst>
                                      </p:cBhvr>
                                      <p:tavLst>
                                        <p:tav tm="0">
                                          <p:val>
                                            <p:strVal val="#ppt_h*0.3"/>
                                          </p:val>
                                        </p:tav>
                                        <p:tav tm="100000">
                                          <p:val>
                                            <p:strVal val="#ppt_h*1.08"/>
                                          </p:val>
                                        </p:tav>
                                      </p:tavLst>
                                    </p:anim>
                                    <p:animEffect transition="in" filter="fade">
                                      <p:cBhvr>
                                        <p:cTn id="131" dur="250"/>
                                        <p:tgtEl>
                                          <p:spTgt spid="144"/>
                                        </p:tgtEl>
                                      </p:cBhvr>
                                    </p:animEffect>
                                    <p:anim calcmode="lin" valueType="num">
                                      <p:cBhvr additive="base">
                                        <p:cTn id="132" dur="160" fill="hold">
                                          <p:stCondLst>
                                            <p:cond delay="500"/>
                                          </p:stCondLst>
                                        </p:cTn>
                                        <p:tgtEl>
                                          <p:spTgt spid="144"/>
                                        </p:tgtEl>
                                        <p:attrNameLst>
                                          <p:attrName>ppt_w</p:attrName>
                                        </p:attrNameLst>
                                      </p:cBhvr>
                                      <p:tavLst>
                                        <p:tav tm="0">
                                          <p:val>
                                            <p:strVal val="#ppt_w*1.08"/>
                                          </p:val>
                                        </p:tav>
                                        <p:tav tm="100000">
                                          <p:val>
                                            <p:strVal val="#ppt_w"/>
                                          </p:val>
                                        </p:tav>
                                      </p:tavLst>
                                    </p:anim>
                                    <p:anim calcmode="lin" valueType="num">
                                      <p:cBhvr additive="base">
                                        <p:cTn id="133" dur="160" fill="hold">
                                          <p:stCondLst>
                                            <p:cond delay="500"/>
                                          </p:stCondLst>
                                        </p:cTn>
                                        <p:tgtEl>
                                          <p:spTgt spid="144"/>
                                        </p:tgtEl>
                                        <p:attrNameLst>
                                          <p:attrName>ppt_h</p:attrName>
                                        </p:attrNameLst>
                                      </p:cBhvr>
                                      <p:tavLst>
                                        <p:tav tm="0">
                                          <p:val>
                                            <p:strVal val="#ppt_h*1.08"/>
                                          </p:val>
                                        </p:tav>
                                        <p:tav tm="100000">
                                          <p:val>
                                            <p:strVal val="#ppt_h"/>
                                          </p:val>
                                        </p:tav>
                                      </p:tavLst>
                                    </p:anim>
                                  </p:childTnLst>
                                </p:cTn>
                              </p:par>
                            </p:childTnLst>
                          </p:cTn>
                        </p:par>
                      </p:childTnLst>
                    </p:cTn>
                  </p:par>
                  <p:par>
                    <p:cTn id="134" fill="hold">
                      <p:stCondLst>
                        <p:cond delay="indefinite"/>
                      </p:stCondLst>
                      <p:childTnLst>
                        <p:par>
                          <p:cTn id="135" fill="hold">
                            <p:stCondLst>
                              <p:cond delay="0"/>
                            </p:stCondLst>
                            <p:childTnLst>
                              <p:par>
                                <p:cTn id="136" presetID="53" presetClass="entr" presetSubtype="16" fill="hold" grpId="0" nodeType="clickEffect">
                                  <p:stCondLst>
                                    <p:cond delay="0"/>
                                  </p:stCondLst>
                                  <p:childTnLst>
                                    <p:set>
                                      <p:cBhvr>
                                        <p:cTn id="137" dur="1" fill="hold">
                                          <p:stCondLst>
                                            <p:cond delay="0"/>
                                          </p:stCondLst>
                                        </p:cTn>
                                        <p:tgtEl>
                                          <p:spTgt spid="145"/>
                                        </p:tgtEl>
                                        <p:attrNameLst>
                                          <p:attrName>style.visibility</p:attrName>
                                        </p:attrNameLst>
                                      </p:cBhvr>
                                      <p:to>
                                        <p:strVal val="visible"/>
                                      </p:to>
                                    </p:set>
                                    <p:anim calcmode="lin" valueType="num">
                                      <p:cBhvr additive="base">
                                        <p:cTn id="138" dur="500" decel="100000" fill="hold"/>
                                        <p:tgtEl>
                                          <p:spTgt spid="145"/>
                                        </p:tgtEl>
                                        <p:attrNameLst>
                                          <p:attrName>ppt_w</p:attrName>
                                        </p:attrNameLst>
                                      </p:cBhvr>
                                      <p:tavLst>
                                        <p:tav tm="0">
                                          <p:val>
                                            <p:strVal val="#ppt_w*0.3"/>
                                          </p:val>
                                        </p:tav>
                                        <p:tav tm="100000">
                                          <p:val>
                                            <p:strVal val="#ppt_w*1.08"/>
                                          </p:val>
                                        </p:tav>
                                      </p:tavLst>
                                    </p:anim>
                                    <p:anim calcmode="lin" valueType="num">
                                      <p:cBhvr additive="base">
                                        <p:cTn id="139" dur="500" decel="100000" fill="hold"/>
                                        <p:tgtEl>
                                          <p:spTgt spid="145"/>
                                        </p:tgtEl>
                                        <p:attrNameLst>
                                          <p:attrName>ppt_h</p:attrName>
                                        </p:attrNameLst>
                                      </p:cBhvr>
                                      <p:tavLst>
                                        <p:tav tm="0">
                                          <p:val>
                                            <p:strVal val="#ppt_h*0.3"/>
                                          </p:val>
                                        </p:tav>
                                        <p:tav tm="100000">
                                          <p:val>
                                            <p:strVal val="#ppt_h*1.08"/>
                                          </p:val>
                                        </p:tav>
                                      </p:tavLst>
                                    </p:anim>
                                    <p:animEffect transition="in" filter="fade">
                                      <p:cBhvr>
                                        <p:cTn id="140" dur="250"/>
                                        <p:tgtEl>
                                          <p:spTgt spid="145"/>
                                        </p:tgtEl>
                                      </p:cBhvr>
                                    </p:animEffect>
                                    <p:anim calcmode="lin" valueType="num">
                                      <p:cBhvr additive="base">
                                        <p:cTn id="141" dur="160" fill="hold">
                                          <p:stCondLst>
                                            <p:cond delay="500"/>
                                          </p:stCondLst>
                                        </p:cTn>
                                        <p:tgtEl>
                                          <p:spTgt spid="145"/>
                                        </p:tgtEl>
                                        <p:attrNameLst>
                                          <p:attrName>ppt_w</p:attrName>
                                        </p:attrNameLst>
                                      </p:cBhvr>
                                      <p:tavLst>
                                        <p:tav tm="0">
                                          <p:val>
                                            <p:strVal val="#ppt_w*1.08"/>
                                          </p:val>
                                        </p:tav>
                                        <p:tav tm="100000">
                                          <p:val>
                                            <p:strVal val="#ppt_w"/>
                                          </p:val>
                                        </p:tav>
                                      </p:tavLst>
                                    </p:anim>
                                    <p:anim calcmode="lin" valueType="num">
                                      <p:cBhvr additive="base">
                                        <p:cTn id="142" dur="160" fill="hold">
                                          <p:stCondLst>
                                            <p:cond delay="500"/>
                                          </p:stCondLst>
                                        </p:cTn>
                                        <p:tgtEl>
                                          <p:spTgt spid="145"/>
                                        </p:tgtEl>
                                        <p:attrNameLst>
                                          <p:attrName>ppt_h</p:attrName>
                                        </p:attrNameLst>
                                      </p:cBhvr>
                                      <p:tavLst>
                                        <p:tav tm="0">
                                          <p:val>
                                            <p:strVal val="#ppt_h*1.08"/>
                                          </p:val>
                                        </p:tav>
                                        <p:tav tm="100000">
                                          <p:val>
                                            <p:strVal val="#ppt_h"/>
                                          </p:val>
                                        </p:tav>
                                      </p:tavLst>
                                    </p:anim>
                                  </p:childTnLst>
                                </p:cTn>
                              </p:par>
                              <p:par>
                                <p:cTn id="143" presetID="42" presetClass="entr" presetSubtype="0" fill="hold" grpId="0" nodeType="withEffect">
                                  <p:stCondLst>
                                    <p:cond delay="200"/>
                                  </p:stCondLst>
                                  <p:childTnLst>
                                    <p:set>
                                      <p:cBhvr>
                                        <p:cTn id="144" dur="1" fill="hold">
                                          <p:stCondLst>
                                            <p:cond delay="0"/>
                                          </p:stCondLst>
                                        </p:cTn>
                                        <p:tgtEl>
                                          <p:spTgt spid="131"/>
                                        </p:tgtEl>
                                        <p:attrNameLst>
                                          <p:attrName>style.visibility</p:attrName>
                                        </p:attrNameLst>
                                      </p:cBhvr>
                                      <p:to>
                                        <p:strVal val="visible"/>
                                      </p:to>
                                    </p:set>
                                    <p:animEffect transition="in" filter="fade">
                                      <p:cBhvr>
                                        <p:cTn id="145" dur="500"/>
                                        <p:tgtEl>
                                          <p:spTgt spid="131"/>
                                        </p:tgtEl>
                                      </p:cBhvr>
                                    </p:animEffect>
                                    <p:anim calcmode="lin" valueType="num">
                                      <p:cBhvr additive="base">
                                        <p:cTn id="146" dur="500" decel="100000" fill="hold"/>
                                        <p:tgtEl>
                                          <p:spTgt spid="131"/>
                                        </p:tgtEl>
                                        <p:attrNameLst>
                                          <p:attrName>ppt_y</p:attrName>
                                        </p:attrNameLst>
                                      </p:cBhvr>
                                      <p:tavLst>
                                        <p:tav tm="0">
                                          <p:val>
                                            <p:strVal val="#ppt_y+0.06"/>
                                          </p:val>
                                        </p:tav>
                                        <p:tav tm="100000">
                                          <p:val>
                                            <p:strVal val="#ppt_y"/>
                                          </p:val>
                                        </p:tav>
                                      </p:tavLst>
                                    </p:anim>
                                  </p:childTnLst>
                                </p:cTn>
                              </p:par>
                              <p:par>
                                <p:cTn id="147" presetID="42" presetClass="entr" presetSubtype="0" fill="hold" grpId="0" nodeType="withEffect">
                                  <p:stCondLst>
                                    <p:cond delay="200"/>
                                  </p:stCondLst>
                                  <p:childTnLst>
                                    <p:set>
                                      <p:cBhvr>
                                        <p:cTn id="148" dur="1" fill="hold">
                                          <p:stCondLst>
                                            <p:cond delay="0"/>
                                          </p:stCondLst>
                                        </p:cTn>
                                        <p:tgtEl>
                                          <p:spTgt spid="132"/>
                                        </p:tgtEl>
                                        <p:attrNameLst>
                                          <p:attrName>style.visibility</p:attrName>
                                        </p:attrNameLst>
                                      </p:cBhvr>
                                      <p:to>
                                        <p:strVal val="visible"/>
                                      </p:to>
                                    </p:set>
                                    <p:animEffect transition="in" filter="fade">
                                      <p:cBhvr>
                                        <p:cTn id="149" dur="500"/>
                                        <p:tgtEl>
                                          <p:spTgt spid="132"/>
                                        </p:tgtEl>
                                      </p:cBhvr>
                                    </p:animEffect>
                                    <p:anim calcmode="lin" valueType="num">
                                      <p:cBhvr additive="base">
                                        <p:cTn id="150" dur="500" decel="100000" fill="hold"/>
                                        <p:tgtEl>
                                          <p:spTgt spid="132"/>
                                        </p:tgtEl>
                                        <p:attrNameLst>
                                          <p:attrName>ppt_y</p:attrName>
                                        </p:attrNameLst>
                                      </p:cBhvr>
                                      <p:tavLst>
                                        <p:tav tm="0">
                                          <p:val>
                                            <p:strVal val="#ppt_y+0.06"/>
                                          </p:val>
                                        </p:tav>
                                        <p:tav tm="100000">
                                          <p:val>
                                            <p:strVal val="#ppt_y"/>
                                          </p:val>
                                        </p:tav>
                                      </p:tavLst>
                                    </p:anim>
                                  </p:childTnLst>
                                </p:cTn>
                              </p:par>
                              <p:par>
                                <p:cTn id="151" presetID="42" presetClass="entr" presetSubtype="0" fill="hold" grpId="0" nodeType="withEffect">
                                  <p:stCondLst>
                                    <p:cond delay="200"/>
                                  </p:stCondLst>
                                  <p:childTnLst>
                                    <p:set>
                                      <p:cBhvr>
                                        <p:cTn id="152" dur="1" fill="hold">
                                          <p:stCondLst>
                                            <p:cond delay="0"/>
                                          </p:stCondLst>
                                        </p:cTn>
                                        <p:tgtEl>
                                          <p:spTgt spid="133"/>
                                        </p:tgtEl>
                                        <p:attrNameLst>
                                          <p:attrName>style.visibility</p:attrName>
                                        </p:attrNameLst>
                                      </p:cBhvr>
                                      <p:to>
                                        <p:strVal val="visible"/>
                                      </p:to>
                                    </p:set>
                                    <p:animEffect transition="in" filter="fade">
                                      <p:cBhvr>
                                        <p:cTn id="153" dur="500"/>
                                        <p:tgtEl>
                                          <p:spTgt spid="133"/>
                                        </p:tgtEl>
                                      </p:cBhvr>
                                    </p:animEffect>
                                    <p:anim calcmode="lin" valueType="num">
                                      <p:cBhvr additive="base">
                                        <p:cTn id="154" dur="500" decel="100000" fill="hold"/>
                                        <p:tgtEl>
                                          <p:spTgt spid="133"/>
                                        </p:tgtEl>
                                        <p:attrNameLst>
                                          <p:attrName>ppt_y</p:attrName>
                                        </p:attrNameLst>
                                      </p:cBhvr>
                                      <p:tavLst>
                                        <p:tav tm="0">
                                          <p:val>
                                            <p:strVal val="#ppt_y+0.06"/>
                                          </p:val>
                                        </p:tav>
                                        <p:tav tm="100000">
                                          <p:val>
                                            <p:strVal val="#ppt_y"/>
                                          </p:val>
                                        </p:tav>
                                      </p:tavLst>
                                    </p:anim>
                                  </p:childTnLst>
                                </p:cTn>
                              </p:par>
                              <p:par>
                                <p:cTn id="155" presetID="42" presetClass="entr" presetSubtype="0" fill="hold" grpId="0" nodeType="withEffect">
                                  <p:stCondLst>
                                    <p:cond delay="200"/>
                                  </p:stCondLst>
                                  <p:childTnLst>
                                    <p:set>
                                      <p:cBhvr>
                                        <p:cTn id="156" dur="1" fill="hold">
                                          <p:stCondLst>
                                            <p:cond delay="0"/>
                                          </p:stCondLst>
                                        </p:cTn>
                                        <p:tgtEl>
                                          <p:spTgt spid="134"/>
                                        </p:tgtEl>
                                        <p:attrNameLst>
                                          <p:attrName>style.visibility</p:attrName>
                                        </p:attrNameLst>
                                      </p:cBhvr>
                                      <p:to>
                                        <p:strVal val="visible"/>
                                      </p:to>
                                    </p:set>
                                    <p:animEffect transition="in" filter="fade">
                                      <p:cBhvr>
                                        <p:cTn id="157" dur="500"/>
                                        <p:tgtEl>
                                          <p:spTgt spid="134"/>
                                        </p:tgtEl>
                                      </p:cBhvr>
                                    </p:animEffect>
                                    <p:anim calcmode="lin" valueType="num">
                                      <p:cBhvr additive="base">
                                        <p:cTn id="158" dur="500" decel="100000" fill="hold"/>
                                        <p:tgtEl>
                                          <p:spTgt spid="134"/>
                                        </p:tgtEl>
                                        <p:attrNameLst>
                                          <p:attrName>ppt_y</p:attrName>
                                        </p:attrNameLst>
                                      </p:cBhvr>
                                      <p:tavLst>
                                        <p:tav tm="0">
                                          <p:val>
                                            <p:strVal val="#ppt_y+0.06"/>
                                          </p:val>
                                        </p:tav>
                                        <p:tav tm="100000">
                                          <p:val>
                                            <p:strVal val="#ppt_y"/>
                                          </p:val>
                                        </p:tav>
                                      </p:tavLst>
                                    </p:anim>
                                  </p:childTnLst>
                                </p:cTn>
                              </p:par>
                              <p:par>
                                <p:cTn id="159" presetID="42" presetClass="entr" presetSubtype="0" fill="hold" grpId="0" nodeType="withEffect">
                                  <p:stCondLst>
                                    <p:cond delay="200"/>
                                  </p:stCondLst>
                                  <p:childTnLst>
                                    <p:set>
                                      <p:cBhvr>
                                        <p:cTn id="160" dur="1" fill="hold">
                                          <p:stCondLst>
                                            <p:cond delay="0"/>
                                          </p:stCondLst>
                                        </p:cTn>
                                        <p:tgtEl>
                                          <p:spTgt spid="135"/>
                                        </p:tgtEl>
                                        <p:attrNameLst>
                                          <p:attrName>style.visibility</p:attrName>
                                        </p:attrNameLst>
                                      </p:cBhvr>
                                      <p:to>
                                        <p:strVal val="visible"/>
                                      </p:to>
                                    </p:set>
                                    <p:animEffect transition="in" filter="fade">
                                      <p:cBhvr>
                                        <p:cTn id="161" dur="500"/>
                                        <p:tgtEl>
                                          <p:spTgt spid="135"/>
                                        </p:tgtEl>
                                      </p:cBhvr>
                                    </p:animEffect>
                                    <p:anim calcmode="lin" valueType="num">
                                      <p:cBhvr additive="base">
                                        <p:cTn id="162" dur="500" decel="100000" fill="hold"/>
                                        <p:tgtEl>
                                          <p:spTgt spid="135"/>
                                        </p:tgtEl>
                                        <p:attrNameLst>
                                          <p:attrName>ppt_y</p:attrName>
                                        </p:attrNameLst>
                                      </p:cBhvr>
                                      <p:tavLst>
                                        <p:tav tm="0">
                                          <p:val>
                                            <p:strVal val="#ppt_y+0.06"/>
                                          </p:val>
                                        </p:tav>
                                        <p:tav tm="100000">
                                          <p:val>
                                            <p:strVal val="#ppt_y"/>
                                          </p:val>
                                        </p:tav>
                                      </p:tavLst>
                                    </p:anim>
                                  </p:childTnLst>
                                </p:cTn>
                              </p:par>
                              <p:par>
                                <p:cTn id="163" presetID="42" presetClass="entr" presetSubtype="0" fill="hold" nodeType="withEffect">
                                  <p:stCondLst>
                                    <p:cond delay="200"/>
                                  </p:stCondLst>
                                  <p:childTnLst>
                                    <p:set>
                                      <p:cBhvr>
                                        <p:cTn id="164" dur="1" fill="hold">
                                          <p:stCondLst>
                                            <p:cond delay="0"/>
                                          </p:stCondLst>
                                        </p:cTn>
                                        <p:tgtEl>
                                          <p:spTgt spid="136"/>
                                        </p:tgtEl>
                                        <p:attrNameLst>
                                          <p:attrName>style.visibility</p:attrName>
                                        </p:attrNameLst>
                                      </p:cBhvr>
                                      <p:to>
                                        <p:strVal val="visible"/>
                                      </p:to>
                                    </p:set>
                                    <p:animEffect transition="in" filter="fade">
                                      <p:cBhvr>
                                        <p:cTn id="165" dur="500"/>
                                        <p:tgtEl>
                                          <p:spTgt spid="136"/>
                                        </p:tgtEl>
                                      </p:cBhvr>
                                    </p:animEffect>
                                    <p:anim calcmode="lin" valueType="num">
                                      <p:cBhvr additive="base">
                                        <p:cTn id="166" dur="500" decel="100000" fill="hold"/>
                                        <p:tgtEl>
                                          <p:spTgt spid="136"/>
                                        </p:tgtEl>
                                        <p:attrNameLst>
                                          <p:attrName>ppt_y</p:attrName>
                                        </p:attrNameLst>
                                      </p:cBhvr>
                                      <p:tavLst>
                                        <p:tav tm="0">
                                          <p:val>
                                            <p:strVal val="#ppt_y+0.06"/>
                                          </p:val>
                                        </p:tav>
                                        <p:tav tm="100000">
                                          <p:val>
                                            <p:strVal val="#ppt_y"/>
                                          </p:val>
                                        </p:tav>
                                      </p:tavLst>
                                    </p:anim>
                                  </p:childTnLst>
                                </p:cTn>
                              </p:par>
                              <p:par>
                                <p:cTn id="167" presetID="42" presetClass="entr" presetSubtype="0" fill="hold" grpId="0" nodeType="withEffect">
                                  <p:stCondLst>
                                    <p:cond delay="200"/>
                                  </p:stCondLst>
                                  <p:childTnLst>
                                    <p:set>
                                      <p:cBhvr>
                                        <p:cTn id="168" dur="1" fill="hold">
                                          <p:stCondLst>
                                            <p:cond delay="0"/>
                                          </p:stCondLst>
                                        </p:cTn>
                                        <p:tgtEl>
                                          <p:spTgt spid="137"/>
                                        </p:tgtEl>
                                        <p:attrNameLst>
                                          <p:attrName>style.visibility</p:attrName>
                                        </p:attrNameLst>
                                      </p:cBhvr>
                                      <p:to>
                                        <p:strVal val="visible"/>
                                      </p:to>
                                    </p:set>
                                    <p:animEffect transition="in" filter="fade">
                                      <p:cBhvr>
                                        <p:cTn id="169" dur="500"/>
                                        <p:tgtEl>
                                          <p:spTgt spid="137"/>
                                        </p:tgtEl>
                                      </p:cBhvr>
                                    </p:animEffect>
                                    <p:anim calcmode="lin" valueType="num">
                                      <p:cBhvr additive="base">
                                        <p:cTn id="170" dur="500" decel="100000" fill="hold"/>
                                        <p:tgtEl>
                                          <p:spTgt spid="137"/>
                                        </p:tgtEl>
                                        <p:attrNameLst>
                                          <p:attrName>ppt_y</p:attrName>
                                        </p:attrNameLst>
                                      </p:cBhvr>
                                      <p:tavLst>
                                        <p:tav tm="0">
                                          <p:val>
                                            <p:strVal val="#ppt_y+0.06"/>
                                          </p:val>
                                        </p:tav>
                                        <p:tav tm="100000">
                                          <p:val>
                                            <p:strVal val="#ppt_y"/>
                                          </p:val>
                                        </p:tav>
                                      </p:tavLst>
                                    </p:anim>
                                  </p:childTnLst>
                                </p:cTn>
                              </p:par>
                              <p:par>
                                <p:cTn id="171" presetID="42" presetClass="entr" presetSubtype="0" fill="hold" grpId="0" nodeType="withEffect">
                                  <p:stCondLst>
                                    <p:cond delay="200"/>
                                  </p:stCondLst>
                                  <p:childTnLst>
                                    <p:set>
                                      <p:cBhvr>
                                        <p:cTn id="172" dur="1" fill="hold">
                                          <p:stCondLst>
                                            <p:cond delay="0"/>
                                          </p:stCondLst>
                                        </p:cTn>
                                        <p:tgtEl>
                                          <p:spTgt spid="138"/>
                                        </p:tgtEl>
                                        <p:attrNameLst>
                                          <p:attrName>style.visibility</p:attrName>
                                        </p:attrNameLst>
                                      </p:cBhvr>
                                      <p:to>
                                        <p:strVal val="visible"/>
                                      </p:to>
                                    </p:set>
                                    <p:animEffect transition="in" filter="fade">
                                      <p:cBhvr>
                                        <p:cTn id="173" dur="500"/>
                                        <p:tgtEl>
                                          <p:spTgt spid="138"/>
                                        </p:tgtEl>
                                      </p:cBhvr>
                                    </p:animEffect>
                                    <p:anim calcmode="lin" valueType="num">
                                      <p:cBhvr additive="base">
                                        <p:cTn id="174" dur="500" decel="100000" fill="hold"/>
                                        <p:tgtEl>
                                          <p:spTgt spid="138"/>
                                        </p:tgtEl>
                                        <p:attrNameLst>
                                          <p:attrName>ppt_y</p:attrName>
                                        </p:attrNameLst>
                                      </p:cBhvr>
                                      <p:tavLst>
                                        <p:tav tm="0">
                                          <p:val>
                                            <p:strVal val="#ppt_y+0.06"/>
                                          </p:val>
                                        </p:tav>
                                        <p:tav tm="100000">
                                          <p:val>
                                            <p:strVal val="#ppt_y"/>
                                          </p:val>
                                        </p:tav>
                                      </p:tavLst>
                                    </p:anim>
                                  </p:childTnLst>
                                </p:cTn>
                              </p:par>
                              <p:par>
                                <p:cTn id="175" presetID="42" presetClass="entr" presetSubtype="0" fill="hold" grpId="0" nodeType="withEffect">
                                  <p:stCondLst>
                                    <p:cond delay="200"/>
                                  </p:stCondLst>
                                  <p:childTnLst>
                                    <p:set>
                                      <p:cBhvr>
                                        <p:cTn id="176" dur="1" fill="hold">
                                          <p:stCondLst>
                                            <p:cond delay="0"/>
                                          </p:stCondLst>
                                        </p:cTn>
                                        <p:tgtEl>
                                          <p:spTgt spid="139"/>
                                        </p:tgtEl>
                                        <p:attrNameLst>
                                          <p:attrName>style.visibility</p:attrName>
                                        </p:attrNameLst>
                                      </p:cBhvr>
                                      <p:to>
                                        <p:strVal val="visible"/>
                                      </p:to>
                                    </p:set>
                                    <p:animEffect transition="in" filter="fade">
                                      <p:cBhvr>
                                        <p:cTn id="177" dur="500"/>
                                        <p:tgtEl>
                                          <p:spTgt spid="139"/>
                                        </p:tgtEl>
                                      </p:cBhvr>
                                    </p:animEffect>
                                    <p:anim calcmode="lin" valueType="num">
                                      <p:cBhvr additive="base">
                                        <p:cTn id="178" dur="500" decel="100000" fill="hold"/>
                                        <p:tgtEl>
                                          <p:spTgt spid="139"/>
                                        </p:tgtEl>
                                        <p:attrNameLst>
                                          <p:attrName>ppt_y</p:attrName>
                                        </p:attrNameLst>
                                      </p:cBhvr>
                                      <p:tavLst>
                                        <p:tav tm="0">
                                          <p:val>
                                            <p:strVal val="#ppt_y+0.06"/>
                                          </p:val>
                                        </p:tav>
                                        <p:tav tm="100000">
                                          <p:val>
                                            <p:strVal val="#ppt_y"/>
                                          </p:val>
                                        </p:tav>
                                      </p:tavLst>
                                    </p:anim>
                                  </p:childTnLst>
                                </p:cTn>
                              </p:par>
                              <p:par>
                                <p:cTn id="179" presetID="42" presetClass="entr" presetSubtype="0" fill="hold" grpId="0" nodeType="withEffect">
                                  <p:stCondLst>
                                    <p:cond delay="200"/>
                                  </p:stCondLst>
                                  <p:childTnLst>
                                    <p:set>
                                      <p:cBhvr>
                                        <p:cTn id="180" dur="1" fill="hold">
                                          <p:stCondLst>
                                            <p:cond delay="0"/>
                                          </p:stCondLst>
                                        </p:cTn>
                                        <p:tgtEl>
                                          <p:spTgt spid="140"/>
                                        </p:tgtEl>
                                        <p:attrNameLst>
                                          <p:attrName>style.visibility</p:attrName>
                                        </p:attrNameLst>
                                      </p:cBhvr>
                                      <p:to>
                                        <p:strVal val="visible"/>
                                      </p:to>
                                    </p:set>
                                    <p:animEffect transition="in" filter="fade">
                                      <p:cBhvr>
                                        <p:cTn id="181" dur="500"/>
                                        <p:tgtEl>
                                          <p:spTgt spid="140"/>
                                        </p:tgtEl>
                                      </p:cBhvr>
                                    </p:animEffect>
                                    <p:anim calcmode="lin" valueType="num">
                                      <p:cBhvr additive="base">
                                        <p:cTn id="182" dur="500" decel="100000" fill="hold"/>
                                        <p:tgtEl>
                                          <p:spTgt spid="140"/>
                                        </p:tgtEl>
                                        <p:attrNameLst>
                                          <p:attrName>ppt_y</p:attrName>
                                        </p:attrNameLst>
                                      </p:cBhvr>
                                      <p:tavLst>
                                        <p:tav tm="0">
                                          <p:val>
                                            <p:strVal val="#ppt_y+0.06"/>
                                          </p:val>
                                        </p:tav>
                                        <p:tav tm="100000">
                                          <p:val>
                                            <p:strVal val="#ppt_y"/>
                                          </p:val>
                                        </p:tav>
                                      </p:tavLst>
                                    </p:anim>
                                  </p:childTnLst>
                                </p:cTn>
                              </p:par>
                              <p:par>
                                <p:cTn id="183" presetID="42" presetClass="entr" presetSubtype="0" fill="hold" grpId="0" nodeType="withEffect">
                                  <p:stCondLst>
                                    <p:cond delay="200"/>
                                  </p:stCondLst>
                                  <p:childTnLst>
                                    <p:set>
                                      <p:cBhvr>
                                        <p:cTn id="184" dur="1" fill="hold">
                                          <p:stCondLst>
                                            <p:cond delay="0"/>
                                          </p:stCondLst>
                                        </p:cTn>
                                        <p:tgtEl>
                                          <p:spTgt spid="141"/>
                                        </p:tgtEl>
                                        <p:attrNameLst>
                                          <p:attrName>style.visibility</p:attrName>
                                        </p:attrNameLst>
                                      </p:cBhvr>
                                      <p:to>
                                        <p:strVal val="visible"/>
                                      </p:to>
                                    </p:set>
                                    <p:animEffect transition="in" filter="fade">
                                      <p:cBhvr>
                                        <p:cTn id="185" dur="500"/>
                                        <p:tgtEl>
                                          <p:spTgt spid="141"/>
                                        </p:tgtEl>
                                      </p:cBhvr>
                                    </p:animEffect>
                                    <p:anim calcmode="lin" valueType="num">
                                      <p:cBhvr additive="base">
                                        <p:cTn id="186" dur="500" decel="100000" fill="hold"/>
                                        <p:tgtEl>
                                          <p:spTgt spid="141"/>
                                        </p:tgtEl>
                                        <p:attrNameLst>
                                          <p:attrName>ppt_y</p:attrName>
                                        </p:attrNameLst>
                                      </p:cBhvr>
                                      <p:tavLst>
                                        <p:tav tm="0">
                                          <p:val>
                                            <p:strVal val="#ppt_y+0.06"/>
                                          </p:val>
                                        </p:tav>
                                        <p:tav tm="100000">
                                          <p:val>
                                            <p:strVal val="#ppt_y"/>
                                          </p:val>
                                        </p:tav>
                                      </p:tavLst>
                                    </p:anim>
                                  </p:childTnLst>
                                </p:cTn>
                              </p:par>
                              <p:par>
                                <p:cTn id="187" presetID="42" presetClass="entr" presetSubtype="0" fill="hold" grpId="0" nodeType="withEffect">
                                  <p:stCondLst>
                                    <p:cond delay="400"/>
                                  </p:stCondLst>
                                  <p:childTnLst>
                                    <p:set>
                                      <p:cBhvr>
                                        <p:cTn id="188" dur="1" fill="hold">
                                          <p:stCondLst>
                                            <p:cond delay="0"/>
                                          </p:stCondLst>
                                        </p:cTn>
                                        <p:tgtEl>
                                          <p:spTgt spid="142"/>
                                        </p:tgtEl>
                                        <p:attrNameLst>
                                          <p:attrName>style.visibility</p:attrName>
                                        </p:attrNameLst>
                                      </p:cBhvr>
                                      <p:to>
                                        <p:strVal val="visible"/>
                                      </p:to>
                                    </p:set>
                                    <p:animEffect transition="in" filter="fade">
                                      <p:cBhvr>
                                        <p:cTn id="189" dur="500"/>
                                        <p:tgtEl>
                                          <p:spTgt spid="142"/>
                                        </p:tgtEl>
                                      </p:cBhvr>
                                    </p:animEffect>
                                    <p:anim calcmode="lin" valueType="num">
                                      <p:cBhvr additive="base">
                                        <p:cTn id="190" dur="500" decel="100000" fill="hold"/>
                                        <p:tgtEl>
                                          <p:spTgt spid="142"/>
                                        </p:tgtEl>
                                        <p:attrNameLst>
                                          <p:attrName>ppt_y</p:attrName>
                                        </p:attrNameLst>
                                      </p:cBhvr>
                                      <p:tavLst>
                                        <p:tav tm="0">
                                          <p:val>
                                            <p:strVal val="#ppt_y+0.06"/>
                                          </p:val>
                                        </p:tav>
                                        <p:tav tm="100000">
                                          <p:val>
                                            <p:strVal val="#ppt_y"/>
                                          </p:val>
                                        </p:tav>
                                      </p:tavLst>
                                    </p:anim>
                                  </p:childTnLst>
                                </p:cTn>
                              </p:par>
                            </p:childTnLst>
                          </p:cTn>
                        </p:par>
                      </p:childTnLst>
                    </p:cTn>
                  </p:par>
                  <p:par>
                    <p:cTn id="191" fill="hold">
                      <p:stCondLst>
                        <p:cond delay="indefinite"/>
                      </p:stCondLst>
                      <p:childTnLst>
                        <p:par>
                          <p:cTn id="192" fill="hold">
                            <p:stCondLst>
                              <p:cond delay="0"/>
                            </p:stCondLst>
                            <p:childTnLst>
                              <p:par>
                                <p:cTn id="193" presetID="53" presetClass="entr" presetSubtype="16" fill="hold" grpId="0" nodeType="clickEffect">
                                  <p:stCondLst>
                                    <p:cond delay="0"/>
                                  </p:stCondLst>
                                  <p:childTnLst>
                                    <p:set>
                                      <p:cBhvr>
                                        <p:cTn id="194" dur="1" fill="hold">
                                          <p:stCondLst>
                                            <p:cond delay="0"/>
                                          </p:stCondLst>
                                        </p:cTn>
                                        <p:tgtEl>
                                          <p:spTgt spid="146"/>
                                        </p:tgtEl>
                                        <p:attrNameLst>
                                          <p:attrName>style.visibility</p:attrName>
                                        </p:attrNameLst>
                                      </p:cBhvr>
                                      <p:to>
                                        <p:strVal val="visible"/>
                                      </p:to>
                                    </p:set>
                                    <p:anim calcmode="lin" valueType="num">
                                      <p:cBhvr additive="base">
                                        <p:cTn id="195" dur="500" decel="100000" fill="hold"/>
                                        <p:tgtEl>
                                          <p:spTgt spid="146"/>
                                        </p:tgtEl>
                                        <p:attrNameLst>
                                          <p:attrName>ppt_w</p:attrName>
                                        </p:attrNameLst>
                                      </p:cBhvr>
                                      <p:tavLst>
                                        <p:tav tm="0">
                                          <p:val>
                                            <p:strVal val="#ppt_w*0.3"/>
                                          </p:val>
                                        </p:tav>
                                        <p:tav tm="100000">
                                          <p:val>
                                            <p:strVal val="#ppt_w*1.08"/>
                                          </p:val>
                                        </p:tav>
                                      </p:tavLst>
                                    </p:anim>
                                    <p:anim calcmode="lin" valueType="num">
                                      <p:cBhvr additive="base">
                                        <p:cTn id="196" dur="500" decel="100000" fill="hold"/>
                                        <p:tgtEl>
                                          <p:spTgt spid="146"/>
                                        </p:tgtEl>
                                        <p:attrNameLst>
                                          <p:attrName>ppt_h</p:attrName>
                                        </p:attrNameLst>
                                      </p:cBhvr>
                                      <p:tavLst>
                                        <p:tav tm="0">
                                          <p:val>
                                            <p:strVal val="#ppt_h*0.3"/>
                                          </p:val>
                                        </p:tav>
                                        <p:tav tm="100000">
                                          <p:val>
                                            <p:strVal val="#ppt_h*1.08"/>
                                          </p:val>
                                        </p:tav>
                                      </p:tavLst>
                                    </p:anim>
                                    <p:animEffect transition="in" filter="fade">
                                      <p:cBhvr>
                                        <p:cTn id="197" dur="250"/>
                                        <p:tgtEl>
                                          <p:spTgt spid="146"/>
                                        </p:tgtEl>
                                      </p:cBhvr>
                                    </p:animEffect>
                                    <p:anim calcmode="lin" valueType="num">
                                      <p:cBhvr additive="base">
                                        <p:cTn id="198" dur="160" fill="hold">
                                          <p:stCondLst>
                                            <p:cond delay="500"/>
                                          </p:stCondLst>
                                        </p:cTn>
                                        <p:tgtEl>
                                          <p:spTgt spid="146"/>
                                        </p:tgtEl>
                                        <p:attrNameLst>
                                          <p:attrName>ppt_w</p:attrName>
                                        </p:attrNameLst>
                                      </p:cBhvr>
                                      <p:tavLst>
                                        <p:tav tm="0">
                                          <p:val>
                                            <p:strVal val="#ppt_w*1.08"/>
                                          </p:val>
                                        </p:tav>
                                        <p:tav tm="100000">
                                          <p:val>
                                            <p:strVal val="#ppt_w"/>
                                          </p:val>
                                        </p:tav>
                                      </p:tavLst>
                                    </p:anim>
                                    <p:anim calcmode="lin" valueType="num">
                                      <p:cBhvr additive="base">
                                        <p:cTn id="199" dur="160" fill="hold">
                                          <p:stCondLst>
                                            <p:cond delay="500"/>
                                          </p:stCondLst>
                                        </p:cTn>
                                        <p:tgtEl>
                                          <p:spTgt spid="146"/>
                                        </p:tgtEl>
                                        <p:attrNameLst>
                                          <p:attrName>ppt_h</p:attrName>
                                        </p:attrNameLst>
                                      </p:cBhvr>
                                      <p:tavLst>
                                        <p:tav tm="0">
                                          <p:val>
                                            <p:strVal val="#ppt_h*1.08"/>
                                          </p:val>
                                        </p:tav>
                                        <p:tav tm="100000">
                                          <p:val>
                                            <p:strVal val="#ppt_h"/>
                                          </p:val>
                                        </p:tav>
                                      </p:tavLst>
                                    </p:anim>
                                  </p:childTnLst>
                                </p:cTn>
                              </p:par>
                              <p:par>
                                <p:cTn id="200" presetID="42" presetClass="entr" presetSubtype="0" fill="hold" grpId="0" nodeType="withEffect">
                                  <p:stCondLst>
                                    <p:cond delay="200"/>
                                  </p:stCondLst>
                                  <p:childTnLst>
                                    <p:set>
                                      <p:cBhvr>
                                        <p:cTn id="201" dur="1" fill="hold">
                                          <p:stCondLst>
                                            <p:cond delay="0"/>
                                          </p:stCondLst>
                                        </p:cTn>
                                        <p:tgtEl>
                                          <p:spTgt spid="143"/>
                                        </p:tgtEl>
                                        <p:attrNameLst>
                                          <p:attrName>style.visibility</p:attrName>
                                        </p:attrNameLst>
                                      </p:cBhvr>
                                      <p:to>
                                        <p:strVal val="visible"/>
                                      </p:to>
                                    </p:set>
                                    <p:animEffect transition="in" filter="fade">
                                      <p:cBhvr>
                                        <p:cTn id="202" dur="500"/>
                                        <p:tgtEl>
                                          <p:spTgt spid="143"/>
                                        </p:tgtEl>
                                      </p:cBhvr>
                                    </p:animEffect>
                                    <p:anim calcmode="lin" valueType="num">
                                      <p:cBhvr additive="base">
                                        <p:cTn id="203" dur="500" decel="100000" fill="hold"/>
                                        <p:tgtEl>
                                          <p:spTgt spid="143"/>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P spid="146"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SHOULDLY · 3</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Example 3: Collections</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136</a:t>
            </a:r>
            <a:endParaRPr lang="en-US" sz="850" dirty="0"/>
          </a:p>
        </p:txBody>
      </p:sp>
      <p:sp>
        <p:nvSpPr>
          <p:cNvPr id="101" name="s101"/>
          <p:cNvSpPr/>
          <p:nvPr/>
        </p:nvSpPr>
        <p:spPr>
          <a:xfrm>
            <a:off x="543154" y="1783080"/>
            <a:ext cx="6400800" cy="3886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603858"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CollectionTests.cs</a:t>
            </a:r>
            <a:endParaRPr lang="en-US" sz="950" dirty="0"/>
          </a:p>
        </p:txBody>
      </p:sp>
      <p:cxnSp>
        <p:nvCxnSpPr>
          <p:cNvPr id="106" name="ln106"/>
          <p:cNvCxnSpPr/>
          <p:nvPr/>
        </p:nvCxnSpPr>
        <p:spPr>
          <a:xfrm>
            <a:off x="543154" y="2194560"/>
            <a:ext cx="6400800" cy="0"/>
          </a:xfrm>
          <a:prstGeom prst="line">
            <a:avLst/>
          </a:prstGeom>
          <a:ln w="9525">
            <a:solidFill>
              <a:srgbClr val="1E3A5F"/>
            </a:solidFill>
          </a:ln>
        </p:spPr>
      </p:cxnSp>
      <p:sp>
        <p:nvSpPr>
          <p:cNvPr id="107" name="s107"/>
          <p:cNvSpPr/>
          <p:nvPr/>
        </p:nvSpPr>
        <p:spPr>
          <a:xfrm>
            <a:off x="543154" y="23134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[Fact]</a:t>
            </a:r>
            <a:endParaRPr lang="en-US" sz="800" dirty="0"/>
          </a:p>
        </p:txBody>
      </p:sp>
      <p:sp>
        <p:nvSpPr>
          <p:cNvPr id="108" name="s108"/>
          <p:cNvSpPr/>
          <p:nvPr/>
        </p:nvSpPr>
        <p:spPr>
          <a:xfrm>
            <a:off x="543154" y="24353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Generated_Customers_AreValid</a:t>
            </a:r>
            <a:r>
              <a:rPr lang="en-US" sz="800" b="0" dirty="0">
                <a:solidFill>
                  <a:srgbClr val="E2E8F0"/>
                </a:solidFill>
                <a:latin typeface="Consolas"/>
                <a:ea typeface="Consolas"/>
                <a:cs typeface="Consolas"/>
              </a:rPr>
              <a:t>()</a:t>
            </a:r>
            <a:endParaRPr lang="en-US" sz="800" dirty="0"/>
          </a:p>
        </p:txBody>
      </p:sp>
      <p:sp>
        <p:nvSpPr>
          <p:cNvPr id="109" name="s109"/>
          <p:cNvSpPr/>
          <p:nvPr/>
        </p:nvSpPr>
        <p:spPr>
          <a:xfrm>
            <a:off x="543154" y="255727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10" name="s110"/>
          <p:cNvSpPr/>
          <p:nvPr/>
        </p:nvSpPr>
        <p:spPr>
          <a:xfrm>
            <a:off x="543154" y="26791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List</a:t>
            </a:r>
            <a:r>
              <a:rPr lang="en-US" sz="800" b="0" dirty="0">
                <a:solidFill>
                  <a:srgbClr val="E2E8F0"/>
                </a:solidFill>
                <a:latin typeface="Consolas"/>
                <a:ea typeface="Consolas"/>
                <a:cs typeface="Consolas"/>
              </a:rPr>
              <a:t>&lt;</a:t>
            </a:r>
            <a:r>
              <a:rPr lang="en-US" sz="800" b="0" dirty="0">
                <a:solidFill>
                  <a:srgbClr val="7DD3FC"/>
                </a:solidFill>
                <a:latin typeface="Consolas"/>
                <a:ea typeface="Consolas"/>
                <a:cs typeface="Consolas"/>
              </a:rPr>
              <a:t>Customer</a:t>
            </a:r>
            <a:r>
              <a:rPr lang="en-US" sz="800" b="0" dirty="0">
                <a:solidFill>
                  <a:srgbClr val="E2E8F0"/>
                </a:solidFill>
                <a:latin typeface="Consolas"/>
                <a:ea typeface="Consolas"/>
                <a:cs typeface="Consolas"/>
              </a:rPr>
              <a:t>&gt; customers = </a:t>
            </a:r>
            <a:r>
              <a:rPr lang="en-US" sz="800" b="0" dirty="0">
                <a:solidFill>
                  <a:srgbClr val="7DD3FC"/>
                </a:solidFill>
                <a:latin typeface="Consolas"/>
                <a:ea typeface="Consolas"/>
                <a:cs typeface="Consolas"/>
              </a:rPr>
              <a:t>Customers</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Generate</a:t>
            </a:r>
            <a:r>
              <a:rPr lang="en-US" sz="800" b="0" dirty="0">
                <a:solidFill>
                  <a:srgbClr val="E2E8F0"/>
                </a:solidFill>
                <a:latin typeface="Consolas"/>
                <a:ea typeface="Consolas"/>
                <a:cs typeface="Consolas"/>
              </a:rPr>
              <a:t>(</a:t>
            </a:r>
            <a:r>
              <a:rPr lang="en-US" sz="800" b="0" dirty="0">
                <a:solidFill>
                  <a:srgbClr val="C4B5FD"/>
                </a:solidFill>
                <a:latin typeface="Consolas"/>
                <a:ea typeface="Consolas"/>
                <a:cs typeface="Consolas"/>
              </a:rPr>
              <a:t>50</a:t>
            </a:r>
            <a:r>
              <a:rPr lang="en-US" sz="800" b="0" dirty="0">
                <a:solidFill>
                  <a:srgbClr val="E2E8F0"/>
                </a:solidFill>
                <a:latin typeface="Consolas"/>
                <a:ea typeface="Consolas"/>
                <a:cs typeface="Consolas"/>
              </a:rPr>
              <a:t>);    </a:t>
            </a:r>
            <a:r>
              <a:rPr lang="en-US" sz="800" b="0" dirty="0">
                <a:solidFill>
                  <a:srgbClr val="6FAE7A"/>
                </a:solidFill>
                <a:latin typeface="Consolas"/>
                <a:ea typeface="Consolas"/>
                <a:cs typeface="Consolas"/>
              </a:rPr>
              <a:t>// Bogus</a:t>
            </a:r>
            <a:endParaRPr lang="en-US" sz="800" dirty="0"/>
          </a:p>
        </p:txBody>
      </p:sp>
      <p:sp>
        <p:nvSpPr>
          <p:cNvPr id="111" name="s111"/>
          <p:cNvSpPr/>
          <p:nvPr/>
        </p:nvSpPr>
        <p:spPr>
          <a:xfrm>
            <a:off x="543154" y="29230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customers.</a:t>
            </a:r>
            <a:r>
              <a:rPr lang="en-US" sz="800" b="0" dirty="0">
                <a:solidFill>
                  <a:srgbClr val="7DD3FC"/>
                </a:solidFill>
                <a:latin typeface="Consolas"/>
                <a:ea typeface="Consolas"/>
                <a:cs typeface="Consolas"/>
              </a:rPr>
              <a:t>ShouldNotBeEmpty</a:t>
            </a:r>
            <a:r>
              <a:rPr lang="en-US" sz="800" b="0" dirty="0">
                <a:solidFill>
                  <a:srgbClr val="E2E8F0"/>
                </a:solidFill>
                <a:latin typeface="Consolas"/>
                <a:ea typeface="Consolas"/>
                <a:cs typeface="Consolas"/>
              </a:rPr>
              <a:t>();</a:t>
            </a:r>
            <a:endParaRPr lang="en-US" sz="800" dirty="0"/>
          </a:p>
        </p:txBody>
      </p:sp>
      <p:sp>
        <p:nvSpPr>
          <p:cNvPr id="112" name="s112"/>
          <p:cNvSpPr/>
          <p:nvPr/>
        </p:nvSpPr>
        <p:spPr>
          <a:xfrm>
            <a:off x="543154" y="30449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customers.</a:t>
            </a:r>
            <a:r>
              <a:rPr lang="en-US" sz="800" b="0" dirty="0">
                <a:solidFill>
                  <a:srgbClr val="7DD3FC"/>
                </a:solidFill>
                <a:latin typeface="Consolas"/>
                <a:ea typeface="Consolas"/>
                <a:cs typeface="Consolas"/>
              </a:rPr>
              <a:t>Count</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ShouldBe</a:t>
            </a:r>
            <a:r>
              <a:rPr lang="en-US" sz="800" b="0" dirty="0">
                <a:solidFill>
                  <a:srgbClr val="E2E8F0"/>
                </a:solidFill>
                <a:latin typeface="Consolas"/>
                <a:ea typeface="Consolas"/>
                <a:cs typeface="Consolas"/>
              </a:rPr>
              <a:t>(</a:t>
            </a:r>
            <a:r>
              <a:rPr lang="en-US" sz="800" b="0" dirty="0">
                <a:solidFill>
                  <a:srgbClr val="C4B5FD"/>
                </a:solidFill>
                <a:latin typeface="Consolas"/>
                <a:ea typeface="Consolas"/>
                <a:cs typeface="Consolas"/>
              </a:rPr>
              <a:t>50</a:t>
            </a:r>
            <a:r>
              <a:rPr lang="en-US" sz="800" b="0" dirty="0">
                <a:solidFill>
                  <a:srgbClr val="E2E8F0"/>
                </a:solidFill>
                <a:latin typeface="Consolas"/>
                <a:ea typeface="Consolas"/>
                <a:cs typeface="Consolas"/>
              </a:rPr>
              <a:t>);</a:t>
            </a:r>
            <a:endParaRPr lang="en-US" sz="800" dirty="0"/>
          </a:p>
        </p:txBody>
      </p:sp>
      <p:sp>
        <p:nvSpPr>
          <p:cNvPr id="113" name="s113"/>
          <p:cNvSpPr/>
          <p:nvPr/>
        </p:nvSpPr>
        <p:spPr>
          <a:xfrm>
            <a:off x="543154" y="316687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customers.</a:t>
            </a:r>
            <a:r>
              <a:rPr lang="en-US" sz="800" b="0" dirty="0">
                <a:solidFill>
                  <a:srgbClr val="7DD3FC"/>
                </a:solidFill>
                <a:latin typeface="Consolas"/>
                <a:ea typeface="Consolas"/>
                <a:cs typeface="Consolas"/>
              </a:rPr>
              <a:t>ShouldAllBe</a:t>
            </a:r>
            <a:r>
              <a:rPr lang="en-US" sz="800" b="0" dirty="0">
                <a:solidFill>
                  <a:srgbClr val="E2E8F0"/>
                </a:solidFill>
                <a:latin typeface="Consolas"/>
                <a:ea typeface="Consolas"/>
                <a:cs typeface="Consolas"/>
              </a:rPr>
              <a:t>(c =&gt; </a:t>
            </a:r>
            <a:r>
              <a:rPr lang="en-US" sz="800" b="0" dirty="0">
                <a:solidFill>
                  <a:srgbClr val="7DD3FC"/>
                </a:solidFill>
                <a:latin typeface="Consolas"/>
                <a:ea typeface="Consolas"/>
                <a:cs typeface="Consolas"/>
              </a:rPr>
              <a:t>EmailValidator</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IsValid</a:t>
            </a:r>
            <a:r>
              <a:rPr lang="en-US" sz="800" b="0" dirty="0">
                <a:solidFill>
                  <a:srgbClr val="E2E8F0"/>
                </a:solidFill>
                <a:latin typeface="Consolas"/>
                <a:ea typeface="Consolas"/>
                <a:cs typeface="Consolas"/>
              </a:rPr>
              <a:t>(c.</a:t>
            </a:r>
            <a:r>
              <a:rPr lang="en-US" sz="800" b="0" dirty="0">
                <a:solidFill>
                  <a:srgbClr val="7DD3FC"/>
                </a:solidFill>
                <a:latin typeface="Consolas"/>
                <a:ea typeface="Consolas"/>
                <a:cs typeface="Consolas"/>
              </a:rPr>
              <a:t>Email</a:t>
            </a:r>
            <a:r>
              <a:rPr lang="en-US" sz="800" b="0" dirty="0">
                <a:solidFill>
                  <a:srgbClr val="E2E8F0"/>
                </a:solidFill>
                <a:latin typeface="Consolas"/>
                <a:ea typeface="Consolas"/>
                <a:cs typeface="Consolas"/>
              </a:rPr>
              <a:t>));</a:t>
            </a:r>
            <a:endParaRPr lang="en-US" sz="800" dirty="0"/>
          </a:p>
        </p:txBody>
      </p:sp>
      <p:sp>
        <p:nvSpPr>
          <p:cNvPr id="114" name="s114"/>
          <p:cNvSpPr/>
          <p:nvPr/>
        </p:nvSpPr>
        <p:spPr>
          <a:xfrm>
            <a:off x="543154" y="32887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customers.</a:t>
            </a:r>
            <a:r>
              <a:rPr lang="en-US" sz="800" b="0" dirty="0">
                <a:solidFill>
                  <a:srgbClr val="7DD3FC"/>
                </a:solidFill>
                <a:latin typeface="Consolas"/>
                <a:ea typeface="Consolas"/>
                <a:cs typeface="Consolas"/>
              </a:rPr>
              <a:t>ShouldContain</a:t>
            </a:r>
            <a:r>
              <a:rPr lang="en-US" sz="800" b="0" dirty="0">
                <a:solidFill>
                  <a:srgbClr val="E2E8F0"/>
                </a:solidFill>
                <a:latin typeface="Consolas"/>
                <a:ea typeface="Consolas"/>
                <a:cs typeface="Consolas"/>
              </a:rPr>
              <a:t>(c =&gt; c.</a:t>
            </a:r>
            <a:r>
              <a:rPr lang="en-US" sz="800" b="0" dirty="0">
                <a:solidFill>
                  <a:srgbClr val="7DD3FC"/>
                </a:solidFill>
                <a:latin typeface="Consolas"/>
                <a:ea typeface="Consolas"/>
                <a:cs typeface="Consolas"/>
              </a:rPr>
              <a:t>Age</a:t>
            </a:r>
            <a:r>
              <a:rPr lang="en-US" sz="800" b="0" dirty="0">
                <a:solidFill>
                  <a:srgbClr val="E2E8F0"/>
                </a:solidFill>
                <a:latin typeface="Consolas"/>
                <a:ea typeface="Consolas"/>
                <a:cs typeface="Consolas"/>
              </a:rPr>
              <a:t> &gt;= </a:t>
            </a:r>
            <a:r>
              <a:rPr lang="en-US" sz="800" b="0" dirty="0">
                <a:solidFill>
                  <a:srgbClr val="C4B5FD"/>
                </a:solidFill>
                <a:latin typeface="Consolas"/>
                <a:ea typeface="Consolas"/>
                <a:cs typeface="Consolas"/>
              </a:rPr>
              <a:t>60</a:t>
            </a:r>
            <a:r>
              <a:rPr lang="en-US" sz="800" b="0" dirty="0">
                <a:solidFill>
                  <a:srgbClr val="E2E8F0"/>
                </a:solidFill>
                <a:latin typeface="Consolas"/>
                <a:ea typeface="Consolas"/>
                <a:cs typeface="Consolas"/>
              </a:rPr>
              <a:t>);             </a:t>
            </a:r>
            <a:r>
              <a:rPr lang="en-US" sz="800" b="0" dirty="0">
                <a:solidFill>
                  <a:srgbClr val="6FAE7A"/>
                </a:solidFill>
                <a:latin typeface="Consolas"/>
                <a:ea typeface="Consolas"/>
                <a:cs typeface="Consolas"/>
              </a:rPr>
              <a:t>// at least one senior</a:t>
            </a:r>
            <a:endParaRPr lang="en-US" sz="800" dirty="0"/>
          </a:p>
        </p:txBody>
      </p:sp>
      <p:sp>
        <p:nvSpPr>
          <p:cNvPr id="115" name="s115"/>
          <p:cNvSpPr/>
          <p:nvPr/>
        </p:nvSpPr>
        <p:spPr>
          <a:xfrm>
            <a:off x="543154" y="341071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customers.</a:t>
            </a:r>
            <a:r>
              <a:rPr lang="en-US" sz="800" b="0" dirty="0">
                <a:solidFill>
                  <a:srgbClr val="7DD3FC"/>
                </a:solidFill>
                <a:latin typeface="Consolas"/>
                <a:ea typeface="Consolas"/>
                <a:cs typeface="Consolas"/>
              </a:rPr>
              <a:t>ShouldNotContain</a:t>
            </a:r>
            <a:r>
              <a:rPr lang="en-US" sz="800" b="0" dirty="0">
                <a:solidFill>
                  <a:srgbClr val="E2E8F0"/>
                </a:solidFill>
                <a:latin typeface="Consolas"/>
                <a:ea typeface="Consolas"/>
                <a:cs typeface="Consolas"/>
              </a:rPr>
              <a:t>(c =&gt; c.</a:t>
            </a:r>
            <a:r>
              <a:rPr lang="en-US" sz="800" b="0" dirty="0">
                <a:solidFill>
                  <a:srgbClr val="7DD3FC"/>
                </a:solidFill>
                <a:latin typeface="Consolas"/>
                <a:ea typeface="Consolas"/>
                <a:cs typeface="Consolas"/>
              </a:rPr>
              <a:t>Age</a:t>
            </a:r>
            <a:r>
              <a:rPr lang="en-US" sz="800" b="0" dirty="0">
                <a:solidFill>
                  <a:srgbClr val="E2E8F0"/>
                </a:solidFill>
                <a:latin typeface="Consolas"/>
                <a:ea typeface="Consolas"/>
                <a:cs typeface="Consolas"/>
              </a:rPr>
              <a:t> &lt; </a:t>
            </a:r>
            <a:r>
              <a:rPr lang="en-US" sz="800" b="0" dirty="0">
                <a:solidFill>
                  <a:srgbClr val="C4B5FD"/>
                </a:solidFill>
                <a:latin typeface="Consolas"/>
                <a:ea typeface="Consolas"/>
                <a:cs typeface="Consolas"/>
              </a:rPr>
              <a:t>0</a:t>
            </a:r>
            <a:r>
              <a:rPr lang="en-US" sz="800" b="0" dirty="0">
                <a:solidFill>
                  <a:srgbClr val="E2E8F0"/>
                </a:solidFill>
                <a:latin typeface="Consolas"/>
                <a:ea typeface="Consolas"/>
                <a:cs typeface="Consolas"/>
              </a:rPr>
              <a:t>);</a:t>
            </a:r>
            <a:endParaRPr lang="en-US" sz="800" dirty="0"/>
          </a:p>
        </p:txBody>
      </p:sp>
      <p:sp>
        <p:nvSpPr>
          <p:cNvPr id="116" name="s116"/>
          <p:cNvSpPr/>
          <p:nvPr/>
        </p:nvSpPr>
        <p:spPr>
          <a:xfrm>
            <a:off x="543154" y="35326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customers.</a:t>
            </a:r>
            <a:r>
              <a:rPr lang="en-US" sz="800" b="0" dirty="0">
                <a:solidFill>
                  <a:srgbClr val="7DD3FC"/>
                </a:solidFill>
                <a:latin typeface="Consolas"/>
                <a:ea typeface="Consolas"/>
                <a:cs typeface="Consolas"/>
              </a:rPr>
              <a:t>Select</a:t>
            </a:r>
            <a:r>
              <a:rPr lang="en-US" sz="800" b="0" dirty="0">
                <a:solidFill>
                  <a:srgbClr val="E2E8F0"/>
                </a:solidFill>
                <a:latin typeface="Consolas"/>
                <a:ea typeface="Consolas"/>
                <a:cs typeface="Consolas"/>
              </a:rPr>
              <a:t>(c =&gt; c.</a:t>
            </a:r>
            <a:r>
              <a:rPr lang="en-US" sz="800" b="0" dirty="0">
                <a:solidFill>
                  <a:srgbClr val="7DD3FC"/>
                </a:solidFill>
                <a:latin typeface="Consolas"/>
                <a:ea typeface="Consolas"/>
                <a:cs typeface="Consolas"/>
              </a:rPr>
              <a:t>Email</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ShouldBeUnique</a:t>
            </a:r>
            <a:r>
              <a:rPr lang="en-US" sz="800" b="0" dirty="0">
                <a:solidFill>
                  <a:srgbClr val="E2E8F0"/>
                </a:solidFill>
                <a:latin typeface="Consolas"/>
                <a:ea typeface="Consolas"/>
                <a:cs typeface="Consolas"/>
              </a:rPr>
              <a:t>();</a:t>
            </a:r>
            <a:endParaRPr lang="en-US" sz="800" dirty="0"/>
          </a:p>
        </p:txBody>
      </p:sp>
      <p:sp>
        <p:nvSpPr>
          <p:cNvPr id="117" name="s117"/>
          <p:cNvSpPr/>
          <p:nvPr/>
        </p:nvSpPr>
        <p:spPr>
          <a:xfrm>
            <a:off x="543154" y="36545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18" name="s118"/>
          <p:cNvSpPr/>
          <p:nvPr/>
        </p:nvSpPr>
        <p:spPr>
          <a:xfrm>
            <a:off x="543154" y="38983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[Fact]</a:t>
            </a:r>
            <a:endParaRPr lang="en-US" sz="800" dirty="0"/>
          </a:p>
        </p:txBody>
      </p:sp>
      <p:sp>
        <p:nvSpPr>
          <p:cNvPr id="119" name="s119"/>
          <p:cNvSpPr/>
          <p:nvPr/>
        </p:nvSpPr>
        <p:spPr>
          <a:xfrm>
            <a:off x="543154" y="402031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Grades_ForScores</a:t>
            </a:r>
            <a:r>
              <a:rPr lang="en-US" sz="800" b="0" dirty="0">
                <a:solidFill>
                  <a:srgbClr val="E2E8F0"/>
                </a:solidFill>
                <a:latin typeface="Consolas"/>
                <a:ea typeface="Consolas"/>
                <a:cs typeface="Consolas"/>
              </a:rPr>
              <a:t>()</a:t>
            </a:r>
            <a:endParaRPr lang="en-US" sz="800" dirty="0"/>
          </a:p>
        </p:txBody>
      </p:sp>
      <p:sp>
        <p:nvSpPr>
          <p:cNvPr id="120" name="s120"/>
          <p:cNvSpPr/>
          <p:nvPr/>
        </p:nvSpPr>
        <p:spPr>
          <a:xfrm>
            <a:off x="543154" y="41422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21" name="s121"/>
          <p:cNvSpPr/>
          <p:nvPr/>
        </p:nvSpPr>
        <p:spPr>
          <a:xfrm>
            <a:off x="543154" y="42641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var</a:t>
            </a:r>
            <a:r>
              <a:rPr lang="en-US" sz="800" b="0" dirty="0">
                <a:solidFill>
                  <a:srgbClr val="E2E8F0"/>
                </a:solidFill>
                <a:latin typeface="Consolas"/>
                <a:ea typeface="Consolas"/>
                <a:cs typeface="Consolas"/>
              </a:rPr>
              <a:t> grades = </a:t>
            </a:r>
            <a:r>
              <a:rPr lang="en-US" sz="800" b="0" dirty="0">
                <a:solidFill>
                  <a:srgbClr val="60A5FA"/>
                </a:solidFill>
                <a:latin typeface="Consolas"/>
                <a:ea typeface="Consolas"/>
                <a:cs typeface="Consolas"/>
              </a:rPr>
              <a:t>new</a:t>
            </a:r>
            <a:r>
              <a:rPr lang="en-US" sz="800" b="0" dirty="0">
                <a:solidFill>
                  <a:srgbClr val="E2E8F0"/>
                </a:solidFill>
                <a:latin typeface="Consolas"/>
                <a:ea typeface="Consolas"/>
                <a:cs typeface="Consolas"/>
              </a:rPr>
              <a:t>[] { </a:t>
            </a:r>
            <a:r>
              <a:rPr lang="en-US" sz="800" b="0" dirty="0">
                <a:solidFill>
                  <a:srgbClr val="C4B5FD"/>
                </a:solidFill>
                <a:latin typeface="Consolas"/>
                <a:ea typeface="Consolas"/>
                <a:cs typeface="Consolas"/>
              </a:rPr>
              <a:t>90</a:t>
            </a:r>
            <a:r>
              <a:rPr lang="en-US" sz="800" b="0" dirty="0">
                <a:solidFill>
                  <a:srgbClr val="E2E8F0"/>
                </a:solidFill>
                <a:latin typeface="Consolas"/>
                <a:ea typeface="Consolas"/>
                <a:cs typeface="Consolas"/>
              </a:rPr>
              <a:t>, </a:t>
            </a:r>
            <a:r>
              <a:rPr lang="en-US" sz="800" b="0" dirty="0">
                <a:solidFill>
                  <a:srgbClr val="C4B5FD"/>
                </a:solidFill>
                <a:latin typeface="Consolas"/>
                <a:ea typeface="Consolas"/>
                <a:cs typeface="Consolas"/>
              </a:rPr>
              <a:t>80</a:t>
            </a:r>
            <a:r>
              <a:rPr lang="en-US" sz="800" b="0" dirty="0">
                <a:solidFill>
                  <a:srgbClr val="E2E8F0"/>
                </a:solidFill>
                <a:latin typeface="Consolas"/>
                <a:ea typeface="Consolas"/>
                <a:cs typeface="Consolas"/>
              </a:rPr>
              <a:t>, </a:t>
            </a:r>
            <a:r>
              <a:rPr lang="en-US" sz="800" b="0" dirty="0">
                <a:solidFill>
                  <a:srgbClr val="C4B5FD"/>
                </a:solidFill>
                <a:latin typeface="Consolas"/>
                <a:ea typeface="Consolas"/>
                <a:cs typeface="Consolas"/>
              </a:rPr>
              <a:t>70</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Select</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GradeCalculator</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Grade</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ToList</a:t>
            </a:r>
            <a:r>
              <a:rPr lang="en-US" sz="800" b="0" dirty="0">
                <a:solidFill>
                  <a:srgbClr val="E2E8F0"/>
                </a:solidFill>
                <a:latin typeface="Consolas"/>
                <a:ea typeface="Consolas"/>
                <a:cs typeface="Consolas"/>
              </a:rPr>
              <a:t>();</a:t>
            </a:r>
            <a:endParaRPr lang="en-US" sz="800" dirty="0"/>
          </a:p>
        </p:txBody>
      </p:sp>
      <p:sp>
        <p:nvSpPr>
          <p:cNvPr id="122" name="s122"/>
          <p:cNvSpPr/>
          <p:nvPr/>
        </p:nvSpPr>
        <p:spPr>
          <a:xfrm>
            <a:off x="543154" y="45079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grades.</a:t>
            </a:r>
            <a:r>
              <a:rPr lang="en-US" sz="800" b="0" dirty="0">
                <a:solidFill>
                  <a:srgbClr val="7DD3FC"/>
                </a:solidFill>
                <a:latin typeface="Consolas"/>
                <a:ea typeface="Consolas"/>
                <a:cs typeface="Consolas"/>
              </a:rPr>
              <a:t>ShouldBe</a:t>
            </a:r>
            <a:r>
              <a:rPr lang="en-US" sz="800" b="0" dirty="0">
                <a:solidFill>
                  <a:srgbClr val="E2E8F0"/>
                </a:solidFill>
                <a:latin typeface="Consolas"/>
                <a:ea typeface="Consolas"/>
                <a:cs typeface="Consolas"/>
              </a:rPr>
              <a:t>(</a:t>
            </a:r>
            <a:r>
              <a:rPr lang="en-US" sz="800" b="0" dirty="0">
                <a:solidFill>
                  <a:srgbClr val="60A5FA"/>
                </a:solidFill>
                <a:latin typeface="Consolas"/>
                <a:ea typeface="Consolas"/>
                <a:cs typeface="Consolas"/>
              </a:rPr>
              <a:t>new</a:t>
            </a:r>
            <a:r>
              <a:rPr lang="en-US" sz="800" b="0" dirty="0">
                <a:solidFill>
                  <a:srgbClr val="E2E8F0"/>
                </a:solidFill>
                <a:latin typeface="Consolas"/>
                <a:ea typeface="Consolas"/>
                <a:cs typeface="Consolas"/>
              </a:rPr>
              <a:t>[] { </a:t>
            </a:r>
            <a:r>
              <a:rPr lang="en-US" sz="800" b="0" dirty="0">
                <a:solidFill>
                  <a:srgbClr val="F0A98B"/>
                </a:solidFill>
                <a:latin typeface="Consolas"/>
                <a:ea typeface="Consolas"/>
                <a:cs typeface="Consolas"/>
              </a:rPr>
              <a:t>"A"</a:t>
            </a:r>
            <a:r>
              <a:rPr lang="en-US" sz="800" b="0" dirty="0">
                <a:solidFill>
                  <a:srgbClr val="E2E8F0"/>
                </a:solidFill>
                <a:latin typeface="Consolas"/>
                <a:ea typeface="Consolas"/>
                <a:cs typeface="Consolas"/>
              </a:rPr>
              <a:t>, </a:t>
            </a:r>
            <a:r>
              <a:rPr lang="en-US" sz="800" b="0" dirty="0">
                <a:solidFill>
                  <a:srgbClr val="F0A98B"/>
                </a:solidFill>
                <a:latin typeface="Consolas"/>
                <a:ea typeface="Consolas"/>
                <a:cs typeface="Consolas"/>
              </a:rPr>
              <a:t>"B"</a:t>
            </a:r>
            <a:r>
              <a:rPr lang="en-US" sz="800" b="0" dirty="0">
                <a:solidFill>
                  <a:srgbClr val="E2E8F0"/>
                </a:solidFill>
                <a:latin typeface="Consolas"/>
                <a:ea typeface="Consolas"/>
                <a:cs typeface="Consolas"/>
              </a:rPr>
              <a:t>, </a:t>
            </a:r>
            <a:r>
              <a:rPr lang="en-US" sz="800" b="0" dirty="0">
                <a:solidFill>
                  <a:srgbClr val="F0A98B"/>
                </a:solidFill>
                <a:latin typeface="Consolas"/>
                <a:ea typeface="Consolas"/>
                <a:cs typeface="Consolas"/>
              </a:rPr>
              <a:t>"C"</a:t>
            </a:r>
            <a:r>
              <a:rPr lang="en-US" sz="800" b="0" dirty="0">
                <a:solidFill>
                  <a:srgbClr val="E2E8F0"/>
                </a:solidFill>
                <a:latin typeface="Consolas"/>
                <a:ea typeface="Consolas"/>
                <a:cs typeface="Consolas"/>
              </a:rPr>
              <a:t> });                 </a:t>
            </a:r>
            <a:r>
              <a:rPr lang="en-US" sz="800" b="0" dirty="0">
                <a:solidFill>
                  <a:srgbClr val="6FAE7A"/>
                </a:solidFill>
                <a:latin typeface="Consolas"/>
                <a:ea typeface="Consolas"/>
                <a:cs typeface="Consolas"/>
              </a:rPr>
              <a:t>// same order</a:t>
            </a:r>
            <a:endParaRPr lang="en-US" sz="800" dirty="0"/>
          </a:p>
        </p:txBody>
      </p:sp>
      <p:sp>
        <p:nvSpPr>
          <p:cNvPr id="123" name="s123"/>
          <p:cNvSpPr/>
          <p:nvPr/>
        </p:nvSpPr>
        <p:spPr>
          <a:xfrm>
            <a:off x="543154" y="462991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grades.</a:t>
            </a:r>
            <a:r>
              <a:rPr lang="en-US" sz="800" b="0" dirty="0">
                <a:solidFill>
                  <a:srgbClr val="7DD3FC"/>
                </a:solidFill>
                <a:latin typeface="Consolas"/>
                <a:ea typeface="Consolas"/>
                <a:cs typeface="Consolas"/>
              </a:rPr>
              <a:t>ShouldBe</a:t>
            </a:r>
            <a:r>
              <a:rPr lang="en-US" sz="800" b="0" dirty="0">
                <a:solidFill>
                  <a:srgbClr val="E2E8F0"/>
                </a:solidFill>
                <a:latin typeface="Consolas"/>
                <a:ea typeface="Consolas"/>
                <a:cs typeface="Consolas"/>
              </a:rPr>
              <a:t>(</a:t>
            </a:r>
            <a:r>
              <a:rPr lang="en-US" sz="800" b="0" dirty="0">
                <a:solidFill>
                  <a:srgbClr val="60A5FA"/>
                </a:solidFill>
                <a:latin typeface="Consolas"/>
                <a:ea typeface="Consolas"/>
                <a:cs typeface="Consolas"/>
              </a:rPr>
              <a:t>new</a:t>
            </a:r>
            <a:r>
              <a:rPr lang="en-US" sz="800" b="0" dirty="0">
                <a:solidFill>
                  <a:srgbClr val="E2E8F0"/>
                </a:solidFill>
                <a:latin typeface="Consolas"/>
                <a:ea typeface="Consolas"/>
                <a:cs typeface="Consolas"/>
              </a:rPr>
              <a:t>[] { </a:t>
            </a:r>
            <a:r>
              <a:rPr lang="en-US" sz="800" b="0" dirty="0">
                <a:solidFill>
                  <a:srgbClr val="F0A98B"/>
                </a:solidFill>
                <a:latin typeface="Consolas"/>
                <a:ea typeface="Consolas"/>
                <a:cs typeface="Consolas"/>
              </a:rPr>
              <a:t>"C"</a:t>
            </a:r>
            <a:r>
              <a:rPr lang="en-US" sz="800" b="0" dirty="0">
                <a:solidFill>
                  <a:srgbClr val="E2E8F0"/>
                </a:solidFill>
                <a:latin typeface="Consolas"/>
                <a:ea typeface="Consolas"/>
                <a:cs typeface="Consolas"/>
              </a:rPr>
              <a:t>, </a:t>
            </a:r>
            <a:r>
              <a:rPr lang="en-US" sz="800" b="0" dirty="0">
                <a:solidFill>
                  <a:srgbClr val="F0A98B"/>
                </a:solidFill>
                <a:latin typeface="Consolas"/>
                <a:ea typeface="Consolas"/>
                <a:cs typeface="Consolas"/>
              </a:rPr>
              <a:t>"A"</a:t>
            </a:r>
            <a:r>
              <a:rPr lang="en-US" sz="800" b="0" dirty="0">
                <a:solidFill>
                  <a:srgbClr val="E2E8F0"/>
                </a:solidFill>
                <a:latin typeface="Consolas"/>
                <a:ea typeface="Consolas"/>
                <a:cs typeface="Consolas"/>
              </a:rPr>
              <a:t>, </a:t>
            </a:r>
            <a:r>
              <a:rPr lang="en-US" sz="800" b="0" dirty="0">
                <a:solidFill>
                  <a:srgbClr val="F0A98B"/>
                </a:solidFill>
                <a:latin typeface="Consolas"/>
                <a:ea typeface="Consolas"/>
                <a:cs typeface="Consolas"/>
              </a:rPr>
              <a:t>"B"</a:t>
            </a:r>
            <a:r>
              <a:rPr lang="en-US" sz="800" b="0" dirty="0">
                <a:solidFill>
                  <a:srgbClr val="E2E8F0"/>
                </a:solidFill>
                <a:latin typeface="Consolas"/>
                <a:ea typeface="Consolas"/>
                <a:cs typeface="Consolas"/>
              </a:rPr>
              <a:t> }, ignoreOrder: </a:t>
            </a:r>
            <a:r>
              <a:rPr lang="en-US" sz="800" b="0" dirty="0">
                <a:solidFill>
                  <a:srgbClr val="60A5FA"/>
                </a:solidFill>
                <a:latin typeface="Consolas"/>
                <a:ea typeface="Consolas"/>
                <a:cs typeface="Consolas"/>
              </a:rPr>
              <a:t>true</a:t>
            </a:r>
            <a:r>
              <a:rPr lang="en-US" sz="800" b="0" dirty="0">
                <a:solidFill>
                  <a:srgbClr val="E2E8F0"/>
                </a:solidFill>
                <a:latin typeface="Consolas"/>
                <a:ea typeface="Consolas"/>
                <a:cs typeface="Consolas"/>
              </a:rPr>
              <a:t>);</a:t>
            </a:r>
            <a:endParaRPr lang="en-US" sz="800" dirty="0"/>
          </a:p>
        </p:txBody>
      </p:sp>
      <p:sp>
        <p:nvSpPr>
          <p:cNvPr id="124" name="s124"/>
          <p:cNvSpPr/>
          <p:nvPr/>
        </p:nvSpPr>
        <p:spPr>
          <a:xfrm>
            <a:off x="543154" y="47518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grades.</a:t>
            </a:r>
            <a:r>
              <a:rPr lang="en-US" sz="800" b="0" dirty="0">
                <a:solidFill>
                  <a:srgbClr val="7DD3FC"/>
                </a:solidFill>
                <a:latin typeface="Consolas"/>
                <a:ea typeface="Consolas"/>
                <a:cs typeface="Consolas"/>
              </a:rPr>
              <a:t>ShouldBeInOrder</a:t>
            </a:r>
            <a:r>
              <a:rPr lang="en-US" sz="800" b="0" dirty="0">
                <a:solidFill>
                  <a:srgbClr val="E2E8F0"/>
                </a:solidFill>
                <a:latin typeface="Consolas"/>
                <a:ea typeface="Consolas"/>
                <a:cs typeface="Consolas"/>
              </a:rPr>
              <a:t>();                                 </a:t>
            </a:r>
            <a:r>
              <a:rPr lang="en-US" sz="800" b="0" dirty="0">
                <a:solidFill>
                  <a:srgbClr val="6FAE7A"/>
                </a:solidFill>
                <a:latin typeface="Consolas"/>
                <a:ea typeface="Consolas"/>
                <a:cs typeface="Consolas"/>
              </a:rPr>
              <a:t>// A, B, C</a:t>
            </a:r>
            <a:endParaRPr lang="en-US" sz="800" dirty="0"/>
          </a:p>
        </p:txBody>
      </p:sp>
      <p:sp>
        <p:nvSpPr>
          <p:cNvPr id="125" name="s125"/>
          <p:cNvSpPr/>
          <p:nvPr/>
        </p:nvSpPr>
        <p:spPr>
          <a:xfrm>
            <a:off x="543154" y="48737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26" name="s126"/>
          <p:cNvSpPr/>
          <p:nvPr/>
        </p:nvSpPr>
        <p:spPr>
          <a:xfrm>
            <a:off x="543154" y="51175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[Fact]</a:t>
            </a:r>
            <a:endParaRPr lang="en-US" sz="800" dirty="0"/>
          </a:p>
        </p:txBody>
      </p:sp>
      <p:sp>
        <p:nvSpPr>
          <p:cNvPr id="127" name="s127"/>
          <p:cNvSpPr/>
          <p:nvPr/>
        </p:nvSpPr>
        <p:spPr>
          <a:xfrm>
            <a:off x="543154" y="523951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Transfer_SendsExactlyOneEmail</a:t>
            </a:r>
            <a:r>
              <a:rPr lang="en-US" sz="800" b="0" dirty="0">
                <a:solidFill>
                  <a:srgbClr val="E2E8F0"/>
                </a:solidFill>
                <a:latin typeface="Consolas"/>
                <a:ea typeface="Consolas"/>
                <a:cs typeface="Consolas"/>
              </a:rPr>
              <a:t>() =&gt;</a:t>
            </a:r>
            <a:endParaRPr lang="en-US" sz="800" dirty="0"/>
          </a:p>
        </p:txBody>
      </p:sp>
      <p:sp>
        <p:nvSpPr>
          <p:cNvPr id="128" name="s128"/>
          <p:cNvSpPr/>
          <p:nvPr/>
        </p:nvSpPr>
        <p:spPr>
          <a:xfrm>
            <a:off x="543154" y="53614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spy.</a:t>
            </a:r>
            <a:r>
              <a:rPr lang="en-US" sz="800" b="0" dirty="0">
                <a:solidFill>
                  <a:srgbClr val="7DD3FC"/>
                </a:solidFill>
                <a:latin typeface="Consolas"/>
                <a:ea typeface="Consolas"/>
                <a:cs typeface="Consolas"/>
              </a:rPr>
              <a:t>Sent</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ShouldHaveSingleItem</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Body</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ShouldContain</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"100.00"</a:t>
            </a:r>
            <a:r>
              <a:rPr lang="en-US" sz="800" b="0" dirty="0">
                <a:solidFill>
                  <a:srgbClr val="E2E8F0"/>
                </a:solidFill>
                <a:latin typeface="Consolas"/>
                <a:ea typeface="Consolas"/>
                <a:cs typeface="Consolas"/>
              </a:rPr>
              <a:t>);</a:t>
            </a:r>
            <a:endParaRPr lang="en-US" sz="800" dirty="0"/>
          </a:p>
        </p:txBody>
      </p:sp>
      <p:sp>
        <p:nvSpPr>
          <p:cNvPr id="129" name="s129"/>
          <p:cNvSpPr/>
          <p:nvPr/>
        </p:nvSpPr>
        <p:spPr>
          <a:xfrm>
            <a:off x="7172554" y="1783080"/>
            <a:ext cx="4458614" cy="178308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30" name="s130"/>
          <p:cNvSpPr/>
          <p:nvPr/>
        </p:nvSpPr>
        <p:spPr>
          <a:xfrm>
            <a:off x="73371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31" name="s131"/>
          <p:cNvSpPr/>
          <p:nvPr/>
        </p:nvSpPr>
        <p:spPr>
          <a:xfrm>
            <a:off x="75200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32" name="s132"/>
          <p:cNvSpPr/>
          <p:nvPr/>
        </p:nvSpPr>
        <p:spPr>
          <a:xfrm>
            <a:off x="77029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33" name="s133"/>
          <p:cNvSpPr/>
          <p:nvPr/>
        </p:nvSpPr>
        <p:spPr>
          <a:xfrm>
            <a:off x="7949794" y="185623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If one email is invalid</a:t>
            </a:r>
            <a:endParaRPr lang="en-US" sz="950" dirty="0"/>
          </a:p>
        </p:txBody>
      </p:sp>
      <p:cxnSp>
        <p:nvCxnSpPr>
          <p:cNvPr id="134" name="ln134"/>
          <p:cNvCxnSpPr/>
          <p:nvPr/>
        </p:nvCxnSpPr>
        <p:spPr>
          <a:xfrm>
            <a:off x="7172554" y="2194560"/>
            <a:ext cx="4458614" cy="0"/>
          </a:xfrm>
          <a:prstGeom prst="line">
            <a:avLst/>
          </a:prstGeom>
          <a:ln w="9525">
            <a:solidFill>
              <a:srgbClr val="1E3A5F"/>
            </a:solidFill>
          </a:ln>
        </p:spPr>
      </p:cxnSp>
      <p:sp>
        <p:nvSpPr>
          <p:cNvPr id="135" name="s135"/>
          <p:cNvSpPr/>
          <p:nvPr/>
        </p:nvSpPr>
        <p:spPr>
          <a:xfrm>
            <a:off x="7172554" y="2313432"/>
            <a:ext cx="445861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customers</a:t>
            </a:r>
            <a:endParaRPr lang="en-US" sz="1050" dirty="0"/>
          </a:p>
        </p:txBody>
      </p:sp>
      <p:sp>
        <p:nvSpPr>
          <p:cNvPr id="136" name="s136"/>
          <p:cNvSpPr/>
          <p:nvPr/>
        </p:nvSpPr>
        <p:spPr>
          <a:xfrm>
            <a:off x="7172554" y="2473452"/>
            <a:ext cx="445861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should satisfy the condition</a:t>
            </a:r>
            <a:endParaRPr lang="en-US" sz="1050" dirty="0"/>
          </a:p>
        </p:txBody>
      </p:sp>
      <p:sp>
        <p:nvSpPr>
          <p:cNvPr id="137" name="s137"/>
          <p:cNvSpPr/>
          <p:nvPr/>
        </p:nvSpPr>
        <p:spPr>
          <a:xfrm>
            <a:off x="7172554" y="2633472"/>
            <a:ext cx="445861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(EmailValidator.IsValid(c.Email))</a:t>
            </a:r>
            <a:endParaRPr lang="en-US" sz="1050" dirty="0"/>
          </a:p>
        </p:txBody>
      </p:sp>
      <p:sp>
        <p:nvSpPr>
          <p:cNvPr id="138" name="s138"/>
          <p:cNvSpPr/>
          <p:nvPr/>
        </p:nvSpPr>
        <p:spPr>
          <a:xfrm>
            <a:off x="7172554" y="2793492"/>
            <a:ext cx="445861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but</a:t>
            </a:r>
            <a:endParaRPr lang="en-US" sz="1050" dirty="0"/>
          </a:p>
        </p:txBody>
      </p:sp>
      <p:sp>
        <p:nvSpPr>
          <p:cNvPr id="139" name="s139"/>
          <p:cNvSpPr/>
          <p:nvPr/>
        </p:nvSpPr>
        <p:spPr>
          <a:xfrm>
            <a:off x="7172554" y="2953512"/>
            <a:ext cx="445861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[Customer { Email = "mona@" }]</a:t>
            </a:r>
            <a:endParaRPr lang="en-US" sz="1050" dirty="0"/>
          </a:p>
        </p:txBody>
      </p:sp>
      <p:sp>
        <p:nvSpPr>
          <p:cNvPr id="140" name="s140"/>
          <p:cNvSpPr/>
          <p:nvPr/>
        </p:nvSpPr>
        <p:spPr>
          <a:xfrm>
            <a:off x="7172554" y="3113532"/>
            <a:ext cx="445861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do not</a:t>
            </a:r>
            <a:endParaRPr lang="en-US" sz="1050" dirty="0"/>
          </a:p>
        </p:txBody>
      </p:sp>
      <p:sp>
        <p:nvSpPr>
          <p:cNvPr id="141" name="s141"/>
          <p:cNvSpPr/>
          <p:nvPr/>
        </p:nvSpPr>
        <p:spPr>
          <a:xfrm>
            <a:off x="7172554" y="3703320"/>
            <a:ext cx="4458614" cy="91440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IT NAMES THE BAD ITEMS</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You see WHICH customer broke the rule.</a:t>
            </a:r>
            <a:endParaRPr lang="en-US" sz="1200" dirty="0"/>
          </a:p>
        </p:txBody>
      </p:sp>
      <p:sp>
        <p:nvSpPr>
          <p:cNvPr id="142" name="s142"/>
          <p:cNvSpPr/>
          <p:nvPr/>
        </p:nvSpPr>
        <p:spPr>
          <a:xfrm>
            <a:off x="7172554" y="4754880"/>
            <a:ext cx="4458614" cy="914400"/>
          </a:xfrm>
          <a:prstGeom prst="roundRect">
            <a:avLst>
              <a:gd name="adj" fmla="val 10000"/>
            </a:avLst>
          </a:prstGeom>
          <a:solidFill>
            <a:srgbClr val="A78BFA">
              <a:alpha val="8000"/>
            </a:srgbClr>
          </a:solidFill>
          <a:ln w="12700">
            <a:solidFill>
              <a:srgbClr val="A78BFA"/>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A78BFA"/>
                </a:solidFill>
                <a:latin typeface="Segoe UI"/>
                <a:ea typeface="Segoe UI"/>
                <a:cs typeface="Segoe UI"/>
              </a:rPr>
              <a:t>ONE ITEM, THEN CHECK IT</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ShouldHaveSingleItem() returns it.</a:t>
            </a:r>
            <a:endParaRPr lang="en-US" sz="1200" dirty="0"/>
          </a:p>
        </p:txBody>
      </p:sp>
      <p:sp>
        <p:nvSpPr>
          <p:cNvPr id="143" name="s143"/>
          <p:cNvSpPr/>
          <p:nvPr/>
        </p:nvSpPr>
        <p:spPr>
          <a:xfrm>
            <a:off x="652882" y="2895600"/>
            <a:ext cx="6181344" cy="78638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44" name="s144"/>
          <p:cNvSpPr/>
          <p:nvPr/>
        </p:nvSpPr>
        <p:spPr>
          <a:xfrm>
            <a:off x="652882" y="4480560"/>
            <a:ext cx="6181344" cy="420624"/>
          </a:xfrm>
          <a:prstGeom prst="roundRect">
            <a:avLst>
              <a:gd name="adj" fmla="val 6000"/>
            </a:avLst>
          </a:prstGeom>
          <a:solidFill>
            <a:srgbClr val="13D0F7">
              <a:alpha val="10000"/>
            </a:srgbClr>
          </a:solidFill>
          <a:ln w="15875">
            <a:solidFill>
              <a:srgbClr val="13D0F7"/>
            </a:solidFill>
            <a:prstDash val="solid"/>
          </a:ln>
        </p:spPr>
        <p:txBody>
          <a:bodyPr wrap="square" lIns="164592" tIns="109728" rIns="137160" bIns="91440" rtlCol="0" anchor="t">
            <a:noAutofit/>
          </a:bodyPr>
          <a:lstStyle/>
          <a:p>
            <a:endParaRPr lang="en-US"/>
          </a:p>
        </p:txBody>
      </p:sp>
      <p:sp>
        <p:nvSpPr>
          <p:cNvPr id="145" name="s145"/>
          <p:cNvSpPr/>
          <p:nvPr/>
        </p:nvSpPr>
        <p:spPr>
          <a:xfrm>
            <a:off x="652882" y="5334000"/>
            <a:ext cx="6181344" cy="176784"/>
          </a:xfrm>
          <a:prstGeom prst="roundRect">
            <a:avLst>
              <a:gd name="adj" fmla="val 6000"/>
            </a:avLst>
          </a:prstGeom>
          <a:solidFill>
            <a:srgbClr val="A78BFA">
              <a:alpha val="10000"/>
            </a:srgbClr>
          </a:solidFill>
          <a:ln w="15875">
            <a:solidFill>
              <a:srgbClr val="A78BFA"/>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0"/>
                                        </p:tgtEl>
                                        <p:attrNameLst>
                                          <p:attrName>style.visibility</p:attrName>
                                        </p:attrNameLst>
                                      </p:cBhvr>
                                      <p:to>
                                        <p:strVal val="visible"/>
                                      </p:to>
                                    </p:set>
                                    <p:animEffect transition="in" filter="fade">
                                      <p:cBhvr>
                                        <p:cTn id="83" dur="500"/>
                                        <p:tgtEl>
                                          <p:spTgt spid="120"/>
                                        </p:tgtEl>
                                      </p:cBhvr>
                                    </p:animEffect>
                                    <p:anim calcmode="lin" valueType="num">
                                      <p:cBhvr additive="base">
                                        <p:cTn id="84" dur="500" decel="100000" fill="hold"/>
                                        <p:tgtEl>
                                          <p:spTgt spid="120"/>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121"/>
                                        </p:tgtEl>
                                        <p:attrNameLst>
                                          <p:attrName>style.visibility</p:attrName>
                                        </p:attrNameLst>
                                      </p:cBhvr>
                                      <p:to>
                                        <p:strVal val="visible"/>
                                      </p:to>
                                    </p:set>
                                    <p:animEffect transition="in" filter="fade">
                                      <p:cBhvr>
                                        <p:cTn id="87" dur="500"/>
                                        <p:tgtEl>
                                          <p:spTgt spid="121"/>
                                        </p:tgtEl>
                                      </p:cBhvr>
                                    </p:animEffect>
                                    <p:anim calcmode="lin" valueType="num">
                                      <p:cBhvr additive="base">
                                        <p:cTn id="88" dur="500" decel="100000" fill="hold"/>
                                        <p:tgtEl>
                                          <p:spTgt spid="121"/>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122"/>
                                        </p:tgtEl>
                                        <p:attrNameLst>
                                          <p:attrName>style.visibility</p:attrName>
                                        </p:attrNameLst>
                                      </p:cBhvr>
                                      <p:to>
                                        <p:strVal val="visible"/>
                                      </p:to>
                                    </p:set>
                                    <p:animEffect transition="in" filter="fade">
                                      <p:cBhvr>
                                        <p:cTn id="91" dur="500"/>
                                        <p:tgtEl>
                                          <p:spTgt spid="122"/>
                                        </p:tgtEl>
                                      </p:cBhvr>
                                    </p:animEffect>
                                    <p:anim calcmode="lin" valueType="num">
                                      <p:cBhvr additive="base">
                                        <p:cTn id="92" dur="500" decel="100000" fill="hold"/>
                                        <p:tgtEl>
                                          <p:spTgt spid="122"/>
                                        </p:tgtEl>
                                        <p:attrNameLst>
                                          <p:attrName>ppt_y</p:attrName>
                                        </p:attrNameLst>
                                      </p:cBhvr>
                                      <p:tavLst>
                                        <p:tav tm="0">
                                          <p:val>
                                            <p:strVal val="#ppt_y+0.06"/>
                                          </p:val>
                                        </p:tav>
                                        <p:tav tm="100000">
                                          <p:val>
                                            <p:strVal val="#ppt_y"/>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123"/>
                                        </p:tgtEl>
                                        <p:attrNameLst>
                                          <p:attrName>style.visibility</p:attrName>
                                        </p:attrNameLst>
                                      </p:cBhvr>
                                      <p:to>
                                        <p:strVal val="visible"/>
                                      </p:to>
                                    </p:set>
                                    <p:animEffect transition="in" filter="fade">
                                      <p:cBhvr>
                                        <p:cTn id="95" dur="500"/>
                                        <p:tgtEl>
                                          <p:spTgt spid="123"/>
                                        </p:tgtEl>
                                      </p:cBhvr>
                                    </p:animEffect>
                                    <p:anim calcmode="lin" valueType="num">
                                      <p:cBhvr additive="base">
                                        <p:cTn id="96" dur="500" decel="100000" fill="hold"/>
                                        <p:tgtEl>
                                          <p:spTgt spid="123"/>
                                        </p:tgtEl>
                                        <p:attrNameLst>
                                          <p:attrName>ppt_y</p:attrName>
                                        </p:attrNameLst>
                                      </p:cBhvr>
                                      <p:tavLst>
                                        <p:tav tm="0">
                                          <p:val>
                                            <p:strVal val="#ppt_y+0.06"/>
                                          </p:val>
                                        </p:tav>
                                        <p:tav tm="100000">
                                          <p:val>
                                            <p:strVal val="#ppt_y"/>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4"/>
                                        </p:tgtEl>
                                        <p:attrNameLst>
                                          <p:attrName>style.visibility</p:attrName>
                                        </p:attrNameLst>
                                      </p:cBhvr>
                                      <p:to>
                                        <p:strVal val="visible"/>
                                      </p:to>
                                    </p:set>
                                    <p:animEffect transition="in" filter="fade">
                                      <p:cBhvr>
                                        <p:cTn id="99" dur="500"/>
                                        <p:tgtEl>
                                          <p:spTgt spid="124"/>
                                        </p:tgtEl>
                                      </p:cBhvr>
                                    </p:animEffect>
                                    <p:anim calcmode="lin" valueType="num">
                                      <p:cBhvr additive="base">
                                        <p:cTn id="100" dur="500" decel="100000" fill="hold"/>
                                        <p:tgtEl>
                                          <p:spTgt spid="124"/>
                                        </p:tgtEl>
                                        <p:attrNameLst>
                                          <p:attrName>ppt_y</p:attrName>
                                        </p:attrNameLst>
                                      </p:cBhvr>
                                      <p:tavLst>
                                        <p:tav tm="0">
                                          <p:val>
                                            <p:strVal val="#ppt_y+0.06"/>
                                          </p:val>
                                        </p:tav>
                                        <p:tav tm="100000">
                                          <p:val>
                                            <p:strVal val="#ppt_y"/>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25"/>
                                        </p:tgtEl>
                                        <p:attrNameLst>
                                          <p:attrName>style.visibility</p:attrName>
                                        </p:attrNameLst>
                                      </p:cBhvr>
                                      <p:to>
                                        <p:strVal val="visible"/>
                                      </p:to>
                                    </p:set>
                                    <p:animEffect transition="in" filter="fade">
                                      <p:cBhvr>
                                        <p:cTn id="103" dur="500"/>
                                        <p:tgtEl>
                                          <p:spTgt spid="125"/>
                                        </p:tgtEl>
                                      </p:cBhvr>
                                    </p:animEffect>
                                    <p:anim calcmode="lin" valueType="num">
                                      <p:cBhvr additive="base">
                                        <p:cTn id="104" dur="500" decel="100000" fill="hold"/>
                                        <p:tgtEl>
                                          <p:spTgt spid="125"/>
                                        </p:tgtEl>
                                        <p:attrNameLst>
                                          <p:attrName>ppt_y</p:attrName>
                                        </p:attrNameLst>
                                      </p:cBhvr>
                                      <p:tavLst>
                                        <p:tav tm="0">
                                          <p:val>
                                            <p:strVal val="#ppt_y+0.06"/>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26"/>
                                        </p:tgtEl>
                                        <p:attrNameLst>
                                          <p:attrName>style.visibility</p:attrName>
                                        </p:attrNameLst>
                                      </p:cBhvr>
                                      <p:to>
                                        <p:strVal val="visible"/>
                                      </p:to>
                                    </p:set>
                                    <p:animEffect transition="in" filter="fade">
                                      <p:cBhvr>
                                        <p:cTn id="107" dur="500"/>
                                        <p:tgtEl>
                                          <p:spTgt spid="126"/>
                                        </p:tgtEl>
                                      </p:cBhvr>
                                    </p:animEffect>
                                    <p:anim calcmode="lin" valueType="num">
                                      <p:cBhvr additive="base">
                                        <p:cTn id="108" dur="500" decel="100000" fill="hold"/>
                                        <p:tgtEl>
                                          <p:spTgt spid="126"/>
                                        </p:tgtEl>
                                        <p:attrNameLst>
                                          <p:attrName>ppt_y</p:attrName>
                                        </p:attrNameLst>
                                      </p:cBhvr>
                                      <p:tavLst>
                                        <p:tav tm="0">
                                          <p:val>
                                            <p:strVal val="#ppt_y+0.06"/>
                                          </p:val>
                                        </p:tav>
                                        <p:tav tm="100000">
                                          <p:val>
                                            <p:strVal val="#ppt_y"/>
                                          </p:val>
                                        </p:tav>
                                      </p:tavLst>
                                    </p:anim>
                                  </p:childTnLst>
                                </p:cTn>
                              </p:par>
                              <p:par>
                                <p:cTn id="109" presetID="42" presetClass="entr" presetSubtype="0" fill="hold" grpId="0" nodeType="withEffect">
                                  <p:stCondLst>
                                    <p:cond delay="0"/>
                                  </p:stCondLst>
                                  <p:childTnLst>
                                    <p:set>
                                      <p:cBhvr>
                                        <p:cTn id="110" dur="1" fill="hold">
                                          <p:stCondLst>
                                            <p:cond delay="0"/>
                                          </p:stCondLst>
                                        </p:cTn>
                                        <p:tgtEl>
                                          <p:spTgt spid="127"/>
                                        </p:tgtEl>
                                        <p:attrNameLst>
                                          <p:attrName>style.visibility</p:attrName>
                                        </p:attrNameLst>
                                      </p:cBhvr>
                                      <p:to>
                                        <p:strVal val="visible"/>
                                      </p:to>
                                    </p:set>
                                    <p:animEffect transition="in" filter="fade">
                                      <p:cBhvr>
                                        <p:cTn id="111" dur="500"/>
                                        <p:tgtEl>
                                          <p:spTgt spid="127"/>
                                        </p:tgtEl>
                                      </p:cBhvr>
                                    </p:animEffect>
                                    <p:anim calcmode="lin" valueType="num">
                                      <p:cBhvr additive="base">
                                        <p:cTn id="112" dur="500" decel="100000" fill="hold"/>
                                        <p:tgtEl>
                                          <p:spTgt spid="127"/>
                                        </p:tgtEl>
                                        <p:attrNameLst>
                                          <p:attrName>ppt_y</p:attrName>
                                        </p:attrNameLst>
                                      </p:cBhvr>
                                      <p:tavLst>
                                        <p:tav tm="0">
                                          <p:val>
                                            <p:strVal val="#ppt_y+0.06"/>
                                          </p:val>
                                        </p:tav>
                                        <p:tav tm="100000">
                                          <p:val>
                                            <p:strVal val="#ppt_y"/>
                                          </p:val>
                                        </p:tav>
                                      </p:tavLst>
                                    </p:anim>
                                  </p:childTnLst>
                                </p:cTn>
                              </p:par>
                              <p:par>
                                <p:cTn id="113" presetID="42" presetClass="entr" presetSubtype="0" fill="hold" grpId="0" nodeType="withEffect">
                                  <p:stCondLst>
                                    <p:cond delay="0"/>
                                  </p:stCondLst>
                                  <p:childTnLst>
                                    <p:set>
                                      <p:cBhvr>
                                        <p:cTn id="114" dur="1" fill="hold">
                                          <p:stCondLst>
                                            <p:cond delay="0"/>
                                          </p:stCondLst>
                                        </p:cTn>
                                        <p:tgtEl>
                                          <p:spTgt spid="128"/>
                                        </p:tgtEl>
                                        <p:attrNameLst>
                                          <p:attrName>style.visibility</p:attrName>
                                        </p:attrNameLst>
                                      </p:cBhvr>
                                      <p:to>
                                        <p:strVal val="visible"/>
                                      </p:to>
                                    </p:set>
                                    <p:animEffect transition="in" filter="fade">
                                      <p:cBhvr>
                                        <p:cTn id="115" dur="500"/>
                                        <p:tgtEl>
                                          <p:spTgt spid="128"/>
                                        </p:tgtEl>
                                      </p:cBhvr>
                                    </p:animEffect>
                                    <p:anim calcmode="lin" valueType="num">
                                      <p:cBhvr additive="base">
                                        <p:cTn id="116" dur="500" decel="100000" fill="hold"/>
                                        <p:tgtEl>
                                          <p:spTgt spid="128"/>
                                        </p:tgtEl>
                                        <p:attrNameLst>
                                          <p:attrName>ppt_y</p:attrName>
                                        </p:attrNameLst>
                                      </p:cBhvr>
                                      <p:tavLst>
                                        <p:tav tm="0">
                                          <p:val>
                                            <p:strVal val="#ppt_y+0.06"/>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53" presetClass="entr" presetSubtype="16" fill="hold" grpId="0" nodeType="clickEffect">
                                  <p:stCondLst>
                                    <p:cond delay="0"/>
                                  </p:stCondLst>
                                  <p:childTnLst>
                                    <p:set>
                                      <p:cBhvr>
                                        <p:cTn id="120" dur="1" fill="hold">
                                          <p:stCondLst>
                                            <p:cond delay="0"/>
                                          </p:stCondLst>
                                        </p:cTn>
                                        <p:tgtEl>
                                          <p:spTgt spid="143"/>
                                        </p:tgtEl>
                                        <p:attrNameLst>
                                          <p:attrName>style.visibility</p:attrName>
                                        </p:attrNameLst>
                                      </p:cBhvr>
                                      <p:to>
                                        <p:strVal val="visible"/>
                                      </p:to>
                                    </p:set>
                                    <p:anim calcmode="lin" valueType="num">
                                      <p:cBhvr additive="base">
                                        <p:cTn id="121" dur="500" decel="100000" fill="hold"/>
                                        <p:tgtEl>
                                          <p:spTgt spid="143"/>
                                        </p:tgtEl>
                                        <p:attrNameLst>
                                          <p:attrName>ppt_w</p:attrName>
                                        </p:attrNameLst>
                                      </p:cBhvr>
                                      <p:tavLst>
                                        <p:tav tm="0">
                                          <p:val>
                                            <p:strVal val="#ppt_w*0.3"/>
                                          </p:val>
                                        </p:tav>
                                        <p:tav tm="100000">
                                          <p:val>
                                            <p:strVal val="#ppt_w*1.08"/>
                                          </p:val>
                                        </p:tav>
                                      </p:tavLst>
                                    </p:anim>
                                    <p:anim calcmode="lin" valueType="num">
                                      <p:cBhvr additive="base">
                                        <p:cTn id="122" dur="500" decel="100000" fill="hold"/>
                                        <p:tgtEl>
                                          <p:spTgt spid="143"/>
                                        </p:tgtEl>
                                        <p:attrNameLst>
                                          <p:attrName>ppt_h</p:attrName>
                                        </p:attrNameLst>
                                      </p:cBhvr>
                                      <p:tavLst>
                                        <p:tav tm="0">
                                          <p:val>
                                            <p:strVal val="#ppt_h*0.3"/>
                                          </p:val>
                                        </p:tav>
                                        <p:tav tm="100000">
                                          <p:val>
                                            <p:strVal val="#ppt_h*1.08"/>
                                          </p:val>
                                        </p:tav>
                                      </p:tavLst>
                                    </p:anim>
                                    <p:animEffect transition="in" filter="fade">
                                      <p:cBhvr>
                                        <p:cTn id="123" dur="250"/>
                                        <p:tgtEl>
                                          <p:spTgt spid="143"/>
                                        </p:tgtEl>
                                      </p:cBhvr>
                                    </p:animEffect>
                                    <p:anim calcmode="lin" valueType="num">
                                      <p:cBhvr additive="base">
                                        <p:cTn id="124" dur="160" fill="hold">
                                          <p:stCondLst>
                                            <p:cond delay="500"/>
                                          </p:stCondLst>
                                        </p:cTn>
                                        <p:tgtEl>
                                          <p:spTgt spid="143"/>
                                        </p:tgtEl>
                                        <p:attrNameLst>
                                          <p:attrName>ppt_w</p:attrName>
                                        </p:attrNameLst>
                                      </p:cBhvr>
                                      <p:tavLst>
                                        <p:tav tm="0">
                                          <p:val>
                                            <p:strVal val="#ppt_w*1.08"/>
                                          </p:val>
                                        </p:tav>
                                        <p:tav tm="100000">
                                          <p:val>
                                            <p:strVal val="#ppt_w"/>
                                          </p:val>
                                        </p:tav>
                                      </p:tavLst>
                                    </p:anim>
                                    <p:anim calcmode="lin" valueType="num">
                                      <p:cBhvr additive="base">
                                        <p:cTn id="125" dur="160" fill="hold">
                                          <p:stCondLst>
                                            <p:cond delay="500"/>
                                          </p:stCondLst>
                                        </p:cTn>
                                        <p:tgtEl>
                                          <p:spTgt spid="143"/>
                                        </p:tgtEl>
                                        <p:attrNameLst>
                                          <p:attrName>ppt_h</p:attrName>
                                        </p:attrNameLst>
                                      </p:cBhvr>
                                      <p:tavLst>
                                        <p:tav tm="0">
                                          <p:val>
                                            <p:strVal val="#ppt_h*1.08"/>
                                          </p:val>
                                        </p:tav>
                                        <p:tav tm="100000">
                                          <p:val>
                                            <p:strVal val="#ppt_h"/>
                                          </p:val>
                                        </p:tav>
                                      </p:tavLst>
                                    </p:anim>
                                  </p:childTnLst>
                                </p:cTn>
                              </p:par>
                              <p:par>
                                <p:cTn id="126" presetID="42" presetClass="entr" presetSubtype="0" fill="hold" grpId="0" nodeType="withEffect">
                                  <p:stCondLst>
                                    <p:cond delay="200"/>
                                  </p:stCondLst>
                                  <p:childTnLst>
                                    <p:set>
                                      <p:cBhvr>
                                        <p:cTn id="127" dur="1" fill="hold">
                                          <p:stCondLst>
                                            <p:cond delay="0"/>
                                          </p:stCondLst>
                                        </p:cTn>
                                        <p:tgtEl>
                                          <p:spTgt spid="129"/>
                                        </p:tgtEl>
                                        <p:attrNameLst>
                                          <p:attrName>style.visibility</p:attrName>
                                        </p:attrNameLst>
                                      </p:cBhvr>
                                      <p:to>
                                        <p:strVal val="visible"/>
                                      </p:to>
                                    </p:set>
                                    <p:animEffect transition="in" filter="fade">
                                      <p:cBhvr>
                                        <p:cTn id="128" dur="500"/>
                                        <p:tgtEl>
                                          <p:spTgt spid="129"/>
                                        </p:tgtEl>
                                      </p:cBhvr>
                                    </p:animEffect>
                                    <p:anim calcmode="lin" valueType="num">
                                      <p:cBhvr additive="base">
                                        <p:cTn id="129" dur="500" decel="100000" fill="hold"/>
                                        <p:tgtEl>
                                          <p:spTgt spid="129"/>
                                        </p:tgtEl>
                                        <p:attrNameLst>
                                          <p:attrName>ppt_y</p:attrName>
                                        </p:attrNameLst>
                                      </p:cBhvr>
                                      <p:tavLst>
                                        <p:tav tm="0">
                                          <p:val>
                                            <p:strVal val="#ppt_y+0.06"/>
                                          </p:val>
                                        </p:tav>
                                        <p:tav tm="100000">
                                          <p:val>
                                            <p:strVal val="#ppt_y"/>
                                          </p:val>
                                        </p:tav>
                                      </p:tavLst>
                                    </p:anim>
                                  </p:childTnLst>
                                </p:cTn>
                              </p:par>
                              <p:par>
                                <p:cTn id="130" presetID="42" presetClass="entr" presetSubtype="0" fill="hold" grpId="0" nodeType="withEffect">
                                  <p:stCondLst>
                                    <p:cond delay="200"/>
                                  </p:stCondLst>
                                  <p:childTnLst>
                                    <p:set>
                                      <p:cBhvr>
                                        <p:cTn id="131" dur="1" fill="hold">
                                          <p:stCondLst>
                                            <p:cond delay="0"/>
                                          </p:stCondLst>
                                        </p:cTn>
                                        <p:tgtEl>
                                          <p:spTgt spid="130"/>
                                        </p:tgtEl>
                                        <p:attrNameLst>
                                          <p:attrName>style.visibility</p:attrName>
                                        </p:attrNameLst>
                                      </p:cBhvr>
                                      <p:to>
                                        <p:strVal val="visible"/>
                                      </p:to>
                                    </p:set>
                                    <p:animEffect transition="in" filter="fade">
                                      <p:cBhvr>
                                        <p:cTn id="132" dur="500"/>
                                        <p:tgtEl>
                                          <p:spTgt spid="130"/>
                                        </p:tgtEl>
                                      </p:cBhvr>
                                    </p:animEffect>
                                    <p:anim calcmode="lin" valueType="num">
                                      <p:cBhvr additive="base">
                                        <p:cTn id="133" dur="500" decel="100000" fill="hold"/>
                                        <p:tgtEl>
                                          <p:spTgt spid="130"/>
                                        </p:tgtEl>
                                        <p:attrNameLst>
                                          <p:attrName>ppt_y</p:attrName>
                                        </p:attrNameLst>
                                      </p:cBhvr>
                                      <p:tavLst>
                                        <p:tav tm="0">
                                          <p:val>
                                            <p:strVal val="#ppt_y+0.06"/>
                                          </p:val>
                                        </p:tav>
                                        <p:tav tm="100000">
                                          <p:val>
                                            <p:strVal val="#ppt_y"/>
                                          </p:val>
                                        </p:tav>
                                      </p:tavLst>
                                    </p:anim>
                                  </p:childTnLst>
                                </p:cTn>
                              </p:par>
                              <p:par>
                                <p:cTn id="134" presetID="42" presetClass="entr" presetSubtype="0" fill="hold" grpId="0" nodeType="withEffect">
                                  <p:stCondLst>
                                    <p:cond delay="200"/>
                                  </p:stCondLst>
                                  <p:childTnLst>
                                    <p:set>
                                      <p:cBhvr>
                                        <p:cTn id="135" dur="1" fill="hold">
                                          <p:stCondLst>
                                            <p:cond delay="0"/>
                                          </p:stCondLst>
                                        </p:cTn>
                                        <p:tgtEl>
                                          <p:spTgt spid="131"/>
                                        </p:tgtEl>
                                        <p:attrNameLst>
                                          <p:attrName>style.visibility</p:attrName>
                                        </p:attrNameLst>
                                      </p:cBhvr>
                                      <p:to>
                                        <p:strVal val="visible"/>
                                      </p:to>
                                    </p:set>
                                    <p:animEffect transition="in" filter="fade">
                                      <p:cBhvr>
                                        <p:cTn id="136" dur="500"/>
                                        <p:tgtEl>
                                          <p:spTgt spid="131"/>
                                        </p:tgtEl>
                                      </p:cBhvr>
                                    </p:animEffect>
                                    <p:anim calcmode="lin" valueType="num">
                                      <p:cBhvr additive="base">
                                        <p:cTn id="137" dur="500" decel="100000" fill="hold"/>
                                        <p:tgtEl>
                                          <p:spTgt spid="131"/>
                                        </p:tgtEl>
                                        <p:attrNameLst>
                                          <p:attrName>ppt_y</p:attrName>
                                        </p:attrNameLst>
                                      </p:cBhvr>
                                      <p:tavLst>
                                        <p:tav tm="0">
                                          <p:val>
                                            <p:strVal val="#ppt_y+0.06"/>
                                          </p:val>
                                        </p:tav>
                                        <p:tav tm="100000">
                                          <p:val>
                                            <p:strVal val="#ppt_y"/>
                                          </p:val>
                                        </p:tav>
                                      </p:tavLst>
                                    </p:anim>
                                  </p:childTnLst>
                                </p:cTn>
                              </p:par>
                              <p:par>
                                <p:cTn id="138" presetID="42" presetClass="entr" presetSubtype="0" fill="hold" grpId="0" nodeType="withEffect">
                                  <p:stCondLst>
                                    <p:cond delay="200"/>
                                  </p:stCondLst>
                                  <p:childTnLst>
                                    <p:set>
                                      <p:cBhvr>
                                        <p:cTn id="139" dur="1" fill="hold">
                                          <p:stCondLst>
                                            <p:cond delay="0"/>
                                          </p:stCondLst>
                                        </p:cTn>
                                        <p:tgtEl>
                                          <p:spTgt spid="132"/>
                                        </p:tgtEl>
                                        <p:attrNameLst>
                                          <p:attrName>style.visibility</p:attrName>
                                        </p:attrNameLst>
                                      </p:cBhvr>
                                      <p:to>
                                        <p:strVal val="visible"/>
                                      </p:to>
                                    </p:set>
                                    <p:animEffect transition="in" filter="fade">
                                      <p:cBhvr>
                                        <p:cTn id="140" dur="500"/>
                                        <p:tgtEl>
                                          <p:spTgt spid="132"/>
                                        </p:tgtEl>
                                      </p:cBhvr>
                                    </p:animEffect>
                                    <p:anim calcmode="lin" valueType="num">
                                      <p:cBhvr additive="base">
                                        <p:cTn id="141" dur="500" decel="100000" fill="hold"/>
                                        <p:tgtEl>
                                          <p:spTgt spid="132"/>
                                        </p:tgtEl>
                                        <p:attrNameLst>
                                          <p:attrName>ppt_y</p:attrName>
                                        </p:attrNameLst>
                                      </p:cBhvr>
                                      <p:tavLst>
                                        <p:tav tm="0">
                                          <p:val>
                                            <p:strVal val="#ppt_y+0.06"/>
                                          </p:val>
                                        </p:tav>
                                        <p:tav tm="100000">
                                          <p:val>
                                            <p:strVal val="#ppt_y"/>
                                          </p:val>
                                        </p:tav>
                                      </p:tavLst>
                                    </p:anim>
                                  </p:childTnLst>
                                </p:cTn>
                              </p:par>
                              <p:par>
                                <p:cTn id="142" presetID="42" presetClass="entr" presetSubtype="0" fill="hold" grpId="0" nodeType="withEffect">
                                  <p:stCondLst>
                                    <p:cond delay="200"/>
                                  </p:stCondLst>
                                  <p:childTnLst>
                                    <p:set>
                                      <p:cBhvr>
                                        <p:cTn id="143" dur="1" fill="hold">
                                          <p:stCondLst>
                                            <p:cond delay="0"/>
                                          </p:stCondLst>
                                        </p:cTn>
                                        <p:tgtEl>
                                          <p:spTgt spid="133"/>
                                        </p:tgtEl>
                                        <p:attrNameLst>
                                          <p:attrName>style.visibility</p:attrName>
                                        </p:attrNameLst>
                                      </p:cBhvr>
                                      <p:to>
                                        <p:strVal val="visible"/>
                                      </p:to>
                                    </p:set>
                                    <p:animEffect transition="in" filter="fade">
                                      <p:cBhvr>
                                        <p:cTn id="144" dur="500"/>
                                        <p:tgtEl>
                                          <p:spTgt spid="133"/>
                                        </p:tgtEl>
                                      </p:cBhvr>
                                    </p:animEffect>
                                    <p:anim calcmode="lin" valueType="num">
                                      <p:cBhvr additive="base">
                                        <p:cTn id="145" dur="500" decel="100000" fill="hold"/>
                                        <p:tgtEl>
                                          <p:spTgt spid="133"/>
                                        </p:tgtEl>
                                        <p:attrNameLst>
                                          <p:attrName>ppt_y</p:attrName>
                                        </p:attrNameLst>
                                      </p:cBhvr>
                                      <p:tavLst>
                                        <p:tav tm="0">
                                          <p:val>
                                            <p:strVal val="#ppt_y+0.06"/>
                                          </p:val>
                                        </p:tav>
                                        <p:tav tm="100000">
                                          <p:val>
                                            <p:strVal val="#ppt_y"/>
                                          </p:val>
                                        </p:tav>
                                      </p:tavLst>
                                    </p:anim>
                                  </p:childTnLst>
                                </p:cTn>
                              </p:par>
                              <p:par>
                                <p:cTn id="146" presetID="42" presetClass="entr" presetSubtype="0" fill="hold" nodeType="withEffect">
                                  <p:stCondLst>
                                    <p:cond delay="200"/>
                                  </p:stCondLst>
                                  <p:childTnLst>
                                    <p:set>
                                      <p:cBhvr>
                                        <p:cTn id="147" dur="1" fill="hold">
                                          <p:stCondLst>
                                            <p:cond delay="0"/>
                                          </p:stCondLst>
                                        </p:cTn>
                                        <p:tgtEl>
                                          <p:spTgt spid="134"/>
                                        </p:tgtEl>
                                        <p:attrNameLst>
                                          <p:attrName>style.visibility</p:attrName>
                                        </p:attrNameLst>
                                      </p:cBhvr>
                                      <p:to>
                                        <p:strVal val="visible"/>
                                      </p:to>
                                    </p:set>
                                    <p:animEffect transition="in" filter="fade">
                                      <p:cBhvr>
                                        <p:cTn id="148" dur="500"/>
                                        <p:tgtEl>
                                          <p:spTgt spid="134"/>
                                        </p:tgtEl>
                                      </p:cBhvr>
                                    </p:animEffect>
                                    <p:anim calcmode="lin" valueType="num">
                                      <p:cBhvr additive="base">
                                        <p:cTn id="149" dur="500" decel="100000" fill="hold"/>
                                        <p:tgtEl>
                                          <p:spTgt spid="134"/>
                                        </p:tgtEl>
                                        <p:attrNameLst>
                                          <p:attrName>ppt_y</p:attrName>
                                        </p:attrNameLst>
                                      </p:cBhvr>
                                      <p:tavLst>
                                        <p:tav tm="0">
                                          <p:val>
                                            <p:strVal val="#ppt_y+0.06"/>
                                          </p:val>
                                        </p:tav>
                                        <p:tav tm="100000">
                                          <p:val>
                                            <p:strVal val="#ppt_y"/>
                                          </p:val>
                                        </p:tav>
                                      </p:tavLst>
                                    </p:anim>
                                  </p:childTnLst>
                                </p:cTn>
                              </p:par>
                              <p:par>
                                <p:cTn id="150" presetID="42" presetClass="entr" presetSubtype="0" fill="hold" grpId="0" nodeType="withEffect">
                                  <p:stCondLst>
                                    <p:cond delay="200"/>
                                  </p:stCondLst>
                                  <p:childTnLst>
                                    <p:set>
                                      <p:cBhvr>
                                        <p:cTn id="151" dur="1" fill="hold">
                                          <p:stCondLst>
                                            <p:cond delay="0"/>
                                          </p:stCondLst>
                                        </p:cTn>
                                        <p:tgtEl>
                                          <p:spTgt spid="135"/>
                                        </p:tgtEl>
                                        <p:attrNameLst>
                                          <p:attrName>style.visibility</p:attrName>
                                        </p:attrNameLst>
                                      </p:cBhvr>
                                      <p:to>
                                        <p:strVal val="visible"/>
                                      </p:to>
                                    </p:set>
                                    <p:animEffect transition="in" filter="fade">
                                      <p:cBhvr>
                                        <p:cTn id="152" dur="500"/>
                                        <p:tgtEl>
                                          <p:spTgt spid="135"/>
                                        </p:tgtEl>
                                      </p:cBhvr>
                                    </p:animEffect>
                                    <p:anim calcmode="lin" valueType="num">
                                      <p:cBhvr additive="base">
                                        <p:cTn id="153" dur="500" decel="100000" fill="hold"/>
                                        <p:tgtEl>
                                          <p:spTgt spid="135"/>
                                        </p:tgtEl>
                                        <p:attrNameLst>
                                          <p:attrName>ppt_y</p:attrName>
                                        </p:attrNameLst>
                                      </p:cBhvr>
                                      <p:tavLst>
                                        <p:tav tm="0">
                                          <p:val>
                                            <p:strVal val="#ppt_y+0.06"/>
                                          </p:val>
                                        </p:tav>
                                        <p:tav tm="100000">
                                          <p:val>
                                            <p:strVal val="#ppt_y"/>
                                          </p:val>
                                        </p:tav>
                                      </p:tavLst>
                                    </p:anim>
                                  </p:childTnLst>
                                </p:cTn>
                              </p:par>
                              <p:par>
                                <p:cTn id="154" presetID="42" presetClass="entr" presetSubtype="0" fill="hold" grpId="0" nodeType="withEffect">
                                  <p:stCondLst>
                                    <p:cond delay="200"/>
                                  </p:stCondLst>
                                  <p:childTnLst>
                                    <p:set>
                                      <p:cBhvr>
                                        <p:cTn id="155" dur="1" fill="hold">
                                          <p:stCondLst>
                                            <p:cond delay="0"/>
                                          </p:stCondLst>
                                        </p:cTn>
                                        <p:tgtEl>
                                          <p:spTgt spid="136"/>
                                        </p:tgtEl>
                                        <p:attrNameLst>
                                          <p:attrName>style.visibility</p:attrName>
                                        </p:attrNameLst>
                                      </p:cBhvr>
                                      <p:to>
                                        <p:strVal val="visible"/>
                                      </p:to>
                                    </p:set>
                                    <p:animEffect transition="in" filter="fade">
                                      <p:cBhvr>
                                        <p:cTn id="156" dur="500"/>
                                        <p:tgtEl>
                                          <p:spTgt spid="136"/>
                                        </p:tgtEl>
                                      </p:cBhvr>
                                    </p:animEffect>
                                    <p:anim calcmode="lin" valueType="num">
                                      <p:cBhvr additive="base">
                                        <p:cTn id="157" dur="500" decel="100000" fill="hold"/>
                                        <p:tgtEl>
                                          <p:spTgt spid="136"/>
                                        </p:tgtEl>
                                        <p:attrNameLst>
                                          <p:attrName>ppt_y</p:attrName>
                                        </p:attrNameLst>
                                      </p:cBhvr>
                                      <p:tavLst>
                                        <p:tav tm="0">
                                          <p:val>
                                            <p:strVal val="#ppt_y+0.06"/>
                                          </p:val>
                                        </p:tav>
                                        <p:tav tm="100000">
                                          <p:val>
                                            <p:strVal val="#ppt_y"/>
                                          </p:val>
                                        </p:tav>
                                      </p:tavLst>
                                    </p:anim>
                                  </p:childTnLst>
                                </p:cTn>
                              </p:par>
                              <p:par>
                                <p:cTn id="158" presetID="42" presetClass="entr" presetSubtype="0" fill="hold" grpId="0" nodeType="withEffect">
                                  <p:stCondLst>
                                    <p:cond delay="200"/>
                                  </p:stCondLst>
                                  <p:childTnLst>
                                    <p:set>
                                      <p:cBhvr>
                                        <p:cTn id="159" dur="1" fill="hold">
                                          <p:stCondLst>
                                            <p:cond delay="0"/>
                                          </p:stCondLst>
                                        </p:cTn>
                                        <p:tgtEl>
                                          <p:spTgt spid="137"/>
                                        </p:tgtEl>
                                        <p:attrNameLst>
                                          <p:attrName>style.visibility</p:attrName>
                                        </p:attrNameLst>
                                      </p:cBhvr>
                                      <p:to>
                                        <p:strVal val="visible"/>
                                      </p:to>
                                    </p:set>
                                    <p:animEffect transition="in" filter="fade">
                                      <p:cBhvr>
                                        <p:cTn id="160" dur="500"/>
                                        <p:tgtEl>
                                          <p:spTgt spid="137"/>
                                        </p:tgtEl>
                                      </p:cBhvr>
                                    </p:animEffect>
                                    <p:anim calcmode="lin" valueType="num">
                                      <p:cBhvr additive="base">
                                        <p:cTn id="161" dur="500" decel="100000" fill="hold"/>
                                        <p:tgtEl>
                                          <p:spTgt spid="137"/>
                                        </p:tgtEl>
                                        <p:attrNameLst>
                                          <p:attrName>ppt_y</p:attrName>
                                        </p:attrNameLst>
                                      </p:cBhvr>
                                      <p:tavLst>
                                        <p:tav tm="0">
                                          <p:val>
                                            <p:strVal val="#ppt_y+0.06"/>
                                          </p:val>
                                        </p:tav>
                                        <p:tav tm="100000">
                                          <p:val>
                                            <p:strVal val="#ppt_y"/>
                                          </p:val>
                                        </p:tav>
                                      </p:tavLst>
                                    </p:anim>
                                  </p:childTnLst>
                                </p:cTn>
                              </p:par>
                              <p:par>
                                <p:cTn id="162" presetID="42" presetClass="entr" presetSubtype="0" fill="hold" grpId="0" nodeType="withEffect">
                                  <p:stCondLst>
                                    <p:cond delay="200"/>
                                  </p:stCondLst>
                                  <p:childTnLst>
                                    <p:set>
                                      <p:cBhvr>
                                        <p:cTn id="163" dur="1" fill="hold">
                                          <p:stCondLst>
                                            <p:cond delay="0"/>
                                          </p:stCondLst>
                                        </p:cTn>
                                        <p:tgtEl>
                                          <p:spTgt spid="138"/>
                                        </p:tgtEl>
                                        <p:attrNameLst>
                                          <p:attrName>style.visibility</p:attrName>
                                        </p:attrNameLst>
                                      </p:cBhvr>
                                      <p:to>
                                        <p:strVal val="visible"/>
                                      </p:to>
                                    </p:set>
                                    <p:animEffect transition="in" filter="fade">
                                      <p:cBhvr>
                                        <p:cTn id="164" dur="500"/>
                                        <p:tgtEl>
                                          <p:spTgt spid="138"/>
                                        </p:tgtEl>
                                      </p:cBhvr>
                                    </p:animEffect>
                                    <p:anim calcmode="lin" valueType="num">
                                      <p:cBhvr additive="base">
                                        <p:cTn id="165" dur="500" decel="100000" fill="hold"/>
                                        <p:tgtEl>
                                          <p:spTgt spid="138"/>
                                        </p:tgtEl>
                                        <p:attrNameLst>
                                          <p:attrName>ppt_y</p:attrName>
                                        </p:attrNameLst>
                                      </p:cBhvr>
                                      <p:tavLst>
                                        <p:tav tm="0">
                                          <p:val>
                                            <p:strVal val="#ppt_y+0.06"/>
                                          </p:val>
                                        </p:tav>
                                        <p:tav tm="100000">
                                          <p:val>
                                            <p:strVal val="#ppt_y"/>
                                          </p:val>
                                        </p:tav>
                                      </p:tavLst>
                                    </p:anim>
                                  </p:childTnLst>
                                </p:cTn>
                              </p:par>
                              <p:par>
                                <p:cTn id="166" presetID="42" presetClass="entr" presetSubtype="0" fill="hold" grpId="0" nodeType="withEffect">
                                  <p:stCondLst>
                                    <p:cond delay="200"/>
                                  </p:stCondLst>
                                  <p:childTnLst>
                                    <p:set>
                                      <p:cBhvr>
                                        <p:cTn id="167" dur="1" fill="hold">
                                          <p:stCondLst>
                                            <p:cond delay="0"/>
                                          </p:stCondLst>
                                        </p:cTn>
                                        <p:tgtEl>
                                          <p:spTgt spid="139"/>
                                        </p:tgtEl>
                                        <p:attrNameLst>
                                          <p:attrName>style.visibility</p:attrName>
                                        </p:attrNameLst>
                                      </p:cBhvr>
                                      <p:to>
                                        <p:strVal val="visible"/>
                                      </p:to>
                                    </p:set>
                                    <p:animEffect transition="in" filter="fade">
                                      <p:cBhvr>
                                        <p:cTn id="168" dur="500"/>
                                        <p:tgtEl>
                                          <p:spTgt spid="139"/>
                                        </p:tgtEl>
                                      </p:cBhvr>
                                    </p:animEffect>
                                    <p:anim calcmode="lin" valueType="num">
                                      <p:cBhvr additive="base">
                                        <p:cTn id="169" dur="500" decel="100000" fill="hold"/>
                                        <p:tgtEl>
                                          <p:spTgt spid="139"/>
                                        </p:tgtEl>
                                        <p:attrNameLst>
                                          <p:attrName>ppt_y</p:attrName>
                                        </p:attrNameLst>
                                      </p:cBhvr>
                                      <p:tavLst>
                                        <p:tav tm="0">
                                          <p:val>
                                            <p:strVal val="#ppt_y+0.06"/>
                                          </p:val>
                                        </p:tav>
                                        <p:tav tm="100000">
                                          <p:val>
                                            <p:strVal val="#ppt_y"/>
                                          </p:val>
                                        </p:tav>
                                      </p:tavLst>
                                    </p:anim>
                                  </p:childTnLst>
                                </p:cTn>
                              </p:par>
                              <p:par>
                                <p:cTn id="170" presetID="42" presetClass="entr" presetSubtype="0" fill="hold" grpId="0" nodeType="withEffect">
                                  <p:stCondLst>
                                    <p:cond delay="200"/>
                                  </p:stCondLst>
                                  <p:childTnLst>
                                    <p:set>
                                      <p:cBhvr>
                                        <p:cTn id="171" dur="1" fill="hold">
                                          <p:stCondLst>
                                            <p:cond delay="0"/>
                                          </p:stCondLst>
                                        </p:cTn>
                                        <p:tgtEl>
                                          <p:spTgt spid="140"/>
                                        </p:tgtEl>
                                        <p:attrNameLst>
                                          <p:attrName>style.visibility</p:attrName>
                                        </p:attrNameLst>
                                      </p:cBhvr>
                                      <p:to>
                                        <p:strVal val="visible"/>
                                      </p:to>
                                    </p:set>
                                    <p:animEffect transition="in" filter="fade">
                                      <p:cBhvr>
                                        <p:cTn id="172" dur="500"/>
                                        <p:tgtEl>
                                          <p:spTgt spid="140"/>
                                        </p:tgtEl>
                                      </p:cBhvr>
                                    </p:animEffect>
                                    <p:anim calcmode="lin" valueType="num">
                                      <p:cBhvr additive="base">
                                        <p:cTn id="173" dur="500" decel="100000" fill="hold"/>
                                        <p:tgtEl>
                                          <p:spTgt spid="140"/>
                                        </p:tgtEl>
                                        <p:attrNameLst>
                                          <p:attrName>ppt_y</p:attrName>
                                        </p:attrNameLst>
                                      </p:cBhvr>
                                      <p:tavLst>
                                        <p:tav tm="0">
                                          <p:val>
                                            <p:strVal val="#ppt_y+0.06"/>
                                          </p:val>
                                        </p:tav>
                                        <p:tav tm="100000">
                                          <p:val>
                                            <p:strVal val="#ppt_y"/>
                                          </p:val>
                                        </p:tav>
                                      </p:tavLst>
                                    </p:anim>
                                  </p:childTnLst>
                                </p:cTn>
                              </p:par>
                            </p:childTnLst>
                          </p:cTn>
                        </p:par>
                      </p:childTnLst>
                    </p:cTn>
                  </p:par>
                  <p:par>
                    <p:cTn id="174" fill="hold">
                      <p:stCondLst>
                        <p:cond delay="indefinite"/>
                      </p:stCondLst>
                      <p:childTnLst>
                        <p:par>
                          <p:cTn id="175" fill="hold">
                            <p:stCondLst>
                              <p:cond delay="0"/>
                            </p:stCondLst>
                            <p:childTnLst>
                              <p:par>
                                <p:cTn id="176" presetID="42" presetClass="entr" presetSubtype="0" fill="hold" grpId="0" nodeType="clickEffect">
                                  <p:stCondLst>
                                    <p:cond delay="0"/>
                                  </p:stCondLst>
                                  <p:childTnLst>
                                    <p:set>
                                      <p:cBhvr>
                                        <p:cTn id="177" dur="1" fill="hold">
                                          <p:stCondLst>
                                            <p:cond delay="0"/>
                                          </p:stCondLst>
                                        </p:cTn>
                                        <p:tgtEl>
                                          <p:spTgt spid="141"/>
                                        </p:tgtEl>
                                        <p:attrNameLst>
                                          <p:attrName>style.visibility</p:attrName>
                                        </p:attrNameLst>
                                      </p:cBhvr>
                                      <p:to>
                                        <p:strVal val="visible"/>
                                      </p:to>
                                    </p:set>
                                    <p:animEffect transition="in" filter="fade">
                                      <p:cBhvr>
                                        <p:cTn id="178" dur="500"/>
                                        <p:tgtEl>
                                          <p:spTgt spid="141"/>
                                        </p:tgtEl>
                                      </p:cBhvr>
                                    </p:animEffect>
                                    <p:anim calcmode="lin" valueType="num">
                                      <p:cBhvr additive="base">
                                        <p:cTn id="179" dur="500" decel="100000" fill="hold"/>
                                        <p:tgtEl>
                                          <p:spTgt spid="141"/>
                                        </p:tgtEl>
                                        <p:attrNameLst>
                                          <p:attrName>ppt_y</p:attrName>
                                        </p:attrNameLst>
                                      </p:cBhvr>
                                      <p:tavLst>
                                        <p:tav tm="0">
                                          <p:val>
                                            <p:strVal val="#ppt_y+0.06"/>
                                          </p:val>
                                        </p:tav>
                                        <p:tav tm="100000">
                                          <p:val>
                                            <p:strVal val="#ppt_y"/>
                                          </p:val>
                                        </p:tav>
                                      </p:tavLst>
                                    </p:anim>
                                  </p:childTnLst>
                                </p:cTn>
                              </p:par>
                            </p:childTnLst>
                          </p:cTn>
                        </p:par>
                      </p:childTnLst>
                    </p:cTn>
                  </p:par>
                  <p:par>
                    <p:cTn id="180" fill="hold">
                      <p:stCondLst>
                        <p:cond delay="indefinite"/>
                      </p:stCondLst>
                      <p:childTnLst>
                        <p:par>
                          <p:cTn id="181" fill="hold">
                            <p:stCondLst>
                              <p:cond delay="0"/>
                            </p:stCondLst>
                            <p:childTnLst>
                              <p:par>
                                <p:cTn id="182" presetID="53" presetClass="entr" presetSubtype="16" fill="hold" grpId="0" nodeType="clickEffect">
                                  <p:stCondLst>
                                    <p:cond delay="0"/>
                                  </p:stCondLst>
                                  <p:childTnLst>
                                    <p:set>
                                      <p:cBhvr>
                                        <p:cTn id="183" dur="1" fill="hold">
                                          <p:stCondLst>
                                            <p:cond delay="0"/>
                                          </p:stCondLst>
                                        </p:cTn>
                                        <p:tgtEl>
                                          <p:spTgt spid="144"/>
                                        </p:tgtEl>
                                        <p:attrNameLst>
                                          <p:attrName>style.visibility</p:attrName>
                                        </p:attrNameLst>
                                      </p:cBhvr>
                                      <p:to>
                                        <p:strVal val="visible"/>
                                      </p:to>
                                    </p:set>
                                    <p:anim calcmode="lin" valueType="num">
                                      <p:cBhvr additive="base">
                                        <p:cTn id="184" dur="500" decel="100000" fill="hold"/>
                                        <p:tgtEl>
                                          <p:spTgt spid="144"/>
                                        </p:tgtEl>
                                        <p:attrNameLst>
                                          <p:attrName>ppt_w</p:attrName>
                                        </p:attrNameLst>
                                      </p:cBhvr>
                                      <p:tavLst>
                                        <p:tav tm="0">
                                          <p:val>
                                            <p:strVal val="#ppt_w*0.3"/>
                                          </p:val>
                                        </p:tav>
                                        <p:tav tm="100000">
                                          <p:val>
                                            <p:strVal val="#ppt_w*1.08"/>
                                          </p:val>
                                        </p:tav>
                                      </p:tavLst>
                                    </p:anim>
                                    <p:anim calcmode="lin" valueType="num">
                                      <p:cBhvr additive="base">
                                        <p:cTn id="185" dur="500" decel="100000" fill="hold"/>
                                        <p:tgtEl>
                                          <p:spTgt spid="144"/>
                                        </p:tgtEl>
                                        <p:attrNameLst>
                                          <p:attrName>ppt_h</p:attrName>
                                        </p:attrNameLst>
                                      </p:cBhvr>
                                      <p:tavLst>
                                        <p:tav tm="0">
                                          <p:val>
                                            <p:strVal val="#ppt_h*0.3"/>
                                          </p:val>
                                        </p:tav>
                                        <p:tav tm="100000">
                                          <p:val>
                                            <p:strVal val="#ppt_h*1.08"/>
                                          </p:val>
                                        </p:tav>
                                      </p:tavLst>
                                    </p:anim>
                                    <p:animEffect transition="in" filter="fade">
                                      <p:cBhvr>
                                        <p:cTn id="186" dur="250"/>
                                        <p:tgtEl>
                                          <p:spTgt spid="144"/>
                                        </p:tgtEl>
                                      </p:cBhvr>
                                    </p:animEffect>
                                    <p:anim calcmode="lin" valueType="num">
                                      <p:cBhvr additive="base">
                                        <p:cTn id="187" dur="160" fill="hold">
                                          <p:stCondLst>
                                            <p:cond delay="500"/>
                                          </p:stCondLst>
                                        </p:cTn>
                                        <p:tgtEl>
                                          <p:spTgt spid="144"/>
                                        </p:tgtEl>
                                        <p:attrNameLst>
                                          <p:attrName>ppt_w</p:attrName>
                                        </p:attrNameLst>
                                      </p:cBhvr>
                                      <p:tavLst>
                                        <p:tav tm="0">
                                          <p:val>
                                            <p:strVal val="#ppt_w*1.08"/>
                                          </p:val>
                                        </p:tav>
                                        <p:tav tm="100000">
                                          <p:val>
                                            <p:strVal val="#ppt_w"/>
                                          </p:val>
                                        </p:tav>
                                      </p:tavLst>
                                    </p:anim>
                                    <p:anim calcmode="lin" valueType="num">
                                      <p:cBhvr additive="base">
                                        <p:cTn id="188" dur="160" fill="hold">
                                          <p:stCondLst>
                                            <p:cond delay="500"/>
                                          </p:stCondLst>
                                        </p:cTn>
                                        <p:tgtEl>
                                          <p:spTgt spid="144"/>
                                        </p:tgtEl>
                                        <p:attrNameLst>
                                          <p:attrName>ppt_h</p:attrName>
                                        </p:attrNameLst>
                                      </p:cBhvr>
                                      <p:tavLst>
                                        <p:tav tm="0">
                                          <p:val>
                                            <p:strVal val="#ppt_h*1.08"/>
                                          </p:val>
                                        </p:tav>
                                        <p:tav tm="100000">
                                          <p:val>
                                            <p:strVal val="#ppt_h"/>
                                          </p:val>
                                        </p:tav>
                                      </p:tavLst>
                                    </p:anim>
                                  </p:childTnLst>
                                </p:cTn>
                              </p:par>
                            </p:childTnLst>
                          </p:cTn>
                        </p:par>
                      </p:childTnLst>
                    </p:cTn>
                  </p:par>
                  <p:par>
                    <p:cTn id="189" fill="hold">
                      <p:stCondLst>
                        <p:cond delay="indefinite"/>
                      </p:stCondLst>
                      <p:childTnLst>
                        <p:par>
                          <p:cTn id="190" fill="hold">
                            <p:stCondLst>
                              <p:cond delay="0"/>
                            </p:stCondLst>
                            <p:childTnLst>
                              <p:par>
                                <p:cTn id="191" presetID="53" presetClass="entr" presetSubtype="16" fill="hold" grpId="0" nodeType="clickEffect">
                                  <p:stCondLst>
                                    <p:cond delay="0"/>
                                  </p:stCondLst>
                                  <p:childTnLst>
                                    <p:set>
                                      <p:cBhvr>
                                        <p:cTn id="192" dur="1" fill="hold">
                                          <p:stCondLst>
                                            <p:cond delay="0"/>
                                          </p:stCondLst>
                                        </p:cTn>
                                        <p:tgtEl>
                                          <p:spTgt spid="145"/>
                                        </p:tgtEl>
                                        <p:attrNameLst>
                                          <p:attrName>style.visibility</p:attrName>
                                        </p:attrNameLst>
                                      </p:cBhvr>
                                      <p:to>
                                        <p:strVal val="visible"/>
                                      </p:to>
                                    </p:set>
                                    <p:anim calcmode="lin" valueType="num">
                                      <p:cBhvr additive="base">
                                        <p:cTn id="193" dur="500" decel="100000" fill="hold"/>
                                        <p:tgtEl>
                                          <p:spTgt spid="145"/>
                                        </p:tgtEl>
                                        <p:attrNameLst>
                                          <p:attrName>ppt_w</p:attrName>
                                        </p:attrNameLst>
                                      </p:cBhvr>
                                      <p:tavLst>
                                        <p:tav tm="0">
                                          <p:val>
                                            <p:strVal val="#ppt_w*0.3"/>
                                          </p:val>
                                        </p:tav>
                                        <p:tav tm="100000">
                                          <p:val>
                                            <p:strVal val="#ppt_w*1.08"/>
                                          </p:val>
                                        </p:tav>
                                      </p:tavLst>
                                    </p:anim>
                                    <p:anim calcmode="lin" valueType="num">
                                      <p:cBhvr additive="base">
                                        <p:cTn id="194" dur="500" decel="100000" fill="hold"/>
                                        <p:tgtEl>
                                          <p:spTgt spid="145"/>
                                        </p:tgtEl>
                                        <p:attrNameLst>
                                          <p:attrName>ppt_h</p:attrName>
                                        </p:attrNameLst>
                                      </p:cBhvr>
                                      <p:tavLst>
                                        <p:tav tm="0">
                                          <p:val>
                                            <p:strVal val="#ppt_h*0.3"/>
                                          </p:val>
                                        </p:tav>
                                        <p:tav tm="100000">
                                          <p:val>
                                            <p:strVal val="#ppt_h*1.08"/>
                                          </p:val>
                                        </p:tav>
                                      </p:tavLst>
                                    </p:anim>
                                    <p:animEffect transition="in" filter="fade">
                                      <p:cBhvr>
                                        <p:cTn id="195" dur="250"/>
                                        <p:tgtEl>
                                          <p:spTgt spid="145"/>
                                        </p:tgtEl>
                                      </p:cBhvr>
                                    </p:animEffect>
                                    <p:anim calcmode="lin" valueType="num">
                                      <p:cBhvr additive="base">
                                        <p:cTn id="196" dur="160" fill="hold">
                                          <p:stCondLst>
                                            <p:cond delay="500"/>
                                          </p:stCondLst>
                                        </p:cTn>
                                        <p:tgtEl>
                                          <p:spTgt spid="145"/>
                                        </p:tgtEl>
                                        <p:attrNameLst>
                                          <p:attrName>ppt_w</p:attrName>
                                        </p:attrNameLst>
                                      </p:cBhvr>
                                      <p:tavLst>
                                        <p:tav tm="0">
                                          <p:val>
                                            <p:strVal val="#ppt_w*1.08"/>
                                          </p:val>
                                        </p:tav>
                                        <p:tav tm="100000">
                                          <p:val>
                                            <p:strVal val="#ppt_w"/>
                                          </p:val>
                                        </p:tav>
                                      </p:tavLst>
                                    </p:anim>
                                    <p:anim calcmode="lin" valueType="num">
                                      <p:cBhvr additive="base">
                                        <p:cTn id="197" dur="160" fill="hold">
                                          <p:stCondLst>
                                            <p:cond delay="500"/>
                                          </p:stCondLst>
                                        </p:cTn>
                                        <p:tgtEl>
                                          <p:spTgt spid="145"/>
                                        </p:tgtEl>
                                        <p:attrNameLst>
                                          <p:attrName>ppt_h</p:attrName>
                                        </p:attrNameLst>
                                      </p:cBhvr>
                                      <p:tavLst>
                                        <p:tav tm="0">
                                          <p:val>
                                            <p:strVal val="#ppt_h*1.08"/>
                                          </p:val>
                                        </p:tav>
                                        <p:tav tm="100000">
                                          <p:val>
                                            <p:strVal val="#ppt_h"/>
                                          </p:val>
                                        </p:tav>
                                      </p:tavLst>
                                    </p:anim>
                                  </p:childTnLst>
                                </p:cTn>
                              </p:par>
                              <p:par>
                                <p:cTn id="198" presetID="42" presetClass="entr" presetSubtype="0" fill="hold" grpId="0" nodeType="withEffect">
                                  <p:stCondLst>
                                    <p:cond delay="200"/>
                                  </p:stCondLst>
                                  <p:childTnLst>
                                    <p:set>
                                      <p:cBhvr>
                                        <p:cTn id="199" dur="1" fill="hold">
                                          <p:stCondLst>
                                            <p:cond delay="0"/>
                                          </p:stCondLst>
                                        </p:cTn>
                                        <p:tgtEl>
                                          <p:spTgt spid="142"/>
                                        </p:tgtEl>
                                        <p:attrNameLst>
                                          <p:attrName>style.visibility</p:attrName>
                                        </p:attrNameLst>
                                      </p:cBhvr>
                                      <p:to>
                                        <p:strVal val="visible"/>
                                      </p:to>
                                    </p:set>
                                    <p:animEffect transition="in" filter="fade">
                                      <p:cBhvr>
                                        <p:cTn id="200" dur="500"/>
                                        <p:tgtEl>
                                          <p:spTgt spid="142"/>
                                        </p:tgtEl>
                                      </p:cBhvr>
                                    </p:animEffect>
                                    <p:anim calcmode="lin" valueType="num">
                                      <p:cBhvr additive="base">
                                        <p:cTn id="201" dur="500" decel="100000" fill="hold"/>
                                        <p:tgtEl>
                                          <p:spTgt spid="142"/>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SHOULDLY · 4</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Example 4: Exceptions, and Many Checks at Once</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137</a:t>
            </a:r>
            <a:endParaRPr lang="en-US" sz="850" dirty="0"/>
          </a:p>
        </p:txBody>
      </p:sp>
      <p:sp>
        <p:nvSpPr>
          <p:cNvPr id="101" name="s101"/>
          <p:cNvSpPr/>
          <p:nvPr/>
        </p:nvSpPr>
        <p:spPr>
          <a:xfrm>
            <a:off x="543154" y="1783080"/>
            <a:ext cx="6400800" cy="3886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53253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ExceptionTests.cs</a:t>
            </a:r>
            <a:endParaRPr lang="en-US" sz="950" dirty="0"/>
          </a:p>
        </p:txBody>
      </p:sp>
      <p:cxnSp>
        <p:nvCxnSpPr>
          <p:cNvPr id="106" name="ln106"/>
          <p:cNvCxnSpPr/>
          <p:nvPr/>
        </p:nvCxnSpPr>
        <p:spPr>
          <a:xfrm>
            <a:off x="543154" y="2194560"/>
            <a:ext cx="6400800" cy="0"/>
          </a:xfrm>
          <a:prstGeom prst="line">
            <a:avLst/>
          </a:prstGeom>
          <a:ln w="9525">
            <a:solidFill>
              <a:srgbClr val="1E3A5F"/>
            </a:solidFill>
          </a:ln>
        </p:spPr>
      </p:cxnSp>
      <p:sp>
        <p:nvSpPr>
          <p:cNvPr id="107" name="s107"/>
          <p:cNvSpPr/>
          <p:nvPr/>
        </p:nvSpPr>
        <p:spPr>
          <a:xfrm>
            <a:off x="543154" y="23134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[Fact]</a:t>
            </a:r>
            <a:endParaRPr lang="en-US" sz="800" dirty="0"/>
          </a:p>
        </p:txBody>
      </p:sp>
      <p:sp>
        <p:nvSpPr>
          <p:cNvPr id="108" name="s108"/>
          <p:cNvSpPr/>
          <p:nvPr/>
        </p:nvSpPr>
        <p:spPr>
          <a:xfrm>
            <a:off x="543154" y="24353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Withdraw_TooMuch_Throws</a:t>
            </a:r>
            <a:r>
              <a:rPr lang="en-US" sz="800" b="0" dirty="0">
                <a:solidFill>
                  <a:srgbClr val="E2E8F0"/>
                </a:solidFill>
                <a:latin typeface="Consolas"/>
                <a:ea typeface="Consolas"/>
                <a:cs typeface="Consolas"/>
              </a:rPr>
              <a:t>()</a:t>
            </a:r>
            <a:endParaRPr lang="en-US" sz="800" dirty="0"/>
          </a:p>
        </p:txBody>
      </p:sp>
      <p:sp>
        <p:nvSpPr>
          <p:cNvPr id="109" name="s109"/>
          <p:cNvSpPr/>
          <p:nvPr/>
        </p:nvSpPr>
        <p:spPr>
          <a:xfrm>
            <a:off x="543154" y="255727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10" name="s110"/>
          <p:cNvSpPr/>
          <p:nvPr/>
        </p:nvSpPr>
        <p:spPr>
          <a:xfrm>
            <a:off x="543154" y="26791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var</a:t>
            </a:r>
            <a:r>
              <a:rPr lang="en-US" sz="800" b="0" dirty="0">
                <a:solidFill>
                  <a:srgbClr val="E2E8F0"/>
                </a:solidFill>
                <a:latin typeface="Consolas"/>
                <a:ea typeface="Consolas"/>
                <a:cs typeface="Consolas"/>
              </a:rPr>
              <a:t> account = </a:t>
            </a:r>
            <a:r>
              <a:rPr lang="en-US" sz="800" b="0" dirty="0">
                <a:solidFill>
                  <a:srgbClr val="60A5FA"/>
                </a:solidFill>
                <a:latin typeface="Consolas"/>
                <a:ea typeface="Consolas"/>
                <a:cs typeface="Consolas"/>
              </a:rPr>
              <a:t>new</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BankAccount</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"mona@bank.eg"</a:t>
            </a:r>
            <a:r>
              <a:rPr lang="en-US" sz="800" b="0" dirty="0">
                <a:solidFill>
                  <a:srgbClr val="E2E8F0"/>
                </a:solidFill>
                <a:latin typeface="Consolas"/>
                <a:ea typeface="Consolas"/>
                <a:cs typeface="Consolas"/>
              </a:rPr>
              <a:t>, </a:t>
            </a:r>
            <a:r>
              <a:rPr lang="en-US" sz="800" b="0" dirty="0">
                <a:solidFill>
                  <a:srgbClr val="C4B5FD"/>
                </a:solidFill>
                <a:latin typeface="Consolas"/>
                <a:ea typeface="Consolas"/>
                <a:cs typeface="Consolas"/>
              </a:rPr>
              <a:t>50m</a:t>
            </a:r>
            <a:r>
              <a:rPr lang="en-US" sz="800" b="0" dirty="0">
                <a:solidFill>
                  <a:srgbClr val="E2E8F0"/>
                </a:solidFill>
                <a:latin typeface="Consolas"/>
                <a:ea typeface="Consolas"/>
                <a:cs typeface="Consolas"/>
              </a:rPr>
              <a:t>);</a:t>
            </a:r>
            <a:endParaRPr lang="en-US" sz="800" dirty="0"/>
          </a:p>
        </p:txBody>
      </p:sp>
      <p:sp>
        <p:nvSpPr>
          <p:cNvPr id="111" name="s111"/>
          <p:cNvSpPr/>
          <p:nvPr/>
        </p:nvSpPr>
        <p:spPr>
          <a:xfrm>
            <a:off x="543154" y="29230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var</a:t>
            </a:r>
            <a:r>
              <a:rPr lang="en-US" sz="800" b="0" dirty="0">
                <a:solidFill>
                  <a:srgbClr val="E2E8F0"/>
                </a:solidFill>
                <a:latin typeface="Consolas"/>
                <a:ea typeface="Consolas"/>
                <a:cs typeface="Consolas"/>
              </a:rPr>
              <a:t> ex = </a:t>
            </a:r>
            <a:r>
              <a:rPr lang="en-US" sz="800" b="0" dirty="0">
                <a:solidFill>
                  <a:srgbClr val="7DD3FC"/>
                </a:solidFill>
                <a:latin typeface="Consolas"/>
                <a:ea typeface="Consolas"/>
                <a:cs typeface="Consolas"/>
              </a:rPr>
              <a:t>Should</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Throw</a:t>
            </a:r>
            <a:r>
              <a:rPr lang="en-US" sz="800" b="0" dirty="0">
                <a:solidFill>
                  <a:srgbClr val="E2E8F0"/>
                </a:solidFill>
                <a:latin typeface="Consolas"/>
                <a:ea typeface="Consolas"/>
                <a:cs typeface="Consolas"/>
              </a:rPr>
              <a:t>&lt;</a:t>
            </a:r>
            <a:r>
              <a:rPr lang="en-US" sz="800" b="0" dirty="0">
                <a:solidFill>
                  <a:srgbClr val="7DD3FC"/>
                </a:solidFill>
                <a:latin typeface="Consolas"/>
                <a:ea typeface="Consolas"/>
                <a:cs typeface="Consolas"/>
              </a:rPr>
              <a:t>InvalidOperationException</a:t>
            </a:r>
            <a:r>
              <a:rPr lang="en-US" sz="800" b="0" dirty="0">
                <a:solidFill>
                  <a:srgbClr val="E2E8F0"/>
                </a:solidFill>
                <a:latin typeface="Consolas"/>
                <a:ea typeface="Consolas"/>
                <a:cs typeface="Consolas"/>
              </a:rPr>
              <a:t>&gt;(() =&gt; account.</a:t>
            </a:r>
            <a:r>
              <a:rPr lang="en-US" sz="800" b="0" dirty="0">
                <a:solidFill>
                  <a:srgbClr val="7DD3FC"/>
                </a:solidFill>
                <a:latin typeface="Consolas"/>
                <a:ea typeface="Consolas"/>
                <a:cs typeface="Consolas"/>
              </a:rPr>
              <a:t>Withdraw</a:t>
            </a:r>
            <a:r>
              <a:rPr lang="en-US" sz="800" b="0" dirty="0">
                <a:solidFill>
                  <a:srgbClr val="E2E8F0"/>
                </a:solidFill>
                <a:latin typeface="Consolas"/>
                <a:ea typeface="Consolas"/>
                <a:cs typeface="Consolas"/>
              </a:rPr>
              <a:t>(</a:t>
            </a:r>
            <a:r>
              <a:rPr lang="en-US" sz="800" b="0" dirty="0">
                <a:solidFill>
                  <a:srgbClr val="C4B5FD"/>
                </a:solidFill>
                <a:latin typeface="Consolas"/>
                <a:ea typeface="Consolas"/>
                <a:cs typeface="Consolas"/>
              </a:rPr>
              <a:t>80m</a:t>
            </a:r>
            <a:r>
              <a:rPr lang="en-US" sz="800" b="0" dirty="0">
                <a:solidFill>
                  <a:srgbClr val="E2E8F0"/>
                </a:solidFill>
                <a:latin typeface="Consolas"/>
                <a:ea typeface="Consolas"/>
                <a:cs typeface="Consolas"/>
              </a:rPr>
              <a:t>));</a:t>
            </a:r>
            <a:endParaRPr lang="en-US" sz="800" dirty="0"/>
          </a:p>
        </p:txBody>
      </p:sp>
      <p:sp>
        <p:nvSpPr>
          <p:cNvPr id="112" name="s112"/>
          <p:cNvSpPr/>
          <p:nvPr/>
        </p:nvSpPr>
        <p:spPr>
          <a:xfrm>
            <a:off x="543154" y="30449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ex.</a:t>
            </a:r>
            <a:r>
              <a:rPr lang="en-US" sz="800" b="0" dirty="0">
                <a:solidFill>
                  <a:srgbClr val="7DD3FC"/>
                </a:solidFill>
                <a:latin typeface="Consolas"/>
                <a:ea typeface="Consolas"/>
                <a:cs typeface="Consolas"/>
              </a:rPr>
              <a:t>Message</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ShouldBe</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"Insufficient funds."</a:t>
            </a:r>
            <a:r>
              <a:rPr lang="en-US" sz="800" b="0" dirty="0">
                <a:solidFill>
                  <a:srgbClr val="E2E8F0"/>
                </a:solidFill>
                <a:latin typeface="Consolas"/>
                <a:ea typeface="Consolas"/>
                <a:cs typeface="Consolas"/>
              </a:rPr>
              <a:t>);</a:t>
            </a:r>
            <a:endParaRPr lang="en-US" sz="800" dirty="0"/>
          </a:p>
        </p:txBody>
      </p:sp>
      <p:sp>
        <p:nvSpPr>
          <p:cNvPr id="113" name="s113"/>
          <p:cNvSpPr/>
          <p:nvPr/>
        </p:nvSpPr>
        <p:spPr>
          <a:xfrm>
            <a:off x="543154" y="316687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account.</a:t>
            </a:r>
            <a:r>
              <a:rPr lang="en-US" sz="800" b="0" dirty="0">
                <a:solidFill>
                  <a:srgbClr val="7DD3FC"/>
                </a:solidFill>
                <a:latin typeface="Consolas"/>
                <a:ea typeface="Consolas"/>
                <a:cs typeface="Consolas"/>
              </a:rPr>
              <a:t>Balance</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ShouldBe</a:t>
            </a:r>
            <a:r>
              <a:rPr lang="en-US" sz="800" b="0" dirty="0">
                <a:solidFill>
                  <a:srgbClr val="E2E8F0"/>
                </a:solidFill>
                <a:latin typeface="Consolas"/>
                <a:ea typeface="Consolas"/>
                <a:cs typeface="Consolas"/>
              </a:rPr>
              <a:t>(</a:t>
            </a:r>
            <a:r>
              <a:rPr lang="en-US" sz="800" b="0" dirty="0">
                <a:solidFill>
                  <a:srgbClr val="C4B5FD"/>
                </a:solidFill>
                <a:latin typeface="Consolas"/>
                <a:ea typeface="Consolas"/>
                <a:cs typeface="Consolas"/>
              </a:rPr>
              <a:t>50m</a:t>
            </a:r>
            <a:r>
              <a:rPr lang="en-US" sz="800" b="0" dirty="0">
                <a:solidFill>
                  <a:srgbClr val="E2E8F0"/>
                </a:solidFill>
                <a:latin typeface="Consolas"/>
                <a:ea typeface="Consolas"/>
                <a:cs typeface="Consolas"/>
              </a:rPr>
              <a:t>);</a:t>
            </a:r>
            <a:endParaRPr lang="en-US" sz="800" dirty="0"/>
          </a:p>
        </p:txBody>
      </p:sp>
      <p:sp>
        <p:nvSpPr>
          <p:cNvPr id="114" name="s114"/>
          <p:cNvSpPr/>
          <p:nvPr/>
        </p:nvSpPr>
        <p:spPr>
          <a:xfrm>
            <a:off x="543154" y="32887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15" name="s115"/>
          <p:cNvSpPr/>
          <p:nvPr/>
        </p:nvSpPr>
        <p:spPr>
          <a:xfrm>
            <a:off x="543154" y="35326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[Fact]</a:t>
            </a:r>
            <a:endParaRPr lang="en-US" sz="800" dirty="0"/>
          </a:p>
        </p:txBody>
      </p:sp>
      <p:sp>
        <p:nvSpPr>
          <p:cNvPr id="116" name="s116"/>
          <p:cNvSpPr/>
          <p:nvPr/>
        </p:nvSpPr>
        <p:spPr>
          <a:xfrm>
            <a:off x="543154" y="36545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SendReceipt_EmailFails_DoesNotThrow</a:t>
            </a:r>
            <a:r>
              <a:rPr lang="en-US" sz="800" b="0" dirty="0">
                <a:solidFill>
                  <a:srgbClr val="E2E8F0"/>
                </a:solidFill>
                <a:latin typeface="Consolas"/>
                <a:ea typeface="Consolas"/>
                <a:cs typeface="Consolas"/>
              </a:rPr>
              <a:t>() =&gt;</a:t>
            </a:r>
            <a:endParaRPr lang="en-US" sz="800" dirty="0"/>
          </a:p>
        </p:txBody>
      </p:sp>
      <p:sp>
        <p:nvSpPr>
          <p:cNvPr id="117" name="s117"/>
          <p:cNvSpPr/>
          <p:nvPr/>
        </p:nvSpPr>
        <p:spPr>
          <a:xfrm>
            <a:off x="543154" y="377647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Should</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NotThrow</a:t>
            </a:r>
            <a:r>
              <a:rPr lang="en-US" sz="800" b="0" dirty="0">
                <a:solidFill>
                  <a:srgbClr val="E2E8F0"/>
                </a:solidFill>
                <a:latin typeface="Consolas"/>
                <a:ea typeface="Consolas"/>
                <a:cs typeface="Consolas"/>
              </a:rPr>
              <a:t>(() =&gt; receipts.</a:t>
            </a:r>
            <a:r>
              <a:rPr lang="en-US" sz="800" b="0" dirty="0">
                <a:solidFill>
                  <a:srgbClr val="7DD3FC"/>
                </a:solidFill>
                <a:latin typeface="Consolas"/>
                <a:ea typeface="Consolas"/>
                <a:cs typeface="Consolas"/>
              </a:rPr>
              <a:t>SendReceipt</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"mona@bank.eg"</a:t>
            </a:r>
            <a:r>
              <a:rPr lang="en-US" sz="800" b="0" dirty="0">
                <a:solidFill>
                  <a:srgbClr val="E2E8F0"/>
                </a:solidFill>
                <a:latin typeface="Consolas"/>
                <a:ea typeface="Consolas"/>
                <a:cs typeface="Consolas"/>
              </a:rPr>
              <a:t>, </a:t>
            </a:r>
            <a:r>
              <a:rPr lang="en-US" sz="800" b="0" dirty="0">
                <a:solidFill>
                  <a:srgbClr val="C4B5FD"/>
                </a:solidFill>
                <a:latin typeface="Consolas"/>
                <a:ea typeface="Consolas"/>
                <a:cs typeface="Consolas"/>
              </a:rPr>
              <a:t>250m</a:t>
            </a:r>
            <a:r>
              <a:rPr lang="en-US" sz="800" b="0" dirty="0">
                <a:solidFill>
                  <a:srgbClr val="E2E8F0"/>
                </a:solidFill>
                <a:latin typeface="Consolas"/>
                <a:ea typeface="Consolas"/>
                <a:cs typeface="Consolas"/>
              </a:rPr>
              <a:t>));</a:t>
            </a:r>
            <a:endParaRPr lang="en-US" sz="800" dirty="0"/>
          </a:p>
        </p:txBody>
      </p:sp>
      <p:sp>
        <p:nvSpPr>
          <p:cNvPr id="118" name="s118"/>
          <p:cNvSpPr/>
          <p:nvPr/>
        </p:nvSpPr>
        <p:spPr>
          <a:xfrm>
            <a:off x="543154" y="402031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[Fact]</a:t>
            </a:r>
            <a:endParaRPr lang="en-US" sz="800" dirty="0"/>
          </a:p>
        </p:txBody>
      </p:sp>
      <p:sp>
        <p:nvSpPr>
          <p:cNvPr id="119" name="s119"/>
          <p:cNvSpPr/>
          <p:nvPr/>
        </p:nvSpPr>
        <p:spPr>
          <a:xfrm>
            <a:off x="543154" y="41422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async</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Task</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AddAsync_Duplicate_Throws</a:t>
            </a:r>
            <a:r>
              <a:rPr lang="en-US" sz="800" b="0" dirty="0">
                <a:solidFill>
                  <a:srgbClr val="E2E8F0"/>
                </a:solidFill>
                <a:latin typeface="Consolas"/>
                <a:ea typeface="Consolas"/>
                <a:cs typeface="Consolas"/>
              </a:rPr>
              <a:t>() =&gt;</a:t>
            </a:r>
            <a:endParaRPr lang="en-US" sz="800" dirty="0"/>
          </a:p>
        </p:txBody>
      </p:sp>
      <p:sp>
        <p:nvSpPr>
          <p:cNvPr id="120" name="s120"/>
          <p:cNvSpPr/>
          <p:nvPr/>
        </p:nvSpPr>
        <p:spPr>
          <a:xfrm>
            <a:off x="543154" y="42641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await</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Should</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ThrowAsync</a:t>
            </a:r>
            <a:r>
              <a:rPr lang="en-US" sz="800" b="0" dirty="0">
                <a:solidFill>
                  <a:srgbClr val="E2E8F0"/>
                </a:solidFill>
                <a:latin typeface="Consolas"/>
                <a:ea typeface="Consolas"/>
                <a:cs typeface="Consolas"/>
              </a:rPr>
              <a:t>&lt;</a:t>
            </a:r>
            <a:r>
              <a:rPr lang="en-US" sz="800" b="0" dirty="0">
                <a:solidFill>
                  <a:srgbClr val="7DD3FC"/>
                </a:solidFill>
                <a:latin typeface="Consolas"/>
                <a:ea typeface="Consolas"/>
                <a:cs typeface="Consolas"/>
              </a:rPr>
              <a:t>IOException</a:t>
            </a:r>
            <a:r>
              <a:rPr lang="en-US" sz="800" b="0" dirty="0">
                <a:solidFill>
                  <a:srgbClr val="E2E8F0"/>
                </a:solidFill>
                <a:latin typeface="Consolas"/>
                <a:ea typeface="Consolas"/>
                <a:cs typeface="Consolas"/>
              </a:rPr>
              <a:t>&gt;(() =&gt; repo.</a:t>
            </a:r>
            <a:r>
              <a:rPr lang="en-US" sz="800" b="0" dirty="0">
                <a:solidFill>
                  <a:srgbClr val="7DD3FC"/>
                </a:solidFill>
                <a:latin typeface="Consolas"/>
                <a:ea typeface="Consolas"/>
                <a:cs typeface="Consolas"/>
              </a:rPr>
              <a:t>AddAsync</a:t>
            </a:r>
            <a:r>
              <a:rPr lang="en-US" sz="800" b="0" dirty="0">
                <a:solidFill>
                  <a:srgbClr val="E2E8F0"/>
                </a:solidFill>
                <a:latin typeface="Consolas"/>
                <a:ea typeface="Consolas"/>
                <a:cs typeface="Consolas"/>
              </a:rPr>
              <a:t>(mona));</a:t>
            </a:r>
            <a:endParaRPr lang="en-US" sz="800" dirty="0"/>
          </a:p>
        </p:txBody>
      </p:sp>
      <p:sp>
        <p:nvSpPr>
          <p:cNvPr id="121" name="s121"/>
          <p:cNvSpPr/>
          <p:nvPr/>
        </p:nvSpPr>
        <p:spPr>
          <a:xfrm>
            <a:off x="543154" y="45079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[Fact]</a:t>
            </a:r>
            <a:endParaRPr lang="en-US" sz="800" dirty="0"/>
          </a:p>
        </p:txBody>
      </p:sp>
      <p:sp>
        <p:nvSpPr>
          <p:cNvPr id="122" name="s122"/>
          <p:cNvSpPr/>
          <p:nvPr/>
        </p:nvSpPr>
        <p:spPr>
          <a:xfrm>
            <a:off x="543154" y="462991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Order_Price_AllParts</a:t>
            </a:r>
            <a:r>
              <a:rPr lang="en-US" sz="800" b="0" dirty="0">
                <a:solidFill>
                  <a:srgbClr val="E2E8F0"/>
                </a:solidFill>
                <a:latin typeface="Consolas"/>
                <a:ea typeface="Consolas"/>
                <a:cs typeface="Consolas"/>
              </a:rPr>
              <a:t>()</a:t>
            </a:r>
            <a:endParaRPr lang="en-US" sz="800" dirty="0"/>
          </a:p>
        </p:txBody>
      </p:sp>
      <p:sp>
        <p:nvSpPr>
          <p:cNvPr id="123" name="s123"/>
          <p:cNvSpPr/>
          <p:nvPr/>
        </p:nvSpPr>
        <p:spPr>
          <a:xfrm>
            <a:off x="543154" y="47518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24" name="s124"/>
          <p:cNvSpPr/>
          <p:nvPr/>
        </p:nvSpPr>
        <p:spPr>
          <a:xfrm>
            <a:off x="543154" y="48737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var</a:t>
            </a:r>
            <a:r>
              <a:rPr lang="en-US" sz="800" b="0" dirty="0">
                <a:solidFill>
                  <a:srgbClr val="E2E8F0"/>
                </a:solidFill>
                <a:latin typeface="Consolas"/>
                <a:ea typeface="Consolas"/>
                <a:cs typeface="Consolas"/>
              </a:rPr>
              <a:t> price = builder.</a:t>
            </a:r>
            <a:r>
              <a:rPr lang="en-US" sz="800" b="0" dirty="0">
                <a:solidFill>
                  <a:srgbClr val="7DD3FC"/>
                </a:solidFill>
                <a:latin typeface="Consolas"/>
                <a:ea typeface="Consolas"/>
                <a:cs typeface="Consolas"/>
              </a:rPr>
              <a:t>PreviewPrice</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TestData</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Lunch</a:t>
            </a:r>
            <a:r>
              <a:rPr lang="en-US" sz="800" b="0" dirty="0">
                <a:solidFill>
                  <a:srgbClr val="E2E8F0"/>
                </a:solidFill>
                <a:latin typeface="Consolas"/>
                <a:ea typeface="Consolas"/>
                <a:cs typeface="Consolas"/>
              </a:rPr>
              <a:t>);</a:t>
            </a:r>
            <a:endParaRPr lang="en-US" sz="800" dirty="0"/>
          </a:p>
        </p:txBody>
      </p:sp>
      <p:sp>
        <p:nvSpPr>
          <p:cNvPr id="125" name="s125"/>
          <p:cNvSpPr/>
          <p:nvPr/>
        </p:nvSpPr>
        <p:spPr>
          <a:xfrm>
            <a:off x="543154" y="499567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price.</a:t>
            </a:r>
            <a:r>
              <a:rPr lang="en-US" sz="800" b="0" dirty="0">
                <a:solidFill>
                  <a:srgbClr val="7DD3FC"/>
                </a:solidFill>
                <a:latin typeface="Consolas"/>
                <a:ea typeface="Consolas"/>
                <a:cs typeface="Consolas"/>
              </a:rPr>
              <a:t>ShouldSatisfyAllConditions</a:t>
            </a:r>
            <a:r>
              <a:rPr lang="en-US" sz="800" b="0" dirty="0">
                <a:solidFill>
                  <a:srgbClr val="E2E8F0"/>
                </a:solidFill>
                <a:latin typeface="Consolas"/>
                <a:ea typeface="Consolas"/>
                <a:cs typeface="Consolas"/>
              </a:rPr>
              <a:t>(</a:t>
            </a:r>
            <a:endParaRPr lang="en-US" sz="800" dirty="0"/>
          </a:p>
        </p:txBody>
      </p:sp>
      <p:sp>
        <p:nvSpPr>
          <p:cNvPr id="126" name="s126"/>
          <p:cNvSpPr/>
          <p:nvPr/>
        </p:nvSpPr>
        <p:spPr>
          <a:xfrm>
            <a:off x="543154" y="511759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p =&gt; p.</a:t>
            </a:r>
            <a:r>
              <a:rPr lang="en-US" sz="800" b="0" dirty="0">
                <a:solidFill>
                  <a:srgbClr val="7DD3FC"/>
                </a:solidFill>
                <a:latin typeface="Consolas"/>
                <a:ea typeface="Consolas"/>
                <a:cs typeface="Consolas"/>
              </a:rPr>
              <a:t>Subtotal</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ShouldBe</a:t>
            </a:r>
            <a:r>
              <a:rPr lang="en-US" sz="800" b="0" dirty="0">
                <a:solidFill>
                  <a:srgbClr val="E2E8F0"/>
                </a:solidFill>
                <a:latin typeface="Consolas"/>
                <a:ea typeface="Consolas"/>
                <a:cs typeface="Consolas"/>
              </a:rPr>
              <a:t>(</a:t>
            </a:r>
            <a:r>
              <a:rPr lang="en-US" sz="800" b="0" dirty="0">
                <a:solidFill>
                  <a:srgbClr val="C4B5FD"/>
                </a:solidFill>
                <a:latin typeface="Consolas"/>
                <a:ea typeface="Consolas"/>
                <a:cs typeface="Consolas"/>
              </a:rPr>
              <a:t>120m</a:t>
            </a:r>
            <a:r>
              <a:rPr lang="en-US" sz="800" b="0" dirty="0">
                <a:solidFill>
                  <a:srgbClr val="E2E8F0"/>
                </a:solidFill>
                <a:latin typeface="Consolas"/>
                <a:ea typeface="Consolas"/>
                <a:cs typeface="Consolas"/>
              </a:rPr>
              <a:t>),</a:t>
            </a:r>
            <a:endParaRPr lang="en-US" sz="800" dirty="0"/>
          </a:p>
        </p:txBody>
      </p:sp>
      <p:sp>
        <p:nvSpPr>
          <p:cNvPr id="127" name="s127"/>
          <p:cNvSpPr/>
          <p:nvPr/>
        </p:nvSpPr>
        <p:spPr>
          <a:xfrm>
            <a:off x="543154" y="523951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p =&gt; p.</a:t>
            </a:r>
            <a:r>
              <a:rPr lang="en-US" sz="800" b="0" dirty="0">
                <a:solidFill>
                  <a:srgbClr val="7DD3FC"/>
                </a:solidFill>
                <a:latin typeface="Consolas"/>
                <a:ea typeface="Consolas"/>
                <a:cs typeface="Consolas"/>
              </a:rPr>
              <a:t>Vat</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ShouldBe</a:t>
            </a:r>
            <a:r>
              <a:rPr lang="en-US" sz="800" b="0" dirty="0">
                <a:solidFill>
                  <a:srgbClr val="E2E8F0"/>
                </a:solidFill>
                <a:latin typeface="Consolas"/>
                <a:ea typeface="Consolas"/>
                <a:cs typeface="Consolas"/>
              </a:rPr>
              <a:t>(</a:t>
            </a:r>
            <a:r>
              <a:rPr lang="en-US" sz="800" b="0" dirty="0">
                <a:solidFill>
                  <a:srgbClr val="C4B5FD"/>
                </a:solidFill>
                <a:latin typeface="Consolas"/>
                <a:ea typeface="Consolas"/>
                <a:cs typeface="Consolas"/>
              </a:rPr>
              <a:t>16.80m</a:t>
            </a:r>
            <a:r>
              <a:rPr lang="en-US" sz="800" b="0" dirty="0">
                <a:solidFill>
                  <a:srgbClr val="E2E8F0"/>
                </a:solidFill>
                <a:latin typeface="Consolas"/>
                <a:ea typeface="Consolas"/>
                <a:cs typeface="Consolas"/>
              </a:rPr>
              <a:t>),</a:t>
            </a:r>
            <a:endParaRPr lang="en-US" sz="800" dirty="0"/>
          </a:p>
        </p:txBody>
      </p:sp>
      <p:sp>
        <p:nvSpPr>
          <p:cNvPr id="128" name="s128"/>
          <p:cNvSpPr/>
          <p:nvPr/>
        </p:nvSpPr>
        <p:spPr>
          <a:xfrm>
            <a:off x="543154" y="536143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p =&gt; p.</a:t>
            </a:r>
            <a:r>
              <a:rPr lang="en-US" sz="800" b="0" dirty="0">
                <a:solidFill>
                  <a:srgbClr val="7DD3FC"/>
                </a:solidFill>
                <a:latin typeface="Consolas"/>
                <a:ea typeface="Consolas"/>
                <a:cs typeface="Consolas"/>
              </a:rPr>
              <a:t>Total</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ShouldBe</a:t>
            </a:r>
            <a:r>
              <a:rPr lang="en-US" sz="800" b="0" dirty="0">
                <a:solidFill>
                  <a:srgbClr val="E2E8F0"/>
                </a:solidFill>
                <a:latin typeface="Consolas"/>
                <a:ea typeface="Consolas"/>
                <a:cs typeface="Consolas"/>
              </a:rPr>
              <a:t>(</a:t>
            </a:r>
            <a:r>
              <a:rPr lang="en-US" sz="800" b="0" dirty="0">
                <a:solidFill>
                  <a:srgbClr val="C4B5FD"/>
                </a:solidFill>
                <a:latin typeface="Consolas"/>
                <a:ea typeface="Consolas"/>
                <a:cs typeface="Consolas"/>
              </a:rPr>
              <a:t>151.80m</a:t>
            </a:r>
            <a:r>
              <a:rPr lang="en-US" sz="800" b="0" dirty="0">
                <a:solidFill>
                  <a:srgbClr val="E2E8F0"/>
                </a:solidFill>
                <a:latin typeface="Consolas"/>
                <a:ea typeface="Consolas"/>
                <a:cs typeface="Consolas"/>
              </a:rPr>
              <a:t>));                    </a:t>
            </a:r>
            <a:r>
              <a:rPr lang="en-US" sz="800" b="0" dirty="0">
                <a:solidFill>
                  <a:srgbClr val="6FAE7A"/>
                </a:solidFill>
                <a:latin typeface="Consolas"/>
                <a:ea typeface="Consolas"/>
                <a:cs typeface="Consolas"/>
              </a:rPr>
              <a:t>// ALL are checked</a:t>
            </a:r>
            <a:endParaRPr lang="en-US" sz="800" dirty="0"/>
          </a:p>
        </p:txBody>
      </p:sp>
      <p:sp>
        <p:nvSpPr>
          <p:cNvPr id="129" name="s129"/>
          <p:cNvSpPr/>
          <p:nvPr/>
        </p:nvSpPr>
        <p:spPr>
          <a:xfrm>
            <a:off x="543154" y="5483352"/>
            <a:ext cx="6400800"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30" name="s130"/>
          <p:cNvSpPr/>
          <p:nvPr/>
        </p:nvSpPr>
        <p:spPr>
          <a:xfrm>
            <a:off x="7172554" y="1783080"/>
            <a:ext cx="4458614" cy="2103120"/>
          </a:xfrm>
          <a:prstGeom prst="roundRect">
            <a:avLst>
              <a:gd name="adj" fmla="val 3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31" name="s131"/>
          <p:cNvSpPr/>
          <p:nvPr/>
        </p:nvSpPr>
        <p:spPr>
          <a:xfrm>
            <a:off x="73371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32" name="s132"/>
          <p:cNvSpPr/>
          <p:nvPr/>
        </p:nvSpPr>
        <p:spPr>
          <a:xfrm>
            <a:off x="75200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33" name="s133"/>
          <p:cNvSpPr/>
          <p:nvPr/>
        </p:nvSpPr>
        <p:spPr>
          <a:xfrm>
            <a:off x="77029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34" name="s134"/>
          <p:cNvSpPr/>
          <p:nvPr/>
        </p:nvSpPr>
        <p:spPr>
          <a:xfrm>
            <a:off x="7949794" y="1856232"/>
            <a:ext cx="260238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ShouldSatisfyAllConditions fails</a:t>
            </a:r>
            <a:endParaRPr lang="en-US" sz="950" dirty="0"/>
          </a:p>
        </p:txBody>
      </p:sp>
      <p:cxnSp>
        <p:nvCxnSpPr>
          <p:cNvPr id="135" name="ln135"/>
          <p:cNvCxnSpPr/>
          <p:nvPr/>
        </p:nvCxnSpPr>
        <p:spPr>
          <a:xfrm>
            <a:off x="7172554" y="2194560"/>
            <a:ext cx="4458614" cy="0"/>
          </a:xfrm>
          <a:prstGeom prst="line">
            <a:avLst/>
          </a:prstGeom>
          <a:ln w="9525">
            <a:solidFill>
              <a:srgbClr val="1E3A5F"/>
            </a:solidFill>
          </a:ln>
        </p:spPr>
      </p:cxnSp>
      <p:sp>
        <p:nvSpPr>
          <p:cNvPr id="136" name="s136"/>
          <p:cNvSpPr/>
          <p:nvPr/>
        </p:nvSpPr>
        <p:spPr>
          <a:xfrm>
            <a:off x="7172554" y="2313432"/>
            <a:ext cx="44586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price should satisfy all the conditions</a:t>
            </a:r>
            <a:endParaRPr lang="en-US" sz="1000" dirty="0"/>
          </a:p>
        </p:txBody>
      </p:sp>
      <p:sp>
        <p:nvSpPr>
          <p:cNvPr id="137" name="s137"/>
          <p:cNvSpPr/>
          <p:nvPr/>
        </p:nvSpPr>
        <p:spPr>
          <a:xfrm>
            <a:off x="7172554" y="2465832"/>
            <a:ext cx="44586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specified, but does not.</a:t>
            </a:r>
            <a:endParaRPr lang="en-US" sz="1000" dirty="0"/>
          </a:p>
        </p:txBody>
      </p:sp>
      <p:sp>
        <p:nvSpPr>
          <p:cNvPr id="138" name="s138"/>
          <p:cNvSpPr/>
          <p:nvPr/>
        </p:nvSpPr>
        <p:spPr>
          <a:xfrm>
            <a:off x="7172554" y="2770632"/>
            <a:ext cx="44586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Error 1 ---------------</a:t>
            </a:r>
            <a:endParaRPr lang="en-US" sz="1000" dirty="0"/>
          </a:p>
        </p:txBody>
      </p:sp>
      <p:sp>
        <p:nvSpPr>
          <p:cNvPr id="139" name="s139"/>
          <p:cNvSpPr/>
          <p:nvPr/>
        </p:nvSpPr>
        <p:spPr>
          <a:xfrm>
            <a:off x="7172554" y="2923032"/>
            <a:ext cx="44586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87171"/>
                </a:solidFill>
                <a:latin typeface="Consolas"/>
                <a:ea typeface="Consolas"/>
                <a:cs typeface="Consolas"/>
              </a:rPr>
              <a:t>p.Subtotal should be 120m but was 100m</a:t>
            </a:r>
            <a:endParaRPr lang="en-US" sz="1000" dirty="0"/>
          </a:p>
        </p:txBody>
      </p:sp>
      <p:sp>
        <p:nvSpPr>
          <p:cNvPr id="140" name="s140"/>
          <p:cNvSpPr/>
          <p:nvPr/>
        </p:nvSpPr>
        <p:spPr>
          <a:xfrm>
            <a:off x="7172554" y="3075432"/>
            <a:ext cx="44586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Error 2 ---------------</a:t>
            </a:r>
            <a:endParaRPr lang="en-US" sz="1000" dirty="0"/>
          </a:p>
        </p:txBody>
      </p:sp>
      <p:sp>
        <p:nvSpPr>
          <p:cNvPr id="141" name="s141"/>
          <p:cNvSpPr/>
          <p:nvPr/>
        </p:nvSpPr>
        <p:spPr>
          <a:xfrm>
            <a:off x="7172554" y="3227832"/>
            <a:ext cx="445861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87171"/>
                </a:solidFill>
                <a:latin typeface="Consolas"/>
                <a:ea typeface="Consolas"/>
                <a:cs typeface="Consolas"/>
              </a:rPr>
              <a:t>p.Vat should be 16.80m but was 14.00m</a:t>
            </a:r>
            <a:endParaRPr lang="en-US" sz="1000" dirty="0"/>
          </a:p>
        </p:txBody>
      </p:sp>
      <p:sp>
        <p:nvSpPr>
          <p:cNvPr id="142" name="s142"/>
          <p:cNvSpPr/>
          <p:nvPr/>
        </p:nvSpPr>
        <p:spPr>
          <a:xfrm>
            <a:off x="7172554" y="4023360"/>
            <a:ext cx="4458614" cy="777240"/>
          </a:xfrm>
          <a:prstGeom prst="roundRect">
            <a:avLst>
              <a:gd name="adj" fmla="val 10000"/>
            </a:avLst>
          </a:prstGeom>
          <a:solidFill>
            <a:srgbClr val="F87171">
              <a:alpha val="8000"/>
            </a:srgbClr>
          </a:solidFill>
          <a:ln w="12700">
            <a:solidFill>
              <a:srgbClr val="F87171"/>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87171"/>
                </a:solidFill>
                <a:latin typeface="Segoe UI"/>
                <a:ea typeface="Segoe UI"/>
                <a:cs typeface="Segoe UI"/>
              </a:rPr>
              <a:t>THROW RETURNS THE EXCEPTION</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Check the message: the RIGHT rule fired.</a:t>
            </a:r>
            <a:endParaRPr lang="en-US" sz="1200" dirty="0"/>
          </a:p>
        </p:txBody>
      </p:sp>
      <p:sp>
        <p:nvSpPr>
          <p:cNvPr id="143" name="s143"/>
          <p:cNvSpPr/>
          <p:nvPr/>
        </p:nvSpPr>
        <p:spPr>
          <a:xfrm>
            <a:off x="7172554" y="4892040"/>
            <a:ext cx="4458614" cy="77724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ALL FAILURES AT ONCE</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Fix everything in one run, not one by one.</a:t>
            </a:r>
            <a:endParaRPr lang="en-US" sz="1200" dirty="0"/>
          </a:p>
        </p:txBody>
      </p:sp>
      <p:sp>
        <p:nvSpPr>
          <p:cNvPr id="144" name="s144"/>
          <p:cNvSpPr/>
          <p:nvPr/>
        </p:nvSpPr>
        <p:spPr>
          <a:xfrm>
            <a:off x="652882" y="2895600"/>
            <a:ext cx="6181344" cy="42062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45" name="s145"/>
          <p:cNvSpPr/>
          <p:nvPr/>
        </p:nvSpPr>
        <p:spPr>
          <a:xfrm>
            <a:off x="652882" y="3505200"/>
            <a:ext cx="6181344" cy="90830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
        <p:nvSpPr>
          <p:cNvPr id="146" name="s146"/>
          <p:cNvSpPr/>
          <p:nvPr/>
        </p:nvSpPr>
        <p:spPr>
          <a:xfrm>
            <a:off x="652882" y="4968240"/>
            <a:ext cx="6181344" cy="54254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0"/>
                                        </p:tgtEl>
                                        <p:attrNameLst>
                                          <p:attrName>style.visibility</p:attrName>
                                        </p:attrNameLst>
                                      </p:cBhvr>
                                      <p:to>
                                        <p:strVal val="visible"/>
                                      </p:to>
                                    </p:set>
                                    <p:animEffect transition="in" filter="fade">
                                      <p:cBhvr>
                                        <p:cTn id="83" dur="500"/>
                                        <p:tgtEl>
                                          <p:spTgt spid="120"/>
                                        </p:tgtEl>
                                      </p:cBhvr>
                                    </p:animEffect>
                                    <p:anim calcmode="lin" valueType="num">
                                      <p:cBhvr additive="base">
                                        <p:cTn id="84" dur="500" decel="100000" fill="hold"/>
                                        <p:tgtEl>
                                          <p:spTgt spid="120"/>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121"/>
                                        </p:tgtEl>
                                        <p:attrNameLst>
                                          <p:attrName>style.visibility</p:attrName>
                                        </p:attrNameLst>
                                      </p:cBhvr>
                                      <p:to>
                                        <p:strVal val="visible"/>
                                      </p:to>
                                    </p:set>
                                    <p:animEffect transition="in" filter="fade">
                                      <p:cBhvr>
                                        <p:cTn id="87" dur="500"/>
                                        <p:tgtEl>
                                          <p:spTgt spid="121"/>
                                        </p:tgtEl>
                                      </p:cBhvr>
                                    </p:animEffect>
                                    <p:anim calcmode="lin" valueType="num">
                                      <p:cBhvr additive="base">
                                        <p:cTn id="88" dur="500" decel="100000" fill="hold"/>
                                        <p:tgtEl>
                                          <p:spTgt spid="121"/>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122"/>
                                        </p:tgtEl>
                                        <p:attrNameLst>
                                          <p:attrName>style.visibility</p:attrName>
                                        </p:attrNameLst>
                                      </p:cBhvr>
                                      <p:to>
                                        <p:strVal val="visible"/>
                                      </p:to>
                                    </p:set>
                                    <p:animEffect transition="in" filter="fade">
                                      <p:cBhvr>
                                        <p:cTn id="91" dur="500"/>
                                        <p:tgtEl>
                                          <p:spTgt spid="122"/>
                                        </p:tgtEl>
                                      </p:cBhvr>
                                    </p:animEffect>
                                    <p:anim calcmode="lin" valueType="num">
                                      <p:cBhvr additive="base">
                                        <p:cTn id="92" dur="500" decel="100000" fill="hold"/>
                                        <p:tgtEl>
                                          <p:spTgt spid="122"/>
                                        </p:tgtEl>
                                        <p:attrNameLst>
                                          <p:attrName>ppt_y</p:attrName>
                                        </p:attrNameLst>
                                      </p:cBhvr>
                                      <p:tavLst>
                                        <p:tav tm="0">
                                          <p:val>
                                            <p:strVal val="#ppt_y+0.06"/>
                                          </p:val>
                                        </p:tav>
                                        <p:tav tm="100000">
                                          <p:val>
                                            <p:strVal val="#ppt_y"/>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123"/>
                                        </p:tgtEl>
                                        <p:attrNameLst>
                                          <p:attrName>style.visibility</p:attrName>
                                        </p:attrNameLst>
                                      </p:cBhvr>
                                      <p:to>
                                        <p:strVal val="visible"/>
                                      </p:to>
                                    </p:set>
                                    <p:animEffect transition="in" filter="fade">
                                      <p:cBhvr>
                                        <p:cTn id="95" dur="500"/>
                                        <p:tgtEl>
                                          <p:spTgt spid="123"/>
                                        </p:tgtEl>
                                      </p:cBhvr>
                                    </p:animEffect>
                                    <p:anim calcmode="lin" valueType="num">
                                      <p:cBhvr additive="base">
                                        <p:cTn id="96" dur="500" decel="100000" fill="hold"/>
                                        <p:tgtEl>
                                          <p:spTgt spid="123"/>
                                        </p:tgtEl>
                                        <p:attrNameLst>
                                          <p:attrName>ppt_y</p:attrName>
                                        </p:attrNameLst>
                                      </p:cBhvr>
                                      <p:tavLst>
                                        <p:tav tm="0">
                                          <p:val>
                                            <p:strVal val="#ppt_y+0.06"/>
                                          </p:val>
                                        </p:tav>
                                        <p:tav tm="100000">
                                          <p:val>
                                            <p:strVal val="#ppt_y"/>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4"/>
                                        </p:tgtEl>
                                        <p:attrNameLst>
                                          <p:attrName>style.visibility</p:attrName>
                                        </p:attrNameLst>
                                      </p:cBhvr>
                                      <p:to>
                                        <p:strVal val="visible"/>
                                      </p:to>
                                    </p:set>
                                    <p:animEffect transition="in" filter="fade">
                                      <p:cBhvr>
                                        <p:cTn id="99" dur="500"/>
                                        <p:tgtEl>
                                          <p:spTgt spid="124"/>
                                        </p:tgtEl>
                                      </p:cBhvr>
                                    </p:animEffect>
                                    <p:anim calcmode="lin" valueType="num">
                                      <p:cBhvr additive="base">
                                        <p:cTn id="100" dur="500" decel="100000" fill="hold"/>
                                        <p:tgtEl>
                                          <p:spTgt spid="124"/>
                                        </p:tgtEl>
                                        <p:attrNameLst>
                                          <p:attrName>ppt_y</p:attrName>
                                        </p:attrNameLst>
                                      </p:cBhvr>
                                      <p:tavLst>
                                        <p:tav tm="0">
                                          <p:val>
                                            <p:strVal val="#ppt_y+0.06"/>
                                          </p:val>
                                        </p:tav>
                                        <p:tav tm="100000">
                                          <p:val>
                                            <p:strVal val="#ppt_y"/>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25"/>
                                        </p:tgtEl>
                                        <p:attrNameLst>
                                          <p:attrName>style.visibility</p:attrName>
                                        </p:attrNameLst>
                                      </p:cBhvr>
                                      <p:to>
                                        <p:strVal val="visible"/>
                                      </p:to>
                                    </p:set>
                                    <p:animEffect transition="in" filter="fade">
                                      <p:cBhvr>
                                        <p:cTn id="103" dur="500"/>
                                        <p:tgtEl>
                                          <p:spTgt spid="125"/>
                                        </p:tgtEl>
                                      </p:cBhvr>
                                    </p:animEffect>
                                    <p:anim calcmode="lin" valueType="num">
                                      <p:cBhvr additive="base">
                                        <p:cTn id="104" dur="500" decel="100000" fill="hold"/>
                                        <p:tgtEl>
                                          <p:spTgt spid="125"/>
                                        </p:tgtEl>
                                        <p:attrNameLst>
                                          <p:attrName>ppt_y</p:attrName>
                                        </p:attrNameLst>
                                      </p:cBhvr>
                                      <p:tavLst>
                                        <p:tav tm="0">
                                          <p:val>
                                            <p:strVal val="#ppt_y+0.06"/>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26"/>
                                        </p:tgtEl>
                                        <p:attrNameLst>
                                          <p:attrName>style.visibility</p:attrName>
                                        </p:attrNameLst>
                                      </p:cBhvr>
                                      <p:to>
                                        <p:strVal val="visible"/>
                                      </p:to>
                                    </p:set>
                                    <p:animEffect transition="in" filter="fade">
                                      <p:cBhvr>
                                        <p:cTn id="107" dur="500"/>
                                        <p:tgtEl>
                                          <p:spTgt spid="126"/>
                                        </p:tgtEl>
                                      </p:cBhvr>
                                    </p:animEffect>
                                    <p:anim calcmode="lin" valueType="num">
                                      <p:cBhvr additive="base">
                                        <p:cTn id="108" dur="500" decel="100000" fill="hold"/>
                                        <p:tgtEl>
                                          <p:spTgt spid="126"/>
                                        </p:tgtEl>
                                        <p:attrNameLst>
                                          <p:attrName>ppt_y</p:attrName>
                                        </p:attrNameLst>
                                      </p:cBhvr>
                                      <p:tavLst>
                                        <p:tav tm="0">
                                          <p:val>
                                            <p:strVal val="#ppt_y+0.06"/>
                                          </p:val>
                                        </p:tav>
                                        <p:tav tm="100000">
                                          <p:val>
                                            <p:strVal val="#ppt_y"/>
                                          </p:val>
                                        </p:tav>
                                      </p:tavLst>
                                    </p:anim>
                                  </p:childTnLst>
                                </p:cTn>
                              </p:par>
                              <p:par>
                                <p:cTn id="109" presetID="42" presetClass="entr" presetSubtype="0" fill="hold" grpId="0" nodeType="withEffect">
                                  <p:stCondLst>
                                    <p:cond delay="0"/>
                                  </p:stCondLst>
                                  <p:childTnLst>
                                    <p:set>
                                      <p:cBhvr>
                                        <p:cTn id="110" dur="1" fill="hold">
                                          <p:stCondLst>
                                            <p:cond delay="0"/>
                                          </p:stCondLst>
                                        </p:cTn>
                                        <p:tgtEl>
                                          <p:spTgt spid="127"/>
                                        </p:tgtEl>
                                        <p:attrNameLst>
                                          <p:attrName>style.visibility</p:attrName>
                                        </p:attrNameLst>
                                      </p:cBhvr>
                                      <p:to>
                                        <p:strVal val="visible"/>
                                      </p:to>
                                    </p:set>
                                    <p:animEffect transition="in" filter="fade">
                                      <p:cBhvr>
                                        <p:cTn id="111" dur="500"/>
                                        <p:tgtEl>
                                          <p:spTgt spid="127"/>
                                        </p:tgtEl>
                                      </p:cBhvr>
                                    </p:animEffect>
                                    <p:anim calcmode="lin" valueType="num">
                                      <p:cBhvr additive="base">
                                        <p:cTn id="112" dur="500" decel="100000" fill="hold"/>
                                        <p:tgtEl>
                                          <p:spTgt spid="127"/>
                                        </p:tgtEl>
                                        <p:attrNameLst>
                                          <p:attrName>ppt_y</p:attrName>
                                        </p:attrNameLst>
                                      </p:cBhvr>
                                      <p:tavLst>
                                        <p:tav tm="0">
                                          <p:val>
                                            <p:strVal val="#ppt_y+0.06"/>
                                          </p:val>
                                        </p:tav>
                                        <p:tav tm="100000">
                                          <p:val>
                                            <p:strVal val="#ppt_y"/>
                                          </p:val>
                                        </p:tav>
                                      </p:tavLst>
                                    </p:anim>
                                  </p:childTnLst>
                                </p:cTn>
                              </p:par>
                              <p:par>
                                <p:cTn id="113" presetID="42" presetClass="entr" presetSubtype="0" fill="hold" grpId="0" nodeType="withEffect">
                                  <p:stCondLst>
                                    <p:cond delay="0"/>
                                  </p:stCondLst>
                                  <p:childTnLst>
                                    <p:set>
                                      <p:cBhvr>
                                        <p:cTn id="114" dur="1" fill="hold">
                                          <p:stCondLst>
                                            <p:cond delay="0"/>
                                          </p:stCondLst>
                                        </p:cTn>
                                        <p:tgtEl>
                                          <p:spTgt spid="128"/>
                                        </p:tgtEl>
                                        <p:attrNameLst>
                                          <p:attrName>style.visibility</p:attrName>
                                        </p:attrNameLst>
                                      </p:cBhvr>
                                      <p:to>
                                        <p:strVal val="visible"/>
                                      </p:to>
                                    </p:set>
                                    <p:animEffect transition="in" filter="fade">
                                      <p:cBhvr>
                                        <p:cTn id="115" dur="500"/>
                                        <p:tgtEl>
                                          <p:spTgt spid="128"/>
                                        </p:tgtEl>
                                      </p:cBhvr>
                                    </p:animEffect>
                                    <p:anim calcmode="lin" valueType="num">
                                      <p:cBhvr additive="base">
                                        <p:cTn id="116" dur="500" decel="100000" fill="hold"/>
                                        <p:tgtEl>
                                          <p:spTgt spid="128"/>
                                        </p:tgtEl>
                                        <p:attrNameLst>
                                          <p:attrName>ppt_y</p:attrName>
                                        </p:attrNameLst>
                                      </p:cBhvr>
                                      <p:tavLst>
                                        <p:tav tm="0">
                                          <p:val>
                                            <p:strVal val="#ppt_y+0.06"/>
                                          </p:val>
                                        </p:tav>
                                        <p:tav tm="100000">
                                          <p:val>
                                            <p:strVal val="#ppt_y"/>
                                          </p:val>
                                        </p:tav>
                                      </p:tavLst>
                                    </p:anim>
                                  </p:childTnLst>
                                </p:cTn>
                              </p:par>
                              <p:par>
                                <p:cTn id="117" presetID="42" presetClass="entr" presetSubtype="0" fill="hold" grpId="0" nodeType="withEffect">
                                  <p:stCondLst>
                                    <p:cond delay="0"/>
                                  </p:stCondLst>
                                  <p:childTnLst>
                                    <p:set>
                                      <p:cBhvr>
                                        <p:cTn id="118" dur="1" fill="hold">
                                          <p:stCondLst>
                                            <p:cond delay="0"/>
                                          </p:stCondLst>
                                        </p:cTn>
                                        <p:tgtEl>
                                          <p:spTgt spid="129"/>
                                        </p:tgtEl>
                                        <p:attrNameLst>
                                          <p:attrName>style.visibility</p:attrName>
                                        </p:attrNameLst>
                                      </p:cBhvr>
                                      <p:to>
                                        <p:strVal val="visible"/>
                                      </p:to>
                                    </p:set>
                                    <p:animEffect transition="in" filter="fade">
                                      <p:cBhvr>
                                        <p:cTn id="119" dur="500"/>
                                        <p:tgtEl>
                                          <p:spTgt spid="129"/>
                                        </p:tgtEl>
                                      </p:cBhvr>
                                    </p:animEffect>
                                    <p:anim calcmode="lin" valueType="num">
                                      <p:cBhvr additive="base">
                                        <p:cTn id="120" dur="500" decel="100000" fill="hold"/>
                                        <p:tgtEl>
                                          <p:spTgt spid="129"/>
                                        </p:tgtEl>
                                        <p:attrNameLst>
                                          <p:attrName>ppt_y</p:attrName>
                                        </p:attrNameLst>
                                      </p:cBhvr>
                                      <p:tavLst>
                                        <p:tav tm="0">
                                          <p:val>
                                            <p:strVal val="#ppt_y+0.06"/>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53" presetClass="entr" presetSubtype="16" fill="hold" grpId="0" nodeType="clickEffect">
                                  <p:stCondLst>
                                    <p:cond delay="0"/>
                                  </p:stCondLst>
                                  <p:childTnLst>
                                    <p:set>
                                      <p:cBhvr>
                                        <p:cTn id="124" dur="1" fill="hold">
                                          <p:stCondLst>
                                            <p:cond delay="0"/>
                                          </p:stCondLst>
                                        </p:cTn>
                                        <p:tgtEl>
                                          <p:spTgt spid="144"/>
                                        </p:tgtEl>
                                        <p:attrNameLst>
                                          <p:attrName>style.visibility</p:attrName>
                                        </p:attrNameLst>
                                      </p:cBhvr>
                                      <p:to>
                                        <p:strVal val="visible"/>
                                      </p:to>
                                    </p:set>
                                    <p:anim calcmode="lin" valueType="num">
                                      <p:cBhvr additive="base">
                                        <p:cTn id="125" dur="500" decel="100000" fill="hold"/>
                                        <p:tgtEl>
                                          <p:spTgt spid="144"/>
                                        </p:tgtEl>
                                        <p:attrNameLst>
                                          <p:attrName>ppt_w</p:attrName>
                                        </p:attrNameLst>
                                      </p:cBhvr>
                                      <p:tavLst>
                                        <p:tav tm="0">
                                          <p:val>
                                            <p:strVal val="#ppt_w*0.3"/>
                                          </p:val>
                                        </p:tav>
                                        <p:tav tm="100000">
                                          <p:val>
                                            <p:strVal val="#ppt_w*1.08"/>
                                          </p:val>
                                        </p:tav>
                                      </p:tavLst>
                                    </p:anim>
                                    <p:anim calcmode="lin" valueType="num">
                                      <p:cBhvr additive="base">
                                        <p:cTn id="126" dur="500" decel="100000" fill="hold"/>
                                        <p:tgtEl>
                                          <p:spTgt spid="144"/>
                                        </p:tgtEl>
                                        <p:attrNameLst>
                                          <p:attrName>ppt_h</p:attrName>
                                        </p:attrNameLst>
                                      </p:cBhvr>
                                      <p:tavLst>
                                        <p:tav tm="0">
                                          <p:val>
                                            <p:strVal val="#ppt_h*0.3"/>
                                          </p:val>
                                        </p:tav>
                                        <p:tav tm="100000">
                                          <p:val>
                                            <p:strVal val="#ppt_h*1.08"/>
                                          </p:val>
                                        </p:tav>
                                      </p:tavLst>
                                    </p:anim>
                                    <p:animEffect transition="in" filter="fade">
                                      <p:cBhvr>
                                        <p:cTn id="127" dur="250"/>
                                        <p:tgtEl>
                                          <p:spTgt spid="144"/>
                                        </p:tgtEl>
                                      </p:cBhvr>
                                    </p:animEffect>
                                    <p:anim calcmode="lin" valueType="num">
                                      <p:cBhvr additive="base">
                                        <p:cTn id="128" dur="160" fill="hold">
                                          <p:stCondLst>
                                            <p:cond delay="500"/>
                                          </p:stCondLst>
                                        </p:cTn>
                                        <p:tgtEl>
                                          <p:spTgt spid="144"/>
                                        </p:tgtEl>
                                        <p:attrNameLst>
                                          <p:attrName>ppt_w</p:attrName>
                                        </p:attrNameLst>
                                      </p:cBhvr>
                                      <p:tavLst>
                                        <p:tav tm="0">
                                          <p:val>
                                            <p:strVal val="#ppt_w*1.08"/>
                                          </p:val>
                                        </p:tav>
                                        <p:tav tm="100000">
                                          <p:val>
                                            <p:strVal val="#ppt_w"/>
                                          </p:val>
                                        </p:tav>
                                      </p:tavLst>
                                    </p:anim>
                                    <p:anim calcmode="lin" valueType="num">
                                      <p:cBhvr additive="base">
                                        <p:cTn id="129" dur="160" fill="hold">
                                          <p:stCondLst>
                                            <p:cond delay="500"/>
                                          </p:stCondLst>
                                        </p:cTn>
                                        <p:tgtEl>
                                          <p:spTgt spid="144"/>
                                        </p:tgtEl>
                                        <p:attrNameLst>
                                          <p:attrName>ppt_h</p:attrName>
                                        </p:attrNameLst>
                                      </p:cBhvr>
                                      <p:tavLst>
                                        <p:tav tm="0">
                                          <p:val>
                                            <p:strVal val="#ppt_h*1.08"/>
                                          </p:val>
                                        </p:tav>
                                        <p:tav tm="100000">
                                          <p:val>
                                            <p:strVal val="#ppt_h"/>
                                          </p:val>
                                        </p:tav>
                                      </p:tavLst>
                                    </p:anim>
                                  </p:childTnLst>
                                </p:cTn>
                              </p:par>
                              <p:par>
                                <p:cTn id="130" presetID="42" presetClass="entr" presetSubtype="0" fill="hold" grpId="0" nodeType="withEffect">
                                  <p:stCondLst>
                                    <p:cond delay="200"/>
                                  </p:stCondLst>
                                  <p:childTnLst>
                                    <p:set>
                                      <p:cBhvr>
                                        <p:cTn id="131" dur="1" fill="hold">
                                          <p:stCondLst>
                                            <p:cond delay="0"/>
                                          </p:stCondLst>
                                        </p:cTn>
                                        <p:tgtEl>
                                          <p:spTgt spid="142"/>
                                        </p:tgtEl>
                                        <p:attrNameLst>
                                          <p:attrName>style.visibility</p:attrName>
                                        </p:attrNameLst>
                                      </p:cBhvr>
                                      <p:to>
                                        <p:strVal val="visible"/>
                                      </p:to>
                                    </p:set>
                                    <p:animEffect transition="in" filter="fade">
                                      <p:cBhvr>
                                        <p:cTn id="132" dur="500"/>
                                        <p:tgtEl>
                                          <p:spTgt spid="142"/>
                                        </p:tgtEl>
                                      </p:cBhvr>
                                    </p:animEffect>
                                    <p:anim calcmode="lin" valueType="num">
                                      <p:cBhvr additive="base">
                                        <p:cTn id="133" dur="500" decel="100000" fill="hold"/>
                                        <p:tgtEl>
                                          <p:spTgt spid="142"/>
                                        </p:tgtEl>
                                        <p:attrNameLst>
                                          <p:attrName>ppt_y</p:attrName>
                                        </p:attrNameLst>
                                      </p:cBhvr>
                                      <p:tavLst>
                                        <p:tav tm="0">
                                          <p:val>
                                            <p:strVal val="#ppt_y+0.06"/>
                                          </p:val>
                                        </p:tav>
                                        <p:tav tm="100000">
                                          <p:val>
                                            <p:strVal val="#ppt_y"/>
                                          </p:val>
                                        </p:tav>
                                      </p:tavLst>
                                    </p:anim>
                                  </p:childTnLst>
                                </p:cTn>
                              </p:par>
                            </p:childTnLst>
                          </p:cTn>
                        </p:par>
                      </p:childTnLst>
                    </p:cTn>
                  </p:par>
                  <p:par>
                    <p:cTn id="134" fill="hold">
                      <p:stCondLst>
                        <p:cond delay="indefinite"/>
                      </p:stCondLst>
                      <p:childTnLst>
                        <p:par>
                          <p:cTn id="135" fill="hold">
                            <p:stCondLst>
                              <p:cond delay="0"/>
                            </p:stCondLst>
                            <p:childTnLst>
                              <p:par>
                                <p:cTn id="136" presetID="53" presetClass="entr" presetSubtype="16" fill="hold" grpId="0" nodeType="clickEffect">
                                  <p:stCondLst>
                                    <p:cond delay="0"/>
                                  </p:stCondLst>
                                  <p:childTnLst>
                                    <p:set>
                                      <p:cBhvr>
                                        <p:cTn id="137" dur="1" fill="hold">
                                          <p:stCondLst>
                                            <p:cond delay="0"/>
                                          </p:stCondLst>
                                        </p:cTn>
                                        <p:tgtEl>
                                          <p:spTgt spid="145"/>
                                        </p:tgtEl>
                                        <p:attrNameLst>
                                          <p:attrName>style.visibility</p:attrName>
                                        </p:attrNameLst>
                                      </p:cBhvr>
                                      <p:to>
                                        <p:strVal val="visible"/>
                                      </p:to>
                                    </p:set>
                                    <p:anim calcmode="lin" valueType="num">
                                      <p:cBhvr additive="base">
                                        <p:cTn id="138" dur="500" decel="100000" fill="hold"/>
                                        <p:tgtEl>
                                          <p:spTgt spid="145"/>
                                        </p:tgtEl>
                                        <p:attrNameLst>
                                          <p:attrName>ppt_w</p:attrName>
                                        </p:attrNameLst>
                                      </p:cBhvr>
                                      <p:tavLst>
                                        <p:tav tm="0">
                                          <p:val>
                                            <p:strVal val="#ppt_w*0.3"/>
                                          </p:val>
                                        </p:tav>
                                        <p:tav tm="100000">
                                          <p:val>
                                            <p:strVal val="#ppt_w*1.08"/>
                                          </p:val>
                                        </p:tav>
                                      </p:tavLst>
                                    </p:anim>
                                    <p:anim calcmode="lin" valueType="num">
                                      <p:cBhvr additive="base">
                                        <p:cTn id="139" dur="500" decel="100000" fill="hold"/>
                                        <p:tgtEl>
                                          <p:spTgt spid="145"/>
                                        </p:tgtEl>
                                        <p:attrNameLst>
                                          <p:attrName>ppt_h</p:attrName>
                                        </p:attrNameLst>
                                      </p:cBhvr>
                                      <p:tavLst>
                                        <p:tav tm="0">
                                          <p:val>
                                            <p:strVal val="#ppt_h*0.3"/>
                                          </p:val>
                                        </p:tav>
                                        <p:tav tm="100000">
                                          <p:val>
                                            <p:strVal val="#ppt_h*1.08"/>
                                          </p:val>
                                        </p:tav>
                                      </p:tavLst>
                                    </p:anim>
                                    <p:animEffect transition="in" filter="fade">
                                      <p:cBhvr>
                                        <p:cTn id="140" dur="250"/>
                                        <p:tgtEl>
                                          <p:spTgt spid="145"/>
                                        </p:tgtEl>
                                      </p:cBhvr>
                                    </p:animEffect>
                                    <p:anim calcmode="lin" valueType="num">
                                      <p:cBhvr additive="base">
                                        <p:cTn id="141" dur="160" fill="hold">
                                          <p:stCondLst>
                                            <p:cond delay="500"/>
                                          </p:stCondLst>
                                        </p:cTn>
                                        <p:tgtEl>
                                          <p:spTgt spid="145"/>
                                        </p:tgtEl>
                                        <p:attrNameLst>
                                          <p:attrName>ppt_w</p:attrName>
                                        </p:attrNameLst>
                                      </p:cBhvr>
                                      <p:tavLst>
                                        <p:tav tm="0">
                                          <p:val>
                                            <p:strVal val="#ppt_w*1.08"/>
                                          </p:val>
                                        </p:tav>
                                        <p:tav tm="100000">
                                          <p:val>
                                            <p:strVal val="#ppt_w"/>
                                          </p:val>
                                        </p:tav>
                                      </p:tavLst>
                                    </p:anim>
                                    <p:anim calcmode="lin" valueType="num">
                                      <p:cBhvr additive="base">
                                        <p:cTn id="142" dur="160" fill="hold">
                                          <p:stCondLst>
                                            <p:cond delay="500"/>
                                          </p:stCondLst>
                                        </p:cTn>
                                        <p:tgtEl>
                                          <p:spTgt spid="145"/>
                                        </p:tgtEl>
                                        <p:attrNameLst>
                                          <p:attrName>ppt_h</p:attrName>
                                        </p:attrNameLst>
                                      </p:cBhvr>
                                      <p:tavLst>
                                        <p:tav tm="0">
                                          <p:val>
                                            <p:strVal val="#ppt_h*1.08"/>
                                          </p:val>
                                        </p:tav>
                                        <p:tav tm="100000">
                                          <p:val>
                                            <p:strVal val="#ppt_h"/>
                                          </p:val>
                                        </p:tav>
                                      </p:tavLst>
                                    </p:anim>
                                  </p:childTnLst>
                                </p:cTn>
                              </p:par>
                            </p:childTnLst>
                          </p:cTn>
                        </p:par>
                      </p:childTnLst>
                    </p:cTn>
                  </p:par>
                  <p:par>
                    <p:cTn id="143" fill="hold">
                      <p:stCondLst>
                        <p:cond delay="indefinite"/>
                      </p:stCondLst>
                      <p:childTnLst>
                        <p:par>
                          <p:cTn id="144" fill="hold">
                            <p:stCondLst>
                              <p:cond delay="0"/>
                            </p:stCondLst>
                            <p:childTnLst>
                              <p:par>
                                <p:cTn id="145" presetID="53" presetClass="entr" presetSubtype="16" fill="hold" grpId="0" nodeType="clickEffect">
                                  <p:stCondLst>
                                    <p:cond delay="0"/>
                                  </p:stCondLst>
                                  <p:childTnLst>
                                    <p:set>
                                      <p:cBhvr>
                                        <p:cTn id="146" dur="1" fill="hold">
                                          <p:stCondLst>
                                            <p:cond delay="0"/>
                                          </p:stCondLst>
                                        </p:cTn>
                                        <p:tgtEl>
                                          <p:spTgt spid="146"/>
                                        </p:tgtEl>
                                        <p:attrNameLst>
                                          <p:attrName>style.visibility</p:attrName>
                                        </p:attrNameLst>
                                      </p:cBhvr>
                                      <p:to>
                                        <p:strVal val="visible"/>
                                      </p:to>
                                    </p:set>
                                    <p:anim calcmode="lin" valueType="num">
                                      <p:cBhvr additive="base">
                                        <p:cTn id="147" dur="500" decel="100000" fill="hold"/>
                                        <p:tgtEl>
                                          <p:spTgt spid="146"/>
                                        </p:tgtEl>
                                        <p:attrNameLst>
                                          <p:attrName>ppt_w</p:attrName>
                                        </p:attrNameLst>
                                      </p:cBhvr>
                                      <p:tavLst>
                                        <p:tav tm="0">
                                          <p:val>
                                            <p:strVal val="#ppt_w*0.3"/>
                                          </p:val>
                                        </p:tav>
                                        <p:tav tm="100000">
                                          <p:val>
                                            <p:strVal val="#ppt_w*1.08"/>
                                          </p:val>
                                        </p:tav>
                                      </p:tavLst>
                                    </p:anim>
                                    <p:anim calcmode="lin" valueType="num">
                                      <p:cBhvr additive="base">
                                        <p:cTn id="148" dur="500" decel="100000" fill="hold"/>
                                        <p:tgtEl>
                                          <p:spTgt spid="146"/>
                                        </p:tgtEl>
                                        <p:attrNameLst>
                                          <p:attrName>ppt_h</p:attrName>
                                        </p:attrNameLst>
                                      </p:cBhvr>
                                      <p:tavLst>
                                        <p:tav tm="0">
                                          <p:val>
                                            <p:strVal val="#ppt_h*0.3"/>
                                          </p:val>
                                        </p:tav>
                                        <p:tav tm="100000">
                                          <p:val>
                                            <p:strVal val="#ppt_h*1.08"/>
                                          </p:val>
                                        </p:tav>
                                      </p:tavLst>
                                    </p:anim>
                                    <p:animEffect transition="in" filter="fade">
                                      <p:cBhvr>
                                        <p:cTn id="149" dur="250"/>
                                        <p:tgtEl>
                                          <p:spTgt spid="146"/>
                                        </p:tgtEl>
                                      </p:cBhvr>
                                    </p:animEffect>
                                    <p:anim calcmode="lin" valueType="num">
                                      <p:cBhvr additive="base">
                                        <p:cTn id="150" dur="160" fill="hold">
                                          <p:stCondLst>
                                            <p:cond delay="500"/>
                                          </p:stCondLst>
                                        </p:cTn>
                                        <p:tgtEl>
                                          <p:spTgt spid="146"/>
                                        </p:tgtEl>
                                        <p:attrNameLst>
                                          <p:attrName>ppt_w</p:attrName>
                                        </p:attrNameLst>
                                      </p:cBhvr>
                                      <p:tavLst>
                                        <p:tav tm="0">
                                          <p:val>
                                            <p:strVal val="#ppt_w*1.08"/>
                                          </p:val>
                                        </p:tav>
                                        <p:tav tm="100000">
                                          <p:val>
                                            <p:strVal val="#ppt_w"/>
                                          </p:val>
                                        </p:tav>
                                      </p:tavLst>
                                    </p:anim>
                                    <p:anim calcmode="lin" valueType="num">
                                      <p:cBhvr additive="base">
                                        <p:cTn id="151" dur="160" fill="hold">
                                          <p:stCondLst>
                                            <p:cond delay="500"/>
                                          </p:stCondLst>
                                        </p:cTn>
                                        <p:tgtEl>
                                          <p:spTgt spid="146"/>
                                        </p:tgtEl>
                                        <p:attrNameLst>
                                          <p:attrName>ppt_h</p:attrName>
                                        </p:attrNameLst>
                                      </p:cBhvr>
                                      <p:tavLst>
                                        <p:tav tm="0">
                                          <p:val>
                                            <p:strVal val="#ppt_h*1.08"/>
                                          </p:val>
                                        </p:tav>
                                        <p:tav tm="100000">
                                          <p:val>
                                            <p:strVal val="#ppt_h"/>
                                          </p:val>
                                        </p:tav>
                                      </p:tavLst>
                                    </p:anim>
                                  </p:childTnLst>
                                </p:cTn>
                              </p:par>
                              <p:par>
                                <p:cTn id="152" presetID="42" presetClass="entr" presetSubtype="0" fill="hold" grpId="0" nodeType="withEffect">
                                  <p:stCondLst>
                                    <p:cond delay="200"/>
                                  </p:stCondLst>
                                  <p:childTnLst>
                                    <p:set>
                                      <p:cBhvr>
                                        <p:cTn id="153" dur="1" fill="hold">
                                          <p:stCondLst>
                                            <p:cond delay="0"/>
                                          </p:stCondLst>
                                        </p:cTn>
                                        <p:tgtEl>
                                          <p:spTgt spid="130"/>
                                        </p:tgtEl>
                                        <p:attrNameLst>
                                          <p:attrName>style.visibility</p:attrName>
                                        </p:attrNameLst>
                                      </p:cBhvr>
                                      <p:to>
                                        <p:strVal val="visible"/>
                                      </p:to>
                                    </p:set>
                                    <p:animEffect transition="in" filter="fade">
                                      <p:cBhvr>
                                        <p:cTn id="154" dur="500"/>
                                        <p:tgtEl>
                                          <p:spTgt spid="130"/>
                                        </p:tgtEl>
                                      </p:cBhvr>
                                    </p:animEffect>
                                    <p:anim calcmode="lin" valueType="num">
                                      <p:cBhvr additive="base">
                                        <p:cTn id="155" dur="500" decel="100000" fill="hold"/>
                                        <p:tgtEl>
                                          <p:spTgt spid="130"/>
                                        </p:tgtEl>
                                        <p:attrNameLst>
                                          <p:attrName>ppt_y</p:attrName>
                                        </p:attrNameLst>
                                      </p:cBhvr>
                                      <p:tavLst>
                                        <p:tav tm="0">
                                          <p:val>
                                            <p:strVal val="#ppt_y+0.06"/>
                                          </p:val>
                                        </p:tav>
                                        <p:tav tm="100000">
                                          <p:val>
                                            <p:strVal val="#ppt_y"/>
                                          </p:val>
                                        </p:tav>
                                      </p:tavLst>
                                    </p:anim>
                                  </p:childTnLst>
                                </p:cTn>
                              </p:par>
                              <p:par>
                                <p:cTn id="156" presetID="42" presetClass="entr" presetSubtype="0" fill="hold" grpId="0" nodeType="withEffect">
                                  <p:stCondLst>
                                    <p:cond delay="200"/>
                                  </p:stCondLst>
                                  <p:childTnLst>
                                    <p:set>
                                      <p:cBhvr>
                                        <p:cTn id="157" dur="1" fill="hold">
                                          <p:stCondLst>
                                            <p:cond delay="0"/>
                                          </p:stCondLst>
                                        </p:cTn>
                                        <p:tgtEl>
                                          <p:spTgt spid="131"/>
                                        </p:tgtEl>
                                        <p:attrNameLst>
                                          <p:attrName>style.visibility</p:attrName>
                                        </p:attrNameLst>
                                      </p:cBhvr>
                                      <p:to>
                                        <p:strVal val="visible"/>
                                      </p:to>
                                    </p:set>
                                    <p:animEffect transition="in" filter="fade">
                                      <p:cBhvr>
                                        <p:cTn id="158" dur="500"/>
                                        <p:tgtEl>
                                          <p:spTgt spid="131"/>
                                        </p:tgtEl>
                                      </p:cBhvr>
                                    </p:animEffect>
                                    <p:anim calcmode="lin" valueType="num">
                                      <p:cBhvr additive="base">
                                        <p:cTn id="159" dur="500" decel="100000" fill="hold"/>
                                        <p:tgtEl>
                                          <p:spTgt spid="131"/>
                                        </p:tgtEl>
                                        <p:attrNameLst>
                                          <p:attrName>ppt_y</p:attrName>
                                        </p:attrNameLst>
                                      </p:cBhvr>
                                      <p:tavLst>
                                        <p:tav tm="0">
                                          <p:val>
                                            <p:strVal val="#ppt_y+0.06"/>
                                          </p:val>
                                        </p:tav>
                                        <p:tav tm="100000">
                                          <p:val>
                                            <p:strVal val="#ppt_y"/>
                                          </p:val>
                                        </p:tav>
                                      </p:tavLst>
                                    </p:anim>
                                  </p:childTnLst>
                                </p:cTn>
                              </p:par>
                              <p:par>
                                <p:cTn id="160" presetID="42" presetClass="entr" presetSubtype="0" fill="hold" grpId="0" nodeType="withEffect">
                                  <p:stCondLst>
                                    <p:cond delay="200"/>
                                  </p:stCondLst>
                                  <p:childTnLst>
                                    <p:set>
                                      <p:cBhvr>
                                        <p:cTn id="161" dur="1" fill="hold">
                                          <p:stCondLst>
                                            <p:cond delay="0"/>
                                          </p:stCondLst>
                                        </p:cTn>
                                        <p:tgtEl>
                                          <p:spTgt spid="132"/>
                                        </p:tgtEl>
                                        <p:attrNameLst>
                                          <p:attrName>style.visibility</p:attrName>
                                        </p:attrNameLst>
                                      </p:cBhvr>
                                      <p:to>
                                        <p:strVal val="visible"/>
                                      </p:to>
                                    </p:set>
                                    <p:animEffect transition="in" filter="fade">
                                      <p:cBhvr>
                                        <p:cTn id="162" dur="500"/>
                                        <p:tgtEl>
                                          <p:spTgt spid="132"/>
                                        </p:tgtEl>
                                      </p:cBhvr>
                                    </p:animEffect>
                                    <p:anim calcmode="lin" valueType="num">
                                      <p:cBhvr additive="base">
                                        <p:cTn id="163" dur="500" decel="100000" fill="hold"/>
                                        <p:tgtEl>
                                          <p:spTgt spid="132"/>
                                        </p:tgtEl>
                                        <p:attrNameLst>
                                          <p:attrName>ppt_y</p:attrName>
                                        </p:attrNameLst>
                                      </p:cBhvr>
                                      <p:tavLst>
                                        <p:tav tm="0">
                                          <p:val>
                                            <p:strVal val="#ppt_y+0.06"/>
                                          </p:val>
                                        </p:tav>
                                        <p:tav tm="100000">
                                          <p:val>
                                            <p:strVal val="#ppt_y"/>
                                          </p:val>
                                        </p:tav>
                                      </p:tavLst>
                                    </p:anim>
                                  </p:childTnLst>
                                </p:cTn>
                              </p:par>
                              <p:par>
                                <p:cTn id="164" presetID="42" presetClass="entr" presetSubtype="0" fill="hold" grpId="0" nodeType="withEffect">
                                  <p:stCondLst>
                                    <p:cond delay="200"/>
                                  </p:stCondLst>
                                  <p:childTnLst>
                                    <p:set>
                                      <p:cBhvr>
                                        <p:cTn id="165" dur="1" fill="hold">
                                          <p:stCondLst>
                                            <p:cond delay="0"/>
                                          </p:stCondLst>
                                        </p:cTn>
                                        <p:tgtEl>
                                          <p:spTgt spid="133"/>
                                        </p:tgtEl>
                                        <p:attrNameLst>
                                          <p:attrName>style.visibility</p:attrName>
                                        </p:attrNameLst>
                                      </p:cBhvr>
                                      <p:to>
                                        <p:strVal val="visible"/>
                                      </p:to>
                                    </p:set>
                                    <p:animEffect transition="in" filter="fade">
                                      <p:cBhvr>
                                        <p:cTn id="166" dur="500"/>
                                        <p:tgtEl>
                                          <p:spTgt spid="133"/>
                                        </p:tgtEl>
                                      </p:cBhvr>
                                    </p:animEffect>
                                    <p:anim calcmode="lin" valueType="num">
                                      <p:cBhvr additive="base">
                                        <p:cTn id="167" dur="500" decel="100000" fill="hold"/>
                                        <p:tgtEl>
                                          <p:spTgt spid="133"/>
                                        </p:tgtEl>
                                        <p:attrNameLst>
                                          <p:attrName>ppt_y</p:attrName>
                                        </p:attrNameLst>
                                      </p:cBhvr>
                                      <p:tavLst>
                                        <p:tav tm="0">
                                          <p:val>
                                            <p:strVal val="#ppt_y+0.06"/>
                                          </p:val>
                                        </p:tav>
                                        <p:tav tm="100000">
                                          <p:val>
                                            <p:strVal val="#ppt_y"/>
                                          </p:val>
                                        </p:tav>
                                      </p:tavLst>
                                    </p:anim>
                                  </p:childTnLst>
                                </p:cTn>
                              </p:par>
                              <p:par>
                                <p:cTn id="168" presetID="42" presetClass="entr" presetSubtype="0" fill="hold" grpId="0" nodeType="withEffect">
                                  <p:stCondLst>
                                    <p:cond delay="200"/>
                                  </p:stCondLst>
                                  <p:childTnLst>
                                    <p:set>
                                      <p:cBhvr>
                                        <p:cTn id="169" dur="1" fill="hold">
                                          <p:stCondLst>
                                            <p:cond delay="0"/>
                                          </p:stCondLst>
                                        </p:cTn>
                                        <p:tgtEl>
                                          <p:spTgt spid="134"/>
                                        </p:tgtEl>
                                        <p:attrNameLst>
                                          <p:attrName>style.visibility</p:attrName>
                                        </p:attrNameLst>
                                      </p:cBhvr>
                                      <p:to>
                                        <p:strVal val="visible"/>
                                      </p:to>
                                    </p:set>
                                    <p:animEffect transition="in" filter="fade">
                                      <p:cBhvr>
                                        <p:cTn id="170" dur="500"/>
                                        <p:tgtEl>
                                          <p:spTgt spid="134"/>
                                        </p:tgtEl>
                                      </p:cBhvr>
                                    </p:animEffect>
                                    <p:anim calcmode="lin" valueType="num">
                                      <p:cBhvr additive="base">
                                        <p:cTn id="171" dur="500" decel="100000" fill="hold"/>
                                        <p:tgtEl>
                                          <p:spTgt spid="134"/>
                                        </p:tgtEl>
                                        <p:attrNameLst>
                                          <p:attrName>ppt_y</p:attrName>
                                        </p:attrNameLst>
                                      </p:cBhvr>
                                      <p:tavLst>
                                        <p:tav tm="0">
                                          <p:val>
                                            <p:strVal val="#ppt_y+0.06"/>
                                          </p:val>
                                        </p:tav>
                                        <p:tav tm="100000">
                                          <p:val>
                                            <p:strVal val="#ppt_y"/>
                                          </p:val>
                                        </p:tav>
                                      </p:tavLst>
                                    </p:anim>
                                  </p:childTnLst>
                                </p:cTn>
                              </p:par>
                              <p:par>
                                <p:cTn id="172" presetID="42" presetClass="entr" presetSubtype="0" fill="hold" nodeType="withEffect">
                                  <p:stCondLst>
                                    <p:cond delay="200"/>
                                  </p:stCondLst>
                                  <p:childTnLst>
                                    <p:set>
                                      <p:cBhvr>
                                        <p:cTn id="173" dur="1" fill="hold">
                                          <p:stCondLst>
                                            <p:cond delay="0"/>
                                          </p:stCondLst>
                                        </p:cTn>
                                        <p:tgtEl>
                                          <p:spTgt spid="135"/>
                                        </p:tgtEl>
                                        <p:attrNameLst>
                                          <p:attrName>style.visibility</p:attrName>
                                        </p:attrNameLst>
                                      </p:cBhvr>
                                      <p:to>
                                        <p:strVal val="visible"/>
                                      </p:to>
                                    </p:set>
                                    <p:animEffect transition="in" filter="fade">
                                      <p:cBhvr>
                                        <p:cTn id="174" dur="500"/>
                                        <p:tgtEl>
                                          <p:spTgt spid="135"/>
                                        </p:tgtEl>
                                      </p:cBhvr>
                                    </p:animEffect>
                                    <p:anim calcmode="lin" valueType="num">
                                      <p:cBhvr additive="base">
                                        <p:cTn id="175" dur="500" decel="100000" fill="hold"/>
                                        <p:tgtEl>
                                          <p:spTgt spid="135"/>
                                        </p:tgtEl>
                                        <p:attrNameLst>
                                          <p:attrName>ppt_y</p:attrName>
                                        </p:attrNameLst>
                                      </p:cBhvr>
                                      <p:tavLst>
                                        <p:tav tm="0">
                                          <p:val>
                                            <p:strVal val="#ppt_y+0.06"/>
                                          </p:val>
                                        </p:tav>
                                        <p:tav tm="100000">
                                          <p:val>
                                            <p:strVal val="#ppt_y"/>
                                          </p:val>
                                        </p:tav>
                                      </p:tavLst>
                                    </p:anim>
                                  </p:childTnLst>
                                </p:cTn>
                              </p:par>
                              <p:par>
                                <p:cTn id="176" presetID="42" presetClass="entr" presetSubtype="0" fill="hold" grpId="0" nodeType="withEffect">
                                  <p:stCondLst>
                                    <p:cond delay="200"/>
                                  </p:stCondLst>
                                  <p:childTnLst>
                                    <p:set>
                                      <p:cBhvr>
                                        <p:cTn id="177" dur="1" fill="hold">
                                          <p:stCondLst>
                                            <p:cond delay="0"/>
                                          </p:stCondLst>
                                        </p:cTn>
                                        <p:tgtEl>
                                          <p:spTgt spid="136"/>
                                        </p:tgtEl>
                                        <p:attrNameLst>
                                          <p:attrName>style.visibility</p:attrName>
                                        </p:attrNameLst>
                                      </p:cBhvr>
                                      <p:to>
                                        <p:strVal val="visible"/>
                                      </p:to>
                                    </p:set>
                                    <p:animEffect transition="in" filter="fade">
                                      <p:cBhvr>
                                        <p:cTn id="178" dur="500"/>
                                        <p:tgtEl>
                                          <p:spTgt spid="136"/>
                                        </p:tgtEl>
                                      </p:cBhvr>
                                    </p:animEffect>
                                    <p:anim calcmode="lin" valueType="num">
                                      <p:cBhvr additive="base">
                                        <p:cTn id="179" dur="500" decel="100000" fill="hold"/>
                                        <p:tgtEl>
                                          <p:spTgt spid="136"/>
                                        </p:tgtEl>
                                        <p:attrNameLst>
                                          <p:attrName>ppt_y</p:attrName>
                                        </p:attrNameLst>
                                      </p:cBhvr>
                                      <p:tavLst>
                                        <p:tav tm="0">
                                          <p:val>
                                            <p:strVal val="#ppt_y+0.06"/>
                                          </p:val>
                                        </p:tav>
                                        <p:tav tm="100000">
                                          <p:val>
                                            <p:strVal val="#ppt_y"/>
                                          </p:val>
                                        </p:tav>
                                      </p:tavLst>
                                    </p:anim>
                                  </p:childTnLst>
                                </p:cTn>
                              </p:par>
                              <p:par>
                                <p:cTn id="180" presetID="42" presetClass="entr" presetSubtype="0" fill="hold" grpId="0" nodeType="withEffect">
                                  <p:stCondLst>
                                    <p:cond delay="200"/>
                                  </p:stCondLst>
                                  <p:childTnLst>
                                    <p:set>
                                      <p:cBhvr>
                                        <p:cTn id="181" dur="1" fill="hold">
                                          <p:stCondLst>
                                            <p:cond delay="0"/>
                                          </p:stCondLst>
                                        </p:cTn>
                                        <p:tgtEl>
                                          <p:spTgt spid="137"/>
                                        </p:tgtEl>
                                        <p:attrNameLst>
                                          <p:attrName>style.visibility</p:attrName>
                                        </p:attrNameLst>
                                      </p:cBhvr>
                                      <p:to>
                                        <p:strVal val="visible"/>
                                      </p:to>
                                    </p:set>
                                    <p:animEffect transition="in" filter="fade">
                                      <p:cBhvr>
                                        <p:cTn id="182" dur="500"/>
                                        <p:tgtEl>
                                          <p:spTgt spid="137"/>
                                        </p:tgtEl>
                                      </p:cBhvr>
                                    </p:animEffect>
                                    <p:anim calcmode="lin" valueType="num">
                                      <p:cBhvr additive="base">
                                        <p:cTn id="183" dur="500" decel="100000" fill="hold"/>
                                        <p:tgtEl>
                                          <p:spTgt spid="137"/>
                                        </p:tgtEl>
                                        <p:attrNameLst>
                                          <p:attrName>ppt_y</p:attrName>
                                        </p:attrNameLst>
                                      </p:cBhvr>
                                      <p:tavLst>
                                        <p:tav tm="0">
                                          <p:val>
                                            <p:strVal val="#ppt_y+0.06"/>
                                          </p:val>
                                        </p:tav>
                                        <p:tav tm="100000">
                                          <p:val>
                                            <p:strVal val="#ppt_y"/>
                                          </p:val>
                                        </p:tav>
                                      </p:tavLst>
                                    </p:anim>
                                  </p:childTnLst>
                                </p:cTn>
                              </p:par>
                              <p:par>
                                <p:cTn id="184" presetID="42" presetClass="entr" presetSubtype="0" fill="hold" grpId="0" nodeType="withEffect">
                                  <p:stCondLst>
                                    <p:cond delay="200"/>
                                  </p:stCondLst>
                                  <p:childTnLst>
                                    <p:set>
                                      <p:cBhvr>
                                        <p:cTn id="185" dur="1" fill="hold">
                                          <p:stCondLst>
                                            <p:cond delay="0"/>
                                          </p:stCondLst>
                                        </p:cTn>
                                        <p:tgtEl>
                                          <p:spTgt spid="138"/>
                                        </p:tgtEl>
                                        <p:attrNameLst>
                                          <p:attrName>style.visibility</p:attrName>
                                        </p:attrNameLst>
                                      </p:cBhvr>
                                      <p:to>
                                        <p:strVal val="visible"/>
                                      </p:to>
                                    </p:set>
                                    <p:animEffect transition="in" filter="fade">
                                      <p:cBhvr>
                                        <p:cTn id="186" dur="500"/>
                                        <p:tgtEl>
                                          <p:spTgt spid="138"/>
                                        </p:tgtEl>
                                      </p:cBhvr>
                                    </p:animEffect>
                                    <p:anim calcmode="lin" valueType="num">
                                      <p:cBhvr additive="base">
                                        <p:cTn id="187" dur="500" decel="100000" fill="hold"/>
                                        <p:tgtEl>
                                          <p:spTgt spid="138"/>
                                        </p:tgtEl>
                                        <p:attrNameLst>
                                          <p:attrName>ppt_y</p:attrName>
                                        </p:attrNameLst>
                                      </p:cBhvr>
                                      <p:tavLst>
                                        <p:tav tm="0">
                                          <p:val>
                                            <p:strVal val="#ppt_y+0.06"/>
                                          </p:val>
                                        </p:tav>
                                        <p:tav tm="100000">
                                          <p:val>
                                            <p:strVal val="#ppt_y"/>
                                          </p:val>
                                        </p:tav>
                                      </p:tavLst>
                                    </p:anim>
                                  </p:childTnLst>
                                </p:cTn>
                              </p:par>
                              <p:par>
                                <p:cTn id="188" presetID="42" presetClass="entr" presetSubtype="0" fill="hold" grpId="0" nodeType="withEffect">
                                  <p:stCondLst>
                                    <p:cond delay="200"/>
                                  </p:stCondLst>
                                  <p:childTnLst>
                                    <p:set>
                                      <p:cBhvr>
                                        <p:cTn id="189" dur="1" fill="hold">
                                          <p:stCondLst>
                                            <p:cond delay="0"/>
                                          </p:stCondLst>
                                        </p:cTn>
                                        <p:tgtEl>
                                          <p:spTgt spid="139"/>
                                        </p:tgtEl>
                                        <p:attrNameLst>
                                          <p:attrName>style.visibility</p:attrName>
                                        </p:attrNameLst>
                                      </p:cBhvr>
                                      <p:to>
                                        <p:strVal val="visible"/>
                                      </p:to>
                                    </p:set>
                                    <p:animEffect transition="in" filter="fade">
                                      <p:cBhvr>
                                        <p:cTn id="190" dur="500"/>
                                        <p:tgtEl>
                                          <p:spTgt spid="139"/>
                                        </p:tgtEl>
                                      </p:cBhvr>
                                    </p:animEffect>
                                    <p:anim calcmode="lin" valueType="num">
                                      <p:cBhvr additive="base">
                                        <p:cTn id="191" dur="500" decel="100000" fill="hold"/>
                                        <p:tgtEl>
                                          <p:spTgt spid="139"/>
                                        </p:tgtEl>
                                        <p:attrNameLst>
                                          <p:attrName>ppt_y</p:attrName>
                                        </p:attrNameLst>
                                      </p:cBhvr>
                                      <p:tavLst>
                                        <p:tav tm="0">
                                          <p:val>
                                            <p:strVal val="#ppt_y+0.06"/>
                                          </p:val>
                                        </p:tav>
                                        <p:tav tm="100000">
                                          <p:val>
                                            <p:strVal val="#ppt_y"/>
                                          </p:val>
                                        </p:tav>
                                      </p:tavLst>
                                    </p:anim>
                                  </p:childTnLst>
                                </p:cTn>
                              </p:par>
                              <p:par>
                                <p:cTn id="192" presetID="42" presetClass="entr" presetSubtype="0" fill="hold" grpId="0" nodeType="withEffect">
                                  <p:stCondLst>
                                    <p:cond delay="200"/>
                                  </p:stCondLst>
                                  <p:childTnLst>
                                    <p:set>
                                      <p:cBhvr>
                                        <p:cTn id="193" dur="1" fill="hold">
                                          <p:stCondLst>
                                            <p:cond delay="0"/>
                                          </p:stCondLst>
                                        </p:cTn>
                                        <p:tgtEl>
                                          <p:spTgt spid="140"/>
                                        </p:tgtEl>
                                        <p:attrNameLst>
                                          <p:attrName>style.visibility</p:attrName>
                                        </p:attrNameLst>
                                      </p:cBhvr>
                                      <p:to>
                                        <p:strVal val="visible"/>
                                      </p:to>
                                    </p:set>
                                    <p:animEffect transition="in" filter="fade">
                                      <p:cBhvr>
                                        <p:cTn id="194" dur="500"/>
                                        <p:tgtEl>
                                          <p:spTgt spid="140"/>
                                        </p:tgtEl>
                                      </p:cBhvr>
                                    </p:animEffect>
                                    <p:anim calcmode="lin" valueType="num">
                                      <p:cBhvr additive="base">
                                        <p:cTn id="195" dur="500" decel="100000" fill="hold"/>
                                        <p:tgtEl>
                                          <p:spTgt spid="140"/>
                                        </p:tgtEl>
                                        <p:attrNameLst>
                                          <p:attrName>ppt_y</p:attrName>
                                        </p:attrNameLst>
                                      </p:cBhvr>
                                      <p:tavLst>
                                        <p:tav tm="0">
                                          <p:val>
                                            <p:strVal val="#ppt_y+0.06"/>
                                          </p:val>
                                        </p:tav>
                                        <p:tav tm="100000">
                                          <p:val>
                                            <p:strVal val="#ppt_y"/>
                                          </p:val>
                                        </p:tav>
                                      </p:tavLst>
                                    </p:anim>
                                  </p:childTnLst>
                                </p:cTn>
                              </p:par>
                              <p:par>
                                <p:cTn id="196" presetID="42" presetClass="entr" presetSubtype="0" fill="hold" grpId="0" nodeType="withEffect">
                                  <p:stCondLst>
                                    <p:cond delay="200"/>
                                  </p:stCondLst>
                                  <p:childTnLst>
                                    <p:set>
                                      <p:cBhvr>
                                        <p:cTn id="197" dur="1" fill="hold">
                                          <p:stCondLst>
                                            <p:cond delay="0"/>
                                          </p:stCondLst>
                                        </p:cTn>
                                        <p:tgtEl>
                                          <p:spTgt spid="141"/>
                                        </p:tgtEl>
                                        <p:attrNameLst>
                                          <p:attrName>style.visibility</p:attrName>
                                        </p:attrNameLst>
                                      </p:cBhvr>
                                      <p:to>
                                        <p:strVal val="visible"/>
                                      </p:to>
                                    </p:set>
                                    <p:animEffect transition="in" filter="fade">
                                      <p:cBhvr>
                                        <p:cTn id="198" dur="500"/>
                                        <p:tgtEl>
                                          <p:spTgt spid="141"/>
                                        </p:tgtEl>
                                      </p:cBhvr>
                                    </p:animEffect>
                                    <p:anim calcmode="lin" valueType="num">
                                      <p:cBhvr additive="base">
                                        <p:cTn id="199" dur="500" decel="100000" fill="hold"/>
                                        <p:tgtEl>
                                          <p:spTgt spid="141"/>
                                        </p:tgtEl>
                                        <p:attrNameLst>
                                          <p:attrName>ppt_y</p:attrName>
                                        </p:attrNameLst>
                                      </p:cBhvr>
                                      <p:tavLst>
                                        <p:tav tm="0">
                                          <p:val>
                                            <p:strVal val="#ppt_y+0.06"/>
                                          </p:val>
                                        </p:tav>
                                        <p:tav tm="100000">
                                          <p:val>
                                            <p:strVal val="#ppt_y"/>
                                          </p:val>
                                        </p:tav>
                                      </p:tavLst>
                                    </p:anim>
                                  </p:childTnLst>
                                </p:cTn>
                              </p:par>
                              <p:par>
                                <p:cTn id="200" presetID="42" presetClass="entr" presetSubtype="0" fill="hold" grpId="0" nodeType="withEffect">
                                  <p:stCondLst>
                                    <p:cond delay="400"/>
                                  </p:stCondLst>
                                  <p:childTnLst>
                                    <p:set>
                                      <p:cBhvr>
                                        <p:cTn id="201" dur="1" fill="hold">
                                          <p:stCondLst>
                                            <p:cond delay="0"/>
                                          </p:stCondLst>
                                        </p:cTn>
                                        <p:tgtEl>
                                          <p:spTgt spid="143"/>
                                        </p:tgtEl>
                                        <p:attrNameLst>
                                          <p:attrName>style.visibility</p:attrName>
                                        </p:attrNameLst>
                                      </p:cBhvr>
                                      <p:to>
                                        <p:strVal val="visible"/>
                                      </p:to>
                                    </p:set>
                                    <p:animEffect transition="in" filter="fade">
                                      <p:cBhvr>
                                        <p:cTn id="202" dur="500"/>
                                        <p:tgtEl>
                                          <p:spTgt spid="143"/>
                                        </p:tgtEl>
                                      </p:cBhvr>
                                    </p:animEffect>
                                    <p:anim calcmode="lin" valueType="num">
                                      <p:cBhvr additive="base">
                                        <p:cTn id="203" dur="500" decel="100000" fill="hold"/>
                                        <p:tgtEl>
                                          <p:spTgt spid="143"/>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P spid="146"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BOGUS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Problem: Hand-Typed Data Is Always “Mona”</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Typing 100 realistic customers by hand? Nobody does. So the tests only ever see one name, one phone.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139</a:t>
            </a:r>
            <a:endParaRPr lang="en-US" sz="850" dirty="0"/>
          </a:p>
        </p:txBody>
      </p:sp>
      <p:sp>
        <p:nvSpPr>
          <p:cNvPr id="101" name="s101"/>
          <p:cNvSpPr/>
          <p:nvPr/>
        </p:nvSpPr>
        <p:spPr>
          <a:xfrm>
            <a:off x="543154" y="1938528"/>
            <a:ext cx="4572000" cy="457200"/>
          </a:xfrm>
          <a:prstGeom prst="roundRect">
            <a:avLst>
              <a:gd name="adj" fmla="val 12000"/>
            </a:avLst>
          </a:prstGeom>
          <a:solidFill>
            <a:srgbClr val="060D18"/>
          </a:solidFill>
          <a:ln w="12700">
            <a:solidFill>
              <a:srgbClr val="34D399">
                <a:alpha val="7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150" b="0" dirty="0">
                <a:solidFill>
                  <a:srgbClr val="94A3B8"/>
                </a:solidFill>
                <a:latin typeface="Consolas"/>
                <a:ea typeface="Consolas"/>
                <a:cs typeface="Consolas"/>
              </a:rPr>
              <a:t>$ </a:t>
            </a:r>
            <a:r>
              <a:rPr lang="en-US" sz="1150" b="1" dirty="0">
                <a:solidFill>
                  <a:srgbClr val="34D399"/>
                </a:solidFill>
                <a:latin typeface="Consolas"/>
                <a:ea typeface="Consolas"/>
                <a:cs typeface="Consolas"/>
              </a:rPr>
              <a:t>dotnet add package Bogus</a:t>
            </a:r>
            <a:endParaRPr lang="en-US" sz="1150" dirty="0"/>
          </a:p>
        </p:txBody>
      </p:sp>
      <p:sp>
        <p:nvSpPr>
          <p:cNvPr id="102" name="s102"/>
          <p:cNvSpPr/>
          <p:nvPr/>
        </p:nvSpPr>
        <p:spPr>
          <a:xfrm>
            <a:off x="3743554" y="1783080"/>
            <a:ext cx="1280160" cy="274320"/>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900" b="1" dirty="0">
                <a:solidFill>
                  <a:srgbClr val="0F172A"/>
                </a:solidFill>
                <a:latin typeface="Segoe UI"/>
                <a:ea typeface="Segoe UI"/>
                <a:cs typeface="Segoe UI"/>
              </a:rPr>
              <a:t>INSTALL NOW</a:t>
            </a:r>
            <a:endParaRPr lang="en-US" sz="900" dirty="0"/>
          </a:p>
        </p:txBody>
      </p:sp>
      <p:sp>
        <p:nvSpPr>
          <p:cNvPr id="103" name="s103"/>
          <p:cNvSpPr txBox="1"/>
          <p:nvPr/>
        </p:nvSpPr>
        <p:spPr>
          <a:xfrm>
            <a:off x="543154" y="2441448"/>
            <a:ext cx="45720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34D399"/>
                </a:solidFill>
                <a:latin typeface="Segoe UI"/>
                <a:ea typeface="Segoe UI"/>
                <a:cs typeface="Segoe UI"/>
              </a:rPr>
              <a:t>Why now? </a:t>
            </a:r>
            <a:r>
              <a:rPr lang="en-US" sz="1100" b="0" dirty="0">
                <a:solidFill>
                  <a:srgbClr val="94A3B8"/>
                </a:solidFill>
                <a:latin typeface="Segoe UI"/>
                <a:ea typeface="Segoe UI"/>
                <a:cs typeface="Segoe UI"/>
              </a:rPr>
              <a:t>we need many realistic inputs.</a:t>
            </a:r>
            <a:endParaRPr lang="en-US" sz="1100" dirty="0"/>
          </a:p>
        </p:txBody>
      </p:sp>
      <p:sp>
        <p:nvSpPr>
          <p:cNvPr id="104" name="s104"/>
          <p:cNvSpPr/>
          <p:nvPr/>
        </p:nvSpPr>
        <p:spPr>
          <a:xfrm>
            <a:off x="5389474" y="1783080"/>
            <a:ext cx="6241694" cy="38404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5" name="s105"/>
          <p:cNvSpPr/>
          <p:nvPr/>
        </p:nvSpPr>
        <p:spPr>
          <a:xfrm>
            <a:off x="555406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6" name="s106"/>
          <p:cNvSpPr/>
          <p:nvPr/>
        </p:nvSpPr>
        <p:spPr>
          <a:xfrm>
            <a:off x="573694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7" name="s107"/>
          <p:cNvSpPr/>
          <p:nvPr/>
        </p:nvSpPr>
        <p:spPr>
          <a:xfrm>
            <a:off x="591982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8" name="s108"/>
          <p:cNvSpPr/>
          <p:nvPr/>
        </p:nvSpPr>
        <p:spPr>
          <a:xfrm>
            <a:off x="6166714" y="1856232"/>
            <a:ext cx="174650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CustomerDataTests.cs</a:t>
            </a:r>
            <a:endParaRPr lang="en-US" sz="950" dirty="0"/>
          </a:p>
        </p:txBody>
      </p:sp>
      <p:cxnSp>
        <p:nvCxnSpPr>
          <p:cNvPr id="109" name="ln109"/>
          <p:cNvCxnSpPr/>
          <p:nvPr/>
        </p:nvCxnSpPr>
        <p:spPr>
          <a:xfrm>
            <a:off x="5389474" y="2194560"/>
            <a:ext cx="6241694" cy="0"/>
          </a:xfrm>
          <a:prstGeom prst="line">
            <a:avLst/>
          </a:prstGeom>
          <a:ln w="9525">
            <a:solidFill>
              <a:srgbClr val="1E3A5F"/>
            </a:solidFill>
          </a:ln>
        </p:spPr>
      </p:cxnSp>
      <p:sp>
        <p:nvSpPr>
          <p:cNvPr id="110" name="s110"/>
          <p:cNvSpPr/>
          <p:nvPr/>
        </p:nvSpPr>
        <p:spPr>
          <a:xfrm>
            <a:off x="5389474" y="231343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60A5FA"/>
                </a:solidFill>
                <a:latin typeface="Consolas"/>
                <a:ea typeface="Consolas"/>
                <a:cs typeface="Consolas"/>
              </a:rPr>
              <a:t>private</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static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readonly</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Faker</a:t>
            </a:r>
            <a:r>
              <a:rPr lang="en-US" sz="1050" b="0" dirty="0">
                <a:solidFill>
                  <a:srgbClr val="E2E8F0"/>
                </a:solidFill>
                <a:latin typeface="Consolas"/>
                <a:ea typeface="Consolas"/>
                <a:cs typeface="Consolas"/>
              </a:rPr>
              <a:t>&lt;</a:t>
            </a:r>
            <a:r>
              <a:rPr lang="en-US" sz="1050" b="0" dirty="0">
                <a:solidFill>
                  <a:srgbClr val="7DD3FC"/>
                </a:solidFill>
                <a:latin typeface="Consolas"/>
                <a:ea typeface="Consolas"/>
                <a:cs typeface="Consolas"/>
              </a:rPr>
              <a:t>Customer</a:t>
            </a:r>
            <a:r>
              <a:rPr lang="en-US" sz="1050" b="0" dirty="0">
                <a:solidFill>
                  <a:srgbClr val="E2E8F0"/>
                </a:solidFill>
                <a:latin typeface="Consolas"/>
                <a:ea typeface="Consolas"/>
                <a:cs typeface="Consolas"/>
              </a:rPr>
              <a:t>&gt; </a:t>
            </a:r>
            <a:r>
              <a:rPr lang="en-US" sz="1050" b="0" dirty="0">
                <a:solidFill>
                  <a:srgbClr val="7DD3FC"/>
                </a:solidFill>
                <a:latin typeface="Consolas"/>
                <a:ea typeface="Consolas"/>
                <a:cs typeface="Consolas"/>
              </a:rPr>
              <a:t>Customers</a:t>
            </a:r>
            <a:r>
              <a:rPr lang="en-US" sz="1050" b="0" dirty="0">
                <a:solidFill>
                  <a:srgbClr val="E2E8F0"/>
                </a:solidFill>
                <a:latin typeface="Consolas"/>
                <a:ea typeface="Consolas"/>
                <a:cs typeface="Consolas"/>
              </a:rPr>
              <a:t> = </a:t>
            </a:r>
            <a:r>
              <a:rPr lang="en-US" sz="1050" b="0" dirty="0">
                <a:solidFill>
                  <a:srgbClr val="60A5FA"/>
                </a:solidFill>
                <a:latin typeface="Consolas"/>
                <a:ea typeface="Consolas"/>
                <a:cs typeface="Consolas"/>
              </a:rPr>
              <a:t>new</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Faker</a:t>
            </a:r>
            <a:r>
              <a:rPr lang="en-US" sz="1050" b="0" dirty="0">
                <a:solidFill>
                  <a:srgbClr val="E2E8F0"/>
                </a:solidFill>
                <a:latin typeface="Consolas"/>
                <a:ea typeface="Consolas"/>
                <a:cs typeface="Consolas"/>
              </a:rPr>
              <a:t>&lt;</a:t>
            </a:r>
            <a:r>
              <a:rPr lang="en-US" sz="1050" b="0" dirty="0">
                <a:solidFill>
                  <a:srgbClr val="7DD3FC"/>
                </a:solidFill>
                <a:latin typeface="Consolas"/>
                <a:ea typeface="Consolas"/>
                <a:cs typeface="Consolas"/>
              </a:rPr>
              <a:t>Customer</a:t>
            </a:r>
            <a:r>
              <a:rPr lang="en-US" sz="1050" b="0" dirty="0">
                <a:solidFill>
                  <a:srgbClr val="E2E8F0"/>
                </a:solidFill>
                <a:latin typeface="Consolas"/>
                <a:ea typeface="Consolas"/>
                <a:cs typeface="Consolas"/>
              </a:rPr>
              <a:t>&gt;()</a:t>
            </a:r>
            <a:endParaRPr lang="en-US" sz="1050" dirty="0"/>
          </a:p>
        </p:txBody>
      </p:sp>
      <p:sp>
        <p:nvSpPr>
          <p:cNvPr id="111" name="s111"/>
          <p:cNvSpPr/>
          <p:nvPr/>
        </p:nvSpPr>
        <p:spPr>
          <a:xfrm>
            <a:off x="5389474" y="247345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UseSeed</a:t>
            </a:r>
            <a:r>
              <a:rPr lang="en-US" sz="1050" b="0" dirty="0">
                <a:solidFill>
                  <a:srgbClr val="E2E8F0"/>
                </a:solidFill>
                <a:latin typeface="Consolas"/>
                <a:ea typeface="Consolas"/>
                <a:cs typeface="Consolas"/>
              </a:rPr>
              <a:t>(</a:t>
            </a:r>
            <a:r>
              <a:rPr lang="en-US" sz="1050" b="0" dirty="0">
                <a:solidFill>
                  <a:srgbClr val="C4B5FD"/>
                </a:solidFill>
                <a:latin typeface="Consolas"/>
                <a:ea typeface="Consolas"/>
                <a:cs typeface="Consolas"/>
              </a:rPr>
              <a:t>2026</a:t>
            </a:r>
            <a:r>
              <a:rPr lang="en-US" sz="1050" b="0" dirty="0">
                <a:solidFill>
                  <a:srgbClr val="E2E8F0"/>
                </a:solidFill>
                <a:latin typeface="Consolas"/>
                <a:ea typeface="Consolas"/>
                <a:cs typeface="Consolas"/>
              </a:rPr>
              <a:t>)                                    </a:t>
            </a:r>
            <a:r>
              <a:rPr lang="en-US" sz="1050" b="0" dirty="0">
                <a:solidFill>
                  <a:srgbClr val="6FAE7A"/>
                </a:solidFill>
                <a:latin typeface="Consolas"/>
                <a:ea typeface="Consolas"/>
                <a:cs typeface="Consolas"/>
              </a:rPr>
              <a:t>// same data every run</a:t>
            </a:r>
            <a:endParaRPr lang="en-US" sz="1050" dirty="0"/>
          </a:p>
        </p:txBody>
      </p:sp>
      <p:sp>
        <p:nvSpPr>
          <p:cNvPr id="112" name="s112"/>
          <p:cNvSpPr/>
          <p:nvPr/>
        </p:nvSpPr>
        <p:spPr>
          <a:xfrm>
            <a:off x="5389474" y="263347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RuleFor</a:t>
            </a:r>
            <a:r>
              <a:rPr lang="en-US" sz="1050" b="0" dirty="0">
                <a:solidFill>
                  <a:srgbClr val="E2E8F0"/>
                </a:solidFill>
                <a:latin typeface="Consolas"/>
                <a:ea typeface="Consolas"/>
                <a:cs typeface="Consolas"/>
              </a:rPr>
              <a:t>(c =&gt; c.</a:t>
            </a:r>
            <a:r>
              <a:rPr lang="en-US" sz="1050" b="0" dirty="0">
                <a:solidFill>
                  <a:srgbClr val="7DD3FC"/>
                </a:solidFill>
                <a:latin typeface="Consolas"/>
                <a:ea typeface="Consolas"/>
                <a:cs typeface="Consolas"/>
              </a:rPr>
              <a:t>Name</a:t>
            </a:r>
            <a:r>
              <a:rPr lang="en-US" sz="1050" b="0" dirty="0">
                <a:solidFill>
                  <a:srgbClr val="E2E8F0"/>
                </a:solidFill>
                <a:latin typeface="Consolas"/>
                <a:ea typeface="Consolas"/>
                <a:cs typeface="Consolas"/>
              </a:rPr>
              <a:t>,  f =&gt; f.</a:t>
            </a:r>
            <a:r>
              <a:rPr lang="en-US" sz="1050" b="0" dirty="0">
                <a:solidFill>
                  <a:srgbClr val="7DD3FC"/>
                </a:solidFill>
                <a:latin typeface="Consolas"/>
                <a:ea typeface="Consolas"/>
                <a:cs typeface="Consolas"/>
              </a:rPr>
              <a:t>Name</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FullName</a:t>
            </a:r>
            <a:r>
              <a:rPr lang="en-US" sz="1050" b="0" dirty="0">
                <a:solidFill>
                  <a:srgbClr val="E2E8F0"/>
                </a:solidFill>
                <a:latin typeface="Consolas"/>
                <a:ea typeface="Consolas"/>
                <a:cs typeface="Consolas"/>
              </a:rPr>
              <a:t>())</a:t>
            </a:r>
            <a:endParaRPr lang="en-US" sz="1050" dirty="0"/>
          </a:p>
        </p:txBody>
      </p:sp>
      <p:sp>
        <p:nvSpPr>
          <p:cNvPr id="113" name="s113"/>
          <p:cNvSpPr/>
          <p:nvPr/>
        </p:nvSpPr>
        <p:spPr>
          <a:xfrm>
            <a:off x="5389474" y="279349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RuleFor</a:t>
            </a:r>
            <a:r>
              <a:rPr lang="en-US" sz="1050" b="0" dirty="0">
                <a:solidFill>
                  <a:srgbClr val="E2E8F0"/>
                </a:solidFill>
                <a:latin typeface="Consolas"/>
                <a:ea typeface="Consolas"/>
                <a:cs typeface="Consolas"/>
              </a:rPr>
              <a:t>(c =&gt; c.</a:t>
            </a:r>
            <a:r>
              <a:rPr lang="en-US" sz="1050" b="0" dirty="0">
                <a:solidFill>
                  <a:srgbClr val="7DD3FC"/>
                </a:solidFill>
                <a:latin typeface="Consolas"/>
                <a:ea typeface="Consolas"/>
                <a:cs typeface="Consolas"/>
              </a:rPr>
              <a:t>Email</a:t>
            </a:r>
            <a:r>
              <a:rPr lang="en-US" sz="1050" b="0" dirty="0">
                <a:solidFill>
                  <a:srgbClr val="E2E8F0"/>
                </a:solidFill>
                <a:latin typeface="Consolas"/>
                <a:ea typeface="Consolas"/>
                <a:cs typeface="Consolas"/>
              </a:rPr>
              <a:t>, f =&gt; f.</a:t>
            </a:r>
            <a:r>
              <a:rPr lang="en-US" sz="1050" b="0" dirty="0">
                <a:solidFill>
                  <a:srgbClr val="7DD3FC"/>
                </a:solidFill>
                <a:latin typeface="Consolas"/>
                <a:ea typeface="Consolas"/>
                <a:cs typeface="Consolas"/>
              </a:rPr>
              <a:t>Internet</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Email</a:t>
            </a:r>
            <a:r>
              <a:rPr lang="en-US" sz="1050" b="0" dirty="0">
                <a:solidFill>
                  <a:srgbClr val="E2E8F0"/>
                </a:solidFill>
                <a:latin typeface="Consolas"/>
                <a:ea typeface="Consolas"/>
                <a:cs typeface="Consolas"/>
              </a:rPr>
              <a:t>())</a:t>
            </a:r>
            <a:endParaRPr lang="en-US" sz="1050" dirty="0"/>
          </a:p>
        </p:txBody>
      </p:sp>
      <p:sp>
        <p:nvSpPr>
          <p:cNvPr id="114" name="s114"/>
          <p:cNvSpPr/>
          <p:nvPr/>
        </p:nvSpPr>
        <p:spPr>
          <a:xfrm>
            <a:off x="5389474" y="295351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RuleFor</a:t>
            </a:r>
            <a:r>
              <a:rPr lang="en-US" sz="1050" b="0" dirty="0">
                <a:solidFill>
                  <a:srgbClr val="E2E8F0"/>
                </a:solidFill>
                <a:latin typeface="Consolas"/>
                <a:ea typeface="Consolas"/>
                <a:cs typeface="Consolas"/>
              </a:rPr>
              <a:t>(c =&gt; c.</a:t>
            </a:r>
            <a:r>
              <a:rPr lang="en-US" sz="1050" b="0" dirty="0">
                <a:solidFill>
                  <a:srgbClr val="7DD3FC"/>
                </a:solidFill>
                <a:latin typeface="Consolas"/>
                <a:ea typeface="Consolas"/>
                <a:cs typeface="Consolas"/>
              </a:rPr>
              <a:t>Phone</a:t>
            </a:r>
            <a:r>
              <a:rPr lang="en-US" sz="1050" b="0" dirty="0">
                <a:solidFill>
                  <a:srgbClr val="E2E8F0"/>
                </a:solidFill>
                <a:latin typeface="Consolas"/>
                <a:ea typeface="Consolas"/>
                <a:cs typeface="Consolas"/>
              </a:rPr>
              <a:t>, f =&gt; f.</a:t>
            </a:r>
            <a:r>
              <a:rPr lang="en-US" sz="1050" b="0" dirty="0">
                <a:solidFill>
                  <a:srgbClr val="7DD3FC"/>
                </a:solidFill>
                <a:latin typeface="Consolas"/>
                <a:ea typeface="Consolas"/>
                <a:cs typeface="Consolas"/>
              </a:rPr>
              <a:t>Phone</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PhoneNumber</a:t>
            </a:r>
            <a:r>
              <a:rPr lang="en-US" sz="1050" b="0" dirty="0">
                <a:solidFill>
                  <a:srgbClr val="E2E8F0"/>
                </a:solidFill>
                <a:latin typeface="Consolas"/>
                <a:ea typeface="Consolas"/>
                <a:cs typeface="Consolas"/>
              </a:rPr>
              <a:t>(</a:t>
            </a:r>
            <a:r>
              <a:rPr lang="en-US" sz="1050" b="0" dirty="0">
                <a:solidFill>
                  <a:srgbClr val="F0A98B"/>
                </a:solidFill>
                <a:latin typeface="Consolas"/>
                <a:ea typeface="Consolas"/>
                <a:cs typeface="Consolas"/>
              </a:rPr>
              <a:t>"010########"</a:t>
            </a:r>
            <a:r>
              <a:rPr lang="en-US" sz="1050" b="0" dirty="0">
                <a:solidFill>
                  <a:srgbClr val="E2E8F0"/>
                </a:solidFill>
                <a:latin typeface="Consolas"/>
                <a:ea typeface="Consolas"/>
                <a:cs typeface="Consolas"/>
              </a:rPr>
              <a:t>))</a:t>
            </a:r>
            <a:endParaRPr lang="en-US" sz="1050" dirty="0"/>
          </a:p>
        </p:txBody>
      </p:sp>
      <p:sp>
        <p:nvSpPr>
          <p:cNvPr id="115" name="s115"/>
          <p:cNvSpPr/>
          <p:nvPr/>
        </p:nvSpPr>
        <p:spPr>
          <a:xfrm>
            <a:off x="5389474" y="311353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RuleFor</a:t>
            </a:r>
            <a:r>
              <a:rPr lang="en-US" sz="1050" b="0" dirty="0">
                <a:solidFill>
                  <a:srgbClr val="E2E8F0"/>
                </a:solidFill>
                <a:latin typeface="Consolas"/>
                <a:ea typeface="Consolas"/>
                <a:cs typeface="Consolas"/>
              </a:rPr>
              <a:t>(c =&gt; c.</a:t>
            </a:r>
            <a:r>
              <a:rPr lang="en-US" sz="1050" b="0" dirty="0">
                <a:solidFill>
                  <a:srgbClr val="7DD3FC"/>
                </a:solidFill>
                <a:latin typeface="Consolas"/>
                <a:ea typeface="Consolas"/>
                <a:cs typeface="Consolas"/>
              </a:rPr>
              <a:t>Age</a:t>
            </a:r>
            <a:r>
              <a:rPr lang="en-US" sz="1050" b="0" dirty="0">
                <a:solidFill>
                  <a:srgbClr val="E2E8F0"/>
                </a:solidFill>
                <a:latin typeface="Consolas"/>
                <a:ea typeface="Consolas"/>
                <a:cs typeface="Consolas"/>
              </a:rPr>
              <a:t>,   f =&gt; f.</a:t>
            </a:r>
            <a:r>
              <a:rPr lang="en-US" sz="1050" b="0" dirty="0">
                <a:solidFill>
                  <a:srgbClr val="7DD3FC"/>
                </a:solidFill>
                <a:latin typeface="Consolas"/>
                <a:ea typeface="Consolas"/>
                <a:cs typeface="Consolas"/>
              </a:rPr>
              <a:t>Random</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Int</a:t>
            </a:r>
            <a:r>
              <a:rPr lang="en-US" sz="1050" b="0" dirty="0">
                <a:solidFill>
                  <a:srgbClr val="E2E8F0"/>
                </a:solidFill>
                <a:latin typeface="Consolas"/>
                <a:ea typeface="Consolas"/>
                <a:cs typeface="Consolas"/>
              </a:rPr>
              <a:t>(</a:t>
            </a:r>
            <a:r>
              <a:rPr lang="en-US" sz="1050" b="0" dirty="0">
                <a:solidFill>
                  <a:srgbClr val="C4B5FD"/>
                </a:solidFill>
                <a:latin typeface="Consolas"/>
                <a:ea typeface="Consolas"/>
                <a:cs typeface="Consolas"/>
              </a:rPr>
              <a:t>1</a:t>
            </a:r>
            <a:r>
              <a:rPr lang="en-US" sz="1050" b="0" dirty="0">
                <a:solidFill>
                  <a:srgbClr val="E2E8F0"/>
                </a:solidFill>
                <a:latin typeface="Consolas"/>
                <a:ea typeface="Consolas"/>
                <a:cs typeface="Consolas"/>
              </a:rPr>
              <a:t>, </a:t>
            </a:r>
            <a:r>
              <a:rPr lang="en-US" sz="1050" b="0" dirty="0">
                <a:solidFill>
                  <a:srgbClr val="C4B5FD"/>
                </a:solidFill>
                <a:latin typeface="Consolas"/>
                <a:ea typeface="Consolas"/>
                <a:cs typeface="Consolas"/>
              </a:rPr>
              <a:t>90</a:t>
            </a:r>
            <a:r>
              <a:rPr lang="en-US" sz="1050" b="0" dirty="0">
                <a:solidFill>
                  <a:srgbClr val="E2E8F0"/>
                </a:solidFill>
                <a:latin typeface="Consolas"/>
                <a:ea typeface="Consolas"/>
                <a:cs typeface="Consolas"/>
              </a:rPr>
              <a:t>));</a:t>
            </a:r>
            <a:endParaRPr lang="en-US" sz="1050" dirty="0"/>
          </a:p>
        </p:txBody>
      </p:sp>
      <p:sp>
        <p:nvSpPr>
          <p:cNvPr id="116" name="s116"/>
          <p:cNvSpPr/>
          <p:nvPr/>
        </p:nvSpPr>
        <p:spPr>
          <a:xfrm>
            <a:off x="5389474" y="343357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FBBF24"/>
                </a:solidFill>
                <a:latin typeface="Consolas"/>
                <a:ea typeface="Consolas"/>
                <a:cs typeface="Consolas"/>
              </a:rPr>
              <a:t>[Fact]</a:t>
            </a:r>
            <a:endParaRPr lang="en-US" sz="1050" dirty="0"/>
          </a:p>
        </p:txBody>
      </p:sp>
      <p:sp>
        <p:nvSpPr>
          <p:cNvPr id="117" name="s117"/>
          <p:cNvSpPr/>
          <p:nvPr/>
        </p:nvSpPr>
        <p:spPr>
          <a:xfrm>
            <a:off x="5389474" y="359359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60A5FA"/>
                </a:solidFill>
                <a:latin typeface="Consolas"/>
                <a:ea typeface="Consolas"/>
                <a:cs typeface="Consolas"/>
              </a:rPr>
              <a:t>public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void</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GeneratedCustomers_HaveValidEmails</a:t>
            </a:r>
            <a:r>
              <a:rPr lang="en-US" sz="1050" b="0" dirty="0">
                <a:solidFill>
                  <a:srgbClr val="E2E8F0"/>
                </a:solidFill>
                <a:latin typeface="Consolas"/>
                <a:ea typeface="Consolas"/>
                <a:cs typeface="Consolas"/>
              </a:rPr>
              <a:t>()</a:t>
            </a:r>
            <a:endParaRPr lang="en-US" sz="1050" dirty="0"/>
          </a:p>
        </p:txBody>
      </p:sp>
      <p:sp>
        <p:nvSpPr>
          <p:cNvPr id="118" name="s118"/>
          <p:cNvSpPr/>
          <p:nvPr/>
        </p:nvSpPr>
        <p:spPr>
          <a:xfrm>
            <a:off x="5389474" y="375361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19" name="s119"/>
          <p:cNvSpPr/>
          <p:nvPr/>
        </p:nvSpPr>
        <p:spPr>
          <a:xfrm>
            <a:off x="5389474" y="391363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List</a:t>
            </a:r>
            <a:r>
              <a:rPr lang="en-US" sz="1050" b="0" dirty="0">
                <a:solidFill>
                  <a:srgbClr val="E2E8F0"/>
                </a:solidFill>
                <a:latin typeface="Consolas"/>
                <a:ea typeface="Consolas"/>
                <a:cs typeface="Consolas"/>
              </a:rPr>
              <a:t>&lt;</a:t>
            </a:r>
            <a:r>
              <a:rPr lang="en-US" sz="1050" b="0" dirty="0">
                <a:solidFill>
                  <a:srgbClr val="7DD3FC"/>
                </a:solidFill>
                <a:latin typeface="Consolas"/>
                <a:ea typeface="Consolas"/>
                <a:cs typeface="Consolas"/>
              </a:rPr>
              <a:t>Customer</a:t>
            </a:r>
            <a:r>
              <a:rPr lang="en-US" sz="1050" b="0" dirty="0">
                <a:solidFill>
                  <a:srgbClr val="E2E8F0"/>
                </a:solidFill>
                <a:latin typeface="Consolas"/>
                <a:ea typeface="Consolas"/>
                <a:cs typeface="Consolas"/>
              </a:rPr>
              <a:t>&gt; customers = </a:t>
            </a:r>
            <a:r>
              <a:rPr lang="en-US" sz="1050" b="0" dirty="0">
                <a:solidFill>
                  <a:srgbClr val="7DD3FC"/>
                </a:solidFill>
                <a:latin typeface="Consolas"/>
                <a:ea typeface="Consolas"/>
                <a:cs typeface="Consolas"/>
              </a:rPr>
              <a:t>Customers</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Generate</a:t>
            </a:r>
            <a:r>
              <a:rPr lang="en-US" sz="1050" b="0" dirty="0">
                <a:solidFill>
                  <a:srgbClr val="E2E8F0"/>
                </a:solidFill>
                <a:latin typeface="Consolas"/>
                <a:ea typeface="Consolas"/>
                <a:cs typeface="Consolas"/>
              </a:rPr>
              <a:t>(</a:t>
            </a:r>
            <a:r>
              <a:rPr lang="en-US" sz="1050" b="0" dirty="0">
                <a:solidFill>
                  <a:srgbClr val="C4B5FD"/>
                </a:solidFill>
                <a:latin typeface="Consolas"/>
                <a:ea typeface="Consolas"/>
                <a:cs typeface="Consolas"/>
              </a:rPr>
              <a:t>100</a:t>
            </a:r>
            <a:r>
              <a:rPr lang="en-US" sz="1050" b="0" dirty="0">
                <a:solidFill>
                  <a:srgbClr val="E2E8F0"/>
                </a:solidFill>
                <a:latin typeface="Consolas"/>
                <a:ea typeface="Consolas"/>
                <a:cs typeface="Consolas"/>
              </a:rPr>
              <a:t>);</a:t>
            </a:r>
            <a:endParaRPr lang="en-US" sz="1050" dirty="0"/>
          </a:p>
        </p:txBody>
      </p:sp>
      <p:sp>
        <p:nvSpPr>
          <p:cNvPr id="120" name="s120"/>
          <p:cNvSpPr/>
          <p:nvPr/>
        </p:nvSpPr>
        <p:spPr>
          <a:xfrm>
            <a:off x="5389474" y="407365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customers.</a:t>
            </a:r>
            <a:r>
              <a:rPr lang="en-US" sz="1050" b="0" dirty="0">
                <a:solidFill>
                  <a:srgbClr val="7DD3FC"/>
                </a:solidFill>
                <a:latin typeface="Consolas"/>
                <a:ea typeface="Consolas"/>
                <a:cs typeface="Consolas"/>
              </a:rPr>
              <a:t>ShouldAllBe</a:t>
            </a:r>
            <a:r>
              <a:rPr lang="en-US" sz="1050" b="0" dirty="0">
                <a:solidFill>
                  <a:srgbClr val="E2E8F0"/>
                </a:solidFill>
                <a:latin typeface="Consolas"/>
                <a:ea typeface="Consolas"/>
                <a:cs typeface="Consolas"/>
              </a:rPr>
              <a:t>(c =&gt; </a:t>
            </a:r>
            <a:r>
              <a:rPr lang="en-US" sz="1050" b="0" dirty="0">
                <a:solidFill>
                  <a:srgbClr val="7DD3FC"/>
                </a:solidFill>
                <a:latin typeface="Consolas"/>
                <a:ea typeface="Consolas"/>
                <a:cs typeface="Consolas"/>
              </a:rPr>
              <a:t>EmailValidator</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IsValid</a:t>
            </a:r>
            <a:r>
              <a:rPr lang="en-US" sz="1050" b="0" dirty="0">
                <a:solidFill>
                  <a:srgbClr val="E2E8F0"/>
                </a:solidFill>
                <a:latin typeface="Consolas"/>
                <a:ea typeface="Consolas"/>
                <a:cs typeface="Consolas"/>
              </a:rPr>
              <a:t>(c.</a:t>
            </a:r>
            <a:r>
              <a:rPr lang="en-US" sz="1050" b="0" dirty="0">
                <a:solidFill>
                  <a:srgbClr val="7DD3FC"/>
                </a:solidFill>
                <a:latin typeface="Consolas"/>
                <a:ea typeface="Consolas"/>
                <a:cs typeface="Consolas"/>
              </a:rPr>
              <a:t>Email</a:t>
            </a:r>
            <a:r>
              <a:rPr lang="en-US" sz="1050" b="0" dirty="0">
                <a:solidFill>
                  <a:srgbClr val="E2E8F0"/>
                </a:solidFill>
                <a:latin typeface="Consolas"/>
                <a:ea typeface="Consolas"/>
                <a:cs typeface="Consolas"/>
              </a:rPr>
              <a:t>));</a:t>
            </a:r>
            <a:endParaRPr lang="en-US" sz="1050" dirty="0"/>
          </a:p>
        </p:txBody>
      </p:sp>
      <p:sp>
        <p:nvSpPr>
          <p:cNvPr id="121" name="s121"/>
          <p:cNvSpPr/>
          <p:nvPr/>
        </p:nvSpPr>
        <p:spPr>
          <a:xfrm>
            <a:off x="5389474" y="423367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22" name="s122"/>
          <p:cNvSpPr/>
          <p:nvPr/>
        </p:nvSpPr>
        <p:spPr>
          <a:xfrm>
            <a:off x="5389474" y="455371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FBBF24"/>
                </a:solidFill>
                <a:latin typeface="Consolas"/>
                <a:ea typeface="Consolas"/>
                <a:cs typeface="Consolas"/>
              </a:rPr>
              <a:t>[Fact]</a:t>
            </a:r>
            <a:endParaRPr lang="en-US" sz="1050" dirty="0"/>
          </a:p>
        </p:txBody>
      </p:sp>
      <p:sp>
        <p:nvSpPr>
          <p:cNvPr id="123" name="s123"/>
          <p:cNvSpPr/>
          <p:nvPr/>
        </p:nvSpPr>
        <p:spPr>
          <a:xfrm>
            <a:off x="5389474" y="471373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60A5FA"/>
                </a:solidFill>
                <a:latin typeface="Consolas"/>
                <a:ea typeface="Consolas"/>
                <a:cs typeface="Consolas"/>
              </a:rPr>
              <a:t>public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void</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EveryAge_GetsATicketPrice</a:t>
            </a:r>
            <a:r>
              <a:rPr lang="en-US" sz="1050" b="0" dirty="0">
                <a:solidFill>
                  <a:srgbClr val="E2E8F0"/>
                </a:solidFill>
                <a:latin typeface="Consolas"/>
                <a:ea typeface="Consolas"/>
                <a:cs typeface="Consolas"/>
              </a:rPr>
              <a:t>()</a:t>
            </a:r>
            <a:endParaRPr lang="en-US" sz="1050" dirty="0"/>
          </a:p>
        </p:txBody>
      </p:sp>
      <p:sp>
        <p:nvSpPr>
          <p:cNvPr id="124" name="s124"/>
          <p:cNvSpPr/>
          <p:nvPr/>
        </p:nvSpPr>
        <p:spPr>
          <a:xfrm>
            <a:off x="5389474" y="487375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25" name="s125"/>
          <p:cNvSpPr/>
          <p:nvPr/>
        </p:nvSpPr>
        <p:spPr>
          <a:xfrm>
            <a:off x="5389474" y="503377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foreach</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Customer</a:t>
            </a:r>
            <a:r>
              <a:rPr lang="en-US" sz="1050" b="0" dirty="0">
                <a:solidFill>
                  <a:srgbClr val="E2E8F0"/>
                </a:solidFill>
                <a:latin typeface="Consolas"/>
                <a:ea typeface="Consolas"/>
                <a:cs typeface="Consolas"/>
              </a:rPr>
              <a:t> c </a:t>
            </a:r>
            <a:r>
              <a:rPr lang="en-US" sz="1050" b="0" dirty="0">
                <a:solidFill>
                  <a:srgbClr val="60A5FA"/>
                </a:solidFill>
                <a:latin typeface="Consolas"/>
                <a:ea typeface="Consolas"/>
                <a:cs typeface="Consolas"/>
              </a:rPr>
              <a:t>in</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Customers</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Generate</a:t>
            </a:r>
            <a:r>
              <a:rPr lang="en-US" sz="1050" b="0" dirty="0">
                <a:solidFill>
                  <a:srgbClr val="E2E8F0"/>
                </a:solidFill>
                <a:latin typeface="Consolas"/>
                <a:ea typeface="Consolas"/>
                <a:cs typeface="Consolas"/>
              </a:rPr>
              <a:t>(</a:t>
            </a:r>
            <a:r>
              <a:rPr lang="en-US" sz="1050" b="0" dirty="0">
                <a:solidFill>
                  <a:srgbClr val="C4B5FD"/>
                </a:solidFill>
                <a:latin typeface="Consolas"/>
                <a:ea typeface="Consolas"/>
                <a:cs typeface="Consolas"/>
              </a:rPr>
              <a:t>100</a:t>
            </a:r>
            <a:r>
              <a:rPr lang="en-US" sz="1050" b="0" dirty="0">
                <a:solidFill>
                  <a:srgbClr val="E2E8F0"/>
                </a:solidFill>
                <a:latin typeface="Consolas"/>
                <a:ea typeface="Consolas"/>
                <a:cs typeface="Consolas"/>
              </a:rPr>
              <a:t>))</a:t>
            </a:r>
            <a:endParaRPr lang="en-US" sz="1050" dirty="0"/>
          </a:p>
        </p:txBody>
      </p:sp>
      <p:sp>
        <p:nvSpPr>
          <p:cNvPr id="126" name="s126"/>
          <p:cNvSpPr/>
          <p:nvPr/>
        </p:nvSpPr>
        <p:spPr>
          <a:xfrm>
            <a:off x="5389474" y="519379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TicketPricer</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PriceFor</a:t>
            </a:r>
            <a:r>
              <a:rPr lang="en-US" sz="1050" b="0" dirty="0">
                <a:solidFill>
                  <a:srgbClr val="E2E8F0"/>
                </a:solidFill>
                <a:latin typeface="Consolas"/>
                <a:ea typeface="Consolas"/>
                <a:cs typeface="Consolas"/>
              </a:rPr>
              <a:t>(c.</a:t>
            </a:r>
            <a:r>
              <a:rPr lang="en-US" sz="1050" b="0" dirty="0">
                <a:solidFill>
                  <a:srgbClr val="7DD3FC"/>
                </a:solidFill>
                <a:latin typeface="Consolas"/>
                <a:ea typeface="Consolas"/>
                <a:cs typeface="Consolas"/>
              </a:rPr>
              <a:t>Age</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ShouldBeGreaterThan</a:t>
            </a:r>
            <a:r>
              <a:rPr lang="en-US" sz="1050" b="0" dirty="0">
                <a:solidFill>
                  <a:srgbClr val="E2E8F0"/>
                </a:solidFill>
                <a:latin typeface="Consolas"/>
                <a:ea typeface="Consolas"/>
                <a:cs typeface="Consolas"/>
              </a:rPr>
              <a:t>(</a:t>
            </a:r>
            <a:r>
              <a:rPr lang="en-US" sz="1050" b="0" dirty="0">
                <a:solidFill>
                  <a:srgbClr val="C4B5FD"/>
                </a:solidFill>
                <a:latin typeface="Consolas"/>
                <a:ea typeface="Consolas"/>
                <a:cs typeface="Consolas"/>
              </a:rPr>
              <a:t>0m</a:t>
            </a:r>
            <a:r>
              <a:rPr lang="en-US" sz="1050" b="0" dirty="0">
                <a:solidFill>
                  <a:srgbClr val="E2E8F0"/>
                </a:solidFill>
                <a:latin typeface="Consolas"/>
                <a:ea typeface="Consolas"/>
                <a:cs typeface="Consolas"/>
              </a:rPr>
              <a:t>);</a:t>
            </a:r>
            <a:endParaRPr lang="en-US" sz="1050" dirty="0"/>
          </a:p>
        </p:txBody>
      </p:sp>
      <p:sp>
        <p:nvSpPr>
          <p:cNvPr id="127" name="s127"/>
          <p:cNvSpPr/>
          <p:nvPr/>
        </p:nvSpPr>
        <p:spPr>
          <a:xfrm>
            <a:off x="5389474" y="5353812"/>
            <a:ext cx="624169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28" name="s128"/>
          <p:cNvSpPr/>
          <p:nvPr/>
        </p:nvSpPr>
        <p:spPr>
          <a:xfrm>
            <a:off x="543154" y="2788920"/>
            <a:ext cx="4572000" cy="868680"/>
          </a:xfrm>
          <a:prstGeom prst="roundRect">
            <a:avLst>
              <a:gd name="adj" fmla="val 10000"/>
            </a:avLst>
          </a:prstGeom>
          <a:solidFill>
            <a:srgbClr val="A78BFA">
              <a:alpha val="8000"/>
            </a:srgbClr>
          </a:solidFill>
          <a:ln w="12700">
            <a:solidFill>
              <a:srgbClr val="A78BFA"/>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A78BFA"/>
                </a:solidFill>
                <a:latin typeface="Segoe UI"/>
                <a:ea typeface="Segoe UI"/>
                <a:cs typeface="Segoe UI"/>
              </a:rPr>
              <a:t>REALISTIC VALUES</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f.Name · f.Internet · f.Phone · f.Random</a:t>
            </a:r>
            <a:endParaRPr lang="en-US" sz="1200" dirty="0"/>
          </a:p>
        </p:txBody>
      </p:sp>
      <p:sp>
        <p:nvSpPr>
          <p:cNvPr id="129" name="s129"/>
          <p:cNvSpPr/>
          <p:nvPr/>
        </p:nvSpPr>
        <p:spPr>
          <a:xfrm>
            <a:off x="543154" y="3749040"/>
            <a:ext cx="4572000" cy="868680"/>
          </a:xfrm>
          <a:prstGeom prst="roundRect">
            <a:avLst>
              <a:gd name="adj" fmla="val 10000"/>
            </a:avLst>
          </a:prstGeom>
          <a:solidFill>
            <a:srgbClr val="FBBF24">
              <a:alpha val="8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BBF24"/>
                </a:solidFill>
                <a:latin typeface="Segoe UI"/>
                <a:ea typeface="Segoe UI"/>
                <a:cs typeface="Segoe UI"/>
              </a:rPr>
              <a:t>ALWAYS SEED IT</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Same data every run: a failure can be reproduced.</a:t>
            </a:r>
            <a:endParaRPr lang="en-US" sz="1200" dirty="0"/>
          </a:p>
        </p:txBody>
      </p:sp>
      <p:sp>
        <p:nvSpPr>
          <p:cNvPr id="130" name="s130"/>
          <p:cNvSpPr/>
          <p:nvPr/>
        </p:nvSpPr>
        <p:spPr>
          <a:xfrm>
            <a:off x="543154" y="4709160"/>
            <a:ext cx="4572000" cy="91440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ONE TEST, 100 INPUTS</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ShouldAllBe checks every generated customer.</a:t>
            </a:r>
            <a:endParaRPr lang="en-US" sz="1200" dirty="0"/>
          </a:p>
        </p:txBody>
      </p:sp>
      <p:sp>
        <p:nvSpPr>
          <p:cNvPr id="131" name="s131"/>
          <p:cNvSpPr/>
          <p:nvPr/>
        </p:nvSpPr>
        <p:spPr>
          <a:xfrm>
            <a:off x="5499202" y="2446020"/>
            <a:ext cx="6022238" cy="21488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
        <p:nvSpPr>
          <p:cNvPr id="132" name="s132"/>
          <p:cNvSpPr/>
          <p:nvPr/>
        </p:nvSpPr>
        <p:spPr>
          <a:xfrm>
            <a:off x="5499202" y="3886200"/>
            <a:ext cx="6022238" cy="37490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3" dur="500" decel="100000" fill="hold"/>
                                        <p:tgtEl>
                                          <p:spTgt spid="102"/>
                                        </p:tgtEl>
                                        <p:attrNameLst>
                                          <p:attrName>ppt_h</p:attrName>
                                        </p:attrNameLst>
                                      </p:cBhvr>
                                      <p:tavLst>
                                        <p:tav tm="0">
                                          <p:val>
                                            <p:strVal val="#ppt_h*0.55"/>
                                          </p:val>
                                        </p:tav>
                                        <p:tav tm="100000">
                                          <p:val>
                                            <p:strVal val="#ppt_h"/>
                                          </p:val>
                                        </p:tav>
                                      </p:tavLst>
                                    </p:anim>
                                    <p:animEffect transition="in" filter="fade">
                                      <p:cBhvr>
                                        <p:cTn id="14" dur="500"/>
                                        <p:tgtEl>
                                          <p:spTgt spid="10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03"/>
                                        </p:tgtEl>
                                        <p:attrNameLst>
                                          <p:attrName>style.visibility</p:attrName>
                                        </p:attrNameLst>
                                      </p:cBhvr>
                                      <p:to>
                                        <p:strVal val="visible"/>
                                      </p:to>
                                    </p:set>
                                    <p:anim calcmode="lin" valueType="num">
                                      <p:cBhvr additive="base">
                                        <p:cTn id="17"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8" dur="500" decel="100000" fill="hold"/>
                                        <p:tgtEl>
                                          <p:spTgt spid="103"/>
                                        </p:tgtEl>
                                        <p:attrNameLst>
                                          <p:attrName>ppt_h</p:attrName>
                                        </p:attrNameLst>
                                      </p:cBhvr>
                                      <p:tavLst>
                                        <p:tav tm="0">
                                          <p:val>
                                            <p:strVal val="#ppt_h*0.55"/>
                                          </p:val>
                                        </p:tav>
                                        <p:tav tm="100000">
                                          <p:val>
                                            <p:strVal val="#ppt_h"/>
                                          </p:val>
                                        </p:tav>
                                      </p:tavLst>
                                    </p:anim>
                                    <p:animEffect transition="in" filter="fade">
                                      <p:cBhvr>
                                        <p:cTn id="19" dur="500"/>
                                        <p:tgtEl>
                                          <p:spTgt spid="103"/>
                                        </p:tgtEl>
                                      </p:cBhvr>
                                    </p:animEffect>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104"/>
                                        </p:tgtEl>
                                        <p:attrNameLst>
                                          <p:attrName>style.visibility</p:attrName>
                                        </p:attrNameLst>
                                      </p:cBhvr>
                                      <p:to>
                                        <p:strVal val="visible"/>
                                      </p:to>
                                    </p:set>
                                    <p:animEffect transition="in" filter="fade">
                                      <p:cBhvr>
                                        <p:cTn id="24" dur="500"/>
                                        <p:tgtEl>
                                          <p:spTgt spid="104"/>
                                        </p:tgtEl>
                                      </p:cBhvr>
                                    </p:animEffect>
                                    <p:anim calcmode="lin" valueType="num">
                                      <p:cBhvr additive="base">
                                        <p:cTn id="25" dur="500" decel="100000" fill="hold"/>
                                        <p:tgtEl>
                                          <p:spTgt spid="104"/>
                                        </p:tgtEl>
                                        <p:attrNameLst>
                                          <p:attrName>ppt_y</p:attrName>
                                        </p:attrNameLst>
                                      </p:cBhvr>
                                      <p:tavLst>
                                        <p:tav tm="0">
                                          <p:val>
                                            <p:strVal val="#ppt_y+0.06"/>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fade">
                                      <p:cBhvr>
                                        <p:cTn id="28" dur="500"/>
                                        <p:tgtEl>
                                          <p:spTgt spid="105"/>
                                        </p:tgtEl>
                                      </p:cBhvr>
                                    </p:animEffect>
                                    <p:anim calcmode="lin" valueType="num">
                                      <p:cBhvr additive="base">
                                        <p:cTn id="29" dur="500" decel="100000" fill="hold"/>
                                        <p:tgtEl>
                                          <p:spTgt spid="105"/>
                                        </p:tgtEl>
                                        <p:attrNameLst>
                                          <p:attrName>ppt_y</p:attrName>
                                        </p:attrNameLst>
                                      </p:cBhvr>
                                      <p:tavLst>
                                        <p:tav tm="0">
                                          <p:val>
                                            <p:strVal val="#ppt_y+0.06"/>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106"/>
                                        </p:tgtEl>
                                        <p:attrNameLst>
                                          <p:attrName>style.visibility</p:attrName>
                                        </p:attrNameLst>
                                      </p:cBhvr>
                                      <p:to>
                                        <p:strVal val="visible"/>
                                      </p:to>
                                    </p:set>
                                    <p:animEffect transition="in" filter="fade">
                                      <p:cBhvr>
                                        <p:cTn id="32" dur="500"/>
                                        <p:tgtEl>
                                          <p:spTgt spid="106"/>
                                        </p:tgtEl>
                                      </p:cBhvr>
                                    </p:animEffect>
                                    <p:anim calcmode="lin" valueType="num">
                                      <p:cBhvr additive="base">
                                        <p:cTn id="33" dur="500" decel="100000" fill="hold"/>
                                        <p:tgtEl>
                                          <p:spTgt spid="106"/>
                                        </p:tgtEl>
                                        <p:attrNameLst>
                                          <p:attrName>ppt_y</p:attrName>
                                        </p:attrNameLst>
                                      </p:cBhvr>
                                      <p:tavLst>
                                        <p:tav tm="0">
                                          <p:val>
                                            <p:strVal val="#ppt_y+0.06"/>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07"/>
                                        </p:tgtEl>
                                        <p:attrNameLst>
                                          <p:attrName>style.visibility</p:attrName>
                                        </p:attrNameLst>
                                      </p:cBhvr>
                                      <p:to>
                                        <p:strVal val="visible"/>
                                      </p:to>
                                    </p:set>
                                    <p:animEffect transition="in" filter="fade">
                                      <p:cBhvr>
                                        <p:cTn id="36" dur="500"/>
                                        <p:tgtEl>
                                          <p:spTgt spid="107"/>
                                        </p:tgtEl>
                                      </p:cBhvr>
                                    </p:animEffect>
                                    <p:anim calcmode="lin" valueType="num">
                                      <p:cBhvr additive="base">
                                        <p:cTn id="37" dur="500" decel="100000" fill="hold"/>
                                        <p:tgtEl>
                                          <p:spTgt spid="107"/>
                                        </p:tgtEl>
                                        <p:attrNameLst>
                                          <p:attrName>ppt_y</p:attrName>
                                        </p:attrNameLst>
                                      </p:cBhvr>
                                      <p:tavLst>
                                        <p:tav tm="0">
                                          <p:val>
                                            <p:strVal val="#ppt_y+0.06"/>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108"/>
                                        </p:tgtEl>
                                        <p:attrNameLst>
                                          <p:attrName>style.visibility</p:attrName>
                                        </p:attrNameLst>
                                      </p:cBhvr>
                                      <p:to>
                                        <p:strVal val="visible"/>
                                      </p:to>
                                    </p:set>
                                    <p:animEffect transition="in" filter="fade">
                                      <p:cBhvr>
                                        <p:cTn id="40" dur="500"/>
                                        <p:tgtEl>
                                          <p:spTgt spid="108"/>
                                        </p:tgtEl>
                                      </p:cBhvr>
                                    </p:animEffect>
                                    <p:anim calcmode="lin" valueType="num">
                                      <p:cBhvr additive="base">
                                        <p:cTn id="41" dur="500" decel="100000" fill="hold"/>
                                        <p:tgtEl>
                                          <p:spTgt spid="108"/>
                                        </p:tgtEl>
                                        <p:attrNameLst>
                                          <p:attrName>ppt_y</p:attrName>
                                        </p:attrNameLst>
                                      </p:cBhvr>
                                      <p:tavLst>
                                        <p:tav tm="0">
                                          <p:val>
                                            <p:strVal val="#ppt_y+0.06"/>
                                          </p:val>
                                        </p:tav>
                                        <p:tav tm="100000">
                                          <p:val>
                                            <p:strVal val="#ppt_y"/>
                                          </p:val>
                                        </p:tav>
                                      </p:tavLst>
                                    </p:anim>
                                  </p:childTnLst>
                                </p:cTn>
                              </p:par>
                              <p:par>
                                <p:cTn id="42" presetID="42" presetClass="entr" presetSubtype="0" fill="hold" nodeType="withEffect">
                                  <p:stCondLst>
                                    <p:cond delay="0"/>
                                  </p:stCondLst>
                                  <p:childTnLst>
                                    <p:set>
                                      <p:cBhvr>
                                        <p:cTn id="43" dur="1" fill="hold">
                                          <p:stCondLst>
                                            <p:cond delay="0"/>
                                          </p:stCondLst>
                                        </p:cTn>
                                        <p:tgtEl>
                                          <p:spTgt spid="109"/>
                                        </p:tgtEl>
                                        <p:attrNameLst>
                                          <p:attrName>style.visibility</p:attrName>
                                        </p:attrNameLst>
                                      </p:cBhvr>
                                      <p:to>
                                        <p:strVal val="visible"/>
                                      </p:to>
                                    </p:set>
                                    <p:animEffect transition="in" filter="fade">
                                      <p:cBhvr>
                                        <p:cTn id="44" dur="500"/>
                                        <p:tgtEl>
                                          <p:spTgt spid="109"/>
                                        </p:tgtEl>
                                      </p:cBhvr>
                                    </p:animEffect>
                                    <p:anim calcmode="lin" valueType="num">
                                      <p:cBhvr additive="base">
                                        <p:cTn id="45" dur="500" decel="100000" fill="hold"/>
                                        <p:tgtEl>
                                          <p:spTgt spid="109"/>
                                        </p:tgtEl>
                                        <p:attrNameLst>
                                          <p:attrName>ppt_y</p:attrName>
                                        </p:attrNameLst>
                                      </p:cBhvr>
                                      <p:tavLst>
                                        <p:tav tm="0">
                                          <p:val>
                                            <p:strVal val="#ppt_y+0.06"/>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110"/>
                                        </p:tgtEl>
                                        <p:attrNameLst>
                                          <p:attrName>style.visibility</p:attrName>
                                        </p:attrNameLst>
                                      </p:cBhvr>
                                      <p:to>
                                        <p:strVal val="visible"/>
                                      </p:to>
                                    </p:set>
                                    <p:animEffect transition="in" filter="fade">
                                      <p:cBhvr>
                                        <p:cTn id="48" dur="500"/>
                                        <p:tgtEl>
                                          <p:spTgt spid="110"/>
                                        </p:tgtEl>
                                      </p:cBhvr>
                                    </p:animEffect>
                                    <p:anim calcmode="lin" valueType="num">
                                      <p:cBhvr additive="base">
                                        <p:cTn id="49" dur="500" decel="100000" fill="hold"/>
                                        <p:tgtEl>
                                          <p:spTgt spid="110"/>
                                        </p:tgtEl>
                                        <p:attrNameLst>
                                          <p:attrName>ppt_y</p:attrName>
                                        </p:attrNameLst>
                                      </p:cBhvr>
                                      <p:tavLst>
                                        <p:tav tm="0">
                                          <p:val>
                                            <p:strVal val="#ppt_y+0.06"/>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111"/>
                                        </p:tgtEl>
                                        <p:attrNameLst>
                                          <p:attrName>style.visibility</p:attrName>
                                        </p:attrNameLst>
                                      </p:cBhvr>
                                      <p:to>
                                        <p:strVal val="visible"/>
                                      </p:to>
                                    </p:set>
                                    <p:animEffect transition="in" filter="fade">
                                      <p:cBhvr>
                                        <p:cTn id="52" dur="500"/>
                                        <p:tgtEl>
                                          <p:spTgt spid="111"/>
                                        </p:tgtEl>
                                      </p:cBhvr>
                                    </p:animEffect>
                                    <p:anim calcmode="lin" valueType="num">
                                      <p:cBhvr additive="base">
                                        <p:cTn id="53" dur="500" decel="100000" fill="hold"/>
                                        <p:tgtEl>
                                          <p:spTgt spid="111"/>
                                        </p:tgtEl>
                                        <p:attrNameLst>
                                          <p:attrName>ppt_y</p:attrName>
                                        </p:attrNameLst>
                                      </p:cBhvr>
                                      <p:tavLst>
                                        <p:tav tm="0">
                                          <p:val>
                                            <p:strVal val="#ppt_y+0.06"/>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12"/>
                                        </p:tgtEl>
                                        <p:attrNameLst>
                                          <p:attrName>style.visibility</p:attrName>
                                        </p:attrNameLst>
                                      </p:cBhvr>
                                      <p:to>
                                        <p:strVal val="visible"/>
                                      </p:to>
                                    </p:set>
                                    <p:animEffect transition="in" filter="fade">
                                      <p:cBhvr>
                                        <p:cTn id="56" dur="500"/>
                                        <p:tgtEl>
                                          <p:spTgt spid="112"/>
                                        </p:tgtEl>
                                      </p:cBhvr>
                                    </p:animEffect>
                                    <p:anim calcmode="lin" valueType="num">
                                      <p:cBhvr additive="base">
                                        <p:cTn id="57" dur="500" decel="100000" fill="hold"/>
                                        <p:tgtEl>
                                          <p:spTgt spid="112"/>
                                        </p:tgtEl>
                                        <p:attrNameLst>
                                          <p:attrName>ppt_y</p:attrName>
                                        </p:attrNameLst>
                                      </p:cBhvr>
                                      <p:tavLst>
                                        <p:tav tm="0">
                                          <p:val>
                                            <p:strVal val="#ppt_y+0.06"/>
                                          </p:val>
                                        </p:tav>
                                        <p:tav tm="100000">
                                          <p:val>
                                            <p:strVal val="#ppt_y"/>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113"/>
                                        </p:tgtEl>
                                        <p:attrNameLst>
                                          <p:attrName>style.visibility</p:attrName>
                                        </p:attrNameLst>
                                      </p:cBhvr>
                                      <p:to>
                                        <p:strVal val="visible"/>
                                      </p:to>
                                    </p:set>
                                    <p:animEffect transition="in" filter="fade">
                                      <p:cBhvr>
                                        <p:cTn id="60" dur="500"/>
                                        <p:tgtEl>
                                          <p:spTgt spid="113"/>
                                        </p:tgtEl>
                                      </p:cBhvr>
                                    </p:animEffect>
                                    <p:anim calcmode="lin" valueType="num">
                                      <p:cBhvr additive="base">
                                        <p:cTn id="61" dur="500" decel="100000" fill="hold"/>
                                        <p:tgtEl>
                                          <p:spTgt spid="113"/>
                                        </p:tgtEl>
                                        <p:attrNameLst>
                                          <p:attrName>ppt_y</p:attrName>
                                        </p:attrNameLst>
                                      </p:cBhvr>
                                      <p:tavLst>
                                        <p:tav tm="0">
                                          <p:val>
                                            <p:strVal val="#ppt_y+0.06"/>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114"/>
                                        </p:tgtEl>
                                        <p:attrNameLst>
                                          <p:attrName>style.visibility</p:attrName>
                                        </p:attrNameLst>
                                      </p:cBhvr>
                                      <p:to>
                                        <p:strVal val="visible"/>
                                      </p:to>
                                    </p:set>
                                    <p:animEffect transition="in" filter="fade">
                                      <p:cBhvr>
                                        <p:cTn id="64" dur="500"/>
                                        <p:tgtEl>
                                          <p:spTgt spid="114"/>
                                        </p:tgtEl>
                                      </p:cBhvr>
                                    </p:animEffect>
                                    <p:anim calcmode="lin" valueType="num">
                                      <p:cBhvr additive="base">
                                        <p:cTn id="65" dur="500" decel="100000" fill="hold"/>
                                        <p:tgtEl>
                                          <p:spTgt spid="114"/>
                                        </p:tgtEl>
                                        <p:attrNameLst>
                                          <p:attrName>ppt_y</p:attrName>
                                        </p:attrNameLst>
                                      </p:cBhvr>
                                      <p:tavLst>
                                        <p:tav tm="0">
                                          <p:val>
                                            <p:strVal val="#ppt_y+0.06"/>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115"/>
                                        </p:tgtEl>
                                        <p:attrNameLst>
                                          <p:attrName>style.visibility</p:attrName>
                                        </p:attrNameLst>
                                      </p:cBhvr>
                                      <p:to>
                                        <p:strVal val="visible"/>
                                      </p:to>
                                    </p:set>
                                    <p:animEffect transition="in" filter="fade">
                                      <p:cBhvr>
                                        <p:cTn id="68" dur="500"/>
                                        <p:tgtEl>
                                          <p:spTgt spid="115"/>
                                        </p:tgtEl>
                                      </p:cBhvr>
                                    </p:animEffect>
                                    <p:anim calcmode="lin" valueType="num">
                                      <p:cBhvr additive="base">
                                        <p:cTn id="69" dur="500" decel="100000" fill="hold"/>
                                        <p:tgtEl>
                                          <p:spTgt spid="115"/>
                                        </p:tgtEl>
                                        <p:attrNameLst>
                                          <p:attrName>ppt_y</p:attrName>
                                        </p:attrNameLst>
                                      </p:cBhvr>
                                      <p:tavLst>
                                        <p:tav tm="0">
                                          <p:val>
                                            <p:strVal val="#ppt_y+0.06"/>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116"/>
                                        </p:tgtEl>
                                        <p:attrNameLst>
                                          <p:attrName>style.visibility</p:attrName>
                                        </p:attrNameLst>
                                      </p:cBhvr>
                                      <p:to>
                                        <p:strVal val="visible"/>
                                      </p:to>
                                    </p:set>
                                    <p:animEffect transition="in" filter="fade">
                                      <p:cBhvr>
                                        <p:cTn id="72" dur="500"/>
                                        <p:tgtEl>
                                          <p:spTgt spid="116"/>
                                        </p:tgtEl>
                                      </p:cBhvr>
                                    </p:animEffect>
                                    <p:anim calcmode="lin" valueType="num">
                                      <p:cBhvr additive="base">
                                        <p:cTn id="73" dur="500" decel="100000" fill="hold"/>
                                        <p:tgtEl>
                                          <p:spTgt spid="116"/>
                                        </p:tgtEl>
                                        <p:attrNameLst>
                                          <p:attrName>ppt_y</p:attrName>
                                        </p:attrNameLst>
                                      </p:cBhvr>
                                      <p:tavLst>
                                        <p:tav tm="0">
                                          <p:val>
                                            <p:strVal val="#ppt_y+0.06"/>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117"/>
                                        </p:tgtEl>
                                        <p:attrNameLst>
                                          <p:attrName>style.visibility</p:attrName>
                                        </p:attrNameLst>
                                      </p:cBhvr>
                                      <p:to>
                                        <p:strVal val="visible"/>
                                      </p:to>
                                    </p:set>
                                    <p:animEffect transition="in" filter="fade">
                                      <p:cBhvr>
                                        <p:cTn id="76" dur="500"/>
                                        <p:tgtEl>
                                          <p:spTgt spid="117"/>
                                        </p:tgtEl>
                                      </p:cBhvr>
                                    </p:animEffect>
                                    <p:anim calcmode="lin" valueType="num">
                                      <p:cBhvr additive="base">
                                        <p:cTn id="77" dur="500" decel="100000" fill="hold"/>
                                        <p:tgtEl>
                                          <p:spTgt spid="117"/>
                                        </p:tgtEl>
                                        <p:attrNameLst>
                                          <p:attrName>ppt_y</p:attrName>
                                        </p:attrNameLst>
                                      </p:cBhvr>
                                      <p:tavLst>
                                        <p:tav tm="0">
                                          <p:val>
                                            <p:strVal val="#ppt_y+0.06"/>
                                          </p:val>
                                        </p:tav>
                                        <p:tav tm="100000">
                                          <p:val>
                                            <p:strVal val="#ppt_y"/>
                                          </p:val>
                                        </p:tav>
                                      </p:tavLst>
                                    </p:anim>
                                  </p:childTnLst>
                                </p:cTn>
                              </p:par>
                              <p:par>
                                <p:cTn id="78" presetID="42" presetClass="entr" presetSubtype="0" fill="hold" grpId="0" nodeType="withEffect">
                                  <p:stCondLst>
                                    <p:cond delay="0"/>
                                  </p:stCondLst>
                                  <p:childTnLst>
                                    <p:set>
                                      <p:cBhvr>
                                        <p:cTn id="79" dur="1" fill="hold">
                                          <p:stCondLst>
                                            <p:cond delay="0"/>
                                          </p:stCondLst>
                                        </p:cTn>
                                        <p:tgtEl>
                                          <p:spTgt spid="118"/>
                                        </p:tgtEl>
                                        <p:attrNameLst>
                                          <p:attrName>style.visibility</p:attrName>
                                        </p:attrNameLst>
                                      </p:cBhvr>
                                      <p:to>
                                        <p:strVal val="visible"/>
                                      </p:to>
                                    </p:set>
                                    <p:animEffect transition="in" filter="fade">
                                      <p:cBhvr>
                                        <p:cTn id="80" dur="500"/>
                                        <p:tgtEl>
                                          <p:spTgt spid="118"/>
                                        </p:tgtEl>
                                      </p:cBhvr>
                                    </p:animEffect>
                                    <p:anim calcmode="lin" valueType="num">
                                      <p:cBhvr additive="base">
                                        <p:cTn id="81" dur="500" decel="100000" fill="hold"/>
                                        <p:tgtEl>
                                          <p:spTgt spid="118"/>
                                        </p:tgtEl>
                                        <p:attrNameLst>
                                          <p:attrName>ppt_y</p:attrName>
                                        </p:attrNameLst>
                                      </p:cBhvr>
                                      <p:tavLst>
                                        <p:tav tm="0">
                                          <p:val>
                                            <p:strVal val="#ppt_y+0.06"/>
                                          </p:val>
                                        </p:tav>
                                        <p:tav tm="100000">
                                          <p:val>
                                            <p:strVal val="#ppt_y"/>
                                          </p:val>
                                        </p:tav>
                                      </p:tavLst>
                                    </p:anim>
                                  </p:childTnLst>
                                </p:cTn>
                              </p:par>
                              <p:par>
                                <p:cTn id="82" presetID="42" presetClass="entr" presetSubtype="0" fill="hold" grpId="0" nodeType="withEffect">
                                  <p:stCondLst>
                                    <p:cond delay="0"/>
                                  </p:stCondLst>
                                  <p:childTnLst>
                                    <p:set>
                                      <p:cBhvr>
                                        <p:cTn id="83" dur="1" fill="hold">
                                          <p:stCondLst>
                                            <p:cond delay="0"/>
                                          </p:stCondLst>
                                        </p:cTn>
                                        <p:tgtEl>
                                          <p:spTgt spid="119"/>
                                        </p:tgtEl>
                                        <p:attrNameLst>
                                          <p:attrName>style.visibility</p:attrName>
                                        </p:attrNameLst>
                                      </p:cBhvr>
                                      <p:to>
                                        <p:strVal val="visible"/>
                                      </p:to>
                                    </p:set>
                                    <p:animEffect transition="in" filter="fade">
                                      <p:cBhvr>
                                        <p:cTn id="84" dur="500"/>
                                        <p:tgtEl>
                                          <p:spTgt spid="119"/>
                                        </p:tgtEl>
                                      </p:cBhvr>
                                    </p:animEffect>
                                    <p:anim calcmode="lin" valueType="num">
                                      <p:cBhvr additive="base">
                                        <p:cTn id="85" dur="500" decel="100000" fill="hold"/>
                                        <p:tgtEl>
                                          <p:spTgt spid="119"/>
                                        </p:tgtEl>
                                        <p:attrNameLst>
                                          <p:attrName>ppt_y</p:attrName>
                                        </p:attrNameLst>
                                      </p:cBhvr>
                                      <p:tavLst>
                                        <p:tav tm="0">
                                          <p:val>
                                            <p:strVal val="#ppt_y+0.06"/>
                                          </p:val>
                                        </p:tav>
                                        <p:tav tm="100000">
                                          <p:val>
                                            <p:strVal val="#ppt_y"/>
                                          </p:val>
                                        </p:tav>
                                      </p:tavLst>
                                    </p:anim>
                                  </p:childTnLst>
                                </p:cTn>
                              </p:par>
                              <p:par>
                                <p:cTn id="86" presetID="42" presetClass="entr" presetSubtype="0" fill="hold" grpId="0" nodeType="withEffect">
                                  <p:stCondLst>
                                    <p:cond delay="0"/>
                                  </p:stCondLst>
                                  <p:childTnLst>
                                    <p:set>
                                      <p:cBhvr>
                                        <p:cTn id="87" dur="1" fill="hold">
                                          <p:stCondLst>
                                            <p:cond delay="0"/>
                                          </p:stCondLst>
                                        </p:cTn>
                                        <p:tgtEl>
                                          <p:spTgt spid="120"/>
                                        </p:tgtEl>
                                        <p:attrNameLst>
                                          <p:attrName>style.visibility</p:attrName>
                                        </p:attrNameLst>
                                      </p:cBhvr>
                                      <p:to>
                                        <p:strVal val="visible"/>
                                      </p:to>
                                    </p:set>
                                    <p:animEffect transition="in" filter="fade">
                                      <p:cBhvr>
                                        <p:cTn id="88" dur="500"/>
                                        <p:tgtEl>
                                          <p:spTgt spid="120"/>
                                        </p:tgtEl>
                                      </p:cBhvr>
                                    </p:animEffect>
                                    <p:anim calcmode="lin" valueType="num">
                                      <p:cBhvr additive="base">
                                        <p:cTn id="89" dur="500" decel="100000" fill="hold"/>
                                        <p:tgtEl>
                                          <p:spTgt spid="120"/>
                                        </p:tgtEl>
                                        <p:attrNameLst>
                                          <p:attrName>ppt_y</p:attrName>
                                        </p:attrNameLst>
                                      </p:cBhvr>
                                      <p:tavLst>
                                        <p:tav tm="0">
                                          <p:val>
                                            <p:strVal val="#ppt_y+0.06"/>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121"/>
                                        </p:tgtEl>
                                        <p:attrNameLst>
                                          <p:attrName>style.visibility</p:attrName>
                                        </p:attrNameLst>
                                      </p:cBhvr>
                                      <p:to>
                                        <p:strVal val="visible"/>
                                      </p:to>
                                    </p:set>
                                    <p:animEffect transition="in" filter="fade">
                                      <p:cBhvr>
                                        <p:cTn id="92" dur="500"/>
                                        <p:tgtEl>
                                          <p:spTgt spid="121"/>
                                        </p:tgtEl>
                                      </p:cBhvr>
                                    </p:animEffect>
                                    <p:anim calcmode="lin" valueType="num">
                                      <p:cBhvr additive="base">
                                        <p:cTn id="93" dur="500" decel="100000" fill="hold"/>
                                        <p:tgtEl>
                                          <p:spTgt spid="121"/>
                                        </p:tgtEl>
                                        <p:attrNameLst>
                                          <p:attrName>ppt_y</p:attrName>
                                        </p:attrNameLst>
                                      </p:cBhvr>
                                      <p:tavLst>
                                        <p:tav tm="0">
                                          <p:val>
                                            <p:strVal val="#ppt_y+0.06"/>
                                          </p:val>
                                        </p:tav>
                                        <p:tav tm="100000">
                                          <p:val>
                                            <p:strVal val="#ppt_y"/>
                                          </p:val>
                                        </p:tav>
                                      </p:tavLst>
                                    </p:anim>
                                  </p:childTnLst>
                                </p:cTn>
                              </p:par>
                              <p:par>
                                <p:cTn id="94" presetID="42" presetClass="entr" presetSubtype="0" fill="hold" grpId="0" nodeType="withEffect">
                                  <p:stCondLst>
                                    <p:cond delay="0"/>
                                  </p:stCondLst>
                                  <p:childTnLst>
                                    <p:set>
                                      <p:cBhvr>
                                        <p:cTn id="95" dur="1" fill="hold">
                                          <p:stCondLst>
                                            <p:cond delay="0"/>
                                          </p:stCondLst>
                                        </p:cTn>
                                        <p:tgtEl>
                                          <p:spTgt spid="122"/>
                                        </p:tgtEl>
                                        <p:attrNameLst>
                                          <p:attrName>style.visibility</p:attrName>
                                        </p:attrNameLst>
                                      </p:cBhvr>
                                      <p:to>
                                        <p:strVal val="visible"/>
                                      </p:to>
                                    </p:set>
                                    <p:animEffect transition="in" filter="fade">
                                      <p:cBhvr>
                                        <p:cTn id="96" dur="500"/>
                                        <p:tgtEl>
                                          <p:spTgt spid="122"/>
                                        </p:tgtEl>
                                      </p:cBhvr>
                                    </p:animEffect>
                                    <p:anim calcmode="lin" valueType="num">
                                      <p:cBhvr additive="base">
                                        <p:cTn id="97" dur="500" decel="100000" fill="hold"/>
                                        <p:tgtEl>
                                          <p:spTgt spid="122"/>
                                        </p:tgtEl>
                                        <p:attrNameLst>
                                          <p:attrName>ppt_y</p:attrName>
                                        </p:attrNameLst>
                                      </p:cBhvr>
                                      <p:tavLst>
                                        <p:tav tm="0">
                                          <p:val>
                                            <p:strVal val="#ppt_y+0.06"/>
                                          </p:val>
                                        </p:tav>
                                        <p:tav tm="100000">
                                          <p:val>
                                            <p:strVal val="#ppt_y"/>
                                          </p:val>
                                        </p:tav>
                                      </p:tavLst>
                                    </p:anim>
                                  </p:childTnLst>
                                </p:cTn>
                              </p:par>
                              <p:par>
                                <p:cTn id="98" presetID="42" presetClass="entr" presetSubtype="0" fill="hold" grpId="0" nodeType="withEffect">
                                  <p:stCondLst>
                                    <p:cond delay="0"/>
                                  </p:stCondLst>
                                  <p:childTnLst>
                                    <p:set>
                                      <p:cBhvr>
                                        <p:cTn id="99" dur="1" fill="hold">
                                          <p:stCondLst>
                                            <p:cond delay="0"/>
                                          </p:stCondLst>
                                        </p:cTn>
                                        <p:tgtEl>
                                          <p:spTgt spid="123"/>
                                        </p:tgtEl>
                                        <p:attrNameLst>
                                          <p:attrName>style.visibility</p:attrName>
                                        </p:attrNameLst>
                                      </p:cBhvr>
                                      <p:to>
                                        <p:strVal val="visible"/>
                                      </p:to>
                                    </p:set>
                                    <p:animEffect transition="in" filter="fade">
                                      <p:cBhvr>
                                        <p:cTn id="100" dur="500"/>
                                        <p:tgtEl>
                                          <p:spTgt spid="123"/>
                                        </p:tgtEl>
                                      </p:cBhvr>
                                    </p:animEffect>
                                    <p:anim calcmode="lin" valueType="num">
                                      <p:cBhvr additive="base">
                                        <p:cTn id="101" dur="500" decel="100000" fill="hold"/>
                                        <p:tgtEl>
                                          <p:spTgt spid="123"/>
                                        </p:tgtEl>
                                        <p:attrNameLst>
                                          <p:attrName>ppt_y</p:attrName>
                                        </p:attrNameLst>
                                      </p:cBhvr>
                                      <p:tavLst>
                                        <p:tav tm="0">
                                          <p:val>
                                            <p:strVal val="#ppt_y+0.06"/>
                                          </p:val>
                                        </p:tav>
                                        <p:tav tm="100000">
                                          <p:val>
                                            <p:strVal val="#ppt_y"/>
                                          </p:val>
                                        </p:tav>
                                      </p:tavLst>
                                    </p:anim>
                                  </p:childTnLst>
                                </p:cTn>
                              </p:par>
                              <p:par>
                                <p:cTn id="102" presetID="42" presetClass="entr" presetSubtype="0" fill="hold" grpId="0" nodeType="withEffect">
                                  <p:stCondLst>
                                    <p:cond delay="0"/>
                                  </p:stCondLst>
                                  <p:childTnLst>
                                    <p:set>
                                      <p:cBhvr>
                                        <p:cTn id="103" dur="1" fill="hold">
                                          <p:stCondLst>
                                            <p:cond delay="0"/>
                                          </p:stCondLst>
                                        </p:cTn>
                                        <p:tgtEl>
                                          <p:spTgt spid="124"/>
                                        </p:tgtEl>
                                        <p:attrNameLst>
                                          <p:attrName>style.visibility</p:attrName>
                                        </p:attrNameLst>
                                      </p:cBhvr>
                                      <p:to>
                                        <p:strVal val="visible"/>
                                      </p:to>
                                    </p:set>
                                    <p:animEffect transition="in" filter="fade">
                                      <p:cBhvr>
                                        <p:cTn id="104" dur="500"/>
                                        <p:tgtEl>
                                          <p:spTgt spid="124"/>
                                        </p:tgtEl>
                                      </p:cBhvr>
                                    </p:animEffect>
                                    <p:anim calcmode="lin" valueType="num">
                                      <p:cBhvr additive="base">
                                        <p:cTn id="105" dur="500" decel="100000" fill="hold"/>
                                        <p:tgtEl>
                                          <p:spTgt spid="124"/>
                                        </p:tgtEl>
                                        <p:attrNameLst>
                                          <p:attrName>ppt_y</p:attrName>
                                        </p:attrNameLst>
                                      </p:cBhvr>
                                      <p:tavLst>
                                        <p:tav tm="0">
                                          <p:val>
                                            <p:strVal val="#ppt_y+0.06"/>
                                          </p:val>
                                        </p:tav>
                                        <p:tav tm="100000">
                                          <p:val>
                                            <p:strVal val="#ppt_y"/>
                                          </p:val>
                                        </p:tav>
                                      </p:tavLst>
                                    </p:anim>
                                  </p:childTnLst>
                                </p:cTn>
                              </p:par>
                              <p:par>
                                <p:cTn id="106" presetID="42" presetClass="entr" presetSubtype="0" fill="hold" grpId="0" nodeType="withEffect">
                                  <p:stCondLst>
                                    <p:cond delay="0"/>
                                  </p:stCondLst>
                                  <p:childTnLst>
                                    <p:set>
                                      <p:cBhvr>
                                        <p:cTn id="107" dur="1" fill="hold">
                                          <p:stCondLst>
                                            <p:cond delay="0"/>
                                          </p:stCondLst>
                                        </p:cTn>
                                        <p:tgtEl>
                                          <p:spTgt spid="125"/>
                                        </p:tgtEl>
                                        <p:attrNameLst>
                                          <p:attrName>style.visibility</p:attrName>
                                        </p:attrNameLst>
                                      </p:cBhvr>
                                      <p:to>
                                        <p:strVal val="visible"/>
                                      </p:to>
                                    </p:set>
                                    <p:animEffect transition="in" filter="fade">
                                      <p:cBhvr>
                                        <p:cTn id="108" dur="500"/>
                                        <p:tgtEl>
                                          <p:spTgt spid="125"/>
                                        </p:tgtEl>
                                      </p:cBhvr>
                                    </p:animEffect>
                                    <p:anim calcmode="lin" valueType="num">
                                      <p:cBhvr additive="base">
                                        <p:cTn id="109" dur="500" decel="100000" fill="hold"/>
                                        <p:tgtEl>
                                          <p:spTgt spid="125"/>
                                        </p:tgtEl>
                                        <p:attrNameLst>
                                          <p:attrName>ppt_y</p:attrName>
                                        </p:attrNameLst>
                                      </p:cBhvr>
                                      <p:tavLst>
                                        <p:tav tm="0">
                                          <p:val>
                                            <p:strVal val="#ppt_y+0.06"/>
                                          </p:val>
                                        </p:tav>
                                        <p:tav tm="100000">
                                          <p:val>
                                            <p:strVal val="#ppt_y"/>
                                          </p:val>
                                        </p:tav>
                                      </p:tavLst>
                                    </p:anim>
                                  </p:childTnLst>
                                </p:cTn>
                              </p:par>
                              <p:par>
                                <p:cTn id="110" presetID="42" presetClass="entr" presetSubtype="0" fill="hold" grpId="0" nodeType="withEffect">
                                  <p:stCondLst>
                                    <p:cond delay="0"/>
                                  </p:stCondLst>
                                  <p:childTnLst>
                                    <p:set>
                                      <p:cBhvr>
                                        <p:cTn id="111" dur="1" fill="hold">
                                          <p:stCondLst>
                                            <p:cond delay="0"/>
                                          </p:stCondLst>
                                        </p:cTn>
                                        <p:tgtEl>
                                          <p:spTgt spid="126"/>
                                        </p:tgtEl>
                                        <p:attrNameLst>
                                          <p:attrName>style.visibility</p:attrName>
                                        </p:attrNameLst>
                                      </p:cBhvr>
                                      <p:to>
                                        <p:strVal val="visible"/>
                                      </p:to>
                                    </p:set>
                                    <p:animEffect transition="in" filter="fade">
                                      <p:cBhvr>
                                        <p:cTn id="112" dur="500"/>
                                        <p:tgtEl>
                                          <p:spTgt spid="126"/>
                                        </p:tgtEl>
                                      </p:cBhvr>
                                    </p:animEffect>
                                    <p:anim calcmode="lin" valueType="num">
                                      <p:cBhvr additive="base">
                                        <p:cTn id="113" dur="500" decel="100000" fill="hold"/>
                                        <p:tgtEl>
                                          <p:spTgt spid="126"/>
                                        </p:tgtEl>
                                        <p:attrNameLst>
                                          <p:attrName>ppt_y</p:attrName>
                                        </p:attrNameLst>
                                      </p:cBhvr>
                                      <p:tavLst>
                                        <p:tav tm="0">
                                          <p:val>
                                            <p:strVal val="#ppt_y+0.06"/>
                                          </p:val>
                                        </p:tav>
                                        <p:tav tm="100000">
                                          <p:val>
                                            <p:strVal val="#ppt_y"/>
                                          </p:val>
                                        </p:tav>
                                      </p:tavLst>
                                    </p:anim>
                                  </p:childTnLst>
                                </p:cTn>
                              </p:par>
                              <p:par>
                                <p:cTn id="114" presetID="42" presetClass="entr" presetSubtype="0" fill="hold" grpId="0" nodeType="withEffect">
                                  <p:stCondLst>
                                    <p:cond delay="0"/>
                                  </p:stCondLst>
                                  <p:childTnLst>
                                    <p:set>
                                      <p:cBhvr>
                                        <p:cTn id="115" dur="1" fill="hold">
                                          <p:stCondLst>
                                            <p:cond delay="0"/>
                                          </p:stCondLst>
                                        </p:cTn>
                                        <p:tgtEl>
                                          <p:spTgt spid="127"/>
                                        </p:tgtEl>
                                        <p:attrNameLst>
                                          <p:attrName>style.visibility</p:attrName>
                                        </p:attrNameLst>
                                      </p:cBhvr>
                                      <p:to>
                                        <p:strVal val="visible"/>
                                      </p:to>
                                    </p:set>
                                    <p:animEffect transition="in" filter="fade">
                                      <p:cBhvr>
                                        <p:cTn id="116" dur="500"/>
                                        <p:tgtEl>
                                          <p:spTgt spid="127"/>
                                        </p:tgtEl>
                                      </p:cBhvr>
                                    </p:animEffect>
                                    <p:anim calcmode="lin" valueType="num">
                                      <p:cBhvr additive="base">
                                        <p:cTn id="117" dur="500" decel="100000" fill="hold"/>
                                        <p:tgtEl>
                                          <p:spTgt spid="127"/>
                                        </p:tgtEl>
                                        <p:attrNameLst>
                                          <p:attrName>ppt_y</p:attrName>
                                        </p:attrNameLst>
                                      </p:cBhvr>
                                      <p:tavLst>
                                        <p:tav tm="0">
                                          <p:val>
                                            <p:strVal val="#ppt_y+0.06"/>
                                          </p:val>
                                        </p:tav>
                                        <p:tav tm="100000">
                                          <p:val>
                                            <p:strVal val="#ppt_y"/>
                                          </p:val>
                                        </p:tav>
                                      </p:tavLst>
                                    </p:anim>
                                  </p:childTnLst>
                                </p:cTn>
                              </p:par>
                            </p:childTnLst>
                          </p:cTn>
                        </p:par>
                      </p:childTnLst>
                    </p:cTn>
                  </p:par>
                  <p:par>
                    <p:cTn id="118" fill="hold">
                      <p:stCondLst>
                        <p:cond delay="indefinite"/>
                      </p:stCondLst>
                      <p:childTnLst>
                        <p:par>
                          <p:cTn id="119" fill="hold">
                            <p:stCondLst>
                              <p:cond delay="0"/>
                            </p:stCondLst>
                            <p:childTnLst>
                              <p:par>
                                <p:cTn id="120" presetID="42" presetClass="entr" presetSubtype="0" fill="hold" grpId="0" nodeType="clickEffect">
                                  <p:stCondLst>
                                    <p:cond delay="0"/>
                                  </p:stCondLst>
                                  <p:childTnLst>
                                    <p:set>
                                      <p:cBhvr>
                                        <p:cTn id="121" dur="1" fill="hold">
                                          <p:stCondLst>
                                            <p:cond delay="0"/>
                                          </p:stCondLst>
                                        </p:cTn>
                                        <p:tgtEl>
                                          <p:spTgt spid="128"/>
                                        </p:tgtEl>
                                        <p:attrNameLst>
                                          <p:attrName>style.visibility</p:attrName>
                                        </p:attrNameLst>
                                      </p:cBhvr>
                                      <p:to>
                                        <p:strVal val="visible"/>
                                      </p:to>
                                    </p:set>
                                    <p:animEffect transition="in" filter="fade">
                                      <p:cBhvr>
                                        <p:cTn id="122" dur="500"/>
                                        <p:tgtEl>
                                          <p:spTgt spid="128"/>
                                        </p:tgtEl>
                                      </p:cBhvr>
                                    </p:animEffect>
                                    <p:anim calcmode="lin" valueType="num">
                                      <p:cBhvr additive="base">
                                        <p:cTn id="123" dur="500" decel="100000" fill="hold"/>
                                        <p:tgtEl>
                                          <p:spTgt spid="128"/>
                                        </p:tgtEl>
                                        <p:attrNameLst>
                                          <p:attrName>ppt_y</p:attrName>
                                        </p:attrNameLst>
                                      </p:cBhvr>
                                      <p:tavLst>
                                        <p:tav tm="0">
                                          <p:val>
                                            <p:strVal val="#ppt_y+0.06"/>
                                          </p:val>
                                        </p:tav>
                                        <p:tav tm="100000">
                                          <p:val>
                                            <p:strVal val="#ppt_y"/>
                                          </p:val>
                                        </p:tav>
                                      </p:tavLst>
                                    </p:anim>
                                  </p:childTnLst>
                                </p:cTn>
                              </p:par>
                            </p:childTnLst>
                          </p:cTn>
                        </p:par>
                      </p:childTnLst>
                    </p:cTn>
                  </p:par>
                  <p:par>
                    <p:cTn id="124" fill="hold">
                      <p:stCondLst>
                        <p:cond delay="indefinite"/>
                      </p:stCondLst>
                      <p:childTnLst>
                        <p:par>
                          <p:cTn id="125" fill="hold">
                            <p:stCondLst>
                              <p:cond delay="0"/>
                            </p:stCondLst>
                            <p:childTnLst>
                              <p:par>
                                <p:cTn id="126" presetID="53" presetClass="entr" presetSubtype="16" fill="hold" grpId="0" nodeType="clickEffect">
                                  <p:stCondLst>
                                    <p:cond delay="0"/>
                                  </p:stCondLst>
                                  <p:childTnLst>
                                    <p:set>
                                      <p:cBhvr>
                                        <p:cTn id="127" dur="1" fill="hold">
                                          <p:stCondLst>
                                            <p:cond delay="0"/>
                                          </p:stCondLst>
                                        </p:cTn>
                                        <p:tgtEl>
                                          <p:spTgt spid="131"/>
                                        </p:tgtEl>
                                        <p:attrNameLst>
                                          <p:attrName>style.visibility</p:attrName>
                                        </p:attrNameLst>
                                      </p:cBhvr>
                                      <p:to>
                                        <p:strVal val="visible"/>
                                      </p:to>
                                    </p:set>
                                    <p:anim calcmode="lin" valueType="num">
                                      <p:cBhvr additive="base">
                                        <p:cTn id="128" dur="500" decel="100000" fill="hold"/>
                                        <p:tgtEl>
                                          <p:spTgt spid="131"/>
                                        </p:tgtEl>
                                        <p:attrNameLst>
                                          <p:attrName>ppt_w</p:attrName>
                                        </p:attrNameLst>
                                      </p:cBhvr>
                                      <p:tavLst>
                                        <p:tav tm="0">
                                          <p:val>
                                            <p:strVal val="#ppt_w*0.3"/>
                                          </p:val>
                                        </p:tav>
                                        <p:tav tm="100000">
                                          <p:val>
                                            <p:strVal val="#ppt_w*1.08"/>
                                          </p:val>
                                        </p:tav>
                                      </p:tavLst>
                                    </p:anim>
                                    <p:anim calcmode="lin" valueType="num">
                                      <p:cBhvr additive="base">
                                        <p:cTn id="129" dur="500" decel="100000" fill="hold"/>
                                        <p:tgtEl>
                                          <p:spTgt spid="131"/>
                                        </p:tgtEl>
                                        <p:attrNameLst>
                                          <p:attrName>ppt_h</p:attrName>
                                        </p:attrNameLst>
                                      </p:cBhvr>
                                      <p:tavLst>
                                        <p:tav tm="0">
                                          <p:val>
                                            <p:strVal val="#ppt_h*0.3"/>
                                          </p:val>
                                        </p:tav>
                                        <p:tav tm="100000">
                                          <p:val>
                                            <p:strVal val="#ppt_h*1.08"/>
                                          </p:val>
                                        </p:tav>
                                      </p:tavLst>
                                    </p:anim>
                                    <p:animEffect transition="in" filter="fade">
                                      <p:cBhvr>
                                        <p:cTn id="130" dur="250"/>
                                        <p:tgtEl>
                                          <p:spTgt spid="131"/>
                                        </p:tgtEl>
                                      </p:cBhvr>
                                    </p:animEffect>
                                    <p:anim calcmode="lin" valueType="num">
                                      <p:cBhvr additive="base">
                                        <p:cTn id="131" dur="160" fill="hold">
                                          <p:stCondLst>
                                            <p:cond delay="500"/>
                                          </p:stCondLst>
                                        </p:cTn>
                                        <p:tgtEl>
                                          <p:spTgt spid="131"/>
                                        </p:tgtEl>
                                        <p:attrNameLst>
                                          <p:attrName>ppt_w</p:attrName>
                                        </p:attrNameLst>
                                      </p:cBhvr>
                                      <p:tavLst>
                                        <p:tav tm="0">
                                          <p:val>
                                            <p:strVal val="#ppt_w*1.08"/>
                                          </p:val>
                                        </p:tav>
                                        <p:tav tm="100000">
                                          <p:val>
                                            <p:strVal val="#ppt_w"/>
                                          </p:val>
                                        </p:tav>
                                      </p:tavLst>
                                    </p:anim>
                                    <p:anim calcmode="lin" valueType="num">
                                      <p:cBhvr additive="base">
                                        <p:cTn id="132" dur="160" fill="hold">
                                          <p:stCondLst>
                                            <p:cond delay="500"/>
                                          </p:stCondLst>
                                        </p:cTn>
                                        <p:tgtEl>
                                          <p:spTgt spid="131"/>
                                        </p:tgtEl>
                                        <p:attrNameLst>
                                          <p:attrName>ppt_h</p:attrName>
                                        </p:attrNameLst>
                                      </p:cBhvr>
                                      <p:tavLst>
                                        <p:tav tm="0">
                                          <p:val>
                                            <p:strVal val="#ppt_h*1.08"/>
                                          </p:val>
                                        </p:tav>
                                        <p:tav tm="100000">
                                          <p:val>
                                            <p:strVal val="#ppt_h"/>
                                          </p:val>
                                        </p:tav>
                                      </p:tavLst>
                                    </p:anim>
                                  </p:childTnLst>
                                </p:cTn>
                              </p:par>
                              <p:par>
                                <p:cTn id="133" presetID="42" presetClass="entr" presetSubtype="0" fill="hold" grpId="0" nodeType="withEffect">
                                  <p:stCondLst>
                                    <p:cond delay="150"/>
                                  </p:stCondLst>
                                  <p:childTnLst>
                                    <p:set>
                                      <p:cBhvr>
                                        <p:cTn id="134" dur="1" fill="hold">
                                          <p:stCondLst>
                                            <p:cond delay="0"/>
                                          </p:stCondLst>
                                        </p:cTn>
                                        <p:tgtEl>
                                          <p:spTgt spid="129"/>
                                        </p:tgtEl>
                                        <p:attrNameLst>
                                          <p:attrName>style.visibility</p:attrName>
                                        </p:attrNameLst>
                                      </p:cBhvr>
                                      <p:to>
                                        <p:strVal val="visible"/>
                                      </p:to>
                                    </p:set>
                                    <p:animEffect transition="in" filter="fade">
                                      <p:cBhvr>
                                        <p:cTn id="135" dur="500"/>
                                        <p:tgtEl>
                                          <p:spTgt spid="129"/>
                                        </p:tgtEl>
                                      </p:cBhvr>
                                    </p:animEffect>
                                    <p:anim calcmode="lin" valueType="num">
                                      <p:cBhvr additive="base">
                                        <p:cTn id="136" dur="500" decel="100000" fill="hold"/>
                                        <p:tgtEl>
                                          <p:spTgt spid="129"/>
                                        </p:tgtEl>
                                        <p:attrNameLst>
                                          <p:attrName>ppt_y</p:attrName>
                                        </p:attrNameLst>
                                      </p:cBhvr>
                                      <p:tavLst>
                                        <p:tav tm="0">
                                          <p:val>
                                            <p:strVal val="#ppt_y+0.06"/>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53" presetClass="entr" presetSubtype="16" fill="hold" grpId="0" nodeType="clickEffect">
                                  <p:stCondLst>
                                    <p:cond delay="0"/>
                                  </p:stCondLst>
                                  <p:childTnLst>
                                    <p:set>
                                      <p:cBhvr>
                                        <p:cTn id="140" dur="1" fill="hold">
                                          <p:stCondLst>
                                            <p:cond delay="0"/>
                                          </p:stCondLst>
                                        </p:cTn>
                                        <p:tgtEl>
                                          <p:spTgt spid="132"/>
                                        </p:tgtEl>
                                        <p:attrNameLst>
                                          <p:attrName>style.visibility</p:attrName>
                                        </p:attrNameLst>
                                      </p:cBhvr>
                                      <p:to>
                                        <p:strVal val="visible"/>
                                      </p:to>
                                    </p:set>
                                    <p:anim calcmode="lin" valueType="num">
                                      <p:cBhvr additive="base">
                                        <p:cTn id="141" dur="500" decel="100000" fill="hold"/>
                                        <p:tgtEl>
                                          <p:spTgt spid="132"/>
                                        </p:tgtEl>
                                        <p:attrNameLst>
                                          <p:attrName>ppt_w</p:attrName>
                                        </p:attrNameLst>
                                      </p:cBhvr>
                                      <p:tavLst>
                                        <p:tav tm="0">
                                          <p:val>
                                            <p:strVal val="#ppt_w*0.3"/>
                                          </p:val>
                                        </p:tav>
                                        <p:tav tm="100000">
                                          <p:val>
                                            <p:strVal val="#ppt_w*1.08"/>
                                          </p:val>
                                        </p:tav>
                                      </p:tavLst>
                                    </p:anim>
                                    <p:anim calcmode="lin" valueType="num">
                                      <p:cBhvr additive="base">
                                        <p:cTn id="142" dur="500" decel="100000" fill="hold"/>
                                        <p:tgtEl>
                                          <p:spTgt spid="132"/>
                                        </p:tgtEl>
                                        <p:attrNameLst>
                                          <p:attrName>ppt_h</p:attrName>
                                        </p:attrNameLst>
                                      </p:cBhvr>
                                      <p:tavLst>
                                        <p:tav tm="0">
                                          <p:val>
                                            <p:strVal val="#ppt_h*0.3"/>
                                          </p:val>
                                        </p:tav>
                                        <p:tav tm="100000">
                                          <p:val>
                                            <p:strVal val="#ppt_h*1.08"/>
                                          </p:val>
                                        </p:tav>
                                      </p:tavLst>
                                    </p:anim>
                                    <p:animEffect transition="in" filter="fade">
                                      <p:cBhvr>
                                        <p:cTn id="143" dur="250"/>
                                        <p:tgtEl>
                                          <p:spTgt spid="132"/>
                                        </p:tgtEl>
                                      </p:cBhvr>
                                    </p:animEffect>
                                    <p:anim calcmode="lin" valueType="num">
                                      <p:cBhvr additive="base">
                                        <p:cTn id="144" dur="160" fill="hold">
                                          <p:stCondLst>
                                            <p:cond delay="500"/>
                                          </p:stCondLst>
                                        </p:cTn>
                                        <p:tgtEl>
                                          <p:spTgt spid="132"/>
                                        </p:tgtEl>
                                        <p:attrNameLst>
                                          <p:attrName>ppt_w</p:attrName>
                                        </p:attrNameLst>
                                      </p:cBhvr>
                                      <p:tavLst>
                                        <p:tav tm="0">
                                          <p:val>
                                            <p:strVal val="#ppt_w*1.08"/>
                                          </p:val>
                                        </p:tav>
                                        <p:tav tm="100000">
                                          <p:val>
                                            <p:strVal val="#ppt_w"/>
                                          </p:val>
                                        </p:tav>
                                      </p:tavLst>
                                    </p:anim>
                                    <p:anim calcmode="lin" valueType="num">
                                      <p:cBhvr additive="base">
                                        <p:cTn id="145" dur="160" fill="hold">
                                          <p:stCondLst>
                                            <p:cond delay="500"/>
                                          </p:stCondLst>
                                        </p:cTn>
                                        <p:tgtEl>
                                          <p:spTgt spid="132"/>
                                        </p:tgtEl>
                                        <p:attrNameLst>
                                          <p:attrName>ppt_h</p:attrName>
                                        </p:attrNameLst>
                                      </p:cBhvr>
                                      <p:tavLst>
                                        <p:tav tm="0">
                                          <p:val>
                                            <p:strVal val="#ppt_h*1.08"/>
                                          </p:val>
                                        </p:tav>
                                        <p:tav tm="100000">
                                          <p:val>
                                            <p:strVal val="#ppt_h"/>
                                          </p:val>
                                        </p:tav>
                                      </p:tavLst>
                                    </p:anim>
                                  </p:childTnLst>
                                </p:cTn>
                              </p:par>
                              <p:par>
                                <p:cTn id="146" presetID="42" presetClass="entr" presetSubtype="0" fill="hold" grpId="0" nodeType="withEffect">
                                  <p:stCondLst>
                                    <p:cond delay="150"/>
                                  </p:stCondLst>
                                  <p:childTnLst>
                                    <p:set>
                                      <p:cBhvr>
                                        <p:cTn id="147" dur="1" fill="hold">
                                          <p:stCondLst>
                                            <p:cond delay="0"/>
                                          </p:stCondLst>
                                        </p:cTn>
                                        <p:tgtEl>
                                          <p:spTgt spid="130"/>
                                        </p:tgtEl>
                                        <p:attrNameLst>
                                          <p:attrName>style.visibility</p:attrName>
                                        </p:attrNameLst>
                                      </p:cBhvr>
                                      <p:to>
                                        <p:strVal val="visible"/>
                                      </p:to>
                                    </p:set>
                                    <p:animEffect transition="in" filter="fade">
                                      <p:cBhvr>
                                        <p:cTn id="148" dur="500"/>
                                        <p:tgtEl>
                                          <p:spTgt spid="130"/>
                                        </p:tgtEl>
                                      </p:cBhvr>
                                    </p:animEffect>
                                    <p:anim calcmode="lin" valueType="num">
                                      <p:cBhvr additive="base">
                                        <p:cTn id="149" dur="500" decel="100000" fill="hold"/>
                                        <p:tgtEl>
                                          <p:spTgt spid="130"/>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BOGUS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Problem: One Shared Faker, Different Data per Test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The seed fixes the sequence. A shared Faker keeps moving along it.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MANY CASES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140</a:t>
            </a:r>
            <a:endParaRPr lang="en-US" sz="850" dirty="0"/>
          </a:p>
        </p:txBody>
      </p:sp>
      <p:sp>
        <p:nvSpPr>
          <p:cNvPr id="101" name="s101"/>
          <p:cNvSpPr/>
          <p:nvPr/>
        </p:nvSpPr>
        <p:spPr>
          <a:xfrm>
            <a:off x="543154" y="1810512"/>
            <a:ext cx="5406847" cy="329184"/>
          </a:xfrm>
          <a:prstGeom prst="roundRect">
            <a:avLst>
              <a:gd name="adj" fmla="val 30000"/>
            </a:avLst>
          </a:prstGeom>
          <a:solidFill>
            <a:srgbClr val="F87171">
              <a:alpha val="14000"/>
            </a:srgbClr>
          </a:solidFill>
          <a:ln w="12700">
            <a:solidFill>
              <a:srgbClr val="F87171"/>
            </a:solidFill>
            <a:prstDash val="solid"/>
          </a:ln>
        </p:spPr>
        <p:txBody>
          <a:bodyPr wrap="square" lIns="182880" tIns="0" rIns="9144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  PROBLEM   </a:t>
            </a:r>
            <a:r>
              <a:rPr lang="en-US" sz="1200" b="1" dirty="0">
                <a:solidFill>
                  <a:srgbClr val="FFFFFF"/>
                </a:solidFill>
                <a:latin typeface="Segoe UI"/>
                <a:ea typeface="Segoe UI"/>
                <a:cs typeface="Segoe UI"/>
              </a:rPr>
              <a:t>one Faker shared by all tests</a:t>
            </a:r>
            <a:endParaRPr lang="en-US" sz="1200" dirty="0"/>
          </a:p>
        </p:txBody>
      </p:sp>
      <p:sp>
        <p:nvSpPr>
          <p:cNvPr id="102" name="s102"/>
          <p:cNvSpPr/>
          <p:nvPr/>
        </p:nvSpPr>
        <p:spPr>
          <a:xfrm>
            <a:off x="6224321" y="1810512"/>
            <a:ext cx="5406847" cy="329184"/>
          </a:xfrm>
          <a:prstGeom prst="roundRect">
            <a:avLst>
              <a:gd name="adj" fmla="val 30000"/>
            </a:avLst>
          </a:prstGeom>
          <a:solidFill>
            <a:srgbClr val="34D399">
              <a:alpha val="14000"/>
            </a:srgbClr>
          </a:solidFill>
          <a:ln w="12700">
            <a:solidFill>
              <a:srgbClr val="34D399"/>
            </a:solidFill>
            <a:prstDash val="solid"/>
          </a:ln>
        </p:spPr>
        <p:txBody>
          <a:bodyPr wrap="square" lIns="182880" tIns="0" rIns="9144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  SOLUTION   </a:t>
            </a:r>
            <a:r>
              <a:rPr lang="en-US" sz="1200" b="1" dirty="0">
                <a:solidFill>
                  <a:srgbClr val="FFFFFF"/>
                </a:solidFill>
                <a:latin typeface="Segoe UI"/>
                <a:ea typeface="Segoe UI"/>
                <a:cs typeface="Segoe UI"/>
              </a:rPr>
              <a:t>a new Faker per test, same seed</a:t>
            </a:r>
            <a:endParaRPr lang="en-US" sz="1200" dirty="0"/>
          </a:p>
        </p:txBody>
      </p:sp>
      <p:sp>
        <p:nvSpPr>
          <p:cNvPr id="103" name="s103"/>
          <p:cNvSpPr/>
          <p:nvPr/>
        </p:nvSpPr>
        <p:spPr>
          <a:xfrm>
            <a:off x="543154" y="2240280"/>
            <a:ext cx="5406847" cy="196596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4" name="s104"/>
          <p:cNvSpPr/>
          <p:nvPr/>
        </p:nvSpPr>
        <p:spPr>
          <a:xfrm>
            <a:off x="707746" y="23865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5" name="s105"/>
          <p:cNvSpPr/>
          <p:nvPr/>
        </p:nvSpPr>
        <p:spPr>
          <a:xfrm>
            <a:off x="890626" y="23865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6" name="s106"/>
          <p:cNvSpPr/>
          <p:nvPr/>
        </p:nvSpPr>
        <p:spPr>
          <a:xfrm>
            <a:off x="1073506" y="23865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7" name="s107"/>
          <p:cNvSpPr/>
          <p:nvPr/>
        </p:nvSpPr>
        <p:spPr>
          <a:xfrm>
            <a:off x="1320394" y="2313432"/>
            <a:ext cx="1461211"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CustomerTests.cs</a:t>
            </a:r>
            <a:endParaRPr lang="en-US" sz="950" dirty="0"/>
          </a:p>
        </p:txBody>
      </p:sp>
      <p:cxnSp>
        <p:nvCxnSpPr>
          <p:cNvPr id="108" name="ln108"/>
          <p:cNvCxnSpPr/>
          <p:nvPr/>
        </p:nvCxnSpPr>
        <p:spPr>
          <a:xfrm>
            <a:off x="543154" y="2651760"/>
            <a:ext cx="5406847" cy="0"/>
          </a:xfrm>
          <a:prstGeom prst="line">
            <a:avLst/>
          </a:prstGeom>
          <a:ln w="9525">
            <a:solidFill>
              <a:srgbClr val="1E3A5F"/>
            </a:solidFill>
          </a:ln>
        </p:spPr>
      </p:cxnSp>
      <p:sp>
        <p:nvSpPr>
          <p:cNvPr id="109" name="s109"/>
          <p:cNvSpPr/>
          <p:nvPr/>
        </p:nvSpPr>
        <p:spPr>
          <a:xfrm>
            <a:off x="543154" y="2770632"/>
            <a:ext cx="5406847"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60A5FA"/>
                </a:solidFill>
                <a:latin typeface="Consolas"/>
                <a:ea typeface="Consolas"/>
                <a:cs typeface="Consolas"/>
              </a:rPr>
              <a:t>static</a:t>
            </a:r>
            <a:r>
              <a:rPr lang="en-US" sz="1100" b="0" dirty="0">
                <a:solidFill>
                  <a:srgbClr val="E2E8F0"/>
                </a:solidFill>
                <a:latin typeface="Consolas"/>
                <a:ea typeface="Consolas"/>
                <a:cs typeface="Consolas"/>
              </a:rPr>
              <a:t> </a:t>
            </a:r>
            <a:r>
              <a:rPr lang="en-US" sz="1100" b="0" dirty="0">
                <a:solidFill>
                  <a:srgbClr val="7DD3FC"/>
                </a:solidFill>
                <a:latin typeface="Consolas"/>
                <a:ea typeface="Consolas"/>
                <a:cs typeface="Consolas"/>
              </a:rPr>
              <a:t>Faker</a:t>
            </a:r>
            <a:r>
              <a:rPr lang="en-US" sz="1100" b="0" dirty="0">
                <a:solidFill>
                  <a:srgbClr val="E2E8F0"/>
                </a:solidFill>
                <a:latin typeface="Consolas"/>
                <a:ea typeface="Consolas"/>
                <a:cs typeface="Consolas"/>
              </a:rPr>
              <a:t>&lt;</a:t>
            </a:r>
            <a:r>
              <a:rPr lang="en-US" sz="1100" b="0" dirty="0">
                <a:solidFill>
                  <a:srgbClr val="7DD3FC"/>
                </a:solidFill>
                <a:latin typeface="Consolas"/>
                <a:ea typeface="Consolas"/>
                <a:cs typeface="Consolas"/>
              </a:rPr>
              <a:t>Customer</a:t>
            </a:r>
            <a:r>
              <a:rPr lang="en-US" sz="1100" b="0" dirty="0">
                <a:solidFill>
                  <a:srgbClr val="E2E8F0"/>
                </a:solidFill>
                <a:latin typeface="Consolas"/>
                <a:ea typeface="Consolas"/>
                <a:cs typeface="Consolas"/>
              </a:rPr>
              <a:t>&gt; faker = </a:t>
            </a:r>
            <a:r>
              <a:rPr lang="en-US" sz="1100" b="0" dirty="0">
                <a:solidFill>
                  <a:srgbClr val="60A5FA"/>
                </a:solidFill>
                <a:latin typeface="Consolas"/>
                <a:ea typeface="Consolas"/>
                <a:cs typeface="Consolas"/>
              </a:rPr>
              <a:t>new</a:t>
            </a:r>
            <a:r>
              <a:rPr lang="en-US" sz="1100" b="0" dirty="0">
                <a:solidFill>
                  <a:srgbClr val="E2E8F0"/>
                </a:solidFill>
                <a:latin typeface="Consolas"/>
                <a:ea typeface="Consolas"/>
                <a:cs typeface="Consolas"/>
              </a:rPr>
              <a:t> </a:t>
            </a:r>
            <a:r>
              <a:rPr lang="en-US" sz="1100" b="0" dirty="0">
                <a:solidFill>
                  <a:srgbClr val="7DD3FC"/>
                </a:solidFill>
                <a:latin typeface="Consolas"/>
                <a:ea typeface="Consolas"/>
                <a:cs typeface="Consolas"/>
              </a:rPr>
              <a:t>Faker</a:t>
            </a:r>
            <a:r>
              <a:rPr lang="en-US" sz="1100" b="0" dirty="0">
                <a:solidFill>
                  <a:srgbClr val="E2E8F0"/>
                </a:solidFill>
                <a:latin typeface="Consolas"/>
                <a:ea typeface="Consolas"/>
                <a:cs typeface="Consolas"/>
              </a:rPr>
              <a:t>&lt;</a:t>
            </a:r>
            <a:r>
              <a:rPr lang="en-US" sz="1100" b="0" dirty="0">
                <a:solidFill>
                  <a:srgbClr val="7DD3FC"/>
                </a:solidFill>
                <a:latin typeface="Consolas"/>
                <a:ea typeface="Consolas"/>
                <a:cs typeface="Consolas"/>
              </a:rPr>
              <a:t>Customer</a:t>
            </a:r>
            <a:r>
              <a:rPr lang="en-US" sz="1100" b="0" dirty="0">
                <a:solidFill>
                  <a:srgbClr val="E2E8F0"/>
                </a:solidFill>
                <a:latin typeface="Consolas"/>
                <a:ea typeface="Consolas"/>
                <a:cs typeface="Consolas"/>
              </a:rPr>
              <a:t>&gt;()</a:t>
            </a:r>
            <a:endParaRPr lang="en-US" sz="1100" dirty="0"/>
          </a:p>
        </p:txBody>
      </p:sp>
      <p:sp>
        <p:nvSpPr>
          <p:cNvPr id="110" name="s110"/>
          <p:cNvSpPr/>
          <p:nvPr/>
        </p:nvSpPr>
        <p:spPr>
          <a:xfrm>
            <a:off x="543154" y="2938272"/>
            <a:ext cx="5406847"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E2E8F0"/>
                </a:solidFill>
                <a:latin typeface="Consolas"/>
                <a:ea typeface="Consolas"/>
                <a:cs typeface="Consolas"/>
              </a:rPr>
              <a:t>    .</a:t>
            </a:r>
            <a:r>
              <a:rPr lang="en-US" sz="1100" b="0" dirty="0">
                <a:solidFill>
                  <a:srgbClr val="7DD3FC"/>
                </a:solidFill>
                <a:latin typeface="Consolas"/>
                <a:ea typeface="Consolas"/>
                <a:cs typeface="Consolas"/>
              </a:rPr>
              <a:t>UseSeed</a:t>
            </a:r>
            <a:r>
              <a:rPr lang="en-US" sz="1100" b="0" dirty="0">
                <a:solidFill>
                  <a:srgbClr val="E2E8F0"/>
                </a:solidFill>
                <a:latin typeface="Consolas"/>
                <a:ea typeface="Consolas"/>
                <a:cs typeface="Consolas"/>
              </a:rPr>
              <a:t>(</a:t>
            </a:r>
            <a:r>
              <a:rPr lang="en-US" sz="1100" b="0" dirty="0">
                <a:solidFill>
                  <a:srgbClr val="C4B5FD"/>
                </a:solidFill>
                <a:latin typeface="Consolas"/>
                <a:ea typeface="Consolas"/>
                <a:cs typeface="Consolas"/>
              </a:rPr>
              <a:t>2026</a:t>
            </a:r>
            <a:r>
              <a:rPr lang="en-US" sz="1100" b="0" dirty="0">
                <a:solidFill>
                  <a:srgbClr val="E2E8F0"/>
                </a:solidFill>
                <a:latin typeface="Consolas"/>
                <a:ea typeface="Consolas"/>
                <a:cs typeface="Consolas"/>
              </a:rPr>
              <a:t>);</a:t>
            </a:r>
            <a:endParaRPr lang="en-US" sz="1100" dirty="0"/>
          </a:p>
        </p:txBody>
      </p:sp>
      <p:sp>
        <p:nvSpPr>
          <p:cNvPr id="111" name="s111"/>
          <p:cNvSpPr/>
          <p:nvPr/>
        </p:nvSpPr>
        <p:spPr>
          <a:xfrm>
            <a:off x="543154" y="3273552"/>
            <a:ext cx="5406847"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6FAE7A"/>
                </a:solidFill>
                <a:latin typeface="Consolas"/>
                <a:ea typeface="Consolas"/>
                <a:cs typeface="Consolas"/>
              </a:rPr>
              <a:t>// Test 1</a:t>
            </a:r>
            <a:endParaRPr lang="en-US" sz="1100" dirty="0"/>
          </a:p>
        </p:txBody>
      </p:sp>
      <p:sp>
        <p:nvSpPr>
          <p:cNvPr id="112" name="s112"/>
          <p:cNvSpPr/>
          <p:nvPr/>
        </p:nvSpPr>
        <p:spPr>
          <a:xfrm>
            <a:off x="543154" y="3441192"/>
            <a:ext cx="5406847"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60A5FA"/>
                </a:solidFill>
                <a:latin typeface="Consolas"/>
                <a:ea typeface="Consolas"/>
                <a:cs typeface="Consolas"/>
              </a:rPr>
              <a:t>var</a:t>
            </a:r>
            <a:r>
              <a:rPr lang="en-US" sz="1100" b="0" dirty="0">
                <a:solidFill>
                  <a:srgbClr val="E2E8F0"/>
                </a:solidFill>
                <a:latin typeface="Consolas"/>
                <a:ea typeface="Consolas"/>
                <a:cs typeface="Consolas"/>
              </a:rPr>
              <a:t> customers1 = faker.</a:t>
            </a:r>
            <a:r>
              <a:rPr lang="en-US" sz="1100" b="0" dirty="0">
                <a:solidFill>
                  <a:srgbClr val="7DD3FC"/>
                </a:solidFill>
                <a:latin typeface="Consolas"/>
                <a:ea typeface="Consolas"/>
                <a:cs typeface="Consolas"/>
              </a:rPr>
              <a:t>Generate</a:t>
            </a:r>
            <a:r>
              <a:rPr lang="en-US" sz="1100" b="0" dirty="0">
                <a:solidFill>
                  <a:srgbClr val="E2E8F0"/>
                </a:solidFill>
                <a:latin typeface="Consolas"/>
                <a:ea typeface="Consolas"/>
                <a:cs typeface="Consolas"/>
              </a:rPr>
              <a:t>(</a:t>
            </a:r>
            <a:r>
              <a:rPr lang="en-US" sz="1100" b="0" dirty="0">
                <a:solidFill>
                  <a:srgbClr val="C4B5FD"/>
                </a:solidFill>
                <a:latin typeface="Consolas"/>
                <a:ea typeface="Consolas"/>
                <a:cs typeface="Consolas"/>
              </a:rPr>
              <a:t>100</a:t>
            </a:r>
            <a:r>
              <a:rPr lang="en-US" sz="1100" b="0" dirty="0">
                <a:solidFill>
                  <a:srgbClr val="E2E8F0"/>
                </a:solidFill>
                <a:latin typeface="Consolas"/>
                <a:ea typeface="Consolas"/>
                <a:cs typeface="Consolas"/>
              </a:rPr>
              <a:t>);</a:t>
            </a:r>
            <a:endParaRPr lang="en-US" sz="1100" dirty="0"/>
          </a:p>
        </p:txBody>
      </p:sp>
      <p:sp>
        <p:nvSpPr>
          <p:cNvPr id="113" name="s113"/>
          <p:cNvSpPr/>
          <p:nvPr/>
        </p:nvSpPr>
        <p:spPr>
          <a:xfrm>
            <a:off x="543154" y="3776472"/>
            <a:ext cx="5406847"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6FAE7A"/>
                </a:solidFill>
                <a:latin typeface="Consolas"/>
                <a:ea typeface="Consolas"/>
                <a:cs typeface="Consolas"/>
              </a:rPr>
              <a:t>// Test 2</a:t>
            </a:r>
            <a:endParaRPr lang="en-US" sz="1100" dirty="0"/>
          </a:p>
        </p:txBody>
      </p:sp>
      <p:sp>
        <p:nvSpPr>
          <p:cNvPr id="114" name="s114"/>
          <p:cNvSpPr/>
          <p:nvPr/>
        </p:nvSpPr>
        <p:spPr>
          <a:xfrm>
            <a:off x="543154" y="3944112"/>
            <a:ext cx="5406847"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60A5FA"/>
                </a:solidFill>
                <a:latin typeface="Consolas"/>
                <a:ea typeface="Consolas"/>
                <a:cs typeface="Consolas"/>
              </a:rPr>
              <a:t>var</a:t>
            </a:r>
            <a:r>
              <a:rPr lang="en-US" sz="1100" b="0" dirty="0">
                <a:solidFill>
                  <a:srgbClr val="E2E8F0"/>
                </a:solidFill>
                <a:latin typeface="Consolas"/>
                <a:ea typeface="Consolas"/>
                <a:cs typeface="Consolas"/>
              </a:rPr>
              <a:t> customers2 = faker.</a:t>
            </a:r>
            <a:r>
              <a:rPr lang="en-US" sz="1100" b="0" dirty="0">
                <a:solidFill>
                  <a:srgbClr val="7DD3FC"/>
                </a:solidFill>
                <a:latin typeface="Consolas"/>
                <a:ea typeface="Consolas"/>
                <a:cs typeface="Consolas"/>
              </a:rPr>
              <a:t>Generate</a:t>
            </a:r>
            <a:r>
              <a:rPr lang="en-US" sz="1100" b="0" dirty="0">
                <a:solidFill>
                  <a:srgbClr val="E2E8F0"/>
                </a:solidFill>
                <a:latin typeface="Consolas"/>
                <a:ea typeface="Consolas"/>
                <a:cs typeface="Consolas"/>
              </a:rPr>
              <a:t>(</a:t>
            </a:r>
            <a:r>
              <a:rPr lang="en-US" sz="1100" b="0" dirty="0">
                <a:solidFill>
                  <a:srgbClr val="C4B5FD"/>
                </a:solidFill>
                <a:latin typeface="Consolas"/>
                <a:ea typeface="Consolas"/>
                <a:cs typeface="Consolas"/>
              </a:rPr>
              <a:t>100</a:t>
            </a:r>
            <a:r>
              <a:rPr lang="en-US" sz="1100" b="0" dirty="0">
                <a:solidFill>
                  <a:srgbClr val="E2E8F0"/>
                </a:solidFill>
                <a:latin typeface="Consolas"/>
                <a:ea typeface="Consolas"/>
                <a:cs typeface="Consolas"/>
              </a:rPr>
              <a:t>);</a:t>
            </a:r>
            <a:endParaRPr lang="en-US" sz="1100" dirty="0"/>
          </a:p>
        </p:txBody>
      </p:sp>
      <p:sp>
        <p:nvSpPr>
          <p:cNvPr id="115" name="s115"/>
          <p:cNvSpPr/>
          <p:nvPr/>
        </p:nvSpPr>
        <p:spPr>
          <a:xfrm>
            <a:off x="6224321" y="2240280"/>
            <a:ext cx="5406847" cy="196596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6" name="s116"/>
          <p:cNvSpPr/>
          <p:nvPr/>
        </p:nvSpPr>
        <p:spPr>
          <a:xfrm>
            <a:off x="6388913" y="23865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7" name="s117"/>
          <p:cNvSpPr/>
          <p:nvPr/>
        </p:nvSpPr>
        <p:spPr>
          <a:xfrm>
            <a:off x="6571793" y="23865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18" name="s118"/>
          <p:cNvSpPr/>
          <p:nvPr/>
        </p:nvSpPr>
        <p:spPr>
          <a:xfrm>
            <a:off x="6754673" y="23865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19" name="s119"/>
          <p:cNvSpPr/>
          <p:nvPr/>
        </p:nvSpPr>
        <p:spPr>
          <a:xfrm>
            <a:off x="7001561" y="2313432"/>
            <a:ext cx="1461211"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CustomerTests.cs</a:t>
            </a:r>
            <a:endParaRPr lang="en-US" sz="950" dirty="0"/>
          </a:p>
        </p:txBody>
      </p:sp>
      <p:cxnSp>
        <p:nvCxnSpPr>
          <p:cNvPr id="120" name="ln120"/>
          <p:cNvCxnSpPr/>
          <p:nvPr/>
        </p:nvCxnSpPr>
        <p:spPr>
          <a:xfrm>
            <a:off x="6224321" y="2651760"/>
            <a:ext cx="5406847" cy="0"/>
          </a:xfrm>
          <a:prstGeom prst="line">
            <a:avLst/>
          </a:prstGeom>
          <a:ln w="9525">
            <a:solidFill>
              <a:srgbClr val="1E3A5F"/>
            </a:solidFill>
          </a:ln>
        </p:spPr>
      </p:cxnSp>
      <p:sp>
        <p:nvSpPr>
          <p:cNvPr id="121" name="s121"/>
          <p:cNvSpPr/>
          <p:nvPr/>
        </p:nvSpPr>
        <p:spPr>
          <a:xfrm>
            <a:off x="6224321" y="2770632"/>
            <a:ext cx="5406847"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7DD3FC"/>
                </a:solidFill>
                <a:latin typeface="Consolas"/>
                <a:ea typeface="Consolas"/>
                <a:cs typeface="Consolas"/>
              </a:rPr>
              <a:t>Faker</a:t>
            </a:r>
            <a:r>
              <a:rPr lang="en-US" sz="1100" b="0" dirty="0">
                <a:solidFill>
                  <a:srgbClr val="E2E8F0"/>
                </a:solidFill>
                <a:latin typeface="Consolas"/>
                <a:ea typeface="Consolas"/>
                <a:cs typeface="Consolas"/>
              </a:rPr>
              <a:t>&lt;</a:t>
            </a:r>
            <a:r>
              <a:rPr lang="en-US" sz="1100" b="0" dirty="0">
                <a:solidFill>
                  <a:srgbClr val="7DD3FC"/>
                </a:solidFill>
                <a:latin typeface="Consolas"/>
                <a:ea typeface="Consolas"/>
                <a:cs typeface="Consolas"/>
              </a:rPr>
              <a:t>Customer</a:t>
            </a:r>
            <a:r>
              <a:rPr lang="en-US" sz="1100" b="0" dirty="0">
                <a:solidFill>
                  <a:srgbClr val="E2E8F0"/>
                </a:solidFill>
                <a:latin typeface="Consolas"/>
                <a:ea typeface="Consolas"/>
                <a:cs typeface="Consolas"/>
              </a:rPr>
              <a:t>&gt; </a:t>
            </a:r>
            <a:r>
              <a:rPr lang="en-US" sz="1100" b="0" dirty="0">
                <a:solidFill>
                  <a:srgbClr val="7DD3FC"/>
                </a:solidFill>
                <a:latin typeface="Consolas"/>
                <a:ea typeface="Consolas"/>
                <a:cs typeface="Consolas"/>
              </a:rPr>
              <a:t>CreateFaker</a:t>
            </a:r>
            <a:r>
              <a:rPr lang="en-US" sz="1100" b="0" dirty="0">
                <a:solidFill>
                  <a:srgbClr val="E2E8F0"/>
                </a:solidFill>
                <a:latin typeface="Consolas"/>
                <a:ea typeface="Consolas"/>
                <a:cs typeface="Consolas"/>
              </a:rPr>
              <a:t>() =&gt;</a:t>
            </a:r>
            <a:endParaRPr lang="en-US" sz="1100" dirty="0"/>
          </a:p>
        </p:txBody>
      </p:sp>
      <p:sp>
        <p:nvSpPr>
          <p:cNvPr id="122" name="s122"/>
          <p:cNvSpPr/>
          <p:nvPr/>
        </p:nvSpPr>
        <p:spPr>
          <a:xfrm>
            <a:off x="6224321" y="2938272"/>
            <a:ext cx="5406847"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E2E8F0"/>
                </a:solidFill>
                <a:latin typeface="Consolas"/>
                <a:ea typeface="Consolas"/>
                <a:cs typeface="Consolas"/>
              </a:rPr>
              <a:t>    </a:t>
            </a:r>
            <a:r>
              <a:rPr lang="en-US" sz="1100" b="0" dirty="0">
                <a:solidFill>
                  <a:srgbClr val="60A5FA"/>
                </a:solidFill>
                <a:latin typeface="Consolas"/>
                <a:ea typeface="Consolas"/>
                <a:cs typeface="Consolas"/>
              </a:rPr>
              <a:t>new</a:t>
            </a:r>
            <a:r>
              <a:rPr lang="en-US" sz="1100" b="0" dirty="0">
                <a:solidFill>
                  <a:srgbClr val="E2E8F0"/>
                </a:solidFill>
                <a:latin typeface="Consolas"/>
                <a:ea typeface="Consolas"/>
                <a:cs typeface="Consolas"/>
              </a:rPr>
              <a:t> </a:t>
            </a:r>
            <a:r>
              <a:rPr lang="en-US" sz="1100" b="0" dirty="0">
                <a:solidFill>
                  <a:srgbClr val="7DD3FC"/>
                </a:solidFill>
                <a:latin typeface="Consolas"/>
                <a:ea typeface="Consolas"/>
                <a:cs typeface="Consolas"/>
              </a:rPr>
              <a:t>Faker</a:t>
            </a:r>
            <a:r>
              <a:rPr lang="en-US" sz="1100" b="0" dirty="0">
                <a:solidFill>
                  <a:srgbClr val="E2E8F0"/>
                </a:solidFill>
                <a:latin typeface="Consolas"/>
                <a:ea typeface="Consolas"/>
                <a:cs typeface="Consolas"/>
              </a:rPr>
              <a:t>&lt;</a:t>
            </a:r>
            <a:r>
              <a:rPr lang="en-US" sz="1100" b="0" dirty="0">
                <a:solidFill>
                  <a:srgbClr val="7DD3FC"/>
                </a:solidFill>
                <a:latin typeface="Consolas"/>
                <a:ea typeface="Consolas"/>
                <a:cs typeface="Consolas"/>
              </a:rPr>
              <a:t>Customer</a:t>
            </a:r>
            <a:r>
              <a:rPr lang="en-US" sz="1100" b="0" dirty="0">
                <a:solidFill>
                  <a:srgbClr val="E2E8F0"/>
                </a:solidFill>
                <a:latin typeface="Consolas"/>
                <a:ea typeface="Consolas"/>
                <a:cs typeface="Consolas"/>
              </a:rPr>
              <a:t>&gt;()</a:t>
            </a:r>
            <a:endParaRPr lang="en-US" sz="1100" dirty="0"/>
          </a:p>
        </p:txBody>
      </p:sp>
      <p:sp>
        <p:nvSpPr>
          <p:cNvPr id="123" name="s123"/>
          <p:cNvSpPr/>
          <p:nvPr/>
        </p:nvSpPr>
        <p:spPr>
          <a:xfrm>
            <a:off x="6224321" y="3105912"/>
            <a:ext cx="5406847"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E2E8F0"/>
                </a:solidFill>
                <a:latin typeface="Consolas"/>
                <a:ea typeface="Consolas"/>
                <a:cs typeface="Consolas"/>
              </a:rPr>
              <a:t>        .</a:t>
            </a:r>
            <a:r>
              <a:rPr lang="en-US" sz="1100" b="0" dirty="0">
                <a:solidFill>
                  <a:srgbClr val="7DD3FC"/>
                </a:solidFill>
                <a:latin typeface="Consolas"/>
                <a:ea typeface="Consolas"/>
                <a:cs typeface="Consolas"/>
              </a:rPr>
              <a:t>UseSeed</a:t>
            </a:r>
            <a:r>
              <a:rPr lang="en-US" sz="1100" b="0" dirty="0">
                <a:solidFill>
                  <a:srgbClr val="E2E8F0"/>
                </a:solidFill>
                <a:latin typeface="Consolas"/>
                <a:ea typeface="Consolas"/>
                <a:cs typeface="Consolas"/>
              </a:rPr>
              <a:t>(</a:t>
            </a:r>
            <a:r>
              <a:rPr lang="en-US" sz="1100" b="0" dirty="0">
                <a:solidFill>
                  <a:srgbClr val="C4B5FD"/>
                </a:solidFill>
                <a:latin typeface="Consolas"/>
                <a:ea typeface="Consolas"/>
                <a:cs typeface="Consolas"/>
              </a:rPr>
              <a:t>2026</a:t>
            </a:r>
            <a:r>
              <a:rPr lang="en-US" sz="1100" b="0" dirty="0">
                <a:solidFill>
                  <a:srgbClr val="E2E8F0"/>
                </a:solidFill>
                <a:latin typeface="Consolas"/>
                <a:ea typeface="Consolas"/>
                <a:cs typeface="Consolas"/>
              </a:rPr>
              <a:t>)</a:t>
            </a:r>
            <a:endParaRPr lang="en-US" sz="1100" dirty="0"/>
          </a:p>
        </p:txBody>
      </p:sp>
      <p:sp>
        <p:nvSpPr>
          <p:cNvPr id="124" name="s124"/>
          <p:cNvSpPr/>
          <p:nvPr/>
        </p:nvSpPr>
        <p:spPr>
          <a:xfrm>
            <a:off x="6224321" y="3273552"/>
            <a:ext cx="5406847"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E2E8F0"/>
                </a:solidFill>
                <a:latin typeface="Consolas"/>
                <a:ea typeface="Consolas"/>
                <a:cs typeface="Consolas"/>
              </a:rPr>
              <a:t>        .</a:t>
            </a:r>
            <a:r>
              <a:rPr lang="en-US" sz="1100" b="0" dirty="0">
                <a:solidFill>
                  <a:srgbClr val="7DD3FC"/>
                </a:solidFill>
                <a:latin typeface="Consolas"/>
                <a:ea typeface="Consolas"/>
                <a:cs typeface="Consolas"/>
              </a:rPr>
              <a:t>RuleFor</a:t>
            </a:r>
            <a:r>
              <a:rPr lang="en-US" sz="1100" b="0" dirty="0">
                <a:solidFill>
                  <a:srgbClr val="E2E8F0"/>
                </a:solidFill>
                <a:latin typeface="Consolas"/>
                <a:ea typeface="Consolas"/>
                <a:cs typeface="Consolas"/>
              </a:rPr>
              <a:t>(c =&gt; c.</a:t>
            </a:r>
            <a:r>
              <a:rPr lang="en-US" sz="1100" b="0" dirty="0">
                <a:solidFill>
                  <a:srgbClr val="7DD3FC"/>
                </a:solidFill>
                <a:latin typeface="Consolas"/>
                <a:ea typeface="Consolas"/>
                <a:cs typeface="Consolas"/>
              </a:rPr>
              <a:t>Age</a:t>
            </a:r>
            <a:r>
              <a:rPr lang="en-US" sz="1100" b="0" dirty="0">
                <a:solidFill>
                  <a:srgbClr val="E2E8F0"/>
                </a:solidFill>
                <a:latin typeface="Consolas"/>
                <a:ea typeface="Consolas"/>
                <a:cs typeface="Consolas"/>
              </a:rPr>
              <a:t>, f =&gt; f.</a:t>
            </a:r>
            <a:r>
              <a:rPr lang="en-US" sz="1100" b="0" dirty="0">
                <a:solidFill>
                  <a:srgbClr val="7DD3FC"/>
                </a:solidFill>
                <a:latin typeface="Consolas"/>
                <a:ea typeface="Consolas"/>
                <a:cs typeface="Consolas"/>
              </a:rPr>
              <a:t>Random</a:t>
            </a:r>
            <a:r>
              <a:rPr lang="en-US" sz="1100" b="0" dirty="0">
                <a:solidFill>
                  <a:srgbClr val="E2E8F0"/>
                </a:solidFill>
                <a:latin typeface="Consolas"/>
                <a:ea typeface="Consolas"/>
                <a:cs typeface="Consolas"/>
              </a:rPr>
              <a:t>.</a:t>
            </a:r>
            <a:r>
              <a:rPr lang="en-US" sz="1100" b="0" dirty="0">
                <a:solidFill>
                  <a:srgbClr val="7DD3FC"/>
                </a:solidFill>
                <a:latin typeface="Consolas"/>
                <a:ea typeface="Consolas"/>
                <a:cs typeface="Consolas"/>
              </a:rPr>
              <a:t>Int</a:t>
            </a:r>
            <a:r>
              <a:rPr lang="en-US" sz="1100" b="0" dirty="0">
                <a:solidFill>
                  <a:srgbClr val="E2E8F0"/>
                </a:solidFill>
                <a:latin typeface="Consolas"/>
                <a:ea typeface="Consolas"/>
                <a:cs typeface="Consolas"/>
              </a:rPr>
              <a:t>(</a:t>
            </a:r>
            <a:r>
              <a:rPr lang="en-US" sz="1100" b="0" dirty="0">
                <a:solidFill>
                  <a:srgbClr val="C4B5FD"/>
                </a:solidFill>
                <a:latin typeface="Consolas"/>
                <a:ea typeface="Consolas"/>
                <a:cs typeface="Consolas"/>
              </a:rPr>
              <a:t>1</a:t>
            </a:r>
            <a:r>
              <a:rPr lang="en-US" sz="1100" b="0" dirty="0">
                <a:solidFill>
                  <a:srgbClr val="E2E8F0"/>
                </a:solidFill>
                <a:latin typeface="Consolas"/>
                <a:ea typeface="Consolas"/>
                <a:cs typeface="Consolas"/>
              </a:rPr>
              <a:t>, </a:t>
            </a:r>
            <a:r>
              <a:rPr lang="en-US" sz="1100" b="0" dirty="0">
                <a:solidFill>
                  <a:srgbClr val="C4B5FD"/>
                </a:solidFill>
                <a:latin typeface="Consolas"/>
                <a:ea typeface="Consolas"/>
                <a:cs typeface="Consolas"/>
              </a:rPr>
              <a:t>90</a:t>
            </a:r>
            <a:r>
              <a:rPr lang="en-US" sz="1100" b="0" dirty="0">
                <a:solidFill>
                  <a:srgbClr val="E2E8F0"/>
                </a:solidFill>
                <a:latin typeface="Consolas"/>
                <a:ea typeface="Consolas"/>
                <a:cs typeface="Consolas"/>
              </a:rPr>
              <a:t>));</a:t>
            </a:r>
            <a:endParaRPr lang="en-US" sz="1100" dirty="0"/>
          </a:p>
        </p:txBody>
      </p:sp>
      <p:sp>
        <p:nvSpPr>
          <p:cNvPr id="125" name="s125"/>
          <p:cNvSpPr/>
          <p:nvPr/>
        </p:nvSpPr>
        <p:spPr>
          <a:xfrm>
            <a:off x="6224321" y="3608832"/>
            <a:ext cx="5406847"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60A5FA"/>
                </a:solidFill>
                <a:latin typeface="Consolas"/>
                <a:ea typeface="Consolas"/>
                <a:cs typeface="Consolas"/>
              </a:rPr>
              <a:t>var</a:t>
            </a:r>
            <a:r>
              <a:rPr lang="en-US" sz="1100" b="0" dirty="0">
                <a:solidFill>
                  <a:srgbClr val="E2E8F0"/>
                </a:solidFill>
                <a:latin typeface="Consolas"/>
                <a:ea typeface="Consolas"/>
                <a:cs typeface="Consolas"/>
              </a:rPr>
              <a:t> customers1 = </a:t>
            </a:r>
            <a:r>
              <a:rPr lang="en-US" sz="1100" b="0" dirty="0">
                <a:solidFill>
                  <a:srgbClr val="7DD3FC"/>
                </a:solidFill>
                <a:latin typeface="Consolas"/>
                <a:ea typeface="Consolas"/>
                <a:cs typeface="Consolas"/>
              </a:rPr>
              <a:t>CreateFaker</a:t>
            </a:r>
            <a:r>
              <a:rPr lang="en-US" sz="1100" b="0" dirty="0">
                <a:solidFill>
                  <a:srgbClr val="E2E8F0"/>
                </a:solidFill>
                <a:latin typeface="Consolas"/>
                <a:ea typeface="Consolas"/>
                <a:cs typeface="Consolas"/>
              </a:rPr>
              <a:t>().</a:t>
            </a:r>
            <a:r>
              <a:rPr lang="en-US" sz="1100" b="0" dirty="0">
                <a:solidFill>
                  <a:srgbClr val="7DD3FC"/>
                </a:solidFill>
                <a:latin typeface="Consolas"/>
                <a:ea typeface="Consolas"/>
                <a:cs typeface="Consolas"/>
              </a:rPr>
              <a:t>Generate</a:t>
            </a:r>
            <a:r>
              <a:rPr lang="en-US" sz="1100" b="0" dirty="0">
                <a:solidFill>
                  <a:srgbClr val="E2E8F0"/>
                </a:solidFill>
                <a:latin typeface="Consolas"/>
                <a:ea typeface="Consolas"/>
                <a:cs typeface="Consolas"/>
              </a:rPr>
              <a:t>(</a:t>
            </a:r>
            <a:r>
              <a:rPr lang="en-US" sz="1100" b="0" dirty="0">
                <a:solidFill>
                  <a:srgbClr val="C4B5FD"/>
                </a:solidFill>
                <a:latin typeface="Consolas"/>
                <a:ea typeface="Consolas"/>
                <a:cs typeface="Consolas"/>
              </a:rPr>
              <a:t>100</a:t>
            </a:r>
            <a:r>
              <a:rPr lang="en-US" sz="1100" b="0" dirty="0">
                <a:solidFill>
                  <a:srgbClr val="E2E8F0"/>
                </a:solidFill>
                <a:latin typeface="Consolas"/>
                <a:ea typeface="Consolas"/>
                <a:cs typeface="Consolas"/>
              </a:rPr>
              <a:t>);</a:t>
            </a:r>
            <a:endParaRPr lang="en-US" sz="1100" dirty="0"/>
          </a:p>
        </p:txBody>
      </p:sp>
      <p:sp>
        <p:nvSpPr>
          <p:cNvPr id="126" name="s126"/>
          <p:cNvSpPr/>
          <p:nvPr/>
        </p:nvSpPr>
        <p:spPr>
          <a:xfrm>
            <a:off x="6224321" y="3776472"/>
            <a:ext cx="5406847"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60A5FA"/>
                </a:solidFill>
                <a:latin typeface="Consolas"/>
                <a:ea typeface="Consolas"/>
                <a:cs typeface="Consolas"/>
              </a:rPr>
              <a:t>var</a:t>
            </a:r>
            <a:r>
              <a:rPr lang="en-US" sz="1100" b="0" dirty="0">
                <a:solidFill>
                  <a:srgbClr val="E2E8F0"/>
                </a:solidFill>
                <a:latin typeface="Consolas"/>
                <a:ea typeface="Consolas"/>
                <a:cs typeface="Consolas"/>
              </a:rPr>
              <a:t> customers2 = </a:t>
            </a:r>
            <a:r>
              <a:rPr lang="en-US" sz="1100" b="0" dirty="0">
                <a:solidFill>
                  <a:srgbClr val="7DD3FC"/>
                </a:solidFill>
                <a:latin typeface="Consolas"/>
                <a:ea typeface="Consolas"/>
                <a:cs typeface="Consolas"/>
              </a:rPr>
              <a:t>CreateFaker</a:t>
            </a:r>
            <a:r>
              <a:rPr lang="en-US" sz="1100" b="0" dirty="0">
                <a:solidFill>
                  <a:srgbClr val="E2E8F0"/>
                </a:solidFill>
                <a:latin typeface="Consolas"/>
                <a:ea typeface="Consolas"/>
                <a:cs typeface="Consolas"/>
              </a:rPr>
              <a:t>().</a:t>
            </a:r>
            <a:r>
              <a:rPr lang="en-US" sz="1100" b="0" dirty="0">
                <a:solidFill>
                  <a:srgbClr val="7DD3FC"/>
                </a:solidFill>
                <a:latin typeface="Consolas"/>
                <a:ea typeface="Consolas"/>
                <a:cs typeface="Consolas"/>
              </a:rPr>
              <a:t>Generate</a:t>
            </a:r>
            <a:r>
              <a:rPr lang="en-US" sz="1100" b="0" dirty="0">
                <a:solidFill>
                  <a:srgbClr val="E2E8F0"/>
                </a:solidFill>
                <a:latin typeface="Consolas"/>
                <a:ea typeface="Consolas"/>
                <a:cs typeface="Consolas"/>
              </a:rPr>
              <a:t>(</a:t>
            </a:r>
            <a:r>
              <a:rPr lang="en-US" sz="1100" b="0" dirty="0">
                <a:solidFill>
                  <a:srgbClr val="C4B5FD"/>
                </a:solidFill>
                <a:latin typeface="Consolas"/>
                <a:ea typeface="Consolas"/>
                <a:cs typeface="Consolas"/>
              </a:rPr>
              <a:t>100</a:t>
            </a:r>
            <a:r>
              <a:rPr lang="en-US" sz="1100" b="0" dirty="0">
                <a:solidFill>
                  <a:srgbClr val="E2E8F0"/>
                </a:solidFill>
                <a:latin typeface="Consolas"/>
                <a:ea typeface="Consolas"/>
                <a:cs typeface="Consolas"/>
              </a:rPr>
              <a:t>);</a:t>
            </a:r>
            <a:endParaRPr lang="en-US" sz="1100" dirty="0"/>
          </a:p>
        </p:txBody>
      </p:sp>
      <p:sp>
        <p:nvSpPr>
          <p:cNvPr id="127" name="s127"/>
          <p:cNvSpPr/>
          <p:nvPr/>
        </p:nvSpPr>
        <p:spPr>
          <a:xfrm>
            <a:off x="652882" y="2743200"/>
            <a:ext cx="5187391" cy="39014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28" name="s128"/>
          <p:cNvSpPr/>
          <p:nvPr/>
        </p:nvSpPr>
        <p:spPr>
          <a:xfrm>
            <a:off x="652882" y="3246120"/>
            <a:ext cx="5187391" cy="89306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29" name="s129"/>
          <p:cNvSpPr/>
          <p:nvPr/>
        </p:nvSpPr>
        <p:spPr>
          <a:xfrm>
            <a:off x="6334049" y="2743200"/>
            <a:ext cx="5187391" cy="72542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30" name="s130"/>
          <p:cNvSpPr/>
          <p:nvPr/>
        </p:nvSpPr>
        <p:spPr>
          <a:xfrm>
            <a:off x="6334049" y="3581400"/>
            <a:ext cx="5187391" cy="39014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31" name="s131"/>
          <p:cNvSpPr txBox="1"/>
          <p:nvPr/>
        </p:nvSpPr>
        <p:spPr>
          <a:xfrm>
            <a:off x="543154" y="4343400"/>
            <a:ext cx="5406847"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1" dirty="0">
                <a:solidFill>
                  <a:srgbClr val="94A3B8"/>
                </a:solidFill>
                <a:latin typeface="Segoe UI"/>
                <a:ea typeface="Segoe UI"/>
                <a:cs typeface="Segoe UI"/>
              </a:rPr>
              <a:t>THE RANDOM SEQUENCE OF SEED 2026 →</a:t>
            </a:r>
            <a:endParaRPr lang="en-US" sz="1000" dirty="0"/>
          </a:p>
        </p:txBody>
      </p:sp>
      <p:sp>
        <p:nvSpPr>
          <p:cNvPr id="132" name="s132"/>
          <p:cNvSpPr/>
          <p:nvPr/>
        </p:nvSpPr>
        <p:spPr>
          <a:xfrm>
            <a:off x="543154" y="4617720"/>
            <a:ext cx="5406847" cy="384048"/>
          </a:xfrm>
          <a:prstGeom prst="roundRect">
            <a:avLst>
              <a:gd name="adj" fmla="val 20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cxnSp>
        <p:nvCxnSpPr>
          <p:cNvPr id="133" name="ln133"/>
          <p:cNvCxnSpPr/>
          <p:nvPr/>
        </p:nvCxnSpPr>
        <p:spPr>
          <a:xfrm>
            <a:off x="1083838" y="4672584"/>
            <a:ext cx="0" cy="274320"/>
          </a:xfrm>
          <a:prstGeom prst="line">
            <a:avLst/>
          </a:prstGeom>
          <a:ln w="9525">
            <a:solidFill>
              <a:srgbClr val="1E3A5F"/>
            </a:solidFill>
          </a:ln>
        </p:spPr>
      </p:cxnSp>
      <p:cxnSp>
        <p:nvCxnSpPr>
          <p:cNvPr id="134" name="ln134"/>
          <p:cNvCxnSpPr/>
          <p:nvPr/>
        </p:nvCxnSpPr>
        <p:spPr>
          <a:xfrm>
            <a:off x="1624523" y="4672584"/>
            <a:ext cx="0" cy="274320"/>
          </a:xfrm>
          <a:prstGeom prst="line">
            <a:avLst/>
          </a:prstGeom>
          <a:ln w="9525">
            <a:solidFill>
              <a:srgbClr val="1E3A5F"/>
            </a:solidFill>
          </a:ln>
        </p:spPr>
      </p:cxnSp>
      <p:cxnSp>
        <p:nvCxnSpPr>
          <p:cNvPr id="135" name="ln135"/>
          <p:cNvCxnSpPr/>
          <p:nvPr/>
        </p:nvCxnSpPr>
        <p:spPr>
          <a:xfrm>
            <a:off x="2165208" y="4672584"/>
            <a:ext cx="0" cy="274320"/>
          </a:xfrm>
          <a:prstGeom prst="line">
            <a:avLst/>
          </a:prstGeom>
          <a:ln w="9525">
            <a:solidFill>
              <a:srgbClr val="1E3A5F"/>
            </a:solidFill>
          </a:ln>
        </p:spPr>
      </p:cxnSp>
      <p:cxnSp>
        <p:nvCxnSpPr>
          <p:cNvPr id="136" name="ln136"/>
          <p:cNvCxnSpPr/>
          <p:nvPr/>
        </p:nvCxnSpPr>
        <p:spPr>
          <a:xfrm>
            <a:off x="2705892" y="4672584"/>
            <a:ext cx="0" cy="274320"/>
          </a:xfrm>
          <a:prstGeom prst="line">
            <a:avLst/>
          </a:prstGeom>
          <a:ln w="9525">
            <a:solidFill>
              <a:srgbClr val="1E3A5F"/>
            </a:solidFill>
          </a:ln>
        </p:spPr>
      </p:cxnSp>
      <p:cxnSp>
        <p:nvCxnSpPr>
          <p:cNvPr id="137" name="ln137"/>
          <p:cNvCxnSpPr/>
          <p:nvPr/>
        </p:nvCxnSpPr>
        <p:spPr>
          <a:xfrm>
            <a:off x="3246577" y="4672584"/>
            <a:ext cx="0" cy="274320"/>
          </a:xfrm>
          <a:prstGeom prst="line">
            <a:avLst/>
          </a:prstGeom>
          <a:ln w="9525">
            <a:solidFill>
              <a:srgbClr val="1E3A5F"/>
            </a:solidFill>
          </a:ln>
        </p:spPr>
      </p:cxnSp>
      <p:cxnSp>
        <p:nvCxnSpPr>
          <p:cNvPr id="138" name="ln138"/>
          <p:cNvCxnSpPr/>
          <p:nvPr/>
        </p:nvCxnSpPr>
        <p:spPr>
          <a:xfrm>
            <a:off x="3787262" y="4672584"/>
            <a:ext cx="0" cy="274320"/>
          </a:xfrm>
          <a:prstGeom prst="line">
            <a:avLst/>
          </a:prstGeom>
          <a:ln w="9525">
            <a:solidFill>
              <a:srgbClr val="1E3A5F"/>
            </a:solidFill>
          </a:ln>
        </p:spPr>
      </p:cxnSp>
      <p:cxnSp>
        <p:nvCxnSpPr>
          <p:cNvPr id="139" name="ln139"/>
          <p:cNvCxnSpPr/>
          <p:nvPr/>
        </p:nvCxnSpPr>
        <p:spPr>
          <a:xfrm>
            <a:off x="4327947" y="4672584"/>
            <a:ext cx="0" cy="274320"/>
          </a:xfrm>
          <a:prstGeom prst="line">
            <a:avLst/>
          </a:prstGeom>
          <a:ln w="9525">
            <a:solidFill>
              <a:srgbClr val="1E3A5F"/>
            </a:solidFill>
          </a:ln>
        </p:spPr>
      </p:cxnSp>
      <p:cxnSp>
        <p:nvCxnSpPr>
          <p:cNvPr id="140" name="ln140"/>
          <p:cNvCxnSpPr/>
          <p:nvPr/>
        </p:nvCxnSpPr>
        <p:spPr>
          <a:xfrm>
            <a:off x="4868631" y="4672584"/>
            <a:ext cx="0" cy="274320"/>
          </a:xfrm>
          <a:prstGeom prst="line">
            <a:avLst/>
          </a:prstGeom>
          <a:ln w="9525">
            <a:solidFill>
              <a:srgbClr val="1E3A5F"/>
            </a:solidFill>
          </a:ln>
        </p:spPr>
      </p:cxnSp>
      <p:cxnSp>
        <p:nvCxnSpPr>
          <p:cNvPr id="141" name="ln141"/>
          <p:cNvCxnSpPr/>
          <p:nvPr/>
        </p:nvCxnSpPr>
        <p:spPr>
          <a:xfrm>
            <a:off x="5409316" y="4672584"/>
            <a:ext cx="0" cy="274320"/>
          </a:xfrm>
          <a:prstGeom prst="line">
            <a:avLst/>
          </a:prstGeom>
          <a:ln w="9525">
            <a:solidFill>
              <a:srgbClr val="1E3A5F"/>
            </a:solidFill>
          </a:ln>
        </p:spPr>
      </p:cxnSp>
      <p:sp>
        <p:nvSpPr>
          <p:cNvPr id="142" name="s142"/>
          <p:cNvSpPr/>
          <p:nvPr/>
        </p:nvSpPr>
        <p:spPr>
          <a:xfrm>
            <a:off x="570586" y="4654296"/>
            <a:ext cx="2648560" cy="310896"/>
          </a:xfrm>
          <a:prstGeom prst="roundRect">
            <a:avLst>
              <a:gd name="adj" fmla="val 20000"/>
            </a:avLst>
          </a:prstGeom>
          <a:solidFill>
            <a:srgbClr val="13D0F7">
              <a:alpha val="55000"/>
            </a:srgbClr>
          </a:solidFill>
          <a:ln w="127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050" b="1" dirty="0">
                <a:solidFill>
                  <a:srgbClr val="FFFFFF"/>
                </a:solidFill>
                <a:latin typeface="Segoe UI"/>
                <a:ea typeface="Segoe UI"/>
                <a:cs typeface="Segoe UI"/>
              </a:rPr>
              <a:t>Test 1: customers 1–100</a:t>
            </a:r>
            <a:endParaRPr lang="en-US" sz="1050" dirty="0"/>
          </a:p>
        </p:txBody>
      </p:sp>
      <p:sp>
        <p:nvSpPr>
          <p:cNvPr id="143" name="s143"/>
          <p:cNvSpPr/>
          <p:nvPr/>
        </p:nvSpPr>
        <p:spPr>
          <a:xfrm>
            <a:off x="3274009" y="4654296"/>
            <a:ext cx="2648560" cy="310896"/>
          </a:xfrm>
          <a:prstGeom prst="roundRect">
            <a:avLst>
              <a:gd name="adj" fmla="val 20000"/>
            </a:avLst>
          </a:prstGeom>
          <a:solidFill>
            <a:srgbClr val="F87171">
              <a:alpha val="55000"/>
            </a:srgbClr>
          </a:solidFill>
          <a:ln w="127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050" b="1" dirty="0">
                <a:solidFill>
                  <a:srgbClr val="FFFFFF"/>
                </a:solidFill>
                <a:latin typeface="Segoe UI"/>
                <a:ea typeface="Segoe UI"/>
                <a:cs typeface="Segoe UI"/>
              </a:rPr>
              <a:t>Test 2: customers 101–200</a:t>
            </a:r>
            <a:endParaRPr lang="en-US" sz="1050" dirty="0"/>
          </a:p>
        </p:txBody>
      </p:sp>
      <p:sp>
        <p:nvSpPr>
          <p:cNvPr id="144" name="s144"/>
          <p:cNvSpPr txBox="1"/>
          <p:nvPr/>
        </p:nvSpPr>
        <p:spPr>
          <a:xfrm>
            <a:off x="543154" y="5074920"/>
            <a:ext cx="5406847"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F87171"/>
                </a:solidFill>
                <a:latin typeface="Segoe UI"/>
                <a:ea typeface="Segoe UI"/>
                <a:cs typeface="Segoe UI"/>
              </a:rPr>
              <a:t>The state moves forward: Test 2 gets the NEXT 100.</a:t>
            </a:r>
            <a:endParaRPr lang="en-US" sz="1200" dirty="0"/>
          </a:p>
          <a:p>
            <a:pPr marL="0" indent="0" algn="l">
              <a:spcBef>
                <a:spcPts val="0"/>
              </a:spcBef>
              <a:spcAft>
                <a:spcPts val="0"/>
              </a:spcAft>
              <a:buNone/>
            </a:pPr>
            <a:r>
              <a:rPr lang="en-US" sz="1150" b="0" dirty="0">
                <a:solidFill>
                  <a:srgbClr val="94A3B8"/>
                </a:solidFill>
                <a:latin typeface="Segoe UI"/>
                <a:ea typeface="Segoe UI"/>
                <a:cs typeface="Segoe UI"/>
              </a:rPr>
              <a:t>Run order changes → the data changes → flaky.</a:t>
            </a:r>
            <a:endParaRPr lang="en-US" sz="1150" dirty="0"/>
          </a:p>
        </p:txBody>
      </p:sp>
      <p:sp>
        <p:nvSpPr>
          <p:cNvPr id="145" name="s145"/>
          <p:cNvSpPr txBox="1"/>
          <p:nvPr/>
        </p:nvSpPr>
        <p:spPr>
          <a:xfrm>
            <a:off x="6224321" y="4343400"/>
            <a:ext cx="5406847"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1" dirty="0">
                <a:solidFill>
                  <a:srgbClr val="94A3B8"/>
                </a:solidFill>
                <a:latin typeface="Segoe UI"/>
                <a:ea typeface="Segoe UI"/>
                <a:cs typeface="Segoe UI"/>
              </a:rPr>
              <a:t>EVERY TEST STARTS AT THE BEGINNING →</a:t>
            </a:r>
            <a:endParaRPr lang="en-US" sz="1000" dirty="0"/>
          </a:p>
        </p:txBody>
      </p:sp>
      <p:sp>
        <p:nvSpPr>
          <p:cNvPr id="146" name="s146"/>
          <p:cNvSpPr/>
          <p:nvPr/>
        </p:nvSpPr>
        <p:spPr>
          <a:xfrm>
            <a:off x="6224321" y="4617720"/>
            <a:ext cx="2703424" cy="384048"/>
          </a:xfrm>
          <a:prstGeom prst="roundRect">
            <a:avLst>
              <a:gd name="adj" fmla="val 20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cxnSp>
        <p:nvCxnSpPr>
          <p:cNvPr id="147" name="ln147"/>
          <p:cNvCxnSpPr/>
          <p:nvPr/>
        </p:nvCxnSpPr>
        <p:spPr>
          <a:xfrm>
            <a:off x="6494663" y="4672584"/>
            <a:ext cx="0" cy="274320"/>
          </a:xfrm>
          <a:prstGeom prst="line">
            <a:avLst/>
          </a:prstGeom>
          <a:ln w="9525">
            <a:solidFill>
              <a:srgbClr val="1E3A5F"/>
            </a:solidFill>
          </a:ln>
        </p:spPr>
      </p:cxnSp>
      <p:cxnSp>
        <p:nvCxnSpPr>
          <p:cNvPr id="148" name="ln148"/>
          <p:cNvCxnSpPr/>
          <p:nvPr/>
        </p:nvCxnSpPr>
        <p:spPr>
          <a:xfrm>
            <a:off x="6765006" y="4672584"/>
            <a:ext cx="0" cy="274320"/>
          </a:xfrm>
          <a:prstGeom prst="line">
            <a:avLst/>
          </a:prstGeom>
          <a:ln w="9525">
            <a:solidFill>
              <a:srgbClr val="1E3A5F"/>
            </a:solidFill>
          </a:ln>
        </p:spPr>
      </p:cxnSp>
      <p:cxnSp>
        <p:nvCxnSpPr>
          <p:cNvPr id="149" name="ln149"/>
          <p:cNvCxnSpPr/>
          <p:nvPr/>
        </p:nvCxnSpPr>
        <p:spPr>
          <a:xfrm>
            <a:off x="7035348" y="4672584"/>
            <a:ext cx="0" cy="274320"/>
          </a:xfrm>
          <a:prstGeom prst="line">
            <a:avLst/>
          </a:prstGeom>
          <a:ln w="9525">
            <a:solidFill>
              <a:srgbClr val="1E3A5F"/>
            </a:solidFill>
          </a:ln>
        </p:spPr>
      </p:cxnSp>
      <p:cxnSp>
        <p:nvCxnSpPr>
          <p:cNvPr id="150" name="ln150"/>
          <p:cNvCxnSpPr/>
          <p:nvPr/>
        </p:nvCxnSpPr>
        <p:spPr>
          <a:xfrm>
            <a:off x="7305690" y="4672584"/>
            <a:ext cx="0" cy="274320"/>
          </a:xfrm>
          <a:prstGeom prst="line">
            <a:avLst/>
          </a:prstGeom>
          <a:ln w="9525">
            <a:solidFill>
              <a:srgbClr val="1E3A5F"/>
            </a:solidFill>
          </a:ln>
        </p:spPr>
      </p:cxnSp>
      <p:cxnSp>
        <p:nvCxnSpPr>
          <p:cNvPr id="151" name="ln151"/>
          <p:cNvCxnSpPr/>
          <p:nvPr/>
        </p:nvCxnSpPr>
        <p:spPr>
          <a:xfrm>
            <a:off x="7576033" y="4672584"/>
            <a:ext cx="0" cy="274320"/>
          </a:xfrm>
          <a:prstGeom prst="line">
            <a:avLst/>
          </a:prstGeom>
          <a:ln w="9525">
            <a:solidFill>
              <a:srgbClr val="1E3A5F"/>
            </a:solidFill>
          </a:ln>
        </p:spPr>
      </p:cxnSp>
      <p:cxnSp>
        <p:nvCxnSpPr>
          <p:cNvPr id="152" name="ln152"/>
          <p:cNvCxnSpPr/>
          <p:nvPr/>
        </p:nvCxnSpPr>
        <p:spPr>
          <a:xfrm>
            <a:off x="7846375" y="4672584"/>
            <a:ext cx="0" cy="274320"/>
          </a:xfrm>
          <a:prstGeom prst="line">
            <a:avLst/>
          </a:prstGeom>
          <a:ln w="9525">
            <a:solidFill>
              <a:srgbClr val="1E3A5F"/>
            </a:solidFill>
          </a:ln>
        </p:spPr>
      </p:cxnSp>
      <p:cxnSp>
        <p:nvCxnSpPr>
          <p:cNvPr id="153" name="ln153"/>
          <p:cNvCxnSpPr/>
          <p:nvPr/>
        </p:nvCxnSpPr>
        <p:spPr>
          <a:xfrm>
            <a:off x="8116717" y="4672584"/>
            <a:ext cx="0" cy="274320"/>
          </a:xfrm>
          <a:prstGeom prst="line">
            <a:avLst/>
          </a:prstGeom>
          <a:ln w="9525">
            <a:solidFill>
              <a:srgbClr val="1E3A5F"/>
            </a:solidFill>
          </a:ln>
        </p:spPr>
      </p:cxnSp>
      <p:cxnSp>
        <p:nvCxnSpPr>
          <p:cNvPr id="154" name="ln154"/>
          <p:cNvCxnSpPr/>
          <p:nvPr/>
        </p:nvCxnSpPr>
        <p:spPr>
          <a:xfrm>
            <a:off x="8387060" y="4672584"/>
            <a:ext cx="0" cy="274320"/>
          </a:xfrm>
          <a:prstGeom prst="line">
            <a:avLst/>
          </a:prstGeom>
          <a:ln w="9525">
            <a:solidFill>
              <a:srgbClr val="1E3A5F"/>
            </a:solidFill>
          </a:ln>
        </p:spPr>
      </p:cxnSp>
      <p:cxnSp>
        <p:nvCxnSpPr>
          <p:cNvPr id="155" name="ln155"/>
          <p:cNvCxnSpPr/>
          <p:nvPr/>
        </p:nvCxnSpPr>
        <p:spPr>
          <a:xfrm>
            <a:off x="8657402" y="4672584"/>
            <a:ext cx="0" cy="274320"/>
          </a:xfrm>
          <a:prstGeom prst="line">
            <a:avLst/>
          </a:prstGeom>
          <a:ln w="9525">
            <a:solidFill>
              <a:srgbClr val="1E3A5F"/>
            </a:solidFill>
          </a:ln>
        </p:spPr>
      </p:cxnSp>
      <p:sp>
        <p:nvSpPr>
          <p:cNvPr id="156" name="s156"/>
          <p:cNvSpPr/>
          <p:nvPr/>
        </p:nvSpPr>
        <p:spPr>
          <a:xfrm>
            <a:off x="6251753" y="4654296"/>
            <a:ext cx="2648560" cy="310896"/>
          </a:xfrm>
          <a:prstGeom prst="roundRect">
            <a:avLst>
              <a:gd name="adj" fmla="val 20000"/>
            </a:avLst>
          </a:prstGeom>
          <a:solidFill>
            <a:srgbClr val="34D399">
              <a:alpha val="55000"/>
            </a:srgbClr>
          </a:solidFill>
          <a:ln w="127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050" b="1" dirty="0">
                <a:solidFill>
                  <a:srgbClr val="FFFFFF"/>
                </a:solidFill>
                <a:latin typeface="Segoe UI"/>
                <a:ea typeface="Segoe UI"/>
                <a:cs typeface="Segoe UI"/>
              </a:rPr>
              <a:t>Test 1: customers 1–100</a:t>
            </a:r>
            <a:endParaRPr lang="en-US" sz="1050" dirty="0"/>
          </a:p>
        </p:txBody>
      </p:sp>
      <p:sp>
        <p:nvSpPr>
          <p:cNvPr id="157" name="s157"/>
          <p:cNvSpPr/>
          <p:nvPr/>
        </p:nvSpPr>
        <p:spPr>
          <a:xfrm>
            <a:off x="6224321" y="5074920"/>
            <a:ext cx="2703424" cy="384048"/>
          </a:xfrm>
          <a:prstGeom prst="roundRect">
            <a:avLst>
              <a:gd name="adj" fmla="val 20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cxnSp>
        <p:nvCxnSpPr>
          <p:cNvPr id="158" name="ln158"/>
          <p:cNvCxnSpPr/>
          <p:nvPr/>
        </p:nvCxnSpPr>
        <p:spPr>
          <a:xfrm>
            <a:off x="6494663" y="5129784"/>
            <a:ext cx="0" cy="274320"/>
          </a:xfrm>
          <a:prstGeom prst="line">
            <a:avLst/>
          </a:prstGeom>
          <a:ln w="9525">
            <a:solidFill>
              <a:srgbClr val="1E3A5F"/>
            </a:solidFill>
          </a:ln>
        </p:spPr>
      </p:cxnSp>
      <p:cxnSp>
        <p:nvCxnSpPr>
          <p:cNvPr id="159" name="ln159"/>
          <p:cNvCxnSpPr/>
          <p:nvPr/>
        </p:nvCxnSpPr>
        <p:spPr>
          <a:xfrm>
            <a:off x="6765006" y="5129784"/>
            <a:ext cx="0" cy="274320"/>
          </a:xfrm>
          <a:prstGeom prst="line">
            <a:avLst/>
          </a:prstGeom>
          <a:ln w="9525">
            <a:solidFill>
              <a:srgbClr val="1E3A5F"/>
            </a:solidFill>
          </a:ln>
        </p:spPr>
      </p:cxnSp>
      <p:cxnSp>
        <p:nvCxnSpPr>
          <p:cNvPr id="160" name="ln160"/>
          <p:cNvCxnSpPr/>
          <p:nvPr/>
        </p:nvCxnSpPr>
        <p:spPr>
          <a:xfrm>
            <a:off x="7035348" y="5129784"/>
            <a:ext cx="0" cy="274320"/>
          </a:xfrm>
          <a:prstGeom prst="line">
            <a:avLst/>
          </a:prstGeom>
          <a:ln w="9525">
            <a:solidFill>
              <a:srgbClr val="1E3A5F"/>
            </a:solidFill>
          </a:ln>
        </p:spPr>
      </p:cxnSp>
      <p:cxnSp>
        <p:nvCxnSpPr>
          <p:cNvPr id="161" name="ln161"/>
          <p:cNvCxnSpPr/>
          <p:nvPr/>
        </p:nvCxnSpPr>
        <p:spPr>
          <a:xfrm>
            <a:off x="7305690" y="5129784"/>
            <a:ext cx="0" cy="274320"/>
          </a:xfrm>
          <a:prstGeom prst="line">
            <a:avLst/>
          </a:prstGeom>
          <a:ln w="9525">
            <a:solidFill>
              <a:srgbClr val="1E3A5F"/>
            </a:solidFill>
          </a:ln>
        </p:spPr>
      </p:cxnSp>
      <p:cxnSp>
        <p:nvCxnSpPr>
          <p:cNvPr id="162" name="ln162"/>
          <p:cNvCxnSpPr/>
          <p:nvPr/>
        </p:nvCxnSpPr>
        <p:spPr>
          <a:xfrm>
            <a:off x="7576033" y="5129784"/>
            <a:ext cx="0" cy="274320"/>
          </a:xfrm>
          <a:prstGeom prst="line">
            <a:avLst/>
          </a:prstGeom>
          <a:ln w="9525">
            <a:solidFill>
              <a:srgbClr val="1E3A5F"/>
            </a:solidFill>
          </a:ln>
        </p:spPr>
      </p:cxnSp>
      <p:cxnSp>
        <p:nvCxnSpPr>
          <p:cNvPr id="163" name="ln163"/>
          <p:cNvCxnSpPr/>
          <p:nvPr/>
        </p:nvCxnSpPr>
        <p:spPr>
          <a:xfrm>
            <a:off x="7846375" y="5129784"/>
            <a:ext cx="0" cy="274320"/>
          </a:xfrm>
          <a:prstGeom prst="line">
            <a:avLst/>
          </a:prstGeom>
          <a:ln w="9525">
            <a:solidFill>
              <a:srgbClr val="1E3A5F"/>
            </a:solidFill>
          </a:ln>
        </p:spPr>
      </p:cxnSp>
      <p:cxnSp>
        <p:nvCxnSpPr>
          <p:cNvPr id="164" name="ln164"/>
          <p:cNvCxnSpPr/>
          <p:nvPr/>
        </p:nvCxnSpPr>
        <p:spPr>
          <a:xfrm>
            <a:off x="8116717" y="5129784"/>
            <a:ext cx="0" cy="274320"/>
          </a:xfrm>
          <a:prstGeom prst="line">
            <a:avLst/>
          </a:prstGeom>
          <a:ln w="9525">
            <a:solidFill>
              <a:srgbClr val="1E3A5F"/>
            </a:solidFill>
          </a:ln>
        </p:spPr>
      </p:cxnSp>
      <p:cxnSp>
        <p:nvCxnSpPr>
          <p:cNvPr id="165" name="ln165"/>
          <p:cNvCxnSpPr/>
          <p:nvPr/>
        </p:nvCxnSpPr>
        <p:spPr>
          <a:xfrm>
            <a:off x="8387060" y="5129784"/>
            <a:ext cx="0" cy="274320"/>
          </a:xfrm>
          <a:prstGeom prst="line">
            <a:avLst/>
          </a:prstGeom>
          <a:ln w="9525">
            <a:solidFill>
              <a:srgbClr val="1E3A5F"/>
            </a:solidFill>
          </a:ln>
        </p:spPr>
      </p:cxnSp>
      <p:cxnSp>
        <p:nvCxnSpPr>
          <p:cNvPr id="166" name="ln166"/>
          <p:cNvCxnSpPr/>
          <p:nvPr/>
        </p:nvCxnSpPr>
        <p:spPr>
          <a:xfrm>
            <a:off x="8657402" y="5129784"/>
            <a:ext cx="0" cy="274320"/>
          </a:xfrm>
          <a:prstGeom prst="line">
            <a:avLst/>
          </a:prstGeom>
          <a:ln w="9525">
            <a:solidFill>
              <a:srgbClr val="1E3A5F"/>
            </a:solidFill>
          </a:ln>
        </p:spPr>
      </p:cxnSp>
      <p:sp>
        <p:nvSpPr>
          <p:cNvPr id="167" name="s167"/>
          <p:cNvSpPr/>
          <p:nvPr/>
        </p:nvSpPr>
        <p:spPr>
          <a:xfrm>
            <a:off x="6251753" y="5111496"/>
            <a:ext cx="2648560" cy="310896"/>
          </a:xfrm>
          <a:prstGeom prst="roundRect">
            <a:avLst>
              <a:gd name="adj" fmla="val 20000"/>
            </a:avLst>
          </a:prstGeom>
          <a:solidFill>
            <a:srgbClr val="34D399">
              <a:alpha val="55000"/>
            </a:srgbClr>
          </a:solidFill>
          <a:ln w="127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050" b="1" dirty="0">
                <a:solidFill>
                  <a:srgbClr val="FFFFFF"/>
                </a:solidFill>
                <a:latin typeface="Segoe UI"/>
                <a:ea typeface="Segoe UI"/>
                <a:cs typeface="Segoe UI"/>
              </a:rPr>
              <a:t>Test 2: customers 1–100</a:t>
            </a:r>
            <a:endParaRPr lang="en-US" sz="1050" dirty="0"/>
          </a:p>
        </p:txBody>
      </p:sp>
      <p:sp>
        <p:nvSpPr>
          <p:cNvPr id="168" name="s168"/>
          <p:cNvSpPr txBox="1"/>
          <p:nvPr/>
        </p:nvSpPr>
        <p:spPr>
          <a:xfrm>
            <a:off x="9110624" y="4617720"/>
            <a:ext cx="2520544" cy="8412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2400" b="1" dirty="0">
                <a:solidFill>
                  <a:srgbClr val="34D399"/>
                </a:solidFill>
                <a:latin typeface="Segoe UI"/>
                <a:ea typeface="Segoe UI"/>
                <a:cs typeface="Segoe UI"/>
              </a:rPr>
              <a:t>=</a:t>
            </a:r>
            <a:endParaRPr lang="en-US" sz="2400" dirty="0"/>
          </a:p>
          <a:p>
            <a:pPr marL="0" indent="0" algn="l">
              <a:spcBef>
                <a:spcPts val="0"/>
              </a:spcBef>
              <a:spcAft>
                <a:spcPts val="0"/>
              </a:spcAft>
              <a:buNone/>
            </a:pPr>
            <a:r>
              <a:rPr lang="en-US" sz="1300" b="1" dirty="0">
                <a:solidFill>
                  <a:srgbClr val="34D399"/>
                </a:solidFill>
                <a:latin typeface="Segoe UI"/>
                <a:ea typeface="Segoe UI"/>
                <a:cs typeface="Segoe UI"/>
              </a:rPr>
              <a:t>the same 100 customers</a:t>
            </a:r>
            <a:endParaRPr lang="en-US" sz="1300" dirty="0"/>
          </a:p>
        </p:txBody>
      </p:sp>
      <p:sp>
        <p:nvSpPr>
          <p:cNvPr id="169" name="s169"/>
          <p:cNvSpPr txBox="1"/>
          <p:nvPr/>
        </p:nvSpPr>
        <p:spPr>
          <a:xfrm>
            <a:off x="6224321" y="5559552"/>
            <a:ext cx="5406847"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34D399"/>
                </a:solidFill>
                <a:latin typeface="Segoe UI"/>
                <a:ea typeface="Segoe UI"/>
                <a:cs typeface="Segoe UI"/>
              </a:rPr>
              <a:t>Same ages, same order, in any run order.</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childTnLst>
                                </p:cTn>
                              </p:par>
                              <p:par>
                                <p:cTn id="8" presetID="42" presetClass="entr" presetSubtype="0" fill="hold" grpId="0" nodeType="withEffect">
                                  <p:stCondLst>
                                    <p:cond delay="150"/>
                                  </p:stCondLst>
                                  <p:childTnLst>
                                    <p:set>
                                      <p:cBhvr>
                                        <p:cTn id="9" dur="1" fill="hold">
                                          <p:stCondLst>
                                            <p:cond delay="0"/>
                                          </p:stCondLst>
                                        </p:cTn>
                                        <p:tgtEl>
                                          <p:spTgt spid="103"/>
                                        </p:tgtEl>
                                        <p:attrNameLst>
                                          <p:attrName>style.visibility</p:attrName>
                                        </p:attrNameLst>
                                      </p:cBhvr>
                                      <p:to>
                                        <p:strVal val="visible"/>
                                      </p:to>
                                    </p:set>
                                    <p:animEffect transition="in" filter="fade">
                                      <p:cBhvr>
                                        <p:cTn id="10" dur="500"/>
                                        <p:tgtEl>
                                          <p:spTgt spid="103"/>
                                        </p:tgtEl>
                                      </p:cBhvr>
                                    </p:animEffect>
                                    <p:anim calcmode="lin" valueType="num">
                                      <p:cBhvr additive="base">
                                        <p:cTn id="11" dur="500" decel="100000" fill="hold"/>
                                        <p:tgtEl>
                                          <p:spTgt spid="103"/>
                                        </p:tgtEl>
                                        <p:attrNameLst>
                                          <p:attrName>ppt_y</p:attrName>
                                        </p:attrNameLst>
                                      </p:cBhvr>
                                      <p:tavLst>
                                        <p:tav tm="0">
                                          <p:val>
                                            <p:strVal val="#ppt_y+0.06"/>
                                          </p:val>
                                        </p:tav>
                                        <p:tav tm="100000">
                                          <p:val>
                                            <p:strVal val="#ppt_y"/>
                                          </p:val>
                                        </p:tav>
                                      </p:tavLst>
                                    </p:anim>
                                  </p:childTnLst>
                                </p:cTn>
                              </p:par>
                              <p:par>
                                <p:cTn id="12" presetID="42" presetClass="entr" presetSubtype="0" fill="hold" grpId="0" nodeType="withEffect">
                                  <p:stCondLst>
                                    <p:cond delay="150"/>
                                  </p:stCondLst>
                                  <p:childTnLst>
                                    <p:set>
                                      <p:cBhvr>
                                        <p:cTn id="13" dur="1" fill="hold">
                                          <p:stCondLst>
                                            <p:cond delay="0"/>
                                          </p:stCondLst>
                                        </p:cTn>
                                        <p:tgtEl>
                                          <p:spTgt spid="104"/>
                                        </p:tgtEl>
                                        <p:attrNameLst>
                                          <p:attrName>style.visibility</p:attrName>
                                        </p:attrNameLst>
                                      </p:cBhvr>
                                      <p:to>
                                        <p:strVal val="visible"/>
                                      </p:to>
                                    </p:set>
                                    <p:animEffect transition="in" filter="fade">
                                      <p:cBhvr>
                                        <p:cTn id="14" dur="500"/>
                                        <p:tgtEl>
                                          <p:spTgt spid="104"/>
                                        </p:tgtEl>
                                      </p:cBhvr>
                                    </p:animEffect>
                                    <p:anim calcmode="lin" valueType="num">
                                      <p:cBhvr additive="base">
                                        <p:cTn id="15" dur="500" decel="100000" fill="hold"/>
                                        <p:tgtEl>
                                          <p:spTgt spid="104"/>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150"/>
                                  </p:stCondLst>
                                  <p:childTnLst>
                                    <p:set>
                                      <p:cBhvr>
                                        <p:cTn id="17" dur="1" fill="hold">
                                          <p:stCondLst>
                                            <p:cond delay="0"/>
                                          </p:stCondLst>
                                        </p:cTn>
                                        <p:tgtEl>
                                          <p:spTgt spid="105"/>
                                        </p:tgtEl>
                                        <p:attrNameLst>
                                          <p:attrName>style.visibility</p:attrName>
                                        </p:attrNameLst>
                                      </p:cBhvr>
                                      <p:to>
                                        <p:strVal val="visible"/>
                                      </p:to>
                                    </p:set>
                                    <p:animEffect transition="in" filter="fade">
                                      <p:cBhvr>
                                        <p:cTn id="18" dur="500"/>
                                        <p:tgtEl>
                                          <p:spTgt spid="105"/>
                                        </p:tgtEl>
                                      </p:cBhvr>
                                    </p:animEffect>
                                    <p:anim calcmode="lin" valueType="num">
                                      <p:cBhvr additive="base">
                                        <p:cTn id="19" dur="500" decel="100000" fill="hold"/>
                                        <p:tgtEl>
                                          <p:spTgt spid="105"/>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150"/>
                                  </p:stCondLst>
                                  <p:childTnLst>
                                    <p:set>
                                      <p:cBhvr>
                                        <p:cTn id="21" dur="1" fill="hold">
                                          <p:stCondLst>
                                            <p:cond delay="0"/>
                                          </p:stCondLst>
                                        </p:cTn>
                                        <p:tgtEl>
                                          <p:spTgt spid="106"/>
                                        </p:tgtEl>
                                        <p:attrNameLst>
                                          <p:attrName>style.visibility</p:attrName>
                                        </p:attrNameLst>
                                      </p:cBhvr>
                                      <p:to>
                                        <p:strVal val="visible"/>
                                      </p:to>
                                    </p:set>
                                    <p:animEffect transition="in" filter="fade">
                                      <p:cBhvr>
                                        <p:cTn id="22" dur="500"/>
                                        <p:tgtEl>
                                          <p:spTgt spid="106"/>
                                        </p:tgtEl>
                                      </p:cBhvr>
                                    </p:animEffect>
                                    <p:anim calcmode="lin" valueType="num">
                                      <p:cBhvr additive="base">
                                        <p:cTn id="23" dur="500" decel="100000" fill="hold"/>
                                        <p:tgtEl>
                                          <p:spTgt spid="106"/>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150"/>
                                  </p:stCondLst>
                                  <p:childTnLst>
                                    <p:set>
                                      <p:cBhvr>
                                        <p:cTn id="25" dur="1" fill="hold">
                                          <p:stCondLst>
                                            <p:cond delay="0"/>
                                          </p:stCondLst>
                                        </p:cTn>
                                        <p:tgtEl>
                                          <p:spTgt spid="107"/>
                                        </p:tgtEl>
                                        <p:attrNameLst>
                                          <p:attrName>style.visibility</p:attrName>
                                        </p:attrNameLst>
                                      </p:cBhvr>
                                      <p:to>
                                        <p:strVal val="visible"/>
                                      </p:to>
                                    </p:set>
                                    <p:animEffect transition="in" filter="fade">
                                      <p:cBhvr>
                                        <p:cTn id="26" dur="500"/>
                                        <p:tgtEl>
                                          <p:spTgt spid="107"/>
                                        </p:tgtEl>
                                      </p:cBhvr>
                                    </p:animEffect>
                                    <p:anim calcmode="lin" valueType="num">
                                      <p:cBhvr additive="base">
                                        <p:cTn id="27" dur="500" decel="100000" fill="hold"/>
                                        <p:tgtEl>
                                          <p:spTgt spid="107"/>
                                        </p:tgtEl>
                                        <p:attrNameLst>
                                          <p:attrName>ppt_y</p:attrName>
                                        </p:attrNameLst>
                                      </p:cBhvr>
                                      <p:tavLst>
                                        <p:tav tm="0">
                                          <p:val>
                                            <p:strVal val="#ppt_y+0.06"/>
                                          </p:val>
                                        </p:tav>
                                        <p:tav tm="100000">
                                          <p:val>
                                            <p:strVal val="#ppt_y"/>
                                          </p:val>
                                        </p:tav>
                                      </p:tavLst>
                                    </p:anim>
                                  </p:childTnLst>
                                </p:cTn>
                              </p:par>
                              <p:par>
                                <p:cTn id="28" presetID="42" presetClass="entr" presetSubtype="0" fill="hold" nodeType="withEffect">
                                  <p:stCondLst>
                                    <p:cond delay="150"/>
                                  </p:stCondLst>
                                  <p:childTnLst>
                                    <p:set>
                                      <p:cBhvr>
                                        <p:cTn id="29" dur="1" fill="hold">
                                          <p:stCondLst>
                                            <p:cond delay="0"/>
                                          </p:stCondLst>
                                        </p:cTn>
                                        <p:tgtEl>
                                          <p:spTgt spid="108"/>
                                        </p:tgtEl>
                                        <p:attrNameLst>
                                          <p:attrName>style.visibility</p:attrName>
                                        </p:attrNameLst>
                                      </p:cBhvr>
                                      <p:to>
                                        <p:strVal val="visible"/>
                                      </p:to>
                                    </p:set>
                                    <p:animEffect transition="in" filter="fade">
                                      <p:cBhvr>
                                        <p:cTn id="30" dur="500"/>
                                        <p:tgtEl>
                                          <p:spTgt spid="108"/>
                                        </p:tgtEl>
                                      </p:cBhvr>
                                    </p:animEffect>
                                    <p:anim calcmode="lin" valueType="num">
                                      <p:cBhvr additive="base">
                                        <p:cTn id="31" dur="500" decel="100000" fill="hold"/>
                                        <p:tgtEl>
                                          <p:spTgt spid="108"/>
                                        </p:tgtEl>
                                        <p:attrNameLst>
                                          <p:attrName>ppt_y</p:attrName>
                                        </p:attrNameLst>
                                      </p:cBhvr>
                                      <p:tavLst>
                                        <p:tav tm="0">
                                          <p:val>
                                            <p:strVal val="#ppt_y+0.06"/>
                                          </p:val>
                                        </p:tav>
                                        <p:tav tm="100000">
                                          <p:val>
                                            <p:strVal val="#ppt_y"/>
                                          </p:val>
                                        </p:tav>
                                      </p:tavLst>
                                    </p:anim>
                                  </p:childTnLst>
                                </p:cTn>
                              </p:par>
                              <p:par>
                                <p:cTn id="32" presetID="42" presetClass="entr" presetSubtype="0" fill="hold" grpId="0" nodeType="withEffect">
                                  <p:stCondLst>
                                    <p:cond delay="150"/>
                                  </p:stCondLst>
                                  <p:childTnLst>
                                    <p:set>
                                      <p:cBhvr>
                                        <p:cTn id="33" dur="1" fill="hold">
                                          <p:stCondLst>
                                            <p:cond delay="0"/>
                                          </p:stCondLst>
                                        </p:cTn>
                                        <p:tgtEl>
                                          <p:spTgt spid="109"/>
                                        </p:tgtEl>
                                        <p:attrNameLst>
                                          <p:attrName>style.visibility</p:attrName>
                                        </p:attrNameLst>
                                      </p:cBhvr>
                                      <p:to>
                                        <p:strVal val="visible"/>
                                      </p:to>
                                    </p:set>
                                    <p:animEffect transition="in" filter="fade">
                                      <p:cBhvr>
                                        <p:cTn id="34" dur="500"/>
                                        <p:tgtEl>
                                          <p:spTgt spid="109"/>
                                        </p:tgtEl>
                                      </p:cBhvr>
                                    </p:animEffect>
                                    <p:anim calcmode="lin" valueType="num">
                                      <p:cBhvr additive="base">
                                        <p:cTn id="35" dur="500" decel="100000" fill="hold"/>
                                        <p:tgtEl>
                                          <p:spTgt spid="109"/>
                                        </p:tgtEl>
                                        <p:attrNameLst>
                                          <p:attrName>ppt_y</p:attrName>
                                        </p:attrNameLst>
                                      </p:cBhvr>
                                      <p:tavLst>
                                        <p:tav tm="0">
                                          <p:val>
                                            <p:strVal val="#ppt_y+0.06"/>
                                          </p:val>
                                        </p:tav>
                                        <p:tav tm="100000">
                                          <p:val>
                                            <p:strVal val="#ppt_y"/>
                                          </p:val>
                                        </p:tav>
                                      </p:tavLst>
                                    </p:anim>
                                  </p:childTnLst>
                                </p:cTn>
                              </p:par>
                              <p:par>
                                <p:cTn id="36" presetID="42" presetClass="entr" presetSubtype="0" fill="hold" grpId="0" nodeType="withEffect">
                                  <p:stCondLst>
                                    <p:cond delay="150"/>
                                  </p:stCondLst>
                                  <p:childTnLst>
                                    <p:set>
                                      <p:cBhvr>
                                        <p:cTn id="37" dur="1" fill="hold">
                                          <p:stCondLst>
                                            <p:cond delay="0"/>
                                          </p:stCondLst>
                                        </p:cTn>
                                        <p:tgtEl>
                                          <p:spTgt spid="110"/>
                                        </p:tgtEl>
                                        <p:attrNameLst>
                                          <p:attrName>style.visibility</p:attrName>
                                        </p:attrNameLst>
                                      </p:cBhvr>
                                      <p:to>
                                        <p:strVal val="visible"/>
                                      </p:to>
                                    </p:set>
                                    <p:animEffect transition="in" filter="fade">
                                      <p:cBhvr>
                                        <p:cTn id="38" dur="500"/>
                                        <p:tgtEl>
                                          <p:spTgt spid="110"/>
                                        </p:tgtEl>
                                      </p:cBhvr>
                                    </p:animEffect>
                                    <p:anim calcmode="lin" valueType="num">
                                      <p:cBhvr additive="base">
                                        <p:cTn id="39" dur="500" decel="100000" fill="hold"/>
                                        <p:tgtEl>
                                          <p:spTgt spid="110"/>
                                        </p:tgtEl>
                                        <p:attrNameLst>
                                          <p:attrName>ppt_y</p:attrName>
                                        </p:attrNameLst>
                                      </p:cBhvr>
                                      <p:tavLst>
                                        <p:tav tm="0">
                                          <p:val>
                                            <p:strVal val="#ppt_y+0.06"/>
                                          </p:val>
                                        </p:tav>
                                        <p:tav tm="100000">
                                          <p:val>
                                            <p:strVal val="#ppt_y"/>
                                          </p:val>
                                        </p:tav>
                                      </p:tavLst>
                                    </p:anim>
                                  </p:childTnLst>
                                </p:cTn>
                              </p:par>
                              <p:par>
                                <p:cTn id="40" presetID="42" presetClass="entr" presetSubtype="0" fill="hold" grpId="0" nodeType="withEffect">
                                  <p:stCondLst>
                                    <p:cond delay="150"/>
                                  </p:stCondLst>
                                  <p:childTnLst>
                                    <p:set>
                                      <p:cBhvr>
                                        <p:cTn id="41" dur="1" fill="hold">
                                          <p:stCondLst>
                                            <p:cond delay="0"/>
                                          </p:stCondLst>
                                        </p:cTn>
                                        <p:tgtEl>
                                          <p:spTgt spid="111"/>
                                        </p:tgtEl>
                                        <p:attrNameLst>
                                          <p:attrName>style.visibility</p:attrName>
                                        </p:attrNameLst>
                                      </p:cBhvr>
                                      <p:to>
                                        <p:strVal val="visible"/>
                                      </p:to>
                                    </p:set>
                                    <p:animEffect transition="in" filter="fade">
                                      <p:cBhvr>
                                        <p:cTn id="42" dur="500"/>
                                        <p:tgtEl>
                                          <p:spTgt spid="111"/>
                                        </p:tgtEl>
                                      </p:cBhvr>
                                    </p:animEffect>
                                    <p:anim calcmode="lin" valueType="num">
                                      <p:cBhvr additive="base">
                                        <p:cTn id="43" dur="500" decel="100000" fill="hold"/>
                                        <p:tgtEl>
                                          <p:spTgt spid="111"/>
                                        </p:tgtEl>
                                        <p:attrNameLst>
                                          <p:attrName>ppt_y</p:attrName>
                                        </p:attrNameLst>
                                      </p:cBhvr>
                                      <p:tavLst>
                                        <p:tav tm="0">
                                          <p:val>
                                            <p:strVal val="#ppt_y+0.06"/>
                                          </p:val>
                                        </p:tav>
                                        <p:tav tm="100000">
                                          <p:val>
                                            <p:strVal val="#ppt_y"/>
                                          </p:val>
                                        </p:tav>
                                      </p:tavLst>
                                    </p:anim>
                                  </p:childTnLst>
                                </p:cTn>
                              </p:par>
                              <p:par>
                                <p:cTn id="44" presetID="42" presetClass="entr" presetSubtype="0" fill="hold" grpId="0" nodeType="withEffect">
                                  <p:stCondLst>
                                    <p:cond delay="150"/>
                                  </p:stCondLst>
                                  <p:childTnLst>
                                    <p:set>
                                      <p:cBhvr>
                                        <p:cTn id="45" dur="1" fill="hold">
                                          <p:stCondLst>
                                            <p:cond delay="0"/>
                                          </p:stCondLst>
                                        </p:cTn>
                                        <p:tgtEl>
                                          <p:spTgt spid="112"/>
                                        </p:tgtEl>
                                        <p:attrNameLst>
                                          <p:attrName>style.visibility</p:attrName>
                                        </p:attrNameLst>
                                      </p:cBhvr>
                                      <p:to>
                                        <p:strVal val="visible"/>
                                      </p:to>
                                    </p:set>
                                    <p:animEffect transition="in" filter="fade">
                                      <p:cBhvr>
                                        <p:cTn id="46" dur="500"/>
                                        <p:tgtEl>
                                          <p:spTgt spid="112"/>
                                        </p:tgtEl>
                                      </p:cBhvr>
                                    </p:animEffect>
                                    <p:anim calcmode="lin" valueType="num">
                                      <p:cBhvr additive="base">
                                        <p:cTn id="47" dur="500" decel="100000" fill="hold"/>
                                        <p:tgtEl>
                                          <p:spTgt spid="112"/>
                                        </p:tgtEl>
                                        <p:attrNameLst>
                                          <p:attrName>ppt_y</p:attrName>
                                        </p:attrNameLst>
                                      </p:cBhvr>
                                      <p:tavLst>
                                        <p:tav tm="0">
                                          <p:val>
                                            <p:strVal val="#ppt_y+0.06"/>
                                          </p:val>
                                        </p:tav>
                                        <p:tav tm="100000">
                                          <p:val>
                                            <p:strVal val="#ppt_y"/>
                                          </p:val>
                                        </p:tav>
                                      </p:tavLst>
                                    </p:anim>
                                  </p:childTnLst>
                                </p:cTn>
                              </p:par>
                              <p:par>
                                <p:cTn id="48" presetID="42" presetClass="entr" presetSubtype="0" fill="hold" grpId="0" nodeType="withEffect">
                                  <p:stCondLst>
                                    <p:cond delay="150"/>
                                  </p:stCondLst>
                                  <p:childTnLst>
                                    <p:set>
                                      <p:cBhvr>
                                        <p:cTn id="49" dur="1" fill="hold">
                                          <p:stCondLst>
                                            <p:cond delay="0"/>
                                          </p:stCondLst>
                                        </p:cTn>
                                        <p:tgtEl>
                                          <p:spTgt spid="113"/>
                                        </p:tgtEl>
                                        <p:attrNameLst>
                                          <p:attrName>style.visibility</p:attrName>
                                        </p:attrNameLst>
                                      </p:cBhvr>
                                      <p:to>
                                        <p:strVal val="visible"/>
                                      </p:to>
                                    </p:set>
                                    <p:animEffect transition="in" filter="fade">
                                      <p:cBhvr>
                                        <p:cTn id="50" dur="500"/>
                                        <p:tgtEl>
                                          <p:spTgt spid="113"/>
                                        </p:tgtEl>
                                      </p:cBhvr>
                                    </p:animEffect>
                                    <p:anim calcmode="lin" valueType="num">
                                      <p:cBhvr additive="base">
                                        <p:cTn id="51" dur="500" decel="100000" fill="hold"/>
                                        <p:tgtEl>
                                          <p:spTgt spid="113"/>
                                        </p:tgtEl>
                                        <p:attrNameLst>
                                          <p:attrName>ppt_y</p:attrName>
                                        </p:attrNameLst>
                                      </p:cBhvr>
                                      <p:tavLst>
                                        <p:tav tm="0">
                                          <p:val>
                                            <p:strVal val="#ppt_y+0.06"/>
                                          </p:val>
                                        </p:tav>
                                        <p:tav tm="100000">
                                          <p:val>
                                            <p:strVal val="#ppt_y"/>
                                          </p:val>
                                        </p:tav>
                                      </p:tavLst>
                                    </p:anim>
                                  </p:childTnLst>
                                </p:cTn>
                              </p:par>
                              <p:par>
                                <p:cTn id="52" presetID="42" presetClass="entr" presetSubtype="0" fill="hold" grpId="0" nodeType="withEffect">
                                  <p:stCondLst>
                                    <p:cond delay="150"/>
                                  </p:stCondLst>
                                  <p:childTnLst>
                                    <p:set>
                                      <p:cBhvr>
                                        <p:cTn id="53" dur="1" fill="hold">
                                          <p:stCondLst>
                                            <p:cond delay="0"/>
                                          </p:stCondLst>
                                        </p:cTn>
                                        <p:tgtEl>
                                          <p:spTgt spid="114"/>
                                        </p:tgtEl>
                                        <p:attrNameLst>
                                          <p:attrName>style.visibility</p:attrName>
                                        </p:attrNameLst>
                                      </p:cBhvr>
                                      <p:to>
                                        <p:strVal val="visible"/>
                                      </p:to>
                                    </p:set>
                                    <p:animEffect transition="in" filter="fade">
                                      <p:cBhvr>
                                        <p:cTn id="54" dur="500"/>
                                        <p:tgtEl>
                                          <p:spTgt spid="114"/>
                                        </p:tgtEl>
                                      </p:cBhvr>
                                    </p:animEffect>
                                    <p:anim calcmode="lin" valueType="num">
                                      <p:cBhvr additive="base">
                                        <p:cTn id="55"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53" presetClass="entr" presetSubtype="16" fill="hold" grpId="0" nodeType="clickEffect">
                                  <p:stCondLst>
                                    <p:cond delay="0"/>
                                  </p:stCondLst>
                                  <p:childTnLst>
                                    <p:set>
                                      <p:cBhvr>
                                        <p:cTn id="59" dur="1" fill="hold">
                                          <p:stCondLst>
                                            <p:cond delay="0"/>
                                          </p:stCondLst>
                                        </p:cTn>
                                        <p:tgtEl>
                                          <p:spTgt spid="127"/>
                                        </p:tgtEl>
                                        <p:attrNameLst>
                                          <p:attrName>style.visibility</p:attrName>
                                        </p:attrNameLst>
                                      </p:cBhvr>
                                      <p:to>
                                        <p:strVal val="visible"/>
                                      </p:to>
                                    </p:set>
                                    <p:anim calcmode="lin" valueType="num">
                                      <p:cBhvr additive="base">
                                        <p:cTn id="60" dur="500" decel="100000" fill="hold"/>
                                        <p:tgtEl>
                                          <p:spTgt spid="127"/>
                                        </p:tgtEl>
                                        <p:attrNameLst>
                                          <p:attrName>ppt_w</p:attrName>
                                        </p:attrNameLst>
                                      </p:cBhvr>
                                      <p:tavLst>
                                        <p:tav tm="0">
                                          <p:val>
                                            <p:strVal val="#ppt_w*0.3"/>
                                          </p:val>
                                        </p:tav>
                                        <p:tav tm="100000">
                                          <p:val>
                                            <p:strVal val="#ppt_w*1.08"/>
                                          </p:val>
                                        </p:tav>
                                      </p:tavLst>
                                    </p:anim>
                                    <p:anim calcmode="lin" valueType="num">
                                      <p:cBhvr additive="base">
                                        <p:cTn id="61" dur="500" decel="100000" fill="hold"/>
                                        <p:tgtEl>
                                          <p:spTgt spid="127"/>
                                        </p:tgtEl>
                                        <p:attrNameLst>
                                          <p:attrName>ppt_h</p:attrName>
                                        </p:attrNameLst>
                                      </p:cBhvr>
                                      <p:tavLst>
                                        <p:tav tm="0">
                                          <p:val>
                                            <p:strVal val="#ppt_h*0.3"/>
                                          </p:val>
                                        </p:tav>
                                        <p:tav tm="100000">
                                          <p:val>
                                            <p:strVal val="#ppt_h*1.08"/>
                                          </p:val>
                                        </p:tav>
                                      </p:tavLst>
                                    </p:anim>
                                    <p:animEffect transition="in" filter="fade">
                                      <p:cBhvr>
                                        <p:cTn id="62" dur="250"/>
                                        <p:tgtEl>
                                          <p:spTgt spid="127"/>
                                        </p:tgtEl>
                                      </p:cBhvr>
                                    </p:animEffect>
                                    <p:anim calcmode="lin" valueType="num">
                                      <p:cBhvr additive="base">
                                        <p:cTn id="63" dur="160" fill="hold">
                                          <p:stCondLst>
                                            <p:cond delay="500"/>
                                          </p:stCondLst>
                                        </p:cTn>
                                        <p:tgtEl>
                                          <p:spTgt spid="127"/>
                                        </p:tgtEl>
                                        <p:attrNameLst>
                                          <p:attrName>ppt_w</p:attrName>
                                        </p:attrNameLst>
                                      </p:cBhvr>
                                      <p:tavLst>
                                        <p:tav tm="0">
                                          <p:val>
                                            <p:strVal val="#ppt_w*1.08"/>
                                          </p:val>
                                        </p:tav>
                                        <p:tav tm="100000">
                                          <p:val>
                                            <p:strVal val="#ppt_w"/>
                                          </p:val>
                                        </p:tav>
                                      </p:tavLst>
                                    </p:anim>
                                    <p:anim calcmode="lin" valueType="num">
                                      <p:cBhvr additive="base">
                                        <p:cTn id="64" dur="160" fill="hold">
                                          <p:stCondLst>
                                            <p:cond delay="500"/>
                                          </p:stCondLst>
                                        </p:cTn>
                                        <p:tgtEl>
                                          <p:spTgt spid="127"/>
                                        </p:tgtEl>
                                        <p:attrNameLst>
                                          <p:attrName>ppt_h</p:attrName>
                                        </p:attrNameLst>
                                      </p:cBhvr>
                                      <p:tavLst>
                                        <p:tav tm="0">
                                          <p:val>
                                            <p:strVal val="#ppt_h*1.08"/>
                                          </p:val>
                                        </p:tav>
                                        <p:tav tm="100000">
                                          <p:val>
                                            <p:strVal val="#ppt_h"/>
                                          </p:val>
                                        </p:tav>
                                      </p:tavLst>
                                    </p:anim>
                                  </p:childTnLst>
                                </p:cTn>
                              </p:par>
                            </p:childTnLst>
                          </p:cTn>
                        </p:par>
                      </p:childTnLst>
                    </p:cTn>
                  </p:par>
                  <p:par>
                    <p:cTn id="65" fill="hold">
                      <p:stCondLst>
                        <p:cond delay="indefinite"/>
                      </p:stCondLst>
                      <p:childTnLst>
                        <p:par>
                          <p:cTn id="66" fill="hold">
                            <p:stCondLst>
                              <p:cond delay="0"/>
                            </p:stCondLst>
                            <p:childTnLst>
                              <p:par>
                                <p:cTn id="67" presetID="53" presetClass="entr" presetSubtype="16" fill="hold" grpId="0" nodeType="clickEffect">
                                  <p:stCondLst>
                                    <p:cond delay="0"/>
                                  </p:stCondLst>
                                  <p:childTnLst>
                                    <p:set>
                                      <p:cBhvr>
                                        <p:cTn id="68" dur="1" fill="hold">
                                          <p:stCondLst>
                                            <p:cond delay="0"/>
                                          </p:stCondLst>
                                        </p:cTn>
                                        <p:tgtEl>
                                          <p:spTgt spid="128"/>
                                        </p:tgtEl>
                                        <p:attrNameLst>
                                          <p:attrName>style.visibility</p:attrName>
                                        </p:attrNameLst>
                                      </p:cBhvr>
                                      <p:to>
                                        <p:strVal val="visible"/>
                                      </p:to>
                                    </p:set>
                                    <p:anim calcmode="lin" valueType="num">
                                      <p:cBhvr additive="base">
                                        <p:cTn id="69" dur="500" decel="100000" fill="hold"/>
                                        <p:tgtEl>
                                          <p:spTgt spid="128"/>
                                        </p:tgtEl>
                                        <p:attrNameLst>
                                          <p:attrName>ppt_w</p:attrName>
                                        </p:attrNameLst>
                                      </p:cBhvr>
                                      <p:tavLst>
                                        <p:tav tm="0">
                                          <p:val>
                                            <p:strVal val="#ppt_w*0.3"/>
                                          </p:val>
                                        </p:tav>
                                        <p:tav tm="100000">
                                          <p:val>
                                            <p:strVal val="#ppt_w*1.08"/>
                                          </p:val>
                                        </p:tav>
                                      </p:tavLst>
                                    </p:anim>
                                    <p:anim calcmode="lin" valueType="num">
                                      <p:cBhvr additive="base">
                                        <p:cTn id="70" dur="500" decel="100000" fill="hold"/>
                                        <p:tgtEl>
                                          <p:spTgt spid="128"/>
                                        </p:tgtEl>
                                        <p:attrNameLst>
                                          <p:attrName>ppt_h</p:attrName>
                                        </p:attrNameLst>
                                      </p:cBhvr>
                                      <p:tavLst>
                                        <p:tav tm="0">
                                          <p:val>
                                            <p:strVal val="#ppt_h*0.3"/>
                                          </p:val>
                                        </p:tav>
                                        <p:tav tm="100000">
                                          <p:val>
                                            <p:strVal val="#ppt_h*1.08"/>
                                          </p:val>
                                        </p:tav>
                                      </p:tavLst>
                                    </p:anim>
                                    <p:animEffect transition="in" filter="fade">
                                      <p:cBhvr>
                                        <p:cTn id="71" dur="250"/>
                                        <p:tgtEl>
                                          <p:spTgt spid="128"/>
                                        </p:tgtEl>
                                      </p:cBhvr>
                                    </p:animEffect>
                                    <p:anim calcmode="lin" valueType="num">
                                      <p:cBhvr additive="base">
                                        <p:cTn id="72" dur="160" fill="hold">
                                          <p:stCondLst>
                                            <p:cond delay="500"/>
                                          </p:stCondLst>
                                        </p:cTn>
                                        <p:tgtEl>
                                          <p:spTgt spid="128"/>
                                        </p:tgtEl>
                                        <p:attrNameLst>
                                          <p:attrName>ppt_w</p:attrName>
                                        </p:attrNameLst>
                                      </p:cBhvr>
                                      <p:tavLst>
                                        <p:tav tm="0">
                                          <p:val>
                                            <p:strVal val="#ppt_w*1.08"/>
                                          </p:val>
                                        </p:tav>
                                        <p:tav tm="100000">
                                          <p:val>
                                            <p:strVal val="#ppt_w"/>
                                          </p:val>
                                        </p:tav>
                                      </p:tavLst>
                                    </p:anim>
                                    <p:anim calcmode="lin" valueType="num">
                                      <p:cBhvr additive="base">
                                        <p:cTn id="73" dur="160" fill="hold">
                                          <p:stCondLst>
                                            <p:cond delay="500"/>
                                          </p:stCondLst>
                                        </p:cTn>
                                        <p:tgtEl>
                                          <p:spTgt spid="128"/>
                                        </p:tgtEl>
                                        <p:attrNameLst>
                                          <p:attrName>ppt_h</p:attrName>
                                        </p:attrNameLst>
                                      </p:cBhvr>
                                      <p:tavLst>
                                        <p:tav tm="0">
                                          <p:val>
                                            <p:strVal val="#ppt_h*1.08"/>
                                          </p:val>
                                        </p:tav>
                                        <p:tav tm="100000">
                                          <p:val>
                                            <p:strVal val="#ppt_h"/>
                                          </p:val>
                                        </p:tav>
                                      </p:tavLst>
                                    </p:anim>
                                  </p:childTnLst>
                                </p:cTn>
                              </p:par>
                              <p:par>
                                <p:cTn id="74" presetID="10" presetClass="entr" presetSubtype="0" fill="hold" grpId="0" nodeType="withEffect">
                                  <p:stCondLst>
                                    <p:cond delay="100"/>
                                  </p:stCondLst>
                                  <p:childTnLst>
                                    <p:set>
                                      <p:cBhvr>
                                        <p:cTn id="75" dur="1" fill="hold">
                                          <p:stCondLst>
                                            <p:cond delay="0"/>
                                          </p:stCondLst>
                                        </p:cTn>
                                        <p:tgtEl>
                                          <p:spTgt spid="131"/>
                                        </p:tgtEl>
                                        <p:attrNameLst>
                                          <p:attrName>style.visibility</p:attrName>
                                        </p:attrNameLst>
                                      </p:cBhvr>
                                      <p:to>
                                        <p:strVal val="visible"/>
                                      </p:to>
                                    </p:set>
                                    <p:animEffect transition="in" filter="fade">
                                      <p:cBhvr>
                                        <p:cTn id="76" dur="500"/>
                                        <p:tgtEl>
                                          <p:spTgt spid="131"/>
                                        </p:tgtEl>
                                      </p:cBhvr>
                                    </p:animEffect>
                                  </p:childTnLst>
                                </p:cTn>
                              </p:par>
                              <p:par>
                                <p:cTn id="77" presetID="10" presetClass="entr" presetSubtype="0" fill="hold" grpId="0" nodeType="withEffect">
                                  <p:stCondLst>
                                    <p:cond delay="200"/>
                                  </p:stCondLst>
                                  <p:childTnLst>
                                    <p:set>
                                      <p:cBhvr>
                                        <p:cTn id="78" dur="1" fill="hold">
                                          <p:stCondLst>
                                            <p:cond delay="0"/>
                                          </p:stCondLst>
                                        </p:cTn>
                                        <p:tgtEl>
                                          <p:spTgt spid="132"/>
                                        </p:tgtEl>
                                        <p:attrNameLst>
                                          <p:attrName>style.visibility</p:attrName>
                                        </p:attrNameLst>
                                      </p:cBhvr>
                                      <p:to>
                                        <p:strVal val="visible"/>
                                      </p:to>
                                    </p:set>
                                    <p:animEffect transition="in" filter="fade">
                                      <p:cBhvr>
                                        <p:cTn id="79" dur="500"/>
                                        <p:tgtEl>
                                          <p:spTgt spid="132"/>
                                        </p:tgtEl>
                                      </p:cBhvr>
                                    </p:animEffect>
                                  </p:childTnLst>
                                </p:cTn>
                              </p:par>
                              <p:par>
                                <p:cTn id="80" presetID="10" presetClass="entr" presetSubtype="0" fill="hold" nodeType="withEffect">
                                  <p:stCondLst>
                                    <p:cond delay="300"/>
                                  </p:stCondLst>
                                  <p:childTnLst>
                                    <p:set>
                                      <p:cBhvr>
                                        <p:cTn id="81" dur="1" fill="hold">
                                          <p:stCondLst>
                                            <p:cond delay="0"/>
                                          </p:stCondLst>
                                        </p:cTn>
                                        <p:tgtEl>
                                          <p:spTgt spid="133"/>
                                        </p:tgtEl>
                                        <p:attrNameLst>
                                          <p:attrName>style.visibility</p:attrName>
                                        </p:attrNameLst>
                                      </p:cBhvr>
                                      <p:to>
                                        <p:strVal val="visible"/>
                                      </p:to>
                                    </p:set>
                                    <p:animEffect transition="in" filter="fade">
                                      <p:cBhvr>
                                        <p:cTn id="82" dur="500"/>
                                        <p:tgtEl>
                                          <p:spTgt spid="133"/>
                                        </p:tgtEl>
                                      </p:cBhvr>
                                    </p:animEffect>
                                  </p:childTnLst>
                                </p:cTn>
                              </p:par>
                              <p:par>
                                <p:cTn id="83" presetID="10" presetClass="entr" presetSubtype="0" fill="hold" nodeType="withEffect">
                                  <p:stCondLst>
                                    <p:cond delay="400"/>
                                  </p:stCondLst>
                                  <p:childTnLst>
                                    <p:set>
                                      <p:cBhvr>
                                        <p:cTn id="84" dur="1" fill="hold">
                                          <p:stCondLst>
                                            <p:cond delay="0"/>
                                          </p:stCondLst>
                                        </p:cTn>
                                        <p:tgtEl>
                                          <p:spTgt spid="134"/>
                                        </p:tgtEl>
                                        <p:attrNameLst>
                                          <p:attrName>style.visibility</p:attrName>
                                        </p:attrNameLst>
                                      </p:cBhvr>
                                      <p:to>
                                        <p:strVal val="visible"/>
                                      </p:to>
                                    </p:set>
                                    <p:animEffect transition="in" filter="fade">
                                      <p:cBhvr>
                                        <p:cTn id="85" dur="500"/>
                                        <p:tgtEl>
                                          <p:spTgt spid="134"/>
                                        </p:tgtEl>
                                      </p:cBhvr>
                                    </p:animEffect>
                                  </p:childTnLst>
                                </p:cTn>
                              </p:par>
                              <p:par>
                                <p:cTn id="86" presetID="10" presetClass="entr" presetSubtype="0" fill="hold" nodeType="withEffect">
                                  <p:stCondLst>
                                    <p:cond delay="500"/>
                                  </p:stCondLst>
                                  <p:childTnLst>
                                    <p:set>
                                      <p:cBhvr>
                                        <p:cTn id="87" dur="1" fill="hold">
                                          <p:stCondLst>
                                            <p:cond delay="0"/>
                                          </p:stCondLst>
                                        </p:cTn>
                                        <p:tgtEl>
                                          <p:spTgt spid="135"/>
                                        </p:tgtEl>
                                        <p:attrNameLst>
                                          <p:attrName>style.visibility</p:attrName>
                                        </p:attrNameLst>
                                      </p:cBhvr>
                                      <p:to>
                                        <p:strVal val="visible"/>
                                      </p:to>
                                    </p:set>
                                    <p:animEffect transition="in" filter="fade">
                                      <p:cBhvr>
                                        <p:cTn id="88" dur="500"/>
                                        <p:tgtEl>
                                          <p:spTgt spid="135"/>
                                        </p:tgtEl>
                                      </p:cBhvr>
                                    </p:animEffect>
                                  </p:childTnLst>
                                </p:cTn>
                              </p:par>
                              <p:par>
                                <p:cTn id="89" presetID="10" presetClass="entr" presetSubtype="0" fill="hold" nodeType="withEffect">
                                  <p:stCondLst>
                                    <p:cond delay="600"/>
                                  </p:stCondLst>
                                  <p:childTnLst>
                                    <p:set>
                                      <p:cBhvr>
                                        <p:cTn id="90" dur="1" fill="hold">
                                          <p:stCondLst>
                                            <p:cond delay="0"/>
                                          </p:stCondLst>
                                        </p:cTn>
                                        <p:tgtEl>
                                          <p:spTgt spid="136"/>
                                        </p:tgtEl>
                                        <p:attrNameLst>
                                          <p:attrName>style.visibility</p:attrName>
                                        </p:attrNameLst>
                                      </p:cBhvr>
                                      <p:to>
                                        <p:strVal val="visible"/>
                                      </p:to>
                                    </p:set>
                                    <p:animEffect transition="in" filter="fade">
                                      <p:cBhvr>
                                        <p:cTn id="91" dur="500"/>
                                        <p:tgtEl>
                                          <p:spTgt spid="136"/>
                                        </p:tgtEl>
                                      </p:cBhvr>
                                    </p:animEffect>
                                  </p:childTnLst>
                                </p:cTn>
                              </p:par>
                              <p:par>
                                <p:cTn id="92" presetID="10" presetClass="entr" presetSubtype="0" fill="hold" nodeType="withEffect">
                                  <p:stCondLst>
                                    <p:cond delay="700"/>
                                  </p:stCondLst>
                                  <p:childTnLst>
                                    <p:set>
                                      <p:cBhvr>
                                        <p:cTn id="93" dur="1" fill="hold">
                                          <p:stCondLst>
                                            <p:cond delay="0"/>
                                          </p:stCondLst>
                                        </p:cTn>
                                        <p:tgtEl>
                                          <p:spTgt spid="137"/>
                                        </p:tgtEl>
                                        <p:attrNameLst>
                                          <p:attrName>style.visibility</p:attrName>
                                        </p:attrNameLst>
                                      </p:cBhvr>
                                      <p:to>
                                        <p:strVal val="visible"/>
                                      </p:to>
                                    </p:set>
                                    <p:animEffect transition="in" filter="fade">
                                      <p:cBhvr>
                                        <p:cTn id="94" dur="500"/>
                                        <p:tgtEl>
                                          <p:spTgt spid="137"/>
                                        </p:tgtEl>
                                      </p:cBhvr>
                                    </p:animEffect>
                                  </p:childTnLst>
                                </p:cTn>
                              </p:par>
                              <p:par>
                                <p:cTn id="95" presetID="10" presetClass="entr" presetSubtype="0" fill="hold" nodeType="withEffect">
                                  <p:stCondLst>
                                    <p:cond delay="800"/>
                                  </p:stCondLst>
                                  <p:childTnLst>
                                    <p:set>
                                      <p:cBhvr>
                                        <p:cTn id="96" dur="1" fill="hold">
                                          <p:stCondLst>
                                            <p:cond delay="0"/>
                                          </p:stCondLst>
                                        </p:cTn>
                                        <p:tgtEl>
                                          <p:spTgt spid="138"/>
                                        </p:tgtEl>
                                        <p:attrNameLst>
                                          <p:attrName>style.visibility</p:attrName>
                                        </p:attrNameLst>
                                      </p:cBhvr>
                                      <p:to>
                                        <p:strVal val="visible"/>
                                      </p:to>
                                    </p:set>
                                    <p:animEffect transition="in" filter="fade">
                                      <p:cBhvr>
                                        <p:cTn id="97" dur="500"/>
                                        <p:tgtEl>
                                          <p:spTgt spid="138"/>
                                        </p:tgtEl>
                                      </p:cBhvr>
                                    </p:animEffect>
                                  </p:childTnLst>
                                </p:cTn>
                              </p:par>
                              <p:par>
                                <p:cTn id="98" presetID="10" presetClass="entr" presetSubtype="0" fill="hold" nodeType="withEffect">
                                  <p:stCondLst>
                                    <p:cond delay="900"/>
                                  </p:stCondLst>
                                  <p:childTnLst>
                                    <p:set>
                                      <p:cBhvr>
                                        <p:cTn id="99" dur="1" fill="hold">
                                          <p:stCondLst>
                                            <p:cond delay="0"/>
                                          </p:stCondLst>
                                        </p:cTn>
                                        <p:tgtEl>
                                          <p:spTgt spid="139"/>
                                        </p:tgtEl>
                                        <p:attrNameLst>
                                          <p:attrName>style.visibility</p:attrName>
                                        </p:attrNameLst>
                                      </p:cBhvr>
                                      <p:to>
                                        <p:strVal val="visible"/>
                                      </p:to>
                                    </p:set>
                                    <p:animEffect transition="in" filter="fade">
                                      <p:cBhvr>
                                        <p:cTn id="100" dur="500"/>
                                        <p:tgtEl>
                                          <p:spTgt spid="139"/>
                                        </p:tgtEl>
                                      </p:cBhvr>
                                    </p:animEffect>
                                  </p:childTnLst>
                                </p:cTn>
                              </p:par>
                              <p:par>
                                <p:cTn id="101" presetID="10" presetClass="entr" presetSubtype="0" fill="hold" nodeType="withEffect">
                                  <p:stCondLst>
                                    <p:cond delay="1000"/>
                                  </p:stCondLst>
                                  <p:childTnLst>
                                    <p:set>
                                      <p:cBhvr>
                                        <p:cTn id="102" dur="1" fill="hold">
                                          <p:stCondLst>
                                            <p:cond delay="0"/>
                                          </p:stCondLst>
                                        </p:cTn>
                                        <p:tgtEl>
                                          <p:spTgt spid="140"/>
                                        </p:tgtEl>
                                        <p:attrNameLst>
                                          <p:attrName>style.visibility</p:attrName>
                                        </p:attrNameLst>
                                      </p:cBhvr>
                                      <p:to>
                                        <p:strVal val="visible"/>
                                      </p:to>
                                    </p:set>
                                    <p:animEffect transition="in" filter="fade">
                                      <p:cBhvr>
                                        <p:cTn id="103" dur="500"/>
                                        <p:tgtEl>
                                          <p:spTgt spid="140"/>
                                        </p:tgtEl>
                                      </p:cBhvr>
                                    </p:animEffect>
                                  </p:childTnLst>
                                </p:cTn>
                              </p:par>
                              <p:par>
                                <p:cTn id="104" presetID="10" presetClass="entr" presetSubtype="0" fill="hold" nodeType="withEffect">
                                  <p:stCondLst>
                                    <p:cond delay="1100"/>
                                  </p:stCondLst>
                                  <p:childTnLst>
                                    <p:set>
                                      <p:cBhvr>
                                        <p:cTn id="105" dur="1" fill="hold">
                                          <p:stCondLst>
                                            <p:cond delay="0"/>
                                          </p:stCondLst>
                                        </p:cTn>
                                        <p:tgtEl>
                                          <p:spTgt spid="141"/>
                                        </p:tgtEl>
                                        <p:attrNameLst>
                                          <p:attrName>style.visibility</p:attrName>
                                        </p:attrNameLst>
                                      </p:cBhvr>
                                      <p:to>
                                        <p:strVal val="visible"/>
                                      </p:to>
                                    </p:set>
                                    <p:animEffect transition="in" filter="fade">
                                      <p:cBhvr>
                                        <p:cTn id="106" dur="500"/>
                                        <p:tgtEl>
                                          <p:spTgt spid="141"/>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grpId="0" nodeType="clickEffect">
                                  <p:stCondLst>
                                    <p:cond delay="0"/>
                                  </p:stCondLst>
                                  <p:childTnLst>
                                    <p:set>
                                      <p:cBhvr>
                                        <p:cTn id="110" dur="1" fill="hold">
                                          <p:stCondLst>
                                            <p:cond delay="0"/>
                                          </p:stCondLst>
                                        </p:cTn>
                                        <p:tgtEl>
                                          <p:spTgt spid="142"/>
                                        </p:tgtEl>
                                        <p:attrNameLst>
                                          <p:attrName>style.visibility</p:attrName>
                                        </p:attrNameLst>
                                      </p:cBhvr>
                                      <p:to>
                                        <p:strVal val="visible"/>
                                      </p:to>
                                    </p:set>
                                    <p:animEffect transition="in" filter="wipe(left)">
                                      <p:cBhvr>
                                        <p:cTn id="111" dur="700"/>
                                        <p:tgtEl>
                                          <p:spTgt spid="142"/>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8" fill="hold" grpId="0" nodeType="clickEffect">
                                  <p:stCondLst>
                                    <p:cond delay="0"/>
                                  </p:stCondLst>
                                  <p:childTnLst>
                                    <p:set>
                                      <p:cBhvr>
                                        <p:cTn id="115" dur="1" fill="hold">
                                          <p:stCondLst>
                                            <p:cond delay="0"/>
                                          </p:stCondLst>
                                        </p:cTn>
                                        <p:tgtEl>
                                          <p:spTgt spid="143"/>
                                        </p:tgtEl>
                                        <p:attrNameLst>
                                          <p:attrName>style.visibility</p:attrName>
                                        </p:attrNameLst>
                                      </p:cBhvr>
                                      <p:to>
                                        <p:strVal val="visible"/>
                                      </p:to>
                                    </p:set>
                                    <p:animEffect transition="in" filter="wipe(left)">
                                      <p:cBhvr>
                                        <p:cTn id="116" dur="700"/>
                                        <p:tgtEl>
                                          <p:spTgt spid="143"/>
                                        </p:tgtEl>
                                      </p:cBhvr>
                                    </p:animEffect>
                                  </p:childTnLst>
                                </p:cTn>
                              </p:par>
                              <p:par>
                                <p:cTn id="117" presetID="10" presetClass="entr" presetSubtype="0" fill="hold" grpId="0" nodeType="withEffect">
                                  <p:stCondLst>
                                    <p:cond delay="500"/>
                                  </p:stCondLst>
                                  <p:childTnLst>
                                    <p:set>
                                      <p:cBhvr>
                                        <p:cTn id="118" dur="1" fill="hold">
                                          <p:stCondLst>
                                            <p:cond delay="0"/>
                                          </p:stCondLst>
                                        </p:cTn>
                                        <p:tgtEl>
                                          <p:spTgt spid="144"/>
                                        </p:tgtEl>
                                        <p:attrNameLst>
                                          <p:attrName>style.visibility</p:attrName>
                                        </p:attrNameLst>
                                      </p:cBhvr>
                                      <p:to>
                                        <p:strVal val="visible"/>
                                      </p:to>
                                    </p:set>
                                    <p:animEffect transition="in" filter="fade">
                                      <p:cBhvr>
                                        <p:cTn id="119" dur="700"/>
                                        <p:tgtEl>
                                          <p:spTgt spid="144"/>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102"/>
                                        </p:tgtEl>
                                        <p:attrNameLst>
                                          <p:attrName>style.visibility</p:attrName>
                                        </p:attrNameLst>
                                      </p:cBhvr>
                                      <p:to>
                                        <p:strVal val="visible"/>
                                      </p:to>
                                    </p:set>
                                    <p:animEffect transition="in" filter="fade">
                                      <p:cBhvr>
                                        <p:cTn id="124" dur="500"/>
                                        <p:tgtEl>
                                          <p:spTgt spid="102"/>
                                        </p:tgtEl>
                                      </p:cBhvr>
                                    </p:animEffect>
                                  </p:childTnLst>
                                </p:cTn>
                              </p:par>
                              <p:par>
                                <p:cTn id="125" presetID="42" presetClass="entr" presetSubtype="0" fill="hold" grpId="0" nodeType="withEffect">
                                  <p:stCondLst>
                                    <p:cond delay="150"/>
                                  </p:stCondLst>
                                  <p:childTnLst>
                                    <p:set>
                                      <p:cBhvr>
                                        <p:cTn id="126" dur="1" fill="hold">
                                          <p:stCondLst>
                                            <p:cond delay="0"/>
                                          </p:stCondLst>
                                        </p:cTn>
                                        <p:tgtEl>
                                          <p:spTgt spid="115"/>
                                        </p:tgtEl>
                                        <p:attrNameLst>
                                          <p:attrName>style.visibility</p:attrName>
                                        </p:attrNameLst>
                                      </p:cBhvr>
                                      <p:to>
                                        <p:strVal val="visible"/>
                                      </p:to>
                                    </p:set>
                                    <p:animEffect transition="in" filter="fade">
                                      <p:cBhvr>
                                        <p:cTn id="127" dur="500"/>
                                        <p:tgtEl>
                                          <p:spTgt spid="115"/>
                                        </p:tgtEl>
                                      </p:cBhvr>
                                    </p:animEffect>
                                    <p:anim calcmode="lin" valueType="num">
                                      <p:cBhvr additive="base">
                                        <p:cTn id="128" dur="500" decel="100000" fill="hold"/>
                                        <p:tgtEl>
                                          <p:spTgt spid="115"/>
                                        </p:tgtEl>
                                        <p:attrNameLst>
                                          <p:attrName>ppt_y</p:attrName>
                                        </p:attrNameLst>
                                      </p:cBhvr>
                                      <p:tavLst>
                                        <p:tav tm="0">
                                          <p:val>
                                            <p:strVal val="#ppt_y+0.06"/>
                                          </p:val>
                                        </p:tav>
                                        <p:tav tm="100000">
                                          <p:val>
                                            <p:strVal val="#ppt_y"/>
                                          </p:val>
                                        </p:tav>
                                      </p:tavLst>
                                    </p:anim>
                                  </p:childTnLst>
                                </p:cTn>
                              </p:par>
                              <p:par>
                                <p:cTn id="129" presetID="42" presetClass="entr" presetSubtype="0" fill="hold" grpId="0" nodeType="withEffect">
                                  <p:stCondLst>
                                    <p:cond delay="150"/>
                                  </p:stCondLst>
                                  <p:childTnLst>
                                    <p:set>
                                      <p:cBhvr>
                                        <p:cTn id="130" dur="1" fill="hold">
                                          <p:stCondLst>
                                            <p:cond delay="0"/>
                                          </p:stCondLst>
                                        </p:cTn>
                                        <p:tgtEl>
                                          <p:spTgt spid="116"/>
                                        </p:tgtEl>
                                        <p:attrNameLst>
                                          <p:attrName>style.visibility</p:attrName>
                                        </p:attrNameLst>
                                      </p:cBhvr>
                                      <p:to>
                                        <p:strVal val="visible"/>
                                      </p:to>
                                    </p:set>
                                    <p:animEffect transition="in" filter="fade">
                                      <p:cBhvr>
                                        <p:cTn id="131" dur="500"/>
                                        <p:tgtEl>
                                          <p:spTgt spid="116"/>
                                        </p:tgtEl>
                                      </p:cBhvr>
                                    </p:animEffect>
                                    <p:anim calcmode="lin" valueType="num">
                                      <p:cBhvr additive="base">
                                        <p:cTn id="132" dur="500" decel="100000" fill="hold"/>
                                        <p:tgtEl>
                                          <p:spTgt spid="116"/>
                                        </p:tgtEl>
                                        <p:attrNameLst>
                                          <p:attrName>ppt_y</p:attrName>
                                        </p:attrNameLst>
                                      </p:cBhvr>
                                      <p:tavLst>
                                        <p:tav tm="0">
                                          <p:val>
                                            <p:strVal val="#ppt_y+0.06"/>
                                          </p:val>
                                        </p:tav>
                                        <p:tav tm="100000">
                                          <p:val>
                                            <p:strVal val="#ppt_y"/>
                                          </p:val>
                                        </p:tav>
                                      </p:tavLst>
                                    </p:anim>
                                  </p:childTnLst>
                                </p:cTn>
                              </p:par>
                              <p:par>
                                <p:cTn id="133" presetID="42" presetClass="entr" presetSubtype="0" fill="hold" grpId="0" nodeType="withEffect">
                                  <p:stCondLst>
                                    <p:cond delay="150"/>
                                  </p:stCondLst>
                                  <p:childTnLst>
                                    <p:set>
                                      <p:cBhvr>
                                        <p:cTn id="134" dur="1" fill="hold">
                                          <p:stCondLst>
                                            <p:cond delay="0"/>
                                          </p:stCondLst>
                                        </p:cTn>
                                        <p:tgtEl>
                                          <p:spTgt spid="117"/>
                                        </p:tgtEl>
                                        <p:attrNameLst>
                                          <p:attrName>style.visibility</p:attrName>
                                        </p:attrNameLst>
                                      </p:cBhvr>
                                      <p:to>
                                        <p:strVal val="visible"/>
                                      </p:to>
                                    </p:set>
                                    <p:animEffect transition="in" filter="fade">
                                      <p:cBhvr>
                                        <p:cTn id="135" dur="500"/>
                                        <p:tgtEl>
                                          <p:spTgt spid="117"/>
                                        </p:tgtEl>
                                      </p:cBhvr>
                                    </p:animEffect>
                                    <p:anim calcmode="lin" valueType="num">
                                      <p:cBhvr additive="base">
                                        <p:cTn id="136" dur="500" decel="100000" fill="hold"/>
                                        <p:tgtEl>
                                          <p:spTgt spid="117"/>
                                        </p:tgtEl>
                                        <p:attrNameLst>
                                          <p:attrName>ppt_y</p:attrName>
                                        </p:attrNameLst>
                                      </p:cBhvr>
                                      <p:tavLst>
                                        <p:tav tm="0">
                                          <p:val>
                                            <p:strVal val="#ppt_y+0.06"/>
                                          </p:val>
                                        </p:tav>
                                        <p:tav tm="100000">
                                          <p:val>
                                            <p:strVal val="#ppt_y"/>
                                          </p:val>
                                        </p:tav>
                                      </p:tavLst>
                                    </p:anim>
                                  </p:childTnLst>
                                </p:cTn>
                              </p:par>
                              <p:par>
                                <p:cTn id="137" presetID="42" presetClass="entr" presetSubtype="0" fill="hold" grpId="0" nodeType="withEffect">
                                  <p:stCondLst>
                                    <p:cond delay="150"/>
                                  </p:stCondLst>
                                  <p:childTnLst>
                                    <p:set>
                                      <p:cBhvr>
                                        <p:cTn id="138" dur="1" fill="hold">
                                          <p:stCondLst>
                                            <p:cond delay="0"/>
                                          </p:stCondLst>
                                        </p:cTn>
                                        <p:tgtEl>
                                          <p:spTgt spid="118"/>
                                        </p:tgtEl>
                                        <p:attrNameLst>
                                          <p:attrName>style.visibility</p:attrName>
                                        </p:attrNameLst>
                                      </p:cBhvr>
                                      <p:to>
                                        <p:strVal val="visible"/>
                                      </p:to>
                                    </p:set>
                                    <p:animEffect transition="in" filter="fade">
                                      <p:cBhvr>
                                        <p:cTn id="139" dur="500"/>
                                        <p:tgtEl>
                                          <p:spTgt spid="118"/>
                                        </p:tgtEl>
                                      </p:cBhvr>
                                    </p:animEffect>
                                    <p:anim calcmode="lin" valueType="num">
                                      <p:cBhvr additive="base">
                                        <p:cTn id="140" dur="500" decel="100000" fill="hold"/>
                                        <p:tgtEl>
                                          <p:spTgt spid="118"/>
                                        </p:tgtEl>
                                        <p:attrNameLst>
                                          <p:attrName>ppt_y</p:attrName>
                                        </p:attrNameLst>
                                      </p:cBhvr>
                                      <p:tavLst>
                                        <p:tav tm="0">
                                          <p:val>
                                            <p:strVal val="#ppt_y+0.06"/>
                                          </p:val>
                                        </p:tav>
                                        <p:tav tm="100000">
                                          <p:val>
                                            <p:strVal val="#ppt_y"/>
                                          </p:val>
                                        </p:tav>
                                      </p:tavLst>
                                    </p:anim>
                                  </p:childTnLst>
                                </p:cTn>
                              </p:par>
                              <p:par>
                                <p:cTn id="141" presetID="42" presetClass="entr" presetSubtype="0" fill="hold" grpId="0" nodeType="withEffect">
                                  <p:stCondLst>
                                    <p:cond delay="150"/>
                                  </p:stCondLst>
                                  <p:childTnLst>
                                    <p:set>
                                      <p:cBhvr>
                                        <p:cTn id="142" dur="1" fill="hold">
                                          <p:stCondLst>
                                            <p:cond delay="0"/>
                                          </p:stCondLst>
                                        </p:cTn>
                                        <p:tgtEl>
                                          <p:spTgt spid="119"/>
                                        </p:tgtEl>
                                        <p:attrNameLst>
                                          <p:attrName>style.visibility</p:attrName>
                                        </p:attrNameLst>
                                      </p:cBhvr>
                                      <p:to>
                                        <p:strVal val="visible"/>
                                      </p:to>
                                    </p:set>
                                    <p:animEffect transition="in" filter="fade">
                                      <p:cBhvr>
                                        <p:cTn id="143" dur="500"/>
                                        <p:tgtEl>
                                          <p:spTgt spid="119"/>
                                        </p:tgtEl>
                                      </p:cBhvr>
                                    </p:animEffect>
                                    <p:anim calcmode="lin" valueType="num">
                                      <p:cBhvr additive="base">
                                        <p:cTn id="144" dur="500" decel="100000" fill="hold"/>
                                        <p:tgtEl>
                                          <p:spTgt spid="119"/>
                                        </p:tgtEl>
                                        <p:attrNameLst>
                                          <p:attrName>ppt_y</p:attrName>
                                        </p:attrNameLst>
                                      </p:cBhvr>
                                      <p:tavLst>
                                        <p:tav tm="0">
                                          <p:val>
                                            <p:strVal val="#ppt_y+0.06"/>
                                          </p:val>
                                        </p:tav>
                                        <p:tav tm="100000">
                                          <p:val>
                                            <p:strVal val="#ppt_y"/>
                                          </p:val>
                                        </p:tav>
                                      </p:tavLst>
                                    </p:anim>
                                  </p:childTnLst>
                                </p:cTn>
                              </p:par>
                              <p:par>
                                <p:cTn id="145" presetID="42" presetClass="entr" presetSubtype="0" fill="hold" nodeType="withEffect">
                                  <p:stCondLst>
                                    <p:cond delay="150"/>
                                  </p:stCondLst>
                                  <p:childTnLst>
                                    <p:set>
                                      <p:cBhvr>
                                        <p:cTn id="146" dur="1" fill="hold">
                                          <p:stCondLst>
                                            <p:cond delay="0"/>
                                          </p:stCondLst>
                                        </p:cTn>
                                        <p:tgtEl>
                                          <p:spTgt spid="120"/>
                                        </p:tgtEl>
                                        <p:attrNameLst>
                                          <p:attrName>style.visibility</p:attrName>
                                        </p:attrNameLst>
                                      </p:cBhvr>
                                      <p:to>
                                        <p:strVal val="visible"/>
                                      </p:to>
                                    </p:set>
                                    <p:animEffect transition="in" filter="fade">
                                      <p:cBhvr>
                                        <p:cTn id="147" dur="500"/>
                                        <p:tgtEl>
                                          <p:spTgt spid="120"/>
                                        </p:tgtEl>
                                      </p:cBhvr>
                                    </p:animEffect>
                                    <p:anim calcmode="lin" valueType="num">
                                      <p:cBhvr additive="base">
                                        <p:cTn id="148" dur="500" decel="100000" fill="hold"/>
                                        <p:tgtEl>
                                          <p:spTgt spid="120"/>
                                        </p:tgtEl>
                                        <p:attrNameLst>
                                          <p:attrName>ppt_y</p:attrName>
                                        </p:attrNameLst>
                                      </p:cBhvr>
                                      <p:tavLst>
                                        <p:tav tm="0">
                                          <p:val>
                                            <p:strVal val="#ppt_y+0.06"/>
                                          </p:val>
                                        </p:tav>
                                        <p:tav tm="100000">
                                          <p:val>
                                            <p:strVal val="#ppt_y"/>
                                          </p:val>
                                        </p:tav>
                                      </p:tavLst>
                                    </p:anim>
                                  </p:childTnLst>
                                </p:cTn>
                              </p:par>
                              <p:par>
                                <p:cTn id="149" presetID="42" presetClass="entr" presetSubtype="0" fill="hold" grpId="0" nodeType="withEffect">
                                  <p:stCondLst>
                                    <p:cond delay="150"/>
                                  </p:stCondLst>
                                  <p:childTnLst>
                                    <p:set>
                                      <p:cBhvr>
                                        <p:cTn id="150" dur="1" fill="hold">
                                          <p:stCondLst>
                                            <p:cond delay="0"/>
                                          </p:stCondLst>
                                        </p:cTn>
                                        <p:tgtEl>
                                          <p:spTgt spid="121"/>
                                        </p:tgtEl>
                                        <p:attrNameLst>
                                          <p:attrName>style.visibility</p:attrName>
                                        </p:attrNameLst>
                                      </p:cBhvr>
                                      <p:to>
                                        <p:strVal val="visible"/>
                                      </p:to>
                                    </p:set>
                                    <p:animEffect transition="in" filter="fade">
                                      <p:cBhvr>
                                        <p:cTn id="151" dur="500"/>
                                        <p:tgtEl>
                                          <p:spTgt spid="121"/>
                                        </p:tgtEl>
                                      </p:cBhvr>
                                    </p:animEffect>
                                    <p:anim calcmode="lin" valueType="num">
                                      <p:cBhvr additive="base">
                                        <p:cTn id="152" dur="500" decel="100000" fill="hold"/>
                                        <p:tgtEl>
                                          <p:spTgt spid="121"/>
                                        </p:tgtEl>
                                        <p:attrNameLst>
                                          <p:attrName>ppt_y</p:attrName>
                                        </p:attrNameLst>
                                      </p:cBhvr>
                                      <p:tavLst>
                                        <p:tav tm="0">
                                          <p:val>
                                            <p:strVal val="#ppt_y+0.06"/>
                                          </p:val>
                                        </p:tav>
                                        <p:tav tm="100000">
                                          <p:val>
                                            <p:strVal val="#ppt_y"/>
                                          </p:val>
                                        </p:tav>
                                      </p:tavLst>
                                    </p:anim>
                                  </p:childTnLst>
                                </p:cTn>
                              </p:par>
                              <p:par>
                                <p:cTn id="153" presetID="42" presetClass="entr" presetSubtype="0" fill="hold" grpId="0" nodeType="withEffect">
                                  <p:stCondLst>
                                    <p:cond delay="150"/>
                                  </p:stCondLst>
                                  <p:childTnLst>
                                    <p:set>
                                      <p:cBhvr>
                                        <p:cTn id="154" dur="1" fill="hold">
                                          <p:stCondLst>
                                            <p:cond delay="0"/>
                                          </p:stCondLst>
                                        </p:cTn>
                                        <p:tgtEl>
                                          <p:spTgt spid="122"/>
                                        </p:tgtEl>
                                        <p:attrNameLst>
                                          <p:attrName>style.visibility</p:attrName>
                                        </p:attrNameLst>
                                      </p:cBhvr>
                                      <p:to>
                                        <p:strVal val="visible"/>
                                      </p:to>
                                    </p:set>
                                    <p:animEffect transition="in" filter="fade">
                                      <p:cBhvr>
                                        <p:cTn id="155" dur="500"/>
                                        <p:tgtEl>
                                          <p:spTgt spid="122"/>
                                        </p:tgtEl>
                                      </p:cBhvr>
                                    </p:animEffect>
                                    <p:anim calcmode="lin" valueType="num">
                                      <p:cBhvr additive="base">
                                        <p:cTn id="156" dur="500" decel="100000" fill="hold"/>
                                        <p:tgtEl>
                                          <p:spTgt spid="122"/>
                                        </p:tgtEl>
                                        <p:attrNameLst>
                                          <p:attrName>ppt_y</p:attrName>
                                        </p:attrNameLst>
                                      </p:cBhvr>
                                      <p:tavLst>
                                        <p:tav tm="0">
                                          <p:val>
                                            <p:strVal val="#ppt_y+0.06"/>
                                          </p:val>
                                        </p:tav>
                                        <p:tav tm="100000">
                                          <p:val>
                                            <p:strVal val="#ppt_y"/>
                                          </p:val>
                                        </p:tav>
                                      </p:tavLst>
                                    </p:anim>
                                  </p:childTnLst>
                                </p:cTn>
                              </p:par>
                              <p:par>
                                <p:cTn id="157" presetID="42" presetClass="entr" presetSubtype="0" fill="hold" grpId="0" nodeType="withEffect">
                                  <p:stCondLst>
                                    <p:cond delay="150"/>
                                  </p:stCondLst>
                                  <p:childTnLst>
                                    <p:set>
                                      <p:cBhvr>
                                        <p:cTn id="158" dur="1" fill="hold">
                                          <p:stCondLst>
                                            <p:cond delay="0"/>
                                          </p:stCondLst>
                                        </p:cTn>
                                        <p:tgtEl>
                                          <p:spTgt spid="123"/>
                                        </p:tgtEl>
                                        <p:attrNameLst>
                                          <p:attrName>style.visibility</p:attrName>
                                        </p:attrNameLst>
                                      </p:cBhvr>
                                      <p:to>
                                        <p:strVal val="visible"/>
                                      </p:to>
                                    </p:set>
                                    <p:animEffect transition="in" filter="fade">
                                      <p:cBhvr>
                                        <p:cTn id="159" dur="500"/>
                                        <p:tgtEl>
                                          <p:spTgt spid="123"/>
                                        </p:tgtEl>
                                      </p:cBhvr>
                                    </p:animEffect>
                                    <p:anim calcmode="lin" valueType="num">
                                      <p:cBhvr additive="base">
                                        <p:cTn id="160" dur="500" decel="100000" fill="hold"/>
                                        <p:tgtEl>
                                          <p:spTgt spid="123"/>
                                        </p:tgtEl>
                                        <p:attrNameLst>
                                          <p:attrName>ppt_y</p:attrName>
                                        </p:attrNameLst>
                                      </p:cBhvr>
                                      <p:tavLst>
                                        <p:tav tm="0">
                                          <p:val>
                                            <p:strVal val="#ppt_y+0.06"/>
                                          </p:val>
                                        </p:tav>
                                        <p:tav tm="100000">
                                          <p:val>
                                            <p:strVal val="#ppt_y"/>
                                          </p:val>
                                        </p:tav>
                                      </p:tavLst>
                                    </p:anim>
                                  </p:childTnLst>
                                </p:cTn>
                              </p:par>
                              <p:par>
                                <p:cTn id="161" presetID="42" presetClass="entr" presetSubtype="0" fill="hold" grpId="0" nodeType="withEffect">
                                  <p:stCondLst>
                                    <p:cond delay="150"/>
                                  </p:stCondLst>
                                  <p:childTnLst>
                                    <p:set>
                                      <p:cBhvr>
                                        <p:cTn id="162" dur="1" fill="hold">
                                          <p:stCondLst>
                                            <p:cond delay="0"/>
                                          </p:stCondLst>
                                        </p:cTn>
                                        <p:tgtEl>
                                          <p:spTgt spid="124"/>
                                        </p:tgtEl>
                                        <p:attrNameLst>
                                          <p:attrName>style.visibility</p:attrName>
                                        </p:attrNameLst>
                                      </p:cBhvr>
                                      <p:to>
                                        <p:strVal val="visible"/>
                                      </p:to>
                                    </p:set>
                                    <p:animEffect transition="in" filter="fade">
                                      <p:cBhvr>
                                        <p:cTn id="163" dur="500"/>
                                        <p:tgtEl>
                                          <p:spTgt spid="124"/>
                                        </p:tgtEl>
                                      </p:cBhvr>
                                    </p:animEffect>
                                    <p:anim calcmode="lin" valueType="num">
                                      <p:cBhvr additive="base">
                                        <p:cTn id="164" dur="500" decel="100000" fill="hold"/>
                                        <p:tgtEl>
                                          <p:spTgt spid="124"/>
                                        </p:tgtEl>
                                        <p:attrNameLst>
                                          <p:attrName>ppt_y</p:attrName>
                                        </p:attrNameLst>
                                      </p:cBhvr>
                                      <p:tavLst>
                                        <p:tav tm="0">
                                          <p:val>
                                            <p:strVal val="#ppt_y+0.06"/>
                                          </p:val>
                                        </p:tav>
                                        <p:tav tm="100000">
                                          <p:val>
                                            <p:strVal val="#ppt_y"/>
                                          </p:val>
                                        </p:tav>
                                      </p:tavLst>
                                    </p:anim>
                                  </p:childTnLst>
                                </p:cTn>
                              </p:par>
                              <p:par>
                                <p:cTn id="165" presetID="42" presetClass="entr" presetSubtype="0" fill="hold" grpId="0" nodeType="withEffect">
                                  <p:stCondLst>
                                    <p:cond delay="150"/>
                                  </p:stCondLst>
                                  <p:childTnLst>
                                    <p:set>
                                      <p:cBhvr>
                                        <p:cTn id="166" dur="1" fill="hold">
                                          <p:stCondLst>
                                            <p:cond delay="0"/>
                                          </p:stCondLst>
                                        </p:cTn>
                                        <p:tgtEl>
                                          <p:spTgt spid="125"/>
                                        </p:tgtEl>
                                        <p:attrNameLst>
                                          <p:attrName>style.visibility</p:attrName>
                                        </p:attrNameLst>
                                      </p:cBhvr>
                                      <p:to>
                                        <p:strVal val="visible"/>
                                      </p:to>
                                    </p:set>
                                    <p:animEffect transition="in" filter="fade">
                                      <p:cBhvr>
                                        <p:cTn id="167" dur="500"/>
                                        <p:tgtEl>
                                          <p:spTgt spid="125"/>
                                        </p:tgtEl>
                                      </p:cBhvr>
                                    </p:animEffect>
                                    <p:anim calcmode="lin" valueType="num">
                                      <p:cBhvr additive="base">
                                        <p:cTn id="168" dur="500" decel="100000" fill="hold"/>
                                        <p:tgtEl>
                                          <p:spTgt spid="125"/>
                                        </p:tgtEl>
                                        <p:attrNameLst>
                                          <p:attrName>ppt_y</p:attrName>
                                        </p:attrNameLst>
                                      </p:cBhvr>
                                      <p:tavLst>
                                        <p:tav tm="0">
                                          <p:val>
                                            <p:strVal val="#ppt_y+0.06"/>
                                          </p:val>
                                        </p:tav>
                                        <p:tav tm="100000">
                                          <p:val>
                                            <p:strVal val="#ppt_y"/>
                                          </p:val>
                                        </p:tav>
                                      </p:tavLst>
                                    </p:anim>
                                  </p:childTnLst>
                                </p:cTn>
                              </p:par>
                              <p:par>
                                <p:cTn id="169" presetID="42" presetClass="entr" presetSubtype="0" fill="hold" grpId="0" nodeType="withEffect">
                                  <p:stCondLst>
                                    <p:cond delay="150"/>
                                  </p:stCondLst>
                                  <p:childTnLst>
                                    <p:set>
                                      <p:cBhvr>
                                        <p:cTn id="170" dur="1" fill="hold">
                                          <p:stCondLst>
                                            <p:cond delay="0"/>
                                          </p:stCondLst>
                                        </p:cTn>
                                        <p:tgtEl>
                                          <p:spTgt spid="126"/>
                                        </p:tgtEl>
                                        <p:attrNameLst>
                                          <p:attrName>style.visibility</p:attrName>
                                        </p:attrNameLst>
                                      </p:cBhvr>
                                      <p:to>
                                        <p:strVal val="visible"/>
                                      </p:to>
                                    </p:set>
                                    <p:animEffect transition="in" filter="fade">
                                      <p:cBhvr>
                                        <p:cTn id="171" dur="500"/>
                                        <p:tgtEl>
                                          <p:spTgt spid="126"/>
                                        </p:tgtEl>
                                      </p:cBhvr>
                                    </p:animEffect>
                                    <p:anim calcmode="lin" valueType="num">
                                      <p:cBhvr additive="base">
                                        <p:cTn id="172" dur="500" decel="100000" fill="hold"/>
                                        <p:tgtEl>
                                          <p:spTgt spid="126"/>
                                        </p:tgtEl>
                                        <p:attrNameLst>
                                          <p:attrName>ppt_y</p:attrName>
                                        </p:attrNameLst>
                                      </p:cBhvr>
                                      <p:tavLst>
                                        <p:tav tm="0">
                                          <p:val>
                                            <p:strVal val="#ppt_y+0.06"/>
                                          </p:val>
                                        </p:tav>
                                        <p:tav tm="100000">
                                          <p:val>
                                            <p:strVal val="#ppt_y"/>
                                          </p:val>
                                        </p:tav>
                                      </p:tavLst>
                                    </p:anim>
                                  </p:childTnLst>
                                </p:cTn>
                              </p:par>
                              <p:par>
                                <p:cTn id="173" presetID="53" presetClass="entr" presetSubtype="16" fill="hold" grpId="0" nodeType="withEffect">
                                  <p:stCondLst>
                                    <p:cond delay="300"/>
                                  </p:stCondLst>
                                  <p:childTnLst>
                                    <p:set>
                                      <p:cBhvr>
                                        <p:cTn id="174" dur="1" fill="hold">
                                          <p:stCondLst>
                                            <p:cond delay="0"/>
                                          </p:stCondLst>
                                        </p:cTn>
                                        <p:tgtEl>
                                          <p:spTgt spid="129"/>
                                        </p:tgtEl>
                                        <p:attrNameLst>
                                          <p:attrName>style.visibility</p:attrName>
                                        </p:attrNameLst>
                                      </p:cBhvr>
                                      <p:to>
                                        <p:strVal val="visible"/>
                                      </p:to>
                                    </p:set>
                                    <p:anim calcmode="lin" valueType="num">
                                      <p:cBhvr additive="base">
                                        <p:cTn id="175" dur="500" decel="100000" fill="hold"/>
                                        <p:tgtEl>
                                          <p:spTgt spid="129"/>
                                        </p:tgtEl>
                                        <p:attrNameLst>
                                          <p:attrName>ppt_w</p:attrName>
                                        </p:attrNameLst>
                                      </p:cBhvr>
                                      <p:tavLst>
                                        <p:tav tm="0">
                                          <p:val>
                                            <p:strVal val="#ppt_w*0.3"/>
                                          </p:val>
                                        </p:tav>
                                        <p:tav tm="100000">
                                          <p:val>
                                            <p:strVal val="#ppt_w*1.08"/>
                                          </p:val>
                                        </p:tav>
                                      </p:tavLst>
                                    </p:anim>
                                    <p:anim calcmode="lin" valueType="num">
                                      <p:cBhvr additive="base">
                                        <p:cTn id="176" dur="500" decel="100000" fill="hold"/>
                                        <p:tgtEl>
                                          <p:spTgt spid="129"/>
                                        </p:tgtEl>
                                        <p:attrNameLst>
                                          <p:attrName>ppt_h</p:attrName>
                                        </p:attrNameLst>
                                      </p:cBhvr>
                                      <p:tavLst>
                                        <p:tav tm="0">
                                          <p:val>
                                            <p:strVal val="#ppt_h*0.3"/>
                                          </p:val>
                                        </p:tav>
                                        <p:tav tm="100000">
                                          <p:val>
                                            <p:strVal val="#ppt_h*1.08"/>
                                          </p:val>
                                        </p:tav>
                                      </p:tavLst>
                                    </p:anim>
                                    <p:animEffect transition="in" filter="fade">
                                      <p:cBhvr>
                                        <p:cTn id="177" dur="250"/>
                                        <p:tgtEl>
                                          <p:spTgt spid="129"/>
                                        </p:tgtEl>
                                      </p:cBhvr>
                                    </p:animEffect>
                                    <p:anim calcmode="lin" valueType="num">
                                      <p:cBhvr additive="base">
                                        <p:cTn id="178" dur="160" fill="hold">
                                          <p:stCondLst>
                                            <p:cond delay="500"/>
                                          </p:stCondLst>
                                        </p:cTn>
                                        <p:tgtEl>
                                          <p:spTgt spid="129"/>
                                        </p:tgtEl>
                                        <p:attrNameLst>
                                          <p:attrName>ppt_w</p:attrName>
                                        </p:attrNameLst>
                                      </p:cBhvr>
                                      <p:tavLst>
                                        <p:tav tm="0">
                                          <p:val>
                                            <p:strVal val="#ppt_w*1.08"/>
                                          </p:val>
                                        </p:tav>
                                        <p:tav tm="100000">
                                          <p:val>
                                            <p:strVal val="#ppt_w"/>
                                          </p:val>
                                        </p:tav>
                                      </p:tavLst>
                                    </p:anim>
                                    <p:anim calcmode="lin" valueType="num">
                                      <p:cBhvr additive="base">
                                        <p:cTn id="179" dur="160" fill="hold">
                                          <p:stCondLst>
                                            <p:cond delay="500"/>
                                          </p:stCondLst>
                                        </p:cTn>
                                        <p:tgtEl>
                                          <p:spTgt spid="129"/>
                                        </p:tgtEl>
                                        <p:attrNameLst>
                                          <p:attrName>ppt_h</p:attrName>
                                        </p:attrNameLst>
                                      </p:cBhvr>
                                      <p:tavLst>
                                        <p:tav tm="0">
                                          <p:val>
                                            <p:strVal val="#ppt_h*1.08"/>
                                          </p:val>
                                        </p:tav>
                                        <p:tav tm="100000">
                                          <p:val>
                                            <p:strVal val="#ppt_h"/>
                                          </p:val>
                                        </p:tav>
                                      </p:tavLst>
                                    </p:anim>
                                  </p:childTnLst>
                                </p:cTn>
                              </p:par>
                            </p:childTnLst>
                          </p:cTn>
                        </p:par>
                      </p:childTnLst>
                    </p:cTn>
                  </p:par>
                  <p:par>
                    <p:cTn id="180" fill="hold">
                      <p:stCondLst>
                        <p:cond delay="indefinite"/>
                      </p:stCondLst>
                      <p:childTnLst>
                        <p:par>
                          <p:cTn id="181" fill="hold">
                            <p:stCondLst>
                              <p:cond delay="0"/>
                            </p:stCondLst>
                            <p:childTnLst>
                              <p:par>
                                <p:cTn id="182" presetID="53" presetClass="entr" presetSubtype="16" fill="hold" grpId="0" nodeType="clickEffect">
                                  <p:stCondLst>
                                    <p:cond delay="0"/>
                                  </p:stCondLst>
                                  <p:childTnLst>
                                    <p:set>
                                      <p:cBhvr>
                                        <p:cTn id="183" dur="1" fill="hold">
                                          <p:stCondLst>
                                            <p:cond delay="0"/>
                                          </p:stCondLst>
                                        </p:cTn>
                                        <p:tgtEl>
                                          <p:spTgt spid="130"/>
                                        </p:tgtEl>
                                        <p:attrNameLst>
                                          <p:attrName>style.visibility</p:attrName>
                                        </p:attrNameLst>
                                      </p:cBhvr>
                                      <p:to>
                                        <p:strVal val="visible"/>
                                      </p:to>
                                    </p:set>
                                    <p:anim calcmode="lin" valueType="num">
                                      <p:cBhvr additive="base">
                                        <p:cTn id="184" dur="500" decel="100000" fill="hold"/>
                                        <p:tgtEl>
                                          <p:spTgt spid="130"/>
                                        </p:tgtEl>
                                        <p:attrNameLst>
                                          <p:attrName>ppt_w</p:attrName>
                                        </p:attrNameLst>
                                      </p:cBhvr>
                                      <p:tavLst>
                                        <p:tav tm="0">
                                          <p:val>
                                            <p:strVal val="#ppt_w*0.3"/>
                                          </p:val>
                                        </p:tav>
                                        <p:tav tm="100000">
                                          <p:val>
                                            <p:strVal val="#ppt_w*1.08"/>
                                          </p:val>
                                        </p:tav>
                                      </p:tavLst>
                                    </p:anim>
                                    <p:anim calcmode="lin" valueType="num">
                                      <p:cBhvr additive="base">
                                        <p:cTn id="185" dur="500" decel="100000" fill="hold"/>
                                        <p:tgtEl>
                                          <p:spTgt spid="130"/>
                                        </p:tgtEl>
                                        <p:attrNameLst>
                                          <p:attrName>ppt_h</p:attrName>
                                        </p:attrNameLst>
                                      </p:cBhvr>
                                      <p:tavLst>
                                        <p:tav tm="0">
                                          <p:val>
                                            <p:strVal val="#ppt_h*0.3"/>
                                          </p:val>
                                        </p:tav>
                                        <p:tav tm="100000">
                                          <p:val>
                                            <p:strVal val="#ppt_h*1.08"/>
                                          </p:val>
                                        </p:tav>
                                      </p:tavLst>
                                    </p:anim>
                                    <p:animEffect transition="in" filter="fade">
                                      <p:cBhvr>
                                        <p:cTn id="186" dur="250"/>
                                        <p:tgtEl>
                                          <p:spTgt spid="130"/>
                                        </p:tgtEl>
                                      </p:cBhvr>
                                    </p:animEffect>
                                    <p:anim calcmode="lin" valueType="num">
                                      <p:cBhvr additive="base">
                                        <p:cTn id="187" dur="160" fill="hold">
                                          <p:stCondLst>
                                            <p:cond delay="500"/>
                                          </p:stCondLst>
                                        </p:cTn>
                                        <p:tgtEl>
                                          <p:spTgt spid="130"/>
                                        </p:tgtEl>
                                        <p:attrNameLst>
                                          <p:attrName>ppt_w</p:attrName>
                                        </p:attrNameLst>
                                      </p:cBhvr>
                                      <p:tavLst>
                                        <p:tav tm="0">
                                          <p:val>
                                            <p:strVal val="#ppt_w*1.08"/>
                                          </p:val>
                                        </p:tav>
                                        <p:tav tm="100000">
                                          <p:val>
                                            <p:strVal val="#ppt_w"/>
                                          </p:val>
                                        </p:tav>
                                      </p:tavLst>
                                    </p:anim>
                                    <p:anim calcmode="lin" valueType="num">
                                      <p:cBhvr additive="base">
                                        <p:cTn id="188" dur="160" fill="hold">
                                          <p:stCondLst>
                                            <p:cond delay="500"/>
                                          </p:stCondLst>
                                        </p:cTn>
                                        <p:tgtEl>
                                          <p:spTgt spid="130"/>
                                        </p:tgtEl>
                                        <p:attrNameLst>
                                          <p:attrName>ppt_h</p:attrName>
                                        </p:attrNameLst>
                                      </p:cBhvr>
                                      <p:tavLst>
                                        <p:tav tm="0">
                                          <p:val>
                                            <p:strVal val="#ppt_h*1.08"/>
                                          </p:val>
                                        </p:tav>
                                        <p:tav tm="100000">
                                          <p:val>
                                            <p:strVal val="#ppt_h"/>
                                          </p:val>
                                        </p:tav>
                                      </p:tavLst>
                                    </p:anim>
                                  </p:childTnLst>
                                </p:cTn>
                              </p:par>
                              <p:par>
                                <p:cTn id="189" presetID="10" presetClass="entr" presetSubtype="0" fill="hold" grpId="0" nodeType="withEffect">
                                  <p:stCondLst>
                                    <p:cond delay="60"/>
                                  </p:stCondLst>
                                  <p:childTnLst>
                                    <p:set>
                                      <p:cBhvr>
                                        <p:cTn id="190" dur="1" fill="hold">
                                          <p:stCondLst>
                                            <p:cond delay="0"/>
                                          </p:stCondLst>
                                        </p:cTn>
                                        <p:tgtEl>
                                          <p:spTgt spid="145"/>
                                        </p:tgtEl>
                                        <p:attrNameLst>
                                          <p:attrName>style.visibility</p:attrName>
                                        </p:attrNameLst>
                                      </p:cBhvr>
                                      <p:to>
                                        <p:strVal val="visible"/>
                                      </p:to>
                                    </p:set>
                                    <p:animEffect transition="in" filter="fade">
                                      <p:cBhvr>
                                        <p:cTn id="191" dur="500"/>
                                        <p:tgtEl>
                                          <p:spTgt spid="145"/>
                                        </p:tgtEl>
                                      </p:cBhvr>
                                    </p:animEffect>
                                  </p:childTnLst>
                                </p:cTn>
                              </p:par>
                              <p:par>
                                <p:cTn id="192" presetID="10" presetClass="entr" presetSubtype="0" fill="hold" grpId="0" nodeType="withEffect">
                                  <p:stCondLst>
                                    <p:cond delay="120"/>
                                  </p:stCondLst>
                                  <p:childTnLst>
                                    <p:set>
                                      <p:cBhvr>
                                        <p:cTn id="193" dur="1" fill="hold">
                                          <p:stCondLst>
                                            <p:cond delay="0"/>
                                          </p:stCondLst>
                                        </p:cTn>
                                        <p:tgtEl>
                                          <p:spTgt spid="146"/>
                                        </p:tgtEl>
                                        <p:attrNameLst>
                                          <p:attrName>style.visibility</p:attrName>
                                        </p:attrNameLst>
                                      </p:cBhvr>
                                      <p:to>
                                        <p:strVal val="visible"/>
                                      </p:to>
                                    </p:set>
                                    <p:animEffect transition="in" filter="fade">
                                      <p:cBhvr>
                                        <p:cTn id="194" dur="500"/>
                                        <p:tgtEl>
                                          <p:spTgt spid="146"/>
                                        </p:tgtEl>
                                      </p:cBhvr>
                                    </p:animEffect>
                                  </p:childTnLst>
                                </p:cTn>
                              </p:par>
                              <p:par>
                                <p:cTn id="195" presetID="10" presetClass="entr" presetSubtype="0" fill="hold" nodeType="withEffect">
                                  <p:stCondLst>
                                    <p:cond delay="180"/>
                                  </p:stCondLst>
                                  <p:childTnLst>
                                    <p:set>
                                      <p:cBhvr>
                                        <p:cTn id="196" dur="1" fill="hold">
                                          <p:stCondLst>
                                            <p:cond delay="0"/>
                                          </p:stCondLst>
                                        </p:cTn>
                                        <p:tgtEl>
                                          <p:spTgt spid="147"/>
                                        </p:tgtEl>
                                        <p:attrNameLst>
                                          <p:attrName>style.visibility</p:attrName>
                                        </p:attrNameLst>
                                      </p:cBhvr>
                                      <p:to>
                                        <p:strVal val="visible"/>
                                      </p:to>
                                    </p:set>
                                    <p:animEffect transition="in" filter="fade">
                                      <p:cBhvr>
                                        <p:cTn id="197" dur="500"/>
                                        <p:tgtEl>
                                          <p:spTgt spid="147"/>
                                        </p:tgtEl>
                                      </p:cBhvr>
                                    </p:animEffect>
                                  </p:childTnLst>
                                </p:cTn>
                              </p:par>
                              <p:par>
                                <p:cTn id="198" presetID="10" presetClass="entr" presetSubtype="0" fill="hold" nodeType="withEffect">
                                  <p:stCondLst>
                                    <p:cond delay="240"/>
                                  </p:stCondLst>
                                  <p:childTnLst>
                                    <p:set>
                                      <p:cBhvr>
                                        <p:cTn id="199" dur="1" fill="hold">
                                          <p:stCondLst>
                                            <p:cond delay="0"/>
                                          </p:stCondLst>
                                        </p:cTn>
                                        <p:tgtEl>
                                          <p:spTgt spid="148"/>
                                        </p:tgtEl>
                                        <p:attrNameLst>
                                          <p:attrName>style.visibility</p:attrName>
                                        </p:attrNameLst>
                                      </p:cBhvr>
                                      <p:to>
                                        <p:strVal val="visible"/>
                                      </p:to>
                                    </p:set>
                                    <p:animEffect transition="in" filter="fade">
                                      <p:cBhvr>
                                        <p:cTn id="200" dur="500"/>
                                        <p:tgtEl>
                                          <p:spTgt spid="148"/>
                                        </p:tgtEl>
                                      </p:cBhvr>
                                    </p:animEffect>
                                  </p:childTnLst>
                                </p:cTn>
                              </p:par>
                              <p:par>
                                <p:cTn id="201" presetID="10" presetClass="entr" presetSubtype="0" fill="hold" nodeType="withEffect">
                                  <p:stCondLst>
                                    <p:cond delay="300"/>
                                  </p:stCondLst>
                                  <p:childTnLst>
                                    <p:set>
                                      <p:cBhvr>
                                        <p:cTn id="202" dur="1" fill="hold">
                                          <p:stCondLst>
                                            <p:cond delay="0"/>
                                          </p:stCondLst>
                                        </p:cTn>
                                        <p:tgtEl>
                                          <p:spTgt spid="149"/>
                                        </p:tgtEl>
                                        <p:attrNameLst>
                                          <p:attrName>style.visibility</p:attrName>
                                        </p:attrNameLst>
                                      </p:cBhvr>
                                      <p:to>
                                        <p:strVal val="visible"/>
                                      </p:to>
                                    </p:set>
                                    <p:animEffect transition="in" filter="fade">
                                      <p:cBhvr>
                                        <p:cTn id="203" dur="500"/>
                                        <p:tgtEl>
                                          <p:spTgt spid="149"/>
                                        </p:tgtEl>
                                      </p:cBhvr>
                                    </p:animEffect>
                                  </p:childTnLst>
                                </p:cTn>
                              </p:par>
                              <p:par>
                                <p:cTn id="204" presetID="10" presetClass="entr" presetSubtype="0" fill="hold" nodeType="withEffect">
                                  <p:stCondLst>
                                    <p:cond delay="360"/>
                                  </p:stCondLst>
                                  <p:childTnLst>
                                    <p:set>
                                      <p:cBhvr>
                                        <p:cTn id="205" dur="1" fill="hold">
                                          <p:stCondLst>
                                            <p:cond delay="0"/>
                                          </p:stCondLst>
                                        </p:cTn>
                                        <p:tgtEl>
                                          <p:spTgt spid="150"/>
                                        </p:tgtEl>
                                        <p:attrNameLst>
                                          <p:attrName>style.visibility</p:attrName>
                                        </p:attrNameLst>
                                      </p:cBhvr>
                                      <p:to>
                                        <p:strVal val="visible"/>
                                      </p:to>
                                    </p:set>
                                    <p:animEffect transition="in" filter="fade">
                                      <p:cBhvr>
                                        <p:cTn id="206" dur="500"/>
                                        <p:tgtEl>
                                          <p:spTgt spid="150"/>
                                        </p:tgtEl>
                                      </p:cBhvr>
                                    </p:animEffect>
                                  </p:childTnLst>
                                </p:cTn>
                              </p:par>
                              <p:par>
                                <p:cTn id="207" presetID="10" presetClass="entr" presetSubtype="0" fill="hold" nodeType="withEffect">
                                  <p:stCondLst>
                                    <p:cond delay="420"/>
                                  </p:stCondLst>
                                  <p:childTnLst>
                                    <p:set>
                                      <p:cBhvr>
                                        <p:cTn id="208" dur="1" fill="hold">
                                          <p:stCondLst>
                                            <p:cond delay="0"/>
                                          </p:stCondLst>
                                        </p:cTn>
                                        <p:tgtEl>
                                          <p:spTgt spid="151"/>
                                        </p:tgtEl>
                                        <p:attrNameLst>
                                          <p:attrName>style.visibility</p:attrName>
                                        </p:attrNameLst>
                                      </p:cBhvr>
                                      <p:to>
                                        <p:strVal val="visible"/>
                                      </p:to>
                                    </p:set>
                                    <p:animEffect transition="in" filter="fade">
                                      <p:cBhvr>
                                        <p:cTn id="209" dur="500"/>
                                        <p:tgtEl>
                                          <p:spTgt spid="151"/>
                                        </p:tgtEl>
                                      </p:cBhvr>
                                    </p:animEffect>
                                  </p:childTnLst>
                                </p:cTn>
                              </p:par>
                              <p:par>
                                <p:cTn id="210" presetID="10" presetClass="entr" presetSubtype="0" fill="hold" nodeType="withEffect">
                                  <p:stCondLst>
                                    <p:cond delay="480"/>
                                  </p:stCondLst>
                                  <p:childTnLst>
                                    <p:set>
                                      <p:cBhvr>
                                        <p:cTn id="211" dur="1" fill="hold">
                                          <p:stCondLst>
                                            <p:cond delay="0"/>
                                          </p:stCondLst>
                                        </p:cTn>
                                        <p:tgtEl>
                                          <p:spTgt spid="152"/>
                                        </p:tgtEl>
                                        <p:attrNameLst>
                                          <p:attrName>style.visibility</p:attrName>
                                        </p:attrNameLst>
                                      </p:cBhvr>
                                      <p:to>
                                        <p:strVal val="visible"/>
                                      </p:to>
                                    </p:set>
                                    <p:animEffect transition="in" filter="fade">
                                      <p:cBhvr>
                                        <p:cTn id="212" dur="500"/>
                                        <p:tgtEl>
                                          <p:spTgt spid="152"/>
                                        </p:tgtEl>
                                      </p:cBhvr>
                                    </p:animEffect>
                                  </p:childTnLst>
                                </p:cTn>
                              </p:par>
                              <p:par>
                                <p:cTn id="213" presetID="10" presetClass="entr" presetSubtype="0" fill="hold" nodeType="withEffect">
                                  <p:stCondLst>
                                    <p:cond delay="540"/>
                                  </p:stCondLst>
                                  <p:childTnLst>
                                    <p:set>
                                      <p:cBhvr>
                                        <p:cTn id="214" dur="1" fill="hold">
                                          <p:stCondLst>
                                            <p:cond delay="0"/>
                                          </p:stCondLst>
                                        </p:cTn>
                                        <p:tgtEl>
                                          <p:spTgt spid="153"/>
                                        </p:tgtEl>
                                        <p:attrNameLst>
                                          <p:attrName>style.visibility</p:attrName>
                                        </p:attrNameLst>
                                      </p:cBhvr>
                                      <p:to>
                                        <p:strVal val="visible"/>
                                      </p:to>
                                    </p:set>
                                    <p:animEffect transition="in" filter="fade">
                                      <p:cBhvr>
                                        <p:cTn id="215" dur="500"/>
                                        <p:tgtEl>
                                          <p:spTgt spid="153"/>
                                        </p:tgtEl>
                                      </p:cBhvr>
                                    </p:animEffect>
                                  </p:childTnLst>
                                </p:cTn>
                              </p:par>
                              <p:par>
                                <p:cTn id="216" presetID="10" presetClass="entr" presetSubtype="0" fill="hold" nodeType="withEffect">
                                  <p:stCondLst>
                                    <p:cond delay="600"/>
                                  </p:stCondLst>
                                  <p:childTnLst>
                                    <p:set>
                                      <p:cBhvr>
                                        <p:cTn id="217" dur="1" fill="hold">
                                          <p:stCondLst>
                                            <p:cond delay="0"/>
                                          </p:stCondLst>
                                        </p:cTn>
                                        <p:tgtEl>
                                          <p:spTgt spid="154"/>
                                        </p:tgtEl>
                                        <p:attrNameLst>
                                          <p:attrName>style.visibility</p:attrName>
                                        </p:attrNameLst>
                                      </p:cBhvr>
                                      <p:to>
                                        <p:strVal val="visible"/>
                                      </p:to>
                                    </p:set>
                                    <p:animEffect transition="in" filter="fade">
                                      <p:cBhvr>
                                        <p:cTn id="218" dur="500"/>
                                        <p:tgtEl>
                                          <p:spTgt spid="154"/>
                                        </p:tgtEl>
                                      </p:cBhvr>
                                    </p:animEffect>
                                  </p:childTnLst>
                                </p:cTn>
                              </p:par>
                              <p:par>
                                <p:cTn id="219" presetID="10" presetClass="entr" presetSubtype="0" fill="hold" nodeType="withEffect">
                                  <p:stCondLst>
                                    <p:cond delay="660"/>
                                  </p:stCondLst>
                                  <p:childTnLst>
                                    <p:set>
                                      <p:cBhvr>
                                        <p:cTn id="220" dur="1" fill="hold">
                                          <p:stCondLst>
                                            <p:cond delay="0"/>
                                          </p:stCondLst>
                                        </p:cTn>
                                        <p:tgtEl>
                                          <p:spTgt spid="155"/>
                                        </p:tgtEl>
                                        <p:attrNameLst>
                                          <p:attrName>style.visibility</p:attrName>
                                        </p:attrNameLst>
                                      </p:cBhvr>
                                      <p:to>
                                        <p:strVal val="visible"/>
                                      </p:to>
                                    </p:set>
                                    <p:animEffect transition="in" filter="fade">
                                      <p:cBhvr>
                                        <p:cTn id="221" dur="500"/>
                                        <p:tgtEl>
                                          <p:spTgt spid="155"/>
                                        </p:tgtEl>
                                      </p:cBhvr>
                                    </p:animEffect>
                                  </p:childTnLst>
                                </p:cTn>
                              </p:par>
                              <p:par>
                                <p:cTn id="222" presetID="10" presetClass="entr" presetSubtype="0" fill="hold" grpId="0" nodeType="withEffect">
                                  <p:stCondLst>
                                    <p:cond delay="720"/>
                                  </p:stCondLst>
                                  <p:childTnLst>
                                    <p:set>
                                      <p:cBhvr>
                                        <p:cTn id="223" dur="1" fill="hold">
                                          <p:stCondLst>
                                            <p:cond delay="0"/>
                                          </p:stCondLst>
                                        </p:cTn>
                                        <p:tgtEl>
                                          <p:spTgt spid="157"/>
                                        </p:tgtEl>
                                        <p:attrNameLst>
                                          <p:attrName>style.visibility</p:attrName>
                                        </p:attrNameLst>
                                      </p:cBhvr>
                                      <p:to>
                                        <p:strVal val="visible"/>
                                      </p:to>
                                    </p:set>
                                    <p:animEffect transition="in" filter="fade">
                                      <p:cBhvr>
                                        <p:cTn id="224" dur="500"/>
                                        <p:tgtEl>
                                          <p:spTgt spid="157"/>
                                        </p:tgtEl>
                                      </p:cBhvr>
                                    </p:animEffect>
                                  </p:childTnLst>
                                </p:cTn>
                              </p:par>
                              <p:par>
                                <p:cTn id="225" presetID="10" presetClass="entr" presetSubtype="0" fill="hold" nodeType="withEffect">
                                  <p:stCondLst>
                                    <p:cond delay="780"/>
                                  </p:stCondLst>
                                  <p:childTnLst>
                                    <p:set>
                                      <p:cBhvr>
                                        <p:cTn id="226" dur="1" fill="hold">
                                          <p:stCondLst>
                                            <p:cond delay="0"/>
                                          </p:stCondLst>
                                        </p:cTn>
                                        <p:tgtEl>
                                          <p:spTgt spid="158"/>
                                        </p:tgtEl>
                                        <p:attrNameLst>
                                          <p:attrName>style.visibility</p:attrName>
                                        </p:attrNameLst>
                                      </p:cBhvr>
                                      <p:to>
                                        <p:strVal val="visible"/>
                                      </p:to>
                                    </p:set>
                                    <p:animEffect transition="in" filter="fade">
                                      <p:cBhvr>
                                        <p:cTn id="227" dur="500"/>
                                        <p:tgtEl>
                                          <p:spTgt spid="158"/>
                                        </p:tgtEl>
                                      </p:cBhvr>
                                    </p:animEffect>
                                  </p:childTnLst>
                                </p:cTn>
                              </p:par>
                              <p:par>
                                <p:cTn id="228" presetID="10" presetClass="entr" presetSubtype="0" fill="hold" nodeType="withEffect">
                                  <p:stCondLst>
                                    <p:cond delay="840"/>
                                  </p:stCondLst>
                                  <p:childTnLst>
                                    <p:set>
                                      <p:cBhvr>
                                        <p:cTn id="229" dur="1" fill="hold">
                                          <p:stCondLst>
                                            <p:cond delay="0"/>
                                          </p:stCondLst>
                                        </p:cTn>
                                        <p:tgtEl>
                                          <p:spTgt spid="159"/>
                                        </p:tgtEl>
                                        <p:attrNameLst>
                                          <p:attrName>style.visibility</p:attrName>
                                        </p:attrNameLst>
                                      </p:cBhvr>
                                      <p:to>
                                        <p:strVal val="visible"/>
                                      </p:to>
                                    </p:set>
                                    <p:animEffect transition="in" filter="fade">
                                      <p:cBhvr>
                                        <p:cTn id="230" dur="500"/>
                                        <p:tgtEl>
                                          <p:spTgt spid="159"/>
                                        </p:tgtEl>
                                      </p:cBhvr>
                                    </p:animEffect>
                                  </p:childTnLst>
                                </p:cTn>
                              </p:par>
                              <p:par>
                                <p:cTn id="231" presetID="10" presetClass="entr" presetSubtype="0" fill="hold" nodeType="withEffect">
                                  <p:stCondLst>
                                    <p:cond delay="900"/>
                                  </p:stCondLst>
                                  <p:childTnLst>
                                    <p:set>
                                      <p:cBhvr>
                                        <p:cTn id="232" dur="1" fill="hold">
                                          <p:stCondLst>
                                            <p:cond delay="0"/>
                                          </p:stCondLst>
                                        </p:cTn>
                                        <p:tgtEl>
                                          <p:spTgt spid="160"/>
                                        </p:tgtEl>
                                        <p:attrNameLst>
                                          <p:attrName>style.visibility</p:attrName>
                                        </p:attrNameLst>
                                      </p:cBhvr>
                                      <p:to>
                                        <p:strVal val="visible"/>
                                      </p:to>
                                    </p:set>
                                    <p:animEffect transition="in" filter="fade">
                                      <p:cBhvr>
                                        <p:cTn id="233" dur="500"/>
                                        <p:tgtEl>
                                          <p:spTgt spid="160"/>
                                        </p:tgtEl>
                                      </p:cBhvr>
                                    </p:animEffect>
                                  </p:childTnLst>
                                </p:cTn>
                              </p:par>
                              <p:par>
                                <p:cTn id="234" presetID="10" presetClass="entr" presetSubtype="0" fill="hold" nodeType="withEffect">
                                  <p:stCondLst>
                                    <p:cond delay="960"/>
                                  </p:stCondLst>
                                  <p:childTnLst>
                                    <p:set>
                                      <p:cBhvr>
                                        <p:cTn id="235" dur="1" fill="hold">
                                          <p:stCondLst>
                                            <p:cond delay="0"/>
                                          </p:stCondLst>
                                        </p:cTn>
                                        <p:tgtEl>
                                          <p:spTgt spid="161"/>
                                        </p:tgtEl>
                                        <p:attrNameLst>
                                          <p:attrName>style.visibility</p:attrName>
                                        </p:attrNameLst>
                                      </p:cBhvr>
                                      <p:to>
                                        <p:strVal val="visible"/>
                                      </p:to>
                                    </p:set>
                                    <p:animEffect transition="in" filter="fade">
                                      <p:cBhvr>
                                        <p:cTn id="236" dur="500"/>
                                        <p:tgtEl>
                                          <p:spTgt spid="161"/>
                                        </p:tgtEl>
                                      </p:cBhvr>
                                    </p:animEffect>
                                  </p:childTnLst>
                                </p:cTn>
                              </p:par>
                              <p:par>
                                <p:cTn id="237" presetID="10" presetClass="entr" presetSubtype="0" fill="hold" nodeType="withEffect">
                                  <p:stCondLst>
                                    <p:cond delay="1020"/>
                                  </p:stCondLst>
                                  <p:childTnLst>
                                    <p:set>
                                      <p:cBhvr>
                                        <p:cTn id="238" dur="1" fill="hold">
                                          <p:stCondLst>
                                            <p:cond delay="0"/>
                                          </p:stCondLst>
                                        </p:cTn>
                                        <p:tgtEl>
                                          <p:spTgt spid="162"/>
                                        </p:tgtEl>
                                        <p:attrNameLst>
                                          <p:attrName>style.visibility</p:attrName>
                                        </p:attrNameLst>
                                      </p:cBhvr>
                                      <p:to>
                                        <p:strVal val="visible"/>
                                      </p:to>
                                    </p:set>
                                    <p:animEffect transition="in" filter="fade">
                                      <p:cBhvr>
                                        <p:cTn id="239" dur="500"/>
                                        <p:tgtEl>
                                          <p:spTgt spid="162"/>
                                        </p:tgtEl>
                                      </p:cBhvr>
                                    </p:animEffect>
                                  </p:childTnLst>
                                </p:cTn>
                              </p:par>
                              <p:par>
                                <p:cTn id="240" presetID="10" presetClass="entr" presetSubtype="0" fill="hold" nodeType="withEffect">
                                  <p:stCondLst>
                                    <p:cond delay="1080"/>
                                  </p:stCondLst>
                                  <p:childTnLst>
                                    <p:set>
                                      <p:cBhvr>
                                        <p:cTn id="241" dur="1" fill="hold">
                                          <p:stCondLst>
                                            <p:cond delay="0"/>
                                          </p:stCondLst>
                                        </p:cTn>
                                        <p:tgtEl>
                                          <p:spTgt spid="163"/>
                                        </p:tgtEl>
                                        <p:attrNameLst>
                                          <p:attrName>style.visibility</p:attrName>
                                        </p:attrNameLst>
                                      </p:cBhvr>
                                      <p:to>
                                        <p:strVal val="visible"/>
                                      </p:to>
                                    </p:set>
                                    <p:animEffect transition="in" filter="fade">
                                      <p:cBhvr>
                                        <p:cTn id="242" dur="500"/>
                                        <p:tgtEl>
                                          <p:spTgt spid="163"/>
                                        </p:tgtEl>
                                      </p:cBhvr>
                                    </p:animEffect>
                                  </p:childTnLst>
                                </p:cTn>
                              </p:par>
                              <p:par>
                                <p:cTn id="243" presetID="10" presetClass="entr" presetSubtype="0" fill="hold" nodeType="withEffect">
                                  <p:stCondLst>
                                    <p:cond delay="1140"/>
                                  </p:stCondLst>
                                  <p:childTnLst>
                                    <p:set>
                                      <p:cBhvr>
                                        <p:cTn id="244" dur="1" fill="hold">
                                          <p:stCondLst>
                                            <p:cond delay="0"/>
                                          </p:stCondLst>
                                        </p:cTn>
                                        <p:tgtEl>
                                          <p:spTgt spid="164"/>
                                        </p:tgtEl>
                                        <p:attrNameLst>
                                          <p:attrName>style.visibility</p:attrName>
                                        </p:attrNameLst>
                                      </p:cBhvr>
                                      <p:to>
                                        <p:strVal val="visible"/>
                                      </p:to>
                                    </p:set>
                                    <p:animEffect transition="in" filter="fade">
                                      <p:cBhvr>
                                        <p:cTn id="245" dur="500"/>
                                        <p:tgtEl>
                                          <p:spTgt spid="164"/>
                                        </p:tgtEl>
                                      </p:cBhvr>
                                    </p:animEffect>
                                  </p:childTnLst>
                                </p:cTn>
                              </p:par>
                              <p:par>
                                <p:cTn id="246" presetID="10" presetClass="entr" presetSubtype="0" fill="hold" nodeType="withEffect">
                                  <p:stCondLst>
                                    <p:cond delay="1200"/>
                                  </p:stCondLst>
                                  <p:childTnLst>
                                    <p:set>
                                      <p:cBhvr>
                                        <p:cTn id="247" dur="1" fill="hold">
                                          <p:stCondLst>
                                            <p:cond delay="0"/>
                                          </p:stCondLst>
                                        </p:cTn>
                                        <p:tgtEl>
                                          <p:spTgt spid="165"/>
                                        </p:tgtEl>
                                        <p:attrNameLst>
                                          <p:attrName>style.visibility</p:attrName>
                                        </p:attrNameLst>
                                      </p:cBhvr>
                                      <p:to>
                                        <p:strVal val="visible"/>
                                      </p:to>
                                    </p:set>
                                    <p:animEffect transition="in" filter="fade">
                                      <p:cBhvr>
                                        <p:cTn id="248" dur="500"/>
                                        <p:tgtEl>
                                          <p:spTgt spid="165"/>
                                        </p:tgtEl>
                                      </p:cBhvr>
                                    </p:animEffect>
                                  </p:childTnLst>
                                </p:cTn>
                              </p:par>
                              <p:par>
                                <p:cTn id="249" presetID="10" presetClass="entr" presetSubtype="0" fill="hold" nodeType="withEffect">
                                  <p:stCondLst>
                                    <p:cond delay="1260"/>
                                  </p:stCondLst>
                                  <p:childTnLst>
                                    <p:set>
                                      <p:cBhvr>
                                        <p:cTn id="250" dur="1" fill="hold">
                                          <p:stCondLst>
                                            <p:cond delay="0"/>
                                          </p:stCondLst>
                                        </p:cTn>
                                        <p:tgtEl>
                                          <p:spTgt spid="166"/>
                                        </p:tgtEl>
                                        <p:attrNameLst>
                                          <p:attrName>style.visibility</p:attrName>
                                        </p:attrNameLst>
                                      </p:cBhvr>
                                      <p:to>
                                        <p:strVal val="visible"/>
                                      </p:to>
                                    </p:set>
                                    <p:animEffect transition="in" filter="fade">
                                      <p:cBhvr>
                                        <p:cTn id="251" dur="500"/>
                                        <p:tgtEl>
                                          <p:spTgt spid="166"/>
                                        </p:tgtEl>
                                      </p:cBhvr>
                                    </p:animEffect>
                                  </p:childTnLst>
                                </p:cTn>
                              </p:par>
                              <p:par>
                                <p:cTn id="252" presetID="22" presetClass="entr" presetSubtype="8" fill="hold" grpId="0" nodeType="withEffect">
                                  <p:stCondLst>
                                    <p:cond delay="1460"/>
                                  </p:stCondLst>
                                  <p:childTnLst>
                                    <p:set>
                                      <p:cBhvr>
                                        <p:cTn id="253" dur="1" fill="hold">
                                          <p:stCondLst>
                                            <p:cond delay="0"/>
                                          </p:stCondLst>
                                        </p:cTn>
                                        <p:tgtEl>
                                          <p:spTgt spid="156"/>
                                        </p:tgtEl>
                                        <p:attrNameLst>
                                          <p:attrName>style.visibility</p:attrName>
                                        </p:attrNameLst>
                                      </p:cBhvr>
                                      <p:to>
                                        <p:strVal val="visible"/>
                                      </p:to>
                                    </p:set>
                                    <p:animEffect transition="in" filter="wipe(left)">
                                      <p:cBhvr>
                                        <p:cTn id="254" dur="700"/>
                                        <p:tgtEl>
                                          <p:spTgt spid="156"/>
                                        </p:tgtEl>
                                      </p:cBhvr>
                                    </p:animEffect>
                                  </p:childTnLst>
                                </p:cTn>
                              </p:par>
                              <p:par>
                                <p:cTn id="255" presetID="22" presetClass="entr" presetSubtype="8" fill="hold" grpId="0" nodeType="withEffect">
                                  <p:stCondLst>
                                    <p:cond delay="1860"/>
                                  </p:stCondLst>
                                  <p:childTnLst>
                                    <p:set>
                                      <p:cBhvr>
                                        <p:cTn id="256" dur="1" fill="hold">
                                          <p:stCondLst>
                                            <p:cond delay="0"/>
                                          </p:stCondLst>
                                        </p:cTn>
                                        <p:tgtEl>
                                          <p:spTgt spid="167"/>
                                        </p:tgtEl>
                                        <p:attrNameLst>
                                          <p:attrName>style.visibility</p:attrName>
                                        </p:attrNameLst>
                                      </p:cBhvr>
                                      <p:to>
                                        <p:strVal val="visible"/>
                                      </p:to>
                                    </p:set>
                                    <p:animEffect transition="in" filter="wipe(left)">
                                      <p:cBhvr>
                                        <p:cTn id="257" dur="700"/>
                                        <p:tgtEl>
                                          <p:spTgt spid="167"/>
                                        </p:tgtEl>
                                      </p:cBhvr>
                                    </p:animEffect>
                                  </p:childTnLst>
                                </p:cTn>
                              </p:par>
                              <p:par>
                                <p:cTn id="258" presetID="53" presetClass="entr" presetSubtype="16" fill="hold" grpId="0" nodeType="withEffect">
                                  <p:stCondLst>
                                    <p:cond delay="2260"/>
                                  </p:stCondLst>
                                  <p:childTnLst>
                                    <p:set>
                                      <p:cBhvr>
                                        <p:cTn id="259" dur="1" fill="hold">
                                          <p:stCondLst>
                                            <p:cond delay="0"/>
                                          </p:stCondLst>
                                        </p:cTn>
                                        <p:tgtEl>
                                          <p:spTgt spid="168"/>
                                        </p:tgtEl>
                                        <p:attrNameLst>
                                          <p:attrName>style.visibility</p:attrName>
                                        </p:attrNameLst>
                                      </p:cBhvr>
                                      <p:to>
                                        <p:strVal val="visible"/>
                                      </p:to>
                                    </p:set>
                                    <p:anim calcmode="lin" valueType="num">
                                      <p:cBhvr additive="base">
                                        <p:cTn id="260" dur="500" decel="100000" fill="hold"/>
                                        <p:tgtEl>
                                          <p:spTgt spid="168"/>
                                        </p:tgtEl>
                                        <p:attrNameLst>
                                          <p:attrName>ppt_w</p:attrName>
                                        </p:attrNameLst>
                                      </p:cBhvr>
                                      <p:tavLst>
                                        <p:tav tm="0">
                                          <p:val>
                                            <p:strVal val="#ppt_w*0.3"/>
                                          </p:val>
                                        </p:tav>
                                        <p:tav tm="100000">
                                          <p:val>
                                            <p:strVal val="#ppt_w*1.08"/>
                                          </p:val>
                                        </p:tav>
                                      </p:tavLst>
                                    </p:anim>
                                    <p:anim calcmode="lin" valueType="num">
                                      <p:cBhvr additive="base">
                                        <p:cTn id="261" dur="500" decel="100000" fill="hold"/>
                                        <p:tgtEl>
                                          <p:spTgt spid="168"/>
                                        </p:tgtEl>
                                        <p:attrNameLst>
                                          <p:attrName>ppt_h</p:attrName>
                                        </p:attrNameLst>
                                      </p:cBhvr>
                                      <p:tavLst>
                                        <p:tav tm="0">
                                          <p:val>
                                            <p:strVal val="#ppt_h*0.3"/>
                                          </p:val>
                                        </p:tav>
                                        <p:tav tm="100000">
                                          <p:val>
                                            <p:strVal val="#ppt_h*1.08"/>
                                          </p:val>
                                        </p:tav>
                                      </p:tavLst>
                                    </p:anim>
                                    <p:animEffect transition="in" filter="fade">
                                      <p:cBhvr>
                                        <p:cTn id="262" dur="250"/>
                                        <p:tgtEl>
                                          <p:spTgt spid="168"/>
                                        </p:tgtEl>
                                      </p:cBhvr>
                                    </p:animEffect>
                                    <p:anim calcmode="lin" valueType="num">
                                      <p:cBhvr additive="base">
                                        <p:cTn id="263" dur="160" fill="hold">
                                          <p:stCondLst>
                                            <p:cond delay="500"/>
                                          </p:stCondLst>
                                        </p:cTn>
                                        <p:tgtEl>
                                          <p:spTgt spid="168"/>
                                        </p:tgtEl>
                                        <p:attrNameLst>
                                          <p:attrName>ppt_w</p:attrName>
                                        </p:attrNameLst>
                                      </p:cBhvr>
                                      <p:tavLst>
                                        <p:tav tm="0">
                                          <p:val>
                                            <p:strVal val="#ppt_w*1.08"/>
                                          </p:val>
                                        </p:tav>
                                        <p:tav tm="100000">
                                          <p:val>
                                            <p:strVal val="#ppt_w"/>
                                          </p:val>
                                        </p:tav>
                                      </p:tavLst>
                                    </p:anim>
                                    <p:anim calcmode="lin" valueType="num">
                                      <p:cBhvr additive="base">
                                        <p:cTn id="264" dur="160" fill="hold">
                                          <p:stCondLst>
                                            <p:cond delay="500"/>
                                          </p:stCondLst>
                                        </p:cTn>
                                        <p:tgtEl>
                                          <p:spTgt spid="168"/>
                                        </p:tgtEl>
                                        <p:attrNameLst>
                                          <p:attrName>ppt_h</p:attrName>
                                        </p:attrNameLst>
                                      </p:cBhvr>
                                      <p:tavLst>
                                        <p:tav tm="0">
                                          <p:val>
                                            <p:strVal val="#ppt_h*1.08"/>
                                          </p:val>
                                        </p:tav>
                                        <p:tav tm="100000">
                                          <p:val>
                                            <p:strVal val="#ppt_h"/>
                                          </p:val>
                                        </p:tav>
                                      </p:tavLst>
                                    </p:anim>
                                  </p:childTnLst>
                                </p:cTn>
                              </p:par>
                              <p:par>
                                <p:cTn id="265" presetID="10" presetClass="entr" presetSubtype="0" fill="hold" grpId="0" nodeType="withEffect">
                                  <p:stCondLst>
                                    <p:cond delay="2510"/>
                                  </p:stCondLst>
                                  <p:childTnLst>
                                    <p:set>
                                      <p:cBhvr>
                                        <p:cTn id="266" dur="1" fill="hold">
                                          <p:stCondLst>
                                            <p:cond delay="0"/>
                                          </p:stCondLst>
                                        </p:cTn>
                                        <p:tgtEl>
                                          <p:spTgt spid="169"/>
                                        </p:tgtEl>
                                        <p:attrNameLst>
                                          <p:attrName>style.visibility</p:attrName>
                                        </p:attrNameLst>
                                      </p:cBhvr>
                                      <p:to>
                                        <p:strVal val="visible"/>
                                      </p:to>
                                    </p:set>
                                    <p:animEffect transition="in" filter="fade">
                                      <p:cBhvr>
                                        <p:cTn id="267"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42" grpId="0" animBg="1"/>
      <p:bldP spid="143" grpId="0" animBg="1"/>
      <p:bldP spid="144" grpId="0" animBg="1"/>
      <p:bldP spid="145" grpId="0" animBg="1"/>
      <p:bldP spid="146" grpId="0" animBg="1"/>
      <p:bldP spid="156" grpId="0" animBg="1"/>
      <p:bldP spid="157" grpId="0" animBg="1"/>
      <p:bldP spid="167" grpId="0" animBg="1"/>
      <p:bldP spid="168" grpId="0" animBg="1"/>
      <p:bldP spid="169"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CHAPTER 04</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TESTABLE CODE</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142</a:t>
            </a:r>
            <a:endParaRPr lang="en-US" sz="850" dirty="0"/>
          </a:p>
        </p:txBody>
      </p:sp>
      <p:sp>
        <p:nvSpPr>
          <p:cNvPr id="101" name="!!bignum"/>
          <p:cNvSpPr txBox="1"/>
          <p:nvPr/>
        </p:nvSpPr>
        <p:spPr>
          <a:xfrm>
            <a:off x="497434" y="960120"/>
            <a:ext cx="2926080" cy="1463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A78BFA"/>
                </a:solidFill>
                <a:latin typeface="Segoe UI"/>
                <a:ea typeface="Segoe UI"/>
                <a:cs typeface="Segoe UI"/>
              </a:rPr>
              <a:t>04</a:t>
            </a:r>
            <a:endParaRPr lang="en-US" sz="9600" dirty="0"/>
          </a:p>
        </p:txBody>
      </p:sp>
      <p:sp>
        <p:nvSpPr>
          <p:cNvPr id="102" name="s102"/>
          <p:cNvSpPr txBox="1"/>
          <p:nvPr/>
        </p:nvSpPr>
        <p:spPr>
          <a:xfrm>
            <a:off x="543154" y="2377440"/>
            <a:ext cx="10515600" cy="8229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Hidden Inputs</a:t>
            </a:r>
            <a:endParaRPr lang="en-US" sz="4000" dirty="0"/>
          </a:p>
        </p:txBody>
      </p:sp>
      <p:sp>
        <p:nvSpPr>
          <p:cNvPr id="103" name="s103"/>
          <p:cNvSpPr txBox="1"/>
          <p:nvPr/>
        </p:nvSpPr>
        <p:spPr>
          <a:xfrm>
            <a:off x="543154" y="3154680"/>
            <a:ext cx="1051560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0" dirty="0">
                <a:solidFill>
                  <a:srgbClr val="CBD5E1"/>
                </a:solidFill>
                <a:latin typeface="Segoe UI"/>
                <a:ea typeface="Segoe UI"/>
                <a:cs typeface="Segoe UI"/>
              </a:rPr>
              <a:t>Tests that pass today and fail tomorrow. The code hides something.</a:t>
            </a:r>
            <a:endParaRPr lang="en-US" sz="1600" dirty="0"/>
          </a:p>
        </p:txBody>
      </p:sp>
      <p:sp>
        <p:nvSpPr>
          <p:cNvPr id="104" name="s104"/>
          <p:cNvSpPr/>
          <p:nvPr/>
        </p:nvSpPr>
        <p:spPr>
          <a:xfrm>
            <a:off x="543154" y="3840480"/>
            <a:ext cx="3513125" cy="960120"/>
          </a:xfrm>
          <a:prstGeom prst="roundRect">
            <a:avLst>
              <a:gd name="adj" fmla="val 10000"/>
            </a:avLst>
          </a:prstGeom>
          <a:solidFill>
            <a:srgbClr val="111B2E"/>
          </a:solidFill>
          <a:ln w="12700">
            <a:solidFill>
              <a:srgbClr val="A78BFA"/>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A78BFA"/>
                </a:solidFill>
                <a:latin typeface="Segoe UI"/>
                <a:ea typeface="Segoe UI"/>
                <a:cs typeface="Segoe UI"/>
              </a:rPr>
              <a:t>Time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DateTime.Now → TimeProvider.</a:t>
            </a:r>
            <a:endParaRPr lang="en-US" sz="1200" dirty="0"/>
          </a:p>
        </p:txBody>
      </p:sp>
      <p:sp>
        <p:nvSpPr>
          <p:cNvPr id="105" name="s105"/>
          <p:cNvSpPr/>
          <p:nvPr/>
        </p:nvSpPr>
        <p:spPr>
          <a:xfrm>
            <a:off x="4330598" y="3840480"/>
            <a:ext cx="3513125" cy="960120"/>
          </a:xfrm>
          <a:prstGeom prst="roundRect">
            <a:avLst>
              <a:gd name="adj" fmla="val 10000"/>
            </a:avLst>
          </a:prstGeom>
          <a:solidFill>
            <a:srgbClr val="111B2E"/>
          </a:solidFill>
          <a:ln w="12700">
            <a:solidFill>
              <a:srgbClr val="A78BFA"/>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A78BFA"/>
                </a:solidFill>
                <a:latin typeface="Segoe UI"/>
                <a:ea typeface="Segoe UI"/>
                <a:cs typeface="Segoe UI"/>
              </a:rPr>
              <a:t>Shared state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Static counters, files, async.</a:t>
            </a:r>
            <a:endParaRPr lang="en-US" sz="1200" dirty="0"/>
          </a:p>
        </p:txBody>
      </p:sp>
      <p:sp>
        <p:nvSpPr>
          <p:cNvPr id="106" name="s106"/>
          <p:cNvSpPr/>
          <p:nvPr/>
        </p:nvSpPr>
        <p:spPr>
          <a:xfrm>
            <a:off x="8118043" y="3840480"/>
            <a:ext cx="3513125" cy="960120"/>
          </a:xfrm>
          <a:prstGeom prst="roundRect">
            <a:avLst>
              <a:gd name="adj" fmla="val 10000"/>
            </a:avLst>
          </a:prstGeom>
          <a:solidFill>
            <a:srgbClr val="111B2E"/>
          </a:solidFill>
          <a:ln w="12700">
            <a:solidFill>
              <a:srgbClr val="A78BFA"/>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A78BFA"/>
                </a:solidFill>
                <a:latin typeface="Segoe UI"/>
                <a:ea typeface="Segoe UI"/>
                <a:cs typeface="Segoe UI"/>
              </a:rPr>
              <a:t>The rule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Pass alone AND together.</a:t>
            </a:r>
            <a:endParaRPr lang="en-US" sz="1200" dirty="0"/>
          </a:p>
        </p:txBody>
      </p:sp>
      <p:sp>
        <p:nvSpPr>
          <p:cNvPr id="107" name="!!chap0"/>
          <p:cNvSpPr/>
          <p:nvPr/>
        </p:nvSpPr>
        <p:spPr>
          <a:xfrm>
            <a:off x="54315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87171"/>
                </a:solidFill>
                <a:latin typeface="Segoe UI"/>
                <a:ea typeface="Segoe UI"/>
                <a:cs typeface="Segoe UI"/>
              </a:rPr>
              <a:t>01  </a:t>
            </a:r>
            <a:r>
              <a:rPr lang="en-US" sz="1100" b="0" dirty="0">
                <a:solidFill>
                  <a:srgbClr val="94A3B8"/>
                </a:solidFill>
                <a:latin typeface="Segoe UI"/>
                <a:ea typeface="Segoe UI"/>
                <a:cs typeface="Segoe UI"/>
              </a:rPr>
              <a:t>Why test</a:t>
            </a:r>
            <a:endParaRPr lang="en-US" sz="1100" dirty="0"/>
          </a:p>
        </p:txBody>
      </p:sp>
      <p:sp>
        <p:nvSpPr>
          <p:cNvPr id="108" name="!!chap1"/>
          <p:cNvSpPr/>
          <p:nvPr/>
        </p:nvSpPr>
        <p:spPr>
          <a:xfrm>
            <a:off x="240944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02  </a:t>
            </a:r>
            <a:r>
              <a:rPr lang="en-US" sz="1100" b="0" dirty="0">
                <a:solidFill>
                  <a:srgbClr val="94A3B8"/>
                </a:solidFill>
                <a:latin typeface="Segoe UI"/>
                <a:ea typeface="Segoe UI"/>
                <a:cs typeface="Segoe UI"/>
              </a:rPr>
              <a:t>First test</a:t>
            </a:r>
            <a:endParaRPr lang="en-US" sz="1100" dirty="0"/>
          </a:p>
        </p:txBody>
      </p:sp>
      <p:sp>
        <p:nvSpPr>
          <p:cNvPr id="109" name="!!chap2"/>
          <p:cNvSpPr/>
          <p:nvPr/>
        </p:nvSpPr>
        <p:spPr>
          <a:xfrm>
            <a:off x="427573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03  </a:t>
            </a:r>
            <a:r>
              <a:rPr lang="en-US" sz="1100" b="0" dirty="0">
                <a:solidFill>
                  <a:srgbClr val="94A3B8"/>
                </a:solidFill>
                <a:latin typeface="Segoe UI"/>
                <a:ea typeface="Segoe UI"/>
                <a:cs typeface="Segoe UI"/>
              </a:rPr>
              <a:t>Many cases</a:t>
            </a:r>
            <a:endParaRPr lang="en-US" sz="1100" dirty="0"/>
          </a:p>
        </p:txBody>
      </p:sp>
      <p:sp>
        <p:nvSpPr>
          <p:cNvPr id="110" name="!!chap3"/>
          <p:cNvSpPr/>
          <p:nvPr/>
        </p:nvSpPr>
        <p:spPr>
          <a:xfrm>
            <a:off x="6142025" y="5074920"/>
            <a:ext cx="1756562" cy="457200"/>
          </a:xfrm>
          <a:prstGeom prst="roundRect">
            <a:avLst>
              <a:gd name="adj" fmla="val 50000"/>
            </a:avLst>
          </a:prstGeom>
          <a:solidFill>
            <a:srgbClr val="A78BFA"/>
          </a:solidFill>
          <a:ln w="12700">
            <a:solidFill>
              <a:srgbClr val="A78BFA"/>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04  Hidden inputs</a:t>
            </a:r>
            <a:endParaRPr lang="en-US" sz="1100" dirty="0"/>
          </a:p>
        </p:txBody>
      </p:sp>
      <p:sp>
        <p:nvSpPr>
          <p:cNvPr id="111" name="!!chap4"/>
          <p:cNvSpPr/>
          <p:nvPr/>
        </p:nvSpPr>
        <p:spPr>
          <a:xfrm>
            <a:off x="800831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05  </a:t>
            </a:r>
            <a:r>
              <a:rPr lang="en-US" sz="1100" b="0" dirty="0">
                <a:solidFill>
                  <a:srgbClr val="94A3B8"/>
                </a:solidFill>
                <a:latin typeface="Segoe UI"/>
                <a:ea typeface="Segoe UI"/>
                <a:cs typeface="Segoe UI"/>
              </a:rPr>
              <a:t>Test doubles</a:t>
            </a:r>
            <a:endParaRPr lang="en-US" sz="1100" dirty="0"/>
          </a:p>
        </p:txBody>
      </p:sp>
      <p:sp>
        <p:nvSpPr>
          <p:cNvPr id="112" name="!!chap5"/>
          <p:cNvSpPr/>
          <p:nvPr/>
        </p:nvSpPr>
        <p:spPr>
          <a:xfrm>
            <a:off x="9874606"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06  </a:t>
            </a:r>
            <a:r>
              <a:rPr lang="en-US" sz="1100" b="0" dirty="0">
                <a:solidFill>
                  <a:srgbClr val="94A3B8"/>
                </a:solidFill>
                <a:latin typeface="Segoe UI"/>
                <a:ea typeface="Segoe UI"/>
                <a:cs typeface="Segoe UI"/>
              </a:rPr>
              <a:t>Real project</a:t>
            </a:r>
            <a:endParaRPr lang="en-US" sz="11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5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50" decel="100000" fill="hold"/>
                                        <p:tgtEl>
                                          <p:spTgt spid="101"/>
                                        </p:tgtEl>
                                        <p:attrNameLst>
                                          <p:attrName>ppt_h</p:attrName>
                                        </p:attrNameLst>
                                      </p:cBhvr>
                                      <p:tavLst>
                                        <p:tav tm="0">
                                          <p:val>
                                            <p:strVal val="#ppt_h*0.3"/>
                                          </p:val>
                                        </p:tav>
                                        <p:tav tm="100000">
                                          <p:val>
                                            <p:strVal val="#ppt_h*1.08"/>
                                          </p:val>
                                        </p:tav>
                                      </p:tavLst>
                                    </p:anim>
                                    <p:animEffect transition="in" filter="fade">
                                      <p:cBhvr>
                                        <p:cTn id="9" dur="275"/>
                                        <p:tgtEl>
                                          <p:spTgt spid="101"/>
                                        </p:tgtEl>
                                      </p:cBhvr>
                                    </p:animEffect>
                                    <p:anim calcmode="lin" valueType="num">
                                      <p:cBhvr additive="base">
                                        <p:cTn id="10" dur="160" fill="hold">
                                          <p:stCondLst>
                                            <p:cond delay="55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5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4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50"/>
                                        <p:tgtEl>
                                          <p:spTgt spid="102"/>
                                        </p:tgtEl>
                                      </p:cBhvr>
                                    </p:animEffect>
                                    <p:anim calcmode="lin" valueType="num">
                                      <p:cBhvr additive="base">
                                        <p:cTn id="15" dur="55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8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50"/>
                                        <p:tgtEl>
                                          <p:spTgt spid="103"/>
                                        </p:tgtEl>
                                      </p:cBhvr>
                                    </p:animEffect>
                                    <p:anim calcmode="lin" valueType="num">
                                      <p:cBhvr additive="base">
                                        <p:cTn id="19" dur="55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42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50"/>
                                        <p:tgtEl>
                                          <p:spTgt spid="104"/>
                                        </p:tgtEl>
                                      </p:cBhvr>
                                    </p:animEffect>
                                    <p:anim calcmode="lin" valueType="num">
                                      <p:cBhvr additive="base">
                                        <p:cTn id="23" dur="55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56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50"/>
                                        <p:tgtEl>
                                          <p:spTgt spid="105"/>
                                        </p:tgtEl>
                                      </p:cBhvr>
                                    </p:animEffect>
                                    <p:anim calcmode="lin" valueType="num">
                                      <p:cBhvr additive="base">
                                        <p:cTn id="27" dur="55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70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50"/>
                                        <p:tgtEl>
                                          <p:spTgt spid="106"/>
                                        </p:tgtEl>
                                      </p:cBhvr>
                                    </p:animEffect>
                                    <p:anim calcmode="lin" valueType="num">
                                      <p:cBhvr additive="base">
                                        <p:cTn id="31" dur="550" decel="100000" fill="hold"/>
                                        <p:tgtEl>
                                          <p:spTgt spid="106"/>
                                        </p:tgtEl>
                                        <p:attrNameLst>
                                          <p:attrName>ppt_y</p:attrName>
                                        </p:attrNameLst>
                                      </p:cBhvr>
                                      <p:tavLst>
                                        <p:tav tm="0">
                                          <p:val>
                                            <p:strVal val="#ppt_y+0.06"/>
                                          </p:val>
                                        </p:tav>
                                        <p:tav tm="100000">
                                          <p:val>
                                            <p:strVal val="#ppt_y"/>
                                          </p:val>
                                        </p:tav>
                                      </p:tavLst>
                                    </p:anim>
                                  </p:childTnLst>
                                </p:cTn>
                              </p:par>
                              <p:par>
                                <p:cTn id="32" presetID="10" presetClass="entr" presetSubtype="0" fill="hold" grpId="0" nodeType="withEffect">
                                  <p:stCondLst>
                                    <p:cond delay="85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childTnLst>
                                </p:cTn>
                              </p:par>
                              <p:par>
                                <p:cTn id="35" presetID="10" presetClass="entr" presetSubtype="0" fill="hold" grpId="0" nodeType="withEffect">
                                  <p:stCondLst>
                                    <p:cond delay="85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85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85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85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85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PROBLEM</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Green at Night, Red During the Day</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The test did not change. The code did not change. Only the clock did.</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TESTABLE CODE</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143</a:t>
            </a:r>
            <a:endParaRPr lang="en-US" sz="850" dirty="0"/>
          </a:p>
        </p:txBody>
      </p:sp>
      <p:sp>
        <p:nvSpPr>
          <p:cNvPr id="101" name="s101"/>
          <p:cNvSpPr/>
          <p:nvPr/>
        </p:nvSpPr>
        <p:spPr>
          <a:xfrm>
            <a:off x="543154" y="1783080"/>
            <a:ext cx="6035040" cy="329184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675181"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ShopHours.cs + test</a:t>
            </a:r>
            <a:endParaRPr lang="en-US" sz="950" dirty="0"/>
          </a:p>
        </p:txBody>
      </p:sp>
      <p:cxnSp>
        <p:nvCxnSpPr>
          <p:cNvPr id="106" name="ln106"/>
          <p:cNvCxnSpPr/>
          <p:nvPr/>
        </p:nvCxnSpPr>
        <p:spPr>
          <a:xfrm>
            <a:off x="543154" y="2194560"/>
            <a:ext cx="6035040" cy="0"/>
          </a:xfrm>
          <a:prstGeom prst="line">
            <a:avLst/>
          </a:prstGeom>
          <a:ln w="9525">
            <a:solidFill>
              <a:srgbClr val="1E3A5F"/>
            </a:solidFill>
          </a:ln>
        </p:spPr>
      </p:cxnSp>
      <p:sp>
        <p:nvSpPr>
          <p:cNvPr id="107" name="s107"/>
          <p:cNvSpPr/>
          <p:nvPr/>
        </p:nvSpPr>
        <p:spPr>
          <a:xfrm>
            <a:off x="543154" y="2313432"/>
            <a:ext cx="60350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class</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ShopHours</a:t>
            </a:r>
            <a:endParaRPr lang="en-US" sz="1150" dirty="0"/>
          </a:p>
        </p:txBody>
      </p:sp>
      <p:sp>
        <p:nvSpPr>
          <p:cNvPr id="108" name="s108"/>
          <p:cNvSpPr/>
          <p:nvPr/>
        </p:nvSpPr>
        <p:spPr>
          <a:xfrm>
            <a:off x="543154" y="2488692"/>
            <a:ext cx="60350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09" name="s109"/>
          <p:cNvSpPr/>
          <p:nvPr/>
        </p:nvSpPr>
        <p:spPr>
          <a:xfrm>
            <a:off x="543154" y="2663952"/>
            <a:ext cx="60350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bool</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IsOpen</a:t>
            </a:r>
            <a:r>
              <a:rPr lang="en-US" sz="1150" b="0" dirty="0">
                <a:solidFill>
                  <a:srgbClr val="E2E8F0"/>
                </a:solidFill>
                <a:latin typeface="Consolas"/>
                <a:ea typeface="Consolas"/>
                <a:cs typeface="Consolas"/>
              </a:rPr>
              <a:t>() =&gt;</a:t>
            </a:r>
            <a:endParaRPr lang="en-US" sz="1150" dirty="0"/>
          </a:p>
        </p:txBody>
      </p:sp>
      <p:sp>
        <p:nvSpPr>
          <p:cNvPr id="110" name="s110"/>
          <p:cNvSpPr/>
          <p:nvPr/>
        </p:nvSpPr>
        <p:spPr>
          <a:xfrm>
            <a:off x="543154" y="2839212"/>
            <a:ext cx="60350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DateTime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Now</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Hour</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is</a:t>
            </a:r>
            <a:r>
              <a:rPr lang="en-US" sz="1150" b="0" dirty="0">
                <a:solidFill>
                  <a:srgbClr val="E2E8F0"/>
                </a:solidFill>
                <a:latin typeface="Consolas"/>
                <a:ea typeface="Consolas"/>
                <a:cs typeface="Consolas"/>
              </a:rPr>
              <a:t> &gt;= </a:t>
            </a:r>
            <a:r>
              <a:rPr lang="en-US" sz="1150" b="0" dirty="0">
                <a:solidFill>
                  <a:srgbClr val="C4B5FD"/>
                </a:solidFill>
                <a:latin typeface="Consolas"/>
                <a:ea typeface="Consolas"/>
                <a:cs typeface="Consolas"/>
              </a:rPr>
              <a:t>9</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and</a:t>
            </a:r>
            <a:r>
              <a:rPr lang="en-US" sz="1150" b="0" dirty="0">
                <a:solidFill>
                  <a:srgbClr val="E2E8F0"/>
                </a:solidFill>
                <a:latin typeface="Consolas"/>
                <a:ea typeface="Consolas"/>
                <a:cs typeface="Consolas"/>
              </a:rPr>
              <a:t> &lt; </a:t>
            </a:r>
            <a:r>
              <a:rPr lang="en-US" sz="1150" b="0" dirty="0">
                <a:solidFill>
                  <a:srgbClr val="C4B5FD"/>
                </a:solidFill>
                <a:latin typeface="Consolas"/>
                <a:ea typeface="Consolas"/>
                <a:cs typeface="Consolas"/>
              </a:rPr>
              <a:t>22</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hidden input</a:t>
            </a:r>
            <a:endParaRPr lang="en-US" sz="1150" dirty="0"/>
          </a:p>
        </p:txBody>
      </p:sp>
      <p:sp>
        <p:nvSpPr>
          <p:cNvPr id="111" name="s111"/>
          <p:cNvSpPr/>
          <p:nvPr/>
        </p:nvSpPr>
        <p:spPr>
          <a:xfrm>
            <a:off x="543154" y="3014472"/>
            <a:ext cx="60350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2" name="s112"/>
          <p:cNvSpPr/>
          <p:nvPr/>
        </p:nvSpPr>
        <p:spPr>
          <a:xfrm>
            <a:off x="543154" y="3364992"/>
            <a:ext cx="60350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[Fact]</a:t>
            </a:r>
            <a:endParaRPr lang="en-US" sz="1150" dirty="0"/>
          </a:p>
        </p:txBody>
      </p:sp>
      <p:sp>
        <p:nvSpPr>
          <p:cNvPr id="113" name="s113"/>
          <p:cNvSpPr/>
          <p:nvPr/>
        </p:nvSpPr>
        <p:spPr>
          <a:xfrm>
            <a:off x="543154" y="3540252"/>
            <a:ext cx="60350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void</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IsOpen_At11PM_IsClosed</a:t>
            </a:r>
            <a:r>
              <a:rPr lang="en-US" sz="1150" b="0" dirty="0">
                <a:solidFill>
                  <a:srgbClr val="E2E8F0"/>
                </a:solidFill>
                <a:latin typeface="Consolas"/>
                <a:ea typeface="Consolas"/>
                <a:cs typeface="Consolas"/>
              </a:rPr>
              <a:t>()</a:t>
            </a:r>
            <a:endParaRPr lang="en-US" sz="1150" dirty="0"/>
          </a:p>
        </p:txBody>
      </p:sp>
      <p:sp>
        <p:nvSpPr>
          <p:cNvPr id="114" name="s114"/>
          <p:cNvSpPr/>
          <p:nvPr/>
        </p:nvSpPr>
        <p:spPr>
          <a:xfrm>
            <a:off x="543154" y="3715512"/>
            <a:ext cx="60350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5" name="s115"/>
          <p:cNvSpPr/>
          <p:nvPr/>
        </p:nvSpPr>
        <p:spPr>
          <a:xfrm>
            <a:off x="543154" y="3890772"/>
            <a:ext cx="60350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new</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ShopHours</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IsOpen</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ShouldBeFalse</a:t>
            </a:r>
            <a:r>
              <a:rPr lang="en-US" sz="1150" b="0" dirty="0">
                <a:solidFill>
                  <a:srgbClr val="E2E8F0"/>
                </a:solidFill>
                <a:latin typeface="Consolas"/>
                <a:ea typeface="Consolas"/>
                <a:cs typeface="Consolas"/>
              </a:rPr>
              <a:t>();</a:t>
            </a:r>
            <a:endParaRPr lang="en-US" sz="1150" dirty="0"/>
          </a:p>
        </p:txBody>
      </p:sp>
      <p:sp>
        <p:nvSpPr>
          <p:cNvPr id="116" name="s116"/>
          <p:cNvSpPr/>
          <p:nvPr/>
        </p:nvSpPr>
        <p:spPr>
          <a:xfrm>
            <a:off x="543154" y="4066032"/>
            <a:ext cx="60350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7" name="s117"/>
          <p:cNvSpPr/>
          <p:nvPr/>
        </p:nvSpPr>
        <p:spPr>
          <a:xfrm>
            <a:off x="652882" y="2811780"/>
            <a:ext cx="5815584" cy="23012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18" name="s118"/>
          <p:cNvSpPr txBox="1"/>
          <p:nvPr/>
        </p:nvSpPr>
        <p:spPr>
          <a:xfrm>
            <a:off x="6852514" y="1783080"/>
            <a:ext cx="36576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THE SAME TEST, RUN AT…</a:t>
            </a:r>
            <a:endParaRPr lang="en-US" sz="1050" dirty="0"/>
          </a:p>
        </p:txBody>
      </p:sp>
      <p:sp>
        <p:nvSpPr>
          <p:cNvPr id="119" name="s119"/>
          <p:cNvSpPr/>
          <p:nvPr/>
        </p:nvSpPr>
        <p:spPr>
          <a:xfrm>
            <a:off x="6852514" y="2148840"/>
            <a:ext cx="4778654" cy="502920"/>
          </a:xfrm>
          <a:prstGeom prst="roundRect">
            <a:avLst>
              <a:gd name="adj" fmla="val 20000"/>
            </a:avLst>
          </a:prstGeom>
          <a:solidFill>
            <a:srgbClr val="111B2E"/>
          </a:solidFill>
          <a:ln w="12700">
            <a:solidFill>
              <a:srgbClr val="34D399"/>
            </a:solidFill>
            <a:prstDash val="solid"/>
          </a:ln>
        </p:spPr>
        <p:txBody>
          <a:bodyPr wrap="square" lIns="274320" tIns="0" rIns="91440" bIns="0" rtlCol="0" anchor="ctr">
            <a:noAutofit/>
          </a:bodyPr>
          <a:lstStyle/>
          <a:p>
            <a:pPr marL="0" indent="0" algn="l">
              <a:spcBef>
                <a:spcPts val="0"/>
              </a:spcBef>
              <a:spcAft>
                <a:spcPts val="0"/>
              </a:spcAft>
              <a:buNone/>
            </a:pPr>
            <a:r>
              <a:rPr lang="en-US" sz="1400" b="1" dirty="0">
                <a:solidFill>
                  <a:srgbClr val="FFFFFF"/>
                </a:solidFill>
                <a:latin typeface="Consolas"/>
                <a:ea typeface="Consolas"/>
                <a:cs typeface="Consolas"/>
              </a:rPr>
              <a:t>22:30   </a:t>
            </a:r>
            <a:r>
              <a:rPr lang="en-US" sz="1400" b="1" dirty="0">
                <a:solidFill>
                  <a:srgbClr val="34D399"/>
                </a:solidFill>
                <a:latin typeface="Segoe UI"/>
                <a:ea typeface="Segoe UI"/>
                <a:cs typeface="Segoe UI"/>
              </a:rPr>
              <a:t>✓ passed</a:t>
            </a:r>
            <a:endParaRPr lang="en-US" sz="1400" dirty="0"/>
          </a:p>
        </p:txBody>
      </p:sp>
      <p:sp>
        <p:nvSpPr>
          <p:cNvPr id="120" name="s120"/>
          <p:cNvSpPr/>
          <p:nvPr/>
        </p:nvSpPr>
        <p:spPr>
          <a:xfrm>
            <a:off x="6852514" y="2770632"/>
            <a:ext cx="4778654" cy="502920"/>
          </a:xfrm>
          <a:prstGeom prst="roundRect">
            <a:avLst>
              <a:gd name="adj" fmla="val 20000"/>
            </a:avLst>
          </a:prstGeom>
          <a:solidFill>
            <a:srgbClr val="111B2E"/>
          </a:solidFill>
          <a:ln w="12700">
            <a:solidFill>
              <a:srgbClr val="F87171"/>
            </a:solidFill>
            <a:prstDash val="solid"/>
          </a:ln>
        </p:spPr>
        <p:txBody>
          <a:bodyPr wrap="square" lIns="274320" tIns="0" rIns="91440" bIns="0" rtlCol="0" anchor="ctr">
            <a:noAutofit/>
          </a:bodyPr>
          <a:lstStyle/>
          <a:p>
            <a:pPr marL="0" indent="0" algn="l">
              <a:spcBef>
                <a:spcPts val="0"/>
              </a:spcBef>
              <a:spcAft>
                <a:spcPts val="0"/>
              </a:spcAft>
              <a:buNone/>
            </a:pPr>
            <a:r>
              <a:rPr lang="en-US" sz="1400" b="1" dirty="0">
                <a:solidFill>
                  <a:srgbClr val="FFFFFF"/>
                </a:solidFill>
                <a:latin typeface="Consolas"/>
                <a:ea typeface="Consolas"/>
                <a:cs typeface="Consolas"/>
              </a:rPr>
              <a:t>10:00   </a:t>
            </a:r>
            <a:r>
              <a:rPr lang="en-US" sz="1400" b="1" dirty="0">
                <a:solidFill>
                  <a:srgbClr val="F87171"/>
                </a:solidFill>
                <a:latin typeface="Segoe UI"/>
                <a:ea typeface="Segoe UI"/>
                <a:cs typeface="Segoe UI"/>
              </a:rPr>
              <a:t>✗ failed</a:t>
            </a:r>
            <a:endParaRPr lang="en-US" sz="1400" dirty="0"/>
          </a:p>
        </p:txBody>
      </p:sp>
      <p:sp>
        <p:nvSpPr>
          <p:cNvPr id="121" name="s121"/>
          <p:cNvSpPr/>
          <p:nvPr/>
        </p:nvSpPr>
        <p:spPr>
          <a:xfrm>
            <a:off x="6852514" y="3392424"/>
            <a:ext cx="4778654" cy="502920"/>
          </a:xfrm>
          <a:prstGeom prst="roundRect">
            <a:avLst>
              <a:gd name="adj" fmla="val 20000"/>
            </a:avLst>
          </a:prstGeom>
          <a:solidFill>
            <a:srgbClr val="111B2E"/>
          </a:solidFill>
          <a:ln w="12700">
            <a:solidFill>
              <a:srgbClr val="F87171"/>
            </a:solidFill>
            <a:prstDash val="solid"/>
          </a:ln>
        </p:spPr>
        <p:txBody>
          <a:bodyPr wrap="square" lIns="274320" tIns="0" rIns="91440" bIns="0" rtlCol="0" anchor="ctr">
            <a:noAutofit/>
          </a:bodyPr>
          <a:lstStyle/>
          <a:p>
            <a:pPr marL="0" indent="0" algn="l">
              <a:spcBef>
                <a:spcPts val="0"/>
              </a:spcBef>
              <a:spcAft>
                <a:spcPts val="0"/>
              </a:spcAft>
              <a:buNone/>
            </a:pPr>
            <a:r>
              <a:rPr lang="en-US" sz="1400" b="1" dirty="0">
                <a:solidFill>
                  <a:srgbClr val="FFFFFF"/>
                </a:solidFill>
                <a:latin typeface="Consolas"/>
                <a:ea typeface="Consolas"/>
                <a:cs typeface="Consolas"/>
              </a:rPr>
              <a:t>15:00   </a:t>
            </a:r>
            <a:r>
              <a:rPr lang="en-US" sz="1400" b="1" dirty="0">
                <a:solidFill>
                  <a:srgbClr val="F87171"/>
                </a:solidFill>
                <a:latin typeface="Segoe UI"/>
                <a:ea typeface="Segoe UI"/>
                <a:cs typeface="Segoe UI"/>
              </a:rPr>
              <a:t>✗ failed</a:t>
            </a:r>
            <a:endParaRPr lang="en-US" sz="1400" dirty="0"/>
          </a:p>
        </p:txBody>
      </p:sp>
      <p:sp>
        <p:nvSpPr>
          <p:cNvPr id="122" name="s122"/>
          <p:cNvSpPr/>
          <p:nvPr/>
        </p:nvSpPr>
        <p:spPr>
          <a:xfrm>
            <a:off x="6852514" y="4014216"/>
            <a:ext cx="4778654" cy="502920"/>
          </a:xfrm>
          <a:prstGeom prst="roundRect">
            <a:avLst>
              <a:gd name="adj" fmla="val 20000"/>
            </a:avLst>
          </a:prstGeom>
          <a:solidFill>
            <a:srgbClr val="111B2E"/>
          </a:solidFill>
          <a:ln w="12700">
            <a:solidFill>
              <a:srgbClr val="34D399"/>
            </a:solidFill>
            <a:prstDash val="solid"/>
          </a:ln>
        </p:spPr>
        <p:txBody>
          <a:bodyPr wrap="square" lIns="274320" tIns="0" rIns="91440" bIns="0" rtlCol="0" anchor="ctr">
            <a:noAutofit/>
          </a:bodyPr>
          <a:lstStyle/>
          <a:p>
            <a:pPr marL="0" indent="0" algn="l">
              <a:spcBef>
                <a:spcPts val="0"/>
              </a:spcBef>
              <a:spcAft>
                <a:spcPts val="0"/>
              </a:spcAft>
              <a:buNone/>
            </a:pPr>
            <a:r>
              <a:rPr lang="en-US" sz="1400" b="1" dirty="0">
                <a:solidFill>
                  <a:srgbClr val="FFFFFF"/>
                </a:solidFill>
                <a:latin typeface="Consolas"/>
                <a:ea typeface="Consolas"/>
                <a:cs typeface="Consolas"/>
              </a:rPr>
              <a:t>23:59   </a:t>
            </a:r>
            <a:r>
              <a:rPr lang="en-US" sz="1400" b="1" dirty="0">
                <a:solidFill>
                  <a:srgbClr val="34D399"/>
                </a:solidFill>
                <a:latin typeface="Segoe UI"/>
                <a:ea typeface="Segoe UI"/>
                <a:cs typeface="Segoe UI"/>
              </a:rPr>
              <a:t>✓ passed</a:t>
            </a:r>
            <a:endParaRPr lang="en-US" sz="1400" dirty="0"/>
          </a:p>
        </p:txBody>
      </p:sp>
      <p:sp>
        <p:nvSpPr>
          <p:cNvPr id="123" name="s123"/>
          <p:cNvSpPr/>
          <p:nvPr/>
        </p:nvSpPr>
        <p:spPr>
          <a:xfrm>
            <a:off x="543154" y="5212080"/>
            <a:ext cx="11088014" cy="457200"/>
          </a:xfrm>
          <a:prstGeom prst="roundRect">
            <a:avLst>
              <a:gd name="adj" fmla="val 20000"/>
            </a:avLst>
          </a:prstGeom>
          <a:solidFill>
            <a:srgbClr val="F87171">
              <a:alpha val="10000"/>
            </a:srgbClr>
          </a:solidFill>
          <a:ln w="12700">
            <a:solidFill>
              <a:srgbClr val="F87171"/>
            </a:solidFill>
            <a:prstDash val="solid"/>
          </a:ln>
        </p:spPr>
        <p:txBody>
          <a:bodyPr wrap="square" lIns="228600" tIns="0" rIns="137160" bIns="0" rtlCol="0" anchor="ctr">
            <a:noAutofit/>
          </a:bodyPr>
          <a:lstStyle/>
          <a:p>
            <a:pPr marL="0" indent="0" algn="l">
              <a:spcBef>
                <a:spcPts val="0"/>
              </a:spcBef>
              <a:spcAft>
                <a:spcPts val="0"/>
              </a:spcAft>
              <a:buNone/>
            </a:pPr>
            <a:r>
              <a:rPr lang="en-US" sz="1250" b="1" dirty="0">
                <a:solidFill>
                  <a:srgbClr val="F87171"/>
                </a:solidFill>
                <a:latin typeface="Segoe UI"/>
                <a:ea typeface="Segoe UI"/>
                <a:cs typeface="Segoe UI"/>
              </a:rPr>
              <a:t>⚠  THE PROBLEM   </a:t>
            </a:r>
            <a:r>
              <a:rPr lang="en-US" sz="1250" b="1" dirty="0">
                <a:solidFill>
                  <a:srgbClr val="FFFFFF"/>
                </a:solidFill>
                <a:latin typeface="Segoe UI"/>
                <a:ea typeface="Segoe UI"/>
                <a:cs typeface="Segoe UI"/>
              </a:rPr>
              <a:t>A hidden input: the class reads the clock itself</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118"/>
                                        </p:tgtEl>
                                        <p:attrNameLst>
                                          <p:attrName>style.visibility</p:attrName>
                                        </p:attrNameLst>
                                      </p:cBhvr>
                                      <p:to>
                                        <p:strVal val="visible"/>
                                      </p:to>
                                    </p:set>
                                    <p:animEffect transition="in" filter="fade">
                                      <p:cBhvr>
                                        <p:cTn id="73" dur="500"/>
                                        <p:tgtEl>
                                          <p:spTgt spid="118"/>
                                        </p:tgtEl>
                                      </p:cBhvr>
                                    </p:animEffect>
                                  </p:childTnLst>
                                </p:cTn>
                              </p:par>
                              <p:par>
                                <p:cTn id="74" presetID="42" presetClass="entr" presetSubtype="0" fill="hold" grpId="0" nodeType="withEffect">
                                  <p:stCondLst>
                                    <p:cond delay="200"/>
                                  </p:stCondLst>
                                  <p:childTnLst>
                                    <p:set>
                                      <p:cBhvr>
                                        <p:cTn id="75" dur="1" fill="hold">
                                          <p:stCondLst>
                                            <p:cond delay="0"/>
                                          </p:stCondLst>
                                        </p:cTn>
                                        <p:tgtEl>
                                          <p:spTgt spid="119"/>
                                        </p:tgtEl>
                                        <p:attrNameLst>
                                          <p:attrName>style.visibility</p:attrName>
                                        </p:attrNameLst>
                                      </p:cBhvr>
                                      <p:to>
                                        <p:strVal val="visible"/>
                                      </p:to>
                                    </p:set>
                                    <p:animEffect transition="in" filter="fade">
                                      <p:cBhvr>
                                        <p:cTn id="76" dur="500"/>
                                        <p:tgtEl>
                                          <p:spTgt spid="119"/>
                                        </p:tgtEl>
                                      </p:cBhvr>
                                    </p:animEffect>
                                    <p:anim calcmode="lin" valueType="num">
                                      <p:cBhvr additive="base">
                                        <p:cTn id="77" dur="500" decel="100000" fill="hold"/>
                                        <p:tgtEl>
                                          <p:spTgt spid="119"/>
                                        </p:tgtEl>
                                        <p:attrNameLst>
                                          <p:attrName>ppt_x</p:attrName>
                                        </p:attrNameLst>
                                      </p:cBhvr>
                                      <p:tavLst>
                                        <p:tav tm="0">
                                          <p:val>
                                            <p:strVal val="#ppt_x-0.05"/>
                                          </p:val>
                                        </p:tav>
                                        <p:tav tm="100000">
                                          <p:val>
                                            <p:strVal val="#ppt_x"/>
                                          </p:val>
                                        </p:tav>
                                      </p:tavLst>
                                    </p:anim>
                                  </p:childTnLst>
                                </p:cTn>
                              </p:par>
                              <p:par>
                                <p:cTn id="78" presetID="42" presetClass="entr" presetSubtype="0" fill="hold" grpId="0" nodeType="withEffect">
                                  <p:stCondLst>
                                    <p:cond delay="400"/>
                                  </p:stCondLst>
                                  <p:childTnLst>
                                    <p:set>
                                      <p:cBhvr>
                                        <p:cTn id="79" dur="1" fill="hold">
                                          <p:stCondLst>
                                            <p:cond delay="0"/>
                                          </p:stCondLst>
                                        </p:cTn>
                                        <p:tgtEl>
                                          <p:spTgt spid="120"/>
                                        </p:tgtEl>
                                        <p:attrNameLst>
                                          <p:attrName>style.visibility</p:attrName>
                                        </p:attrNameLst>
                                      </p:cBhvr>
                                      <p:to>
                                        <p:strVal val="visible"/>
                                      </p:to>
                                    </p:set>
                                    <p:animEffect transition="in" filter="fade">
                                      <p:cBhvr>
                                        <p:cTn id="80" dur="500"/>
                                        <p:tgtEl>
                                          <p:spTgt spid="120"/>
                                        </p:tgtEl>
                                      </p:cBhvr>
                                    </p:animEffect>
                                    <p:anim calcmode="lin" valueType="num">
                                      <p:cBhvr additive="base">
                                        <p:cTn id="81" dur="500" decel="100000" fill="hold"/>
                                        <p:tgtEl>
                                          <p:spTgt spid="120"/>
                                        </p:tgtEl>
                                        <p:attrNameLst>
                                          <p:attrName>ppt_x</p:attrName>
                                        </p:attrNameLst>
                                      </p:cBhvr>
                                      <p:tavLst>
                                        <p:tav tm="0">
                                          <p:val>
                                            <p:strVal val="#ppt_x-0.05"/>
                                          </p:val>
                                        </p:tav>
                                        <p:tav tm="100000">
                                          <p:val>
                                            <p:strVal val="#ppt_x"/>
                                          </p:val>
                                        </p:tav>
                                      </p:tavLst>
                                    </p:anim>
                                  </p:childTnLst>
                                </p:cTn>
                              </p:par>
                              <p:par>
                                <p:cTn id="82" presetID="42" presetClass="entr" presetSubtype="0" fill="hold" grpId="0" nodeType="withEffect">
                                  <p:stCondLst>
                                    <p:cond delay="600"/>
                                  </p:stCondLst>
                                  <p:childTnLst>
                                    <p:set>
                                      <p:cBhvr>
                                        <p:cTn id="83" dur="1" fill="hold">
                                          <p:stCondLst>
                                            <p:cond delay="0"/>
                                          </p:stCondLst>
                                        </p:cTn>
                                        <p:tgtEl>
                                          <p:spTgt spid="121"/>
                                        </p:tgtEl>
                                        <p:attrNameLst>
                                          <p:attrName>style.visibility</p:attrName>
                                        </p:attrNameLst>
                                      </p:cBhvr>
                                      <p:to>
                                        <p:strVal val="visible"/>
                                      </p:to>
                                    </p:set>
                                    <p:animEffect transition="in" filter="fade">
                                      <p:cBhvr>
                                        <p:cTn id="84" dur="500"/>
                                        <p:tgtEl>
                                          <p:spTgt spid="121"/>
                                        </p:tgtEl>
                                      </p:cBhvr>
                                    </p:animEffect>
                                    <p:anim calcmode="lin" valueType="num">
                                      <p:cBhvr additive="base">
                                        <p:cTn id="85" dur="500" decel="100000" fill="hold"/>
                                        <p:tgtEl>
                                          <p:spTgt spid="121"/>
                                        </p:tgtEl>
                                        <p:attrNameLst>
                                          <p:attrName>ppt_x</p:attrName>
                                        </p:attrNameLst>
                                      </p:cBhvr>
                                      <p:tavLst>
                                        <p:tav tm="0">
                                          <p:val>
                                            <p:strVal val="#ppt_x-0.05"/>
                                          </p:val>
                                        </p:tav>
                                        <p:tav tm="100000">
                                          <p:val>
                                            <p:strVal val="#ppt_x"/>
                                          </p:val>
                                        </p:tav>
                                      </p:tavLst>
                                    </p:anim>
                                  </p:childTnLst>
                                </p:cTn>
                              </p:par>
                              <p:par>
                                <p:cTn id="86" presetID="42" presetClass="entr" presetSubtype="0" fill="hold" grpId="0" nodeType="withEffect">
                                  <p:stCondLst>
                                    <p:cond delay="800"/>
                                  </p:stCondLst>
                                  <p:childTnLst>
                                    <p:set>
                                      <p:cBhvr>
                                        <p:cTn id="87" dur="1" fill="hold">
                                          <p:stCondLst>
                                            <p:cond delay="0"/>
                                          </p:stCondLst>
                                        </p:cTn>
                                        <p:tgtEl>
                                          <p:spTgt spid="122"/>
                                        </p:tgtEl>
                                        <p:attrNameLst>
                                          <p:attrName>style.visibility</p:attrName>
                                        </p:attrNameLst>
                                      </p:cBhvr>
                                      <p:to>
                                        <p:strVal val="visible"/>
                                      </p:to>
                                    </p:set>
                                    <p:animEffect transition="in" filter="fade">
                                      <p:cBhvr>
                                        <p:cTn id="88" dur="500"/>
                                        <p:tgtEl>
                                          <p:spTgt spid="122"/>
                                        </p:tgtEl>
                                      </p:cBhvr>
                                    </p:animEffect>
                                    <p:anim calcmode="lin" valueType="num">
                                      <p:cBhvr additive="base">
                                        <p:cTn id="89" dur="500" decel="100000" fill="hold"/>
                                        <p:tgtEl>
                                          <p:spTgt spid="122"/>
                                        </p:tgtEl>
                                        <p:attrNameLst>
                                          <p:attrName>ppt_x</p:attrName>
                                        </p:attrNameLst>
                                      </p:cBhvr>
                                      <p:tavLst>
                                        <p:tav tm="0">
                                          <p:val>
                                            <p:strVal val="#ppt_x-0.05"/>
                                          </p:val>
                                        </p:tav>
                                        <p:tav tm="100000">
                                          <p:val>
                                            <p:strVal val="#ppt_x"/>
                                          </p:val>
                                        </p:tav>
                                      </p:tavLst>
                                    </p:anim>
                                  </p:childTnLst>
                                </p:cTn>
                              </p:par>
                            </p:childTnLst>
                          </p:cTn>
                        </p:par>
                      </p:childTnLst>
                    </p:cTn>
                  </p:par>
                  <p:par>
                    <p:cTn id="90" fill="hold">
                      <p:stCondLst>
                        <p:cond delay="indefinite"/>
                      </p:stCondLst>
                      <p:childTnLst>
                        <p:par>
                          <p:cTn id="91" fill="hold">
                            <p:stCondLst>
                              <p:cond delay="0"/>
                            </p:stCondLst>
                            <p:childTnLst>
                              <p:par>
                                <p:cTn id="92" presetID="53" presetClass="entr" presetSubtype="16" fill="hold" grpId="0" nodeType="clickEffect">
                                  <p:stCondLst>
                                    <p:cond delay="0"/>
                                  </p:stCondLst>
                                  <p:childTnLst>
                                    <p:set>
                                      <p:cBhvr>
                                        <p:cTn id="93" dur="1" fill="hold">
                                          <p:stCondLst>
                                            <p:cond delay="0"/>
                                          </p:stCondLst>
                                        </p:cTn>
                                        <p:tgtEl>
                                          <p:spTgt spid="117"/>
                                        </p:tgtEl>
                                        <p:attrNameLst>
                                          <p:attrName>style.visibility</p:attrName>
                                        </p:attrNameLst>
                                      </p:cBhvr>
                                      <p:to>
                                        <p:strVal val="visible"/>
                                      </p:to>
                                    </p:set>
                                    <p:anim calcmode="lin" valueType="num">
                                      <p:cBhvr additive="base">
                                        <p:cTn id="94" dur="500" decel="100000" fill="hold"/>
                                        <p:tgtEl>
                                          <p:spTgt spid="117"/>
                                        </p:tgtEl>
                                        <p:attrNameLst>
                                          <p:attrName>ppt_w</p:attrName>
                                        </p:attrNameLst>
                                      </p:cBhvr>
                                      <p:tavLst>
                                        <p:tav tm="0">
                                          <p:val>
                                            <p:strVal val="#ppt_w*0.3"/>
                                          </p:val>
                                        </p:tav>
                                        <p:tav tm="100000">
                                          <p:val>
                                            <p:strVal val="#ppt_w*1.08"/>
                                          </p:val>
                                        </p:tav>
                                      </p:tavLst>
                                    </p:anim>
                                    <p:anim calcmode="lin" valueType="num">
                                      <p:cBhvr additive="base">
                                        <p:cTn id="95" dur="500" decel="100000" fill="hold"/>
                                        <p:tgtEl>
                                          <p:spTgt spid="117"/>
                                        </p:tgtEl>
                                        <p:attrNameLst>
                                          <p:attrName>ppt_h</p:attrName>
                                        </p:attrNameLst>
                                      </p:cBhvr>
                                      <p:tavLst>
                                        <p:tav tm="0">
                                          <p:val>
                                            <p:strVal val="#ppt_h*0.3"/>
                                          </p:val>
                                        </p:tav>
                                        <p:tav tm="100000">
                                          <p:val>
                                            <p:strVal val="#ppt_h*1.08"/>
                                          </p:val>
                                        </p:tav>
                                      </p:tavLst>
                                    </p:anim>
                                    <p:animEffect transition="in" filter="fade">
                                      <p:cBhvr>
                                        <p:cTn id="96" dur="250"/>
                                        <p:tgtEl>
                                          <p:spTgt spid="117"/>
                                        </p:tgtEl>
                                      </p:cBhvr>
                                    </p:animEffect>
                                    <p:anim calcmode="lin" valueType="num">
                                      <p:cBhvr additive="base">
                                        <p:cTn id="97" dur="160" fill="hold">
                                          <p:stCondLst>
                                            <p:cond delay="500"/>
                                          </p:stCondLst>
                                        </p:cTn>
                                        <p:tgtEl>
                                          <p:spTgt spid="117"/>
                                        </p:tgtEl>
                                        <p:attrNameLst>
                                          <p:attrName>ppt_w</p:attrName>
                                        </p:attrNameLst>
                                      </p:cBhvr>
                                      <p:tavLst>
                                        <p:tav tm="0">
                                          <p:val>
                                            <p:strVal val="#ppt_w*1.08"/>
                                          </p:val>
                                        </p:tav>
                                        <p:tav tm="100000">
                                          <p:val>
                                            <p:strVal val="#ppt_w"/>
                                          </p:val>
                                        </p:tav>
                                      </p:tavLst>
                                    </p:anim>
                                    <p:anim calcmode="lin" valueType="num">
                                      <p:cBhvr additive="base">
                                        <p:cTn id="98" dur="160" fill="hold">
                                          <p:stCondLst>
                                            <p:cond delay="500"/>
                                          </p:stCondLst>
                                        </p:cTn>
                                        <p:tgtEl>
                                          <p:spTgt spid="117"/>
                                        </p:tgtEl>
                                        <p:attrNameLst>
                                          <p:attrName>ppt_h</p:attrName>
                                        </p:attrNameLst>
                                      </p:cBhvr>
                                      <p:tavLst>
                                        <p:tav tm="0">
                                          <p:val>
                                            <p:strVal val="#ppt_h*1.08"/>
                                          </p:val>
                                        </p:tav>
                                        <p:tav tm="100000">
                                          <p:val>
                                            <p:strVal val="#ppt_h"/>
                                          </p:val>
                                        </p:tav>
                                      </p:tavLst>
                                    </p:anim>
                                  </p:childTnLst>
                                </p:cTn>
                              </p:par>
                              <p:par>
                                <p:cTn id="99" presetID="42" presetClass="entr" presetSubtype="0" fill="hold" grpId="0" nodeType="withEffect">
                                  <p:stCondLst>
                                    <p:cond delay="200"/>
                                  </p:stCondLst>
                                  <p:childTnLst>
                                    <p:set>
                                      <p:cBhvr>
                                        <p:cTn id="100" dur="1" fill="hold">
                                          <p:stCondLst>
                                            <p:cond delay="0"/>
                                          </p:stCondLst>
                                        </p:cTn>
                                        <p:tgtEl>
                                          <p:spTgt spid="123"/>
                                        </p:tgtEl>
                                        <p:attrNameLst>
                                          <p:attrName>style.visibility</p:attrName>
                                        </p:attrNameLst>
                                      </p:cBhvr>
                                      <p:to>
                                        <p:strVal val="visible"/>
                                      </p:to>
                                    </p:set>
                                    <p:animEffect transition="in" filter="fade">
                                      <p:cBhvr>
                                        <p:cTn id="101" dur="500"/>
                                        <p:tgtEl>
                                          <p:spTgt spid="123"/>
                                        </p:tgtEl>
                                      </p:cBhvr>
                                    </p:animEffect>
                                    <p:anim calcmode="lin" valueType="num">
                                      <p:cBhvr additive="base">
                                        <p:cTn id="102" dur="500" decel="100000" fill="hold"/>
                                        <p:tgtEl>
                                          <p:spTgt spid="123"/>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SOLUTION</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Pass Time In: TimeProvider</a:t>
            </a:r>
            <a:r>
              <a:rPr lang="ar-EG" sz="3000" b="1" dirty="0">
                <a:solidFill>
                  <a:srgbClr val="FFFFFF"/>
                </a:solidFill>
                <a:latin typeface="Segoe UI"/>
                <a:ea typeface="Segoe UI"/>
                <a:cs typeface="Segoe UI"/>
              </a:rPr>
              <a:t> </a:t>
            </a:r>
            <a:r>
              <a:rPr lang="en-US" sz="3000" b="1" dirty="0">
                <a:solidFill>
                  <a:srgbClr val="FFFFFF"/>
                </a:solidFill>
                <a:latin typeface="Segoe UI"/>
                <a:ea typeface="Segoe UI"/>
                <a:cs typeface="Segoe UI"/>
              </a:rPr>
              <a:t>(.NET 8+)</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TESTABLE CODE</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144</a:t>
            </a:r>
            <a:endParaRPr lang="en-US" sz="850" dirty="0"/>
          </a:p>
        </p:txBody>
      </p:sp>
      <p:sp>
        <p:nvSpPr>
          <p:cNvPr id="101" name="s101"/>
          <p:cNvSpPr/>
          <p:nvPr/>
        </p:nvSpPr>
        <p:spPr>
          <a:xfrm>
            <a:off x="543154" y="1938528"/>
            <a:ext cx="4572000" cy="457200"/>
          </a:xfrm>
          <a:prstGeom prst="roundRect">
            <a:avLst>
              <a:gd name="adj" fmla="val 12000"/>
            </a:avLst>
          </a:prstGeom>
          <a:solidFill>
            <a:srgbClr val="060D18"/>
          </a:solidFill>
          <a:ln w="12700">
            <a:solidFill>
              <a:srgbClr val="34D399">
                <a:alpha val="70000"/>
              </a:srgbClr>
            </a:solidFill>
            <a:prstDash val="solid"/>
          </a:ln>
        </p:spPr>
        <p:txBody>
          <a:bodyPr wrap="square" lIns="182880" tIns="0" rIns="91440" bIns="0" rtlCol="0" anchor="ctr">
            <a:noAutofit/>
          </a:bodyPr>
          <a:lstStyle/>
          <a:p>
            <a:pPr marL="0" indent="0" algn="l">
              <a:spcBef>
                <a:spcPts val="0"/>
              </a:spcBef>
              <a:spcAft>
                <a:spcPts val="0"/>
              </a:spcAft>
              <a:buNone/>
            </a:pPr>
            <a:r>
              <a:rPr lang="en-US" sz="870" b="0" dirty="0">
                <a:solidFill>
                  <a:srgbClr val="94A3B8"/>
                </a:solidFill>
                <a:latin typeface="Consolas"/>
                <a:ea typeface="Consolas"/>
                <a:cs typeface="Consolas"/>
              </a:rPr>
              <a:t>$ </a:t>
            </a:r>
            <a:r>
              <a:rPr lang="en-US" sz="870" b="1" dirty="0">
                <a:solidFill>
                  <a:srgbClr val="34D399"/>
                </a:solidFill>
                <a:latin typeface="Consolas"/>
                <a:ea typeface="Consolas"/>
                <a:cs typeface="Consolas"/>
              </a:rPr>
              <a:t>dotnet add package Microsoft.Extensions.TimeProvider.Testing</a:t>
            </a:r>
            <a:endParaRPr lang="en-US" sz="870" dirty="0"/>
          </a:p>
        </p:txBody>
      </p:sp>
      <p:sp>
        <p:nvSpPr>
          <p:cNvPr id="102" name="s102"/>
          <p:cNvSpPr/>
          <p:nvPr/>
        </p:nvSpPr>
        <p:spPr>
          <a:xfrm>
            <a:off x="3743554" y="1783080"/>
            <a:ext cx="1280160" cy="274320"/>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900" b="1" dirty="0">
                <a:solidFill>
                  <a:srgbClr val="0F172A"/>
                </a:solidFill>
                <a:latin typeface="Segoe UI"/>
                <a:ea typeface="Segoe UI"/>
                <a:cs typeface="Segoe UI"/>
              </a:rPr>
              <a:t>INSTALL NOW</a:t>
            </a:r>
            <a:endParaRPr lang="en-US" sz="900" dirty="0"/>
          </a:p>
        </p:txBody>
      </p:sp>
      <p:sp>
        <p:nvSpPr>
          <p:cNvPr id="103" name="s103"/>
          <p:cNvSpPr txBox="1"/>
          <p:nvPr/>
        </p:nvSpPr>
        <p:spPr>
          <a:xfrm>
            <a:off x="543154" y="2441448"/>
            <a:ext cx="45720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34D399"/>
                </a:solidFill>
                <a:latin typeface="Segoe UI"/>
                <a:ea typeface="Segoe UI"/>
                <a:cs typeface="Segoe UI"/>
              </a:rPr>
              <a:t>Why now? </a:t>
            </a:r>
            <a:r>
              <a:rPr lang="en-US" sz="1100" b="0" dirty="0">
                <a:solidFill>
                  <a:srgbClr val="94A3B8"/>
                </a:solidFill>
                <a:latin typeface="Segoe UI"/>
                <a:ea typeface="Segoe UI"/>
                <a:cs typeface="Segoe UI"/>
              </a:rPr>
              <a:t>a test must choose the time.</a:t>
            </a:r>
            <a:endParaRPr lang="en-US" sz="1100" dirty="0"/>
          </a:p>
        </p:txBody>
      </p:sp>
      <p:sp>
        <p:nvSpPr>
          <p:cNvPr id="104" name="s104"/>
          <p:cNvSpPr/>
          <p:nvPr/>
        </p:nvSpPr>
        <p:spPr>
          <a:xfrm>
            <a:off x="5389474" y="1783080"/>
            <a:ext cx="6241694" cy="38404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5" name="s105"/>
          <p:cNvSpPr/>
          <p:nvPr/>
        </p:nvSpPr>
        <p:spPr>
          <a:xfrm>
            <a:off x="555406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6" name="s106"/>
          <p:cNvSpPr/>
          <p:nvPr/>
        </p:nvSpPr>
        <p:spPr>
          <a:xfrm>
            <a:off x="573694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7" name="s107"/>
          <p:cNvSpPr/>
          <p:nvPr/>
        </p:nvSpPr>
        <p:spPr>
          <a:xfrm>
            <a:off x="591982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8" name="s108"/>
          <p:cNvSpPr/>
          <p:nvPr/>
        </p:nvSpPr>
        <p:spPr>
          <a:xfrm>
            <a:off x="6166714" y="1856232"/>
            <a:ext cx="1675181"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ShopHours.cs + test</a:t>
            </a:r>
            <a:endParaRPr lang="en-US" sz="950" dirty="0"/>
          </a:p>
        </p:txBody>
      </p:sp>
      <p:cxnSp>
        <p:nvCxnSpPr>
          <p:cNvPr id="109" name="ln109"/>
          <p:cNvCxnSpPr/>
          <p:nvPr/>
        </p:nvCxnSpPr>
        <p:spPr>
          <a:xfrm>
            <a:off x="5389474" y="2194560"/>
            <a:ext cx="6241694" cy="0"/>
          </a:xfrm>
          <a:prstGeom prst="line">
            <a:avLst/>
          </a:prstGeom>
          <a:ln w="9525">
            <a:solidFill>
              <a:srgbClr val="1E3A5F"/>
            </a:solidFill>
          </a:ln>
        </p:spPr>
      </p:cxnSp>
      <p:sp>
        <p:nvSpPr>
          <p:cNvPr id="110" name="s110"/>
          <p:cNvSpPr/>
          <p:nvPr/>
        </p:nvSpPr>
        <p:spPr>
          <a:xfrm>
            <a:off x="5389474" y="231343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class</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ShopHours</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TimeProvider</a:t>
            </a:r>
            <a:r>
              <a:rPr lang="en-US" sz="1150" b="0" dirty="0">
                <a:solidFill>
                  <a:srgbClr val="E2E8F0"/>
                </a:solidFill>
                <a:latin typeface="Consolas"/>
                <a:ea typeface="Consolas"/>
                <a:cs typeface="Consolas"/>
              </a:rPr>
              <a:t> clock)       </a:t>
            </a:r>
            <a:r>
              <a:rPr lang="en-US" sz="1150" b="0" dirty="0">
                <a:solidFill>
                  <a:srgbClr val="6FAE7A"/>
                </a:solidFill>
                <a:latin typeface="Consolas"/>
                <a:ea typeface="Consolas"/>
                <a:cs typeface="Consolas"/>
              </a:rPr>
              <a:t>// time comes IN</a:t>
            </a:r>
            <a:endParaRPr lang="en-US" sz="1150" dirty="0"/>
          </a:p>
        </p:txBody>
      </p:sp>
      <p:sp>
        <p:nvSpPr>
          <p:cNvPr id="111" name="s111"/>
          <p:cNvSpPr/>
          <p:nvPr/>
        </p:nvSpPr>
        <p:spPr>
          <a:xfrm>
            <a:off x="5389474" y="248869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2" name="s112"/>
          <p:cNvSpPr/>
          <p:nvPr/>
        </p:nvSpPr>
        <p:spPr>
          <a:xfrm>
            <a:off x="5389474" y="266395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bool</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IsOpen</a:t>
            </a:r>
            <a:r>
              <a:rPr lang="en-US" sz="1150" b="0" dirty="0">
                <a:solidFill>
                  <a:srgbClr val="E2E8F0"/>
                </a:solidFill>
                <a:latin typeface="Consolas"/>
                <a:ea typeface="Consolas"/>
                <a:cs typeface="Consolas"/>
              </a:rPr>
              <a:t>() =&gt;</a:t>
            </a:r>
            <a:endParaRPr lang="en-US" sz="1150" dirty="0"/>
          </a:p>
        </p:txBody>
      </p:sp>
      <p:sp>
        <p:nvSpPr>
          <p:cNvPr id="113" name="s113"/>
          <p:cNvSpPr/>
          <p:nvPr/>
        </p:nvSpPr>
        <p:spPr>
          <a:xfrm>
            <a:off x="5389474" y="283921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clock.</a:t>
            </a:r>
            <a:r>
              <a:rPr lang="en-US" sz="1150" b="0" dirty="0">
                <a:solidFill>
                  <a:srgbClr val="7DD3FC"/>
                </a:solidFill>
                <a:latin typeface="Consolas"/>
                <a:ea typeface="Consolas"/>
                <a:cs typeface="Consolas"/>
              </a:rPr>
              <a:t>GetLocalNow</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Hour</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is</a:t>
            </a:r>
            <a:r>
              <a:rPr lang="en-US" sz="1150" b="0" dirty="0">
                <a:solidFill>
                  <a:srgbClr val="E2E8F0"/>
                </a:solidFill>
                <a:latin typeface="Consolas"/>
                <a:ea typeface="Consolas"/>
                <a:cs typeface="Consolas"/>
              </a:rPr>
              <a:t> &gt;= </a:t>
            </a:r>
            <a:r>
              <a:rPr lang="en-US" sz="1150" b="0" dirty="0">
                <a:solidFill>
                  <a:srgbClr val="C4B5FD"/>
                </a:solidFill>
                <a:latin typeface="Consolas"/>
                <a:ea typeface="Consolas"/>
                <a:cs typeface="Consolas"/>
              </a:rPr>
              <a:t>9</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and</a:t>
            </a:r>
            <a:r>
              <a:rPr lang="en-US" sz="1150" b="0" dirty="0">
                <a:solidFill>
                  <a:srgbClr val="E2E8F0"/>
                </a:solidFill>
                <a:latin typeface="Consolas"/>
                <a:ea typeface="Consolas"/>
                <a:cs typeface="Consolas"/>
              </a:rPr>
              <a:t> &lt; </a:t>
            </a:r>
            <a:r>
              <a:rPr lang="en-US" sz="1150" b="0" dirty="0">
                <a:solidFill>
                  <a:srgbClr val="C4B5FD"/>
                </a:solidFill>
                <a:latin typeface="Consolas"/>
                <a:ea typeface="Consolas"/>
                <a:cs typeface="Consolas"/>
              </a:rPr>
              <a:t>22</a:t>
            </a:r>
            <a:r>
              <a:rPr lang="en-US" sz="1150" b="0" dirty="0">
                <a:solidFill>
                  <a:srgbClr val="E2E8F0"/>
                </a:solidFill>
                <a:latin typeface="Consolas"/>
                <a:ea typeface="Consolas"/>
                <a:cs typeface="Consolas"/>
              </a:rPr>
              <a:t>;</a:t>
            </a:r>
            <a:endParaRPr lang="en-US" sz="1150" dirty="0"/>
          </a:p>
        </p:txBody>
      </p:sp>
      <p:sp>
        <p:nvSpPr>
          <p:cNvPr id="114" name="s114"/>
          <p:cNvSpPr/>
          <p:nvPr/>
        </p:nvSpPr>
        <p:spPr>
          <a:xfrm>
            <a:off x="5389474" y="301447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5" name="s115"/>
          <p:cNvSpPr/>
          <p:nvPr/>
        </p:nvSpPr>
        <p:spPr>
          <a:xfrm>
            <a:off x="5389474" y="336499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[Fact]</a:t>
            </a:r>
            <a:endParaRPr lang="en-US" sz="1150" dirty="0"/>
          </a:p>
        </p:txBody>
      </p:sp>
      <p:sp>
        <p:nvSpPr>
          <p:cNvPr id="116" name="s116"/>
          <p:cNvSpPr/>
          <p:nvPr/>
        </p:nvSpPr>
        <p:spPr>
          <a:xfrm>
            <a:off x="5389474" y="354025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void</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IsOpen_At11PM_IsClosed</a:t>
            </a:r>
            <a:r>
              <a:rPr lang="en-US" sz="1150" b="0" dirty="0">
                <a:solidFill>
                  <a:srgbClr val="E2E8F0"/>
                </a:solidFill>
                <a:latin typeface="Consolas"/>
                <a:ea typeface="Consolas"/>
                <a:cs typeface="Consolas"/>
              </a:rPr>
              <a:t>()</a:t>
            </a:r>
            <a:endParaRPr lang="en-US" sz="1150" dirty="0"/>
          </a:p>
        </p:txBody>
      </p:sp>
      <p:sp>
        <p:nvSpPr>
          <p:cNvPr id="117" name="s117"/>
          <p:cNvSpPr/>
          <p:nvPr/>
        </p:nvSpPr>
        <p:spPr>
          <a:xfrm>
            <a:off x="5389474" y="371551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8" name="s118"/>
          <p:cNvSpPr/>
          <p:nvPr/>
        </p:nvSpPr>
        <p:spPr>
          <a:xfrm>
            <a:off x="5389474" y="389077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var</a:t>
            </a:r>
            <a:r>
              <a:rPr lang="en-US" sz="1150" b="0" dirty="0">
                <a:solidFill>
                  <a:srgbClr val="E2E8F0"/>
                </a:solidFill>
                <a:latin typeface="Consolas"/>
                <a:ea typeface="Consolas"/>
                <a:cs typeface="Consolas"/>
              </a:rPr>
              <a:t> clock = </a:t>
            </a:r>
            <a:r>
              <a:rPr lang="en-US" sz="1150" b="0" dirty="0">
                <a:solidFill>
                  <a:srgbClr val="60A5FA"/>
                </a:solidFill>
                <a:latin typeface="Consolas"/>
                <a:ea typeface="Consolas"/>
                <a:cs typeface="Consolas"/>
              </a:rPr>
              <a:t>new</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FakeTimeProvider</a:t>
            </a:r>
            <a:r>
              <a:rPr lang="en-US" sz="1150" b="0" dirty="0">
                <a:solidFill>
                  <a:srgbClr val="E2E8F0"/>
                </a:solidFill>
                <a:latin typeface="Consolas"/>
                <a:ea typeface="Consolas"/>
                <a:cs typeface="Consolas"/>
              </a:rPr>
              <a:t>(</a:t>
            </a:r>
            <a:endParaRPr lang="en-US" sz="1150" dirty="0"/>
          </a:p>
        </p:txBody>
      </p:sp>
      <p:sp>
        <p:nvSpPr>
          <p:cNvPr id="119" name="s119"/>
          <p:cNvSpPr/>
          <p:nvPr/>
        </p:nvSpPr>
        <p:spPr>
          <a:xfrm>
            <a:off x="5389474" y="406603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new</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DateTimeOffset</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2026</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10</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11</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23</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0</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0</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TimeSpan</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Zero</a:t>
            </a:r>
            <a:r>
              <a:rPr lang="en-US" sz="1150" b="0" dirty="0">
                <a:solidFill>
                  <a:srgbClr val="E2E8F0"/>
                </a:solidFill>
                <a:latin typeface="Consolas"/>
                <a:ea typeface="Consolas"/>
                <a:cs typeface="Consolas"/>
              </a:rPr>
              <a:t>));</a:t>
            </a:r>
            <a:endParaRPr lang="en-US" sz="1150" dirty="0"/>
          </a:p>
        </p:txBody>
      </p:sp>
      <p:sp>
        <p:nvSpPr>
          <p:cNvPr id="120" name="s120"/>
          <p:cNvSpPr/>
          <p:nvPr/>
        </p:nvSpPr>
        <p:spPr>
          <a:xfrm>
            <a:off x="5389474" y="424129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new</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ShopHours</a:t>
            </a:r>
            <a:r>
              <a:rPr lang="en-US" sz="1150" b="0" dirty="0">
                <a:solidFill>
                  <a:srgbClr val="E2E8F0"/>
                </a:solidFill>
                <a:latin typeface="Consolas"/>
                <a:ea typeface="Consolas"/>
                <a:cs typeface="Consolas"/>
              </a:rPr>
              <a:t>(clock).</a:t>
            </a:r>
            <a:r>
              <a:rPr lang="en-US" sz="1150" b="0" dirty="0">
                <a:solidFill>
                  <a:srgbClr val="7DD3FC"/>
                </a:solidFill>
                <a:latin typeface="Consolas"/>
                <a:ea typeface="Consolas"/>
                <a:cs typeface="Consolas"/>
              </a:rPr>
              <a:t>IsOpen</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ShouldBeFalse</a:t>
            </a:r>
            <a:r>
              <a:rPr lang="en-US" sz="1150" b="0" dirty="0">
                <a:solidFill>
                  <a:srgbClr val="E2E8F0"/>
                </a:solidFill>
                <a:latin typeface="Consolas"/>
                <a:ea typeface="Consolas"/>
                <a:cs typeface="Consolas"/>
              </a:rPr>
              <a:t>();</a:t>
            </a:r>
            <a:endParaRPr lang="en-US" sz="1150" dirty="0"/>
          </a:p>
        </p:txBody>
      </p:sp>
      <p:sp>
        <p:nvSpPr>
          <p:cNvPr id="121" name="s121"/>
          <p:cNvSpPr/>
          <p:nvPr/>
        </p:nvSpPr>
        <p:spPr>
          <a:xfrm>
            <a:off x="5389474" y="459181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clock.</a:t>
            </a:r>
            <a:r>
              <a:rPr lang="en-US" sz="1150" b="0" dirty="0">
                <a:solidFill>
                  <a:srgbClr val="7DD3FC"/>
                </a:solidFill>
                <a:latin typeface="Consolas"/>
                <a:ea typeface="Consolas"/>
                <a:cs typeface="Consolas"/>
              </a:rPr>
              <a:t>Advance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TimeSpan</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FromHours</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10</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now 09:00</a:t>
            </a:r>
            <a:endParaRPr lang="en-US" sz="1150" dirty="0"/>
          </a:p>
        </p:txBody>
      </p:sp>
      <p:sp>
        <p:nvSpPr>
          <p:cNvPr id="122" name="s122"/>
          <p:cNvSpPr/>
          <p:nvPr/>
        </p:nvSpPr>
        <p:spPr>
          <a:xfrm>
            <a:off x="5389474" y="476707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new</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ShopHours</a:t>
            </a:r>
            <a:r>
              <a:rPr lang="en-US" sz="1150" b="0" dirty="0">
                <a:solidFill>
                  <a:srgbClr val="E2E8F0"/>
                </a:solidFill>
                <a:latin typeface="Consolas"/>
                <a:ea typeface="Consolas"/>
                <a:cs typeface="Consolas"/>
              </a:rPr>
              <a:t>(clock).</a:t>
            </a:r>
            <a:r>
              <a:rPr lang="en-US" sz="1150" b="0" dirty="0">
                <a:solidFill>
                  <a:srgbClr val="7DD3FC"/>
                </a:solidFill>
                <a:latin typeface="Consolas"/>
                <a:ea typeface="Consolas"/>
                <a:cs typeface="Consolas"/>
              </a:rPr>
              <a:t>IsOpen</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ShouldBeTrue</a:t>
            </a:r>
            <a:r>
              <a:rPr lang="en-US" sz="1150" b="0" dirty="0">
                <a:solidFill>
                  <a:srgbClr val="E2E8F0"/>
                </a:solidFill>
                <a:latin typeface="Consolas"/>
                <a:ea typeface="Consolas"/>
                <a:cs typeface="Consolas"/>
              </a:rPr>
              <a:t>();</a:t>
            </a:r>
            <a:endParaRPr lang="en-US" sz="1150" dirty="0"/>
          </a:p>
        </p:txBody>
      </p:sp>
      <p:sp>
        <p:nvSpPr>
          <p:cNvPr id="123" name="s123"/>
          <p:cNvSpPr/>
          <p:nvPr/>
        </p:nvSpPr>
        <p:spPr>
          <a:xfrm>
            <a:off x="5389474" y="4942332"/>
            <a:ext cx="62416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24" name="s124"/>
          <p:cNvSpPr/>
          <p:nvPr/>
        </p:nvSpPr>
        <p:spPr>
          <a:xfrm>
            <a:off x="543154" y="2834640"/>
            <a:ext cx="4572000" cy="868680"/>
          </a:xfrm>
          <a:prstGeom prst="roundRect">
            <a:avLst>
              <a:gd name="adj" fmla="val 10000"/>
            </a:avLst>
          </a:prstGeom>
          <a:solidFill>
            <a:srgbClr val="13D0F7">
              <a:alpha val="8000"/>
            </a:srgbClr>
          </a:solidFill>
          <a:ln w="12700">
            <a:solidFill>
              <a:srgbClr val="13D0F7"/>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13D0F7"/>
                </a:solidFill>
                <a:latin typeface="Segoe UI"/>
                <a:ea typeface="Segoe UI"/>
                <a:cs typeface="Segoe UI"/>
              </a:rPr>
              <a:t>PRODUCTION</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new ShopHours(TimeProvider.System)</a:t>
            </a:r>
            <a:endParaRPr lang="en-US" sz="1200" dirty="0"/>
          </a:p>
        </p:txBody>
      </p:sp>
      <p:sp>
        <p:nvSpPr>
          <p:cNvPr id="125" name="s125"/>
          <p:cNvSpPr/>
          <p:nvPr/>
        </p:nvSpPr>
        <p:spPr>
          <a:xfrm>
            <a:off x="543154" y="3794760"/>
            <a:ext cx="4572000" cy="86868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TEST</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FakeTimeProvider: freeze it, then Advance it.</a:t>
            </a:r>
            <a:endParaRPr lang="en-US" sz="1200" dirty="0"/>
          </a:p>
        </p:txBody>
      </p:sp>
      <p:sp>
        <p:nvSpPr>
          <p:cNvPr id="126" name="s126"/>
          <p:cNvSpPr/>
          <p:nvPr/>
        </p:nvSpPr>
        <p:spPr>
          <a:xfrm>
            <a:off x="543154" y="4754880"/>
            <a:ext cx="4572000" cy="868680"/>
          </a:xfrm>
          <a:prstGeom prst="roundRect">
            <a:avLst>
              <a:gd name="adj" fmla="val 10000"/>
            </a:avLst>
          </a:prstGeom>
          <a:solidFill>
            <a:srgbClr val="FBBF24">
              <a:alpha val="8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BBF24"/>
                </a:solidFill>
                <a:latin typeface="Segoe UI"/>
                <a:ea typeface="Segoe UI"/>
                <a:cs typeface="Segoe UI"/>
              </a:rPr>
              <a:t>SIMPLER OPTION</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A DateTime parameter: IsOpen(DateTime now).</a:t>
            </a:r>
            <a:endParaRPr lang="en-US" sz="1200" dirty="0"/>
          </a:p>
        </p:txBody>
      </p:sp>
      <p:sp>
        <p:nvSpPr>
          <p:cNvPr id="127" name="s127"/>
          <p:cNvSpPr/>
          <p:nvPr/>
        </p:nvSpPr>
        <p:spPr>
          <a:xfrm>
            <a:off x="5499202" y="2286000"/>
            <a:ext cx="6022238" cy="230124"/>
          </a:xfrm>
          <a:prstGeom prst="roundRect">
            <a:avLst>
              <a:gd name="adj" fmla="val 6000"/>
            </a:avLst>
          </a:prstGeom>
          <a:solidFill>
            <a:srgbClr val="13D0F7">
              <a:alpha val="10000"/>
            </a:srgbClr>
          </a:solidFill>
          <a:ln w="15875">
            <a:solidFill>
              <a:srgbClr val="13D0F7"/>
            </a:solidFill>
            <a:prstDash val="solid"/>
          </a:ln>
        </p:spPr>
        <p:txBody>
          <a:bodyPr wrap="square" lIns="164592" tIns="109728" rIns="137160" bIns="91440" rtlCol="0" anchor="t">
            <a:noAutofit/>
          </a:bodyPr>
          <a:lstStyle/>
          <a:p>
            <a:endParaRPr lang="en-US"/>
          </a:p>
        </p:txBody>
      </p:sp>
      <p:sp>
        <p:nvSpPr>
          <p:cNvPr id="128" name="s128"/>
          <p:cNvSpPr/>
          <p:nvPr/>
        </p:nvSpPr>
        <p:spPr>
          <a:xfrm>
            <a:off x="5499202" y="3688080"/>
            <a:ext cx="6022238" cy="40538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29" name="s129"/>
          <p:cNvSpPr/>
          <p:nvPr/>
        </p:nvSpPr>
        <p:spPr>
          <a:xfrm>
            <a:off x="5499202" y="4389120"/>
            <a:ext cx="6022238" cy="23012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fade">
                                      <p:cBhvr>
                                        <p:cTn id="7" dur="500"/>
                                        <p:tgtEl>
                                          <p:spTgt spid="104"/>
                                        </p:tgtEl>
                                      </p:cBhvr>
                                    </p:animEffect>
                                    <p:anim calcmode="lin" valueType="num">
                                      <p:cBhvr additive="base">
                                        <p:cTn id="8" dur="500" decel="100000" fill="hold"/>
                                        <p:tgtEl>
                                          <p:spTgt spid="104"/>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5"/>
                                        </p:tgtEl>
                                        <p:attrNameLst>
                                          <p:attrName>style.visibility</p:attrName>
                                        </p:attrNameLst>
                                      </p:cBhvr>
                                      <p:to>
                                        <p:strVal val="visible"/>
                                      </p:to>
                                    </p:set>
                                    <p:animEffect transition="in" filter="fade">
                                      <p:cBhvr>
                                        <p:cTn id="11" dur="500"/>
                                        <p:tgtEl>
                                          <p:spTgt spid="105"/>
                                        </p:tgtEl>
                                      </p:cBhvr>
                                    </p:animEffect>
                                    <p:anim calcmode="lin" valueType="num">
                                      <p:cBhvr additive="base">
                                        <p:cTn id="12" dur="500" decel="100000" fill="hold"/>
                                        <p:tgtEl>
                                          <p:spTgt spid="105"/>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6"/>
                                        </p:tgtEl>
                                        <p:attrNameLst>
                                          <p:attrName>style.visibility</p:attrName>
                                        </p:attrNameLst>
                                      </p:cBhvr>
                                      <p:to>
                                        <p:strVal val="visible"/>
                                      </p:to>
                                    </p:set>
                                    <p:animEffect transition="in" filter="fade">
                                      <p:cBhvr>
                                        <p:cTn id="15" dur="500"/>
                                        <p:tgtEl>
                                          <p:spTgt spid="106"/>
                                        </p:tgtEl>
                                      </p:cBhvr>
                                    </p:animEffect>
                                    <p:anim calcmode="lin" valueType="num">
                                      <p:cBhvr additive="base">
                                        <p:cTn id="16" dur="500" decel="100000" fill="hold"/>
                                        <p:tgtEl>
                                          <p:spTgt spid="106"/>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7"/>
                                        </p:tgtEl>
                                        <p:attrNameLst>
                                          <p:attrName>style.visibility</p:attrName>
                                        </p:attrNameLst>
                                      </p:cBhvr>
                                      <p:to>
                                        <p:strVal val="visible"/>
                                      </p:to>
                                    </p:set>
                                    <p:animEffect transition="in" filter="fade">
                                      <p:cBhvr>
                                        <p:cTn id="19" dur="500"/>
                                        <p:tgtEl>
                                          <p:spTgt spid="107"/>
                                        </p:tgtEl>
                                      </p:cBhvr>
                                    </p:animEffect>
                                    <p:anim calcmode="lin" valueType="num">
                                      <p:cBhvr additive="base">
                                        <p:cTn id="20" dur="500" decel="100000" fill="hold"/>
                                        <p:tgtEl>
                                          <p:spTgt spid="107"/>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fade">
                                      <p:cBhvr>
                                        <p:cTn id="23" dur="500"/>
                                        <p:tgtEl>
                                          <p:spTgt spid="108"/>
                                        </p:tgtEl>
                                      </p:cBhvr>
                                    </p:animEffect>
                                    <p:anim calcmode="lin" valueType="num">
                                      <p:cBhvr additive="base">
                                        <p:cTn id="24" dur="500" decel="100000" fill="hold"/>
                                        <p:tgtEl>
                                          <p:spTgt spid="108"/>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9"/>
                                        </p:tgtEl>
                                        <p:attrNameLst>
                                          <p:attrName>style.visibility</p:attrName>
                                        </p:attrNameLst>
                                      </p:cBhvr>
                                      <p:to>
                                        <p:strVal val="visible"/>
                                      </p:to>
                                    </p:set>
                                    <p:animEffect transition="in" filter="fade">
                                      <p:cBhvr>
                                        <p:cTn id="27" dur="500"/>
                                        <p:tgtEl>
                                          <p:spTgt spid="109"/>
                                        </p:tgtEl>
                                      </p:cBhvr>
                                    </p:animEffect>
                                    <p:anim calcmode="lin" valueType="num">
                                      <p:cBhvr additive="base">
                                        <p:cTn id="28" dur="500" decel="100000" fill="hold"/>
                                        <p:tgtEl>
                                          <p:spTgt spid="109"/>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10"/>
                                        </p:tgtEl>
                                        <p:attrNameLst>
                                          <p:attrName>style.visibility</p:attrName>
                                        </p:attrNameLst>
                                      </p:cBhvr>
                                      <p:to>
                                        <p:strVal val="visible"/>
                                      </p:to>
                                    </p:set>
                                    <p:animEffect transition="in" filter="fade">
                                      <p:cBhvr>
                                        <p:cTn id="31" dur="500"/>
                                        <p:tgtEl>
                                          <p:spTgt spid="110"/>
                                        </p:tgtEl>
                                      </p:cBhvr>
                                    </p:animEffect>
                                    <p:anim calcmode="lin" valueType="num">
                                      <p:cBhvr additive="base">
                                        <p:cTn id="32" dur="500" decel="100000" fill="hold"/>
                                        <p:tgtEl>
                                          <p:spTgt spid="110"/>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11"/>
                                        </p:tgtEl>
                                        <p:attrNameLst>
                                          <p:attrName>style.visibility</p:attrName>
                                        </p:attrNameLst>
                                      </p:cBhvr>
                                      <p:to>
                                        <p:strVal val="visible"/>
                                      </p:to>
                                    </p:set>
                                    <p:animEffect transition="in" filter="fade">
                                      <p:cBhvr>
                                        <p:cTn id="35" dur="500"/>
                                        <p:tgtEl>
                                          <p:spTgt spid="111"/>
                                        </p:tgtEl>
                                      </p:cBhvr>
                                    </p:animEffect>
                                    <p:anim calcmode="lin" valueType="num">
                                      <p:cBhvr additive="base">
                                        <p:cTn id="36" dur="500" decel="100000" fill="hold"/>
                                        <p:tgtEl>
                                          <p:spTgt spid="111"/>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2"/>
                                        </p:tgtEl>
                                        <p:attrNameLst>
                                          <p:attrName>style.visibility</p:attrName>
                                        </p:attrNameLst>
                                      </p:cBhvr>
                                      <p:to>
                                        <p:strVal val="visible"/>
                                      </p:to>
                                    </p:set>
                                    <p:animEffect transition="in" filter="fade">
                                      <p:cBhvr>
                                        <p:cTn id="39" dur="500"/>
                                        <p:tgtEl>
                                          <p:spTgt spid="112"/>
                                        </p:tgtEl>
                                      </p:cBhvr>
                                    </p:animEffect>
                                    <p:anim calcmode="lin" valueType="num">
                                      <p:cBhvr additive="base">
                                        <p:cTn id="40" dur="500" decel="100000" fill="hold"/>
                                        <p:tgtEl>
                                          <p:spTgt spid="112"/>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3"/>
                                        </p:tgtEl>
                                        <p:attrNameLst>
                                          <p:attrName>style.visibility</p:attrName>
                                        </p:attrNameLst>
                                      </p:cBhvr>
                                      <p:to>
                                        <p:strVal val="visible"/>
                                      </p:to>
                                    </p:set>
                                    <p:animEffect transition="in" filter="fade">
                                      <p:cBhvr>
                                        <p:cTn id="43" dur="500"/>
                                        <p:tgtEl>
                                          <p:spTgt spid="113"/>
                                        </p:tgtEl>
                                      </p:cBhvr>
                                    </p:animEffect>
                                    <p:anim calcmode="lin" valueType="num">
                                      <p:cBhvr additive="base">
                                        <p:cTn id="44" dur="500" decel="100000" fill="hold"/>
                                        <p:tgtEl>
                                          <p:spTgt spid="113"/>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4"/>
                                        </p:tgtEl>
                                        <p:attrNameLst>
                                          <p:attrName>style.visibility</p:attrName>
                                        </p:attrNameLst>
                                      </p:cBhvr>
                                      <p:to>
                                        <p:strVal val="visible"/>
                                      </p:to>
                                    </p:set>
                                    <p:animEffect transition="in" filter="fade">
                                      <p:cBhvr>
                                        <p:cTn id="47" dur="500"/>
                                        <p:tgtEl>
                                          <p:spTgt spid="114"/>
                                        </p:tgtEl>
                                      </p:cBhvr>
                                    </p:animEffect>
                                    <p:anim calcmode="lin" valueType="num">
                                      <p:cBhvr additive="base">
                                        <p:cTn id="48" dur="500" decel="100000" fill="hold"/>
                                        <p:tgtEl>
                                          <p:spTgt spid="114"/>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5"/>
                                        </p:tgtEl>
                                        <p:attrNameLst>
                                          <p:attrName>style.visibility</p:attrName>
                                        </p:attrNameLst>
                                      </p:cBhvr>
                                      <p:to>
                                        <p:strVal val="visible"/>
                                      </p:to>
                                    </p:set>
                                    <p:animEffect transition="in" filter="fade">
                                      <p:cBhvr>
                                        <p:cTn id="51" dur="500"/>
                                        <p:tgtEl>
                                          <p:spTgt spid="115"/>
                                        </p:tgtEl>
                                      </p:cBhvr>
                                    </p:animEffect>
                                    <p:anim calcmode="lin" valueType="num">
                                      <p:cBhvr additive="base">
                                        <p:cTn id="52" dur="500" decel="100000" fill="hold"/>
                                        <p:tgtEl>
                                          <p:spTgt spid="115"/>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6"/>
                                        </p:tgtEl>
                                        <p:attrNameLst>
                                          <p:attrName>style.visibility</p:attrName>
                                        </p:attrNameLst>
                                      </p:cBhvr>
                                      <p:to>
                                        <p:strVal val="visible"/>
                                      </p:to>
                                    </p:set>
                                    <p:animEffect transition="in" filter="fade">
                                      <p:cBhvr>
                                        <p:cTn id="55" dur="500"/>
                                        <p:tgtEl>
                                          <p:spTgt spid="116"/>
                                        </p:tgtEl>
                                      </p:cBhvr>
                                    </p:animEffect>
                                    <p:anim calcmode="lin" valueType="num">
                                      <p:cBhvr additive="base">
                                        <p:cTn id="56" dur="500" decel="100000" fill="hold"/>
                                        <p:tgtEl>
                                          <p:spTgt spid="116"/>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7"/>
                                        </p:tgtEl>
                                        <p:attrNameLst>
                                          <p:attrName>style.visibility</p:attrName>
                                        </p:attrNameLst>
                                      </p:cBhvr>
                                      <p:to>
                                        <p:strVal val="visible"/>
                                      </p:to>
                                    </p:set>
                                    <p:animEffect transition="in" filter="fade">
                                      <p:cBhvr>
                                        <p:cTn id="59" dur="500"/>
                                        <p:tgtEl>
                                          <p:spTgt spid="117"/>
                                        </p:tgtEl>
                                      </p:cBhvr>
                                    </p:animEffect>
                                    <p:anim calcmode="lin" valueType="num">
                                      <p:cBhvr additive="base">
                                        <p:cTn id="60" dur="500" decel="100000" fill="hold"/>
                                        <p:tgtEl>
                                          <p:spTgt spid="117"/>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8"/>
                                        </p:tgtEl>
                                        <p:attrNameLst>
                                          <p:attrName>style.visibility</p:attrName>
                                        </p:attrNameLst>
                                      </p:cBhvr>
                                      <p:to>
                                        <p:strVal val="visible"/>
                                      </p:to>
                                    </p:set>
                                    <p:animEffect transition="in" filter="fade">
                                      <p:cBhvr>
                                        <p:cTn id="63" dur="500"/>
                                        <p:tgtEl>
                                          <p:spTgt spid="118"/>
                                        </p:tgtEl>
                                      </p:cBhvr>
                                    </p:animEffect>
                                    <p:anim calcmode="lin" valueType="num">
                                      <p:cBhvr additive="base">
                                        <p:cTn id="64" dur="500" decel="100000" fill="hold"/>
                                        <p:tgtEl>
                                          <p:spTgt spid="118"/>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9"/>
                                        </p:tgtEl>
                                        <p:attrNameLst>
                                          <p:attrName>style.visibility</p:attrName>
                                        </p:attrNameLst>
                                      </p:cBhvr>
                                      <p:to>
                                        <p:strVal val="visible"/>
                                      </p:to>
                                    </p:set>
                                    <p:animEffect transition="in" filter="fade">
                                      <p:cBhvr>
                                        <p:cTn id="67" dur="500"/>
                                        <p:tgtEl>
                                          <p:spTgt spid="119"/>
                                        </p:tgtEl>
                                      </p:cBhvr>
                                    </p:animEffect>
                                    <p:anim calcmode="lin" valueType="num">
                                      <p:cBhvr additive="base">
                                        <p:cTn id="68" dur="500" decel="100000" fill="hold"/>
                                        <p:tgtEl>
                                          <p:spTgt spid="119"/>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20"/>
                                        </p:tgtEl>
                                        <p:attrNameLst>
                                          <p:attrName>style.visibility</p:attrName>
                                        </p:attrNameLst>
                                      </p:cBhvr>
                                      <p:to>
                                        <p:strVal val="visible"/>
                                      </p:to>
                                    </p:set>
                                    <p:animEffect transition="in" filter="fade">
                                      <p:cBhvr>
                                        <p:cTn id="71" dur="500"/>
                                        <p:tgtEl>
                                          <p:spTgt spid="120"/>
                                        </p:tgtEl>
                                      </p:cBhvr>
                                    </p:animEffect>
                                    <p:anim calcmode="lin" valueType="num">
                                      <p:cBhvr additive="base">
                                        <p:cTn id="72" dur="500" decel="100000" fill="hold"/>
                                        <p:tgtEl>
                                          <p:spTgt spid="120"/>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21"/>
                                        </p:tgtEl>
                                        <p:attrNameLst>
                                          <p:attrName>style.visibility</p:attrName>
                                        </p:attrNameLst>
                                      </p:cBhvr>
                                      <p:to>
                                        <p:strVal val="visible"/>
                                      </p:to>
                                    </p:set>
                                    <p:animEffect transition="in" filter="fade">
                                      <p:cBhvr>
                                        <p:cTn id="75" dur="500"/>
                                        <p:tgtEl>
                                          <p:spTgt spid="121"/>
                                        </p:tgtEl>
                                      </p:cBhvr>
                                    </p:animEffect>
                                    <p:anim calcmode="lin" valueType="num">
                                      <p:cBhvr additive="base">
                                        <p:cTn id="76" dur="500" decel="100000" fill="hold"/>
                                        <p:tgtEl>
                                          <p:spTgt spid="121"/>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22"/>
                                        </p:tgtEl>
                                        <p:attrNameLst>
                                          <p:attrName>style.visibility</p:attrName>
                                        </p:attrNameLst>
                                      </p:cBhvr>
                                      <p:to>
                                        <p:strVal val="visible"/>
                                      </p:to>
                                    </p:set>
                                    <p:animEffect transition="in" filter="fade">
                                      <p:cBhvr>
                                        <p:cTn id="79" dur="500"/>
                                        <p:tgtEl>
                                          <p:spTgt spid="122"/>
                                        </p:tgtEl>
                                      </p:cBhvr>
                                    </p:animEffect>
                                    <p:anim calcmode="lin" valueType="num">
                                      <p:cBhvr additive="base">
                                        <p:cTn id="80" dur="500" decel="100000" fill="hold"/>
                                        <p:tgtEl>
                                          <p:spTgt spid="122"/>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3"/>
                                        </p:tgtEl>
                                        <p:attrNameLst>
                                          <p:attrName>style.visibility</p:attrName>
                                        </p:attrNameLst>
                                      </p:cBhvr>
                                      <p:to>
                                        <p:strVal val="visible"/>
                                      </p:to>
                                    </p:set>
                                    <p:animEffect transition="in" filter="fade">
                                      <p:cBhvr>
                                        <p:cTn id="83" dur="500"/>
                                        <p:tgtEl>
                                          <p:spTgt spid="123"/>
                                        </p:tgtEl>
                                      </p:cBhvr>
                                    </p:animEffect>
                                    <p:anim calcmode="lin" valueType="num">
                                      <p:cBhvr additive="base">
                                        <p:cTn id="84" dur="500" decel="100000" fill="hold"/>
                                        <p:tgtEl>
                                          <p:spTgt spid="123"/>
                                        </p:tgtEl>
                                        <p:attrNameLst>
                                          <p:attrName>ppt_y</p:attrName>
                                        </p:attrNameLst>
                                      </p:cBhvr>
                                      <p:tavLst>
                                        <p:tav tm="0">
                                          <p:val>
                                            <p:strVal val="#ppt_y+0.06"/>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53" presetClass="entr" presetSubtype="16" fill="hold" grpId="0" nodeType="clickEffect">
                                  <p:stCondLst>
                                    <p:cond delay="0"/>
                                  </p:stCondLst>
                                  <p:childTnLst>
                                    <p:set>
                                      <p:cBhvr>
                                        <p:cTn id="88" dur="1" fill="hold">
                                          <p:stCondLst>
                                            <p:cond delay="0"/>
                                          </p:stCondLst>
                                        </p:cTn>
                                        <p:tgtEl>
                                          <p:spTgt spid="127"/>
                                        </p:tgtEl>
                                        <p:attrNameLst>
                                          <p:attrName>style.visibility</p:attrName>
                                        </p:attrNameLst>
                                      </p:cBhvr>
                                      <p:to>
                                        <p:strVal val="visible"/>
                                      </p:to>
                                    </p:set>
                                    <p:anim calcmode="lin" valueType="num">
                                      <p:cBhvr additive="base">
                                        <p:cTn id="89" dur="500" decel="100000" fill="hold"/>
                                        <p:tgtEl>
                                          <p:spTgt spid="127"/>
                                        </p:tgtEl>
                                        <p:attrNameLst>
                                          <p:attrName>ppt_w</p:attrName>
                                        </p:attrNameLst>
                                      </p:cBhvr>
                                      <p:tavLst>
                                        <p:tav tm="0">
                                          <p:val>
                                            <p:strVal val="#ppt_w*0.3"/>
                                          </p:val>
                                        </p:tav>
                                        <p:tav tm="100000">
                                          <p:val>
                                            <p:strVal val="#ppt_w*1.08"/>
                                          </p:val>
                                        </p:tav>
                                      </p:tavLst>
                                    </p:anim>
                                    <p:anim calcmode="lin" valueType="num">
                                      <p:cBhvr additive="base">
                                        <p:cTn id="90" dur="500" decel="100000" fill="hold"/>
                                        <p:tgtEl>
                                          <p:spTgt spid="127"/>
                                        </p:tgtEl>
                                        <p:attrNameLst>
                                          <p:attrName>ppt_h</p:attrName>
                                        </p:attrNameLst>
                                      </p:cBhvr>
                                      <p:tavLst>
                                        <p:tav tm="0">
                                          <p:val>
                                            <p:strVal val="#ppt_h*0.3"/>
                                          </p:val>
                                        </p:tav>
                                        <p:tav tm="100000">
                                          <p:val>
                                            <p:strVal val="#ppt_h*1.08"/>
                                          </p:val>
                                        </p:tav>
                                      </p:tavLst>
                                    </p:anim>
                                    <p:animEffect transition="in" filter="fade">
                                      <p:cBhvr>
                                        <p:cTn id="91" dur="250"/>
                                        <p:tgtEl>
                                          <p:spTgt spid="127"/>
                                        </p:tgtEl>
                                      </p:cBhvr>
                                    </p:animEffect>
                                    <p:anim calcmode="lin" valueType="num">
                                      <p:cBhvr additive="base">
                                        <p:cTn id="92" dur="160" fill="hold">
                                          <p:stCondLst>
                                            <p:cond delay="500"/>
                                          </p:stCondLst>
                                        </p:cTn>
                                        <p:tgtEl>
                                          <p:spTgt spid="127"/>
                                        </p:tgtEl>
                                        <p:attrNameLst>
                                          <p:attrName>ppt_w</p:attrName>
                                        </p:attrNameLst>
                                      </p:cBhvr>
                                      <p:tavLst>
                                        <p:tav tm="0">
                                          <p:val>
                                            <p:strVal val="#ppt_w*1.08"/>
                                          </p:val>
                                        </p:tav>
                                        <p:tav tm="100000">
                                          <p:val>
                                            <p:strVal val="#ppt_w"/>
                                          </p:val>
                                        </p:tav>
                                      </p:tavLst>
                                    </p:anim>
                                    <p:anim calcmode="lin" valueType="num">
                                      <p:cBhvr additive="base">
                                        <p:cTn id="93" dur="160" fill="hold">
                                          <p:stCondLst>
                                            <p:cond delay="500"/>
                                          </p:stCondLst>
                                        </p:cTn>
                                        <p:tgtEl>
                                          <p:spTgt spid="127"/>
                                        </p:tgtEl>
                                        <p:attrNameLst>
                                          <p:attrName>ppt_h</p:attrName>
                                        </p:attrNameLst>
                                      </p:cBhvr>
                                      <p:tavLst>
                                        <p:tav tm="0">
                                          <p:val>
                                            <p:strVal val="#ppt_h*1.08"/>
                                          </p:val>
                                        </p:tav>
                                        <p:tav tm="100000">
                                          <p:val>
                                            <p:strVal val="#ppt_h"/>
                                          </p:val>
                                        </p:tav>
                                      </p:tavLst>
                                    </p:anim>
                                  </p:childTnLst>
                                </p:cTn>
                              </p:par>
                              <p:par>
                                <p:cTn id="94" presetID="42" presetClass="entr" presetSubtype="0" fill="hold" grpId="0" nodeType="withEffect">
                                  <p:stCondLst>
                                    <p:cond delay="150"/>
                                  </p:stCondLst>
                                  <p:childTnLst>
                                    <p:set>
                                      <p:cBhvr>
                                        <p:cTn id="95" dur="1" fill="hold">
                                          <p:stCondLst>
                                            <p:cond delay="0"/>
                                          </p:stCondLst>
                                        </p:cTn>
                                        <p:tgtEl>
                                          <p:spTgt spid="124"/>
                                        </p:tgtEl>
                                        <p:attrNameLst>
                                          <p:attrName>style.visibility</p:attrName>
                                        </p:attrNameLst>
                                      </p:cBhvr>
                                      <p:to>
                                        <p:strVal val="visible"/>
                                      </p:to>
                                    </p:set>
                                    <p:animEffect transition="in" filter="fade">
                                      <p:cBhvr>
                                        <p:cTn id="96" dur="500"/>
                                        <p:tgtEl>
                                          <p:spTgt spid="124"/>
                                        </p:tgtEl>
                                      </p:cBhvr>
                                    </p:animEffect>
                                    <p:anim calcmode="lin" valueType="num">
                                      <p:cBhvr additive="base">
                                        <p:cTn id="97" dur="500" decel="100000" fill="hold"/>
                                        <p:tgtEl>
                                          <p:spTgt spid="124"/>
                                        </p:tgtEl>
                                        <p:attrNameLst>
                                          <p:attrName>ppt_y</p:attrName>
                                        </p:attrNameLst>
                                      </p:cBhvr>
                                      <p:tavLst>
                                        <p:tav tm="0">
                                          <p:val>
                                            <p:strVal val="#ppt_y+0.06"/>
                                          </p:val>
                                        </p:tav>
                                        <p:tav tm="100000">
                                          <p:val>
                                            <p:strVal val="#ppt_y"/>
                                          </p:val>
                                        </p:tav>
                                      </p:tavLst>
                                    </p:anim>
                                  </p:childTnLst>
                                </p:cTn>
                              </p:par>
                            </p:childTnLst>
                          </p:cTn>
                        </p:par>
                      </p:childTnLst>
                    </p:cTn>
                  </p:par>
                  <p:par>
                    <p:cTn id="98" fill="hold">
                      <p:stCondLst>
                        <p:cond delay="indefinite"/>
                      </p:stCondLst>
                      <p:childTnLst>
                        <p:par>
                          <p:cTn id="99" fill="hold">
                            <p:stCondLst>
                              <p:cond delay="0"/>
                            </p:stCondLst>
                            <p:childTnLst>
                              <p:par>
                                <p:cTn id="100" presetID="53" presetClass="entr" presetSubtype="16" fill="hold" grpId="0" nodeType="clickEffect">
                                  <p:stCondLst>
                                    <p:cond delay="0"/>
                                  </p:stCondLst>
                                  <p:childTnLst>
                                    <p:set>
                                      <p:cBhvr>
                                        <p:cTn id="101" dur="1" fill="hold">
                                          <p:stCondLst>
                                            <p:cond delay="0"/>
                                          </p:stCondLst>
                                        </p:cTn>
                                        <p:tgtEl>
                                          <p:spTgt spid="101"/>
                                        </p:tgtEl>
                                        <p:attrNameLst>
                                          <p:attrName>style.visibility</p:attrName>
                                        </p:attrNameLst>
                                      </p:cBhvr>
                                      <p:to>
                                        <p:strVal val="visible"/>
                                      </p:to>
                                    </p:set>
                                    <p:anim calcmode="lin" valueType="num">
                                      <p:cBhvr additive="base">
                                        <p:cTn id="102"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103" dur="500" decel="100000" fill="hold"/>
                                        <p:tgtEl>
                                          <p:spTgt spid="101"/>
                                        </p:tgtEl>
                                        <p:attrNameLst>
                                          <p:attrName>ppt_h</p:attrName>
                                        </p:attrNameLst>
                                      </p:cBhvr>
                                      <p:tavLst>
                                        <p:tav tm="0">
                                          <p:val>
                                            <p:strVal val="#ppt_h*0.55"/>
                                          </p:val>
                                        </p:tav>
                                        <p:tav tm="100000">
                                          <p:val>
                                            <p:strVal val="#ppt_h"/>
                                          </p:val>
                                        </p:tav>
                                      </p:tavLst>
                                    </p:anim>
                                    <p:animEffect transition="in" filter="fade">
                                      <p:cBhvr>
                                        <p:cTn id="104" dur="500"/>
                                        <p:tgtEl>
                                          <p:spTgt spid="101"/>
                                        </p:tgtEl>
                                      </p:cBhvr>
                                    </p:animEffect>
                                  </p:childTnLst>
                                </p:cTn>
                              </p:par>
                              <p:par>
                                <p:cTn id="105" presetID="53" presetClass="entr" presetSubtype="16" fill="hold" grpId="0" nodeType="withEffect">
                                  <p:stCondLst>
                                    <p:cond delay="0"/>
                                  </p:stCondLst>
                                  <p:childTnLst>
                                    <p:set>
                                      <p:cBhvr>
                                        <p:cTn id="106" dur="1" fill="hold">
                                          <p:stCondLst>
                                            <p:cond delay="0"/>
                                          </p:stCondLst>
                                        </p:cTn>
                                        <p:tgtEl>
                                          <p:spTgt spid="102"/>
                                        </p:tgtEl>
                                        <p:attrNameLst>
                                          <p:attrName>style.visibility</p:attrName>
                                        </p:attrNameLst>
                                      </p:cBhvr>
                                      <p:to>
                                        <p:strVal val="visible"/>
                                      </p:to>
                                    </p:set>
                                    <p:anim calcmode="lin" valueType="num">
                                      <p:cBhvr additive="base">
                                        <p:cTn id="107"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08" dur="500" decel="100000" fill="hold"/>
                                        <p:tgtEl>
                                          <p:spTgt spid="102"/>
                                        </p:tgtEl>
                                        <p:attrNameLst>
                                          <p:attrName>ppt_h</p:attrName>
                                        </p:attrNameLst>
                                      </p:cBhvr>
                                      <p:tavLst>
                                        <p:tav tm="0">
                                          <p:val>
                                            <p:strVal val="#ppt_h*0.55"/>
                                          </p:val>
                                        </p:tav>
                                        <p:tav tm="100000">
                                          <p:val>
                                            <p:strVal val="#ppt_h"/>
                                          </p:val>
                                        </p:tav>
                                      </p:tavLst>
                                    </p:anim>
                                    <p:animEffect transition="in" filter="fade">
                                      <p:cBhvr>
                                        <p:cTn id="109" dur="500"/>
                                        <p:tgtEl>
                                          <p:spTgt spid="102"/>
                                        </p:tgtEl>
                                      </p:cBhvr>
                                    </p:animEffect>
                                  </p:childTnLst>
                                </p:cTn>
                              </p:par>
                              <p:par>
                                <p:cTn id="110" presetID="53" presetClass="entr" presetSubtype="16" fill="hold" grpId="0" nodeType="withEffect">
                                  <p:stCondLst>
                                    <p:cond delay="0"/>
                                  </p:stCondLst>
                                  <p:childTnLst>
                                    <p:set>
                                      <p:cBhvr>
                                        <p:cTn id="111" dur="1" fill="hold">
                                          <p:stCondLst>
                                            <p:cond delay="0"/>
                                          </p:stCondLst>
                                        </p:cTn>
                                        <p:tgtEl>
                                          <p:spTgt spid="103"/>
                                        </p:tgtEl>
                                        <p:attrNameLst>
                                          <p:attrName>style.visibility</p:attrName>
                                        </p:attrNameLst>
                                      </p:cBhvr>
                                      <p:to>
                                        <p:strVal val="visible"/>
                                      </p:to>
                                    </p:set>
                                    <p:anim calcmode="lin" valueType="num">
                                      <p:cBhvr additive="base">
                                        <p:cTn id="112"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13" dur="500" decel="100000" fill="hold"/>
                                        <p:tgtEl>
                                          <p:spTgt spid="103"/>
                                        </p:tgtEl>
                                        <p:attrNameLst>
                                          <p:attrName>ppt_h</p:attrName>
                                        </p:attrNameLst>
                                      </p:cBhvr>
                                      <p:tavLst>
                                        <p:tav tm="0">
                                          <p:val>
                                            <p:strVal val="#ppt_h*0.55"/>
                                          </p:val>
                                        </p:tav>
                                        <p:tav tm="100000">
                                          <p:val>
                                            <p:strVal val="#ppt_h"/>
                                          </p:val>
                                        </p:tav>
                                      </p:tavLst>
                                    </p:anim>
                                    <p:animEffect transition="in" filter="fade">
                                      <p:cBhvr>
                                        <p:cTn id="114" dur="500"/>
                                        <p:tgtEl>
                                          <p:spTgt spid="103"/>
                                        </p:tgtEl>
                                      </p:cBhvr>
                                    </p:animEffect>
                                  </p:childTnLst>
                                </p:cTn>
                              </p:par>
                            </p:childTnLst>
                          </p:cTn>
                        </p:par>
                      </p:childTnLst>
                    </p:cTn>
                  </p:par>
                  <p:par>
                    <p:cTn id="115" fill="hold">
                      <p:stCondLst>
                        <p:cond delay="indefinite"/>
                      </p:stCondLst>
                      <p:childTnLst>
                        <p:par>
                          <p:cTn id="116" fill="hold">
                            <p:stCondLst>
                              <p:cond delay="0"/>
                            </p:stCondLst>
                            <p:childTnLst>
                              <p:par>
                                <p:cTn id="117" presetID="53" presetClass="entr" presetSubtype="16" fill="hold" grpId="0" nodeType="clickEffect">
                                  <p:stCondLst>
                                    <p:cond delay="0"/>
                                  </p:stCondLst>
                                  <p:childTnLst>
                                    <p:set>
                                      <p:cBhvr>
                                        <p:cTn id="118" dur="1" fill="hold">
                                          <p:stCondLst>
                                            <p:cond delay="0"/>
                                          </p:stCondLst>
                                        </p:cTn>
                                        <p:tgtEl>
                                          <p:spTgt spid="128"/>
                                        </p:tgtEl>
                                        <p:attrNameLst>
                                          <p:attrName>style.visibility</p:attrName>
                                        </p:attrNameLst>
                                      </p:cBhvr>
                                      <p:to>
                                        <p:strVal val="visible"/>
                                      </p:to>
                                    </p:set>
                                    <p:anim calcmode="lin" valueType="num">
                                      <p:cBhvr additive="base">
                                        <p:cTn id="119" dur="500" decel="100000" fill="hold"/>
                                        <p:tgtEl>
                                          <p:spTgt spid="128"/>
                                        </p:tgtEl>
                                        <p:attrNameLst>
                                          <p:attrName>ppt_w</p:attrName>
                                        </p:attrNameLst>
                                      </p:cBhvr>
                                      <p:tavLst>
                                        <p:tav tm="0">
                                          <p:val>
                                            <p:strVal val="#ppt_w*0.3"/>
                                          </p:val>
                                        </p:tav>
                                        <p:tav tm="100000">
                                          <p:val>
                                            <p:strVal val="#ppt_w*1.08"/>
                                          </p:val>
                                        </p:tav>
                                      </p:tavLst>
                                    </p:anim>
                                    <p:anim calcmode="lin" valueType="num">
                                      <p:cBhvr additive="base">
                                        <p:cTn id="120" dur="500" decel="100000" fill="hold"/>
                                        <p:tgtEl>
                                          <p:spTgt spid="128"/>
                                        </p:tgtEl>
                                        <p:attrNameLst>
                                          <p:attrName>ppt_h</p:attrName>
                                        </p:attrNameLst>
                                      </p:cBhvr>
                                      <p:tavLst>
                                        <p:tav tm="0">
                                          <p:val>
                                            <p:strVal val="#ppt_h*0.3"/>
                                          </p:val>
                                        </p:tav>
                                        <p:tav tm="100000">
                                          <p:val>
                                            <p:strVal val="#ppt_h*1.08"/>
                                          </p:val>
                                        </p:tav>
                                      </p:tavLst>
                                    </p:anim>
                                    <p:animEffect transition="in" filter="fade">
                                      <p:cBhvr>
                                        <p:cTn id="121" dur="250"/>
                                        <p:tgtEl>
                                          <p:spTgt spid="128"/>
                                        </p:tgtEl>
                                      </p:cBhvr>
                                    </p:animEffect>
                                    <p:anim calcmode="lin" valueType="num">
                                      <p:cBhvr additive="base">
                                        <p:cTn id="122" dur="160" fill="hold">
                                          <p:stCondLst>
                                            <p:cond delay="500"/>
                                          </p:stCondLst>
                                        </p:cTn>
                                        <p:tgtEl>
                                          <p:spTgt spid="128"/>
                                        </p:tgtEl>
                                        <p:attrNameLst>
                                          <p:attrName>ppt_w</p:attrName>
                                        </p:attrNameLst>
                                      </p:cBhvr>
                                      <p:tavLst>
                                        <p:tav tm="0">
                                          <p:val>
                                            <p:strVal val="#ppt_w*1.08"/>
                                          </p:val>
                                        </p:tav>
                                        <p:tav tm="100000">
                                          <p:val>
                                            <p:strVal val="#ppt_w"/>
                                          </p:val>
                                        </p:tav>
                                      </p:tavLst>
                                    </p:anim>
                                    <p:anim calcmode="lin" valueType="num">
                                      <p:cBhvr additive="base">
                                        <p:cTn id="123" dur="160" fill="hold">
                                          <p:stCondLst>
                                            <p:cond delay="500"/>
                                          </p:stCondLst>
                                        </p:cTn>
                                        <p:tgtEl>
                                          <p:spTgt spid="128"/>
                                        </p:tgtEl>
                                        <p:attrNameLst>
                                          <p:attrName>ppt_h</p:attrName>
                                        </p:attrNameLst>
                                      </p:cBhvr>
                                      <p:tavLst>
                                        <p:tav tm="0">
                                          <p:val>
                                            <p:strVal val="#ppt_h*1.08"/>
                                          </p:val>
                                        </p:tav>
                                        <p:tav tm="100000">
                                          <p:val>
                                            <p:strVal val="#ppt_h"/>
                                          </p:val>
                                        </p:tav>
                                      </p:tavLst>
                                    </p:anim>
                                  </p:childTnLst>
                                </p:cTn>
                              </p:par>
                              <p:par>
                                <p:cTn id="124" presetID="42" presetClass="entr" presetSubtype="0" fill="hold" grpId="0" nodeType="withEffect">
                                  <p:stCondLst>
                                    <p:cond delay="150"/>
                                  </p:stCondLst>
                                  <p:childTnLst>
                                    <p:set>
                                      <p:cBhvr>
                                        <p:cTn id="125" dur="1" fill="hold">
                                          <p:stCondLst>
                                            <p:cond delay="0"/>
                                          </p:stCondLst>
                                        </p:cTn>
                                        <p:tgtEl>
                                          <p:spTgt spid="125"/>
                                        </p:tgtEl>
                                        <p:attrNameLst>
                                          <p:attrName>style.visibility</p:attrName>
                                        </p:attrNameLst>
                                      </p:cBhvr>
                                      <p:to>
                                        <p:strVal val="visible"/>
                                      </p:to>
                                    </p:set>
                                    <p:animEffect transition="in" filter="fade">
                                      <p:cBhvr>
                                        <p:cTn id="126" dur="500"/>
                                        <p:tgtEl>
                                          <p:spTgt spid="125"/>
                                        </p:tgtEl>
                                      </p:cBhvr>
                                    </p:animEffect>
                                    <p:anim calcmode="lin" valueType="num">
                                      <p:cBhvr additive="base">
                                        <p:cTn id="127" dur="500" decel="100000" fill="hold"/>
                                        <p:tgtEl>
                                          <p:spTgt spid="125"/>
                                        </p:tgtEl>
                                        <p:attrNameLst>
                                          <p:attrName>ppt_y</p:attrName>
                                        </p:attrNameLst>
                                      </p:cBhvr>
                                      <p:tavLst>
                                        <p:tav tm="0">
                                          <p:val>
                                            <p:strVal val="#ppt_y+0.06"/>
                                          </p:val>
                                        </p:tav>
                                        <p:tav tm="100000">
                                          <p:val>
                                            <p:strVal val="#ppt_y"/>
                                          </p:val>
                                        </p:tav>
                                      </p:tavLst>
                                    </p:anim>
                                  </p:childTnLst>
                                </p:cTn>
                              </p:par>
                            </p:childTnLst>
                          </p:cTn>
                        </p:par>
                      </p:childTnLst>
                    </p:cTn>
                  </p:par>
                  <p:par>
                    <p:cTn id="128" fill="hold">
                      <p:stCondLst>
                        <p:cond delay="indefinite"/>
                      </p:stCondLst>
                      <p:childTnLst>
                        <p:par>
                          <p:cTn id="129" fill="hold">
                            <p:stCondLst>
                              <p:cond delay="0"/>
                            </p:stCondLst>
                            <p:childTnLst>
                              <p:par>
                                <p:cTn id="130" presetID="53" presetClass="entr" presetSubtype="16" fill="hold" grpId="0" nodeType="clickEffect">
                                  <p:stCondLst>
                                    <p:cond delay="0"/>
                                  </p:stCondLst>
                                  <p:childTnLst>
                                    <p:set>
                                      <p:cBhvr>
                                        <p:cTn id="131" dur="1" fill="hold">
                                          <p:stCondLst>
                                            <p:cond delay="0"/>
                                          </p:stCondLst>
                                        </p:cTn>
                                        <p:tgtEl>
                                          <p:spTgt spid="129"/>
                                        </p:tgtEl>
                                        <p:attrNameLst>
                                          <p:attrName>style.visibility</p:attrName>
                                        </p:attrNameLst>
                                      </p:cBhvr>
                                      <p:to>
                                        <p:strVal val="visible"/>
                                      </p:to>
                                    </p:set>
                                    <p:anim calcmode="lin" valueType="num">
                                      <p:cBhvr additive="base">
                                        <p:cTn id="132" dur="500" decel="100000" fill="hold"/>
                                        <p:tgtEl>
                                          <p:spTgt spid="129"/>
                                        </p:tgtEl>
                                        <p:attrNameLst>
                                          <p:attrName>ppt_w</p:attrName>
                                        </p:attrNameLst>
                                      </p:cBhvr>
                                      <p:tavLst>
                                        <p:tav tm="0">
                                          <p:val>
                                            <p:strVal val="#ppt_w*0.3"/>
                                          </p:val>
                                        </p:tav>
                                        <p:tav tm="100000">
                                          <p:val>
                                            <p:strVal val="#ppt_w*1.08"/>
                                          </p:val>
                                        </p:tav>
                                      </p:tavLst>
                                    </p:anim>
                                    <p:anim calcmode="lin" valueType="num">
                                      <p:cBhvr additive="base">
                                        <p:cTn id="133" dur="500" decel="100000" fill="hold"/>
                                        <p:tgtEl>
                                          <p:spTgt spid="129"/>
                                        </p:tgtEl>
                                        <p:attrNameLst>
                                          <p:attrName>ppt_h</p:attrName>
                                        </p:attrNameLst>
                                      </p:cBhvr>
                                      <p:tavLst>
                                        <p:tav tm="0">
                                          <p:val>
                                            <p:strVal val="#ppt_h*0.3"/>
                                          </p:val>
                                        </p:tav>
                                        <p:tav tm="100000">
                                          <p:val>
                                            <p:strVal val="#ppt_h*1.08"/>
                                          </p:val>
                                        </p:tav>
                                      </p:tavLst>
                                    </p:anim>
                                    <p:animEffect transition="in" filter="fade">
                                      <p:cBhvr>
                                        <p:cTn id="134" dur="250"/>
                                        <p:tgtEl>
                                          <p:spTgt spid="129"/>
                                        </p:tgtEl>
                                      </p:cBhvr>
                                    </p:animEffect>
                                    <p:anim calcmode="lin" valueType="num">
                                      <p:cBhvr additive="base">
                                        <p:cTn id="135" dur="160" fill="hold">
                                          <p:stCondLst>
                                            <p:cond delay="500"/>
                                          </p:stCondLst>
                                        </p:cTn>
                                        <p:tgtEl>
                                          <p:spTgt spid="129"/>
                                        </p:tgtEl>
                                        <p:attrNameLst>
                                          <p:attrName>ppt_w</p:attrName>
                                        </p:attrNameLst>
                                      </p:cBhvr>
                                      <p:tavLst>
                                        <p:tav tm="0">
                                          <p:val>
                                            <p:strVal val="#ppt_w*1.08"/>
                                          </p:val>
                                        </p:tav>
                                        <p:tav tm="100000">
                                          <p:val>
                                            <p:strVal val="#ppt_w"/>
                                          </p:val>
                                        </p:tav>
                                      </p:tavLst>
                                    </p:anim>
                                    <p:anim calcmode="lin" valueType="num">
                                      <p:cBhvr additive="base">
                                        <p:cTn id="136" dur="160" fill="hold">
                                          <p:stCondLst>
                                            <p:cond delay="500"/>
                                          </p:stCondLst>
                                        </p:cTn>
                                        <p:tgtEl>
                                          <p:spTgt spid="129"/>
                                        </p:tgtEl>
                                        <p:attrNameLst>
                                          <p:attrName>ppt_h</p:attrName>
                                        </p:attrNameLst>
                                      </p:cBhvr>
                                      <p:tavLst>
                                        <p:tav tm="0">
                                          <p:val>
                                            <p:strVal val="#ppt_h*1.08"/>
                                          </p:val>
                                        </p:tav>
                                        <p:tav tm="100000">
                                          <p:val>
                                            <p:strVal val="#ppt_h"/>
                                          </p:val>
                                        </p:tav>
                                      </p:tavLst>
                                    </p:anim>
                                  </p:childTnLst>
                                </p:cTn>
                              </p:par>
                              <p:par>
                                <p:cTn id="137" presetID="42" presetClass="entr" presetSubtype="0" fill="hold" grpId="0" nodeType="withEffect">
                                  <p:stCondLst>
                                    <p:cond delay="150"/>
                                  </p:stCondLst>
                                  <p:childTnLst>
                                    <p:set>
                                      <p:cBhvr>
                                        <p:cTn id="138" dur="1" fill="hold">
                                          <p:stCondLst>
                                            <p:cond delay="0"/>
                                          </p:stCondLst>
                                        </p:cTn>
                                        <p:tgtEl>
                                          <p:spTgt spid="126"/>
                                        </p:tgtEl>
                                        <p:attrNameLst>
                                          <p:attrName>style.visibility</p:attrName>
                                        </p:attrNameLst>
                                      </p:cBhvr>
                                      <p:to>
                                        <p:strVal val="visible"/>
                                      </p:to>
                                    </p:set>
                                    <p:animEffect transition="in" filter="fade">
                                      <p:cBhvr>
                                        <p:cTn id="139" dur="500"/>
                                        <p:tgtEl>
                                          <p:spTgt spid="126"/>
                                        </p:tgtEl>
                                      </p:cBhvr>
                                    </p:animEffect>
                                    <p:anim calcmode="lin" valueType="num">
                                      <p:cBhvr additive="base">
                                        <p:cTn id="140" dur="500" decel="100000" fill="hold"/>
                                        <p:tgtEl>
                                          <p:spTgt spid="126"/>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068019"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FLAKY TESTS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Problem: Passes Alone, Fails in the Full Run</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Static counters and random values make the result depend on other tests.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TESTABLE CODE</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145</a:t>
            </a:r>
            <a:endParaRPr lang="en-US" sz="850" dirty="0"/>
          </a:p>
        </p:txBody>
      </p:sp>
      <p:sp>
        <p:nvSpPr>
          <p:cNvPr id="101" name="s101"/>
          <p:cNvSpPr txBox="1"/>
          <p:nvPr/>
        </p:nvSpPr>
        <p:spPr>
          <a:xfrm>
            <a:off x="543154" y="1810512"/>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87171"/>
                </a:solidFill>
                <a:latin typeface="Segoe UI"/>
                <a:ea typeface="Segoe UI"/>
                <a:cs typeface="Segoe UI"/>
              </a:rPr>
              <a:t>✗  DON'T</a:t>
            </a:r>
            <a:endParaRPr lang="en-US" sz="1050" dirty="0"/>
          </a:p>
        </p:txBody>
      </p:sp>
      <p:sp>
        <p:nvSpPr>
          <p:cNvPr id="102" name="s102"/>
          <p:cNvSpPr/>
          <p:nvPr/>
        </p:nvSpPr>
        <p:spPr>
          <a:xfrm>
            <a:off x="543154" y="2084832"/>
            <a:ext cx="5349240" cy="29260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157984"/>
            <a:ext cx="2317090"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Invoice.cs + InvoiceTests.cs</a:t>
            </a:r>
            <a:endParaRPr lang="en-US" sz="950" dirty="0"/>
          </a:p>
        </p:txBody>
      </p:sp>
      <p:cxnSp>
        <p:nvCxnSpPr>
          <p:cNvPr id="107" name="ln107"/>
          <p:cNvCxnSpPr/>
          <p:nvPr/>
        </p:nvCxnSpPr>
        <p:spPr>
          <a:xfrm>
            <a:off x="543154" y="2496312"/>
            <a:ext cx="5349240" cy="0"/>
          </a:xfrm>
          <a:prstGeom prst="line">
            <a:avLst/>
          </a:prstGeom>
          <a:ln w="9525">
            <a:solidFill>
              <a:srgbClr val="1E3A5F"/>
            </a:solidFill>
          </a:ln>
        </p:spPr>
      </p:cxnSp>
      <p:sp>
        <p:nvSpPr>
          <p:cNvPr id="108" name="s108"/>
          <p:cNvSpPr/>
          <p:nvPr/>
        </p:nvSpPr>
        <p:spPr>
          <a:xfrm>
            <a:off x="543154" y="261518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60A5FA"/>
                </a:solidFill>
                <a:latin typeface="Consolas"/>
                <a:ea typeface="Consolas"/>
                <a:cs typeface="Consolas"/>
              </a:rPr>
              <a:t>public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class</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Invoice</a:t>
            </a:r>
            <a:endParaRPr lang="en-US" sz="1050" dirty="0"/>
          </a:p>
        </p:txBody>
      </p:sp>
      <p:sp>
        <p:nvSpPr>
          <p:cNvPr id="109" name="s109"/>
          <p:cNvSpPr/>
          <p:nvPr/>
        </p:nvSpPr>
        <p:spPr>
          <a:xfrm>
            <a:off x="543154" y="277520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10" name="s110"/>
          <p:cNvSpPr/>
          <p:nvPr/>
        </p:nvSpPr>
        <p:spPr>
          <a:xfrm>
            <a:off x="543154" y="293522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private</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static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int</a:t>
            </a:r>
            <a:r>
              <a:rPr lang="en-US" sz="1050" b="0" dirty="0">
                <a:solidFill>
                  <a:srgbClr val="E2E8F0"/>
                </a:solidFill>
                <a:latin typeface="Consolas"/>
                <a:ea typeface="Consolas"/>
                <a:cs typeface="Consolas"/>
              </a:rPr>
              <a:t> _next = </a:t>
            </a:r>
            <a:r>
              <a:rPr lang="en-US" sz="1050" b="0" dirty="0">
                <a:solidFill>
                  <a:srgbClr val="C4B5FD"/>
                </a:solidFill>
                <a:latin typeface="Consolas"/>
                <a:ea typeface="Consolas"/>
                <a:cs typeface="Consolas"/>
              </a:rPr>
              <a:t>1</a:t>
            </a:r>
            <a:r>
              <a:rPr lang="en-US" sz="1050" b="0" dirty="0">
                <a:solidFill>
                  <a:srgbClr val="E2E8F0"/>
                </a:solidFill>
                <a:latin typeface="Consolas"/>
                <a:ea typeface="Consolas"/>
                <a:cs typeface="Consolas"/>
              </a:rPr>
              <a:t>;</a:t>
            </a:r>
            <a:endParaRPr lang="en-US" sz="1050" dirty="0"/>
          </a:p>
        </p:txBody>
      </p:sp>
      <p:sp>
        <p:nvSpPr>
          <p:cNvPr id="111" name="s111"/>
          <p:cNvSpPr/>
          <p:nvPr/>
        </p:nvSpPr>
        <p:spPr>
          <a:xfrm>
            <a:off x="543154" y="309524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public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int</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Number</a:t>
            </a:r>
            <a:r>
              <a:rPr lang="en-US" sz="1050" b="0" dirty="0">
                <a:solidFill>
                  <a:srgbClr val="E2E8F0"/>
                </a:solidFill>
                <a:latin typeface="Consolas"/>
                <a:ea typeface="Consolas"/>
                <a:cs typeface="Consolas"/>
              </a:rPr>
              <a:t> { </a:t>
            </a:r>
            <a:r>
              <a:rPr lang="en-US" sz="1050" b="0" dirty="0">
                <a:solidFill>
                  <a:srgbClr val="60A5FA"/>
                </a:solidFill>
                <a:latin typeface="Consolas"/>
                <a:ea typeface="Consolas"/>
                <a:cs typeface="Consolas"/>
              </a:rPr>
              <a:t>get</a:t>
            </a:r>
            <a:r>
              <a:rPr lang="en-US" sz="1050" b="0" dirty="0">
                <a:solidFill>
                  <a:srgbClr val="E2E8F0"/>
                </a:solidFill>
                <a:latin typeface="Consolas"/>
                <a:ea typeface="Consolas"/>
                <a:cs typeface="Consolas"/>
              </a:rPr>
              <a:t>; } = _next++;</a:t>
            </a:r>
            <a:endParaRPr lang="en-US" sz="1050" dirty="0"/>
          </a:p>
        </p:txBody>
      </p:sp>
      <p:sp>
        <p:nvSpPr>
          <p:cNvPr id="112" name="s112"/>
          <p:cNvSpPr/>
          <p:nvPr/>
        </p:nvSpPr>
        <p:spPr>
          <a:xfrm>
            <a:off x="543154" y="325526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public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string</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PaymentCode</a:t>
            </a:r>
            <a:r>
              <a:rPr lang="en-US" sz="1050" b="0" dirty="0">
                <a:solidFill>
                  <a:srgbClr val="E2E8F0"/>
                </a:solidFill>
                <a:latin typeface="Consolas"/>
                <a:ea typeface="Consolas"/>
                <a:cs typeface="Consolas"/>
              </a:rPr>
              <a:t> { </a:t>
            </a:r>
            <a:r>
              <a:rPr lang="en-US" sz="1050" b="0" dirty="0">
                <a:solidFill>
                  <a:srgbClr val="60A5FA"/>
                </a:solidFill>
                <a:latin typeface="Consolas"/>
                <a:ea typeface="Consolas"/>
                <a:cs typeface="Consolas"/>
              </a:rPr>
              <a:t>get</a:t>
            </a:r>
            <a:r>
              <a:rPr lang="en-US" sz="1050" b="0" dirty="0">
                <a:solidFill>
                  <a:srgbClr val="E2E8F0"/>
                </a:solidFill>
                <a:latin typeface="Consolas"/>
                <a:ea typeface="Consolas"/>
                <a:cs typeface="Consolas"/>
              </a:rPr>
              <a:t>; } =</a:t>
            </a:r>
            <a:endParaRPr lang="en-US" sz="1050" dirty="0"/>
          </a:p>
        </p:txBody>
      </p:sp>
      <p:sp>
        <p:nvSpPr>
          <p:cNvPr id="113" name="s113"/>
          <p:cNvSpPr/>
          <p:nvPr/>
        </p:nvSpPr>
        <p:spPr>
          <a:xfrm>
            <a:off x="543154" y="341528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Random</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Shared</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Next</a:t>
            </a:r>
            <a:r>
              <a:rPr lang="en-US" sz="1050" b="0" dirty="0">
                <a:solidFill>
                  <a:srgbClr val="E2E8F0"/>
                </a:solidFill>
                <a:latin typeface="Consolas"/>
                <a:ea typeface="Consolas"/>
                <a:cs typeface="Consolas"/>
              </a:rPr>
              <a:t>(</a:t>
            </a:r>
            <a:r>
              <a:rPr lang="en-US" sz="1050" b="0" dirty="0">
                <a:solidFill>
                  <a:srgbClr val="C4B5FD"/>
                </a:solidFill>
                <a:latin typeface="Consolas"/>
                <a:ea typeface="Consolas"/>
                <a:cs typeface="Consolas"/>
              </a:rPr>
              <a:t>1000</a:t>
            </a:r>
            <a:r>
              <a:rPr lang="en-US" sz="1050" b="0" dirty="0">
                <a:solidFill>
                  <a:srgbClr val="E2E8F0"/>
                </a:solidFill>
                <a:latin typeface="Consolas"/>
                <a:ea typeface="Consolas"/>
                <a:cs typeface="Consolas"/>
              </a:rPr>
              <a:t>, </a:t>
            </a:r>
            <a:r>
              <a:rPr lang="en-US" sz="1050" b="0" dirty="0">
                <a:solidFill>
                  <a:srgbClr val="C4B5FD"/>
                </a:solidFill>
                <a:latin typeface="Consolas"/>
                <a:ea typeface="Consolas"/>
                <a:cs typeface="Consolas"/>
              </a:rPr>
              <a:t>10000</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ToString</a:t>
            </a:r>
            <a:r>
              <a:rPr lang="en-US" sz="1050" b="0" dirty="0">
                <a:solidFill>
                  <a:srgbClr val="E2E8F0"/>
                </a:solidFill>
                <a:latin typeface="Consolas"/>
                <a:ea typeface="Consolas"/>
                <a:cs typeface="Consolas"/>
              </a:rPr>
              <a:t>();</a:t>
            </a:r>
            <a:endParaRPr lang="en-US" sz="1050" dirty="0"/>
          </a:p>
        </p:txBody>
      </p:sp>
      <p:sp>
        <p:nvSpPr>
          <p:cNvPr id="114" name="s114"/>
          <p:cNvSpPr/>
          <p:nvPr/>
        </p:nvSpPr>
        <p:spPr>
          <a:xfrm>
            <a:off x="543154" y="357530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15" name="s115"/>
          <p:cNvSpPr/>
          <p:nvPr/>
        </p:nvSpPr>
        <p:spPr>
          <a:xfrm>
            <a:off x="543154" y="389534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FBBF24"/>
                </a:solidFill>
                <a:latin typeface="Consolas"/>
                <a:ea typeface="Consolas"/>
                <a:cs typeface="Consolas"/>
              </a:rPr>
              <a:t>[Fact]</a:t>
            </a:r>
            <a:endParaRPr lang="en-US" sz="1050" dirty="0"/>
          </a:p>
        </p:txBody>
      </p:sp>
      <p:sp>
        <p:nvSpPr>
          <p:cNvPr id="116" name="s116"/>
          <p:cNvSpPr/>
          <p:nvPr/>
        </p:nvSpPr>
        <p:spPr>
          <a:xfrm>
            <a:off x="543154" y="405536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60A5FA"/>
                </a:solidFill>
                <a:latin typeface="Consolas"/>
                <a:ea typeface="Consolas"/>
                <a:cs typeface="Consolas"/>
              </a:rPr>
              <a:t>public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void</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FirstInvoice_IsNumber1</a:t>
            </a:r>
            <a:r>
              <a:rPr lang="en-US" sz="1050" b="0" dirty="0">
                <a:solidFill>
                  <a:srgbClr val="E2E8F0"/>
                </a:solidFill>
                <a:latin typeface="Consolas"/>
                <a:ea typeface="Consolas"/>
                <a:cs typeface="Consolas"/>
              </a:rPr>
              <a:t>()</a:t>
            </a:r>
            <a:endParaRPr lang="en-US" sz="1050" dirty="0"/>
          </a:p>
        </p:txBody>
      </p:sp>
      <p:sp>
        <p:nvSpPr>
          <p:cNvPr id="117" name="s117"/>
          <p:cNvSpPr/>
          <p:nvPr/>
        </p:nvSpPr>
        <p:spPr>
          <a:xfrm>
            <a:off x="543154" y="421538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18" name="s118"/>
          <p:cNvSpPr/>
          <p:nvPr/>
        </p:nvSpPr>
        <p:spPr>
          <a:xfrm>
            <a:off x="543154" y="437540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new</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Invoice</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Number</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ShouldBe</a:t>
            </a:r>
            <a:r>
              <a:rPr lang="en-US" sz="1050" b="0" dirty="0">
                <a:solidFill>
                  <a:srgbClr val="E2E8F0"/>
                </a:solidFill>
                <a:latin typeface="Consolas"/>
                <a:ea typeface="Consolas"/>
                <a:cs typeface="Consolas"/>
              </a:rPr>
              <a:t>(</a:t>
            </a:r>
            <a:r>
              <a:rPr lang="en-US" sz="1050" b="0" dirty="0">
                <a:solidFill>
                  <a:srgbClr val="C4B5FD"/>
                </a:solidFill>
                <a:latin typeface="Consolas"/>
                <a:ea typeface="Consolas"/>
                <a:cs typeface="Consolas"/>
              </a:rPr>
              <a:t>1</a:t>
            </a:r>
            <a:r>
              <a:rPr lang="en-US" sz="1050" b="0" dirty="0">
                <a:solidFill>
                  <a:srgbClr val="E2E8F0"/>
                </a:solidFill>
                <a:latin typeface="Consolas"/>
                <a:ea typeface="Consolas"/>
                <a:cs typeface="Consolas"/>
              </a:rPr>
              <a:t>);          </a:t>
            </a:r>
            <a:r>
              <a:rPr lang="en-US" sz="1050" b="0" dirty="0">
                <a:solidFill>
                  <a:srgbClr val="6FAE7A"/>
                </a:solidFill>
                <a:latin typeface="Consolas"/>
                <a:ea typeface="Consolas"/>
                <a:cs typeface="Consolas"/>
              </a:rPr>
              <a:t>// test order!</a:t>
            </a:r>
            <a:endParaRPr lang="en-US" sz="1050" dirty="0"/>
          </a:p>
        </p:txBody>
      </p:sp>
      <p:sp>
        <p:nvSpPr>
          <p:cNvPr id="119" name="s119"/>
          <p:cNvSpPr/>
          <p:nvPr/>
        </p:nvSpPr>
        <p:spPr>
          <a:xfrm>
            <a:off x="543154" y="453542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new</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Invoice</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PaymentCode</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ShouldBe</a:t>
            </a:r>
            <a:r>
              <a:rPr lang="en-US" sz="1050" b="0" dirty="0">
                <a:solidFill>
                  <a:srgbClr val="E2E8F0"/>
                </a:solidFill>
                <a:latin typeface="Consolas"/>
                <a:ea typeface="Consolas"/>
                <a:cs typeface="Consolas"/>
              </a:rPr>
              <a:t>(</a:t>
            </a:r>
            <a:r>
              <a:rPr lang="en-US" sz="1050" b="0" dirty="0">
                <a:solidFill>
                  <a:srgbClr val="F0A98B"/>
                </a:solidFill>
                <a:latin typeface="Consolas"/>
                <a:ea typeface="Consolas"/>
                <a:cs typeface="Consolas"/>
              </a:rPr>
              <a:t>"4821"</a:t>
            </a:r>
            <a:r>
              <a:rPr lang="en-US" sz="1050" b="0" dirty="0">
                <a:solidFill>
                  <a:srgbClr val="E2E8F0"/>
                </a:solidFill>
                <a:latin typeface="Consolas"/>
                <a:ea typeface="Consolas"/>
                <a:cs typeface="Consolas"/>
              </a:rPr>
              <a:t>);  </a:t>
            </a:r>
            <a:r>
              <a:rPr lang="en-US" sz="1050" b="0" dirty="0">
                <a:solidFill>
                  <a:srgbClr val="6FAE7A"/>
                </a:solidFill>
                <a:latin typeface="Consolas"/>
                <a:ea typeface="Consolas"/>
                <a:cs typeface="Consolas"/>
              </a:rPr>
              <a:t>// random!</a:t>
            </a:r>
            <a:endParaRPr lang="en-US" sz="1050" dirty="0"/>
          </a:p>
        </p:txBody>
      </p:sp>
      <p:sp>
        <p:nvSpPr>
          <p:cNvPr id="120" name="s120"/>
          <p:cNvSpPr/>
          <p:nvPr/>
        </p:nvSpPr>
        <p:spPr>
          <a:xfrm>
            <a:off x="543154" y="4695444"/>
            <a:ext cx="5349240"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21" name="s121"/>
          <p:cNvSpPr txBox="1"/>
          <p:nvPr/>
        </p:nvSpPr>
        <p:spPr>
          <a:xfrm>
            <a:off x="6120994" y="1810512"/>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34D399"/>
                </a:solidFill>
                <a:latin typeface="Segoe UI"/>
                <a:ea typeface="Segoe UI"/>
                <a:cs typeface="Segoe UI"/>
              </a:rPr>
              <a:t>✓  DO</a:t>
            </a:r>
            <a:endParaRPr lang="en-US" sz="1050" dirty="0"/>
          </a:p>
        </p:txBody>
      </p:sp>
      <p:sp>
        <p:nvSpPr>
          <p:cNvPr id="122" name="s122"/>
          <p:cNvSpPr/>
          <p:nvPr/>
        </p:nvSpPr>
        <p:spPr>
          <a:xfrm>
            <a:off x="6120994" y="2084832"/>
            <a:ext cx="5510174" cy="29260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3" name="s123"/>
          <p:cNvSpPr/>
          <p:nvPr/>
        </p:nvSpPr>
        <p:spPr>
          <a:xfrm>
            <a:off x="628558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4" name="s124"/>
          <p:cNvSpPr/>
          <p:nvPr/>
        </p:nvSpPr>
        <p:spPr>
          <a:xfrm>
            <a:off x="646846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5" name="s125"/>
          <p:cNvSpPr/>
          <p:nvPr/>
        </p:nvSpPr>
        <p:spPr>
          <a:xfrm>
            <a:off x="665134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6" name="s126"/>
          <p:cNvSpPr/>
          <p:nvPr/>
        </p:nvSpPr>
        <p:spPr>
          <a:xfrm>
            <a:off x="6898234" y="2157984"/>
            <a:ext cx="1389888"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InvoiceTests.cs</a:t>
            </a:r>
            <a:endParaRPr lang="en-US" sz="950" dirty="0"/>
          </a:p>
        </p:txBody>
      </p:sp>
      <p:cxnSp>
        <p:nvCxnSpPr>
          <p:cNvPr id="127" name="ln127"/>
          <p:cNvCxnSpPr/>
          <p:nvPr/>
        </p:nvCxnSpPr>
        <p:spPr>
          <a:xfrm>
            <a:off x="6120994" y="2496312"/>
            <a:ext cx="5510174" cy="0"/>
          </a:xfrm>
          <a:prstGeom prst="line">
            <a:avLst/>
          </a:prstGeom>
          <a:ln w="9525">
            <a:solidFill>
              <a:srgbClr val="1E3A5F"/>
            </a:solidFill>
          </a:ln>
        </p:spPr>
      </p:cxnSp>
      <p:sp>
        <p:nvSpPr>
          <p:cNvPr id="128" name="s128"/>
          <p:cNvSpPr/>
          <p:nvPr/>
        </p:nvSpPr>
        <p:spPr>
          <a:xfrm>
            <a:off x="6120994" y="261518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FBBF24"/>
                </a:solidFill>
                <a:latin typeface="Consolas"/>
                <a:ea typeface="Consolas"/>
                <a:cs typeface="Consolas"/>
              </a:rPr>
              <a:t>[Fact]</a:t>
            </a:r>
            <a:endParaRPr lang="en-US" sz="1050" dirty="0"/>
          </a:p>
        </p:txBody>
      </p:sp>
      <p:sp>
        <p:nvSpPr>
          <p:cNvPr id="129" name="s129"/>
          <p:cNvSpPr/>
          <p:nvPr/>
        </p:nvSpPr>
        <p:spPr>
          <a:xfrm>
            <a:off x="6120994" y="277520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60A5FA"/>
                </a:solidFill>
                <a:latin typeface="Consolas"/>
                <a:ea typeface="Consolas"/>
                <a:cs typeface="Consolas"/>
              </a:rPr>
              <a:t>public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void</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NewInvoices_GetIncreasingNumbers</a:t>
            </a:r>
            <a:r>
              <a:rPr lang="en-US" sz="1050" b="0" dirty="0">
                <a:solidFill>
                  <a:srgbClr val="E2E8F0"/>
                </a:solidFill>
                <a:latin typeface="Consolas"/>
                <a:ea typeface="Consolas"/>
                <a:cs typeface="Consolas"/>
              </a:rPr>
              <a:t>()</a:t>
            </a:r>
            <a:endParaRPr lang="en-US" sz="1050" dirty="0"/>
          </a:p>
        </p:txBody>
      </p:sp>
      <p:sp>
        <p:nvSpPr>
          <p:cNvPr id="130" name="s130"/>
          <p:cNvSpPr/>
          <p:nvPr/>
        </p:nvSpPr>
        <p:spPr>
          <a:xfrm>
            <a:off x="6120994" y="293522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31" name="s131"/>
          <p:cNvSpPr/>
          <p:nvPr/>
        </p:nvSpPr>
        <p:spPr>
          <a:xfrm>
            <a:off x="6120994" y="309524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var</a:t>
            </a:r>
            <a:r>
              <a:rPr lang="en-US" sz="1050" b="0" dirty="0">
                <a:solidFill>
                  <a:srgbClr val="E2E8F0"/>
                </a:solidFill>
                <a:latin typeface="Consolas"/>
                <a:ea typeface="Consolas"/>
                <a:cs typeface="Consolas"/>
              </a:rPr>
              <a:t> first = </a:t>
            </a:r>
            <a:r>
              <a:rPr lang="en-US" sz="1050" b="0" dirty="0">
                <a:solidFill>
                  <a:srgbClr val="60A5FA"/>
                </a:solidFill>
                <a:latin typeface="Consolas"/>
                <a:ea typeface="Consolas"/>
                <a:cs typeface="Consolas"/>
              </a:rPr>
              <a:t>new</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Invoice</a:t>
            </a:r>
            <a:r>
              <a:rPr lang="en-US" sz="1050" b="0" dirty="0">
                <a:solidFill>
                  <a:srgbClr val="E2E8F0"/>
                </a:solidFill>
                <a:latin typeface="Consolas"/>
                <a:ea typeface="Consolas"/>
                <a:cs typeface="Consolas"/>
              </a:rPr>
              <a:t>();</a:t>
            </a:r>
            <a:endParaRPr lang="en-US" sz="1050" dirty="0"/>
          </a:p>
        </p:txBody>
      </p:sp>
      <p:sp>
        <p:nvSpPr>
          <p:cNvPr id="132" name="s132"/>
          <p:cNvSpPr/>
          <p:nvPr/>
        </p:nvSpPr>
        <p:spPr>
          <a:xfrm>
            <a:off x="6120994" y="325526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var</a:t>
            </a:r>
            <a:r>
              <a:rPr lang="en-US" sz="1050" b="0" dirty="0">
                <a:solidFill>
                  <a:srgbClr val="E2E8F0"/>
                </a:solidFill>
                <a:latin typeface="Consolas"/>
                <a:ea typeface="Consolas"/>
                <a:cs typeface="Consolas"/>
              </a:rPr>
              <a:t> second = </a:t>
            </a:r>
            <a:r>
              <a:rPr lang="en-US" sz="1050" b="0" dirty="0">
                <a:solidFill>
                  <a:srgbClr val="60A5FA"/>
                </a:solidFill>
                <a:latin typeface="Consolas"/>
                <a:ea typeface="Consolas"/>
                <a:cs typeface="Consolas"/>
              </a:rPr>
              <a:t>new</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Invoice</a:t>
            </a:r>
            <a:r>
              <a:rPr lang="en-US" sz="1050" b="0" dirty="0">
                <a:solidFill>
                  <a:srgbClr val="E2E8F0"/>
                </a:solidFill>
                <a:latin typeface="Consolas"/>
                <a:ea typeface="Consolas"/>
                <a:cs typeface="Consolas"/>
              </a:rPr>
              <a:t>();</a:t>
            </a:r>
            <a:endParaRPr lang="en-US" sz="1050" dirty="0"/>
          </a:p>
        </p:txBody>
      </p:sp>
      <p:sp>
        <p:nvSpPr>
          <p:cNvPr id="133" name="s133"/>
          <p:cNvSpPr/>
          <p:nvPr/>
        </p:nvSpPr>
        <p:spPr>
          <a:xfrm>
            <a:off x="6120994" y="341528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second.</a:t>
            </a:r>
            <a:r>
              <a:rPr lang="en-US" sz="1050" b="0" dirty="0">
                <a:solidFill>
                  <a:srgbClr val="7DD3FC"/>
                </a:solidFill>
                <a:latin typeface="Consolas"/>
                <a:ea typeface="Consolas"/>
                <a:cs typeface="Consolas"/>
              </a:rPr>
              <a:t>Number</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ShouldBe</a:t>
            </a:r>
            <a:r>
              <a:rPr lang="en-US" sz="1050" b="0" dirty="0">
                <a:solidFill>
                  <a:srgbClr val="E2E8F0"/>
                </a:solidFill>
                <a:latin typeface="Consolas"/>
                <a:ea typeface="Consolas"/>
                <a:cs typeface="Consolas"/>
              </a:rPr>
              <a:t>(first.</a:t>
            </a:r>
            <a:r>
              <a:rPr lang="en-US" sz="1050" b="0" dirty="0">
                <a:solidFill>
                  <a:srgbClr val="7DD3FC"/>
                </a:solidFill>
                <a:latin typeface="Consolas"/>
                <a:ea typeface="Consolas"/>
                <a:cs typeface="Consolas"/>
              </a:rPr>
              <a:t>Number</a:t>
            </a:r>
            <a:r>
              <a:rPr lang="en-US" sz="1050" b="0" dirty="0">
                <a:solidFill>
                  <a:srgbClr val="E2E8F0"/>
                </a:solidFill>
                <a:latin typeface="Consolas"/>
                <a:ea typeface="Consolas"/>
                <a:cs typeface="Consolas"/>
              </a:rPr>
              <a:t> + </a:t>
            </a:r>
            <a:r>
              <a:rPr lang="en-US" sz="1050" b="0" dirty="0">
                <a:solidFill>
                  <a:srgbClr val="C4B5FD"/>
                </a:solidFill>
                <a:latin typeface="Consolas"/>
                <a:ea typeface="Consolas"/>
                <a:cs typeface="Consolas"/>
              </a:rPr>
              <a:t>1</a:t>
            </a:r>
            <a:r>
              <a:rPr lang="en-US" sz="1050" b="0" dirty="0">
                <a:solidFill>
                  <a:srgbClr val="E2E8F0"/>
                </a:solidFill>
                <a:latin typeface="Consolas"/>
                <a:ea typeface="Consolas"/>
                <a:cs typeface="Consolas"/>
              </a:rPr>
              <a:t>);     </a:t>
            </a:r>
            <a:r>
              <a:rPr lang="en-US" sz="1050" b="0" dirty="0">
                <a:solidFill>
                  <a:srgbClr val="6FAE7A"/>
                </a:solidFill>
                <a:latin typeface="Consolas"/>
                <a:ea typeface="Consolas"/>
                <a:cs typeface="Consolas"/>
              </a:rPr>
              <a:t>// relative</a:t>
            </a:r>
            <a:endParaRPr lang="en-US" sz="1050" dirty="0"/>
          </a:p>
        </p:txBody>
      </p:sp>
      <p:sp>
        <p:nvSpPr>
          <p:cNvPr id="134" name="s134"/>
          <p:cNvSpPr/>
          <p:nvPr/>
        </p:nvSpPr>
        <p:spPr>
          <a:xfrm>
            <a:off x="6120994" y="357530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35" name="s135"/>
          <p:cNvSpPr/>
          <p:nvPr/>
        </p:nvSpPr>
        <p:spPr>
          <a:xfrm>
            <a:off x="6120994" y="389534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FBBF24"/>
                </a:solidFill>
                <a:latin typeface="Consolas"/>
                <a:ea typeface="Consolas"/>
                <a:cs typeface="Consolas"/>
              </a:rPr>
              <a:t>[Fact]</a:t>
            </a:r>
            <a:endParaRPr lang="en-US" sz="1050" dirty="0"/>
          </a:p>
        </p:txBody>
      </p:sp>
      <p:sp>
        <p:nvSpPr>
          <p:cNvPr id="136" name="s136"/>
          <p:cNvSpPr/>
          <p:nvPr/>
        </p:nvSpPr>
        <p:spPr>
          <a:xfrm>
            <a:off x="6120994" y="405536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60A5FA"/>
                </a:solidFill>
                <a:latin typeface="Consolas"/>
                <a:ea typeface="Consolas"/>
                <a:cs typeface="Consolas"/>
              </a:rPr>
              <a:t>public</a:t>
            </a: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void</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PaymentCode_HasFourDigits</a:t>
            </a:r>
            <a:r>
              <a:rPr lang="en-US" sz="1050" b="0" dirty="0">
                <a:solidFill>
                  <a:srgbClr val="E2E8F0"/>
                </a:solidFill>
                <a:latin typeface="Consolas"/>
                <a:ea typeface="Consolas"/>
                <a:cs typeface="Consolas"/>
              </a:rPr>
              <a:t>()</a:t>
            </a:r>
            <a:endParaRPr lang="en-US" sz="1050" dirty="0"/>
          </a:p>
        </p:txBody>
      </p:sp>
      <p:sp>
        <p:nvSpPr>
          <p:cNvPr id="137" name="s137"/>
          <p:cNvSpPr/>
          <p:nvPr/>
        </p:nvSpPr>
        <p:spPr>
          <a:xfrm>
            <a:off x="6120994" y="421538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38" name="s138"/>
          <p:cNvSpPr/>
          <p:nvPr/>
        </p:nvSpPr>
        <p:spPr>
          <a:xfrm>
            <a:off x="6120994" y="437540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    </a:t>
            </a:r>
            <a:r>
              <a:rPr lang="en-US" sz="1050" b="0" dirty="0">
                <a:solidFill>
                  <a:srgbClr val="60A5FA"/>
                </a:solidFill>
                <a:latin typeface="Consolas"/>
                <a:ea typeface="Consolas"/>
                <a:cs typeface="Consolas"/>
              </a:rPr>
              <a:t>new</a:t>
            </a:r>
            <a:r>
              <a:rPr lang="en-US" sz="1050" b="0" dirty="0">
                <a:solidFill>
                  <a:srgbClr val="E2E8F0"/>
                </a:solidFill>
                <a:latin typeface="Consolas"/>
                <a:ea typeface="Consolas"/>
                <a:cs typeface="Consolas"/>
              </a:rPr>
              <a:t> </a:t>
            </a:r>
            <a:r>
              <a:rPr lang="en-US" sz="1050" b="0" dirty="0">
                <a:solidFill>
                  <a:srgbClr val="7DD3FC"/>
                </a:solidFill>
                <a:latin typeface="Consolas"/>
                <a:ea typeface="Consolas"/>
                <a:cs typeface="Consolas"/>
              </a:rPr>
              <a:t>Invoice</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PaymentCode</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Length</a:t>
            </a:r>
            <a:r>
              <a:rPr lang="en-US" sz="1050" b="0" dirty="0">
                <a:solidFill>
                  <a:srgbClr val="E2E8F0"/>
                </a:solidFill>
                <a:latin typeface="Consolas"/>
                <a:ea typeface="Consolas"/>
                <a:cs typeface="Consolas"/>
              </a:rPr>
              <a:t>.</a:t>
            </a:r>
            <a:r>
              <a:rPr lang="en-US" sz="1050" b="0" dirty="0">
                <a:solidFill>
                  <a:srgbClr val="7DD3FC"/>
                </a:solidFill>
                <a:latin typeface="Consolas"/>
                <a:ea typeface="Consolas"/>
                <a:cs typeface="Consolas"/>
              </a:rPr>
              <a:t>ShouldBe</a:t>
            </a:r>
            <a:r>
              <a:rPr lang="en-US" sz="1050" b="0" dirty="0">
                <a:solidFill>
                  <a:srgbClr val="E2E8F0"/>
                </a:solidFill>
                <a:latin typeface="Consolas"/>
                <a:ea typeface="Consolas"/>
                <a:cs typeface="Consolas"/>
              </a:rPr>
              <a:t>(</a:t>
            </a:r>
            <a:r>
              <a:rPr lang="en-US" sz="1050" b="0" dirty="0">
                <a:solidFill>
                  <a:srgbClr val="C4B5FD"/>
                </a:solidFill>
                <a:latin typeface="Consolas"/>
                <a:ea typeface="Consolas"/>
                <a:cs typeface="Consolas"/>
              </a:rPr>
              <a:t>4</a:t>
            </a:r>
            <a:r>
              <a:rPr lang="en-US" sz="1050" b="0" dirty="0">
                <a:solidFill>
                  <a:srgbClr val="E2E8F0"/>
                </a:solidFill>
                <a:latin typeface="Consolas"/>
                <a:ea typeface="Consolas"/>
                <a:cs typeface="Consolas"/>
              </a:rPr>
              <a:t>);  </a:t>
            </a:r>
            <a:r>
              <a:rPr lang="en-US" sz="1050" b="0" dirty="0">
                <a:solidFill>
                  <a:srgbClr val="6FAE7A"/>
                </a:solidFill>
                <a:latin typeface="Consolas"/>
                <a:ea typeface="Consolas"/>
                <a:cs typeface="Consolas"/>
              </a:rPr>
              <a:t>// the shape</a:t>
            </a:r>
            <a:endParaRPr lang="en-US" sz="1050" dirty="0"/>
          </a:p>
        </p:txBody>
      </p:sp>
      <p:sp>
        <p:nvSpPr>
          <p:cNvPr id="139" name="s139"/>
          <p:cNvSpPr/>
          <p:nvPr/>
        </p:nvSpPr>
        <p:spPr>
          <a:xfrm>
            <a:off x="6120994" y="453542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E2E8F0"/>
                </a:solidFill>
                <a:latin typeface="Consolas"/>
                <a:ea typeface="Consolas"/>
                <a:cs typeface="Consolas"/>
              </a:rPr>
              <a:t>}</a:t>
            </a:r>
            <a:endParaRPr lang="en-US" sz="1050" dirty="0"/>
          </a:p>
        </p:txBody>
      </p:sp>
      <p:sp>
        <p:nvSpPr>
          <p:cNvPr id="140" name="s140"/>
          <p:cNvSpPr/>
          <p:nvPr/>
        </p:nvSpPr>
        <p:spPr>
          <a:xfrm>
            <a:off x="6120994" y="4695444"/>
            <a:ext cx="5510174" cy="1600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50" b="0" dirty="0">
                <a:solidFill>
                  <a:srgbClr val="6FAE7A"/>
                </a:solidFill>
                <a:latin typeface="Consolas"/>
                <a:ea typeface="Consolas"/>
                <a:cs typeface="Consolas"/>
              </a:rPr>
              <a:t>// never change static or global settings in a test</a:t>
            </a:r>
            <a:endParaRPr lang="en-US" sz="1050" dirty="0"/>
          </a:p>
        </p:txBody>
      </p:sp>
      <p:sp>
        <p:nvSpPr>
          <p:cNvPr id="141" name="s141"/>
          <p:cNvSpPr/>
          <p:nvPr/>
        </p:nvSpPr>
        <p:spPr>
          <a:xfrm>
            <a:off x="543154" y="5120640"/>
            <a:ext cx="5349240" cy="548640"/>
          </a:xfrm>
          <a:prstGeom prst="roundRect">
            <a:avLst>
              <a:gd name="adj" fmla="val 10000"/>
            </a:avLst>
          </a:prstGeom>
          <a:solidFill>
            <a:srgbClr val="F87171">
              <a:alpha val="8000"/>
            </a:srgbClr>
          </a:solidFill>
          <a:ln w="12700">
            <a:solidFill>
              <a:srgbClr val="F87171"/>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87171"/>
                </a:solidFill>
                <a:latin typeface="Segoe UI"/>
                <a:ea typeface="Segoe UI"/>
                <a:cs typeface="Segoe UI"/>
              </a:rPr>
              <a:t>WHY IT FAILS</a:t>
            </a:r>
            <a:endParaRPr lang="en-US" sz="1050" dirty="0"/>
          </a:p>
          <a:p>
            <a:pPr marL="0" indent="0" algn="l">
              <a:spcBef>
                <a:spcPts val="0"/>
              </a:spcBef>
              <a:spcAft>
                <a:spcPts val="200"/>
              </a:spcAft>
              <a:buNone/>
            </a:pPr>
            <a:r>
              <a:rPr lang="en-US" sz="1150" b="0" dirty="0">
                <a:solidFill>
                  <a:srgbClr val="E2E8F0"/>
                </a:solidFill>
                <a:latin typeface="Segoe UI"/>
                <a:ea typeface="Segoe UI"/>
                <a:cs typeface="Segoe UI"/>
              </a:rPr>
              <a:t>Shared static state + randomness = order-dependent results.</a:t>
            </a:r>
            <a:endParaRPr lang="en-US" sz="1150" dirty="0"/>
          </a:p>
        </p:txBody>
      </p:sp>
      <p:sp>
        <p:nvSpPr>
          <p:cNvPr id="142" name="s142"/>
          <p:cNvSpPr/>
          <p:nvPr/>
        </p:nvSpPr>
        <p:spPr>
          <a:xfrm>
            <a:off x="6120994" y="5120640"/>
            <a:ext cx="5510174" cy="54864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THE RULE</a:t>
            </a:r>
            <a:endParaRPr lang="en-US" sz="1050" dirty="0"/>
          </a:p>
          <a:p>
            <a:pPr marL="0" indent="0" algn="l">
              <a:spcBef>
                <a:spcPts val="0"/>
              </a:spcBef>
              <a:spcAft>
                <a:spcPts val="200"/>
              </a:spcAft>
              <a:buNone/>
            </a:pPr>
            <a:r>
              <a:rPr lang="en-US" sz="1150" b="0" dirty="0">
                <a:solidFill>
                  <a:srgbClr val="E2E8F0"/>
                </a:solidFill>
                <a:latin typeface="Segoe UI"/>
                <a:ea typeface="Segoe UI"/>
                <a:cs typeface="Segoe UI"/>
              </a:rPr>
              <a:t>Every test must pass alone AND together.</a:t>
            </a:r>
            <a:endParaRPr lang="en-US" sz="1150" dirty="0"/>
          </a:p>
        </p:txBody>
      </p:sp>
      <p:sp>
        <p:nvSpPr>
          <p:cNvPr id="143" name="s143"/>
          <p:cNvSpPr/>
          <p:nvPr/>
        </p:nvSpPr>
        <p:spPr>
          <a:xfrm>
            <a:off x="652882" y="2907792"/>
            <a:ext cx="5129784" cy="37490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44" name="s144"/>
          <p:cNvSpPr/>
          <p:nvPr/>
        </p:nvSpPr>
        <p:spPr>
          <a:xfrm>
            <a:off x="652882" y="3227832"/>
            <a:ext cx="5129784" cy="37490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anim calcmode="lin" valueType="num">
                                      <p:cBhvr additive="base">
                                        <p:cTn id="12" dur="500" decel="100000" fill="hold"/>
                                        <p:tgtEl>
                                          <p:spTgt spid="103"/>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7"/>
                                        </p:tgtEl>
                                        <p:attrNameLst>
                                          <p:attrName>style.visibility</p:attrName>
                                        </p:attrNameLst>
                                      </p:cBhvr>
                                      <p:to>
                                        <p:strVal val="visible"/>
                                      </p:to>
                                    </p:set>
                                    <p:animEffect transition="in" filter="fade">
                                      <p:cBhvr>
                                        <p:cTn id="67" dur="500"/>
                                        <p:tgtEl>
                                          <p:spTgt spid="117"/>
                                        </p:tgtEl>
                                      </p:cBhvr>
                                    </p:animEffect>
                                    <p:anim calcmode="lin" valueType="num">
                                      <p:cBhvr additive="base">
                                        <p:cTn id="68" dur="500" decel="100000" fill="hold"/>
                                        <p:tgtEl>
                                          <p:spTgt spid="117"/>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8"/>
                                        </p:tgtEl>
                                        <p:attrNameLst>
                                          <p:attrName>style.visibility</p:attrName>
                                        </p:attrNameLst>
                                      </p:cBhvr>
                                      <p:to>
                                        <p:strVal val="visible"/>
                                      </p:to>
                                    </p:set>
                                    <p:animEffect transition="in" filter="fade">
                                      <p:cBhvr>
                                        <p:cTn id="71" dur="500"/>
                                        <p:tgtEl>
                                          <p:spTgt spid="118"/>
                                        </p:tgtEl>
                                      </p:cBhvr>
                                    </p:animEffect>
                                    <p:anim calcmode="lin" valueType="num">
                                      <p:cBhvr additive="base">
                                        <p:cTn id="72" dur="500" decel="100000" fill="hold"/>
                                        <p:tgtEl>
                                          <p:spTgt spid="118"/>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9"/>
                                        </p:tgtEl>
                                        <p:attrNameLst>
                                          <p:attrName>style.visibility</p:attrName>
                                        </p:attrNameLst>
                                      </p:cBhvr>
                                      <p:to>
                                        <p:strVal val="visible"/>
                                      </p:to>
                                    </p:set>
                                    <p:animEffect transition="in" filter="fade">
                                      <p:cBhvr>
                                        <p:cTn id="75" dur="500"/>
                                        <p:tgtEl>
                                          <p:spTgt spid="119"/>
                                        </p:tgtEl>
                                      </p:cBhvr>
                                    </p:animEffect>
                                    <p:anim calcmode="lin" valueType="num">
                                      <p:cBhvr additive="base">
                                        <p:cTn id="76" dur="500" decel="100000" fill="hold"/>
                                        <p:tgtEl>
                                          <p:spTgt spid="119"/>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20"/>
                                        </p:tgtEl>
                                        <p:attrNameLst>
                                          <p:attrName>style.visibility</p:attrName>
                                        </p:attrNameLst>
                                      </p:cBhvr>
                                      <p:to>
                                        <p:strVal val="visible"/>
                                      </p:to>
                                    </p:set>
                                    <p:animEffect transition="in" filter="fade">
                                      <p:cBhvr>
                                        <p:cTn id="79" dur="500"/>
                                        <p:tgtEl>
                                          <p:spTgt spid="120"/>
                                        </p:tgtEl>
                                      </p:cBhvr>
                                    </p:animEffect>
                                    <p:anim calcmode="lin" valueType="num">
                                      <p:cBhvr additive="base">
                                        <p:cTn id="80" dur="500" decel="100000" fill="hold"/>
                                        <p:tgtEl>
                                          <p:spTgt spid="120"/>
                                        </p:tgtEl>
                                        <p:attrNameLst>
                                          <p:attrName>ppt_y</p:attrName>
                                        </p:attrNameLst>
                                      </p:cBhvr>
                                      <p:tavLst>
                                        <p:tav tm="0">
                                          <p:val>
                                            <p:strVal val="#ppt_y+0.06"/>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53" presetClass="entr" presetSubtype="16" fill="hold" grpId="0" nodeType="clickEffect">
                                  <p:stCondLst>
                                    <p:cond delay="0"/>
                                  </p:stCondLst>
                                  <p:childTnLst>
                                    <p:set>
                                      <p:cBhvr>
                                        <p:cTn id="84" dur="1" fill="hold">
                                          <p:stCondLst>
                                            <p:cond delay="0"/>
                                          </p:stCondLst>
                                        </p:cTn>
                                        <p:tgtEl>
                                          <p:spTgt spid="143"/>
                                        </p:tgtEl>
                                        <p:attrNameLst>
                                          <p:attrName>style.visibility</p:attrName>
                                        </p:attrNameLst>
                                      </p:cBhvr>
                                      <p:to>
                                        <p:strVal val="visible"/>
                                      </p:to>
                                    </p:set>
                                    <p:anim calcmode="lin" valueType="num">
                                      <p:cBhvr additive="base">
                                        <p:cTn id="85" dur="500" decel="100000" fill="hold"/>
                                        <p:tgtEl>
                                          <p:spTgt spid="143"/>
                                        </p:tgtEl>
                                        <p:attrNameLst>
                                          <p:attrName>ppt_w</p:attrName>
                                        </p:attrNameLst>
                                      </p:cBhvr>
                                      <p:tavLst>
                                        <p:tav tm="0">
                                          <p:val>
                                            <p:strVal val="#ppt_w*0.3"/>
                                          </p:val>
                                        </p:tav>
                                        <p:tav tm="100000">
                                          <p:val>
                                            <p:strVal val="#ppt_w*1.08"/>
                                          </p:val>
                                        </p:tav>
                                      </p:tavLst>
                                    </p:anim>
                                    <p:anim calcmode="lin" valueType="num">
                                      <p:cBhvr additive="base">
                                        <p:cTn id="86" dur="500" decel="100000" fill="hold"/>
                                        <p:tgtEl>
                                          <p:spTgt spid="143"/>
                                        </p:tgtEl>
                                        <p:attrNameLst>
                                          <p:attrName>ppt_h</p:attrName>
                                        </p:attrNameLst>
                                      </p:cBhvr>
                                      <p:tavLst>
                                        <p:tav tm="0">
                                          <p:val>
                                            <p:strVal val="#ppt_h*0.3"/>
                                          </p:val>
                                        </p:tav>
                                        <p:tav tm="100000">
                                          <p:val>
                                            <p:strVal val="#ppt_h*1.08"/>
                                          </p:val>
                                        </p:tav>
                                      </p:tavLst>
                                    </p:anim>
                                    <p:animEffect transition="in" filter="fade">
                                      <p:cBhvr>
                                        <p:cTn id="87" dur="250"/>
                                        <p:tgtEl>
                                          <p:spTgt spid="143"/>
                                        </p:tgtEl>
                                      </p:cBhvr>
                                    </p:animEffect>
                                    <p:anim calcmode="lin" valueType="num">
                                      <p:cBhvr additive="base">
                                        <p:cTn id="88" dur="160" fill="hold">
                                          <p:stCondLst>
                                            <p:cond delay="500"/>
                                          </p:stCondLst>
                                        </p:cTn>
                                        <p:tgtEl>
                                          <p:spTgt spid="143"/>
                                        </p:tgtEl>
                                        <p:attrNameLst>
                                          <p:attrName>ppt_w</p:attrName>
                                        </p:attrNameLst>
                                      </p:cBhvr>
                                      <p:tavLst>
                                        <p:tav tm="0">
                                          <p:val>
                                            <p:strVal val="#ppt_w*1.08"/>
                                          </p:val>
                                        </p:tav>
                                        <p:tav tm="100000">
                                          <p:val>
                                            <p:strVal val="#ppt_w"/>
                                          </p:val>
                                        </p:tav>
                                      </p:tavLst>
                                    </p:anim>
                                    <p:anim calcmode="lin" valueType="num">
                                      <p:cBhvr additive="base">
                                        <p:cTn id="89" dur="160" fill="hold">
                                          <p:stCondLst>
                                            <p:cond delay="500"/>
                                          </p:stCondLst>
                                        </p:cTn>
                                        <p:tgtEl>
                                          <p:spTgt spid="143"/>
                                        </p:tgtEl>
                                        <p:attrNameLst>
                                          <p:attrName>ppt_h</p:attrName>
                                        </p:attrNameLst>
                                      </p:cBhvr>
                                      <p:tavLst>
                                        <p:tav tm="0">
                                          <p:val>
                                            <p:strVal val="#ppt_h*1.08"/>
                                          </p:val>
                                        </p:tav>
                                        <p:tav tm="100000">
                                          <p:val>
                                            <p:strVal val="#ppt_h"/>
                                          </p:val>
                                        </p:tav>
                                      </p:tavLst>
                                    </p:anim>
                                  </p:childTnLst>
                                </p:cTn>
                              </p:par>
                              <p:par>
                                <p:cTn id="90" presetID="53" presetClass="entr" presetSubtype="16" fill="hold" grpId="0" nodeType="withEffect">
                                  <p:stCondLst>
                                    <p:cond delay="200"/>
                                  </p:stCondLst>
                                  <p:childTnLst>
                                    <p:set>
                                      <p:cBhvr>
                                        <p:cTn id="91" dur="1" fill="hold">
                                          <p:stCondLst>
                                            <p:cond delay="0"/>
                                          </p:stCondLst>
                                        </p:cTn>
                                        <p:tgtEl>
                                          <p:spTgt spid="144"/>
                                        </p:tgtEl>
                                        <p:attrNameLst>
                                          <p:attrName>style.visibility</p:attrName>
                                        </p:attrNameLst>
                                      </p:cBhvr>
                                      <p:to>
                                        <p:strVal val="visible"/>
                                      </p:to>
                                    </p:set>
                                    <p:anim calcmode="lin" valueType="num">
                                      <p:cBhvr additive="base">
                                        <p:cTn id="92" dur="500" decel="100000" fill="hold"/>
                                        <p:tgtEl>
                                          <p:spTgt spid="144"/>
                                        </p:tgtEl>
                                        <p:attrNameLst>
                                          <p:attrName>ppt_w</p:attrName>
                                        </p:attrNameLst>
                                      </p:cBhvr>
                                      <p:tavLst>
                                        <p:tav tm="0">
                                          <p:val>
                                            <p:strVal val="#ppt_w*0.3"/>
                                          </p:val>
                                        </p:tav>
                                        <p:tav tm="100000">
                                          <p:val>
                                            <p:strVal val="#ppt_w*1.08"/>
                                          </p:val>
                                        </p:tav>
                                      </p:tavLst>
                                    </p:anim>
                                    <p:anim calcmode="lin" valueType="num">
                                      <p:cBhvr additive="base">
                                        <p:cTn id="93" dur="500" decel="100000" fill="hold"/>
                                        <p:tgtEl>
                                          <p:spTgt spid="144"/>
                                        </p:tgtEl>
                                        <p:attrNameLst>
                                          <p:attrName>ppt_h</p:attrName>
                                        </p:attrNameLst>
                                      </p:cBhvr>
                                      <p:tavLst>
                                        <p:tav tm="0">
                                          <p:val>
                                            <p:strVal val="#ppt_h*0.3"/>
                                          </p:val>
                                        </p:tav>
                                        <p:tav tm="100000">
                                          <p:val>
                                            <p:strVal val="#ppt_h*1.08"/>
                                          </p:val>
                                        </p:tav>
                                      </p:tavLst>
                                    </p:anim>
                                    <p:animEffect transition="in" filter="fade">
                                      <p:cBhvr>
                                        <p:cTn id="94" dur="250"/>
                                        <p:tgtEl>
                                          <p:spTgt spid="144"/>
                                        </p:tgtEl>
                                      </p:cBhvr>
                                    </p:animEffect>
                                    <p:anim calcmode="lin" valueType="num">
                                      <p:cBhvr additive="base">
                                        <p:cTn id="95" dur="160" fill="hold">
                                          <p:stCondLst>
                                            <p:cond delay="500"/>
                                          </p:stCondLst>
                                        </p:cTn>
                                        <p:tgtEl>
                                          <p:spTgt spid="144"/>
                                        </p:tgtEl>
                                        <p:attrNameLst>
                                          <p:attrName>ppt_w</p:attrName>
                                        </p:attrNameLst>
                                      </p:cBhvr>
                                      <p:tavLst>
                                        <p:tav tm="0">
                                          <p:val>
                                            <p:strVal val="#ppt_w*1.08"/>
                                          </p:val>
                                        </p:tav>
                                        <p:tav tm="100000">
                                          <p:val>
                                            <p:strVal val="#ppt_w"/>
                                          </p:val>
                                        </p:tav>
                                      </p:tavLst>
                                    </p:anim>
                                    <p:anim calcmode="lin" valueType="num">
                                      <p:cBhvr additive="base">
                                        <p:cTn id="96" dur="160" fill="hold">
                                          <p:stCondLst>
                                            <p:cond delay="500"/>
                                          </p:stCondLst>
                                        </p:cTn>
                                        <p:tgtEl>
                                          <p:spTgt spid="144"/>
                                        </p:tgtEl>
                                        <p:attrNameLst>
                                          <p:attrName>ppt_h</p:attrName>
                                        </p:attrNameLst>
                                      </p:cBhvr>
                                      <p:tavLst>
                                        <p:tav tm="0">
                                          <p:val>
                                            <p:strVal val="#ppt_h*1.08"/>
                                          </p:val>
                                        </p:tav>
                                        <p:tav tm="100000">
                                          <p:val>
                                            <p:strVal val="#ppt_h"/>
                                          </p:val>
                                        </p:tav>
                                      </p:tavLst>
                                    </p:anim>
                                  </p:childTnLst>
                                </p:cTn>
                              </p:par>
                              <p:par>
                                <p:cTn id="97" presetID="42" presetClass="entr" presetSubtype="0" fill="hold" grpId="0" nodeType="withEffect">
                                  <p:stCondLst>
                                    <p:cond delay="400"/>
                                  </p:stCondLst>
                                  <p:childTnLst>
                                    <p:set>
                                      <p:cBhvr>
                                        <p:cTn id="98" dur="1" fill="hold">
                                          <p:stCondLst>
                                            <p:cond delay="0"/>
                                          </p:stCondLst>
                                        </p:cTn>
                                        <p:tgtEl>
                                          <p:spTgt spid="141"/>
                                        </p:tgtEl>
                                        <p:attrNameLst>
                                          <p:attrName>style.visibility</p:attrName>
                                        </p:attrNameLst>
                                      </p:cBhvr>
                                      <p:to>
                                        <p:strVal val="visible"/>
                                      </p:to>
                                    </p:set>
                                    <p:animEffect transition="in" filter="fade">
                                      <p:cBhvr>
                                        <p:cTn id="99" dur="500"/>
                                        <p:tgtEl>
                                          <p:spTgt spid="141"/>
                                        </p:tgtEl>
                                      </p:cBhvr>
                                    </p:animEffect>
                                    <p:anim calcmode="lin" valueType="num">
                                      <p:cBhvr additive="base">
                                        <p:cTn id="100" dur="500" decel="100000" fill="hold"/>
                                        <p:tgtEl>
                                          <p:spTgt spid="141"/>
                                        </p:tgtEl>
                                        <p:attrNameLst>
                                          <p:attrName>ppt_y</p:attrName>
                                        </p:attrNameLst>
                                      </p:cBhvr>
                                      <p:tavLst>
                                        <p:tav tm="0">
                                          <p:val>
                                            <p:strVal val="#ppt_y+0.06"/>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42" presetClass="entr" presetSubtype="0" fill="hold" grpId="0" nodeType="clickEffect">
                                  <p:stCondLst>
                                    <p:cond delay="0"/>
                                  </p:stCondLst>
                                  <p:childTnLst>
                                    <p:set>
                                      <p:cBhvr>
                                        <p:cTn id="104" dur="1" fill="hold">
                                          <p:stCondLst>
                                            <p:cond delay="0"/>
                                          </p:stCondLst>
                                        </p:cTn>
                                        <p:tgtEl>
                                          <p:spTgt spid="122"/>
                                        </p:tgtEl>
                                        <p:attrNameLst>
                                          <p:attrName>style.visibility</p:attrName>
                                        </p:attrNameLst>
                                      </p:cBhvr>
                                      <p:to>
                                        <p:strVal val="visible"/>
                                      </p:to>
                                    </p:set>
                                    <p:animEffect transition="in" filter="fade">
                                      <p:cBhvr>
                                        <p:cTn id="105" dur="500"/>
                                        <p:tgtEl>
                                          <p:spTgt spid="122"/>
                                        </p:tgtEl>
                                      </p:cBhvr>
                                    </p:animEffect>
                                    <p:anim calcmode="lin" valueType="num">
                                      <p:cBhvr additive="base">
                                        <p:cTn id="106" dur="500" decel="100000" fill="hold"/>
                                        <p:tgtEl>
                                          <p:spTgt spid="122"/>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3"/>
                                        </p:tgtEl>
                                        <p:attrNameLst>
                                          <p:attrName>style.visibility</p:attrName>
                                        </p:attrNameLst>
                                      </p:cBhvr>
                                      <p:to>
                                        <p:strVal val="visible"/>
                                      </p:to>
                                    </p:set>
                                    <p:animEffect transition="in" filter="fade">
                                      <p:cBhvr>
                                        <p:cTn id="109" dur="500"/>
                                        <p:tgtEl>
                                          <p:spTgt spid="123"/>
                                        </p:tgtEl>
                                      </p:cBhvr>
                                    </p:animEffect>
                                    <p:anim calcmode="lin" valueType="num">
                                      <p:cBhvr additive="base">
                                        <p:cTn id="110" dur="500" decel="100000" fill="hold"/>
                                        <p:tgtEl>
                                          <p:spTgt spid="123"/>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4"/>
                                        </p:tgtEl>
                                        <p:attrNameLst>
                                          <p:attrName>style.visibility</p:attrName>
                                        </p:attrNameLst>
                                      </p:cBhvr>
                                      <p:to>
                                        <p:strVal val="visible"/>
                                      </p:to>
                                    </p:set>
                                    <p:animEffect transition="in" filter="fade">
                                      <p:cBhvr>
                                        <p:cTn id="113" dur="500"/>
                                        <p:tgtEl>
                                          <p:spTgt spid="124"/>
                                        </p:tgtEl>
                                      </p:cBhvr>
                                    </p:animEffect>
                                    <p:anim calcmode="lin" valueType="num">
                                      <p:cBhvr additive="base">
                                        <p:cTn id="114" dur="500" decel="100000" fill="hold"/>
                                        <p:tgtEl>
                                          <p:spTgt spid="124"/>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5"/>
                                        </p:tgtEl>
                                        <p:attrNameLst>
                                          <p:attrName>style.visibility</p:attrName>
                                        </p:attrNameLst>
                                      </p:cBhvr>
                                      <p:to>
                                        <p:strVal val="visible"/>
                                      </p:to>
                                    </p:set>
                                    <p:animEffect transition="in" filter="fade">
                                      <p:cBhvr>
                                        <p:cTn id="117" dur="500"/>
                                        <p:tgtEl>
                                          <p:spTgt spid="125"/>
                                        </p:tgtEl>
                                      </p:cBhvr>
                                    </p:animEffect>
                                    <p:anim calcmode="lin" valueType="num">
                                      <p:cBhvr additive="base">
                                        <p:cTn id="118" dur="500" decel="100000" fill="hold"/>
                                        <p:tgtEl>
                                          <p:spTgt spid="125"/>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26"/>
                                        </p:tgtEl>
                                        <p:attrNameLst>
                                          <p:attrName>style.visibility</p:attrName>
                                        </p:attrNameLst>
                                      </p:cBhvr>
                                      <p:to>
                                        <p:strVal val="visible"/>
                                      </p:to>
                                    </p:set>
                                    <p:animEffect transition="in" filter="fade">
                                      <p:cBhvr>
                                        <p:cTn id="121" dur="500"/>
                                        <p:tgtEl>
                                          <p:spTgt spid="126"/>
                                        </p:tgtEl>
                                      </p:cBhvr>
                                    </p:animEffect>
                                    <p:anim calcmode="lin" valueType="num">
                                      <p:cBhvr additive="base">
                                        <p:cTn id="122" dur="500" decel="100000" fill="hold"/>
                                        <p:tgtEl>
                                          <p:spTgt spid="126"/>
                                        </p:tgtEl>
                                        <p:attrNameLst>
                                          <p:attrName>ppt_y</p:attrName>
                                        </p:attrNameLst>
                                      </p:cBhvr>
                                      <p:tavLst>
                                        <p:tav tm="0">
                                          <p:val>
                                            <p:strVal val="#ppt_y+0.06"/>
                                          </p:val>
                                        </p:tav>
                                        <p:tav tm="100000">
                                          <p:val>
                                            <p:strVal val="#ppt_y"/>
                                          </p:val>
                                        </p:tav>
                                      </p:tavLst>
                                    </p:anim>
                                  </p:childTnLst>
                                </p:cTn>
                              </p:par>
                              <p:par>
                                <p:cTn id="123" presetID="42" presetClass="entr" presetSubtype="0" fill="hold" nodeType="withEffect">
                                  <p:stCondLst>
                                    <p:cond delay="0"/>
                                  </p:stCondLst>
                                  <p:childTnLst>
                                    <p:set>
                                      <p:cBhvr>
                                        <p:cTn id="124" dur="1" fill="hold">
                                          <p:stCondLst>
                                            <p:cond delay="0"/>
                                          </p:stCondLst>
                                        </p:cTn>
                                        <p:tgtEl>
                                          <p:spTgt spid="127"/>
                                        </p:tgtEl>
                                        <p:attrNameLst>
                                          <p:attrName>style.visibility</p:attrName>
                                        </p:attrNameLst>
                                      </p:cBhvr>
                                      <p:to>
                                        <p:strVal val="visible"/>
                                      </p:to>
                                    </p:set>
                                    <p:animEffect transition="in" filter="fade">
                                      <p:cBhvr>
                                        <p:cTn id="125" dur="500"/>
                                        <p:tgtEl>
                                          <p:spTgt spid="127"/>
                                        </p:tgtEl>
                                      </p:cBhvr>
                                    </p:animEffect>
                                    <p:anim calcmode="lin" valueType="num">
                                      <p:cBhvr additive="base">
                                        <p:cTn id="126" dur="500" decel="100000" fill="hold"/>
                                        <p:tgtEl>
                                          <p:spTgt spid="127"/>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28"/>
                                        </p:tgtEl>
                                        <p:attrNameLst>
                                          <p:attrName>style.visibility</p:attrName>
                                        </p:attrNameLst>
                                      </p:cBhvr>
                                      <p:to>
                                        <p:strVal val="visible"/>
                                      </p:to>
                                    </p:set>
                                    <p:animEffect transition="in" filter="fade">
                                      <p:cBhvr>
                                        <p:cTn id="129" dur="500"/>
                                        <p:tgtEl>
                                          <p:spTgt spid="128"/>
                                        </p:tgtEl>
                                      </p:cBhvr>
                                    </p:animEffect>
                                    <p:anim calcmode="lin" valueType="num">
                                      <p:cBhvr additive="base">
                                        <p:cTn id="130" dur="500" decel="100000" fill="hold"/>
                                        <p:tgtEl>
                                          <p:spTgt spid="128"/>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29"/>
                                        </p:tgtEl>
                                        <p:attrNameLst>
                                          <p:attrName>style.visibility</p:attrName>
                                        </p:attrNameLst>
                                      </p:cBhvr>
                                      <p:to>
                                        <p:strVal val="visible"/>
                                      </p:to>
                                    </p:set>
                                    <p:animEffect transition="in" filter="fade">
                                      <p:cBhvr>
                                        <p:cTn id="133" dur="500"/>
                                        <p:tgtEl>
                                          <p:spTgt spid="129"/>
                                        </p:tgtEl>
                                      </p:cBhvr>
                                    </p:animEffect>
                                    <p:anim calcmode="lin" valueType="num">
                                      <p:cBhvr additive="base">
                                        <p:cTn id="134" dur="500" decel="100000" fill="hold"/>
                                        <p:tgtEl>
                                          <p:spTgt spid="129"/>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130"/>
                                        </p:tgtEl>
                                        <p:attrNameLst>
                                          <p:attrName>style.visibility</p:attrName>
                                        </p:attrNameLst>
                                      </p:cBhvr>
                                      <p:to>
                                        <p:strVal val="visible"/>
                                      </p:to>
                                    </p:set>
                                    <p:animEffect transition="in" filter="fade">
                                      <p:cBhvr>
                                        <p:cTn id="137" dur="500"/>
                                        <p:tgtEl>
                                          <p:spTgt spid="130"/>
                                        </p:tgtEl>
                                      </p:cBhvr>
                                    </p:animEffect>
                                    <p:anim calcmode="lin" valueType="num">
                                      <p:cBhvr additive="base">
                                        <p:cTn id="138" dur="500" decel="100000" fill="hold"/>
                                        <p:tgtEl>
                                          <p:spTgt spid="130"/>
                                        </p:tgtEl>
                                        <p:attrNameLst>
                                          <p:attrName>ppt_y</p:attrName>
                                        </p:attrNameLst>
                                      </p:cBhvr>
                                      <p:tavLst>
                                        <p:tav tm="0">
                                          <p:val>
                                            <p:strVal val="#ppt_y+0.06"/>
                                          </p:val>
                                        </p:tav>
                                        <p:tav tm="100000">
                                          <p:val>
                                            <p:strVal val="#ppt_y"/>
                                          </p:val>
                                        </p:tav>
                                      </p:tavLst>
                                    </p:anim>
                                  </p:childTnLst>
                                </p:cTn>
                              </p:par>
                              <p:par>
                                <p:cTn id="139" presetID="42" presetClass="entr" presetSubtype="0" fill="hold" grpId="0" nodeType="withEffect">
                                  <p:stCondLst>
                                    <p:cond delay="0"/>
                                  </p:stCondLst>
                                  <p:childTnLst>
                                    <p:set>
                                      <p:cBhvr>
                                        <p:cTn id="140" dur="1" fill="hold">
                                          <p:stCondLst>
                                            <p:cond delay="0"/>
                                          </p:stCondLst>
                                        </p:cTn>
                                        <p:tgtEl>
                                          <p:spTgt spid="131"/>
                                        </p:tgtEl>
                                        <p:attrNameLst>
                                          <p:attrName>style.visibility</p:attrName>
                                        </p:attrNameLst>
                                      </p:cBhvr>
                                      <p:to>
                                        <p:strVal val="visible"/>
                                      </p:to>
                                    </p:set>
                                    <p:animEffect transition="in" filter="fade">
                                      <p:cBhvr>
                                        <p:cTn id="141" dur="500"/>
                                        <p:tgtEl>
                                          <p:spTgt spid="131"/>
                                        </p:tgtEl>
                                      </p:cBhvr>
                                    </p:animEffect>
                                    <p:anim calcmode="lin" valueType="num">
                                      <p:cBhvr additive="base">
                                        <p:cTn id="142" dur="500" decel="100000" fill="hold"/>
                                        <p:tgtEl>
                                          <p:spTgt spid="131"/>
                                        </p:tgtEl>
                                        <p:attrNameLst>
                                          <p:attrName>ppt_y</p:attrName>
                                        </p:attrNameLst>
                                      </p:cBhvr>
                                      <p:tavLst>
                                        <p:tav tm="0">
                                          <p:val>
                                            <p:strVal val="#ppt_y+0.06"/>
                                          </p:val>
                                        </p:tav>
                                        <p:tav tm="100000">
                                          <p:val>
                                            <p:strVal val="#ppt_y"/>
                                          </p:val>
                                        </p:tav>
                                      </p:tavLst>
                                    </p:anim>
                                  </p:childTnLst>
                                </p:cTn>
                              </p:par>
                              <p:par>
                                <p:cTn id="143" presetID="42" presetClass="entr" presetSubtype="0" fill="hold" grpId="0" nodeType="withEffect">
                                  <p:stCondLst>
                                    <p:cond delay="0"/>
                                  </p:stCondLst>
                                  <p:childTnLst>
                                    <p:set>
                                      <p:cBhvr>
                                        <p:cTn id="144" dur="1" fill="hold">
                                          <p:stCondLst>
                                            <p:cond delay="0"/>
                                          </p:stCondLst>
                                        </p:cTn>
                                        <p:tgtEl>
                                          <p:spTgt spid="132"/>
                                        </p:tgtEl>
                                        <p:attrNameLst>
                                          <p:attrName>style.visibility</p:attrName>
                                        </p:attrNameLst>
                                      </p:cBhvr>
                                      <p:to>
                                        <p:strVal val="visible"/>
                                      </p:to>
                                    </p:set>
                                    <p:animEffect transition="in" filter="fade">
                                      <p:cBhvr>
                                        <p:cTn id="145" dur="500"/>
                                        <p:tgtEl>
                                          <p:spTgt spid="132"/>
                                        </p:tgtEl>
                                      </p:cBhvr>
                                    </p:animEffect>
                                    <p:anim calcmode="lin" valueType="num">
                                      <p:cBhvr additive="base">
                                        <p:cTn id="146" dur="500" decel="100000" fill="hold"/>
                                        <p:tgtEl>
                                          <p:spTgt spid="132"/>
                                        </p:tgtEl>
                                        <p:attrNameLst>
                                          <p:attrName>ppt_y</p:attrName>
                                        </p:attrNameLst>
                                      </p:cBhvr>
                                      <p:tavLst>
                                        <p:tav tm="0">
                                          <p:val>
                                            <p:strVal val="#ppt_y+0.06"/>
                                          </p:val>
                                        </p:tav>
                                        <p:tav tm="100000">
                                          <p:val>
                                            <p:strVal val="#ppt_y"/>
                                          </p:val>
                                        </p:tav>
                                      </p:tavLst>
                                    </p:anim>
                                  </p:childTnLst>
                                </p:cTn>
                              </p:par>
                              <p:par>
                                <p:cTn id="147" presetID="42" presetClass="entr" presetSubtype="0" fill="hold" grpId="0" nodeType="withEffect">
                                  <p:stCondLst>
                                    <p:cond delay="0"/>
                                  </p:stCondLst>
                                  <p:childTnLst>
                                    <p:set>
                                      <p:cBhvr>
                                        <p:cTn id="148" dur="1" fill="hold">
                                          <p:stCondLst>
                                            <p:cond delay="0"/>
                                          </p:stCondLst>
                                        </p:cTn>
                                        <p:tgtEl>
                                          <p:spTgt spid="133"/>
                                        </p:tgtEl>
                                        <p:attrNameLst>
                                          <p:attrName>style.visibility</p:attrName>
                                        </p:attrNameLst>
                                      </p:cBhvr>
                                      <p:to>
                                        <p:strVal val="visible"/>
                                      </p:to>
                                    </p:set>
                                    <p:animEffect transition="in" filter="fade">
                                      <p:cBhvr>
                                        <p:cTn id="149" dur="500"/>
                                        <p:tgtEl>
                                          <p:spTgt spid="133"/>
                                        </p:tgtEl>
                                      </p:cBhvr>
                                    </p:animEffect>
                                    <p:anim calcmode="lin" valueType="num">
                                      <p:cBhvr additive="base">
                                        <p:cTn id="150" dur="500" decel="100000" fill="hold"/>
                                        <p:tgtEl>
                                          <p:spTgt spid="133"/>
                                        </p:tgtEl>
                                        <p:attrNameLst>
                                          <p:attrName>ppt_y</p:attrName>
                                        </p:attrNameLst>
                                      </p:cBhvr>
                                      <p:tavLst>
                                        <p:tav tm="0">
                                          <p:val>
                                            <p:strVal val="#ppt_y+0.06"/>
                                          </p:val>
                                        </p:tav>
                                        <p:tav tm="100000">
                                          <p:val>
                                            <p:strVal val="#ppt_y"/>
                                          </p:val>
                                        </p:tav>
                                      </p:tavLst>
                                    </p:anim>
                                  </p:childTnLst>
                                </p:cTn>
                              </p:par>
                              <p:par>
                                <p:cTn id="151" presetID="42" presetClass="entr" presetSubtype="0" fill="hold" grpId="0" nodeType="withEffect">
                                  <p:stCondLst>
                                    <p:cond delay="0"/>
                                  </p:stCondLst>
                                  <p:childTnLst>
                                    <p:set>
                                      <p:cBhvr>
                                        <p:cTn id="152" dur="1" fill="hold">
                                          <p:stCondLst>
                                            <p:cond delay="0"/>
                                          </p:stCondLst>
                                        </p:cTn>
                                        <p:tgtEl>
                                          <p:spTgt spid="134"/>
                                        </p:tgtEl>
                                        <p:attrNameLst>
                                          <p:attrName>style.visibility</p:attrName>
                                        </p:attrNameLst>
                                      </p:cBhvr>
                                      <p:to>
                                        <p:strVal val="visible"/>
                                      </p:to>
                                    </p:set>
                                    <p:animEffect transition="in" filter="fade">
                                      <p:cBhvr>
                                        <p:cTn id="153" dur="500"/>
                                        <p:tgtEl>
                                          <p:spTgt spid="134"/>
                                        </p:tgtEl>
                                      </p:cBhvr>
                                    </p:animEffect>
                                    <p:anim calcmode="lin" valueType="num">
                                      <p:cBhvr additive="base">
                                        <p:cTn id="154" dur="500" decel="100000" fill="hold"/>
                                        <p:tgtEl>
                                          <p:spTgt spid="134"/>
                                        </p:tgtEl>
                                        <p:attrNameLst>
                                          <p:attrName>ppt_y</p:attrName>
                                        </p:attrNameLst>
                                      </p:cBhvr>
                                      <p:tavLst>
                                        <p:tav tm="0">
                                          <p:val>
                                            <p:strVal val="#ppt_y+0.06"/>
                                          </p:val>
                                        </p:tav>
                                        <p:tav tm="100000">
                                          <p:val>
                                            <p:strVal val="#ppt_y"/>
                                          </p:val>
                                        </p:tav>
                                      </p:tavLst>
                                    </p:anim>
                                  </p:childTnLst>
                                </p:cTn>
                              </p:par>
                              <p:par>
                                <p:cTn id="155" presetID="42" presetClass="entr" presetSubtype="0" fill="hold" grpId="0" nodeType="withEffect">
                                  <p:stCondLst>
                                    <p:cond delay="0"/>
                                  </p:stCondLst>
                                  <p:childTnLst>
                                    <p:set>
                                      <p:cBhvr>
                                        <p:cTn id="156" dur="1" fill="hold">
                                          <p:stCondLst>
                                            <p:cond delay="0"/>
                                          </p:stCondLst>
                                        </p:cTn>
                                        <p:tgtEl>
                                          <p:spTgt spid="135"/>
                                        </p:tgtEl>
                                        <p:attrNameLst>
                                          <p:attrName>style.visibility</p:attrName>
                                        </p:attrNameLst>
                                      </p:cBhvr>
                                      <p:to>
                                        <p:strVal val="visible"/>
                                      </p:to>
                                    </p:set>
                                    <p:animEffect transition="in" filter="fade">
                                      <p:cBhvr>
                                        <p:cTn id="157" dur="500"/>
                                        <p:tgtEl>
                                          <p:spTgt spid="135"/>
                                        </p:tgtEl>
                                      </p:cBhvr>
                                    </p:animEffect>
                                    <p:anim calcmode="lin" valueType="num">
                                      <p:cBhvr additive="base">
                                        <p:cTn id="158" dur="500" decel="100000" fill="hold"/>
                                        <p:tgtEl>
                                          <p:spTgt spid="135"/>
                                        </p:tgtEl>
                                        <p:attrNameLst>
                                          <p:attrName>ppt_y</p:attrName>
                                        </p:attrNameLst>
                                      </p:cBhvr>
                                      <p:tavLst>
                                        <p:tav tm="0">
                                          <p:val>
                                            <p:strVal val="#ppt_y+0.06"/>
                                          </p:val>
                                        </p:tav>
                                        <p:tav tm="100000">
                                          <p:val>
                                            <p:strVal val="#ppt_y"/>
                                          </p:val>
                                        </p:tav>
                                      </p:tavLst>
                                    </p:anim>
                                  </p:childTnLst>
                                </p:cTn>
                              </p:par>
                              <p:par>
                                <p:cTn id="159" presetID="42" presetClass="entr" presetSubtype="0" fill="hold" grpId="0" nodeType="withEffect">
                                  <p:stCondLst>
                                    <p:cond delay="0"/>
                                  </p:stCondLst>
                                  <p:childTnLst>
                                    <p:set>
                                      <p:cBhvr>
                                        <p:cTn id="160" dur="1" fill="hold">
                                          <p:stCondLst>
                                            <p:cond delay="0"/>
                                          </p:stCondLst>
                                        </p:cTn>
                                        <p:tgtEl>
                                          <p:spTgt spid="136"/>
                                        </p:tgtEl>
                                        <p:attrNameLst>
                                          <p:attrName>style.visibility</p:attrName>
                                        </p:attrNameLst>
                                      </p:cBhvr>
                                      <p:to>
                                        <p:strVal val="visible"/>
                                      </p:to>
                                    </p:set>
                                    <p:animEffect transition="in" filter="fade">
                                      <p:cBhvr>
                                        <p:cTn id="161" dur="500"/>
                                        <p:tgtEl>
                                          <p:spTgt spid="136"/>
                                        </p:tgtEl>
                                      </p:cBhvr>
                                    </p:animEffect>
                                    <p:anim calcmode="lin" valueType="num">
                                      <p:cBhvr additive="base">
                                        <p:cTn id="162" dur="500" decel="100000" fill="hold"/>
                                        <p:tgtEl>
                                          <p:spTgt spid="136"/>
                                        </p:tgtEl>
                                        <p:attrNameLst>
                                          <p:attrName>ppt_y</p:attrName>
                                        </p:attrNameLst>
                                      </p:cBhvr>
                                      <p:tavLst>
                                        <p:tav tm="0">
                                          <p:val>
                                            <p:strVal val="#ppt_y+0.06"/>
                                          </p:val>
                                        </p:tav>
                                        <p:tav tm="100000">
                                          <p:val>
                                            <p:strVal val="#ppt_y"/>
                                          </p:val>
                                        </p:tav>
                                      </p:tavLst>
                                    </p:anim>
                                  </p:childTnLst>
                                </p:cTn>
                              </p:par>
                              <p:par>
                                <p:cTn id="163" presetID="42" presetClass="entr" presetSubtype="0" fill="hold" grpId="0" nodeType="withEffect">
                                  <p:stCondLst>
                                    <p:cond delay="0"/>
                                  </p:stCondLst>
                                  <p:childTnLst>
                                    <p:set>
                                      <p:cBhvr>
                                        <p:cTn id="164" dur="1" fill="hold">
                                          <p:stCondLst>
                                            <p:cond delay="0"/>
                                          </p:stCondLst>
                                        </p:cTn>
                                        <p:tgtEl>
                                          <p:spTgt spid="137"/>
                                        </p:tgtEl>
                                        <p:attrNameLst>
                                          <p:attrName>style.visibility</p:attrName>
                                        </p:attrNameLst>
                                      </p:cBhvr>
                                      <p:to>
                                        <p:strVal val="visible"/>
                                      </p:to>
                                    </p:set>
                                    <p:animEffect transition="in" filter="fade">
                                      <p:cBhvr>
                                        <p:cTn id="165" dur="500"/>
                                        <p:tgtEl>
                                          <p:spTgt spid="137"/>
                                        </p:tgtEl>
                                      </p:cBhvr>
                                    </p:animEffect>
                                    <p:anim calcmode="lin" valueType="num">
                                      <p:cBhvr additive="base">
                                        <p:cTn id="166" dur="500" decel="100000" fill="hold"/>
                                        <p:tgtEl>
                                          <p:spTgt spid="137"/>
                                        </p:tgtEl>
                                        <p:attrNameLst>
                                          <p:attrName>ppt_y</p:attrName>
                                        </p:attrNameLst>
                                      </p:cBhvr>
                                      <p:tavLst>
                                        <p:tav tm="0">
                                          <p:val>
                                            <p:strVal val="#ppt_y+0.06"/>
                                          </p:val>
                                        </p:tav>
                                        <p:tav tm="100000">
                                          <p:val>
                                            <p:strVal val="#ppt_y"/>
                                          </p:val>
                                        </p:tav>
                                      </p:tavLst>
                                    </p:anim>
                                  </p:childTnLst>
                                </p:cTn>
                              </p:par>
                              <p:par>
                                <p:cTn id="167" presetID="42" presetClass="entr" presetSubtype="0" fill="hold" grpId="0" nodeType="withEffect">
                                  <p:stCondLst>
                                    <p:cond delay="0"/>
                                  </p:stCondLst>
                                  <p:childTnLst>
                                    <p:set>
                                      <p:cBhvr>
                                        <p:cTn id="168" dur="1" fill="hold">
                                          <p:stCondLst>
                                            <p:cond delay="0"/>
                                          </p:stCondLst>
                                        </p:cTn>
                                        <p:tgtEl>
                                          <p:spTgt spid="138"/>
                                        </p:tgtEl>
                                        <p:attrNameLst>
                                          <p:attrName>style.visibility</p:attrName>
                                        </p:attrNameLst>
                                      </p:cBhvr>
                                      <p:to>
                                        <p:strVal val="visible"/>
                                      </p:to>
                                    </p:set>
                                    <p:animEffect transition="in" filter="fade">
                                      <p:cBhvr>
                                        <p:cTn id="169" dur="500"/>
                                        <p:tgtEl>
                                          <p:spTgt spid="138"/>
                                        </p:tgtEl>
                                      </p:cBhvr>
                                    </p:animEffect>
                                    <p:anim calcmode="lin" valueType="num">
                                      <p:cBhvr additive="base">
                                        <p:cTn id="170" dur="500" decel="100000" fill="hold"/>
                                        <p:tgtEl>
                                          <p:spTgt spid="138"/>
                                        </p:tgtEl>
                                        <p:attrNameLst>
                                          <p:attrName>ppt_y</p:attrName>
                                        </p:attrNameLst>
                                      </p:cBhvr>
                                      <p:tavLst>
                                        <p:tav tm="0">
                                          <p:val>
                                            <p:strVal val="#ppt_y+0.06"/>
                                          </p:val>
                                        </p:tav>
                                        <p:tav tm="100000">
                                          <p:val>
                                            <p:strVal val="#ppt_y"/>
                                          </p:val>
                                        </p:tav>
                                      </p:tavLst>
                                    </p:anim>
                                  </p:childTnLst>
                                </p:cTn>
                              </p:par>
                              <p:par>
                                <p:cTn id="171" presetID="42" presetClass="entr" presetSubtype="0" fill="hold" grpId="0" nodeType="withEffect">
                                  <p:stCondLst>
                                    <p:cond delay="0"/>
                                  </p:stCondLst>
                                  <p:childTnLst>
                                    <p:set>
                                      <p:cBhvr>
                                        <p:cTn id="172" dur="1" fill="hold">
                                          <p:stCondLst>
                                            <p:cond delay="0"/>
                                          </p:stCondLst>
                                        </p:cTn>
                                        <p:tgtEl>
                                          <p:spTgt spid="139"/>
                                        </p:tgtEl>
                                        <p:attrNameLst>
                                          <p:attrName>style.visibility</p:attrName>
                                        </p:attrNameLst>
                                      </p:cBhvr>
                                      <p:to>
                                        <p:strVal val="visible"/>
                                      </p:to>
                                    </p:set>
                                    <p:animEffect transition="in" filter="fade">
                                      <p:cBhvr>
                                        <p:cTn id="173" dur="500"/>
                                        <p:tgtEl>
                                          <p:spTgt spid="139"/>
                                        </p:tgtEl>
                                      </p:cBhvr>
                                    </p:animEffect>
                                    <p:anim calcmode="lin" valueType="num">
                                      <p:cBhvr additive="base">
                                        <p:cTn id="174" dur="500" decel="100000" fill="hold"/>
                                        <p:tgtEl>
                                          <p:spTgt spid="139"/>
                                        </p:tgtEl>
                                        <p:attrNameLst>
                                          <p:attrName>ppt_y</p:attrName>
                                        </p:attrNameLst>
                                      </p:cBhvr>
                                      <p:tavLst>
                                        <p:tav tm="0">
                                          <p:val>
                                            <p:strVal val="#ppt_y+0.06"/>
                                          </p:val>
                                        </p:tav>
                                        <p:tav tm="100000">
                                          <p:val>
                                            <p:strVal val="#ppt_y"/>
                                          </p:val>
                                        </p:tav>
                                      </p:tavLst>
                                    </p:anim>
                                  </p:childTnLst>
                                </p:cTn>
                              </p:par>
                              <p:par>
                                <p:cTn id="175" presetID="42" presetClass="entr" presetSubtype="0" fill="hold" grpId="0" nodeType="withEffect">
                                  <p:stCondLst>
                                    <p:cond delay="0"/>
                                  </p:stCondLst>
                                  <p:childTnLst>
                                    <p:set>
                                      <p:cBhvr>
                                        <p:cTn id="176" dur="1" fill="hold">
                                          <p:stCondLst>
                                            <p:cond delay="0"/>
                                          </p:stCondLst>
                                        </p:cTn>
                                        <p:tgtEl>
                                          <p:spTgt spid="140"/>
                                        </p:tgtEl>
                                        <p:attrNameLst>
                                          <p:attrName>style.visibility</p:attrName>
                                        </p:attrNameLst>
                                      </p:cBhvr>
                                      <p:to>
                                        <p:strVal val="visible"/>
                                      </p:to>
                                    </p:set>
                                    <p:animEffect transition="in" filter="fade">
                                      <p:cBhvr>
                                        <p:cTn id="177" dur="500"/>
                                        <p:tgtEl>
                                          <p:spTgt spid="140"/>
                                        </p:tgtEl>
                                      </p:cBhvr>
                                    </p:animEffect>
                                    <p:anim calcmode="lin" valueType="num">
                                      <p:cBhvr additive="base">
                                        <p:cTn id="178" dur="500" decel="100000" fill="hold"/>
                                        <p:tgtEl>
                                          <p:spTgt spid="140"/>
                                        </p:tgtEl>
                                        <p:attrNameLst>
                                          <p:attrName>ppt_y</p:attrName>
                                        </p:attrNameLst>
                                      </p:cBhvr>
                                      <p:tavLst>
                                        <p:tav tm="0">
                                          <p:val>
                                            <p:strVal val="#ppt_y+0.06"/>
                                          </p:val>
                                        </p:tav>
                                        <p:tav tm="100000">
                                          <p:val>
                                            <p:strVal val="#ppt_y"/>
                                          </p:val>
                                        </p:tav>
                                      </p:tavLst>
                                    </p:anim>
                                  </p:childTnLst>
                                </p:cTn>
                              </p:par>
                              <p:par>
                                <p:cTn id="179" presetID="42" presetClass="entr" presetSubtype="0" fill="hold" grpId="0" nodeType="withEffect">
                                  <p:stCondLst>
                                    <p:cond delay="200"/>
                                  </p:stCondLst>
                                  <p:childTnLst>
                                    <p:set>
                                      <p:cBhvr>
                                        <p:cTn id="180" dur="1" fill="hold">
                                          <p:stCondLst>
                                            <p:cond delay="0"/>
                                          </p:stCondLst>
                                        </p:cTn>
                                        <p:tgtEl>
                                          <p:spTgt spid="142"/>
                                        </p:tgtEl>
                                        <p:attrNameLst>
                                          <p:attrName>style.visibility</p:attrName>
                                        </p:attrNameLst>
                                      </p:cBhvr>
                                      <p:to>
                                        <p:strVal val="visible"/>
                                      </p:to>
                                    </p:set>
                                    <p:animEffect transition="in" filter="fade">
                                      <p:cBhvr>
                                        <p:cTn id="181" dur="500"/>
                                        <p:tgtEl>
                                          <p:spTgt spid="142"/>
                                        </p:tgtEl>
                                      </p:cBhvr>
                                    </p:animEffect>
                                    <p:anim calcmode="lin" valueType="num">
                                      <p:cBhvr additive="base">
                                        <p:cTn id="182" dur="500" decel="100000" fill="hold"/>
                                        <p:tgtEl>
                                          <p:spTgt spid="142"/>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2" grpId="0" animBg="1"/>
      <p:bldP spid="123" grpId="0" animBg="1"/>
      <p:bldP spid="124" grpId="0" animBg="1"/>
      <p:bldP spid="125" grpId="0" animBg="1"/>
      <p:bldP spid="126"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07085"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LIFECYCLE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Problem: Tests That Share a File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FileEmployeeRepository (Part 10) writes employees.json. Test 1 leaves Mona in the file; test 2 finds her.</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TESTABLE CODE</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146</a:t>
            </a:r>
            <a:endParaRPr lang="en-US" sz="850" dirty="0"/>
          </a:p>
        </p:txBody>
      </p:sp>
      <p:sp>
        <p:nvSpPr>
          <p:cNvPr id="101" name="s101"/>
          <p:cNvSpPr/>
          <p:nvPr/>
        </p:nvSpPr>
        <p:spPr>
          <a:xfrm>
            <a:off x="543154" y="1783080"/>
            <a:ext cx="6400800" cy="38404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2459736"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FileEmployeeRepositoryTests.cs</a:t>
            </a:r>
            <a:endParaRPr lang="en-US" sz="950" dirty="0"/>
          </a:p>
        </p:txBody>
      </p:sp>
      <p:cxnSp>
        <p:nvCxnSpPr>
          <p:cNvPr id="106" name="ln106"/>
          <p:cNvCxnSpPr/>
          <p:nvPr/>
        </p:nvCxnSpPr>
        <p:spPr>
          <a:xfrm>
            <a:off x="543154" y="2194560"/>
            <a:ext cx="6400800" cy="0"/>
          </a:xfrm>
          <a:prstGeom prst="line">
            <a:avLst/>
          </a:prstGeom>
          <a:ln w="9525">
            <a:solidFill>
              <a:srgbClr val="1E3A5F"/>
            </a:solidFill>
          </a:ln>
        </p:spPr>
      </p:cxnSp>
      <p:sp>
        <p:nvSpPr>
          <p:cNvPr id="107" name="s107"/>
          <p:cNvSpPr/>
          <p:nvPr/>
        </p:nvSpPr>
        <p:spPr>
          <a:xfrm>
            <a:off x="543154" y="231343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class</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FileEmployeeRepositoryTests</a:t>
            </a:r>
            <a:r>
              <a:rPr lang="en-US" sz="1150" b="0" dirty="0">
                <a:solidFill>
                  <a:srgbClr val="E2E8F0"/>
                </a:solidFill>
                <a:latin typeface="Consolas"/>
                <a:ea typeface="Consolas"/>
                <a:cs typeface="Consolas"/>
              </a:rPr>
              <a:t> : </a:t>
            </a:r>
            <a:r>
              <a:rPr lang="en-US" sz="1150" b="0" dirty="0">
                <a:solidFill>
                  <a:srgbClr val="7DD3FC"/>
                </a:solidFill>
                <a:latin typeface="Consolas"/>
                <a:ea typeface="Consolas"/>
                <a:cs typeface="Consolas"/>
              </a:rPr>
              <a:t>IDisposable</a:t>
            </a:r>
            <a:endParaRPr lang="en-US" sz="1150" dirty="0"/>
          </a:p>
        </p:txBody>
      </p:sp>
      <p:sp>
        <p:nvSpPr>
          <p:cNvPr id="108" name="s108"/>
          <p:cNvSpPr/>
          <p:nvPr/>
        </p:nvSpPr>
        <p:spPr>
          <a:xfrm>
            <a:off x="543154" y="248869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09" name="s109"/>
          <p:cNvSpPr/>
          <p:nvPr/>
        </p:nvSpPr>
        <p:spPr>
          <a:xfrm>
            <a:off x="543154" y="266395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private</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readonly</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string</a:t>
            </a:r>
            <a:r>
              <a:rPr lang="en-US" sz="1150" b="0" dirty="0">
                <a:solidFill>
                  <a:srgbClr val="E2E8F0"/>
                </a:solidFill>
                <a:latin typeface="Consolas"/>
                <a:ea typeface="Consolas"/>
                <a:cs typeface="Consolas"/>
              </a:rPr>
              <a:t> _folder =</a:t>
            </a:r>
            <a:endParaRPr lang="en-US" sz="1150" dirty="0"/>
          </a:p>
        </p:txBody>
      </p:sp>
      <p:sp>
        <p:nvSpPr>
          <p:cNvPr id="110" name="s110"/>
          <p:cNvSpPr/>
          <p:nvPr/>
        </p:nvSpPr>
        <p:spPr>
          <a:xfrm>
            <a:off x="543154" y="283921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Path</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Combine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Path</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GetTempPath</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Guid</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NewGuid</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ToString</a:t>
            </a:r>
            <a:r>
              <a:rPr lang="en-US" sz="1150" b="0" dirty="0">
                <a:solidFill>
                  <a:srgbClr val="E2E8F0"/>
                </a:solidFill>
                <a:latin typeface="Consolas"/>
                <a:ea typeface="Consolas"/>
                <a:cs typeface="Consolas"/>
              </a:rPr>
              <a:t>());</a:t>
            </a:r>
            <a:endParaRPr lang="en-US" sz="1150" dirty="0"/>
          </a:p>
        </p:txBody>
      </p:sp>
      <p:sp>
        <p:nvSpPr>
          <p:cNvPr id="111" name="s111"/>
          <p:cNvSpPr/>
          <p:nvPr/>
        </p:nvSpPr>
        <p:spPr>
          <a:xfrm>
            <a:off x="543154" y="301447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private</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readonly</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string</a:t>
            </a:r>
            <a:r>
              <a:rPr lang="en-US" sz="1150" b="0" dirty="0">
                <a:solidFill>
                  <a:srgbClr val="E2E8F0"/>
                </a:solidFill>
                <a:latin typeface="Consolas"/>
                <a:ea typeface="Consolas"/>
                <a:cs typeface="Consolas"/>
              </a:rPr>
              <a:t> _path;</a:t>
            </a:r>
            <a:endParaRPr lang="en-US" sz="1150" dirty="0"/>
          </a:p>
        </p:txBody>
      </p:sp>
      <p:sp>
        <p:nvSpPr>
          <p:cNvPr id="112" name="s112"/>
          <p:cNvSpPr/>
          <p:nvPr/>
        </p:nvSpPr>
        <p:spPr>
          <a:xfrm>
            <a:off x="543154" y="336499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FileEmployeeRepositoryTests</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before EACH test</a:t>
            </a:r>
            <a:endParaRPr lang="en-US" sz="1150" dirty="0"/>
          </a:p>
        </p:txBody>
      </p:sp>
      <p:sp>
        <p:nvSpPr>
          <p:cNvPr id="113" name="s113"/>
          <p:cNvSpPr/>
          <p:nvPr/>
        </p:nvSpPr>
        <p:spPr>
          <a:xfrm>
            <a:off x="543154" y="354025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endParaRPr lang="en-US" sz="1150" dirty="0"/>
          </a:p>
        </p:txBody>
      </p:sp>
      <p:sp>
        <p:nvSpPr>
          <p:cNvPr id="114" name="s114"/>
          <p:cNvSpPr/>
          <p:nvPr/>
        </p:nvSpPr>
        <p:spPr>
          <a:xfrm>
            <a:off x="543154" y="371551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_path = </a:t>
            </a:r>
            <a:r>
              <a:rPr lang="en-US" sz="1150" b="0" dirty="0">
                <a:solidFill>
                  <a:srgbClr val="7DD3FC"/>
                </a:solidFill>
                <a:latin typeface="Consolas"/>
                <a:ea typeface="Consolas"/>
                <a:cs typeface="Consolas"/>
              </a:rPr>
              <a:t>Path</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Combine</a:t>
            </a:r>
            <a:r>
              <a:rPr lang="en-US" sz="1150" b="0" dirty="0">
                <a:solidFill>
                  <a:srgbClr val="E2E8F0"/>
                </a:solidFill>
                <a:latin typeface="Consolas"/>
                <a:ea typeface="Consolas"/>
                <a:cs typeface="Consolas"/>
              </a:rPr>
              <a:t>(_folder, </a:t>
            </a:r>
            <a:r>
              <a:rPr lang="en-US" sz="1150" b="0" dirty="0">
                <a:solidFill>
                  <a:srgbClr val="F0A98B"/>
                </a:solidFill>
                <a:latin typeface="Consolas"/>
                <a:ea typeface="Consolas"/>
                <a:cs typeface="Consolas"/>
              </a:rPr>
              <a:t>"employees.json"</a:t>
            </a:r>
            <a:r>
              <a:rPr lang="en-US" sz="1150" b="0" dirty="0">
                <a:solidFill>
                  <a:srgbClr val="E2E8F0"/>
                </a:solidFill>
                <a:latin typeface="Consolas"/>
                <a:ea typeface="Consolas"/>
                <a:cs typeface="Consolas"/>
              </a:rPr>
              <a:t>);</a:t>
            </a:r>
            <a:endParaRPr lang="en-US" sz="1150" dirty="0"/>
          </a:p>
        </p:txBody>
      </p:sp>
      <p:sp>
        <p:nvSpPr>
          <p:cNvPr id="115" name="s115"/>
          <p:cNvSpPr/>
          <p:nvPr/>
        </p:nvSpPr>
        <p:spPr>
          <a:xfrm>
            <a:off x="543154" y="389077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endParaRPr lang="en-US" sz="1150" dirty="0"/>
          </a:p>
        </p:txBody>
      </p:sp>
      <p:sp>
        <p:nvSpPr>
          <p:cNvPr id="116" name="s116"/>
          <p:cNvSpPr/>
          <p:nvPr/>
        </p:nvSpPr>
        <p:spPr>
          <a:xfrm>
            <a:off x="543154" y="424129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void</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Dispose</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after EACH test</a:t>
            </a:r>
            <a:endParaRPr lang="en-US" sz="1150" dirty="0"/>
          </a:p>
        </p:txBody>
      </p:sp>
      <p:sp>
        <p:nvSpPr>
          <p:cNvPr id="117" name="s117"/>
          <p:cNvSpPr/>
          <p:nvPr/>
        </p:nvSpPr>
        <p:spPr>
          <a:xfrm>
            <a:off x="543154" y="441655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endParaRPr lang="en-US" sz="1150" dirty="0"/>
          </a:p>
        </p:txBody>
      </p:sp>
      <p:sp>
        <p:nvSpPr>
          <p:cNvPr id="118" name="s118"/>
          <p:cNvSpPr/>
          <p:nvPr/>
        </p:nvSpPr>
        <p:spPr>
          <a:xfrm>
            <a:off x="543154" y="459181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if</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Directory</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Exists</a:t>
            </a:r>
            <a:r>
              <a:rPr lang="en-US" sz="1150" b="0" dirty="0">
                <a:solidFill>
                  <a:srgbClr val="E2E8F0"/>
                </a:solidFill>
                <a:latin typeface="Consolas"/>
                <a:ea typeface="Consolas"/>
                <a:cs typeface="Consolas"/>
              </a:rPr>
              <a:t>(_folder))</a:t>
            </a:r>
            <a:endParaRPr lang="en-US" sz="1150" dirty="0"/>
          </a:p>
        </p:txBody>
      </p:sp>
      <p:sp>
        <p:nvSpPr>
          <p:cNvPr id="119" name="s119"/>
          <p:cNvSpPr/>
          <p:nvPr/>
        </p:nvSpPr>
        <p:spPr>
          <a:xfrm>
            <a:off x="543154" y="476707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Directory</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Delete</a:t>
            </a:r>
            <a:r>
              <a:rPr lang="en-US" sz="1150" b="0" dirty="0">
                <a:solidFill>
                  <a:srgbClr val="E2E8F0"/>
                </a:solidFill>
                <a:latin typeface="Consolas"/>
                <a:ea typeface="Consolas"/>
                <a:cs typeface="Consolas"/>
              </a:rPr>
              <a:t>(_folder, recursive: </a:t>
            </a:r>
            <a:r>
              <a:rPr lang="en-US" sz="1150" b="0" dirty="0">
                <a:solidFill>
                  <a:srgbClr val="60A5FA"/>
                </a:solidFill>
                <a:latin typeface="Consolas"/>
                <a:ea typeface="Consolas"/>
                <a:cs typeface="Consolas"/>
              </a:rPr>
              <a:t>true</a:t>
            </a:r>
            <a:r>
              <a:rPr lang="en-US" sz="1150" b="0" dirty="0">
                <a:solidFill>
                  <a:srgbClr val="E2E8F0"/>
                </a:solidFill>
                <a:latin typeface="Consolas"/>
                <a:ea typeface="Consolas"/>
                <a:cs typeface="Consolas"/>
              </a:rPr>
              <a:t>);</a:t>
            </a:r>
            <a:endParaRPr lang="en-US" sz="1150" dirty="0"/>
          </a:p>
        </p:txBody>
      </p:sp>
      <p:sp>
        <p:nvSpPr>
          <p:cNvPr id="120" name="s120"/>
          <p:cNvSpPr/>
          <p:nvPr/>
        </p:nvSpPr>
        <p:spPr>
          <a:xfrm>
            <a:off x="543154" y="494233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endParaRPr lang="en-US" sz="1150" dirty="0"/>
          </a:p>
        </p:txBody>
      </p:sp>
      <p:sp>
        <p:nvSpPr>
          <p:cNvPr id="121" name="s121"/>
          <p:cNvSpPr/>
          <p:nvPr/>
        </p:nvSpPr>
        <p:spPr>
          <a:xfrm>
            <a:off x="543154" y="5117592"/>
            <a:ext cx="640080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22" name="s122"/>
          <p:cNvSpPr/>
          <p:nvPr/>
        </p:nvSpPr>
        <p:spPr>
          <a:xfrm>
            <a:off x="7218274" y="1783080"/>
            <a:ext cx="4412894" cy="658368"/>
          </a:xfrm>
          <a:prstGeom prst="roundRect">
            <a:avLst>
              <a:gd name="adj" fmla="val 15000"/>
            </a:avLst>
          </a:prstGeom>
          <a:solidFill>
            <a:srgbClr val="111B2E"/>
          </a:solidFill>
          <a:ln w="12700">
            <a:solidFill>
              <a:srgbClr val="A78BFA">
                <a:alpha val="60000"/>
              </a:srgbClr>
            </a:solidFill>
            <a:prstDash val="solid"/>
          </a:ln>
        </p:spPr>
        <p:txBody>
          <a:bodyPr wrap="square" lIns="137160" tIns="0" rIns="91440" bIns="0" rtlCol="0" anchor="ctr">
            <a:noAutofit/>
          </a:bodyPr>
          <a:lstStyle/>
          <a:p>
            <a:pPr marL="0" indent="0" algn="l">
              <a:spcBef>
                <a:spcPts val="0"/>
              </a:spcBef>
              <a:spcAft>
                <a:spcPts val="0"/>
              </a:spcAft>
              <a:buNone/>
            </a:pPr>
            <a:r>
              <a:rPr lang="en-US" sz="1050" b="0" dirty="0">
                <a:solidFill>
                  <a:srgbClr val="13D0F7"/>
                </a:solidFill>
                <a:latin typeface="Consolas"/>
                <a:ea typeface="Consolas"/>
                <a:cs typeface="Consolas"/>
              </a:rPr>
              <a:t>new …Tests()</a:t>
            </a:r>
            <a:r>
              <a:rPr lang="en-US" sz="1050" b="0" dirty="0">
                <a:solidFill>
                  <a:srgbClr val="94A3B8"/>
                </a:solidFill>
                <a:latin typeface="Consolas"/>
                <a:ea typeface="Consolas"/>
                <a:cs typeface="Consolas"/>
              </a:rPr>
              <a:t> → </a:t>
            </a:r>
            <a:r>
              <a:rPr lang="en-US" sz="1050" b="0" dirty="0">
                <a:solidFill>
                  <a:srgbClr val="FFFFFF"/>
                </a:solidFill>
                <a:latin typeface="Consolas"/>
                <a:ea typeface="Consolas"/>
                <a:cs typeface="Consolas"/>
              </a:rPr>
              <a:t>Add_ThenGetById_ReturnsIt</a:t>
            </a:r>
            <a:r>
              <a:rPr lang="en-US" sz="1050" b="0" dirty="0">
                <a:solidFill>
                  <a:srgbClr val="94A3B8"/>
                </a:solidFill>
                <a:latin typeface="Consolas"/>
                <a:ea typeface="Consolas"/>
                <a:cs typeface="Consolas"/>
              </a:rPr>
              <a:t> → </a:t>
            </a:r>
            <a:r>
              <a:rPr lang="en-US" sz="1050" b="0" dirty="0">
                <a:solidFill>
                  <a:srgbClr val="F472B6"/>
                </a:solidFill>
                <a:latin typeface="Consolas"/>
                <a:ea typeface="Consolas"/>
                <a:cs typeface="Consolas"/>
              </a:rPr>
              <a:t>Dispose</a:t>
            </a:r>
            <a:endParaRPr lang="en-US" sz="1050" dirty="0"/>
          </a:p>
        </p:txBody>
      </p:sp>
      <p:sp>
        <p:nvSpPr>
          <p:cNvPr id="123" name="s123"/>
          <p:cNvSpPr/>
          <p:nvPr/>
        </p:nvSpPr>
        <p:spPr>
          <a:xfrm>
            <a:off x="7218274" y="2560320"/>
            <a:ext cx="4412894" cy="658368"/>
          </a:xfrm>
          <a:prstGeom prst="roundRect">
            <a:avLst>
              <a:gd name="adj" fmla="val 15000"/>
            </a:avLst>
          </a:prstGeom>
          <a:solidFill>
            <a:srgbClr val="111B2E"/>
          </a:solidFill>
          <a:ln w="12700">
            <a:solidFill>
              <a:srgbClr val="A78BFA">
                <a:alpha val="60000"/>
              </a:srgbClr>
            </a:solidFill>
            <a:prstDash val="solid"/>
          </a:ln>
        </p:spPr>
        <p:txBody>
          <a:bodyPr wrap="square" lIns="137160" tIns="0" rIns="91440" bIns="0" rtlCol="0" anchor="ctr">
            <a:noAutofit/>
          </a:bodyPr>
          <a:lstStyle/>
          <a:p>
            <a:pPr marL="0" indent="0" algn="l">
              <a:spcBef>
                <a:spcPts val="0"/>
              </a:spcBef>
              <a:spcAft>
                <a:spcPts val="0"/>
              </a:spcAft>
              <a:buNone/>
            </a:pPr>
            <a:r>
              <a:rPr lang="en-US" sz="1050" b="0" dirty="0">
                <a:solidFill>
                  <a:srgbClr val="13D0F7"/>
                </a:solidFill>
                <a:latin typeface="Consolas"/>
                <a:ea typeface="Consolas"/>
                <a:cs typeface="Consolas"/>
              </a:rPr>
              <a:t>new …Tests()</a:t>
            </a:r>
            <a:r>
              <a:rPr lang="en-US" sz="1050" b="0" dirty="0">
                <a:solidFill>
                  <a:srgbClr val="94A3B8"/>
                </a:solidFill>
                <a:latin typeface="Consolas"/>
                <a:ea typeface="Consolas"/>
                <a:cs typeface="Consolas"/>
              </a:rPr>
              <a:t> → </a:t>
            </a:r>
            <a:r>
              <a:rPr lang="en-US" sz="1050" b="0" dirty="0">
                <a:solidFill>
                  <a:srgbClr val="FFFFFF"/>
                </a:solidFill>
                <a:latin typeface="Consolas"/>
                <a:ea typeface="Consolas"/>
                <a:cs typeface="Consolas"/>
              </a:rPr>
              <a:t>Add_Duplicate_ReturnsFalse</a:t>
            </a:r>
            <a:r>
              <a:rPr lang="en-US" sz="1050" b="0" dirty="0">
                <a:solidFill>
                  <a:srgbClr val="94A3B8"/>
                </a:solidFill>
                <a:latin typeface="Consolas"/>
                <a:ea typeface="Consolas"/>
                <a:cs typeface="Consolas"/>
              </a:rPr>
              <a:t> → </a:t>
            </a:r>
            <a:r>
              <a:rPr lang="en-US" sz="1050" b="0" dirty="0">
                <a:solidFill>
                  <a:srgbClr val="F472B6"/>
                </a:solidFill>
                <a:latin typeface="Consolas"/>
                <a:ea typeface="Consolas"/>
                <a:cs typeface="Consolas"/>
              </a:rPr>
              <a:t>Dispose</a:t>
            </a:r>
            <a:endParaRPr lang="en-US" sz="1050" dirty="0"/>
          </a:p>
        </p:txBody>
      </p:sp>
      <p:sp>
        <p:nvSpPr>
          <p:cNvPr id="124" name="s124"/>
          <p:cNvSpPr/>
          <p:nvPr/>
        </p:nvSpPr>
        <p:spPr>
          <a:xfrm>
            <a:off x="7218274" y="3337560"/>
            <a:ext cx="4412894" cy="658368"/>
          </a:xfrm>
          <a:prstGeom prst="roundRect">
            <a:avLst>
              <a:gd name="adj" fmla="val 15000"/>
            </a:avLst>
          </a:prstGeom>
          <a:solidFill>
            <a:srgbClr val="111B2E"/>
          </a:solidFill>
          <a:ln w="12700">
            <a:solidFill>
              <a:srgbClr val="A78BFA">
                <a:alpha val="60000"/>
              </a:srgbClr>
            </a:solidFill>
            <a:prstDash val="solid"/>
          </a:ln>
        </p:spPr>
        <p:txBody>
          <a:bodyPr wrap="square" lIns="137160" tIns="0" rIns="91440" bIns="0" rtlCol="0" anchor="ctr">
            <a:noAutofit/>
          </a:bodyPr>
          <a:lstStyle/>
          <a:p>
            <a:pPr marL="0" indent="0" algn="l">
              <a:spcBef>
                <a:spcPts val="0"/>
              </a:spcBef>
              <a:spcAft>
                <a:spcPts val="0"/>
              </a:spcAft>
              <a:buNone/>
            </a:pPr>
            <a:r>
              <a:rPr lang="en-US" sz="1050" b="0" dirty="0">
                <a:solidFill>
                  <a:srgbClr val="13D0F7"/>
                </a:solidFill>
                <a:latin typeface="Consolas"/>
                <a:ea typeface="Consolas"/>
                <a:cs typeface="Consolas"/>
              </a:rPr>
              <a:t>new …Tests()</a:t>
            </a:r>
            <a:r>
              <a:rPr lang="en-US" sz="1050" b="0" dirty="0">
                <a:solidFill>
                  <a:srgbClr val="94A3B8"/>
                </a:solidFill>
                <a:latin typeface="Consolas"/>
                <a:ea typeface="Consolas"/>
                <a:cs typeface="Consolas"/>
              </a:rPr>
              <a:t> → </a:t>
            </a:r>
            <a:r>
              <a:rPr lang="en-US" sz="1050" b="0" dirty="0">
                <a:solidFill>
                  <a:srgbClr val="FFFFFF"/>
                </a:solidFill>
                <a:latin typeface="Consolas"/>
                <a:ea typeface="Consolas"/>
                <a:cs typeface="Consolas"/>
              </a:rPr>
              <a:t>Delete_Missing_ReturnsFalse</a:t>
            </a:r>
            <a:r>
              <a:rPr lang="en-US" sz="1050" b="0" dirty="0">
                <a:solidFill>
                  <a:srgbClr val="94A3B8"/>
                </a:solidFill>
                <a:latin typeface="Consolas"/>
                <a:ea typeface="Consolas"/>
                <a:cs typeface="Consolas"/>
              </a:rPr>
              <a:t> → </a:t>
            </a:r>
            <a:r>
              <a:rPr lang="en-US" sz="1050" b="0" dirty="0">
                <a:solidFill>
                  <a:srgbClr val="F472B6"/>
                </a:solidFill>
                <a:latin typeface="Consolas"/>
                <a:ea typeface="Consolas"/>
                <a:cs typeface="Consolas"/>
              </a:rPr>
              <a:t>Dispose</a:t>
            </a:r>
            <a:endParaRPr lang="en-US" sz="1050" dirty="0"/>
          </a:p>
        </p:txBody>
      </p:sp>
      <p:sp>
        <p:nvSpPr>
          <p:cNvPr id="125" name="s125"/>
          <p:cNvSpPr/>
          <p:nvPr/>
        </p:nvSpPr>
        <p:spPr>
          <a:xfrm>
            <a:off x="7218274" y="4206240"/>
            <a:ext cx="4412894" cy="64008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ISOLATED BY DESIGN</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No field survives into the next test.</a:t>
            </a:r>
            <a:endParaRPr lang="en-US" sz="1200" dirty="0"/>
          </a:p>
        </p:txBody>
      </p:sp>
      <p:sp>
        <p:nvSpPr>
          <p:cNvPr id="126" name="s126"/>
          <p:cNvSpPr/>
          <p:nvPr/>
        </p:nvSpPr>
        <p:spPr>
          <a:xfrm>
            <a:off x="7218274" y="4937760"/>
            <a:ext cx="4412894" cy="685800"/>
          </a:xfrm>
          <a:prstGeom prst="roundRect">
            <a:avLst>
              <a:gd name="adj" fmla="val 10000"/>
            </a:avLst>
          </a:prstGeom>
          <a:solidFill>
            <a:srgbClr val="FBBF24">
              <a:alpha val="8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BBF24"/>
                </a:solidFill>
                <a:latin typeface="Segoe UI"/>
                <a:ea typeface="Segoe UI"/>
                <a:cs typeface="Segoe UI"/>
              </a:rPr>
              <a:t>SHARE SOMETHING EXPENSIVE?</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IClassFixture&lt;T&gt;: one instance per class.</a:t>
            </a:r>
            <a:endParaRPr lang="en-US" sz="1200" dirty="0"/>
          </a:p>
        </p:txBody>
      </p:sp>
      <p:sp>
        <p:nvSpPr>
          <p:cNvPr id="127" name="s127"/>
          <p:cNvSpPr/>
          <p:nvPr/>
        </p:nvSpPr>
        <p:spPr>
          <a:xfrm>
            <a:off x="652882" y="3337560"/>
            <a:ext cx="6181344" cy="755904"/>
          </a:xfrm>
          <a:prstGeom prst="roundRect">
            <a:avLst>
              <a:gd name="adj" fmla="val 6000"/>
            </a:avLst>
          </a:prstGeom>
          <a:solidFill>
            <a:srgbClr val="13D0F7">
              <a:alpha val="10000"/>
            </a:srgbClr>
          </a:solidFill>
          <a:ln w="15875">
            <a:solidFill>
              <a:srgbClr val="13D0F7"/>
            </a:solidFill>
            <a:prstDash val="solid"/>
          </a:ln>
        </p:spPr>
        <p:txBody>
          <a:bodyPr wrap="square" lIns="164592" tIns="109728" rIns="137160" bIns="91440" rtlCol="0" anchor="t">
            <a:noAutofit/>
          </a:bodyPr>
          <a:lstStyle/>
          <a:p>
            <a:endParaRPr lang="en-US"/>
          </a:p>
        </p:txBody>
      </p:sp>
      <p:sp>
        <p:nvSpPr>
          <p:cNvPr id="128" name="s128"/>
          <p:cNvSpPr/>
          <p:nvPr/>
        </p:nvSpPr>
        <p:spPr>
          <a:xfrm>
            <a:off x="652882" y="4213860"/>
            <a:ext cx="6181344" cy="931164"/>
          </a:xfrm>
          <a:prstGeom prst="roundRect">
            <a:avLst>
              <a:gd name="adj" fmla="val 6000"/>
            </a:avLst>
          </a:prstGeom>
          <a:solidFill>
            <a:srgbClr val="F472B6">
              <a:alpha val="10000"/>
            </a:srgbClr>
          </a:solidFill>
          <a:ln w="15875">
            <a:solidFill>
              <a:srgbClr val="F472B6"/>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0"/>
                                        </p:tgtEl>
                                        <p:attrNameLst>
                                          <p:attrName>style.visibility</p:attrName>
                                        </p:attrNameLst>
                                      </p:cBhvr>
                                      <p:to>
                                        <p:strVal val="visible"/>
                                      </p:to>
                                    </p:set>
                                    <p:animEffect transition="in" filter="fade">
                                      <p:cBhvr>
                                        <p:cTn id="83" dur="500"/>
                                        <p:tgtEl>
                                          <p:spTgt spid="120"/>
                                        </p:tgtEl>
                                      </p:cBhvr>
                                    </p:animEffect>
                                    <p:anim calcmode="lin" valueType="num">
                                      <p:cBhvr additive="base">
                                        <p:cTn id="84" dur="500" decel="100000" fill="hold"/>
                                        <p:tgtEl>
                                          <p:spTgt spid="120"/>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121"/>
                                        </p:tgtEl>
                                        <p:attrNameLst>
                                          <p:attrName>style.visibility</p:attrName>
                                        </p:attrNameLst>
                                      </p:cBhvr>
                                      <p:to>
                                        <p:strVal val="visible"/>
                                      </p:to>
                                    </p:set>
                                    <p:animEffect transition="in" filter="fade">
                                      <p:cBhvr>
                                        <p:cTn id="87" dur="500"/>
                                        <p:tgtEl>
                                          <p:spTgt spid="121"/>
                                        </p:tgtEl>
                                      </p:cBhvr>
                                    </p:animEffect>
                                    <p:anim calcmode="lin" valueType="num">
                                      <p:cBhvr additive="base">
                                        <p:cTn id="88" dur="500" decel="100000" fill="hold"/>
                                        <p:tgtEl>
                                          <p:spTgt spid="121"/>
                                        </p:tgtEl>
                                        <p:attrNameLst>
                                          <p:attrName>ppt_y</p:attrName>
                                        </p:attrNameLst>
                                      </p:cBhvr>
                                      <p:tavLst>
                                        <p:tav tm="0">
                                          <p:val>
                                            <p:strVal val="#ppt_y+0.06"/>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53" presetClass="entr" presetSubtype="16" fill="hold" grpId="0" nodeType="clickEffect">
                                  <p:stCondLst>
                                    <p:cond delay="0"/>
                                  </p:stCondLst>
                                  <p:childTnLst>
                                    <p:set>
                                      <p:cBhvr>
                                        <p:cTn id="92" dur="1" fill="hold">
                                          <p:stCondLst>
                                            <p:cond delay="0"/>
                                          </p:stCondLst>
                                        </p:cTn>
                                        <p:tgtEl>
                                          <p:spTgt spid="127"/>
                                        </p:tgtEl>
                                        <p:attrNameLst>
                                          <p:attrName>style.visibility</p:attrName>
                                        </p:attrNameLst>
                                      </p:cBhvr>
                                      <p:to>
                                        <p:strVal val="visible"/>
                                      </p:to>
                                    </p:set>
                                    <p:anim calcmode="lin" valueType="num">
                                      <p:cBhvr additive="base">
                                        <p:cTn id="93" dur="500" decel="100000" fill="hold"/>
                                        <p:tgtEl>
                                          <p:spTgt spid="127"/>
                                        </p:tgtEl>
                                        <p:attrNameLst>
                                          <p:attrName>ppt_w</p:attrName>
                                        </p:attrNameLst>
                                      </p:cBhvr>
                                      <p:tavLst>
                                        <p:tav tm="0">
                                          <p:val>
                                            <p:strVal val="#ppt_w*0.3"/>
                                          </p:val>
                                        </p:tav>
                                        <p:tav tm="100000">
                                          <p:val>
                                            <p:strVal val="#ppt_w*1.08"/>
                                          </p:val>
                                        </p:tav>
                                      </p:tavLst>
                                    </p:anim>
                                    <p:anim calcmode="lin" valueType="num">
                                      <p:cBhvr additive="base">
                                        <p:cTn id="94" dur="500" decel="100000" fill="hold"/>
                                        <p:tgtEl>
                                          <p:spTgt spid="127"/>
                                        </p:tgtEl>
                                        <p:attrNameLst>
                                          <p:attrName>ppt_h</p:attrName>
                                        </p:attrNameLst>
                                      </p:cBhvr>
                                      <p:tavLst>
                                        <p:tav tm="0">
                                          <p:val>
                                            <p:strVal val="#ppt_h*0.3"/>
                                          </p:val>
                                        </p:tav>
                                        <p:tav tm="100000">
                                          <p:val>
                                            <p:strVal val="#ppt_h*1.08"/>
                                          </p:val>
                                        </p:tav>
                                      </p:tavLst>
                                    </p:anim>
                                    <p:animEffect transition="in" filter="fade">
                                      <p:cBhvr>
                                        <p:cTn id="95" dur="250"/>
                                        <p:tgtEl>
                                          <p:spTgt spid="127"/>
                                        </p:tgtEl>
                                      </p:cBhvr>
                                    </p:animEffect>
                                    <p:anim calcmode="lin" valueType="num">
                                      <p:cBhvr additive="base">
                                        <p:cTn id="96" dur="160" fill="hold">
                                          <p:stCondLst>
                                            <p:cond delay="500"/>
                                          </p:stCondLst>
                                        </p:cTn>
                                        <p:tgtEl>
                                          <p:spTgt spid="127"/>
                                        </p:tgtEl>
                                        <p:attrNameLst>
                                          <p:attrName>ppt_w</p:attrName>
                                        </p:attrNameLst>
                                      </p:cBhvr>
                                      <p:tavLst>
                                        <p:tav tm="0">
                                          <p:val>
                                            <p:strVal val="#ppt_w*1.08"/>
                                          </p:val>
                                        </p:tav>
                                        <p:tav tm="100000">
                                          <p:val>
                                            <p:strVal val="#ppt_w"/>
                                          </p:val>
                                        </p:tav>
                                      </p:tavLst>
                                    </p:anim>
                                    <p:anim calcmode="lin" valueType="num">
                                      <p:cBhvr additive="base">
                                        <p:cTn id="97" dur="160" fill="hold">
                                          <p:stCondLst>
                                            <p:cond delay="500"/>
                                          </p:stCondLst>
                                        </p:cTn>
                                        <p:tgtEl>
                                          <p:spTgt spid="127"/>
                                        </p:tgtEl>
                                        <p:attrNameLst>
                                          <p:attrName>ppt_h</p:attrName>
                                        </p:attrNameLst>
                                      </p:cBhvr>
                                      <p:tavLst>
                                        <p:tav tm="0">
                                          <p:val>
                                            <p:strVal val="#ppt_h*1.08"/>
                                          </p:val>
                                        </p:tav>
                                        <p:tav tm="100000">
                                          <p:val>
                                            <p:strVal val="#ppt_h"/>
                                          </p:val>
                                        </p:tav>
                                      </p:tavLst>
                                    </p:anim>
                                  </p:childTnLst>
                                </p:cTn>
                              </p:par>
                            </p:childTnLst>
                          </p:cTn>
                        </p:par>
                      </p:childTnLst>
                    </p:cTn>
                  </p:par>
                  <p:par>
                    <p:cTn id="98" fill="hold">
                      <p:stCondLst>
                        <p:cond delay="indefinite"/>
                      </p:stCondLst>
                      <p:childTnLst>
                        <p:par>
                          <p:cTn id="99" fill="hold">
                            <p:stCondLst>
                              <p:cond delay="0"/>
                            </p:stCondLst>
                            <p:childTnLst>
                              <p:par>
                                <p:cTn id="100" presetID="53" presetClass="entr" presetSubtype="16" fill="hold" grpId="0" nodeType="clickEffect">
                                  <p:stCondLst>
                                    <p:cond delay="0"/>
                                  </p:stCondLst>
                                  <p:childTnLst>
                                    <p:set>
                                      <p:cBhvr>
                                        <p:cTn id="101" dur="1" fill="hold">
                                          <p:stCondLst>
                                            <p:cond delay="0"/>
                                          </p:stCondLst>
                                        </p:cTn>
                                        <p:tgtEl>
                                          <p:spTgt spid="128"/>
                                        </p:tgtEl>
                                        <p:attrNameLst>
                                          <p:attrName>style.visibility</p:attrName>
                                        </p:attrNameLst>
                                      </p:cBhvr>
                                      <p:to>
                                        <p:strVal val="visible"/>
                                      </p:to>
                                    </p:set>
                                    <p:anim calcmode="lin" valueType="num">
                                      <p:cBhvr additive="base">
                                        <p:cTn id="102" dur="500" decel="100000" fill="hold"/>
                                        <p:tgtEl>
                                          <p:spTgt spid="128"/>
                                        </p:tgtEl>
                                        <p:attrNameLst>
                                          <p:attrName>ppt_w</p:attrName>
                                        </p:attrNameLst>
                                      </p:cBhvr>
                                      <p:tavLst>
                                        <p:tav tm="0">
                                          <p:val>
                                            <p:strVal val="#ppt_w*0.3"/>
                                          </p:val>
                                        </p:tav>
                                        <p:tav tm="100000">
                                          <p:val>
                                            <p:strVal val="#ppt_w*1.08"/>
                                          </p:val>
                                        </p:tav>
                                      </p:tavLst>
                                    </p:anim>
                                    <p:anim calcmode="lin" valueType="num">
                                      <p:cBhvr additive="base">
                                        <p:cTn id="103" dur="500" decel="100000" fill="hold"/>
                                        <p:tgtEl>
                                          <p:spTgt spid="128"/>
                                        </p:tgtEl>
                                        <p:attrNameLst>
                                          <p:attrName>ppt_h</p:attrName>
                                        </p:attrNameLst>
                                      </p:cBhvr>
                                      <p:tavLst>
                                        <p:tav tm="0">
                                          <p:val>
                                            <p:strVal val="#ppt_h*0.3"/>
                                          </p:val>
                                        </p:tav>
                                        <p:tav tm="100000">
                                          <p:val>
                                            <p:strVal val="#ppt_h*1.08"/>
                                          </p:val>
                                        </p:tav>
                                      </p:tavLst>
                                    </p:anim>
                                    <p:animEffect transition="in" filter="fade">
                                      <p:cBhvr>
                                        <p:cTn id="104" dur="250"/>
                                        <p:tgtEl>
                                          <p:spTgt spid="128"/>
                                        </p:tgtEl>
                                      </p:cBhvr>
                                    </p:animEffect>
                                    <p:anim calcmode="lin" valueType="num">
                                      <p:cBhvr additive="base">
                                        <p:cTn id="105" dur="160" fill="hold">
                                          <p:stCondLst>
                                            <p:cond delay="500"/>
                                          </p:stCondLst>
                                        </p:cTn>
                                        <p:tgtEl>
                                          <p:spTgt spid="128"/>
                                        </p:tgtEl>
                                        <p:attrNameLst>
                                          <p:attrName>ppt_w</p:attrName>
                                        </p:attrNameLst>
                                      </p:cBhvr>
                                      <p:tavLst>
                                        <p:tav tm="0">
                                          <p:val>
                                            <p:strVal val="#ppt_w*1.08"/>
                                          </p:val>
                                        </p:tav>
                                        <p:tav tm="100000">
                                          <p:val>
                                            <p:strVal val="#ppt_w"/>
                                          </p:val>
                                        </p:tav>
                                      </p:tavLst>
                                    </p:anim>
                                    <p:anim calcmode="lin" valueType="num">
                                      <p:cBhvr additive="base">
                                        <p:cTn id="106" dur="160" fill="hold">
                                          <p:stCondLst>
                                            <p:cond delay="500"/>
                                          </p:stCondLst>
                                        </p:cTn>
                                        <p:tgtEl>
                                          <p:spTgt spid="128"/>
                                        </p:tgtEl>
                                        <p:attrNameLst>
                                          <p:attrName>ppt_h</p:attrName>
                                        </p:attrNameLst>
                                      </p:cBhvr>
                                      <p:tavLst>
                                        <p:tav tm="0">
                                          <p:val>
                                            <p:strVal val="#ppt_h*1.08"/>
                                          </p:val>
                                        </p:tav>
                                        <p:tav tm="100000">
                                          <p:val>
                                            <p:strVal val="#ppt_h"/>
                                          </p:val>
                                        </p:tav>
                                      </p:tavLst>
                                    </p:anim>
                                  </p:childTnLst>
                                </p:cTn>
                              </p:par>
                            </p:childTnLst>
                          </p:cTn>
                        </p:par>
                      </p:childTnLst>
                    </p:cTn>
                  </p:par>
                  <p:par>
                    <p:cTn id="107" fill="hold">
                      <p:stCondLst>
                        <p:cond delay="indefinite"/>
                      </p:stCondLst>
                      <p:childTnLst>
                        <p:par>
                          <p:cTn id="108" fill="hold">
                            <p:stCondLst>
                              <p:cond delay="0"/>
                            </p:stCondLst>
                            <p:childTnLst>
                              <p:par>
                                <p:cTn id="109" presetID="42" presetClass="entr" presetSubtype="0" fill="hold" grpId="0" nodeType="clickEffect">
                                  <p:stCondLst>
                                    <p:cond delay="0"/>
                                  </p:stCondLst>
                                  <p:childTnLst>
                                    <p:set>
                                      <p:cBhvr>
                                        <p:cTn id="110" dur="1" fill="hold">
                                          <p:stCondLst>
                                            <p:cond delay="0"/>
                                          </p:stCondLst>
                                        </p:cTn>
                                        <p:tgtEl>
                                          <p:spTgt spid="122"/>
                                        </p:tgtEl>
                                        <p:attrNameLst>
                                          <p:attrName>style.visibility</p:attrName>
                                        </p:attrNameLst>
                                      </p:cBhvr>
                                      <p:to>
                                        <p:strVal val="visible"/>
                                      </p:to>
                                    </p:set>
                                    <p:animEffect transition="in" filter="fade">
                                      <p:cBhvr>
                                        <p:cTn id="111" dur="500"/>
                                        <p:tgtEl>
                                          <p:spTgt spid="122"/>
                                        </p:tgtEl>
                                      </p:cBhvr>
                                    </p:animEffect>
                                    <p:anim calcmode="lin" valueType="num">
                                      <p:cBhvr additive="base">
                                        <p:cTn id="112" dur="500" decel="100000" fill="hold"/>
                                        <p:tgtEl>
                                          <p:spTgt spid="122"/>
                                        </p:tgtEl>
                                        <p:attrNameLst>
                                          <p:attrName>ppt_x</p:attrName>
                                        </p:attrNameLst>
                                      </p:cBhvr>
                                      <p:tavLst>
                                        <p:tav tm="0">
                                          <p:val>
                                            <p:strVal val="#ppt_x-0.05"/>
                                          </p:val>
                                        </p:tav>
                                        <p:tav tm="100000">
                                          <p:val>
                                            <p:strVal val="#ppt_x"/>
                                          </p:val>
                                        </p:tav>
                                      </p:tavLst>
                                    </p:anim>
                                  </p:childTnLst>
                                </p:cTn>
                              </p:par>
                              <p:par>
                                <p:cTn id="113" presetID="42" presetClass="entr" presetSubtype="0" fill="hold" grpId="0" nodeType="withEffect">
                                  <p:stCondLst>
                                    <p:cond delay="200"/>
                                  </p:stCondLst>
                                  <p:childTnLst>
                                    <p:set>
                                      <p:cBhvr>
                                        <p:cTn id="114" dur="1" fill="hold">
                                          <p:stCondLst>
                                            <p:cond delay="0"/>
                                          </p:stCondLst>
                                        </p:cTn>
                                        <p:tgtEl>
                                          <p:spTgt spid="123"/>
                                        </p:tgtEl>
                                        <p:attrNameLst>
                                          <p:attrName>style.visibility</p:attrName>
                                        </p:attrNameLst>
                                      </p:cBhvr>
                                      <p:to>
                                        <p:strVal val="visible"/>
                                      </p:to>
                                    </p:set>
                                    <p:animEffect transition="in" filter="fade">
                                      <p:cBhvr>
                                        <p:cTn id="115" dur="500"/>
                                        <p:tgtEl>
                                          <p:spTgt spid="123"/>
                                        </p:tgtEl>
                                      </p:cBhvr>
                                    </p:animEffect>
                                    <p:anim calcmode="lin" valueType="num">
                                      <p:cBhvr additive="base">
                                        <p:cTn id="116" dur="500" decel="100000" fill="hold"/>
                                        <p:tgtEl>
                                          <p:spTgt spid="123"/>
                                        </p:tgtEl>
                                        <p:attrNameLst>
                                          <p:attrName>ppt_x</p:attrName>
                                        </p:attrNameLst>
                                      </p:cBhvr>
                                      <p:tavLst>
                                        <p:tav tm="0">
                                          <p:val>
                                            <p:strVal val="#ppt_x-0.05"/>
                                          </p:val>
                                        </p:tav>
                                        <p:tav tm="100000">
                                          <p:val>
                                            <p:strVal val="#ppt_x"/>
                                          </p:val>
                                        </p:tav>
                                      </p:tavLst>
                                    </p:anim>
                                  </p:childTnLst>
                                </p:cTn>
                              </p:par>
                              <p:par>
                                <p:cTn id="117" presetID="42" presetClass="entr" presetSubtype="0" fill="hold" grpId="0" nodeType="withEffect">
                                  <p:stCondLst>
                                    <p:cond delay="400"/>
                                  </p:stCondLst>
                                  <p:childTnLst>
                                    <p:set>
                                      <p:cBhvr>
                                        <p:cTn id="118" dur="1" fill="hold">
                                          <p:stCondLst>
                                            <p:cond delay="0"/>
                                          </p:stCondLst>
                                        </p:cTn>
                                        <p:tgtEl>
                                          <p:spTgt spid="124"/>
                                        </p:tgtEl>
                                        <p:attrNameLst>
                                          <p:attrName>style.visibility</p:attrName>
                                        </p:attrNameLst>
                                      </p:cBhvr>
                                      <p:to>
                                        <p:strVal val="visible"/>
                                      </p:to>
                                    </p:set>
                                    <p:animEffect transition="in" filter="fade">
                                      <p:cBhvr>
                                        <p:cTn id="119" dur="500"/>
                                        <p:tgtEl>
                                          <p:spTgt spid="124"/>
                                        </p:tgtEl>
                                      </p:cBhvr>
                                    </p:animEffect>
                                    <p:anim calcmode="lin" valueType="num">
                                      <p:cBhvr additive="base">
                                        <p:cTn id="120" dur="500" decel="100000" fill="hold"/>
                                        <p:tgtEl>
                                          <p:spTgt spid="124"/>
                                        </p:tgtEl>
                                        <p:attrNameLst>
                                          <p:attrName>ppt_x</p:attrName>
                                        </p:attrNameLst>
                                      </p:cBhvr>
                                      <p:tavLst>
                                        <p:tav tm="0">
                                          <p:val>
                                            <p:strVal val="#ppt_x-0.05"/>
                                          </p:val>
                                        </p:tav>
                                        <p:tav tm="100000">
                                          <p:val>
                                            <p:strVal val="#ppt_x"/>
                                          </p:val>
                                        </p:tav>
                                      </p:tavLst>
                                    </p:anim>
                                  </p:childTnLst>
                                </p:cTn>
                              </p:par>
                            </p:childTnLst>
                          </p:cTn>
                        </p:par>
                      </p:childTnLst>
                    </p:cTn>
                  </p:par>
                  <p:par>
                    <p:cTn id="121" fill="hold">
                      <p:stCondLst>
                        <p:cond delay="indefinite"/>
                      </p:stCondLst>
                      <p:childTnLst>
                        <p:par>
                          <p:cTn id="122" fill="hold">
                            <p:stCondLst>
                              <p:cond delay="0"/>
                            </p:stCondLst>
                            <p:childTnLst>
                              <p:par>
                                <p:cTn id="123" presetID="42" presetClass="entr" presetSubtype="0" fill="hold" grpId="0" nodeType="clickEffect">
                                  <p:stCondLst>
                                    <p:cond delay="0"/>
                                  </p:stCondLst>
                                  <p:childTnLst>
                                    <p:set>
                                      <p:cBhvr>
                                        <p:cTn id="124" dur="1" fill="hold">
                                          <p:stCondLst>
                                            <p:cond delay="0"/>
                                          </p:stCondLst>
                                        </p:cTn>
                                        <p:tgtEl>
                                          <p:spTgt spid="125"/>
                                        </p:tgtEl>
                                        <p:attrNameLst>
                                          <p:attrName>style.visibility</p:attrName>
                                        </p:attrNameLst>
                                      </p:cBhvr>
                                      <p:to>
                                        <p:strVal val="visible"/>
                                      </p:to>
                                    </p:set>
                                    <p:animEffect transition="in" filter="fade">
                                      <p:cBhvr>
                                        <p:cTn id="125" dur="500"/>
                                        <p:tgtEl>
                                          <p:spTgt spid="125"/>
                                        </p:tgtEl>
                                      </p:cBhvr>
                                    </p:animEffect>
                                    <p:anim calcmode="lin" valueType="num">
                                      <p:cBhvr additive="base">
                                        <p:cTn id="126" dur="500" decel="100000" fill="hold"/>
                                        <p:tgtEl>
                                          <p:spTgt spid="125"/>
                                        </p:tgtEl>
                                        <p:attrNameLst>
                                          <p:attrName>ppt_y</p:attrName>
                                        </p:attrNameLst>
                                      </p:cBhvr>
                                      <p:tavLst>
                                        <p:tav tm="0">
                                          <p:val>
                                            <p:strVal val="#ppt_y+0.06"/>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42" presetClass="entr" presetSubtype="0" fill="hold" grpId="0" nodeType="clickEffect">
                                  <p:stCondLst>
                                    <p:cond delay="0"/>
                                  </p:stCondLst>
                                  <p:childTnLst>
                                    <p:set>
                                      <p:cBhvr>
                                        <p:cTn id="130" dur="1" fill="hold">
                                          <p:stCondLst>
                                            <p:cond delay="0"/>
                                          </p:stCondLst>
                                        </p:cTn>
                                        <p:tgtEl>
                                          <p:spTgt spid="126"/>
                                        </p:tgtEl>
                                        <p:attrNameLst>
                                          <p:attrName>style.visibility</p:attrName>
                                        </p:attrNameLst>
                                      </p:cBhvr>
                                      <p:to>
                                        <p:strVal val="visible"/>
                                      </p:to>
                                    </p:set>
                                    <p:animEffect transition="in" filter="fade">
                                      <p:cBhvr>
                                        <p:cTn id="131" dur="500"/>
                                        <p:tgtEl>
                                          <p:spTgt spid="126"/>
                                        </p:tgtEl>
                                      </p:cBhvr>
                                    </p:animEffect>
                                    <p:anim calcmode="lin" valueType="num">
                                      <p:cBhvr additive="base">
                                        <p:cTn id="132" dur="500" decel="100000" fill="hold"/>
                                        <p:tgtEl>
                                          <p:spTgt spid="126"/>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068019"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ASYNC TESTS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Problem: An async Test That Lies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The repository is async. The first test "passes" before it even finished.</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TESTABLE CODE</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147</a:t>
            </a:r>
            <a:endParaRPr lang="en-US" sz="850" dirty="0"/>
          </a:p>
        </p:txBody>
      </p:sp>
      <p:sp>
        <p:nvSpPr>
          <p:cNvPr id="101" name="s101"/>
          <p:cNvSpPr txBox="1"/>
          <p:nvPr/>
        </p:nvSpPr>
        <p:spPr>
          <a:xfrm>
            <a:off x="543154" y="1810512"/>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87171"/>
                </a:solidFill>
                <a:latin typeface="Segoe UI"/>
                <a:ea typeface="Segoe UI"/>
                <a:cs typeface="Segoe UI"/>
              </a:rPr>
              <a:t>✗  DON'T</a:t>
            </a:r>
            <a:endParaRPr lang="en-US" sz="1050" dirty="0"/>
          </a:p>
        </p:txBody>
      </p:sp>
      <p:sp>
        <p:nvSpPr>
          <p:cNvPr id="102" name="s102"/>
          <p:cNvSpPr/>
          <p:nvPr/>
        </p:nvSpPr>
        <p:spPr>
          <a:xfrm>
            <a:off x="543154" y="2084832"/>
            <a:ext cx="5349240" cy="2743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157984"/>
            <a:ext cx="2459736"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FileEmployeeRepositoryTests.cs</a:t>
            </a:r>
            <a:endParaRPr lang="en-US" sz="950" dirty="0"/>
          </a:p>
        </p:txBody>
      </p:sp>
      <p:cxnSp>
        <p:nvCxnSpPr>
          <p:cNvPr id="107" name="ln107"/>
          <p:cNvCxnSpPr/>
          <p:nvPr/>
        </p:nvCxnSpPr>
        <p:spPr>
          <a:xfrm>
            <a:off x="543154" y="2496312"/>
            <a:ext cx="5349240" cy="0"/>
          </a:xfrm>
          <a:prstGeom prst="line">
            <a:avLst/>
          </a:prstGeom>
          <a:ln w="9525">
            <a:solidFill>
              <a:srgbClr val="1E3A5F"/>
            </a:solidFill>
          </a:ln>
        </p:spPr>
      </p:cxnSp>
      <p:sp>
        <p:nvSpPr>
          <p:cNvPr id="108" name="s108"/>
          <p:cNvSpPr/>
          <p:nvPr/>
        </p:nvSpPr>
        <p:spPr>
          <a:xfrm>
            <a:off x="543154" y="26151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[Fact]</a:t>
            </a:r>
            <a:endParaRPr lang="en-US" sz="1000" dirty="0"/>
          </a:p>
        </p:txBody>
      </p:sp>
      <p:sp>
        <p:nvSpPr>
          <p:cNvPr id="109" name="s109"/>
          <p:cNvSpPr/>
          <p:nvPr/>
        </p:nvSpPr>
        <p:spPr>
          <a:xfrm>
            <a:off x="543154" y="27675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async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void</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Add_Duplicate_ReturnsFalse</a:t>
            </a:r>
            <a:r>
              <a:rPr lang="en-US" sz="1000" b="0" dirty="0">
                <a:solidFill>
                  <a:srgbClr val="E2E8F0"/>
                </a:solidFill>
                <a:latin typeface="Consolas"/>
                <a:ea typeface="Consolas"/>
                <a:cs typeface="Consolas"/>
              </a:rPr>
              <a:t>()      </a:t>
            </a:r>
            <a:r>
              <a:rPr lang="en-US" sz="1000" b="0" dirty="0">
                <a:solidFill>
                  <a:srgbClr val="6FAE7A"/>
                </a:solidFill>
                <a:latin typeface="Consolas"/>
                <a:ea typeface="Consolas"/>
                <a:cs typeface="Consolas"/>
              </a:rPr>
              <a:t>// async void</a:t>
            </a:r>
            <a:endParaRPr lang="en-US" sz="1000" dirty="0"/>
          </a:p>
        </p:txBody>
      </p:sp>
      <p:sp>
        <p:nvSpPr>
          <p:cNvPr id="110" name="s110"/>
          <p:cNvSpPr/>
          <p:nvPr/>
        </p:nvSpPr>
        <p:spPr>
          <a:xfrm>
            <a:off x="543154" y="29199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11" name="s111"/>
          <p:cNvSpPr/>
          <p:nvPr/>
        </p:nvSpPr>
        <p:spPr>
          <a:xfrm>
            <a:off x="543154" y="30723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var</a:t>
            </a:r>
            <a:r>
              <a:rPr lang="en-US" sz="1000" b="0" dirty="0">
                <a:solidFill>
                  <a:srgbClr val="E2E8F0"/>
                </a:solidFill>
                <a:latin typeface="Consolas"/>
                <a:ea typeface="Consolas"/>
                <a:cs typeface="Consolas"/>
              </a:rPr>
              <a:t> repo = </a:t>
            </a:r>
            <a:r>
              <a:rPr lang="en-US" sz="1000" b="0" dirty="0">
                <a:solidFill>
                  <a:srgbClr val="60A5FA"/>
                </a:solidFill>
                <a:latin typeface="Consolas"/>
                <a:ea typeface="Consolas"/>
                <a:cs typeface="Consolas"/>
              </a:rPr>
              <a:t>new</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FileEmployeeRepository</a:t>
            </a:r>
            <a:r>
              <a:rPr lang="en-US" sz="1000" b="0" dirty="0">
                <a:solidFill>
                  <a:srgbClr val="E2E8F0"/>
                </a:solidFill>
                <a:latin typeface="Consolas"/>
                <a:ea typeface="Consolas"/>
                <a:cs typeface="Consolas"/>
              </a:rPr>
              <a:t>(_path);</a:t>
            </a:r>
            <a:endParaRPr lang="en-US" sz="1000" dirty="0"/>
          </a:p>
        </p:txBody>
      </p:sp>
      <p:sp>
        <p:nvSpPr>
          <p:cNvPr id="112" name="s112"/>
          <p:cNvSpPr/>
          <p:nvPr/>
        </p:nvSpPr>
        <p:spPr>
          <a:xfrm>
            <a:off x="543154" y="32247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await</a:t>
            </a:r>
            <a:r>
              <a:rPr lang="en-US" sz="1000" b="0" dirty="0">
                <a:solidFill>
                  <a:srgbClr val="E2E8F0"/>
                </a:solidFill>
                <a:latin typeface="Consolas"/>
                <a:ea typeface="Consolas"/>
                <a:cs typeface="Consolas"/>
              </a:rPr>
              <a:t> repo.</a:t>
            </a:r>
            <a:r>
              <a:rPr lang="en-US" sz="1000" b="0" dirty="0">
                <a:solidFill>
                  <a:srgbClr val="7DD3FC"/>
                </a:solidFill>
                <a:latin typeface="Consolas"/>
                <a:ea typeface="Consolas"/>
                <a:cs typeface="Consolas"/>
              </a:rPr>
              <a:t>AddAsync</a:t>
            </a:r>
            <a:r>
              <a:rPr lang="en-US" sz="1000" b="0" dirty="0">
                <a:solidFill>
                  <a:srgbClr val="E2E8F0"/>
                </a:solidFill>
                <a:latin typeface="Consolas"/>
                <a:ea typeface="Consolas"/>
                <a:cs typeface="Consolas"/>
              </a:rPr>
              <a:t>(</a:t>
            </a:r>
            <a:r>
              <a:rPr lang="en-US" sz="1000" b="0" dirty="0">
                <a:solidFill>
                  <a:srgbClr val="60A5FA"/>
                </a:solidFill>
                <a:latin typeface="Consolas"/>
                <a:ea typeface="Consolas"/>
                <a:cs typeface="Consolas"/>
              </a:rPr>
              <a:t>new</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Employee</a:t>
            </a:r>
            <a:r>
              <a:rPr lang="en-US" sz="1000" b="0" dirty="0">
                <a:solidFill>
                  <a:srgbClr val="E2E8F0"/>
                </a:solidFill>
                <a:latin typeface="Consolas"/>
                <a:ea typeface="Consolas"/>
                <a:cs typeface="Consolas"/>
              </a:rPr>
              <a:t>(</a:t>
            </a:r>
            <a:r>
              <a:rPr lang="en-US" sz="1000" b="0" dirty="0">
                <a:solidFill>
                  <a:srgbClr val="C4B5FD"/>
                </a:solidFill>
                <a:latin typeface="Consolas"/>
                <a:ea typeface="Consolas"/>
                <a:cs typeface="Consolas"/>
              </a:rPr>
              <a:t>1</a:t>
            </a:r>
            <a:r>
              <a:rPr lang="en-US" sz="1000" b="0" dirty="0">
                <a:solidFill>
                  <a:srgbClr val="E2E8F0"/>
                </a:solidFill>
                <a:latin typeface="Consolas"/>
                <a:ea typeface="Consolas"/>
                <a:cs typeface="Consolas"/>
              </a:rPr>
              <a:t>, </a:t>
            </a:r>
            <a:r>
              <a:rPr lang="en-US" sz="1000" b="0" dirty="0">
                <a:solidFill>
                  <a:srgbClr val="F0A98B"/>
                </a:solidFill>
                <a:latin typeface="Consolas"/>
                <a:ea typeface="Consolas"/>
                <a:cs typeface="Consolas"/>
              </a:rPr>
              <a:t>"Mona"</a:t>
            </a:r>
            <a:r>
              <a:rPr lang="en-US" sz="1000" b="0" dirty="0">
                <a:solidFill>
                  <a:srgbClr val="E2E8F0"/>
                </a:solidFill>
                <a:latin typeface="Consolas"/>
                <a:ea typeface="Consolas"/>
                <a:cs typeface="Consolas"/>
              </a:rPr>
              <a:t>, </a:t>
            </a:r>
            <a:r>
              <a:rPr lang="en-US" sz="1000" b="0" dirty="0">
                <a:solidFill>
                  <a:srgbClr val="C4B5FD"/>
                </a:solidFill>
                <a:latin typeface="Consolas"/>
                <a:ea typeface="Consolas"/>
                <a:cs typeface="Consolas"/>
              </a:rPr>
              <a:t>15000</a:t>
            </a:r>
            <a:r>
              <a:rPr lang="en-US" sz="1000" b="0" dirty="0">
                <a:solidFill>
                  <a:srgbClr val="E2E8F0"/>
                </a:solidFill>
                <a:latin typeface="Consolas"/>
                <a:ea typeface="Consolas"/>
                <a:cs typeface="Consolas"/>
              </a:rPr>
              <a:t>));</a:t>
            </a:r>
            <a:endParaRPr lang="en-US" sz="1000" dirty="0"/>
          </a:p>
        </p:txBody>
      </p:sp>
      <p:sp>
        <p:nvSpPr>
          <p:cNvPr id="113" name="s113"/>
          <p:cNvSpPr/>
          <p:nvPr/>
        </p:nvSpPr>
        <p:spPr>
          <a:xfrm>
            <a:off x="543154" y="33771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bool</a:t>
            </a:r>
            <a:r>
              <a:rPr lang="en-US" sz="1000" b="0" dirty="0">
                <a:solidFill>
                  <a:srgbClr val="E2E8F0"/>
                </a:solidFill>
                <a:latin typeface="Consolas"/>
                <a:ea typeface="Consolas"/>
                <a:cs typeface="Consolas"/>
              </a:rPr>
              <a:t> added = repo.</a:t>
            </a:r>
            <a:r>
              <a:rPr lang="en-US" sz="1000" b="0" dirty="0">
                <a:solidFill>
                  <a:srgbClr val="7DD3FC"/>
                </a:solidFill>
                <a:latin typeface="Consolas"/>
                <a:ea typeface="Consolas"/>
                <a:cs typeface="Consolas"/>
              </a:rPr>
              <a:t>AddAsync</a:t>
            </a:r>
            <a:r>
              <a:rPr lang="en-US" sz="1000" b="0" dirty="0">
                <a:solidFill>
                  <a:srgbClr val="E2E8F0"/>
                </a:solidFill>
                <a:latin typeface="Consolas"/>
                <a:ea typeface="Consolas"/>
                <a:cs typeface="Consolas"/>
              </a:rPr>
              <a:t>(</a:t>
            </a:r>
            <a:r>
              <a:rPr lang="en-US" sz="1000" b="0" dirty="0">
                <a:solidFill>
                  <a:srgbClr val="60A5FA"/>
                </a:solidFill>
                <a:latin typeface="Consolas"/>
                <a:ea typeface="Consolas"/>
                <a:cs typeface="Consolas"/>
              </a:rPr>
              <a:t>new</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Employee</a:t>
            </a:r>
            <a:r>
              <a:rPr lang="en-US" sz="1000" b="0" dirty="0">
                <a:solidFill>
                  <a:srgbClr val="E2E8F0"/>
                </a:solidFill>
                <a:latin typeface="Consolas"/>
                <a:ea typeface="Consolas"/>
                <a:cs typeface="Consolas"/>
              </a:rPr>
              <a:t>(</a:t>
            </a:r>
            <a:r>
              <a:rPr lang="en-US" sz="1000" b="0" dirty="0">
                <a:solidFill>
                  <a:srgbClr val="C4B5FD"/>
                </a:solidFill>
                <a:latin typeface="Consolas"/>
                <a:ea typeface="Consolas"/>
                <a:cs typeface="Consolas"/>
              </a:rPr>
              <a:t>1</a:t>
            </a:r>
            <a:r>
              <a:rPr lang="en-US" sz="1000" b="0" dirty="0">
                <a:solidFill>
                  <a:srgbClr val="E2E8F0"/>
                </a:solidFill>
                <a:latin typeface="Consolas"/>
                <a:ea typeface="Consolas"/>
                <a:cs typeface="Consolas"/>
              </a:rPr>
              <a:t>, </a:t>
            </a:r>
            <a:r>
              <a:rPr lang="en-US" sz="1000" b="0" dirty="0">
                <a:solidFill>
                  <a:srgbClr val="F0A98B"/>
                </a:solidFill>
                <a:latin typeface="Consolas"/>
                <a:ea typeface="Consolas"/>
                <a:cs typeface="Consolas"/>
              </a:rPr>
              <a:t>"Mona"</a:t>
            </a:r>
            <a:r>
              <a:rPr lang="en-US" sz="1000" b="0" dirty="0">
                <a:solidFill>
                  <a:srgbClr val="E2E8F0"/>
                </a:solidFill>
                <a:latin typeface="Consolas"/>
                <a:ea typeface="Consolas"/>
                <a:cs typeface="Consolas"/>
              </a:rPr>
              <a:t>, </a:t>
            </a:r>
            <a:r>
              <a:rPr lang="en-US" sz="1000" b="0" dirty="0">
                <a:solidFill>
                  <a:srgbClr val="C4B5FD"/>
                </a:solidFill>
                <a:latin typeface="Consolas"/>
                <a:ea typeface="Consolas"/>
                <a:cs typeface="Consolas"/>
              </a:rPr>
              <a:t>15000</a:t>
            </a:r>
            <a:r>
              <a:rPr lang="en-US" sz="1000" b="0" dirty="0">
                <a:solidFill>
                  <a:srgbClr val="E2E8F0"/>
                </a:solidFill>
                <a:latin typeface="Consolas"/>
                <a:ea typeface="Consolas"/>
                <a:cs typeface="Consolas"/>
              </a:rPr>
              <a:t>))</a:t>
            </a:r>
            <a:endParaRPr lang="en-US" sz="1000" dirty="0"/>
          </a:p>
        </p:txBody>
      </p:sp>
      <p:sp>
        <p:nvSpPr>
          <p:cNvPr id="114" name="s114"/>
          <p:cNvSpPr/>
          <p:nvPr/>
        </p:nvSpPr>
        <p:spPr>
          <a:xfrm>
            <a:off x="543154" y="35295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Result</a:t>
            </a:r>
            <a:r>
              <a:rPr lang="en-US" sz="1000" b="0" dirty="0">
                <a:solidFill>
                  <a:srgbClr val="E2E8F0"/>
                </a:solidFill>
                <a:latin typeface="Consolas"/>
                <a:ea typeface="Consolas"/>
                <a:cs typeface="Consolas"/>
              </a:rPr>
              <a:t>;                         </a:t>
            </a:r>
            <a:r>
              <a:rPr lang="en-US" sz="1000" b="0" dirty="0">
                <a:solidFill>
                  <a:srgbClr val="6FAE7A"/>
                </a:solidFill>
                <a:latin typeface="Consolas"/>
                <a:ea typeface="Consolas"/>
                <a:cs typeface="Consolas"/>
              </a:rPr>
              <a:t>// blocks</a:t>
            </a:r>
            <a:endParaRPr lang="en-US" sz="1000" dirty="0"/>
          </a:p>
        </p:txBody>
      </p:sp>
      <p:sp>
        <p:nvSpPr>
          <p:cNvPr id="115" name="s115"/>
          <p:cNvSpPr/>
          <p:nvPr/>
        </p:nvSpPr>
        <p:spPr>
          <a:xfrm>
            <a:off x="543154" y="36819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Assert</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False</a:t>
            </a:r>
            <a:r>
              <a:rPr lang="en-US" sz="1000" b="0" dirty="0">
                <a:solidFill>
                  <a:srgbClr val="E2E8F0"/>
                </a:solidFill>
                <a:latin typeface="Consolas"/>
                <a:ea typeface="Consolas"/>
                <a:cs typeface="Consolas"/>
              </a:rPr>
              <a:t>(added);</a:t>
            </a:r>
            <a:endParaRPr lang="en-US" sz="1000" dirty="0"/>
          </a:p>
        </p:txBody>
      </p:sp>
      <p:sp>
        <p:nvSpPr>
          <p:cNvPr id="116" name="s116"/>
          <p:cNvSpPr/>
          <p:nvPr/>
        </p:nvSpPr>
        <p:spPr>
          <a:xfrm>
            <a:off x="543154" y="3834384"/>
            <a:ext cx="5349240"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17" name="s117"/>
          <p:cNvSpPr txBox="1"/>
          <p:nvPr/>
        </p:nvSpPr>
        <p:spPr>
          <a:xfrm>
            <a:off x="6120994" y="1810512"/>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34D399"/>
                </a:solidFill>
                <a:latin typeface="Segoe UI"/>
                <a:ea typeface="Segoe UI"/>
                <a:cs typeface="Segoe UI"/>
              </a:rPr>
              <a:t>✓  DO</a:t>
            </a:r>
            <a:endParaRPr lang="en-US" sz="1050" dirty="0"/>
          </a:p>
        </p:txBody>
      </p:sp>
      <p:sp>
        <p:nvSpPr>
          <p:cNvPr id="118" name="s118"/>
          <p:cNvSpPr/>
          <p:nvPr/>
        </p:nvSpPr>
        <p:spPr>
          <a:xfrm>
            <a:off x="6120994" y="2084832"/>
            <a:ext cx="5510174" cy="2743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9" name="s119"/>
          <p:cNvSpPr/>
          <p:nvPr/>
        </p:nvSpPr>
        <p:spPr>
          <a:xfrm>
            <a:off x="628558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0" name="s120"/>
          <p:cNvSpPr/>
          <p:nvPr/>
        </p:nvSpPr>
        <p:spPr>
          <a:xfrm>
            <a:off x="646846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1" name="s121"/>
          <p:cNvSpPr/>
          <p:nvPr/>
        </p:nvSpPr>
        <p:spPr>
          <a:xfrm>
            <a:off x="665134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2" name="s122"/>
          <p:cNvSpPr/>
          <p:nvPr/>
        </p:nvSpPr>
        <p:spPr>
          <a:xfrm>
            <a:off x="6898234" y="2157984"/>
            <a:ext cx="2459736"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FileEmployeeRepositoryTests.cs</a:t>
            </a:r>
            <a:endParaRPr lang="en-US" sz="950" dirty="0"/>
          </a:p>
        </p:txBody>
      </p:sp>
      <p:cxnSp>
        <p:nvCxnSpPr>
          <p:cNvPr id="123" name="ln123"/>
          <p:cNvCxnSpPr/>
          <p:nvPr/>
        </p:nvCxnSpPr>
        <p:spPr>
          <a:xfrm>
            <a:off x="6120994" y="2496312"/>
            <a:ext cx="5510174" cy="0"/>
          </a:xfrm>
          <a:prstGeom prst="line">
            <a:avLst/>
          </a:prstGeom>
          <a:ln w="9525">
            <a:solidFill>
              <a:srgbClr val="1E3A5F"/>
            </a:solidFill>
          </a:ln>
        </p:spPr>
      </p:cxnSp>
      <p:sp>
        <p:nvSpPr>
          <p:cNvPr id="124" name="s124"/>
          <p:cNvSpPr/>
          <p:nvPr/>
        </p:nvSpPr>
        <p:spPr>
          <a:xfrm>
            <a:off x="6120994" y="2615184"/>
            <a:ext cx="551017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[Fact]</a:t>
            </a:r>
            <a:endParaRPr lang="en-US" sz="1000" dirty="0"/>
          </a:p>
        </p:txBody>
      </p:sp>
      <p:sp>
        <p:nvSpPr>
          <p:cNvPr id="125" name="s125"/>
          <p:cNvSpPr/>
          <p:nvPr/>
        </p:nvSpPr>
        <p:spPr>
          <a:xfrm>
            <a:off x="6120994" y="2767584"/>
            <a:ext cx="551017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async</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Task</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Add_Duplicate_ReturnsFalse</a:t>
            </a:r>
            <a:r>
              <a:rPr lang="en-US" sz="1000" b="0" dirty="0">
                <a:solidFill>
                  <a:srgbClr val="E2E8F0"/>
                </a:solidFill>
                <a:latin typeface="Consolas"/>
                <a:ea typeface="Consolas"/>
                <a:cs typeface="Consolas"/>
              </a:rPr>
              <a:t>()</a:t>
            </a:r>
            <a:endParaRPr lang="en-US" sz="1000" dirty="0"/>
          </a:p>
        </p:txBody>
      </p:sp>
      <p:sp>
        <p:nvSpPr>
          <p:cNvPr id="126" name="s126"/>
          <p:cNvSpPr/>
          <p:nvPr/>
        </p:nvSpPr>
        <p:spPr>
          <a:xfrm>
            <a:off x="6120994" y="2919984"/>
            <a:ext cx="551017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27" name="s127"/>
          <p:cNvSpPr/>
          <p:nvPr/>
        </p:nvSpPr>
        <p:spPr>
          <a:xfrm>
            <a:off x="6120994" y="3072384"/>
            <a:ext cx="551017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var</a:t>
            </a:r>
            <a:r>
              <a:rPr lang="en-US" sz="1000" b="0" dirty="0">
                <a:solidFill>
                  <a:srgbClr val="E2E8F0"/>
                </a:solidFill>
                <a:latin typeface="Consolas"/>
                <a:ea typeface="Consolas"/>
                <a:cs typeface="Consolas"/>
              </a:rPr>
              <a:t> repo = </a:t>
            </a:r>
            <a:r>
              <a:rPr lang="en-US" sz="1000" b="0" dirty="0">
                <a:solidFill>
                  <a:srgbClr val="60A5FA"/>
                </a:solidFill>
                <a:latin typeface="Consolas"/>
                <a:ea typeface="Consolas"/>
                <a:cs typeface="Consolas"/>
              </a:rPr>
              <a:t>new</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FileEmployeeRepository</a:t>
            </a:r>
            <a:r>
              <a:rPr lang="en-US" sz="1000" b="0" dirty="0">
                <a:solidFill>
                  <a:srgbClr val="E2E8F0"/>
                </a:solidFill>
                <a:latin typeface="Consolas"/>
                <a:ea typeface="Consolas"/>
                <a:cs typeface="Consolas"/>
              </a:rPr>
              <a:t>(_path);</a:t>
            </a:r>
            <a:endParaRPr lang="en-US" sz="1000" dirty="0"/>
          </a:p>
        </p:txBody>
      </p:sp>
      <p:sp>
        <p:nvSpPr>
          <p:cNvPr id="128" name="s128"/>
          <p:cNvSpPr/>
          <p:nvPr/>
        </p:nvSpPr>
        <p:spPr>
          <a:xfrm>
            <a:off x="6120994" y="3224784"/>
            <a:ext cx="551017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await</a:t>
            </a:r>
            <a:r>
              <a:rPr lang="en-US" sz="1000" b="0" dirty="0">
                <a:solidFill>
                  <a:srgbClr val="E2E8F0"/>
                </a:solidFill>
                <a:latin typeface="Consolas"/>
                <a:ea typeface="Consolas"/>
                <a:cs typeface="Consolas"/>
              </a:rPr>
              <a:t> repo.</a:t>
            </a:r>
            <a:r>
              <a:rPr lang="en-US" sz="1000" b="0" dirty="0">
                <a:solidFill>
                  <a:srgbClr val="7DD3FC"/>
                </a:solidFill>
                <a:latin typeface="Consolas"/>
                <a:ea typeface="Consolas"/>
                <a:cs typeface="Consolas"/>
              </a:rPr>
              <a:t>AddAsync</a:t>
            </a:r>
            <a:r>
              <a:rPr lang="en-US" sz="1000" b="0" dirty="0">
                <a:solidFill>
                  <a:srgbClr val="E2E8F0"/>
                </a:solidFill>
                <a:latin typeface="Consolas"/>
                <a:ea typeface="Consolas"/>
                <a:cs typeface="Consolas"/>
              </a:rPr>
              <a:t>(</a:t>
            </a:r>
            <a:r>
              <a:rPr lang="en-US" sz="1000" b="0" dirty="0">
                <a:solidFill>
                  <a:srgbClr val="60A5FA"/>
                </a:solidFill>
                <a:latin typeface="Consolas"/>
                <a:ea typeface="Consolas"/>
                <a:cs typeface="Consolas"/>
              </a:rPr>
              <a:t>new</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Employee</a:t>
            </a:r>
            <a:r>
              <a:rPr lang="en-US" sz="1000" b="0" dirty="0">
                <a:solidFill>
                  <a:srgbClr val="E2E8F0"/>
                </a:solidFill>
                <a:latin typeface="Consolas"/>
                <a:ea typeface="Consolas"/>
                <a:cs typeface="Consolas"/>
              </a:rPr>
              <a:t>(</a:t>
            </a:r>
            <a:r>
              <a:rPr lang="en-US" sz="1000" b="0" dirty="0">
                <a:solidFill>
                  <a:srgbClr val="C4B5FD"/>
                </a:solidFill>
                <a:latin typeface="Consolas"/>
                <a:ea typeface="Consolas"/>
                <a:cs typeface="Consolas"/>
              </a:rPr>
              <a:t>1</a:t>
            </a:r>
            <a:r>
              <a:rPr lang="en-US" sz="1000" b="0" dirty="0">
                <a:solidFill>
                  <a:srgbClr val="E2E8F0"/>
                </a:solidFill>
                <a:latin typeface="Consolas"/>
                <a:ea typeface="Consolas"/>
                <a:cs typeface="Consolas"/>
              </a:rPr>
              <a:t>, </a:t>
            </a:r>
            <a:r>
              <a:rPr lang="en-US" sz="1000" b="0" dirty="0">
                <a:solidFill>
                  <a:srgbClr val="F0A98B"/>
                </a:solidFill>
                <a:latin typeface="Consolas"/>
                <a:ea typeface="Consolas"/>
                <a:cs typeface="Consolas"/>
              </a:rPr>
              <a:t>"Mona"</a:t>
            </a:r>
            <a:r>
              <a:rPr lang="en-US" sz="1000" b="0" dirty="0">
                <a:solidFill>
                  <a:srgbClr val="E2E8F0"/>
                </a:solidFill>
                <a:latin typeface="Consolas"/>
                <a:ea typeface="Consolas"/>
                <a:cs typeface="Consolas"/>
              </a:rPr>
              <a:t>, </a:t>
            </a:r>
            <a:r>
              <a:rPr lang="en-US" sz="1000" b="0" dirty="0">
                <a:solidFill>
                  <a:srgbClr val="C4B5FD"/>
                </a:solidFill>
                <a:latin typeface="Consolas"/>
                <a:ea typeface="Consolas"/>
                <a:cs typeface="Consolas"/>
              </a:rPr>
              <a:t>15000</a:t>
            </a:r>
            <a:r>
              <a:rPr lang="en-US" sz="1000" b="0" dirty="0">
                <a:solidFill>
                  <a:srgbClr val="E2E8F0"/>
                </a:solidFill>
                <a:latin typeface="Consolas"/>
                <a:ea typeface="Consolas"/>
                <a:cs typeface="Consolas"/>
              </a:rPr>
              <a:t>));</a:t>
            </a:r>
            <a:endParaRPr lang="en-US" sz="1000" dirty="0"/>
          </a:p>
        </p:txBody>
      </p:sp>
      <p:sp>
        <p:nvSpPr>
          <p:cNvPr id="129" name="s129"/>
          <p:cNvSpPr/>
          <p:nvPr/>
        </p:nvSpPr>
        <p:spPr>
          <a:xfrm>
            <a:off x="6120994" y="3377184"/>
            <a:ext cx="551017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bool</a:t>
            </a:r>
            <a:r>
              <a:rPr lang="en-US" sz="1000" b="0" dirty="0">
                <a:solidFill>
                  <a:srgbClr val="E2E8F0"/>
                </a:solidFill>
                <a:latin typeface="Consolas"/>
                <a:ea typeface="Consolas"/>
                <a:cs typeface="Consolas"/>
              </a:rPr>
              <a:t> added = </a:t>
            </a:r>
            <a:r>
              <a:rPr lang="en-US" sz="1000" b="0" dirty="0">
                <a:solidFill>
                  <a:srgbClr val="60A5FA"/>
                </a:solidFill>
                <a:latin typeface="Consolas"/>
                <a:ea typeface="Consolas"/>
                <a:cs typeface="Consolas"/>
              </a:rPr>
              <a:t>await</a:t>
            </a:r>
            <a:r>
              <a:rPr lang="en-US" sz="1000" b="0" dirty="0">
                <a:solidFill>
                  <a:srgbClr val="E2E8F0"/>
                </a:solidFill>
                <a:latin typeface="Consolas"/>
                <a:ea typeface="Consolas"/>
                <a:cs typeface="Consolas"/>
              </a:rPr>
              <a:t> repo.</a:t>
            </a:r>
            <a:r>
              <a:rPr lang="en-US" sz="1000" b="0" dirty="0">
                <a:solidFill>
                  <a:srgbClr val="7DD3FC"/>
                </a:solidFill>
                <a:latin typeface="Consolas"/>
                <a:ea typeface="Consolas"/>
                <a:cs typeface="Consolas"/>
              </a:rPr>
              <a:t>AddAsync</a:t>
            </a:r>
            <a:r>
              <a:rPr lang="en-US" sz="1000" b="0" dirty="0">
                <a:solidFill>
                  <a:srgbClr val="E2E8F0"/>
                </a:solidFill>
                <a:latin typeface="Consolas"/>
                <a:ea typeface="Consolas"/>
                <a:cs typeface="Consolas"/>
              </a:rPr>
              <a:t>(</a:t>
            </a:r>
            <a:r>
              <a:rPr lang="en-US" sz="1000" b="0" dirty="0">
                <a:solidFill>
                  <a:srgbClr val="60A5FA"/>
                </a:solidFill>
                <a:latin typeface="Consolas"/>
                <a:ea typeface="Consolas"/>
                <a:cs typeface="Consolas"/>
              </a:rPr>
              <a:t>new</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Employee</a:t>
            </a:r>
            <a:r>
              <a:rPr lang="en-US" sz="1000" b="0" dirty="0">
                <a:solidFill>
                  <a:srgbClr val="E2E8F0"/>
                </a:solidFill>
                <a:latin typeface="Consolas"/>
                <a:ea typeface="Consolas"/>
                <a:cs typeface="Consolas"/>
              </a:rPr>
              <a:t>(</a:t>
            </a:r>
            <a:r>
              <a:rPr lang="en-US" sz="1000" b="0" dirty="0">
                <a:solidFill>
                  <a:srgbClr val="C4B5FD"/>
                </a:solidFill>
                <a:latin typeface="Consolas"/>
                <a:ea typeface="Consolas"/>
                <a:cs typeface="Consolas"/>
              </a:rPr>
              <a:t>1</a:t>
            </a:r>
            <a:r>
              <a:rPr lang="en-US" sz="1000" b="0" dirty="0">
                <a:solidFill>
                  <a:srgbClr val="E2E8F0"/>
                </a:solidFill>
                <a:latin typeface="Consolas"/>
                <a:ea typeface="Consolas"/>
                <a:cs typeface="Consolas"/>
              </a:rPr>
              <a:t>, </a:t>
            </a:r>
            <a:r>
              <a:rPr lang="en-US" sz="1000" b="0" dirty="0">
                <a:solidFill>
                  <a:srgbClr val="F0A98B"/>
                </a:solidFill>
                <a:latin typeface="Consolas"/>
                <a:ea typeface="Consolas"/>
                <a:cs typeface="Consolas"/>
              </a:rPr>
              <a:t>"Mona"</a:t>
            </a:r>
            <a:r>
              <a:rPr lang="en-US" sz="1000" b="0" dirty="0">
                <a:solidFill>
                  <a:srgbClr val="E2E8F0"/>
                </a:solidFill>
                <a:latin typeface="Consolas"/>
                <a:ea typeface="Consolas"/>
                <a:cs typeface="Consolas"/>
              </a:rPr>
              <a:t>, </a:t>
            </a:r>
            <a:r>
              <a:rPr lang="en-US" sz="1000" b="0" dirty="0">
                <a:solidFill>
                  <a:srgbClr val="C4B5FD"/>
                </a:solidFill>
                <a:latin typeface="Consolas"/>
                <a:ea typeface="Consolas"/>
                <a:cs typeface="Consolas"/>
              </a:rPr>
              <a:t>15000</a:t>
            </a:r>
            <a:r>
              <a:rPr lang="en-US" sz="1000" b="0" dirty="0">
                <a:solidFill>
                  <a:srgbClr val="E2E8F0"/>
                </a:solidFill>
                <a:latin typeface="Consolas"/>
                <a:ea typeface="Consolas"/>
                <a:cs typeface="Consolas"/>
              </a:rPr>
              <a:t>));</a:t>
            </a:r>
            <a:endParaRPr lang="en-US" sz="1000" dirty="0"/>
          </a:p>
        </p:txBody>
      </p:sp>
      <p:sp>
        <p:nvSpPr>
          <p:cNvPr id="130" name="s130"/>
          <p:cNvSpPr/>
          <p:nvPr/>
        </p:nvSpPr>
        <p:spPr>
          <a:xfrm>
            <a:off x="6120994" y="3529584"/>
            <a:ext cx="551017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added.</a:t>
            </a:r>
            <a:r>
              <a:rPr lang="en-US" sz="1000" b="0" dirty="0">
                <a:solidFill>
                  <a:srgbClr val="7DD3FC"/>
                </a:solidFill>
                <a:latin typeface="Consolas"/>
                <a:ea typeface="Consolas"/>
                <a:cs typeface="Consolas"/>
              </a:rPr>
              <a:t>ShouldBeFalse</a:t>
            </a:r>
            <a:r>
              <a:rPr lang="en-US" sz="1000" b="0" dirty="0">
                <a:solidFill>
                  <a:srgbClr val="E2E8F0"/>
                </a:solidFill>
                <a:latin typeface="Consolas"/>
                <a:ea typeface="Consolas"/>
                <a:cs typeface="Consolas"/>
              </a:rPr>
              <a:t>();</a:t>
            </a:r>
            <a:endParaRPr lang="en-US" sz="1000" dirty="0"/>
          </a:p>
        </p:txBody>
      </p:sp>
      <p:sp>
        <p:nvSpPr>
          <p:cNvPr id="131" name="s131"/>
          <p:cNvSpPr/>
          <p:nvPr/>
        </p:nvSpPr>
        <p:spPr>
          <a:xfrm>
            <a:off x="6120994" y="3681984"/>
            <a:ext cx="551017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32" name="s132"/>
          <p:cNvSpPr/>
          <p:nvPr/>
        </p:nvSpPr>
        <p:spPr>
          <a:xfrm>
            <a:off x="6120994" y="3834384"/>
            <a:ext cx="5510174"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FAE7A"/>
                </a:solidFill>
                <a:latin typeface="Consolas"/>
                <a:ea typeface="Consolas"/>
                <a:cs typeface="Consolas"/>
              </a:rPr>
              <a:t>// exceptions: await Should.ThrowAsync&lt;IOException&gt;(...)</a:t>
            </a:r>
            <a:endParaRPr lang="en-US" sz="1000" dirty="0"/>
          </a:p>
        </p:txBody>
      </p:sp>
      <p:sp>
        <p:nvSpPr>
          <p:cNvPr id="133" name="s133"/>
          <p:cNvSpPr/>
          <p:nvPr/>
        </p:nvSpPr>
        <p:spPr>
          <a:xfrm>
            <a:off x="543154" y="4937760"/>
            <a:ext cx="5349240" cy="731520"/>
          </a:xfrm>
          <a:prstGeom prst="roundRect">
            <a:avLst>
              <a:gd name="adj" fmla="val 10000"/>
            </a:avLst>
          </a:prstGeom>
          <a:solidFill>
            <a:srgbClr val="F87171">
              <a:alpha val="8000"/>
            </a:srgbClr>
          </a:solidFill>
          <a:ln w="12700">
            <a:solidFill>
              <a:srgbClr val="F87171"/>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87171"/>
                </a:solidFill>
                <a:latin typeface="Segoe UI"/>
                <a:ea typeface="Segoe UI"/>
                <a:cs typeface="Segoe UI"/>
              </a:rPr>
              <a:t>WHY IT FAILS</a:t>
            </a:r>
            <a:endParaRPr lang="en-US" sz="1050" dirty="0"/>
          </a:p>
          <a:p>
            <a:pPr marL="0" indent="0" algn="l">
              <a:spcBef>
                <a:spcPts val="0"/>
              </a:spcBef>
              <a:spcAft>
                <a:spcPts val="200"/>
              </a:spcAft>
              <a:buNone/>
            </a:pPr>
            <a:r>
              <a:rPr lang="en-US" sz="1150" b="0" dirty="0">
                <a:solidFill>
                  <a:srgbClr val="E2E8F0"/>
                </a:solidFill>
                <a:latin typeface="Segoe UI"/>
                <a:ea typeface="Segoe UI"/>
                <a:cs typeface="Segoe UI"/>
              </a:rPr>
              <a:t>The runner cannot await async void. .Result blocks and hides the real exception.</a:t>
            </a:r>
            <a:endParaRPr lang="en-US" sz="1150" dirty="0"/>
          </a:p>
        </p:txBody>
      </p:sp>
      <p:sp>
        <p:nvSpPr>
          <p:cNvPr id="134" name="s134"/>
          <p:cNvSpPr/>
          <p:nvPr/>
        </p:nvSpPr>
        <p:spPr>
          <a:xfrm>
            <a:off x="6120994" y="4937760"/>
            <a:ext cx="5510174" cy="73152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THE RULE</a:t>
            </a:r>
            <a:endParaRPr lang="en-US" sz="1050" dirty="0"/>
          </a:p>
          <a:p>
            <a:pPr marL="0" indent="0" algn="l">
              <a:spcBef>
                <a:spcPts val="0"/>
              </a:spcBef>
              <a:spcAft>
                <a:spcPts val="200"/>
              </a:spcAft>
              <a:buNone/>
            </a:pPr>
            <a:r>
              <a:rPr lang="en-US" sz="1150" b="0" dirty="0">
                <a:solidFill>
                  <a:srgbClr val="E2E8F0"/>
                </a:solidFill>
                <a:latin typeface="Segoe UI"/>
                <a:ea typeface="Segoe UI"/>
                <a:cs typeface="Segoe UI"/>
              </a:rPr>
              <a:t>async Task test methods, await every call, ThrowAsync for failures.</a:t>
            </a:r>
            <a:endParaRPr lang="en-US" sz="1150" dirty="0"/>
          </a:p>
        </p:txBody>
      </p:sp>
      <p:sp>
        <p:nvSpPr>
          <p:cNvPr id="135" name="s135"/>
          <p:cNvSpPr/>
          <p:nvPr/>
        </p:nvSpPr>
        <p:spPr>
          <a:xfrm>
            <a:off x="652882" y="2740152"/>
            <a:ext cx="5129784" cy="20726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36" name="s136"/>
          <p:cNvSpPr/>
          <p:nvPr/>
        </p:nvSpPr>
        <p:spPr>
          <a:xfrm>
            <a:off x="652882" y="3349752"/>
            <a:ext cx="5129784" cy="35966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anim calcmode="lin" valueType="num">
                                      <p:cBhvr additive="base">
                                        <p:cTn id="12" dur="500" decel="100000" fill="hold"/>
                                        <p:tgtEl>
                                          <p:spTgt spid="103"/>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53" presetClass="entr" presetSubtype="16" fill="hold" grpId="0" nodeType="clickEffect">
                                  <p:stCondLst>
                                    <p:cond delay="0"/>
                                  </p:stCondLst>
                                  <p:childTnLst>
                                    <p:set>
                                      <p:cBhvr>
                                        <p:cTn id="68" dur="1" fill="hold">
                                          <p:stCondLst>
                                            <p:cond delay="0"/>
                                          </p:stCondLst>
                                        </p:cTn>
                                        <p:tgtEl>
                                          <p:spTgt spid="135"/>
                                        </p:tgtEl>
                                        <p:attrNameLst>
                                          <p:attrName>style.visibility</p:attrName>
                                        </p:attrNameLst>
                                      </p:cBhvr>
                                      <p:to>
                                        <p:strVal val="visible"/>
                                      </p:to>
                                    </p:set>
                                    <p:anim calcmode="lin" valueType="num">
                                      <p:cBhvr additive="base">
                                        <p:cTn id="69" dur="500" decel="100000" fill="hold"/>
                                        <p:tgtEl>
                                          <p:spTgt spid="135"/>
                                        </p:tgtEl>
                                        <p:attrNameLst>
                                          <p:attrName>ppt_w</p:attrName>
                                        </p:attrNameLst>
                                      </p:cBhvr>
                                      <p:tavLst>
                                        <p:tav tm="0">
                                          <p:val>
                                            <p:strVal val="#ppt_w*0.3"/>
                                          </p:val>
                                        </p:tav>
                                        <p:tav tm="100000">
                                          <p:val>
                                            <p:strVal val="#ppt_w*1.08"/>
                                          </p:val>
                                        </p:tav>
                                      </p:tavLst>
                                    </p:anim>
                                    <p:anim calcmode="lin" valueType="num">
                                      <p:cBhvr additive="base">
                                        <p:cTn id="70" dur="500" decel="100000" fill="hold"/>
                                        <p:tgtEl>
                                          <p:spTgt spid="135"/>
                                        </p:tgtEl>
                                        <p:attrNameLst>
                                          <p:attrName>ppt_h</p:attrName>
                                        </p:attrNameLst>
                                      </p:cBhvr>
                                      <p:tavLst>
                                        <p:tav tm="0">
                                          <p:val>
                                            <p:strVal val="#ppt_h*0.3"/>
                                          </p:val>
                                        </p:tav>
                                        <p:tav tm="100000">
                                          <p:val>
                                            <p:strVal val="#ppt_h*1.08"/>
                                          </p:val>
                                        </p:tav>
                                      </p:tavLst>
                                    </p:anim>
                                    <p:animEffect transition="in" filter="fade">
                                      <p:cBhvr>
                                        <p:cTn id="71" dur="250"/>
                                        <p:tgtEl>
                                          <p:spTgt spid="135"/>
                                        </p:tgtEl>
                                      </p:cBhvr>
                                    </p:animEffect>
                                    <p:anim calcmode="lin" valueType="num">
                                      <p:cBhvr additive="base">
                                        <p:cTn id="72" dur="160" fill="hold">
                                          <p:stCondLst>
                                            <p:cond delay="500"/>
                                          </p:stCondLst>
                                        </p:cTn>
                                        <p:tgtEl>
                                          <p:spTgt spid="135"/>
                                        </p:tgtEl>
                                        <p:attrNameLst>
                                          <p:attrName>ppt_w</p:attrName>
                                        </p:attrNameLst>
                                      </p:cBhvr>
                                      <p:tavLst>
                                        <p:tav tm="0">
                                          <p:val>
                                            <p:strVal val="#ppt_w*1.08"/>
                                          </p:val>
                                        </p:tav>
                                        <p:tav tm="100000">
                                          <p:val>
                                            <p:strVal val="#ppt_w"/>
                                          </p:val>
                                        </p:tav>
                                      </p:tavLst>
                                    </p:anim>
                                    <p:anim calcmode="lin" valueType="num">
                                      <p:cBhvr additive="base">
                                        <p:cTn id="73" dur="160" fill="hold">
                                          <p:stCondLst>
                                            <p:cond delay="500"/>
                                          </p:stCondLst>
                                        </p:cTn>
                                        <p:tgtEl>
                                          <p:spTgt spid="135"/>
                                        </p:tgtEl>
                                        <p:attrNameLst>
                                          <p:attrName>ppt_h</p:attrName>
                                        </p:attrNameLst>
                                      </p:cBhvr>
                                      <p:tavLst>
                                        <p:tav tm="0">
                                          <p:val>
                                            <p:strVal val="#ppt_h*1.08"/>
                                          </p:val>
                                        </p:tav>
                                        <p:tav tm="100000">
                                          <p:val>
                                            <p:strVal val="#ppt_h"/>
                                          </p:val>
                                        </p:tav>
                                      </p:tavLst>
                                    </p:anim>
                                  </p:childTnLst>
                                </p:cTn>
                              </p:par>
                              <p:par>
                                <p:cTn id="74" presetID="53" presetClass="entr" presetSubtype="16" fill="hold" grpId="0" nodeType="withEffect">
                                  <p:stCondLst>
                                    <p:cond delay="200"/>
                                  </p:stCondLst>
                                  <p:childTnLst>
                                    <p:set>
                                      <p:cBhvr>
                                        <p:cTn id="75" dur="1" fill="hold">
                                          <p:stCondLst>
                                            <p:cond delay="0"/>
                                          </p:stCondLst>
                                        </p:cTn>
                                        <p:tgtEl>
                                          <p:spTgt spid="136"/>
                                        </p:tgtEl>
                                        <p:attrNameLst>
                                          <p:attrName>style.visibility</p:attrName>
                                        </p:attrNameLst>
                                      </p:cBhvr>
                                      <p:to>
                                        <p:strVal val="visible"/>
                                      </p:to>
                                    </p:set>
                                    <p:anim calcmode="lin" valueType="num">
                                      <p:cBhvr additive="base">
                                        <p:cTn id="76" dur="500" decel="100000" fill="hold"/>
                                        <p:tgtEl>
                                          <p:spTgt spid="136"/>
                                        </p:tgtEl>
                                        <p:attrNameLst>
                                          <p:attrName>ppt_w</p:attrName>
                                        </p:attrNameLst>
                                      </p:cBhvr>
                                      <p:tavLst>
                                        <p:tav tm="0">
                                          <p:val>
                                            <p:strVal val="#ppt_w*0.3"/>
                                          </p:val>
                                        </p:tav>
                                        <p:tav tm="100000">
                                          <p:val>
                                            <p:strVal val="#ppt_w*1.08"/>
                                          </p:val>
                                        </p:tav>
                                      </p:tavLst>
                                    </p:anim>
                                    <p:anim calcmode="lin" valueType="num">
                                      <p:cBhvr additive="base">
                                        <p:cTn id="77" dur="500" decel="100000" fill="hold"/>
                                        <p:tgtEl>
                                          <p:spTgt spid="136"/>
                                        </p:tgtEl>
                                        <p:attrNameLst>
                                          <p:attrName>ppt_h</p:attrName>
                                        </p:attrNameLst>
                                      </p:cBhvr>
                                      <p:tavLst>
                                        <p:tav tm="0">
                                          <p:val>
                                            <p:strVal val="#ppt_h*0.3"/>
                                          </p:val>
                                        </p:tav>
                                        <p:tav tm="100000">
                                          <p:val>
                                            <p:strVal val="#ppt_h*1.08"/>
                                          </p:val>
                                        </p:tav>
                                      </p:tavLst>
                                    </p:anim>
                                    <p:animEffect transition="in" filter="fade">
                                      <p:cBhvr>
                                        <p:cTn id="78" dur="250"/>
                                        <p:tgtEl>
                                          <p:spTgt spid="136"/>
                                        </p:tgtEl>
                                      </p:cBhvr>
                                    </p:animEffect>
                                    <p:anim calcmode="lin" valueType="num">
                                      <p:cBhvr additive="base">
                                        <p:cTn id="79" dur="160" fill="hold">
                                          <p:stCondLst>
                                            <p:cond delay="500"/>
                                          </p:stCondLst>
                                        </p:cTn>
                                        <p:tgtEl>
                                          <p:spTgt spid="136"/>
                                        </p:tgtEl>
                                        <p:attrNameLst>
                                          <p:attrName>ppt_w</p:attrName>
                                        </p:attrNameLst>
                                      </p:cBhvr>
                                      <p:tavLst>
                                        <p:tav tm="0">
                                          <p:val>
                                            <p:strVal val="#ppt_w*1.08"/>
                                          </p:val>
                                        </p:tav>
                                        <p:tav tm="100000">
                                          <p:val>
                                            <p:strVal val="#ppt_w"/>
                                          </p:val>
                                        </p:tav>
                                      </p:tavLst>
                                    </p:anim>
                                    <p:anim calcmode="lin" valueType="num">
                                      <p:cBhvr additive="base">
                                        <p:cTn id="80" dur="160" fill="hold">
                                          <p:stCondLst>
                                            <p:cond delay="500"/>
                                          </p:stCondLst>
                                        </p:cTn>
                                        <p:tgtEl>
                                          <p:spTgt spid="136"/>
                                        </p:tgtEl>
                                        <p:attrNameLst>
                                          <p:attrName>ppt_h</p:attrName>
                                        </p:attrNameLst>
                                      </p:cBhvr>
                                      <p:tavLst>
                                        <p:tav tm="0">
                                          <p:val>
                                            <p:strVal val="#ppt_h*1.08"/>
                                          </p:val>
                                        </p:tav>
                                        <p:tav tm="100000">
                                          <p:val>
                                            <p:strVal val="#ppt_h"/>
                                          </p:val>
                                        </p:tav>
                                      </p:tavLst>
                                    </p:anim>
                                  </p:childTnLst>
                                </p:cTn>
                              </p:par>
                              <p:par>
                                <p:cTn id="81" presetID="42" presetClass="entr" presetSubtype="0" fill="hold" grpId="0" nodeType="withEffect">
                                  <p:stCondLst>
                                    <p:cond delay="400"/>
                                  </p:stCondLst>
                                  <p:childTnLst>
                                    <p:set>
                                      <p:cBhvr>
                                        <p:cTn id="82" dur="1" fill="hold">
                                          <p:stCondLst>
                                            <p:cond delay="0"/>
                                          </p:stCondLst>
                                        </p:cTn>
                                        <p:tgtEl>
                                          <p:spTgt spid="133"/>
                                        </p:tgtEl>
                                        <p:attrNameLst>
                                          <p:attrName>style.visibility</p:attrName>
                                        </p:attrNameLst>
                                      </p:cBhvr>
                                      <p:to>
                                        <p:strVal val="visible"/>
                                      </p:to>
                                    </p:set>
                                    <p:animEffect transition="in" filter="fade">
                                      <p:cBhvr>
                                        <p:cTn id="83" dur="500"/>
                                        <p:tgtEl>
                                          <p:spTgt spid="133"/>
                                        </p:tgtEl>
                                      </p:cBhvr>
                                    </p:animEffect>
                                    <p:anim calcmode="lin" valueType="num">
                                      <p:cBhvr additive="base">
                                        <p:cTn id="84" dur="500" decel="100000" fill="hold"/>
                                        <p:tgtEl>
                                          <p:spTgt spid="133"/>
                                        </p:tgtEl>
                                        <p:attrNameLst>
                                          <p:attrName>ppt_y</p:attrName>
                                        </p:attrNameLst>
                                      </p:cBhvr>
                                      <p:tavLst>
                                        <p:tav tm="0">
                                          <p:val>
                                            <p:strVal val="#ppt_y+0.06"/>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42" presetClass="entr" presetSubtype="0" fill="hold" grpId="0" nodeType="clickEffect">
                                  <p:stCondLst>
                                    <p:cond delay="0"/>
                                  </p:stCondLst>
                                  <p:childTnLst>
                                    <p:set>
                                      <p:cBhvr>
                                        <p:cTn id="88" dur="1" fill="hold">
                                          <p:stCondLst>
                                            <p:cond delay="0"/>
                                          </p:stCondLst>
                                        </p:cTn>
                                        <p:tgtEl>
                                          <p:spTgt spid="118"/>
                                        </p:tgtEl>
                                        <p:attrNameLst>
                                          <p:attrName>style.visibility</p:attrName>
                                        </p:attrNameLst>
                                      </p:cBhvr>
                                      <p:to>
                                        <p:strVal val="visible"/>
                                      </p:to>
                                    </p:set>
                                    <p:animEffect transition="in" filter="fade">
                                      <p:cBhvr>
                                        <p:cTn id="89" dur="500"/>
                                        <p:tgtEl>
                                          <p:spTgt spid="118"/>
                                        </p:tgtEl>
                                      </p:cBhvr>
                                    </p:animEffect>
                                    <p:anim calcmode="lin" valueType="num">
                                      <p:cBhvr additive="base">
                                        <p:cTn id="90" dur="500" decel="100000" fill="hold"/>
                                        <p:tgtEl>
                                          <p:spTgt spid="118"/>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19"/>
                                        </p:tgtEl>
                                        <p:attrNameLst>
                                          <p:attrName>style.visibility</p:attrName>
                                        </p:attrNameLst>
                                      </p:cBhvr>
                                      <p:to>
                                        <p:strVal val="visible"/>
                                      </p:to>
                                    </p:set>
                                    <p:animEffect transition="in" filter="fade">
                                      <p:cBhvr>
                                        <p:cTn id="93" dur="500"/>
                                        <p:tgtEl>
                                          <p:spTgt spid="119"/>
                                        </p:tgtEl>
                                      </p:cBhvr>
                                    </p:animEffect>
                                    <p:anim calcmode="lin" valueType="num">
                                      <p:cBhvr additive="base">
                                        <p:cTn id="94" dur="500" decel="100000" fill="hold"/>
                                        <p:tgtEl>
                                          <p:spTgt spid="119"/>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0"/>
                                        </p:tgtEl>
                                        <p:attrNameLst>
                                          <p:attrName>style.visibility</p:attrName>
                                        </p:attrNameLst>
                                      </p:cBhvr>
                                      <p:to>
                                        <p:strVal val="visible"/>
                                      </p:to>
                                    </p:set>
                                    <p:animEffect transition="in" filter="fade">
                                      <p:cBhvr>
                                        <p:cTn id="97" dur="500"/>
                                        <p:tgtEl>
                                          <p:spTgt spid="120"/>
                                        </p:tgtEl>
                                      </p:cBhvr>
                                    </p:animEffect>
                                    <p:anim calcmode="lin" valueType="num">
                                      <p:cBhvr additive="base">
                                        <p:cTn id="98" dur="500" decel="100000" fill="hold"/>
                                        <p:tgtEl>
                                          <p:spTgt spid="120"/>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1"/>
                                        </p:tgtEl>
                                        <p:attrNameLst>
                                          <p:attrName>style.visibility</p:attrName>
                                        </p:attrNameLst>
                                      </p:cBhvr>
                                      <p:to>
                                        <p:strVal val="visible"/>
                                      </p:to>
                                    </p:set>
                                    <p:animEffect transition="in" filter="fade">
                                      <p:cBhvr>
                                        <p:cTn id="101" dur="500"/>
                                        <p:tgtEl>
                                          <p:spTgt spid="121"/>
                                        </p:tgtEl>
                                      </p:cBhvr>
                                    </p:animEffect>
                                    <p:anim calcmode="lin" valueType="num">
                                      <p:cBhvr additive="base">
                                        <p:cTn id="102" dur="500" decel="100000" fill="hold"/>
                                        <p:tgtEl>
                                          <p:spTgt spid="121"/>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2"/>
                                        </p:tgtEl>
                                        <p:attrNameLst>
                                          <p:attrName>style.visibility</p:attrName>
                                        </p:attrNameLst>
                                      </p:cBhvr>
                                      <p:to>
                                        <p:strVal val="visible"/>
                                      </p:to>
                                    </p:set>
                                    <p:animEffect transition="in" filter="fade">
                                      <p:cBhvr>
                                        <p:cTn id="105" dur="500"/>
                                        <p:tgtEl>
                                          <p:spTgt spid="122"/>
                                        </p:tgtEl>
                                      </p:cBhvr>
                                    </p:animEffect>
                                    <p:anim calcmode="lin" valueType="num">
                                      <p:cBhvr additive="base">
                                        <p:cTn id="106" dur="500" decel="100000" fill="hold"/>
                                        <p:tgtEl>
                                          <p:spTgt spid="122"/>
                                        </p:tgtEl>
                                        <p:attrNameLst>
                                          <p:attrName>ppt_y</p:attrName>
                                        </p:attrNameLst>
                                      </p:cBhvr>
                                      <p:tavLst>
                                        <p:tav tm="0">
                                          <p:val>
                                            <p:strVal val="#ppt_y+0.06"/>
                                          </p:val>
                                        </p:tav>
                                        <p:tav tm="100000">
                                          <p:val>
                                            <p:strVal val="#ppt_y"/>
                                          </p:val>
                                        </p:tav>
                                      </p:tavLst>
                                    </p:anim>
                                  </p:childTnLst>
                                </p:cTn>
                              </p:par>
                              <p:par>
                                <p:cTn id="107" presetID="42" presetClass="entr" presetSubtype="0" fill="hold" nodeType="withEffect">
                                  <p:stCondLst>
                                    <p:cond delay="0"/>
                                  </p:stCondLst>
                                  <p:childTnLst>
                                    <p:set>
                                      <p:cBhvr>
                                        <p:cTn id="108" dur="1" fill="hold">
                                          <p:stCondLst>
                                            <p:cond delay="0"/>
                                          </p:stCondLst>
                                        </p:cTn>
                                        <p:tgtEl>
                                          <p:spTgt spid="123"/>
                                        </p:tgtEl>
                                        <p:attrNameLst>
                                          <p:attrName>style.visibility</p:attrName>
                                        </p:attrNameLst>
                                      </p:cBhvr>
                                      <p:to>
                                        <p:strVal val="visible"/>
                                      </p:to>
                                    </p:set>
                                    <p:animEffect transition="in" filter="fade">
                                      <p:cBhvr>
                                        <p:cTn id="109" dur="500"/>
                                        <p:tgtEl>
                                          <p:spTgt spid="123"/>
                                        </p:tgtEl>
                                      </p:cBhvr>
                                    </p:animEffect>
                                    <p:anim calcmode="lin" valueType="num">
                                      <p:cBhvr additive="base">
                                        <p:cTn id="110" dur="500" decel="100000" fill="hold"/>
                                        <p:tgtEl>
                                          <p:spTgt spid="123"/>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4"/>
                                        </p:tgtEl>
                                        <p:attrNameLst>
                                          <p:attrName>style.visibility</p:attrName>
                                        </p:attrNameLst>
                                      </p:cBhvr>
                                      <p:to>
                                        <p:strVal val="visible"/>
                                      </p:to>
                                    </p:set>
                                    <p:animEffect transition="in" filter="fade">
                                      <p:cBhvr>
                                        <p:cTn id="113" dur="500"/>
                                        <p:tgtEl>
                                          <p:spTgt spid="124"/>
                                        </p:tgtEl>
                                      </p:cBhvr>
                                    </p:animEffect>
                                    <p:anim calcmode="lin" valueType="num">
                                      <p:cBhvr additive="base">
                                        <p:cTn id="114" dur="500" decel="100000" fill="hold"/>
                                        <p:tgtEl>
                                          <p:spTgt spid="124"/>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5"/>
                                        </p:tgtEl>
                                        <p:attrNameLst>
                                          <p:attrName>style.visibility</p:attrName>
                                        </p:attrNameLst>
                                      </p:cBhvr>
                                      <p:to>
                                        <p:strVal val="visible"/>
                                      </p:to>
                                    </p:set>
                                    <p:animEffect transition="in" filter="fade">
                                      <p:cBhvr>
                                        <p:cTn id="117" dur="500"/>
                                        <p:tgtEl>
                                          <p:spTgt spid="125"/>
                                        </p:tgtEl>
                                      </p:cBhvr>
                                    </p:animEffect>
                                    <p:anim calcmode="lin" valueType="num">
                                      <p:cBhvr additive="base">
                                        <p:cTn id="118" dur="500" decel="100000" fill="hold"/>
                                        <p:tgtEl>
                                          <p:spTgt spid="125"/>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26"/>
                                        </p:tgtEl>
                                        <p:attrNameLst>
                                          <p:attrName>style.visibility</p:attrName>
                                        </p:attrNameLst>
                                      </p:cBhvr>
                                      <p:to>
                                        <p:strVal val="visible"/>
                                      </p:to>
                                    </p:set>
                                    <p:animEffect transition="in" filter="fade">
                                      <p:cBhvr>
                                        <p:cTn id="121" dur="500"/>
                                        <p:tgtEl>
                                          <p:spTgt spid="126"/>
                                        </p:tgtEl>
                                      </p:cBhvr>
                                    </p:animEffect>
                                    <p:anim calcmode="lin" valueType="num">
                                      <p:cBhvr additive="base">
                                        <p:cTn id="122" dur="500" decel="100000" fill="hold"/>
                                        <p:tgtEl>
                                          <p:spTgt spid="126"/>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27"/>
                                        </p:tgtEl>
                                        <p:attrNameLst>
                                          <p:attrName>style.visibility</p:attrName>
                                        </p:attrNameLst>
                                      </p:cBhvr>
                                      <p:to>
                                        <p:strVal val="visible"/>
                                      </p:to>
                                    </p:set>
                                    <p:animEffect transition="in" filter="fade">
                                      <p:cBhvr>
                                        <p:cTn id="125" dur="500"/>
                                        <p:tgtEl>
                                          <p:spTgt spid="127"/>
                                        </p:tgtEl>
                                      </p:cBhvr>
                                    </p:animEffect>
                                    <p:anim calcmode="lin" valueType="num">
                                      <p:cBhvr additive="base">
                                        <p:cTn id="126" dur="500" decel="100000" fill="hold"/>
                                        <p:tgtEl>
                                          <p:spTgt spid="127"/>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28"/>
                                        </p:tgtEl>
                                        <p:attrNameLst>
                                          <p:attrName>style.visibility</p:attrName>
                                        </p:attrNameLst>
                                      </p:cBhvr>
                                      <p:to>
                                        <p:strVal val="visible"/>
                                      </p:to>
                                    </p:set>
                                    <p:animEffect transition="in" filter="fade">
                                      <p:cBhvr>
                                        <p:cTn id="129" dur="500"/>
                                        <p:tgtEl>
                                          <p:spTgt spid="128"/>
                                        </p:tgtEl>
                                      </p:cBhvr>
                                    </p:animEffect>
                                    <p:anim calcmode="lin" valueType="num">
                                      <p:cBhvr additive="base">
                                        <p:cTn id="130" dur="500" decel="100000" fill="hold"/>
                                        <p:tgtEl>
                                          <p:spTgt spid="128"/>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29"/>
                                        </p:tgtEl>
                                        <p:attrNameLst>
                                          <p:attrName>style.visibility</p:attrName>
                                        </p:attrNameLst>
                                      </p:cBhvr>
                                      <p:to>
                                        <p:strVal val="visible"/>
                                      </p:to>
                                    </p:set>
                                    <p:animEffect transition="in" filter="fade">
                                      <p:cBhvr>
                                        <p:cTn id="133" dur="500"/>
                                        <p:tgtEl>
                                          <p:spTgt spid="129"/>
                                        </p:tgtEl>
                                      </p:cBhvr>
                                    </p:animEffect>
                                    <p:anim calcmode="lin" valueType="num">
                                      <p:cBhvr additive="base">
                                        <p:cTn id="134" dur="500" decel="100000" fill="hold"/>
                                        <p:tgtEl>
                                          <p:spTgt spid="129"/>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130"/>
                                        </p:tgtEl>
                                        <p:attrNameLst>
                                          <p:attrName>style.visibility</p:attrName>
                                        </p:attrNameLst>
                                      </p:cBhvr>
                                      <p:to>
                                        <p:strVal val="visible"/>
                                      </p:to>
                                    </p:set>
                                    <p:animEffect transition="in" filter="fade">
                                      <p:cBhvr>
                                        <p:cTn id="137" dur="500"/>
                                        <p:tgtEl>
                                          <p:spTgt spid="130"/>
                                        </p:tgtEl>
                                      </p:cBhvr>
                                    </p:animEffect>
                                    <p:anim calcmode="lin" valueType="num">
                                      <p:cBhvr additive="base">
                                        <p:cTn id="138" dur="500" decel="100000" fill="hold"/>
                                        <p:tgtEl>
                                          <p:spTgt spid="130"/>
                                        </p:tgtEl>
                                        <p:attrNameLst>
                                          <p:attrName>ppt_y</p:attrName>
                                        </p:attrNameLst>
                                      </p:cBhvr>
                                      <p:tavLst>
                                        <p:tav tm="0">
                                          <p:val>
                                            <p:strVal val="#ppt_y+0.06"/>
                                          </p:val>
                                        </p:tav>
                                        <p:tav tm="100000">
                                          <p:val>
                                            <p:strVal val="#ppt_y"/>
                                          </p:val>
                                        </p:tav>
                                      </p:tavLst>
                                    </p:anim>
                                  </p:childTnLst>
                                </p:cTn>
                              </p:par>
                              <p:par>
                                <p:cTn id="139" presetID="42" presetClass="entr" presetSubtype="0" fill="hold" grpId="0" nodeType="withEffect">
                                  <p:stCondLst>
                                    <p:cond delay="0"/>
                                  </p:stCondLst>
                                  <p:childTnLst>
                                    <p:set>
                                      <p:cBhvr>
                                        <p:cTn id="140" dur="1" fill="hold">
                                          <p:stCondLst>
                                            <p:cond delay="0"/>
                                          </p:stCondLst>
                                        </p:cTn>
                                        <p:tgtEl>
                                          <p:spTgt spid="131"/>
                                        </p:tgtEl>
                                        <p:attrNameLst>
                                          <p:attrName>style.visibility</p:attrName>
                                        </p:attrNameLst>
                                      </p:cBhvr>
                                      <p:to>
                                        <p:strVal val="visible"/>
                                      </p:to>
                                    </p:set>
                                    <p:animEffect transition="in" filter="fade">
                                      <p:cBhvr>
                                        <p:cTn id="141" dur="500"/>
                                        <p:tgtEl>
                                          <p:spTgt spid="131"/>
                                        </p:tgtEl>
                                      </p:cBhvr>
                                    </p:animEffect>
                                    <p:anim calcmode="lin" valueType="num">
                                      <p:cBhvr additive="base">
                                        <p:cTn id="142" dur="500" decel="100000" fill="hold"/>
                                        <p:tgtEl>
                                          <p:spTgt spid="131"/>
                                        </p:tgtEl>
                                        <p:attrNameLst>
                                          <p:attrName>ppt_y</p:attrName>
                                        </p:attrNameLst>
                                      </p:cBhvr>
                                      <p:tavLst>
                                        <p:tav tm="0">
                                          <p:val>
                                            <p:strVal val="#ppt_y+0.06"/>
                                          </p:val>
                                        </p:tav>
                                        <p:tav tm="100000">
                                          <p:val>
                                            <p:strVal val="#ppt_y"/>
                                          </p:val>
                                        </p:tav>
                                      </p:tavLst>
                                    </p:anim>
                                  </p:childTnLst>
                                </p:cTn>
                              </p:par>
                              <p:par>
                                <p:cTn id="143" presetID="42" presetClass="entr" presetSubtype="0" fill="hold" grpId="0" nodeType="withEffect">
                                  <p:stCondLst>
                                    <p:cond delay="0"/>
                                  </p:stCondLst>
                                  <p:childTnLst>
                                    <p:set>
                                      <p:cBhvr>
                                        <p:cTn id="144" dur="1" fill="hold">
                                          <p:stCondLst>
                                            <p:cond delay="0"/>
                                          </p:stCondLst>
                                        </p:cTn>
                                        <p:tgtEl>
                                          <p:spTgt spid="132"/>
                                        </p:tgtEl>
                                        <p:attrNameLst>
                                          <p:attrName>style.visibility</p:attrName>
                                        </p:attrNameLst>
                                      </p:cBhvr>
                                      <p:to>
                                        <p:strVal val="visible"/>
                                      </p:to>
                                    </p:set>
                                    <p:animEffect transition="in" filter="fade">
                                      <p:cBhvr>
                                        <p:cTn id="145" dur="500"/>
                                        <p:tgtEl>
                                          <p:spTgt spid="132"/>
                                        </p:tgtEl>
                                      </p:cBhvr>
                                    </p:animEffect>
                                    <p:anim calcmode="lin" valueType="num">
                                      <p:cBhvr additive="base">
                                        <p:cTn id="146" dur="500" decel="100000" fill="hold"/>
                                        <p:tgtEl>
                                          <p:spTgt spid="132"/>
                                        </p:tgtEl>
                                        <p:attrNameLst>
                                          <p:attrName>ppt_y</p:attrName>
                                        </p:attrNameLst>
                                      </p:cBhvr>
                                      <p:tavLst>
                                        <p:tav tm="0">
                                          <p:val>
                                            <p:strVal val="#ppt_y+0.06"/>
                                          </p:val>
                                        </p:tav>
                                        <p:tav tm="100000">
                                          <p:val>
                                            <p:strVal val="#ppt_y"/>
                                          </p:val>
                                        </p:tav>
                                      </p:tavLst>
                                    </p:anim>
                                  </p:childTnLst>
                                </p:cTn>
                              </p:par>
                              <p:par>
                                <p:cTn id="147" presetID="42" presetClass="entr" presetSubtype="0" fill="hold" grpId="0" nodeType="withEffect">
                                  <p:stCondLst>
                                    <p:cond delay="200"/>
                                  </p:stCondLst>
                                  <p:childTnLst>
                                    <p:set>
                                      <p:cBhvr>
                                        <p:cTn id="148" dur="1" fill="hold">
                                          <p:stCondLst>
                                            <p:cond delay="0"/>
                                          </p:stCondLst>
                                        </p:cTn>
                                        <p:tgtEl>
                                          <p:spTgt spid="134"/>
                                        </p:tgtEl>
                                        <p:attrNameLst>
                                          <p:attrName>style.visibility</p:attrName>
                                        </p:attrNameLst>
                                      </p:cBhvr>
                                      <p:to>
                                        <p:strVal val="visible"/>
                                      </p:to>
                                    </p:set>
                                    <p:animEffect transition="in" filter="fade">
                                      <p:cBhvr>
                                        <p:cTn id="149" dur="500"/>
                                        <p:tgtEl>
                                          <p:spTgt spid="134"/>
                                        </p:tgtEl>
                                      </p:cBhvr>
                                    </p:animEffect>
                                    <p:anim calcmode="lin" valueType="num">
                                      <p:cBhvr additive="base">
                                        <p:cTn id="150" dur="500" decel="100000" fill="hold"/>
                                        <p:tgtEl>
                                          <p:spTgt spid="134"/>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8" grpId="0" animBg="1"/>
      <p:bldP spid="119" grpId="0" animBg="1"/>
      <p:bldP spid="120" grpId="0" animBg="1"/>
      <p:bldP spid="121" grpId="0" animBg="1"/>
      <p:bldP spid="122"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CHAPTER 05</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148</a:t>
            </a:r>
            <a:endParaRPr lang="en-US" sz="850" dirty="0"/>
          </a:p>
        </p:txBody>
      </p:sp>
      <p:sp>
        <p:nvSpPr>
          <p:cNvPr id="101" name="!!bignum"/>
          <p:cNvSpPr txBox="1"/>
          <p:nvPr/>
        </p:nvSpPr>
        <p:spPr>
          <a:xfrm>
            <a:off x="497434" y="960120"/>
            <a:ext cx="2926080" cy="1463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34D399"/>
                </a:solidFill>
                <a:latin typeface="Segoe UI"/>
                <a:ea typeface="Segoe UI"/>
                <a:cs typeface="Segoe UI"/>
              </a:rPr>
              <a:t>05</a:t>
            </a:r>
            <a:endParaRPr lang="en-US" sz="9600" dirty="0"/>
          </a:p>
        </p:txBody>
      </p:sp>
      <p:sp>
        <p:nvSpPr>
          <p:cNvPr id="102" name="s102"/>
          <p:cNvSpPr txBox="1"/>
          <p:nvPr/>
        </p:nvSpPr>
        <p:spPr>
          <a:xfrm>
            <a:off x="543154" y="2377440"/>
            <a:ext cx="10515600" cy="8229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Test Doubles</a:t>
            </a:r>
            <a:endParaRPr lang="en-US" sz="4000" dirty="0"/>
          </a:p>
        </p:txBody>
      </p:sp>
      <p:sp>
        <p:nvSpPr>
          <p:cNvPr id="103" name="s103"/>
          <p:cNvSpPr txBox="1"/>
          <p:nvPr/>
        </p:nvSpPr>
        <p:spPr>
          <a:xfrm>
            <a:off x="543154" y="3154680"/>
            <a:ext cx="1051560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0" dirty="0">
                <a:solidFill>
                  <a:srgbClr val="CBD5E1"/>
                </a:solidFill>
                <a:latin typeface="Segoe UI"/>
                <a:ea typeface="Segoe UI"/>
                <a:cs typeface="Segoe UI"/>
              </a:rPr>
              <a:t>The class talks to a database, an email server, a logger. The test cannot.</a:t>
            </a:r>
            <a:endParaRPr lang="en-US" sz="1600" dirty="0"/>
          </a:p>
        </p:txBody>
      </p:sp>
      <p:sp>
        <p:nvSpPr>
          <p:cNvPr id="104" name="s104"/>
          <p:cNvSpPr/>
          <p:nvPr/>
        </p:nvSpPr>
        <p:spPr>
          <a:xfrm>
            <a:off x="543154" y="3840480"/>
            <a:ext cx="3513125" cy="960120"/>
          </a:xfrm>
          <a:prstGeom prst="roundRect">
            <a:avLst>
              <a:gd name="adj" fmla="val 10000"/>
            </a:avLst>
          </a:prstGeom>
          <a:solidFill>
            <a:srgbClr val="111B2E"/>
          </a:solidFill>
          <a:ln w="12700">
            <a:solidFill>
              <a:srgbClr val="34D399"/>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34D399"/>
                </a:solidFill>
                <a:latin typeface="Segoe UI"/>
                <a:ea typeface="Segoe UI"/>
                <a:cs typeface="Segoe UI"/>
              </a:rPr>
              <a:t>By hand</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Dummy, fake, spy: just classes.</a:t>
            </a:r>
            <a:endParaRPr lang="en-US" sz="1200" dirty="0"/>
          </a:p>
        </p:txBody>
      </p:sp>
      <p:sp>
        <p:nvSpPr>
          <p:cNvPr id="105" name="s105"/>
          <p:cNvSpPr/>
          <p:nvPr/>
        </p:nvSpPr>
        <p:spPr>
          <a:xfrm>
            <a:off x="4330598" y="3840480"/>
            <a:ext cx="3513125" cy="960120"/>
          </a:xfrm>
          <a:prstGeom prst="roundRect">
            <a:avLst>
              <a:gd name="adj" fmla="val 10000"/>
            </a:avLst>
          </a:prstGeom>
          <a:solidFill>
            <a:srgbClr val="111B2E"/>
          </a:solidFill>
          <a:ln w="12700">
            <a:solidFill>
              <a:srgbClr val="34D399"/>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34D399"/>
                </a:solidFill>
                <a:latin typeface="Segoe UI"/>
                <a:ea typeface="Segoe UI"/>
                <a:cs typeface="Segoe UI"/>
              </a:rPr>
              <a:t>NSubstitute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Stub and mock: used every day.</a:t>
            </a:r>
            <a:endParaRPr lang="en-US" sz="1200" dirty="0"/>
          </a:p>
        </p:txBody>
      </p:sp>
      <p:sp>
        <p:nvSpPr>
          <p:cNvPr id="106" name="s106"/>
          <p:cNvSpPr/>
          <p:nvPr/>
        </p:nvSpPr>
        <p:spPr>
          <a:xfrm>
            <a:off x="8118043" y="3840480"/>
            <a:ext cx="3513125" cy="960120"/>
          </a:xfrm>
          <a:prstGeom prst="roundRect">
            <a:avLst>
              <a:gd name="adj" fmla="val 10000"/>
            </a:avLst>
          </a:prstGeom>
          <a:solidFill>
            <a:srgbClr val="111B2E"/>
          </a:solidFill>
          <a:ln w="12700">
            <a:solidFill>
              <a:srgbClr val="34D399"/>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34D399"/>
                </a:solidFill>
                <a:latin typeface="Segoe UI"/>
                <a:ea typeface="Segoe UI"/>
                <a:cs typeface="Segoe UI"/>
              </a:rPr>
              <a:t>Choose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Which double for which test?</a:t>
            </a:r>
            <a:endParaRPr lang="en-US" sz="1200" dirty="0"/>
          </a:p>
        </p:txBody>
      </p:sp>
      <p:sp>
        <p:nvSpPr>
          <p:cNvPr id="107" name="!!chap0"/>
          <p:cNvSpPr/>
          <p:nvPr/>
        </p:nvSpPr>
        <p:spPr>
          <a:xfrm>
            <a:off x="54315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87171"/>
                </a:solidFill>
                <a:latin typeface="Segoe UI"/>
                <a:ea typeface="Segoe UI"/>
                <a:cs typeface="Segoe UI"/>
              </a:rPr>
              <a:t>01  </a:t>
            </a:r>
            <a:r>
              <a:rPr lang="en-US" sz="1100" b="0" dirty="0">
                <a:solidFill>
                  <a:srgbClr val="94A3B8"/>
                </a:solidFill>
                <a:latin typeface="Segoe UI"/>
                <a:ea typeface="Segoe UI"/>
                <a:cs typeface="Segoe UI"/>
              </a:rPr>
              <a:t>Why test</a:t>
            </a:r>
            <a:endParaRPr lang="en-US" sz="1100" dirty="0"/>
          </a:p>
        </p:txBody>
      </p:sp>
      <p:sp>
        <p:nvSpPr>
          <p:cNvPr id="108" name="!!chap1"/>
          <p:cNvSpPr/>
          <p:nvPr/>
        </p:nvSpPr>
        <p:spPr>
          <a:xfrm>
            <a:off x="240944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02  </a:t>
            </a:r>
            <a:r>
              <a:rPr lang="en-US" sz="1100" b="0" dirty="0">
                <a:solidFill>
                  <a:srgbClr val="94A3B8"/>
                </a:solidFill>
                <a:latin typeface="Segoe UI"/>
                <a:ea typeface="Segoe UI"/>
                <a:cs typeface="Segoe UI"/>
              </a:rPr>
              <a:t>First test</a:t>
            </a:r>
            <a:endParaRPr lang="en-US" sz="1100" dirty="0"/>
          </a:p>
        </p:txBody>
      </p:sp>
      <p:sp>
        <p:nvSpPr>
          <p:cNvPr id="109" name="!!chap2"/>
          <p:cNvSpPr/>
          <p:nvPr/>
        </p:nvSpPr>
        <p:spPr>
          <a:xfrm>
            <a:off x="427573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03  </a:t>
            </a:r>
            <a:r>
              <a:rPr lang="en-US" sz="1100" b="0" dirty="0">
                <a:solidFill>
                  <a:srgbClr val="94A3B8"/>
                </a:solidFill>
                <a:latin typeface="Segoe UI"/>
                <a:ea typeface="Segoe UI"/>
                <a:cs typeface="Segoe UI"/>
              </a:rPr>
              <a:t>Many cases</a:t>
            </a:r>
            <a:endParaRPr lang="en-US" sz="1100" dirty="0"/>
          </a:p>
        </p:txBody>
      </p:sp>
      <p:sp>
        <p:nvSpPr>
          <p:cNvPr id="110" name="!!chap3"/>
          <p:cNvSpPr/>
          <p:nvPr/>
        </p:nvSpPr>
        <p:spPr>
          <a:xfrm>
            <a:off x="614202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04  </a:t>
            </a:r>
            <a:r>
              <a:rPr lang="en-US" sz="1100" b="0" dirty="0">
                <a:solidFill>
                  <a:srgbClr val="94A3B8"/>
                </a:solidFill>
                <a:latin typeface="Segoe UI"/>
                <a:ea typeface="Segoe UI"/>
                <a:cs typeface="Segoe UI"/>
              </a:rPr>
              <a:t>Hidden inputs</a:t>
            </a:r>
            <a:endParaRPr lang="en-US" sz="1100" dirty="0"/>
          </a:p>
        </p:txBody>
      </p:sp>
      <p:sp>
        <p:nvSpPr>
          <p:cNvPr id="111" name="!!chap4"/>
          <p:cNvSpPr/>
          <p:nvPr/>
        </p:nvSpPr>
        <p:spPr>
          <a:xfrm>
            <a:off x="8008315" y="5074920"/>
            <a:ext cx="1756562" cy="457200"/>
          </a:xfrm>
          <a:prstGeom prst="roundRect">
            <a:avLst>
              <a:gd name="adj" fmla="val 50000"/>
            </a:avLst>
          </a:prstGeom>
          <a:solidFill>
            <a:srgbClr val="34D399"/>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05  Test doubles</a:t>
            </a:r>
            <a:endParaRPr lang="en-US" sz="1100" dirty="0"/>
          </a:p>
        </p:txBody>
      </p:sp>
      <p:sp>
        <p:nvSpPr>
          <p:cNvPr id="112" name="!!chap5"/>
          <p:cNvSpPr/>
          <p:nvPr/>
        </p:nvSpPr>
        <p:spPr>
          <a:xfrm>
            <a:off x="9874606"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06  </a:t>
            </a:r>
            <a:r>
              <a:rPr lang="en-US" sz="1100" b="0" dirty="0">
                <a:solidFill>
                  <a:srgbClr val="94A3B8"/>
                </a:solidFill>
                <a:latin typeface="Segoe UI"/>
                <a:ea typeface="Segoe UI"/>
                <a:cs typeface="Segoe UI"/>
              </a:rPr>
              <a:t>Real project</a:t>
            </a:r>
            <a:endParaRPr lang="en-US" sz="11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5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50" decel="100000" fill="hold"/>
                                        <p:tgtEl>
                                          <p:spTgt spid="101"/>
                                        </p:tgtEl>
                                        <p:attrNameLst>
                                          <p:attrName>ppt_h</p:attrName>
                                        </p:attrNameLst>
                                      </p:cBhvr>
                                      <p:tavLst>
                                        <p:tav tm="0">
                                          <p:val>
                                            <p:strVal val="#ppt_h*0.3"/>
                                          </p:val>
                                        </p:tav>
                                        <p:tav tm="100000">
                                          <p:val>
                                            <p:strVal val="#ppt_h*1.08"/>
                                          </p:val>
                                        </p:tav>
                                      </p:tavLst>
                                    </p:anim>
                                    <p:animEffect transition="in" filter="fade">
                                      <p:cBhvr>
                                        <p:cTn id="9" dur="275"/>
                                        <p:tgtEl>
                                          <p:spTgt spid="101"/>
                                        </p:tgtEl>
                                      </p:cBhvr>
                                    </p:animEffect>
                                    <p:anim calcmode="lin" valueType="num">
                                      <p:cBhvr additive="base">
                                        <p:cTn id="10" dur="160" fill="hold">
                                          <p:stCondLst>
                                            <p:cond delay="55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5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4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50"/>
                                        <p:tgtEl>
                                          <p:spTgt spid="102"/>
                                        </p:tgtEl>
                                      </p:cBhvr>
                                    </p:animEffect>
                                    <p:anim calcmode="lin" valueType="num">
                                      <p:cBhvr additive="base">
                                        <p:cTn id="15" dur="55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8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50"/>
                                        <p:tgtEl>
                                          <p:spTgt spid="103"/>
                                        </p:tgtEl>
                                      </p:cBhvr>
                                    </p:animEffect>
                                    <p:anim calcmode="lin" valueType="num">
                                      <p:cBhvr additive="base">
                                        <p:cTn id="19" dur="55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42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50"/>
                                        <p:tgtEl>
                                          <p:spTgt spid="104"/>
                                        </p:tgtEl>
                                      </p:cBhvr>
                                    </p:animEffect>
                                    <p:anim calcmode="lin" valueType="num">
                                      <p:cBhvr additive="base">
                                        <p:cTn id="23" dur="55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56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50"/>
                                        <p:tgtEl>
                                          <p:spTgt spid="105"/>
                                        </p:tgtEl>
                                      </p:cBhvr>
                                    </p:animEffect>
                                    <p:anim calcmode="lin" valueType="num">
                                      <p:cBhvr additive="base">
                                        <p:cTn id="27" dur="55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70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50"/>
                                        <p:tgtEl>
                                          <p:spTgt spid="106"/>
                                        </p:tgtEl>
                                      </p:cBhvr>
                                    </p:animEffect>
                                    <p:anim calcmode="lin" valueType="num">
                                      <p:cBhvr additive="base">
                                        <p:cTn id="31" dur="550" decel="100000" fill="hold"/>
                                        <p:tgtEl>
                                          <p:spTgt spid="106"/>
                                        </p:tgtEl>
                                        <p:attrNameLst>
                                          <p:attrName>ppt_y</p:attrName>
                                        </p:attrNameLst>
                                      </p:cBhvr>
                                      <p:tavLst>
                                        <p:tav tm="0">
                                          <p:val>
                                            <p:strVal val="#ppt_y+0.06"/>
                                          </p:val>
                                        </p:tav>
                                        <p:tav tm="100000">
                                          <p:val>
                                            <p:strVal val="#ppt_y"/>
                                          </p:val>
                                        </p:tav>
                                      </p:tavLst>
                                    </p:anim>
                                  </p:childTnLst>
                                </p:cTn>
                              </p:par>
                              <p:par>
                                <p:cTn id="32" presetID="10" presetClass="entr" presetSubtype="0" fill="hold" grpId="0" nodeType="withEffect">
                                  <p:stCondLst>
                                    <p:cond delay="85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childTnLst>
                                </p:cTn>
                              </p:par>
                              <p:par>
                                <p:cTn id="35" presetID="10" presetClass="entr" presetSubtype="0" fill="hold" grpId="0" nodeType="withEffect">
                                  <p:stCondLst>
                                    <p:cond delay="85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85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85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85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85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PROBLEM</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Problem: A Real Database and Real Emails</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149</a:t>
            </a:r>
            <a:endParaRPr lang="en-US" sz="850" dirty="0"/>
          </a:p>
        </p:txBody>
      </p:sp>
      <p:sp>
        <p:nvSpPr>
          <p:cNvPr id="101" name="s101"/>
          <p:cNvSpPr txBox="1"/>
          <p:nvPr/>
        </p:nvSpPr>
        <p:spPr>
          <a:xfrm>
            <a:off x="543154" y="1600200"/>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THE DEPENDENCIES</a:t>
            </a:r>
            <a:endParaRPr lang="en-US" sz="1050" dirty="0"/>
          </a:p>
        </p:txBody>
      </p:sp>
      <p:sp>
        <p:nvSpPr>
          <p:cNvPr id="102" name="s102"/>
          <p:cNvSpPr/>
          <p:nvPr/>
        </p:nvSpPr>
        <p:spPr>
          <a:xfrm>
            <a:off x="543154" y="1874520"/>
            <a:ext cx="4206240" cy="374904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02082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02082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02082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1947672"/>
            <a:ext cx="124724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Interfaces.cs</a:t>
            </a:r>
            <a:endParaRPr lang="en-US" sz="950" dirty="0"/>
          </a:p>
        </p:txBody>
      </p:sp>
      <p:cxnSp>
        <p:nvCxnSpPr>
          <p:cNvPr id="107" name="ln107"/>
          <p:cNvCxnSpPr/>
          <p:nvPr/>
        </p:nvCxnSpPr>
        <p:spPr>
          <a:xfrm>
            <a:off x="543154" y="2286000"/>
            <a:ext cx="4206240" cy="0"/>
          </a:xfrm>
          <a:prstGeom prst="line">
            <a:avLst/>
          </a:prstGeom>
          <a:ln w="9525">
            <a:solidFill>
              <a:srgbClr val="1E3A5F"/>
            </a:solidFill>
          </a:ln>
        </p:spPr>
      </p:cxnSp>
      <p:sp>
        <p:nvSpPr>
          <p:cNvPr id="108" name="s108"/>
          <p:cNvSpPr/>
          <p:nvPr/>
        </p:nvSpPr>
        <p:spPr>
          <a:xfrm>
            <a:off x="543154" y="240487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public</a:t>
            </a:r>
            <a:r>
              <a:rPr lang="en-US" sz="950" b="0" dirty="0">
                <a:solidFill>
                  <a:srgbClr val="E2E8F0"/>
                </a:solidFill>
                <a:latin typeface="Consolas"/>
                <a:ea typeface="Consolas"/>
                <a:cs typeface="Consolas"/>
              </a:rPr>
              <a:t> </a:t>
            </a:r>
            <a:r>
              <a:rPr lang="en-US" sz="950" b="0" dirty="0">
                <a:solidFill>
                  <a:srgbClr val="60A5FA"/>
                </a:solidFill>
                <a:latin typeface="Consolas"/>
                <a:ea typeface="Consolas"/>
                <a:cs typeface="Consolas"/>
              </a:rPr>
              <a:t>interface</a:t>
            </a:r>
            <a:r>
              <a:rPr lang="en-US" sz="950" b="0" dirty="0">
                <a:solidFill>
                  <a:srgbClr val="E2E8F0"/>
                </a:solidFill>
                <a:latin typeface="Consolas"/>
                <a:ea typeface="Consolas"/>
                <a:cs typeface="Consolas"/>
              </a:rPr>
              <a:t> </a:t>
            </a:r>
            <a:r>
              <a:rPr lang="en-US" sz="950" b="0" dirty="0">
                <a:solidFill>
                  <a:srgbClr val="7DD3FC"/>
                </a:solidFill>
                <a:latin typeface="Consolas"/>
                <a:ea typeface="Consolas"/>
                <a:cs typeface="Consolas"/>
              </a:rPr>
              <a:t>IAccountRepository</a:t>
            </a:r>
            <a:endParaRPr lang="en-US" sz="950" dirty="0"/>
          </a:p>
        </p:txBody>
      </p:sp>
      <p:sp>
        <p:nvSpPr>
          <p:cNvPr id="109" name="s109"/>
          <p:cNvSpPr/>
          <p:nvPr/>
        </p:nvSpPr>
        <p:spPr>
          <a:xfrm>
            <a:off x="543154" y="254965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E2E8F0"/>
                </a:solidFill>
                <a:latin typeface="Consolas"/>
                <a:ea typeface="Consolas"/>
                <a:cs typeface="Consolas"/>
              </a:rPr>
              <a:t>{</a:t>
            </a:r>
            <a:endParaRPr lang="en-US" sz="950" dirty="0"/>
          </a:p>
        </p:txBody>
      </p:sp>
      <p:sp>
        <p:nvSpPr>
          <p:cNvPr id="110" name="s110"/>
          <p:cNvSpPr/>
          <p:nvPr/>
        </p:nvSpPr>
        <p:spPr>
          <a:xfrm>
            <a:off x="543154" y="269443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E2E8F0"/>
                </a:solidFill>
                <a:latin typeface="Consolas"/>
                <a:ea typeface="Consolas"/>
                <a:cs typeface="Consolas"/>
              </a:rPr>
              <a:t>    </a:t>
            </a:r>
            <a:r>
              <a:rPr lang="en-US" sz="950" b="0" dirty="0">
                <a:solidFill>
                  <a:srgbClr val="7DD3FC"/>
                </a:solidFill>
                <a:latin typeface="Consolas"/>
                <a:ea typeface="Consolas"/>
                <a:cs typeface="Consolas"/>
              </a:rPr>
              <a:t>BankAccount</a:t>
            </a:r>
            <a:r>
              <a:rPr lang="en-US" sz="950" b="0" dirty="0">
                <a:solidFill>
                  <a:srgbClr val="E2E8F0"/>
                </a:solidFill>
                <a:latin typeface="Consolas"/>
                <a:ea typeface="Consolas"/>
                <a:cs typeface="Consolas"/>
              </a:rPr>
              <a:t>? </a:t>
            </a:r>
            <a:r>
              <a:rPr lang="en-US" sz="950" b="0" dirty="0">
                <a:solidFill>
                  <a:srgbClr val="7DD3FC"/>
                </a:solidFill>
                <a:latin typeface="Consolas"/>
                <a:ea typeface="Consolas"/>
                <a:cs typeface="Consolas"/>
              </a:rPr>
              <a:t>Find</a:t>
            </a:r>
            <a:r>
              <a:rPr lang="en-US" sz="950" b="0" dirty="0">
                <a:solidFill>
                  <a:srgbClr val="E2E8F0"/>
                </a:solidFill>
                <a:latin typeface="Consolas"/>
                <a:ea typeface="Consolas"/>
                <a:cs typeface="Consolas"/>
              </a:rPr>
              <a:t>(</a:t>
            </a:r>
            <a:r>
              <a:rPr lang="en-US" sz="950" b="0" dirty="0">
                <a:solidFill>
                  <a:srgbClr val="60A5FA"/>
                </a:solidFill>
                <a:latin typeface="Consolas"/>
                <a:ea typeface="Consolas"/>
                <a:cs typeface="Consolas"/>
              </a:rPr>
              <a:t>string</a:t>
            </a:r>
            <a:r>
              <a:rPr lang="en-US" sz="950" b="0" dirty="0">
                <a:solidFill>
                  <a:srgbClr val="E2E8F0"/>
                </a:solidFill>
                <a:latin typeface="Consolas"/>
                <a:ea typeface="Consolas"/>
                <a:cs typeface="Consolas"/>
              </a:rPr>
              <a:t> owner);</a:t>
            </a:r>
            <a:endParaRPr lang="en-US" sz="950" dirty="0"/>
          </a:p>
        </p:txBody>
      </p:sp>
      <p:sp>
        <p:nvSpPr>
          <p:cNvPr id="111" name="s111"/>
          <p:cNvSpPr/>
          <p:nvPr/>
        </p:nvSpPr>
        <p:spPr>
          <a:xfrm>
            <a:off x="543154" y="283921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E2E8F0"/>
                </a:solidFill>
                <a:latin typeface="Consolas"/>
                <a:ea typeface="Consolas"/>
                <a:cs typeface="Consolas"/>
              </a:rPr>
              <a:t>    </a:t>
            </a:r>
            <a:r>
              <a:rPr lang="en-US" sz="950" b="0" dirty="0">
                <a:solidFill>
                  <a:srgbClr val="60A5FA"/>
                </a:solidFill>
                <a:latin typeface="Consolas"/>
                <a:ea typeface="Consolas"/>
                <a:cs typeface="Consolas"/>
              </a:rPr>
              <a:t>void</a:t>
            </a:r>
            <a:r>
              <a:rPr lang="en-US" sz="950" b="0" dirty="0">
                <a:solidFill>
                  <a:srgbClr val="E2E8F0"/>
                </a:solidFill>
                <a:latin typeface="Consolas"/>
                <a:ea typeface="Consolas"/>
                <a:cs typeface="Consolas"/>
              </a:rPr>
              <a:t> </a:t>
            </a:r>
            <a:r>
              <a:rPr lang="en-US" sz="950" b="0" dirty="0">
                <a:solidFill>
                  <a:srgbClr val="7DD3FC"/>
                </a:solidFill>
                <a:latin typeface="Consolas"/>
                <a:ea typeface="Consolas"/>
                <a:cs typeface="Consolas"/>
              </a:rPr>
              <a:t>Save</a:t>
            </a:r>
            <a:r>
              <a:rPr lang="en-US" sz="950" b="0" dirty="0">
                <a:solidFill>
                  <a:srgbClr val="E2E8F0"/>
                </a:solidFill>
                <a:latin typeface="Consolas"/>
                <a:ea typeface="Consolas"/>
                <a:cs typeface="Consolas"/>
              </a:rPr>
              <a:t>(</a:t>
            </a:r>
            <a:r>
              <a:rPr lang="en-US" sz="950" b="0" dirty="0">
                <a:solidFill>
                  <a:srgbClr val="7DD3FC"/>
                </a:solidFill>
                <a:latin typeface="Consolas"/>
                <a:ea typeface="Consolas"/>
                <a:cs typeface="Consolas"/>
              </a:rPr>
              <a:t>BankAccount</a:t>
            </a:r>
            <a:r>
              <a:rPr lang="en-US" sz="950" b="0" dirty="0">
                <a:solidFill>
                  <a:srgbClr val="E2E8F0"/>
                </a:solidFill>
                <a:latin typeface="Consolas"/>
                <a:ea typeface="Consolas"/>
                <a:cs typeface="Consolas"/>
              </a:rPr>
              <a:t> account);</a:t>
            </a:r>
            <a:endParaRPr lang="en-US" sz="950" dirty="0"/>
          </a:p>
        </p:txBody>
      </p:sp>
      <p:sp>
        <p:nvSpPr>
          <p:cNvPr id="112" name="s112"/>
          <p:cNvSpPr/>
          <p:nvPr/>
        </p:nvSpPr>
        <p:spPr>
          <a:xfrm>
            <a:off x="543154" y="298399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E2E8F0"/>
                </a:solidFill>
                <a:latin typeface="Consolas"/>
                <a:ea typeface="Consolas"/>
                <a:cs typeface="Consolas"/>
              </a:rPr>
              <a:t>}</a:t>
            </a:r>
            <a:endParaRPr lang="en-US" sz="950" dirty="0"/>
          </a:p>
        </p:txBody>
      </p:sp>
      <p:sp>
        <p:nvSpPr>
          <p:cNvPr id="113" name="s113"/>
          <p:cNvSpPr/>
          <p:nvPr/>
        </p:nvSpPr>
        <p:spPr>
          <a:xfrm>
            <a:off x="543154" y="312877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public</a:t>
            </a:r>
            <a:r>
              <a:rPr lang="en-US" sz="950" b="0" dirty="0">
                <a:solidFill>
                  <a:srgbClr val="E2E8F0"/>
                </a:solidFill>
                <a:latin typeface="Consolas"/>
                <a:ea typeface="Consolas"/>
                <a:cs typeface="Consolas"/>
              </a:rPr>
              <a:t> </a:t>
            </a:r>
            <a:r>
              <a:rPr lang="en-US" sz="950" b="0" dirty="0">
                <a:solidFill>
                  <a:srgbClr val="60A5FA"/>
                </a:solidFill>
                <a:latin typeface="Consolas"/>
                <a:ea typeface="Consolas"/>
                <a:cs typeface="Consolas"/>
              </a:rPr>
              <a:t>interface</a:t>
            </a:r>
            <a:r>
              <a:rPr lang="en-US" sz="950" b="0" dirty="0">
                <a:solidFill>
                  <a:srgbClr val="E2E8F0"/>
                </a:solidFill>
                <a:latin typeface="Consolas"/>
                <a:ea typeface="Consolas"/>
                <a:cs typeface="Consolas"/>
              </a:rPr>
              <a:t> </a:t>
            </a:r>
            <a:r>
              <a:rPr lang="en-US" sz="950" b="0" dirty="0">
                <a:solidFill>
                  <a:srgbClr val="7DD3FC"/>
                </a:solidFill>
                <a:latin typeface="Consolas"/>
                <a:ea typeface="Consolas"/>
                <a:cs typeface="Consolas"/>
              </a:rPr>
              <a:t>IEmailSender</a:t>
            </a:r>
            <a:endParaRPr lang="en-US" sz="950" dirty="0"/>
          </a:p>
        </p:txBody>
      </p:sp>
      <p:sp>
        <p:nvSpPr>
          <p:cNvPr id="114" name="s114"/>
          <p:cNvSpPr/>
          <p:nvPr/>
        </p:nvSpPr>
        <p:spPr>
          <a:xfrm>
            <a:off x="543154" y="327355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E2E8F0"/>
                </a:solidFill>
                <a:latin typeface="Consolas"/>
                <a:ea typeface="Consolas"/>
                <a:cs typeface="Consolas"/>
              </a:rPr>
              <a:t>{</a:t>
            </a:r>
            <a:endParaRPr lang="en-US" sz="950" dirty="0"/>
          </a:p>
        </p:txBody>
      </p:sp>
      <p:sp>
        <p:nvSpPr>
          <p:cNvPr id="115" name="s115"/>
          <p:cNvSpPr/>
          <p:nvPr/>
        </p:nvSpPr>
        <p:spPr>
          <a:xfrm>
            <a:off x="543154" y="341833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E2E8F0"/>
                </a:solidFill>
                <a:latin typeface="Consolas"/>
                <a:ea typeface="Consolas"/>
                <a:cs typeface="Consolas"/>
              </a:rPr>
              <a:t>    </a:t>
            </a:r>
            <a:r>
              <a:rPr lang="en-US" sz="950" b="0" dirty="0">
                <a:solidFill>
                  <a:srgbClr val="60A5FA"/>
                </a:solidFill>
                <a:latin typeface="Consolas"/>
                <a:ea typeface="Consolas"/>
                <a:cs typeface="Consolas"/>
              </a:rPr>
              <a:t>void</a:t>
            </a:r>
            <a:r>
              <a:rPr lang="en-US" sz="950" b="0" dirty="0">
                <a:solidFill>
                  <a:srgbClr val="E2E8F0"/>
                </a:solidFill>
                <a:latin typeface="Consolas"/>
                <a:ea typeface="Consolas"/>
                <a:cs typeface="Consolas"/>
              </a:rPr>
              <a:t> </a:t>
            </a:r>
            <a:r>
              <a:rPr lang="en-US" sz="950" b="0" dirty="0">
                <a:solidFill>
                  <a:srgbClr val="7DD3FC"/>
                </a:solidFill>
                <a:latin typeface="Consolas"/>
                <a:ea typeface="Consolas"/>
                <a:cs typeface="Consolas"/>
              </a:rPr>
              <a:t>Send</a:t>
            </a:r>
            <a:r>
              <a:rPr lang="en-US" sz="950" b="0" dirty="0">
                <a:solidFill>
                  <a:srgbClr val="E2E8F0"/>
                </a:solidFill>
                <a:latin typeface="Consolas"/>
                <a:ea typeface="Consolas"/>
                <a:cs typeface="Consolas"/>
              </a:rPr>
              <a:t>(</a:t>
            </a:r>
            <a:r>
              <a:rPr lang="en-US" sz="950" b="0" dirty="0">
                <a:solidFill>
                  <a:srgbClr val="60A5FA"/>
                </a:solidFill>
                <a:latin typeface="Consolas"/>
                <a:ea typeface="Consolas"/>
                <a:cs typeface="Consolas"/>
              </a:rPr>
              <a:t>string</a:t>
            </a:r>
            <a:r>
              <a:rPr lang="en-US" sz="950" b="0" dirty="0">
                <a:solidFill>
                  <a:srgbClr val="E2E8F0"/>
                </a:solidFill>
                <a:latin typeface="Consolas"/>
                <a:ea typeface="Consolas"/>
                <a:cs typeface="Consolas"/>
              </a:rPr>
              <a:t> to, </a:t>
            </a:r>
            <a:r>
              <a:rPr lang="en-US" sz="950" b="0" dirty="0">
                <a:solidFill>
                  <a:srgbClr val="60A5FA"/>
                </a:solidFill>
                <a:latin typeface="Consolas"/>
                <a:ea typeface="Consolas"/>
                <a:cs typeface="Consolas"/>
              </a:rPr>
              <a:t>string</a:t>
            </a:r>
            <a:r>
              <a:rPr lang="en-US" sz="950" b="0" dirty="0">
                <a:solidFill>
                  <a:srgbClr val="E2E8F0"/>
                </a:solidFill>
                <a:latin typeface="Consolas"/>
                <a:ea typeface="Consolas"/>
                <a:cs typeface="Consolas"/>
              </a:rPr>
              <a:t> subject, </a:t>
            </a:r>
            <a:r>
              <a:rPr lang="en-US" sz="950" b="0" dirty="0">
                <a:solidFill>
                  <a:srgbClr val="60A5FA"/>
                </a:solidFill>
                <a:latin typeface="Consolas"/>
                <a:ea typeface="Consolas"/>
                <a:cs typeface="Consolas"/>
              </a:rPr>
              <a:t>string</a:t>
            </a:r>
            <a:r>
              <a:rPr lang="en-US" sz="950" b="0" dirty="0">
                <a:solidFill>
                  <a:srgbClr val="E2E8F0"/>
                </a:solidFill>
                <a:latin typeface="Consolas"/>
                <a:ea typeface="Consolas"/>
                <a:cs typeface="Consolas"/>
              </a:rPr>
              <a:t> body);</a:t>
            </a:r>
            <a:endParaRPr lang="en-US" sz="950" dirty="0"/>
          </a:p>
        </p:txBody>
      </p:sp>
      <p:sp>
        <p:nvSpPr>
          <p:cNvPr id="116" name="s116"/>
          <p:cNvSpPr/>
          <p:nvPr/>
        </p:nvSpPr>
        <p:spPr>
          <a:xfrm>
            <a:off x="543154" y="356311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E2E8F0"/>
                </a:solidFill>
                <a:latin typeface="Consolas"/>
                <a:ea typeface="Consolas"/>
                <a:cs typeface="Consolas"/>
              </a:rPr>
              <a:t>}</a:t>
            </a:r>
            <a:endParaRPr lang="en-US" sz="950" dirty="0"/>
          </a:p>
        </p:txBody>
      </p:sp>
      <p:sp>
        <p:nvSpPr>
          <p:cNvPr id="117" name="s117"/>
          <p:cNvSpPr/>
          <p:nvPr/>
        </p:nvSpPr>
        <p:spPr>
          <a:xfrm>
            <a:off x="543154" y="370789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public</a:t>
            </a:r>
            <a:r>
              <a:rPr lang="en-US" sz="950" b="0" dirty="0">
                <a:solidFill>
                  <a:srgbClr val="E2E8F0"/>
                </a:solidFill>
                <a:latin typeface="Consolas"/>
                <a:ea typeface="Consolas"/>
                <a:cs typeface="Consolas"/>
              </a:rPr>
              <a:t> </a:t>
            </a:r>
            <a:r>
              <a:rPr lang="en-US" sz="950" b="0" dirty="0">
                <a:solidFill>
                  <a:srgbClr val="60A5FA"/>
                </a:solidFill>
                <a:latin typeface="Consolas"/>
                <a:ea typeface="Consolas"/>
                <a:cs typeface="Consolas"/>
              </a:rPr>
              <a:t>interface</a:t>
            </a:r>
            <a:r>
              <a:rPr lang="en-US" sz="950" b="0" dirty="0">
                <a:solidFill>
                  <a:srgbClr val="E2E8F0"/>
                </a:solidFill>
                <a:latin typeface="Consolas"/>
                <a:ea typeface="Consolas"/>
                <a:cs typeface="Consolas"/>
              </a:rPr>
              <a:t> </a:t>
            </a:r>
            <a:r>
              <a:rPr lang="en-US" sz="950" b="0" dirty="0">
                <a:solidFill>
                  <a:srgbClr val="7DD3FC"/>
                </a:solidFill>
                <a:latin typeface="Consolas"/>
                <a:ea typeface="Consolas"/>
                <a:cs typeface="Consolas"/>
              </a:rPr>
              <a:t>ILogger</a:t>
            </a:r>
            <a:endParaRPr lang="en-US" sz="950" dirty="0"/>
          </a:p>
        </p:txBody>
      </p:sp>
      <p:sp>
        <p:nvSpPr>
          <p:cNvPr id="118" name="s118"/>
          <p:cNvSpPr/>
          <p:nvPr/>
        </p:nvSpPr>
        <p:spPr>
          <a:xfrm>
            <a:off x="543154" y="385267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E2E8F0"/>
                </a:solidFill>
                <a:latin typeface="Consolas"/>
                <a:ea typeface="Consolas"/>
                <a:cs typeface="Consolas"/>
              </a:rPr>
              <a:t>{</a:t>
            </a:r>
            <a:endParaRPr lang="en-US" sz="950" dirty="0"/>
          </a:p>
        </p:txBody>
      </p:sp>
      <p:sp>
        <p:nvSpPr>
          <p:cNvPr id="119" name="s119"/>
          <p:cNvSpPr/>
          <p:nvPr/>
        </p:nvSpPr>
        <p:spPr>
          <a:xfrm>
            <a:off x="543154" y="399745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E2E8F0"/>
                </a:solidFill>
                <a:latin typeface="Consolas"/>
                <a:ea typeface="Consolas"/>
                <a:cs typeface="Consolas"/>
              </a:rPr>
              <a:t>    </a:t>
            </a:r>
            <a:r>
              <a:rPr lang="en-US" sz="950" b="0" dirty="0">
                <a:solidFill>
                  <a:srgbClr val="60A5FA"/>
                </a:solidFill>
                <a:latin typeface="Consolas"/>
                <a:ea typeface="Consolas"/>
                <a:cs typeface="Consolas"/>
              </a:rPr>
              <a:t>void</a:t>
            </a:r>
            <a:r>
              <a:rPr lang="en-US" sz="950" b="0" dirty="0">
                <a:solidFill>
                  <a:srgbClr val="E2E8F0"/>
                </a:solidFill>
                <a:latin typeface="Consolas"/>
                <a:ea typeface="Consolas"/>
                <a:cs typeface="Consolas"/>
              </a:rPr>
              <a:t> </a:t>
            </a:r>
            <a:r>
              <a:rPr lang="en-US" sz="950" b="0" dirty="0">
                <a:solidFill>
                  <a:srgbClr val="7DD3FC"/>
                </a:solidFill>
                <a:latin typeface="Consolas"/>
                <a:ea typeface="Consolas"/>
                <a:cs typeface="Consolas"/>
              </a:rPr>
              <a:t>Info</a:t>
            </a:r>
            <a:r>
              <a:rPr lang="en-US" sz="950" b="0" dirty="0">
                <a:solidFill>
                  <a:srgbClr val="E2E8F0"/>
                </a:solidFill>
                <a:latin typeface="Consolas"/>
                <a:ea typeface="Consolas"/>
                <a:cs typeface="Consolas"/>
              </a:rPr>
              <a:t>(</a:t>
            </a:r>
            <a:r>
              <a:rPr lang="en-US" sz="950" b="0" dirty="0">
                <a:solidFill>
                  <a:srgbClr val="60A5FA"/>
                </a:solidFill>
                <a:latin typeface="Consolas"/>
                <a:ea typeface="Consolas"/>
                <a:cs typeface="Consolas"/>
              </a:rPr>
              <a:t>string</a:t>
            </a:r>
            <a:r>
              <a:rPr lang="en-US" sz="950" b="0" dirty="0">
                <a:solidFill>
                  <a:srgbClr val="E2E8F0"/>
                </a:solidFill>
                <a:latin typeface="Consolas"/>
                <a:ea typeface="Consolas"/>
                <a:cs typeface="Consolas"/>
              </a:rPr>
              <a:t> message);</a:t>
            </a:r>
            <a:endParaRPr lang="en-US" sz="950" dirty="0"/>
          </a:p>
        </p:txBody>
      </p:sp>
      <p:sp>
        <p:nvSpPr>
          <p:cNvPr id="120" name="s120"/>
          <p:cNvSpPr/>
          <p:nvPr/>
        </p:nvSpPr>
        <p:spPr>
          <a:xfrm>
            <a:off x="543154" y="414223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E2E8F0"/>
                </a:solidFill>
                <a:latin typeface="Consolas"/>
                <a:ea typeface="Consolas"/>
                <a:cs typeface="Consolas"/>
              </a:rPr>
              <a:t>    </a:t>
            </a:r>
            <a:r>
              <a:rPr lang="en-US" sz="950" b="0" dirty="0">
                <a:solidFill>
                  <a:srgbClr val="60A5FA"/>
                </a:solidFill>
                <a:latin typeface="Consolas"/>
                <a:ea typeface="Consolas"/>
                <a:cs typeface="Consolas"/>
              </a:rPr>
              <a:t>void</a:t>
            </a:r>
            <a:r>
              <a:rPr lang="en-US" sz="950" b="0" dirty="0">
                <a:solidFill>
                  <a:srgbClr val="E2E8F0"/>
                </a:solidFill>
                <a:latin typeface="Consolas"/>
                <a:ea typeface="Consolas"/>
                <a:cs typeface="Consolas"/>
              </a:rPr>
              <a:t> </a:t>
            </a:r>
            <a:r>
              <a:rPr lang="en-US" sz="950" b="0" dirty="0">
                <a:solidFill>
                  <a:srgbClr val="7DD3FC"/>
                </a:solidFill>
                <a:latin typeface="Consolas"/>
                <a:ea typeface="Consolas"/>
                <a:cs typeface="Consolas"/>
              </a:rPr>
              <a:t>Error</a:t>
            </a:r>
            <a:r>
              <a:rPr lang="en-US" sz="950" b="0" dirty="0">
                <a:solidFill>
                  <a:srgbClr val="E2E8F0"/>
                </a:solidFill>
                <a:latin typeface="Consolas"/>
                <a:ea typeface="Consolas"/>
                <a:cs typeface="Consolas"/>
              </a:rPr>
              <a:t>(</a:t>
            </a:r>
            <a:r>
              <a:rPr lang="en-US" sz="950" b="0" dirty="0">
                <a:solidFill>
                  <a:srgbClr val="60A5FA"/>
                </a:solidFill>
                <a:latin typeface="Consolas"/>
                <a:ea typeface="Consolas"/>
                <a:cs typeface="Consolas"/>
              </a:rPr>
              <a:t>string</a:t>
            </a:r>
            <a:r>
              <a:rPr lang="en-US" sz="950" b="0" dirty="0">
                <a:solidFill>
                  <a:srgbClr val="E2E8F0"/>
                </a:solidFill>
                <a:latin typeface="Consolas"/>
                <a:ea typeface="Consolas"/>
                <a:cs typeface="Consolas"/>
              </a:rPr>
              <a:t> message, </a:t>
            </a:r>
            <a:r>
              <a:rPr lang="en-US" sz="950" b="0" dirty="0">
                <a:solidFill>
                  <a:srgbClr val="7DD3FC"/>
                </a:solidFill>
                <a:latin typeface="Consolas"/>
                <a:ea typeface="Consolas"/>
                <a:cs typeface="Consolas"/>
              </a:rPr>
              <a:t>Exception</a:t>
            </a:r>
            <a:r>
              <a:rPr lang="en-US" sz="950" b="0" dirty="0">
                <a:solidFill>
                  <a:srgbClr val="E2E8F0"/>
                </a:solidFill>
                <a:latin typeface="Consolas"/>
                <a:ea typeface="Consolas"/>
                <a:cs typeface="Consolas"/>
              </a:rPr>
              <a:t> exception);</a:t>
            </a:r>
            <a:endParaRPr lang="en-US" sz="950" dirty="0"/>
          </a:p>
        </p:txBody>
      </p:sp>
      <p:sp>
        <p:nvSpPr>
          <p:cNvPr id="121" name="s121"/>
          <p:cNvSpPr/>
          <p:nvPr/>
        </p:nvSpPr>
        <p:spPr>
          <a:xfrm>
            <a:off x="543154" y="4287012"/>
            <a:ext cx="4206240" cy="1447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50" b="0" dirty="0">
                <a:solidFill>
                  <a:srgbClr val="E2E8F0"/>
                </a:solidFill>
                <a:latin typeface="Consolas"/>
                <a:ea typeface="Consolas"/>
                <a:cs typeface="Consolas"/>
              </a:rPr>
              <a:t>}</a:t>
            </a:r>
            <a:endParaRPr lang="en-US" sz="950" dirty="0"/>
          </a:p>
        </p:txBody>
      </p:sp>
      <p:sp>
        <p:nvSpPr>
          <p:cNvPr id="122" name="s122"/>
          <p:cNvSpPr txBox="1"/>
          <p:nvPr/>
        </p:nvSpPr>
        <p:spPr>
          <a:xfrm>
            <a:off x="4977994" y="1600200"/>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13D0F7"/>
                </a:solidFill>
                <a:latin typeface="Segoe UI"/>
                <a:ea typeface="Segoe UI"/>
                <a:cs typeface="Segoe UI"/>
              </a:rPr>
              <a:t>THE CLASS UNDER TEST</a:t>
            </a:r>
            <a:endParaRPr lang="en-US" sz="1050" dirty="0"/>
          </a:p>
        </p:txBody>
      </p:sp>
      <p:sp>
        <p:nvSpPr>
          <p:cNvPr id="123" name="s123"/>
          <p:cNvSpPr/>
          <p:nvPr/>
        </p:nvSpPr>
        <p:spPr>
          <a:xfrm>
            <a:off x="4977994" y="1874520"/>
            <a:ext cx="6653174" cy="260604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4" name="s124"/>
          <p:cNvSpPr/>
          <p:nvPr/>
        </p:nvSpPr>
        <p:spPr>
          <a:xfrm>
            <a:off x="5142586" y="202082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5" name="s125"/>
          <p:cNvSpPr/>
          <p:nvPr/>
        </p:nvSpPr>
        <p:spPr>
          <a:xfrm>
            <a:off x="5325466" y="202082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6" name="s126"/>
          <p:cNvSpPr/>
          <p:nvPr/>
        </p:nvSpPr>
        <p:spPr>
          <a:xfrm>
            <a:off x="5508346" y="202082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7" name="s127"/>
          <p:cNvSpPr/>
          <p:nvPr/>
        </p:nvSpPr>
        <p:spPr>
          <a:xfrm>
            <a:off x="5755234" y="1947672"/>
            <a:ext cx="1603858"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TransferService.cs</a:t>
            </a:r>
            <a:endParaRPr lang="en-US" sz="950" dirty="0"/>
          </a:p>
        </p:txBody>
      </p:sp>
      <p:cxnSp>
        <p:nvCxnSpPr>
          <p:cNvPr id="128" name="ln128"/>
          <p:cNvCxnSpPr/>
          <p:nvPr/>
        </p:nvCxnSpPr>
        <p:spPr>
          <a:xfrm>
            <a:off x="4977994" y="2286000"/>
            <a:ext cx="6653174" cy="0"/>
          </a:xfrm>
          <a:prstGeom prst="line">
            <a:avLst/>
          </a:prstGeom>
          <a:ln w="9525">
            <a:solidFill>
              <a:srgbClr val="1E3A5F"/>
            </a:solidFill>
          </a:ln>
        </p:spPr>
      </p:cxnSp>
      <p:sp>
        <p:nvSpPr>
          <p:cNvPr id="129" name="s129"/>
          <p:cNvSpPr/>
          <p:nvPr/>
        </p:nvSpPr>
        <p:spPr>
          <a:xfrm>
            <a:off x="4977994" y="240487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class</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TransferService</a:t>
            </a:r>
            <a:endParaRPr lang="en-US" sz="800" dirty="0"/>
          </a:p>
        </p:txBody>
      </p:sp>
      <p:sp>
        <p:nvSpPr>
          <p:cNvPr id="130" name="s130"/>
          <p:cNvSpPr/>
          <p:nvPr/>
        </p:nvSpPr>
        <p:spPr>
          <a:xfrm>
            <a:off x="4977994" y="252679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31" name="s131"/>
          <p:cNvSpPr/>
          <p:nvPr/>
        </p:nvSpPr>
        <p:spPr>
          <a:xfrm>
            <a:off x="4977994" y="264871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private</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readonly</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IAccountRepository</a:t>
            </a:r>
            <a:r>
              <a:rPr lang="en-US" sz="800" b="0" dirty="0">
                <a:solidFill>
                  <a:srgbClr val="E2E8F0"/>
                </a:solidFill>
                <a:latin typeface="Consolas"/>
                <a:ea typeface="Consolas"/>
                <a:cs typeface="Consolas"/>
              </a:rPr>
              <a:t> _accounts;</a:t>
            </a:r>
            <a:endParaRPr lang="en-US" sz="800" dirty="0"/>
          </a:p>
        </p:txBody>
      </p:sp>
      <p:sp>
        <p:nvSpPr>
          <p:cNvPr id="132" name="s132"/>
          <p:cNvSpPr/>
          <p:nvPr/>
        </p:nvSpPr>
        <p:spPr>
          <a:xfrm>
            <a:off x="4977994" y="277063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private</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readonly</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IEmailSender</a:t>
            </a:r>
            <a:r>
              <a:rPr lang="en-US" sz="800" b="0" dirty="0">
                <a:solidFill>
                  <a:srgbClr val="E2E8F0"/>
                </a:solidFill>
                <a:latin typeface="Consolas"/>
                <a:ea typeface="Consolas"/>
                <a:cs typeface="Consolas"/>
              </a:rPr>
              <a:t> _email;</a:t>
            </a:r>
            <a:endParaRPr lang="en-US" sz="800" dirty="0"/>
          </a:p>
        </p:txBody>
      </p:sp>
      <p:sp>
        <p:nvSpPr>
          <p:cNvPr id="133" name="s133"/>
          <p:cNvSpPr/>
          <p:nvPr/>
        </p:nvSpPr>
        <p:spPr>
          <a:xfrm>
            <a:off x="4977994" y="289255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private</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readonly</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ILogger</a:t>
            </a:r>
            <a:r>
              <a:rPr lang="en-US" sz="800" b="0" dirty="0">
                <a:solidFill>
                  <a:srgbClr val="E2E8F0"/>
                </a:solidFill>
                <a:latin typeface="Consolas"/>
                <a:ea typeface="Consolas"/>
                <a:cs typeface="Consolas"/>
              </a:rPr>
              <a:t> _logger;</a:t>
            </a:r>
            <a:endParaRPr lang="en-US" sz="800" dirty="0"/>
          </a:p>
        </p:txBody>
      </p:sp>
      <p:sp>
        <p:nvSpPr>
          <p:cNvPr id="134" name="s134"/>
          <p:cNvSpPr/>
          <p:nvPr/>
        </p:nvSpPr>
        <p:spPr>
          <a:xfrm>
            <a:off x="4977994" y="301447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FAE7A"/>
                </a:solidFill>
                <a:latin typeface="Consolas"/>
                <a:ea typeface="Consolas"/>
                <a:cs typeface="Consolas"/>
              </a:rPr>
              <a:t>// constructor stores the three dependencies</a:t>
            </a:r>
            <a:endParaRPr lang="en-US" sz="800" dirty="0"/>
          </a:p>
        </p:txBody>
      </p:sp>
      <p:sp>
        <p:nvSpPr>
          <p:cNvPr id="135" name="s135"/>
          <p:cNvSpPr/>
          <p:nvPr/>
        </p:nvSpPr>
        <p:spPr>
          <a:xfrm>
            <a:off x="4977994" y="325831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Transfer</a:t>
            </a:r>
            <a:r>
              <a:rPr lang="en-US" sz="800" b="0" dirty="0">
                <a:solidFill>
                  <a:srgbClr val="E2E8F0"/>
                </a:solidFill>
                <a:latin typeface="Consolas"/>
                <a:ea typeface="Consolas"/>
                <a:cs typeface="Consolas"/>
              </a:rPr>
              <a:t>(</a:t>
            </a:r>
            <a:r>
              <a:rPr lang="en-US" sz="800" b="0" dirty="0">
                <a:solidFill>
                  <a:srgbClr val="60A5FA"/>
                </a:solidFill>
                <a:latin typeface="Consolas"/>
                <a:ea typeface="Consolas"/>
                <a:cs typeface="Consolas"/>
              </a:rPr>
              <a:t>string</a:t>
            </a:r>
            <a:r>
              <a:rPr lang="en-US" sz="800" b="0" dirty="0">
                <a:solidFill>
                  <a:srgbClr val="E2E8F0"/>
                </a:solidFill>
                <a:latin typeface="Consolas"/>
                <a:ea typeface="Consolas"/>
                <a:cs typeface="Consolas"/>
              </a:rPr>
              <a:t> from, </a:t>
            </a:r>
            <a:r>
              <a:rPr lang="en-US" sz="800" b="0" dirty="0">
                <a:solidFill>
                  <a:srgbClr val="60A5FA"/>
                </a:solidFill>
                <a:latin typeface="Consolas"/>
                <a:ea typeface="Consolas"/>
                <a:cs typeface="Consolas"/>
              </a:rPr>
              <a:t>string</a:t>
            </a:r>
            <a:r>
              <a:rPr lang="en-US" sz="800" b="0" dirty="0">
                <a:solidFill>
                  <a:srgbClr val="E2E8F0"/>
                </a:solidFill>
                <a:latin typeface="Consolas"/>
                <a:ea typeface="Consolas"/>
                <a:cs typeface="Consolas"/>
              </a:rPr>
              <a:t> to, </a:t>
            </a:r>
            <a:r>
              <a:rPr lang="en-US" sz="800" b="0" dirty="0">
                <a:solidFill>
                  <a:srgbClr val="60A5FA"/>
                </a:solidFill>
                <a:latin typeface="Consolas"/>
                <a:ea typeface="Consolas"/>
                <a:cs typeface="Consolas"/>
              </a:rPr>
              <a:t>decimal</a:t>
            </a:r>
            <a:r>
              <a:rPr lang="en-US" sz="800" b="0" dirty="0">
                <a:solidFill>
                  <a:srgbClr val="E2E8F0"/>
                </a:solidFill>
                <a:latin typeface="Consolas"/>
                <a:ea typeface="Consolas"/>
                <a:cs typeface="Consolas"/>
              </a:rPr>
              <a:t> amount)</a:t>
            </a:r>
            <a:endParaRPr lang="en-US" sz="800" dirty="0"/>
          </a:p>
        </p:txBody>
      </p:sp>
      <p:sp>
        <p:nvSpPr>
          <p:cNvPr id="136" name="s136"/>
          <p:cNvSpPr/>
          <p:nvPr/>
        </p:nvSpPr>
        <p:spPr>
          <a:xfrm>
            <a:off x="4977994" y="338023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endParaRPr lang="en-US" sz="800" dirty="0"/>
          </a:p>
        </p:txBody>
      </p:sp>
      <p:sp>
        <p:nvSpPr>
          <p:cNvPr id="137" name="s137"/>
          <p:cNvSpPr/>
          <p:nvPr/>
        </p:nvSpPr>
        <p:spPr>
          <a:xfrm>
            <a:off x="4977994" y="350215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var</a:t>
            </a:r>
            <a:r>
              <a:rPr lang="en-US" sz="800" b="0" dirty="0">
                <a:solidFill>
                  <a:srgbClr val="E2E8F0"/>
                </a:solidFill>
                <a:latin typeface="Consolas"/>
                <a:ea typeface="Consolas"/>
                <a:cs typeface="Consolas"/>
              </a:rPr>
              <a:t> source = _accounts.</a:t>
            </a:r>
            <a:r>
              <a:rPr lang="en-US" sz="800" b="0" dirty="0">
                <a:solidFill>
                  <a:srgbClr val="7DD3FC"/>
                </a:solidFill>
                <a:latin typeface="Consolas"/>
                <a:ea typeface="Consolas"/>
                <a:cs typeface="Consolas"/>
              </a:rPr>
              <a:t>Find</a:t>
            </a:r>
            <a:r>
              <a:rPr lang="en-US" sz="800" b="0" dirty="0">
                <a:solidFill>
                  <a:srgbClr val="E2E8F0"/>
                </a:solidFill>
                <a:latin typeface="Consolas"/>
                <a:ea typeface="Consolas"/>
                <a:cs typeface="Consolas"/>
              </a:rPr>
              <a:t>(from) ?? </a:t>
            </a:r>
            <a:r>
              <a:rPr lang="en-US" sz="800" b="0" dirty="0">
                <a:solidFill>
                  <a:srgbClr val="60A5FA"/>
                </a:solidFill>
                <a:latin typeface="Consolas"/>
                <a:ea typeface="Consolas"/>
                <a:cs typeface="Consolas"/>
              </a:rPr>
              <a:t>throw</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new</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InvalidOperationException</a:t>
            </a:r>
            <a:r>
              <a:rPr lang="en-US" sz="800" b="0" dirty="0">
                <a:solidFill>
                  <a:srgbClr val="E2E8F0"/>
                </a:solidFill>
                <a:latin typeface="Consolas"/>
                <a:ea typeface="Consolas"/>
                <a:cs typeface="Consolas"/>
              </a:rPr>
              <a:t>(...);</a:t>
            </a:r>
            <a:endParaRPr lang="en-US" sz="800" dirty="0"/>
          </a:p>
        </p:txBody>
      </p:sp>
      <p:sp>
        <p:nvSpPr>
          <p:cNvPr id="138" name="s138"/>
          <p:cNvSpPr/>
          <p:nvPr/>
        </p:nvSpPr>
        <p:spPr>
          <a:xfrm>
            <a:off x="4977994" y="362407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var</a:t>
            </a:r>
            <a:r>
              <a:rPr lang="en-US" sz="800" b="0" dirty="0">
                <a:solidFill>
                  <a:srgbClr val="E2E8F0"/>
                </a:solidFill>
                <a:latin typeface="Consolas"/>
                <a:ea typeface="Consolas"/>
                <a:cs typeface="Consolas"/>
              </a:rPr>
              <a:t> target = _accounts.</a:t>
            </a:r>
            <a:r>
              <a:rPr lang="en-US" sz="800" b="0" dirty="0">
                <a:solidFill>
                  <a:srgbClr val="7DD3FC"/>
                </a:solidFill>
                <a:latin typeface="Consolas"/>
                <a:ea typeface="Consolas"/>
                <a:cs typeface="Consolas"/>
              </a:rPr>
              <a:t>Find</a:t>
            </a:r>
            <a:r>
              <a:rPr lang="en-US" sz="800" b="0" dirty="0">
                <a:solidFill>
                  <a:srgbClr val="E2E8F0"/>
                </a:solidFill>
                <a:latin typeface="Consolas"/>
                <a:ea typeface="Consolas"/>
                <a:cs typeface="Consolas"/>
              </a:rPr>
              <a:t>(to)   ?? </a:t>
            </a:r>
            <a:r>
              <a:rPr lang="en-US" sz="800" b="0" dirty="0">
                <a:solidFill>
                  <a:srgbClr val="60A5FA"/>
                </a:solidFill>
                <a:latin typeface="Consolas"/>
                <a:ea typeface="Consolas"/>
                <a:cs typeface="Consolas"/>
              </a:rPr>
              <a:t>throw</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new</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InvalidOperationException</a:t>
            </a:r>
            <a:r>
              <a:rPr lang="en-US" sz="800" b="0" dirty="0">
                <a:solidFill>
                  <a:srgbClr val="E2E8F0"/>
                </a:solidFill>
                <a:latin typeface="Consolas"/>
                <a:ea typeface="Consolas"/>
                <a:cs typeface="Consolas"/>
              </a:rPr>
              <a:t>(...);</a:t>
            </a:r>
            <a:endParaRPr lang="en-US" sz="800" dirty="0"/>
          </a:p>
        </p:txBody>
      </p:sp>
      <p:sp>
        <p:nvSpPr>
          <p:cNvPr id="139" name="s139"/>
          <p:cNvSpPr/>
          <p:nvPr/>
        </p:nvSpPr>
        <p:spPr>
          <a:xfrm>
            <a:off x="4977994" y="374599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source.</a:t>
            </a:r>
            <a:r>
              <a:rPr lang="en-US" sz="800" b="0" dirty="0">
                <a:solidFill>
                  <a:srgbClr val="7DD3FC"/>
                </a:solidFill>
                <a:latin typeface="Consolas"/>
                <a:ea typeface="Consolas"/>
                <a:cs typeface="Consolas"/>
              </a:rPr>
              <a:t>Withdraw</a:t>
            </a:r>
            <a:r>
              <a:rPr lang="en-US" sz="800" b="0" dirty="0">
                <a:solidFill>
                  <a:srgbClr val="E2E8F0"/>
                </a:solidFill>
                <a:latin typeface="Consolas"/>
                <a:ea typeface="Consolas"/>
                <a:cs typeface="Consolas"/>
              </a:rPr>
              <a:t>(amount);          </a:t>
            </a:r>
            <a:r>
              <a:rPr lang="en-US" sz="800" b="0" dirty="0">
                <a:solidFill>
                  <a:srgbClr val="6FAE7A"/>
                </a:solidFill>
                <a:latin typeface="Consolas"/>
                <a:ea typeface="Consolas"/>
                <a:cs typeface="Consolas"/>
              </a:rPr>
              <a:t>// throws if not enough money</a:t>
            </a:r>
            <a:endParaRPr lang="en-US" sz="800" dirty="0"/>
          </a:p>
        </p:txBody>
      </p:sp>
      <p:sp>
        <p:nvSpPr>
          <p:cNvPr id="140" name="s140"/>
          <p:cNvSpPr/>
          <p:nvPr/>
        </p:nvSpPr>
        <p:spPr>
          <a:xfrm>
            <a:off x="4977994" y="386791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target.</a:t>
            </a:r>
            <a:r>
              <a:rPr lang="en-US" sz="800" b="0" dirty="0">
                <a:solidFill>
                  <a:srgbClr val="7DD3FC"/>
                </a:solidFill>
                <a:latin typeface="Consolas"/>
                <a:ea typeface="Consolas"/>
                <a:cs typeface="Consolas"/>
              </a:rPr>
              <a:t>Deposit</a:t>
            </a:r>
            <a:r>
              <a:rPr lang="en-US" sz="800" b="0" dirty="0">
                <a:solidFill>
                  <a:srgbClr val="E2E8F0"/>
                </a:solidFill>
                <a:latin typeface="Consolas"/>
                <a:ea typeface="Consolas"/>
                <a:cs typeface="Consolas"/>
              </a:rPr>
              <a:t>(amount);</a:t>
            </a:r>
            <a:endParaRPr lang="en-US" sz="800" dirty="0"/>
          </a:p>
        </p:txBody>
      </p:sp>
      <p:sp>
        <p:nvSpPr>
          <p:cNvPr id="141" name="s141"/>
          <p:cNvSpPr/>
          <p:nvPr/>
        </p:nvSpPr>
        <p:spPr>
          <a:xfrm>
            <a:off x="4977994" y="398983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_accounts.</a:t>
            </a:r>
            <a:r>
              <a:rPr lang="en-US" sz="800" b="0" dirty="0">
                <a:solidFill>
                  <a:srgbClr val="7DD3FC"/>
                </a:solidFill>
                <a:latin typeface="Consolas"/>
                <a:ea typeface="Consolas"/>
                <a:cs typeface="Consolas"/>
              </a:rPr>
              <a:t>Save</a:t>
            </a:r>
            <a:r>
              <a:rPr lang="en-US" sz="800" b="0" dirty="0">
                <a:solidFill>
                  <a:srgbClr val="E2E8F0"/>
                </a:solidFill>
                <a:latin typeface="Consolas"/>
                <a:ea typeface="Consolas"/>
                <a:cs typeface="Consolas"/>
              </a:rPr>
              <a:t>(source);</a:t>
            </a:r>
            <a:endParaRPr lang="en-US" sz="800" dirty="0"/>
          </a:p>
        </p:txBody>
      </p:sp>
      <p:sp>
        <p:nvSpPr>
          <p:cNvPr id="142" name="s142"/>
          <p:cNvSpPr/>
          <p:nvPr/>
        </p:nvSpPr>
        <p:spPr>
          <a:xfrm>
            <a:off x="4977994" y="411175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_accounts.</a:t>
            </a:r>
            <a:r>
              <a:rPr lang="en-US" sz="800" b="0" dirty="0">
                <a:solidFill>
                  <a:srgbClr val="7DD3FC"/>
                </a:solidFill>
                <a:latin typeface="Consolas"/>
                <a:ea typeface="Consolas"/>
                <a:cs typeface="Consolas"/>
              </a:rPr>
              <a:t>Save</a:t>
            </a:r>
            <a:r>
              <a:rPr lang="en-US" sz="800" b="0" dirty="0">
                <a:solidFill>
                  <a:srgbClr val="E2E8F0"/>
                </a:solidFill>
                <a:latin typeface="Consolas"/>
                <a:ea typeface="Consolas"/>
                <a:cs typeface="Consolas"/>
              </a:rPr>
              <a:t>(target);</a:t>
            </a:r>
            <a:endParaRPr lang="en-US" sz="800" dirty="0"/>
          </a:p>
        </p:txBody>
      </p:sp>
      <p:sp>
        <p:nvSpPr>
          <p:cNvPr id="143" name="s143"/>
          <p:cNvSpPr/>
          <p:nvPr/>
        </p:nvSpPr>
        <p:spPr>
          <a:xfrm>
            <a:off x="4977994" y="423367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_logger.</a:t>
            </a:r>
            <a:r>
              <a:rPr lang="en-US" sz="800" b="0" dirty="0">
                <a:solidFill>
                  <a:srgbClr val="7DD3FC"/>
                </a:solidFill>
                <a:latin typeface="Consolas"/>
                <a:ea typeface="Consolas"/>
                <a:cs typeface="Consolas"/>
              </a:rPr>
              <a:t>Info</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$"Transferred {amount} from {from} to {to}"</a:t>
            </a:r>
            <a:r>
              <a:rPr lang="en-US" sz="800" b="0" dirty="0">
                <a:solidFill>
                  <a:srgbClr val="E2E8F0"/>
                </a:solidFill>
                <a:latin typeface="Consolas"/>
                <a:ea typeface="Consolas"/>
                <a:cs typeface="Consolas"/>
              </a:rPr>
              <a:t>);</a:t>
            </a:r>
            <a:endParaRPr lang="en-US" sz="800" dirty="0"/>
          </a:p>
        </p:txBody>
      </p:sp>
      <p:sp>
        <p:nvSpPr>
          <p:cNvPr id="144" name="s144"/>
          <p:cNvSpPr/>
          <p:nvPr/>
        </p:nvSpPr>
        <p:spPr>
          <a:xfrm>
            <a:off x="4977994" y="435559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_email.</a:t>
            </a:r>
            <a:r>
              <a:rPr lang="en-US" sz="800" b="0" dirty="0">
                <a:solidFill>
                  <a:srgbClr val="7DD3FC"/>
                </a:solidFill>
                <a:latin typeface="Consolas"/>
                <a:ea typeface="Consolas"/>
                <a:cs typeface="Consolas"/>
              </a:rPr>
              <a:t>Send</a:t>
            </a:r>
            <a:r>
              <a:rPr lang="en-US" sz="800" b="0" dirty="0">
                <a:solidFill>
                  <a:srgbClr val="E2E8F0"/>
                </a:solidFill>
                <a:latin typeface="Consolas"/>
                <a:ea typeface="Consolas"/>
                <a:cs typeface="Consolas"/>
              </a:rPr>
              <a:t>(from, </a:t>
            </a:r>
            <a:r>
              <a:rPr lang="en-US" sz="800" b="0" dirty="0">
                <a:solidFill>
                  <a:srgbClr val="F0A98B"/>
                </a:solidFill>
                <a:latin typeface="Consolas"/>
                <a:ea typeface="Consolas"/>
                <a:cs typeface="Consolas"/>
              </a:rPr>
              <a:t>"Transfer done"</a:t>
            </a:r>
            <a:r>
              <a:rPr lang="en-US" sz="800" b="0" dirty="0">
                <a:solidFill>
                  <a:srgbClr val="E2E8F0"/>
                </a:solidFill>
                <a:latin typeface="Consolas"/>
                <a:ea typeface="Consolas"/>
                <a:cs typeface="Consolas"/>
              </a:rPr>
              <a:t>, </a:t>
            </a:r>
            <a:r>
              <a:rPr lang="en-US" sz="800" b="0" dirty="0">
                <a:solidFill>
                  <a:srgbClr val="F0A98B"/>
                </a:solidFill>
                <a:latin typeface="Consolas"/>
                <a:ea typeface="Consolas"/>
                <a:cs typeface="Consolas"/>
              </a:rPr>
              <a:t>$"You sent {amount:0.00} EGP to {to}."</a:t>
            </a:r>
            <a:r>
              <a:rPr lang="en-US" sz="800" b="0" dirty="0">
                <a:solidFill>
                  <a:srgbClr val="E2E8F0"/>
                </a:solidFill>
                <a:latin typeface="Consolas"/>
                <a:ea typeface="Consolas"/>
                <a:cs typeface="Consolas"/>
              </a:rPr>
              <a:t>);</a:t>
            </a:r>
            <a:endParaRPr lang="en-US" sz="800" dirty="0"/>
          </a:p>
        </p:txBody>
      </p:sp>
      <p:sp>
        <p:nvSpPr>
          <p:cNvPr id="145" name="s145"/>
          <p:cNvSpPr/>
          <p:nvPr/>
        </p:nvSpPr>
        <p:spPr>
          <a:xfrm>
            <a:off x="4977994" y="447751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endParaRPr lang="en-US" sz="800" dirty="0"/>
          </a:p>
        </p:txBody>
      </p:sp>
      <p:sp>
        <p:nvSpPr>
          <p:cNvPr id="146" name="s146"/>
          <p:cNvSpPr/>
          <p:nvPr/>
        </p:nvSpPr>
        <p:spPr>
          <a:xfrm>
            <a:off x="4977994" y="4599432"/>
            <a:ext cx="665317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47" name="s147"/>
          <p:cNvSpPr/>
          <p:nvPr/>
        </p:nvSpPr>
        <p:spPr>
          <a:xfrm>
            <a:off x="4977994" y="4617720"/>
            <a:ext cx="6653174" cy="1005840"/>
          </a:xfrm>
          <a:prstGeom prst="roundRect">
            <a:avLst>
              <a:gd name="adj" fmla="val 20000"/>
            </a:avLst>
          </a:prstGeom>
          <a:solidFill>
            <a:srgbClr val="F87171">
              <a:alpha val="10000"/>
            </a:srgbClr>
          </a:solidFill>
          <a:ln w="12700">
            <a:solidFill>
              <a:srgbClr val="F87171"/>
            </a:solidFill>
            <a:prstDash val="solid"/>
          </a:ln>
        </p:spPr>
        <p:txBody>
          <a:bodyPr wrap="square" lIns="228600" tIns="0" rIns="137160" bIns="0" rtlCol="0" anchor="ctr">
            <a:noAutofit/>
          </a:bodyPr>
          <a:lstStyle/>
          <a:p>
            <a:pPr marL="0" indent="0" algn="l">
              <a:spcBef>
                <a:spcPts val="0"/>
              </a:spcBef>
              <a:spcAft>
                <a:spcPts val="0"/>
              </a:spcAft>
              <a:buNone/>
            </a:pPr>
            <a:r>
              <a:rPr lang="en-US" sz="1250" b="1" dirty="0">
                <a:solidFill>
                  <a:srgbClr val="F87171"/>
                </a:solidFill>
                <a:latin typeface="Segoe UI"/>
                <a:ea typeface="Segoe UI"/>
                <a:cs typeface="Segoe UI"/>
              </a:rPr>
              <a:t>⚠  THE PROBLEM   </a:t>
            </a:r>
            <a:r>
              <a:rPr lang="en-US" sz="1250" b="1" dirty="0">
                <a:solidFill>
                  <a:srgbClr val="FFFFFF"/>
                </a:solidFill>
                <a:latin typeface="Segoe UI"/>
                <a:ea typeface="Segoe UI"/>
                <a:cs typeface="Segoe UI"/>
              </a:rPr>
              <a:t>With the real ones, the test…</a:t>
            </a:r>
            <a:endParaRPr lang="en-US" sz="1250" dirty="0"/>
          </a:p>
        </p:txBody>
      </p:sp>
      <p:sp>
        <p:nvSpPr>
          <p:cNvPr id="148" name="s148"/>
          <p:cNvSpPr txBox="1"/>
          <p:nvPr/>
        </p:nvSpPr>
        <p:spPr>
          <a:xfrm>
            <a:off x="4977994" y="5166360"/>
            <a:ext cx="6653174" cy="45720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200" b="0" dirty="0">
                <a:solidFill>
                  <a:srgbClr val="E2E8F0"/>
                </a:solidFill>
                <a:latin typeface="Segoe UI"/>
                <a:ea typeface="Segoe UI"/>
                <a:cs typeface="Segoe UI"/>
              </a:rPr>
              <a:t>needs SQL Server  ·  sends REAL emails  ·  is slow  ·  cannot check that an email was sent</a:t>
            </a:r>
            <a:endParaRPr lang="en-US" sz="1200" dirty="0"/>
          </a:p>
        </p:txBody>
      </p:sp>
      <p:sp>
        <p:nvSpPr>
          <p:cNvPr id="149" name="s149"/>
          <p:cNvSpPr/>
          <p:nvPr/>
        </p:nvSpPr>
        <p:spPr>
          <a:xfrm>
            <a:off x="5087722" y="4206240"/>
            <a:ext cx="6433718" cy="29870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anim calcmode="lin" valueType="num">
                                      <p:cBhvr additive="base">
                                        <p:cTn id="12" dur="500" decel="100000" fill="hold"/>
                                        <p:tgtEl>
                                          <p:spTgt spid="103"/>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7"/>
                                        </p:tgtEl>
                                        <p:attrNameLst>
                                          <p:attrName>style.visibility</p:attrName>
                                        </p:attrNameLst>
                                      </p:cBhvr>
                                      <p:to>
                                        <p:strVal val="visible"/>
                                      </p:to>
                                    </p:set>
                                    <p:animEffect transition="in" filter="fade">
                                      <p:cBhvr>
                                        <p:cTn id="67" dur="500"/>
                                        <p:tgtEl>
                                          <p:spTgt spid="117"/>
                                        </p:tgtEl>
                                      </p:cBhvr>
                                    </p:animEffect>
                                    <p:anim calcmode="lin" valueType="num">
                                      <p:cBhvr additive="base">
                                        <p:cTn id="68" dur="500" decel="100000" fill="hold"/>
                                        <p:tgtEl>
                                          <p:spTgt spid="117"/>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8"/>
                                        </p:tgtEl>
                                        <p:attrNameLst>
                                          <p:attrName>style.visibility</p:attrName>
                                        </p:attrNameLst>
                                      </p:cBhvr>
                                      <p:to>
                                        <p:strVal val="visible"/>
                                      </p:to>
                                    </p:set>
                                    <p:animEffect transition="in" filter="fade">
                                      <p:cBhvr>
                                        <p:cTn id="71" dur="500"/>
                                        <p:tgtEl>
                                          <p:spTgt spid="118"/>
                                        </p:tgtEl>
                                      </p:cBhvr>
                                    </p:animEffect>
                                    <p:anim calcmode="lin" valueType="num">
                                      <p:cBhvr additive="base">
                                        <p:cTn id="72" dur="500" decel="100000" fill="hold"/>
                                        <p:tgtEl>
                                          <p:spTgt spid="118"/>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9"/>
                                        </p:tgtEl>
                                        <p:attrNameLst>
                                          <p:attrName>style.visibility</p:attrName>
                                        </p:attrNameLst>
                                      </p:cBhvr>
                                      <p:to>
                                        <p:strVal val="visible"/>
                                      </p:to>
                                    </p:set>
                                    <p:animEffect transition="in" filter="fade">
                                      <p:cBhvr>
                                        <p:cTn id="75" dur="500"/>
                                        <p:tgtEl>
                                          <p:spTgt spid="119"/>
                                        </p:tgtEl>
                                      </p:cBhvr>
                                    </p:animEffect>
                                    <p:anim calcmode="lin" valueType="num">
                                      <p:cBhvr additive="base">
                                        <p:cTn id="76" dur="500" decel="100000" fill="hold"/>
                                        <p:tgtEl>
                                          <p:spTgt spid="119"/>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20"/>
                                        </p:tgtEl>
                                        <p:attrNameLst>
                                          <p:attrName>style.visibility</p:attrName>
                                        </p:attrNameLst>
                                      </p:cBhvr>
                                      <p:to>
                                        <p:strVal val="visible"/>
                                      </p:to>
                                    </p:set>
                                    <p:animEffect transition="in" filter="fade">
                                      <p:cBhvr>
                                        <p:cTn id="79" dur="500"/>
                                        <p:tgtEl>
                                          <p:spTgt spid="120"/>
                                        </p:tgtEl>
                                      </p:cBhvr>
                                    </p:animEffect>
                                    <p:anim calcmode="lin" valueType="num">
                                      <p:cBhvr additive="base">
                                        <p:cTn id="80" dur="500" decel="100000" fill="hold"/>
                                        <p:tgtEl>
                                          <p:spTgt spid="120"/>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1"/>
                                        </p:tgtEl>
                                        <p:attrNameLst>
                                          <p:attrName>style.visibility</p:attrName>
                                        </p:attrNameLst>
                                      </p:cBhvr>
                                      <p:to>
                                        <p:strVal val="visible"/>
                                      </p:to>
                                    </p:set>
                                    <p:animEffect transition="in" filter="fade">
                                      <p:cBhvr>
                                        <p:cTn id="83" dur="500"/>
                                        <p:tgtEl>
                                          <p:spTgt spid="121"/>
                                        </p:tgtEl>
                                      </p:cBhvr>
                                    </p:animEffect>
                                    <p:anim calcmode="lin" valueType="num">
                                      <p:cBhvr additive="base">
                                        <p:cTn id="84" dur="500" decel="100000" fill="hold"/>
                                        <p:tgtEl>
                                          <p:spTgt spid="121"/>
                                        </p:tgtEl>
                                        <p:attrNameLst>
                                          <p:attrName>ppt_y</p:attrName>
                                        </p:attrNameLst>
                                      </p:cBhvr>
                                      <p:tavLst>
                                        <p:tav tm="0">
                                          <p:val>
                                            <p:strVal val="#ppt_y+0.06"/>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42" presetClass="entr" presetSubtype="0" fill="hold" grpId="0" nodeType="clickEffect">
                                  <p:stCondLst>
                                    <p:cond delay="0"/>
                                  </p:stCondLst>
                                  <p:childTnLst>
                                    <p:set>
                                      <p:cBhvr>
                                        <p:cTn id="88" dur="1" fill="hold">
                                          <p:stCondLst>
                                            <p:cond delay="0"/>
                                          </p:stCondLst>
                                        </p:cTn>
                                        <p:tgtEl>
                                          <p:spTgt spid="123"/>
                                        </p:tgtEl>
                                        <p:attrNameLst>
                                          <p:attrName>style.visibility</p:attrName>
                                        </p:attrNameLst>
                                      </p:cBhvr>
                                      <p:to>
                                        <p:strVal val="visible"/>
                                      </p:to>
                                    </p:set>
                                    <p:animEffect transition="in" filter="fade">
                                      <p:cBhvr>
                                        <p:cTn id="89" dur="500"/>
                                        <p:tgtEl>
                                          <p:spTgt spid="123"/>
                                        </p:tgtEl>
                                      </p:cBhvr>
                                    </p:animEffect>
                                    <p:anim calcmode="lin" valueType="num">
                                      <p:cBhvr additive="base">
                                        <p:cTn id="90" dur="500" decel="100000" fill="hold"/>
                                        <p:tgtEl>
                                          <p:spTgt spid="123"/>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4"/>
                                        </p:tgtEl>
                                        <p:attrNameLst>
                                          <p:attrName>style.visibility</p:attrName>
                                        </p:attrNameLst>
                                      </p:cBhvr>
                                      <p:to>
                                        <p:strVal val="visible"/>
                                      </p:to>
                                    </p:set>
                                    <p:animEffect transition="in" filter="fade">
                                      <p:cBhvr>
                                        <p:cTn id="93" dur="500"/>
                                        <p:tgtEl>
                                          <p:spTgt spid="124"/>
                                        </p:tgtEl>
                                      </p:cBhvr>
                                    </p:animEffect>
                                    <p:anim calcmode="lin" valueType="num">
                                      <p:cBhvr additive="base">
                                        <p:cTn id="94" dur="500" decel="100000" fill="hold"/>
                                        <p:tgtEl>
                                          <p:spTgt spid="124"/>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5"/>
                                        </p:tgtEl>
                                        <p:attrNameLst>
                                          <p:attrName>style.visibility</p:attrName>
                                        </p:attrNameLst>
                                      </p:cBhvr>
                                      <p:to>
                                        <p:strVal val="visible"/>
                                      </p:to>
                                    </p:set>
                                    <p:animEffect transition="in" filter="fade">
                                      <p:cBhvr>
                                        <p:cTn id="97" dur="500"/>
                                        <p:tgtEl>
                                          <p:spTgt spid="125"/>
                                        </p:tgtEl>
                                      </p:cBhvr>
                                    </p:animEffect>
                                    <p:anim calcmode="lin" valueType="num">
                                      <p:cBhvr additive="base">
                                        <p:cTn id="98" dur="500" decel="100000" fill="hold"/>
                                        <p:tgtEl>
                                          <p:spTgt spid="125"/>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6"/>
                                        </p:tgtEl>
                                        <p:attrNameLst>
                                          <p:attrName>style.visibility</p:attrName>
                                        </p:attrNameLst>
                                      </p:cBhvr>
                                      <p:to>
                                        <p:strVal val="visible"/>
                                      </p:to>
                                    </p:set>
                                    <p:animEffect transition="in" filter="fade">
                                      <p:cBhvr>
                                        <p:cTn id="101" dur="500"/>
                                        <p:tgtEl>
                                          <p:spTgt spid="126"/>
                                        </p:tgtEl>
                                      </p:cBhvr>
                                    </p:animEffect>
                                    <p:anim calcmode="lin" valueType="num">
                                      <p:cBhvr additive="base">
                                        <p:cTn id="102" dur="500" decel="100000" fill="hold"/>
                                        <p:tgtEl>
                                          <p:spTgt spid="126"/>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7"/>
                                        </p:tgtEl>
                                        <p:attrNameLst>
                                          <p:attrName>style.visibility</p:attrName>
                                        </p:attrNameLst>
                                      </p:cBhvr>
                                      <p:to>
                                        <p:strVal val="visible"/>
                                      </p:to>
                                    </p:set>
                                    <p:animEffect transition="in" filter="fade">
                                      <p:cBhvr>
                                        <p:cTn id="105" dur="500"/>
                                        <p:tgtEl>
                                          <p:spTgt spid="127"/>
                                        </p:tgtEl>
                                      </p:cBhvr>
                                    </p:animEffect>
                                    <p:anim calcmode="lin" valueType="num">
                                      <p:cBhvr additive="base">
                                        <p:cTn id="106" dur="500" decel="100000" fill="hold"/>
                                        <p:tgtEl>
                                          <p:spTgt spid="127"/>
                                        </p:tgtEl>
                                        <p:attrNameLst>
                                          <p:attrName>ppt_y</p:attrName>
                                        </p:attrNameLst>
                                      </p:cBhvr>
                                      <p:tavLst>
                                        <p:tav tm="0">
                                          <p:val>
                                            <p:strVal val="#ppt_y+0.06"/>
                                          </p:val>
                                        </p:tav>
                                        <p:tav tm="100000">
                                          <p:val>
                                            <p:strVal val="#ppt_y"/>
                                          </p:val>
                                        </p:tav>
                                      </p:tavLst>
                                    </p:anim>
                                  </p:childTnLst>
                                </p:cTn>
                              </p:par>
                              <p:par>
                                <p:cTn id="107" presetID="42" presetClass="entr" presetSubtype="0" fill="hold" nodeType="withEffect">
                                  <p:stCondLst>
                                    <p:cond delay="0"/>
                                  </p:stCondLst>
                                  <p:childTnLst>
                                    <p:set>
                                      <p:cBhvr>
                                        <p:cTn id="108" dur="1" fill="hold">
                                          <p:stCondLst>
                                            <p:cond delay="0"/>
                                          </p:stCondLst>
                                        </p:cTn>
                                        <p:tgtEl>
                                          <p:spTgt spid="128"/>
                                        </p:tgtEl>
                                        <p:attrNameLst>
                                          <p:attrName>style.visibility</p:attrName>
                                        </p:attrNameLst>
                                      </p:cBhvr>
                                      <p:to>
                                        <p:strVal val="visible"/>
                                      </p:to>
                                    </p:set>
                                    <p:animEffect transition="in" filter="fade">
                                      <p:cBhvr>
                                        <p:cTn id="109" dur="500"/>
                                        <p:tgtEl>
                                          <p:spTgt spid="128"/>
                                        </p:tgtEl>
                                      </p:cBhvr>
                                    </p:animEffect>
                                    <p:anim calcmode="lin" valueType="num">
                                      <p:cBhvr additive="base">
                                        <p:cTn id="110" dur="500" decel="100000" fill="hold"/>
                                        <p:tgtEl>
                                          <p:spTgt spid="128"/>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9"/>
                                        </p:tgtEl>
                                        <p:attrNameLst>
                                          <p:attrName>style.visibility</p:attrName>
                                        </p:attrNameLst>
                                      </p:cBhvr>
                                      <p:to>
                                        <p:strVal val="visible"/>
                                      </p:to>
                                    </p:set>
                                    <p:animEffect transition="in" filter="fade">
                                      <p:cBhvr>
                                        <p:cTn id="113" dur="500"/>
                                        <p:tgtEl>
                                          <p:spTgt spid="129"/>
                                        </p:tgtEl>
                                      </p:cBhvr>
                                    </p:animEffect>
                                    <p:anim calcmode="lin" valueType="num">
                                      <p:cBhvr additive="base">
                                        <p:cTn id="114" dur="500" decel="100000" fill="hold"/>
                                        <p:tgtEl>
                                          <p:spTgt spid="129"/>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30"/>
                                        </p:tgtEl>
                                        <p:attrNameLst>
                                          <p:attrName>style.visibility</p:attrName>
                                        </p:attrNameLst>
                                      </p:cBhvr>
                                      <p:to>
                                        <p:strVal val="visible"/>
                                      </p:to>
                                    </p:set>
                                    <p:animEffect transition="in" filter="fade">
                                      <p:cBhvr>
                                        <p:cTn id="117" dur="500"/>
                                        <p:tgtEl>
                                          <p:spTgt spid="130"/>
                                        </p:tgtEl>
                                      </p:cBhvr>
                                    </p:animEffect>
                                    <p:anim calcmode="lin" valueType="num">
                                      <p:cBhvr additive="base">
                                        <p:cTn id="118" dur="500" decel="100000" fill="hold"/>
                                        <p:tgtEl>
                                          <p:spTgt spid="130"/>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31"/>
                                        </p:tgtEl>
                                        <p:attrNameLst>
                                          <p:attrName>style.visibility</p:attrName>
                                        </p:attrNameLst>
                                      </p:cBhvr>
                                      <p:to>
                                        <p:strVal val="visible"/>
                                      </p:to>
                                    </p:set>
                                    <p:animEffect transition="in" filter="fade">
                                      <p:cBhvr>
                                        <p:cTn id="121" dur="500"/>
                                        <p:tgtEl>
                                          <p:spTgt spid="131"/>
                                        </p:tgtEl>
                                      </p:cBhvr>
                                    </p:animEffect>
                                    <p:anim calcmode="lin" valueType="num">
                                      <p:cBhvr additive="base">
                                        <p:cTn id="122" dur="500" decel="100000" fill="hold"/>
                                        <p:tgtEl>
                                          <p:spTgt spid="131"/>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32"/>
                                        </p:tgtEl>
                                        <p:attrNameLst>
                                          <p:attrName>style.visibility</p:attrName>
                                        </p:attrNameLst>
                                      </p:cBhvr>
                                      <p:to>
                                        <p:strVal val="visible"/>
                                      </p:to>
                                    </p:set>
                                    <p:animEffect transition="in" filter="fade">
                                      <p:cBhvr>
                                        <p:cTn id="125" dur="500"/>
                                        <p:tgtEl>
                                          <p:spTgt spid="132"/>
                                        </p:tgtEl>
                                      </p:cBhvr>
                                    </p:animEffect>
                                    <p:anim calcmode="lin" valueType="num">
                                      <p:cBhvr additive="base">
                                        <p:cTn id="126" dur="500" decel="100000" fill="hold"/>
                                        <p:tgtEl>
                                          <p:spTgt spid="132"/>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33"/>
                                        </p:tgtEl>
                                        <p:attrNameLst>
                                          <p:attrName>style.visibility</p:attrName>
                                        </p:attrNameLst>
                                      </p:cBhvr>
                                      <p:to>
                                        <p:strVal val="visible"/>
                                      </p:to>
                                    </p:set>
                                    <p:animEffect transition="in" filter="fade">
                                      <p:cBhvr>
                                        <p:cTn id="129" dur="500"/>
                                        <p:tgtEl>
                                          <p:spTgt spid="133"/>
                                        </p:tgtEl>
                                      </p:cBhvr>
                                    </p:animEffect>
                                    <p:anim calcmode="lin" valueType="num">
                                      <p:cBhvr additive="base">
                                        <p:cTn id="130" dur="500" decel="100000" fill="hold"/>
                                        <p:tgtEl>
                                          <p:spTgt spid="133"/>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34"/>
                                        </p:tgtEl>
                                        <p:attrNameLst>
                                          <p:attrName>style.visibility</p:attrName>
                                        </p:attrNameLst>
                                      </p:cBhvr>
                                      <p:to>
                                        <p:strVal val="visible"/>
                                      </p:to>
                                    </p:set>
                                    <p:animEffect transition="in" filter="fade">
                                      <p:cBhvr>
                                        <p:cTn id="133" dur="500"/>
                                        <p:tgtEl>
                                          <p:spTgt spid="134"/>
                                        </p:tgtEl>
                                      </p:cBhvr>
                                    </p:animEffect>
                                    <p:anim calcmode="lin" valueType="num">
                                      <p:cBhvr additive="base">
                                        <p:cTn id="134" dur="500" decel="100000" fill="hold"/>
                                        <p:tgtEl>
                                          <p:spTgt spid="134"/>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135"/>
                                        </p:tgtEl>
                                        <p:attrNameLst>
                                          <p:attrName>style.visibility</p:attrName>
                                        </p:attrNameLst>
                                      </p:cBhvr>
                                      <p:to>
                                        <p:strVal val="visible"/>
                                      </p:to>
                                    </p:set>
                                    <p:animEffect transition="in" filter="fade">
                                      <p:cBhvr>
                                        <p:cTn id="137" dur="500"/>
                                        <p:tgtEl>
                                          <p:spTgt spid="135"/>
                                        </p:tgtEl>
                                      </p:cBhvr>
                                    </p:animEffect>
                                    <p:anim calcmode="lin" valueType="num">
                                      <p:cBhvr additive="base">
                                        <p:cTn id="138" dur="500" decel="100000" fill="hold"/>
                                        <p:tgtEl>
                                          <p:spTgt spid="135"/>
                                        </p:tgtEl>
                                        <p:attrNameLst>
                                          <p:attrName>ppt_y</p:attrName>
                                        </p:attrNameLst>
                                      </p:cBhvr>
                                      <p:tavLst>
                                        <p:tav tm="0">
                                          <p:val>
                                            <p:strVal val="#ppt_y+0.06"/>
                                          </p:val>
                                        </p:tav>
                                        <p:tav tm="100000">
                                          <p:val>
                                            <p:strVal val="#ppt_y"/>
                                          </p:val>
                                        </p:tav>
                                      </p:tavLst>
                                    </p:anim>
                                  </p:childTnLst>
                                </p:cTn>
                              </p:par>
                              <p:par>
                                <p:cTn id="139" presetID="42" presetClass="entr" presetSubtype="0" fill="hold" grpId="0" nodeType="withEffect">
                                  <p:stCondLst>
                                    <p:cond delay="0"/>
                                  </p:stCondLst>
                                  <p:childTnLst>
                                    <p:set>
                                      <p:cBhvr>
                                        <p:cTn id="140" dur="1" fill="hold">
                                          <p:stCondLst>
                                            <p:cond delay="0"/>
                                          </p:stCondLst>
                                        </p:cTn>
                                        <p:tgtEl>
                                          <p:spTgt spid="136"/>
                                        </p:tgtEl>
                                        <p:attrNameLst>
                                          <p:attrName>style.visibility</p:attrName>
                                        </p:attrNameLst>
                                      </p:cBhvr>
                                      <p:to>
                                        <p:strVal val="visible"/>
                                      </p:to>
                                    </p:set>
                                    <p:animEffect transition="in" filter="fade">
                                      <p:cBhvr>
                                        <p:cTn id="141" dur="500"/>
                                        <p:tgtEl>
                                          <p:spTgt spid="136"/>
                                        </p:tgtEl>
                                      </p:cBhvr>
                                    </p:animEffect>
                                    <p:anim calcmode="lin" valueType="num">
                                      <p:cBhvr additive="base">
                                        <p:cTn id="142" dur="500" decel="100000" fill="hold"/>
                                        <p:tgtEl>
                                          <p:spTgt spid="136"/>
                                        </p:tgtEl>
                                        <p:attrNameLst>
                                          <p:attrName>ppt_y</p:attrName>
                                        </p:attrNameLst>
                                      </p:cBhvr>
                                      <p:tavLst>
                                        <p:tav tm="0">
                                          <p:val>
                                            <p:strVal val="#ppt_y+0.06"/>
                                          </p:val>
                                        </p:tav>
                                        <p:tav tm="100000">
                                          <p:val>
                                            <p:strVal val="#ppt_y"/>
                                          </p:val>
                                        </p:tav>
                                      </p:tavLst>
                                    </p:anim>
                                  </p:childTnLst>
                                </p:cTn>
                              </p:par>
                              <p:par>
                                <p:cTn id="143" presetID="42" presetClass="entr" presetSubtype="0" fill="hold" grpId="0" nodeType="withEffect">
                                  <p:stCondLst>
                                    <p:cond delay="0"/>
                                  </p:stCondLst>
                                  <p:childTnLst>
                                    <p:set>
                                      <p:cBhvr>
                                        <p:cTn id="144" dur="1" fill="hold">
                                          <p:stCondLst>
                                            <p:cond delay="0"/>
                                          </p:stCondLst>
                                        </p:cTn>
                                        <p:tgtEl>
                                          <p:spTgt spid="137"/>
                                        </p:tgtEl>
                                        <p:attrNameLst>
                                          <p:attrName>style.visibility</p:attrName>
                                        </p:attrNameLst>
                                      </p:cBhvr>
                                      <p:to>
                                        <p:strVal val="visible"/>
                                      </p:to>
                                    </p:set>
                                    <p:animEffect transition="in" filter="fade">
                                      <p:cBhvr>
                                        <p:cTn id="145" dur="500"/>
                                        <p:tgtEl>
                                          <p:spTgt spid="137"/>
                                        </p:tgtEl>
                                      </p:cBhvr>
                                    </p:animEffect>
                                    <p:anim calcmode="lin" valueType="num">
                                      <p:cBhvr additive="base">
                                        <p:cTn id="146" dur="500" decel="100000" fill="hold"/>
                                        <p:tgtEl>
                                          <p:spTgt spid="137"/>
                                        </p:tgtEl>
                                        <p:attrNameLst>
                                          <p:attrName>ppt_y</p:attrName>
                                        </p:attrNameLst>
                                      </p:cBhvr>
                                      <p:tavLst>
                                        <p:tav tm="0">
                                          <p:val>
                                            <p:strVal val="#ppt_y+0.06"/>
                                          </p:val>
                                        </p:tav>
                                        <p:tav tm="100000">
                                          <p:val>
                                            <p:strVal val="#ppt_y"/>
                                          </p:val>
                                        </p:tav>
                                      </p:tavLst>
                                    </p:anim>
                                  </p:childTnLst>
                                </p:cTn>
                              </p:par>
                              <p:par>
                                <p:cTn id="147" presetID="42" presetClass="entr" presetSubtype="0" fill="hold" grpId="0" nodeType="withEffect">
                                  <p:stCondLst>
                                    <p:cond delay="0"/>
                                  </p:stCondLst>
                                  <p:childTnLst>
                                    <p:set>
                                      <p:cBhvr>
                                        <p:cTn id="148" dur="1" fill="hold">
                                          <p:stCondLst>
                                            <p:cond delay="0"/>
                                          </p:stCondLst>
                                        </p:cTn>
                                        <p:tgtEl>
                                          <p:spTgt spid="138"/>
                                        </p:tgtEl>
                                        <p:attrNameLst>
                                          <p:attrName>style.visibility</p:attrName>
                                        </p:attrNameLst>
                                      </p:cBhvr>
                                      <p:to>
                                        <p:strVal val="visible"/>
                                      </p:to>
                                    </p:set>
                                    <p:animEffect transition="in" filter="fade">
                                      <p:cBhvr>
                                        <p:cTn id="149" dur="500"/>
                                        <p:tgtEl>
                                          <p:spTgt spid="138"/>
                                        </p:tgtEl>
                                      </p:cBhvr>
                                    </p:animEffect>
                                    <p:anim calcmode="lin" valueType="num">
                                      <p:cBhvr additive="base">
                                        <p:cTn id="150" dur="500" decel="100000" fill="hold"/>
                                        <p:tgtEl>
                                          <p:spTgt spid="138"/>
                                        </p:tgtEl>
                                        <p:attrNameLst>
                                          <p:attrName>ppt_y</p:attrName>
                                        </p:attrNameLst>
                                      </p:cBhvr>
                                      <p:tavLst>
                                        <p:tav tm="0">
                                          <p:val>
                                            <p:strVal val="#ppt_y+0.06"/>
                                          </p:val>
                                        </p:tav>
                                        <p:tav tm="100000">
                                          <p:val>
                                            <p:strVal val="#ppt_y"/>
                                          </p:val>
                                        </p:tav>
                                      </p:tavLst>
                                    </p:anim>
                                  </p:childTnLst>
                                </p:cTn>
                              </p:par>
                              <p:par>
                                <p:cTn id="151" presetID="42" presetClass="entr" presetSubtype="0" fill="hold" grpId="0" nodeType="withEffect">
                                  <p:stCondLst>
                                    <p:cond delay="0"/>
                                  </p:stCondLst>
                                  <p:childTnLst>
                                    <p:set>
                                      <p:cBhvr>
                                        <p:cTn id="152" dur="1" fill="hold">
                                          <p:stCondLst>
                                            <p:cond delay="0"/>
                                          </p:stCondLst>
                                        </p:cTn>
                                        <p:tgtEl>
                                          <p:spTgt spid="139"/>
                                        </p:tgtEl>
                                        <p:attrNameLst>
                                          <p:attrName>style.visibility</p:attrName>
                                        </p:attrNameLst>
                                      </p:cBhvr>
                                      <p:to>
                                        <p:strVal val="visible"/>
                                      </p:to>
                                    </p:set>
                                    <p:animEffect transition="in" filter="fade">
                                      <p:cBhvr>
                                        <p:cTn id="153" dur="500"/>
                                        <p:tgtEl>
                                          <p:spTgt spid="139"/>
                                        </p:tgtEl>
                                      </p:cBhvr>
                                    </p:animEffect>
                                    <p:anim calcmode="lin" valueType="num">
                                      <p:cBhvr additive="base">
                                        <p:cTn id="154" dur="500" decel="100000" fill="hold"/>
                                        <p:tgtEl>
                                          <p:spTgt spid="139"/>
                                        </p:tgtEl>
                                        <p:attrNameLst>
                                          <p:attrName>ppt_y</p:attrName>
                                        </p:attrNameLst>
                                      </p:cBhvr>
                                      <p:tavLst>
                                        <p:tav tm="0">
                                          <p:val>
                                            <p:strVal val="#ppt_y+0.06"/>
                                          </p:val>
                                        </p:tav>
                                        <p:tav tm="100000">
                                          <p:val>
                                            <p:strVal val="#ppt_y"/>
                                          </p:val>
                                        </p:tav>
                                      </p:tavLst>
                                    </p:anim>
                                  </p:childTnLst>
                                </p:cTn>
                              </p:par>
                              <p:par>
                                <p:cTn id="155" presetID="42" presetClass="entr" presetSubtype="0" fill="hold" grpId="0" nodeType="withEffect">
                                  <p:stCondLst>
                                    <p:cond delay="0"/>
                                  </p:stCondLst>
                                  <p:childTnLst>
                                    <p:set>
                                      <p:cBhvr>
                                        <p:cTn id="156" dur="1" fill="hold">
                                          <p:stCondLst>
                                            <p:cond delay="0"/>
                                          </p:stCondLst>
                                        </p:cTn>
                                        <p:tgtEl>
                                          <p:spTgt spid="140"/>
                                        </p:tgtEl>
                                        <p:attrNameLst>
                                          <p:attrName>style.visibility</p:attrName>
                                        </p:attrNameLst>
                                      </p:cBhvr>
                                      <p:to>
                                        <p:strVal val="visible"/>
                                      </p:to>
                                    </p:set>
                                    <p:animEffect transition="in" filter="fade">
                                      <p:cBhvr>
                                        <p:cTn id="157" dur="500"/>
                                        <p:tgtEl>
                                          <p:spTgt spid="140"/>
                                        </p:tgtEl>
                                      </p:cBhvr>
                                    </p:animEffect>
                                    <p:anim calcmode="lin" valueType="num">
                                      <p:cBhvr additive="base">
                                        <p:cTn id="158" dur="500" decel="100000" fill="hold"/>
                                        <p:tgtEl>
                                          <p:spTgt spid="140"/>
                                        </p:tgtEl>
                                        <p:attrNameLst>
                                          <p:attrName>ppt_y</p:attrName>
                                        </p:attrNameLst>
                                      </p:cBhvr>
                                      <p:tavLst>
                                        <p:tav tm="0">
                                          <p:val>
                                            <p:strVal val="#ppt_y+0.06"/>
                                          </p:val>
                                        </p:tav>
                                        <p:tav tm="100000">
                                          <p:val>
                                            <p:strVal val="#ppt_y"/>
                                          </p:val>
                                        </p:tav>
                                      </p:tavLst>
                                    </p:anim>
                                  </p:childTnLst>
                                </p:cTn>
                              </p:par>
                              <p:par>
                                <p:cTn id="159" presetID="42" presetClass="entr" presetSubtype="0" fill="hold" grpId="0" nodeType="withEffect">
                                  <p:stCondLst>
                                    <p:cond delay="0"/>
                                  </p:stCondLst>
                                  <p:childTnLst>
                                    <p:set>
                                      <p:cBhvr>
                                        <p:cTn id="160" dur="1" fill="hold">
                                          <p:stCondLst>
                                            <p:cond delay="0"/>
                                          </p:stCondLst>
                                        </p:cTn>
                                        <p:tgtEl>
                                          <p:spTgt spid="141"/>
                                        </p:tgtEl>
                                        <p:attrNameLst>
                                          <p:attrName>style.visibility</p:attrName>
                                        </p:attrNameLst>
                                      </p:cBhvr>
                                      <p:to>
                                        <p:strVal val="visible"/>
                                      </p:to>
                                    </p:set>
                                    <p:animEffect transition="in" filter="fade">
                                      <p:cBhvr>
                                        <p:cTn id="161" dur="500"/>
                                        <p:tgtEl>
                                          <p:spTgt spid="141"/>
                                        </p:tgtEl>
                                      </p:cBhvr>
                                    </p:animEffect>
                                    <p:anim calcmode="lin" valueType="num">
                                      <p:cBhvr additive="base">
                                        <p:cTn id="162" dur="500" decel="100000" fill="hold"/>
                                        <p:tgtEl>
                                          <p:spTgt spid="141"/>
                                        </p:tgtEl>
                                        <p:attrNameLst>
                                          <p:attrName>ppt_y</p:attrName>
                                        </p:attrNameLst>
                                      </p:cBhvr>
                                      <p:tavLst>
                                        <p:tav tm="0">
                                          <p:val>
                                            <p:strVal val="#ppt_y+0.06"/>
                                          </p:val>
                                        </p:tav>
                                        <p:tav tm="100000">
                                          <p:val>
                                            <p:strVal val="#ppt_y"/>
                                          </p:val>
                                        </p:tav>
                                      </p:tavLst>
                                    </p:anim>
                                  </p:childTnLst>
                                </p:cTn>
                              </p:par>
                              <p:par>
                                <p:cTn id="163" presetID="42" presetClass="entr" presetSubtype="0" fill="hold" grpId="0" nodeType="withEffect">
                                  <p:stCondLst>
                                    <p:cond delay="0"/>
                                  </p:stCondLst>
                                  <p:childTnLst>
                                    <p:set>
                                      <p:cBhvr>
                                        <p:cTn id="164" dur="1" fill="hold">
                                          <p:stCondLst>
                                            <p:cond delay="0"/>
                                          </p:stCondLst>
                                        </p:cTn>
                                        <p:tgtEl>
                                          <p:spTgt spid="142"/>
                                        </p:tgtEl>
                                        <p:attrNameLst>
                                          <p:attrName>style.visibility</p:attrName>
                                        </p:attrNameLst>
                                      </p:cBhvr>
                                      <p:to>
                                        <p:strVal val="visible"/>
                                      </p:to>
                                    </p:set>
                                    <p:animEffect transition="in" filter="fade">
                                      <p:cBhvr>
                                        <p:cTn id="165" dur="500"/>
                                        <p:tgtEl>
                                          <p:spTgt spid="142"/>
                                        </p:tgtEl>
                                      </p:cBhvr>
                                    </p:animEffect>
                                    <p:anim calcmode="lin" valueType="num">
                                      <p:cBhvr additive="base">
                                        <p:cTn id="166" dur="500" decel="100000" fill="hold"/>
                                        <p:tgtEl>
                                          <p:spTgt spid="142"/>
                                        </p:tgtEl>
                                        <p:attrNameLst>
                                          <p:attrName>ppt_y</p:attrName>
                                        </p:attrNameLst>
                                      </p:cBhvr>
                                      <p:tavLst>
                                        <p:tav tm="0">
                                          <p:val>
                                            <p:strVal val="#ppt_y+0.06"/>
                                          </p:val>
                                        </p:tav>
                                        <p:tav tm="100000">
                                          <p:val>
                                            <p:strVal val="#ppt_y"/>
                                          </p:val>
                                        </p:tav>
                                      </p:tavLst>
                                    </p:anim>
                                  </p:childTnLst>
                                </p:cTn>
                              </p:par>
                              <p:par>
                                <p:cTn id="167" presetID="42" presetClass="entr" presetSubtype="0" fill="hold" grpId="0" nodeType="withEffect">
                                  <p:stCondLst>
                                    <p:cond delay="0"/>
                                  </p:stCondLst>
                                  <p:childTnLst>
                                    <p:set>
                                      <p:cBhvr>
                                        <p:cTn id="168" dur="1" fill="hold">
                                          <p:stCondLst>
                                            <p:cond delay="0"/>
                                          </p:stCondLst>
                                        </p:cTn>
                                        <p:tgtEl>
                                          <p:spTgt spid="143"/>
                                        </p:tgtEl>
                                        <p:attrNameLst>
                                          <p:attrName>style.visibility</p:attrName>
                                        </p:attrNameLst>
                                      </p:cBhvr>
                                      <p:to>
                                        <p:strVal val="visible"/>
                                      </p:to>
                                    </p:set>
                                    <p:animEffect transition="in" filter="fade">
                                      <p:cBhvr>
                                        <p:cTn id="169" dur="500"/>
                                        <p:tgtEl>
                                          <p:spTgt spid="143"/>
                                        </p:tgtEl>
                                      </p:cBhvr>
                                    </p:animEffect>
                                    <p:anim calcmode="lin" valueType="num">
                                      <p:cBhvr additive="base">
                                        <p:cTn id="170" dur="500" decel="100000" fill="hold"/>
                                        <p:tgtEl>
                                          <p:spTgt spid="143"/>
                                        </p:tgtEl>
                                        <p:attrNameLst>
                                          <p:attrName>ppt_y</p:attrName>
                                        </p:attrNameLst>
                                      </p:cBhvr>
                                      <p:tavLst>
                                        <p:tav tm="0">
                                          <p:val>
                                            <p:strVal val="#ppt_y+0.06"/>
                                          </p:val>
                                        </p:tav>
                                        <p:tav tm="100000">
                                          <p:val>
                                            <p:strVal val="#ppt_y"/>
                                          </p:val>
                                        </p:tav>
                                      </p:tavLst>
                                    </p:anim>
                                  </p:childTnLst>
                                </p:cTn>
                              </p:par>
                              <p:par>
                                <p:cTn id="171" presetID="42" presetClass="entr" presetSubtype="0" fill="hold" grpId="0" nodeType="withEffect">
                                  <p:stCondLst>
                                    <p:cond delay="0"/>
                                  </p:stCondLst>
                                  <p:childTnLst>
                                    <p:set>
                                      <p:cBhvr>
                                        <p:cTn id="172" dur="1" fill="hold">
                                          <p:stCondLst>
                                            <p:cond delay="0"/>
                                          </p:stCondLst>
                                        </p:cTn>
                                        <p:tgtEl>
                                          <p:spTgt spid="144"/>
                                        </p:tgtEl>
                                        <p:attrNameLst>
                                          <p:attrName>style.visibility</p:attrName>
                                        </p:attrNameLst>
                                      </p:cBhvr>
                                      <p:to>
                                        <p:strVal val="visible"/>
                                      </p:to>
                                    </p:set>
                                    <p:animEffect transition="in" filter="fade">
                                      <p:cBhvr>
                                        <p:cTn id="173" dur="500"/>
                                        <p:tgtEl>
                                          <p:spTgt spid="144"/>
                                        </p:tgtEl>
                                      </p:cBhvr>
                                    </p:animEffect>
                                    <p:anim calcmode="lin" valueType="num">
                                      <p:cBhvr additive="base">
                                        <p:cTn id="174" dur="500" decel="100000" fill="hold"/>
                                        <p:tgtEl>
                                          <p:spTgt spid="144"/>
                                        </p:tgtEl>
                                        <p:attrNameLst>
                                          <p:attrName>ppt_y</p:attrName>
                                        </p:attrNameLst>
                                      </p:cBhvr>
                                      <p:tavLst>
                                        <p:tav tm="0">
                                          <p:val>
                                            <p:strVal val="#ppt_y+0.06"/>
                                          </p:val>
                                        </p:tav>
                                        <p:tav tm="100000">
                                          <p:val>
                                            <p:strVal val="#ppt_y"/>
                                          </p:val>
                                        </p:tav>
                                      </p:tavLst>
                                    </p:anim>
                                  </p:childTnLst>
                                </p:cTn>
                              </p:par>
                              <p:par>
                                <p:cTn id="175" presetID="42" presetClass="entr" presetSubtype="0" fill="hold" grpId="0" nodeType="withEffect">
                                  <p:stCondLst>
                                    <p:cond delay="0"/>
                                  </p:stCondLst>
                                  <p:childTnLst>
                                    <p:set>
                                      <p:cBhvr>
                                        <p:cTn id="176" dur="1" fill="hold">
                                          <p:stCondLst>
                                            <p:cond delay="0"/>
                                          </p:stCondLst>
                                        </p:cTn>
                                        <p:tgtEl>
                                          <p:spTgt spid="145"/>
                                        </p:tgtEl>
                                        <p:attrNameLst>
                                          <p:attrName>style.visibility</p:attrName>
                                        </p:attrNameLst>
                                      </p:cBhvr>
                                      <p:to>
                                        <p:strVal val="visible"/>
                                      </p:to>
                                    </p:set>
                                    <p:animEffect transition="in" filter="fade">
                                      <p:cBhvr>
                                        <p:cTn id="177" dur="500"/>
                                        <p:tgtEl>
                                          <p:spTgt spid="145"/>
                                        </p:tgtEl>
                                      </p:cBhvr>
                                    </p:animEffect>
                                    <p:anim calcmode="lin" valueType="num">
                                      <p:cBhvr additive="base">
                                        <p:cTn id="178" dur="500" decel="100000" fill="hold"/>
                                        <p:tgtEl>
                                          <p:spTgt spid="145"/>
                                        </p:tgtEl>
                                        <p:attrNameLst>
                                          <p:attrName>ppt_y</p:attrName>
                                        </p:attrNameLst>
                                      </p:cBhvr>
                                      <p:tavLst>
                                        <p:tav tm="0">
                                          <p:val>
                                            <p:strVal val="#ppt_y+0.06"/>
                                          </p:val>
                                        </p:tav>
                                        <p:tav tm="100000">
                                          <p:val>
                                            <p:strVal val="#ppt_y"/>
                                          </p:val>
                                        </p:tav>
                                      </p:tavLst>
                                    </p:anim>
                                  </p:childTnLst>
                                </p:cTn>
                              </p:par>
                              <p:par>
                                <p:cTn id="179" presetID="42" presetClass="entr" presetSubtype="0" fill="hold" grpId="0" nodeType="withEffect">
                                  <p:stCondLst>
                                    <p:cond delay="0"/>
                                  </p:stCondLst>
                                  <p:childTnLst>
                                    <p:set>
                                      <p:cBhvr>
                                        <p:cTn id="180" dur="1" fill="hold">
                                          <p:stCondLst>
                                            <p:cond delay="0"/>
                                          </p:stCondLst>
                                        </p:cTn>
                                        <p:tgtEl>
                                          <p:spTgt spid="146"/>
                                        </p:tgtEl>
                                        <p:attrNameLst>
                                          <p:attrName>style.visibility</p:attrName>
                                        </p:attrNameLst>
                                      </p:cBhvr>
                                      <p:to>
                                        <p:strVal val="visible"/>
                                      </p:to>
                                    </p:set>
                                    <p:animEffect transition="in" filter="fade">
                                      <p:cBhvr>
                                        <p:cTn id="181" dur="500"/>
                                        <p:tgtEl>
                                          <p:spTgt spid="146"/>
                                        </p:tgtEl>
                                      </p:cBhvr>
                                    </p:animEffect>
                                    <p:anim calcmode="lin" valueType="num">
                                      <p:cBhvr additive="base">
                                        <p:cTn id="182" dur="500" decel="100000" fill="hold"/>
                                        <p:tgtEl>
                                          <p:spTgt spid="146"/>
                                        </p:tgtEl>
                                        <p:attrNameLst>
                                          <p:attrName>ppt_y</p:attrName>
                                        </p:attrNameLst>
                                      </p:cBhvr>
                                      <p:tavLst>
                                        <p:tav tm="0">
                                          <p:val>
                                            <p:strVal val="#ppt_y+0.06"/>
                                          </p:val>
                                        </p:tav>
                                        <p:tav tm="100000">
                                          <p:val>
                                            <p:strVal val="#ppt_y"/>
                                          </p:val>
                                        </p:tav>
                                      </p:tavLst>
                                    </p:anim>
                                  </p:childTnLst>
                                </p:cTn>
                              </p:par>
                            </p:childTnLst>
                          </p:cTn>
                        </p:par>
                      </p:childTnLst>
                    </p:cTn>
                  </p:par>
                  <p:par>
                    <p:cTn id="183" fill="hold">
                      <p:stCondLst>
                        <p:cond delay="indefinite"/>
                      </p:stCondLst>
                      <p:childTnLst>
                        <p:par>
                          <p:cTn id="184" fill="hold">
                            <p:stCondLst>
                              <p:cond delay="0"/>
                            </p:stCondLst>
                            <p:childTnLst>
                              <p:par>
                                <p:cTn id="185" presetID="53" presetClass="entr" presetSubtype="16" fill="hold" grpId="0" nodeType="clickEffect">
                                  <p:stCondLst>
                                    <p:cond delay="0"/>
                                  </p:stCondLst>
                                  <p:childTnLst>
                                    <p:set>
                                      <p:cBhvr>
                                        <p:cTn id="186" dur="1" fill="hold">
                                          <p:stCondLst>
                                            <p:cond delay="0"/>
                                          </p:stCondLst>
                                        </p:cTn>
                                        <p:tgtEl>
                                          <p:spTgt spid="149"/>
                                        </p:tgtEl>
                                        <p:attrNameLst>
                                          <p:attrName>style.visibility</p:attrName>
                                        </p:attrNameLst>
                                      </p:cBhvr>
                                      <p:to>
                                        <p:strVal val="visible"/>
                                      </p:to>
                                    </p:set>
                                    <p:anim calcmode="lin" valueType="num">
                                      <p:cBhvr additive="base">
                                        <p:cTn id="187" dur="500" decel="100000" fill="hold"/>
                                        <p:tgtEl>
                                          <p:spTgt spid="149"/>
                                        </p:tgtEl>
                                        <p:attrNameLst>
                                          <p:attrName>ppt_w</p:attrName>
                                        </p:attrNameLst>
                                      </p:cBhvr>
                                      <p:tavLst>
                                        <p:tav tm="0">
                                          <p:val>
                                            <p:strVal val="#ppt_w*0.3"/>
                                          </p:val>
                                        </p:tav>
                                        <p:tav tm="100000">
                                          <p:val>
                                            <p:strVal val="#ppt_w*1.08"/>
                                          </p:val>
                                        </p:tav>
                                      </p:tavLst>
                                    </p:anim>
                                    <p:anim calcmode="lin" valueType="num">
                                      <p:cBhvr additive="base">
                                        <p:cTn id="188" dur="500" decel="100000" fill="hold"/>
                                        <p:tgtEl>
                                          <p:spTgt spid="149"/>
                                        </p:tgtEl>
                                        <p:attrNameLst>
                                          <p:attrName>ppt_h</p:attrName>
                                        </p:attrNameLst>
                                      </p:cBhvr>
                                      <p:tavLst>
                                        <p:tav tm="0">
                                          <p:val>
                                            <p:strVal val="#ppt_h*0.3"/>
                                          </p:val>
                                        </p:tav>
                                        <p:tav tm="100000">
                                          <p:val>
                                            <p:strVal val="#ppt_h*1.08"/>
                                          </p:val>
                                        </p:tav>
                                      </p:tavLst>
                                    </p:anim>
                                    <p:animEffect transition="in" filter="fade">
                                      <p:cBhvr>
                                        <p:cTn id="189" dur="250"/>
                                        <p:tgtEl>
                                          <p:spTgt spid="149"/>
                                        </p:tgtEl>
                                      </p:cBhvr>
                                    </p:animEffect>
                                    <p:anim calcmode="lin" valueType="num">
                                      <p:cBhvr additive="base">
                                        <p:cTn id="190" dur="160" fill="hold">
                                          <p:stCondLst>
                                            <p:cond delay="500"/>
                                          </p:stCondLst>
                                        </p:cTn>
                                        <p:tgtEl>
                                          <p:spTgt spid="149"/>
                                        </p:tgtEl>
                                        <p:attrNameLst>
                                          <p:attrName>ppt_w</p:attrName>
                                        </p:attrNameLst>
                                      </p:cBhvr>
                                      <p:tavLst>
                                        <p:tav tm="0">
                                          <p:val>
                                            <p:strVal val="#ppt_w*1.08"/>
                                          </p:val>
                                        </p:tav>
                                        <p:tav tm="100000">
                                          <p:val>
                                            <p:strVal val="#ppt_w"/>
                                          </p:val>
                                        </p:tav>
                                      </p:tavLst>
                                    </p:anim>
                                    <p:anim calcmode="lin" valueType="num">
                                      <p:cBhvr additive="base">
                                        <p:cTn id="191" dur="160" fill="hold">
                                          <p:stCondLst>
                                            <p:cond delay="500"/>
                                          </p:stCondLst>
                                        </p:cTn>
                                        <p:tgtEl>
                                          <p:spTgt spid="149"/>
                                        </p:tgtEl>
                                        <p:attrNameLst>
                                          <p:attrName>ppt_h</p:attrName>
                                        </p:attrNameLst>
                                      </p:cBhvr>
                                      <p:tavLst>
                                        <p:tav tm="0">
                                          <p:val>
                                            <p:strVal val="#ppt_h*1.08"/>
                                          </p:val>
                                        </p:tav>
                                        <p:tav tm="100000">
                                          <p:val>
                                            <p:strVal val="#ppt_h"/>
                                          </p:val>
                                        </p:tav>
                                      </p:tavLst>
                                    </p:anim>
                                  </p:childTnLst>
                                </p:cTn>
                              </p:par>
                              <p:par>
                                <p:cTn id="192" presetID="42" presetClass="entr" presetSubtype="0" fill="hold" grpId="0" nodeType="withEffect">
                                  <p:stCondLst>
                                    <p:cond delay="200"/>
                                  </p:stCondLst>
                                  <p:childTnLst>
                                    <p:set>
                                      <p:cBhvr>
                                        <p:cTn id="193" dur="1" fill="hold">
                                          <p:stCondLst>
                                            <p:cond delay="0"/>
                                          </p:stCondLst>
                                        </p:cTn>
                                        <p:tgtEl>
                                          <p:spTgt spid="147"/>
                                        </p:tgtEl>
                                        <p:attrNameLst>
                                          <p:attrName>style.visibility</p:attrName>
                                        </p:attrNameLst>
                                      </p:cBhvr>
                                      <p:to>
                                        <p:strVal val="visible"/>
                                      </p:to>
                                    </p:set>
                                    <p:animEffect transition="in" filter="fade">
                                      <p:cBhvr>
                                        <p:cTn id="194" dur="500"/>
                                        <p:tgtEl>
                                          <p:spTgt spid="147"/>
                                        </p:tgtEl>
                                      </p:cBhvr>
                                    </p:animEffect>
                                    <p:anim calcmode="lin" valueType="num">
                                      <p:cBhvr additive="base">
                                        <p:cTn id="195" dur="500" decel="100000" fill="hold"/>
                                        <p:tgtEl>
                                          <p:spTgt spid="147"/>
                                        </p:tgtEl>
                                        <p:attrNameLst>
                                          <p:attrName>ppt_y</p:attrName>
                                        </p:attrNameLst>
                                      </p:cBhvr>
                                      <p:tavLst>
                                        <p:tav tm="0">
                                          <p:val>
                                            <p:strVal val="#ppt_y+0.06"/>
                                          </p:val>
                                        </p:tav>
                                        <p:tav tm="100000">
                                          <p:val>
                                            <p:strVal val="#ppt_y"/>
                                          </p:val>
                                        </p:tav>
                                      </p:tavLst>
                                    </p:anim>
                                  </p:childTnLst>
                                </p:cTn>
                              </p:par>
                              <p:par>
                                <p:cTn id="196" presetID="10" presetClass="entr" presetSubtype="0" fill="hold" grpId="0" nodeType="withEffect">
                                  <p:stCondLst>
                                    <p:cond delay="400"/>
                                  </p:stCondLst>
                                  <p:childTnLst>
                                    <p:set>
                                      <p:cBhvr>
                                        <p:cTn id="197" dur="1" fill="hold">
                                          <p:stCondLst>
                                            <p:cond delay="0"/>
                                          </p:stCondLst>
                                        </p:cTn>
                                        <p:tgtEl>
                                          <p:spTgt spid="148"/>
                                        </p:tgtEl>
                                        <p:attrNameLst>
                                          <p:attrName>style.visibility</p:attrName>
                                        </p:attrNameLst>
                                      </p:cBhvr>
                                      <p:to>
                                        <p:strVal val="visible"/>
                                      </p:to>
                                    </p:set>
                                    <p:animEffect transition="in" filter="fade">
                                      <p:cBhvr>
                                        <p:cTn id="198"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3" grpId="0" animBg="1"/>
      <p:bldP spid="124" grpId="0" animBg="1"/>
      <p:bldP spid="125" grpId="0" animBg="1"/>
      <p:bldP spid="126" grpId="0" animBg="1"/>
      <p:bldP spid="127"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P spid="146" grpId="0" animBg="1"/>
      <p:bldP spid="147" grpId="0" animBg="1"/>
      <p:bldP spid="148" grpId="0" animBg="1"/>
      <p:bldP spid="149"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TEST DOUBLES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Solution Idea: Swap What You Cannot Control</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150</a:t>
            </a:r>
            <a:endParaRPr lang="en-US" sz="850" dirty="0"/>
          </a:p>
        </p:txBody>
      </p:sp>
      <p:sp>
        <p:nvSpPr>
          <p:cNvPr id="101" name="s101"/>
          <p:cNvSpPr/>
          <p:nvPr/>
        </p:nvSpPr>
        <p:spPr>
          <a:xfrm>
            <a:off x="4624121" y="3108960"/>
            <a:ext cx="2926080" cy="914400"/>
          </a:xfrm>
          <a:prstGeom prst="roundRect">
            <a:avLst>
              <a:gd name="adj" fmla="val 12000"/>
            </a:avLst>
          </a:prstGeom>
          <a:solidFill>
            <a:srgbClr val="111B2E"/>
          </a:solidFill>
          <a:ln w="19050">
            <a:solidFill>
              <a:srgbClr val="13D0F7"/>
            </a:solidFill>
            <a:prstDash val="solid"/>
          </a:ln>
        </p:spPr>
        <p:txBody>
          <a:bodyPr wrap="square" lIns="164592" tIns="109728" rIns="137160" bIns="91440" rtlCol="0" anchor="ctr">
            <a:noAutofit/>
          </a:bodyPr>
          <a:lstStyle/>
          <a:p>
            <a:pPr marL="0" indent="0" algn="ctr">
              <a:spcBef>
                <a:spcPts val="0"/>
              </a:spcBef>
              <a:spcAft>
                <a:spcPts val="0"/>
              </a:spcAft>
              <a:buNone/>
            </a:pPr>
            <a:r>
              <a:rPr lang="en-US" sz="1500" b="1" dirty="0">
                <a:solidFill>
                  <a:srgbClr val="FFFFFF"/>
                </a:solidFill>
                <a:latin typeface="Consolas"/>
                <a:ea typeface="Consolas"/>
                <a:cs typeface="Consolas"/>
              </a:rPr>
              <a:t>TransferService</a:t>
            </a:r>
            <a:endParaRPr lang="en-US" sz="1500" dirty="0"/>
          </a:p>
          <a:p>
            <a:pPr marL="0" indent="0" algn="ctr">
              <a:spcBef>
                <a:spcPts val="0"/>
              </a:spcBef>
              <a:spcAft>
                <a:spcPts val="0"/>
              </a:spcAft>
              <a:buNone/>
            </a:pPr>
            <a:r>
              <a:rPr lang="en-US" sz="1100" b="0" dirty="0">
                <a:solidFill>
                  <a:srgbClr val="94A3B8"/>
                </a:solidFill>
                <a:latin typeface="Segoe UI"/>
                <a:ea typeface="Segoe UI"/>
                <a:cs typeface="Segoe UI"/>
              </a:rPr>
              <a:t>the class under test</a:t>
            </a:r>
            <a:endParaRPr lang="en-US" sz="1100" dirty="0"/>
          </a:p>
        </p:txBody>
      </p:sp>
      <p:sp>
        <p:nvSpPr>
          <p:cNvPr id="102" name="s102"/>
          <p:cNvSpPr/>
          <p:nvPr/>
        </p:nvSpPr>
        <p:spPr>
          <a:xfrm>
            <a:off x="4486961" y="1828800"/>
            <a:ext cx="3200400" cy="548640"/>
          </a:xfrm>
          <a:prstGeom prst="roundRect">
            <a:avLst>
              <a:gd name="adj" fmla="val 12000"/>
            </a:avLst>
          </a:prstGeom>
          <a:solidFill>
            <a:srgbClr val="111B2E"/>
          </a:solidFill>
          <a:ln w="12700">
            <a:solidFill>
              <a:srgbClr val="A78BFA"/>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A78BFA"/>
                </a:solidFill>
                <a:latin typeface="Consolas"/>
                <a:ea typeface="Consolas"/>
                <a:cs typeface="Consolas"/>
              </a:rPr>
              <a:t>IAccountRepository</a:t>
            </a:r>
            <a:endParaRPr lang="en-US" sz="1300" dirty="0"/>
          </a:p>
        </p:txBody>
      </p:sp>
      <p:sp>
        <p:nvSpPr>
          <p:cNvPr id="103" name="s103"/>
          <p:cNvSpPr/>
          <p:nvPr/>
        </p:nvSpPr>
        <p:spPr>
          <a:xfrm>
            <a:off x="4486961" y="4754880"/>
            <a:ext cx="3200400" cy="548640"/>
          </a:xfrm>
          <a:prstGeom prst="roundRect">
            <a:avLst>
              <a:gd name="adj" fmla="val 12000"/>
            </a:avLst>
          </a:prstGeom>
          <a:solidFill>
            <a:srgbClr val="111B2E"/>
          </a:solidFill>
          <a:ln w="12700">
            <a:solidFill>
              <a:srgbClr val="A78BFA"/>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A78BFA"/>
                </a:solidFill>
                <a:latin typeface="Consolas"/>
                <a:ea typeface="Consolas"/>
                <a:cs typeface="Consolas"/>
              </a:rPr>
              <a:t>IEmailSender</a:t>
            </a:r>
            <a:endParaRPr lang="en-US" sz="1300" dirty="0"/>
          </a:p>
        </p:txBody>
      </p:sp>
      <p:cxnSp>
        <p:nvCxnSpPr>
          <p:cNvPr id="104" name="ln104"/>
          <p:cNvCxnSpPr/>
          <p:nvPr/>
        </p:nvCxnSpPr>
        <p:spPr>
          <a:xfrm flipV="1">
            <a:off x="6087161" y="2395728"/>
            <a:ext cx="0" cy="694944"/>
          </a:xfrm>
          <a:prstGeom prst="line">
            <a:avLst/>
          </a:prstGeom>
          <a:ln w="22225">
            <a:solidFill>
              <a:srgbClr val="A78BFA"/>
            </a:solidFill>
            <a:tailEnd type="triangle" w="med" len="med"/>
          </a:ln>
        </p:spPr>
      </p:cxnSp>
      <p:cxnSp>
        <p:nvCxnSpPr>
          <p:cNvPr id="105" name="ln105"/>
          <p:cNvCxnSpPr/>
          <p:nvPr/>
        </p:nvCxnSpPr>
        <p:spPr>
          <a:xfrm>
            <a:off x="6087161" y="4041648"/>
            <a:ext cx="0" cy="694944"/>
          </a:xfrm>
          <a:prstGeom prst="line">
            <a:avLst/>
          </a:prstGeom>
          <a:ln w="22225">
            <a:solidFill>
              <a:srgbClr val="A78BFA"/>
            </a:solidFill>
            <a:tailEnd type="triangle" w="med" len="med"/>
          </a:ln>
        </p:spPr>
      </p:cxnSp>
      <p:sp>
        <p:nvSpPr>
          <p:cNvPr id="106" name="s106"/>
          <p:cNvSpPr txBox="1"/>
          <p:nvPr/>
        </p:nvSpPr>
        <p:spPr>
          <a:xfrm>
            <a:off x="543154" y="1508760"/>
            <a:ext cx="320040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1" dirty="0">
                <a:solidFill>
                  <a:srgbClr val="94A3B8"/>
                </a:solidFill>
                <a:latin typeface="Segoe UI"/>
                <a:ea typeface="Segoe UI"/>
                <a:cs typeface="Segoe UI"/>
              </a:rPr>
              <a:t>IN PRODUCTION</a:t>
            </a:r>
            <a:endParaRPr lang="en-US" sz="1100" dirty="0"/>
          </a:p>
        </p:txBody>
      </p:sp>
      <p:sp>
        <p:nvSpPr>
          <p:cNvPr id="107" name="s107"/>
          <p:cNvSpPr/>
          <p:nvPr/>
        </p:nvSpPr>
        <p:spPr>
          <a:xfrm>
            <a:off x="543154" y="1828800"/>
            <a:ext cx="3200400" cy="54864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SqlAccountRepository → DB</a:t>
            </a:r>
            <a:endParaRPr lang="en-US" sz="1250" dirty="0"/>
          </a:p>
        </p:txBody>
      </p:sp>
      <p:sp>
        <p:nvSpPr>
          <p:cNvPr id="108" name="s108"/>
          <p:cNvSpPr/>
          <p:nvPr/>
        </p:nvSpPr>
        <p:spPr>
          <a:xfrm>
            <a:off x="543154" y="4754880"/>
            <a:ext cx="3200400" cy="54864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SmtpEmailSender → real mail</a:t>
            </a:r>
            <a:endParaRPr lang="en-US" sz="1250" dirty="0"/>
          </a:p>
        </p:txBody>
      </p:sp>
      <p:sp>
        <p:nvSpPr>
          <p:cNvPr id="109" name="s109"/>
          <p:cNvSpPr/>
          <p:nvPr/>
        </p:nvSpPr>
        <p:spPr>
          <a:xfrm>
            <a:off x="543154" y="2514600"/>
            <a:ext cx="3200400" cy="457200"/>
          </a:xfrm>
          <a:prstGeom prst="roundRect">
            <a:avLst>
              <a:gd name="adj" fmla="val 12000"/>
            </a:avLst>
          </a:prstGeom>
          <a:solidFill>
            <a:srgbClr val="F87171">
              <a:alpha val="14000"/>
            </a:srgbClr>
          </a:solidFill>
          <a:ln w="12700">
            <a:solidFill>
              <a:srgbClr val="F87171"/>
            </a:solidFill>
            <a:prstDash val="solid"/>
          </a:ln>
        </p:spPr>
        <p:txBody>
          <a:bodyPr wrap="square" lIns="164592" tIns="109728" rIns="137160" bIns="91440" rtlCol="0" anchor="ctr">
            <a:noAutofit/>
          </a:bodyPr>
          <a:lstStyle/>
          <a:p>
            <a:pPr marL="0" indent="0" algn="ctr">
              <a:spcBef>
                <a:spcPts val="0"/>
              </a:spcBef>
              <a:spcAft>
                <a:spcPts val="0"/>
              </a:spcAft>
              <a:buNone/>
            </a:pPr>
            <a:r>
              <a:rPr lang="en-US" sz="1150" b="1" dirty="0">
                <a:solidFill>
                  <a:srgbClr val="F87171"/>
                </a:solidFill>
                <a:latin typeface="Segoe UI"/>
                <a:ea typeface="Segoe UI"/>
                <a:cs typeface="Segoe UI"/>
              </a:rPr>
              <a:t>slow, needs a server, sends real mail!</a:t>
            </a:r>
            <a:endParaRPr lang="en-US" sz="1150" dirty="0"/>
          </a:p>
        </p:txBody>
      </p:sp>
      <p:cxnSp>
        <p:nvCxnSpPr>
          <p:cNvPr id="110" name="ln110"/>
          <p:cNvCxnSpPr/>
          <p:nvPr/>
        </p:nvCxnSpPr>
        <p:spPr>
          <a:xfrm>
            <a:off x="3789274" y="2103120"/>
            <a:ext cx="651967" cy="0"/>
          </a:xfrm>
          <a:prstGeom prst="line">
            <a:avLst/>
          </a:prstGeom>
          <a:ln w="15875">
            <a:solidFill>
              <a:srgbClr val="94A3B8"/>
            </a:solidFill>
          </a:ln>
        </p:spPr>
      </p:cxnSp>
      <p:cxnSp>
        <p:nvCxnSpPr>
          <p:cNvPr id="111" name="ln111"/>
          <p:cNvCxnSpPr/>
          <p:nvPr/>
        </p:nvCxnSpPr>
        <p:spPr>
          <a:xfrm>
            <a:off x="3789274" y="5029200"/>
            <a:ext cx="651967" cy="0"/>
          </a:xfrm>
          <a:prstGeom prst="line">
            <a:avLst/>
          </a:prstGeom>
          <a:ln w="15875">
            <a:solidFill>
              <a:srgbClr val="94A3B8"/>
            </a:solidFill>
          </a:ln>
        </p:spPr>
      </p:cxnSp>
      <p:sp>
        <p:nvSpPr>
          <p:cNvPr id="112" name="s112"/>
          <p:cNvSpPr txBox="1"/>
          <p:nvPr/>
        </p:nvSpPr>
        <p:spPr>
          <a:xfrm>
            <a:off x="8430768" y="1508760"/>
            <a:ext cx="320040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1" dirty="0">
                <a:solidFill>
                  <a:srgbClr val="34D399"/>
                </a:solidFill>
                <a:latin typeface="Segoe UI"/>
                <a:ea typeface="Segoe UI"/>
                <a:cs typeface="Segoe UI"/>
              </a:rPr>
              <a:t>IN THE TEST</a:t>
            </a:r>
            <a:endParaRPr lang="en-US" sz="1100" dirty="0"/>
          </a:p>
        </p:txBody>
      </p:sp>
      <p:sp>
        <p:nvSpPr>
          <p:cNvPr id="113" name="s113"/>
          <p:cNvSpPr/>
          <p:nvPr/>
        </p:nvSpPr>
        <p:spPr>
          <a:xfrm>
            <a:off x="8430768" y="1828800"/>
            <a:ext cx="3200400" cy="548640"/>
          </a:xfrm>
          <a:prstGeom prst="roundRect">
            <a:avLst>
              <a:gd name="adj" fmla="val 12000"/>
            </a:avLst>
          </a:prstGeom>
          <a:solidFill>
            <a:srgbClr val="34D399"/>
          </a:solidFill>
          <a:ln>
            <a:noFill/>
          </a:ln>
        </p:spPr>
        <p:txBody>
          <a:bodyPr wrap="square" lIns="164592" tIns="109728" rIns="137160" bIns="91440" rtlCol="0" anchor="ctr">
            <a:noAutofit/>
          </a:bodyPr>
          <a:lstStyle/>
          <a:p>
            <a:pPr marL="0" indent="0" algn="ctr">
              <a:spcBef>
                <a:spcPts val="0"/>
              </a:spcBef>
              <a:spcAft>
                <a:spcPts val="0"/>
              </a:spcAft>
              <a:buNone/>
            </a:pPr>
            <a:r>
              <a:rPr lang="en-US" sz="1250" b="1" dirty="0">
                <a:solidFill>
                  <a:srgbClr val="0F172A"/>
                </a:solidFill>
                <a:latin typeface="Segoe UI"/>
                <a:ea typeface="Segoe UI"/>
                <a:cs typeface="Segoe UI"/>
              </a:rPr>
              <a:t>a fake: a Dictionary</a:t>
            </a:r>
            <a:endParaRPr lang="en-US" sz="1250" dirty="0"/>
          </a:p>
        </p:txBody>
      </p:sp>
      <p:sp>
        <p:nvSpPr>
          <p:cNvPr id="114" name="s114"/>
          <p:cNvSpPr/>
          <p:nvPr/>
        </p:nvSpPr>
        <p:spPr>
          <a:xfrm>
            <a:off x="8430768" y="4754880"/>
            <a:ext cx="3200400" cy="548640"/>
          </a:xfrm>
          <a:prstGeom prst="roundRect">
            <a:avLst>
              <a:gd name="adj" fmla="val 12000"/>
            </a:avLst>
          </a:prstGeom>
          <a:solidFill>
            <a:srgbClr val="34D399"/>
          </a:solidFill>
          <a:ln>
            <a:noFill/>
          </a:ln>
        </p:spPr>
        <p:txBody>
          <a:bodyPr wrap="square" lIns="164592" tIns="109728" rIns="137160" bIns="91440" rtlCol="0" anchor="ctr">
            <a:noAutofit/>
          </a:bodyPr>
          <a:lstStyle/>
          <a:p>
            <a:pPr marL="0" indent="0" algn="ctr">
              <a:spcBef>
                <a:spcPts val="0"/>
              </a:spcBef>
              <a:spcAft>
                <a:spcPts val="0"/>
              </a:spcAft>
              <a:buNone/>
            </a:pPr>
            <a:r>
              <a:rPr lang="en-US" sz="1250" b="1" dirty="0">
                <a:solidFill>
                  <a:srgbClr val="0F172A"/>
                </a:solidFill>
                <a:latin typeface="Segoe UI"/>
                <a:ea typeface="Segoe UI"/>
                <a:cs typeface="Segoe UI"/>
              </a:rPr>
              <a:t>a spy: records emails</a:t>
            </a:r>
            <a:endParaRPr lang="en-US" sz="1250" dirty="0"/>
          </a:p>
        </p:txBody>
      </p:sp>
      <p:cxnSp>
        <p:nvCxnSpPr>
          <p:cNvPr id="115" name="ln115"/>
          <p:cNvCxnSpPr/>
          <p:nvPr/>
        </p:nvCxnSpPr>
        <p:spPr>
          <a:xfrm>
            <a:off x="7733081" y="2103120"/>
            <a:ext cx="651967" cy="0"/>
          </a:xfrm>
          <a:prstGeom prst="line">
            <a:avLst/>
          </a:prstGeom>
          <a:ln w="15875">
            <a:solidFill>
              <a:srgbClr val="34D399"/>
            </a:solidFill>
          </a:ln>
        </p:spPr>
      </p:cxnSp>
      <p:cxnSp>
        <p:nvCxnSpPr>
          <p:cNvPr id="116" name="ln116"/>
          <p:cNvCxnSpPr/>
          <p:nvPr/>
        </p:nvCxnSpPr>
        <p:spPr>
          <a:xfrm>
            <a:off x="7733081" y="5029200"/>
            <a:ext cx="651967" cy="0"/>
          </a:xfrm>
          <a:prstGeom prst="line">
            <a:avLst/>
          </a:prstGeom>
          <a:ln w="15875">
            <a:solidFill>
              <a:srgbClr val="34D399"/>
            </a:solidFill>
          </a:ln>
        </p:spPr>
      </p:cxnSp>
      <p:sp>
        <p:nvSpPr>
          <p:cNvPr id="117" name="s117"/>
          <p:cNvSpPr txBox="1"/>
          <p:nvPr/>
        </p:nvSpPr>
        <p:spPr>
          <a:xfrm>
            <a:off x="543154" y="5486400"/>
            <a:ext cx="11088014"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E2E8F0"/>
                </a:solidFill>
                <a:latin typeface="Segoe UI"/>
                <a:ea typeface="Segoe UI"/>
                <a:cs typeface="Segoe UI"/>
              </a:rPr>
              <a:t>Depend on interfaces, and a test can swap the slow, risky parts for doubles it controls.</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nodeType="clickEffect">
                                  <p:stCondLst>
                                    <p:cond delay="0"/>
                                  </p:stCondLst>
                                  <p:childTnLst>
                                    <p:set>
                                      <p:cBhvr>
                                        <p:cTn id="13" dur="1" fill="hold">
                                          <p:stCondLst>
                                            <p:cond delay="0"/>
                                          </p:stCondLst>
                                        </p:cTn>
                                        <p:tgtEl>
                                          <p:spTgt spid="104"/>
                                        </p:tgtEl>
                                        <p:attrNameLst>
                                          <p:attrName>style.visibility</p:attrName>
                                        </p:attrNameLst>
                                      </p:cBhvr>
                                      <p:to>
                                        <p:strVal val="visible"/>
                                      </p:to>
                                    </p:set>
                                    <p:animEffect transition="in" filter="wipe(down)">
                                      <p:cBhvr>
                                        <p:cTn id="14" dur="500"/>
                                        <p:tgtEl>
                                          <p:spTgt spid="104"/>
                                        </p:tgtEl>
                                      </p:cBhvr>
                                    </p:animEffect>
                                  </p:childTnLst>
                                </p:cTn>
                              </p:par>
                              <p:par>
                                <p:cTn id="15" presetID="22" presetClass="entr" presetSubtype="1" fill="hold" nodeType="withEffect">
                                  <p:stCondLst>
                                    <p:cond delay="150"/>
                                  </p:stCondLst>
                                  <p:childTnLst>
                                    <p:set>
                                      <p:cBhvr>
                                        <p:cTn id="16" dur="1" fill="hold">
                                          <p:stCondLst>
                                            <p:cond delay="0"/>
                                          </p:stCondLst>
                                        </p:cTn>
                                        <p:tgtEl>
                                          <p:spTgt spid="105"/>
                                        </p:tgtEl>
                                        <p:attrNameLst>
                                          <p:attrName>style.visibility</p:attrName>
                                        </p:attrNameLst>
                                      </p:cBhvr>
                                      <p:to>
                                        <p:strVal val="visible"/>
                                      </p:to>
                                    </p:set>
                                    <p:animEffect transition="in" filter="wipe(up)">
                                      <p:cBhvr>
                                        <p:cTn id="17" dur="500"/>
                                        <p:tgtEl>
                                          <p:spTgt spid="105"/>
                                        </p:tgtEl>
                                      </p:cBhvr>
                                    </p:animEffect>
                                  </p:childTnLst>
                                </p:cTn>
                              </p:par>
                              <p:par>
                                <p:cTn id="18" presetID="53" presetClass="entr" presetSubtype="16" fill="hold" grpId="0" nodeType="withEffect">
                                  <p:stCondLst>
                                    <p:cond delay="300"/>
                                  </p:stCondLst>
                                  <p:childTnLst>
                                    <p:set>
                                      <p:cBhvr>
                                        <p:cTn id="19" dur="1" fill="hold">
                                          <p:stCondLst>
                                            <p:cond delay="0"/>
                                          </p:stCondLst>
                                        </p:cTn>
                                        <p:tgtEl>
                                          <p:spTgt spid="102"/>
                                        </p:tgtEl>
                                        <p:attrNameLst>
                                          <p:attrName>style.visibility</p:attrName>
                                        </p:attrNameLst>
                                      </p:cBhvr>
                                      <p:to>
                                        <p:strVal val="visible"/>
                                      </p:to>
                                    </p:set>
                                    <p:anim calcmode="lin" valueType="num">
                                      <p:cBhvr additive="base">
                                        <p:cTn id="20"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21" dur="500" decel="100000" fill="hold"/>
                                        <p:tgtEl>
                                          <p:spTgt spid="102"/>
                                        </p:tgtEl>
                                        <p:attrNameLst>
                                          <p:attrName>ppt_h</p:attrName>
                                        </p:attrNameLst>
                                      </p:cBhvr>
                                      <p:tavLst>
                                        <p:tav tm="0">
                                          <p:val>
                                            <p:strVal val="#ppt_h*0.55"/>
                                          </p:val>
                                        </p:tav>
                                        <p:tav tm="100000">
                                          <p:val>
                                            <p:strVal val="#ppt_h"/>
                                          </p:val>
                                        </p:tav>
                                      </p:tavLst>
                                    </p:anim>
                                    <p:animEffect transition="in" filter="fade">
                                      <p:cBhvr>
                                        <p:cTn id="22" dur="500"/>
                                        <p:tgtEl>
                                          <p:spTgt spid="102"/>
                                        </p:tgtEl>
                                      </p:cBhvr>
                                    </p:animEffect>
                                  </p:childTnLst>
                                </p:cTn>
                              </p:par>
                              <p:par>
                                <p:cTn id="23" presetID="53" presetClass="entr" presetSubtype="16" fill="hold" grpId="0" nodeType="withEffect">
                                  <p:stCondLst>
                                    <p:cond delay="450"/>
                                  </p:stCondLst>
                                  <p:childTnLst>
                                    <p:set>
                                      <p:cBhvr>
                                        <p:cTn id="24" dur="1" fill="hold">
                                          <p:stCondLst>
                                            <p:cond delay="0"/>
                                          </p:stCondLst>
                                        </p:cTn>
                                        <p:tgtEl>
                                          <p:spTgt spid="103"/>
                                        </p:tgtEl>
                                        <p:attrNameLst>
                                          <p:attrName>style.visibility</p:attrName>
                                        </p:attrNameLst>
                                      </p:cBhvr>
                                      <p:to>
                                        <p:strVal val="visible"/>
                                      </p:to>
                                    </p:set>
                                    <p:anim calcmode="lin" valueType="num">
                                      <p:cBhvr additive="base">
                                        <p:cTn id="25"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26" dur="500" decel="100000" fill="hold"/>
                                        <p:tgtEl>
                                          <p:spTgt spid="103"/>
                                        </p:tgtEl>
                                        <p:attrNameLst>
                                          <p:attrName>ppt_h</p:attrName>
                                        </p:attrNameLst>
                                      </p:cBhvr>
                                      <p:tavLst>
                                        <p:tav tm="0">
                                          <p:val>
                                            <p:strVal val="#ppt_h*0.55"/>
                                          </p:val>
                                        </p:tav>
                                        <p:tav tm="100000">
                                          <p:val>
                                            <p:strVal val="#ppt_h"/>
                                          </p:val>
                                        </p:tav>
                                      </p:tavLst>
                                    </p:anim>
                                    <p:animEffect transition="in" filter="fade">
                                      <p:cBhvr>
                                        <p:cTn id="27" dur="500"/>
                                        <p:tgtEl>
                                          <p:spTgt spid="10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6"/>
                                        </p:tgtEl>
                                        <p:attrNameLst>
                                          <p:attrName>style.visibility</p:attrName>
                                        </p:attrNameLst>
                                      </p:cBhvr>
                                      <p:to>
                                        <p:strVal val="visible"/>
                                      </p:to>
                                    </p:set>
                                    <p:animEffect transition="in" filter="fade">
                                      <p:cBhvr>
                                        <p:cTn id="32" dur="500"/>
                                        <p:tgtEl>
                                          <p:spTgt spid="106"/>
                                        </p:tgtEl>
                                      </p:cBhvr>
                                    </p:animEffect>
                                  </p:childTnLst>
                                </p:cTn>
                              </p:par>
                              <p:par>
                                <p:cTn id="33" presetID="22" presetClass="entr" presetSubtype="2" fill="hold" nodeType="withEffect">
                                  <p:stCondLst>
                                    <p:cond delay="120"/>
                                  </p:stCondLst>
                                  <p:childTnLst>
                                    <p:set>
                                      <p:cBhvr>
                                        <p:cTn id="34" dur="1" fill="hold">
                                          <p:stCondLst>
                                            <p:cond delay="0"/>
                                          </p:stCondLst>
                                        </p:cTn>
                                        <p:tgtEl>
                                          <p:spTgt spid="110"/>
                                        </p:tgtEl>
                                        <p:attrNameLst>
                                          <p:attrName>style.visibility</p:attrName>
                                        </p:attrNameLst>
                                      </p:cBhvr>
                                      <p:to>
                                        <p:strVal val="visible"/>
                                      </p:to>
                                    </p:set>
                                    <p:animEffect transition="in" filter="wipe(right)">
                                      <p:cBhvr>
                                        <p:cTn id="35" dur="500"/>
                                        <p:tgtEl>
                                          <p:spTgt spid="110"/>
                                        </p:tgtEl>
                                      </p:cBhvr>
                                    </p:animEffect>
                                  </p:childTnLst>
                                </p:cTn>
                              </p:par>
                              <p:par>
                                <p:cTn id="36" presetID="22" presetClass="entr" presetSubtype="2" fill="hold" nodeType="withEffect">
                                  <p:stCondLst>
                                    <p:cond delay="240"/>
                                  </p:stCondLst>
                                  <p:childTnLst>
                                    <p:set>
                                      <p:cBhvr>
                                        <p:cTn id="37" dur="1" fill="hold">
                                          <p:stCondLst>
                                            <p:cond delay="0"/>
                                          </p:stCondLst>
                                        </p:cTn>
                                        <p:tgtEl>
                                          <p:spTgt spid="111"/>
                                        </p:tgtEl>
                                        <p:attrNameLst>
                                          <p:attrName>style.visibility</p:attrName>
                                        </p:attrNameLst>
                                      </p:cBhvr>
                                      <p:to>
                                        <p:strVal val="visible"/>
                                      </p:to>
                                    </p:set>
                                    <p:animEffect transition="in" filter="wipe(right)">
                                      <p:cBhvr>
                                        <p:cTn id="38" dur="500"/>
                                        <p:tgtEl>
                                          <p:spTgt spid="111"/>
                                        </p:tgtEl>
                                      </p:cBhvr>
                                    </p:animEffect>
                                  </p:childTnLst>
                                </p:cTn>
                              </p:par>
                              <p:par>
                                <p:cTn id="39" presetID="42" presetClass="entr" presetSubtype="0" fill="hold" grpId="0" nodeType="withEffect">
                                  <p:stCondLst>
                                    <p:cond delay="360"/>
                                  </p:stCondLst>
                                  <p:childTnLst>
                                    <p:set>
                                      <p:cBhvr>
                                        <p:cTn id="40" dur="1" fill="hold">
                                          <p:stCondLst>
                                            <p:cond delay="0"/>
                                          </p:stCondLst>
                                        </p:cTn>
                                        <p:tgtEl>
                                          <p:spTgt spid="107"/>
                                        </p:tgtEl>
                                        <p:attrNameLst>
                                          <p:attrName>style.visibility</p:attrName>
                                        </p:attrNameLst>
                                      </p:cBhvr>
                                      <p:to>
                                        <p:strVal val="visible"/>
                                      </p:to>
                                    </p:set>
                                    <p:animEffect transition="in" filter="fade">
                                      <p:cBhvr>
                                        <p:cTn id="41" dur="500"/>
                                        <p:tgtEl>
                                          <p:spTgt spid="107"/>
                                        </p:tgtEl>
                                      </p:cBhvr>
                                    </p:animEffect>
                                    <p:anim calcmode="lin" valueType="num">
                                      <p:cBhvr additive="base">
                                        <p:cTn id="42" dur="500" decel="100000" fill="hold"/>
                                        <p:tgtEl>
                                          <p:spTgt spid="107"/>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480"/>
                                  </p:stCondLst>
                                  <p:childTnLst>
                                    <p:set>
                                      <p:cBhvr>
                                        <p:cTn id="44" dur="1" fill="hold">
                                          <p:stCondLst>
                                            <p:cond delay="0"/>
                                          </p:stCondLst>
                                        </p:cTn>
                                        <p:tgtEl>
                                          <p:spTgt spid="108"/>
                                        </p:tgtEl>
                                        <p:attrNameLst>
                                          <p:attrName>style.visibility</p:attrName>
                                        </p:attrNameLst>
                                      </p:cBhvr>
                                      <p:to>
                                        <p:strVal val="visible"/>
                                      </p:to>
                                    </p:set>
                                    <p:animEffect transition="in" filter="fade">
                                      <p:cBhvr>
                                        <p:cTn id="45" dur="500"/>
                                        <p:tgtEl>
                                          <p:spTgt spid="108"/>
                                        </p:tgtEl>
                                      </p:cBhvr>
                                    </p:animEffect>
                                    <p:anim calcmode="lin" valueType="num">
                                      <p:cBhvr additive="base">
                                        <p:cTn id="46" dur="500" decel="100000" fill="hold"/>
                                        <p:tgtEl>
                                          <p:spTgt spid="108"/>
                                        </p:tgtEl>
                                        <p:attrNameLst>
                                          <p:attrName>ppt_x</p:attrName>
                                        </p:attrNameLst>
                                      </p:cBhvr>
                                      <p:tavLst>
                                        <p:tav tm="0">
                                          <p:val>
                                            <p:strVal val="#ppt_x+0.05"/>
                                          </p:val>
                                        </p:tav>
                                        <p:tav tm="100000">
                                          <p:val>
                                            <p:strVal val="#ppt_x"/>
                                          </p:val>
                                        </p:tav>
                                      </p:tavLst>
                                    </p:anim>
                                  </p:childTnLst>
                                </p:cTn>
                              </p:par>
                              <p:par>
                                <p:cTn id="47" presetID="53" presetClass="entr" presetSubtype="16" fill="hold" grpId="0" nodeType="withEffect">
                                  <p:stCondLst>
                                    <p:cond delay="600"/>
                                  </p:stCondLst>
                                  <p:childTnLst>
                                    <p:set>
                                      <p:cBhvr>
                                        <p:cTn id="48" dur="1" fill="hold">
                                          <p:stCondLst>
                                            <p:cond delay="0"/>
                                          </p:stCondLst>
                                        </p:cTn>
                                        <p:tgtEl>
                                          <p:spTgt spid="109"/>
                                        </p:tgtEl>
                                        <p:attrNameLst>
                                          <p:attrName>style.visibility</p:attrName>
                                        </p:attrNameLst>
                                      </p:cBhvr>
                                      <p:to>
                                        <p:strVal val="visible"/>
                                      </p:to>
                                    </p:set>
                                    <p:anim calcmode="lin" valueType="num">
                                      <p:cBhvr additive="base">
                                        <p:cTn id="49" dur="50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50" dur="500" decel="100000" fill="hold"/>
                                        <p:tgtEl>
                                          <p:spTgt spid="109"/>
                                        </p:tgtEl>
                                        <p:attrNameLst>
                                          <p:attrName>ppt_h</p:attrName>
                                        </p:attrNameLst>
                                      </p:cBhvr>
                                      <p:tavLst>
                                        <p:tav tm="0">
                                          <p:val>
                                            <p:strVal val="#ppt_h*0.3"/>
                                          </p:val>
                                        </p:tav>
                                        <p:tav tm="100000">
                                          <p:val>
                                            <p:strVal val="#ppt_h*1.08"/>
                                          </p:val>
                                        </p:tav>
                                      </p:tavLst>
                                    </p:anim>
                                    <p:animEffect transition="in" filter="fade">
                                      <p:cBhvr>
                                        <p:cTn id="51" dur="250"/>
                                        <p:tgtEl>
                                          <p:spTgt spid="109"/>
                                        </p:tgtEl>
                                      </p:cBhvr>
                                    </p:animEffect>
                                    <p:anim calcmode="lin" valueType="num">
                                      <p:cBhvr additive="base">
                                        <p:cTn id="52" dur="160" fill="hold">
                                          <p:stCondLst>
                                            <p:cond delay="500"/>
                                          </p:stCondLst>
                                        </p:cTn>
                                        <p:tgtEl>
                                          <p:spTgt spid="109"/>
                                        </p:tgtEl>
                                        <p:attrNameLst>
                                          <p:attrName>ppt_w</p:attrName>
                                        </p:attrNameLst>
                                      </p:cBhvr>
                                      <p:tavLst>
                                        <p:tav tm="0">
                                          <p:val>
                                            <p:strVal val="#ppt_w*1.08"/>
                                          </p:val>
                                        </p:tav>
                                        <p:tav tm="100000">
                                          <p:val>
                                            <p:strVal val="#ppt_w"/>
                                          </p:val>
                                        </p:tav>
                                      </p:tavLst>
                                    </p:anim>
                                    <p:anim calcmode="lin" valueType="num">
                                      <p:cBhvr additive="base">
                                        <p:cTn id="53" dur="160" fill="hold">
                                          <p:stCondLst>
                                            <p:cond delay="500"/>
                                          </p:stCondLst>
                                        </p:cTn>
                                        <p:tgtEl>
                                          <p:spTgt spid="109"/>
                                        </p:tgtEl>
                                        <p:attrNameLst>
                                          <p:attrName>ppt_h</p:attrName>
                                        </p:attrNameLst>
                                      </p:cBhvr>
                                      <p:tavLst>
                                        <p:tav tm="0">
                                          <p:val>
                                            <p:strVal val="#ppt_h*1.08"/>
                                          </p:val>
                                        </p:tav>
                                        <p:tav tm="100000">
                                          <p:val>
                                            <p:strVal val="#ppt_h"/>
                                          </p:val>
                                        </p:tav>
                                      </p:tavLst>
                                    </p:anim>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12"/>
                                        </p:tgtEl>
                                        <p:attrNameLst>
                                          <p:attrName>style.visibility</p:attrName>
                                        </p:attrNameLst>
                                      </p:cBhvr>
                                      <p:to>
                                        <p:strVal val="visible"/>
                                      </p:to>
                                    </p:set>
                                    <p:animEffect transition="in" filter="fade">
                                      <p:cBhvr>
                                        <p:cTn id="58" dur="500"/>
                                        <p:tgtEl>
                                          <p:spTgt spid="112"/>
                                        </p:tgtEl>
                                      </p:cBhvr>
                                    </p:animEffect>
                                  </p:childTnLst>
                                </p:cTn>
                              </p:par>
                              <p:par>
                                <p:cTn id="59" presetID="22" presetClass="entr" presetSubtype="8" fill="hold" nodeType="withEffect">
                                  <p:stCondLst>
                                    <p:cond delay="120"/>
                                  </p:stCondLst>
                                  <p:childTnLst>
                                    <p:set>
                                      <p:cBhvr>
                                        <p:cTn id="60" dur="1" fill="hold">
                                          <p:stCondLst>
                                            <p:cond delay="0"/>
                                          </p:stCondLst>
                                        </p:cTn>
                                        <p:tgtEl>
                                          <p:spTgt spid="115"/>
                                        </p:tgtEl>
                                        <p:attrNameLst>
                                          <p:attrName>style.visibility</p:attrName>
                                        </p:attrNameLst>
                                      </p:cBhvr>
                                      <p:to>
                                        <p:strVal val="visible"/>
                                      </p:to>
                                    </p:set>
                                    <p:animEffect transition="in" filter="wipe(left)">
                                      <p:cBhvr>
                                        <p:cTn id="61" dur="500"/>
                                        <p:tgtEl>
                                          <p:spTgt spid="115"/>
                                        </p:tgtEl>
                                      </p:cBhvr>
                                    </p:animEffect>
                                  </p:childTnLst>
                                </p:cTn>
                              </p:par>
                              <p:par>
                                <p:cTn id="62" presetID="22" presetClass="entr" presetSubtype="8" fill="hold" nodeType="withEffect">
                                  <p:stCondLst>
                                    <p:cond delay="240"/>
                                  </p:stCondLst>
                                  <p:childTnLst>
                                    <p:set>
                                      <p:cBhvr>
                                        <p:cTn id="63" dur="1" fill="hold">
                                          <p:stCondLst>
                                            <p:cond delay="0"/>
                                          </p:stCondLst>
                                        </p:cTn>
                                        <p:tgtEl>
                                          <p:spTgt spid="116"/>
                                        </p:tgtEl>
                                        <p:attrNameLst>
                                          <p:attrName>style.visibility</p:attrName>
                                        </p:attrNameLst>
                                      </p:cBhvr>
                                      <p:to>
                                        <p:strVal val="visible"/>
                                      </p:to>
                                    </p:set>
                                    <p:animEffect transition="in" filter="wipe(left)">
                                      <p:cBhvr>
                                        <p:cTn id="64" dur="500"/>
                                        <p:tgtEl>
                                          <p:spTgt spid="116"/>
                                        </p:tgtEl>
                                      </p:cBhvr>
                                    </p:animEffect>
                                  </p:childTnLst>
                                </p:cTn>
                              </p:par>
                              <p:par>
                                <p:cTn id="65" presetID="42" presetClass="entr" presetSubtype="0" fill="hold" grpId="0" nodeType="withEffect">
                                  <p:stCondLst>
                                    <p:cond delay="360"/>
                                  </p:stCondLst>
                                  <p:childTnLst>
                                    <p:set>
                                      <p:cBhvr>
                                        <p:cTn id="66" dur="1" fill="hold">
                                          <p:stCondLst>
                                            <p:cond delay="0"/>
                                          </p:stCondLst>
                                        </p:cTn>
                                        <p:tgtEl>
                                          <p:spTgt spid="113"/>
                                        </p:tgtEl>
                                        <p:attrNameLst>
                                          <p:attrName>style.visibility</p:attrName>
                                        </p:attrNameLst>
                                      </p:cBhvr>
                                      <p:to>
                                        <p:strVal val="visible"/>
                                      </p:to>
                                    </p:set>
                                    <p:animEffect transition="in" filter="fade">
                                      <p:cBhvr>
                                        <p:cTn id="67" dur="500"/>
                                        <p:tgtEl>
                                          <p:spTgt spid="113"/>
                                        </p:tgtEl>
                                      </p:cBhvr>
                                    </p:animEffect>
                                    <p:anim calcmode="lin" valueType="num">
                                      <p:cBhvr additive="base">
                                        <p:cTn id="68" dur="500" decel="100000" fill="hold"/>
                                        <p:tgtEl>
                                          <p:spTgt spid="113"/>
                                        </p:tgtEl>
                                        <p:attrNameLst>
                                          <p:attrName>ppt_x</p:attrName>
                                        </p:attrNameLst>
                                      </p:cBhvr>
                                      <p:tavLst>
                                        <p:tav tm="0">
                                          <p:val>
                                            <p:strVal val="#ppt_x-0.05"/>
                                          </p:val>
                                        </p:tav>
                                        <p:tav tm="100000">
                                          <p:val>
                                            <p:strVal val="#ppt_x"/>
                                          </p:val>
                                        </p:tav>
                                      </p:tavLst>
                                    </p:anim>
                                  </p:childTnLst>
                                </p:cTn>
                              </p:par>
                              <p:par>
                                <p:cTn id="69" presetID="42" presetClass="entr" presetSubtype="0" fill="hold" grpId="0" nodeType="withEffect">
                                  <p:stCondLst>
                                    <p:cond delay="480"/>
                                  </p:stCondLst>
                                  <p:childTnLst>
                                    <p:set>
                                      <p:cBhvr>
                                        <p:cTn id="70" dur="1" fill="hold">
                                          <p:stCondLst>
                                            <p:cond delay="0"/>
                                          </p:stCondLst>
                                        </p:cTn>
                                        <p:tgtEl>
                                          <p:spTgt spid="114"/>
                                        </p:tgtEl>
                                        <p:attrNameLst>
                                          <p:attrName>style.visibility</p:attrName>
                                        </p:attrNameLst>
                                      </p:cBhvr>
                                      <p:to>
                                        <p:strVal val="visible"/>
                                      </p:to>
                                    </p:set>
                                    <p:animEffect transition="in" filter="fade">
                                      <p:cBhvr>
                                        <p:cTn id="71" dur="500"/>
                                        <p:tgtEl>
                                          <p:spTgt spid="114"/>
                                        </p:tgtEl>
                                      </p:cBhvr>
                                    </p:animEffect>
                                    <p:anim calcmode="lin" valueType="num">
                                      <p:cBhvr additive="base">
                                        <p:cTn id="72" dur="500" decel="100000" fill="hold"/>
                                        <p:tgtEl>
                                          <p:spTgt spid="114"/>
                                        </p:tgtEl>
                                        <p:attrNameLst>
                                          <p:attrName>ppt_x</p:attrName>
                                        </p:attrNameLst>
                                      </p:cBhvr>
                                      <p:tavLst>
                                        <p:tav tm="0">
                                          <p:val>
                                            <p:strVal val="#ppt_x-0.05"/>
                                          </p:val>
                                        </p:tav>
                                        <p:tav tm="100000">
                                          <p:val>
                                            <p:strVal val="#ppt_x"/>
                                          </p:val>
                                        </p:tav>
                                      </p:tavLst>
                                    </p:anim>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117"/>
                                        </p:tgtEl>
                                        <p:attrNameLst>
                                          <p:attrName>style.visibility</p:attrName>
                                        </p:attrNameLst>
                                      </p:cBhvr>
                                      <p:to>
                                        <p:strVal val="visible"/>
                                      </p:to>
                                    </p:set>
                                    <p:animEffect transition="in" filter="fade">
                                      <p:cBhvr>
                                        <p:cTn id="7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6" grpId="0" animBg="1"/>
      <p:bldP spid="107" grpId="0" animBg="1"/>
      <p:bldP spid="108" grpId="0" animBg="1"/>
      <p:bldP spid="109" grpId="0" animBg="1"/>
      <p:bldP spid="112" grpId="0" animBg="1"/>
      <p:bldP spid="113" grpId="0" animBg="1"/>
      <p:bldP spid="114" grpId="0" animBg="1"/>
      <p:bldP spid="117"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TEST DOUBLES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Five Doubles, Five Different Jobs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People call all of them "mocks". The name tells you what the double DOES in this test.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151</a:t>
            </a:r>
            <a:endParaRPr lang="en-US" sz="850" dirty="0"/>
          </a:p>
        </p:txBody>
      </p:sp>
      <p:sp>
        <p:nvSpPr>
          <p:cNvPr id="101" name="s101"/>
          <p:cNvSpPr txBox="1"/>
          <p:nvPr/>
        </p:nvSpPr>
        <p:spPr>
          <a:xfrm>
            <a:off x="680314" y="1810512"/>
            <a:ext cx="123444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DOUBLE</a:t>
            </a:r>
            <a:endParaRPr lang="en-US" sz="1050" dirty="0"/>
          </a:p>
        </p:txBody>
      </p:sp>
      <p:sp>
        <p:nvSpPr>
          <p:cNvPr id="102" name="s102"/>
          <p:cNvSpPr txBox="1"/>
          <p:nvPr/>
        </p:nvSpPr>
        <p:spPr>
          <a:xfrm>
            <a:off x="1914754" y="1810512"/>
            <a:ext cx="178308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HOW OFTEN</a:t>
            </a:r>
            <a:endParaRPr lang="en-US" sz="1050" dirty="0"/>
          </a:p>
        </p:txBody>
      </p:sp>
      <p:sp>
        <p:nvSpPr>
          <p:cNvPr id="103" name="s103"/>
          <p:cNvSpPr txBox="1"/>
          <p:nvPr/>
        </p:nvSpPr>
        <p:spPr>
          <a:xfrm>
            <a:off x="3697834" y="1810512"/>
            <a:ext cx="45720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ITS JOB  ·  WHEN TO USE IT</a:t>
            </a:r>
            <a:endParaRPr lang="en-US" sz="1050" dirty="0"/>
          </a:p>
        </p:txBody>
      </p:sp>
      <p:sp>
        <p:nvSpPr>
          <p:cNvPr id="104" name="s104"/>
          <p:cNvSpPr txBox="1"/>
          <p:nvPr/>
        </p:nvSpPr>
        <p:spPr>
          <a:xfrm>
            <a:off x="8269834" y="1810512"/>
            <a:ext cx="3498494"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HOW IT LOOKS</a:t>
            </a:r>
            <a:endParaRPr lang="en-US" sz="1050" dirty="0"/>
          </a:p>
        </p:txBody>
      </p:sp>
      <p:sp>
        <p:nvSpPr>
          <p:cNvPr id="105" name="s105"/>
          <p:cNvSpPr/>
          <p:nvPr/>
        </p:nvSpPr>
        <p:spPr>
          <a:xfrm>
            <a:off x="543154" y="2139696"/>
            <a:ext cx="11088014" cy="585216"/>
          </a:xfrm>
          <a:prstGeom prst="roundRect">
            <a:avLst>
              <a:gd name="adj" fmla="val 15000"/>
            </a:avLst>
          </a:prstGeom>
          <a:solidFill>
            <a:srgbClr val="13D0F7">
              <a:alpha val="12000"/>
            </a:srgbClr>
          </a:solidFill>
          <a:ln w="25400">
            <a:solidFill>
              <a:srgbClr val="13D0F7"/>
            </a:solidFill>
            <a:prstDash val="solid"/>
          </a:ln>
        </p:spPr>
        <p:txBody>
          <a:bodyPr wrap="square" lIns="164592" tIns="109728" rIns="137160" bIns="91440" rtlCol="0" anchor="t">
            <a:noAutofit/>
          </a:bodyPr>
          <a:lstStyle/>
          <a:p>
            <a:endParaRPr lang="en-US"/>
          </a:p>
        </p:txBody>
      </p:sp>
      <p:sp>
        <p:nvSpPr>
          <p:cNvPr id="106" name="s106"/>
          <p:cNvSpPr txBox="1"/>
          <p:nvPr/>
        </p:nvSpPr>
        <p:spPr>
          <a:xfrm>
            <a:off x="726034" y="2139696"/>
            <a:ext cx="118872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13D0F7"/>
                </a:solidFill>
                <a:latin typeface="Consolas"/>
                <a:ea typeface="Consolas"/>
                <a:cs typeface="Consolas"/>
              </a:rPr>
              <a:t>STUB</a:t>
            </a:r>
            <a:endParaRPr lang="en-US" sz="1600" dirty="0"/>
          </a:p>
        </p:txBody>
      </p:sp>
      <p:sp>
        <p:nvSpPr>
          <p:cNvPr id="107" name="s107"/>
          <p:cNvSpPr txBox="1"/>
          <p:nvPr/>
        </p:nvSpPr>
        <p:spPr>
          <a:xfrm>
            <a:off x="1914754" y="2139696"/>
            <a:ext cx="173736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BBF24"/>
                </a:solidFill>
                <a:latin typeface="Segoe UI"/>
                <a:ea typeface="Segoe UI"/>
                <a:cs typeface="Segoe UI"/>
              </a:rPr>
              <a:t>★★★  every day</a:t>
            </a:r>
            <a:endParaRPr lang="en-US" sz="1200" dirty="0"/>
          </a:p>
        </p:txBody>
      </p:sp>
      <p:sp>
        <p:nvSpPr>
          <p:cNvPr id="108" name="s108"/>
          <p:cNvSpPr txBox="1"/>
          <p:nvPr/>
        </p:nvSpPr>
        <p:spPr>
          <a:xfrm>
            <a:off x="3697834" y="2139696"/>
            <a:ext cx="448056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gives the class a FIXED ANSWER it asks for</a:t>
            </a:r>
            <a:endParaRPr lang="en-US" sz="1250" dirty="0"/>
          </a:p>
        </p:txBody>
      </p:sp>
      <p:sp>
        <p:nvSpPr>
          <p:cNvPr id="109" name="s109"/>
          <p:cNvSpPr txBox="1"/>
          <p:nvPr/>
        </p:nvSpPr>
        <p:spPr>
          <a:xfrm>
            <a:off x="8269834" y="2139696"/>
            <a:ext cx="3269894"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00" b="0" dirty="0">
                <a:solidFill>
                  <a:srgbClr val="CBD5E1"/>
                </a:solidFill>
                <a:latin typeface="Consolas"/>
                <a:ea typeface="Consolas"/>
                <a:cs typeface="Consolas"/>
              </a:rPr>
              <a:t>rates.Rate(…).Returns(48.5m)</a:t>
            </a:r>
            <a:endParaRPr lang="en-US" sz="1100" dirty="0"/>
          </a:p>
        </p:txBody>
      </p:sp>
      <p:sp>
        <p:nvSpPr>
          <p:cNvPr id="110" name="s110"/>
          <p:cNvSpPr/>
          <p:nvPr/>
        </p:nvSpPr>
        <p:spPr>
          <a:xfrm>
            <a:off x="543154" y="2816352"/>
            <a:ext cx="11088014" cy="585216"/>
          </a:xfrm>
          <a:prstGeom prst="roundRect">
            <a:avLst>
              <a:gd name="adj" fmla="val 15000"/>
            </a:avLst>
          </a:prstGeom>
          <a:solidFill>
            <a:srgbClr val="34D399">
              <a:alpha val="12000"/>
            </a:srgbClr>
          </a:solidFill>
          <a:ln w="25400">
            <a:solidFill>
              <a:srgbClr val="34D399"/>
            </a:solidFill>
            <a:prstDash val="solid"/>
          </a:ln>
        </p:spPr>
        <p:txBody>
          <a:bodyPr wrap="square" lIns="164592" tIns="109728" rIns="137160" bIns="91440" rtlCol="0" anchor="t">
            <a:noAutofit/>
          </a:bodyPr>
          <a:lstStyle/>
          <a:p>
            <a:endParaRPr lang="en-US"/>
          </a:p>
        </p:txBody>
      </p:sp>
      <p:sp>
        <p:nvSpPr>
          <p:cNvPr id="111" name="s111"/>
          <p:cNvSpPr txBox="1"/>
          <p:nvPr/>
        </p:nvSpPr>
        <p:spPr>
          <a:xfrm>
            <a:off x="726034" y="2816352"/>
            <a:ext cx="118872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34D399"/>
                </a:solidFill>
                <a:latin typeface="Consolas"/>
                <a:ea typeface="Consolas"/>
                <a:cs typeface="Consolas"/>
              </a:rPr>
              <a:t>MOCK</a:t>
            </a:r>
            <a:endParaRPr lang="en-US" sz="1600" dirty="0"/>
          </a:p>
        </p:txBody>
      </p:sp>
      <p:sp>
        <p:nvSpPr>
          <p:cNvPr id="112" name="s112"/>
          <p:cNvSpPr txBox="1"/>
          <p:nvPr/>
        </p:nvSpPr>
        <p:spPr>
          <a:xfrm>
            <a:off x="1914754" y="2816352"/>
            <a:ext cx="173736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BBF24"/>
                </a:solidFill>
                <a:latin typeface="Segoe UI"/>
                <a:ea typeface="Segoe UI"/>
                <a:cs typeface="Segoe UI"/>
              </a:rPr>
              <a:t>★★★  every day</a:t>
            </a:r>
            <a:endParaRPr lang="en-US" sz="1200" dirty="0"/>
          </a:p>
        </p:txBody>
      </p:sp>
      <p:sp>
        <p:nvSpPr>
          <p:cNvPr id="113" name="s113"/>
          <p:cNvSpPr txBox="1"/>
          <p:nvPr/>
        </p:nvSpPr>
        <p:spPr>
          <a:xfrm>
            <a:off x="3697834" y="2816352"/>
            <a:ext cx="448056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checks a CALL happened (email, log): no return value</a:t>
            </a:r>
            <a:endParaRPr lang="en-US" sz="1250" dirty="0"/>
          </a:p>
        </p:txBody>
      </p:sp>
      <p:sp>
        <p:nvSpPr>
          <p:cNvPr id="114" name="s114"/>
          <p:cNvSpPr txBox="1"/>
          <p:nvPr/>
        </p:nvSpPr>
        <p:spPr>
          <a:xfrm>
            <a:off x="8269834" y="2816352"/>
            <a:ext cx="3269894"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00" b="0" dirty="0">
                <a:solidFill>
                  <a:srgbClr val="CBD5E1"/>
                </a:solidFill>
                <a:latin typeface="Consolas"/>
                <a:ea typeface="Consolas"/>
                <a:cs typeface="Consolas"/>
              </a:rPr>
              <a:t>email.Received(1).Send(…)</a:t>
            </a:r>
            <a:endParaRPr lang="en-US" sz="1100" dirty="0"/>
          </a:p>
        </p:txBody>
      </p:sp>
      <p:sp>
        <p:nvSpPr>
          <p:cNvPr id="115" name="s115"/>
          <p:cNvSpPr/>
          <p:nvPr/>
        </p:nvSpPr>
        <p:spPr>
          <a:xfrm>
            <a:off x="543154" y="3493008"/>
            <a:ext cx="11088014" cy="585216"/>
          </a:xfrm>
          <a:prstGeom prst="roundRect">
            <a:avLst>
              <a:gd name="adj" fmla="val 15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16" name="s116"/>
          <p:cNvSpPr txBox="1"/>
          <p:nvPr/>
        </p:nvSpPr>
        <p:spPr>
          <a:xfrm>
            <a:off x="726034" y="3493008"/>
            <a:ext cx="118872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BBF24"/>
                </a:solidFill>
                <a:latin typeface="Consolas"/>
                <a:ea typeface="Consolas"/>
                <a:cs typeface="Consolas"/>
              </a:rPr>
              <a:t>FAKE</a:t>
            </a:r>
            <a:endParaRPr lang="en-US" sz="1400" dirty="0"/>
          </a:p>
        </p:txBody>
      </p:sp>
      <p:sp>
        <p:nvSpPr>
          <p:cNvPr id="117" name="s117"/>
          <p:cNvSpPr txBox="1"/>
          <p:nvPr/>
        </p:nvSpPr>
        <p:spPr>
          <a:xfrm>
            <a:off x="1914754" y="3493008"/>
            <a:ext cx="173736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94A3B8"/>
                </a:solidFill>
                <a:latin typeface="Segoe UI"/>
                <a:ea typeface="Segoe UI"/>
                <a:cs typeface="Segoe UI"/>
              </a:rPr>
              <a:t>★★   often</a:t>
            </a:r>
            <a:endParaRPr lang="en-US" sz="1200" dirty="0"/>
          </a:p>
        </p:txBody>
      </p:sp>
      <p:sp>
        <p:nvSpPr>
          <p:cNvPr id="118" name="s118"/>
          <p:cNvSpPr txBox="1"/>
          <p:nvPr/>
        </p:nvSpPr>
        <p:spPr>
          <a:xfrm>
            <a:off x="3697834" y="3493008"/>
            <a:ext cx="448056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a small WORKING version (save → find)</a:t>
            </a:r>
            <a:endParaRPr lang="en-US" sz="1250" dirty="0"/>
          </a:p>
        </p:txBody>
      </p:sp>
      <p:sp>
        <p:nvSpPr>
          <p:cNvPr id="119" name="s119"/>
          <p:cNvSpPr txBox="1"/>
          <p:nvPr/>
        </p:nvSpPr>
        <p:spPr>
          <a:xfrm>
            <a:off x="8269834" y="3493008"/>
            <a:ext cx="3269894"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00" b="0" dirty="0">
                <a:solidFill>
                  <a:srgbClr val="CBD5E1"/>
                </a:solidFill>
                <a:latin typeface="Consolas"/>
                <a:ea typeface="Consolas"/>
                <a:cs typeface="Consolas"/>
              </a:rPr>
              <a:t>InMemoryAccountRepository</a:t>
            </a:r>
            <a:endParaRPr lang="en-US" sz="1100" dirty="0"/>
          </a:p>
        </p:txBody>
      </p:sp>
      <p:sp>
        <p:nvSpPr>
          <p:cNvPr id="120" name="s120"/>
          <p:cNvSpPr/>
          <p:nvPr/>
        </p:nvSpPr>
        <p:spPr>
          <a:xfrm>
            <a:off x="543154" y="4169664"/>
            <a:ext cx="11088014" cy="585216"/>
          </a:xfrm>
          <a:prstGeom prst="roundRect">
            <a:avLst>
              <a:gd name="adj" fmla="val 15000"/>
            </a:avLst>
          </a:prstGeom>
          <a:solidFill>
            <a:srgbClr val="111B2E"/>
          </a:solidFill>
          <a:ln w="12700">
            <a:solidFill>
              <a:srgbClr val="94A3B8"/>
            </a:solidFill>
            <a:prstDash val="solid"/>
          </a:ln>
        </p:spPr>
        <p:txBody>
          <a:bodyPr wrap="square" lIns="164592" tIns="109728" rIns="137160" bIns="91440" rtlCol="0" anchor="t">
            <a:noAutofit/>
          </a:bodyPr>
          <a:lstStyle/>
          <a:p>
            <a:endParaRPr lang="en-US"/>
          </a:p>
        </p:txBody>
      </p:sp>
      <p:sp>
        <p:nvSpPr>
          <p:cNvPr id="121" name="s121"/>
          <p:cNvSpPr txBox="1"/>
          <p:nvPr/>
        </p:nvSpPr>
        <p:spPr>
          <a:xfrm>
            <a:off x="726034" y="4169664"/>
            <a:ext cx="118872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94A3B8"/>
                </a:solidFill>
                <a:latin typeface="Consolas"/>
                <a:ea typeface="Consolas"/>
                <a:cs typeface="Consolas"/>
              </a:rPr>
              <a:t>DUMMY</a:t>
            </a:r>
            <a:endParaRPr lang="en-US" sz="1400" dirty="0"/>
          </a:p>
        </p:txBody>
      </p:sp>
      <p:sp>
        <p:nvSpPr>
          <p:cNvPr id="122" name="s122"/>
          <p:cNvSpPr txBox="1"/>
          <p:nvPr/>
        </p:nvSpPr>
        <p:spPr>
          <a:xfrm>
            <a:off x="1914754" y="4169664"/>
            <a:ext cx="173736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94A3B8"/>
                </a:solidFill>
                <a:latin typeface="Segoe UI"/>
                <a:ea typeface="Segoe UI"/>
                <a:cs typeface="Segoe UI"/>
              </a:rPr>
              <a:t>★    rarely named</a:t>
            </a:r>
            <a:endParaRPr lang="en-US" sz="1200" dirty="0"/>
          </a:p>
        </p:txBody>
      </p:sp>
      <p:sp>
        <p:nvSpPr>
          <p:cNvPr id="123" name="s123"/>
          <p:cNvSpPr txBox="1"/>
          <p:nvPr/>
        </p:nvSpPr>
        <p:spPr>
          <a:xfrm>
            <a:off x="3697834" y="4169664"/>
            <a:ext cx="448056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fills a parameter the test never uses</a:t>
            </a:r>
            <a:endParaRPr lang="en-US" sz="1250" dirty="0"/>
          </a:p>
        </p:txBody>
      </p:sp>
      <p:sp>
        <p:nvSpPr>
          <p:cNvPr id="124" name="s124"/>
          <p:cNvSpPr txBox="1"/>
          <p:nvPr/>
        </p:nvSpPr>
        <p:spPr>
          <a:xfrm>
            <a:off x="8269834" y="4169664"/>
            <a:ext cx="3269894"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00" b="0" dirty="0">
                <a:solidFill>
                  <a:srgbClr val="CBD5E1"/>
                </a:solidFill>
                <a:latin typeface="Consolas"/>
                <a:ea typeface="Consolas"/>
                <a:cs typeface="Consolas"/>
              </a:rPr>
              <a:t>new DummyLogger()</a:t>
            </a:r>
            <a:endParaRPr lang="en-US" sz="1100" dirty="0"/>
          </a:p>
        </p:txBody>
      </p:sp>
      <p:sp>
        <p:nvSpPr>
          <p:cNvPr id="125" name="s125"/>
          <p:cNvSpPr/>
          <p:nvPr/>
        </p:nvSpPr>
        <p:spPr>
          <a:xfrm>
            <a:off x="543154" y="4846320"/>
            <a:ext cx="11088014" cy="585216"/>
          </a:xfrm>
          <a:prstGeom prst="roundRect">
            <a:avLst>
              <a:gd name="adj" fmla="val 15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26" name="s126"/>
          <p:cNvSpPr txBox="1"/>
          <p:nvPr/>
        </p:nvSpPr>
        <p:spPr>
          <a:xfrm>
            <a:off x="726034" y="4846320"/>
            <a:ext cx="118872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A78BFA"/>
                </a:solidFill>
                <a:latin typeface="Consolas"/>
                <a:ea typeface="Consolas"/>
                <a:cs typeface="Consolas"/>
              </a:rPr>
              <a:t>SPY</a:t>
            </a:r>
            <a:endParaRPr lang="en-US" sz="1400" dirty="0"/>
          </a:p>
        </p:txBody>
      </p:sp>
      <p:sp>
        <p:nvSpPr>
          <p:cNvPr id="127" name="s127"/>
          <p:cNvSpPr txBox="1"/>
          <p:nvPr/>
        </p:nvSpPr>
        <p:spPr>
          <a:xfrm>
            <a:off x="1914754" y="4846320"/>
            <a:ext cx="173736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94A3B8"/>
                </a:solidFill>
                <a:latin typeface="Segoe UI"/>
                <a:ea typeface="Segoe UI"/>
                <a:cs typeface="Segoe UI"/>
              </a:rPr>
              <a:t>★    rare</a:t>
            </a:r>
            <a:endParaRPr lang="en-US" sz="1200" dirty="0"/>
          </a:p>
        </p:txBody>
      </p:sp>
      <p:sp>
        <p:nvSpPr>
          <p:cNvPr id="128" name="s128"/>
          <p:cNvSpPr txBox="1"/>
          <p:nvPr/>
        </p:nvSpPr>
        <p:spPr>
          <a:xfrm>
            <a:off x="3697834" y="4846320"/>
            <a:ext cx="4480560"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hand-written: RECORDS calls, the test reads them</a:t>
            </a:r>
            <a:endParaRPr lang="en-US" sz="1250" dirty="0"/>
          </a:p>
        </p:txBody>
      </p:sp>
      <p:sp>
        <p:nvSpPr>
          <p:cNvPr id="129" name="s129"/>
          <p:cNvSpPr txBox="1"/>
          <p:nvPr/>
        </p:nvSpPr>
        <p:spPr>
          <a:xfrm>
            <a:off x="8269834" y="4846320"/>
            <a:ext cx="3269894" cy="58521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00" b="0" dirty="0">
                <a:solidFill>
                  <a:srgbClr val="CBD5E1"/>
                </a:solidFill>
                <a:latin typeface="Consolas"/>
                <a:ea typeface="Consolas"/>
                <a:cs typeface="Consolas"/>
              </a:rPr>
              <a:t>spy.Sent  (Received() does it)</a:t>
            </a:r>
            <a:endParaRPr lang="en-US" sz="1100" dirty="0"/>
          </a:p>
        </p:txBody>
      </p:sp>
      <p:sp>
        <p:nvSpPr>
          <p:cNvPr id="130" name="s130"/>
          <p:cNvSpPr/>
          <p:nvPr/>
        </p:nvSpPr>
        <p:spPr>
          <a:xfrm>
            <a:off x="543154" y="5614416"/>
            <a:ext cx="11088014" cy="502920"/>
          </a:xfrm>
          <a:prstGeom prst="roundRect">
            <a:avLst>
              <a:gd name="adj" fmla="val 15000"/>
            </a:avLst>
          </a:prstGeom>
          <a:solidFill>
            <a:srgbClr val="111B2E"/>
          </a:solidFill>
          <a:ln w="12700">
            <a:solidFill>
              <a:srgbClr val="13D0F7"/>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0" dirty="0">
                <a:solidFill>
                  <a:srgbClr val="94A3B8"/>
                </a:solidFill>
                <a:latin typeface="Segoe UI"/>
                <a:ea typeface="Segoe UI"/>
                <a:cs typeface="Segoe UI"/>
              </a:rPr>
              <a:t>Our order:  </a:t>
            </a:r>
            <a:r>
              <a:rPr lang="en-US" sz="1300" b="1" dirty="0">
                <a:solidFill>
                  <a:srgbClr val="FFFFFF"/>
                </a:solidFill>
                <a:latin typeface="Segoe UI"/>
                <a:ea typeface="Segoe UI"/>
                <a:cs typeface="Segoe UI"/>
              </a:rPr>
              <a:t>dummy → fake → spy</a:t>
            </a:r>
            <a:r>
              <a:rPr lang="en-US" sz="1300" b="0" dirty="0">
                <a:solidFill>
                  <a:srgbClr val="94A3B8"/>
                </a:solidFill>
                <a:latin typeface="Segoe UI"/>
                <a:ea typeface="Segoe UI"/>
                <a:cs typeface="Segoe UI"/>
              </a:rPr>
              <a:t>  by hand,  then  </a:t>
            </a:r>
            <a:r>
              <a:rPr lang="en-US" sz="1300" b="1" dirty="0">
                <a:solidFill>
                  <a:srgbClr val="13D0F7"/>
                </a:solidFill>
                <a:latin typeface="Segoe UI"/>
                <a:ea typeface="Segoe UI"/>
                <a:cs typeface="Segoe UI"/>
              </a:rPr>
              <a:t>stub → mock</a:t>
            </a:r>
            <a:r>
              <a:rPr lang="en-US" sz="1300" b="0" dirty="0">
                <a:solidFill>
                  <a:srgbClr val="94A3B8"/>
                </a:solidFill>
                <a:latin typeface="Segoe UI"/>
                <a:ea typeface="Segoe UI"/>
                <a:cs typeface="Segoe UI"/>
              </a:rPr>
              <a:t>  with NSubstitute (the two you will use most).</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500"/>
                                        <p:tgtEl>
                                          <p:spTgt spid="105"/>
                                        </p:tgtEl>
                                      </p:cBhvr>
                                    </p:animEffect>
                                    <p:anim calcmode="lin" valueType="num">
                                      <p:cBhvr additive="base">
                                        <p:cTn id="8" dur="500" decel="100000" fill="hold"/>
                                        <p:tgtEl>
                                          <p:spTgt spid="105"/>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6"/>
                                        </p:tgtEl>
                                        <p:attrNameLst>
                                          <p:attrName>style.visibility</p:attrName>
                                        </p:attrNameLst>
                                      </p:cBhvr>
                                      <p:to>
                                        <p:strVal val="visible"/>
                                      </p:to>
                                    </p:set>
                                    <p:animEffect transition="in" filter="fade">
                                      <p:cBhvr>
                                        <p:cTn id="11" dur="500"/>
                                        <p:tgtEl>
                                          <p:spTgt spid="106"/>
                                        </p:tgtEl>
                                      </p:cBhvr>
                                    </p:animEffect>
                                    <p:anim calcmode="lin" valueType="num">
                                      <p:cBhvr additive="base">
                                        <p:cTn id="12" dur="500" decel="100000" fill="hold"/>
                                        <p:tgtEl>
                                          <p:spTgt spid="106"/>
                                        </p:tgtEl>
                                        <p:attrNameLst>
                                          <p:attrName>ppt_x</p:attrName>
                                        </p:attrNameLst>
                                      </p:cBhvr>
                                      <p:tavLst>
                                        <p:tav tm="0">
                                          <p:val>
                                            <p:strVal val="#ppt_x-0.05"/>
                                          </p:val>
                                        </p:tav>
                                        <p:tav tm="100000">
                                          <p:val>
                                            <p:strVal val="#ppt_x"/>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7"/>
                                        </p:tgtEl>
                                        <p:attrNameLst>
                                          <p:attrName>style.visibility</p:attrName>
                                        </p:attrNameLst>
                                      </p:cBhvr>
                                      <p:to>
                                        <p:strVal val="visible"/>
                                      </p:to>
                                    </p:set>
                                    <p:animEffect transition="in" filter="fade">
                                      <p:cBhvr>
                                        <p:cTn id="15" dur="500"/>
                                        <p:tgtEl>
                                          <p:spTgt spid="107"/>
                                        </p:tgtEl>
                                      </p:cBhvr>
                                    </p:animEffect>
                                    <p:anim calcmode="lin" valueType="num">
                                      <p:cBhvr additive="base">
                                        <p:cTn id="16" dur="500" decel="100000" fill="hold"/>
                                        <p:tgtEl>
                                          <p:spTgt spid="107"/>
                                        </p:tgtEl>
                                        <p:attrNameLst>
                                          <p:attrName>ppt_x</p:attrName>
                                        </p:attrNameLst>
                                      </p:cBhvr>
                                      <p:tavLst>
                                        <p:tav tm="0">
                                          <p:val>
                                            <p:strVal val="#ppt_x-0.05"/>
                                          </p:val>
                                        </p:tav>
                                        <p:tav tm="100000">
                                          <p:val>
                                            <p:strVal val="#ppt_x"/>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8"/>
                                        </p:tgtEl>
                                        <p:attrNameLst>
                                          <p:attrName>style.visibility</p:attrName>
                                        </p:attrNameLst>
                                      </p:cBhvr>
                                      <p:to>
                                        <p:strVal val="visible"/>
                                      </p:to>
                                    </p:set>
                                    <p:animEffect transition="in" filter="fade">
                                      <p:cBhvr>
                                        <p:cTn id="19" dur="500"/>
                                        <p:tgtEl>
                                          <p:spTgt spid="108"/>
                                        </p:tgtEl>
                                      </p:cBhvr>
                                    </p:animEffect>
                                    <p:anim calcmode="lin" valueType="num">
                                      <p:cBhvr additive="base">
                                        <p:cTn id="20" dur="500" decel="100000" fill="hold"/>
                                        <p:tgtEl>
                                          <p:spTgt spid="108"/>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9"/>
                                        </p:tgtEl>
                                        <p:attrNameLst>
                                          <p:attrName>style.visibility</p:attrName>
                                        </p:attrNameLst>
                                      </p:cBhvr>
                                      <p:to>
                                        <p:strVal val="visible"/>
                                      </p:to>
                                    </p:set>
                                    <p:animEffect transition="in" filter="fade">
                                      <p:cBhvr>
                                        <p:cTn id="23" dur="500"/>
                                        <p:tgtEl>
                                          <p:spTgt spid="109"/>
                                        </p:tgtEl>
                                      </p:cBhvr>
                                    </p:animEffect>
                                    <p:anim calcmode="lin" valueType="num">
                                      <p:cBhvr additive="base">
                                        <p:cTn id="24" dur="500" decel="100000" fill="hold"/>
                                        <p:tgtEl>
                                          <p:spTgt spid="109"/>
                                        </p:tgtEl>
                                        <p:attrNameLst>
                                          <p:attrName>ppt_x</p:attrName>
                                        </p:attrNameLst>
                                      </p:cBhvr>
                                      <p:tavLst>
                                        <p:tav tm="0">
                                          <p:val>
                                            <p:strVal val="#ppt_x-0.05"/>
                                          </p:val>
                                        </p:tav>
                                        <p:tav tm="100000">
                                          <p:val>
                                            <p:strVal val="#ppt_x"/>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10"/>
                                        </p:tgtEl>
                                        <p:attrNameLst>
                                          <p:attrName>style.visibility</p:attrName>
                                        </p:attrNameLst>
                                      </p:cBhvr>
                                      <p:to>
                                        <p:strVal val="visible"/>
                                      </p:to>
                                    </p:set>
                                    <p:animEffect transition="in" filter="fade">
                                      <p:cBhvr>
                                        <p:cTn id="29" dur="500"/>
                                        <p:tgtEl>
                                          <p:spTgt spid="110"/>
                                        </p:tgtEl>
                                      </p:cBhvr>
                                    </p:animEffect>
                                    <p:anim calcmode="lin" valueType="num">
                                      <p:cBhvr additive="base">
                                        <p:cTn id="30" dur="500" decel="100000" fill="hold"/>
                                        <p:tgtEl>
                                          <p:spTgt spid="110"/>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11"/>
                                        </p:tgtEl>
                                        <p:attrNameLst>
                                          <p:attrName>style.visibility</p:attrName>
                                        </p:attrNameLst>
                                      </p:cBhvr>
                                      <p:to>
                                        <p:strVal val="visible"/>
                                      </p:to>
                                    </p:set>
                                    <p:animEffect transition="in" filter="fade">
                                      <p:cBhvr>
                                        <p:cTn id="33" dur="500"/>
                                        <p:tgtEl>
                                          <p:spTgt spid="111"/>
                                        </p:tgtEl>
                                      </p:cBhvr>
                                    </p:animEffect>
                                    <p:anim calcmode="lin" valueType="num">
                                      <p:cBhvr additive="base">
                                        <p:cTn id="34" dur="500" decel="100000" fill="hold"/>
                                        <p:tgtEl>
                                          <p:spTgt spid="111"/>
                                        </p:tgtEl>
                                        <p:attrNameLst>
                                          <p:attrName>ppt_x</p:attrName>
                                        </p:attrNameLst>
                                      </p:cBhvr>
                                      <p:tavLst>
                                        <p:tav tm="0">
                                          <p:val>
                                            <p:strVal val="#ppt_x-0.05"/>
                                          </p:val>
                                        </p:tav>
                                        <p:tav tm="100000">
                                          <p:val>
                                            <p:strVal val="#ppt_x"/>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12"/>
                                        </p:tgtEl>
                                        <p:attrNameLst>
                                          <p:attrName>style.visibility</p:attrName>
                                        </p:attrNameLst>
                                      </p:cBhvr>
                                      <p:to>
                                        <p:strVal val="visible"/>
                                      </p:to>
                                    </p:set>
                                    <p:animEffect transition="in" filter="fade">
                                      <p:cBhvr>
                                        <p:cTn id="37" dur="500"/>
                                        <p:tgtEl>
                                          <p:spTgt spid="112"/>
                                        </p:tgtEl>
                                      </p:cBhvr>
                                    </p:animEffect>
                                    <p:anim calcmode="lin" valueType="num">
                                      <p:cBhvr additive="base">
                                        <p:cTn id="38" dur="500" decel="100000" fill="hold"/>
                                        <p:tgtEl>
                                          <p:spTgt spid="112"/>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13"/>
                                        </p:tgtEl>
                                        <p:attrNameLst>
                                          <p:attrName>style.visibility</p:attrName>
                                        </p:attrNameLst>
                                      </p:cBhvr>
                                      <p:to>
                                        <p:strVal val="visible"/>
                                      </p:to>
                                    </p:set>
                                    <p:animEffect transition="in" filter="fade">
                                      <p:cBhvr>
                                        <p:cTn id="41" dur="500"/>
                                        <p:tgtEl>
                                          <p:spTgt spid="113"/>
                                        </p:tgtEl>
                                      </p:cBhvr>
                                    </p:animEffect>
                                    <p:anim calcmode="lin" valueType="num">
                                      <p:cBhvr additive="base">
                                        <p:cTn id="42" dur="500" decel="100000" fill="hold"/>
                                        <p:tgtEl>
                                          <p:spTgt spid="113"/>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14"/>
                                        </p:tgtEl>
                                        <p:attrNameLst>
                                          <p:attrName>style.visibility</p:attrName>
                                        </p:attrNameLst>
                                      </p:cBhvr>
                                      <p:to>
                                        <p:strVal val="visible"/>
                                      </p:to>
                                    </p:set>
                                    <p:animEffect transition="in" filter="fade">
                                      <p:cBhvr>
                                        <p:cTn id="45" dur="500"/>
                                        <p:tgtEl>
                                          <p:spTgt spid="114"/>
                                        </p:tgtEl>
                                      </p:cBhvr>
                                    </p:animEffect>
                                    <p:anim calcmode="lin" valueType="num">
                                      <p:cBhvr additive="base">
                                        <p:cTn id="46" dur="500" decel="100000" fill="hold"/>
                                        <p:tgtEl>
                                          <p:spTgt spid="114"/>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15"/>
                                        </p:tgtEl>
                                        <p:attrNameLst>
                                          <p:attrName>style.visibility</p:attrName>
                                        </p:attrNameLst>
                                      </p:cBhvr>
                                      <p:to>
                                        <p:strVal val="visible"/>
                                      </p:to>
                                    </p:set>
                                    <p:animEffect transition="in" filter="fade">
                                      <p:cBhvr>
                                        <p:cTn id="51" dur="500"/>
                                        <p:tgtEl>
                                          <p:spTgt spid="115"/>
                                        </p:tgtEl>
                                      </p:cBhvr>
                                    </p:animEffect>
                                    <p:anim calcmode="lin" valueType="num">
                                      <p:cBhvr additive="base">
                                        <p:cTn id="52" dur="500" decel="100000" fill="hold"/>
                                        <p:tgtEl>
                                          <p:spTgt spid="115"/>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6"/>
                                        </p:tgtEl>
                                        <p:attrNameLst>
                                          <p:attrName>style.visibility</p:attrName>
                                        </p:attrNameLst>
                                      </p:cBhvr>
                                      <p:to>
                                        <p:strVal val="visible"/>
                                      </p:to>
                                    </p:set>
                                    <p:animEffect transition="in" filter="fade">
                                      <p:cBhvr>
                                        <p:cTn id="55" dur="500"/>
                                        <p:tgtEl>
                                          <p:spTgt spid="116"/>
                                        </p:tgtEl>
                                      </p:cBhvr>
                                    </p:animEffect>
                                    <p:anim calcmode="lin" valueType="num">
                                      <p:cBhvr additive="base">
                                        <p:cTn id="56" dur="500" decel="100000" fill="hold"/>
                                        <p:tgtEl>
                                          <p:spTgt spid="116"/>
                                        </p:tgtEl>
                                        <p:attrNameLst>
                                          <p:attrName>ppt_x</p:attrName>
                                        </p:attrNameLst>
                                      </p:cBhvr>
                                      <p:tavLst>
                                        <p:tav tm="0">
                                          <p:val>
                                            <p:strVal val="#ppt_x-0.05"/>
                                          </p:val>
                                        </p:tav>
                                        <p:tav tm="100000">
                                          <p:val>
                                            <p:strVal val="#ppt_x"/>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7"/>
                                        </p:tgtEl>
                                        <p:attrNameLst>
                                          <p:attrName>style.visibility</p:attrName>
                                        </p:attrNameLst>
                                      </p:cBhvr>
                                      <p:to>
                                        <p:strVal val="visible"/>
                                      </p:to>
                                    </p:set>
                                    <p:animEffect transition="in" filter="fade">
                                      <p:cBhvr>
                                        <p:cTn id="59" dur="500"/>
                                        <p:tgtEl>
                                          <p:spTgt spid="117"/>
                                        </p:tgtEl>
                                      </p:cBhvr>
                                    </p:animEffect>
                                    <p:anim calcmode="lin" valueType="num">
                                      <p:cBhvr additive="base">
                                        <p:cTn id="60" dur="500" decel="100000" fill="hold"/>
                                        <p:tgtEl>
                                          <p:spTgt spid="117"/>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8"/>
                                        </p:tgtEl>
                                        <p:attrNameLst>
                                          <p:attrName>style.visibility</p:attrName>
                                        </p:attrNameLst>
                                      </p:cBhvr>
                                      <p:to>
                                        <p:strVal val="visible"/>
                                      </p:to>
                                    </p:set>
                                    <p:animEffect transition="in" filter="fade">
                                      <p:cBhvr>
                                        <p:cTn id="63" dur="500"/>
                                        <p:tgtEl>
                                          <p:spTgt spid="118"/>
                                        </p:tgtEl>
                                      </p:cBhvr>
                                    </p:animEffect>
                                    <p:anim calcmode="lin" valueType="num">
                                      <p:cBhvr additive="base">
                                        <p:cTn id="64" dur="500" decel="100000" fill="hold"/>
                                        <p:tgtEl>
                                          <p:spTgt spid="118"/>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9"/>
                                        </p:tgtEl>
                                        <p:attrNameLst>
                                          <p:attrName>style.visibility</p:attrName>
                                        </p:attrNameLst>
                                      </p:cBhvr>
                                      <p:to>
                                        <p:strVal val="visible"/>
                                      </p:to>
                                    </p:set>
                                    <p:animEffect transition="in" filter="fade">
                                      <p:cBhvr>
                                        <p:cTn id="67" dur="500"/>
                                        <p:tgtEl>
                                          <p:spTgt spid="119"/>
                                        </p:tgtEl>
                                      </p:cBhvr>
                                    </p:animEffect>
                                    <p:anim calcmode="lin" valueType="num">
                                      <p:cBhvr additive="base">
                                        <p:cTn id="68" dur="500" decel="100000" fill="hold"/>
                                        <p:tgtEl>
                                          <p:spTgt spid="119"/>
                                        </p:tgtEl>
                                        <p:attrNameLst>
                                          <p:attrName>ppt_x</p:attrName>
                                        </p:attrNameLst>
                                      </p:cBhvr>
                                      <p:tavLst>
                                        <p:tav tm="0">
                                          <p:val>
                                            <p:strVal val="#ppt_x-0.05"/>
                                          </p:val>
                                        </p:tav>
                                        <p:tav tm="100000">
                                          <p:val>
                                            <p:strVal val="#ppt_x"/>
                                          </p:val>
                                        </p:tav>
                                      </p:tavLst>
                                    </p:anim>
                                  </p:childTnLst>
                                </p:cTn>
                              </p:par>
                            </p:childTnLst>
                          </p:cTn>
                        </p:par>
                      </p:childTnLst>
                    </p:cTn>
                  </p:par>
                  <p:par>
                    <p:cTn id="69" fill="hold">
                      <p:stCondLst>
                        <p:cond delay="indefinite"/>
                      </p:stCondLst>
                      <p:childTnLst>
                        <p:par>
                          <p:cTn id="70" fill="hold">
                            <p:stCondLst>
                              <p:cond delay="0"/>
                            </p:stCondLst>
                            <p:childTnLst>
                              <p:par>
                                <p:cTn id="71" presetID="42" presetClass="entr" presetSubtype="0" fill="hold" grpId="0" nodeType="clickEffect">
                                  <p:stCondLst>
                                    <p:cond delay="0"/>
                                  </p:stCondLst>
                                  <p:childTnLst>
                                    <p:set>
                                      <p:cBhvr>
                                        <p:cTn id="72" dur="1" fill="hold">
                                          <p:stCondLst>
                                            <p:cond delay="0"/>
                                          </p:stCondLst>
                                        </p:cTn>
                                        <p:tgtEl>
                                          <p:spTgt spid="120"/>
                                        </p:tgtEl>
                                        <p:attrNameLst>
                                          <p:attrName>style.visibility</p:attrName>
                                        </p:attrNameLst>
                                      </p:cBhvr>
                                      <p:to>
                                        <p:strVal val="visible"/>
                                      </p:to>
                                    </p:set>
                                    <p:animEffect transition="in" filter="fade">
                                      <p:cBhvr>
                                        <p:cTn id="73" dur="500"/>
                                        <p:tgtEl>
                                          <p:spTgt spid="120"/>
                                        </p:tgtEl>
                                      </p:cBhvr>
                                    </p:animEffect>
                                    <p:anim calcmode="lin" valueType="num">
                                      <p:cBhvr additive="base">
                                        <p:cTn id="74" dur="500" decel="100000" fill="hold"/>
                                        <p:tgtEl>
                                          <p:spTgt spid="120"/>
                                        </p:tgtEl>
                                        <p:attrNameLst>
                                          <p:attrName>ppt_x</p:attrName>
                                        </p:attrNameLst>
                                      </p:cBhvr>
                                      <p:tavLst>
                                        <p:tav tm="0">
                                          <p:val>
                                            <p:strVal val="#ppt_x-0.05"/>
                                          </p:val>
                                        </p:tav>
                                        <p:tav tm="100000">
                                          <p:val>
                                            <p:strVal val="#ppt_x"/>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121"/>
                                        </p:tgtEl>
                                        <p:attrNameLst>
                                          <p:attrName>style.visibility</p:attrName>
                                        </p:attrNameLst>
                                      </p:cBhvr>
                                      <p:to>
                                        <p:strVal val="visible"/>
                                      </p:to>
                                    </p:set>
                                    <p:animEffect transition="in" filter="fade">
                                      <p:cBhvr>
                                        <p:cTn id="77" dur="500"/>
                                        <p:tgtEl>
                                          <p:spTgt spid="121"/>
                                        </p:tgtEl>
                                      </p:cBhvr>
                                    </p:animEffect>
                                    <p:anim calcmode="lin" valueType="num">
                                      <p:cBhvr additive="base">
                                        <p:cTn id="78" dur="500" decel="100000" fill="hold"/>
                                        <p:tgtEl>
                                          <p:spTgt spid="121"/>
                                        </p:tgtEl>
                                        <p:attrNameLst>
                                          <p:attrName>ppt_x</p:attrName>
                                        </p:attrNameLst>
                                      </p:cBhvr>
                                      <p:tavLst>
                                        <p:tav tm="0">
                                          <p:val>
                                            <p:strVal val="#ppt_x-0.05"/>
                                          </p:val>
                                        </p:tav>
                                        <p:tav tm="100000">
                                          <p:val>
                                            <p:strVal val="#ppt_x"/>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22"/>
                                        </p:tgtEl>
                                        <p:attrNameLst>
                                          <p:attrName>style.visibility</p:attrName>
                                        </p:attrNameLst>
                                      </p:cBhvr>
                                      <p:to>
                                        <p:strVal val="visible"/>
                                      </p:to>
                                    </p:set>
                                    <p:animEffect transition="in" filter="fade">
                                      <p:cBhvr>
                                        <p:cTn id="81" dur="500"/>
                                        <p:tgtEl>
                                          <p:spTgt spid="122"/>
                                        </p:tgtEl>
                                      </p:cBhvr>
                                    </p:animEffect>
                                    <p:anim calcmode="lin" valueType="num">
                                      <p:cBhvr additive="base">
                                        <p:cTn id="82" dur="500" decel="100000" fill="hold"/>
                                        <p:tgtEl>
                                          <p:spTgt spid="122"/>
                                        </p:tgtEl>
                                        <p:attrNameLst>
                                          <p:attrName>ppt_x</p:attrName>
                                        </p:attrNameLst>
                                      </p:cBhvr>
                                      <p:tavLst>
                                        <p:tav tm="0">
                                          <p:val>
                                            <p:strVal val="#ppt_x-0.05"/>
                                          </p:val>
                                        </p:tav>
                                        <p:tav tm="100000">
                                          <p:val>
                                            <p:strVal val="#ppt_x"/>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23"/>
                                        </p:tgtEl>
                                        <p:attrNameLst>
                                          <p:attrName>style.visibility</p:attrName>
                                        </p:attrNameLst>
                                      </p:cBhvr>
                                      <p:to>
                                        <p:strVal val="visible"/>
                                      </p:to>
                                    </p:set>
                                    <p:animEffect transition="in" filter="fade">
                                      <p:cBhvr>
                                        <p:cTn id="85" dur="500"/>
                                        <p:tgtEl>
                                          <p:spTgt spid="123"/>
                                        </p:tgtEl>
                                      </p:cBhvr>
                                    </p:animEffect>
                                    <p:anim calcmode="lin" valueType="num">
                                      <p:cBhvr additive="base">
                                        <p:cTn id="86" dur="500" decel="100000" fill="hold"/>
                                        <p:tgtEl>
                                          <p:spTgt spid="123"/>
                                        </p:tgtEl>
                                        <p:attrNameLst>
                                          <p:attrName>ppt_x</p:attrName>
                                        </p:attrNameLst>
                                      </p:cBhvr>
                                      <p:tavLst>
                                        <p:tav tm="0">
                                          <p:val>
                                            <p:strVal val="#ppt_x-0.05"/>
                                          </p:val>
                                        </p:tav>
                                        <p:tav tm="100000">
                                          <p:val>
                                            <p:strVal val="#ppt_x"/>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24"/>
                                        </p:tgtEl>
                                        <p:attrNameLst>
                                          <p:attrName>style.visibility</p:attrName>
                                        </p:attrNameLst>
                                      </p:cBhvr>
                                      <p:to>
                                        <p:strVal val="visible"/>
                                      </p:to>
                                    </p:set>
                                    <p:animEffect transition="in" filter="fade">
                                      <p:cBhvr>
                                        <p:cTn id="89" dur="500"/>
                                        <p:tgtEl>
                                          <p:spTgt spid="124"/>
                                        </p:tgtEl>
                                      </p:cBhvr>
                                    </p:animEffect>
                                    <p:anim calcmode="lin" valueType="num">
                                      <p:cBhvr additive="base">
                                        <p:cTn id="90" dur="500" decel="100000" fill="hold"/>
                                        <p:tgtEl>
                                          <p:spTgt spid="124"/>
                                        </p:tgtEl>
                                        <p:attrNameLst>
                                          <p:attrName>ppt_x</p:attrName>
                                        </p:attrNameLst>
                                      </p:cBhvr>
                                      <p:tavLst>
                                        <p:tav tm="0">
                                          <p:val>
                                            <p:strVal val="#ppt_x-0.05"/>
                                          </p:val>
                                        </p:tav>
                                        <p:tav tm="100000">
                                          <p:val>
                                            <p:strVal val="#ppt_x"/>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grpId="0" nodeType="clickEffect">
                                  <p:stCondLst>
                                    <p:cond delay="0"/>
                                  </p:stCondLst>
                                  <p:childTnLst>
                                    <p:set>
                                      <p:cBhvr>
                                        <p:cTn id="94" dur="1" fill="hold">
                                          <p:stCondLst>
                                            <p:cond delay="0"/>
                                          </p:stCondLst>
                                        </p:cTn>
                                        <p:tgtEl>
                                          <p:spTgt spid="125"/>
                                        </p:tgtEl>
                                        <p:attrNameLst>
                                          <p:attrName>style.visibility</p:attrName>
                                        </p:attrNameLst>
                                      </p:cBhvr>
                                      <p:to>
                                        <p:strVal val="visible"/>
                                      </p:to>
                                    </p:set>
                                    <p:animEffect transition="in" filter="fade">
                                      <p:cBhvr>
                                        <p:cTn id="95" dur="500"/>
                                        <p:tgtEl>
                                          <p:spTgt spid="125"/>
                                        </p:tgtEl>
                                      </p:cBhvr>
                                    </p:animEffect>
                                    <p:anim calcmode="lin" valueType="num">
                                      <p:cBhvr additive="base">
                                        <p:cTn id="96" dur="500" decel="100000" fill="hold"/>
                                        <p:tgtEl>
                                          <p:spTgt spid="125"/>
                                        </p:tgtEl>
                                        <p:attrNameLst>
                                          <p:attrName>ppt_x</p:attrName>
                                        </p:attrNameLst>
                                      </p:cBhvr>
                                      <p:tavLst>
                                        <p:tav tm="0">
                                          <p:val>
                                            <p:strVal val="#ppt_x-0.05"/>
                                          </p:val>
                                        </p:tav>
                                        <p:tav tm="100000">
                                          <p:val>
                                            <p:strVal val="#ppt_x"/>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6"/>
                                        </p:tgtEl>
                                        <p:attrNameLst>
                                          <p:attrName>style.visibility</p:attrName>
                                        </p:attrNameLst>
                                      </p:cBhvr>
                                      <p:to>
                                        <p:strVal val="visible"/>
                                      </p:to>
                                    </p:set>
                                    <p:animEffect transition="in" filter="fade">
                                      <p:cBhvr>
                                        <p:cTn id="99" dur="500"/>
                                        <p:tgtEl>
                                          <p:spTgt spid="126"/>
                                        </p:tgtEl>
                                      </p:cBhvr>
                                    </p:animEffect>
                                    <p:anim calcmode="lin" valueType="num">
                                      <p:cBhvr additive="base">
                                        <p:cTn id="100" dur="500" decel="100000" fill="hold"/>
                                        <p:tgtEl>
                                          <p:spTgt spid="126"/>
                                        </p:tgtEl>
                                        <p:attrNameLst>
                                          <p:attrName>ppt_x</p:attrName>
                                        </p:attrNameLst>
                                      </p:cBhvr>
                                      <p:tavLst>
                                        <p:tav tm="0">
                                          <p:val>
                                            <p:strVal val="#ppt_x-0.05"/>
                                          </p:val>
                                        </p:tav>
                                        <p:tav tm="100000">
                                          <p:val>
                                            <p:strVal val="#ppt_x"/>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27"/>
                                        </p:tgtEl>
                                        <p:attrNameLst>
                                          <p:attrName>style.visibility</p:attrName>
                                        </p:attrNameLst>
                                      </p:cBhvr>
                                      <p:to>
                                        <p:strVal val="visible"/>
                                      </p:to>
                                    </p:set>
                                    <p:animEffect transition="in" filter="fade">
                                      <p:cBhvr>
                                        <p:cTn id="103" dur="500"/>
                                        <p:tgtEl>
                                          <p:spTgt spid="127"/>
                                        </p:tgtEl>
                                      </p:cBhvr>
                                    </p:animEffect>
                                    <p:anim calcmode="lin" valueType="num">
                                      <p:cBhvr additive="base">
                                        <p:cTn id="104" dur="500" decel="100000" fill="hold"/>
                                        <p:tgtEl>
                                          <p:spTgt spid="127"/>
                                        </p:tgtEl>
                                        <p:attrNameLst>
                                          <p:attrName>ppt_x</p:attrName>
                                        </p:attrNameLst>
                                      </p:cBhvr>
                                      <p:tavLst>
                                        <p:tav tm="0">
                                          <p:val>
                                            <p:strVal val="#ppt_x-0.05"/>
                                          </p:val>
                                        </p:tav>
                                        <p:tav tm="100000">
                                          <p:val>
                                            <p:strVal val="#ppt_x"/>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28"/>
                                        </p:tgtEl>
                                        <p:attrNameLst>
                                          <p:attrName>style.visibility</p:attrName>
                                        </p:attrNameLst>
                                      </p:cBhvr>
                                      <p:to>
                                        <p:strVal val="visible"/>
                                      </p:to>
                                    </p:set>
                                    <p:animEffect transition="in" filter="fade">
                                      <p:cBhvr>
                                        <p:cTn id="107" dur="500"/>
                                        <p:tgtEl>
                                          <p:spTgt spid="128"/>
                                        </p:tgtEl>
                                      </p:cBhvr>
                                    </p:animEffect>
                                    <p:anim calcmode="lin" valueType="num">
                                      <p:cBhvr additive="base">
                                        <p:cTn id="108" dur="500" decel="100000" fill="hold"/>
                                        <p:tgtEl>
                                          <p:spTgt spid="128"/>
                                        </p:tgtEl>
                                        <p:attrNameLst>
                                          <p:attrName>ppt_x</p:attrName>
                                        </p:attrNameLst>
                                      </p:cBhvr>
                                      <p:tavLst>
                                        <p:tav tm="0">
                                          <p:val>
                                            <p:strVal val="#ppt_x-0.05"/>
                                          </p:val>
                                        </p:tav>
                                        <p:tav tm="100000">
                                          <p:val>
                                            <p:strVal val="#ppt_x"/>
                                          </p:val>
                                        </p:tav>
                                      </p:tavLst>
                                    </p:anim>
                                  </p:childTnLst>
                                </p:cTn>
                              </p:par>
                              <p:par>
                                <p:cTn id="109" presetID="42" presetClass="entr" presetSubtype="0" fill="hold" grpId="0" nodeType="withEffect">
                                  <p:stCondLst>
                                    <p:cond delay="0"/>
                                  </p:stCondLst>
                                  <p:childTnLst>
                                    <p:set>
                                      <p:cBhvr>
                                        <p:cTn id="110" dur="1" fill="hold">
                                          <p:stCondLst>
                                            <p:cond delay="0"/>
                                          </p:stCondLst>
                                        </p:cTn>
                                        <p:tgtEl>
                                          <p:spTgt spid="129"/>
                                        </p:tgtEl>
                                        <p:attrNameLst>
                                          <p:attrName>style.visibility</p:attrName>
                                        </p:attrNameLst>
                                      </p:cBhvr>
                                      <p:to>
                                        <p:strVal val="visible"/>
                                      </p:to>
                                    </p:set>
                                    <p:animEffect transition="in" filter="fade">
                                      <p:cBhvr>
                                        <p:cTn id="111" dur="500"/>
                                        <p:tgtEl>
                                          <p:spTgt spid="129"/>
                                        </p:tgtEl>
                                      </p:cBhvr>
                                    </p:animEffect>
                                    <p:anim calcmode="lin" valueType="num">
                                      <p:cBhvr additive="base">
                                        <p:cTn id="112" dur="500" decel="100000" fill="hold"/>
                                        <p:tgtEl>
                                          <p:spTgt spid="129"/>
                                        </p:tgtEl>
                                        <p:attrNameLst>
                                          <p:attrName>ppt_x</p:attrName>
                                        </p:attrNameLst>
                                      </p:cBhvr>
                                      <p:tavLst>
                                        <p:tav tm="0">
                                          <p:val>
                                            <p:strVal val="#ppt_x-0.05"/>
                                          </p:val>
                                        </p:tav>
                                        <p:tav tm="100000">
                                          <p:val>
                                            <p:strVal val="#ppt_x"/>
                                          </p:val>
                                        </p:tav>
                                      </p:tavLst>
                                    </p:anim>
                                  </p:childTnLst>
                                </p:cTn>
                              </p:par>
                            </p:childTnLst>
                          </p:cTn>
                        </p:par>
                      </p:childTnLst>
                    </p:cTn>
                  </p:par>
                  <p:par>
                    <p:cTn id="113" fill="hold">
                      <p:stCondLst>
                        <p:cond delay="indefinite"/>
                      </p:stCondLst>
                      <p:childTnLst>
                        <p:par>
                          <p:cTn id="114" fill="hold">
                            <p:stCondLst>
                              <p:cond delay="0"/>
                            </p:stCondLst>
                            <p:childTnLst>
                              <p:par>
                                <p:cTn id="115" presetID="42" presetClass="entr" presetSubtype="0" fill="hold" grpId="0" nodeType="clickEffect">
                                  <p:stCondLst>
                                    <p:cond delay="0"/>
                                  </p:stCondLst>
                                  <p:childTnLst>
                                    <p:set>
                                      <p:cBhvr>
                                        <p:cTn id="116" dur="1" fill="hold">
                                          <p:stCondLst>
                                            <p:cond delay="0"/>
                                          </p:stCondLst>
                                        </p:cTn>
                                        <p:tgtEl>
                                          <p:spTgt spid="130"/>
                                        </p:tgtEl>
                                        <p:attrNameLst>
                                          <p:attrName>style.visibility</p:attrName>
                                        </p:attrNameLst>
                                      </p:cBhvr>
                                      <p:to>
                                        <p:strVal val="visible"/>
                                      </p:to>
                                    </p:set>
                                    <p:animEffect transition="in" filter="fade">
                                      <p:cBhvr>
                                        <p:cTn id="117" dur="500"/>
                                        <p:tgtEl>
                                          <p:spTgt spid="130"/>
                                        </p:tgtEl>
                                      </p:cBhvr>
                                    </p:animEffect>
                                    <p:anim calcmode="lin" valueType="num">
                                      <p:cBhvr additive="base">
                                        <p:cTn id="118" dur="500" decel="100000" fill="hold"/>
                                        <p:tgtEl>
                                          <p:spTgt spid="130"/>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94A3B8">
              <a:alpha val="18000"/>
            </a:srgbClr>
          </a:solidFill>
          <a:ln w="12700">
            <a:solidFill>
              <a:srgbClr val="94A3B8"/>
            </a:solidFill>
          </a:ln>
        </p:spPr>
        <p:txBody>
          <a:bodyPr wrap="square" lIns="0" tIns="0" rIns="0" bIns="0" rtlCol="0" anchor="ctr">
            <a:noAutofit/>
          </a:bodyPr>
          <a:lstStyle/>
          <a:p>
            <a:pPr marL="0" indent="0" algn="ctr">
              <a:spcBef>
                <a:spcPts val="0"/>
              </a:spcBef>
              <a:spcAft>
                <a:spcPts val="0"/>
              </a:spcAft>
              <a:buNone/>
            </a:pPr>
            <a:r>
              <a:rPr lang="en-US" sz="1000" b="1" dirty="0">
                <a:solidFill>
                  <a:srgbClr val="94A3B8"/>
                </a:solidFill>
                <a:latin typeface="Segoe UI"/>
                <a:ea typeface="Segoe UI"/>
                <a:cs typeface="Segoe UI"/>
              </a:rPr>
              <a:t>DUMMY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DUMMY: Fill a Parameter You Do Not Use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The constructor needs an ILogger. This test never logs anything.</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152</a:t>
            </a:r>
            <a:endParaRPr lang="en-US" sz="850" dirty="0"/>
          </a:p>
        </p:txBody>
      </p:sp>
      <p:sp>
        <p:nvSpPr>
          <p:cNvPr id="101" name="s101"/>
          <p:cNvSpPr/>
          <p:nvPr/>
        </p:nvSpPr>
        <p:spPr>
          <a:xfrm>
            <a:off x="8979408" y="457200"/>
            <a:ext cx="2651760" cy="310896"/>
          </a:xfrm>
          <a:prstGeom prst="roundRect">
            <a:avLst>
              <a:gd name="adj" fmla="val 50000"/>
            </a:avLst>
          </a:prstGeom>
          <a:solidFill>
            <a:srgbClr val="94A3B8"/>
          </a:solidFill>
          <a:ln w="12700">
            <a:solidFill>
              <a:srgbClr val="94A3B8"/>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  RARELY NAMED</a:t>
            </a:r>
            <a:endParaRPr lang="en-US" sz="1100" dirty="0"/>
          </a:p>
        </p:txBody>
      </p:sp>
      <p:sp>
        <p:nvSpPr>
          <p:cNvPr id="102" name="s102"/>
          <p:cNvSpPr/>
          <p:nvPr/>
        </p:nvSpPr>
        <p:spPr>
          <a:xfrm>
            <a:off x="543154" y="1810512"/>
            <a:ext cx="3931920" cy="1481328"/>
          </a:xfrm>
          <a:prstGeom prst="roundRect">
            <a:avLst>
              <a:gd name="adj" fmla="val 8000"/>
            </a:avLst>
          </a:prstGeom>
          <a:solidFill>
            <a:srgbClr val="111B2E"/>
          </a:solidFill>
          <a:ln w="12700">
            <a:solidFill>
              <a:srgbClr val="94A3B8"/>
            </a:solidFill>
            <a:prstDash val="solid"/>
          </a:ln>
        </p:spPr>
        <p:txBody>
          <a:bodyPr wrap="square" lIns="182880" tIns="128016" rIns="137160" bIns="91440" rtlCol="0" anchor="t">
            <a:noAutofit/>
          </a:bodyPr>
          <a:lstStyle/>
          <a:p>
            <a:pPr marL="0" indent="0" algn="l">
              <a:spcBef>
                <a:spcPts val="0"/>
              </a:spcBef>
              <a:spcAft>
                <a:spcPts val="500"/>
              </a:spcAft>
              <a:buNone/>
            </a:pPr>
            <a:r>
              <a:rPr lang="en-US" sz="1100" b="1" dirty="0">
                <a:solidFill>
                  <a:srgbClr val="94A3B8"/>
                </a:solidFill>
                <a:latin typeface="Segoe UI"/>
                <a:ea typeface="Segoe UI"/>
                <a:cs typeface="Segoe UI"/>
              </a:rPr>
              <a:t>WHEN TO USE IT</a:t>
            </a:r>
            <a:endParaRPr lang="en-US" sz="1100" dirty="0"/>
          </a:p>
          <a:p>
            <a:pPr marL="0" indent="0" algn="l">
              <a:spcBef>
                <a:spcPts val="0"/>
              </a:spcBef>
              <a:spcAft>
                <a:spcPts val="400"/>
              </a:spcAft>
              <a:buNone/>
            </a:pPr>
            <a:r>
              <a:rPr lang="en-US" sz="1200" b="0" dirty="0">
                <a:solidFill>
                  <a:srgbClr val="94A3B8"/>
                </a:solidFill>
                <a:latin typeface="Segoe UI"/>
                <a:ea typeface="Segoe UI"/>
                <a:cs typeface="Segoe UI"/>
              </a:rPr>
              <a:t>•  </a:t>
            </a:r>
            <a:r>
              <a:rPr lang="en-US" sz="1200" b="0" dirty="0">
                <a:solidFill>
                  <a:srgbClr val="E2E8F0"/>
                </a:solidFill>
                <a:latin typeface="Segoe UI"/>
                <a:ea typeface="Segoe UI"/>
                <a:cs typeface="Segoe UI"/>
              </a:rPr>
              <a:t>the class REQUIRES a parameter</a:t>
            </a:r>
            <a:endParaRPr lang="en-US" sz="1200" dirty="0"/>
          </a:p>
          <a:p>
            <a:pPr marL="0" indent="0" algn="l">
              <a:spcBef>
                <a:spcPts val="0"/>
              </a:spcBef>
              <a:spcAft>
                <a:spcPts val="400"/>
              </a:spcAft>
              <a:buNone/>
            </a:pPr>
            <a:r>
              <a:rPr lang="en-US" sz="1200" b="0" dirty="0">
                <a:solidFill>
                  <a:srgbClr val="94A3B8"/>
                </a:solidFill>
                <a:latin typeface="Segoe UI"/>
                <a:ea typeface="Segoe UI"/>
                <a:cs typeface="Segoe UI"/>
              </a:rPr>
              <a:t>•  </a:t>
            </a:r>
            <a:r>
              <a:rPr lang="en-US" sz="1200" b="0" dirty="0">
                <a:solidFill>
                  <a:srgbClr val="E2E8F0"/>
                </a:solidFill>
                <a:latin typeface="Segoe UI"/>
                <a:ea typeface="Segoe UI"/>
                <a:cs typeface="Segoe UI"/>
              </a:rPr>
              <a:t>but THIS test never uses it</a:t>
            </a:r>
            <a:endParaRPr lang="en-US" sz="1200" dirty="0"/>
          </a:p>
          <a:p>
            <a:pPr marL="0" indent="0" algn="l">
              <a:spcBef>
                <a:spcPts val="0"/>
              </a:spcBef>
              <a:spcAft>
                <a:spcPts val="400"/>
              </a:spcAft>
              <a:buNone/>
            </a:pPr>
            <a:r>
              <a:rPr lang="en-US" sz="1200" b="0" dirty="0">
                <a:solidFill>
                  <a:srgbClr val="94A3B8"/>
                </a:solidFill>
                <a:latin typeface="Segoe UI"/>
                <a:ea typeface="Segoe UI"/>
                <a:cs typeface="Segoe UI"/>
              </a:rPr>
              <a:t>•  </a:t>
            </a:r>
            <a:r>
              <a:rPr lang="en-US" sz="1200" b="0" dirty="0">
                <a:solidFill>
                  <a:srgbClr val="E2E8F0"/>
                </a:solidFill>
                <a:latin typeface="Segoe UI"/>
                <a:ea typeface="Segoe UI"/>
                <a:cs typeface="Segoe UI"/>
              </a:rPr>
              <a:t>example: a logger in a price test</a:t>
            </a:r>
            <a:endParaRPr lang="en-US" sz="1200" dirty="0"/>
          </a:p>
        </p:txBody>
      </p:sp>
      <p:sp>
        <p:nvSpPr>
          <p:cNvPr id="103" name="s103"/>
          <p:cNvSpPr/>
          <p:nvPr/>
        </p:nvSpPr>
        <p:spPr>
          <a:xfrm>
            <a:off x="543154" y="3401568"/>
            <a:ext cx="3931920" cy="1572768"/>
          </a:xfrm>
          <a:prstGeom prst="roundRect">
            <a:avLst>
              <a:gd name="adj" fmla="val 8000"/>
            </a:avLst>
          </a:prstGeom>
          <a:solidFill>
            <a:srgbClr val="111B2E"/>
          </a:solidFill>
          <a:ln w="12700">
            <a:solidFill>
              <a:srgbClr val="FBBF24"/>
            </a:solidFill>
            <a:prstDash val="solid"/>
          </a:ln>
        </p:spPr>
        <p:txBody>
          <a:bodyPr wrap="square" lIns="182880" tIns="128016" rIns="137160" bIns="91440" rtlCol="0" anchor="t">
            <a:noAutofit/>
          </a:bodyPr>
          <a:lstStyle/>
          <a:p>
            <a:pPr marL="0" indent="0" algn="l">
              <a:spcBef>
                <a:spcPts val="0"/>
              </a:spcBef>
              <a:spcAft>
                <a:spcPts val="500"/>
              </a:spcAft>
              <a:buNone/>
            </a:pPr>
            <a:r>
              <a:rPr lang="en-US" sz="1100" b="1" dirty="0">
                <a:solidFill>
                  <a:srgbClr val="FBBF24"/>
                </a:solidFill>
                <a:latin typeface="Segoe UI"/>
                <a:ea typeface="Segoe UI"/>
                <a:cs typeface="Segoe UI"/>
              </a:rPr>
              <a:t>WHAT YOU NEED</a:t>
            </a:r>
            <a:endParaRPr lang="en-US" sz="11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the interface:  ILogger</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a class that implements it and does NOTHING</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no package needed</a:t>
            </a:r>
            <a:endParaRPr lang="en-US" sz="1200" dirty="0"/>
          </a:p>
        </p:txBody>
      </p:sp>
      <p:sp>
        <p:nvSpPr>
          <p:cNvPr id="104" name="s104"/>
          <p:cNvSpPr/>
          <p:nvPr/>
        </p:nvSpPr>
        <p:spPr>
          <a:xfrm>
            <a:off x="543154" y="5084064"/>
            <a:ext cx="3931920" cy="1170432"/>
          </a:xfrm>
          <a:prstGeom prst="roundRect">
            <a:avLst>
              <a:gd name="adj" fmla="val 8000"/>
            </a:avLst>
          </a:prstGeom>
          <a:solidFill>
            <a:srgbClr val="94A3B8">
              <a:alpha val="10000"/>
            </a:srgbClr>
          </a:solidFill>
          <a:ln w="12700">
            <a:solidFill>
              <a:srgbClr val="94A3B8"/>
            </a:solidFill>
            <a:prstDash val="solid"/>
          </a:ln>
        </p:spPr>
        <p:txBody>
          <a:bodyPr wrap="square" lIns="182880" tIns="73152" rIns="137160" bIns="73152" rtlCol="0" anchor="ctr">
            <a:noAutofit/>
          </a:bodyPr>
          <a:lstStyle/>
          <a:p>
            <a:pPr marL="0" indent="0" algn="l">
              <a:spcBef>
                <a:spcPts val="0"/>
              </a:spcBef>
              <a:spcAft>
                <a:spcPts val="400"/>
              </a:spcAft>
              <a:buNone/>
            </a:pPr>
            <a:r>
              <a:rPr lang="en-US" sz="1100" b="1" dirty="0">
                <a:solidFill>
                  <a:srgbClr val="94A3B8"/>
                </a:solidFill>
                <a:latin typeface="Segoe UI"/>
                <a:ea typeface="Segoe UI"/>
                <a:cs typeface="Segoe UI"/>
              </a:rPr>
              <a:t>REMEMBER</a:t>
            </a:r>
            <a:endParaRPr lang="en-US" sz="1100" dirty="0"/>
          </a:p>
          <a:p>
            <a:pPr marL="0" indent="0" algn="l">
              <a:spcBef>
                <a:spcPts val="0"/>
              </a:spcBef>
              <a:spcAft>
                <a:spcPts val="0"/>
              </a:spcAft>
              <a:buNone/>
            </a:pPr>
            <a:r>
              <a:rPr lang="en-US" sz="1200" b="0" dirty="0">
                <a:solidFill>
                  <a:srgbClr val="FFFFFF"/>
                </a:solidFill>
                <a:latin typeface="Segoe UI"/>
                <a:ea typeface="Segoe UI"/>
                <a:cs typeface="Segoe UI"/>
              </a:rPr>
              <a:t>If the test needs the double to answer or to be checked, it is not a dummy anymore.</a:t>
            </a:r>
            <a:endParaRPr lang="en-US" sz="1200" dirty="0"/>
          </a:p>
        </p:txBody>
      </p:sp>
      <p:sp>
        <p:nvSpPr>
          <p:cNvPr id="105" name="s105"/>
          <p:cNvSpPr/>
          <p:nvPr/>
        </p:nvSpPr>
        <p:spPr>
          <a:xfrm>
            <a:off x="4703674" y="1810512"/>
            <a:ext cx="6927494" cy="2459736"/>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6" name="s106"/>
          <p:cNvSpPr/>
          <p:nvPr/>
        </p:nvSpPr>
        <p:spPr>
          <a:xfrm>
            <a:off x="4868266" y="195681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7" name="s107"/>
          <p:cNvSpPr/>
          <p:nvPr/>
        </p:nvSpPr>
        <p:spPr>
          <a:xfrm>
            <a:off x="5051146" y="195681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8" name="s108"/>
          <p:cNvSpPr/>
          <p:nvPr/>
        </p:nvSpPr>
        <p:spPr>
          <a:xfrm>
            <a:off x="5234026" y="195681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9" name="s109"/>
          <p:cNvSpPr/>
          <p:nvPr/>
        </p:nvSpPr>
        <p:spPr>
          <a:xfrm>
            <a:off x="5480914" y="1883664"/>
            <a:ext cx="3458261"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PriceCalculator.cs  ·  the class + the dummy</a:t>
            </a:r>
            <a:endParaRPr lang="en-US" sz="950" dirty="0"/>
          </a:p>
        </p:txBody>
      </p:sp>
      <p:cxnSp>
        <p:nvCxnSpPr>
          <p:cNvPr id="110" name="ln110"/>
          <p:cNvCxnSpPr/>
          <p:nvPr/>
        </p:nvCxnSpPr>
        <p:spPr>
          <a:xfrm>
            <a:off x="4703674" y="2221992"/>
            <a:ext cx="6927494" cy="0"/>
          </a:xfrm>
          <a:prstGeom prst="line">
            <a:avLst/>
          </a:prstGeom>
          <a:ln w="9525">
            <a:solidFill>
              <a:srgbClr val="1E3A5F"/>
            </a:solidFill>
          </a:ln>
        </p:spPr>
      </p:cxnSp>
      <p:sp>
        <p:nvSpPr>
          <p:cNvPr id="111" name="s111"/>
          <p:cNvSpPr/>
          <p:nvPr/>
        </p:nvSpPr>
        <p:spPr>
          <a:xfrm>
            <a:off x="4703674" y="234086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class</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PriceCalculator</a:t>
            </a:r>
            <a:endParaRPr lang="en-US" sz="900" dirty="0"/>
          </a:p>
        </p:txBody>
      </p:sp>
      <p:sp>
        <p:nvSpPr>
          <p:cNvPr id="112" name="s112"/>
          <p:cNvSpPr/>
          <p:nvPr/>
        </p:nvSpPr>
        <p:spPr>
          <a:xfrm>
            <a:off x="4703674" y="247802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13" name="s113"/>
          <p:cNvSpPr/>
          <p:nvPr/>
        </p:nvSpPr>
        <p:spPr>
          <a:xfrm>
            <a:off x="4703674" y="261518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private</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readonly</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ILogger</a:t>
            </a:r>
            <a:r>
              <a:rPr lang="en-US" sz="900" b="0" dirty="0">
                <a:solidFill>
                  <a:srgbClr val="E2E8F0"/>
                </a:solidFill>
                <a:latin typeface="Consolas"/>
                <a:ea typeface="Consolas"/>
                <a:cs typeface="Consolas"/>
              </a:rPr>
              <a:t> _logger;            </a:t>
            </a:r>
            <a:r>
              <a:rPr lang="en-US" sz="900" b="0" dirty="0">
                <a:solidFill>
                  <a:srgbClr val="6FAE7A"/>
                </a:solidFill>
                <a:latin typeface="Consolas"/>
                <a:ea typeface="Consolas"/>
                <a:cs typeface="Consolas"/>
              </a:rPr>
              <a:t>// used only when something fails</a:t>
            </a:r>
            <a:endParaRPr lang="en-US" sz="900" dirty="0"/>
          </a:p>
        </p:txBody>
      </p:sp>
      <p:sp>
        <p:nvSpPr>
          <p:cNvPr id="114" name="s114"/>
          <p:cNvSpPr/>
          <p:nvPr/>
        </p:nvSpPr>
        <p:spPr>
          <a:xfrm>
            <a:off x="4703674" y="275234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PriceCalculator</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ILogger</a:t>
            </a:r>
            <a:r>
              <a:rPr lang="en-US" sz="900" b="0" dirty="0">
                <a:solidFill>
                  <a:srgbClr val="E2E8F0"/>
                </a:solidFill>
                <a:latin typeface="Consolas"/>
                <a:ea typeface="Consolas"/>
                <a:cs typeface="Consolas"/>
              </a:rPr>
              <a:t> logger) =&gt; _logger = logger;</a:t>
            </a:r>
            <a:endParaRPr lang="en-US" sz="900" dirty="0"/>
          </a:p>
        </p:txBody>
      </p:sp>
      <p:sp>
        <p:nvSpPr>
          <p:cNvPr id="115" name="s115"/>
          <p:cNvSpPr/>
          <p:nvPr/>
        </p:nvSpPr>
        <p:spPr>
          <a:xfrm>
            <a:off x="4703674" y="302666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decimal</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Total</a:t>
            </a:r>
            <a:r>
              <a:rPr lang="en-US" sz="900" b="0" dirty="0">
                <a:solidFill>
                  <a:srgbClr val="E2E8F0"/>
                </a:solidFill>
                <a:latin typeface="Consolas"/>
                <a:ea typeface="Consolas"/>
                <a:cs typeface="Consolas"/>
              </a:rPr>
              <a:t>(</a:t>
            </a:r>
            <a:r>
              <a:rPr lang="en-US" sz="900" b="0" dirty="0">
                <a:solidFill>
                  <a:srgbClr val="60A5FA"/>
                </a:solidFill>
                <a:latin typeface="Consolas"/>
                <a:ea typeface="Consolas"/>
                <a:cs typeface="Consolas"/>
              </a:rPr>
              <a:t>decimal</a:t>
            </a:r>
            <a:r>
              <a:rPr lang="en-US" sz="900" b="0" dirty="0">
                <a:solidFill>
                  <a:srgbClr val="E2E8F0"/>
                </a:solidFill>
                <a:latin typeface="Consolas"/>
                <a:ea typeface="Consolas"/>
                <a:cs typeface="Consolas"/>
              </a:rPr>
              <a:t> price, </a:t>
            </a:r>
            <a:r>
              <a:rPr lang="en-US" sz="900" b="0" dirty="0">
                <a:solidFill>
                  <a:srgbClr val="60A5FA"/>
                </a:solidFill>
                <a:latin typeface="Consolas"/>
                <a:ea typeface="Consolas"/>
                <a:cs typeface="Consolas"/>
              </a:rPr>
              <a:t>int</a:t>
            </a:r>
            <a:r>
              <a:rPr lang="en-US" sz="900" b="0" dirty="0">
                <a:solidFill>
                  <a:srgbClr val="E2E8F0"/>
                </a:solidFill>
                <a:latin typeface="Consolas"/>
                <a:ea typeface="Consolas"/>
                <a:cs typeface="Consolas"/>
              </a:rPr>
              <a:t> quantity) =&gt; price * quantity;</a:t>
            </a:r>
            <a:endParaRPr lang="en-US" sz="900" dirty="0"/>
          </a:p>
        </p:txBody>
      </p:sp>
      <p:sp>
        <p:nvSpPr>
          <p:cNvPr id="116" name="s116"/>
          <p:cNvSpPr/>
          <p:nvPr/>
        </p:nvSpPr>
        <p:spPr>
          <a:xfrm>
            <a:off x="4703674" y="316382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17" name="s117"/>
          <p:cNvSpPr/>
          <p:nvPr/>
        </p:nvSpPr>
        <p:spPr>
          <a:xfrm>
            <a:off x="4703674" y="330098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FAE7A"/>
                </a:solidFill>
                <a:latin typeface="Consolas"/>
                <a:ea typeface="Consolas"/>
                <a:cs typeface="Consolas"/>
              </a:rPr>
              <a:t>// DUMMY: implements ILogger and does nothing</a:t>
            </a:r>
            <a:endParaRPr lang="en-US" sz="900" dirty="0"/>
          </a:p>
        </p:txBody>
      </p:sp>
      <p:sp>
        <p:nvSpPr>
          <p:cNvPr id="118" name="s118"/>
          <p:cNvSpPr/>
          <p:nvPr/>
        </p:nvSpPr>
        <p:spPr>
          <a:xfrm>
            <a:off x="4703674" y="343814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class</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DummyLogger</a:t>
            </a:r>
            <a:r>
              <a:rPr lang="en-US" sz="900" b="0" dirty="0">
                <a:solidFill>
                  <a:srgbClr val="E2E8F0"/>
                </a:solidFill>
                <a:latin typeface="Consolas"/>
                <a:ea typeface="Consolas"/>
                <a:cs typeface="Consolas"/>
              </a:rPr>
              <a:t> : </a:t>
            </a:r>
            <a:r>
              <a:rPr lang="en-US" sz="900" b="0" dirty="0">
                <a:solidFill>
                  <a:srgbClr val="7DD3FC"/>
                </a:solidFill>
                <a:latin typeface="Consolas"/>
                <a:ea typeface="Consolas"/>
                <a:cs typeface="Consolas"/>
              </a:rPr>
              <a:t>ILogger</a:t>
            </a:r>
            <a:endParaRPr lang="en-US" sz="900" dirty="0"/>
          </a:p>
        </p:txBody>
      </p:sp>
      <p:sp>
        <p:nvSpPr>
          <p:cNvPr id="119" name="s119"/>
          <p:cNvSpPr/>
          <p:nvPr/>
        </p:nvSpPr>
        <p:spPr>
          <a:xfrm>
            <a:off x="4703674" y="357530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20" name="s120"/>
          <p:cNvSpPr/>
          <p:nvPr/>
        </p:nvSpPr>
        <p:spPr>
          <a:xfrm>
            <a:off x="4703674" y="371246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void</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Info</a:t>
            </a:r>
            <a:r>
              <a:rPr lang="en-US" sz="900" b="0" dirty="0">
                <a:solidFill>
                  <a:srgbClr val="E2E8F0"/>
                </a:solidFill>
                <a:latin typeface="Consolas"/>
                <a:ea typeface="Consolas"/>
                <a:cs typeface="Consolas"/>
              </a:rPr>
              <a:t>(</a:t>
            </a:r>
            <a:r>
              <a:rPr lang="en-US" sz="900" b="0" dirty="0">
                <a:solidFill>
                  <a:srgbClr val="60A5FA"/>
                </a:solidFill>
                <a:latin typeface="Consolas"/>
                <a:ea typeface="Consolas"/>
                <a:cs typeface="Consolas"/>
              </a:rPr>
              <a:t>string</a:t>
            </a:r>
            <a:r>
              <a:rPr lang="en-US" sz="900" b="0" dirty="0">
                <a:solidFill>
                  <a:srgbClr val="E2E8F0"/>
                </a:solidFill>
                <a:latin typeface="Consolas"/>
                <a:ea typeface="Consolas"/>
                <a:cs typeface="Consolas"/>
              </a:rPr>
              <a:t> message) { }</a:t>
            </a:r>
            <a:endParaRPr lang="en-US" sz="900" dirty="0"/>
          </a:p>
        </p:txBody>
      </p:sp>
      <p:sp>
        <p:nvSpPr>
          <p:cNvPr id="121" name="s121"/>
          <p:cNvSpPr/>
          <p:nvPr/>
        </p:nvSpPr>
        <p:spPr>
          <a:xfrm>
            <a:off x="4703674" y="384962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void</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Error</a:t>
            </a:r>
            <a:r>
              <a:rPr lang="en-US" sz="900" b="0" dirty="0">
                <a:solidFill>
                  <a:srgbClr val="E2E8F0"/>
                </a:solidFill>
                <a:latin typeface="Consolas"/>
                <a:ea typeface="Consolas"/>
                <a:cs typeface="Consolas"/>
              </a:rPr>
              <a:t>(</a:t>
            </a:r>
            <a:r>
              <a:rPr lang="en-US" sz="900" b="0" dirty="0">
                <a:solidFill>
                  <a:srgbClr val="60A5FA"/>
                </a:solidFill>
                <a:latin typeface="Consolas"/>
                <a:ea typeface="Consolas"/>
                <a:cs typeface="Consolas"/>
              </a:rPr>
              <a:t>string</a:t>
            </a:r>
            <a:r>
              <a:rPr lang="en-US" sz="900" b="0" dirty="0">
                <a:solidFill>
                  <a:srgbClr val="E2E8F0"/>
                </a:solidFill>
                <a:latin typeface="Consolas"/>
                <a:ea typeface="Consolas"/>
                <a:cs typeface="Consolas"/>
              </a:rPr>
              <a:t> message, </a:t>
            </a:r>
            <a:r>
              <a:rPr lang="en-US" sz="900" b="0" dirty="0">
                <a:solidFill>
                  <a:srgbClr val="7DD3FC"/>
                </a:solidFill>
                <a:latin typeface="Consolas"/>
                <a:ea typeface="Consolas"/>
                <a:cs typeface="Consolas"/>
              </a:rPr>
              <a:t>Exception</a:t>
            </a:r>
            <a:r>
              <a:rPr lang="en-US" sz="900" b="0" dirty="0">
                <a:solidFill>
                  <a:srgbClr val="E2E8F0"/>
                </a:solidFill>
                <a:latin typeface="Consolas"/>
                <a:ea typeface="Consolas"/>
                <a:cs typeface="Consolas"/>
              </a:rPr>
              <a:t> exception) { }</a:t>
            </a:r>
            <a:endParaRPr lang="en-US" sz="900" dirty="0"/>
          </a:p>
        </p:txBody>
      </p:sp>
      <p:sp>
        <p:nvSpPr>
          <p:cNvPr id="122" name="s122"/>
          <p:cNvSpPr/>
          <p:nvPr/>
        </p:nvSpPr>
        <p:spPr>
          <a:xfrm>
            <a:off x="4703674" y="398678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23" name="s123"/>
          <p:cNvSpPr/>
          <p:nvPr/>
        </p:nvSpPr>
        <p:spPr>
          <a:xfrm>
            <a:off x="4703674" y="4379976"/>
            <a:ext cx="6927494" cy="1499616"/>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4" name="s124"/>
          <p:cNvSpPr/>
          <p:nvPr/>
        </p:nvSpPr>
        <p:spPr>
          <a:xfrm>
            <a:off x="4868266" y="4526280"/>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5" name="s125"/>
          <p:cNvSpPr/>
          <p:nvPr/>
        </p:nvSpPr>
        <p:spPr>
          <a:xfrm>
            <a:off x="5051146" y="4526280"/>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6" name="s126"/>
          <p:cNvSpPr/>
          <p:nvPr/>
        </p:nvSpPr>
        <p:spPr>
          <a:xfrm>
            <a:off x="5234026" y="4526280"/>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7" name="s127"/>
          <p:cNvSpPr/>
          <p:nvPr/>
        </p:nvSpPr>
        <p:spPr>
          <a:xfrm>
            <a:off x="5480914" y="4453128"/>
            <a:ext cx="2887675"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PriceCalculatorTests.cs  ·  the test</a:t>
            </a:r>
            <a:endParaRPr lang="en-US" sz="950" dirty="0"/>
          </a:p>
        </p:txBody>
      </p:sp>
      <p:cxnSp>
        <p:nvCxnSpPr>
          <p:cNvPr id="128" name="ln128"/>
          <p:cNvCxnSpPr/>
          <p:nvPr/>
        </p:nvCxnSpPr>
        <p:spPr>
          <a:xfrm>
            <a:off x="4703674" y="4791456"/>
            <a:ext cx="6927494" cy="0"/>
          </a:xfrm>
          <a:prstGeom prst="line">
            <a:avLst/>
          </a:prstGeom>
          <a:ln w="9525">
            <a:solidFill>
              <a:srgbClr val="1E3A5F"/>
            </a:solidFill>
          </a:ln>
        </p:spPr>
      </p:cxnSp>
      <p:sp>
        <p:nvSpPr>
          <p:cNvPr id="129" name="s129"/>
          <p:cNvSpPr/>
          <p:nvPr/>
        </p:nvSpPr>
        <p:spPr>
          <a:xfrm>
            <a:off x="4703674" y="491032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FBBF24"/>
                </a:solidFill>
                <a:latin typeface="Consolas"/>
                <a:ea typeface="Consolas"/>
                <a:cs typeface="Consolas"/>
              </a:rPr>
              <a:t>[Fact]</a:t>
            </a:r>
            <a:endParaRPr lang="en-US" sz="900" dirty="0"/>
          </a:p>
        </p:txBody>
      </p:sp>
      <p:sp>
        <p:nvSpPr>
          <p:cNvPr id="130" name="s130"/>
          <p:cNvSpPr/>
          <p:nvPr/>
        </p:nvSpPr>
        <p:spPr>
          <a:xfrm>
            <a:off x="4703674" y="504748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void</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Total_PriceTimesQuantity</a:t>
            </a:r>
            <a:r>
              <a:rPr lang="en-US" sz="900" b="0" dirty="0">
                <a:solidFill>
                  <a:srgbClr val="E2E8F0"/>
                </a:solidFill>
                <a:latin typeface="Consolas"/>
                <a:ea typeface="Consolas"/>
                <a:cs typeface="Consolas"/>
              </a:rPr>
              <a:t>()</a:t>
            </a:r>
            <a:endParaRPr lang="en-US" sz="900" dirty="0"/>
          </a:p>
        </p:txBody>
      </p:sp>
      <p:sp>
        <p:nvSpPr>
          <p:cNvPr id="131" name="s131"/>
          <p:cNvSpPr/>
          <p:nvPr/>
        </p:nvSpPr>
        <p:spPr>
          <a:xfrm>
            <a:off x="4703674" y="518464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32" name="s132"/>
          <p:cNvSpPr/>
          <p:nvPr/>
        </p:nvSpPr>
        <p:spPr>
          <a:xfrm>
            <a:off x="4703674" y="532180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var</a:t>
            </a:r>
            <a:r>
              <a:rPr lang="en-US" sz="900" b="0" dirty="0">
                <a:solidFill>
                  <a:srgbClr val="E2E8F0"/>
                </a:solidFill>
                <a:latin typeface="Consolas"/>
                <a:ea typeface="Consolas"/>
                <a:cs typeface="Consolas"/>
              </a:rPr>
              <a:t> calculator = </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PriceCalculator</a:t>
            </a:r>
            <a:r>
              <a:rPr lang="en-US" sz="900" b="0" dirty="0">
                <a:solidFill>
                  <a:srgbClr val="E2E8F0"/>
                </a:solidFill>
                <a:latin typeface="Consolas"/>
                <a:ea typeface="Consolas"/>
                <a:cs typeface="Consolas"/>
              </a:rPr>
              <a:t>(</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DummyLogger</a:t>
            </a:r>
            <a:r>
              <a:rPr lang="en-US" sz="900" b="0" dirty="0">
                <a:solidFill>
                  <a:srgbClr val="E2E8F0"/>
                </a:solidFill>
                <a:latin typeface="Consolas"/>
                <a:ea typeface="Consolas"/>
                <a:cs typeface="Consolas"/>
              </a:rPr>
              <a:t>());   </a:t>
            </a:r>
            <a:r>
              <a:rPr lang="en-US" sz="900" b="0" dirty="0">
                <a:solidFill>
                  <a:srgbClr val="6FAE7A"/>
                </a:solidFill>
                <a:latin typeface="Consolas"/>
                <a:ea typeface="Consolas"/>
                <a:cs typeface="Consolas"/>
              </a:rPr>
              <a:t>// DUMMY: fills the parameter</a:t>
            </a:r>
            <a:endParaRPr lang="en-US" sz="900" dirty="0"/>
          </a:p>
        </p:txBody>
      </p:sp>
      <p:sp>
        <p:nvSpPr>
          <p:cNvPr id="133" name="s133"/>
          <p:cNvSpPr/>
          <p:nvPr/>
        </p:nvSpPr>
        <p:spPr>
          <a:xfrm>
            <a:off x="4703674" y="545896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calculator.</a:t>
            </a:r>
            <a:r>
              <a:rPr lang="en-US" sz="900" b="0" dirty="0">
                <a:solidFill>
                  <a:srgbClr val="7DD3FC"/>
                </a:solidFill>
                <a:latin typeface="Consolas"/>
                <a:ea typeface="Consolas"/>
                <a:cs typeface="Consolas"/>
              </a:rPr>
              <a:t>Total</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10m</a:t>
            </a:r>
            <a:r>
              <a:rPr lang="en-US" sz="900" b="0" dirty="0">
                <a:solidFill>
                  <a:srgbClr val="E2E8F0"/>
                </a:solidFill>
                <a:latin typeface="Consolas"/>
                <a:ea typeface="Consolas"/>
                <a:cs typeface="Consolas"/>
              </a:rPr>
              <a:t>, </a:t>
            </a:r>
            <a:r>
              <a:rPr lang="en-US" sz="900" b="0" dirty="0">
                <a:solidFill>
                  <a:srgbClr val="C4B5FD"/>
                </a:solidFill>
                <a:latin typeface="Consolas"/>
                <a:ea typeface="Consolas"/>
                <a:cs typeface="Consolas"/>
              </a:rPr>
              <a:t>3</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ShouldBe</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30m</a:t>
            </a:r>
            <a:r>
              <a:rPr lang="en-US" sz="900" b="0" dirty="0">
                <a:solidFill>
                  <a:srgbClr val="E2E8F0"/>
                </a:solidFill>
                <a:latin typeface="Consolas"/>
                <a:ea typeface="Consolas"/>
                <a:cs typeface="Consolas"/>
              </a:rPr>
              <a:t>);</a:t>
            </a:r>
            <a:endParaRPr lang="en-US" sz="900" dirty="0"/>
          </a:p>
        </p:txBody>
      </p:sp>
      <p:sp>
        <p:nvSpPr>
          <p:cNvPr id="134" name="s134"/>
          <p:cNvSpPr/>
          <p:nvPr/>
        </p:nvSpPr>
        <p:spPr>
          <a:xfrm>
            <a:off x="4703674" y="559612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35" name="s135"/>
          <p:cNvSpPr/>
          <p:nvPr/>
        </p:nvSpPr>
        <p:spPr>
          <a:xfrm>
            <a:off x="4813402" y="5294376"/>
            <a:ext cx="6708038" cy="192024"/>
          </a:xfrm>
          <a:prstGeom prst="roundRect">
            <a:avLst>
              <a:gd name="adj" fmla="val 6000"/>
            </a:avLst>
          </a:prstGeom>
          <a:solidFill>
            <a:srgbClr val="94A3B8">
              <a:alpha val="10000"/>
            </a:srgbClr>
          </a:solidFill>
          <a:ln w="15875">
            <a:solidFill>
              <a:srgbClr val="94A3B8"/>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anim calcmode="lin" valueType="num">
                                      <p:cBhvr additive="base">
                                        <p:cTn id="14" dur="500" decel="100000" fill="hold"/>
                                        <p:tgtEl>
                                          <p:spTgt spid="103"/>
                                        </p:tgtEl>
                                        <p:attrNameLst>
                                          <p:attrName>ppt_x</p:attrName>
                                        </p:attrNameLst>
                                      </p:cBhvr>
                                      <p:tavLst>
                                        <p:tav tm="0">
                                          <p:val>
                                            <p:strVal val="#ppt_x-0.05"/>
                                          </p:val>
                                        </p:tav>
                                        <p:tav tm="100000">
                                          <p:val>
                                            <p:strVal val="#ppt_x"/>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7"/>
                                        </p:tgtEl>
                                        <p:attrNameLst>
                                          <p:attrName>style.visibility</p:attrName>
                                        </p:attrNameLst>
                                      </p:cBhvr>
                                      <p:to>
                                        <p:strVal val="visible"/>
                                      </p:to>
                                    </p:set>
                                    <p:animEffect transition="in" filter="fade">
                                      <p:cBhvr>
                                        <p:cTn id="67" dur="500"/>
                                        <p:tgtEl>
                                          <p:spTgt spid="117"/>
                                        </p:tgtEl>
                                      </p:cBhvr>
                                    </p:animEffect>
                                    <p:anim calcmode="lin" valueType="num">
                                      <p:cBhvr additive="base">
                                        <p:cTn id="68" dur="500" decel="100000" fill="hold"/>
                                        <p:tgtEl>
                                          <p:spTgt spid="117"/>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8"/>
                                        </p:tgtEl>
                                        <p:attrNameLst>
                                          <p:attrName>style.visibility</p:attrName>
                                        </p:attrNameLst>
                                      </p:cBhvr>
                                      <p:to>
                                        <p:strVal val="visible"/>
                                      </p:to>
                                    </p:set>
                                    <p:animEffect transition="in" filter="fade">
                                      <p:cBhvr>
                                        <p:cTn id="71" dur="500"/>
                                        <p:tgtEl>
                                          <p:spTgt spid="118"/>
                                        </p:tgtEl>
                                      </p:cBhvr>
                                    </p:animEffect>
                                    <p:anim calcmode="lin" valueType="num">
                                      <p:cBhvr additive="base">
                                        <p:cTn id="72" dur="500" decel="100000" fill="hold"/>
                                        <p:tgtEl>
                                          <p:spTgt spid="118"/>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9"/>
                                        </p:tgtEl>
                                        <p:attrNameLst>
                                          <p:attrName>style.visibility</p:attrName>
                                        </p:attrNameLst>
                                      </p:cBhvr>
                                      <p:to>
                                        <p:strVal val="visible"/>
                                      </p:to>
                                    </p:set>
                                    <p:animEffect transition="in" filter="fade">
                                      <p:cBhvr>
                                        <p:cTn id="75" dur="500"/>
                                        <p:tgtEl>
                                          <p:spTgt spid="119"/>
                                        </p:tgtEl>
                                      </p:cBhvr>
                                    </p:animEffect>
                                    <p:anim calcmode="lin" valueType="num">
                                      <p:cBhvr additive="base">
                                        <p:cTn id="76" dur="500" decel="100000" fill="hold"/>
                                        <p:tgtEl>
                                          <p:spTgt spid="119"/>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20"/>
                                        </p:tgtEl>
                                        <p:attrNameLst>
                                          <p:attrName>style.visibility</p:attrName>
                                        </p:attrNameLst>
                                      </p:cBhvr>
                                      <p:to>
                                        <p:strVal val="visible"/>
                                      </p:to>
                                    </p:set>
                                    <p:animEffect transition="in" filter="fade">
                                      <p:cBhvr>
                                        <p:cTn id="79" dur="500"/>
                                        <p:tgtEl>
                                          <p:spTgt spid="120"/>
                                        </p:tgtEl>
                                      </p:cBhvr>
                                    </p:animEffect>
                                    <p:anim calcmode="lin" valueType="num">
                                      <p:cBhvr additive="base">
                                        <p:cTn id="80" dur="500" decel="100000" fill="hold"/>
                                        <p:tgtEl>
                                          <p:spTgt spid="120"/>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1"/>
                                        </p:tgtEl>
                                        <p:attrNameLst>
                                          <p:attrName>style.visibility</p:attrName>
                                        </p:attrNameLst>
                                      </p:cBhvr>
                                      <p:to>
                                        <p:strVal val="visible"/>
                                      </p:to>
                                    </p:set>
                                    <p:animEffect transition="in" filter="fade">
                                      <p:cBhvr>
                                        <p:cTn id="83" dur="500"/>
                                        <p:tgtEl>
                                          <p:spTgt spid="121"/>
                                        </p:tgtEl>
                                      </p:cBhvr>
                                    </p:animEffect>
                                    <p:anim calcmode="lin" valueType="num">
                                      <p:cBhvr additive="base">
                                        <p:cTn id="84" dur="500" decel="100000" fill="hold"/>
                                        <p:tgtEl>
                                          <p:spTgt spid="121"/>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122"/>
                                        </p:tgtEl>
                                        <p:attrNameLst>
                                          <p:attrName>style.visibility</p:attrName>
                                        </p:attrNameLst>
                                      </p:cBhvr>
                                      <p:to>
                                        <p:strVal val="visible"/>
                                      </p:to>
                                    </p:set>
                                    <p:animEffect transition="in" filter="fade">
                                      <p:cBhvr>
                                        <p:cTn id="87" dur="500"/>
                                        <p:tgtEl>
                                          <p:spTgt spid="122"/>
                                        </p:tgtEl>
                                      </p:cBhvr>
                                    </p:animEffect>
                                    <p:anim calcmode="lin" valueType="num">
                                      <p:cBhvr additive="base">
                                        <p:cTn id="88" dur="500" decel="100000" fill="hold"/>
                                        <p:tgtEl>
                                          <p:spTgt spid="122"/>
                                        </p:tgtEl>
                                        <p:attrNameLst>
                                          <p:attrName>ppt_y</p:attrName>
                                        </p:attrNameLst>
                                      </p:cBhvr>
                                      <p:tavLst>
                                        <p:tav tm="0">
                                          <p:val>
                                            <p:strVal val="#ppt_y+0.06"/>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42" presetClass="entr" presetSubtype="0" fill="hold" grpId="0" nodeType="clickEffect">
                                  <p:stCondLst>
                                    <p:cond delay="0"/>
                                  </p:stCondLst>
                                  <p:childTnLst>
                                    <p:set>
                                      <p:cBhvr>
                                        <p:cTn id="92" dur="1" fill="hold">
                                          <p:stCondLst>
                                            <p:cond delay="0"/>
                                          </p:stCondLst>
                                        </p:cTn>
                                        <p:tgtEl>
                                          <p:spTgt spid="123"/>
                                        </p:tgtEl>
                                        <p:attrNameLst>
                                          <p:attrName>style.visibility</p:attrName>
                                        </p:attrNameLst>
                                      </p:cBhvr>
                                      <p:to>
                                        <p:strVal val="visible"/>
                                      </p:to>
                                    </p:set>
                                    <p:animEffect transition="in" filter="fade">
                                      <p:cBhvr>
                                        <p:cTn id="93" dur="500"/>
                                        <p:tgtEl>
                                          <p:spTgt spid="123"/>
                                        </p:tgtEl>
                                      </p:cBhvr>
                                    </p:animEffect>
                                    <p:anim calcmode="lin" valueType="num">
                                      <p:cBhvr additive="base">
                                        <p:cTn id="94" dur="500" decel="100000" fill="hold"/>
                                        <p:tgtEl>
                                          <p:spTgt spid="123"/>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4"/>
                                        </p:tgtEl>
                                        <p:attrNameLst>
                                          <p:attrName>style.visibility</p:attrName>
                                        </p:attrNameLst>
                                      </p:cBhvr>
                                      <p:to>
                                        <p:strVal val="visible"/>
                                      </p:to>
                                    </p:set>
                                    <p:animEffect transition="in" filter="fade">
                                      <p:cBhvr>
                                        <p:cTn id="97" dur="500"/>
                                        <p:tgtEl>
                                          <p:spTgt spid="124"/>
                                        </p:tgtEl>
                                      </p:cBhvr>
                                    </p:animEffect>
                                    <p:anim calcmode="lin" valueType="num">
                                      <p:cBhvr additive="base">
                                        <p:cTn id="98" dur="500" decel="100000" fill="hold"/>
                                        <p:tgtEl>
                                          <p:spTgt spid="124"/>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5"/>
                                        </p:tgtEl>
                                        <p:attrNameLst>
                                          <p:attrName>style.visibility</p:attrName>
                                        </p:attrNameLst>
                                      </p:cBhvr>
                                      <p:to>
                                        <p:strVal val="visible"/>
                                      </p:to>
                                    </p:set>
                                    <p:animEffect transition="in" filter="fade">
                                      <p:cBhvr>
                                        <p:cTn id="101" dur="500"/>
                                        <p:tgtEl>
                                          <p:spTgt spid="125"/>
                                        </p:tgtEl>
                                      </p:cBhvr>
                                    </p:animEffect>
                                    <p:anim calcmode="lin" valueType="num">
                                      <p:cBhvr additive="base">
                                        <p:cTn id="102" dur="500" decel="100000" fill="hold"/>
                                        <p:tgtEl>
                                          <p:spTgt spid="125"/>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6"/>
                                        </p:tgtEl>
                                        <p:attrNameLst>
                                          <p:attrName>style.visibility</p:attrName>
                                        </p:attrNameLst>
                                      </p:cBhvr>
                                      <p:to>
                                        <p:strVal val="visible"/>
                                      </p:to>
                                    </p:set>
                                    <p:animEffect transition="in" filter="fade">
                                      <p:cBhvr>
                                        <p:cTn id="105" dur="500"/>
                                        <p:tgtEl>
                                          <p:spTgt spid="126"/>
                                        </p:tgtEl>
                                      </p:cBhvr>
                                    </p:animEffect>
                                    <p:anim calcmode="lin" valueType="num">
                                      <p:cBhvr additive="base">
                                        <p:cTn id="106" dur="500" decel="100000" fill="hold"/>
                                        <p:tgtEl>
                                          <p:spTgt spid="126"/>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7"/>
                                        </p:tgtEl>
                                        <p:attrNameLst>
                                          <p:attrName>style.visibility</p:attrName>
                                        </p:attrNameLst>
                                      </p:cBhvr>
                                      <p:to>
                                        <p:strVal val="visible"/>
                                      </p:to>
                                    </p:set>
                                    <p:animEffect transition="in" filter="fade">
                                      <p:cBhvr>
                                        <p:cTn id="109" dur="500"/>
                                        <p:tgtEl>
                                          <p:spTgt spid="127"/>
                                        </p:tgtEl>
                                      </p:cBhvr>
                                    </p:animEffect>
                                    <p:anim calcmode="lin" valueType="num">
                                      <p:cBhvr additive="base">
                                        <p:cTn id="110" dur="500" decel="100000" fill="hold"/>
                                        <p:tgtEl>
                                          <p:spTgt spid="127"/>
                                        </p:tgtEl>
                                        <p:attrNameLst>
                                          <p:attrName>ppt_y</p:attrName>
                                        </p:attrNameLst>
                                      </p:cBhvr>
                                      <p:tavLst>
                                        <p:tav tm="0">
                                          <p:val>
                                            <p:strVal val="#ppt_y+0.06"/>
                                          </p:val>
                                        </p:tav>
                                        <p:tav tm="100000">
                                          <p:val>
                                            <p:strVal val="#ppt_y"/>
                                          </p:val>
                                        </p:tav>
                                      </p:tavLst>
                                    </p:anim>
                                  </p:childTnLst>
                                </p:cTn>
                              </p:par>
                              <p:par>
                                <p:cTn id="111" presetID="42" presetClass="entr" presetSubtype="0" fill="hold" nodeType="withEffect">
                                  <p:stCondLst>
                                    <p:cond delay="0"/>
                                  </p:stCondLst>
                                  <p:childTnLst>
                                    <p:set>
                                      <p:cBhvr>
                                        <p:cTn id="112" dur="1" fill="hold">
                                          <p:stCondLst>
                                            <p:cond delay="0"/>
                                          </p:stCondLst>
                                        </p:cTn>
                                        <p:tgtEl>
                                          <p:spTgt spid="128"/>
                                        </p:tgtEl>
                                        <p:attrNameLst>
                                          <p:attrName>style.visibility</p:attrName>
                                        </p:attrNameLst>
                                      </p:cBhvr>
                                      <p:to>
                                        <p:strVal val="visible"/>
                                      </p:to>
                                    </p:set>
                                    <p:animEffect transition="in" filter="fade">
                                      <p:cBhvr>
                                        <p:cTn id="113" dur="500"/>
                                        <p:tgtEl>
                                          <p:spTgt spid="128"/>
                                        </p:tgtEl>
                                      </p:cBhvr>
                                    </p:animEffect>
                                    <p:anim calcmode="lin" valueType="num">
                                      <p:cBhvr additive="base">
                                        <p:cTn id="114" dur="500" decel="100000" fill="hold"/>
                                        <p:tgtEl>
                                          <p:spTgt spid="128"/>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9"/>
                                        </p:tgtEl>
                                        <p:attrNameLst>
                                          <p:attrName>style.visibility</p:attrName>
                                        </p:attrNameLst>
                                      </p:cBhvr>
                                      <p:to>
                                        <p:strVal val="visible"/>
                                      </p:to>
                                    </p:set>
                                    <p:animEffect transition="in" filter="fade">
                                      <p:cBhvr>
                                        <p:cTn id="117" dur="500"/>
                                        <p:tgtEl>
                                          <p:spTgt spid="129"/>
                                        </p:tgtEl>
                                      </p:cBhvr>
                                    </p:animEffect>
                                    <p:anim calcmode="lin" valueType="num">
                                      <p:cBhvr additive="base">
                                        <p:cTn id="118" dur="500" decel="100000" fill="hold"/>
                                        <p:tgtEl>
                                          <p:spTgt spid="129"/>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30"/>
                                        </p:tgtEl>
                                        <p:attrNameLst>
                                          <p:attrName>style.visibility</p:attrName>
                                        </p:attrNameLst>
                                      </p:cBhvr>
                                      <p:to>
                                        <p:strVal val="visible"/>
                                      </p:to>
                                    </p:set>
                                    <p:animEffect transition="in" filter="fade">
                                      <p:cBhvr>
                                        <p:cTn id="121" dur="500"/>
                                        <p:tgtEl>
                                          <p:spTgt spid="130"/>
                                        </p:tgtEl>
                                      </p:cBhvr>
                                    </p:animEffect>
                                    <p:anim calcmode="lin" valueType="num">
                                      <p:cBhvr additive="base">
                                        <p:cTn id="122" dur="500" decel="100000" fill="hold"/>
                                        <p:tgtEl>
                                          <p:spTgt spid="130"/>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31"/>
                                        </p:tgtEl>
                                        <p:attrNameLst>
                                          <p:attrName>style.visibility</p:attrName>
                                        </p:attrNameLst>
                                      </p:cBhvr>
                                      <p:to>
                                        <p:strVal val="visible"/>
                                      </p:to>
                                    </p:set>
                                    <p:animEffect transition="in" filter="fade">
                                      <p:cBhvr>
                                        <p:cTn id="125" dur="500"/>
                                        <p:tgtEl>
                                          <p:spTgt spid="131"/>
                                        </p:tgtEl>
                                      </p:cBhvr>
                                    </p:animEffect>
                                    <p:anim calcmode="lin" valueType="num">
                                      <p:cBhvr additive="base">
                                        <p:cTn id="126" dur="500" decel="100000" fill="hold"/>
                                        <p:tgtEl>
                                          <p:spTgt spid="131"/>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32"/>
                                        </p:tgtEl>
                                        <p:attrNameLst>
                                          <p:attrName>style.visibility</p:attrName>
                                        </p:attrNameLst>
                                      </p:cBhvr>
                                      <p:to>
                                        <p:strVal val="visible"/>
                                      </p:to>
                                    </p:set>
                                    <p:animEffect transition="in" filter="fade">
                                      <p:cBhvr>
                                        <p:cTn id="129" dur="500"/>
                                        <p:tgtEl>
                                          <p:spTgt spid="132"/>
                                        </p:tgtEl>
                                      </p:cBhvr>
                                    </p:animEffect>
                                    <p:anim calcmode="lin" valueType="num">
                                      <p:cBhvr additive="base">
                                        <p:cTn id="130" dur="500" decel="100000" fill="hold"/>
                                        <p:tgtEl>
                                          <p:spTgt spid="132"/>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33"/>
                                        </p:tgtEl>
                                        <p:attrNameLst>
                                          <p:attrName>style.visibility</p:attrName>
                                        </p:attrNameLst>
                                      </p:cBhvr>
                                      <p:to>
                                        <p:strVal val="visible"/>
                                      </p:to>
                                    </p:set>
                                    <p:animEffect transition="in" filter="fade">
                                      <p:cBhvr>
                                        <p:cTn id="133" dur="500"/>
                                        <p:tgtEl>
                                          <p:spTgt spid="133"/>
                                        </p:tgtEl>
                                      </p:cBhvr>
                                    </p:animEffect>
                                    <p:anim calcmode="lin" valueType="num">
                                      <p:cBhvr additive="base">
                                        <p:cTn id="134" dur="500" decel="100000" fill="hold"/>
                                        <p:tgtEl>
                                          <p:spTgt spid="133"/>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134"/>
                                        </p:tgtEl>
                                        <p:attrNameLst>
                                          <p:attrName>style.visibility</p:attrName>
                                        </p:attrNameLst>
                                      </p:cBhvr>
                                      <p:to>
                                        <p:strVal val="visible"/>
                                      </p:to>
                                    </p:set>
                                    <p:animEffect transition="in" filter="fade">
                                      <p:cBhvr>
                                        <p:cTn id="137" dur="500"/>
                                        <p:tgtEl>
                                          <p:spTgt spid="134"/>
                                        </p:tgtEl>
                                      </p:cBhvr>
                                    </p:animEffect>
                                    <p:anim calcmode="lin" valueType="num">
                                      <p:cBhvr additive="base">
                                        <p:cTn id="138" dur="500" decel="100000" fill="hold"/>
                                        <p:tgtEl>
                                          <p:spTgt spid="134"/>
                                        </p:tgtEl>
                                        <p:attrNameLst>
                                          <p:attrName>ppt_y</p:attrName>
                                        </p:attrNameLst>
                                      </p:cBhvr>
                                      <p:tavLst>
                                        <p:tav tm="0">
                                          <p:val>
                                            <p:strVal val="#ppt_y+0.06"/>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53" presetClass="entr" presetSubtype="16" fill="hold" grpId="0" nodeType="clickEffect">
                                  <p:stCondLst>
                                    <p:cond delay="0"/>
                                  </p:stCondLst>
                                  <p:childTnLst>
                                    <p:set>
                                      <p:cBhvr>
                                        <p:cTn id="142" dur="1" fill="hold">
                                          <p:stCondLst>
                                            <p:cond delay="0"/>
                                          </p:stCondLst>
                                        </p:cTn>
                                        <p:tgtEl>
                                          <p:spTgt spid="135"/>
                                        </p:tgtEl>
                                        <p:attrNameLst>
                                          <p:attrName>style.visibility</p:attrName>
                                        </p:attrNameLst>
                                      </p:cBhvr>
                                      <p:to>
                                        <p:strVal val="visible"/>
                                      </p:to>
                                    </p:set>
                                    <p:anim calcmode="lin" valueType="num">
                                      <p:cBhvr additive="base">
                                        <p:cTn id="143" dur="500" decel="100000" fill="hold"/>
                                        <p:tgtEl>
                                          <p:spTgt spid="135"/>
                                        </p:tgtEl>
                                        <p:attrNameLst>
                                          <p:attrName>ppt_w</p:attrName>
                                        </p:attrNameLst>
                                      </p:cBhvr>
                                      <p:tavLst>
                                        <p:tav tm="0">
                                          <p:val>
                                            <p:strVal val="#ppt_w*0.3"/>
                                          </p:val>
                                        </p:tav>
                                        <p:tav tm="100000">
                                          <p:val>
                                            <p:strVal val="#ppt_w*1.08"/>
                                          </p:val>
                                        </p:tav>
                                      </p:tavLst>
                                    </p:anim>
                                    <p:anim calcmode="lin" valueType="num">
                                      <p:cBhvr additive="base">
                                        <p:cTn id="144" dur="500" decel="100000" fill="hold"/>
                                        <p:tgtEl>
                                          <p:spTgt spid="135"/>
                                        </p:tgtEl>
                                        <p:attrNameLst>
                                          <p:attrName>ppt_h</p:attrName>
                                        </p:attrNameLst>
                                      </p:cBhvr>
                                      <p:tavLst>
                                        <p:tav tm="0">
                                          <p:val>
                                            <p:strVal val="#ppt_h*0.3"/>
                                          </p:val>
                                        </p:tav>
                                        <p:tav tm="100000">
                                          <p:val>
                                            <p:strVal val="#ppt_h*1.08"/>
                                          </p:val>
                                        </p:tav>
                                      </p:tavLst>
                                    </p:anim>
                                    <p:animEffect transition="in" filter="fade">
                                      <p:cBhvr>
                                        <p:cTn id="145" dur="250"/>
                                        <p:tgtEl>
                                          <p:spTgt spid="135"/>
                                        </p:tgtEl>
                                      </p:cBhvr>
                                    </p:animEffect>
                                    <p:anim calcmode="lin" valueType="num">
                                      <p:cBhvr additive="base">
                                        <p:cTn id="146" dur="160" fill="hold">
                                          <p:stCondLst>
                                            <p:cond delay="500"/>
                                          </p:stCondLst>
                                        </p:cTn>
                                        <p:tgtEl>
                                          <p:spTgt spid="135"/>
                                        </p:tgtEl>
                                        <p:attrNameLst>
                                          <p:attrName>ppt_w</p:attrName>
                                        </p:attrNameLst>
                                      </p:cBhvr>
                                      <p:tavLst>
                                        <p:tav tm="0">
                                          <p:val>
                                            <p:strVal val="#ppt_w*1.08"/>
                                          </p:val>
                                        </p:tav>
                                        <p:tav tm="100000">
                                          <p:val>
                                            <p:strVal val="#ppt_w"/>
                                          </p:val>
                                        </p:tav>
                                      </p:tavLst>
                                    </p:anim>
                                    <p:anim calcmode="lin" valueType="num">
                                      <p:cBhvr additive="base">
                                        <p:cTn id="147" dur="160" fill="hold">
                                          <p:stCondLst>
                                            <p:cond delay="500"/>
                                          </p:stCondLst>
                                        </p:cTn>
                                        <p:tgtEl>
                                          <p:spTgt spid="135"/>
                                        </p:tgtEl>
                                        <p:attrNameLst>
                                          <p:attrName>ppt_h</p:attrName>
                                        </p:attrNameLst>
                                      </p:cBhvr>
                                      <p:tavLst>
                                        <p:tav tm="0">
                                          <p:val>
                                            <p:strVal val="#ppt_h*1.08"/>
                                          </p:val>
                                        </p:tav>
                                        <p:tav tm="100000">
                                          <p:val>
                                            <p:strVal val="#ppt_h"/>
                                          </p:val>
                                        </p:tav>
                                      </p:tavLst>
                                    </p:anim>
                                  </p:childTnLst>
                                </p:cTn>
                              </p:par>
                            </p:childTnLst>
                          </p:cTn>
                        </p:par>
                      </p:childTnLst>
                    </p:cTn>
                  </p:par>
                  <p:par>
                    <p:cTn id="148" fill="hold">
                      <p:stCondLst>
                        <p:cond delay="indefinite"/>
                      </p:stCondLst>
                      <p:childTnLst>
                        <p:par>
                          <p:cTn id="149" fill="hold">
                            <p:stCondLst>
                              <p:cond delay="0"/>
                            </p:stCondLst>
                            <p:childTnLst>
                              <p:par>
                                <p:cTn id="150" presetID="53" presetClass="entr" presetSubtype="16" fill="hold" grpId="0" nodeType="clickEffect">
                                  <p:stCondLst>
                                    <p:cond delay="0"/>
                                  </p:stCondLst>
                                  <p:childTnLst>
                                    <p:set>
                                      <p:cBhvr>
                                        <p:cTn id="151" dur="1" fill="hold">
                                          <p:stCondLst>
                                            <p:cond delay="0"/>
                                          </p:stCondLst>
                                        </p:cTn>
                                        <p:tgtEl>
                                          <p:spTgt spid="104"/>
                                        </p:tgtEl>
                                        <p:attrNameLst>
                                          <p:attrName>style.visibility</p:attrName>
                                        </p:attrNameLst>
                                      </p:cBhvr>
                                      <p:to>
                                        <p:strVal val="visible"/>
                                      </p:to>
                                    </p:set>
                                    <p:anim calcmode="lin" valueType="num">
                                      <p:cBhvr additive="base">
                                        <p:cTn id="152"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153" dur="500" decel="100000" fill="hold"/>
                                        <p:tgtEl>
                                          <p:spTgt spid="104"/>
                                        </p:tgtEl>
                                        <p:attrNameLst>
                                          <p:attrName>ppt_h</p:attrName>
                                        </p:attrNameLst>
                                      </p:cBhvr>
                                      <p:tavLst>
                                        <p:tav tm="0">
                                          <p:val>
                                            <p:strVal val="#ppt_h*0.3"/>
                                          </p:val>
                                        </p:tav>
                                        <p:tav tm="100000">
                                          <p:val>
                                            <p:strVal val="#ppt_h*1.08"/>
                                          </p:val>
                                        </p:tav>
                                      </p:tavLst>
                                    </p:anim>
                                    <p:animEffect transition="in" filter="fade">
                                      <p:cBhvr>
                                        <p:cTn id="154" dur="250"/>
                                        <p:tgtEl>
                                          <p:spTgt spid="104"/>
                                        </p:tgtEl>
                                      </p:cBhvr>
                                    </p:animEffect>
                                    <p:anim calcmode="lin" valueType="num">
                                      <p:cBhvr additive="base">
                                        <p:cTn id="155"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156"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7" grpId="0" animBg="1"/>
      <p:bldP spid="108" grpId="0" animBg="1"/>
      <p:bldP spid="109"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9" grpId="0" animBg="1"/>
      <p:bldP spid="130" grpId="0" animBg="1"/>
      <p:bldP spid="131" grpId="0" animBg="1"/>
      <p:bldP spid="132" grpId="0" animBg="1"/>
      <p:bldP spid="133" grpId="0" animBg="1"/>
      <p:bldP spid="134" grpId="0" animBg="1"/>
      <p:bldP spid="135"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FAKE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FAKE: A Small Version That Really Works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TransferService reads AND writes accounts. Fixed answers are not enough: we need a working repository.</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153</a:t>
            </a:r>
            <a:endParaRPr lang="en-US" sz="850" dirty="0"/>
          </a:p>
        </p:txBody>
      </p:sp>
      <p:sp>
        <p:nvSpPr>
          <p:cNvPr id="101" name="s101"/>
          <p:cNvSpPr/>
          <p:nvPr/>
        </p:nvSpPr>
        <p:spPr>
          <a:xfrm>
            <a:off x="8979408" y="457200"/>
            <a:ext cx="2651760" cy="310896"/>
          </a:xfrm>
          <a:prstGeom prst="roundRect">
            <a:avLst>
              <a:gd name="adj" fmla="val 50000"/>
            </a:avLst>
          </a:prstGeom>
          <a:solidFill>
            <a:srgbClr val="FBBF24"/>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  OFTEN</a:t>
            </a:r>
            <a:endParaRPr lang="en-US" sz="1100" dirty="0"/>
          </a:p>
        </p:txBody>
      </p:sp>
      <p:sp>
        <p:nvSpPr>
          <p:cNvPr id="102" name="s102"/>
          <p:cNvSpPr/>
          <p:nvPr/>
        </p:nvSpPr>
        <p:spPr>
          <a:xfrm>
            <a:off x="543154" y="1810512"/>
            <a:ext cx="3931920" cy="1481328"/>
          </a:xfrm>
          <a:prstGeom prst="roundRect">
            <a:avLst>
              <a:gd name="adj" fmla="val 8000"/>
            </a:avLst>
          </a:prstGeom>
          <a:solidFill>
            <a:srgbClr val="111B2E"/>
          </a:solidFill>
          <a:ln w="12700">
            <a:solidFill>
              <a:srgbClr val="FBBF24"/>
            </a:solidFill>
            <a:prstDash val="solid"/>
          </a:ln>
        </p:spPr>
        <p:txBody>
          <a:bodyPr wrap="square" lIns="182880" tIns="128016" rIns="137160" bIns="91440" rtlCol="0" anchor="t">
            <a:noAutofit/>
          </a:bodyPr>
          <a:lstStyle/>
          <a:p>
            <a:pPr marL="0" indent="0" algn="l">
              <a:spcBef>
                <a:spcPts val="0"/>
              </a:spcBef>
              <a:spcAft>
                <a:spcPts val="500"/>
              </a:spcAft>
              <a:buNone/>
            </a:pPr>
            <a:r>
              <a:rPr lang="en-US" sz="1100" b="1" dirty="0">
                <a:solidFill>
                  <a:srgbClr val="FBBF24"/>
                </a:solidFill>
                <a:latin typeface="Segoe UI"/>
                <a:ea typeface="Segoe UI"/>
                <a:cs typeface="Segoe UI"/>
              </a:rPr>
              <a:t>WHEN TO USE IT</a:t>
            </a:r>
            <a:endParaRPr lang="en-US" sz="11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the dependency must really WORK</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save → find, add → count</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example: a database / repository</a:t>
            </a:r>
            <a:endParaRPr lang="en-US" sz="1200" dirty="0"/>
          </a:p>
        </p:txBody>
      </p:sp>
      <p:sp>
        <p:nvSpPr>
          <p:cNvPr id="103" name="s103"/>
          <p:cNvSpPr/>
          <p:nvPr/>
        </p:nvSpPr>
        <p:spPr>
          <a:xfrm>
            <a:off x="543154" y="3401568"/>
            <a:ext cx="3931920" cy="1572768"/>
          </a:xfrm>
          <a:prstGeom prst="roundRect">
            <a:avLst>
              <a:gd name="adj" fmla="val 8000"/>
            </a:avLst>
          </a:prstGeom>
          <a:solidFill>
            <a:srgbClr val="111B2E"/>
          </a:solidFill>
          <a:ln w="12700">
            <a:solidFill>
              <a:srgbClr val="FBBF24"/>
            </a:solidFill>
            <a:prstDash val="solid"/>
          </a:ln>
        </p:spPr>
        <p:txBody>
          <a:bodyPr wrap="square" lIns="182880" tIns="128016" rIns="137160" bIns="91440" rtlCol="0" anchor="t">
            <a:noAutofit/>
          </a:bodyPr>
          <a:lstStyle/>
          <a:p>
            <a:pPr marL="0" indent="0" algn="l">
              <a:spcBef>
                <a:spcPts val="0"/>
              </a:spcBef>
              <a:spcAft>
                <a:spcPts val="500"/>
              </a:spcAft>
              <a:buNone/>
            </a:pPr>
            <a:r>
              <a:rPr lang="en-US" sz="1100" b="1" dirty="0">
                <a:solidFill>
                  <a:srgbClr val="FBBF24"/>
                </a:solidFill>
                <a:latin typeface="Segoe UI"/>
                <a:ea typeface="Segoe UI"/>
                <a:cs typeface="Segoe UI"/>
              </a:rPr>
              <a:t>WHAT YOU NEED</a:t>
            </a:r>
            <a:endParaRPr lang="en-US" sz="11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the interface:  IAccountRepository</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a class with a simple real body (a Dictionary / List)</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no package needed</a:t>
            </a:r>
            <a:endParaRPr lang="en-US" sz="1200" dirty="0"/>
          </a:p>
        </p:txBody>
      </p:sp>
      <p:sp>
        <p:nvSpPr>
          <p:cNvPr id="104" name="s104"/>
          <p:cNvSpPr/>
          <p:nvPr/>
        </p:nvSpPr>
        <p:spPr>
          <a:xfrm>
            <a:off x="543154" y="5084064"/>
            <a:ext cx="3931920" cy="1170432"/>
          </a:xfrm>
          <a:prstGeom prst="roundRect">
            <a:avLst>
              <a:gd name="adj" fmla="val 8000"/>
            </a:avLst>
          </a:prstGeom>
          <a:solidFill>
            <a:srgbClr val="FBBF24">
              <a:alpha val="10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400"/>
              </a:spcAft>
              <a:buNone/>
            </a:pPr>
            <a:r>
              <a:rPr lang="en-US" sz="1100" b="1" dirty="0">
                <a:solidFill>
                  <a:srgbClr val="FBBF24"/>
                </a:solidFill>
                <a:latin typeface="Segoe UI"/>
                <a:ea typeface="Segoe UI"/>
                <a:cs typeface="Segoe UI"/>
              </a:rPr>
              <a:t>REMEMBER</a:t>
            </a:r>
            <a:endParaRPr lang="en-US" sz="1100" dirty="0"/>
          </a:p>
          <a:p>
            <a:pPr marL="0" indent="0" algn="l">
              <a:spcBef>
                <a:spcPts val="0"/>
              </a:spcBef>
              <a:spcAft>
                <a:spcPts val="0"/>
              </a:spcAft>
              <a:buNone/>
            </a:pPr>
            <a:r>
              <a:rPr lang="en-US" sz="1200" b="0" dirty="0">
                <a:solidFill>
                  <a:srgbClr val="FFFFFF"/>
                </a:solidFill>
                <a:latin typeface="Segoe UI"/>
                <a:ea typeface="Segoe UI"/>
                <a:cs typeface="Segoe UI"/>
              </a:rPr>
              <a:t>A fake is real code: keep it tiny and correct. EF Core InMemory and SQLite in-memory are ready-made fakes.</a:t>
            </a:r>
            <a:endParaRPr lang="en-US" sz="1200" dirty="0"/>
          </a:p>
        </p:txBody>
      </p:sp>
      <p:sp>
        <p:nvSpPr>
          <p:cNvPr id="105" name="s105"/>
          <p:cNvSpPr/>
          <p:nvPr/>
        </p:nvSpPr>
        <p:spPr>
          <a:xfrm>
            <a:off x="4703674" y="1810512"/>
            <a:ext cx="6927494" cy="1636776"/>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6" name="s106"/>
          <p:cNvSpPr/>
          <p:nvPr/>
        </p:nvSpPr>
        <p:spPr>
          <a:xfrm>
            <a:off x="4868266" y="195681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7" name="s107"/>
          <p:cNvSpPr/>
          <p:nvPr/>
        </p:nvSpPr>
        <p:spPr>
          <a:xfrm>
            <a:off x="5051146" y="195681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8" name="s108"/>
          <p:cNvSpPr/>
          <p:nvPr/>
        </p:nvSpPr>
        <p:spPr>
          <a:xfrm>
            <a:off x="5234026" y="195681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9" name="s109"/>
          <p:cNvSpPr/>
          <p:nvPr/>
        </p:nvSpPr>
        <p:spPr>
          <a:xfrm>
            <a:off x="5480914" y="1883664"/>
            <a:ext cx="3244291"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InMemoryAccountRepository.cs  ·  the fake</a:t>
            </a:r>
            <a:endParaRPr lang="en-US" sz="950" dirty="0"/>
          </a:p>
        </p:txBody>
      </p:sp>
      <p:cxnSp>
        <p:nvCxnSpPr>
          <p:cNvPr id="110" name="ln110"/>
          <p:cNvCxnSpPr/>
          <p:nvPr/>
        </p:nvCxnSpPr>
        <p:spPr>
          <a:xfrm>
            <a:off x="4703674" y="2221992"/>
            <a:ext cx="6927494" cy="0"/>
          </a:xfrm>
          <a:prstGeom prst="line">
            <a:avLst/>
          </a:prstGeom>
          <a:ln w="9525">
            <a:solidFill>
              <a:srgbClr val="1E3A5F"/>
            </a:solidFill>
          </a:ln>
        </p:spPr>
      </p:cxnSp>
      <p:sp>
        <p:nvSpPr>
          <p:cNvPr id="111" name="s111"/>
          <p:cNvSpPr/>
          <p:nvPr/>
        </p:nvSpPr>
        <p:spPr>
          <a:xfrm>
            <a:off x="4703674" y="234086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FAE7A"/>
                </a:solidFill>
                <a:latin typeface="Consolas"/>
                <a:ea typeface="Consolas"/>
                <a:cs typeface="Consolas"/>
              </a:rPr>
              <a:t>// FAKE: a real, working repository, kept in memory</a:t>
            </a:r>
            <a:endParaRPr lang="en-US" sz="900" dirty="0"/>
          </a:p>
        </p:txBody>
      </p:sp>
      <p:sp>
        <p:nvSpPr>
          <p:cNvPr id="112" name="s112"/>
          <p:cNvSpPr/>
          <p:nvPr/>
        </p:nvSpPr>
        <p:spPr>
          <a:xfrm>
            <a:off x="4703674" y="247802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class</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InMemoryAccountRepository</a:t>
            </a:r>
            <a:r>
              <a:rPr lang="en-US" sz="900" b="0" dirty="0">
                <a:solidFill>
                  <a:srgbClr val="E2E8F0"/>
                </a:solidFill>
                <a:latin typeface="Consolas"/>
                <a:ea typeface="Consolas"/>
                <a:cs typeface="Consolas"/>
              </a:rPr>
              <a:t> : </a:t>
            </a:r>
            <a:r>
              <a:rPr lang="en-US" sz="900" b="0" dirty="0">
                <a:solidFill>
                  <a:srgbClr val="7DD3FC"/>
                </a:solidFill>
                <a:latin typeface="Consolas"/>
                <a:ea typeface="Consolas"/>
                <a:cs typeface="Consolas"/>
              </a:rPr>
              <a:t>IAccountRepository</a:t>
            </a:r>
            <a:endParaRPr lang="en-US" sz="900" dirty="0"/>
          </a:p>
        </p:txBody>
      </p:sp>
      <p:sp>
        <p:nvSpPr>
          <p:cNvPr id="113" name="s113"/>
          <p:cNvSpPr/>
          <p:nvPr/>
        </p:nvSpPr>
        <p:spPr>
          <a:xfrm>
            <a:off x="4703674" y="261518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14" name="s114"/>
          <p:cNvSpPr/>
          <p:nvPr/>
        </p:nvSpPr>
        <p:spPr>
          <a:xfrm>
            <a:off x="4703674" y="275234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private</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readonly</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Dictionary</a:t>
            </a:r>
            <a:r>
              <a:rPr lang="en-US" sz="900" b="0" dirty="0">
                <a:solidFill>
                  <a:srgbClr val="E2E8F0"/>
                </a:solidFill>
                <a:latin typeface="Consolas"/>
                <a:ea typeface="Consolas"/>
                <a:cs typeface="Consolas"/>
              </a:rPr>
              <a:t>&lt;</a:t>
            </a:r>
            <a:r>
              <a:rPr lang="en-US" sz="900" b="0" dirty="0">
                <a:solidFill>
                  <a:srgbClr val="60A5FA"/>
                </a:solidFill>
                <a:latin typeface="Consolas"/>
                <a:ea typeface="Consolas"/>
                <a:cs typeface="Consolas"/>
              </a:rPr>
              <a:t>string</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BankAccount</a:t>
            </a:r>
            <a:r>
              <a:rPr lang="en-US" sz="900" b="0" dirty="0">
                <a:solidFill>
                  <a:srgbClr val="E2E8F0"/>
                </a:solidFill>
                <a:latin typeface="Consolas"/>
                <a:ea typeface="Consolas"/>
                <a:cs typeface="Consolas"/>
              </a:rPr>
              <a:t>&gt; _accounts = </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a:t>
            </a:r>
            <a:endParaRPr lang="en-US" sz="900" dirty="0"/>
          </a:p>
        </p:txBody>
      </p:sp>
      <p:sp>
        <p:nvSpPr>
          <p:cNvPr id="115" name="s115"/>
          <p:cNvSpPr/>
          <p:nvPr/>
        </p:nvSpPr>
        <p:spPr>
          <a:xfrm>
            <a:off x="4703674" y="288950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BankAccount</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Find</a:t>
            </a:r>
            <a:r>
              <a:rPr lang="en-US" sz="900" b="0" dirty="0">
                <a:solidFill>
                  <a:srgbClr val="E2E8F0"/>
                </a:solidFill>
                <a:latin typeface="Consolas"/>
                <a:ea typeface="Consolas"/>
                <a:cs typeface="Consolas"/>
              </a:rPr>
              <a:t>(</a:t>
            </a:r>
            <a:r>
              <a:rPr lang="en-US" sz="900" b="0" dirty="0">
                <a:solidFill>
                  <a:srgbClr val="60A5FA"/>
                </a:solidFill>
                <a:latin typeface="Consolas"/>
                <a:ea typeface="Consolas"/>
                <a:cs typeface="Consolas"/>
              </a:rPr>
              <a:t>string</a:t>
            </a:r>
            <a:r>
              <a:rPr lang="en-US" sz="900" b="0" dirty="0">
                <a:solidFill>
                  <a:srgbClr val="E2E8F0"/>
                </a:solidFill>
                <a:latin typeface="Consolas"/>
                <a:ea typeface="Consolas"/>
                <a:cs typeface="Consolas"/>
              </a:rPr>
              <a:t> owner) =&gt; _accounts.</a:t>
            </a:r>
            <a:r>
              <a:rPr lang="en-US" sz="900" b="0" dirty="0">
                <a:solidFill>
                  <a:srgbClr val="7DD3FC"/>
                </a:solidFill>
                <a:latin typeface="Consolas"/>
                <a:ea typeface="Consolas"/>
                <a:cs typeface="Consolas"/>
              </a:rPr>
              <a:t>GetValueOrDefault</a:t>
            </a:r>
            <a:r>
              <a:rPr lang="en-US" sz="900" b="0" dirty="0">
                <a:solidFill>
                  <a:srgbClr val="E2E8F0"/>
                </a:solidFill>
                <a:latin typeface="Consolas"/>
                <a:ea typeface="Consolas"/>
                <a:cs typeface="Consolas"/>
              </a:rPr>
              <a:t>(owner);</a:t>
            </a:r>
            <a:endParaRPr lang="en-US" sz="900" dirty="0"/>
          </a:p>
        </p:txBody>
      </p:sp>
      <p:sp>
        <p:nvSpPr>
          <p:cNvPr id="116" name="s116"/>
          <p:cNvSpPr/>
          <p:nvPr/>
        </p:nvSpPr>
        <p:spPr>
          <a:xfrm>
            <a:off x="4703674" y="302666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void</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Save</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BankAccount</a:t>
            </a:r>
            <a:r>
              <a:rPr lang="en-US" sz="900" b="0" dirty="0">
                <a:solidFill>
                  <a:srgbClr val="E2E8F0"/>
                </a:solidFill>
                <a:latin typeface="Consolas"/>
                <a:ea typeface="Consolas"/>
                <a:cs typeface="Consolas"/>
              </a:rPr>
              <a:t> account) =&gt; _accounts[account.</a:t>
            </a:r>
            <a:r>
              <a:rPr lang="en-US" sz="900" b="0" dirty="0">
                <a:solidFill>
                  <a:srgbClr val="7DD3FC"/>
                </a:solidFill>
                <a:latin typeface="Consolas"/>
                <a:ea typeface="Consolas"/>
                <a:cs typeface="Consolas"/>
              </a:rPr>
              <a:t>Owner</a:t>
            </a:r>
            <a:r>
              <a:rPr lang="en-US" sz="900" b="0" dirty="0">
                <a:solidFill>
                  <a:srgbClr val="E2E8F0"/>
                </a:solidFill>
                <a:latin typeface="Consolas"/>
                <a:ea typeface="Consolas"/>
                <a:cs typeface="Consolas"/>
              </a:rPr>
              <a:t>] = account;</a:t>
            </a:r>
            <a:endParaRPr lang="en-US" sz="900" dirty="0"/>
          </a:p>
        </p:txBody>
      </p:sp>
      <p:sp>
        <p:nvSpPr>
          <p:cNvPr id="117" name="s117"/>
          <p:cNvSpPr/>
          <p:nvPr/>
        </p:nvSpPr>
        <p:spPr>
          <a:xfrm>
            <a:off x="4703674" y="316382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18" name="s118"/>
          <p:cNvSpPr/>
          <p:nvPr/>
        </p:nvSpPr>
        <p:spPr>
          <a:xfrm>
            <a:off x="4703674" y="3557016"/>
            <a:ext cx="6927494" cy="2185416"/>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9" name="s119"/>
          <p:cNvSpPr/>
          <p:nvPr/>
        </p:nvSpPr>
        <p:spPr>
          <a:xfrm>
            <a:off x="4868266" y="3703320"/>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0" name="s120"/>
          <p:cNvSpPr/>
          <p:nvPr/>
        </p:nvSpPr>
        <p:spPr>
          <a:xfrm>
            <a:off x="5051146" y="3703320"/>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1" name="s121"/>
          <p:cNvSpPr/>
          <p:nvPr/>
        </p:nvSpPr>
        <p:spPr>
          <a:xfrm>
            <a:off x="5234026" y="3703320"/>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2" name="s122"/>
          <p:cNvSpPr/>
          <p:nvPr/>
        </p:nvSpPr>
        <p:spPr>
          <a:xfrm>
            <a:off x="5480914" y="3630168"/>
            <a:ext cx="2887675"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TransferServiceTests.cs  ·  the test</a:t>
            </a:r>
            <a:endParaRPr lang="en-US" sz="950" dirty="0"/>
          </a:p>
        </p:txBody>
      </p:sp>
      <p:cxnSp>
        <p:nvCxnSpPr>
          <p:cNvPr id="123" name="ln123"/>
          <p:cNvCxnSpPr/>
          <p:nvPr/>
        </p:nvCxnSpPr>
        <p:spPr>
          <a:xfrm>
            <a:off x="4703674" y="3968496"/>
            <a:ext cx="6927494" cy="0"/>
          </a:xfrm>
          <a:prstGeom prst="line">
            <a:avLst/>
          </a:prstGeom>
          <a:ln w="9525">
            <a:solidFill>
              <a:srgbClr val="1E3A5F"/>
            </a:solidFill>
          </a:ln>
        </p:spPr>
      </p:cxnSp>
      <p:sp>
        <p:nvSpPr>
          <p:cNvPr id="124" name="s124"/>
          <p:cNvSpPr/>
          <p:nvPr/>
        </p:nvSpPr>
        <p:spPr>
          <a:xfrm>
            <a:off x="4703674" y="408736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FBBF24"/>
                </a:solidFill>
                <a:latin typeface="Consolas"/>
                <a:ea typeface="Consolas"/>
                <a:cs typeface="Consolas"/>
              </a:rPr>
              <a:t>[Fact]</a:t>
            </a:r>
            <a:endParaRPr lang="en-US" sz="900" dirty="0"/>
          </a:p>
        </p:txBody>
      </p:sp>
      <p:sp>
        <p:nvSpPr>
          <p:cNvPr id="125" name="s125"/>
          <p:cNvSpPr/>
          <p:nvPr/>
        </p:nvSpPr>
        <p:spPr>
          <a:xfrm>
            <a:off x="4703674" y="422452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void</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Transfer_MovesTheMoney</a:t>
            </a:r>
            <a:r>
              <a:rPr lang="en-US" sz="900" b="0" dirty="0">
                <a:solidFill>
                  <a:srgbClr val="E2E8F0"/>
                </a:solidFill>
                <a:latin typeface="Consolas"/>
                <a:ea typeface="Consolas"/>
                <a:cs typeface="Consolas"/>
              </a:rPr>
              <a:t>()</a:t>
            </a:r>
            <a:endParaRPr lang="en-US" sz="900" dirty="0"/>
          </a:p>
        </p:txBody>
      </p:sp>
      <p:sp>
        <p:nvSpPr>
          <p:cNvPr id="126" name="s126"/>
          <p:cNvSpPr/>
          <p:nvPr/>
        </p:nvSpPr>
        <p:spPr>
          <a:xfrm>
            <a:off x="4703674" y="436168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27" name="s127"/>
          <p:cNvSpPr/>
          <p:nvPr/>
        </p:nvSpPr>
        <p:spPr>
          <a:xfrm>
            <a:off x="4703674" y="449884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var</a:t>
            </a:r>
            <a:r>
              <a:rPr lang="en-US" sz="900" b="0" dirty="0">
                <a:solidFill>
                  <a:srgbClr val="E2E8F0"/>
                </a:solidFill>
                <a:latin typeface="Consolas"/>
                <a:ea typeface="Consolas"/>
                <a:cs typeface="Consolas"/>
              </a:rPr>
              <a:t> accounts = </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InMemoryAccountRepository</a:t>
            </a:r>
            <a:r>
              <a:rPr lang="en-US" sz="900" b="0" dirty="0">
                <a:solidFill>
                  <a:srgbClr val="E2E8F0"/>
                </a:solidFill>
                <a:latin typeface="Consolas"/>
                <a:ea typeface="Consolas"/>
                <a:cs typeface="Consolas"/>
              </a:rPr>
              <a:t>();                         </a:t>
            </a:r>
            <a:r>
              <a:rPr lang="en-US" sz="900" b="0" dirty="0">
                <a:solidFill>
                  <a:srgbClr val="6FAE7A"/>
                </a:solidFill>
                <a:latin typeface="Consolas"/>
                <a:ea typeface="Consolas"/>
                <a:cs typeface="Consolas"/>
              </a:rPr>
              <a:t>// FAKE</a:t>
            </a:r>
            <a:endParaRPr lang="en-US" sz="900" dirty="0"/>
          </a:p>
        </p:txBody>
      </p:sp>
      <p:sp>
        <p:nvSpPr>
          <p:cNvPr id="128" name="s128"/>
          <p:cNvSpPr/>
          <p:nvPr/>
        </p:nvSpPr>
        <p:spPr>
          <a:xfrm>
            <a:off x="4703674" y="463600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accounts.</a:t>
            </a:r>
            <a:r>
              <a:rPr lang="en-US" sz="900" b="0" dirty="0">
                <a:solidFill>
                  <a:srgbClr val="7DD3FC"/>
                </a:solidFill>
                <a:latin typeface="Consolas"/>
                <a:ea typeface="Consolas"/>
                <a:cs typeface="Consolas"/>
              </a:rPr>
              <a:t>Save</a:t>
            </a:r>
            <a:r>
              <a:rPr lang="en-US" sz="900" b="0" dirty="0">
                <a:solidFill>
                  <a:srgbClr val="E2E8F0"/>
                </a:solidFill>
                <a:latin typeface="Consolas"/>
                <a:ea typeface="Consolas"/>
                <a:cs typeface="Consolas"/>
              </a:rPr>
              <a:t>(</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BankAccount</a:t>
            </a:r>
            <a:r>
              <a:rPr lang="en-US" sz="900" b="0" dirty="0">
                <a:solidFill>
                  <a:srgbClr val="E2E8F0"/>
                </a:solidFill>
                <a:latin typeface="Consolas"/>
                <a:ea typeface="Consolas"/>
                <a:cs typeface="Consolas"/>
              </a:rPr>
              <a:t>(</a:t>
            </a:r>
            <a:r>
              <a:rPr lang="en-US" sz="900" b="0" dirty="0">
                <a:solidFill>
                  <a:srgbClr val="F0A98B"/>
                </a:solidFill>
                <a:latin typeface="Consolas"/>
                <a:ea typeface="Consolas"/>
                <a:cs typeface="Consolas"/>
              </a:rPr>
              <a:t>"mona@bank.eg"</a:t>
            </a:r>
            <a:r>
              <a:rPr lang="en-US" sz="900" b="0" dirty="0">
                <a:solidFill>
                  <a:srgbClr val="E2E8F0"/>
                </a:solidFill>
                <a:latin typeface="Consolas"/>
                <a:ea typeface="Consolas"/>
                <a:cs typeface="Consolas"/>
              </a:rPr>
              <a:t>, </a:t>
            </a:r>
            <a:r>
              <a:rPr lang="en-US" sz="900" b="0" dirty="0">
                <a:solidFill>
                  <a:srgbClr val="C4B5FD"/>
                </a:solidFill>
                <a:latin typeface="Consolas"/>
                <a:ea typeface="Consolas"/>
                <a:cs typeface="Consolas"/>
              </a:rPr>
              <a:t>500m</a:t>
            </a:r>
            <a:r>
              <a:rPr lang="en-US" sz="900" b="0" dirty="0">
                <a:solidFill>
                  <a:srgbClr val="E2E8F0"/>
                </a:solidFill>
                <a:latin typeface="Consolas"/>
                <a:ea typeface="Consolas"/>
                <a:cs typeface="Consolas"/>
              </a:rPr>
              <a:t>));</a:t>
            </a:r>
            <a:endParaRPr lang="en-US" sz="900" dirty="0"/>
          </a:p>
        </p:txBody>
      </p:sp>
      <p:sp>
        <p:nvSpPr>
          <p:cNvPr id="129" name="s129"/>
          <p:cNvSpPr/>
          <p:nvPr/>
        </p:nvSpPr>
        <p:spPr>
          <a:xfrm>
            <a:off x="4703674" y="477316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accounts.</a:t>
            </a:r>
            <a:r>
              <a:rPr lang="en-US" sz="900" b="0" dirty="0">
                <a:solidFill>
                  <a:srgbClr val="7DD3FC"/>
                </a:solidFill>
                <a:latin typeface="Consolas"/>
                <a:ea typeface="Consolas"/>
                <a:cs typeface="Consolas"/>
              </a:rPr>
              <a:t>Save</a:t>
            </a:r>
            <a:r>
              <a:rPr lang="en-US" sz="900" b="0" dirty="0">
                <a:solidFill>
                  <a:srgbClr val="E2E8F0"/>
                </a:solidFill>
                <a:latin typeface="Consolas"/>
                <a:ea typeface="Consolas"/>
                <a:cs typeface="Consolas"/>
              </a:rPr>
              <a:t>(</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BankAccount</a:t>
            </a:r>
            <a:r>
              <a:rPr lang="en-US" sz="900" b="0" dirty="0">
                <a:solidFill>
                  <a:srgbClr val="E2E8F0"/>
                </a:solidFill>
                <a:latin typeface="Consolas"/>
                <a:ea typeface="Consolas"/>
                <a:cs typeface="Consolas"/>
              </a:rPr>
              <a:t>(</a:t>
            </a:r>
            <a:r>
              <a:rPr lang="en-US" sz="900" b="0" dirty="0">
                <a:solidFill>
                  <a:srgbClr val="F0A98B"/>
                </a:solidFill>
                <a:latin typeface="Consolas"/>
                <a:ea typeface="Consolas"/>
                <a:cs typeface="Consolas"/>
              </a:rPr>
              <a:t>"ali@bank.eg"</a:t>
            </a:r>
            <a:r>
              <a:rPr lang="en-US" sz="900" b="0" dirty="0">
                <a:solidFill>
                  <a:srgbClr val="E2E8F0"/>
                </a:solidFill>
                <a:latin typeface="Consolas"/>
                <a:ea typeface="Consolas"/>
                <a:cs typeface="Consolas"/>
              </a:rPr>
              <a:t>, </a:t>
            </a:r>
            <a:r>
              <a:rPr lang="en-US" sz="900" b="0" dirty="0">
                <a:solidFill>
                  <a:srgbClr val="C4B5FD"/>
                </a:solidFill>
                <a:latin typeface="Consolas"/>
                <a:ea typeface="Consolas"/>
                <a:cs typeface="Consolas"/>
              </a:rPr>
              <a:t>50m</a:t>
            </a:r>
            <a:r>
              <a:rPr lang="en-US" sz="900" b="0" dirty="0">
                <a:solidFill>
                  <a:srgbClr val="E2E8F0"/>
                </a:solidFill>
                <a:latin typeface="Consolas"/>
                <a:ea typeface="Consolas"/>
                <a:cs typeface="Consolas"/>
              </a:rPr>
              <a:t>));</a:t>
            </a:r>
            <a:endParaRPr lang="en-US" sz="900" dirty="0"/>
          </a:p>
        </p:txBody>
      </p:sp>
      <p:sp>
        <p:nvSpPr>
          <p:cNvPr id="130" name="s130"/>
          <p:cNvSpPr/>
          <p:nvPr/>
        </p:nvSpPr>
        <p:spPr>
          <a:xfrm>
            <a:off x="4703674" y="491032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var</a:t>
            </a:r>
            <a:r>
              <a:rPr lang="en-US" sz="900" b="0" dirty="0">
                <a:solidFill>
                  <a:srgbClr val="E2E8F0"/>
                </a:solidFill>
                <a:latin typeface="Consolas"/>
                <a:ea typeface="Consolas"/>
                <a:cs typeface="Consolas"/>
              </a:rPr>
              <a:t> service = </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TransferService</a:t>
            </a:r>
            <a:r>
              <a:rPr lang="en-US" sz="900" b="0" dirty="0">
                <a:solidFill>
                  <a:srgbClr val="E2E8F0"/>
                </a:solidFill>
                <a:latin typeface="Consolas"/>
                <a:ea typeface="Consolas"/>
                <a:cs typeface="Consolas"/>
              </a:rPr>
              <a:t>(accounts, </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DummyEmailSender</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DummyLogger</a:t>
            </a:r>
            <a:r>
              <a:rPr lang="en-US" sz="900" b="0" dirty="0">
                <a:solidFill>
                  <a:srgbClr val="E2E8F0"/>
                </a:solidFill>
                <a:latin typeface="Consolas"/>
                <a:ea typeface="Consolas"/>
                <a:cs typeface="Consolas"/>
              </a:rPr>
              <a:t>());</a:t>
            </a:r>
            <a:endParaRPr lang="en-US" sz="900" dirty="0"/>
          </a:p>
        </p:txBody>
      </p:sp>
      <p:sp>
        <p:nvSpPr>
          <p:cNvPr id="131" name="s131"/>
          <p:cNvSpPr/>
          <p:nvPr/>
        </p:nvSpPr>
        <p:spPr>
          <a:xfrm>
            <a:off x="4703674" y="504748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service.</a:t>
            </a:r>
            <a:r>
              <a:rPr lang="en-US" sz="900" b="0" dirty="0">
                <a:solidFill>
                  <a:srgbClr val="7DD3FC"/>
                </a:solidFill>
                <a:latin typeface="Consolas"/>
                <a:ea typeface="Consolas"/>
                <a:cs typeface="Consolas"/>
              </a:rPr>
              <a:t>Transfer</a:t>
            </a:r>
            <a:r>
              <a:rPr lang="en-US" sz="900" b="0" dirty="0">
                <a:solidFill>
                  <a:srgbClr val="E2E8F0"/>
                </a:solidFill>
                <a:latin typeface="Consolas"/>
                <a:ea typeface="Consolas"/>
                <a:cs typeface="Consolas"/>
              </a:rPr>
              <a:t>(</a:t>
            </a:r>
            <a:r>
              <a:rPr lang="en-US" sz="900" b="0" dirty="0">
                <a:solidFill>
                  <a:srgbClr val="F0A98B"/>
                </a:solidFill>
                <a:latin typeface="Consolas"/>
                <a:ea typeface="Consolas"/>
                <a:cs typeface="Consolas"/>
              </a:rPr>
              <a:t>"mona@bank.eg"</a:t>
            </a:r>
            <a:r>
              <a:rPr lang="en-US" sz="900" b="0" dirty="0">
                <a:solidFill>
                  <a:srgbClr val="E2E8F0"/>
                </a:solidFill>
                <a:latin typeface="Consolas"/>
                <a:ea typeface="Consolas"/>
                <a:cs typeface="Consolas"/>
              </a:rPr>
              <a:t>, </a:t>
            </a:r>
            <a:r>
              <a:rPr lang="en-US" sz="900" b="0" dirty="0">
                <a:solidFill>
                  <a:srgbClr val="F0A98B"/>
                </a:solidFill>
                <a:latin typeface="Consolas"/>
                <a:ea typeface="Consolas"/>
                <a:cs typeface="Consolas"/>
              </a:rPr>
              <a:t>"ali@bank.eg"</a:t>
            </a:r>
            <a:r>
              <a:rPr lang="en-US" sz="900" b="0" dirty="0">
                <a:solidFill>
                  <a:srgbClr val="E2E8F0"/>
                </a:solidFill>
                <a:latin typeface="Consolas"/>
                <a:ea typeface="Consolas"/>
                <a:cs typeface="Consolas"/>
              </a:rPr>
              <a:t>, </a:t>
            </a:r>
            <a:r>
              <a:rPr lang="en-US" sz="900" b="0" dirty="0">
                <a:solidFill>
                  <a:srgbClr val="C4B5FD"/>
                </a:solidFill>
                <a:latin typeface="Consolas"/>
                <a:ea typeface="Consolas"/>
                <a:cs typeface="Consolas"/>
              </a:rPr>
              <a:t>100m</a:t>
            </a:r>
            <a:r>
              <a:rPr lang="en-US" sz="900" b="0" dirty="0">
                <a:solidFill>
                  <a:srgbClr val="E2E8F0"/>
                </a:solidFill>
                <a:latin typeface="Consolas"/>
                <a:ea typeface="Consolas"/>
                <a:cs typeface="Consolas"/>
              </a:rPr>
              <a:t>);</a:t>
            </a:r>
            <a:endParaRPr lang="en-US" sz="900" dirty="0"/>
          </a:p>
        </p:txBody>
      </p:sp>
      <p:sp>
        <p:nvSpPr>
          <p:cNvPr id="132" name="s132"/>
          <p:cNvSpPr/>
          <p:nvPr/>
        </p:nvSpPr>
        <p:spPr>
          <a:xfrm>
            <a:off x="4703674" y="518464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accounts.</a:t>
            </a:r>
            <a:r>
              <a:rPr lang="en-US" sz="900" b="0" dirty="0">
                <a:solidFill>
                  <a:srgbClr val="7DD3FC"/>
                </a:solidFill>
                <a:latin typeface="Consolas"/>
                <a:ea typeface="Consolas"/>
                <a:cs typeface="Consolas"/>
              </a:rPr>
              <a:t>Find</a:t>
            </a:r>
            <a:r>
              <a:rPr lang="en-US" sz="900" b="0" dirty="0">
                <a:solidFill>
                  <a:srgbClr val="E2E8F0"/>
                </a:solidFill>
                <a:latin typeface="Consolas"/>
                <a:ea typeface="Consolas"/>
                <a:cs typeface="Consolas"/>
              </a:rPr>
              <a:t>(</a:t>
            </a:r>
            <a:r>
              <a:rPr lang="en-US" sz="900" b="0" dirty="0">
                <a:solidFill>
                  <a:srgbClr val="F0A98B"/>
                </a:solidFill>
                <a:latin typeface="Consolas"/>
                <a:ea typeface="Consolas"/>
                <a:cs typeface="Consolas"/>
              </a:rPr>
              <a:t>"mona@bank.eg"</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Balance</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ShouldBe</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400m</a:t>
            </a:r>
            <a:r>
              <a:rPr lang="en-US" sz="900" b="0" dirty="0">
                <a:solidFill>
                  <a:srgbClr val="E2E8F0"/>
                </a:solidFill>
                <a:latin typeface="Consolas"/>
                <a:ea typeface="Consolas"/>
                <a:cs typeface="Consolas"/>
              </a:rPr>
              <a:t>);                 </a:t>
            </a:r>
            <a:r>
              <a:rPr lang="en-US" sz="900" b="0" dirty="0">
                <a:solidFill>
                  <a:srgbClr val="6FAE7A"/>
                </a:solidFill>
                <a:latin typeface="Consolas"/>
                <a:ea typeface="Consolas"/>
                <a:cs typeface="Consolas"/>
              </a:rPr>
              <a:t>// read it back</a:t>
            </a:r>
            <a:endParaRPr lang="en-US" sz="900" dirty="0"/>
          </a:p>
        </p:txBody>
      </p:sp>
      <p:sp>
        <p:nvSpPr>
          <p:cNvPr id="133" name="s133"/>
          <p:cNvSpPr/>
          <p:nvPr/>
        </p:nvSpPr>
        <p:spPr>
          <a:xfrm>
            <a:off x="4703674" y="532180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accounts.</a:t>
            </a:r>
            <a:r>
              <a:rPr lang="en-US" sz="900" b="0" dirty="0">
                <a:solidFill>
                  <a:srgbClr val="7DD3FC"/>
                </a:solidFill>
                <a:latin typeface="Consolas"/>
                <a:ea typeface="Consolas"/>
                <a:cs typeface="Consolas"/>
              </a:rPr>
              <a:t>Find</a:t>
            </a:r>
            <a:r>
              <a:rPr lang="en-US" sz="900" b="0" dirty="0">
                <a:solidFill>
                  <a:srgbClr val="E2E8F0"/>
                </a:solidFill>
                <a:latin typeface="Consolas"/>
                <a:ea typeface="Consolas"/>
                <a:cs typeface="Consolas"/>
              </a:rPr>
              <a:t>(</a:t>
            </a:r>
            <a:r>
              <a:rPr lang="en-US" sz="900" b="0" dirty="0">
                <a:solidFill>
                  <a:srgbClr val="F0A98B"/>
                </a:solidFill>
                <a:latin typeface="Consolas"/>
                <a:ea typeface="Consolas"/>
                <a:cs typeface="Consolas"/>
              </a:rPr>
              <a:t>"ali@bank.eg"</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Balance</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ShouldBe</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150m</a:t>
            </a:r>
            <a:r>
              <a:rPr lang="en-US" sz="900" b="0" dirty="0">
                <a:solidFill>
                  <a:srgbClr val="E2E8F0"/>
                </a:solidFill>
                <a:latin typeface="Consolas"/>
                <a:ea typeface="Consolas"/>
                <a:cs typeface="Consolas"/>
              </a:rPr>
              <a:t>);</a:t>
            </a:r>
            <a:endParaRPr lang="en-US" sz="900" dirty="0"/>
          </a:p>
        </p:txBody>
      </p:sp>
      <p:sp>
        <p:nvSpPr>
          <p:cNvPr id="134" name="s134"/>
          <p:cNvSpPr/>
          <p:nvPr/>
        </p:nvSpPr>
        <p:spPr>
          <a:xfrm>
            <a:off x="4703674" y="545896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35" name="s135"/>
          <p:cNvSpPr/>
          <p:nvPr/>
        </p:nvSpPr>
        <p:spPr>
          <a:xfrm>
            <a:off x="4813402" y="4471416"/>
            <a:ext cx="6708038" cy="19202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
        <p:nvSpPr>
          <p:cNvPr id="136" name="s136"/>
          <p:cNvSpPr/>
          <p:nvPr/>
        </p:nvSpPr>
        <p:spPr>
          <a:xfrm>
            <a:off x="4813402" y="5157216"/>
            <a:ext cx="6708038" cy="19202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anim calcmode="lin" valueType="num">
                                      <p:cBhvr additive="base">
                                        <p:cTn id="14" dur="500" decel="100000" fill="hold"/>
                                        <p:tgtEl>
                                          <p:spTgt spid="103"/>
                                        </p:tgtEl>
                                        <p:attrNameLst>
                                          <p:attrName>ppt_x</p:attrName>
                                        </p:attrNameLst>
                                      </p:cBhvr>
                                      <p:tavLst>
                                        <p:tav tm="0">
                                          <p:val>
                                            <p:strVal val="#ppt_x-0.05"/>
                                          </p:val>
                                        </p:tav>
                                        <p:tav tm="100000">
                                          <p:val>
                                            <p:strVal val="#ppt_x"/>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7"/>
                                        </p:tgtEl>
                                        <p:attrNameLst>
                                          <p:attrName>style.visibility</p:attrName>
                                        </p:attrNameLst>
                                      </p:cBhvr>
                                      <p:to>
                                        <p:strVal val="visible"/>
                                      </p:to>
                                    </p:set>
                                    <p:animEffect transition="in" filter="fade">
                                      <p:cBhvr>
                                        <p:cTn id="67" dur="500"/>
                                        <p:tgtEl>
                                          <p:spTgt spid="117"/>
                                        </p:tgtEl>
                                      </p:cBhvr>
                                    </p:animEffect>
                                    <p:anim calcmode="lin" valueType="num">
                                      <p:cBhvr additive="base">
                                        <p:cTn id="68" dur="500" decel="100000" fill="hold"/>
                                        <p:tgtEl>
                                          <p:spTgt spid="117"/>
                                        </p:tgtEl>
                                        <p:attrNameLst>
                                          <p:attrName>ppt_y</p:attrName>
                                        </p:attrNameLst>
                                      </p:cBhvr>
                                      <p:tavLst>
                                        <p:tav tm="0">
                                          <p:val>
                                            <p:strVal val="#ppt_y+0.06"/>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42" presetClass="entr" presetSubtype="0" fill="hold" grpId="0" nodeType="clickEffect">
                                  <p:stCondLst>
                                    <p:cond delay="0"/>
                                  </p:stCondLst>
                                  <p:childTnLst>
                                    <p:set>
                                      <p:cBhvr>
                                        <p:cTn id="72" dur="1" fill="hold">
                                          <p:stCondLst>
                                            <p:cond delay="0"/>
                                          </p:stCondLst>
                                        </p:cTn>
                                        <p:tgtEl>
                                          <p:spTgt spid="118"/>
                                        </p:tgtEl>
                                        <p:attrNameLst>
                                          <p:attrName>style.visibility</p:attrName>
                                        </p:attrNameLst>
                                      </p:cBhvr>
                                      <p:to>
                                        <p:strVal val="visible"/>
                                      </p:to>
                                    </p:set>
                                    <p:animEffect transition="in" filter="fade">
                                      <p:cBhvr>
                                        <p:cTn id="73" dur="500"/>
                                        <p:tgtEl>
                                          <p:spTgt spid="118"/>
                                        </p:tgtEl>
                                      </p:cBhvr>
                                    </p:animEffect>
                                    <p:anim calcmode="lin" valueType="num">
                                      <p:cBhvr additive="base">
                                        <p:cTn id="74" dur="500" decel="100000" fill="hold"/>
                                        <p:tgtEl>
                                          <p:spTgt spid="118"/>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119"/>
                                        </p:tgtEl>
                                        <p:attrNameLst>
                                          <p:attrName>style.visibility</p:attrName>
                                        </p:attrNameLst>
                                      </p:cBhvr>
                                      <p:to>
                                        <p:strVal val="visible"/>
                                      </p:to>
                                    </p:set>
                                    <p:animEffect transition="in" filter="fade">
                                      <p:cBhvr>
                                        <p:cTn id="77" dur="500"/>
                                        <p:tgtEl>
                                          <p:spTgt spid="119"/>
                                        </p:tgtEl>
                                      </p:cBhvr>
                                    </p:animEffect>
                                    <p:anim calcmode="lin" valueType="num">
                                      <p:cBhvr additive="base">
                                        <p:cTn id="78" dur="500" decel="100000" fill="hold"/>
                                        <p:tgtEl>
                                          <p:spTgt spid="119"/>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20"/>
                                        </p:tgtEl>
                                        <p:attrNameLst>
                                          <p:attrName>style.visibility</p:attrName>
                                        </p:attrNameLst>
                                      </p:cBhvr>
                                      <p:to>
                                        <p:strVal val="visible"/>
                                      </p:to>
                                    </p:set>
                                    <p:animEffect transition="in" filter="fade">
                                      <p:cBhvr>
                                        <p:cTn id="81" dur="500"/>
                                        <p:tgtEl>
                                          <p:spTgt spid="120"/>
                                        </p:tgtEl>
                                      </p:cBhvr>
                                    </p:animEffect>
                                    <p:anim calcmode="lin" valueType="num">
                                      <p:cBhvr additive="base">
                                        <p:cTn id="82" dur="500" decel="100000" fill="hold"/>
                                        <p:tgtEl>
                                          <p:spTgt spid="120"/>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21"/>
                                        </p:tgtEl>
                                        <p:attrNameLst>
                                          <p:attrName>style.visibility</p:attrName>
                                        </p:attrNameLst>
                                      </p:cBhvr>
                                      <p:to>
                                        <p:strVal val="visible"/>
                                      </p:to>
                                    </p:set>
                                    <p:animEffect transition="in" filter="fade">
                                      <p:cBhvr>
                                        <p:cTn id="85" dur="500"/>
                                        <p:tgtEl>
                                          <p:spTgt spid="121"/>
                                        </p:tgtEl>
                                      </p:cBhvr>
                                    </p:animEffect>
                                    <p:anim calcmode="lin" valueType="num">
                                      <p:cBhvr additive="base">
                                        <p:cTn id="86" dur="500" decel="100000" fill="hold"/>
                                        <p:tgtEl>
                                          <p:spTgt spid="121"/>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22"/>
                                        </p:tgtEl>
                                        <p:attrNameLst>
                                          <p:attrName>style.visibility</p:attrName>
                                        </p:attrNameLst>
                                      </p:cBhvr>
                                      <p:to>
                                        <p:strVal val="visible"/>
                                      </p:to>
                                    </p:set>
                                    <p:animEffect transition="in" filter="fade">
                                      <p:cBhvr>
                                        <p:cTn id="89" dur="500"/>
                                        <p:tgtEl>
                                          <p:spTgt spid="122"/>
                                        </p:tgtEl>
                                      </p:cBhvr>
                                    </p:animEffect>
                                    <p:anim calcmode="lin" valueType="num">
                                      <p:cBhvr additive="base">
                                        <p:cTn id="90" dur="500" decel="100000" fill="hold"/>
                                        <p:tgtEl>
                                          <p:spTgt spid="122"/>
                                        </p:tgtEl>
                                        <p:attrNameLst>
                                          <p:attrName>ppt_y</p:attrName>
                                        </p:attrNameLst>
                                      </p:cBhvr>
                                      <p:tavLst>
                                        <p:tav tm="0">
                                          <p:val>
                                            <p:strVal val="#ppt_y+0.06"/>
                                          </p:val>
                                        </p:tav>
                                        <p:tav tm="100000">
                                          <p:val>
                                            <p:strVal val="#ppt_y"/>
                                          </p:val>
                                        </p:tav>
                                      </p:tavLst>
                                    </p:anim>
                                  </p:childTnLst>
                                </p:cTn>
                              </p:par>
                              <p:par>
                                <p:cTn id="91" presetID="42" presetClass="entr" presetSubtype="0" fill="hold" nodeType="withEffect">
                                  <p:stCondLst>
                                    <p:cond delay="0"/>
                                  </p:stCondLst>
                                  <p:childTnLst>
                                    <p:set>
                                      <p:cBhvr>
                                        <p:cTn id="92" dur="1" fill="hold">
                                          <p:stCondLst>
                                            <p:cond delay="0"/>
                                          </p:stCondLst>
                                        </p:cTn>
                                        <p:tgtEl>
                                          <p:spTgt spid="123"/>
                                        </p:tgtEl>
                                        <p:attrNameLst>
                                          <p:attrName>style.visibility</p:attrName>
                                        </p:attrNameLst>
                                      </p:cBhvr>
                                      <p:to>
                                        <p:strVal val="visible"/>
                                      </p:to>
                                    </p:set>
                                    <p:animEffect transition="in" filter="fade">
                                      <p:cBhvr>
                                        <p:cTn id="93" dur="500"/>
                                        <p:tgtEl>
                                          <p:spTgt spid="123"/>
                                        </p:tgtEl>
                                      </p:cBhvr>
                                    </p:animEffect>
                                    <p:anim calcmode="lin" valueType="num">
                                      <p:cBhvr additive="base">
                                        <p:cTn id="94" dur="500" decel="100000" fill="hold"/>
                                        <p:tgtEl>
                                          <p:spTgt spid="123"/>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4"/>
                                        </p:tgtEl>
                                        <p:attrNameLst>
                                          <p:attrName>style.visibility</p:attrName>
                                        </p:attrNameLst>
                                      </p:cBhvr>
                                      <p:to>
                                        <p:strVal val="visible"/>
                                      </p:to>
                                    </p:set>
                                    <p:animEffect transition="in" filter="fade">
                                      <p:cBhvr>
                                        <p:cTn id="97" dur="500"/>
                                        <p:tgtEl>
                                          <p:spTgt spid="124"/>
                                        </p:tgtEl>
                                      </p:cBhvr>
                                    </p:animEffect>
                                    <p:anim calcmode="lin" valueType="num">
                                      <p:cBhvr additive="base">
                                        <p:cTn id="98" dur="500" decel="100000" fill="hold"/>
                                        <p:tgtEl>
                                          <p:spTgt spid="124"/>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5"/>
                                        </p:tgtEl>
                                        <p:attrNameLst>
                                          <p:attrName>style.visibility</p:attrName>
                                        </p:attrNameLst>
                                      </p:cBhvr>
                                      <p:to>
                                        <p:strVal val="visible"/>
                                      </p:to>
                                    </p:set>
                                    <p:animEffect transition="in" filter="fade">
                                      <p:cBhvr>
                                        <p:cTn id="101" dur="500"/>
                                        <p:tgtEl>
                                          <p:spTgt spid="125"/>
                                        </p:tgtEl>
                                      </p:cBhvr>
                                    </p:animEffect>
                                    <p:anim calcmode="lin" valueType="num">
                                      <p:cBhvr additive="base">
                                        <p:cTn id="102" dur="500" decel="100000" fill="hold"/>
                                        <p:tgtEl>
                                          <p:spTgt spid="125"/>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6"/>
                                        </p:tgtEl>
                                        <p:attrNameLst>
                                          <p:attrName>style.visibility</p:attrName>
                                        </p:attrNameLst>
                                      </p:cBhvr>
                                      <p:to>
                                        <p:strVal val="visible"/>
                                      </p:to>
                                    </p:set>
                                    <p:animEffect transition="in" filter="fade">
                                      <p:cBhvr>
                                        <p:cTn id="105" dur="500"/>
                                        <p:tgtEl>
                                          <p:spTgt spid="126"/>
                                        </p:tgtEl>
                                      </p:cBhvr>
                                    </p:animEffect>
                                    <p:anim calcmode="lin" valueType="num">
                                      <p:cBhvr additive="base">
                                        <p:cTn id="106" dur="500" decel="100000" fill="hold"/>
                                        <p:tgtEl>
                                          <p:spTgt spid="126"/>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7"/>
                                        </p:tgtEl>
                                        <p:attrNameLst>
                                          <p:attrName>style.visibility</p:attrName>
                                        </p:attrNameLst>
                                      </p:cBhvr>
                                      <p:to>
                                        <p:strVal val="visible"/>
                                      </p:to>
                                    </p:set>
                                    <p:animEffect transition="in" filter="fade">
                                      <p:cBhvr>
                                        <p:cTn id="109" dur="500"/>
                                        <p:tgtEl>
                                          <p:spTgt spid="127"/>
                                        </p:tgtEl>
                                      </p:cBhvr>
                                    </p:animEffect>
                                    <p:anim calcmode="lin" valueType="num">
                                      <p:cBhvr additive="base">
                                        <p:cTn id="110" dur="500" decel="100000" fill="hold"/>
                                        <p:tgtEl>
                                          <p:spTgt spid="127"/>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8"/>
                                        </p:tgtEl>
                                        <p:attrNameLst>
                                          <p:attrName>style.visibility</p:attrName>
                                        </p:attrNameLst>
                                      </p:cBhvr>
                                      <p:to>
                                        <p:strVal val="visible"/>
                                      </p:to>
                                    </p:set>
                                    <p:animEffect transition="in" filter="fade">
                                      <p:cBhvr>
                                        <p:cTn id="113" dur="500"/>
                                        <p:tgtEl>
                                          <p:spTgt spid="128"/>
                                        </p:tgtEl>
                                      </p:cBhvr>
                                    </p:animEffect>
                                    <p:anim calcmode="lin" valueType="num">
                                      <p:cBhvr additive="base">
                                        <p:cTn id="114" dur="500" decel="100000" fill="hold"/>
                                        <p:tgtEl>
                                          <p:spTgt spid="128"/>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9"/>
                                        </p:tgtEl>
                                        <p:attrNameLst>
                                          <p:attrName>style.visibility</p:attrName>
                                        </p:attrNameLst>
                                      </p:cBhvr>
                                      <p:to>
                                        <p:strVal val="visible"/>
                                      </p:to>
                                    </p:set>
                                    <p:animEffect transition="in" filter="fade">
                                      <p:cBhvr>
                                        <p:cTn id="117" dur="500"/>
                                        <p:tgtEl>
                                          <p:spTgt spid="129"/>
                                        </p:tgtEl>
                                      </p:cBhvr>
                                    </p:animEffect>
                                    <p:anim calcmode="lin" valueType="num">
                                      <p:cBhvr additive="base">
                                        <p:cTn id="118" dur="500" decel="100000" fill="hold"/>
                                        <p:tgtEl>
                                          <p:spTgt spid="129"/>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30"/>
                                        </p:tgtEl>
                                        <p:attrNameLst>
                                          <p:attrName>style.visibility</p:attrName>
                                        </p:attrNameLst>
                                      </p:cBhvr>
                                      <p:to>
                                        <p:strVal val="visible"/>
                                      </p:to>
                                    </p:set>
                                    <p:animEffect transition="in" filter="fade">
                                      <p:cBhvr>
                                        <p:cTn id="121" dur="500"/>
                                        <p:tgtEl>
                                          <p:spTgt spid="130"/>
                                        </p:tgtEl>
                                      </p:cBhvr>
                                    </p:animEffect>
                                    <p:anim calcmode="lin" valueType="num">
                                      <p:cBhvr additive="base">
                                        <p:cTn id="122" dur="500" decel="100000" fill="hold"/>
                                        <p:tgtEl>
                                          <p:spTgt spid="130"/>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31"/>
                                        </p:tgtEl>
                                        <p:attrNameLst>
                                          <p:attrName>style.visibility</p:attrName>
                                        </p:attrNameLst>
                                      </p:cBhvr>
                                      <p:to>
                                        <p:strVal val="visible"/>
                                      </p:to>
                                    </p:set>
                                    <p:animEffect transition="in" filter="fade">
                                      <p:cBhvr>
                                        <p:cTn id="125" dur="500"/>
                                        <p:tgtEl>
                                          <p:spTgt spid="131"/>
                                        </p:tgtEl>
                                      </p:cBhvr>
                                    </p:animEffect>
                                    <p:anim calcmode="lin" valueType="num">
                                      <p:cBhvr additive="base">
                                        <p:cTn id="126" dur="500" decel="100000" fill="hold"/>
                                        <p:tgtEl>
                                          <p:spTgt spid="131"/>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32"/>
                                        </p:tgtEl>
                                        <p:attrNameLst>
                                          <p:attrName>style.visibility</p:attrName>
                                        </p:attrNameLst>
                                      </p:cBhvr>
                                      <p:to>
                                        <p:strVal val="visible"/>
                                      </p:to>
                                    </p:set>
                                    <p:animEffect transition="in" filter="fade">
                                      <p:cBhvr>
                                        <p:cTn id="129" dur="500"/>
                                        <p:tgtEl>
                                          <p:spTgt spid="132"/>
                                        </p:tgtEl>
                                      </p:cBhvr>
                                    </p:animEffect>
                                    <p:anim calcmode="lin" valueType="num">
                                      <p:cBhvr additive="base">
                                        <p:cTn id="130" dur="500" decel="100000" fill="hold"/>
                                        <p:tgtEl>
                                          <p:spTgt spid="132"/>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33"/>
                                        </p:tgtEl>
                                        <p:attrNameLst>
                                          <p:attrName>style.visibility</p:attrName>
                                        </p:attrNameLst>
                                      </p:cBhvr>
                                      <p:to>
                                        <p:strVal val="visible"/>
                                      </p:to>
                                    </p:set>
                                    <p:animEffect transition="in" filter="fade">
                                      <p:cBhvr>
                                        <p:cTn id="133" dur="500"/>
                                        <p:tgtEl>
                                          <p:spTgt spid="133"/>
                                        </p:tgtEl>
                                      </p:cBhvr>
                                    </p:animEffect>
                                    <p:anim calcmode="lin" valueType="num">
                                      <p:cBhvr additive="base">
                                        <p:cTn id="134" dur="500" decel="100000" fill="hold"/>
                                        <p:tgtEl>
                                          <p:spTgt spid="133"/>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134"/>
                                        </p:tgtEl>
                                        <p:attrNameLst>
                                          <p:attrName>style.visibility</p:attrName>
                                        </p:attrNameLst>
                                      </p:cBhvr>
                                      <p:to>
                                        <p:strVal val="visible"/>
                                      </p:to>
                                    </p:set>
                                    <p:animEffect transition="in" filter="fade">
                                      <p:cBhvr>
                                        <p:cTn id="137" dur="500"/>
                                        <p:tgtEl>
                                          <p:spTgt spid="134"/>
                                        </p:tgtEl>
                                      </p:cBhvr>
                                    </p:animEffect>
                                    <p:anim calcmode="lin" valueType="num">
                                      <p:cBhvr additive="base">
                                        <p:cTn id="138" dur="500" decel="100000" fill="hold"/>
                                        <p:tgtEl>
                                          <p:spTgt spid="134"/>
                                        </p:tgtEl>
                                        <p:attrNameLst>
                                          <p:attrName>ppt_y</p:attrName>
                                        </p:attrNameLst>
                                      </p:cBhvr>
                                      <p:tavLst>
                                        <p:tav tm="0">
                                          <p:val>
                                            <p:strVal val="#ppt_y+0.06"/>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53" presetClass="entr" presetSubtype="16" fill="hold" grpId="0" nodeType="clickEffect">
                                  <p:stCondLst>
                                    <p:cond delay="0"/>
                                  </p:stCondLst>
                                  <p:childTnLst>
                                    <p:set>
                                      <p:cBhvr>
                                        <p:cTn id="142" dur="1" fill="hold">
                                          <p:stCondLst>
                                            <p:cond delay="0"/>
                                          </p:stCondLst>
                                        </p:cTn>
                                        <p:tgtEl>
                                          <p:spTgt spid="135"/>
                                        </p:tgtEl>
                                        <p:attrNameLst>
                                          <p:attrName>style.visibility</p:attrName>
                                        </p:attrNameLst>
                                      </p:cBhvr>
                                      <p:to>
                                        <p:strVal val="visible"/>
                                      </p:to>
                                    </p:set>
                                    <p:anim calcmode="lin" valueType="num">
                                      <p:cBhvr additive="base">
                                        <p:cTn id="143" dur="500" decel="100000" fill="hold"/>
                                        <p:tgtEl>
                                          <p:spTgt spid="135"/>
                                        </p:tgtEl>
                                        <p:attrNameLst>
                                          <p:attrName>ppt_w</p:attrName>
                                        </p:attrNameLst>
                                      </p:cBhvr>
                                      <p:tavLst>
                                        <p:tav tm="0">
                                          <p:val>
                                            <p:strVal val="#ppt_w*0.3"/>
                                          </p:val>
                                        </p:tav>
                                        <p:tav tm="100000">
                                          <p:val>
                                            <p:strVal val="#ppt_w*1.08"/>
                                          </p:val>
                                        </p:tav>
                                      </p:tavLst>
                                    </p:anim>
                                    <p:anim calcmode="lin" valueType="num">
                                      <p:cBhvr additive="base">
                                        <p:cTn id="144" dur="500" decel="100000" fill="hold"/>
                                        <p:tgtEl>
                                          <p:spTgt spid="135"/>
                                        </p:tgtEl>
                                        <p:attrNameLst>
                                          <p:attrName>ppt_h</p:attrName>
                                        </p:attrNameLst>
                                      </p:cBhvr>
                                      <p:tavLst>
                                        <p:tav tm="0">
                                          <p:val>
                                            <p:strVal val="#ppt_h*0.3"/>
                                          </p:val>
                                        </p:tav>
                                        <p:tav tm="100000">
                                          <p:val>
                                            <p:strVal val="#ppt_h*1.08"/>
                                          </p:val>
                                        </p:tav>
                                      </p:tavLst>
                                    </p:anim>
                                    <p:animEffect transition="in" filter="fade">
                                      <p:cBhvr>
                                        <p:cTn id="145" dur="250"/>
                                        <p:tgtEl>
                                          <p:spTgt spid="135"/>
                                        </p:tgtEl>
                                      </p:cBhvr>
                                    </p:animEffect>
                                    <p:anim calcmode="lin" valueType="num">
                                      <p:cBhvr additive="base">
                                        <p:cTn id="146" dur="160" fill="hold">
                                          <p:stCondLst>
                                            <p:cond delay="500"/>
                                          </p:stCondLst>
                                        </p:cTn>
                                        <p:tgtEl>
                                          <p:spTgt spid="135"/>
                                        </p:tgtEl>
                                        <p:attrNameLst>
                                          <p:attrName>ppt_w</p:attrName>
                                        </p:attrNameLst>
                                      </p:cBhvr>
                                      <p:tavLst>
                                        <p:tav tm="0">
                                          <p:val>
                                            <p:strVal val="#ppt_w*1.08"/>
                                          </p:val>
                                        </p:tav>
                                        <p:tav tm="100000">
                                          <p:val>
                                            <p:strVal val="#ppt_w"/>
                                          </p:val>
                                        </p:tav>
                                      </p:tavLst>
                                    </p:anim>
                                    <p:anim calcmode="lin" valueType="num">
                                      <p:cBhvr additive="base">
                                        <p:cTn id="147" dur="160" fill="hold">
                                          <p:stCondLst>
                                            <p:cond delay="500"/>
                                          </p:stCondLst>
                                        </p:cTn>
                                        <p:tgtEl>
                                          <p:spTgt spid="135"/>
                                        </p:tgtEl>
                                        <p:attrNameLst>
                                          <p:attrName>ppt_h</p:attrName>
                                        </p:attrNameLst>
                                      </p:cBhvr>
                                      <p:tavLst>
                                        <p:tav tm="0">
                                          <p:val>
                                            <p:strVal val="#ppt_h*1.08"/>
                                          </p:val>
                                        </p:tav>
                                        <p:tav tm="100000">
                                          <p:val>
                                            <p:strVal val="#ppt_h"/>
                                          </p:val>
                                        </p:tav>
                                      </p:tavLst>
                                    </p:anim>
                                  </p:childTnLst>
                                </p:cTn>
                              </p:par>
                            </p:childTnLst>
                          </p:cTn>
                        </p:par>
                      </p:childTnLst>
                    </p:cTn>
                  </p:par>
                  <p:par>
                    <p:cTn id="148" fill="hold">
                      <p:stCondLst>
                        <p:cond delay="indefinite"/>
                      </p:stCondLst>
                      <p:childTnLst>
                        <p:par>
                          <p:cTn id="149" fill="hold">
                            <p:stCondLst>
                              <p:cond delay="0"/>
                            </p:stCondLst>
                            <p:childTnLst>
                              <p:par>
                                <p:cTn id="150" presetID="53" presetClass="entr" presetSubtype="16" fill="hold" grpId="0" nodeType="clickEffect">
                                  <p:stCondLst>
                                    <p:cond delay="0"/>
                                  </p:stCondLst>
                                  <p:childTnLst>
                                    <p:set>
                                      <p:cBhvr>
                                        <p:cTn id="151" dur="1" fill="hold">
                                          <p:stCondLst>
                                            <p:cond delay="0"/>
                                          </p:stCondLst>
                                        </p:cTn>
                                        <p:tgtEl>
                                          <p:spTgt spid="136"/>
                                        </p:tgtEl>
                                        <p:attrNameLst>
                                          <p:attrName>style.visibility</p:attrName>
                                        </p:attrNameLst>
                                      </p:cBhvr>
                                      <p:to>
                                        <p:strVal val="visible"/>
                                      </p:to>
                                    </p:set>
                                    <p:anim calcmode="lin" valueType="num">
                                      <p:cBhvr additive="base">
                                        <p:cTn id="152" dur="500" decel="100000" fill="hold"/>
                                        <p:tgtEl>
                                          <p:spTgt spid="136"/>
                                        </p:tgtEl>
                                        <p:attrNameLst>
                                          <p:attrName>ppt_w</p:attrName>
                                        </p:attrNameLst>
                                      </p:cBhvr>
                                      <p:tavLst>
                                        <p:tav tm="0">
                                          <p:val>
                                            <p:strVal val="#ppt_w*0.3"/>
                                          </p:val>
                                        </p:tav>
                                        <p:tav tm="100000">
                                          <p:val>
                                            <p:strVal val="#ppt_w*1.08"/>
                                          </p:val>
                                        </p:tav>
                                      </p:tavLst>
                                    </p:anim>
                                    <p:anim calcmode="lin" valueType="num">
                                      <p:cBhvr additive="base">
                                        <p:cTn id="153" dur="500" decel="100000" fill="hold"/>
                                        <p:tgtEl>
                                          <p:spTgt spid="136"/>
                                        </p:tgtEl>
                                        <p:attrNameLst>
                                          <p:attrName>ppt_h</p:attrName>
                                        </p:attrNameLst>
                                      </p:cBhvr>
                                      <p:tavLst>
                                        <p:tav tm="0">
                                          <p:val>
                                            <p:strVal val="#ppt_h*0.3"/>
                                          </p:val>
                                        </p:tav>
                                        <p:tav tm="100000">
                                          <p:val>
                                            <p:strVal val="#ppt_h*1.08"/>
                                          </p:val>
                                        </p:tav>
                                      </p:tavLst>
                                    </p:anim>
                                    <p:animEffect transition="in" filter="fade">
                                      <p:cBhvr>
                                        <p:cTn id="154" dur="250"/>
                                        <p:tgtEl>
                                          <p:spTgt spid="136"/>
                                        </p:tgtEl>
                                      </p:cBhvr>
                                    </p:animEffect>
                                    <p:anim calcmode="lin" valueType="num">
                                      <p:cBhvr additive="base">
                                        <p:cTn id="155" dur="160" fill="hold">
                                          <p:stCondLst>
                                            <p:cond delay="500"/>
                                          </p:stCondLst>
                                        </p:cTn>
                                        <p:tgtEl>
                                          <p:spTgt spid="136"/>
                                        </p:tgtEl>
                                        <p:attrNameLst>
                                          <p:attrName>ppt_w</p:attrName>
                                        </p:attrNameLst>
                                      </p:cBhvr>
                                      <p:tavLst>
                                        <p:tav tm="0">
                                          <p:val>
                                            <p:strVal val="#ppt_w*1.08"/>
                                          </p:val>
                                        </p:tav>
                                        <p:tav tm="100000">
                                          <p:val>
                                            <p:strVal val="#ppt_w"/>
                                          </p:val>
                                        </p:tav>
                                      </p:tavLst>
                                    </p:anim>
                                    <p:anim calcmode="lin" valueType="num">
                                      <p:cBhvr additive="base">
                                        <p:cTn id="156" dur="160" fill="hold">
                                          <p:stCondLst>
                                            <p:cond delay="500"/>
                                          </p:stCondLst>
                                        </p:cTn>
                                        <p:tgtEl>
                                          <p:spTgt spid="136"/>
                                        </p:tgtEl>
                                        <p:attrNameLst>
                                          <p:attrName>ppt_h</p:attrName>
                                        </p:attrNameLst>
                                      </p:cBhvr>
                                      <p:tavLst>
                                        <p:tav tm="0">
                                          <p:val>
                                            <p:strVal val="#ppt_h*1.08"/>
                                          </p:val>
                                        </p:tav>
                                        <p:tav tm="100000">
                                          <p:val>
                                            <p:strVal val="#ppt_h"/>
                                          </p:val>
                                        </p:tav>
                                      </p:tavLst>
                                    </p:anim>
                                  </p:childTnLst>
                                </p:cTn>
                              </p:par>
                            </p:childTnLst>
                          </p:cTn>
                        </p:par>
                      </p:childTnLst>
                    </p:cTn>
                  </p:par>
                  <p:par>
                    <p:cTn id="157" fill="hold">
                      <p:stCondLst>
                        <p:cond delay="indefinite"/>
                      </p:stCondLst>
                      <p:childTnLst>
                        <p:par>
                          <p:cTn id="158" fill="hold">
                            <p:stCondLst>
                              <p:cond delay="0"/>
                            </p:stCondLst>
                            <p:childTnLst>
                              <p:par>
                                <p:cTn id="159" presetID="53" presetClass="entr" presetSubtype="16" fill="hold" grpId="0" nodeType="clickEffect">
                                  <p:stCondLst>
                                    <p:cond delay="0"/>
                                  </p:stCondLst>
                                  <p:childTnLst>
                                    <p:set>
                                      <p:cBhvr>
                                        <p:cTn id="160" dur="1" fill="hold">
                                          <p:stCondLst>
                                            <p:cond delay="0"/>
                                          </p:stCondLst>
                                        </p:cTn>
                                        <p:tgtEl>
                                          <p:spTgt spid="104"/>
                                        </p:tgtEl>
                                        <p:attrNameLst>
                                          <p:attrName>style.visibility</p:attrName>
                                        </p:attrNameLst>
                                      </p:cBhvr>
                                      <p:to>
                                        <p:strVal val="visible"/>
                                      </p:to>
                                    </p:set>
                                    <p:anim calcmode="lin" valueType="num">
                                      <p:cBhvr additive="base">
                                        <p:cTn id="161"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162" dur="500" decel="100000" fill="hold"/>
                                        <p:tgtEl>
                                          <p:spTgt spid="104"/>
                                        </p:tgtEl>
                                        <p:attrNameLst>
                                          <p:attrName>ppt_h</p:attrName>
                                        </p:attrNameLst>
                                      </p:cBhvr>
                                      <p:tavLst>
                                        <p:tav tm="0">
                                          <p:val>
                                            <p:strVal val="#ppt_h*0.3"/>
                                          </p:val>
                                        </p:tav>
                                        <p:tav tm="100000">
                                          <p:val>
                                            <p:strVal val="#ppt_h*1.08"/>
                                          </p:val>
                                        </p:tav>
                                      </p:tavLst>
                                    </p:anim>
                                    <p:animEffect transition="in" filter="fade">
                                      <p:cBhvr>
                                        <p:cTn id="163" dur="250"/>
                                        <p:tgtEl>
                                          <p:spTgt spid="104"/>
                                        </p:tgtEl>
                                      </p:cBhvr>
                                    </p:animEffect>
                                    <p:anim calcmode="lin" valueType="num">
                                      <p:cBhvr additive="base">
                                        <p:cTn id="164"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165"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7" grpId="0" animBg="1"/>
      <p:bldP spid="108" grpId="0" animBg="1"/>
      <p:bldP spid="109"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SPY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SPY: Record the Calls, Check Them Yourself</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Transfer must email the sender. Send returns nothing, so we record what was sent.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154</a:t>
            </a:r>
            <a:endParaRPr lang="en-US" sz="850" dirty="0"/>
          </a:p>
        </p:txBody>
      </p:sp>
      <p:sp>
        <p:nvSpPr>
          <p:cNvPr id="101" name="s101"/>
          <p:cNvSpPr/>
          <p:nvPr/>
        </p:nvSpPr>
        <p:spPr>
          <a:xfrm>
            <a:off x="8979408" y="457200"/>
            <a:ext cx="2651760" cy="310896"/>
          </a:xfrm>
          <a:prstGeom prst="roundRect">
            <a:avLst>
              <a:gd name="adj" fmla="val 50000"/>
            </a:avLst>
          </a:prstGeom>
          <a:solidFill>
            <a:srgbClr val="A78BFA"/>
          </a:solidFill>
          <a:ln w="12700">
            <a:solidFill>
              <a:srgbClr val="A78BFA"/>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  RARE</a:t>
            </a:r>
            <a:endParaRPr lang="en-US" sz="1100" dirty="0"/>
          </a:p>
        </p:txBody>
      </p:sp>
      <p:sp>
        <p:nvSpPr>
          <p:cNvPr id="102" name="s102"/>
          <p:cNvSpPr/>
          <p:nvPr/>
        </p:nvSpPr>
        <p:spPr>
          <a:xfrm>
            <a:off x="543154" y="1810512"/>
            <a:ext cx="3931920" cy="1481328"/>
          </a:xfrm>
          <a:prstGeom prst="roundRect">
            <a:avLst>
              <a:gd name="adj" fmla="val 8000"/>
            </a:avLst>
          </a:prstGeom>
          <a:solidFill>
            <a:srgbClr val="111B2E"/>
          </a:solidFill>
          <a:ln w="12700">
            <a:solidFill>
              <a:srgbClr val="A78BFA"/>
            </a:solidFill>
            <a:prstDash val="solid"/>
          </a:ln>
        </p:spPr>
        <p:txBody>
          <a:bodyPr wrap="square" lIns="182880" tIns="128016" rIns="137160" bIns="91440" rtlCol="0" anchor="t">
            <a:noAutofit/>
          </a:bodyPr>
          <a:lstStyle/>
          <a:p>
            <a:pPr marL="0" indent="0" algn="l">
              <a:spcBef>
                <a:spcPts val="0"/>
              </a:spcBef>
              <a:spcAft>
                <a:spcPts val="500"/>
              </a:spcAft>
              <a:buNone/>
            </a:pPr>
            <a:r>
              <a:rPr lang="en-US" sz="1100" b="1" dirty="0">
                <a:solidFill>
                  <a:srgbClr val="A78BFA"/>
                </a:solidFill>
                <a:latin typeface="Segoe UI"/>
                <a:ea typeface="Segoe UI"/>
                <a:cs typeface="Segoe UI"/>
              </a:rPr>
              <a:t>WHEN TO USE IT</a:t>
            </a:r>
            <a:endParaRPr lang="en-US" sz="1100" dirty="0"/>
          </a:p>
          <a:p>
            <a:pPr marL="0" indent="0" algn="l">
              <a:spcBef>
                <a:spcPts val="0"/>
              </a:spcBef>
              <a:spcAft>
                <a:spcPts val="400"/>
              </a:spcAft>
              <a:buNone/>
            </a:pPr>
            <a:r>
              <a:rPr lang="en-US" sz="1200" b="0" dirty="0">
                <a:solidFill>
                  <a:srgbClr val="A78BFA"/>
                </a:solidFill>
                <a:latin typeface="Segoe UI"/>
                <a:ea typeface="Segoe UI"/>
                <a:cs typeface="Segoe UI"/>
              </a:rPr>
              <a:t>•  </a:t>
            </a:r>
            <a:r>
              <a:rPr lang="en-US" sz="1200" b="0" dirty="0">
                <a:solidFill>
                  <a:srgbClr val="E2E8F0"/>
                </a:solidFill>
                <a:latin typeface="Segoe UI"/>
                <a:ea typeface="Segoe UI"/>
                <a:cs typeface="Segoe UI"/>
              </a:rPr>
              <a:t>you must check what was SENT / CALLED</a:t>
            </a:r>
            <a:endParaRPr lang="en-US" sz="1200" dirty="0"/>
          </a:p>
          <a:p>
            <a:pPr marL="0" indent="0" algn="l">
              <a:spcBef>
                <a:spcPts val="0"/>
              </a:spcBef>
              <a:spcAft>
                <a:spcPts val="400"/>
              </a:spcAft>
              <a:buNone/>
            </a:pPr>
            <a:r>
              <a:rPr lang="en-US" sz="1200" b="0" dirty="0">
                <a:solidFill>
                  <a:srgbClr val="A78BFA"/>
                </a:solidFill>
                <a:latin typeface="Segoe UI"/>
                <a:ea typeface="Segoe UI"/>
                <a:cs typeface="Segoe UI"/>
              </a:rPr>
              <a:t>•  </a:t>
            </a:r>
            <a:r>
              <a:rPr lang="en-US" sz="1200" b="0" dirty="0">
                <a:solidFill>
                  <a:srgbClr val="E2E8F0"/>
                </a:solidFill>
                <a:latin typeface="Segoe UI"/>
                <a:ea typeface="Segoe UI"/>
                <a:cs typeface="Segoe UI"/>
              </a:rPr>
              <a:t>and you write the double BY HAND</a:t>
            </a:r>
            <a:endParaRPr lang="en-US" sz="1200" dirty="0"/>
          </a:p>
          <a:p>
            <a:pPr marL="0" indent="0" algn="l">
              <a:spcBef>
                <a:spcPts val="0"/>
              </a:spcBef>
              <a:spcAft>
                <a:spcPts val="400"/>
              </a:spcAft>
              <a:buNone/>
            </a:pPr>
            <a:r>
              <a:rPr lang="en-US" sz="1200" b="0" dirty="0">
                <a:solidFill>
                  <a:srgbClr val="A78BFA"/>
                </a:solidFill>
                <a:latin typeface="Segoe UI"/>
                <a:ea typeface="Segoe UI"/>
                <a:cs typeface="Segoe UI"/>
              </a:rPr>
              <a:t>•  </a:t>
            </a:r>
            <a:r>
              <a:rPr lang="en-US" sz="1200" b="0" dirty="0">
                <a:solidFill>
                  <a:srgbClr val="E2E8F0"/>
                </a:solidFill>
                <a:latin typeface="Segoe UI"/>
                <a:ea typeface="Segoe UI"/>
                <a:cs typeface="Segoe UI"/>
              </a:rPr>
              <a:t>example: which emails went out</a:t>
            </a:r>
            <a:endParaRPr lang="en-US" sz="1200" dirty="0"/>
          </a:p>
        </p:txBody>
      </p:sp>
      <p:sp>
        <p:nvSpPr>
          <p:cNvPr id="103" name="s103"/>
          <p:cNvSpPr/>
          <p:nvPr/>
        </p:nvSpPr>
        <p:spPr>
          <a:xfrm>
            <a:off x="543154" y="3401568"/>
            <a:ext cx="3931920" cy="1572768"/>
          </a:xfrm>
          <a:prstGeom prst="roundRect">
            <a:avLst>
              <a:gd name="adj" fmla="val 8000"/>
            </a:avLst>
          </a:prstGeom>
          <a:solidFill>
            <a:srgbClr val="111B2E"/>
          </a:solidFill>
          <a:ln w="12700">
            <a:solidFill>
              <a:srgbClr val="FBBF24"/>
            </a:solidFill>
            <a:prstDash val="solid"/>
          </a:ln>
        </p:spPr>
        <p:txBody>
          <a:bodyPr wrap="square" lIns="182880" tIns="128016" rIns="137160" bIns="91440" rtlCol="0" anchor="t">
            <a:noAutofit/>
          </a:bodyPr>
          <a:lstStyle/>
          <a:p>
            <a:pPr marL="0" indent="0" algn="l">
              <a:spcBef>
                <a:spcPts val="0"/>
              </a:spcBef>
              <a:spcAft>
                <a:spcPts val="500"/>
              </a:spcAft>
              <a:buNone/>
            </a:pPr>
            <a:r>
              <a:rPr lang="en-US" sz="1100" b="1" dirty="0">
                <a:solidFill>
                  <a:srgbClr val="FBBF24"/>
                </a:solidFill>
                <a:latin typeface="Segoe UI"/>
                <a:ea typeface="Segoe UI"/>
                <a:cs typeface="Segoe UI"/>
              </a:rPr>
              <a:t>WHAT YOU NEED</a:t>
            </a:r>
            <a:endParaRPr lang="en-US" sz="11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the interface:  IEmailSender</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a class that stores every call in a List</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no package needed</a:t>
            </a:r>
            <a:endParaRPr lang="en-US" sz="1200" dirty="0"/>
          </a:p>
        </p:txBody>
      </p:sp>
      <p:sp>
        <p:nvSpPr>
          <p:cNvPr id="104" name="s104"/>
          <p:cNvSpPr/>
          <p:nvPr/>
        </p:nvSpPr>
        <p:spPr>
          <a:xfrm>
            <a:off x="543154" y="5084064"/>
            <a:ext cx="3931920" cy="1170432"/>
          </a:xfrm>
          <a:prstGeom prst="roundRect">
            <a:avLst>
              <a:gd name="adj" fmla="val 8000"/>
            </a:avLst>
          </a:prstGeom>
          <a:solidFill>
            <a:srgbClr val="A78BFA">
              <a:alpha val="10000"/>
            </a:srgbClr>
          </a:solidFill>
          <a:ln w="12700">
            <a:solidFill>
              <a:srgbClr val="A78BFA"/>
            </a:solidFill>
            <a:prstDash val="solid"/>
          </a:ln>
        </p:spPr>
        <p:txBody>
          <a:bodyPr wrap="square" lIns="182880" tIns="73152" rIns="137160" bIns="73152" rtlCol="0" anchor="ctr">
            <a:noAutofit/>
          </a:bodyPr>
          <a:lstStyle/>
          <a:p>
            <a:pPr marL="0" indent="0" algn="l">
              <a:spcBef>
                <a:spcPts val="0"/>
              </a:spcBef>
              <a:spcAft>
                <a:spcPts val="400"/>
              </a:spcAft>
              <a:buNone/>
            </a:pPr>
            <a:r>
              <a:rPr lang="en-US" sz="1100" b="1" dirty="0">
                <a:solidFill>
                  <a:srgbClr val="A78BFA"/>
                </a:solidFill>
                <a:latin typeface="Segoe UI"/>
                <a:ea typeface="Segoe UI"/>
                <a:cs typeface="Segoe UI"/>
              </a:rPr>
              <a:t>REMEMBER</a:t>
            </a:r>
            <a:endParaRPr lang="en-US" sz="1100" dirty="0"/>
          </a:p>
          <a:p>
            <a:pPr marL="0" indent="0" algn="l">
              <a:spcBef>
                <a:spcPts val="0"/>
              </a:spcBef>
              <a:spcAft>
                <a:spcPts val="0"/>
              </a:spcAft>
              <a:buNone/>
            </a:pPr>
            <a:r>
              <a:rPr lang="en-US" sz="1200" b="0" dirty="0">
                <a:solidFill>
                  <a:srgbClr val="FFFFFF"/>
                </a:solidFill>
                <a:latin typeface="Segoe UI"/>
                <a:ea typeface="Segoe UI"/>
                <a:cs typeface="Segoe UI"/>
              </a:rPr>
              <a:t>NSubstitute's Received() does this job for you, so hand-written spies are rare in real projects.</a:t>
            </a:r>
            <a:endParaRPr lang="en-US" sz="1200" dirty="0"/>
          </a:p>
        </p:txBody>
      </p:sp>
      <p:sp>
        <p:nvSpPr>
          <p:cNvPr id="105" name="s105"/>
          <p:cNvSpPr/>
          <p:nvPr/>
        </p:nvSpPr>
        <p:spPr>
          <a:xfrm>
            <a:off x="4703674" y="1810512"/>
            <a:ext cx="6927494" cy="1476756"/>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6" name="s106"/>
          <p:cNvSpPr/>
          <p:nvPr/>
        </p:nvSpPr>
        <p:spPr>
          <a:xfrm>
            <a:off x="4868266" y="195681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7" name="s107"/>
          <p:cNvSpPr/>
          <p:nvPr/>
        </p:nvSpPr>
        <p:spPr>
          <a:xfrm>
            <a:off x="5051146" y="195681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8" name="s108"/>
          <p:cNvSpPr/>
          <p:nvPr/>
        </p:nvSpPr>
        <p:spPr>
          <a:xfrm>
            <a:off x="5234026" y="195681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9" name="s109"/>
          <p:cNvSpPr/>
          <p:nvPr/>
        </p:nvSpPr>
        <p:spPr>
          <a:xfrm>
            <a:off x="5480914" y="1883664"/>
            <a:ext cx="2388413"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SpyEmailSender.cs  ·  the spy</a:t>
            </a:r>
            <a:endParaRPr lang="en-US" sz="950" dirty="0"/>
          </a:p>
        </p:txBody>
      </p:sp>
      <p:cxnSp>
        <p:nvCxnSpPr>
          <p:cNvPr id="110" name="ln110"/>
          <p:cNvCxnSpPr/>
          <p:nvPr/>
        </p:nvCxnSpPr>
        <p:spPr>
          <a:xfrm>
            <a:off x="4703674" y="2221992"/>
            <a:ext cx="6927494" cy="0"/>
          </a:xfrm>
          <a:prstGeom prst="line">
            <a:avLst/>
          </a:prstGeom>
          <a:ln w="9525">
            <a:solidFill>
              <a:srgbClr val="1E3A5F"/>
            </a:solidFill>
          </a:ln>
        </p:spPr>
      </p:cxnSp>
      <p:sp>
        <p:nvSpPr>
          <p:cNvPr id="111" name="s111"/>
          <p:cNvSpPr/>
          <p:nvPr/>
        </p:nvSpPr>
        <p:spPr>
          <a:xfrm>
            <a:off x="4703674" y="2340864"/>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6FAE7A"/>
                </a:solidFill>
                <a:latin typeface="Consolas"/>
                <a:ea typeface="Consolas"/>
                <a:cs typeface="Consolas"/>
              </a:rPr>
              <a:t>// SPY: remembers every email it was asked to send</a:t>
            </a:r>
            <a:endParaRPr lang="en-US" sz="875" dirty="0"/>
          </a:p>
        </p:txBody>
      </p:sp>
      <p:sp>
        <p:nvSpPr>
          <p:cNvPr id="112" name="s112"/>
          <p:cNvSpPr/>
          <p:nvPr/>
        </p:nvSpPr>
        <p:spPr>
          <a:xfrm>
            <a:off x="4703674" y="2474214"/>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60A5FA"/>
                </a:solidFill>
                <a:latin typeface="Consolas"/>
                <a:ea typeface="Consolas"/>
                <a:cs typeface="Consolas"/>
              </a:rPr>
              <a:t>public</a:t>
            </a:r>
            <a:r>
              <a:rPr lang="en-US" sz="875" b="0" dirty="0">
                <a:solidFill>
                  <a:srgbClr val="E2E8F0"/>
                </a:solidFill>
                <a:latin typeface="Consolas"/>
                <a:ea typeface="Consolas"/>
                <a:cs typeface="Consolas"/>
              </a:rPr>
              <a:t> </a:t>
            </a:r>
            <a:r>
              <a:rPr lang="en-US" sz="875" b="0" dirty="0">
                <a:solidFill>
                  <a:srgbClr val="60A5FA"/>
                </a:solidFill>
                <a:latin typeface="Consolas"/>
                <a:ea typeface="Consolas"/>
                <a:cs typeface="Consolas"/>
              </a:rPr>
              <a:t>class</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SpyEmailSender</a:t>
            </a:r>
            <a:r>
              <a:rPr lang="en-US" sz="875" b="0" dirty="0">
                <a:solidFill>
                  <a:srgbClr val="E2E8F0"/>
                </a:solidFill>
                <a:latin typeface="Consolas"/>
                <a:ea typeface="Consolas"/>
                <a:cs typeface="Consolas"/>
              </a:rPr>
              <a:t> : </a:t>
            </a:r>
            <a:r>
              <a:rPr lang="en-US" sz="875" b="0" dirty="0">
                <a:solidFill>
                  <a:srgbClr val="7DD3FC"/>
                </a:solidFill>
                <a:latin typeface="Consolas"/>
                <a:ea typeface="Consolas"/>
                <a:cs typeface="Consolas"/>
              </a:rPr>
              <a:t>IEmailSender</a:t>
            </a:r>
            <a:endParaRPr lang="en-US" sz="875" dirty="0"/>
          </a:p>
        </p:txBody>
      </p:sp>
      <p:sp>
        <p:nvSpPr>
          <p:cNvPr id="113" name="s113"/>
          <p:cNvSpPr/>
          <p:nvPr/>
        </p:nvSpPr>
        <p:spPr>
          <a:xfrm>
            <a:off x="4703674" y="2607564"/>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a:t>
            </a:r>
            <a:endParaRPr lang="en-US" sz="875" dirty="0"/>
          </a:p>
        </p:txBody>
      </p:sp>
      <p:sp>
        <p:nvSpPr>
          <p:cNvPr id="114" name="s114"/>
          <p:cNvSpPr/>
          <p:nvPr/>
        </p:nvSpPr>
        <p:spPr>
          <a:xfrm>
            <a:off x="4703674" y="2740914"/>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    </a:t>
            </a:r>
            <a:r>
              <a:rPr lang="en-US" sz="875" b="0" dirty="0">
                <a:solidFill>
                  <a:srgbClr val="60A5FA"/>
                </a:solidFill>
                <a:latin typeface="Consolas"/>
                <a:ea typeface="Consolas"/>
                <a:cs typeface="Consolas"/>
              </a:rPr>
              <a:t>public</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List</a:t>
            </a:r>
            <a:r>
              <a:rPr lang="en-US" sz="875" b="0" dirty="0">
                <a:solidFill>
                  <a:srgbClr val="E2E8F0"/>
                </a:solidFill>
                <a:latin typeface="Consolas"/>
                <a:ea typeface="Consolas"/>
                <a:cs typeface="Consolas"/>
              </a:rPr>
              <a:t>&lt;(</a:t>
            </a:r>
            <a:r>
              <a:rPr lang="en-US" sz="875" b="0" dirty="0">
                <a:solidFill>
                  <a:srgbClr val="60A5FA"/>
                </a:solidFill>
                <a:latin typeface="Consolas"/>
                <a:ea typeface="Consolas"/>
                <a:cs typeface="Consolas"/>
              </a:rPr>
              <a:t>string</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To</a:t>
            </a:r>
            <a:r>
              <a:rPr lang="en-US" sz="875" b="0" dirty="0">
                <a:solidFill>
                  <a:srgbClr val="E2E8F0"/>
                </a:solidFill>
                <a:latin typeface="Consolas"/>
                <a:ea typeface="Consolas"/>
                <a:cs typeface="Consolas"/>
              </a:rPr>
              <a:t>, </a:t>
            </a:r>
            <a:r>
              <a:rPr lang="en-US" sz="875" b="0" dirty="0">
                <a:solidFill>
                  <a:srgbClr val="60A5FA"/>
                </a:solidFill>
                <a:latin typeface="Consolas"/>
                <a:ea typeface="Consolas"/>
                <a:cs typeface="Consolas"/>
              </a:rPr>
              <a:t>string</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Subject</a:t>
            </a:r>
            <a:r>
              <a:rPr lang="en-US" sz="875" b="0" dirty="0">
                <a:solidFill>
                  <a:srgbClr val="E2E8F0"/>
                </a:solidFill>
                <a:latin typeface="Consolas"/>
                <a:ea typeface="Consolas"/>
                <a:cs typeface="Consolas"/>
              </a:rPr>
              <a:t>, </a:t>
            </a:r>
            <a:r>
              <a:rPr lang="en-US" sz="875" b="0" dirty="0">
                <a:solidFill>
                  <a:srgbClr val="60A5FA"/>
                </a:solidFill>
                <a:latin typeface="Consolas"/>
                <a:ea typeface="Consolas"/>
                <a:cs typeface="Consolas"/>
              </a:rPr>
              <a:t>string</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Body</a:t>
            </a:r>
            <a:r>
              <a:rPr lang="en-US" sz="875" b="0" dirty="0">
                <a:solidFill>
                  <a:srgbClr val="E2E8F0"/>
                </a:solidFill>
                <a:latin typeface="Consolas"/>
                <a:ea typeface="Consolas"/>
                <a:cs typeface="Consolas"/>
              </a:rPr>
              <a:t>)&gt; </a:t>
            </a:r>
            <a:r>
              <a:rPr lang="en-US" sz="875" b="0" dirty="0">
                <a:solidFill>
                  <a:srgbClr val="7DD3FC"/>
                </a:solidFill>
                <a:latin typeface="Consolas"/>
                <a:ea typeface="Consolas"/>
                <a:cs typeface="Consolas"/>
              </a:rPr>
              <a:t>Sent</a:t>
            </a:r>
            <a:r>
              <a:rPr lang="en-US" sz="875" b="0" dirty="0">
                <a:solidFill>
                  <a:srgbClr val="E2E8F0"/>
                </a:solidFill>
                <a:latin typeface="Consolas"/>
                <a:ea typeface="Consolas"/>
                <a:cs typeface="Consolas"/>
              </a:rPr>
              <a:t> { </a:t>
            </a:r>
            <a:r>
              <a:rPr lang="en-US" sz="875" b="0" dirty="0">
                <a:solidFill>
                  <a:srgbClr val="60A5FA"/>
                </a:solidFill>
                <a:latin typeface="Consolas"/>
                <a:ea typeface="Consolas"/>
                <a:cs typeface="Consolas"/>
              </a:rPr>
              <a:t>get</a:t>
            </a:r>
            <a:r>
              <a:rPr lang="en-US" sz="875" b="0" dirty="0">
                <a:solidFill>
                  <a:srgbClr val="E2E8F0"/>
                </a:solidFill>
                <a:latin typeface="Consolas"/>
                <a:ea typeface="Consolas"/>
                <a:cs typeface="Consolas"/>
              </a:rPr>
              <a:t>; } = </a:t>
            </a:r>
            <a:r>
              <a:rPr lang="en-US" sz="875" b="0" dirty="0">
                <a:solidFill>
                  <a:srgbClr val="60A5FA"/>
                </a:solidFill>
                <a:latin typeface="Consolas"/>
                <a:ea typeface="Consolas"/>
                <a:cs typeface="Consolas"/>
              </a:rPr>
              <a:t>new</a:t>
            </a:r>
            <a:r>
              <a:rPr lang="en-US" sz="875" b="0" dirty="0">
                <a:solidFill>
                  <a:srgbClr val="E2E8F0"/>
                </a:solidFill>
                <a:latin typeface="Consolas"/>
                <a:ea typeface="Consolas"/>
                <a:cs typeface="Consolas"/>
              </a:rPr>
              <a:t>();</a:t>
            </a:r>
            <a:endParaRPr lang="en-US" sz="875" dirty="0"/>
          </a:p>
        </p:txBody>
      </p:sp>
      <p:sp>
        <p:nvSpPr>
          <p:cNvPr id="115" name="s115"/>
          <p:cNvSpPr/>
          <p:nvPr/>
        </p:nvSpPr>
        <p:spPr>
          <a:xfrm>
            <a:off x="4703674" y="2874264"/>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    </a:t>
            </a:r>
            <a:r>
              <a:rPr lang="en-US" sz="875" b="0" dirty="0">
                <a:solidFill>
                  <a:srgbClr val="60A5FA"/>
                </a:solidFill>
                <a:latin typeface="Consolas"/>
                <a:ea typeface="Consolas"/>
                <a:cs typeface="Consolas"/>
              </a:rPr>
              <a:t>public</a:t>
            </a:r>
            <a:r>
              <a:rPr lang="en-US" sz="875" b="0" dirty="0">
                <a:solidFill>
                  <a:srgbClr val="E2E8F0"/>
                </a:solidFill>
                <a:latin typeface="Consolas"/>
                <a:ea typeface="Consolas"/>
                <a:cs typeface="Consolas"/>
              </a:rPr>
              <a:t> </a:t>
            </a:r>
            <a:r>
              <a:rPr lang="en-US" sz="875" b="0" dirty="0">
                <a:solidFill>
                  <a:srgbClr val="60A5FA"/>
                </a:solidFill>
                <a:latin typeface="Consolas"/>
                <a:ea typeface="Consolas"/>
                <a:cs typeface="Consolas"/>
              </a:rPr>
              <a:t>void</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Send</a:t>
            </a:r>
            <a:r>
              <a:rPr lang="en-US" sz="875" b="0" dirty="0">
                <a:solidFill>
                  <a:srgbClr val="E2E8F0"/>
                </a:solidFill>
                <a:latin typeface="Consolas"/>
                <a:ea typeface="Consolas"/>
                <a:cs typeface="Consolas"/>
              </a:rPr>
              <a:t>(</a:t>
            </a:r>
            <a:r>
              <a:rPr lang="en-US" sz="875" b="0" dirty="0">
                <a:solidFill>
                  <a:srgbClr val="60A5FA"/>
                </a:solidFill>
                <a:latin typeface="Consolas"/>
                <a:ea typeface="Consolas"/>
                <a:cs typeface="Consolas"/>
              </a:rPr>
              <a:t>string</a:t>
            </a:r>
            <a:r>
              <a:rPr lang="en-US" sz="875" b="0" dirty="0">
                <a:solidFill>
                  <a:srgbClr val="E2E8F0"/>
                </a:solidFill>
                <a:latin typeface="Consolas"/>
                <a:ea typeface="Consolas"/>
                <a:cs typeface="Consolas"/>
              </a:rPr>
              <a:t> to, </a:t>
            </a:r>
            <a:r>
              <a:rPr lang="en-US" sz="875" b="0" dirty="0">
                <a:solidFill>
                  <a:srgbClr val="60A5FA"/>
                </a:solidFill>
                <a:latin typeface="Consolas"/>
                <a:ea typeface="Consolas"/>
                <a:cs typeface="Consolas"/>
              </a:rPr>
              <a:t>string</a:t>
            </a:r>
            <a:r>
              <a:rPr lang="en-US" sz="875" b="0" dirty="0">
                <a:solidFill>
                  <a:srgbClr val="E2E8F0"/>
                </a:solidFill>
                <a:latin typeface="Consolas"/>
                <a:ea typeface="Consolas"/>
                <a:cs typeface="Consolas"/>
              </a:rPr>
              <a:t> subject, </a:t>
            </a:r>
            <a:r>
              <a:rPr lang="en-US" sz="875" b="0" dirty="0">
                <a:solidFill>
                  <a:srgbClr val="60A5FA"/>
                </a:solidFill>
                <a:latin typeface="Consolas"/>
                <a:ea typeface="Consolas"/>
                <a:cs typeface="Consolas"/>
              </a:rPr>
              <a:t>string</a:t>
            </a:r>
            <a:r>
              <a:rPr lang="en-US" sz="875" b="0" dirty="0">
                <a:solidFill>
                  <a:srgbClr val="E2E8F0"/>
                </a:solidFill>
                <a:latin typeface="Consolas"/>
                <a:ea typeface="Consolas"/>
                <a:cs typeface="Consolas"/>
              </a:rPr>
              <a:t> body) =&gt; </a:t>
            </a:r>
            <a:r>
              <a:rPr lang="en-US" sz="875" b="0" dirty="0">
                <a:solidFill>
                  <a:srgbClr val="7DD3FC"/>
                </a:solidFill>
                <a:latin typeface="Consolas"/>
                <a:ea typeface="Consolas"/>
                <a:cs typeface="Consolas"/>
              </a:rPr>
              <a:t>Sent</a:t>
            </a:r>
            <a:r>
              <a:rPr lang="en-US" sz="875" b="0" dirty="0">
                <a:solidFill>
                  <a:srgbClr val="E2E8F0"/>
                </a:solidFill>
                <a:latin typeface="Consolas"/>
                <a:ea typeface="Consolas"/>
                <a:cs typeface="Consolas"/>
              </a:rPr>
              <a:t>.</a:t>
            </a:r>
            <a:r>
              <a:rPr lang="en-US" sz="875" b="0" dirty="0">
                <a:solidFill>
                  <a:srgbClr val="7DD3FC"/>
                </a:solidFill>
                <a:latin typeface="Consolas"/>
                <a:ea typeface="Consolas"/>
                <a:cs typeface="Consolas"/>
              </a:rPr>
              <a:t>Add</a:t>
            </a:r>
            <a:r>
              <a:rPr lang="en-US" sz="875" b="0" dirty="0">
                <a:solidFill>
                  <a:srgbClr val="E2E8F0"/>
                </a:solidFill>
                <a:latin typeface="Consolas"/>
                <a:ea typeface="Consolas"/>
                <a:cs typeface="Consolas"/>
              </a:rPr>
              <a:t>((to, subject, body));</a:t>
            </a:r>
            <a:endParaRPr lang="en-US" sz="875" dirty="0"/>
          </a:p>
        </p:txBody>
      </p:sp>
      <p:sp>
        <p:nvSpPr>
          <p:cNvPr id="116" name="s116"/>
          <p:cNvSpPr/>
          <p:nvPr/>
        </p:nvSpPr>
        <p:spPr>
          <a:xfrm>
            <a:off x="4703674" y="3007614"/>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a:t>
            </a:r>
            <a:endParaRPr lang="en-US" sz="875" dirty="0"/>
          </a:p>
        </p:txBody>
      </p:sp>
      <p:sp>
        <p:nvSpPr>
          <p:cNvPr id="117" name="s117"/>
          <p:cNvSpPr/>
          <p:nvPr/>
        </p:nvSpPr>
        <p:spPr>
          <a:xfrm>
            <a:off x="4703674" y="3396996"/>
            <a:ext cx="6927494" cy="2410206"/>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8" name="s118"/>
          <p:cNvSpPr/>
          <p:nvPr/>
        </p:nvSpPr>
        <p:spPr>
          <a:xfrm>
            <a:off x="4868266" y="3543300"/>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9" name="s119"/>
          <p:cNvSpPr/>
          <p:nvPr/>
        </p:nvSpPr>
        <p:spPr>
          <a:xfrm>
            <a:off x="5051146" y="3543300"/>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0" name="s120"/>
          <p:cNvSpPr/>
          <p:nvPr/>
        </p:nvSpPr>
        <p:spPr>
          <a:xfrm>
            <a:off x="5234026" y="3543300"/>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1" name="s121"/>
          <p:cNvSpPr/>
          <p:nvPr/>
        </p:nvSpPr>
        <p:spPr>
          <a:xfrm>
            <a:off x="5480914" y="3470148"/>
            <a:ext cx="2887675"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TransferServiceTests.cs  ·  the test</a:t>
            </a:r>
            <a:endParaRPr lang="en-US" sz="950" dirty="0"/>
          </a:p>
        </p:txBody>
      </p:sp>
      <p:cxnSp>
        <p:nvCxnSpPr>
          <p:cNvPr id="122" name="ln122"/>
          <p:cNvCxnSpPr/>
          <p:nvPr/>
        </p:nvCxnSpPr>
        <p:spPr>
          <a:xfrm>
            <a:off x="4703674" y="3808476"/>
            <a:ext cx="6927494" cy="0"/>
          </a:xfrm>
          <a:prstGeom prst="line">
            <a:avLst/>
          </a:prstGeom>
          <a:ln w="9525">
            <a:solidFill>
              <a:srgbClr val="1E3A5F"/>
            </a:solidFill>
          </a:ln>
        </p:spPr>
      </p:cxnSp>
      <p:sp>
        <p:nvSpPr>
          <p:cNvPr id="123" name="s123"/>
          <p:cNvSpPr/>
          <p:nvPr/>
        </p:nvSpPr>
        <p:spPr>
          <a:xfrm>
            <a:off x="4703674" y="392734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FBBF24"/>
                </a:solidFill>
                <a:latin typeface="Consolas"/>
                <a:ea typeface="Consolas"/>
                <a:cs typeface="Consolas"/>
              </a:rPr>
              <a:t>[Fact]</a:t>
            </a:r>
            <a:endParaRPr lang="en-US" sz="875" dirty="0"/>
          </a:p>
        </p:txBody>
      </p:sp>
      <p:sp>
        <p:nvSpPr>
          <p:cNvPr id="124" name="s124"/>
          <p:cNvSpPr/>
          <p:nvPr/>
        </p:nvSpPr>
        <p:spPr>
          <a:xfrm>
            <a:off x="4703674" y="406069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60A5FA"/>
                </a:solidFill>
                <a:latin typeface="Consolas"/>
                <a:ea typeface="Consolas"/>
                <a:cs typeface="Consolas"/>
              </a:rPr>
              <a:t>public</a:t>
            </a:r>
            <a:r>
              <a:rPr lang="en-US" sz="875" b="0" dirty="0">
                <a:solidFill>
                  <a:srgbClr val="E2E8F0"/>
                </a:solidFill>
                <a:latin typeface="Consolas"/>
                <a:ea typeface="Consolas"/>
                <a:cs typeface="Consolas"/>
              </a:rPr>
              <a:t> </a:t>
            </a:r>
            <a:r>
              <a:rPr lang="en-US" sz="875" b="0" dirty="0">
                <a:solidFill>
                  <a:srgbClr val="60A5FA"/>
                </a:solidFill>
                <a:latin typeface="Consolas"/>
                <a:ea typeface="Consolas"/>
                <a:cs typeface="Consolas"/>
              </a:rPr>
              <a:t>void</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Transfer_EmailsTheSender</a:t>
            </a:r>
            <a:r>
              <a:rPr lang="en-US" sz="875" b="0" dirty="0">
                <a:solidFill>
                  <a:srgbClr val="E2E8F0"/>
                </a:solidFill>
                <a:latin typeface="Consolas"/>
                <a:ea typeface="Consolas"/>
                <a:cs typeface="Consolas"/>
              </a:rPr>
              <a:t>()</a:t>
            </a:r>
            <a:endParaRPr lang="en-US" sz="875" dirty="0"/>
          </a:p>
        </p:txBody>
      </p:sp>
      <p:sp>
        <p:nvSpPr>
          <p:cNvPr id="125" name="s125"/>
          <p:cNvSpPr/>
          <p:nvPr/>
        </p:nvSpPr>
        <p:spPr>
          <a:xfrm>
            <a:off x="4703674" y="419404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a:t>
            </a:r>
            <a:endParaRPr lang="en-US" sz="875" dirty="0"/>
          </a:p>
        </p:txBody>
      </p:sp>
      <p:sp>
        <p:nvSpPr>
          <p:cNvPr id="126" name="s126"/>
          <p:cNvSpPr/>
          <p:nvPr/>
        </p:nvSpPr>
        <p:spPr>
          <a:xfrm>
            <a:off x="4703674" y="432739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    </a:t>
            </a:r>
            <a:r>
              <a:rPr lang="en-US" sz="875" b="0" dirty="0">
                <a:solidFill>
                  <a:srgbClr val="60A5FA"/>
                </a:solidFill>
                <a:latin typeface="Consolas"/>
                <a:ea typeface="Consolas"/>
                <a:cs typeface="Consolas"/>
              </a:rPr>
              <a:t>var</a:t>
            </a:r>
            <a:r>
              <a:rPr lang="en-US" sz="875" b="0" dirty="0">
                <a:solidFill>
                  <a:srgbClr val="E2E8F0"/>
                </a:solidFill>
                <a:latin typeface="Consolas"/>
                <a:ea typeface="Consolas"/>
                <a:cs typeface="Consolas"/>
              </a:rPr>
              <a:t> accounts = </a:t>
            </a:r>
            <a:r>
              <a:rPr lang="en-US" sz="875" b="0" dirty="0">
                <a:solidFill>
                  <a:srgbClr val="60A5FA"/>
                </a:solidFill>
                <a:latin typeface="Consolas"/>
                <a:ea typeface="Consolas"/>
                <a:cs typeface="Consolas"/>
              </a:rPr>
              <a:t>new</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InMemoryAccountRepository</a:t>
            </a:r>
            <a:r>
              <a:rPr lang="en-US" sz="875" b="0" dirty="0">
                <a:solidFill>
                  <a:srgbClr val="E2E8F0"/>
                </a:solidFill>
                <a:latin typeface="Consolas"/>
                <a:ea typeface="Consolas"/>
                <a:cs typeface="Consolas"/>
              </a:rPr>
              <a:t>();                         </a:t>
            </a:r>
            <a:r>
              <a:rPr lang="en-US" sz="875" b="0" dirty="0">
                <a:solidFill>
                  <a:srgbClr val="6FAE7A"/>
                </a:solidFill>
                <a:latin typeface="Consolas"/>
                <a:ea typeface="Consolas"/>
                <a:cs typeface="Consolas"/>
              </a:rPr>
              <a:t>// FAKE</a:t>
            </a:r>
            <a:endParaRPr lang="en-US" sz="875" dirty="0"/>
          </a:p>
        </p:txBody>
      </p:sp>
      <p:sp>
        <p:nvSpPr>
          <p:cNvPr id="127" name="s127"/>
          <p:cNvSpPr/>
          <p:nvPr/>
        </p:nvSpPr>
        <p:spPr>
          <a:xfrm>
            <a:off x="4703674" y="446074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    accounts.</a:t>
            </a:r>
            <a:r>
              <a:rPr lang="en-US" sz="875" b="0" dirty="0">
                <a:solidFill>
                  <a:srgbClr val="7DD3FC"/>
                </a:solidFill>
                <a:latin typeface="Consolas"/>
                <a:ea typeface="Consolas"/>
                <a:cs typeface="Consolas"/>
              </a:rPr>
              <a:t>Save</a:t>
            </a:r>
            <a:r>
              <a:rPr lang="en-US" sz="875" b="0" dirty="0">
                <a:solidFill>
                  <a:srgbClr val="E2E8F0"/>
                </a:solidFill>
                <a:latin typeface="Consolas"/>
                <a:ea typeface="Consolas"/>
                <a:cs typeface="Consolas"/>
              </a:rPr>
              <a:t>(</a:t>
            </a:r>
            <a:r>
              <a:rPr lang="en-US" sz="875" b="0" dirty="0">
                <a:solidFill>
                  <a:srgbClr val="60A5FA"/>
                </a:solidFill>
                <a:latin typeface="Consolas"/>
                <a:ea typeface="Consolas"/>
                <a:cs typeface="Consolas"/>
              </a:rPr>
              <a:t>new</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BankAccount</a:t>
            </a:r>
            <a:r>
              <a:rPr lang="en-US" sz="875" b="0" dirty="0">
                <a:solidFill>
                  <a:srgbClr val="E2E8F0"/>
                </a:solidFill>
                <a:latin typeface="Consolas"/>
                <a:ea typeface="Consolas"/>
                <a:cs typeface="Consolas"/>
              </a:rPr>
              <a:t>(</a:t>
            </a:r>
            <a:r>
              <a:rPr lang="en-US" sz="875" b="0" dirty="0">
                <a:solidFill>
                  <a:srgbClr val="F0A98B"/>
                </a:solidFill>
                <a:latin typeface="Consolas"/>
                <a:ea typeface="Consolas"/>
                <a:cs typeface="Consolas"/>
              </a:rPr>
              <a:t>"mona@bank.eg"</a:t>
            </a:r>
            <a:r>
              <a:rPr lang="en-US" sz="875" b="0" dirty="0">
                <a:solidFill>
                  <a:srgbClr val="E2E8F0"/>
                </a:solidFill>
                <a:latin typeface="Consolas"/>
                <a:ea typeface="Consolas"/>
                <a:cs typeface="Consolas"/>
              </a:rPr>
              <a:t>, </a:t>
            </a:r>
            <a:r>
              <a:rPr lang="en-US" sz="875" b="0" dirty="0">
                <a:solidFill>
                  <a:srgbClr val="C4B5FD"/>
                </a:solidFill>
                <a:latin typeface="Consolas"/>
                <a:ea typeface="Consolas"/>
                <a:cs typeface="Consolas"/>
              </a:rPr>
              <a:t>500m</a:t>
            </a:r>
            <a:r>
              <a:rPr lang="en-US" sz="875" b="0" dirty="0">
                <a:solidFill>
                  <a:srgbClr val="E2E8F0"/>
                </a:solidFill>
                <a:latin typeface="Consolas"/>
                <a:ea typeface="Consolas"/>
                <a:cs typeface="Consolas"/>
              </a:rPr>
              <a:t>));</a:t>
            </a:r>
            <a:endParaRPr lang="en-US" sz="875" dirty="0"/>
          </a:p>
        </p:txBody>
      </p:sp>
      <p:sp>
        <p:nvSpPr>
          <p:cNvPr id="128" name="s128"/>
          <p:cNvSpPr/>
          <p:nvPr/>
        </p:nvSpPr>
        <p:spPr>
          <a:xfrm>
            <a:off x="4703674" y="459409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    accounts.</a:t>
            </a:r>
            <a:r>
              <a:rPr lang="en-US" sz="875" b="0" dirty="0">
                <a:solidFill>
                  <a:srgbClr val="7DD3FC"/>
                </a:solidFill>
                <a:latin typeface="Consolas"/>
                <a:ea typeface="Consolas"/>
                <a:cs typeface="Consolas"/>
              </a:rPr>
              <a:t>Save</a:t>
            </a:r>
            <a:r>
              <a:rPr lang="en-US" sz="875" b="0" dirty="0">
                <a:solidFill>
                  <a:srgbClr val="E2E8F0"/>
                </a:solidFill>
                <a:latin typeface="Consolas"/>
                <a:ea typeface="Consolas"/>
                <a:cs typeface="Consolas"/>
              </a:rPr>
              <a:t>(</a:t>
            </a:r>
            <a:r>
              <a:rPr lang="en-US" sz="875" b="0" dirty="0">
                <a:solidFill>
                  <a:srgbClr val="60A5FA"/>
                </a:solidFill>
                <a:latin typeface="Consolas"/>
                <a:ea typeface="Consolas"/>
                <a:cs typeface="Consolas"/>
              </a:rPr>
              <a:t>new</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BankAccount</a:t>
            </a:r>
            <a:r>
              <a:rPr lang="en-US" sz="875" b="0" dirty="0">
                <a:solidFill>
                  <a:srgbClr val="E2E8F0"/>
                </a:solidFill>
                <a:latin typeface="Consolas"/>
                <a:ea typeface="Consolas"/>
                <a:cs typeface="Consolas"/>
              </a:rPr>
              <a:t>(</a:t>
            </a:r>
            <a:r>
              <a:rPr lang="en-US" sz="875" b="0" dirty="0">
                <a:solidFill>
                  <a:srgbClr val="F0A98B"/>
                </a:solidFill>
                <a:latin typeface="Consolas"/>
                <a:ea typeface="Consolas"/>
                <a:cs typeface="Consolas"/>
              </a:rPr>
              <a:t>"ali@bank.eg"</a:t>
            </a:r>
            <a:r>
              <a:rPr lang="en-US" sz="875" b="0" dirty="0">
                <a:solidFill>
                  <a:srgbClr val="E2E8F0"/>
                </a:solidFill>
                <a:latin typeface="Consolas"/>
                <a:ea typeface="Consolas"/>
                <a:cs typeface="Consolas"/>
              </a:rPr>
              <a:t>, </a:t>
            </a:r>
            <a:r>
              <a:rPr lang="en-US" sz="875" b="0" dirty="0">
                <a:solidFill>
                  <a:srgbClr val="C4B5FD"/>
                </a:solidFill>
                <a:latin typeface="Consolas"/>
                <a:ea typeface="Consolas"/>
                <a:cs typeface="Consolas"/>
              </a:rPr>
              <a:t>50m</a:t>
            </a:r>
            <a:r>
              <a:rPr lang="en-US" sz="875" b="0" dirty="0">
                <a:solidFill>
                  <a:srgbClr val="E2E8F0"/>
                </a:solidFill>
                <a:latin typeface="Consolas"/>
                <a:ea typeface="Consolas"/>
                <a:cs typeface="Consolas"/>
              </a:rPr>
              <a:t>));</a:t>
            </a:r>
            <a:endParaRPr lang="en-US" sz="875" dirty="0"/>
          </a:p>
        </p:txBody>
      </p:sp>
      <p:sp>
        <p:nvSpPr>
          <p:cNvPr id="129" name="s129"/>
          <p:cNvSpPr/>
          <p:nvPr/>
        </p:nvSpPr>
        <p:spPr>
          <a:xfrm>
            <a:off x="4703674" y="472744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    </a:t>
            </a:r>
            <a:r>
              <a:rPr lang="en-US" sz="875" b="0" dirty="0">
                <a:solidFill>
                  <a:srgbClr val="60A5FA"/>
                </a:solidFill>
                <a:latin typeface="Consolas"/>
                <a:ea typeface="Consolas"/>
                <a:cs typeface="Consolas"/>
              </a:rPr>
              <a:t>var</a:t>
            </a:r>
            <a:r>
              <a:rPr lang="en-US" sz="875" b="0" dirty="0">
                <a:solidFill>
                  <a:srgbClr val="E2E8F0"/>
                </a:solidFill>
                <a:latin typeface="Consolas"/>
                <a:ea typeface="Consolas"/>
                <a:cs typeface="Consolas"/>
              </a:rPr>
              <a:t> spy = </a:t>
            </a:r>
            <a:r>
              <a:rPr lang="en-US" sz="875" b="0" dirty="0">
                <a:solidFill>
                  <a:srgbClr val="60A5FA"/>
                </a:solidFill>
                <a:latin typeface="Consolas"/>
                <a:ea typeface="Consolas"/>
                <a:cs typeface="Consolas"/>
              </a:rPr>
              <a:t>new</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SpyEmailSender</a:t>
            </a:r>
            <a:r>
              <a:rPr lang="en-US" sz="875" b="0" dirty="0">
                <a:solidFill>
                  <a:srgbClr val="E2E8F0"/>
                </a:solidFill>
                <a:latin typeface="Consolas"/>
                <a:ea typeface="Consolas"/>
                <a:cs typeface="Consolas"/>
              </a:rPr>
              <a:t>();                                         </a:t>
            </a:r>
            <a:r>
              <a:rPr lang="en-US" sz="875" b="0" dirty="0">
                <a:solidFill>
                  <a:srgbClr val="6FAE7A"/>
                </a:solidFill>
                <a:latin typeface="Consolas"/>
                <a:ea typeface="Consolas"/>
                <a:cs typeface="Consolas"/>
              </a:rPr>
              <a:t>// SPY</a:t>
            </a:r>
            <a:endParaRPr lang="en-US" sz="875" dirty="0"/>
          </a:p>
        </p:txBody>
      </p:sp>
      <p:sp>
        <p:nvSpPr>
          <p:cNvPr id="130" name="s130"/>
          <p:cNvSpPr/>
          <p:nvPr/>
        </p:nvSpPr>
        <p:spPr>
          <a:xfrm>
            <a:off x="4703674" y="486079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    </a:t>
            </a:r>
            <a:r>
              <a:rPr lang="en-US" sz="875" b="0" dirty="0">
                <a:solidFill>
                  <a:srgbClr val="60A5FA"/>
                </a:solidFill>
                <a:latin typeface="Consolas"/>
                <a:ea typeface="Consolas"/>
                <a:cs typeface="Consolas"/>
              </a:rPr>
              <a:t>var</a:t>
            </a:r>
            <a:r>
              <a:rPr lang="en-US" sz="875" b="0" dirty="0">
                <a:solidFill>
                  <a:srgbClr val="E2E8F0"/>
                </a:solidFill>
                <a:latin typeface="Consolas"/>
                <a:ea typeface="Consolas"/>
                <a:cs typeface="Consolas"/>
              </a:rPr>
              <a:t> service = </a:t>
            </a:r>
            <a:r>
              <a:rPr lang="en-US" sz="875" b="0" dirty="0">
                <a:solidFill>
                  <a:srgbClr val="60A5FA"/>
                </a:solidFill>
                <a:latin typeface="Consolas"/>
                <a:ea typeface="Consolas"/>
                <a:cs typeface="Consolas"/>
              </a:rPr>
              <a:t>new</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TransferService</a:t>
            </a:r>
            <a:r>
              <a:rPr lang="en-US" sz="875" b="0" dirty="0">
                <a:solidFill>
                  <a:srgbClr val="E2E8F0"/>
                </a:solidFill>
                <a:latin typeface="Consolas"/>
                <a:ea typeface="Consolas"/>
                <a:cs typeface="Consolas"/>
              </a:rPr>
              <a:t>(accounts, spy, </a:t>
            </a:r>
            <a:r>
              <a:rPr lang="en-US" sz="875" b="0" dirty="0">
                <a:solidFill>
                  <a:srgbClr val="60A5FA"/>
                </a:solidFill>
                <a:latin typeface="Consolas"/>
                <a:ea typeface="Consolas"/>
                <a:cs typeface="Consolas"/>
              </a:rPr>
              <a:t>new</a:t>
            </a:r>
            <a:r>
              <a:rPr lang="en-US" sz="875" b="0" dirty="0">
                <a:solidFill>
                  <a:srgbClr val="E2E8F0"/>
                </a:solidFill>
                <a:latin typeface="Consolas"/>
                <a:ea typeface="Consolas"/>
                <a:cs typeface="Consolas"/>
              </a:rPr>
              <a:t> </a:t>
            </a:r>
            <a:r>
              <a:rPr lang="en-US" sz="875" b="0" dirty="0">
                <a:solidFill>
                  <a:srgbClr val="7DD3FC"/>
                </a:solidFill>
                <a:latin typeface="Consolas"/>
                <a:ea typeface="Consolas"/>
                <a:cs typeface="Consolas"/>
              </a:rPr>
              <a:t>DummyLogger</a:t>
            </a:r>
            <a:r>
              <a:rPr lang="en-US" sz="875" b="0" dirty="0">
                <a:solidFill>
                  <a:srgbClr val="E2E8F0"/>
                </a:solidFill>
                <a:latin typeface="Consolas"/>
                <a:ea typeface="Consolas"/>
                <a:cs typeface="Consolas"/>
              </a:rPr>
              <a:t>());</a:t>
            </a:r>
            <a:endParaRPr lang="en-US" sz="875" dirty="0"/>
          </a:p>
        </p:txBody>
      </p:sp>
      <p:sp>
        <p:nvSpPr>
          <p:cNvPr id="131" name="s131"/>
          <p:cNvSpPr/>
          <p:nvPr/>
        </p:nvSpPr>
        <p:spPr>
          <a:xfrm>
            <a:off x="4703674" y="499414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    service.</a:t>
            </a:r>
            <a:r>
              <a:rPr lang="en-US" sz="875" b="0" dirty="0">
                <a:solidFill>
                  <a:srgbClr val="7DD3FC"/>
                </a:solidFill>
                <a:latin typeface="Consolas"/>
                <a:ea typeface="Consolas"/>
                <a:cs typeface="Consolas"/>
              </a:rPr>
              <a:t>Transfer</a:t>
            </a:r>
            <a:r>
              <a:rPr lang="en-US" sz="875" b="0" dirty="0">
                <a:solidFill>
                  <a:srgbClr val="E2E8F0"/>
                </a:solidFill>
                <a:latin typeface="Consolas"/>
                <a:ea typeface="Consolas"/>
                <a:cs typeface="Consolas"/>
              </a:rPr>
              <a:t>(</a:t>
            </a:r>
            <a:r>
              <a:rPr lang="en-US" sz="875" b="0" dirty="0">
                <a:solidFill>
                  <a:srgbClr val="F0A98B"/>
                </a:solidFill>
                <a:latin typeface="Consolas"/>
                <a:ea typeface="Consolas"/>
                <a:cs typeface="Consolas"/>
              </a:rPr>
              <a:t>"mona@bank.eg"</a:t>
            </a:r>
            <a:r>
              <a:rPr lang="en-US" sz="875" b="0" dirty="0">
                <a:solidFill>
                  <a:srgbClr val="E2E8F0"/>
                </a:solidFill>
                <a:latin typeface="Consolas"/>
                <a:ea typeface="Consolas"/>
                <a:cs typeface="Consolas"/>
              </a:rPr>
              <a:t>, </a:t>
            </a:r>
            <a:r>
              <a:rPr lang="en-US" sz="875" b="0" dirty="0">
                <a:solidFill>
                  <a:srgbClr val="F0A98B"/>
                </a:solidFill>
                <a:latin typeface="Consolas"/>
                <a:ea typeface="Consolas"/>
                <a:cs typeface="Consolas"/>
              </a:rPr>
              <a:t>"ali@bank.eg"</a:t>
            </a:r>
            <a:r>
              <a:rPr lang="en-US" sz="875" b="0" dirty="0">
                <a:solidFill>
                  <a:srgbClr val="E2E8F0"/>
                </a:solidFill>
                <a:latin typeface="Consolas"/>
                <a:ea typeface="Consolas"/>
                <a:cs typeface="Consolas"/>
              </a:rPr>
              <a:t>, </a:t>
            </a:r>
            <a:r>
              <a:rPr lang="en-US" sz="875" b="0" dirty="0">
                <a:solidFill>
                  <a:srgbClr val="C4B5FD"/>
                </a:solidFill>
                <a:latin typeface="Consolas"/>
                <a:ea typeface="Consolas"/>
                <a:cs typeface="Consolas"/>
              </a:rPr>
              <a:t>100m</a:t>
            </a:r>
            <a:r>
              <a:rPr lang="en-US" sz="875" b="0" dirty="0">
                <a:solidFill>
                  <a:srgbClr val="E2E8F0"/>
                </a:solidFill>
                <a:latin typeface="Consolas"/>
                <a:ea typeface="Consolas"/>
                <a:cs typeface="Consolas"/>
              </a:rPr>
              <a:t>);</a:t>
            </a:r>
            <a:endParaRPr lang="en-US" sz="875" dirty="0"/>
          </a:p>
        </p:txBody>
      </p:sp>
      <p:sp>
        <p:nvSpPr>
          <p:cNvPr id="132" name="s132"/>
          <p:cNvSpPr/>
          <p:nvPr/>
        </p:nvSpPr>
        <p:spPr>
          <a:xfrm>
            <a:off x="4703674" y="512749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    </a:t>
            </a:r>
            <a:r>
              <a:rPr lang="en-US" sz="875" b="0" dirty="0">
                <a:solidFill>
                  <a:srgbClr val="60A5FA"/>
                </a:solidFill>
                <a:latin typeface="Consolas"/>
                <a:ea typeface="Consolas"/>
                <a:cs typeface="Consolas"/>
              </a:rPr>
              <a:t>var</a:t>
            </a:r>
            <a:r>
              <a:rPr lang="en-US" sz="875" b="0" dirty="0">
                <a:solidFill>
                  <a:srgbClr val="E2E8F0"/>
                </a:solidFill>
                <a:latin typeface="Consolas"/>
                <a:ea typeface="Consolas"/>
                <a:cs typeface="Consolas"/>
              </a:rPr>
              <a:t> email = </a:t>
            </a:r>
            <a:r>
              <a:rPr lang="en-US" sz="875" b="0" dirty="0">
                <a:solidFill>
                  <a:srgbClr val="7DD3FC"/>
                </a:solidFill>
                <a:latin typeface="Consolas"/>
                <a:ea typeface="Consolas"/>
                <a:cs typeface="Consolas"/>
              </a:rPr>
              <a:t>Assert</a:t>
            </a:r>
            <a:r>
              <a:rPr lang="en-US" sz="875" b="0" dirty="0">
                <a:solidFill>
                  <a:srgbClr val="E2E8F0"/>
                </a:solidFill>
                <a:latin typeface="Consolas"/>
                <a:ea typeface="Consolas"/>
                <a:cs typeface="Consolas"/>
              </a:rPr>
              <a:t>.</a:t>
            </a:r>
            <a:r>
              <a:rPr lang="en-US" sz="875" b="0" dirty="0">
                <a:solidFill>
                  <a:srgbClr val="7DD3FC"/>
                </a:solidFill>
                <a:latin typeface="Consolas"/>
                <a:ea typeface="Consolas"/>
                <a:cs typeface="Consolas"/>
              </a:rPr>
              <a:t>Single</a:t>
            </a:r>
            <a:r>
              <a:rPr lang="en-US" sz="875" b="0" dirty="0">
                <a:solidFill>
                  <a:srgbClr val="E2E8F0"/>
                </a:solidFill>
                <a:latin typeface="Consolas"/>
                <a:ea typeface="Consolas"/>
                <a:cs typeface="Consolas"/>
              </a:rPr>
              <a:t>(spy.</a:t>
            </a:r>
            <a:r>
              <a:rPr lang="en-US" sz="875" b="0" dirty="0">
                <a:solidFill>
                  <a:srgbClr val="7DD3FC"/>
                </a:solidFill>
                <a:latin typeface="Consolas"/>
                <a:ea typeface="Consolas"/>
                <a:cs typeface="Consolas"/>
              </a:rPr>
              <a:t>Sent</a:t>
            </a:r>
            <a:r>
              <a:rPr lang="en-US" sz="875" b="0" dirty="0">
                <a:solidFill>
                  <a:srgbClr val="E2E8F0"/>
                </a:solidFill>
                <a:latin typeface="Consolas"/>
                <a:ea typeface="Consolas"/>
                <a:cs typeface="Consolas"/>
              </a:rPr>
              <a:t>);                                    </a:t>
            </a:r>
            <a:r>
              <a:rPr lang="en-US" sz="875" b="0" dirty="0">
                <a:solidFill>
                  <a:srgbClr val="6FAE7A"/>
                </a:solidFill>
                <a:latin typeface="Consolas"/>
                <a:ea typeface="Consolas"/>
                <a:cs typeface="Consolas"/>
              </a:rPr>
              <a:t>// exactly one email</a:t>
            </a:r>
            <a:endParaRPr lang="en-US" sz="875" dirty="0"/>
          </a:p>
        </p:txBody>
      </p:sp>
      <p:sp>
        <p:nvSpPr>
          <p:cNvPr id="133" name="s133"/>
          <p:cNvSpPr/>
          <p:nvPr/>
        </p:nvSpPr>
        <p:spPr>
          <a:xfrm>
            <a:off x="4703674" y="526084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    email.</a:t>
            </a:r>
            <a:r>
              <a:rPr lang="en-US" sz="875" b="0" dirty="0">
                <a:solidFill>
                  <a:srgbClr val="7DD3FC"/>
                </a:solidFill>
                <a:latin typeface="Consolas"/>
                <a:ea typeface="Consolas"/>
                <a:cs typeface="Consolas"/>
              </a:rPr>
              <a:t>To</a:t>
            </a:r>
            <a:r>
              <a:rPr lang="en-US" sz="875" b="0" dirty="0">
                <a:solidFill>
                  <a:srgbClr val="E2E8F0"/>
                </a:solidFill>
                <a:latin typeface="Consolas"/>
                <a:ea typeface="Consolas"/>
                <a:cs typeface="Consolas"/>
              </a:rPr>
              <a:t>.</a:t>
            </a:r>
            <a:r>
              <a:rPr lang="en-US" sz="875" b="0" dirty="0">
                <a:solidFill>
                  <a:srgbClr val="7DD3FC"/>
                </a:solidFill>
                <a:latin typeface="Consolas"/>
                <a:ea typeface="Consolas"/>
                <a:cs typeface="Consolas"/>
              </a:rPr>
              <a:t>ShouldBe</a:t>
            </a:r>
            <a:r>
              <a:rPr lang="en-US" sz="875" b="0" dirty="0">
                <a:solidFill>
                  <a:srgbClr val="E2E8F0"/>
                </a:solidFill>
                <a:latin typeface="Consolas"/>
                <a:ea typeface="Consolas"/>
                <a:cs typeface="Consolas"/>
              </a:rPr>
              <a:t>(</a:t>
            </a:r>
            <a:r>
              <a:rPr lang="en-US" sz="875" b="0" dirty="0">
                <a:solidFill>
                  <a:srgbClr val="F0A98B"/>
                </a:solidFill>
                <a:latin typeface="Consolas"/>
                <a:ea typeface="Consolas"/>
                <a:cs typeface="Consolas"/>
              </a:rPr>
              <a:t>"mona@bank.eg"</a:t>
            </a:r>
            <a:r>
              <a:rPr lang="en-US" sz="875" b="0" dirty="0">
                <a:solidFill>
                  <a:srgbClr val="E2E8F0"/>
                </a:solidFill>
                <a:latin typeface="Consolas"/>
                <a:ea typeface="Consolas"/>
                <a:cs typeface="Consolas"/>
              </a:rPr>
              <a:t>);</a:t>
            </a:r>
            <a:endParaRPr lang="en-US" sz="875" dirty="0"/>
          </a:p>
        </p:txBody>
      </p:sp>
      <p:sp>
        <p:nvSpPr>
          <p:cNvPr id="134" name="s134"/>
          <p:cNvSpPr/>
          <p:nvPr/>
        </p:nvSpPr>
        <p:spPr>
          <a:xfrm>
            <a:off x="4703674" y="539419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    email.</a:t>
            </a:r>
            <a:r>
              <a:rPr lang="en-US" sz="875" b="0" dirty="0">
                <a:solidFill>
                  <a:srgbClr val="7DD3FC"/>
                </a:solidFill>
                <a:latin typeface="Consolas"/>
                <a:ea typeface="Consolas"/>
                <a:cs typeface="Consolas"/>
              </a:rPr>
              <a:t>Body</a:t>
            </a:r>
            <a:r>
              <a:rPr lang="en-US" sz="875" b="0" dirty="0">
                <a:solidFill>
                  <a:srgbClr val="E2E8F0"/>
                </a:solidFill>
                <a:latin typeface="Consolas"/>
                <a:ea typeface="Consolas"/>
                <a:cs typeface="Consolas"/>
              </a:rPr>
              <a:t>.</a:t>
            </a:r>
            <a:r>
              <a:rPr lang="en-US" sz="875" b="0" dirty="0">
                <a:solidFill>
                  <a:srgbClr val="7DD3FC"/>
                </a:solidFill>
                <a:latin typeface="Consolas"/>
                <a:ea typeface="Consolas"/>
                <a:cs typeface="Consolas"/>
              </a:rPr>
              <a:t>ShouldBe</a:t>
            </a:r>
            <a:r>
              <a:rPr lang="en-US" sz="875" b="0" dirty="0">
                <a:solidFill>
                  <a:srgbClr val="E2E8F0"/>
                </a:solidFill>
                <a:latin typeface="Consolas"/>
                <a:ea typeface="Consolas"/>
                <a:cs typeface="Consolas"/>
              </a:rPr>
              <a:t>(</a:t>
            </a:r>
            <a:r>
              <a:rPr lang="en-US" sz="875" b="0" dirty="0">
                <a:solidFill>
                  <a:srgbClr val="F0A98B"/>
                </a:solidFill>
                <a:latin typeface="Consolas"/>
                <a:ea typeface="Consolas"/>
                <a:cs typeface="Consolas"/>
              </a:rPr>
              <a:t>"You sent 100.00 EGP to ali@bank.eg."</a:t>
            </a:r>
            <a:r>
              <a:rPr lang="en-US" sz="875" b="0" dirty="0">
                <a:solidFill>
                  <a:srgbClr val="E2E8F0"/>
                </a:solidFill>
                <a:latin typeface="Consolas"/>
                <a:ea typeface="Consolas"/>
                <a:cs typeface="Consolas"/>
              </a:rPr>
              <a:t>);</a:t>
            </a:r>
            <a:endParaRPr lang="en-US" sz="875" dirty="0"/>
          </a:p>
        </p:txBody>
      </p:sp>
      <p:sp>
        <p:nvSpPr>
          <p:cNvPr id="135" name="s135"/>
          <p:cNvSpPr/>
          <p:nvPr/>
        </p:nvSpPr>
        <p:spPr>
          <a:xfrm>
            <a:off x="4703674" y="5527548"/>
            <a:ext cx="6927494" cy="13335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75" b="0" dirty="0">
                <a:solidFill>
                  <a:srgbClr val="E2E8F0"/>
                </a:solidFill>
                <a:latin typeface="Consolas"/>
                <a:ea typeface="Consolas"/>
                <a:cs typeface="Consolas"/>
              </a:rPr>
              <a:t>}</a:t>
            </a:r>
            <a:endParaRPr lang="en-US" sz="875" dirty="0"/>
          </a:p>
        </p:txBody>
      </p:sp>
      <p:sp>
        <p:nvSpPr>
          <p:cNvPr id="136" name="s136"/>
          <p:cNvSpPr/>
          <p:nvPr/>
        </p:nvSpPr>
        <p:spPr>
          <a:xfrm>
            <a:off x="4813402" y="4700016"/>
            <a:ext cx="6708038" cy="188214"/>
          </a:xfrm>
          <a:prstGeom prst="roundRect">
            <a:avLst>
              <a:gd name="adj" fmla="val 6000"/>
            </a:avLst>
          </a:prstGeom>
          <a:solidFill>
            <a:srgbClr val="A78BFA">
              <a:alpha val="10000"/>
            </a:srgbClr>
          </a:solidFill>
          <a:ln w="15875">
            <a:solidFill>
              <a:srgbClr val="A78BFA"/>
            </a:solidFill>
            <a:prstDash val="solid"/>
          </a:ln>
        </p:spPr>
        <p:txBody>
          <a:bodyPr wrap="square" lIns="164592" tIns="109728" rIns="137160" bIns="91440" rtlCol="0" anchor="t">
            <a:noAutofit/>
          </a:bodyPr>
          <a:lstStyle/>
          <a:p>
            <a:endParaRPr lang="en-US"/>
          </a:p>
        </p:txBody>
      </p:sp>
      <p:sp>
        <p:nvSpPr>
          <p:cNvPr id="137" name="s137"/>
          <p:cNvSpPr/>
          <p:nvPr/>
        </p:nvSpPr>
        <p:spPr>
          <a:xfrm>
            <a:off x="4813402" y="5100066"/>
            <a:ext cx="6708038" cy="188214"/>
          </a:xfrm>
          <a:prstGeom prst="roundRect">
            <a:avLst>
              <a:gd name="adj" fmla="val 6000"/>
            </a:avLst>
          </a:prstGeom>
          <a:solidFill>
            <a:srgbClr val="A78BFA">
              <a:alpha val="10000"/>
            </a:srgbClr>
          </a:solidFill>
          <a:ln w="15875">
            <a:solidFill>
              <a:srgbClr val="A78BFA"/>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anim calcmode="lin" valueType="num">
                                      <p:cBhvr additive="base">
                                        <p:cTn id="14" dur="500" decel="100000" fill="hold"/>
                                        <p:tgtEl>
                                          <p:spTgt spid="103"/>
                                        </p:tgtEl>
                                        <p:attrNameLst>
                                          <p:attrName>ppt_x</p:attrName>
                                        </p:attrNameLst>
                                      </p:cBhvr>
                                      <p:tavLst>
                                        <p:tav tm="0">
                                          <p:val>
                                            <p:strVal val="#ppt_x-0.05"/>
                                          </p:val>
                                        </p:tav>
                                        <p:tav tm="100000">
                                          <p:val>
                                            <p:strVal val="#ppt_x"/>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17"/>
                                        </p:tgtEl>
                                        <p:attrNameLst>
                                          <p:attrName>style.visibility</p:attrName>
                                        </p:attrNameLst>
                                      </p:cBhvr>
                                      <p:to>
                                        <p:strVal val="visible"/>
                                      </p:to>
                                    </p:set>
                                    <p:animEffect transition="in" filter="fade">
                                      <p:cBhvr>
                                        <p:cTn id="69" dur="500"/>
                                        <p:tgtEl>
                                          <p:spTgt spid="117"/>
                                        </p:tgtEl>
                                      </p:cBhvr>
                                    </p:animEffect>
                                    <p:anim calcmode="lin" valueType="num">
                                      <p:cBhvr additive="base">
                                        <p:cTn id="70" dur="500" decel="100000" fill="hold"/>
                                        <p:tgtEl>
                                          <p:spTgt spid="117"/>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118"/>
                                        </p:tgtEl>
                                        <p:attrNameLst>
                                          <p:attrName>style.visibility</p:attrName>
                                        </p:attrNameLst>
                                      </p:cBhvr>
                                      <p:to>
                                        <p:strVal val="visible"/>
                                      </p:to>
                                    </p:set>
                                    <p:animEffect transition="in" filter="fade">
                                      <p:cBhvr>
                                        <p:cTn id="73" dur="500"/>
                                        <p:tgtEl>
                                          <p:spTgt spid="118"/>
                                        </p:tgtEl>
                                      </p:cBhvr>
                                    </p:animEffect>
                                    <p:anim calcmode="lin" valueType="num">
                                      <p:cBhvr additive="base">
                                        <p:cTn id="74" dur="500" decel="100000" fill="hold"/>
                                        <p:tgtEl>
                                          <p:spTgt spid="118"/>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119"/>
                                        </p:tgtEl>
                                        <p:attrNameLst>
                                          <p:attrName>style.visibility</p:attrName>
                                        </p:attrNameLst>
                                      </p:cBhvr>
                                      <p:to>
                                        <p:strVal val="visible"/>
                                      </p:to>
                                    </p:set>
                                    <p:animEffect transition="in" filter="fade">
                                      <p:cBhvr>
                                        <p:cTn id="77" dur="500"/>
                                        <p:tgtEl>
                                          <p:spTgt spid="119"/>
                                        </p:tgtEl>
                                      </p:cBhvr>
                                    </p:animEffect>
                                    <p:anim calcmode="lin" valueType="num">
                                      <p:cBhvr additive="base">
                                        <p:cTn id="78" dur="500" decel="100000" fill="hold"/>
                                        <p:tgtEl>
                                          <p:spTgt spid="119"/>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20"/>
                                        </p:tgtEl>
                                        <p:attrNameLst>
                                          <p:attrName>style.visibility</p:attrName>
                                        </p:attrNameLst>
                                      </p:cBhvr>
                                      <p:to>
                                        <p:strVal val="visible"/>
                                      </p:to>
                                    </p:set>
                                    <p:animEffect transition="in" filter="fade">
                                      <p:cBhvr>
                                        <p:cTn id="81" dur="500"/>
                                        <p:tgtEl>
                                          <p:spTgt spid="120"/>
                                        </p:tgtEl>
                                      </p:cBhvr>
                                    </p:animEffect>
                                    <p:anim calcmode="lin" valueType="num">
                                      <p:cBhvr additive="base">
                                        <p:cTn id="82" dur="500" decel="100000" fill="hold"/>
                                        <p:tgtEl>
                                          <p:spTgt spid="120"/>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21"/>
                                        </p:tgtEl>
                                        <p:attrNameLst>
                                          <p:attrName>style.visibility</p:attrName>
                                        </p:attrNameLst>
                                      </p:cBhvr>
                                      <p:to>
                                        <p:strVal val="visible"/>
                                      </p:to>
                                    </p:set>
                                    <p:animEffect transition="in" filter="fade">
                                      <p:cBhvr>
                                        <p:cTn id="85" dur="500"/>
                                        <p:tgtEl>
                                          <p:spTgt spid="121"/>
                                        </p:tgtEl>
                                      </p:cBhvr>
                                    </p:animEffect>
                                    <p:anim calcmode="lin" valueType="num">
                                      <p:cBhvr additive="base">
                                        <p:cTn id="86" dur="500" decel="100000" fill="hold"/>
                                        <p:tgtEl>
                                          <p:spTgt spid="121"/>
                                        </p:tgtEl>
                                        <p:attrNameLst>
                                          <p:attrName>ppt_y</p:attrName>
                                        </p:attrNameLst>
                                      </p:cBhvr>
                                      <p:tavLst>
                                        <p:tav tm="0">
                                          <p:val>
                                            <p:strVal val="#ppt_y+0.06"/>
                                          </p:val>
                                        </p:tav>
                                        <p:tav tm="100000">
                                          <p:val>
                                            <p:strVal val="#ppt_y"/>
                                          </p:val>
                                        </p:tav>
                                      </p:tavLst>
                                    </p:anim>
                                  </p:childTnLst>
                                </p:cTn>
                              </p:par>
                              <p:par>
                                <p:cTn id="87" presetID="42" presetClass="entr" presetSubtype="0" fill="hold" nodeType="withEffect">
                                  <p:stCondLst>
                                    <p:cond delay="0"/>
                                  </p:stCondLst>
                                  <p:childTnLst>
                                    <p:set>
                                      <p:cBhvr>
                                        <p:cTn id="88" dur="1" fill="hold">
                                          <p:stCondLst>
                                            <p:cond delay="0"/>
                                          </p:stCondLst>
                                        </p:cTn>
                                        <p:tgtEl>
                                          <p:spTgt spid="122"/>
                                        </p:tgtEl>
                                        <p:attrNameLst>
                                          <p:attrName>style.visibility</p:attrName>
                                        </p:attrNameLst>
                                      </p:cBhvr>
                                      <p:to>
                                        <p:strVal val="visible"/>
                                      </p:to>
                                    </p:set>
                                    <p:animEffect transition="in" filter="fade">
                                      <p:cBhvr>
                                        <p:cTn id="89" dur="500"/>
                                        <p:tgtEl>
                                          <p:spTgt spid="122"/>
                                        </p:tgtEl>
                                      </p:cBhvr>
                                    </p:animEffect>
                                    <p:anim calcmode="lin" valueType="num">
                                      <p:cBhvr additive="base">
                                        <p:cTn id="90" dur="500" decel="100000" fill="hold"/>
                                        <p:tgtEl>
                                          <p:spTgt spid="122"/>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3"/>
                                        </p:tgtEl>
                                        <p:attrNameLst>
                                          <p:attrName>style.visibility</p:attrName>
                                        </p:attrNameLst>
                                      </p:cBhvr>
                                      <p:to>
                                        <p:strVal val="visible"/>
                                      </p:to>
                                    </p:set>
                                    <p:animEffect transition="in" filter="fade">
                                      <p:cBhvr>
                                        <p:cTn id="93" dur="500"/>
                                        <p:tgtEl>
                                          <p:spTgt spid="123"/>
                                        </p:tgtEl>
                                      </p:cBhvr>
                                    </p:animEffect>
                                    <p:anim calcmode="lin" valueType="num">
                                      <p:cBhvr additive="base">
                                        <p:cTn id="94" dur="500" decel="100000" fill="hold"/>
                                        <p:tgtEl>
                                          <p:spTgt spid="123"/>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4"/>
                                        </p:tgtEl>
                                        <p:attrNameLst>
                                          <p:attrName>style.visibility</p:attrName>
                                        </p:attrNameLst>
                                      </p:cBhvr>
                                      <p:to>
                                        <p:strVal val="visible"/>
                                      </p:to>
                                    </p:set>
                                    <p:animEffect transition="in" filter="fade">
                                      <p:cBhvr>
                                        <p:cTn id="97" dur="500"/>
                                        <p:tgtEl>
                                          <p:spTgt spid="124"/>
                                        </p:tgtEl>
                                      </p:cBhvr>
                                    </p:animEffect>
                                    <p:anim calcmode="lin" valueType="num">
                                      <p:cBhvr additive="base">
                                        <p:cTn id="98" dur="500" decel="100000" fill="hold"/>
                                        <p:tgtEl>
                                          <p:spTgt spid="124"/>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5"/>
                                        </p:tgtEl>
                                        <p:attrNameLst>
                                          <p:attrName>style.visibility</p:attrName>
                                        </p:attrNameLst>
                                      </p:cBhvr>
                                      <p:to>
                                        <p:strVal val="visible"/>
                                      </p:to>
                                    </p:set>
                                    <p:animEffect transition="in" filter="fade">
                                      <p:cBhvr>
                                        <p:cTn id="101" dur="500"/>
                                        <p:tgtEl>
                                          <p:spTgt spid="125"/>
                                        </p:tgtEl>
                                      </p:cBhvr>
                                    </p:animEffect>
                                    <p:anim calcmode="lin" valueType="num">
                                      <p:cBhvr additive="base">
                                        <p:cTn id="102" dur="500" decel="100000" fill="hold"/>
                                        <p:tgtEl>
                                          <p:spTgt spid="125"/>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6"/>
                                        </p:tgtEl>
                                        <p:attrNameLst>
                                          <p:attrName>style.visibility</p:attrName>
                                        </p:attrNameLst>
                                      </p:cBhvr>
                                      <p:to>
                                        <p:strVal val="visible"/>
                                      </p:to>
                                    </p:set>
                                    <p:animEffect transition="in" filter="fade">
                                      <p:cBhvr>
                                        <p:cTn id="105" dur="500"/>
                                        <p:tgtEl>
                                          <p:spTgt spid="126"/>
                                        </p:tgtEl>
                                      </p:cBhvr>
                                    </p:animEffect>
                                    <p:anim calcmode="lin" valueType="num">
                                      <p:cBhvr additive="base">
                                        <p:cTn id="106" dur="500" decel="100000" fill="hold"/>
                                        <p:tgtEl>
                                          <p:spTgt spid="126"/>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7"/>
                                        </p:tgtEl>
                                        <p:attrNameLst>
                                          <p:attrName>style.visibility</p:attrName>
                                        </p:attrNameLst>
                                      </p:cBhvr>
                                      <p:to>
                                        <p:strVal val="visible"/>
                                      </p:to>
                                    </p:set>
                                    <p:animEffect transition="in" filter="fade">
                                      <p:cBhvr>
                                        <p:cTn id="109" dur="500"/>
                                        <p:tgtEl>
                                          <p:spTgt spid="127"/>
                                        </p:tgtEl>
                                      </p:cBhvr>
                                    </p:animEffect>
                                    <p:anim calcmode="lin" valueType="num">
                                      <p:cBhvr additive="base">
                                        <p:cTn id="110" dur="500" decel="100000" fill="hold"/>
                                        <p:tgtEl>
                                          <p:spTgt spid="127"/>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8"/>
                                        </p:tgtEl>
                                        <p:attrNameLst>
                                          <p:attrName>style.visibility</p:attrName>
                                        </p:attrNameLst>
                                      </p:cBhvr>
                                      <p:to>
                                        <p:strVal val="visible"/>
                                      </p:to>
                                    </p:set>
                                    <p:animEffect transition="in" filter="fade">
                                      <p:cBhvr>
                                        <p:cTn id="113" dur="500"/>
                                        <p:tgtEl>
                                          <p:spTgt spid="128"/>
                                        </p:tgtEl>
                                      </p:cBhvr>
                                    </p:animEffect>
                                    <p:anim calcmode="lin" valueType="num">
                                      <p:cBhvr additive="base">
                                        <p:cTn id="114" dur="500" decel="100000" fill="hold"/>
                                        <p:tgtEl>
                                          <p:spTgt spid="128"/>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9"/>
                                        </p:tgtEl>
                                        <p:attrNameLst>
                                          <p:attrName>style.visibility</p:attrName>
                                        </p:attrNameLst>
                                      </p:cBhvr>
                                      <p:to>
                                        <p:strVal val="visible"/>
                                      </p:to>
                                    </p:set>
                                    <p:animEffect transition="in" filter="fade">
                                      <p:cBhvr>
                                        <p:cTn id="117" dur="500"/>
                                        <p:tgtEl>
                                          <p:spTgt spid="129"/>
                                        </p:tgtEl>
                                      </p:cBhvr>
                                    </p:animEffect>
                                    <p:anim calcmode="lin" valueType="num">
                                      <p:cBhvr additive="base">
                                        <p:cTn id="118" dur="500" decel="100000" fill="hold"/>
                                        <p:tgtEl>
                                          <p:spTgt spid="129"/>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30"/>
                                        </p:tgtEl>
                                        <p:attrNameLst>
                                          <p:attrName>style.visibility</p:attrName>
                                        </p:attrNameLst>
                                      </p:cBhvr>
                                      <p:to>
                                        <p:strVal val="visible"/>
                                      </p:to>
                                    </p:set>
                                    <p:animEffect transition="in" filter="fade">
                                      <p:cBhvr>
                                        <p:cTn id="121" dur="500"/>
                                        <p:tgtEl>
                                          <p:spTgt spid="130"/>
                                        </p:tgtEl>
                                      </p:cBhvr>
                                    </p:animEffect>
                                    <p:anim calcmode="lin" valueType="num">
                                      <p:cBhvr additive="base">
                                        <p:cTn id="122" dur="500" decel="100000" fill="hold"/>
                                        <p:tgtEl>
                                          <p:spTgt spid="130"/>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31"/>
                                        </p:tgtEl>
                                        <p:attrNameLst>
                                          <p:attrName>style.visibility</p:attrName>
                                        </p:attrNameLst>
                                      </p:cBhvr>
                                      <p:to>
                                        <p:strVal val="visible"/>
                                      </p:to>
                                    </p:set>
                                    <p:animEffect transition="in" filter="fade">
                                      <p:cBhvr>
                                        <p:cTn id="125" dur="500"/>
                                        <p:tgtEl>
                                          <p:spTgt spid="131"/>
                                        </p:tgtEl>
                                      </p:cBhvr>
                                    </p:animEffect>
                                    <p:anim calcmode="lin" valueType="num">
                                      <p:cBhvr additive="base">
                                        <p:cTn id="126" dur="500" decel="100000" fill="hold"/>
                                        <p:tgtEl>
                                          <p:spTgt spid="131"/>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32"/>
                                        </p:tgtEl>
                                        <p:attrNameLst>
                                          <p:attrName>style.visibility</p:attrName>
                                        </p:attrNameLst>
                                      </p:cBhvr>
                                      <p:to>
                                        <p:strVal val="visible"/>
                                      </p:to>
                                    </p:set>
                                    <p:animEffect transition="in" filter="fade">
                                      <p:cBhvr>
                                        <p:cTn id="129" dur="500"/>
                                        <p:tgtEl>
                                          <p:spTgt spid="132"/>
                                        </p:tgtEl>
                                      </p:cBhvr>
                                    </p:animEffect>
                                    <p:anim calcmode="lin" valueType="num">
                                      <p:cBhvr additive="base">
                                        <p:cTn id="130" dur="500" decel="100000" fill="hold"/>
                                        <p:tgtEl>
                                          <p:spTgt spid="132"/>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33"/>
                                        </p:tgtEl>
                                        <p:attrNameLst>
                                          <p:attrName>style.visibility</p:attrName>
                                        </p:attrNameLst>
                                      </p:cBhvr>
                                      <p:to>
                                        <p:strVal val="visible"/>
                                      </p:to>
                                    </p:set>
                                    <p:animEffect transition="in" filter="fade">
                                      <p:cBhvr>
                                        <p:cTn id="133" dur="500"/>
                                        <p:tgtEl>
                                          <p:spTgt spid="133"/>
                                        </p:tgtEl>
                                      </p:cBhvr>
                                    </p:animEffect>
                                    <p:anim calcmode="lin" valueType="num">
                                      <p:cBhvr additive="base">
                                        <p:cTn id="134" dur="500" decel="100000" fill="hold"/>
                                        <p:tgtEl>
                                          <p:spTgt spid="133"/>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134"/>
                                        </p:tgtEl>
                                        <p:attrNameLst>
                                          <p:attrName>style.visibility</p:attrName>
                                        </p:attrNameLst>
                                      </p:cBhvr>
                                      <p:to>
                                        <p:strVal val="visible"/>
                                      </p:to>
                                    </p:set>
                                    <p:animEffect transition="in" filter="fade">
                                      <p:cBhvr>
                                        <p:cTn id="137" dur="500"/>
                                        <p:tgtEl>
                                          <p:spTgt spid="134"/>
                                        </p:tgtEl>
                                      </p:cBhvr>
                                    </p:animEffect>
                                    <p:anim calcmode="lin" valueType="num">
                                      <p:cBhvr additive="base">
                                        <p:cTn id="138" dur="500" decel="100000" fill="hold"/>
                                        <p:tgtEl>
                                          <p:spTgt spid="134"/>
                                        </p:tgtEl>
                                        <p:attrNameLst>
                                          <p:attrName>ppt_y</p:attrName>
                                        </p:attrNameLst>
                                      </p:cBhvr>
                                      <p:tavLst>
                                        <p:tav tm="0">
                                          <p:val>
                                            <p:strVal val="#ppt_y+0.06"/>
                                          </p:val>
                                        </p:tav>
                                        <p:tav tm="100000">
                                          <p:val>
                                            <p:strVal val="#ppt_y"/>
                                          </p:val>
                                        </p:tav>
                                      </p:tavLst>
                                    </p:anim>
                                  </p:childTnLst>
                                </p:cTn>
                              </p:par>
                              <p:par>
                                <p:cTn id="139" presetID="42" presetClass="entr" presetSubtype="0" fill="hold" grpId="0" nodeType="withEffect">
                                  <p:stCondLst>
                                    <p:cond delay="0"/>
                                  </p:stCondLst>
                                  <p:childTnLst>
                                    <p:set>
                                      <p:cBhvr>
                                        <p:cTn id="140" dur="1" fill="hold">
                                          <p:stCondLst>
                                            <p:cond delay="0"/>
                                          </p:stCondLst>
                                        </p:cTn>
                                        <p:tgtEl>
                                          <p:spTgt spid="135"/>
                                        </p:tgtEl>
                                        <p:attrNameLst>
                                          <p:attrName>style.visibility</p:attrName>
                                        </p:attrNameLst>
                                      </p:cBhvr>
                                      <p:to>
                                        <p:strVal val="visible"/>
                                      </p:to>
                                    </p:set>
                                    <p:animEffect transition="in" filter="fade">
                                      <p:cBhvr>
                                        <p:cTn id="141" dur="500"/>
                                        <p:tgtEl>
                                          <p:spTgt spid="135"/>
                                        </p:tgtEl>
                                      </p:cBhvr>
                                    </p:animEffect>
                                    <p:anim calcmode="lin" valueType="num">
                                      <p:cBhvr additive="base">
                                        <p:cTn id="142" dur="500" decel="100000" fill="hold"/>
                                        <p:tgtEl>
                                          <p:spTgt spid="135"/>
                                        </p:tgtEl>
                                        <p:attrNameLst>
                                          <p:attrName>ppt_y</p:attrName>
                                        </p:attrNameLst>
                                      </p:cBhvr>
                                      <p:tavLst>
                                        <p:tav tm="0">
                                          <p:val>
                                            <p:strVal val="#ppt_y+0.06"/>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53" presetClass="entr" presetSubtype="16" fill="hold" grpId="0" nodeType="clickEffect">
                                  <p:stCondLst>
                                    <p:cond delay="0"/>
                                  </p:stCondLst>
                                  <p:childTnLst>
                                    <p:set>
                                      <p:cBhvr>
                                        <p:cTn id="146" dur="1" fill="hold">
                                          <p:stCondLst>
                                            <p:cond delay="0"/>
                                          </p:stCondLst>
                                        </p:cTn>
                                        <p:tgtEl>
                                          <p:spTgt spid="136"/>
                                        </p:tgtEl>
                                        <p:attrNameLst>
                                          <p:attrName>style.visibility</p:attrName>
                                        </p:attrNameLst>
                                      </p:cBhvr>
                                      <p:to>
                                        <p:strVal val="visible"/>
                                      </p:to>
                                    </p:set>
                                    <p:anim calcmode="lin" valueType="num">
                                      <p:cBhvr additive="base">
                                        <p:cTn id="147" dur="500" decel="100000" fill="hold"/>
                                        <p:tgtEl>
                                          <p:spTgt spid="136"/>
                                        </p:tgtEl>
                                        <p:attrNameLst>
                                          <p:attrName>ppt_w</p:attrName>
                                        </p:attrNameLst>
                                      </p:cBhvr>
                                      <p:tavLst>
                                        <p:tav tm="0">
                                          <p:val>
                                            <p:strVal val="#ppt_w*0.3"/>
                                          </p:val>
                                        </p:tav>
                                        <p:tav tm="100000">
                                          <p:val>
                                            <p:strVal val="#ppt_w*1.08"/>
                                          </p:val>
                                        </p:tav>
                                      </p:tavLst>
                                    </p:anim>
                                    <p:anim calcmode="lin" valueType="num">
                                      <p:cBhvr additive="base">
                                        <p:cTn id="148" dur="500" decel="100000" fill="hold"/>
                                        <p:tgtEl>
                                          <p:spTgt spid="136"/>
                                        </p:tgtEl>
                                        <p:attrNameLst>
                                          <p:attrName>ppt_h</p:attrName>
                                        </p:attrNameLst>
                                      </p:cBhvr>
                                      <p:tavLst>
                                        <p:tav tm="0">
                                          <p:val>
                                            <p:strVal val="#ppt_h*0.3"/>
                                          </p:val>
                                        </p:tav>
                                        <p:tav tm="100000">
                                          <p:val>
                                            <p:strVal val="#ppt_h*1.08"/>
                                          </p:val>
                                        </p:tav>
                                      </p:tavLst>
                                    </p:anim>
                                    <p:animEffect transition="in" filter="fade">
                                      <p:cBhvr>
                                        <p:cTn id="149" dur="250"/>
                                        <p:tgtEl>
                                          <p:spTgt spid="136"/>
                                        </p:tgtEl>
                                      </p:cBhvr>
                                    </p:animEffect>
                                    <p:anim calcmode="lin" valueType="num">
                                      <p:cBhvr additive="base">
                                        <p:cTn id="150" dur="160" fill="hold">
                                          <p:stCondLst>
                                            <p:cond delay="500"/>
                                          </p:stCondLst>
                                        </p:cTn>
                                        <p:tgtEl>
                                          <p:spTgt spid="136"/>
                                        </p:tgtEl>
                                        <p:attrNameLst>
                                          <p:attrName>ppt_w</p:attrName>
                                        </p:attrNameLst>
                                      </p:cBhvr>
                                      <p:tavLst>
                                        <p:tav tm="0">
                                          <p:val>
                                            <p:strVal val="#ppt_w*1.08"/>
                                          </p:val>
                                        </p:tav>
                                        <p:tav tm="100000">
                                          <p:val>
                                            <p:strVal val="#ppt_w"/>
                                          </p:val>
                                        </p:tav>
                                      </p:tavLst>
                                    </p:anim>
                                    <p:anim calcmode="lin" valueType="num">
                                      <p:cBhvr additive="base">
                                        <p:cTn id="151" dur="160" fill="hold">
                                          <p:stCondLst>
                                            <p:cond delay="500"/>
                                          </p:stCondLst>
                                        </p:cTn>
                                        <p:tgtEl>
                                          <p:spTgt spid="136"/>
                                        </p:tgtEl>
                                        <p:attrNameLst>
                                          <p:attrName>ppt_h</p:attrName>
                                        </p:attrNameLst>
                                      </p:cBhvr>
                                      <p:tavLst>
                                        <p:tav tm="0">
                                          <p:val>
                                            <p:strVal val="#ppt_h*1.08"/>
                                          </p:val>
                                        </p:tav>
                                        <p:tav tm="100000">
                                          <p:val>
                                            <p:strVal val="#ppt_h"/>
                                          </p:val>
                                        </p:tav>
                                      </p:tavLst>
                                    </p:anim>
                                  </p:childTnLst>
                                </p:cTn>
                              </p:par>
                            </p:childTnLst>
                          </p:cTn>
                        </p:par>
                      </p:childTnLst>
                    </p:cTn>
                  </p:par>
                  <p:par>
                    <p:cTn id="152" fill="hold">
                      <p:stCondLst>
                        <p:cond delay="indefinite"/>
                      </p:stCondLst>
                      <p:childTnLst>
                        <p:par>
                          <p:cTn id="153" fill="hold">
                            <p:stCondLst>
                              <p:cond delay="0"/>
                            </p:stCondLst>
                            <p:childTnLst>
                              <p:par>
                                <p:cTn id="154" presetID="53" presetClass="entr" presetSubtype="16" fill="hold" grpId="0" nodeType="clickEffect">
                                  <p:stCondLst>
                                    <p:cond delay="0"/>
                                  </p:stCondLst>
                                  <p:childTnLst>
                                    <p:set>
                                      <p:cBhvr>
                                        <p:cTn id="155" dur="1" fill="hold">
                                          <p:stCondLst>
                                            <p:cond delay="0"/>
                                          </p:stCondLst>
                                        </p:cTn>
                                        <p:tgtEl>
                                          <p:spTgt spid="137"/>
                                        </p:tgtEl>
                                        <p:attrNameLst>
                                          <p:attrName>style.visibility</p:attrName>
                                        </p:attrNameLst>
                                      </p:cBhvr>
                                      <p:to>
                                        <p:strVal val="visible"/>
                                      </p:to>
                                    </p:set>
                                    <p:anim calcmode="lin" valueType="num">
                                      <p:cBhvr additive="base">
                                        <p:cTn id="156" dur="500" decel="100000" fill="hold"/>
                                        <p:tgtEl>
                                          <p:spTgt spid="137"/>
                                        </p:tgtEl>
                                        <p:attrNameLst>
                                          <p:attrName>ppt_w</p:attrName>
                                        </p:attrNameLst>
                                      </p:cBhvr>
                                      <p:tavLst>
                                        <p:tav tm="0">
                                          <p:val>
                                            <p:strVal val="#ppt_w*0.3"/>
                                          </p:val>
                                        </p:tav>
                                        <p:tav tm="100000">
                                          <p:val>
                                            <p:strVal val="#ppt_w*1.08"/>
                                          </p:val>
                                        </p:tav>
                                      </p:tavLst>
                                    </p:anim>
                                    <p:anim calcmode="lin" valueType="num">
                                      <p:cBhvr additive="base">
                                        <p:cTn id="157" dur="500" decel="100000" fill="hold"/>
                                        <p:tgtEl>
                                          <p:spTgt spid="137"/>
                                        </p:tgtEl>
                                        <p:attrNameLst>
                                          <p:attrName>ppt_h</p:attrName>
                                        </p:attrNameLst>
                                      </p:cBhvr>
                                      <p:tavLst>
                                        <p:tav tm="0">
                                          <p:val>
                                            <p:strVal val="#ppt_h*0.3"/>
                                          </p:val>
                                        </p:tav>
                                        <p:tav tm="100000">
                                          <p:val>
                                            <p:strVal val="#ppt_h*1.08"/>
                                          </p:val>
                                        </p:tav>
                                      </p:tavLst>
                                    </p:anim>
                                    <p:animEffect transition="in" filter="fade">
                                      <p:cBhvr>
                                        <p:cTn id="158" dur="250"/>
                                        <p:tgtEl>
                                          <p:spTgt spid="137"/>
                                        </p:tgtEl>
                                      </p:cBhvr>
                                    </p:animEffect>
                                    <p:anim calcmode="lin" valueType="num">
                                      <p:cBhvr additive="base">
                                        <p:cTn id="159" dur="160" fill="hold">
                                          <p:stCondLst>
                                            <p:cond delay="500"/>
                                          </p:stCondLst>
                                        </p:cTn>
                                        <p:tgtEl>
                                          <p:spTgt spid="137"/>
                                        </p:tgtEl>
                                        <p:attrNameLst>
                                          <p:attrName>ppt_w</p:attrName>
                                        </p:attrNameLst>
                                      </p:cBhvr>
                                      <p:tavLst>
                                        <p:tav tm="0">
                                          <p:val>
                                            <p:strVal val="#ppt_w*1.08"/>
                                          </p:val>
                                        </p:tav>
                                        <p:tav tm="100000">
                                          <p:val>
                                            <p:strVal val="#ppt_w"/>
                                          </p:val>
                                        </p:tav>
                                      </p:tavLst>
                                    </p:anim>
                                    <p:anim calcmode="lin" valueType="num">
                                      <p:cBhvr additive="base">
                                        <p:cTn id="160" dur="160" fill="hold">
                                          <p:stCondLst>
                                            <p:cond delay="500"/>
                                          </p:stCondLst>
                                        </p:cTn>
                                        <p:tgtEl>
                                          <p:spTgt spid="137"/>
                                        </p:tgtEl>
                                        <p:attrNameLst>
                                          <p:attrName>ppt_h</p:attrName>
                                        </p:attrNameLst>
                                      </p:cBhvr>
                                      <p:tavLst>
                                        <p:tav tm="0">
                                          <p:val>
                                            <p:strVal val="#ppt_h*1.08"/>
                                          </p:val>
                                        </p:tav>
                                        <p:tav tm="100000">
                                          <p:val>
                                            <p:strVal val="#ppt_h"/>
                                          </p:val>
                                        </p:tav>
                                      </p:tavLst>
                                    </p:anim>
                                  </p:childTnLst>
                                </p:cTn>
                              </p:par>
                            </p:childTnLst>
                          </p:cTn>
                        </p:par>
                      </p:childTnLst>
                    </p:cTn>
                  </p:par>
                  <p:par>
                    <p:cTn id="161" fill="hold">
                      <p:stCondLst>
                        <p:cond delay="indefinite"/>
                      </p:stCondLst>
                      <p:childTnLst>
                        <p:par>
                          <p:cTn id="162" fill="hold">
                            <p:stCondLst>
                              <p:cond delay="0"/>
                            </p:stCondLst>
                            <p:childTnLst>
                              <p:par>
                                <p:cTn id="163" presetID="53" presetClass="entr" presetSubtype="16" fill="hold" grpId="0" nodeType="clickEffect">
                                  <p:stCondLst>
                                    <p:cond delay="0"/>
                                  </p:stCondLst>
                                  <p:childTnLst>
                                    <p:set>
                                      <p:cBhvr>
                                        <p:cTn id="164" dur="1" fill="hold">
                                          <p:stCondLst>
                                            <p:cond delay="0"/>
                                          </p:stCondLst>
                                        </p:cTn>
                                        <p:tgtEl>
                                          <p:spTgt spid="104"/>
                                        </p:tgtEl>
                                        <p:attrNameLst>
                                          <p:attrName>style.visibility</p:attrName>
                                        </p:attrNameLst>
                                      </p:cBhvr>
                                      <p:to>
                                        <p:strVal val="visible"/>
                                      </p:to>
                                    </p:set>
                                    <p:anim calcmode="lin" valueType="num">
                                      <p:cBhvr additive="base">
                                        <p:cTn id="165"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166" dur="500" decel="100000" fill="hold"/>
                                        <p:tgtEl>
                                          <p:spTgt spid="104"/>
                                        </p:tgtEl>
                                        <p:attrNameLst>
                                          <p:attrName>ppt_h</p:attrName>
                                        </p:attrNameLst>
                                      </p:cBhvr>
                                      <p:tavLst>
                                        <p:tav tm="0">
                                          <p:val>
                                            <p:strVal val="#ppt_h*0.3"/>
                                          </p:val>
                                        </p:tav>
                                        <p:tav tm="100000">
                                          <p:val>
                                            <p:strVal val="#ppt_h*1.08"/>
                                          </p:val>
                                        </p:tav>
                                      </p:tavLst>
                                    </p:anim>
                                    <p:animEffect transition="in" filter="fade">
                                      <p:cBhvr>
                                        <p:cTn id="167" dur="250"/>
                                        <p:tgtEl>
                                          <p:spTgt spid="104"/>
                                        </p:tgtEl>
                                      </p:cBhvr>
                                    </p:animEffect>
                                    <p:anim calcmode="lin" valueType="num">
                                      <p:cBhvr additive="base">
                                        <p:cTn id="168"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169"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7" grpId="0" animBg="1"/>
      <p:bldP spid="108" grpId="0" animBg="1"/>
      <p:bldP spid="109"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PROBLEM</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Problem: One Class per Double, per Interface, per Behavior</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 real project has dozens of interfaces, and each test wants a slightly different answer.</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155</a:t>
            </a:r>
            <a:endParaRPr lang="en-US" sz="850" dirty="0"/>
          </a:p>
        </p:txBody>
      </p:sp>
      <p:sp>
        <p:nvSpPr>
          <p:cNvPr id="101" name="s101"/>
          <p:cNvSpPr/>
          <p:nvPr/>
        </p:nvSpPr>
        <p:spPr>
          <a:xfrm>
            <a:off x="543154" y="1828800"/>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StubRates48.cs</a:t>
            </a:r>
            <a:endParaRPr lang="en-US" sz="1050" dirty="0"/>
          </a:p>
        </p:txBody>
      </p:sp>
      <p:sp>
        <p:nvSpPr>
          <p:cNvPr id="102" name="s102"/>
          <p:cNvSpPr/>
          <p:nvPr/>
        </p:nvSpPr>
        <p:spPr>
          <a:xfrm>
            <a:off x="2417674" y="1828800"/>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StubRatesZero.cs</a:t>
            </a:r>
            <a:endParaRPr lang="en-US" sz="1050" dirty="0"/>
          </a:p>
        </p:txBody>
      </p:sp>
      <p:sp>
        <p:nvSpPr>
          <p:cNvPr id="103" name="s103"/>
          <p:cNvSpPr/>
          <p:nvPr/>
        </p:nvSpPr>
        <p:spPr>
          <a:xfrm>
            <a:off x="4292194" y="1828800"/>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StubRatesThrows.cs</a:t>
            </a:r>
            <a:endParaRPr lang="en-US" sz="1050" dirty="0"/>
          </a:p>
        </p:txBody>
      </p:sp>
      <p:sp>
        <p:nvSpPr>
          <p:cNvPr id="104" name="s104"/>
          <p:cNvSpPr/>
          <p:nvPr/>
        </p:nvSpPr>
        <p:spPr>
          <a:xfrm>
            <a:off x="6166714" y="1828800"/>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SpyEmail.cs</a:t>
            </a:r>
            <a:endParaRPr lang="en-US" sz="1050" dirty="0"/>
          </a:p>
        </p:txBody>
      </p:sp>
      <p:sp>
        <p:nvSpPr>
          <p:cNvPr id="105" name="s105"/>
          <p:cNvSpPr/>
          <p:nvPr/>
        </p:nvSpPr>
        <p:spPr>
          <a:xfrm>
            <a:off x="8041234" y="1828800"/>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SpySms.cs</a:t>
            </a:r>
            <a:endParaRPr lang="en-US" sz="1050" dirty="0"/>
          </a:p>
        </p:txBody>
      </p:sp>
      <p:sp>
        <p:nvSpPr>
          <p:cNvPr id="106" name="s106"/>
          <p:cNvSpPr/>
          <p:nvPr/>
        </p:nvSpPr>
        <p:spPr>
          <a:xfrm>
            <a:off x="9915754" y="1828800"/>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FakeAccounts.cs</a:t>
            </a:r>
            <a:endParaRPr lang="en-US" sz="1050" dirty="0"/>
          </a:p>
        </p:txBody>
      </p:sp>
      <p:sp>
        <p:nvSpPr>
          <p:cNvPr id="107" name="s107"/>
          <p:cNvSpPr/>
          <p:nvPr/>
        </p:nvSpPr>
        <p:spPr>
          <a:xfrm>
            <a:off x="543154" y="2395728"/>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FakeOrders.cs</a:t>
            </a:r>
            <a:endParaRPr lang="en-US" sz="1050" dirty="0"/>
          </a:p>
        </p:txBody>
      </p:sp>
      <p:sp>
        <p:nvSpPr>
          <p:cNvPr id="108" name="s108"/>
          <p:cNvSpPr/>
          <p:nvPr/>
        </p:nvSpPr>
        <p:spPr>
          <a:xfrm>
            <a:off x="2417674" y="2395728"/>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DummyLogger.cs</a:t>
            </a:r>
            <a:endParaRPr lang="en-US" sz="1050" dirty="0"/>
          </a:p>
        </p:txBody>
      </p:sp>
      <p:sp>
        <p:nvSpPr>
          <p:cNvPr id="109" name="s109"/>
          <p:cNvSpPr/>
          <p:nvPr/>
        </p:nvSpPr>
        <p:spPr>
          <a:xfrm>
            <a:off x="4292194" y="2395728"/>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StubClock11PM.cs</a:t>
            </a:r>
            <a:endParaRPr lang="en-US" sz="1050" dirty="0"/>
          </a:p>
        </p:txBody>
      </p:sp>
      <p:sp>
        <p:nvSpPr>
          <p:cNvPr id="110" name="s110"/>
          <p:cNvSpPr/>
          <p:nvPr/>
        </p:nvSpPr>
        <p:spPr>
          <a:xfrm>
            <a:off x="6166714" y="2395728"/>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StubClock9AM.cs</a:t>
            </a:r>
            <a:endParaRPr lang="en-US" sz="1050" dirty="0"/>
          </a:p>
        </p:txBody>
      </p:sp>
      <p:sp>
        <p:nvSpPr>
          <p:cNvPr id="111" name="s111"/>
          <p:cNvSpPr/>
          <p:nvPr/>
        </p:nvSpPr>
        <p:spPr>
          <a:xfrm>
            <a:off x="8041234" y="2395728"/>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FailingEmail.cs</a:t>
            </a:r>
            <a:endParaRPr lang="en-US" sz="1050" dirty="0"/>
          </a:p>
        </p:txBody>
      </p:sp>
      <p:sp>
        <p:nvSpPr>
          <p:cNvPr id="112" name="s112"/>
          <p:cNvSpPr/>
          <p:nvPr/>
        </p:nvSpPr>
        <p:spPr>
          <a:xfrm>
            <a:off x="9915754" y="2395728"/>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SpyLogger.cs</a:t>
            </a:r>
            <a:endParaRPr lang="en-US" sz="1050" dirty="0"/>
          </a:p>
        </p:txBody>
      </p:sp>
      <p:sp>
        <p:nvSpPr>
          <p:cNvPr id="113" name="s113"/>
          <p:cNvSpPr/>
          <p:nvPr/>
        </p:nvSpPr>
        <p:spPr>
          <a:xfrm>
            <a:off x="543154" y="2962656"/>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StubFeeStandard.cs</a:t>
            </a:r>
            <a:endParaRPr lang="en-US" sz="1050" dirty="0"/>
          </a:p>
        </p:txBody>
      </p:sp>
      <p:sp>
        <p:nvSpPr>
          <p:cNvPr id="114" name="s114"/>
          <p:cNvSpPr/>
          <p:nvPr/>
        </p:nvSpPr>
        <p:spPr>
          <a:xfrm>
            <a:off x="2417674" y="2962656"/>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StubFeePremium.cs</a:t>
            </a:r>
            <a:endParaRPr lang="en-US" sz="1050" dirty="0"/>
          </a:p>
        </p:txBody>
      </p:sp>
      <p:sp>
        <p:nvSpPr>
          <p:cNvPr id="115" name="s115"/>
          <p:cNvSpPr/>
          <p:nvPr/>
        </p:nvSpPr>
        <p:spPr>
          <a:xfrm>
            <a:off x="4292194" y="2962656"/>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FakeDrivers.cs</a:t>
            </a:r>
            <a:endParaRPr lang="en-US" sz="1050" dirty="0"/>
          </a:p>
        </p:txBody>
      </p:sp>
      <p:sp>
        <p:nvSpPr>
          <p:cNvPr id="116" name="s116"/>
          <p:cNvSpPr/>
          <p:nvPr/>
        </p:nvSpPr>
        <p:spPr>
          <a:xfrm>
            <a:off x="6166714" y="2962656"/>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SpyNotifier.cs</a:t>
            </a:r>
            <a:endParaRPr lang="en-US" sz="1050" dirty="0"/>
          </a:p>
        </p:txBody>
      </p:sp>
      <p:sp>
        <p:nvSpPr>
          <p:cNvPr id="117" name="s117"/>
          <p:cNvSpPr/>
          <p:nvPr/>
        </p:nvSpPr>
        <p:spPr>
          <a:xfrm>
            <a:off x="8041234" y="2962656"/>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StubCoupon.cs</a:t>
            </a:r>
            <a:endParaRPr lang="en-US" sz="1050" dirty="0"/>
          </a:p>
        </p:txBody>
      </p:sp>
      <p:sp>
        <p:nvSpPr>
          <p:cNvPr id="118" name="s118"/>
          <p:cNvSpPr/>
          <p:nvPr/>
        </p:nvSpPr>
        <p:spPr>
          <a:xfrm>
            <a:off x="9915754" y="2962656"/>
            <a:ext cx="1737360" cy="457200"/>
          </a:xfrm>
          <a:prstGeom prst="roundRect">
            <a:avLst>
              <a:gd name="adj" fmla="val 15000"/>
            </a:avLst>
          </a:prstGeom>
          <a:solidFill>
            <a:srgbClr val="111B2E"/>
          </a:solidFill>
          <a:ln w="12700">
            <a:solidFill>
              <a:srgbClr val="F87171">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050" b="0" dirty="0">
                <a:solidFill>
                  <a:srgbClr val="CBD5E1"/>
                </a:solidFill>
                <a:latin typeface="Consolas"/>
                <a:ea typeface="Consolas"/>
                <a:cs typeface="Consolas"/>
              </a:rPr>
              <a:t>FakeWallet.cs</a:t>
            </a:r>
            <a:endParaRPr lang="en-US" sz="1050" dirty="0"/>
          </a:p>
        </p:txBody>
      </p:sp>
      <p:sp>
        <p:nvSpPr>
          <p:cNvPr id="119" name="s119"/>
          <p:cNvSpPr txBox="1"/>
          <p:nvPr/>
        </p:nvSpPr>
        <p:spPr>
          <a:xfrm>
            <a:off x="543154" y="3611880"/>
            <a:ext cx="11088014" cy="41148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0" dirty="0">
                <a:solidFill>
                  <a:srgbClr val="E2E8F0"/>
                </a:solidFill>
                <a:latin typeface="Segoe UI"/>
                <a:ea typeface="Segoe UI"/>
                <a:cs typeface="Segoe UI"/>
              </a:rPr>
              <a:t>10 interfaces × 3 behaviors = </a:t>
            </a:r>
            <a:r>
              <a:rPr lang="en-US" sz="1600" b="1" dirty="0">
                <a:solidFill>
                  <a:srgbClr val="F87171"/>
                </a:solidFill>
                <a:latin typeface="Segoe UI"/>
                <a:ea typeface="Segoe UI"/>
                <a:cs typeface="Segoe UI"/>
              </a:rPr>
              <a:t>30 classes</a:t>
            </a:r>
            <a:r>
              <a:rPr lang="en-US" sz="1600" b="0" dirty="0">
                <a:solidFill>
                  <a:srgbClr val="E2E8F0"/>
                </a:solidFill>
                <a:latin typeface="Segoe UI"/>
                <a:ea typeface="Segoe UI"/>
                <a:cs typeface="Segoe UI"/>
              </a:rPr>
              <a:t> to write and maintain</a:t>
            </a:r>
            <a:endParaRPr lang="en-US" sz="1600" dirty="0"/>
          </a:p>
        </p:txBody>
      </p:sp>
      <p:sp>
        <p:nvSpPr>
          <p:cNvPr id="120" name="s120"/>
          <p:cNvSpPr/>
          <p:nvPr/>
        </p:nvSpPr>
        <p:spPr>
          <a:xfrm>
            <a:off x="543154" y="4343400"/>
            <a:ext cx="5486400" cy="457200"/>
          </a:xfrm>
          <a:prstGeom prst="roundRect">
            <a:avLst>
              <a:gd name="adj" fmla="val 12000"/>
            </a:avLst>
          </a:prstGeom>
          <a:solidFill>
            <a:srgbClr val="060D18"/>
          </a:solidFill>
          <a:ln w="12700">
            <a:solidFill>
              <a:srgbClr val="34D399">
                <a:alpha val="7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150" b="0" dirty="0">
                <a:solidFill>
                  <a:srgbClr val="94A3B8"/>
                </a:solidFill>
                <a:latin typeface="Consolas"/>
                <a:ea typeface="Consolas"/>
                <a:cs typeface="Consolas"/>
              </a:rPr>
              <a:t>$ </a:t>
            </a:r>
            <a:r>
              <a:rPr lang="en-US" sz="1150" b="1" dirty="0">
                <a:solidFill>
                  <a:srgbClr val="34D399"/>
                </a:solidFill>
                <a:latin typeface="Consolas"/>
                <a:ea typeface="Consolas"/>
                <a:cs typeface="Consolas"/>
              </a:rPr>
              <a:t>dotnet add package NSubstitute</a:t>
            </a:r>
            <a:endParaRPr lang="en-US" sz="1150" dirty="0"/>
          </a:p>
        </p:txBody>
      </p:sp>
      <p:sp>
        <p:nvSpPr>
          <p:cNvPr id="121" name="s121"/>
          <p:cNvSpPr/>
          <p:nvPr/>
        </p:nvSpPr>
        <p:spPr>
          <a:xfrm>
            <a:off x="4657954" y="4187952"/>
            <a:ext cx="1280160" cy="274320"/>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900" b="1" dirty="0">
                <a:solidFill>
                  <a:srgbClr val="0F172A"/>
                </a:solidFill>
                <a:latin typeface="Segoe UI"/>
                <a:ea typeface="Segoe UI"/>
                <a:cs typeface="Segoe UI"/>
              </a:rPr>
              <a:t>INSTALL NOW</a:t>
            </a:r>
            <a:endParaRPr lang="en-US" sz="900" dirty="0"/>
          </a:p>
        </p:txBody>
      </p:sp>
      <p:sp>
        <p:nvSpPr>
          <p:cNvPr id="122" name="s122"/>
          <p:cNvSpPr txBox="1"/>
          <p:nvPr/>
        </p:nvSpPr>
        <p:spPr>
          <a:xfrm>
            <a:off x="543154" y="4846320"/>
            <a:ext cx="54864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34D399"/>
                </a:solidFill>
                <a:latin typeface="Segoe UI"/>
                <a:ea typeface="Segoe UI"/>
                <a:cs typeface="Segoe UI"/>
              </a:rPr>
              <a:t>Why now? </a:t>
            </a:r>
            <a:r>
              <a:rPr lang="en-US" sz="1100" b="0" dirty="0">
                <a:solidFill>
                  <a:srgbClr val="94A3B8"/>
                </a:solidFill>
                <a:latin typeface="Segoe UI"/>
                <a:ea typeface="Segoe UI"/>
                <a:cs typeface="Segoe UI"/>
              </a:rPr>
              <a:t>too many hand-written doubles.</a:t>
            </a:r>
            <a:endParaRPr lang="en-US" sz="1100" dirty="0"/>
          </a:p>
        </p:txBody>
      </p:sp>
      <p:sp>
        <p:nvSpPr>
          <p:cNvPr id="123" name="s123"/>
          <p:cNvSpPr/>
          <p:nvPr/>
        </p:nvSpPr>
        <p:spPr>
          <a:xfrm>
            <a:off x="6303874" y="4206240"/>
            <a:ext cx="5327294" cy="141732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4" name="s124"/>
          <p:cNvSpPr/>
          <p:nvPr/>
        </p:nvSpPr>
        <p:spPr>
          <a:xfrm>
            <a:off x="6468466" y="435254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5" name="s125"/>
          <p:cNvSpPr/>
          <p:nvPr/>
        </p:nvSpPr>
        <p:spPr>
          <a:xfrm>
            <a:off x="6651346" y="435254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6" name="s126"/>
          <p:cNvSpPr/>
          <p:nvPr/>
        </p:nvSpPr>
        <p:spPr>
          <a:xfrm>
            <a:off x="6834226" y="435254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7" name="s127"/>
          <p:cNvSpPr/>
          <p:nvPr/>
        </p:nvSpPr>
        <p:spPr>
          <a:xfrm>
            <a:off x="7081114" y="4279392"/>
            <a:ext cx="2245766"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One line instead of a class</a:t>
            </a:r>
            <a:endParaRPr lang="en-US" sz="950" dirty="0"/>
          </a:p>
        </p:txBody>
      </p:sp>
      <p:cxnSp>
        <p:nvCxnSpPr>
          <p:cNvPr id="128" name="ln128"/>
          <p:cNvCxnSpPr/>
          <p:nvPr/>
        </p:nvCxnSpPr>
        <p:spPr>
          <a:xfrm>
            <a:off x="6303874" y="4617720"/>
            <a:ext cx="5327294" cy="0"/>
          </a:xfrm>
          <a:prstGeom prst="line">
            <a:avLst/>
          </a:prstGeom>
          <a:ln w="9525">
            <a:solidFill>
              <a:srgbClr val="1E3A5F"/>
            </a:solidFill>
          </a:ln>
        </p:spPr>
      </p:cxnSp>
      <p:sp>
        <p:nvSpPr>
          <p:cNvPr id="129" name="s129"/>
          <p:cNvSpPr/>
          <p:nvPr/>
        </p:nvSpPr>
        <p:spPr>
          <a:xfrm>
            <a:off x="6303874" y="4736592"/>
            <a:ext cx="53272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var</a:t>
            </a:r>
            <a:r>
              <a:rPr lang="en-US" sz="1150" b="0" dirty="0">
                <a:solidFill>
                  <a:srgbClr val="E2E8F0"/>
                </a:solidFill>
                <a:latin typeface="Consolas"/>
                <a:ea typeface="Consolas"/>
                <a:cs typeface="Consolas"/>
              </a:rPr>
              <a:t> rates = </a:t>
            </a:r>
            <a:r>
              <a:rPr lang="en-US" sz="1150" b="0" dirty="0">
                <a:solidFill>
                  <a:srgbClr val="7DD3FC"/>
                </a:solidFill>
                <a:latin typeface="Consolas"/>
                <a:ea typeface="Consolas"/>
                <a:cs typeface="Consolas"/>
              </a:rPr>
              <a:t>Substitute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For</a:t>
            </a:r>
            <a:r>
              <a:rPr lang="en-US" sz="1150" b="0" dirty="0">
                <a:solidFill>
                  <a:srgbClr val="E2E8F0"/>
                </a:solidFill>
                <a:latin typeface="Consolas"/>
                <a:ea typeface="Consolas"/>
                <a:cs typeface="Consolas"/>
              </a:rPr>
              <a:t>&lt;</a:t>
            </a:r>
            <a:r>
              <a:rPr lang="en-US" sz="1150" b="0" dirty="0">
                <a:solidFill>
                  <a:srgbClr val="7DD3FC"/>
                </a:solidFill>
                <a:latin typeface="Consolas"/>
                <a:ea typeface="Consolas"/>
                <a:cs typeface="Consolas"/>
              </a:rPr>
              <a:t>IExchangeRates</a:t>
            </a:r>
            <a:r>
              <a:rPr lang="en-US" sz="1150" b="0" dirty="0">
                <a:solidFill>
                  <a:srgbClr val="E2E8F0"/>
                </a:solidFill>
                <a:latin typeface="Consolas"/>
                <a:ea typeface="Consolas"/>
                <a:cs typeface="Consolas"/>
              </a:rPr>
              <a:t>&gt;();</a:t>
            </a:r>
            <a:endParaRPr lang="en-US" sz="1150" dirty="0"/>
          </a:p>
        </p:txBody>
      </p:sp>
      <p:sp>
        <p:nvSpPr>
          <p:cNvPr id="130" name="s130"/>
          <p:cNvSpPr/>
          <p:nvPr/>
        </p:nvSpPr>
        <p:spPr>
          <a:xfrm>
            <a:off x="6303874" y="4911852"/>
            <a:ext cx="532729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rates.</a:t>
            </a:r>
            <a:r>
              <a:rPr lang="en-US" sz="1150" b="0" dirty="0">
                <a:solidFill>
                  <a:srgbClr val="7DD3FC"/>
                </a:solidFill>
                <a:latin typeface="Consolas"/>
                <a:ea typeface="Consolas"/>
                <a:cs typeface="Consolas"/>
              </a:rPr>
              <a:t>Rate</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"USD"</a:t>
            </a:r>
            <a:r>
              <a:rPr lang="en-US" sz="1150" b="0" dirty="0">
                <a:solidFill>
                  <a:srgbClr val="E2E8F0"/>
                </a:solidFill>
                <a:latin typeface="Consolas"/>
                <a:ea typeface="Consolas"/>
                <a:cs typeface="Consolas"/>
              </a:rPr>
              <a:t>, </a:t>
            </a:r>
            <a:r>
              <a:rPr lang="en-US" sz="1150" b="0" dirty="0">
                <a:solidFill>
                  <a:srgbClr val="F0A98B"/>
                </a:solidFill>
                <a:latin typeface="Consolas"/>
                <a:ea typeface="Consolas"/>
                <a:cs typeface="Consolas"/>
              </a:rPr>
              <a:t>"EGP"</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Returns</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48.5m</a:t>
            </a:r>
            <a:r>
              <a:rPr lang="en-US" sz="1150" b="0" dirty="0">
                <a:solidFill>
                  <a:srgbClr val="E2E8F0"/>
                </a:solidFill>
                <a:latin typeface="Consolas"/>
                <a:ea typeface="Consolas"/>
                <a:cs typeface="Consolas"/>
              </a:rPr>
              <a:t>);</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3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300" decel="100000" fill="hold"/>
                                        <p:tgtEl>
                                          <p:spTgt spid="101"/>
                                        </p:tgtEl>
                                        <p:attrNameLst>
                                          <p:attrName>ppt_h</p:attrName>
                                        </p:attrNameLst>
                                      </p:cBhvr>
                                      <p:tavLst>
                                        <p:tav tm="0">
                                          <p:val>
                                            <p:strVal val="#ppt_h*0.3"/>
                                          </p:val>
                                        </p:tav>
                                        <p:tav tm="100000">
                                          <p:val>
                                            <p:strVal val="#ppt_h*1.08"/>
                                          </p:val>
                                        </p:tav>
                                      </p:tavLst>
                                    </p:anim>
                                    <p:animEffect transition="in" filter="fade">
                                      <p:cBhvr>
                                        <p:cTn id="9" dur="150"/>
                                        <p:tgtEl>
                                          <p:spTgt spid="101"/>
                                        </p:tgtEl>
                                      </p:cBhvr>
                                    </p:animEffect>
                                    <p:anim calcmode="lin" valueType="num">
                                      <p:cBhvr additive="base">
                                        <p:cTn id="10" dur="160" fill="hold">
                                          <p:stCondLst>
                                            <p:cond delay="3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300"/>
                                          </p:stCondLst>
                                        </p:cTn>
                                        <p:tgtEl>
                                          <p:spTgt spid="101"/>
                                        </p:tgtEl>
                                        <p:attrNameLst>
                                          <p:attrName>ppt_h</p:attrName>
                                        </p:attrNameLst>
                                      </p:cBhvr>
                                      <p:tavLst>
                                        <p:tav tm="0">
                                          <p:val>
                                            <p:strVal val="#ppt_h*1.08"/>
                                          </p:val>
                                        </p:tav>
                                        <p:tav tm="100000">
                                          <p:val>
                                            <p:strVal val="#ppt_h"/>
                                          </p:val>
                                        </p:tav>
                                      </p:tavLst>
                                    </p:anim>
                                  </p:childTnLst>
                                </p:cTn>
                              </p:par>
                              <p:par>
                                <p:cTn id="12" presetID="53" presetClass="entr" presetSubtype="16" fill="hold" grpId="0" nodeType="withEffect">
                                  <p:stCondLst>
                                    <p:cond delay="45"/>
                                  </p:stCondLst>
                                  <p:childTnLst>
                                    <p:set>
                                      <p:cBhvr>
                                        <p:cTn id="13" dur="1" fill="hold">
                                          <p:stCondLst>
                                            <p:cond delay="0"/>
                                          </p:stCondLst>
                                        </p:cTn>
                                        <p:tgtEl>
                                          <p:spTgt spid="102"/>
                                        </p:tgtEl>
                                        <p:attrNameLst>
                                          <p:attrName>style.visibility</p:attrName>
                                        </p:attrNameLst>
                                      </p:cBhvr>
                                      <p:to>
                                        <p:strVal val="visible"/>
                                      </p:to>
                                    </p:set>
                                    <p:anim calcmode="lin" valueType="num">
                                      <p:cBhvr additive="base">
                                        <p:cTn id="14" dur="300" decel="100000" fill="hold"/>
                                        <p:tgtEl>
                                          <p:spTgt spid="102"/>
                                        </p:tgtEl>
                                        <p:attrNameLst>
                                          <p:attrName>ppt_w</p:attrName>
                                        </p:attrNameLst>
                                      </p:cBhvr>
                                      <p:tavLst>
                                        <p:tav tm="0">
                                          <p:val>
                                            <p:strVal val="#ppt_w*0.3"/>
                                          </p:val>
                                        </p:tav>
                                        <p:tav tm="100000">
                                          <p:val>
                                            <p:strVal val="#ppt_w*1.08"/>
                                          </p:val>
                                        </p:tav>
                                      </p:tavLst>
                                    </p:anim>
                                    <p:anim calcmode="lin" valueType="num">
                                      <p:cBhvr additive="base">
                                        <p:cTn id="15" dur="300" decel="100000" fill="hold"/>
                                        <p:tgtEl>
                                          <p:spTgt spid="102"/>
                                        </p:tgtEl>
                                        <p:attrNameLst>
                                          <p:attrName>ppt_h</p:attrName>
                                        </p:attrNameLst>
                                      </p:cBhvr>
                                      <p:tavLst>
                                        <p:tav tm="0">
                                          <p:val>
                                            <p:strVal val="#ppt_h*0.3"/>
                                          </p:val>
                                        </p:tav>
                                        <p:tav tm="100000">
                                          <p:val>
                                            <p:strVal val="#ppt_h*1.08"/>
                                          </p:val>
                                        </p:tav>
                                      </p:tavLst>
                                    </p:anim>
                                    <p:animEffect transition="in" filter="fade">
                                      <p:cBhvr>
                                        <p:cTn id="16" dur="150"/>
                                        <p:tgtEl>
                                          <p:spTgt spid="102"/>
                                        </p:tgtEl>
                                      </p:cBhvr>
                                    </p:animEffect>
                                    <p:anim calcmode="lin" valueType="num">
                                      <p:cBhvr additive="base">
                                        <p:cTn id="17" dur="160" fill="hold">
                                          <p:stCondLst>
                                            <p:cond delay="300"/>
                                          </p:stCondLst>
                                        </p:cTn>
                                        <p:tgtEl>
                                          <p:spTgt spid="102"/>
                                        </p:tgtEl>
                                        <p:attrNameLst>
                                          <p:attrName>ppt_w</p:attrName>
                                        </p:attrNameLst>
                                      </p:cBhvr>
                                      <p:tavLst>
                                        <p:tav tm="0">
                                          <p:val>
                                            <p:strVal val="#ppt_w*1.08"/>
                                          </p:val>
                                        </p:tav>
                                        <p:tav tm="100000">
                                          <p:val>
                                            <p:strVal val="#ppt_w"/>
                                          </p:val>
                                        </p:tav>
                                      </p:tavLst>
                                    </p:anim>
                                    <p:anim calcmode="lin" valueType="num">
                                      <p:cBhvr additive="base">
                                        <p:cTn id="18" dur="160" fill="hold">
                                          <p:stCondLst>
                                            <p:cond delay="300"/>
                                          </p:stCondLst>
                                        </p:cTn>
                                        <p:tgtEl>
                                          <p:spTgt spid="102"/>
                                        </p:tgtEl>
                                        <p:attrNameLst>
                                          <p:attrName>ppt_h</p:attrName>
                                        </p:attrNameLst>
                                      </p:cBhvr>
                                      <p:tavLst>
                                        <p:tav tm="0">
                                          <p:val>
                                            <p:strVal val="#ppt_h*1.08"/>
                                          </p:val>
                                        </p:tav>
                                        <p:tav tm="100000">
                                          <p:val>
                                            <p:strVal val="#ppt_h"/>
                                          </p:val>
                                        </p:tav>
                                      </p:tavLst>
                                    </p:anim>
                                  </p:childTnLst>
                                </p:cTn>
                              </p:par>
                              <p:par>
                                <p:cTn id="19" presetID="53" presetClass="entr" presetSubtype="16" fill="hold" grpId="0" nodeType="withEffect">
                                  <p:stCondLst>
                                    <p:cond delay="90"/>
                                  </p:stCondLst>
                                  <p:childTnLst>
                                    <p:set>
                                      <p:cBhvr>
                                        <p:cTn id="20" dur="1" fill="hold">
                                          <p:stCondLst>
                                            <p:cond delay="0"/>
                                          </p:stCondLst>
                                        </p:cTn>
                                        <p:tgtEl>
                                          <p:spTgt spid="103"/>
                                        </p:tgtEl>
                                        <p:attrNameLst>
                                          <p:attrName>style.visibility</p:attrName>
                                        </p:attrNameLst>
                                      </p:cBhvr>
                                      <p:to>
                                        <p:strVal val="visible"/>
                                      </p:to>
                                    </p:set>
                                    <p:anim calcmode="lin" valueType="num">
                                      <p:cBhvr additive="base">
                                        <p:cTn id="21" dur="300" decel="100000" fill="hold"/>
                                        <p:tgtEl>
                                          <p:spTgt spid="103"/>
                                        </p:tgtEl>
                                        <p:attrNameLst>
                                          <p:attrName>ppt_w</p:attrName>
                                        </p:attrNameLst>
                                      </p:cBhvr>
                                      <p:tavLst>
                                        <p:tav tm="0">
                                          <p:val>
                                            <p:strVal val="#ppt_w*0.3"/>
                                          </p:val>
                                        </p:tav>
                                        <p:tav tm="100000">
                                          <p:val>
                                            <p:strVal val="#ppt_w*1.08"/>
                                          </p:val>
                                        </p:tav>
                                      </p:tavLst>
                                    </p:anim>
                                    <p:anim calcmode="lin" valueType="num">
                                      <p:cBhvr additive="base">
                                        <p:cTn id="22" dur="300" decel="100000" fill="hold"/>
                                        <p:tgtEl>
                                          <p:spTgt spid="103"/>
                                        </p:tgtEl>
                                        <p:attrNameLst>
                                          <p:attrName>ppt_h</p:attrName>
                                        </p:attrNameLst>
                                      </p:cBhvr>
                                      <p:tavLst>
                                        <p:tav tm="0">
                                          <p:val>
                                            <p:strVal val="#ppt_h*0.3"/>
                                          </p:val>
                                        </p:tav>
                                        <p:tav tm="100000">
                                          <p:val>
                                            <p:strVal val="#ppt_h*1.08"/>
                                          </p:val>
                                        </p:tav>
                                      </p:tavLst>
                                    </p:anim>
                                    <p:animEffect transition="in" filter="fade">
                                      <p:cBhvr>
                                        <p:cTn id="23" dur="150"/>
                                        <p:tgtEl>
                                          <p:spTgt spid="103"/>
                                        </p:tgtEl>
                                      </p:cBhvr>
                                    </p:animEffect>
                                    <p:anim calcmode="lin" valueType="num">
                                      <p:cBhvr additive="base">
                                        <p:cTn id="24" dur="160" fill="hold">
                                          <p:stCondLst>
                                            <p:cond delay="300"/>
                                          </p:stCondLst>
                                        </p:cTn>
                                        <p:tgtEl>
                                          <p:spTgt spid="103"/>
                                        </p:tgtEl>
                                        <p:attrNameLst>
                                          <p:attrName>ppt_w</p:attrName>
                                        </p:attrNameLst>
                                      </p:cBhvr>
                                      <p:tavLst>
                                        <p:tav tm="0">
                                          <p:val>
                                            <p:strVal val="#ppt_w*1.08"/>
                                          </p:val>
                                        </p:tav>
                                        <p:tav tm="100000">
                                          <p:val>
                                            <p:strVal val="#ppt_w"/>
                                          </p:val>
                                        </p:tav>
                                      </p:tavLst>
                                    </p:anim>
                                    <p:anim calcmode="lin" valueType="num">
                                      <p:cBhvr additive="base">
                                        <p:cTn id="25" dur="160" fill="hold">
                                          <p:stCondLst>
                                            <p:cond delay="300"/>
                                          </p:stCondLst>
                                        </p:cTn>
                                        <p:tgtEl>
                                          <p:spTgt spid="103"/>
                                        </p:tgtEl>
                                        <p:attrNameLst>
                                          <p:attrName>ppt_h</p:attrName>
                                        </p:attrNameLst>
                                      </p:cBhvr>
                                      <p:tavLst>
                                        <p:tav tm="0">
                                          <p:val>
                                            <p:strVal val="#ppt_h*1.08"/>
                                          </p:val>
                                        </p:tav>
                                        <p:tav tm="100000">
                                          <p:val>
                                            <p:strVal val="#ppt_h"/>
                                          </p:val>
                                        </p:tav>
                                      </p:tavLst>
                                    </p:anim>
                                  </p:childTnLst>
                                </p:cTn>
                              </p:par>
                              <p:par>
                                <p:cTn id="26" presetID="53" presetClass="entr" presetSubtype="16" fill="hold" grpId="0" nodeType="withEffect">
                                  <p:stCondLst>
                                    <p:cond delay="135"/>
                                  </p:stCondLst>
                                  <p:childTnLst>
                                    <p:set>
                                      <p:cBhvr>
                                        <p:cTn id="27" dur="1" fill="hold">
                                          <p:stCondLst>
                                            <p:cond delay="0"/>
                                          </p:stCondLst>
                                        </p:cTn>
                                        <p:tgtEl>
                                          <p:spTgt spid="104"/>
                                        </p:tgtEl>
                                        <p:attrNameLst>
                                          <p:attrName>style.visibility</p:attrName>
                                        </p:attrNameLst>
                                      </p:cBhvr>
                                      <p:to>
                                        <p:strVal val="visible"/>
                                      </p:to>
                                    </p:set>
                                    <p:anim calcmode="lin" valueType="num">
                                      <p:cBhvr additive="base">
                                        <p:cTn id="28" dur="3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29" dur="300" decel="100000" fill="hold"/>
                                        <p:tgtEl>
                                          <p:spTgt spid="104"/>
                                        </p:tgtEl>
                                        <p:attrNameLst>
                                          <p:attrName>ppt_h</p:attrName>
                                        </p:attrNameLst>
                                      </p:cBhvr>
                                      <p:tavLst>
                                        <p:tav tm="0">
                                          <p:val>
                                            <p:strVal val="#ppt_h*0.3"/>
                                          </p:val>
                                        </p:tav>
                                        <p:tav tm="100000">
                                          <p:val>
                                            <p:strVal val="#ppt_h*1.08"/>
                                          </p:val>
                                        </p:tav>
                                      </p:tavLst>
                                    </p:anim>
                                    <p:animEffect transition="in" filter="fade">
                                      <p:cBhvr>
                                        <p:cTn id="30" dur="150"/>
                                        <p:tgtEl>
                                          <p:spTgt spid="104"/>
                                        </p:tgtEl>
                                      </p:cBhvr>
                                    </p:animEffect>
                                    <p:anim calcmode="lin" valueType="num">
                                      <p:cBhvr additive="base">
                                        <p:cTn id="31" dur="160" fill="hold">
                                          <p:stCondLst>
                                            <p:cond delay="300"/>
                                          </p:stCondLst>
                                        </p:cTn>
                                        <p:tgtEl>
                                          <p:spTgt spid="104"/>
                                        </p:tgtEl>
                                        <p:attrNameLst>
                                          <p:attrName>ppt_w</p:attrName>
                                        </p:attrNameLst>
                                      </p:cBhvr>
                                      <p:tavLst>
                                        <p:tav tm="0">
                                          <p:val>
                                            <p:strVal val="#ppt_w*1.08"/>
                                          </p:val>
                                        </p:tav>
                                        <p:tav tm="100000">
                                          <p:val>
                                            <p:strVal val="#ppt_w"/>
                                          </p:val>
                                        </p:tav>
                                      </p:tavLst>
                                    </p:anim>
                                    <p:anim calcmode="lin" valueType="num">
                                      <p:cBhvr additive="base">
                                        <p:cTn id="32" dur="160" fill="hold">
                                          <p:stCondLst>
                                            <p:cond delay="300"/>
                                          </p:stCondLst>
                                        </p:cTn>
                                        <p:tgtEl>
                                          <p:spTgt spid="104"/>
                                        </p:tgtEl>
                                        <p:attrNameLst>
                                          <p:attrName>ppt_h</p:attrName>
                                        </p:attrNameLst>
                                      </p:cBhvr>
                                      <p:tavLst>
                                        <p:tav tm="0">
                                          <p:val>
                                            <p:strVal val="#ppt_h*1.08"/>
                                          </p:val>
                                        </p:tav>
                                        <p:tav tm="100000">
                                          <p:val>
                                            <p:strVal val="#ppt_h"/>
                                          </p:val>
                                        </p:tav>
                                      </p:tavLst>
                                    </p:anim>
                                  </p:childTnLst>
                                </p:cTn>
                              </p:par>
                              <p:par>
                                <p:cTn id="33" presetID="53" presetClass="entr" presetSubtype="16" fill="hold" grpId="0" nodeType="withEffect">
                                  <p:stCondLst>
                                    <p:cond delay="180"/>
                                  </p:stCondLst>
                                  <p:childTnLst>
                                    <p:set>
                                      <p:cBhvr>
                                        <p:cTn id="34" dur="1" fill="hold">
                                          <p:stCondLst>
                                            <p:cond delay="0"/>
                                          </p:stCondLst>
                                        </p:cTn>
                                        <p:tgtEl>
                                          <p:spTgt spid="105"/>
                                        </p:tgtEl>
                                        <p:attrNameLst>
                                          <p:attrName>style.visibility</p:attrName>
                                        </p:attrNameLst>
                                      </p:cBhvr>
                                      <p:to>
                                        <p:strVal val="visible"/>
                                      </p:to>
                                    </p:set>
                                    <p:anim calcmode="lin" valueType="num">
                                      <p:cBhvr additive="base">
                                        <p:cTn id="35" dur="300" decel="100000" fill="hold"/>
                                        <p:tgtEl>
                                          <p:spTgt spid="105"/>
                                        </p:tgtEl>
                                        <p:attrNameLst>
                                          <p:attrName>ppt_w</p:attrName>
                                        </p:attrNameLst>
                                      </p:cBhvr>
                                      <p:tavLst>
                                        <p:tav tm="0">
                                          <p:val>
                                            <p:strVal val="#ppt_w*0.3"/>
                                          </p:val>
                                        </p:tav>
                                        <p:tav tm="100000">
                                          <p:val>
                                            <p:strVal val="#ppt_w*1.08"/>
                                          </p:val>
                                        </p:tav>
                                      </p:tavLst>
                                    </p:anim>
                                    <p:anim calcmode="lin" valueType="num">
                                      <p:cBhvr additive="base">
                                        <p:cTn id="36" dur="300" decel="100000" fill="hold"/>
                                        <p:tgtEl>
                                          <p:spTgt spid="105"/>
                                        </p:tgtEl>
                                        <p:attrNameLst>
                                          <p:attrName>ppt_h</p:attrName>
                                        </p:attrNameLst>
                                      </p:cBhvr>
                                      <p:tavLst>
                                        <p:tav tm="0">
                                          <p:val>
                                            <p:strVal val="#ppt_h*0.3"/>
                                          </p:val>
                                        </p:tav>
                                        <p:tav tm="100000">
                                          <p:val>
                                            <p:strVal val="#ppt_h*1.08"/>
                                          </p:val>
                                        </p:tav>
                                      </p:tavLst>
                                    </p:anim>
                                    <p:animEffect transition="in" filter="fade">
                                      <p:cBhvr>
                                        <p:cTn id="37" dur="150"/>
                                        <p:tgtEl>
                                          <p:spTgt spid="105"/>
                                        </p:tgtEl>
                                      </p:cBhvr>
                                    </p:animEffect>
                                    <p:anim calcmode="lin" valueType="num">
                                      <p:cBhvr additive="base">
                                        <p:cTn id="38" dur="160" fill="hold">
                                          <p:stCondLst>
                                            <p:cond delay="300"/>
                                          </p:stCondLst>
                                        </p:cTn>
                                        <p:tgtEl>
                                          <p:spTgt spid="105"/>
                                        </p:tgtEl>
                                        <p:attrNameLst>
                                          <p:attrName>ppt_w</p:attrName>
                                        </p:attrNameLst>
                                      </p:cBhvr>
                                      <p:tavLst>
                                        <p:tav tm="0">
                                          <p:val>
                                            <p:strVal val="#ppt_w*1.08"/>
                                          </p:val>
                                        </p:tav>
                                        <p:tav tm="100000">
                                          <p:val>
                                            <p:strVal val="#ppt_w"/>
                                          </p:val>
                                        </p:tav>
                                      </p:tavLst>
                                    </p:anim>
                                    <p:anim calcmode="lin" valueType="num">
                                      <p:cBhvr additive="base">
                                        <p:cTn id="39" dur="160" fill="hold">
                                          <p:stCondLst>
                                            <p:cond delay="300"/>
                                          </p:stCondLst>
                                        </p:cTn>
                                        <p:tgtEl>
                                          <p:spTgt spid="105"/>
                                        </p:tgtEl>
                                        <p:attrNameLst>
                                          <p:attrName>ppt_h</p:attrName>
                                        </p:attrNameLst>
                                      </p:cBhvr>
                                      <p:tavLst>
                                        <p:tav tm="0">
                                          <p:val>
                                            <p:strVal val="#ppt_h*1.08"/>
                                          </p:val>
                                        </p:tav>
                                        <p:tav tm="100000">
                                          <p:val>
                                            <p:strVal val="#ppt_h"/>
                                          </p:val>
                                        </p:tav>
                                      </p:tavLst>
                                    </p:anim>
                                  </p:childTnLst>
                                </p:cTn>
                              </p:par>
                              <p:par>
                                <p:cTn id="40" presetID="53" presetClass="entr" presetSubtype="16" fill="hold" grpId="0" nodeType="withEffect">
                                  <p:stCondLst>
                                    <p:cond delay="225"/>
                                  </p:stCondLst>
                                  <p:childTnLst>
                                    <p:set>
                                      <p:cBhvr>
                                        <p:cTn id="41" dur="1" fill="hold">
                                          <p:stCondLst>
                                            <p:cond delay="0"/>
                                          </p:stCondLst>
                                        </p:cTn>
                                        <p:tgtEl>
                                          <p:spTgt spid="106"/>
                                        </p:tgtEl>
                                        <p:attrNameLst>
                                          <p:attrName>style.visibility</p:attrName>
                                        </p:attrNameLst>
                                      </p:cBhvr>
                                      <p:to>
                                        <p:strVal val="visible"/>
                                      </p:to>
                                    </p:set>
                                    <p:anim calcmode="lin" valueType="num">
                                      <p:cBhvr additive="base">
                                        <p:cTn id="42" dur="3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43" dur="300" decel="100000" fill="hold"/>
                                        <p:tgtEl>
                                          <p:spTgt spid="106"/>
                                        </p:tgtEl>
                                        <p:attrNameLst>
                                          <p:attrName>ppt_h</p:attrName>
                                        </p:attrNameLst>
                                      </p:cBhvr>
                                      <p:tavLst>
                                        <p:tav tm="0">
                                          <p:val>
                                            <p:strVal val="#ppt_h*0.3"/>
                                          </p:val>
                                        </p:tav>
                                        <p:tav tm="100000">
                                          <p:val>
                                            <p:strVal val="#ppt_h*1.08"/>
                                          </p:val>
                                        </p:tav>
                                      </p:tavLst>
                                    </p:anim>
                                    <p:animEffect transition="in" filter="fade">
                                      <p:cBhvr>
                                        <p:cTn id="44" dur="150"/>
                                        <p:tgtEl>
                                          <p:spTgt spid="106"/>
                                        </p:tgtEl>
                                      </p:cBhvr>
                                    </p:animEffect>
                                    <p:anim calcmode="lin" valueType="num">
                                      <p:cBhvr additive="base">
                                        <p:cTn id="45" dur="160" fill="hold">
                                          <p:stCondLst>
                                            <p:cond delay="300"/>
                                          </p:stCondLst>
                                        </p:cTn>
                                        <p:tgtEl>
                                          <p:spTgt spid="106"/>
                                        </p:tgtEl>
                                        <p:attrNameLst>
                                          <p:attrName>ppt_w</p:attrName>
                                        </p:attrNameLst>
                                      </p:cBhvr>
                                      <p:tavLst>
                                        <p:tav tm="0">
                                          <p:val>
                                            <p:strVal val="#ppt_w*1.08"/>
                                          </p:val>
                                        </p:tav>
                                        <p:tav tm="100000">
                                          <p:val>
                                            <p:strVal val="#ppt_w"/>
                                          </p:val>
                                        </p:tav>
                                      </p:tavLst>
                                    </p:anim>
                                    <p:anim calcmode="lin" valueType="num">
                                      <p:cBhvr additive="base">
                                        <p:cTn id="46" dur="160" fill="hold">
                                          <p:stCondLst>
                                            <p:cond delay="300"/>
                                          </p:stCondLst>
                                        </p:cTn>
                                        <p:tgtEl>
                                          <p:spTgt spid="106"/>
                                        </p:tgtEl>
                                        <p:attrNameLst>
                                          <p:attrName>ppt_h</p:attrName>
                                        </p:attrNameLst>
                                      </p:cBhvr>
                                      <p:tavLst>
                                        <p:tav tm="0">
                                          <p:val>
                                            <p:strVal val="#ppt_h*1.08"/>
                                          </p:val>
                                        </p:tav>
                                        <p:tav tm="100000">
                                          <p:val>
                                            <p:strVal val="#ppt_h"/>
                                          </p:val>
                                        </p:tav>
                                      </p:tavLst>
                                    </p:anim>
                                  </p:childTnLst>
                                </p:cTn>
                              </p:par>
                              <p:par>
                                <p:cTn id="47" presetID="53" presetClass="entr" presetSubtype="16" fill="hold" grpId="0" nodeType="withEffect">
                                  <p:stCondLst>
                                    <p:cond delay="270"/>
                                  </p:stCondLst>
                                  <p:childTnLst>
                                    <p:set>
                                      <p:cBhvr>
                                        <p:cTn id="48" dur="1" fill="hold">
                                          <p:stCondLst>
                                            <p:cond delay="0"/>
                                          </p:stCondLst>
                                        </p:cTn>
                                        <p:tgtEl>
                                          <p:spTgt spid="107"/>
                                        </p:tgtEl>
                                        <p:attrNameLst>
                                          <p:attrName>style.visibility</p:attrName>
                                        </p:attrNameLst>
                                      </p:cBhvr>
                                      <p:to>
                                        <p:strVal val="visible"/>
                                      </p:to>
                                    </p:set>
                                    <p:anim calcmode="lin" valueType="num">
                                      <p:cBhvr additive="base">
                                        <p:cTn id="49" dur="30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50" dur="300" decel="100000" fill="hold"/>
                                        <p:tgtEl>
                                          <p:spTgt spid="107"/>
                                        </p:tgtEl>
                                        <p:attrNameLst>
                                          <p:attrName>ppt_h</p:attrName>
                                        </p:attrNameLst>
                                      </p:cBhvr>
                                      <p:tavLst>
                                        <p:tav tm="0">
                                          <p:val>
                                            <p:strVal val="#ppt_h*0.3"/>
                                          </p:val>
                                        </p:tav>
                                        <p:tav tm="100000">
                                          <p:val>
                                            <p:strVal val="#ppt_h*1.08"/>
                                          </p:val>
                                        </p:tav>
                                      </p:tavLst>
                                    </p:anim>
                                    <p:animEffect transition="in" filter="fade">
                                      <p:cBhvr>
                                        <p:cTn id="51" dur="150"/>
                                        <p:tgtEl>
                                          <p:spTgt spid="107"/>
                                        </p:tgtEl>
                                      </p:cBhvr>
                                    </p:animEffect>
                                    <p:anim calcmode="lin" valueType="num">
                                      <p:cBhvr additive="base">
                                        <p:cTn id="52" dur="160" fill="hold">
                                          <p:stCondLst>
                                            <p:cond delay="300"/>
                                          </p:stCondLst>
                                        </p:cTn>
                                        <p:tgtEl>
                                          <p:spTgt spid="107"/>
                                        </p:tgtEl>
                                        <p:attrNameLst>
                                          <p:attrName>ppt_w</p:attrName>
                                        </p:attrNameLst>
                                      </p:cBhvr>
                                      <p:tavLst>
                                        <p:tav tm="0">
                                          <p:val>
                                            <p:strVal val="#ppt_w*1.08"/>
                                          </p:val>
                                        </p:tav>
                                        <p:tav tm="100000">
                                          <p:val>
                                            <p:strVal val="#ppt_w"/>
                                          </p:val>
                                        </p:tav>
                                      </p:tavLst>
                                    </p:anim>
                                    <p:anim calcmode="lin" valueType="num">
                                      <p:cBhvr additive="base">
                                        <p:cTn id="53" dur="160" fill="hold">
                                          <p:stCondLst>
                                            <p:cond delay="300"/>
                                          </p:stCondLst>
                                        </p:cTn>
                                        <p:tgtEl>
                                          <p:spTgt spid="107"/>
                                        </p:tgtEl>
                                        <p:attrNameLst>
                                          <p:attrName>ppt_h</p:attrName>
                                        </p:attrNameLst>
                                      </p:cBhvr>
                                      <p:tavLst>
                                        <p:tav tm="0">
                                          <p:val>
                                            <p:strVal val="#ppt_h*1.08"/>
                                          </p:val>
                                        </p:tav>
                                        <p:tav tm="100000">
                                          <p:val>
                                            <p:strVal val="#ppt_h"/>
                                          </p:val>
                                        </p:tav>
                                      </p:tavLst>
                                    </p:anim>
                                  </p:childTnLst>
                                </p:cTn>
                              </p:par>
                              <p:par>
                                <p:cTn id="54" presetID="53" presetClass="entr" presetSubtype="16" fill="hold" grpId="0" nodeType="withEffect">
                                  <p:stCondLst>
                                    <p:cond delay="315"/>
                                  </p:stCondLst>
                                  <p:childTnLst>
                                    <p:set>
                                      <p:cBhvr>
                                        <p:cTn id="55" dur="1" fill="hold">
                                          <p:stCondLst>
                                            <p:cond delay="0"/>
                                          </p:stCondLst>
                                        </p:cTn>
                                        <p:tgtEl>
                                          <p:spTgt spid="108"/>
                                        </p:tgtEl>
                                        <p:attrNameLst>
                                          <p:attrName>style.visibility</p:attrName>
                                        </p:attrNameLst>
                                      </p:cBhvr>
                                      <p:to>
                                        <p:strVal val="visible"/>
                                      </p:to>
                                    </p:set>
                                    <p:anim calcmode="lin" valueType="num">
                                      <p:cBhvr additive="base">
                                        <p:cTn id="56" dur="30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57" dur="300" decel="100000" fill="hold"/>
                                        <p:tgtEl>
                                          <p:spTgt spid="108"/>
                                        </p:tgtEl>
                                        <p:attrNameLst>
                                          <p:attrName>ppt_h</p:attrName>
                                        </p:attrNameLst>
                                      </p:cBhvr>
                                      <p:tavLst>
                                        <p:tav tm="0">
                                          <p:val>
                                            <p:strVal val="#ppt_h*0.3"/>
                                          </p:val>
                                        </p:tav>
                                        <p:tav tm="100000">
                                          <p:val>
                                            <p:strVal val="#ppt_h*1.08"/>
                                          </p:val>
                                        </p:tav>
                                      </p:tavLst>
                                    </p:anim>
                                    <p:animEffect transition="in" filter="fade">
                                      <p:cBhvr>
                                        <p:cTn id="58" dur="150"/>
                                        <p:tgtEl>
                                          <p:spTgt spid="108"/>
                                        </p:tgtEl>
                                      </p:cBhvr>
                                    </p:animEffect>
                                    <p:anim calcmode="lin" valueType="num">
                                      <p:cBhvr additive="base">
                                        <p:cTn id="59" dur="160" fill="hold">
                                          <p:stCondLst>
                                            <p:cond delay="300"/>
                                          </p:stCondLst>
                                        </p:cTn>
                                        <p:tgtEl>
                                          <p:spTgt spid="108"/>
                                        </p:tgtEl>
                                        <p:attrNameLst>
                                          <p:attrName>ppt_w</p:attrName>
                                        </p:attrNameLst>
                                      </p:cBhvr>
                                      <p:tavLst>
                                        <p:tav tm="0">
                                          <p:val>
                                            <p:strVal val="#ppt_w*1.08"/>
                                          </p:val>
                                        </p:tav>
                                        <p:tav tm="100000">
                                          <p:val>
                                            <p:strVal val="#ppt_w"/>
                                          </p:val>
                                        </p:tav>
                                      </p:tavLst>
                                    </p:anim>
                                    <p:anim calcmode="lin" valueType="num">
                                      <p:cBhvr additive="base">
                                        <p:cTn id="60" dur="160" fill="hold">
                                          <p:stCondLst>
                                            <p:cond delay="300"/>
                                          </p:stCondLst>
                                        </p:cTn>
                                        <p:tgtEl>
                                          <p:spTgt spid="108"/>
                                        </p:tgtEl>
                                        <p:attrNameLst>
                                          <p:attrName>ppt_h</p:attrName>
                                        </p:attrNameLst>
                                      </p:cBhvr>
                                      <p:tavLst>
                                        <p:tav tm="0">
                                          <p:val>
                                            <p:strVal val="#ppt_h*1.08"/>
                                          </p:val>
                                        </p:tav>
                                        <p:tav tm="100000">
                                          <p:val>
                                            <p:strVal val="#ppt_h"/>
                                          </p:val>
                                        </p:tav>
                                      </p:tavLst>
                                    </p:anim>
                                  </p:childTnLst>
                                </p:cTn>
                              </p:par>
                              <p:par>
                                <p:cTn id="61" presetID="53" presetClass="entr" presetSubtype="16" fill="hold" grpId="0" nodeType="withEffect">
                                  <p:stCondLst>
                                    <p:cond delay="360"/>
                                  </p:stCondLst>
                                  <p:childTnLst>
                                    <p:set>
                                      <p:cBhvr>
                                        <p:cTn id="62" dur="1" fill="hold">
                                          <p:stCondLst>
                                            <p:cond delay="0"/>
                                          </p:stCondLst>
                                        </p:cTn>
                                        <p:tgtEl>
                                          <p:spTgt spid="109"/>
                                        </p:tgtEl>
                                        <p:attrNameLst>
                                          <p:attrName>style.visibility</p:attrName>
                                        </p:attrNameLst>
                                      </p:cBhvr>
                                      <p:to>
                                        <p:strVal val="visible"/>
                                      </p:to>
                                    </p:set>
                                    <p:anim calcmode="lin" valueType="num">
                                      <p:cBhvr additive="base">
                                        <p:cTn id="63" dur="30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64" dur="300" decel="100000" fill="hold"/>
                                        <p:tgtEl>
                                          <p:spTgt spid="109"/>
                                        </p:tgtEl>
                                        <p:attrNameLst>
                                          <p:attrName>ppt_h</p:attrName>
                                        </p:attrNameLst>
                                      </p:cBhvr>
                                      <p:tavLst>
                                        <p:tav tm="0">
                                          <p:val>
                                            <p:strVal val="#ppt_h*0.3"/>
                                          </p:val>
                                        </p:tav>
                                        <p:tav tm="100000">
                                          <p:val>
                                            <p:strVal val="#ppt_h*1.08"/>
                                          </p:val>
                                        </p:tav>
                                      </p:tavLst>
                                    </p:anim>
                                    <p:animEffect transition="in" filter="fade">
                                      <p:cBhvr>
                                        <p:cTn id="65" dur="150"/>
                                        <p:tgtEl>
                                          <p:spTgt spid="109"/>
                                        </p:tgtEl>
                                      </p:cBhvr>
                                    </p:animEffect>
                                    <p:anim calcmode="lin" valueType="num">
                                      <p:cBhvr additive="base">
                                        <p:cTn id="66" dur="160" fill="hold">
                                          <p:stCondLst>
                                            <p:cond delay="300"/>
                                          </p:stCondLst>
                                        </p:cTn>
                                        <p:tgtEl>
                                          <p:spTgt spid="109"/>
                                        </p:tgtEl>
                                        <p:attrNameLst>
                                          <p:attrName>ppt_w</p:attrName>
                                        </p:attrNameLst>
                                      </p:cBhvr>
                                      <p:tavLst>
                                        <p:tav tm="0">
                                          <p:val>
                                            <p:strVal val="#ppt_w*1.08"/>
                                          </p:val>
                                        </p:tav>
                                        <p:tav tm="100000">
                                          <p:val>
                                            <p:strVal val="#ppt_w"/>
                                          </p:val>
                                        </p:tav>
                                      </p:tavLst>
                                    </p:anim>
                                    <p:anim calcmode="lin" valueType="num">
                                      <p:cBhvr additive="base">
                                        <p:cTn id="67" dur="160" fill="hold">
                                          <p:stCondLst>
                                            <p:cond delay="300"/>
                                          </p:stCondLst>
                                        </p:cTn>
                                        <p:tgtEl>
                                          <p:spTgt spid="109"/>
                                        </p:tgtEl>
                                        <p:attrNameLst>
                                          <p:attrName>ppt_h</p:attrName>
                                        </p:attrNameLst>
                                      </p:cBhvr>
                                      <p:tavLst>
                                        <p:tav tm="0">
                                          <p:val>
                                            <p:strVal val="#ppt_h*1.08"/>
                                          </p:val>
                                        </p:tav>
                                        <p:tav tm="100000">
                                          <p:val>
                                            <p:strVal val="#ppt_h"/>
                                          </p:val>
                                        </p:tav>
                                      </p:tavLst>
                                    </p:anim>
                                  </p:childTnLst>
                                </p:cTn>
                              </p:par>
                              <p:par>
                                <p:cTn id="68" presetID="53" presetClass="entr" presetSubtype="16" fill="hold" grpId="0" nodeType="withEffect">
                                  <p:stCondLst>
                                    <p:cond delay="405"/>
                                  </p:stCondLst>
                                  <p:childTnLst>
                                    <p:set>
                                      <p:cBhvr>
                                        <p:cTn id="69" dur="1" fill="hold">
                                          <p:stCondLst>
                                            <p:cond delay="0"/>
                                          </p:stCondLst>
                                        </p:cTn>
                                        <p:tgtEl>
                                          <p:spTgt spid="110"/>
                                        </p:tgtEl>
                                        <p:attrNameLst>
                                          <p:attrName>style.visibility</p:attrName>
                                        </p:attrNameLst>
                                      </p:cBhvr>
                                      <p:to>
                                        <p:strVal val="visible"/>
                                      </p:to>
                                    </p:set>
                                    <p:anim calcmode="lin" valueType="num">
                                      <p:cBhvr additive="base">
                                        <p:cTn id="70" dur="300" decel="100000" fill="hold"/>
                                        <p:tgtEl>
                                          <p:spTgt spid="110"/>
                                        </p:tgtEl>
                                        <p:attrNameLst>
                                          <p:attrName>ppt_w</p:attrName>
                                        </p:attrNameLst>
                                      </p:cBhvr>
                                      <p:tavLst>
                                        <p:tav tm="0">
                                          <p:val>
                                            <p:strVal val="#ppt_w*0.3"/>
                                          </p:val>
                                        </p:tav>
                                        <p:tav tm="100000">
                                          <p:val>
                                            <p:strVal val="#ppt_w*1.08"/>
                                          </p:val>
                                        </p:tav>
                                      </p:tavLst>
                                    </p:anim>
                                    <p:anim calcmode="lin" valueType="num">
                                      <p:cBhvr additive="base">
                                        <p:cTn id="71" dur="300" decel="100000" fill="hold"/>
                                        <p:tgtEl>
                                          <p:spTgt spid="110"/>
                                        </p:tgtEl>
                                        <p:attrNameLst>
                                          <p:attrName>ppt_h</p:attrName>
                                        </p:attrNameLst>
                                      </p:cBhvr>
                                      <p:tavLst>
                                        <p:tav tm="0">
                                          <p:val>
                                            <p:strVal val="#ppt_h*0.3"/>
                                          </p:val>
                                        </p:tav>
                                        <p:tav tm="100000">
                                          <p:val>
                                            <p:strVal val="#ppt_h*1.08"/>
                                          </p:val>
                                        </p:tav>
                                      </p:tavLst>
                                    </p:anim>
                                    <p:animEffect transition="in" filter="fade">
                                      <p:cBhvr>
                                        <p:cTn id="72" dur="150"/>
                                        <p:tgtEl>
                                          <p:spTgt spid="110"/>
                                        </p:tgtEl>
                                      </p:cBhvr>
                                    </p:animEffect>
                                    <p:anim calcmode="lin" valueType="num">
                                      <p:cBhvr additive="base">
                                        <p:cTn id="73" dur="160" fill="hold">
                                          <p:stCondLst>
                                            <p:cond delay="300"/>
                                          </p:stCondLst>
                                        </p:cTn>
                                        <p:tgtEl>
                                          <p:spTgt spid="110"/>
                                        </p:tgtEl>
                                        <p:attrNameLst>
                                          <p:attrName>ppt_w</p:attrName>
                                        </p:attrNameLst>
                                      </p:cBhvr>
                                      <p:tavLst>
                                        <p:tav tm="0">
                                          <p:val>
                                            <p:strVal val="#ppt_w*1.08"/>
                                          </p:val>
                                        </p:tav>
                                        <p:tav tm="100000">
                                          <p:val>
                                            <p:strVal val="#ppt_w"/>
                                          </p:val>
                                        </p:tav>
                                      </p:tavLst>
                                    </p:anim>
                                    <p:anim calcmode="lin" valueType="num">
                                      <p:cBhvr additive="base">
                                        <p:cTn id="74" dur="160" fill="hold">
                                          <p:stCondLst>
                                            <p:cond delay="300"/>
                                          </p:stCondLst>
                                        </p:cTn>
                                        <p:tgtEl>
                                          <p:spTgt spid="110"/>
                                        </p:tgtEl>
                                        <p:attrNameLst>
                                          <p:attrName>ppt_h</p:attrName>
                                        </p:attrNameLst>
                                      </p:cBhvr>
                                      <p:tavLst>
                                        <p:tav tm="0">
                                          <p:val>
                                            <p:strVal val="#ppt_h*1.08"/>
                                          </p:val>
                                        </p:tav>
                                        <p:tav tm="100000">
                                          <p:val>
                                            <p:strVal val="#ppt_h"/>
                                          </p:val>
                                        </p:tav>
                                      </p:tavLst>
                                    </p:anim>
                                  </p:childTnLst>
                                </p:cTn>
                              </p:par>
                              <p:par>
                                <p:cTn id="75" presetID="53" presetClass="entr" presetSubtype="16" fill="hold" grpId="0" nodeType="withEffect">
                                  <p:stCondLst>
                                    <p:cond delay="450"/>
                                  </p:stCondLst>
                                  <p:childTnLst>
                                    <p:set>
                                      <p:cBhvr>
                                        <p:cTn id="76" dur="1" fill="hold">
                                          <p:stCondLst>
                                            <p:cond delay="0"/>
                                          </p:stCondLst>
                                        </p:cTn>
                                        <p:tgtEl>
                                          <p:spTgt spid="111"/>
                                        </p:tgtEl>
                                        <p:attrNameLst>
                                          <p:attrName>style.visibility</p:attrName>
                                        </p:attrNameLst>
                                      </p:cBhvr>
                                      <p:to>
                                        <p:strVal val="visible"/>
                                      </p:to>
                                    </p:set>
                                    <p:anim calcmode="lin" valueType="num">
                                      <p:cBhvr additive="base">
                                        <p:cTn id="77" dur="300" decel="100000" fill="hold"/>
                                        <p:tgtEl>
                                          <p:spTgt spid="111"/>
                                        </p:tgtEl>
                                        <p:attrNameLst>
                                          <p:attrName>ppt_w</p:attrName>
                                        </p:attrNameLst>
                                      </p:cBhvr>
                                      <p:tavLst>
                                        <p:tav tm="0">
                                          <p:val>
                                            <p:strVal val="#ppt_w*0.3"/>
                                          </p:val>
                                        </p:tav>
                                        <p:tav tm="100000">
                                          <p:val>
                                            <p:strVal val="#ppt_w*1.08"/>
                                          </p:val>
                                        </p:tav>
                                      </p:tavLst>
                                    </p:anim>
                                    <p:anim calcmode="lin" valueType="num">
                                      <p:cBhvr additive="base">
                                        <p:cTn id="78" dur="300" decel="100000" fill="hold"/>
                                        <p:tgtEl>
                                          <p:spTgt spid="111"/>
                                        </p:tgtEl>
                                        <p:attrNameLst>
                                          <p:attrName>ppt_h</p:attrName>
                                        </p:attrNameLst>
                                      </p:cBhvr>
                                      <p:tavLst>
                                        <p:tav tm="0">
                                          <p:val>
                                            <p:strVal val="#ppt_h*0.3"/>
                                          </p:val>
                                        </p:tav>
                                        <p:tav tm="100000">
                                          <p:val>
                                            <p:strVal val="#ppt_h*1.08"/>
                                          </p:val>
                                        </p:tav>
                                      </p:tavLst>
                                    </p:anim>
                                    <p:animEffect transition="in" filter="fade">
                                      <p:cBhvr>
                                        <p:cTn id="79" dur="150"/>
                                        <p:tgtEl>
                                          <p:spTgt spid="111"/>
                                        </p:tgtEl>
                                      </p:cBhvr>
                                    </p:animEffect>
                                    <p:anim calcmode="lin" valueType="num">
                                      <p:cBhvr additive="base">
                                        <p:cTn id="80" dur="160" fill="hold">
                                          <p:stCondLst>
                                            <p:cond delay="300"/>
                                          </p:stCondLst>
                                        </p:cTn>
                                        <p:tgtEl>
                                          <p:spTgt spid="111"/>
                                        </p:tgtEl>
                                        <p:attrNameLst>
                                          <p:attrName>ppt_w</p:attrName>
                                        </p:attrNameLst>
                                      </p:cBhvr>
                                      <p:tavLst>
                                        <p:tav tm="0">
                                          <p:val>
                                            <p:strVal val="#ppt_w*1.08"/>
                                          </p:val>
                                        </p:tav>
                                        <p:tav tm="100000">
                                          <p:val>
                                            <p:strVal val="#ppt_w"/>
                                          </p:val>
                                        </p:tav>
                                      </p:tavLst>
                                    </p:anim>
                                    <p:anim calcmode="lin" valueType="num">
                                      <p:cBhvr additive="base">
                                        <p:cTn id="81" dur="160" fill="hold">
                                          <p:stCondLst>
                                            <p:cond delay="300"/>
                                          </p:stCondLst>
                                        </p:cTn>
                                        <p:tgtEl>
                                          <p:spTgt spid="111"/>
                                        </p:tgtEl>
                                        <p:attrNameLst>
                                          <p:attrName>ppt_h</p:attrName>
                                        </p:attrNameLst>
                                      </p:cBhvr>
                                      <p:tavLst>
                                        <p:tav tm="0">
                                          <p:val>
                                            <p:strVal val="#ppt_h*1.08"/>
                                          </p:val>
                                        </p:tav>
                                        <p:tav tm="100000">
                                          <p:val>
                                            <p:strVal val="#ppt_h"/>
                                          </p:val>
                                        </p:tav>
                                      </p:tavLst>
                                    </p:anim>
                                  </p:childTnLst>
                                </p:cTn>
                              </p:par>
                              <p:par>
                                <p:cTn id="82" presetID="53" presetClass="entr" presetSubtype="16" fill="hold" grpId="0" nodeType="withEffect">
                                  <p:stCondLst>
                                    <p:cond delay="495"/>
                                  </p:stCondLst>
                                  <p:childTnLst>
                                    <p:set>
                                      <p:cBhvr>
                                        <p:cTn id="83" dur="1" fill="hold">
                                          <p:stCondLst>
                                            <p:cond delay="0"/>
                                          </p:stCondLst>
                                        </p:cTn>
                                        <p:tgtEl>
                                          <p:spTgt spid="112"/>
                                        </p:tgtEl>
                                        <p:attrNameLst>
                                          <p:attrName>style.visibility</p:attrName>
                                        </p:attrNameLst>
                                      </p:cBhvr>
                                      <p:to>
                                        <p:strVal val="visible"/>
                                      </p:to>
                                    </p:set>
                                    <p:anim calcmode="lin" valueType="num">
                                      <p:cBhvr additive="base">
                                        <p:cTn id="84" dur="300" decel="100000" fill="hold"/>
                                        <p:tgtEl>
                                          <p:spTgt spid="112"/>
                                        </p:tgtEl>
                                        <p:attrNameLst>
                                          <p:attrName>ppt_w</p:attrName>
                                        </p:attrNameLst>
                                      </p:cBhvr>
                                      <p:tavLst>
                                        <p:tav tm="0">
                                          <p:val>
                                            <p:strVal val="#ppt_w*0.3"/>
                                          </p:val>
                                        </p:tav>
                                        <p:tav tm="100000">
                                          <p:val>
                                            <p:strVal val="#ppt_w*1.08"/>
                                          </p:val>
                                        </p:tav>
                                      </p:tavLst>
                                    </p:anim>
                                    <p:anim calcmode="lin" valueType="num">
                                      <p:cBhvr additive="base">
                                        <p:cTn id="85" dur="300" decel="100000" fill="hold"/>
                                        <p:tgtEl>
                                          <p:spTgt spid="112"/>
                                        </p:tgtEl>
                                        <p:attrNameLst>
                                          <p:attrName>ppt_h</p:attrName>
                                        </p:attrNameLst>
                                      </p:cBhvr>
                                      <p:tavLst>
                                        <p:tav tm="0">
                                          <p:val>
                                            <p:strVal val="#ppt_h*0.3"/>
                                          </p:val>
                                        </p:tav>
                                        <p:tav tm="100000">
                                          <p:val>
                                            <p:strVal val="#ppt_h*1.08"/>
                                          </p:val>
                                        </p:tav>
                                      </p:tavLst>
                                    </p:anim>
                                    <p:animEffect transition="in" filter="fade">
                                      <p:cBhvr>
                                        <p:cTn id="86" dur="150"/>
                                        <p:tgtEl>
                                          <p:spTgt spid="112"/>
                                        </p:tgtEl>
                                      </p:cBhvr>
                                    </p:animEffect>
                                    <p:anim calcmode="lin" valueType="num">
                                      <p:cBhvr additive="base">
                                        <p:cTn id="87" dur="160" fill="hold">
                                          <p:stCondLst>
                                            <p:cond delay="300"/>
                                          </p:stCondLst>
                                        </p:cTn>
                                        <p:tgtEl>
                                          <p:spTgt spid="112"/>
                                        </p:tgtEl>
                                        <p:attrNameLst>
                                          <p:attrName>ppt_w</p:attrName>
                                        </p:attrNameLst>
                                      </p:cBhvr>
                                      <p:tavLst>
                                        <p:tav tm="0">
                                          <p:val>
                                            <p:strVal val="#ppt_w*1.08"/>
                                          </p:val>
                                        </p:tav>
                                        <p:tav tm="100000">
                                          <p:val>
                                            <p:strVal val="#ppt_w"/>
                                          </p:val>
                                        </p:tav>
                                      </p:tavLst>
                                    </p:anim>
                                    <p:anim calcmode="lin" valueType="num">
                                      <p:cBhvr additive="base">
                                        <p:cTn id="88" dur="160" fill="hold">
                                          <p:stCondLst>
                                            <p:cond delay="300"/>
                                          </p:stCondLst>
                                        </p:cTn>
                                        <p:tgtEl>
                                          <p:spTgt spid="112"/>
                                        </p:tgtEl>
                                        <p:attrNameLst>
                                          <p:attrName>ppt_h</p:attrName>
                                        </p:attrNameLst>
                                      </p:cBhvr>
                                      <p:tavLst>
                                        <p:tav tm="0">
                                          <p:val>
                                            <p:strVal val="#ppt_h*1.08"/>
                                          </p:val>
                                        </p:tav>
                                        <p:tav tm="100000">
                                          <p:val>
                                            <p:strVal val="#ppt_h"/>
                                          </p:val>
                                        </p:tav>
                                      </p:tavLst>
                                    </p:anim>
                                  </p:childTnLst>
                                </p:cTn>
                              </p:par>
                              <p:par>
                                <p:cTn id="89" presetID="53" presetClass="entr" presetSubtype="16" fill="hold" grpId="0" nodeType="withEffect">
                                  <p:stCondLst>
                                    <p:cond delay="540"/>
                                  </p:stCondLst>
                                  <p:childTnLst>
                                    <p:set>
                                      <p:cBhvr>
                                        <p:cTn id="90" dur="1" fill="hold">
                                          <p:stCondLst>
                                            <p:cond delay="0"/>
                                          </p:stCondLst>
                                        </p:cTn>
                                        <p:tgtEl>
                                          <p:spTgt spid="113"/>
                                        </p:tgtEl>
                                        <p:attrNameLst>
                                          <p:attrName>style.visibility</p:attrName>
                                        </p:attrNameLst>
                                      </p:cBhvr>
                                      <p:to>
                                        <p:strVal val="visible"/>
                                      </p:to>
                                    </p:set>
                                    <p:anim calcmode="lin" valueType="num">
                                      <p:cBhvr additive="base">
                                        <p:cTn id="91" dur="300" decel="100000" fill="hold"/>
                                        <p:tgtEl>
                                          <p:spTgt spid="113"/>
                                        </p:tgtEl>
                                        <p:attrNameLst>
                                          <p:attrName>ppt_w</p:attrName>
                                        </p:attrNameLst>
                                      </p:cBhvr>
                                      <p:tavLst>
                                        <p:tav tm="0">
                                          <p:val>
                                            <p:strVal val="#ppt_w*0.3"/>
                                          </p:val>
                                        </p:tav>
                                        <p:tav tm="100000">
                                          <p:val>
                                            <p:strVal val="#ppt_w*1.08"/>
                                          </p:val>
                                        </p:tav>
                                      </p:tavLst>
                                    </p:anim>
                                    <p:anim calcmode="lin" valueType="num">
                                      <p:cBhvr additive="base">
                                        <p:cTn id="92" dur="300" decel="100000" fill="hold"/>
                                        <p:tgtEl>
                                          <p:spTgt spid="113"/>
                                        </p:tgtEl>
                                        <p:attrNameLst>
                                          <p:attrName>ppt_h</p:attrName>
                                        </p:attrNameLst>
                                      </p:cBhvr>
                                      <p:tavLst>
                                        <p:tav tm="0">
                                          <p:val>
                                            <p:strVal val="#ppt_h*0.3"/>
                                          </p:val>
                                        </p:tav>
                                        <p:tav tm="100000">
                                          <p:val>
                                            <p:strVal val="#ppt_h*1.08"/>
                                          </p:val>
                                        </p:tav>
                                      </p:tavLst>
                                    </p:anim>
                                    <p:animEffect transition="in" filter="fade">
                                      <p:cBhvr>
                                        <p:cTn id="93" dur="150"/>
                                        <p:tgtEl>
                                          <p:spTgt spid="113"/>
                                        </p:tgtEl>
                                      </p:cBhvr>
                                    </p:animEffect>
                                    <p:anim calcmode="lin" valueType="num">
                                      <p:cBhvr additive="base">
                                        <p:cTn id="94" dur="160" fill="hold">
                                          <p:stCondLst>
                                            <p:cond delay="300"/>
                                          </p:stCondLst>
                                        </p:cTn>
                                        <p:tgtEl>
                                          <p:spTgt spid="113"/>
                                        </p:tgtEl>
                                        <p:attrNameLst>
                                          <p:attrName>ppt_w</p:attrName>
                                        </p:attrNameLst>
                                      </p:cBhvr>
                                      <p:tavLst>
                                        <p:tav tm="0">
                                          <p:val>
                                            <p:strVal val="#ppt_w*1.08"/>
                                          </p:val>
                                        </p:tav>
                                        <p:tav tm="100000">
                                          <p:val>
                                            <p:strVal val="#ppt_w"/>
                                          </p:val>
                                        </p:tav>
                                      </p:tavLst>
                                    </p:anim>
                                    <p:anim calcmode="lin" valueType="num">
                                      <p:cBhvr additive="base">
                                        <p:cTn id="95" dur="160" fill="hold">
                                          <p:stCondLst>
                                            <p:cond delay="300"/>
                                          </p:stCondLst>
                                        </p:cTn>
                                        <p:tgtEl>
                                          <p:spTgt spid="113"/>
                                        </p:tgtEl>
                                        <p:attrNameLst>
                                          <p:attrName>ppt_h</p:attrName>
                                        </p:attrNameLst>
                                      </p:cBhvr>
                                      <p:tavLst>
                                        <p:tav tm="0">
                                          <p:val>
                                            <p:strVal val="#ppt_h*1.08"/>
                                          </p:val>
                                        </p:tav>
                                        <p:tav tm="100000">
                                          <p:val>
                                            <p:strVal val="#ppt_h"/>
                                          </p:val>
                                        </p:tav>
                                      </p:tavLst>
                                    </p:anim>
                                  </p:childTnLst>
                                </p:cTn>
                              </p:par>
                              <p:par>
                                <p:cTn id="96" presetID="53" presetClass="entr" presetSubtype="16" fill="hold" grpId="0" nodeType="withEffect">
                                  <p:stCondLst>
                                    <p:cond delay="585"/>
                                  </p:stCondLst>
                                  <p:childTnLst>
                                    <p:set>
                                      <p:cBhvr>
                                        <p:cTn id="97" dur="1" fill="hold">
                                          <p:stCondLst>
                                            <p:cond delay="0"/>
                                          </p:stCondLst>
                                        </p:cTn>
                                        <p:tgtEl>
                                          <p:spTgt spid="114"/>
                                        </p:tgtEl>
                                        <p:attrNameLst>
                                          <p:attrName>style.visibility</p:attrName>
                                        </p:attrNameLst>
                                      </p:cBhvr>
                                      <p:to>
                                        <p:strVal val="visible"/>
                                      </p:to>
                                    </p:set>
                                    <p:anim calcmode="lin" valueType="num">
                                      <p:cBhvr additive="base">
                                        <p:cTn id="98" dur="300" decel="100000" fill="hold"/>
                                        <p:tgtEl>
                                          <p:spTgt spid="114"/>
                                        </p:tgtEl>
                                        <p:attrNameLst>
                                          <p:attrName>ppt_w</p:attrName>
                                        </p:attrNameLst>
                                      </p:cBhvr>
                                      <p:tavLst>
                                        <p:tav tm="0">
                                          <p:val>
                                            <p:strVal val="#ppt_w*0.3"/>
                                          </p:val>
                                        </p:tav>
                                        <p:tav tm="100000">
                                          <p:val>
                                            <p:strVal val="#ppt_w*1.08"/>
                                          </p:val>
                                        </p:tav>
                                      </p:tavLst>
                                    </p:anim>
                                    <p:anim calcmode="lin" valueType="num">
                                      <p:cBhvr additive="base">
                                        <p:cTn id="99" dur="300" decel="100000" fill="hold"/>
                                        <p:tgtEl>
                                          <p:spTgt spid="114"/>
                                        </p:tgtEl>
                                        <p:attrNameLst>
                                          <p:attrName>ppt_h</p:attrName>
                                        </p:attrNameLst>
                                      </p:cBhvr>
                                      <p:tavLst>
                                        <p:tav tm="0">
                                          <p:val>
                                            <p:strVal val="#ppt_h*0.3"/>
                                          </p:val>
                                        </p:tav>
                                        <p:tav tm="100000">
                                          <p:val>
                                            <p:strVal val="#ppt_h*1.08"/>
                                          </p:val>
                                        </p:tav>
                                      </p:tavLst>
                                    </p:anim>
                                    <p:animEffect transition="in" filter="fade">
                                      <p:cBhvr>
                                        <p:cTn id="100" dur="150"/>
                                        <p:tgtEl>
                                          <p:spTgt spid="114"/>
                                        </p:tgtEl>
                                      </p:cBhvr>
                                    </p:animEffect>
                                    <p:anim calcmode="lin" valueType="num">
                                      <p:cBhvr additive="base">
                                        <p:cTn id="101" dur="160" fill="hold">
                                          <p:stCondLst>
                                            <p:cond delay="300"/>
                                          </p:stCondLst>
                                        </p:cTn>
                                        <p:tgtEl>
                                          <p:spTgt spid="114"/>
                                        </p:tgtEl>
                                        <p:attrNameLst>
                                          <p:attrName>ppt_w</p:attrName>
                                        </p:attrNameLst>
                                      </p:cBhvr>
                                      <p:tavLst>
                                        <p:tav tm="0">
                                          <p:val>
                                            <p:strVal val="#ppt_w*1.08"/>
                                          </p:val>
                                        </p:tav>
                                        <p:tav tm="100000">
                                          <p:val>
                                            <p:strVal val="#ppt_w"/>
                                          </p:val>
                                        </p:tav>
                                      </p:tavLst>
                                    </p:anim>
                                    <p:anim calcmode="lin" valueType="num">
                                      <p:cBhvr additive="base">
                                        <p:cTn id="102" dur="160" fill="hold">
                                          <p:stCondLst>
                                            <p:cond delay="300"/>
                                          </p:stCondLst>
                                        </p:cTn>
                                        <p:tgtEl>
                                          <p:spTgt spid="114"/>
                                        </p:tgtEl>
                                        <p:attrNameLst>
                                          <p:attrName>ppt_h</p:attrName>
                                        </p:attrNameLst>
                                      </p:cBhvr>
                                      <p:tavLst>
                                        <p:tav tm="0">
                                          <p:val>
                                            <p:strVal val="#ppt_h*1.08"/>
                                          </p:val>
                                        </p:tav>
                                        <p:tav tm="100000">
                                          <p:val>
                                            <p:strVal val="#ppt_h"/>
                                          </p:val>
                                        </p:tav>
                                      </p:tavLst>
                                    </p:anim>
                                  </p:childTnLst>
                                </p:cTn>
                              </p:par>
                              <p:par>
                                <p:cTn id="103" presetID="53" presetClass="entr" presetSubtype="16" fill="hold" grpId="0" nodeType="withEffect">
                                  <p:stCondLst>
                                    <p:cond delay="630"/>
                                  </p:stCondLst>
                                  <p:childTnLst>
                                    <p:set>
                                      <p:cBhvr>
                                        <p:cTn id="104" dur="1" fill="hold">
                                          <p:stCondLst>
                                            <p:cond delay="0"/>
                                          </p:stCondLst>
                                        </p:cTn>
                                        <p:tgtEl>
                                          <p:spTgt spid="115"/>
                                        </p:tgtEl>
                                        <p:attrNameLst>
                                          <p:attrName>style.visibility</p:attrName>
                                        </p:attrNameLst>
                                      </p:cBhvr>
                                      <p:to>
                                        <p:strVal val="visible"/>
                                      </p:to>
                                    </p:set>
                                    <p:anim calcmode="lin" valueType="num">
                                      <p:cBhvr additive="base">
                                        <p:cTn id="105" dur="3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106" dur="300" decel="100000" fill="hold"/>
                                        <p:tgtEl>
                                          <p:spTgt spid="115"/>
                                        </p:tgtEl>
                                        <p:attrNameLst>
                                          <p:attrName>ppt_h</p:attrName>
                                        </p:attrNameLst>
                                      </p:cBhvr>
                                      <p:tavLst>
                                        <p:tav tm="0">
                                          <p:val>
                                            <p:strVal val="#ppt_h*0.3"/>
                                          </p:val>
                                        </p:tav>
                                        <p:tav tm="100000">
                                          <p:val>
                                            <p:strVal val="#ppt_h*1.08"/>
                                          </p:val>
                                        </p:tav>
                                      </p:tavLst>
                                    </p:anim>
                                    <p:animEffect transition="in" filter="fade">
                                      <p:cBhvr>
                                        <p:cTn id="107" dur="150"/>
                                        <p:tgtEl>
                                          <p:spTgt spid="115"/>
                                        </p:tgtEl>
                                      </p:cBhvr>
                                    </p:animEffect>
                                    <p:anim calcmode="lin" valueType="num">
                                      <p:cBhvr additive="base">
                                        <p:cTn id="108" dur="160" fill="hold">
                                          <p:stCondLst>
                                            <p:cond delay="300"/>
                                          </p:stCondLst>
                                        </p:cTn>
                                        <p:tgtEl>
                                          <p:spTgt spid="115"/>
                                        </p:tgtEl>
                                        <p:attrNameLst>
                                          <p:attrName>ppt_w</p:attrName>
                                        </p:attrNameLst>
                                      </p:cBhvr>
                                      <p:tavLst>
                                        <p:tav tm="0">
                                          <p:val>
                                            <p:strVal val="#ppt_w*1.08"/>
                                          </p:val>
                                        </p:tav>
                                        <p:tav tm="100000">
                                          <p:val>
                                            <p:strVal val="#ppt_w"/>
                                          </p:val>
                                        </p:tav>
                                      </p:tavLst>
                                    </p:anim>
                                    <p:anim calcmode="lin" valueType="num">
                                      <p:cBhvr additive="base">
                                        <p:cTn id="109" dur="160" fill="hold">
                                          <p:stCondLst>
                                            <p:cond delay="300"/>
                                          </p:stCondLst>
                                        </p:cTn>
                                        <p:tgtEl>
                                          <p:spTgt spid="115"/>
                                        </p:tgtEl>
                                        <p:attrNameLst>
                                          <p:attrName>ppt_h</p:attrName>
                                        </p:attrNameLst>
                                      </p:cBhvr>
                                      <p:tavLst>
                                        <p:tav tm="0">
                                          <p:val>
                                            <p:strVal val="#ppt_h*1.08"/>
                                          </p:val>
                                        </p:tav>
                                        <p:tav tm="100000">
                                          <p:val>
                                            <p:strVal val="#ppt_h"/>
                                          </p:val>
                                        </p:tav>
                                      </p:tavLst>
                                    </p:anim>
                                  </p:childTnLst>
                                </p:cTn>
                              </p:par>
                              <p:par>
                                <p:cTn id="110" presetID="53" presetClass="entr" presetSubtype="16" fill="hold" grpId="0" nodeType="withEffect">
                                  <p:stCondLst>
                                    <p:cond delay="675"/>
                                  </p:stCondLst>
                                  <p:childTnLst>
                                    <p:set>
                                      <p:cBhvr>
                                        <p:cTn id="111" dur="1" fill="hold">
                                          <p:stCondLst>
                                            <p:cond delay="0"/>
                                          </p:stCondLst>
                                        </p:cTn>
                                        <p:tgtEl>
                                          <p:spTgt spid="116"/>
                                        </p:tgtEl>
                                        <p:attrNameLst>
                                          <p:attrName>style.visibility</p:attrName>
                                        </p:attrNameLst>
                                      </p:cBhvr>
                                      <p:to>
                                        <p:strVal val="visible"/>
                                      </p:to>
                                    </p:set>
                                    <p:anim calcmode="lin" valueType="num">
                                      <p:cBhvr additive="base">
                                        <p:cTn id="112" dur="300" decel="100000" fill="hold"/>
                                        <p:tgtEl>
                                          <p:spTgt spid="116"/>
                                        </p:tgtEl>
                                        <p:attrNameLst>
                                          <p:attrName>ppt_w</p:attrName>
                                        </p:attrNameLst>
                                      </p:cBhvr>
                                      <p:tavLst>
                                        <p:tav tm="0">
                                          <p:val>
                                            <p:strVal val="#ppt_w*0.3"/>
                                          </p:val>
                                        </p:tav>
                                        <p:tav tm="100000">
                                          <p:val>
                                            <p:strVal val="#ppt_w*1.08"/>
                                          </p:val>
                                        </p:tav>
                                      </p:tavLst>
                                    </p:anim>
                                    <p:anim calcmode="lin" valueType="num">
                                      <p:cBhvr additive="base">
                                        <p:cTn id="113" dur="300" decel="100000" fill="hold"/>
                                        <p:tgtEl>
                                          <p:spTgt spid="116"/>
                                        </p:tgtEl>
                                        <p:attrNameLst>
                                          <p:attrName>ppt_h</p:attrName>
                                        </p:attrNameLst>
                                      </p:cBhvr>
                                      <p:tavLst>
                                        <p:tav tm="0">
                                          <p:val>
                                            <p:strVal val="#ppt_h*0.3"/>
                                          </p:val>
                                        </p:tav>
                                        <p:tav tm="100000">
                                          <p:val>
                                            <p:strVal val="#ppt_h*1.08"/>
                                          </p:val>
                                        </p:tav>
                                      </p:tavLst>
                                    </p:anim>
                                    <p:animEffect transition="in" filter="fade">
                                      <p:cBhvr>
                                        <p:cTn id="114" dur="150"/>
                                        <p:tgtEl>
                                          <p:spTgt spid="116"/>
                                        </p:tgtEl>
                                      </p:cBhvr>
                                    </p:animEffect>
                                    <p:anim calcmode="lin" valueType="num">
                                      <p:cBhvr additive="base">
                                        <p:cTn id="115" dur="160" fill="hold">
                                          <p:stCondLst>
                                            <p:cond delay="300"/>
                                          </p:stCondLst>
                                        </p:cTn>
                                        <p:tgtEl>
                                          <p:spTgt spid="116"/>
                                        </p:tgtEl>
                                        <p:attrNameLst>
                                          <p:attrName>ppt_w</p:attrName>
                                        </p:attrNameLst>
                                      </p:cBhvr>
                                      <p:tavLst>
                                        <p:tav tm="0">
                                          <p:val>
                                            <p:strVal val="#ppt_w*1.08"/>
                                          </p:val>
                                        </p:tav>
                                        <p:tav tm="100000">
                                          <p:val>
                                            <p:strVal val="#ppt_w"/>
                                          </p:val>
                                        </p:tav>
                                      </p:tavLst>
                                    </p:anim>
                                    <p:anim calcmode="lin" valueType="num">
                                      <p:cBhvr additive="base">
                                        <p:cTn id="116" dur="160" fill="hold">
                                          <p:stCondLst>
                                            <p:cond delay="300"/>
                                          </p:stCondLst>
                                        </p:cTn>
                                        <p:tgtEl>
                                          <p:spTgt spid="116"/>
                                        </p:tgtEl>
                                        <p:attrNameLst>
                                          <p:attrName>ppt_h</p:attrName>
                                        </p:attrNameLst>
                                      </p:cBhvr>
                                      <p:tavLst>
                                        <p:tav tm="0">
                                          <p:val>
                                            <p:strVal val="#ppt_h*1.08"/>
                                          </p:val>
                                        </p:tav>
                                        <p:tav tm="100000">
                                          <p:val>
                                            <p:strVal val="#ppt_h"/>
                                          </p:val>
                                        </p:tav>
                                      </p:tavLst>
                                    </p:anim>
                                  </p:childTnLst>
                                </p:cTn>
                              </p:par>
                              <p:par>
                                <p:cTn id="117" presetID="53" presetClass="entr" presetSubtype="16" fill="hold" grpId="0" nodeType="withEffect">
                                  <p:stCondLst>
                                    <p:cond delay="720"/>
                                  </p:stCondLst>
                                  <p:childTnLst>
                                    <p:set>
                                      <p:cBhvr>
                                        <p:cTn id="118" dur="1" fill="hold">
                                          <p:stCondLst>
                                            <p:cond delay="0"/>
                                          </p:stCondLst>
                                        </p:cTn>
                                        <p:tgtEl>
                                          <p:spTgt spid="117"/>
                                        </p:tgtEl>
                                        <p:attrNameLst>
                                          <p:attrName>style.visibility</p:attrName>
                                        </p:attrNameLst>
                                      </p:cBhvr>
                                      <p:to>
                                        <p:strVal val="visible"/>
                                      </p:to>
                                    </p:set>
                                    <p:anim calcmode="lin" valueType="num">
                                      <p:cBhvr additive="base">
                                        <p:cTn id="119" dur="300" decel="100000" fill="hold"/>
                                        <p:tgtEl>
                                          <p:spTgt spid="117"/>
                                        </p:tgtEl>
                                        <p:attrNameLst>
                                          <p:attrName>ppt_w</p:attrName>
                                        </p:attrNameLst>
                                      </p:cBhvr>
                                      <p:tavLst>
                                        <p:tav tm="0">
                                          <p:val>
                                            <p:strVal val="#ppt_w*0.3"/>
                                          </p:val>
                                        </p:tav>
                                        <p:tav tm="100000">
                                          <p:val>
                                            <p:strVal val="#ppt_w*1.08"/>
                                          </p:val>
                                        </p:tav>
                                      </p:tavLst>
                                    </p:anim>
                                    <p:anim calcmode="lin" valueType="num">
                                      <p:cBhvr additive="base">
                                        <p:cTn id="120" dur="300" decel="100000" fill="hold"/>
                                        <p:tgtEl>
                                          <p:spTgt spid="117"/>
                                        </p:tgtEl>
                                        <p:attrNameLst>
                                          <p:attrName>ppt_h</p:attrName>
                                        </p:attrNameLst>
                                      </p:cBhvr>
                                      <p:tavLst>
                                        <p:tav tm="0">
                                          <p:val>
                                            <p:strVal val="#ppt_h*0.3"/>
                                          </p:val>
                                        </p:tav>
                                        <p:tav tm="100000">
                                          <p:val>
                                            <p:strVal val="#ppt_h*1.08"/>
                                          </p:val>
                                        </p:tav>
                                      </p:tavLst>
                                    </p:anim>
                                    <p:animEffect transition="in" filter="fade">
                                      <p:cBhvr>
                                        <p:cTn id="121" dur="150"/>
                                        <p:tgtEl>
                                          <p:spTgt spid="117"/>
                                        </p:tgtEl>
                                      </p:cBhvr>
                                    </p:animEffect>
                                    <p:anim calcmode="lin" valueType="num">
                                      <p:cBhvr additive="base">
                                        <p:cTn id="122" dur="160" fill="hold">
                                          <p:stCondLst>
                                            <p:cond delay="300"/>
                                          </p:stCondLst>
                                        </p:cTn>
                                        <p:tgtEl>
                                          <p:spTgt spid="117"/>
                                        </p:tgtEl>
                                        <p:attrNameLst>
                                          <p:attrName>ppt_w</p:attrName>
                                        </p:attrNameLst>
                                      </p:cBhvr>
                                      <p:tavLst>
                                        <p:tav tm="0">
                                          <p:val>
                                            <p:strVal val="#ppt_w*1.08"/>
                                          </p:val>
                                        </p:tav>
                                        <p:tav tm="100000">
                                          <p:val>
                                            <p:strVal val="#ppt_w"/>
                                          </p:val>
                                        </p:tav>
                                      </p:tavLst>
                                    </p:anim>
                                    <p:anim calcmode="lin" valueType="num">
                                      <p:cBhvr additive="base">
                                        <p:cTn id="123" dur="160" fill="hold">
                                          <p:stCondLst>
                                            <p:cond delay="300"/>
                                          </p:stCondLst>
                                        </p:cTn>
                                        <p:tgtEl>
                                          <p:spTgt spid="117"/>
                                        </p:tgtEl>
                                        <p:attrNameLst>
                                          <p:attrName>ppt_h</p:attrName>
                                        </p:attrNameLst>
                                      </p:cBhvr>
                                      <p:tavLst>
                                        <p:tav tm="0">
                                          <p:val>
                                            <p:strVal val="#ppt_h*1.08"/>
                                          </p:val>
                                        </p:tav>
                                        <p:tav tm="100000">
                                          <p:val>
                                            <p:strVal val="#ppt_h"/>
                                          </p:val>
                                        </p:tav>
                                      </p:tavLst>
                                    </p:anim>
                                  </p:childTnLst>
                                </p:cTn>
                              </p:par>
                              <p:par>
                                <p:cTn id="124" presetID="53" presetClass="entr" presetSubtype="16" fill="hold" grpId="0" nodeType="withEffect">
                                  <p:stCondLst>
                                    <p:cond delay="765"/>
                                  </p:stCondLst>
                                  <p:childTnLst>
                                    <p:set>
                                      <p:cBhvr>
                                        <p:cTn id="125" dur="1" fill="hold">
                                          <p:stCondLst>
                                            <p:cond delay="0"/>
                                          </p:stCondLst>
                                        </p:cTn>
                                        <p:tgtEl>
                                          <p:spTgt spid="118"/>
                                        </p:tgtEl>
                                        <p:attrNameLst>
                                          <p:attrName>style.visibility</p:attrName>
                                        </p:attrNameLst>
                                      </p:cBhvr>
                                      <p:to>
                                        <p:strVal val="visible"/>
                                      </p:to>
                                    </p:set>
                                    <p:anim calcmode="lin" valueType="num">
                                      <p:cBhvr additive="base">
                                        <p:cTn id="126" dur="300" decel="100000" fill="hold"/>
                                        <p:tgtEl>
                                          <p:spTgt spid="118"/>
                                        </p:tgtEl>
                                        <p:attrNameLst>
                                          <p:attrName>ppt_w</p:attrName>
                                        </p:attrNameLst>
                                      </p:cBhvr>
                                      <p:tavLst>
                                        <p:tav tm="0">
                                          <p:val>
                                            <p:strVal val="#ppt_w*0.3"/>
                                          </p:val>
                                        </p:tav>
                                        <p:tav tm="100000">
                                          <p:val>
                                            <p:strVal val="#ppt_w*1.08"/>
                                          </p:val>
                                        </p:tav>
                                      </p:tavLst>
                                    </p:anim>
                                    <p:anim calcmode="lin" valueType="num">
                                      <p:cBhvr additive="base">
                                        <p:cTn id="127" dur="300" decel="100000" fill="hold"/>
                                        <p:tgtEl>
                                          <p:spTgt spid="118"/>
                                        </p:tgtEl>
                                        <p:attrNameLst>
                                          <p:attrName>ppt_h</p:attrName>
                                        </p:attrNameLst>
                                      </p:cBhvr>
                                      <p:tavLst>
                                        <p:tav tm="0">
                                          <p:val>
                                            <p:strVal val="#ppt_h*0.3"/>
                                          </p:val>
                                        </p:tav>
                                        <p:tav tm="100000">
                                          <p:val>
                                            <p:strVal val="#ppt_h*1.08"/>
                                          </p:val>
                                        </p:tav>
                                      </p:tavLst>
                                    </p:anim>
                                    <p:animEffect transition="in" filter="fade">
                                      <p:cBhvr>
                                        <p:cTn id="128" dur="150"/>
                                        <p:tgtEl>
                                          <p:spTgt spid="118"/>
                                        </p:tgtEl>
                                      </p:cBhvr>
                                    </p:animEffect>
                                    <p:anim calcmode="lin" valueType="num">
                                      <p:cBhvr additive="base">
                                        <p:cTn id="129" dur="160" fill="hold">
                                          <p:stCondLst>
                                            <p:cond delay="300"/>
                                          </p:stCondLst>
                                        </p:cTn>
                                        <p:tgtEl>
                                          <p:spTgt spid="118"/>
                                        </p:tgtEl>
                                        <p:attrNameLst>
                                          <p:attrName>ppt_w</p:attrName>
                                        </p:attrNameLst>
                                      </p:cBhvr>
                                      <p:tavLst>
                                        <p:tav tm="0">
                                          <p:val>
                                            <p:strVal val="#ppt_w*1.08"/>
                                          </p:val>
                                        </p:tav>
                                        <p:tav tm="100000">
                                          <p:val>
                                            <p:strVal val="#ppt_w"/>
                                          </p:val>
                                        </p:tav>
                                      </p:tavLst>
                                    </p:anim>
                                    <p:anim calcmode="lin" valueType="num">
                                      <p:cBhvr additive="base">
                                        <p:cTn id="130" dur="160" fill="hold">
                                          <p:stCondLst>
                                            <p:cond delay="300"/>
                                          </p:stCondLst>
                                        </p:cTn>
                                        <p:tgtEl>
                                          <p:spTgt spid="118"/>
                                        </p:tgtEl>
                                        <p:attrNameLst>
                                          <p:attrName>ppt_h</p:attrName>
                                        </p:attrNameLst>
                                      </p:cBhvr>
                                      <p:tavLst>
                                        <p:tav tm="0">
                                          <p:val>
                                            <p:strVal val="#ppt_h*1.08"/>
                                          </p:val>
                                        </p:tav>
                                        <p:tav tm="100000">
                                          <p:val>
                                            <p:strVal val="#ppt_h"/>
                                          </p:val>
                                        </p:tav>
                                      </p:tavLst>
                                    </p:anim>
                                  </p:childTnLst>
                                </p:cTn>
                              </p:par>
                              <p:par>
                                <p:cTn id="131" presetID="10" presetClass="entr" presetSubtype="0" fill="hold" grpId="0" nodeType="withEffect">
                                  <p:stCondLst>
                                    <p:cond delay="965"/>
                                  </p:stCondLst>
                                  <p:childTnLst>
                                    <p:set>
                                      <p:cBhvr>
                                        <p:cTn id="132" dur="1" fill="hold">
                                          <p:stCondLst>
                                            <p:cond delay="0"/>
                                          </p:stCondLst>
                                        </p:cTn>
                                        <p:tgtEl>
                                          <p:spTgt spid="119"/>
                                        </p:tgtEl>
                                        <p:attrNameLst>
                                          <p:attrName>style.visibility</p:attrName>
                                        </p:attrNameLst>
                                      </p:cBhvr>
                                      <p:to>
                                        <p:strVal val="visible"/>
                                      </p:to>
                                    </p:set>
                                    <p:animEffect transition="in" filter="fade">
                                      <p:cBhvr>
                                        <p:cTn id="133" dur="500"/>
                                        <p:tgtEl>
                                          <p:spTgt spid="119"/>
                                        </p:tgtEl>
                                      </p:cBhvr>
                                    </p:animEffect>
                                  </p:childTnLst>
                                </p:cTn>
                              </p:par>
                            </p:childTnLst>
                          </p:cTn>
                        </p:par>
                      </p:childTnLst>
                    </p:cTn>
                  </p:par>
                  <p:par>
                    <p:cTn id="134" fill="hold">
                      <p:stCondLst>
                        <p:cond delay="indefinite"/>
                      </p:stCondLst>
                      <p:childTnLst>
                        <p:par>
                          <p:cTn id="135" fill="hold">
                            <p:stCondLst>
                              <p:cond delay="0"/>
                            </p:stCondLst>
                            <p:childTnLst>
                              <p:par>
                                <p:cTn id="136" presetID="53" presetClass="entr" presetSubtype="16" fill="hold" grpId="0" nodeType="clickEffect">
                                  <p:stCondLst>
                                    <p:cond delay="0"/>
                                  </p:stCondLst>
                                  <p:childTnLst>
                                    <p:set>
                                      <p:cBhvr>
                                        <p:cTn id="137" dur="1" fill="hold">
                                          <p:stCondLst>
                                            <p:cond delay="0"/>
                                          </p:stCondLst>
                                        </p:cTn>
                                        <p:tgtEl>
                                          <p:spTgt spid="120"/>
                                        </p:tgtEl>
                                        <p:attrNameLst>
                                          <p:attrName>style.visibility</p:attrName>
                                        </p:attrNameLst>
                                      </p:cBhvr>
                                      <p:to>
                                        <p:strVal val="visible"/>
                                      </p:to>
                                    </p:set>
                                    <p:anim calcmode="lin" valueType="num">
                                      <p:cBhvr additive="base">
                                        <p:cTn id="138" dur="500" decel="100000" fill="hold"/>
                                        <p:tgtEl>
                                          <p:spTgt spid="120"/>
                                        </p:tgtEl>
                                        <p:attrNameLst>
                                          <p:attrName>ppt_w</p:attrName>
                                        </p:attrNameLst>
                                      </p:cBhvr>
                                      <p:tavLst>
                                        <p:tav tm="0">
                                          <p:val>
                                            <p:strVal val="#ppt_w*0.55"/>
                                          </p:val>
                                        </p:tav>
                                        <p:tav tm="100000">
                                          <p:val>
                                            <p:strVal val="#ppt_w"/>
                                          </p:val>
                                        </p:tav>
                                      </p:tavLst>
                                    </p:anim>
                                    <p:anim calcmode="lin" valueType="num">
                                      <p:cBhvr additive="base">
                                        <p:cTn id="139" dur="500" decel="100000" fill="hold"/>
                                        <p:tgtEl>
                                          <p:spTgt spid="120"/>
                                        </p:tgtEl>
                                        <p:attrNameLst>
                                          <p:attrName>ppt_h</p:attrName>
                                        </p:attrNameLst>
                                      </p:cBhvr>
                                      <p:tavLst>
                                        <p:tav tm="0">
                                          <p:val>
                                            <p:strVal val="#ppt_h*0.55"/>
                                          </p:val>
                                        </p:tav>
                                        <p:tav tm="100000">
                                          <p:val>
                                            <p:strVal val="#ppt_h"/>
                                          </p:val>
                                        </p:tav>
                                      </p:tavLst>
                                    </p:anim>
                                    <p:animEffect transition="in" filter="fade">
                                      <p:cBhvr>
                                        <p:cTn id="140" dur="500"/>
                                        <p:tgtEl>
                                          <p:spTgt spid="120"/>
                                        </p:tgtEl>
                                      </p:cBhvr>
                                    </p:animEffect>
                                  </p:childTnLst>
                                </p:cTn>
                              </p:par>
                              <p:par>
                                <p:cTn id="141" presetID="53" presetClass="entr" presetSubtype="16" fill="hold" grpId="0" nodeType="withEffect">
                                  <p:stCondLst>
                                    <p:cond delay="0"/>
                                  </p:stCondLst>
                                  <p:childTnLst>
                                    <p:set>
                                      <p:cBhvr>
                                        <p:cTn id="142" dur="1" fill="hold">
                                          <p:stCondLst>
                                            <p:cond delay="0"/>
                                          </p:stCondLst>
                                        </p:cTn>
                                        <p:tgtEl>
                                          <p:spTgt spid="121"/>
                                        </p:tgtEl>
                                        <p:attrNameLst>
                                          <p:attrName>style.visibility</p:attrName>
                                        </p:attrNameLst>
                                      </p:cBhvr>
                                      <p:to>
                                        <p:strVal val="visible"/>
                                      </p:to>
                                    </p:set>
                                    <p:anim calcmode="lin" valueType="num">
                                      <p:cBhvr additive="base">
                                        <p:cTn id="143" dur="500" decel="100000" fill="hold"/>
                                        <p:tgtEl>
                                          <p:spTgt spid="121"/>
                                        </p:tgtEl>
                                        <p:attrNameLst>
                                          <p:attrName>ppt_w</p:attrName>
                                        </p:attrNameLst>
                                      </p:cBhvr>
                                      <p:tavLst>
                                        <p:tav tm="0">
                                          <p:val>
                                            <p:strVal val="#ppt_w*0.55"/>
                                          </p:val>
                                        </p:tav>
                                        <p:tav tm="100000">
                                          <p:val>
                                            <p:strVal val="#ppt_w"/>
                                          </p:val>
                                        </p:tav>
                                      </p:tavLst>
                                    </p:anim>
                                    <p:anim calcmode="lin" valueType="num">
                                      <p:cBhvr additive="base">
                                        <p:cTn id="144" dur="500" decel="100000" fill="hold"/>
                                        <p:tgtEl>
                                          <p:spTgt spid="121"/>
                                        </p:tgtEl>
                                        <p:attrNameLst>
                                          <p:attrName>ppt_h</p:attrName>
                                        </p:attrNameLst>
                                      </p:cBhvr>
                                      <p:tavLst>
                                        <p:tav tm="0">
                                          <p:val>
                                            <p:strVal val="#ppt_h*0.55"/>
                                          </p:val>
                                        </p:tav>
                                        <p:tav tm="100000">
                                          <p:val>
                                            <p:strVal val="#ppt_h"/>
                                          </p:val>
                                        </p:tav>
                                      </p:tavLst>
                                    </p:anim>
                                    <p:animEffect transition="in" filter="fade">
                                      <p:cBhvr>
                                        <p:cTn id="145" dur="500"/>
                                        <p:tgtEl>
                                          <p:spTgt spid="121"/>
                                        </p:tgtEl>
                                      </p:cBhvr>
                                    </p:animEffect>
                                  </p:childTnLst>
                                </p:cTn>
                              </p:par>
                              <p:par>
                                <p:cTn id="146" presetID="53" presetClass="entr" presetSubtype="16" fill="hold" grpId="0" nodeType="withEffect">
                                  <p:stCondLst>
                                    <p:cond delay="0"/>
                                  </p:stCondLst>
                                  <p:childTnLst>
                                    <p:set>
                                      <p:cBhvr>
                                        <p:cTn id="147" dur="1" fill="hold">
                                          <p:stCondLst>
                                            <p:cond delay="0"/>
                                          </p:stCondLst>
                                        </p:cTn>
                                        <p:tgtEl>
                                          <p:spTgt spid="122"/>
                                        </p:tgtEl>
                                        <p:attrNameLst>
                                          <p:attrName>style.visibility</p:attrName>
                                        </p:attrNameLst>
                                      </p:cBhvr>
                                      <p:to>
                                        <p:strVal val="visible"/>
                                      </p:to>
                                    </p:set>
                                    <p:anim calcmode="lin" valueType="num">
                                      <p:cBhvr additive="base">
                                        <p:cTn id="148" dur="500" decel="100000" fill="hold"/>
                                        <p:tgtEl>
                                          <p:spTgt spid="122"/>
                                        </p:tgtEl>
                                        <p:attrNameLst>
                                          <p:attrName>ppt_w</p:attrName>
                                        </p:attrNameLst>
                                      </p:cBhvr>
                                      <p:tavLst>
                                        <p:tav tm="0">
                                          <p:val>
                                            <p:strVal val="#ppt_w*0.55"/>
                                          </p:val>
                                        </p:tav>
                                        <p:tav tm="100000">
                                          <p:val>
                                            <p:strVal val="#ppt_w"/>
                                          </p:val>
                                        </p:tav>
                                      </p:tavLst>
                                    </p:anim>
                                    <p:anim calcmode="lin" valueType="num">
                                      <p:cBhvr additive="base">
                                        <p:cTn id="149" dur="500" decel="100000" fill="hold"/>
                                        <p:tgtEl>
                                          <p:spTgt spid="122"/>
                                        </p:tgtEl>
                                        <p:attrNameLst>
                                          <p:attrName>ppt_h</p:attrName>
                                        </p:attrNameLst>
                                      </p:cBhvr>
                                      <p:tavLst>
                                        <p:tav tm="0">
                                          <p:val>
                                            <p:strVal val="#ppt_h*0.55"/>
                                          </p:val>
                                        </p:tav>
                                        <p:tav tm="100000">
                                          <p:val>
                                            <p:strVal val="#ppt_h"/>
                                          </p:val>
                                        </p:tav>
                                      </p:tavLst>
                                    </p:anim>
                                    <p:animEffect transition="in" filter="fade">
                                      <p:cBhvr>
                                        <p:cTn id="150" dur="500"/>
                                        <p:tgtEl>
                                          <p:spTgt spid="122"/>
                                        </p:tgtEl>
                                      </p:cBhvr>
                                    </p:animEffect>
                                  </p:childTnLst>
                                </p:cTn>
                              </p:par>
                            </p:childTnLst>
                          </p:cTn>
                        </p:par>
                      </p:childTnLst>
                    </p:cTn>
                  </p:par>
                  <p:par>
                    <p:cTn id="151" fill="hold">
                      <p:stCondLst>
                        <p:cond delay="indefinite"/>
                      </p:stCondLst>
                      <p:childTnLst>
                        <p:par>
                          <p:cTn id="152" fill="hold">
                            <p:stCondLst>
                              <p:cond delay="0"/>
                            </p:stCondLst>
                            <p:childTnLst>
                              <p:par>
                                <p:cTn id="153" presetID="42" presetClass="entr" presetSubtype="0" fill="hold" grpId="0" nodeType="clickEffect">
                                  <p:stCondLst>
                                    <p:cond delay="0"/>
                                  </p:stCondLst>
                                  <p:childTnLst>
                                    <p:set>
                                      <p:cBhvr>
                                        <p:cTn id="154" dur="1" fill="hold">
                                          <p:stCondLst>
                                            <p:cond delay="0"/>
                                          </p:stCondLst>
                                        </p:cTn>
                                        <p:tgtEl>
                                          <p:spTgt spid="123"/>
                                        </p:tgtEl>
                                        <p:attrNameLst>
                                          <p:attrName>style.visibility</p:attrName>
                                        </p:attrNameLst>
                                      </p:cBhvr>
                                      <p:to>
                                        <p:strVal val="visible"/>
                                      </p:to>
                                    </p:set>
                                    <p:animEffect transition="in" filter="fade">
                                      <p:cBhvr>
                                        <p:cTn id="155" dur="500"/>
                                        <p:tgtEl>
                                          <p:spTgt spid="123"/>
                                        </p:tgtEl>
                                      </p:cBhvr>
                                    </p:animEffect>
                                    <p:anim calcmode="lin" valueType="num">
                                      <p:cBhvr additive="base">
                                        <p:cTn id="156" dur="500" decel="100000" fill="hold"/>
                                        <p:tgtEl>
                                          <p:spTgt spid="123"/>
                                        </p:tgtEl>
                                        <p:attrNameLst>
                                          <p:attrName>ppt_y</p:attrName>
                                        </p:attrNameLst>
                                      </p:cBhvr>
                                      <p:tavLst>
                                        <p:tav tm="0">
                                          <p:val>
                                            <p:strVal val="#ppt_y+0.06"/>
                                          </p:val>
                                        </p:tav>
                                        <p:tav tm="100000">
                                          <p:val>
                                            <p:strVal val="#ppt_y"/>
                                          </p:val>
                                        </p:tav>
                                      </p:tavLst>
                                    </p:anim>
                                  </p:childTnLst>
                                </p:cTn>
                              </p:par>
                              <p:par>
                                <p:cTn id="157" presetID="42" presetClass="entr" presetSubtype="0" fill="hold" grpId="0" nodeType="withEffect">
                                  <p:stCondLst>
                                    <p:cond delay="0"/>
                                  </p:stCondLst>
                                  <p:childTnLst>
                                    <p:set>
                                      <p:cBhvr>
                                        <p:cTn id="158" dur="1" fill="hold">
                                          <p:stCondLst>
                                            <p:cond delay="0"/>
                                          </p:stCondLst>
                                        </p:cTn>
                                        <p:tgtEl>
                                          <p:spTgt spid="124"/>
                                        </p:tgtEl>
                                        <p:attrNameLst>
                                          <p:attrName>style.visibility</p:attrName>
                                        </p:attrNameLst>
                                      </p:cBhvr>
                                      <p:to>
                                        <p:strVal val="visible"/>
                                      </p:to>
                                    </p:set>
                                    <p:animEffect transition="in" filter="fade">
                                      <p:cBhvr>
                                        <p:cTn id="159" dur="500"/>
                                        <p:tgtEl>
                                          <p:spTgt spid="124"/>
                                        </p:tgtEl>
                                      </p:cBhvr>
                                    </p:animEffect>
                                    <p:anim calcmode="lin" valueType="num">
                                      <p:cBhvr additive="base">
                                        <p:cTn id="160" dur="500" decel="100000" fill="hold"/>
                                        <p:tgtEl>
                                          <p:spTgt spid="124"/>
                                        </p:tgtEl>
                                        <p:attrNameLst>
                                          <p:attrName>ppt_y</p:attrName>
                                        </p:attrNameLst>
                                      </p:cBhvr>
                                      <p:tavLst>
                                        <p:tav tm="0">
                                          <p:val>
                                            <p:strVal val="#ppt_y+0.06"/>
                                          </p:val>
                                        </p:tav>
                                        <p:tav tm="100000">
                                          <p:val>
                                            <p:strVal val="#ppt_y"/>
                                          </p:val>
                                        </p:tav>
                                      </p:tavLst>
                                    </p:anim>
                                  </p:childTnLst>
                                </p:cTn>
                              </p:par>
                              <p:par>
                                <p:cTn id="161" presetID="42" presetClass="entr" presetSubtype="0" fill="hold" grpId="0" nodeType="withEffect">
                                  <p:stCondLst>
                                    <p:cond delay="0"/>
                                  </p:stCondLst>
                                  <p:childTnLst>
                                    <p:set>
                                      <p:cBhvr>
                                        <p:cTn id="162" dur="1" fill="hold">
                                          <p:stCondLst>
                                            <p:cond delay="0"/>
                                          </p:stCondLst>
                                        </p:cTn>
                                        <p:tgtEl>
                                          <p:spTgt spid="125"/>
                                        </p:tgtEl>
                                        <p:attrNameLst>
                                          <p:attrName>style.visibility</p:attrName>
                                        </p:attrNameLst>
                                      </p:cBhvr>
                                      <p:to>
                                        <p:strVal val="visible"/>
                                      </p:to>
                                    </p:set>
                                    <p:animEffect transition="in" filter="fade">
                                      <p:cBhvr>
                                        <p:cTn id="163" dur="500"/>
                                        <p:tgtEl>
                                          <p:spTgt spid="125"/>
                                        </p:tgtEl>
                                      </p:cBhvr>
                                    </p:animEffect>
                                    <p:anim calcmode="lin" valueType="num">
                                      <p:cBhvr additive="base">
                                        <p:cTn id="164" dur="500" decel="100000" fill="hold"/>
                                        <p:tgtEl>
                                          <p:spTgt spid="125"/>
                                        </p:tgtEl>
                                        <p:attrNameLst>
                                          <p:attrName>ppt_y</p:attrName>
                                        </p:attrNameLst>
                                      </p:cBhvr>
                                      <p:tavLst>
                                        <p:tav tm="0">
                                          <p:val>
                                            <p:strVal val="#ppt_y+0.06"/>
                                          </p:val>
                                        </p:tav>
                                        <p:tav tm="100000">
                                          <p:val>
                                            <p:strVal val="#ppt_y"/>
                                          </p:val>
                                        </p:tav>
                                      </p:tavLst>
                                    </p:anim>
                                  </p:childTnLst>
                                </p:cTn>
                              </p:par>
                              <p:par>
                                <p:cTn id="165" presetID="42" presetClass="entr" presetSubtype="0" fill="hold" grpId="0" nodeType="withEffect">
                                  <p:stCondLst>
                                    <p:cond delay="0"/>
                                  </p:stCondLst>
                                  <p:childTnLst>
                                    <p:set>
                                      <p:cBhvr>
                                        <p:cTn id="166" dur="1" fill="hold">
                                          <p:stCondLst>
                                            <p:cond delay="0"/>
                                          </p:stCondLst>
                                        </p:cTn>
                                        <p:tgtEl>
                                          <p:spTgt spid="126"/>
                                        </p:tgtEl>
                                        <p:attrNameLst>
                                          <p:attrName>style.visibility</p:attrName>
                                        </p:attrNameLst>
                                      </p:cBhvr>
                                      <p:to>
                                        <p:strVal val="visible"/>
                                      </p:to>
                                    </p:set>
                                    <p:animEffect transition="in" filter="fade">
                                      <p:cBhvr>
                                        <p:cTn id="167" dur="500"/>
                                        <p:tgtEl>
                                          <p:spTgt spid="126"/>
                                        </p:tgtEl>
                                      </p:cBhvr>
                                    </p:animEffect>
                                    <p:anim calcmode="lin" valueType="num">
                                      <p:cBhvr additive="base">
                                        <p:cTn id="168" dur="500" decel="100000" fill="hold"/>
                                        <p:tgtEl>
                                          <p:spTgt spid="126"/>
                                        </p:tgtEl>
                                        <p:attrNameLst>
                                          <p:attrName>ppt_y</p:attrName>
                                        </p:attrNameLst>
                                      </p:cBhvr>
                                      <p:tavLst>
                                        <p:tav tm="0">
                                          <p:val>
                                            <p:strVal val="#ppt_y+0.06"/>
                                          </p:val>
                                        </p:tav>
                                        <p:tav tm="100000">
                                          <p:val>
                                            <p:strVal val="#ppt_y"/>
                                          </p:val>
                                        </p:tav>
                                      </p:tavLst>
                                    </p:anim>
                                  </p:childTnLst>
                                </p:cTn>
                              </p:par>
                              <p:par>
                                <p:cTn id="169" presetID="42" presetClass="entr" presetSubtype="0" fill="hold" grpId="0" nodeType="withEffect">
                                  <p:stCondLst>
                                    <p:cond delay="0"/>
                                  </p:stCondLst>
                                  <p:childTnLst>
                                    <p:set>
                                      <p:cBhvr>
                                        <p:cTn id="170" dur="1" fill="hold">
                                          <p:stCondLst>
                                            <p:cond delay="0"/>
                                          </p:stCondLst>
                                        </p:cTn>
                                        <p:tgtEl>
                                          <p:spTgt spid="127"/>
                                        </p:tgtEl>
                                        <p:attrNameLst>
                                          <p:attrName>style.visibility</p:attrName>
                                        </p:attrNameLst>
                                      </p:cBhvr>
                                      <p:to>
                                        <p:strVal val="visible"/>
                                      </p:to>
                                    </p:set>
                                    <p:animEffect transition="in" filter="fade">
                                      <p:cBhvr>
                                        <p:cTn id="171" dur="500"/>
                                        <p:tgtEl>
                                          <p:spTgt spid="127"/>
                                        </p:tgtEl>
                                      </p:cBhvr>
                                    </p:animEffect>
                                    <p:anim calcmode="lin" valueType="num">
                                      <p:cBhvr additive="base">
                                        <p:cTn id="172" dur="500" decel="100000" fill="hold"/>
                                        <p:tgtEl>
                                          <p:spTgt spid="127"/>
                                        </p:tgtEl>
                                        <p:attrNameLst>
                                          <p:attrName>ppt_y</p:attrName>
                                        </p:attrNameLst>
                                      </p:cBhvr>
                                      <p:tavLst>
                                        <p:tav tm="0">
                                          <p:val>
                                            <p:strVal val="#ppt_y+0.06"/>
                                          </p:val>
                                        </p:tav>
                                        <p:tav tm="100000">
                                          <p:val>
                                            <p:strVal val="#ppt_y"/>
                                          </p:val>
                                        </p:tav>
                                      </p:tavLst>
                                    </p:anim>
                                  </p:childTnLst>
                                </p:cTn>
                              </p:par>
                              <p:par>
                                <p:cTn id="173" presetID="42" presetClass="entr" presetSubtype="0" fill="hold" nodeType="withEffect">
                                  <p:stCondLst>
                                    <p:cond delay="0"/>
                                  </p:stCondLst>
                                  <p:childTnLst>
                                    <p:set>
                                      <p:cBhvr>
                                        <p:cTn id="174" dur="1" fill="hold">
                                          <p:stCondLst>
                                            <p:cond delay="0"/>
                                          </p:stCondLst>
                                        </p:cTn>
                                        <p:tgtEl>
                                          <p:spTgt spid="128"/>
                                        </p:tgtEl>
                                        <p:attrNameLst>
                                          <p:attrName>style.visibility</p:attrName>
                                        </p:attrNameLst>
                                      </p:cBhvr>
                                      <p:to>
                                        <p:strVal val="visible"/>
                                      </p:to>
                                    </p:set>
                                    <p:animEffect transition="in" filter="fade">
                                      <p:cBhvr>
                                        <p:cTn id="175" dur="500"/>
                                        <p:tgtEl>
                                          <p:spTgt spid="128"/>
                                        </p:tgtEl>
                                      </p:cBhvr>
                                    </p:animEffect>
                                    <p:anim calcmode="lin" valueType="num">
                                      <p:cBhvr additive="base">
                                        <p:cTn id="176" dur="500" decel="100000" fill="hold"/>
                                        <p:tgtEl>
                                          <p:spTgt spid="128"/>
                                        </p:tgtEl>
                                        <p:attrNameLst>
                                          <p:attrName>ppt_y</p:attrName>
                                        </p:attrNameLst>
                                      </p:cBhvr>
                                      <p:tavLst>
                                        <p:tav tm="0">
                                          <p:val>
                                            <p:strVal val="#ppt_y+0.06"/>
                                          </p:val>
                                        </p:tav>
                                        <p:tav tm="100000">
                                          <p:val>
                                            <p:strVal val="#ppt_y"/>
                                          </p:val>
                                        </p:tav>
                                      </p:tavLst>
                                    </p:anim>
                                  </p:childTnLst>
                                </p:cTn>
                              </p:par>
                              <p:par>
                                <p:cTn id="177" presetID="42" presetClass="entr" presetSubtype="0" fill="hold" grpId="0" nodeType="withEffect">
                                  <p:stCondLst>
                                    <p:cond delay="0"/>
                                  </p:stCondLst>
                                  <p:childTnLst>
                                    <p:set>
                                      <p:cBhvr>
                                        <p:cTn id="178" dur="1" fill="hold">
                                          <p:stCondLst>
                                            <p:cond delay="0"/>
                                          </p:stCondLst>
                                        </p:cTn>
                                        <p:tgtEl>
                                          <p:spTgt spid="129"/>
                                        </p:tgtEl>
                                        <p:attrNameLst>
                                          <p:attrName>style.visibility</p:attrName>
                                        </p:attrNameLst>
                                      </p:cBhvr>
                                      <p:to>
                                        <p:strVal val="visible"/>
                                      </p:to>
                                    </p:set>
                                    <p:animEffect transition="in" filter="fade">
                                      <p:cBhvr>
                                        <p:cTn id="179" dur="500"/>
                                        <p:tgtEl>
                                          <p:spTgt spid="129"/>
                                        </p:tgtEl>
                                      </p:cBhvr>
                                    </p:animEffect>
                                    <p:anim calcmode="lin" valueType="num">
                                      <p:cBhvr additive="base">
                                        <p:cTn id="180" dur="500" decel="100000" fill="hold"/>
                                        <p:tgtEl>
                                          <p:spTgt spid="129"/>
                                        </p:tgtEl>
                                        <p:attrNameLst>
                                          <p:attrName>ppt_y</p:attrName>
                                        </p:attrNameLst>
                                      </p:cBhvr>
                                      <p:tavLst>
                                        <p:tav tm="0">
                                          <p:val>
                                            <p:strVal val="#ppt_y+0.06"/>
                                          </p:val>
                                        </p:tav>
                                        <p:tav tm="100000">
                                          <p:val>
                                            <p:strVal val="#ppt_y"/>
                                          </p:val>
                                        </p:tav>
                                      </p:tavLst>
                                    </p:anim>
                                  </p:childTnLst>
                                </p:cTn>
                              </p:par>
                              <p:par>
                                <p:cTn id="181" presetID="42" presetClass="entr" presetSubtype="0" fill="hold" grpId="0" nodeType="withEffect">
                                  <p:stCondLst>
                                    <p:cond delay="0"/>
                                  </p:stCondLst>
                                  <p:childTnLst>
                                    <p:set>
                                      <p:cBhvr>
                                        <p:cTn id="182" dur="1" fill="hold">
                                          <p:stCondLst>
                                            <p:cond delay="0"/>
                                          </p:stCondLst>
                                        </p:cTn>
                                        <p:tgtEl>
                                          <p:spTgt spid="130"/>
                                        </p:tgtEl>
                                        <p:attrNameLst>
                                          <p:attrName>style.visibility</p:attrName>
                                        </p:attrNameLst>
                                      </p:cBhvr>
                                      <p:to>
                                        <p:strVal val="visible"/>
                                      </p:to>
                                    </p:set>
                                    <p:animEffect transition="in" filter="fade">
                                      <p:cBhvr>
                                        <p:cTn id="183" dur="500"/>
                                        <p:tgtEl>
                                          <p:spTgt spid="130"/>
                                        </p:tgtEl>
                                      </p:cBhvr>
                                    </p:animEffect>
                                    <p:anim calcmode="lin" valueType="num">
                                      <p:cBhvr additive="base">
                                        <p:cTn id="184" dur="500" decel="100000" fill="hold"/>
                                        <p:tgtEl>
                                          <p:spTgt spid="130"/>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9" grpId="0" animBg="1"/>
      <p:bldP spid="130"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07085"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LIBRARIES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Moq vs NSubstitute vs FakeItEasy</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Same five jobs in three libraries. Learn one deeply, read the other two in minutes.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156</a:t>
            </a:r>
            <a:endParaRPr lang="en-US" sz="850" dirty="0"/>
          </a:p>
        </p:txBody>
      </p:sp>
      <p:sp>
        <p:nvSpPr>
          <p:cNvPr id="101" name="s101"/>
          <p:cNvSpPr txBox="1"/>
          <p:nvPr/>
        </p:nvSpPr>
        <p:spPr>
          <a:xfrm>
            <a:off x="652882" y="1810512"/>
            <a:ext cx="1965960" cy="274320"/>
          </a:xfrm>
          <a:prstGeom prst="rect">
            <a:avLst/>
          </a:prstGeom>
          <a:noFill/>
          <a:ln>
            <a:noFill/>
          </a:ln>
        </p:spPr>
        <p:txBody>
          <a:bodyPr wrap="square" lIns="0" tIns="0" rIns="0" bIns="0" rtlCol="0" anchor="t">
            <a:noAutofit/>
          </a:bodyPr>
          <a:lstStyle/>
          <a:p>
            <a:pPr marL="0" indent="0" algn="l">
              <a:spcBef>
                <a:spcPts val="0"/>
              </a:spcBef>
              <a:spcAft>
                <a:spcPts val="0"/>
              </a:spcAft>
              <a:buNone/>
            </a:pPr>
            <a:endParaRPr lang="en-US" sz="1300" dirty="0"/>
          </a:p>
        </p:txBody>
      </p:sp>
      <p:sp>
        <p:nvSpPr>
          <p:cNvPr id="102" name="s102"/>
          <p:cNvSpPr txBox="1"/>
          <p:nvPr/>
        </p:nvSpPr>
        <p:spPr>
          <a:xfrm>
            <a:off x="2618842" y="1810512"/>
            <a:ext cx="306324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BBF24"/>
                </a:solidFill>
                <a:latin typeface="Segoe UI"/>
                <a:ea typeface="Segoe UI"/>
                <a:cs typeface="Segoe UI"/>
              </a:rPr>
              <a:t>Moq</a:t>
            </a:r>
            <a:endParaRPr lang="en-US" sz="1300" dirty="0"/>
          </a:p>
        </p:txBody>
      </p:sp>
      <p:sp>
        <p:nvSpPr>
          <p:cNvPr id="103" name="s103"/>
          <p:cNvSpPr txBox="1"/>
          <p:nvPr/>
        </p:nvSpPr>
        <p:spPr>
          <a:xfrm>
            <a:off x="5682082" y="1810512"/>
            <a:ext cx="306324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34D399"/>
                </a:solidFill>
                <a:latin typeface="Segoe UI"/>
                <a:ea typeface="Segoe UI"/>
                <a:cs typeface="Segoe UI"/>
              </a:rPr>
              <a:t>NSubstitute</a:t>
            </a:r>
            <a:endParaRPr lang="en-US" sz="1300" dirty="0"/>
          </a:p>
        </p:txBody>
      </p:sp>
      <p:sp>
        <p:nvSpPr>
          <p:cNvPr id="104" name="s104"/>
          <p:cNvSpPr txBox="1"/>
          <p:nvPr/>
        </p:nvSpPr>
        <p:spPr>
          <a:xfrm>
            <a:off x="8745322" y="1810512"/>
            <a:ext cx="299557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A78BFA"/>
                </a:solidFill>
                <a:latin typeface="Segoe UI"/>
                <a:ea typeface="Segoe UI"/>
                <a:cs typeface="Segoe UI"/>
              </a:rPr>
              <a:t>FakeItEasy</a:t>
            </a:r>
            <a:endParaRPr lang="en-US" sz="1300" dirty="0"/>
          </a:p>
        </p:txBody>
      </p:sp>
      <p:sp>
        <p:nvSpPr>
          <p:cNvPr id="105" name="s105"/>
          <p:cNvSpPr/>
          <p:nvPr/>
        </p:nvSpPr>
        <p:spPr>
          <a:xfrm>
            <a:off x="543154" y="2139696"/>
            <a:ext cx="11088014" cy="36576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6" name="s106"/>
          <p:cNvSpPr txBox="1"/>
          <p:nvPr/>
        </p:nvSpPr>
        <p:spPr>
          <a:xfrm>
            <a:off x="652882" y="2139696"/>
            <a:ext cx="182880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create</a:t>
            </a:r>
            <a:endParaRPr lang="en-US" sz="1200" dirty="0"/>
          </a:p>
        </p:txBody>
      </p:sp>
      <p:sp>
        <p:nvSpPr>
          <p:cNvPr id="107" name="s107"/>
          <p:cNvSpPr txBox="1"/>
          <p:nvPr/>
        </p:nvSpPr>
        <p:spPr>
          <a:xfrm>
            <a:off x="2618842" y="2139696"/>
            <a:ext cx="292608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var m = new Mock&lt;IRates&gt;();</a:t>
            </a:r>
            <a:endParaRPr lang="en-US" sz="1000" dirty="0"/>
          </a:p>
        </p:txBody>
      </p:sp>
      <p:sp>
        <p:nvSpPr>
          <p:cNvPr id="108" name="s108"/>
          <p:cNvSpPr txBox="1"/>
          <p:nvPr/>
        </p:nvSpPr>
        <p:spPr>
          <a:xfrm>
            <a:off x="5682082" y="2139696"/>
            <a:ext cx="292608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var r = Substitute.For&lt;IRates&gt;();</a:t>
            </a:r>
            <a:endParaRPr lang="en-US" sz="1000" dirty="0"/>
          </a:p>
        </p:txBody>
      </p:sp>
      <p:sp>
        <p:nvSpPr>
          <p:cNvPr id="109" name="s109"/>
          <p:cNvSpPr txBox="1"/>
          <p:nvPr/>
        </p:nvSpPr>
        <p:spPr>
          <a:xfrm>
            <a:off x="8745322" y="2139696"/>
            <a:ext cx="2858414"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var r = A.Fake&lt;IRates&gt;();</a:t>
            </a:r>
            <a:endParaRPr lang="en-US" sz="1000" dirty="0"/>
          </a:p>
        </p:txBody>
      </p:sp>
      <p:sp>
        <p:nvSpPr>
          <p:cNvPr id="110" name="s110"/>
          <p:cNvSpPr/>
          <p:nvPr/>
        </p:nvSpPr>
        <p:spPr>
          <a:xfrm>
            <a:off x="543154" y="2560320"/>
            <a:ext cx="11088014" cy="36576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1" name="s111"/>
          <p:cNvSpPr txBox="1"/>
          <p:nvPr/>
        </p:nvSpPr>
        <p:spPr>
          <a:xfrm>
            <a:off x="652882" y="2560320"/>
            <a:ext cx="182880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pass it</a:t>
            </a:r>
            <a:endParaRPr lang="en-US" sz="1200" dirty="0"/>
          </a:p>
        </p:txBody>
      </p:sp>
      <p:sp>
        <p:nvSpPr>
          <p:cNvPr id="112" name="s112"/>
          <p:cNvSpPr txBox="1"/>
          <p:nvPr/>
        </p:nvSpPr>
        <p:spPr>
          <a:xfrm>
            <a:off x="2618842" y="2560320"/>
            <a:ext cx="292608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new Converter(m.Object)</a:t>
            </a:r>
            <a:endParaRPr lang="en-US" sz="1000" dirty="0"/>
          </a:p>
        </p:txBody>
      </p:sp>
      <p:sp>
        <p:nvSpPr>
          <p:cNvPr id="113" name="s113"/>
          <p:cNvSpPr txBox="1"/>
          <p:nvPr/>
        </p:nvSpPr>
        <p:spPr>
          <a:xfrm>
            <a:off x="5682082" y="2560320"/>
            <a:ext cx="292608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new Converter(r)</a:t>
            </a:r>
            <a:endParaRPr lang="en-US" sz="1000" dirty="0"/>
          </a:p>
        </p:txBody>
      </p:sp>
      <p:sp>
        <p:nvSpPr>
          <p:cNvPr id="114" name="s114"/>
          <p:cNvSpPr txBox="1"/>
          <p:nvPr/>
        </p:nvSpPr>
        <p:spPr>
          <a:xfrm>
            <a:off x="8745322" y="2560320"/>
            <a:ext cx="2858414"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new Converter(r)</a:t>
            </a:r>
            <a:endParaRPr lang="en-US" sz="1000" dirty="0"/>
          </a:p>
        </p:txBody>
      </p:sp>
      <p:sp>
        <p:nvSpPr>
          <p:cNvPr id="115" name="s115"/>
          <p:cNvSpPr/>
          <p:nvPr/>
        </p:nvSpPr>
        <p:spPr>
          <a:xfrm>
            <a:off x="543154" y="2980944"/>
            <a:ext cx="11088014" cy="530352"/>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6" name="s116"/>
          <p:cNvSpPr txBox="1"/>
          <p:nvPr/>
        </p:nvSpPr>
        <p:spPr>
          <a:xfrm>
            <a:off x="652882" y="2980944"/>
            <a:ext cx="1828800" cy="53035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stub</a:t>
            </a:r>
            <a:endParaRPr lang="en-US" sz="1200" dirty="0"/>
          </a:p>
        </p:txBody>
      </p:sp>
      <p:sp>
        <p:nvSpPr>
          <p:cNvPr id="117" name="s117"/>
          <p:cNvSpPr txBox="1"/>
          <p:nvPr/>
        </p:nvSpPr>
        <p:spPr>
          <a:xfrm>
            <a:off x="2618842" y="2980944"/>
            <a:ext cx="2926080" cy="53035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m.Setup(x =&gt; x.Rate("USD","EGP"))</a:t>
            </a:r>
            <a:endParaRPr lang="en-US" sz="1000" dirty="0"/>
          </a:p>
          <a:p>
            <a:pPr marL="0" indent="0" algn="l">
              <a:spcBef>
                <a:spcPts val="0"/>
              </a:spcBef>
              <a:spcAft>
                <a:spcPts val="0"/>
              </a:spcAft>
              <a:buNone/>
            </a:pPr>
            <a:r>
              <a:rPr lang="en-US" sz="1000" b="0" dirty="0">
                <a:solidFill>
                  <a:srgbClr val="CBD5E1"/>
                </a:solidFill>
                <a:latin typeface="Consolas"/>
                <a:ea typeface="Consolas"/>
                <a:cs typeface="Consolas"/>
              </a:rPr>
              <a:t> .Returns(48.5m);</a:t>
            </a:r>
            <a:endParaRPr lang="en-US" sz="1000" dirty="0"/>
          </a:p>
        </p:txBody>
      </p:sp>
      <p:sp>
        <p:nvSpPr>
          <p:cNvPr id="118" name="s118"/>
          <p:cNvSpPr txBox="1"/>
          <p:nvPr/>
        </p:nvSpPr>
        <p:spPr>
          <a:xfrm>
            <a:off x="5682082" y="2980944"/>
            <a:ext cx="2926080" cy="53035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r.Rate("USD","EGP")</a:t>
            </a:r>
            <a:endParaRPr lang="en-US" sz="1000" dirty="0"/>
          </a:p>
          <a:p>
            <a:pPr marL="0" indent="0" algn="l">
              <a:spcBef>
                <a:spcPts val="0"/>
              </a:spcBef>
              <a:spcAft>
                <a:spcPts val="0"/>
              </a:spcAft>
              <a:buNone/>
            </a:pPr>
            <a:r>
              <a:rPr lang="en-US" sz="1000" b="0" dirty="0">
                <a:solidFill>
                  <a:srgbClr val="CBD5E1"/>
                </a:solidFill>
                <a:latin typeface="Consolas"/>
                <a:ea typeface="Consolas"/>
                <a:cs typeface="Consolas"/>
              </a:rPr>
              <a:t> .Returns(48.5m);</a:t>
            </a:r>
            <a:endParaRPr lang="en-US" sz="1000" dirty="0"/>
          </a:p>
        </p:txBody>
      </p:sp>
      <p:sp>
        <p:nvSpPr>
          <p:cNvPr id="119" name="s119"/>
          <p:cNvSpPr txBox="1"/>
          <p:nvPr/>
        </p:nvSpPr>
        <p:spPr>
          <a:xfrm>
            <a:off x="8745322" y="2980944"/>
            <a:ext cx="2858414" cy="53035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A.CallTo(() =&gt; r.Rate("USD","EGP"))</a:t>
            </a:r>
            <a:endParaRPr lang="en-US" sz="1000" dirty="0"/>
          </a:p>
          <a:p>
            <a:pPr marL="0" indent="0" algn="l">
              <a:spcBef>
                <a:spcPts val="0"/>
              </a:spcBef>
              <a:spcAft>
                <a:spcPts val="0"/>
              </a:spcAft>
              <a:buNone/>
            </a:pPr>
            <a:r>
              <a:rPr lang="en-US" sz="1000" b="0" dirty="0">
                <a:solidFill>
                  <a:srgbClr val="CBD5E1"/>
                </a:solidFill>
                <a:latin typeface="Consolas"/>
                <a:ea typeface="Consolas"/>
                <a:cs typeface="Consolas"/>
              </a:rPr>
              <a:t> .Returns(48.5m);</a:t>
            </a:r>
            <a:endParaRPr lang="en-US" sz="1000" dirty="0"/>
          </a:p>
        </p:txBody>
      </p:sp>
      <p:sp>
        <p:nvSpPr>
          <p:cNvPr id="120" name="s120"/>
          <p:cNvSpPr/>
          <p:nvPr/>
        </p:nvSpPr>
        <p:spPr>
          <a:xfrm>
            <a:off x="543154" y="3566160"/>
            <a:ext cx="11088014" cy="36576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1" name="s121"/>
          <p:cNvSpPr txBox="1"/>
          <p:nvPr/>
        </p:nvSpPr>
        <p:spPr>
          <a:xfrm>
            <a:off x="652882" y="3566160"/>
            <a:ext cx="182880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any arg</a:t>
            </a:r>
            <a:endParaRPr lang="en-US" sz="1200" dirty="0"/>
          </a:p>
        </p:txBody>
      </p:sp>
      <p:sp>
        <p:nvSpPr>
          <p:cNvPr id="122" name="s122"/>
          <p:cNvSpPr txBox="1"/>
          <p:nvPr/>
        </p:nvSpPr>
        <p:spPr>
          <a:xfrm>
            <a:off x="2618842" y="3566160"/>
            <a:ext cx="292608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It.IsAny&lt;string&gt;()</a:t>
            </a:r>
            <a:endParaRPr lang="en-US" sz="1000" dirty="0"/>
          </a:p>
        </p:txBody>
      </p:sp>
      <p:sp>
        <p:nvSpPr>
          <p:cNvPr id="123" name="s123"/>
          <p:cNvSpPr txBox="1"/>
          <p:nvPr/>
        </p:nvSpPr>
        <p:spPr>
          <a:xfrm>
            <a:off x="5682082" y="3566160"/>
            <a:ext cx="292608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Arg.Any&lt;string&gt;()</a:t>
            </a:r>
            <a:endParaRPr lang="en-US" sz="1000" dirty="0"/>
          </a:p>
        </p:txBody>
      </p:sp>
      <p:sp>
        <p:nvSpPr>
          <p:cNvPr id="124" name="s124"/>
          <p:cNvSpPr txBox="1"/>
          <p:nvPr/>
        </p:nvSpPr>
        <p:spPr>
          <a:xfrm>
            <a:off x="8745322" y="3566160"/>
            <a:ext cx="2858414"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A&lt;string&gt;._</a:t>
            </a:r>
            <a:endParaRPr lang="en-US" sz="1000" dirty="0"/>
          </a:p>
        </p:txBody>
      </p:sp>
      <p:sp>
        <p:nvSpPr>
          <p:cNvPr id="125" name="s125"/>
          <p:cNvSpPr/>
          <p:nvPr/>
        </p:nvSpPr>
        <p:spPr>
          <a:xfrm>
            <a:off x="543154" y="3986784"/>
            <a:ext cx="11088014" cy="36576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6" name="s126"/>
          <p:cNvSpPr txBox="1"/>
          <p:nvPr/>
        </p:nvSpPr>
        <p:spPr>
          <a:xfrm>
            <a:off x="652882" y="3986784"/>
            <a:ext cx="182880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throw</a:t>
            </a:r>
            <a:endParaRPr lang="en-US" sz="1200" dirty="0"/>
          </a:p>
        </p:txBody>
      </p:sp>
      <p:sp>
        <p:nvSpPr>
          <p:cNvPr id="127" name="s127"/>
          <p:cNvSpPr txBox="1"/>
          <p:nvPr/>
        </p:nvSpPr>
        <p:spPr>
          <a:xfrm>
            <a:off x="2618842" y="3986784"/>
            <a:ext cx="292608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.Throws(new HttpRequestException())</a:t>
            </a:r>
            <a:endParaRPr lang="en-US" sz="1000" dirty="0"/>
          </a:p>
        </p:txBody>
      </p:sp>
      <p:sp>
        <p:nvSpPr>
          <p:cNvPr id="128" name="s128"/>
          <p:cNvSpPr txBox="1"/>
          <p:nvPr/>
        </p:nvSpPr>
        <p:spPr>
          <a:xfrm>
            <a:off x="5682082" y="3986784"/>
            <a:ext cx="292608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.Returns(_ =&gt; throw new …())</a:t>
            </a:r>
            <a:endParaRPr lang="en-US" sz="1000" dirty="0"/>
          </a:p>
        </p:txBody>
      </p:sp>
      <p:sp>
        <p:nvSpPr>
          <p:cNvPr id="129" name="s129"/>
          <p:cNvSpPr txBox="1"/>
          <p:nvPr/>
        </p:nvSpPr>
        <p:spPr>
          <a:xfrm>
            <a:off x="8745322" y="3986784"/>
            <a:ext cx="2858414"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.Throws(new HttpRequestException())</a:t>
            </a:r>
            <a:endParaRPr lang="en-US" sz="1000" dirty="0"/>
          </a:p>
        </p:txBody>
      </p:sp>
      <p:sp>
        <p:nvSpPr>
          <p:cNvPr id="130" name="s130"/>
          <p:cNvSpPr/>
          <p:nvPr/>
        </p:nvSpPr>
        <p:spPr>
          <a:xfrm>
            <a:off x="543154" y="4407408"/>
            <a:ext cx="11088014" cy="530352"/>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1" name="s131"/>
          <p:cNvSpPr txBox="1"/>
          <p:nvPr/>
        </p:nvSpPr>
        <p:spPr>
          <a:xfrm>
            <a:off x="652882" y="4407408"/>
            <a:ext cx="1828800" cy="53035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verify once</a:t>
            </a:r>
            <a:endParaRPr lang="en-US" sz="1200" dirty="0"/>
          </a:p>
        </p:txBody>
      </p:sp>
      <p:sp>
        <p:nvSpPr>
          <p:cNvPr id="132" name="s132"/>
          <p:cNvSpPr txBox="1"/>
          <p:nvPr/>
        </p:nvSpPr>
        <p:spPr>
          <a:xfrm>
            <a:off x="2618842" y="4407408"/>
            <a:ext cx="2926080" cy="53035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m.Verify(x =&gt; x.Send(…), Times.Once);</a:t>
            </a:r>
            <a:endParaRPr lang="en-US" sz="1000" dirty="0"/>
          </a:p>
        </p:txBody>
      </p:sp>
      <p:sp>
        <p:nvSpPr>
          <p:cNvPr id="133" name="s133"/>
          <p:cNvSpPr txBox="1"/>
          <p:nvPr/>
        </p:nvSpPr>
        <p:spPr>
          <a:xfrm>
            <a:off x="5682082" y="4407408"/>
            <a:ext cx="2926080" cy="53035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e.Received(1).Send(…);</a:t>
            </a:r>
            <a:endParaRPr lang="en-US" sz="1000" dirty="0"/>
          </a:p>
        </p:txBody>
      </p:sp>
      <p:sp>
        <p:nvSpPr>
          <p:cNvPr id="134" name="s134"/>
          <p:cNvSpPr txBox="1"/>
          <p:nvPr/>
        </p:nvSpPr>
        <p:spPr>
          <a:xfrm>
            <a:off x="8745322" y="4407408"/>
            <a:ext cx="2858414" cy="53035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A.CallTo(() =&gt; e.Send(…))</a:t>
            </a:r>
            <a:endParaRPr lang="en-US" sz="1000" dirty="0"/>
          </a:p>
          <a:p>
            <a:pPr marL="0" indent="0" algn="l">
              <a:spcBef>
                <a:spcPts val="0"/>
              </a:spcBef>
              <a:spcAft>
                <a:spcPts val="0"/>
              </a:spcAft>
              <a:buNone/>
            </a:pPr>
            <a:r>
              <a:rPr lang="en-US" sz="1000" b="0" dirty="0">
                <a:solidFill>
                  <a:srgbClr val="CBD5E1"/>
                </a:solidFill>
                <a:latin typeface="Consolas"/>
                <a:ea typeface="Consolas"/>
                <a:cs typeface="Consolas"/>
              </a:rPr>
              <a:t> .MustHaveHappenedOnceExactly();</a:t>
            </a:r>
            <a:endParaRPr lang="en-US" sz="1000" dirty="0"/>
          </a:p>
        </p:txBody>
      </p:sp>
      <p:sp>
        <p:nvSpPr>
          <p:cNvPr id="135" name="s135"/>
          <p:cNvSpPr/>
          <p:nvPr/>
        </p:nvSpPr>
        <p:spPr>
          <a:xfrm>
            <a:off x="543154" y="4992624"/>
            <a:ext cx="11088014" cy="36576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6" name="s136"/>
          <p:cNvSpPr txBox="1"/>
          <p:nvPr/>
        </p:nvSpPr>
        <p:spPr>
          <a:xfrm>
            <a:off x="652882" y="4992624"/>
            <a:ext cx="182880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verify never</a:t>
            </a:r>
            <a:endParaRPr lang="en-US" sz="1200" dirty="0"/>
          </a:p>
        </p:txBody>
      </p:sp>
      <p:sp>
        <p:nvSpPr>
          <p:cNvPr id="137" name="s137"/>
          <p:cNvSpPr txBox="1"/>
          <p:nvPr/>
        </p:nvSpPr>
        <p:spPr>
          <a:xfrm>
            <a:off x="2618842" y="4992624"/>
            <a:ext cx="292608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Times.Never</a:t>
            </a:r>
            <a:endParaRPr lang="en-US" sz="1000" dirty="0"/>
          </a:p>
        </p:txBody>
      </p:sp>
      <p:sp>
        <p:nvSpPr>
          <p:cNvPr id="138" name="s138"/>
          <p:cNvSpPr txBox="1"/>
          <p:nvPr/>
        </p:nvSpPr>
        <p:spPr>
          <a:xfrm>
            <a:off x="5682082" y="4992624"/>
            <a:ext cx="292608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e.DidNotReceive().Send(…);</a:t>
            </a:r>
            <a:endParaRPr lang="en-US" sz="1000" dirty="0"/>
          </a:p>
        </p:txBody>
      </p:sp>
      <p:sp>
        <p:nvSpPr>
          <p:cNvPr id="139" name="s139"/>
          <p:cNvSpPr txBox="1"/>
          <p:nvPr/>
        </p:nvSpPr>
        <p:spPr>
          <a:xfrm>
            <a:off x="8745322" y="4992624"/>
            <a:ext cx="2858414"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00" b="0" dirty="0">
                <a:solidFill>
                  <a:srgbClr val="CBD5E1"/>
                </a:solidFill>
                <a:latin typeface="Consolas"/>
                <a:ea typeface="Consolas"/>
                <a:cs typeface="Consolas"/>
              </a:rPr>
              <a:t>.MustNotHaveHappened();</a:t>
            </a:r>
            <a:endParaRPr lang="en-US" sz="1000" dirty="0"/>
          </a:p>
        </p:txBody>
      </p:sp>
      <p:sp>
        <p:nvSpPr>
          <p:cNvPr id="140" name="s140"/>
          <p:cNvSpPr/>
          <p:nvPr/>
        </p:nvSpPr>
        <p:spPr>
          <a:xfrm>
            <a:off x="2509114" y="5449824"/>
            <a:ext cx="2971800" cy="457200"/>
          </a:xfrm>
          <a:prstGeom prst="roundRect">
            <a:avLst>
              <a:gd name="adj" fmla="val 15000"/>
            </a:avLst>
          </a:prstGeom>
          <a:solidFill>
            <a:srgbClr val="FBBF24">
              <a:alpha val="12000"/>
            </a:srgbClr>
          </a:solidFill>
          <a:ln w="12700">
            <a:solidFill>
              <a:srgbClr val="FBBF24"/>
            </a:solidFill>
            <a:prstDash val="solid"/>
          </a:ln>
        </p:spPr>
        <p:txBody>
          <a:bodyPr wrap="square" lIns="91440" tIns="0" rIns="91440" bIns="0" rtlCol="0" anchor="ctr">
            <a:noAutofit/>
          </a:bodyPr>
          <a:lstStyle/>
          <a:p>
            <a:pPr marL="0" indent="0" algn="ctr">
              <a:spcBef>
                <a:spcPts val="0"/>
              </a:spcBef>
              <a:spcAft>
                <a:spcPts val="0"/>
              </a:spcAft>
              <a:buNone/>
            </a:pPr>
            <a:r>
              <a:rPr lang="en-US" sz="1050" b="0" dirty="0">
                <a:solidFill>
                  <a:srgbClr val="E2E8F0"/>
                </a:solidFill>
                <a:latin typeface="Segoe UI"/>
                <a:ea typeface="Segoe UI"/>
                <a:cs typeface="Segoe UI"/>
              </a:rPr>
              <a:t>most used in older code  ·  .Object  ·  Setup / Verify</a:t>
            </a:r>
            <a:endParaRPr lang="en-US" sz="1050" dirty="0"/>
          </a:p>
        </p:txBody>
      </p:sp>
      <p:sp>
        <p:nvSpPr>
          <p:cNvPr id="141" name="s141"/>
          <p:cNvSpPr/>
          <p:nvPr/>
        </p:nvSpPr>
        <p:spPr>
          <a:xfrm>
            <a:off x="5572354" y="5449824"/>
            <a:ext cx="2971800" cy="457200"/>
          </a:xfrm>
          <a:prstGeom prst="roundRect">
            <a:avLst>
              <a:gd name="adj" fmla="val 15000"/>
            </a:avLst>
          </a:prstGeom>
          <a:solidFill>
            <a:srgbClr val="34D399">
              <a:alpha val="12000"/>
            </a:srgbClr>
          </a:solidFill>
          <a:ln w="12700">
            <a:solidFill>
              <a:srgbClr val="34D399"/>
            </a:solidFill>
            <a:prstDash val="solid"/>
          </a:ln>
        </p:spPr>
        <p:txBody>
          <a:bodyPr wrap="square" lIns="91440" tIns="0" rIns="91440" bIns="0" rtlCol="0" anchor="ctr">
            <a:noAutofit/>
          </a:bodyPr>
          <a:lstStyle/>
          <a:p>
            <a:pPr marL="0" indent="0" algn="ctr">
              <a:spcBef>
                <a:spcPts val="0"/>
              </a:spcBef>
              <a:spcAft>
                <a:spcPts val="0"/>
              </a:spcAft>
              <a:buNone/>
            </a:pPr>
            <a:r>
              <a:rPr lang="en-US" sz="1050" b="0" dirty="0">
                <a:solidFill>
                  <a:srgbClr val="E2E8F0"/>
                </a:solidFill>
                <a:latin typeface="Segoe UI"/>
                <a:ea typeface="Segoe UI"/>
                <a:cs typeface="Segoe UI"/>
              </a:rPr>
              <a:t>shortest  ·  the double IS the interface  ·  our choice</a:t>
            </a:r>
            <a:endParaRPr lang="en-US" sz="1050" dirty="0"/>
          </a:p>
        </p:txBody>
      </p:sp>
      <p:sp>
        <p:nvSpPr>
          <p:cNvPr id="142" name="s142"/>
          <p:cNvSpPr/>
          <p:nvPr/>
        </p:nvSpPr>
        <p:spPr>
          <a:xfrm>
            <a:off x="8635594" y="5449824"/>
            <a:ext cx="2904134" cy="457200"/>
          </a:xfrm>
          <a:prstGeom prst="roundRect">
            <a:avLst>
              <a:gd name="adj" fmla="val 15000"/>
            </a:avLst>
          </a:prstGeom>
          <a:solidFill>
            <a:srgbClr val="A78BFA">
              <a:alpha val="12000"/>
            </a:srgbClr>
          </a:solidFill>
          <a:ln w="12700">
            <a:solidFill>
              <a:srgbClr val="A78BFA"/>
            </a:solidFill>
            <a:prstDash val="solid"/>
          </a:ln>
        </p:spPr>
        <p:txBody>
          <a:bodyPr wrap="square" lIns="91440" tIns="0" rIns="91440" bIns="0" rtlCol="0" anchor="ctr">
            <a:noAutofit/>
          </a:bodyPr>
          <a:lstStyle/>
          <a:p>
            <a:pPr marL="0" indent="0" algn="ctr">
              <a:spcBef>
                <a:spcPts val="0"/>
              </a:spcBef>
              <a:spcAft>
                <a:spcPts val="0"/>
              </a:spcAft>
              <a:buNone/>
            </a:pPr>
            <a:r>
              <a:rPr lang="en-US" sz="1050" b="0" dirty="0">
                <a:solidFill>
                  <a:srgbClr val="E2E8F0"/>
                </a:solidFill>
                <a:latin typeface="Segoe UI"/>
                <a:ea typeface="Segoe UI"/>
                <a:cs typeface="Segoe UI"/>
              </a:rPr>
              <a:t>very readable A.CallTo(…)  ·  smaller community</a:t>
            </a:r>
            <a:endParaRPr lang="en-US" sz="1050" dirty="0"/>
          </a:p>
        </p:txBody>
      </p:sp>
    </p:spTree>
    <p:extLst>
      <p:ext uri="{BB962C8B-B14F-4D97-AF65-F5344CB8AC3E}">
        <p14:creationId xmlns:p14="http://schemas.microsoft.com/office/powerpoint/2010/main" val="289722365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500"/>
                                        <p:tgtEl>
                                          <p:spTgt spid="105"/>
                                        </p:tgtEl>
                                      </p:cBhvr>
                                    </p:animEffect>
                                    <p:anim calcmode="lin" valueType="num">
                                      <p:cBhvr additive="base">
                                        <p:cTn id="8" dur="500" decel="100000" fill="hold"/>
                                        <p:tgtEl>
                                          <p:spTgt spid="105"/>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6"/>
                                        </p:tgtEl>
                                        <p:attrNameLst>
                                          <p:attrName>style.visibility</p:attrName>
                                        </p:attrNameLst>
                                      </p:cBhvr>
                                      <p:to>
                                        <p:strVal val="visible"/>
                                      </p:to>
                                    </p:set>
                                    <p:animEffect transition="in" filter="fade">
                                      <p:cBhvr>
                                        <p:cTn id="11" dur="500"/>
                                        <p:tgtEl>
                                          <p:spTgt spid="106"/>
                                        </p:tgtEl>
                                      </p:cBhvr>
                                    </p:animEffect>
                                    <p:anim calcmode="lin" valueType="num">
                                      <p:cBhvr additive="base">
                                        <p:cTn id="12" dur="500" decel="100000" fill="hold"/>
                                        <p:tgtEl>
                                          <p:spTgt spid="106"/>
                                        </p:tgtEl>
                                        <p:attrNameLst>
                                          <p:attrName>ppt_x</p:attrName>
                                        </p:attrNameLst>
                                      </p:cBhvr>
                                      <p:tavLst>
                                        <p:tav tm="0">
                                          <p:val>
                                            <p:strVal val="#ppt_x-0.05"/>
                                          </p:val>
                                        </p:tav>
                                        <p:tav tm="100000">
                                          <p:val>
                                            <p:strVal val="#ppt_x"/>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7"/>
                                        </p:tgtEl>
                                        <p:attrNameLst>
                                          <p:attrName>style.visibility</p:attrName>
                                        </p:attrNameLst>
                                      </p:cBhvr>
                                      <p:to>
                                        <p:strVal val="visible"/>
                                      </p:to>
                                    </p:set>
                                    <p:animEffect transition="in" filter="fade">
                                      <p:cBhvr>
                                        <p:cTn id="15" dur="500"/>
                                        <p:tgtEl>
                                          <p:spTgt spid="107"/>
                                        </p:tgtEl>
                                      </p:cBhvr>
                                    </p:animEffect>
                                    <p:anim calcmode="lin" valueType="num">
                                      <p:cBhvr additive="base">
                                        <p:cTn id="16" dur="500" decel="100000" fill="hold"/>
                                        <p:tgtEl>
                                          <p:spTgt spid="107"/>
                                        </p:tgtEl>
                                        <p:attrNameLst>
                                          <p:attrName>ppt_x</p:attrName>
                                        </p:attrNameLst>
                                      </p:cBhvr>
                                      <p:tavLst>
                                        <p:tav tm="0">
                                          <p:val>
                                            <p:strVal val="#ppt_x-0.05"/>
                                          </p:val>
                                        </p:tav>
                                        <p:tav tm="100000">
                                          <p:val>
                                            <p:strVal val="#ppt_x"/>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8"/>
                                        </p:tgtEl>
                                        <p:attrNameLst>
                                          <p:attrName>style.visibility</p:attrName>
                                        </p:attrNameLst>
                                      </p:cBhvr>
                                      <p:to>
                                        <p:strVal val="visible"/>
                                      </p:to>
                                    </p:set>
                                    <p:animEffect transition="in" filter="fade">
                                      <p:cBhvr>
                                        <p:cTn id="19" dur="500"/>
                                        <p:tgtEl>
                                          <p:spTgt spid="108"/>
                                        </p:tgtEl>
                                      </p:cBhvr>
                                    </p:animEffect>
                                    <p:anim calcmode="lin" valueType="num">
                                      <p:cBhvr additive="base">
                                        <p:cTn id="20" dur="500" decel="100000" fill="hold"/>
                                        <p:tgtEl>
                                          <p:spTgt spid="108"/>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9"/>
                                        </p:tgtEl>
                                        <p:attrNameLst>
                                          <p:attrName>style.visibility</p:attrName>
                                        </p:attrNameLst>
                                      </p:cBhvr>
                                      <p:to>
                                        <p:strVal val="visible"/>
                                      </p:to>
                                    </p:set>
                                    <p:animEffect transition="in" filter="fade">
                                      <p:cBhvr>
                                        <p:cTn id="23" dur="500"/>
                                        <p:tgtEl>
                                          <p:spTgt spid="109"/>
                                        </p:tgtEl>
                                      </p:cBhvr>
                                    </p:animEffect>
                                    <p:anim calcmode="lin" valueType="num">
                                      <p:cBhvr additive="base">
                                        <p:cTn id="24" dur="500" decel="100000" fill="hold"/>
                                        <p:tgtEl>
                                          <p:spTgt spid="109"/>
                                        </p:tgtEl>
                                        <p:attrNameLst>
                                          <p:attrName>ppt_x</p:attrName>
                                        </p:attrNameLst>
                                      </p:cBhvr>
                                      <p:tavLst>
                                        <p:tav tm="0">
                                          <p:val>
                                            <p:strVal val="#ppt_x-0.05"/>
                                          </p:val>
                                        </p:tav>
                                        <p:tav tm="100000">
                                          <p:val>
                                            <p:strVal val="#ppt_x"/>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10"/>
                                        </p:tgtEl>
                                        <p:attrNameLst>
                                          <p:attrName>style.visibility</p:attrName>
                                        </p:attrNameLst>
                                      </p:cBhvr>
                                      <p:to>
                                        <p:strVal val="visible"/>
                                      </p:to>
                                    </p:set>
                                    <p:animEffect transition="in" filter="fade">
                                      <p:cBhvr>
                                        <p:cTn id="29" dur="500"/>
                                        <p:tgtEl>
                                          <p:spTgt spid="110"/>
                                        </p:tgtEl>
                                      </p:cBhvr>
                                    </p:animEffect>
                                    <p:anim calcmode="lin" valueType="num">
                                      <p:cBhvr additive="base">
                                        <p:cTn id="30" dur="500" decel="100000" fill="hold"/>
                                        <p:tgtEl>
                                          <p:spTgt spid="110"/>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11"/>
                                        </p:tgtEl>
                                        <p:attrNameLst>
                                          <p:attrName>style.visibility</p:attrName>
                                        </p:attrNameLst>
                                      </p:cBhvr>
                                      <p:to>
                                        <p:strVal val="visible"/>
                                      </p:to>
                                    </p:set>
                                    <p:animEffect transition="in" filter="fade">
                                      <p:cBhvr>
                                        <p:cTn id="33" dur="500"/>
                                        <p:tgtEl>
                                          <p:spTgt spid="111"/>
                                        </p:tgtEl>
                                      </p:cBhvr>
                                    </p:animEffect>
                                    <p:anim calcmode="lin" valueType="num">
                                      <p:cBhvr additive="base">
                                        <p:cTn id="34" dur="500" decel="100000" fill="hold"/>
                                        <p:tgtEl>
                                          <p:spTgt spid="111"/>
                                        </p:tgtEl>
                                        <p:attrNameLst>
                                          <p:attrName>ppt_x</p:attrName>
                                        </p:attrNameLst>
                                      </p:cBhvr>
                                      <p:tavLst>
                                        <p:tav tm="0">
                                          <p:val>
                                            <p:strVal val="#ppt_x-0.05"/>
                                          </p:val>
                                        </p:tav>
                                        <p:tav tm="100000">
                                          <p:val>
                                            <p:strVal val="#ppt_x"/>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12"/>
                                        </p:tgtEl>
                                        <p:attrNameLst>
                                          <p:attrName>style.visibility</p:attrName>
                                        </p:attrNameLst>
                                      </p:cBhvr>
                                      <p:to>
                                        <p:strVal val="visible"/>
                                      </p:to>
                                    </p:set>
                                    <p:animEffect transition="in" filter="fade">
                                      <p:cBhvr>
                                        <p:cTn id="37" dur="500"/>
                                        <p:tgtEl>
                                          <p:spTgt spid="112"/>
                                        </p:tgtEl>
                                      </p:cBhvr>
                                    </p:animEffect>
                                    <p:anim calcmode="lin" valueType="num">
                                      <p:cBhvr additive="base">
                                        <p:cTn id="38" dur="500" decel="100000" fill="hold"/>
                                        <p:tgtEl>
                                          <p:spTgt spid="112"/>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13"/>
                                        </p:tgtEl>
                                        <p:attrNameLst>
                                          <p:attrName>style.visibility</p:attrName>
                                        </p:attrNameLst>
                                      </p:cBhvr>
                                      <p:to>
                                        <p:strVal val="visible"/>
                                      </p:to>
                                    </p:set>
                                    <p:animEffect transition="in" filter="fade">
                                      <p:cBhvr>
                                        <p:cTn id="41" dur="500"/>
                                        <p:tgtEl>
                                          <p:spTgt spid="113"/>
                                        </p:tgtEl>
                                      </p:cBhvr>
                                    </p:animEffect>
                                    <p:anim calcmode="lin" valueType="num">
                                      <p:cBhvr additive="base">
                                        <p:cTn id="42" dur="500" decel="100000" fill="hold"/>
                                        <p:tgtEl>
                                          <p:spTgt spid="113"/>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14"/>
                                        </p:tgtEl>
                                        <p:attrNameLst>
                                          <p:attrName>style.visibility</p:attrName>
                                        </p:attrNameLst>
                                      </p:cBhvr>
                                      <p:to>
                                        <p:strVal val="visible"/>
                                      </p:to>
                                    </p:set>
                                    <p:animEffect transition="in" filter="fade">
                                      <p:cBhvr>
                                        <p:cTn id="45" dur="500"/>
                                        <p:tgtEl>
                                          <p:spTgt spid="114"/>
                                        </p:tgtEl>
                                      </p:cBhvr>
                                    </p:animEffect>
                                    <p:anim calcmode="lin" valueType="num">
                                      <p:cBhvr additive="base">
                                        <p:cTn id="46" dur="500" decel="100000" fill="hold"/>
                                        <p:tgtEl>
                                          <p:spTgt spid="114"/>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15"/>
                                        </p:tgtEl>
                                        <p:attrNameLst>
                                          <p:attrName>style.visibility</p:attrName>
                                        </p:attrNameLst>
                                      </p:cBhvr>
                                      <p:to>
                                        <p:strVal val="visible"/>
                                      </p:to>
                                    </p:set>
                                    <p:animEffect transition="in" filter="fade">
                                      <p:cBhvr>
                                        <p:cTn id="51" dur="500"/>
                                        <p:tgtEl>
                                          <p:spTgt spid="115"/>
                                        </p:tgtEl>
                                      </p:cBhvr>
                                    </p:animEffect>
                                    <p:anim calcmode="lin" valueType="num">
                                      <p:cBhvr additive="base">
                                        <p:cTn id="52" dur="500" decel="100000" fill="hold"/>
                                        <p:tgtEl>
                                          <p:spTgt spid="115"/>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6"/>
                                        </p:tgtEl>
                                        <p:attrNameLst>
                                          <p:attrName>style.visibility</p:attrName>
                                        </p:attrNameLst>
                                      </p:cBhvr>
                                      <p:to>
                                        <p:strVal val="visible"/>
                                      </p:to>
                                    </p:set>
                                    <p:animEffect transition="in" filter="fade">
                                      <p:cBhvr>
                                        <p:cTn id="55" dur="500"/>
                                        <p:tgtEl>
                                          <p:spTgt spid="116"/>
                                        </p:tgtEl>
                                      </p:cBhvr>
                                    </p:animEffect>
                                    <p:anim calcmode="lin" valueType="num">
                                      <p:cBhvr additive="base">
                                        <p:cTn id="56" dur="500" decel="100000" fill="hold"/>
                                        <p:tgtEl>
                                          <p:spTgt spid="116"/>
                                        </p:tgtEl>
                                        <p:attrNameLst>
                                          <p:attrName>ppt_x</p:attrName>
                                        </p:attrNameLst>
                                      </p:cBhvr>
                                      <p:tavLst>
                                        <p:tav tm="0">
                                          <p:val>
                                            <p:strVal val="#ppt_x-0.05"/>
                                          </p:val>
                                        </p:tav>
                                        <p:tav tm="100000">
                                          <p:val>
                                            <p:strVal val="#ppt_x"/>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7"/>
                                        </p:tgtEl>
                                        <p:attrNameLst>
                                          <p:attrName>style.visibility</p:attrName>
                                        </p:attrNameLst>
                                      </p:cBhvr>
                                      <p:to>
                                        <p:strVal val="visible"/>
                                      </p:to>
                                    </p:set>
                                    <p:animEffect transition="in" filter="fade">
                                      <p:cBhvr>
                                        <p:cTn id="59" dur="500"/>
                                        <p:tgtEl>
                                          <p:spTgt spid="117"/>
                                        </p:tgtEl>
                                      </p:cBhvr>
                                    </p:animEffect>
                                    <p:anim calcmode="lin" valueType="num">
                                      <p:cBhvr additive="base">
                                        <p:cTn id="60" dur="500" decel="100000" fill="hold"/>
                                        <p:tgtEl>
                                          <p:spTgt spid="117"/>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8"/>
                                        </p:tgtEl>
                                        <p:attrNameLst>
                                          <p:attrName>style.visibility</p:attrName>
                                        </p:attrNameLst>
                                      </p:cBhvr>
                                      <p:to>
                                        <p:strVal val="visible"/>
                                      </p:to>
                                    </p:set>
                                    <p:animEffect transition="in" filter="fade">
                                      <p:cBhvr>
                                        <p:cTn id="63" dur="500"/>
                                        <p:tgtEl>
                                          <p:spTgt spid="118"/>
                                        </p:tgtEl>
                                      </p:cBhvr>
                                    </p:animEffect>
                                    <p:anim calcmode="lin" valueType="num">
                                      <p:cBhvr additive="base">
                                        <p:cTn id="64" dur="500" decel="100000" fill="hold"/>
                                        <p:tgtEl>
                                          <p:spTgt spid="118"/>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9"/>
                                        </p:tgtEl>
                                        <p:attrNameLst>
                                          <p:attrName>style.visibility</p:attrName>
                                        </p:attrNameLst>
                                      </p:cBhvr>
                                      <p:to>
                                        <p:strVal val="visible"/>
                                      </p:to>
                                    </p:set>
                                    <p:animEffect transition="in" filter="fade">
                                      <p:cBhvr>
                                        <p:cTn id="67" dur="500"/>
                                        <p:tgtEl>
                                          <p:spTgt spid="119"/>
                                        </p:tgtEl>
                                      </p:cBhvr>
                                    </p:animEffect>
                                    <p:anim calcmode="lin" valueType="num">
                                      <p:cBhvr additive="base">
                                        <p:cTn id="68" dur="500" decel="100000" fill="hold"/>
                                        <p:tgtEl>
                                          <p:spTgt spid="119"/>
                                        </p:tgtEl>
                                        <p:attrNameLst>
                                          <p:attrName>ppt_x</p:attrName>
                                        </p:attrNameLst>
                                      </p:cBhvr>
                                      <p:tavLst>
                                        <p:tav tm="0">
                                          <p:val>
                                            <p:strVal val="#ppt_x-0.05"/>
                                          </p:val>
                                        </p:tav>
                                        <p:tav tm="100000">
                                          <p:val>
                                            <p:strVal val="#ppt_x"/>
                                          </p:val>
                                        </p:tav>
                                      </p:tavLst>
                                    </p:anim>
                                  </p:childTnLst>
                                </p:cTn>
                              </p:par>
                            </p:childTnLst>
                          </p:cTn>
                        </p:par>
                      </p:childTnLst>
                    </p:cTn>
                  </p:par>
                  <p:par>
                    <p:cTn id="69" fill="hold">
                      <p:stCondLst>
                        <p:cond delay="indefinite"/>
                      </p:stCondLst>
                      <p:childTnLst>
                        <p:par>
                          <p:cTn id="70" fill="hold">
                            <p:stCondLst>
                              <p:cond delay="0"/>
                            </p:stCondLst>
                            <p:childTnLst>
                              <p:par>
                                <p:cTn id="71" presetID="42" presetClass="entr" presetSubtype="0" fill="hold" grpId="0" nodeType="clickEffect">
                                  <p:stCondLst>
                                    <p:cond delay="0"/>
                                  </p:stCondLst>
                                  <p:childTnLst>
                                    <p:set>
                                      <p:cBhvr>
                                        <p:cTn id="72" dur="1" fill="hold">
                                          <p:stCondLst>
                                            <p:cond delay="0"/>
                                          </p:stCondLst>
                                        </p:cTn>
                                        <p:tgtEl>
                                          <p:spTgt spid="120"/>
                                        </p:tgtEl>
                                        <p:attrNameLst>
                                          <p:attrName>style.visibility</p:attrName>
                                        </p:attrNameLst>
                                      </p:cBhvr>
                                      <p:to>
                                        <p:strVal val="visible"/>
                                      </p:to>
                                    </p:set>
                                    <p:animEffect transition="in" filter="fade">
                                      <p:cBhvr>
                                        <p:cTn id="73" dur="500"/>
                                        <p:tgtEl>
                                          <p:spTgt spid="120"/>
                                        </p:tgtEl>
                                      </p:cBhvr>
                                    </p:animEffect>
                                    <p:anim calcmode="lin" valueType="num">
                                      <p:cBhvr additive="base">
                                        <p:cTn id="74" dur="500" decel="100000" fill="hold"/>
                                        <p:tgtEl>
                                          <p:spTgt spid="120"/>
                                        </p:tgtEl>
                                        <p:attrNameLst>
                                          <p:attrName>ppt_x</p:attrName>
                                        </p:attrNameLst>
                                      </p:cBhvr>
                                      <p:tavLst>
                                        <p:tav tm="0">
                                          <p:val>
                                            <p:strVal val="#ppt_x-0.05"/>
                                          </p:val>
                                        </p:tav>
                                        <p:tav tm="100000">
                                          <p:val>
                                            <p:strVal val="#ppt_x"/>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121"/>
                                        </p:tgtEl>
                                        <p:attrNameLst>
                                          <p:attrName>style.visibility</p:attrName>
                                        </p:attrNameLst>
                                      </p:cBhvr>
                                      <p:to>
                                        <p:strVal val="visible"/>
                                      </p:to>
                                    </p:set>
                                    <p:animEffect transition="in" filter="fade">
                                      <p:cBhvr>
                                        <p:cTn id="77" dur="500"/>
                                        <p:tgtEl>
                                          <p:spTgt spid="121"/>
                                        </p:tgtEl>
                                      </p:cBhvr>
                                    </p:animEffect>
                                    <p:anim calcmode="lin" valueType="num">
                                      <p:cBhvr additive="base">
                                        <p:cTn id="78" dur="500" decel="100000" fill="hold"/>
                                        <p:tgtEl>
                                          <p:spTgt spid="121"/>
                                        </p:tgtEl>
                                        <p:attrNameLst>
                                          <p:attrName>ppt_x</p:attrName>
                                        </p:attrNameLst>
                                      </p:cBhvr>
                                      <p:tavLst>
                                        <p:tav tm="0">
                                          <p:val>
                                            <p:strVal val="#ppt_x-0.05"/>
                                          </p:val>
                                        </p:tav>
                                        <p:tav tm="100000">
                                          <p:val>
                                            <p:strVal val="#ppt_x"/>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22"/>
                                        </p:tgtEl>
                                        <p:attrNameLst>
                                          <p:attrName>style.visibility</p:attrName>
                                        </p:attrNameLst>
                                      </p:cBhvr>
                                      <p:to>
                                        <p:strVal val="visible"/>
                                      </p:to>
                                    </p:set>
                                    <p:animEffect transition="in" filter="fade">
                                      <p:cBhvr>
                                        <p:cTn id="81" dur="500"/>
                                        <p:tgtEl>
                                          <p:spTgt spid="122"/>
                                        </p:tgtEl>
                                      </p:cBhvr>
                                    </p:animEffect>
                                    <p:anim calcmode="lin" valueType="num">
                                      <p:cBhvr additive="base">
                                        <p:cTn id="82" dur="500" decel="100000" fill="hold"/>
                                        <p:tgtEl>
                                          <p:spTgt spid="122"/>
                                        </p:tgtEl>
                                        <p:attrNameLst>
                                          <p:attrName>ppt_x</p:attrName>
                                        </p:attrNameLst>
                                      </p:cBhvr>
                                      <p:tavLst>
                                        <p:tav tm="0">
                                          <p:val>
                                            <p:strVal val="#ppt_x-0.05"/>
                                          </p:val>
                                        </p:tav>
                                        <p:tav tm="100000">
                                          <p:val>
                                            <p:strVal val="#ppt_x"/>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23"/>
                                        </p:tgtEl>
                                        <p:attrNameLst>
                                          <p:attrName>style.visibility</p:attrName>
                                        </p:attrNameLst>
                                      </p:cBhvr>
                                      <p:to>
                                        <p:strVal val="visible"/>
                                      </p:to>
                                    </p:set>
                                    <p:animEffect transition="in" filter="fade">
                                      <p:cBhvr>
                                        <p:cTn id="85" dur="500"/>
                                        <p:tgtEl>
                                          <p:spTgt spid="123"/>
                                        </p:tgtEl>
                                      </p:cBhvr>
                                    </p:animEffect>
                                    <p:anim calcmode="lin" valueType="num">
                                      <p:cBhvr additive="base">
                                        <p:cTn id="86" dur="500" decel="100000" fill="hold"/>
                                        <p:tgtEl>
                                          <p:spTgt spid="123"/>
                                        </p:tgtEl>
                                        <p:attrNameLst>
                                          <p:attrName>ppt_x</p:attrName>
                                        </p:attrNameLst>
                                      </p:cBhvr>
                                      <p:tavLst>
                                        <p:tav tm="0">
                                          <p:val>
                                            <p:strVal val="#ppt_x-0.05"/>
                                          </p:val>
                                        </p:tav>
                                        <p:tav tm="100000">
                                          <p:val>
                                            <p:strVal val="#ppt_x"/>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24"/>
                                        </p:tgtEl>
                                        <p:attrNameLst>
                                          <p:attrName>style.visibility</p:attrName>
                                        </p:attrNameLst>
                                      </p:cBhvr>
                                      <p:to>
                                        <p:strVal val="visible"/>
                                      </p:to>
                                    </p:set>
                                    <p:animEffect transition="in" filter="fade">
                                      <p:cBhvr>
                                        <p:cTn id="89" dur="500"/>
                                        <p:tgtEl>
                                          <p:spTgt spid="124"/>
                                        </p:tgtEl>
                                      </p:cBhvr>
                                    </p:animEffect>
                                    <p:anim calcmode="lin" valueType="num">
                                      <p:cBhvr additive="base">
                                        <p:cTn id="90" dur="500" decel="100000" fill="hold"/>
                                        <p:tgtEl>
                                          <p:spTgt spid="124"/>
                                        </p:tgtEl>
                                        <p:attrNameLst>
                                          <p:attrName>ppt_x</p:attrName>
                                        </p:attrNameLst>
                                      </p:cBhvr>
                                      <p:tavLst>
                                        <p:tav tm="0">
                                          <p:val>
                                            <p:strVal val="#ppt_x-0.05"/>
                                          </p:val>
                                        </p:tav>
                                        <p:tav tm="100000">
                                          <p:val>
                                            <p:strVal val="#ppt_x"/>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grpId="0" nodeType="clickEffect">
                                  <p:stCondLst>
                                    <p:cond delay="0"/>
                                  </p:stCondLst>
                                  <p:childTnLst>
                                    <p:set>
                                      <p:cBhvr>
                                        <p:cTn id="94" dur="1" fill="hold">
                                          <p:stCondLst>
                                            <p:cond delay="0"/>
                                          </p:stCondLst>
                                        </p:cTn>
                                        <p:tgtEl>
                                          <p:spTgt spid="125"/>
                                        </p:tgtEl>
                                        <p:attrNameLst>
                                          <p:attrName>style.visibility</p:attrName>
                                        </p:attrNameLst>
                                      </p:cBhvr>
                                      <p:to>
                                        <p:strVal val="visible"/>
                                      </p:to>
                                    </p:set>
                                    <p:animEffect transition="in" filter="fade">
                                      <p:cBhvr>
                                        <p:cTn id="95" dur="500"/>
                                        <p:tgtEl>
                                          <p:spTgt spid="125"/>
                                        </p:tgtEl>
                                      </p:cBhvr>
                                    </p:animEffect>
                                    <p:anim calcmode="lin" valueType="num">
                                      <p:cBhvr additive="base">
                                        <p:cTn id="96" dur="500" decel="100000" fill="hold"/>
                                        <p:tgtEl>
                                          <p:spTgt spid="125"/>
                                        </p:tgtEl>
                                        <p:attrNameLst>
                                          <p:attrName>ppt_x</p:attrName>
                                        </p:attrNameLst>
                                      </p:cBhvr>
                                      <p:tavLst>
                                        <p:tav tm="0">
                                          <p:val>
                                            <p:strVal val="#ppt_x-0.05"/>
                                          </p:val>
                                        </p:tav>
                                        <p:tav tm="100000">
                                          <p:val>
                                            <p:strVal val="#ppt_x"/>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6"/>
                                        </p:tgtEl>
                                        <p:attrNameLst>
                                          <p:attrName>style.visibility</p:attrName>
                                        </p:attrNameLst>
                                      </p:cBhvr>
                                      <p:to>
                                        <p:strVal val="visible"/>
                                      </p:to>
                                    </p:set>
                                    <p:animEffect transition="in" filter="fade">
                                      <p:cBhvr>
                                        <p:cTn id="99" dur="500"/>
                                        <p:tgtEl>
                                          <p:spTgt spid="126"/>
                                        </p:tgtEl>
                                      </p:cBhvr>
                                    </p:animEffect>
                                    <p:anim calcmode="lin" valueType="num">
                                      <p:cBhvr additive="base">
                                        <p:cTn id="100" dur="500" decel="100000" fill="hold"/>
                                        <p:tgtEl>
                                          <p:spTgt spid="126"/>
                                        </p:tgtEl>
                                        <p:attrNameLst>
                                          <p:attrName>ppt_x</p:attrName>
                                        </p:attrNameLst>
                                      </p:cBhvr>
                                      <p:tavLst>
                                        <p:tav tm="0">
                                          <p:val>
                                            <p:strVal val="#ppt_x-0.05"/>
                                          </p:val>
                                        </p:tav>
                                        <p:tav tm="100000">
                                          <p:val>
                                            <p:strVal val="#ppt_x"/>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27"/>
                                        </p:tgtEl>
                                        <p:attrNameLst>
                                          <p:attrName>style.visibility</p:attrName>
                                        </p:attrNameLst>
                                      </p:cBhvr>
                                      <p:to>
                                        <p:strVal val="visible"/>
                                      </p:to>
                                    </p:set>
                                    <p:animEffect transition="in" filter="fade">
                                      <p:cBhvr>
                                        <p:cTn id="103" dur="500"/>
                                        <p:tgtEl>
                                          <p:spTgt spid="127"/>
                                        </p:tgtEl>
                                      </p:cBhvr>
                                    </p:animEffect>
                                    <p:anim calcmode="lin" valueType="num">
                                      <p:cBhvr additive="base">
                                        <p:cTn id="104" dur="500" decel="100000" fill="hold"/>
                                        <p:tgtEl>
                                          <p:spTgt spid="127"/>
                                        </p:tgtEl>
                                        <p:attrNameLst>
                                          <p:attrName>ppt_x</p:attrName>
                                        </p:attrNameLst>
                                      </p:cBhvr>
                                      <p:tavLst>
                                        <p:tav tm="0">
                                          <p:val>
                                            <p:strVal val="#ppt_x-0.05"/>
                                          </p:val>
                                        </p:tav>
                                        <p:tav tm="100000">
                                          <p:val>
                                            <p:strVal val="#ppt_x"/>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28"/>
                                        </p:tgtEl>
                                        <p:attrNameLst>
                                          <p:attrName>style.visibility</p:attrName>
                                        </p:attrNameLst>
                                      </p:cBhvr>
                                      <p:to>
                                        <p:strVal val="visible"/>
                                      </p:to>
                                    </p:set>
                                    <p:animEffect transition="in" filter="fade">
                                      <p:cBhvr>
                                        <p:cTn id="107" dur="500"/>
                                        <p:tgtEl>
                                          <p:spTgt spid="128"/>
                                        </p:tgtEl>
                                      </p:cBhvr>
                                    </p:animEffect>
                                    <p:anim calcmode="lin" valueType="num">
                                      <p:cBhvr additive="base">
                                        <p:cTn id="108" dur="500" decel="100000" fill="hold"/>
                                        <p:tgtEl>
                                          <p:spTgt spid="128"/>
                                        </p:tgtEl>
                                        <p:attrNameLst>
                                          <p:attrName>ppt_x</p:attrName>
                                        </p:attrNameLst>
                                      </p:cBhvr>
                                      <p:tavLst>
                                        <p:tav tm="0">
                                          <p:val>
                                            <p:strVal val="#ppt_x-0.05"/>
                                          </p:val>
                                        </p:tav>
                                        <p:tav tm="100000">
                                          <p:val>
                                            <p:strVal val="#ppt_x"/>
                                          </p:val>
                                        </p:tav>
                                      </p:tavLst>
                                    </p:anim>
                                  </p:childTnLst>
                                </p:cTn>
                              </p:par>
                              <p:par>
                                <p:cTn id="109" presetID="42" presetClass="entr" presetSubtype="0" fill="hold" grpId="0" nodeType="withEffect">
                                  <p:stCondLst>
                                    <p:cond delay="0"/>
                                  </p:stCondLst>
                                  <p:childTnLst>
                                    <p:set>
                                      <p:cBhvr>
                                        <p:cTn id="110" dur="1" fill="hold">
                                          <p:stCondLst>
                                            <p:cond delay="0"/>
                                          </p:stCondLst>
                                        </p:cTn>
                                        <p:tgtEl>
                                          <p:spTgt spid="129"/>
                                        </p:tgtEl>
                                        <p:attrNameLst>
                                          <p:attrName>style.visibility</p:attrName>
                                        </p:attrNameLst>
                                      </p:cBhvr>
                                      <p:to>
                                        <p:strVal val="visible"/>
                                      </p:to>
                                    </p:set>
                                    <p:animEffect transition="in" filter="fade">
                                      <p:cBhvr>
                                        <p:cTn id="111" dur="500"/>
                                        <p:tgtEl>
                                          <p:spTgt spid="129"/>
                                        </p:tgtEl>
                                      </p:cBhvr>
                                    </p:animEffect>
                                    <p:anim calcmode="lin" valueType="num">
                                      <p:cBhvr additive="base">
                                        <p:cTn id="112" dur="500" decel="100000" fill="hold"/>
                                        <p:tgtEl>
                                          <p:spTgt spid="129"/>
                                        </p:tgtEl>
                                        <p:attrNameLst>
                                          <p:attrName>ppt_x</p:attrName>
                                        </p:attrNameLst>
                                      </p:cBhvr>
                                      <p:tavLst>
                                        <p:tav tm="0">
                                          <p:val>
                                            <p:strVal val="#ppt_x-0.05"/>
                                          </p:val>
                                        </p:tav>
                                        <p:tav tm="100000">
                                          <p:val>
                                            <p:strVal val="#ppt_x"/>
                                          </p:val>
                                        </p:tav>
                                      </p:tavLst>
                                    </p:anim>
                                  </p:childTnLst>
                                </p:cTn>
                              </p:par>
                            </p:childTnLst>
                          </p:cTn>
                        </p:par>
                      </p:childTnLst>
                    </p:cTn>
                  </p:par>
                  <p:par>
                    <p:cTn id="113" fill="hold">
                      <p:stCondLst>
                        <p:cond delay="indefinite"/>
                      </p:stCondLst>
                      <p:childTnLst>
                        <p:par>
                          <p:cTn id="114" fill="hold">
                            <p:stCondLst>
                              <p:cond delay="0"/>
                            </p:stCondLst>
                            <p:childTnLst>
                              <p:par>
                                <p:cTn id="115" presetID="42" presetClass="entr" presetSubtype="0" fill="hold" grpId="0" nodeType="clickEffect">
                                  <p:stCondLst>
                                    <p:cond delay="0"/>
                                  </p:stCondLst>
                                  <p:childTnLst>
                                    <p:set>
                                      <p:cBhvr>
                                        <p:cTn id="116" dur="1" fill="hold">
                                          <p:stCondLst>
                                            <p:cond delay="0"/>
                                          </p:stCondLst>
                                        </p:cTn>
                                        <p:tgtEl>
                                          <p:spTgt spid="130"/>
                                        </p:tgtEl>
                                        <p:attrNameLst>
                                          <p:attrName>style.visibility</p:attrName>
                                        </p:attrNameLst>
                                      </p:cBhvr>
                                      <p:to>
                                        <p:strVal val="visible"/>
                                      </p:to>
                                    </p:set>
                                    <p:animEffect transition="in" filter="fade">
                                      <p:cBhvr>
                                        <p:cTn id="117" dur="500"/>
                                        <p:tgtEl>
                                          <p:spTgt spid="130"/>
                                        </p:tgtEl>
                                      </p:cBhvr>
                                    </p:animEffect>
                                    <p:anim calcmode="lin" valueType="num">
                                      <p:cBhvr additive="base">
                                        <p:cTn id="118" dur="500" decel="100000" fill="hold"/>
                                        <p:tgtEl>
                                          <p:spTgt spid="130"/>
                                        </p:tgtEl>
                                        <p:attrNameLst>
                                          <p:attrName>ppt_x</p:attrName>
                                        </p:attrNameLst>
                                      </p:cBhvr>
                                      <p:tavLst>
                                        <p:tav tm="0">
                                          <p:val>
                                            <p:strVal val="#ppt_x-0.05"/>
                                          </p:val>
                                        </p:tav>
                                        <p:tav tm="100000">
                                          <p:val>
                                            <p:strVal val="#ppt_x"/>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31"/>
                                        </p:tgtEl>
                                        <p:attrNameLst>
                                          <p:attrName>style.visibility</p:attrName>
                                        </p:attrNameLst>
                                      </p:cBhvr>
                                      <p:to>
                                        <p:strVal val="visible"/>
                                      </p:to>
                                    </p:set>
                                    <p:animEffect transition="in" filter="fade">
                                      <p:cBhvr>
                                        <p:cTn id="121" dur="500"/>
                                        <p:tgtEl>
                                          <p:spTgt spid="131"/>
                                        </p:tgtEl>
                                      </p:cBhvr>
                                    </p:animEffect>
                                    <p:anim calcmode="lin" valueType="num">
                                      <p:cBhvr additive="base">
                                        <p:cTn id="122" dur="500" decel="100000" fill="hold"/>
                                        <p:tgtEl>
                                          <p:spTgt spid="131"/>
                                        </p:tgtEl>
                                        <p:attrNameLst>
                                          <p:attrName>ppt_x</p:attrName>
                                        </p:attrNameLst>
                                      </p:cBhvr>
                                      <p:tavLst>
                                        <p:tav tm="0">
                                          <p:val>
                                            <p:strVal val="#ppt_x-0.05"/>
                                          </p:val>
                                        </p:tav>
                                        <p:tav tm="100000">
                                          <p:val>
                                            <p:strVal val="#ppt_x"/>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32"/>
                                        </p:tgtEl>
                                        <p:attrNameLst>
                                          <p:attrName>style.visibility</p:attrName>
                                        </p:attrNameLst>
                                      </p:cBhvr>
                                      <p:to>
                                        <p:strVal val="visible"/>
                                      </p:to>
                                    </p:set>
                                    <p:animEffect transition="in" filter="fade">
                                      <p:cBhvr>
                                        <p:cTn id="125" dur="500"/>
                                        <p:tgtEl>
                                          <p:spTgt spid="132"/>
                                        </p:tgtEl>
                                      </p:cBhvr>
                                    </p:animEffect>
                                    <p:anim calcmode="lin" valueType="num">
                                      <p:cBhvr additive="base">
                                        <p:cTn id="126" dur="500" decel="100000" fill="hold"/>
                                        <p:tgtEl>
                                          <p:spTgt spid="132"/>
                                        </p:tgtEl>
                                        <p:attrNameLst>
                                          <p:attrName>ppt_x</p:attrName>
                                        </p:attrNameLst>
                                      </p:cBhvr>
                                      <p:tavLst>
                                        <p:tav tm="0">
                                          <p:val>
                                            <p:strVal val="#ppt_x-0.05"/>
                                          </p:val>
                                        </p:tav>
                                        <p:tav tm="100000">
                                          <p:val>
                                            <p:strVal val="#ppt_x"/>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33"/>
                                        </p:tgtEl>
                                        <p:attrNameLst>
                                          <p:attrName>style.visibility</p:attrName>
                                        </p:attrNameLst>
                                      </p:cBhvr>
                                      <p:to>
                                        <p:strVal val="visible"/>
                                      </p:to>
                                    </p:set>
                                    <p:animEffect transition="in" filter="fade">
                                      <p:cBhvr>
                                        <p:cTn id="129" dur="500"/>
                                        <p:tgtEl>
                                          <p:spTgt spid="133"/>
                                        </p:tgtEl>
                                      </p:cBhvr>
                                    </p:animEffect>
                                    <p:anim calcmode="lin" valueType="num">
                                      <p:cBhvr additive="base">
                                        <p:cTn id="130" dur="500" decel="100000" fill="hold"/>
                                        <p:tgtEl>
                                          <p:spTgt spid="133"/>
                                        </p:tgtEl>
                                        <p:attrNameLst>
                                          <p:attrName>ppt_x</p:attrName>
                                        </p:attrNameLst>
                                      </p:cBhvr>
                                      <p:tavLst>
                                        <p:tav tm="0">
                                          <p:val>
                                            <p:strVal val="#ppt_x-0.05"/>
                                          </p:val>
                                        </p:tav>
                                        <p:tav tm="100000">
                                          <p:val>
                                            <p:strVal val="#ppt_x"/>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34"/>
                                        </p:tgtEl>
                                        <p:attrNameLst>
                                          <p:attrName>style.visibility</p:attrName>
                                        </p:attrNameLst>
                                      </p:cBhvr>
                                      <p:to>
                                        <p:strVal val="visible"/>
                                      </p:to>
                                    </p:set>
                                    <p:animEffect transition="in" filter="fade">
                                      <p:cBhvr>
                                        <p:cTn id="133" dur="500"/>
                                        <p:tgtEl>
                                          <p:spTgt spid="134"/>
                                        </p:tgtEl>
                                      </p:cBhvr>
                                    </p:animEffect>
                                    <p:anim calcmode="lin" valueType="num">
                                      <p:cBhvr additive="base">
                                        <p:cTn id="134" dur="500" decel="100000" fill="hold"/>
                                        <p:tgtEl>
                                          <p:spTgt spid="134"/>
                                        </p:tgtEl>
                                        <p:attrNameLst>
                                          <p:attrName>ppt_x</p:attrName>
                                        </p:attrNameLst>
                                      </p:cBhvr>
                                      <p:tavLst>
                                        <p:tav tm="0">
                                          <p:val>
                                            <p:strVal val="#ppt_x-0.05"/>
                                          </p:val>
                                        </p:tav>
                                        <p:tav tm="100000">
                                          <p:val>
                                            <p:strVal val="#ppt_x"/>
                                          </p:val>
                                        </p:tav>
                                      </p:tavLst>
                                    </p:anim>
                                  </p:childTnLst>
                                </p:cTn>
                              </p:par>
                            </p:childTnLst>
                          </p:cTn>
                        </p:par>
                      </p:childTnLst>
                    </p:cTn>
                  </p:par>
                  <p:par>
                    <p:cTn id="135" fill="hold">
                      <p:stCondLst>
                        <p:cond delay="indefinite"/>
                      </p:stCondLst>
                      <p:childTnLst>
                        <p:par>
                          <p:cTn id="136" fill="hold">
                            <p:stCondLst>
                              <p:cond delay="0"/>
                            </p:stCondLst>
                            <p:childTnLst>
                              <p:par>
                                <p:cTn id="137" presetID="42" presetClass="entr" presetSubtype="0" fill="hold" grpId="0" nodeType="clickEffect">
                                  <p:stCondLst>
                                    <p:cond delay="0"/>
                                  </p:stCondLst>
                                  <p:childTnLst>
                                    <p:set>
                                      <p:cBhvr>
                                        <p:cTn id="138" dur="1" fill="hold">
                                          <p:stCondLst>
                                            <p:cond delay="0"/>
                                          </p:stCondLst>
                                        </p:cTn>
                                        <p:tgtEl>
                                          <p:spTgt spid="135"/>
                                        </p:tgtEl>
                                        <p:attrNameLst>
                                          <p:attrName>style.visibility</p:attrName>
                                        </p:attrNameLst>
                                      </p:cBhvr>
                                      <p:to>
                                        <p:strVal val="visible"/>
                                      </p:to>
                                    </p:set>
                                    <p:animEffect transition="in" filter="fade">
                                      <p:cBhvr>
                                        <p:cTn id="139" dur="500"/>
                                        <p:tgtEl>
                                          <p:spTgt spid="135"/>
                                        </p:tgtEl>
                                      </p:cBhvr>
                                    </p:animEffect>
                                    <p:anim calcmode="lin" valueType="num">
                                      <p:cBhvr additive="base">
                                        <p:cTn id="140" dur="500" decel="100000" fill="hold"/>
                                        <p:tgtEl>
                                          <p:spTgt spid="135"/>
                                        </p:tgtEl>
                                        <p:attrNameLst>
                                          <p:attrName>ppt_x</p:attrName>
                                        </p:attrNameLst>
                                      </p:cBhvr>
                                      <p:tavLst>
                                        <p:tav tm="0">
                                          <p:val>
                                            <p:strVal val="#ppt_x-0.05"/>
                                          </p:val>
                                        </p:tav>
                                        <p:tav tm="100000">
                                          <p:val>
                                            <p:strVal val="#ppt_x"/>
                                          </p:val>
                                        </p:tav>
                                      </p:tavLst>
                                    </p:anim>
                                  </p:childTnLst>
                                </p:cTn>
                              </p:par>
                              <p:par>
                                <p:cTn id="141" presetID="42" presetClass="entr" presetSubtype="0" fill="hold" grpId="0" nodeType="withEffect">
                                  <p:stCondLst>
                                    <p:cond delay="0"/>
                                  </p:stCondLst>
                                  <p:childTnLst>
                                    <p:set>
                                      <p:cBhvr>
                                        <p:cTn id="142" dur="1" fill="hold">
                                          <p:stCondLst>
                                            <p:cond delay="0"/>
                                          </p:stCondLst>
                                        </p:cTn>
                                        <p:tgtEl>
                                          <p:spTgt spid="136"/>
                                        </p:tgtEl>
                                        <p:attrNameLst>
                                          <p:attrName>style.visibility</p:attrName>
                                        </p:attrNameLst>
                                      </p:cBhvr>
                                      <p:to>
                                        <p:strVal val="visible"/>
                                      </p:to>
                                    </p:set>
                                    <p:animEffect transition="in" filter="fade">
                                      <p:cBhvr>
                                        <p:cTn id="143" dur="500"/>
                                        <p:tgtEl>
                                          <p:spTgt spid="136"/>
                                        </p:tgtEl>
                                      </p:cBhvr>
                                    </p:animEffect>
                                    <p:anim calcmode="lin" valueType="num">
                                      <p:cBhvr additive="base">
                                        <p:cTn id="144" dur="500" decel="100000" fill="hold"/>
                                        <p:tgtEl>
                                          <p:spTgt spid="136"/>
                                        </p:tgtEl>
                                        <p:attrNameLst>
                                          <p:attrName>ppt_x</p:attrName>
                                        </p:attrNameLst>
                                      </p:cBhvr>
                                      <p:tavLst>
                                        <p:tav tm="0">
                                          <p:val>
                                            <p:strVal val="#ppt_x-0.05"/>
                                          </p:val>
                                        </p:tav>
                                        <p:tav tm="100000">
                                          <p:val>
                                            <p:strVal val="#ppt_x"/>
                                          </p:val>
                                        </p:tav>
                                      </p:tavLst>
                                    </p:anim>
                                  </p:childTnLst>
                                </p:cTn>
                              </p:par>
                              <p:par>
                                <p:cTn id="145" presetID="42" presetClass="entr" presetSubtype="0" fill="hold" grpId="0" nodeType="withEffect">
                                  <p:stCondLst>
                                    <p:cond delay="0"/>
                                  </p:stCondLst>
                                  <p:childTnLst>
                                    <p:set>
                                      <p:cBhvr>
                                        <p:cTn id="146" dur="1" fill="hold">
                                          <p:stCondLst>
                                            <p:cond delay="0"/>
                                          </p:stCondLst>
                                        </p:cTn>
                                        <p:tgtEl>
                                          <p:spTgt spid="137"/>
                                        </p:tgtEl>
                                        <p:attrNameLst>
                                          <p:attrName>style.visibility</p:attrName>
                                        </p:attrNameLst>
                                      </p:cBhvr>
                                      <p:to>
                                        <p:strVal val="visible"/>
                                      </p:to>
                                    </p:set>
                                    <p:animEffect transition="in" filter="fade">
                                      <p:cBhvr>
                                        <p:cTn id="147" dur="500"/>
                                        <p:tgtEl>
                                          <p:spTgt spid="137"/>
                                        </p:tgtEl>
                                      </p:cBhvr>
                                    </p:animEffect>
                                    <p:anim calcmode="lin" valueType="num">
                                      <p:cBhvr additive="base">
                                        <p:cTn id="148" dur="500" decel="100000" fill="hold"/>
                                        <p:tgtEl>
                                          <p:spTgt spid="137"/>
                                        </p:tgtEl>
                                        <p:attrNameLst>
                                          <p:attrName>ppt_x</p:attrName>
                                        </p:attrNameLst>
                                      </p:cBhvr>
                                      <p:tavLst>
                                        <p:tav tm="0">
                                          <p:val>
                                            <p:strVal val="#ppt_x-0.05"/>
                                          </p:val>
                                        </p:tav>
                                        <p:tav tm="100000">
                                          <p:val>
                                            <p:strVal val="#ppt_x"/>
                                          </p:val>
                                        </p:tav>
                                      </p:tavLst>
                                    </p:anim>
                                  </p:childTnLst>
                                </p:cTn>
                              </p:par>
                              <p:par>
                                <p:cTn id="149" presetID="42" presetClass="entr" presetSubtype="0" fill="hold" grpId="0" nodeType="withEffect">
                                  <p:stCondLst>
                                    <p:cond delay="0"/>
                                  </p:stCondLst>
                                  <p:childTnLst>
                                    <p:set>
                                      <p:cBhvr>
                                        <p:cTn id="150" dur="1" fill="hold">
                                          <p:stCondLst>
                                            <p:cond delay="0"/>
                                          </p:stCondLst>
                                        </p:cTn>
                                        <p:tgtEl>
                                          <p:spTgt spid="138"/>
                                        </p:tgtEl>
                                        <p:attrNameLst>
                                          <p:attrName>style.visibility</p:attrName>
                                        </p:attrNameLst>
                                      </p:cBhvr>
                                      <p:to>
                                        <p:strVal val="visible"/>
                                      </p:to>
                                    </p:set>
                                    <p:animEffect transition="in" filter="fade">
                                      <p:cBhvr>
                                        <p:cTn id="151" dur="500"/>
                                        <p:tgtEl>
                                          <p:spTgt spid="138"/>
                                        </p:tgtEl>
                                      </p:cBhvr>
                                    </p:animEffect>
                                    <p:anim calcmode="lin" valueType="num">
                                      <p:cBhvr additive="base">
                                        <p:cTn id="152" dur="500" decel="100000" fill="hold"/>
                                        <p:tgtEl>
                                          <p:spTgt spid="138"/>
                                        </p:tgtEl>
                                        <p:attrNameLst>
                                          <p:attrName>ppt_x</p:attrName>
                                        </p:attrNameLst>
                                      </p:cBhvr>
                                      <p:tavLst>
                                        <p:tav tm="0">
                                          <p:val>
                                            <p:strVal val="#ppt_x-0.05"/>
                                          </p:val>
                                        </p:tav>
                                        <p:tav tm="100000">
                                          <p:val>
                                            <p:strVal val="#ppt_x"/>
                                          </p:val>
                                        </p:tav>
                                      </p:tavLst>
                                    </p:anim>
                                  </p:childTnLst>
                                </p:cTn>
                              </p:par>
                              <p:par>
                                <p:cTn id="153" presetID="42" presetClass="entr" presetSubtype="0" fill="hold" grpId="0" nodeType="withEffect">
                                  <p:stCondLst>
                                    <p:cond delay="0"/>
                                  </p:stCondLst>
                                  <p:childTnLst>
                                    <p:set>
                                      <p:cBhvr>
                                        <p:cTn id="154" dur="1" fill="hold">
                                          <p:stCondLst>
                                            <p:cond delay="0"/>
                                          </p:stCondLst>
                                        </p:cTn>
                                        <p:tgtEl>
                                          <p:spTgt spid="139"/>
                                        </p:tgtEl>
                                        <p:attrNameLst>
                                          <p:attrName>style.visibility</p:attrName>
                                        </p:attrNameLst>
                                      </p:cBhvr>
                                      <p:to>
                                        <p:strVal val="visible"/>
                                      </p:to>
                                    </p:set>
                                    <p:animEffect transition="in" filter="fade">
                                      <p:cBhvr>
                                        <p:cTn id="155" dur="500"/>
                                        <p:tgtEl>
                                          <p:spTgt spid="139"/>
                                        </p:tgtEl>
                                      </p:cBhvr>
                                    </p:animEffect>
                                    <p:anim calcmode="lin" valueType="num">
                                      <p:cBhvr additive="base">
                                        <p:cTn id="156" dur="500" decel="100000" fill="hold"/>
                                        <p:tgtEl>
                                          <p:spTgt spid="139"/>
                                        </p:tgtEl>
                                        <p:attrNameLst>
                                          <p:attrName>ppt_x</p:attrName>
                                        </p:attrNameLst>
                                      </p:cBhvr>
                                      <p:tavLst>
                                        <p:tav tm="0">
                                          <p:val>
                                            <p:strVal val="#ppt_x-0.05"/>
                                          </p:val>
                                        </p:tav>
                                        <p:tav tm="100000">
                                          <p:val>
                                            <p:strVal val="#ppt_x"/>
                                          </p:val>
                                        </p:tav>
                                      </p:tavLst>
                                    </p:anim>
                                  </p:childTnLst>
                                </p:cTn>
                              </p:par>
                            </p:childTnLst>
                          </p:cTn>
                        </p:par>
                      </p:childTnLst>
                    </p:cTn>
                  </p:par>
                  <p:par>
                    <p:cTn id="157" fill="hold">
                      <p:stCondLst>
                        <p:cond delay="indefinite"/>
                      </p:stCondLst>
                      <p:childTnLst>
                        <p:par>
                          <p:cTn id="158" fill="hold">
                            <p:stCondLst>
                              <p:cond delay="0"/>
                            </p:stCondLst>
                            <p:childTnLst>
                              <p:par>
                                <p:cTn id="159" presetID="42" presetClass="entr" presetSubtype="0" fill="hold" grpId="0" nodeType="clickEffect">
                                  <p:stCondLst>
                                    <p:cond delay="0"/>
                                  </p:stCondLst>
                                  <p:childTnLst>
                                    <p:set>
                                      <p:cBhvr>
                                        <p:cTn id="160" dur="1" fill="hold">
                                          <p:stCondLst>
                                            <p:cond delay="0"/>
                                          </p:stCondLst>
                                        </p:cTn>
                                        <p:tgtEl>
                                          <p:spTgt spid="140"/>
                                        </p:tgtEl>
                                        <p:attrNameLst>
                                          <p:attrName>style.visibility</p:attrName>
                                        </p:attrNameLst>
                                      </p:cBhvr>
                                      <p:to>
                                        <p:strVal val="visible"/>
                                      </p:to>
                                    </p:set>
                                    <p:animEffect transition="in" filter="fade">
                                      <p:cBhvr>
                                        <p:cTn id="161" dur="500"/>
                                        <p:tgtEl>
                                          <p:spTgt spid="140"/>
                                        </p:tgtEl>
                                      </p:cBhvr>
                                    </p:animEffect>
                                    <p:anim calcmode="lin" valueType="num">
                                      <p:cBhvr additive="base">
                                        <p:cTn id="162" dur="500" decel="100000" fill="hold"/>
                                        <p:tgtEl>
                                          <p:spTgt spid="140"/>
                                        </p:tgtEl>
                                        <p:attrNameLst>
                                          <p:attrName>ppt_y</p:attrName>
                                        </p:attrNameLst>
                                      </p:cBhvr>
                                      <p:tavLst>
                                        <p:tav tm="0">
                                          <p:val>
                                            <p:strVal val="#ppt_y+0.06"/>
                                          </p:val>
                                        </p:tav>
                                        <p:tav tm="100000">
                                          <p:val>
                                            <p:strVal val="#ppt_y"/>
                                          </p:val>
                                        </p:tav>
                                      </p:tavLst>
                                    </p:anim>
                                  </p:childTnLst>
                                </p:cTn>
                              </p:par>
                              <p:par>
                                <p:cTn id="163" presetID="42" presetClass="entr" presetSubtype="0" fill="hold" grpId="0" nodeType="withEffect">
                                  <p:stCondLst>
                                    <p:cond delay="120"/>
                                  </p:stCondLst>
                                  <p:childTnLst>
                                    <p:set>
                                      <p:cBhvr>
                                        <p:cTn id="164" dur="1" fill="hold">
                                          <p:stCondLst>
                                            <p:cond delay="0"/>
                                          </p:stCondLst>
                                        </p:cTn>
                                        <p:tgtEl>
                                          <p:spTgt spid="141"/>
                                        </p:tgtEl>
                                        <p:attrNameLst>
                                          <p:attrName>style.visibility</p:attrName>
                                        </p:attrNameLst>
                                      </p:cBhvr>
                                      <p:to>
                                        <p:strVal val="visible"/>
                                      </p:to>
                                    </p:set>
                                    <p:animEffect transition="in" filter="fade">
                                      <p:cBhvr>
                                        <p:cTn id="165" dur="500"/>
                                        <p:tgtEl>
                                          <p:spTgt spid="141"/>
                                        </p:tgtEl>
                                      </p:cBhvr>
                                    </p:animEffect>
                                    <p:anim calcmode="lin" valueType="num">
                                      <p:cBhvr additive="base">
                                        <p:cTn id="166" dur="500" decel="100000" fill="hold"/>
                                        <p:tgtEl>
                                          <p:spTgt spid="141"/>
                                        </p:tgtEl>
                                        <p:attrNameLst>
                                          <p:attrName>ppt_y</p:attrName>
                                        </p:attrNameLst>
                                      </p:cBhvr>
                                      <p:tavLst>
                                        <p:tav tm="0">
                                          <p:val>
                                            <p:strVal val="#ppt_y+0.06"/>
                                          </p:val>
                                        </p:tav>
                                        <p:tav tm="100000">
                                          <p:val>
                                            <p:strVal val="#ppt_y"/>
                                          </p:val>
                                        </p:tav>
                                      </p:tavLst>
                                    </p:anim>
                                  </p:childTnLst>
                                </p:cTn>
                              </p:par>
                              <p:par>
                                <p:cTn id="167" presetID="42" presetClass="entr" presetSubtype="0" fill="hold" grpId="0" nodeType="withEffect">
                                  <p:stCondLst>
                                    <p:cond delay="240"/>
                                  </p:stCondLst>
                                  <p:childTnLst>
                                    <p:set>
                                      <p:cBhvr>
                                        <p:cTn id="168" dur="1" fill="hold">
                                          <p:stCondLst>
                                            <p:cond delay="0"/>
                                          </p:stCondLst>
                                        </p:cTn>
                                        <p:tgtEl>
                                          <p:spTgt spid="142"/>
                                        </p:tgtEl>
                                        <p:attrNameLst>
                                          <p:attrName>style.visibility</p:attrName>
                                        </p:attrNameLst>
                                      </p:cBhvr>
                                      <p:to>
                                        <p:strVal val="visible"/>
                                      </p:to>
                                    </p:set>
                                    <p:animEffect transition="in" filter="fade">
                                      <p:cBhvr>
                                        <p:cTn id="169" dur="500"/>
                                        <p:tgtEl>
                                          <p:spTgt spid="142"/>
                                        </p:tgtEl>
                                      </p:cBhvr>
                                    </p:animEffect>
                                    <p:anim calcmode="lin" valueType="num">
                                      <p:cBhvr additive="base">
                                        <p:cTn id="170" dur="500" decel="100000" fill="hold"/>
                                        <p:tgtEl>
                                          <p:spTgt spid="142"/>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STUB</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STUB: Give the Class a Fixed Answer</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The real exchange rate comes from a web API and changes every minute. The test must choose it.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157</a:t>
            </a:r>
            <a:endParaRPr lang="en-US" sz="850" dirty="0"/>
          </a:p>
        </p:txBody>
      </p:sp>
      <p:sp>
        <p:nvSpPr>
          <p:cNvPr id="101" name="s101"/>
          <p:cNvSpPr/>
          <p:nvPr/>
        </p:nvSpPr>
        <p:spPr>
          <a:xfrm>
            <a:off x="8979408" y="457200"/>
            <a:ext cx="2651760" cy="310896"/>
          </a:xfrm>
          <a:prstGeom prst="roundRect">
            <a:avLst>
              <a:gd name="adj" fmla="val 50000"/>
            </a:avLst>
          </a:prstGeom>
          <a:solidFill>
            <a:srgbClr val="13D0F7"/>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  EVERY DAY</a:t>
            </a:r>
            <a:endParaRPr lang="en-US" sz="1100" dirty="0"/>
          </a:p>
        </p:txBody>
      </p:sp>
      <p:sp>
        <p:nvSpPr>
          <p:cNvPr id="102" name="s102"/>
          <p:cNvSpPr/>
          <p:nvPr/>
        </p:nvSpPr>
        <p:spPr>
          <a:xfrm>
            <a:off x="543154" y="1810512"/>
            <a:ext cx="3931920" cy="1481328"/>
          </a:xfrm>
          <a:prstGeom prst="roundRect">
            <a:avLst>
              <a:gd name="adj" fmla="val 8000"/>
            </a:avLst>
          </a:prstGeom>
          <a:solidFill>
            <a:srgbClr val="111B2E"/>
          </a:solidFill>
          <a:ln w="12700">
            <a:solidFill>
              <a:srgbClr val="13D0F7"/>
            </a:solidFill>
            <a:prstDash val="solid"/>
          </a:ln>
        </p:spPr>
        <p:txBody>
          <a:bodyPr wrap="square" lIns="182880" tIns="128016" rIns="137160" bIns="91440" rtlCol="0" anchor="t">
            <a:noAutofit/>
          </a:bodyPr>
          <a:lstStyle/>
          <a:p>
            <a:pPr marL="0" indent="0" algn="l">
              <a:spcBef>
                <a:spcPts val="0"/>
              </a:spcBef>
              <a:spcAft>
                <a:spcPts val="500"/>
              </a:spcAft>
              <a:buNone/>
            </a:pPr>
            <a:r>
              <a:rPr lang="en-US" sz="1100" b="1" dirty="0">
                <a:solidFill>
                  <a:srgbClr val="13D0F7"/>
                </a:solidFill>
                <a:latin typeface="Segoe UI"/>
                <a:ea typeface="Segoe UI"/>
                <a:cs typeface="Segoe UI"/>
              </a:rPr>
              <a:t>WHEN TO USE IT</a:t>
            </a:r>
            <a:endParaRPr lang="en-US" sz="1100" dirty="0"/>
          </a:p>
          <a:p>
            <a:pPr marL="0" indent="0" algn="l">
              <a:spcBef>
                <a:spcPts val="0"/>
              </a:spcBef>
              <a:spcAft>
                <a:spcPts val="400"/>
              </a:spcAft>
              <a:buNone/>
            </a:pPr>
            <a:r>
              <a:rPr lang="en-US" sz="1200" b="0" dirty="0">
                <a:solidFill>
                  <a:srgbClr val="13D0F7"/>
                </a:solidFill>
                <a:latin typeface="Segoe UI"/>
                <a:ea typeface="Segoe UI"/>
                <a:cs typeface="Segoe UI"/>
              </a:rPr>
              <a:t>•  </a:t>
            </a:r>
            <a:r>
              <a:rPr lang="en-US" sz="1200" b="0" dirty="0">
                <a:solidFill>
                  <a:srgbClr val="E2E8F0"/>
                </a:solidFill>
                <a:latin typeface="Segoe UI"/>
                <a:ea typeface="Segoe UI"/>
                <a:cs typeface="Segoe UI"/>
              </a:rPr>
              <a:t>the class ASKS a dependency for data</a:t>
            </a:r>
            <a:endParaRPr lang="en-US" sz="1200" dirty="0"/>
          </a:p>
          <a:p>
            <a:pPr marL="0" indent="0" algn="l">
              <a:spcBef>
                <a:spcPts val="0"/>
              </a:spcBef>
              <a:spcAft>
                <a:spcPts val="400"/>
              </a:spcAft>
              <a:buNone/>
            </a:pPr>
            <a:r>
              <a:rPr lang="en-US" sz="1200" b="0" dirty="0">
                <a:solidFill>
                  <a:srgbClr val="13D0F7"/>
                </a:solidFill>
                <a:latin typeface="Segoe UI"/>
                <a:ea typeface="Segoe UI"/>
                <a:cs typeface="Segoe UI"/>
              </a:rPr>
              <a:t>•  </a:t>
            </a:r>
            <a:r>
              <a:rPr lang="en-US" sz="1200" b="0" dirty="0">
                <a:solidFill>
                  <a:srgbClr val="E2E8F0"/>
                </a:solidFill>
                <a:latin typeface="Segoe UI"/>
                <a:ea typeface="Segoe UI"/>
                <a:cs typeface="Segoe UI"/>
              </a:rPr>
              <a:t>you cannot control or predict that data</a:t>
            </a:r>
            <a:endParaRPr lang="en-US" sz="1200" dirty="0"/>
          </a:p>
          <a:p>
            <a:pPr marL="0" indent="0" algn="l">
              <a:spcBef>
                <a:spcPts val="0"/>
              </a:spcBef>
              <a:spcAft>
                <a:spcPts val="400"/>
              </a:spcAft>
              <a:buNone/>
            </a:pPr>
            <a:r>
              <a:rPr lang="en-US" sz="1200" b="0" dirty="0">
                <a:solidFill>
                  <a:srgbClr val="13D0F7"/>
                </a:solidFill>
                <a:latin typeface="Segoe UI"/>
                <a:ea typeface="Segoe UI"/>
                <a:cs typeface="Segoe UI"/>
              </a:rPr>
              <a:t>•  </a:t>
            </a:r>
            <a:r>
              <a:rPr lang="en-US" sz="1200" b="0" dirty="0">
                <a:solidFill>
                  <a:srgbClr val="E2E8F0"/>
                </a:solidFill>
                <a:latin typeface="Segoe UI"/>
                <a:ea typeface="Segoe UI"/>
                <a:cs typeface="Segoe UI"/>
              </a:rPr>
              <a:t>rates, time, settings, a DB lookup</a:t>
            </a:r>
            <a:endParaRPr lang="en-US" sz="1200" dirty="0"/>
          </a:p>
        </p:txBody>
      </p:sp>
      <p:sp>
        <p:nvSpPr>
          <p:cNvPr id="103" name="s103"/>
          <p:cNvSpPr/>
          <p:nvPr/>
        </p:nvSpPr>
        <p:spPr>
          <a:xfrm>
            <a:off x="543154" y="3401568"/>
            <a:ext cx="3931920" cy="1572768"/>
          </a:xfrm>
          <a:prstGeom prst="roundRect">
            <a:avLst>
              <a:gd name="adj" fmla="val 8000"/>
            </a:avLst>
          </a:prstGeom>
          <a:solidFill>
            <a:srgbClr val="111B2E"/>
          </a:solidFill>
          <a:ln w="12700">
            <a:solidFill>
              <a:srgbClr val="FBBF24"/>
            </a:solidFill>
            <a:prstDash val="solid"/>
          </a:ln>
        </p:spPr>
        <p:txBody>
          <a:bodyPr wrap="square" lIns="182880" tIns="128016" rIns="137160" bIns="91440" rtlCol="0" anchor="t">
            <a:noAutofit/>
          </a:bodyPr>
          <a:lstStyle/>
          <a:p>
            <a:pPr marL="0" indent="0" algn="l">
              <a:spcBef>
                <a:spcPts val="0"/>
              </a:spcBef>
              <a:spcAft>
                <a:spcPts val="500"/>
              </a:spcAft>
              <a:buNone/>
            </a:pPr>
            <a:r>
              <a:rPr lang="en-US" sz="1100" b="1" dirty="0">
                <a:solidFill>
                  <a:srgbClr val="FBBF24"/>
                </a:solidFill>
                <a:latin typeface="Segoe UI"/>
                <a:ea typeface="Segoe UI"/>
                <a:cs typeface="Segoe UI"/>
              </a:rPr>
              <a:t>WHAT YOU NEED</a:t>
            </a:r>
            <a:endParaRPr lang="en-US" sz="1100" dirty="0"/>
          </a:p>
          <a:p>
            <a:pPr marL="0" indent="0" algn="l">
              <a:spcBef>
                <a:spcPts val="0"/>
              </a:spcBef>
              <a:spcAft>
                <a:spcPts val="400"/>
              </a:spcAft>
              <a:buNone/>
            </a:pPr>
            <a:r>
              <a:rPr lang="en-US" sz="1050" b="0" dirty="0">
                <a:solidFill>
                  <a:srgbClr val="94A3B8"/>
                </a:solidFill>
                <a:latin typeface="Consolas"/>
                <a:ea typeface="Consolas"/>
                <a:cs typeface="Consolas"/>
              </a:rPr>
              <a:t>$ </a:t>
            </a:r>
            <a:r>
              <a:rPr lang="en-US" sz="1050" b="1" dirty="0">
                <a:solidFill>
                  <a:srgbClr val="34D399"/>
                </a:solidFill>
                <a:latin typeface="Consolas"/>
                <a:ea typeface="Consolas"/>
                <a:cs typeface="Consolas"/>
              </a:rPr>
              <a:t>dotnet add package NSubstitute</a:t>
            </a:r>
            <a:endParaRPr lang="en-US" sz="105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using NSubstitute;</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Substitute.For&lt;IExchangeRates&gt;()</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.Returns(48.5m)  sets the answer</a:t>
            </a:r>
            <a:endParaRPr lang="en-US" sz="1200" dirty="0"/>
          </a:p>
        </p:txBody>
      </p:sp>
      <p:sp>
        <p:nvSpPr>
          <p:cNvPr id="104" name="s104"/>
          <p:cNvSpPr/>
          <p:nvPr/>
        </p:nvSpPr>
        <p:spPr>
          <a:xfrm>
            <a:off x="543154" y="5084064"/>
            <a:ext cx="3931920" cy="1170432"/>
          </a:xfrm>
          <a:prstGeom prst="roundRect">
            <a:avLst>
              <a:gd name="adj" fmla="val 8000"/>
            </a:avLst>
          </a:prstGeom>
          <a:solidFill>
            <a:srgbClr val="13D0F7">
              <a:alpha val="10000"/>
            </a:srgbClr>
          </a:solidFill>
          <a:ln w="12700">
            <a:solidFill>
              <a:srgbClr val="13D0F7"/>
            </a:solidFill>
            <a:prstDash val="solid"/>
          </a:ln>
        </p:spPr>
        <p:txBody>
          <a:bodyPr wrap="square" lIns="182880" tIns="73152" rIns="137160" bIns="73152" rtlCol="0" anchor="ctr">
            <a:noAutofit/>
          </a:bodyPr>
          <a:lstStyle/>
          <a:p>
            <a:pPr marL="0" indent="0" algn="l">
              <a:spcBef>
                <a:spcPts val="0"/>
              </a:spcBef>
              <a:spcAft>
                <a:spcPts val="400"/>
              </a:spcAft>
              <a:buNone/>
            </a:pPr>
            <a:r>
              <a:rPr lang="en-US" sz="1100" b="1" dirty="0">
                <a:solidFill>
                  <a:srgbClr val="13D0F7"/>
                </a:solidFill>
                <a:latin typeface="Segoe UI"/>
                <a:ea typeface="Segoe UI"/>
                <a:cs typeface="Segoe UI"/>
              </a:rPr>
              <a:t>REMEMBER</a:t>
            </a:r>
            <a:endParaRPr lang="en-US" sz="1100" dirty="0"/>
          </a:p>
          <a:p>
            <a:pPr marL="0" indent="0" algn="l">
              <a:spcBef>
                <a:spcPts val="0"/>
              </a:spcBef>
              <a:spcAft>
                <a:spcPts val="0"/>
              </a:spcAft>
              <a:buNone/>
            </a:pPr>
            <a:r>
              <a:rPr lang="en-US" sz="1200" b="0" dirty="0">
                <a:solidFill>
                  <a:srgbClr val="FFFFFF"/>
                </a:solidFill>
                <a:latin typeface="Segoe UI"/>
                <a:ea typeface="Segoe UI"/>
                <a:cs typeface="Segoe UI"/>
              </a:rPr>
              <a:t>A stub is only ASKED. Check the RESULT of the class, never Received() on a stub.</a:t>
            </a:r>
            <a:endParaRPr lang="en-US" sz="1200" dirty="0"/>
          </a:p>
        </p:txBody>
      </p:sp>
      <p:sp>
        <p:nvSpPr>
          <p:cNvPr id="105" name="s105"/>
          <p:cNvSpPr/>
          <p:nvPr/>
        </p:nvSpPr>
        <p:spPr>
          <a:xfrm>
            <a:off x="4703674" y="1810512"/>
            <a:ext cx="6927494" cy="1895856"/>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6" name="s106"/>
          <p:cNvSpPr/>
          <p:nvPr/>
        </p:nvSpPr>
        <p:spPr>
          <a:xfrm>
            <a:off x="4868266" y="195681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7" name="s107"/>
          <p:cNvSpPr/>
          <p:nvPr/>
        </p:nvSpPr>
        <p:spPr>
          <a:xfrm>
            <a:off x="5051146" y="195681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8" name="s108"/>
          <p:cNvSpPr/>
          <p:nvPr/>
        </p:nvSpPr>
        <p:spPr>
          <a:xfrm>
            <a:off x="5234026" y="195681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9" name="s109"/>
          <p:cNvSpPr/>
          <p:nvPr/>
        </p:nvSpPr>
        <p:spPr>
          <a:xfrm>
            <a:off x="5480914" y="1883664"/>
            <a:ext cx="352958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CurrencyConverter.cs  ·  the class under test</a:t>
            </a:r>
            <a:endParaRPr lang="en-US" sz="950" dirty="0"/>
          </a:p>
        </p:txBody>
      </p:sp>
      <p:cxnSp>
        <p:nvCxnSpPr>
          <p:cNvPr id="110" name="ln110"/>
          <p:cNvCxnSpPr/>
          <p:nvPr/>
        </p:nvCxnSpPr>
        <p:spPr>
          <a:xfrm>
            <a:off x="4703674" y="2221992"/>
            <a:ext cx="6927494" cy="0"/>
          </a:xfrm>
          <a:prstGeom prst="line">
            <a:avLst/>
          </a:prstGeom>
          <a:ln w="9525">
            <a:solidFill>
              <a:srgbClr val="1E3A5F"/>
            </a:solidFill>
          </a:ln>
        </p:spPr>
      </p:cxnSp>
      <p:sp>
        <p:nvSpPr>
          <p:cNvPr id="111" name="s111"/>
          <p:cNvSpPr/>
          <p:nvPr/>
        </p:nvSpPr>
        <p:spPr>
          <a:xfrm>
            <a:off x="4703674" y="2340864"/>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interface</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IExchangeRates</a:t>
            </a:r>
            <a:r>
              <a:rPr lang="en-US" sz="800" b="0" dirty="0">
                <a:solidFill>
                  <a:srgbClr val="E2E8F0"/>
                </a:solidFill>
                <a:latin typeface="Consolas"/>
                <a:ea typeface="Consolas"/>
                <a:cs typeface="Consolas"/>
              </a:rPr>
              <a:t> { </a:t>
            </a:r>
            <a:r>
              <a:rPr lang="en-US" sz="800" b="0" dirty="0">
                <a:solidFill>
                  <a:srgbClr val="60A5FA"/>
                </a:solidFill>
                <a:latin typeface="Consolas"/>
                <a:ea typeface="Consolas"/>
                <a:cs typeface="Consolas"/>
              </a:rPr>
              <a:t>decimal</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Rate</a:t>
            </a:r>
            <a:r>
              <a:rPr lang="en-US" sz="800" b="0" dirty="0">
                <a:solidFill>
                  <a:srgbClr val="E2E8F0"/>
                </a:solidFill>
                <a:latin typeface="Consolas"/>
                <a:ea typeface="Consolas"/>
                <a:cs typeface="Consolas"/>
              </a:rPr>
              <a:t>(</a:t>
            </a:r>
            <a:r>
              <a:rPr lang="en-US" sz="800" b="0" dirty="0">
                <a:solidFill>
                  <a:srgbClr val="60A5FA"/>
                </a:solidFill>
                <a:latin typeface="Consolas"/>
                <a:ea typeface="Consolas"/>
                <a:cs typeface="Consolas"/>
              </a:rPr>
              <a:t>string</a:t>
            </a:r>
            <a:r>
              <a:rPr lang="en-US" sz="800" b="0" dirty="0">
                <a:solidFill>
                  <a:srgbClr val="E2E8F0"/>
                </a:solidFill>
                <a:latin typeface="Consolas"/>
                <a:ea typeface="Consolas"/>
                <a:cs typeface="Consolas"/>
              </a:rPr>
              <a:t> from, </a:t>
            </a:r>
            <a:r>
              <a:rPr lang="en-US" sz="800" b="0" dirty="0">
                <a:solidFill>
                  <a:srgbClr val="60A5FA"/>
                </a:solidFill>
                <a:latin typeface="Consolas"/>
                <a:ea typeface="Consolas"/>
                <a:cs typeface="Consolas"/>
              </a:rPr>
              <a:t>string</a:t>
            </a:r>
            <a:r>
              <a:rPr lang="en-US" sz="800" b="0" dirty="0">
                <a:solidFill>
                  <a:srgbClr val="E2E8F0"/>
                </a:solidFill>
                <a:latin typeface="Consolas"/>
                <a:ea typeface="Consolas"/>
                <a:cs typeface="Consolas"/>
              </a:rPr>
              <a:t> to); }</a:t>
            </a:r>
            <a:endParaRPr lang="en-US" sz="800" dirty="0"/>
          </a:p>
        </p:txBody>
      </p:sp>
      <p:sp>
        <p:nvSpPr>
          <p:cNvPr id="112" name="s112"/>
          <p:cNvSpPr/>
          <p:nvPr/>
        </p:nvSpPr>
        <p:spPr>
          <a:xfrm>
            <a:off x="4703674" y="2584704"/>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class</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CurrencyConverter</a:t>
            </a:r>
            <a:endParaRPr lang="en-US" sz="800" dirty="0"/>
          </a:p>
        </p:txBody>
      </p:sp>
      <p:sp>
        <p:nvSpPr>
          <p:cNvPr id="113" name="s113"/>
          <p:cNvSpPr/>
          <p:nvPr/>
        </p:nvSpPr>
        <p:spPr>
          <a:xfrm>
            <a:off x="4703674" y="2706624"/>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14" name="s114"/>
          <p:cNvSpPr/>
          <p:nvPr/>
        </p:nvSpPr>
        <p:spPr>
          <a:xfrm>
            <a:off x="4703674" y="2828544"/>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private</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readonly</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IExchangeRates</a:t>
            </a:r>
            <a:r>
              <a:rPr lang="en-US" sz="800" b="0" dirty="0">
                <a:solidFill>
                  <a:srgbClr val="E2E8F0"/>
                </a:solidFill>
                <a:latin typeface="Consolas"/>
                <a:ea typeface="Consolas"/>
                <a:cs typeface="Consolas"/>
              </a:rPr>
              <a:t> _rates;</a:t>
            </a:r>
            <a:endParaRPr lang="en-US" sz="800" dirty="0"/>
          </a:p>
        </p:txBody>
      </p:sp>
      <p:sp>
        <p:nvSpPr>
          <p:cNvPr id="115" name="s115"/>
          <p:cNvSpPr/>
          <p:nvPr/>
        </p:nvSpPr>
        <p:spPr>
          <a:xfrm>
            <a:off x="4703674" y="2950464"/>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CurrencyConverter</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IExchangeRates</a:t>
            </a:r>
            <a:r>
              <a:rPr lang="en-US" sz="800" b="0" dirty="0">
                <a:solidFill>
                  <a:srgbClr val="E2E8F0"/>
                </a:solidFill>
                <a:latin typeface="Consolas"/>
                <a:ea typeface="Consolas"/>
                <a:cs typeface="Consolas"/>
              </a:rPr>
              <a:t> rates) =&gt; _rates = rates;</a:t>
            </a:r>
            <a:endParaRPr lang="en-US" sz="800" dirty="0"/>
          </a:p>
        </p:txBody>
      </p:sp>
      <p:sp>
        <p:nvSpPr>
          <p:cNvPr id="116" name="s116"/>
          <p:cNvSpPr/>
          <p:nvPr/>
        </p:nvSpPr>
        <p:spPr>
          <a:xfrm>
            <a:off x="4703674" y="3194304"/>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decimal</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Convert</a:t>
            </a:r>
            <a:r>
              <a:rPr lang="en-US" sz="800" b="0" dirty="0">
                <a:solidFill>
                  <a:srgbClr val="E2E8F0"/>
                </a:solidFill>
                <a:latin typeface="Consolas"/>
                <a:ea typeface="Consolas"/>
                <a:cs typeface="Consolas"/>
              </a:rPr>
              <a:t>(</a:t>
            </a:r>
            <a:r>
              <a:rPr lang="en-US" sz="800" b="0" dirty="0">
                <a:solidFill>
                  <a:srgbClr val="60A5FA"/>
                </a:solidFill>
                <a:latin typeface="Consolas"/>
                <a:ea typeface="Consolas"/>
                <a:cs typeface="Consolas"/>
              </a:rPr>
              <a:t>decimal</a:t>
            </a:r>
            <a:r>
              <a:rPr lang="en-US" sz="800" b="0" dirty="0">
                <a:solidFill>
                  <a:srgbClr val="E2E8F0"/>
                </a:solidFill>
                <a:latin typeface="Consolas"/>
                <a:ea typeface="Consolas"/>
                <a:cs typeface="Consolas"/>
              </a:rPr>
              <a:t> amount, </a:t>
            </a:r>
            <a:r>
              <a:rPr lang="en-US" sz="800" b="0" dirty="0">
                <a:solidFill>
                  <a:srgbClr val="60A5FA"/>
                </a:solidFill>
                <a:latin typeface="Consolas"/>
                <a:ea typeface="Consolas"/>
                <a:cs typeface="Consolas"/>
              </a:rPr>
              <a:t>string</a:t>
            </a:r>
            <a:r>
              <a:rPr lang="en-US" sz="800" b="0" dirty="0">
                <a:solidFill>
                  <a:srgbClr val="E2E8F0"/>
                </a:solidFill>
                <a:latin typeface="Consolas"/>
                <a:ea typeface="Consolas"/>
                <a:cs typeface="Consolas"/>
              </a:rPr>
              <a:t> from, </a:t>
            </a:r>
            <a:r>
              <a:rPr lang="en-US" sz="800" b="0" dirty="0">
                <a:solidFill>
                  <a:srgbClr val="60A5FA"/>
                </a:solidFill>
                <a:latin typeface="Consolas"/>
                <a:ea typeface="Consolas"/>
                <a:cs typeface="Consolas"/>
              </a:rPr>
              <a:t>string</a:t>
            </a:r>
            <a:r>
              <a:rPr lang="en-US" sz="800" b="0" dirty="0">
                <a:solidFill>
                  <a:srgbClr val="E2E8F0"/>
                </a:solidFill>
                <a:latin typeface="Consolas"/>
                <a:ea typeface="Consolas"/>
                <a:cs typeface="Consolas"/>
              </a:rPr>
              <a:t> to) =&gt;</a:t>
            </a:r>
            <a:endParaRPr lang="en-US" sz="800" dirty="0"/>
          </a:p>
        </p:txBody>
      </p:sp>
      <p:sp>
        <p:nvSpPr>
          <p:cNvPr id="117" name="s117"/>
          <p:cNvSpPr/>
          <p:nvPr/>
        </p:nvSpPr>
        <p:spPr>
          <a:xfrm>
            <a:off x="4703674" y="3316224"/>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from == to ? amount : </a:t>
            </a:r>
            <a:r>
              <a:rPr lang="en-US" sz="800" b="0" dirty="0">
                <a:solidFill>
                  <a:srgbClr val="7DD3FC"/>
                </a:solidFill>
                <a:latin typeface="Consolas"/>
                <a:ea typeface="Consolas"/>
                <a:cs typeface="Consolas"/>
              </a:rPr>
              <a:t>Math</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Round</a:t>
            </a:r>
            <a:r>
              <a:rPr lang="en-US" sz="800" b="0" dirty="0">
                <a:solidFill>
                  <a:srgbClr val="E2E8F0"/>
                </a:solidFill>
                <a:latin typeface="Consolas"/>
                <a:ea typeface="Consolas"/>
                <a:cs typeface="Consolas"/>
              </a:rPr>
              <a:t>(amount * _rates.</a:t>
            </a:r>
            <a:r>
              <a:rPr lang="en-US" sz="800" b="0" dirty="0">
                <a:solidFill>
                  <a:srgbClr val="7DD3FC"/>
                </a:solidFill>
                <a:latin typeface="Consolas"/>
                <a:ea typeface="Consolas"/>
                <a:cs typeface="Consolas"/>
              </a:rPr>
              <a:t>Rate</a:t>
            </a:r>
            <a:r>
              <a:rPr lang="en-US" sz="800" b="0" dirty="0">
                <a:solidFill>
                  <a:srgbClr val="E2E8F0"/>
                </a:solidFill>
                <a:latin typeface="Consolas"/>
                <a:ea typeface="Consolas"/>
                <a:cs typeface="Consolas"/>
              </a:rPr>
              <a:t>(from, to), </a:t>
            </a:r>
            <a:r>
              <a:rPr lang="en-US" sz="800" b="0" dirty="0">
                <a:solidFill>
                  <a:srgbClr val="C4B5FD"/>
                </a:solidFill>
                <a:latin typeface="Consolas"/>
                <a:ea typeface="Consolas"/>
                <a:cs typeface="Consolas"/>
              </a:rPr>
              <a:t>2</a:t>
            </a:r>
            <a:r>
              <a:rPr lang="en-US" sz="800" b="0" dirty="0">
                <a:solidFill>
                  <a:srgbClr val="E2E8F0"/>
                </a:solidFill>
                <a:latin typeface="Consolas"/>
                <a:ea typeface="Consolas"/>
                <a:cs typeface="Consolas"/>
              </a:rPr>
              <a:t>);</a:t>
            </a:r>
            <a:endParaRPr lang="en-US" sz="800" dirty="0"/>
          </a:p>
        </p:txBody>
      </p:sp>
      <p:sp>
        <p:nvSpPr>
          <p:cNvPr id="118" name="s118"/>
          <p:cNvSpPr/>
          <p:nvPr/>
        </p:nvSpPr>
        <p:spPr>
          <a:xfrm>
            <a:off x="4703674" y="3438144"/>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19" name="s119"/>
          <p:cNvSpPr/>
          <p:nvPr/>
        </p:nvSpPr>
        <p:spPr>
          <a:xfrm>
            <a:off x="4703674" y="3816096"/>
            <a:ext cx="6927494" cy="2383536"/>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0" name="s120"/>
          <p:cNvSpPr/>
          <p:nvPr/>
        </p:nvSpPr>
        <p:spPr>
          <a:xfrm>
            <a:off x="4868266" y="3962400"/>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1" name="s121"/>
          <p:cNvSpPr/>
          <p:nvPr/>
        </p:nvSpPr>
        <p:spPr>
          <a:xfrm>
            <a:off x="5051146" y="3962400"/>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2" name="s122"/>
          <p:cNvSpPr/>
          <p:nvPr/>
        </p:nvSpPr>
        <p:spPr>
          <a:xfrm>
            <a:off x="5234026" y="3962400"/>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3" name="s123"/>
          <p:cNvSpPr/>
          <p:nvPr/>
        </p:nvSpPr>
        <p:spPr>
          <a:xfrm>
            <a:off x="5480914" y="3889248"/>
            <a:ext cx="303032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CurrencyConverterTests.cs  ·  the test</a:t>
            </a:r>
            <a:endParaRPr lang="en-US" sz="950" dirty="0"/>
          </a:p>
        </p:txBody>
      </p:sp>
      <p:cxnSp>
        <p:nvCxnSpPr>
          <p:cNvPr id="124" name="ln124"/>
          <p:cNvCxnSpPr/>
          <p:nvPr/>
        </p:nvCxnSpPr>
        <p:spPr>
          <a:xfrm>
            <a:off x="4703674" y="4227576"/>
            <a:ext cx="6927494" cy="0"/>
          </a:xfrm>
          <a:prstGeom prst="line">
            <a:avLst/>
          </a:prstGeom>
          <a:ln w="9525">
            <a:solidFill>
              <a:srgbClr val="1E3A5F"/>
            </a:solidFill>
          </a:ln>
        </p:spPr>
      </p:cxnSp>
      <p:sp>
        <p:nvSpPr>
          <p:cNvPr id="125" name="s125"/>
          <p:cNvSpPr/>
          <p:nvPr/>
        </p:nvSpPr>
        <p:spPr>
          <a:xfrm>
            <a:off x="4703674" y="4346448"/>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using</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NSubstitute</a:t>
            </a:r>
            <a:r>
              <a:rPr lang="en-US" sz="800" b="0" dirty="0">
                <a:solidFill>
                  <a:srgbClr val="E2E8F0"/>
                </a:solidFill>
                <a:latin typeface="Consolas"/>
                <a:ea typeface="Consolas"/>
                <a:cs typeface="Consolas"/>
              </a:rPr>
              <a:t>;</a:t>
            </a:r>
            <a:endParaRPr lang="en-US" sz="800" dirty="0"/>
          </a:p>
        </p:txBody>
      </p:sp>
      <p:sp>
        <p:nvSpPr>
          <p:cNvPr id="126" name="s126"/>
          <p:cNvSpPr/>
          <p:nvPr/>
        </p:nvSpPr>
        <p:spPr>
          <a:xfrm>
            <a:off x="4703674" y="4590288"/>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class</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CurrencyConverterTests</a:t>
            </a:r>
            <a:endParaRPr lang="en-US" sz="800" dirty="0"/>
          </a:p>
        </p:txBody>
      </p:sp>
      <p:sp>
        <p:nvSpPr>
          <p:cNvPr id="127" name="s127"/>
          <p:cNvSpPr/>
          <p:nvPr/>
        </p:nvSpPr>
        <p:spPr>
          <a:xfrm>
            <a:off x="4703674" y="4712208"/>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28" name="s128"/>
          <p:cNvSpPr/>
          <p:nvPr/>
        </p:nvSpPr>
        <p:spPr>
          <a:xfrm>
            <a:off x="4703674" y="4834128"/>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private</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readonly</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IExchangeRates</a:t>
            </a:r>
            <a:r>
              <a:rPr lang="en-US" sz="800" b="0" dirty="0">
                <a:solidFill>
                  <a:srgbClr val="E2E8F0"/>
                </a:solidFill>
                <a:latin typeface="Consolas"/>
                <a:ea typeface="Consolas"/>
                <a:cs typeface="Consolas"/>
              </a:rPr>
              <a:t> _rates = </a:t>
            </a:r>
            <a:r>
              <a:rPr lang="en-US" sz="800" b="0" dirty="0">
                <a:solidFill>
                  <a:srgbClr val="7DD3FC"/>
                </a:solidFill>
                <a:latin typeface="Consolas"/>
                <a:ea typeface="Consolas"/>
                <a:cs typeface="Consolas"/>
              </a:rPr>
              <a:t>Substitute</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For</a:t>
            </a:r>
            <a:r>
              <a:rPr lang="en-US" sz="800" b="0" dirty="0">
                <a:solidFill>
                  <a:srgbClr val="E2E8F0"/>
                </a:solidFill>
                <a:latin typeface="Consolas"/>
                <a:ea typeface="Consolas"/>
                <a:cs typeface="Consolas"/>
              </a:rPr>
              <a:t>&lt;</a:t>
            </a:r>
            <a:r>
              <a:rPr lang="en-US" sz="800" b="0" dirty="0">
                <a:solidFill>
                  <a:srgbClr val="7DD3FC"/>
                </a:solidFill>
                <a:latin typeface="Consolas"/>
                <a:ea typeface="Consolas"/>
                <a:cs typeface="Consolas"/>
              </a:rPr>
              <a:t>IExchangeRates</a:t>
            </a:r>
            <a:r>
              <a:rPr lang="en-US" sz="800" b="0" dirty="0">
                <a:solidFill>
                  <a:srgbClr val="E2E8F0"/>
                </a:solidFill>
                <a:latin typeface="Consolas"/>
                <a:ea typeface="Consolas"/>
                <a:cs typeface="Consolas"/>
              </a:rPr>
              <a:t>&gt;();</a:t>
            </a:r>
            <a:endParaRPr lang="en-US" sz="800" dirty="0"/>
          </a:p>
        </p:txBody>
      </p:sp>
      <p:sp>
        <p:nvSpPr>
          <p:cNvPr id="129" name="s129"/>
          <p:cNvSpPr/>
          <p:nvPr/>
        </p:nvSpPr>
        <p:spPr>
          <a:xfrm>
            <a:off x="4703674" y="5077968"/>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FBBF24"/>
                </a:solidFill>
                <a:latin typeface="Consolas"/>
                <a:ea typeface="Consolas"/>
                <a:cs typeface="Consolas"/>
              </a:rPr>
              <a:t>[Fact]</a:t>
            </a:r>
            <a:endParaRPr lang="en-US" sz="800" dirty="0"/>
          </a:p>
        </p:txBody>
      </p:sp>
      <p:sp>
        <p:nvSpPr>
          <p:cNvPr id="130" name="s130"/>
          <p:cNvSpPr/>
          <p:nvPr/>
        </p:nvSpPr>
        <p:spPr>
          <a:xfrm>
            <a:off x="4703674" y="5199888"/>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Convert_UsesTodaysRate</a:t>
            </a:r>
            <a:r>
              <a:rPr lang="en-US" sz="800" b="0" dirty="0">
                <a:solidFill>
                  <a:srgbClr val="E2E8F0"/>
                </a:solidFill>
                <a:latin typeface="Consolas"/>
                <a:ea typeface="Consolas"/>
                <a:cs typeface="Consolas"/>
              </a:rPr>
              <a:t>()</a:t>
            </a:r>
            <a:endParaRPr lang="en-US" sz="800" dirty="0"/>
          </a:p>
        </p:txBody>
      </p:sp>
      <p:sp>
        <p:nvSpPr>
          <p:cNvPr id="131" name="s131"/>
          <p:cNvSpPr/>
          <p:nvPr/>
        </p:nvSpPr>
        <p:spPr>
          <a:xfrm>
            <a:off x="4703674" y="5321808"/>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endParaRPr lang="en-US" sz="800" dirty="0"/>
          </a:p>
        </p:txBody>
      </p:sp>
      <p:sp>
        <p:nvSpPr>
          <p:cNvPr id="132" name="s132"/>
          <p:cNvSpPr/>
          <p:nvPr/>
        </p:nvSpPr>
        <p:spPr>
          <a:xfrm>
            <a:off x="4703674" y="5443728"/>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_rates.</a:t>
            </a:r>
            <a:r>
              <a:rPr lang="en-US" sz="800" b="0" dirty="0">
                <a:solidFill>
                  <a:srgbClr val="7DD3FC"/>
                </a:solidFill>
                <a:latin typeface="Consolas"/>
                <a:ea typeface="Consolas"/>
                <a:cs typeface="Consolas"/>
              </a:rPr>
              <a:t>Rate</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"USD"</a:t>
            </a:r>
            <a:r>
              <a:rPr lang="en-US" sz="800" b="0" dirty="0">
                <a:solidFill>
                  <a:srgbClr val="E2E8F0"/>
                </a:solidFill>
                <a:latin typeface="Consolas"/>
                <a:ea typeface="Consolas"/>
                <a:cs typeface="Consolas"/>
              </a:rPr>
              <a:t>, </a:t>
            </a:r>
            <a:r>
              <a:rPr lang="en-US" sz="800" b="0" dirty="0">
                <a:solidFill>
                  <a:srgbClr val="F0A98B"/>
                </a:solidFill>
                <a:latin typeface="Consolas"/>
                <a:ea typeface="Consolas"/>
                <a:cs typeface="Consolas"/>
              </a:rPr>
              <a:t>"EGP"</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Returns</a:t>
            </a:r>
            <a:r>
              <a:rPr lang="en-US" sz="800" b="0" dirty="0">
                <a:solidFill>
                  <a:srgbClr val="E2E8F0"/>
                </a:solidFill>
                <a:latin typeface="Consolas"/>
                <a:ea typeface="Consolas"/>
                <a:cs typeface="Consolas"/>
              </a:rPr>
              <a:t>(</a:t>
            </a:r>
            <a:r>
              <a:rPr lang="en-US" sz="800" b="0" dirty="0">
                <a:solidFill>
                  <a:srgbClr val="C4B5FD"/>
                </a:solidFill>
                <a:latin typeface="Consolas"/>
                <a:ea typeface="Consolas"/>
                <a:cs typeface="Consolas"/>
              </a:rPr>
              <a:t>48.5m</a:t>
            </a:r>
            <a:r>
              <a:rPr lang="en-US" sz="800" b="0" dirty="0">
                <a:solidFill>
                  <a:srgbClr val="E2E8F0"/>
                </a:solidFill>
                <a:latin typeface="Consolas"/>
                <a:ea typeface="Consolas"/>
                <a:cs typeface="Consolas"/>
              </a:rPr>
              <a:t>);                </a:t>
            </a:r>
            <a:r>
              <a:rPr lang="en-US" sz="800" b="0" dirty="0">
                <a:solidFill>
                  <a:srgbClr val="6FAE7A"/>
                </a:solidFill>
                <a:latin typeface="Consolas"/>
                <a:ea typeface="Consolas"/>
                <a:cs typeface="Consolas"/>
              </a:rPr>
              <a:t>// STUB: we choose the answer</a:t>
            </a:r>
            <a:endParaRPr lang="en-US" sz="800" dirty="0"/>
          </a:p>
        </p:txBody>
      </p:sp>
      <p:sp>
        <p:nvSpPr>
          <p:cNvPr id="133" name="s133"/>
          <p:cNvSpPr/>
          <p:nvPr/>
        </p:nvSpPr>
        <p:spPr>
          <a:xfrm>
            <a:off x="4703674" y="5565648"/>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var</a:t>
            </a:r>
            <a:r>
              <a:rPr lang="en-US" sz="800" b="0" dirty="0">
                <a:solidFill>
                  <a:srgbClr val="E2E8F0"/>
                </a:solidFill>
                <a:latin typeface="Consolas"/>
                <a:ea typeface="Consolas"/>
                <a:cs typeface="Consolas"/>
              </a:rPr>
              <a:t> converter = </a:t>
            </a:r>
            <a:r>
              <a:rPr lang="en-US" sz="800" b="0" dirty="0">
                <a:solidFill>
                  <a:srgbClr val="60A5FA"/>
                </a:solidFill>
                <a:latin typeface="Consolas"/>
                <a:ea typeface="Consolas"/>
                <a:cs typeface="Consolas"/>
              </a:rPr>
              <a:t>new</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CurrencyConverter</a:t>
            </a:r>
            <a:r>
              <a:rPr lang="en-US" sz="800" b="0" dirty="0">
                <a:solidFill>
                  <a:srgbClr val="E2E8F0"/>
                </a:solidFill>
                <a:latin typeface="Consolas"/>
                <a:ea typeface="Consolas"/>
                <a:cs typeface="Consolas"/>
              </a:rPr>
              <a:t>(_rates);</a:t>
            </a:r>
            <a:endParaRPr lang="en-US" sz="800" dirty="0"/>
          </a:p>
        </p:txBody>
      </p:sp>
      <p:sp>
        <p:nvSpPr>
          <p:cNvPr id="134" name="s134"/>
          <p:cNvSpPr/>
          <p:nvPr/>
        </p:nvSpPr>
        <p:spPr>
          <a:xfrm>
            <a:off x="4703674" y="5687568"/>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converter.</a:t>
            </a:r>
            <a:r>
              <a:rPr lang="en-US" sz="800" b="0" dirty="0">
                <a:solidFill>
                  <a:srgbClr val="7DD3FC"/>
                </a:solidFill>
                <a:latin typeface="Consolas"/>
                <a:ea typeface="Consolas"/>
                <a:cs typeface="Consolas"/>
              </a:rPr>
              <a:t>Convert</a:t>
            </a:r>
            <a:r>
              <a:rPr lang="en-US" sz="800" b="0" dirty="0">
                <a:solidFill>
                  <a:srgbClr val="E2E8F0"/>
                </a:solidFill>
                <a:latin typeface="Consolas"/>
                <a:ea typeface="Consolas"/>
                <a:cs typeface="Consolas"/>
              </a:rPr>
              <a:t>(</a:t>
            </a:r>
            <a:r>
              <a:rPr lang="en-US" sz="800" b="0" dirty="0">
                <a:solidFill>
                  <a:srgbClr val="C4B5FD"/>
                </a:solidFill>
                <a:latin typeface="Consolas"/>
                <a:ea typeface="Consolas"/>
                <a:cs typeface="Consolas"/>
              </a:rPr>
              <a:t>10m</a:t>
            </a:r>
            <a:r>
              <a:rPr lang="en-US" sz="800" b="0" dirty="0">
                <a:solidFill>
                  <a:srgbClr val="E2E8F0"/>
                </a:solidFill>
                <a:latin typeface="Consolas"/>
                <a:ea typeface="Consolas"/>
                <a:cs typeface="Consolas"/>
              </a:rPr>
              <a:t>, </a:t>
            </a:r>
            <a:r>
              <a:rPr lang="en-US" sz="800" b="0" dirty="0">
                <a:solidFill>
                  <a:srgbClr val="F0A98B"/>
                </a:solidFill>
                <a:latin typeface="Consolas"/>
                <a:ea typeface="Consolas"/>
                <a:cs typeface="Consolas"/>
              </a:rPr>
              <a:t>"USD"</a:t>
            </a:r>
            <a:r>
              <a:rPr lang="en-US" sz="800" b="0" dirty="0">
                <a:solidFill>
                  <a:srgbClr val="E2E8F0"/>
                </a:solidFill>
                <a:latin typeface="Consolas"/>
                <a:ea typeface="Consolas"/>
                <a:cs typeface="Consolas"/>
              </a:rPr>
              <a:t>, </a:t>
            </a:r>
            <a:r>
              <a:rPr lang="en-US" sz="800" b="0" dirty="0">
                <a:solidFill>
                  <a:srgbClr val="F0A98B"/>
                </a:solidFill>
                <a:latin typeface="Consolas"/>
                <a:ea typeface="Consolas"/>
                <a:cs typeface="Consolas"/>
              </a:rPr>
              <a:t>"EGP"</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ShouldBe</a:t>
            </a:r>
            <a:r>
              <a:rPr lang="en-US" sz="800" b="0" dirty="0">
                <a:solidFill>
                  <a:srgbClr val="E2E8F0"/>
                </a:solidFill>
                <a:latin typeface="Consolas"/>
                <a:ea typeface="Consolas"/>
                <a:cs typeface="Consolas"/>
              </a:rPr>
              <a:t>(</a:t>
            </a:r>
            <a:r>
              <a:rPr lang="en-US" sz="800" b="0" dirty="0">
                <a:solidFill>
                  <a:srgbClr val="C4B5FD"/>
                </a:solidFill>
                <a:latin typeface="Consolas"/>
                <a:ea typeface="Consolas"/>
                <a:cs typeface="Consolas"/>
              </a:rPr>
              <a:t>485m</a:t>
            </a:r>
            <a:r>
              <a:rPr lang="en-US" sz="800" b="0" dirty="0">
                <a:solidFill>
                  <a:srgbClr val="E2E8F0"/>
                </a:solidFill>
                <a:latin typeface="Consolas"/>
                <a:ea typeface="Consolas"/>
                <a:cs typeface="Consolas"/>
              </a:rPr>
              <a:t>);     </a:t>
            </a:r>
            <a:r>
              <a:rPr lang="en-US" sz="800" b="0" dirty="0">
                <a:solidFill>
                  <a:srgbClr val="6FAE7A"/>
                </a:solidFill>
                <a:latin typeface="Consolas"/>
                <a:ea typeface="Consolas"/>
                <a:cs typeface="Consolas"/>
              </a:rPr>
              <a:t>// check the RESULT</a:t>
            </a:r>
            <a:endParaRPr lang="en-US" sz="800" dirty="0"/>
          </a:p>
        </p:txBody>
      </p:sp>
      <p:sp>
        <p:nvSpPr>
          <p:cNvPr id="135" name="s135"/>
          <p:cNvSpPr/>
          <p:nvPr/>
        </p:nvSpPr>
        <p:spPr>
          <a:xfrm>
            <a:off x="4703674" y="5809488"/>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endParaRPr lang="en-US" sz="800" dirty="0"/>
          </a:p>
        </p:txBody>
      </p:sp>
      <p:sp>
        <p:nvSpPr>
          <p:cNvPr id="136" name="s136"/>
          <p:cNvSpPr/>
          <p:nvPr/>
        </p:nvSpPr>
        <p:spPr>
          <a:xfrm>
            <a:off x="4703674" y="5931408"/>
            <a:ext cx="692749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37" name="s137"/>
          <p:cNvSpPr/>
          <p:nvPr/>
        </p:nvSpPr>
        <p:spPr>
          <a:xfrm>
            <a:off x="4813402" y="4806696"/>
            <a:ext cx="6708038" cy="176784"/>
          </a:xfrm>
          <a:prstGeom prst="roundRect">
            <a:avLst>
              <a:gd name="adj" fmla="val 6000"/>
            </a:avLst>
          </a:prstGeom>
          <a:solidFill>
            <a:srgbClr val="13D0F7">
              <a:alpha val="10000"/>
            </a:srgbClr>
          </a:solidFill>
          <a:ln w="15875">
            <a:solidFill>
              <a:srgbClr val="13D0F7"/>
            </a:solidFill>
            <a:prstDash val="solid"/>
          </a:ln>
        </p:spPr>
        <p:txBody>
          <a:bodyPr wrap="square" lIns="164592" tIns="109728" rIns="137160" bIns="91440" rtlCol="0" anchor="t">
            <a:noAutofit/>
          </a:bodyPr>
          <a:lstStyle/>
          <a:p>
            <a:endParaRPr lang="en-US"/>
          </a:p>
        </p:txBody>
      </p:sp>
      <p:sp>
        <p:nvSpPr>
          <p:cNvPr id="138" name="s138"/>
          <p:cNvSpPr/>
          <p:nvPr/>
        </p:nvSpPr>
        <p:spPr>
          <a:xfrm>
            <a:off x="4813402" y="5416296"/>
            <a:ext cx="6708038" cy="176784"/>
          </a:xfrm>
          <a:prstGeom prst="roundRect">
            <a:avLst>
              <a:gd name="adj" fmla="val 6000"/>
            </a:avLst>
          </a:prstGeom>
          <a:solidFill>
            <a:srgbClr val="13D0F7">
              <a:alpha val="10000"/>
            </a:srgbClr>
          </a:solidFill>
          <a:ln w="15875">
            <a:solidFill>
              <a:srgbClr val="13D0F7"/>
            </a:solidFill>
            <a:prstDash val="solid"/>
          </a:ln>
        </p:spPr>
        <p:txBody>
          <a:bodyPr wrap="square" lIns="164592" tIns="109728" rIns="137160" bIns="91440" rtlCol="0" anchor="t">
            <a:noAutofit/>
          </a:bodyPr>
          <a:lstStyle/>
          <a:p>
            <a:endParaRPr lang="en-US"/>
          </a:p>
        </p:txBody>
      </p:sp>
      <p:sp>
        <p:nvSpPr>
          <p:cNvPr id="139" name="s139"/>
          <p:cNvSpPr/>
          <p:nvPr/>
        </p:nvSpPr>
        <p:spPr>
          <a:xfrm>
            <a:off x="4813402" y="5660136"/>
            <a:ext cx="6708038" cy="17678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anim calcmode="lin" valueType="num">
                                      <p:cBhvr additive="base">
                                        <p:cTn id="14" dur="500" decel="100000" fill="hold"/>
                                        <p:tgtEl>
                                          <p:spTgt spid="103"/>
                                        </p:tgtEl>
                                        <p:attrNameLst>
                                          <p:attrName>ppt_x</p:attrName>
                                        </p:attrNameLst>
                                      </p:cBhvr>
                                      <p:tavLst>
                                        <p:tav tm="0">
                                          <p:val>
                                            <p:strVal val="#ppt_x-0.05"/>
                                          </p:val>
                                        </p:tav>
                                        <p:tav tm="100000">
                                          <p:val>
                                            <p:strVal val="#ppt_x"/>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7"/>
                                        </p:tgtEl>
                                        <p:attrNameLst>
                                          <p:attrName>style.visibility</p:attrName>
                                        </p:attrNameLst>
                                      </p:cBhvr>
                                      <p:to>
                                        <p:strVal val="visible"/>
                                      </p:to>
                                    </p:set>
                                    <p:animEffect transition="in" filter="fade">
                                      <p:cBhvr>
                                        <p:cTn id="67" dur="500"/>
                                        <p:tgtEl>
                                          <p:spTgt spid="117"/>
                                        </p:tgtEl>
                                      </p:cBhvr>
                                    </p:animEffect>
                                    <p:anim calcmode="lin" valueType="num">
                                      <p:cBhvr additive="base">
                                        <p:cTn id="68" dur="500" decel="100000" fill="hold"/>
                                        <p:tgtEl>
                                          <p:spTgt spid="117"/>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8"/>
                                        </p:tgtEl>
                                        <p:attrNameLst>
                                          <p:attrName>style.visibility</p:attrName>
                                        </p:attrNameLst>
                                      </p:cBhvr>
                                      <p:to>
                                        <p:strVal val="visible"/>
                                      </p:to>
                                    </p:set>
                                    <p:animEffect transition="in" filter="fade">
                                      <p:cBhvr>
                                        <p:cTn id="71" dur="500"/>
                                        <p:tgtEl>
                                          <p:spTgt spid="118"/>
                                        </p:tgtEl>
                                      </p:cBhvr>
                                    </p:animEffect>
                                    <p:anim calcmode="lin" valueType="num">
                                      <p:cBhvr additive="base">
                                        <p:cTn id="72" dur="500" decel="100000" fill="hold"/>
                                        <p:tgtEl>
                                          <p:spTgt spid="118"/>
                                        </p:tgtEl>
                                        <p:attrNameLst>
                                          <p:attrName>ppt_y</p:attrName>
                                        </p:attrNameLst>
                                      </p:cBhvr>
                                      <p:tavLst>
                                        <p:tav tm="0">
                                          <p:val>
                                            <p:strVal val="#ppt_y+0.06"/>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grpId="0" nodeType="clickEffect">
                                  <p:stCondLst>
                                    <p:cond delay="0"/>
                                  </p:stCondLst>
                                  <p:childTnLst>
                                    <p:set>
                                      <p:cBhvr>
                                        <p:cTn id="76" dur="1" fill="hold">
                                          <p:stCondLst>
                                            <p:cond delay="0"/>
                                          </p:stCondLst>
                                        </p:cTn>
                                        <p:tgtEl>
                                          <p:spTgt spid="119"/>
                                        </p:tgtEl>
                                        <p:attrNameLst>
                                          <p:attrName>style.visibility</p:attrName>
                                        </p:attrNameLst>
                                      </p:cBhvr>
                                      <p:to>
                                        <p:strVal val="visible"/>
                                      </p:to>
                                    </p:set>
                                    <p:animEffect transition="in" filter="fade">
                                      <p:cBhvr>
                                        <p:cTn id="77" dur="500"/>
                                        <p:tgtEl>
                                          <p:spTgt spid="119"/>
                                        </p:tgtEl>
                                      </p:cBhvr>
                                    </p:animEffect>
                                    <p:anim calcmode="lin" valueType="num">
                                      <p:cBhvr additive="base">
                                        <p:cTn id="78" dur="500" decel="100000" fill="hold"/>
                                        <p:tgtEl>
                                          <p:spTgt spid="119"/>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20"/>
                                        </p:tgtEl>
                                        <p:attrNameLst>
                                          <p:attrName>style.visibility</p:attrName>
                                        </p:attrNameLst>
                                      </p:cBhvr>
                                      <p:to>
                                        <p:strVal val="visible"/>
                                      </p:to>
                                    </p:set>
                                    <p:animEffect transition="in" filter="fade">
                                      <p:cBhvr>
                                        <p:cTn id="81" dur="500"/>
                                        <p:tgtEl>
                                          <p:spTgt spid="120"/>
                                        </p:tgtEl>
                                      </p:cBhvr>
                                    </p:animEffect>
                                    <p:anim calcmode="lin" valueType="num">
                                      <p:cBhvr additive="base">
                                        <p:cTn id="82" dur="500" decel="100000" fill="hold"/>
                                        <p:tgtEl>
                                          <p:spTgt spid="120"/>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21"/>
                                        </p:tgtEl>
                                        <p:attrNameLst>
                                          <p:attrName>style.visibility</p:attrName>
                                        </p:attrNameLst>
                                      </p:cBhvr>
                                      <p:to>
                                        <p:strVal val="visible"/>
                                      </p:to>
                                    </p:set>
                                    <p:animEffect transition="in" filter="fade">
                                      <p:cBhvr>
                                        <p:cTn id="85" dur="500"/>
                                        <p:tgtEl>
                                          <p:spTgt spid="121"/>
                                        </p:tgtEl>
                                      </p:cBhvr>
                                    </p:animEffect>
                                    <p:anim calcmode="lin" valueType="num">
                                      <p:cBhvr additive="base">
                                        <p:cTn id="86" dur="500" decel="100000" fill="hold"/>
                                        <p:tgtEl>
                                          <p:spTgt spid="121"/>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22"/>
                                        </p:tgtEl>
                                        <p:attrNameLst>
                                          <p:attrName>style.visibility</p:attrName>
                                        </p:attrNameLst>
                                      </p:cBhvr>
                                      <p:to>
                                        <p:strVal val="visible"/>
                                      </p:to>
                                    </p:set>
                                    <p:animEffect transition="in" filter="fade">
                                      <p:cBhvr>
                                        <p:cTn id="89" dur="500"/>
                                        <p:tgtEl>
                                          <p:spTgt spid="122"/>
                                        </p:tgtEl>
                                      </p:cBhvr>
                                    </p:animEffect>
                                    <p:anim calcmode="lin" valueType="num">
                                      <p:cBhvr additive="base">
                                        <p:cTn id="90" dur="500" decel="100000" fill="hold"/>
                                        <p:tgtEl>
                                          <p:spTgt spid="122"/>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3"/>
                                        </p:tgtEl>
                                        <p:attrNameLst>
                                          <p:attrName>style.visibility</p:attrName>
                                        </p:attrNameLst>
                                      </p:cBhvr>
                                      <p:to>
                                        <p:strVal val="visible"/>
                                      </p:to>
                                    </p:set>
                                    <p:animEffect transition="in" filter="fade">
                                      <p:cBhvr>
                                        <p:cTn id="93" dur="500"/>
                                        <p:tgtEl>
                                          <p:spTgt spid="123"/>
                                        </p:tgtEl>
                                      </p:cBhvr>
                                    </p:animEffect>
                                    <p:anim calcmode="lin" valueType="num">
                                      <p:cBhvr additive="base">
                                        <p:cTn id="94" dur="500" decel="100000" fill="hold"/>
                                        <p:tgtEl>
                                          <p:spTgt spid="123"/>
                                        </p:tgtEl>
                                        <p:attrNameLst>
                                          <p:attrName>ppt_y</p:attrName>
                                        </p:attrNameLst>
                                      </p:cBhvr>
                                      <p:tavLst>
                                        <p:tav tm="0">
                                          <p:val>
                                            <p:strVal val="#ppt_y+0.06"/>
                                          </p:val>
                                        </p:tav>
                                        <p:tav tm="100000">
                                          <p:val>
                                            <p:strVal val="#ppt_y"/>
                                          </p:val>
                                        </p:tav>
                                      </p:tavLst>
                                    </p:anim>
                                  </p:childTnLst>
                                </p:cTn>
                              </p:par>
                              <p:par>
                                <p:cTn id="95" presetID="42" presetClass="entr" presetSubtype="0" fill="hold" nodeType="withEffect">
                                  <p:stCondLst>
                                    <p:cond delay="0"/>
                                  </p:stCondLst>
                                  <p:childTnLst>
                                    <p:set>
                                      <p:cBhvr>
                                        <p:cTn id="96" dur="1" fill="hold">
                                          <p:stCondLst>
                                            <p:cond delay="0"/>
                                          </p:stCondLst>
                                        </p:cTn>
                                        <p:tgtEl>
                                          <p:spTgt spid="124"/>
                                        </p:tgtEl>
                                        <p:attrNameLst>
                                          <p:attrName>style.visibility</p:attrName>
                                        </p:attrNameLst>
                                      </p:cBhvr>
                                      <p:to>
                                        <p:strVal val="visible"/>
                                      </p:to>
                                    </p:set>
                                    <p:animEffect transition="in" filter="fade">
                                      <p:cBhvr>
                                        <p:cTn id="97" dur="500"/>
                                        <p:tgtEl>
                                          <p:spTgt spid="124"/>
                                        </p:tgtEl>
                                      </p:cBhvr>
                                    </p:animEffect>
                                    <p:anim calcmode="lin" valueType="num">
                                      <p:cBhvr additive="base">
                                        <p:cTn id="98" dur="500" decel="100000" fill="hold"/>
                                        <p:tgtEl>
                                          <p:spTgt spid="124"/>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5"/>
                                        </p:tgtEl>
                                        <p:attrNameLst>
                                          <p:attrName>style.visibility</p:attrName>
                                        </p:attrNameLst>
                                      </p:cBhvr>
                                      <p:to>
                                        <p:strVal val="visible"/>
                                      </p:to>
                                    </p:set>
                                    <p:animEffect transition="in" filter="fade">
                                      <p:cBhvr>
                                        <p:cTn id="101" dur="500"/>
                                        <p:tgtEl>
                                          <p:spTgt spid="125"/>
                                        </p:tgtEl>
                                      </p:cBhvr>
                                    </p:animEffect>
                                    <p:anim calcmode="lin" valueType="num">
                                      <p:cBhvr additive="base">
                                        <p:cTn id="102" dur="500" decel="100000" fill="hold"/>
                                        <p:tgtEl>
                                          <p:spTgt spid="125"/>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6"/>
                                        </p:tgtEl>
                                        <p:attrNameLst>
                                          <p:attrName>style.visibility</p:attrName>
                                        </p:attrNameLst>
                                      </p:cBhvr>
                                      <p:to>
                                        <p:strVal val="visible"/>
                                      </p:to>
                                    </p:set>
                                    <p:animEffect transition="in" filter="fade">
                                      <p:cBhvr>
                                        <p:cTn id="105" dur="500"/>
                                        <p:tgtEl>
                                          <p:spTgt spid="126"/>
                                        </p:tgtEl>
                                      </p:cBhvr>
                                    </p:animEffect>
                                    <p:anim calcmode="lin" valueType="num">
                                      <p:cBhvr additive="base">
                                        <p:cTn id="106" dur="500" decel="100000" fill="hold"/>
                                        <p:tgtEl>
                                          <p:spTgt spid="126"/>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7"/>
                                        </p:tgtEl>
                                        <p:attrNameLst>
                                          <p:attrName>style.visibility</p:attrName>
                                        </p:attrNameLst>
                                      </p:cBhvr>
                                      <p:to>
                                        <p:strVal val="visible"/>
                                      </p:to>
                                    </p:set>
                                    <p:animEffect transition="in" filter="fade">
                                      <p:cBhvr>
                                        <p:cTn id="109" dur="500"/>
                                        <p:tgtEl>
                                          <p:spTgt spid="127"/>
                                        </p:tgtEl>
                                      </p:cBhvr>
                                    </p:animEffect>
                                    <p:anim calcmode="lin" valueType="num">
                                      <p:cBhvr additive="base">
                                        <p:cTn id="110" dur="500" decel="100000" fill="hold"/>
                                        <p:tgtEl>
                                          <p:spTgt spid="127"/>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8"/>
                                        </p:tgtEl>
                                        <p:attrNameLst>
                                          <p:attrName>style.visibility</p:attrName>
                                        </p:attrNameLst>
                                      </p:cBhvr>
                                      <p:to>
                                        <p:strVal val="visible"/>
                                      </p:to>
                                    </p:set>
                                    <p:animEffect transition="in" filter="fade">
                                      <p:cBhvr>
                                        <p:cTn id="113" dur="500"/>
                                        <p:tgtEl>
                                          <p:spTgt spid="128"/>
                                        </p:tgtEl>
                                      </p:cBhvr>
                                    </p:animEffect>
                                    <p:anim calcmode="lin" valueType="num">
                                      <p:cBhvr additive="base">
                                        <p:cTn id="114" dur="500" decel="100000" fill="hold"/>
                                        <p:tgtEl>
                                          <p:spTgt spid="128"/>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9"/>
                                        </p:tgtEl>
                                        <p:attrNameLst>
                                          <p:attrName>style.visibility</p:attrName>
                                        </p:attrNameLst>
                                      </p:cBhvr>
                                      <p:to>
                                        <p:strVal val="visible"/>
                                      </p:to>
                                    </p:set>
                                    <p:animEffect transition="in" filter="fade">
                                      <p:cBhvr>
                                        <p:cTn id="117" dur="500"/>
                                        <p:tgtEl>
                                          <p:spTgt spid="129"/>
                                        </p:tgtEl>
                                      </p:cBhvr>
                                    </p:animEffect>
                                    <p:anim calcmode="lin" valueType="num">
                                      <p:cBhvr additive="base">
                                        <p:cTn id="118" dur="500" decel="100000" fill="hold"/>
                                        <p:tgtEl>
                                          <p:spTgt spid="129"/>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30"/>
                                        </p:tgtEl>
                                        <p:attrNameLst>
                                          <p:attrName>style.visibility</p:attrName>
                                        </p:attrNameLst>
                                      </p:cBhvr>
                                      <p:to>
                                        <p:strVal val="visible"/>
                                      </p:to>
                                    </p:set>
                                    <p:animEffect transition="in" filter="fade">
                                      <p:cBhvr>
                                        <p:cTn id="121" dur="500"/>
                                        <p:tgtEl>
                                          <p:spTgt spid="130"/>
                                        </p:tgtEl>
                                      </p:cBhvr>
                                    </p:animEffect>
                                    <p:anim calcmode="lin" valueType="num">
                                      <p:cBhvr additive="base">
                                        <p:cTn id="122" dur="500" decel="100000" fill="hold"/>
                                        <p:tgtEl>
                                          <p:spTgt spid="130"/>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31"/>
                                        </p:tgtEl>
                                        <p:attrNameLst>
                                          <p:attrName>style.visibility</p:attrName>
                                        </p:attrNameLst>
                                      </p:cBhvr>
                                      <p:to>
                                        <p:strVal val="visible"/>
                                      </p:to>
                                    </p:set>
                                    <p:animEffect transition="in" filter="fade">
                                      <p:cBhvr>
                                        <p:cTn id="125" dur="500"/>
                                        <p:tgtEl>
                                          <p:spTgt spid="131"/>
                                        </p:tgtEl>
                                      </p:cBhvr>
                                    </p:animEffect>
                                    <p:anim calcmode="lin" valueType="num">
                                      <p:cBhvr additive="base">
                                        <p:cTn id="126" dur="500" decel="100000" fill="hold"/>
                                        <p:tgtEl>
                                          <p:spTgt spid="131"/>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32"/>
                                        </p:tgtEl>
                                        <p:attrNameLst>
                                          <p:attrName>style.visibility</p:attrName>
                                        </p:attrNameLst>
                                      </p:cBhvr>
                                      <p:to>
                                        <p:strVal val="visible"/>
                                      </p:to>
                                    </p:set>
                                    <p:animEffect transition="in" filter="fade">
                                      <p:cBhvr>
                                        <p:cTn id="129" dur="500"/>
                                        <p:tgtEl>
                                          <p:spTgt spid="132"/>
                                        </p:tgtEl>
                                      </p:cBhvr>
                                    </p:animEffect>
                                    <p:anim calcmode="lin" valueType="num">
                                      <p:cBhvr additive="base">
                                        <p:cTn id="130" dur="500" decel="100000" fill="hold"/>
                                        <p:tgtEl>
                                          <p:spTgt spid="132"/>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33"/>
                                        </p:tgtEl>
                                        <p:attrNameLst>
                                          <p:attrName>style.visibility</p:attrName>
                                        </p:attrNameLst>
                                      </p:cBhvr>
                                      <p:to>
                                        <p:strVal val="visible"/>
                                      </p:to>
                                    </p:set>
                                    <p:animEffect transition="in" filter="fade">
                                      <p:cBhvr>
                                        <p:cTn id="133" dur="500"/>
                                        <p:tgtEl>
                                          <p:spTgt spid="133"/>
                                        </p:tgtEl>
                                      </p:cBhvr>
                                    </p:animEffect>
                                    <p:anim calcmode="lin" valueType="num">
                                      <p:cBhvr additive="base">
                                        <p:cTn id="134" dur="500" decel="100000" fill="hold"/>
                                        <p:tgtEl>
                                          <p:spTgt spid="133"/>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134"/>
                                        </p:tgtEl>
                                        <p:attrNameLst>
                                          <p:attrName>style.visibility</p:attrName>
                                        </p:attrNameLst>
                                      </p:cBhvr>
                                      <p:to>
                                        <p:strVal val="visible"/>
                                      </p:to>
                                    </p:set>
                                    <p:animEffect transition="in" filter="fade">
                                      <p:cBhvr>
                                        <p:cTn id="137" dur="500"/>
                                        <p:tgtEl>
                                          <p:spTgt spid="134"/>
                                        </p:tgtEl>
                                      </p:cBhvr>
                                    </p:animEffect>
                                    <p:anim calcmode="lin" valueType="num">
                                      <p:cBhvr additive="base">
                                        <p:cTn id="138" dur="500" decel="100000" fill="hold"/>
                                        <p:tgtEl>
                                          <p:spTgt spid="134"/>
                                        </p:tgtEl>
                                        <p:attrNameLst>
                                          <p:attrName>ppt_y</p:attrName>
                                        </p:attrNameLst>
                                      </p:cBhvr>
                                      <p:tavLst>
                                        <p:tav tm="0">
                                          <p:val>
                                            <p:strVal val="#ppt_y+0.06"/>
                                          </p:val>
                                        </p:tav>
                                        <p:tav tm="100000">
                                          <p:val>
                                            <p:strVal val="#ppt_y"/>
                                          </p:val>
                                        </p:tav>
                                      </p:tavLst>
                                    </p:anim>
                                  </p:childTnLst>
                                </p:cTn>
                              </p:par>
                              <p:par>
                                <p:cTn id="139" presetID="42" presetClass="entr" presetSubtype="0" fill="hold" grpId="0" nodeType="withEffect">
                                  <p:stCondLst>
                                    <p:cond delay="0"/>
                                  </p:stCondLst>
                                  <p:childTnLst>
                                    <p:set>
                                      <p:cBhvr>
                                        <p:cTn id="140" dur="1" fill="hold">
                                          <p:stCondLst>
                                            <p:cond delay="0"/>
                                          </p:stCondLst>
                                        </p:cTn>
                                        <p:tgtEl>
                                          <p:spTgt spid="135"/>
                                        </p:tgtEl>
                                        <p:attrNameLst>
                                          <p:attrName>style.visibility</p:attrName>
                                        </p:attrNameLst>
                                      </p:cBhvr>
                                      <p:to>
                                        <p:strVal val="visible"/>
                                      </p:to>
                                    </p:set>
                                    <p:animEffect transition="in" filter="fade">
                                      <p:cBhvr>
                                        <p:cTn id="141" dur="500"/>
                                        <p:tgtEl>
                                          <p:spTgt spid="135"/>
                                        </p:tgtEl>
                                      </p:cBhvr>
                                    </p:animEffect>
                                    <p:anim calcmode="lin" valueType="num">
                                      <p:cBhvr additive="base">
                                        <p:cTn id="142" dur="500" decel="100000" fill="hold"/>
                                        <p:tgtEl>
                                          <p:spTgt spid="135"/>
                                        </p:tgtEl>
                                        <p:attrNameLst>
                                          <p:attrName>ppt_y</p:attrName>
                                        </p:attrNameLst>
                                      </p:cBhvr>
                                      <p:tavLst>
                                        <p:tav tm="0">
                                          <p:val>
                                            <p:strVal val="#ppt_y+0.06"/>
                                          </p:val>
                                        </p:tav>
                                        <p:tav tm="100000">
                                          <p:val>
                                            <p:strVal val="#ppt_y"/>
                                          </p:val>
                                        </p:tav>
                                      </p:tavLst>
                                    </p:anim>
                                  </p:childTnLst>
                                </p:cTn>
                              </p:par>
                              <p:par>
                                <p:cTn id="143" presetID="42" presetClass="entr" presetSubtype="0" fill="hold" grpId="0" nodeType="withEffect">
                                  <p:stCondLst>
                                    <p:cond delay="0"/>
                                  </p:stCondLst>
                                  <p:childTnLst>
                                    <p:set>
                                      <p:cBhvr>
                                        <p:cTn id="144" dur="1" fill="hold">
                                          <p:stCondLst>
                                            <p:cond delay="0"/>
                                          </p:stCondLst>
                                        </p:cTn>
                                        <p:tgtEl>
                                          <p:spTgt spid="136"/>
                                        </p:tgtEl>
                                        <p:attrNameLst>
                                          <p:attrName>style.visibility</p:attrName>
                                        </p:attrNameLst>
                                      </p:cBhvr>
                                      <p:to>
                                        <p:strVal val="visible"/>
                                      </p:to>
                                    </p:set>
                                    <p:animEffect transition="in" filter="fade">
                                      <p:cBhvr>
                                        <p:cTn id="145" dur="500"/>
                                        <p:tgtEl>
                                          <p:spTgt spid="136"/>
                                        </p:tgtEl>
                                      </p:cBhvr>
                                    </p:animEffect>
                                    <p:anim calcmode="lin" valueType="num">
                                      <p:cBhvr additive="base">
                                        <p:cTn id="146" dur="500" decel="100000" fill="hold"/>
                                        <p:tgtEl>
                                          <p:spTgt spid="136"/>
                                        </p:tgtEl>
                                        <p:attrNameLst>
                                          <p:attrName>ppt_y</p:attrName>
                                        </p:attrNameLst>
                                      </p:cBhvr>
                                      <p:tavLst>
                                        <p:tav tm="0">
                                          <p:val>
                                            <p:strVal val="#ppt_y+0.06"/>
                                          </p:val>
                                        </p:tav>
                                        <p:tav tm="100000">
                                          <p:val>
                                            <p:strVal val="#ppt_y"/>
                                          </p:val>
                                        </p:tav>
                                      </p:tavLst>
                                    </p:anim>
                                  </p:childTnLst>
                                </p:cTn>
                              </p:par>
                            </p:childTnLst>
                          </p:cTn>
                        </p:par>
                      </p:childTnLst>
                    </p:cTn>
                  </p:par>
                  <p:par>
                    <p:cTn id="147" fill="hold">
                      <p:stCondLst>
                        <p:cond delay="indefinite"/>
                      </p:stCondLst>
                      <p:childTnLst>
                        <p:par>
                          <p:cTn id="148" fill="hold">
                            <p:stCondLst>
                              <p:cond delay="0"/>
                            </p:stCondLst>
                            <p:childTnLst>
                              <p:par>
                                <p:cTn id="149" presetID="53" presetClass="entr" presetSubtype="16" fill="hold" grpId="0" nodeType="clickEffect">
                                  <p:stCondLst>
                                    <p:cond delay="0"/>
                                  </p:stCondLst>
                                  <p:childTnLst>
                                    <p:set>
                                      <p:cBhvr>
                                        <p:cTn id="150" dur="1" fill="hold">
                                          <p:stCondLst>
                                            <p:cond delay="0"/>
                                          </p:stCondLst>
                                        </p:cTn>
                                        <p:tgtEl>
                                          <p:spTgt spid="137"/>
                                        </p:tgtEl>
                                        <p:attrNameLst>
                                          <p:attrName>style.visibility</p:attrName>
                                        </p:attrNameLst>
                                      </p:cBhvr>
                                      <p:to>
                                        <p:strVal val="visible"/>
                                      </p:to>
                                    </p:set>
                                    <p:anim calcmode="lin" valueType="num">
                                      <p:cBhvr additive="base">
                                        <p:cTn id="151" dur="500" decel="100000" fill="hold"/>
                                        <p:tgtEl>
                                          <p:spTgt spid="137"/>
                                        </p:tgtEl>
                                        <p:attrNameLst>
                                          <p:attrName>ppt_w</p:attrName>
                                        </p:attrNameLst>
                                      </p:cBhvr>
                                      <p:tavLst>
                                        <p:tav tm="0">
                                          <p:val>
                                            <p:strVal val="#ppt_w*0.3"/>
                                          </p:val>
                                        </p:tav>
                                        <p:tav tm="100000">
                                          <p:val>
                                            <p:strVal val="#ppt_w*1.08"/>
                                          </p:val>
                                        </p:tav>
                                      </p:tavLst>
                                    </p:anim>
                                    <p:anim calcmode="lin" valueType="num">
                                      <p:cBhvr additive="base">
                                        <p:cTn id="152" dur="500" decel="100000" fill="hold"/>
                                        <p:tgtEl>
                                          <p:spTgt spid="137"/>
                                        </p:tgtEl>
                                        <p:attrNameLst>
                                          <p:attrName>ppt_h</p:attrName>
                                        </p:attrNameLst>
                                      </p:cBhvr>
                                      <p:tavLst>
                                        <p:tav tm="0">
                                          <p:val>
                                            <p:strVal val="#ppt_h*0.3"/>
                                          </p:val>
                                        </p:tav>
                                        <p:tav tm="100000">
                                          <p:val>
                                            <p:strVal val="#ppt_h*1.08"/>
                                          </p:val>
                                        </p:tav>
                                      </p:tavLst>
                                    </p:anim>
                                    <p:animEffect transition="in" filter="fade">
                                      <p:cBhvr>
                                        <p:cTn id="153" dur="250"/>
                                        <p:tgtEl>
                                          <p:spTgt spid="137"/>
                                        </p:tgtEl>
                                      </p:cBhvr>
                                    </p:animEffect>
                                    <p:anim calcmode="lin" valueType="num">
                                      <p:cBhvr additive="base">
                                        <p:cTn id="154" dur="160" fill="hold">
                                          <p:stCondLst>
                                            <p:cond delay="500"/>
                                          </p:stCondLst>
                                        </p:cTn>
                                        <p:tgtEl>
                                          <p:spTgt spid="137"/>
                                        </p:tgtEl>
                                        <p:attrNameLst>
                                          <p:attrName>ppt_w</p:attrName>
                                        </p:attrNameLst>
                                      </p:cBhvr>
                                      <p:tavLst>
                                        <p:tav tm="0">
                                          <p:val>
                                            <p:strVal val="#ppt_w*1.08"/>
                                          </p:val>
                                        </p:tav>
                                        <p:tav tm="100000">
                                          <p:val>
                                            <p:strVal val="#ppt_w"/>
                                          </p:val>
                                        </p:tav>
                                      </p:tavLst>
                                    </p:anim>
                                    <p:anim calcmode="lin" valueType="num">
                                      <p:cBhvr additive="base">
                                        <p:cTn id="155" dur="160" fill="hold">
                                          <p:stCondLst>
                                            <p:cond delay="500"/>
                                          </p:stCondLst>
                                        </p:cTn>
                                        <p:tgtEl>
                                          <p:spTgt spid="137"/>
                                        </p:tgtEl>
                                        <p:attrNameLst>
                                          <p:attrName>ppt_h</p:attrName>
                                        </p:attrNameLst>
                                      </p:cBhvr>
                                      <p:tavLst>
                                        <p:tav tm="0">
                                          <p:val>
                                            <p:strVal val="#ppt_h*1.08"/>
                                          </p:val>
                                        </p:tav>
                                        <p:tav tm="100000">
                                          <p:val>
                                            <p:strVal val="#ppt_h"/>
                                          </p:val>
                                        </p:tav>
                                      </p:tavLst>
                                    </p:anim>
                                  </p:childTnLst>
                                </p:cTn>
                              </p:par>
                            </p:childTnLst>
                          </p:cTn>
                        </p:par>
                      </p:childTnLst>
                    </p:cTn>
                  </p:par>
                  <p:par>
                    <p:cTn id="156" fill="hold">
                      <p:stCondLst>
                        <p:cond delay="indefinite"/>
                      </p:stCondLst>
                      <p:childTnLst>
                        <p:par>
                          <p:cTn id="157" fill="hold">
                            <p:stCondLst>
                              <p:cond delay="0"/>
                            </p:stCondLst>
                            <p:childTnLst>
                              <p:par>
                                <p:cTn id="158" presetID="53" presetClass="entr" presetSubtype="16" fill="hold" grpId="0" nodeType="clickEffect">
                                  <p:stCondLst>
                                    <p:cond delay="0"/>
                                  </p:stCondLst>
                                  <p:childTnLst>
                                    <p:set>
                                      <p:cBhvr>
                                        <p:cTn id="159" dur="1" fill="hold">
                                          <p:stCondLst>
                                            <p:cond delay="0"/>
                                          </p:stCondLst>
                                        </p:cTn>
                                        <p:tgtEl>
                                          <p:spTgt spid="138"/>
                                        </p:tgtEl>
                                        <p:attrNameLst>
                                          <p:attrName>style.visibility</p:attrName>
                                        </p:attrNameLst>
                                      </p:cBhvr>
                                      <p:to>
                                        <p:strVal val="visible"/>
                                      </p:to>
                                    </p:set>
                                    <p:anim calcmode="lin" valueType="num">
                                      <p:cBhvr additive="base">
                                        <p:cTn id="160" dur="500" decel="100000" fill="hold"/>
                                        <p:tgtEl>
                                          <p:spTgt spid="138"/>
                                        </p:tgtEl>
                                        <p:attrNameLst>
                                          <p:attrName>ppt_w</p:attrName>
                                        </p:attrNameLst>
                                      </p:cBhvr>
                                      <p:tavLst>
                                        <p:tav tm="0">
                                          <p:val>
                                            <p:strVal val="#ppt_w*0.3"/>
                                          </p:val>
                                        </p:tav>
                                        <p:tav tm="100000">
                                          <p:val>
                                            <p:strVal val="#ppt_w*1.08"/>
                                          </p:val>
                                        </p:tav>
                                      </p:tavLst>
                                    </p:anim>
                                    <p:anim calcmode="lin" valueType="num">
                                      <p:cBhvr additive="base">
                                        <p:cTn id="161" dur="500" decel="100000" fill="hold"/>
                                        <p:tgtEl>
                                          <p:spTgt spid="138"/>
                                        </p:tgtEl>
                                        <p:attrNameLst>
                                          <p:attrName>ppt_h</p:attrName>
                                        </p:attrNameLst>
                                      </p:cBhvr>
                                      <p:tavLst>
                                        <p:tav tm="0">
                                          <p:val>
                                            <p:strVal val="#ppt_h*0.3"/>
                                          </p:val>
                                        </p:tav>
                                        <p:tav tm="100000">
                                          <p:val>
                                            <p:strVal val="#ppt_h*1.08"/>
                                          </p:val>
                                        </p:tav>
                                      </p:tavLst>
                                    </p:anim>
                                    <p:animEffect transition="in" filter="fade">
                                      <p:cBhvr>
                                        <p:cTn id="162" dur="250"/>
                                        <p:tgtEl>
                                          <p:spTgt spid="138"/>
                                        </p:tgtEl>
                                      </p:cBhvr>
                                    </p:animEffect>
                                    <p:anim calcmode="lin" valueType="num">
                                      <p:cBhvr additive="base">
                                        <p:cTn id="163" dur="160" fill="hold">
                                          <p:stCondLst>
                                            <p:cond delay="500"/>
                                          </p:stCondLst>
                                        </p:cTn>
                                        <p:tgtEl>
                                          <p:spTgt spid="138"/>
                                        </p:tgtEl>
                                        <p:attrNameLst>
                                          <p:attrName>ppt_w</p:attrName>
                                        </p:attrNameLst>
                                      </p:cBhvr>
                                      <p:tavLst>
                                        <p:tav tm="0">
                                          <p:val>
                                            <p:strVal val="#ppt_w*1.08"/>
                                          </p:val>
                                        </p:tav>
                                        <p:tav tm="100000">
                                          <p:val>
                                            <p:strVal val="#ppt_w"/>
                                          </p:val>
                                        </p:tav>
                                      </p:tavLst>
                                    </p:anim>
                                    <p:anim calcmode="lin" valueType="num">
                                      <p:cBhvr additive="base">
                                        <p:cTn id="164" dur="160" fill="hold">
                                          <p:stCondLst>
                                            <p:cond delay="500"/>
                                          </p:stCondLst>
                                        </p:cTn>
                                        <p:tgtEl>
                                          <p:spTgt spid="138"/>
                                        </p:tgtEl>
                                        <p:attrNameLst>
                                          <p:attrName>ppt_h</p:attrName>
                                        </p:attrNameLst>
                                      </p:cBhvr>
                                      <p:tavLst>
                                        <p:tav tm="0">
                                          <p:val>
                                            <p:strVal val="#ppt_h*1.08"/>
                                          </p:val>
                                        </p:tav>
                                        <p:tav tm="100000">
                                          <p:val>
                                            <p:strVal val="#ppt_h"/>
                                          </p:val>
                                        </p:tav>
                                      </p:tavLst>
                                    </p:anim>
                                  </p:childTnLst>
                                </p:cTn>
                              </p:par>
                            </p:childTnLst>
                          </p:cTn>
                        </p:par>
                      </p:childTnLst>
                    </p:cTn>
                  </p:par>
                  <p:par>
                    <p:cTn id="165" fill="hold">
                      <p:stCondLst>
                        <p:cond delay="indefinite"/>
                      </p:stCondLst>
                      <p:childTnLst>
                        <p:par>
                          <p:cTn id="166" fill="hold">
                            <p:stCondLst>
                              <p:cond delay="0"/>
                            </p:stCondLst>
                            <p:childTnLst>
                              <p:par>
                                <p:cTn id="167" presetID="53" presetClass="entr" presetSubtype="16" fill="hold" grpId="0" nodeType="clickEffect">
                                  <p:stCondLst>
                                    <p:cond delay="0"/>
                                  </p:stCondLst>
                                  <p:childTnLst>
                                    <p:set>
                                      <p:cBhvr>
                                        <p:cTn id="168" dur="1" fill="hold">
                                          <p:stCondLst>
                                            <p:cond delay="0"/>
                                          </p:stCondLst>
                                        </p:cTn>
                                        <p:tgtEl>
                                          <p:spTgt spid="139"/>
                                        </p:tgtEl>
                                        <p:attrNameLst>
                                          <p:attrName>style.visibility</p:attrName>
                                        </p:attrNameLst>
                                      </p:cBhvr>
                                      <p:to>
                                        <p:strVal val="visible"/>
                                      </p:to>
                                    </p:set>
                                    <p:anim calcmode="lin" valueType="num">
                                      <p:cBhvr additive="base">
                                        <p:cTn id="169" dur="500" decel="100000" fill="hold"/>
                                        <p:tgtEl>
                                          <p:spTgt spid="139"/>
                                        </p:tgtEl>
                                        <p:attrNameLst>
                                          <p:attrName>ppt_w</p:attrName>
                                        </p:attrNameLst>
                                      </p:cBhvr>
                                      <p:tavLst>
                                        <p:tav tm="0">
                                          <p:val>
                                            <p:strVal val="#ppt_w*0.3"/>
                                          </p:val>
                                        </p:tav>
                                        <p:tav tm="100000">
                                          <p:val>
                                            <p:strVal val="#ppt_w*1.08"/>
                                          </p:val>
                                        </p:tav>
                                      </p:tavLst>
                                    </p:anim>
                                    <p:anim calcmode="lin" valueType="num">
                                      <p:cBhvr additive="base">
                                        <p:cTn id="170" dur="500" decel="100000" fill="hold"/>
                                        <p:tgtEl>
                                          <p:spTgt spid="139"/>
                                        </p:tgtEl>
                                        <p:attrNameLst>
                                          <p:attrName>ppt_h</p:attrName>
                                        </p:attrNameLst>
                                      </p:cBhvr>
                                      <p:tavLst>
                                        <p:tav tm="0">
                                          <p:val>
                                            <p:strVal val="#ppt_h*0.3"/>
                                          </p:val>
                                        </p:tav>
                                        <p:tav tm="100000">
                                          <p:val>
                                            <p:strVal val="#ppt_h*1.08"/>
                                          </p:val>
                                        </p:tav>
                                      </p:tavLst>
                                    </p:anim>
                                    <p:animEffect transition="in" filter="fade">
                                      <p:cBhvr>
                                        <p:cTn id="171" dur="250"/>
                                        <p:tgtEl>
                                          <p:spTgt spid="139"/>
                                        </p:tgtEl>
                                      </p:cBhvr>
                                    </p:animEffect>
                                    <p:anim calcmode="lin" valueType="num">
                                      <p:cBhvr additive="base">
                                        <p:cTn id="172" dur="160" fill="hold">
                                          <p:stCondLst>
                                            <p:cond delay="500"/>
                                          </p:stCondLst>
                                        </p:cTn>
                                        <p:tgtEl>
                                          <p:spTgt spid="139"/>
                                        </p:tgtEl>
                                        <p:attrNameLst>
                                          <p:attrName>ppt_w</p:attrName>
                                        </p:attrNameLst>
                                      </p:cBhvr>
                                      <p:tavLst>
                                        <p:tav tm="0">
                                          <p:val>
                                            <p:strVal val="#ppt_w*1.08"/>
                                          </p:val>
                                        </p:tav>
                                        <p:tav tm="100000">
                                          <p:val>
                                            <p:strVal val="#ppt_w"/>
                                          </p:val>
                                        </p:tav>
                                      </p:tavLst>
                                    </p:anim>
                                    <p:anim calcmode="lin" valueType="num">
                                      <p:cBhvr additive="base">
                                        <p:cTn id="173" dur="160" fill="hold">
                                          <p:stCondLst>
                                            <p:cond delay="500"/>
                                          </p:stCondLst>
                                        </p:cTn>
                                        <p:tgtEl>
                                          <p:spTgt spid="139"/>
                                        </p:tgtEl>
                                        <p:attrNameLst>
                                          <p:attrName>ppt_h</p:attrName>
                                        </p:attrNameLst>
                                      </p:cBhvr>
                                      <p:tavLst>
                                        <p:tav tm="0">
                                          <p:val>
                                            <p:strVal val="#ppt_h*1.08"/>
                                          </p:val>
                                        </p:tav>
                                        <p:tav tm="100000">
                                          <p:val>
                                            <p:strVal val="#ppt_h"/>
                                          </p:val>
                                        </p:tav>
                                      </p:tavLst>
                                    </p:anim>
                                  </p:childTnLst>
                                </p:cTn>
                              </p:par>
                            </p:childTnLst>
                          </p:cTn>
                        </p:par>
                      </p:childTnLst>
                    </p:cTn>
                  </p:par>
                  <p:par>
                    <p:cTn id="174" fill="hold">
                      <p:stCondLst>
                        <p:cond delay="indefinite"/>
                      </p:stCondLst>
                      <p:childTnLst>
                        <p:par>
                          <p:cTn id="175" fill="hold">
                            <p:stCondLst>
                              <p:cond delay="0"/>
                            </p:stCondLst>
                            <p:childTnLst>
                              <p:par>
                                <p:cTn id="176" presetID="53" presetClass="entr" presetSubtype="16" fill="hold" grpId="0" nodeType="clickEffect">
                                  <p:stCondLst>
                                    <p:cond delay="0"/>
                                  </p:stCondLst>
                                  <p:childTnLst>
                                    <p:set>
                                      <p:cBhvr>
                                        <p:cTn id="177" dur="1" fill="hold">
                                          <p:stCondLst>
                                            <p:cond delay="0"/>
                                          </p:stCondLst>
                                        </p:cTn>
                                        <p:tgtEl>
                                          <p:spTgt spid="104"/>
                                        </p:tgtEl>
                                        <p:attrNameLst>
                                          <p:attrName>style.visibility</p:attrName>
                                        </p:attrNameLst>
                                      </p:cBhvr>
                                      <p:to>
                                        <p:strVal val="visible"/>
                                      </p:to>
                                    </p:set>
                                    <p:anim calcmode="lin" valueType="num">
                                      <p:cBhvr additive="base">
                                        <p:cTn id="178"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179" dur="500" decel="100000" fill="hold"/>
                                        <p:tgtEl>
                                          <p:spTgt spid="104"/>
                                        </p:tgtEl>
                                        <p:attrNameLst>
                                          <p:attrName>ppt_h</p:attrName>
                                        </p:attrNameLst>
                                      </p:cBhvr>
                                      <p:tavLst>
                                        <p:tav tm="0">
                                          <p:val>
                                            <p:strVal val="#ppt_h*0.3"/>
                                          </p:val>
                                        </p:tav>
                                        <p:tav tm="100000">
                                          <p:val>
                                            <p:strVal val="#ppt_h*1.08"/>
                                          </p:val>
                                        </p:tav>
                                      </p:tavLst>
                                    </p:anim>
                                    <p:animEffect transition="in" filter="fade">
                                      <p:cBhvr>
                                        <p:cTn id="180" dur="250"/>
                                        <p:tgtEl>
                                          <p:spTgt spid="104"/>
                                        </p:tgtEl>
                                      </p:cBhvr>
                                    </p:animEffect>
                                    <p:anim calcmode="lin" valueType="num">
                                      <p:cBhvr additive="base">
                                        <p:cTn id="181"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182"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7" grpId="0" animBg="1"/>
      <p:bldP spid="108" grpId="0" animBg="1"/>
      <p:bldP spid="109"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STUB</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Stub Recipes You Will Use Every Day</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One line each. Choose the answer the test needs, including failures and "not found".</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158</a:t>
            </a:r>
            <a:endParaRPr lang="en-US" sz="850" dirty="0"/>
          </a:p>
        </p:txBody>
      </p:sp>
      <p:sp>
        <p:nvSpPr>
          <p:cNvPr id="101" name="s101"/>
          <p:cNvSpPr/>
          <p:nvPr/>
        </p:nvSpPr>
        <p:spPr>
          <a:xfrm>
            <a:off x="8979408" y="457200"/>
            <a:ext cx="2651760" cy="310896"/>
          </a:xfrm>
          <a:prstGeom prst="roundRect">
            <a:avLst>
              <a:gd name="adj" fmla="val 50000"/>
            </a:avLst>
          </a:prstGeom>
          <a:solidFill>
            <a:srgbClr val="13D0F7"/>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  EVERY DAY</a:t>
            </a:r>
            <a:endParaRPr lang="en-US" sz="1100" dirty="0"/>
          </a:p>
        </p:txBody>
      </p:sp>
      <p:sp>
        <p:nvSpPr>
          <p:cNvPr id="102" name="s102"/>
          <p:cNvSpPr txBox="1"/>
          <p:nvPr/>
        </p:nvSpPr>
        <p:spPr>
          <a:xfrm>
            <a:off x="680314" y="1810512"/>
            <a:ext cx="658368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RECIPE</a:t>
            </a:r>
            <a:endParaRPr lang="en-US" sz="1050" dirty="0"/>
          </a:p>
        </p:txBody>
      </p:sp>
      <p:sp>
        <p:nvSpPr>
          <p:cNvPr id="103" name="s103"/>
          <p:cNvSpPr txBox="1"/>
          <p:nvPr/>
        </p:nvSpPr>
        <p:spPr>
          <a:xfrm>
            <a:off x="7263994" y="1810512"/>
            <a:ext cx="4504334"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USE IT WHEN …</a:t>
            </a:r>
            <a:endParaRPr lang="en-US" sz="1050" dirty="0"/>
          </a:p>
        </p:txBody>
      </p:sp>
      <p:sp>
        <p:nvSpPr>
          <p:cNvPr id="104" name="s104"/>
          <p:cNvSpPr/>
          <p:nvPr/>
        </p:nvSpPr>
        <p:spPr>
          <a:xfrm>
            <a:off x="543154" y="2121408"/>
            <a:ext cx="11088014" cy="402336"/>
          </a:xfrm>
          <a:prstGeom prst="roundRect">
            <a:avLst>
              <a:gd name="adj" fmla="val 2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5" name="s105"/>
          <p:cNvSpPr txBox="1"/>
          <p:nvPr/>
        </p:nvSpPr>
        <p:spPr>
          <a:xfrm>
            <a:off x="680314" y="2121408"/>
            <a:ext cx="6492240"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50" b="0" dirty="0">
                <a:solidFill>
                  <a:srgbClr val="FFFFFF"/>
                </a:solidFill>
                <a:latin typeface="Consolas"/>
                <a:ea typeface="Consolas"/>
                <a:cs typeface="Consolas"/>
              </a:rPr>
              <a:t>rates.Rate("USD", "EGP").Returns(48.5m);</a:t>
            </a:r>
            <a:endParaRPr lang="en-US" sz="1050" dirty="0"/>
          </a:p>
        </p:txBody>
      </p:sp>
      <p:sp>
        <p:nvSpPr>
          <p:cNvPr id="106" name="s106"/>
          <p:cNvSpPr txBox="1"/>
          <p:nvPr/>
        </p:nvSpPr>
        <p:spPr>
          <a:xfrm>
            <a:off x="7263994" y="2121408"/>
            <a:ext cx="4275734"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a fixed answer for these exact arguments</a:t>
            </a:r>
            <a:endParaRPr lang="en-US" sz="1200" dirty="0"/>
          </a:p>
        </p:txBody>
      </p:sp>
      <p:sp>
        <p:nvSpPr>
          <p:cNvPr id="107" name="s107"/>
          <p:cNvSpPr/>
          <p:nvPr/>
        </p:nvSpPr>
        <p:spPr>
          <a:xfrm>
            <a:off x="543154" y="2578608"/>
            <a:ext cx="11088014" cy="402336"/>
          </a:xfrm>
          <a:prstGeom prst="roundRect">
            <a:avLst>
              <a:gd name="adj" fmla="val 2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8" name="s108"/>
          <p:cNvSpPr txBox="1"/>
          <p:nvPr/>
        </p:nvSpPr>
        <p:spPr>
          <a:xfrm>
            <a:off x="680314" y="2578608"/>
            <a:ext cx="6492240"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50" b="0" dirty="0">
                <a:solidFill>
                  <a:srgbClr val="FFFFFF"/>
                </a:solidFill>
                <a:latin typeface="Consolas"/>
                <a:ea typeface="Consolas"/>
                <a:cs typeface="Consolas"/>
              </a:rPr>
              <a:t>rates.Rate(Arg.Any&lt;string&gt;(), "EGP").Returns(50m);</a:t>
            </a:r>
            <a:endParaRPr lang="en-US" sz="1050" dirty="0"/>
          </a:p>
        </p:txBody>
      </p:sp>
      <p:sp>
        <p:nvSpPr>
          <p:cNvPr id="109" name="s109"/>
          <p:cNvSpPr txBox="1"/>
          <p:nvPr/>
        </p:nvSpPr>
        <p:spPr>
          <a:xfrm>
            <a:off x="7263994" y="2578608"/>
            <a:ext cx="4275734"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the first argument does not matter</a:t>
            </a:r>
            <a:endParaRPr lang="en-US" sz="1200" dirty="0"/>
          </a:p>
        </p:txBody>
      </p:sp>
      <p:sp>
        <p:nvSpPr>
          <p:cNvPr id="110" name="s110"/>
          <p:cNvSpPr/>
          <p:nvPr/>
        </p:nvSpPr>
        <p:spPr>
          <a:xfrm>
            <a:off x="543154" y="3035808"/>
            <a:ext cx="11088014" cy="402336"/>
          </a:xfrm>
          <a:prstGeom prst="roundRect">
            <a:avLst>
              <a:gd name="adj" fmla="val 2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1" name="s111"/>
          <p:cNvSpPr txBox="1"/>
          <p:nvPr/>
        </p:nvSpPr>
        <p:spPr>
          <a:xfrm>
            <a:off x="680314" y="3035808"/>
            <a:ext cx="6492240"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50" b="0" dirty="0">
                <a:solidFill>
                  <a:srgbClr val="FFFFFF"/>
                </a:solidFill>
                <a:latin typeface="Consolas"/>
                <a:ea typeface="Consolas"/>
                <a:cs typeface="Consolas"/>
              </a:rPr>
              <a:t>rates.Rate("USD", "EGP").Returns(48m, 49m, 50m);</a:t>
            </a:r>
            <a:endParaRPr lang="en-US" sz="1050" dirty="0"/>
          </a:p>
        </p:txBody>
      </p:sp>
      <p:sp>
        <p:nvSpPr>
          <p:cNvPr id="112" name="s112"/>
          <p:cNvSpPr txBox="1"/>
          <p:nvPr/>
        </p:nvSpPr>
        <p:spPr>
          <a:xfrm>
            <a:off x="7263994" y="3035808"/>
            <a:ext cx="4275734"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a different answer on each call (retry, paging)</a:t>
            </a:r>
            <a:endParaRPr lang="en-US" sz="1200" dirty="0"/>
          </a:p>
        </p:txBody>
      </p:sp>
      <p:sp>
        <p:nvSpPr>
          <p:cNvPr id="113" name="s113"/>
          <p:cNvSpPr/>
          <p:nvPr/>
        </p:nvSpPr>
        <p:spPr>
          <a:xfrm>
            <a:off x="543154" y="3493008"/>
            <a:ext cx="11088014" cy="402336"/>
          </a:xfrm>
          <a:prstGeom prst="roundRect">
            <a:avLst>
              <a:gd name="adj" fmla="val 20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14" name="s114"/>
          <p:cNvSpPr txBox="1"/>
          <p:nvPr/>
        </p:nvSpPr>
        <p:spPr>
          <a:xfrm>
            <a:off x="680314" y="3493008"/>
            <a:ext cx="6492240"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50" b="0" dirty="0">
                <a:solidFill>
                  <a:srgbClr val="FFFFFF"/>
                </a:solidFill>
                <a:latin typeface="Consolas"/>
                <a:ea typeface="Consolas"/>
                <a:cs typeface="Consolas"/>
              </a:rPr>
              <a:t>rates.Rate("USD", "EGP").Returns(_ =&gt; throw new HttpRequestException());</a:t>
            </a:r>
            <a:endParaRPr lang="en-US" sz="1050" dirty="0"/>
          </a:p>
        </p:txBody>
      </p:sp>
      <p:sp>
        <p:nvSpPr>
          <p:cNvPr id="115" name="s115"/>
          <p:cNvSpPr txBox="1"/>
          <p:nvPr/>
        </p:nvSpPr>
        <p:spPr>
          <a:xfrm>
            <a:off x="7263994" y="3493008"/>
            <a:ext cx="4275734"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the dependency FAILS (API down, timeout)</a:t>
            </a:r>
            <a:endParaRPr lang="en-US" sz="1200" dirty="0"/>
          </a:p>
        </p:txBody>
      </p:sp>
      <p:sp>
        <p:nvSpPr>
          <p:cNvPr id="116" name="s116"/>
          <p:cNvSpPr/>
          <p:nvPr/>
        </p:nvSpPr>
        <p:spPr>
          <a:xfrm>
            <a:off x="543154" y="3950208"/>
            <a:ext cx="11088014" cy="402336"/>
          </a:xfrm>
          <a:prstGeom prst="roundRect">
            <a:avLst>
              <a:gd name="adj" fmla="val 2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7" name="s117"/>
          <p:cNvSpPr txBox="1"/>
          <p:nvPr/>
        </p:nvSpPr>
        <p:spPr>
          <a:xfrm>
            <a:off x="680314" y="3950208"/>
            <a:ext cx="6492240"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050" b="0" dirty="0">
                <a:solidFill>
                  <a:srgbClr val="FFFFFF"/>
                </a:solidFill>
                <a:latin typeface="Consolas"/>
                <a:ea typeface="Consolas"/>
                <a:cs typeface="Consolas"/>
              </a:rPr>
              <a:t>accounts.Find("ghost@bank.eg").Returns((BankAccount?)null);</a:t>
            </a:r>
            <a:endParaRPr lang="en-US" sz="1050" dirty="0"/>
          </a:p>
        </p:txBody>
      </p:sp>
      <p:sp>
        <p:nvSpPr>
          <p:cNvPr id="118" name="s118"/>
          <p:cNvSpPr txBox="1"/>
          <p:nvPr/>
        </p:nvSpPr>
        <p:spPr>
          <a:xfrm>
            <a:off x="7263994" y="3950208"/>
            <a:ext cx="4275734"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the "not found" path</a:t>
            </a:r>
            <a:endParaRPr lang="en-US" sz="1200" dirty="0"/>
          </a:p>
        </p:txBody>
      </p:sp>
      <p:sp>
        <p:nvSpPr>
          <p:cNvPr id="119" name="s119"/>
          <p:cNvSpPr txBox="1"/>
          <p:nvPr/>
        </p:nvSpPr>
        <p:spPr>
          <a:xfrm>
            <a:off x="543154" y="4507992"/>
            <a:ext cx="11088014"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13D0F7"/>
                </a:solidFill>
                <a:latin typeface="Segoe UI"/>
                <a:ea typeface="Segoe UI"/>
                <a:cs typeface="Segoe UI"/>
              </a:rPr>
              <a:t>A FULL TEST WITH RECIPE 4</a:t>
            </a:r>
            <a:endParaRPr lang="en-US" sz="1050" dirty="0"/>
          </a:p>
        </p:txBody>
      </p:sp>
      <p:sp>
        <p:nvSpPr>
          <p:cNvPr id="120" name="s120"/>
          <p:cNvSpPr/>
          <p:nvPr/>
        </p:nvSpPr>
        <p:spPr>
          <a:xfrm>
            <a:off x="543154" y="4782312"/>
            <a:ext cx="11088014" cy="1472184"/>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1" name="s121"/>
          <p:cNvSpPr/>
          <p:nvPr/>
        </p:nvSpPr>
        <p:spPr>
          <a:xfrm>
            <a:off x="707746" y="492861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2" name="s122"/>
          <p:cNvSpPr/>
          <p:nvPr/>
        </p:nvSpPr>
        <p:spPr>
          <a:xfrm>
            <a:off x="890626" y="492861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3" name="s123"/>
          <p:cNvSpPr/>
          <p:nvPr/>
        </p:nvSpPr>
        <p:spPr>
          <a:xfrm>
            <a:off x="1073506" y="492861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4" name="s124"/>
          <p:cNvSpPr/>
          <p:nvPr/>
        </p:nvSpPr>
        <p:spPr>
          <a:xfrm>
            <a:off x="1320394" y="4855464"/>
            <a:ext cx="2103120"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CurrencyConverterTests.cs</a:t>
            </a:r>
            <a:endParaRPr lang="en-US" sz="950" dirty="0"/>
          </a:p>
        </p:txBody>
      </p:sp>
      <p:cxnSp>
        <p:nvCxnSpPr>
          <p:cNvPr id="125" name="ln125"/>
          <p:cNvCxnSpPr/>
          <p:nvPr/>
        </p:nvCxnSpPr>
        <p:spPr>
          <a:xfrm>
            <a:off x="543154" y="5193792"/>
            <a:ext cx="11088014" cy="0"/>
          </a:xfrm>
          <a:prstGeom prst="line">
            <a:avLst/>
          </a:prstGeom>
          <a:ln w="9525">
            <a:solidFill>
              <a:srgbClr val="1E3A5F"/>
            </a:solidFill>
          </a:ln>
        </p:spPr>
      </p:cxnSp>
      <p:sp>
        <p:nvSpPr>
          <p:cNvPr id="126" name="s126"/>
          <p:cNvSpPr/>
          <p:nvPr/>
        </p:nvSpPr>
        <p:spPr>
          <a:xfrm>
            <a:off x="543154" y="5312664"/>
            <a:ext cx="1108801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FBBF24"/>
                </a:solidFill>
                <a:latin typeface="Consolas"/>
                <a:ea typeface="Consolas"/>
                <a:cs typeface="Consolas"/>
              </a:rPr>
              <a:t>[Fact]</a:t>
            </a:r>
            <a:endParaRPr lang="en-US" sz="800" dirty="0"/>
          </a:p>
        </p:txBody>
      </p:sp>
      <p:sp>
        <p:nvSpPr>
          <p:cNvPr id="127" name="s127"/>
          <p:cNvSpPr/>
          <p:nvPr/>
        </p:nvSpPr>
        <p:spPr>
          <a:xfrm>
            <a:off x="543154" y="5434584"/>
            <a:ext cx="1108801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60A5FA"/>
                </a:solidFill>
                <a:latin typeface="Consolas"/>
                <a:ea typeface="Consolas"/>
                <a:cs typeface="Consolas"/>
              </a:rPr>
              <a:t>public</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void</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Convert_ApiDown_ThrowsTheError</a:t>
            </a:r>
            <a:r>
              <a:rPr lang="en-US" sz="800" b="0" dirty="0">
                <a:solidFill>
                  <a:srgbClr val="E2E8F0"/>
                </a:solidFill>
                <a:latin typeface="Consolas"/>
                <a:ea typeface="Consolas"/>
                <a:cs typeface="Consolas"/>
              </a:rPr>
              <a:t>()</a:t>
            </a:r>
            <a:endParaRPr lang="en-US" sz="800" dirty="0"/>
          </a:p>
        </p:txBody>
      </p:sp>
      <p:sp>
        <p:nvSpPr>
          <p:cNvPr id="128" name="s128"/>
          <p:cNvSpPr/>
          <p:nvPr/>
        </p:nvSpPr>
        <p:spPr>
          <a:xfrm>
            <a:off x="543154" y="5556504"/>
            <a:ext cx="1108801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
        <p:nvSpPr>
          <p:cNvPr id="129" name="s129"/>
          <p:cNvSpPr/>
          <p:nvPr/>
        </p:nvSpPr>
        <p:spPr>
          <a:xfrm>
            <a:off x="543154" y="5678424"/>
            <a:ext cx="1108801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_rates.</a:t>
            </a:r>
            <a:r>
              <a:rPr lang="en-US" sz="800" b="0" dirty="0">
                <a:solidFill>
                  <a:srgbClr val="7DD3FC"/>
                </a:solidFill>
                <a:latin typeface="Consolas"/>
                <a:ea typeface="Consolas"/>
                <a:cs typeface="Consolas"/>
              </a:rPr>
              <a:t>Rate</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"USD"</a:t>
            </a:r>
            <a:r>
              <a:rPr lang="en-US" sz="800" b="0" dirty="0">
                <a:solidFill>
                  <a:srgbClr val="E2E8F0"/>
                </a:solidFill>
                <a:latin typeface="Consolas"/>
                <a:ea typeface="Consolas"/>
                <a:cs typeface="Consolas"/>
              </a:rPr>
              <a:t>, </a:t>
            </a:r>
            <a:r>
              <a:rPr lang="en-US" sz="800" b="0" dirty="0">
                <a:solidFill>
                  <a:srgbClr val="F0A98B"/>
                </a:solidFill>
                <a:latin typeface="Consolas"/>
                <a:ea typeface="Consolas"/>
                <a:cs typeface="Consolas"/>
              </a:rPr>
              <a:t>"EGP"</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Returns</a:t>
            </a:r>
            <a:r>
              <a:rPr lang="en-US" sz="800" b="0" dirty="0">
                <a:solidFill>
                  <a:srgbClr val="E2E8F0"/>
                </a:solidFill>
                <a:latin typeface="Consolas"/>
                <a:ea typeface="Consolas"/>
                <a:cs typeface="Consolas"/>
              </a:rPr>
              <a:t>(_ =&gt; </a:t>
            </a:r>
            <a:r>
              <a:rPr lang="en-US" sz="800" b="0" dirty="0">
                <a:solidFill>
                  <a:srgbClr val="60A5FA"/>
                </a:solidFill>
                <a:latin typeface="Consolas"/>
                <a:ea typeface="Consolas"/>
                <a:cs typeface="Consolas"/>
              </a:rPr>
              <a:t>throw</a:t>
            </a: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new</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HttpRequestException</a:t>
            </a:r>
            <a:r>
              <a:rPr lang="en-US" sz="800" b="0" dirty="0">
                <a:solidFill>
                  <a:srgbClr val="E2E8F0"/>
                </a:solidFill>
                <a:latin typeface="Consolas"/>
                <a:ea typeface="Consolas"/>
                <a:cs typeface="Consolas"/>
              </a:rPr>
              <a:t>(</a:t>
            </a:r>
            <a:r>
              <a:rPr lang="en-US" sz="800" b="0" dirty="0">
                <a:solidFill>
                  <a:srgbClr val="F0A98B"/>
                </a:solidFill>
                <a:latin typeface="Consolas"/>
                <a:ea typeface="Consolas"/>
                <a:cs typeface="Consolas"/>
              </a:rPr>
              <a:t>"API down"</a:t>
            </a:r>
            <a:r>
              <a:rPr lang="en-US" sz="800" b="0" dirty="0">
                <a:solidFill>
                  <a:srgbClr val="E2E8F0"/>
                </a:solidFill>
                <a:latin typeface="Consolas"/>
                <a:ea typeface="Consolas"/>
                <a:cs typeface="Consolas"/>
              </a:rPr>
              <a:t>));   </a:t>
            </a:r>
            <a:r>
              <a:rPr lang="en-US" sz="800" b="0" dirty="0">
                <a:solidFill>
                  <a:srgbClr val="6FAE7A"/>
                </a:solidFill>
                <a:latin typeface="Consolas"/>
                <a:ea typeface="Consolas"/>
                <a:cs typeface="Consolas"/>
              </a:rPr>
              <a:t>// STUB a failure</a:t>
            </a:r>
            <a:endParaRPr lang="en-US" sz="800" dirty="0"/>
          </a:p>
        </p:txBody>
      </p:sp>
      <p:sp>
        <p:nvSpPr>
          <p:cNvPr id="130" name="s130"/>
          <p:cNvSpPr/>
          <p:nvPr/>
        </p:nvSpPr>
        <p:spPr>
          <a:xfrm>
            <a:off x="543154" y="5800344"/>
            <a:ext cx="1108801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60A5FA"/>
                </a:solidFill>
                <a:latin typeface="Consolas"/>
                <a:ea typeface="Consolas"/>
                <a:cs typeface="Consolas"/>
              </a:rPr>
              <a:t>var</a:t>
            </a:r>
            <a:r>
              <a:rPr lang="en-US" sz="800" b="0" dirty="0">
                <a:solidFill>
                  <a:srgbClr val="E2E8F0"/>
                </a:solidFill>
                <a:latin typeface="Consolas"/>
                <a:ea typeface="Consolas"/>
                <a:cs typeface="Consolas"/>
              </a:rPr>
              <a:t> converter = </a:t>
            </a:r>
            <a:r>
              <a:rPr lang="en-US" sz="800" b="0" dirty="0">
                <a:solidFill>
                  <a:srgbClr val="60A5FA"/>
                </a:solidFill>
                <a:latin typeface="Consolas"/>
                <a:ea typeface="Consolas"/>
                <a:cs typeface="Consolas"/>
              </a:rPr>
              <a:t>new</a:t>
            </a: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CurrencyConverter</a:t>
            </a:r>
            <a:r>
              <a:rPr lang="en-US" sz="800" b="0" dirty="0">
                <a:solidFill>
                  <a:srgbClr val="E2E8F0"/>
                </a:solidFill>
                <a:latin typeface="Consolas"/>
                <a:ea typeface="Consolas"/>
                <a:cs typeface="Consolas"/>
              </a:rPr>
              <a:t>(_rates);</a:t>
            </a:r>
            <a:endParaRPr lang="en-US" sz="800" dirty="0"/>
          </a:p>
        </p:txBody>
      </p:sp>
      <p:sp>
        <p:nvSpPr>
          <p:cNvPr id="131" name="s131"/>
          <p:cNvSpPr/>
          <p:nvPr/>
        </p:nvSpPr>
        <p:spPr>
          <a:xfrm>
            <a:off x="543154" y="6044184"/>
            <a:ext cx="1108801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    </a:t>
            </a:r>
            <a:r>
              <a:rPr lang="en-US" sz="800" b="0" dirty="0">
                <a:solidFill>
                  <a:srgbClr val="7DD3FC"/>
                </a:solidFill>
                <a:latin typeface="Consolas"/>
                <a:ea typeface="Consolas"/>
                <a:cs typeface="Consolas"/>
              </a:rPr>
              <a:t>Should</a:t>
            </a:r>
            <a:r>
              <a:rPr lang="en-US" sz="800" b="0" dirty="0">
                <a:solidFill>
                  <a:srgbClr val="E2E8F0"/>
                </a:solidFill>
                <a:latin typeface="Consolas"/>
                <a:ea typeface="Consolas"/>
                <a:cs typeface="Consolas"/>
              </a:rPr>
              <a:t>.</a:t>
            </a:r>
            <a:r>
              <a:rPr lang="en-US" sz="800" b="0" dirty="0">
                <a:solidFill>
                  <a:srgbClr val="7DD3FC"/>
                </a:solidFill>
                <a:latin typeface="Consolas"/>
                <a:ea typeface="Consolas"/>
                <a:cs typeface="Consolas"/>
              </a:rPr>
              <a:t>Throw</a:t>
            </a:r>
            <a:r>
              <a:rPr lang="en-US" sz="800" b="0" dirty="0">
                <a:solidFill>
                  <a:srgbClr val="E2E8F0"/>
                </a:solidFill>
                <a:latin typeface="Consolas"/>
                <a:ea typeface="Consolas"/>
                <a:cs typeface="Consolas"/>
              </a:rPr>
              <a:t>&lt;</a:t>
            </a:r>
            <a:r>
              <a:rPr lang="en-US" sz="800" b="0" dirty="0">
                <a:solidFill>
                  <a:srgbClr val="7DD3FC"/>
                </a:solidFill>
                <a:latin typeface="Consolas"/>
                <a:ea typeface="Consolas"/>
                <a:cs typeface="Consolas"/>
              </a:rPr>
              <a:t>HttpRequestException</a:t>
            </a:r>
            <a:r>
              <a:rPr lang="en-US" sz="800" b="0" dirty="0">
                <a:solidFill>
                  <a:srgbClr val="E2E8F0"/>
                </a:solidFill>
                <a:latin typeface="Consolas"/>
                <a:ea typeface="Consolas"/>
                <a:cs typeface="Consolas"/>
              </a:rPr>
              <a:t>&gt;(() =&gt; converter.</a:t>
            </a:r>
            <a:r>
              <a:rPr lang="en-US" sz="800" b="0" dirty="0">
                <a:solidFill>
                  <a:srgbClr val="7DD3FC"/>
                </a:solidFill>
                <a:latin typeface="Consolas"/>
                <a:ea typeface="Consolas"/>
                <a:cs typeface="Consolas"/>
              </a:rPr>
              <a:t>Convert</a:t>
            </a:r>
            <a:r>
              <a:rPr lang="en-US" sz="800" b="0" dirty="0">
                <a:solidFill>
                  <a:srgbClr val="E2E8F0"/>
                </a:solidFill>
                <a:latin typeface="Consolas"/>
                <a:ea typeface="Consolas"/>
                <a:cs typeface="Consolas"/>
              </a:rPr>
              <a:t>(</a:t>
            </a:r>
            <a:r>
              <a:rPr lang="en-US" sz="800" b="0" dirty="0">
                <a:solidFill>
                  <a:srgbClr val="C4B5FD"/>
                </a:solidFill>
                <a:latin typeface="Consolas"/>
                <a:ea typeface="Consolas"/>
                <a:cs typeface="Consolas"/>
              </a:rPr>
              <a:t>10m</a:t>
            </a:r>
            <a:r>
              <a:rPr lang="en-US" sz="800" b="0" dirty="0">
                <a:solidFill>
                  <a:srgbClr val="E2E8F0"/>
                </a:solidFill>
                <a:latin typeface="Consolas"/>
                <a:ea typeface="Consolas"/>
                <a:cs typeface="Consolas"/>
              </a:rPr>
              <a:t>, </a:t>
            </a:r>
            <a:r>
              <a:rPr lang="en-US" sz="800" b="0" dirty="0">
                <a:solidFill>
                  <a:srgbClr val="F0A98B"/>
                </a:solidFill>
                <a:latin typeface="Consolas"/>
                <a:ea typeface="Consolas"/>
                <a:cs typeface="Consolas"/>
              </a:rPr>
              <a:t>"USD"</a:t>
            </a:r>
            <a:r>
              <a:rPr lang="en-US" sz="800" b="0" dirty="0">
                <a:solidFill>
                  <a:srgbClr val="E2E8F0"/>
                </a:solidFill>
                <a:latin typeface="Consolas"/>
                <a:ea typeface="Consolas"/>
                <a:cs typeface="Consolas"/>
              </a:rPr>
              <a:t>, </a:t>
            </a:r>
            <a:r>
              <a:rPr lang="en-US" sz="800" b="0" dirty="0">
                <a:solidFill>
                  <a:srgbClr val="F0A98B"/>
                </a:solidFill>
                <a:latin typeface="Consolas"/>
                <a:ea typeface="Consolas"/>
                <a:cs typeface="Consolas"/>
              </a:rPr>
              <a:t>"EGP"</a:t>
            </a:r>
            <a:r>
              <a:rPr lang="en-US" sz="800" b="0" dirty="0">
                <a:solidFill>
                  <a:srgbClr val="E2E8F0"/>
                </a:solidFill>
                <a:latin typeface="Consolas"/>
                <a:ea typeface="Consolas"/>
                <a:cs typeface="Consolas"/>
              </a:rPr>
              <a:t>));</a:t>
            </a:r>
            <a:endParaRPr lang="en-US" sz="800" dirty="0"/>
          </a:p>
        </p:txBody>
      </p:sp>
      <p:sp>
        <p:nvSpPr>
          <p:cNvPr id="132" name="s132"/>
          <p:cNvSpPr/>
          <p:nvPr/>
        </p:nvSpPr>
        <p:spPr>
          <a:xfrm>
            <a:off x="543154" y="6166104"/>
            <a:ext cx="11088014" cy="1219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00" b="0" dirty="0">
                <a:solidFill>
                  <a:srgbClr val="E2E8F0"/>
                </a:solidFill>
                <a:latin typeface="Consolas"/>
                <a:ea typeface="Consolas"/>
                <a:cs typeface="Consolas"/>
              </a:rPr>
              <a:t>}</a:t>
            </a:r>
            <a:endParaRPr lang="en-US" sz="8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fade">
                                      <p:cBhvr>
                                        <p:cTn id="7" dur="500"/>
                                        <p:tgtEl>
                                          <p:spTgt spid="104"/>
                                        </p:tgtEl>
                                      </p:cBhvr>
                                    </p:animEffect>
                                    <p:anim calcmode="lin" valueType="num">
                                      <p:cBhvr additive="base">
                                        <p:cTn id="8" dur="500" decel="100000" fill="hold"/>
                                        <p:tgtEl>
                                          <p:spTgt spid="104"/>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5"/>
                                        </p:tgtEl>
                                        <p:attrNameLst>
                                          <p:attrName>style.visibility</p:attrName>
                                        </p:attrNameLst>
                                      </p:cBhvr>
                                      <p:to>
                                        <p:strVal val="visible"/>
                                      </p:to>
                                    </p:set>
                                    <p:animEffect transition="in" filter="fade">
                                      <p:cBhvr>
                                        <p:cTn id="11" dur="500"/>
                                        <p:tgtEl>
                                          <p:spTgt spid="105"/>
                                        </p:tgtEl>
                                      </p:cBhvr>
                                    </p:animEffect>
                                    <p:anim calcmode="lin" valueType="num">
                                      <p:cBhvr additive="base">
                                        <p:cTn id="12" dur="500" decel="100000" fill="hold"/>
                                        <p:tgtEl>
                                          <p:spTgt spid="105"/>
                                        </p:tgtEl>
                                        <p:attrNameLst>
                                          <p:attrName>ppt_x</p:attrName>
                                        </p:attrNameLst>
                                      </p:cBhvr>
                                      <p:tavLst>
                                        <p:tav tm="0">
                                          <p:val>
                                            <p:strVal val="#ppt_x-0.05"/>
                                          </p:val>
                                        </p:tav>
                                        <p:tav tm="100000">
                                          <p:val>
                                            <p:strVal val="#ppt_x"/>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6"/>
                                        </p:tgtEl>
                                        <p:attrNameLst>
                                          <p:attrName>style.visibility</p:attrName>
                                        </p:attrNameLst>
                                      </p:cBhvr>
                                      <p:to>
                                        <p:strVal val="visible"/>
                                      </p:to>
                                    </p:set>
                                    <p:animEffect transition="in" filter="fade">
                                      <p:cBhvr>
                                        <p:cTn id="15" dur="500"/>
                                        <p:tgtEl>
                                          <p:spTgt spid="106"/>
                                        </p:tgtEl>
                                      </p:cBhvr>
                                    </p:animEffect>
                                    <p:anim calcmode="lin" valueType="num">
                                      <p:cBhvr additive="base">
                                        <p:cTn id="16" dur="500" decel="100000" fill="hold"/>
                                        <p:tgtEl>
                                          <p:spTgt spid="106"/>
                                        </p:tgtEl>
                                        <p:attrNameLst>
                                          <p:attrName>ppt_x</p:attrName>
                                        </p:attrNameLst>
                                      </p:cBhvr>
                                      <p:tavLst>
                                        <p:tav tm="0">
                                          <p:val>
                                            <p:strVal val="#ppt_x-0.05"/>
                                          </p:val>
                                        </p:tav>
                                        <p:tav tm="100000">
                                          <p:val>
                                            <p:strVal val="#ppt_x"/>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07"/>
                                        </p:tgtEl>
                                        <p:attrNameLst>
                                          <p:attrName>style.visibility</p:attrName>
                                        </p:attrNameLst>
                                      </p:cBhvr>
                                      <p:to>
                                        <p:strVal val="visible"/>
                                      </p:to>
                                    </p:set>
                                    <p:animEffect transition="in" filter="fade">
                                      <p:cBhvr>
                                        <p:cTn id="21" dur="500"/>
                                        <p:tgtEl>
                                          <p:spTgt spid="107"/>
                                        </p:tgtEl>
                                      </p:cBhvr>
                                    </p:animEffect>
                                    <p:anim calcmode="lin" valueType="num">
                                      <p:cBhvr additive="base">
                                        <p:cTn id="22" dur="500" decel="100000" fill="hold"/>
                                        <p:tgtEl>
                                          <p:spTgt spid="107"/>
                                        </p:tgtEl>
                                        <p:attrNameLst>
                                          <p:attrName>ppt_x</p:attrName>
                                        </p:attrNameLst>
                                      </p:cBhvr>
                                      <p:tavLst>
                                        <p:tav tm="0">
                                          <p:val>
                                            <p:strVal val="#ppt_x-0.05"/>
                                          </p:val>
                                        </p:tav>
                                        <p:tav tm="100000">
                                          <p:val>
                                            <p:strVal val="#ppt_x"/>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108"/>
                                        </p:tgtEl>
                                        <p:attrNameLst>
                                          <p:attrName>style.visibility</p:attrName>
                                        </p:attrNameLst>
                                      </p:cBhvr>
                                      <p:to>
                                        <p:strVal val="visible"/>
                                      </p:to>
                                    </p:set>
                                    <p:animEffect transition="in" filter="fade">
                                      <p:cBhvr>
                                        <p:cTn id="25" dur="500"/>
                                        <p:tgtEl>
                                          <p:spTgt spid="108"/>
                                        </p:tgtEl>
                                      </p:cBhvr>
                                    </p:animEffect>
                                    <p:anim calcmode="lin" valueType="num">
                                      <p:cBhvr additive="base">
                                        <p:cTn id="26" dur="500" decel="100000" fill="hold"/>
                                        <p:tgtEl>
                                          <p:spTgt spid="108"/>
                                        </p:tgtEl>
                                        <p:attrNameLst>
                                          <p:attrName>ppt_x</p:attrName>
                                        </p:attrNameLst>
                                      </p:cBhvr>
                                      <p:tavLst>
                                        <p:tav tm="0">
                                          <p:val>
                                            <p:strVal val="#ppt_x-0.05"/>
                                          </p:val>
                                        </p:tav>
                                        <p:tav tm="100000">
                                          <p:val>
                                            <p:strVal val="#ppt_x"/>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109"/>
                                        </p:tgtEl>
                                        <p:attrNameLst>
                                          <p:attrName>style.visibility</p:attrName>
                                        </p:attrNameLst>
                                      </p:cBhvr>
                                      <p:to>
                                        <p:strVal val="visible"/>
                                      </p:to>
                                    </p:set>
                                    <p:animEffect transition="in" filter="fade">
                                      <p:cBhvr>
                                        <p:cTn id="29" dur="500"/>
                                        <p:tgtEl>
                                          <p:spTgt spid="109"/>
                                        </p:tgtEl>
                                      </p:cBhvr>
                                    </p:animEffect>
                                    <p:anim calcmode="lin" valueType="num">
                                      <p:cBhvr additive="base">
                                        <p:cTn id="30" dur="500" decel="100000" fill="hold"/>
                                        <p:tgtEl>
                                          <p:spTgt spid="109"/>
                                        </p:tgtEl>
                                        <p:attrNameLst>
                                          <p:attrName>ppt_x</p:attrName>
                                        </p:attrNameLst>
                                      </p:cBhvr>
                                      <p:tavLst>
                                        <p:tav tm="0">
                                          <p:val>
                                            <p:strVal val="#ppt_x-0.05"/>
                                          </p:val>
                                        </p:tav>
                                        <p:tav tm="100000">
                                          <p:val>
                                            <p:strVal val="#ppt_x"/>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10"/>
                                        </p:tgtEl>
                                        <p:attrNameLst>
                                          <p:attrName>style.visibility</p:attrName>
                                        </p:attrNameLst>
                                      </p:cBhvr>
                                      <p:to>
                                        <p:strVal val="visible"/>
                                      </p:to>
                                    </p:set>
                                    <p:animEffect transition="in" filter="fade">
                                      <p:cBhvr>
                                        <p:cTn id="35" dur="500"/>
                                        <p:tgtEl>
                                          <p:spTgt spid="110"/>
                                        </p:tgtEl>
                                      </p:cBhvr>
                                    </p:animEffect>
                                    <p:anim calcmode="lin" valueType="num">
                                      <p:cBhvr additive="base">
                                        <p:cTn id="36" dur="500" decel="100000" fill="hold"/>
                                        <p:tgtEl>
                                          <p:spTgt spid="110"/>
                                        </p:tgtEl>
                                        <p:attrNameLst>
                                          <p:attrName>ppt_x</p:attrName>
                                        </p:attrNameLst>
                                      </p:cBhvr>
                                      <p:tavLst>
                                        <p:tav tm="0">
                                          <p:val>
                                            <p:strVal val="#ppt_x-0.05"/>
                                          </p:val>
                                        </p:tav>
                                        <p:tav tm="100000">
                                          <p:val>
                                            <p:strVal val="#ppt_x"/>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1"/>
                                        </p:tgtEl>
                                        <p:attrNameLst>
                                          <p:attrName>style.visibility</p:attrName>
                                        </p:attrNameLst>
                                      </p:cBhvr>
                                      <p:to>
                                        <p:strVal val="visible"/>
                                      </p:to>
                                    </p:set>
                                    <p:animEffect transition="in" filter="fade">
                                      <p:cBhvr>
                                        <p:cTn id="39" dur="500"/>
                                        <p:tgtEl>
                                          <p:spTgt spid="111"/>
                                        </p:tgtEl>
                                      </p:cBhvr>
                                    </p:animEffect>
                                    <p:anim calcmode="lin" valueType="num">
                                      <p:cBhvr additive="base">
                                        <p:cTn id="40" dur="500" decel="100000" fill="hold"/>
                                        <p:tgtEl>
                                          <p:spTgt spid="111"/>
                                        </p:tgtEl>
                                        <p:attrNameLst>
                                          <p:attrName>ppt_x</p:attrName>
                                        </p:attrNameLst>
                                      </p:cBhvr>
                                      <p:tavLst>
                                        <p:tav tm="0">
                                          <p:val>
                                            <p:strVal val="#ppt_x-0.05"/>
                                          </p:val>
                                        </p:tav>
                                        <p:tav tm="100000">
                                          <p:val>
                                            <p:strVal val="#ppt_x"/>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2"/>
                                        </p:tgtEl>
                                        <p:attrNameLst>
                                          <p:attrName>style.visibility</p:attrName>
                                        </p:attrNameLst>
                                      </p:cBhvr>
                                      <p:to>
                                        <p:strVal val="visible"/>
                                      </p:to>
                                    </p:set>
                                    <p:animEffect transition="in" filter="fade">
                                      <p:cBhvr>
                                        <p:cTn id="43" dur="500"/>
                                        <p:tgtEl>
                                          <p:spTgt spid="112"/>
                                        </p:tgtEl>
                                      </p:cBhvr>
                                    </p:animEffect>
                                    <p:anim calcmode="lin" valueType="num">
                                      <p:cBhvr additive="base">
                                        <p:cTn id="44" dur="500" decel="100000" fill="hold"/>
                                        <p:tgtEl>
                                          <p:spTgt spid="112"/>
                                        </p:tgtEl>
                                        <p:attrNameLst>
                                          <p:attrName>ppt_x</p:attrName>
                                        </p:attrNameLst>
                                      </p:cBhvr>
                                      <p:tavLst>
                                        <p:tav tm="0">
                                          <p:val>
                                            <p:strVal val="#ppt_x-0.05"/>
                                          </p:val>
                                        </p:tav>
                                        <p:tav tm="100000">
                                          <p:val>
                                            <p:strVal val="#ppt_x"/>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113"/>
                                        </p:tgtEl>
                                        <p:attrNameLst>
                                          <p:attrName>style.visibility</p:attrName>
                                        </p:attrNameLst>
                                      </p:cBhvr>
                                      <p:to>
                                        <p:strVal val="visible"/>
                                      </p:to>
                                    </p:set>
                                    <p:animEffect transition="in" filter="fade">
                                      <p:cBhvr>
                                        <p:cTn id="49" dur="500"/>
                                        <p:tgtEl>
                                          <p:spTgt spid="113"/>
                                        </p:tgtEl>
                                      </p:cBhvr>
                                    </p:animEffect>
                                    <p:anim calcmode="lin" valueType="num">
                                      <p:cBhvr additive="base">
                                        <p:cTn id="50" dur="500" decel="100000" fill="hold"/>
                                        <p:tgtEl>
                                          <p:spTgt spid="113"/>
                                        </p:tgtEl>
                                        <p:attrNameLst>
                                          <p:attrName>ppt_x</p:attrName>
                                        </p:attrNameLst>
                                      </p:cBhvr>
                                      <p:tavLst>
                                        <p:tav tm="0">
                                          <p:val>
                                            <p:strVal val="#ppt_x-0.05"/>
                                          </p:val>
                                        </p:tav>
                                        <p:tav tm="100000">
                                          <p:val>
                                            <p:strVal val="#ppt_x"/>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114"/>
                                        </p:tgtEl>
                                        <p:attrNameLst>
                                          <p:attrName>style.visibility</p:attrName>
                                        </p:attrNameLst>
                                      </p:cBhvr>
                                      <p:to>
                                        <p:strVal val="visible"/>
                                      </p:to>
                                    </p:set>
                                    <p:animEffect transition="in" filter="fade">
                                      <p:cBhvr>
                                        <p:cTn id="53" dur="500"/>
                                        <p:tgtEl>
                                          <p:spTgt spid="114"/>
                                        </p:tgtEl>
                                      </p:cBhvr>
                                    </p:animEffect>
                                    <p:anim calcmode="lin" valueType="num">
                                      <p:cBhvr additive="base">
                                        <p:cTn id="54" dur="500" decel="100000" fill="hold"/>
                                        <p:tgtEl>
                                          <p:spTgt spid="114"/>
                                        </p:tgtEl>
                                        <p:attrNameLst>
                                          <p:attrName>ppt_x</p:attrName>
                                        </p:attrNameLst>
                                      </p:cBhvr>
                                      <p:tavLst>
                                        <p:tav tm="0">
                                          <p:val>
                                            <p:strVal val="#ppt_x-0.05"/>
                                          </p:val>
                                        </p:tav>
                                        <p:tav tm="100000">
                                          <p:val>
                                            <p:strVal val="#ppt_x"/>
                                          </p:val>
                                        </p:tav>
                                      </p:tavLst>
                                    </p:anim>
                                  </p:childTnLst>
                                </p:cTn>
                              </p:par>
                              <p:par>
                                <p:cTn id="55" presetID="42" presetClass="entr" presetSubtype="0" fill="hold" grpId="0" nodeType="withEffect">
                                  <p:stCondLst>
                                    <p:cond delay="0"/>
                                  </p:stCondLst>
                                  <p:childTnLst>
                                    <p:set>
                                      <p:cBhvr>
                                        <p:cTn id="56" dur="1" fill="hold">
                                          <p:stCondLst>
                                            <p:cond delay="0"/>
                                          </p:stCondLst>
                                        </p:cTn>
                                        <p:tgtEl>
                                          <p:spTgt spid="115"/>
                                        </p:tgtEl>
                                        <p:attrNameLst>
                                          <p:attrName>style.visibility</p:attrName>
                                        </p:attrNameLst>
                                      </p:cBhvr>
                                      <p:to>
                                        <p:strVal val="visible"/>
                                      </p:to>
                                    </p:set>
                                    <p:animEffect transition="in" filter="fade">
                                      <p:cBhvr>
                                        <p:cTn id="57" dur="500"/>
                                        <p:tgtEl>
                                          <p:spTgt spid="115"/>
                                        </p:tgtEl>
                                      </p:cBhvr>
                                    </p:animEffect>
                                    <p:anim calcmode="lin" valueType="num">
                                      <p:cBhvr additive="base">
                                        <p:cTn id="58" dur="500" decel="100000" fill="hold"/>
                                        <p:tgtEl>
                                          <p:spTgt spid="115"/>
                                        </p:tgtEl>
                                        <p:attrNameLst>
                                          <p:attrName>ppt_x</p:attrName>
                                        </p:attrNameLst>
                                      </p:cBhvr>
                                      <p:tavLst>
                                        <p:tav tm="0">
                                          <p:val>
                                            <p:strVal val="#ppt_x-0.05"/>
                                          </p:val>
                                        </p:tav>
                                        <p:tav tm="100000">
                                          <p:val>
                                            <p:strVal val="#ppt_x"/>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7"/>
                                        </p:tgtEl>
                                        <p:attrNameLst>
                                          <p:attrName>style.visibility</p:attrName>
                                        </p:attrNameLst>
                                      </p:cBhvr>
                                      <p:to>
                                        <p:strVal val="visible"/>
                                      </p:to>
                                    </p:set>
                                    <p:animEffect transition="in" filter="fade">
                                      <p:cBhvr>
                                        <p:cTn id="67" dur="500"/>
                                        <p:tgtEl>
                                          <p:spTgt spid="117"/>
                                        </p:tgtEl>
                                      </p:cBhvr>
                                    </p:animEffect>
                                    <p:anim calcmode="lin" valueType="num">
                                      <p:cBhvr additive="base">
                                        <p:cTn id="68" dur="500" decel="100000" fill="hold"/>
                                        <p:tgtEl>
                                          <p:spTgt spid="117"/>
                                        </p:tgtEl>
                                        <p:attrNameLst>
                                          <p:attrName>ppt_x</p:attrName>
                                        </p:attrNameLst>
                                      </p:cBhvr>
                                      <p:tavLst>
                                        <p:tav tm="0">
                                          <p:val>
                                            <p:strVal val="#ppt_x-0.05"/>
                                          </p:val>
                                        </p:tav>
                                        <p:tav tm="100000">
                                          <p:val>
                                            <p:strVal val="#ppt_x"/>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8"/>
                                        </p:tgtEl>
                                        <p:attrNameLst>
                                          <p:attrName>style.visibility</p:attrName>
                                        </p:attrNameLst>
                                      </p:cBhvr>
                                      <p:to>
                                        <p:strVal val="visible"/>
                                      </p:to>
                                    </p:set>
                                    <p:animEffect transition="in" filter="fade">
                                      <p:cBhvr>
                                        <p:cTn id="71" dur="500"/>
                                        <p:tgtEl>
                                          <p:spTgt spid="118"/>
                                        </p:tgtEl>
                                      </p:cBhvr>
                                    </p:animEffect>
                                    <p:anim calcmode="lin" valueType="num">
                                      <p:cBhvr additive="base">
                                        <p:cTn id="72" dur="500" decel="100000" fill="hold"/>
                                        <p:tgtEl>
                                          <p:spTgt spid="118"/>
                                        </p:tgtEl>
                                        <p:attrNameLst>
                                          <p:attrName>ppt_x</p:attrName>
                                        </p:attrNameLst>
                                      </p:cBhvr>
                                      <p:tavLst>
                                        <p:tav tm="0">
                                          <p:val>
                                            <p:strVal val="#ppt_x-0.05"/>
                                          </p:val>
                                        </p:tav>
                                        <p:tav tm="100000">
                                          <p:val>
                                            <p:strVal val="#ppt_x"/>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grpId="0" nodeType="clickEffect">
                                  <p:stCondLst>
                                    <p:cond delay="0"/>
                                  </p:stCondLst>
                                  <p:childTnLst>
                                    <p:set>
                                      <p:cBhvr>
                                        <p:cTn id="76" dur="1" fill="hold">
                                          <p:stCondLst>
                                            <p:cond delay="0"/>
                                          </p:stCondLst>
                                        </p:cTn>
                                        <p:tgtEl>
                                          <p:spTgt spid="119"/>
                                        </p:tgtEl>
                                        <p:attrNameLst>
                                          <p:attrName>style.visibility</p:attrName>
                                        </p:attrNameLst>
                                      </p:cBhvr>
                                      <p:to>
                                        <p:strVal val="visible"/>
                                      </p:to>
                                    </p:set>
                                    <p:animEffect transition="in" filter="fade">
                                      <p:cBhvr>
                                        <p:cTn id="77" dur="500"/>
                                        <p:tgtEl>
                                          <p:spTgt spid="119"/>
                                        </p:tgtEl>
                                      </p:cBhvr>
                                    </p:animEffect>
                                    <p:anim calcmode="lin" valueType="num">
                                      <p:cBhvr additive="base">
                                        <p:cTn id="78" dur="500" decel="100000" fill="hold"/>
                                        <p:tgtEl>
                                          <p:spTgt spid="119"/>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110"/>
                                  </p:stCondLst>
                                  <p:childTnLst>
                                    <p:set>
                                      <p:cBhvr>
                                        <p:cTn id="80" dur="1" fill="hold">
                                          <p:stCondLst>
                                            <p:cond delay="0"/>
                                          </p:stCondLst>
                                        </p:cTn>
                                        <p:tgtEl>
                                          <p:spTgt spid="120"/>
                                        </p:tgtEl>
                                        <p:attrNameLst>
                                          <p:attrName>style.visibility</p:attrName>
                                        </p:attrNameLst>
                                      </p:cBhvr>
                                      <p:to>
                                        <p:strVal val="visible"/>
                                      </p:to>
                                    </p:set>
                                    <p:animEffect transition="in" filter="fade">
                                      <p:cBhvr>
                                        <p:cTn id="81" dur="500"/>
                                        <p:tgtEl>
                                          <p:spTgt spid="120"/>
                                        </p:tgtEl>
                                      </p:cBhvr>
                                    </p:animEffect>
                                    <p:anim calcmode="lin" valueType="num">
                                      <p:cBhvr additive="base">
                                        <p:cTn id="82" dur="500" decel="100000" fill="hold"/>
                                        <p:tgtEl>
                                          <p:spTgt spid="120"/>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110"/>
                                  </p:stCondLst>
                                  <p:childTnLst>
                                    <p:set>
                                      <p:cBhvr>
                                        <p:cTn id="84" dur="1" fill="hold">
                                          <p:stCondLst>
                                            <p:cond delay="0"/>
                                          </p:stCondLst>
                                        </p:cTn>
                                        <p:tgtEl>
                                          <p:spTgt spid="121"/>
                                        </p:tgtEl>
                                        <p:attrNameLst>
                                          <p:attrName>style.visibility</p:attrName>
                                        </p:attrNameLst>
                                      </p:cBhvr>
                                      <p:to>
                                        <p:strVal val="visible"/>
                                      </p:to>
                                    </p:set>
                                    <p:animEffect transition="in" filter="fade">
                                      <p:cBhvr>
                                        <p:cTn id="85" dur="500"/>
                                        <p:tgtEl>
                                          <p:spTgt spid="121"/>
                                        </p:tgtEl>
                                      </p:cBhvr>
                                    </p:animEffect>
                                    <p:anim calcmode="lin" valueType="num">
                                      <p:cBhvr additive="base">
                                        <p:cTn id="86" dur="500" decel="100000" fill="hold"/>
                                        <p:tgtEl>
                                          <p:spTgt spid="121"/>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110"/>
                                  </p:stCondLst>
                                  <p:childTnLst>
                                    <p:set>
                                      <p:cBhvr>
                                        <p:cTn id="88" dur="1" fill="hold">
                                          <p:stCondLst>
                                            <p:cond delay="0"/>
                                          </p:stCondLst>
                                        </p:cTn>
                                        <p:tgtEl>
                                          <p:spTgt spid="122"/>
                                        </p:tgtEl>
                                        <p:attrNameLst>
                                          <p:attrName>style.visibility</p:attrName>
                                        </p:attrNameLst>
                                      </p:cBhvr>
                                      <p:to>
                                        <p:strVal val="visible"/>
                                      </p:to>
                                    </p:set>
                                    <p:animEffect transition="in" filter="fade">
                                      <p:cBhvr>
                                        <p:cTn id="89" dur="500"/>
                                        <p:tgtEl>
                                          <p:spTgt spid="122"/>
                                        </p:tgtEl>
                                      </p:cBhvr>
                                    </p:animEffect>
                                    <p:anim calcmode="lin" valueType="num">
                                      <p:cBhvr additive="base">
                                        <p:cTn id="90" dur="500" decel="100000" fill="hold"/>
                                        <p:tgtEl>
                                          <p:spTgt spid="122"/>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110"/>
                                  </p:stCondLst>
                                  <p:childTnLst>
                                    <p:set>
                                      <p:cBhvr>
                                        <p:cTn id="92" dur="1" fill="hold">
                                          <p:stCondLst>
                                            <p:cond delay="0"/>
                                          </p:stCondLst>
                                        </p:cTn>
                                        <p:tgtEl>
                                          <p:spTgt spid="123"/>
                                        </p:tgtEl>
                                        <p:attrNameLst>
                                          <p:attrName>style.visibility</p:attrName>
                                        </p:attrNameLst>
                                      </p:cBhvr>
                                      <p:to>
                                        <p:strVal val="visible"/>
                                      </p:to>
                                    </p:set>
                                    <p:animEffect transition="in" filter="fade">
                                      <p:cBhvr>
                                        <p:cTn id="93" dur="500"/>
                                        <p:tgtEl>
                                          <p:spTgt spid="123"/>
                                        </p:tgtEl>
                                      </p:cBhvr>
                                    </p:animEffect>
                                    <p:anim calcmode="lin" valueType="num">
                                      <p:cBhvr additive="base">
                                        <p:cTn id="94" dur="500" decel="100000" fill="hold"/>
                                        <p:tgtEl>
                                          <p:spTgt spid="123"/>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110"/>
                                  </p:stCondLst>
                                  <p:childTnLst>
                                    <p:set>
                                      <p:cBhvr>
                                        <p:cTn id="96" dur="1" fill="hold">
                                          <p:stCondLst>
                                            <p:cond delay="0"/>
                                          </p:stCondLst>
                                        </p:cTn>
                                        <p:tgtEl>
                                          <p:spTgt spid="124"/>
                                        </p:tgtEl>
                                        <p:attrNameLst>
                                          <p:attrName>style.visibility</p:attrName>
                                        </p:attrNameLst>
                                      </p:cBhvr>
                                      <p:to>
                                        <p:strVal val="visible"/>
                                      </p:to>
                                    </p:set>
                                    <p:animEffect transition="in" filter="fade">
                                      <p:cBhvr>
                                        <p:cTn id="97" dur="500"/>
                                        <p:tgtEl>
                                          <p:spTgt spid="124"/>
                                        </p:tgtEl>
                                      </p:cBhvr>
                                    </p:animEffect>
                                    <p:anim calcmode="lin" valueType="num">
                                      <p:cBhvr additive="base">
                                        <p:cTn id="98" dur="500" decel="100000" fill="hold"/>
                                        <p:tgtEl>
                                          <p:spTgt spid="124"/>
                                        </p:tgtEl>
                                        <p:attrNameLst>
                                          <p:attrName>ppt_y</p:attrName>
                                        </p:attrNameLst>
                                      </p:cBhvr>
                                      <p:tavLst>
                                        <p:tav tm="0">
                                          <p:val>
                                            <p:strVal val="#ppt_y+0.06"/>
                                          </p:val>
                                        </p:tav>
                                        <p:tav tm="100000">
                                          <p:val>
                                            <p:strVal val="#ppt_y"/>
                                          </p:val>
                                        </p:tav>
                                      </p:tavLst>
                                    </p:anim>
                                  </p:childTnLst>
                                </p:cTn>
                              </p:par>
                              <p:par>
                                <p:cTn id="99" presetID="42" presetClass="entr" presetSubtype="0" fill="hold" nodeType="withEffect">
                                  <p:stCondLst>
                                    <p:cond delay="110"/>
                                  </p:stCondLst>
                                  <p:childTnLst>
                                    <p:set>
                                      <p:cBhvr>
                                        <p:cTn id="100" dur="1" fill="hold">
                                          <p:stCondLst>
                                            <p:cond delay="0"/>
                                          </p:stCondLst>
                                        </p:cTn>
                                        <p:tgtEl>
                                          <p:spTgt spid="125"/>
                                        </p:tgtEl>
                                        <p:attrNameLst>
                                          <p:attrName>style.visibility</p:attrName>
                                        </p:attrNameLst>
                                      </p:cBhvr>
                                      <p:to>
                                        <p:strVal val="visible"/>
                                      </p:to>
                                    </p:set>
                                    <p:animEffect transition="in" filter="fade">
                                      <p:cBhvr>
                                        <p:cTn id="101" dur="500"/>
                                        <p:tgtEl>
                                          <p:spTgt spid="125"/>
                                        </p:tgtEl>
                                      </p:cBhvr>
                                    </p:animEffect>
                                    <p:anim calcmode="lin" valueType="num">
                                      <p:cBhvr additive="base">
                                        <p:cTn id="102" dur="500" decel="100000" fill="hold"/>
                                        <p:tgtEl>
                                          <p:spTgt spid="125"/>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110"/>
                                  </p:stCondLst>
                                  <p:childTnLst>
                                    <p:set>
                                      <p:cBhvr>
                                        <p:cTn id="104" dur="1" fill="hold">
                                          <p:stCondLst>
                                            <p:cond delay="0"/>
                                          </p:stCondLst>
                                        </p:cTn>
                                        <p:tgtEl>
                                          <p:spTgt spid="126"/>
                                        </p:tgtEl>
                                        <p:attrNameLst>
                                          <p:attrName>style.visibility</p:attrName>
                                        </p:attrNameLst>
                                      </p:cBhvr>
                                      <p:to>
                                        <p:strVal val="visible"/>
                                      </p:to>
                                    </p:set>
                                    <p:animEffect transition="in" filter="fade">
                                      <p:cBhvr>
                                        <p:cTn id="105" dur="500"/>
                                        <p:tgtEl>
                                          <p:spTgt spid="126"/>
                                        </p:tgtEl>
                                      </p:cBhvr>
                                    </p:animEffect>
                                    <p:anim calcmode="lin" valueType="num">
                                      <p:cBhvr additive="base">
                                        <p:cTn id="106" dur="500" decel="100000" fill="hold"/>
                                        <p:tgtEl>
                                          <p:spTgt spid="126"/>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110"/>
                                  </p:stCondLst>
                                  <p:childTnLst>
                                    <p:set>
                                      <p:cBhvr>
                                        <p:cTn id="108" dur="1" fill="hold">
                                          <p:stCondLst>
                                            <p:cond delay="0"/>
                                          </p:stCondLst>
                                        </p:cTn>
                                        <p:tgtEl>
                                          <p:spTgt spid="127"/>
                                        </p:tgtEl>
                                        <p:attrNameLst>
                                          <p:attrName>style.visibility</p:attrName>
                                        </p:attrNameLst>
                                      </p:cBhvr>
                                      <p:to>
                                        <p:strVal val="visible"/>
                                      </p:to>
                                    </p:set>
                                    <p:animEffect transition="in" filter="fade">
                                      <p:cBhvr>
                                        <p:cTn id="109" dur="500"/>
                                        <p:tgtEl>
                                          <p:spTgt spid="127"/>
                                        </p:tgtEl>
                                      </p:cBhvr>
                                    </p:animEffect>
                                    <p:anim calcmode="lin" valueType="num">
                                      <p:cBhvr additive="base">
                                        <p:cTn id="110" dur="500" decel="100000" fill="hold"/>
                                        <p:tgtEl>
                                          <p:spTgt spid="127"/>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110"/>
                                  </p:stCondLst>
                                  <p:childTnLst>
                                    <p:set>
                                      <p:cBhvr>
                                        <p:cTn id="112" dur="1" fill="hold">
                                          <p:stCondLst>
                                            <p:cond delay="0"/>
                                          </p:stCondLst>
                                        </p:cTn>
                                        <p:tgtEl>
                                          <p:spTgt spid="128"/>
                                        </p:tgtEl>
                                        <p:attrNameLst>
                                          <p:attrName>style.visibility</p:attrName>
                                        </p:attrNameLst>
                                      </p:cBhvr>
                                      <p:to>
                                        <p:strVal val="visible"/>
                                      </p:to>
                                    </p:set>
                                    <p:animEffect transition="in" filter="fade">
                                      <p:cBhvr>
                                        <p:cTn id="113" dur="500"/>
                                        <p:tgtEl>
                                          <p:spTgt spid="128"/>
                                        </p:tgtEl>
                                      </p:cBhvr>
                                    </p:animEffect>
                                    <p:anim calcmode="lin" valueType="num">
                                      <p:cBhvr additive="base">
                                        <p:cTn id="114" dur="500" decel="100000" fill="hold"/>
                                        <p:tgtEl>
                                          <p:spTgt spid="128"/>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110"/>
                                  </p:stCondLst>
                                  <p:childTnLst>
                                    <p:set>
                                      <p:cBhvr>
                                        <p:cTn id="116" dur="1" fill="hold">
                                          <p:stCondLst>
                                            <p:cond delay="0"/>
                                          </p:stCondLst>
                                        </p:cTn>
                                        <p:tgtEl>
                                          <p:spTgt spid="129"/>
                                        </p:tgtEl>
                                        <p:attrNameLst>
                                          <p:attrName>style.visibility</p:attrName>
                                        </p:attrNameLst>
                                      </p:cBhvr>
                                      <p:to>
                                        <p:strVal val="visible"/>
                                      </p:to>
                                    </p:set>
                                    <p:animEffect transition="in" filter="fade">
                                      <p:cBhvr>
                                        <p:cTn id="117" dur="500"/>
                                        <p:tgtEl>
                                          <p:spTgt spid="129"/>
                                        </p:tgtEl>
                                      </p:cBhvr>
                                    </p:animEffect>
                                    <p:anim calcmode="lin" valueType="num">
                                      <p:cBhvr additive="base">
                                        <p:cTn id="118" dur="500" decel="100000" fill="hold"/>
                                        <p:tgtEl>
                                          <p:spTgt spid="129"/>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110"/>
                                  </p:stCondLst>
                                  <p:childTnLst>
                                    <p:set>
                                      <p:cBhvr>
                                        <p:cTn id="120" dur="1" fill="hold">
                                          <p:stCondLst>
                                            <p:cond delay="0"/>
                                          </p:stCondLst>
                                        </p:cTn>
                                        <p:tgtEl>
                                          <p:spTgt spid="130"/>
                                        </p:tgtEl>
                                        <p:attrNameLst>
                                          <p:attrName>style.visibility</p:attrName>
                                        </p:attrNameLst>
                                      </p:cBhvr>
                                      <p:to>
                                        <p:strVal val="visible"/>
                                      </p:to>
                                    </p:set>
                                    <p:animEffect transition="in" filter="fade">
                                      <p:cBhvr>
                                        <p:cTn id="121" dur="500"/>
                                        <p:tgtEl>
                                          <p:spTgt spid="130"/>
                                        </p:tgtEl>
                                      </p:cBhvr>
                                    </p:animEffect>
                                    <p:anim calcmode="lin" valueType="num">
                                      <p:cBhvr additive="base">
                                        <p:cTn id="122" dur="500" decel="100000" fill="hold"/>
                                        <p:tgtEl>
                                          <p:spTgt spid="130"/>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110"/>
                                  </p:stCondLst>
                                  <p:childTnLst>
                                    <p:set>
                                      <p:cBhvr>
                                        <p:cTn id="124" dur="1" fill="hold">
                                          <p:stCondLst>
                                            <p:cond delay="0"/>
                                          </p:stCondLst>
                                        </p:cTn>
                                        <p:tgtEl>
                                          <p:spTgt spid="131"/>
                                        </p:tgtEl>
                                        <p:attrNameLst>
                                          <p:attrName>style.visibility</p:attrName>
                                        </p:attrNameLst>
                                      </p:cBhvr>
                                      <p:to>
                                        <p:strVal val="visible"/>
                                      </p:to>
                                    </p:set>
                                    <p:animEffect transition="in" filter="fade">
                                      <p:cBhvr>
                                        <p:cTn id="125" dur="500"/>
                                        <p:tgtEl>
                                          <p:spTgt spid="131"/>
                                        </p:tgtEl>
                                      </p:cBhvr>
                                    </p:animEffect>
                                    <p:anim calcmode="lin" valueType="num">
                                      <p:cBhvr additive="base">
                                        <p:cTn id="126" dur="500" decel="100000" fill="hold"/>
                                        <p:tgtEl>
                                          <p:spTgt spid="131"/>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110"/>
                                  </p:stCondLst>
                                  <p:childTnLst>
                                    <p:set>
                                      <p:cBhvr>
                                        <p:cTn id="128" dur="1" fill="hold">
                                          <p:stCondLst>
                                            <p:cond delay="0"/>
                                          </p:stCondLst>
                                        </p:cTn>
                                        <p:tgtEl>
                                          <p:spTgt spid="132"/>
                                        </p:tgtEl>
                                        <p:attrNameLst>
                                          <p:attrName>style.visibility</p:attrName>
                                        </p:attrNameLst>
                                      </p:cBhvr>
                                      <p:to>
                                        <p:strVal val="visible"/>
                                      </p:to>
                                    </p:set>
                                    <p:animEffect transition="in" filter="fade">
                                      <p:cBhvr>
                                        <p:cTn id="129" dur="500"/>
                                        <p:tgtEl>
                                          <p:spTgt spid="132"/>
                                        </p:tgtEl>
                                      </p:cBhvr>
                                    </p:animEffect>
                                    <p:anim calcmode="lin" valueType="num">
                                      <p:cBhvr additive="base">
                                        <p:cTn id="130" dur="500" decel="100000" fill="hold"/>
                                        <p:tgtEl>
                                          <p:spTgt spid="132"/>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6" grpId="0" animBg="1"/>
      <p:bldP spid="127" grpId="0" animBg="1"/>
      <p:bldP spid="128" grpId="0" animBg="1"/>
      <p:bldP spid="129" grpId="0" animBg="1"/>
      <p:bldP spid="130" grpId="0" animBg="1"/>
      <p:bldP spid="131" grpId="0" animBg="1"/>
      <p:bldP spid="132"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MOCK</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MOCK: Check That the Call Happened</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SendReceipt returns void. The only proof it worked: the email sender was called.</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159</a:t>
            </a:r>
            <a:endParaRPr lang="en-US" sz="850" dirty="0"/>
          </a:p>
        </p:txBody>
      </p:sp>
      <p:sp>
        <p:nvSpPr>
          <p:cNvPr id="101" name="s101"/>
          <p:cNvSpPr/>
          <p:nvPr/>
        </p:nvSpPr>
        <p:spPr>
          <a:xfrm>
            <a:off x="8979408" y="457200"/>
            <a:ext cx="2651760" cy="310896"/>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  EVERY DAY</a:t>
            </a:r>
            <a:endParaRPr lang="en-US" sz="1100" dirty="0"/>
          </a:p>
        </p:txBody>
      </p:sp>
      <p:sp>
        <p:nvSpPr>
          <p:cNvPr id="102" name="s102"/>
          <p:cNvSpPr/>
          <p:nvPr/>
        </p:nvSpPr>
        <p:spPr>
          <a:xfrm>
            <a:off x="543154" y="1810512"/>
            <a:ext cx="3931920" cy="1481328"/>
          </a:xfrm>
          <a:prstGeom prst="roundRect">
            <a:avLst>
              <a:gd name="adj" fmla="val 8000"/>
            </a:avLst>
          </a:prstGeom>
          <a:solidFill>
            <a:srgbClr val="111B2E"/>
          </a:solidFill>
          <a:ln w="12700">
            <a:solidFill>
              <a:srgbClr val="34D399"/>
            </a:solidFill>
            <a:prstDash val="solid"/>
          </a:ln>
        </p:spPr>
        <p:txBody>
          <a:bodyPr wrap="square" lIns="182880" tIns="128016" rIns="137160" bIns="91440" rtlCol="0" anchor="t">
            <a:noAutofit/>
          </a:bodyPr>
          <a:lstStyle/>
          <a:p>
            <a:pPr marL="0" indent="0" algn="l">
              <a:spcBef>
                <a:spcPts val="0"/>
              </a:spcBef>
              <a:spcAft>
                <a:spcPts val="500"/>
              </a:spcAft>
              <a:buNone/>
            </a:pPr>
            <a:r>
              <a:rPr lang="en-US" sz="1100" b="1" dirty="0">
                <a:solidFill>
                  <a:srgbClr val="34D399"/>
                </a:solidFill>
                <a:latin typeface="Segoe UI"/>
                <a:ea typeface="Segoe UI"/>
                <a:cs typeface="Segoe UI"/>
              </a:rPr>
              <a:t>WHEN TO USE IT</a:t>
            </a:r>
            <a:endParaRPr lang="en-US" sz="1100" dirty="0"/>
          </a:p>
          <a:p>
            <a:pPr marL="0" indent="0" algn="l">
              <a:spcBef>
                <a:spcPts val="0"/>
              </a:spcBef>
              <a:spcAft>
                <a:spcPts val="400"/>
              </a:spcAft>
              <a:buNone/>
            </a:pPr>
            <a:r>
              <a:rPr lang="en-US" sz="1200" b="0" dirty="0">
                <a:solidFill>
                  <a:srgbClr val="34D399"/>
                </a:solidFill>
                <a:latin typeface="Segoe UI"/>
                <a:ea typeface="Segoe UI"/>
                <a:cs typeface="Segoe UI"/>
              </a:rPr>
              <a:t>•  </a:t>
            </a:r>
            <a:r>
              <a:rPr lang="en-US" sz="1200" b="0" dirty="0">
                <a:solidFill>
                  <a:srgbClr val="E2E8F0"/>
                </a:solidFill>
                <a:latin typeface="Segoe UI"/>
                <a:ea typeface="Segoe UI"/>
                <a:cs typeface="Segoe UI"/>
              </a:rPr>
              <a:t>the outcome IS a call to another object</a:t>
            </a:r>
            <a:endParaRPr lang="en-US" sz="1200" dirty="0"/>
          </a:p>
          <a:p>
            <a:pPr marL="0" indent="0" algn="l">
              <a:spcBef>
                <a:spcPts val="0"/>
              </a:spcBef>
              <a:spcAft>
                <a:spcPts val="400"/>
              </a:spcAft>
              <a:buNone/>
            </a:pPr>
            <a:r>
              <a:rPr lang="en-US" sz="1200" b="0" dirty="0">
                <a:solidFill>
                  <a:srgbClr val="34D399"/>
                </a:solidFill>
                <a:latin typeface="Segoe UI"/>
                <a:ea typeface="Segoe UI"/>
                <a:cs typeface="Segoe UI"/>
              </a:rPr>
              <a:t>•  </a:t>
            </a:r>
            <a:r>
              <a:rPr lang="en-US" sz="1200" b="0" dirty="0">
                <a:solidFill>
                  <a:srgbClr val="E2E8F0"/>
                </a:solidFill>
                <a:latin typeface="Segoe UI"/>
                <a:ea typeface="Segoe UI"/>
                <a:cs typeface="Segoe UI"/>
              </a:rPr>
              <a:t>and there is no return value to check</a:t>
            </a:r>
            <a:endParaRPr lang="en-US" sz="1200" dirty="0"/>
          </a:p>
          <a:p>
            <a:pPr marL="0" indent="0" algn="l">
              <a:spcBef>
                <a:spcPts val="0"/>
              </a:spcBef>
              <a:spcAft>
                <a:spcPts val="400"/>
              </a:spcAft>
              <a:buNone/>
            </a:pPr>
            <a:r>
              <a:rPr lang="en-US" sz="1200" b="0" dirty="0">
                <a:solidFill>
                  <a:srgbClr val="34D399"/>
                </a:solidFill>
                <a:latin typeface="Segoe UI"/>
                <a:ea typeface="Segoe UI"/>
                <a:cs typeface="Segoe UI"/>
              </a:rPr>
              <a:t>•  </a:t>
            </a:r>
            <a:r>
              <a:rPr lang="en-US" sz="1200" b="0" dirty="0">
                <a:solidFill>
                  <a:srgbClr val="E2E8F0"/>
                </a:solidFill>
                <a:latin typeface="Segoe UI"/>
                <a:ea typeface="Segoe UI"/>
                <a:cs typeface="Segoe UI"/>
              </a:rPr>
              <a:t>email, log, SMS, payment, message</a:t>
            </a:r>
            <a:endParaRPr lang="en-US" sz="1200" dirty="0"/>
          </a:p>
        </p:txBody>
      </p:sp>
      <p:sp>
        <p:nvSpPr>
          <p:cNvPr id="103" name="s103"/>
          <p:cNvSpPr/>
          <p:nvPr/>
        </p:nvSpPr>
        <p:spPr>
          <a:xfrm>
            <a:off x="543154" y="3401568"/>
            <a:ext cx="3931920" cy="1572768"/>
          </a:xfrm>
          <a:prstGeom prst="roundRect">
            <a:avLst>
              <a:gd name="adj" fmla="val 8000"/>
            </a:avLst>
          </a:prstGeom>
          <a:solidFill>
            <a:srgbClr val="111B2E"/>
          </a:solidFill>
          <a:ln w="12700">
            <a:solidFill>
              <a:srgbClr val="FBBF24"/>
            </a:solidFill>
            <a:prstDash val="solid"/>
          </a:ln>
        </p:spPr>
        <p:txBody>
          <a:bodyPr wrap="square" lIns="182880" tIns="128016" rIns="137160" bIns="91440" rtlCol="0" anchor="t">
            <a:noAutofit/>
          </a:bodyPr>
          <a:lstStyle/>
          <a:p>
            <a:pPr marL="0" indent="0" algn="l">
              <a:spcBef>
                <a:spcPts val="0"/>
              </a:spcBef>
              <a:spcAft>
                <a:spcPts val="500"/>
              </a:spcAft>
              <a:buNone/>
            </a:pPr>
            <a:r>
              <a:rPr lang="en-US" sz="1100" b="1" dirty="0">
                <a:solidFill>
                  <a:srgbClr val="FBBF24"/>
                </a:solidFill>
                <a:latin typeface="Segoe UI"/>
                <a:ea typeface="Segoe UI"/>
                <a:cs typeface="Segoe UI"/>
              </a:rPr>
              <a:t>WHAT YOU NEED</a:t>
            </a:r>
            <a:endParaRPr lang="en-US" sz="1100" dirty="0"/>
          </a:p>
          <a:p>
            <a:pPr marL="0" indent="0" algn="l">
              <a:spcBef>
                <a:spcPts val="0"/>
              </a:spcBef>
              <a:spcAft>
                <a:spcPts val="400"/>
              </a:spcAft>
              <a:buNone/>
            </a:pPr>
            <a:r>
              <a:rPr lang="en-US" sz="1050" b="0" dirty="0">
                <a:solidFill>
                  <a:srgbClr val="94A3B8"/>
                </a:solidFill>
                <a:latin typeface="Consolas"/>
                <a:ea typeface="Consolas"/>
                <a:cs typeface="Consolas"/>
              </a:rPr>
              <a:t>$ </a:t>
            </a:r>
            <a:r>
              <a:rPr lang="en-US" sz="1050" b="1" dirty="0">
                <a:solidFill>
                  <a:srgbClr val="34D399"/>
                </a:solidFill>
                <a:latin typeface="Consolas"/>
                <a:ea typeface="Consolas"/>
                <a:cs typeface="Consolas"/>
              </a:rPr>
              <a:t>dotnet add package NSubstitute</a:t>
            </a:r>
            <a:endParaRPr lang="en-US" sz="105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Substitute.For&lt;IEmailSender&gt;()</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.Received(1)  /  .DidNotReceive()</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Arg.Any&lt;T&gt;()  /  Arg.Is&lt;T&gt;(…)</a:t>
            </a:r>
            <a:endParaRPr lang="en-US" sz="1200" dirty="0"/>
          </a:p>
        </p:txBody>
      </p:sp>
      <p:sp>
        <p:nvSpPr>
          <p:cNvPr id="104" name="s104"/>
          <p:cNvSpPr/>
          <p:nvPr/>
        </p:nvSpPr>
        <p:spPr>
          <a:xfrm>
            <a:off x="543154" y="5084064"/>
            <a:ext cx="3931920" cy="1170432"/>
          </a:xfrm>
          <a:prstGeom prst="roundRect">
            <a:avLst>
              <a:gd name="adj" fmla="val 8000"/>
            </a:avLst>
          </a:prstGeom>
          <a:solidFill>
            <a:srgbClr val="34D399">
              <a:alpha val="10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400"/>
              </a:spcAft>
              <a:buNone/>
            </a:pPr>
            <a:r>
              <a:rPr lang="en-US" sz="1100" b="1" dirty="0">
                <a:solidFill>
                  <a:srgbClr val="34D399"/>
                </a:solidFill>
                <a:latin typeface="Segoe UI"/>
                <a:ea typeface="Segoe UI"/>
                <a:cs typeface="Segoe UI"/>
              </a:rPr>
              <a:t>REMEMBER</a:t>
            </a:r>
            <a:endParaRPr lang="en-US" sz="1100" dirty="0"/>
          </a:p>
          <a:p>
            <a:pPr marL="0" indent="0" algn="l">
              <a:spcBef>
                <a:spcPts val="0"/>
              </a:spcBef>
              <a:spcAft>
                <a:spcPts val="0"/>
              </a:spcAft>
              <a:buNone/>
            </a:pPr>
            <a:r>
              <a:rPr lang="en-US" sz="1200" b="0" dirty="0">
                <a:solidFill>
                  <a:srgbClr val="FFFFFF"/>
                </a:solidFill>
                <a:latin typeface="Segoe UI"/>
                <a:ea typeface="Segoe UI"/>
                <a:cs typeface="Segoe UI"/>
              </a:rPr>
              <a:t>Mock only the EDGES (email, logs, payments). Do not verify every internal call.</a:t>
            </a:r>
            <a:endParaRPr lang="en-US" sz="1200" dirty="0"/>
          </a:p>
        </p:txBody>
      </p:sp>
      <p:sp>
        <p:nvSpPr>
          <p:cNvPr id="105" name="s105"/>
          <p:cNvSpPr/>
          <p:nvPr/>
        </p:nvSpPr>
        <p:spPr>
          <a:xfrm>
            <a:off x="4703674" y="1810512"/>
            <a:ext cx="6927494" cy="2185416"/>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6" name="s106"/>
          <p:cNvSpPr/>
          <p:nvPr/>
        </p:nvSpPr>
        <p:spPr>
          <a:xfrm>
            <a:off x="4868266" y="195681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7" name="s107"/>
          <p:cNvSpPr/>
          <p:nvPr/>
        </p:nvSpPr>
        <p:spPr>
          <a:xfrm>
            <a:off x="5051146" y="195681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8" name="s108"/>
          <p:cNvSpPr/>
          <p:nvPr/>
        </p:nvSpPr>
        <p:spPr>
          <a:xfrm>
            <a:off x="5234026" y="195681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9" name="s109"/>
          <p:cNvSpPr/>
          <p:nvPr/>
        </p:nvSpPr>
        <p:spPr>
          <a:xfrm>
            <a:off x="5480914" y="1883664"/>
            <a:ext cx="331561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ReceiptService.cs  ·  the class under test</a:t>
            </a:r>
            <a:endParaRPr lang="en-US" sz="950" dirty="0"/>
          </a:p>
        </p:txBody>
      </p:sp>
      <p:cxnSp>
        <p:nvCxnSpPr>
          <p:cNvPr id="110" name="ln110"/>
          <p:cNvCxnSpPr/>
          <p:nvPr/>
        </p:nvCxnSpPr>
        <p:spPr>
          <a:xfrm>
            <a:off x="4703674" y="2221992"/>
            <a:ext cx="6927494" cy="0"/>
          </a:xfrm>
          <a:prstGeom prst="line">
            <a:avLst/>
          </a:prstGeom>
          <a:ln w="9525">
            <a:solidFill>
              <a:srgbClr val="1E3A5F"/>
            </a:solidFill>
          </a:ln>
        </p:spPr>
      </p:cxnSp>
      <p:sp>
        <p:nvSpPr>
          <p:cNvPr id="111" name="s111"/>
          <p:cNvSpPr/>
          <p:nvPr/>
        </p:nvSpPr>
        <p:spPr>
          <a:xfrm>
            <a:off x="4703674" y="2340864"/>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60A5FA"/>
                </a:solidFill>
                <a:latin typeface="Consolas"/>
                <a:ea typeface="Consolas"/>
                <a:cs typeface="Consolas"/>
              </a:rPr>
              <a:t>public</a:t>
            </a: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class</a:t>
            </a:r>
            <a:r>
              <a:rPr lang="en-US" sz="825" b="0" dirty="0">
                <a:solidFill>
                  <a:srgbClr val="E2E8F0"/>
                </a:solidFill>
                <a:latin typeface="Consolas"/>
                <a:ea typeface="Consolas"/>
                <a:cs typeface="Consolas"/>
              </a:rPr>
              <a:t> </a:t>
            </a:r>
            <a:r>
              <a:rPr lang="en-US" sz="825" b="0" dirty="0">
                <a:solidFill>
                  <a:srgbClr val="7DD3FC"/>
                </a:solidFill>
                <a:latin typeface="Consolas"/>
                <a:ea typeface="Consolas"/>
                <a:cs typeface="Consolas"/>
              </a:rPr>
              <a:t>ReceiptService</a:t>
            </a:r>
            <a:endParaRPr lang="en-US" sz="825" dirty="0"/>
          </a:p>
        </p:txBody>
      </p:sp>
      <p:sp>
        <p:nvSpPr>
          <p:cNvPr id="112" name="s112"/>
          <p:cNvSpPr/>
          <p:nvPr/>
        </p:nvSpPr>
        <p:spPr>
          <a:xfrm>
            <a:off x="4703674" y="2466594"/>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a:t>
            </a:r>
            <a:endParaRPr lang="en-US" sz="825" dirty="0"/>
          </a:p>
        </p:txBody>
      </p:sp>
      <p:sp>
        <p:nvSpPr>
          <p:cNvPr id="113" name="s113"/>
          <p:cNvSpPr/>
          <p:nvPr/>
        </p:nvSpPr>
        <p:spPr>
          <a:xfrm>
            <a:off x="4703674" y="2592324"/>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private</a:t>
            </a: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readonly</a:t>
            </a:r>
            <a:r>
              <a:rPr lang="en-US" sz="825" b="0" dirty="0">
                <a:solidFill>
                  <a:srgbClr val="E2E8F0"/>
                </a:solidFill>
                <a:latin typeface="Consolas"/>
                <a:ea typeface="Consolas"/>
                <a:cs typeface="Consolas"/>
              </a:rPr>
              <a:t> </a:t>
            </a:r>
            <a:r>
              <a:rPr lang="en-US" sz="825" b="0" dirty="0">
                <a:solidFill>
                  <a:srgbClr val="7DD3FC"/>
                </a:solidFill>
                <a:latin typeface="Consolas"/>
                <a:ea typeface="Consolas"/>
                <a:cs typeface="Consolas"/>
              </a:rPr>
              <a:t>IEmailSender</a:t>
            </a:r>
            <a:r>
              <a:rPr lang="en-US" sz="825" b="0" dirty="0">
                <a:solidFill>
                  <a:srgbClr val="E2E8F0"/>
                </a:solidFill>
                <a:latin typeface="Consolas"/>
                <a:ea typeface="Consolas"/>
                <a:cs typeface="Consolas"/>
              </a:rPr>
              <a:t> _email;</a:t>
            </a:r>
            <a:endParaRPr lang="en-US" sz="825" dirty="0"/>
          </a:p>
        </p:txBody>
      </p:sp>
      <p:sp>
        <p:nvSpPr>
          <p:cNvPr id="114" name="s114"/>
          <p:cNvSpPr/>
          <p:nvPr/>
        </p:nvSpPr>
        <p:spPr>
          <a:xfrm>
            <a:off x="4703674" y="2718054"/>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private</a:t>
            </a: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readonly</a:t>
            </a:r>
            <a:r>
              <a:rPr lang="en-US" sz="825" b="0" dirty="0">
                <a:solidFill>
                  <a:srgbClr val="E2E8F0"/>
                </a:solidFill>
                <a:latin typeface="Consolas"/>
                <a:ea typeface="Consolas"/>
                <a:cs typeface="Consolas"/>
              </a:rPr>
              <a:t> </a:t>
            </a:r>
            <a:r>
              <a:rPr lang="en-US" sz="825" b="0" dirty="0">
                <a:solidFill>
                  <a:srgbClr val="7DD3FC"/>
                </a:solidFill>
                <a:latin typeface="Consolas"/>
                <a:ea typeface="Consolas"/>
                <a:cs typeface="Consolas"/>
              </a:rPr>
              <a:t>ILogger</a:t>
            </a:r>
            <a:r>
              <a:rPr lang="en-US" sz="825" b="0" dirty="0">
                <a:solidFill>
                  <a:srgbClr val="E2E8F0"/>
                </a:solidFill>
                <a:latin typeface="Consolas"/>
                <a:ea typeface="Consolas"/>
                <a:cs typeface="Consolas"/>
              </a:rPr>
              <a:t> _logger;</a:t>
            </a:r>
            <a:endParaRPr lang="en-US" sz="825" dirty="0"/>
          </a:p>
        </p:txBody>
      </p:sp>
      <p:sp>
        <p:nvSpPr>
          <p:cNvPr id="115" name="s115"/>
          <p:cNvSpPr/>
          <p:nvPr/>
        </p:nvSpPr>
        <p:spPr>
          <a:xfrm>
            <a:off x="4703674" y="2843784"/>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public</a:t>
            </a:r>
            <a:r>
              <a:rPr lang="en-US" sz="825" b="0" dirty="0">
                <a:solidFill>
                  <a:srgbClr val="E2E8F0"/>
                </a:solidFill>
                <a:latin typeface="Consolas"/>
                <a:ea typeface="Consolas"/>
                <a:cs typeface="Consolas"/>
              </a:rPr>
              <a:t> </a:t>
            </a:r>
            <a:r>
              <a:rPr lang="en-US" sz="825" b="0" dirty="0">
                <a:solidFill>
                  <a:srgbClr val="7DD3FC"/>
                </a:solidFill>
                <a:latin typeface="Consolas"/>
                <a:ea typeface="Consolas"/>
                <a:cs typeface="Consolas"/>
              </a:rPr>
              <a:t>ReceiptService</a:t>
            </a:r>
            <a:r>
              <a:rPr lang="en-US" sz="825" b="0" dirty="0">
                <a:solidFill>
                  <a:srgbClr val="E2E8F0"/>
                </a:solidFill>
                <a:latin typeface="Consolas"/>
                <a:ea typeface="Consolas"/>
                <a:cs typeface="Consolas"/>
              </a:rPr>
              <a:t>(</a:t>
            </a:r>
            <a:r>
              <a:rPr lang="en-US" sz="825" b="0" dirty="0">
                <a:solidFill>
                  <a:srgbClr val="7DD3FC"/>
                </a:solidFill>
                <a:latin typeface="Consolas"/>
                <a:ea typeface="Consolas"/>
                <a:cs typeface="Consolas"/>
              </a:rPr>
              <a:t>IEmailSender</a:t>
            </a:r>
            <a:r>
              <a:rPr lang="en-US" sz="825" b="0" dirty="0">
                <a:solidFill>
                  <a:srgbClr val="E2E8F0"/>
                </a:solidFill>
                <a:latin typeface="Consolas"/>
                <a:ea typeface="Consolas"/>
                <a:cs typeface="Consolas"/>
              </a:rPr>
              <a:t> email, </a:t>
            </a:r>
            <a:r>
              <a:rPr lang="en-US" sz="825" b="0" dirty="0">
                <a:solidFill>
                  <a:srgbClr val="7DD3FC"/>
                </a:solidFill>
                <a:latin typeface="Consolas"/>
                <a:ea typeface="Consolas"/>
                <a:cs typeface="Consolas"/>
              </a:rPr>
              <a:t>ILogger</a:t>
            </a:r>
            <a:r>
              <a:rPr lang="en-US" sz="825" b="0" dirty="0">
                <a:solidFill>
                  <a:srgbClr val="E2E8F0"/>
                </a:solidFill>
                <a:latin typeface="Consolas"/>
                <a:ea typeface="Consolas"/>
                <a:cs typeface="Consolas"/>
              </a:rPr>
              <a:t> logger) =&gt; (_email, _logger) = (email, logger);</a:t>
            </a:r>
            <a:endParaRPr lang="en-US" sz="825" dirty="0"/>
          </a:p>
        </p:txBody>
      </p:sp>
      <p:sp>
        <p:nvSpPr>
          <p:cNvPr id="116" name="s116"/>
          <p:cNvSpPr/>
          <p:nvPr/>
        </p:nvSpPr>
        <p:spPr>
          <a:xfrm>
            <a:off x="4703674" y="3095244"/>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public</a:t>
            </a: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void</a:t>
            </a:r>
            <a:r>
              <a:rPr lang="en-US" sz="825" b="0" dirty="0">
                <a:solidFill>
                  <a:srgbClr val="E2E8F0"/>
                </a:solidFill>
                <a:latin typeface="Consolas"/>
                <a:ea typeface="Consolas"/>
                <a:cs typeface="Consolas"/>
              </a:rPr>
              <a:t> </a:t>
            </a:r>
            <a:r>
              <a:rPr lang="en-US" sz="825" b="0" dirty="0">
                <a:solidFill>
                  <a:srgbClr val="7DD3FC"/>
                </a:solidFill>
                <a:latin typeface="Consolas"/>
                <a:ea typeface="Consolas"/>
                <a:cs typeface="Consolas"/>
              </a:rPr>
              <a:t>SendReceipt</a:t>
            </a:r>
            <a:r>
              <a:rPr lang="en-US" sz="825" b="0" dirty="0">
                <a:solidFill>
                  <a:srgbClr val="E2E8F0"/>
                </a:solidFill>
                <a:latin typeface="Consolas"/>
                <a:ea typeface="Consolas"/>
                <a:cs typeface="Consolas"/>
              </a:rPr>
              <a:t>(</a:t>
            </a:r>
            <a:r>
              <a:rPr lang="en-US" sz="825" b="0" dirty="0">
                <a:solidFill>
                  <a:srgbClr val="60A5FA"/>
                </a:solidFill>
                <a:latin typeface="Consolas"/>
                <a:ea typeface="Consolas"/>
                <a:cs typeface="Consolas"/>
              </a:rPr>
              <a:t>string</a:t>
            </a:r>
            <a:r>
              <a:rPr lang="en-US" sz="825" b="0" dirty="0">
                <a:solidFill>
                  <a:srgbClr val="E2E8F0"/>
                </a:solidFill>
                <a:latin typeface="Consolas"/>
                <a:ea typeface="Consolas"/>
                <a:cs typeface="Consolas"/>
              </a:rPr>
              <a:t> to, </a:t>
            </a:r>
            <a:r>
              <a:rPr lang="en-US" sz="825" b="0" dirty="0">
                <a:solidFill>
                  <a:srgbClr val="60A5FA"/>
                </a:solidFill>
                <a:latin typeface="Consolas"/>
                <a:ea typeface="Consolas"/>
                <a:cs typeface="Consolas"/>
              </a:rPr>
              <a:t>decimal</a:t>
            </a:r>
            <a:r>
              <a:rPr lang="en-US" sz="825" b="0" dirty="0">
                <a:solidFill>
                  <a:srgbClr val="E2E8F0"/>
                </a:solidFill>
                <a:latin typeface="Consolas"/>
                <a:ea typeface="Consolas"/>
                <a:cs typeface="Consolas"/>
              </a:rPr>
              <a:t> amount)                  </a:t>
            </a:r>
            <a:r>
              <a:rPr lang="en-US" sz="825" b="0" dirty="0">
                <a:solidFill>
                  <a:srgbClr val="6FAE7A"/>
                </a:solidFill>
                <a:latin typeface="Consolas"/>
                <a:ea typeface="Consolas"/>
                <a:cs typeface="Consolas"/>
              </a:rPr>
              <a:t>// returns void!</a:t>
            </a:r>
            <a:endParaRPr lang="en-US" sz="825" dirty="0"/>
          </a:p>
        </p:txBody>
      </p:sp>
      <p:sp>
        <p:nvSpPr>
          <p:cNvPr id="117" name="s117"/>
          <p:cNvSpPr/>
          <p:nvPr/>
        </p:nvSpPr>
        <p:spPr>
          <a:xfrm>
            <a:off x="4703674" y="3220974"/>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a:t>
            </a:r>
            <a:endParaRPr lang="en-US" sz="825" dirty="0"/>
          </a:p>
        </p:txBody>
      </p:sp>
      <p:sp>
        <p:nvSpPr>
          <p:cNvPr id="118" name="s118"/>
          <p:cNvSpPr/>
          <p:nvPr/>
        </p:nvSpPr>
        <p:spPr>
          <a:xfrm>
            <a:off x="4703674" y="3346704"/>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try</a:t>
            </a:r>
            <a:r>
              <a:rPr lang="en-US" sz="825" b="0" dirty="0">
                <a:solidFill>
                  <a:srgbClr val="E2E8F0"/>
                </a:solidFill>
                <a:latin typeface="Consolas"/>
                <a:ea typeface="Consolas"/>
                <a:cs typeface="Consolas"/>
              </a:rPr>
              <a:t>   { _email.</a:t>
            </a:r>
            <a:r>
              <a:rPr lang="en-US" sz="825" b="0" dirty="0">
                <a:solidFill>
                  <a:srgbClr val="7DD3FC"/>
                </a:solidFill>
                <a:latin typeface="Consolas"/>
                <a:ea typeface="Consolas"/>
                <a:cs typeface="Consolas"/>
              </a:rPr>
              <a:t>Send</a:t>
            </a:r>
            <a:r>
              <a:rPr lang="en-US" sz="825" b="0" dirty="0">
                <a:solidFill>
                  <a:srgbClr val="E2E8F0"/>
                </a:solidFill>
                <a:latin typeface="Consolas"/>
                <a:ea typeface="Consolas"/>
                <a:cs typeface="Consolas"/>
              </a:rPr>
              <a:t>(to, </a:t>
            </a:r>
            <a:r>
              <a:rPr lang="en-US" sz="825" b="0" dirty="0">
                <a:solidFill>
                  <a:srgbClr val="F0A98B"/>
                </a:solidFill>
                <a:latin typeface="Consolas"/>
                <a:ea typeface="Consolas"/>
                <a:cs typeface="Consolas"/>
              </a:rPr>
              <a:t>"Receipt"</a:t>
            </a:r>
            <a:r>
              <a:rPr lang="en-US" sz="825" b="0" dirty="0">
                <a:solidFill>
                  <a:srgbClr val="E2E8F0"/>
                </a:solidFill>
                <a:latin typeface="Consolas"/>
                <a:ea typeface="Consolas"/>
                <a:cs typeface="Consolas"/>
              </a:rPr>
              <a:t>, </a:t>
            </a:r>
            <a:r>
              <a:rPr lang="en-US" sz="825" b="0" dirty="0">
                <a:solidFill>
                  <a:srgbClr val="F0A98B"/>
                </a:solidFill>
                <a:latin typeface="Consolas"/>
                <a:ea typeface="Consolas"/>
                <a:cs typeface="Consolas"/>
              </a:rPr>
              <a:t>$"Paid {amount:0.00} EGP"</a:t>
            </a:r>
            <a:r>
              <a:rPr lang="en-US" sz="825" b="0" dirty="0">
                <a:solidFill>
                  <a:srgbClr val="E2E8F0"/>
                </a:solidFill>
                <a:latin typeface="Consolas"/>
                <a:ea typeface="Consolas"/>
                <a:cs typeface="Consolas"/>
              </a:rPr>
              <a:t>); }</a:t>
            </a:r>
            <a:endParaRPr lang="en-US" sz="825" dirty="0"/>
          </a:p>
        </p:txBody>
      </p:sp>
      <p:sp>
        <p:nvSpPr>
          <p:cNvPr id="119" name="s119"/>
          <p:cNvSpPr/>
          <p:nvPr/>
        </p:nvSpPr>
        <p:spPr>
          <a:xfrm>
            <a:off x="4703674" y="3472434"/>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catch</a:t>
            </a:r>
            <a:r>
              <a:rPr lang="en-US" sz="825" b="0" dirty="0">
                <a:solidFill>
                  <a:srgbClr val="E2E8F0"/>
                </a:solidFill>
                <a:latin typeface="Consolas"/>
                <a:ea typeface="Consolas"/>
                <a:cs typeface="Consolas"/>
              </a:rPr>
              <a:t> (</a:t>
            </a:r>
            <a:r>
              <a:rPr lang="en-US" sz="825" b="0" dirty="0">
                <a:solidFill>
                  <a:srgbClr val="7DD3FC"/>
                </a:solidFill>
                <a:latin typeface="Consolas"/>
                <a:ea typeface="Consolas"/>
                <a:cs typeface="Consolas"/>
              </a:rPr>
              <a:t>Exception</a:t>
            </a:r>
            <a:r>
              <a:rPr lang="en-US" sz="825" b="0" dirty="0">
                <a:solidFill>
                  <a:srgbClr val="E2E8F0"/>
                </a:solidFill>
                <a:latin typeface="Consolas"/>
                <a:ea typeface="Consolas"/>
                <a:cs typeface="Consolas"/>
              </a:rPr>
              <a:t> ex) { _logger.</a:t>
            </a:r>
            <a:r>
              <a:rPr lang="en-US" sz="825" b="0" dirty="0">
                <a:solidFill>
                  <a:srgbClr val="7DD3FC"/>
                </a:solidFill>
                <a:latin typeface="Consolas"/>
                <a:ea typeface="Consolas"/>
                <a:cs typeface="Consolas"/>
              </a:rPr>
              <a:t>Error</a:t>
            </a:r>
            <a:r>
              <a:rPr lang="en-US" sz="825" b="0" dirty="0">
                <a:solidFill>
                  <a:srgbClr val="E2E8F0"/>
                </a:solidFill>
                <a:latin typeface="Consolas"/>
                <a:ea typeface="Consolas"/>
                <a:cs typeface="Consolas"/>
              </a:rPr>
              <a:t>(</a:t>
            </a:r>
            <a:r>
              <a:rPr lang="en-US" sz="825" b="0" dirty="0">
                <a:solidFill>
                  <a:srgbClr val="F0A98B"/>
                </a:solidFill>
                <a:latin typeface="Consolas"/>
                <a:ea typeface="Consolas"/>
                <a:cs typeface="Consolas"/>
              </a:rPr>
              <a:t>$"Receipt to {to} failed"</a:t>
            </a:r>
            <a:r>
              <a:rPr lang="en-US" sz="825" b="0" dirty="0">
                <a:solidFill>
                  <a:srgbClr val="E2E8F0"/>
                </a:solidFill>
                <a:latin typeface="Consolas"/>
                <a:ea typeface="Consolas"/>
                <a:cs typeface="Consolas"/>
              </a:rPr>
              <a:t>, ex); }</a:t>
            </a:r>
            <a:endParaRPr lang="en-US" sz="825" dirty="0"/>
          </a:p>
        </p:txBody>
      </p:sp>
      <p:sp>
        <p:nvSpPr>
          <p:cNvPr id="120" name="s120"/>
          <p:cNvSpPr/>
          <p:nvPr/>
        </p:nvSpPr>
        <p:spPr>
          <a:xfrm>
            <a:off x="4703674" y="3598164"/>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a:t>
            </a:r>
            <a:endParaRPr lang="en-US" sz="825" dirty="0"/>
          </a:p>
        </p:txBody>
      </p:sp>
      <p:sp>
        <p:nvSpPr>
          <p:cNvPr id="121" name="s121"/>
          <p:cNvSpPr/>
          <p:nvPr/>
        </p:nvSpPr>
        <p:spPr>
          <a:xfrm>
            <a:off x="4703674" y="3723894"/>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a:t>
            </a:r>
            <a:endParaRPr lang="en-US" sz="825" dirty="0"/>
          </a:p>
        </p:txBody>
      </p:sp>
      <p:sp>
        <p:nvSpPr>
          <p:cNvPr id="122" name="s122"/>
          <p:cNvSpPr/>
          <p:nvPr/>
        </p:nvSpPr>
        <p:spPr>
          <a:xfrm>
            <a:off x="4703674" y="4105656"/>
            <a:ext cx="6927494" cy="1933956"/>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3" name="s123"/>
          <p:cNvSpPr/>
          <p:nvPr/>
        </p:nvSpPr>
        <p:spPr>
          <a:xfrm>
            <a:off x="4868266" y="4251960"/>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4" name="s124"/>
          <p:cNvSpPr/>
          <p:nvPr/>
        </p:nvSpPr>
        <p:spPr>
          <a:xfrm>
            <a:off x="5051146" y="4251960"/>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5" name="s125"/>
          <p:cNvSpPr/>
          <p:nvPr/>
        </p:nvSpPr>
        <p:spPr>
          <a:xfrm>
            <a:off x="5234026" y="4251960"/>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6" name="s126"/>
          <p:cNvSpPr/>
          <p:nvPr/>
        </p:nvSpPr>
        <p:spPr>
          <a:xfrm>
            <a:off x="5480914" y="4178808"/>
            <a:ext cx="281635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ReceiptServiceTests.cs  ·  the test</a:t>
            </a:r>
            <a:endParaRPr lang="en-US" sz="950" dirty="0"/>
          </a:p>
        </p:txBody>
      </p:sp>
      <p:cxnSp>
        <p:nvCxnSpPr>
          <p:cNvPr id="127" name="ln127"/>
          <p:cNvCxnSpPr/>
          <p:nvPr/>
        </p:nvCxnSpPr>
        <p:spPr>
          <a:xfrm>
            <a:off x="4703674" y="4517136"/>
            <a:ext cx="6927494" cy="0"/>
          </a:xfrm>
          <a:prstGeom prst="line">
            <a:avLst/>
          </a:prstGeom>
          <a:ln w="9525">
            <a:solidFill>
              <a:srgbClr val="1E3A5F"/>
            </a:solidFill>
          </a:ln>
        </p:spPr>
      </p:cxnSp>
      <p:sp>
        <p:nvSpPr>
          <p:cNvPr id="128" name="s128"/>
          <p:cNvSpPr/>
          <p:nvPr/>
        </p:nvSpPr>
        <p:spPr>
          <a:xfrm>
            <a:off x="4703674" y="4636008"/>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FBBF24"/>
                </a:solidFill>
                <a:latin typeface="Consolas"/>
                <a:ea typeface="Consolas"/>
                <a:cs typeface="Consolas"/>
              </a:rPr>
              <a:t>[Fact]</a:t>
            </a:r>
            <a:endParaRPr lang="en-US" sz="825" dirty="0"/>
          </a:p>
        </p:txBody>
      </p:sp>
      <p:sp>
        <p:nvSpPr>
          <p:cNvPr id="129" name="s129"/>
          <p:cNvSpPr/>
          <p:nvPr/>
        </p:nvSpPr>
        <p:spPr>
          <a:xfrm>
            <a:off x="4703674" y="4761738"/>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60A5FA"/>
                </a:solidFill>
                <a:latin typeface="Consolas"/>
                <a:ea typeface="Consolas"/>
                <a:cs typeface="Consolas"/>
              </a:rPr>
              <a:t>public</a:t>
            </a: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void</a:t>
            </a:r>
            <a:r>
              <a:rPr lang="en-US" sz="825" b="0" dirty="0">
                <a:solidFill>
                  <a:srgbClr val="E2E8F0"/>
                </a:solidFill>
                <a:latin typeface="Consolas"/>
                <a:ea typeface="Consolas"/>
                <a:cs typeface="Consolas"/>
              </a:rPr>
              <a:t> </a:t>
            </a:r>
            <a:r>
              <a:rPr lang="en-US" sz="825" b="0" dirty="0">
                <a:solidFill>
                  <a:srgbClr val="7DD3FC"/>
                </a:solidFill>
                <a:latin typeface="Consolas"/>
                <a:ea typeface="Consolas"/>
                <a:cs typeface="Consolas"/>
              </a:rPr>
              <a:t>SendReceipt_EmailsTheCustomer</a:t>
            </a:r>
            <a:r>
              <a:rPr lang="en-US" sz="825" b="0" dirty="0">
                <a:solidFill>
                  <a:srgbClr val="E2E8F0"/>
                </a:solidFill>
                <a:latin typeface="Consolas"/>
                <a:ea typeface="Consolas"/>
                <a:cs typeface="Consolas"/>
              </a:rPr>
              <a:t>()</a:t>
            </a:r>
            <a:endParaRPr lang="en-US" sz="825" dirty="0"/>
          </a:p>
        </p:txBody>
      </p:sp>
      <p:sp>
        <p:nvSpPr>
          <p:cNvPr id="130" name="s130"/>
          <p:cNvSpPr/>
          <p:nvPr/>
        </p:nvSpPr>
        <p:spPr>
          <a:xfrm>
            <a:off x="4703674" y="4887468"/>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a:t>
            </a:r>
            <a:endParaRPr lang="en-US" sz="825" dirty="0"/>
          </a:p>
        </p:txBody>
      </p:sp>
      <p:sp>
        <p:nvSpPr>
          <p:cNvPr id="131" name="s131"/>
          <p:cNvSpPr/>
          <p:nvPr/>
        </p:nvSpPr>
        <p:spPr>
          <a:xfrm>
            <a:off x="4703674" y="5013198"/>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var</a:t>
            </a:r>
            <a:r>
              <a:rPr lang="en-US" sz="825" b="0" dirty="0">
                <a:solidFill>
                  <a:srgbClr val="E2E8F0"/>
                </a:solidFill>
                <a:latin typeface="Consolas"/>
                <a:ea typeface="Consolas"/>
                <a:cs typeface="Consolas"/>
              </a:rPr>
              <a:t> email = </a:t>
            </a:r>
            <a:r>
              <a:rPr lang="en-US" sz="825" b="0" dirty="0">
                <a:solidFill>
                  <a:srgbClr val="7DD3FC"/>
                </a:solidFill>
                <a:latin typeface="Consolas"/>
                <a:ea typeface="Consolas"/>
                <a:cs typeface="Consolas"/>
              </a:rPr>
              <a:t>Substitute</a:t>
            </a:r>
            <a:r>
              <a:rPr lang="en-US" sz="825" b="0" dirty="0">
                <a:solidFill>
                  <a:srgbClr val="E2E8F0"/>
                </a:solidFill>
                <a:latin typeface="Consolas"/>
                <a:ea typeface="Consolas"/>
                <a:cs typeface="Consolas"/>
              </a:rPr>
              <a:t>.</a:t>
            </a:r>
            <a:r>
              <a:rPr lang="en-US" sz="825" b="0" dirty="0">
                <a:solidFill>
                  <a:srgbClr val="7DD3FC"/>
                </a:solidFill>
                <a:latin typeface="Consolas"/>
                <a:ea typeface="Consolas"/>
                <a:cs typeface="Consolas"/>
              </a:rPr>
              <a:t>For</a:t>
            </a:r>
            <a:r>
              <a:rPr lang="en-US" sz="825" b="0" dirty="0">
                <a:solidFill>
                  <a:srgbClr val="E2E8F0"/>
                </a:solidFill>
                <a:latin typeface="Consolas"/>
                <a:ea typeface="Consolas"/>
                <a:cs typeface="Consolas"/>
              </a:rPr>
              <a:t>&lt;</a:t>
            </a:r>
            <a:r>
              <a:rPr lang="en-US" sz="825" b="0" dirty="0">
                <a:solidFill>
                  <a:srgbClr val="7DD3FC"/>
                </a:solidFill>
                <a:latin typeface="Consolas"/>
                <a:ea typeface="Consolas"/>
                <a:cs typeface="Consolas"/>
              </a:rPr>
              <a:t>IEmailSender</a:t>
            </a:r>
            <a:r>
              <a:rPr lang="en-US" sz="825" b="0" dirty="0">
                <a:solidFill>
                  <a:srgbClr val="E2E8F0"/>
                </a:solidFill>
                <a:latin typeface="Consolas"/>
                <a:ea typeface="Consolas"/>
                <a:cs typeface="Consolas"/>
              </a:rPr>
              <a:t>&gt;();                         </a:t>
            </a:r>
            <a:r>
              <a:rPr lang="en-US" sz="825" b="0" dirty="0">
                <a:solidFill>
                  <a:srgbClr val="6FAE7A"/>
                </a:solidFill>
                <a:latin typeface="Consolas"/>
                <a:ea typeface="Consolas"/>
                <a:cs typeface="Consolas"/>
              </a:rPr>
              <a:t>// MOCK</a:t>
            </a:r>
            <a:endParaRPr lang="en-US" sz="825" dirty="0"/>
          </a:p>
        </p:txBody>
      </p:sp>
      <p:sp>
        <p:nvSpPr>
          <p:cNvPr id="132" name="s132"/>
          <p:cNvSpPr/>
          <p:nvPr/>
        </p:nvSpPr>
        <p:spPr>
          <a:xfrm>
            <a:off x="4703674" y="5138928"/>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var</a:t>
            </a:r>
            <a:r>
              <a:rPr lang="en-US" sz="825" b="0" dirty="0">
                <a:solidFill>
                  <a:srgbClr val="E2E8F0"/>
                </a:solidFill>
                <a:latin typeface="Consolas"/>
                <a:ea typeface="Consolas"/>
                <a:cs typeface="Consolas"/>
              </a:rPr>
              <a:t> logger = </a:t>
            </a:r>
            <a:r>
              <a:rPr lang="en-US" sz="825" b="0" dirty="0">
                <a:solidFill>
                  <a:srgbClr val="7DD3FC"/>
                </a:solidFill>
                <a:latin typeface="Consolas"/>
                <a:ea typeface="Consolas"/>
                <a:cs typeface="Consolas"/>
              </a:rPr>
              <a:t>Substitute</a:t>
            </a:r>
            <a:r>
              <a:rPr lang="en-US" sz="825" b="0" dirty="0">
                <a:solidFill>
                  <a:srgbClr val="E2E8F0"/>
                </a:solidFill>
                <a:latin typeface="Consolas"/>
                <a:ea typeface="Consolas"/>
                <a:cs typeface="Consolas"/>
              </a:rPr>
              <a:t>.</a:t>
            </a:r>
            <a:r>
              <a:rPr lang="en-US" sz="825" b="0" dirty="0">
                <a:solidFill>
                  <a:srgbClr val="7DD3FC"/>
                </a:solidFill>
                <a:latin typeface="Consolas"/>
                <a:ea typeface="Consolas"/>
                <a:cs typeface="Consolas"/>
              </a:rPr>
              <a:t>For</a:t>
            </a:r>
            <a:r>
              <a:rPr lang="en-US" sz="825" b="0" dirty="0">
                <a:solidFill>
                  <a:srgbClr val="E2E8F0"/>
                </a:solidFill>
                <a:latin typeface="Consolas"/>
                <a:ea typeface="Consolas"/>
                <a:cs typeface="Consolas"/>
              </a:rPr>
              <a:t>&lt;</a:t>
            </a:r>
            <a:r>
              <a:rPr lang="en-US" sz="825" b="0" dirty="0">
                <a:solidFill>
                  <a:srgbClr val="7DD3FC"/>
                </a:solidFill>
                <a:latin typeface="Consolas"/>
                <a:ea typeface="Consolas"/>
                <a:cs typeface="Consolas"/>
              </a:rPr>
              <a:t>ILogger</a:t>
            </a:r>
            <a:r>
              <a:rPr lang="en-US" sz="825" b="0" dirty="0">
                <a:solidFill>
                  <a:srgbClr val="E2E8F0"/>
                </a:solidFill>
                <a:latin typeface="Consolas"/>
                <a:ea typeface="Consolas"/>
                <a:cs typeface="Consolas"/>
              </a:rPr>
              <a:t>&gt;();</a:t>
            </a:r>
            <a:endParaRPr lang="en-US" sz="825" dirty="0"/>
          </a:p>
        </p:txBody>
      </p:sp>
      <p:sp>
        <p:nvSpPr>
          <p:cNvPr id="133" name="s133"/>
          <p:cNvSpPr/>
          <p:nvPr/>
        </p:nvSpPr>
        <p:spPr>
          <a:xfrm>
            <a:off x="4703674" y="5264658"/>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a:t>
            </a:r>
            <a:r>
              <a:rPr lang="en-US" sz="825" b="0" dirty="0">
                <a:solidFill>
                  <a:srgbClr val="60A5FA"/>
                </a:solidFill>
                <a:latin typeface="Consolas"/>
                <a:ea typeface="Consolas"/>
                <a:cs typeface="Consolas"/>
              </a:rPr>
              <a:t>var</a:t>
            </a:r>
            <a:r>
              <a:rPr lang="en-US" sz="825" b="0" dirty="0">
                <a:solidFill>
                  <a:srgbClr val="E2E8F0"/>
                </a:solidFill>
                <a:latin typeface="Consolas"/>
                <a:ea typeface="Consolas"/>
                <a:cs typeface="Consolas"/>
              </a:rPr>
              <a:t> receipts = </a:t>
            </a:r>
            <a:r>
              <a:rPr lang="en-US" sz="825" b="0" dirty="0">
                <a:solidFill>
                  <a:srgbClr val="60A5FA"/>
                </a:solidFill>
                <a:latin typeface="Consolas"/>
                <a:ea typeface="Consolas"/>
                <a:cs typeface="Consolas"/>
              </a:rPr>
              <a:t>new</a:t>
            </a:r>
            <a:r>
              <a:rPr lang="en-US" sz="825" b="0" dirty="0">
                <a:solidFill>
                  <a:srgbClr val="E2E8F0"/>
                </a:solidFill>
                <a:latin typeface="Consolas"/>
                <a:ea typeface="Consolas"/>
                <a:cs typeface="Consolas"/>
              </a:rPr>
              <a:t> </a:t>
            </a:r>
            <a:r>
              <a:rPr lang="en-US" sz="825" b="0" dirty="0">
                <a:solidFill>
                  <a:srgbClr val="7DD3FC"/>
                </a:solidFill>
                <a:latin typeface="Consolas"/>
                <a:ea typeface="Consolas"/>
                <a:cs typeface="Consolas"/>
              </a:rPr>
              <a:t>ReceiptService</a:t>
            </a:r>
            <a:r>
              <a:rPr lang="en-US" sz="825" b="0" dirty="0">
                <a:solidFill>
                  <a:srgbClr val="E2E8F0"/>
                </a:solidFill>
                <a:latin typeface="Consolas"/>
                <a:ea typeface="Consolas"/>
                <a:cs typeface="Consolas"/>
              </a:rPr>
              <a:t>(email, logger);</a:t>
            </a:r>
            <a:endParaRPr lang="en-US" sz="825" dirty="0"/>
          </a:p>
        </p:txBody>
      </p:sp>
      <p:sp>
        <p:nvSpPr>
          <p:cNvPr id="134" name="s134"/>
          <p:cNvSpPr/>
          <p:nvPr/>
        </p:nvSpPr>
        <p:spPr>
          <a:xfrm>
            <a:off x="4703674" y="5390388"/>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receipts.</a:t>
            </a:r>
            <a:r>
              <a:rPr lang="en-US" sz="825" b="0" dirty="0">
                <a:solidFill>
                  <a:srgbClr val="7DD3FC"/>
                </a:solidFill>
                <a:latin typeface="Consolas"/>
                <a:ea typeface="Consolas"/>
                <a:cs typeface="Consolas"/>
              </a:rPr>
              <a:t>SendReceipt</a:t>
            </a:r>
            <a:r>
              <a:rPr lang="en-US" sz="825" b="0" dirty="0">
                <a:solidFill>
                  <a:srgbClr val="E2E8F0"/>
                </a:solidFill>
                <a:latin typeface="Consolas"/>
                <a:ea typeface="Consolas"/>
                <a:cs typeface="Consolas"/>
              </a:rPr>
              <a:t>(</a:t>
            </a:r>
            <a:r>
              <a:rPr lang="en-US" sz="825" b="0" dirty="0">
                <a:solidFill>
                  <a:srgbClr val="F0A98B"/>
                </a:solidFill>
                <a:latin typeface="Consolas"/>
                <a:ea typeface="Consolas"/>
                <a:cs typeface="Consolas"/>
              </a:rPr>
              <a:t>"mona@bank.eg"</a:t>
            </a:r>
            <a:r>
              <a:rPr lang="en-US" sz="825" b="0" dirty="0">
                <a:solidFill>
                  <a:srgbClr val="E2E8F0"/>
                </a:solidFill>
                <a:latin typeface="Consolas"/>
                <a:ea typeface="Consolas"/>
                <a:cs typeface="Consolas"/>
              </a:rPr>
              <a:t>, </a:t>
            </a:r>
            <a:r>
              <a:rPr lang="en-US" sz="825" b="0" dirty="0">
                <a:solidFill>
                  <a:srgbClr val="C4B5FD"/>
                </a:solidFill>
                <a:latin typeface="Consolas"/>
                <a:ea typeface="Consolas"/>
                <a:cs typeface="Consolas"/>
              </a:rPr>
              <a:t>250m</a:t>
            </a:r>
            <a:r>
              <a:rPr lang="en-US" sz="825" b="0" dirty="0">
                <a:solidFill>
                  <a:srgbClr val="E2E8F0"/>
                </a:solidFill>
                <a:latin typeface="Consolas"/>
                <a:ea typeface="Consolas"/>
                <a:cs typeface="Consolas"/>
              </a:rPr>
              <a:t>);                         </a:t>
            </a:r>
            <a:r>
              <a:rPr lang="en-US" sz="825" b="0" dirty="0">
                <a:solidFill>
                  <a:srgbClr val="6FAE7A"/>
                </a:solidFill>
                <a:latin typeface="Consolas"/>
                <a:ea typeface="Consolas"/>
                <a:cs typeface="Consolas"/>
              </a:rPr>
              <a:t>// nothing returned</a:t>
            </a:r>
            <a:endParaRPr lang="en-US" sz="825" dirty="0"/>
          </a:p>
        </p:txBody>
      </p:sp>
      <p:sp>
        <p:nvSpPr>
          <p:cNvPr id="135" name="s135"/>
          <p:cNvSpPr/>
          <p:nvPr/>
        </p:nvSpPr>
        <p:spPr>
          <a:xfrm>
            <a:off x="4703674" y="5516118"/>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email.</a:t>
            </a:r>
            <a:r>
              <a:rPr lang="en-US" sz="825" b="0" dirty="0">
                <a:solidFill>
                  <a:srgbClr val="7DD3FC"/>
                </a:solidFill>
                <a:latin typeface="Consolas"/>
                <a:ea typeface="Consolas"/>
                <a:cs typeface="Consolas"/>
              </a:rPr>
              <a:t>Received</a:t>
            </a:r>
            <a:r>
              <a:rPr lang="en-US" sz="825" b="0" dirty="0">
                <a:solidFill>
                  <a:srgbClr val="E2E8F0"/>
                </a:solidFill>
                <a:latin typeface="Consolas"/>
                <a:ea typeface="Consolas"/>
                <a:cs typeface="Consolas"/>
              </a:rPr>
              <a:t>(</a:t>
            </a:r>
            <a:r>
              <a:rPr lang="en-US" sz="825" b="0" dirty="0">
                <a:solidFill>
                  <a:srgbClr val="C4B5FD"/>
                </a:solidFill>
                <a:latin typeface="Consolas"/>
                <a:ea typeface="Consolas"/>
                <a:cs typeface="Consolas"/>
              </a:rPr>
              <a:t>1</a:t>
            </a:r>
            <a:r>
              <a:rPr lang="en-US" sz="825" b="0" dirty="0">
                <a:solidFill>
                  <a:srgbClr val="E2E8F0"/>
                </a:solidFill>
                <a:latin typeface="Consolas"/>
                <a:ea typeface="Consolas"/>
                <a:cs typeface="Consolas"/>
              </a:rPr>
              <a:t>).</a:t>
            </a:r>
            <a:r>
              <a:rPr lang="en-US" sz="825" b="0" dirty="0">
                <a:solidFill>
                  <a:srgbClr val="7DD3FC"/>
                </a:solidFill>
                <a:latin typeface="Consolas"/>
                <a:ea typeface="Consolas"/>
                <a:cs typeface="Consolas"/>
              </a:rPr>
              <a:t>Send</a:t>
            </a:r>
            <a:r>
              <a:rPr lang="en-US" sz="825" b="0" dirty="0">
                <a:solidFill>
                  <a:srgbClr val="E2E8F0"/>
                </a:solidFill>
                <a:latin typeface="Consolas"/>
                <a:ea typeface="Consolas"/>
                <a:cs typeface="Consolas"/>
              </a:rPr>
              <a:t>(</a:t>
            </a:r>
            <a:r>
              <a:rPr lang="en-US" sz="825" b="0" dirty="0">
                <a:solidFill>
                  <a:srgbClr val="F0A98B"/>
                </a:solidFill>
                <a:latin typeface="Consolas"/>
                <a:ea typeface="Consolas"/>
                <a:cs typeface="Consolas"/>
              </a:rPr>
              <a:t>"mona@bank.eg"</a:t>
            </a:r>
            <a:r>
              <a:rPr lang="en-US" sz="825" b="0" dirty="0">
                <a:solidFill>
                  <a:srgbClr val="E2E8F0"/>
                </a:solidFill>
                <a:latin typeface="Consolas"/>
                <a:ea typeface="Consolas"/>
                <a:cs typeface="Consolas"/>
              </a:rPr>
              <a:t>, </a:t>
            </a:r>
            <a:r>
              <a:rPr lang="en-US" sz="825" b="0" dirty="0">
                <a:solidFill>
                  <a:srgbClr val="F0A98B"/>
                </a:solidFill>
                <a:latin typeface="Consolas"/>
                <a:ea typeface="Consolas"/>
                <a:cs typeface="Consolas"/>
              </a:rPr>
              <a:t>"Receipt"</a:t>
            </a:r>
            <a:r>
              <a:rPr lang="en-US" sz="825" b="0" dirty="0">
                <a:solidFill>
                  <a:srgbClr val="E2E8F0"/>
                </a:solidFill>
                <a:latin typeface="Consolas"/>
                <a:ea typeface="Consolas"/>
                <a:cs typeface="Consolas"/>
              </a:rPr>
              <a:t>, </a:t>
            </a:r>
            <a:r>
              <a:rPr lang="en-US" sz="825" b="0" dirty="0">
                <a:solidFill>
                  <a:srgbClr val="F0A98B"/>
                </a:solidFill>
                <a:latin typeface="Consolas"/>
                <a:ea typeface="Consolas"/>
                <a:cs typeface="Consolas"/>
              </a:rPr>
              <a:t>"Paid 250.00 EGP"</a:t>
            </a:r>
            <a:r>
              <a:rPr lang="en-US" sz="825" b="0" dirty="0">
                <a:solidFill>
                  <a:srgbClr val="E2E8F0"/>
                </a:solidFill>
                <a:latin typeface="Consolas"/>
                <a:ea typeface="Consolas"/>
                <a:cs typeface="Consolas"/>
              </a:rPr>
              <a:t>);</a:t>
            </a:r>
            <a:endParaRPr lang="en-US" sz="825" dirty="0"/>
          </a:p>
        </p:txBody>
      </p:sp>
      <p:sp>
        <p:nvSpPr>
          <p:cNvPr id="136" name="s136"/>
          <p:cNvSpPr/>
          <p:nvPr/>
        </p:nvSpPr>
        <p:spPr>
          <a:xfrm>
            <a:off x="4703674" y="5641848"/>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    logger.</a:t>
            </a:r>
            <a:r>
              <a:rPr lang="en-US" sz="825" b="0" dirty="0">
                <a:solidFill>
                  <a:srgbClr val="7DD3FC"/>
                </a:solidFill>
                <a:latin typeface="Consolas"/>
                <a:ea typeface="Consolas"/>
                <a:cs typeface="Consolas"/>
              </a:rPr>
              <a:t>DidNotReceive</a:t>
            </a:r>
            <a:r>
              <a:rPr lang="en-US" sz="825" b="0" dirty="0">
                <a:solidFill>
                  <a:srgbClr val="E2E8F0"/>
                </a:solidFill>
                <a:latin typeface="Consolas"/>
                <a:ea typeface="Consolas"/>
                <a:cs typeface="Consolas"/>
              </a:rPr>
              <a:t>().</a:t>
            </a:r>
            <a:r>
              <a:rPr lang="en-US" sz="825" b="0" dirty="0">
                <a:solidFill>
                  <a:srgbClr val="7DD3FC"/>
                </a:solidFill>
                <a:latin typeface="Consolas"/>
                <a:ea typeface="Consolas"/>
                <a:cs typeface="Consolas"/>
              </a:rPr>
              <a:t>Error</a:t>
            </a:r>
            <a:r>
              <a:rPr lang="en-US" sz="825" b="0" dirty="0">
                <a:solidFill>
                  <a:srgbClr val="E2E8F0"/>
                </a:solidFill>
                <a:latin typeface="Consolas"/>
                <a:ea typeface="Consolas"/>
                <a:cs typeface="Consolas"/>
              </a:rPr>
              <a:t>(</a:t>
            </a:r>
            <a:r>
              <a:rPr lang="en-US" sz="825" b="0" dirty="0">
                <a:solidFill>
                  <a:srgbClr val="7DD3FC"/>
                </a:solidFill>
                <a:latin typeface="Consolas"/>
                <a:ea typeface="Consolas"/>
                <a:cs typeface="Consolas"/>
              </a:rPr>
              <a:t>Arg</a:t>
            </a:r>
            <a:r>
              <a:rPr lang="en-US" sz="825" b="0" dirty="0">
                <a:solidFill>
                  <a:srgbClr val="E2E8F0"/>
                </a:solidFill>
                <a:latin typeface="Consolas"/>
                <a:ea typeface="Consolas"/>
                <a:cs typeface="Consolas"/>
              </a:rPr>
              <a:t>.</a:t>
            </a:r>
            <a:r>
              <a:rPr lang="en-US" sz="825" b="0" dirty="0">
                <a:solidFill>
                  <a:srgbClr val="7DD3FC"/>
                </a:solidFill>
                <a:latin typeface="Consolas"/>
                <a:ea typeface="Consolas"/>
                <a:cs typeface="Consolas"/>
              </a:rPr>
              <a:t>Any</a:t>
            </a:r>
            <a:r>
              <a:rPr lang="en-US" sz="825" b="0" dirty="0">
                <a:solidFill>
                  <a:srgbClr val="E2E8F0"/>
                </a:solidFill>
                <a:latin typeface="Consolas"/>
                <a:ea typeface="Consolas"/>
                <a:cs typeface="Consolas"/>
              </a:rPr>
              <a:t>&lt;</a:t>
            </a:r>
            <a:r>
              <a:rPr lang="en-US" sz="825" b="0" dirty="0">
                <a:solidFill>
                  <a:srgbClr val="60A5FA"/>
                </a:solidFill>
                <a:latin typeface="Consolas"/>
                <a:ea typeface="Consolas"/>
                <a:cs typeface="Consolas"/>
              </a:rPr>
              <a:t>string</a:t>
            </a:r>
            <a:r>
              <a:rPr lang="en-US" sz="825" b="0" dirty="0">
                <a:solidFill>
                  <a:srgbClr val="E2E8F0"/>
                </a:solidFill>
                <a:latin typeface="Consolas"/>
                <a:ea typeface="Consolas"/>
                <a:cs typeface="Consolas"/>
              </a:rPr>
              <a:t>&gt;(), </a:t>
            </a:r>
            <a:r>
              <a:rPr lang="en-US" sz="825" b="0" dirty="0">
                <a:solidFill>
                  <a:srgbClr val="7DD3FC"/>
                </a:solidFill>
                <a:latin typeface="Consolas"/>
                <a:ea typeface="Consolas"/>
                <a:cs typeface="Consolas"/>
              </a:rPr>
              <a:t>Arg</a:t>
            </a:r>
            <a:r>
              <a:rPr lang="en-US" sz="825" b="0" dirty="0">
                <a:solidFill>
                  <a:srgbClr val="E2E8F0"/>
                </a:solidFill>
                <a:latin typeface="Consolas"/>
                <a:ea typeface="Consolas"/>
                <a:cs typeface="Consolas"/>
              </a:rPr>
              <a:t>.</a:t>
            </a:r>
            <a:r>
              <a:rPr lang="en-US" sz="825" b="0" dirty="0">
                <a:solidFill>
                  <a:srgbClr val="7DD3FC"/>
                </a:solidFill>
                <a:latin typeface="Consolas"/>
                <a:ea typeface="Consolas"/>
                <a:cs typeface="Consolas"/>
              </a:rPr>
              <a:t>Any</a:t>
            </a:r>
            <a:r>
              <a:rPr lang="en-US" sz="825" b="0" dirty="0">
                <a:solidFill>
                  <a:srgbClr val="E2E8F0"/>
                </a:solidFill>
                <a:latin typeface="Consolas"/>
                <a:ea typeface="Consolas"/>
                <a:cs typeface="Consolas"/>
              </a:rPr>
              <a:t>&lt;</a:t>
            </a:r>
            <a:r>
              <a:rPr lang="en-US" sz="825" b="0" dirty="0">
                <a:solidFill>
                  <a:srgbClr val="7DD3FC"/>
                </a:solidFill>
                <a:latin typeface="Consolas"/>
                <a:ea typeface="Consolas"/>
                <a:cs typeface="Consolas"/>
              </a:rPr>
              <a:t>Exception</a:t>
            </a:r>
            <a:r>
              <a:rPr lang="en-US" sz="825" b="0" dirty="0">
                <a:solidFill>
                  <a:srgbClr val="E2E8F0"/>
                </a:solidFill>
                <a:latin typeface="Consolas"/>
                <a:ea typeface="Consolas"/>
                <a:cs typeface="Consolas"/>
              </a:rPr>
              <a:t>&gt;());</a:t>
            </a:r>
            <a:endParaRPr lang="en-US" sz="825" dirty="0"/>
          </a:p>
        </p:txBody>
      </p:sp>
      <p:sp>
        <p:nvSpPr>
          <p:cNvPr id="137" name="s137"/>
          <p:cNvSpPr/>
          <p:nvPr/>
        </p:nvSpPr>
        <p:spPr>
          <a:xfrm>
            <a:off x="4703674" y="5767578"/>
            <a:ext cx="6927494" cy="1257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25" b="0" dirty="0">
                <a:solidFill>
                  <a:srgbClr val="E2E8F0"/>
                </a:solidFill>
                <a:latin typeface="Consolas"/>
                <a:ea typeface="Consolas"/>
                <a:cs typeface="Consolas"/>
              </a:rPr>
              <a:t>}</a:t>
            </a:r>
            <a:endParaRPr lang="en-US" sz="825" dirty="0"/>
          </a:p>
        </p:txBody>
      </p:sp>
      <p:sp>
        <p:nvSpPr>
          <p:cNvPr id="138" name="s138"/>
          <p:cNvSpPr/>
          <p:nvPr/>
        </p:nvSpPr>
        <p:spPr>
          <a:xfrm>
            <a:off x="4813402" y="5488686"/>
            <a:ext cx="6708038" cy="18059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39" name="s139"/>
          <p:cNvSpPr/>
          <p:nvPr/>
        </p:nvSpPr>
        <p:spPr>
          <a:xfrm>
            <a:off x="4813402" y="5614416"/>
            <a:ext cx="6708038" cy="18059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anim calcmode="lin" valueType="num">
                                      <p:cBhvr additive="base">
                                        <p:cTn id="14" dur="500" decel="100000" fill="hold"/>
                                        <p:tgtEl>
                                          <p:spTgt spid="103"/>
                                        </p:tgtEl>
                                        <p:attrNameLst>
                                          <p:attrName>ppt_x</p:attrName>
                                        </p:attrNameLst>
                                      </p:cBhvr>
                                      <p:tavLst>
                                        <p:tav tm="0">
                                          <p:val>
                                            <p:strVal val="#ppt_x-0.05"/>
                                          </p:val>
                                        </p:tav>
                                        <p:tav tm="100000">
                                          <p:val>
                                            <p:strVal val="#ppt_x"/>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7"/>
                                        </p:tgtEl>
                                        <p:attrNameLst>
                                          <p:attrName>style.visibility</p:attrName>
                                        </p:attrNameLst>
                                      </p:cBhvr>
                                      <p:to>
                                        <p:strVal val="visible"/>
                                      </p:to>
                                    </p:set>
                                    <p:animEffect transition="in" filter="fade">
                                      <p:cBhvr>
                                        <p:cTn id="67" dur="500"/>
                                        <p:tgtEl>
                                          <p:spTgt spid="117"/>
                                        </p:tgtEl>
                                      </p:cBhvr>
                                    </p:animEffect>
                                    <p:anim calcmode="lin" valueType="num">
                                      <p:cBhvr additive="base">
                                        <p:cTn id="68" dur="500" decel="100000" fill="hold"/>
                                        <p:tgtEl>
                                          <p:spTgt spid="117"/>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8"/>
                                        </p:tgtEl>
                                        <p:attrNameLst>
                                          <p:attrName>style.visibility</p:attrName>
                                        </p:attrNameLst>
                                      </p:cBhvr>
                                      <p:to>
                                        <p:strVal val="visible"/>
                                      </p:to>
                                    </p:set>
                                    <p:animEffect transition="in" filter="fade">
                                      <p:cBhvr>
                                        <p:cTn id="71" dur="500"/>
                                        <p:tgtEl>
                                          <p:spTgt spid="118"/>
                                        </p:tgtEl>
                                      </p:cBhvr>
                                    </p:animEffect>
                                    <p:anim calcmode="lin" valueType="num">
                                      <p:cBhvr additive="base">
                                        <p:cTn id="72" dur="500" decel="100000" fill="hold"/>
                                        <p:tgtEl>
                                          <p:spTgt spid="118"/>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9"/>
                                        </p:tgtEl>
                                        <p:attrNameLst>
                                          <p:attrName>style.visibility</p:attrName>
                                        </p:attrNameLst>
                                      </p:cBhvr>
                                      <p:to>
                                        <p:strVal val="visible"/>
                                      </p:to>
                                    </p:set>
                                    <p:animEffect transition="in" filter="fade">
                                      <p:cBhvr>
                                        <p:cTn id="75" dur="500"/>
                                        <p:tgtEl>
                                          <p:spTgt spid="119"/>
                                        </p:tgtEl>
                                      </p:cBhvr>
                                    </p:animEffect>
                                    <p:anim calcmode="lin" valueType="num">
                                      <p:cBhvr additive="base">
                                        <p:cTn id="76" dur="500" decel="100000" fill="hold"/>
                                        <p:tgtEl>
                                          <p:spTgt spid="119"/>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20"/>
                                        </p:tgtEl>
                                        <p:attrNameLst>
                                          <p:attrName>style.visibility</p:attrName>
                                        </p:attrNameLst>
                                      </p:cBhvr>
                                      <p:to>
                                        <p:strVal val="visible"/>
                                      </p:to>
                                    </p:set>
                                    <p:animEffect transition="in" filter="fade">
                                      <p:cBhvr>
                                        <p:cTn id="79" dur="500"/>
                                        <p:tgtEl>
                                          <p:spTgt spid="120"/>
                                        </p:tgtEl>
                                      </p:cBhvr>
                                    </p:animEffect>
                                    <p:anim calcmode="lin" valueType="num">
                                      <p:cBhvr additive="base">
                                        <p:cTn id="80" dur="500" decel="100000" fill="hold"/>
                                        <p:tgtEl>
                                          <p:spTgt spid="120"/>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1"/>
                                        </p:tgtEl>
                                        <p:attrNameLst>
                                          <p:attrName>style.visibility</p:attrName>
                                        </p:attrNameLst>
                                      </p:cBhvr>
                                      <p:to>
                                        <p:strVal val="visible"/>
                                      </p:to>
                                    </p:set>
                                    <p:animEffect transition="in" filter="fade">
                                      <p:cBhvr>
                                        <p:cTn id="83" dur="500"/>
                                        <p:tgtEl>
                                          <p:spTgt spid="121"/>
                                        </p:tgtEl>
                                      </p:cBhvr>
                                    </p:animEffect>
                                    <p:anim calcmode="lin" valueType="num">
                                      <p:cBhvr additive="base">
                                        <p:cTn id="84" dur="500" decel="100000" fill="hold"/>
                                        <p:tgtEl>
                                          <p:spTgt spid="121"/>
                                        </p:tgtEl>
                                        <p:attrNameLst>
                                          <p:attrName>ppt_y</p:attrName>
                                        </p:attrNameLst>
                                      </p:cBhvr>
                                      <p:tavLst>
                                        <p:tav tm="0">
                                          <p:val>
                                            <p:strVal val="#ppt_y+0.06"/>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42" presetClass="entr" presetSubtype="0" fill="hold" grpId="0" nodeType="clickEffect">
                                  <p:stCondLst>
                                    <p:cond delay="0"/>
                                  </p:stCondLst>
                                  <p:childTnLst>
                                    <p:set>
                                      <p:cBhvr>
                                        <p:cTn id="88" dur="1" fill="hold">
                                          <p:stCondLst>
                                            <p:cond delay="0"/>
                                          </p:stCondLst>
                                        </p:cTn>
                                        <p:tgtEl>
                                          <p:spTgt spid="122"/>
                                        </p:tgtEl>
                                        <p:attrNameLst>
                                          <p:attrName>style.visibility</p:attrName>
                                        </p:attrNameLst>
                                      </p:cBhvr>
                                      <p:to>
                                        <p:strVal val="visible"/>
                                      </p:to>
                                    </p:set>
                                    <p:animEffect transition="in" filter="fade">
                                      <p:cBhvr>
                                        <p:cTn id="89" dur="500"/>
                                        <p:tgtEl>
                                          <p:spTgt spid="122"/>
                                        </p:tgtEl>
                                      </p:cBhvr>
                                    </p:animEffect>
                                    <p:anim calcmode="lin" valueType="num">
                                      <p:cBhvr additive="base">
                                        <p:cTn id="90" dur="500" decel="100000" fill="hold"/>
                                        <p:tgtEl>
                                          <p:spTgt spid="122"/>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3"/>
                                        </p:tgtEl>
                                        <p:attrNameLst>
                                          <p:attrName>style.visibility</p:attrName>
                                        </p:attrNameLst>
                                      </p:cBhvr>
                                      <p:to>
                                        <p:strVal val="visible"/>
                                      </p:to>
                                    </p:set>
                                    <p:animEffect transition="in" filter="fade">
                                      <p:cBhvr>
                                        <p:cTn id="93" dur="500"/>
                                        <p:tgtEl>
                                          <p:spTgt spid="123"/>
                                        </p:tgtEl>
                                      </p:cBhvr>
                                    </p:animEffect>
                                    <p:anim calcmode="lin" valueType="num">
                                      <p:cBhvr additive="base">
                                        <p:cTn id="94" dur="500" decel="100000" fill="hold"/>
                                        <p:tgtEl>
                                          <p:spTgt spid="123"/>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4"/>
                                        </p:tgtEl>
                                        <p:attrNameLst>
                                          <p:attrName>style.visibility</p:attrName>
                                        </p:attrNameLst>
                                      </p:cBhvr>
                                      <p:to>
                                        <p:strVal val="visible"/>
                                      </p:to>
                                    </p:set>
                                    <p:animEffect transition="in" filter="fade">
                                      <p:cBhvr>
                                        <p:cTn id="97" dur="500"/>
                                        <p:tgtEl>
                                          <p:spTgt spid="124"/>
                                        </p:tgtEl>
                                      </p:cBhvr>
                                    </p:animEffect>
                                    <p:anim calcmode="lin" valueType="num">
                                      <p:cBhvr additive="base">
                                        <p:cTn id="98" dur="500" decel="100000" fill="hold"/>
                                        <p:tgtEl>
                                          <p:spTgt spid="124"/>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5"/>
                                        </p:tgtEl>
                                        <p:attrNameLst>
                                          <p:attrName>style.visibility</p:attrName>
                                        </p:attrNameLst>
                                      </p:cBhvr>
                                      <p:to>
                                        <p:strVal val="visible"/>
                                      </p:to>
                                    </p:set>
                                    <p:animEffect transition="in" filter="fade">
                                      <p:cBhvr>
                                        <p:cTn id="101" dur="500"/>
                                        <p:tgtEl>
                                          <p:spTgt spid="125"/>
                                        </p:tgtEl>
                                      </p:cBhvr>
                                    </p:animEffect>
                                    <p:anim calcmode="lin" valueType="num">
                                      <p:cBhvr additive="base">
                                        <p:cTn id="102" dur="500" decel="100000" fill="hold"/>
                                        <p:tgtEl>
                                          <p:spTgt spid="125"/>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6"/>
                                        </p:tgtEl>
                                        <p:attrNameLst>
                                          <p:attrName>style.visibility</p:attrName>
                                        </p:attrNameLst>
                                      </p:cBhvr>
                                      <p:to>
                                        <p:strVal val="visible"/>
                                      </p:to>
                                    </p:set>
                                    <p:animEffect transition="in" filter="fade">
                                      <p:cBhvr>
                                        <p:cTn id="105" dur="500"/>
                                        <p:tgtEl>
                                          <p:spTgt spid="126"/>
                                        </p:tgtEl>
                                      </p:cBhvr>
                                    </p:animEffect>
                                    <p:anim calcmode="lin" valueType="num">
                                      <p:cBhvr additive="base">
                                        <p:cTn id="106" dur="500" decel="100000" fill="hold"/>
                                        <p:tgtEl>
                                          <p:spTgt spid="126"/>
                                        </p:tgtEl>
                                        <p:attrNameLst>
                                          <p:attrName>ppt_y</p:attrName>
                                        </p:attrNameLst>
                                      </p:cBhvr>
                                      <p:tavLst>
                                        <p:tav tm="0">
                                          <p:val>
                                            <p:strVal val="#ppt_y+0.06"/>
                                          </p:val>
                                        </p:tav>
                                        <p:tav tm="100000">
                                          <p:val>
                                            <p:strVal val="#ppt_y"/>
                                          </p:val>
                                        </p:tav>
                                      </p:tavLst>
                                    </p:anim>
                                  </p:childTnLst>
                                </p:cTn>
                              </p:par>
                              <p:par>
                                <p:cTn id="107" presetID="42" presetClass="entr" presetSubtype="0" fill="hold" nodeType="withEffect">
                                  <p:stCondLst>
                                    <p:cond delay="0"/>
                                  </p:stCondLst>
                                  <p:childTnLst>
                                    <p:set>
                                      <p:cBhvr>
                                        <p:cTn id="108" dur="1" fill="hold">
                                          <p:stCondLst>
                                            <p:cond delay="0"/>
                                          </p:stCondLst>
                                        </p:cTn>
                                        <p:tgtEl>
                                          <p:spTgt spid="127"/>
                                        </p:tgtEl>
                                        <p:attrNameLst>
                                          <p:attrName>style.visibility</p:attrName>
                                        </p:attrNameLst>
                                      </p:cBhvr>
                                      <p:to>
                                        <p:strVal val="visible"/>
                                      </p:to>
                                    </p:set>
                                    <p:animEffect transition="in" filter="fade">
                                      <p:cBhvr>
                                        <p:cTn id="109" dur="500"/>
                                        <p:tgtEl>
                                          <p:spTgt spid="127"/>
                                        </p:tgtEl>
                                      </p:cBhvr>
                                    </p:animEffect>
                                    <p:anim calcmode="lin" valueType="num">
                                      <p:cBhvr additive="base">
                                        <p:cTn id="110" dur="500" decel="100000" fill="hold"/>
                                        <p:tgtEl>
                                          <p:spTgt spid="127"/>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8"/>
                                        </p:tgtEl>
                                        <p:attrNameLst>
                                          <p:attrName>style.visibility</p:attrName>
                                        </p:attrNameLst>
                                      </p:cBhvr>
                                      <p:to>
                                        <p:strVal val="visible"/>
                                      </p:to>
                                    </p:set>
                                    <p:animEffect transition="in" filter="fade">
                                      <p:cBhvr>
                                        <p:cTn id="113" dur="500"/>
                                        <p:tgtEl>
                                          <p:spTgt spid="128"/>
                                        </p:tgtEl>
                                      </p:cBhvr>
                                    </p:animEffect>
                                    <p:anim calcmode="lin" valueType="num">
                                      <p:cBhvr additive="base">
                                        <p:cTn id="114" dur="500" decel="100000" fill="hold"/>
                                        <p:tgtEl>
                                          <p:spTgt spid="128"/>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9"/>
                                        </p:tgtEl>
                                        <p:attrNameLst>
                                          <p:attrName>style.visibility</p:attrName>
                                        </p:attrNameLst>
                                      </p:cBhvr>
                                      <p:to>
                                        <p:strVal val="visible"/>
                                      </p:to>
                                    </p:set>
                                    <p:animEffect transition="in" filter="fade">
                                      <p:cBhvr>
                                        <p:cTn id="117" dur="500"/>
                                        <p:tgtEl>
                                          <p:spTgt spid="129"/>
                                        </p:tgtEl>
                                      </p:cBhvr>
                                    </p:animEffect>
                                    <p:anim calcmode="lin" valueType="num">
                                      <p:cBhvr additive="base">
                                        <p:cTn id="118" dur="500" decel="100000" fill="hold"/>
                                        <p:tgtEl>
                                          <p:spTgt spid="129"/>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30"/>
                                        </p:tgtEl>
                                        <p:attrNameLst>
                                          <p:attrName>style.visibility</p:attrName>
                                        </p:attrNameLst>
                                      </p:cBhvr>
                                      <p:to>
                                        <p:strVal val="visible"/>
                                      </p:to>
                                    </p:set>
                                    <p:animEffect transition="in" filter="fade">
                                      <p:cBhvr>
                                        <p:cTn id="121" dur="500"/>
                                        <p:tgtEl>
                                          <p:spTgt spid="130"/>
                                        </p:tgtEl>
                                      </p:cBhvr>
                                    </p:animEffect>
                                    <p:anim calcmode="lin" valueType="num">
                                      <p:cBhvr additive="base">
                                        <p:cTn id="122" dur="500" decel="100000" fill="hold"/>
                                        <p:tgtEl>
                                          <p:spTgt spid="130"/>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31"/>
                                        </p:tgtEl>
                                        <p:attrNameLst>
                                          <p:attrName>style.visibility</p:attrName>
                                        </p:attrNameLst>
                                      </p:cBhvr>
                                      <p:to>
                                        <p:strVal val="visible"/>
                                      </p:to>
                                    </p:set>
                                    <p:animEffect transition="in" filter="fade">
                                      <p:cBhvr>
                                        <p:cTn id="125" dur="500"/>
                                        <p:tgtEl>
                                          <p:spTgt spid="131"/>
                                        </p:tgtEl>
                                      </p:cBhvr>
                                    </p:animEffect>
                                    <p:anim calcmode="lin" valueType="num">
                                      <p:cBhvr additive="base">
                                        <p:cTn id="126" dur="500" decel="100000" fill="hold"/>
                                        <p:tgtEl>
                                          <p:spTgt spid="131"/>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32"/>
                                        </p:tgtEl>
                                        <p:attrNameLst>
                                          <p:attrName>style.visibility</p:attrName>
                                        </p:attrNameLst>
                                      </p:cBhvr>
                                      <p:to>
                                        <p:strVal val="visible"/>
                                      </p:to>
                                    </p:set>
                                    <p:animEffect transition="in" filter="fade">
                                      <p:cBhvr>
                                        <p:cTn id="129" dur="500"/>
                                        <p:tgtEl>
                                          <p:spTgt spid="132"/>
                                        </p:tgtEl>
                                      </p:cBhvr>
                                    </p:animEffect>
                                    <p:anim calcmode="lin" valueType="num">
                                      <p:cBhvr additive="base">
                                        <p:cTn id="130" dur="500" decel="100000" fill="hold"/>
                                        <p:tgtEl>
                                          <p:spTgt spid="132"/>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33"/>
                                        </p:tgtEl>
                                        <p:attrNameLst>
                                          <p:attrName>style.visibility</p:attrName>
                                        </p:attrNameLst>
                                      </p:cBhvr>
                                      <p:to>
                                        <p:strVal val="visible"/>
                                      </p:to>
                                    </p:set>
                                    <p:animEffect transition="in" filter="fade">
                                      <p:cBhvr>
                                        <p:cTn id="133" dur="500"/>
                                        <p:tgtEl>
                                          <p:spTgt spid="133"/>
                                        </p:tgtEl>
                                      </p:cBhvr>
                                    </p:animEffect>
                                    <p:anim calcmode="lin" valueType="num">
                                      <p:cBhvr additive="base">
                                        <p:cTn id="134" dur="500" decel="100000" fill="hold"/>
                                        <p:tgtEl>
                                          <p:spTgt spid="133"/>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134"/>
                                        </p:tgtEl>
                                        <p:attrNameLst>
                                          <p:attrName>style.visibility</p:attrName>
                                        </p:attrNameLst>
                                      </p:cBhvr>
                                      <p:to>
                                        <p:strVal val="visible"/>
                                      </p:to>
                                    </p:set>
                                    <p:animEffect transition="in" filter="fade">
                                      <p:cBhvr>
                                        <p:cTn id="137" dur="500"/>
                                        <p:tgtEl>
                                          <p:spTgt spid="134"/>
                                        </p:tgtEl>
                                      </p:cBhvr>
                                    </p:animEffect>
                                    <p:anim calcmode="lin" valueType="num">
                                      <p:cBhvr additive="base">
                                        <p:cTn id="138" dur="500" decel="100000" fill="hold"/>
                                        <p:tgtEl>
                                          <p:spTgt spid="134"/>
                                        </p:tgtEl>
                                        <p:attrNameLst>
                                          <p:attrName>ppt_y</p:attrName>
                                        </p:attrNameLst>
                                      </p:cBhvr>
                                      <p:tavLst>
                                        <p:tav tm="0">
                                          <p:val>
                                            <p:strVal val="#ppt_y+0.06"/>
                                          </p:val>
                                        </p:tav>
                                        <p:tav tm="100000">
                                          <p:val>
                                            <p:strVal val="#ppt_y"/>
                                          </p:val>
                                        </p:tav>
                                      </p:tavLst>
                                    </p:anim>
                                  </p:childTnLst>
                                </p:cTn>
                              </p:par>
                              <p:par>
                                <p:cTn id="139" presetID="42" presetClass="entr" presetSubtype="0" fill="hold" grpId="0" nodeType="withEffect">
                                  <p:stCondLst>
                                    <p:cond delay="0"/>
                                  </p:stCondLst>
                                  <p:childTnLst>
                                    <p:set>
                                      <p:cBhvr>
                                        <p:cTn id="140" dur="1" fill="hold">
                                          <p:stCondLst>
                                            <p:cond delay="0"/>
                                          </p:stCondLst>
                                        </p:cTn>
                                        <p:tgtEl>
                                          <p:spTgt spid="135"/>
                                        </p:tgtEl>
                                        <p:attrNameLst>
                                          <p:attrName>style.visibility</p:attrName>
                                        </p:attrNameLst>
                                      </p:cBhvr>
                                      <p:to>
                                        <p:strVal val="visible"/>
                                      </p:to>
                                    </p:set>
                                    <p:animEffect transition="in" filter="fade">
                                      <p:cBhvr>
                                        <p:cTn id="141" dur="500"/>
                                        <p:tgtEl>
                                          <p:spTgt spid="135"/>
                                        </p:tgtEl>
                                      </p:cBhvr>
                                    </p:animEffect>
                                    <p:anim calcmode="lin" valueType="num">
                                      <p:cBhvr additive="base">
                                        <p:cTn id="142" dur="500" decel="100000" fill="hold"/>
                                        <p:tgtEl>
                                          <p:spTgt spid="135"/>
                                        </p:tgtEl>
                                        <p:attrNameLst>
                                          <p:attrName>ppt_y</p:attrName>
                                        </p:attrNameLst>
                                      </p:cBhvr>
                                      <p:tavLst>
                                        <p:tav tm="0">
                                          <p:val>
                                            <p:strVal val="#ppt_y+0.06"/>
                                          </p:val>
                                        </p:tav>
                                        <p:tav tm="100000">
                                          <p:val>
                                            <p:strVal val="#ppt_y"/>
                                          </p:val>
                                        </p:tav>
                                      </p:tavLst>
                                    </p:anim>
                                  </p:childTnLst>
                                </p:cTn>
                              </p:par>
                              <p:par>
                                <p:cTn id="143" presetID="42" presetClass="entr" presetSubtype="0" fill="hold" grpId="0" nodeType="withEffect">
                                  <p:stCondLst>
                                    <p:cond delay="0"/>
                                  </p:stCondLst>
                                  <p:childTnLst>
                                    <p:set>
                                      <p:cBhvr>
                                        <p:cTn id="144" dur="1" fill="hold">
                                          <p:stCondLst>
                                            <p:cond delay="0"/>
                                          </p:stCondLst>
                                        </p:cTn>
                                        <p:tgtEl>
                                          <p:spTgt spid="136"/>
                                        </p:tgtEl>
                                        <p:attrNameLst>
                                          <p:attrName>style.visibility</p:attrName>
                                        </p:attrNameLst>
                                      </p:cBhvr>
                                      <p:to>
                                        <p:strVal val="visible"/>
                                      </p:to>
                                    </p:set>
                                    <p:animEffect transition="in" filter="fade">
                                      <p:cBhvr>
                                        <p:cTn id="145" dur="500"/>
                                        <p:tgtEl>
                                          <p:spTgt spid="136"/>
                                        </p:tgtEl>
                                      </p:cBhvr>
                                    </p:animEffect>
                                    <p:anim calcmode="lin" valueType="num">
                                      <p:cBhvr additive="base">
                                        <p:cTn id="146" dur="500" decel="100000" fill="hold"/>
                                        <p:tgtEl>
                                          <p:spTgt spid="136"/>
                                        </p:tgtEl>
                                        <p:attrNameLst>
                                          <p:attrName>ppt_y</p:attrName>
                                        </p:attrNameLst>
                                      </p:cBhvr>
                                      <p:tavLst>
                                        <p:tav tm="0">
                                          <p:val>
                                            <p:strVal val="#ppt_y+0.06"/>
                                          </p:val>
                                        </p:tav>
                                        <p:tav tm="100000">
                                          <p:val>
                                            <p:strVal val="#ppt_y"/>
                                          </p:val>
                                        </p:tav>
                                      </p:tavLst>
                                    </p:anim>
                                  </p:childTnLst>
                                </p:cTn>
                              </p:par>
                              <p:par>
                                <p:cTn id="147" presetID="42" presetClass="entr" presetSubtype="0" fill="hold" grpId="0" nodeType="withEffect">
                                  <p:stCondLst>
                                    <p:cond delay="0"/>
                                  </p:stCondLst>
                                  <p:childTnLst>
                                    <p:set>
                                      <p:cBhvr>
                                        <p:cTn id="148" dur="1" fill="hold">
                                          <p:stCondLst>
                                            <p:cond delay="0"/>
                                          </p:stCondLst>
                                        </p:cTn>
                                        <p:tgtEl>
                                          <p:spTgt spid="137"/>
                                        </p:tgtEl>
                                        <p:attrNameLst>
                                          <p:attrName>style.visibility</p:attrName>
                                        </p:attrNameLst>
                                      </p:cBhvr>
                                      <p:to>
                                        <p:strVal val="visible"/>
                                      </p:to>
                                    </p:set>
                                    <p:animEffect transition="in" filter="fade">
                                      <p:cBhvr>
                                        <p:cTn id="149" dur="500"/>
                                        <p:tgtEl>
                                          <p:spTgt spid="137"/>
                                        </p:tgtEl>
                                      </p:cBhvr>
                                    </p:animEffect>
                                    <p:anim calcmode="lin" valueType="num">
                                      <p:cBhvr additive="base">
                                        <p:cTn id="150" dur="500" decel="100000" fill="hold"/>
                                        <p:tgtEl>
                                          <p:spTgt spid="137"/>
                                        </p:tgtEl>
                                        <p:attrNameLst>
                                          <p:attrName>ppt_y</p:attrName>
                                        </p:attrNameLst>
                                      </p:cBhvr>
                                      <p:tavLst>
                                        <p:tav tm="0">
                                          <p:val>
                                            <p:strVal val="#ppt_y+0.06"/>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53" presetClass="entr" presetSubtype="16" fill="hold" grpId="0" nodeType="clickEffect">
                                  <p:stCondLst>
                                    <p:cond delay="0"/>
                                  </p:stCondLst>
                                  <p:childTnLst>
                                    <p:set>
                                      <p:cBhvr>
                                        <p:cTn id="154" dur="1" fill="hold">
                                          <p:stCondLst>
                                            <p:cond delay="0"/>
                                          </p:stCondLst>
                                        </p:cTn>
                                        <p:tgtEl>
                                          <p:spTgt spid="138"/>
                                        </p:tgtEl>
                                        <p:attrNameLst>
                                          <p:attrName>style.visibility</p:attrName>
                                        </p:attrNameLst>
                                      </p:cBhvr>
                                      <p:to>
                                        <p:strVal val="visible"/>
                                      </p:to>
                                    </p:set>
                                    <p:anim calcmode="lin" valueType="num">
                                      <p:cBhvr additive="base">
                                        <p:cTn id="155" dur="500" decel="100000" fill="hold"/>
                                        <p:tgtEl>
                                          <p:spTgt spid="138"/>
                                        </p:tgtEl>
                                        <p:attrNameLst>
                                          <p:attrName>ppt_w</p:attrName>
                                        </p:attrNameLst>
                                      </p:cBhvr>
                                      <p:tavLst>
                                        <p:tav tm="0">
                                          <p:val>
                                            <p:strVal val="#ppt_w*0.3"/>
                                          </p:val>
                                        </p:tav>
                                        <p:tav tm="100000">
                                          <p:val>
                                            <p:strVal val="#ppt_w*1.08"/>
                                          </p:val>
                                        </p:tav>
                                      </p:tavLst>
                                    </p:anim>
                                    <p:anim calcmode="lin" valueType="num">
                                      <p:cBhvr additive="base">
                                        <p:cTn id="156" dur="500" decel="100000" fill="hold"/>
                                        <p:tgtEl>
                                          <p:spTgt spid="138"/>
                                        </p:tgtEl>
                                        <p:attrNameLst>
                                          <p:attrName>ppt_h</p:attrName>
                                        </p:attrNameLst>
                                      </p:cBhvr>
                                      <p:tavLst>
                                        <p:tav tm="0">
                                          <p:val>
                                            <p:strVal val="#ppt_h*0.3"/>
                                          </p:val>
                                        </p:tav>
                                        <p:tav tm="100000">
                                          <p:val>
                                            <p:strVal val="#ppt_h*1.08"/>
                                          </p:val>
                                        </p:tav>
                                      </p:tavLst>
                                    </p:anim>
                                    <p:animEffect transition="in" filter="fade">
                                      <p:cBhvr>
                                        <p:cTn id="157" dur="250"/>
                                        <p:tgtEl>
                                          <p:spTgt spid="138"/>
                                        </p:tgtEl>
                                      </p:cBhvr>
                                    </p:animEffect>
                                    <p:anim calcmode="lin" valueType="num">
                                      <p:cBhvr additive="base">
                                        <p:cTn id="158" dur="160" fill="hold">
                                          <p:stCondLst>
                                            <p:cond delay="500"/>
                                          </p:stCondLst>
                                        </p:cTn>
                                        <p:tgtEl>
                                          <p:spTgt spid="138"/>
                                        </p:tgtEl>
                                        <p:attrNameLst>
                                          <p:attrName>ppt_w</p:attrName>
                                        </p:attrNameLst>
                                      </p:cBhvr>
                                      <p:tavLst>
                                        <p:tav tm="0">
                                          <p:val>
                                            <p:strVal val="#ppt_w*1.08"/>
                                          </p:val>
                                        </p:tav>
                                        <p:tav tm="100000">
                                          <p:val>
                                            <p:strVal val="#ppt_w"/>
                                          </p:val>
                                        </p:tav>
                                      </p:tavLst>
                                    </p:anim>
                                    <p:anim calcmode="lin" valueType="num">
                                      <p:cBhvr additive="base">
                                        <p:cTn id="159" dur="160" fill="hold">
                                          <p:stCondLst>
                                            <p:cond delay="500"/>
                                          </p:stCondLst>
                                        </p:cTn>
                                        <p:tgtEl>
                                          <p:spTgt spid="138"/>
                                        </p:tgtEl>
                                        <p:attrNameLst>
                                          <p:attrName>ppt_h</p:attrName>
                                        </p:attrNameLst>
                                      </p:cBhvr>
                                      <p:tavLst>
                                        <p:tav tm="0">
                                          <p:val>
                                            <p:strVal val="#ppt_h*1.08"/>
                                          </p:val>
                                        </p:tav>
                                        <p:tav tm="100000">
                                          <p:val>
                                            <p:strVal val="#ppt_h"/>
                                          </p:val>
                                        </p:tav>
                                      </p:tavLst>
                                    </p:anim>
                                  </p:childTnLst>
                                </p:cTn>
                              </p:par>
                            </p:childTnLst>
                          </p:cTn>
                        </p:par>
                      </p:childTnLst>
                    </p:cTn>
                  </p:par>
                  <p:par>
                    <p:cTn id="160" fill="hold">
                      <p:stCondLst>
                        <p:cond delay="indefinite"/>
                      </p:stCondLst>
                      <p:childTnLst>
                        <p:par>
                          <p:cTn id="161" fill="hold">
                            <p:stCondLst>
                              <p:cond delay="0"/>
                            </p:stCondLst>
                            <p:childTnLst>
                              <p:par>
                                <p:cTn id="162" presetID="53" presetClass="entr" presetSubtype="16" fill="hold" grpId="0" nodeType="clickEffect">
                                  <p:stCondLst>
                                    <p:cond delay="0"/>
                                  </p:stCondLst>
                                  <p:childTnLst>
                                    <p:set>
                                      <p:cBhvr>
                                        <p:cTn id="163" dur="1" fill="hold">
                                          <p:stCondLst>
                                            <p:cond delay="0"/>
                                          </p:stCondLst>
                                        </p:cTn>
                                        <p:tgtEl>
                                          <p:spTgt spid="139"/>
                                        </p:tgtEl>
                                        <p:attrNameLst>
                                          <p:attrName>style.visibility</p:attrName>
                                        </p:attrNameLst>
                                      </p:cBhvr>
                                      <p:to>
                                        <p:strVal val="visible"/>
                                      </p:to>
                                    </p:set>
                                    <p:anim calcmode="lin" valueType="num">
                                      <p:cBhvr additive="base">
                                        <p:cTn id="164" dur="500" decel="100000" fill="hold"/>
                                        <p:tgtEl>
                                          <p:spTgt spid="139"/>
                                        </p:tgtEl>
                                        <p:attrNameLst>
                                          <p:attrName>ppt_w</p:attrName>
                                        </p:attrNameLst>
                                      </p:cBhvr>
                                      <p:tavLst>
                                        <p:tav tm="0">
                                          <p:val>
                                            <p:strVal val="#ppt_w*0.3"/>
                                          </p:val>
                                        </p:tav>
                                        <p:tav tm="100000">
                                          <p:val>
                                            <p:strVal val="#ppt_w*1.08"/>
                                          </p:val>
                                        </p:tav>
                                      </p:tavLst>
                                    </p:anim>
                                    <p:anim calcmode="lin" valueType="num">
                                      <p:cBhvr additive="base">
                                        <p:cTn id="165" dur="500" decel="100000" fill="hold"/>
                                        <p:tgtEl>
                                          <p:spTgt spid="139"/>
                                        </p:tgtEl>
                                        <p:attrNameLst>
                                          <p:attrName>ppt_h</p:attrName>
                                        </p:attrNameLst>
                                      </p:cBhvr>
                                      <p:tavLst>
                                        <p:tav tm="0">
                                          <p:val>
                                            <p:strVal val="#ppt_h*0.3"/>
                                          </p:val>
                                        </p:tav>
                                        <p:tav tm="100000">
                                          <p:val>
                                            <p:strVal val="#ppt_h*1.08"/>
                                          </p:val>
                                        </p:tav>
                                      </p:tavLst>
                                    </p:anim>
                                    <p:animEffect transition="in" filter="fade">
                                      <p:cBhvr>
                                        <p:cTn id="166" dur="250"/>
                                        <p:tgtEl>
                                          <p:spTgt spid="139"/>
                                        </p:tgtEl>
                                      </p:cBhvr>
                                    </p:animEffect>
                                    <p:anim calcmode="lin" valueType="num">
                                      <p:cBhvr additive="base">
                                        <p:cTn id="167" dur="160" fill="hold">
                                          <p:stCondLst>
                                            <p:cond delay="500"/>
                                          </p:stCondLst>
                                        </p:cTn>
                                        <p:tgtEl>
                                          <p:spTgt spid="139"/>
                                        </p:tgtEl>
                                        <p:attrNameLst>
                                          <p:attrName>ppt_w</p:attrName>
                                        </p:attrNameLst>
                                      </p:cBhvr>
                                      <p:tavLst>
                                        <p:tav tm="0">
                                          <p:val>
                                            <p:strVal val="#ppt_w*1.08"/>
                                          </p:val>
                                        </p:tav>
                                        <p:tav tm="100000">
                                          <p:val>
                                            <p:strVal val="#ppt_w"/>
                                          </p:val>
                                        </p:tav>
                                      </p:tavLst>
                                    </p:anim>
                                    <p:anim calcmode="lin" valueType="num">
                                      <p:cBhvr additive="base">
                                        <p:cTn id="168" dur="160" fill="hold">
                                          <p:stCondLst>
                                            <p:cond delay="500"/>
                                          </p:stCondLst>
                                        </p:cTn>
                                        <p:tgtEl>
                                          <p:spTgt spid="139"/>
                                        </p:tgtEl>
                                        <p:attrNameLst>
                                          <p:attrName>ppt_h</p:attrName>
                                        </p:attrNameLst>
                                      </p:cBhvr>
                                      <p:tavLst>
                                        <p:tav tm="0">
                                          <p:val>
                                            <p:strVal val="#ppt_h*1.08"/>
                                          </p:val>
                                        </p:tav>
                                        <p:tav tm="100000">
                                          <p:val>
                                            <p:strVal val="#ppt_h"/>
                                          </p:val>
                                        </p:tav>
                                      </p:tavLst>
                                    </p:anim>
                                  </p:childTnLst>
                                </p:cTn>
                              </p:par>
                            </p:childTnLst>
                          </p:cTn>
                        </p:par>
                      </p:childTnLst>
                    </p:cTn>
                  </p:par>
                  <p:par>
                    <p:cTn id="169" fill="hold">
                      <p:stCondLst>
                        <p:cond delay="indefinite"/>
                      </p:stCondLst>
                      <p:childTnLst>
                        <p:par>
                          <p:cTn id="170" fill="hold">
                            <p:stCondLst>
                              <p:cond delay="0"/>
                            </p:stCondLst>
                            <p:childTnLst>
                              <p:par>
                                <p:cTn id="171" presetID="53" presetClass="entr" presetSubtype="16" fill="hold" grpId="0" nodeType="clickEffect">
                                  <p:stCondLst>
                                    <p:cond delay="0"/>
                                  </p:stCondLst>
                                  <p:childTnLst>
                                    <p:set>
                                      <p:cBhvr>
                                        <p:cTn id="172" dur="1" fill="hold">
                                          <p:stCondLst>
                                            <p:cond delay="0"/>
                                          </p:stCondLst>
                                        </p:cTn>
                                        <p:tgtEl>
                                          <p:spTgt spid="104"/>
                                        </p:tgtEl>
                                        <p:attrNameLst>
                                          <p:attrName>style.visibility</p:attrName>
                                        </p:attrNameLst>
                                      </p:cBhvr>
                                      <p:to>
                                        <p:strVal val="visible"/>
                                      </p:to>
                                    </p:set>
                                    <p:anim calcmode="lin" valueType="num">
                                      <p:cBhvr additive="base">
                                        <p:cTn id="173"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174" dur="500" decel="100000" fill="hold"/>
                                        <p:tgtEl>
                                          <p:spTgt spid="104"/>
                                        </p:tgtEl>
                                        <p:attrNameLst>
                                          <p:attrName>ppt_h</p:attrName>
                                        </p:attrNameLst>
                                      </p:cBhvr>
                                      <p:tavLst>
                                        <p:tav tm="0">
                                          <p:val>
                                            <p:strVal val="#ppt_h*0.3"/>
                                          </p:val>
                                        </p:tav>
                                        <p:tav tm="100000">
                                          <p:val>
                                            <p:strVal val="#ppt_h*1.08"/>
                                          </p:val>
                                        </p:tav>
                                      </p:tavLst>
                                    </p:anim>
                                    <p:animEffect transition="in" filter="fade">
                                      <p:cBhvr>
                                        <p:cTn id="175" dur="250"/>
                                        <p:tgtEl>
                                          <p:spTgt spid="104"/>
                                        </p:tgtEl>
                                      </p:cBhvr>
                                    </p:animEffect>
                                    <p:anim calcmode="lin" valueType="num">
                                      <p:cBhvr additive="base">
                                        <p:cTn id="176"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177"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7" grpId="0" animBg="1"/>
      <p:bldP spid="108" grpId="0" animBg="1"/>
      <p:bldP spid="109"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MOCK</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MOCK: Test the Failure Path</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Rule: "a failed receipt must be LOGGED and must NOT cancel the payment".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160</a:t>
            </a:r>
            <a:endParaRPr lang="en-US" sz="850" dirty="0"/>
          </a:p>
        </p:txBody>
      </p:sp>
      <p:sp>
        <p:nvSpPr>
          <p:cNvPr id="101" name="s101"/>
          <p:cNvSpPr/>
          <p:nvPr/>
        </p:nvSpPr>
        <p:spPr>
          <a:xfrm>
            <a:off x="8979408" y="457200"/>
            <a:ext cx="2651760" cy="310896"/>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  EVERY DAY</a:t>
            </a:r>
            <a:endParaRPr lang="en-US" sz="1100" dirty="0"/>
          </a:p>
        </p:txBody>
      </p:sp>
      <p:sp>
        <p:nvSpPr>
          <p:cNvPr id="102" name="s102"/>
          <p:cNvSpPr/>
          <p:nvPr/>
        </p:nvSpPr>
        <p:spPr>
          <a:xfrm>
            <a:off x="543154" y="1810512"/>
            <a:ext cx="3931920" cy="1481328"/>
          </a:xfrm>
          <a:prstGeom prst="roundRect">
            <a:avLst>
              <a:gd name="adj" fmla="val 8000"/>
            </a:avLst>
          </a:prstGeom>
          <a:solidFill>
            <a:srgbClr val="111B2E"/>
          </a:solidFill>
          <a:ln w="12700">
            <a:solidFill>
              <a:srgbClr val="34D399"/>
            </a:solidFill>
            <a:prstDash val="solid"/>
          </a:ln>
        </p:spPr>
        <p:txBody>
          <a:bodyPr wrap="square" lIns="182880" tIns="128016" rIns="137160" bIns="91440" rtlCol="0" anchor="t">
            <a:noAutofit/>
          </a:bodyPr>
          <a:lstStyle/>
          <a:p>
            <a:pPr marL="0" indent="0" algn="l">
              <a:spcBef>
                <a:spcPts val="0"/>
              </a:spcBef>
              <a:spcAft>
                <a:spcPts val="500"/>
              </a:spcAft>
              <a:buNone/>
            </a:pPr>
            <a:r>
              <a:rPr lang="en-US" sz="1100" b="1" dirty="0">
                <a:solidFill>
                  <a:srgbClr val="34D399"/>
                </a:solidFill>
                <a:latin typeface="Segoe UI"/>
                <a:ea typeface="Segoe UI"/>
                <a:cs typeface="Segoe UI"/>
              </a:rPr>
              <a:t>WHEN TO USE IT</a:t>
            </a:r>
            <a:endParaRPr lang="en-US" sz="1100" dirty="0"/>
          </a:p>
          <a:p>
            <a:pPr marL="0" indent="0" algn="l">
              <a:spcBef>
                <a:spcPts val="0"/>
              </a:spcBef>
              <a:spcAft>
                <a:spcPts val="400"/>
              </a:spcAft>
              <a:buNone/>
            </a:pPr>
            <a:r>
              <a:rPr lang="en-US" sz="1200" b="0" dirty="0">
                <a:solidFill>
                  <a:srgbClr val="34D399"/>
                </a:solidFill>
                <a:latin typeface="Segoe UI"/>
                <a:ea typeface="Segoe UI"/>
                <a:cs typeface="Segoe UI"/>
              </a:rPr>
              <a:t>•  </a:t>
            </a:r>
            <a:r>
              <a:rPr lang="en-US" sz="1200" b="0" dirty="0">
                <a:solidFill>
                  <a:srgbClr val="E2E8F0"/>
                </a:solidFill>
                <a:latin typeface="Segoe UI"/>
                <a:ea typeface="Segoe UI"/>
                <a:cs typeface="Segoe UI"/>
              </a:rPr>
              <a:t>the important behavior is on FAILURE</a:t>
            </a:r>
            <a:endParaRPr lang="en-US" sz="1200" dirty="0"/>
          </a:p>
          <a:p>
            <a:pPr marL="0" indent="0" algn="l">
              <a:spcBef>
                <a:spcPts val="0"/>
              </a:spcBef>
              <a:spcAft>
                <a:spcPts val="400"/>
              </a:spcAft>
              <a:buNone/>
            </a:pPr>
            <a:r>
              <a:rPr lang="en-US" sz="1200" b="0" dirty="0">
                <a:solidFill>
                  <a:srgbClr val="34D399"/>
                </a:solidFill>
                <a:latin typeface="Segoe UI"/>
                <a:ea typeface="Segoe UI"/>
                <a:cs typeface="Segoe UI"/>
              </a:rPr>
              <a:t>•  </a:t>
            </a:r>
            <a:r>
              <a:rPr lang="en-US" sz="1200" b="0" dirty="0">
                <a:solidFill>
                  <a:srgbClr val="E2E8F0"/>
                </a:solidFill>
                <a:latin typeface="Segoe UI"/>
                <a:ea typeface="Segoe UI"/>
                <a:cs typeface="Segoe UI"/>
              </a:rPr>
              <a:t>the proof is a call: the error was logged</a:t>
            </a:r>
            <a:endParaRPr lang="en-US" sz="1200" dirty="0"/>
          </a:p>
          <a:p>
            <a:pPr marL="0" indent="0" algn="l">
              <a:spcBef>
                <a:spcPts val="0"/>
              </a:spcBef>
              <a:spcAft>
                <a:spcPts val="400"/>
              </a:spcAft>
              <a:buNone/>
            </a:pPr>
            <a:r>
              <a:rPr lang="en-US" sz="1200" b="0" dirty="0">
                <a:solidFill>
                  <a:srgbClr val="34D399"/>
                </a:solidFill>
                <a:latin typeface="Segoe UI"/>
                <a:ea typeface="Segoe UI"/>
                <a:cs typeface="Segoe UI"/>
              </a:rPr>
              <a:t>•  </a:t>
            </a:r>
            <a:r>
              <a:rPr lang="en-US" sz="1200" b="0" dirty="0">
                <a:solidFill>
                  <a:srgbClr val="E2E8F0"/>
                </a:solidFill>
                <a:latin typeface="Segoe UI"/>
                <a:ea typeface="Segoe UI"/>
                <a:cs typeface="Segoe UI"/>
              </a:rPr>
              <a:t>retry, fallback, "never throw" rules</a:t>
            </a:r>
            <a:endParaRPr lang="en-US" sz="1200" dirty="0"/>
          </a:p>
        </p:txBody>
      </p:sp>
      <p:sp>
        <p:nvSpPr>
          <p:cNvPr id="103" name="s103"/>
          <p:cNvSpPr/>
          <p:nvPr/>
        </p:nvSpPr>
        <p:spPr>
          <a:xfrm>
            <a:off x="543154" y="3401568"/>
            <a:ext cx="3931920" cy="1572768"/>
          </a:xfrm>
          <a:prstGeom prst="roundRect">
            <a:avLst>
              <a:gd name="adj" fmla="val 8000"/>
            </a:avLst>
          </a:prstGeom>
          <a:solidFill>
            <a:srgbClr val="111B2E"/>
          </a:solidFill>
          <a:ln w="12700">
            <a:solidFill>
              <a:srgbClr val="FBBF24"/>
            </a:solidFill>
            <a:prstDash val="solid"/>
          </a:ln>
        </p:spPr>
        <p:txBody>
          <a:bodyPr wrap="square" lIns="182880" tIns="128016" rIns="137160" bIns="91440" rtlCol="0" anchor="t">
            <a:noAutofit/>
          </a:bodyPr>
          <a:lstStyle/>
          <a:p>
            <a:pPr marL="0" indent="0" algn="l">
              <a:spcBef>
                <a:spcPts val="0"/>
              </a:spcBef>
              <a:spcAft>
                <a:spcPts val="500"/>
              </a:spcAft>
              <a:buNone/>
            </a:pPr>
            <a:r>
              <a:rPr lang="en-US" sz="1100" b="1" dirty="0">
                <a:solidFill>
                  <a:srgbClr val="FBBF24"/>
                </a:solidFill>
                <a:latin typeface="Segoe UI"/>
                <a:ea typeface="Segoe UI"/>
                <a:cs typeface="Segoe UI"/>
              </a:rPr>
              <a:t>WHAT YOU NEED</a:t>
            </a:r>
            <a:endParaRPr lang="en-US" sz="11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When(…).Do(…): Send is void, so no Returns</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Received(1) on the logger</a:t>
            </a:r>
            <a:endParaRPr lang="en-US" sz="1200" dirty="0"/>
          </a:p>
          <a:p>
            <a:pPr marL="0" indent="0" algn="l">
              <a:spcBef>
                <a:spcPts val="0"/>
              </a:spcBef>
              <a:spcAft>
                <a:spcPts val="400"/>
              </a:spcAft>
              <a:buNone/>
            </a:pPr>
            <a:r>
              <a:rPr lang="en-US" sz="1200" b="0" dirty="0">
                <a:solidFill>
                  <a:srgbClr val="FBBF24"/>
                </a:solidFill>
                <a:latin typeface="Segoe UI"/>
                <a:ea typeface="Segoe UI"/>
                <a:cs typeface="Segoe UI"/>
              </a:rPr>
              <a:t>•  </a:t>
            </a:r>
            <a:r>
              <a:rPr lang="en-US" sz="1200" b="0" dirty="0">
                <a:solidFill>
                  <a:srgbClr val="E2E8F0"/>
                </a:solidFill>
                <a:latin typeface="Segoe UI"/>
                <a:ea typeface="Segoe UI"/>
                <a:cs typeface="Segoe UI"/>
              </a:rPr>
              <a:t>Should.NotThrow (Shouldly)</a:t>
            </a:r>
            <a:endParaRPr lang="en-US" sz="1200" dirty="0"/>
          </a:p>
        </p:txBody>
      </p:sp>
      <p:sp>
        <p:nvSpPr>
          <p:cNvPr id="104" name="s104"/>
          <p:cNvSpPr/>
          <p:nvPr/>
        </p:nvSpPr>
        <p:spPr>
          <a:xfrm>
            <a:off x="543154" y="5084064"/>
            <a:ext cx="3931920" cy="1170432"/>
          </a:xfrm>
          <a:prstGeom prst="roundRect">
            <a:avLst>
              <a:gd name="adj" fmla="val 8000"/>
            </a:avLst>
          </a:prstGeom>
          <a:solidFill>
            <a:srgbClr val="34D399">
              <a:alpha val="10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400"/>
              </a:spcAft>
              <a:buNone/>
            </a:pPr>
            <a:r>
              <a:rPr lang="en-US" sz="1100" b="1" dirty="0">
                <a:solidFill>
                  <a:srgbClr val="34D399"/>
                </a:solidFill>
                <a:latin typeface="Segoe UI"/>
                <a:ea typeface="Segoe UI"/>
                <a:cs typeface="Segoe UI"/>
              </a:rPr>
              <a:t>REMEMBER</a:t>
            </a:r>
            <a:endParaRPr lang="en-US" sz="1100" dirty="0"/>
          </a:p>
          <a:p>
            <a:pPr marL="0" indent="0" algn="l">
              <a:spcBef>
                <a:spcPts val="0"/>
              </a:spcBef>
              <a:spcAft>
                <a:spcPts val="0"/>
              </a:spcAft>
              <a:buNone/>
            </a:pPr>
            <a:r>
              <a:rPr lang="en-US" sz="1200" b="0" dirty="0">
                <a:solidFill>
                  <a:srgbClr val="FFFFFF"/>
                </a:solidFill>
                <a:latin typeface="Segoe UI"/>
                <a:ea typeface="Segoe UI"/>
                <a:cs typeface="Segoe UI"/>
              </a:rPr>
              <a:t>void method fails → When(…).Do(throw).  Method with a result fails → Returns(_ =&gt; throw).</a:t>
            </a:r>
            <a:endParaRPr lang="en-US" sz="1200" dirty="0"/>
          </a:p>
        </p:txBody>
      </p:sp>
      <p:sp>
        <p:nvSpPr>
          <p:cNvPr id="105" name="s105"/>
          <p:cNvSpPr/>
          <p:nvPr/>
        </p:nvSpPr>
        <p:spPr>
          <a:xfrm>
            <a:off x="4703674" y="1810512"/>
            <a:ext cx="6927494" cy="1499616"/>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6" name="s106"/>
          <p:cNvSpPr/>
          <p:nvPr/>
        </p:nvSpPr>
        <p:spPr>
          <a:xfrm>
            <a:off x="4868266" y="195681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7" name="s107"/>
          <p:cNvSpPr/>
          <p:nvPr/>
        </p:nvSpPr>
        <p:spPr>
          <a:xfrm>
            <a:off x="5051146" y="195681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8" name="s108"/>
          <p:cNvSpPr/>
          <p:nvPr/>
        </p:nvSpPr>
        <p:spPr>
          <a:xfrm>
            <a:off x="5234026" y="195681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9" name="s109"/>
          <p:cNvSpPr/>
          <p:nvPr/>
        </p:nvSpPr>
        <p:spPr>
          <a:xfrm>
            <a:off x="5480914" y="1883664"/>
            <a:ext cx="260238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NSubstitute  ·  the mock toolbox</a:t>
            </a:r>
            <a:endParaRPr lang="en-US" sz="950" dirty="0"/>
          </a:p>
        </p:txBody>
      </p:sp>
      <p:cxnSp>
        <p:nvCxnSpPr>
          <p:cNvPr id="110" name="ln110"/>
          <p:cNvCxnSpPr/>
          <p:nvPr/>
        </p:nvCxnSpPr>
        <p:spPr>
          <a:xfrm>
            <a:off x="4703674" y="2221992"/>
            <a:ext cx="6927494" cy="0"/>
          </a:xfrm>
          <a:prstGeom prst="line">
            <a:avLst/>
          </a:prstGeom>
          <a:ln w="9525">
            <a:solidFill>
              <a:srgbClr val="1E3A5F"/>
            </a:solidFill>
          </a:ln>
        </p:spPr>
      </p:cxnSp>
      <p:sp>
        <p:nvSpPr>
          <p:cNvPr id="111" name="s111"/>
          <p:cNvSpPr/>
          <p:nvPr/>
        </p:nvSpPr>
        <p:spPr>
          <a:xfrm>
            <a:off x="4703674" y="234086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email.</a:t>
            </a:r>
            <a:r>
              <a:rPr lang="en-US" sz="900" b="0" dirty="0">
                <a:solidFill>
                  <a:srgbClr val="7DD3FC"/>
                </a:solidFill>
                <a:latin typeface="Consolas"/>
                <a:ea typeface="Consolas"/>
                <a:cs typeface="Consolas"/>
              </a:rPr>
              <a:t>Received</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1</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Send</a:t>
            </a:r>
            <a:r>
              <a:rPr lang="en-US" sz="900" b="0" dirty="0">
                <a:solidFill>
                  <a:srgbClr val="E2E8F0"/>
                </a:solidFill>
                <a:latin typeface="Consolas"/>
                <a:ea typeface="Consolas"/>
                <a:cs typeface="Consolas"/>
              </a:rPr>
              <a:t>(...)            </a:t>
            </a:r>
            <a:r>
              <a:rPr lang="en-US" sz="900" b="0" dirty="0">
                <a:solidFill>
                  <a:srgbClr val="6FAE7A"/>
                </a:solidFill>
                <a:latin typeface="Consolas"/>
                <a:ea typeface="Consolas"/>
                <a:cs typeface="Consolas"/>
              </a:rPr>
              <a:t>// exactly once</a:t>
            </a:r>
            <a:endParaRPr lang="en-US" sz="900" dirty="0"/>
          </a:p>
        </p:txBody>
      </p:sp>
      <p:sp>
        <p:nvSpPr>
          <p:cNvPr id="112" name="s112"/>
          <p:cNvSpPr/>
          <p:nvPr/>
        </p:nvSpPr>
        <p:spPr>
          <a:xfrm>
            <a:off x="4703674" y="247802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email.</a:t>
            </a:r>
            <a:r>
              <a:rPr lang="en-US" sz="900" b="0" dirty="0">
                <a:solidFill>
                  <a:srgbClr val="7DD3FC"/>
                </a:solidFill>
                <a:latin typeface="Consolas"/>
                <a:ea typeface="Consolas"/>
                <a:cs typeface="Consolas"/>
              </a:rPr>
              <a:t>Received</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2</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Send</a:t>
            </a:r>
            <a:r>
              <a:rPr lang="en-US" sz="900" b="0" dirty="0">
                <a:solidFill>
                  <a:srgbClr val="E2E8F0"/>
                </a:solidFill>
                <a:latin typeface="Consolas"/>
                <a:ea typeface="Consolas"/>
                <a:cs typeface="Consolas"/>
              </a:rPr>
              <a:t>(...)            </a:t>
            </a:r>
            <a:r>
              <a:rPr lang="en-US" sz="900" b="0" dirty="0">
                <a:solidFill>
                  <a:srgbClr val="6FAE7A"/>
                </a:solidFill>
                <a:latin typeface="Consolas"/>
                <a:ea typeface="Consolas"/>
                <a:cs typeface="Consolas"/>
              </a:rPr>
              <a:t>// exactly twice</a:t>
            </a:r>
            <a:endParaRPr lang="en-US" sz="900" dirty="0"/>
          </a:p>
        </p:txBody>
      </p:sp>
      <p:sp>
        <p:nvSpPr>
          <p:cNvPr id="113" name="s113"/>
          <p:cNvSpPr/>
          <p:nvPr/>
        </p:nvSpPr>
        <p:spPr>
          <a:xfrm>
            <a:off x="4703674" y="261518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email.</a:t>
            </a:r>
            <a:r>
              <a:rPr lang="en-US" sz="900" b="0" dirty="0">
                <a:solidFill>
                  <a:srgbClr val="7DD3FC"/>
                </a:solidFill>
                <a:latin typeface="Consolas"/>
                <a:ea typeface="Consolas"/>
                <a:cs typeface="Consolas"/>
              </a:rPr>
              <a:t>DidNotReceive</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Send</a:t>
            </a:r>
            <a:r>
              <a:rPr lang="en-US" sz="900" b="0" dirty="0">
                <a:solidFill>
                  <a:srgbClr val="E2E8F0"/>
                </a:solidFill>
                <a:latin typeface="Consolas"/>
                <a:ea typeface="Consolas"/>
                <a:cs typeface="Consolas"/>
              </a:rPr>
              <a:t>(...)        </a:t>
            </a:r>
            <a:r>
              <a:rPr lang="en-US" sz="900" b="0" dirty="0">
                <a:solidFill>
                  <a:srgbClr val="6FAE7A"/>
                </a:solidFill>
                <a:latin typeface="Consolas"/>
                <a:ea typeface="Consolas"/>
                <a:cs typeface="Consolas"/>
              </a:rPr>
              <a:t>// never</a:t>
            </a:r>
            <a:endParaRPr lang="en-US" sz="900" dirty="0"/>
          </a:p>
        </p:txBody>
      </p:sp>
      <p:sp>
        <p:nvSpPr>
          <p:cNvPr id="114" name="s114"/>
          <p:cNvSpPr/>
          <p:nvPr/>
        </p:nvSpPr>
        <p:spPr>
          <a:xfrm>
            <a:off x="4703674" y="275234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7DD3FC"/>
                </a:solidFill>
                <a:latin typeface="Consolas"/>
                <a:ea typeface="Consolas"/>
                <a:cs typeface="Consolas"/>
              </a:rPr>
              <a:t>Arg</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Any</a:t>
            </a:r>
            <a:r>
              <a:rPr lang="en-US" sz="900" b="0" dirty="0">
                <a:solidFill>
                  <a:srgbClr val="E2E8F0"/>
                </a:solidFill>
                <a:latin typeface="Consolas"/>
                <a:ea typeface="Consolas"/>
                <a:cs typeface="Consolas"/>
              </a:rPr>
              <a:t>&lt;</a:t>
            </a:r>
            <a:r>
              <a:rPr lang="en-US" sz="900" b="0" dirty="0">
                <a:solidFill>
                  <a:srgbClr val="60A5FA"/>
                </a:solidFill>
                <a:latin typeface="Consolas"/>
                <a:ea typeface="Consolas"/>
                <a:cs typeface="Consolas"/>
              </a:rPr>
              <a:t>string</a:t>
            </a:r>
            <a:r>
              <a:rPr lang="en-US" sz="900" b="0" dirty="0">
                <a:solidFill>
                  <a:srgbClr val="E2E8F0"/>
                </a:solidFill>
                <a:latin typeface="Consolas"/>
                <a:ea typeface="Consolas"/>
                <a:cs typeface="Consolas"/>
              </a:rPr>
              <a:t>&gt;()                      </a:t>
            </a:r>
            <a:r>
              <a:rPr lang="en-US" sz="900" b="0" dirty="0">
                <a:solidFill>
                  <a:srgbClr val="6FAE7A"/>
                </a:solidFill>
                <a:latin typeface="Consolas"/>
                <a:ea typeface="Consolas"/>
                <a:cs typeface="Consolas"/>
              </a:rPr>
              <a:t>// any value</a:t>
            </a:r>
            <a:endParaRPr lang="en-US" sz="900" dirty="0"/>
          </a:p>
        </p:txBody>
      </p:sp>
      <p:sp>
        <p:nvSpPr>
          <p:cNvPr id="115" name="s115"/>
          <p:cNvSpPr/>
          <p:nvPr/>
        </p:nvSpPr>
        <p:spPr>
          <a:xfrm>
            <a:off x="4703674" y="288950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7DD3FC"/>
                </a:solidFill>
                <a:latin typeface="Consolas"/>
                <a:ea typeface="Consolas"/>
                <a:cs typeface="Consolas"/>
              </a:rPr>
              <a:t>Arg</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Is</a:t>
            </a:r>
            <a:r>
              <a:rPr lang="en-US" sz="900" b="0" dirty="0">
                <a:solidFill>
                  <a:srgbClr val="E2E8F0"/>
                </a:solidFill>
                <a:latin typeface="Consolas"/>
                <a:ea typeface="Consolas"/>
                <a:cs typeface="Consolas"/>
              </a:rPr>
              <a:t>&lt;</a:t>
            </a:r>
            <a:r>
              <a:rPr lang="en-US" sz="900" b="0" dirty="0">
                <a:solidFill>
                  <a:srgbClr val="60A5FA"/>
                </a:solidFill>
                <a:latin typeface="Consolas"/>
                <a:ea typeface="Consolas"/>
                <a:cs typeface="Consolas"/>
              </a:rPr>
              <a:t>string</a:t>
            </a:r>
            <a:r>
              <a:rPr lang="en-US" sz="900" b="0" dirty="0">
                <a:solidFill>
                  <a:srgbClr val="E2E8F0"/>
                </a:solidFill>
                <a:latin typeface="Consolas"/>
                <a:ea typeface="Consolas"/>
                <a:cs typeface="Consolas"/>
              </a:rPr>
              <a:t>&gt;(b =&gt; b.</a:t>
            </a:r>
            <a:r>
              <a:rPr lang="en-US" sz="900" b="0" dirty="0">
                <a:solidFill>
                  <a:srgbClr val="7DD3FC"/>
                </a:solidFill>
                <a:latin typeface="Consolas"/>
                <a:ea typeface="Consolas"/>
                <a:cs typeface="Consolas"/>
              </a:rPr>
              <a:t>Contains</a:t>
            </a:r>
            <a:r>
              <a:rPr lang="en-US" sz="900" b="0" dirty="0">
                <a:solidFill>
                  <a:srgbClr val="E2E8F0"/>
                </a:solidFill>
                <a:latin typeface="Consolas"/>
                <a:ea typeface="Consolas"/>
                <a:cs typeface="Consolas"/>
              </a:rPr>
              <a:t>(</a:t>
            </a:r>
            <a:r>
              <a:rPr lang="en-US" sz="900" b="0" dirty="0">
                <a:solidFill>
                  <a:srgbClr val="F0A98B"/>
                </a:solidFill>
                <a:latin typeface="Consolas"/>
                <a:ea typeface="Consolas"/>
                <a:cs typeface="Consolas"/>
              </a:rPr>
              <a:t>"250"</a:t>
            </a:r>
            <a:r>
              <a:rPr lang="en-US" sz="900" b="0" dirty="0">
                <a:solidFill>
                  <a:srgbClr val="E2E8F0"/>
                </a:solidFill>
                <a:latin typeface="Consolas"/>
                <a:ea typeface="Consolas"/>
                <a:cs typeface="Consolas"/>
              </a:rPr>
              <a:t>)) </a:t>
            </a:r>
            <a:r>
              <a:rPr lang="en-US" sz="900" b="0" dirty="0">
                <a:solidFill>
                  <a:srgbClr val="6FAE7A"/>
                </a:solidFill>
                <a:latin typeface="Consolas"/>
                <a:ea typeface="Consolas"/>
                <a:cs typeface="Consolas"/>
              </a:rPr>
              <a:t>// a value that matches</a:t>
            </a:r>
            <a:endParaRPr lang="en-US" sz="900" dirty="0"/>
          </a:p>
        </p:txBody>
      </p:sp>
      <p:sp>
        <p:nvSpPr>
          <p:cNvPr id="116" name="s116"/>
          <p:cNvSpPr/>
          <p:nvPr/>
        </p:nvSpPr>
        <p:spPr>
          <a:xfrm>
            <a:off x="4703674" y="3026664"/>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x.</a:t>
            </a:r>
            <a:r>
              <a:rPr lang="en-US" sz="900" b="0" dirty="0">
                <a:solidFill>
                  <a:srgbClr val="7DD3FC"/>
                </a:solidFill>
                <a:latin typeface="Consolas"/>
                <a:ea typeface="Consolas"/>
                <a:cs typeface="Consolas"/>
              </a:rPr>
              <a:t>When</a:t>
            </a:r>
            <a:r>
              <a:rPr lang="en-US" sz="900" b="0" dirty="0">
                <a:solidFill>
                  <a:srgbClr val="E2E8F0"/>
                </a:solidFill>
                <a:latin typeface="Consolas"/>
                <a:ea typeface="Consolas"/>
                <a:cs typeface="Consolas"/>
              </a:rPr>
              <a:t>(x =&gt; x.</a:t>
            </a:r>
            <a:r>
              <a:rPr lang="en-US" sz="900" b="0" dirty="0">
                <a:solidFill>
                  <a:srgbClr val="7DD3FC"/>
                </a:solidFill>
                <a:latin typeface="Consolas"/>
                <a:ea typeface="Consolas"/>
                <a:cs typeface="Consolas"/>
              </a:rPr>
              <a:t>Send</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Do</a:t>
            </a:r>
            <a:r>
              <a:rPr lang="en-US" sz="900" b="0" dirty="0">
                <a:solidFill>
                  <a:srgbClr val="E2E8F0"/>
                </a:solidFill>
                <a:latin typeface="Consolas"/>
                <a:ea typeface="Consolas"/>
                <a:cs typeface="Consolas"/>
              </a:rPr>
              <a:t>(_ =&gt; </a:t>
            </a:r>
            <a:r>
              <a:rPr lang="en-US" sz="900" b="0" dirty="0">
                <a:solidFill>
                  <a:srgbClr val="60A5FA"/>
                </a:solidFill>
                <a:latin typeface="Consolas"/>
                <a:ea typeface="Consolas"/>
                <a:cs typeface="Consolas"/>
              </a:rPr>
              <a:t>throw</a:t>
            </a:r>
            <a:r>
              <a:rPr lang="en-US" sz="900" b="0" dirty="0">
                <a:solidFill>
                  <a:srgbClr val="E2E8F0"/>
                </a:solidFill>
                <a:latin typeface="Consolas"/>
                <a:ea typeface="Consolas"/>
                <a:cs typeface="Consolas"/>
              </a:rPr>
              <a:t> ...)   </a:t>
            </a:r>
            <a:r>
              <a:rPr lang="en-US" sz="900" b="0" dirty="0">
                <a:solidFill>
                  <a:srgbClr val="6FAE7A"/>
                </a:solidFill>
                <a:latin typeface="Consolas"/>
                <a:ea typeface="Consolas"/>
                <a:cs typeface="Consolas"/>
              </a:rPr>
              <a:t>// a void method that FAILS</a:t>
            </a:r>
            <a:endParaRPr lang="en-US" sz="900" dirty="0"/>
          </a:p>
        </p:txBody>
      </p:sp>
      <p:sp>
        <p:nvSpPr>
          <p:cNvPr id="117" name="s117"/>
          <p:cNvSpPr/>
          <p:nvPr/>
        </p:nvSpPr>
        <p:spPr>
          <a:xfrm>
            <a:off x="4703674" y="3419856"/>
            <a:ext cx="6927494" cy="2185416"/>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8" name="s118"/>
          <p:cNvSpPr/>
          <p:nvPr/>
        </p:nvSpPr>
        <p:spPr>
          <a:xfrm>
            <a:off x="4868266" y="3566160"/>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9" name="s119"/>
          <p:cNvSpPr/>
          <p:nvPr/>
        </p:nvSpPr>
        <p:spPr>
          <a:xfrm>
            <a:off x="5051146" y="3566160"/>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0" name="s120"/>
          <p:cNvSpPr/>
          <p:nvPr/>
        </p:nvSpPr>
        <p:spPr>
          <a:xfrm>
            <a:off x="5234026" y="3566160"/>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1" name="s121"/>
          <p:cNvSpPr/>
          <p:nvPr/>
        </p:nvSpPr>
        <p:spPr>
          <a:xfrm>
            <a:off x="5480914" y="3493008"/>
            <a:ext cx="281635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ReceiptServiceTests.cs  ·  the test</a:t>
            </a:r>
            <a:endParaRPr lang="en-US" sz="950" dirty="0"/>
          </a:p>
        </p:txBody>
      </p:sp>
      <p:cxnSp>
        <p:nvCxnSpPr>
          <p:cNvPr id="122" name="ln122"/>
          <p:cNvCxnSpPr/>
          <p:nvPr/>
        </p:nvCxnSpPr>
        <p:spPr>
          <a:xfrm>
            <a:off x="4703674" y="3831336"/>
            <a:ext cx="6927494" cy="0"/>
          </a:xfrm>
          <a:prstGeom prst="line">
            <a:avLst/>
          </a:prstGeom>
          <a:ln w="9525">
            <a:solidFill>
              <a:srgbClr val="1E3A5F"/>
            </a:solidFill>
          </a:ln>
        </p:spPr>
      </p:cxnSp>
      <p:sp>
        <p:nvSpPr>
          <p:cNvPr id="123" name="s123"/>
          <p:cNvSpPr/>
          <p:nvPr/>
        </p:nvSpPr>
        <p:spPr>
          <a:xfrm>
            <a:off x="4703674" y="395020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FBBF24"/>
                </a:solidFill>
                <a:latin typeface="Consolas"/>
                <a:ea typeface="Consolas"/>
                <a:cs typeface="Consolas"/>
              </a:rPr>
              <a:t>[Fact]</a:t>
            </a:r>
            <a:endParaRPr lang="en-US" sz="900" dirty="0"/>
          </a:p>
        </p:txBody>
      </p:sp>
      <p:sp>
        <p:nvSpPr>
          <p:cNvPr id="124" name="s124"/>
          <p:cNvSpPr/>
          <p:nvPr/>
        </p:nvSpPr>
        <p:spPr>
          <a:xfrm>
            <a:off x="4703674" y="408736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0A5FA"/>
                </a:solidFill>
                <a:latin typeface="Consolas"/>
                <a:ea typeface="Consolas"/>
                <a:cs typeface="Consolas"/>
              </a:rPr>
              <a:t>public</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void</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SendReceipt_EmailFails_LogsAndDoesNotThrow</a:t>
            </a:r>
            <a:r>
              <a:rPr lang="en-US" sz="900" b="0" dirty="0">
                <a:solidFill>
                  <a:srgbClr val="E2E8F0"/>
                </a:solidFill>
                <a:latin typeface="Consolas"/>
                <a:ea typeface="Consolas"/>
                <a:cs typeface="Consolas"/>
              </a:rPr>
              <a:t>()</a:t>
            </a:r>
            <a:endParaRPr lang="en-US" sz="900" dirty="0"/>
          </a:p>
        </p:txBody>
      </p:sp>
      <p:sp>
        <p:nvSpPr>
          <p:cNvPr id="125" name="s125"/>
          <p:cNvSpPr/>
          <p:nvPr/>
        </p:nvSpPr>
        <p:spPr>
          <a:xfrm>
            <a:off x="4703674" y="422452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26" name="s126"/>
          <p:cNvSpPr/>
          <p:nvPr/>
        </p:nvSpPr>
        <p:spPr>
          <a:xfrm>
            <a:off x="4703674" y="436168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var</a:t>
            </a:r>
            <a:r>
              <a:rPr lang="en-US" sz="900" b="0" dirty="0">
                <a:solidFill>
                  <a:srgbClr val="E2E8F0"/>
                </a:solidFill>
                <a:latin typeface="Consolas"/>
                <a:ea typeface="Consolas"/>
                <a:cs typeface="Consolas"/>
              </a:rPr>
              <a:t> email = </a:t>
            </a:r>
            <a:r>
              <a:rPr lang="en-US" sz="900" b="0" dirty="0">
                <a:solidFill>
                  <a:srgbClr val="7DD3FC"/>
                </a:solidFill>
                <a:latin typeface="Consolas"/>
                <a:ea typeface="Consolas"/>
                <a:cs typeface="Consolas"/>
              </a:rPr>
              <a:t>Substitute</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For</a:t>
            </a:r>
            <a:r>
              <a:rPr lang="en-US" sz="900" b="0" dirty="0">
                <a:solidFill>
                  <a:srgbClr val="E2E8F0"/>
                </a:solidFill>
                <a:latin typeface="Consolas"/>
                <a:ea typeface="Consolas"/>
                <a:cs typeface="Consolas"/>
              </a:rPr>
              <a:t>&lt;</a:t>
            </a:r>
            <a:r>
              <a:rPr lang="en-US" sz="900" b="0" dirty="0">
                <a:solidFill>
                  <a:srgbClr val="7DD3FC"/>
                </a:solidFill>
                <a:latin typeface="Consolas"/>
                <a:ea typeface="Consolas"/>
                <a:cs typeface="Consolas"/>
              </a:rPr>
              <a:t>IEmailSender</a:t>
            </a:r>
            <a:r>
              <a:rPr lang="en-US" sz="900" b="0" dirty="0">
                <a:solidFill>
                  <a:srgbClr val="E2E8F0"/>
                </a:solidFill>
                <a:latin typeface="Consolas"/>
                <a:ea typeface="Consolas"/>
                <a:cs typeface="Consolas"/>
              </a:rPr>
              <a:t>&gt;();</a:t>
            </a:r>
            <a:endParaRPr lang="en-US" sz="900" dirty="0"/>
          </a:p>
        </p:txBody>
      </p:sp>
      <p:sp>
        <p:nvSpPr>
          <p:cNvPr id="127" name="s127"/>
          <p:cNvSpPr/>
          <p:nvPr/>
        </p:nvSpPr>
        <p:spPr>
          <a:xfrm>
            <a:off x="4703674" y="449884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var</a:t>
            </a:r>
            <a:r>
              <a:rPr lang="en-US" sz="900" b="0" dirty="0">
                <a:solidFill>
                  <a:srgbClr val="E2E8F0"/>
                </a:solidFill>
                <a:latin typeface="Consolas"/>
                <a:ea typeface="Consolas"/>
                <a:cs typeface="Consolas"/>
              </a:rPr>
              <a:t> logger = </a:t>
            </a:r>
            <a:r>
              <a:rPr lang="en-US" sz="900" b="0" dirty="0">
                <a:solidFill>
                  <a:srgbClr val="7DD3FC"/>
                </a:solidFill>
                <a:latin typeface="Consolas"/>
                <a:ea typeface="Consolas"/>
                <a:cs typeface="Consolas"/>
              </a:rPr>
              <a:t>Substitute</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For</a:t>
            </a:r>
            <a:r>
              <a:rPr lang="en-US" sz="900" b="0" dirty="0">
                <a:solidFill>
                  <a:srgbClr val="E2E8F0"/>
                </a:solidFill>
                <a:latin typeface="Consolas"/>
                <a:ea typeface="Consolas"/>
                <a:cs typeface="Consolas"/>
              </a:rPr>
              <a:t>&lt;</a:t>
            </a:r>
            <a:r>
              <a:rPr lang="en-US" sz="900" b="0" dirty="0">
                <a:solidFill>
                  <a:srgbClr val="7DD3FC"/>
                </a:solidFill>
                <a:latin typeface="Consolas"/>
                <a:ea typeface="Consolas"/>
                <a:cs typeface="Consolas"/>
              </a:rPr>
              <a:t>ILogger</a:t>
            </a:r>
            <a:r>
              <a:rPr lang="en-US" sz="900" b="0" dirty="0">
                <a:solidFill>
                  <a:srgbClr val="E2E8F0"/>
                </a:solidFill>
                <a:latin typeface="Consolas"/>
                <a:ea typeface="Consolas"/>
                <a:cs typeface="Consolas"/>
              </a:rPr>
              <a:t>&gt;();                             </a:t>
            </a:r>
            <a:r>
              <a:rPr lang="en-US" sz="900" b="0" dirty="0">
                <a:solidFill>
                  <a:srgbClr val="6FAE7A"/>
                </a:solidFill>
                <a:latin typeface="Consolas"/>
                <a:ea typeface="Consolas"/>
                <a:cs typeface="Consolas"/>
              </a:rPr>
              <a:t>// MOCK</a:t>
            </a:r>
            <a:endParaRPr lang="en-US" sz="900" dirty="0"/>
          </a:p>
        </p:txBody>
      </p:sp>
      <p:sp>
        <p:nvSpPr>
          <p:cNvPr id="128" name="s128"/>
          <p:cNvSpPr/>
          <p:nvPr/>
        </p:nvSpPr>
        <p:spPr>
          <a:xfrm>
            <a:off x="4703674" y="463600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email.</a:t>
            </a:r>
            <a:r>
              <a:rPr lang="en-US" sz="900" b="0" dirty="0">
                <a:solidFill>
                  <a:srgbClr val="7DD3FC"/>
                </a:solidFill>
                <a:latin typeface="Consolas"/>
                <a:ea typeface="Consolas"/>
                <a:cs typeface="Consolas"/>
              </a:rPr>
              <a:t>When</a:t>
            </a:r>
            <a:r>
              <a:rPr lang="en-US" sz="900" b="0" dirty="0">
                <a:solidFill>
                  <a:srgbClr val="E2E8F0"/>
                </a:solidFill>
                <a:latin typeface="Consolas"/>
                <a:ea typeface="Consolas"/>
                <a:cs typeface="Consolas"/>
              </a:rPr>
              <a:t>(e =&gt; e.</a:t>
            </a:r>
            <a:r>
              <a:rPr lang="en-US" sz="900" b="0" dirty="0">
                <a:solidFill>
                  <a:srgbClr val="7DD3FC"/>
                </a:solidFill>
                <a:latin typeface="Consolas"/>
                <a:ea typeface="Consolas"/>
                <a:cs typeface="Consolas"/>
              </a:rPr>
              <a:t>Send</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Arg</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Any</a:t>
            </a:r>
            <a:r>
              <a:rPr lang="en-US" sz="900" b="0" dirty="0">
                <a:solidFill>
                  <a:srgbClr val="E2E8F0"/>
                </a:solidFill>
                <a:latin typeface="Consolas"/>
                <a:ea typeface="Consolas"/>
                <a:cs typeface="Consolas"/>
              </a:rPr>
              <a:t>&lt;</a:t>
            </a:r>
            <a:r>
              <a:rPr lang="en-US" sz="900" b="0" dirty="0">
                <a:solidFill>
                  <a:srgbClr val="60A5FA"/>
                </a:solidFill>
                <a:latin typeface="Consolas"/>
                <a:ea typeface="Consolas"/>
                <a:cs typeface="Consolas"/>
              </a:rPr>
              <a:t>string</a:t>
            </a:r>
            <a:r>
              <a:rPr lang="en-US" sz="900" b="0" dirty="0">
                <a:solidFill>
                  <a:srgbClr val="E2E8F0"/>
                </a:solidFill>
                <a:latin typeface="Consolas"/>
                <a:ea typeface="Consolas"/>
                <a:cs typeface="Consolas"/>
              </a:rPr>
              <a:t>&gt;(), </a:t>
            </a:r>
            <a:r>
              <a:rPr lang="en-US" sz="900" b="0" dirty="0">
                <a:solidFill>
                  <a:srgbClr val="7DD3FC"/>
                </a:solidFill>
                <a:latin typeface="Consolas"/>
                <a:ea typeface="Consolas"/>
                <a:cs typeface="Consolas"/>
              </a:rPr>
              <a:t>Arg</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Any</a:t>
            </a:r>
            <a:r>
              <a:rPr lang="en-US" sz="900" b="0" dirty="0">
                <a:solidFill>
                  <a:srgbClr val="E2E8F0"/>
                </a:solidFill>
                <a:latin typeface="Consolas"/>
                <a:ea typeface="Consolas"/>
                <a:cs typeface="Consolas"/>
              </a:rPr>
              <a:t>&lt;</a:t>
            </a:r>
            <a:r>
              <a:rPr lang="en-US" sz="900" b="0" dirty="0">
                <a:solidFill>
                  <a:srgbClr val="60A5FA"/>
                </a:solidFill>
                <a:latin typeface="Consolas"/>
                <a:ea typeface="Consolas"/>
                <a:cs typeface="Consolas"/>
              </a:rPr>
              <a:t>string</a:t>
            </a:r>
            <a:r>
              <a:rPr lang="en-US" sz="900" b="0" dirty="0">
                <a:solidFill>
                  <a:srgbClr val="E2E8F0"/>
                </a:solidFill>
                <a:latin typeface="Consolas"/>
                <a:ea typeface="Consolas"/>
                <a:cs typeface="Consolas"/>
              </a:rPr>
              <a:t>&gt;(), </a:t>
            </a:r>
            <a:r>
              <a:rPr lang="en-US" sz="900" b="0" dirty="0">
                <a:solidFill>
                  <a:srgbClr val="7DD3FC"/>
                </a:solidFill>
                <a:latin typeface="Consolas"/>
                <a:ea typeface="Consolas"/>
                <a:cs typeface="Consolas"/>
              </a:rPr>
              <a:t>Arg</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Any</a:t>
            </a:r>
            <a:r>
              <a:rPr lang="en-US" sz="900" b="0" dirty="0">
                <a:solidFill>
                  <a:srgbClr val="E2E8F0"/>
                </a:solidFill>
                <a:latin typeface="Consolas"/>
                <a:ea typeface="Consolas"/>
                <a:cs typeface="Consolas"/>
              </a:rPr>
              <a:t>&lt;</a:t>
            </a:r>
            <a:r>
              <a:rPr lang="en-US" sz="900" b="0" dirty="0">
                <a:solidFill>
                  <a:srgbClr val="60A5FA"/>
                </a:solidFill>
                <a:latin typeface="Consolas"/>
                <a:ea typeface="Consolas"/>
                <a:cs typeface="Consolas"/>
              </a:rPr>
              <a:t>string</a:t>
            </a:r>
            <a:r>
              <a:rPr lang="en-US" sz="900" b="0" dirty="0">
                <a:solidFill>
                  <a:srgbClr val="E2E8F0"/>
                </a:solidFill>
                <a:latin typeface="Consolas"/>
                <a:ea typeface="Consolas"/>
                <a:cs typeface="Consolas"/>
              </a:rPr>
              <a:t>&gt;()))</a:t>
            </a:r>
            <a:endParaRPr lang="en-US" sz="900" dirty="0"/>
          </a:p>
        </p:txBody>
      </p:sp>
      <p:sp>
        <p:nvSpPr>
          <p:cNvPr id="129" name="s129"/>
          <p:cNvSpPr/>
          <p:nvPr/>
        </p:nvSpPr>
        <p:spPr>
          <a:xfrm>
            <a:off x="4703674" y="477316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Do</a:t>
            </a:r>
            <a:r>
              <a:rPr lang="en-US" sz="900" b="0" dirty="0">
                <a:solidFill>
                  <a:srgbClr val="E2E8F0"/>
                </a:solidFill>
                <a:latin typeface="Consolas"/>
                <a:ea typeface="Consolas"/>
                <a:cs typeface="Consolas"/>
              </a:rPr>
              <a:t>(_ =&gt; </a:t>
            </a:r>
            <a:r>
              <a:rPr lang="en-US" sz="900" b="0" dirty="0">
                <a:solidFill>
                  <a:srgbClr val="60A5FA"/>
                </a:solidFill>
                <a:latin typeface="Consolas"/>
                <a:ea typeface="Consolas"/>
                <a:cs typeface="Consolas"/>
              </a:rPr>
              <a:t>throw</a:t>
            </a: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TimeoutException</a:t>
            </a:r>
            <a:r>
              <a:rPr lang="en-US" sz="900" b="0" dirty="0">
                <a:solidFill>
                  <a:srgbClr val="E2E8F0"/>
                </a:solidFill>
                <a:latin typeface="Consolas"/>
                <a:ea typeface="Consolas"/>
                <a:cs typeface="Consolas"/>
              </a:rPr>
              <a:t>(</a:t>
            </a:r>
            <a:r>
              <a:rPr lang="en-US" sz="900" b="0" dirty="0">
                <a:solidFill>
                  <a:srgbClr val="F0A98B"/>
                </a:solidFill>
                <a:latin typeface="Consolas"/>
                <a:ea typeface="Consolas"/>
                <a:cs typeface="Consolas"/>
              </a:rPr>
              <a:t>"SMTP server timeout"</a:t>
            </a:r>
            <a:r>
              <a:rPr lang="en-US" sz="900" b="0" dirty="0">
                <a:solidFill>
                  <a:srgbClr val="E2E8F0"/>
                </a:solidFill>
                <a:latin typeface="Consolas"/>
                <a:ea typeface="Consolas"/>
                <a:cs typeface="Consolas"/>
              </a:rPr>
              <a:t>));   </a:t>
            </a:r>
            <a:r>
              <a:rPr lang="en-US" sz="900" b="0" dirty="0">
                <a:solidFill>
                  <a:srgbClr val="6FAE7A"/>
                </a:solidFill>
                <a:latin typeface="Consolas"/>
                <a:ea typeface="Consolas"/>
                <a:cs typeface="Consolas"/>
              </a:rPr>
              <a:t>// make it FAIL</a:t>
            </a:r>
            <a:endParaRPr lang="en-US" sz="900" dirty="0"/>
          </a:p>
        </p:txBody>
      </p:sp>
      <p:sp>
        <p:nvSpPr>
          <p:cNvPr id="130" name="s130"/>
          <p:cNvSpPr/>
          <p:nvPr/>
        </p:nvSpPr>
        <p:spPr>
          <a:xfrm>
            <a:off x="4703674" y="491032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60A5FA"/>
                </a:solidFill>
                <a:latin typeface="Consolas"/>
                <a:ea typeface="Consolas"/>
                <a:cs typeface="Consolas"/>
              </a:rPr>
              <a:t>var</a:t>
            </a:r>
            <a:r>
              <a:rPr lang="en-US" sz="900" b="0" dirty="0">
                <a:solidFill>
                  <a:srgbClr val="E2E8F0"/>
                </a:solidFill>
                <a:latin typeface="Consolas"/>
                <a:ea typeface="Consolas"/>
                <a:cs typeface="Consolas"/>
              </a:rPr>
              <a:t> receipts = </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ReceiptService</a:t>
            </a:r>
            <a:r>
              <a:rPr lang="en-US" sz="900" b="0" dirty="0">
                <a:solidFill>
                  <a:srgbClr val="E2E8F0"/>
                </a:solidFill>
                <a:latin typeface="Consolas"/>
                <a:ea typeface="Consolas"/>
                <a:cs typeface="Consolas"/>
              </a:rPr>
              <a:t>(email, logger);</a:t>
            </a:r>
            <a:endParaRPr lang="en-US" sz="900" dirty="0"/>
          </a:p>
        </p:txBody>
      </p:sp>
      <p:sp>
        <p:nvSpPr>
          <p:cNvPr id="131" name="s131"/>
          <p:cNvSpPr/>
          <p:nvPr/>
        </p:nvSpPr>
        <p:spPr>
          <a:xfrm>
            <a:off x="4703674" y="504748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Should</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NotThrow</a:t>
            </a:r>
            <a:r>
              <a:rPr lang="en-US" sz="900" b="0" dirty="0">
                <a:solidFill>
                  <a:srgbClr val="E2E8F0"/>
                </a:solidFill>
                <a:latin typeface="Consolas"/>
                <a:ea typeface="Consolas"/>
                <a:cs typeface="Consolas"/>
              </a:rPr>
              <a:t>(() =&gt; receipts.</a:t>
            </a:r>
            <a:r>
              <a:rPr lang="en-US" sz="900" b="0" dirty="0">
                <a:solidFill>
                  <a:srgbClr val="7DD3FC"/>
                </a:solidFill>
                <a:latin typeface="Consolas"/>
                <a:ea typeface="Consolas"/>
                <a:cs typeface="Consolas"/>
              </a:rPr>
              <a:t>SendReceipt</a:t>
            </a:r>
            <a:r>
              <a:rPr lang="en-US" sz="900" b="0" dirty="0">
                <a:solidFill>
                  <a:srgbClr val="E2E8F0"/>
                </a:solidFill>
                <a:latin typeface="Consolas"/>
                <a:ea typeface="Consolas"/>
                <a:cs typeface="Consolas"/>
              </a:rPr>
              <a:t>(</a:t>
            </a:r>
            <a:r>
              <a:rPr lang="en-US" sz="900" b="0" dirty="0">
                <a:solidFill>
                  <a:srgbClr val="F0A98B"/>
                </a:solidFill>
                <a:latin typeface="Consolas"/>
                <a:ea typeface="Consolas"/>
                <a:cs typeface="Consolas"/>
              </a:rPr>
              <a:t>"mona@bank.eg"</a:t>
            </a:r>
            <a:r>
              <a:rPr lang="en-US" sz="900" b="0" dirty="0">
                <a:solidFill>
                  <a:srgbClr val="E2E8F0"/>
                </a:solidFill>
                <a:latin typeface="Consolas"/>
                <a:ea typeface="Consolas"/>
                <a:cs typeface="Consolas"/>
              </a:rPr>
              <a:t>, </a:t>
            </a:r>
            <a:r>
              <a:rPr lang="en-US" sz="900" b="0" dirty="0">
                <a:solidFill>
                  <a:srgbClr val="C4B5FD"/>
                </a:solidFill>
                <a:latin typeface="Consolas"/>
                <a:ea typeface="Consolas"/>
                <a:cs typeface="Consolas"/>
              </a:rPr>
              <a:t>250m</a:t>
            </a:r>
            <a:r>
              <a:rPr lang="en-US" sz="900" b="0" dirty="0">
                <a:solidFill>
                  <a:srgbClr val="E2E8F0"/>
                </a:solidFill>
                <a:latin typeface="Consolas"/>
                <a:ea typeface="Consolas"/>
                <a:cs typeface="Consolas"/>
              </a:rPr>
              <a:t>));</a:t>
            </a:r>
            <a:endParaRPr lang="en-US" sz="900" dirty="0"/>
          </a:p>
        </p:txBody>
      </p:sp>
      <p:sp>
        <p:nvSpPr>
          <p:cNvPr id="132" name="s132"/>
          <p:cNvSpPr/>
          <p:nvPr/>
        </p:nvSpPr>
        <p:spPr>
          <a:xfrm>
            <a:off x="4703674" y="518464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logger.</a:t>
            </a:r>
            <a:r>
              <a:rPr lang="en-US" sz="900" b="0" dirty="0">
                <a:solidFill>
                  <a:srgbClr val="7DD3FC"/>
                </a:solidFill>
                <a:latin typeface="Consolas"/>
                <a:ea typeface="Consolas"/>
                <a:cs typeface="Consolas"/>
              </a:rPr>
              <a:t>Received</a:t>
            </a:r>
            <a:r>
              <a:rPr lang="en-US" sz="900" b="0" dirty="0">
                <a:solidFill>
                  <a:srgbClr val="E2E8F0"/>
                </a:solidFill>
                <a:latin typeface="Consolas"/>
                <a:ea typeface="Consolas"/>
                <a:cs typeface="Consolas"/>
              </a:rPr>
              <a:t>(</a:t>
            </a:r>
            <a:r>
              <a:rPr lang="en-US" sz="900" b="0" dirty="0">
                <a:solidFill>
                  <a:srgbClr val="C4B5FD"/>
                </a:solidFill>
                <a:latin typeface="Consolas"/>
                <a:ea typeface="Consolas"/>
                <a:cs typeface="Consolas"/>
              </a:rPr>
              <a:t>1</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Error</a:t>
            </a:r>
            <a:r>
              <a:rPr lang="en-US" sz="900" b="0" dirty="0">
                <a:solidFill>
                  <a:srgbClr val="E2E8F0"/>
                </a:solidFill>
                <a:latin typeface="Consolas"/>
                <a:ea typeface="Consolas"/>
                <a:cs typeface="Consolas"/>
              </a:rPr>
              <a:t>(</a:t>
            </a:r>
            <a:r>
              <a:rPr lang="en-US" sz="900" b="0" dirty="0">
                <a:solidFill>
                  <a:srgbClr val="F0A98B"/>
                </a:solidFill>
                <a:latin typeface="Consolas"/>
                <a:ea typeface="Consolas"/>
                <a:cs typeface="Consolas"/>
              </a:rPr>
              <a:t>"Receipt to mona@bank.eg failed"</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Arg</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Any</a:t>
            </a:r>
            <a:r>
              <a:rPr lang="en-US" sz="900" b="0" dirty="0">
                <a:solidFill>
                  <a:srgbClr val="E2E8F0"/>
                </a:solidFill>
                <a:latin typeface="Consolas"/>
                <a:ea typeface="Consolas"/>
                <a:cs typeface="Consolas"/>
              </a:rPr>
              <a:t>&lt;</a:t>
            </a:r>
            <a:r>
              <a:rPr lang="en-US" sz="900" b="0" dirty="0">
                <a:solidFill>
                  <a:srgbClr val="7DD3FC"/>
                </a:solidFill>
                <a:latin typeface="Consolas"/>
                <a:ea typeface="Consolas"/>
                <a:cs typeface="Consolas"/>
              </a:rPr>
              <a:t>TimeoutException</a:t>
            </a:r>
            <a:r>
              <a:rPr lang="en-US" sz="900" b="0" dirty="0">
                <a:solidFill>
                  <a:srgbClr val="E2E8F0"/>
                </a:solidFill>
                <a:latin typeface="Consolas"/>
                <a:ea typeface="Consolas"/>
                <a:cs typeface="Consolas"/>
              </a:rPr>
              <a:t>&gt;());</a:t>
            </a:r>
            <a:endParaRPr lang="en-US" sz="900" dirty="0"/>
          </a:p>
        </p:txBody>
      </p:sp>
      <p:sp>
        <p:nvSpPr>
          <p:cNvPr id="133" name="s133"/>
          <p:cNvSpPr/>
          <p:nvPr/>
        </p:nvSpPr>
        <p:spPr>
          <a:xfrm>
            <a:off x="4703674" y="5321808"/>
            <a:ext cx="6927494"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a:t>
            </a:r>
            <a:endParaRPr lang="en-US" sz="900" dirty="0"/>
          </a:p>
        </p:txBody>
      </p:sp>
      <p:sp>
        <p:nvSpPr>
          <p:cNvPr id="134" name="s134"/>
          <p:cNvSpPr/>
          <p:nvPr/>
        </p:nvSpPr>
        <p:spPr>
          <a:xfrm>
            <a:off x="4813402" y="4745736"/>
            <a:ext cx="6708038" cy="19202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35" name="s135"/>
          <p:cNvSpPr/>
          <p:nvPr/>
        </p:nvSpPr>
        <p:spPr>
          <a:xfrm>
            <a:off x="4813402" y="5157216"/>
            <a:ext cx="6708038" cy="19202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anim calcmode="lin" valueType="num">
                                      <p:cBhvr additive="base">
                                        <p:cTn id="14" dur="500" decel="100000" fill="hold"/>
                                        <p:tgtEl>
                                          <p:spTgt spid="103"/>
                                        </p:tgtEl>
                                        <p:attrNameLst>
                                          <p:attrName>ppt_x</p:attrName>
                                        </p:attrNameLst>
                                      </p:cBhvr>
                                      <p:tavLst>
                                        <p:tav tm="0">
                                          <p:val>
                                            <p:strVal val="#ppt_x-0.05"/>
                                          </p:val>
                                        </p:tav>
                                        <p:tav tm="100000">
                                          <p:val>
                                            <p:strVal val="#ppt_x"/>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17"/>
                                        </p:tgtEl>
                                        <p:attrNameLst>
                                          <p:attrName>style.visibility</p:attrName>
                                        </p:attrNameLst>
                                      </p:cBhvr>
                                      <p:to>
                                        <p:strVal val="visible"/>
                                      </p:to>
                                    </p:set>
                                    <p:animEffect transition="in" filter="fade">
                                      <p:cBhvr>
                                        <p:cTn id="69" dur="500"/>
                                        <p:tgtEl>
                                          <p:spTgt spid="117"/>
                                        </p:tgtEl>
                                      </p:cBhvr>
                                    </p:animEffect>
                                    <p:anim calcmode="lin" valueType="num">
                                      <p:cBhvr additive="base">
                                        <p:cTn id="70" dur="500" decel="100000" fill="hold"/>
                                        <p:tgtEl>
                                          <p:spTgt spid="117"/>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118"/>
                                        </p:tgtEl>
                                        <p:attrNameLst>
                                          <p:attrName>style.visibility</p:attrName>
                                        </p:attrNameLst>
                                      </p:cBhvr>
                                      <p:to>
                                        <p:strVal val="visible"/>
                                      </p:to>
                                    </p:set>
                                    <p:animEffect transition="in" filter="fade">
                                      <p:cBhvr>
                                        <p:cTn id="73" dur="500"/>
                                        <p:tgtEl>
                                          <p:spTgt spid="118"/>
                                        </p:tgtEl>
                                      </p:cBhvr>
                                    </p:animEffect>
                                    <p:anim calcmode="lin" valueType="num">
                                      <p:cBhvr additive="base">
                                        <p:cTn id="74" dur="500" decel="100000" fill="hold"/>
                                        <p:tgtEl>
                                          <p:spTgt spid="118"/>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119"/>
                                        </p:tgtEl>
                                        <p:attrNameLst>
                                          <p:attrName>style.visibility</p:attrName>
                                        </p:attrNameLst>
                                      </p:cBhvr>
                                      <p:to>
                                        <p:strVal val="visible"/>
                                      </p:to>
                                    </p:set>
                                    <p:animEffect transition="in" filter="fade">
                                      <p:cBhvr>
                                        <p:cTn id="77" dur="500"/>
                                        <p:tgtEl>
                                          <p:spTgt spid="119"/>
                                        </p:tgtEl>
                                      </p:cBhvr>
                                    </p:animEffect>
                                    <p:anim calcmode="lin" valueType="num">
                                      <p:cBhvr additive="base">
                                        <p:cTn id="78" dur="500" decel="100000" fill="hold"/>
                                        <p:tgtEl>
                                          <p:spTgt spid="119"/>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20"/>
                                        </p:tgtEl>
                                        <p:attrNameLst>
                                          <p:attrName>style.visibility</p:attrName>
                                        </p:attrNameLst>
                                      </p:cBhvr>
                                      <p:to>
                                        <p:strVal val="visible"/>
                                      </p:to>
                                    </p:set>
                                    <p:animEffect transition="in" filter="fade">
                                      <p:cBhvr>
                                        <p:cTn id="81" dur="500"/>
                                        <p:tgtEl>
                                          <p:spTgt spid="120"/>
                                        </p:tgtEl>
                                      </p:cBhvr>
                                    </p:animEffect>
                                    <p:anim calcmode="lin" valueType="num">
                                      <p:cBhvr additive="base">
                                        <p:cTn id="82" dur="500" decel="100000" fill="hold"/>
                                        <p:tgtEl>
                                          <p:spTgt spid="120"/>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21"/>
                                        </p:tgtEl>
                                        <p:attrNameLst>
                                          <p:attrName>style.visibility</p:attrName>
                                        </p:attrNameLst>
                                      </p:cBhvr>
                                      <p:to>
                                        <p:strVal val="visible"/>
                                      </p:to>
                                    </p:set>
                                    <p:animEffect transition="in" filter="fade">
                                      <p:cBhvr>
                                        <p:cTn id="85" dur="500"/>
                                        <p:tgtEl>
                                          <p:spTgt spid="121"/>
                                        </p:tgtEl>
                                      </p:cBhvr>
                                    </p:animEffect>
                                    <p:anim calcmode="lin" valueType="num">
                                      <p:cBhvr additive="base">
                                        <p:cTn id="86" dur="500" decel="100000" fill="hold"/>
                                        <p:tgtEl>
                                          <p:spTgt spid="121"/>
                                        </p:tgtEl>
                                        <p:attrNameLst>
                                          <p:attrName>ppt_y</p:attrName>
                                        </p:attrNameLst>
                                      </p:cBhvr>
                                      <p:tavLst>
                                        <p:tav tm="0">
                                          <p:val>
                                            <p:strVal val="#ppt_y+0.06"/>
                                          </p:val>
                                        </p:tav>
                                        <p:tav tm="100000">
                                          <p:val>
                                            <p:strVal val="#ppt_y"/>
                                          </p:val>
                                        </p:tav>
                                      </p:tavLst>
                                    </p:anim>
                                  </p:childTnLst>
                                </p:cTn>
                              </p:par>
                              <p:par>
                                <p:cTn id="87" presetID="42" presetClass="entr" presetSubtype="0" fill="hold" nodeType="withEffect">
                                  <p:stCondLst>
                                    <p:cond delay="0"/>
                                  </p:stCondLst>
                                  <p:childTnLst>
                                    <p:set>
                                      <p:cBhvr>
                                        <p:cTn id="88" dur="1" fill="hold">
                                          <p:stCondLst>
                                            <p:cond delay="0"/>
                                          </p:stCondLst>
                                        </p:cTn>
                                        <p:tgtEl>
                                          <p:spTgt spid="122"/>
                                        </p:tgtEl>
                                        <p:attrNameLst>
                                          <p:attrName>style.visibility</p:attrName>
                                        </p:attrNameLst>
                                      </p:cBhvr>
                                      <p:to>
                                        <p:strVal val="visible"/>
                                      </p:to>
                                    </p:set>
                                    <p:animEffect transition="in" filter="fade">
                                      <p:cBhvr>
                                        <p:cTn id="89" dur="500"/>
                                        <p:tgtEl>
                                          <p:spTgt spid="122"/>
                                        </p:tgtEl>
                                      </p:cBhvr>
                                    </p:animEffect>
                                    <p:anim calcmode="lin" valueType="num">
                                      <p:cBhvr additive="base">
                                        <p:cTn id="90" dur="500" decel="100000" fill="hold"/>
                                        <p:tgtEl>
                                          <p:spTgt spid="122"/>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3"/>
                                        </p:tgtEl>
                                        <p:attrNameLst>
                                          <p:attrName>style.visibility</p:attrName>
                                        </p:attrNameLst>
                                      </p:cBhvr>
                                      <p:to>
                                        <p:strVal val="visible"/>
                                      </p:to>
                                    </p:set>
                                    <p:animEffect transition="in" filter="fade">
                                      <p:cBhvr>
                                        <p:cTn id="93" dur="500"/>
                                        <p:tgtEl>
                                          <p:spTgt spid="123"/>
                                        </p:tgtEl>
                                      </p:cBhvr>
                                    </p:animEffect>
                                    <p:anim calcmode="lin" valueType="num">
                                      <p:cBhvr additive="base">
                                        <p:cTn id="94" dur="500" decel="100000" fill="hold"/>
                                        <p:tgtEl>
                                          <p:spTgt spid="123"/>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4"/>
                                        </p:tgtEl>
                                        <p:attrNameLst>
                                          <p:attrName>style.visibility</p:attrName>
                                        </p:attrNameLst>
                                      </p:cBhvr>
                                      <p:to>
                                        <p:strVal val="visible"/>
                                      </p:to>
                                    </p:set>
                                    <p:animEffect transition="in" filter="fade">
                                      <p:cBhvr>
                                        <p:cTn id="97" dur="500"/>
                                        <p:tgtEl>
                                          <p:spTgt spid="124"/>
                                        </p:tgtEl>
                                      </p:cBhvr>
                                    </p:animEffect>
                                    <p:anim calcmode="lin" valueType="num">
                                      <p:cBhvr additive="base">
                                        <p:cTn id="98" dur="500" decel="100000" fill="hold"/>
                                        <p:tgtEl>
                                          <p:spTgt spid="124"/>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5"/>
                                        </p:tgtEl>
                                        <p:attrNameLst>
                                          <p:attrName>style.visibility</p:attrName>
                                        </p:attrNameLst>
                                      </p:cBhvr>
                                      <p:to>
                                        <p:strVal val="visible"/>
                                      </p:to>
                                    </p:set>
                                    <p:animEffect transition="in" filter="fade">
                                      <p:cBhvr>
                                        <p:cTn id="101" dur="500"/>
                                        <p:tgtEl>
                                          <p:spTgt spid="125"/>
                                        </p:tgtEl>
                                      </p:cBhvr>
                                    </p:animEffect>
                                    <p:anim calcmode="lin" valueType="num">
                                      <p:cBhvr additive="base">
                                        <p:cTn id="102" dur="500" decel="100000" fill="hold"/>
                                        <p:tgtEl>
                                          <p:spTgt spid="125"/>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6"/>
                                        </p:tgtEl>
                                        <p:attrNameLst>
                                          <p:attrName>style.visibility</p:attrName>
                                        </p:attrNameLst>
                                      </p:cBhvr>
                                      <p:to>
                                        <p:strVal val="visible"/>
                                      </p:to>
                                    </p:set>
                                    <p:animEffect transition="in" filter="fade">
                                      <p:cBhvr>
                                        <p:cTn id="105" dur="500"/>
                                        <p:tgtEl>
                                          <p:spTgt spid="126"/>
                                        </p:tgtEl>
                                      </p:cBhvr>
                                    </p:animEffect>
                                    <p:anim calcmode="lin" valueType="num">
                                      <p:cBhvr additive="base">
                                        <p:cTn id="106" dur="500" decel="100000" fill="hold"/>
                                        <p:tgtEl>
                                          <p:spTgt spid="126"/>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7"/>
                                        </p:tgtEl>
                                        <p:attrNameLst>
                                          <p:attrName>style.visibility</p:attrName>
                                        </p:attrNameLst>
                                      </p:cBhvr>
                                      <p:to>
                                        <p:strVal val="visible"/>
                                      </p:to>
                                    </p:set>
                                    <p:animEffect transition="in" filter="fade">
                                      <p:cBhvr>
                                        <p:cTn id="109" dur="500"/>
                                        <p:tgtEl>
                                          <p:spTgt spid="127"/>
                                        </p:tgtEl>
                                      </p:cBhvr>
                                    </p:animEffect>
                                    <p:anim calcmode="lin" valueType="num">
                                      <p:cBhvr additive="base">
                                        <p:cTn id="110" dur="500" decel="100000" fill="hold"/>
                                        <p:tgtEl>
                                          <p:spTgt spid="127"/>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8"/>
                                        </p:tgtEl>
                                        <p:attrNameLst>
                                          <p:attrName>style.visibility</p:attrName>
                                        </p:attrNameLst>
                                      </p:cBhvr>
                                      <p:to>
                                        <p:strVal val="visible"/>
                                      </p:to>
                                    </p:set>
                                    <p:animEffect transition="in" filter="fade">
                                      <p:cBhvr>
                                        <p:cTn id="113" dur="500"/>
                                        <p:tgtEl>
                                          <p:spTgt spid="128"/>
                                        </p:tgtEl>
                                      </p:cBhvr>
                                    </p:animEffect>
                                    <p:anim calcmode="lin" valueType="num">
                                      <p:cBhvr additive="base">
                                        <p:cTn id="114" dur="500" decel="100000" fill="hold"/>
                                        <p:tgtEl>
                                          <p:spTgt spid="128"/>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9"/>
                                        </p:tgtEl>
                                        <p:attrNameLst>
                                          <p:attrName>style.visibility</p:attrName>
                                        </p:attrNameLst>
                                      </p:cBhvr>
                                      <p:to>
                                        <p:strVal val="visible"/>
                                      </p:to>
                                    </p:set>
                                    <p:animEffect transition="in" filter="fade">
                                      <p:cBhvr>
                                        <p:cTn id="117" dur="500"/>
                                        <p:tgtEl>
                                          <p:spTgt spid="129"/>
                                        </p:tgtEl>
                                      </p:cBhvr>
                                    </p:animEffect>
                                    <p:anim calcmode="lin" valueType="num">
                                      <p:cBhvr additive="base">
                                        <p:cTn id="118" dur="500" decel="100000" fill="hold"/>
                                        <p:tgtEl>
                                          <p:spTgt spid="129"/>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30"/>
                                        </p:tgtEl>
                                        <p:attrNameLst>
                                          <p:attrName>style.visibility</p:attrName>
                                        </p:attrNameLst>
                                      </p:cBhvr>
                                      <p:to>
                                        <p:strVal val="visible"/>
                                      </p:to>
                                    </p:set>
                                    <p:animEffect transition="in" filter="fade">
                                      <p:cBhvr>
                                        <p:cTn id="121" dur="500"/>
                                        <p:tgtEl>
                                          <p:spTgt spid="130"/>
                                        </p:tgtEl>
                                      </p:cBhvr>
                                    </p:animEffect>
                                    <p:anim calcmode="lin" valueType="num">
                                      <p:cBhvr additive="base">
                                        <p:cTn id="122" dur="500" decel="100000" fill="hold"/>
                                        <p:tgtEl>
                                          <p:spTgt spid="130"/>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31"/>
                                        </p:tgtEl>
                                        <p:attrNameLst>
                                          <p:attrName>style.visibility</p:attrName>
                                        </p:attrNameLst>
                                      </p:cBhvr>
                                      <p:to>
                                        <p:strVal val="visible"/>
                                      </p:to>
                                    </p:set>
                                    <p:animEffect transition="in" filter="fade">
                                      <p:cBhvr>
                                        <p:cTn id="125" dur="500"/>
                                        <p:tgtEl>
                                          <p:spTgt spid="131"/>
                                        </p:tgtEl>
                                      </p:cBhvr>
                                    </p:animEffect>
                                    <p:anim calcmode="lin" valueType="num">
                                      <p:cBhvr additive="base">
                                        <p:cTn id="126" dur="500" decel="100000" fill="hold"/>
                                        <p:tgtEl>
                                          <p:spTgt spid="131"/>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32"/>
                                        </p:tgtEl>
                                        <p:attrNameLst>
                                          <p:attrName>style.visibility</p:attrName>
                                        </p:attrNameLst>
                                      </p:cBhvr>
                                      <p:to>
                                        <p:strVal val="visible"/>
                                      </p:to>
                                    </p:set>
                                    <p:animEffect transition="in" filter="fade">
                                      <p:cBhvr>
                                        <p:cTn id="129" dur="500"/>
                                        <p:tgtEl>
                                          <p:spTgt spid="132"/>
                                        </p:tgtEl>
                                      </p:cBhvr>
                                    </p:animEffect>
                                    <p:anim calcmode="lin" valueType="num">
                                      <p:cBhvr additive="base">
                                        <p:cTn id="130" dur="500" decel="100000" fill="hold"/>
                                        <p:tgtEl>
                                          <p:spTgt spid="132"/>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33"/>
                                        </p:tgtEl>
                                        <p:attrNameLst>
                                          <p:attrName>style.visibility</p:attrName>
                                        </p:attrNameLst>
                                      </p:cBhvr>
                                      <p:to>
                                        <p:strVal val="visible"/>
                                      </p:to>
                                    </p:set>
                                    <p:animEffect transition="in" filter="fade">
                                      <p:cBhvr>
                                        <p:cTn id="133" dur="500"/>
                                        <p:tgtEl>
                                          <p:spTgt spid="133"/>
                                        </p:tgtEl>
                                      </p:cBhvr>
                                    </p:animEffect>
                                    <p:anim calcmode="lin" valueType="num">
                                      <p:cBhvr additive="base">
                                        <p:cTn id="134" dur="500" decel="100000" fill="hold"/>
                                        <p:tgtEl>
                                          <p:spTgt spid="133"/>
                                        </p:tgtEl>
                                        <p:attrNameLst>
                                          <p:attrName>ppt_y</p:attrName>
                                        </p:attrNameLst>
                                      </p:cBhvr>
                                      <p:tavLst>
                                        <p:tav tm="0">
                                          <p:val>
                                            <p:strVal val="#ppt_y+0.06"/>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53" presetClass="entr" presetSubtype="16" fill="hold" grpId="0" nodeType="clickEffect">
                                  <p:stCondLst>
                                    <p:cond delay="0"/>
                                  </p:stCondLst>
                                  <p:childTnLst>
                                    <p:set>
                                      <p:cBhvr>
                                        <p:cTn id="138" dur="1" fill="hold">
                                          <p:stCondLst>
                                            <p:cond delay="0"/>
                                          </p:stCondLst>
                                        </p:cTn>
                                        <p:tgtEl>
                                          <p:spTgt spid="134"/>
                                        </p:tgtEl>
                                        <p:attrNameLst>
                                          <p:attrName>style.visibility</p:attrName>
                                        </p:attrNameLst>
                                      </p:cBhvr>
                                      <p:to>
                                        <p:strVal val="visible"/>
                                      </p:to>
                                    </p:set>
                                    <p:anim calcmode="lin" valueType="num">
                                      <p:cBhvr additive="base">
                                        <p:cTn id="139" dur="500" decel="100000" fill="hold"/>
                                        <p:tgtEl>
                                          <p:spTgt spid="134"/>
                                        </p:tgtEl>
                                        <p:attrNameLst>
                                          <p:attrName>ppt_w</p:attrName>
                                        </p:attrNameLst>
                                      </p:cBhvr>
                                      <p:tavLst>
                                        <p:tav tm="0">
                                          <p:val>
                                            <p:strVal val="#ppt_w*0.3"/>
                                          </p:val>
                                        </p:tav>
                                        <p:tav tm="100000">
                                          <p:val>
                                            <p:strVal val="#ppt_w*1.08"/>
                                          </p:val>
                                        </p:tav>
                                      </p:tavLst>
                                    </p:anim>
                                    <p:anim calcmode="lin" valueType="num">
                                      <p:cBhvr additive="base">
                                        <p:cTn id="140" dur="500" decel="100000" fill="hold"/>
                                        <p:tgtEl>
                                          <p:spTgt spid="134"/>
                                        </p:tgtEl>
                                        <p:attrNameLst>
                                          <p:attrName>ppt_h</p:attrName>
                                        </p:attrNameLst>
                                      </p:cBhvr>
                                      <p:tavLst>
                                        <p:tav tm="0">
                                          <p:val>
                                            <p:strVal val="#ppt_h*0.3"/>
                                          </p:val>
                                        </p:tav>
                                        <p:tav tm="100000">
                                          <p:val>
                                            <p:strVal val="#ppt_h*1.08"/>
                                          </p:val>
                                        </p:tav>
                                      </p:tavLst>
                                    </p:anim>
                                    <p:animEffect transition="in" filter="fade">
                                      <p:cBhvr>
                                        <p:cTn id="141" dur="250"/>
                                        <p:tgtEl>
                                          <p:spTgt spid="134"/>
                                        </p:tgtEl>
                                      </p:cBhvr>
                                    </p:animEffect>
                                    <p:anim calcmode="lin" valueType="num">
                                      <p:cBhvr additive="base">
                                        <p:cTn id="142" dur="160" fill="hold">
                                          <p:stCondLst>
                                            <p:cond delay="500"/>
                                          </p:stCondLst>
                                        </p:cTn>
                                        <p:tgtEl>
                                          <p:spTgt spid="134"/>
                                        </p:tgtEl>
                                        <p:attrNameLst>
                                          <p:attrName>ppt_w</p:attrName>
                                        </p:attrNameLst>
                                      </p:cBhvr>
                                      <p:tavLst>
                                        <p:tav tm="0">
                                          <p:val>
                                            <p:strVal val="#ppt_w*1.08"/>
                                          </p:val>
                                        </p:tav>
                                        <p:tav tm="100000">
                                          <p:val>
                                            <p:strVal val="#ppt_w"/>
                                          </p:val>
                                        </p:tav>
                                      </p:tavLst>
                                    </p:anim>
                                    <p:anim calcmode="lin" valueType="num">
                                      <p:cBhvr additive="base">
                                        <p:cTn id="143" dur="160" fill="hold">
                                          <p:stCondLst>
                                            <p:cond delay="500"/>
                                          </p:stCondLst>
                                        </p:cTn>
                                        <p:tgtEl>
                                          <p:spTgt spid="134"/>
                                        </p:tgtEl>
                                        <p:attrNameLst>
                                          <p:attrName>ppt_h</p:attrName>
                                        </p:attrNameLst>
                                      </p:cBhvr>
                                      <p:tavLst>
                                        <p:tav tm="0">
                                          <p:val>
                                            <p:strVal val="#ppt_h*1.08"/>
                                          </p:val>
                                        </p:tav>
                                        <p:tav tm="100000">
                                          <p:val>
                                            <p:strVal val="#ppt_h"/>
                                          </p:val>
                                        </p:tav>
                                      </p:tavLst>
                                    </p:anim>
                                  </p:childTnLst>
                                </p:cTn>
                              </p:par>
                            </p:childTnLst>
                          </p:cTn>
                        </p:par>
                      </p:childTnLst>
                    </p:cTn>
                  </p:par>
                  <p:par>
                    <p:cTn id="144" fill="hold">
                      <p:stCondLst>
                        <p:cond delay="indefinite"/>
                      </p:stCondLst>
                      <p:childTnLst>
                        <p:par>
                          <p:cTn id="145" fill="hold">
                            <p:stCondLst>
                              <p:cond delay="0"/>
                            </p:stCondLst>
                            <p:childTnLst>
                              <p:par>
                                <p:cTn id="146" presetID="53" presetClass="entr" presetSubtype="16" fill="hold" grpId="0" nodeType="clickEffect">
                                  <p:stCondLst>
                                    <p:cond delay="0"/>
                                  </p:stCondLst>
                                  <p:childTnLst>
                                    <p:set>
                                      <p:cBhvr>
                                        <p:cTn id="147" dur="1" fill="hold">
                                          <p:stCondLst>
                                            <p:cond delay="0"/>
                                          </p:stCondLst>
                                        </p:cTn>
                                        <p:tgtEl>
                                          <p:spTgt spid="135"/>
                                        </p:tgtEl>
                                        <p:attrNameLst>
                                          <p:attrName>style.visibility</p:attrName>
                                        </p:attrNameLst>
                                      </p:cBhvr>
                                      <p:to>
                                        <p:strVal val="visible"/>
                                      </p:to>
                                    </p:set>
                                    <p:anim calcmode="lin" valueType="num">
                                      <p:cBhvr additive="base">
                                        <p:cTn id="148" dur="500" decel="100000" fill="hold"/>
                                        <p:tgtEl>
                                          <p:spTgt spid="135"/>
                                        </p:tgtEl>
                                        <p:attrNameLst>
                                          <p:attrName>ppt_w</p:attrName>
                                        </p:attrNameLst>
                                      </p:cBhvr>
                                      <p:tavLst>
                                        <p:tav tm="0">
                                          <p:val>
                                            <p:strVal val="#ppt_w*0.3"/>
                                          </p:val>
                                        </p:tav>
                                        <p:tav tm="100000">
                                          <p:val>
                                            <p:strVal val="#ppt_w*1.08"/>
                                          </p:val>
                                        </p:tav>
                                      </p:tavLst>
                                    </p:anim>
                                    <p:anim calcmode="lin" valueType="num">
                                      <p:cBhvr additive="base">
                                        <p:cTn id="149" dur="500" decel="100000" fill="hold"/>
                                        <p:tgtEl>
                                          <p:spTgt spid="135"/>
                                        </p:tgtEl>
                                        <p:attrNameLst>
                                          <p:attrName>ppt_h</p:attrName>
                                        </p:attrNameLst>
                                      </p:cBhvr>
                                      <p:tavLst>
                                        <p:tav tm="0">
                                          <p:val>
                                            <p:strVal val="#ppt_h*0.3"/>
                                          </p:val>
                                        </p:tav>
                                        <p:tav tm="100000">
                                          <p:val>
                                            <p:strVal val="#ppt_h*1.08"/>
                                          </p:val>
                                        </p:tav>
                                      </p:tavLst>
                                    </p:anim>
                                    <p:animEffect transition="in" filter="fade">
                                      <p:cBhvr>
                                        <p:cTn id="150" dur="250"/>
                                        <p:tgtEl>
                                          <p:spTgt spid="135"/>
                                        </p:tgtEl>
                                      </p:cBhvr>
                                    </p:animEffect>
                                    <p:anim calcmode="lin" valueType="num">
                                      <p:cBhvr additive="base">
                                        <p:cTn id="151" dur="160" fill="hold">
                                          <p:stCondLst>
                                            <p:cond delay="500"/>
                                          </p:stCondLst>
                                        </p:cTn>
                                        <p:tgtEl>
                                          <p:spTgt spid="135"/>
                                        </p:tgtEl>
                                        <p:attrNameLst>
                                          <p:attrName>ppt_w</p:attrName>
                                        </p:attrNameLst>
                                      </p:cBhvr>
                                      <p:tavLst>
                                        <p:tav tm="0">
                                          <p:val>
                                            <p:strVal val="#ppt_w*1.08"/>
                                          </p:val>
                                        </p:tav>
                                        <p:tav tm="100000">
                                          <p:val>
                                            <p:strVal val="#ppt_w"/>
                                          </p:val>
                                        </p:tav>
                                      </p:tavLst>
                                    </p:anim>
                                    <p:anim calcmode="lin" valueType="num">
                                      <p:cBhvr additive="base">
                                        <p:cTn id="152" dur="160" fill="hold">
                                          <p:stCondLst>
                                            <p:cond delay="500"/>
                                          </p:stCondLst>
                                        </p:cTn>
                                        <p:tgtEl>
                                          <p:spTgt spid="135"/>
                                        </p:tgtEl>
                                        <p:attrNameLst>
                                          <p:attrName>ppt_h</p:attrName>
                                        </p:attrNameLst>
                                      </p:cBhvr>
                                      <p:tavLst>
                                        <p:tav tm="0">
                                          <p:val>
                                            <p:strVal val="#ppt_h*1.08"/>
                                          </p:val>
                                        </p:tav>
                                        <p:tav tm="100000">
                                          <p:val>
                                            <p:strVal val="#ppt_h"/>
                                          </p:val>
                                        </p:tav>
                                      </p:tavLst>
                                    </p:anim>
                                  </p:childTnLst>
                                </p:cTn>
                              </p:par>
                            </p:childTnLst>
                          </p:cTn>
                        </p:par>
                      </p:childTnLst>
                    </p:cTn>
                  </p:par>
                  <p:par>
                    <p:cTn id="153" fill="hold">
                      <p:stCondLst>
                        <p:cond delay="indefinite"/>
                      </p:stCondLst>
                      <p:childTnLst>
                        <p:par>
                          <p:cTn id="154" fill="hold">
                            <p:stCondLst>
                              <p:cond delay="0"/>
                            </p:stCondLst>
                            <p:childTnLst>
                              <p:par>
                                <p:cTn id="155" presetID="53" presetClass="entr" presetSubtype="16" fill="hold" grpId="0" nodeType="clickEffect">
                                  <p:stCondLst>
                                    <p:cond delay="0"/>
                                  </p:stCondLst>
                                  <p:childTnLst>
                                    <p:set>
                                      <p:cBhvr>
                                        <p:cTn id="156" dur="1" fill="hold">
                                          <p:stCondLst>
                                            <p:cond delay="0"/>
                                          </p:stCondLst>
                                        </p:cTn>
                                        <p:tgtEl>
                                          <p:spTgt spid="104"/>
                                        </p:tgtEl>
                                        <p:attrNameLst>
                                          <p:attrName>style.visibility</p:attrName>
                                        </p:attrNameLst>
                                      </p:cBhvr>
                                      <p:to>
                                        <p:strVal val="visible"/>
                                      </p:to>
                                    </p:set>
                                    <p:anim calcmode="lin" valueType="num">
                                      <p:cBhvr additive="base">
                                        <p:cTn id="157"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158" dur="500" decel="100000" fill="hold"/>
                                        <p:tgtEl>
                                          <p:spTgt spid="104"/>
                                        </p:tgtEl>
                                        <p:attrNameLst>
                                          <p:attrName>ppt_h</p:attrName>
                                        </p:attrNameLst>
                                      </p:cBhvr>
                                      <p:tavLst>
                                        <p:tav tm="0">
                                          <p:val>
                                            <p:strVal val="#ppt_h*0.3"/>
                                          </p:val>
                                        </p:tav>
                                        <p:tav tm="100000">
                                          <p:val>
                                            <p:strVal val="#ppt_h*1.08"/>
                                          </p:val>
                                        </p:tav>
                                      </p:tavLst>
                                    </p:anim>
                                    <p:animEffect transition="in" filter="fade">
                                      <p:cBhvr>
                                        <p:cTn id="159" dur="250"/>
                                        <p:tgtEl>
                                          <p:spTgt spid="104"/>
                                        </p:tgtEl>
                                      </p:cBhvr>
                                    </p:animEffect>
                                    <p:anim calcmode="lin" valueType="num">
                                      <p:cBhvr additive="base">
                                        <p:cTn id="160"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161"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7" grpId="0" animBg="1"/>
      <p:bldP spid="108" grpId="0" animBg="1"/>
      <p:bldP spid="109"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068019"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STUB + MOCK</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Stub + Mock in One Test: The Real Picture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Find(…).Returns(…) is a STUB. Received(1).Send(…) is a MOCK. Same library, different jobs.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161</a:t>
            </a:r>
            <a:endParaRPr lang="en-US" sz="850" dirty="0"/>
          </a:p>
        </p:txBody>
      </p:sp>
      <p:sp>
        <p:nvSpPr>
          <p:cNvPr id="101" name="s101"/>
          <p:cNvSpPr/>
          <p:nvPr/>
        </p:nvSpPr>
        <p:spPr>
          <a:xfrm>
            <a:off x="543154" y="1783080"/>
            <a:ext cx="7498080" cy="3886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2938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2938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2938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5623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TransferServiceTests.cs</a:t>
            </a:r>
            <a:endParaRPr lang="en-US" sz="950" dirty="0"/>
          </a:p>
        </p:txBody>
      </p:sp>
      <p:cxnSp>
        <p:nvCxnSpPr>
          <p:cNvPr id="106" name="ln106"/>
          <p:cNvCxnSpPr/>
          <p:nvPr/>
        </p:nvCxnSpPr>
        <p:spPr>
          <a:xfrm>
            <a:off x="543154" y="2194560"/>
            <a:ext cx="7498080" cy="0"/>
          </a:xfrm>
          <a:prstGeom prst="line">
            <a:avLst/>
          </a:prstGeom>
          <a:ln w="9525">
            <a:solidFill>
              <a:srgbClr val="1E3A5F"/>
            </a:solidFill>
          </a:ln>
        </p:spPr>
      </p:cxnSp>
      <p:sp>
        <p:nvSpPr>
          <p:cNvPr id="107" name="s107"/>
          <p:cNvSpPr/>
          <p:nvPr/>
        </p:nvSpPr>
        <p:spPr>
          <a:xfrm>
            <a:off x="543154" y="231343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60A5FA"/>
                </a:solidFill>
                <a:latin typeface="Consolas"/>
                <a:ea typeface="Consolas"/>
                <a:cs typeface="Consolas"/>
              </a:rPr>
              <a:t>public</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class</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TransferServiceTests</a:t>
            </a:r>
            <a:endParaRPr lang="en-US" sz="850" dirty="0"/>
          </a:p>
        </p:txBody>
      </p:sp>
      <p:sp>
        <p:nvSpPr>
          <p:cNvPr id="108" name="s108"/>
          <p:cNvSpPr/>
          <p:nvPr/>
        </p:nvSpPr>
        <p:spPr>
          <a:xfrm>
            <a:off x="543154" y="244297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a:t>
            </a:r>
            <a:endParaRPr lang="en-US" sz="850" dirty="0"/>
          </a:p>
        </p:txBody>
      </p:sp>
      <p:sp>
        <p:nvSpPr>
          <p:cNvPr id="109" name="s109"/>
          <p:cNvSpPr/>
          <p:nvPr/>
        </p:nvSpPr>
        <p:spPr>
          <a:xfrm>
            <a:off x="543154" y="257251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private</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readonly</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IAccountRepository</a:t>
            </a:r>
            <a:r>
              <a:rPr lang="en-US" sz="850" b="0" dirty="0">
                <a:solidFill>
                  <a:srgbClr val="E2E8F0"/>
                </a:solidFill>
                <a:latin typeface="Consolas"/>
                <a:ea typeface="Consolas"/>
                <a:cs typeface="Consolas"/>
              </a:rPr>
              <a:t> _accounts = </a:t>
            </a:r>
            <a:r>
              <a:rPr lang="en-US" sz="850" b="0" dirty="0">
                <a:solidFill>
                  <a:srgbClr val="7DD3FC"/>
                </a:solidFill>
                <a:latin typeface="Consolas"/>
                <a:ea typeface="Consolas"/>
                <a:cs typeface="Consolas"/>
              </a:rPr>
              <a:t>Substitute</a:t>
            </a:r>
            <a:r>
              <a:rPr lang="en-US" sz="850" b="0" dirty="0">
                <a:solidFill>
                  <a:srgbClr val="E2E8F0"/>
                </a:solidFill>
                <a:latin typeface="Consolas"/>
                <a:ea typeface="Consolas"/>
                <a:cs typeface="Consolas"/>
              </a:rPr>
              <a:t>.</a:t>
            </a:r>
            <a:r>
              <a:rPr lang="en-US" sz="850" b="0" dirty="0">
                <a:solidFill>
                  <a:srgbClr val="7DD3FC"/>
                </a:solidFill>
                <a:latin typeface="Consolas"/>
                <a:ea typeface="Consolas"/>
                <a:cs typeface="Consolas"/>
              </a:rPr>
              <a:t>For</a:t>
            </a:r>
            <a:r>
              <a:rPr lang="en-US" sz="850" b="0" dirty="0">
                <a:solidFill>
                  <a:srgbClr val="E2E8F0"/>
                </a:solidFill>
                <a:latin typeface="Consolas"/>
                <a:ea typeface="Consolas"/>
                <a:cs typeface="Consolas"/>
              </a:rPr>
              <a:t>&lt;</a:t>
            </a:r>
            <a:r>
              <a:rPr lang="en-US" sz="850" b="0" dirty="0">
                <a:solidFill>
                  <a:srgbClr val="7DD3FC"/>
                </a:solidFill>
                <a:latin typeface="Consolas"/>
                <a:ea typeface="Consolas"/>
                <a:cs typeface="Consolas"/>
              </a:rPr>
              <a:t>IAccountRepository</a:t>
            </a:r>
            <a:r>
              <a:rPr lang="en-US" sz="850" b="0" dirty="0">
                <a:solidFill>
                  <a:srgbClr val="E2E8F0"/>
                </a:solidFill>
                <a:latin typeface="Consolas"/>
                <a:ea typeface="Consolas"/>
                <a:cs typeface="Consolas"/>
              </a:rPr>
              <a:t>&gt;();</a:t>
            </a:r>
            <a:endParaRPr lang="en-US" sz="850" dirty="0"/>
          </a:p>
        </p:txBody>
      </p:sp>
      <p:sp>
        <p:nvSpPr>
          <p:cNvPr id="110" name="s110"/>
          <p:cNvSpPr/>
          <p:nvPr/>
        </p:nvSpPr>
        <p:spPr>
          <a:xfrm>
            <a:off x="543154" y="270205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private</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readonly</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IEmailSender</a:t>
            </a:r>
            <a:r>
              <a:rPr lang="en-US" sz="850" b="0" dirty="0">
                <a:solidFill>
                  <a:srgbClr val="E2E8F0"/>
                </a:solidFill>
                <a:latin typeface="Consolas"/>
                <a:ea typeface="Consolas"/>
                <a:cs typeface="Consolas"/>
              </a:rPr>
              <a:t> _email = </a:t>
            </a:r>
            <a:r>
              <a:rPr lang="en-US" sz="850" b="0" dirty="0">
                <a:solidFill>
                  <a:srgbClr val="7DD3FC"/>
                </a:solidFill>
                <a:latin typeface="Consolas"/>
                <a:ea typeface="Consolas"/>
                <a:cs typeface="Consolas"/>
              </a:rPr>
              <a:t>Substitute</a:t>
            </a:r>
            <a:r>
              <a:rPr lang="en-US" sz="850" b="0" dirty="0">
                <a:solidFill>
                  <a:srgbClr val="E2E8F0"/>
                </a:solidFill>
                <a:latin typeface="Consolas"/>
                <a:ea typeface="Consolas"/>
                <a:cs typeface="Consolas"/>
              </a:rPr>
              <a:t>.</a:t>
            </a:r>
            <a:r>
              <a:rPr lang="en-US" sz="850" b="0" dirty="0">
                <a:solidFill>
                  <a:srgbClr val="7DD3FC"/>
                </a:solidFill>
                <a:latin typeface="Consolas"/>
                <a:ea typeface="Consolas"/>
                <a:cs typeface="Consolas"/>
              </a:rPr>
              <a:t>For</a:t>
            </a:r>
            <a:r>
              <a:rPr lang="en-US" sz="850" b="0" dirty="0">
                <a:solidFill>
                  <a:srgbClr val="E2E8F0"/>
                </a:solidFill>
                <a:latin typeface="Consolas"/>
                <a:ea typeface="Consolas"/>
                <a:cs typeface="Consolas"/>
              </a:rPr>
              <a:t>&lt;</a:t>
            </a:r>
            <a:r>
              <a:rPr lang="en-US" sz="850" b="0" dirty="0">
                <a:solidFill>
                  <a:srgbClr val="7DD3FC"/>
                </a:solidFill>
                <a:latin typeface="Consolas"/>
                <a:ea typeface="Consolas"/>
                <a:cs typeface="Consolas"/>
              </a:rPr>
              <a:t>IEmailSender</a:t>
            </a:r>
            <a:r>
              <a:rPr lang="en-US" sz="850" b="0" dirty="0">
                <a:solidFill>
                  <a:srgbClr val="E2E8F0"/>
                </a:solidFill>
                <a:latin typeface="Consolas"/>
                <a:ea typeface="Consolas"/>
                <a:cs typeface="Consolas"/>
              </a:rPr>
              <a:t>&gt;();</a:t>
            </a:r>
            <a:endParaRPr lang="en-US" sz="850" dirty="0"/>
          </a:p>
        </p:txBody>
      </p:sp>
      <p:sp>
        <p:nvSpPr>
          <p:cNvPr id="111" name="s111"/>
          <p:cNvSpPr/>
          <p:nvPr/>
        </p:nvSpPr>
        <p:spPr>
          <a:xfrm>
            <a:off x="543154" y="283159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private</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readonly</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ILogger</a:t>
            </a:r>
            <a:r>
              <a:rPr lang="en-US" sz="850" b="0" dirty="0">
                <a:solidFill>
                  <a:srgbClr val="E2E8F0"/>
                </a:solidFill>
                <a:latin typeface="Consolas"/>
                <a:ea typeface="Consolas"/>
                <a:cs typeface="Consolas"/>
              </a:rPr>
              <a:t> _logger = </a:t>
            </a:r>
            <a:r>
              <a:rPr lang="en-US" sz="850" b="0" dirty="0">
                <a:solidFill>
                  <a:srgbClr val="7DD3FC"/>
                </a:solidFill>
                <a:latin typeface="Consolas"/>
                <a:ea typeface="Consolas"/>
                <a:cs typeface="Consolas"/>
              </a:rPr>
              <a:t>Substitute</a:t>
            </a:r>
            <a:r>
              <a:rPr lang="en-US" sz="850" b="0" dirty="0">
                <a:solidFill>
                  <a:srgbClr val="E2E8F0"/>
                </a:solidFill>
                <a:latin typeface="Consolas"/>
                <a:ea typeface="Consolas"/>
                <a:cs typeface="Consolas"/>
              </a:rPr>
              <a:t>.</a:t>
            </a:r>
            <a:r>
              <a:rPr lang="en-US" sz="850" b="0" dirty="0">
                <a:solidFill>
                  <a:srgbClr val="7DD3FC"/>
                </a:solidFill>
                <a:latin typeface="Consolas"/>
                <a:ea typeface="Consolas"/>
                <a:cs typeface="Consolas"/>
              </a:rPr>
              <a:t>For</a:t>
            </a:r>
            <a:r>
              <a:rPr lang="en-US" sz="850" b="0" dirty="0">
                <a:solidFill>
                  <a:srgbClr val="E2E8F0"/>
                </a:solidFill>
                <a:latin typeface="Consolas"/>
                <a:ea typeface="Consolas"/>
                <a:cs typeface="Consolas"/>
              </a:rPr>
              <a:t>&lt;</a:t>
            </a:r>
            <a:r>
              <a:rPr lang="en-US" sz="850" b="0" dirty="0">
                <a:solidFill>
                  <a:srgbClr val="7DD3FC"/>
                </a:solidFill>
                <a:latin typeface="Consolas"/>
                <a:ea typeface="Consolas"/>
                <a:cs typeface="Consolas"/>
              </a:rPr>
              <a:t>ILogger</a:t>
            </a:r>
            <a:r>
              <a:rPr lang="en-US" sz="850" b="0" dirty="0">
                <a:solidFill>
                  <a:srgbClr val="E2E8F0"/>
                </a:solidFill>
                <a:latin typeface="Consolas"/>
                <a:ea typeface="Consolas"/>
                <a:cs typeface="Consolas"/>
              </a:rPr>
              <a:t>&gt;();</a:t>
            </a:r>
            <a:endParaRPr lang="en-US" sz="850" dirty="0"/>
          </a:p>
        </p:txBody>
      </p:sp>
      <p:sp>
        <p:nvSpPr>
          <p:cNvPr id="112" name="s112"/>
          <p:cNvSpPr/>
          <p:nvPr/>
        </p:nvSpPr>
        <p:spPr>
          <a:xfrm>
            <a:off x="543154" y="296113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private</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readonly</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BankAccount</a:t>
            </a:r>
            <a:r>
              <a:rPr lang="en-US" sz="850" b="0" dirty="0">
                <a:solidFill>
                  <a:srgbClr val="E2E8F0"/>
                </a:solidFill>
                <a:latin typeface="Consolas"/>
                <a:ea typeface="Consolas"/>
                <a:cs typeface="Consolas"/>
              </a:rPr>
              <a:t> _mona = </a:t>
            </a:r>
            <a:r>
              <a:rPr lang="en-US" sz="850" b="0" dirty="0">
                <a:solidFill>
                  <a:srgbClr val="60A5FA"/>
                </a:solidFill>
                <a:latin typeface="Consolas"/>
                <a:ea typeface="Consolas"/>
                <a:cs typeface="Consolas"/>
              </a:rPr>
              <a:t>new</a:t>
            </a:r>
            <a:r>
              <a:rPr lang="en-US" sz="850" b="0" dirty="0">
                <a:solidFill>
                  <a:srgbClr val="E2E8F0"/>
                </a:solidFill>
                <a:latin typeface="Consolas"/>
                <a:ea typeface="Consolas"/>
                <a:cs typeface="Consolas"/>
              </a:rPr>
              <a:t>(</a:t>
            </a:r>
            <a:r>
              <a:rPr lang="en-US" sz="850" b="0" dirty="0">
                <a:solidFill>
                  <a:srgbClr val="F0A98B"/>
                </a:solidFill>
                <a:latin typeface="Consolas"/>
                <a:ea typeface="Consolas"/>
                <a:cs typeface="Consolas"/>
              </a:rPr>
              <a:t>"mona@bank.eg"</a:t>
            </a:r>
            <a:r>
              <a:rPr lang="en-US" sz="850" b="0" dirty="0">
                <a:solidFill>
                  <a:srgbClr val="E2E8F0"/>
                </a:solidFill>
                <a:latin typeface="Consolas"/>
                <a:ea typeface="Consolas"/>
                <a:cs typeface="Consolas"/>
              </a:rPr>
              <a:t>, </a:t>
            </a:r>
            <a:r>
              <a:rPr lang="en-US" sz="850" b="0" dirty="0">
                <a:solidFill>
                  <a:srgbClr val="C4B5FD"/>
                </a:solidFill>
                <a:latin typeface="Consolas"/>
                <a:ea typeface="Consolas"/>
                <a:cs typeface="Consolas"/>
              </a:rPr>
              <a:t>500m</a:t>
            </a:r>
            <a:r>
              <a:rPr lang="en-US" sz="850" b="0" dirty="0">
                <a:solidFill>
                  <a:srgbClr val="E2E8F0"/>
                </a:solidFill>
                <a:latin typeface="Consolas"/>
                <a:ea typeface="Consolas"/>
                <a:cs typeface="Consolas"/>
              </a:rPr>
              <a:t>);</a:t>
            </a:r>
            <a:endParaRPr lang="en-US" sz="850" dirty="0"/>
          </a:p>
        </p:txBody>
      </p:sp>
      <p:sp>
        <p:nvSpPr>
          <p:cNvPr id="113" name="s113"/>
          <p:cNvSpPr/>
          <p:nvPr/>
        </p:nvSpPr>
        <p:spPr>
          <a:xfrm>
            <a:off x="543154" y="309067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private</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readonly</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BankAccount</a:t>
            </a:r>
            <a:r>
              <a:rPr lang="en-US" sz="850" b="0" dirty="0">
                <a:solidFill>
                  <a:srgbClr val="E2E8F0"/>
                </a:solidFill>
                <a:latin typeface="Consolas"/>
                <a:ea typeface="Consolas"/>
                <a:cs typeface="Consolas"/>
              </a:rPr>
              <a:t> _ali = </a:t>
            </a:r>
            <a:r>
              <a:rPr lang="en-US" sz="850" b="0" dirty="0">
                <a:solidFill>
                  <a:srgbClr val="60A5FA"/>
                </a:solidFill>
                <a:latin typeface="Consolas"/>
                <a:ea typeface="Consolas"/>
                <a:cs typeface="Consolas"/>
              </a:rPr>
              <a:t>new</a:t>
            </a:r>
            <a:r>
              <a:rPr lang="en-US" sz="850" b="0" dirty="0">
                <a:solidFill>
                  <a:srgbClr val="E2E8F0"/>
                </a:solidFill>
                <a:latin typeface="Consolas"/>
                <a:ea typeface="Consolas"/>
                <a:cs typeface="Consolas"/>
              </a:rPr>
              <a:t>(</a:t>
            </a:r>
            <a:r>
              <a:rPr lang="en-US" sz="850" b="0" dirty="0">
                <a:solidFill>
                  <a:srgbClr val="F0A98B"/>
                </a:solidFill>
                <a:latin typeface="Consolas"/>
                <a:ea typeface="Consolas"/>
                <a:cs typeface="Consolas"/>
              </a:rPr>
              <a:t>"ali@bank.eg"</a:t>
            </a:r>
            <a:r>
              <a:rPr lang="en-US" sz="850" b="0" dirty="0">
                <a:solidFill>
                  <a:srgbClr val="E2E8F0"/>
                </a:solidFill>
                <a:latin typeface="Consolas"/>
                <a:ea typeface="Consolas"/>
                <a:cs typeface="Consolas"/>
              </a:rPr>
              <a:t>, </a:t>
            </a:r>
            <a:r>
              <a:rPr lang="en-US" sz="850" b="0" dirty="0">
                <a:solidFill>
                  <a:srgbClr val="C4B5FD"/>
                </a:solidFill>
                <a:latin typeface="Consolas"/>
                <a:ea typeface="Consolas"/>
                <a:cs typeface="Consolas"/>
              </a:rPr>
              <a:t>50m</a:t>
            </a:r>
            <a:r>
              <a:rPr lang="en-US" sz="850" b="0" dirty="0">
                <a:solidFill>
                  <a:srgbClr val="E2E8F0"/>
                </a:solidFill>
                <a:latin typeface="Consolas"/>
                <a:ea typeface="Consolas"/>
                <a:cs typeface="Consolas"/>
              </a:rPr>
              <a:t>);</a:t>
            </a:r>
            <a:endParaRPr lang="en-US" sz="850" dirty="0"/>
          </a:p>
        </p:txBody>
      </p:sp>
      <p:sp>
        <p:nvSpPr>
          <p:cNvPr id="114" name="s114"/>
          <p:cNvSpPr/>
          <p:nvPr/>
        </p:nvSpPr>
        <p:spPr>
          <a:xfrm>
            <a:off x="543154" y="322021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private</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readonly</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TransferService</a:t>
            </a:r>
            <a:r>
              <a:rPr lang="en-US" sz="850" b="0" dirty="0">
                <a:solidFill>
                  <a:srgbClr val="E2E8F0"/>
                </a:solidFill>
                <a:latin typeface="Consolas"/>
                <a:ea typeface="Consolas"/>
                <a:cs typeface="Consolas"/>
              </a:rPr>
              <a:t> _service;</a:t>
            </a:r>
            <a:endParaRPr lang="en-US" sz="850" dirty="0"/>
          </a:p>
        </p:txBody>
      </p:sp>
      <p:sp>
        <p:nvSpPr>
          <p:cNvPr id="115" name="s115"/>
          <p:cNvSpPr/>
          <p:nvPr/>
        </p:nvSpPr>
        <p:spPr>
          <a:xfrm>
            <a:off x="543154" y="347929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public</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TransferServiceTests</a:t>
            </a:r>
            <a:r>
              <a:rPr lang="en-US" sz="850" b="0" dirty="0">
                <a:solidFill>
                  <a:srgbClr val="E2E8F0"/>
                </a:solidFill>
                <a:latin typeface="Consolas"/>
                <a:ea typeface="Consolas"/>
                <a:cs typeface="Consolas"/>
              </a:rPr>
              <a:t>()                        </a:t>
            </a:r>
            <a:r>
              <a:rPr lang="en-US" sz="850" b="0" dirty="0">
                <a:solidFill>
                  <a:srgbClr val="6FAE7A"/>
                </a:solidFill>
                <a:latin typeface="Consolas"/>
                <a:ea typeface="Consolas"/>
                <a:cs typeface="Consolas"/>
              </a:rPr>
              <a:t>// before EVERY test</a:t>
            </a:r>
            <a:endParaRPr lang="en-US" sz="850" dirty="0"/>
          </a:p>
        </p:txBody>
      </p:sp>
      <p:sp>
        <p:nvSpPr>
          <p:cNvPr id="116" name="s116"/>
          <p:cNvSpPr/>
          <p:nvPr/>
        </p:nvSpPr>
        <p:spPr>
          <a:xfrm>
            <a:off x="543154" y="360883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endParaRPr lang="en-US" sz="850" dirty="0"/>
          </a:p>
        </p:txBody>
      </p:sp>
      <p:sp>
        <p:nvSpPr>
          <p:cNvPr id="117" name="s117"/>
          <p:cNvSpPr/>
          <p:nvPr/>
        </p:nvSpPr>
        <p:spPr>
          <a:xfrm>
            <a:off x="543154" y="373837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_accounts.</a:t>
            </a:r>
            <a:r>
              <a:rPr lang="en-US" sz="850" b="0" dirty="0">
                <a:solidFill>
                  <a:srgbClr val="7DD3FC"/>
                </a:solidFill>
                <a:latin typeface="Consolas"/>
                <a:ea typeface="Consolas"/>
                <a:cs typeface="Consolas"/>
              </a:rPr>
              <a:t>Find</a:t>
            </a:r>
            <a:r>
              <a:rPr lang="en-US" sz="850" b="0" dirty="0">
                <a:solidFill>
                  <a:srgbClr val="E2E8F0"/>
                </a:solidFill>
                <a:latin typeface="Consolas"/>
                <a:ea typeface="Consolas"/>
                <a:cs typeface="Consolas"/>
              </a:rPr>
              <a:t>(</a:t>
            </a:r>
            <a:r>
              <a:rPr lang="en-US" sz="850" b="0" dirty="0">
                <a:solidFill>
                  <a:srgbClr val="F0A98B"/>
                </a:solidFill>
                <a:latin typeface="Consolas"/>
                <a:ea typeface="Consolas"/>
                <a:cs typeface="Consolas"/>
              </a:rPr>
              <a:t>"mona@bank.eg"</a:t>
            </a:r>
            <a:r>
              <a:rPr lang="en-US" sz="850" b="0" dirty="0">
                <a:solidFill>
                  <a:srgbClr val="E2E8F0"/>
                </a:solidFill>
                <a:latin typeface="Consolas"/>
                <a:ea typeface="Consolas"/>
                <a:cs typeface="Consolas"/>
              </a:rPr>
              <a:t>).</a:t>
            </a:r>
            <a:r>
              <a:rPr lang="en-US" sz="850" b="0" dirty="0">
                <a:solidFill>
                  <a:srgbClr val="7DD3FC"/>
                </a:solidFill>
                <a:latin typeface="Consolas"/>
                <a:ea typeface="Consolas"/>
                <a:cs typeface="Consolas"/>
              </a:rPr>
              <a:t>Returns</a:t>
            </a:r>
            <a:r>
              <a:rPr lang="en-US" sz="850" b="0" dirty="0">
                <a:solidFill>
                  <a:srgbClr val="E2E8F0"/>
                </a:solidFill>
                <a:latin typeface="Consolas"/>
                <a:ea typeface="Consolas"/>
                <a:cs typeface="Consolas"/>
              </a:rPr>
              <a:t>(_mona);   </a:t>
            </a:r>
            <a:r>
              <a:rPr lang="en-US" sz="850" b="0" dirty="0">
                <a:solidFill>
                  <a:srgbClr val="6FAE7A"/>
                </a:solidFill>
                <a:latin typeface="Consolas"/>
                <a:ea typeface="Consolas"/>
                <a:cs typeface="Consolas"/>
              </a:rPr>
              <a:t>// STUB</a:t>
            </a:r>
            <a:endParaRPr lang="en-US" sz="850" dirty="0"/>
          </a:p>
        </p:txBody>
      </p:sp>
      <p:sp>
        <p:nvSpPr>
          <p:cNvPr id="118" name="s118"/>
          <p:cNvSpPr/>
          <p:nvPr/>
        </p:nvSpPr>
        <p:spPr>
          <a:xfrm>
            <a:off x="543154" y="386791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_accounts.</a:t>
            </a:r>
            <a:r>
              <a:rPr lang="en-US" sz="850" b="0" dirty="0">
                <a:solidFill>
                  <a:srgbClr val="7DD3FC"/>
                </a:solidFill>
                <a:latin typeface="Consolas"/>
                <a:ea typeface="Consolas"/>
                <a:cs typeface="Consolas"/>
              </a:rPr>
              <a:t>Find</a:t>
            </a:r>
            <a:r>
              <a:rPr lang="en-US" sz="850" b="0" dirty="0">
                <a:solidFill>
                  <a:srgbClr val="E2E8F0"/>
                </a:solidFill>
                <a:latin typeface="Consolas"/>
                <a:ea typeface="Consolas"/>
                <a:cs typeface="Consolas"/>
              </a:rPr>
              <a:t>(</a:t>
            </a:r>
            <a:r>
              <a:rPr lang="en-US" sz="850" b="0" dirty="0">
                <a:solidFill>
                  <a:srgbClr val="F0A98B"/>
                </a:solidFill>
                <a:latin typeface="Consolas"/>
                <a:ea typeface="Consolas"/>
                <a:cs typeface="Consolas"/>
              </a:rPr>
              <a:t>"ali@bank.eg"</a:t>
            </a:r>
            <a:r>
              <a:rPr lang="en-US" sz="850" b="0" dirty="0">
                <a:solidFill>
                  <a:srgbClr val="E2E8F0"/>
                </a:solidFill>
                <a:latin typeface="Consolas"/>
                <a:ea typeface="Consolas"/>
                <a:cs typeface="Consolas"/>
              </a:rPr>
              <a:t>).</a:t>
            </a:r>
            <a:r>
              <a:rPr lang="en-US" sz="850" b="0" dirty="0">
                <a:solidFill>
                  <a:srgbClr val="7DD3FC"/>
                </a:solidFill>
                <a:latin typeface="Consolas"/>
                <a:ea typeface="Consolas"/>
                <a:cs typeface="Consolas"/>
              </a:rPr>
              <a:t>Returns</a:t>
            </a:r>
            <a:r>
              <a:rPr lang="en-US" sz="850" b="0" dirty="0">
                <a:solidFill>
                  <a:srgbClr val="E2E8F0"/>
                </a:solidFill>
                <a:latin typeface="Consolas"/>
                <a:ea typeface="Consolas"/>
                <a:cs typeface="Consolas"/>
              </a:rPr>
              <a:t>(_ali);</a:t>
            </a:r>
            <a:endParaRPr lang="en-US" sz="850" dirty="0"/>
          </a:p>
        </p:txBody>
      </p:sp>
      <p:sp>
        <p:nvSpPr>
          <p:cNvPr id="119" name="s119"/>
          <p:cNvSpPr/>
          <p:nvPr/>
        </p:nvSpPr>
        <p:spPr>
          <a:xfrm>
            <a:off x="543154" y="399745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_service = </a:t>
            </a:r>
            <a:r>
              <a:rPr lang="en-US" sz="850" b="0" dirty="0">
                <a:solidFill>
                  <a:srgbClr val="60A5FA"/>
                </a:solidFill>
                <a:latin typeface="Consolas"/>
                <a:ea typeface="Consolas"/>
                <a:cs typeface="Consolas"/>
              </a:rPr>
              <a:t>new</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TransferService</a:t>
            </a:r>
            <a:r>
              <a:rPr lang="en-US" sz="850" b="0" dirty="0">
                <a:solidFill>
                  <a:srgbClr val="E2E8F0"/>
                </a:solidFill>
                <a:latin typeface="Consolas"/>
                <a:ea typeface="Consolas"/>
                <a:cs typeface="Consolas"/>
              </a:rPr>
              <a:t>(_accounts, _email, _logger);</a:t>
            </a:r>
            <a:endParaRPr lang="en-US" sz="850" dirty="0"/>
          </a:p>
        </p:txBody>
      </p:sp>
      <p:sp>
        <p:nvSpPr>
          <p:cNvPr id="120" name="s120"/>
          <p:cNvSpPr/>
          <p:nvPr/>
        </p:nvSpPr>
        <p:spPr>
          <a:xfrm>
            <a:off x="543154" y="412699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endParaRPr lang="en-US" sz="850" dirty="0"/>
          </a:p>
        </p:txBody>
      </p:sp>
      <p:sp>
        <p:nvSpPr>
          <p:cNvPr id="121" name="s121"/>
          <p:cNvSpPr/>
          <p:nvPr/>
        </p:nvSpPr>
        <p:spPr>
          <a:xfrm>
            <a:off x="543154" y="438607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FBBF24"/>
                </a:solidFill>
                <a:latin typeface="Consolas"/>
                <a:ea typeface="Consolas"/>
                <a:cs typeface="Consolas"/>
              </a:rPr>
              <a:t>[Fact]</a:t>
            </a:r>
            <a:endParaRPr lang="en-US" sz="850" dirty="0"/>
          </a:p>
        </p:txBody>
      </p:sp>
      <p:sp>
        <p:nvSpPr>
          <p:cNvPr id="122" name="s122"/>
          <p:cNvSpPr/>
          <p:nvPr/>
        </p:nvSpPr>
        <p:spPr>
          <a:xfrm>
            <a:off x="543154" y="451561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public</a:t>
            </a:r>
            <a:r>
              <a:rPr lang="en-US" sz="850" b="0" dirty="0">
                <a:solidFill>
                  <a:srgbClr val="E2E8F0"/>
                </a:solidFill>
                <a:latin typeface="Consolas"/>
                <a:ea typeface="Consolas"/>
                <a:cs typeface="Consolas"/>
              </a:rPr>
              <a:t> </a:t>
            </a:r>
            <a:r>
              <a:rPr lang="en-US" sz="850" b="0" dirty="0">
                <a:solidFill>
                  <a:srgbClr val="60A5FA"/>
                </a:solidFill>
                <a:latin typeface="Consolas"/>
                <a:ea typeface="Consolas"/>
                <a:cs typeface="Consolas"/>
              </a:rPr>
              <a:t>void</a:t>
            </a: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Transfer_EmailsTheSender</a:t>
            </a:r>
            <a:r>
              <a:rPr lang="en-US" sz="850" b="0" dirty="0">
                <a:solidFill>
                  <a:srgbClr val="E2E8F0"/>
                </a:solidFill>
                <a:latin typeface="Consolas"/>
                <a:ea typeface="Consolas"/>
                <a:cs typeface="Consolas"/>
              </a:rPr>
              <a:t>()</a:t>
            </a:r>
            <a:endParaRPr lang="en-US" sz="850" dirty="0"/>
          </a:p>
        </p:txBody>
      </p:sp>
      <p:sp>
        <p:nvSpPr>
          <p:cNvPr id="123" name="s123"/>
          <p:cNvSpPr/>
          <p:nvPr/>
        </p:nvSpPr>
        <p:spPr>
          <a:xfrm>
            <a:off x="543154" y="464515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endParaRPr lang="en-US" sz="850" dirty="0"/>
          </a:p>
        </p:txBody>
      </p:sp>
      <p:sp>
        <p:nvSpPr>
          <p:cNvPr id="124" name="s124"/>
          <p:cNvSpPr/>
          <p:nvPr/>
        </p:nvSpPr>
        <p:spPr>
          <a:xfrm>
            <a:off x="543154" y="477469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_service.</a:t>
            </a:r>
            <a:r>
              <a:rPr lang="en-US" sz="850" b="0" dirty="0">
                <a:solidFill>
                  <a:srgbClr val="7DD3FC"/>
                </a:solidFill>
                <a:latin typeface="Consolas"/>
                <a:ea typeface="Consolas"/>
                <a:cs typeface="Consolas"/>
              </a:rPr>
              <a:t>Transfer</a:t>
            </a:r>
            <a:r>
              <a:rPr lang="en-US" sz="850" b="0" dirty="0">
                <a:solidFill>
                  <a:srgbClr val="E2E8F0"/>
                </a:solidFill>
                <a:latin typeface="Consolas"/>
                <a:ea typeface="Consolas"/>
                <a:cs typeface="Consolas"/>
              </a:rPr>
              <a:t>(</a:t>
            </a:r>
            <a:r>
              <a:rPr lang="en-US" sz="850" b="0" dirty="0">
                <a:solidFill>
                  <a:srgbClr val="F0A98B"/>
                </a:solidFill>
                <a:latin typeface="Consolas"/>
                <a:ea typeface="Consolas"/>
                <a:cs typeface="Consolas"/>
              </a:rPr>
              <a:t>"mona@bank.eg"</a:t>
            </a:r>
            <a:r>
              <a:rPr lang="en-US" sz="850" b="0" dirty="0">
                <a:solidFill>
                  <a:srgbClr val="E2E8F0"/>
                </a:solidFill>
                <a:latin typeface="Consolas"/>
                <a:ea typeface="Consolas"/>
                <a:cs typeface="Consolas"/>
              </a:rPr>
              <a:t>, </a:t>
            </a:r>
            <a:r>
              <a:rPr lang="en-US" sz="850" b="0" dirty="0">
                <a:solidFill>
                  <a:srgbClr val="F0A98B"/>
                </a:solidFill>
                <a:latin typeface="Consolas"/>
                <a:ea typeface="Consolas"/>
                <a:cs typeface="Consolas"/>
              </a:rPr>
              <a:t>"ali@bank.eg"</a:t>
            </a:r>
            <a:r>
              <a:rPr lang="en-US" sz="850" b="0" dirty="0">
                <a:solidFill>
                  <a:srgbClr val="E2E8F0"/>
                </a:solidFill>
                <a:latin typeface="Consolas"/>
                <a:ea typeface="Consolas"/>
                <a:cs typeface="Consolas"/>
              </a:rPr>
              <a:t>, </a:t>
            </a:r>
            <a:r>
              <a:rPr lang="en-US" sz="850" b="0" dirty="0">
                <a:solidFill>
                  <a:srgbClr val="C4B5FD"/>
                </a:solidFill>
                <a:latin typeface="Consolas"/>
                <a:ea typeface="Consolas"/>
                <a:cs typeface="Consolas"/>
              </a:rPr>
              <a:t>100m</a:t>
            </a:r>
            <a:r>
              <a:rPr lang="en-US" sz="850" b="0" dirty="0">
                <a:solidFill>
                  <a:srgbClr val="E2E8F0"/>
                </a:solidFill>
                <a:latin typeface="Consolas"/>
                <a:ea typeface="Consolas"/>
                <a:cs typeface="Consolas"/>
              </a:rPr>
              <a:t>);</a:t>
            </a:r>
            <a:endParaRPr lang="en-US" sz="850" dirty="0"/>
          </a:p>
        </p:txBody>
      </p:sp>
      <p:sp>
        <p:nvSpPr>
          <p:cNvPr id="125" name="s125"/>
          <p:cNvSpPr/>
          <p:nvPr/>
        </p:nvSpPr>
        <p:spPr>
          <a:xfrm>
            <a:off x="543154" y="490423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_email.</a:t>
            </a:r>
            <a:r>
              <a:rPr lang="en-US" sz="850" b="0" dirty="0">
                <a:solidFill>
                  <a:srgbClr val="7DD3FC"/>
                </a:solidFill>
                <a:latin typeface="Consolas"/>
                <a:ea typeface="Consolas"/>
                <a:cs typeface="Consolas"/>
              </a:rPr>
              <a:t>Received</a:t>
            </a:r>
            <a:r>
              <a:rPr lang="en-US" sz="850" b="0" dirty="0">
                <a:solidFill>
                  <a:srgbClr val="E2E8F0"/>
                </a:solidFill>
                <a:latin typeface="Consolas"/>
                <a:ea typeface="Consolas"/>
                <a:cs typeface="Consolas"/>
              </a:rPr>
              <a:t>(</a:t>
            </a:r>
            <a:r>
              <a:rPr lang="en-US" sz="850" b="0" dirty="0">
                <a:solidFill>
                  <a:srgbClr val="C4B5FD"/>
                </a:solidFill>
                <a:latin typeface="Consolas"/>
                <a:ea typeface="Consolas"/>
                <a:cs typeface="Consolas"/>
              </a:rPr>
              <a:t>1</a:t>
            </a:r>
            <a:r>
              <a:rPr lang="en-US" sz="850" b="0" dirty="0">
                <a:solidFill>
                  <a:srgbClr val="E2E8F0"/>
                </a:solidFill>
                <a:latin typeface="Consolas"/>
                <a:ea typeface="Consolas"/>
                <a:cs typeface="Consolas"/>
              </a:rPr>
              <a:t>).</a:t>
            </a:r>
            <a:r>
              <a:rPr lang="en-US" sz="850" b="0" dirty="0">
                <a:solidFill>
                  <a:srgbClr val="7DD3FC"/>
                </a:solidFill>
                <a:latin typeface="Consolas"/>
                <a:ea typeface="Consolas"/>
                <a:cs typeface="Consolas"/>
              </a:rPr>
              <a:t>Send</a:t>
            </a:r>
            <a:r>
              <a:rPr lang="en-US" sz="850" b="0" dirty="0">
                <a:solidFill>
                  <a:srgbClr val="E2E8F0"/>
                </a:solidFill>
                <a:latin typeface="Consolas"/>
                <a:ea typeface="Consolas"/>
                <a:cs typeface="Consolas"/>
              </a:rPr>
              <a:t>(</a:t>
            </a:r>
            <a:r>
              <a:rPr lang="en-US" sz="850" b="0" dirty="0">
                <a:solidFill>
                  <a:srgbClr val="F0A98B"/>
                </a:solidFill>
                <a:latin typeface="Consolas"/>
                <a:ea typeface="Consolas"/>
                <a:cs typeface="Consolas"/>
              </a:rPr>
              <a:t>"mona@bank.eg"</a:t>
            </a:r>
            <a:r>
              <a:rPr lang="en-US" sz="850" b="0" dirty="0">
                <a:solidFill>
                  <a:srgbClr val="E2E8F0"/>
                </a:solidFill>
                <a:latin typeface="Consolas"/>
                <a:ea typeface="Consolas"/>
                <a:cs typeface="Consolas"/>
              </a:rPr>
              <a:t>, </a:t>
            </a:r>
            <a:r>
              <a:rPr lang="en-US" sz="850" b="0" dirty="0">
                <a:solidFill>
                  <a:srgbClr val="F0A98B"/>
                </a:solidFill>
                <a:latin typeface="Consolas"/>
                <a:ea typeface="Consolas"/>
                <a:cs typeface="Consolas"/>
              </a:rPr>
              <a:t>"Transfer done"</a:t>
            </a:r>
            <a:r>
              <a:rPr lang="en-US" sz="850" b="0" dirty="0">
                <a:solidFill>
                  <a:srgbClr val="E2E8F0"/>
                </a:solidFill>
                <a:latin typeface="Consolas"/>
                <a:ea typeface="Consolas"/>
                <a:cs typeface="Consolas"/>
              </a:rPr>
              <a:t>,</a:t>
            </a:r>
            <a:endParaRPr lang="en-US" sz="850" dirty="0"/>
          </a:p>
        </p:txBody>
      </p:sp>
      <p:sp>
        <p:nvSpPr>
          <p:cNvPr id="126" name="s126"/>
          <p:cNvSpPr/>
          <p:nvPr/>
        </p:nvSpPr>
        <p:spPr>
          <a:xfrm>
            <a:off x="543154" y="503377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r>
              <a:rPr lang="en-US" sz="850" b="0" dirty="0">
                <a:solidFill>
                  <a:srgbClr val="7DD3FC"/>
                </a:solidFill>
                <a:latin typeface="Consolas"/>
                <a:ea typeface="Consolas"/>
                <a:cs typeface="Consolas"/>
              </a:rPr>
              <a:t>Arg</a:t>
            </a:r>
            <a:r>
              <a:rPr lang="en-US" sz="850" b="0" dirty="0">
                <a:solidFill>
                  <a:srgbClr val="E2E8F0"/>
                </a:solidFill>
                <a:latin typeface="Consolas"/>
                <a:ea typeface="Consolas"/>
                <a:cs typeface="Consolas"/>
              </a:rPr>
              <a:t>.</a:t>
            </a:r>
            <a:r>
              <a:rPr lang="en-US" sz="850" b="0" dirty="0">
                <a:solidFill>
                  <a:srgbClr val="7DD3FC"/>
                </a:solidFill>
                <a:latin typeface="Consolas"/>
                <a:ea typeface="Consolas"/>
                <a:cs typeface="Consolas"/>
              </a:rPr>
              <a:t>Is</a:t>
            </a:r>
            <a:r>
              <a:rPr lang="en-US" sz="850" b="0" dirty="0">
                <a:solidFill>
                  <a:srgbClr val="E2E8F0"/>
                </a:solidFill>
                <a:latin typeface="Consolas"/>
                <a:ea typeface="Consolas"/>
                <a:cs typeface="Consolas"/>
              </a:rPr>
              <a:t>&lt;</a:t>
            </a:r>
            <a:r>
              <a:rPr lang="en-US" sz="850" b="0" dirty="0">
                <a:solidFill>
                  <a:srgbClr val="60A5FA"/>
                </a:solidFill>
                <a:latin typeface="Consolas"/>
                <a:ea typeface="Consolas"/>
                <a:cs typeface="Consolas"/>
              </a:rPr>
              <a:t>string</a:t>
            </a:r>
            <a:r>
              <a:rPr lang="en-US" sz="850" b="0" dirty="0">
                <a:solidFill>
                  <a:srgbClr val="E2E8F0"/>
                </a:solidFill>
                <a:latin typeface="Consolas"/>
                <a:ea typeface="Consolas"/>
                <a:cs typeface="Consolas"/>
              </a:rPr>
              <a:t>&gt;(body =&gt; body.</a:t>
            </a:r>
            <a:r>
              <a:rPr lang="en-US" sz="850" b="0" dirty="0">
                <a:solidFill>
                  <a:srgbClr val="7DD3FC"/>
                </a:solidFill>
                <a:latin typeface="Consolas"/>
                <a:ea typeface="Consolas"/>
                <a:cs typeface="Consolas"/>
              </a:rPr>
              <a:t>Contains</a:t>
            </a:r>
            <a:r>
              <a:rPr lang="en-US" sz="850" b="0" dirty="0">
                <a:solidFill>
                  <a:srgbClr val="E2E8F0"/>
                </a:solidFill>
                <a:latin typeface="Consolas"/>
                <a:ea typeface="Consolas"/>
                <a:cs typeface="Consolas"/>
              </a:rPr>
              <a:t>(</a:t>
            </a:r>
            <a:r>
              <a:rPr lang="en-US" sz="850" b="0" dirty="0">
                <a:solidFill>
                  <a:srgbClr val="F0A98B"/>
                </a:solidFill>
                <a:latin typeface="Consolas"/>
                <a:ea typeface="Consolas"/>
                <a:cs typeface="Consolas"/>
              </a:rPr>
              <a:t>"100.00"</a:t>
            </a:r>
            <a:r>
              <a:rPr lang="en-US" sz="850" b="0" dirty="0">
                <a:solidFill>
                  <a:srgbClr val="E2E8F0"/>
                </a:solidFill>
                <a:latin typeface="Consolas"/>
                <a:ea typeface="Consolas"/>
                <a:cs typeface="Consolas"/>
              </a:rPr>
              <a:t>)));   </a:t>
            </a:r>
            <a:r>
              <a:rPr lang="en-US" sz="850" b="0" dirty="0">
                <a:solidFill>
                  <a:srgbClr val="6FAE7A"/>
                </a:solidFill>
                <a:latin typeface="Consolas"/>
                <a:ea typeface="Consolas"/>
                <a:cs typeface="Consolas"/>
              </a:rPr>
              <a:t>// MOCK</a:t>
            </a:r>
            <a:endParaRPr lang="en-US" sz="850" dirty="0"/>
          </a:p>
        </p:txBody>
      </p:sp>
      <p:sp>
        <p:nvSpPr>
          <p:cNvPr id="127" name="s127"/>
          <p:cNvSpPr/>
          <p:nvPr/>
        </p:nvSpPr>
        <p:spPr>
          <a:xfrm>
            <a:off x="543154" y="516331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    }</a:t>
            </a:r>
            <a:endParaRPr lang="en-US" sz="850" dirty="0"/>
          </a:p>
        </p:txBody>
      </p:sp>
      <p:sp>
        <p:nvSpPr>
          <p:cNvPr id="128" name="s128"/>
          <p:cNvSpPr/>
          <p:nvPr/>
        </p:nvSpPr>
        <p:spPr>
          <a:xfrm>
            <a:off x="543154" y="5292852"/>
            <a:ext cx="7498080" cy="1295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850" b="0" dirty="0">
                <a:solidFill>
                  <a:srgbClr val="E2E8F0"/>
                </a:solidFill>
                <a:latin typeface="Consolas"/>
                <a:ea typeface="Consolas"/>
                <a:cs typeface="Consolas"/>
              </a:rPr>
              <a:t>}</a:t>
            </a:r>
            <a:endParaRPr lang="en-US" sz="850" dirty="0"/>
          </a:p>
        </p:txBody>
      </p:sp>
      <p:sp>
        <p:nvSpPr>
          <p:cNvPr id="129" name="s129"/>
          <p:cNvSpPr/>
          <p:nvPr/>
        </p:nvSpPr>
        <p:spPr>
          <a:xfrm>
            <a:off x="8269834" y="1783080"/>
            <a:ext cx="3361334" cy="658368"/>
          </a:xfrm>
          <a:prstGeom prst="roundRect">
            <a:avLst>
              <a:gd name="adj" fmla="val 12000"/>
            </a:avLst>
          </a:prstGeom>
          <a:solidFill>
            <a:srgbClr val="111B2E"/>
          </a:solidFill>
          <a:ln w="12700">
            <a:solidFill>
              <a:srgbClr val="34D399"/>
            </a:solidFill>
            <a:prstDash val="solid"/>
          </a:ln>
        </p:spPr>
        <p:txBody>
          <a:bodyPr wrap="square" lIns="137160" tIns="0" rIns="91440" bIns="0" rtlCol="0" anchor="ctr">
            <a:noAutofit/>
          </a:bodyPr>
          <a:lstStyle/>
          <a:p>
            <a:pPr marL="0" indent="0" algn="l">
              <a:spcBef>
                <a:spcPts val="0"/>
              </a:spcBef>
              <a:spcAft>
                <a:spcPts val="0"/>
              </a:spcAft>
              <a:buNone/>
            </a:pPr>
            <a:r>
              <a:rPr lang="en-US" sz="1050" b="1" dirty="0">
                <a:solidFill>
                  <a:srgbClr val="34D399"/>
                </a:solidFill>
                <a:latin typeface="Consolas"/>
                <a:ea typeface="Consolas"/>
                <a:cs typeface="Consolas"/>
              </a:rPr>
              <a:t>Substitute.For&lt;T&gt;()</a:t>
            </a:r>
            <a:endParaRPr lang="en-US" sz="1050" dirty="0"/>
          </a:p>
          <a:p>
            <a:pPr marL="0" indent="0" algn="l">
              <a:spcBef>
                <a:spcPts val="0"/>
              </a:spcBef>
              <a:spcAft>
                <a:spcPts val="0"/>
              </a:spcAft>
              <a:buNone/>
            </a:pPr>
            <a:r>
              <a:rPr lang="en-US" sz="1100" b="0" dirty="0">
                <a:solidFill>
                  <a:srgbClr val="E2E8F0"/>
                </a:solidFill>
                <a:latin typeface="Segoe UI"/>
                <a:ea typeface="Segoe UI"/>
                <a:cs typeface="Segoe UI"/>
              </a:rPr>
              <a:t>create a double</a:t>
            </a:r>
            <a:endParaRPr lang="en-US" sz="1100" dirty="0"/>
          </a:p>
        </p:txBody>
      </p:sp>
      <p:sp>
        <p:nvSpPr>
          <p:cNvPr id="130" name="s130"/>
          <p:cNvSpPr/>
          <p:nvPr/>
        </p:nvSpPr>
        <p:spPr>
          <a:xfrm>
            <a:off x="8269834" y="2560320"/>
            <a:ext cx="3361334" cy="658368"/>
          </a:xfrm>
          <a:prstGeom prst="roundRect">
            <a:avLst>
              <a:gd name="adj" fmla="val 12000"/>
            </a:avLst>
          </a:prstGeom>
          <a:solidFill>
            <a:srgbClr val="111B2E"/>
          </a:solidFill>
          <a:ln w="12700">
            <a:solidFill>
              <a:srgbClr val="13D0F7"/>
            </a:solidFill>
            <a:prstDash val="solid"/>
          </a:ln>
        </p:spPr>
        <p:txBody>
          <a:bodyPr wrap="square" lIns="137160" tIns="0" rIns="91440" bIns="0" rtlCol="0" anchor="ctr">
            <a:noAutofit/>
          </a:bodyPr>
          <a:lstStyle/>
          <a:p>
            <a:pPr marL="0" indent="0" algn="l">
              <a:spcBef>
                <a:spcPts val="0"/>
              </a:spcBef>
              <a:spcAft>
                <a:spcPts val="0"/>
              </a:spcAft>
              <a:buNone/>
            </a:pPr>
            <a:r>
              <a:rPr lang="en-US" sz="1050" b="1" dirty="0">
                <a:solidFill>
                  <a:srgbClr val="13D0F7"/>
                </a:solidFill>
                <a:latin typeface="Consolas"/>
                <a:ea typeface="Consolas"/>
                <a:cs typeface="Consolas"/>
              </a:rPr>
              <a:t>x.Method(…).Returns(v)</a:t>
            </a:r>
            <a:endParaRPr lang="en-US" sz="1050" dirty="0"/>
          </a:p>
          <a:p>
            <a:pPr marL="0" indent="0" algn="l">
              <a:spcBef>
                <a:spcPts val="0"/>
              </a:spcBef>
              <a:spcAft>
                <a:spcPts val="0"/>
              </a:spcAft>
              <a:buNone/>
            </a:pPr>
            <a:r>
              <a:rPr lang="en-US" sz="1100" b="0" dirty="0">
                <a:solidFill>
                  <a:srgbClr val="E2E8F0"/>
                </a:solidFill>
                <a:latin typeface="Segoe UI"/>
                <a:ea typeface="Segoe UI"/>
                <a:cs typeface="Segoe UI"/>
              </a:rPr>
              <a:t>stub an answer</a:t>
            </a:r>
            <a:endParaRPr lang="en-US" sz="1100" dirty="0"/>
          </a:p>
        </p:txBody>
      </p:sp>
      <p:sp>
        <p:nvSpPr>
          <p:cNvPr id="131" name="s131"/>
          <p:cNvSpPr/>
          <p:nvPr/>
        </p:nvSpPr>
        <p:spPr>
          <a:xfrm>
            <a:off x="8269834" y="3337560"/>
            <a:ext cx="3361334" cy="658368"/>
          </a:xfrm>
          <a:prstGeom prst="roundRect">
            <a:avLst>
              <a:gd name="adj" fmla="val 12000"/>
            </a:avLst>
          </a:prstGeom>
          <a:solidFill>
            <a:srgbClr val="111B2E"/>
          </a:solidFill>
          <a:ln w="12700">
            <a:solidFill>
              <a:srgbClr val="FBBF24"/>
            </a:solidFill>
            <a:prstDash val="solid"/>
          </a:ln>
        </p:spPr>
        <p:txBody>
          <a:bodyPr wrap="square" lIns="137160" tIns="0" rIns="91440" bIns="0" rtlCol="0" anchor="ctr">
            <a:noAutofit/>
          </a:bodyPr>
          <a:lstStyle/>
          <a:p>
            <a:pPr marL="0" indent="0" algn="l">
              <a:spcBef>
                <a:spcPts val="0"/>
              </a:spcBef>
              <a:spcAft>
                <a:spcPts val="0"/>
              </a:spcAft>
              <a:buNone/>
            </a:pPr>
            <a:r>
              <a:rPr lang="en-US" sz="1050" b="1" dirty="0">
                <a:solidFill>
                  <a:srgbClr val="FBBF24"/>
                </a:solidFill>
                <a:latin typeface="Consolas"/>
                <a:ea typeface="Consolas"/>
                <a:cs typeface="Consolas"/>
              </a:rPr>
              <a:t>x.Received(1).Method(…)</a:t>
            </a:r>
            <a:endParaRPr lang="en-US" sz="1050" dirty="0"/>
          </a:p>
          <a:p>
            <a:pPr marL="0" indent="0" algn="l">
              <a:spcBef>
                <a:spcPts val="0"/>
              </a:spcBef>
              <a:spcAft>
                <a:spcPts val="0"/>
              </a:spcAft>
              <a:buNone/>
            </a:pPr>
            <a:r>
              <a:rPr lang="en-US" sz="1100" b="0" dirty="0">
                <a:solidFill>
                  <a:srgbClr val="E2E8F0"/>
                </a:solidFill>
                <a:latin typeface="Segoe UI"/>
                <a:ea typeface="Segoe UI"/>
                <a:cs typeface="Segoe UI"/>
              </a:rPr>
              <a:t>verify a call</a:t>
            </a:r>
            <a:endParaRPr lang="en-US" sz="1100" dirty="0"/>
          </a:p>
        </p:txBody>
      </p:sp>
      <p:sp>
        <p:nvSpPr>
          <p:cNvPr id="132" name="s132"/>
          <p:cNvSpPr/>
          <p:nvPr/>
        </p:nvSpPr>
        <p:spPr>
          <a:xfrm>
            <a:off x="8269834" y="4114800"/>
            <a:ext cx="3361334" cy="658368"/>
          </a:xfrm>
          <a:prstGeom prst="roundRect">
            <a:avLst>
              <a:gd name="adj" fmla="val 12000"/>
            </a:avLst>
          </a:prstGeom>
          <a:solidFill>
            <a:srgbClr val="111B2E"/>
          </a:solidFill>
          <a:ln w="12700">
            <a:solidFill>
              <a:srgbClr val="F87171"/>
            </a:solidFill>
            <a:prstDash val="solid"/>
          </a:ln>
        </p:spPr>
        <p:txBody>
          <a:bodyPr wrap="square" lIns="137160" tIns="0" rIns="91440" bIns="0" rtlCol="0" anchor="ctr">
            <a:noAutofit/>
          </a:bodyPr>
          <a:lstStyle/>
          <a:p>
            <a:pPr marL="0" indent="0" algn="l">
              <a:spcBef>
                <a:spcPts val="0"/>
              </a:spcBef>
              <a:spcAft>
                <a:spcPts val="0"/>
              </a:spcAft>
              <a:buNone/>
            </a:pPr>
            <a:r>
              <a:rPr lang="en-US" sz="1050" b="1" dirty="0">
                <a:solidFill>
                  <a:srgbClr val="F87171"/>
                </a:solidFill>
                <a:latin typeface="Consolas"/>
                <a:ea typeface="Consolas"/>
                <a:cs typeface="Consolas"/>
              </a:rPr>
              <a:t>x.DidNotReceive()…</a:t>
            </a:r>
            <a:endParaRPr lang="en-US" sz="1050" dirty="0"/>
          </a:p>
          <a:p>
            <a:pPr marL="0" indent="0" algn="l">
              <a:spcBef>
                <a:spcPts val="0"/>
              </a:spcBef>
              <a:spcAft>
                <a:spcPts val="0"/>
              </a:spcAft>
              <a:buNone/>
            </a:pPr>
            <a:r>
              <a:rPr lang="en-US" sz="1100" b="0" dirty="0">
                <a:solidFill>
                  <a:srgbClr val="E2E8F0"/>
                </a:solidFill>
                <a:latin typeface="Segoe UI"/>
                <a:ea typeface="Segoe UI"/>
                <a:cs typeface="Segoe UI"/>
              </a:rPr>
              <a:t>verify NO call</a:t>
            </a:r>
            <a:endParaRPr lang="en-US" sz="1100" dirty="0"/>
          </a:p>
        </p:txBody>
      </p:sp>
      <p:sp>
        <p:nvSpPr>
          <p:cNvPr id="133" name="s133"/>
          <p:cNvSpPr/>
          <p:nvPr/>
        </p:nvSpPr>
        <p:spPr>
          <a:xfrm>
            <a:off x="8269834" y="4892040"/>
            <a:ext cx="3361334" cy="658368"/>
          </a:xfrm>
          <a:prstGeom prst="roundRect">
            <a:avLst>
              <a:gd name="adj" fmla="val 12000"/>
            </a:avLst>
          </a:prstGeom>
          <a:solidFill>
            <a:srgbClr val="111B2E"/>
          </a:solidFill>
          <a:ln w="12700">
            <a:solidFill>
              <a:srgbClr val="A78BFA"/>
            </a:solidFill>
            <a:prstDash val="solid"/>
          </a:ln>
        </p:spPr>
        <p:txBody>
          <a:bodyPr wrap="square" lIns="137160" tIns="0" rIns="91440" bIns="0" rtlCol="0" anchor="ctr">
            <a:noAutofit/>
          </a:bodyPr>
          <a:lstStyle/>
          <a:p>
            <a:pPr marL="0" indent="0" algn="l">
              <a:spcBef>
                <a:spcPts val="0"/>
              </a:spcBef>
              <a:spcAft>
                <a:spcPts val="0"/>
              </a:spcAft>
              <a:buNone/>
            </a:pPr>
            <a:r>
              <a:rPr lang="en-US" sz="1050" b="1" dirty="0">
                <a:solidFill>
                  <a:srgbClr val="A78BFA"/>
                </a:solidFill>
                <a:latin typeface="Consolas"/>
                <a:ea typeface="Consolas"/>
                <a:cs typeface="Consolas"/>
              </a:rPr>
              <a:t>Arg.Any&lt;T&gt;() / Arg.Is&lt;T&gt;(…)</a:t>
            </a:r>
            <a:endParaRPr lang="en-US" sz="1050" dirty="0"/>
          </a:p>
          <a:p>
            <a:pPr marL="0" indent="0" algn="l">
              <a:spcBef>
                <a:spcPts val="0"/>
              </a:spcBef>
              <a:spcAft>
                <a:spcPts val="0"/>
              </a:spcAft>
              <a:buNone/>
            </a:pPr>
            <a:r>
              <a:rPr lang="en-US" sz="1100" b="0" dirty="0">
                <a:solidFill>
                  <a:srgbClr val="E2E8F0"/>
                </a:solidFill>
                <a:latin typeface="Segoe UI"/>
                <a:ea typeface="Segoe UI"/>
                <a:cs typeface="Segoe UI"/>
              </a:rPr>
              <a:t>match arguments</a:t>
            </a:r>
            <a:endParaRPr lang="en-US" sz="1100" dirty="0"/>
          </a:p>
        </p:txBody>
      </p:sp>
      <p:sp>
        <p:nvSpPr>
          <p:cNvPr id="134" name="s134"/>
          <p:cNvSpPr/>
          <p:nvPr/>
        </p:nvSpPr>
        <p:spPr>
          <a:xfrm>
            <a:off x="652882" y="2545080"/>
            <a:ext cx="7278624" cy="44348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35" name="s135"/>
          <p:cNvSpPr/>
          <p:nvPr/>
        </p:nvSpPr>
        <p:spPr>
          <a:xfrm>
            <a:off x="652882" y="3710940"/>
            <a:ext cx="7278624" cy="313944"/>
          </a:xfrm>
          <a:prstGeom prst="roundRect">
            <a:avLst>
              <a:gd name="adj" fmla="val 6000"/>
            </a:avLst>
          </a:prstGeom>
          <a:solidFill>
            <a:srgbClr val="13D0F7">
              <a:alpha val="10000"/>
            </a:srgbClr>
          </a:solidFill>
          <a:ln w="15875">
            <a:solidFill>
              <a:srgbClr val="13D0F7"/>
            </a:solidFill>
            <a:prstDash val="solid"/>
          </a:ln>
        </p:spPr>
        <p:txBody>
          <a:bodyPr wrap="square" lIns="164592" tIns="109728" rIns="137160" bIns="91440" rtlCol="0" anchor="t">
            <a:noAutofit/>
          </a:bodyPr>
          <a:lstStyle/>
          <a:p>
            <a:endParaRPr lang="en-US"/>
          </a:p>
        </p:txBody>
      </p:sp>
      <p:sp>
        <p:nvSpPr>
          <p:cNvPr id="136" name="s136"/>
          <p:cNvSpPr/>
          <p:nvPr/>
        </p:nvSpPr>
        <p:spPr>
          <a:xfrm>
            <a:off x="652882" y="4876800"/>
            <a:ext cx="7278624" cy="313944"/>
          </a:xfrm>
          <a:prstGeom prst="roundRect">
            <a:avLst>
              <a:gd name="adj" fmla="val 6000"/>
            </a:avLst>
          </a:prstGeom>
          <a:solidFill>
            <a:srgbClr val="FBBF24">
              <a:alpha val="10000"/>
            </a:srgbClr>
          </a:solidFill>
          <a:ln w="15875">
            <a:solidFill>
              <a:srgbClr val="FBBF24"/>
            </a:solidFill>
            <a:prstDash val="solid"/>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0"/>
                                        </p:tgtEl>
                                        <p:attrNameLst>
                                          <p:attrName>style.visibility</p:attrName>
                                        </p:attrNameLst>
                                      </p:cBhvr>
                                      <p:to>
                                        <p:strVal val="visible"/>
                                      </p:to>
                                    </p:set>
                                    <p:animEffect transition="in" filter="fade">
                                      <p:cBhvr>
                                        <p:cTn id="83" dur="500"/>
                                        <p:tgtEl>
                                          <p:spTgt spid="120"/>
                                        </p:tgtEl>
                                      </p:cBhvr>
                                    </p:animEffect>
                                    <p:anim calcmode="lin" valueType="num">
                                      <p:cBhvr additive="base">
                                        <p:cTn id="84" dur="500" decel="100000" fill="hold"/>
                                        <p:tgtEl>
                                          <p:spTgt spid="120"/>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121"/>
                                        </p:tgtEl>
                                        <p:attrNameLst>
                                          <p:attrName>style.visibility</p:attrName>
                                        </p:attrNameLst>
                                      </p:cBhvr>
                                      <p:to>
                                        <p:strVal val="visible"/>
                                      </p:to>
                                    </p:set>
                                    <p:animEffect transition="in" filter="fade">
                                      <p:cBhvr>
                                        <p:cTn id="87" dur="500"/>
                                        <p:tgtEl>
                                          <p:spTgt spid="121"/>
                                        </p:tgtEl>
                                      </p:cBhvr>
                                    </p:animEffect>
                                    <p:anim calcmode="lin" valueType="num">
                                      <p:cBhvr additive="base">
                                        <p:cTn id="88" dur="500" decel="100000" fill="hold"/>
                                        <p:tgtEl>
                                          <p:spTgt spid="121"/>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122"/>
                                        </p:tgtEl>
                                        <p:attrNameLst>
                                          <p:attrName>style.visibility</p:attrName>
                                        </p:attrNameLst>
                                      </p:cBhvr>
                                      <p:to>
                                        <p:strVal val="visible"/>
                                      </p:to>
                                    </p:set>
                                    <p:animEffect transition="in" filter="fade">
                                      <p:cBhvr>
                                        <p:cTn id="91" dur="500"/>
                                        <p:tgtEl>
                                          <p:spTgt spid="122"/>
                                        </p:tgtEl>
                                      </p:cBhvr>
                                    </p:animEffect>
                                    <p:anim calcmode="lin" valueType="num">
                                      <p:cBhvr additive="base">
                                        <p:cTn id="92" dur="500" decel="100000" fill="hold"/>
                                        <p:tgtEl>
                                          <p:spTgt spid="122"/>
                                        </p:tgtEl>
                                        <p:attrNameLst>
                                          <p:attrName>ppt_y</p:attrName>
                                        </p:attrNameLst>
                                      </p:cBhvr>
                                      <p:tavLst>
                                        <p:tav tm="0">
                                          <p:val>
                                            <p:strVal val="#ppt_y+0.06"/>
                                          </p:val>
                                        </p:tav>
                                        <p:tav tm="100000">
                                          <p:val>
                                            <p:strVal val="#ppt_y"/>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123"/>
                                        </p:tgtEl>
                                        <p:attrNameLst>
                                          <p:attrName>style.visibility</p:attrName>
                                        </p:attrNameLst>
                                      </p:cBhvr>
                                      <p:to>
                                        <p:strVal val="visible"/>
                                      </p:to>
                                    </p:set>
                                    <p:animEffect transition="in" filter="fade">
                                      <p:cBhvr>
                                        <p:cTn id="95" dur="500"/>
                                        <p:tgtEl>
                                          <p:spTgt spid="123"/>
                                        </p:tgtEl>
                                      </p:cBhvr>
                                    </p:animEffect>
                                    <p:anim calcmode="lin" valueType="num">
                                      <p:cBhvr additive="base">
                                        <p:cTn id="96" dur="500" decel="100000" fill="hold"/>
                                        <p:tgtEl>
                                          <p:spTgt spid="123"/>
                                        </p:tgtEl>
                                        <p:attrNameLst>
                                          <p:attrName>ppt_y</p:attrName>
                                        </p:attrNameLst>
                                      </p:cBhvr>
                                      <p:tavLst>
                                        <p:tav tm="0">
                                          <p:val>
                                            <p:strVal val="#ppt_y+0.06"/>
                                          </p:val>
                                        </p:tav>
                                        <p:tav tm="100000">
                                          <p:val>
                                            <p:strVal val="#ppt_y"/>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4"/>
                                        </p:tgtEl>
                                        <p:attrNameLst>
                                          <p:attrName>style.visibility</p:attrName>
                                        </p:attrNameLst>
                                      </p:cBhvr>
                                      <p:to>
                                        <p:strVal val="visible"/>
                                      </p:to>
                                    </p:set>
                                    <p:animEffect transition="in" filter="fade">
                                      <p:cBhvr>
                                        <p:cTn id="99" dur="500"/>
                                        <p:tgtEl>
                                          <p:spTgt spid="124"/>
                                        </p:tgtEl>
                                      </p:cBhvr>
                                    </p:animEffect>
                                    <p:anim calcmode="lin" valueType="num">
                                      <p:cBhvr additive="base">
                                        <p:cTn id="100" dur="500" decel="100000" fill="hold"/>
                                        <p:tgtEl>
                                          <p:spTgt spid="124"/>
                                        </p:tgtEl>
                                        <p:attrNameLst>
                                          <p:attrName>ppt_y</p:attrName>
                                        </p:attrNameLst>
                                      </p:cBhvr>
                                      <p:tavLst>
                                        <p:tav tm="0">
                                          <p:val>
                                            <p:strVal val="#ppt_y+0.06"/>
                                          </p:val>
                                        </p:tav>
                                        <p:tav tm="100000">
                                          <p:val>
                                            <p:strVal val="#ppt_y"/>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25"/>
                                        </p:tgtEl>
                                        <p:attrNameLst>
                                          <p:attrName>style.visibility</p:attrName>
                                        </p:attrNameLst>
                                      </p:cBhvr>
                                      <p:to>
                                        <p:strVal val="visible"/>
                                      </p:to>
                                    </p:set>
                                    <p:animEffect transition="in" filter="fade">
                                      <p:cBhvr>
                                        <p:cTn id="103" dur="500"/>
                                        <p:tgtEl>
                                          <p:spTgt spid="125"/>
                                        </p:tgtEl>
                                      </p:cBhvr>
                                    </p:animEffect>
                                    <p:anim calcmode="lin" valueType="num">
                                      <p:cBhvr additive="base">
                                        <p:cTn id="104" dur="500" decel="100000" fill="hold"/>
                                        <p:tgtEl>
                                          <p:spTgt spid="125"/>
                                        </p:tgtEl>
                                        <p:attrNameLst>
                                          <p:attrName>ppt_y</p:attrName>
                                        </p:attrNameLst>
                                      </p:cBhvr>
                                      <p:tavLst>
                                        <p:tav tm="0">
                                          <p:val>
                                            <p:strVal val="#ppt_y+0.06"/>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26"/>
                                        </p:tgtEl>
                                        <p:attrNameLst>
                                          <p:attrName>style.visibility</p:attrName>
                                        </p:attrNameLst>
                                      </p:cBhvr>
                                      <p:to>
                                        <p:strVal val="visible"/>
                                      </p:to>
                                    </p:set>
                                    <p:animEffect transition="in" filter="fade">
                                      <p:cBhvr>
                                        <p:cTn id="107" dur="500"/>
                                        <p:tgtEl>
                                          <p:spTgt spid="126"/>
                                        </p:tgtEl>
                                      </p:cBhvr>
                                    </p:animEffect>
                                    <p:anim calcmode="lin" valueType="num">
                                      <p:cBhvr additive="base">
                                        <p:cTn id="108" dur="500" decel="100000" fill="hold"/>
                                        <p:tgtEl>
                                          <p:spTgt spid="126"/>
                                        </p:tgtEl>
                                        <p:attrNameLst>
                                          <p:attrName>ppt_y</p:attrName>
                                        </p:attrNameLst>
                                      </p:cBhvr>
                                      <p:tavLst>
                                        <p:tav tm="0">
                                          <p:val>
                                            <p:strVal val="#ppt_y+0.06"/>
                                          </p:val>
                                        </p:tav>
                                        <p:tav tm="100000">
                                          <p:val>
                                            <p:strVal val="#ppt_y"/>
                                          </p:val>
                                        </p:tav>
                                      </p:tavLst>
                                    </p:anim>
                                  </p:childTnLst>
                                </p:cTn>
                              </p:par>
                              <p:par>
                                <p:cTn id="109" presetID="42" presetClass="entr" presetSubtype="0" fill="hold" grpId="0" nodeType="withEffect">
                                  <p:stCondLst>
                                    <p:cond delay="0"/>
                                  </p:stCondLst>
                                  <p:childTnLst>
                                    <p:set>
                                      <p:cBhvr>
                                        <p:cTn id="110" dur="1" fill="hold">
                                          <p:stCondLst>
                                            <p:cond delay="0"/>
                                          </p:stCondLst>
                                        </p:cTn>
                                        <p:tgtEl>
                                          <p:spTgt spid="127"/>
                                        </p:tgtEl>
                                        <p:attrNameLst>
                                          <p:attrName>style.visibility</p:attrName>
                                        </p:attrNameLst>
                                      </p:cBhvr>
                                      <p:to>
                                        <p:strVal val="visible"/>
                                      </p:to>
                                    </p:set>
                                    <p:animEffect transition="in" filter="fade">
                                      <p:cBhvr>
                                        <p:cTn id="111" dur="500"/>
                                        <p:tgtEl>
                                          <p:spTgt spid="127"/>
                                        </p:tgtEl>
                                      </p:cBhvr>
                                    </p:animEffect>
                                    <p:anim calcmode="lin" valueType="num">
                                      <p:cBhvr additive="base">
                                        <p:cTn id="112" dur="500" decel="100000" fill="hold"/>
                                        <p:tgtEl>
                                          <p:spTgt spid="127"/>
                                        </p:tgtEl>
                                        <p:attrNameLst>
                                          <p:attrName>ppt_y</p:attrName>
                                        </p:attrNameLst>
                                      </p:cBhvr>
                                      <p:tavLst>
                                        <p:tav tm="0">
                                          <p:val>
                                            <p:strVal val="#ppt_y+0.06"/>
                                          </p:val>
                                        </p:tav>
                                        <p:tav tm="100000">
                                          <p:val>
                                            <p:strVal val="#ppt_y"/>
                                          </p:val>
                                        </p:tav>
                                      </p:tavLst>
                                    </p:anim>
                                  </p:childTnLst>
                                </p:cTn>
                              </p:par>
                              <p:par>
                                <p:cTn id="113" presetID="42" presetClass="entr" presetSubtype="0" fill="hold" grpId="0" nodeType="withEffect">
                                  <p:stCondLst>
                                    <p:cond delay="0"/>
                                  </p:stCondLst>
                                  <p:childTnLst>
                                    <p:set>
                                      <p:cBhvr>
                                        <p:cTn id="114" dur="1" fill="hold">
                                          <p:stCondLst>
                                            <p:cond delay="0"/>
                                          </p:stCondLst>
                                        </p:cTn>
                                        <p:tgtEl>
                                          <p:spTgt spid="128"/>
                                        </p:tgtEl>
                                        <p:attrNameLst>
                                          <p:attrName>style.visibility</p:attrName>
                                        </p:attrNameLst>
                                      </p:cBhvr>
                                      <p:to>
                                        <p:strVal val="visible"/>
                                      </p:to>
                                    </p:set>
                                    <p:animEffect transition="in" filter="fade">
                                      <p:cBhvr>
                                        <p:cTn id="115" dur="500"/>
                                        <p:tgtEl>
                                          <p:spTgt spid="128"/>
                                        </p:tgtEl>
                                      </p:cBhvr>
                                    </p:animEffect>
                                    <p:anim calcmode="lin" valueType="num">
                                      <p:cBhvr additive="base">
                                        <p:cTn id="116" dur="500" decel="100000" fill="hold"/>
                                        <p:tgtEl>
                                          <p:spTgt spid="128"/>
                                        </p:tgtEl>
                                        <p:attrNameLst>
                                          <p:attrName>ppt_y</p:attrName>
                                        </p:attrNameLst>
                                      </p:cBhvr>
                                      <p:tavLst>
                                        <p:tav tm="0">
                                          <p:val>
                                            <p:strVal val="#ppt_y+0.06"/>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53" presetClass="entr" presetSubtype="16" fill="hold" grpId="0" nodeType="clickEffect">
                                  <p:stCondLst>
                                    <p:cond delay="0"/>
                                  </p:stCondLst>
                                  <p:childTnLst>
                                    <p:set>
                                      <p:cBhvr>
                                        <p:cTn id="120" dur="1" fill="hold">
                                          <p:stCondLst>
                                            <p:cond delay="0"/>
                                          </p:stCondLst>
                                        </p:cTn>
                                        <p:tgtEl>
                                          <p:spTgt spid="134"/>
                                        </p:tgtEl>
                                        <p:attrNameLst>
                                          <p:attrName>style.visibility</p:attrName>
                                        </p:attrNameLst>
                                      </p:cBhvr>
                                      <p:to>
                                        <p:strVal val="visible"/>
                                      </p:to>
                                    </p:set>
                                    <p:anim calcmode="lin" valueType="num">
                                      <p:cBhvr additive="base">
                                        <p:cTn id="121" dur="500" decel="100000" fill="hold"/>
                                        <p:tgtEl>
                                          <p:spTgt spid="134"/>
                                        </p:tgtEl>
                                        <p:attrNameLst>
                                          <p:attrName>ppt_w</p:attrName>
                                        </p:attrNameLst>
                                      </p:cBhvr>
                                      <p:tavLst>
                                        <p:tav tm="0">
                                          <p:val>
                                            <p:strVal val="#ppt_w*0.3"/>
                                          </p:val>
                                        </p:tav>
                                        <p:tav tm="100000">
                                          <p:val>
                                            <p:strVal val="#ppt_w*1.08"/>
                                          </p:val>
                                        </p:tav>
                                      </p:tavLst>
                                    </p:anim>
                                    <p:anim calcmode="lin" valueType="num">
                                      <p:cBhvr additive="base">
                                        <p:cTn id="122" dur="500" decel="100000" fill="hold"/>
                                        <p:tgtEl>
                                          <p:spTgt spid="134"/>
                                        </p:tgtEl>
                                        <p:attrNameLst>
                                          <p:attrName>ppt_h</p:attrName>
                                        </p:attrNameLst>
                                      </p:cBhvr>
                                      <p:tavLst>
                                        <p:tav tm="0">
                                          <p:val>
                                            <p:strVal val="#ppt_h*0.3"/>
                                          </p:val>
                                        </p:tav>
                                        <p:tav tm="100000">
                                          <p:val>
                                            <p:strVal val="#ppt_h*1.08"/>
                                          </p:val>
                                        </p:tav>
                                      </p:tavLst>
                                    </p:anim>
                                    <p:animEffect transition="in" filter="fade">
                                      <p:cBhvr>
                                        <p:cTn id="123" dur="250"/>
                                        <p:tgtEl>
                                          <p:spTgt spid="134"/>
                                        </p:tgtEl>
                                      </p:cBhvr>
                                    </p:animEffect>
                                    <p:anim calcmode="lin" valueType="num">
                                      <p:cBhvr additive="base">
                                        <p:cTn id="124" dur="160" fill="hold">
                                          <p:stCondLst>
                                            <p:cond delay="500"/>
                                          </p:stCondLst>
                                        </p:cTn>
                                        <p:tgtEl>
                                          <p:spTgt spid="134"/>
                                        </p:tgtEl>
                                        <p:attrNameLst>
                                          <p:attrName>ppt_w</p:attrName>
                                        </p:attrNameLst>
                                      </p:cBhvr>
                                      <p:tavLst>
                                        <p:tav tm="0">
                                          <p:val>
                                            <p:strVal val="#ppt_w*1.08"/>
                                          </p:val>
                                        </p:tav>
                                        <p:tav tm="100000">
                                          <p:val>
                                            <p:strVal val="#ppt_w"/>
                                          </p:val>
                                        </p:tav>
                                      </p:tavLst>
                                    </p:anim>
                                    <p:anim calcmode="lin" valueType="num">
                                      <p:cBhvr additive="base">
                                        <p:cTn id="125" dur="160" fill="hold">
                                          <p:stCondLst>
                                            <p:cond delay="500"/>
                                          </p:stCondLst>
                                        </p:cTn>
                                        <p:tgtEl>
                                          <p:spTgt spid="134"/>
                                        </p:tgtEl>
                                        <p:attrNameLst>
                                          <p:attrName>ppt_h</p:attrName>
                                        </p:attrNameLst>
                                      </p:cBhvr>
                                      <p:tavLst>
                                        <p:tav tm="0">
                                          <p:val>
                                            <p:strVal val="#ppt_h*1.08"/>
                                          </p:val>
                                        </p:tav>
                                        <p:tav tm="100000">
                                          <p:val>
                                            <p:strVal val="#ppt_h"/>
                                          </p:val>
                                        </p:tav>
                                      </p:tavLst>
                                    </p:anim>
                                  </p:childTnLst>
                                </p:cTn>
                              </p:par>
                              <p:par>
                                <p:cTn id="126" presetID="42" presetClass="entr" presetSubtype="0" fill="hold" grpId="0" nodeType="withEffect">
                                  <p:stCondLst>
                                    <p:cond delay="150"/>
                                  </p:stCondLst>
                                  <p:childTnLst>
                                    <p:set>
                                      <p:cBhvr>
                                        <p:cTn id="127" dur="1" fill="hold">
                                          <p:stCondLst>
                                            <p:cond delay="0"/>
                                          </p:stCondLst>
                                        </p:cTn>
                                        <p:tgtEl>
                                          <p:spTgt spid="129"/>
                                        </p:tgtEl>
                                        <p:attrNameLst>
                                          <p:attrName>style.visibility</p:attrName>
                                        </p:attrNameLst>
                                      </p:cBhvr>
                                      <p:to>
                                        <p:strVal val="visible"/>
                                      </p:to>
                                    </p:set>
                                    <p:animEffect transition="in" filter="fade">
                                      <p:cBhvr>
                                        <p:cTn id="128" dur="500"/>
                                        <p:tgtEl>
                                          <p:spTgt spid="129"/>
                                        </p:tgtEl>
                                      </p:cBhvr>
                                    </p:animEffect>
                                    <p:anim calcmode="lin" valueType="num">
                                      <p:cBhvr additive="base">
                                        <p:cTn id="129" dur="500" decel="100000" fill="hold"/>
                                        <p:tgtEl>
                                          <p:spTgt spid="129"/>
                                        </p:tgtEl>
                                        <p:attrNameLst>
                                          <p:attrName>ppt_y</p:attrName>
                                        </p:attrNameLst>
                                      </p:cBhvr>
                                      <p:tavLst>
                                        <p:tav tm="0">
                                          <p:val>
                                            <p:strVal val="#ppt_y+0.06"/>
                                          </p:val>
                                        </p:tav>
                                        <p:tav tm="100000">
                                          <p:val>
                                            <p:strVal val="#ppt_y"/>
                                          </p:val>
                                        </p:tav>
                                      </p:tavLst>
                                    </p:anim>
                                  </p:childTnLst>
                                </p:cTn>
                              </p:par>
                            </p:childTnLst>
                          </p:cTn>
                        </p:par>
                      </p:childTnLst>
                    </p:cTn>
                  </p:par>
                  <p:par>
                    <p:cTn id="130" fill="hold">
                      <p:stCondLst>
                        <p:cond delay="indefinite"/>
                      </p:stCondLst>
                      <p:childTnLst>
                        <p:par>
                          <p:cTn id="131" fill="hold">
                            <p:stCondLst>
                              <p:cond delay="0"/>
                            </p:stCondLst>
                            <p:childTnLst>
                              <p:par>
                                <p:cTn id="132" presetID="53" presetClass="entr" presetSubtype="16" fill="hold" grpId="0" nodeType="clickEffect">
                                  <p:stCondLst>
                                    <p:cond delay="0"/>
                                  </p:stCondLst>
                                  <p:childTnLst>
                                    <p:set>
                                      <p:cBhvr>
                                        <p:cTn id="133" dur="1" fill="hold">
                                          <p:stCondLst>
                                            <p:cond delay="0"/>
                                          </p:stCondLst>
                                        </p:cTn>
                                        <p:tgtEl>
                                          <p:spTgt spid="135"/>
                                        </p:tgtEl>
                                        <p:attrNameLst>
                                          <p:attrName>style.visibility</p:attrName>
                                        </p:attrNameLst>
                                      </p:cBhvr>
                                      <p:to>
                                        <p:strVal val="visible"/>
                                      </p:to>
                                    </p:set>
                                    <p:anim calcmode="lin" valueType="num">
                                      <p:cBhvr additive="base">
                                        <p:cTn id="134" dur="500" decel="100000" fill="hold"/>
                                        <p:tgtEl>
                                          <p:spTgt spid="135"/>
                                        </p:tgtEl>
                                        <p:attrNameLst>
                                          <p:attrName>ppt_w</p:attrName>
                                        </p:attrNameLst>
                                      </p:cBhvr>
                                      <p:tavLst>
                                        <p:tav tm="0">
                                          <p:val>
                                            <p:strVal val="#ppt_w*0.3"/>
                                          </p:val>
                                        </p:tav>
                                        <p:tav tm="100000">
                                          <p:val>
                                            <p:strVal val="#ppt_w*1.08"/>
                                          </p:val>
                                        </p:tav>
                                      </p:tavLst>
                                    </p:anim>
                                    <p:anim calcmode="lin" valueType="num">
                                      <p:cBhvr additive="base">
                                        <p:cTn id="135" dur="500" decel="100000" fill="hold"/>
                                        <p:tgtEl>
                                          <p:spTgt spid="135"/>
                                        </p:tgtEl>
                                        <p:attrNameLst>
                                          <p:attrName>ppt_h</p:attrName>
                                        </p:attrNameLst>
                                      </p:cBhvr>
                                      <p:tavLst>
                                        <p:tav tm="0">
                                          <p:val>
                                            <p:strVal val="#ppt_h*0.3"/>
                                          </p:val>
                                        </p:tav>
                                        <p:tav tm="100000">
                                          <p:val>
                                            <p:strVal val="#ppt_h*1.08"/>
                                          </p:val>
                                        </p:tav>
                                      </p:tavLst>
                                    </p:anim>
                                    <p:animEffect transition="in" filter="fade">
                                      <p:cBhvr>
                                        <p:cTn id="136" dur="250"/>
                                        <p:tgtEl>
                                          <p:spTgt spid="135"/>
                                        </p:tgtEl>
                                      </p:cBhvr>
                                    </p:animEffect>
                                    <p:anim calcmode="lin" valueType="num">
                                      <p:cBhvr additive="base">
                                        <p:cTn id="137" dur="160" fill="hold">
                                          <p:stCondLst>
                                            <p:cond delay="500"/>
                                          </p:stCondLst>
                                        </p:cTn>
                                        <p:tgtEl>
                                          <p:spTgt spid="135"/>
                                        </p:tgtEl>
                                        <p:attrNameLst>
                                          <p:attrName>ppt_w</p:attrName>
                                        </p:attrNameLst>
                                      </p:cBhvr>
                                      <p:tavLst>
                                        <p:tav tm="0">
                                          <p:val>
                                            <p:strVal val="#ppt_w*1.08"/>
                                          </p:val>
                                        </p:tav>
                                        <p:tav tm="100000">
                                          <p:val>
                                            <p:strVal val="#ppt_w"/>
                                          </p:val>
                                        </p:tav>
                                      </p:tavLst>
                                    </p:anim>
                                    <p:anim calcmode="lin" valueType="num">
                                      <p:cBhvr additive="base">
                                        <p:cTn id="138" dur="160" fill="hold">
                                          <p:stCondLst>
                                            <p:cond delay="500"/>
                                          </p:stCondLst>
                                        </p:cTn>
                                        <p:tgtEl>
                                          <p:spTgt spid="135"/>
                                        </p:tgtEl>
                                        <p:attrNameLst>
                                          <p:attrName>ppt_h</p:attrName>
                                        </p:attrNameLst>
                                      </p:cBhvr>
                                      <p:tavLst>
                                        <p:tav tm="0">
                                          <p:val>
                                            <p:strVal val="#ppt_h*1.08"/>
                                          </p:val>
                                        </p:tav>
                                        <p:tav tm="100000">
                                          <p:val>
                                            <p:strVal val="#ppt_h"/>
                                          </p:val>
                                        </p:tav>
                                      </p:tavLst>
                                    </p:anim>
                                  </p:childTnLst>
                                </p:cTn>
                              </p:par>
                              <p:par>
                                <p:cTn id="139" presetID="42" presetClass="entr" presetSubtype="0" fill="hold" grpId="0" nodeType="withEffect">
                                  <p:stCondLst>
                                    <p:cond delay="150"/>
                                  </p:stCondLst>
                                  <p:childTnLst>
                                    <p:set>
                                      <p:cBhvr>
                                        <p:cTn id="140" dur="1" fill="hold">
                                          <p:stCondLst>
                                            <p:cond delay="0"/>
                                          </p:stCondLst>
                                        </p:cTn>
                                        <p:tgtEl>
                                          <p:spTgt spid="130"/>
                                        </p:tgtEl>
                                        <p:attrNameLst>
                                          <p:attrName>style.visibility</p:attrName>
                                        </p:attrNameLst>
                                      </p:cBhvr>
                                      <p:to>
                                        <p:strVal val="visible"/>
                                      </p:to>
                                    </p:set>
                                    <p:animEffect transition="in" filter="fade">
                                      <p:cBhvr>
                                        <p:cTn id="141" dur="500"/>
                                        <p:tgtEl>
                                          <p:spTgt spid="130"/>
                                        </p:tgtEl>
                                      </p:cBhvr>
                                    </p:animEffect>
                                    <p:anim calcmode="lin" valueType="num">
                                      <p:cBhvr additive="base">
                                        <p:cTn id="142" dur="500" decel="100000" fill="hold"/>
                                        <p:tgtEl>
                                          <p:spTgt spid="130"/>
                                        </p:tgtEl>
                                        <p:attrNameLst>
                                          <p:attrName>ppt_y</p:attrName>
                                        </p:attrNameLst>
                                      </p:cBhvr>
                                      <p:tavLst>
                                        <p:tav tm="0">
                                          <p:val>
                                            <p:strVal val="#ppt_y+0.06"/>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53" presetClass="entr" presetSubtype="16" fill="hold" grpId="0" nodeType="clickEffect">
                                  <p:stCondLst>
                                    <p:cond delay="0"/>
                                  </p:stCondLst>
                                  <p:childTnLst>
                                    <p:set>
                                      <p:cBhvr>
                                        <p:cTn id="146" dur="1" fill="hold">
                                          <p:stCondLst>
                                            <p:cond delay="0"/>
                                          </p:stCondLst>
                                        </p:cTn>
                                        <p:tgtEl>
                                          <p:spTgt spid="136"/>
                                        </p:tgtEl>
                                        <p:attrNameLst>
                                          <p:attrName>style.visibility</p:attrName>
                                        </p:attrNameLst>
                                      </p:cBhvr>
                                      <p:to>
                                        <p:strVal val="visible"/>
                                      </p:to>
                                    </p:set>
                                    <p:anim calcmode="lin" valueType="num">
                                      <p:cBhvr additive="base">
                                        <p:cTn id="147" dur="500" decel="100000" fill="hold"/>
                                        <p:tgtEl>
                                          <p:spTgt spid="136"/>
                                        </p:tgtEl>
                                        <p:attrNameLst>
                                          <p:attrName>ppt_w</p:attrName>
                                        </p:attrNameLst>
                                      </p:cBhvr>
                                      <p:tavLst>
                                        <p:tav tm="0">
                                          <p:val>
                                            <p:strVal val="#ppt_w*0.3"/>
                                          </p:val>
                                        </p:tav>
                                        <p:tav tm="100000">
                                          <p:val>
                                            <p:strVal val="#ppt_w*1.08"/>
                                          </p:val>
                                        </p:tav>
                                      </p:tavLst>
                                    </p:anim>
                                    <p:anim calcmode="lin" valueType="num">
                                      <p:cBhvr additive="base">
                                        <p:cTn id="148" dur="500" decel="100000" fill="hold"/>
                                        <p:tgtEl>
                                          <p:spTgt spid="136"/>
                                        </p:tgtEl>
                                        <p:attrNameLst>
                                          <p:attrName>ppt_h</p:attrName>
                                        </p:attrNameLst>
                                      </p:cBhvr>
                                      <p:tavLst>
                                        <p:tav tm="0">
                                          <p:val>
                                            <p:strVal val="#ppt_h*0.3"/>
                                          </p:val>
                                        </p:tav>
                                        <p:tav tm="100000">
                                          <p:val>
                                            <p:strVal val="#ppt_h*1.08"/>
                                          </p:val>
                                        </p:tav>
                                      </p:tavLst>
                                    </p:anim>
                                    <p:animEffect transition="in" filter="fade">
                                      <p:cBhvr>
                                        <p:cTn id="149" dur="250"/>
                                        <p:tgtEl>
                                          <p:spTgt spid="136"/>
                                        </p:tgtEl>
                                      </p:cBhvr>
                                    </p:animEffect>
                                    <p:anim calcmode="lin" valueType="num">
                                      <p:cBhvr additive="base">
                                        <p:cTn id="150" dur="160" fill="hold">
                                          <p:stCondLst>
                                            <p:cond delay="500"/>
                                          </p:stCondLst>
                                        </p:cTn>
                                        <p:tgtEl>
                                          <p:spTgt spid="136"/>
                                        </p:tgtEl>
                                        <p:attrNameLst>
                                          <p:attrName>ppt_w</p:attrName>
                                        </p:attrNameLst>
                                      </p:cBhvr>
                                      <p:tavLst>
                                        <p:tav tm="0">
                                          <p:val>
                                            <p:strVal val="#ppt_w*1.08"/>
                                          </p:val>
                                        </p:tav>
                                        <p:tav tm="100000">
                                          <p:val>
                                            <p:strVal val="#ppt_w"/>
                                          </p:val>
                                        </p:tav>
                                      </p:tavLst>
                                    </p:anim>
                                    <p:anim calcmode="lin" valueType="num">
                                      <p:cBhvr additive="base">
                                        <p:cTn id="151" dur="160" fill="hold">
                                          <p:stCondLst>
                                            <p:cond delay="500"/>
                                          </p:stCondLst>
                                        </p:cTn>
                                        <p:tgtEl>
                                          <p:spTgt spid="136"/>
                                        </p:tgtEl>
                                        <p:attrNameLst>
                                          <p:attrName>ppt_h</p:attrName>
                                        </p:attrNameLst>
                                      </p:cBhvr>
                                      <p:tavLst>
                                        <p:tav tm="0">
                                          <p:val>
                                            <p:strVal val="#ppt_h*1.08"/>
                                          </p:val>
                                        </p:tav>
                                        <p:tav tm="100000">
                                          <p:val>
                                            <p:strVal val="#ppt_h"/>
                                          </p:val>
                                        </p:tav>
                                      </p:tavLst>
                                    </p:anim>
                                  </p:childTnLst>
                                </p:cTn>
                              </p:par>
                              <p:par>
                                <p:cTn id="152" presetID="42" presetClass="entr" presetSubtype="0" fill="hold" grpId="0" nodeType="withEffect">
                                  <p:stCondLst>
                                    <p:cond delay="150"/>
                                  </p:stCondLst>
                                  <p:childTnLst>
                                    <p:set>
                                      <p:cBhvr>
                                        <p:cTn id="153" dur="1" fill="hold">
                                          <p:stCondLst>
                                            <p:cond delay="0"/>
                                          </p:stCondLst>
                                        </p:cTn>
                                        <p:tgtEl>
                                          <p:spTgt spid="131"/>
                                        </p:tgtEl>
                                        <p:attrNameLst>
                                          <p:attrName>style.visibility</p:attrName>
                                        </p:attrNameLst>
                                      </p:cBhvr>
                                      <p:to>
                                        <p:strVal val="visible"/>
                                      </p:to>
                                    </p:set>
                                    <p:animEffect transition="in" filter="fade">
                                      <p:cBhvr>
                                        <p:cTn id="154" dur="500"/>
                                        <p:tgtEl>
                                          <p:spTgt spid="131"/>
                                        </p:tgtEl>
                                      </p:cBhvr>
                                    </p:animEffect>
                                    <p:anim calcmode="lin" valueType="num">
                                      <p:cBhvr additive="base">
                                        <p:cTn id="155" dur="500" decel="100000" fill="hold"/>
                                        <p:tgtEl>
                                          <p:spTgt spid="131"/>
                                        </p:tgtEl>
                                        <p:attrNameLst>
                                          <p:attrName>ppt_y</p:attrName>
                                        </p:attrNameLst>
                                      </p:cBhvr>
                                      <p:tavLst>
                                        <p:tav tm="0">
                                          <p:val>
                                            <p:strVal val="#ppt_y+0.06"/>
                                          </p:val>
                                        </p:tav>
                                        <p:tav tm="100000">
                                          <p:val>
                                            <p:strVal val="#ppt_y"/>
                                          </p:val>
                                        </p:tav>
                                      </p:tavLst>
                                    </p:anim>
                                  </p:childTnLst>
                                </p:cTn>
                              </p:par>
                            </p:childTnLst>
                          </p:cTn>
                        </p:par>
                      </p:childTnLst>
                    </p:cTn>
                  </p:par>
                  <p:par>
                    <p:cTn id="156" fill="hold">
                      <p:stCondLst>
                        <p:cond delay="indefinite"/>
                      </p:stCondLst>
                      <p:childTnLst>
                        <p:par>
                          <p:cTn id="157" fill="hold">
                            <p:stCondLst>
                              <p:cond delay="0"/>
                            </p:stCondLst>
                            <p:childTnLst>
                              <p:par>
                                <p:cTn id="158" presetID="42" presetClass="entr" presetSubtype="0" fill="hold" grpId="0" nodeType="clickEffect">
                                  <p:stCondLst>
                                    <p:cond delay="0"/>
                                  </p:stCondLst>
                                  <p:childTnLst>
                                    <p:set>
                                      <p:cBhvr>
                                        <p:cTn id="159" dur="1" fill="hold">
                                          <p:stCondLst>
                                            <p:cond delay="0"/>
                                          </p:stCondLst>
                                        </p:cTn>
                                        <p:tgtEl>
                                          <p:spTgt spid="132"/>
                                        </p:tgtEl>
                                        <p:attrNameLst>
                                          <p:attrName>style.visibility</p:attrName>
                                        </p:attrNameLst>
                                      </p:cBhvr>
                                      <p:to>
                                        <p:strVal val="visible"/>
                                      </p:to>
                                    </p:set>
                                    <p:animEffect transition="in" filter="fade">
                                      <p:cBhvr>
                                        <p:cTn id="160" dur="500"/>
                                        <p:tgtEl>
                                          <p:spTgt spid="132"/>
                                        </p:tgtEl>
                                      </p:cBhvr>
                                    </p:animEffect>
                                    <p:anim calcmode="lin" valueType="num">
                                      <p:cBhvr additive="base">
                                        <p:cTn id="161" dur="500" decel="100000" fill="hold"/>
                                        <p:tgtEl>
                                          <p:spTgt spid="132"/>
                                        </p:tgtEl>
                                        <p:attrNameLst>
                                          <p:attrName>ppt_x</p:attrName>
                                        </p:attrNameLst>
                                      </p:cBhvr>
                                      <p:tavLst>
                                        <p:tav tm="0">
                                          <p:val>
                                            <p:strVal val="#ppt_x-0.05"/>
                                          </p:val>
                                        </p:tav>
                                        <p:tav tm="100000">
                                          <p:val>
                                            <p:strVal val="#ppt_x"/>
                                          </p:val>
                                        </p:tav>
                                      </p:tavLst>
                                    </p:anim>
                                  </p:childTnLst>
                                </p:cTn>
                              </p:par>
                              <p:par>
                                <p:cTn id="162" presetID="42" presetClass="entr" presetSubtype="0" fill="hold" grpId="0" nodeType="withEffect">
                                  <p:stCondLst>
                                    <p:cond delay="150"/>
                                  </p:stCondLst>
                                  <p:childTnLst>
                                    <p:set>
                                      <p:cBhvr>
                                        <p:cTn id="163" dur="1" fill="hold">
                                          <p:stCondLst>
                                            <p:cond delay="0"/>
                                          </p:stCondLst>
                                        </p:cTn>
                                        <p:tgtEl>
                                          <p:spTgt spid="133"/>
                                        </p:tgtEl>
                                        <p:attrNameLst>
                                          <p:attrName>style.visibility</p:attrName>
                                        </p:attrNameLst>
                                      </p:cBhvr>
                                      <p:to>
                                        <p:strVal val="visible"/>
                                      </p:to>
                                    </p:set>
                                    <p:animEffect transition="in" filter="fade">
                                      <p:cBhvr>
                                        <p:cTn id="164" dur="500"/>
                                        <p:tgtEl>
                                          <p:spTgt spid="133"/>
                                        </p:tgtEl>
                                      </p:cBhvr>
                                    </p:animEffect>
                                    <p:anim calcmode="lin" valueType="num">
                                      <p:cBhvr additive="base">
                                        <p:cTn id="165" dur="500" decel="100000" fill="hold"/>
                                        <p:tgtEl>
                                          <p:spTgt spid="133"/>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WHICH ONE?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Which Double Do I Need? Ask These Questions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Go from the top. The first YES gives you the double.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162</a:t>
            </a:r>
            <a:endParaRPr lang="en-US" sz="850" dirty="0"/>
          </a:p>
        </p:txBody>
      </p:sp>
      <p:sp>
        <p:nvSpPr>
          <p:cNvPr id="101" name="s101"/>
          <p:cNvSpPr/>
          <p:nvPr/>
        </p:nvSpPr>
        <p:spPr>
          <a:xfrm>
            <a:off x="543154" y="1810512"/>
            <a:ext cx="5852160" cy="621792"/>
          </a:xfrm>
          <a:prstGeom prst="roundRect">
            <a:avLst>
              <a:gd name="adj" fmla="val 15000"/>
            </a:avLst>
          </a:prstGeom>
          <a:solidFill>
            <a:srgbClr val="111B2E"/>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94A3B8"/>
                </a:solidFill>
                <a:latin typeface="Segoe UI"/>
                <a:ea typeface="Segoe UI"/>
                <a:cs typeface="Segoe UI"/>
              </a:rPr>
              <a:t>1  </a:t>
            </a:r>
            <a:r>
              <a:rPr lang="en-US" sz="1350" b="0" dirty="0">
                <a:solidFill>
                  <a:srgbClr val="FFFFFF"/>
                </a:solidFill>
                <a:latin typeface="Segoe UI"/>
                <a:ea typeface="Segoe UI"/>
                <a:cs typeface="Segoe UI"/>
              </a:rPr>
              <a:t>Does the class ASK it for data you must control?</a:t>
            </a:r>
            <a:endParaRPr lang="en-US" sz="1350" dirty="0"/>
          </a:p>
        </p:txBody>
      </p:sp>
      <p:sp>
        <p:nvSpPr>
          <p:cNvPr id="102" name="s102"/>
          <p:cNvSpPr txBox="1"/>
          <p:nvPr/>
        </p:nvSpPr>
        <p:spPr>
          <a:xfrm>
            <a:off x="6441034" y="1810512"/>
            <a:ext cx="457200" cy="621792"/>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100" b="1" dirty="0">
                <a:solidFill>
                  <a:srgbClr val="94A3B8"/>
                </a:solidFill>
                <a:latin typeface="Segoe UI"/>
                <a:ea typeface="Segoe UI"/>
                <a:cs typeface="Segoe UI"/>
              </a:rPr>
              <a:t>YES →</a:t>
            </a:r>
            <a:endParaRPr lang="en-US" sz="1100" dirty="0"/>
          </a:p>
        </p:txBody>
      </p:sp>
      <p:sp>
        <p:nvSpPr>
          <p:cNvPr id="103" name="s103"/>
          <p:cNvSpPr/>
          <p:nvPr/>
        </p:nvSpPr>
        <p:spPr>
          <a:xfrm>
            <a:off x="6943954" y="1810512"/>
            <a:ext cx="1737360" cy="621792"/>
          </a:xfrm>
          <a:prstGeom prst="roundRect">
            <a:avLst>
              <a:gd name="adj" fmla="val 15000"/>
            </a:avLst>
          </a:prstGeom>
          <a:solidFill>
            <a:srgbClr val="13D0F7">
              <a:alpha val="18000"/>
            </a:srgbClr>
          </a:solidFill>
          <a:ln w="254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500" b="1" dirty="0">
                <a:solidFill>
                  <a:srgbClr val="13D0F7"/>
                </a:solidFill>
                <a:latin typeface="Consolas"/>
                <a:ea typeface="Consolas"/>
                <a:cs typeface="Consolas"/>
              </a:rPr>
              <a:t>STUB</a:t>
            </a:r>
            <a:r>
              <a:rPr lang="en-US" sz="1500" b="0" dirty="0">
                <a:solidFill>
                  <a:srgbClr val="FBBF24"/>
                </a:solidFill>
                <a:latin typeface="Segoe UI"/>
                <a:ea typeface="Segoe UI"/>
                <a:cs typeface="Segoe UI"/>
              </a:rPr>
              <a:t>  ★★★</a:t>
            </a:r>
            <a:endParaRPr lang="en-US" sz="1500" dirty="0"/>
          </a:p>
        </p:txBody>
      </p:sp>
      <p:sp>
        <p:nvSpPr>
          <p:cNvPr id="104" name="s104"/>
          <p:cNvSpPr txBox="1"/>
          <p:nvPr/>
        </p:nvSpPr>
        <p:spPr>
          <a:xfrm>
            <a:off x="8818474" y="1810512"/>
            <a:ext cx="2766974" cy="62179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.Returns(48.5m)</a:t>
            </a:r>
            <a:endParaRPr lang="en-US" sz="1150" dirty="0"/>
          </a:p>
        </p:txBody>
      </p:sp>
      <p:sp>
        <p:nvSpPr>
          <p:cNvPr id="105" name="s105"/>
          <p:cNvSpPr/>
          <p:nvPr/>
        </p:nvSpPr>
        <p:spPr>
          <a:xfrm>
            <a:off x="543154" y="2560320"/>
            <a:ext cx="5852160" cy="621792"/>
          </a:xfrm>
          <a:prstGeom prst="roundRect">
            <a:avLst>
              <a:gd name="adj" fmla="val 15000"/>
            </a:avLst>
          </a:prstGeom>
          <a:solidFill>
            <a:srgbClr val="111B2E"/>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94A3B8"/>
                </a:solidFill>
                <a:latin typeface="Segoe UI"/>
                <a:ea typeface="Segoe UI"/>
                <a:cs typeface="Segoe UI"/>
              </a:rPr>
              <a:t>2  </a:t>
            </a:r>
            <a:r>
              <a:rPr lang="en-US" sz="1350" b="0" dirty="0">
                <a:solidFill>
                  <a:srgbClr val="FFFFFF"/>
                </a:solidFill>
                <a:latin typeface="Segoe UI"/>
                <a:ea typeface="Segoe UI"/>
                <a:cs typeface="Segoe UI"/>
              </a:rPr>
              <a:t>Is the result a CALL with no return value?</a:t>
            </a:r>
            <a:endParaRPr lang="en-US" sz="1350" dirty="0"/>
          </a:p>
        </p:txBody>
      </p:sp>
      <p:sp>
        <p:nvSpPr>
          <p:cNvPr id="106" name="s106"/>
          <p:cNvSpPr txBox="1"/>
          <p:nvPr/>
        </p:nvSpPr>
        <p:spPr>
          <a:xfrm>
            <a:off x="6441034" y="2560320"/>
            <a:ext cx="457200" cy="621792"/>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100" b="1" dirty="0">
                <a:solidFill>
                  <a:srgbClr val="94A3B8"/>
                </a:solidFill>
                <a:latin typeface="Segoe UI"/>
                <a:ea typeface="Segoe UI"/>
                <a:cs typeface="Segoe UI"/>
              </a:rPr>
              <a:t>YES →</a:t>
            </a:r>
            <a:endParaRPr lang="en-US" sz="1100" dirty="0"/>
          </a:p>
        </p:txBody>
      </p:sp>
      <p:sp>
        <p:nvSpPr>
          <p:cNvPr id="107" name="s107"/>
          <p:cNvSpPr/>
          <p:nvPr/>
        </p:nvSpPr>
        <p:spPr>
          <a:xfrm>
            <a:off x="6943954" y="2560320"/>
            <a:ext cx="1737360" cy="621792"/>
          </a:xfrm>
          <a:prstGeom prst="roundRect">
            <a:avLst>
              <a:gd name="adj" fmla="val 15000"/>
            </a:avLst>
          </a:prstGeom>
          <a:solidFill>
            <a:srgbClr val="34D399">
              <a:alpha val="18000"/>
            </a:srgbClr>
          </a:solidFill>
          <a:ln w="254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500" b="1" dirty="0">
                <a:solidFill>
                  <a:srgbClr val="34D399"/>
                </a:solidFill>
                <a:latin typeface="Consolas"/>
                <a:ea typeface="Consolas"/>
                <a:cs typeface="Consolas"/>
              </a:rPr>
              <a:t>MOCK</a:t>
            </a:r>
            <a:r>
              <a:rPr lang="en-US" sz="1500" b="0" dirty="0">
                <a:solidFill>
                  <a:srgbClr val="FBBF24"/>
                </a:solidFill>
                <a:latin typeface="Segoe UI"/>
                <a:ea typeface="Segoe UI"/>
                <a:cs typeface="Segoe UI"/>
              </a:rPr>
              <a:t>  ★★★</a:t>
            </a:r>
            <a:endParaRPr lang="en-US" sz="1500" dirty="0"/>
          </a:p>
        </p:txBody>
      </p:sp>
      <p:sp>
        <p:nvSpPr>
          <p:cNvPr id="108" name="s108"/>
          <p:cNvSpPr txBox="1"/>
          <p:nvPr/>
        </p:nvSpPr>
        <p:spPr>
          <a:xfrm>
            <a:off x="8818474" y="2560320"/>
            <a:ext cx="2766974" cy="62179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.Received(1).Send(…)</a:t>
            </a:r>
            <a:endParaRPr lang="en-US" sz="1150" dirty="0"/>
          </a:p>
        </p:txBody>
      </p:sp>
      <p:sp>
        <p:nvSpPr>
          <p:cNvPr id="109" name="s109"/>
          <p:cNvSpPr/>
          <p:nvPr/>
        </p:nvSpPr>
        <p:spPr>
          <a:xfrm>
            <a:off x="543154" y="3310128"/>
            <a:ext cx="5852160" cy="621792"/>
          </a:xfrm>
          <a:prstGeom prst="roundRect">
            <a:avLst>
              <a:gd name="adj" fmla="val 15000"/>
            </a:avLst>
          </a:prstGeom>
          <a:solidFill>
            <a:srgbClr val="111B2E"/>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94A3B8"/>
                </a:solidFill>
                <a:latin typeface="Segoe UI"/>
                <a:ea typeface="Segoe UI"/>
                <a:cs typeface="Segoe UI"/>
              </a:rPr>
              <a:t>3  </a:t>
            </a:r>
            <a:r>
              <a:rPr lang="en-US" sz="1350" b="0" dirty="0">
                <a:solidFill>
                  <a:srgbClr val="FFFFFF"/>
                </a:solidFill>
                <a:latin typeface="Segoe UI"/>
                <a:ea typeface="Segoe UI"/>
                <a:cs typeface="Segoe UI"/>
              </a:rPr>
              <a:t>Must it really store and give back data?</a:t>
            </a:r>
            <a:endParaRPr lang="en-US" sz="1350" dirty="0"/>
          </a:p>
        </p:txBody>
      </p:sp>
      <p:sp>
        <p:nvSpPr>
          <p:cNvPr id="110" name="s110"/>
          <p:cNvSpPr txBox="1"/>
          <p:nvPr/>
        </p:nvSpPr>
        <p:spPr>
          <a:xfrm>
            <a:off x="6441034" y="3310128"/>
            <a:ext cx="457200" cy="621792"/>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100" b="1" dirty="0">
                <a:solidFill>
                  <a:srgbClr val="94A3B8"/>
                </a:solidFill>
                <a:latin typeface="Segoe UI"/>
                <a:ea typeface="Segoe UI"/>
                <a:cs typeface="Segoe UI"/>
              </a:rPr>
              <a:t>YES →</a:t>
            </a:r>
            <a:endParaRPr lang="en-US" sz="1100" dirty="0"/>
          </a:p>
        </p:txBody>
      </p:sp>
      <p:sp>
        <p:nvSpPr>
          <p:cNvPr id="111" name="s111"/>
          <p:cNvSpPr/>
          <p:nvPr/>
        </p:nvSpPr>
        <p:spPr>
          <a:xfrm>
            <a:off x="6943954" y="3310128"/>
            <a:ext cx="1737360" cy="621792"/>
          </a:xfrm>
          <a:prstGeom prst="roundRect">
            <a:avLst>
              <a:gd name="adj" fmla="val 15000"/>
            </a:avLst>
          </a:prstGeom>
          <a:solidFill>
            <a:srgbClr val="FBBF24">
              <a:alpha val="18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500" b="1" dirty="0">
                <a:solidFill>
                  <a:srgbClr val="FBBF24"/>
                </a:solidFill>
                <a:latin typeface="Consolas"/>
                <a:ea typeface="Consolas"/>
                <a:cs typeface="Consolas"/>
              </a:rPr>
              <a:t>FAKE</a:t>
            </a:r>
            <a:r>
              <a:rPr lang="en-US" sz="1500" b="0" dirty="0">
                <a:solidFill>
                  <a:srgbClr val="FBBF24"/>
                </a:solidFill>
                <a:latin typeface="Segoe UI"/>
                <a:ea typeface="Segoe UI"/>
                <a:cs typeface="Segoe UI"/>
              </a:rPr>
              <a:t>  ★★</a:t>
            </a:r>
            <a:endParaRPr lang="en-US" sz="1500" dirty="0"/>
          </a:p>
        </p:txBody>
      </p:sp>
      <p:sp>
        <p:nvSpPr>
          <p:cNvPr id="112" name="s112"/>
          <p:cNvSpPr txBox="1"/>
          <p:nvPr/>
        </p:nvSpPr>
        <p:spPr>
          <a:xfrm>
            <a:off x="8818474" y="3310128"/>
            <a:ext cx="2766974" cy="62179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InMemoryAccountRepository</a:t>
            </a:r>
            <a:endParaRPr lang="en-US" sz="1150" dirty="0"/>
          </a:p>
        </p:txBody>
      </p:sp>
      <p:sp>
        <p:nvSpPr>
          <p:cNvPr id="113" name="s113"/>
          <p:cNvSpPr/>
          <p:nvPr/>
        </p:nvSpPr>
        <p:spPr>
          <a:xfrm>
            <a:off x="543154" y="4059936"/>
            <a:ext cx="5852160" cy="621792"/>
          </a:xfrm>
          <a:prstGeom prst="roundRect">
            <a:avLst>
              <a:gd name="adj" fmla="val 15000"/>
            </a:avLst>
          </a:prstGeom>
          <a:solidFill>
            <a:srgbClr val="111B2E"/>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94A3B8"/>
                </a:solidFill>
                <a:latin typeface="Segoe UI"/>
                <a:ea typeface="Segoe UI"/>
                <a:cs typeface="Segoe UI"/>
              </a:rPr>
              <a:t>4  </a:t>
            </a:r>
            <a:r>
              <a:rPr lang="en-US" sz="1350" b="0" dirty="0">
                <a:solidFill>
                  <a:srgbClr val="FFFFFF"/>
                </a:solidFill>
                <a:latin typeface="Segoe UI"/>
                <a:ea typeface="Segoe UI"/>
                <a:cs typeface="Segoe UI"/>
              </a:rPr>
              <a:t>Is it only a required parameter, never used?</a:t>
            </a:r>
            <a:endParaRPr lang="en-US" sz="1350" dirty="0"/>
          </a:p>
        </p:txBody>
      </p:sp>
      <p:sp>
        <p:nvSpPr>
          <p:cNvPr id="114" name="s114"/>
          <p:cNvSpPr txBox="1"/>
          <p:nvPr/>
        </p:nvSpPr>
        <p:spPr>
          <a:xfrm>
            <a:off x="6441034" y="4059936"/>
            <a:ext cx="457200" cy="621792"/>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100" b="1" dirty="0">
                <a:solidFill>
                  <a:srgbClr val="94A3B8"/>
                </a:solidFill>
                <a:latin typeface="Segoe UI"/>
                <a:ea typeface="Segoe UI"/>
                <a:cs typeface="Segoe UI"/>
              </a:rPr>
              <a:t>YES →</a:t>
            </a:r>
            <a:endParaRPr lang="en-US" sz="1100" dirty="0"/>
          </a:p>
        </p:txBody>
      </p:sp>
      <p:sp>
        <p:nvSpPr>
          <p:cNvPr id="115" name="s115"/>
          <p:cNvSpPr/>
          <p:nvPr/>
        </p:nvSpPr>
        <p:spPr>
          <a:xfrm>
            <a:off x="6943954" y="4059936"/>
            <a:ext cx="1737360" cy="621792"/>
          </a:xfrm>
          <a:prstGeom prst="roundRect">
            <a:avLst>
              <a:gd name="adj" fmla="val 15000"/>
            </a:avLst>
          </a:prstGeom>
          <a:solidFill>
            <a:srgbClr val="94A3B8">
              <a:alpha val="18000"/>
            </a:srgbClr>
          </a:solidFill>
          <a:ln w="12700">
            <a:solidFill>
              <a:srgbClr val="94A3B8"/>
            </a:solidFill>
            <a:prstDash val="solid"/>
          </a:ln>
        </p:spPr>
        <p:txBody>
          <a:bodyPr wrap="square" lIns="0" tIns="0" rIns="0" bIns="0" rtlCol="0" anchor="ctr">
            <a:noAutofit/>
          </a:bodyPr>
          <a:lstStyle/>
          <a:p>
            <a:pPr marL="0" indent="0" algn="ctr">
              <a:spcBef>
                <a:spcPts val="0"/>
              </a:spcBef>
              <a:spcAft>
                <a:spcPts val="0"/>
              </a:spcAft>
              <a:buNone/>
            </a:pPr>
            <a:r>
              <a:rPr lang="en-US" sz="1500" b="1" dirty="0">
                <a:solidFill>
                  <a:srgbClr val="94A3B8"/>
                </a:solidFill>
                <a:latin typeface="Consolas"/>
                <a:ea typeface="Consolas"/>
                <a:cs typeface="Consolas"/>
              </a:rPr>
              <a:t>DUMMY</a:t>
            </a:r>
            <a:r>
              <a:rPr lang="en-US" sz="1500" b="0" dirty="0">
                <a:solidFill>
                  <a:srgbClr val="FBBF24"/>
                </a:solidFill>
                <a:latin typeface="Segoe UI"/>
                <a:ea typeface="Segoe UI"/>
                <a:cs typeface="Segoe UI"/>
              </a:rPr>
              <a:t>  ★</a:t>
            </a:r>
            <a:endParaRPr lang="en-US" sz="1500" dirty="0"/>
          </a:p>
        </p:txBody>
      </p:sp>
      <p:sp>
        <p:nvSpPr>
          <p:cNvPr id="116" name="s116"/>
          <p:cNvSpPr txBox="1"/>
          <p:nvPr/>
        </p:nvSpPr>
        <p:spPr>
          <a:xfrm>
            <a:off x="8818474" y="4059936"/>
            <a:ext cx="2766974" cy="62179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new DummyLogger()</a:t>
            </a:r>
            <a:endParaRPr lang="en-US" sz="1150" dirty="0"/>
          </a:p>
        </p:txBody>
      </p:sp>
      <p:sp>
        <p:nvSpPr>
          <p:cNvPr id="117" name="s117"/>
          <p:cNvSpPr/>
          <p:nvPr/>
        </p:nvSpPr>
        <p:spPr>
          <a:xfrm>
            <a:off x="543154" y="4809744"/>
            <a:ext cx="5852160" cy="621792"/>
          </a:xfrm>
          <a:prstGeom prst="roundRect">
            <a:avLst>
              <a:gd name="adj" fmla="val 15000"/>
            </a:avLst>
          </a:prstGeom>
          <a:solidFill>
            <a:srgbClr val="111B2E"/>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94A3B8"/>
                </a:solidFill>
                <a:latin typeface="Segoe UI"/>
                <a:ea typeface="Segoe UI"/>
                <a:cs typeface="Segoe UI"/>
              </a:rPr>
              <a:t>5  </a:t>
            </a:r>
            <a:r>
              <a:rPr lang="en-US" sz="1350" b="0" dirty="0">
                <a:solidFill>
                  <a:srgbClr val="FFFFFF"/>
                </a:solidFill>
                <a:latin typeface="Segoe UI"/>
                <a:ea typeface="Segoe UI"/>
                <a:cs typeface="Segoe UI"/>
              </a:rPr>
              <a:t>Writing it by hand and recording the calls?</a:t>
            </a:r>
            <a:endParaRPr lang="en-US" sz="1350" dirty="0"/>
          </a:p>
        </p:txBody>
      </p:sp>
      <p:sp>
        <p:nvSpPr>
          <p:cNvPr id="118" name="s118"/>
          <p:cNvSpPr txBox="1"/>
          <p:nvPr/>
        </p:nvSpPr>
        <p:spPr>
          <a:xfrm>
            <a:off x="6441034" y="4809744"/>
            <a:ext cx="457200" cy="621792"/>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100" b="1" dirty="0">
                <a:solidFill>
                  <a:srgbClr val="94A3B8"/>
                </a:solidFill>
                <a:latin typeface="Segoe UI"/>
                <a:ea typeface="Segoe UI"/>
                <a:cs typeface="Segoe UI"/>
              </a:rPr>
              <a:t>YES →</a:t>
            </a:r>
            <a:endParaRPr lang="en-US" sz="1100" dirty="0"/>
          </a:p>
        </p:txBody>
      </p:sp>
      <p:sp>
        <p:nvSpPr>
          <p:cNvPr id="119" name="s119"/>
          <p:cNvSpPr/>
          <p:nvPr/>
        </p:nvSpPr>
        <p:spPr>
          <a:xfrm>
            <a:off x="6943954" y="4809744"/>
            <a:ext cx="1737360" cy="621792"/>
          </a:xfrm>
          <a:prstGeom prst="roundRect">
            <a:avLst>
              <a:gd name="adj" fmla="val 15000"/>
            </a:avLst>
          </a:prstGeom>
          <a:solidFill>
            <a:srgbClr val="A78BFA">
              <a:alpha val="18000"/>
            </a:srgbClr>
          </a:solidFill>
          <a:ln w="1270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500" b="1" dirty="0">
                <a:solidFill>
                  <a:srgbClr val="A78BFA"/>
                </a:solidFill>
                <a:latin typeface="Consolas"/>
                <a:ea typeface="Consolas"/>
                <a:cs typeface="Consolas"/>
              </a:rPr>
              <a:t>SPY</a:t>
            </a:r>
            <a:r>
              <a:rPr lang="en-US" sz="1500" b="0" dirty="0">
                <a:solidFill>
                  <a:srgbClr val="FBBF24"/>
                </a:solidFill>
                <a:latin typeface="Segoe UI"/>
                <a:ea typeface="Segoe UI"/>
                <a:cs typeface="Segoe UI"/>
              </a:rPr>
              <a:t>  ★</a:t>
            </a:r>
            <a:endParaRPr lang="en-US" sz="1500" dirty="0"/>
          </a:p>
        </p:txBody>
      </p:sp>
      <p:sp>
        <p:nvSpPr>
          <p:cNvPr id="120" name="s120"/>
          <p:cNvSpPr txBox="1"/>
          <p:nvPr/>
        </p:nvSpPr>
        <p:spPr>
          <a:xfrm>
            <a:off x="8818474" y="4809744"/>
            <a:ext cx="2766974" cy="62179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CBD5E1"/>
                </a:solidFill>
                <a:latin typeface="Consolas"/>
                <a:ea typeface="Consolas"/>
                <a:cs typeface="Consolas"/>
              </a:rPr>
              <a:t>spy.Sent</a:t>
            </a:r>
            <a:endParaRPr lang="en-US" sz="1150" dirty="0"/>
          </a:p>
        </p:txBody>
      </p:sp>
      <p:sp>
        <p:nvSpPr>
          <p:cNvPr id="121" name="s121"/>
          <p:cNvSpPr/>
          <p:nvPr/>
        </p:nvSpPr>
        <p:spPr>
          <a:xfrm>
            <a:off x="543154" y="5650992"/>
            <a:ext cx="11088014" cy="548640"/>
          </a:xfrm>
          <a:prstGeom prst="roundRect">
            <a:avLst>
              <a:gd name="adj" fmla="val 15000"/>
            </a:avLst>
          </a:prstGeom>
          <a:solidFill>
            <a:srgbClr val="FBBF24">
              <a:alpha val="10000"/>
            </a:srgbClr>
          </a:solidFill>
          <a:ln w="12700">
            <a:solidFill>
              <a:srgbClr val="FBBF24"/>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50" b="0" dirty="0">
                <a:solidFill>
                  <a:srgbClr val="E2E8F0"/>
                </a:solidFill>
                <a:latin typeface="Segoe UI"/>
                <a:ea typeface="Segoe UI"/>
                <a:cs typeface="Segoe UI"/>
              </a:rPr>
              <a:t>The same IEmailSender can be a </a:t>
            </a:r>
            <a:r>
              <a:rPr lang="en-US" sz="1350" b="1" dirty="0">
                <a:solidFill>
                  <a:srgbClr val="94A3B8"/>
                </a:solidFill>
                <a:latin typeface="Segoe UI"/>
                <a:ea typeface="Segoe UI"/>
                <a:cs typeface="Segoe UI"/>
              </a:rPr>
              <a:t>dummy</a:t>
            </a:r>
            <a:r>
              <a:rPr lang="en-US" sz="1350" b="0" dirty="0">
                <a:solidFill>
                  <a:srgbClr val="E2E8F0"/>
                </a:solidFill>
                <a:latin typeface="Segoe UI"/>
                <a:ea typeface="Segoe UI"/>
                <a:cs typeface="Segoe UI"/>
              </a:rPr>
              <a:t> in one test and a </a:t>
            </a:r>
            <a:r>
              <a:rPr lang="en-US" sz="1350" b="1" dirty="0">
                <a:solidFill>
                  <a:srgbClr val="34D399"/>
                </a:solidFill>
                <a:latin typeface="Segoe UI"/>
                <a:ea typeface="Segoe UI"/>
                <a:cs typeface="Segoe UI"/>
              </a:rPr>
              <a:t>mock</a:t>
            </a:r>
            <a:r>
              <a:rPr lang="en-US" sz="1350" b="0" dirty="0">
                <a:solidFill>
                  <a:srgbClr val="E2E8F0"/>
                </a:solidFill>
                <a:latin typeface="Segoe UI"/>
                <a:ea typeface="Segoe UI"/>
                <a:cs typeface="Segoe UI"/>
              </a:rPr>
              <a:t> in another:  it depends on what THIS test checks.</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102"/>
                                        </p:tgtEl>
                                        <p:attrNameLst>
                                          <p:attrName>style.visibility</p:attrName>
                                        </p:attrNameLst>
                                      </p:cBhvr>
                                      <p:to>
                                        <p:strVal val="visible"/>
                                      </p:to>
                                    </p:set>
                                    <p:animEffect transition="in" filter="fade">
                                      <p:cBhvr>
                                        <p:cTn id="13" dur="500"/>
                                        <p:tgtEl>
                                          <p:spTgt spid="102"/>
                                        </p:tgtEl>
                                      </p:cBhvr>
                                    </p:animEffect>
                                  </p:childTnLst>
                                </p:cTn>
                              </p:par>
                              <p:par>
                                <p:cTn id="14" presetID="53" presetClass="entr" presetSubtype="16" fill="hold" grpId="0" nodeType="withEffect">
                                  <p:stCondLst>
                                    <p:cond delay="120"/>
                                  </p:stCondLst>
                                  <p:childTnLst>
                                    <p:set>
                                      <p:cBhvr>
                                        <p:cTn id="15" dur="1" fill="hold">
                                          <p:stCondLst>
                                            <p:cond delay="0"/>
                                          </p:stCondLst>
                                        </p:cTn>
                                        <p:tgtEl>
                                          <p:spTgt spid="103"/>
                                        </p:tgtEl>
                                        <p:attrNameLst>
                                          <p:attrName>style.visibility</p:attrName>
                                        </p:attrNameLst>
                                      </p:cBhvr>
                                      <p:to>
                                        <p:strVal val="visible"/>
                                      </p:to>
                                    </p:set>
                                    <p:anim calcmode="lin" valueType="num">
                                      <p:cBhvr additive="base">
                                        <p:cTn id="16" dur="500" decel="100000" fill="hold"/>
                                        <p:tgtEl>
                                          <p:spTgt spid="103"/>
                                        </p:tgtEl>
                                        <p:attrNameLst>
                                          <p:attrName>ppt_w</p:attrName>
                                        </p:attrNameLst>
                                      </p:cBhvr>
                                      <p:tavLst>
                                        <p:tav tm="0">
                                          <p:val>
                                            <p:strVal val="#ppt_w*0.3"/>
                                          </p:val>
                                        </p:tav>
                                        <p:tav tm="100000">
                                          <p:val>
                                            <p:strVal val="#ppt_w*1.08"/>
                                          </p:val>
                                        </p:tav>
                                      </p:tavLst>
                                    </p:anim>
                                    <p:anim calcmode="lin" valueType="num">
                                      <p:cBhvr additive="base">
                                        <p:cTn id="17" dur="500" decel="100000" fill="hold"/>
                                        <p:tgtEl>
                                          <p:spTgt spid="103"/>
                                        </p:tgtEl>
                                        <p:attrNameLst>
                                          <p:attrName>ppt_h</p:attrName>
                                        </p:attrNameLst>
                                      </p:cBhvr>
                                      <p:tavLst>
                                        <p:tav tm="0">
                                          <p:val>
                                            <p:strVal val="#ppt_h*0.3"/>
                                          </p:val>
                                        </p:tav>
                                        <p:tav tm="100000">
                                          <p:val>
                                            <p:strVal val="#ppt_h*1.08"/>
                                          </p:val>
                                        </p:tav>
                                      </p:tavLst>
                                    </p:anim>
                                    <p:animEffect transition="in" filter="fade">
                                      <p:cBhvr>
                                        <p:cTn id="18" dur="250"/>
                                        <p:tgtEl>
                                          <p:spTgt spid="103"/>
                                        </p:tgtEl>
                                      </p:cBhvr>
                                    </p:animEffect>
                                    <p:anim calcmode="lin" valueType="num">
                                      <p:cBhvr additive="base">
                                        <p:cTn id="19" dur="160" fill="hold">
                                          <p:stCondLst>
                                            <p:cond delay="500"/>
                                          </p:stCondLst>
                                        </p:cTn>
                                        <p:tgtEl>
                                          <p:spTgt spid="103"/>
                                        </p:tgtEl>
                                        <p:attrNameLst>
                                          <p:attrName>ppt_w</p:attrName>
                                        </p:attrNameLst>
                                      </p:cBhvr>
                                      <p:tavLst>
                                        <p:tav tm="0">
                                          <p:val>
                                            <p:strVal val="#ppt_w*1.08"/>
                                          </p:val>
                                        </p:tav>
                                        <p:tav tm="100000">
                                          <p:val>
                                            <p:strVal val="#ppt_w"/>
                                          </p:val>
                                        </p:tav>
                                      </p:tavLst>
                                    </p:anim>
                                    <p:anim calcmode="lin" valueType="num">
                                      <p:cBhvr additive="base">
                                        <p:cTn id="20" dur="160" fill="hold">
                                          <p:stCondLst>
                                            <p:cond delay="500"/>
                                          </p:stCondLst>
                                        </p:cTn>
                                        <p:tgtEl>
                                          <p:spTgt spid="103"/>
                                        </p:tgtEl>
                                        <p:attrNameLst>
                                          <p:attrName>ppt_h</p:attrName>
                                        </p:attrNameLst>
                                      </p:cBhvr>
                                      <p:tavLst>
                                        <p:tav tm="0">
                                          <p:val>
                                            <p:strVal val="#ppt_h*1.08"/>
                                          </p:val>
                                        </p:tav>
                                        <p:tav tm="100000">
                                          <p:val>
                                            <p:strVal val="#ppt_h"/>
                                          </p:val>
                                        </p:tav>
                                      </p:tavLst>
                                    </p:anim>
                                  </p:childTnLst>
                                </p:cTn>
                              </p:par>
                              <p:par>
                                <p:cTn id="21" presetID="10" presetClass="entr" presetSubtype="0" fill="hold" grpId="0" nodeType="withEffect">
                                  <p:stCondLst>
                                    <p:cond delay="240"/>
                                  </p:stCondLst>
                                  <p:childTnLst>
                                    <p:set>
                                      <p:cBhvr>
                                        <p:cTn id="22" dur="1" fill="hold">
                                          <p:stCondLst>
                                            <p:cond delay="0"/>
                                          </p:stCondLst>
                                        </p:cTn>
                                        <p:tgtEl>
                                          <p:spTgt spid="104"/>
                                        </p:tgtEl>
                                        <p:attrNameLst>
                                          <p:attrName>style.visibility</p:attrName>
                                        </p:attrNameLst>
                                      </p:cBhvr>
                                      <p:to>
                                        <p:strVal val="visible"/>
                                      </p:to>
                                    </p:set>
                                    <p:animEffect transition="in" filter="fade">
                                      <p:cBhvr>
                                        <p:cTn id="23" dur="500"/>
                                        <p:tgtEl>
                                          <p:spTgt spid="104"/>
                                        </p:tgtEl>
                                      </p:cBhvr>
                                    </p:animEffect>
                                  </p:childTnLst>
                                </p:cTn>
                              </p:par>
                            </p:childTnLst>
                          </p:cTn>
                        </p:par>
                      </p:childTnLst>
                    </p:cTn>
                  </p:par>
                  <p:par>
                    <p:cTn id="24" fill="hold">
                      <p:stCondLst>
                        <p:cond delay="indefinite"/>
                        <p:cond evt="onBegin" delay="0">
                          <p:tn val="2"/>
                        </p:cond>
                      </p:stCondLst>
                      <p:childTnLst>
                        <p:par>
                          <p:cTn id="25" fill="hold">
                            <p:stCondLst>
                              <p:cond delay="0"/>
                            </p:stCondLst>
                            <p:childTnLst>
                              <p:par>
                                <p:cTn id="26" presetID="42" presetClass="entr" presetSubtype="0" fill="hold" grpId="0" nodeType="withEffect">
                                  <p:stCondLst>
                                    <p:cond delay="80"/>
                                  </p:stCondLst>
                                  <p:childTnLst>
                                    <p:set>
                                      <p:cBhvr>
                                        <p:cTn id="27" dur="1" fill="hold">
                                          <p:stCondLst>
                                            <p:cond delay="0"/>
                                          </p:stCondLst>
                                        </p:cTn>
                                        <p:tgtEl>
                                          <p:spTgt spid="105"/>
                                        </p:tgtEl>
                                        <p:attrNameLst>
                                          <p:attrName>style.visibility</p:attrName>
                                        </p:attrNameLst>
                                      </p:cBhvr>
                                      <p:to>
                                        <p:strVal val="visible"/>
                                      </p:to>
                                    </p:set>
                                    <p:animEffect transition="in" filter="fade">
                                      <p:cBhvr>
                                        <p:cTn id="28" dur="500"/>
                                        <p:tgtEl>
                                          <p:spTgt spid="105"/>
                                        </p:tgtEl>
                                      </p:cBhvr>
                                    </p:animEffect>
                                    <p:anim calcmode="lin" valueType="num">
                                      <p:cBhvr additive="base">
                                        <p:cTn id="29" dur="500" decel="100000" fill="hold"/>
                                        <p:tgtEl>
                                          <p:spTgt spid="105"/>
                                        </p:tgtEl>
                                        <p:attrNameLst>
                                          <p:attrName>ppt_y</p:attrName>
                                        </p:attrNameLst>
                                      </p:cBhvr>
                                      <p:tavLst>
                                        <p:tav tm="0">
                                          <p:val>
                                            <p:strVal val="#ppt_y+0.06"/>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06"/>
                                        </p:tgtEl>
                                        <p:attrNameLst>
                                          <p:attrName>style.visibility</p:attrName>
                                        </p:attrNameLst>
                                      </p:cBhvr>
                                      <p:to>
                                        <p:strVal val="visible"/>
                                      </p:to>
                                    </p:set>
                                    <p:animEffect transition="in" filter="fade">
                                      <p:cBhvr>
                                        <p:cTn id="34" dur="500"/>
                                        <p:tgtEl>
                                          <p:spTgt spid="106"/>
                                        </p:tgtEl>
                                      </p:cBhvr>
                                    </p:animEffect>
                                  </p:childTnLst>
                                </p:cTn>
                              </p:par>
                              <p:par>
                                <p:cTn id="35" presetID="53" presetClass="entr" presetSubtype="16" fill="hold" grpId="0" nodeType="withEffect">
                                  <p:stCondLst>
                                    <p:cond delay="120"/>
                                  </p:stCondLst>
                                  <p:childTnLst>
                                    <p:set>
                                      <p:cBhvr>
                                        <p:cTn id="36" dur="1" fill="hold">
                                          <p:stCondLst>
                                            <p:cond delay="0"/>
                                          </p:stCondLst>
                                        </p:cTn>
                                        <p:tgtEl>
                                          <p:spTgt spid="107"/>
                                        </p:tgtEl>
                                        <p:attrNameLst>
                                          <p:attrName>style.visibility</p:attrName>
                                        </p:attrNameLst>
                                      </p:cBhvr>
                                      <p:to>
                                        <p:strVal val="visible"/>
                                      </p:to>
                                    </p:set>
                                    <p:anim calcmode="lin" valueType="num">
                                      <p:cBhvr additive="base">
                                        <p:cTn id="37" dur="50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38" dur="500" decel="100000" fill="hold"/>
                                        <p:tgtEl>
                                          <p:spTgt spid="107"/>
                                        </p:tgtEl>
                                        <p:attrNameLst>
                                          <p:attrName>ppt_h</p:attrName>
                                        </p:attrNameLst>
                                      </p:cBhvr>
                                      <p:tavLst>
                                        <p:tav tm="0">
                                          <p:val>
                                            <p:strVal val="#ppt_h*0.3"/>
                                          </p:val>
                                        </p:tav>
                                        <p:tav tm="100000">
                                          <p:val>
                                            <p:strVal val="#ppt_h*1.08"/>
                                          </p:val>
                                        </p:tav>
                                      </p:tavLst>
                                    </p:anim>
                                    <p:animEffect transition="in" filter="fade">
                                      <p:cBhvr>
                                        <p:cTn id="39" dur="250"/>
                                        <p:tgtEl>
                                          <p:spTgt spid="107"/>
                                        </p:tgtEl>
                                      </p:cBhvr>
                                    </p:animEffect>
                                    <p:anim calcmode="lin" valueType="num">
                                      <p:cBhvr additive="base">
                                        <p:cTn id="40" dur="160" fill="hold">
                                          <p:stCondLst>
                                            <p:cond delay="500"/>
                                          </p:stCondLst>
                                        </p:cTn>
                                        <p:tgtEl>
                                          <p:spTgt spid="107"/>
                                        </p:tgtEl>
                                        <p:attrNameLst>
                                          <p:attrName>ppt_w</p:attrName>
                                        </p:attrNameLst>
                                      </p:cBhvr>
                                      <p:tavLst>
                                        <p:tav tm="0">
                                          <p:val>
                                            <p:strVal val="#ppt_w*1.08"/>
                                          </p:val>
                                        </p:tav>
                                        <p:tav tm="100000">
                                          <p:val>
                                            <p:strVal val="#ppt_w"/>
                                          </p:val>
                                        </p:tav>
                                      </p:tavLst>
                                    </p:anim>
                                    <p:anim calcmode="lin" valueType="num">
                                      <p:cBhvr additive="base">
                                        <p:cTn id="41" dur="160" fill="hold">
                                          <p:stCondLst>
                                            <p:cond delay="500"/>
                                          </p:stCondLst>
                                        </p:cTn>
                                        <p:tgtEl>
                                          <p:spTgt spid="107"/>
                                        </p:tgtEl>
                                        <p:attrNameLst>
                                          <p:attrName>ppt_h</p:attrName>
                                        </p:attrNameLst>
                                      </p:cBhvr>
                                      <p:tavLst>
                                        <p:tav tm="0">
                                          <p:val>
                                            <p:strVal val="#ppt_h*1.08"/>
                                          </p:val>
                                        </p:tav>
                                        <p:tav tm="100000">
                                          <p:val>
                                            <p:strVal val="#ppt_h"/>
                                          </p:val>
                                        </p:tav>
                                      </p:tavLst>
                                    </p:anim>
                                  </p:childTnLst>
                                </p:cTn>
                              </p:par>
                              <p:par>
                                <p:cTn id="42" presetID="10" presetClass="entr" presetSubtype="0" fill="hold" grpId="0" nodeType="withEffect">
                                  <p:stCondLst>
                                    <p:cond delay="240"/>
                                  </p:stCondLst>
                                  <p:childTnLst>
                                    <p:set>
                                      <p:cBhvr>
                                        <p:cTn id="43" dur="1" fill="hold">
                                          <p:stCondLst>
                                            <p:cond delay="0"/>
                                          </p:stCondLst>
                                        </p:cTn>
                                        <p:tgtEl>
                                          <p:spTgt spid="108"/>
                                        </p:tgtEl>
                                        <p:attrNameLst>
                                          <p:attrName>style.visibility</p:attrName>
                                        </p:attrNameLst>
                                      </p:cBhvr>
                                      <p:to>
                                        <p:strVal val="visible"/>
                                      </p:to>
                                    </p:set>
                                    <p:animEffect transition="in" filter="fade">
                                      <p:cBhvr>
                                        <p:cTn id="44" dur="500"/>
                                        <p:tgtEl>
                                          <p:spTgt spid="108"/>
                                        </p:tgtEl>
                                      </p:cBhvr>
                                    </p:animEffect>
                                  </p:childTnLst>
                                </p:cTn>
                              </p:par>
                            </p:childTnLst>
                          </p:cTn>
                        </p:par>
                      </p:childTnLst>
                    </p:cTn>
                  </p:par>
                  <p:par>
                    <p:cTn id="45" fill="hold">
                      <p:stCondLst>
                        <p:cond delay="indefinite"/>
                        <p:cond evt="onBegin" delay="0">
                          <p:tn val="2"/>
                        </p:cond>
                      </p:stCondLst>
                      <p:childTnLst>
                        <p:par>
                          <p:cTn id="46" fill="hold">
                            <p:stCondLst>
                              <p:cond delay="0"/>
                            </p:stCondLst>
                            <p:childTnLst>
                              <p:par>
                                <p:cTn id="47" presetID="42" presetClass="entr" presetSubtype="0" fill="hold" grpId="0" nodeType="withEffect">
                                  <p:stCondLst>
                                    <p:cond delay="160"/>
                                  </p:stCondLst>
                                  <p:childTnLst>
                                    <p:set>
                                      <p:cBhvr>
                                        <p:cTn id="48" dur="1" fill="hold">
                                          <p:stCondLst>
                                            <p:cond delay="0"/>
                                          </p:stCondLst>
                                        </p:cTn>
                                        <p:tgtEl>
                                          <p:spTgt spid="109"/>
                                        </p:tgtEl>
                                        <p:attrNameLst>
                                          <p:attrName>style.visibility</p:attrName>
                                        </p:attrNameLst>
                                      </p:cBhvr>
                                      <p:to>
                                        <p:strVal val="visible"/>
                                      </p:to>
                                    </p:set>
                                    <p:animEffect transition="in" filter="fade">
                                      <p:cBhvr>
                                        <p:cTn id="49" dur="500"/>
                                        <p:tgtEl>
                                          <p:spTgt spid="109"/>
                                        </p:tgtEl>
                                      </p:cBhvr>
                                    </p:animEffect>
                                    <p:anim calcmode="lin" valueType="num">
                                      <p:cBhvr additive="base">
                                        <p:cTn id="50" dur="500" decel="100000" fill="hold"/>
                                        <p:tgtEl>
                                          <p:spTgt spid="109"/>
                                        </p:tgtEl>
                                        <p:attrNameLst>
                                          <p:attrName>ppt_y</p:attrName>
                                        </p:attrNameLst>
                                      </p:cBhvr>
                                      <p:tavLst>
                                        <p:tav tm="0">
                                          <p:val>
                                            <p:strVal val="#ppt_y+0.06"/>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10"/>
                                        </p:tgtEl>
                                        <p:attrNameLst>
                                          <p:attrName>style.visibility</p:attrName>
                                        </p:attrNameLst>
                                      </p:cBhvr>
                                      <p:to>
                                        <p:strVal val="visible"/>
                                      </p:to>
                                    </p:set>
                                    <p:animEffect transition="in" filter="fade">
                                      <p:cBhvr>
                                        <p:cTn id="55" dur="500"/>
                                        <p:tgtEl>
                                          <p:spTgt spid="110"/>
                                        </p:tgtEl>
                                      </p:cBhvr>
                                    </p:animEffect>
                                  </p:childTnLst>
                                </p:cTn>
                              </p:par>
                              <p:par>
                                <p:cTn id="56" presetID="53" presetClass="entr" presetSubtype="16" fill="hold" grpId="0" nodeType="withEffect">
                                  <p:stCondLst>
                                    <p:cond delay="120"/>
                                  </p:stCondLst>
                                  <p:childTnLst>
                                    <p:set>
                                      <p:cBhvr>
                                        <p:cTn id="57" dur="1" fill="hold">
                                          <p:stCondLst>
                                            <p:cond delay="0"/>
                                          </p:stCondLst>
                                        </p:cTn>
                                        <p:tgtEl>
                                          <p:spTgt spid="111"/>
                                        </p:tgtEl>
                                        <p:attrNameLst>
                                          <p:attrName>style.visibility</p:attrName>
                                        </p:attrNameLst>
                                      </p:cBhvr>
                                      <p:to>
                                        <p:strVal val="visible"/>
                                      </p:to>
                                    </p:set>
                                    <p:anim calcmode="lin" valueType="num">
                                      <p:cBhvr additive="base">
                                        <p:cTn id="58" dur="500" decel="100000" fill="hold"/>
                                        <p:tgtEl>
                                          <p:spTgt spid="111"/>
                                        </p:tgtEl>
                                        <p:attrNameLst>
                                          <p:attrName>ppt_w</p:attrName>
                                        </p:attrNameLst>
                                      </p:cBhvr>
                                      <p:tavLst>
                                        <p:tav tm="0">
                                          <p:val>
                                            <p:strVal val="#ppt_w*0.3"/>
                                          </p:val>
                                        </p:tav>
                                        <p:tav tm="100000">
                                          <p:val>
                                            <p:strVal val="#ppt_w*1.08"/>
                                          </p:val>
                                        </p:tav>
                                      </p:tavLst>
                                    </p:anim>
                                    <p:anim calcmode="lin" valueType="num">
                                      <p:cBhvr additive="base">
                                        <p:cTn id="59" dur="500" decel="100000" fill="hold"/>
                                        <p:tgtEl>
                                          <p:spTgt spid="111"/>
                                        </p:tgtEl>
                                        <p:attrNameLst>
                                          <p:attrName>ppt_h</p:attrName>
                                        </p:attrNameLst>
                                      </p:cBhvr>
                                      <p:tavLst>
                                        <p:tav tm="0">
                                          <p:val>
                                            <p:strVal val="#ppt_h*0.3"/>
                                          </p:val>
                                        </p:tav>
                                        <p:tav tm="100000">
                                          <p:val>
                                            <p:strVal val="#ppt_h*1.08"/>
                                          </p:val>
                                        </p:tav>
                                      </p:tavLst>
                                    </p:anim>
                                    <p:animEffect transition="in" filter="fade">
                                      <p:cBhvr>
                                        <p:cTn id="60" dur="250"/>
                                        <p:tgtEl>
                                          <p:spTgt spid="111"/>
                                        </p:tgtEl>
                                      </p:cBhvr>
                                    </p:animEffect>
                                    <p:anim calcmode="lin" valueType="num">
                                      <p:cBhvr additive="base">
                                        <p:cTn id="61" dur="160" fill="hold">
                                          <p:stCondLst>
                                            <p:cond delay="500"/>
                                          </p:stCondLst>
                                        </p:cTn>
                                        <p:tgtEl>
                                          <p:spTgt spid="111"/>
                                        </p:tgtEl>
                                        <p:attrNameLst>
                                          <p:attrName>ppt_w</p:attrName>
                                        </p:attrNameLst>
                                      </p:cBhvr>
                                      <p:tavLst>
                                        <p:tav tm="0">
                                          <p:val>
                                            <p:strVal val="#ppt_w*1.08"/>
                                          </p:val>
                                        </p:tav>
                                        <p:tav tm="100000">
                                          <p:val>
                                            <p:strVal val="#ppt_w"/>
                                          </p:val>
                                        </p:tav>
                                      </p:tavLst>
                                    </p:anim>
                                    <p:anim calcmode="lin" valueType="num">
                                      <p:cBhvr additive="base">
                                        <p:cTn id="62" dur="160" fill="hold">
                                          <p:stCondLst>
                                            <p:cond delay="500"/>
                                          </p:stCondLst>
                                        </p:cTn>
                                        <p:tgtEl>
                                          <p:spTgt spid="111"/>
                                        </p:tgtEl>
                                        <p:attrNameLst>
                                          <p:attrName>ppt_h</p:attrName>
                                        </p:attrNameLst>
                                      </p:cBhvr>
                                      <p:tavLst>
                                        <p:tav tm="0">
                                          <p:val>
                                            <p:strVal val="#ppt_h*1.08"/>
                                          </p:val>
                                        </p:tav>
                                        <p:tav tm="100000">
                                          <p:val>
                                            <p:strVal val="#ppt_h"/>
                                          </p:val>
                                        </p:tav>
                                      </p:tavLst>
                                    </p:anim>
                                  </p:childTnLst>
                                </p:cTn>
                              </p:par>
                              <p:par>
                                <p:cTn id="63" presetID="10" presetClass="entr" presetSubtype="0" fill="hold" grpId="0" nodeType="withEffect">
                                  <p:stCondLst>
                                    <p:cond delay="240"/>
                                  </p:stCondLst>
                                  <p:childTnLst>
                                    <p:set>
                                      <p:cBhvr>
                                        <p:cTn id="64" dur="1" fill="hold">
                                          <p:stCondLst>
                                            <p:cond delay="0"/>
                                          </p:stCondLst>
                                        </p:cTn>
                                        <p:tgtEl>
                                          <p:spTgt spid="112"/>
                                        </p:tgtEl>
                                        <p:attrNameLst>
                                          <p:attrName>style.visibility</p:attrName>
                                        </p:attrNameLst>
                                      </p:cBhvr>
                                      <p:to>
                                        <p:strVal val="visible"/>
                                      </p:to>
                                    </p:set>
                                    <p:animEffect transition="in" filter="fade">
                                      <p:cBhvr>
                                        <p:cTn id="65" dur="500"/>
                                        <p:tgtEl>
                                          <p:spTgt spid="112"/>
                                        </p:tgtEl>
                                      </p:cBhvr>
                                    </p:animEffect>
                                  </p:childTnLst>
                                </p:cTn>
                              </p:par>
                            </p:childTnLst>
                          </p:cTn>
                        </p:par>
                      </p:childTnLst>
                    </p:cTn>
                  </p:par>
                  <p:par>
                    <p:cTn id="66" fill="hold">
                      <p:stCondLst>
                        <p:cond delay="indefinite"/>
                        <p:cond evt="onBegin" delay="0">
                          <p:tn val="2"/>
                        </p:cond>
                      </p:stCondLst>
                      <p:childTnLst>
                        <p:par>
                          <p:cTn id="67" fill="hold">
                            <p:stCondLst>
                              <p:cond delay="0"/>
                            </p:stCondLst>
                            <p:childTnLst>
                              <p:par>
                                <p:cTn id="68" presetID="42" presetClass="entr" presetSubtype="0" fill="hold" grpId="0" nodeType="withEffect">
                                  <p:stCondLst>
                                    <p:cond delay="240"/>
                                  </p:stCondLst>
                                  <p:childTnLst>
                                    <p:set>
                                      <p:cBhvr>
                                        <p:cTn id="69" dur="1" fill="hold">
                                          <p:stCondLst>
                                            <p:cond delay="0"/>
                                          </p:stCondLst>
                                        </p:cTn>
                                        <p:tgtEl>
                                          <p:spTgt spid="113"/>
                                        </p:tgtEl>
                                        <p:attrNameLst>
                                          <p:attrName>style.visibility</p:attrName>
                                        </p:attrNameLst>
                                      </p:cBhvr>
                                      <p:to>
                                        <p:strVal val="visible"/>
                                      </p:to>
                                    </p:set>
                                    <p:animEffect transition="in" filter="fade">
                                      <p:cBhvr>
                                        <p:cTn id="70" dur="500"/>
                                        <p:tgtEl>
                                          <p:spTgt spid="113"/>
                                        </p:tgtEl>
                                      </p:cBhvr>
                                    </p:animEffect>
                                    <p:anim calcmode="lin" valueType="num">
                                      <p:cBhvr additive="base">
                                        <p:cTn id="71" dur="500" decel="100000" fill="hold"/>
                                        <p:tgtEl>
                                          <p:spTgt spid="113"/>
                                        </p:tgtEl>
                                        <p:attrNameLst>
                                          <p:attrName>ppt_y</p:attrName>
                                        </p:attrNameLst>
                                      </p:cBhvr>
                                      <p:tavLst>
                                        <p:tav tm="0">
                                          <p:val>
                                            <p:strVal val="#ppt_y+0.06"/>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14"/>
                                        </p:tgtEl>
                                        <p:attrNameLst>
                                          <p:attrName>style.visibility</p:attrName>
                                        </p:attrNameLst>
                                      </p:cBhvr>
                                      <p:to>
                                        <p:strVal val="visible"/>
                                      </p:to>
                                    </p:set>
                                    <p:animEffect transition="in" filter="fade">
                                      <p:cBhvr>
                                        <p:cTn id="76" dur="500"/>
                                        <p:tgtEl>
                                          <p:spTgt spid="114"/>
                                        </p:tgtEl>
                                      </p:cBhvr>
                                    </p:animEffect>
                                  </p:childTnLst>
                                </p:cTn>
                              </p:par>
                              <p:par>
                                <p:cTn id="77" presetID="53" presetClass="entr" presetSubtype="16" fill="hold" grpId="0" nodeType="withEffect">
                                  <p:stCondLst>
                                    <p:cond delay="120"/>
                                  </p:stCondLst>
                                  <p:childTnLst>
                                    <p:set>
                                      <p:cBhvr>
                                        <p:cTn id="78" dur="1" fill="hold">
                                          <p:stCondLst>
                                            <p:cond delay="0"/>
                                          </p:stCondLst>
                                        </p:cTn>
                                        <p:tgtEl>
                                          <p:spTgt spid="115"/>
                                        </p:tgtEl>
                                        <p:attrNameLst>
                                          <p:attrName>style.visibility</p:attrName>
                                        </p:attrNameLst>
                                      </p:cBhvr>
                                      <p:to>
                                        <p:strVal val="visible"/>
                                      </p:to>
                                    </p:set>
                                    <p:anim calcmode="lin" valueType="num">
                                      <p:cBhvr additive="base">
                                        <p:cTn id="79" dur="5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0" dur="500" decel="100000" fill="hold"/>
                                        <p:tgtEl>
                                          <p:spTgt spid="115"/>
                                        </p:tgtEl>
                                        <p:attrNameLst>
                                          <p:attrName>ppt_h</p:attrName>
                                        </p:attrNameLst>
                                      </p:cBhvr>
                                      <p:tavLst>
                                        <p:tav tm="0">
                                          <p:val>
                                            <p:strVal val="#ppt_h*0.3"/>
                                          </p:val>
                                        </p:tav>
                                        <p:tav tm="100000">
                                          <p:val>
                                            <p:strVal val="#ppt_h*1.08"/>
                                          </p:val>
                                        </p:tav>
                                      </p:tavLst>
                                    </p:anim>
                                    <p:animEffect transition="in" filter="fade">
                                      <p:cBhvr>
                                        <p:cTn id="81" dur="250"/>
                                        <p:tgtEl>
                                          <p:spTgt spid="115"/>
                                        </p:tgtEl>
                                      </p:cBhvr>
                                    </p:animEffect>
                                    <p:anim calcmode="lin" valueType="num">
                                      <p:cBhvr additive="base">
                                        <p:cTn id="82" dur="160" fill="hold">
                                          <p:stCondLst>
                                            <p:cond delay="500"/>
                                          </p:stCondLst>
                                        </p:cTn>
                                        <p:tgtEl>
                                          <p:spTgt spid="115"/>
                                        </p:tgtEl>
                                        <p:attrNameLst>
                                          <p:attrName>ppt_w</p:attrName>
                                        </p:attrNameLst>
                                      </p:cBhvr>
                                      <p:tavLst>
                                        <p:tav tm="0">
                                          <p:val>
                                            <p:strVal val="#ppt_w*1.08"/>
                                          </p:val>
                                        </p:tav>
                                        <p:tav tm="100000">
                                          <p:val>
                                            <p:strVal val="#ppt_w"/>
                                          </p:val>
                                        </p:tav>
                                      </p:tavLst>
                                    </p:anim>
                                    <p:anim calcmode="lin" valueType="num">
                                      <p:cBhvr additive="base">
                                        <p:cTn id="83" dur="160" fill="hold">
                                          <p:stCondLst>
                                            <p:cond delay="500"/>
                                          </p:stCondLst>
                                        </p:cTn>
                                        <p:tgtEl>
                                          <p:spTgt spid="115"/>
                                        </p:tgtEl>
                                        <p:attrNameLst>
                                          <p:attrName>ppt_h</p:attrName>
                                        </p:attrNameLst>
                                      </p:cBhvr>
                                      <p:tavLst>
                                        <p:tav tm="0">
                                          <p:val>
                                            <p:strVal val="#ppt_h*1.08"/>
                                          </p:val>
                                        </p:tav>
                                        <p:tav tm="100000">
                                          <p:val>
                                            <p:strVal val="#ppt_h"/>
                                          </p:val>
                                        </p:tav>
                                      </p:tavLst>
                                    </p:anim>
                                  </p:childTnLst>
                                </p:cTn>
                              </p:par>
                              <p:par>
                                <p:cTn id="84" presetID="10" presetClass="entr" presetSubtype="0" fill="hold" grpId="0" nodeType="withEffect">
                                  <p:stCondLst>
                                    <p:cond delay="240"/>
                                  </p:stCondLst>
                                  <p:childTnLst>
                                    <p:set>
                                      <p:cBhvr>
                                        <p:cTn id="85" dur="1" fill="hold">
                                          <p:stCondLst>
                                            <p:cond delay="0"/>
                                          </p:stCondLst>
                                        </p:cTn>
                                        <p:tgtEl>
                                          <p:spTgt spid="116"/>
                                        </p:tgtEl>
                                        <p:attrNameLst>
                                          <p:attrName>style.visibility</p:attrName>
                                        </p:attrNameLst>
                                      </p:cBhvr>
                                      <p:to>
                                        <p:strVal val="visible"/>
                                      </p:to>
                                    </p:set>
                                    <p:animEffect transition="in" filter="fade">
                                      <p:cBhvr>
                                        <p:cTn id="86" dur="500"/>
                                        <p:tgtEl>
                                          <p:spTgt spid="116"/>
                                        </p:tgtEl>
                                      </p:cBhvr>
                                    </p:animEffect>
                                  </p:childTnLst>
                                </p:cTn>
                              </p:par>
                            </p:childTnLst>
                          </p:cTn>
                        </p:par>
                      </p:childTnLst>
                    </p:cTn>
                  </p:par>
                  <p:par>
                    <p:cTn id="87" fill="hold">
                      <p:stCondLst>
                        <p:cond delay="indefinite"/>
                        <p:cond evt="onBegin" delay="0">
                          <p:tn val="2"/>
                        </p:cond>
                      </p:stCondLst>
                      <p:childTnLst>
                        <p:par>
                          <p:cTn id="88" fill="hold">
                            <p:stCondLst>
                              <p:cond delay="0"/>
                            </p:stCondLst>
                            <p:childTnLst>
                              <p:par>
                                <p:cTn id="89" presetID="42" presetClass="entr" presetSubtype="0" fill="hold" grpId="0" nodeType="withEffect">
                                  <p:stCondLst>
                                    <p:cond delay="320"/>
                                  </p:stCondLst>
                                  <p:childTnLst>
                                    <p:set>
                                      <p:cBhvr>
                                        <p:cTn id="90" dur="1" fill="hold">
                                          <p:stCondLst>
                                            <p:cond delay="0"/>
                                          </p:stCondLst>
                                        </p:cTn>
                                        <p:tgtEl>
                                          <p:spTgt spid="117"/>
                                        </p:tgtEl>
                                        <p:attrNameLst>
                                          <p:attrName>style.visibility</p:attrName>
                                        </p:attrNameLst>
                                      </p:cBhvr>
                                      <p:to>
                                        <p:strVal val="visible"/>
                                      </p:to>
                                    </p:set>
                                    <p:animEffect transition="in" filter="fade">
                                      <p:cBhvr>
                                        <p:cTn id="91" dur="500"/>
                                        <p:tgtEl>
                                          <p:spTgt spid="117"/>
                                        </p:tgtEl>
                                      </p:cBhvr>
                                    </p:animEffect>
                                    <p:anim calcmode="lin" valueType="num">
                                      <p:cBhvr additive="base">
                                        <p:cTn id="92" dur="500" decel="100000" fill="hold"/>
                                        <p:tgtEl>
                                          <p:spTgt spid="117"/>
                                        </p:tgtEl>
                                        <p:attrNameLst>
                                          <p:attrName>ppt_y</p:attrName>
                                        </p:attrNameLst>
                                      </p:cBhvr>
                                      <p:tavLst>
                                        <p:tav tm="0">
                                          <p:val>
                                            <p:strVal val="#ppt_y+0.06"/>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118"/>
                                        </p:tgtEl>
                                        <p:attrNameLst>
                                          <p:attrName>style.visibility</p:attrName>
                                        </p:attrNameLst>
                                      </p:cBhvr>
                                      <p:to>
                                        <p:strVal val="visible"/>
                                      </p:to>
                                    </p:set>
                                    <p:animEffect transition="in" filter="fade">
                                      <p:cBhvr>
                                        <p:cTn id="97" dur="500"/>
                                        <p:tgtEl>
                                          <p:spTgt spid="118"/>
                                        </p:tgtEl>
                                      </p:cBhvr>
                                    </p:animEffect>
                                  </p:childTnLst>
                                </p:cTn>
                              </p:par>
                              <p:par>
                                <p:cTn id="98" presetID="53" presetClass="entr" presetSubtype="16" fill="hold" grpId="0" nodeType="withEffect">
                                  <p:stCondLst>
                                    <p:cond delay="120"/>
                                  </p:stCondLst>
                                  <p:childTnLst>
                                    <p:set>
                                      <p:cBhvr>
                                        <p:cTn id="99" dur="1" fill="hold">
                                          <p:stCondLst>
                                            <p:cond delay="0"/>
                                          </p:stCondLst>
                                        </p:cTn>
                                        <p:tgtEl>
                                          <p:spTgt spid="119"/>
                                        </p:tgtEl>
                                        <p:attrNameLst>
                                          <p:attrName>style.visibility</p:attrName>
                                        </p:attrNameLst>
                                      </p:cBhvr>
                                      <p:to>
                                        <p:strVal val="visible"/>
                                      </p:to>
                                    </p:set>
                                    <p:anim calcmode="lin" valueType="num">
                                      <p:cBhvr additive="base">
                                        <p:cTn id="100" dur="500" decel="100000" fill="hold"/>
                                        <p:tgtEl>
                                          <p:spTgt spid="119"/>
                                        </p:tgtEl>
                                        <p:attrNameLst>
                                          <p:attrName>ppt_w</p:attrName>
                                        </p:attrNameLst>
                                      </p:cBhvr>
                                      <p:tavLst>
                                        <p:tav tm="0">
                                          <p:val>
                                            <p:strVal val="#ppt_w*0.3"/>
                                          </p:val>
                                        </p:tav>
                                        <p:tav tm="100000">
                                          <p:val>
                                            <p:strVal val="#ppt_w*1.08"/>
                                          </p:val>
                                        </p:tav>
                                      </p:tavLst>
                                    </p:anim>
                                    <p:anim calcmode="lin" valueType="num">
                                      <p:cBhvr additive="base">
                                        <p:cTn id="101" dur="500" decel="100000" fill="hold"/>
                                        <p:tgtEl>
                                          <p:spTgt spid="119"/>
                                        </p:tgtEl>
                                        <p:attrNameLst>
                                          <p:attrName>ppt_h</p:attrName>
                                        </p:attrNameLst>
                                      </p:cBhvr>
                                      <p:tavLst>
                                        <p:tav tm="0">
                                          <p:val>
                                            <p:strVal val="#ppt_h*0.3"/>
                                          </p:val>
                                        </p:tav>
                                        <p:tav tm="100000">
                                          <p:val>
                                            <p:strVal val="#ppt_h*1.08"/>
                                          </p:val>
                                        </p:tav>
                                      </p:tavLst>
                                    </p:anim>
                                    <p:animEffect transition="in" filter="fade">
                                      <p:cBhvr>
                                        <p:cTn id="102" dur="250"/>
                                        <p:tgtEl>
                                          <p:spTgt spid="119"/>
                                        </p:tgtEl>
                                      </p:cBhvr>
                                    </p:animEffect>
                                    <p:anim calcmode="lin" valueType="num">
                                      <p:cBhvr additive="base">
                                        <p:cTn id="103" dur="160" fill="hold">
                                          <p:stCondLst>
                                            <p:cond delay="500"/>
                                          </p:stCondLst>
                                        </p:cTn>
                                        <p:tgtEl>
                                          <p:spTgt spid="119"/>
                                        </p:tgtEl>
                                        <p:attrNameLst>
                                          <p:attrName>ppt_w</p:attrName>
                                        </p:attrNameLst>
                                      </p:cBhvr>
                                      <p:tavLst>
                                        <p:tav tm="0">
                                          <p:val>
                                            <p:strVal val="#ppt_w*1.08"/>
                                          </p:val>
                                        </p:tav>
                                        <p:tav tm="100000">
                                          <p:val>
                                            <p:strVal val="#ppt_w"/>
                                          </p:val>
                                        </p:tav>
                                      </p:tavLst>
                                    </p:anim>
                                    <p:anim calcmode="lin" valueType="num">
                                      <p:cBhvr additive="base">
                                        <p:cTn id="104" dur="160" fill="hold">
                                          <p:stCondLst>
                                            <p:cond delay="500"/>
                                          </p:stCondLst>
                                        </p:cTn>
                                        <p:tgtEl>
                                          <p:spTgt spid="119"/>
                                        </p:tgtEl>
                                        <p:attrNameLst>
                                          <p:attrName>ppt_h</p:attrName>
                                        </p:attrNameLst>
                                      </p:cBhvr>
                                      <p:tavLst>
                                        <p:tav tm="0">
                                          <p:val>
                                            <p:strVal val="#ppt_h*1.08"/>
                                          </p:val>
                                        </p:tav>
                                        <p:tav tm="100000">
                                          <p:val>
                                            <p:strVal val="#ppt_h"/>
                                          </p:val>
                                        </p:tav>
                                      </p:tavLst>
                                    </p:anim>
                                  </p:childTnLst>
                                </p:cTn>
                              </p:par>
                              <p:par>
                                <p:cTn id="105" presetID="10" presetClass="entr" presetSubtype="0" fill="hold" grpId="0" nodeType="withEffect">
                                  <p:stCondLst>
                                    <p:cond delay="240"/>
                                  </p:stCondLst>
                                  <p:childTnLst>
                                    <p:set>
                                      <p:cBhvr>
                                        <p:cTn id="106" dur="1" fill="hold">
                                          <p:stCondLst>
                                            <p:cond delay="0"/>
                                          </p:stCondLst>
                                        </p:cTn>
                                        <p:tgtEl>
                                          <p:spTgt spid="120"/>
                                        </p:tgtEl>
                                        <p:attrNameLst>
                                          <p:attrName>style.visibility</p:attrName>
                                        </p:attrNameLst>
                                      </p:cBhvr>
                                      <p:to>
                                        <p:strVal val="visible"/>
                                      </p:to>
                                    </p:set>
                                    <p:animEffect transition="in" filter="fade">
                                      <p:cBhvr>
                                        <p:cTn id="107" dur="500"/>
                                        <p:tgtEl>
                                          <p:spTgt spid="120"/>
                                        </p:tgtEl>
                                      </p:cBhvr>
                                    </p:animEffect>
                                  </p:childTnLst>
                                </p:cTn>
                              </p:par>
                            </p:childTnLst>
                          </p:cTn>
                        </p:par>
                      </p:childTnLst>
                    </p:cTn>
                  </p:par>
                  <p:par>
                    <p:cTn id="108" fill="hold">
                      <p:stCondLst>
                        <p:cond delay="indefinite"/>
                      </p:stCondLst>
                      <p:childTnLst>
                        <p:par>
                          <p:cTn id="109" fill="hold">
                            <p:stCondLst>
                              <p:cond delay="0"/>
                            </p:stCondLst>
                            <p:childTnLst>
                              <p:par>
                                <p:cTn id="110" presetID="42" presetClass="entr" presetSubtype="0" fill="hold" grpId="0" nodeType="clickEffect">
                                  <p:stCondLst>
                                    <p:cond delay="0"/>
                                  </p:stCondLst>
                                  <p:childTnLst>
                                    <p:set>
                                      <p:cBhvr>
                                        <p:cTn id="111" dur="1" fill="hold">
                                          <p:stCondLst>
                                            <p:cond delay="0"/>
                                          </p:stCondLst>
                                        </p:cTn>
                                        <p:tgtEl>
                                          <p:spTgt spid="121"/>
                                        </p:tgtEl>
                                        <p:attrNameLst>
                                          <p:attrName>style.visibility</p:attrName>
                                        </p:attrNameLst>
                                      </p:cBhvr>
                                      <p:to>
                                        <p:strVal val="visible"/>
                                      </p:to>
                                    </p:set>
                                    <p:animEffect transition="in" filter="fade">
                                      <p:cBhvr>
                                        <p:cTn id="112" dur="500"/>
                                        <p:tgtEl>
                                          <p:spTgt spid="121"/>
                                        </p:tgtEl>
                                      </p:cBhvr>
                                    </p:animEffect>
                                    <p:anim calcmode="lin" valueType="num">
                                      <p:cBhvr additive="base">
                                        <p:cTn id="113" dur="500" decel="100000" fill="hold"/>
                                        <p:tgtEl>
                                          <p:spTgt spid="121"/>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792224"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STATE vs INTERACTION</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Check the State When You Can</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163</a:t>
            </a:r>
            <a:endParaRPr lang="en-US" sz="850" dirty="0"/>
          </a:p>
        </p:txBody>
      </p:sp>
      <p:sp>
        <p:nvSpPr>
          <p:cNvPr id="101" name="s101"/>
          <p:cNvSpPr txBox="1"/>
          <p:nvPr/>
        </p:nvSpPr>
        <p:spPr>
          <a:xfrm>
            <a:off x="543154" y="1600200"/>
            <a:ext cx="54864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34D399"/>
                </a:solidFill>
                <a:latin typeface="Segoe UI"/>
                <a:ea typeface="Segoe UI"/>
                <a:cs typeface="Segoe UI"/>
              </a:rPr>
              <a:t>STATE · LOOK AT THE RESULT</a:t>
            </a:r>
            <a:endParaRPr lang="en-US" sz="1050" dirty="0"/>
          </a:p>
        </p:txBody>
      </p:sp>
      <p:sp>
        <p:nvSpPr>
          <p:cNvPr id="102" name="s102"/>
          <p:cNvSpPr/>
          <p:nvPr/>
        </p:nvSpPr>
        <p:spPr>
          <a:xfrm>
            <a:off x="543154" y="1874520"/>
            <a:ext cx="5349240" cy="237744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02082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02082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02082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194767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TransferServiceTests.cs</a:t>
            </a:r>
            <a:endParaRPr lang="en-US" sz="950" dirty="0"/>
          </a:p>
        </p:txBody>
      </p:sp>
      <p:cxnSp>
        <p:nvCxnSpPr>
          <p:cNvPr id="107" name="ln107"/>
          <p:cNvCxnSpPr/>
          <p:nvPr/>
        </p:nvCxnSpPr>
        <p:spPr>
          <a:xfrm>
            <a:off x="543154" y="2286000"/>
            <a:ext cx="5349240" cy="0"/>
          </a:xfrm>
          <a:prstGeom prst="line">
            <a:avLst/>
          </a:prstGeom>
          <a:ln w="9525">
            <a:solidFill>
              <a:srgbClr val="1E3A5F"/>
            </a:solidFill>
          </a:ln>
        </p:spPr>
      </p:cxnSp>
      <p:sp>
        <p:nvSpPr>
          <p:cNvPr id="108" name="s108"/>
          <p:cNvSpPr/>
          <p:nvPr/>
        </p:nvSpPr>
        <p:spPr>
          <a:xfrm>
            <a:off x="543154" y="240487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[Fact]</a:t>
            </a:r>
            <a:endParaRPr lang="en-US" sz="1150" dirty="0"/>
          </a:p>
        </p:txBody>
      </p:sp>
      <p:sp>
        <p:nvSpPr>
          <p:cNvPr id="109" name="s109"/>
          <p:cNvSpPr/>
          <p:nvPr/>
        </p:nvSpPr>
        <p:spPr>
          <a:xfrm>
            <a:off x="543154" y="258013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void</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Transfer_MovesTheMoney</a:t>
            </a:r>
            <a:r>
              <a:rPr lang="en-US" sz="1150" b="0" dirty="0">
                <a:solidFill>
                  <a:srgbClr val="E2E8F0"/>
                </a:solidFill>
                <a:latin typeface="Consolas"/>
                <a:ea typeface="Consolas"/>
                <a:cs typeface="Consolas"/>
              </a:rPr>
              <a:t>()</a:t>
            </a:r>
            <a:endParaRPr lang="en-US" sz="1150" dirty="0"/>
          </a:p>
        </p:txBody>
      </p:sp>
      <p:sp>
        <p:nvSpPr>
          <p:cNvPr id="110" name="s110"/>
          <p:cNvSpPr/>
          <p:nvPr/>
        </p:nvSpPr>
        <p:spPr>
          <a:xfrm>
            <a:off x="543154" y="275539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1" name="s111"/>
          <p:cNvSpPr/>
          <p:nvPr/>
        </p:nvSpPr>
        <p:spPr>
          <a:xfrm>
            <a:off x="543154" y="293065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_service.</a:t>
            </a:r>
            <a:r>
              <a:rPr lang="en-US" sz="1150" b="0" dirty="0">
                <a:solidFill>
                  <a:srgbClr val="7DD3FC"/>
                </a:solidFill>
                <a:latin typeface="Consolas"/>
                <a:ea typeface="Consolas"/>
                <a:cs typeface="Consolas"/>
              </a:rPr>
              <a:t>Transfer</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"mona@bank.eg"</a:t>
            </a:r>
            <a:r>
              <a:rPr lang="en-US" sz="1150" b="0" dirty="0">
                <a:solidFill>
                  <a:srgbClr val="E2E8F0"/>
                </a:solidFill>
                <a:latin typeface="Consolas"/>
                <a:ea typeface="Consolas"/>
                <a:cs typeface="Consolas"/>
              </a:rPr>
              <a:t>, </a:t>
            </a:r>
            <a:r>
              <a:rPr lang="en-US" sz="1150" b="0" dirty="0">
                <a:solidFill>
                  <a:srgbClr val="F0A98B"/>
                </a:solidFill>
                <a:latin typeface="Consolas"/>
                <a:ea typeface="Consolas"/>
                <a:cs typeface="Consolas"/>
              </a:rPr>
              <a:t>"ali@bank.eg"</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100m</a:t>
            </a:r>
            <a:r>
              <a:rPr lang="en-US" sz="1150" b="0" dirty="0">
                <a:solidFill>
                  <a:srgbClr val="E2E8F0"/>
                </a:solidFill>
                <a:latin typeface="Consolas"/>
                <a:ea typeface="Consolas"/>
                <a:cs typeface="Consolas"/>
              </a:rPr>
              <a:t>);</a:t>
            </a:r>
            <a:endParaRPr lang="en-US" sz="1150" dirty="0"/>
          </a:p>
        </p:txBody>
      </p:sp>
      <p:sp>
        <p:nvSpPr>
          <p:cNvPr id="112" name="s112"/>
          <p:cNvSpPr/>
          <p:nvPr/>
        </p:nvSpPr>
        <p:spPr>
          <a:xfrm>
            <a:off x="543154" y="310591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_mona.</a:t>
            </a:r>
            <a:r>
              <a:rPr lang="en-US" sz="1150" b="0" dirty="0">
                <a:solidFill>
                  <a:srgbClr val="7DD3FC"/>
                </a:solidFill>
                <a:latin typeface="Consolas"/>
                <a:ea typeface="Consolas"/>
                <a:cs typeface="Consolas"/>
              </a:rPr>
              <a:t>Balance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ShouldBe</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400m</a:t>
            </a:r>
            <a:r>
              <a:rPr lang="en-US" sz="1150" b="0" dirty="0">
                <a:solidFill>
                  <a:srgbClr val="E2E8F0"/>
                </a:solidFill>
                <a:latin typeface="Consolas"/>
                <a:ea typeface="Consolas"/>
                <a:cs typeface="Consolas"/>
              </a:rPr>
              <a:t>);</a:t>
            </a:r>
            <a:endParaRPr lang="en-US" sz="1150" dirty="0"/>
          </a:p>
        </p:txBody>
      </p:sp>
      <p:sp>
        <p:nvSpPr>
          <p:cNvPr id="113" name="s113"/>
          <p:cNvSpPr/>
          <p:nvPr/>
        </p:nvSpPr>
        <p:spPr>
          <a:xfrm>
            <a:off x="543154" y="328117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_ali.</a:t>
            </a:r>
            <a:r>
              <a:rPr lang="en-US" sz="1150" b="0" dirty="0">
                <a:solidFill>
                  <a:srgbClr val="7DD3FC"/>
                </a:solidFill>
                <a:latin typeface="Consolas"/>
                <a:ea typeface="Consolas"/>
                <a:cs typeface="Consolas"/>
              </a:rPr>
              <a:t>Balance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ShouldBe</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150m</a:t>
            </a:r>
            <a:r>
              <a:rPr lang="en-US" sz="1150" b="0" dirty="0">
                <a:solidFill>
                  <a:srgbClr val="E2E8F0"/>
                </a:solidFill>
                <a:latin typeface="Consolas"/>
                <a:ea typeface="Consolas"/>
                <a:cs typeface="Consolas"/>
              </a:rPr>
              <a:t>);</a:t>
            </a:r>
            <a:endParaRPr lang="en-US" sz="1150" dirty="0"/>
          </a:p>
        </p:txBody>
      </p:sp>
      <p:sp>
        <p:nvSpPr>
          <p:cNvPr id="114" name="s114"/>
          <p:cNvSpPr/>
          <p:nvPr/>
        </p:nvSpPr>
        <p:spPr>
          <a:xfrm>
            <a:off x="543154" y="3456432"/>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5" name="s115"/>
          <p:cNvSpPr txBox="1"/>
          <p:nvPr/>
        </p:nvSpPr>
        <p:spPr>
          <a:xfrm>
            <a:off x="6120994" y="1600200"/>
            <a:ext cx="54864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BBF24"/>
                </a:solidFill>
                <a:latin typeface="Segoe UI"/>
                <a:ea typeface="Segoe UI"/>
                <a:cs typeface="Segoe UI"/>
              </a:rPr>
              <a:t>INTERACTION · LOOK AT THE CALLS</a:t>
            </a:r>
            <a:endParaRPr lang="en-US" sz="1050" dirty="0"/>
          </a:p>
        </p:txBody>
      </p:sp>
      <p:sp>
        <p:nvSpPr>
          <p:cNvPr id="116" name="s116"/>
          <p:cNvSpPr/>
          <p:nvPr/>
        </p:nvSpPr>
        <p:spPr>
          <a:xfrm>
            <a:off x="6120994" y="1874520"/>
            <a:ext cx="5510174" cy="237744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7" name="s117"/>
          <p:cNvSpPr/>
          <p:nvPr/>
        </p:nvSpPr>
        <p:spPr>
          <a:xfrm>
            <a:off x="6285586" y="202082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8" name="s118"/>
          <p:cNvSpPr/>
          <p:nvPr/>
        </p:nvSpPr>
        <p:spPr>
          <a:xfrm>
            <a:off x="6468466" y="202082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19" name="s119"/>
          <p:cNvSpPr/>
          <p:nvPr/>
        </p:nvSpPr>
        <p:spPr>
          <a:xfrm>
            <a:off x="6651346" y="202082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0" name="s120"/>
          <p:cNvSpPr/>
          <p:nvPr/>
        </p:nvSpPr>
        <p:spPr>
          <a:xfrm>
            <a:off x="6898234" y="194767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TransferServiceTests.cs</a:t>
            </a:r>
            <a:endParaRPr lang="en-US" sz="950" dirty="0"/>
          </a:p>
        </p:txBody>
      </p:sp>
      <p:cxnSp>
        <p:nvCxnSpPr>
          <p:cNvPr id="121" name="ln121"/>
          <p:cNvCxnSpPr/>
          <p:nvPr/>
        </p:nvCxnSpPr>
        <p:spPr>
          <a:xfrm>
            <a:off x="6120994" y="2286000"/>
            <a:ext cx="5510174" cy="0"/>
          </a:xfrm>
          <a:prstGeom prst="line">
            <a:avLst/>
          </a:prstGeom>
          <a:ln w="9525">
            <a:solidFill>
              <a:srgbClr val="1E3A5F"/>
            </a:solidFill>
          </a:ln>
        </p:spPr>
      </p:cxnSp>
      <p:sp>
        <p:nvSpPr>
          <p:cNvPr id="122" name="s122"/>
          <p:cNvSpPr/>
          <p:nvPr/>
        </p:nvSpPr>
        <p:spPr>
          <a:xfrm>
            <a:off x="6120994" y="240487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FBBF24"/>
                </a:solidFill>
                <a:latin typeface="Consolas"/>
                <a:ea typeface="Consolas"/>
                <a:cs typeface="Consolas"/>
              </a:rPr>
              <a:t>[Fact]</a:t>
            </a:r>
            <a:endParaRPr lang="en-US" sz="1150" dirty="0"/>
          </a:p>
        </p:txBody>
      </p:sp>
      <p:sp>
        <p:nvSpPr>
          <p:cNvPr id="123" name="s123"/>
          <p:cNvSpPr/>
          <p:nvPr/>
        </p:nvSpPr>
        <p:spPr>
          <a:xfrm>
            <a:off x="6120994" y="258013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void</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Transfer_EmailsTheSender</a:t>
            </a:r>
            <a:r>
              <a:rPr lang="en-US" sz="1150" b="0" dirty="0">
                <a:solidFill>
                  <a:srgbClr val="E2E8F0"/>
                </a:solidFill>
                <a:latin typeface="Consolas"/>
                <a:ea typeface="Consolas"/>
                <a:cs typeface="Consolas"/>
              </a:rPr>
              <a:t>()</a:t>
            </a:r>
            <a:endParaRPr lang="en-US" sz="1150" dirty="0"/>
          </a:p>
        </p:txBody>
      </p:sp>
      <p:sp>
        <p:nvSpPr>
          <p:cNvPr id="124" name="s124"/>
          <p:cNvSpPr/>
          <p:nvPr/>
        </p:nvSpPr>
        <p:spPr>
          <a:xfrm>
            <a:off x="6120994" y="275539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25" name="s125"/>
          <p:cNvSpPr/>
          <p:nvPr/>
        </p:nvSpPr>
        <p:spPr>
          <a:xfrm>
            <a:off x="6120994" y="293065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_service.</a:t>
            </a:r>
            <a:r>
              <a:rPr lang="en-US" sz="1150" b="0" dirty="0">
                <a:solidFill>
                  <a:srgbClr val="7DD3FC"/>
                </a:solidFill>
                <a:latin typeface="Consolas"/>
                <a:ea typeface="Consolas"/>
                <a:cs typeface="Consolas"/>
              </a:rPr>
              <a:t>Transfer</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"mona@bank.eg"</a:t>
            </a:r>
            <a:r>
              <a:rPr lang="en-US" sz="1150" b="0" dirty="0">
                <a:solidFill>
                  <a:srgbClr val="E2E8F0"/>
                </a:solidFill>
                <a:latin typeface="Consolas"/>
                <a:ea typeface="Consolas"/>
                <a:cs typeface="Consolas"/>
              </a:rPr>
              <a:t>, </a:t>
            </a:r>
            <a:r>
              <a:rPr lang="en-US" sz="1150" b="0" dirty="0">
                <a:solidFill>
                  <a:srgbClr val="F0A98B"/>
                </a:solidFill>
                <a:latin typeface="Consolas"/>
                <a:ea typeface="Consolas"/>
                <a:cs typeface="Consolas"/>
              </a:rPr>
              <a:t>"ali@bank.eg"</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100m</a:t>
            </a:r>
            <a:r>
              <a:rPr lang="en-US" sz="1150" b="0" dirty="0">
                <a:solidFill>
                  <a:srgbClr val="E2E8F0"/>
                </a:solidFill>
                <a:latin typeface="Consolas"/>
                <a:ea typeface="Consolas"/>
                <a:cs typeface="Consolas"/>
              </a:rPr>
              <a:t>);</a:t>
            </a:r>
            <a:endParaRPr lang="en-US" sz="1150" dirty="0"/>
          </a:p>
        </p:txBody>
      </p:sp>
      <p:sp>
        <p:nvSpPr>
          <p:cNvPr id="126" name="s126"/>
          <p:cNvSpPr/>
          <p:nvPr/>
        </p:nvSpPr>
        <p:spPr>
          <a:xfrm>
            <a:off x="6120994" y="310591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_email.</a:t>
            </a:r>
            <a:r>
              <a:rPr lang="en-US" sz="1150" b="0" dirty="0">
                <a:solidFill>
                  <a:srgbClr val="7DD3FC"/>
                </a:solidFill>
                <a:latin typeface="Consolas"/>
                <a:ea typeface="Consolas"/>
                <a:cs typeface="Consolas"/>
              </a:rPr>
              <a:t>Received</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1</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Send</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"mona@bank.eg"</a:t>
            </a:r>
            <a:r>
              <a:rPr lang="en-US" sz="1150" b="0" dirty="0">
                <a:solidFill>
                  <a:srgbClr val="E2E8F0"/>
                </a:solidFill>
                <a:latin typeface="Consolas"/>
                <a:ea typeface="Consolas"/>
                <a:cs typeface="Consolas"/>
              </a:rPr>
              <a:t>, </a:t>
            </a:r>
            <a:r>
              <a:rPr lang="en-US" sz="1150" b="0" dirty="0">
                <a:solidFill>
                  <a:srgbClr val="F0A98B"/>
                </a:solidFill>
                <a:latin typeface="Consolas"/>
                <a:ea typeface="Consolas"/>
                <a:cs typeface="Consolas"/>
              </a:rPr>
              <a:t>"Transfer done"</a:t>
            </a:r>
            <a:r>
              <a:rPr lang="en-US" sz="1150" b="0" dirty="0">
                <a:solidFill>
                  <a:srgbClr val="E2E8F0"/>
                </a:solidFill>
                <a:latin typeface="Consolas"/>
                <a:ea typeface="Consolas"/>
                <a:cs typeface="Consolas"/>
              </a:rPr>
              <a:t>,</a:t>
            </a:r>
            <a:endParaRPr lang="en-US" sz="1150" dirty="0"/>
          </a:p>
        </p:txBody>
      </p:sp>
      <p:sp>
        <p:nvSpPr>
          <p:cNvPr id="127" name="s127"/>
          <p:cNvSpPr/>
          <p:nvPr/>
        </p:nvSpPr>
        <p:spPr>
          <a:xfrm>
            <a:off x="6120994" y="328117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Arg</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Is</a:t>
            </a:r>
            <a:r>
              <a:rPr lang="en-US" sz="1150" b="0" dirty="0">
                <a:solidFill>
                  <a:srgbClr val="E2E8F0"/>
                </a:solidFill>
                <a:latin typeface="Consolas"/>
                <a:ea typeface="Consolas"/>
                <a:cs typeface="Consolas"/>
              </a:rPr>
              <a:t>&lt;</a:t>
            </a:r>
            <a:r>
              <a:rPr lang="en-US" sz="1150" b="0" dirty="0">
                <a:solidFill>
                  <a:srgbClr val="60A5FA"/>
                </a:solidFill>
                <a:latin typeface="Consolas"/>
                <a:ea typeface="Consolas"/>
                <a:cs typeface="Consolas"/>
              </a:rPr>
              <a:t>string</a:t>
            </a:r>
            <a:r>
              <a:rPr lang="en-US" sz="1150" b="0" dirty="0">
                <a:solidFill>
                  <a:srgbClr val="E2E8F0"/>
                </a:solidFill>
                <a:latin typeface="Consolas"/>
                <a:ea typeface="Consolas"/>
                <a:cs typeface="Consolas"/>
              </a:rPr>
              <a:t>&gt;(body =&gt; body.</a:t>
            </a:r>
            <a:r>
              <a:rPr lang="en-US" sz="1150" b="0" dirty="0">
                <a:solidFill>
                  <a:srgbClr val="7DD3FC"/>
                </a:solidFill>
                <a:latin typeface="Consolas"/>
                <a:ea typeface="Consolas"/>
                <a:cs typeface="Consolas"/>
              </a:rPr>
              <a:t>Contains</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"100.00"</a:t>
            </a:r>
            <a:r>
              <a:rPr lang="en-US" sz="1150" b="0" dirty="0">
                <a:solidFill>
                  <a:srgbClr val="E2E8F0"/>
                </a:solidFill>
                <a:latin typeface="Consolas"/>
                <a:ea typeface="Consolas"/>
                <a:cs typeface="Consolas"/>
              </a:rPr>
              <a:t>)));</a:t>
            </a:r>
            <a:endParaRPr lang="en-US" sz="1150" dirty="0"/>
          </a:p>
        </p:txBody>
      </p:sp>
      <p:sp>
        <p:nvSpPr>
          <p:cNvPr id="128" name="s128"/>
          <p:cNvSpPr/>
          <p:nvPr/>
        </p:nvSpPr>
        <p:spPr>
          <a:xfrm>
            <a:off x="6120994" y="3456432"/>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29" name="s129"/>
          <p:cNvSpPr/>
          <p:nvPr/>
        </p:nvSpPr>
        <p:spPr>
          <a:xfrm>
            <a:off x="543154" y="4480560"/>
            <a:ext cx="5349240" cy="114300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PREFER STATE</a:t>
            </a:r>
            <a:endParaRPr lang="en-US" sz="1050" dirty="0"/>
          </a:p>
          <a:p>
            <a:pPr marL="0" indent="0" algn="l">
              <a:spcBef>
                <a:spcPts val="0"/>
              </a:spcBef>
              <a:spcAft>
                <a:spcPts val="200"/>
              </a:spcAft>
              <a:buNone/>
            </a:pPr>
            <a:r>
              <a:rPr lang="en-US" sz="1300" b="0" dirty="0">
                <a:solidFill>
                  <a:srgbClr val="E2E8F0"/>
                </a:solidFill>
                <a:latin typeface="Segoe UI"/>
                <a:ea typeface="Segoe UI"/>
                <a:cs typeface="Segoe UI"/>
              </a:rPr>
              <a:t>Real objects, real result. Survives refactoring.</a:t>
            </a:r>
            <a:endParaRPr lang="en-US" sz="1300" dirty="0"/>
          </a:p>
        </p:txBody>
      </p:sp>
      <p:sp>
        <p:nvSpPr>
          <p:cNvPr id="130" name="s130"/>
          <p:cNvSpPr/>
          <p:nvPr/>
        </p:nvSpPr>
        <p:spPr>
          <a:xfrm>
            <a:off x="6120994" y="4480560"/>
            <a:ext cx="5510174" cy="1143000"/>
          </a:xfrm>
          <a:prstGeom prst="roundRect">
            <a:avLst>
              <a:gd name="adj" fmla="val 10000"/>
            </a:avLst>
          </a:prstGeom>
          <a:solidFill>
            <a:srgbClr val="FBBF24">
              <a:alpha val="8000"/>
            </a:srgbClr>
          </a:solidFill>
          <a:ln w="12700">
            <a:solidFill>
              <a:srgbClr val="FBBF24"/>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BBF24"/>
                </a:solidFill>
                <a:latin typeface="Segoe UI"/>
                <a:ea typeface="Segoe UI"/>
                <a:cs typeface="Segoe UI"/>
              </a:rPr>
              <a:t>INTERACTION AT THE EDGES</a:t>
            </a:r>
            <a:endParaRPr lang="en-US" sz="1050" dirty="0"/>
          </a:p>
          <a:p>
            <a:pPr marL="0" indent="0" algn="l">
              <a:spcBef>
                <a:spcPts val="0"/>
              </a:spcBef>
              <a:spcAft>
                <a:spcPts val="200"/>
              </a:spcAft>
              <a:buNone/>
            </a:pPr>
            <a:r>
              <a:rPr lang="en-US" sz="1300" b="0" dirty="0">
                <a:solidFill>
                  <a:srgbClr val="E2E8F0"/>
                </a:solidFill>
                <a:latin typeface="Segoe UI"/>
                <a:ea typeface="Segoe UI"/>
                <a:cs typeface="Segoe UI"/>
              </a:rPr>
              <a:t>Emails, logs, messages: the call IS the behavior.</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anim calcmode="lin" valueType="num">
                                      <p:cBhvr additive="base">
                                        <p:cTn id="12" dur="500" decel="100000" fill="hold"/>
                                        <p:tgtEl>
                                          <p:spTgt spid="103"/>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grpId="0" nodeType="clickEffect">
                                  <p:stCondLst>
                                    <p:cond delay="0"/>
                                  </p:stCondLst>
                                  <p:childTnLst>
                                    <p:set>
                                      <p:cBhvr>
                                        <p:cTn id="60" dur="1" fill="hold">
                                          <p:stCondLst>
                                            <p:cond delay="0"/>
                                          </p:stCondLst>
                                        </p:cTn>
                                        <p:tgtEl>
                                          <p:spTgt spid="116"/>
                                        </p:tgtEl>
                                        <p:attrNameLst>
                                          <p:attrName>style.visibility</p:attrName>
                                        </p:attrNameLst>
                                      </p:cBhvr>
                                      <p:to>
                                        <p:strVal val="visible"/>
                                      </p:to>
                                    </p:set>
                                    <p:animEffect transition="in" filter="fade">
                                      <p:cBhvr>
                                        <p:cTn id="61" dur="500"/>
                                        <p:tgtEl>
                                          <p:spTgt spid="116"/>
                                        </p:tgtEl>
                                      </p:cBhvr>
                                    </p:animEffect>
                                    <p:anim calcmode="lin" valueType="num">
                                      <p:cBhvr additive="base">
                                        <p:cTn id="62" dur="500" decel="100000" fill="hold"/>
                                        <p:tgtEl>
                                          <p:spTgt spid="116"/>
                                        </p:tgtEl>
                                        <p:attrNameLst>
                                          <p:attrName>ppt_y</p:attrName>
                                        </p:attrNameLst>
                                      </p:cBhvr>
                                      <p:tavLst>
                                        <p:tav tm="0">
                                          <p:val>
                                            <p:strVal val="#ppt_y+0.06"/>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117"/>
                                        </p:tgtEl>
                                        <p:attrNameLst>
                                          <p:attrName>style.visibility</p:attrName>
                                        </p:attrNameLst>
                                      </p:cBhvr>
                                      <p:to>
                                        <p:strVal val="visible"/>
                                      </p:to>
                                    </p:set>
                                    <p:animEffect transition="in" filter="fade">
                                      <p:cBhvr>
                                        <p:cTn id="65" dur="500"/>
                                        <p:tgtEl>
                                          <p:spTgt spid="117"/>
                                        </p:tgtEl>
                                      </p:cBhvr>
                                    </p:animEffect>
                                    <p:anim calcmode="lin" valueType="num">
                                      <p:cBhvr additive="base">
                                        <p:cTn id="66" dur="500" decel="100000" fill="hold"/>
                                        <p:tgtEl>
                                          <p:spTgt spid="117"/>
                                        </p:tgtEl>
                                        <p:attrNameLst>
                                          <p:attrName>ppt_y</p:attrName>
                                        </p:attrNameLst>
                                      </p:cBhvr>
                                      <p:tavLst>
                                        <p:tav tm="0">
                                          <p:val>
                                            <p:strVal val="#ppt_y+0.06"/>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118"/>
                                        </p:tgtEl>
                                        <p:attrNameLst>
                                          <p:attrName>style.visibility</p:attrName>
                                        </p:attrNameLst>
                                      </p:cBhvr>
                                      <p:to>
                                        <p:strVal val="visible"/>
                                      </p:to>
                                    </p:set>
                                    <p:animEffect transition="in" filter="fade">
                                      <p:cBhvr>
                                        <p:cTn id="69" dur="500"/>
                                        <p:tgtEl>
                                          <p:spTgt spid="118"/>
                                        </p:tgtEl>
                                      </p:cBhvr>
                                    </p:animEffect>
                                    <p:anim calcmode="lin" valueType="num">
                                      <p:cBhvr additive="base">
                                        <p:cTn id="70" dur="500" decel="100000" fill="hold"/>
                                        <p:tgtEl>
                                          <p:spTgt spid="118"/>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119"/>
                                        </p:tgtEl>
                                        <p:attrNameLst>
                                          <p:attrName>style.visibility</p:attrName>
                                        </p:attrNameLst>
                                      </p:cBhvr>
                                      <p:to>
                                        <p:strVal val="visible"/>
                                      </p:to>
                                    </p:set>
                                    <p:animEffect transition="in" filter="fade">
                                      <p:cBhvr>
                                        <p:cTn id="73" dur="500"/>
                                        <p:tgtEl>
                                          <p:spTgt spid="119"/>
                                        </p:tgtEl>
                                      </p:cBhvr>
                                    </p:animEffect>
                                    <p:anim calcmode="lin" valueType="num">
                                      <p:cBhvr additive="base">
                                        <p:cTn id="74" dur="500" decel="100000" fill="hold"/>
                                        <p:tgtEl>
                                          <p:spTgt spid="119"/>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120"/>
                                        </p:tgtEl>
                                        <p:attrNameLst>
                                          <p:attrName>style.visibility</p:attrName>
                                        </p:attrNameLst>
                                      </p:cBhvr>
                                      <p:to>
                                        <p:strVal val="visible"/>
                                      </p:to>
                                    </p:set>
                                    <p:animEffect transition="in" filter="fade">
                                      <p:cBhvr>
                                        <p:cTn id="77" dur="500"/>
                                        <p:tgtEl>
                                          <p:spTgt spid="120"/>
                                        </p:tgtEl>
                                      </p:cBhvr>
                                    </p:animEffect>
                                    <p:anim calcmode="lin" valueType="num">
                                      <p:cBhvr additive="base">
                                        <p:cTn id="78" dur="500" decel="100000" fill="hold"/>
                                        <p:tgtEl>
                                          <p:spTgt spid="120"/>
                                        </p:tgtEl>
                                        <p:attrNameLst>
                                          <p:attrName>ppt_y</p:attrName>
                                        </p:attrNameLst>
                                      </p:cBhvr>
                                      <p:tavLst>
                                        <p:tav tm="0">
                                          <p:val>
                                            <p:strVal val="#ppt_y+0.06"/>
                                          </p:val>
                                        </p:tav>
                                        <p:tav tm="100000">
                                          <p:val>
                                            <p:strVal val="#ppt_y"/>
                                          </p:val>
                                        </p:tav>
                                      </p:tavLst>
                                    </p:anim>
                                  </p:childTnLst>
                                </p:cTn>
                              </p:par>
                              <p:par>
                                <p:cTn id="79" presetID="42" presetClass="entr" presetSubtype="0" fill="hold" nodeType="withEffect">
                                  <p:stCondLst>
                                    <p:cond delay="0"/>
                                  </p:stCondLst>
                                  <p:childTnLst>
                                    <p:set>
                                      <p:cBhvr>
                                        <p:cTn id="80" dur="1" fill="hold">
                                          <p:stCondLst>
                                            <p:cond delay="0"/>
                                          </p:stCondLst>
                                        </p:cTn>
                                        <p:tgtEl>
                                          <p:spTgt spid="121"/>
                                        </p:tgtEl>
                                        <p:attrNameLst>
                                          <p:attrName>style.visibility</p:attrName>
                                        </p:attrNameLst>
                                      </p:cBhvr>
                                      <p:to>
                                        <p:strVal val="visible"/>
                                      </p:to>
                                    </p:set>
                                    <p:animEffect transition="in" filter="fade">
                                      <p:cBhvr>
                                        <p:cTn id="81" dur="500"/>
                                        <p:tgtEl>
                                          <p:spTgt spid="121"/>
                                        </p:tgtEl>
                                      </p:cBhvr>
                                    </p:animEffect>
                                    <p:anim calcmode="lin" valueType="num">
                                      <p:cBhvr additive="base">
                                        <p:cTn id="82" dur="500" decel="100000" fill="hold"/>
                                        <p:tgtEl>
                                          <p:spTgt spid="121"/>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22"/>
                                        </p:tgtEl>
                                        <p:attrNameLst>
                                          <p:attrName>style.visibility</p:attrName>
                                        </p:attrNameLst>
                                      </p:cBhvr>
                                      <p:to>
                                        <p:strVal val="visible"/>
                                      </p:to>
                                    </p:set>
                                    <p:animEffect transition="in" filter="fade">
                                      <p:cBhvr>
                                        <p:cTn id="85" dur="500"/>
                                        <p:tgtEl>
                                          <p:spTgt spid="122"/>
                                        </p:tgtEl>
                                      </p:cBhvr>
                                    </p:animEffect>
                                    <p:anim calcmode="lin" valueType="num">
                                      <p:cBhvr additive="base">
                                        <p:cTn id="86" dur="500" decel="100000" fill="hold"/>
                                        <p:tgtEl>
                                          <p:spTgt spid="122"/>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23"/>
                                        </p:tgtEl>
                                        <p:attrNameLst>
                                          <p:attrName>style.visibility</p:attrName>
                                        </p:attrNameLst>
                                      </p:cBhvr>
                                      <p:to>
                                        <p:strVal val="visible"/>
                                      </p:to>
                                    </p:set>
                                    <p:animEffect transition="in" filter="fade">
                                      <p:cBhvr>
                                        <p:cTn id="89" dur="500"/>
                                        <p:tgtEl>
                                          <p:spTgt spid="123"/>
                                        </p:tgtEl>
                                      </p:cBhvr>
                                    </p:animEffect>
                                    <p:anim calcmode="lin" valueType="num">
                                      <p:cBhvr additive="base">
                                        <p:cTn id="90" dur="500" decel="100000" fill="hold"/>
                                        <p:tgtEl>
                                          <p:spTgt spid="123"/>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4"/>
                                        </p:tgtEl>
                                        <p:attrNameLst>
                                          <p:attrName>style.visibility</p:attrName>
                                        </p:attrNameLst>
                                      </p:cBhvr>
                                      <p:to>
                                        <p:strVal val="visible"/>
                                      </p:to>
                                    </p:set>
                                    <p:animEffect transition="in" filter="fade">
                                      <p:cBhvr>
                                        <p:cTn id="93" dur="500"/>
                                        <p:tgtEl>
                                          <p:spTgt spid="124"/>
                                        </p:tgtEl>
                                      </p:cBhvr>
                                    </p:animEffect>
                                    <p:anim calcmode="lin" valueType="num">
                                      <p:cBhvr additive="base">
                                        <p:cTn id="94" dur="500" decel="100000" fill="hold"/>
                                        <p:tgtEl>
                                          <p:spTgt spid="124"/>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5"/>
                                        </p:tgtEl>
                                        <p:attrNameLst>
                                          <p:attrName>style.visibility</p:attrName>
                                        </p:attrNameLst>
                                      </p:cBhvr>
                                      <p:to>
                                        <p:strVal val="visible"/>
                                      </p:to>
                                    </p:set>
                                    <p:animEffect transition="in" filter="fade">
                                      <p:cBhvr>
                                        <p:cTn id="97" dur="500"/>
                                        <p:tgtEl>
                                          <p:spTgt spid="125"/>
                                        </p:tgtEl>
                                      </p:cBhvr>
                                    </p:animEffect>
                                    <p:anim calcmode="lin" valueType="num">
                                      <p:cBhvr additive="base">
                                        <p:cTn id="98" dur="500" decel="100000" fill="hold"/>
                                        <p:tgtEl>
                                          <p:spTgt spid="125"/>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6"/>
                                        </p:tgtEl>
                                        <p:attrNameLst>
                                          <p:attrName>style.visibility</p:attrName>
                                        </p:attrNameLst>
                                      </p:cBhvr>
                                      <p:to>
                                        <p:strVal val="visible"/>
                                      </p:to>
                                    </p:set>
                                    <p:animEffect transition="in" filter="fade">
                                      <p:cBhvr>
                                        <p:cTn id="101" dur="500"/>
                                        <p:tgtEl>
                                          <p:spTgt spid="126"/>
                                        </p:tgtEl>
                                      </p:cBhvr>
                                    </p:animEffect>
                                    <p:anim calcmode="lin" valueType="num">
                                      <p:cBhvr additive="base">
                                        <p:cTn id="102" dur="500" decel="100000" fill="hold"/>
                                        <p:tgtEl>
                                          <p:spTgt spid="126"/>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7"/>
                                        </p:tgtEl>
                                        <p:attrNameLst>
                                          <p:attrName>style.visibility</p:attrName>
                                        </p:attrNameLst>
                                      </p:cBhvr>
                                      <p:to>
                                        <p:strVal val="visible"/>
                                      </p:to>
                                    </p:set>
                                    <p:animEffect transition="in" filter="fade">
                                      <p:cBhvr>
                                        <p:cTn id="105" dur="500"/>
                                        <p:tgtEl>
                                          <p:spTgt spid="127"/>
                                        </p:tgtEl>
                                      </p:cBhvr>
                                    </p:animEffect>
                                    <p:anim calcmode="lin" valueType="num">
                                      <p:cBhvr additive="base">
                                        <p:cTn id="106" dur="500" decel="100000" fill="hold"/>
                                        <p:tgtEl>
                                          <p:spTgt spid="127"/>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8"/>
                                        </p:tgtEl>
                                        <p:attrNameLst>
                                          <p:attrName>style.visibility</p:attrName>
                                        </p:attrNameLst>
                                      </p:cBhvr>
                                      <p:to>
                                        <p:strVal val="visible"/>
                                      </p:to>
                                    </p:set>
                                    <p:animEffect transition="in" filter="fade">
                                      <p:cBhvr>
                                        <p:cTn id="109" dur="500"/>
                                        <p:tgtEl>
                                          <p:spTgt spid="128"/>
                                        </p:tgtEl>
                                      </p:cBhvr>
                                    </p:animEffect>
                                    <p:anim calcmode="lin" valueType="num">
                                      <p:cBhvr additive="base">
                                        <p:cTn id="110" dur="500" decel="100000" fill="hold"/>
                                        <p:tgtEl>
                                          <p:spTgt spid="128"/>
                                        </p:tgtEl>
                                        <p:attrNameLst>
                                          <p:attrName>ppt_y</p:attrName>
                                        </p:attrNameLst>
                                      </p:cBhvr>
                                      <p:tavLst>
                                        <p:tav tm="0">
                                          <p:val>
                                            <p:strVal val="#ppt_y+0.06"/>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42" presetClass="entr" presetSubtype="0" fill="hold" grpId="0" nodeType="clickEffect">
                                  <p:stCondLst>
                                    <p:cond delay="0"/>
                                  </p:stCondLst>
                                  <p:childTnLst>
                                    <p:set>
                                      <p:cBhvr>
                                        <p:cTn id="114" dur="1" fill="hold">
                                          <p:stCondLst>
                                            <p:cond delay="0"/>
                                          </p:stCondLst>
                                        </p:cTn>
                                        <p:tgtEl>
                                          <p:spTgt spid="129"/>
                                        </p:tgtEl>
                                        <p:attrNameLst>
                                          <p:attrName>style.visibility</p:attrName>
                                        </p:attrNameLst>
                                      </p:cBhvr>
                                      <p:to>
                                        <p:strVal val="visible"/>
                                      </p:to>
                                    </p:set>
                                    <p:animEffect transition="in" filter="fade">
                                      <p:cBhvr>
                                        <p:cTn id="115" dur="500"/>
                                        <p:tgtEl>
                                          <p:spTgt spid="129"/>
                                        </p:tgtEl>
                                      </p:cBhvr>
                                    </p:animEffect>
                                    <p:anim calcmode="lin" valueType="num">
                                      <p:cBhvr additive="base">
                                        <p:cTn id="116" dur="500" decel="100000" fill="hold"/>
                                        <p:tgtEl>
                                          <p:spTgt spid="129"/>
                                        </p:tgtEl>
                                        <p:attrNameLst>
                                          <p:attrName>ppt_y</p:attrName>
                                        </p:attrNameLst>
                                      </p:cBhvr>
                                      <p:tavLst>
                                        <p:tav tm="0">
                                          <p:val>
                                            <p:strVal val="#ppt_y+0.06"/>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42" presetClass="entr" presetSubtype="0" fill="hold" grpId="0" nodeType="clickEffect">
                                  <p:stCondLst>
                                    <p:cond delay="0"/>
                                  </p:stCondLst>
                                  <p:childTnLst>
                                    <p:set>
                                      <p:cBhvr>
                                        <p:cTn id="120" dur="1" fill="hold">
                                          <p:stCondLst>
                                            <p:cond delay="0"/>
                                          </p:stCondLst>
                                        </p:cTn>
                                        <p:tgtEl>
                                          <p:spTgt spid="130"/>
                                        </p:tgtEl>
                                        <p:attrNameLst>
                                          <p:attrName>style.visibility</p:attrName>
                                        </p:attrNameLst>
                                      </p:cBhvr>
                                      <p:to>
                                        <p:strVal val="visible"/>
                                      </p:to>
                                    </p:set>
                                    <p:animEffect transition="in" filter="fade">
                                      <p:cBhvr>
                                        <p:cTn id="121" dur="500"/>
                                        <p:tgtEl>
                                          <p:spTgt spid="130"/>
                                        </p:tgtEl>
                                      </p:cBhvr>
                                    </p:animEffect>
                                    <p:anim calcmode="lin" valueType="num">
                                      <p:cBhvr additive="base">
                                        <p:cTn id="122" dur="500" decel="100000" fill="hold"/>
                                        <p:tgtEl>
                                          <p:spTgt spid="130"/>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6" grpId="0" animBg="1"/>
      <p:bldP spid="117" grpId="0" animBg="1"/>
      <p:bldP spid="118" grpId="0" animBg="1"/>
      <p:bldP spid="119" grpId="0" animBg="1"/>
      <p:bldP spid="120"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OVER-MOCKING</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Do Not Mock Everything</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Problem: tests that turn red on harmless changes. The team stops trusting red.</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164</a:t>
            </a:r>
            <a:endParaRPr lang="en-US" sz="850" dirty="0"/>
          </a:p>
        </p:txBody>
      </p:sp>
      <p:sp>
        <p:nvSpPr>
          <p:cNvPr id="101" name="s101"/>
          <p:cNvSpPr txBox="1"/>
          <p:nvPr/>
        </p:nvSpPr>
        <p:spPr>
          <a:xfrm>
            <a:off x="543154" y="1810512"/>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87171"/>
                </a:solidFill>
                <a:latin typeface="Segoe UI"/>
                <a:ea typeface="Segoe UI"/>
                <a:cs typeface="Segoe UI"/>
              </a:rPr>
              <a:t>✗  DON'T</a:t>
            </a:r>
            <a:endParaRPr lang="en-US" sz="1050" dirty="0"/>
          </a:p>
        </p:txBody>
      </p:sp>
      <p:sp>
        <p:nvSpPr>
          <p:cNvPr id="102" name="s102"/>
          <p:cNvSpPr/>
          <p:nvPr/>
        </p:nvSpPr>
        <p:spPr>
          <a:xfrm>
            <a:off x="543154" y="2084832"/>
            <a:ext cx="5349240" cy="26974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157984"/>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TransferServiceTests.cs</a:t>
            </a:r>
            <a:endParaRPr lang="en-US" sz="950" dirty="0"/>
          </a:p>
        </p:txBody>
      </p:sp>
      <p:cxnSp>
        <p:nvCxnSpPr>
          <p:cNvPr id="107" name="ln107"/>
          <p:cNvCxnSpPr/>
          <p:nvPr/>
        </p:nvCxnSpPr>
        <p:spPr>
          <a:xfrm>
            <a:off x="543154" y="2496312"/>
            <a:ext cx="5349240" cy="0"/>
          </a:xfrm>
          <a:prstGeom prst="line">
            <a:avLst/>
          </a:prstGeom>
          <a:ln w="9525">
            <a:solidFill>
              <a:srgbClr val="1E3A5F"/>
            </a:solidFill>
          </a:ln>
        </p:spPr>
      </p:cxnSp>
      <p:sp>
        <p:nvSpPr>
          <p:cNvPr id="108" name="s108"/>
          <p:cNvSpPr/>
          <p:nvPr/>
        </p:nvSpPr>
        <p:spPr>
          <a:xfrm>
            <a:off x="543154" y="2615184"/>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_service.</a:t>
            </a:r>
            <a:r>
              <a:rPr lang="en-US" sz="1150" b="0" dirty="0">
                <a:solidFill>
                  <a:srgbClr val="7DD3FC"/>
                </a:solidFill>
                <a:latin typeface="Consolas"/>
                <a:ea typeface="Consolas"/>
                <a:cs typeface="Consolas"/>
              </a:rPr>
              <a:t>Transfer</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"mona@bank.eg"</a:t>
            </a:r>
            <a:r>
              <a:rPr lang="en-US" sz="1150" b="0" dirty="0">
                <a:solidFill>
                  <a:srgbClr val="E2E8F0"/>
                </a:solidFill>
                <a:latin typeface="Consolas"/>
                <a:ea typeface="Consolas"/>
                <a:cs typeface="Consolas"/>
              </a:rPr>
              <a:t>, </a:t>
            </a:r>
            <a:r>
              <a:rPr lang="en-US" sz="1150" b="0" dirty="0">
                <a:solidFill>
                  <a:srgbClr val="F0A98B"/>
                </a:solidFill>
                <a:latin typeface="Consolas"/>
                <a:ea typeface="Consolas"/>
                <a:cs typeface="Consolas"/>
              </a:rPr>
              <a:t>"ali@bank.eg"</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100m</a:t>
            </a:r>
            <a:r>
              <a:rPr lang="en-US" sz="1150" b="0" dirty="0">
                <a:solidFill>
                  <a:srgbClr val="E2E8F0"/>
                </a:solidFill>
                <a:latin typeface="Consolas"/>
                <a:ea typeface="Consolas"/>
                <a:cs typeface="Consolas"/>
              </a:rPr>
              <a:t>);</a:t>
            </a:r>
            <a:endParaRPr lang="en-US" sz="1150" dirty="0"/>
          </a:p>
        </p:txBody>
      </p:sp>
      <p:sp>
        <p:nvSpPr>
          <p:cNvPr id="109" name="s109"/>
          <p:cNvSpPr/>
          <p:nvPr/>
        </p:nvSpPr>
        <p:spPr>
          <a:xfrm>
            <a:off x="543154" y="2790444"/>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_logger.</a:t>
            </a:r>
            <a:r>
              <a:rPr lang="en-US" sz="1150" b="0" dirty="0">
                <a:solidFill>
                  <a:srgbClr val="7DD3FC"/>
                </a:solidFill>
                <a:latin typeface="Consolas"/>
                <a:ea typeface="Consolas"/>
                <a:cs typeface="Consolas"/>
              </a:rPr>
              <a:t>Received</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1</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Info</a:t>
            </a:r>
            <a:r>
              <a:rPr lang="en-US" sz="1150" b="0" dirty="0">
                <a:solidFill>
                  <a:srgbClr val="E2E8F0"/>
                </a:solidFill>
                <a:latin typeface="Consolas"/>
                <a:ea typeface="Consolas"/>
                <a:cs typeface="Consolas"/>
              </a:rPr>
              <a:t>(</a:t>
            </a:r>
            <a:endParaRPr lang="en-US" sz="1150" dirty="0"/>
          </a:p>
        </p:txBody>
      </p:sp>
      <p:sp>
        <p:nvSpPr>
          <p:cNvPr id="110" name="s110"/>
          <p:cNvSpPr/>
          <p:nvPr/>
        </p:nvSpPr>
        <p:spPr>
          <a:xfrm>
            <a:off x="543154" y="2965704"/>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F0A98B"/>
                </a:solidFill>
                <a:latin typeface="Consolas"/>
                <a:ea typeface="Consolas"/>
                <a:cs typeface="Consolas"/>
              </a:rPr>
              <a:t>"Transferred 100 from mona@bank.eg to ali@bank.eg"</a:t>
            </a:r>
            <a:r>
              <a:rPr lang="en-US" sz="1150" b="0" dirty="0">
                <a:solidFill>
                  <a:srgbClr val="E2E8F0"/>
                </a:solidFill>
                <a:latin typeface="Consolas"/>
                <a:ea typeface="Consolas"/>
                <a:cs typeface="Consolas"/>
              </a:rPr>
              <a:t>);</a:t>
            </a:r>
            <a:endParaRPr lang="en-US" sz="1150" dirty="0"/>
          </a:p>
        </p:txBody>
      </p:sp>
      <p:sp>
        <p:nvSpPr>
          <p:cNvPr id="111" name="s111"/>
          <p:cNvSpPr/>
          <p:nvPr/>
        </p:nvSpPr>
        <p:spPr>
          <a:xfrm>
            <a:off x="543154" y="3140964"/>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_accounts.</a:t>
            </a:r>
            <a:r>
              <a:rPr lang="en-US" sz="1150" b="0" dirty="0">
                <a:solidFill>
                  <a:srgbClr val="7DD3FC"/>
                </a:solidFill>
                <a:latin typeface="Consolas"/>
                <a:ea typeface="Consolas"/>
                <a:cs typeface="Consolas"/>
              </a:rPr>
              <a:t>Received</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1</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Find</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"mona@bank.eg"</a:t>
            </a:r>
            <a:r>
              <a:rPr lang="en-US" sz="1150" b="0" dirty="0">
                <a:solidFill>
                  <a:srgbClr val="E2E8F0"/>
                </a:solidFill>
                <a:latin typeface="Consolas"/>
                <a:ea typeface="Consolas"/>
                <a:cs typeface="Consolas"/>
              </a:rPr>
              <a:t>);</a:t>
            </a:r>
            <a:endParaRPr lang="en-US" sz="1150" dirty="0"/>
          </a:p>
        </p:txBody>
      </p:sp>
      <p:sp>
        <p:nvSpPr>
          <p:cNvPr id="112" name="s112"/>
          <p:cNvSpPr/>
          <p:nvPr/>
        </p:nvSpPr>
        <p:spPr>
          <a:xfrm>
            <a:off x="543154" y="3316224"/>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_accounts.</a:t>
            </a:r>
            <a:r>
              <a:rPr lang="en-US" sz="1150" b="0" dirty="0">
                <a:solidFill>
                  <a:srgbClr val="7DD3FC"/>
                </a:solidFill>
                <a:latin typeface="Consolas"/>
                <a:ea typeface="Consolas"/>
                <a:cs typeface="Consolas"/>
              </a:rPr>
              <a:t>Received</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1</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Find</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"ali@bank.eg"</a:t>
            </a:r>
            <a:r>
              <a:rPr lang="en-US" sz="1150" b="0" dirty="0">
                <a:solidFill>
                  <a:srgbClr val="E2E8F0"/>
                </a:solidFill>
                <a:latin typeface="Consolas"/>
                <a:ea typeface="Consolas"/>
                <a:cs typeface="Consolas"/>
              </a:rPr>
              <a:t>);</a:t>
            </a:r>
            <a:endParaRPr lang="en-US" sz="1150" dirty="0"/>
          </a:p>
        </p:txBody>
      </p:sp>
      <p:sp>
        <p:nvSpPr>
          <p:cNvPr id="113" name="s113"/>
          <p:cNvSpPr/>
          <p:nvPr/>
        </p:nvSpPr>
        <p:spPr>
          <a:xfrm>
            <a:off x="543154" y="3491484"/>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_accounts.</a:t>
            </a:r>
            <a:r>
              <a:rPr lang="en-US" sz="1150" b="0" dirty="0">
                <a:solidFill>
                  <a:srgbClr val="7DD3FC"/>
                </a:solidFill>
                <a:latin typeface="Consolas"/>
                <a:ea typeface="Consolas"/>
                <a:cs typeface="Consolas"/>
              </a:rPr>
              <a:t>Received</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2</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Save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Arg</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Any</a:t>
            </a:r>
            <a:r>
              <a:rPr lang="en-US" sz="1150" b="0" dirty="0">
                <a:solidFill>
                  <a:srgbClr val="E2E8F0"/>
                </a:solidFill>
                <a:latin typeface="Consolas"/>
                <a:ea typeface="Consolas"/>
                <a:cs typeface="Consolas"/>
              </a:rPr>
              <a:t>&lt;</a:t>
            </a:r>
            <a:r>
              <a:rPr lang="en-US" sz="1150" b="0" dirty="0">
                <a:solidFill>
                  <a:srgbClr val="7DD3FC"/>
                </a:solidFill>
                <a:latin typeface="Consolas"/>
                <a:ea typeface="Consolas"/>
                <a:cs typeface="Consolas"/>
              </a:rPr>
              <a:t>BankAccount</a:t>
            </a:r>
            <a:r>
              <a:rPr lang="en-US" sz="1150" b="0" dirty="0">
                <a:solidFill>
                  <a:srgbClr val="E2E8F0"/>
                </a:solidFill>
                <a:latin typeface="Consolas"/>
                <a:ea typeface="Consolas"/>
                <a:cs typeface="Consolas"/>
              </a:rPr>
              <a:t>&gt;());</a:t>
            </a:r>
            <a:endParaRPr lang="en-US" sz="1150" dirty="0"/>
          </a:p>
        </p:txBody>
      </p:sp>
      <p:sp>
        <p:nvSpPr>
          <p:cNvPr id="114" name="s114"/>
          <p:cNvSpPr/>
          <p:nvPr/>
        </p:nvSpPr>
        <p:spPr>
          <a:xfrm>
            <a:off x="543154" y="3666744"/>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_logger.</a:t>
            </a:r>
            <a:r>
              <a:rPr lang="en-US" sz="1150" b="0" dirty="0">
                <a:solidFill>
                  <a:srgbClr val="7DD3FC"/>
                </a:solidFill>
                <a:latin typeface="Consolas"/>
                <a:ea typeface="Consolas"/>
                <a:cs typeface="Consolas"/>
              </a:rPr>
              <a:t>DidNotReceive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Error</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Arg</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Any</a:t>
            </a:r>
            <a:r>
              <a:rPr lang="en-US" sz="1150" b="0" dirty="0">
                <a:solidFill>
                  <a:srgbClr val="E2E8F0"/>
                </a:solidFill>
                <a:latin typeface="Consolas"/>
                <a:ea typeface="Consolas"/>
                <a:cs typeface="Consolas"/>
              </a:rPr>
              <a:t>&lt;</a:t>
            </a:r>
            <a:r>
              <a:rPr lang="en-US" sz="1150" b="0" dirty="0">
                <a:solidFill>
                  <a:srgbClr val="60A5FA"/>
                </a:solidFill>
                <a:latin typeface="Consolas"/>
                <a:ea typeface="Consolas"/>
                <a:cs typeface="Consolas"/>
              </a:rPr>
              <a:t>string</a:t>
            </a:r>
            <a:r>
              <a:rPr lang="en-US" sz="1150" b="0" dirty="0">
                <a:solidFill>
                  <a:srgbClr val="E2E8F0"/>
                </a:solidFill>
                <a:latin typeface="Consolas"/>
                <a:ea typeface="Consolas"/>
                <a:cs typeface="Consolas"/>
              </a:rPr>
              <a:t>&gt;(),</a:t>
            </a:r>
            <a:endParaRPr lang="en-US" sz="1150" dirty="0"/>
          </a:p>
        </p:txBody>
      </p:sp>
      <p:sp>
        <p:nvSpPr>
          <p:cNvPr id="115" name="s115"/>
          <p:cNvSpPr/>
          <p:nvPr/>
        </p:nvSpPr>
        <p:spPr>
          <a:xfrm>
            <a:off x="543154" y="3842004"/>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Arg</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Any</a:t>
            </a:r>
            <a:r>
              <a:rPr lang="en-US" sz="1150" b="0" dirty="0">
                <a:solidFill>
                  <a:srgbClr val="E2E8F0"/>
                </a:solidFill>
                <a:latin typeface="Consolas"/>
                <a:ea typeface="Consolas"/>
                <a:cs typeface="Consolas"/>
              </a:rPr>
              <a:t>&lt;</a:t>
            </a:r>
            <a:r>
              <a:rPr lang="en-US" sz="1150" b="0" dirty="0">
                <a:solidFill>
                  <a:srgbClr val="7DD3FC"/>
                </a:solidFill>
                <a:latin typeface="Consolas"/>
                <a:ea typeface="Consolas"/>
                <a:cs typeface="Consolas"/>
              </a:rPr>
              <a:t>Exception</a:t>
            </a:r>
            <a:r>
              <a:rPr lang="en-US" sz="1150" b="0" dirty="0">
                <a:solidFill>
                  <a:srgbClr val="E2E8F0"/>
                </a:solidFill>
                <a:latin typeface="Consolas"/>
                <a:ea typeface="Consolas"/>
                <a:cs typeface="Consolas"/>
              </a:rPr>
              <a:t>&gt;());</a:t>
            </a:r>
            <a:endParaRPr lang="en-US" sz="1150" dirty="0"/>
          </a:p>
        </p:txBody>
      </p:sp>
      <p:sp>
        <p:nvSpPr>
          <p:cNvPr id="116" name="s116"/>
          <p:cNvSpPr/>
          <p:nvPr/>
        </p:nvSpPr>
        <p:spPr>
          <a:xfrm>
            <a:off x="543154" y="4017264"/>
            <a:ext cx="534924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FAE7A"/>
                </a:solidFill>
                <a:latin typeface="Consolas"/>
                <a:ea typeface="Consolas"/>
                <a:cs typeface="Consolas"/>
              </a:rPr>
              <a:t>// reword a log message → red test, zero bugs</a:t>
            </a:r>
            <a:endParaRPr lang="en-US" sz="1150" dirty="0"/>
          </a:p>
        </p:txBody>
      </p:sp>
      <p:sp>
        <p:nvSpPr>
          <p:cNvPr id="117" name="s117"/>
          <p:cNvSpPr txBox="1"/>
          <p:nvPr/>
        </p:nvSpPr>
        <p:spPr>
          <a:xfrm>
            <a:off x="6120994" y="1810512"/>
            <a:ext cx="36576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34D399"/>
                </a:solidFill>
                <a:latin typeface="Segoe UI"/>
                <a:ea typeface="Segoe UI"/>
                <a:cs typeface="Segoe UI"/>
              </a:rPr>
              <a:t>✓  DO</a:t>
            </a:r>
            <a:endParaRPr lang="en-US" sz="1050" dirty="0"/>
          </a:p>
        </p:txBody>
      </p:sp>
      <p:sp>
        <p:nvSpPr>
          <p:cNvPr id="118" name="s118"/>
          <p:cNvSpPr/>
          <p:nvPr/>
        </p:nvSpPr>
        <p:spPr>
          <a:xfrm>
            <a:off x="6120994" y="2084832"/>
            <a:ext cx="5510174" cy="26974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9" name="s119"/>
          <p:cNvSpPr/>
          <p:nvPr/>
        </p:nvSpPr>
        <p:spPr>
          <a:xfrm>
            <a:off x="628558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0" name="s120"/>
          <p:cNvSpPr/>
          <p:nvPr/>
        </p:nvSpPr>
        <p:spPr>
          <a:xfrm>
            <a:off x="646846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1" name="s121"/>
          <p:cNvSpPr/>
          <p:nvPr/>
        </p:nvSpPr>
        <p:spPr>
          <a:xfrm>
            <a:off x="665134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2" name="s122"/>
          <p:cNvSpPr/>
          <p:nvPr/>
        </p:nvSpPr>
        <p:spPr>
          <a:xfrm>
            <a:off x="6898234" y="2157984"/>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TransferServiceTests.cs</a:t>
            </a:r>
            <a:endParaRPr lang="en-US" sz="950" dirty="0"/>
          </a:p>
        </p:txBody>
      </p:sp>
      <p:cxnSp>
        <p:nvCxnSpPr>
          <p:cNvPr id="123" name="ln123"/>
          <p:cNvCxnSpPr/>
          <p:nvPr/>
        </p:nvCxnSpPr>
        <p:spPr>
          <a:xfrm>
            <a:off x="6120994" y="2496312"/>
            <a:ext cx="5510174" cy="0"/>
          </a:xfrm>
          <a:prstGeom prst="line">
            <a:avLst/>
          </a:prstGeom>
          <a:ln w="9525">
            <a:solidFill>
              <a:srgbClr val="1E3A5F"/>
            </a:solidFill>
          </a:ln>
        </p:spPr>
      </p:cxnSp>
      <p:sp>
        <p:nvSpPr>
          <p:cNvPr id="124" name="s124"/>
          <p:cNvSpPr/>
          <p:nvPr/>
        </p:nvSpPr>
        <p:spPr>
          <a:xfrm>
            <a:off x="6120994" y="2615184"/>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_service.</a:t>
            </a:r>
            <a:r>
              <a:rPr lang="en-US" sz="1150" b="0" dirty="0">
                <a:solidFill>
                  <a:srgbClr val="7DD3FC"/>
                </a:solidFill>
                <a:latin typeface="Consolas"/>
                <a:ea typeface="Consolas"/>
                <a:cs typeface="Consolas"/>
              </a:rPr>
              <a:t>Transfer</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"mona@bank.eg"</a:t>
            </a:r>
            <a:r>
              <a:rPr lang="en-US" sz="1150" b="0" dirty="0">
                <a:solidFill>
                  <a:srgbClr val="E2E8F0"/>
                </a:solidFill>
                <a:latin typeface="Consolas"/>
                <a:ea typeface="Consolas"/>
                <a:cs typeface="Consolas"/>
              </a:rPr>
              <a:t>, </a:t>
            </a:r>
            <a:r>
              <a:rPr lang="en-US" sz="1150" b="0" dirty="0">
                <a:solidFill>
                  <a:srgbClr val="F0A98B"/>
                </a:solidFill>
                <a:latin typeface="Consolas"/>
                <a:ea typeface="Consolas"/>
                <a:cs typeface="Consolas"/>
              </a:rPr>
              <a:t>"ali@bank.eg"</a:t>
            </a:r>
            <a:r>
              <a:rPr lang="en-US" sz="1150" b="0" dirty="0">
                <a:solidFill>
                  <a:srgbClr val="E2E8F0"/>
                </a:solidFill>
                <a:latin typeface="Consolas"/>
                <a:ea typeface="Consolas"/>
                <a:cs typeface="Consolas"/>
              </a:rPr>
              <a:t>, </a:t>
            </a:r>
            <a:r>
              <a:rPr lang="en-US" sz="1150" b="0" dirty="0">
                <a:solidFill>
                  <a:srgbClr val="C4B5FD"/>
                </a:solidFill>
                <a:latin typeface="Consolas"/>
                <a:ea typeface="Consolas"/>
                <a:cs typeface="Consolas"/>
              </a:rPr>
              <a:t>100m</a:t>
            </a:r>
            <a:r>
              <a:rPr lang="en-US" sz="1150" b="0" dirty="0">
                <a:solidFill>
                  <a:srgbClr val="E2E8F0"/>
                </a:solidFill>
                <a:latin typeface="Consolas"/>
                <a:ea typeface="Consolas"/>
                <a:cs typeface="Consolas"/>
              </a:rPr>
              <a:t>);</a:t>
            </a:r>
            <a:endParaRPr lang="en-US" sz="1150" dirty="0"/>
          </a:p>
        </p:txBody>
      </p:sp>
      <p:sp>
        <p:nvSpPr>
          <p:cNvPr id="125" name="s125"/>
          <p:cNvSpPr/>
          <p:nvPr/>
        </p:nvSpPr>
        <p:spPr>
          <a:xfrm>
            <a:off x="6120994" y="2790444"/>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FAE7A"/>
                </a:solidFill>
                <a:latin typeface="Consolas"/>
                <a:ea typeface="Consolas"/>
                <a:cs typeface="Consolas"/>
              </a:rPr>
              <a:t>// what the customer cares about</a:t>
            </a:r>
            <a:endParaRPr lang="en-US" sz="1150" dirty="0"/>
          </a:p>
        </p:txBody>
      </p:sp>
      <p:sp>
        <p:nvSpPr>
          <p:cNvPr id="126" name="s126"/>
          <p:cNvSpPr/>
          <p:nvPr/>
        </p:nvSpPr>
        <p:spPr>
          <a:xfrm>
            <a:off x="6120994" y="2965704"/>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_mona.</a:t>
            </a:r>
            <a:r>
              <a:rPr lang="en-US" sz="1150" b="0" dirty="0">
                <a:solidFill>
                  <a:srgbClr val="7DD3FC"/>
                </a:solidFill>
                <a:latin typeface="Consolas"/>
                <a:ea typeface="Consolas"/>
                <a:cs typeface="Consolas"/>
              </a:rPr>
              <a:t>Balance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ShouldBe</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400m</a:t>
            </a:r>
            <a:r>
              <a:rPr lang="en-US" sz="1150" b="0" dirty="0">
                <a:solidFill>
                  <a:srgbClr val="E2E8F0"/>
                </a:solidFill>
                <a:latin typeface="Consolas"/>
                <a:ea typeface="Consolas"/>
                <a:cs typeface="Consolas"/>
              </a:rPr>
              <a:t>);</a:t>
            </a:r>
            <a:endParaRPr lang="en-US" sz="1150" dirty="0"/>
          </a:p>
        </p:txBody>
      </p:sp>
      <p:sp>
        <p:nvSpPr>
          <p:cNvPr id="127" name="s127"/>
          <p:cNvSpPr/>
          <p:nvPr/>
        </p:nvSpPr>
        <p:spPr>
          <a:xfrm>
            <a:off x="6120994" y="3140964"/>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_ali.</a:t>
            </a:r>
            <a:r>
              <a:rPr lang="en-US" sz="1150" b="0" dirty="0">
                <a:solidFill>
                  <a:srgbClr val="7DD3FC"/>
                </a:solidFill>
                <a:latin typeface="Consolas"/>
                <a:ea typeface="Consolas"/>
                <a:cs typeface="Consolas"/>
              </a:rPr>
              <a:t>Balance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ShouldBe</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150m</a:t>
            </a:r>
            <a:r>
              <a:rPr lang="en-US" sz="1150" b="0" dirty="0">
                <a:solidFill>
                  <a:srgbClr val="E2E8F0"/>
                </a:solidFill>
                <a:latin typeface="Consolas"/>
                <a:ea typeface="Consolas"/>
                <a:cs typeface="Consolas"/>
              </a:rPr>
              <a:t>);</a:t>
            </a:r>
            <a:endParaRPr lang="en-US" sz="1150" dirty="0"/>
          </a:p>
        </p:txBody>
      </p:sp>
      <p:sp>
        <p:nvSpPr>
          <p:cNvPr id="128" name="s128"/>
          <p:cNvSpPr/>
          <p:nvPr/>
        </p:nvSpPr>
        <p:spPr>
          <a:xfrm>
            <a:off x="6120994" y="3316224"/>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_email.</a:t>
            </a:r>
            <a:r>
              <a:rPr lang="en-US" sz="1150" b="0" dirty="0">
                <a:solidFill>
                  <a:srgbClr val="7DD3FC"/>
                </a:solidFill>
                <a:latin typeface="Consolas"/>
                <a:ea typeface="Consolas"/>
                <a:cs typeface="Consolas"/>
              </a:rPr>
              <a:t>Received</a:t>
            </a:r>
            <a:r>
              <a:rPr lang="en-US" sz="1150" b="0" dirty="0">
                <a:solidFill>
                  <a:srgbClr val="E2E8F0"/>
                </a:solidFill>
                <a:latin typeface="Consolas"/>
                <a:ea typeface="Consolas"/>
                <a:cs typeface="Consolas"/>
              </a:rPr>
              <a:t>(</a:t>
            </a:r>
            <a:r>
              <a:rPr lang="en-US" sz="1150" b="0" dirty="0">
                <a:solidFill>
                  <a:srgbClr val="C4B5FD"/>
                </a:solidFill>
                <a:latin typeface="Consolas"/>
                <a:ea typeface="Consolas"/>
                <a:cs typeface="Consolas"/>
              </a:rPr>
              <a:t>1</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Send</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"mona@bank.eg"</a:t>
            </a:r>
            <a:r>
              <a:rPr lang="en-US" sz="1150" b="0" dirty="0">
                <a:solidFill>
                  <a:srgbClr val="E2E8F0"/>
                </a:solidFill>
                <a:latin typeface="Consolas"/>
                <a:ea typeface="Consolas"/>
                <a:cs typeface="Consolas"/>
              </a:rPr>
              <a:t>, </a:t>
            </a:r>
            <a:r>
              <a:rPr lang="en-US" sz="1150" b="0" dirty="0">
                <a:solidFill>
                  <a:srgbClr val="F0A98B"/>
                </a:solidFill>
                <a:latin typeface="Consolas"/>
                <a:ea typeface="Consolas"/>
                <a:cs typeface="Consolas"/>
              </a:rPr>
              <a:t>"Transfer done"</a:t>
            </a:r>
            <a:r>
              <a:rPr lang="en-US" sz="1150" b="0" dirty="0">
                <a:solidFill>
                  <a:srgbClr val="E2E8F0"/>
                </a:solidFill>
                <a:latin typeface="Consolas"/>
                <a:ea typeface="Consolas"/>
                <a:cs typeface="Consolas"/>
              </a:rPr>
              <a:t>,</a:t>
            </a:r>
            <a:endParaRPr lang="en-US" sz="1150" dirty="0"/>
          </a:p>
        </p:txBody>
      </p:sp>
      <p:sp>
        <p:nvSpPr>
          <p:cNvPr id="129" name="s129"/>
          <p:cNvSpPr/>
          <p:nvPr/>
        </p:nvSpPr>
        <p:spPr>
          <a:xfrm>
            <a:off x="6120994" y="3491484"/>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Arg</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Any</a:t>
            </a:r>
            <a:r>
              <a:rPr lang="en-US" sz="1150" b="0" dirty="0">
                <a:solidFill>
                  <a:srgbClr val="E2E8F0"/>
                </a:solidFill>
                <a:latin typeface="Consolas"/>
                <a:ea typeface="Consolas"/>
                <a:cs typeface="Consolas"/>
              </a:rPr>
              <a:t>&lt;</a:t>
            </a:r>
            <a:r>
              <a:rPr lang="en-US" sz="1150" b="0" dirty="0">
                <a:solidFill>
                  <a:srgbClr val="60A5FA"/>
                </a:solidFill>
                <a:latin typeface="Consolas"/>
                <a:ea typeface="Consolas"/>
                <a:cs typeface="Consolas"/>
              </a:rPr>
              <a:t>string</a:t>
            </a:r>
            <a:r>
              <a:rPr lang="en-US" sz="1150" b="0" dirty="0">
                <a:solidFill>
                  <a:srgbClr val="E2E8F0"/>
                </a:solidFill>
                <a:latin typeface="Consolas"/>
                <a:ea typeface="Consolas"/>
                <a:cs typeface="Consolas"/>
              </a:rPr>
              <a:t>&gt;());</a:t>
            </a:r>
            <a:endParaRPr lang="en-US" sz="1150" dirty="0"/>
          </a:p>
        </p:txBody>
      </p:sp>
      <p:sp>
        <p:nvSpPr>
          <p:cNvPr id="130" name="s130"/>
          <p:cNvSpPr/>
          <p:nvPr/>
        </p:nvSpPr>
        <p:spPr>
          <a:xfrm>
            <a:off x="6120994" y="3666744"/>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FAE7A"/>
                </a:solidFill>
                <a:latin typeface="Consolas"/>
                <a:ea typeface="Consolas"/>
                <a:cs typeface="Consolas"/>
              </a:rPr>
              <a:t>// real objects for real logic: BankAccount</a:t>
            </a:r>
            <a:endParaRPr lang="en-US" sz="1150" dirty="0"/>
          </a:p>
        </p:txBody>
      </p:sp>
      <p:sp>
        <p:nvSpPr>
          <p:cNvPr id="131" name="s131"/>
          <p:cNvSpPr/>
          <p:nvPr/>
        </p:nvSpPr>
        <p:spPr>
          <a:xfrm>
            <a:off x="6120994" y="3842004"/>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FAE7A"/>
                </a:solidFill>
                <a:latin typeface="Consolas"/>
                <a:ea typeface="Consolas"/>
                <a:cs typeface="Consolas"/>
              </a:rPr>
              <a:t>// doubles only at the edges:</a:t>
            </a:r>
            <a:endParaRPr lang="en-US" sz="1150" dirty="0"/>
          </a:p>
        </p:txBody>
      </p:sp>
      <p:sp>
        <p:nvSpPr>
          <p:cNvPr id="132" name="s132"/>
          <p:cNvSpPr/>
          <p:nvPr/>
        </p:nvSpPr>
        <p:spPr>
          <a:xfrm>
            <a:off x="6120994" y="4017264"/>
            <a:ext cx="5510174"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FAE7A"/>
                </a:solidFill>
                <a:latin typeface="Consolas"/>
                <a:ea typeface="Consolas"/>
                <a:cs typeface="Consolas"/>
              </a:rPr>
              <a:t>//   database, email, logs, clock, network</a:t>
            </a:r>
            <a:endParaRPr lang="en-US" sz="1150" dirty="0"/>
          </a:p>
        </p:txBody>
      </p:sp>
      <p:sp>
        <p:nvSpPr>
          <p:cNvPr id="133" name="s133"/>
          <p:cNvSpPr/>
          <p:nvPr/>
        </p:nvSpPr>
        <p:spPr>
          <a:xfrm>
            <a:off x="543154" y="4892040"/>
            <a:ext cx="5349240" cy="777240"/>
          </a:xfrm>
          <a:prstGeom prst="roundRect">
            <a:avLst>
              <a:gd name="adj" fmla="val 10000"/>
            </a:avLst>
          </a:prstGeom>
          <a:solidFill>
            <a:srgbClr val="F87171">
              <a:alpha val="8000"/>
            </a:srgbClr>
          </a:solidFill>
          <a:ln w="12700">
            <a:solidFill>
              <a:srgbClr val="F87171"/>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F87171"/>
                </a:solidFill>
                <a:latin typeface="Segoe UI"/>
                <a:ea typeface="Segoe UI"/>
                <a:cs typeface="Segoe UI"/>
              </a:rPr>
              <a:t>WHY IT FAILS</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It checks HOW, not WHAT: exact log text, every call.</a:t>
            </a:r>
            <a:endParaRPr lang="en-US" sz="1200" dirty="0"/>
          </a:p>
        </p:txBody>
      </p:sp>
      <p:sp>
        <p:nvSpPr>
          <p:cNvPr id="134" name="s134"/>
          <p:cNvSpPr/>
          <p:nvPr/>
        </p:nvSpPr>
        <p:spPr>
          <a:xfrm>
            <a:off x="6120994" y="4892040"/>
            <a:ext cx="5510174" cy="777240"/>
          </a:xfrm>
          <a:prstGeom prst="roundRect">
            <a:avLst>
              <a:gd name="adj" fmla="val 10000"/>
            </a:avLst>
          </a:prstGeom>
          <a:solidFill>
            <a:srgbClr val="34D399">
              <a:alpha val="8000"/>
            </a:srgbClr>
          </a:solidFill>
          <a:ln w="12700">
            <a:solidFill>
              <a:srgbClr val="34D399"/>
            </a:solidFill>
            <a:prstDash val="solid"/>
          </a:ln>
        </p:spPr>
        <p:txBody>
          <a:bodyPr wrap="square" lIns="182880" tIns="73152" rIns="137160" bIns="73152" rtlCol="0" anchor="ctr">
            <a:noAutofit/>
          </a:bodyPr>
          <a:lstStyle/>
          <a:p>
            <a:pPr marL="0" indent="0" algn="l">
              <a:spcBef>
                <a:spcPts val="0"/>
              </a:spcBef>
              <a:spcAft>
                <a:spcPts val="300"/>
              </a:spcAft>
              <a:buNone/>
            </a:pPr>
            <a:r>
              <a:rPr lang="en-US" sz="1050" b="1" dirty="0">
                <a:solidFill>
                  <a:srgbClr val="34D399"/>
                </a:solidFill>
                <a:latin typeface="Segoe UI"/>
                <a:ea typeface="Segoe UI"/>
                <a:cs typeface="Segoe UI"/>
              </a:rPr>
              <a:t>THE RULE</a:t>
            </a:r>
            <a:endParaRPr lang="en-US" sz="1050" dirty="0"/>
          </a:p>
          <a:p>
            <a:pPr marL="0" indent="0" algn="l">
              <a:spcBef>
                <a:spcPts val="0"/>
              </a:spcBef>
              <a:spcAft>
                <a:spcPts val="200"/>
              </a:spcAft>
              <a:buNone/>
            </a:pPr>
            <a:r>
              <a:rPr lang="en-US" sz="1200" b="0" dirty="0">
                <a:solidFill>
                  <a:srgbClr val="E2E8F0"/>
                </a:solidFill>
                <a:latin typeface="Segoe UI"/>
                <a:ea typeface="Segoe UI"/>
                <a:cs typeface="Segoe UI"/>
              </a:rPr>
              <a:t>Verify only the outcome that matters. Doubles only at the edges.</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anim calcmode="lin" valueType="num">
                                      <p:cBhvr additive="base">
                                        <p:cTn id="12" dur="500" decel="100000" fill="hold"/>
                                        <p:tgtEl>
                                          <p:spTgt spid="103"/>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33"/>
                                        </p:tgtEl>
                                        <p:attrNameLst>
                                          <p:attrName>style.visibility</p:attrName>
                                        </p:attrNameLst>
                                      </p:cBhvr>
                                      <p:to>
                                        <p:strVal val="visible"/>
                                      </p:to>
                                    </p:set>
                                    <p:animEffect transition="in" filter="fade">
                                      <p:cBhvr>
                                        <p:cTn id="69" dur="500"/>
                                        <p:tgtEl>
                                          <p:spTgt spid="133"/>
                                        </p:tgtEl>
                                      </p:cBhvr>
                                    </p:animEffect>
                                    <p:anim calcmode="lin" valueType="num">
                                      <p:cBhvr additive="base">
                                        <p:cTn id="70" dur="500" decel="100000" fill="hold"/>
                                        <p:tgtEl>
                                          <p:spTgt spid="133"/>
                                        </p:tgtEl>
                                        <p:attrNameLst>
                                          <p:attrName>ppt_y</p:attrName>
                                        </p:attrNameLst>
                                      </p:cBhvr>
                                      <p:tavLst>
                                        <p:tav tm="0">
                                          <p:val>
                                            <p:strVal val="#ppt_y+0.06"/>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42" presetClass="entr" presetSubtype="0" fill="hold" grpId="0" nodeType="clickEffect">
                                  <p:stCondLst>
                                    <p:cond delay="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20"/>
                                        </p:tgtEl>
                                        <p:attrNameLst>
                                          <p:attrName>style.visibility</p:attrName>
                                        </p:attrNameLst>
                                      </p:cBhvr>
                                      <p:to>
                                        <p:strVal val="visible"/>
                                      </p:to>
                                    </p:set>
                                    <p:animEffect transition="in" filter="fade">
                                      <p:cBhvr>
                                        <p:cTn id="83" dur="500"/>
                                        <p:tgtEl>
                                          <p:spTgt spid="120"/>
                                        </p:tgtEl>
                                      </p:cBhvr>
                                    </p:animEffect>
                                    <p:anim calcmode="lin" valueType="num">
                                      <p:cBhvr additive="base">
                                        <p:cTn id="84" dur="500" decel="100000" fill="hold"/>
                                        <p:tgtEl>
                                          <p:spTgt spid="120"/>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121"/>
                                        </p:tgtEl>
                                        <p:attrNameLst>
                                          <p:attrName>style.visibility</p:attrName>
                                        </p:attrNameLst>
                                      </p:cBhvr>
                                      <p:to>
                                        <p:strVal val="visible"/>
                                      </p:to>
                                    </p:set>
                                    <p:animEffect transition="in" filter="fade">
                                      <p:cBhvr>
                                        <p:cTn id="87" dur="500"/>
                                        <p:tgtEl>
                                          <p:spTgt spid="121"/>
                                        </p:tgtEl>
                                      </p:cBhvr>
                                    </p:animEffect>
                                    <p:anim calcmode="lin" valueType="num">
                                      <p:cBhvr additive="base">
                                        <p:cTn id="88" dur="500" decel="100000" fill="hold"/>
                                        <p:tgtEl>
                                          <p:spTgt spid="121"/>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122"/>
                                        </p:tgtEl>
                                        <p:attrNameLst>
                                          <p:attrName>style.visibility</p:attrName>
                                        </p:attrNameLst>
                                      </p:cBhvr>
                                      <p:to>
                                        <p:strVal val="visible"/>
                                      </p:to>
                                    </p:set>
                                    <p:animEffect transition="in" filter="fade">
                                      <p:cBhvr>
                                        <p:cTn id="91" dur="500"/>
                                        <p:tgtEl>
                                          <p:spTgt spid="122"/>
                                        </p:tgtEl>
                                      </p:cBhvr>
                                    </p:animEffect>
                                    <p:anim calcmode="lin" valueType="num">
                                      <p:cBhvr additive="base">
                                        <p:cTn id="92" dur="500" decel="100000" fill="hold"/>
                                        <p:tgtEl>
                                          <p:spTgt spid="122"/>
                                        </p:tgtEl>
                                        <p:attrNameLst>
                                          <p:attrName>ppt_y</p:attrName>
                                        </p:attrNameLst>
                                      </p:cBhvr>
                                      <p:tavLst>
                                        <p:tav tm="0">
                                          <p:val>
                                            <p:strVal val="#ppt_y+0.06"/>
                                          </p:val>
                                        </p:tav>
                                        <p:tav tm="100000">
                                          <p:val>
                                            <p:strVal val="#ppt_y"/>
                                          </p:val>
                                        </p:tav>
                                      </p:tavLst>
                                    </p:anim>
                                  </p:childTnLst>
                                </p:cTn>
                              </p:par>
                              <p:par>
                                <p:cTn id="93" presetID="42" presetClass="entr" presetSubtype="0" fill="hold" nodeType="withEffect">
                                  <p:stCondLst>
                                    <p:cond delay="0"/>
                                  </p:stCondLst>
                                  <p:childTnLst>
                                    <p:set>
                                      <p:cBhvr>
                                        <p:cTn id="94" dur="1" fill="hold">
                                          <p:stCondLst>
                                            <p:cond delay="0"/>
                                          </p:stCondLst>
                                        </p:cTn>
                                        <p:tgtEl>
                                          <p:spTgt spid="123"/>
                                        </p:tgtEl>
                                        <p:attrNameLst>
                                          <p:attrName>style.visibility</p:attrName>
                                        </p:attrNameLst>
                                      </p:cBhvr>
                                      <p:to>
                                        <p:strVal val="visible"/>
                                      </p:to>
                                    </p:set>
                                    <p:animEffect transition="in" filter="fade">
                                      <p:cBhvr>
                                        <p:cTn id="95" dur="500"/>
                                        <p:tgtEl>
                                          <p:spTgt spid="123"/>
                                        </p:tgtEl>
                                      </p:cBhvr>
                                    </p:animEffect>
                                    <p:anim calcmode="lin" valueType="num">
                                      <p:cBhvr additive="base">
                                        <p:cTn id="96" dur="500" decel="100000" fill="hold"/>
                                        <p:tgtEl>
                                          <p:spTgt spid="123"/>
                                        </p:tgtEl>
                                        <p:attrNameLst>
                                          <p:attrName>ppt_y</p:attrName>
                                        </p:attrNameLst>
                                      </p:cBhvr>
                                      <p:tavLst>
                                        <p:tav tm="0">
                                          <p:val>
                                            <p:strVal val="#ppt_y+0.06"/>
                                          </p:val>
                                        </p:tav>
                                        <p:tav tm="100000">
                                          <p:val>
                                            <p:strVal val="#ppt_y"/>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4"/>
                                        </p:tgtEl>
                                        <p:attrNameLst>
                                          <p:attrName>style.visibility</p:attrName>
                                        </p:attrNameLst>
                                      </p:cBhvr>
                                      <p:to>
                                        <p:strVal val="visible"/>
                                      </p:to>
                                    </p:set>
                                    <p:animEffect transition="in" filter="fade">
                                      <p:cBhvr>
                                        <p:cTn id="99" dur="500"/>
                                        <p:tgtEl>
                                          <p:spTgt spid="124"/>
                                        </p:tgtEl>
                                      </p:cBhvr>
                                    </p:animEffect>
                                    <p:anim calcmode="lin" valueType="num">
                                      <p:cBhvr additive="base">
                                        <p:cTn id="100" dur="500" decel="100000" fill="hold"/>
                                        <p:tgtEl>
                                          <p:spTgt spid="124"/>
                                        </p:tgtEl>
                                        <p:attrNameLst>
                                          <p:attrName>ppt_y</p:attrName>
                                        </p:attrNameLst>
                                      </p:cBhvr>
                                      <p:tavLst>
                                        <p:tav tm="0">
                                          <p:val>
                                            <p:strVal val="#ppt_y+0.06"/>
                                          </p:val>
                                        </p:tav>
                                        <p:tav tm="100000">
                                          <p:val>
                                            <p:strVal val="#ppt_y"/>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25"/>
                                        </p:tgtEl>
                                        <p:attrNameLst>
                                          <p:attrName>style.visibility</p:attrName>
                                        </p:attrNameLst>
                                      </p:cBhvr>
                                      <p:to>
                                        <p:strVal val="visible"/>
                                      </p:to>
                                    </p:set>
                                    <p:animEffect transition="in" filter="fade">
                                      <p:cBhvr>
                                        <p:cTn id="103" dur="500"/>
                                        <p:tgtEl>
                                          <p:spTgt spid="125"/>
                                        </p:tgtEl>
                                      </p:cBhvr>
                                    </p:animEffect>
                                    <p:anim calcmode="lin" valueType="num">
                                      <p:cBhvr additive="base">
                                        <p:cTn id="104" dur="500" decel="100000" fill="hold"/>
                                        <p:tgtEl>
                                          <p:spTgt spid="125"/>
                                        </p:tgtEl>
                                        <p:attrNameLst>
                                          <p:attrName>ppt_y</p:attrName>
                                        </p:attrNameLst>
                                      </p:cBhvr>
                                      <p:tavLst>
                                        <p:tav tm="0">
                                          <p:val>
                                            <p:strVal val="#ppt_y+0.06"/>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26"/>
                                        </p:tgtEl>
                                        <p:attrNameLst>
                                          <p:attrName>style.visibility</p:attrName>
                                        </p:attrNameLst>
                                      </p:cBhvr>
                                      <p:to>
                                        <p:strVal val="visible"/>
                                      </p:to>
                                    </p:set>
                                    <p:animEffect transition="in" filter="fade">
                                      <p:cBhvr>
                                        <p:cTn id="107" dur="500"/>
                                        <p:tgtEl>
                                          <p:spTgt spid="126"/>
                                        </p:tgtEl>
                                      </p:cBhvr>
                                    </p:animEffect>
                                    <p:anim calcmode="lin" valueType="num">
                                      <p:cBhvr additive="base">
                                        <p:cTn id="108" dur="500" decel="100000" fill="hold"/>
                                        <p:tgtEl>
                                          <p:spTgt spid="126"/>
                                        </p:tgtEl>
                                        <p:attrNameLst>
                                          <p:attrName>ppt_y</p:attrName>
                                        </p:attrNameLst>
                                      </p:cBhvr>
                                      <p:tavLst>
                                        <p:tav tm="0">
                                          <p:val>
                                            <p:strVal val="#ppt_y+0.06"/>
                                          </p:val>
                                        </p:tav>
                                        <p:tav tm="100000">
                                          <p:val>
                                            <p:strVal val="#ppt_y"/>
                                          </p:val>
                                        </p:tav>
                                      </p:tavLst>
                                    </p:anim>
                                  </p:childTnLst>
                                </p:cTn>
                              </p:par>
                              <p:par>
                                <p:cTn id="109" presetID="42" presetClass="entr" presetSubtype="0" fill="hold" grpId="0" nodeType="withEffect">
                                  <p:stCondLst>
                                    <p:cond delay="0"/>
                                  </p:stCondLst>
                                  <p:childTnLst>
                                    <p:set>
                                      <p:cBhvr>
                                        <p:cTn id="110" dur="1" fill="hold">
                                          <p:stCondLst>
                                            <p:cond delay="0"/>
                                          </p:stCondLst>
                                        </p:cTn>
                                        <p:tgtEl>
                                          <p:spTgt spid="127"/>
                                        </p:tgtEl>
                                        <p:attrNameLst>
                                          <p:attrName>style.visibility</p:attrName>
                                        </p:attrNameLst>
                                      </p:cBhvr>
                                      <p:to>
                                        <p:strVal val="visible"/>
                                      </p:to>
                                    </p:set>
                                    <p:animEffect transition="in" filter="fade">
                                      <p:cBhvr>
                                        <p:cTn id="111" dur="500"/>
                                        <p:tgtEl>
                                          <p:spTgt spid="127"/>
                                        </p:tgtEl>
                                      </p:cBhvr>
                                    </p:animEffect>
                                    <p:anim calcmode="lin" valueType="num">
                                      <p:cBhvr additive="base">
                                        <p:cTn id="112" dur="500" decel="100000" fill="hold"/>
                                        <p:tgtEl>
                                          <p:spTgt spid="127"/>
                                        </p:tgtEl>
                                        <p:attrNameLst>
                                          <p:attrName>ppt_y</p:attrName>
                                        </p:attrNameLst>
                                      </p:cBhvr>
                                      <p:tavLst>
                                        <p:tav tm="0">
                                          <p:val>
                                            <p:strVal val="#ppt_y+0.06"/>
                                          </p:val>
                                        </p:tav>
                                        <p:tav tm="100000">
                                          <p:val>
                                            <p:strVal val="#ppt_y"/>
                                          </p:val>
                                        </p:tav>
                                      </p:tavLst>
                                    </p:anim>
                                  </p:childTnLst>
                                </p:cTn>
                              </p:par>
                              <p:par>
                                <p:cTn id="113" presetID="42" presetClass="entr" presetSubtype="0" fill="hold" grpId="0" nodeType="withEffect">
                                  <p:stCondLst>
                                    <p:cond delay="0"/>
                                  </p:stCondLst>
                                  <p:childTnLst>
                                    <p:set>
                                      <p:cBhvr>
                                        <p:cTn id="114" dur="1" fill="hold">
                                          <p:stCondLst>
                                            <p:cond delay="0"/>
                                          </p:stCondLst>
                                        </p:cTn>
                                        <p:tgtEl>
                                          <p:spTgt spid="128"/>
                                        </p:tgtEl>
                                        <p:attrNameLst>
                                          <p:attrName>style.visibility</p:attrName>
                                        </p:attrNameLst>
                                      </p:cBhvr>
                                      <p:to>
                                        <p:strVal val="visible"/>
                                      </p:to>
                                    </p:set>
                                    <p:animEffect transition="in" filter="fade">
                                      <p:cBhvr>
                                        <p:cTn id="115" dur="500"/>
                                        <p:tgtEl>
                                          <p:spTgt spid="128"/>
                                        </p:tgtEl>
                                      </p:cBhvr>
                                    </p:animEffect>
                                    <p:anim calcmode="lin" valueType="num">
                                      <p:cBhvr additive="base">
                                        <p:cTn id="116" dur="500" decel="100000" fill="hold"/>
                                        <p:tgtEl>
                                          <p:spTgt spid="128"/>
                                        </p:tgtEl>
                                        <p:attrNameLst>
                                          <p:attrName>ppt_y</p:attrName>
                                        </p:attrNameLst>
                                      </p:cBhvr>
                                      <p:tavLst>
                                        <p:tav tm="0">
                                          <p:val>
                                            <p:strVal val="#ppt_y+0.06"/>
                                          </p:val>
                                        </p:tav>
                                        <p:tav tm="100000">
                                          <p:val>
                                            <p:strVal val="#ppt_y"/>
                                          </p:val>
                                        </p:tav>
                                      </p:tavLst>
                                    </p:anim>
                                  </p:childTnLst>
                                </p:cTn>
                              </p:par>
                              <p:par>
                                <p:cTn id="117" presetID="42" presetClass="entr" presetSubtype="0" fill="hold" grpId="0" nodeType="withEffect">
                                  <p:stCondLst>
                                    <p:cond delay="0"/>
                                  </p:stCondLst>
                                  <p:childTnLst>
                                    <p:set>
                                      <p:cBhvr>
                                        <p:cTn id="118" dur="1" fill="hold">
                                          <p:stCondLst>
                                            <p:cond delay="0"/>
                                          </p:stCondLst>
                                        </p:cTn>
                                        <p:tgtEl>
                                          <p:spTgt spid="129"/>
                                        </p:tgtEl>
                                        <p:attrNameLst>
                                          <p:attrName>style.visibility</p:attrName>
                                        </p:attrNameLst>
                                      </p:cBhvr>
                                      <p:to>
                                        <p:strVal val="visible"/>
                                      </p:to>
                                    </p:set>
                                    <p:animEffect transition="in" filter="fade">
                                      <p:cBhvr>
                                        <p:cTn id="119" dur="500"/>
                                        <p:tgtEl>
                                          <p:spTgt spid="129"/>
                                        </p:tgtEl>
                                      </p:cBhvr>
                                    </p:animEffect>
                                    <p:anim calcmode="lin" valueType="num">
                                      <p:cBhvr additive="base">
                                        <p:cTn id="120" dur="500" decel="100000" fill="hold"/>
                                        <p:tgtEl>
                                          <p:spTgt spid="129"/>
                                        </p:tgtEl>
                                        <p:attrNameLst>
                                          <p:attrName>ppt_y</p:attrName>
                                        </p:attrNameLst>
                                      </p:cBhvr>
                                      <p:tavLst>
                                        <p:tav tm="0">
                                          <p:val>
                                            <p:strVal val="#ppt_y+0.06"/>
                                          </p:val>
                                        </p:tav>
                                        <p:tav tm="100000">
                                          <p:val>
                                            <p:strVal val="#ppt_y"/>
                                          </p:val>
                                        </p:tav>
                                      </p:tavLst>
                                    </p:anim>
                                  </p:childTnLst>
                                </p:cTn>
                              </p:par>
                              <p:par>
                                <p:cTn id="121" presetID="42" presetClass="entr" presetSubtype="0" fill="hold" grpId="0" nodeType="withEffect">
                                  <p:stCondLst>
                                    <p:cond delay="0"/>
                                  </p:stCondLst>
                                  <p:childTnLst>
                                    <p:set>
                                      <p:cBhvr>
                                        <p:cTn id="122" dur="1" fill="hold">
                                          <p:stCondLst>
                                            <p:cond delay="0"/>
                                          </p:stCondLst>
                                        </p:cTn>
                                        <p:tgtEl>
                                          <p:spTgt spid="130"/>
                                        </p:tgtEl>
                                        <p:attrNameLst>
                                          <p:attrName>style.visibility</p:attrName>
                                        </p:attrNameLst>
                                      </p:cBhvr>
                                      <p:to>
                                        <p:strVal val="visible"/>
                                      </p:to>
                                    </p:set>
                                    <p:animEffect transition="in" filter="fade">
                                      <p:cBhvr>
                                        <p:cTn id="123" dur="500"/>
                                        <p:tgtEl>
                                          <p:spTgt spid="130"/>
                                        </p:tgtEl>
                                      </p:cBhvr>
                                    </p:animEffect>
                                    <p:anim calcmode="lin" valueType="num">
                                      <p:cBhvr additive="base">
                                        <p:cTn id="124" dur="500" decel="100000" fill="hold"/>
                                        <p:tgtEl>
                                          <p:spTgt spid="130"/>
                                        </p:tgtEl>
                                        <p:attrNameLst>
                                          <p:attrName>ppt_y</p:attrName>
                                        </p:attrNameLst>
                                      </p:cBhvr>
                                      <p:tavLst>
                                        <p:tav tm="0">
                                          <p:val>
                                            <p:strVal val="#ppt_y+0.06"/>
                                          </p:val>
                                        </p:tav>
                                        <p:tav tm="100000">
                                          <p:val>
                                            <p:strVal val="#ppt_y"/>
                                          </p:val>
                                        </p:tav>
                                      </p:tavLst>
                                    </p:anim>
                                  </p:childTnLst>
                                </p:cTn>
                              </p:par>
                              <p:par>
                                <p:cTn id="125" presetID="42" presetClass="entr" presetSubtype="0" fill="hold" grpId="0" nodeType="withEffect">
                                  <p:stCondLst>
                                    <p:cond delay="0"/>
                                  </p:stCondLst>
                                  <p:childTnLst>
                                    <p:set>
                                      <p:cBhvr>
                                        <p:cTn id="126" dur="1" fill="hold">
                                          <p:stCondLst>
                                            <p:cond delay="0"/>
                                          </p:stCondLst>
                                        </p:cTn>
                                        <p:tgtEl>
                                          <p:spTgt spid="131"/>
                                        </p:tgtEl>
                                        <p:attrNameLst>
                                          <p:attrName>style.visibility</p:attrName>
                                        </p:attrNameLst>
                                      </p:cBhvr>
                                      <p:to>
                                        <p:strVal val="visible"/>
                                      </p:to>
                                    </p:set>
                                    <p:animEffect transition="in" filter="fade">
                                      <p:cBhvr>
                                        <p:cTn id="127" dur="500"/>
                                        <p:tgtEl>
                                          <p:spTgt spid="131"/>
                                        </p:tgtEl>
                                      </p:cBhvr>
                                    </p:animEffect>
                                    <p:anim calcmode="lin" valueType="num">
                                      <p:cBhvr additive="base">
                                        <p:cTn id="128" dur="500" decel="100000" fill="hold"/>
                                        <p:tgtEl>
                                          <p:spTgt spid="131"/>
                                        </p:tgtEl>
                                        <p:attrNameLst>
                                          <p:attrName>ppt_y</p:attrName>
                                        </p:attrNameLst>
                                      </p:cBhvr>
                                      <p:tavLst>
                                        <p:tav tm="0">
                                          <p:val>
                                            <p:strVal val="#ppt_y+0.06"/>
                                          </p:val>
                                        </p:tav>
                                        <p:tav tm="100000">
                                          <p:val>
                                            <p:strVal val="#ppt_y"/>
                                          </p:val>
                                        </p:tav>
                                      </p:tavLst>
                                    </p:anim>
                                  </p:childTnLst>
                                </p:cTn>
                              </p:par>
                              <p:par>
                                <p:cTn id="129" presetID="42" presetClass="entr" presetSubtype="0" fill="hold" grpId="0" nodeType="withEffect">
                                  <p:stCondLst>
                                    <p:cond delay="0"/>
                                  </p:stCondLst>
                                  <p:childTnLst>
                                    <p:set>
                                      <p:cBhvr>
                                        <p:cTn id="130" dur="1" fill="hold">
                                          <p:stCondLst>
                                            <p:cond delay="0"/>
                                          </p:stCondLst>
                                        </p:cTn>
                                        <p:tgtEl>
                                          <p:spTgt spid="132"/>
                                        </p:tgtEl>
                                        <p:attrNameLst>
                                          <p:attrName>style.visibility</p:attrName>
                                        </p:attrNameLst>
                                      </p:cBhvr>
                                      <p:to>
                                        <p:strVal val="visible"/>
                                      </p:to>
                                    </p:set>
                                    <p:animEffect transition="in" filter="fade">
                                      <p:cBhvr>
                                        <p:cTn id="131" dur="500"/>
                                        <p:tgtEl>
                                          <p:spTgt spid="132"/>
                                        </p:tgtEl>
                                      </p:cBhvr>
                                    </p:animEffect>
                                    <p:anim calcmode="lin" valueType="num">
                                      <p:cBhvr additive="base">
                                        <p:cTn id="132" dur="500" decel="100000" fill="hold"/>
                                        <p:tgtEl>
                                          <p:spTgt spid="132"/>
                                        </p:tgtEl>
                                        <p:attrNameLst>
                                          <p:attrName>ppt_y</p:attrName>
                                        </p:attrNameLst>
                                      </p:cBhvr>
                                      <p:tavLst>
                                        <p:tav tm="0">
                                          <p:val>
                                            <p:strVal val="#ppt_y+0.06"/>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42" presetClass="entr" presetSubtype="0" fill="hold" grpId="0" nodeType="clickEffect">
                                  <p:stCondLst>
                                    <p:cond delay="0"/>
                                  </p:stCondLst>
                                  <p:childTnLst>
                                    <p:set>
                                      <p:cBhvr>
                                        <p:cTn id="136" dur="1" fill="hold">
                                          <p:stCondLst>
                                            <p:cond delay="0"/>
                                          </p:stCondLst>
                                        </p:cTn>
                                        <p:tgtEl>
                                          <p:spTgt spid="134"/>
                                        </p:tgtEl>
                                        <p:attrNameLst>
                                          <p:attrName>style.visibility</p:attrName>
                                        </p:attrNameLst>
                                      </p:cBhvr>
                                      <p:to>
                                        <p:strVal val="visible"/>
                                      </p:to>
                                    </p:set>
                                    <p:animEffect transition="in" filter="fade">
                                      <p:cBhvr>
                                        <p:cTn id="137" dur="500"/>
                                        <p:tgtEl>
                                          <p:spTgt spid="134"/>
                                        </p:tgtEl>
                                      </p:cBhvr>
                                    </p:animEffect>
                                    <p:anim calcmode="lin" valueType="num">
                                      <p:cBhvr additive="base">
                                        <p:cTn id="138" dur="500" decel="100000" fill="hold"/>
                                        <p:tgtEl>
                                          <p:spTgt spid="134"/>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8" grpId="0" animBg="1"/>
      <p:bldP spid="119" grpId="0" animBg="1"/>
      <p:bldP spid="120" grpId="0" animBg="1"/>
      <p:bldP spid="121" grpId="0" animBg="1"/>
      <p:bldP spid="122"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470355"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THE MOCKS DEBATE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Debate: Do Mocks Mean Dirty Architecture?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 real online argument, summarized. Both sides have a point.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165</a:t>
            </a:r>
            <a:endParaRPr lang="en-US" sz="850" dirty="0"/>
          </a:p>
        </p:txBody>
      </p:sp>
      <p:sp>
        <p:nvSpPr>
          <p:cNvPr id="101" name="s101"/>
          <p:cNvSpPr/>
          <p:nvPr/>
        </p:nvSpPr>
        <p:spPr>
          <a:xfrm>
            <a:off x="543154" y="1810512"/>
            <a:ext cx="457200" cy="420624"/>
          </a:xfrm>
          <a:prstGeom prst="ellipse">
            <a:avLst/>
          </a:prstGeom>
          <a:solidFill>
            <a:srgbClr val="F87171">
              <a:alpha val="20000"/>
            </a:srgbClr>
          </a:solidFill>
          <a:ln w="127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400" b="1" dirty="0">
                <a:solidFill>
                  <a:srgbClr val="F87171"/>
                </a:solidFill>
                <a:latin typeface="Segoe UI"/>
                <a:ea typeface="Segoe UI"/>
                <a:cs typeface="Segoe UI"/>
              </a:rPr>
              <a:t>A</a:t>
            </a:r>
            <a:endParaRPr lang="en-US" sz="1400" dirty="0"/>
          </a:p>
        </p:txBody>
      </p:sp>
      <p:sp>
        <p:nvSpPr>
          <p:cNvPr id="102" name="s102"/>
          <p:cNvSpPr/>
          <p:nvPr/>
        </p:nvSpPr>
        <p:spPr>
          <a:xfrm>
            <a:off x="1137514" y="1810512"/>
            <a:ext cx="5669280" cy="420624"/>
          </a:xfrm>
          <a:prstGeom prst="roundRect">
            <a:avLst>
              <a:gd name="adj" fmla="val 20000"/>
            </a:avLst>
          </a:prstGeom>
          <a:solidFill>
            <a:srgbClr val="111B2E"/>
          </a:solidFill>
          <a:ln w="12700">
            <a:solidFill>
              <a:srgbClr val="F87171"/>
            </a:solidFill>
            <a:prstDash val="solid"/>
          </a:ln>
        </p:spPr>
        <p:txBody>
          <a:bodyPr wrap="square" lIns="164592" tIns="0" rIns="91440" bIns="0" rtlCol="0" anchor="ctr">
            <a:noAutofit/>
          </a:bodyPr>
          <a:lstStyle/>
          <a:p>
            <a:pPr marL="0" indent="0" algn="l">
              <a:spcBef>
                <a:spcPts val="0"/>
              </a:spcBef>
              <a:spcAft>
                <a:spcPts val="0"/>
              </a:spcAft>
              <a:buNone/>
            </a:pPr>
            <a:r>
              <a:rPr lang="en-US" sz="1150" b="0" i="1" dirty="0">
                <a:solidFill>
                  <a:srgbClr val="FFFFFF"/>
                </a:solidFill>
                <a:latin typeface="Segoe UI"/>
                <a:ea typeface="Segoe UI"/>
                <a:cs typeface="Segoe UI"/>
              </a:rPr>
              <a:t>"Relying on mocks and fakes is a sure sign of dirty architecture."</a:t>
            </a:r>
            <a:endParaRPr lang="en-US" sz="1150" dirty="0"/>
          </a:p>
        </p:txBody>
      </p:sp>
      <p:sp>
        <p:nvSpPr>
          <p:cNvPr id="103" name="s103"/>
          <p:cNvSpPr/>
          <p:nvPr/>
        </p:nvSpPr>
        <p:spPr>
          <a:xfrm>
            <a:off x="543154" y="2322576"/>
            <a:ext cx="457200" cy="420624"/>
          </a:xfrm>
          <a:prstGeom prst="ellipse">
            <a:avLst/>
          </a:prstGeom>
          <a:solidFill>
            <a:srgbClr val="13D0F7">
              <a:alpha val="20000"/>
            </a:srgbClr>
          </a:solidFill>
          <a:ln w="127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400" b="1" dirty="0">
                <a:solidFill>
                  <a:srgbClr val="13D0F7"/>
                </a:solidFill>
                <a:latin typeface="Segoe UI"/>
                <a:ea typeface="Segoe UI"/>
                <a:cs typeface="Segoe UI"/>
              </a:rPr>
              <a:t>B</a:t>
            </a:r>
            <a:endParaRPr lang="en-US" sz="1400" dirty="0"/>
          </a:p>
        </p:txBody>
      </p:sp>
      <p:sp>
        <p:nvSpPr>
          <p:cNvPr id="104" name="s104"/>
          <p:cNvSpPr/>
          <p:nvPr/>
        </p:nvSpPr>
        <p:spPr>
          <a:xfrm>
            <a:off x="1137514" y="2322576"/>
            <a:ext cx="5669280" cy="420624"/>
          </a:xfrm>
          <a:prstGeom prst="roundRect">
            <a:avLst>
              <a:gd name="adj" fmla="val 20000"/>
            </a:avLst>
          </a:prstGeom>
          <a:solidFill>
            <a:srgbClr val="111B2E"/>
          </a:solidFill>
          <a:ln w="12700">
            <a:solidFill>
              <a:srgbClr val="13D0F7"/>
            </a:solidFill>
            <a:prstDash val="solid"/>
          </a:ln>
        </p:spPr>
        <p:txBody>
          <a:bodyPr wrap="square" lIns="164592" tIns="0" rIns="91440" bIns="0" rtlCol="0" anchor="ctr">
            <a:noAutofit/>
          </a:bodyPr>
          <a:lstStyle/>
          <a:p>
            <a:pPr marL="0" indent="0" algn="l">
              <a:spcBef>
                <a:spcPts val="0"/>
              </a:spcBef>
              <a:spcAft>
                <a:spcPts val="0"/>
              </a:spcAft>
              <a:buNone/>
            </a:pPr>
            <a:r>
              <a:rPr lang="en-US" sz="1150" b="0" i="1" dirty="0">
                <a:solidFill>
                  <a:srgbClr val="FFFFFF"/>
                </a:solidFill>
                <a:latin typeface="Segoe UI"/>
                <a:ea typeface="Segoe UI"/>
                <a:cs typeface="Segoe UI"/>
              </a:rPr>
              <a:t>"Then how do you unit test a class with dependencies, without the real ones?"</a:t>
            </a:r>
            <a:endParaRPr lang="en-US" sz="1150" dirty="0"/>
          </a:p>
        </p:txBody>
      </p:sp>
      <p:sp>
        <p:nvSpPr>
          <p:cNvPr id="105" name="s105"/>
          <p:cNvSpPr/>
          <p:nvPr/>
        </p:nvSpPr>
        <p:spPr>
          <a:xfrm>
            <a:off x="543154" y="2834640"/>
            <a:ext cx="457200" cy="420624"/>
          </a:xfrm>
          <a:prstGeom prst="ellipse">
            <a:avLst/>
          </a:prstGeom>
          <a:solidFill>
            <a:srgbClr val="F87171">
              <a:alpha val="20000"/>
            </a:srgbClr>
          </a:solidFill>
          <a:ln w="127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400" b="1" dirty="0">
                <a:solidFill>
                  <a:srgbClr val="F87171"/>
                </a:solidFill>
                <a:latin typeface="Segoe UI"/>
                <a:ea typeface="Segoe UI"/>
                <a:cs typeface="Segoe UI"/>
              </a:rPr>
              <a:t>A</a:t>
            </a:r>
            <a:endParaRPr lang="en-US" sz="1400" dirty="0"/>
          </a:p>
        </p:txBody>
      </p:sp>
      <p:sp>
        <p:nvSpPr>
          <p:cNvPr id="106" name="s106"/>
          <p:cNvSpPr/>
          <p:nvPr/>
        </p:nvSpPr>
        <p:spPr>
          <a:xfrm>
            <a:off x="1137514" y="2834640"/>
            <a:ext cx="5669280" cy="420624"/>
          </a:xfrm>
          <a:prstGeom prst="roundRect">
            <a:avLst>
              <a:gd name="adj" fmla="val 20000"/>
            </a:avLst>
          </a:prstGeom>
          <a:solidFill>
            <a:srgbClr val="111B2E"/>
          </a:solidFill>
          <a:ln w="12700">
            <a:solidFill>
              <a:srgbClr val="F87171"/>
            </a:solidFill>
            <a:prstDash val="solid"/>
          </a:ln>
        </p:spPr>
        <p:txBody>
          <a:bodyPr wrap="square" lIns="164592" tIns="0" rIns="91440" bIns="0" rtlCol="0" anchor="ctr">
            <a:noAutofit/>
          </a:bodyPr>
          <a:lstStyle/>
          <a:p>
            <a:pPr marL="0" indent="0" algn="l">
              <a:spcBef>
                <a:spcPts val="0"/>
              </a:spcBef>
              <a:spcAft>
                <a:spcPts val="0"/>
              </a:spcAft>
              <a:buNone/>
            </a:pPr>
            <a:r>
              <a:rPr lang="en-US" sz="1150" b="0" i="1" dirty="0">
                <a:solidFill>
                  <a:srgbClr val="FFFFFF"/>
                </a:solidFill>
                <a:latin typeface="Segoe UI"/>
                <a:ea typeface="Segoe UI"/>
                <a:cs typeface="Segoe UI"/>
              </a:rPr>
              <a:t>"Keep the business logic in a PURE domain model: no DB, no HTTP, no logger."</a:t>
            </a:r>
            <a:endParaRPr lang="en-US" sz="1150" dirty="0"/>
          </a:p>
        </p:txBody>
      </p:sp>
      <p:sp>
        <p:nvSpPr>
          <p:cNvPr id="107" name="s107"/>
          <p:cNvSpPr/>
          <p:nvPr/>
        </p:nvSpPr>
        <p:spPr>
          <a:xfrm>
            <a:off x="543154" y="3346704"/>
            <a:ext cx="457200" cy="420624"/>
          </a:xfrm>
          <a:prstGeom prst="ellipse">
            <a:avLst/>
          </a:prstGeom>
          <a:solidFill>
            <a:srgbClr val="13D0F7">
              <a:alpha val="20000"/>
            </a:srgbClr>
          </a:solidFill>
          <a:ln w="127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400" b="1" dirty="0">
                <a:solidFill>
                  <a:srgbClr val="13D0F7"/>
                </a:solidFill>
                <a:latin typeface="Segoe UI"/>
                <a:ea typeface="Segoe UI"/>
                <a:cs typeface="Segoe UI"/>
              </a:rPr>
              <a:t>B</a:t>
            </a:r>
            <a:endParaRPr lang="en-US" sz="1400" dirty="0"/>
          </a:p>
        </p:txBody>
      </p:sp>
      <p:sp>
        <p:nvSpPr>
          <p:cNvPr id="108" name="s108"/>
          <p:cNvSpPr/>
          <p:nvPr/>
        </p:nvSpPr>
        <p:spPr>
          <a:xfrm>
            <a:off x="1137514" y="3346704"/>
            <a:ext cx="5669280" cy="420624"/>
          </a:xfrm>
          <a:prstGeom prst="roundRect">
            <a:avLst>
              <a:gd name="adj" fmla="val 20000"/>
            </a:avLst>
          </a:prstGeom>
          <a:solidFill>
            <a:srgbClr val="111B2E"/>
          </a:solidFill>
          <a:ln w="12700">
            <a:solidFill>
              <a:srgbClr val="13D0F7"/>
            </a:solidFill>
            <a:prstDash val="solid"/>
          </a:ln>
        </p:spPr>
        <p:txBody>
          <a:bodyPr wrap="square" lIns="164592" tIns="0" rIns="91440" bIns="0" rtlCol="0" anchor="ctr">
            <a:noAutofit/>
          </a:bodyPr>
          <a:lstStyle/>
          <a:p>
            <a:pPr marL="0" indent="0" algn="l">
              <a:spcBef>
                <a:spcPts val="0"/>
              </a:spcBef>
              <a:spcAft>
                <a:spcPts val="0"/>
              </a:spcAft>
              <a:buNone/>
            </a:pPr>
            <a:r>
              <a:rPr lang="en-US" sz="1150" b="0" i="1" dirty="0">
                <a:solidFill>
                  <a:srgbClr val="FFFFFF"/>
                </a:solidFill>
                <a:latin typeface="Segoe UI"/>
                <a:ea typeface="Segoe UI"/>
                <a:cs typeface="Segoe UI"/>
              </a:rPr>
              <a:t>"OK. But my orchestration service still needs a logger."</a:t>
            </a:r>
            <a:endParaRPr lang="en-US" sz="1150" dirty="0"/>
          </a:p>
        </p:txBody>
      </p:sp>
      <p:sp>
        <p:nvSpPr>
          <p:cNvPr id="109" name="s109"/>
          <p:cNvSpPr/>
          <p:nvPr/>
        </p:nvSpPr>
        <p:spPr>
          <a:xfrm>
            <a:off x="543154" y="3858768"/>
            <a:ext cx="457200" cy="420624"/>
          </a:xfrm>
          <a:prstGeom prst="ellipse">
            <a:avLst/>
          </a:prstGeom>
          <a:solidFill>
            <a:srgbClr val="F87171">
              <a:alpha val="20000"/>
            </a:srgbClr>
          </a:solidFill>
          <a:ln w="127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400" b="1" dirty="0">
                <a:solidFill>
                  <a:srgbClr val="F87171"/>
                </a:solidFill>
                <a:latin typeface="Segoe UI"/>
                <a:ea typeface="Segoe UI"/>
                <a:cs typeface="Segoe UI"/>
              </a:rPr>
              <a:t>A</a:t>
            </a:r>
            <a:endParaRPr lang="en-US" sz="1400" dirty="0"/>
          </a:p>
        </p:txBody>
      </p:sp>
      <p:sp>
        <p:nvSpPr>
          <p:cNvPr id="110" name="s110"/>
          <p:cNvSpPr/>
          <p:nvPr/>
        </p:nvSpPr>
        <p:spPr>
          <a:xfrm>
            <a:off x="1137514" y="3858768"/>
            <a:ext cx="5669280" cy="420624"/>
          </a:xfrm>
          <a:prstGeom prst="roundRect">
            <a:avLst>
              <a:gd name="adj" fmla="val 20000"/>
            </a:avLst>
          </a:prstGeom>
          <a:solidFill>
            <a:srgbClr val="111B2E"/>
          </a:solidFill>
          <a:ln w="12700">
            <a:solidFill>
              <a:srgbClr val="F87171"/>
            </a:solidFill>
            <a:prstDash val="solid"/>
          </a:ln>
        </p:spPr>
        <p:txBody>
          <a:bodyPr wrap="square" lIns="164592" tIns="0" rIns="91440" bIns="0" rtlCol="0" anchor="ctr">
            <a:noAutofit/>
          </a:bodyPr>
          <a:lstStyle/>
          <a:p>
            <a:pPr marL="0" indent="0" algn="l">
              <a:spcBef>
                <a:spcPts val="0"/>
              </a:spcBef>
              <a:spcAft>
                <a:spcPts val="0"/>
              </a:spcAft>
              <a:buNone/>
            </a:pPr>
            <a:r>
              <a:rPr lang="en-US" sz="1150" b="0" i="1" dirty="0">
                <a:solidFill>
                  <a:srgbClr val="FFFFFF"/>
                </a:solidFill>
                <a:latin typeface="Segoe UI"/>
                <a:ea typeface="Segoe UI"/>
                <a:cs typeface="Segoe UI"/>
              </a:rPr>
              <a:t>"Inject a FUNCTION (Action&lt;string&gt;) instead of an ILogger."</a:t>
            </a:r>
            <a:endParaRPr lang="en-US" sz="1150" dirty="0"/>
          </a:p>
        </p:txBody>
      </p:sp>
      <p:sp>
        <p:nvSpPr>
          <p:cNvPr id="111" name="s111"/>
          <p:cNvSpPr txBox="1"/>
          <p:nvPr/>
        </p:nvSpPr>
        <p:spPr>
          <a:xfrm>
            <a:off x="7035394" y="1810512"/>
            <a:ext cx="459577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THE VERDICT</a:t>
            </a:r>
            <a:endParaRPr lang="en-US" sz="1100" dirty="0"/>
          </a:p>
        </p:txBody>
      </p:sp>
      <p:sp>
        <p:nvSpPr>
          <p:cNvPr id="112" name="s112"/>
          <p:cNvSpPr/>
          <p:nvPr/>
        </p:nvSpPr>
        <p:spPr>
          <a:xfrm>
            <a:off x="7035394" y="2139696"/>
            <a:ext cx="4595774" cy="384048"/>
          </a:xfrm>
          <a:prstGeom prst="roundRect">
            <a:avLst>
              <a:gd name="adj" fmla="val 20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13" name="s113"/>
          <p:cNvSpPr txBox="1"/>
          <p:nvPr/>
        </p:nvSpPr>
        <p:spPr>
          <a:xfrm>
            <a:off x="7172554" y="2139696"/>
            <a:ext cx="3132734"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separate business logic from infrastructure</a:t>
            </a:r>
            <a:endParaRPr lang="en-US" sz="1150" dirty="0"/>
          </a:p>
        </p:txBody>
      </p:sp>
      <p:sp>
        <p:nvSpPr>
          <p:cNvPr id="114" name="s114"/>
          <p:cNvSpPr txBox="1"/>
          <p:nvPr/>
        </p:nvSpPr>
        <p:spPr>
          <a:xfrm>
            <a:off x="10259568" y="2139696"/>
            <a:ext cx="1280160" cy="384048"/>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1200" b="1" dirty="0">
                <a:solidFill>
                  <a:srgbClr val="34D399"/>
                </a:solidFill>
                <a:latin typeface="Segoe UI"/>
                <a:ea typeface="Segoe UI"/>
                <a:cs typeface="Segoe UI"/>
              </a:rPr>
              <a:t>excellent</a:t>
            </a:r>
            <a:endParaRPr lang="en-US" sz="1200" dirty="0"/>
          </a:p>
        </p:txBody>
      </p:sp>
      <p:sp>
        <p:nvSpPr>
          <p:cNvPr id="115" name="s115"/>
          <p:cNvSpPr/>
          <p:nvPr/>
        </p:nvSpPr>
        <p:spPr>
          <a:xfrm>
            <a:off x="7035394" y="2596896"/>
            <a:ext cx="4595774" cy="384048"/>
          </a:xfrm>
          <a:prstGeom prst="roundRect">
            <a:avLst>
              <a:gd name="adj" fmla="val 20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16" name="s116"/>
          <p:cNvSpPr txBox="1"/>
          <p:nvPr/>
        </p:nvSpPr>
        <p:spPr>
          <a:xfrm>
            <a:off x="7172554" y="2596896"/>
            <a:ext cx="3132734"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use fewer mocks</a:t>
            </a:r>
            <a:endParaRPr lang="en-US" sz="1150" dirty="0"/>
          </a:p>
        </p:txBody>
      </p:sp>
      <p:sp>
        <p:nvSpPr>
          <p:cNvPr id="117" name="s117"/>
          <p:cNvSpPr txBox="1"/>
          <p:nvPr/>
        </p:nvSpPr>
        <p:spPr>
          <a:xfrm>
            <a:off x="10259568" y="2596896"/>
            <a:ext cx="1280160" cy="384048"/>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1200" b="1" dirty="0">
                <a:solidFill>
                  <a:srgbClr val="34D399"/>
                </a:solidFill>
                <a:latin typeface="Segoe UI"/>
                <a:ea typeface="Segoe UI"/>
                <a:cs typeface="Segoe UI"/>
              </a:rPr>
              <a:t>useful</a:t>
            </a:r>
            <a:endParaRPr lang="en-US" sz="1200" dirty="0"/>
          </a:p>
        </p:txBody>
      </p:sp>
      <p:sp>
        <p:nvSpPr>
          <p:cNvPr id="118" name="s118"/>
          <p:cNvSpPr/>
          <p:nvPr/>
        </p:nvSpPr>
        <p:spPr>
          <a:xfrm>
            <a:off x="7035394" y="3054096"/>
            <a:ext cx="4595774" cy="384048"/>
          </a:xfrm>
          <a:prstGeom prst="roundRect">
            <a:avLst>
              <a:gd name="adj" fmla="val 20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19" name="s119"/>
          <p:cNvSpPr txBox="1"/>
          <p:nvPr/>
        </p:nvSpPr>
        <p:spPr>
          <a:xfrm>
            <a:off x="7172554" y="3054096"/>
            <a:ext cx="3132734"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pure domain models are easy to test</a:t>
            </a:r>
            <a:endParaRPr lang="en-US" sz="1150" dirty="0"/>
          </a:p>
        </p:txBody>
      </p:sp>
      <p:sp>
        <p:nvSpPr>
          <p:cNvPr id="120" name="s120"/>
          <p:cNvSpPr txBox="1"/>
          <p:nvPr/>
        </p:nvSpPr>
        <p:spPr>
          <a:xfrm>
            <a:off x="10259568" y="3054096"/>
            <a:ext cx="1280160" cy="384048"/>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1200" b="1" dirty="0">
                <a:solidFill>
                  <a:srgbClr val="34D399"/>
                </a:solidFill>
                <a:latin typeface="Segoe UI"/>
                <a:ea typeface="Segoe UI"/>
                <a:cs typeface="Segoe UI"/>
              </a:rPr>
              <a:t>true</a:t>
            </a:r>
            <a:endParaRPr lang="en-US" sz="1200" dirty="0"/>
          </a:p>
        </p:txBody>
      </p:sp>
      <p:sp>
        <p:nvSpPr>
          <p:cNvPr id="121" name="s121"/>
          <p:cNvSpPr/>
          <p:nvPr/>
        </p:nvSpPr>
        <p:spPr>
          <a:xfrm>
            <a:off x="7035394" y="3511296"/>
            <a:ext cx="4595774" cy="384048"/>
          </a:xfrm>
          <a:prstGeom prst="roundRect">
            <a:avLst>
              <a:gd name="adj" fmla="val 20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txBox="1"/>
          <p:nvPr/>
        </p:nvSpPr>
        <p:spPr>
          <a:xfrm>
            <a:off x="7172554" y="3511296"/>
            <a:ext cx="3132734"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a mock = proof of dirty architecture</a:t>
            </a:r>
            <a:endParaRPr lang="en-US" sz="1150" dirty="0"/>
          </a:p>
        </p:txBody>
      </p:sp>
      <p:sp>
        <p:nvSpPr>
          <p:cNvPr id="123" name="s123"/>
          <p:cNvSpPr txBox="1"/>
          <p:nvPr/>
        </p:nvSpPr>
        <p:spPr>
          <a:xfrm>
            <a:off x="10259568" y="3511296"/>
            <a:ext cx="1280160" cy="384048"/>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1200" b="1" dirty="0">
                <a:solidFill>
                  <a:srgbClr val="F87171"/>
                </a:solidFill>
                <a:latin typeface="Segoe UI"/>
                <a:ea typeface="Segoe UI"/>
                <a:cs typeface="Segoe UI"/>
              </a:rPr>
              <a:t>not true</a:t>
            </a:r>
            <a:endParaRPr lang="en-US" sz="1200" dirty="0"/>
          </a:p>
        </p:txBody>
      </p:sp>
      <p:sp>
        <p:nvSpPr>
          <p:cNvPr id="124" name="s124"/>
          <p:cNvSpPr/>
          <p:nvPr/>
        </p:nvSpPr>
        <p:spPr>
          <a:xfrm>
            <a:off x="7035394" y="3968496"/>
            <a:ext cx="4595774" cy="384048"/>
          </a:xfrm>
          <a:prstGeom prst="roundRect">
            <a:avLst>
              <a:gd name="adj" fmla="val 20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5" name="s125"/>
          <p:cNvSpPr txBox="1"/>
          <p:nvPr/>
        </p:nvSpPr>
        <p:spPr>
          <a:xfrm>
            <a:off x="7172554" y="3968496"/>
            <a:ext cx="3132734"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you can avoid ALL test doubles</a:t>
            </a:r>
            <a:endParaRPr lang="en-US" sz="1150" dirty="0"/>
          </a:p>
        </p:txBody>
      </p:sp>
      <p:sp>
        <p:nvSpPr>
          <p:cNvPr id="126" name="s126"/>
          <p:cNvSpPr txBox="1"/>
          <p:nvPr/>
        </p:nvSpPr>
        <p:spPr>
          <a:xfrm>
            <a:off x="10259568" y="3968496"/>
            <a:ext cx="1280160" cy="384048"/>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1200" b="1" dirty="0">
                <a:solidFill>
                  <a:srgbClr val="F87171"/>
                </a:solidFill>
                <a:latin typeface="Segoe UI"/>
                <a:ea typeface="Segoe UI"/>
                <a:cs typeface="Segoe UI"/>
              </a:rPr>
              <a:t>not practical</a:t>
            </a:r>
            <a:endParaRPr lang="en-US" sz="1200" dirty="0"/>
          </a:p>
        </p:txBody>
      </p:sp>
      <p:sp>
        <p:nvSpPr>
          <p:cNvPr id="127" name="s127"/>
          <p:cNvSpPr/>
          <p:nvPr/>
        </p:nvSpPr>
        <p:spPr>
          <a:xfrm>
            <a:off x="543154" y="4507992"/>
            <a:ext cx="11088014" cy="777240"/>
          </a:xfrm>
          <a:prstGeom prst="roundRect">
            <a:avLst>
              <a:gd name="adj" fmla="val 12000"/>
            </a:avLst>
          </a:prstGeom>
          <a:solidFill>
            <a:srgbClr val="123A33"/>
          </a:solidFill>
          <a:ln w="25400">
            <a:solidFill>
              <a:srgbClr val="34D399"/>
            </a:solidFill>
            <a:prstDash val="solid"/>
          </a:ln>
        </p:spPr>
        <p:txBody>
          <a:bodyPr wrap="square" lIns="164592" tIns="109728" rIns="137160" bIns="91440" rtlCol="0" anchor="ctr">
            <a:noAutofit/>
          </a:bodyPr>
          <a:lstStyle/>
          <a:p>
            <a:pPr marL="0" indent="0" algn="ctr">
              <a:spcBef>
                <a:spcPts val="0"/>
              </a:spcBef>
              <a:spcAft>
                <a:spcPts val="0"/>
              </a:spcAft>
              <a:buNone/>
            </a:pPr>
            <a:r>
              <a:rPr lang="en-US" sz="1600" b="0" dirty="0">
                <a:solidFill>
                  <a:srgbClr val="E2E8F0"/>
                </a:solidFill>
                <a:latin typeface="Segoe UI"/>
                <a:ea typeface="Segoe UI"/>
                <a:cs typeface="Segoe UI"/>
              </a:rPr>
              <a:t>Good architecture </a:t>
            </a:r>
            <a:r>
              <a:rPr lang="en-US" sz="1600" b="1" dirty="0">
                <a:solidFill>
                  <a:srgbClr val="34D399"/>
                </a:solidFill>
                <a:latin typeface="Segoe UI"/>
                <a:ea typeface="Segoe UI"/>
                <a:cs typeface="Segoe UI"/>
              </a:rPr>
              <a:t>reduces</a:t>
            </a:r>
            <a:r>
              <a:rPr lang="en-US" sz="1600" b="0" dirty="0">
                <a:solidFill>
                  <a:srgbClr val="E2E8F0"/>
                </a:solidFill>
                <a:latin typeface="Segoe UI"/>
                <a:ea typeface="Segoe UI"/>
                <a:cs typeface="Segoe UI"/>
              </a:rPr>
              <a:t> the need for mocks.   Using mocks does </a:t>
            </a:r>
            <a:r>
              <a:rPr lang="en-US" sz="1600" b="1" dirty="0">
                <a:solidFill>
                  <a:srgbClr val="F87171"/>
                </a:solidFill>
                <a:latin typeface="Segoe UI"/>
                <a:ea typeface="Segoe UI"/>
                <a:cs typeface="Segoe UI"/>
              </a:rPr>
              <a:t>NOT</a:t>
            </a:r>
            <a:r>
              <a:rPr lang="en-US" sz="1600" b="0" dirty="0">
                <a:solidFill>
                  <a:srgbClr val="E2E8F0"/>
                </a:solidFill>
                <a:latin typeface="Segoe UI"/>
                <a:ea typeface="Segoe UI"/>
                <a:cs typeface="Segoe UI"/>
              </a:rPr>
              <a:t> mean bad architecture.</a:t>
            </a:r>
            <a:endParaRPr lang="en-US" sz="1600" dirty="0"/>
          </a:p>
        </p:txBody>
      </p:sp>
      <p:sp>
        <p:nvSpPr>
          <p:cNvPr id="128" name="s128"/>
          <p:cNvSpPr/>
          <p:nvPr/>
        </p:nvSpPr>
        <p:spPr>
          <a:xfrm>
            <a:off x="543154" y="5422392"/>
            <a:ext cx="11088014" cy="777240"/>
          </a:xfrm>
          <a:prstGeom prst="roundRect">
            <a:avLst>
              <a:gd name="adj" fmla="val 12000"/>
            </a:avLst>
          </a:prstGeom>
          <a:solidFill>
            <a:srgbClr val="111B2E"/>
          </a:solidFill>
          <a:ln w="12700">
            <a:solidFill>
              <a:srgbClr val="FBBF24"/>
            </a:solidFill>
            <a:prstDash val="solid"/>
          </a:ln>
        </p:spPr>
        <p:txBody>
          <a:bodyPr wrap="square" lIns="164592" tIns="109728" rIns="137160" bIns="91440" rtlCol="0" anchor="ctr">
            <a:noAutofit/>
          </a:bodyPr>
          <a:lstStyle/>
          <a:p>
            <a:pPr marL="0" indent="0" algn="ctr">
              <a:spcBef>
                <a:spcPts val="0"/>
              </a:spcBef>
              <a:spcAft>
                <a:spcPts val="0"/>
              </a:spcAft>
              <a:buNone/>
            </a:pPr>
            <a:r>
              <a:rPr lang="en-US" sz="1400" b="1" dirty="0">
                <a:solidFill>
                  <a:srgbClr val="FBBF24"/>
                </a:solidFill>
                <a:latin typeface="Segoe UI"/>
                <a:ea typeface="Segoe UI"/>
                <a:cs typeface="Segoe UI"/>
              </a:rPr>
              <a:t>WARNING SIGN  </a:t>
            </a:r>
            <a:r>
              <a:rPr lang="en-US" sz="1400" b="0" dirty="0">
                <a:solidFill>
                  <a:srgbClr val="E2E8F0"/>
                </a:solidFill>
                <a:latin typeface="Segoe UI"/>
                <a:ea typeface="Segoe UI"/>
                <a:cs typeface="Segoe UI"/>
              </a:rPr>
              <a:t>every test needs 10 mocks in its setup?  Review the design.  It is a smell, not a proof.</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anim calcmode="lin" valueType="num">
                                      <p:cBhvr additive="base">
                                        <p:cTn id="18" dur="500" decel="100000" fill="hold"/>
                                        <p:tgtEl>
                                          <p:spTgt spid="103"/>
                                        </p:tgtEl>
                                        <p:attrNameLst>
                                          <p:attrName>ppt_x</p:attrName>
                                        </p:attrNameLst>
                                      </p:cBhvr>
                                      <p:tavLst>
                                        <p:tav tm="0">
                                          <p:val>
                                            <p:strVal val="#ppt_x-0.05"/>
                                          </p:val>
                                        </p:tav>
                                        <p:tav tm="100000">
                                          <p:val>
                                            <p:strVal val="#ppt_x"/>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04"/>
                                        </p:tgtEl>
                                        <p:attrNameLst>
                                          <p:attrName>style.visibility</p:attrName>
                                        </p:attrNameLst>
                                      </p:cBhvr>
                                      <p:to>
                                        <p:strVal val="visible"/>
                                      </p:to>
                                    </p:set>
                                    <p:animEffect transition="in" filter="fade">
                                      <p:cBhvr>
                                        <p:cTn id="21" dur="500"/>
                                        <p:tgtEl>
                                          <p:spTgt spid="104"/>
                                        </p:tgtEl>
                                      </p:cBhvr>
                                    </p:animEffect>
                                    <p:anim calcmode="lin" valueType="num">
                                      <p:cBhvr additive="base">
                                        <p:cTn id="22" dur="500" decel="100000" fill="hold"/>
                                        <p:tgtEl>
                                          <p:spTgt spid="104"/>
                                        </p:tgtEl>
                                        <p:attrNameLst>
                                          <p:attrName>ppt_x</p:attrName>
                                        </p:attrNameLst>
                                      </p:cBhvr>
                                      <p:tavLst>
                                        <p:tav tm="0">
                                          <p:val>
                                            <p:strVal val="#ppt_x-0.05"/>
                                          </p:val>
                                        </p:tav>
                                        <p:tav tm="100000">
                                          <p:val>
                                            <p:strVal val="#ppt_x"/>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anim calcmode="lin" valueType="num">
                                      <p:cBhvr additive="base">
                                        <p:cTn id="28" dur="500" decel="100000" fill="hold"/>
                                        <p:tgtEl>
                                          <p:spTgt spid="105"/>
                                        </p:tgtEl>
                                        <p:attrNameLst>
                                          <p:attrName>ppt_x</p:attrName>
                                        </p:attrNameLst>
                                      </p:cBhvr>
                                      <p:tavLst>
                                        <p:tav tm="0">
                                          <p:val>
                                            <p:strVal val="#ppt_x-0.05"/>
                                          </p:val>
                                        </p:tav>
                                        <p:tav tm="100000">
                                          <p:val>
                                            <p:strVal val="#ppt_x"/>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6"/>
                                        </p:tgtEl>
                                        <p:attrNameLst>
                                          <p:attrName>style.visibility</p:attrName>
                                        </p:attrNameLst>
                                      </p:cBhvr>
                                      <p:to>
                                        <p:strVal val="visible"/>
                                      </p:to>
                                    </p:set>
                                    <p:animEffect transition="in" filter="fade">
                                      <p:cBhvr>
                                        <p:cTn id="31" dur="500"/>
                                        <p:tgtEl>
                                          <p:spTgt spid="106"/>
                                        </p:tgtEl>
                                      </p:cBhvr>
                                    </p:animEffect>
                                    <p:anim calcmode="lin" valueType="num">
                                      <p:cBhvr additive="base">
                                        <p:cTn id="32" dur="500" decel="100000" fill="hold"/>
                                        <p:tgtEl>
                                          <p:spTgt spid="106"/>
                                        </p:tgtEl>
                                        <p:attrNameLst>
                                          <p:attrName>ppt_x</p:attrName>
                                        </p:attrNameLst>
                                      </p:cBhvr>
                                      <p:tavLst>
                                        <p:tav tm="0">
                                          <p:val>
                                            <p:strVal val="#ppt_x-0.05"/>
                                          </p:val>
                                        </p:tav>
                                        <p:tav tm="100000">
                                          <p:val>
                                            <p:strVal val="#ppt_x"/>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fade">
                                      <p:cBhvr>
                                        <p:cTn id="37" dur="500"/>
                                        <p:tgtEl>
                                          <p:spTgt spid="107"/>
                                        </p:tgtEl>
                                      </p:cBhvr>
                                    </p:animEffect>
                                    <p:anim calcmode="lin" valueType="num">
                                      <p:cBhvr additive="base">
                                        <p:cTn id="38" dur="500" decel="100000" fill="hold"/>
                                        <p:tgtEl>
                                          <p:spTgt spid="107"/>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08"/>
                                        </p:tgtEl>
                                        <p:attrNameLst>
                                          <p:attrName>style.visibility</p:attrName>
                                        </p:attrNameLst>
                                      </p:cBhvr>
                                      <p:to>
                                        <p:strVal val="visible"/>
                                      </p:to>
                                    </p:set>
                                    <p:animEffect transition="in" filter="fade">
                                      <p:cBhvr>
                                        <p:cTn id="41" dur="500"/>
                                        <p:tgtEl>
                                          <p:spTgt spid="108"/>
                                        </p:tgtEl>
                                      </p:cBhvr>
                                    </p:animEffect>
                                    <p:anim calcmode="lin" valueType="num">
                                      <p:cBhvr additive="base">
                                        <p:cTn id="42" dur="500" decel="100000" fill="hold"/>
                                        <p:tgtEl>
                                          <p:spTgt spid="108"/>
                                        </p:tgtEl>
                                        <p:attrNameLst>
                                          <p:attrName>ppt_x</p:attrName>
                                        </p:attrNameLst>
                                      </p:cBhvr>
                                      <p:tavLst>
                                        <p:tav tm="0">
                                          <p:val>
                                            <p:strVal val="#ppt_x-0.05"/>
                                          </p:val>
                                        </p:tav>
                                        <p:tav tm="100000">
                                          <p:val>
                                            <p:strVal val="#ppt_x"/>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109"/>
                                        </p:tgtEl>
                                        <p:attrNameLst>
                                          <p:attrName>style.visibility</p:attrName>
                                        </p:attrNameLst>
                                      </p:cBhvr>
                                      <p:to>
                                        <p:strVal val="visible"/>
                                      </p:to>
                                    </p:set>
                                    <p:animEffect transition="in" filter="fade">
                                      <p:cBhvr>
                                        <p:cTn id="47" dur="500"/>
                                        <p:tgtEl>
                                          <p:spTgt spid="109"/>
                                        </p:tgtEl>
                                      </p:cBhvr>
                                    </p:animEffect>
                                    <p:anim calcmode="lin" valueType="num">
                                      <p:cBhvr additive="base">
                                        <p:cTn id="48" dur="500" decel="100000" fill="hold"/>
                                        <p:tgtEl>
                                          <p:spTgt spid="109"/>
                                        </p:tgtEl>
                                        <p:attrNameLst>
                                          <p:attrName>ppt_x</p:attrName>
                                        </p:attrNameLst>
                                      </p:cBhvr>
                                      <p:tavLst>
                                        <p:tav tm="0">
                                          <p:val>
                                            <p:strVal val="#ppt_x-0.05"/>
                                          </p:val>
                                        </p:tav>
                                        <p:tav tm="100000">
                                          <p:val>
                                            <p:strVal val="#ppt_x"/>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0"/>
                                        </p:tgtEl>
                                        <p:attrNameLst>
                                          <p:attrName>style.visibility</p:attrName>
                                        </p:attrNameLst>
                                      </p:cBhvr>
                                      <p:to>
                                        <p:strVal val="visible"/>
                                      </p:to>
                                    </p:set>
                                    <p:animEffect transition="in" filter="fade">
                                      <p:cBhvr>
                                        <p:cTn id="51" dur="500"/>
                                        <p:tgtEl>
                                          <p:spTgt spid="110"/>
                                        </p:tgtEl>
                                      </p:cBhvr>
                                    </p:animEffect>
                                    <p:anim calcmode="lin" valueType="num">
                                      <p:cBhvr additive="base">
                                        <p:cTn id="52" dur="500" decel="100000" fill="hold"/>
                                        <p:tgtEl>
                                          <p:spTgt spid="110"/>
                                        </p:tgtEl>
                                        <p:attrNameLst>
                                          <p:attrName>ppt_x</p:attrName>
                                        </p:attrNameLst>
                                      </p:cBhvr>
                                      <p:tavLst>
                                        <p:tav tm="0">
                                          <p:val>
                                            <p:strVal val="#ppt_x-0.05"/>
                                          </p:val>
                                        </p:tav>
                                        <p:tav tm="100000">
                                          <p:val>
                                            <p:strVal val="#ppt_x"/>
                                          </p:val>
                                        </p:tav>
                                      </p:tavLst>
                                    </p:anim>
                                  </p:childTnLst>
                                </p:cTn>
                              </p:par>
                            </p:childTnLst>
                          </p:cTn>
                        </p:par>
                      </p:childTnLst>
                    </p:cTn>
                  </p:par>
                  <p:par>
                    <p:cTn id="53" fill="hold">
                      <p:stCondLst>
                        <p:cond delay="indefinite"/>
                      </p:stCondLst>
                      <p:childTnLst>
                        <p:par>
                          <p:cTn id="54" fill="hold">
                            <p:stCondLst>
                              <p:cond delay="0"/>
                            </p:stCondLst>
                            <p:childTnLst>
                              <p:par>
                                <p:cTn id="55" presetID="42" presetClass="entr" presetSubtype="0" fill="hold" grpId="0" nodeType="clickEffect">
                                  <p:stCondLst>
                                    <p:cond delay="0"/>
                                  </p:stCondLst>
                                  <p:childTnLst>
                                    <p:set>
                                      <p:cBhvr>
                                        <p:cTn id="56" dur="1" fill="hold">
                                          <p:stCondLst>
                                            <p:cond delay="0"/>
                                          </p:stCondLst>
                                        </p:cTn>
                                        <p:tgtEl>
                                          <p:spTgt spid="112"/>
                                        </p:tgtEl>
                                        <p:attrNameLst>
                                          <p:attrName>style.visibility</p:attrName>
                                        </p:attrNameLst>
                                      </p:cBhvr>
                                      <p:to>
                                        <p:strVal val="visible"/>
                                      </p:to>
                                    </p:set>
                                    <p:animEffect transition="in" filter="fade">
                                      <p:cBhvr>
                                        <p:cTn id="57" dur="500"/>
                                        <p:tgtEl>
                                          <p:spTgt spid="112"/>
                                        </p:tgtEl>
                                      </p:cBhvr>
                                    </p:animEffect>
                                    <p:anim calcmode="lin" valueType="num">
                                      <p:cBhvr additive="base">
                                        <p:cTn id="58" dur="500" decel="100000" fill="hold"/>
                                        <p:tgtEl>
                                          <p:spTgt spid="112"/>
                                        </p:tgtEl>
                                        <p:attrNameLst>
                                          <p:attrName>ppt_x</p:attrName>
                                        </p:attrNameLst>
                                      </p:cBhvr>
                                      <p:tavLst>
                                        <p:tav tm="0">
                                          <p:val>
                                            <p:strVal val="#ppt_x-0.05"/>
                                          </p:val>
                                        </p:tav>
                                        <p:tav tm="100000">
                                          <p:val>
                                            <p:strVal val="#ppt_x"/>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13"/>
                                        </p:tgtEl>
                                        <p:attrNameLst>
                                          <p:attrName>style.visibility</p:attrName>
                                        </p:attrNameLst>
                                      </p:cBhvr>
                                      <p:to>
                                        <p:strVal val="visible"/>
                                      </p:to>
                                    </p:set>
                                    <p:animEffect transition="in" filter="fade">
                                      <p:cBhvr>
                                        <p:cTn id="61" dur="500"/>
                                        <p:tgtEl>
                                          <p:spTgt spid="113"/>
                                        </p:tgtEl>
                                      </p:cBhvr>
                                    </p:animEffect>
                                    <p:anim calcmode="lin" valueType="num">
                                      <p:cBhvr additive="base">
                                        <p:cTn id="62" dur="500" decel="100000" fill="hold"/>
                                        <p:tgtEl>
                                          <p:spTgt spid="113"/>
                                        </p:tgtEl>
                                        <p:attrNameLst>
                                          <p:attrName>ppt_x</p:attrName>
                                        </p:attrNameLst>
                                      </p:cBhvr>
                                      <p:tavLst>
                                        <p:tav tm="0">
                                          <p:val>
                                            <p:strVal val="#ppt_x-0.05"/>
                                          </p:val>
                                        </p:tav>
                                        <p:tav tm="100000">
                                          <p:val>
                                            <p:strVal val="#ppt_x"/>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114"/>
                                        </p:tgtEl>
                                        <p:attrNameLst>
                                          <p:attrName>style.visibility</p:attrName>
                                        </p:attrNameLst>
                                      </p:cBhvr>
                                      <p:to>
                                        <p:strVal val="visible"/>
                                      </p:to>
                                    </p:set>
                                    <p:animEffect transition="in" filter="fade">
                                      <p:cBhvr>
                                        <p:cTn id="65" dur="500"/>
                                        <p:tgtEl>
                                          <p:spTgt spid="114"/>
                                        </p:tgtEl>
                                      </p:cBhvr>
                                    </p:animEffect>
                                    <p:anim calcmode="lin" valueType="num">
                                      <p:cBhvr additive="base">
                                        <p:cTn id="66" dur="500" decel="100000" fill="hold"/>
                                        <p:tgtEl>
                                          <p:spTgt spid="114"/>
                                        </p:tgtEl>
                                        <p:attrNameLst>
                                          <p:attrName>ppt_x</p:attrName>
                                        </p:attrNameLst>
                                      </p:cBhvr>
                                      <p:tavLst>
                                        <p:tav tm="0">
                                          <p:val>
                                            <p:strVal val="#ppt_x-0.05"/>
                                          </p:val>
                                        </p:tav>
                                        <p:tav tm="100000">
                                          <p:val>
                                            <p:strVal val="#ppt_x"/>
                                          </p:val>
                                        </p:tav>
                                      </p:tavLst>
                                    </p:anim>
                                  </p:childTnLst>
                                </p:cTn>
                              </p:par>
                            </p:childTnLst>
                          </p:cTn>
                        </p:par>
                      </p:childTnLst>
                    </p:cTn>
                  </p:par>
                  <p:par>
                    <p:cTn id="67" fill="hold">
                      <p:stCondLst>
                        <p:cond delay="indefinite"/>
                      </p:stCondLst>
                      <p:childTnLst>
                        <p:par>
                          <p:cTn id="68" fill="hold">
                            <p:stCondLst>
                              <p:cond delay="0"/>
                            </p:stCondLst>
                            <p:childTnLst>
                              <p:par>
                                <p:cTn id="69" presetID="42" presetClass="entr" presetSubtype="0" fill="hold" grpId="0" nodeType="clickEffect">
                                  <p:stCondLst>
                                    <p:cond delay="0"/>
                                  </p:stCondLst>
                                  <p:childTnLst>
                                    <p:set>
                                      <p:cBhvr>
                                        <p:cTn id="70" dur="1" fill="hold">
                                          <p:stCondLst>
                                            <p:cond delay="0"/>
                                          </p:stCondLst>
                                        </p:cTn>
                                        <p:tgtEl>
                                          <p:spTgt spid="115"/>
                                        </p:tgtEl>
                                        <p:attrNameLst>
                                          <p:attrName>style.visibility</p:attrName>
                                        </p:attrNameLst>
                                      </p:cBhvr>
                                      <p:to>
                                        <p:strVal val="visible"/>
                                      </p:to>
                                    </p:set>
                                    <p:animEffect transition="in" filter="fade">
                                      <p:cBhvr>
                                        <p:cTn id="71" dur="500"/>
                                        <p:tgtEl>
                                          <p:spTgt spid="115"/>
                                        </p:tgtEl>
                                      </p:cBhvr>
                                    </p:animEffect>
                                    <p:anim calcmode="lin" valueType="num">
                                      <p:cBhvr additive="base">
                                        <p:cTn id="72" dur="500" decel="100000" fill="hold"/>
                                        <p:tgtEl>
                                          <p:spTgt spid="115"/>
                                        </p:tgtEl>
                                        <p:attrNameLst>
                                          <p:attrName>ppt_x</p:attrName>
                                        </p:attrNameLst>
                                      </p:cBhvr>
                                      <p:tavLst>
                                        <p:tav tm="0">
                                          <p:val>
                                            <p:strVal val="#ppt_x-0.05"/>
                                          </p:val>
                                        </p:tav>
                                        <p:tav tm="100000">
                                          <p:val>
                                            <p:strVal val="#ppt_x"/>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6"/>
                                        </p:tgtEl>
                                        <p:attrNameLst>
                                          <p:attrName>style.visibility</p:attrName>
                                        </p:attrNameLst>
                                      </p:cBhvr>
                                      <p:to>
                                        <p:strVal val="visible"/>
                                      </p:to>
                                    </p:set>
                                    <p:animEffect transition="in" filter="fade">
                                      <p:cBhvr>
                                        <p:cTn id="75" dur="500"/>
                                        <p:tgtEl>
                                          <p:spTgt spid="116"/>
                                        </p:tgtEl>
                                      </p:cBhvr>
                                    </p:animEffect>
                                    <p:anim calcmode="lin" valueType="num">
                                      <p:cBhvr additive="base">
                                        <p:cTn id="76" dur="500" decel="100000" fill="hold"/>
                                        <p:tgtEl>
                                          <p:spTgt spid="116"/>
                                        </p:tgtEl>
                                        <p:attrNameLst>
                                          <p:attrName>ppt_x</p:attrName>
                                        </p:attrNameLst>
                                      </p:cBhvr>
                                      <p:tavLst>
                                        <p:tav tm="0">
                                          <p:val>
                                            <p:strVal val="#ppt_x-0.05"/>
                                          </p:val>
                                        </p:tav>
                                        <p:tav tm="100000">
                                          <p:val>
                                            <p:strVal val="#ppt_x"/>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7"/>
                                        </p:tgtEl>
                                        <p:attrNameLst>
                                          <p:attrName>style.visibility</p:attrName>
                                        </p:attrNameLst>
                                      </p:cBhvr>
                                      <p:to>
                                        <p:strVal val="visible"/>
                                      </p:to>
                                    </p:set>
                                    <p:animEffect transition="in" filter="fade">
                                      <p:cBhvr>
                                        <p:cTn id="79" dur="500"/>
                                        <p:tgtEl>
                                          <p:spTgt spid="117"/>
                                        </p:tgtEl>
                                      </p:cBhvr>
                                    </p:animEffect>
                                    <p:anim calcmode="lin" valueType="num">
                                      <p:cBhvr additive="base">
                                        <p:cTn id="80" dur="500" decel="100000" fill="hold"/>
                                        <p:tgtEl>
                                          <p:spTgt spid="117"/>
                                        </p:tgtEl>
                                        <p:attrNameLst>
                                          <p:attrName>ppt_x</p:attrName>
                                        </p:attrNameLst>
                                      </p:cBhvr>
                                      <p:tavLst>
                                        <p:tav tm="0">
                                          <p:val>
                                            <p:strVal val="#ppt_x-0.05"/>
                                          </p:val>
                                        </p:tav>
                                        <p:tav tm="100000">
                                          <p:val>
                                            <p:strVal val="#ppt_x"/>
                                          </p:val>
                                        </p:tav>
                                      </p:tavLst>
                                    </p:anim>
                                  </p:childTnLst>
                                </p:cTn>
                              </p:par>
                            </p:childTnLst>
                          </p:cTn>
                        </p:par>
                      </p:childTnLst>
                    </p:cTn>
                  </p:par>
                  <p:par>
                    <p:cTn id="81" fill="hold">
                      <p:stCondLst>
                        <p:cond delay="indefinite"/>
                      </p:stCondLst>
                      <p:childTnLst>
                        <p:par>
                          <p:cTn id="82" fill="hold">
                            <p:stCondLst>
                              <p:cond delay="0"/>
                            </p:stCondLst>
                            <p:childTnLst>
                              <p:par>
                                <p:cTn id="83" presetID="42" presetClass="entr" presetSubtype="0" fill="hold" grpId="0" nodeType="clickEffect">
                                  <p:stCondLst>
                                    <p:cond delay="0"/>
                                  </p:stCondLst>
                                  <p:childTnLst>
                                    <p:set>
                                      <p:cBhvr>
                                        <p:cTn id="84" dur="1" fill="hold">
                                          <p:stCondLst>
                                            <p:cond delay="0"/>
                                          </p:stCondLst>
                                        </p:cTn>
                                        <p:tgtEl>
                                          <p:spTgt spid="118"/>
                                        </p:tgtEl>
                                        <p:attrNameLst>
                                          <p:attrName>style.visibility</p:attrName>
                                        </p:attrNameLst>
                                      </p:cBhvr>
                                      <p:to>
                                        <p:strVal val="visible"/>
                                      </p:to>
                                    </p:set>
                                    <p:animEffect transition="in" filter="fade">
                                      <p:cBhvr>
                                        <p:cTn id="85" dur="500"/>
                                        <p:tgtEl>
                                          <p:spTgt spid="118"/>
                                        </p:tgtEl>
                                      </p:cBhvr>
                                    </p:animEffect>
                                    <p:anim calcmode="lin" valueType="num">
                                      <p:cBhvr additive="base">
                                        <p:cTn id="86" dur="500" decel="100000" fill="hold"/>
                                        <p:tgtEl>
                                          <p:spTgt spid="118"/>
                                        </p:tgtEl>
                                        <p:attrNameLst>
                                          <p:attrName>ppt_x</p:attrName>
                                        </p:attrNameLst>
                                      </p:cBhvr>
                                      <p:tavLst>
                                        <p:tav tm="0">
                                          <p:val>
                                            <p:strVal val="#ppt_x-0.05"/>
                                          </p:val>
                                        </p:tav>
                                        <p:tav tm="100000">
                                          <p:val>
                                            <p:strVal val="#ppt_x"/>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19"/>
                                        </p:tgtEl>
                                        <p:attrNameLst>
                                          <p:attrName>style.visibility</p:attrName>
                                        </p:attrNameLst>
                                      </p:cBhvr>
                                      <p:to>
                                        <p:strVal val="visible"/>
                                      </p:to>
                                    </p:set>
                                    <p:animEffect transition="in" filter="fade">
                                      <p:cBhvr>
                                        <p:cTn id="89" dur="500"/>
                                        <p:tgtEl>
                                          <p:spTgt spid="119"/>
                                        </p:tgtEl>
                                      </p:cBhvr>
                                    </p:animEffect>
                                    <p:anim calcmode="lin" valueType="num">
                                      <p:cBhvr additive="base">
                                        <p:cTn id="90" dur="500" decel="100000" fill="hold"/>
                                        <p:tgtEl>
                                          <p:spTgt spid="119"/>
                                        </p:tgtEl>
                                        <p:attrNameLst>
                                          <p:attrName>ppt_x</p:attrName>
                                        </p:attrNameLst>
                                      </p:cBhvr>
                                      <p:tavLst>
                                        <p:tav tm="0">
                                          <p:val>
                                            <p:strVal val="#ppt_x-0.05"/>
                                          </p:val>
                                        </p:tav>
                                        <p:tav tm="100000">
                                          <p:val>
                                            <p:strVal val="#ppt_x"/>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0"/>
                                        </p:tgtEl>
                                        <p:attrNameLst>
                                          <p:attrName>style.visibility</p:attrName>
                                        </p:attrNameLst>
                                      </p:cBhvr>
                                      <p:to>
                                        <p:strVal val="visible"/>
                                      </p:to>
                                    </p:set>
                                    <p:animEffect transition="in" filter="fade">
                                      <p:cBhvr>
                                        <p:cTn id="93" dur="500"/>
                                        <p:tgtEl>
                                          <p:spTgt spid="120"/>
                                        </p:tgtEl>
                                      </p:cBhvr>
                                    </p:animEffect>
                                    <p:anim calcmode="lin" valueType="num">
                                      <p:cBhvr additive="base">
                                        <p:cTn id="94" dur="500" decel="100000" fill="hold"/>
                                        <p:tgtEl>
                                          <p:spTgt spid="120"/>
                                        </p:tgtEl>
                                        <p:attrNameLst>
                                          <p:attrName>ppt_x</p:attrName>
                                        </p:attrNameLst>
                                      </p:cBhvr>
                                      <p:tavLst>
                                        <p:tav tm="0">
                                          <p:val>
                                            <p:strVal val="#ppt_x-0.05"/>
                                          </p:val>
                                        </p:tav>
                                        <p:tav tm="100000">
                                          <p:val>
                                            <p:strVal val="#ppt_x"/>
                                          </p:val>
                                        </p:tav>
                                      </p:tavLst>
                                    </p:anim>
                                  </p:childTnLst>
                                </p:cTn>
                              </p:par>
                            </p:childTnLst>
                          </p:cTn>
                        </p:par>
                      </p:childTnLst>
                    </p:cTn>
                  </p:par>
                  <p:par>
                    <p:cTn id="95" fill="hold">
                      <p:stCondLst>
                        <p:cond delay="indefinite"/>
                      </p:stCondLst>
                      <p:childTnLst>
                        <p:par>
                          <p:cTn id="96" fill="hold">
                            <p:stCondLst>
                              <p:cond delay="0"/>
                            </p:stCondLst>
                            <p:childTnLst>
                              <p:par>
                                <p:cTn id="97" presetID="42" presetClass="entr" presetSubtype="0" fill="hold" grpId="0" nodeType="clickEffect">
                                  <p:stCondLst>
                                    <p:cond delay="0"/>
                                  </p:stCondLst>
                                  <p:childTnLst>
                                    <p:set>
                                      <p:cBhvr>
                                        <p:cTn id="98" dur="1" fill="hold">
                                          <p:stCondLst>
                                            <p:cond delay="0"/>
                                          </p:stCondLst>
                                        </p:cTn>
                                        <p:tgtEl>
                                          <p:spTgt spid="121"/>
                                        </p:tgtEl>
                                        <p:attrNameLst>
                                          <p:attrName>style.visibility</p:attrName>
                                        </p:attrNameLst>
                                      </p:cBhvr>
                                      <p:to>
                                        <p:strVal val="visible"/>
                                      </p:to>
                                    </p:set>
                                    <p:animEffect transition="in" filter="fade">
                                      <p:cBhvr>
                                        <p:cTn id="99" dur="500"/>
                                        <p:tgtEl>
                                          <p:spTgt spid="121"/>
                                        </p:tgtEl>
                                      </p:cBhvr>
                                    </p:animEffect>
                                    <p:anim calcmode="lin" valueType="num">
                                      <p:cBhvr additive="base">
                                        <p:cTn id="100" dur="500" decel="100000" fill="hold"/>
                                        <p:tgtEl>
                                          <p:spTgt spid="121"/>
                                        </p:tgtEl>
                                        <p:attrNameLst>
                                          <p:attrName>ppt_x</p:attrName>
                                        </p:attrNameLst>
                                      </p:cBhvr>
                                      <p:tavLst>
                                        <p:tav tm="0">
                                          <p:val>
                                            <p:strVal val="#ppt_x-0.05"/>
                                          </p:val>
                                        </p:tav>
                                        <p:tav tm="100000">
                                          <p:val>
                                            <p:strVal val="#ppt_x"/>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22"/>
                                        </p:tgtEl>
                                        <p:attrNameLst>
                                          <p:attrName>style.visibility</p:attrName>
                                        </p:attrNameLst>
                                      </p:cBhvr>
                                      <p:to>
                                        <p:strVal val="visible"/>
                                      </p:to>
                                    </p:set>
                                    <p:animEffect transition="in" filter="fade">
                                      <p:cBhvr>
                                        <p:cTn id="103" dur="500"/>
                                        <p:tgtEl>
                                          <p:spTgt spid="122"/>
                                        </p:tgtEl>
                                      </p:cBhvr>
                                    </p:animEffect>
                                    <p:anim calcmode="lin" valueType="num">
                                      <p:cBhvr additive="base">
                                        <p:cTn id="104" dur="500" decel="100000" fill="hold"/>
                                        <p:tgtEl>
                                          <p:spTgt spid="122"/>
                                        </p:tgtEl>
                                        <p:attrNameLst>
                                          <p:attrName>ppt_x</p:attrName>
                                        </p:attrNameLst>
                                      </p:cBhvr>
                                      <p:tavLst>
                                        <p:tav tm="0">
                                          <p:val>
                                            <p:strVal val="#ppt_x-0.05"/>
                                          </p:val>
                                        </p:tav>
                                        <p:tav tm="100000">
                                          <p:val>
                                            <p:strVal val="#ppt_x"/>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23"/>
                                        </p:tgtEl>
                                        <p:attrNameLst>
                                          <p:attrName>style.visibility</p:attrName>
                                        </p:attrNameLst>
                                      </p:cBhvr>
                                      <p:to>
                                        <p:strVal val="visible"/>
                                      </p:to>
                                    </p:set>
                                    <p:animEffect transition="in" filter="fade">
                                      <p:cBhvr>
                                        <p:cTn id="107" dur="500"/>
                                        <p:tgtEl>
                                          <p:spTgt spid="123"/>
                                        </p:tgtEl>
                                      </p:cBhvr>
                                    </p:animEffect>
                                    <p:anim calcmode="lin" valueType="num">
                                      <p:cBhvr additive="base">
                                        <p:cTn id="108" dur="500" decel="100000" fill="hold"/>
                                        <p:tgtEl>
                                          <p:spTgt spid="123"/>
                                        </p:tgtEl>
                                        <p:attrNameLst>
                                          <p:attrName>ppt_x</p:attrName>
                                        </p:attrNameLst>
                                      </p:cBhvr>
                                      <p:tavLst>
                                        <p:tav tm="0">
                                          <p:val>
                                            <p:strVal val="#ppt_x-0.05"/>
                                          </p:val>
                                        </p:tav>
                                        <p:tav tm="100000">
                                          <p:val>
                                            <p:strVal val="#ppt_x"/>
                                          </p:val>
                                        </p:tav>
                                      </p:tavLst>
                                    </p:anim>
                                  </p:childTnLst>
                                </p:cTn>
                              </p:par>
                            </p:childTnLst>
                          </p:cTn>
                        </p:par>
                      </p:childTnLst>
                    </p:cTn>
                  </p:par>
                  <p:par>
                    <p:cTn id="109" fill="hold">
                      <p:stCondLst>
                        <p:cond delay="indefinite"/>
                      </p:stCondLst>
                      <p:childTnLst>
                        <p:par>
                          <p:cTn id="110" fill="hold">
                            <p:stCondLst>
                              <p:cond delay="0"/>
                            </p:stCondLst>
                            <p:childTnLst>
                              <p:par>
                                <p:cTn id="111" presetID="42" presetClass="entr" presetSubtype="0" fill="hold" grpId="0" nodeType="clickEffect">
                                  <p:stCondLst>
                                    <p:cond delay="0"/>
                                  </p:stCondLst>
                                  <p:childTnLst>
                                    <p:set>
                                      <p:cBhvr>
                                        <p:cTn id="112" dur="1" fill="hold">
                                          <p:stCondLst>
                                            <p:cond delay="0"/>
                                          </p:stCondLst>
                                        </p:cTn>
                                        <p:tgtEl>
                                          <p:spTgt spid="124"/>
                                        </p:tgtEl>
                                        <p:attrNameLst>
                                          <p:attrName>style.visibility</p:attrName>
                                        </p:attrNameLst>
                                      </p:cBhvr>
                                      <p:to>
                                        <p:strVal val="visible"/>
                                      </p:to>
                                    </p:set>
                                    <p:animEffect transition="in" filter="fade">
                                      <p:cBhvr>
                                        <p:cTn id="113" dur="500"/>
                                        <p:tgtEl>
                                          <p:spTgt spid="124"/>
                                        </p:tgtEl>
                                      </p:cBhvr>
                                    </p:animEffect>
                                    <p:anim calcmode="lin" valueType="num">
                                      <p:cBhvr additive="base">
                                        <p:cTn id="114" dur="500" decel="100000" fill="hold"/>
                                        <p:tgtEl>
                                          <p:spTgt spid="124"/>
                                        </p:tgtEl>
                                        <p:attrNameLst>
                                          <p:attrName>ppt_x</p:attrName>
                                        </p:attrNameLst>
                                      </p:cBhvr>
                                      <p:tavLst>
                                        <p:tav tm="0">
                                          <p:val>
                                            <p:strVal val="#ppt_x-0.05"/>
                                          </p:val>
                                        </p:tav>
                                        <p:tav tm="100000">
                                          <p:val>
                                            <p:strVal val="#ppt_x"/>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5"/>
                                        </p:tgtEl>
                                        <p:attrNameLst>
                                          <p:attrName>style.visibility</p:attrName>
                                        </p:attrNameLst>
                                      </p:cBhvr>
                                      <p:to>
                                        <p:strVal val="visible"/>
                                      </p:to>
                                    </p:set>
                                    <p:animEffect transition="in" filter="fade">
                                      <p:cBhvr>
                                        <p:cTn id="117" dur="500"/>
                                        <p:tgtEl>
                                          <p:spTgt spid="125"/>
                                        </p:tgtEl>
                                      </p:cBhvr>
                                    </p:animEffect>
                                    <p:anim calcmode="lin" valueType="num">
                                      <p:cBhvr additive="base">
                                        <p:cTn id="118" dur="500" decel="100000" fill="hold"/>
                                        <p:tgtEl>
                                          <p:spTgt spid="125"/>
                                        </p:tgtEl>
                                        <p:attrNameLst>
                                          <p:attrName>ppt_x</p:attrName>
                                        </p:attrNameLst>
                                      </p:cBhvr>
                                      <p:tavLst>
                                        <p:tav tm="0">
                                          <p:val>
                                            <p:strVal val="#ppt_x-0.05"/>
                                          </p:val>
                                        </p:tav>
                                        <p:tav tm="100000">
                                          <p:val>
                                            <p:strVal val="#ppt_x"/>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26"/>
                                        </p:tgtEl>
                                        <p:attrNameLst>
                                          <p:attrName>style.visibility</p:attrName>
                                        </p:attrNameLst>
                                      </p:cBhvr>
                                      <p:to>
                                        <p:strVal val="visible"/>
                                      </p:to>
                                    </p:set>
                                    <p:animEffect transition="in" filter="fade">
                                      <p:cBhvr>
                                        <p:cTn id="121" dur="500"/>
                                        <p:tgtEl>
                                          <p:spTgt spid="126"/>
                                        </p:tgtEl>
                                      </p:cBhvr>
                                    </p:animEffect>
                                    <p:anim calcmode="lin" valueType="num">
                                      <p:cBhvr additive="base">
                                        <p:cTn id="122" dur="500" decel="100000" fill="hold"/>
                                        <p:tgtEl>
                                          <p:spTgt spid="126"/>
                                        </p:tgtEl>
                                        <p:attrNameLst>
                                          <p:attrName>ppt_x</p:attrName>
                                        </p:attrNameLst>
                                      </p:cBhvr>
                                      <p:tavLst>
                                        <p:tav tm="0">
                                          <p:val>
                                            <p:strVal val="#ppt_x-0.05"/>
                                          </p:val>
                                        </p:tav>
                                        <p:tav tm="100000">
                                          <p:val>
                                            <p:strVal val="#ppt_x"/>
                                          </p:val>
                                        </p:tav>
                                      </p:tavLst>
                                    </p:anim>
                                  </p:childTnLst>
                                </p:cTn>
                              </p:par>
                            </p:childTnLst>
                          </p:cTn>
                        </p:par>
                      </p:childTnLst>
                    </p:cTn>
                  </p:par>
                  <p:par>
                    <p:cTn id="123" fill="hold">
                      <p:stCondLst>
                        <p:cond delay="indefinite"/>
                      </p:stCondLst>
                      <p:childTnLst>
                        <p:par>
                          <p:cTn id="124" fill="hold">
                            <p:stCondLst>
                              <p:cond delay="0"/>
                            </p:stCondLst>
                            <p:childTnLst>
                              <p:par>
                                <p:cTn id="125" presetID="53" presetClass="entr" presetSubtype="16" fill="hold" grpId="0" nodeType="clickEffect">
                                  <p:stCondLst>
                                    <p:cond delay="0"/>
                                  </p:stCondLst>
                                  <p:childTnLst>
                                    <p:set>
                                      <p:cBhvr>
                                        <p:cTn id="126" dur="1" fill="hold">
                                          <p:stCondLst>
                                            <p:cond delay="0"/>
                                          </p:stCondLst>
                                        </p:cTn>
                                        <p:tgtEl>
                                          <p:spTgt spid="127"/>
                                        </p:tgtEl>
                                        <p:attrNameLst>
                                          <p:attrName>style.visibility</p:attrName>
                                        </p:attrNameLst>
                                      </p:cBhvr>
                                      <p:to>
                                        <p:strVal val="visible"/>
                                      </p:to>
                                    </p:set>
                                    <p:anim calcmode="lin" valueType="num">
                                      <p:cBhvr additive="base">
                                        <p:cTn id="127" dur="500" decel="100000" fill="hold"/>
                                        <p:tgtEl>
                                          <p:spTgt spid="127"/>
                                        </p:tgtEl>
                                        <p:attrNameLst>
                                          <p:attrName>ppt_w</p:attrName>
                                        </p:attrNameLst>
                                      </p:cBhvr>
                                      <p:tavLst>
                                        <p:tav tm="0">
                                          <p:val>
                                            <p:strVal val="#ppt_w*0.3"/>
                                          </p:val>
                                        </p:tav>
                                        <p:tav tm="100000">
                                          <p:val>
                                            <p:strVal val="#ppt_w*1.08"/>
                                          </p:val>
                                        </p:tav>
                                      </p:tavLst>
                                    </p:anim>
                                    <p:anim calcmode="lin" valueType="num">
                                      <p:cBhvr additive="base">
                                        <p:cTn id="128" dur="500" decel="100000" fill="hold"/>
                                        <p:tgtEl>
                                          <p:spTgt spid="127"/>
                                        </p:tgtEl>
                                        <p:attrNameLst>
                                          <p:attrName>ppt_h</p:attrName>
                                        </p:attrNameLst>
                                      </p:cBhvr>
                                      <p:tavLst>
                                        <p:tav tm="0">
                                          <p:val>
                                            <p:strVal val="#ppt_h*0.3"/>
                                          </p:val>
                                        </p:tav>
                                        <p:tav tm="100000">
                                          <p:val>
                                            <p:strVal val="#ppt_h*1.08"/>
                                          </p:val>
                                        </p:tav>
                                      </p:tavLst>
                                    </p:anim>
                                    <p:animEffect transition="in" filter="fade">
                                      <p:cBhvr>
                                        <p:cTn id="129" dur="250"/>
                                        <p:tgtEl>
                                          <p:spTgt spid="127"/>
                                        </p:tgtEl>
                                      </p:cBhvr>
                                    </p:animEffect>
                                    <p:anim calcmode="lin" valueType="num">
                                      <p:cBhvr additive="base">
                                        <p:cTn id="130" dur="160" fill="hold">
                                          <p:stCondLst>
                                            <p:cond delay="500"/>
                                          </p:stCondLst>
                                        </p:cTn>
                                        <p:tgtEl>
                                          <p:spTgt spid="127"/>
                                        </p:tgtEl>
                                        <p:attrNameLst>
                                          <p:attrName>ppt_w</p:attrName>
                                        </p:attrNameLst>
                                      </p:cBhvr>
                                      <p:tavLst>
                                        <p:tav tm="0">
                                          <p:val>
                                            <p:strVal val="#ppt_w*1.08"/>
                                          </p:val>
                                        </p:tav>
                                        <p:tav tm="100000">
                                          <p:val>
                                            <p:strVal val="#ppt_w"/>
                                          </p:val>
                                        </p:tav>
                                      </p:tavLst>
                                    </p:anim>
                                    <p:anim calcmode="lin" valueType="num">
                                      <p:cBhvr additive="base">
                                        <p:cTn id="131" dur="160" fill="hold">
                                          <p:stCondLst>
                                            <p:cond delay="500"/>
                                          </p:stCondLst>
                                        </p:cTn>
                                        <p:tgtEl>
                                          <p:spTgt spid="127"/>
                                        </p:tgtEl>
                                        <p:attrNameLst>
                                          <p:attrName>ppt_h</p:attrName>
                                        </p:attrNameLst>
                                      </p:cBhvr>
                                      <p:tavLst>
                                        <p:tav tm="0">
                                          <p:val>
                                            <p:strVal val="#ppt_h*1.08"/>
                                          </p:val>
                                        </p:tav>
                                        <p:tav tm="100000">
                                          <p:val>
                                            <p:strVal val="#ppt_h"/>
                                          </p:val>
                                        </p:tav>
                                      </p:tavLst>
                                    </p:anim>
                                  </p:childTnLst>
                                </p:cTn>
                              </p:par>
                            </p:childTnLst>
                          </p:cTn>
                        </p:par>
                      </p:childTnLst>
                    </p:cTn>
                  </p:par>
                  <p:par>
                    <p:cTn id="132" fill="hold">
                      <p:stCondLst>
                        <p:cond delay="indefinite"/>
                      </p:stCondLst>
                      <p:childTnLst>
                        <p:par>
                          <p:cTn id="133" fill="hold">
                            <p:stCondLst>
                              <p:cond delay="0"/>
                            </p:stCondLst>
                            <p:childTnLst>
                              <p:par>
                                <p:cTn id="134" presetID="42" presetClass="entr" presetSubtype="0" fill="hold" grpId="0" nodeType="clickEffect">
                                  <p:stCondLst>
                                    <p:cond delay="0"/>
                                  </p:stCondLst>
                                  <p:childTnLst>
                                    <p:set>
                                      <p:cBhvr>
                                        <p:cTn id="135" dur="1" fill="hold">
                                          <p:stCondLst>
                                            <p:cond delay="0"/>
                                          </p:stCondLst>
                                        </p:cTn>
                                        <p:tgtEl>
                                          <p:spTgt spid="128"/>
                                        </p:tgtEl>
                                        <p:attrNameLst>
                                          <p:attrName>style.visibility</p:attrName>
                                        </p:attrNameLst>
                                      </p:cBhvr>
                                      <p:to>
                                        <p:strVal val="visible"/>
                                      </p:to>
                                    </p:set>
                                    <p:animEffect transition="in" filter="fade">
                                      <p:cBhvr>
                                        <p:cTn id="136" dur="500"/>
                                        <p:tgtEl>
                                          <p:spTgt spid="128"/>
                                        </p:tgtEl>
                                      </p:cBhvr>
                                    </p:animEffect>
                                    <p:anim calcmode="lin" valueType="num">
                                      <p:cBhvr additive="base">
                                        <p:cTn id="137" dur="500" decel="100000" fill="hold"/>
                                        <p:tgtEl>
                                          <p:spTgt spid="12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BEFORE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Before: The Business Rule Is Hidden in the Service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To test simple discount math, every test must build a payment mock.</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166</a:t>
            </a:r>
            <a:endParaRPr lang="en-US" sz="850" dirty="0"/>
          </a:p>
        </p:txBody>
      </p:sp>
      <p:sp>
        <p:nvSpPr>
          <p:cNvPr id="101" name="s101"/>
          <p:cNvSpPr txBox="1"/>
          <p:nvPr/>
        </p:nvSpPr>
        <p:spPr>
          <a:xfrm>
            <a:off x="543154" y="1810512"/>
            <a:ext cx="5429707"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87171"/>
                </a:solidFill>
                <a:latin typeface="Segoe UI"/>
                <a:ea typeface="Segoe UI"/>
                <a:cs typeface="Segoe UI"/>
              </a:rPr>
              <a:t>THE CLASS</a:t>
            </a:r>
            <a:endParaRPr lang="en-US" sz="1050" dirty="0"/>
          </a:p>
        </p:txBody>
      </p:sp>
      <p:sp>
        <p:nvSpPr>
          <p:cNvPr id="102" name="s102"/>
          <p:cNvSpPr/>
          <p:nvPr/>
        </p:nvSpPr>
        <p:spPr>
          <a:xfrm>
            <a:off x="543154" y="2084832"/>
            <a:ext cx="5429707" cy="29718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157984"/>
            <a:ext cx="1389888"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OrderService.cs</a:t>
            </a:r>
            <a:endParaRPr lang="en-US" sz="950" dirty="0"/>
          </a:p>
        </p:txBody>
      </p:sp>
      <p:cxnSp>
        <p:nvCxnSpPr>
          <p:cNvPr id="107" name="ln107"/>
          <p:cNvCxnSpPr/>
          <p:nvPr/>
        </p:nvCxnSpPr>
        <p:spPr>
          <a:xfrm>
            <a:off x="543154" y="2496312"/>
            <a:ext cx="5429707" cy="0"/>
          </a:xfrm>
          <a:prstGeom prst="line">
            <a:avLst/>
          </a:prstGeom>
          <a:ln w="9525">
            <a:solidFill>
              <a:srgbClr val="1E3A5F"/>
            </a:solidFill>
          </a:ln>
        </p:spPr>
      </p:cxnSp>
      <p:sp>
        <p:nvSpPr>
          <p:cNvPr id="108" name="s108"/>
          <p:cNvSpPr/>
          <p:nvPr/>
        </p:nvSpPr>
        <p:spPr>
          <a:xfrm>
            <a:off x="543154" y="261518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60A5FA"/>
                </a:solidFill>
                <a:latin typeface="Consolas"/>
                <a:ea typeface="Consolas"/>
                <a:cs typeface="Consolas"/>
              </a:rPr>
              <a:t>public</a:t>
            </a: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class</a:t>
            </a:r>
            <a:r>
              <a:rPr lang="en-US" sz="1075" b="0" dirty="0">
                <a:solidFill>
                  <a:srgbClr val="E2E8F0"/>
                </a:solidFill>
                <a:latin typeface="Consolas"/>
                <a:ea typeface="Consolas"/>
                <a:cs typeface="Consolas"/>
              </a:rPr>
              <a:t> </a:t>
            </a:r>
            <a:r>
              <a:rPr lang="en-US" sz="1075" b="0" dirty="0">
                <a:solidFill>
                  <a:srgbClr val="7DD3FC"/>
                </a:solidFill>
                <a:latin typeface="Consolas"/>
                <a:ea typeface="Consolas"/>
                <a:cs typeface="Consolas"/>
              </a:rPr>
              <a:t>OrderService</a:t>
            </a:r>
            <a:endParaRPr lang="en-US" sz="1075" dirty="0"/>
          </a:p>
        </p:txBody>
      </p:sp>
      <p:sp>
        <p:nvSpPr>
          <p:cNvPr id="109" name="s109"/>
          <p:cNvSpPr/>
          <p:nvPr/>
        </p:nvSpPr>
        <p:spPr>
          <a:xfrm>
            <a:off x="543154" y="277901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a:t>
            </a:r>
            <a:endParaRPr lang="en-US" sz="1075" dirty="0"/>
          </a:p>
        </p:txBody>
      </p:sp>
      <p:sp>
        <p:nvSpPr>
          <p:cNvPr id="110" name="s110"/>
          <p:cNvSpPr/>
          <p:nvPr/>
        </p:nvSpPr>
        <p:spPr>
          <a:xfrm>
            <a:off x="543154" y="294284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private</a:t>
            </a: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readonly</a:t>
            </a:r>
            <a:r>
              <a:rPr lang="en-US" sz="1075" b="0" dirty="0">
                <a:solidFill>
                  <a:srgbClr val="E2E8F0"/>
                </a:solidFill>
                <a:latin typeface="Consolas"/>
                <a:ea typeface="Consolas"/>
                <a:cs typeface="Consolas"/>
              </a:rPr>
              <a:t> </a:t>
            </a:r>
            <a:r>
              <a:rPr lang="en-US" sz="1075" b="0" dirty="0">
                <a:solidFill>
                  <a:srgbClr val="7DD3FC"/>
                </a:solidFill>
                <a:latin typeface="Consolas"/>
                <a:ea typeface="Consolas"/>
                <a:cs typeface="Consolas"/>
              </a:rPr>
              <a:t>IPaymentGateway</a:t>
            </a:r>
            <a:r>
              <a:rPr lang="en-US" sz="1075" b="0" dirty="0">
                <a:solidFill>
                  <a:srgbClr val="E2E8F0"/>
                </a:solidFill>
                <a:latin typeface="Consolas"/>
                <a:ea typeface="Consolas"/>
                <a:cs typeface="Consolas"/>
              </a:rPr>
              <a:t> _payment;</a:t>
            </a:r>
            <a:endParaRPr lang="en-US" sz="1075" dirty="0"/>
          </a:p>
        </p:txBody>
      </p:sp>
      <p:sp>
        <p:nvSpPr>
          <p:cNvPr id="111" name="s111"/>
          <p:cNvSpPr/>
          <p:nvPr/>
        </p:nvSpPr>
        <p:spPr>
          <a:xfrm>
            <a:off x="543154" y="310667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public</a:t>
            </a:r>
            <a:r>
              <a:rPr lang="en-US" sz="1075" b="0" dirty="0">
                <a:solidFill>
                  <a:srgbClr val="E2E8F0"/>
                </a:solidFill>
                <a:latin typeface="Consolas"/>
                <a:ea typeface="Consolas"/>
                <a:cs typeface="Consolas"/>
              </a:rPr>
              <a:t> </a:t>
            </a:r>
            <a:r>
              <a:rPr lang="en-US" sz="1075" b="0" dirty="0">
                <a:solidFill>
                  <a:srgbClr val="7DD3FC"/>
                </a:solidFill>
                <a:latin typeface="Consolas"/>
                <a:ea typeface="Consolas"/>
                <a:cs typeface="Consolas"/>
              </a:rPr>
              <a:t>OrderService</a:t>
            </a:r>
            <a:r>
              <a:rPr lang="en-US" sz="1075" b="0" dirty="0">
                <a:solidFill>
                  <a:srgbClr val="E2E8F0"/>
                </a:solidFill>
                <a:latin typeface="Consolas"/>
                <a:ea typeface="Consolas"/>
                <a:cs typeface="Consolas"/>
              </a:rPr>
              <a:t>(</a:t>
            </a:r>
            <a:r>
              <a:rPr lang="en-US" sz="1075" b="0" dirty="0">
                <a:solidFill>
                  <a:srgbClr val="7DD3FC"/>
                </a:solidFill>
                <a:latin typeface="Consolas"/>
                <a:ea typeface="Consolas"/>
                <a:cs typeface="Consolas"/>
              </a:rPr>
              <a:t>IPaymentGateway</a:t>
            </a:r>
            <a:r>
              <a:rPr lang="en-US" sz="1075" b="0" dirty="0">
                <a:solidFill>
                  <a:srgbClr val="E2E8F0"/>
                </a:solidFill>
                <a:latin typeface="Consolas"/>
                <a:ea typeface="Consolas"/>
                <a:cs typeface="Consolas"/>
              </a:rPr>
              <a:t> p) =&gt; _payment = p;</a:t>
            </a:r>
            <a:endParaRPr lang="en-US" sz="1075" dirty="0"/>
          </a:p>
        </p:txBody>
      </p:sp>
      <p:sp>
        <p:nvSpPr>
          <p:cNvPr id="112" name="s112"/>
          <p:cNvSpPr/>
          <p:nvPr/>
        </p:nvSpPr>
        <p:spPr>
          <a:xfrm>
            <a:off x="543154" y="343433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public</a:t>
            </a: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bool</a:t>
            </a:r>
            <a:r>
              <a:rPr lang="en-US" sz="1075" b="0" dirty="0">
                <a:solidFill>
                  <a:srgbClr val="E2E8F0"/>
                </a:solidFill>
                <a:latin typeface="Consolas"/>
                <a:ea typeface="Consolas"/>
                <a:cs typeface="Consolas"/>
              </a:rPr>
              <a:t> </a:t>
            </a:r>
            <a:r>
              <a:rPr lang="en-US" sz="1075" b="0" dirty="0">
                <a:solidFill>
                  <a:srgbClr val="7DD3FC"/>
                </a:solidFill>
                <a:latin typeface="Consolas"/>
                <a:ea typeface="Consolas"/>
                <a:cs typeface="Consolas"/>
              </a:rPr>
              <a:t>PlaceOrder</a:t>
            </a:r>
            <a:r>
              <a:rPr lang="en-US" sz="1075" b="0" dirty="0">
                <a:solidFill>
                  <a:srgbClr val="E2E8F0"/>
                </a:solidFill>
                <a:latin typeface="Consolas"/>
                <a:ea typeface="Consolas"/>
                <a:cs typeface="Consolas"/>
              </a:rPr>
              <a:t>(</a:t>
            </a:r>
            <a:r>
              <a:rPr lang="en-US" sz="1075" b="0" dirty="0">
                <a:solidFill>
                  <a:srgbClr val="60A5FA"/>
                </a:solidFill>
                <a:latin typeface="Consolas"/>
                <a:ea typeface="Consolas"/>
                <a:cs typeface="Consolas"/>
              </a:rPr>
              <a:t>decimal</a:t>
            </a:r>
            <a:r>
              <a:rPr lang="en-US" sz="1075" b="0" dirty="0">
                <a:solidFill>
                  <a:srgbClr val="E2E8F0"/>
                </a:solidFill>
                <a:latin typeface="Consolas"/>
                <a:ea typeface="Consolas"/>
                <a:cs typeface="Consolas"/>
              </a:rPr>
              <a:t> price, </a:t>
            </a:r>
            <a:r>
              <a:rPr lang="en-US" sz="1075" b="0" dirty="0">
                <a:solidFill>
                  <a:srgbClr val="60A5FA"/>
                </a:solidFill>
                <a:latin typeface="Consolas"/>
                <a:ea typeface="Consolas"/>
                <a:cs typeface="Consolas"/>
              </a:rPr>
              <a:t>decimal</a:t>
            </a:r>
            <a:r>
              <a:rPr lang="en-US" sz="1075" b="0" dirty="0">
                <a:solidFill>
                  <a:srgbClr val="E2E8F0"/>
                </a:solidFill>
                <a:latin typeface="Consolas"/>
                <a:ea typeface="Consolas"/>
                <a:cs typeface="Consolas"/>
              </a:rPr>
              <a:t> discount)</a:t>
            </a:r>
            <a:endParaRPr lang="en-US" sz="1075" dirty="0"/>
          </a:p>
        </p:txBody>
      </p:sp>
      <p:sp>
        <p:nvSpPr>
          <p:cNvPr id="113" name="s113"/>
          <p:cNvSpPr/>
          <p:nvPr/>
        </p:nvSpPr>
        <p:spPr>
          <a:xfrm>
            <a:off x="543154" y="359816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    {</a:t>
            </a:r>
            <a:endParaRPr lang="en-US" sz="1075" dirty="0"/>
          </a:p>
        </p:txBody>
      </p:sp>
      <p:sp>
        <p:nvSpPr>
          <p:cNvPr id="114" name="s114"/>
          <p:cNvSpPr/>
          <p:nvPr/>
        </p:nvSpPr>
        <p:spPr>
          <a:xfrm>
            <a:off x="543154" y="376199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if</a:t>
            </a:r>
            <a:r>
              <a:rPr lang="en-US" sz="1075" b="0" dirty="0">
                <a:solidFill>
                  <a:srgbClr val="E2E8F0"/>
                </a:solidFill>
                <a:latin typeface="Consolas"/>
                <a:ea typeface="Consolas"/>
                <a:cs typeface="Consolas"/>
              </a:rPr>
              <a:t> (price &lt;= </a:t>
            </a:r>
            <a:r>
              <a:rPr lang="en-US" sz="1075" b="0" dirty="0">
                <a:solidFill>
                  <a:srgbClr val="C4B5FD"/>
                </a:solidFill>
                <a:latin typeface="Consolas"/>
                <a:ea typeface="Consolas"/>
                <a:cs typeface="Consolas"/>
              </a:rPr>
              <a:t>0</a:t>
            </a: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return</a:t>
            </a: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false</a:t>
            </a:r>
            <a:r>
              <a:rPr lang="en-US" sz="1075" b="0" dirty="0">
                <a:solidFill>
                  <a:srgbClr val="E2E8F0"/>
                </a:solidFill>
                <a:latin typeface="Consolas"/>
                <a:ea typeface="Consolas"/>
                <a:cs typeface="Consolas"/>
              </a:rPr>
              <a:t>;</a:t>
            </a:r>
            <a:endParaRPr lang="en-US" sz="1075" dirty="0"/>
          </a:p>
        </p:txBody>
      </p:sp>
      <p:sp>
        <p:nvSpPr>
          <p:cNvPr id="115" name="s115"/>
          <p:cNvSpPr/>
          <p:nvPr/>
        </p:nvSpPr>
        <p:spPr>
          <a:xfrm>
            <a:off x="543154" y="392582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var</a:t>
            </a:r>
            <a:r>
              <a:rPr lang="en-US" sz="1075" b="0" dirty="0">
                <a:solidFill>
                  <a:srgbClr val="E2E8F0"/>
                </a:solidFill>
                <a:latin typeface="Consolas"/>
                <a:ea typeface="Consolas"/>
                <a:cs typeface="Consolas"/>
              </a:rPr>
              <a:t> total = price - discount;   </a:t>
            </a:r>
            <a:r>
              <a:rPr lang="en-US" sz="1075" b="0" dirty="0">
                <a:solidFill>
                  <a:srgbClr val="6FAE7A"/>
                </a:solidFill>
                <a:latin typeface="Consolas"/>
                <a:ea typeface="Consolas"/>
                <a:cs typeface="Consolas"/>
              </a:rPr>
              <a:t>// RULE hidden here</a:t>
            </a:r>
            <a:endParaRPr lang="en-US" sz="1075" dirty="0"/>
          </a:p>
        </p:txBody>
      </p:sp>
      <p:sp>
        <p:nvSpPr>
          <p:cNvPr id="116" name="s116"/>
          <p:cNvSpPr/>
          <p:nvPr/>
        </p:nvSpPr>
        <p:spPr>
          <a:xfrm>
            <a:off x="543154" y="408965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return</a:t>
            </a:r>
            <a:r>
              <a:rPr lang="en-US" sz="1075" b="0" dirty="0">
                <a:solidFill>
                  <a:srgbClr val="E2E8F0"/>
                </a:solidFill>
                <a:latin typeface="Consolas"/>
                <a:ea typeface="Consolas"/>
                <a:cs typeface="Consolas"/>
              </a:rPr>
              <a:t> _payment.</a:t>
            </a:r>
            <a:r>
              <a:rPr lang="en-US" sz="1075" b="0" dirty="0">
                <a:solidFill>
                  <a:srgbClr val="7DD3FC"/>
                </a:solidFill>
                <a:latin typeface="Consolas"/>
                <a:ea typeface="Consolas"/>
                <a:cs typeface="Consolas"/>
              </a:rPr>
              <a:t>Charge</a:t>
            </a:r>
            <a:r>
              <a:rPr lang="en-US" sz="1075" b="0" dirty="0">
                <a:solidFill>
                  <a:srgbClr val="E2E8F0"/>
                </a:solidFill>
                <a:latin typeface="Consolas"/>
                <a:ea typeface="Consolas"/>
                <a:cs typeface="Consolas"/>
              </a:rPr>
              <a:t>(total);</a:t>
            </a:r>
            <a:endParaRPr lang="en-US" sz="1075" dirty="0"/>
          </a:p>
        </p:txBody>
      </p:sp>
      <p:sp>
        <p:nvSpPr>
          <p:cNvPr id="117" name="s117"/>
          <p:cNvSpPr/>
          <p:nvPr/>
        </p:nvSpPr>
        <p:spPr>
          <a:xfrm>
            <a:off x="543154" y="425348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    }</a:t>
            </a:r>
            <a:endParaRPr lang="en-US" sz="1075" dirty="0"/>
          </a:p>
        </p:txBody>
      </p:sp>
      <p:sp>
        <p:nvSpPr>
          <p:cNvPr id="118" name="s118"/>
          <p:cNvSpPr/>
          <p:nvPr/>
        </p:nvSpPr>
        <p:spPr>
          <a:xfrm>
            <a:off x="543154" y="441731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a:t>
            </a:r>
            <a:endParaRPr lang="en-US" sz="1075" dirty="0"/>
          </a:p>
        </p:txBody>
      </p:sp>
      <p:sp>
        <p:nvSpPr>
          <p:cNvPr id="119" name="s119"/>
          <p:cNvSpPr txBox="1"/>
          <p:nvPr/>
        </p:nvSpPr>
        <p:spPr>
          <a:xfrm>
            <a:off x="6201461" y="1810512"/>
            <a:ext cx="5429707"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87171"/>
                </a:solidFill>
                <a:latin typeface="Segoe UI"/>
                <a:ea typeface="Segoe UI"/>
                <a:cs typeface="Segoe UI"/>
              </a:rPr>
              <a:t>THE TEST</a:t>
            </a:r>
            <a:endParaRPr lang="en-US" sz="1050" dirty="0"/>
          </a:p>
        </p:txBody>
      </p:sp>
      <p:sp>
        <p:nvSpPr>
          <p:cNvPr id="120" name="s120"/>
          <p:cNvSpPr/>
          <p:nvPr/>
        </p:nvSpPr>
        <p:spPr>
          <a:xfrm>
            <a:off x="6201461" y="2084832"/>
            <a:ext cx="5429707" cy="29718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1" name="s121"/>
          <p:cNvSpPr/>
          <p:nvPr/>
        </p:nvSpPr>
        <p:spPr>
          <a:xfrm>
            <a:off x="6366053"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2" name="s122"/>
          <p:cNvSpPr/>
          <p:nvPr/>
        </p:nvSpPr>
        <p:spPr>
          <a:xfrm>
            <a:off x="6548933"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3" name="s123"/>
          <p:cNvSpPr/>
          <p:nvPr/>
        </p:nvSpPr>
        <p:spPr>
          <a:xfrm>
            <a:off x="6731813"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4" name="s124"/>
          <p:cNvSpPr/>
          <p:nvPr/>
        </p:nvSpPr>
        <p:spPr>
          <a:xfrm>
            <a:off x="6978701" y="2157984"/>
            <a:ext cx="174650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OrderServiceTests.cs</a:t>
            </a:r>
            <a:endParaRPr lang="en-US" sz="950" dirty="0"/>
          </a:p>
        </p:txBody>
      </p:sp>
      <p:cxnSp>
        <p:nvCxnSpPr>
          <p:cNvPr id="125" name="ln125"/>
          <p:cNvCxnSpPr/>
          <p:nvPr/>
        </p:nvCxnSpPr>
        <p:spPr>
          <a:xfrm>
            <a:off x="6201461" y="2496312"/>
            <a:ext cx="5429707" cy="0"/>
          </a:xfrm>
          <a:prstGeom prst="line">
            <a:avLst/>
          </a:prstGeom>
          <a:ln w="9525">
            <a:solidFill>
              <a:srgbClr val="1E3A5F"/>
            </a:solidFill>
          </a:ln>
        </p:spPr>
      </p:cxnSp>
      <p:sp>
        <p:nvSpPr>
          <p:cNvPr id="126" name="s126"/>
          <p:cNvSpPr/>
          <p:nvPr/>
        </p:nvSpPr>
        <p:spPr>
          <a:xfrm>
            <a:off x="6201461" y="261518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FBBF24"/>
                </a:solidFill>
                <a:latin typeface="Consolas"/>
                <a:ea typeface="Consolas"/>
                <a:cs typeface="Consolas"/>
              </a:rPr>
              <a:t>[Fact]</a:t>
            </a:r>
            <a:endParaRPr lang="en-US" sz="1075" dirty="0"/>
          </a:p>
        </p:txBody>
      </p:sp>
      <p:sp>
        <p:nvSpPr>
          <p:cNvPr id="127" name="s127"/>
          <p:cNvSpPr/>
          <p:nvPr/>
        </p:nvSpPr>
        <p:spPr>
          <a:xfrm>
            <a:off x="6201461" y="277901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60A5FA"/>
                </a:solidFill>
                <a:latin typeface="Consolas"/>
                <a:ea typeface="Consolas"/>
                <a:cs typeface="Consolas"/>
              </a:rPr>
              <a:t>public</a:t>
            </a: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void</a:t>
            </a:r>
            <a:r>
              <a:rPr lang="en-US" sz="1075" b="0" dirty="0">
                <a:solidFill>
                  <a:srgbClr val="E2E8F0"/>
                </a:solidFill>
                <a:latin typeface="Consolas"/>
                <a:ea typeface="Consolas"/>
                <a:cs typeface="Consolas"/>
              </a:rPr>
              <a:t> </a:t>
            </a:r>
            <a:r>
              <a:rPr lang="en-US" sz="1075" b="0" dirty="0">
                <a:solidFill>
                  <a:srgbClr val="7DD3FC"/>
                </a:solidFill>
                <a:latin typeface="Consolas"/>
                <a:ea typeface="Consolas"/>
                <a:cs typeface="Consolas"/>
              </a:rPr>
              <a:t>PlaceOrder_AppliesTheDiscount</a:t>
            </a:r>
            <a:r>
              <a:rPr lang="en-US" sz="1075" b="0" dirty="0">
                <a:solidFill>
                  <a:srgbClr val="E2E8F0"/>
                </a:solidFill>
                <a:latin typeface="Consolas"/>
                <a:ea typeface="Consolas"/>
                <a:cs typeface="Consolas"/>
              </a:rPr>
              <a:t>()</a:t>
            </a:r>
            <a:endParaRPr lang="en-US" sz="1075" dirty="0"/>
          </a:p>
        </p:txBody>
      </p:sp>
      <p:sp>
        <p:nvSpPr>
          <p:cNvPr id="128" name="s128"/>
          <p:cNvSpPr/>
          <p:nvPr/>
        </p:nvSpPr>
        <p:spPr>
          <a:xfrm>
            <a:off x="6201461" y="294284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a:t>
            </a:r>
            <a:endParaRPr lang="en-US" sz="1075" dirty="0"/>
          </a:p>
        </p:txBody>
      </p:sp>
      <p:sp>
        <p:nvSpPr>
          <p:cNvPr id="129" name="s129"/>
          <p:cNvSpPr/>
          <p:nvPr/>
        </p:nvSpPr>
        <p:spPr>
          <a:xfrm>
            <a:off x="6201461" y="310667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var</a:t>
            </a:r>
            <a:r>
              <a:rPr lang="en-US" sz="1075" b="0" dirty="0">
                <a:solidFill>
                  <a:srgbClr val="E2E8F0"/>
                </a:solidFill>
                <a:latin typeface="Consolas"/>
                <a:ea typeface="Consolas"/>
                <a:cs typeface="Consolas"/>
              </a:rPr>
              <a:t> payment = </a:t>
            </a:r>
            <a:r>
              <a:rPr lang="en-US" sz="1075" b="0" dirty="0">
                <a:solidFill>
                  <a:srgbClr val="7DD3FC"/>
                </a:solidFill>
                <a:latin typeface="Consolas"/>
                <a:ea typeface="Consolas"/>
                <a:cs typeface="Consolas"/>
              </a:rPr>
              <a:t>Substitute</a:t>
            </a:r>
            <a:r>
              <a:rPr lang="en-US" sz="1075" b="0" dirty="0">
                <a:solidFill>
                  <a:srgbClr val="E2E8F0"/>
                </a:solidFill>
                <a:latin typeface="Consolas"/>
                <a:ea typeface="Consolas"/>
                <a:cs typeface="Consolas"/>
              </a:rPr>
              <a:t>.</a:t>
            </a:r>
            <a:r>
              <a:rPr lang="en-US" sz="1075" b="0" dirty="0">
                <a:solidFill>
                  <a:srgbClr val="7DD3FC"/>
                </a:solidFill>
                <a:latin typeface="Consolas"/>
                <a:ea typeface="Consolas"/>
                <a:cs typeface="Consolas"/>
              </a:rPr>
              <a:t>For</a:t>
            </a:r>
            <a:r>
              <a:rPr lang="en-US" sz="1075" b="0" dirty="0">
                <a:solidFill>
                  <a:srgbClr val="E2E8F0"/>
                </a:solidFill>
                <a:latin typeface="Consolas"/>
                <a:ea typeface="Consolas"/>
                <a:cs typeface="Consolas"/>
              </a:rPr>
              <a:t>&lt;</a:t>
            </a:r>
            <a:r>
              <a:rPr lang="en-US" sz="1075" b="0" dirty="0">
                <a:solidFill>
                  <a:srgbClr val="7DD3FC"/>
                </a:solidFill>
                <a:latin typeface="Consolas"/>
                <a:ea typeface="Consolas"/>
                <a:cs typeface="Consolas"/>
              </a:rPr>
              <a:t>IPaymentGateway</a:t>
            </a:r>
            <a:r>
              <a:rPr lang="en-US" sz="1075" b="0" dirty="0">
                <a:solidFill>
                  <a:srgbClr val="E2E8F0"/>
                </a:solidFill>
                <a:latin typeface="Consolas"/>
                <a:ea typeface="Consolas"/>
                <a:cs typeface="Consolas"/>
              </a:rPr>
              <a:t>&gt;();</a:t>
            </a:r>
            <a:endParaRPr lang="en-US" sz="1075" dirty="0"/>
          </a:p>
        </p:txBody>
      </p:sp>
      <p:sp>
        <p:nvSpPr>
          <p:cNvPr id="130" name="s130"/>
          <p:cNvSpPr/>
          <p:nvPr/>
        </p:nvSpPr>
        <p:spPr>
          <a:xfrm>
            <a:off x="6201461" y="327050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    payment.</a:t>
            </a:r>
            <a:r>
              <a:rPr lang="en-US" sz="1075" b="0" dirty="0">
                <a:solidFill>
                  <a:srgbClr val="7DD3FC"/>
                </a:solidFill>
                <a:latin typeface="Consolas"/>
                <a:ea typeface="Consolas"/>
                <a:cs typeface="Consolas"/>
              </a:rPr>
              <a:t>Charge</a:t>
            </a:r>
            <a:r>
              <a:rPr lang="en-US" sz="1075" b="0" dirty="0">
                <a:solidFill>
                  <a:srgbClr val="E2E8F0"/>
                </a:solidFill>
                <a:latin typeface="Consolas"/>
                <a:ea typeface="Consolas"/>
                <a:cs typeface="Consolas"/>
              </a:rPr>
              <a:t>(</a:t>
            </a:r>
            <a:r>
              <a:rPr lang="en-US" sz="1075" b="0" dirty="0">
                <a:solidFill>
                  <a:srgbClr val="7DD3FC"/>
                </a:solidFill>
                <a:latin typeface="Consolas"/>
                <a:ea typeface="Consolas"/>
                <a:cs typeface="Consolas"/>
              </a:rPr>
              <a:t>Arg</a:t>
            </a:r>
            <a:r>
              <a:rPr lang="en-US" sz="1075" b="0" dirty="0">
                <a:solidFill>
                  <a:srgbClr val="E2E8F0"/>
                </a:solidFill>
                <a:latin typeface="Consolas"/>
                <a:ea typeface="Consolas"/>
                <a:cs typeface="Consolas"/>
              </a:rPr>
              <a:t>.</a:t>
            </a:r>
            <a:r>
              <a:rPr lang="en-US" sz="1075" b="0" dirty="0">
                <a:solidFill>
                  <a:srgbClr val="7DD3FC"/>
                </a:solidFill>
                <a:latin typeface="Consolas"/>
                <a:ea typeface="Consolas"/>
                <a:cs typeface="Consolas"/>
              </a:rPr>
              <a:t>Any</a:t>
            </a:r>
            <a:r>
              <a:rPr lang="en-US" sz="1075" b="0" dirty="0">
                <a:solidFill>
                  <a:srgbClr val="E2E8F0"/>
                </a:solidFill>
                <a:latin typeface="Consolas"/>
                <a:ea typeface="Consolas"/>
                <a:cs typeface="Consolas"/>
              </a:rPr>
              <a:t>&lt;</a:t>
            </a:r>
            <a:r>
              <a:rPr lang="en-US" sz="1075" b="0" dirty="0">
                <a:solidFill>
                  <a:srgbClr val="60A5FA"/>
                </a:solidFill>
                <a:latin typeface="Consolas"/>
                <a:ea typeface="Consolas"/>
                <a:cs typeface="Consolas"/>
              </a:rPr>
              <a:t>decimal</a:t>
            </a:r>
            <a:r>
              <a:rPr lang="en-US" sz="1075" b="0" dirty="0">
                <a:solidFill>
                  <a:srgbClr val="E2E8F0"/>
                </a:solidFill>
                <a:latin typeface="Consolas"/>
                <a:ea typeface="Consolas"/>
                <a:cs typeface="Consolas"/>
              </a:rPr>
              <a:t>&gt;()).</a:t>
            </a:r>
            <a:r>
              <a:rPr lang="en-US" sz="1075" b="0" dirty="0">
                <a:solidFill>
                  <a:srgbClr val="7DD3FC"/>
                </a:solidFill>
                <a:latin typeface="Consolas"/>
                <a:ea typeface="Consolas"/>
                <a:cs typeface="Consolas"/>
              </a:rPr>
              <a:t>Returns</a:t>
            </a:r>
            <a:r>
              <a:rPr lang="en-US" sz="1075" b="0" dirty="0">
                <a:solidFill>
                  <a:srgbClr val="E2E8F0"/>
                </a:solidFill>
                <a:latin typeface="Consolas"/>
                <a:ea typeface="Consolas"/>
                <a:cs typeface="Consolas"/>
              </a:rPr>
              <a:t>(</a:t>
            </a:r>
            <a:r>
              <a:rPr lang="en-US" sz="1075" b="0" dirty="0">
                <a:solidFill>
                  <a:srgbClr val="60A5FA"/>
                </a:solidFill>
                <a:latin typeface="Consolas"/>
                <a:ea typeface="Consolas"/>
                <a:cs typeface="Consolas"/>
              </a:rPr>
              <a:t>true</a:t>
            </a:r>
            <a:r>
              <a:rPr lang="en-US" sz="1075" b="0" dirty="0">
                <a:solidFill>
                  <a:srgbClr val="E2E8F0"/>
                </a:solidFill>
                <a:latin typeface="Consolas"/>
                <a:ea typeface="Consolas"/>
                <a:cs typeface="Consolas"/>
              </a:rPr>
              <a:t>);</a:t>
            </a:r>
            <a:endParaRPr lang="en-US" sz="1075" dirty="0"/>
          </a:p>
        </p:txBody>
      </p:sp>
      <p:sp>
        <p:nvSpPr>
          <p:cNvPr id="131" name="s131"/>
          <p:cNvSpPr/>
          <p:nvPr/>
        </p:nvSpPr>
        <p:spPr>
          <a:xfrm>
            <a:off x="6201461" y="359816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    </a:t>
            </a:r>
            <a:r>
              <a:rPr lang="en-US" sz="1075" b="0" dirty="0">
                <a:solidFill>
                  <a:srgbClr val="60A5FA"/>
                </a:solidFill>
                <a:latin typeface="Consolas"/>
                <a:ea typeface="Consolas"/>
                <a:cs typeface="Consolas"/>
              </a:rPr>
              <a:t>new</a:t>
            </a:r>
            <a:r>
              <a:rPr lang="en-US" sz="1075" b="0" dirty="0">
                <a:solidFill>
                  <a:srgbClr val="E2E8F0"/>
                </a:solidFill>
                <a:latin typeface="Consolas"/>
                <a:ea typeface="Consolas"/>
                <a:cs typeface="Consolas"/>
              </a:rPr>
              <a:t> </a:t>
            </a:r>
            <a:r>
              <a:rPr lang="en-US" sz="1075" b="0" dirty="0">
                <a:solidFill>
                  <a:srgbClr val="7DD3FC"/>
                </a:solidFill>
                <a:latin typeface="Consolas"/>
                <a:ea typeface="Consolas"/>
                <a:cs typeface="Consolas"/>
              </a:rPr>
              <a:t>OrderService</a:t>
            </a:r>
            <a:r>
              <a:rPr lang="en-US" sz="1075" b="0" dirty="0">
                <a:solidFill>
                  <a:srgbClr val="E2E8F0"/>
                </a:solidFill>
                <a:latin typeface="Consolas"/>
                <a:ea typeface="Consolas"/>
                <a:cs typeface="Consolas"/>
              </a:rPr>
              <a:t>(payment).</a:t>
            </a:r>
            <a:r>
              <a:rPr lang="en-US" sz="1075" b="0" dirty="0">
                <a:solidFill>
                  <a:srgbClr val="7DD3FC"/>
                </a:solidFill>
                <a:latin typeface="Consolas"/>
                <a:ea typeface="Consolas"/>
                <a:cs typeface="Consolas"/>
              </a:rPr>
              <a:t>PlaceOrder</a:t>
            </a:r>
            <a:r>
              <a:rPr lang="en-US" sz="1075" b="0" dirty="0">
                <a:solidFill>
                  <a:srgbClr val="E2E8F0"/>
                </a:solidFill>
                <a:latin typeface="Consolas"/>
                <a:ea typeface="Consolas"/>
                <a:cs typeface="Consolas"/>
              </a:rPr>
              <a:t>(</a:t>
            </a:r>
            <a:r>
              <a:rPr lang="en-US" sz="1075" b="0" dirty="0">
                <a:solidFill>
                  <a:srgbClr val="C4B5FD"/>
                </a:solidFill>
                <a:latin typeface="Consolas"/>
                <a:ea typeface="Consolas"/>
                <a:cs typeface="Consolas"/>
              </a:rPr>
              <a:t>100m</a:t>
            </a:r>
            <a:r>
              <a:rPr lang="en-US" sz="1075" b="0" dirty="0">
                <a:solidFill>
                  <a:srgbClr val="E2E8F0"/>
                </a:solidFill>
                <a:latin typeface="Consolas"/>
                <a:ea typeface="Consolas"/>
                <a:cs typeface="Consolas"/>
              </a:rPr>
              <a:t>, </a:t>
            </a:r>
            <a:r>
              <a:rPr lang="en-US" sz="1075" b="0" dirty="0">
                <a:solidFill>
                  <a:srgbClr val="C4B5FD"/>
                </a:solidFill>
                <a:latin typeface="Consolas"/>
                <a:ea typeface="Consolas"/>
                <a:cs typeface="Consolas"/>
              </a:rPr>
              <a:t>20m</a:t>
            </a:r>
            <a:r>
              <a:rPr lang="en-US" sz="1075" b="0" dirty="0">
                <a:solidFill>
                  <a:srgbClr val="E2E8F0"/>
                </a:solidFill>
                <a:latin typeface="Consolas"/>
                <a:ea typeface="Consolas"/>
                <a:cs typeface="Consolas"/>
              </a:rPr>
              <a:t>);</a:t>
            </a:r>
            <a:endParaRPr lang="en-US" sz="1075" dirty="0"/>
          </a:p>
        </p:txBody>
      </p:sp>
      <p:sp>
        <p:nvSpPr>
          <p:cNvPr id="132" name="s132"/>
          <p:cNvSpPr/>
          <p:nvPr/>
        </p:nvSpPr>
        <p:spPr>
          <a:xfrm>
            <a:off x="6201461" y="392582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    payment.</a:t>
            </a:r>
            <a:r>
              <a:rPr lang="en-US" sz="1075" b="0" dirty="0">
                <a:solidFill>
                  <a:srgbClr val="7DD3FC"/>
                </a:solidFill>
                <a:latin typeface="Consolas"/>
                <a:ea typeface="Consolas"/>
                <a:cs typeface="Consolas"/>
              </a:rPr>
              <a:t>Received</a:t>
            </a:r>
            <a:r>
              <a:rPr lang="en-US" sz="1075" b="0" dirty="0">
                <a:solidFill>
                  <a:srgbClr val="E2E8F0"/>
                </a:solidFill>
                <a:latin typeface="Consolas"/>
                <a:ea typeface="Consolas"/>
                <a:cs typeface="Consolas"/>
              </a:rPr>
              <a:t>(</a:t>
            </a:r>
            <a:r>
              <a:rPr lang="en-US" sz="1075" b="0" dirty="0">
                <a:solidFill>
                  <a:srgbClr val="C4B5FD"/>
                </a:solidFill>
                <a:latin typeface="Consolas"/>
                <a:ea typeface="Consolas"/>
                <a:cs typeface="Consolas"/>
              </a:rPr>
              <a:t>1</a:t>
            </a:r>
            <a:r>
              <a:rPr lang="en-US" sz="1075" b="0" dirty="0">
                <a:solidFill>
                  <a:srgbClr val="E2E8F0"/>
                </a:solidFill>
                <a:latin typeface="Consolas"/>
                <a:ea typeface="Consolas"/>
                <a:cs typeface="Consolas"/>
              </a:rPr>
              <a:t>).</a:t>
            </a:r>
            <a:r>
              <a:rPr lang="en-US" sz="1075" b="0" dirty="0">
                <a:solidFill>
                  <a:srgbClr val="7DD3FC"/>
                </a:solidFill>
                <a:latin typeface="Consolas"/>
                <a:ea typeface="Consolas"/>
                <a:cs typeface="Consolas"/>
              </a:rPr>
              <a:t>Charge</a:t>
            </a:r>
            <a:r>
              <a:rPr lang="en-US" sz="1075" b="0" dirty="0">
                <a:solidFill>
                  <a:srgbClr val="E2E8F0"/>
                </a:solidFill>
                <a:latin typeface="Consolas"/>
                <a:ea typeface="Consolas"/>
                <a:cs typeface="Consolas"/>
              </a:rPr>
              <a:t>(</a:t>
            </a:r>
            <a:r>
              <a:rPr lang="en-US" sz="1075" b="0" dirty="0">
                <a:solidFill>
                  <a:srgbClr val="C4B5FD"/>
                </a:solidFill>
                <a:latin typeface="Consolas"/>
                <a:ea typeface="Consolas"/>
                <a:cs typeface="Consolas"/>
              </a:rPr>
              <a:t>80m</a:t>
            </a:r>
            <a:r>
              <a:rPr lang="en-US" sz="1075" b="0" dirty="0">
                <a:solidFill>
                  <a:srgbClr val="E2E8F0"/>
                </a:solidFill>
                <a:latin typeface="Consolas"/>
                <a:ea typeface="Consolas"/>
                <a:cs typeface="Consolas"/>
              </a:rPr>
              <a:t>);  </a:t>
            </a:r>
            <a:r>
              <a:rPr lang="en-US" sz="1075" b="0" dirty="0">
                <a:solidFill>
                  <a:srgbClr val="6FAE7A"/>
                </a:solidFill>
                <a:latin typeface="Consolas"/>
                <a:ea typeface="Consolas"/>
                <a:cs typeface="Consolas"/>
              </a:rPr>
              <a:t>// math via a mock</a:t>
            </a:r>
            <a:endParaRPr lang="en-US" sz="1075" dirty="0"/>
          </a:p>
        </p:txBody>
      </p:sp>
      <p:sp>
        <p:nvSpPr>
          <p:cNvPr id="133" name="s133"/>
          <p:cNvSpPr/>
          <p:nvPr/>
        </p:nvSpPr>
        <p:spPr>
          <a:xfrm>
            <a:off x="6201461" y="4089654"/>
            <a:ext cx="5429707" cy="16383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75" b="0" dirty="0">
                <a:solidFill>
                  <a:srgbClr val="E2E8F0"/>
                </a:solidFill>
                <a:latin typeface="Consolas"/>
                <a:ea typeface="Consolas"/>
                <a:cs typeface="Consolas"/>
              </a:rPr>
              <a:t>}</a:t>
            </a:r>
            <a:endParaRPr lang="en-US" sz="1075" dirty="0"/>
          </a:p>
        </p:txBody>
      </p:sp>
      <p:sp>
        <p:nvSpPr>
          <p:cNvPr id="134" name="s134"/>
          <p:cNvSpPr/>
          <p:nvPr/>
        </p:nvSpPr>
        <p:spPr>
          <a:xfrm>
            <a:off x="652882" y="4062222"/>
            <a:ext cx="5210251" cy="21869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35" name="s135"/>
          <p:cNvSpPr/>
          <p:nvPr/>
        </p:nvSpPr>
        <p:spPr>
          <a:xfrm>
            <a:off x="543154" y="5193792"/>
            <a:ext cx="11088014" cy="1060704"/>
          </a:xfrm>
          <a:prstGeom prst="roundRect">
            <a:avLst>
              <a:gd name="adj" fmla="val 10000"/>
            </a:avLst>
          </a:prstGeom>
          <a:solidFill>
            <a:srgbClr val="F87171">
              <a:alpha val="10000"/>
            </a:srgbClr>
          </a:solidFill>
          <a:ln w="12700">
            <a:solidFill>
              <a:srgbClr val="F87171"/>
            </a:solidFill>
            <a:prstDash val="solid"/>
          </a:ln>
        </p:spPr>
        <p:txBody>
          <a:bodyPr wrap="square" lIns="228600" tIns="54864" rIns="182880" bIns="54864" rtlCol="0" anchor="ctr">
            <a:noAutofit/>
          </a:bodyPr>
          <a:lstStyle/>
          <a:p>
            <a:pPr marL="0" indent="0" algn="ctr">
              <a:spcBef>
                <a:spcPts val="0"/>
              </a:spcBef>
              <a:spcAft>
                <a:spcPts val="0"/>
              </a:spcAft>
              <a:buNone/>
            </a:pPr>
            <a:r>
              <a:rPr lang="en-US" sz="1400" b="1" dirty="0">
                <a:solidFill>
                  <a:srgbClr val="F87171"/>
                </a:solidFill>
                <a:latin typeface="Segoe UI"/>
                <a:ea typeface="Segoe UI"/>
                <a:cs typeface="Segoe UI"/>
              </a:rPr>
              <a:t>✗  DON'T   </a:t>
            </a:r>
            <a:r>
              <a:rPr lang="en-US" sz="1400" b="0" dirty="0">
                <a:solidFill>
                  <a:srgbClr val="E2E8F0"/>
                </a:solidFill>
                <a:latin typeface="Segoe UI"/>
                <a:ea typeface="Segoe UI"/>
                <a:cs typeface="Segoe UI"/>
              </a:rPr>
              <a:t>mix business rules with calls to the outside world.  Then even simple math needs mocks to be tested.</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11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11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11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11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11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nodeType="withEffect">
                                  <p:stCondLst>
                                    <p:cond delay="11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11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11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11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11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11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11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11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11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11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11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11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2" presetClass="entr" presetSubtype="0" fill="hold" grpId="0" nodeType="clickEffect">
                                  <p:stCondLst>
                                    <p:cond delay="0"/>
                                  </p:stCondLst>
                                  <p:childTnLst>
                                    <p:set>
                                      <p:cBhvr>
                                        <p:cTn id="80" dur="1" fill="hold">
                                          <p:stCondLst>
                                            <p:cond delay="0"/>
                                          </p:stCondLst>
                                        </p:cTn>
                                        <p:tgtEl>
                                          <p:spTgt spid="119"/>
                                        </p:tgtEl>
                                        <p:attrNameLst>
                                          <p:attrName>style.visibility</p:attrName>
                                        </p:attrNameLst>
                                      </p:cBhvr>
                                      <p:to>
                                        <p:strVal val="visible"/>
                                      </p:to>
                                    </p:set>
                                    <p:animEffect transition="in" filter="fade">
                                      <p:cBhvr>
                                        <p:cTn id="81" dur="500"/>
                                        <p:tgtEl>
                                          <p:spTgt spid="119"/>
                                        </p:tgtEl>
                                      </p:cBhvr>
                                    </p:animEffect>
                                    <p:anim calcmode="lin" valueType="num">
                                      <p:cBhvr additive="base">
                                        <p:cTn id="82" dur="500" decel="100000" fill="hold"/>
                                        <p:tgtEl>
                                          <p:spTgt spid="119"/>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110"/>
                                  </p:stCondLst>
                                  <p:childTnLst>
                                    <p:set>
                                      <p:cBhvr>
                                        <p:cTn id="84" dur="1" fill="hold">
                                          <p:stCondLst>
                                            <p:cond delay="0"/>
                                          </p:stCondLst>
                                        </p:cTn>
                                        <p:tgtEl>
                                          <p:spTgt spid="120"/>
                                        </p:tgtEl>
                                        <p:attrNameLst>
                                          <p:attrName>style.visibility</p:attrName>
                                        </p:attrNameLst>
                                      </p:cBhvr>
                                      <p:to>
                                        <p:strVal val="visible"/>
                                      </p:to>
                                    </p:set>
                                    <p:animEffect transition="in" filter="fade">
                                      <p:cBhvr>
                                        <p:cTn id="85" dur="500"/>
                                        <p:tgtEl>
                                          <p:spTgt spid="120"/>
                                        </p:tgtEl>
                                      </p:cBhvr>
                                    </p:animEffect>
                                    <p:anim calcmode="lin" valueType="num">
                                      <p:cBhvr additive="base">
                                        <p:cTn id="86" dur="500" decel="100000" fill="hold"/>
                                        <p:tgtEl>
                                          <p:spTgt spid="120"/>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110"/>
                                  </p:stCondLst>
                                  <p:childTnLst>
                                    <p:set>
                                      <p:cBhvr>
                                        <p:cTn id="88" dur="1" fill="hold">
                                          <p:stCondLst>
                                            <p:cond delay="0"/>
                                          </p:stCondLst>
                                        </p:cTn>
                                        <p:tgtEl>
                                          <p:spTgt spid="121"/>
                                        </p:tgtEl>
                                        <p:attrNameLst>
                                          <p:attrName>style.visibility</p:attrName>
                                        </p:attrNameLst>
                                      </p:cBhvr>
                                      <p:to>
                                        <p:strVal val="visible"/>
                                      </p:to>
                                    </p:set>
                                    <p:animEffect transition="in" filter="fade">
                                      <p:cBhvr>
                                        <p:cTn id="89" dur="500"/>
                                        <p:tgtEl>
                                          <p:spTgt spid="121"/>
                                        </p:tgtEl>
                                      </p:cBhvr>
                                    </p:animEffect>
                                    <p:anim calcmode="lin" valueType="num">
                                      <p:cBhvr additive="base">
                                        <p:cTn id="90" dur="500" decel="100000" fill="hold"/>
                                        <p:tgtEl>
                                          <p:spTgt spid="121"/>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110"/>
                                  </p:stCondLst>
                                  <p:childTnLst>
                                    <p:set>
                                      <p:cBhvr>
                                        <p:cTn id="92" dur="1" fill="hold">
                                          <p:stCondLst>
                                            <p:cond delay="0"/>
                                          </p:stCondLst>
                                        </p:cTn>
                                        <p:tgtEl>
                                          <p:spTgt spid="122"/>
                                        </p:tgtEl>
                                        <p:attrNameLst>
                                          <p:attrName>style.visibility</p:attrName>
                                        </p:attrNameLst>
                                      </p:cBhvr>
                                      <p:to>
                                        <p:strVal val="visible"/>
                                      </p:to>
                                    </p:set>
                                    <p:animEffect transition="in" filter="fade">
                                      <p:cBhvr>
                                        <p:cTn id="93" dur="500"/>
                                        <p:tgtEl>
                                          <p:spTgt spid="122"/>
                                        </p:tgtEl>
                                      </p:cBhvr>
                                    </p:animEffect>
                                    <p:anim calcmode="lin" valueType="num">
                                      <p:cBhvr additive="base">
                                        <p:cTn id="94" dur="500" decel="100000" fill="hold"/>
                                        <p:tgtEl>
                                          <p:spTgt spid="122"/>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110"/>
                                  </p:stCondLst>
                                  <p:childTnLst>
                                    <p:set>
                                      <p:cBhvr>
                                        <p:cTn id="96" dur="1" fill="hold">
                                          <p:stCondLst>
                                            <p:cond delay="0"/>
                                          </p:stCondLst>
                                        </p:cTn>
                                        <p:tgtEl>
                                          <p:spTgt spid="123"/>
                                        </p:tgtEl>
                                        <p:attrNameLst>
                                          <p:attrName>style.visibility</p:attrName>
                                        </p:attrNameLst>
                                      </p:cBhvr>
                                      <p:to>
                                        <p:strVal val="visible"/>
                                      </p:to>
                                    </p:set>
                                    <p:animEffect transition="in" filter="fade">
                                      <p:cBhvr>
                                        <p:cTn id="97" dur="500"/>
                                        <p:tgtEl>
                                          <p:spTgt spid="123"/>
                                        </p:tgtEl>
                                      </p:cBhvr>
                                    </p:animEffect>
                                    <p:anim calcmode="lin" valueType="num">
                                      <p:cBhvr additive="base">
                                        <p:cTn id="98" dur="500" decel="100000" fill="hold"/>
                                        <p:tgtEl>
                                          <p:spTgt spid="123"/>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110"/>
                                  </p:stCondLst>
                                  <p:childTnLst>
                                    <p:set>
                                      <p:cBhvr>
                                        <p:cTn id="100" dur="1" fill="hold">
                                          <p:stCondLst>
                                            <p:cond delay="0"/>
                                          </p:stCondLst>
                                        </p:cTn>
                                        <p:tgtEl>
                                          <p:spTgt spid="124"/>
                                        </p:tgtEl>
                                        <p:attrNameLst>
                                          <p:attrName>style.visibility</p:attrName>
                                        </p:attrNameLst>
                                      </p:cBhvr>
                                      <p:to>
                                        <p:strVal val="visible"/>
                                      </p:to>
                                    </p:set>
                                    <p:animEffect transition="in" filter="fade">
                                      <p:cBhvr>
                                        <p:cTn id="101" dur="500"/>
                                        <p:tgtEl>
                                          <p:spTgt spid="124"/>
                                        </p:tgtEl>
                                      </p:cBhvr>
                                    </p:animEffect>
                                    <p:anim calcmode="lin" valueType="num">
                                      <p:cBhvr additive="base">
                                        <p:cTn id="102" dur="500" decel="100000" fill="hold"/>
                                        <p:tgtEl>
                                          <p:spTgt spid="124"/>
                                        </p:tgtEl>
                                        <p:attrNameLst>
                                          <p:attrName>ppt_y</p:attrName>
                                        </p:attrNameLst>
                                      </p:cBhvr>
                                      <p:tavLst>
                                        <p:tav tm="0">
                                          <p:val>
                                            <p:strVal val="#ppt_y+0.06"/>
                                          </p:val>
                                        </p:tav>
                                        <p:tav tm="100000">
                                          <p:val>
                                            <p:strVal val="#ppt_y"/>
                                          </p:val>
                                        </p:tav>
                                      </p:tavLst>
                                    </p:anim>
                                  </p:childTnLst>
                                </p:cTn>
                              </p:par>
                              <p:par>
                                <p:cTn id="103" presetID="42" presetClass="entr" presetSubtype="0" fill="hold" nodeType="withEffect">
                                  <p:stCondLst>
                                    <p:cond delay="110"/>
                                  </p:stCondLst>
                                  <p:childTnLst>
                                    <p:set>
                                      <p:cBhvr>
                                        <p:cTn id="104" dur="1" fill="hold">
                                          <p:stCondLst>
                                            <p:cond delay="0"/>
                                          </p:stCondLst>
                                        </p:cTn>
                                        <p:tgtEl>
                                          <p:spTgt spid="125"/>
                                        </p:tgtEl>
                                        <p:attrNameLst>
                                          <p:attrName>style.visibility</p:attrName>
                                        </p:attrNameLst>
                                      </p:cBhvr>
                                      <p:to>
                                        <p:strVal val="visible"/>
                                      </p:to>
                                    </p:set>
                                    <p:animEffect transition="in" filter="fade">
                                      <p:cBhvr>
                                        <p:cTn id="105" dur="500"/>
                                        <p:tgtEl>
                                          <p:spTgt spid="125"/>
                                        </p:tgtEl>
                                      </p:cBhvr>
                                    </p:animEffect>
                                    <p:anim calcmode="lin" valueType="num">
                                      <p:cBhvr additive="base">
                                        <p:cTn id="106" dur="500" decel="100000" fill="hold"/>
                                        <p:tgtEl>
                                          <p:spTgt spid="125"/>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110"/>
                                  </p:stCondLst>
                                  <p:childTnLst>
                                    <p:set>
                                      <p:cBhvr>
                                        <p:cTn id="108" dur="1" fill="hold">
                                          <p:stCondLst>
                                            <p:cond delay="0"/>
                                          </p:stCondLst>
                                        </p:cTn>
                                        <p:tgtEl>
                                          <p:spTgt spid="126"/>
                                        </p:tgtEl>
                                        <p:attrNameLst>
                                          <p:attrName>style.visibility</p:attrName>
                                        </p:attrNameLst>
                                      </p:cBhvr>
                                      <p:to>
                                        <p:strVal val="visible"/>
                                      </p:to>
                                    </p:set>
                                    <p:animEffect transition="in" filter="fade">
                                      <p:cBhvr>
                                        <p:cTn id="109" dur="500"/>
                                        <p:tgtEl>
                                          <p:spTgt spid="126"/>
                                        </p:tgtEl>
                                      </p:cBhvr>
                                    </p:animEffect>
                                    <p:anim calcmode="lin" valueType="num">
                                      <p:cBhvr additive="base">
                                        <p:cTn id="110" dur="500" decel="100000" fill="hold"/>
                                        <p:tgtEl>
                                          <p:spTgt spid="126"/>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110"/>
                                  </p:stCondLst>
                                  <p:childTnLst>
                                    <p:set>
                                      <p:cBhvr>
                                        <p:cTn id="112" dur="1" fill="hold">
                                          <p:stCondLst>
                                            <p:cond delay="0"/>
                                          </p:stCondLst>
                                        </p:cTn>
                                        <p:tgtEl>
                                          <p:spTgt spid="127"/>
                                        </p:tgtEl>
                                        <p:attrNameLst>
                                          <p:attrName>style.visibility</p:attrName>
                                        </p:attrNameLst>
                                      </p:cBhvr>
                                      <p:to>
                                        <p:strVal val="visible"/>
                                      </p:to>
                                    </p:set>
                                    <p:animEffect transition="in" filter="fade">
                                      <p:cBhvr>
                                        <p:cTn id="113" dur="500"/>
                                        <p:tgtEl>
                                          <p:spTgt spid="127"/>
                                        </p:tgtEl>
                                      </p:cBhvr>
                                    </p:animEffect>
                                    <p:anim calcmode="lin" valueType="num">
                                      <p:cBhvr additive="base">
                                        <p:cTn id="114" dur="500" decel="100000" fill="hold"/>
                                        <p:tgtEl>
                                          <p:spTgt spid="127"/>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110"/>
                                  </p:stCondLst>
                                  <p:childTnLst>
                                    <p:set>
                                      <p:cBhvr>
                                        <p:cTn id="116" dur="1" fill="hold">
                                          <p:stCondLst>
                                            <p:cond delay="0"/>
                                          </p:stCondLst>
                                        </p:cTn>
                                        <p:tgtEl>
                                          <p:spTgt spid="128"/>
                                        </p:tgtEl>
                                        <p:attrNameLst>
                                          <p:attrName>style.visibility</p:attrName>
                                        </p:attrNameLst>
                                      </p:cBhvr>
                                      <p:to>
                                        <p:strVal val="visible"/>
                                      </p:to>
                                    </p:set>
                                    <p:animEffect transition="in" filter="fade">
                                      <p:cBhvr>
                                        <p:cTn id="117" dur="500"/>
                                        <p:tgtEl>
                                          <p:spTgt spid="128"/>
                                        </p:tgtEl>
                                      </p:cBhvr>
                                    </p:animEffect>
                                    <p:anim calcmode="lin" valueType="num">
                                      <p:cBhvr additive="base">
                                        <p:cTn id="118" dur="500" decel="100000" fill="hold"/>
                                        <p:tgtEl>
                                          <p:spTgt spid="128"/>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110"/>
                                  </p:stCondLst>
                                  <p:childTnLst>
                                    <p:set>
                                      <p:cBhvr>
                                        <p:cTn id="120" dur="1" fill="hold">
                                          <p:stCondLst>
                                            <p:cond delay="0"/>
                                          </p:stCondLst>
                                        </p:cTn>
                                        <p:tgtEl>
                                          <p:spTgt spid="129"/>
                                        </p:tgtEl>
                                        <p:attrNameLst>
                                          <p:attrName>style.visibility</p:attrName>
                                        </p:attrNameLst>
                                      </p:cBhvr>
                                      <p:to>
                                        <p:strVal val="visible"/>
                                      </p:to>
                                    </p:set>
                                    <p:animEffect transition="in" filter="fade">
                                      <p:cBhvr>
                                        <p:cTn id="121" dur="500"/>
                                        <p:tgtEl>
                                          <p:spTgt spid="129"/>
                                        </p:tgtEl>
                                      </p:cBhvr>
                                    </p:animEffect>
                                    <p:anim calcmode="lin" valueType="num">
                                      <p:cBhvr additive="base">
                                        <p:cTn id="122" dur="500" decel="100000" fill="hold"/>
                                        <p:tgtEl>
                                          <p:spTgt spid="129"/>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110"/>
                                  </p:stCondLst>
                                  <p:childTnLst>
                                    <p:set>
                                      <p:cBhvr>
                                        <p:cTn id="124" dur="1" fill="hold">
                                          <p:stCondLst>
                                            <p:cond delay="0"/>
                                          </p:stCondLst>
                                        </p:cTn>
                                        <p:tgtEl>
                                          <p:spTgt spid="130"/>
                                        </p:tgtEl>
                                        <p:attrNameLst>
                                          <p:attrName>style.visibility</p:attrName>
                                        </p:attrNameLst>
                                      </p:cBhvr>
                                      <p:to>
                                        <p:strVal val="visible"/>
                                      </p:to>
                                    </p:set>
                                    <p:animEffect transition="in" filter="fade">
                                      <p:cBhvr>
                                        <p:cTn id="125" dur="500"/>
                                        <p:tgtEl>
                                          <p:spTgt spid="130"/>
                                        </p:tgtEl>
                                      </p:cBhvr>
                                    </p:animEffect>
                                    <p:anim calcmode="lin" valueType="num">
                                      <p:cBhvr additive="base">
                                        <p:cTn id="126" dur="500" decel="100000" fill="hold"/>
                                        <p:tgtEl>
                                          <p:spTgt spid="130"/>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110"/>
                                  </p:stCondLst>
                                  <p:childTnLst>
                                    <p:set>
                                      <p:cBhvr>
                                        <p:cTn id="128" dur="1" fill="hold">
                                          <p:stCondLst>
                                            <p:cond delay="0"/>
                                          </p:stCondLst>
                                        </p:cTn>
                                        <p:tgtEl>
                                          <p:spTgt spid="131"/>
                                        </p:tgtEl>
                                        <p:attrNameLst>
                                          <p:attrName>style.visibility</p:attrName>
                                        </p:attrNameLst>
                                      </p:cBhvr>
                                      <p:to>
                                        <p:strVal val="visible"/>
                                      </p:to>
                                    </p:set>
                                    <p:animEffect transition="in" filter="fade">
                                      <p:cBhvr>
                                        <p:cTn id="129" dur="500"/>
                                        <p:tgtEl>
                                          <p:spTgt spid="131"/>
                                        </p:tgtEl>
                                      </p:cBhvr>
                                    </p:animEffect>
                                    <p:anim calcmode="lin" valueType="num">
                                      <p:cBhvr additive="base">
                                        <p:cTn id="130" dur="500" decel="100000" fill="hold"/>
                                        <p:tgtEl>
                                          <p:spTgt spid="131"/>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110"/>
                                  </p:stCondLst>
                                  <p:childTnLst>
                                    <p:set>
                                      <p:cBhvr>
                                        <p:cTn id="132" dur="1" fill="hold">
                                          <p:stCondLst>
                                            <p:cond delay="0"/>
                                          </p:stCondLst>
                                        </p:cTn>
                                        <p:tgtEl>
                                          <p:spTgt spid="132"/>
                                        </p:tgtEl>
                                        <p:attrNameLst>
                                          <p:attrName>style.visibility</p:attrName>
                                        </p:attrNameLst>
                                      </p:cBhvr>
                                      <p:to>
                                        <p:strVal val="visible"/>
                                      </p:to>
                                    </p:set>
                                    <p:animEffect transition="in" filter="fade">
                                      <p:cBhvr>
                                        <p:cTn id="133" dur="500"/>
                                        <p:tgtEl>
                                          <p:spTgt spid="132"/>
                                        </p:tgtEl>
                                      </p:cBhvr>
                                    </p:animEffect>
                                    <p:anim calcmode="lin" valueType="num">
                                      <p:cBhvr additive="base">
                                        <p:cTn id="134" dur="500" decel="100000" fill="hold"/>
                                        <p:tgtEl>
                                          <p:spTgt spid="132"/>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110"/>
                                  </p:stCondLst>
                                  <p:childTnLst>
                                    <p:set>
                                      <p:cBhvr>
                                        <p:cTn id="136" dur="1" fill="hold">
                                          <p:stCondLst>
                                            <p:cond delay="0"/>
                                          </p:stCondLst>
                                        </p:cTn>
                                        <p:tgtEl>
                                          <p:spTgt spid="133"/>
                                        </p:tgtEl>
                                        <p:attrNameLst>
                                          <p:attrName>style.visibility</p:attrName>
                                        </p:attrNameLst>
                                      </p:cBhvr>
                                      <p:to>
                                        <p:strVal val="visible"/>
                                      </p:to>
                                    </p:set>
                                    <p:animEffect transition="in" filter="fade">
                                      <p:cBhvr>
                                        <p:cTn id="137" dur="500"/>
                                        <p:tgtEl>
                                          <p:spTgt spid="133"/>
                                        </p:tgtEl>
                                      </p:cBhvr>
                                    </p:animEffect>
                                    <p:anim calcmode="lin" valueType="num">
                                      <p:cBhvr additive="base">
                                        <p:cTn id="138" dur="500" decel="100000" fill="hold"/>
                                        <p:tgtEl>
                                          <p:spTgt spid="133"/>
                                        </p:tgtEl>
                                        <p:attrNameLst>
                                          <p:attrName>ppt_y</p:attrName>
                                        </p:attrNameLst>
                                      </p:cBhvr>
                                      <p:tavLst>
                                        <p:tav tm="0">
                                          <p:val>
                                            <p:strVal val="#ppt_y+0.06"/>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53" presetClass="entr" presetSubtype="16" fill="hold" grpId="0" nodeType="clickEffect">
                                  <p:stCondLst>
                                    <p:cond delay="0"/>
                                  </p:stCondLst>
                                  <p:childTnLst>
                                    <p:set>
                                      <p:cBhvr>
                                        <p:cTn id="142" dur="1" fill="hold">
                                          <p:stCondLst>
                                            <p:cond delay="0"/>
                                          </p:stCondLst>
                                        </p:cTn>
                                        <p:tgtEl>
                                          <p:spTgt spid="134"/>
                                        </p:tgtEl>
                                        <p:attrNameLst>
                                          <p:attrName>style.visibility</p:attrName>
                                        </p:attrNameLst>
                                      </p:cBhvr>
                                      <p:to>
                                        <p:strVal val="visible"/>
                                      </p:to>
                                    </p:set>
                                    <p:anim calcmode="lin" valueType="num">
                                      <p:cBhvr additive="base">
                                        <p:cTn id="143" dur="500" decel="100000" fill="hold"/>
                                        <p:tgtEl>
                                          <p:spTgt spid="134"/>
                                        </p:tgtEl>
                                        <p:attrNameLst>
                                          <p:attrName>ppt_w</p:attrName>
                                        </p:attrNameLst>
                                      </p:cBhvr>
                                      <p:tavLst>
                                        <p:tav tm="0">
                                          <p:val>
                                            <p:strVal val="#ppt_w*0.3"/>
                                          </p:val>
                                        </p:tav>
                                        <p:tav tm="100000">
                                          <p:val>
                                            <p:strVal val="#ppt_w*1.08"/>
                                          </p:val>
                                        </p:tav>
                                      </p:tavLst>
                                    </p:anim>
                                    <p:anim calcmode="lin" valueType="num">
                                      <p:cBhvr additive="base">
                                        <p:cTn id="144" dur="500" decel="100000" fill="hold"/>
                                        <p:tgtEl>
                                          <p:spTgt spid="134"/>
                                        </p:tgtEl>
                                        <p:attrNameLst>
                                          <p:attrName>ppt_h</p:attrName>
                                        </p:attrNameLst>
                                      </p:cBhvr>
                                      <p:tavLst>
                                        <p:tav tm="0">
                                          <p:val>
                                            <p:strVal val="#ppt_h*0.3"/>
                                          </p:val>
                                        </p:tav>
                                        <p:tav tm="100000">
                                          <p:val>
                                            <p:strVal val="#ppt_h*1.08"/>
                                          </p:val>
                                        </p:tav>
                                      </p:tavLst>
                                    </p:anim>
                                    <p:animEffect transition="in" filter="fade">
                                      <p:cBhvr>
                                        <p:cTn id="145" dur="250"/>
                                        <p:tgtEl>
                                          <p:spTgt spid="134"/>
                                        </p:tgtEl>
                                      </p:cBhvr>
                                    </p:animEffect>
                                    <p:anim calcmode="lin" valueType="num">
                                      <p:cBhvr additive="base">
                                        <p:cTn id="146" dur="160" fill="hold">
                                          <p:stCondLst>
                                            <p:cond delay="500"/>
                                          </p:stCondLst>
                                        </p:cTn>
                                        <p:tgtEl>
                                          <p:spTgt spid="134"/>
                                        </p:tgtEl>
                                        <p:attrNameLst>
                                          <p:attrName>ppt_w</p:attrName>
                                        </p:attrNameLst>
                                      </p:cBhvr>
                                      <p:tavLst>
                                        <p:tav tm="0">
                                          <p:val>
                                            <p:strVal val="#ppt_w*1.08"/>
                                          </p:val>
                                        </p:tav>
                                        <p:tav tm="100000">
                                          <p:val>
                                            <p:strVal val="#ppt_w"/>
                                          </p:val>
                                        </p:tav>
                                      </p:tavLst>
                                    </p:anim>
                                    <p:anim calcmode="lin" valueType="num">
                                      <p:cBhvr additive="base">
                                        <p:cTn id="147" dur="160" fill="hold">
                                          <p:stCondLst>
                                            <p:cond delay="500"/>
                                          </p:stCondLst>
                                        </p:cTn>
                                        <p:tgtEl>
                                          <p:spTgt spid="134"/>
                                        </p:tgtEl>
                                        <p:attrNameLst>
                                          <p:attrName>ppt_h</p:attrName>
                                        </p:attrNameLst>
                                      </p:cBhvr>
                                      <p:tavLst>
                                        <p:tav tm="0">
                                          <p:val>
                                            <p:strVal val="#ppt_h*1.08"/>
                                          </p:val>
                                        </p:tav>
                                        <p:tav tm="100000">
                                          <p:val>
                                            <p:strVal val="#ppt_h"/>
                                          </p:val>
                                        </p:tav>
                                      </p:tavLst>
                                    </p:anim>
                                  </p:childTnLst>
                                </p:cTn>
                              </p:par>
                            </p:childTnLst>
                          </p:cTn>
                        </p:par>
                      </p:childTnLst>
                    </p:cTn>
                  </p:par>
                  <p:par>
                    <p:cTn id="148" fill="hold">
                      <p:stCondLst>
                        <p:cond delay="indefinite"/>
                      </p:stCondLst>
                      <p:childTnLst>
                        <p:par>
                          <p:cTn id="149" fill="hold">
                            <p:stCondLst>
                              <p:cond delay="0"/>
                            </p:stCondLst>
                            <p:childTnLst>
                              <p:par>
                                <p:cTn id="150" presetID="42" presetClass="entr" presetSubtype="0" fill="hold" grpId="0" nodeType="clickEffect">
                                  <p:stCondLst>
                                    <p:cond delay="0"/>
                                  </p:stCondLst>
                                  <p:childTnLst>
                                    <p:set>
                                      <p:cBhvr>
                                        <p:cTn id="151" dur="1" fill="hold">
                                          <p:stCondLst>
                                            <p:cond delay="0"/>
                                          </p:stCondLst>
                                        </p:cTn>
                                        <p:tgtEl>
                                          <p:spTgt spid="135"/>
                                        </p:tgtEl>
                                        <p:attrNameLst>
                                          <p:attrName>style.visibility</p:attrName>
                                        </p:attrNameLst>
                                      </p:cBhvr>
                                      <p:to>
                                        <p:strVal val="visible"/>
                                      </p:to>
                                    </p:set>
                                    <p:animEffect transition="in" filter="fade">
                                      <p:cBhvr>
                                        <p:cTn id="152" dur="500"/>
                                        <p:tgtEl>
                                          <p:spTgt spid="135"/>
                                        </p:tgtEl>
                                      </p:cBhvr>
                                    </p:animEffect>
                                    <p:anim calcmode="lin" valueType="num">
                                      <p:cBhvr additive="base">
                                        <p:cTn id="153" dur="500" decel="100000" fill="hold"/>
                                        <p:tgtEl>
                                          <p:spTgt spid="135"/>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AFTER</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After: A Pure Rule + a Thin Service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Move the rule into a class with no dependencies. Mock only the edge, once.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167</a:t>
            </a:r>
            <a:endParaRPr lang="en-US" sz="850" dirty="0"/>
          </a:p>
        </p:txBody>
      </p:sp>
      <p:sp>
        <p:nvSpPr>
          <p:cNvPr id="101" name="s101"/>
          <p:cNvSpPr txBox="1"/>
          <p:nvPr/>
        </p:nvSpPr>
        <p:spPr>
          <a:xfrm>
            <a:off x="543154" y="1810512"/>
            <a:ext cx="5429707"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34D399"/>
                </a:solidFill>
                <a:latin typeface="Segoe UI"/>
                <a:ea typeface="Segoe UI"/>
                <a:cs typeface="Segoe UI"/>
              </a:rPr>
              <a:t>THE CLASSES</a:t>
            </a:r>
            <a:endParaRPr lang="en-US" sz="1050" dirty="0"/>
          </a:p>
        </p:txBody>
      </p:sp>
      <p:sp>
        <p:nvSpPr>
          <p:cNvPr id="102" name="s102"/>
          <p:cNvSpPr/>
          <p:nvPr/>
        </p:nvSpPr>
        <p:spPr>
          <a:xfrm>
            <a:off x="543154" y="2084832"/>
            <a:ext cx="5429707" cy="31546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157984"/>
            <a:ext cx="2459736"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Pricing.cs  ·  OrderService.cs</a:t>
            </a:r>
            <a:endParaRPr lang="en-US" sz="950" dirty="0"/>
          </a:p>
        </p:txBody>
      </p:sp>
      <p:cxnSp>
        <p:nvCxnSpPr>
          <p:cNvPr id="107" name="ln107"/>
          <p:cNvCxnSpPr/>
          <p:nvPr/>
        </p:nvCxnSpPr>
        <p:spPr>
          <a:xfrm>
            <a:off x="543154" y="2496312"/>
            <a:ext cx="5429707" cy="0"/>
          </a:xfrm>
          <a:prstGeom prst="line">
            <a:avLst/>
          </a:prstGeom>
          <a:ln w="9525">
            <a:solidFill>
              <a:srgbClr val="1E3A5F"/>
            </a:solidFill>
          </a:ln>
        </p:spPr>
      </p:cxnSp>
      <p:sp>
        <p:nvSpPr>
          <p:cNvPr id="108" name="s108"/>
          <p:cNvSpPr/>
          <p:nvPr/>
        </p:nvSpPr>
        <p:spPr>
          <a:xfrm>
            <a:off x="543154" y="26151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static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class</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Pricing</a:t>
            </a:r>
            <a:r>
              <a:rPr lang="en-US" sz="1000" b="0" dirty="0">
                <a:solidFill>
                  <a:srgbClr val="E2E8F0"/>
                </a:solidFill>
                <a:latin typeface="Consolas"/>
                <a:ea typeface="Consolas"/>
                <a:cs typeface="Consolas"/>
              </a:rPr>
              <a:t>          </a:t>
            </a:r>
            <a:r>
              <a:rPr lang="en-US" sz="1000" b="0" dirty="0">
                <a:solidFill>
                  <a:srgbClr val="6FAE7A"/>
                </a:solidFill>
                <a:latin typeface="Consolas"/>
                <a:ea typeface="Consolas"/>
                <a:cs typeface="Consolas"/>
              </a:rPr>
              <a:t>// PURE: no dependencies</a:t>
            </a:r>
            <a:endParaRPr lang="en-US" sz="1000" dirty="0"/>
          </a:p>
        </p:txBody>
      </p:sp>
      <p:sp>
        <p:nvSpPr>
          <p:cNvPr id="109" name="s109"/>
          <p:cNvSpPr/>
          <p:nvPr/>
        </p:nvSpPr>
        <p:spPr>
          <a:xfrm>
            <a:off x="543154" y="27675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10" name="s110"/>
          <p:cNvSpPr/>
          <p:nvPr/>
        </p:nvSpPr>
        <p:spPr>
          <a:xfrm>
            <a:off x="543154" y="29199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static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decimal</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Total</a:t>
            </a:r>
            <a:r>
              <a:rPr lang="en-US" sz="1000" b="0" dirty="0">
                <a:solidFill>
                  <a:srgbClr val="E2E8F0"/>
                </a:solidFill>
                <a:latin typeface="Consolas"/>
                <a:ea typeface="Consolas"/>
                <a:cs typeface="Consolas"/>
              </a:rPr>
              <a:t>(</a:t>
            </a:r>
            <a:r>
              <a:rPr lang="en-US" sz="1000" b="0" dirty="0">
                <a:solidFill>
                  <a:srgbClr val="60A5FA"/>
                </a:solidFill>
                <a:latin typeface="Consolas"/>
                <a:ea typeface="Consolas"/>
                <a:cs typeface="Consolas"/>
              </a:rPr>
              <a:t>decimal</a:t>
            </a:r>
            <a:r>
              <a:rPr lang="en-US" sz="1000" b="0" dirty="0">
                <a:solidFill>
                  <a:srgbClr val="E2E8F0"/>
                </a:solidFill>
                <a:latin typeface="Consolas"/>
                <a:ea typeface="Consolas"/>
                <a:cs typeface="Consolas"/>
              </a:rPr>
              <a:t> price, </a:t>
            </a:r>
            <a:r>
              <a:rPr lang="en-US" sz="1000" b="0" dirty="0">
                <a:solidFill>
                  <a:srgbClr val="60A5FA"/>
                </a:solidFill>
                <a:latin typeface="Consolas"/>
                <a:ea typeface="Consolas"/>
                <a:cs typeface="Consolas"/>
              </a:rPr>
              <a:t>decimal</a:t>
            </a:r>
            <a:r>
              <a:rPr lang="en-US" sz="1000" b="0" dirty="0">
                <a:solidFill>
                  <a:srgbClr val="E2E8F0"/>
                </a:solidFill>
                <a:latin typeface="Consolas"/>
                <a:ea typeface="Consolas"/>
                <a:cs typeface="Consolas"/>
              </a:rPr>
              <a:t> discount)</a:t>
            </a:r>
            <a:endParaRPr lang="en-US" sz="1000" dirty="0"/>
          </a:p>
        </p:txBody>
      </p:sp>
      <p:sp>
        <p:nvSpPr>
          <p:cNvPr id="111" name="s111"/>
          <p:cNvSpPr/>
          <p:nvPr/>
        </p:nvSpPr>
        <p:spPr>
          <a:xfrm>
            <a:off x="543154" y="30723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=&gt; price - discount;</a:t>
            </a:r>
            <a:endParaRPr lang="en-US" sz="1000" dirty="0"/>
          </a:p>
        </p:txBody>
      </p:sp>
      <p:sp>
        <p:nvSpPr>
          <p:cNvPr id="112" name="s112"/>
          <p:cNvSpPr/>
          <p:nvPr/>
        </p:nvSpPr>
        <p:spPr>
          <a:xfrm>
            <a:off x="543154" y="32247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13" name="s113"/>
          <p:cNvSpPr/>
          <p:nvPr/>
        </p:nvSpPr>
        <p:spPr>
          <a:xfrm>
            <a:off x="543154" y="35295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class</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OrderService</a:t>
            </a:r>
            <a:r>
              <a:rPr lang="en-US" sz="1000" b="0" dirty="0">
                <a:solidFill>
                  <a:srgbClr val="E2E8F0"/>
                </a:solidFill>
                <a:latin typeface="Consolas"/>
                <a:ea typeface="Consolas"/>
                <a:cs typeface="Consolas"/>
              </a:rPr>
              <a:t>            </a:t>
            </a:r>
            <a:r>
              <a:rPr lang="en-US" sz="1000" b="0" dirty="0">
                <a:solidFill>
                  <a:srgbClr val="6FAE7A"/>
                </a:solidFill>
                <a:latin typeface="Consolas"/>
                <a:ea typeface="Consolas"/>
                <a:cs typeface="Consolas"/>
              </a:rPr>
              <a:t>// thin: only coordinates</a:t>
            </a:r>
            <a:endParaRPr lang="en-US" sz="1000" dirty="0"/>
          </a:p>
        </p:txBody>
      </p:sp>
      <p:sp>
        <p:nvSpPr>
          <p:cNvPr id="114" name="s114"/>
          <p:cNvSpPr/>
          <p:nvPr/>
        </p:nvSpPr>
        <p:spPr>
          <a:xfrm>
            <a:off x="543154" y="36819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15" name="s115"/>
          <p:cNvSpPr/>
          <p:nvPr/>
        </p:nvSpPr>
        <p:spPr>
          <a:xfrm>
            <a:off x="543154" y="38343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private</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readonly</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IPaymentGateway</a:t>
            </a:r>
            <a:r>
              <a:rPr lang="en-US" sz="1000" b="0" dirty="0">
                <a:solidFill>
                  <a:srgbClr val="E2E8F0"/>
                </a:solidFill>
                <a:latin typeface="Consolas"/>
                <a:ea typeface="Consolas"/>
                <a:cs typeface="Consolas"/>
              </a:rPr>
              <a:t> _payment;</a:t>
            </a:r>
            <a:endParaRPr lang="en-US" sz="1000" dirty="0"/>
          </a:p>
        </p:txBody>
      </p:sp>
      <p:sp>
        <p:nvSpPr>
          <p:cNvPr id="116" name="s116"/>
          <p:cNvSpPr/>
          <p:nvPr/>
        </p:nvSpPr>
        <p:spPr>
          <a:xfrm>
            <a:off x="543154" y="39867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OrderService</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IPaymentGateway</a:t>
            </a:r>
            <a:r>
              <a:rPr lang="en-US" sz="1000" b="0" dirty="0">
                <a:solidFill>
                  <a:srgbClr val="E2E8F0"/>
                </a:solidFill>
                <a:latin typeface="Consolas"/>
                <a:ea typeface="Consolas"/>
                <a:cs typeface="Consolas"/>
              </a:rPr>
              <a:t> p) =&gt; _payment = p;</a:t>
            </a:r>
            <a:endParaRPr lang="en-US" sz="1000" dirty="0"/>
          </a:p>
        </p:txBody>
      </p:sp>
      <p:sp>
        <p:nvSpPr>
          <p:cNvPr id="117" name="s117"/>
          <p:cNvSpPr/>
          <p:nvPr/>
        </p:nvSpPr>
        <p:spPr>
          <a:xfrm>
            <a:off x="543154" y="42915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bool</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PlaceOrder</a:t>
            </a:r>
            <a:r>
              <a:rPr lang="en-US" sz="1000" b="0" dirty="0">
                <a:solidFill>
                  <a:srgbClr val="E2E8F0"/>
                </a:solidFill>
                <a:latin typeface="Consolas"/>
                <a:ea typeface="Consolas"/>
                <a:cs typeface="Consolas"/>
              </a:rPr>
              <a:t>(</a:t>
            </a:r>
            <a:r>
              <a:rPr lang="en-US" sz="1000" b="0" dirty="0">
                <a:solidFill>
                  <a:srgbClr val="60A5FA"/>
                </a:solidFill>
                <a:latin typeface="Consolas"/>
                <a:ea typeface="Consolas"/>
                <a:cs typeface="Consolas"/>
              </a:rPr>
              <a:t>decimal</a:t>
            </a:r>
            <a:r>
              <a:rPr lang="en-US" sz="1000" b="0" dirty="0">
                <a:solidFill>
                  <a:srgbClr val="E2E8F0"/>
                </a:solidFill>
                <a:latin typeface="Consolas"/>
                <a:ea typeface="Consolas"/>
                <a:cs typeface="Consolas"/>
              </a:rPr>
              <a:t> price, </a:t>
            </a:r>
            <a:r>
              <a:rPr lang="en-US" sz="1000" b="0" dirty="0">
                <a:solidFill>
                  <a:srgbClr val="60A5FA"/>
                </a:solidFill>
                <a:latin typeface="Consolas"/>
                <a:ea typeface="Consolas"/>
                <a:cs typeface="Consolas"/>
              </a:rPr>
              <a:t>decimal</a:t>
            </a:r>
            <a:r>
              <a:rPr lang="en-US" sz="1000" b="0" dirty="0">
                <a:solidFill>
                  <a:srgbClr val="E2E8F0"/>
                </a:solidFill>
                <a:latin typeface="Consolas"/>
                <a:ea typeface="Consolas"/>
                <a:cs typeface="Consolas"/>
              </a:rPr>
              <a:t> discount)</a:t>
            </a:r>
            <a:endParaRPr lang="en-US" sz="1000" dirty="0"/>
          </a:p>
        </p:txBody>
      </p:sp>
      <p:sp>
        <p:nvSpPr>
          <p:cNvPr id="118" name="s118"/>
          <p:cNvSpPr/>
          <p:nvPr/>
        </p:nvSpPr>
        <p:spPr>
          <a:xfrm>
            <a:off x="543154" y="44439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=&gt; price &gt; </a:t>
            </a:r>
            <a:r>
              <a:rPr lang="en-US" sz="1000" b="0" dirty="0">
                <a:solidFill>
                  <a:srgbClr val="C4B5FD"/>
                </a:solidFill>
                <a:latin typeface="Consolas"/>
                <a:ea typeface="Consolas"/>
                <a:cs typeface="Consolas"/>
              </a:rPr>
              <a:t>0</a:t>
            </a:r>
            <a:endParaRPr lang="en-US" sz="1000" dirty="0"/>
          </a:p>
        </p:txBody>
      </p:sp>
      <p:sp>
        <p:nvSpPr>
          <p:cNvPr id="119" name="s119"/>
          <p:cNvSpPr/>
          <p:nvPr/>
        </p:nvSpPr>
        <p:spPr>
          <a:xfrm>
            <a:off x="543154" y="45963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&amp;&amp; _payment.</a:t>
            </a:r>
            <a:r>
              <a:rPr lang="en-US" sz="1000" b="0" dirty="0">
                <a:solidFill>
                  <a:srgbClr val="7DD3FC"/>
                </a:solidFill>
                <a:latin typeface="Consolas"/>
                <a:ea typeface="Consolas"/>
                <a:cs typeface="Consolas"/>
              </a:rPr>
              <a:t>Charge</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Pricing</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Total</a:t>
            </a:r>
            <a:r>
              <a:rPr lang="en-US" sz="1000" b="0" dirty="0">
                <a:solidFill>
                  <a:srgbClr val="E2E8F0"/>
                </a:solidFill>
                <a:latin typeface="Consolas"/>
                <a:ea typeface="Consolas"/>
                <a:cs typeface="Consolas"/>
              </a:rPr>
              <a:t>(price, discount));</a:t>
            </a:r>
            <a:endParaRPr lang="en-US" sz="1000" dirty="0"/>
          </a:p>
        </p:txBody>
      </p:sp>
      <p:sp>
        <p:nvSpPr>
          <p:cNvPr id="120" name="s120"/>
          <p:cNvSpPr/>
          <p:nvPr/>
        </p:nvSpPr>
        <p:spPr>
          <a:xfrm>
            <a:off x="543154" y="47487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21" name="s121"/>
          <p:cNvSpPr txBox="1"/>
          <p:nvPr/>
        </p:nvSpPr>
        <p:spPr>
          <a:xfrm>
            <a:off x="6201461" y="1810512"/>
            <a:ext cx="5429707"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34D399"/>
                </a:solidFill>
                <a:latin typeface="Segoe UI"/>
                <a:ea typeface="Segoe UI"/>
                <a:cs typeface="Segoe UI"/>
              </a:rPr>
              <a:t>THE TESTS</a:t>
            </a:r>
            <a:endParaRPr lang="en-US" sz="1050" dirty="0"/>
          </a:p>
        </p:txBody>
      </p:sp>
      <p:sp>
        <p:nvSpPr>
          <p:cNvPr id="122" name="s122"/>
          <p:cNvSpPr/>
          <p:nvPr/>
        </p:nvSpPr>
        <p:spPr>
          <a:xfrm>
            <a:off x="6201461" y="2084832"/>
            <a:ext cx="5429707" cy="31546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3" name="s123"/>
          <p:cNvSpPr/>
          <p:nvPr/>
        </p:nvSpPr>
        <p:spPr>
          <a:xfrm>
            <a:off x="6366053"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4" name="s124"/>
          <p:cNvSpPr/>
          <p:nvPr/>
        </p:nvSpPr>
        <p:spPr>
          <a:xfrm>
            <a:off x="6548933"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5" name="s125"/>
          <p:cNvSpPr/>
          <p:nvPr/>
        </p:nvSpPr>
        <p:spPr>
          <a:xfrm>
            <a:off x="6731813"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6" name="s126"/>
          <p:cNvSpPr/>
          <p:nvPr/>
        </p:nvSpPr>
        <p:spPr>
          <a:xfrm>
            <a:off x="6978701" y="2157984"/>
            <a:ext cx="1389888"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PricingTests.cs</a:t>
            </a:r>
            <a:endParaRPr lang="en-US" sz="950" dirty="0"/>
          </a:p>
        </p:txBody>
      </p:sp>
      <p:cxnSp>
        <p:nvCxnSpPr>
          <p:cNvPr id="127" name="ln127"/>
          <p:cNvCxnSpPr/>
          <p:nvPr/>
        </p:nvCxnSpPr>
        <p:spPr>
          <a:xfrm>
            <a:off x="6201461" y="2496312"/>
            <a:ext cx="5429707" cy="0"/>
          </a:xfrm>
          <a:prstGeom prst="line">
            <a:avLst/>
          </a:prstGeom>
          <a:ln w="9525">
            <a:solidFill>
              <a:srgbClr val="1E3A5F"/>
            </a:solidFill>
          </a:ln>
        </p:spPr>
      </p:cxnSp>
      <p:sp>
        <p:nvSpPr>
          <p:cNvPr id="128" name="s128"/>
          <p:cNvSpPr/>
          <p:nvPr/>
        </p:nvSpPr>
        <p:spPr>
          <a:xfrm>
            <a:off x="6201461" y="26151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[Theory]</a:t>
            </a:r>
            <a:r>
              <a:rPr lang="en-US" sz="1000" b="0" dirty="0">
                <a:solidFill>
                  <a:srgbClr val="E2E8F0"/>
                </a:solidFill>
                <a:latin typeface="Consolas"/>
                <a:ea typeface="Consolas"/>
                <a:cs typeface="Consolas"/>
              </a:rPr>
              <a:t>                             </a:t>
            </a:r>
            <a:r>
              <a:rPr lang="en-US" sz="1000" b="0" dirty="0">
                <a:solidFill>
                  <a:srgbClr val="6FAE7A"/>
                </a:solidFill>
                <a:latin typeface="Consolas"/>
                <a:ea typeface="Consolas"/>
                <a:cs typeface="Consolas"/>
              </a:rPr>
              <a:t>// the RULE: no doubles</a:t>
            </a:r>
            <a:endParaRPr lang="en-US" sz="1000" dirty="0"/>
          </a:p>
        </p:txBody>
      </p:sp>
      <p:sp>
        <p:nvSpPr>
          <p:cNvPr id="129" name="s129"/>
          <p:cNvSpPr/>
          <p:nvPr/>
        </p:nvSpPr>
        <p:spPr>
          <a:xfrm>
            <a:off x="6201461" y="27675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[InlineData(100, 20, 80)]</a:t>
            </a:r>
            <a:endParaRPr lang="en-US" sz="1000" dirty="0"/>
          </a:p>
        </p:txBody>
      </p:sp>
      <p:sp>
        <p:nvSpPr>
          <p:cNvPr id="130" name="s130"/>
          <p:cNvSpPr/>
          <p:nvPr/>
        </p:nvSpPr>
        <p:spPr>
          <a:xfrm>
            <a:off x="6201461" y="29199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[InlineData(50, 10, 40)]</a:t>
            </a:r>
            <a:endParaRPr lang="en-US" sz="1000" dirty="0"/>
          </a:p>
        </p:txBody>
      </p:sp>
      <p:sp>
        <p:nvSpPr>
          <p:cNvPr id="131" name="s131"/>
          <p:cNvSpPr/>
          <p:nvPr/>
        </p:nvSpPr>
        <p:spPr>
          <a:xfrm>
            <a:off x="6201461" y="30723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void</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Total_AppliesTheDiscount</a:t>
            </a:r>
            <a:r>
              <a:rPr lang="en-US" sz="1000" b="0" dirty="0">
                <a:solidFill>
                  <a:srgbClr val="E2E8F0"/>
                </a:solidFill>
                <a:latin typeface="Consolas"/>
                <a:ea typeface="Consolas"/>
                <a:cs typeface="Consolas"/>
              </a:rPr>
              <a:t>(</a:t>
            </a:r>
            <a:endParaRPr lang="en-US" sz="1000" dirty="0"/>
          </a:p>
        </p:txBody>
      </p:sp>
      <p:sp>
        <p:nvSpPr>
          <p:cNvPr id="132" name="s132"/>
          <p:cNvSpPr/>
          <p:nvPr/>
        </p:nvSpPr>
        <p:spPr>
          <a:xfrm>
            <a:off x="6201461" y="32247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decimal</a:t>
            </a:r>
            <a:r>
              <a:rPr lang="en-US" sz="1000" b="0" dirty="0">
                <a:solidFill>
                  <a:srgbClr val="E2E8F0"/>
                </a:solidFill>
                <a:latin typeface="Consolas"/>
                <a:ea typeface="Consolas"/>
                <a:cs typeface="Consolas"/>
              </a:rPr>
              <a:t> price, </a:t>
            </a:r>
            <a:r>
              <a:rPr lang="en-US" sz="1000" b="0" dirty="0">
                <a:solidFill>
                  <a:srgbClr val="60A5FA"/>
                </a:solidFill>
                <a:latin typeface="Consolas"/>
                <a:ea typeface="Consolas"/>
                <a:cs typeface="Consolas"/>
              </a:rPr>
              <a:t>decimal</a:t>
            </a:r>
            <a:r>
              <a:rPr lang="en-US" sz="1000" b="0" dirty="0">
                <a:solidFill>
                  <a:srgbClr val="E2E8F0"/>
                </a:solidFill>
                <a:latin typeface="Consolas"/>
                <a:ea typeface="Consolas"/>
                <a:cs typeface="Consolas"/>
              </a:rPr>
              <a:t> discount, </a:t>
            </a:r>
            <a:r>
              <a:rPr lang="en-US" sz="1000" b="0" dirty="0">
                <a:solidFill>
                  <a:srgbClr val="60A5FA"/>
                </a:solidFill>
                <a:latin typeface="Consolas"/>
                <a:ea typeface="Consolas"/>
                <a:cs typeface="Consolas"/>
              </a:rPr>
              <a:t>decimal</a:t>
            </a:r>
            <a:r>
              <a:rPr lang="en-US" sz="1000" b="0" dirty="0">
                <a:solidFill>
                  <a:srgbClr val="E2E8F0"/>
                </a:solidFill>
                <a:latin typeface="Consolas"/>
                <a:ea typeface="Consolas"/>
                <a:cs typeface="Consolas"/>
              </a:rPr>
              <a:t> expected)</a:t>
            </a:r>
            <a:endParaRPr lang="en-US" sz="1000" dirty="0"/>
          </a:p>
        </p:txBody>
      </p:sp>
      <p:sp>
        <p:nvSpPr>
          <p:cNvPr id="133" name="s133"/>
          <p:cNvSpPr/>
          <p:nvPr/>
        </p:nvSpPr>
        <p:spPr>
          <a:xfrm>
            <a:off x="6201461" y="33771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=&gt; </a:t>
            </a:r>
            <a:r>
              <a:rPr lang="en-US" sz="1000" b="0" dirty="0">
                <a:solidFill>
                  <a:srgbClr val="7DD3FC"/>
                </a:solidFill>
                <a:latin typeface="Consolas"/>
                <a:ea typeface="Consolas"/>
                <a:cs typeface="Consolas"/>
              </a:rPr>
              <a:t>Pricing</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Total</a:t>
            </a:r>
            <a:r>
              <a:rPr lang="en-US" sz="1000" b="0" dirty="0">
                <a:solidFill>
                  <a:srgbClr val="E2E8F0"/>
                </a:solidFill>
                <a:latin typeface="Consolas"/>
                <a:ea typeface="Consolas"/>
                <a:cs typeface="Consolas"/>
              </a:rPr>
              <a:t>(price, discount).</a:t>
            </a:r>
            <a:r>
              <a:rPr lang="en-US" sz="1000" b="0" dirty="0">
                <a:solidFill>
                  <a:srgbClr val="7DD3FC"/>
                </a:solidFill>
                <a:latin typeface="Consolas"/>
                <a:ea typeface="Consolas"/>
                <a:cs typeface="Consolas"/>
              </a:rPr>
              <a:t>ShouldBe</a:t>
            </a:r>
            <a:r>
              <a:rPr lang="en-US" sz="1000" b="0" dirty="0">
                <a:solidFill>
                  <a:srgbClr val="E2E8F0"/>
                </a:solidFill>
                <a:latin typeface="Consolas"/>
                <a:ea typeface="Consolas"/>
                <a:cs typeface="Consolas"/>
              </a:rPr>
              <a:t>(expected);</a:t>
            </a:r>
            <a:endParaRPr lang="en-US" sz="1000" dirty="0"/>
          </a:p>
        </p:txBody>
      </p:sp>
      <p:sp>
        <p:nvSpPr>
          <p:cNvPr id="134" name="s134"/>
          <p:cNvSpPr/>
          <p:nvPr/>
        </p:nvSpPr>
        <p:spPr>
          <a:xfrm>
            <a:off x="6201461" y="36819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FBBF24"/>
                </a:solidFill>
                <a:latin typeface="Consolas"/>
                <a:ea typeface="Consolas"/>
                <a:cs typeface="Consolas"/>
              </a:rPr>
              <a:t>[Fact]</a:t>
            </a:r>
            <a:r>
              <a:rPr lang="en-US" sz="1000" b="0" dirty="0">
                <a:solidFill>
                  <a:srgbClr val="E2E8F0"/>
                </a:solidFill>
                <a:latin typeface="Consolas"/>
                <a:ea typeface="Consolas"/>
                <a:cs typeface="Consolas"/>
              </a:rPr>
              <a:t>                               </a:t>
            </a:r>
            <a:r>
              <a:rPr lang="en-US" sz="1000" b="0" dirty="0">
                <a:solidFill>
                  <a:srgbClr val="6FAE7A"/>
                </a:solidFill>
                <a:latin typeface="Consolas"/>
                <a:ea typeface="Consolas"/>
                <a:cs typeface="Consolas"/>
              </a:rPr>
              <a:t>// the EDGE: one mock</a:t>
            </a:r>
            <a:endParaRPr lang="en-US" sz="1000" dirty="0"/>
          </a:p>
        </p:txBody>
      </p:sp>
      <p:sp>
        <p:nvSpPr>
          <p:cNvPr id="135" name="s135"/>
          <p:cNvSpPr/>
          <p:nvPr/>
        </p:nvSpPr>
        <p:spPr>
          <a:xfrm>
            <a:off x="6201461" y="38343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public</a:t>
            </a: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void</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PlaceOrder_ChargesTheTotal</a:t>
            </a:r>
            <a:r>
              <a:rPr lang="en-US" sz="1000" b="0" dirty="0">
                <a:solidFill>
                  <a:srgbClr val="E2E8F0"/>
                </a:solidFill>
                <a:latin typeface="Consolas"/>
                <a:ea typeface="Consolas"/>
                <a:cs typeface="Consolas"/>
              </a:rPr>
              <a:t>()</a:t>
            </a:r>
            <a:endParaRPr lang="en-US" sz="1000" dirty="0"/>
          </a:p>
        </p:txBody>
      </p:sp>
      <p:sp>
        <p:nvSpPr>
          <p:cNvPr id="136" name="s136"/>
          <p:cNvSpPr/>
          <p:nvPr/>
        </p:nvSpPr>
        <p:spPr>
          <a:xfrm>
            <a:off x="6201461" y="39867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37" name="s137"/>
          <p:cNvSpPr/>
          <p:nvPr/>
        </p:nvSpPr>
        <p:spPr>
          <a:xfrm>
            <a:off x="6201461" y="41391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var</a:t>
            </a:r>
            <a:r>
              <a:rPr lang="en-US" sz="1000" b="0" dirty="0">
                <a:solidFill>
                  <a:srgbClr val="E2E8F0"/>
                </a:solidFill>
                <a:latin typeface="Consolas"/>
                <a:ea typeface="Consolas"/>
                <a:cs typeface="Consolas"/>
              </a:rPr>
              <a:t> payment = </a:t>
            </a:r>
            <a:r>
              <a:rPr lang="en-US" sz="1000" b="0" dirty="0">
                <a:solidFill>
                  <a:srgbClr val="7DD3FC"/>
                </a:solidFill>
                <a:latin typeface="Consolas"/>
                <a:ea typeface="Consolas"/>
                <a:cs typeface="Consolas"/>
              </a:rPr>
              <a:t>Substitute</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For</a:t>
            </a:r>
            <a:r>
              <a:rPr lang="en-US" sz="1000" b="0" dirty="0">
                <a:solidFill>
                  <a:srgbClr val="E2E8F0"/>
                </a:solidFill>
                <a:latin typeface="Consolas"/>
                <a:ea typeface="Consolas"/>
                <a:cs typeface="Consolas"/>
              </a:rPr>
              <a:t>&lt;</a:t>
            </a:r>
            <a:r>
              <a:rPr lang="en-US" sz="1000" b="0" dirty="0">
                <a:solidFill>
                  <a:srgbClr val="7DD3FC"/>
                </a:solidFill>
                <a:latin typeface="Consolas"/>
                <a:ea typeface="Consolas"/>
                <a:cs typeface="Consolas"/>
              </a:rPr>
              <a:t>IPaymentGateway</a:t>
            </a:r>
            <a:r>
              <a:rPr lang="en-US" sz="1000" b="0" dirty="0">
                <a:solidFill>
                  <a:srgbClr val="E2E8F0"/>
                </a:solidFill>
                <a:latin typeface="Consolas"/>
                <a:ea typeface="Consolas"/>
                <a:cs typeface="Consolas"/>
              </a:rPr>
              <a:t>&gt;();</a:t>
            </a:r>
            <a:endParaRPr lang="en-US" sz="1000" dirty="0"/>
          </a:p>
        </p:txBody>
      </p:sp>
      <p:sp>
        <p:nvSpPr>
          <p:cNvPr id="138" name="s138"/>
          <p:cNvSpPr/>
          <p:nvPr/>
        </p:nvSpPr>
        <p:spPr>
          <a:xfrm>
            <a:off x="6201461" y="42915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60A5FA"/>
                </a:solidFill>
                <a:latin typeface="Consolas"/>
                <a:ea typeface="Consolas"/>
                <a:cs typeface="Consolas"/>
              </a:rPr>
              <a:t>new</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OrderService</a:t>
            </a:r>
            <a:r>
              <a:rPr lang="en-US" sz="1000" b="0" dirty="0">
                <a:solidFill>
                  <a:srgbClr val="E2E8F0"/>
                </a:solidFill>
                <a:latin typeface="Consolas"/>
                <a:ea typeface="Consolas"/>
                <a:cs typeface="Consolas"/>
              </a:rPr>
              <a:t>(payment).</a:t>
            </a:r>
            <a:r>
              <a:rPr lang="en-US" sz="1000" b="0" dirty="0">
                <a:solidFill>
                  <a:srgbClr val="7DD3FC"/>
                </a:solidFill>
                <a:latin typeface="Consolas"/>
                <a:ea typeface="Consolas"/>
                <a:cs typeface="Consolas"/>
              </a:rPr>
              <a:t>PlaceOrder</a:t>
            </a:r>
            <a:r>
              <a:rPr lang="en-US" sz="1000" b="0" dirty="0">
                <a:solidFill>
                  <a:srgbClr val="E2E8F0"/>
                </a:solidFill>
                <a:latin typeface="Consolas"/>
                <a:ea typeface="Consolas"/>
                <a:cs typeface="Consolas"/>
              </a:rPr>
              <a:t>(</a:t>
            </a:r>
            <a:r>
              <a:rPr lang="en-US" sz="1000" b="0" dirty="0">
                <a:solidFill>
                  <a:srgbClr val="C4B5FD"/>
                </a:solidFill>
                <a:latin typeface="Consolas"/>
                <a:ea typeface="Consolas"/>
                <a:cs typeface="Consolas"/>
              </a:rPr>
              <a:t>100m</a:t>
            </a:r>
            <a:r>
              <a:rPr lang="en-US" sz="1000" b="0" dirty="0">
                <a:solidFill>
                  <a:srgbClr val="E2E8F0"/>
                </a:solidFill>
                <a:latin typeface="Consolas"/>
                <a:ea typeface="Consolas"/>
                <a:cs typeface="Consolas"/>
              </a:rPr>
              <a:t>, </a:t>
            </a:r>
            <a:r>
              <a:rPr lang="en-US" sz="1000" b="0" dirty="0">
                <a:solidFill>
                  <a:srgbClr val="C4B5FD"/>
                </a:solidFill>
                <a:latin typeface="Consolas"/>
                <a:ea typeface="Consolas"/>
                <a:cs typeface="Consolas"/>
              </a:rPr>
              <a:t>20m</a:t>
            </a:r>
            <a:r>
              <a:rPr lang="en-US" sz="1000" b="0" dirty="0">
                <a:solidFill>
                  <a:srgbClr val="E2E8F0"/>
                </a:solidFill>
                <a:latin typeface="Consolas"/>
                <a:ea typeface="Consolas"/>
                <a:cs typeface="Consolas"/>
              </a:rPr>
              <a:t>);</a:t>
            </a:r>
            <a:endParaRPr lang="en-US" sz="1000" dirty="0"/>
          </a:p>
        </p:txBody>
      </p:sp>
      <p:sp>
        <p:nvSpPr>
          <p:cNvPr id="139" name="s139"/>
          <p:cNvSpPr/>
          <p:nvPr/>
        </p:nvSpPr>
        <p:spPr>
          <a:xfrm>
            <a:off x="6201461" y="44439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payment.</a:t>
            </a:r>
            <a:r>
              <a:rPr lang="en-US" sz="1000" b="0" dirty="0">
                <a:solidFill>
                  <a:srgbClr val="7DD3FC"/>
                </a:solidFill>
                <a:latin typeface="Consolas"/>
                <a:ea typeface="Consolas"/>
                <a:cs typeface="Consolas"/>
              </a:rPr>
              <a:t>Received</a:t>
            </a:r>
            <a:r>
              <a:rPr lang="en-US" sz="1000" b="0" dirty="0">
                <a:solidFill>
                  <a:srgbClr val="E2E8F0"/>
                </a:solidFill>
                <a:latin typeface="Consolas"/>
                <a:ea typeface="Consolas"/>
                <a:cs typeface="Consolas"/>
              </a:rPr>
              <a:t>(</a:t>
            </a:r>
            <a:r>
              <a:rPr lang="en-US" sz="1000" b="0" dirty="0">
                <a:solidFill>
                  <a:srgbClr val="C4B5FD"/>
                </a:solidFill>
                <a:latin typeface="Consolas"/>
                <a:ea typeface="Consolas"/>
                <a:cs typeface="Consolas"/>
              </a:rPr>
              <a:t>1</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Charge</a:t>
            </a:r>
            <a:r>
              <a:rPr lang="en-US" sz="1000" b="0" dirty="0">
                <a:solidFill>
                  <a:srgbClr val="E2E8F0"/>
                </a:solidFill>
                <a:latin typeface="Consolas"/>
                <a:ea typeface="Consolas"/>
                <a:cs typeface="Consolas"/>
              </a:rPr>
              <a:t>(</a:t>
            </a:r>
            <a:r>
              <a:rPr lang="en-US" sz="1000" b="0" dirty="0">
                <a:solidFill>
                  <a:srgbClr val="C4B5FD"/>
                </a:solidFill>
                <a:latin typeface="Consolas"/>
                <a:ea typeface="Consolas"/>
                <a:cs typeface="Consolas"/>
              </a:rPr>
              <a:t>80m</a:t>
            </a:r>
            <a:r>
              <a:rPr lang="en-US" sz="1000" b="0" dirty="0">
                <a:solidFill>
                  <a:srgbClr val="E2E8F0"/>
                </a:solidFill>
                <a:latin typeface="Consolas"/>
                <a:ea typeface="Consolas"/>
                <a:cs typeface="Consolas"/>
              </a:rPr>
              <a:t>);</a:t>
            </a:r>
            <a:endParaRPr lang="en-US" sz="1000" dirty="0"/>
          </a:p>
        </p:txBody>
      </p:sp>
      <p:sp>
        <p:nvSpPr>
          <p:cNvPr id="140" name="s140"/>
          <p:cNvSpPr/>
          <p:nvPr/>
        </p:nvSpPr>
        <p:spPr>
          <a:xfrm>
            <a:off x="6201461" y="4596384"/>
            <a:ext cx="5429707"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t>
            </a:r>
            <a:endParaRPr lang="en-US" sz="1000" dirty="0"/>
          </a:p>
        </p:txBody>
      </p:sp>
      <p:sp>
        <p:nvSpPr>
          <p:cNvPr id="141" name="s141"/>
          <p:cNvSpPr/>
          <p:nvPr/>
        </p:nvSpPr>
        <p:spPr>
          <a:xfrm>
            <a:off x="543154" y="5376672"/>
            <a:ext cx="11088014" cy="877824"/>
          </a:xfrm>
          <a:prstGeom prst="roundRect">
            <a:avLst>
              <a:gd name="adj" fmla="val 10000"/>
            </a:avLst>
          </a:prstGeom>
          <a:solidFill>
            <a:srgbClr val="34D399">
              <a:alpha val="10000"/>
            </a:srgbClr>
          </a:solidFill>
          <a:ln w="12700">
            <a:solidFill>
              <a:srgbClr val="34D399"/>
            </a:solidFill>
            <a:prstDash val="solid"/>
          </a:ln>
        </p:spPr>
        <p:txBody>
          <a:bodyPr wrap="square" lIns="228600" tIns="54864" rIns="182880" bIns="54864" rtlCol="0" anchor="ctr">
            <a:noAutofit/>
          </a:bodyPr>
          <a:lstStyle/>
          <a:p>
            <a:pPr marL="0" indent="0" algn="ctr">
              <a:spcBef>
                <a:spcPts val="0"/>
              </a:spcBef>
              <a:spcAft>
                <a:spcPts val="0"/>
              </a:spcAft>
              <a:buNone/>
            </a:pPr>
            <a:r>
              <a:rPr lang="en-US" sz="1400" b="1" dirty="0">
                <a:solidFill>
                  <a:srgbClr val="34D399"/>
                </a:solidFill>
                <a:latin typeface="Segoe UI"/>
                <a:ea typeface="Segoe UI"/>
                <a:cs typeface="Segoe UI"/>
              </a:rPr>
              <a:t>✓  DO   </a:t>
            </a:r>
            <a:r>
              <a:rPr lang="en-US" sz="1400" b="0" dirty="0">
                <a:solidFill>
                  <a:srgbClr val="E2E8F0"/>
                </a:solidFill>
                <a:latin typeface="Segoe UI"/>
                <a:ea typeface="Segoe UI"/>
                <a:cs typeface="Segoe UI"/>
              </a:rPr>
              <a:t>test the rules directly (no doubles),  and keep doubles for the edges:  payment, email, database, clock.</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11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11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11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11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11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nodeType="withEffect">
                                  <p:stCondLst>
                                    <p:cond delay="11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11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11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11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11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11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11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11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11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11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11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11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11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110"/>
                                  </p:stCondLst>
                                  <p:childTnLst>
                                    <p:set>
                                      <p:cBhvr>
                                        <p:cTn id="82" dur="1" fill="hold">
                                          <p:stCondLst>
                                            <p:cond delay="0"/>
                                          </p:stCondLst>
                                        </p:cTn>
                                        <p:tgtEl>
                                          <p:spTgt spid="120"/>
                                        </p:tgtEl>
                                        <p:attrNameLst>
                                          <p:attrName>style.visibility</p:attrName>
                                        </p:attrNameLst>
                                      </p:cBhvr>
                                      <p:to>
                                        <p:strVal val="visible"/>
                                      </p:to>
                                    </p:set>
                                    <p:animEffect transition="in" filter="fade">
                                      <p:cBhvr>
                                        <p:cTn id="83" dur="500"/>
                                        <p:tgtEl>
                                          <p:spTgt spid="120"/>
                                        </p:tgtEl>
                                      </p:cBhvr>
                                    </p:animEffect>
                                    <p:anim calcmode="lin" valueType="num">
                                      <p:cBhvr additive="base">
                                        <p:cTn id="84" dur="500" decel="100000" fill="hold"/>
                                        <p:tgtEl>
                                          <p:spTgt spid="120"/>
                                        </p:tgtEl>
                                        <p:attrNameLst>
                                          <p:attrName>ppt_y</p:attrName>
                                        </p:attrNameLst>
                                      </p:cBhvr>
                                      <p:tavLst>
                                        <p:tav tm="0">
                                          <p:val>
                                            <p:strVal val="#ppt_y+0.06"/>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42" presetClass="entr" presetSubtype="0" fill="hold" grpId="0" nodeType="clickEffect">
                                  <p:stCondLst>
                                    <p:cond delay="0"/>
                                  </p:stCondLst>
                                  <p:childTnLst>
                                    <p:set>
                                      <p:cBhvr>
                                        <p:cTn id="88" dur="1" fill="hold">
                                          <p:stCondLst>
                                            <p:cond delay="0"/>
                                          </p:stCondLst>
                                        </p:cTn>
                                        <p:tgtEl>
                                          <p:spTgt spid="121"/>
                                        </p:tgtEl>
                                        <p:attrNameLst>
                                          <p:attrName>style.visibility</p:attrName>
                                        </p:attrNameLst>
                                      </p:cBhvr>
                                      <p:to>
                                        <p:strVal val="visible"/>
                                      </p:to>
                                    </p:set>
                                    <p:animEffect transition="in" filter="fade">
                                      <p:cBhvr>
                                        <p:cTn id="89" dur="500"/>
                                        <p:tgtEl>
                                          <p:spTgt spid="121"/>
                                        </p:tgtEl>
                                      </p:cBhvr>
                                    </p:animEffect>
                                    <p:anim calcmode="lin" valueType="num">
                                      <p:cBhvr additive="base">
                                        <p:cTn id="90" dur="500" decel="100000" fill="hold"/>
                                        <p:tgtEl>
                                          <p:spTgt spid="121"/>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110"/>
                                  </p:stCondLst>
                                  <p:childTnLst>
                                    <p:set>
                                      <p:cBhvr>
                                        <p:cTn id="92" dur="1" fill="hold">
                                          <p:stCondLst>
                                            <p:cond delay="0"/>
                                          </p:stCondLst>
                                        </p:cTn>
                                        <p:tgtEl>
                                          <p:spTgt spid="122"/>
                                        </p:tgtEl>
                                        <p:attrNameLst>
                                          <p:attrName>style.visibility</p:attrName>
                                        </p:attrNameLst>
                                      </p:cBhvr>
                                      <p:to>
                                        <p:strVal val="visible"/>
                                      </p:to>
                                    </p:set>
                                    <p:animEffect transition="in" filter="fade">
                                      <p:cBhvr>
                                        <p:cTn id="93" dur="500"/>
                                        <p:tgtEl>
                                          <p:spTgt spid="122"/>
                                        </p:tgtEl>
                                      </p:cBhvr>
                                    </p:animEffect>
                                    <p:anim calcmode="lin" valueType="num">
                                      <p:cBhvr additive="base">
                                        <p:cTn id="94" dur="500" decel="100000" fill="hold"/>
                                        <p:tgtEl>
                                          <p:spTgt spid="122"/>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110"/>
                                  </p:stCondLst>
                                  <p:childTnLst>
                                    <p:set>
                                      <p:cBhvr>
                                        <p:cTn id="96" dur="1" fill="hold">
                                          <p:stCondLst>
                                            <p:cond delay="0"/>
                                          </p:stCondLst>
                                        </p:cTn>
                                        <p:tgtEl>
                                          <p:spTgt spid="123"/>
                                        </p:tgtEl>
                                        <p:attrNameLst>
                                          <p:attrName>style.visibility</p:attrName>
                                        </p:attrNameLst>
                                      </p:cBhvr>
                                      <p:to>
                                        <p:strVal val="visible"/>
                                      </p:to>
                                    </p:set>
                                    <p:animEffect transition="in" filter="fade">
                                      <p:cBhvr>
                                        <p:cTn id="97" dur="500"/>
                                        <p:tgtEl>
                                          <p:spTgt spid="123"/>
                                        </p:tgtEl>
                                      </p:cBhvr>
                                    </p:animEffect>
                                    <p:anim calcmode="lin" valueType="num">
                                      <p:cBhvr additive="base">
                                        <p:cTn id="98" dur="500" decel="100000" fill="hold"/>
                                        <p:tgtEl>
                                          <p:spTgt spid="123"/>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110"/>
                                  </p:stCondLst>
                                  <p:childTnLst>
                                    <p:set>
                                      <p:cBhvr>
                                        <p:cTn id="100" dur="1" fill="hold">
                                          <p:stCondLst>
                                            <p:cond delay="0"/>
                                          </p:stCondLst>
                                        </p:cTn>
                                        <p:tgtEl>
                                          <p:spTgt spid="124"/>
                                        </p:tgtEl>
                                        <p:attrNameLst>
                                          <p:attrName>style.visibility</p:attrName>
                                        </p:attrNameLst>
                                      </p:cBhvr>
                                      <p:to>
                                        <p:strVal val="visible"/>
                                      </p:to>
                                    </p:set>
                                    <p:animEffect transition="in" filter="fade">
                                      <p:cBhvr>
                                        <p:cTn id="101" dur="500"/>
                                        <p:tgtEl>
                                          <p:spTgt spid="124"/>
                                        </p:tgtEl>
                                      </p:cBhvr>
                                    </p:animEffect>
                                    <p:anim calcmode="lin" valueType="num">
                                      <p:cBhvr additive="base">
                                        <p:cTn id="102" dur="500" decel="100000" fill="hold"/>
                                        <p:tgtEl>
                                          <p:spTgt spid="124"/>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110"/>
                                  </p:stCondLst>
                                  <p:childTnLst>
                                    <p:set>
                                      <p:cBhvr>
                                        <p:cTn id="104" dur="1" fill="hold">
                                          <p:stCondLst>
                                            <p:cond delay="0"/>
                                          </p:stCondLst>
                                        </p:cTn>
                                        <p:tgtEl>
                                          <p:spTgt spid="125"/>
                                        </p:tgtEl>
                                        <p:attrNameLst>
                                          <p:attrName>style.visibility</p:attrName>
                                        </p:attrNameLst>
                                      </p:cBhvr>
                                      <p:to>
                                        <p:strVal val="visible"/>
                                      </p:to>
                                    </p:set>
                                    <p:animEffect transition="in" filter="fade">
                                      <p:cBhvr>
                                        <p:cTn id="105" dur="500"/>
                                        <p:tgtEl>
                                          <p:spTgt spid="125"/>
                                        </p:tgtEl>
                                      </p:cBhvr>
                                    </p:animEffect>
                                    <p:anim calcmode="lin" valueType="num">
                                      <p:cBhvr additive="base">
                                        <p:cTn id="106" dur="500" decel="100000" fill="hold"/>
                                        <p:tgtEl>
                                          <p:spTgt spid="125"/>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110"/>
                                  </p:stCondLst>
                                  <p:childTnLst>
                                    <p:set>
                                      <p:cBhvr>
                                        <p:cTn id="108" dur="1" fill="hold">
                                          <p:stCondLst>
                                            <p:cond delay="0"/>
                                          </p:stCondLst>
                                        </p:cTn>
                                        <p:tgtEl>
                                          <p:spTgt spid="126"/>
                                        </p:tgtEl>
                                        <p:attrNameLst>
                                          <p:attrName>style.visibility</p:attrName>
                                        </p:attrNameLst>
                                      </p:cBhvr>
                                      <p:to>
                                        <p:strVal val="visible"/>
                                      </p:to>
                                    </p:set>
                                    <p:animEffect transition="in" filter="fade">
                                      <p:cBhvr>
                                        <p:cTn id="109" dur="500"/>
                                        <p:tgtEl>
                                          <p:spTgt spid="126"/>
                                        </p:tgtEl>
                                      </p:cBhvr>
                                    </p:animEffect>
                                    <p:anim calcmode="lin" valueType="num">
                                      <p:cBhvr additive="base">
                                        <p:cTn id="110" dur="500" decel="100000" fill="hold"/>
                                        <p:tgtEl>
                                          <p:spTgt spid="126"/>
                                        </p:tgtEl>
                                        <p:attrNameLst>
                                          <p:attrName>ppt_y</p:attrName>
                                        </p:attrNameLst>
                                      </p:cBhvr>
                                      <p:tavLst>
                                        <p:tav tm="0">
                                          <p:val>
                                            <p:strVal val="#ppt_y+0.06"/>
                                          </p:val>
                                        </p:tav>
                                        <p:tav tm="100000">
                                          <p:val>
                                            <p:strVal val="#ppt_y"/>
                                          </p:val>
                                        </p:tav>
                                      </p:tavLst>
                                    </p:anim>
                                  </p:childTnLst>
                                </p:cTn>
                              </p:par>
                              <p:par>
                                <p:cTn id="111" presetID="42" presetClass="entr" presetSubtype="0" fill="hold" nodeType="withEffect">
                                  <p:stCondLst>
                                    <p:cond delay="110"/>
                                  </p:stCondLst>
                                  <p:childTnLst>
                                    <p:set>
                                      <p:cBhvr>
                                        <p:cTn id="112" dur="1" fill="hold">
                                          <p:stCondLst>
                                            <p:cond delay="0"/>
                                          </p:stCondLst>
                                        </p:cTn>
                                        <p:tgtEl>
                                          <p:spTgt spid="127"/>
                                        </p:tgtEl>
                                        <p:attrNameLst>
                                          <p:attrName>style.visibility</p:attrName>
                                        </p:attrNameLst>
                                      </p:cBhvr>
                                      <p:to>
                                        <p:strVal val="visible"/>
                                      </p:to>
                                    </p:set>
                                    <p:animEffect transition="in" filter="fade">
                                      <p:cBhvr>
                                        <p:cTn id="113" dur="500"/>
                                        <p:tgtEl>
                                          <p:spTgt spid="127"/>
                                        </p:tgtEl>
                                      </p:cBhvr>
                                    </p:animEffect>
                                    <p:anim calcmode="lin" valueType="num">
                                      <p:cBhvr additive="base">
                                        <p:cTn id="114" dur="500" decel="100000" fill="hold"/>
                                        <p:tgtEl>
                                          <p:spTgt spid="127"/>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110"/>
                                  </p:stCondLst>
                                  <p:childTnLst>
                                    <p:set>
                                      <p:cBhvr>
                                        <p:cTn id="116" dur="1" fill="hold">
                                          <p:stCondLst>
                                            <p:cond delay="0"/>
                                          </p:stCondLst>
                                        </p:cTn>
                                        <p:tgtEl>
                                          <p:spTgt spid="128"/>
                                        </p:tgtEl>
                                        <p:attrNameLst>
                                          <p:attrName>style.visibility</p:attrName>
                                        </p:attrNameLst>
                                      </p:cBhvr>
                                      <p:to>
                                        <p:strVal val="visible"/>
                                      </p:to>
                                    </p:set>
                                    <p:animEffect transition="in" filter="fade">
                                      <p:cBhvr>
                                        <p:cTn id="117" dur="500"/>
                                        <p:tgtEl>
                                          <p:spTgt spid="128"/>
                                        </p:tgtEl>
                                      </p:cBhvr>
                                    </p:animEffect>
                                    <p:anim calcmode="lin" valueType="num">
                                      <p:cBhvr additive="base">
                                        <p:cTn id="118" dur="500" decel="100000" fill="hold"/>
                                        <p:tgtEl>
                                          <p:spTgt spid="128"/>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110"/>
                                  </p:stCondLst>
                                  <p:childTnLst>
                                    <p:set>
                                      <p:cBhvr>
                                        <p:cTn id="120" dur="1" fill="hold">
                                          <p:stCondLst>
                                            <p:cond delay="0"/>
                                          </p:stCondLst>
                                        </p:cTn>
                                        <p:tgtEl>
                                          <p:spTgt spid="129"/>
                                        </p:tgtEl>
                                        <p:attrNameLst>
                                          <p:attrName>style.visibility</p:attrName>
                                        </p:attrNameLst>
                                      </p:cBhvr>
                                      <p:to>
                                        <p:strVal val="visible"/>
                                      </p:to>
                                    </p:set>
                                    <p:animEffect transition="in" filter="fade">
                                      <p:cBhvr>
                                        <p:cTn id="121" dur="500"/>
                                        <p:tgtEl>
                                          <p:spTgt spid="129"/>
                                        </p:tgtEl>
                                      </p:cBhvr>
                                    </p:animEffect>
                                    <p:anim calcmode="lin" valueType="num">
                                      <p:cBhvr additive="base">
                                        <p:cTn id="122" dur="500" decel="100000" fill="hold"/>
                                        <p:tgtEl>
                                          <p:spTgt spid="129"/>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110"/>
                                  </p:stCondLst>
                                  <p:childTnLst>
                                    <p:set>
                                      <p:cBhvr>
                                        <p:cTn id="124" dur="1" fill="hold">
                                          <p:stCondLst>
                                            <p:cond delay="0"/>
                                          </p:stCondLst>
                                        </p:cTn>
                                        <p:tgtEl>
                                          <p:spTgt spid="130"/>
                                        </p:tgtEl>
                                        <p:attrNameLst>
                                          <p:attrName>style.visibility</p:attrName>
                                        </p:attrNameLst>
                                      </p:cBhvr>
                                      <p:to>
                                        <p:strVal val="visible"/>
                                      </p:to>
                                    </p:set>
                                    <p:animEffect transition="in" filter="fade">
                                      <p:cBhvr>
                                        <p:cTn id="125" dur="500"/>
                                        <p:tgtEl>
                                          <p:spTgt spid="130"/>
                                        </p:tgtEl>
                                      </p:cBhvr>
                                    </p:animEffect>
                                    <p:anim calcmode="lin" valueType="num">
                                      <p:cBhvr additive="base">
                                        <p:cTn id="126" dur="500" decel="100000" fill="hold"/>
                                        <p:tgtEl>
                                          <p:spTgt spid="130"/>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110"/>
                                  </p:stCondLst>
                                  <p:childTnLst>
                                    <p:set>
                                      <p:cBhvr>
                                        <p:cTn id="128" dur="1" fill="hold">
                                          <p:stCondLst>
                                            <p:cond delay="0"/>
                                          </p:stCondLst>
                                        </p:cTn>
                                        <p:tgtEl>
                                          <p:spTgt spid="131"/>
                                        </p:tgtEl>
                                        <p:attrNameLst>
                                          <p:attrName>style.visibility</p:attrName>
                                        </p:attrNameLst>
                                      </p:cBhvr>
                                      <p:to>
                                        <p:strVal val="visible"/>
                                      </p:to>
                                    </p:set>
                                    <p:animEffect transition="in" filter="fade">
                                      <p:cBhvr>
                                        <p:cTn id="129" dur="500"/>
                                        <p:tgtEl>
                                          <p:spTgt spid="131"/>
                                        </p:tgtEl>
                                      </p:cBhvr>
                                    </p:animEffect>
                                    <p:anim calcmode="lin" valueType="num">
                                      <p:cBhvr additive="base">
                                        <p:cTn id="130" dur="500" decel="100000" fill="hold"/>
                                        <p:tgtEl>
                                          <p:spTgt spid="131"/>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110"/>
                                  </p:stCondLst>
                                  <p:childTnLst>
                                    <p:set>
                                      <p:cBhvr>
                                        <p:cTn id="132" dur="1" fill="hold">
                                          <p:stCondLst>
                                            <p:cond delay="0"/>
                                          </p:stCondLst>
                                        </p:cTn>
                                        <p:tgtEl>
                                          <p:spTgt spid="132"/>
                                        </p:tgtEl>
                                        <p:attrNameLst>
                                          <p:attrName>style.visibility</p:attrName>
                                        </p:attrNameLst>
                                      </p:cBhvr>
                                      <p:to>
                                        <p:strVal val="visible"/>
                                      </p:to>
                                    </p:set>
                                    <p:animEffect transition="in" filter="fade">
                                      <p:cBhvr>
                                        <p:cTn id="133" dur="500"/>
                                        <p:tgtEl>
                                          <p:spTgt spid="132"/>
                                        </p:tgtEl>
                                      </p:cBhvr>
                                    </p:animEffect>
                                    <p:anim calcmode="lin" valueType="num">
                                      <p:cBhvr additive="base">
                                        <p:cTn id="134" dur="500" decel="100000" fill="hold"/>
                                        <p:tgtEl>
                                          <p:spTgt spid="132"/>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110"/>
                                  </p:stCondLst>
                                  <p:childTnLst>
                                    <p:set>
                                      <p:cBhvr>
                                        <p:cTn id="136" dur="1" fill="hold">
                                          <p:stCondLst>
                                            <p:cond delay="0"/>
                                          </p:stCondLst>
                                        </p:cTn>
                                        <p:tgtEl>
                                          <p:spTgt spid="133"/>
                                        </p:tgtEl>
                                        <p:attrNameLst>
                                          <p:attrName>style.visibility</p:attrName>
                                        </p:attrNameLst>
                                      </p:cBhvr>
                                      <p:to>
                                        <p:strVal val="visible"/>
                                      </p:to>
                                    </p:set>
                                    <p:animEffect transition="in" filter="fade">
                                      <p:cBhvr>
                                        <p:cTn id="137" dur="500"/>
                                        <p:tgtEl>
                                          <p:spTgt spid="133"/>
                                        </p:tgtEl>
                                      </p:cBhvr>
                                    </p:animEffect>
                                    <p:anim calcmode="lin" valueType="num">
                                      <p:cBhvr additive="base">
                                        <p:cTn id="138" dur="500" decel="100000" fill="hold"/>
                                        <p:tgtEl>
                                          <p:spTgt spid="133"/>
                                        </p:tgtEl>
                                        <p:attrNameLst>
                                          <p:attrName>ppt_y</p:attrName>
                                        </p:attrNameLst>
                                      </p:cBhvr>
                                      <p:tavLst>
                                        <p:tav tm="0">
                                          <p:val>
                                            <p:strVal val="#ppt_y+0.06"/>
                                          </p:val>
                                        </p:tav>
                                        <p:tav tm="100000">
                                          <p:val>
                                            <p:strVal val="#ppt_y"/>
                                          </p:val>
                                        </p:tav>
                                      </p:tavLst>
                                    </p:anim>
                                  </p:childTnLst>
                                </p:cTn>
                              </p:par>
                              <p:par>
                                <p:cTn id="139" presetID="42" presetClass="entr" presetSubtype="0" fill="hold" grpId="0" nodeType="withEffect">
                                  <p:stCondLst>
                                    <p:cond delay="110"/>
                                  </p:stCondLst>
                                  <p:childTnLst>
                                    <p:set>
                                      <p:cBhvr>
                                        <p:cTn id="140" dur="1" fill="hold">
                                          <p:stCondLst>
                                            <p:cond delay="0"/>
                                          </p:stCondLst>
                                        </p:cTn>
                                        <p:tgtEl>
                                          <p:spTgt spid="134"/>
                                        </p:tgtEl>
                                        <p:attrNameLst>
                                          <p:attrName>style.visibility</p:attrName>
                                        </p:attrNameLst>
                                      </p:cBhvr>
                                      <p:to>
                                        <p:strVal val="visible"/>
                                      </p:to>
                                    </p:set>
                                    <p:animEffect transition="in" filter="fade">
                                      <p:cBhvr>
                                        <p:cTn id="141" dur="500"/>
                                        <p:tgtEl>
                                          <p:spTgt spid="134"/>
                                        </p:tgtEl>
                                      </p:cBhvr>
                                    </p:animEffect>
                                    <p:anim calcmode="lin" valueType="num">
                                      <p:cBhvr additive="base">
                                        <p:cTn id="142" dur="500" decel="100000" fill="hold"/>
                                        <p:tgtEl>
                                          <p:spTgt spid="134"/>
                                        </p:tgtEl>
                                        <p:attrNameLst>
                                          <p:attrName>ppt_y</p:attrName>
                                        </p:attrNameLst>
                                      </p:cBhvr>
                                      <p:tavLst>
                                        <p:tav tm="0">
                                          <p:val>
                                            <p:strVal val="#ppt_y+0.06"/>
                                          </p:val>
                                        </p:tav>
                                        <p:tav tm="100000">
                                          <p:val>
                                            <p:strVal val="#ppt_y"/>
                                          </p:val>
                                        </p:tav>
                                      </p:tavLst>
                                    </p:anim>
                                  </p:childTnLst>
                                </p:cTn>
                              </p:par>
                              <p:par>
                                <p:cTn id="143" presetID="42" presetClass="entr" presetSubtype="0" fill="hold" grpId="0" nodeType="withEffect">
                                  <p:stCondLst>
                                    <p:cond delay="110"/>
                                  </p:stCondLst>
                                  <p:childTnLst>
                                    <p:set>
                                      <p:cBhvr>
                                        <p:cTn id="144" dur="1" fill="hold">
                                          <p:stCondLst>
                                            <p:cond delay="0"/>
                                          </p:stCondLst>
                                        </p:cTn>
                                        <p:tgtEl>
                                          <p:spTgt spid="135"/>
                                        </p:tgtEl>
                                        <p:attrNameLst>
                                          <p:attrName>style.visibility</p:attrName>
                                        </p:attrNameLst>
                                      </p:cBhvr>
                                      <p:to>
                                        <p:strVal val="visible"/>
                                      </p:to>
                                    </p:set>
                                    <p:animEffect transition="in" filter="fade">
                                      <p:cBhvr>
                                        <p:cTn id="145" dur="500"/>
                                        <p:tgtEl>
                                          <p:spTgt spid="135"/>
                                        </p:tgtEl>
                                      </p:cBhvr>
                                    </p:animEffect>
                                    <p:anim calcmode="lin" valueType="num">
                                      <p:cBhvr additive="base">
                                        <p:cTn id="146" dur="500" decel="100000" fill="hold"/>
                                        <p:tgtEl>
                                          <p:spTgt spid="135"/>
                                        </p:tgtEl>
                                        <p:attrNameLst>
                                          <p:attrName>ppt_y</p:attrName>
                                        </p:attrNameLst>
                                      </p:cBhvr>
                                      <p:tavLst>
                                        <p:tav tm="0">
                                          <p:val>
                                            <p:strVal val="#ppt_y+0.06"/>
                                          </p:val>
                                        </p:tav>
                                        <p:tav tm="100000">
                                          <p:val>
                                            <p:strVal val="#ppt_y"/>
                                          </p:val>
                                        </p:tav>
                                      </p:tavLst>
                                    </p:anim>
                                  </p:childTnLst>
                                </p:cTn>
                              </p:par>
                              <p:par>
                                <p:cTn id="147" presetID="42" presetClass="entr" presetSubtype="0" fill="hold" grpId="0" nodeType="withEffect">
                                  <p:stCondLst>
                                    <p:cond delay="110"/>
                                  </p:stCondLst>
                                  <p:childTnLst>
                                    <p:set>
                                      <p:cBhvr>
                                        <p:cTn id="148" dur="1" fill="hold">
                                          <p:stCondLst>
                                            <p:cond delay="0"/>
                                          </p:stCondLst>
                                        </p:cTn>
                                        <p:tgtEl>
                                          <p:spTgt spid="136"/>
                                        </p:tgtEl>
                                        <p:attrNameLst>
                                          <p:attrName>style.visibility</p:attrName>
                                        </p:attrNameLst>
                                      </p:cBhvr>
                                      <p:to>
                                        <p:strVal val="visible"/>
                                      </p:to>
                                    </p:set>
                                    <p:animEffect transition="in" filter="fade">
                                      <p:cBhvr>
                                        <p:cTn id="149" dur="500"/>
                                        <p:tgtEl>
                                          <p:spTgt spid="136"/>
                                        </p:tgtEl>
                                      </p:cBhvr>
                                    </p:animEffect>
                                    <p:anim calcmode="lin" valueType="num">
                                      <p:cBhvr additive="base">
                                        <p:cTn id="150" dur="500" decel="100000" fill="hold"/>
                                        <p:tgtEl>
                                          <p:spTgt spid="136"/>
                                        </p:tgtEl>
                                        <p:attrNameLst>
                                          <p:attrName>ppt_y</p:attrName>
                                        </p:attrNameLst>
                                      </p:cBhvr>
                                      <p:tavLst>
                                        <p:tav tm="0">
                                          <p:val>
                                            <p:strVal val="#ppt_y+0.06"/>
                                          </p:val>
                                        </p:tav>
                                        <p:tav tm="100000">
                                          <p:val>
                                            <p:strVal val="#ppt_y"/>
                                          </p:val>
                                        </p:tav>
                                      </p:tavLst>
                                    </p:anim>
                                  </p:childTnLst>
                                </p:cTn>
                              </p:par>
                              <p:par>
                                <p:cTn id="151" presetID="42" presetClass="entr" presetSubtype="0" fill="hold" grpId="0" nodeType="withEffect">
                                  <p:stCondLst>
                                    <p:cond delay="110"/>
                                  </p:stCondLst>
                                  <p:childTnLst>
                                    <p:set>
                                      <p:cBhvr>
                                        <p:cTn id="152" dur="1" fill="hold">
                                          <p:stCondLst>
                                            <p:cond delay="0"/>
                                          </p:stCondLst>
                                        </p:cTn>
                                        <p:tgtEl>
                                          <p:spTgt spid="137"/>
                                        </p:tgtEl>
                                        <p:attrNameLst>
                                          <p:attrName>style.visibility</p:attrName>
                                        </p:attrNameLst>
                                      </p:cBhvr>
                                      <p:to>
                                        <p:strVal val="visible"/>
                                      </p:to>
                                    </p:set>
                                    <p:animEffect transition="in" filter="fade">
                                      <p:cBhvr>
                                        <p:cTn id="153" dur="500"/>
                                        <p:tgtEl>
                                          <p:spTgt spid="137"/>
                                        </p:tgtEl>
                                      </p:cBhvr>
                                    </p:animEffect>
                                    <p:anim calcmode="lin" valueType="num">
                                      <p:cBhvr additive="base">
                                        <p:cTn id="154" dur="500" decel="100000" fill="hold"/>
                                        <p:tgtEl>
                                          <p:spTgt spid="137"/>
                                        </p:tgtEl>
                                        <p:attrNameLst>
                                          <p:attrName>ppt_y</p:attrName>
                                        </p:attrNameLst>
                                      </p:cBhvr>
                                      <p:tavLst>
                                        <p:tav tm="0">
                                          <p:val>
                                            <p:strVal val="#ppt_y+0.06"/>
                                          </p:val>
                                        </p:tav>
                                        <p:tav tm="100000">
                                          <p:val>
                                            <p:strVal val="#ppt_y"/>
                                          </p:val>
                                        </p:tav>
                                      </p:tavLst>
                                    </p:anim>
                                  </p:childTnLst>
                                </p:cTn>
                              </p:par>
                              <p:par>
                                <p:cTn id="155" presetID="42" presetClass="entr" presetSubtype="0" fill="hold" grpId="0" nodeType="withEffect">
                                  <p:stCondLst>
                                    <p:cond delay="110"/>
                                  </p:stCondLst>
                                  <p:childTnLst>
                                    <p:set>
                                      <p:cBhvr>
                                        <p:cTn id="156" dur="1" fill="hold">
                                          <p:stCondLst>
                                            <p:cond delay="0"/>
                                          </p:stCondLst>
                                        </p:cTn>
                                        <p:tgtEl>
                                          <p:spTgt spid="138"/>
                                        </p:tgtEl>
                                        <p:attrNameLst>
                                          <p:attrName>style.visibility</p:attrName>
                                        </p:attrNameLst>
                                      </p:cBhvr>
                                      <p:to>
                                        <p:strVal val="visible"/>
                                      </p:to>
                                    </p:set>
                                    <p:animEffect transition="in" filter="fade">
                                      <p:cBhvr>
                                        <p:cTn id="157" dur="500"/>
                                        <p:tgtEl>
                                          <p:spTgt spid="138"/>
                                        </p:tgtEl>
                                      </p:cBhvr>
                                    </p:animEffect>
                                    <p:anim calcmode="lin" valueType="num">
                                      <p:cBhvr additive="base">
                                        <p:cTn id="158" dur="500" decel="100000" fill="hold"/>
                                        <p:tgtEl>
                                          <p:spTgt spid="138"/>
                                        </p:tgtEl>
                                        <p:attrNameLst>
                                          <p:attrName>ppt_y</p:attrName>
                                        </p:attrNameLst>
                                      </p:cBhvr>
                                      <p:tavLst>
                                        <p:tav tm="0">
                                          <p:val>
                                            <p:strVal val="#ppt_y+0.06"/>
                                          </p:val>
                                        </p:tav>
                                        <p:tav tm="100000">
                                          <p:val>
                                            <p:strVal val="#ppt_y"/>
                                          </p:val>
                                        </p:tav>
                                      </p:tavLst>
                                    </p:anim>
                                  </p:childTnLst>
                                </p:cTn>
                              </p:par>
                              <p:par>
                                <p:cTn id="159" presetID="42" presetClass="entr" presetSubtype="0" fill="hold" grpId="0" nodeType="withEffect">
                                  <p:stCondLst>
                                    <p:cond delay="110"/>
                                  </p:stCondLst>
                                  <p:childTnLst>
                                    <p:set>
                                      <p:cBhvr>
                                        <p:cTn id="160" dur="1" fill="hold">
                                          <p:stCondLst>
                                            <p:cond delay="0"/>
                                          </p:stCondLst>
                                        </p:cTn>
                                        <p:tgtEl>
                                          <p:spTgt spid="139"/>
                                        </p:tgtEl>
                                        <p:attrNameLst>
                                          <p:attrName>style.visibility</p:attrName>
                                        </p:attrNameLst>
                                      </p:cBhvr>
                                      <p:to>
                                        <p:strVal val="visible"/>
                                      </p:to>
                                    </p:set>
                                    <p:animEffect transition="in" filter="fade">
                                      <p:cBhvr>
                                        <p:cTn id="161" dur="500"/>
                                        <p:tgtEl>
                                          <p:spTgt spid="139"/>
                                        </p:tgtEl>
                                      </p:cBhvr>
                                    </p:animEffect>
                                    <p:anim calcmode="lin" valueType="num">
                                      <p:cBhvr additive="base">
                                        <p:cTn id="162" dur="500" decel="100000" fill="hold"/>
                                        <p:tgtEl>
                                          <p:spTgt spid="139"/>
                                        </p:tgtEl>
                                        <p:attrNameLst>
                                          <p:attrName>ppt_y</p:attrName>
                                        </p:attrNameLst>
                                      </p:cBhvr>
                                      <p:tavLst>
                                        <p:tav tm="0">
                                          <p:val>
                                            <p:strVal val="#ppt_y+0.06"/>
                                          </p:val>
                                        </p:tav>
                                        <p:tav tm="100000">
                                          <p:val>
                                            <p:strVal val="#ppt_y"/>
                                          </p:val>
                                        </p:tav>
                                      </p:tavLst>
                                    </p:anim>
                                  </p:childTnLst>
                                </p:cTn>
                              </p:par>
                              <p:par>
                                <p:cTn id="163" presetID="42" presetClass="entr" presetSubtype="0" fill="hold" grpId="0" nodeType="withEffect">
                                  <p:stCondLst>
                                    <p:cond delay="110"/>
                                  </p:stCondLst>
                                  <p:childTnLst>
                                    <p:set>
                                      <p:cBhvr>
                                        <p:cTn id="164" dur="1" fill="hold">
                                          <p:stCondLst>
                                            <p:cond delay="0"/>
                                          </p:stCondLst>
                                        </p:cTn>
                                        <p:tgtEl>
                                          <p:spTgt spid="140"/>
                                        </p:tgtEl>
                                        <p:attrNameLst>
                                          <p:attrName>style.visibility</p:attrName>
                                        </p:attrNameLst>
                                      </p:cBhvr>
                                      <p:to>
                                        <p:strVal val="visible"/>
                                      </p:to>
                                    </p:set>
                                    <p:animEffect transition="in" filter="fade">
                                      <p:cBhvr>
                                        <p:cTn id="165" dur="500"/>
                                        <p:tgtEl>
                                          <p:spTgt spid="140"/>
                                        </p:tgtEl>
                                      </p:cBhvr>
                                    </p:animEffect>
                                    <p:anim calcmode="lin" valueType="num">
                                      <p:cBhvr additive="base">
                                        <p:cTn id="166" dur="500" decel="100000" fill="hold"/>
                                        <p:tgtEl>
                                          <p:spTgt spid="140"/>
                                        </p:tgtEl>
                                        <p:attrNameLst>
                                          <p:attrName>ppt_y</p:attrName>
                                        </p:attrNameLst>
                                      </p:cBhvr>
                                      <p:tavLst>
                                        <p:tav tm="0">
                                          <p:val>
                                            <p:strVal val="#ppt_y+0.06"/>
                                          </p:val>
                                        </p:tav>
                                        <p:tav tm="100000">
                                          <p:val>
                                            <p:strVal val="#ppt_y"/>
                                          </p:val>
                                        </p:tav>
                                      </p:tavLst>
                                    </p:anim>
                                  </p:childTnLst>
                                </p:cTn>
                              </p:par>
                            </p:childTnLst>
                          </p:cTn>
                        </p:par>
                      </p:childTnLst>
                    </p:cTn>
                  </p:par>
                  <p:par>
                    <p:cTn id="167" fill="hold">
                      <p:stCondLst>
                        <p:cond delay="indefinite"/>
                      </p:stCondLst>
                      <p:childTnLst>
                        <p:par>
                          <p:cTn id="168" fill="hold">
                            <p:stCondLst>
                              <p:cond delay="0"/>
                            </p:stCondLst>
                            <p:childTnLst>
                              <p:par>
                                <p:cTn id="169" presetID="42" presetClass="entr" presetSubtype="0" fill="hold" grpId="0" nodeType="clickEffect">
                                  <p:stCondLst>
                                    <p:cond delay="0"/>
                                  </p:stCondLst>
                                  <p:childTnLst>
                                    <p:set>
                                      <p:cBhvr>
                                        <p:cTn id="170" dur="1" fill="hold">
                                          <p:stCondLst>
                                            <p:cond delay="0"/>
                                          </p:stCondLst>
                                        </p:cTn>
                                        <p:tgtEl>
                                          <p:spTgt spid="141"/>
                                        </p:tgtEl>
                                        <p:attrNameLst>
                                          <p:attrName>style.visibility</p:attrName>
                                        </p:attrNameLst>
                                      </p:cBhvr>
                                      <p:to>
                                        <p:strVal val="visible"/>
                                      </p:to>
                                    </p:set>
                                    <p:animEffect transition="in" filter="fade">
                                      <p:cBhvr>
                                        <p:cTn id="171" dur="500"/>
                                        <p:tgtEl>
                                          <p:spTgt spid="141"/>
                                        </p:tgtEl>
                                      </p:cBhvr>
                                    </p:animEffect>
                                    <p:anim calcmode="lin" valueType="num">
                                      <p:cBhvr additive="base">
                                        <p:cTn id="172" dur="500" decel="100000" fill="hold"/>
                                        <p:tgtEl>
                                          <p:spTgt spid="141"/>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07085"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FUNCTIONS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Inject a Function Instead of an Interface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Person A's idea: pass Action&lt;string&gt; instead of ILogger. No mocking library needed.</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168</a:t>
            </a:r>
            <a:endParaRPr lang="en-US" sz="850" dirty="0"/>
          </a:p>
        </p:txBody>
      </p:sp>
      <p:sp>
        <p:nvSpPr>
          <p:cNvPr id="101" name="s101"/>
          <p:cNvSpPr txBox="1"/>
          <p:nvPr/>
        </p:nvSpPr>
        <p:spPr>
          <a:xfrm>
            <a:off x="543154" y="1810512"/>
            <a:ext cx="5429707"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A78BFA"/>
                </a:solidFill>
                <a:latin typeface="Segoe UI"/>
                <a:ea typeface="Segoe UI"/>
                <a:cs typeface="Segoe UI"/>
              </a:rPr>
              <a:t>THE CLASS</a:t>
            </a:r>
            <a:endParaRPr lang="en-US" sz="1050" dirty="0"/>
          </a:p>
        </p:txBody>
      </p:sp>
      <p:sp>
        <p:nvSpPr>
          <p:cNvPr id="102" name="s102"/>
          <p:cNvSpPr/>
          <p:nvPr/>
        </p:nvSpPr>
        <p:spPr>
          <a:xfrm>
            <a:off x="543154" y="2084832"/>
            <a:ext cx="5429707" cy="2743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157984"/>
            <a:ext cx="1389888"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OrderService.cs</a:t>
            </a:r>
            <a:endParaRPr lang="en-US" sz="950" dirty="0"/>
          </a:p>
        </p:txBody>
      </p:sp>
      <p:cxnSp>
        <p:nvCxnSpPr>
          <p:cNvPr id="107" name="ln107"/>
          <p:cNvCxnSpPr/>
          <p:nvPr/>
        </p:nvCxnSpPr>
        <p:spPr>
          <a:xfrm>
            <a:off x="543154" y="2496312"/>
            <a:ext cx="5429707" cy="0"/>
          </a:xfrm>
          <a:prstGeom prst="line">
            <a:avLst/>
          </a:prstGeom>
          <a:ln w="9525">
            <a:solidFill>
              <a:srgbClr val="1E3A5F"/>
            </a:solidFill>
          </a:ln>
        </p:spPr>
      </p:cxnSp>
      <p:sp>
        <p:nvSpPr>
          <p:cNvPr id="108" name="s108"/>
          <p:cNvSpPr/>
          <p:nvPr/>
        </p:nvSpPr>
        <p:spPr>
          <a:xfrm>
            <a:off x="543154" y="261518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60A5FA"/>
                </a:solidFill>
                <a:latin typeface="Consolas"/>
                <a:ea typeface="Consolas"/>
                <a:cs typeface="Consolas"/>
              </a:rPr>
              <a:t>public</a:t>
            </a: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class</a:t>
            </a:r>
            <a:r>
              <a:rPr lang="en-US" sz="1025" b="0" dirty="0">
                <a:solidFill>
                  <a:srgbClr val="E2E8F0"/>
                </a:solidFill>
                <a:latin typeface="Consolas"/>
                <a:ea typeface="Consolas"/>
                <a:cs typeface="Consolas"/>
              </a:rPr>
              <a:t> </a:t>
            </a:r>
            <a:r>
              <a:rPr lang="en-US" sz="1025" b="0" dirty="0">
                <a:solidFill>
                  <a:srgbClr val="7DD3FC"/>
                </a:solidFill>
                <a:latin typeface="Consolas"/>
                <a:ea typeface="Consolas"/>
                <a:cs typeface="Consolas"/>
              </a:rPr>
              <a:t>OrderService</a:t>
            </a:r>
            <a:endParaRPr lang="en-US" sz="1025" dirty="0"/>
          </a:p>
        </p:txBody>
      </p:sp>
      <p:sp>
        <p:nvSpPr>
          <p:cNvPr id="109" name="s109"/>
          <p:cNvSpPr/>
          <p:nvPr/>
        </p:nvSpPr>
        <p:spPr>
          <a:xfrm>
            <a:off x="543154" y="277139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a:t>
            </a:r>
            <a:endParaRPr lang="en-US" sz="1025" dirty="0"/>
          </a:p>
        </p:txBody>
      </p:sp>
      <p:sp>
        <p:nvSpPr>
          <p:cNvPr id="110" name="s110"/>
          <p:cNvSpPr/>
          <p:nvPr/>
        </p:nvSpPr>
        <p:spPr>
          <a:xfrm>
            <a:off x="543154" y="292760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private</a:t>
            </a: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readonly</a:t>
            </a:r>
            <a:r>
              <a:rPr lang="en-US" sz="1025" b="0" dirty="0">
                <a:solidFill>
                  <a:srgbClr val="E2E8F0"/>
                </a:solidFill>
                <a:latin typeface="Consolas"/>
                <a:ea typeface="Consolas"/>
                <a:cs typeface="Consolas"/>
              </a:rPr>
              <a:t> </a:t>
            </a:r>
            <a:r>
              <a:rPr lang="en-US" sz="1025" b="0" dirty="0">
                <a:solidFill>
                  <a:srgbClr val="7DD3FC"/>
                </a:solidFill>
                <a:latin typeface="Consolas"/>
                <a:ea typeface="Consolas"/>
                <a:cs typeface="Consolas"/>
              </a:rPr>
              <a:t>Action</a:t>
            </a:r>
            <a:r>
              <a:rPr lang="en-US" sz="1025" b="0" dirty="0">
                <a:solidFill>
                  <a:srgbClr val="E2E8F0"/>
                </a:solidFill>
                <a:latin typeface="Consolas"/>
                <a:ea typeface="Consolas"/>
                <a:cs typeface="Consolas"/>
              </a:rPr>
              <a:t>&lt;</a:t>
            </a:r>
            <a:r>
              <a:rPr lang="en-US" sz="1025" b="0" dirty="0">
                <a:solidFill>
                  <a:srgbClr val="60A5FA"/>
                </a:solidFill>
                <a:latin typeface="Consolas"/>
                <a:ea typeface="Consolas"/>
                <a:cs typeface="Consolas"/>
              </a:rPr>
              <a:t>string</a:t>
            </a:r>
            <a:r>
              <a:rPr lang="en-US" sz="1025" b="0" dirty="0">
                <a:solidFill>
                  <a:srgbClr val="E2E8F0"/>
                </a:solidFill>
                <a:latin typeface="Consolas"/>
                <a:ea typeface="Consolas"/>
                <a:cs typeface="Consolas"/>
              </a:rPr>
              <a:t>&gt; _log;  </a:t>
            </a:r>
            <a:r>
              <a:rPr lang="en-US" sz="1025" b="0" dirty="0">
                <a:solidFill>
                  <a:srgbClr val="6FAE7A"/>
                </a:solidFill>
                <a:latin typeface="Consolas"/>
                <a:ea typeface="Consolas"/>
                <a:cs typeface="Consolas"/>
              </a:rPr>
              <a:t>// a FUNCTION</a:t>
            </a:r>
            <a:endParaRPr lang="en-US" sz="1025" dirty="0"/>
          </a:p>
        </p:txBody>
      </p:sp>
      <p:sp>
        <p:nvSpPr>
          <p:cNvPr id="111" name="s111"/>
          <p:cNvSpPr/>
          <p:nvPr/>
        </p:nvSpPr>
        <p:spPr>
          <a:xfrm>
            <a:off x="543154" y="308381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public</a:t>
            </a:r>
            <a:r>
              <a:rPr lang="en-US" sz="1025" b="0" dirty="0">
                <a:solidFill>
                  <a:srgbClr val="E2E8F0"/>
                </a:solidFill>
                <a:latin typeface="Consolas"/>
                <a:ea typeface="Consolas"/>
                <a:cs typeface="Consolas"/>
              </a:rPr>
              <a:t> </a:t>
            </a:r>
            <a:r>
              <a:rPr lang="en-US" sz="1025" b="0" dirty="0">
                <a:solidFill>
                  <a:srgbClr val="7DD3FC"/>
                </a:solidFill>
                <a:latin typeface="Consolas"/>
                <a:ea typeface="Consolas"/>
                <a:cs typeface="Consolas"/>
              </a:rPr>
              <a:t>OrderService</a:t>
            </a:r>
            <a:r>
              <a:rPr lang="en-US" sz="1025" b="0" dirty="0">
                <a:solidFill>
                  <a:srgbClr val="E2E8F0"/>
                </a:solidFill>
                <a:latin typeface="Consolas"/>
                <a:ea typeface="Consolas"/>
                <a:cs typeface="Consolas"/>
              </a:rPr>
              <a:t>(</a:t>
            </a:r>
            <a:r>
              <a:rPr lang="en-US" sz="1025" b="0" dirty="0">
                <a:solidFill>
                  <a:srgbClr val="7DD3FC"/>
                </a:solidFill>
                <a:latin typeface="Consolas"/>
                <a:ea typeface="Consolas"/>
                <a:cs typeface="Consolas"/>
              </a:rPr>
              <a:t>Action</a:t>
            </a:r>
            <a:r>
              <a:rPr lang="en-US" sz="1025" b="0" dirty="0">
                <a:solidFill>
                  <a:srgbClr val="E2E8F0"/>
                </a:solidFill>
                <a:latin typeface="Consolas"/>
                <a:ea typeface="Consolas"/>
                <a:cs typeface="Consolas"/>
              </a:rPr>
              <a:t>&lt;</a:t>
            </a:r>
            <a:r>
              <a:rPr lang="en-US" sz="1025" b="0" dirty="0">
                <a:solidFill>
                  <a:srgbClr val="60A5FA"/>
                </a:solidFill>
                <a:latin typeface="Consolas"/>
                <a:ea typeface="Consolas"/>
                <a:cs typeface="Consolas"/>
              </a:rPr>
              <a:t>string</a:t>
            </a:r>
            <a:r>
              <a:rPr lang="en-US" sz="1025" b="0" dirty="0">
                <a:solidFill>
                  <a:srgbClr val="E2E8F0"/>
                </a:solidFill>
                <a:latin typeface="Consolas"/>
                <a:ea typeface="Consolas"/>
                <a:cs typeface="Consolas"/>
              </a:rPr>
              <a:t>&gt; log) =&gt; _log = log;</a:t>
            </a:r>
            <a:endParaRPr lang="en-US" sz="1025" dirty="0"/>
          </a:p>
        </p:txBody>
      </p:sp>
      <p:sp>
        <p:nvSpPr>
          <p:cNvPr id="112" name="s112"/>
          <p:cNvSpPr/>
          <p:nvPr/>
        </p:nvSpPr>
        <p:spPr>
          <a:xfrm>
            <a:off x="543154" y="339623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public</a:t>
            </a: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void</a:t>
            </a:r>
            <a:r>
              <a:rPr lang="en-US" sz="1025" b="0" dirty="0">
                <a:solidFill>
                  <a:srgbClr val="E2E8F0"/>
                </a:solidFill>
                <a:latin typeface="Consolas"/>
                <a:ea typeface="Consolas"/>
                <a:cs typeface="Consolas"/>
              </a:rPr>
              <a:t> </a:t>
            </a:r>
            <a:r>
              <a:rPr lang="en-US" sz="1025" b="0" dirty="0">
                <a:solidFill>
                  <a:srgbClr val="7DD3FC"/>
                </a:solidFill>
                <a:latin typeface="Consolas"/>
                <a:ea typeface="Consolas"/>
                <a:cs typeface="Consolas"/>
              </a:rPr>
              <a:t>PlaceOrder</a:t>
            </a:r>
            <a:r>
              <a:rPr lang="en-US" sz="1025" b="0" dirty="0">
                <a:solidFill>
                  <a:srgbClr val="E2E8F0"/>
                </a:solidFill>
                <a:latin typeface="Consolas"/>
                <a:ea typeface="Consolas"/>
                <a:cs typeface="Consolas"/>
              </a:rPr>
              <a:t>()</a:t>
            </a:r>
            <a:endParaRPr lang="en-US" sz="1025" dirty="0"/>
          </a:p>
        </p:txBody>
      </p:sp>
      <p:sp>
        <p:nvSpPr>
          <p:cNvPr id="113" name="s113"/>
          <p:cNvSpPr/>
          <p:nvPr/>
        </p:nvSpPr>
        <p:spPr>
          <a:xfrm>
            <a:off x="543154" y="355244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a:t>
            </a:r>
            <a:endParaRPr lang="en-US" sz="1025" dirty="0"/>
          </a:p>
        </p:txBody>
      </p:sp>
      <p:sp>
        <p:nvSpPr>
          <p:cNvPr id="114" name="s114"/>
          <p:cNvSpPr/>
          <p:nvPr/>
        </p:nvSpPr>
        <p:spPr>
          <a:xfrm>
            <a:off x="543154" y="370865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a:t>
            </a:r>
            <a:r>
              <a:rPr lang="en-US" sz="1025" b="0" dirty="0">
                <a:solidFill>
                  <a:srgbClr val="6FAE7A"/>
                </a:solidFill>
                <a:latin typeface="Consolas"/>
                <a:ea typeface="Consolas"/>
                <a:cs typeface="Consolas"/>
              </a:rPr>
              <a:t>// ... place the order ...</a:t>
            </a:r>
            <a:endParaRPr lang="en-US" sz="1025" dirty="0"/>
          </a:p>
        </p:txBody>
      </p:sp>
      <p:sp>
        <p:nvSpPr>
          <p:cNvPr id="115" name="s115"/>
          <p:cNvSpPr/>
          <p:nvPr/>
        </p:nvSpPr>
        <p:spPr>
          <a:xfrm>
            <a:off x="543154" y="386486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_log(</a:t>
            </a:r>
            <a:r>
              <a:rPr lang="en-US" sz="1025" b="0" dirty="0">
                <a:solidFill>
                  <a:srgbClr val="F0A98B"/>
                </a:solidFill>
                <a:latin typeface="Consolas"/>
                <a:ea typeface="Consolas"/>
                <a:cs typeface="Consolas"/>
              </a:rPr>
              <a:t>"Order placed"</a:t>
            </a:r>
            <a:r>
              <a:rPr lang="en-US" sz="1025" b="0" dirty="0">
                <a:solidFill>
                  <a:srgbClr val="E2E8F0"/>
                </a:solidFill>
                <a:latin typeface="Consolas"/>
                <a:ea typeface="Consolas"/>
                <a:cs typeface="Consolas"/>
              </a:rPr>
              <a:t>);</a:t>
            </a:r>
            <a:endParaRPr lang="en-US" sz="1025" dirty="0"/>
          </a:p>
        </p:txBody>
      </p:sp>
      <p:sp>
        <p:nvSpPr>
          <p:cNvPr id="116" name="s116"/>
          <p:cNvSpPr/>
          <p:nvPr/>
        </p:nvSpPr>
        <p:spPr>
          <a:xfrm>
            <a:off x="543154" y="402107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a:t>
            </a:r>
            <a:endParaRPr lang="en-US" sz="1025" dirty="0"/>
          </a:p>
        </p:txBody>
      </p:sp>
      <p:sp>
        <p:nvSpPr>
          <p:cNvPr id="117" name="s117"/>
          <p:cNvSpPr/>
          <p:nvPr/>
        </p:nvSpPr>
        <p:spPr>
          <a:xfrm>
            <a:off x="543154" y="417728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a:t>
            </a:r>
            <a:endParaRPr lang="en-US" sz="1025" dirty="0"/>
          </a:p>
        </p:txBody>
      </p:sp>
      <p:sp>
        <p:nvSpPr>
          <p:cNvPr id="118" name="s118"/>
          <p:cNvSpPr/>
          <p:nvPr/>
        </p:nvSpPr>
        <p:spPr>
          <a:xfrm>
            <a:off x="543154" y="433349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6FAE7A"/>
                </a:solidFill>
                <a:latin typeface="Consolas"/>
                <a:ea typeface="Consolas"/>
                <a:cs typeface="Consolas"/>
              </a:rPr>
              <a:t>// production:</a:t>
            </a:r>
            <a:endParaRPr lang="en-US" sz="1025" dirty="0"/>
          </a:p>
        </p:txBody>
      </p:sp>
      <p:sp>
        <p:nvSpPr>
          <p:cNvPr id="119" name="s119"/>
          <p:cNvSpPr/>
          <p:nvPr/>
        </p:nvSpPr>
        <p:spPr>
          <a:xfrm>
            <a:off x="543154" y="448970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6FAE7A"/>
                </a:solidFill>
                <a:latin typeface="Consolas"/>
                <a:ea typeface="Consolas"/>
                <a:cs typeface="Consolas"/>
              </a:rPr>
              <a:t>// new OrderService(msg =&gt; logger.LogInformation(msg));</a:t>
            </a:r>
            <a:endParaRPr lang="en-US" sz="1025" dirty="0"/>
          </a:p>
        </p:txBody>
      </p:sp>
      <p:sp>
        <p:nvSpPr>
          <p:cNvPr id="120" name="s120"/>
          <p:cNvSpPr txBox="1"/>
          <p:nvPr/>
        </p:nvSpPr>
        <p:spPr>
          <a:xfrm>
            <a:off x="6201461" y="1810512"/>
            <a:ext cx="5429707"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A78BFA"/>
                </a:solidFill>
                <a:latin typeface="Segoe UI"/>
                <a:ea typeface="Segoe UI"/>
                <a:cs typeface="Segoe UI"/>
              </a:rPr>
              <a:t>THE TEST</a:t>
            </a:r>
            <a:endParaRPr lang="en-US" sz="1050" dirty="0"/>
          </a:p>
        </p:txBody>
      </p:sp>
      <p:sp>
        <p:nvSpPr>
          <p:cNvPr id="121" name="s121"/>
          <p:cNvSpPr/>
          <p:nvPr/>
        </p:nvSpPr>
        <p:spPr>
          <a:xfrm>
            <a:off x="6201461" y="2084832"/>
            <a:ext cx="5429707" cy="2743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2" name="s122"/>
          <p:cNvSpPr/>
          <p:nvPr/>
        </p:nvSpPr>
        <p:spPr>
          <a:xfrm>
            <a:off x="6366053"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23" name="s123"/>
          <p:cNvSpPr/>
          <p:nvPr/>
        </p:nvSpPr>
        <p:spPr>
          <a:xfrm>
            <a:off x="6548933"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4" name="s124"/>
          <p:cNvSpPr/>
          <p:nvPr/>
        </p:nvSpPr>
        <p:spPr>
          <a:xfrm>
            <a:off x="6731813"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5" name="s125"/>
          <p:cNvSpPr/>
          <p:nvPr/>
        </p:nvSpPr>
        <p:spPr>
          <a:xfrm>
            <a:off x="6978701" y="2157984"/>
            <a:ext cx="174650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OrderServiceTests.cs</a:t>
            </a:r>
            <a:endParaRPr lang="en-US" sz="950" dirty="0"/>
          </a:p>
        </p:txBody>
      </p:sp>
      <p:cxnSp>
        <p:nvCxnSpPr>
          <p:cNvPr id="126" name="ln126"/>
          <p:cNvCxnSpPr/>
          <p:nvPr/>
        </p:nvCxnSpPr>
        <p:spPr>
          <a:xfrm>
            <a:off x="6201461" y="2496312"/>
            <a:ext cx="5429707" cy="0"/>
          </a:xfrm>
          <a:prstGeom prst="line">
            <a:avLst/>
          </a:prstGeom>
          <a:ln w="9525">
            <a:solidFill>
              <a:srgbClr val="1E3A5F"/>
            </a:solidFill>
          </a:ln>
        </p:spPr>
      </p:cxnSp>
      <p:sp>
        <p:nvSpPr>
          <p:cNvPr id="127" name="s127"/>
          <p:cNvSpPr/>
          <p:nvPr/>
        </p:nvSpPr>
        <p:spPr>
          <a:xfrm>
            <a:off x="6201461" y="261518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FBBF24"/>
                </a:solidFill>
                <a:latin typeface="Consolas"/>
                <a:ea typeface="Consolas"/>
                <a:cs typeface="Consolas"/>
              </a:rPr>
              <a:t>[Fact]</a:t>
            </a:r>
            <a:endParaRPr lang="en-US" sz="1025" dirty="0"/>
          </a:p>
        </p:txBody>
      </p:sp>
      <p:sp>
        <p:nvSpPr>
          <p:cNvPr id="128" name="s128"/>
          <p:cNvSpPr/>
          <p:nvPr/>
        </p:nvSpPr>
        <p:spPr>
          <a:xfrm>
            <a:off x="6201461" y="277139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60A5FA"/>
                </a:solidFill>
                <a:latin typeface="Consolas"/>
                <a:ea typeface="Consolas"/>
                <a:cs typeface="Consolas"/>
              </a:rPr>
              <a:t>public</a:t>
            </a: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void</a:t>
            </a:r>
            <a:r>
              <a:rPr lang="en-US" sz="1025" b="0" dirty="0">
                <a:solidFill>
                  <a:srgbClr val="E2E8F0"/>
                </a:solidFill>
                <a:latin typeface="Consolas"/>
                <a:ea typeface="Consolas"/>
                <a:cs typeface="Consolas"/>
              </a:rPr>
              <a:t> </a:t>
            </a:r>
            <a:r>
              <a:rPr lang="en-US" sz="1025" b="0" dirty="0">
                <a:solidFill>
                  <a:srgbClr val="7DD3FC"/>
                </a:solidFill>
                <a:latin typeface="Consolas"/>
                <a:ea typeface="Consolas"/>
                <a:cs typeface="Consolas"/>
              </a:rPr>
              <a:t>PlaceOrder_LogsTheMessage</a:t>
            </a:r>
            <a:r>
              <a:rPr lang="en-US" sz="1025" b="0" dirty="0">
                <a:solidFill>
                  <a:srgbClr val="E2E8F0"/>
                </a:solidFill>
                <a:latin typeface="Consolas"/>
                <a:ea typeface="Consolas"/>
                <a:cs typeface="Consolas"/>
              </a:rPr>
              <a:t>()</a:t>
            </a:r>
            <a:endParaRPr lang="en-US" sz="1025" dirty="0"/>
          </a:p>
        </p:txBody>
      </p:sp>
      <p:sp>
        <p:nvSpPr>
          <p:cNvPr id="129" name="s129"/>
          <p:cNvSpPr/>
          <p:nvPr/>
        </p:nvSpPr>
        <p:spPr>
          <a:xfrm>
            <a:off x="6201461" y="292760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a:t>
            </a:r>
            <a:endParaRPr lang="en-US" sz="1025" dirty="0"/>
          </a:p>
        </p:txBody>
      </p:sp>
      <p:sp>
        <p:nvSpPr>
          <p:cNvPr id="130" name="s130"/>
          <p:cNvSpPr/>
          <p:nvPr/>
        </p:nvSpPr>
        <p:spPr>
          <a:xfrm>
            <a:off x="6201461" y="308381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var</a:t>
            </a:r>
            <a:r>
              <a:rPr lang="en-US" sz="1025" b="0" dirty="0">
                <a:solidFill>
                  <a:srgbClr val="E2E8F0"/>
                </a:solidFill>
                <a:latin typeface="Consolas"/>
                <a:ea typeface="Consolas"/>
                <a:cs typeface="Consolas"/>
              </a:rPr>
              <a:t> messages = </a:t>
            </a:r>
            <a:r>
              <a:rPr lang="en-US" sz="1025" b="0" dirty="0">
                <a:solidFill>
                  <a:srgbClr val="60A5FA"/>
                </a:solidFill>
                <a:latin typeface="Consolas"/>
                <a:ea typeface="Consolas"/>
                <a:cs typeface="Consolas"/>
              </a:rPr>
              <a:t>new</a:t>
            </a:r>
            <a:r>
              <a:rPr lang="en-US" sz="1025" b="0" dirty="0">
                <a:solidFill>
                  <a:srgbClr val="E2E8F0"/>
                </a:solidFill>
                <a:latin typeface="Consolas"/>
                <a:ea typeface="Consolas"/>
                <a:cs typeface="Consolas"/>
              </a:rPr>
              <a:t> </a:t>
            </a:r>
            <a:r>
              <a:rPr lang="en-US" sz="1025" b="0" dirty="0">
                <a:solidFill>
                  <a:srgbClr val="7DD3FC"/>
                </a:solidFill>
                <a:latin typeface="Consolas"/>
                <a:ea typeface="Consolas"/>
                <a:cs typeface="Consolas"/>
              </a:rPr>
              <a:t>List</a:t>
            </a:r>
            <a:r>
              <a:rPr lang="en-US" sz="1025" b="0" dirty="0">
                <a:solidFill>
                  <a:srgbClr val="E2E8F0"/>
                </a:solidFill>
                <a:latin typeface="Consolas"/>
                <a:ea typeface="Consolas"/>
                <a:cs typeface="Consolas"/>
              </a:rPr>
              <a:t>&lt;</a:t>
            </a:r>
            <a:r>
              <a:rPr lang="en-US" sz="1025" b="0" dirty="0">
                <a:solidFill>
                  <a:srgbClr val="60A5FA"/>
                </a:solidFill>
                <a:latin typeface="Consolas"/>
                <a:ea typeface="Consolas"/>
                <a:cs typeface="Consolas"/>
              </a:rPr>
              <a:t>string</a:t>
            </a:r>
            <a:r>
              <a:rPr lang="en-US" sz="1025" b="0" dirty="0">
                <a:solidFill>
                  <a:srgbClr val="E2E8F0"/>
                </a:solidFill>
                <a:latin typeface="Consolas"/>
                <a:ea typeface="Consolas"/>
                <a:cs typeface="Consolas"/>
              </a:rPr>
              <a:t>&gt;();</a:t>
            </a:r>
            <a:endParaRPr lang="en-US" sz="1025" dirty="0"/>
          </a:p>
        </p:txBody>
      </p:sp>
      <p:sp>
        <p:nvSpPr>
          <p:cNvPr id="131" name="s131"/>
          <p:cNvSpPr/>
          <p:nvPr/>
        </p:nvSpPr>
        <p:spPr>
          <a:xfrm>
            <a:off x="6201461" y="324002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var</a:t>
            </a:r>
            <a:r>
              <a:rPr lang="en-US" sz="1025" b="0" dirty="0">
                <a:solidFill>
                  <a:srgbClr val="E2E8F0"/>
                </a:solidFill>
                <a:latin typeface="Consolas"/>
                <a:ea typeface="Consolas"/>
                <a:cs typeface="Consolas"/>
              </a:rPr>
              <a:t> service = </a:t>
            </a:r>
            <a:r>
              <a:rPr lang="en-US" sz="1025" b="0" dirty="0">
                <a:solidFill>
                  <a:srgbClr val="60A5FA"/>
                </a:solidFill>
                <a:latin typeface="Consolas"/>
                <a:ea typeface="Consolas"/>
                <a:cs typeface="Consolas"/>
              </a:rPr>
              <a:t>new</a:t>
            </a:r>
            <a:r>
              <a:rPr lang="en-US" sz="1025" b="0" dirty="0">
                <a:solidFill>
                  <a:srgbClr val="E2E8F0"/>
                </a:solidFill>
                <a:latin typeface="Consolas"/>
                <a:ea typeface="Consolas"/>
                <a:cs typeface="Consolas"/>
              </a:rPr>
              <a:t> </a:t>
            </a:r>
            <a:r>
              <a:rPr lang="en-US" sz="1025" b="0" dirty="0">
                <a:solidFill>
                  <a:srgbClr val="7DD3FC"/>
                </a:solidFill>
                <a:latin typeface="Consolas"/>
                <a:ea typeface="Consolas"/>
                <a:cs typeface="Consolas"/>
              </a:rPr>
              <a:t>OrderService</a:t>
            </a:r>
            <a:r>
              <a:rPr lang="en-US" sz="1025" b="0" dirty="0">
                <a:solidFill>
                  <a:srgbClr val="E2E8F0"/>
                </a:solidFill>
                <a:latin typeface="Consolas"/>
                <a:ea typeface="Consolas"/>
                <a:cs typeface="Consolas"/>
              </a:rPr>
              <a:t>(messages.</a:t>
            </a:r>
            <a:r>
              <a:rPr lang="en-US" sz="1025" b="0" dirty="0">
                <a:solidFill>
                  <a:srgbClr val="7DD3FC"/>
                </a:solidFill>
                <a:latin typeface="Consolas"/>
                <a:ea typeface="Consolas"/>
                <a:cs typeface="Consolas"/>
              </a:rPr>
              <a:t>Add</a:t>
            </a:r>
            <a:r>
              <a:rPr lang="en-US" sz="1025" b="0" dirty="0">
                <a:solidFill>
                  <a:srgbClr val="E2E8F0"/>
                </a:solidFill>
                <a:latin typeface="Consolas"/>
                <a:ea typeface="Consolas"/>
                <a:cs typeface="Consolas"/>
              </a:rPr>
              <a:t>);</a:t>
            </a:r>
            <a:endParaRPr lang="en-US" sz="1025" dirty="0"/>
          </a:p>
        </p:txBody>
      </p:sp>
      <p:sp>
        <p:nvSpPr>
          <p:cNvPr id="132" name="s132"/>
          <p:cNvSpPr/>
          <p:nvPr/>
        </p:nvSpPr>
        <p:spPr>
          <a:xfrm>
            <a:off x="6201461" y="355244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service.</a:t>
            </a:r>
            <a:r>
              <a:rPr lang="en-US" sz="1025" b="0" dirty="0">
                <a:solidFill>
                  <a:srgbClr val="7DD3FC"/>
                </a:solidFill>
                <a:latin typeface="Consolas"/>
                <a:ea typeface="Consolas"/>
                <a:cs typeface="Consolas"/>
              </a:rPr>
              <a:t>PlaceOrder</a:t>
            </a:r>
            <a:r>
              <a:rPr lang="en-US" sz="1025" b="0" dirty="0">
                <a:solidFill>
                  <a:srgbClr val="E2E8F0"/>
                </a:solidFill>
                <a:latin typeface="Consolas"/>
                <a:ea typeface="Consolas"/>
                <a:cs typeface="Consolas"/>
              </a:rPr>
              <a:t>();</a:t>
            </a:r>
            <a:endParaRPr lang="en-US" sz="1025" dirty="0"/>
          </a:p>
        </p:txBody>
      </p:sp>
      <p:sp>
        <p:nvSpPr>
          <p:cNvPr id="133" name="s133"/>
          <p:cNvSpPr/>
          <p:nvPr/>
        </p:nvSpPr>
        <p:spPr>
          <a:xfrm>
            <a:off x="6201461" y="386486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messages.</a:t>
            </a:r>
            <a:r>
              <a:rPr lang="en-US" sz="1025" b="0" dirty="0">
                <a:solidFill>
                  <a:srgbClr val="7DD3FC"/>
                </a:solidFill>
                <a:latin typeface="Consolas"/>
                <a:ea typeface="Consolas"/>
                <a:cs typeface="Consolas"/>
              </a:rPr>
              <a:t>ShouldContain</a:t>
            </a:r>
            <a:r>
              <a:rPr lang="en-US" sz="1025" b="0" dirty="0">
                <a:solidFill>
                  <a:srgbClr val="E2E8F0"/>
                </a:solidFill>
                <a:latin typeface="Consolas"/>
                <a:ea typeface="Consolas"/>
                <a:cs typeface="Consolas"/>
              </a:rPr>
              <a:t>(</a:t>
            </a:r>
            <a:r>
              <a:rPr lang="en-US" sz="1025" b="0" dirty="0">
                <a:solidFill>
                  <a:srgbClr val="F0A98B"/>
                </a:solidFill>
                <a:latin typeface="Consolas"/>
                <a:ea typeface="Consolas"/>
                <a:cs typeface="Consolas"/>
              </a:rPr>
              <a:t>"Order placed"</a:t>
            </a:r>
            <a:r>
              <a:rPr lang="en-US" sz="1025" b="0" dirty="0">
                <a:solidFill>
                  <a:srgbClr val="E2E8F0"/>
                </a:solidFill>
                <a:latin typeface="Consolas"/>
                <a:ea typeface="Consolas"/>
                <a:cs typeface="Consolas"/>
              </a:rPr>
              <a:t>);</a:t>
            </a:r>
            <a:endParaRPr lang="en-US" sz="1025" dirty="0"/>
          </a:p>
        </p:txBody>
      </p:sp>
      <p:sp>
        <p:nvSpPr>
          <p:cNvPr id="134" name="s134"/>
          <p:cNvSpPr/>
          <p:nvPr/>
        </p:nvSpPr>
        <p:spPr>
          <a:xfrm>
            <a:off x="6201461" y="4021074"/>
            <a:ext cx="5429707"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a:t>
            </a:r>
            <a:endParaRPr lang="en-US" sz="1025" dirty="0"/>
          </a:p>
        </p:txBody>
      </p:sp>
      <p:sp>
        <p:nvSpPr>
          <p:cNvPr id="135" name="s135"/>
          <p:cNvSpPr/>
          <p:nvPr/>
        </p:nvSpPr>
        <p:spPr>
          <a:xfrm>
            <a:off x="543154" y="4965192"/>
            <a:ext cx="5429707" cy="1289304"/>
          </a:xfrm>
          <a:prstGeom prst="roundRect">
            <a:avLst>
              <a:gd name="adj" fmla="val 10000"/>
            </a:avLst>
          </a:prstGeom>
          <a:solidFill>
            <a:srgbClr val="111B2E"/>
          </a:solidFill>
          <a:ln w="12700">
            <a:solidFill>
              <a:srgbClr val="34D399"/>
            </a:solidFill>
            <a:prstDash val="solid"/>
          </a:ln>
        </p:spPr>
        <p:txBody>
          <a:bodyPr wrap="square" lIns="201168" tIns="73152" rIns="137160" bIns="73152" rtlCol="0" anchor="ctr">
            <a:noAutofit/>
          </a:bodyPr>
          <a:lstStyle/>
          <a:p>
            <a:pPr marL="0" indent="0" algn="l">
              <a:spcBef>
                <a:spcPts val="0"/>
              </a:spcBef>
              <a:spcAft>
                <a:spcPts val="400"/>
              </a:spcAft>
              <a:buNone/>
            </a:pPr>
            <a:r>
              <a:rPr lang="en-US" sz="1100" b="1" dirty="0">
                <a:solidFill>
                  <a:srgbClr val="34D399"/>
                </a:solidFill>
                <a:latin typeface="Segoe UI"/>
                <a:ea typeface="Segoe UI"/>
                <a:cs typeface="Segoe UI"/>
              </a:rPr>
              <a:t>GOOD FOR</a:t>
            </a:r>
            <a:endParaRPr lang="en-US" sz="1100" dirty="0"/>
          </a:p>
          <a:p>
            <a:pPr marL="0" indent="0" algn="l">
              <a:spcBef>
                <a:spcPts val="0"/>
              </a:spcBef>
              <a:spcAft>
                <a:spcPts val="0"/>
              </a:spcAft>
              <a:buNone/>
            </a:pPr>
            <a:r>
              <a:rPr lang="en-US" sz="1250" b="0" dirty="0">
                <a:solidFill>
                  <a:srgbClr val="E2E8F0"/>
                </a:solidFill>
                <a:latin typeface="Segoe UI"/>
                <a:ea typeface="Segoe UI"/>
                <a:cs typeface="Segoe UI"/>
              </a:rPr>
              <a:t>small dependencies:  a log line,  Func&lt;DateTimeOffset&gt; for "now",  Func&lt;Guid&gt; for new ids.</a:t>
            </a:r>
            <a:endParaRPr lang="en-US" sz="1250" dirty="0"/>
          </a:p>
        </p:txBody>
      </p:sp>
      <p:sp>
        <p:nvSpPr>
          <p:cNvPr id="136" name="s136"/>
          <p:cNvSpPr/>
          <p:nvPr/>
        </p:nvSpPr>
        <p:spPr>
          <a:xfrm>
            <a:off x="6201461" y="4965192"/>
            <a:ext cx="5429707" cy="1289304"/>
          </a:xfrm>
          <a:prstGeom prst="roundRect">
            <a:avLst>
              <a:gd name="adj" fmla="val 10000"/>
            </a:avLst>
          </a:prstGeom>
          <a:solidFill>
            <a:srgbClr val="111B2E"/>
          </a:solidFill>
          <a:ln w="12700">
            <a:solidFill>
              <a:srgbClr val="FBBF24"/>
            </a:solidFill>
            <a:prstDash val="solid"/>
          </a:ln>
        </p:spPr>
        <p:txBody>
          <a:bodyPr wrap="square" lIns="201168" tIns="73152" rIns="137160" bIns="73152" rtlCol="0" anchor="ctr">
            <a:noAutofit/>
          </a:bodyPr>
          <a:lstStyle/>
          <a:p>
            <a:pPr marL="0" indent="0" algn="l">
              <a:spcBef>
                <a:spcPts val="0"/>
              </a:spcBef>
              <a:spcAft>
                <a:spcPts val="400"/>
              </a:spcAft>
              <a:buNone/>
            </a:pPr>
            <a:r>
              <a:rPr lang="en-US" sz="1100" b="1" dirty="0">
                <a:solidFill>
                  <a:srgbClr val="FBBF24"/>
                </a:solidFill>
                <a:latin typeface="Segoe UI"/>
                <a:ea typeface="Segoe UI"/>
                <a:cs typeface="Segoe UI"/>
              </a:rPr>
              <a:t>BUT NOTICE</a:t>
            </a:r>
            <a:endParaRPr lang="en-US" sz="1100" dirty="0"/>
          </a:p>
          <a:p>
            <a:pPr marL="0" indent="0" algn="l">
              <a:spcBef>
                <a:spcPts val="0"/>
              </a:spcBef>
              <a:spcAft>
                <a:spcPts val="0"/>
              </a:spcAft>
              <a:buNone/>
            </a:pPr>
            <a:r>
              <a:rPr lang="en-US" sz="1250" b="1" dirty="0">
                <a:solidFill>
                  <a:srgbClr val="FFFFFF"/>
                </a:solidFill>
                <a:latin typeface="Consolas"/>
                <a:ea typeface="Consolas"/>
                <a:cs typeface="Consolas"/>
              </a:rPr>
              <a:t>messages.Add</a:t>
            </a:r>
            <a:r>
              <a:rPr lang="en-US" sz="1250" b="0" dirty="0">
                <a:solidFill>
                  <a:srgbClr val="E2E8F0"/>
                </a:solidFill>
                <a:latin typeface="Segoe UI"/>
                <a:ea typeface="Segoe UI"/>
                <a:cs typeface="Segoe UI"/>
              </a:rPr>
              <a:t> IS a test double: a </a:t>
            </a:r>
            <a:r>
              <a:rPr lang="en-US" sz="1250" b="1" dirty="0">
                <a:solidFill>
                  <a:srgbClr val="A78BFA"/>
                </a:solidFill>
                <a:latin typeface="Segoe UI"/>
                <a:ea typeface="Segoe UI"/>
                <a:cs typeface="Segoe UI"/>
              </a:rPr>
              <a:t>spy</a:t>
            </a:r>
            <a:r>
              <a:rPr lang="en-US" sz="1250" b="0" dirty="0">
                <a:solidFill>
                  <a:srgbClr val="E2E8F0"/>
                </a:solidFill>
                <a:latin typeface="Segoe UI"/>
                <a:ea typeface="Segoe UI"/>
                <a:cs typeface="Segoe UI"/>
              </a:rPr>
              <a:t>. We dropped the library, not the idea.</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11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11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11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11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11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nodeType="withEffect">
                                  <p:stCondLst>
                                    <p:cond delay="11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11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11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11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11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11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11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11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11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11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11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11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11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42" presetClass="entr" presetSubtype="0" fill="hold" grpId="0" nodeType="clickEffect">
                                  <p:stCondLst>
                                    <p:cond delay="0"/>
                                  </p:stCondLst>
                                  <p:childTnLst>
                                    <p:set>
                                      <p:cBhvr>
                                        <p:cTn id="84" dur="1" fill="hold">
                                          <p:stCondLst>
                                            <p:cond delay="0"/>
                                          </p:stCondLst>
                                        </p:cTn>
                                        <p:tgtEl>
                                          <p:spTgt spid="120"/>
                                        </p:tgtEl>
                                        <p:attrNameLst>
                                          <p:attrName>style.visibility</p:attrName>
                                        </p:attrNameLst>
                                      </p:cBhvr>
                                      <p:to>
                                        <p:strVal val="visible"/>
                                      </p:to>
                                    </p:set>
                                    <p:animEffect transition="in" filter="fade">
                                      <p:cBhvr>
                                        <p:cTn id="85" dur="500"/>
                                        <p:tgtEl>
                                          <p:spTgt spid="120"/>
                                        </p:tgtEl>
                                      </p:cBhvr>
                                    </p:animEffect>
                                    <p:anim calcmode="lin" valueType="num">
                                      <p:cBhvr additive="base">
                                        <p:cTn id="86" dur="500" decel="100000" fill="hold"/>
                                        <p:tgtEl>
                                          <p:spTgt spid="120"/>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110"/>
                                  </p:stCondLst>
                                  <p:childTnLst>
                                    <p:set>
                                      <p:cBhvr>
                                        <p:cTn id="88" dur="1" fill="hold">
                                          <p:stCondLst>
                                            <p:cond delay="0"/>
                                          </p:stCondLst>
                                        </p:cTn>
                                        <p:tgtEl>
                                          <p:spTgt spid="121"/>
                                        </p:tgtEl>
                                        <p:attrNameLst>
                                          <p:attrName>style.visibility</p:attrName>
                                        </p:attrNameLst>
                                      </p:cBhvr>
                                      <p:to>
                                        <p:strVal val="visible"/>
                                      </p:to>
                                    </p:set>
                                    <p:animEffect transition="in" filter="fade">
                                      <p:cBhvr>
                                        <p:cTn id="89" dur="500"/>
                                        <p:tgtEl>
                                          <p:spTgt spid="121"/>
                                        </p:tgtEl>
                                      </p:cBhvr>
                                    </p:animEffect>
                                    <p:anim calcmode="lin" valueType="num">
                                      <p:cBhvr additive="base">
                                        <p:cTn id="90" dur="500" decel="100000" fill="hold"/>
                                        <p:tgtEl>
                                          <p:spTgt spid="121"/>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110"/>
                                  </p:stCondLst>
                                  <p:childTnLst>
                                    <p:set>
                                      <p:cBhvr>
                                        <p:cTn id="92" dur="1" fill="hold">
                                          <p:stCondLst>
                                            <p:cond delay="0"/>
                                          </p:stCondLst>
                                        </p:cTn>
                                        <p:tgtEl>
                                          <p:spTgt spid="122"/>
                                        </p:tgtEl>
                                        <p:attrNameLst>
                                          <p:attrName>style.visibility</p:attrName>
                                        </p:attrNameLst>
                                      </p:cBhvr>
                                      <p:to>
                                        <p:strVal val="visible"/>
                                      </p:to>
                                    </p:set>
                                    <p:animEffect transition="in" filter="fade">
                                      <p:cBhvr>
                                        <p:cTn id="93" dur="500"/>
                                        <p:tgtEl>
                                          <p:spTgt spid="122"/>
                                        </p:tgtEl>
                                      </p:cBhvr>
                                    </p:animEffect>
                                    <p:anim calcmode="lin" valueType="num">
                                      <p:cBhvr additive="base">
                                        <p:cTn id="94" dur="500" decel="100000" fill="hold"/>
                                        <p:tgtEl>
                                          <p:spTgt spid="122"/>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110"/>
                                  </p:stCondLst>
                                  <p:childTnLst>
                                    <p:set>
                                      <p:cBhvr>
                                        <p:cTn id="96" dur="1" fill="hold">
                                          <p:stCondLst>
                                            <p:cond delay="0"/>
                                          </p:stCondLst>
                                        </p:cTn>
                                        <p:tgtEl>
                                          <p:spTgt spid="123"/>
                                        </p:tgtEl>
                                        <p:attrNameLst>
                                          <p:attrName>style.visibility</p:attrName>
                                        </p:attrNameLst>
                                      </p:cBhvr>
                                      <p:to>
                                        <p:strVal val="visible"/>
                                      </p:to>
                                    </p:set>
                                    <p:animEffect transition="in" filter="fade">
                                      <p:cBhvr>
                                        <p:cTn id="97" dur="500"/>
                                        <p:tgtEl>
                                          <p:spTgt spid="123"/>
                                        </p:tgtEl>
                                      </p:cBhvr>
                                    </p:animEffect>
                                    <p:anim calcmode="lin" valueType="num">
                                      <p:cBhvr additive="base">
                                        <p:cTn id="98" dur="500" decel="100000" fill="hold"/>
                                        <p:tgtEl>
                                          <p:spTgt spid="123"/>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110"/>
                                  </p:stCondLst>
                                  <p:childTnLst>
                                    <p:set>
                                      <p:cBhvr>
                                        <p:cTn id="100" dur="1" fill="hold">
                                          <p:stCondLst>
                                            <p:cond delay="0"/>
                                          </p:stCondLst>
                                        </p:cTn>
                                        <p:tgtEl>
                                          <p:spTgt spid="124"/>
                                        </p:tgtEl>
                                        <p:attrNameLst>
                                          <p:attrName>style.visibility</p:attrName>
                                        </p:attrNameLst>
                                      </p:cBhvr>
                                      <p:to>
                                        <p:strVal val="visible"/>
                                      </p:to>
                                    </p:set>
                                    <p:animEffect transition="in" filter="fade">
                                      <p:cBhvr>
                                        <p:cTn id="101" dur="500"/>
                                        <p:tgtEl>
                                          <p:spTgt spid="124"/>
                                        </p:tgtEl>
                                      </p:cBhvr>
                                    </p:animEffect>
                                    <p:anim calcmode="lin" valueType="num">
                                      <p:cBhvr additive="base">
                                        <p:cTn id="102" dur="500" decel="100000" fill="hold"/>
                                        <p:tgtEl>
                                          <p:spTgt spid="124"/>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110"/>
                                  </p:stCondLst>
                                  <p:childTnLst>
                                    <p:set>
                                      <p:cBhvr>
                                        <p:cTn id="104" dur="1" fill="hold">
                                          <p:stCondLst>
                                            <p:cond delay="0"/>
                                          </p:stCondLst>
                                        </p:cTn>
                                        <p:tgtEl>
                                          <p:spTgt spid="125"/>
                                        </p:tgtEl>
                                        <p:attrNameLst>
                                          <p:attrName>style.visibility</p:attrName>
                                        </p:attrNameLst>
                                      </p:cBhvr>
                                      <p:to>
                                        <p:strVal val="visible"/>
                                      </p:to>
                                    </p:set>
                                    <p:animEffect transition="in" filter="fade">
                                      <p:cBhvr>
                                        <p:cTn id="105" dur="500"/>
                                        <p:tgtEl>
                                          <p:spTgt spid="125"/>
                                        </p:tgtEl>
                                      </p:cBhvr>
                                    </p:animEffect>
                                    <p:anim calcmode="lin" valueType="num">
                                      <p:cBhvr additive="base">
                                        <p:cTn id="106" dur="500" decel="100000" fill="hold"/>
                                        <p:tgtEl>
                                          <p:spTgt spid="125"/>
                                        </p:tgtEl>
                                        <p:attrNameLst>
                                          <p:attrName>ppt_y</p:attrName>
                                        </p:attrNameLst>
                                      </p:cBhvr>
                                      <p:tavLst>
                                        <p:tav tm="0">
                                          <p:val>
                                            <p:strVal val="#ppt_y+0.06"/>
                                          </p:val>
                                        </p:tav>
                                        <p:tav tm="100000">
                                          <p:val>
                                            <p:strVal val="#ppt_y"/>
                                          </p:val>
                                        </p:tav>
                                      </p:tavLst>
                                    </p:anim>
                                  </p:childTnLst>
                                </p:cTn>
                              </p:par>
                              <p:par>
                                <p:cTn id="107" presetID="42" presetClass="entr" presetSubtype="0" fill="hold" nodeType="withEffect">
                                  <p:stCondLst>
                                    <p:cond delay="110"/>
                                  </p:stCondLst>
                                  <p:childTnLst>
                                    <p:set>
                                      <p:cBhvr>
                                        <p:cTn id="108" dur="1" fill="hold">
                                          <p:stCondLst>
                                            <p:cond delay="0"/>
                                          </p:stCondLst>
                                        </p:cTn>
                                        <p:tgtEl>
                                          <p:spTgt spid="126"/>
                                        </p:tgtEl>
                                        <p:attrNameLst>
                                          <p:attrName>style.visibility</p:attrName>
                                        </p:attrNameLst>
                                      </p:cBhvr>
                                      <p:to>
                                        <p:strVal val="visible"/>
                                      </p:to>
                                    </p:set>
                                    <p:animEffect transition="in" filter="fade">
                                      <p:cBhvr>
                                        <p:cTn id="109" dur="500"/>
                                        <p:tgtEl>
                                          <p:spTgt spid="126"/>
                                        </p:tgtEl>
                                      </p:cBhvr>
                                    </p:animEffect>
                                    <p:anim calcmode="lin" valueType="num">
                                      <p:cBhvr additive="base">
                                        <p:cTn id="110" dur="500" decel="100000" fill="hold"/>
                                        <p:tgtEl>
                                          <p:spTgt spid="126"/>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110"/>
                                  </p:stCondLst>
                                  <p:childTnLst>
                                    <p:set>
                                      <p:cBhvr>
                                        <p:cTn id="112" dur="1" fill="hold">
                                          <p:stCondLst>
                                            <p:cond delay="0"/>
                                          </p:stCondLst>
                                        </p:cTn>
                                        <p:tgtEl>
                                          <p:spTgt spid="127"/>
                                        </p:tgtEl>
                                        <p:attrNameLst>
                                          <p:attrName>style.visibility</p:attrName>
                                        </p:attrNameLst>
                                      </p:cBhvr>
                                      <p:to>
                                        <p:strVal val="visible"/>
                                      </p:to>
                                    </p:set>
                                    <p:animEffect transition="in" filter="fade">
                                      <p:cBhvr>
                                        <p:cTn id="113" dur="500"/>
                                        <p:tgtEl>
                                          <p:spTgt spid="127"/>
                                        </p:tgtEl>
                                      </p:cBhvr>
                                    </p:animEffect>
                                    <p:anim calcmode="lin" valueType="num">
                                      <p:cBhvr additive="base">
                                        <p:cTn id="114" dur="500" decel="100000" fill="hold"/>
                                        <p:tgtEl>
                                          <p:spTgt spid="127"/>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110"/>
                                  </p:stCondLst>
                                  <p:childTnLst>
                                    <p:set>
                                      <p:cBhvr>
                                        <p:cTn id="116" dur="1" fill="hold">
                                          <p:stCondLst>
                                            <p:cond delay="0"/>
                                          </p:stCondLst>
                                        </p:cTn>
                                        <p:tgtEl>
                                          <p:spTgt spid="128"/>
                                        </p:tgtEl>
                                        <p:attrNameLst>
                                          <p:attrName>style.visibility</p:attrName>
                                        </p:attrNameLst>
                                      </p:cBhvr>
                                      <p:to>
                                        <p:strVal val="visible"/>
                                      </p:to>
                                    </p:set>
                                    <p:animEffect transition="in" filter="fade">
                                      <p:cBhvr>
                                        <p:cTn id="117" dur="500"/>
                                        <p:tgtEl>
                                          <p:spTgt spid="128"/>
                                        </p:tgtEl>
                                      </p:cBhvr>
                                    </p:animEffect>
                                    <p:anim calcmode="lin" valueType="num">
                                      <p:cBhvr additive="base">
                                        <p:cTn id="118" dur="500" decel="100000" fill="hold"/>
                                        <p:tgtEl>
                                          <p:spTgt spid="128"/>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110"/>
                                  </p:stCondLst>
                                  <p:childTnLst>
                                    <p:set>
                                      <p:cBhvr>
                                        <p:cTn id="120" dur="1" fill="hold">
                                          <p:stCondLst>
                                            <p:cond delay="0"/>
                                          </p:stCondLst>
                                        </p:cTn>
                                        <p:tgtEl>
                                          <p:spTgt spid="129"/>
                                        </p:tgtEl>
                                        <p:attrNameLst>
                                          <p:attrName>style.visibility</p:attrName>
                                        </p:attrNameLst>
                                      </p:cBhvr>
                                      <p:to>
                                        <p:strVal val="visible"/>
                                      </p:to>
                                    </p:set>
                                    <p:animEffect transition="in" filter="fade">
                                      <p:cBhvr>
                                        <p:cTn id="121" dur="500"/>
                                        <p:tgtEl>
                                          <p:spTgt spid="129"/>
                                        </p:tgtEl>
                                      </p:cBhvr>
                                    </p:animEffect>
                                    <p:anim calcmode="lin" valueType="num">
                                      <p:cBhvr additive="base">
                                        <p:cTn id="122" dur="500" decel="100000" fill="hold"/>
                                        <p:tgtEl>
                                          <p:spTgt spid="129"/>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110"/>
                                  </p:stCondLst>
                                  <p:childTnLst>
                                    <p:set>
                                      <p:cBhvr>
                                        <p:cTn id="124" dur="1" fill="hold">
                                          <p:stCondLst>
                                            <p:cond delay="0"/>
                                          </p:stCondLst>
                                        </p:cTn>
                                        <p:tgtEl>
                                          <p:spTgt spid="130"/>
                                        </p:tgtEl>
                                        <p:attrNameLst>
                                          <p:attrName>style.visibility</p:attrName>
                                        </p:attrNameLst>
                                      </p:cBhvr>
                                      <p:to>
                                        <p:strVal val="visible"/>
                                      </p:to>
                                    </p:set>
                                    <p:animEffect transition="in" filter="fade">
                                      <p:cBhvr>
                                        <p:cTn id="125" dur="500"/>
                                        <p:tgtEl>
                                          <p:spTgt spid="130"/>
                                        </p:tgtEl>
                                      </p:cBhvr>
                                    </p:animEffect>
                                    <p:anim calcmode="lin" valueType="num">
                                      <p:cBhvr additive="base">
                                        <p:cTn id="126" dur="500" decel="100000" fill="hold"/>
                                        <p:tgtEl>
                                          <p:spTgt spid="130"/>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110"/>
                                  </p:stCondLst>
                                  <p:childTnLst>
                                    <p:set>
                                      <p:cBhvr>
                                        <p:cTn id="128" dur="1" fill="hold">
                                          <p:stCondLst>
                                            <p:cond delay="0"/>
                                          </p:stCondLst>
                                        </p:cTn>
                                        <p:tgtEl>
                                          <p:spTgt spid="131"/>
                                        </p:tgtEl>
                                        <p:attrNameLst>
                                          <p:attrName>style.visibility</p:attrName>
                                        </p:attrNameLst>
                                      </p:cBhvr>
                                      <p:to>
                                        <p:strVal val="visible"/>
                                      </p:to>
                                    </p:set>
                                    <p:animEffect transition="in" filter="fade">
                                      <p:cBhvr>
                                        <p:cTn id="129" dur="500"/>
                                        <p:tgtEl>
                                          <p:spTgt spid="131"/>
                                        </p:tgtEl>
                                      </p:cBhvr>
                                    </p:animEffect>
                                    <p:anim calcmode="lin" valueType="num">
                                      <p:cBhvr additive="base">
                                        <p:cTn id="130" dur="500" decel="100000" fill="hold"/>
                                        <p:tgtEl>
                                          <p:spTgt spid="131"/>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110"/>
                                  </p:stCondLst>
                                  <p:childTnLst>
                                    <p:set>
                                      <p:cBhvr>
                                        <p:cTn id="132" dur="1" fill="hold">
                                          <p:stCondLst>
                                            <p:cond delay="0"/>
                                          </p:stCondLst>
                                        </p:cTn>
                                        <p:tgtEl>
                                          <p:spTgt spid="132"/>
                                        </p:tgtEl>
                                        <p:attrNameLst>
                                          <p:attrName>style.visibility</p:attrName>
                                        </p:attrNameLst>
                                      </p:cBhvr>
                                      <p:to>
                                        <p:strVal val="visible"/>
                                      </p:to>
                                    </p:set>
                                    <p:animEffect transition="in" filter="fade">
                                      <p:cBhvr>
                                        <p:cTn id="133" dur="500"/>
                                        <p:tgtEl>
                                          <p:spTgt spid="132"/>
                                        </p:tgtEl>
                                      </p:cBhvr>
                                    </p:animEffect>
                                    <p:anim calcmode="lin" valueType="num">
                                      <p:cBhvr additive="base">
                                        <p:cTn id="134" dur="500" decel="100000" fill="hold"/>
                                        <p:tgtEl>
                                          <p:spTgt spid="132"/>
                                        </p:tgtEl>
                                        <p:attrNameLst>
                                          <p:attrName>ppt_y</p:attrName>
                                        </p:attrNameLst>
                                      </p:cBhvr>
                                      <p:tavLst>
                                        <p:tav tm="0">
                                          <p:val>
                                            <p:strVal val="#ppt_y+0.06"/>
                                          </p:val>
                                        </p:tav>
                                        <p:tav tm="100000">
                                          <p:val>
                                            <p:strVal val="#ppt_y"/>
                                          </p:val>
                                        </p:tav>
                                      </p:tavLst>
                                    </p:anim>
                                  </p:childTnLst>
                                </p:cTn>
                              </p:par>
                              <p:par>
                                <p:cTn id="135" presetID="42" presetClass="entr" presetSubtype="0" fill="hold" grpId="0" nodeType="withEffect">
                                  <p:stCondLst>
                                    <p:cond delay="110"/>
                                  </p:stCondLst>
                                  <p:childTnLst>
                                    <p:set>
                                      <p:cBhvr>
                                        <p:cTn id="136" dur="1" fill="hold">
                                          <p:stCondLst>
                                            <p:cond delay="0"/>
                                          </p:stCondLst>
                                        </p:cTn>
                                        <p:tgtEl>
                                          <p:spTgt spid="133"/>
                                        </p:tgtEl>
                                        <p:attrNameLst>
                                          <p:attrName>style.visibility</p:attrName>
                                        </p:attrNameLst>
                                      </p:cBhvr>
                                      <p:to>
                                        <p:strVal val="visible"/>
                                      </p:to>
                                    </p:set>
                                    <p:animEffect transition="in" filter="fade">
                                      <p:cBhvr>
                                        <p:cTn id="137" dur="500"/>
                                        <p:tgtEl>
                                          <p:spTgt spid="133"/>
                                        </p:tgtEl>
                                      </p:cBhvr>
                                    </p:animEffect>
                                    <p:anim calcmode="lin" valueType="num">
                                      <p:cBhvr additive="base">
                                        <p:cTn id="138" dur="500" decel="100000" fill="hold"/>
                                        <p:tgtEl>
                                          <p:spTgt spid="133"/>
                                        </p:tgtEl>
                                        <p:attrNameLst>
                                          <p:attrName>ppt_y</p:attrName>
                                        </p:attrNameLst>
                                      </p:cBhvr>
                                      <p:tavLst>
                                        <p:tav tm="0">
                                          <p:val>
                                            <p:strVal val="#ppt_y+0.06"/>
                                          </p:val>
                                        </p:tav>
                                        <p:tav tm="100000">
                                          <p:val>
                                            <p:strVal val="#ppt_y"/>
                                          </p:val>
                                        </p:tav>
                                      </p:tavLst>
                                    </p:anim>
                                  </p:childTnLst>
                                </p:cTn>
                              </p:par>
                              <p:par>
                                <p:cTn id="139" presetID="42" presetClass="entr" presetSubtype="0" fill="hold" grpId="0" nodeType="withEffect">
                                  <p:stCondLst>
                                    <p:cond delay="110"/>
                                  </p:stCondLst>
                                  <p:childTnLst>
                                    <p:set>
                                      <p:cBhvr>
                                        <p:cTn id="140" dur="1" fill="hold">
                                          <p:stCondLst>
                                            <p:cond delay="0"/>
                                          </p:stCondLst>
                                        </p:cTn>
                                        <p:tgtEl>
                                          <p:spTgt spid="134"/>
                                        </p:tgtEl>
                                        <p:attrNameLst>
                                          <p:attrName>style.visibility</p:attrName>
                                        </p:attrNameLst>
                                      </p:cBhvr>
                                      <p:to>
                                        <p:strVal val="visible"/>
                                      </p:to>
                                    </p:set>
                                    <p:animEffect transition="in" filter="fade">
                                      <p:cBhvr>
                                        <p:cTn id="141" dur="500"/>
                                        <p:tgtEl>
                                          <p:spTgt spid="134"/>
                                        </p:tgtEl>
                                      </p:cBhvr>
                                    </p:animEffect>
                                    <p:anim calcmode="lin" valueType="num">
                                      <p:cBhvr additive="base">
                                        <p:cTn id="142" dur="500" decel="100000" fill="hold"/>
                                        <p:tgtEl>
                                          <p:spTgt spid="134"/>
                                        </p:tgtEl>
                                        <p:attrNameLst>
                                          <p:attrName>ppt_y</p:attrName>
                                        </p:attrNameLst>
                                      </p:cBhvr>
                                      <p:tavLst>
                                        <p:tav tm="0">
                                          <p:val>
                                            <p:strVal val="#ppt_y+0.06"/>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42" presetClass="entr" presetSubtype="0" fill="hold" grpId="0" nodeType="clickEffect">
                                  <p:stCondLst>
                                    <p:cond delay="0"/>
                                  </p:stCondLst>
                                  <p:childTnLst>
                                    <p:set>
                                      <p:cBhvr>
                                        <p:cTn id="146" dur="1" fill="hold">
                                          <p:stCondLst>
                                            <p:cond delay="0"/>
                                          </p:stCondLst>
                                        </p:cTn>
                                        <p:tgtEl>
                                          <p:spTgt spid="135"/>
                                        </p:tgtEl>
                                        <p:attrNameLst>
                                          <p:attrName>style.visibility</p:attrName>
                                        </p:attrNameLst>
                                      </p:cBhvr>
                                      <p:to>
                                        <p:strVal val="visible"/>
                                      </p:to>
                                    </p:set>
                                    <p:animEffect transition="in" filter="fade">
                                      <p:cBhvr>
                                        <p:cTn id="147" dur="500"/>
                                        <p:tgtEl>
                                          <p:spTgt spid="135"/>
                                        </p:tgtEl>
                                      </p:cBhvr>
                                    </p:animEffect>
                                    <p:anim calcmode="lin" valueType="num">
                                      <p:cBhvr additive="base">
                                        <p:cTn id="148" dur="500" decel="100000" fill="hold"/>
                                        <p:tgtEl>
                                          <p:spTgt spid="135"/>
                                        </p:tgtEl>
                                        <p:attrNameLst>
                                          <p:attrName>ppt_y</p:attrName>
                                        </p:attrNameLst>
                                      </p:cBhvr>
                                      <p:tavLst>
                                        <p:tav tm="0">
                                          <p:val>
                                            <p:strVal val="#ppt_y+0.06"/>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42" presetClass="entr" presetSubtype="0" fill="hold" grpId="0" nodeType="clickEffect">
                                  <p:stCondLst>
                                    <p:cond delay="0"/>
                                  </p:stCondLst>
                                  <p:childTnLst>
                                    <p:set>
                                      <p:cBhvr>
                                        <p:cTn id="152" dur="1" fill="hold">
                                          <p:stCondLst>
                                            <p:cond delay="0"/>
                                          </p:stCondLst>
                                        </p:cTn>
                                        <p:tgtEl>
                                          <p:spTgt spid="136"/>
                                        </p:tgtEl>
                                        <p:attrNameLst>
                                          <p:attrName>style.visibility</p:attrName>
                                        </p:attrNameLst>
                                      </p:cBhvr>
                                      <p:to>
                                        <p:strVal val="visible"/>
                                      </p:to>
                                    </p:set>
                                    <p:animEffect transition="in" filter="fade">
                                      <p:cBhvr>
                                        <p:cTn id="153" dur="500"/>
                                        <p:tgtEl>
                                          <p:spTgt spid="136"/>
                                        </p:tgtEl>
                                      </p:cBhvr>
                                    </p:animEffect>
                                    <p:anim calcmode="lin" valueType="num">
                                      <p:cBhvr additive="base">
                                        <p:cTn id="154" dur="500" decel="100000" fill="hold"/>
                                        <p:tgtEl>
                                          <p:spTgt spid="136"/>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550822"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WHERE TO USE WHAT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Where to Use What: Domain, Service, Database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Choose the kind of test by the layer. Do not mock everything just because it is a unit test.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169</a:t>
            </a:r>
            <a:endParaRPr lang="en-US" sz="850" dirty="0"/>
          </a:p>
        </p:txBody>
      </p:sp>
      <p:sp>
        <p:nvSpPr>
          <p:cNvPr id="101" name="s101"/>
          <p:cNvSpPr/>
          <p:nvPr/>
        </p:nvSpPr>
        <p:spPr>
          <a:xfrm>
            <a:off x="543154" y="1810512"/>
            <a:ext cx="3574085" cy="2103120"/>
          </a:xfrm>
          <a:prstGeom prst="roundRect">
            <a:avLst>
              <a:gd name="adj" fmla="val 8000"/>
            </a:avLst>
          </a:prstGeom>
          <a:solidFill>
            <a:srgbClr val="111B2E"/>
          </a:solidFill>
          <a:ln w="12700">
            <a:solidFill>
              <a:srgbClr val="34D399"/>
            </a:solidFill>
            <a:prstDash val="solid"/>
          </a:ln>
        </p:spPr>
        <p:txBody>
          <a:bodyPr wrap="square" lIns="182880" tIns="137160" rIns="137160" bIns="91440" rtlCol="0" anchor="t">
            <a:noAutofit/>
          </a:bodyPr>
          <a:lstStyle/>
          <a:p>
            <a:pPr marL="0" indent="0" algn="l">
              <a:spcBef>
                <a:spcPts val="0"/>
              </a:spcBef>
              <a:spcAft>
                <a:spcPts val="300"/>
              </a:spcAft>
              <a:buNone/>
            </a:pPr>
            <a:r>
              <a:rPr lang="en-US" sz="1300" b="1" dirty="0">
                <a:solidFill>
                  <a:srgbClr val="34D399"/>
                </a:solidFill>
                <a:latin typeface="Segoe UI"/>
                <a:ea typeface="Segoe UI"/>
                <a:cs typeface="Segoe UI"/>
              </a:rPr>
              <a:t>DOMAIN LOGIC</a:t>
            </a:r>
            <a:endParaRPr lang="en-US" sz="1300" dirty="0"/>
          </a:p>
          <a:p>
            <a:pPr marL="0" indent="0" algn="l">
              <a:spcBef>
                <a:spcPts val="0"/>
              </a:spcBef>
              <a:spcAft>
                <a:spcPts val="800"/>
              </a:spcAft>
              <a:buNone/>
            </a:pPr>
            <a:r>
              <a:rPr lang="en-US" sz="1150" b="0" dirty="0">
                <a:solidFill>
                  <a:srgbClr val="94A3B8"/>
                </a:solidFill>
                <a:latin typeface="Segoe UI"/>
                <a:ea typeface="Segoe UI"/>
                <a:cs typeface="Segoe UI"/>
              </a:rPr>
              <a:t>rules, prices, validations</a:t>
            </a:r>
            <a:endParaRPr lang="en-US" sz="1150" dirty="0"/>
          </a:p>
          <a:p>
            <a:pPr marL="0" indent="0" algn="l">
              <a:spcBef>
                <a:spcPts val="0"/>
              </a:spcBef>
              <a:spcAft>
                <a:spcPts val="200"/>
              </a:spcAft>
              <a:buNone/>
            </a:pPr>
            <a:r>
              <a:rPr lang="en-US" sz="1400" b="0" dirty="0">
                <a:solidFill>
                  <a:srgbClr val="34D399"/>
                </a:solidFill>
                <a:latin typeface="Segoe UI"/>
                <a:ea typeface="Segoe UI"/>
                <a:cs typeface="Segoe UI"/>
              </a:rPr>
              <a:t>→ </a:t>
            </a:r>
            <a:r>
              <a:rPr lang="en-US" sz="1400" b="1" dirty="0">
                <a:solidFill>
                  <a:srgbClr val="FFFFFF"/>
                </a:solidFill>
                <a:latin typeface="Segoe UI"/>
                <a:ea typeface="Segoe UI"/>
                <a:cs typeface="Segoe UI"/>
              </a:rPr>
              <a:t>test it directly</a:t>
            </a:r>
            <a:endParaRPr lang="en-US" sz="1400" dirty="0"/>
          </a:p>
          <a:p>
            <a:pPr marL="0" indent="0" algn="l">
              <a:spcBef>
                <a:spcPts val="0"/>
              </a:spcBef>
              <a:spcAft>
                <a:spcPts val="800"/>
              </a:spcAft>
              <a:buNone/>
            </a:pPr>
            <a:r>
              <a:rPr lang="en-US" sz="1200" b="0" dirty="0">
                <a:solidFill>
                  <a:srgbClr val="E2E8F0"/>
                </a:solidFill>
                <a:latin typeface="Segoe UI"/>
                <a:ea typeface="Segoe UI"/>
                <a:cs typeface="Segoe UI"/>
              </a:rPr>
              <a:t>no doubles</a:t>
            </a:r>
            <a:endParaRPr lang="en-US" sz="1200" dirty="0"/>
          </a:p>
          <a:p>
            <a:pPr marL="0" indent="0" algn="l">
              <a:spcBef>
                <a:spcPts val="0"/>
              </a:spcBef>
              <a:spcAft>
                <a:spcPts val="0"/>
              </a:spcAft>
              <a:buNone/>
            </a:pPr>
            <a:r>
              <a:rPr lang="en-US" sz="1050" b="0" dirty="0">
                <a:solidFill>
                  <a:srgbClr val="CBD5E1"/>
                </a:solidFill>
                <a:latin typeface="Consolas"/>
                <a:ea typeface="Consolas"/>
                <a:cs typeface="Consolas"/>
              </a:rPr>
              <a:t>Pricing.Total(100, 20).ShouldBe(80)</a:t>
            </a:r>
            <a:endParaRPr lang="en-US" sz="1050" dirty="0"/>
          </a:p>
        </p:txBody>
      </p:sp>
      <p:sp>
        <p:nvSpPr>
          <p:cNvPr id="102" name="s102"/>
          <p:cNvSpPr/>
          <p:nvPr/>
        </p:nvSpPr>
        <p:spPr>
          <a:xfrm>
            <a:off x="4300118" y="1810512"/>
            <a:ext cx="3574085" cy="2103120"/>
          </a:xfrm>
          <a:prstGeom prst="roundRect">
            <a:avLst>
              <a:gd name="adj" fmla="val 8000"/>
            </a:avLst>
          </a:prstGeom>
          <a:solidFill>
            <a:srgbClr val="111B2E"/>
          </a:solidFill>
          <a:ln w="12700">
            <a:solidFill>
              <a:srgbClr val="13D0F7"/>
            </a:solidFill>
            <a:prstDash val="solid"/>
          </a:ln>
        </p:spPr>
        <p:txBody>
          <a:bodyPr wrap="square" lIns="182880" tIns="137160" rIns="137160" bIns="91440" rtlCol="0" anchor="t">
            <a:noAutofit/>
          </a:bodyPr>
          <a:lstStyle/>
          <a:p>
            <a:pPr marL="0" indent="0" algn="l">
              <a:spcBef>
                <a:spcPts val="0"/>
              </a:spcBef>
              <a:spcAft>
                <a:spcPts val="300"/>
              </a:spcAft>
              <a:buNone/>
            </a:pPr>
            <a:r>
              <a:rPr lang="en-US" sz="1300" b="1" dirty="0">
                <a:solidFill>
                  <a:srgbClr val="13D0F7"/>
                </a:solidFill>
                <a:latin typeface="Segoe UI"/>
                <a:ea typeface="Segoe UI"/>
                <a:cs typeface="Segoe UI"/>
              </a:rPr>
              <a:t>APPLICATION SERVICES</a:t>
            </a:r>
            <a:endParaRPr lang="en-US" sz="1300" dirty="0"/>
          </a:p>
          <a:p>
            <a:pPr marL="0" indent="0" algn="l">
              <a:spcBef>
                <a:spcPts val="0"/>
              </a:spcBef>
              <a:spcAft>
                <a:spcPts val="800"/>
              </a:spcAft>
              <a:buNone/>
            </a:pPr>
            <a:r>
              <a:rPr lang="en-US" sz="1150" b="0" dirty="0">
                <a:solidFill>
                  <a:srgbClr val="94A3B8"/>
                </a:solidFill>
                <a:latin typeface="Segoe UI"/>
                <a:ea typeface="Segoe UI"/>
                <a:cs typeface="Segoe UI"/>
              </a:rPr>
              <a:t>coordinate repo, payment, email</a:t>
            </a:r>
            <a:endParaRPr lang="en-US" sz="1150" dirty="0"/>
          </a:p>
          <a:p>
            <a:pPr marL="0" indent="0" algn="l">
              <a:spcBef>
                <a:spcPts val="0"/>
              </a:spcBef>
              <a:spcAft>
                <a:spcPts val="200"/>
              </a:spcAft>
              <a:buNone/>
            </a:pPr>
            <a:r>
              <a:rPr lang="en-US" sz="1400" b="0" dirty="0">
                <a:solidFill>
                  <a:srgbClr val="13D0F7"/>
                </a:solidFill>
                <a:latin typeface="Segoe UI"/>
                <a:ea typeface="Segoe UI"/>
                <a:cs typeface="Segoe UI"/>
              </a:rPr>
              <a:t>→ </a:t>
            </a:r>
            <a:r>
              <a:rPr lang="en-US" sz="1400" b="1" dirty="0">
                <a:solidFill>
                  <a:srgbClr val="FFFFFF"/>
                </a:solidFill>
                <a:latin typeface="Segoe UI"/>
                <a:ea typeface="Segoe UI"/>
                <a:cs typeface="Segoe UI"/>
              </a:rPr>
              <a:t>unit test + doubles</a:t>
            </a:r>
            <a:endParaRPr lang="en-US" sz="1400" dirty="0"/>
          </a:p>
          <a:p>
            <a:pPr marL="0" indent="0" algn="l">
              <a:spcBef>
                <a:spcPts val="0"/>
              </a:spcBef>
              <a:spcAft>
                <a:spcPts val="800"/>
              </a:spcAft>
              <a:buNone/>
            </a:pPr>
            <a:r>
              <a:rPr lang="en-US" sz="1200" b="0" dirty="0">
                <a:solidFill>
                  <a:srgbClr val="E2E8F0"/>
                </a:solidFill>
                <a:latin typeface="Segoe UI"/>
                <a:ea typeface="Segoe UI"/>
                <a:cs typeface="Segoe UI"/>
              </a:rPr>
              <a:t>fakes / mocks at the edges</a:t>
            </a:r>
            <a:endParaRPr lang="en-US" sz="1200" dirty="0"/>
          </a:p>
          <a:p>
            <a:pPr marL="0" indent="0" algn="l">
              <a:spcBef>
                <a:spcPts val="0"/>
              </a:spcBef>
              <a:spcAft>
                <a:spcPts val="0"/>
              </a:spcAft>
              <a:buNone/>
            </a:pPr>
            <a:r>
              <a:rPr lang="en-US" sz="1050" b="0" dirty="0">
                <a:solidFill>
                  <a:srgbClr val="CBD5E1"/>
                </a:solidFill>
                <a:latin typeface="Consolas"/>
                <a:ea typeface="Consolas"/>
                <a:cs typeface="Consolas"/>
              </a:rPr>
              <a:t>payment.Received(1).Charge(80m)</a:t>
            </a:r>
            <a:endParaRPr lang="en-US" sz="1050" dirty="0"/>
          </a:p>
        </p:txBody>
      </p:sp>
      <p:sp>
        <p:nvSpPr>
          <p:cNvPr id="103" name="s103"/>
          <p:cNvSpPr/>
          <p:nvPr/>
        </p:nvSpPr>
        <p:spPr>
          <a:xfrm>
            <a:off x="8057083" y="1810512"/>
            <a:ext cx="3574085" cy="2103120"/>
          </a:xfrm>
          <a:prstGeom prst="roundRect">
            <a:avLst>
              <a:gd name="adj" fmla="val 8000"/>
            </a:avLst>
          </a:prstGeom>
          <a:solidFill>
            <a:srgbClr val="111B2E"/>
          </a:solidFill>
          <a:ln w="12700">
            <a:solidFill>
              <a:srgbClr val="A78BFA"/>
            </a:solidFill>
            <a:prstDash val="solid"/>
          </a:ln>
        </p:spPr>
        <p:txBody>
          <a:bodyPr wrap="square" lIns="182880" tIns="137160" rIns="137160" bIns="91440" rtlCol="0" anchor="t">
            <a:noAutofit/>
          </a:bodyPr>
          <a:lstStyle/>
          <a:p>
            <a:pPr marL="0" indent="0" algn="l">
              <a:spcBef>
                <a:spcPts val="0"/>
              </a:spcBef>
              <a:spcAft>
                <a:spcPts val="300"/>
              </a:spcAft>
              <a:buNone/>
            </a:pPr>
            <a:r>
              <a:rPr lang="en-US" sz="1300" b="1" dirty="0">
                <a:solidFill>
                  <a:srgbClr val="A78BFA"/>
                </a:solidFill>
                <a:latin typeface="Segoe UI"/>
                <a:ea typeface="Segoe UI"/>
                <a:cs typeface="Segoe UI"/>
              </a:rPr>
              <a:t>DATABASE / EXTERNAL API</a:t>
            </a:r>
            <a:endParaRPr lang="en-US" sz="1300" dirty="0"/>
          </a:p>
          <a:p>
            <a:pPr marL="0" indent="0" algn="l">
              <a:spcBef>
                <a:spcPts val="0"/>
              </a:spcBef>
              <a:spcAft>
                <a:spcPts val="800"/>
              </a:spcAft>
              <a:buNone/>
            </a:pPr>
            <a:r>
              <a:rPr lang="en-US" sz="1150" b="0" dirty="0">
                <a:solidFill>
                  <a:srgbClr val="94A3B8"/>
                </a:solidFill>
                <a:latin typeface="Segoe UI"/>
                <a:ea typeface="Segoe UI"/>
                <a:cs typeface="Segoe UI"/>
              </a:rPr>
              <a:t>SQL, HTTP, queues</a:t>
            </a:r>
            <a:endParaRPr lang="en-US" sz="1150" dirty="0"/>
          </a:p>
          <a:p>
            <a:pPr marL="0" indent="0" algn="l">
              <a:spcBef>
                <a:spcPts val="0"/>
              </a:spcBef>
              <a:spcAft>
                <a:spcPts val="200"/>
              </a:spcAft>
              <a:buNone/>
            </a:pPr>
            <a:r>
              <a:rPr lang="en-US" sz="1400" b="0" dirty="0">
                <a:solidFill>
                  <a:srgbClr val="A78BFA"/>
                </a:solidFill>
                <a:latin typeface="Segoe UI"/>
                <a:ea typeface="Segoe UI"/>
                <a:cs typeface="Segoe UI"/>
              </a:rPr>
              <a:t>→ </a:t>
            </a:r>
            <a:r>
              <a:rPr lang="en-US" sz="1400" b="1" dirty="0">
                <a:solidFill>
                  <a:srgbClr val="FFFFFF"/>
                </a:solidFill>
                <a:latin typeface="Segoe UI"/>
                <a:ea typeface="Segoe UI"/>
                <a:cs typeface="Segoe UI"/>
              </a:rPr>
              <a:t>integration test</a:t>
            </a:r>
            <a:endParaRPr lang="en-US" sz="1400" dirty="0"/>
          </a:p>
          <a:p>
            <a:pPr marL="0" indent="0" algn="l">
              <a:spcBef>
                <a:spcPts val="0"/>
              </a:spcBef>
              <a:spcAft>
                <a:spcPts val="800"/>
              </a:spcAft>
              <a:buNone/>
            </a:pPr>
            <a:r>
              <a:rPr lang="en-US" sz="1200" b="0" dirty="0">
                <a:solidFill>
                  <a:srgbClr val="E2E8F0"/>
                </a:solidFill>
                <a:latin typeface="Segoe UI"/>
                <a:ea typeface="Segoe UI"/>
                <a:cs typeface="Segoe UI"/>
              </a:rPr>
              <a:t>the real thing (test DB)</a:t>
            </a:r>
            <a:endParaRPr lang="en-US" sz="1200" dirty="0"/>
          </a:p>
          <a:p>
            <a:pPr marL="0" indent="0" algn="l">
              <a:spcBef>
                <a:spcPts val="0"/>
              </a:spcBef>
              <a:spcAft>
                <a:spcPts val="0"/>
              </a:spcAft>
              <a:buNone/>
            </a:pPr>
            <a:r>
              <a:rPr lang="en-US" sz="1050" b="0" dirty="0">
                <a:solidFill>
                  <a:srgbClr val="CBD5E1"/>
                </a:solidFill>
                <a:latin typeface="Consolas"/>
                <a:ea typeface="Consolas"/>
                <a:cs typeface="Consolas"/>
              </a:rPr>
              <a:t>a real DB in a container</a:t>
            </a:r>
            <a:endParaRPr lang="en-US" sz="1050" dirty="0"/>
          </a:p>
        </p:txBody>
      </p:sp>
      <p:sp>
        <p:nvSpPr>
          <p:cNvPr id="104" name="s104"/>
          <p:cNvSpPr/>
          <p:nvPr/>
        </p:nvSpPr>
        <p:spPr>
          <a:xfrm>
            <a:off x="543154" y="4050792"/>
            <a:ext cx="5429707" cy="2203704"/>
          </a:xfrm>
          <a:prstGeom prst="roundRect">
            <a:avLst>
              <a:gd name="adj" fmla="val 8000"/>
            </a:avLst>
          </a:prstGeom>
          <a:solidFill>
            <a:srgbClr val="F87171">
              <a:alpha val="8000"/>
            </a:srgbClr>
          </a:solidFill>
          <a:ln w="12700">
            <a:solidFill>
              <a:srgbClr val="F87171"/>
            </a:solidFill>
            <a:prstDash val="solid"/>
          </a:ln>
        </p:spPr>
        <p:txBody>
          <a:bodyPr wrap="square" lIns="201168" tIns="109728" rIns="137160" bIns="91440" rtlCol="0" anchor="t">
            <a:noAutofit/>
          </a:bodyPr>
          <a:lstStyle/>
          <a:p>
            <a:pPr marL="0" indent="0" algn="l">
              <a:spcBef>
                <a:spcPts val="0"/>
              </a:spcBef>
              <a:spcAft>
                <a:spcPts val="600"/>
              </a:spcAft>
              <a:buNone/>
            </a:pPr>
            <a:r>
              <a:rPr lang="en-US" sz="1200" b="1" dirty="0">
                <a:solidFill>
                  <a:srgbClr val="F87171"/>
                </a:solidFill>
                <a:latin typeface="Segoe UI"/>
                <a:ea typeface="Segoe UI"/>
                <a:cs typeface="Segoe UI"/>
              </a:rPr>
              <a:t>✗  DON'T</a:t>
            </a:r>
            <a:endParaRPr lang="en-US" sz="1200" dirty="0"/>
          </a:p>
          <a:p>
            <a:pPr marL="0" indent="0" algn="l">
              <a:spcBef>
                <a:spcPts val="0"/>
              </a:spcBef>
              <a:spcAft>
                <a:spcPts val="400"/>
              </a:spcAft>
              <a:buNone/>
            </a:pPr>
            <a:r>
              <a:rPr lang="en-US" sz="1250" b="0" dirty="0">
                <a:solidFill>
                  <a:srgbClr val="F87171"/>
                </a:solidFill>
                <a:latin typeface="Segoe UI"/>
                <a:ea typeface="Segoe UI"/>
                <a:cs typeface="Segoe UI"/>
              </a:rPr>
              <a:t>•  </a:t>
            </a:r>
            <a:r>
              <a:rPr lang="en-US" sz="1250" b="0" dirty="0">
                <a:solidFill>
                  <a:srgbClr val="E2E8F0"/>
                </a:solidFill>
                <a:latin typeface="Segoe UI"/>
                <a:ea typeface="Segoe UI"/>
                <a:cs typeface="Segoe UI"/>
              </a:rPr>
              <a:t>mock every class "because it is a unit test"</a:t>
            </a:r>
            <a:endParaRPr lang="en-US" sz="1250" dirty="0"/>
          </a:p>
          <a:p>
            <a:pPr marL="0" indent="0" algn="l">
              <a:spcBef>
                <a:spcPts val="0"/>
              </a:spcBef>
              <a:spcAft>
                <a:spcPts val="400"/>
              </a:spcAft>
              <a:buNone/>
            </a:pPr>
            <a:r>
              <a:rPr lang="en-US" sz="1250" b="0" dirty="0">
                <a:solidFill>
                  <a:srgbClr val="F87171"/>
                </a:solidFill>
                <a:latin typeface="Segoe UI"/>
                <a:ea typeface="Segoe UI"/>
                <a:cs typeface="Segoe UI"/>
              </a:rPr>
              <a:t>•  </a:t>
            </a:r>
            <a:r>
              <a:rPr lang="en-US" sz="1250" b="0" dirty="0">
                <a:solidFill>
                  <a:srgbClr val="E2E8F0"/>
                </a:solidFill>
                <a:latin typeface="Segoe UI"/>
                <a:ea typeface="Segoe UI"/>
                <a:cs typeface="Segoe UI"/>
              </a:rPr>
              <a:t>verify internal calls and exact log text</a:t>
            </a:r>
            <a:endParaRPr lang="en-US" sz="1250" dirty="0"/>
          </a:p>
          <a:p>
            <a:pPr marL="0" indent="0" algn="l">
              <a:spcBef>
                <a:spcPts val="0"/>
              </a:spcBef>
              <a:spcAft>
                <a:spcPts val="400"/>
              </a:spcAft>
              <a:buNone/>
            </a:pPr>
            <a:r>
              <a:rPr lang="en-US" sz="1250" b="0" dirty="0">
                <a:solidFill>
                  <a:srgbClr val="F87171"/>
                </a:solidFill>
                <a:latin typeface="Segoe UI"/>
                <a:ea typeface="Segoe UI"/>
                <a:cs typeface="Segoe UI"/>
              </a:rPr>
              <a:t>•  </a:t>
            </a:r>
            <a:r>
              <a:rPr lang="en-US" sz="1250" b="0" dirty="0">
                <a:solidFill>
                  <a:srgbClr val="E2E8F0"/>
                </a:solidFill>
                <a:latin typeface="Segoe UI"/>
                <a:ea typeface="Segoe UI"/>
                <a:cs typeface="Segoe UI"/>
              </a:rPr>
              <a:t>mock types you do not own (HttpClient, DbContext)</a:t>
            </a:r>
            <a:endParaRPr lang="en-US" sz="1250" dirty="0"/>
          </a:p>
          <a:p>
            <a:pPr marL="0" indent="0" algn="l">
              <a:spcBef>
                <a:spcPts val="0"/>
              </a:spcBef>
              <a:spcAft>
                <a:spcPts val="400"/>
              </a:spcAft>
              <a:buNone/>
            </a:pPr>
            <a:r>
              <a:rPr lang="en-US" sz="1250" b="0" dirty="0">
                <a:solidFill>
                  <a:srgbClr val="F87171"/>
                </a:solidFill>
                <a:latin typeface="Segoe UI"/>
                <a:ea typeface="Segoe UI"/>
                <a:cs typeface="Segoe UI"/>
              </a:rPr>
              <a:t>•  </a:t>
            </a:r>
            <a:r>
              <a:rPr lang="en-US" sz="1250" b="0" dirty="0">
                <a:solidFill>
                  <a:srgbClr val="E2E8F0"/>
                </a:solidFill>
                <a:latin typeface="Segoe UI"/>
                <a:ea typeface="Segoe UI"/>
                <a:cs typeface="Segoe UI"/>
              </a:rPr>
              <a:t>trust a mock to prove your SQL works</a:t>
            </a:r>
            <a:endParaRPr lang="en-US" sz="1250" dirty="0"/>
          </a:p>
        </p:txBody>
      </p:sp>
      <p:sp>
        <p:nvSpPr>
          <p:cNvPr id="105" name="s105"/>
          <p:cNvSpPr/>
          <p:nvPr/>
        </p:nvSpPr>
        <p:spPr>
          <a:xfrm>
            <a:off x="6201461" y="4050792"/>
            <a:ext cx="5429707" cy="2203704"/>
          </a:xfrm>
          <a:prstGeom prst="roundRect">
            <a:avLst>
              <a:gd name="adj" fmla="val 8000"/>
            </a:avLst>
          </a:prstGeom>
          <a:solidFill>
            <a:srgbClr val="34D399">
              <a:alpha val="8000"/>
            </a:srgbClr>
          </a:solidFill>
          <a:ln w="12700">
            <a:solidFill>
              <a:srgbClr val="34D399"/>
            </a:solidFill>
            <a:prstDash val="solid"/>
          </a:ln>
        </p:spPr>
        <p:txBody>
          <a:bodyPr wrap="square" lIns="201168" tIns="109728" rIns="137160" bIns="91440" rtlCol="0" anchor="t">
            <a:noAutofit/>
          </a:bodyPr>
          <a:lstStyle/>
          <a:p>
            <a:pPr marL="0" indent="0" algn="l">
              <a:spcBef>
                <a:spcPts val="0"/>
              </a:spcBef>
              <a:spcAft>
                <a:spcPts val="600"/>
              </a:spcAft>
              <a:buNone/>
            </a:pPr>
            <a:r>
              <a:rPr lang="en-US" sz="1200" b="1" dirty="0">
                <a:solidFill>
                  <a:srgbClr val="34D399"/>
                </a:solidFill>
                <a:latin typeface="Segoe UI"/>
                <a:ea typeface="Segoe UI"/>
                <a:cs typeface="Segoe UI"/>
              </a:rPr>
              <a:t>✓  DO</a:t>
            </a:r>
            <a:endParaRPr lang="en-US" sz="1200" dirty="0"/>
          </a:p>
          <a:p>
            <a:pPr marL="0" indent="0" algn="l">
              <a:spcBef>
                <a:spcPts val="0"/>
              </a:spcBef>
              <a:spcAft>
                <a:spcPts val="400"/>
              </a:spcAft>
              <a:buNone/>
            </a:pPr>
            <a:r>
              <a:rPr lang="en-US" sz="1250" b="0" dirty="0">
                <a:solidFill>
                  <a:srgbClr val="34D399"/>
                </a:solidFill>
                <a:latin typeface="Segoe UI"/>
                <a:ea typeface="Segoe UI"/>
                <a:cs typeface="Segoe UI"/>
              </a:rPr>
              <a:t>•  </a:t>
            </a:r>
            <a:r>
              <a:rPr lang="en-US" sz="1250" b="0" dirty="0">
                <a:solidFill>
                  <a:srgbClr val="E2E8F0"/>
                </a:solidFill>
                <a:latin typeface="Segoe UI"/>
                <a:ea typeface="Segoe UI"/>
                <a:cs typeface="Segoe UI"/>
              </a:rPr>
              <a:t>test pure rules directly</a:t>
            </a:r>
            <a:endParaRPr lang="en-US" sz="1250" dirty="0"/>
          </a:p>
          <a:p>
            <a:pPr marL="0" indent="0" algn="l">
              <a:spcBef>
                <a:spcPts val="0"/>
              </a:spcBef>
              <a:spcAft>
                <a:spcPts val="400"/>
              </a:spcAft>
              <a:buNone/>
            </a:pPr>
            <a:r>
              <a:rPr lang="en-US" sz="1250" b="0" dirty="0">
                <a:solidFill>
                  <a:srgbClr val="34D399"/>
                </a:solidFill>
                <a:latin typeface="Segoe UI"/>
                <a:ea typeface="Segoe UI"/>
                <a:cs typeface="Segoe UI"/>
              </a:rPr>
              <a:t>•  </a:t>
            </a:r>
            <a:r>
              <a:rPr lang="en-US" sz="1250" b="0" dirty="0">
                <a:solidFill>
                  <a:srgbClr val="E2E8F0"/>
                </a:solidFill>
                <a:latin typeface="Segoe UI"/>
                <a:ea typeface="Segoe UI"/>
                <a:cs typeface="Segoe UI"/>
              </a:rPr>
              <a:t>doubles only at the edges</a:t>
            </a:r>
            <a:endParaRPr lang="en-US" sz="1250" dirty="0"/>
          </a:p>
          <a:p>
            <a:pPr marL="0" indent="0" algn="l">
              <a:spcBef>
                <a:spcPts val="0"/>
              </a:spcBef>
              <a:spcAft>
                <a:spcPts val="400"/>
              </a:spcAft>
              <a:buNone/>
            </a:pPr>
            <a:r>
              <a:rPr lang="en-US" sz="1250" b="0" dirty="0">
                <a:solidFill>
                  <a:srgbClr val="34D399"/>
                </a:solidFill>
                <a:latin typeface="Segoe UI"/>
                <a:ea typeface="Segoe UI"/>
                <a:cs typeface="Segoe UI"/>
              </a:rPr>
              <a:t>•  </a:t>
            </a:r>
            <a:r>
              <a:rPr lang="en-US" sz="1250" b="0" dirty="0">
                <a:solidFill>
                  <a:srgbClr val="E2E8F0"/>
                </a:solidFill>
                <a:latin typeface="Segoe UI"/>
                <a:ea typeface="Segoe UI"/>
                <a:cs typeface="Segoe UI"/>
              </a:rPr>
              <a:t>wrap 3rd-party APIs in YOUR interface</a:t>
            </a:r>
            <a:endParaRPr lang="en-US" sz="1250" dirty="0"/>
          </a:p>
          <a:p>
            <a:pPr marL="0" indent="0" algn="l">
              <a:spcBef>
                <a:spcPts val="0"/>
              </a:spcBef>
              <a:spcAft>
                <a:spcPts val="400"/>
              </a:spcAft>
              <a:buNone/>
            </a:pPr>
            <a:r>
              <a:rPr lang="en-US" sz="1250" b="0" dirty="0">
                <a:solidFill>
                  <a:srgbClr val="34D399"/>
                </a:solidFill>
                <a:latin typeface="Segoe UI"/>
                <a:ea typeface="Segoe UI"/>
                <a:cs typeface="Segoe UI"/>
              </a:rPr>
              <a:t>•  </a:t>
            </a:r>
            <a:r>
              <a:rPr lang="en-US" sz="1250" b="0" dirty="0">
                <a:solidFill>
                  <a:srgbClr val="E2E8F0"/>
                </a:solidFill>
                <a:latin typeface="Segoe UI"/>
                <a:ea typeface="Segoe UI"/>
                <a:cs typeface="Segoe UI"/>
              </a:rPr>
              <a:t>add integration tests for DB and APIs</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2"/>
                                        </p:tgtEl>
                                        <p:attrNameLst>
                                          <p:attrName>style.visibility</p:attrName>
                                        </p:attrNameLst>
                                      </p:cBhvr>
                                      <p:to>
                                        <p:strVal val="visible"/>
                                      </p:to>
                                    </p:set>
                                    <p:animEffect transition="in" filter="fade">
                                      <p:cBhvr>
                                        <p:cTn id="13" dur="500"/>
                                        <p:tgtEl>
                                          <p:spTgt spid="102"/>
                                        </p:tgtEl>
                                      </p:cBhvr>
                                    </p:animEffect>
                                    <p:anim calcmode="lin" valueType="num">
                                      <p:cBhvr additive="base">
                                        <p:cTn id="14"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3"/>
                                        </p:tgtEl>
                                        <p:attrNameLst>
                                          <p:attrName>style.visibility</p:attrName>
                                        </p:attrNameLst>
                                      </p:cBhvr>
                                      <p:to>
                                        <p:strVal val="visible"/>
                                      </p:to>
                                    </p:set>
                                    <p:animEffect transition="in" filter="fade">
                                      <p:cBhvr>
                                        <p:cTn id="19" dur="500"/>
                                        <p:tgtEl>
                                          <p:spTgt spid="103"/>
                                        </p:tgtEl>
                                      </p:cBhvr>
                                    </p:animEffect>
                                    <p:anim calcmode="lin" valueType="num">
                                      <p:cBhvr additive="base">
                                        <p:cTn id="20" dur="500" decel="100000" fill="hold"/>
                                        <p:tgtEl>
                                          <p:spTgt spid="103"/>
                                        </p:tgtEl>
                                        <p:attrNameLst>
                                          <p:attrName>ppt_y</p:attrName>
                                        </p:attrNameLst>
                                      </p:cBhvr>
                                      <p:tavLst>
                                        <p:tav tm="0">
                                          <p:val>
                                            <p:strVal val="#ppt_y+0.06"/>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childTnLst>
                                    <p:set>
                                      <p:cBhvr>
                                        <p:cTn id="24" dur="1" fill="hold">
                                          <p:stCondLst>
                                            <p:cond delay="0"/>
                                          </p:stCondLst>
                                        </p:cTn>
                                        <p:tgtEl>
                                          <p:spTgt spid="104"/>
                                        </p:tgtEl>
                                        <p:attrNameLst>
                                          <p:attrName>style.visibility</p:attrName>
                                        </p:attrNameLst>
                                      </p:cBhvr>
                                      <p:to>
                                        <p:strVal val="visible"/>
                                      </p:to>
                                    </p:set>
                                    <p:animEffect transition="in" filter="fade">
                                      <p:cBhvr>
                                        <p:cTn id="25" dur="500"/>
                                        <p:tgtEl>
                                          <p:spTgt spid="104"/>
                                        </p:tgtEl>
                                      </p:cBhvr>
                                    </p:animEffect>
                                    <p:anim calcmode="lin" valueType="num">
                                      <p:cBhvr additive="base">
                                        <p:cTn id="26" dur="500" decel="100000" fill="hold"/>
                                        <p:tgtEl>
                                          <p:spTgt spid="104"/>
                                        </p:tgtEl>
                                        <p:attrNameLst>
                                          <p:attrName>ppt_x</p:attrName>
                                        </p:attrNameLst>
                                      </p:cBhvr>
                                      <p:tavLst>
                                        <p:tav tm="0">
                                          <p:val>
                                            <p:strVal val="#ppt_x-0.05"/>
                                          </p:val>
                                        </p:tav>
                                        <p:tav tm="100000">
                                          <p:val>
                                            <p:strVal val="#ppt_x"/>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105"/>
                                        </p:tgtEl>
                                        <p:attrNameLst>
                                          <p:attrName>style.visibility</p:attrName>
                                        </p:attrNameLst>
                                      </p:cBhvr>
                                      <p:to>
                                        <p:strVal val="visible"/>
                                      </p:to>
                                    </p:set>
                                    <p:animEffect transition="in" filter="fade">
                                      <p:cBhvr>
                                        <p:cTn id="31" dur="500"/>
                                        <p:tgtEl>
                                          <p:spTgt spid="105"/>
                                        </p:tgtEl>
                                      </p:cBhvr>
                                    </p:animEffect>
                                    <p:anim calcmode="lin" valueType="num">
                                      <p:cBhvr additive="base">
                                        <p:cTn id="32" dur="500" decel="100000" fill="hold"/>
                                        <p:tgtEl>
                                          <p:spTgt spid="105"/>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389888"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MOCK ≠ SQL TEST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A Mocked Repository Does Not Test Your SQL</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The mock returns what YOU told it. The real query never runs.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170</a:t>
            </a:r>
            <a:endParaRPr lang="en-US" sz="850" dirty="0"/>
          </a:p>
        </p:txBody>
      </p:sp>
      <p:sp>
        <p:nvSpPr>
          <p:cNvPr id="101" name="s101"/>
          <p:cNvSpPr/>
          <p:nvPr/>
        </p:nvSpPr>
        <p:spPr>
          <a:xfrm>
            <a:off x="543154" y="1810512"/>
            <a:ext cx="5394960" cy="1444752"/>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07746" y="195681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3" name="s103"/>
          <p:cNvSpPr/>
          <p:nvPr/>
        </p:nvSpPr>
        <p:spPr>
          <a:xfrm>
            <a:off x="890626" y="195681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4" name="s104"/>
          <p:cNvSpPr/>
          <p:nvPr/>
        </p:nvSpPr>
        <p:spPr>
          <a:xfrm>
            <a:off x="1073506" y="195681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1320394" y="1883664"/>
            <a:ext cx="3244291"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UserRepository.cs  ·  the real repository</a:t>
            </a:r>
            <a:endParaRPr lang="en-US" sz="950" dirty="0"/>
          </a:p>
        </p:txBody>
      </p:sp>
      <p:cxnSp>
        <p:nvCxnSpPr>
          <p:cNvPr id="106" name="ln106"/>
          <p:cNvCxnSpPr/>
          <p:nvPr/>
        </p:nvCxnSpPr>
        <p:spPr>
          <a:xfrm>
            <a:off x="543154" y="2221992"/>
            <a:ext cx="5394960" cy="0"/>
          </a:xfrm>
          <a:prstGeom prst="line">
            <a:avLst/>
          </a:prstGeom>
          <a:ln w="9525">
            <a:solidFill>
              <a:srgbClr val="1E3A5F"/>
            </a:solidFill>
          </a:ln>
        </p:spPr>
      </p:cxnSp>
      <p:sp>
        <p:nvSpPr>
          <p:cNvPr id="107" name="s107"/>
          <p:cNvSpPr/>
          <p:nvPr/>
        </p:nvSpPr>
        <p:spPr>
          <a:xfrm>
            <a:off x="543154" y="2340864"/>
            <a:ext cx="53949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async</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Task</a:t>
            </a:r>
            <a:r>
              <a:rPr lang="en-US" sz="1150" b="0" dirty="0">
                <a:solidFill>
                  <a:srgbClr val="E2E8F0"/>
                </a:solidFill>
                <a:latin typeface="Consolas"/>
                <a:ea typeface="Consolas"/>
                <a:cs typeface="Consolas"/>
              </a:rPr>
              <a:t>&lt;</a:t>
            </a:r>
            <a:r>
              <a:rPr lang="en-US" sz="1150" b="0" dirty="0">
                <a:solidFill>
                  <a:srgbClr val="7DD3FC"/>
                </a:solidFill>
                <a:latin typeface="Consolas"/>
                <a:ea typeface="Consolas"/>
                <a:cs typeface="Consolas"/>
              </a:rPr>
              <a:t>User</a:t>
            </a:r>
            <a:r>
              <a:rPr lang="en-US" sz="1150" b="0" dirty="0">
                <a:solidFill>
                  <a:srgbClr val="E2E8F0"/>
                </a:solidFill>
                <a:latin typeface="Consolas"/>
                <a:ea typeface="Consolas"/>
                <a:cs typeface="Consolas"/>
              </a:rPr>
              <a:t>?&gt; </a:t>
            </a:r>
            <a:r>
              <a:rPr lang="en-US" sz="1150" b="0" dirty="0">
                <a:solidFill>
                  <a:srgbClr val="7DD3FC"/>
                </a:solidFill>
                <a:latin typeface="Consolas"/>
                <a:ea typeface="Consolas"/>
                <a:cs typeface="Consolas"/>
              </a:rPr>
              <a:t>GetByEmailAsync</a:t>
            </a:r>
            <a:r>
              <a:rPr lang="en-US" sz="1150" b="0" dirty="0">
                <a:solidFill>
                  <a:srgbClr val="E2E8F0"/>
                </a:solidFill>
                <a:latin typeface="Consolas"/>
                <a:ea typeface="Consolas"/>
                <a:cs typeface="Consolas"/>
              </a:rPr>
              <a:t>(</a:t>
            </a:r>
            <a:r>
              <a:rPr lang="en-US" sz="1150" b="0" dirty="0">
                <a:solidFill>
                  <a:srgbClr val="60A5FA"/>
                </a:solidFill>
                <a:latin typeface="Consolas"/>
                <a:ea typeface="Consolas"/>
                <a:cs typeface="Consolas"/>
              </a:rPr>
              <a:t>string</a:t>
            </a:r>
            <a:r>
              <a:rPr lang="en-US" sz="1150" b="0" dirty="0">
                <a:solidFill>
                  <a:srgbClr val="E2E8F0"/>
                </a:solidFill>
                <a:latin typeface="Consolas"/>
                <a:ea typeface="Consolas"/>
                <a:cs typeface="Consolas"/>
              </a:rPr>
              <a:t> email)</a:t>
            </a:r>
            <a:endParaRPr lang="en-US" sz="1150" dirty="0"/>
          </a:p>
        </p:txBody>
      </p:sp>
      <p:sp>
        <p:nvSpPr>
          <p:cNvPr id="108" name="s108"/>
          <p:cNvSpPr/>
          <p:nvPr/>
        </p:nvSpPr>
        <p:spPr>
          <a:xfrm>
            <a:off x="543154" y="2516124"/>
            <a:ext cx="53949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09" name="s109"/>
          <p:cNvSpPr/>
          <p:nvPr/>
        </p:nvSpPr>
        <p:spPr>
          <a:xfrm>
            <a:off x="543154" y="2691384"/>
            <a:ext cx="53949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return</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await</a:t>
            </a:r>
            <a:r>
              <a:rPr lang="en-US" sz="1150" b="0" dirty="0">
                <a:solidFill>
                  <a:srgbClr val="E2E8F0"/>
                </a:solidFill>
                <a:latin typeface="Consolas"/>
                <a:ea typeface="Consolas"/>
                <a:cs typeface="Consolas"/>
              </a:rPr>
              <a:t> _context.</a:t>
            </a:r>
            <a:r>
              <a:rPr lang="en-US" sz="1150" b="0" dirty="0">
                <a:solidFill>
                  <a:srgbClr val="7DD3FC"/>
                </a:solidFill>
                <a:latin typeface="Consolas"/>
                <a:ea typeface="Consolas"/>
                <a:cs typeface="Consolas"/>
              </a:rPr>
              <a:t>Users</a:t>
            </a:r>
            <a:endParaRPr lang="en-US" sz="1150" dirty="0"/>
          </a:p>
        </p:txBody>
      </p:sp>
      <p:sp>
        <p:nvSpPr>
          <p:cNvPr id="110" name="s110"/>
          <p:cNvSpPr/>
          <p:nvPr/>
        </p:nvSpPr>
        <p:spPr>
          <a:xfrm>
            <a:off x="543154" y="2866644"/>
            <a:ext cx="53949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FirstOrDefaultAsync</a:t>
            </a:r>
            <a:r>
              <a:rPr lang="en-US" sz="1150" b="0" dirty="0">
                <a:solidFill>
                  <a:srgbClr val="E2E8F0"/>
                </a:solidFill>
                <a:latin typeface="Consolas"/>
                <a:ea typeface="Consolas"/>
                <a:cs typeface="Consolas"/>
              </a:rPr>
              <a:t>(x =&gt; x.</a:t>
            </a:r>
            <a:r>
              <a:rPr lang="en-US" sz="1150" b="0" dirty="0">
                <a:solidFill>
                  <a:srgbClr val="7DD3FC"/>
                </a:solidFill>
                <a:latin typeface="Consolas"/>
                <a:ea typeface="Consolas"/>
                <a:cs typeface="Consolas"/>
              </a:rPr>
              <a:t>Email</a:t>
            </a:r>
            <a:r>
              <a:rPr lang="en-US" sz="1150" b="0" dirty="0">
                <a:solidFill>
                  <a:srgbClr val="E2E8F0"/>
                </a:solidFill>
                <a:latin typeface="Consolas"/>
                <a:ea typeface="Consolas"/>
                <a:cs typeface="Consolas"/>
              </a:rPr>
              <a:t> == email);</a:t>
            </a:r>
            <a:endParaRPr lang="en-US" sz="1150" dirty="0"/>
          </a:p>
        </p:txBody>
      </p:sp>
      <p:sp>
        <p:nvSpPr>
          <p:cNvPr id="111" name="s111"/>
          <p:cNvSpPr/>
          <p:nvPr/>
        </p:nvSpPr>
        <p:spPr>
          <a:xfrm>
            <a:off x="543154" y="3041904"/>
            <a:ext cx="53949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2" name="s112"/>
          <p:cNvSpPr/>
          <p:nvPr/>
        </p:nvSpPr>
        <p:spPr>
          <a:xfrm>
            <a:off x="543154" y="3328416"/>
            <a:ext cx="5394960" cy="118872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3" name="s113"/>
          <p:cNvSpPr/>
          <p:nvPr/>
        </p:nvSpPr>
        <p:spPr>
          <a:xfrm>
            <a:off x="707746" y="3474720"/>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4" name="s114"/>
          <p:cNvSpPr/>
          <p:nvPr/>
        </p:nvSpPr>
        <p:spPr>
          <a:xfrm>
            <a:off x="890626" y="3474720"/>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15" name="s115"/>
          <p:cNvSpPr/>
          <p:nvPr/>
        </p:nvSpPr>
        <p:spPr>
          <a:xfrm>
            <a:off x="1073506" y="3474720"/>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16" name="s116"/>
          <p:cNvSpPr/>
          <p:nvPr/>
        </p:nvSpPr>
        <p:spPr>
          <a:xfrm>
            <a:off x="1320394" y="3401568"/>
            <a:ext cx="260238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UserServiceTests.cs  ·  the mock</a:t>
            </a:r>
            <a:endParaRPr lang="en-US" sz="950" dirty="0"/>
          </a:p>
        </p:txBody>
      </p:sp>
      <p:cxnSp>
        <p:nvCxnSpPr>
          <p:cNvPr id="117" name="ln117"/>
          <p:cNvCxnSpPr/>
          <p:nvPr/>
        </p:nvCxnSpPr>
        <p:spPr>
          <a:xfrm>
            <a:off x="543154" y="3739896"/>
            <a:ext cx="5394960" cy="0"/>
          </a:xfrm>
          <a:prstGeom prst="line">
            <a:avLst/>
          </a:prstGeom>
          <a:ln w="9525">
            <a:solidFill>
              <a:srgbClr val="1E3A5F"/>
            </a:solidFill>
          </a:ln>
        </p:spPr>
      </p:cxnSp>
      <p:sp>
        <p:nvSpPr>
          <p:cNvPr id="118" name="s118"/>
          <p:cNvSpPr/>
          <p:nvPr/>
        </p:nvSpPr>
        <p:spPr>
          <a:xfrm>
            <a:off x="543154" y="3858768"/>
            <a:ext cx="53949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repository</a:t>
            </a:r>
            <a:endParaRPr lang="en-US" sz="1150" dirty="0"/>
          </a:p>
        </p:txBody>
      </p:sp>
      <p:sp>
        <p:nvSpPr>
          <p:cNvPr id="119" name="s119"/>
          <p:cNvSpPr/>
          <p:nvPr/>
        </p:nvSpPr>
        <p:spPr>
          <a:xfrm>
            <a:off x="543154" y="4034028"/>
            <a:ext cx="53949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GetByEmailAsync</a:t>
            </a:r>
            <a:r>
              <a:rPr lang="en-US" sz="1150" b="0" dirty="0">
                <a:solidFill>
                  <a:srgbClr val="E2E8F0"/>
                </a:solidFill>
                <a:latin typeface="Consolas"/>
                <a:ea typeface="Consolas"/>
                <a:cs typeface="Consolas"/>
              </a:rPr>
              <a:t>(</a:t>
            </a:r>
            <a:r>
              <a:rPr lang="en-US" sz="1150" b="0" dirty="0">
                <a:solidFill>
                  <a:srgbClr val="F0A98B"/>
                </a:solidFill>
                <a:latin typeface="Consolas"/>
                <a:ea typeface="Consolas"/>
                <a:cs typeface="Consolas"/>
              </a:rPr>
              <a:t>"test@gmail.com"</a:t>
            </a:r>
            <a:r>
              <a:rPr lang="en-US" sz="1150" b="0" dirty="0">
                <a:solidFill>
                  <a:srgbClr val="E2E8F0"/>
                </a:solidFill>
                <a:latin typeface="Consolas"/>
                <a:ea typeface="Consolas"/>
                <a:cs typeface="Consolas"/>
              </a:rPr>
              <a:t>)</a:t>
            </a:r>
            <a:endParaRPr lang="en-US" sz="1150" dirty="0"/>
          </a:p>
        </p:txBody>
      </p:sp>
      <p:sp>
        <p:nvSpPr>
          <p:cNvPr id="120" name="s120"/>
          <p:cNvSpPr/>
          <p:nvPr/>
        </p:nvSpPr>
        <p:spPr>
          <a:xfrm>
            <a:off x="543154" y="4209288"/>
            <a:ext cx="5394960"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Returns</a:t>
            </a:r>
            <a:r>
              <a:rPr lang="en-US" sz="1150" b="0" dirty="0">
                <a:solidFill>
                  <a:srgbClr val="E2E8F0"/>
                </a:solidFill>
                <a:latin typeface="Consolas"/>
                <a:ea typeface="Consolas"/>
                <a:cs typeface="Consolas"/>
              </a:rPr>
              <a:t>(</a:t>
            </a:r>
            <a:r>
              <a:rPr lang="en-US" sz="1150" b="0" dirty="0">
                <a:solidFill>
                  <a:srgbClr val="60A5FA"/>
                </a:solidFill>
                <a:latin typeface="Consolas"/>
                <a:ea typeface="Consolas"/>
                <a:cs typeface="Consolas"/>
              </a:rPr>
              <a:t>new</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User</a:t>
            </a:r>
            <a:r>
              <a:rPr lang="en-US" sz="1150" b="0" dirty="0">
                <a:solidFill>
                  <a:srgbClr val="E2E8F0"/>
                </a:solidFill>
                <a:latin typeface="Consolas"/>
                <a:ea typeface="Consolas"/>
                <a:cs typeface="Consolas"/>
              </a:rPr>
              <a:t>());       </a:t>
            </a:r>
            <a:r>
              <a:rPr lang="en-US" sz="1150" b="0" dirty="0">
                <a:solidFill>
                  <a:srgbClr val="6FAE7A"/>
                </a:solidFill>
                <a:latin typeface="Consolas"/>
                <a:ea typeface="Consolas"/>
                <a:cs typeface="Consolas"/>
              </a:rPr>
              <a:t>// you CHOSE the answer</a:t>
            </a:r>
            <a:endParaRPr lang="en-US" sz="1150" dirty="0"/>
          </a:p>
        </p:txBody>
      </p:sp>
      <p:sp>
        <p:nvSpPr>
          <p:cNvPr id="121" name="s121"/>
          <p:cNvSpPr/>
          <p:nvPr/>
        </p:nvSpPr>
        <p:spPr>
          <a:xfrm>
            <a:off x="543154" y="4590288"/>
            <a:ext cx="5394960" cy="402336"/>
          </a:xfrm>
          <a:prstGeom prst="roundRect">
            <a:avLst>
              <a:gd name="adj" fmla="val 20000"/>
            </a:avLst>
          </a:prstGeom>
          <a:solidFill>
            <a:srgbClr val="FBBF24">
              <a:alpha val="12000"/>
            </a:srgbClr>
          </a:solidFill>
          <a:ln w="12700">
            <a:solidFill>
              <a:srgbClr val="FBBF24"/>
            </a:solidFill>
            <a:prstDash val="solid"/>
          </a:ln>
        </p:spPr>
        <p:txBody>
          <a:bodyPr wrap="square" lIns="164592" tIns="109728" rIns="137160" bIns="91440" rtlCol="0" anchor="ctr">
            <a:noAutofit/>
          </a:bodyPr>
          <a:lstStyle/>
          <a:p>
            <a:pPr marL="0" indent="0" algn="ctr">
              <a:spcBef>
                <a:spcPts val="0"/>
              </a:spcBef>
              <a:spcAft>
                <a:spcPts val="0"/>
              </a:spcAft>
              <a:buNone/>
            </a:pPr>
            <a:r>
              <a:rPr lang="en-US" sz="1400" b="0" dirty="0">
                <a:solidFill>
                  <a:srgbClr val="E2E8F0"/>
                </a:solidFill>
                <a:latin typeface="Segoe UI"/>
                <a:ea typeface="Segoe UI"/>
                <a:cs typeface="Segoe UI"/>
              </a:rPr>
              <a:t>Did we test the SQL query?   </a:t>
            </a:r>
            <a:r>
              <a:rPr lang="en-US" sz="1400" b="1" dirty="0">
                <a:solidFill>
                  <a:srgbClr val="F87171"/>
                </a:solidFill>
                <a:latin typeface="Segoe UI"/>
                <a:ea typeface="Segoe UI"/>
                <a:cs typeface="Segoe UI"/>
              </a:rPr>
              <a:t>NO.</a:t>
            </a:r>
            <a:r>
              <a:rPr lang="en-US" sz="1400" b="0" dirty="0">
                <a:solidFill>
                  <a:srgbClr val="E2E8F0"/>
                </a:solidFill>
                <a:latin typeface="Segoe UI"/>
                <a:ea typeface="Segoe UI"/>
                <a:cs typeface="Segoe UI"/>
              </a:rPr>
              <a:t>  We chose the answer.</a:t>
            </a:r>
            <a:endParaRPr lang="en-US" sz="1400" dirty="0"/>
          </a:p>
        </p:txBody>
      </p:sp>
      <p:sp>
        <p:nvSpPr>
          <p:cNvPr id="122" name="s122"/>
          <p:cNvSpPr/>
          <p:nvPr/>
        </p:nvSpPr>
        <p:spPr>
          <a:xfrm>
            <a:off x="543154" y="5065776"/>
            <a:ext cx="5394960" cy="1188720"/>
          </a:xfrm>
          <a:prstGeom prst="roundRect">
            <a:avLst>
              <a:gd name="adj" fmla="val 9000"/>
            </a:avLst>
          </a:prstGeom>
          <a:solidFill>
            <a:srgbClr val="111B2E"/>
          </a:solidFill>
          <a:ln w="12700">
            <a:solidFill>
              <a:srgbClr val="F87171"/>
            </a:solidFill>
            <a:prstDash val="solid"/>
          </a:ln>
        </p:spPr>
        <p:txBody>
          <a:bodyPr wrap="square" lIns="182880" tIns="91440" rIns="137160" bIns="73152" rtlCol="0" anchor="t">
            <a:noAutofit/>
          </a:bodyPr>
          <a:lstStyle/>
          <a:p>
            <a:pPr marL="0" indent="0" algn="l">
              <a:spcBef>
                <a:spcPts val="0"/>
              </a:spcBef>
              <a:spcAft>
                <a:spcPts val="300"/>
              </a:spcAft>
              <a:buNone/>
            </a:pPr>
            <a:r>
              <a:rPr lang="en-US" sz="1050" b="1" dirty="0">
                <a:solidFill>
                  <a:srgbClr val="F87171"/>
                </a:solidFill>
                <a:latin typeface="Segoe UI"/>
                <a:ea typeface="Segoe UI"/>
                <a:cs typeface="Segoe UI"/>
              </a:rPr>
              <a:t>NOT TESTED</a:t>
            </a:r>
            <a:endParaRPr lang="en-US" sz="1050" dirty="0"/>
          </a:p>
          <a:p>
            <a:pPr marL="0" indent="0" algn="l">
              <a:spcBef>
                <a:spcPts val="0"/>
              </a:spcBef>
              <a:spcAft>
                <a:spcPts val="100"/>
              </a:spcAft>
              <a:buNone/>
            </a:pPr>
            <a:r>
              <a:rPr lang="en-US" sz="1150" b="1" dirty="0">
                <a:solidFill>
                  <a:srgbClr val="F87171"/>
                </a:solidFill>
                <a:latin typeface="Segoe UI"/>
                <a:ea typeface="Segoe UI"/>
                <a:cs typeface="Segoe UI"/>
              </a:rPr>
              <a:t>✗  </a:t>
            </a:r>
            <a:r>
              <a:rPr lang="en-US" sz="1150" b="0" dirty="0">
                <a:solidFill>
                  <a:srgbClr val="E2E8F0"/>
                </a:solidFill>
                <a:latin typeface="Segoe UI"/>
                <a:ea typeface="Segoe UI"/>
                <a:cs typeface="Segoe UI"/>
              </a:rPr>
              <a:t>does the query run on a REAL database?</a:t>
            </a:r>
            <a:endParaRPr lang="en-US" sz="1150" dirty="0"/>
          </a:p>
          <a:p>
            <a:pPr marL="0" indent="0" algn="l">
              <a:spcBef>
                <a:spcPts val="0"/>
              </a:spcBef>
              <a:spcAft>
                <a:spcPts val="100"/>
              </a:spcAft>
              <a:buNone/>
            </a:pPr>
            <a:r>
              <a:rPr lang="en-US" sz="1150" b="1" dirty="0">
                <a:solidFill>
                  <a:srgbClr val="F87171"/>
                </a:solidFill>
                <a:latin typeface="Segoe UI"/>
                <a:ea typeface="Segoe UI"/>
                <a:cs typeface="Segoe UI"/>
              </a:rPr>
              <a:t>✗  </a:t>
            </a:r>
            <a:r>
              <a:rPr lang="en-US" sz="1150" b="0" dirty="0">
                <a:solidFill>
                  <a:srgbClr val="E2E8F0"/>
                </a:solidFill>
                <a:latin typeface="Segoe UI"/>
                <a:ea typeface="Segoe UI"/>
                <a:cs typeface="Segoe UI"/>
              </a:rPr>
              <a:t>does EF Core translate it correctly?</a:t>
            </a:r>
            <a:endParaRPr lang="en-US" sz="1150" dirty="0"/>
          </a:p>
          <a:p>
            <a:pPr marL="0" indent="0" algn="l">
              <a:spcBef>
                <a:spcPts val="0"/>
              </a:spcBef>
              <a:spcAft>
                <a:spcPts val="100"/>
              </a:spcAft>
              <a:buNone/>
            </a:pPr>
            <a:r>
              <a:rPr lang="en-US" sz="1150" b="1" dirty="0">
                <a:solidFill>
                  <a:srgbClr val="F87171"/>
                </a:solidFill>
                <a:latin typeface="Segoe UI"/>
                <a:ea typeface="Segoe UI"/>
                <a:cs typeface="Segoe UI"/>
              </a:rPr>
              <a:t>✗  </a:t>
            </a:r>
            <a:r>
              <a:rPr lang="en-US" sz="1150" b="0" dirty="0">
                <a:solidFill>
                  <a:srgbClr val="E2E8F0"/>
                </a:solidFill>
                <a:latin typeface="Segoe UI"/>
                <a:ea typeface="Segoe UI"/>
                <a:cs typeface="Segoe UI"/>
              </a:rPr>
              <a:t>is the mapping right?</a:t>
            </a:r>
            <a:endParaRPr lang="en-US" sz="1150" dirty="0"/>
          </a:p>
          <a:p>
            <a:pPr marL="0" indent="0" algn="l">
              <a:spcBef>
                <a:spcPts val="0"/>
              </a:spcBef>
              <a:spcAft>
                <a:spcPts val="100"/>
              </a:spcAft>
              <a:buNone/>
            </a:pPr>
            <a:r>
              <a:rPr lang="en-US" sz="1150" b="1" dirty="0">
                <a:solidFill>
                  <a:srgbClr val="F87171"/>
                </a:solidFill>
                <a:latin typeface="Segoe UI"/>
                <a:ea typeface="Segoe UI"/>
                <a:cs typeface="Segoe UI"/>
              </a:rPr>
              <a:t>✗  </a:t>
            </a:r>
            <a:r>
              <a:rPr lang="en-US" sz="1150" b="0" dirty="0">
                <a:solidFill>
                  <a:srgbClr val="E2E8F0"/>
                </a:solidFill>
                <a:latin typeface="Segoe UI"/>
                <a:ea typeface="Segoe UI"/>
                <a:cs typeface="Segoe UI"/>
              </a:rPr>
              <a:t>do the DB constraints work?</a:t>
            </a:r>
            <a:endParaRPr lang="en-US" sz="1150" dirty="0"/>
          </a:p>
        </p:txBody>
      </p:sp>
      <p:sp>
        <p:nvSpPr>
          <p:cNvPr id="123" name="s123"/>
          <p:cNvSpPr txBox="1"/>
          <p:nvPr/>
        </p:nvSpPr>
        <p:spPr>
          <a:xfrm>
            <a:off x="6322162" y="1810512"/>
            <a:ext cx="2331720" cy="274320"/>
          </a:xfrm>
          <a:prstGeom prst="rect">
            <a:avLst/>
          </a:prstGeom>
          <a:noFill/>
          <a:ln>
            <a:noFill/>
          </a:ln>
        </p:spPr>
        <p:txBody>
          <a:bodyPr wrap="square" lIns="0" tIns="0" rIns="0" bIns="0" rtlCol="0" anchor="t">
            <a:noAutofit/>
          </a:bodyPr>
          <a:lstStyle/>
          <a:p>
            <a:pPr marL="0" indent="0" algn="l">
              <a:spcBef>
                <a:spcPts val="0"/>
              </a:spcBef>
              <a:spcAft>
                <a:spcPts val="0"/>
              </a:spcAft>
              <a:buNone/>
            </a:pPr>
            <a:endParaRPr lang="en-US" sz="1150" dirty="0"/>
          </a:p>
        </p:txBody>
      </p:sp>
      <p:sp>
        <p:nvSpPr>
          <p:cNvPr id="124" name="s124"/>
          <p:cNvSpPr txBox="1"/>
          <p:nvPr/>
        </p:nvSpPr>
        <p:spPr>
          <a:xfrm>
            <a:off x="8653882" y="1810512"/>
            <a:ext cx="1543507"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1" dirty="0">
                <a:solidFill>
                  <a:srgbClr val="13D0F7"/>
                </a:solidFill>
                <a:latin typeface="Segoe UI"/>
                <a:ea typeface="Segoe UI"/>
                <a:cs typeface="Segoe UI"/>
              </a:rPr>
              <a:t>UNIT + MOCK</a:t>
            </a:r>
            <a:endParaRPr lang="en-US" sz="1150" dirty="0"/>
          </a:p>
        </p:txBody>
      </p:sp>
      <p:sp>
        <p:nvSpPr>
          <p:cNvPr id="125" name="s125"/>
          <p:cNvSpPr txBox="1"/>
          <p:nvPr/>
        </p:nvSpPr>
        <p:spPr>
          <a:xfrm>
            <a:off x="10197389" y="1810512"/>
            <a:ext cx="1543507"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1" dirty="0">
                <a:solidFill>
                  <a:srgbClr val="A78BFA"/>
                </a:solidFill>
                <a:latin typeface="Segoe UI"/>
                <a:ea typeface="Segoe UI"/>
                <a:cs typeface="Segoe UI"/>
              </a:rPr>
              <a:t>INTEGRATION</a:t>
            </a:r>
            <a:endParaRPr lang="en-US" sz="1150" dirty="0"/>
          </a:p>
        </p:txBody>
      </p:sp>
      <p:sp>
        <p:nvSpPr>
          <p:cNvPr id="126" name="s126"/>
          <p:cNvSpPr/>
          <p:nvPr/>
        </p:nvSpPr>
        <p:spPr>
          <a:xfrm>
            <a:off x="6212434" y="2139696"/>
            <a:ext cx="5418734" cy="429768"/>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7" name="s127"/>
          <p:cNvSpPr txBox="1"/>
          <p:nvPr/>
        </p:nvSpPr>
        <p:spPr>
          <a:xfrm>
            <a:off x="6349594" y="2139696"/>
            <a:ext cx="2331720" cy="4297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the repository</a:t>
            </a:r>
            <a:endParaRPr lang="en-US" sz="1250" dirty="0"/>
          </a:p>
        </p:txBody>
      </p:sp>
      <p:sp>
        <p:nvSpPr>
          <p:cNvPr id="128" name="s128"/>
          <p:cNvSpPr txBox="1"/>
          <p:nvPr/>
        </p:nvSpPr>
        <p:spPr>
          <a:xfrm>
            <a:off x="8653882" y="2139696"/>
            <a:ext cx="1543507" cy="4297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you SET the answer</a:t>
            </a:r>
            <a:endParaRPr lang="en-US" sz="1200" dirty="0"/>
          </a:p>
        </p:txBody>
      </p:sp>
      <p:sp>
        <p:nvSpPr>
          <p:cNvPr id="129" name="s129"/>
          <p:cNvSpPr txBox="1"/>
          <p:nvPr/>
        </p:nvSpPr>
        <p:spPr>
          <a:xfrm>
            <a:off x="10197389" y="2139696"/>
            <a:ext cx="1543507" cy="4297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runs a REAL query</a:t>
            </a:r>
            <a:endParaRPr lang="en-US" sz="1200" dirty="0"/>
          </a:p>
        </p:txBody>
      </p:sp>
      <p:sp>
        <p:nvSpPr>
          <p:cNvPr id="130" name="s130"/>
          <p:cNvSpPr/>
          <p:nvPr/>
        </p:nvSpPr>
        <p:spPr>
          <a:xfrm>
            <a:off x="6212434" y="2633472"/>
            <a:ext cx="5418734" cy="429768"/>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1" name="s131"/>
          <p:cNvSpPr txBox="1"/>
          <p:nvPr/>
        </p:nvSpPr>
        <p:spPr>
          <a:xfrm>
            <a:off x="6349594" y="2633472"/>
            <a:ext cx="2331720" cy="4297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the SQL</a:t>
            </a:r>
            <a:endParaRPr lang="en-US" sz="1250" dirty="0"/>
          </a:p>
        </p:txBody>
      </p:sp>
      <p:sp>
        <p:nvSpPr>
          <p:cNvPr id="132" name="s132"/>
          <p:cNvSpPr txBox="1"/>
          <p:nvPr/>
        </p:nvSpPr>
        <p:spPr>
          <a:xfrm>
            <a:off x="8653882" y="2633472"/>
            <a:ext cx="1543507" cy="4297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F87171"/>
                </a:solidFill>
                <a:latin typeface="Segoe UI"/>
                <a:ea typeface="Segoe UI"/>
                <a:cs typeface="Segoe UI"/>
              </a:rPr>
              <a:t>not tested</a:t>
            </a:r>
            <a:endParaRPr lang="en-US" sz="1200" dirty="0"/>
          </a:p>
        </p:txBody>
      </p:sp>
      <p:sp>
        <p:nvSpPr>
          <p:cNvPr id="133" name="s133"/>
          <p:cNvSpPr txBox="1"/>
          <p:nvPr/>
        </p:nvSpPr>
        <p:spPr>
          <a:xfrm>
            <a:off x="10197389" y="2633472"/>
            <a:ext cx="1543507" cy="4297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tested</a:t>
            </a:r>
            <a:endParaRPr lang="en-US" sz="1200" dirty="0"/>
          </a:p>
        </p:txBody>
      </p:sp>
      <p:sp>
        <p:nvSpPr>
          <p:cNvPr id="134" name="s134"/>
          <p:cNvSpPr/>
          <p:nvPr/>
        </p:nvSpPr>
        <p:spPr>
          <a:xfrm>
            <a:off x="6212434" y="3127248"/>
            <a:ext cx="5418734" cy="429768"/>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5" name="s135"/>
          <p:cNvSpPr txBox="1"/>
          <p:nvPr/>
        </p:nvSpPr>
        <p:spPr>
          <a:xfrm>
            <a:off x="6349594" y="3127248"/>
            <a:ext cx="2331720" cy="4297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speed</a:t>
            </a:r>
            <a:endParaRPr lang="en-US" sz="1250" dirty="0"/>
          </a:p>
        </p:txBody>
      </p:sp>
      <p:sp>
        <p:nvSpPr>
          <p:cNvPr id="136" name="s136"/>
          <p:cNvSpPr txBox="1"/>
          <p:nvPr/>
        </p:nvSpPr>
        <p:spPr>
          <a:xfrm>
            <a:off x="8653882" y="3127248"/>
            <a:ext cx="1543507" cy="4297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very fast</a:t>
            </a:r>
            <a:endParaRPr lang="en-US" sz="1200" dirty="0"/>
          </a:p>
        </p:txBody>
      </p:sp>
      <p:sp>
        <p:nvSpPr>
          <p:cNvPr id="137" name="s137"/>
          <p:cNvSpPr txBox="1"/>
          <p:nvPr/>
        </p:nvSpPr>
        <p:spPr>
          <a:xfrm>
            <a:off x="10197389" y="3127248"/>
            <a:ext cx="1543507" cy="4297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slower</a:t>
            </a:r>
            <a:endParaRPr lang="en-US" sz="1200" dirty="0"/>
          </a:p>
        </p:txBody>
      </p:sp>
      <p:sp>
        <p:nvSpPr>
          <p:cNvPr id="138" name="s138"/>
          <p:cNvSpPr/>
          <p:nvPr/>
        </p:nvSpPr>
        <p:spPr>
          <a:xfrm>
            <a:off x="6212434" y="3621024"/>
            <a:ext cx="5418734" cy="429768"/>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9" name="s139"/>
          <p:cNvSpPr txBox="1"/>
          <p:nvPr/>
        </p:nvSpPr>
        <p:spPr>
          <a:xfrm>
            <a:off x="6349594" y="3621024"/>
            <a:ext cx="2331720" cy="4297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it checks</a:t>
            </a:r>
            <a:endParaRPr lang="en-US" sz="1250" dirty="0"/>
          </a:p>
        </p:txBody>
      </p:sp>
      <p:sp>
        <p:nvSpPr>
          <p:cNvPr id="140" name="s140"/>
          <p:cNvSpPr txBox="1"/>
          <p:nvPr/>
        </p:nvSpPr>
        <p:spPr>
          <a:xfrm>
            <a:off x="8653882" y="3621024"/>
            <a:ext cx="1543507" cy="4297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the business logic</a:t>
            </a:r>
            <a:endParaRPr lang="en-US" sz="1200" dirty="0"/>
          </a:p>
        </p:txBody>
      </p:sp>
      <p:sp>
        <p:nvSpPr>
          <p:cNvPr id="141" name="s141"/>
          <p:cNvSpPr txBox="1"/>
          <p:nvPr/>
        </p:nvSpPr>
        <p:spPr>
          <a:xfrm>
            <a:off x="10197389" y="3621024"/>
            <a:ext cx="1543507" cy="4297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0" dirty="0">
                <a:solidFill>
                  <a:srgbClr val="E2E8F0"/>
                </a:solidFill>
                <a:latin typeface="Segoe UI"/>
                <a:ea typeface="Segoe UI"/>
                <a:cs typeface="Segoe UI"/>
              </a:rPr>
              <a:t>the DB integration</a:t>
            </a:r>
            <a:endParaRPr lang="en-US" sz="1200" dirty="0"/>
          </a:p>
        </p:txBody>
      </p:sp>
      <p:sp>
        <p:nvSpPr>
          <p:cNvPr id="142" name="s142"/>
          <p:cNvSpPr/>
          <p:nvPr/>
        </p:nvSpPr>
        <p:spPr>
          <a:xfrm>
            <a:off x="6212434" y="4187952"/>
            <a:ext cx="5418734" cy="1005840"/>
          </a:xfrm>
          <a:prstGeom prst="roundRect">
            <a:avLst>
              <a:gd name="adj" fmla="val 10000"/>
            </a:avLst>
          </a:prstGeom>
          <a:solidFill>
            <a:srgbClr val="A78BFA">
              <a:alpha val="10000"/>
            </a:srgbClr>
          </a:solidFill>
          <a:ln w="12700">
            <a:solidFill>
              <a:srgbClr val="A78BFA"/>
            </a:solidFill>
            <a:prstDash val="solid"/>
          </a:ln>
        </p:spPr>
        <p:txBody>
          <a:bodyPr wrap="square" lIns="201168" tIns="73152" rIns="137160" bIns="73152" rtlCol="0" anchor="ctr">
            <a:noAutofit/>
          </a:bodyPr>
          <a:lstStyle/>
          <a:p>
            <a:pPr marL="0" indent="0" algn="l">
              <a:spcBef>
                <a:spcPts val="0"/>
              </a:spcBef>
              <a:spcAft>
                <a:spcPts val="400"/>
              </a:spcAft>
              <a:buNone/>
            </a:pPr>
            <a:r>
              <a:rPr lang="en-US" sz="1150" b="1" dirty="0">
                <a:solidFill>
                  <a:srgbClr val="A78BFA"/>
                </a:solidFill>
                <a:latin typeface="Segoe UI"/>
                <a:ea typeface="Segoe UI"/>
                <a:cs typeface="Segoe UI"/>
              </a:rPr>
              <a:t>THE SOLUTION:  INTEGRATION TESTS</a:t>
            </a:r>
            <a:endParaRPr lang="en-US" sz="1150" dirty="0"/>
          </a:p>
          <a:p>
            <a:pPr marL="0" indent="0" algn="l">
              <a:spcBef>
                <a:spcPts val="0"/>
              </a:spcBef>
              <a:spcAft>
                <a:spcPts val="0"/>
              </a:spcAft>
              <a:buNone/>
            </a:pPr>
            <a:r>
              <a:rPr lang="en-US" sz="1250" b="0" dirty="0">
                <a:solidFill>
                  <a:srgbClr val="E2E8F0"/>
                </a:solidFill>
                <a:latin typeface="Segoe UI"/>
                <a:ea typeface="Segoe UI"/>
                <a:cs typeface="Segoe UI"/>
              </a:rPr>
              <a:t>the REAL repository + a REAL database: SQL Server or PostgreSQL in Docker, started by the test with Testcontainers.</a:t>
            </a:r>
            <a:endParaRPr lang="en-US" sz="1250" dirty="0"/>
          </a:p>
        </p:txBody>
      </p:sp>
      <p:sp>
        <p:nvSpPr>
          <p:cNvPr id="143" name="s143"/>
          <p:cNvSpPr/>
          <p:nvPr/>
        </p:nvSpPr>
        <p:spPr>
          <a:xfrm>
            <a:off x="6212434" y="5285232"/>
            <a:ext cx="5418734" cy="420624"/>
          </a:xfrm>
          <a:prstGeom prst="roundRect">
            <a:avLst>
              <a:gd name="adj" fmla="val 15000"/>
            </a:avLst>
          </a:prstGeom>
          <a:solidFill>
            <a:srgbClr val="060D18"/>
          </a:solidFill>
          <a:ln w="12700">
            <a:solidFill>
              <a:srgbClr val="34D399"/>
            </a:solidFill>
            <a:prstDash val="solid"/>
          </a:ln>
        </p:spPr>
        <p:txBody>
          <a:bodyPr wrap="square" lIns="182880" tIns="0" rIns="91440" bIns="0" rtlCol="0" anchor="ctr">
            <a:noAutofit/>
          </a:bodyPr>
          <a:lstStyle/>
          <a:p>
            <a:pPr marL="0" indent="0" algn="l">
              <a:spcBef>
                <a:spcPts val="0"/>
              </a:spcBef>
              <a:spcAft>
                <a:spcPts val="0"/>
              </a:spcAft>
              <a:buNone/>
            </a:pPr>
            <a:r>
              <a:rPr lang="en-US" sz="1150" b="0" dirty="0">
                <a:solidFill>
                  <a:srgbClr val="94A3B8"/>
                </a:solidFill>
                <a:latin typeface="Consolas"/>
                <a:ea typeface="Consolas"/>
                <a:cs typeface="Consolas"/>
              </a:rPr>
              <a:t>$ </a:t>
            </a:r>
            <a:r>
              <a:rPr lang="en-US" sz="1150" b="1" dirty="0">
                <a:solidFill>
                  <a:srgbClr val="34D399"/>
                </a:solidFill>
                <a:latin typeface="Consolas"/>
                <a:ea typeface="Consolas"/>
                <a:cs typeface="Consolas"/>
              </a:rPr>
              <a:t>dotnet add package Testcontainers.MsSql</a:t>
            </a:r>
            <a:endParaRPr lang="en-US" sz="1150" dirty="0"/>
          </a:p>
        </p:txBody>
      </p:sp>
      <p:sp>
        <p:nvSpPr>
          <p:cNvPr id="144" name="s144"/>
          <p:cNvSpPr/>
          <p:nvPr/>
        </p:nvSpPr>
        <p:spPr>
          <a:xfrm>
            <a:off x="6212434" y="5797296"/>
            <a:ext cx="5418734" cy="457200"/>
          </a:xfrm>
          <a:prstGeom prst="roundRect">
            <a:avLst>
              <a:gd name="adj" fmla="val 12000"/>
            </a:avLst>
          </a:prstGeom>
          <a:solidFill>
            <a:srgbClr val="123A33"/>
          </a:solidFill>
          <a:ln w="25400">
            <a:solidFill>
              <a:srgbClr val="34D399"/>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You need BOTH:  </a:t>
            </a:r>
            <a:r>
              <a:rPr lang="en-US" sz="1350" b="0" dirty="0">
                <a:solidFill>
                  <a:srgbClr val="E2E8F0"/>
                </a:solidFill>
                <a:latin typeface="Segoe UI"/>
                <a:ea typeface="Segoe UI"/>
                <a:cs typeface="Segoe UI"/>
              </a:rPr>
              <a:t>mocks for logic, integration for SQL.</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2"/>
                                        </p:tgtEl>
                                        <p:attrNameLst>
                                          <p:attrName>style.visibility</p:attrName>
                                        </p:attrNameLst>
                                      </p:cBhvr>
                                      <p:to>
                                        <p:strVal val="visible"/>
                                      </p:to>
                                    </p:set>
                                    <p:animEffect transition="in" filter="fade">
                                      <p:cBhvr>
                                        <p:cTn id="10" dur="500"/>
                                        <p:tgtEl>
                                          <p:spTgt spid="10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4"/>
                                        </p:tgtEl>
                                        <p:attrNameLst>
                                          <p:attrName>style.visibility</p:attrName>
                                        </p:attrNameLst>
                                      </p:cBhvr>
                                      <p:to>
                                        <p:strVal val="visible"/>
                                      </p:to>
                                    </p:set>
                                    <p:animEffect transition="in" filter="fade">
                                      <p:cBhvr>
                                        <p:cTn id="16" dur="500"/>
                                        <p:tgtEl>
                                          <p:spTgt spid="10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childTnLst>
                                </p:cTn>
                              </p:par>
                              <p:par>
                                <p:cTn id="20" presetID="10" presetClass="entr" presetSubtype="0" fill="hold" nodeType="with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fade">
                                      <p:cBhvr>
                                        <p:cTn id="22" dur="500"/>
                                        <p:tgtEl>
                                          <p:spTgt spid="10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07"/>
                                        </p:tgtEl>
                                        <p:attrNameLst>
                                          <p:attrName>style.visibility</p:attrName>
                                        </p:attrNameLst>
                                      </p:cBhvr>
                                      <p:to>
                                        <p:strVal val="visible"/>
                                      </p:to>
                                    </p:set>
                                    <p:animEffect transition="in" filter="fade">
                                      <p:cBhvr>
                                        <p:cTn id="25" dur="500"/>
                                        <p:tgtEl>
                                          <p:spTgt spid="107"/>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08"/>
                                        </p:tgtEl>
                                        <p:attrNameLst>
                                          <p:attrName>style.visibility</p:attrName>
                                        </p:attrNameLst>
                                      </p:cBhvr>
                                      <p:to>
                                        <p:strVal val="visible"/>
                                      </p:to>
                                    </p:set>
                                    <p:animEffect transition="in" filter="fade">
                                      <p:cBhvr>
                                        <p:cTn id="28" dur="500"/>
                                        <p:tgtEl>
                                          <p:spTgt spid="10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fade">
                                      <p:cBhvr>
                                        <p:cTn id="31" dur="500"/>
                                        <p:tgtEl>
                                          <p:spTgt spid="109"/>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10"/>
                                        </p:tgtEl>
                                        <p:attrNameLst>
                                          <p:attrName>style.visibility</p:attrName>
                                        </p:attrNameLst>
                                      </p:cBhvr>
                                      <p:to>
                                        <p:strVal val="visible"/>
                                      </p:to>
                                    </p:set>
                                    <p:animEffect transition="in" filter="fade">
                                      <p:cBhvr>
                                        <p:cTn id="34" dur="500"/>
                                        <p:tgtEl>
                                          <p:spTgt spid="110"/>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11"/>
                                        </p:tgtEl>
                                        <p:attrNameLst>
                                          <p:attrName>style.visibility</p:attrName>
                                        </p:attrNameLst>
                                      </p:cBhvr>
                                      <p:to>
                                        <p:strVal val="visible"/>
                                      </p:to>
                                    </p:set>
                                    <p:animEffect transition="in" filter="fade">
                                      <p:cBhvr>
                                        <p:cTn id="37" dur="500"/>
                                        <p:tgtEl>
                                          <p:spTgt spid="111"/>
                                        </p:tgtEl>
                                      </p:cBhvr>
                                    </p:animEffect>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12"/>
                                        </p:tgtEl>
                                        <p:attrNameLst>
                                          <p:attrName>style.visibility</p:attrName>
                                        </p:attrNameLst>
                                      </p:cBhvr>
                                      <p:to>
                                        <p:strVal val="visible"/>
                                      </p:to>
                                    </p:set>
                                    <p:animEffect transition="in" filter="fade">
                                      <p:cBhvr>
                                        <p:cTn id="42" dur="500"/>
                                        <p:tgtEl>
                                          <p:spTgt spid="112"/>
                                        </p:tgtEl>
                                      </p:cBhvr>
                                    </p:animEffect>
                                    <p:anim calcmode="lin" valueType="num">
                                      <p:cBhvr additive="base">
                                        <p:cTn id="43" dur="500" decel="100000" fill="hold"/>
                                        <p:tgtEl>
                                          <p:spTgt spid="112"/>
                                        </p:tgtEl>
                                        <p:attrNameLst>
                                          <p:attrName>ppt_y</p:attrName>
                                        </p:attrNameLst>
                                      </p:cBhvr>
                                      <p:tavLst>
                                        <p:tav tm="0">
                                          <p:val>
                                            <p:strVal val="#ppt_y+0.06"/>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113"/>
                                        </p:tgtEl>
                                        <p:attrNameLst>
                                          <p:attrName>style.visibility</p:attrName>
                                        </p:attrNameLst>
                                      </p:cBhvr>
                                      <p:to>
                                        <p:strVal val="visible"/>
                                      </p:to>
                                    </p:set>
                                    <p:animEffect transition="in" filter="fade">
                                      <p:cBhvr>
                                        <p:cTn id="46" dur="500"/>
                                        <p:tgtEl>
                                          <p:spTgt spid="113"/>
                                        </p:tgtEl>
                                      </p:cBhvr>
                                    </p:animEffect>
                                    <p:anim calcmode="lin" valueType="num">
                                      <p:cBhvr additive="base">
                                        <p:cTn id="47" dur="500" decel="100000" fill="hold"/>
                                        <p:tgtEl>
                                          <p:spTgt spid="113"/>
                                        </p:tgtEl>
                                        <p:attrNameLst>
                                          <p:attrName>ppt_y</p:attrName>
                                        </p:attrNameLst>
                                      </p:cBhvr>
                                      <p:tavLst>
                                        <p:tav tm="0">
                                          <p:val>
                                            <p:strVal val="#ppt_y+0.06"/>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114"/>
                                        </p:tgtEl>
                                        <p:attrNameLst>
                                          <p:attrName>style.visibility</p:attrName>
                                        </p:attrNameLst>
                                      </p:cBhvr>
                                      <p:to>
                                        <p:strVal val="visible"/>
                                      </p:to>
                                    </p:set>
                                    <p:animEffect transition="in" filter="fade">
                                      <p:cBhvr>
                                        <p:cTn id="50" dur="500"/>
                                        <p:tgtEl>
                                          <p:spTgt spid="114"/>
                                        </p:tgtEl>
                                      </p:cBhvr>
                                    </p:animEffect>
                                    <p:anim calcmode="lin" valueType="num">
                                      <p:cBhvr additive="base">
                                        <p:cTn id="51" dur="500" decel="100000" fill="hold"/>
                                        <p:tgtEl>
                                          <p:spTgt spid="114"/>
                                        </p:tgtEl>
                                        <p:attrNameLst>
                                          <p:attrName>ppt_y</p:attrName>
                                        </p:attrNameLst>
                                      </p:cBhvr>
                                      <p:tavLst>
                                        <p:tav tm="0">
                                          <p:val>
                                            <p:strVal val="#ppt_y+0.06"/>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15"/>
                                        </p:tgtEl>
                                        <p:attrNameLst>
                                          <p:attrName>style.visibility</p:attrName>
                                        </p:attrNameLst>
                                      </p:cBhvr>
                                      <p:to>
                                        <p:strVal val="visible"/>
                                      </p:to>
                                    </p:set>
                                    <p:animEffect transition="in" filter="fade">
                                      <p:cBhvr>
                                        <p:cTn id="54" dur="500"/>
                                        <p:tgtEl>
                                          <p:spTgt spid="115"/>
                                        </p:tgtEl>
                                      </p:cBhvr>
                                    </p:animEffect>
                                    <p:anim calcmode="lin" valueType="num">
                                      <p:cBhvr additive="base">
                                        <p:cTn id="55" dur="500" decel="100000" fill="hold"/>
                                        <p:tgtEl>
                                          <p:spTgt spid="115"/>
                                        </p:tgtEl>
                                        <p:attrNameLst>
                                          <p:attrName>ppt_y</p:attrName>
                                        </p:attrNameLst>
                                      </p:cBhvr>
                                      <p:tavLst>
                                        <p:tav tm="0">
                                          <p:val>
                                            <p:strVal val="#ppt_y+0.06"/>
                                          </p:val>
                                        </p:tav>
                                        <p:tav tm="100000">
                                          <p:val>
                                            <p:strVal val="#ppt_y"/>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116"/>
                                        </p:tgtEl>
                                        <p:attrNameLst>
                                          <p:attrName>style.visibility</p:attrName>
                                        </p:attrNameLst>
                                      </p:cBhvr>
                                      <p:to>
                                        <p:strVal val="visible"/>
                                      </p:to>
                                    </p:set>
                                    <p:animEffect transition="in" filter="fade">
                                      <p:cBhvr>
                                        <p:cTn id="58" dur="500"/>
                                        <p:tgtEl>
                                          <p:spTgt spid="116"/>
                                        </p:tgtEl>
                                      </p:cBhvr>
                                    </p:animEffect>
                                    <p:anim calcmode="lin" valueType="num">
                                      <p:cBhvr additive="base">
                                        <p:cTn id="59" dur="500" decel="100000" fill="hold"/>
                                        <p:tgtEl>
                                          <p:spTgt spid="116"/>
                                        </p:tgtEl>
                                        <p:attrNameLst>
                                          <p:attrName>ppt_y</p:attrName>
                                        </p:attrNameLst>
                                      </p:cBhvr>
                                      <p:tavLst>
                                        <p:tav tm="0">
                                          <p:val>
                                            <p:strVal val="#ppt_y+0.06"/>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117"/>
                                        </p:tgtEl>
                                        <p:attrNameLst>
                                          <p:attrName>style.visibility</p:attrName>
                                        </p:attrNameLst>
                                      </p:cBhvr>
                                      <p:to>
                                        <p:strVal val="visible"/>
                                      </p:to>
                                    </p:set>
                                    <p:animEffect transition="in" filter="fade">
                                      <p:cBhvr>
                                        <p:cTn id="62" dur="500"/>
                                        <p:tgtEl>
                                          <p:spTgt spid="117"/>
                                        </p:tgtEl>
                                      </p:cBhvr>
                                    </p:animEffect>
                                    <p:anim calcmode="lin" valueType="num">
                                      <p:cBhvr additive="base">
                                        <p:cTn id="63" dur="500" decel="100000" fill="hold"/>
                                        <p:tgtEl>
                                          <p:spTgt spid="117"/>
                                        </p:tgtEl>
                                        <p:attrNameLst>
                                          <p:attrName>ppt_y</p:attrName>
                                        </p:attrNameLst>
                                      </p:cBhvr>
                                      <p:tavLst>
                                        <p:tav tm="0">
                                          <p:val>
                                            <p:strVal val="#ppt_y+0.06"/>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118"/>
                                        </p:tgtEl>
                                        <p:attrNameLst>
                                          <p:attrName>style.visibility</p:attrName>
                                        </p:attrNameLst>
                                      </p:cBhvr>
                                      <p:to>
                                        <p:strVal val="visible"/>
                                      </p:to>
                                    </p:set>
                                    <p:animEffect transition="in" filter="fade">
                                      <p:cBhvr>
                                        <p:cTn id="66" dur="500"/>
                                        <p:tgtEl>
                                          <p:spTgt spid="118"/>
                                        </p:tgtEl>
                                      </p:cBhvr>
                                    </p:animEffect>
                                    <p:anim calcmode="lin" valueType="num">
                                      <p:cBhvr additive="base">
                                        <p:cTn id="67" dur="500" decel="100000" fill="hold"/>
                                        <p:tgtEl>
                                          <p:spTgt spid="118"/>
                                        </p:tgtEl>
                                        <p:attrNameLst>
                                          <p:attrName>ppt_y</p:attrName>
                                        </p:attrNameLst>
                                      </p:cBhvr>
                                      <p:tavLst>
                                        <p:tav tm="0">
                                          <p:val>
                                            <p:strVal val="#ppt_y+0.06"/>
                                          </p:val>
                                        </p:tav>
                                        <p:tav tm="100000">
                                          <p:val>
                                            <p:strVal val="#ppt_y"/>
                                          </p:val>
                                        </p:tav>
                                      </p:tavLst>
                                    </p:anim>
                                  </p:childTnLst>
                                </p:cTn>
                              </p:par>
                              <p:par>
                                <p:cTn id="68" presetID="42" presetClass="entr" presetSubtype="0" fill="hold" grpId="0" nodeType="withEffect">
                                  <p:stCondLst>
                                    <p:cond delay="0"/>
                                  </p:stCondLst>
                                  <p:childTnLst>
                                    <p:set>
                                      <p:cBhvr>
                                        <p:cTn id="69" dur="1" fill="hold">
                                          <p:stCondLst>
                                            <p:cond delay="0"/>
                                          </p:stCondLst>
                                        </p:cTn>
                                        <p:tgtEl>
                                          <p:spTgt spid="119"/>
                                        </p:tgtEl>
                                        <p:attrNameLst>
                                          <p:attrName>style.visibility</p:attrName>
                                        </p:attrNameLst>
                                      </p:cBhvr>
                                      <p:to>
                                        <p:strVal val="visible"/>
                                      </p:to>
                                    </p:set>
                                    <p:animEffect transition="in" filter="fade">
                                      <p:cBhvr>
                                        <p:cTn id="70" dur="500"/>
                                        <p:tgtEl>
                                          <p:spTgt spid="119"/>
                                        </p:tgtEl>
                                      </p:cBhvr>
                                    </p:animEffect>
                                    <p:anim calcmode="lin" valueType="num">
                                      <p:cBhvr additive="base">
                                        <p:cTn id="71" dur="500" decel="100000" fill="hold"/>
                                        <p:tgtEl>
                                          <p:spTgt spid="119"/>
                                        </p:tgtEl>
                                        <p:attrNameLst>
                                          <p:attrName>ppt_y</p:attrName>
                                        </p:attrNameLst>
                                      </p:cBhvr>
                                      <p:tavLst>
                                        <p:tav tm="0">
                                          <p:val>
                                            <p:strVal val="#ppt_y+0.06"/>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120"/>
                                        </p:tgtEl>
                                        <p:attrNameLst>
                                          <p:attrName>style.visibility</p:attrName>
                                        </p:attrNameLst>
                                      </p:cBhvr>
                                      <p:to>
                                        <p:strVal val="visible"/>
                                      </p:to>
                                    </p:set>
                                    <p:animEffect transition="in" filter="fade">
                                      <p:cBhvr>
                                        <p:cTn id="74" dur="500"/>
                                        <p:tgtEl>
                                          <p:spTgt spid="120"/>
                                        </p:tgtEl>
                                      </p:cBhvr>
                                    </p:animEffect>
                                    <p:anim calcmode="lin" valueType="num">
                                      <p:cBhvr additive="base">
                                        <p:cTn id="75" dur="500" decel="100000" fill="hold"/>
                                        <p:tgtEl>
                                          <p:spTgt spid="120"/>
                                        </p:tgtEl>
                                        <p:attrNameLst>
                                          <p:attrName>ppt_y</p:attrName>
                                        </p:attrNameLst>
                                      </p:cBhvr>
                                      <p:tavLst>
                                        <p:tav tm="0">
                                          <p:val>
                                            <p:strVal val="#ppt_y+0.06"/>
                                          </p:val>
                                        </p:tav>
                                        <p:tav tm="100000">
                                          <p:val>
                                            <p:strVal val="#ppt_y"/>
                                          </p:val>
                                        </p:tav>
                                      </p:tavLst>
                                    </p:anim>
                                  </p:childTnLst>
                                </p:cTn>
                              </p:par>
                            </p:childTnLst>
                          </p:cTn>
                        </p:par>
                      </p:childTnLst>
                    </p:cTn>
                  </p:par>
                  <p:par>
                    <p:cTn id="76" fill="hold">
                      <p:stCondLst>
                        <p:cond delay="indefinite"/>
                      </p:stCondLst>
                      <p:childTnLst>
                        <p:par>
                          <p:cTn id="77" fill="hold">
                            <p:stCondLst>
                              <p:cond delay="0"/>
                            </p:stCondLst>
                            <p:childTnLst>
                              <p:par>
                                <p:cTn id="78" presetID="53" presetClass="entr" presetSubtype="16" fill="hold" grpId="0" nodeType="clickEffect">
                                  <p:stCondLst>
                                    <p:cond delay="0"/>
                                  </p:stCondLst>
                                  <p:childTnLst>
                                    <p:set>
                                      <p:cBhvr>
                                        <p:cTn id="79" dur="1" fill="hold">
                                          <p:stCondLst>
                                            <p:cond delay="0"/>
                                          </p:stCondLst>
                                        </p:cTn>
                                        <p:tgtEl>
                                          <p:spTgt spid="121"/>
                                        </p:tgtEl>
                                        <p:attrNameLst>
                                          <p:attrName>style.visibility</p:attrName>
                                        </p:attrNameLst>
                                      </p:cBhvr>
                                      <p:to>
                                        <p:strVal val="visible"/>
                                      </p:to>
                                    </p:set>
                                    <p:anim calcmode="lin" valueType="num">
                                      <p:cBhvr additive="base">
                                        <p:cTn id="80" dur="500" decel="100000" fill="hold"/>
                                        <p:tgtEl>
                                          <p:spTgt spid="121"/>
                                        </p:tgtEl>
                                        <p:attrNameLst>
                                          <p:attrName>ppt_w</p:attrName>
                                        </p:attrNameLst>
                                      </p:cBhvr>
                                      <p:tavLst>
                                        <p:tav tm="0">
                                          <p:val>
                                            <p:strVal val="#ppt_w*0.3"/>
                                          </p:val>
                                        </p:tav>
                                        <p:tav tm="100000">
                                          <p:val>
                                            <p:strVal val="#ppt_w*1.08"/>
                                          </p:val>
                                        </p:tav>
                                      </p:tavLst>
                                    </p:anim>
                                    <p:anim calcmode="lin" valueType="num">
                                      <p:cBhvr additive="base">
                                        <p:cTn id="81" dur="500" decel="100000" fill="hold"/>
                                        <p:tgtEl>
                                          <p:spTgt spid="121"/>
                                        </p:tgtEl>
                                        <p:attrNameLst>
                                          <p:attrName>ppt_h</p:attrName>
                                        </p:attrNameLst>
                                      </p:cBhvr>
                                      <p:tavLst>
                                        <p:tav tm="0">
                                          <p:val>
                                            <p:strVal val="#ppt_h*0.3"/>
                                          </p:val>
                                        </p:tav>
                                        <p:tav tm="100000">
                                          <p:val>
                                            <p:strVal val="#ppt_h*1.08"/>
                                          </p:val>
                                        </p:tav>
                                      </p:tavLst>
                                    </p:anim>
                                    <p:animEffect transition="in" filter="fade">
                                      <p:cBhvr>
                                        <p:cTn id="82" dur="250"/>
                                        <p:tgtEl>
                                          <p:spTgt spid="121"/>
                                        </p:tgtEl>
                                      </p:cBhvr>
                                    </p:animEffect>
                                    <p:anim calcmode="lin" valueType="num">
                                      <p:cBhvr additive="base">
                                        <p:cTn id="83" dur="160" fill="hold">
                                          <p:stCondLst>
                                            <p:cond delay="500"/>
                                          </p:stCondLst>
                                        </p:cTn>
                                        <p:tgtEl>
                                          <p:spTgt spid="121"/>
                                        </p:tgtEl>
                                        <p:attrNameLst>
                                          <p:attrName>ppt_w</p:attrName>
                                        </p:attrNameLst>
                                      </p:cBhvr>
                                      <p:tavLst>
                                        <p:tav tm="0">
                                          <p:val>
                                            <p:strVal val="#ppt_w*1.08"/>
                                          </p:val>
                                        </p:tav>
                                        <p:tav tm="100000">
                                          <p:val>
                                            <p:strVal val="#ppt_w"/>
                                          </p:val>
                                        </p:tav>
                                      </p:tavLst>
                                    </p:anim>
                                    <p:anim calcmode="lin" valueType="num">
                                      <p:cBhvr additive="base">
                                        <p:cTn id="84" dur="160" fill="hold">
                                          <p:stCondLst>
                                            <p:cond delay="500"/>
                                          </p:stCondLst>
                                        </p:cTn>
                                        <p:tgtEl>
                                          <p:spTgt spid="121"/>
                                        </p:tgtEl>
                                        <p:attrNameLst>
                                          <p:attrName>ppt_h</p:attrName>
                                        </p:attrNameLst>
                                      </p:cBhvr>
                                      <p:tavLst>
                                        <p:tav tm="0">
                                          <p:val>
                                            <p:strVal val="#ppt_h*1.08"/>
                                          </p:val>
                                        </p:tav>
                                        <p:tav tm="100000">
                                          <p:val>
                                            <p:strVal val="#ppt_h"/>
                                          </p:val>
                                        </p:tav>
                                      </p:tavLst>
                                    </p:anim>
                                  </p:childTnLst>
                                </p:cTn>
                              </p:par>
                            </p:childTnLst>
                          </p:cTn>
                        </p:par>
                      </p:childTnLst>
                    </p:cTn>
                  </p:par>
                  <p:par>
                    <p:cTn id="85" fill="hold">
                      <p:stCondLst>
                        <p:cond delay="indefinite"/>
                      </p:stCondLst>
                      <p:childTnLst>
                        <p:par>
                          <p:cTn id="86" fill="hold">
                            <p:stCondLst>
                              <p:cond delay="0"/>
                            </p:stCondLst>
                            <p:childTnLst>
                              <p:par>
                                <p:cTn id="87" presetID="42" presetClass="entr" presetSubtype="0" fill="hold" grpId="0" nodeType="clickEffect">
                                  <p:stCondLst>
                                    <p:cond delay="0"/>
                                  </p:stCondLst>
                                  <p:childTnLst>
                                    <p:set>
                                      <p:cBhvr>
                                        <p:cTn id="88" dur="1" fill="hold">
                                          <p:stCondLst>
                                            <p:cond delay="0"/>
                                          </p:stCondLst>
                                        </p:cTn>
                                        <p:tgtEl>
                                          <p:spTgt spid="122"/>
                                        </p:tgtEl>
                                        <p:attrNameLst>
                                          <p:attrName>style.visibility</p:attrName>
                                        </p:attrNameLst>
                                      </p:cBhvr>
                                      <p:to>
                                        <p:strVal val="visible"/>
                                      </p:to>
                                    </p:set>
                                    <p:animEffect transition="in" filter="fade">
                                      <p:cBhvr>
                                        <p:cTn id="89" dur="500"/>
                                        <p:tgtEl>
                                          <p:spTgt spid="122"/>
                                        </p:tgtEl>
                                      </p:cBhvr>
                                    </p:animEffect>
                                    <p:anim calcmode="lin" valueType="num">
                                      <p:cBhvr additive="base">
                                        <p:cTn id="90" dur="500" decel="100000" fill="hold"/>
                                        <p:tgtEl>
                                          <p:spTgt spid="122"/>
                                        </p:tgtEl>
                                        <p:attrNameLst>
                                          <p:attrName>ppt_y</p:attrName>
                                        </p:attrNameLst>
                                      </p:cBhvr>
                                      <p:tavLst>
                                        <p:tav tm="0">
                                          <p:val>
                                            <p:strVal val="#ppt_y+0.06"/>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grpId="0" nodeType="clickEffect">
                                  <p:stCondLst>
                                    <p:cond delay="0"/>
                                  </p:stCondLst>
                                  <p:childTnLst>
                                    <p:set>
                                      <p:cBhvr>
                                        <p:cTn id="94" dur="1" fill="hold">
                                          <p:stCondLst>
                                            <p:cond delay="0"/>
                                          </p:stCondLst>
                                        </p:cTn>
                                        <p:tgtEl>
                                          <p:spTgt spid="126"/>
                                        </p:tgtEl>
                                        <p:attrNameLst>
                                          <p:attrName>style.visibility</p:attrName>
                                        </p:attrNameLst>
                                      </p:cBhvr>
                                      <p:to>
                                        <p:strVal val="visible"/>
                                      </p:to>
                                    </p:set>
                                    <p:animEffect transition="in" filter="fade">
                                      <p:cBhvr>
                                        <p:cTn id="95" dur="500"/>
                                        <p:tgtEl>
                                          <p:spTgt spid="126"/>
                                        </p:tgtEl>
                                      </p:cBhvr>
                                    </p:animEffect>
                                    <p:anim calcmode="lin" valueType="num">
                                      <p:cBhvr additive="base">
                                        <p:cTn id="96" dur="500" decel="100000" fill="hold"/>
                                        <p:tgtEl>
                                          <p:spTgt spid="126"/>
                                        </p:tgtEl>
                                        <p:attrNameLst>
                                          <p:attrName>ppt_x</p:attrName>
                                        </p:attrNameLst>
                                      </p:cBhvr>
                                      <p:tavLst>
                                        <p:tav tm="0">
                                          <p:val>
                                            <p:strVal val="#ppt_x-0.05"/>
                                          </p:val>
                                        </p:tav>
                                        <p:tav tm="100000">
                                          <p:val>
                                            <p:strVal val="#ppt_x"/>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7"/>
                                        </p:tgtEl>
                                        <p:attrNameLst>
                                          <p:attrName>style.visibility</p:attrName>
                                        </p:attrNameLst>
                                      </p:cBhvr>
                                      <p:to>
                                        <p:strVal val="visible"/>
                                      </p:to>
                                    </p:set>
                                    <p:animEffect transition="in" filter="fade">
                                      <p:cBhvr>
                                        <p:cTn id="99" dur="500"/>
                                        <p:tgtEl>
                                          <p:spTgt spid="127"/>
                                        </p:tgtEl>
                                      </p:cBhvr>
                                    </p:animEffect>
                                    <p:anim calcmode="lin" valueType="num">
                                      <p:cBhvr additive="base">
                                        <p:cTn id="100" dur="500" decel="100000" fill="hold"/>
                                        <p:tgtEl>
                                          <p:spTgt spid="127"/>
                                        </p:tgtEl>
                                        <p:attrNameLst>
                                          <p:attrName>ppt_x</p:attrName>
                                        </p:attrNameLst>
                                      </p:cBhvr>
                                      <p:tavLst>
                                        <p:tav tm="0">
                                          <p:val>
                                            <p:strVal val="#ppt_x-0.05"/>
                                          </p:val>
                                        </p:tav>
                                        <p:tav tm="100000">
                                          <p:val>
                                            <p:strVal val="#ppt_x"/>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28"/>
                                        </p:tgtEl>
                                        <p:attrNameLst>
                                          <p:attrName>style.visibility</p:attrName>
                                        </p:attrNameLst>
                                      </p:cBhvr>
                                      <p:to>
                                        <p:strVal val="visible"/>
                                      </p:to>
                                    </p:set>
                                    <p:animEffect transition="in" filter="fade">
                                      <p:cBhvr>
                                        <p:cTn id="103" dur="500"/>
                                        <p:tgtEl>
                                          <p:spTgt spid="128"/>
                                        </p:tgtEl>
                                      </p:cBhvr>
                                    </p:animEffect>
                                    <p:anim calcmode="lin" valueType="num">
                                      <p:cBhvr additive="base">
                                        <p:cTn id="104" dur="500" decel="100000" fill="hold"/>
                                        <p:tgtEl>
                                          <p:spTgt spid="128"/>
                                        </p:tgtEl>
                                        <p:attrNameLst>
                                          <p:attrName>ppt_x</p:attrName>
                                        </p:attrNameLst>
                                      </p:cBhvr>
                                      <p:tavLst>
                                        <p:tav tm="0">
                                          <p:val>
                                            <p:strVal val="#ppt_x-0.05"/>
                                          </p:val>
                                        </p:tav>
                                        <p:tav tm="100000">
                                          <p:val>
                                            <p:strVal val="#ppt_x"/>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29"/>
                                        </p:tgtEl>
                                        <p:attrNameLst>
                                          <p:attrName>style.visibility</p:attrName>
                                        </p:attrNameLst>
                                      </p:cBhvr>
                                      <p:to>
                                        <p:strVal val="visible"/>
                                      </p:to>
                                    </p:set>
                                    <p:animEffect transition="in" filter="fade">
                                      <p:cBhvr>
                                        <p:cTn id="107" dur="500"/>
                                        <p:tgtEl>
                                          <p:spTgt spid="129"/>
                                        </p:tgtEl>
                                      </p:cBhvr>
                                    </p:animEffect>
                                    <p:anim calcmode="lin" valueType="num">
                                      <p:cBhvr additive="base">
                                        <p:cTn id="108" dur="500" decel="100000" fill="hold"/>
                                        <p:tgtEl>
                                          <p:spTgt spid="129"/>
                                        </p:tgtEl>
                                        <p:attrNameLst>
                                          <p:attrName>ppt_x</p:attrName>
                                        </p:attrNameLst>
                                      </p:cBhvr>
                                      <p:tavLst>
                                        <p:tav tm="0">
                                          <p:val>
                                            <p:strVal val="#ppt_x-0.05"/>
                                          </p:val>
                                        </p:tav>
                                        <p:tav tm="100000">
                                          <p:val>
                                            <p:strVal val="#ppt_x"/>
                                          </p:val>
                                        </p:tav>
                                      </p:tavLst>
                                    </p:anim>
                                  </p:childTnLst>
                                </p:cTn>
                              </p:par>
                            </p:childTnLst>
                          </p:cTn>
                        </p:par>
                      </p:childTnLst>
                    </p:cTn>
                  </p:par>
                  <p:par>
                    <p:cTn id="109" fill="hold">
                      <p:stCondLst>
                        <p:cond delay="indefinite"/>
                      </p:stCondLst>
                      <p:childTnLst>
                        <p:par>
                          <p:cTn id="110" fill="hold">
                            <p:stCondLst>
                              <p:cond delay="0"/>
                            </p:stCondLst>
                            <p:childTnLst>
                              <p:par>
                                <p:cTn id="111" presetID="42" presetClass="entr" presetSubtype="0" fill="hold" grpId="0" nodeType="clickEffect">
                                  <p:stCondLst>
                                    <p:cond delay="0"/>
                                  </p:stCondLst>
                                  <p:childTnLst>
                                    <p:set>
                                      <p:cBhvr>
                                        <p:cTn id="112" dur="1" fill="hold">
                                          <p:stCondLst>
                                            <p:cond delay="0"/>
                                          </p:stCondLst>
                                        </p:cTn>
                                        <p:tgtEl>
                                          <p:spTgt spid="130"/>
                                        </p:tgtEl>
                                        <p:attrNameLst>
                                          <p:attrName>style.visibility</p:attrName>
                                        </p:attrNameLst>
                                      </p:cBhvr>
                                      <p:to>
                                        <p:strVal val="visible"/>
                                      </p:to>
                                    </p:set>
                                    <p:animEffect transition="in" filter="fade">
                                      <p:cBhvr>
                                        <p:cTn id="113" dur="500"/>
                                        <p:tgtEl>
                                          <p:spTgt spid="130"/>
                                        </p:tgtEl>
                                      </p:cBhvr>
                                    </p:animEffect>
                                    <p:anim calcmode="lin" valueType="num">
                                      <p:cBhvr additive="base">
                                        <p:cTn id="114" dur="500" decel="100000" fill="hold"/>
                                        <p:tgtEl>
                                          <p:spTgt spid="130"/>
                                        </p:tgtEl>
                                        <p:attrNameLst>
                                          <p:attrName>ppt_x</p:attrName>
                                        </p:attrNameLst>
                                      </p:cBhvr>
                                      <p:tavLst>
                                        <p:tav tm="0">
                                          <p:val>
                                            <p:strVal val="#ppt_x-0.05"/>
                                          </p:val>
                                        </p:tav>
                                        <p:tav tm="100000">
                                          <p:val>
                                            <p:strVal val="#ppt_x"/>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31"/>
                                        </p:tgtEl>
                                        <p:attrNameLst>
                                          <p:attrName>style.visibility</p:attrName>
                                        </p:attrNameLst>
                                      </p:cBhvr>
                                      <p:to>
                                        <p:strVal val="visible"/>
                                      </p:to>
                                    </p:set>
                                    <p:animEffect transition="in" filter="fade">
                                      <p:cBhvr>
                                        <p:cTn id="117" dur="500"/>
                                        <p:tgtEl>
                                          <p:spTgt spid="131"/>
                                        </p:tgtEl>
                                      </p:cBhvr>
                                    </p:animEffect>
                                    <p:anim calcmode="lin" valueType="num">
                                      <p:cBhvr additive="base">
                                        <p:cTn id="118" dur="500" decel="100000" fill="hold"/>
                                        <p:tgtEl>
                                          <p:spTgt spid="131"/>
                                        </p:tgtEl>
                                        <p:attrNameLst>
                                          <p:attrName>ppt_x</p:attrName>
                                        </p:attrNameLst>
                                      </p:cBhvr>
                                      <p:tavLst>
                                        <p:tav tm="0">
                                          <p:val>
                                            <p:strVal val="#ppt_x-0.05"/>
                                          </p:val>
                                        </p:tav>
                                        <p:tav tm="100000">
                                          <p:val>
                                            <p:strVal val="#ppt_x"/>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32"/>
                                        </p:tgtEl>
                                        <p:attrNameLst>
                                          <p:attrName>style.visibility</p:attrName>
                                        </p:attrNameLst>
                                      </p:cBhvr>
                                      <p:to>
                                        <p:strVal val="visible"/>
                                      </p:to>
                                    </p:set>
                                    <p:animEffect transition="in" filter="fade">
                                      <p:cBhvr>
                                        <p:cTn id="121" dur="500"/>
                                        <p:tgtEl>
                                          <p:spTgt spid="132"/>
                                        </p:tgtEl>
                                      </p:cBhvr>
                                    </p:animEffect>
                                    <p:anim calcmode="lin" valueType="num">
                                      <p:cBhvr additive="base">
                                        <p:cTn id="122" dur="500" decel="100000" fill="hold"/>
                                        <p:tgtEl>
                                          <p:spTgt spid="132"/>
                                        </p:tgtEl>
                                        <p:attrNameLst>
                                          <p:attrName>ppt_x</p:attrName>
                                        </p:attrNameLst>
                                      </p:cBhvr>
                                      <p:tavLst>
                                        <p:tav tm="0">
                                          <p:val>
                                            <p:strVal val="#ppt_x-0.05"/>
                                          </p:val>
                                        </p:tav>
                                        <p:tav tm="100000">
                                          <p:val>
                                            <p:strVal val="#ppt_x"/>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33"/>
                                        </p:tgtEl>
                                        <p:attrNameLst>
                                          <p:attrName>style.visibility</p:attrName>
                                        </p:attrNameLst>
                                      </p:cBhvr>
                                      <p:to>
                                        <p:strVal val="visible"/>
                                      </p:to>
                                    </p:set>
                                    <p:animEffect transition="in" filter="fade">
                                      <p:cBhvr>
                                        <p:cTn id="125" dur="500"/>
                                        <p:tgtEl>
                                          <p:spTgt spid="133"/>
                                        </p:tgtEl>
                                      </p:cBhvr>
                                    </p:animEffect>
                                    <p:anim calcmode="lin" valueType="num">
                                      <p:cBhvr additive="base">
                                        <p:cTn id="126" dur="500" decel="100000" fill="hold"/>
                                        <p:tgtEl>
                                          <p:spTgt spid="133"/>
                                        </p:tgtEl>
                                        <p:attrNameLst>
                                          <p:attrName>ppt_x</p:attrName>
                                        </p:attrNameLst>
                                      </p:cBhvr>
                                      <p:tavLst>
                                        <p:tav tm="0">
                                          <p:val>
                                            <p:strVal val="#ppt_x-0.05"/>
                                          </p:val>
                                        </p:tav>
                                        <p:tav tm="100000">
                                          <p:val>
                                            <p:strVal val="#ppt_x"/>
                                          </p:val>
                                        </p:tav>
                                      </p:tavLst>
                                    </p:anim>
                                  </p:childTnLst>
                                </p:cTn>
                              </p:par>
                            </p:childTnLst>
                          </p:cTn>
                        </p:par>
                      </p:childTnLst>
                    </p:cTn>
                  </p:par>
                  <p:par>
                    <p:cTn id="127" fill="hold">
                      <p:stCondLst>
                        <p:cond delay="indefinite"/>
                      </p:stCondLst>
                      <p:childTnLst>
                        <p:par>
                          <p:cTn id="128" fill="hold">
                            <p:stCondLst>
                              <p:cond delay="0"/>
                            </p:stCondLst>
                            <p:childTnLst>
                              <p:par>
                                <p:cTn id="129" presetID="42" presetClass="entr" presetSubtype="0" fill="hold" grpId="0" nodeType="clickEffect">
                                  <p:stCondLst>
                                    <p:cond delay="0"/>
                                  </p:stCondLst>
                                  <p:childTnLst>
                                    <p:set>
                                      <p:cBhvr>
                                        <p:cTn id="130" dur="1" fill="hold">
                                          <p:stCondLst>
                                            <p:cond delay="0"/>
                                          </p:stCondLst>
                                        </p:cTn>
                                        <p:tgtEl>
                                          <p:spTgt spid="134"/>
                                        </p:tgtEl>
                                        <p:attrNameLst>
                                          <p:attrName>style.visibility</p:attrName>
                                        </p:attrNameLst>
                                      </p:cBhvr>
                                      <p:to>
                                        <p:strVal val="visible"/>
                                      </p:to>
                                    </p:set>
                                    <p:animEffect transition="in" filter="fade">
                                      <p:cBhvr>
                                        <p:cTn id="131" dur="500"/>
                                        <p:tgtEl>
                                          <p:spTgt spid="134"/>
                                        </p:tgtEl>
                                      </p:cBhvr>
                                    </p:animEffect>
                                    <p:anim calcmode="lin" valueType="num">
                                      <p:cBhvr additive="base">
                                        <p:cTn id="132" dur="500" decel="100000" fill="hold"/>
                                        <p:tgtEl>
                                          <p:spTgt spid="134"/>
                                        </p:tgtEl>
                                        <p:attrNameLst>
                                          <p:attrName>ppt_x</p:attrName>
                                        </p:attrNameLst>
                                      </p:cBhvr>
                                      <p:tavLst>
                                        <p:tav tm="0">
                                          <p:val>
                                            <p:strVal val="#ppt_x-0.05"/>
                                          </p:val>
                                        </p:tav>
                                        <p:tav tm="100000">
                                          <p:val>
                                            <p:strVal val="#ppt_x"/>
                                          </p:val>
                                        </p:tav>
                                      </p:tavLst>
                                    </p:anim>
                                  </p:childTnLst>
                                </p:cTn>
                              </p:par>
                              <p:par>
                                <p:cTn id="133" presetID="42" presetClass="entr" presetSubtype="0" fill="hold" grpId="0" nodeType="withEffect">
                                  <p:stCondLst>
                                    <p:cond delay="0"/>
                                  </p:stCondLst>
                                  <p:childTnLst>
                                    <p:set>
                                      <p:cBhvr>
                                        <p:cTn id="134" dur="1" fill="hold">
                                          <p:stCondLst>
                                            <p:cond delay="0"/>
                                          </p:stCondLst>
                                        </p:cTn>
                                        <p:tgtEl>
                                          <p:spTgt spid="135"/>
                                        </p:tgtEl>
                                        <p:attrNameLst>
                                          <p:attrName>style.visibility</p:attrName>
                                        </p:attrNameLst>
                                      </p:cBhvr>
                                      <p:to>
                                        <p:strVal val="visible"/>
                                      </p:to>
                                    </p:set>
                                    <p:animEffect transition="in" filter="fade">
                                      <p:cBhvr>
                                        <p:cTn id="135" dur="500"/>
                                        <p:tgtEl>
                                          <p:spTgt spid="135"/>
                                        </p:tgtEl>
                                      </p:cBhvr>
                                    </p:animEffect>
                                    <p:anim calcmode="lin" valueType="num">
                                      <p:cBhvr additive="base">
                                        <p:cTn id="136" dur="500" decel="100000" fill="hold"/>
                                        <p:tgtEl>
                                          <p:spTgt spid="135"/>
                                        </p:tgtEl>
                                        <p:attrNameLst>
                                          <p:attrName>ppt_x</p:attrName>
                                        </p:attrNameLst>
                                      </p:cBhvr>
                                      <p:tavLst>
                                        <p:tav tm="0">
                                          <p:val>
                                            <p:strVal val="#ppt_x-0.05"/>
                                          </p:val>
                                        </p:tav>
                                        <p:tav tm="100000">
                                          <p:val>
                                            <p:strVal val="#ppt_x"/>
                                          </p:val>
                                        </p:tav>
                                      </p:tavLst>
                                    </p:anim>
                                  </p:childTnLst>
                                </p:cTn>
                              </p:par>
                              <p:par>
                                <p:cTn id="137" presetID="42" presetClass="entr" presetSubtype="0" fill="hold" grpId="0" nodeType="withEffect">
                                  <p:stCondLst>
                                    <p:cond delay="0"/>
                                  </p:stCondLst>
                                  <p:childTnLst>
                                    <p:set>
                                      <p:cBhvr>
                                        <p:cTn id="138" dur="1" fill="hold">
                                          <p:stCondLst>
                                            <p:cond delay="0"/>
                                          </p:stCondLst>
                                        </p:cTn>
                                        <p:tgtEl>
                                          <p:spTgt spid="136"/>
                                        </p:tgtEl>
                                        <p:attrNameLst>
                                          <p:attrName>style.visibility</p:attrName>
                                        </p:attrNameLst>
                                      </p:cBhvr>
                                      <p:to>
                                        <p:strVal val="visible"/>
                                      </p:to>
                                    </p:set>
                                    <p:animEffect transition="in" filter="fade">
                                      <p:cBhvr>
                                        <p:cTn id="139" dur="500"/>
                                        <p:tgtEl>
                                          <p:spTgt spid="136"/>
                                        </p:tgtEl>
                                      </p:cBhvr>
                                    </p:animEffect>
                                    <p:anim calcmode="lin" valueType="num">
                                      <p:cBhvr additive="base">
                                        <p:cTn id="140" dur="500" decel="100000" fill="hold"/>
                                        <p:tgtEl>
                                          <p:spTgt spid="136"/>
                                        </p:tgtEl>
                                        <p:attrNameLst>
                                          <p:attrName>ppt_x</p:attrName>
                                        </p:attrNameLst>
                                      </p:cBhvr>
                                      <p:tavLst>
                                        <p:tav tm="0">
                                          <p:val>
                                            <p:strVal val="#ppt_x-0.05"/>
                                          </p:val>
                                        </p:tav>
                                        <p:tav tm="100000">
                                          <p:val>
                                            <p:strVal val="#ppt_x"/>
                                          </p:val>
                                        </p:tav>
                                      </p:tavLst>
                                    </p:anim>
                                  </p:childTnLst>
                                </p:cTn>
                              </p:par>
                              <p:par>
                                <p:cTn id="141" presetID="42" presetClass="entr" presetSubtype="0" fill="hold" grpId="0" nodeType="withEffect">
                                  <p:stCondLst>
                                    <p:cond delay="0"/>
                                  </p:stCondLst>
                                  <p:childTnLst>
                                    <p:set>
                                      <p:cBhvr>
                                        <p:cTn id="142" dur="1" fill="hold">
                                          <p:stCondLst>
                                            <p:cond delay="0"/>
                                          </p:stCondLst>
                                        </p:cTn>
                                        <p:tgtEl>
                                          <p:spTgt spid="137"/>
                                        </p:tgtEl>
                                        <p:attrNameLst>
                                          <p:attrName>style.visibility</p:attrName>
                                        </p:attrNameLst>
                                      </p:cBhvr>
                                      <p:to>
                                        <p:strVal val="visible"/>
                                      </p:to>
                                    </p:set>
                                    <p:animEffect transition="in" filter="fade">
                                      <p:cBhvr>
                                        <p:cTn id="143" dur="500"/>
                                        <p:tgtEl>
                                          <p:spTgt spid="137"/>
                                        </p:tgtEl>
                                      </p:cBhvr>
                                    </p:animEffect>
                                    <p:anim calcmode="lin" valueType="num">
                                      <p:cBhvr additive="base">
                                        <p:cTn id="144" dur="500" decel="100000" fill="hold"/>
                                        <p:tgtEl>
                                          <p:spTgt spid="137"/>
                                        </p:tgtEl>
                                        <p:attrNameLst>
                                          <p:attrName>ppt_x</p:attrName>
                                        </p:attrNameLst>
                                      </p:cBhvr>
                                      <p:tavLst>
                                        <p:tav tm="0">
                                          <p:val>
                                            <p:strVal val="#ppt_x-0.05"/>
                                          </p:val>
                                        </p:tav>
                                        <p:tav tm="100000">
                                          <p:val>
                                            <p:strVal val="#ppt_x"/>
                                          </p:val>
                                        </p:tav>
                                      </p:tavLst>
                                    </p:anim>
                                  </p:childTnLst>
                                </p:cTn>
                              </p:par>
                            </p:childTnLst>
                          </p:cTn>
                        </p:par>
                      </p:childTnLst>
                    </p:cTn>
                  </p:par>
                  <p:par>
                    <p:cTn id="145" fill="hold">
                      <p:stCondLst>
                        <p:cond delay="indefinite"/>
                      </p:stCondLst>
                      <p:childTnLst>
                        <p:par>
                          <p:cTn id="146" fill="hold">
                            <p:stCondLst>
                              <p:cond delay="0"/>
                            </p:stCondLst>
                            <p:childTnLst>
                              <p:par>
                                <p:cTn id="147" presetID="42" presetClass="entr" presetSubtype="0" fill="hold" grpId="0" nodeType="clickEffect">
                                  <p:stCondLst>
                                    <p:cond delay="0"/>
                                  </p:stCondLst>
                                  <p:childTnLst>
                                    <p:set>
                                      <p:cBhvr>
                                        <p:cTn id="148" dur="1" fill="hold">
                                          <p:stCondLst>
                                            <p:cond delay="0"/>
                                          </p:stCondLst>
                                        </p:cTn>
                                        <p:tgtEl>
                                          <p:spTgt spid="138"/>
                                        </p:tgtEl>
                                        <p:attrNameLst>
                                          <p:attrName>style.visibility</p:attrName>
                                        </p:attrNameLst>
                                      </p:cBhvr>
                                      <p:to>
                                        <p:strVal val="visible"/>
                                      </p:to>
                                    </p:set>
                                    <p:animEffect transition="in" filter="fade">
                                      <p:cBhvr>
                                        <p:cTn id="149" dur="500"/>
                                        <p:tgtEl>
                                          <p:spTgt spid="138"/>
                                        </p:tgtEl>
                                      </p:cBhvr>
                                    </p:animEffect>
                                    <p:anim calcmode="lin" valueType="num">
                                      <p:cBhvr additive="base">
                                        <p:cTn id="150" dur="500" decel="100000" fill="hold"/>
                                        <p:tgtEl>
                                          <p:spTgt spid="138"/>
                                        </p:tgtEl>
                                        <p:attrNameLst>
                                          <p:attrName>ppt_x</p:attrName>
                                        </p:attrNameLst>
                                      </p:cBhvr>
                                      <p:tavLst>
                                        <p:tav tm="0">
                                          <p:val>
                                            <p:strVal val="#ppt_x-0.05"/>
                                          </p:val>
                                        </p:tav>
                                        <p:tav tm="100000">
                                          <p:val>
                                            <p:strVal val="#ppt_x"/>
                                          </p:val>
                                        </p:tav>
                                      </p:tavLst>
                                    </p:anim>
                                  </p:childTnLst>
                                </p:cTn>
                              </p:par>
                              <p:par>
                                <p:cTn id="151" presetID="42" presetClass="entr" presetSubtype="0" fill="hold" grpId="0" nodeType="withEffect">
                                  <p:stCondLst>
                                    <p:cond delay="0"/>
                                  </p:stCondLst>
                                  <p:childTnLst>
                                    <p:set>
                                      <p:cBhvr>
                                        <p:cTn id="152" dur="1" fill="hold">
                                          <p:stCondLst>
                                            <p:cond delay="0"/>
                                          </p:stCondLst>
                                        </p:cTn>
                                        <p:tgtEl>
                                          <p:spTgt spid="139"/>
                                        </p:tgtEl>
                                        <p:attrNameLst>
                                          <p:attrName>style.visibility</p:attrName>
                                        </p:attrNameLst>
                                      </p:cBhvr>
                                      <p:to>
                                        <p:strVal val="visible"/>
                                      </p:to>
                                    </p:set>
                                    <p:animEffect transition="in" filter="fade">
                                      <p:cBhvr>
                                        <p:cTn id="153" dur="500"/>
                                        <p:tgtEl>
                                          <p:spTgt spid="139"/>
                                        </p:tgtEl>
                                      </p:cBhvr>
                                    </p:animEffect>
                                    <p:anim calcmode="lin" valueType="num">
                                      <p:cBhvr additive="base">
                                        <p:cTn id="154" dur="500" decel="100000" fill="hold"/>
                                        <p:tgtEl>
                                          <p:spTgt spid="139"/>
                                        </p:tgtEl>
                                        <p:attrNameLst>
                                          <p:attrName>ppt_x</p:attrName>
                                        </p:attrNameLst>
                                      </p:cBhvr>
                                      <p:tavLst>
                                        <p:tav tm="0">
                                          <p:val>
                                            <p:strVal val="#ppt_x-0.05"/>
                                          </p:val>
                                        </p:tav>
                                        <p:tav tm="100000">
                                          <p:val>
                                            <p:strVal val="#ppt_x"/>
                                          </p:val>
                                        </p:tav>
                                      </p:tavLst>
                                    </p:anim>
                                  </p:childTnLst>
                                </p:cTn>
                              </p:par>
                              <p:par>
                                <p:cTn id="155" presetID="42" presetClass="entr" presetSubtype="0" fill="hold" grpId="0" nodeType="withEffect">
                                  <p:stCondLst>
                                    <p:cond delay="0"/>
                                  </p:stCondLst>
                                  <p:childTnLst>
                                    <p:set>
                                      <p:cBhvr>
                                        <p:cTn id="156" dur="1" fill="hold">
                                          <p:stCondLst>
                                            <p:cond delay="0"/>
                                          </p:stCondLst>
                                        </p:cTn>
                                        <p:tgtEl>
                                          <p:spTgt spid="140"/>
                                        </p:tgtEl>
                                        <p:attrNameLst>
                                          <p:attrName>style.visibility</p:attrName>
                                        </p:attrNameLst>
                                      </p:cBhvr>
                                      <p:to>
                                        <p:strVal val="visible"/>
                                      </p:to>
                                    </p:set>
                                    <p:animEffect transition="in" filter="fade">
                                      <p:cBhvr>
                                        <p:cTn id="157" dur="500"/>
                                        <p:tgtEl>
                                          <p:spTgt spid="140"/>
                                        </p:tgtEl>
                                      </p:cBhvr>
                                    </p:animEffect>
                                    <p:anim calcmode="lin" valueType="num">
                                      <p:cBhvr additive="base">
                                        <p:cTn id="158" dur="500" decel="100000" fill="hold"/>
                                        <p:tgtEl>
                                          <p:spTgt spid="140"/>
                                        </p:tgtEl>
                                        <p:attrNameLst>
                                          <p:attrName>ppt_x</p:attrName>
                                        </p:attrNameLst>
                                      </p:cBhvr>
                                      <p:tavLst>
                                        <p:tav tm="0">
                                          <p:val>
                                            <p:strVal val="#ppt_x-0.05"/>
                                          </p:val>
                                        </p:tav>
                                        <p:tav tm="100000">
                                          <p:val>
                                            <p:strVal val="#ppt_x"/>
                                          </p:val>
                                        </p:tav>
                                      </p:tavLst>
                                    </p:anim>
                                  </p:childTnLst>
                                </p:cTn>
                              </p:par>
                              <p:par>
                                <p:cTn id="159" presetID="42" presetClass="entr" presetSubtype="0" fill="hold" grpId="0" nodeType="withEffect">
                                  <p:stCondLst>
                                    <p:cond delay="0"/>
                                  </p:stCondLst>
                                  <p:childTnLst>
                                    <p:set>
                                      <p:cBhvr>
                                        <p:cTn id="160" dur="1" fill="hold">
                                          <p:stCondLst>
                                            <p:cond delay="0"/>
                                          </p:stCondLst>
                                        </p:cTn>
                                        <p:tgtEl>
                                          <p:spTgt spid="141"/>
                                        </p:tgtEl>
                                        <p:attrNameLst>
                                          <p:attrName>style.visibility</p:attrName>
                                        </p:attrNameLst>
                                      </p:cBhvr>
                                      <p:to>
                                        <p:strVal val="visible"/>
                                      </p:to>
                                    </p:set>
                                    <p:animEffect transition="in" filter="fade">
                                      <p:cBhvr>
                                        <p:cTn id="161" dur="500"/>
                                        <p:tgtEl>
                                          <p:spTgt spid="141"/>
                                        </p:tgtEl>
                                      </p:cBhvr>
                                    </p:animEffect>
                                    <p:anim calcmode="lin" valueType="num">
                                      <p:cBhvr additive="base">
                                        <p:cTn id="162" dur="500" decel="100000" fill="hold"/>
                                        <p:tgtEl>
                                          <p:spTgt spid="141"/>
                                        </p:tgtEl>
                                        <p:attrNameLst>
                                          <p:attrName>ppt_x</p:attrName>
                                        </p:attrNameLst>
                                      </p:cBhvr>
                                      <p:tavLst>
                                        <p:tav tm="0">
                                          <p:val>
                                            <p:strVal val="#ppt_x-0.05"/>
                                          </p:val>
                                        </p:tav>
                                        <p:tav tm="100000">
                                          <p:val>
                                            <p:strVal val="#ppt_x"/>
                                          </p:val>
                                        </p:tav>
                                      </p:tavLst>
                                    </p:anim>
                                  </p:childTnLst>
                                </p:cTn>
                              </p:par>
                            </p:childTnLst>
                          </p:cTn>
                        </p:par>
                      </p:childTnLst>
                    </p:cTn>
                  </p:par>
                  <p:par>
                    <p:cTn id="163" fill="hold">
                      <p:stCondLst>
                        <p:cond delay="indefinite"/>
                      </p:stCondLst>
                      <p:childTnLst>
                        <p:par>
                          <p:cTn id="164" fill="hold">
                            <p:stCondLst>
                              <p:cond delay="0"/>
                            </p:stCondLst>
                            <p:childTnLst>
                              <p:par>
                                <p:cTn id="165" presetID="42" presetClass="entr" presetSubtype="0" fill="hold" grpId="0" nodeType="clickEffect">
                                  <p:stCondLst>
                                    <p:cond delay="0"/>
                                  </p:stCondLst>
                                  <p:childTnLst>
                                    <p:set>
                                      <p:cBhvr>
                                        <p:cTn id="166" dur="1" fill="hold">
                                          <p:stCondLst>
                                            <p:cond delay="0"/>
                                          </p:stCondLst>
                                        </p:cTn>
                                        <p:tgtEl>
                                          <p:spTgt spid="142"/>
                                        </p:tgtEl>
                                        <p:attrNameLst>
                                          <p:attrName>style.visibility</p:attrName>
                                        </p:attrNameLst>
                                      </p:cBhvr>
                                      <p:to>
                                        <p:strVal val="visible"/>
                                      </p:to>
                                    </p:set>
                                    <p:animEffect transition="in" filter="fade">
                                      <p:cBhvr>
                                        <p:cTn id="167" dur="500"/>
                                        <p:tgtEl>
                                          <p:spTgt spid="142"/>
                                        </p:tgtEl>
                                      </p:cBhvr>
                                    </p:animEffect>
                                    <p:anim calcmode="lin" valueType="num">
                                      <p:cBhvr additive="base">
                                        <p:cTn id="168" dur="500" decel="100000" fill="hold"/>
                                        <p:tgtEl>
                                          <p:spTgt spid="142"/>
                                        </p:tgtEl>
                                        <p:attrNameLst>
                                          <p:attrName>ppt_y</p:attrName>
                                        </p:attrNameLst>
                                      </p:cBhvr>
                                      <p:tavLst>
                                        <p:tav tm="0">
                                          <p:val>
                                            <p:strVal val="#ppt_y+0.06"/>
                                          </p:val>
                                        </p:tav>
                                        <p:tav tm="100000">
                                          <p:val>
                                            <p:strVal val="#ppt_y"/>
                                          </p:val>
                                        </p:tav>
                                      </p:tavLst>
                                    </p:anim>
                                  </p:childTnLst>
                                </p:cTn>
                              </p:par>
                              <p:par>
                                <p:cTn id="169" presetID="42" presetClass="entr" presetSubtype="0" fill="hold" grpId="0" nodeType="withEffect">
                                  <p:stCondLst>
                                    <p:cond delay="150"/>
                                  </p:stCondLst>
                                  <p:childTnLst>
                                    <p:set>
                                      <p:cBhvr>
                                        <p:cTn id="170" dur="1" fill="hold">
                                          <p:stCondLst>
                                            <p:cond delay="0"/>
                                          </p:stCondLst>
                                        </p:cTn>
                                        <p:tgtEl>
                                          <p:spTgt spid="143"/>
                                        </p:tgtEl>
                                        <p:attrNameLst>
                                          <p:attrName>style.visibility</p:attrName>
                                        </p:attrNameLst>
                                      </p:cBhvr>
                                      <p:to>
                                        <p:strVal val="visible"/>
                                      </p:to>
                                    </p:set>
                                    <p:animEffect transition="in" filter="fade">
                                      <p:cBhvr>
                                        <p:cTn id="171" dur="500"/>
                                        <p:tgtEl>
                                          <p:spTgt spid="143"/>
                                        </p:tgtEl>
                                      </p:cBhvr>
                                    </p:animEffect>
                                    <p:anim calcmode="lin" valueType="num">
                                      <p:cBhvr additive="base">
                                        <p:cTn id="172" dur="500" decel="100000" fill="hold"/>
                                        <p:tgtEl>
                                          <p:spTgt spid="143"/>
                                        </p:tgtEl>
                                        <p:attrNameLst>
                                          <p:attrName>ppt_y</p:attrName>
                                        </p:attrNameLst>
                                      </p:cBhvr>
                                      <p:tavLst>
                                        <p:tav tm="0">
                                          <p:val>
                                            <p:strVal val="#ppt_y+0.06"/>
                                          </p:val>
                                        </p:tav>
                                        <p:tav tm="100000">
                                          <p:val>
                                            <p:strVal val="#ppt_y"/>
                                          </p:val>
                                        </p:tav>
                                      </p:tavLst>
                                    </p:anim>
                                  </p:childTnLst>
                                </p:cTn>
                              </p:par>
                            </p:childTnLst>
                          </p:cTn>
                        </p:par>
                      </p:childTnLst>
                    </p:cTn>
                  </p:par>
                  <p:par>
                    <p:cTn id="173" fill="hold">
                      <p:stCondLst>
                        <p:cond delay="indefinite"/>
                      </p:stCondLst>
                      <p:childTnLst>
                        <p:par>
                          <p:cTn id="174" fill="hold">
                            <p:stCondLst>
                              <p:cond delay="0"/>
                            </p:stCondLst>
                            <p:childTnLst>
                              <p:par>
                                <p:cTn id="175" presetID="53" presetClass="entr" presetSubtype="16" fill="hold" grpId="0" nodeType="clickEffect">
                                  <p:stCondLst>
                                    <p:cond delay="0"/>
                                  </p:stCondLst>
                                  <p:childTnLst>
                                    <p:set>
                                      <p:cBhvr>
                                        <p:cTn id="176" dur="1" fill="hold">
                                          <p:stCondLst>
                                            <p:cond delay="0"/>
                                          </p:stCondLst>
                                        </p:cTn>
                                        <p:tgtEl>
                                          <p:spTgt spid="144"/>
                                        </p:tgtEl>
                                        <p:attrNameLst>
                                          <p:attrName>style.visibility</p:attrName>
                                        </p:attrNameLst>
                                      </p:cBhvr>
                                      <p:to>
                                        <p:strVal val="visible"/>
                                      </p:to>
                                    </p:set>
                                    <p:anim calcmode="lin" valueType="num">
                                      <p:cBhvr additive="base">
                                        <p:cTn id="177" dur="500" decel="100000" fill="hold"/>
                                        <p:tgtEl>
                                          <p:spTgt spid="144"/>
                                        </p:tgtEl>
                                        <p:attrNameLst>
                                          <p:attrName>ppt_w</p:attrName>
                                        </p:attrNameLst>
                                      </p:cBhvr>
                                      <p:tavLst>
                                        <p:tav tm="0">
                                          <p:val>
                                            <p:strVal val="#ppt_w*0.3"/>
                                          </p:val>
                                        </p:tav>
                                        <p:tav tm="100000">
                                          <p:val>
                                            <p:strVal val="#ppt_w*1.08"/>
                                          </p:val>
                                        </p:tav>
                                      </p:tavLst>
                                    </p:anim>
                                    <p:anim calcmode="lin" valueType="num">
                                      <p:cBhvr additive="base">
                                        <p:cTn id="178" dur="500" decel="100000" fill="hold"/>
                                        <p:tgtEl>
                                          <p:spTgt spid="144"/>
                                        </p:tgtEl>
                                        <p:attrNameLst>
                                          <p:attrName>ppt_h</p:attrName>
                                        </p:attrNameLst>
                                      </p:cBhvr>
                                      <p:tavLst>
                                        <p:tav tm="0">
                                          <p:val>
                                            <p:strVal val="#ppt_h*0.3"/>
                                          </p:val>
                                        </p:tav>
                                        <p:tav tm="100000">
                                          <p:val>
                                            <p:strVal val="#ppt_h*1.08"/>
                                          </p:val>
                                        </p:tav>
                                      </p:tavLst>
                                    </p:anim>
                                    <p:animEffect transition="in" filter="fade">
                                      <p:cBhvr>
                                        <p:cTn id="179" dur="250"/>
                                        <p:tgtEl>
                                          <p:spTgt spid="144"/>
                                        </p:tgtEl>
                                      </p:cBhvr>
                                    </p:animEffect>
                                    <p:anim calcmode="lin" valueType="num">
                                      <p:cBhvr additive="base">
                                        <p:cTn id="180" dur="160" fill="hold">
                                          <p:stCondLst>
                                            <p:cond delay="500"/>
                                          </p:stCondLst>
                                        </p:cTn>
                                        <p:tgtEl>
                                          <p:spTgt spid="144"/>
                                        </p:tgtEl>
                                        <p:attrNameLst>
                                          <p:attrName>ppt_w</p:attrName>
                                        </p:attrNameLst>
                                      </p:cBhvr>
                                      <p:tavLst>
                                        <p:tav tm="0">
                                          <p:val>
                                            <p:strVal val="#ppt_w*1.08"/>
                                          </p:val>
                                        </p:tav>
                                        <p:tav tm="100000">
                                          <p:val>
                                            <p:strVal val="#ppt_w"/>
                                          </p:val>
                                        </p:tav>
                                      </p:tavLst>
                                    </p:anim>
                                    <p:anim calcmode="lin" valueType="num">
                                      <p:cBhvr additive="base">
                                        <p:cTn id="181" dur="160" fill="hold">
                                          <p:stCondLst>
                                            <p:cond delay="500"/>
                                          </p:stCondLst>
                                        </p:cTn>
                                        <p:tgtEl>
                                          <p:spTgt spid="144"/>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8" grpId="0" animBg="1"/>
      <p:bldP spid="119" grpId="0" animBg="1"/>
      <p:bldP spid="120" grpId="0" animBg="1"/>
      <p:bldP spid="121" grpId="0" animBg="1"/>
      <p:bldP spid="122"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068019" cy="285750"/>
          </a:xfrm>
          <a:prstGeom prst="roundRect">
            <a:avLst>
              <a:gd name="adj" fmla="val 23333"/>
            </a:avLst>
          </a:prstGeom>
          <a:solidFill>
            <a:srgbClr val="F472B6">
              <a:alpha val="18000"/>
            </a:srgbClr>
          </a:solidFill>
          <a:ln w="12700">
            <a:solidFill>
              <a:srgbClr val="F472B6"/>
            </a:solidFill>
          </a:ln>
        </p:spPr>
        <p:txBody>
          <a:bodyPr wrap="square" lIns="0" tIns="0" rIns="0" bIns="0" rtlCol="0" anchor="ctr">
            <a:noAutofit/>
          </a:bodyPr>
          <a:lstStyle/>
          <a:p>
            <a:pPr marL="0" indent="0" algn="ctr">
              <a:spcBef>
                <a:spcPts val="0"/>
              </a:spcBef>
              <a:spcAft>
                <a:spcPts val="0"/>
              </a:spcAft>
              <a:buNone/>
            </a:pPr>
            <a:r>
              <a:rPr lang="en-US" sz="1000" b="1" dirty="0">
                <a:solidFill>
                  <a:srgbClr val="F472B6"/>
                </a:solidFill>
                <a:latin typeface="Segoe UI"/>
                <a:ea typeface="Segoe UI"/>
                <a:cs typeface="Segoe UI"/>
              </a:rPr>
              <a:t>MOCK FIGHTS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Two Lessons From Real Projects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One is a design rule. One is a real incident in the .NET world.</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171</a:t>
            </a:r>
            <a:endParaRPr lang="en-US" sz="850" dirty="0"/>
          </a:p>
        </p:txBody>
      </p:sp>
      <p:sp>
        <p:nvSpPr>
          <p:cNvPr id="101" name="s101"/>
          <p:cNvSpPr/>
          <p:nvPr/>
        </p:nvSpPr>
        <p:spPr>
          <a:xfrm>
            <a:off x="543154" y="1810512"/>
            <a:ext cx="5406847" cy="4443984"/>
          </a:xfrm>
          <a:prstGeom prst="roundRect">
            <a:avLst>
              <a:gd name="adj" fmla="val 6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02" name="s102"/>
          <p:cNvSpPr txBox="1"/>
          <p:nvPr/>
        </p:nvSpPr>
        <p:spPr>
          <a:xfrm>
            <a:off x="771754" y="1947672"/>
            <a:ext cx="4949647" cy="5943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34D399"/>
                </a:solidFill>
                <a:latin typeface="Segoe UI"/>
                <a:ea typeface="Segoe UI"/>
                <a:cs typeface="Segoe UI"/>
              </a:rPr>
              <a:t>"DON'T MOCK WHAT YOU DON'T OWN"</a:t>
            </a:r>
            <a:endParaRPr lang="en-US" sz="1500" dirty="0"/>
          </a:p>
          <a:p>
            <a:pPr marL="0" indent="0" algn="l">
              <a:spcBef>
                <a:spcPts val="0"/>
              </a:spcBef>
              <a:spcAft>
                <a:spcPts val="0"/>
              </a:spcAft>
              <a:buNone/>
            </a:pPr>
            <a:r>
              <a:rPr lang="en-US" sz="1100" b="0" i="1" dirty="0">
                <a:solidFill>
                  <a:srgbClr val="94A3B8"/>
                </a:solidFill>
                <a:latin typeface="Segoe UI"/>
                <a:ea typeface="Segoe UI"/>
                <a:cs typeface="Segoe UI"/>
              </a:rPr>
              <a:t>Freeman &amp; Pryce, the GOOS book</a:t>
            </a:r>
            <a:endParaRPr lang="en-US" sz="1100" dirty="0"/>
          </a:p>
        </p:txBody>
      </p:sp>
      <p:sp>
        <p:nvSpPr>
          <p:cNvPr id="103" name="s103"/>
          <p:cNvSpPr txBox="1"/>
          <p:nvPr/>
        </p:nvSpPr>
        <p:spPr>
          <a:xfrm>
            <a:off x="771754" y="2523744"/>
            <a:ext cx="4949647" cy="566928"/>
          </a:xfrm>
          <a:prstGeom prst="rect">
            <a:avLst/>
          </a:prstGeom>
          <a:noFill/>
          <a:ln>
            <a:noFill/>
          </a:ln>
        </p:spPr>
        <p:txBody>
          <a:bodyPr wrap="square" lIns="0" tIns="0" rIns="0" bIns="0" rtlCol="0" anchor="t">
            <a:noAutofit/>
          </a:bodyPr>
          <a:lstStyle/>
          <a:p>
            <a:pPr marL="0" indent="0" algn="l">
              <a:spcBef>
                <a:spcPts val="0"/>
              </a:spcBef>
              <a:spcAft>
                <a:spcPts val="300"/>
              </a:spcAft>
              <a:buNone/>
            </a:pPr>
            <a:r>
              <a:rPr lang="en-US" sz="1200" b="0" dirty="0">
                <a:solidFill>
                  <a:srgbClr val="34D399"/>
                </a:solidFill>
                <a:latin typeface="Segoe UI"/>
                <a:ea typeface="Segoe UI"/>
                <a:cs typeface="Segoe UI"/>
              </a:rPr>
              <a:t>•  </a:t>
            </a:r>
            <a:r>
              <a:rPr lang="en-US" sz="1200" b="0" dirty="0">
                <a:solidFill>
                  <a:srgbClr val="E2E8F0"/>
                </a:solidFill>
                <a:latin typeface="Segoe UI"/>
                <a:ea typeface="Segoe UI"/>
                <a:cs typeface="Segoe UI"/>
              </a:rPr>
              <a:t>HttpClient, DbContext: complex, they change without you</a:t>
            </a:r>
            <a:endParaRPr lang="en-US" sz="1200" dirty="0"/>
          </a:p>
          <a:p>
            <a:pPr marL="0" indent="0" algn="l">
              <a:spcBef>
                <a:spcPts val="0"/>
              </a:spcBef>
              <a:spcAft>
                <a:spcPts val="0"/>
              </a:spcAft>
              <a:buNone/>
            </a:pPr>
            <a:r>
              <a:rPr lang="en-US" sz="1200" b="0" dirty="0">
                <a:solidFill>
                  <a:srgbClr val="34D399"/>
                </a:solidFill>
                <a:latin typeface="Segoe UI"/>
                <a:ea typeface="Segoe UI"/>
                <a:cs typeface="Segoe UI"/>
              </a:rPr>
              <a:t>•  </a:t>
            </a:r>
            <a:r>
              <a:rPr lang="en-US" sz="1200" b="0" dirty="0">
                <a:solidFill>
                  <a:srgbClr val="E2E8F0"/>
                </a:solidFill>
                <a:latin typeface="Segoe UI"/>
                <a:ea typeface="Segoe UI"/>
                <a:cs typeface="Segoe UI"/>
              </a:rPr>
              <a:t>mocking them only copies your GUESS of how they work</a:t>
            </a:r>
            <a:endParaRPr lang="en-US" sz="1200" dirty="0"/>
          </a:p>
        </p:txBody>
      </p:sp>
      <p:sp>
        <p:nvSpPr>
          <p:cNvPr id="104" name="s104"/>
          <p:cNvSpPr/>
          <p:nvPr/>
        </p:nvSpPr>
        <p:spPr>
          <a:xfrm>
            <a:off x="726034" y="3163824"/>
            <a:ext cx="5041087" cy="86868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5" name="s105"/>
          <p:cNvSpPr/>
          <p:nvPr/>
        </p:nvSpPr>
        <p:spPr>
          <a:xfrm>
            <a:off x="890626" y="3310128"/>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6" name="s106"/>
          <p:cNvSpPr/>
          <p:nvPr/>
        </p:nvSpPr>
        <p:spPr>
          <a:xfrm>
            <a:off x="1073506" y="3310128"/>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7" name="s107"/>
          <p:cNvSpPr/>
          <p:nvPr/>
        </p:nvSpPr>
        <p:spPr>
          <a:xfrm>
            <a:off x="1256386" y="3310128"/>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8" name="s108"/>
          <p:cNvSpPr/>
          <p:nvPr/>
        </p:nvSpPr>
        <p:spPr>
          <a:xfrm>
            <a:off x="1503274" y="3236976"/>
            <a:ext cx="303032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 DON'T  ·  mock a type you do not own</a:t>
            </a:r>
            <a:endParaRPr lang="en-US" sz="950" dirty="0"/>
          </a:p>
        </p:txBody>
      </p:sp>
      <p:cxnSp>
        <p:nvCxnSpPr>
          <p:cNvPr id="109" name="ln109"/>
          <p:cNvCxnSpPr/>
          <p:nvPr/>
        </p:nvCxnSpPr>
        <p:spPr>
          <a:xfrm>
            <a:off x="726034" y="3575304"/>
            <a:ext cx="5041087" cy="0"/>
          </a:xfrm>
          <a:prstGeom prst="line">
            <a:avLst/>
          </a:prstGeom>
          <a:ln w="9525">
            <a:solidFill>
              <a:srgbClr val="1E3A5F"/>
            </a:solidFill>
          </a:ln>
        </p:spPr>
      </p:cxnSp>
      <p:sp>
        <p:nvSpPr>
          <p:cNvPr id="110" name="s110"/>
          <p:cNvSpPr/>
          <p:nvPr/>
        </p:nvSpPr>
        <p:spPr>
          <a:xfrm>
            <a:off x="726034" y="3694176"/>
            <a:ext cx="504108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var</a:t>
            </a:r>
            <a:r>
              <a:rPr lang="en-US" sz="1150" b="0" dirty="0">
                <a:solidFill>
                  <a:srgbClr val="E2E8F0"/>
                </a:solidFill>
                <a:latin typeface="Consolas"/>
                <a:ea typeface="Consolas"/>
                <a:cs typeface="Consolas"/>
              </a:rPr>
              <a:t> db = </a:t>
            </a:r>
            <a:r>
              <a:rPr lang="en-US" sz="1150" b="0" dirty="0">
                <a:solidFill>
                  <a:srgbClr val="7DD3FC"/>
                </a:solidFill>
                <a:latin typeface="Consolas"/>
                <a:ea typeface="Consolas"/>
                <a:cs typeface="Consolas"/>
              </a:rPr>
              <a:t>Substitute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For</a:t>
            </a:r>
            <a:r>
              <a:rPr lang="en-US" sz="1150" b="0" dirty="0">
                <a:solidFill>
                  <a:srgbClr val="E2E8F0"/>
                </a:solidFill>
                <a:latin typeface="Consolas"/>
                <a:ea typeface="Consolas"/>
                <a:cs typeface="Consolas"/>
              </a:rPr>
              <a:t>&lt;</a:t>
            </a:r>
            <a:r>
              <a:rPr lang="en-US" sz="1150" b="0" dirty="0">
                <a:solidFill>
                  <a:srgbClr val="7DD3FC"/>
                </a:solidFill>
                <a:latin typeface="Consolas"/>
                <a:ea typeface="Consolas"/>
                <a:cs typeface="Consolas"/>
              </a:rPr>
              <a:t>AppDbContext</a:t>
            </a:r>
            <a:r>
              <a:rPr lang="en-US" sz="1150" b="0" dirty="0">
                <a:solidFill>
                  <a:srgbClr val="E2E8F0"/>
                </a:solidFill>
                <a:latin typeface="Consolas"/>
                <a:ea typeface="Consolas"/>
                <a:cs typeface="Consolas"/>
              </a:rPr>
              <a:t>&gt;();</a:t>
            </a:r>
            <a:endParaRPr lang="en-US" sz="1150" dirty="0"/>
          </a:p>
        </p:txBody>
      </p:sp>
      <p:sp>
        <p:nvSpPr>
          <p:cNvPr id="111" name="s111"/>
          <p:cNvSpPr/>
          <p:nvPr/>
        </p:nvSpPr>
        <p:spPr>
          <a:xfrm>
            <a:off x="726034" y="4096512"/>
            <a:ext cx="5041087" cy="1536192"/>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2" name="s112"/>
          <p:cNvSpPr/>
          <p:nvPr/>
        </p:nvSpPr>
        <p:spPr>
          <a:xfrm>
            <a:off x="890626" y="424281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3" name="s113"/>
          <p:cNvSpPr/>
          <p:nvPr/>
        </p:nvSpPr>
        <p:spPr>
          <a:xfrm>
            <a:off x="1073506" y="424281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14" name="s114"/>
          <p:cNvSpPr/>
          <p:nvPr/>
        </p:nvSpPr>
        <p:spPr>
          <a:xfrm>
            <a:off x="1256386" y="424281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15" name="s115"/>
          <p:cNvSpPr/>
          <p:nvPr/>
        </p:nvSpPr>
        <p:spPr>
          <a:xfrm>
            <a:off x="1503274" y="4169664"/>
            <a:ext cx="2673706"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 DO  ·  YOUR interface around it</a:t>
            </a:r>
            <a:endParaRPr lang="en-US" sz="950" dirty="0"/>
          </a:p>
        </p:txBody>
      </p:sp>
      <p:cxnSp>
        <p:nvCxnSpPr>
          <p:cNvPr id="116" name="ln116"/>
          <p:cNvCxnSpPr/>
          <p:nvPr/>
        </p:nvCxnSpPr>
        <p:spPr>
          <a:xfrm>
            <a:off x="726034" y="4507992"/>
            <a:ext cx="5041087" cy="0"/>
          </a:xfrm>
          <a:prstGeom prst="line">
            <a:avLst/>
          </a:prstGeom>
          <a:ln w="9525">
            <a:solidFill>
              <a:srgbClr val="1E3A5F"/>
            </a:solidFill>
          </a:ln>
        </p:spPr>
      </p:cxnSp>
      <p:sp>
        <p:nvSpPr>
          <p:cNvPr id="117" name="s117"/>
          <p:cNvSpPr/>
          <p:nvPr/>
        </p:nvSpPr>
        <p:spPr>
          <a:xfrm>
            <a:off x="726034" y="4626864"/>
            <a:ext cx="504108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public</a:t>
            </a:r>
            <a:r>
              <a:rPr lang="en-US" sz="1150" b="0" dirty="0">
                <a:solidFill>
                  <a:srgbClr val="E2E8F0"/>
                </a:solidFill>
                <a:latin typeface="Consolas"/>
                <a:ea typeface="Consolas"/>
                <a:cs typeface="Consolas"/>
              </a:rPr>
              <a:t> </a:t>
            </a:r>
            <a:r>
              <a:rPr lang="en-US" sz="1150" b="0" dirty="0">
                <a:solidFill>
                  <a:srgbClr val="60A5FA"/>
                </a:solidFill>
                <a:latin typeface="Consolas"/>
                <a:ea typeface="Consolas"/>
                <a:cs typeface="Consolas"/>
              </a:rPr>
              <a:t>interface</a:t>
            </a: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IUserRepository</a:t>
            </a:r>
            <a:endParaRPr lang="en-US" sz="1150" dirty="0"/>
          </a:p>
        </p:txBody>
      </p:sp>
      <p:sp>
        <p:nvSpPr>
          <p:cNvPr id="118" name="s118"/>
          <p:cNvSpPr/>
          <p:nvPr/>
        </p:nvSpPr>
        <p:spPr>
          <a:xfrm>
            <a:off x="726034" y="4802124"/>
            <a:ext cx="504108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19" name="s119"/>
          <p:cNvSpPr/>
          <p:nvPr/>
        </p:nvSpPr>
        <p:spPr>
          <a:xfrm>
            <a:off x="726034" y="4977384"/>
            <a:ext cx="504108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    </a:t>
            </a:r>
            <a:r>
              <a:rPr lang="en-US" sz="1150" b="0" dirty="0">
                <a:solidFill>
                  <a:srgbClr val="7DD3FC"/>
                </a:solidFill>
                <a:latin typeface="Consolas"/>
                <a:ea typeface="Consolas"/>
                <a:cs typeface="Consolas"/>
              </a:rPr>
              <a:t>Task</a:t>
            </a:r>
            <a:r>
              <a:rPr lang="en-US" sz="1150" b="0" dirty="0">
                <a:solidFill>
                  <a:srgbClr val="E2E8F0"/>
                </a:solidFill>
                <a:latin typeface="Consolas"/>
                <a:ea typeface="Consolas"/>
                <a:cs typeface="Consolas"/>
              </a:rPr>
              <a:t>&lt;</a:t>
            </a:r>
            <a:r>
              <a:rPr lang="en-US" sz="1150" b="0" dirty="0">
                <a:solidFill>
                  <a:srgbClr val="7DD3FC"/>
                </a:solidFill>
                <a:latin typeface="Consolas"/>
                <a:ea typeface="Consolas"/>
                <a:cs typeface="Consolas"/>
              </a:rPr>
              <a:t>User</a:t>
            </a:r>
            <a:r>
              <a:rPr lang="en-US" sz="1150" b="0" dirty="0">
                <a:solidFill>
                  <a:srgbClr val="E2E8F0"/>
                </a:solidFill>
                <a:latin typeface="Consolas"/>
                <a:ea typeface="Consolas"/>
                <a:cs typeface="Consolas"/>
              </a:rPr>
              <a:t>?&gt; </a:t>
            </a:r>
            <a:r>
              <a:rPr lang="en-US" sz="1150" b="0" dirty="0">
                <a:solidFill>
                  <a:srgbClr val="7DD3FC"/>
                </a:solidFill>
                <a:latin typeface="Consolas"/>
                <a:ea typeface="Consolas"/>
                <a:cs typeface="Consolas"/>
              </a:rPr>
              <a:t>GetByEmailAsync</a:t>
            </a:r>
            <a:r>
              <a:rPr lang="en-US" sz="1150" b="0" dirty="0">
                <a:solidFill>
                  <a:srgbClr val="E2E8F0"/>
                </a:solidFill>
                <a:latin typeface="Consolas"/>
                <a:ea typeface="Consolas"/>
                <a:cs typeface="Consolas"/>
              </a:rPr>
              <a:t>(</a:t>
            </a:r>
            <a:r>
              <a:rPr lang="en-US" sz="1150" b="0" dirty="0">
                <a:solidFill>
                  <a:srgbClr val="60A5FA"/>
                </a:solidFill>
                <a:latin typeface="Consolas"/>
                <a:ea typeface="Consolas"/>
                <a:cs typeface="Consolas"/>
              </a:rPr>
              <a:t>string</a:t>
            </a:r>
            <a:r>
              <a:rPr lang="en-US" sz="1150" b="0" dirty="0">
                <a:solidFill>
                  <a:srgbClr val="E2E8F0"/>
                </a:solidFill>
                <a:latin typeface="Consolas"/>
                <a:ea typeface="Consolas"/>
                <a:cs typeface="Consolas"/>
              </a:rPr>
              <a:t> email);</a:t>
            </a:r>
            <a:endParaRPr lang="en-US" sz="1150" dirty="0"/>
          </a:p>
        </p:txBody>
      </p:sp>
      <p:sp>
        <p:nvSpPr>
          <p:cNvPr id="120" name="s120"/>
          <p:cNvSpPr/>
          <p:nvPr/>
        </p:nvSpPr>
        <p:spPr>
          <a:xfrm>
            <a:off x="726034" y="5152644"/>
            <a:ext cx="504108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E2E8F0"/>
                </a:solidFill>
                <a:latin typeface="Consolas"/>
                <a:ea typeface="Consolas"/>
                <a:cs typeface="Consolas"/>
              </a:rPr>
              <a:t>}</a:t>
            </a:r>
            <a:endParaRPr lang="en-US" sz="1150" dirty="0"/>
          </a:p>
        </p:txBody>
      </p:sp>
      <p:sp>
        <p:nvSpPr>
          <p:cNvPr id="121" name="s121"/>
          <p:cNvSpPr/>
          <p:nvPr/>
        </p:nvSpPr>
        <p:spPr>
          <a:xfrm>
            <a:off x="726034" y="5327904"/>
            <a:ext cx="5041087" cy="1752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50" b="0" dirty="0">
                <a:solidFill>
                  <a:srgbClr val="60A5FA"/>
                </a:solidFill>
                <a:latin typeface="Consolas"/>
                <a:ea typeface="Consolas"/>
                <a:cs typeface="Consolas"/>
              </a:rPr>
              <a:t>var</a:t>
            </a:r>
            <a:r>
              <a:rPr lang="en-US" sz="1150" b="0" dirty="0">
                <a:solidFill>
                  <a:srgbClr val="E2E8F0"/>
                </a:solidFill>
                <a:latin typeface="Consolas"/>
                <a:ea typeface="Consolas"/>
                <a:cs typeface="Consolas"/>
              </a:rPr>
              <a:t> users = </a:t>
            </a:r>
            <a:r>
              <a:rPr lang="en-US" sz="1150" b="0" dirty="0">
                <a:solidFill>
                  <a:srgbClr val="7DD3FC"/>
                </a:solidFill>
                <a:latin typeface="Consolas"/>
                <a:ea typeface="Consolas"/>
                <a:cs typeface="Consolas"/>
              </a:rPr>
              <a:t>Substitute</a:t>
            </a:r>
            <a:r>
              <a:rPr lang="en-US" sz="1150" b="0" dirty="0">
                <a:solidFill>
                  <a:srgbClr val="E2E8F0"/>
                </a:solidFill>
                <a:latin typeface="Consolas"/>
                <a:ea typeface="Consolas"/>
                <a:cs typeface="Consolas"/>
              </a:rPr>
              <a:t>.</a:t>
            </a:r>
            <a:r>
              <a:rPr lang="en-US" sz="1150" b="0" dirty="0">
                <a:solidFill>
                  <a:srgbClr val="7DD3FC"/>
                </a:solidFill>
                <a:latin typeface="Consolas"/>
                <a:ea typeface="Consolas"/>
                <a:cs typeface="Consolas"/>
              </a:rPr>
              <a:t>For</a:t>
            </a:r>
            <a:r>
              <a:rPr lang="en-US" sz="1150" b="0" dirty="0">
                <a:solidFill>
                  <a:srgbClr val="E2E8F0"/>
                </a:solidFill>
                <a:latin typeface="Consolas"/>
                <a:ea typeface="Consolas"/>
                <a:cs typeface="Consolas"/>
              </a:rPr>
              <a:t>&lt;</a:t>
            </a:r>
            <a:r>
              <a:rPr lang="en-US" sz="1150" b="0" dirty="0">
                <a:solidFill>
                  <a:srgbClr val="7DD3FC"/>
                </a:solidFill>
                <a:latin typeface="Consolas"/>
                <a:ea typeface="Consolas"/>
                <a:cs typeface="Consolas"/>
              </a:rPr>
              <a:t>IUserRepository</a:t>
            </a:r>
            <a:r>
              <a:rPr lang="en-US" sz="1150" b="0" dirty="0">
                <a:solidFill>
                  <a:srgbClr val="E2E8F0"/>
                </a:solidFill>
                <a:latin typeface="Consolas"/>
                <a:ea typeface="Consolas"/>
                <a:cs typeface="Consolas"/>
              </a:rPr>
              <a:t>&gt;();</a:t>
            </a:r>
            <a:endParaRPr lang="en-US" sz="1150" dirty="0"/>
          </a:p>
        </p:txBody>
      </p:sp>
      <p:sp>
        <p:nvSpPr>
          <p:cNvPr id="122" name="s122"/>
          <p:cNvSpPr/>
          <p:nvPr/>
        </p:nvSpPr>
        <p:spPr>
          <a:xfrm>
            <a:off x="726034" y="5705856"/>
            <a:ext cx="5041087" cy="457200"/>
          </a:xfrm>
          <a:prstGeom prst="roundRect">
            <a:avLst>
              <a:gd name="adj" fmla="val 15000"/>
            </a:avLst>
          </a:prstGeom>
          <a:solidFill>
            <a:srgbClr val="34D399">
              <a:alpha val="12000"/>
            </a:srgbClr>
          </a:solidFill>
          <a:ln w="12700">
            <a:solidFill>
              <a:srgbClr val="34D399"/>
            </a:solidFill>
            <a:prstDash val="solid"/>
          </a:ln>
        </p:spPr>
        <p:txBody>
          <a:bodyPr wrap="square" lIns="137160" tIns="0" rIns="91440" bIns="0" rtlCol="0" anchor="ctr">
            <a:noAutofit/>
          </a:bodyPr>
          <a:lstStyle/>
          <a:p>
            <a:pPr marL="0" indent="0" algn="ctr">
              <a:spcBef>
                <a:spcPts val="0"/>
              </a:spcBef>
              <a:spcAft>
                <a:spcPts val="0"/>
              </a:spcAft>
              <a:buNone/>
            </a:pPr>
            <a:r>
              <a:rPr lang="en-US" sz="1150" b="1" dirty="0">
                <a:solidFill>
                  <a:srgbClr val="34D399"/>
                </a:solidFill>
                <a:latin typeface="Segoe UI"/>
                <a:ea typeface="Segoe UI"/>
                <a:cs typeface="Segoe UI"/>
              </a:rPr>
              <a:t>lesson:  </a:t>
            </a:r>
            <a:r>
              <a:rPr lang="en-US" sz="1150" b="0" dirty="0">
                <a:solidFill>
                  <a:srgbClr val="FFFFFF"/>
                </a:solidFill>
                <a:latin typeface="Segoe UI"/>
                <a:ea typeface="Segoe UI"/>
                <a:cs typeface="Segoe UI"/>
              </a:rPr>
              <a:t>own the interface you mock;  test the real wrapper with an integration test</a:t>
            </a:r>
            <a:endParaRPr lang="en-US" sz="1150" dirty="0"/>
          </a:p>
        </p:txBody>
      </p:sp>
      <p:sp>
        <p:nvSpPr>
          <p:cNvPr id="123" name="s123"/>
          <p:cNvSpPr/>
          <p:nvPr/>
        </p:nvSpPr>
        <p:spPr>
          <a:xfrm>
            <a:off x="6224321" y="1810512"/>
            <a:ext cx="5406847" cy="4443984"/>
          </a:xfrm>
          <a:prstGeom prst="roundRect">
            <a:avLst>
              <a:gd name="adj" fmla="val 6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4" name="s124"/>
          <p:cNvSpPr txBox="1"/>
          <p:nvPr/>
        </p:nvSpPr>
        <p:spPr>
          <a:xfrm>
            <a:off x="6452921" y="1947672"/>
            <a:ext cx="4949647" cy="5943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87171"/>
                </a:solidFill>
                <a:latin typeface="Segoe UI"/>
                <a:ea typeface="Segoe UI"/>
                <a:cs typeface="Segoe UI"/>
              </a:rPr>
              <a:t>THE MOQ SPONSORLINK STORY  (2023)</a:t>
            </a:r>
            <a:endParaRPr lang="en-US" sz="1500" dirty="0"/>
          </a:p>
          <a:p>
            <a:pPr marL="0" indent="0" algn="l">
              <a:spcBef>
                <a:spcPts val="0"/>
              </a:spcBef>
              <a:spcAft>
                <a:spcPts val="0"/>
              </a:spcAft>
              <a:buNone/>
            </a:pPr>
            <a:r>
              <a:rPr lang="en-US" sz="1100" b="0" i="1" dirty="0">
                <a:solidFill>
                  <a:srgbClr val="94A3B8"/>
                </a:solidFill>
                <a:latin typeface="Segoe UI"/>
                <a:ea typeface="Segoe UI"/>
                <a:cs typeface="Segoe UI"/>
              </a:rPr>
              <a:t>Moq 4.20.0,  August 2023</a:t>
            </a:r>
            <a:endParaRPr lang="en-US" sz="1100" dirty="0"/>
          </a:p>
        </p:txBody>
      </p:sp>
      <p:sp>
        <p:nvSpPr>
          <p:cNvPr id="125" name="s125"/>
          <p:cNvSpPr/>
          <p:nvPr/>
        </p:nvSpPr>
        <p:spPr>
          <a:xfrm>
            <a:off x="6452921" y="2615184"/>
            <a:ext cx="365760" cy="365760"/>
          </a:xfrm>
          <a:prstGeom prst="ellipse">
            <a:avLst/>
          </a:prstGeom>
          <a:solidFill>
            <a:srgbClr val="F87171">
              <a:alpha val="18000"/>
            </a:srgbClr>
          </a:solidFill>
          <a:ln w="127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87171"/>
                </a:solidFill>
                <a:latin typeface="Segoe UI"/>
                <a:ea typeface="Segoe UI"/>
                <a:cs typeface="Segoe UI"/>
              </a:rPr>
              <a:t>1</a:t>
            </a:r>
            <a:endParaRPr lang="en-US" sz="1200" dirty="0"/>
          </a:p>
        </p:txBody>
      </p:sp>
      <p:sp>
        <p:nvSpPr>
          <p:cNvPr id="126" name="s126"/>
          <p:cNvSpPr txBox="1"/>
          <p:nvPr/>
        </p:nvSpPr>
        <p:spPr>
          <a:xfrm>
            <a:off x="6955841" y="2542032"/>
            <a:ext cx="4492447"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Moq 4.20.0 added a package called SponsorLink</a:t>
            </a:r>
            <a:endParaRPr lang="en-US" sz="1250" dirty="0"/>
          </a:p>
        </p:txBody>
      </p:sp>
      <p:sp>
        <p:nvSpPr>
          <p:cNvPr id="127" name="s127"/>
          <p:cNvSpPr/>
          <p:nvPr/>
        </p:nvSpPr>
        <p:spPr>
          <a:xfrm>
            <a:off x="6452921" y="3236976"/>
            <a:ext cx="365760" cy="365760"/>
          </a:xfrm>
          <a:prstGeom prst="ellipse">
            <a:avLst/>
          </a:prstGeom>
          <a:solidFill>
            <a:srgbClr val="F87171">
              <a:alpha val="18000"/>
            </a:srgbClr>
          </a:solidFill>
          <a:ln w="127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87171"/>
                </a:solidFill>
                <a:latin typeface="Segoe UI"/>
                <a:ea typeface="Segoe UI"/>
                <a:cs typeface="Segoe UI"/>
              </a:rPr>
              <a:t>2</a:t>
            </a:r>
            <a:endParaRPr lang="en-US" sz="1200" dirty="0"/>
          </a:p>
        </p:txBody>
      </p:sp>
      <p:sp>
        <p:nvSpPr>
          <p:cNvPr id="128" name="s128"/>
          <p:cNvSpPr txBox="1"/>
          <p:nvPr/>
        </p:nvSpPr>
        <p:spPr>
          <a:xfrm>
            <a:off x="6955841" y="3163824"/>
            <a:ext cx="4492447"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during the build it read the developer's email from the git config</a:t>
            </a:r>
            <a:endParaRPr lang="en-US" sz="1250" dirty="0"/>
          </a:p>
        </p:txBody>
      </p:sp>
      <p:sp>
        <p:nvSpPr>
          <p:cNvPr id="129" name="s129"/>
          <p:cNvSpPr/>
          <p:nvPr/>
        </p:nvSpPr>
        <p:spPr>
          <a:xfrm>
            <a:off x="6452921" y="3858768"/>
            <a:ext cx="365760" cy="365760"/>
          </a:xfrm>
          <a:prstGeom prst="ellipse">
            <a:avLst/>
          </a:prstGeom>
          <a:solidFill>
            <a:srgbClr val="F87171">
              <a:alpha val="18000"/>
            </a:srgbClr>
          </a:solidFill>
          <a:ln w="127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87171"/>
                </a:solidFill>
                <a:latin typeface="Segoe UI"/>
                <a:ea typeface="Segoe UI"/>
                <a:cs typeface="Segoe UI"/>
              </a:rPr>
              <a:t>3</a:t>
            </a:r>
            <a:endParaRPr lang="en-US" sz="1200" dirty="0"/>
          </a:p>
        </p:txBody>
      </p:sp>
      <p:sp>
        <p:nvSpPr>
          <p:cNvPr id="130" name="s130"/>
          <p:cNvSpPr txBox="1"/>
          <p:nvPr/>
        </p:nvSpPr>
        <p:spPr>
          <a:xfrm>
            <a:off x="6955841" y="3785616"/>
            <a:ext cx="4492447"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it sent a HASH of the email to check if you were a sponsor</a:t>
            </a:r>
            <a:endParaRPr lang="en-US" sz="1250" dirty="0"/>
          </a:p>
        </p:txBody>
      </p:sp>
      <p:sp>
        <p:nvSpPr>
          <p:cNvPr id="131" name="s131"/>
          <p:cNvSpPr/>
          <p:nvPr/>
        </p:nvSpPr>
        <p:spPr>
          <a:xfrm>
            <a:off x="6452921" y="4480560"/>
            <a:ext cx="365760" cy="365760"/>
          </a:xfrm>
          <a:prstGeom prst="ellipse">
            <a:avLst/>
          </a:prstGeom>
          <a:solidFill>
            <a:srgbClr val="F87171">
              <a:alpha val="18000"/>
            </a:srgbClr>
          </a:solidFill>
          <a:ln w="127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87171"/>
                </a:solidFill>
                <a:latin typeface="Segoe UI"/>
                <a:ea typeface="Segoe UI"/>
                <a:cs typeface="Segoe UI"/>
              </a:rPr>
              <a:t>4</a:t>
            </a:r>
            <a:endParaRPr lang="en-US" sz="1200" dirty="0"/>
          </a:p>
        </p:txBody>
      </p:sp>
      <p:sp>
        <p:nvSpPr>
          <p:cNvPr id="132" name="s132"/>
          <p:cNvSpPr txBox="1"/>
          <p:nvPr/>
        </p:nvSpPr>
        <p:spPr>
          <a:xfrm>
            <a:off x="6955841" y="4407408"/>
            <a:ext cx="4492447"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not announced clearly → big backlash on GitHub and Reddit</a:t>
            </a:r>
            <a:endParaRPr lang="en-US" sz="1250" dirty="0"/>
          </a:p>
        </p:txBody>
      </p:sp>
      <p:sp>
        <p:nvSpPr>
          <p:cNvPr id="133" name="s133"/>
          <p:cNvSpPr/>
          <p:nvPr/>
        </p:nvSpPr>
        <p:spPr>
          <a:xfrm>
            <a:off x="6452921" y="5102352"/>
            <a:ext cx="365760" cy="365760"/>
          </a:xfrm>
          <a:prstGeom prst="ellipse">
            <a:avLst/>
          </a:prstGeom>
          <a:solidFill>
            <a:srgbClr val="F87171">
              <a:alpha val="18000"/>
            </a:srgbClr>
          </a:solidFill>
          <a:ln w="127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87171"/>
                </a:solidFill>
                <a:latin typeface="Segoe UI"/>
                <a:ea typeface="Segoe UI"/>
                <a:cs typeface="Segoe UI"/>
              </a:rPr>
              <a:t>5</a:t>
            </a:r>
            <a:endParaRPr lang="en-US" sz="1200" dirty="0"/>
          </a:p>
        </p:txBody>
      </p:sp>
      <p:sp>
        <p:nvSpPr>
          <p:cNvPr id="134" name="s134"/>
          <p:cNvSpPr txBox="1"/>
          <p:nvPr/>
        </p:nvSpPr>
        <p:spPr>
          <a:xfrm>
            <a:off x="6955841" y="5029200"/>
            <a:ext cx="4492447"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removed in Moq 4.20.2;  some teams moved to NSubstitute / FakeItEasy</a:t>
            </a:r>
            <a:endParaRPr lang="en-US" sz="1250" dirty="0"/>
          </a:p>
        </p:txBody>
      </p:sp>
      <p:sp>
        <p:nvSpPr>
          <p:cNvPr id="135" name="s135"/>
          <p:cNvSpPr/>
          <p:nvPr/>
        </p:nvSpPr>
        <p:spPr>
          <a:xfrm>
            <a:off x="6407201" y="5705856"/>
            <a:ext cx="5041087" cy="457200"/>
          </a:xfrm>
          <a:prstGeom prst="roundRect">
            <a:avLst>
              <a:gd name="adj" fmla="val 15000"/>
            </a:avLst>
          </a:prstGeom>
          <a:solidFill>
            <a:srgbClr val="F87171">
              <a:alpha val="12000"/>
            </a:srgbClr>
          </a:solidFill>
          <a:ln w="12700">
            <a:solidFill>
              <a:srgbClr val="F87171"/>
            </a:solidFill>
            <a:prstDash val="solid"/>
          </a:ln>
        </p:spPr>
        <p:txBody>
          <a:bodyPr wrap="square" lIns="137160" tIns="0" rIns="91440" bIns="0" rtlCol="0" anchor="ctr">
            <a:noAutofit/>
          </a:bodyPr>
          <a:lstStyle/>
          <a:p>
            <a:pPr marL="0" indent="0" algn="ctr">
              <a:spcBef>
                <a:spcPts val="0"/>
              </a:spcBef>
              <a:spcAft>
                <a:spcPts val="0"/>
              </a:spcAft>
              <a:buNone/>
            </a:pPr>
            <a:r>
              <a:rPr lang="en-US" sz="1150" b="1" dirty="0">
                <a:solidFill>
                  <a:srgbClr val="F87171"/>
                </a:solidFill>
                <a:latin typeface="Segoe UI"/>
                <a:ea typeface="Segoe UI"/>
                <a:cs typeface="Segoe UI"/>
              </a:rPr>
              <a:t>lesson:  </a:t>
            </a:r>
            <a:r>
              <a:rPr lang="en-US" sz="1150" b="0" dirty="0">
                <a:solidFill>
                  <a:srgbClr val="FFFFFF"/>
                </a:solidFill>
                <a:latin typeface="Segoe UI"/>
                <a:ea typeface="Segoe UI"/>
                <a:cs typeface="Segoe UI"/>
              </a:rPr>
              <a:t>test packages run with YOUR permissions:  check what they do, pin versions</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childTnLst>
                                </p:cTn>
                              </p:par>
                              <p:par>
                                <p:cTn id="8" presetID="10" presetClass="entr" presetSubtype="0" fill="hold" grpId="0" nodeType="withEffect">
                                  <p:stCondLst>
                                    <p:cond delay="110"/>
                                  </p:stCondLst>
                                  <p:childTnLst>
                                    <p:set>
                                      <p:cBhvr>
                                        <p:cTn id="9" dur="1" fill="hold">
                                          <p:stCondLst>
                                            <p:cond delay="0"/>
                                          </p:stCondLst>
                                        </p:cTn>
                                        <p:tgtEl>
                                          <p:spTgt spid="102"/>
                                        </p:tgtEl>
                                        <p:attrNameLst>
                                          <p:attrName>style.visibility</p:attrName>
                                        </p:attrNameLst>
                                      </p:cBhvr>
                                      <p:to>
                                        <p:strVal val="visible"/>
                                      </p:to>
                                    </p:set>
                                    <p:animEffect transition="in" filter="fade">
                                      <p:cBhvr>
                                        <p:cTn id="10" dur="500"/>
                                        <p:tgtEl>
                                          <p:spTgt spid="102"/>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04"/>
                                        </p:tgtEl>
                                        <p:attrNameLst>
                                          <p:attrName>style.visibility</p:attrName>
                                        </p:attrNameLst>
                                      </p:cBhvr>
                                      <p:to>
                                        <p:strVal val="visible"/>
                                      </p:to>
                                    </p:set>
                                    <p:animEffect transition="in" filter="fade">
                                      <p:cBhvr>
                                        <p:cTn id="21" dur="500"/>
                                        <p:tgtEl>
                                          <p:spTgt spid="104"/>
                                        </p:tgtEl>
                                      </p:cBhvr>
                                    </p:animEffect>
                                    <p:anim calcmode="lin" valueType="num">
                                      <p:cBhvr additive="base">
                                        <p:cTn id="22" dur="500" decel="100000" fill="hold"/>
                                        <p:tgtEl>
                                          <p:spTgt spid="104"/>
                                        </p:tgtEl>
                                        <p:attrNameLst>
                                          <p:attrName>ppt_y</p:attrName>
                                        </p:attrNameLst>
                                      </p:cBhvr>
                                      <p:tavLst>
                                        <p:tav tm="0">
                                          <p:val>
                                            <p:strVal val="#ppt_y+0.06"/>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ppt_y</p:attrName>
                                        </p:attrNameLst>
                                      </p:cBhvr>
                                      <p:tavLst>
                                        <p:tav tm="0">
                                          <p:val>
                                            <p:strVal val="#ppt_y+0.06"/>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ppt_y</p:attrName>
                                        </p:attrNameLst>
                                      </p:cBhvr>
                                      <p:tavLst>
                                        <p:tav tm="0">
                                          <p:val>
                                            <p:strVal val="#ppt_y+0.06"/>
                                          </p:val>
                                        </p:tav>
                                        <p:tav tm="100000">
                                          <p:val>
                                            <p:strVal val="#ppt_y"/>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11"/>
                                        </p:tgtEl>
                                        <p:attrNameLst>
                                          <p:attrName>style.visibility</p:attrName>
                                        </p:attrNameLst>
                                      </p:cBhvr>
                                      <p:to>
                                        <p:strVal val="visible"/>
                                      </p:to>
                                    </p:set>
                                    <p:animEffect transition="in" filter="fade">
                                      <p:cBhvr>
                                        <p:cTn id="51" dur="500"/>
                                        <p:tgtEl>
                                          <p:spTgt spid="111"/>
                                        </p:tgtEl>
                                      </p:cBhvr>
                                    </p:animEffect>
                                    <p:anim calcmode="lin" valueType="num">
                                      <p:cBhvr additive="base">
                                        <p:cTn id="52" dur="500" decel="100000" fill="hold"/>
                                        <p:tgtEl>
                                          <p:spTgt spid="111"/>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2"/>
                                        </p:tgtEl>
                                        <p:attrNameLst>
                                          <p:attrName>style.visibility</p:attrName>
                                        </p:attrNameLst>
                                      </p:cBhvr>
                                      <p:to>
                                        <p:strVal val="visible"/>
                                      </p:to>
                                    </p:set>
                                    <p:animEffect transition="in" filter="fade">
                                      <p:cBhvr>
                                        <p:cTn id="55" dur="500"/>
                                        <p:tgtEl>
                                          <p:spTgt spid="112"/>
                                        </p:tgtEl>
                                      </p:cBhvr>
                                    </p:animEffect>
                                    <p:anim calcmode="lin" valueType="num">
                                      <p:cBhvr additive="base">
                                        <p:cTn id="56" dur="500" decel="100000" fill="hold"/>
                                        <p:tgtEl>
                                          <p:spTgt spid="112"/>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3"/>
                                        </p:tgtEl>
                                        <p:attrNameLst>
                                          <p:attrName>style.visibility</p:attrName>
                                        </p:attrNameLst>
                                      </p:cBhvr>
                                      <p:to>
                                        <p:strVal val="visible"/>
                                      </p:to>
                                    </p:set>
                                    <p:animEffect transition="in" filter="fade">
                                      <p:cBhvr>
                                        <p:cTn id="59" dur="500"/>
                                        <p:tgtEl>
                                          <p:spTgt spid="113"/>
                                        </p:tgtEl>
                                      </p:cBhvr>
                                    </p:animEffect>
                                    <p:anim calcmode="lin" valueType="num">
                                      <p:cBhvr additive="base">
                                        <p:cTn id="60" dur="500" decel="100000" fill="hold"/>
                                        <p:tgtEl>
                                          <p:spTgt spid="113"/>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4"/>
                                        </p:tgtEl>
                                        <p:attrNameLst>
                                          <p:attrName>style.visibility</p:attrName>
                                        </p:attrNameLst>
                                      </p:cBhvr>
                                      <p:to>
                                        <p:strVal val="visible"/>
                                      </p:to>
                                    </p:set>
                                    <p:animEffect transition="in" filter="fade">
                                      <p:cBhvr>
                                        <p:cTn id="63" dur="500"/>
                                        <p:tgtEl>
                                          <p:spTgt spid="114"/>
                                        </p:tgtEl>
                                      </p:cBhvr>
                                    </p:animEffect>
                                    <p:anim calcmode="lin" valueType="num">
                                      <p:cBhvr additive="base">
                                        <p:cTn id="64" dur="500" decel="100000" fill="hold"/>
                                        <p:tgtEl>
                                          <p:spTgt spid="114"/>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5"/>
                                        </p:tgtEl>
                                        <p:attrNameLst>
                                          <p:attrName>style.visibility</p:attrName>
                                        </p:attrNameLst>
                                      </p:cBhvr>
                                      <p:to>
                                        <p:strVal val="visible"/>
                                      </p:to>
                                    </p:set>
                                    <p:animEffect transition="in" filter="fade">
                                      <p:cBhvr>
                                        <p:cTn id="67" dur="500"/>
                                        <p:tgtEl>
                                          <p:spTgt spid="115"/>
                                        </p:tgtEl>
                                      </p:cBhvr>
                                    </p:animEffect>
                                    <p:anim calcmode="lin" valueType="num">
                                      <p:cBhvr additive="base">
                                        <p:cTn id="68" dur="500" decel="100000" fill="hold"/>
                                        <p:tgtEl>
                                          <p:spTgt spid="115"/>
                                        </p:tgtEl>
                                        <p:attrNameLst>
                                          <p:attrName>ppt_y</p:attrName>
                                        </p:attrNameLst>
                                      </p:cBhvr>
                                      <p:tavLst>
                                        <p:tav tm="0">
                                          <p:val>
                                            <p:strVal val="#ppt_y+0.06"/>
                                          </p:val>
                                        </p:tav>
                                        <p:tav tm="100000">
                                          <p:val>
                                            <p:strVal val="#ppt_y"/>
                                          </p:val>
                                        </p:tav>
                                      </p:tavLst>
                                    </p:anim>
                                  </p:childTnLst>
                                </p:cTn>
                              </p:par>
                              <p:par>
                                <p:cTn id="69" presetID="42" presetClass="entr" presetSubtype="0" fill="hold" nodeType="withEffect">
                                  <p:stCondLst>
                                    <p:cond delay="0"/>
                                  </p:stCondLst>
                                  <p:childTnLst>
                                    <p:set>
                                      <p:cBhvr>
                                        <p:cTn id="70" dur="1" fill="hold">
                                          <p:stCondLst>
                                            <p:cond delay="0"/>
                                          </p:stCondLst>
                                        </p:cTn>
                                        <p:tgtEl>
                                          <p:spTgt spid="116"/>
                                        </p:tgtEl>
                                        <p:attrNameLst>
                                          <p:attrName>style.visibility</p:attrName>
                                        </p:attrNameLst>
                                      </p:cBhvr>
                                      <p:to>
                                        <p:strVal val="visible"/>
                                      </p:to>
                                    </p:set>
                                    <p:animEffect transition="in" filter="fade">
                                      <p:cBhvr>
                                        <p:cTn id="71" dur="500"/>
                                        <p:tgtEl>
                                          <p:spTgt spid="116"/>
                                        </p:tgtEl>
                                      </p:cBhvr>
                                    </p:animEffect>
                                    <p:anim calcmode="lin" valueType="num">
                                      <p:cBhvr additive="base">
                                        <p:cTn id="72" dur="500" decel="100000" fill="hold"/>
                                        <p:tgtEl>
                                          <p:spTgt spid="116"/>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7"/>
                                        </p:tgtEl>
                                        <p:attrNameLst>
                                          <p:attrName>style.visibility</p:attrName>
                                        </p:attrNameLst>
                                      </p:cBhvr>
                                      <p:to>
                                        <p:strVal val="visible"/>
                                      </p:to>
                                    </p:set>
                                    <p:animEffect transition="in" filter="fade">
                                      <p:cBhvr>
                                        <p:cTn id="75" dur="500"/>
                                        <p:tgtEl>
                                          <p:spTgt spid="117"/>
                                        </p:tgtEl>
                                      </p:cBhvr>
                                    </p:animEffect>
                                    <p:anim calcmode="lin" valueType="num">
                                      <p:cBhvr additive="base">
                                        <p:cTn id="76" dur="500" decel="100000" fill="hold"/>
                                        <p:tgtEl>
                                          <p:spTgt spid="117"/>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8"/>
                                        </p:tgtEl>
                                        <p:attrNameLst>
                                          <p:attrName>style.visibility</p:attrName>
                                        </p:attrNameLst>
                                      </p:cBhvr>
                                      <p:to>
                                        <p:strVal val="visible"/>
                                      </p:to>
                                    </p:set>
                                    <p:animEffect transition="in" filter="fade">
                                      <p:cBhvr>
                                        <p:cTn id="79" dur="500"/>
                                        <p:tgtEl>
                                          <p:spTgt spid="118"/>
                                        </p:tgtEl>
                                      </p:cBhvr>
                                    </p:animEffect>
                                    <p:anim calcmode="lin" valueType="num">
                                      <p:cBhvr additive="base">
                                        <p:cTn id="80" dur="500" decel="100000" fill="hold"/>
                                        <p:tgtEl>
                                          <p:spTgt spid="118"/>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19"/>
                                        </p:tgtEl>
                                        <p:attrNameLst>
                                          <p:attrName>style.visibility</p:attrName>
                                        </p:attrNameLst>
                                      </p:cBhvr>
                                      <p:to>
                                        <p:strVal val="visible"/>
                                      </p:to>
                                    </p:set>
                                    <p:animEffect transition="in" filter="fade">
                                      <p:cBhvr>
                                        <p:cTn id="83" dur="500"/>
                                        <p:tgtEl>
                                          <p:spTgt spid="119"/>
                                        </p:tgtEl>
                                      </p:cBhvr>
                                    </p:animEffect>
                                    <p:anim calcmode="lin" valueType="num">
                                      <p:cBhvr additive="base">
                                        <p:cTn id="84" dur="500" decel="100000" fill="hold"/>
                                        <p:tgtEl>
                                          <p:spTgt spid="119"/>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120"/>
                                        </p:tgtEl>
                                        <p:attrNameLst>
                                          <p:attrName>style.visibility</p:attrName>
                                        </p:attrNameLst>
                                      </p:cBhvr>
                                      <p:to>
                                        <p:strVal val="visible"/>
                                      </p:to>
                                    </p:set>
                                    <p:animEffect transition="in" filter="fade">
                                      <p:cBhvr>
                                        <p:cTn id="87" dur="500"/>
                                        <p:tgtEl>
                                          <p:spTgt spid="120"/>
                                        </p:tgtEl>
                                      </p:cBhvr>
                                    </p:animEffect>
                                    <p:anim calcmode="lin" valueType="num">
                                      <p:cBhvr additive="base">
                                        <p:cTn id="88" dur="500" decel="100000" fill="hold"/>
                                        <p:tgtEl>
                                          <p:spTgt spid="120"/>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121"/>
                                        </p:tgtEl>
                                        <p:attrNameLst>
                                          <p:attrName>style.visibility</p:attrName>
                                        </p:attrNameLst>
                                      </p:cBhvr>
                                      <p:to>
                                        <p:strVal val="visible"/>
                                      </p:to>
                                    </p:set>
                                    <p:animEffect transition="in" filter="fade">
                                      <p:cBhvr>
                                        <p:cTn id="91" dur="500"/>
                                        <p:tgtEl>
                                          <p:spTgt spid="121"/>
                                        </p:tgtEl>
                                      </p:cBhvr>
                                    </p:animEffect>
                                    <p:anim calcmode="lin" valueType="num">
                                      <p:cBhvr additive="base">
                                        <p:cTn id="92" dur="500" decel="100000" fill="hold"/>
                                        <p:tgtEl>
                                          <p:spTgt spid="121"/>
                                        </p:tgtEl>
                                        <p:attrNameLst>
                                          <p:attrName>ppt_y</p:attrName>
                                        </p:attrNameLst>
                                      </p:cBhvr>
                                      <p:tavLst>
                                        <p:tav tm="0">
                                          <p:val>
                                            <p:strVal val="#ppt_y+0.06"/>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53" presetClass="entr" presetSubtype="16" fill="hold" grpId="0" nodeType="clickEffect">
                                  <p:stCondLst>
                                    <p:cond delay="0"/>
                                  </p:stCondLst>
                                  <p:childTnLst>
                                    <p:set>
                                      <p:cBhvr>
                                        <p:cTn id="96" dur="1" fill="hold">
                                          <p:stCondLst>
                                            <p:cond delay="0"/>
                                          </p:stCondLst>
                                        </p:cTn>
                                        <p:tgtEl>
                                          <p:spTgt spid="122"/>
                                        </p:tgtEl>
                                        <p:attrNameLst>
                                          <p:attrName>style.visibility</p:attrName>
                                        </p:attrNameLst>
                                      </p:cBhvr>
                                      <p:to>
                                        <p:strVal val="visible"/>
                                      </p:to>
                                    </p:set>
                                    <p:anim calcmode="lin" valueType="num">
                                      <p:cBhvr additive="base">
                                        <p:cTn id="97" dur="500" decel="100000" fill="hold"/>
                                        <p:tgtEl>
                                          <p:spTgt spid="122"/>
                                        </p:tgtEl>
                                        <p:attrNameLst>
                                          <p:attrName>ppt_w</p:attrName>
                                        </p:attrNameLst>
                                      </p:cBhvr>
                                      <p:tavLst>
                                        <p:tav tm="0">
                                          <p:val>
                                            <p:strVal val="#ppt_w*0.3"/>
                                          </p:val>
                                        </p:tav>
                                        <p:tav tm="100000">
                                          <p:val>
                                            <p:strVal val="#ppt_w*1.08"/>
                                          </p:val>
                                        </p:tav>
                                      </p:tavLst>
                                    </p:anim>
                                    <p:anim calcmode="lin" valueType="num">
                                      <p:cBhvr additive="base">
                                        <p:cTn id="98" dur="500" decel="100000" fill="hold"/>
                                        <p:tgtEl>
                                          <p:spTgt spid="122"/>
                                        </p:tgtEl>
                                        <p:attrNameLst>
                                          <p:attrName>ppt_h</p:attrName>
                                        </p:attrNameLst>
                                      </p:cBhvr>
                                      <p:tavLst>
                                        <p:tav tm="0">
                                          <p:val>
                                            <p:strVal val="#ppt_h*0.3"/>
                                          </p:val>
                                        </p:tav>
                                        <p:tav tm="100000">
                                          <p:val>
                                            <p:strVal val="#ppt_h*1.08"/>
                                          </p:val>
                                        </p:tav>
                                      </p:tavLst>
                                    </p:anim>
                                    <p:animEffect transition="in" filter="fade">
                                      <p:cBhvr>
                                        <p:cTn id="99" dur="250"/>
                                        <p:tgtEl>
                                          <p:spTgt spid="122"/>
                                        </p:tgtEl>
                                      </p:cBhvr>
                                    </p:animEffect>
                                    <p:anim calcmode="lin" valueType="num">
                                      <p:cBhvr additive="base">
                                        <p:cTn id="100" dur="160" fill="hold">
                                          <p:stCondLst>
                                            <p:cond delay="500"/>
                                          </p:stCondLst>
                                        </p:cTn>
                                        <p:tgtEl>
                                          <p:spTgt spid="122"/>
                                        </p:tgtEl>
                                        <p:attrNameLst>
                                          <p:attrName>ppt_w</p:attrName>
                                        </p:attrNameLst>
                                      </p:cBhvr>
                                      <p:tavLst>
                                        <p:tav tm="0">
                                          <p:val>
                                            <p:strVal val="#ppt_w*1.08"/>
                                          </p:val>
                                        </p:tav>
                                        <p:tav tm="100000">
                                          <p:val>
                                            <p:strVal val="#ppt_w"/>
                                          </p:val>
                                        </p:tav>
                                      </p:tavLst>
                                    </p:anim>
                                    <p:anim calcmode="lin" valueType="num">
                                      <p:cBhvr additive="base">
                                        <p:cTn id="101" dur="160" fill="hold">
                                          <p:stCondLst>
                                            <p:cond delay="500"/>
                                          </p:stCondLst>
                                        </p:cTn>
                                        <p:tgtEl>
                                          <p:spTgt spid="122"/>
                                        </p:tgtEl>
                                        <p:attrNameLst>
                                          <p:attrName>ppt_h</p:attrName>
                                        </p:attrNameLst>
                                      </p:cBhvr>
                                      <p:tavLst>
                                        <p:tav tm="0">
                                          <p:val>
                                            <p:strVal val="#ppt_h*1.08"/>
                                          </p:val>
                                        </p:tav>
                                        <p:tav tm="100000">
                                          <p:val>
                                            <p:strVal val="#ppt_h"/>
                                          </p:val>
                                        </p:tav>
                                      </p:tavLst>
                                    </p:anim>
                                  </p:childTnLst>
                                </p:cTn>
                              </p:par>
                            </p:childTnLst>
                          </p:cTn>
                        </p:par>
                      </p:childTnLst>
                    </p:cTn>
                  </p:par>
                  <p:par>
                    <p:cTn id="102" fill="hold">
                      <p:stCondLst>
                        <p:cond delay="indefinite"/>
                        <p:cond evt="onBegin" delay="0">
                          <p:tn val="2"/>
                        </p:cond>
                      </p:stCondLst>
                      <p:childTnLst>
                        <p:par>
                          <p:cTn id="103" fill="hold">
                            <p:stCondLst>
                              <p:cond delay="0"/>
                            </p:stCondLst>
                            <p:childTnLst>
                              <p:par>
                                <p:cTn id="104" presetID="10" presetClass="entr" presetSubtype="0" fill="hold" grpId="0" nodeType="withEffect">
                                  <p:stCondLst>
                                    <p:cond delay="200"/>
                                  </p:stCondLst>
                                  <p:childTnLst>
                                    <p:set>
                                      <p:cBhvr>
                                        <p:cTn id="105" dur="1" fill="hold">
                                          <p:stCondLst>
                                            <p:cond delay="0"/>
                                          </p:stCondLst>
                                        </p:cTn>
                                        <p:tgtEl>
                                          <p:spTgt spid="123"/>
                                        </p:tgtEl>
                                        <p:attrNameLst>
                                          <p:attrName>style.visibility</p:attrName>
                                        </p:attrNameLst>
                                      </p:cBhvr>
                                      <p:to>
                                        <p:strVal val="visible"/>
                                      </p:to>
                                    </p:set>
                                    <p:animEffect transition="in" filter="fade">
                                      <p:cBhvr>
                                        <p:cTn id="106" dur="500"/>
                                        <p:tgtEl>
                                          <p:spTgt spid="123"/>
                                        </p:tgtEl>
                                      </p:cBhvr>
                                    </p:animEffect>
                                  </p:childTnLst>
                                </p:cTn>
                              </p:par>
                              <p:par>
                                <p:cTn id="107" presetID="10" presetClass="entr" presetSubtype="0" fill="hold" grpId="0" nodeType="withEffect">
                                  <p:stCondLst>
                                    <p:cond delay="310"/>
                                  </p:stCondLst>
                                  <p:childTnLst>
                                    <p:set>
                                      <p:cBhvr>
                                        <p:cTn id="108" dur="1" fill="hold">
                                          <p:stCondLst>
                                            <p:cond delay="0"/>
                                          </p:stCondLst>
                                        </p:cTn>
                                        <p:tgtEl>
                                          <p:spTgt spid="124"/>
                                        </p:tgtEl>
                                        <p:attrNameLst>
                                          <p:attrName>style.visibility</p:attrName>
                                        </p:attrNameLst>
                                      </p:cBhvr>
                                      <p:to>
                                        <p:strVal val="visible"/>
                                      </p:to>
                                    </p:set>
                                    <p:animEffect transition="in" filter="fade">
                                      <p:cBhvr>
                                        <p:cTn id="109" dur="500"/>
                                        <p:tgtEl>
                                          <p:spTgt spid="124"/>
                                        </p:tgtEl>
                                      </p:cBhvr>
                                    </p:animEffect>
                                  </p:childTnLst>
                                </p:cTn>
                              </p:par>
                            </p:childTnLst>
                          </p:cTn>
                        </p:par>
                      </p:childTnLst>
                    </p:cTn>
                  </p:par>
                  <p:par>
                    <p:cTn id="110" fill="hold">
                      <p:stCondLst>
                        <p:cond delay="indefinite"/>
                      </p:stCondLst>
                      <p:childTnLst>
                        <p:par>
                          <p:cTn id="111" fill="hold">
                            <p:stCondLst>
                              <p:cond delay="0"/>
                            </p:stCondLst>
                            <p:childTnLst>
                              <p:par>
                                <p:cTn id="112" presetID="42" presetClass="entr" presetSubtype="0" fill="hold" grpId="0" nodeType="clickEffect">
                                  <p:stCondLst>
                                    <p:cond delay="0"/>
                                  </p:stCondLst>
                                  <p:childTnLst>
                                    <p:set>
                                      <p:cBhvr>
                                        <p:cTn id="113" dur="1" fill="hold">
                                          <p:stCondLst>
                                            <p:cond delay="0"/>
                                          </p:stCondLst>
                                        </p:cTn>
                                        <p:tgtEl>
                                          <p:spTgt spid="125"/>
                                        </p:tgtEl>
                                        <p:attrNameLst>
                                          <p:attrName>style.visibility</p:attrName>
                                        </p:attrNameLst>
                                      </p:cBhvr>
                                      <p:to>
                                        <p:strVal val="visible"/>
                                      </p:to>
                                    </p:set>
                                    <p:animEffect transition="in" filter="fade">
                                      <p:cBhvr>
                                        <p:cTn id="114" dur="500"/>
                                        <p:tgtEl>
                                          <p:spTgt spid="125"/>
                                        </p:tgtEl>
                                      </p:cBhvr>
                                    </p:animEffect>
                                    <p:anim calcmode="lin" valueType="num">
                                      <p:cBhvr additive="base">
                                        <p:cTn id="115" dur="500" decel="100000" fill="hold"/>
                                        <p:tgtEl>
                                          <p:spTgt spid="125"/>
                                        </p:tgtEl>
                                        <p:attrNameLst>
                                          <p:attrName>ppt_x</p:attrName>
                                        </p:attrNameLst>
                                      </p:cBhvr>
                                      <p:tavLst>
                                        <p:tav tm="0">
                                          <p:val>
                                            <p:strVal val="#ppt_x-0.05"/>
                                          </p:val>
                                        </p:tav>
                                        <p:tav tm="100000">
                                          <p:val>
                                            <p:strVal val="#ppt_x"/>
                                          </p:val>
                                        </p:tav>
                                      </p:tavLst>
                                    </p:anim>
                                  </p:childTnLst>
                                </p:cTn>
                              </p:par>
                              <p:par>
                                <p:cTn id="116" presetID="42" presetClass="entr" presetSubtype="0" fill="hold" grpId="0" nodeType="withEffect">
                                  <p:stCondLst>
                                    <p:cond delay="0"/>
                                  </p:stCondLst>
                                  <p:childTnLst>
                                    <p:set>
                                      <p:cBhvr>
                                        <p:cTn id="117" dur="1" fill="hold">
                                          <p:stCondLst>
                                            <p:cond delay="0"/>
                                          </p:stCondLst>
                                        </p:cTn>
                                        <p:tgtEl>
                                          <p:spTgt spid="126"/>
                                        </p:tgtEl>
                                        <p:attrNameLst>
                                          <p:attrName>style.visibility</p:attrName>
                                        </p:attrNameLst>
                                      </p:cBhvr>
                                      <p:to>
                                        <p:strVal val="visible"/>
                                      </p:to>
                                    </p:set>
                                    <p:animEffect transition="in" filter="fade">
                                      <p:cBhvr>
                                        <p:cTn id="118" dur="500"/>
                                        <p:tgtEl>
                                          <p:spTgt spid="126"/>
                                        </p:tgtEl>
                                      </p:cBhvr>
                                    </p:animEffect>
                                    <p:anim calcmode="lin" valueType="num">
                                      <p:cBhvr additive="base">
                                        <p:cTn id="119" dur="500" decel="100000" fill="hold"/>
                                        <p:tgtEl>
                                          <p:spTgt spid="126"/>
                                        </p:tgtEl>
                                        <p:attrNameLst>
                                          <p:attrName>ppt_x</p:attrName>
                                        </p:attrNameLst>
                                      </p:cBhvr>
                                      <p:tavLst>
                                        <p:tav tm="0">
                                          <p:val>
                                            <p:strVal val="#ppt_x-0.05"/>
                                          </p:val>
                                        </p:tav>
                                        <p:tav tm="100000">
                                          <p:val>
                                            <p:strVal val="#ppt_x"/>
                                          </p:val>
                                        </p:tav>
                                      </p:tavLst>
                                    </p:anim>
                                  </p:childTnLst>
                                </p:cTn>
                              </p:par>
                            </p:childTnLst>
                          </p:cTn>
                        </p:par>
                      </p:childTnLst>
                    </p:cTn>
                  </p:par>
                  <p:par>
                    <p:cTn id="120" fill="hold">
                      <p:stCondLst>
                        <p:cond delay="indefinite"/>
                      </p:stCondLst>
                      <p:childTnLst>
                        <p:par>
                          <p:cTn id="121" fill="hold">
                            <p:stCondLst>
                              <p:cond delay="0"/>
                            </p:stCondLst>
                            <p:childTnLst>
                              <p:par>
                                <p:cTn id="122" presetID="42" presetClass="entr" presetSubtype="0" fill="hold" grpId="0" nodeType="clickEffect">
                                  <p:stCondLst>
                                    <p:cond delay="0"/>
                                  </p:stCondLst>
                                  <p:childTnLst>
                                    <p:set>
                                      <p:cBhvr>
                                        <p:cTn id="123" dur="1" fill="hold">
                                          <p:stCondLst>
                                            <p:cond delay="0"/>
                                          </p:stCondLst>
                                        </p:cTn>
                                        <p:tgtEl>
                                          <p:spTgt spid="127"/>
                                        </p:tgtEl>
                                        <p:attrNameLst>
                                          <p:attrName>style.visibility</p:attrName>
                                        </p:attrNameLst>
                                      </p:cBhvr>
                                      <p:to>
                                        <p:strVal val="visible"/>
                                      </p:to>
                                    </p:set>
                                    <p:animEffect transition="in" filter="fade">
                                      <p:cBhvr>
                                        <p:cTn id="124" dur="500"/>
                                        <p:tgtEl>
                                          <p:spTgt spid="127"/>
                                        </p:tgtEl>
                                      </p:cBhvr>
                                    </p:animEffect>
                                    <p:anim calcmode="lin" valueType="num">
                                      <p:cBhvr additive="base">
                                        <p:cTn id="125" dur="500" decel="100000" fill="hold"/>
                                        <p:tgtEl>
                                          <p:spTgt spid="127"/>
                                        </p:tgtEl>
                                        <p:attrNameLst>
                                          <p:attrName>ppt_x</p:attrName>
                                        </p:attrNameLst>
                                      </p:cBhvr>
                                      <p:tavLst>
                                        <p:tav tm="0">
                                          <p:val>
                                            <p:strVal val="#ppt_x-0.05"/>
                                          </p:val>
                                        </p:tav>
                                        <p:tav tm="100000">
                                          <p:val>
                                            <p:strVal val="#ppt_x"/>
                                          </p:val>
                                        </p:tav>
                                      </p:tavLst>
                                    </p:anim>
                                  </p:childTnLst>
                                </p:cTn>
                              </p:par>
                              <p:par>
                                <p:cTn id="126" presetID="42" presetClass="entr" presetSubtype="0" fill="hold" grpId="0" nodeType="withEffect">
                                  <p:stCondLst>
                                    <p:cond delay="0"/>
                                  </p:stCondLst>
                                  <p:childTnLst>
                                    <p:set>
                                      <p:cBhvr>
                                        <p:cTn id="127" dur="1" fill="hold">
                                          <p:stCondLst>
                                            <p:cond delay="0"/>
                                          </p:stCondLst>
                                        </p:cTn>
                                        <p:tgtEl>
                                          <p:spTgt spid="128"/>
                                        </p:tgtEl>
                                        <p:attrNameLst>
                                          <p:attrName>style.visibility</p:attrName>
                                        </p:attrNameLst>
                                      </p:cBhvr>
                                      <p:to>
                                        <p:strVal val="visible"/>
                                      </p:to>
                                    </p:set>
                                    <p:animEffect transition="in" filter="fade">
                                      <p:cBhvr>
                                        <p:cTn id="128" dur="500"/>
                                        <p:tgtEl>
                                          <p:spTgt spid="128"/>
                                        </p:tgtEl>
                                      </p:cBhvr>
                                    </p:animEffect>
                                    <p:anim calcmode="lin" valueType="num">
                                      <p:cBhvr additive="base">
                                        <p:cTn id="129" dur="500" decel="100000" fill="hold"/>
                                        <p:tgtEl>
                                          <p:spTgt spid="128"/>
                                        </p:tgtEl>
                                        <p:attrNameLst>
                                          <p:attrName>ppt_x</p:attrName>
                                        </p:attrNameLst>
                                      </p:cBhvr>
                                      <p:tavLst>
                                        <p:tav tm="0">
                                          <p:val>
                                            <p:strVal val="#ppt_x-0.05"/>
                                          </p:val>
                                        </p:tav>
                                        <p:tav tm="100000">
                                          <p:val>
                                            <p:strVal val="#ppt_x"/>
                                          </p:val>
                                        </p:tav>
                                      </p:tavLst>
                                    </p:anim>
                                  </p:childTnLst>
                                </p:cTn>
                              </p:par>
                            </p:childTnLst>
                          </p:cTn>
                        </p:par>
                      </p:childTnLst>
                    </p:cTn>
                  </p:par>
                  <p:par>
                    <p:cTn id="130" fill="hold">
                      <p:stCondLst>
                        <p:cond delay="indefinite"/>
                      </p:stCondLst>
                      <p:childTnLst>
                        <p:par>
                          <p:cTn id="131" fill="hold">
                            <p:stCondLst>
                              <p:cond delay="0"/>
                            </p:stCondLst>
                            <p:childTnLst>
                              <p:par>
                                <p:cTn id="132" presetID="42" presetClass="entr" presetSubtype="0" fill="hold" grpId="0" nodeType="clickEffect">
                                  <p:stCondLst>
                                    <p:cond delay="0"/>
                                  </p:stCondLst>
                                  <p:childTnLst>
                                    <p:set>
                                      <p:cBhvr>
                                        <p:cTn id="133" dur="1" fill="hold">
                                          <p:stCondLst>
                                            <p:cond delay="0"/>
                                          </p:stCondLst>
                                        </p:cTn>
                                        <p:tgtEl>
                                          <p:spTgt spid="129"/>
                                        </p:tgtEl>
                                        <p:attrNameLst>
                                          <p:attrName>style.visibility</p:attrName>
                                        </p:attrNameLst>
                                      </p:cBhvr>
                                      <p:to>
                                        <p:strVal val="visible"/>
                                      </p:to>
                                    </p:set>
                                    <p:animEffect transition="in" filter="fade">
                                      <p:cBhvr>
                                        <p:cTn id="134" dur="500"/>
                                        <p:tgtEl>
                                          <p:spTgt spid="129"/>
                                        </p:tgtEl>
                                      </p:cBhvr>
                                    </p:animEffect>
                                    <p:anim calcmode="lin" valueType="num">
                                      <p:cBhvr additive="base">
                                        <p:cTn id="135" dur="500" decel="100000" fill="hold"/>
                                        <p:tgtEl>
                                          <p:spTgt spid="129"/>
                                        </p:tgtEl>
                                        <p:attrNameLst>
                                          <p:attrName>ppt_x</p:attrName>
                                        </p:attrNameLst>
                                      </p:cBhvr>
                                      <p:tavLst>
                                        <p:tav tm="0">
                                          <p:val>
                                            <p:strVal val="#ppt_x-0.05"/>
                                          </p:val>
                                        </p:tav>
                                        <p:tav tm="100000">
                                          <p:val>
                                            <p:strVal val="#ppt_x"/>
                                          </p:val>
                                        </p:tav>
                                      </p:tavLst>
                                    </p:anim>
                                  </p:childTnLst>
                                </p:cTn>
                              </p:par>
                              <p:par>
                                <p:cTn id="136" presetID="42" presetClass="entr" presetSubtype="0" fill="hold" grpId="0" nodeType="withEffect">
                                  <p:stCondLst>
                                    <p:cond delay="0"/>
                                  </p:stCondLst>
                                  <p:childTnLst>
                                    <p:set>
                                      <p:cBhvr>
                                        <p:cTn id="137" dur="1" fill="hold">
                                          <p:stCondLst>
                                            <p:cond delay="0"/>
                                          </p:stCondLst>
                                        </p:cTn>
                                        <p:tgtEl>
                                          <p:spTgt spid="130"/>
                                        </p:tgtEl>
                                        <p:attrNameLst>
                                          <p:attrName>style.visibility</p:attrName>
                                        </p:attrNameLst>
                                      </p:cBhvr>
                                      <p:to>
                                        <p:strVal val="visible"/>
                                      </p:to>
                                    </p:set>
                                    <p:animEffect transition="in" filter="fade">
                                      <p:cBhvr>
                                        <p:cTn id="138" dur="500"/>
                                        <p:tgtEl>
                                          <p:spTgt spid="130"/>
                                        </p:tgtEl>
                                      </p:cBhvr>
                                    </p:animEffect>
                                    <p:anim calcmode="lin" valueType="num">
                                      <p:cBhvr additive="base">
                                        <p:cTn id="139"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par>
                    <p:cTn id="140" fill="hold">
                      <p:stCondLst>
                        <p:cond delay="indefinite"/>
                      </p:stCondLst>
                      <p:childTnLst>
                        <p:par>
                          <p:cTn id="141" fill="hold">
                            <p:stCondLst>
                              <p:cond delay="0"/>
                            </p:stCondLst>
                            <p:childTnLst>
                              <p:par>
                                <p:cTn id="142" presetID="42" presetClass="entr" presetSubtype="0" fill="hold" grpId="0" nodeType="clickEffect">
                                  <p:stCondLst>
                                    <p:cond delay="0"/>
                                  </p:stCondLst>
                                  <p:childTnLst>
                                    <p:set>
                                      <p:cBhvr>
                                        <p:cTn id="143" dur="1" fill="hold">
                                          <p:stCondLst>
                                            <p:cond delay="0"/>
                                          </p:stCondLst>
                                        </p:cTn>
                                        <p:tgtEl>
                                          <p:spTgt spid="131"/>
                                        </p:tgtEl>
                                        <p:attrNameLst>
                                          <p:attrName>style.visibility</p:attrName>
                                        </p:attrNameLst>
                                      </p:cBhvr>
                                      <p:to>
                                        <p:strVal val="visible"/>
                                      </p:to>
                                    </p:set>
                                    <p:animEffect transition="in" filter="fade">
                                      <p:cBhvr>
                                        <p:cTn id="144" dur="500"/>
                                        <p:tgtEl>
                                          <p:spTgt spid="131"/>
                                        </p:tgtEl>
                                      </p:cBhvr>
                                    </p:animEffect>
                                    <p:anim calcmode="lin" valueType="num">
                                      <p:cBhvr additive="base">
                                        <p:cTn id="145" dur="500" decel="100000" fill="hold"/>
                                        <p:tgtEl>
                                          <p:spTgt spid="131"/>
                                        </p:tgtEl>
                                        <p:attrNameLst>
                                          <p:attrName>ppt_x</p:attrName>
                                        </p:attrNameLst>
                                      </p:cBhvr>
                                      <p:tavLst>
                                        <p:tav tm="0">
                                          <p:val>
                                            <p:strVal val="#ppt_x-0.05"/>
                                          </p:val>
                                        </p:tav>
                                        <p:tav tm="100000">
                                          <p:val>
                                            <p:strVal val="#ppt_x"/>
                                          </p:val>
                                        </p:tav>
                                      </p:tavLst>
                                    </p:anim>
                                  </p:childTnLst>
                                </p:cTn>
                              </p:par>
                              <p:par>
                                <p:cTn id="146" presetID="42" presetClass="entr" presetSubtype="0" fill="hold" grpId="0" nodeType="withEffect">
                                  <p:stCondLst>
                                    <p:cond delay="0"/>
                                  </p:stCondLst>
                                  <p:childTnLst>
                                    <p:set>
                                      <p:cBhvr>
                                        <p:cTn id="147" dur="1" fill="hold">
                                          <p:stCondLst>
                                            <p:cond delay="0"/>
                                          </p:stCondLst>
                                        </p:cTn>
                                        <p:tgtEl>
                                          <p:spTgt spid="132"/>
                                        </p:tgtEl>
                                        <p:attrNameLst>
                                          <p:attrName>style.visibility</p:attrName>
                                        </p:attrNameLst>
                                      </p:cBhvr>
                                      <p:to>
                                        <p:strVal val="visible"/>
                                      </p:to>
                                    </p:set>
                                    <p:animEffect transition="in" filter="fade">
                                      <p:cBhvr>
                                        <p:cTn id="148" dur="500"/>
                                        <p:tgtEl>
                                          <p:spTgt spid="132"/>
                                        </p:tgtEl>
                                      </p:cBhvr>
                                    </p:animEffect>
                                    <p:anim calcmode="lin" valueType="num">
                                      <p:cBhvr additive="base">
                                        <p:cTn id="149" dur="500" decel="100000" fill="hold"/>
                                        <p:tgtEl>
                                          <p:spTgt spid="132"/>
                                        </p:tgtEl>
                                        <p:attrNameLst>
                                          <p:attrName>ppt_x</p:attrName>
                                        </p:attrNameLst>
                                      </p:cBhvr>
                                      <p:tavLst>
                                        <p:tav tm="0">
                                          <p:val>
                                            <p:strVal val="#ppt_x-0.05"/>
                                          </p:val>
                                        </p:tav>
                                        <p:tav tm="100000">
                                          <p:val>
                                            <p:strVal val="#ppt_x"/>
                                          </p:val>
                                        </p:tav>
                                      </p:tavLst>
                                    </p:anim>
                                  </p:childTnLst>
                                </p:cTn>
                              </p:par>
                            </p:childTnLst>
                          </p:cTn>
                        </p:par>
                      </p:childTnLst>
                    </p:cTn>
                  </p:par>
                  <p:par>
                    <p:cTn id="150" fill="hold">
                      <p:stCondLst>
                        <p:cond delay="indefinite"/>
                      </p:stCondLst>
                      <p:childTnLst>
                        <p:par>
                          <p:cTn id="151" fill="hold">
                            <p:stCondLst>
                              <p:cond delay="0"/>
                            </p:stCondLst>
                            <p:childTnLst>
                              <p:par>
                                <p:cTn id="152" presetID="42" presetClass="entr" presetSubtype="0" fill="hold" grpId="0" nodeType="clickEffect">
                                  <p:stCondLst>
                                    <p:cond delay="0"/>
                                  </p:stCondLst>
                                  <p:childTnLst>
                                    <p:set>
                                      <p:cBhvr>
                                        <p:cTn id="153" dur="1" fill="hold">
                                          <p:stCondLst>
                                            <p:cond delay="0"/>
                                          </p:stCondLst>
                                        </p:cTn>
                                        <p:tgtEl>
                                          <p:spTgt spid="133"/>
                                        </p:tgtEl>
                                        <p:attrNameLst>
                                          <p:attrName>style.visibility</p:attrName>
                                        </p:attrNameLst>
                                      </p:cBhvr>
                                      <p:to>
                                        <p:strVal val="visible"/>
                                      </p:to>
                                    </p:set>
                                    <p:animEffect transition="in" filter="fade">
                                      <p:cBhvr>
                                        <p:cTn id="154" dur="500"/>
                                        <p:tgtEl>
                                          <p:spTgt spid="133"/>
                                        </p:tgtEl>
                                      </p:cBhvr>
                                    </p:animEffect>
                                    <p:anim calcmode="lin" valueType="num">
                                      <p:cBhvr additive="base">
                                        <p:cTn id="155" dur="500" decel="100000" fill="hold"/>
                                        <p:tgtEl>
                                          <p:spTgt spid="133"/>
                                        </p:tgtEl>
                                        <p:attrNameLst>
                                          <p:attrName>ppt_x</p:attrName>
                                        </p:attrNameLst>
                                      </p:cBhvr>
                                      <p:tavLst>
                                        <p:tav tm="0">
                                          <p:val>
                                            <p:strVal val="#ppt_x-0.05"/>
                                          </p:val>
                                        </p:tav>
                                        <p:tav tm="100000">
                                          <p:val>
                                            <p:strVal val="#ppt_x"/>
                                          </p:val>
                                        </p:tav>
                                      </p:tavLst>
                                    </p:anim>
                                  </p:childTnLst>
                                </p:cTn>
                              </p:par>
                              <p:par>
                                <p:cTn id="156" presetID="42" presetClass="entr" presetSubtype="0" fill="hold" grpId="0" nodeType="withEffect">
                                  <p:stCondLst>
                                    <p:cond delay="0"/>
                                  </p:stCondLst>
                                  <p:childTnLst>
                                    <p:set>
                                      <p:cBhvr>
                                        <p:cTn id="157" dur="1" fill="hold">
                                          <p:stCondLst>
                                            <p:cond delay="0"/>
                                          </p:stCondLst>
                                        </p:cTn>
                                        <p:tgtEl>
                                          <p:spTgt spid="134"/>
                                        </p:tgtEl>
                                        <p:attrNameLst>
                                          <p:attrName>style.visibility</p:attrName>
                                        </p:attrNameLst>
                                      </p:cBhvr>
                                      <p:to>
                                        <p:strVal val="visible"/>
                                      </p:to>
                                    </p:set>
                                    <p:animEffect transition="in" filter="fade">
                                      <p:cBhvr>
                                        <p:cTn id="158" dur="500"/>
                                        <p:tgtEl>
                                          <p:spTgt spid="134"/>
                                        </p:tgtEl>
                                      </p:cBhvr>
                                    </p:animEffect>
                                    <p:anim calcmode="lin" valueType="num">
                                      <p:cBhvr additive="base">
                                        <p:cTn id="159" dur="500" decel="100000" fill="hold"/>
                                        <p:tgtEl>
                                          <p:spTgt spid="134"/>
                                        </p:tgtEl>
                                        <p:attrNameLst>
                                          <p:attrName>ppt_x</p:attrName>
                                        </p:attrNameLst>
                                      </p:cBhvr>
                                      <p:tavLst>
                                        <p:tav tm="0">
                                          <p:val>
                                            <p:strVal val="#ppt_x-0.05"/>
                                          </p:val>
                                        </p:tav>
                                        <p:tav tm="100000">
                                          <p:val>
                                            <p:strVal val="#ppt_x"/>
                                          </p:val>
                                        </p:tav>
                                      </p:tavLst>
                                    </p:anim>
                                  </p:childTnLst>
                                </p:cTn>
                              </p:par>
                            </p:childTnLst>
                          </p:cTn>
                        </p:par>
                      </p:childTnLst>
                    </p:cTn>
                  </p:par>
                  <p:par>
                    <p:cTn id="160" fill="hold">
                      <p:stCondLst>
                        <p:cond delay="indefinite"/>
                      </p:stCondLst>
                      <p:childTnLst>
                        <p:par>
                          <p:cTn id="161" fill="hold">
                            <p:stCondLst>
                              <p:cond delay="0"/>
                            </p:stCondLst>
                            <p:childTnLst>
                              <p:par>
                                <p:cTn id="162" presetID="53" presetClass="entr" presetSubtype="16" fill="hold" grpId="0" nodeType="clickEffect">
                                  <p:stCondLst>
                                    <p:cond delay="0"/>
                                  </p:stCondLst>
                                  <p:childTnLst>
                                    <p:set>
                                      <p:cBhvr>
                                        <p:cTn id="163" dur="1" fill="hold">
                                          <p:stCondLst>
                                            <p:cond delay="0"/>
                                          </p:stCondLst>
                                        </p:cTn>
                                        <p:tgtEl>
                                          <p:spTgt spid="135"/>
                                        </p:tgtEl>
                                        <p:attrNameLst>
                                          <p:attrName>style.visibility</p:attrName>
                                        </p:attrNameLst>
                                      </p:cBhvr>
                                      <p:to>
                                        <p:strVal val="visible"/>
                                      </p:to>
                                    </p:set>
                                    <p:anim calcmode="lin" valueType="num">
                                      <p:cBhvr additive="base">
                                        <p:cTn id="164" dur="500" decel="100000" fill="hold"/>
                                        <p:tgtEl>
                                          <p:spTgt spid="135"/>
                                        </p:tgtEl>
                                        <p:attrNameLst>
                                          <p:attrName>ppt_w</p:attrName>
                                        </p:attrNameLst>
                                      </p:cBhvr>
                                      <p:tavLst>
                                        <p:tav tm="0">
                                          <p:val>
                                            <p:strVal val="#ppt_w*0.3"/>
                                          </p:val>
                                        </p:tav>
                                        <p:tav tm="100000">
                                          <p:val>
                                            <p:strVal val="#ppt_w*1.08"/>
                                          </p:val>
                                        </p:tav>
                                      </p:tavLst>
                                    </p:anim>
                                    <p:anim calcmode="lin" valueType="num">
                                      <p:cBhvr additive="base">
                                        <p:cTn id="165" dur="500" decel="100000" fill="hold"/>
                                        <p:tgtEl>
                                          <p:spTgt spid="135"/>
                                        </p:tgtEl>
                                        <p:attrNameLst>
                                          <p:attrName>ppt_h</p:attrName>
                                        </p:attrNameLst>
                                      </p:cBhvr>
                                      <p:tavLst>
                                        <p:tav tm="0">
                                          <p:val>
                                            <p:strVal val="#ppt_h*0.3"/>
                                          </p:val>
                                        </p:tav>
                                        <p:tav tm="100000">
                                          <p:val>
                                            <p:strVal val="#ppt_h*1.08"/>
                                          </p:val>
                                        </p:tav>
                                      </p:tavLst>
                                    </p:anim>
                                    <p:animEffect transition="in" filter="fade">
                                      <p:cBhvr>
                                        <p:cTn id="166" dur="250"/>
                                        <p:tgtEl>
                                          <p:spTgt spid="135"/>
                                        </p:tgtEl>
                                      </p:cBhvr>
                                    </p:animEffect>
                                    <p:anim calcmode="lin" valueType="num">
                                      <p:cBhvr additive="base">
                                        <p:cTn id="167" dur="160" fill="hold">
                                          <p:stCondLst>
                                            <p:cond delay="500"/>
                                          </p:stCondLst>
                                        </p:cTn>
                                        <p:tgtEl>
                                          <p:spTgt spid="135"/>
                                        </p:tgtEl>
                                        <p:attrNameLst>
                                          <p:attrName>ppt_w</p:attrName>
                                        </p:attrNameLst>
                                      </p:cBhvr>
                                      <p:tavLst>
                                        <p:tav tm="0">
                                          <p:val>
                                            <p:strVal val="#ppt_w*1.08"/>
                                          </p:val>
                                        </p:tav>
                                        <p:tav tm="100000">
                                          <p:val>
                                            <p:strVal val="#ppt_w"/>
                                          </p:val>
                                        </p:tav>
                                      </p:tavLst>
                                    </p:anim>
                                    <p:anim calcmode="lin" valueType="num">
                                      <p:cBhvr additive="base">
                                        <p:cTn id="168" dur="160" fill="hold">
                                          <p:stCondLst>
                                            <p:cond delay="500"/>
                                          </p:stCondLst>
                                        </p:cTn>
                                        <p:tgtEl>
                                          <p:spTgt spid="135"/>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10" grpId="0" animBg="1"/>
      <p:bldP spid="111" grpId="0" animBg="1"/>
      <p:bldP spid="112" grpId="0" animBg="1"/>
      <p:bldP spid="113" grpId="0" animBg="1"/>
      <p:bldP spid="114" grpId="0" animBg="1"/>
      <p:bldP spid="115"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IN A COMPANY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Your New Company Uses Moq. Now What?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The same test in three libraries. The idea is identical; only the syntax changes.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TEST DOUBLES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172</a:t>
            </a:r>
            <a:endParaRPr lang="en-US" sz="850" dirty="0"/>
          </a:p>
        </p:txBody>
      </p:sp>
      <p:sp>
        <p:nvSpPr>
          <p:cNvPr id="101" name="s101"/>
          <p:cNvSpPr txBox="1"/>
          <p:nvPr/>
        </p:nvSpPr>
        <p:spPr>
          <a:xfrm>
            <a:off x="543154" y="1783080"/>
            <a:ext cx="3543605" cy="320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34D399"/>
                </a:solidFill>
                <a:latin typeface="Segoe UI"/>
                <a:ea typeface="Segoe UI"/>
                <a:cs typeface="Segoe UI"/>
              </a:rPr>
              <a:t>NSubstitute</a:t>
            </a:r>
            <a:endParaRPr lang="en-US" sz="1500" dirty="0"/>
          </a:p>
        </p:txBody>
      </p:sp>
      <p:sp>
        <p:nvSpPr>
          <p:cNvPr id="102" name="s102"/>
          <p:cNvSpPr/>
          <p:nvPr/>
        </p:nvSpPr>
        <p:spPr>
          <a:xfrm>
            <a:off x="543154" y="2148840"/>
            <a:ext cx="3543605" cy="25146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9514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9514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9514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22199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TransferServiceTests.cs</a:t>
            </a:r>
            <a:endParaRPr lang="en-US" sz="950" dirty="0"/>
          </a:p>
        </p:txBody>
      </p:sp>
      <p:cxnSp>
        <p:nvCxnSpPr>
          <p:cNvPr id="107" name="ln107"/>
          <p:cNvCxnSpPr/>
          <p:nvPr/>
        </p:nvCxnSpPr>
        <p:spPr>
          <a:xfrm>
            <a:off x="543154" y="2560320"/>
            <a:ext cx="3543605" cy="0"/>
          </a:xfrm>
          <a:prstGeom prst="line">
            <a:avLst/>
          </a:prstGeom>
          <a:ln w="9525">
            <a:solidFill>
              <a:srgbClr val="1E3A5F"/>
            </a:solidFill>
          </a:ln>
        </p:spPr>
      </p:cxnSp>
      <p:sp>
        <p:nvSpPr>
          <p:cNvPr id="108" name="s108"/>
          <p:cNvSpPr/>
          <p:nvPr/>
        </p:nvSpPr>
        <p:spPr>
          <a:xfrm>
            <a:off x="543154" y="26791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var</a:t>
            </a:r>
            <a:r>
              <a:rPr lang="en-US" sz="1000" b="0" dirty="0">
                <a:solidFill>
                  <a:srgbClr val="E2E8F0"/>
                </a:solidFill>
                <a:latin typeface="Consolas"/>
                <a:ea typeface="Consolas"/>
                <a:cs typeface="Consolas"/>
              </a:rPr>
              <a:t> email = </a:t>
            </a:r>
            <a:r>
              <a:rPr lang="en-US" sz="1000" b="0" dirty="0">
                <a:solidFill>
                  <a:srgbClr val="7DD3FC"/>
                </a:solidFill>
                <a:latin typeface="Consolas"/>
                <a:ea typeface="Consolas"/>
                <a:cs typeface="Consolas"/>
              </a:rPr>
              <a:t>Substitute</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For</a:t>
            </a:r>
            <a:r>
              <a:rPr lang="en-US" sz="1000" b="0" dirty="0">
                <a:solidFill>
                  <a:srgbClr val="E2E8F0"/>
                </a:solidFill>
                <a:latin typeface="Consolas"/>
                <a:ea typeface="Consolas"/>
                <a:cs typeface="Consolas"/>
              </a:rPr>
              <a:t>&lt;</a:t>
            </a:r>
            <a:r>
              <a:rPr lang="en-US" sz="1000" b="0" dirty="0">
                <a:solidFill>
                  <a:srgbClr val="7DD3FC"/>
                </a:solidFill>
                <a:latin typeface="Consolas"/>
                <a:ea typeface="Consolas"/>
                <a:cs typeface="Consolas"/>
              </a:rPr>
              <a:t>IEmailSender</a:t>
            </a:r>
            <a:r>
              <a:rPr lang="en-US" sz="1000" b="0" dirty="0">
                <a:solidFill>
                  <a:srgbClr val="E2E8F0"/>
                </a:solidFill>
                <a:latin typeface="Consolas"/>
                <a:ea typeface="Consolas"/>
                <a:cs typeface="Consolas"/>
              </a:rPr>
              <a:t>&gt;();</a:t>
            </a:r>
            <a:endParaRPr lang="en-US" sz="1000" dirty="0"/>
          </a:p>
        </p:txBody>
      </p:sp>
      <p:sp>
        <p:nvSpPr>
          <p:cNvPr id="109" name="s109"/>
          <p:cNvSpPr/>
          <p:nvPr/>
        </p:nvSpPr>
        <p:spPr>
          <a:xfrm>
            <a:off x="543154" y="28315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var</a:t>
            </a:r>
            <a:r>
              <a:rPr lang="en-US" sz="1000" b="0" dirty="0">
                <a:solidFill>
                  <a:srgbClr val="E2E8F0"/>
                </a:solidFill>
                <a:latin typeface="Consolas"/>
                <a:ea typeface="Consolas"/>
                <a:cs typeface="Consolas"/>
              </a:rPr>
              <a:t> service = </a:t>
            </a:r>
            <a:r>
              <a:rPr lang="en-US" sz="1000" b="0" dirty="0">
                <a:solidFill>
                  <a:srgbClr val="60A5FA"/>
                </a:solidFill>
                <a:latin typeface="Consolas"/>
                <a:ea typeface="Consolas"/>
                <a:cs typeface="Consolas"/>
              </a:rPr>
              <a:t>new</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TransferService</a:t>
            </a:r>
            <a:r>
              <a:rPr lang="en-US" sz="1000" b="0" dirty="0">
                <a:solidFill>
                  <a:srgbClr val="E2E8F0"/>
                </a:solidFill>
                <a:latin typeface="Consolas"/>
                <a:ea typeface="Consolas"/>
                <a:cs typeface="Consolas"/>
              </a:rPr>
              <a:t>(accounts,</a:t>
            </a:r>
            <a:endParaRPr lang="en-US" sz="1000" dirty="0"/>
          </a:p>
        </p:txBody>
      </p:sp>
      <p:sp>
        <p:nvSpPr>
          <p:cNvPr id="110" name="s110"/>
          <p:cNvSpPr/>
          <p:nvPr/>
        </p:nvSpPr>
        <p:spPr>
          <a:xfrm>
            <a:off x="543154" y="29839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email, </a:t>
            </a:r>
            <a:r>
              <a:rPr lang="en-US" sz="1000" b="0" dirty="0">
                <a:solidFill>
                  <a:srgbClr val="7DD3FC"/>
                </a:solidFill>
                <a:latin typeface="Consolas"/>
                <a:ea typeface="Consolas"/>
                <a:cs typeface="Consolas"/>
              </a:rPr>
              <a:t>Substitute</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For</a:t>
            </a:r>
            <a:r>
              <a:rPr lang="en-US" sz="1000" b="0" dirty="0">
                <a:solidFill>
                  <a:srgbClr val="E2E8F0"/>
                </a:solidFill>
                <a:latin typeface="Consolas"/>
                <a:ea typeface="Consolas"/>
                <a:cs typeface="Consolas"/>
              </a:rPr>
              <a:t>&lt;</a:t>
            </a:r>
            <a:r>
              <a:rPr lang="en-US" sz="1000" b="0" dirty="0">
                <a:solidFill>
                  <a:srgbClr val="7DD3FC"/>
                </a:solidFill>
                <a:latin typeface="Consolas"/>
                <a:ea typeface="Consolas"/>
                <a:cs typeface="Consolas"/>
              </a:rPr>
              <a:t>ILogger</a:t>
            </a:r>
            <a:r>
              <a:rPr lang="en-US" sz="1000" b="0" dirty="0">
                <a:solidFill>
                  <a:srgbClr val="E2E8F0"/>
                </a:solidFill>
                <a:latin typeface="Consolas"/>
                <a:ea typeface="Consolas"/>
                <a:cs typeface="Consolas"/>
              </a:rPr>
              <a:t>&gt;());</a:t>
            </a:r>
            <a:endParaRPr lang="en-US" sz="1000" dirty="0"/>
          </a:p>
        </p:txBody>
      </p:sp>
      <p:sp>
        <p:nvSpPr>
          <p:cNvPr id="111" name="s111"/>
          <p:cNvSpPr/>
          <p:nvPr/>
        </p:nvSpPr>
        <p:spPr>
          <a:xfrm>
            <a:off x="543154" y="31363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service.</a:t>
            </a:r>
            <a:r>
              <a:rPr lang="en-US" sz="1000" b="0" dirty="0">
                <a:solidFill>
                  <a:srgbClr val="7DD3FC"/>
                </a:solidFill>
                <a:latin typeface="Consolas"/>
                <a:ea typeface="Consolas"/>
                <a:cs typeface="Consolas"/>
              </a:rPr>
              <a:t>Transfer</a:t>
            </a:r>
            <a:r>
              <a:rPr lang="en-US" sz="1000" b="0" dirty="0">
                <a:solidFill>
                  <a:srgbClr val="E2E8F0"/>
                </a:solidFill>
                <a:latin typeface="Consolas"/>
                <a:ea typeface="Consolas"/>
                <a:cs typeface="Consolas"/>
              </a:rPr>
              <a:t>(mona, ali, </a:t>
            </a:r>
            <a:r>
              <a:rPr lang="en-US" sz="1000" b="0" dirty="0">
                <a:solidFill>
                  <a:srgbClr val="C4B5FD"/>
                </a:solidFill>
                <a:latin typeface="Consolas"/>
                <a:ea typeface="Consolas"/>
                <a:cs typeface="Consolas"/>
              </a:rPr>
              <a:t>100m</a:t>
            </a:r>
            <a:r>
              <a:rPr lang="en-US" sz="1000" b="0" dirty="0">
                <a:solidFill>
                  <a:srgbClr val="E2E8F0"/>
                </a:solidFill>
                <a:latin typeface="Consolas"/>
                <a:ea typeface="Consolas"/>
                <a:cs typeface="Consolas"/>
              </a:rPr>
              <a:t>);</a:t>
            </a:r>
            <a:endParaRPr lang="en-US" sz="1000" dirty="0"/>
          </a:p>
        </p:txBody>
      </p:sp>
      <p:sp>
        <p:nvSpPr>
          <p:cNvPr id="112" name="s112"/>
          <p:cNvSpPr/>
          <p:nvPr/>
        </p:nvSpPr>
        <p:spPr>
          <a:xfrm>
            <a:off x="543154" y="32887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email.</a:t>
            </a:r>
            <a:r>
              <a:rPr lang="en-US" sz="1000" b="0" dirty="0">
                <a:solidFill>
                  <a:srgbClr val="7DD3FC"/>
                </a:solidFill>
                <a:latin typeface="Consolas"/>
                <a:ea typeface="Consolas"/>
                <a:cs typeface="Consolas"/>
              </a:rPr>
              <a:t>Received</a:t>
            </a:r>
            <a:r>
              <a:rPr lang="en-US" sz="1000" b="0" dirty="0">
                <a:solidFill>
                  <a:srgbClr val="E2E8F0"/>
                </a:solidFill>
                <a:latin typeface="Consolas"/>
                <a:ea typeface="Consolas"/>
                <a:cs typeface="Consolas"/>
              </a:rPr>
              <a:t>(</a:t>
            </a:r>
            <a:r>
              <a:rPr lang="en-US" sz="1000" b="0" dirty="0">
                <a:solidFill>
                  <a:srgbClr val="C4B5FD"/>
                </a:solidFill>
                <a:latin typeface="Consolas"/>
                <a:ea typeface="Consolas"/>
                <a:cs typeface="Consolas"/>
              </a:rPr>
              <a:t>1</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Send</a:t>
            </a:r>
            <a:r>
              <a:rPr lang="en-US" sz="1000" b="0" dirty="0">
                <a:solidFill>
                  <a:srgbClr val="E2E8F0"/>
                </a:solidFill>
                <a:latin typeface="Consolas"/>
                <a:ea typeface="Consolas"/>
                <a:cs typeface="Consolas"/>
              </a:rPr>
              <a:t>(mona,</a:t>
            </a:r>
            <a:endParaRPr lang="en-US" sz="1000" dirty="0"/>
          </a:p>
        </p:txBody>
      </p:sp>
      <p:sp>
        <p:nvSpPr>
          <p:cNvPr id="113" name="s113"/>
          <p:cNvSpPr/>
          <p:nvPr/>
        </p:nvSpPr>
        <p:spPr>
          <a:xfrm>
            <a:off x="543154" y="34411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F0A98B"/>
                </a:solidFill>
                <a:latin typeface="Consolas"/>
                <a:ea typeface="Consolas"/>
                <a:cs typeface="Consolas"/>
              </a:rPr>
              <a:t>"Transfer done"</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Arg</a:t>
            </a:r>
            <a:r>
              <a:rPr lang="en-US" sz="1000" b="0" dirty="0">
                <a:solidFill>
                  <a:srgbClr val="E2E8F0"/>
                </a:solidFill>
                <a:latin typeface="Consolas"/>
                <a:ea typeface="Consolas"/>
                <a:cs typeface="Consolas"/>
              </a:rPr>
              <a:t>.</a:t>
            </a:r>
            <a:r>
              <a:rPr lang="en-US" sz="1000" b="0" dirty="0">
                <a:solidFill>
                  <a:srgbClr val="7DD3FC"/>
                </a:solidFill>
                <a:latin typeface="Consolas"/>
                <a:ea typeface="Consolas"/>
                <a:cs typeface="Consolas"/>
              </a:rPr>
              <a:t>Any</a:t>
            </a:r>
            <a:r>
              <a:rPr lang="en-US" sz="1000" b="0" dirty="0">
                <a:solidFill>
                  <a:srgbClr val="E2E8F0"/>
                </a:solidFill>
                <a:latin typeface="Consolas"/>
                <a:ea typeface="Consolas"/>
                <a:cs typeface="Consolas"/>
              </a:rPr>
              <a:t>&lt;</a:t>
            </a:r>
            <a:r>
              <a:rPr lang="en-US" sz="1000" b="0" dirty="0">
                <a:solidFill>
                  <a:srgbClr val="60A5FA"/>
                </a:solidFill>
                <a:latin typeface="Consolas"/>
                <a:ea typeface="Consolas"/>
                <a:cs typeface="Consolas"/>
              </a:rPr>
              <a:t>string</a:t>
            </a:r>
            <a:r>
              <a:rPr lang="en-US" sz="1000" b="0" dirty="0">
                <a:solidFill>
                  <a:srgbClr val="E2E8F0"/>
                </a:solidFill>
                <a:latin typeface="Consolas"/>
                <a:ea typeface="Consolas"/>
                <a:cs typeface="Consolas"/>
              </a:rPr>
              <a:t>&gt;());</a:t>
            </a:r>
            <a:endParaRPr lang="en-US" sz="1000" dirty="0"/>
          </a:p>
        </p:txBody>
      </p:sp>
      <p:sp>
        <p:nvSpPr>
          <p:cNvPr id="114" name="s114"/>
          <p:cNvSpPr/>
          <p:nvPr/>
        </p:nvSpPr>
        <p:spPr>
          <a:xfrm>
            <a:off x="543154" y="4800600"/>
            <a:ext cx="3543605" cy="548640"/>
          </a:xfrm>
          <a:prstGeom prst="roundRect">
            <a:avLst>
              <a:gd name="adj" fmla="val 15000"/>
            </a:avLst>
          </a:prstGeom>
          <a:solidFill>
            <a:srgbClr val="34D399">
              <a:alpha val="10000"/>
            </a:srgbClr>
          </a:solidFill>
          <a:ln w="12700">
            <a:solidFill>
              <a:srgbClr val="34D399"/>
            </a:solidFill>
            <a:prstDash val="solid"/>
          </a:ln>
        </p:spPr>
        <p:txBody>
          <a:bodyPr wrap="square" lIns="164592" tIns="109728" rIns="137160" bIns="91440" rtlCol="0" anchor="ctr">
            <a:noAutofit/>
          </a:bodyPr>
          <a:lstStyle/>
          <a:p>
            <a:pPr marL="0" indent="0" algn="ctr">
              <a:spcBef>
                <a:spcPts val="0"/>
              </a:spcBef>
              <a:spcAft>
                <a:spcPts val="0"/>
              </a:spcAft>
              <a:buNone/>
            </a:pPr>
            <a:r>
              <a:rPr lang="en-US" sz="1100" b="0" dirty="0">
                <a:solidFill>
                  <a:srgbClr val="E2E8F0"/>
                </a:solidFill>
                <a:latin typeface="Segoe UI"/>
                <a:ea typeface="Segoe UI"/>
                <a:cs typeface="Segoe UI"/>
              </a:rPr>
              <a:t>the double IS the interface · cleanest · our choice</a:t>
            </a:r>
            <a:endParaRPr lang="en-US" sz="1100" dirty="0"/>
          </a:p>
        </p:txBody>
      </p:sp>
      <p:sp>
        <p:nvSpPr>
          <p:cNvPr id="115" name="s115"/>
          <p:cNvSpPr txBox="1"/>
          <p:nvPr/>
        </p:nvSpPr>
        <p:spPr>
          <a:xfrm>
            <a:off x="4315358" y="1783080"/>
            <a:ext cx="3543605" cy="320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BBF24"/>
                </a:solidFill>
                <a:latin typeface="Segoe UI"/>
                <a:ea typeface="Segoe UI"/>
                <a:cs typeface="Segoe UI"/>
              </a:rPr>
              <a:t>Moq</a:t>
            </a:r>
            <a:endParaRPr lang="en-US" sz="1500" dirty="0"/>
          </a:p>
        </p:txBody>
      </p:sp>
      <p:sp>
        <p:nvSpPr>
          <p:cNvPr id="116" name="s116"/>
          <p:cNvSpPr/>
          <p:nvPr/>
        </p:nvSpPr>
        <p:spPr>
          <a:xfrm>
            <a:off x="4315358" y="2148840"/>
            <a:ext cx="3543605" cy="25146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7" name="s117"/>
          <p:cNvSpPr/>
          <p:nvPr/>
        </p:nvSpPr>
        <p:spPr>
          <a:xfrm>
            <a:off x="4479950" y="229514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8" name="s118"/>
          <p:cNvSpPr/>
          <p:nvPr/>
        </p:nvSpPr>
        <p:spPr>
          <a:xfrm>
            <a:off x="4662830" y="229514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19" name="s119"/>
          <p:cNvSpPr/>
          <p:nvPr/>
        </p:nvSpPr>
        <p:spPr>
          <a:xfrm>
            <a:off x="4845710" y="229514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0" name="s120"/>
          <p:cNvSpPr/>
          <p:nvPr/>
        </p:nvSpPr>
        <p:spPr>
          <a:xfrm>
            <a:off x="5092598" y="222199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TransferServiceTests.cs</a:t>
            </a:r>
            <a:endParaRPr lang="en-US" sz="950" dirty="0"/>
          </a:p>
        </p:txBody>
      </p:sp>
      <p:cxnSp>
        <p:nvCxnSpPr>
          <p:cNvPr id="121" name="ln121"/>
          <p:cNvCxnSpPr/>
          <p:nvPr/>
        </p:nvCxnSpPr>
        <p:spPr>
          <a:xfrm>
            <a:off x="4315358" y="2560320"/>
            <a:ext cx="3543605" cy="0"/>
          </a:xfrm>
          <a:prstGeom prst="line">
            <a:avLst/>
          </a:prstGeom>
          <a:ln w="9525">
            <a:solidFill>
              <a:srgbClr val="1E3A5F"/>
            </a:solidFill>
          </a:ln>
        </p:spPr>
      </p:cxnSp>
      <p:sp>
        <p:nvSpPr>
          <p:cNvPr id="122" name="s122"/>
          <p:cNvSpPr/>
          <p:nvPr/>
        </p:nvSpPr>
        <p:spPr>
          <a:xfrm>
            <a:off x="4315358" y="2679192"/>
            <a:ext cx="3543605"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0A5FA"/>
                </a:solidFill>
                <a:latin typeface="Consolas"/>
                <a:ea typeface="Consolas"/>
                <a:cs typeface="Consolas"/>
              </a:rPr>
              <a:t>var</a:t>
            </a:r>
            <a:r>
              <a:rPr lang="en-US" sz="900" b="0" dirty="0">
                <a:solidFill>
                  <a:srgbClr val="E2E8F0"/>
                </a:solidFill>
                <a:latin typeface="Consolas"/>
                <a:ea typeface="Consolas"/>
                <a:cs typeface="Consolas"/>
              </a:rPr>
              <a:t> email = </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Mock</a:t>
            </a:r>
            <a:r>
              <a:rPr lang="en-US" sz="900" b="0" dirty="0">
                <a:solidFill>
                  <a:srgbClr val="E2E8F0"/>
                </a:solidFill>
                <a:latin typeface="Consolas"/>
                <a:ea typeface="Consolas"/>
                <a:cs typeface="Consolas"/>
              </a:rPr>
              <a:t>&lt;</a:t>
            </a:r>
            <a:r>
              <a:rPr lang="en-US" sz="900" b="0" dirty="0">
                <a:solidFill>
                  <a:srgbClr val="7DD3FC"/>
                </a:solidFill>
                <a:latin typeface="Consolas"/>
                <a:ea typeface="Consolas"/>
                <a:cs typeface="Consolas"/>
              </a:rPr>
              <a:t>IEmailSender</a:t>
            </a:r>
            <a:r>
              <a:rPr lang="en-US" sz="900" b="0" dirty="0">
                <a:solidFill>
                  <a:srgbClr val="E2E8F0"/>
                </a:solidFill>
                <a:latin typeface="Consolas"/>
                <a:ea typeface="Consolas"/>
                <a:cs typeface="Consolas"/>
              </a:rPr>
              <a:t>&gt;();</a:t>
            </a:r>
            <a:endParaRPr lang="en-US" sz="900" dirty="0"/>
          </a:p>
        </p:txBody>
      </p:sp>
      <p:sp>
        <p:nvSpPr>
          <p:cNvPr id="123" name="s123"/>
          <p:cNvSpPr/>
          <p:nvPr/>
        </p:nvSpPr>
        <p:spPr>
          <a:xfrm>
            <a:off x="4315358" y="2816352"/>
            <a:ext cx="3543605"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60A5FA"/>
                </a:solidFill>
                <a:latin typeface="Consolas"/>
                <a:ea typeface="Consolas"/>
                <a:cs typeface="Consolas"/>
              </a:rPr>
              <a:t>var</a:t>
            </a:r>
            <a:r>
              <a:rPr lang="en-US" sz="900" b="0" dirty="0">
                <a:solidFill>
                  <a:srgbClr val="E2E8F0"/>
                </a:solidFill>
                <a:latin typeface="Consolas"/>
                <a:ea typeface="Consolas"/>
                <a:cs typeface="Consolas"/>
              </a:rPr>
              <a:t> service = </a:t>
            </a:r>
            <a:r>
              <a:rPr lang="en-US" sz="900" b="0" dirty="0">
                <a:solidFill>
                  <a:srgbClr val="60A5FA"/>
                </a:solidFill>
                <a:latin typeface="Consolas"/>
                <a:ea typeface="Consolas"/>
                <a:cs typeface="Consolas"/>
              </a:rPr>
              <a:t>new</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TransferService</a:t>
            </a:r>
            <a:r>
              <a:rPr lang="en-US" sz="900" b="0" dirty="0">
                <a:solidFill>
                  <a:srgbClr val="E2E8F0"/>
                </a:solidFill>
                <a:latin typeface="Consolas"/>
                <a:ea typeface="Consolas"/>
                <a:cs typeface="Consolas"/>
              </a:rPr>
              <a:t>(accounts,</a:t>
            </a:r>
            <a:endParaRPr lang="en-US" sz="900" dirty="0"/>
          </a:p>
        </p:txBody>
      </p:sp>
      <p:sp>
        <p:nvSpPr>
          <p:cNvPr id="124" name="s124"/>
          <p:cNvSpPr/>
          <p:nvPr/>
        </p:nvSpPr>
        <p:spPr>
          <a:xfrm>
            <a:off x="4315358" y="2953512"/>
            <a:ext cx="3543605"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email.</a:t>
            </a:r>
            <a:r>
              <a:rPr lang="en-US" sz="900" b="0" dirty="0">
                <a:solidFill>
                  <a:srgbClr val="7DD3FC"/>
                </a:solidFill>
                <a:latin typeface="Consolas"/>
                <a:ea typeface="Consolas"/>
                <a:cs typeface="Consolas"/>
              </a:rPr>
              <a:t>Object</a:t>
            </a: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Mock</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Of</a:t>
            </a:r>
            <a:r>
              <a:rPr lang="en-US" sz="900" b="0" dirty="0">
                <a:solidFill>
                  <a:srgbClr val="E2E8F0"/>
                </a:solidFill>
                <a:latin typeface="Consolas"/>
                <a:ea typeface="Consolas"/>
                <a:cs typeface="Consolas"/>
              </a:rPr>
              <a:t>&lt;</a:t>
            </a:r>
            <a:r>
              <a:rPr lang="en-US" sz="900" b="0" dirty="0">
                <a:solidFill>
                  <a:srgbClr val="7DD3FC"/>
                </a:solidFill>
                <a:latin typeface="Consolas"/>
                <a:ea typeface="Consolas"/>
                <a:cs typeface="Consolas"/>
              </a:rPr>
              <a:t>ILogger</a:t>
            </a:r>
            <a:r>
              <a:rPr lang="en-US" sz="900" b="0" dirty="0">
                <a:solidFill>
                  <a:srgbClr val="E2E8F0"/>
                </a:solidFill>
                <a:latin typeface="Consolas"/>
                <a:ea typeface="Consolas"/>
                <a:cs typeface="Consolas"/>
              </a:rPr>
              <a:t>&gt;());</a:t>
            </a:r>
            <a:endParaRPr lang="en-US" sz="900" dirty="0"/>
          </a:p>
        </p:txBody>
      </p:sp>
      <p:sp>
        <p:nvSpPr>
          <p:cNvPr id="125" name="s125"/>
          <p:cNvSpPr/>
          <p:nvPr/>
        </p:nvSpPr>
        <p:spPr>
          <a:xfrm>
            <a:off x="4315358" y="3090672"/>
            <a:ext cx="3543605"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service.</a:t>
            </a:r>
            <a:r>
              <a:rPr lang="en-US" sz="900" b="0" dirty="0">
                <a:solidFill>
                  <a:srgbClr val="7DD3FC"/>
                </a:solidFill>
                <a:latin typeface="Consolas"/>
                <a:ea typeface="Consolas"/>
                <a:cs typeface="Consolas"/>
              </a:rPr>
              <a:t>Transfer</a:t>
            </a:r>
            <a:r>
              <a:rPr lang="en-US" sz="900" b="0" dirty="0">
                <a:solidFill>
                  <a:srgbClr val="E2E8F0"/>
                </a:solidFill>
                <a:latin typeface="Consolas"/>
                <a:ea typeface="Consolas"/>
                <a:cs typeface="Consolas"/>
              </a:rPr>
              <a:t>(mona, ali, </a:t>
            </a:r>
            <a:r>
              <a:rPr lang="en-US" sz="900" b="0" dirty="0">
                <a:solidFill>
                  <a:srgbClr val="C4B5FD"/>
                </a:solidFill>
                <a:latin typeface="Consolas"/>
                <a:ea typeface="Consolas"/>
                <a:cs typeface="Consolas"/>
              </a:rPr>
              <a:t>100m</a:t>
            </a:r>
            <a:r>
              <a:rPr lang="en-US" sz="900" b="0" dirty="0">
                <a:solidFill>
                  <a:srgbClr val="E2E8F0"/>
                </a:solidFill>
                <a:latin typeface="Consolas"/>
                <a:ea typeface="Consolas"/>
                <a:cs typeface="Consolas"/>
              </a:rPr>
              <a:t>);</a:t>
            </a:r>
            <a:endParaRPr lang="en-US" sz="900" dirty="0"/>
          </a:p>
        </p:txBody>
      </p:sp>
      <p:sp>
        <p:nvSpPr>
          <p:cNvPr id="126" name="s126"/>
          <p:cNvSpPr/>
          <p:nvPr/>
        </p:nvSpPr>
        <p:spPr>
          <a:xfrm>
            <a:off x="4315358" y="3227832"/>
            <a:ext cx="3543605"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email.</a:t>
            </a:r>
            <a:r>
              <a:rPr lang="en-US" sz="900" b="0" dirty="0">
                <a:solidFill>
                  <a:srgbClr val="7DD3FC"/>
                </a:solidFill>
                <a:latin typeface="Consolas"/>
                <a:ea typeface="Consolas"/>
                <a:cs typeface="Consolas"/>
              </a:rPr>
              <a:t>Verify</a:t>
            </a:r>
            <a:r>
              <a:rPr lang="en-US" sz="900" b="0" dirty="0">
                <a:solidFill>
                  <a:srgbClr val="E2E8F0"/>
                </a:solidFill>
                <a:latin typeface="Consolas"/>
                <a:ea typeface="Consolas"/>
                <a:cs typeface="Consolas"/>
              </a:rPr>
              <a:t>(e =&gt; e.</a:t>
            </a:r>
            <a:r>
              <a:rPr lang="en-US" sz="900" b="0" dirty="0">
                <a:solidFill>
                  <a:srgbClr val="7DD3FC"/>
                </a:solidFill>
                <a:latin typeface="Consolas"/>
                <a:ea typeface="Consolas"/>
                <a:cs typeface="Consolas"/>
              </a:rPr>
              <a:t>Send</a:t>
            </a:r>
            <a:r>
              <a:rPr lang="en-US" sz="900" b="0" dirty="0">
                <a:solidFill>
                  <a:srgbClr val="E2E8F0"/>
                </a:solidFill>
                <a:latin typeface="Consolas"/>
                <a:ea typeface="Consolas"/>
                <a:cs typeface="Consolas"/>
              </a:rPr>
              <a:t>(mona, </a:t>
            </a:r>
            <a:r>
              <a:rPr lang="en-US" sz="900" b="0" dirty="0">
                <a:solidFill>
                  <a:srgbClr val="F0A98B"/>
                </a:solidFill>
                <a:latin typeface="Consolas"/>
                <a:ea typeface="Consolas"/>
                <a:cs typeface="Consolas"/>
              </a:rPr>
              <a:t>"Transfer done"</a:t>
            </a:r>
            <a:r>
              <a:rPr lang="en-US" sz="900" b="0" dirty="0">
                <a:solidFill>
                  <a:srgbClr val="E2E8F0"/>
                </a:solidFill>
                <a:latin typeface="Consolas"/>
                <a:ea typeface="Consolas"/>
                <a:cs typeface="Consolas"/>
              </a:rPr>
              <a:t>,</a:t>
            </a:r>
            <a:endParaRPr lang="en-US" sz="900" dirty="0"/>
          </a:p>
        </p:txBody>
      </p:sp>
      <p:sp>
        <p:nvSpPr>
          <p:cNvPr id="127" name="s127"/>
          <p:cNvSpPr/>
          <p:nvPr/>
        </p:nvSpPr>
        <p:spPr>
          <a:xfrm>
            <a:off x="4315358" y="3364992"/>
            <a:ext cx="3543605" cy="13716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900" b="0" dirty="0">
                <a:solidFill>
                  <a:srgbClr val="E2E8F0"/>
                </a:solidFill>
                <a:latin typeface="Consolas"/>
                <a:ea typeface="Consolas"/>
                <a:cs typeface="Consolas"/>
              </a:rPr>
              <a:t>    </a:t>
            </a:r>
            <a:r>
              <a:rPr lang="en-US" sz="900" b="0" dirty="0">
                <a:solidFill>
                  <a:srgbClr val="7DD3FC"/>
                </a:solidFill>
                <a:latin typeface="Consolas"/>
                <a:ea typeface="Consolas"/>
                <a:cs typeface="Consolas"/>
              </a:rPr>
              <a:t>It</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IsAny</a:t>
            </a:r>
            <a:r>
              <a:rPr lang="en-US" sz="900" b="0" dirty="0">
                <a:solidFill>
                  <a:srgbClr val="E2E8F0"/>
                </a:solidFill>
                <a:latin typeface="Consolas"/>
                <a:ea typeface="Consolas"/>
                <a:cs typeface="Consolas"/>
              </a:rPr>
              <a:t>&lt;</a:t>
            </a:r>
            <a:r>
              <a:rPr lang="en-US" sz="900" b="0" dirty="0">
                <a:solidFill>
                  <a:srgbClr val="60A5FA"/>
                </a:solidFill>
                <a:latin typeface="Consolas"/>
                <a:ea typeface="Consolas"/>
                <a:cs typeface="Consolas"/>
              </a:rPr>
              <a:t>string</a:t>
            </a:r>
            <a:r>
              <a:rPr lang="en-US" sz="900" b="0" dirty="0">
                <a:solidFill>
                  <a:srgbClr val="E2E8F0"/>
                </a:solidFill>
                <a:latin typeface="Consolas"/>
                <a:ea typeface="Consolas"/>
                <a:cs typeface="Consolas"/>
              </a:rPr>
              <a:t>&gt;()), </a:t>
            </a:r>
            <a:r>
              <a:rPr lang="en-US" sz="900" b="0" dirty="0">
                <a:solidFill>
                  <a:srgbClr val="7DD3FC"/>
                </a:solidFill>
                <a:latin typeface="Consolas"/>
                <a:ea typeface="Consolas"/>
                <a:cs typeface="Consolas"/>
              </a:rPr>
              <a:t>Times</a:t>
            </a:r>
            <a:r>
              <a:rPr lang="en-US" sz="900" b="0" dirty="0">
                <a:solidFill>
                  <a:srgbClr val="E2E8F0"/>
                </a:solidFill>
                <a:latin typeface="Consolas"/>
                <a:ea typeface="Consolas"/>
                <a:cs typeface="Consolas"/>
              </a:rPr>
              <a:t>.</a:t>
            </a:r>
            <a:r>
              <a:rPr lang="en-US" sz="900" b="0" dirty="0">
                <a:solidFill>
                  <a:srgbClr val="7DD3FC"/>
                </a:solidFill>
                <a:latin typeface="Consolas"/>
                <a:ea typeface="Consolas"/>
                <a:cs typeface="Consolas"/>
              </a:rPr>
              <a:t>Once</a:t>
            </a:r>
            <a:r>
              <a:rPr lang="en-US" sz="900" b="0" dirty="0">
                <a:solidFill>
                  <a:srgbClr val="E2E8F0"/>
                </a:solidFill>
                <a:latin typeface="Consolas"/>
                <a:ea typeface="Consolas"/>
                <a:cs typeface="Consolas"/>
              </a:rPr>
              <a:t>);</a:t>
            </a:r>
            <a:endParaRPr lang="en-US" sz="900" dirty="0"/>
          </a:p>
        </p:txBody>
      </p:sp>
      <p:sp>
        <p:nvSpPr>
          <p:cNvPr id="128" name="s128"/>
          <p:cNvSpPr/>
          <p:nvPr/>
        </p:nvSpPr>
        <p:spPr>
          <a:xfrm>
            <a:off x="4315358" y="4800600"/>
            <a:ext cx="3543605" cy="548640"/>
          </a:xfrm>
          <a:prstGeom prst="roundRect">
            <a:avLst>
              <a:gd name="adj" fmla="val 15000"/>
            </a:avLst>
          </a:prstGeom>
          <a:solidFill>
            <a:srgbClr val="FBBF24">
              <a:alpha val="10000"/>
            </a:srgbClr>
          </a:solidFill>
          <a:ln w="12700">
            <a:solidFill>
              <a:srgbClr val="FBBF24"/>
            </a:solidFill>
            <a:prstDash val="solid"/>
          </a:ln>
        </p:spPr>
        <p:txBody>
          <a:bodyPr wrap="square" lIns="164592" tIns="109728" rIns="137160" bIns="91440" rtlCol="0" anchor="ctr">
            <a:noAutofit/>
          </a:bodyPr>
          <a:lstStyle/>
          <a:p>
            <a:pPr marL="0" indent="0" algn="ctr">
              <a:spcBef>
                <a:spcPts val="0"/>
              </a:spcBef>
              <a:spcAft>
                <a:spcPts val="0"/>
              </a:spcAft>
              <a:buNone/>
            </a:pPr>
            <a:r>
              <a:rPr lang="en-US" sz="1100" b="0" dirty="0">
                <a:solidFill>
                  <a:srgbClr val="E2E8F0"/>
                </a:solidFill>
                <a:latin typeface="Segoe UI"/>
                <a:ea typeface="Segoe UI"/>
                <a:cs typeface="Segoe UI"/>
              </a:rPr>
              <a:t>most common in existing code · .Object · Setup / Verify</a:t>
            </a:r>
            <a:endParaRPr lang="en-US" sz="1100" dirty="0"/>
          </a:p>
        </p:txBody>
      </p:sp>
      <p:sp>
        <p:nvSpPr>
          <p:cNvPr id="129" name="s129"/>
          <p:cNvSpPr txBox="1"/>
          <p:nvPr/>
        </p:nvSpPr>
        <p:spPr>
          <a:xfrm>
            <a:off x="8087563" y="1783080"/>
            <a:ext cx="3543605" cy="320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A78BFA"/>
                </a:solidFill>
                <a:latin typeface="Segoe UI"/>
                <a:ea typeface="Segoe UI"/>
                <a:cs typeface="Segoe UI"/>
              </a:rPr>
              <a:t>FakeItEasy</a:t>
            </a:r>
            <a:endParaRPr lang="en-US" sz="1500" dirty="0"/>
          </a:p>
        </p:txBody>
      </p:sp>
      <p:sp>
        <p:nvSpPr>
          <p:cNvPr id="130" name="s130"/>
          <p:cNvSpPr/>
          <p:nvPr/>
        </p:nvSpPr>
        <p:spPr>
          <a:xfrm>
            <a:off x="8087563" y="2148840"/>
            <a:ext cx="3543605" cy="25146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31" name="s131"/>
          <p:cNvSpPr/>
          <p:nvPr/>
        </p:nvSpPr>
        <p:spPr>
          <a:xfrm>
            <a:off x="8252155" y="2295144"/>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32" name="s132"/>
          <p:cNvSpPr/>
          <p:nvPr/>
        </p:nvSpPr>
        <p:spPr>
          <a:xfrm>
            <a:off x="8435035" y="2295144"/>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33" name="s133"/>
          <p:cNvSpPr/>
          <p:nvPr/>
        </p:nvSpPr>
        <p:spPr>
          <a:xfrm>
            <a:off x="8617915" y="2295144"/>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34" name="s134"/>
          <p:cNvSpPr/>
          <p:nvPr/>
        </p:nvSpPr>
        <p:spPr>
          <a:xfrm>
            <a:off x="8864803" y="2221992"/>
            <a:ext cx="1960474"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TransferServiceTests.cs</a:t>
            </a:r>
            <a:endParaRPr lang="en-US" sz="950" dirty="0"/>
          </a:p>
        </p:txBody>
      </p:sp>
      <p:cxnSp>
        <p:nvCxnSpPr>
          <p:cNvPr id="135" name="ln135"/>
          <p:cNvCxnSpPr/>
          <p:nvPr/>
        </p:nvCxnSpPr>
        <p:spPr>
          <a:xfrm>
            <a:off x="8087563" y="2560320"/>
            <a:ext cx="3543605" cy="0"/>
          </a:xfrm>
          <a:prstGeom prst="line">
            <a:avLst/>
          </a:prstGeom>
          <a:ln w="9525">
            <a:solidFill>
              <a:srgbClr val="1E3A5F"/>
            </a:solidFill>
          </a:ln>
        </p:spPr>
      </p:cxnSp>
      <p:sp>
        <p:nvSpPr>
          <p:cNvPr id="136" name="s136"/>
          <p:cNvSpPr/>
          <p:nvPr/>
        </p:nvSpPr>
        <p:spPr>
          <a:xfrm>
            <a:off x="8087563" y="26791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var</a:t>
            </a:r>
            <a:r>
              <a:rPr lang="en-US" sz="1000" b="0" dirty="0">
                <a:solidFill>
                  <a:srgbClr val="E2E8F0"/>
                </a:solidFill>
                <a:latin typeface="Consolas"/>
                <a:ea typeface="Consolas"/>
                <a:cs typeface="Consolas"/>
              </a:rPr>
              <a:t> email = A.</a:t>
            </a:r>
            <a:r>
              <a:rPr lang="en-US" sz="1000" b="0" dirty="0">
                <a:solidFill>
                  <a:srgbClr val="7DD3FC"/>
                </a:solidFill>
                <a:latin typeface="Consolas"/>
                <a:ea typeface="Consolas"/>
                <a:cs typeface="Consolas"/>
              </a:rPr>
              <a:t>Fake</a:t>
            </a:r>
            <a:r>
              <a:rPr lang="en-US" sz="1000" b="0" dirty="0">
                <a:solidFill>
                  <a:srgbClr val="E2E8F0"/>
                </a:solidFill>
                <a:latin typeface="Consolas"/>
                <a:ea typeface="Consolas"/>
                <a:cs typeface="Consolas"/>
              </a:rPr>
              <a:t>&lt;</a:t>
            </a:r>
            <a:r>
              <a:rPr lang="en-US" sz="1000" b="0" dirty="0">
                <a:solidFill>
                  <a:srgbClr val="7DD3FC"/>
                </a:solidFill>
                <a:latin typeface="Consolas"/>
                <a:ea typeface="Consolas"/>
                <a:cs typeface="Consolas"/>
              </a:rPr>
              <a:t>IEmailSender</a:t>
            </a:r>
            <a:r>
              <a:rPr lang="en-US" sz="1000" b="0" dirty="0">
                <a:solidFill>
                  <a:srgbClr val="E2E8F0"/>
                </a:solidFill>
                <a:latin typeface="Consolas"/>
                <a:ea typeface="Consolas"/>
                <a:cs typeface="Consolas"/>
              </a:rPr>
              <a:t>&gt;();</a:t>
            </a:r>
            <a:endParaRPr lang="en-US" sz="1000" dirty="0"/>
          </a:p>
        </p:txBody>
      </p:sp>
      <p:sp>
        <p:nvSpPr>
          <p:cNvPr id="137" name="s137"/>
          <p:cNvSpPr/>
          <p:nvPr/>
        </p:nvSpPr>
        <p:spPr>
          <a:xfrm>
            <a:off x="8087563" y="28315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60A5FA"/>
                </a:solidFill>
                <a:latin typeface="Consolas"/>
                <a:ea typeface="Consolas"/>
                <a:cs typeface="Consolas"/>
              </a:rPr>
              <a:t>var</a:t>
            </a:r>
            <a:r>
              <a:rPr lang="en-US" sz="1000" b="0" dirty="0">
                <a:solidFill>
                  <a:srgbClr val="E2E8F0"/>
                </a:solidFill>
                <a:latin typeface="Consolas"/>
                <a:ea typeface="Consolas"/>
                <a:cs typeface="Consolas"/>
              </a:rPr>
              <a:t> service = </a:t>
            </a:r>
            <a:r>
              <a:rPr lang="en-US" sz="1000" b="0" dirty="0">
                <a:solidFill>
                  <a:srgbClr val="60A5FA"/>
                </a:solidFill>
                <a:latin typeface="Consolas"/>
                <a:ea typeface="Consolas"/>
                <a:cs typeface="Consolas"/>
              </a:rPr>
              <a:t>new</a:t>
            </a: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TransferService</a:t>
            </a:r>
            <a:r>
              <a:rPr lang="en-US" sz="1000" b="0" dirty="0">
                <a:solidFill>
                  <a:srgbClr val="E2E8F0"/>
                </a:solidFill>
                <a:latin typeface="Consolas"/>
                <a:ea typeface="Consolas"/>
                <a:cs typeface="Consolas"/>
              </a:rPr>
              <a:t>(accounts,</a:t>
            </a:r>
            <a:endParaRPr lang="en-US" sz="1000" dirty="0"/>
          </a:p>
        </p:txBody>
      </p:sp>
      <p:sp>
        <p:nvSpPr>
          <p:cNvPr id="138" name="s138"/>
          <p:cNvSpPr/>
          <p:nvPr/>
        </p:nvSpPr>
        <p:spPr>
          <a:xfrm>
            <a:off x="8087563" y="29839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email, A.</a:t>
            </a:r>
            <a:r>
              <a:rPr lang="en-US" sz="1000" b="0" dirty="0">
                <a:solidFill>
                  <a:srgbClr val="7DD3FC"/>
                </a:solidFill>
                <a:latin typeface="Consolas"/>
                <a:ea typeface="Consolas"/>
                <a:cs typeface="Consolas"/>
              </a:rPr>
              <a:t>Fake</a:t>
            </a:r>
            <a:r>
              <a:rPr lang="en-US" sz="1000" b="0" dirty="0">
                <a:solidFill>
                  <a:srgbClr val="E2E8F0"/>
                </a:solidFill>
                <a:latin typeface="Consolas"/>
                <a:ea typeface="Consolas"/>
                <a:cs typeface="Consolas"/>
              </a:rPr>
              <a:t>&lt;</a:t>
            </a:r>
            <a:r>
              <a:rPr lang="en-US" sz="1000" b="0" dirty="0">
                <a:solidFill>
                  <a:srgbClr val="7DD3FC"/>
                </a:solidFill>
                <a:latin typeface="Consolas"/>
                <a:ea typeface="Consolas"/>
                <a:cs typeface="Consolas"/>
              </a:rPr>
              <a:t>ILogger</a:t>
            </a:r>
            <a:r>
              <a:rPr lang="en-US" sz="1000" b="0" dirty="0">
                <a:solidFill>
                  <a:srgbClr val="E2E8F0"/>
                </a:solidFill>
                <a:latin typeface="Consolas"/>
                <a:ea typeface="Consolas"/>
                <a:cs typeface="Consolas"/>
              </a:rPr>
              <a:t>&gt;());</a:t>
            </a:r>
            <a:endParaRPr lang="en-US" sz="1000" dirty="0"/>
          </a:p>
        </p:txBody>
      </p:sp>
      <p:sp>
        <p:nvSpPr>
          <p:cNvPr id="139" name="s139"/>
          <p:cNvSpPr/>
          <p:nvPr/>
        </p:nvSpPr>
        <p:spPr>
          <a:xfrm>
            <a:off x="8087563" y="31363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service.</a:t>
            </a:r>
            <a:r>
              <a:rPr lang="en-US" sz="1000" b="0" dirty="0">
                <a:solidFill>
                  <a:srgbClr val="7DD3FC"/>
                </a:solidFill>
                <a:latin typeface="Consolas"/>
                <a:ea typeface="Consolas"/>
                <a:cs typeface="Consolas"/>
              </a:rPr>
              <a:t>Transfer</a:t>
            </a:r>
            <a:r>
              <a:rPr lang="en-US" sz="1000" b="0" dirty="0">
                <a:solidFill>
                  <a:srgbClr val="E2E8F0"/>
                </a:solidFill>
                <a:latin typeface="Consolas"/>
                <a:ea typeface="Consolas"/>
                <a:cs typeface="Consolas"/>
              </a:rPr>
              <a:t>(mona, ali, </a:t>
            </a:r>
            <a:r>
              <a:rPr lang="en-US" sz="1000" b="0" dirty="0">
                <a:solidFill>
                  <a:srgbClr val="C4B5FD"/>
                </a:solidFill>
                <a:latin typeface="Consolas"/>
                <a:ea typeface="Consolas"/>
                <a:cs typeface="Consolas"/>
              </a:rPr>
              <a:t>100m</a:t>
            </a:r>
            <a:r>
              <a:rPr lang="en-US" sz="1000" b="0" dirty="0">
                <a:solidFill>
                  <a:srgbClr val="E2E8F0"/>
                </a:solidFill>
                <a:latin typeface="Consolas"/>
                <a:ea typeface="Consolas"/>
                <a:cs typeface="Consolas"/>
              </a:rPr>
              <a:t>);</a:t>
            </a:r>
            <a:endParaRPr lang="en-US" sz="1000" dirty="0"/>
          </a:p>
        </p:txBody>
      </p:sp>
      <p:sp>
        <p:nvSpPr>
          <p:cNvPr id="140" name="s140"/>
          <p:cNvSpPr/>
          <p:nvPr/>
        </p:nvSpPr>
        <p:spPr>
          <a:xfrm>
            <a:off x="8087563" y="32887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A.</a:t>
            </a:r>
            <a:r>
              <a:rPr lang="en-US" sz="1000" b="0" dirty="0">
                <a:solidFill>
                  <a:srgbClr val="7DD3FC"/>
                </a:solidFill>
                <a:latin typeface="Consolas"/>
                <a:ea typeface="Consolas"/>
                <a:cs typeface="Consolas"/>
              </a:rPr>
              <a:t>CallTo</a:t>
            </a:r>
            <a:r>
              <a:rPr lang="en-US" sz="1000" b="0" dirty="0">
                <a:solidFill>
                  <a:srgbClr val="E2E8F0"/>
                </a:solidFill>
                <a:latin typeface="Consolas"/>
                <a:ea typeface="Consolas"/>
                <a:cs typeface="Consolas"/>
              </a:rPr>
              <a:t>(() =&gt; email.</a:t>
            </a:r>
            <a:r>
              <a:rPr lang="en-US" sz="1000" b="0" dirty="0">
                <a:solidFill>
                  <a:srgbClr val="7DD3FC"/>
                </a:solidFill>
                <a:latin typeface="Consolas"/>
                <a:ea typeface="Consolas"/>
                <a:cs typeface="Consolas"/>
              </a:rPr>
              <a:t>Send</a:t>
            </a:r>
            <a:r>
              <a:rPr lang="en-US" sz="1000" b="0" dirty="0">
                <a:solidFill>
                  <a:srgbClr val="E2E8F0"/>
                </a:solidFill>
                <a:latin typeface="Consolas"/>
                <a:ea typeface="Consolas"/>
                <a:cs typeface="Consolas"/>
              </a:rPr>
              <a:t>(mona,</a:t>
            </a:r>
            <a:endParaRPr lang="en-US" sz="1000" dirty="0"/>
          </a:p>
        </p:txBody>
      </p:sp>
      <p:sp>
        <p:nvSpPr>
          <p:cNvPr id="141" name="s141"/>
          <p:cNvSpPr/>
          <p:nvPr/>
        </p:nvSpPr>
        <p:spPr>
          <a:xfrm>
            <a:off x="8087563" y="34411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F0A98B"/>
                </a:solidFill>
                <a:latin typeface="Consolas"/>
                <a:ea typeface="Consolas"/>
                <a:cs typeface="Consolas"/>
              </a:rPr>
              <a:t>"Transfer done"</a:t>
            </a:r>
            <a:r>
              <a:rPr lang="en-US" sz="1000" b="0" dirty="0">
                <a:solidFill>
                  <a:srgbClr val="E2E8F0"/>
                </a:solidFill>
                <a:latin typeface="Consolas"/>
                <a:ea typeface="Consolas"/>
                <a:cs typeface="Consolas"/>
              </a:rPr>
              <a:t>, A&lt;</a:t>
            </a:r>
            <a:r>
              <a:rPr lang="en-US" sz="1000" b="0" dirty="0">
                <a:solidFill>
                  <a:srgbClr val="60A5FA"/>
                </a:solidFill>
                <a:latin typeface="Consolas"/>
                <a:ea typeface="Consolas"/>
                <a:cs typeface="Consolas"/>
              </a:rPr>
              <a:t>string</a:t>
            </a:r>
            <a:r>
              <a:rPr lang="en-US" sz="1000" b="0" dirty="0">
                <a:solidFill>
                  <a:srgbClr val="E2E8F0"/>
                </a:solidFill>
                <a:latin typeface="Consolas"/>
                <a:ea typeface="Consolas"/>
                <a:cs typeface="Consolas"/>
              </a:rPr>
              <a:t>&gt;._))</a:t>
            </a:r>
            <a:endParaRPr lang="en-US" sz="1000" dirty="0"/>
          </a:p>
        </p:txBody>
      </p:sp>
      <p:sp>
        <p:nvSpPr>
          <p:cNvPr id="142" name="s142"/>
          <p:cNvSpPr/>
          <p:nvPr/>
        </p:nvSpPr>
        <p:spPr>
          <a:xfrm>
            <a:off x="8087563" y="3593592"/>
            <a:ext cx="3543605" cy="1524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00" b="0" dirty="0">
                <a:solidFill>
                  <a:srgbClr val="E2E8F0"/>
                </a:solidFill>
                <a:latin typeface="Consolas"/>
                <a:ea typeface="Consolas"/>
                <a:cs typeface="Consolas"/>
              </a:rPr>
              <a:t> .</a:t>
            </a:r>
            <a:r>
              <a:rPr lang="en-US" sz="1000" b="0" dirty="0">
                <a:solidFill>
                  <a:srgbClr val="7DD3FC"/>
                </a:solidFill>
                <a:latin typeface="Consolas"/>
                <a:ea typeface="Consolas"/>
                <a:cs typeface="Consolas"/>
              </a:rPr>
              <a:t>MustHaveHappenedOnceExactly</a:t>
            </a:r>
            <a:r>
              <a:rPr lang="en-US" sz="1000" b="0" dirty="0">
                <a:solidFill>
                  <a:srgbClr val="E2E8F0"/>
                </a:solidFill>
                <a:latin typeface="Consolas"/>
                <a:ea typeface="Consolas"/>
                <a:cs typeface="Consolas"/>
              </a:rPr>
              <a:t>();</a:t>
            </a:r>
            <a:endParaRPr lang="en-US" sz="1000" dirty="0"/>
          </a:p>
        </p:txBody>
      </p:sp>
      <p:sp>
        <p:nvSpPr>
          <p:cNvPr id="143" name="s143"/>
          <p:cNvSpPr/>
          <p:nvPr/>
        </p:nvSpPr>
        <p:spPr>
          <a:xfrm>
            <a:off x="8087563" y="4800600"/>
            <a:ext cx="3543605" cy="548640"/>
          </a:xfrm>
          <a:prstGeom prst="roundRect">
            <a:avLst>
              <a:gd name="adj" fmla="val 15000"/>
            </a:avLst>
          </a:prstGeom>
          <a:solidFill>
            <a:srgbClr val="A78BFA">
              <a:alpha val="10000"/>
            </a:srgbClr>
          </a:solidFill>
          <a:ln w="12700">
            <a:solidFill>
              <a:srgbClr val="A78BFA"/>
            </a:solidFill>
            <a:prstDash val="solid"/>
          </a:ln>
        </p:spPr>
        <p:txBody>
          <a:bodyPr wrap="square" lIns="164592" tIns="109728" rIns="137160" bIns="91440" rtlCol="0" anchor="ctr">
            <a:noAutofit/>
          </a:bodyPr>
          <a:lstStyle/>
          <a:p>
            <a:pPr marL="0" indent="0" algn="ctr">
              <a:spcBef>
                <a:spcPts val="0"/>
              </a:spcBef>
              <a:spcAft>
                <a:spcPts val="0"/>
              </a:spcAft>
              <a:buNone/>
            </a:pPr>
            <a:r>
              <a:rPr lang="en-US" sz="1100" b="0" dirty="0">
                <a:solidFill>
                  <a:srgbClr val="E2E8F0"/>
                </a:solidFill>
                <a:latin typeface="Segoe UI"/>
                <a:ea typeface="Segoe UI"/>
                <a:cs typeface="Segoe UI"/>
              </a:rPr>
              <a:t>readable A.CallTo(...) · fewer users</a:t>
            </a:r>
            <a:endParaRPr lang="en-US" sz="1100" dirty="0"/>
          </a:p>
        </p:txBody>
      </p:sp>
      <p:sp>
        <p:nvSpPr>
          <p:cNvPr id="144" name="s144"/>
          <p:cNvSpPr txBox="1"/>
          <p:nvPr/>
        </p:nvSpPr>
        <p:spPr>
          <a:xfrm>
            <a:off x="543154" y="5486400"/>
            <a:ext cx="11088014"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1" dirty="0">
                <a:solidFill>
                  <a:srgbClr val="13D0F7"/>
                </a:solidFill>
                <a:latin typeface="Segoe UI"/>
                <a:ea typeface="Segoe UI"/>
                <a:cs typeface="Segoe UI"/>
              </a:rPr>
              <a:t>Same idea, different syntax. Learn one deeply; read the others in minutes.</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42" presetClass="entr" presetSubtype="0" fill="hold" grpId="0" nodeType="clickEffect">
                                  <p:stCondLst>
                                    <p:cond delay="0"/>
                                  </p:stCondLst>
                                  <p:childTnLst>
                                    <p:set>
                                      <p:cBhvr>
                                        <p:cTn id="64" dur="1" fill="hold">
                                          <p:stCondLst>
                                            <p:cond delay="0"/>
                                          </p:stCondLst>
                                        </p:cTn>
                                        <p:tgtEl>
                                          <p:spTgt spid="115"/>
                                        </p:tgtEl>
                                        <p:attrNameLst>
                                          <p:attrName>style.visibility</p:attrName>
                                        </p:attrNameLst>
                                      </p:cBhvr>
                                      <p:to>
                                        <p:strVal val="visible"/>
                                      </p:to>
                                    </p:set>
                                    <p:animEffect transition="in" filter="fade">
                                      <p:cBhvr>
                                        <p:cTn id="65" dur="500"/>
                                        <p:tgtEl>
                                          <p:spTgt spid="115"/>
                                        </p:tgtEl>
                                      </p:cBhvr>
                                    </p:animEffect>
                                    <p:anim calcmode="lin" valueType="num">
                                      <p:cBhvr additive="base">
                                        <p:cTn id="66" dur="500" decel="100000" fill="hold"/>
                                        <p:tgtEl>
                                          <p:spTgt spid="115"/>
                                        </p:tgtEl>
                                        <p:attrNameLst>
                                          <p:attrName>ppt_y</p:attrName>
                                        </p:attrNameLst>
                                      </p:cBhvr>
                                      <p:tavLst>
                                        <p:tav tm="0">
                                          <p:val>
                                            <p:strVal val="#ppt_y+0.06"/>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500"/>
                                        <p:tgtEl>
                                          <p:spTgt spid="116"/>
                                        </p:tgtEl>
                                      </p:cBhvr>
                                    </p:animEffect>
                                    <p:anim calcmode="lin" valueType="num">
                                      <p:cBhvr additive="base">
                                        <p:cTn id="70" dur="500" decel="100000" fill="hold"/>
                                        <p:tgtEl>
                                          <p:spTgt spid="116"/>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117"/>
                                        </p:tgtEl>
                                        <p:attrNameLst>
                                          <p:attrName>style.visibility</p:attrName>
                                        </p:attrNameLst>
                                      </p:cBhvr>
                                      <p:to>
                                        <p:strVal val="visible"/>
                                      </p:to>
                                    </p:set>
                                    <p:animEffect transition="in" filter="fade">
                                      <p:cBhvr>
                                        <p:cTn id="73" dur="500"/>
                                        <p:tgtEl>
                                          <p:spTgt spid="117"/>
                                        </p:tgtEl>
                                      </p:cBhvr>
                                    </p:animEffect>
                                    <p:anim calcmode="lin" valueType="num">
                                      <p:cBhvr additive="base">
                                        <p:cTn id="74" dur="500" decel="100000" fill="hold"/>
                                        <p:tgtEl>
                                          <p:spTgt spid="117"/>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118"/>
                                        </p:tgtEl>
                                        <p:attrNameLst>
                                          <p:attrName>style.visibility</p:attrName>
                                        </p:attrNameLst>
                                      </p:cBhvr>
                                      <p:to>
                                        <p:strVal val="visible"/>
                                      </p:to>
                                    </p:set>
                                    <p:animEffect transition="in" filter="fade">
                                      <p:cBhvr>
                                        <p:cTn id="77" dur="500"/>
                                        <p:tgtEl>
                                          <p:spTgt spid="118"/>
                                        </p:tgtEl>
                                      </p:cBhvr>
                                    </p:animEffect>
                                    <p:anim calcmode="lin" valueType="num">
                                      <p:cBhvr additive="base">
                                        <p:cTn id="78" dur="500" decel="100000" fill="hold"/>
                                        <p:tgtEl>
                                          <p:spTgt spid="118"/>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19"/>
                                        </p:tgtEl>
                                        <p:attrNameLst>
                                          <p:attrName>style.visibility</p:attrName>
                                        </p:attrNameLst>
                                      </p:cBhvr>
                                      <p:to>
                                        <p:strVal val="visible"/>
                                      </p:to>
                                    </p:set>
                                    <p:animEffect transition="in" filter="fade">
                                      <p:cBhvr>
                                        <p:cTn id="81" dur="500"/>
                                        <p:tgtEl>
                                          <p:spTgt spid="119"/>
                                        </p:tgtEl>
                                      </p:cBhvr>
                                    </p:animEffect>
                                    <p:anim calcmode="lin" valueType="num">
                                      <p:cBhvr additive="base">
                                        <p:cTn id="82" dur="500" decel="100000" fill="hold"/>
                                        <p:tgtEl>
                                          <p:spTgt spid="119"/>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20"/>
                                        </p:tgtEl>
                                        <p:attrNameLst>
                                          <p:attrName>style.visibility</p:attrName>
                                        </p:attrNameLst>
                                      </p:cBhvr>
                                      <p:to>
                                        <p:strVal val="visible"/>
                                      </p:to>
                                    </p:set>
                                    <p:animEffect transition="in" filter="fade">
                                      <p:cBhvr>
                                        <p:cTn id="85" dur="500"/>
                                        <p:tgtEl>
                                          <p:spTgt spid="120"/>
                                        </p:tgtEl>
                                      </p:cBhvr>
                                    </p:animEffect>
                                    <p:anim calcmode="lin" valueType="num">
                                      <p:cBhvr additive="base">
                                        <p:cTn id="86" dur="500" decel="100000" fill="hold"/>
                                        <p:tgtEl>
                                          <p:spTgt spid="120"/>
                                        </p:tgtEl>
                                        <p:attrNameLst>
                                          <p:attrName>ppt_y</p:attrName>
                                        </p:attrNameLst>
                                      </p:cBhvr>
                                      <p:tavLst>
                                        <p:tav tm="0">
                                          <p:val>
                                            <p:strVal val="#ppt_y+0.06"/>
                                          </p:val>
                                        </p:tav>
                                        <p:tav tm="100000">
                                          <p:val>
                                            <p:strVal val="#ppt_y"/>
                                          </p:val>
                                        </p:tav>
                                      </p:tavLst>
                                    </p:anim>
                                  </p:childTnLst>
                                </p:cTn>
                              </p:par>
                              <p:par>
                                <p:cTn id="87" presetID="42" presetClass="entr" presetSubtype="0" fill="hold" nodeType="withEffect">
                                  <p:stCondLst>
                                    <p:cond delay="0"/>
                                  </p:stCondLst>
                                  <p:childTnLst>
                                    <p:set>
                                      <p:cBhvr>
                                        <p:cTn id="88" dur="1" fill="hold">
                                          <p:stCondLst>
                                            <p:cond delay="0"/>
                                          </p:stCondLst>
                                        </p:cTn>
                                        <p:tgtEl>
                                          <p:spTgt spid="121"/>
                                        </p:tgtEl>
                                        <p:attrNameLst>
                                          <p:attrName>style.visibility</p:attrName>
                                        </p:attrNameLst>
                                      </p:cBhvr>
                                      <p:to>
                                        <p:strVal val="visible"/>
                                      </p:to>
                                    </p:set>
                                    <p:animEffect transition="in" filter="fade">
                                      <p:cBhvr>
                                        <p:cTn id="89" dur="500"/>
                                        <p:tgtEl>
                                          <p:spTgt spid="121"/>
                                        </p:tgtEl>
                                      </p:cBhvr>
                                    </p:animEffect>
                                    <p:anim calcmode="lin" valueType="num">
                                      <p:cBhvr additive="base">
                                        <p:cTn id="90" dur="500" decel="100000" fill="hold"/>
                                        <p:tgtEl>
                                          <p:spTgt spid="121"/>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2"/>
                                        </p:tgtEl>
                                        <p:attrNameLst>
                                          <p:attrName>style.visibility</p:attrName>
                                        </p:attrNameLst>
                                      </p:cBhvr>
                                      <p:to>
                                        <p:strVal val="visible"/>
                                      </p:to>
                                    </p:set>
                                    <p:animEffect transition="in" filter="fade">
                                      <p:cBhvr>
                                        <p:cTn id="93" dur="500"/>
                                        <p:tgtEl>
                                          <p:spTgt spid="122"/>
                                        </p:tgtEl>
                                      </p:cBhvr>
                                    </p:animEffect>
                                    <p:anim calcmode="lin" valueType="num">
                                      <p:cBhvr additive="base">
                                        <p:cTn id="94" dur="500" decel="100000" fill="hold"/>
                                        <p:tgtEl>
                                          <p:spTgt spid="122"/>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23"/>
                                        </p:tgtEl>
                                        <p:attrNameLst>
                                          <p:attrName>style.visibility</p:attrName>
                                        </p:attrNameLst>
                                      </p:cBhvr>
                                      <p:to>
                                        <p:strVal val="visible"/>
                                      </p:to>
                                    </p:set>
                                    <p:animEffect transition="in" filter="fade">
                                      <p:cBhvr>
                                        <p:cTn id="97" dur="500"/>
                                        <p:tgtEl>
                                          <p:spTgt spid="123"/>
                                        </p:tgtEl>
                                      </p:cBhvr>
                                    </p:animEffect>
                                    <p:anim calcmode="lin" valueType="num">
                                      <p:cBhvr additive="base">
                                        <p:cTn id="98" dur="500" decel="100000" fill="hold"/>
                                        <p:tgtEl>
                                          <p:spTgt spid="123"/>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24"/>
                                        </p:tgtEl>
                                        <p:attrNameLst>
                                          <p:attrName>style.visibility</p:attrName>
                                        </p:attrNameLst>
                                      </p:cBhvr>
                                      <p:to>
                                        <p:strVal val="visible"/>
                                      </p:to>
                                    </p:set>
                                    <p:animEffect transition="in" filter="fade">
                                      <p:cBhvr>
                                        <p:cTn id="101" dur="500"/>
                                        <p:tgtEl>
                                          <p:spTgt spid="124"/>
                                        </p:tgtEl>
                                      </p:cBhvr>
                                    </p:animEffect>
                                    <p:anim calcmode="lin" valueType="num">
                                      <p:cBhvr additive="base">
                                        <p:cTn id="102" dur="500" decel="100000" fill="hold"/>
                                        <p:tgtEl>
                                          <p:spTgt spid="124"/>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25"/>
                                        </p:tgtEl>
                                        <p:attrNameLst>
                                          <p:attrName>style.visibility</p:attrName>
                                        </p:attrNameLst>
                                      </p:cBhvr>
                                      <p:to>
                                        <p:strVal val="visible"/>
                                      </p:to>
                                    </p:set>
                                    <p:animEffect transition="in" filter="fade">
                                      <p:cBhvr>
                                        <p:cTn id="105" dur="500"/>
                                        <p:tgtEl>
                                          <p:spTgt spid="125"/>
                                        </p:tgtEl>
                                      </p:cBhvr>
                                    </p:animEffect>
                                    <p:anim calcmode="lin" valueType="num">
                                      <p:cBhvr additive="base">
                                        <p:cTn id="106" dur="500" decel="100000" fill="hold"/>
                                        <p:tgtEl>
                                          <p:spTgt spid="125"/>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26"/>
                                        </p:tgtEl>
                                        <p:attrNameLst>
                                          <p:attrName>style.visibility</p:attrName>
                                        </p:attrNameLst>
                                      </p:cBhvr>
                                      <p:to>
                                        <p:strVal val="visible"/>
                                      </p:to>
                                    </p:set>
                                    <p:animEffect transition="in" filter="fade">
                                      <p:cBhvr>
                                        <p:cTn id="109" dur="500"/>
                                        <p:tgtEl>
                                          <p:spTgt spid="126"/>
                                        </p:tgtEl>
                                      </p:cBhvr>
                                    </p:animEffect>
                                    <p:anim calcmode="lin" valueType="num">
                                      <p:cBhvr additive="base">
                                        <p:cTn id="110" dur="500" decel="100000" fill="hold"/>
                                        <p:tgtEl>
                                          <p:spTgt spid="126"/>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7"/>
                                        </p:tgtEl>
                                        <p:attrNameLst>
                                          <p:attrName>style.visibility</p:attrName>
                                        </p:attrNameLst>
                                      </p:cBhvr>
                                      <p:to>
                                        <p:strVal val="visible"/>
                                      </p:to>
                                    </p:set>
                                    <p:animEffect transition="in" filter="fade">
                                      <p:cBhvr>
                                        <p:cTn id="113" dur="500"/>
                                        <p:tgtEl>
                                          <p:spTgt spid="127"/>
                                        </p:tgtEl>
                                      </p:cBhvr>
                                    </p:animEffect>
                                    <p:anim calcmode="lin" valueType="num">
                                      <p:cBhvr additive="base">
                                        <p:cTn id="114" dur="500" decel="100000" fill="hold"/>
                                        <p:tgtEl>
                                          <p:spTgt spid="127"/>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8"/>
                                        </p:tgtEl>
                                        <p:attrNameLst>
                                          <p:attrName>style.visibility</p:attrName>
                                        </p:attrNameLst>
                                      </p:cBhvr>
                                      <p:to>
                                        <p:strVal val="visible"/>
                                      </p:to>
                                    </p:set>
                                    <p:animEffect transition="in" filter="fade">
                                      <p:cBhvr>
                                        <p:cTn id="117" dur="500"/>
                                        <p:tgtEl>
                                          <p:spTgt spid="128"/>
                                        </p:tgtEl>
                                      </p:cBhvr>
                                    </p:animEffect>
                                    <p:anim calcmode="lin" valueType="num">
                                      <p:cBhvr additive="base">
                                        <p:cTn id="118" dur="500" decel="100000" fill="hold"/>
                                        <p:tgtEl>
                                          <p:spTgt spid="128"/>
                                        </p:tgtEl>
                                        <p:attrNameLst>
                                          <p:attrName>ppt_y</p:attrName>
                                        </p:attrNameLst>
                                      </p:cBhvr>
                                      <p:tavLst>
                                        <p:tav tm="0">
                                          <p:val>
                                            <p:strVal val="#ppt_y+0.06"/>
                                          </p:val>
                                        </p:tav>
                                        <p:tav tm="100000">
                                          <p:val>
                                            <p:strVal val="#ppt_y"/>
                                          </p:val>
                                        </p:tav>
                                      </p:tavLst>
                                    </p:anim>
                                  </p:childTnLst>
                                </p:cTn>
                              </p:par>
                            </p:childTnLst>
                          </p:cTn>
                        </p:par>
                      </p:childTnLst>
                    </p:cTn>
                  </p:par>
                  <p:par>
                    <p:cTn id="119" fill="hold">
                      <p:stCondLst>
                        <p:cond delay="indefinite"/>
                      </p:stCondLst>
                      <p:childTnLst>
                        <p:par>
                          <p:cTn id="120" fill="hold">
                            <p:stCondLst>
                              <p:cond delay="0"/>
                            </p:stCondLst>
                            <p:childTnLst>
                              <p:par>
                                <p:cTn id="121" presetID="42" presetClass="entr" presetSubtype="0" fill="hold" grpId="0" nodeType="clickEffect">
                                  <p:stCondLst>
                                    <p:cond delay="0"/>
                                  </p:stCondLst>
                                  <p:childTnLst>
                                    <p:set>
                                      <p:cBhvr>
                                        <p:cTn id="122" dur="1" fill="hold">
                                          <p:stCondLst>
                                            <p:cond delay="0"/>
                                          </p:stCondLst>
                                        </p:cTn>
                                        <p:tgtEl>
                                          <p:spTgt spid="129"/>
                                        </p:tgtEl>
                                        <p:attrNameLst>
                                          <p:attrName>style.visibility</p:attrName>
                                        </p:attrNameLst>
                                      </p:cBhvr>
                                      <p:to>
                                        <p:strVal val="visible"/>
                                      </p:to>
                                    </p:set>
                                    <p:animEffect transition="in" filter="fade">
                                      <p:cBhvr>
                                        <p:cTn id="123" dur="500"/>
                                        <p:tgtEl>
                                          <p:spTgt spid="129"/>
                                        </p:tgtEl>
                                      </p:cBhvr>
                                    </p:animEffect>
                                    <p:anim calcmode="lin" valueType="num">
                                      <p:cBhvr additive="base">
                                        <p:cTn id="124" dur="500" decel="100000" fill="hold"/>
                                        <p:tgtEl>
                                          <p:spTgt spid="129"/>
                                        </p:tgtEl>
                                        <p:attrNameLst>
                                          <p:attrName>ppt_y</p:attrName>
                                        </p:attrNameLst>
                                      </p:cBhvr>
                                      <p:tavLst>
                                        <p:tav tm="0">
                                          <p:val>
                                            <p:strVal val="#ppt_y+0.06"/>
                                          </p:val>
                                        </p:tav>
                                        <p:tav tm="100000">
                                          <p:val>
                                            <p:strVal val="#ppt_y"/>
                                          </p:val>
                                        </p:tav>
                                      </p:tavLst>
                                    </p:anim>
                                  </p:childTnLst>
                                </p:cTn>
                              </p:par>
                              <p:par>
                                <p:cTn id="125" presetID="42" presetClass="entr" presetSubtype="0" fill="hold" grpId="0" nodeType="withEffect">
                                  <p:stCondLst>
                                    <p:cond delay="0"/>
                                  </p:stCondLst>
                                  <p:childTnLst>
                                    <p:set>
                                      <p:cBhvr>
                                        <p:cTn id="126" dur="1" fill="hold">
                                          <p:stCondLst>
                                            <p:cond delay="0"/>
                                          </p:stCondLst>
                                        </p:cTn>
                                        <p:tgtEl>
                                          <p:spTgt spid="130"/>
                                        </p:tgtEl>
                                        <p:attrNameLst>
                                          <p:attrName>style.visibility</p:attrName>
                                        </p:attrNameLst>
                                      </p:cBhvr>
                                      <p:to>
                                        <p:strVal val="visible"/>
                                      </p:to>
                                    </p:set>
                                    <p:animEffect transition="in" filter="fade">
                                      <p:cBhvr>
                                        <p:cTn id="127" dur="500"/>
                                        <p:tgtEl>
                                          <p:spTgt spid="130"/>
                                        </p:tgtEl>
                                      </p:cBhvr>
                                    </p:animEffect>
                                    <p:anim calcmode="lin" valueType="num">
                                      <p:cBhvr additive="base">
                                        <p:cTn id="128" dur="500" decel="100000" fill="hold"/>
                                        <p:tgtEl>
                                          <p:spTgt spid="130"/>
                                        </p:tgtEl>
                                        <p:attrNameLst>
                                          <p:attrName>ppt_y</p:attrName>
                                        </p:attrNameLst>
                                      </p:cBhvr>
                                      <p:tavLst>
                                        <p:tav tm="0">
                                          <p:val>
                                            <p:strVal val="#ppt_y+0.06"/>
                                          </p:val>
                                        </p:tav>
                                        <p:tav tm="100000">
                                          <p:val>
                                            <p:strVal val="#ppt_y"/>
                                          </p:val>
                                        </p:tav>
                                      </p:tavLst>
                                    </p:anim>
                                  </p:childTnLst>
                                </p:cTn>
                              </p:par>
                              <p:par>
                                <p:cTn id="129" presetID="42" presetClass="entr" presetSubtype="0" fill="hold" grpId="0" nodeType="withEffect">
                                  <p:stCondLst>
                                    <p:cond delay="0"/>
                                  </p:stCondLst>
                                  <p:childTnLst>
                                    <p:set>
                                      <p:cBhvr>
                                        <p:cTn id="130" dur="1" fill="hold">
                                          <p:stCondLst>
                                            <p:cond delay="0"/>
                                          </p:stCondLst>
                                        </p:cTn>
                                        <p:tgtEl>
                                          <p:spTgt spid="131"/>
                                        </p:tgtEl>
                                        <p:attrNameLst>
                                          <p:attrName>style.visibility</p:attrName>
                                        </p:attrNameLst>
                                      </p:cBhvr>
                                      <p:to>
                                        <p:strVal val="visible"/>
                                      </p:to>
                                    </p:set>
                                    <p:animEffect transition="in" filter="fade">
                                      <p:cBhvr>
                                        <p:cTn id="131" dur="500"/>
                                        <p:tgtEl>
                                          <p:spTgt spid="131"/>
                                        </p:tgtEl>
                                      </p:cBhvr>
                                    </p:animEffect>
                                    <p:anim calcmode="lin" valueType="num">
                                      <p:cBhvr additive="base">
                                        <p:cTn id="132" dur="500" decel="100000" fill="hold"/>
                                        <p:tgtEl>
                                          <p:spTgt spid="131"/>
                                        </p:tgtEl>
                                        <p:attrNameLst>
                                          <p:attrName>ppt_y</p:attrName>
                                        </p:attrNameLst>
                                      </p:cBhvr>
                                      <p:tavLst>
                                        <p:tav tm="0">
                                          <p:val>
                                            <p:strVal val="#ppt_y+0.06"/>
                                          </p:val>
                                        </p:tav>
                                        <p:tav tm="100000">
                                          <p:val>
                                            <p:strVal val="#ppt_y"/>
                                          </p:val>
                                        </p:tav>
                                      </p:tavLst>
                                    </p:anim>
                                  </p:childTnLst>
                                </p:cTn>
                              </p:par>
                              <p:par>
                                <p:cTn id="133" presetID="42" presetClass="entr" presetSubtype="0" fill="hold" grpId="0" nodeType="withEffect">
                                  <p:stCondLst>
                                    <p:cond delay="0"/>
                                  </p:stCondLst>
                                  <p:childTnLst>
                                    <p:set>
                                      <p:cBhvr>
                                        <p:cTn id="134" dur="1" fill="hold">
                                          <p:stCondLst>
                                            <p:cond delay="0"/>
                                          </p:stCondLst>
                                        </p:cTn>
                                        <p:tgtEl>
                                          <p:spTgt spid="132"/>
                                        </p:tgtEl>
                                        <p:attrNameLst>
                                          <p:attrName>style.visibility</p:attrName>
                                        </p:attrNameLst>
                                      </p:cBhvr>
                                      <p:to>
                                        <p:strVal val="visible"/>
                                      </p:to>
                                    </p:set>
                                    <p:animEffect transition="in" filter="fade">
                                      <p:cBhvr>
                                        <p:cTn id="135" dur="500"/>
                                        <p:tgtEl>
                                          <p:spTgt spid="132"/>
                                        </p:tgtEl>
                                      </p:cBhvr>
                                    </p:animEffect>
                                    <p:anim calcmode="lin" valueType="num">
                                      <p:cBhvr additive="base">
                                        <p:cTn id="136" dur="500" decel="100000" fill="hold"/>
                                        <p:tgtEl>
                                          <p:spTgt spid="132"/>
                                        </p:tgtEl>
                                        <p:attrNameLst>
                                          <p:attrName>ppt_y</p:attrName>
                                        </p:attrNameLst>
                                      </p:cBhvr>
                                      <p:tavLst>
                                        <p:tav tm="0">
                                          <p:val>
                                            <p:strVal val="#ppt_y+0.06"/>
                                          </p:val>
                                        </p:tav>
                                        <p:tav tm="100000">
                                          <p:val>
                                            <p:strVal val="#ppt_y"/>
                                          </p:val>
                                        </p:tav>
                                      </p:tavLst>
                                    </p:anim>
                                  </p:childTnLst>
                                </p:cTn>
                              </p:par>
                              <p:par>
                                <p:cTn id="137" presetID="42" presetClass="entr" presetSubtype="0" fill="hold" grpId="0" nodeType="withEffect">
                                  <p:stCondLst>
                                    <p:cond delay="0"/>
                                  </p:stCondLst>
                                  <p:childTnLst>
                                    <p:set>
                                      <p:cBhvr>
                                        <p:cTn id="138" dur="1" fill="hold">
                                          <p:stCondLst>
                                            <p:cond delay="0"/>
                                          </p:stCondLst>
                                        </p:cTn>
                                        <p:tgtEl>
                                          <p:spTgt spid="133"/>
                                        </p:tgtEl>
                                        <p:attrNameLst>
                                          <p:attrName>style.visibility</p:attrName>
                                        </p:attrNameLst>
                                      </p:cBhvr>
                                      <p:to>
                                        <p:strVal val="visible"/>
                                      </p:to>
                                    </p:set>
                                    <p:animEffect transition="in" filter="fade">
                                      <p:cBhvr>
                                        <p:cTn id="139" dur="500"/>
                                        <p:tgtEl>
                                          <p:spTgt spid="133"/>
                                        </p:tgtEl>
                                      </p:cBhvr>
                                    </p:animEffect>
                                    <p:anim calcmode="lin" valueType="num">
                                      <p:cBhvr additive="base">
                                        <p:cTn id="140" dur="500" decel="100000" fill="hold"/>
                                        <p:tgtEl>
                                          <p:spTgt spid="133"/>
                                        </p:tgtEl>
                                        <p:attrNameLst>
                                          <p:attrName>ppt_y</p:attrName>
                                        </p:attrNameLst>
                                      </p:cBhvr>
                                      <p:tavLst>
                                        <p:tav tm="0">
                                          <p:val>
                                            <p:strVal val="#ppt_y+0.06"/>
                                          </p:val>
                                        </p:tav>
                                        <p:tav tm="100000">
                                          <p:val>
                                            <p:strVal val="#ppt_y"/>
                                          </p:val>
                                        </p:tav>
                                      </p:tavLst>
                                    </p:anim>
                                  </p:childTnLst>
                                </p:cTn>
                              </p:par>
                              <p:par>
                                <p:cTn id="141" presetID="42" presetClass="entr" presetSubtype="0" fill="hold" grpId="0" nodeType="withEffect">
                                  <p:stCondLst>
                                    <p:cond delay="0"/>
                                  </p:stCondLst>
                                  <p:childTnLst>
                                    <p:set>
                                      <p:cBhvr>
                                        <p:cTn id="142" dur="1" fill="hold">
                                          <p:stCondLst>
                                            <p:cond delay="0"/>
                                          </p:stCondLst>
                                        </p:cTn>
                                        <p:tgtEl>
                                          <p:spTgt spid="134"/>
                                        </p:tgtEl>
                                        <p:attrNameLst>
                                          <p:attrName>style.visibility</p:attrName>
                                        </p:attrNameLst>
                                      </p:cBhvr>
                                      <p:to>
                                        <p:strVal val="visible"/>
                                      </p:to>
                                    </p:set>
                                    <p:animEffect transition="in" filter="fade">
                                      <p:cBhvr>
                                        <p:cTn id="143" dur="500"/>
                                        <p:tgtEl>
                                          <p:spTgt spid="134"/>
                                        </p:tgtEl>
                                      </p:cBhvr>
                                    </p:animEffect>
                                    <p:anim calcmode="lin" valueType="num">
                                      <p:cBhvr additive="base">
                                        <p:cTn id="144" dur="500" decel="100000" fill="hold"/>
                                        <p:tgtEl>
                                          <p:spTgt spid="134"/>
                                        </p:tgtEl>
                                        <p:attrNameLst>
                                          <p:attrName>ppt_y</p:attrName>
                                        </p:attrNameLst>
                                      </p:cBhvr>
                                      <p:tavLst>
                                        <p:tav tm="0">
                                          <p:val>
                                            <p:strVal val="#ppt_y+0.06"/>
                                          </p:val>
                                        </p:tav>
                                        <p:tav tm="100000">
                                          <p:val>
                                            <p:strVal val="#ppt_y"/>
                                          </p:val>
                                        </p:tav>
                                      </p:tavLst>
                                    </p:anim>
                                  </p:childTnLst>
                                </p:cTn>
                              </p:par>
                              <p:par>
                                <p:cTn id="145" presetID="42" presetClass="entr" presetSubtype="0" fill="hold" nodeType="withEffect">
                                  <p:stCondLst>
                                    <p:cond delay="0"/>
                                  </p:stCondLst>
                                  <p:childTnLst>
                                    <p:set>
                                      <p:cBhvr>
                                        <p:cTn id="146" dur="1" fill="hold">
                                          <p:stCondLst>
                                            <p:cond delay="0"/>
                                          </p:stCondLst>
                                        </p:cTn>
                                        <p:tgtEl>
                                          <p:spTgt spid="135"/>
                                        </p:tgtEl>
                                        <p:attrNameLst>
                                          <p:attrName>style.visibility</p:attrName>
                                        </p:attrNameLst>
                                      </p:cBhvr>
                                      <p:to>
                                        <p:strVal val="visible"/>
                                      </p:to>
                                    </p:set>
                                    <p:animEffect transition="in" filter="fade">
                                      <p:cBhvr>
                                        <p:cTn id="147" dur="500"/>
                                        <p:tgtEl>
                                          <p:spTgt spid="135"/>
                                        </p:tgtEl>
                                      </p:cBhvr>
                                    </p:animEffect>
                                    <p:anim calcmode="lin" valueType="num">
                                      <p:cBhvr additive="base">
                                        <p:cTn id="148" dur="500" decel="100000" fill="hold"/>
                                        <p:tgtEl>
                                          <p:spTgt spid="135"/>
                                        </p:tgtEl>
                                        <p:attrNameLst>
                                          <p:attrName>ppt_y</p:attrName>
                                        </p:attrNameLst>
                                      </p:cBhvr>
                                      <p:tavLst>
                                        <p:tav tm="0">
                                          <p:val>
                                            <p:strVal val="#ppt_y+0.06"/>
                                          </p:val>
                                        </p:tav>
                                        <p:tav tm="100000">
                                          <p:val>
                                            <p:strVal val="#ppt_y"/>
                                          </p:val>
                                        </p:tav>
                                      </p:tavLst>
                                    </p:anim>
                                  </p:childTnLst>
                                </p:cTn>
                              </p:par>
                              <p:par>
                                <p:cTn id="149" presetID="42" presetClass="entr" presetSubtype="0" fill="hold" grpId="0" nodeType="withEffect">
                                  <p:stCondLst>
                                    <p:cond delay="0"/>
                                  </p:stCondLst>
                                  <p:childTnLst>
                                    <p:set>
                                      <p:cBhvr>
                                        <p:cTn id="150" dur="1" fill="hold">
                                          <p:stCondLst>
                                            <p:cond delay="0"/>
                                          </p:stCondLst>
                                        </p:cTn>
                                        <p:tgtEl>
                                          <p:spTgt spid="136"/>
                                        </p:tgtEl>
                                        <p:attrNameLst>
                                          <p:attrName>style.visibility</p:attrName>
                                        </p:attrNameLst>
                                      </p:cBhvr>
                                      <p:to>
                                        <p:strVal val="visible"/>
                                      </p:to>
                                    </p:set>
                                    <p:animEffect transition="in" filter="fade">
                                      <p:cBhvr>
                                        <p:cTn id="151" dur="500"/>
                                        <p:tgtEl>
                                          <p:spTgt spid="136"/>
                                        </p:tgtEl>
                                      </p:cBhvr>
                                    </p:animEffect>
                                    <p:anim calcmode="lin" valueType="num">
                                      <p:cBhvr additive="base">
                                        <p:cTn id="152" dur="500" decel="100000" fill="hold"/>
                                        <p:tgtEl>
                                          <p:spTgt spid="136"/>
                                        </p:tgtEl>
                                        <p:attrNameLst>
                                          <p:attrName>ppt_y</p:attrName>
                                        </p:attrNameLst>
                                      </p:cBhvr>
                                      <p:tavLst>
                                        <p:tav tm="0">
                                          <p:val>
                                            <p:strVal val="#ppt_y+0.06"/>
                                          </p:val>
                                        </p:tav>
                                        <p:tav tm="100000">
                                          <p:val>
                                            <p:strVal val="#ppt_y"/>
                                          </p:val>
                                        </p:tav>
                                      </p:tavLst>
                                    </p:anim>
                                  </p:childTnLst>
                                </p:cTn>
                              </p:par>
                              <p:par>
                                <p:cTn id="153" presetID="42" presetClass="entr" presetSubtype="0" fill="hold" grpId="0" nodeType="withEffect">
                                  <p:stCondLst>
                                    <p:cond delay="0"/>
                                  </p:stCondLst>
                                  <p:childTnLst>
                                    <p:set>
                                      <p:cBhvr>
                                        <p:cTn id="154" dur="1" fill="hold">
                                          <p:stCondLst>
                                            <p:cond delay="0"/>
                                          </p:stCondLst>
                                        </p:cTn>
                                        <p:tgtEl>
                                          <p:spTgt spid="137"/>
                                        </p:tgtEl>
                                        <p:attrNameLst>
                                          <p:attrName>style.visibility</p:attrName>
                                        </p:attrNameLst>
                                      </p:cBhvr>
                                      <p:to>
                                        <p:strVal val="visible"/>
                                      </p:to>
                                    </p:set>
                                    <p:animEffect transition="in" filter="fade">
                                      <p:cBhvr>
                                        <p:cTn id="155" dur="500"/>
                                        <p:tgtEl>
                                          <p:spTgt spid="137"/>
                                        </p:tgtEl>
                                      </p:cBhvr>
                                    </p:animEffect>
                                    <p:anim calcmode="lin" valueType="num">
                                      <p:cBhvr additive="base">
                                        <p:cTn id="156" dur="500" decel="100000" fill="hold"/>
                                        <p:tgtEl>
                                          <p:spTgt spid="137"/>
                                        </p:tgtEl>
                                        <p:attrNameLst>
                                          <p:attrName>ppt_y</p:attrName>
                                        </p:attrNameLst>
                                      </p:cBhvr>
                                      <p:tavLst>
                                        <p:tav tm="0">
                                          <p:val>
                                            <p:strVal val="#ppt_y+0.06"/>
                                          </p:val>
                                        </p:tav>
                                        <p:tav tm="100000">
                                          <p:val>
                                            <p:strVal val="#ppt_y"/>
                                          </p:val>
                                        </p:tav>
                                      </p:tavLst>
                                    </p:anim>
                                  </p:childTnLst>
                                </p:cTn>
                              </p:par>
                              <p:par>
                                <p:cTn id="157" presetID="42" presetClass="entr" presetSubtype="0" fill="hold" grpId="0" nodeType="withEffect">
                                  <p:stCondLst>
                                    <p:cond delay="0"/>
                                  </p:stCondLst>
                                  <p:childTnLst>
                                    <p:set>
                                      <p:cBhvr>
                                        <p:cTn id="158" dur="1" fill="hold">
                                          <p:stCondLst>
                                            <p:cond delay="0"/>
                                          </p:stCondLst>
                                        </p:cTn>
                                        <p:tgtEl>
                                          <p:spTgt spid="138"/>
                                        </p:tgtEl>
                                        <p:attrNameLst>
                                          <p:attrName>style.visibility</p:attrName>
                                        </p:attrNameLst>
                                      </p:cBhvr>
                                      <p:to>
                                        <p:strVal val="visible"/>
                                      </p:to>
                                    </p:set>
                                    <p:animEffect transition="in" filter="fade">
                                      <p:cBhvr>
                                        <p:cTn id="159" dur="500"/>
                                        <p:tgtEl>
                                          <p:spTgt spid="138"/>
                                        </p:tgtEl>
                                      </p:cBhvr>
                                    </p:animEffect>
                                    <p:anim calcmode="lin" valueType="num">
                                      <p:cBhvr additive="base">
                                        <p:cTn id="160" dur="500" decel="100000" fill="hold"/>
                                        <p:tgtEl>
                                          <p:spTgt spid="138"/>
                                        </p:tgtEl>
                                        <p:attrNameLst>
                                          <p:attrName>ppt_y</p:attrName>
                                        </p:attrNameLst>
                                      </p:cBhvr>
                                      <p:tavLst>
                                        <p:tav tm="0">
                                          <p:val>
                                            <p:strVal val="#ppt_y+0.06"/>
                                          </p:val>
                                        </p:tav>
                                        <p:tav tm="100000">
                                          <p:val>
                                            <p:strVal val="#ppt_y"/>
                                          </p:val>
                                        </p:tav>
                                      </p:tavLst>
                                    </p:anim>
                                  </p:childTnLst>
                                </p:cTn>
                              </p:par>
                              <p:par>
                                <p:cTn id="161" presetID="42" presetClass="entr" presetSubtype="0" fill="hold" grpId="0" nodeType="withEffect">
                                  <p:stCondLst>
                                    <p:cond delay="0"/>
                                  </p:stCondLst>
                                  <p:childTnLst>
                                    <p:set>
                                      <p:cBhvr>
                                        <p:cTn id="162" dur="1" fill="hold">
                                          <p:stCondLst>
                                            <p:cond delay="0"/>
                                          </p:stCondLst>
                                        </p:cTn>
                                        <p:tgtEl>
                                          <p:spTgt spid="139"/>
                                        </p:tgtEl>
                                        <p:attrNameLst>
                                          <p:attrName>style.visibility</p:attrName>
                                        </p:attrNameLst>
                                      </p:cBhvr>
                                      <p:to>
                                        <p:strVal val="visible"/>
                                      </p:to>
                                    </p:set>
                                    <p:animEffect transition="in" filter="fade">
                                      <p:cBhvr>
                                        <p:cTn id="163" dur="500"/>
                                        <p:tgtEl>
                                          <p:spTgt spid="139"/>
                                        </p:tgtEl>
                                      </p:cBhvr>
                                    </p:animEffect>
                                    <p:anim calcmode="lin" valueType="num">
                                      <p:cBhvr additive="base">
                                        <p:cTn id="164" dur="500" decel="100000" fill="hold"/>
                                        <p:tgtEl>
                                          <p:spTgt spid="139"/>
                                        </p:tgtEl>
                                        <p:attrNameLst>
                                          <p:attrName>ppt_y</p:attrName>
                                        </p:attrNameLst>
                                      </p:cBhvr>
                                      <p:tavLst>
                                        <p:tav tm="0">
                                          <p:val>
                                            <p:strVal val="#ppt_y+0.06"/>
                                          </p:val>
                                        </p:tav>
                                        <p:tav tm="100000">
                                          <p:val>
                                            <p:strVal val="#ppt_y"/>
                                          </p:val>
                                        </p:tav>
                                      </p:tavLst>
                                    </p:anim>
                                  </p:childTnLst>
                                </p:cTn>
                              </p:par>
                              <p:par>
                                <p:cTn id="165" presetID="42" presetClass="entr" presetSubtype="0" fill="hold" grpId="0" nodeType="withEffect">
                                  <p:stCondLst>
                                    <p:cond delay="0"/>
                                  </p:stCondLst>
                                  <p:childTnLst>
                                    <p:set>
                                      <p:cBhvr>
                                        <p:cTn id="166" dur="1" fill="hold">
                                          <p:stCondLst>
                                            <p:cond delay="0"/>
                                          </p:stCondLst>
                                        </p:cTn>
                                        <p:tgtEl>
                                          <p:spTgt spid="140"/>
                                        </p:tgtEl>
                                        <p:attrNameLst>
                                          <p:attrName>style.visibility</p:attrName>
                                        </p:attrNameLst>
                                      </p:cBhvr>
                                      <p:to>
                                        <p:strVal val="visible"/>
                                      </p:to>
                                    </p:set>
                                    <p:animEffect transition="in" filter="fade">
                                      <p:cBhvr>
                                        <p:cTn id="167" dur="500"/>
                                        <p:tgtEl>
                                          <p:spTgt spid="140"/>
                                        </p:tgtEl>
                                      </p:cBhvr>
                                    </p:animEffect>
                                    <p:anim calcmode="lin" valueType="num">
                                      <p:cBhvr additive="base">
                                        <p:cTn id="168" dur="500" decel="100000" fill="hold"/>
                                        <p:tgtEl>
                                          <p:spTgt spid="140"/>
                                        </p:tgtEl>
                                        <p:attrNameLst>
                                          <p:attrName>ppt_y</p:attrName>
                                        </p:attrNameLst>
                                      </p:cBhvr>
                                      <p:tavLst>
                                        <p:tav tm="0">
                                          <p:val>
                                            <p:strVal val="#ppt_y+0.06"/>
                                          </p:val>
                                        </p:tav>
                                        <p:tav tm="100000">
                                          <p:val>
                                            <p:strVal val="#ppt_y"/>
                                          </p:val>
                                        </p:tav>
                                      </p:tavLst>
                                    </p:anim>
                                  </p:childTnLst>
                                </p:cTn>
                              </p:par>
                              <p:par>
                                <p:cTn id="169" presetID="42" presetClass="entr" presetSubtype="0" fill="hold" grpId="0" nodeType="withEffect">
                                  <p:stCondLst>
                                    <p:cond delay="0"/>
                                  </p:stCondLst>
                                  <p:childTnLst>
                                    <p:set>
                                      <p:cBhvr>
                                        <p:cTn id="170" dur="1" fill="hold">
                                          <p:stCondLst>
                                            <p:cond delay="0"/>
                                          </p:stCondLst>
                                        </p:cTn>
                                        <p:tgtEl>
                                          <p:spTgt spid="141"/>
                                        </p:tgtEl>
                                        <p:attrNameLst>
                                          <p:attrName>style.visibility</p:attrName>
                                        </p:attrNameLst>
                                      </p:cBhvr>
                                      <p:to>
                                        <p:strVal val="visible"/>
                                      </p:to>
                                    </p:set>
                                    <p:animEffect transition="in" filter="fade">
                                      <p:cBhvr>
                                        <p:cTn id="171" dur="500"/>
                                        <p:tgtEl>
                                          <p:spTgt spid="141"/>
                                        </p:tgtEl>
                                      </p:cBhvr>
                                    </p:animEffect>
                                    <p:anim calcmode="lin" valueType="num">
                                      <p:cBhvr additive="base">
                                        <p:cTn id="172" dur="500" decel="100000" fill="hold"/>
                                        <p:tgtEl>
                                          <p:spTgt spid="141"/>
                                        </p:tgtEl>
                                        <p:attrNameLst>
                                          <p:attrName>ppt_y</p:attrName>
                                        </p:attrNameLst>
                                      </p:cBhvr>
                                      <p:tavLst>
                                        <p:tav tm="0">
                                          <p:val>
                                            <p:strVal val="#ppt_y+0.06"/>
                                          </p:val>
                                        </p:tav>
                                        <p:tav tm="100000">
                                          <p:val>
                                            <p:strVal val="#ppt_y"/>
                                          </p:val>
                                        </p:tav>
                                      </p:tavLst>
                                    </p:anim>
                                  </p:childTnLst>
                                </p:cTn>
                              </p:par>
                              <p:par>
                                <p:cTn id="173" presetID="42" presetClass="entr" presetSubtype="0" fill="hold" grpId="0" nodeType="withEffect">
                                  <p:stCondLst>
                                    <p:cond delay="0"/>
                                  </p:stCondLst>
                                  <p:childTnLst>
                                    <p:set>
                                      <p:cBhvr>
                                        <p:cTn id="174" dur="1" fill="hold">
                                          <p:stCondLst>
                                            <p:cond delay="0"/>
                                          </p:stCondLst>
                                        </p:cTn>
                                        <p:tgtEl>
                                          <p:spTgt spid="142"/>
                                        </p:tgtEl>
                                        <p:attrNameLst>
                                          <p:attrName>style.visibility</p:attrName>
                                        </p:attrNameLst>
                                      </p:cBhvr>
                                      <p:to>
                                        <p:strVal val="visible"/>
                                      </p:to>
                                    </p:set>
                                    <p:animEffect transition="in" filter="fade">
                                      <p:cBhvr>
                                        <p:cTn id="175" dur="500"/>
                                        <p:tgtEl>
                                          <p:spTgt spid="142"/>
                                        </p:tgtEl>
                                      </p:cBhvr>
                                    </p:animEffect>
                                    <p:anim calcmode="lin" valueType="num">
                                      <p:cBhvr additive="base">
                                        <p:cTn id="176" dur="500" decel="100000" fill="hold"/>
                                        <p:tgtEl>
                                          <p:spTgt spid="142"/>
                                        </p:tgtEl>
                                        <p:attrNameLst>
                                          <p:attrName>ppt_y</p:attrName>
                                        </p:attrNameLst>
                                      </p:cBhvr>
                                      <p:tavLst>
                                        <p:tav tm="0">
                                          <p:val>
                                            <p:strVal val="#ppt_y+0.06"/>
                                          </p:val>
                                        </p:tav>
                                        <p:tav tm="100000">
                                          <p:val>
                                            <p:strVal val="#ppt_y"/>
                                          </p:val>
                                        </p:tav>
                                      </p:tavLst>
                                    </p:anim>
                                  </p:childTnLst>
                                </p:cTn>
                              </p:par>
                              <p:par>
                                <p:cTn id="177" presetID="42" presetClass="entr" presetSubtype="0" fill="hold" grpId="0" nodeType="withEffect">
                                  <p:stCondLst>
                                    <p:cond delay="0"/>
                                  </p:stCondLst>
                                  <p:childTnLst>
                                    <p:set>
                                      <p:cBhvr>
                                        <p:cTn id="178" dur="1" fill="hold">
                                          <p:stCondLst>
                                            <p:cond delay="0"/>
                                          </p:stCondLst>
                                        </p:cTn>
                                        <p:tgtEl>
                                          <p:spTgt spid="143"/>
                                        </p:tgtEl>
                                        <p:attrNameLst>
                                          <p:attrName>style.visibility</p:attrName>
                                        </p:attrNameLst>
                                      </p:cBhvr>
                                      <p:to>
                                        <p:strVal val="visible"/>
                                      </p:to>
                                    </p:set>
                                    <p:animEffect transition="in" filter="fade">
                                      <p:cBhvr>
                                        <p:cTn id="179" dur="500"/>
                                        <p:tgtEl>
                                          <p:spTgt spid="143"/>
                                        </p:tgtEl>
                                      </p:cBhvr>
                                    </p:animEffect>
                                    <p:anim calcmode="lin" valueType="num">
                                      <p:cBhvr additive="base">
                                        <p:cTn id="180" dur="500" decel="100000" fill="hold"/>
                                        <p:tgtEl>
                                          <p:spTgt spid="143"/>
                                        </p:tgtEl>
                                        <p:attrNameLst>
                                          <p:attrName>ppt_y</p:attrName>
                                        </p:attrNameLst>
                                      </p:cBhvr>
                                      <p:tavLst>
                                        <p:tav tm="0">
                                          <p:val>
                                            <p:strVal val="#ppt_y+0.06"/>
                                          </p:val>
                                        </p:tav>
                                        <p:tav tm="100000">
                                          <p:val>
                                            <p:strVal val="#ppt_y"/>
                                          </p:val>
                                        </p:tav>
                                      </p:tavLst>
                                    </p:anim>
                                  </p:childTnLst>
                                </p:cTn>
                              </p:par>
                            </p:childTnLst>
                          </p:cTn>
                        </p:par>
                      </p:childTnLst>
                    </p:cTn>
                  </p:par>
                  <p:par>
                    <p:cTn id="181" fill="hold">
                      <p:stCondLst>
                        <p:cond delay="indefinite"/>
                      </p:stCondLst>
                      <p:childTnLst>
                        <p:par>
                          <p:cTn id="182" fill="hold">
                            <p:stCondLst>
                              <p:cond delay="0"/>
                            </p:stCondLst>
                            <p:childTnLst>
                              <p:par>
                                <p:cTn id="183" presetID="10" presetClass="entr" presetSubtype="0" fill="hold" grpId="0" nodeType="clickEffect">
                                  <p:stCondLst>
                                    <p:cond delay="0"/>
                                  </p:stCondLst>
                                  <p:childTnLst>
                                    <p:set>
                                      <p:cBhvr>
                                        <p:cTn id="184" dur="1" fill="hold">
                                          <p:stCondLst>
                                            <p:cond delay="0"/>
                                          </p:stCondLst>
                                        </p:cTn>
                                        <p:tgtEl>
                                          <p:spTgt spid="144"/>
                                        </p:tgtEl>
                                        <p:attrNameLst>
                                          <p:attrName>style.visibility</p:attrName>
                                        </p:attrNameLst>
                                      </p:cBhvr>
                                      <p:to>
                                        <p:strVal val="visible"/>
                                      </p:to>
                                    </p:set>
                                    <p:animEffect transition="in" filter="fade">
                                      <p:cBhvr>
                                        <p:cTn id="185" dur="5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CHAPTER 06</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TDD</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173</a:t>
            </a:r>
            <a:endParaRPr lang="en-US" sz="850" dirty="0"/>
          </a:p>
        </p:txBody>
      </p:sp>
      <p:sp>
        <p:nvSpPr>
          <p:cNvPr id="101" name="!!bignum"/>
          <p:cNvSpPr txBox="1"/>
          <p:nvPr/>
        </p:nvSpPr>
        <p:spPr>
          <a:xfrm>
            <a:off x="497434" y="960120"/>
            <a:ext cx="2926080" cy="1463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F87171"/>
                </a:solidFill>
                <a:latin typeface="Segoe UI"/>
                <a:ea typeface="Segoe UI"/>
                <a:cs typeface="Segoe UI"/>
              </a:rPr>
              <a:t>06</a:t>
            </a:r>
            <a:endParaRPr lang="en-US" sz="9600" dirty="0"/>
          </a:p>
        </p:txBody>
      </p:sp>
      <p:sp>
        <p:nvSpPr>
          <p:cNvPr id="102" name="s102"/>
          <p:cNvSpPr txBox="1"/>
          <p:nvPr/>
        </p:nvSpPr>
        <p:spPr>
          <a:xfrm>
            <a:off x="543154" y="2377440"/>
            <a:ext cx="10515600" cy="8229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Test-Driven Development</a:t>
            </a:r>
            <a:endParaRPr lang="en-US" sz="4000" dirty="0"/>
          </a:p>
        </p:txBody>
      </p:sp>
      <p:sp>
        <p:nvSpPr>
          <p:cNvPr id="103" name="s103"/>
          <p:cNvSpPr txBox="1"/>
          <p:nvPr/>
        </p:nvSpPr>
        <p:spPr>
          <a:xfrm>
            <a:off x="543154" y="3154680"/>
            <a:ext cx="1051560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0" dirty="0">
                <a:solidFill>
                  <a:srgbClr val="CBD5E1"/>
                </a:solidFill>
                <a:latin typeface="Segoe UI"/>
                <a:ea typeface="Segoe UI"/>
                <a:cs typeface="Segoe UI"/>
              </a:rPr>
              <a:t>Write the test FIRST. Let it fail. Then write just enough code to pass.</a:t>
            </a:r>
            <a:endParaRPr lang="en-US" sz="1600" dirty="0"/>
          </a:p>
        </p:txBody>
      </p:sp>
      <p:sp>
        <p:nvSpPr>
          <p:cNvPr id="104" name="s104"/>
          <p:cNvSpPr/>
          <p:nvPr/>
        </p:nvSpPr>
        <p:spPr>
          <a:xfrm>
            <a:off x="543154" y="3840480"/>
            <a:ext cx="3513125" cy="960120"/>
          </a:xfrm>
          <a:prstGeom prst="roundRect">
            <a:avLst>
              <a:gd name="adj" fmla="val 10000"/>
            </a:avLst>
          </a:prstGeom>
          <a:solidFill>
            <a:srgbClr val="111B2E"/>
          </a:solidFill>
          <a:ln w="12700">
            <a:solidFill>
              <a:srgbClr val="F87171"/>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87171"/>
                </a:solidFill>
                <a:latin typeface="Segoe UI"/>
                <a:ea typeface="Segoe UI"/>
                <a:cs typeface="Segoe UI"/>
              </a:rPr>
              <a:t>The idea</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Test → code → refactor.</a:t>
            </a:r>
            <a:endParaRPr lang="en-US" sz="1200" dirty="0"/>
          </a:p>
        </p:txBody>
      </p:sp>
      <p:sp>
        <p:nvSpPr>
          <p:cNvPr id="105" name="s105"/>
          <p:cNvSpPr/>
          <p:nvPr/>
        </p:nvSpPr>
        <p:spPr>
          <a:xfrm>
            <a:off x="4330598" y="3840480"/>
            <a:ext cx="3513125" cy="960120"/>
          </a:xfrm>
          <a:prstGeom prst="roundRect">
            <a:avLst>
              <a:gd name="adj" fmla="val 10000"/>
            </a:avLst>
          </a:prstGeom>
          <a:solidFill>
            <a:srgbClr val="111B2E"/>
          </a:solidFill>
          <a:ln w="12700">
            <a:solidFill>
              <a:srgbClr val="F87171"/>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87171"/>
                </a:solidFill>
                <a:latin typeface="Segoe UI"/>
                <a:ea typeface="Segoe UI"/>
                <a:cs typeface="Segoe UI"/>
              </a:rPr>
              <a:t>The cycle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Red, Green, Refactor.</a:t>
            </a:r>
            <a:endParaRPr lang="en-US" sz="1200" dirty="0"/>
          </a:p>
        </p:txBody>
      </p:sp>
      <p:sp>
        <p:nvSpPr>
          <p:cNvPr id="106" name="s106"/>
          <p:cNvSpPr/>
          <p:nvPr/>
        </p:nvSpPr>
        <p:spPr>
          <a:xfrm>
            <a:off x="8118043" y="3840480"/>
            <a:ext cx="3513125" cy="960120"/>
          </a:xfrm>
          <a:prstGeom prst="roundRect">
            <a:avLst>
              <a:gd name="adj" fmla="val 10000"/>
            </a:avLst>
          </a:prstGeom>
          <a:solidFill>
            <a:srgbClr val="111B2E"/>
          </a:solidFill>
          <a:ln w="12700">
            <a:solidFill>
              <a:srgbClr val="F87171"/>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87171"/>
                </a:solidFill>
                <a:latin typeface="Segoe UI"/>
                <a:ea typeface="Segoe UI"/>
                <a:cs typeface="Segoe UI"/>
              </a:rPr>
              <a:t>The choice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Test first or code first?</a:t>
            </a:r>
            <a:endParaRPr lang="en-US" sz="1200" dirty="0"/>
          </a:p>
        </p:txBody>
      </p:sp>
      <p:sp>
        <p:nvSpPr>
          <p:cNvPr id="107" name="!!chap0"/>
          <p:cNvSpPr/>
          <p:nvPr/>
        </p:nvSpPr>
        <p:spPr>
          <a:xfrm>
            <a:off x="54315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87171"/>
                </a:solidFill>
                <a:latin typeface="Segoe UI"/>
                <a:ea typeface="Segoe UI"/>
                <a:cs typeface="Segoe UI"/>
              </a:rPr>
              <a:t>01  </a:t>
            </a:r>
            <a:r>
              <a:rPr lang="en-US" sz="1100" b="0" dirty="0">
                <a:solidFill>
                  <a:srgbClr val="94A3B8"/>
                </a:solidFill>
                <a:latin typeface="Segoe UI"/>
                <a:ea typeface="Segoe UI"/>
                <a:cs typeface="Segoe UI"/>
              </a:rPr>
              <a:t>Why test</a:t>
            </a:r>
            <a:endParaRPr lang="en-US" sz="1100" dirty="0"/>
          </a:p>
        </p:txBody>
      </p:sp>
      <p:sp>
        <p:nvSpPr>
          <p:cNvPr id="108" name="!!chap1"/>
          <p:cNvSpPr/>
          <p:nvPr/>
        </p:nvSpPr>
        <p:spPr>
          <a:xfrm>
            <a:off x="240944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02  </a:t>
            </a:r>
            <a:r>
              <a:rPr lang="en-US" sz="1100" b="0" dirty="0">
                <a:solidFill>
                  <a:srgbClr val="94A3B8"/>
                </a:solidFill>
                <a:latin typeface="Segoe UI"/>
                <a:ea typeface="Segoe UI"/>
                <a:cs typeface="Segoe UI"/>
              </a:rPr>
              <a:t>First test</a:t>
            </a:r>
            <a:endParaRPr lang="en-US" sz="1100" dirty="0"/>
          </a:p>
        </p:txBody>
      </p:sp>
      <p:sp>
        <p:nvSpPr>
          <p:cNvPr id="109" name="!!chap2"/>
          <p:cNvSpPr/>
          <p:nvPr/>
        </p:nvSpPr>
        <p:spPr>
          <a:xfrm>
            <a:off x="427573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03  </a:t>
            </a:r>
            <a:r>
              <a:rPr lang="en-US" sz="1100" b="0" dirty="0">
                <a:solidFill>
                  <a:srgbClr val="94A3B8"/>
                </a:solidFill>
                <a:latin typeface="Segoe UI"/>
                <a:ea typeface="Segoe UI"/>
                <a:cs typeface="Segoe UI"/>
              </a:rPr>
              <a:t>Many cases</a:t>
            </a:r>
            <a:endParaRPr lang="en-US" sz="1100" dirty="0"/>
          </a:p>
        </p:txBody>
      </p:sp>
      <p:sp>
        <p:nvSpPr>
          <p:cNvPr id="110" name="!!chap3"/>
          <p:cNvSpPr/>
          <p:nvPr/>
        </p:nvSpPr>
        <p:spPr>
          <a:xfrm>
            <a:off x="614202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04  </a:t>
            </a:r>
            <a:r>
              <a:rPr lang="en-US" sz="1100" b="0" dirty="0">
                <a:solidFill>
                  <a:srgbClr val="94A3B8"/>
                </a:solidFill>
                <a:latin typeface="Segoe UI"/>
                <a:ea typeface="Segoe UI"/>
                <a:cs typeface="Segoe UI"/>
              </a:rPr>
              <a:t>Hidden inputs</a:t>
            </a:r>
            <a:endParaRPr lang="en-US" sz="1100" dirty="0"/>
          </a:p>
        </p:txBody>
      </p:sp>
      <p:sp>
        <p:nvSpPr>
          <p:cNvPr id="111" name="!!chap4"/>
          <p:cNvSpPr/>
          <p:nvPr/>
        </p:nvSpPr>
        <p:spPr>
          <a:xfrm>
            <a:off x="800831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05  </a:t>
            </a:r>
            <a:r>
              <a:rPr lang="en-US" sz="1100" b="0" dirty="0">
                <a:solidFill>
                  <a:srgbClr val="94A3B8"/>
                </a:solidFill>
                <a:latin typeface="Segoe UI"/>
                <a:ea typeface="Segoe UI"/>
                <a:cs typeface="Segoe UI"/>
              </a:rPr>
              <a:t>Test doubles</a:t>
            </a:r>
            <a:endParaRPr lang="en-US" sz="1100" dirty="0"/>
          </a:p>
        </p:txBody>
      </p:sp>
      <p:sp>
        <p:nvSpPr>
          <p:cNvPr id="112" name="!!chap5"/>
          <p:cNvSpPr/>
          <p:nvPr/>
        </p:nvSpPr>
        <p:spPr>
          <a:xfrm>
            <a:off x="9874606" y="5074920"/>
            <a:ext cx="1756562" cy="457200"/>
          </a:xfrm>
          <a:prstGeom prst="roundRect">
            <a:avLst>
              <a:gd name="adj" fmla="val 50000"/>
            </a:avLst>
          </a:prstGeom>
          <a:solidFill>
            <a:srgbClr val="F87171"/>
          </a:solidFill>
          <a:ln w="12700">
            <a:solidFill>
              <a:srgbClr val="F87171"/>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06  TDD</a:t>
            </a:r>
            <a:endParaRPr lang="en-US" sz="11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5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50" decel="100000" fill="hold"/>
                                        <p:tgtEl>
                                          <p:spTgt spid="101"/>
                                        </p:tgtEl>
                                        <p:attrNameLst>
                                          <p:attrName>ppt_h</p:attrName>
                                        </p:attrNameLst>
                                      </p:cBhvr>
                                      <p:tavLst>
                                        <p:tav tm="0">
                                          <p:val>
                                            <p:strVal val="#ppt_h*0.3"/>
                                          </p:val>
                                        </p:tav>
                                        <p:tav tm="100000">
                                          <p:val>
                                            <p:strVal val="#ppt_h*1.08"/>
                                          </p:val>
                                        </p:tav>
                                      </p:tavLst>
                                    </p:anim>
                                    <p:animEffect transition="in" filter="fade">
                                      <p:cBhvr>
                                        <p:cTn id="9" dur="275"/>
                                        <p:tgtEl>
                                          <p:spTgt spid="101"/>
                                        </p:tgtEl>
                                      </p:cBhvr>
                                    </p:animEffect>
                                    <p:anim calcmode="lin" valueType="num">
                                      <p:cBhvr additive="base">
                                        <p:cTn id="10" dur="160" fill="hold">
                                          <p:stCondLst>
                                            <p:cond delay="55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5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4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50"/>
                                        <p:tgtEl>
                                          <p:spTgt spid="102"/>
                                        </p:tgtEl>
                                      </p:cBhvr>
                                    </p:animEffect>
                                    <p:anim calcmode="lin" valueType="num">
                                      <p:cBhvr additive="base">
                                        <p:cTn id="15" dur="55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8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50"/>
                                        <p:tgtEl>
                                          <p:spTgt spid="103"/>
                                        </p:tgtEl>
                                      </p:cBhvr>
                                    </p:animEffect>
                                    <p:anim calcmode="lin" valueType="num">
                                      <p:cBhvr additive="base">
                                        <p:cTn id="19" dur="55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42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50"/>
                                        <p:tgtEl>
                                          <p:spTgt spid="104"/>
                                        </p:tgtEl>
                                      </p:cBhvr>
                                    </p:animEffect>
                                    <p:anim calcmode="lin" valueType="num">
                                      <p:cBhvr additive="base">
                                        <p:cTn id="23" dur="55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56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50"/>
                                        <p:tgtEl>
                                          <p:spTgt spid="105"/>
                                        </p:tgtEl>
                                      </p:cBhvr>
                                    </p:animEffect>
                                    <p:anim calcmode="lin" valueType="num">
                                      <p:cBhvr additive="base">
                                        <p:cTn id="27" dur="55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70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50"/>
                                        <p:tgtEl>
                                          <p:spTgt spid="106"/>
                                        </p:tgtEl>
                                      </p:cBhvr>
                                    </p:animEffect>
                                    <p:anim calcmode="lin" valueType="num">
                                      <p:cBhvr additive="base">
                                        <p:cTn id="31" dur="550" decel="100000" fill="hold"/>
                                        <p:tgtEl>
                                          <p:spTgt spid="106"/>
                                        </p:tgtEl>
                                        <p:attrNameLst>
                                          <p:attrName>ppt_y</p:attrName>
                                        </p:attrNameLst>
                                      </p:cBhvr>
                                      <p:tavLst>
                                        <p:tav tm="0">
                                          <p:val>
                                            <p:strVal val="#ppt_y+0.06"/>
                                          </p:val>
                                        </p:tav>
                                        <p:tav tm="100000">
                                          <p:val>
                                            <p:strVal val="#ppt_y"/>
                                          </p:val>
                                        </p:tav>
                                      </p:tavLst>
                                    </p:anim>
                                  </p:childTnLst>
                                </p:cTn>
                              </p:par>
                              <p:par>
                                <p:cTn id="32" presetID="10" presetClass="entr" presetSubtype="0" fill="hold" grpId="0" nodeType="withEffect">
                                  <p:stCondLst>
                                    <p:cond delay="85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childTnLst>
                                </p:cTn>
                              </p:par>
                              <p:par>
                                <p:cTn id="35" presetID="10" presetClass="entr" presetSubtype="0" fill="hold" grpId="0" nodeType="withEffect">
                                  <p:stCondLst>
                                    <p:cond delay="85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85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85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85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85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WHAT IS TDD?</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Is TDD? Flip the Order</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Test-Driven Development: the test comes BEFORE the production code.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TDD</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174</a:t>
            </a:r>
            <a:endParaRPr lang="en-US" sz="850" dirty="0"/>
          </a:p>
        </p:txBody>
      </p:sp>
      <p:sp>
        <p:nvSpPr>
          <p:cNvPr id="101" name="s101"/>
          <p:cNvSpPr txBox="1"/>
          <p:nvPr/>
        </p:nvSpPr>
        <p:spPr>
          <a:xfrm>
            <a:off x="543154" y="1810512"/>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THE USUAL WAY</a:t>
            </a:r>
            <a:endParaRPr lang="en-US" sz="1100" dirty="0"/>
          </a:p>
        </p:txBody>
      </p:sp>
      <p:sp>
        <p:nvSpPr>
          <p:cNvPr id="102" name="s102"/>
          <p:cNvSpPr/>
          <p:nvPr/>
        </p:nvSpPr>
        <p:spPr>
          <a:xfrm>
            <a:off x="543154" y="2130552"/>
            <a:ext cx="2948940" cy="685800"/>
          </a:xfrm>
          <a:prstGeom prst="roundRect">
            <a:avLst>
              <a:gd name="adj" fmla="val 18000"/>
            </a:avLst>
          </a:prstGeom>
          <a:solidFill>
            <a:srgbClr val="60A5FA">
              <a:alpha val="16000"/>
            </a:srgbClr>
          </a:solidFill>
          <a:ln w="22225">
            <a:solidFill>
              <a:srgbClr val="60A5FA"/>
            </a:solidFill>
            <a:prstDash val="solid"/>
          </a:ln>
        </p:spPr>
        <p:txBody>
          <a:bodyPr wrap="square" lIns="91440" tIns="0" rIns="91440" bIns="0" rtlCol="0" anchor="ctr">
            <a:noAutofit/>
          </a:bodyPr>
          <a:lstStyle/>
          <a:p>
            <a:pPr marL="0" indent="0" algn="ctr">
              <a:spcBef>
                <a:spcPts val="0"/>
              </a:spcBef>
              <a:spcAft>
                <a:spcPts val="0"/>
              </a:spcAft>
              <a:buNone/>
            </a:pPr>
            <a:r>
              <a:rPr lang="en-US" sz="1600" b="1" dirty="0">
                <a:solidFill>
                  <a:srgbClr val="60A5FA"/>
                </a:solidFill>
                <a:latin typeface="Segoe UI"/>
                <a:ea typeface="Segoe UI"/>
                <a:cs typeface="Segoe UI"/>
              </a:rPr>
              <a:t>Production Code</a:t>
            </a:r>
            <a:endParaRPr lang="en-US" sz="1600" dirty="0"/>
          </a:p>
        </p:txBody>
      </p:sp>
      <p:sp>
        <p:nvSpPr>
          <p:cNvPr id="103" name="s103"/>
          <p:cNvSpPr/>
          <p:nvPr/>
        </p:nvSpPr>
        <p:spPr>
          <a:xfrm>
            <a:off x="3995014" y="2130552"/>
            <a:ext cx="2948940" cy="685800"/>
          </a:xfrm>
          <a:prstGeom prst="roundRect">
            <a:avLst>
              <a:gd name="adj" fmla="val 18000"/>
            </a:avLst>
          </a:prstGeom>
          <a:solidFill>
            <a:srgbClr val="94A3B8">
              <a:alpha val="16000"/>
            </a:srgbClr>
          </a:solidFill>
          <a:ln w="22225">
            <a:solidFill>
              <a:srgbClr val="94A3B8"/>
            </a:solidFill>
            <a:prstDash val="solid"/>
          </a:ln>
        </p:spPr>
        <p:txBody>
          <a:bodyPr wrap="square" lIns="91440" tIns="0" rIns="91440" bIns="0" rtlCol="0" anchor="ctr">
            <a:noAutofit/>
          </a:bodyPr>
          <a:lstStyle/>
          <a:p>
            <a:pPr marL="0" indent="0" algn="ctr">
              <a:spcBef>
                <a:spcPts val="0"/>
              </a:spcBef>
              <a:spcAft>
                <a:spcPts val="0"/>
              </a:spcAft>
              <a:buNone/>
            </a:pPr>
            <a:r>
              <a:rPr lang="en-US" sz="1600" b="1" dirty="0">
                <a:solidFill>
                  <a:srgbClr val="94A3B8"/>
                </a:solidFill>
                <a:latin typeface="Segoe UI"/>
                <a:ea typeface="Segoe UI"/>
                <a:cs typeface="Segoe UI"/>
              </a:rPr>
              <a:t>Unit Test</a:t>
            </a:r>
            <a:endParaRPr lang="en-US" sz="1600" dirty="0"/>
          </a:p>
        </p:txBody>
      </p:sp>
      <p:cxnSp>
        <p:nvCxnSpPr>
          <p:cNvPr id="104" name="ln104"/>
          <p:cNvCxnSpPr/>
          <p:nvPr/>
        </p:nvCxnSpPr>
        <p:spPr>
          <a:xfrm>
            <a:off x="3565246" y="2473452"/>
            <a:ext cx="356616" cy="0"/>
          </a:xfrm>
          <a:prstGeom prst="line">
            <a:avLst/>
          </a:prstGeom>
          <a:ln w="25400">
            <a:solidFill>
              <a:srgbClr val="94A3B8"/>
            </a:solidFill>
            <a:tailEnd type="triangle" w="med" len="med"/>
          </a:ln>
        </p:spPr>
      </p:cxnSp>
      <p:sp>
        <p:nvSpPr>
          <p:cNvPr id="105" name="s105"/>
          <p:cNvSpPr txBox="1"/>
          <p:nvPr/>
        </p:nvSpPr>
        <p:spPr>
          <a:xfrm>
            <a:off x="7218274" y="2130552"/>
            <a:ext cx="4412894" cy="6858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0" i="1" dirty="0">
                <a:solidFill>
                  <a:srgbClr val="94A3B8"/>
                </a:solidFill>
                <a:latin typeface="Segoe UI"/>
                <a:ea typeface="Segoe UI"/>
                <a:cs typeface="Segoe UI"/>
              </a:rPr>
              <a:t>the test is written LATER, if there is time</a:t>
            </a:r>
            <a:endParaRPr lang="en-US" sz="1300" dirty="0"/>
          </a:p>
        </p:txBody>
      </p:sp>
      <p:sp>
        <p:nvSpPr>
          <p:cNvPr id="106" name="s106"/>
          <p:cNvSpPr txBox="1"/>
          <p:nvPr/>
        </p:nvSpPr>
        <p:spPr>
          <a:xfrm>
            <a:off x="543154" y="3044952"/>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F87171"/>
                </a:solidFill>
                <a:latin typeface="Segoe UI"/>
                <a:ea typeface="Segoe UI"/>
                <a:cs typeface="Segoe UI"/>
              </a:rPr>
              <a:t>TDD</a:t>
            </a:r>
            <a:endParaRPr lang="en-US" sz="1100" dirty="0"/>
          </a:p>
        </p:txBody>
      </p:sp>
      <p:sp>
        <p:nvSpPr>
          <p:cNvPr id="107" name="s107"/>
          <p:cNvSpPr/>
          <p:nvPr/>
        </p:nvSpPr>
        <p:spPr>
          <a:xfrm>
            <a:off x="543154" y="3364992"/>
            <a:ext cx="3360725" cy="685800"/>
          </a:xfrm>
          <a:prstGeom prst="roundRect">
            <a:avLst>
              <a:gd name="adj" fmla="val 18000"/>
            </a:avLst>
          </a:prstGeom>
          <a:solidFill>
            <a:srgbClr val="F87171">
              <a:alpha val="16000"/>
            </a:srgbClr>
          </a:solidFill>
          <a:ln w="22225">
            <a:solidFill>
              <a:srgbClr val="F87171"/>
            </a:solidFill>
            <a:prstDash val="solid"/>
          </a:ln>
        </p:spPr>
        <p:txBody>
          <a:bodyPr wrap="square" lIns="91440" tIns="0" rIns="91440" bIns="0" rtlCol="0" anchor="ctr">
            <a:noAutofit/>
          </a:bodyPr>
          <a:lstStyle/>
          <a:p>
            <a:pPr marL="0" indent="0" algn="ctr">
              <a:spcBef>
                <a:spcPts val="0"/>
              </a:spcBef>
              <a:spcAft>
                <a:spcPts val="0"/>
              </a:spcAft>
              <a:buNone/>
            </a:pPr>
            <a:r>
              <a:rPr lang="en-US" sz="1700" b="1" dirty="0">
                <a:solidFill>
                  <a:srgbClr val="F87171"/>
                </a:solidFill>
                <a:latin typeface="Segoe UI"/>
                <a:ea typeface="Segoe UI"/>
                <a:cs typeface="Segoe UI"/>
              </a:rPr>
              <a:t>Unit Test</a:t>
            </a:r>
            <a:endParaRPr lang="en-US" sz="1700" dirty="0"/>
          </a:p>
        </p:txBody>
      </p:sp>
      <p:sp>
        <p:nvSpPr>
          <p:cNvPr id="108" name="s108"/>
          <p:cNvSpPr/>
          <p:nvPr/>
        </p:nvSpPr>
        <p:spPr>
          <a:xfrm>
            <a:off x="4406798" y="3364992"/>
            <a:ext cx="3360725" cy="685800"/>
          </a:xfrm>
          <a:prstGeom prst="roundRect">
            <a:avLst>
              <a:gd name="adj" fmla="val 18000"/>
            </a:avLst>
          </a:prstGeom>
          <a:solidFill>
            <a:srgbClr val="34D399">
              <a:alpha val="16000"/>
            </a:srgbClr>
          </a:solidFill>
          <a:ln w="22225">
            <a:solidFill>
              <a:srgbClr val="34D399"/>
            </a:solidFill>
            <a:prstDash val="solid"/>
          </a:ln>
        </p:spPr>
        <p:txBody>
          <a:bodyPr wrap="square" lIns="91440" tIns="0" rIns="91440" bIns="0" rtlCol="0" anchor="ctr">
            <a:noAutofit/>
          </a:bodyPr>
          <a:lstStyle/>
          <a:p>
            <a:pPr marL="0" indent="0" algn="ctr">
              <a:spcBef>
                <a:spcPts val="0"/>
              </a:spcBef>
              <a:spcAft>
                <a:spcPts val="0"/>
              </a:spcAft>
              <a:buNone/>
            </a:pPr>
            <a:r>
              <a:rPr lang="en-US" sz="1700" b="1" dirty="0">
                <a:solidFill>
                  <a:srgbClr val="34D399"/>
                </a:solidFill>
                <a:latin typeface="Segoe UI"/>
                <a:ea typeface="Segoe UI"/>
                <a:cs typeface="Segoe UI"/>
              </a:rPr>
              <a:t>Production Code</a:t>
            </a:r>
            <a:endParaRPr lang="en-US" sz="1700" dirty="0"/>
          </a:p>
        </p:txBody>
      </p:sp>
      <p:cxnSp>
        <p:nvCxnSpPr>
          <p:cNvPr id="109" name="ln109"/>
          <p:cNvCxnSpPr/>
          <p:nvPr/>
        </p:nvCxnSpPr>
        <p:spPr>
          <a:xfrm>
            <a:off x="3977030" y="3707892"/>
            <a:ext cx="356616" cy="0"/>
          </a:xfrm>
          <a:prstGeom prst="line">
            <a:avLst/>
          </a:prstGeom>
          <a:ln w="25400">
            <a:solidFill>
              <a:srgbClr val="94A3B8"/>
            </a:solidFill>
            <a:tailEnd type="triangle" w="med" len="med"/>
          </a:ln>
        </p:spPr>
      </p:cxnSp>
      <p:sp>
        <p:nvSpPr>
          <p:cNvPr id="110" name="s110"/>
          <p:cNvSpPr/>
          <p:nvPr/>
        </p:nvSpPr>
        <p:spPr>
          <a:xfrm>
            <a:off x="8270443" y="3364992"/>
            <a:ext cx="3360725" cy="685800"/>
          </a:xfrm>
          <a:prstGeom prst="roundRect">
            <a:avLst>
              <a:gd name="adj" fmla="val 18000"/>
            </a:avLst>
          </a:prstGeom>
          <a:solidFill>
            <a:srgbClr val="60A5FA">
              <a:alpha val="16000"/>
            </a:srgbClr>
          </a:solidFill>
          <a:ln w="22225">
            <a:solidFill>
              <a:srgbClr val="60A5FA"/>
            </a:solidFill>
            <a:prstDash val="solid"/>
          </a:ln>
        </p:spPr>
        <p:txBody>
          <a:bodyPr wrap="square" lIns="91440" tIns="0" rIns="91440" bIns="0" rtlCol="0" anchor="ctr">
            <a:noAutofit/>
          </a:bodyPr>
          <a:lstStyle/>
          <a:p>
            <a:pPr marL="0" indent="0" algn="ctr">
              <a:spcBef>
                <a:spcPts val="0"/>
              </a:spcBef>
              <a:spcAft>
                <a:spcPts val="0"/>
              </a:spcAft>
              <a:buNone/>
            </a:pPr>
            <a:r>
              <a:rPr lang="en-US" sz="1700" b="1" dirty="0">
                <a:solidFill>
                  <a:srgbClr val="60A5FA"/>
                </a:solidFill>
                <a:latin typeface="Segoe UI"/>
                <a:ea typeface="Segoe UI"/>
                <a:cs typeface="Segoe UI"/>
              </a:rPr>
              <a:t>Refactoring</a:t>
            </a:r>
            <a:endParaRPr lang="en-US" sz="1700" dirty="0"/>
          </a:p>
        </p:txBody>
      </p:sp>
      <p:cxnSp>
        <p:nvCxnSpPr>
          <p:cNvPr id="111" name="ln111"/>
          <p:cNvCxnSpPr/>
          <p:nvPr/>
        </p:nvCxnSpPr>
        <p:spPr>
          <a:xfrm>
            <a:off x="7840675" y="3707892"/>
            <a:ext cx="356616" cy="0"/>
          </a:xfrm>
          <a:prstGeom prst="line">
            <a:avLst/>
          </a:prstGeom>
          <a:ln w="25400">
            <a:solidFill>
              <a:srgbClr val="94A3B8"/>
            </a:solidFill>
            <a:tailEnd type="triangle" w="med" len="med"/>
          </a:ln>
        </p:spPr>
      </p:cxnSp>
      <p:sp>
        <p:nvSpPr>
          <p:cNvPr id="112" name="s112"/>
          <p:cNvSpPr txBox="1"/>
          <p:nvPr/>
        </p:nvSpPr>
        <p:spPr>
          <a:xfrm>
            <a:off x="543154" y="4096512"/>
            <a:ext cx="3360725"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87171"/>
                </a:solidFill>
                <a:latin typeface="Segoe UI"/>
                <a:ea typeface="Segoe UI"/>
                <a:cs typeface="Segoe UI"/>
              </a:rPr>
              <a:t>RED</a:t>
            </a:r>
            <a:endParaRPr lang="en-US" sz="1400" dirty="0"/>
          </a:p>
        </p:txBody>
      </p:sp>
      <p:sp>
        <p:nvSpPr>
          <p:cNvPr id="113" name="s113"/>
          <p:cNvSpPr txBox="1"/>
          <p:nvPr/>
        </p:nvSpPr>
        <p:spPr>
          <a:xfrm>
            <a:off x="4406798" y="4096512"/>
            <a:ext cx="3360725"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34D399"/>
                </a:solidFill>
                <a:latin typeface="Segoe UI"/>
                <a:ea typeface="Segoe UI"/>
                <a:cs typeface="Segoe UI"/>
              </a:rPr>
              <a:t>GREEN</a:t>
            </a:r>
            <a:endParaRPr lang="en-US" sz="1400" dirty="0"/>
          </a:p>
        </p:txBody>
      </p:sp>
      <p:sp>
        <p:nvSpPr>
          <p:cNvPr id="114" name="s114"/>
          <p:cNvSpPr txBox="1"/>
          <p:nvPr/>
        </p:nvSpPr>
        <p:spPr>
          <a:xfrm>
            <a:off x="8270443" y="4096512"/>
            <a:ext cx="3360725"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60A5FA"/>
                </a:solidFill>
                <a:latin typeface="Segoe UI"/>
                <a:ea typeface="Segoe UI"/>
                <a:cs typeface="Segoe UI"/>
              </a:rPr>
              <a:t>REFACTOR</a:t>
            </a:r>
            <a:endParaRPr lang="en-US" sz="1400" dirty="0"/>
          </a:p>
        </p:txBody>
      </p:sp>
      <p:sp>
        <p:nvSpPr>
          <p:cNvPr id="115" name="s115"/>
          <p:cNvSpPr/>
          <p:nvPr/>
        </p:nvSpPr>
        <p:spPr>
          <a:xfrm>
            <a:off x="543154" y="4690872"/>
            <a:ext cx="11088014" cy="640080"/>
          </a:xfrm>
          <a:prstGeom prst="roundRect">
            <a:avLst>
              <a:gd name="adj" fmla="val 15000"/>
            </a:avLst>
          </a:prstGeom>
          <a:solidFill>
            <a:srgbClr val="F87171">
              <a:alpha val="12000"/>
            </a:srgbClr>
          </a:solidFill>
          <a:ln w="12700">
            <a:solidFill>
              <a:srgbClr val="F87171"/>
            </a:solidFill>
            <a:prstDash val="solid"/>
          </a:ln>
        </p:spPr>
        <p:txBody>
          <a:bodyPr wrap="square" lIns="228600" tIns="0" rIns="228600" bIns="0" rtlCol="0" anchor="ctr">
            <a:noAutofit/>
          </a:bodyPr>
          <a:lstStyle/>
          <a:p>
            <a:pPr marL="0" indent="0" algn="ctr">
              <a:spcBef>
                <a:spcPts val="0"/>
              </a:spcBef>
              <a:spcAft>
                <a:spcPts val="0"/>
              </a:spcAft>
              <a:buNone/>
            </a:pPr>
            <a:r>
              <a:rPr lang="en-US" sz="1600" b="0" dirty="0">
                <a:solidFill>
                  <a:srgbClr val="E2E8F0"/>
                </a:solidFill>
                <a:latin typeface="Segoe UI"/>
                <a:ea typeface="Segoe UI"/>
                <a:cs typeface="Segoe UI"/>
              </a:rPr>
              <a:t>Not just "test first":  a short loop,  </a:t>
            </a:r>
            <a:r>
              <a:rPr lang="en-US" sz="1600" b="1" dirty="0">
                <a:solidFill>
                  <a:srgbClr val="F87171"/>
                </a:solidFill>
                <a:latin typeface="Segoe UI"/>
                <a:ea typeface="Segoe UI"/>
                <a:cs typeface="Segoe UI"/>
              </a:rPr>
              <a:t>Red → Green → Refactor</a:t>
            </a:r>
            <a:r>
              <a:rPr lang="en-US" sz="1600" b="0" dirty="0">
                <a:solidFill>
                  <a:srgbClr val="E2E8F0"/>
                </a:solidFill>
                <a:latin typeface="Segoe UI"/>
                <a:ea typeface="Segoe UI"/>
                <a:cs typeface="Segoe UI"/>
              </a:rPr>
              <a:t>,  repeated for every new behavior.</a:t>
            </a:r>
            <a:endParaRPr lang="en-US" sz="1600" dirty="0"/>
          </a:p>
        </p:txBody>
      </p:sp>
      <p:sp>
        <p:nvSpPr>
          <p:cNvPr id="116" name="s116"/>
          <p:cNvSpPr/>
          <p:nvPr/>
        </p:nvSpPr>
        <p:spPr>
          <a:xfrm>
            <a:off x="543154" y="5513832"/>
            <a:ext cx="11088014" cy="594360"/>
          </a:xfrm>
          <a:prstGeom prst="roundRect">
            <a:avLst>
              <a:gd name="adj" fmla="val 15000"/>
            </a:avLst>
          </a:prstGeom>
          <a:solidFill>
            <a:srgbClr val="FBBF24">
              <a:alpha val="12000"/>
            </a:srgbClr>
          </a:solidFill>
          <a:ln w="12700">
            <a:solidFill>
              <a:srgbClr val="FBBF24"/>
            </a:solidFill>
            <a:prstDash val="solid"/>
          </a:ln>
        </p:spPr>
        <p:txBody>
          <a:bodyPr wrap="square" lIns="228600" tIns="0" rIns="228600" bIns="0" rtlCol="0" anchor="ctr">
            <a:noAutofit/>
          </a:bodyPr>
          <a:lstStyle/>
          <a:p>
            <a:pPr marL="0" indent="0" algn="ctr">
              <a:spcBef>
                <a:spcPts val="0"/>
              </a:spcBef>
              <a:spcAft>
                <a:spcPts val="0"/>
              </a:spcAft>
              <a:buNone/>
            </a:pPr>
            <a:r>
              <a:rPr lang="en-US" sz="1500" b="1" dirty="0">
                <a:solidFill>
                  <a:srgbClr val="FBBF24"/>
                </a:solidFill>
                <a:latin typeface="Segoe UI"/>
                <a:ea typeface="Segoe UI"/>
                <a:cs typeface="Segoe UI"/>
              </a:rPr>
              <a:t>ASK  </a:t>
            </a:r>
            <a:r>
              <a:rPr lang="en-US" sz="1500" b="0" dirty="0">
                <a:solidFill>
                  <a:srgbClr val="E2E8F0"/>
                </a:solidFill>
                <a:latin typeface="Segoe UI"/>
                <a:ea typeface="Segoe UI"/>
                <a:cs typeface="Segoe UI"/>
              </a:rPr>
              <a:t>Why would anyone write a test for code that does not exist yet?</a:t>
            </a:r>
            <a:endParaRPr lang="en-US" sz="15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ppt_x</p:attrName>
                                        </p:attrNameLst>
                                      </p:cBhvr>
                                      <p:tavLst>
                                        <p:tav tm="0">
                                          <p:val>
                                            <p:strVal val="#ppt_x-0.05"/>
                                          </p:val>
                                        </p:tav>
                                        <p:tav tm="100000">
                                          <p:val>
                                            <p:strVal val="#ppt_x"/>
                                          </p:val>
                                        </p:tav>
                                      </p:tavLst>
                                    </p:anim>
                                  </p:childTnLst>
                                </p:cTn>
                              </p:par>
                              <p:par>
                                <p:cTn id="9" presetID="42" presetClass="entr" presetSubtype="0" fill="hold" nodeType="withEffect">
                                  <p:stCondLst>
                                    <p:cond delay="0"/>
                                  </p:stCondLst>
                                  <p:childTnLst>
                                    <p:set>
                                      <p:cBhvr>
                                        <p:cTn id="10" dur="1" fill="hold">
                                          <p:stCondLst>
                                            <p:cond delay="0"/>
                                          </p:stCondLst>
                                        </p:cTn>
                                        <p:tgtEl>
                                          <p:spTgt spid="104"/>
                                        </p:tgtEl>
                                        <p:attrNameLst>
                                          <p:attrName>style.visibility</p:attrName>
                                        </p:attrNameLst>
                                      </p:cBhvr>
                                      <p:to>
                                        <p:strVal val="visible"/>
                                      </p:to>
                                    </p:set>
                                    <p:animEffect transition="in" filter="fade">
                                      <p:cBhvr>
                                        <p:cTn id="11" dur="500"/>
                                        <p:tgtEl>
                                          <p:spTgt spid="104"/>
                                        </p:tgtEl>
                                      </p:cBhvr>
                                    </p:animEffect>
                                    <p:anim calcmode="lin" valueType="num">
                                      <p:cBhvr additive="base">
                                        <p:cTn id="12" dur="500" decel="100000" fill="hold"/>
                                        <p:tgtEl>
                                          <p:spTgt spid="104"/>
                                        </p:tgtEl>
                                        <p:attrNameLst>
                                          <p:attrName>ppt_x</p:attrName>
                                        </p:attrNameLst>
                                      </p:cBhvr>
                                      <p:tavLst>
                                        <p:tav tm="0">
                                          <p:val>
                                            <p:strVal val="#ppt_x-0.05"/>
                                          </p:val>
                                        </p:tav>
                                        <p:tav tm="100000">
                                          <p:val>
                                            <p:strVal val="#ppt_x"/>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ppt_x</p:attrName>
                                        </p:attrNameLst>
                                      </p:cBhvr>
                                      <p:tavLst>
                                        <p:tav tm="0">
                                          <p:val>
                                            <p:strVal val="#ppt_x-0.05"/>
                                          </p:val>
                                        </p:tav>
                                        <p:tav tm="100000">
                                          <p:val>
                                            <p:strVal val="#ppt_x"/>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07"/>
                                        </p:tgtEl>
                                        <p:attrNameLst>
                                          <p:attrName>style.visibility</p:attrName>
                                        </p:attrNameLst>
                                      </p:cBhvr>
                                      <p:to>
                                        <p:strVal val="visible"/>
                                      </p:to>
                                    </p:set>
                                    <p:animEffect transition="in" filter="fade">
                                      <p:cBhvr>
                                        <p:cTn id="21" dur="500"/>
                                        <p:tgtEl>
                                          <p:spTgt spid="107"/>
                                        </p:tgtEl>
                                      </p:cBhvr>
                                    </p:animEffect>
                                    <p:anim calcmode="lin" valueType="num">
                                      <p:cBhvr additive="base">
                                        <p:cTn id="22" dur="500" decel="100000" fill="hold"/>
                                        <p:tgtEl>
                                          <p:spTgt spid="107"/>
                                        </p:tgtEl>
                                        <p:attrNameLst>
                                          <p:attrName>ppt_x</p:attrName>
                                        </p:attrNameLst>
                                      </p:cBhvr>
                                      <p:tavLst>
                                        <p:tav tm="0">
                                          <p:val>
                                            <p:strVal val="#ppt_x-0.05"/>
                                          </p:val>
                                        </p:tav>
                                        <p:tav tm="100000">
                                          <p:val>
                                            <p:strVal val="#ppt_x"/>
                                          </p:val>
                                        </p:tav>
                                      </p:tavLst>
                                    </p:anim>
                                  </p:childTnLst>
                                </p:cTn>
                              </p:par>
                              <p:par>
                                <p:cTn id="23" presetID="42" presetClass="entr" presetSubtype="0" fill="hold" nodeType="withEffect">
                                  <p:stCondLst>
                                    <p:cond delay="0"/>
                                  </p:stCondLst>
                                  <p:childTnLst>
                                    <p:set>
                                      <p:cBhvr>
                                        <p:cTn id="24" dur="1" fill="hold">
                                          <p:stCondLst>
                                            <p:cond delay="0"/>
                                          </p:stCondLst>
                                        </p:cTn>
                                        <p:tgtEl>
                                          <p:spTgt spid="109"/>
                                        </p:tgtEl>
                                        <p:attrNameLst>
                                          <p:attrName>style.visibility</p:attrName>
                                        </p:attrNameLst>
                                      </p:cBhvr>
                                      <p:to>
                                        <p:strVal val="visible"/>
                                      </p:to>
                                    </p:set>
                                    <p:animEffect transition="in" filter="fade">
                                      <p:cBhvr>
                                        <p:cTn id="25" dur="500"/>
                                        <p:tgtEl>
                                          <p:spTgt spid="109"/>
                                        </p:tgtEl>
                                      </p:cBhvr>
                                    </p:animEffect>
                                    <p:anim calcmode="lin" valueType="num">
                                      <p:cBhvr additive="base">
                                        <p:cTn id="26" dur="500" decel="100000" fill="hold"/>
                                        <p:tgtEl>
                                          <p:spTgt spid="109"/>
                                        </p:tgtEl>
                                        <p:attrNameLst>
                                          <p:attrName>ppt_x</p:attrName>
                                        </p:attrNameLst>
                                      </p:cBhvr>
                                      <p:tavLst>
                                        <p:tav tm="0">
                                          <p:val>
                                            <p:strVal val="#ppt_x-0.05"/>
                                          </p:val>
                                        </p:tav>
                                        <p:tav tm="100000">
                                          <p:val>
                                            <p:strVal val="#ppt_x"/>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108"/>
                                        </p:tgtEl>
                                        <p:attrNameLst>
                                          <p:attrName>style.visibility</p:attrName>
                                        </p:attrNameLst>
                                      </p:cBhvr>
                                      <p:to>
                                        <p:strVal val="visible"/>
                                      </p:to>
                                    </p:set>
                                    <p:animEffect transition="in" filter="fade">
                                      <p:cBhvr>
                                        <p:cTn id="29" dur="500"/>
                                        <p:tgtEl>
                                          <p:spTgt spid="108"/>
                                        </p:tgtEl>
                                      </p:cBhvr>
                                    </p:animEffect>
                                    <p:anim calcmode="lin" valueType="num">
                                      <p:cBhvr additive="base">
                                        <p:cTn id="30" dur="500" decel="100000" fill="hold"/>
                                        <p:tgtEl>
                                          <p:spTgt spid="108"/>
                                        </p:tgtEl>
                                        <p:attrNameLst>
                                          <p:attrName>ppt_x</p:attrName>
                                        </p:attrNameLst>
                                      </p:cBhvr>
                                      <p:tavLst>
                                        <p:tav tm="0">
                                          <p:val>
                                            <p:strVal val="#ppt_x-0.05"/>
                                          </p:val>
                                        </p:tav>
                                        <p:tav tm="100000">
                                          <p:val>
                                            <p:strVal val="#ppt_x"/>
                                          </p:val>
                                        </p:tav>
                                      </p:tavLst>
                                    </p:anim>
                                  </p:childTnLst>
                                </p:cTn>
                              </p:par>
                              <p:par>
                                <p:cTn id="31" presetID="42" presetClass="entr" presetSubtype="0" fill="hold" nodeType="withEffect">
                                  <p:stCondLst>
                                    <p:cond delay="0"/>
                                  </p:stCondLst>
                                  <p:childTnLst>
                                    <p:set>
                                      <p:cBhvr>
                                        <p:cTn id="32" dur="1" fill="hold">
                                          <p:stCondLst>
                                            <p:cond delay="0"/>
                                          </p:stCondLst>
                                        </p:cTn>
                                        <p:tgtEl>
                                          <p:spTgt spid="111"/>
                                        </p:tgtEl>
                                        <p:attrNameLst>
                                          <p:attrName>style.visibility</p:attrName>
                                        </p:attrNameLst>
                                      </p:cBhvr>
                                      <p:to>
                                        <p:strVal val="visible"/>
                                      </p:to>
                                    </p:set>
                                    <p:animEffect transition="in" filter="fade">
                                      <p:cBhvr>
                                        <p:cTn id="33" dur="500"/>
                                        <p:tgtEl>
                                          <p:spTgt spid="111"/>
                                        </p:tgtEl>
                                      </p:cBhvr>
                                    </p:animEffect>
                                    <p:anim calcmode="lin" valueType="num">
                                      <p:cBhvr additive="base">
                                        <p:cTn id="34" dur="500" decel="100000" fill="hold"/>
                                        <p:tgtEl>
                                          <p:spTgt spid="111"/>
                                        </p:tgtEl>
                                        <p:attrNameLst>
                                          <p:attrName>ppt_x</p:attrName>
                                        </p:attrNameLst>
                                      </p:cBhvr>
                                      <p:tavLst>
                                        <p:tav tm="0">
                                          <p:val>
                                            <p:strVal val="#ppt_x-0.05"/>
                                          </p:val>
                                        </p:tav>
                                        <p:tav tm="100000">
                                          <p:val>
                                            <p:strVal val="#ppt_x"/>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10"/>
                                        </p:tgtEl>
                                        <p:attrNameLst>
                                          <p:attrName>style.visibility</p:attrName>
                                        </p:attrNameLst>
                                      </p:cBhvr>
                                      <p:to>
                                        <p:strVal val="visible"/>
                                      </p:to>
                                    </p:set>
                                    <p:animEffect transition="in" filter="fade">
                                      <p:cBhvr>
                                        <p:cTn id="37" dur="500"/>
                                        <p:tgtEl>
                                          <p:spTgt spid="110"/>
                                        </p:tgtEl>
                                      </p:cBhvr>
                                    </p:animEffect>
                                    <p:anim calcmode="lin" valueType="num">
                                      <p:cBhvr additive="base">
                                        <p:cTn id="38" dur="500" decel="100000" fill="hold"/>
                                        <p:tgtEl>
                                          <p:spTgt spid="110"/>
                                        </p:tgtEl>
                                        <p:attrNameLst>
                                          <p:attrName>ppt_x</p:attrName>
                                        </p:attrNameLst>
                                      </p:cBhvr>
                                      <p:tavLst>
                                        <p:tav tm="0">
                                          <p:val>
                                            <p:strVal val="#ppt_x-0.05"/>
                                          </p:val>
                                        </p:tav>
                                        <p:tav tm="100000">
                                          <p:val>
                                            <p:strVal val="#ppt_x"/>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112"/>
                                        </p:tgtEl>
                                        <p:attrNameLst>
                                          <p:attrName>style.visibility</p:attrName>
                                        </p:attrNameLst>
                                      </p:cBhvr>
                                      <p:to>
                                        <p:strVal val="visible"/>
                                      </p:to>
                                    </p:set>
                                    <p:animEffect transition="in" filter="fade">
                                      <p:cBhvr>
                                        <p:cTn id="43" dur="500"/>
                                        <p:tgtEl>
                                          <p:spTgt spid="112"/>
                                        </p:tgtEl>
                                      </p:cBhvr>
                                    </p:animEffect>
                                    <p:anim calcmode="lin" valueType="num">
                                      <p:cBhvr additive="base">
                                        <p:cTn id="44" dur="500" decel="100000" fill="hold"/>
                                        <p:tgtEl>
                                          <p:spTgt spid="112"/>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3"/>
                                        </p:tgtEl>
                                        <p:attrNameLst>
                                          <p:attrName>style.visibility</p:attrName>
                                        </p:attrNameLst>
                                      </p:cBhvr>
                                      <p:to>
                                        <p:strVal val="visible"/>
                                      </p:to>
                                    </p:set>
                                    <p:animEffect transition="in" filter="fade">
                                      <p:cBhvr>
                                        <p:cTn id="47" dur="500"/>
                                        <p:tgtEl>
                                          <p:spTgt spid="113"/>
                                        </p:tgtEl>
                                      </p:cBhvr>
                                    </p:animEffect>
                                    <p:anim calcmode="lin" valueType="num">
                                      <p:cBhvr additive="base">
                                        <p:cTn id="48" dur="500" decel="100000" fill="hold"/>
                                        <p:tgtEl>
                                          <p:spTgt spid="113"/>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4"/>
                                        </p:tgtEl>
                                        <p:attrNameLst>
                                          <p:attrName>style.visibility</p:attrName>
                                        </p:attrNameLst>
                                      </p:cBhvr>
                                      <p:to>
                                        <p:strVal val="visible"/>
                                      </p:to>
                                    </p:set>
                                    <p:animEffect transition="in" filter="fade">
                                      <p:cBhvr>
                                        <p:cTn id="51" dur="500"/>
                                        <p:tgtEl>
                                          <p:spTgt spid="114"/>
                                        </p:tgtEl>
                                      </p:cBhvr>
                                    </p:animEffect>
                                    <p:anim calcmode="lin" valueType="num">
                                      <p:cBhvr additive="base">
                                        <p:cTn id="52"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53" presetClass="entr" presetSubtype="16" fill="hold" grpId="0" nodeType="clickEffect">
                                  <p:stCondLst>
                                    <p:cond delay="0"/>
                                  </p:stCondLst>
                                  <p:childTnLst>
                                    <p:set>
                                      <p:cBhvr>
                                        <p:cTn id="56" dur="1" fill="hold">
                                          <p:stCondLst>
                                            <p:cond delay="0"/>
                                          </p:stCondLst>
                                        </p:cTn>
                                        <p:tgtEl>
                                          <p:spTgt spid="115"/>
                                        </p:tgtEl>
                                        <p:attrNameLst>
                                          <p:attrName>style.visibility</p:attrName>
                                        </p:attrNameLst>
                                      </p:cBhvr>
                                      <p:to>
                                        <p:strVal val="visible"/>
                                      </p:to>
                                    </p:set>
                                    <p:anim calcmode="lin" valueType="num">
                                      <p:cBhvr additive="base">
                                        <p:cTn id="57" dur="5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58" dur="500" decel="100000" fill="hold"/>
                                        <p:tgtEl>
                                          <p:spTgt spid="115"/>
                                        </p:tgtEl>
                                        <p:attrNameLst>
                                          <p:attrName>ppt_h</p:attrName>
                                        </p:attrNameLst>
                                      </p:cBhvr>
                                      <p:tavLst>
                                        <p:tav tm="0">
                                          <p:val>
                                            <p:strVal val="#ppt_h*0.3"/>
                                          </p:val>
                                        </p:tav>
                                        <p:tav tm="100000">
                                          <p:val>
                                            <p:strVal val="#ppt_h*1.08"/>
                                          </p:val>
                                        </p:tav>
                                      </p:tavLst>
                                    </p:anim>
                                    <p:animEffect transition="in" filter="fade">
                                      <p:cBhvr>
                                        <p:cTn id="59" dur="250"/>
                                        <p:tgtEl>
                                          <p:spTgt spid="115"/>
                                        </p:tgtEl>
                                      </p:cBhvr>
                                    </p:animEffect>
                                    <p:anim calcmode="lin" valueType="num">
                                      <p:cBhvr additive="base">
                                        <p:cTn id="60" dur="160" fill="hold">
                                          <p:stCondLst>
                                            <p:cond delay="500"/>
                                          </p:stCondLst>
                                        </p:cTn>
                                        <p:tgtEl>
                                          <p:spTgt spid="115"/>
                                        </p:tgtEl>
                                        <p:attrNameLst>
                                          <p:attrName>ppt_w</p:attrName>
                                        </p:attrNameLst>
                                      </p:cBhvr>
                                      <p:tavLst>
                                        <p:tav tm="0">
                                          <p:val>
                                            <p:strVal val="#ppt_w*1.08"/>
                                          </p:val>
                                        </p:tav>
                                        <p:tav tm="100000">
                                          <p:val>
                                            <p:strVal val="#ppt_w"/>
                                          </p:val>
                                        </p:tav>
                                      </p:tavLst>
                                    </p:anim>
                                    <p:anim calcmode="lin" valueType="num">
                                      <p:cBhvr additive="base">
                                        <p:cTn id="61" dur="160" fill="hold">
                                          <p:stCondLst>
                                            <p:cond delay="5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62" fill="hold">
                      <p:stCondLst>
                        <p:cond delay="indefinite"/>
                      </p:stCondLst>
                      <p:childTnLst>
                        <p:par>
                          <p:cTn id="63" fill="hold">
                            <p:stCondLst>
                              <p:cond delay="0"/>
                            </p:stCondLst>
                            <p:childTnLst>
                              <p:par>
                                <p:cTn id="64" presetID="42" presetClass="entr" presetSubtype="0" fill="hold" grpId="0" nodeType="clickEffect">
                                  <p:stCondLst>
                                    <p:cond delay="0"/>
                                  </p:stCondLst>
                                  <p:childTnLst>
                                    <p:set>
                                      <p:cBhvr>
                                        <p:cTn id="65" dur="1" fill="hold">
                                          <p:stCondLst>
                                            <p:cond delay="0"/>
                                          </p:stCondLst>
                                        </p:cTn>
                                        <p:tgtEl>
                                          <p:spTgt spid="116"/>
                                        </p:tgtEl>
                                        <p:attrNameLst>
                                          <p:attrName>style.visibility</p:attrName>
                                        </p:attrNameLst>
                                      </p:cBhvr>
                                      <p:to>
                                        <p:strVal val="visible"/>
                                      </p:to>
                                    </p:set>
                                    <p:animEffect transition="in" filter="fade">
                                      <p:cBhvr>
                                        <p:cTn id="66" dur="500"/>
                                        <p:tgtEl>
                                          <p:spTgt spid="116"/>
                                        </p:tgtEl>
                                      </p:cBhvr>
                                    </p:animEffect>
                                    <p:anim calcmode="lin" valueType="num">
                                      <p:cBhvr additive="base">
                                        <p:cTn id="67"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7" grpId="0" animBg="1"/>
      <p:bldP spid="108" grpId="0" animBg="1"/>
      <p:bldP spid="110" grpId="0" animBg="1"/>
      <p:bldP spid="112" grpId="0" animBg="1"/>
      <p:bldP spid="113" grpId="0" animBg="1"/>
      <p:bldP spid="114" grpId="0" animBg="1"/>
      <p:bldP spid="115" grpId="0" animBg="1"/>
      <p:bldP spid="116"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07085"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THE CYCLE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TDD Cycle: Red, Green, Refactor</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Three small steps. Minutes, not hours. Then repeat.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TDD</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175</a:t>
            </a:r>
            <a:endParaRPr lang="en-US" sz="850" dirty="0"/>
          </a:p>
        </p:txBody>
      </p:sp>
      <p:sp>
        <p:nvSpPr>
          <p:cNvPr id="101" name="s101"/>
          <p:cNvSpPr/>
          <p:nvPr/>
        </p:nvSpPr>
        <p:spPr>
          <a:xfrm>
            <a:off x="543154" y="1810512"/>
            <a:ext cx="3360725" cy="2514600"/>
          </a:xfrm>
          <a:prstGeom prst="roundRect">
            <a:avLst>
              <a:gd name="adj" fmla="val 7000"/>
            </a:avLst>
          </a:prstGeom>
          <a:solidFill>
            <a:srgbClr val="F87171">
              <a:alpha val="10000"/>
            </a:srgbClr>
          </a:solidFill>
          <a:ln w="25400">
            <a:solidFill>
              <a:srgbClr val="F87171"/>
            </a:solidFill>
            <a:prstDash val="solid"/>
          </a:ln>
        </p:spPr>
        <p:txBody>
          <a:bodyPr wrap="square" lIns="228600" tIns="228600" rIns="182880" bIns="137160" rtlCol="0" anchor="t">
            <a:noAutofit/>
          </a:bodyPr>
          <a:lstStyle/>
          <a:p>
            <a:pPr marL="0" indent="0" algn="ctr">
              <a:spcBef>
                <a:spcPts val="0"/>
              </a:spcBef>
              <a:spcAft>
                <a:spcPts val="200"/>
              </a:spcAft>
              <a:buNone/>
            </a:pPr>
            <a:r>
              <a:rPr lang="en-US" sz="2600" b="1" dirty="0">
                <a:solidFill>
                  <a:srgbClr val="F87171"/>
                </a:solidFill>
                <a:latin typeface="Segoe UI"/>
                <a:ea typeface="Segoe UI"/>
                <a:cs typeface="Segoe UI"/>
              </a:rPr>
              <a:t>1  RED</a:t>
            </a:r>
            <a:endParaRPr lang="en-US" sz="2600" dirty="0"/>
          </a:p>
          <a:p>
            <a:pPr marL="0" indent="0" algn="ctr">
              <a:spcBef>
                <a:spcPts val="0"/>
              </a:spcBef>
              <a:spcAft>
                <a:spcPts val="1000"/>
              </a:spcAft>
              <a:buNone/>
            </a:pPr>
            <a:r>
              <a:rPr lang="en-US" sz="1400" b="1" dirty="0">
                <a:solidFill>
                  <a:srgbClr val="FFFFFF"/>
                </a:solidFill>
                <a:latin typeface="Segoe UI"/>
                <a:ea typeface="Segoe UI"/>
                <a:cs typeface="Segoe UI"/>
              </a:rPr>
              <a:t>write a test that FAILS</a:t>
            </a:r>
            <a:endParaRPr lang="en-US" sz="1400" dirty="0"/>
          </a:p>
          <a:p>
            <a:pPr marL="0" indent="0" algn="l">
              <a:spcBef>
                <a:spcPts val="0"/>
              </a:spcBef>
              <a:spcAft>
                <a:spcPts val="400"/>
              </a:spcAft>
              <a:buNone/>
            </a:pPr>
            <a:r>
              <a:rPr lang="en-US" sz="1250" b="0" dirty="0">
                <a:solidFill>
                  <a:srgbClr val="F87171"/>
                </a:solidFill>
                <a:latin typeface="Segoe UI"/>
                <a:ea typeface="Segoe UI"/>
                <a:cs typeface="Segoe UI"/>
              </a:rPr>
              <a:t>•  </a:t>
            </a:r>
            <a:r>
              <a:rPr lang="en-US" sz="1250" b="0" dirty="0">
                <a:solidFill>
                  <a:srgbClr val="E2E8F0"/>
                </a:solidFill>
                <a:latin typeface="Segoe UI"/>
                <a:ea typeface="Segoe UI"/>
                <a:cs typeface="Segoe UI"/>
              </a:rPr>
              <a:t>one small behavior</a:t>
            </a:r>
            <a:endParaRPr lang="en-US" sz="1250" dirty="0"/>
          </a:p>
          <a:p>
            <a:pPr marL="0" indent="0" algn="l">
              <a:spcBef>
                <a:spcPts val="0"/>
              </a:spcBef>
              <a:spcAft>
                <a:spcPts val="400"/>
              </a:spcAft>
              <a:buNone/>
            </a:pPr>
            <a:r>
              <a:rPr lang="en-US" sz="1250" b="0" dirty="0">
                <a:solidFill>
                  <a:srgbClr val="F87171"/>
                </a:solidFill>
                <a:latin typeface="Segoe UI"/>
                <a:ea typeface="Segoe UI"/>
                <a:cs typeface="Segoe UI"/>
              </a:rPr>
              <a:t>•  </a:t>
            </a:r>
            <a:r>
              <a:rPr lang="en-US" sz="1250" b="0" dirty="0">
                <a:solidFill>
                  <a:srgbClr val="E2E8F0"/>
                </a:solidFill>
                <a:latin typeface="Segoe UI"/>
                <a:ea typeface="Segoe UI"/>
                <a:cs typeface="Segoe UI"/>
              </a:rPr>
              <a:t>run it: it must be red</a:t>
            </a:r>
            <a:endParaRPr lang="en-US" sz="1250" dirty="0"/>
          </a:p>
          <a:p>
            <a:pPr marL="0" indent="0" algn="l">
              <a:spcBef>
                <a:spcPts val="0"/>
              </a:spcBef>
              <a:spcAft>
                <a:spcPts val="400"/>
              </a:spcAft>
              <a:buNone/>
            </a:pPr>
            <a:r>
              <a:rPr lang="en-US" sz="1250" b="0" dirty="0">
                <a:solidFill>
                  <a:srgbClr val="F87171"/>
                </a:solidFill>
                <a:latin typeface="Segoe UI"/>
                <a:ea typeface="Segoe UI"/>
                <a:cs typeface="Segoe UI"/>
              </a:rPr>
              <a:t>•  </a:t>
            </a:r>
            <a:r>
              <a:rPr lang="en-US" sz="1250" b="0" dirty="0">
                <a:solidFill>
                  <a:srgbClr val="E2E8F0"/>
                </a:solidFill>
                <a:latin typeface="Segoe UI"/>
                <a:ea typeface="Segoe UI"/>
                <a:cs typeface="Segoe UI"/>
              </a:rPr>
              <a:t>proves the test can catch a bug</a:t>
            </a:r>
            <a:endParaRPr lang="en-US" sz="1250" dirty="0"/>
          </a:p>
        </p:txBody>
      </p:sp>
      <p:sp>
        <p:nvSpPr>
          <p:cNvPr id="102" name="s102"/>
          <p:cNvSpPr/>
          <p:nvPr/>
        </p:nvSpPr>
        <p:spPr>
          <a:xfrm>
            <a:off x="4406798" y="1810512"/>
            <a:ext cx="3360725" cy="2514600"/>
          </a:xfrm>
          <a:prstGeom prst="roundRect">
            <a:avLst>
              <a:gd name="adj" fmla="val 7000"/>
            </a:avLst>
          </a:prstGeom>
          <a:solidFill>
            <a:srgbClr val="34D399">
              <a:alpha val="10000"/>
            </a:srgbClr>
          </a:solidFill>
          <a:ln w="25400">
            <a:solidFill>
              <a:srgbClr val="34D399"/>
            </a:solidFill>
            <a:prstDash val="solid"/>
          </a:ln>
        </p:spPr>
        <p:txBody>
          <a:bodyPr wrap="square" lIns="228600" tIns="228600" rIns="182880" bIns="137160" rtlCol="0" anchor="t">
            <a:noAutofit/>
          </a:bodyPr>
          <a:lstStyle/>
          <a:p>
            <a:pPr marL="0" indent="0" algn="ctr">
              <a:spcBef>
                <a:spcPts val="0"/>
              </a:spcBef>
              <a:spcAft>
                <a:spcPts val="200"/>
              </a:spcAft>
              <a:buNone/>
            </a:pPr>
            <a:r>
              <a:rPr lang="en-US" sz="2600" b="1" dirty="0">
                <a:solidFill>
                  <a:srgbClr val="34D399"/>
                </a:solidFill>
                <a:latin typeface="Segoe UI"/>
                <a:ea typeface="Segoe UI"/>
                <a:cs typeface="Segoe UI"/>
              </a:rPr>
              <a:t>2  GREEN</a:t>
            </a:r>
            <a:endParaRPr lang="en-US" sz="2600" dirty="0"/>
          </a:p>
          <a:p>
            <a:pPr marL="0" indent="0" algn="ctr">
              <a:spcBef>
                <a:spcPts val="0"/>
              </a:spcBef>
              <a:spcAft>
                <a:spcPts val="1000"/>
              </a:spcAft>
              <a:buNone/>
            </a:pPr>
            <a:r>
              <a:rPr lang="en-US" sz="1400" b="1" dirty="0">
                <a:solidFill>
                  <a:srgbClr val="FFFFFF"/>
                </a:solidFill>
                <a:latin typeface="Segoe UI"/>
                <a:ea typeface="Segoe UI"/>
                <a:cs typeface="Segoe UI"/>
              </a:rPr>
              <a:t>write the LEAST code to pass</a:t>
            </a:r>
            <a:endParaRPr lang="en-US" sz="1400" dirty="0"/>
          </a:p>
          <a:p>
            <a:pPr marL="0" indent="0" algn="l">
              <a:spcBef>
                <a:spcPts val="0"/>
              </a:spcBef>
              <a:spcAft>
                <a:spcPts val="400"/>
              </a:spcAft>
              <a:buNone/>
            </a:pPr>
            <a:r>
              <a:rPr lang="en-US" sz="1250" b="0" dirty="0">
                <a:solidFill>
                  <a:srgbClr val="34D399"/>
                </a:solidFill>
                <a:latin typeface="Segoe UI"/>
                <a:ea typeface="Segoe UI"/>
                <a:cs typeface="Segoe UI"/>
              </a:rPr>
              <a:t>•  </a:t>
            </a:r>
            <a:r>
              <a:rPr lang="en-US" sz="1250" b="0" dirty="0">
                <a:solidFill>
                  <a:srgbClr val="E2E8F0"/>
                </a:solidFill>
                <a:latin typeface="Segoe UI"/>
                <a:ea typeface="Segoe UI"/>
                <a:cs typeface="Segoe UI"/>
              </a:rPr>
              <a:t>simplest code that works</a:t>
            </a:r>
            <a:endParaRPr lang="en-US" sz="1250" dirty="0"/>
          </a:p>
          <a:p>
            <a:pPr marL="0" indent="0" algn="l">
              <a:spcBef>
                <a:spcPts val="0"/>
              </a:spcBef>
              <a:spcAft>
                <a:spcPts val="400"/>
              </a:spcAft>
              <a:buNone/>
            </a:pPr>
            <a:r>
              <a:rPr lang="en-US" sz="1250" b="0" dirty="0">
                <a:solidFill>
                  <a:srgbClr val="34D399"/>
                </a:solidFill>
                <a:latin typeface="Segoe UI"/>
                <a:ea typeface="Segoe UI"/>
                <a:cs typeface="Segoe UI"/>
              </a:rPr>
              <a:t>•  </a:t>
            </a:r>
            <a:r>
              <a:rPr lang="en-US" sz="1250" b="0" dirty="0">
                <a:solidFill>
                  <a:srgbClr val="E2E8F0"/>
                </a:solidFill>
                <a:latin typeface="Segoe UI"/>
                <a:ea typeface="Segoe UI"/>
                <a:cs typeface="Segoe UI"/>
              </a:rPr>
              <a:t>ugly is OK for now</a:t>
            </a:r>
            <a:endParaRPr lang="en-US" sz="1250" dirty="0"/>
          </a:p>
          <a:p>
            <a:pPr marL="0" indent="0" algn="l">
              <a:spcBef>
                <a:spcPts val="0"/>
              </a:spcBef>
              <a:spcAft>
                <a:spcPts val="400"/>
              </a:spcAft>
              <a:buNone/>
            </a:pPr>
            <a:r>
              <a:rPr lang="en-US" sz="1250" b="0" dirty="0">
                <a:solidFill>
                  <a:srgbClr val="34D399"/>
                </a:solidFill>
                <a:latin typeface="Segoe UI"/>
                <a:ea typeface="Segoe UI"/>
                <a:cs typeface="Segoe UI"/>
              </a:rPr>
              <a:t>•  </a:t>
            </a:r>
            <a:r>
              <a:rPr lang="en-US" sz="1250" b="0" dirty="0">
                <a:solidFill>
                  <a:srgbClr val="E2E8F0"/>
                </a:solidFill>
                <a:latin typeface="Segoe UI"/>
                <a:ea typeface="Segoe UI"/>
                <a:cs typeface="Segoe UI"/>
              </a:rPr>
              <a:t>all tests green</a:t>
            </a:r>
            <a:endParaRPr lang="en-US" sz="1250" dirty="0"/>
          </a:p>
        </p:txBody>
      </p:sp>
      <p:cxnSp>
        <p:nvCxnSpPr>
          <p:cNvPr id="103" name="ln103"/>
          <p:cNvCxnSpPr/>
          <p:nvPr/>
        </p:nvCxnSpPr>
        <p:spPr>
          <a:xfrm>
            <a:off x="3977030" y="3044952"/>
            <a:ext cx="356616" cy="0"/>
          </a:xfrm>
          <a:prstGeom prst="line">
            <a:avLst/>
          </a:prstGeom>
          <a:ln w="31750">
            <a:solidFill>
              <a:srgbClr val="94A3B8"/>
            </a:solidFill>
            <a:tailEnd type="triangle" w="med" len="med"/>
          </a:ln>
        </p:spPr>
      </p:cxnSp>
      <p:sp>
        <p:nvSpPr>
          <p:cNvPr id="104" name="s104"/>
          <p:cNvSpPr/>
          <p:nvPr/>
        </p:nvSpPr>
        <p:spPr>
          <a:xfrm>
            <a:off x="8270443" y="1810512"/>
            <a:ext cx="3360725" cy="2514600"/>
          </a:xfrm>
          <a:prstGeom prst="roundRect">
            <a:avLst>
              <a:gd name="adj" fmla="val 7000"/>
            </a:avLst>
          </a:prstGeom>
          <a:solidFill>
            <a:srgbClr val="60A5FA">
              <a:alpha val="10000"/>
            </a:srgbClr>
          </a:solidFill>
          <a:ln w="25400">
            <a:solidFill>
              <a:srgbClr val="60A5FA"/>
            </a:solidFill>
            <a:prstDash val="solid"/>
          </a:ln>
        </p:spPr>
        <p:txBody>
          <a:bodyPr wrap="square" lIns="228600" tIns="228600" rIns="182880" bIns="137160" rtlCol="0" anchor="t">
            <a:noAutofit/>
          </a:bodyPr>
          <a:lstStyle/>
          <a:p>
            <a:pPr marL="0" indent="0" algn="ctr">
              <a:spcBef>
                <a:spcPts val="0"/>
              </a:spcBef>
              <a:spcAft>
                <a:spcPts val="200"/>
              </a:spcAft>
              <a:buNone/>
            </a:pPr>
            <a:r>
              <a:rPr lang="en-US" sz="2600" b="1" dirty="0">
                <a:solidFill>
                  <a:srgbClr val="60A5FA"/>
                </a:solidFill>
                <a:latin typeface="Segoe UI"/>
                <a:ea typeface="Segoe UI"/>
                <a:cs typeface="Segoe UI"/>
              </a:rPr>
              <a:t>3  REFACTOR</a:t>
            </a:r>
            <a:endParaRPr lang="en-US" sz="2600" dirty="0"/>
          </a:p>
          <a:p>
            <a:pPr marL="0" indent="0" algn="ctr">
              <a:spcBef>
                <a:spcPts val="0"/>
              </a:spcBef>
              <a:spcAft>
                <a:spcPts val="1000"/>
              </a:spcAft>
              <a:buNone/>
            </a:pPr>
            <a:r>
              <a:rPr lang="en-US" sz="1400" b="1" dirty="0">
                <a:solidFill>
                  <a:srgbClr val="FFFFFF"/>
                </a:solidFill>
                <a:latin typeface="Segoe UI"/>
                <a:ea typeface="Segoe UI"/>
                <a:cs typeface="Segoe UI"/>
              </a:rPr>
              <a:t>improve, same behavior</a:t>
            </a:r>
            <a:endParaRPr lang="en-US" sz="1400" dirty="0"/>
          </a:p>
          <a:p>
            <a:pPr marL="0" indent="0" algn="l">
              <a:spcBef>
                <a:spcPts val="0"/>
              </a:spcBef>
              <a:spcAft>
                <a:spcPts val="400"/>
              </a:spcAft>
              <a:buNone/>
            </a:pPr>
            <a:r>
              <a:rPr lang="en-US" sz="1250" b="0" dirty="0">
                <a:solidFill>
                  <a:srgbClr val="60A5FA"/>
                </a:solidFill>
                <a:latin typeface="Segoe UI"/>
                <a:ea typeface="Segoe UI"/>
                <a:cs typeface="Segoe UI"/>
              </a:rPr>
              <a:t>•  </a:t>
            </a:r>
            <a:r>
              <a:rPr lang="en-US" sz="1250" b="0" dirty="0">
                <a:solidFill>
                  <a:srgbClr val="E2E8F0"/>
                </a:solidFill>
                <a:latin typeface="Segoe UI"/>
                <a:ea typeface="Segoe UI"/>
                <a:cs typeface="Segoe UI"/>
              </a:rPr>
              <a:t>better names, no duplication</a:t>
            </a:r>
            <a:endParaRPr lang="en-US" sz="1250" dirty="0"/>
          </a:p>
          <a:p>
            <a:pPr marL="0" indent="0" algn="l">
              <a:spcBef>
                <a:spcPts val="0"/>
              </a:spcBef>
              <a:spcAft>
                <a:spcPts val="400"/>
              </a:spcAft>
              <a:buNone/>
            </a:pPr>
            <a:r>
              <a:rPr lang="en-US" sz="1250" b="0" dirty="0">
                <a:solidFill>
                  <a:srgbClr val="60A5FA"/>
                </a:solidFill>
                <a:latin typeface="Segoe UI"/>
                <a:ea typeface="Segoe UI"/>
                <a:cs typeface="Segoe UI"/>
              </a:rPr>
              <a:t>•  </a:t>
            </a:r>
            <a:r>
              <a:rPr lang="en-US" sz="1250" b="0" dirty="0">
                <a:solidFill>
                  <a:srgbClr val="E2E8F0"/>
                </a:solidFill>
                <a:latin typeface="Segoe UI"/>
                <a:ea typeface="Segoe UI"/>
                <a:cs typeface="Segoe UI"/>
              </a:rPr>
              <a:t>tests stay green</a:t>
            </a:r>
            <a:endParaRPr lang="en-US" sz="1250" dirty="0"/>
          </a:p>
          <a:p>
            <a:pPr marL="0" indent="0" algn="l">
              <a:spcBef>
                <a:spcPts val="0"/>
              </a:spcBef>
              <a:spcAft>
                <a:spcPts val="400"/>
              </a:spcAft>
              <a:buNone/>
            </a:pPr>
            <a:r>
              <a:rPr lang="en-US" sz="1250" b="0" dirty="0">
                <a:solidFill>
                  <a:srgbClr val="60A5FA"/>
                </a:solidFill>
                <a:latin typeface="Segoe UI"/>
                <a:ea typeface="Segoe UI"/>
                <a:cs typeface="Segoe UI"/>
              </a:rPr>
              <a:t>•  </a:t>
            </a:r>
            <a:r>
              <a:rPr lang="en-US" sz="1250" b="0" dirty="0">
                <a:solidFill>
                  <a:srgbClr val="E2E8F0"/>
                </a:solidFill>
                <a:latin typeface="Segoe UI"/>
                <a:ea typeface="Segoe UI"/>
                <a:cs typeface="Segoe UI"/>
              </a:rPr>
              <a:t>they protect the change</a:t>
            </a:r>
            <a:endParaRPr lang="en-US" sz="1250" dirty="0"/>
          </a:p>
        </p:txBody>
      </p:sp>
      <p:cxnSp>
        <p:nvCxnSpPr>
          <p:cNvPr id="105" name="ln105"/>
          <p:cNvCxnSpPr/>
          <p:nvPr/>
        </p:nvCxnSpPr>
        <p:spPr>
          <a:xfrm>
            <a:off x="7840675" y="3044952"/>
            <a:ext cx="356616" cy="0"/>
          </a:xfrm>
          <a:prstGeom prst="line">
            <a:avLst/>
          </a:prstGeom>
          <a:ln w="31750">
            <a:solidFill>
              <a:srgbClr val="94A3B8"/>
            </a:solidFill>
            <a:tailEnd type="triangle" w="med" len="med"/>
          </a:ln>
        </p:spPr>
      </p:cxnSp>
      <p:sp>
        <p:nvSpPr>
          <p:cNvPr id="106" name="pl106"/>
          <p:cNvSpPr/>
          <p:nvPr/>
        </p:nvSpPr>
        <p:spPr>
          <a:xfrm>
            <a:off x="543154" y="4416552"/>
            <a:ext cx="11088014" cy="457200"/>
          </a:xfrm>
          <a:custGeom>
            <a:avLst/>
            <a:gdLst/>
            <a:ahLst/>
            <a:cxnLst/>
            <a:rect l="0" t="0" r="r" b="b"/>
            <a:pathLst>
              <a:path w="11088014" h="457200">
                <a:moveTo>
                  <a:pt x="9407652" y="0"/>
                </a:moveTo>
                <a:lnTo>
                  <a:pt x="9407652" y="411480"/>
                </a:lnTo>
                <a:lnTo>
                  <a:pt x="1680362" y="411480"/>
                </a:lnTo>
                <a:lnTo>
                  <a:pt x="1680362" y="0"/>
                </a:lnTo>
              </a:path>
            </a:pathLst>
          </a:custGeom>
          <a:noFill/>
          <a:ln w="25400" cap="rnd">
            <a:solidFill>
              <a:srgbClr val="94A3B8"/>
            </a:solidFill>
            <a:prstDash val="dash"/>
            <a:round/>
          </a:ln>
        </p:spPr>
        <p:txBody>
          <a:bodyPr/>
          <a:lstStyle/>
          <a:p>
            <a:endParaRPr lang="en-US"/>
          </a:p>
        </p:txBody>
      </p:sp>
      <p:cxnSp>
        <p:nvCxnSpPr>
          <p:cNvPr id="107" name="ln107"/>
          <p:cNvCxnSpPr/>
          <p:nvPr/>
        </p:nvCxnSpPr>
        <p:spPr>
          <a:xfrm flipV="1">
            <a:off x="2223516" y="4389120"/>
            <a:ext cx="0" cy="256032"/>
          </a:xfrm>
          <a:prstGeom prst="line">
            <a:avLst/>
          </a:prstGeom>
          <a:ln w="25400">
            <a:solidFill>
              <a:srgbClr val="94A3B8"/>
            </a:solidFill>
            <a:tailEnd type="triangle" w="med" len="med"/>
          </a:ln>
        </p:spPr>
      </p:cxnSp>
      <p:sp>
        <p:nvSpPr>
          <p:cNvPr id="108" name="s108"/>
          <p:cNvSpPr txBox="1"/>
          <p:nvPr/>
        </p:nvSpPr>
        <p:spPr>
          <a:xfrm>
            <a:off x="3343961" y="4901184"/>
            <a:ext cx="5486400"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1" dirty="0">
                <a:solidFill>
                  <a:srgbClr val="94A3B8"/>
                </a:solidFill>
                <a:latin typeface="Segoe UI"/>
                <a:ea typeface="Segoe UI"/>
                <a:cs typeface="Segoe UI"/>
              </a:rPr>
              <a:t>repeat for every new behavior</a:t>
            </a:r>
            <a:endParaRPr lang="en-US" sz="1300" dirty="0"/>
          </a:p>
        </p:txBody>
      </p:sp>
      <p:sp>
        <p:nvSpPr>
          <p:cNvPr id="109" name="s109"/>
          <p:cNvSpPr/>
          <p:nvPr/>
        </p:nvSpPr>
        <p:spPr>
          <a:xfrm>
            <a:off x="543154" y="5468112"/>
            <a:ext cx="11088014" cy="594360"/>
          </a:xfrm>
          <a:prstGeom prst="roundRect">
            <a:avLst>
              <a:gd name="adj" fmla="val 15000"/>
            </a:avLst>
          </a:prstGeom>
          <a:solidFill>
            <a:srgbClr val="FBBF24">
              <a:alpha val="12000"/>
            </a:srgbClr>
          </a:solidFill>
          <a:ln w="12700">
            <a:solidFill>
              <a:srgbClr val="FBBF24"/>
            </a:solidFill>
            <a:prstDash val="solid"/>
          </a:ln>
        </p:spPr>
        <p:txBody>
          <a:bodyPr wrap="square" lIns="228600" tIns="0" rIns="228600" bIns="0" rtlCol="0" anchor="ctr">
            <a:noAutofit/>
          </a:bodyPr>
          <a:lstStyle/>
          <a:p>
            <a:pPr marL="0" indent="0" algn="ctr">
              <a:spcBef>
                <a:spcPts val="0"/>
              </a:spcBef>
              <a:spcAft>
                <a:spcPts val="0"/>
              </a:spcAft>
              <a:buNone/>
            </a:pPr>
            <a:r>
              <a:rPr lang="en-US" sz="1500" b="0" dirty="0">
                <a:solidFill>
                  <a:srgbClr val="E2E8F0"/>
                </a:solidFill>
                <a:latin typeface="Segoe UI"/>
                <a:ea typeface="Segoe UI"/>
                <a:cs typeface="Segoe UI"/>
              </a:rPr>
              <a:t>Each loop takes </a:t>
            </a:r>
            <a:r>
              <a:rPr lang="en-US" sz="1500" b="1" dirty="0">
                <a:solidFill>
                  <a:srgbClr val="FBBF24"/>
                </a:solidFill>
                <a:latin typeface="Segoe UI"/>
                <a:ea typeface="Segoe UI"/>
                <a:cs typeface="Segoe UI"/>
              </a:rPr>
              <a:t>minutes</a:t>
            </a:r>
            <a:r>
              <a:rPr lang="en-US" sz="1500" b="0" dirty="0">
                <a:solidFill>
                  <a:srgbClr val="E2E8F0"/>
                </a:solidFill>
                <a:latin typeface="Segoe UI"/>
                <a:ea typeface="Segoe UI"/>
                <a:cs typeface="Segoe UI"/>
              </a:rPr>
              <a:t>.   Never write production code without a </a:t>
            </a:r>
            <a:r>
              <a:rPr lang="en-US" sz="1500" b="1" dirty="0">
                <a:solidFill>
                  <a:srgbClr val="F87171"/>
                </a:solidFill>
                <a:latin typeface="Segoe UI"/>
                <a:ea typeface="Segoe UI"/>
                <a:cs typeface="Segoe UI"/>
              </a:rPr>
              <a:t>failing test</a:t>
            </a:r>
            <a:r>
              <a:rPr lang="en-US" sz="1500" b="0" dirty="0">
                <a:solidFill>
                  <a:srgbClr val="E2E8F0"/>
                </a:solidFill>
                <a:latin typeface="Segoe UI"/>
                <a:ea typeface="Segoe UI"/>
                <a:cs typeface="Segoe UI"/>
              </a:rPr>
              <a:t> asking for it.</a:t>
            </a:r>
            <a:endParaRPr lang="en-US" sz="15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anim calcmode="lin" valueType="num">
                                      <p:cBhvr additive="base">
                                        <p:cTn id="14" dur="500" decel="100000" fill="hold"/>
                                        <p:tgtEl>
                                          <p:spTgt spid="103"/>
                                        </p:tgtEl>
                                        <p:attrNameLst>
                                          <p:attrName>ppt_y</p:attrName>
                                        </p:attrNameLst>
                                      </p:cBhvr>
                                      <p:tavLst>
                                        <p:tav tm="0">
                                          <p:val>
                                            <p:strVal val="#ppt_y+0.06"/>
                                          </p:val>
                                        </p:tav>
                                        <p:tav tm="100000">
                                          <p:val>
                                            <p:strVal val="#ppt_y"/>
                                          </p:val>
                                        </p:tav>
                                      </p:tavLst>
                                    </p:anim>
                                  </p:childTnLst>
                                </p:cTn>
                              </p:par>
                              <p:par>
                                <p:cTn id="15" presetID="42" presetClass="entr" presetSubtype="0" fill="hold" grpId="0" nodeType="withEffect">
                                  <p:stCondLst>
                                    <p:cond delay="110"/>
                                  </p:stCondLst>
                                  <p:childTnLst>
                                    <p:set>
                                      <p:cBhvr>
                                        <p:cTn id="16" dur="1" fill="hold">
                                          <p:stCondLst>
                                            <p:cond delay="0"/>
                                          </p:stCondLst>
                                        </p:cTn>
                                        <p:tgtEl>
                                          <p:spTgt spid="102"/>
                                        </p:tgtEl>
                                        <p:attrNameLst>
                                          <p:attrName>style.visibility</p:attrName>
                                        </p:attrNameLst>
                                      </p:cBhvr>
                                      <p:to>
                                        <p:strVal val="visible"/>
                                      </p:to>
                                    </p:set>
                                    <p:animEffect transition="in" filter="fade">
                                      <p:cBhvr>
                                        <p:cTn id="17" dur="500"/>
                                        <p:tgtEl>
                                          <p:spTgt spid="102"/>
                                        </p:tgtEl>
                                      </p:cBhvr>
                                    </p:animEffect>
                                    <p:anim calcmode="lin" valueType="num">
                                      <p:cBhvr additive="base">
                                        <p:cTn id="18"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nodeType="click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110"/>
                                  </p:stCondLst>
                                  <p:childTnLst>
                                    <p:set>
                                      <p:cBhvr>
                                        <p:cTn id="26" dur="1" fill="hold">
                                          <p:stCondLst>
                                            <p:cond delay="0"/>
                                          </p:stCondLst>
                                        </p:cTn>
                                        <p:tgtEl>
                                          <p:spTgt spid="104"/>
                                        </p:tgtEl>
                                        <p:attrNameLst>
                                          <p:attrName>style.visibility</p:attrName>
                                        </p:attrNameLst>
                                      </p:cBhvr>
                                      <p:to>
                                        <p:strVal val="visible"/>
                                      </p:to>
                                    </p:set>
                                    <p:animEffect transition="in" filter="fade">
                                      <p:cBhvr>
                                        <p:cTn id="27" dur="500"/>
                                        <p:tgtEl>
                                          <p:spTgt spid="104"/>
                                        </p:tgtEl>
                                      </p:cBhvr>
                                    </p:animEffect>
                                    <p:anim calcmode="lin" valueType="num">
                                      <p:cBhvr additive="base">
                                        <p:cTn id="28" dur="500" decel="100000" fill="hold"/>
                                        <p:tgtEl>
                                          <p:spTgt spid="104"/>
                                        </p:tgtEl>
                                        <p:attrNameLst>
                                          <p:attrName>ppt_y</p:attrName>
                                        </p:attrNameLst>
                                      </p:cBhvr>
                                      <p:tavLst>
                                        <p:tav tm="0">
                                          <p:val>
                                            <p:strVal val="#ppt_y+0.06"/>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06"/>
                                        </p:tgtEl>
                                        <p:attrNameLst>
                                          <p:attrName>style.visibility</p:attrName>
                                        </p:attrNameLst>
                                      </p:cBhvr>
                                      <p:to>
                                        <p:strVal val="visible"/>
                                      </p:to>
                                    </p:set>
                                    <p:animEffect transition="in" filter="fade">
                                      <p:cBhvr>
                                        <p:cTn id="33" dur="500"/>
                                        <p:tgtEl>
                                          <p:spTgt spid="106"/>
                                        </p:tgtEl>
                                      </p:cBhvr>
                                    </p:animEffect>
                                  </p:childTnLst>
                                </p:cTn>
                              </p:par>
                              <p:par>
                                <p:cTn id="34" presetID="10" presetClass="entr" presetSubtype="0" fill="hold" nodeType="withEffect">
                                  <p:stCondLst>
                                    <p:cond delay="110"/>
                                  </p:stCondLst>
                                  <p:childTnLst>
                                    <p:set>
                                      <p:cBhvr>
                                        <p:cTn id="35" dur="1" fill="hold">
                                          <p:stCondLst>
                                            <p:cond delay="0"/>
                                          </p:stCondLst>
                                        </p:cTn>
                                        <p:tgtEl>
                                          <p:spTgt spid="107"/>
                                        </p:tgtEl>
                                        <p:attrNameLst>
                                          <p:attrName>style.visibility</p:attrName>
                                        </p:attrNameLst>
                                      </p:cBhvr>
                                      <p:to>
                                        <p:strVal val="visible"/>
                                      </p:to>
                                    </p:set>
                                    <p:animEffect transition="in" filter="fade">
                                      <p:cBhvr>
                                        <p:cTn id="36" dur="500"/>
                                        <p:tgtEl>
                                          <p:spTgt spid="107"/>
                                        </p:tgtEl>
                                      </p:cBhvr>
                                    </p:animEffect>
                                  </p:childTnLst>
                                </p:cTn>
                              </p:par>
                              <p:par>
                                <p:cTn id="37" presetID="10" presetClass="entr" presetSubtype="0" fill="hold" grpId="0" nodeType="withEffect">
                                  <p:stCondLst>
                                    <p:cond delay="220"/>
                                  </p:stCondLst>
                                  <p:childTnLst>
                                    <p:set>
                                      <p:cBhvr>
                                        <p:cTn id="38" dur="1" fill="hold">
                                          <p:stCondLst>
                                            <p:cond delay="0"/>
                                          </p:stCondLst>
                                        </p:cTn>
                                        <p:tgtEl>
                                          <p:spTgt spid="108"/>
                                        </p:tgtEl>
                                        <p:attrNameLst>
                                          <p:attrName>style.visibility</p:attrName>
                                        </p:attrNameLst>
                                      </p:cBhvr>
                                      <p:to>
                                        <p:strVal val="visible"/>
                                      </p:to>
                                    </p:set>
                                    <p:animEffect transition="in" filter="fade">
                                      <p:cBhvr>
                                        <p:cTn id="39" dur="500"/>
                                        <p:tgtEl>
                                          <p:spTgt spid="108"/>
                                        </p:tgtEl>
                                      </p:cBhvr>
                                    </p:animEffect>
                                  </p:childTnLst>
                                </p:cTn>
                              </p:par>
                            </p:childTnLst>
                          </p:cTn>
                        </p:par>
                      </p:childTnLst>
                    </p:cTn>
                  </p:par>
                  <p:par>
                    <p:cTn id="40" fill="hold">
                      <p:stCondLst>
                        <p:cond delay="indefinite"/>
                      </p:stCondLst>
                      <p:childTnLst>
                        <p:par>
                          <p:cTn id="41" fill="hold">
                            <p:stCondLst>
                              <p:cond delay="0"/>
                            </p:stCondLst>
                            <p:childTnLst>
                              <p:par>
                                <p:cTn id="42" presetID="53" presetClass="entr" presetSubtype="16" fill="hold" grpId="0" nodeType="clickEffect">
                                  <p:stCondLst>
                                    <p:cond delay="0"/>
                                  </p:stCondLst>
                                  <p:childTnLst>
                                    <p:set>
                                      <p:cBhvr>
                                        <p:cTn id="43" dur="1" fill="hold">
                                          <p:stCondLst>
                                            <p:cond delay="0"/>
                                          </p:stCondLst>
                                        </p:cTn>
                                        <p:tgtEl>
                                          <p:spTgt spid="109"/>
                                        </p:tgtEl>
                                        <p:attrNameLst>
                                          <p:attrName>style.visibility</p:attrName>
                                        </p:attrNameLst>
                                      </p:cBhvr>
                                      <p:to>
                                        <p:strVal val="visible"/>
                                      </p:to>
                                    </p:set>
                                    <p:anim calcmode="lin" valueType="num">
                                      <p:cBhvr additive="base">
                                        <p:cTn id="44" dur="50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45" dur="500" decel="100000" fill="hold"/>
                                        <p:tgtEl>
                                          <p:spTgt spid="109"/>
                                        </p:tgtEl>
                                        <p:attrNameLst>
                                          <p:attrName>ppt_h</p:attrName>
                                        </p:attrNameLst>
                                      </p:cBhvr>
                                      <p:tavLst>
                                        <p:tav tm="0">
                                          <p:val>
                                            <p:strVal val="#ppt_h*0.3"/>
                                          </p:val>
                                        </p:tav>
                                        <p:tav tm="100000">
                                          <p:val>
                                            <p:strVal val="#ppt_h*1.08"/>
                                          </p:val>
                                        </p:tav>
                                      </p:tavLst>
                                    </p:anim>
                                    <p:animEffect transition="in" filter="fade">
                                      <p:cBhvr>
                                        <p:cTn id="46" dur="250"/>
                                        <p:tgtEl>
                                          <p:spTgt spid="109"/>
                                        </p:tgtEl>
                                      </p:cBhvr>
                                    </p:animEffect>
                                    <p:anim calcmode="lin" valueType="num">
                                      <p:cBhvr additive="base">
                                        <p:cTn id="47" dur="160" fill="hold">
                                          <p:stCondLst>
                                            <p:cond delay="500"/>
                                          </p:stCondLst>
                                        </p:cTn>
                                        <p:tgtEl>
                                          <p:spTgt spid="109"/>
                                        </p:tgtEl>
                                        <p:attrNameLst>
                                          <p:attrName>ppt_w</p:attrName>
                                        </p:attrNameLst>
                                      </p:cBhvr>
                                      <p:tavLst>
                                        <p:tav tm="0">
                                          <p:val>
                                            <p:strVal val="#ppt_w*1.08"/>
                                          </p:val>
                                        </p:tav>
                                        <p:tav tm="100000">
                                          <p:val>
                                            <p:strVal val="#ppt_w"/>
                                          </p:val>
                                        </p:tav>
                                      </p:tavLst>
                                    </p:anim>
                                    <p:anim calcmode="lin" valueType="num">
                                      <p:cBhvr additive="base">
                                        <p:cTn id="48" dur="160" fill="hold">
                                          <p:stCondLst>
                                            <p:cond delay="500"/>
                                          </p:stCondLst>
                                        </p:cTn>
                                        <p:tgtEl>
                                          <p:spTgt spid="109"/>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6" grpId="0" animBg="1"/>
      <p:bldP spid="108" grpId="0" animBg="1"/>
      <p:bldP spid="109"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1 · RED</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RED: Write the Test First, Watch It Fail</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Goal: a method that returns the price after the discount.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TDD</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176</a:t>
            </a:r>
            <a:endParaRPr lang="en-US" sz="850" dirty="0"/>
          </a:p>
        </p:txBody>
      </p:sp>
      <p:sp>
        <p:nvSpPr>
          <p:cNvPr id="101" name="s101"/>
          <p:cNvSpPr txBox="1"/>
          <p:nvPr/>
        </p:nvSpPr>
        <p:spPr>
          <a:xfrm>
            <a:off x="543154" y="1810512"/>
            <a:ext cx="576072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87171"/>
                </a:solidFill>
                <a:latin typeface="Segoe UI"/>
                <a:ea typeface="Segoe UI"/>
                <a:cs typeface="Segoe UI"/>
              </a:rPr>
              <a:t>1. THE TEST (FIRST!)</a:t>
            </a:r>
            <a:endParaRPr lang="en-US" sz="1050" dirty="0"/>
          </a:p>
        </p:txBody>
      </p:sp>
      <p:sp>
        <p:nvSpPr>
          <p:cNvPr id="102" name="s102"/>
          <p:cNvSpPr/>
          <p:nvPr/>
        </p:nvSpPr>
        <p:spPr>
          <a:xfrm>
            <a:off x="543154" y="2084832"/>
            <a:ext cx="5760720" cy="20574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157984"/>
            <a:ext cx="1389888"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PricingTests.cs</a:t>
            </a:r>
            <a:endParaRPr lang="en-US" sz="950" dirty="0"/>
          </a:p>
        </p:txBody>
      </p:sp>
      <p:cxnSp>
        <p:nvCxnSpPr>
          <p:cNvPr id="107" name="ln107"/>
          <p:cNvCxnSpPr/>
          <p:nvPr/>
        </p:nvCxnSpPr>
        <p:spPr>
          <a:xfrm>
            <a:off x="543154" y="2496312"/>
            <a:ext cx="5760720" cy="0"/>
          </a:xfrm>
          <a:prstGeom prst="line">
            <a:avLst/>
          </a:prstGeom>
          <a:ln w="9525">
            <a:solidFill>
              <a:srgbClr val="1E3A5F"/>
            </a:solidFill>
          </a:ln>
        </p:spPr>
      </p:cxnSp>
      <p:sp>
        <p:nvSpPr>
          <p:cNvPr id="108" name="s108"/>
          <p:cNvSpPr/>
          <p:nvPr/>
        </p:nvSpPr>
        <p:spPr>
          <a:xfrm>
            <a:off x="543154" y="2615184"/>
            <a:ext cx="5760720" cy="1943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75" b="0" dirty="0">
                <a:solidFill>
                  <a:srgbClr val="FBBF24"/>
                </a:solidFill>
                <a:latin typeface="Consolas"/>
                <a:ea typeface="Consolas"/>
                <a:cs typeface="Consolas"/>
              </a:rPr>
              <a:t>[Fact]</a:t>
            </a:r>
            <a:endParaRPr lang="en-US" sz="1275" dirty="0"/>
          </a:p>
        </p:txBody>
      </p:sp>
      <p:sp>
        <p:nvSpPr>
          <p:cNvPr id="109" name="s109"/>
          <p:cNvSpPr/>
          <p:nvPr/>
        </p:nvSpPr>
        <p:spPr>
          <a:xfrm>
            <a:off x="543154" y="2809494"/>
            <a:ext cx="5760720" cy="1943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75" b="0" dirty="0">
                <a:solidFill>
                  <a:srgbClr val="60A5FA"/>
                </a:solidFill>
                <a:latin typeface="Consolas"/>
                <a:ea typeface="Consolas"/>
                <a:cs typeface="Consolas"/>
              </a:rPr>
              <a:t>public</a:t>
            </a:r>
            <a:r>
              <a:rPr lang="en-US" sz="1275" b="0" dirty="0">
                <a:solidFill>
                  <a:srgbClr val="E2E8F0"/>
                </a:solidFill>
                <a:latin typeface="Consolas"/>
                <a:ea typeface="Consolas"/>
                <a:cs typeface="Consolas"/>
              </a:rPr>
              <a:t> </a:t>
            </a:r>
            <a:r>
              <a:rPr lang="en-US" sz="1275" b="0" dirty="0">
                <a:solidFill>
                  <a:srgbClr val="60A5FA"/>
                </a:solidFill>
                <a:latin typeface="Consolas"/>
                <a:ea typeface="Consolas"/>
                <a:cs typeface="Consolas"/>
              </a:rPr>
              <a:t>void</a:t>
            </a:r>
            <a:r>
              <a:rPr lang="en-US" sz="1275" b="0" dirty="0">
                <a:solidFill>
                  <a:srgbClr val="E2E8F0"/>
                </a:solidFill>
                <a:latin typeface="Consolas"/>
                <a:ea typeface="Consolas"/>
                <a:cs typeface="Consolas"/>
              </a:rPr>
              <a:t> </a:t>
            </a:r>
            <a:r>
              <a:rPr lang="en-US" sz="1275" b="0" dirty="0">
                <a:solidFill>
                  <a:srgbClr val="7DD3FC"/>
                </a:solidFill>
                <a:latin typeface="Consolas"/>
                <a:ea typeface="Consolas"/>
                <a:cs typeface="Consolas"/>
              </a:rPr>
              <a:t>CalculateTotal_AppliesDiscount</a:t>
            </a:r>
            <a:r>
              <a:rPr lang="en-US" sz="1275" b="0" dirty="0">
                <a:solidFill>
                  <a:srgbClr val="E2E8F0"/>
                </a:solidFill>
                <a:latin typeface="Consolas"/>
                <a:ea typeface="Consolas"/>
                <a:cs typeface="Consolas"/>
              </a:rPr>
              <a:t>()</a:t>
            </a:r>
            <a:endParaRPr lang="en-US" sz="1275" dirty="0"/>
          </a:p>
        </p:txBody>
      </p:sp>
      <p:sp>
        <p:nvSpPr>
          <p:cNvPr id="110" name="s110"/>
          <p:cNvSpPr/>
          <p:nvPr/>
        </p:nvSpPr>
        <p:spPr>
          <a:xfrm>
            <a:off x="543154" y="3003804"/>
            <a:ext cx="5760720" cy="1943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75" b="0" dirty="0">
                <a:solidFill>
                  <a:srgbClr val="E2E8F0"/>
                </a:solidFill>
                <a:latin typeface="Consolas"/>
                <a:ea typeface="Consolas"/>
                <a:cs typeface="Consolas"/>
              </a:rPr>
              <a:t>{</a:t>
            </a:r>
            <a:endParaRPr lang="en-US" sz="1275" dirty="0"/>
          </a:p>
        </p:txBody>
      </p:sp>
      <p:sp>
        <p:nvSpPr>
          <p:cNvPr id="111" name="s111"/>
          <p:cNvSpPr/>
          <p:nvPr/>
        </p:nvSpPr>
        <p:spPr>
          <a:xfrm>
            <a:off x="543154" y="3198114"/>
            <a:ext cx="5760720" cy="1943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75" b="0" dirty="0">
                <a:solidFill>
                  <a:srgbClr val="E2E8F0"/>
                </a:solidFill>
                <a:latin typeface="Consolas"/>
                <a:ea typeface="Consolas"/>
                <a:cs typeface="Consolas"/>
              </a:rPr>
              <a:t>    </a:t>
            </a:r>
            <a:r>
              <a:rPr lang="en-US" sz="1275" b="0" dirty="0">
                <a:solidFill>
                  <a:srgbClr val="60A5FA"/>
                </a:solidFill>
                <a:latin typeface="Consolas"/>
                <a:ea typeface="Consolas"/>
                <a:cs typeface="Consolas"/>
              </a:rPr>
              <a:t>var</a:t>
            </a:r>
            <a:r>
              <a:rPr lang="en-US" sz="1275" b="0" dirty="0">
                <a:solidFill>
                  <a:srgbClr val="E2E8F0"/>
                </a:solidFill>
                <a:latin typeface="Consolas"/>
                <a:ea typeface="Consolas"/>
                <a:cs typeface="Consolas"/>
              </a:rPr>
              <a:t> result = </a:t>
            </a:r>
            <a:r>
              <a:rPr lang="en-US" sz="1275" b="0" dirty="0">
                <a:solidFill>
                  <a:srgbClr val="7DD3FC"/>
                </a:solidFill>
                <a:latin typeface="Consolas"/>
                <a:ea typeface="Consolas"/>
                <a:cs typeface="Consolas"/>
              </a:rPr>
              <a:t>Pricing</a:t>
            </a:r>
            <a:r>
              <a:rPr lang="en-US" sz="1275" b="0" dirty="0">
                <a:solidFill>
                  <a:srgbClr val="E2E8F0"/>
                </a:solidFill>
                <a:latin typeface="Consolas"/>
                <a:ea typeface="Consolas"/>
                <a:cs typeface="Consolas"/>
              </a:rPr>
              <a:t>.</a:t>
            </a:r>
            <a:r>
              <a:rPr lang="en-US" sz="1275" b="0" dirty="0">
                <a:solidFill>
                  <a:srgbClr val="7DD3FC"/>
                </a:solidFill>
                <a:latin typeface="Consolas"/>
                <a:ea typeface="Consolas"/>
                <a:cs typeface="Consolas"/>
              </a:rPr>
              <a:t>CalculateTotal</a:t>
            </a:r>
            <a:r>
              <a:rPr lang="en-US" sz="1275" b="0" dirty="0">
                <a:solidFill>
                  <a:srgbClr val="E2E8F0"/>
                </a:solidFill>
                <a:latin typeface="Consolas"/>
                <a:ea typeface="Consolas"/>
                <a:cs typeface="Consolas"/>
              </a:rPr>
              <a:t>(</a:t>
            </a:r>
            <a:r>
              <a:rPr lang="en-US" sz="1275" b="0" dirty="0">
                <a:solidFill>
                  <a:srgbClr val="C4B5FD"/>
                </a:solidFill>
                <a:latin typeface="Consolas"/>
                <a:ea typeface="Consolas"/>
                <a:cs typeface="Consolas"/>
              </a:rPr>
              <a:t>100m</a:t>
            </a:r>
            <a:r>
              <a:rPr lang="en-US" sz="1275" b="0" dirty="0">
                <a:solidFill>
                  <a:srgbClr val="E2E8F0"/>
                </a:solidFill>
                <a:latin typeface="Consolas"/>
                <a:ea typeface="Consolas"/>
                <a:cs typeface="Consolas"/>
              </a:rPr>
              <a:t>, </a:t>
            </a:r>
            <a:r>
              <a:rPr lang="en-US" sz="1275" b="0" dirty="0">
                <a:solidFill>
                  <a:srgbClr val="C4B5FD"/>
                </a:solidFill>
                <a:latin typeface="Consolas"/>
                <a:ea typeface="Consolas"/>
                <a:cs typeface="Consolas"/>
              </a:rPr>
              <a:t>20m</a:t>
            </a:r>
            <a:r>
              <a:rPr lang="en-US" sz="1275" b="0" dirty="0">
                <a:solidFill>
                  <a:srgbClr val="E2E8F0"/>
                </a:solidFill>
                <a:latin typeface="Consolas"/>
                <a:ea typeface="Consolas"/>
                <a:cs typeface="Consolas"/>
              </a:rPr>
              <a:t>);</a:t>
            </a:r>
            <a:endParaRPr lang="en-US" sz="1275" dirty="0"/>
          </a:p>
        </p:txBody>
      </p:sp>
      <p:sp>
        <p:nvSpPr>
          <p:cNvPr id="112" name="s112"/>
          <p:cNvSpPr/>
          <p:nvPr/>
        </p:nvSpPr>
        <p:spPr>
          <a:xfrm>
            <a:off x="543154" y="3586734"/>
            <a:ext cx="5760720" cy="1943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75" b="0" dirty="0">
                <a:solidFill>
                  <a:srgbClr val="E2E8F0"/>
                </a:solidFill>
                <a:latin typeface="Consolas"/>
                <a:ea typeface="Consolas"/>
                <a:cs typeface="Consolas"/>
              </a:rPr>
              <a:t>    result.</a:t>
            </a:r>
            <a:r>
              <a:rPr lang="en-US" sz="1275" b="0" dirty="0">
                <a:solidFill>
                  <a:srgbClr val="7DD3FC"/>
                </a:solidFill>
                <a:latin typeface="Consolas"/>
                <a:ea typeface="Consolas"/>
                <a:cs typeface="Consolas"/>
              </a:rPr>
              <a:t>ShouldBe</a:t>
            </a:r>
            <a:r>
              <a:rPr lang="en-US" sz="1275" b="0" dirty="0">
                <a:solidFill>
                  <a:srgbClr val="E2E8F0"/>
                </a:solidFill>
                <a:latin typeface="Consolas"/>
                <a:ea typeface="Consolas"/>
                <a:cs typeface="Consolas"/>
              </a:rPr>
              <a:t>(</a:t>
            </a:r>
            <a:r>
              <a:rPr lang="en-US" sz="1275" b="0" dirty="0">
                <a:solidFill>
                  <a:srgbClr val="C4B5FD"/>
                </a:solidFill>
                <a:latin typeface="Consolas"/>
                <a:ea typeface="Consolas"/>
                <a:cs typeface="Consolas"/>
              </a:rPr>
              <a:t>80m</a:t>
            </a:r>
            <a:r>
              <a:rPr lang="en-US" sz="1275" b="0" dirty="0">
                <a:solidFill>
                  <a:srgbClr val="E2E8F0"/>
                </a:solidFill>
                <a:latin typeface="Consolas"/>
                <a:ea typeface="Consolas"/>
                <a:cs typeface="Consolas"/>
              </a:rPr>
              <a:t>);</a:t>
            </a:r>
            <a:endParaRPr lang="en-US" sz="1275" dirty="0"/>
          </a:p>
        </p:txBody>
      </p:sp>
      <p:sp>
        <p:nvSpPr>
          <p:cNvPr id="113" name="s113"/>
          <p:cNvSpPr/>
          <p:nvPr/>
        </p:nvSpPr>
        <p:spPr>
          <a:xfrm>
            <a:off x="543154" y="3781044"/>
            <a:ext cx="5760720" cy="1943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75" b="0" dirty="0">
                <a:solidFill>
                  <a:srgbClr val="E2E8F0"/>
                </a:solidFill>
                <a:latin typeface="Consolas"/>
                <a:ea typeface="Consolas"/>
                <a:cs typeface="Consolas"/>
              </a:rPr>
              <a:t>}</a:t>
            </a:r>
            <a:endParaRPr lang="en-US" sz="1275" dirty="0"/>
          </a:p>
        </p:txBody>
      </p:sp>
      <p:sp>
        <p:nvSpPr>
          <p:cNvPr id="114" name="s114"/>
          <p:cNvSpPr txBox="1"/>
          <p:nvPr/>
        </p:nvSpPr>
        <p:spPr>
          <a:xfrm>
            <a:off x="543154" y="4279392"/>
            <a:ext cx="576072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2. JUST ENOUGH TO COMPILE</a:t>
            </a:r>
            <a:endParaRPr lang="en-US" sz="1050" dirty="0"/>
          </a:p>
        </p:txBody>
      </p:sp>
      <p:sp>
        <p:nvSpPr>
          <p:cNvPr id="115" name="s115"/>
          <p:cNvSpPr/>
          <p:nvPr/>
        </p:nvSpPr>
        <p:spPr>
          <a:xfrm>
            <a:off x="543154" y="4553712"/>
            <a:ext cx="5760720" cy="1700784"/>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6" name="s116"/>
          <p:cNvSpPr/>
          <p:nvPr/>
        </p:nvSpPr>
        <p:spPr>
          <a:xfrm>
            <a:off x="707746" y="470001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7" name="s117"/>
          <p:cNvSpPr/>
          <p:nvPr/>
        </p:nvSpPr>
        <p:spPr>
          <a:xfrm>
            <a:off x="890626" y="470001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18" name="s118"/>
          <p:cNvSpPr/>
          <p:nvPr/>
        </p:nvSpPr>
        <p:spPr>
          <a:xfrm>
            <a:off x="1073506" y="470001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19" name="s119"/>
          <p:cNvSpPr/>
          <p:nvPr/>
        </p:nvSpPr>
        <p:spPr>
          <a:xfrm>
            <a:off x="1320394" y="4626864"/>
            <a:ext cx="103327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Pricing.cs</a:t>
            </a:r>
            <a:endParaRPr lang="en-US" sz="950" dirty="0"/>
          </a:p>
        </p:txBody>
      </p:sp>
      <p:cxnSp>
        <p:nvCxnSpPr>
          <p:cNvPr id="120" name="ln120"/>
          <p:cNvCxnSpPr/>
          <p:nvPr/>
        </p:nvCxnSpPr>
        <p:spPr>
          <a:xfrm>
            <a:off x="543154" y="4965192"/>
            <a:ext cx="5760720" cy="0"/>
          </a:xfrm>
          <a:prstGeom prst="line">
            <a:avLst/>
          </a:prstGeom>
          <a:ln w="9525">
            <a:solidFill>
              <a:srgbClr val="1E3A5F"/>
            </a:solidFill>
          </a:ln>
        </p:spPr>
      </p:cxnSp>
      <p:sp>
        <p:nvSpPr>
          <p:cNvPr id="121" name="s121"/>
          <p:cNvSpPr/>
          <p:nvPr/>
        </p:nvSpPr>
        <p:spPr>
          <a:xfrm>
            <a:off x="543154" y="5084064"/>
            <a:ext cx="5760720"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60A5FA"/>
                </a:solidFill>
                <a:latin typeface="Consolas"/>
                <a:ea typeface="Consolas"/>
                <a:cs typeface="Consolas"/>
              </a:rPr>
              <a:t>public</a:t>
            </a:r>
            <a:r>
              <a:rPr lang="en-US" sz="1100" b="0" dirty="0">
                <a:solidFill>
                  <a:srgbClr val="E2E8F0"/>
                </a:solidFill>
                <a:latin typeface="Consolas"/>
                <a:ea typeface="Consolas"/>
                <a:cs typeface="Consolas"/>
              </a:rPr>
              <a:t> </a:t>
            </a:r>
            <a:r>
              <a:rPr lang="en-US" sz="1100" b="0" dirty="0">
                <a:solidFill>
                  <a:srgbClr val="60A5FA"/>
                </a:solidFill>
                <a:latin typeface="Consolas"/>
                <a:ea typeface="Consolas"/>
                <a:cs typeface="Consolas"/>
              </a:rPr>
              <a:t>static</a:t>
            </a:r>
            <a:r>
              <a:rPr lang="en-US" sz="1100" b="0" dirty="0">
                <a:solidFill>
                  <a:srgbClr val="E2E8F0"/>
                </a:solidFill>
                <a:latin typeface="Consolas"/>
                <a:ea typeface="Consolas"/>
                <a:cs typeface="Consolas"/>
              </a:rPr>
              <a:t> </a:t>
            </a:r>
            <a:r>
              <a:rPr lang="en-US" sz="1100" b="0" dirty="0">
                <a:solidFill>
                  <a:srgbClr val="60A5FA"/>
                </a:solidFill>
                <a:latin typeface="Consolas"/>
                <a:ea typeface="Consolas"/>
                <a:cs typeface="Consolas"/>
              </a:rPr>
              <a:t>class</a:t>
            </a:r>
            <a:r>
              <a:rPr lang="en-US" sz="1100" b="0" dirty="0">
                <a:solidFill>
                  <a:srgbClr val="E2E8F0"/>
                </a:solidFill>
                <a:latin typeface="Consolas"/>
                <a:ea typeface="Consolas"/>
                <a:cs typeface="Consolas"/>
              </a:rPr>
              <a:t> </a:t>
            </a:r>
            <a:r>
              <a:rPr lang="en-US" sz="1100" b="0" dirty="0">
                <a:solidFill>
                  <a:srgbClr val="7DD3FC"/>
                </a:solidFill>
                <a:latin typeface="Consolas"/>
                <a:ea typeface="Consolas"/>
                <a:cs typeface="Consolas"/>
              </a:rPr>
              <a:t>Pricing</a:t>
            </a:r>
            <a:endParaRPr lang="en-US" sz="1100" dirty="0"/>
          </a:p>
        </p:txBody>
      </p:sp>
      <p:sp>
        <p:nvSpPr>
          <p:cNvPr id="122" name="s122"/>
          <p:cNvSpPr/>
          <p:nvPr/>
        </p:nvSpPr>
        <p:spPr>
          <a:xfrm>
            <a:off x="543154" y="5251704"/>
            <a:ext cx="5760720"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E2E8F0"/>
                </a:solidFill>
                <a:latin typeface="Consolas"/>
                <a:ea typeface="Consolas"/>
                <a:cs typeface="Consolas"/>
              </a:rPr>
              <a:t>{</a:t>
            </a:r>
            <a:endParaRPr lang="en-US" sz="1100" dirty="0"/>
          </a:p>
        </p:txBody>
      </p:sp>
      <p:sp>
        <p:nvSpPr>
          <p:cNvPr id="123" name="s123"/>
          <p:cNvSpPr/>
          <p:nvPr/>
        </p:nvSpPr>
        <p:spPr>
          <a:xfrm>
            <a:off x="543154" y="5419344"/>
            <a:ext cx="5760720"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E2E8F0"/>
                </a:solidFill>
                <a:latin typeface="Consolas"/>
                <a:ea typeface="Consolas"/>
                <a:cs typeface="Consolas"/>
              </a:rPr>
              <a:t>    </a:t>
            </a:r>
            <a:r>
              <a:rPr lang="en-US" sz="1100" b="0" dirty="0">
                <a:solidFill>
                  <a:srgbClr val="60A5FA"/>
                </a:solidFill>
                <a:latin typeface="Consolas"/>
                <a:ea typeface="Consolas"/>
                <a:cs typeface="Consolas"/>
              </a:rPr>
              <a:t>public</a:t>
            </a:r>
            <a:r>
              <a:rPr lang="en-US" sz="1100" b="0" dirty="0">
                <a:solidFill>
                  <a:srgbClr val="E2E8F0"/>
                </a:solidFill>
                <a:latin typeface="Consolas"/>
                <a:ea typeface="Consolas"/>
                <a:cs typeface="Consolas"/>
              </a:rPr>
              <a:t> </a:t>
            </a:r>
            <a:r>
              <a:rPr lang="en-US" sz="1100" b="0" dirty="0">
                <a:solidFill>
                  <a:srgbClr val="60A5FA"/>
                </a:solidFill>
                <a:latin typeface="Consolas"/>
                <a:ea typeface="Consolas"/>
                <a:cs typeface="Consolas"/>
              </a:rPr>
              <a:t>static</a:t>
            </a:r>
            <a:r>
              <a:rPr lang="en-US" sz="1100" b="0" dirty="0">
                <a:solidFill>
                  <a:srgbClr val="E2E8F0"/>
                </a:solidFill>
                <a:latin typeface="Consolas"/>
                <a:ea typeface="Consolas"/>
                <a:cs typeface="Consolas"/>
              </a:rPr>
              <a:t> </a:t>
            </a:r>
            <a:r>
              <a:rPr lang="en-US" sz="1100" b="0" dirty="0">
                <a:solidFill>
                  <a:srgbClr val="60A5FA"/>
                </a:solidFill>
                <a:latin typeface="Consolas"/>
                <a:ea typeface="Consolas"/>
                <a:cs typeface="Consolas"/>
              </a:rPr>
              <a:t>decimal</a:t>
            </a:r>
            <a:r>
              <a:rPr lang="en-US" sz="1100" b="0" dirty="0">
                <a:solidFill>
                  <a:srgbClr val="E2E8F0"/>
                </a:solidFill>
                <a:latin typeface="Consolas"/>
                <a:ea typeface="Consolas"/>
                <a:cs typeface="Consolas"/>
              </a:rPr>
              <a:t> </a:t>
            </a:r>
            <a:r>
              <a:rPr lang="en-US" sz="1100" b="0" dirty="0">
                <a:solidFill>
                  <a:srgbClr val="7DD3FC"/>
                </a:solidFill>
                <a:latin typeface="Consolas"/>
                <a:ea typeface="Consolas"/>
                <a:cs typeface="Consolas"/>
              </a:rPr>
              <a:t>CalculateTotal</a:t>
            </a:r>
            <a:r>
              <a:rPr lang="en-US" sz="1100" b="0" dirty="0">
                <a:solidFill>
                  <a:srgbClr val="E2E8F0"/>
                </a:solidFill>
                <a:latin typeface="Consolas"/>
                <a:ea typeface="Consolas"/>
                <a:cs typeface="Consolas"/>
              </a:rPr>
              <a:t>(</a:t>
            </a:r>
            <a:endParaRPr lang="en-US" sz="1100" dirty="0"/>
          </a:p>
        </p:txBody>
      </p:sp>
      <p:sp>
        <p:nvSpPr>
          <p:cNvPr id="124" name="s124"/>
          <p:cNvSpPr/>
          <p:nvPr/>
        </p:nvSpPr>
        <p:spPr>
          <a:xfrm>
            <a:off x="543154" y="5586984"/>
            <a:ext cx="5760720"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E2E8F0"/>
                </a:solidFill>
                <a:latin typeface="Consolas"/>
                <a:ea typeface="Consolas"/>
                <a:cs typeface="Consolas"/>
              </a:rPr>
              <a:t>        </a:t>
            </a:r>
            <a:r>
              <a:rPr lang="en-US" sz="1100" b="0" dirty="0">
                <a:solidFill>
                  <a:srgbClr val="60A5FA"/>
                </a:solidFill>
                <a:latin typeface="Consolas"/>
                <a:ea typeface="Consolas"/>
                <a:cs typeface="Consolas"/>
              </a:rPr>
              <a:t>decimal</a:t>
            </a:r>
            <a:r>
              <a:rPr lang="en-US" sz="1100" b="0" dirty="0">
                <a:solidFill>
                  <a:srgbClr val="E2E8F0"/>
                </a:solidFill>
                <a:latin typeface="Consolas"/>
                <a:ea typeface="Consolas"/>
                <a:cs typeface="Consolas"/>
              </a:rPr>
              <a:t> price, </a:t>
            </a:r>
            <a:r>
              <a:rPr lang="en-US" sz="1100" b="0" dirty="0">
                <a:solidFill>
                  <a:srgbClr val="60A5FA"/>
                </a:solidFill>
                <a:latin typeface="Consolas"/>
                <a:ea typeface="Consolas"/>
                <a:cs typeface="Consolas"/>
              </a:rPr>
              <a:t>decimal</a:t>
            </a:r>
            <a:r>
              <a:rPr lang="en-US" sz="1100" b="0" dirty="0">
                <a:solidFill>
                  <a:srgbClr val="E2E8F0"/>
                </a:solidFill>
                <a:latin typeface="Consolas"/>
                <a:ea typeface="Consolas"/>
                <a:cs typeface="Consolas"/>
              </a:rPr>
              <a:t> discount)</a:t>
            </a:r>
            <a:endParaRPr lang="en-US" sz="1100" dirty="0"/>
          </a:p>
        </p:txBody>
      </p:sp>
      <p:sp>
        <p:nvSpPr>
          <p:cNvPr id="125" name="s125"/>
          <p:cNvSpPr/>
          <p:nvPr/>
        </p:nvSpPr>
        <p:spPr>
          <a:xfrm>
            <a:off x="543154" y="5754624"/>
            <a:ext cx="5760720"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E2E8F0"/>
                </a:solidFill>
                <a:latin typeface="Consolas"/>
                <a:ea typeface="Consolas"/>
                <a:cs typeface="Consolas"/>
              </a:rPr>
              <a:t>        =&gt; </a:t>
            </a:r>
            <a:r>
              <a:rPr lang="en-US" sz="1100" b="0" dirty="0">
                <a:solidFill>
                  <a:srgbClr val="C4B5FD"/>
                </a:solidFill>
                <a:latin typeface="Consolas"/>
                <a:ea typeface="Consolas"/>
                <a:cs typeface="Consolas"/>
              </a:rPr>
              <a:t>0</a:t>
            </a:r>
            <a:r>
              <a:rPr lang="en-US" sz="1100" b="0" dirty="0">
                <a:solidFill>
                  <a:srgbClr val="E2E8F0"/>
                </a:solidFill>
                <a:latin typeface="Consolas"/>
                <a:ea typeface="Consolas"/>
                <a:cs typeface="Consolas"/>
              </a:rPr>
              <a:t>;          </a:t>
            </a:r>
            <a:r>
              <a:rPr lang="en-US" sz="1100" b="0" dirty="0">
                <a:solidFill>
                  <a:srgbClr val="6FAE7A"/>
                </a:solidFill>
                <a:latin typeface="Consolas"/>
                <a:ea typeface="Consolas"/>
                <a:cs typeface="Consolas"/>
              </a:rPr>
              <a:t>// just enough to COMPILE</a:t>
            </a:r>
            <a:endParaRPr lang="en-US" sz="1100" dirty="0"/>
          </a:p>
        </p:txBody>
      </p:sp>
      <p:sp>
        <p:nvSpPr>
          <p:cNvPr id="126" name="s126"/>
          <p:cNvSpPr/>
          <p:nvPr/>
        </p:nvSpPr>
        <p:spPr>
          <a:xfrm>
            <a:off x="543154" y="5922264"/>
            <a:ext cx="5760720" cy="1676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100" b="0" dirty="0">
                <a:solidFill>
                  <a:srgbClr val="E2E8F0"/>
                </a:solidFill>
                <a:latin typeface="Consolas"/>
                <a:ea typeface="Consolas"/>
                <a:cs typeface="Consolas"/>
              </a:rPr>
              <a:t>}</a:t>
            </a:r>
            <a:endParaRPr lang="en-US" sz="1100" dirty="0"/>
          </a:p>
        </p:txBody>
      </p:sp>
      <p:sp>
        <p:nvSpPr>
          <p:cNvPr id="127" name="s127"/>
          <p:cNvSpPr txBox="1"/>
          <p:nvPr/>
        </p:nvSpPr>
        <p:spPr>
          <a:xfrm>
            <a:off x="6578194" y="1810512"/>
            <a:ext cx="5052974"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87171"/>
                </a:solidFill>
                <a:latin typeface="Segoe UI"/>
                <a:ea typeface="Segoe UI"/>
                <a:cs typeface="Segoe UI"/>
              </a:rPr>
              <a:t>3. RUN IT</a:t>
            </a:r>
            <a:endParaRPr lang="en-US" sz="1050" dirty="0"/>
          </a:p>
        </p:txBody>
      </p:sp>
      <p:sp>
        <p:nvSpPr>
          <p:cNvPr id="128" name="s128"/>
          <p:cNvSpPr/>
          <p:nvPr/>
        </p:nvSpPr>
        <p:spPr>
          <a:xfrm>
            <a:off x="6578194" y="2084832"/>
            <a:ext cx="5052974" cy="274320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29" name="s129"/>
          <p:cNvSpPr/>
          <p:nvPr/>
        </p:nvSpPr>
        <p:spPr>
          <a:xfrm>
            <a:off x="674278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30" name="s130"/>
          <p:cNvSpPr/>
          <p:nvPr/>
        </p:nvSpPr>
        <p:spPr>
          <a:xfrm>
            <a:off x="692566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31" name="s131"/>
          <p:cNvSpPr/>
          <p:nvPr/>
        </p:nvSpPr>
        <p:spPr>
          <a:xfrm>
            <a:off x="710854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32" name="s132"/>
          <p:cNvSpPr/>
          <p:nvPr/>
        </p:nvSpPr>
        <p:spPr>
          <a:xfrm>
            <a:off x="7355434" y="2157984"/>
            <a:ext cx="1104595"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dotnet test</a:t>
            </a:r>
            <a:endParaRPr lang="en-US" sz="950" dirty="0"/>
          </a:p>
        </p:txBody>
      </p:sp>
      <p:cxnSp>
        <p:nvCxnSpPr>
          <p:cNvPr id="133" name="ln133"/>
          <p:cNvCxnSpPr/>
          <p:nvPr/>
        </p:nvCxnSpPr>
        <p:spPr>
          <a:xfrm>
            <a:off x="6578194" y="2496312"/>
            <a:ext cx="5052974" cy="0"/>
          </a:xfrm>
          <a:prstGeom prst="line">
            <a:avLst/>
          </a:prstGeom>
          <a:ln w="9525">
            <a:solidFill>
              <a:srgbClr val="1E3A5F"/>
            </a:solidFill>
          </a:ln>
        </p:spPr>
      </p:cxnSp>
      <p:sp>
        <p:nvSpPr>
          <p:cNvPr id="134" name="s134"/>
          <p:cNvSpPr/>
          <p:nvPr/>
        </p:nvSpPr>
        <p:spPr>
          <a:xfrm>
            <a:off x="6578194" y="2615184"/>
            <a:ext cx="5052974" cy="1905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50" b="0" dirty="0">
                <a:solidFill>
                  <a:srgbClr val="E2E8F0"/>
                </a:solidFill>
                <a:latin typeface="Consolas"/>
                <a:ea typeface="Consolas"/>
                <a:cs typeface="Consolas"/>
              </a:rPr>
              <a:t>error CS0103: The name 'Pricing' does not exist</a:t>
            </a:r>
            <a:endParaRPr lang="en-US" sz="1250" dirty="0"/>
          </a:p>
        </p:txBody>
      </p:sp>
      <p:sp>
        <p:nvSpPr>
          <p:cNvPr id="135" name="s135"/>
          <p:cNvSpPr/>
          <p:nvPr/>
        </p:nvSpPr>
        <p:spPr>
          <a:xfrm>
            <a:off x="6578194" y="2805684"/>
            <a:ext cx="5052974" cy="1905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50" b="0" dirty="0">
                <a:solidFill>
                  <a:srgbClr val="E2E8F0"/>
                </a:solidFill>
                <a:latin typeface="Consolas"/>
                <a:ea typeface="Consolas"/>
                <a:cs typeface="Consolas"/>
              </a:rPr>
              <a:t>--- after adding the empty class ---</a:t>
            </a:r>
            <a:endParaRPr lang="en-US" sz="1250" dirty="0"/>
          </a:p>
        </p:txBody>
      </p:sp>
      <p:sp>
        <p:nvSpPr>
          <p:cNvPr id="136" name="s136"/>
          <p:cNvSpPr/>
          <p:nvPr/>
        </p:nvSpPr>
        <p:spPr>
          <a:xfrm>
            <a:off x="6578194" y="2996184"/>
            <a:ext cx="5052974" cy="1905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50" b="0" dirty="0">
                <a:solidFill>
                  <a:srgbClr val="E2E8F0"/>
                </a:solidFill>
                <a:latin typeface="Consolas"/>
                <a:ea typeface="Consolas"/>
                <a:cs typeface="Consolas"/>
              </a:rPr>
              <a:t>result</a:t>
            </a:r>
            <a:endParaRPr lang="en-US" sz="1250" dirty="0"/>
          </a:p>
        </p:txBody>
      </p:sp>
      <p:sp>
        <p:nvSpPr>
          <p:cNvPr id="137" name="s137"/>
          <p:cNvSpPr/>
          <p:nvPr/>
        </p:nvSpPr>
        <p:spPr>
          <a:xfrm>
            <a:off x="6578194" y="3186684"/>
            <a:ext cx="5052974" cy="1905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50" b="0" dirty="0">
                <a:solidFill>
                  <a:srgbClr val="E2E8F0"/>
                </a:solidFill>
                <a:latin typeface="Consolas"/>
                <a:ea typeface="Consolas"/>
                <a:cs typeface="Consolas"/>
              </a:rPr>
              <a:t>    should be</a:t>
            </a:r>
            <a:endParaRPr lang="en-US" sz="1250" dirty="0"/>
          </a:p>
        </p:txBody>
      </p:sp>
      <p:sp>
        <p:nvSpPr>
          <p:cNvPr id="138" name="s138"/>
          <p:cNvSpPr/>
          <p:nvPr/>
        </p:nvSpPr>
        <p:spPr>
          <a:xfrm>
            <a:off x="6578194" y="3377184"/>
            <a:ext cx="5052974" cy="1905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50" b="0" dirty="0">
                <a:solidFill>
                  <a:srgbClr val="E2E8F0"/>
                </a:solidFill>
                <a:latin typeface="Consolas"/>
                <a:ea typeface="Consolas"/>
                <a:cs typeface="Consolas"/>
              </a:rPr>
              <a:t>80m</a:t>
            </a:r>
            <a:endParaRPr lang="en-US" sz="1250" dirty="0"/>
          </a:p>
        </p:txBody>
      </p:sp>
      <p:sp>
        <p:nvSpPr>
          <p:cNvPr id="139" name="s139"/>
          <p:cNvSpPr/>
          <p:nvPr/>
        </p:nvSpPr>
        <p:spPr>
          <a:xfrm>
            <a:off x="6578194" y="3567684"/>
            <a:ext cx="5052974" cy="1905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50" b="0" dirty="0">
                <a:solidFill>
                  <a:srgbClr val="E2E8F0"/>
                </a:solidFill>
                <a:latin typeface="Consolas"/>
                <a:ea typeface="Consolas"/>
                <a:cs typeface="Consolas"/>
              </a:rPr>
              <a:t>    but was</a:t>
            </a:r>
            <a:endParaRPr lang="en-US" sz="1250" dirty="0"/>
          </a:p>
        </p:txBody>
      </p:sp>
      <p:sp>
        <p:nvSpPr>
          <p:cNvPr id="140" name="s140"/>
          <p:cNvSpPr/>
          <p:nvPr/>
        </p:nvSpPr>
        <p:spPr>
          <a:xfrm>
            <a:off x="6578194" y="3758184"/>
            <a:ext cx="5052974" cy="1905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50" b="0" dirty="0">
                <a:solidFill>
                  <a:srgbClr val="E2E8F0"/>
                </a:solidFill>
                <a:latin typeface="Consolas"/>
                <a:ea typeface="Consolas"/>
                <a:cs typeface="Consolas"/>
              </a:rPr>
              <a:t>0m</a:t>
            </a:r>
            <a:endParaRPr lang="en-US" sz="1250" dirty="0"/>
          </a:p>
        </p:txBody>
      </p:sp>
      <p:sp>
        <p:nvSpPr>
          <p:cNvPr id="141" name="s141"/>
          <p:cNvSpPr/>
          <p:nvPr/>
        </p:nvSpPr>
        <p:spPr>
          <a:xfrm>
            <a:off x="6578194" y="3948684"/>
            <a:ext cx="5052974" cy="19050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50" b="0" dirty="0">
                <a:solidFill>
                  <a:srgbClr val="E2E8F0"/>
                </a:solidFill>
                <a:latin typeface="Consolas"/>
                <a:ea typeface="Consolas"/>
                <a:cs typeface="Consolas"/>
              </a:rPr>
              <a:t>Failed!  - Failed: 1, Passed: 0, Total: 1</a:t>
            </a:r>
            <a:endParaRPr lang="en-US" sz="1250" dirty="0"/>
          </a:p>
        </p:txBody>
      </p:sp>
      <p:sp>
        <p:nvSpPr>
          <p:cNvPr id="142" name="s142"/>
          <p:cNvSpPr/>
          <p:nvPr/>
        </p:nvSpPr>
        <p:spPr>
          <a:xfrm>
            <a:off x="6687922" y="2968752"/>
            <a:ext cx="4833518" cy="1197864"/>
          </a:xfrm>
          <a:prstGeom prst="roundRect">
            <a:avLst>
              <a:gd name="adj" fmla="val 6000"/>
            </a:avLst>
          </a:prstGeom>
          <a:solidFill>
            <a:srgbClr val="F87171">
              <a:alpha val="10000"/>
            </a:srgbClr>
          </a:solidFill>
          <a:ln w="15875">
            <a:solidFill>
              <a:srgbClr val="F87171"/>
            </a:solidFill>
            <a:prstDash val="solid"/>
          </a:ln>
        </p:spPr>
        <p:txBody>
          <a:bodyPr wrap="square" lIns="164592" tIns="109728" rIns="137160" bIns="91440" rtlCol="0" anchor="t">
            <a:noAutofit/>
          </a:bodyPr>
          <a:lstStyle/>
          <a:p>
            <a:endParaRPr lang="en-US"/>
          </a:p>
        </p:txBody>
      </p:sp>
      <p:sp>
        <p:nvSpPr>
          <p:cNvPr id="143" name="s143"/>
          <p:cNvSpPr/>
          <p:nvPr/>
        </p:nvSpPr>
        <p:spPr>
          <a:xfrm>
            <a:off x="6578194" y="4965192"/>
            <a:ext cx="5052974" cy="1289304"/>
          </a:xfrm>
          <a:prstGeom prst="roundRect">
            <a:avLst>
              <a:gd name="adj" fmla="val 10000"/>
            </a:avLst>
          </a:prstGeom>
          <a:solidFill>
            <a:srgbClr val="F87171">
              <a:alpha val="10000"/>
            </a:srgbClr>
          </a:solidFill>
          <a:ln w="12700">
            <a:solidFill>
              <a:srgbClr val="F87171"/>
            </a:solidFill>
            <a:prstDash val="solid"/>
          </a:ln>
        </p:spPr>
        <p:txBody>
          <a:bodyPr wrap="square" lIns="201168" tIns="54864" rIns="137160" bIns="54864" rtlCol="0" anchor="ctr">
            <a:noAutofit/>
          </a:bodyPr>
          <a:lstStyle/>
          <a:p>
            <a:pPr marL="0" indent="0" algn="l">
              <a:spcBef>
                <a:spcPts val="0"/>
              </a:spcBef>
              <a:spcAft>
                <a:spcPts val="400"/>
              </a:spcAft>
              <a:buNone/>
            </a:pPr>
            <a:r>
              <a:rPr lang="en-US" sz="1150" b="1" dirty="0">
                <a:solidFill>
                  <a:srgbClr val="F87171"/>
                </a:solidFill>
                <a:latin typeface="Segoe UI"/>
                <a:ea typeface="Segoe UI"/>
                <a:cs typeface="Segoe UI"/>
              </a:rPr>
              <a:t>WHY MUST IT FAIL FIRST?</a:t>
            </a:r>
            <a:endParaRPr lang="en-US" sz="1150" dirty="0"/>
          </a:p>
          <a:p>
            <a:pPr marL="0" indent="0" algn="l">
              <a:spcBef>
                <a:spcPts val="0"/>
              </a:spcBef>
              <a:spcAft>
                <a:spcPts val="0"/>
              </a:spcAft>
              <a:buNone/>
            </a:pPr>
            <a:r>
              <a:rPr lang="en-US" sz="1250" b="0" dirty="0">
                <a:solidFill>
                  <a:srgbClr val="E2E8F0"/>
                </a:solidFill>
                <a:latin typeface="Segoe UI"/>
                <a:ea typeface="Segoe UI"/>
                <a:cs typeface="Segoe UI"/>
              </a:rPr>
              <a:t>a test you never saw fail may test nothing. Red proves it can catch the bug.</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anim calcmode="lin" valueType="num">
                                      <p:cBhvr additive="base">
                                        <p:cTn id="12" dur="500" decel="100000" fill="hold"/>
                                        <p:tgtEl>
                                          <p:spTgt spid="103"/>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42" presetClass="entr" presetSubtype="0" fill="hold" grpId="0" nodeType="clickEffect">
                                  <p:stCondLst>
                                    <p:cond delay="0"/>
                                  </p:stCondLst>
                                  <p:childTnLst>
                                    <p:set>
                                      <p:cBhvr>
                                        <p:cTn id="56" dur="1" fill="hold">
                                          <p:stCondLst>
                                            <p:cond delay="0"/>
                                          </p:stCondLst>
                                        </p:cTn>
                                        <p:tgtEl>
                                          <p:spTgt spid="128"/>
                                        </p:tgtEl>
                                        <p:attrNameLst>
                                          <p:attrName>style.visibility</p:attrName>
                                        </p:attrNameLst>
                                      </p:cBhvr>
                                      <p:to>
                                        <p:strVal val="visible"/>
                                      </p:to>
                                    </p:set>
                                    <p:animEffect transition="in" filter="fade">
                                      <p:cBhvr>
                                        <p:cTn id="57" dur="500"/>
                                        <p:tgtEl>
                                          <p:spTgt spid="128"/>
                                        </p:tgtEl>
                                      </p:cBhvr>
                                    </p:animEffect>
                                    <p:anim calcmode="lin" valueType="num">
                                      <p:cBhvr additive="base">
                                        <p:cTn id="58" dur="500" decel="100000" fill="hold"/>
                                        <p:tgtEl>
                                          <p:spTgt spid="128"/>
                                        </p:tgtEl>
                                        <p:attrNameLst>
                                          <p:attrName>ppt_y</p:attrName>
                                        </p:attrNameLst>
                                      </p:cBhvr>
                                      <p:tavLst>
                                        <p:tav tm="0">
                                          <p:val>
                                            <p:strVal val="#ppt_y+0.06"/>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29"/>
                                        </p:tgtEl>
                                        <p:attrNameLst>
                                          <p:attrName>style.visibility</p:attrName>
                                        </p:attrNameLst>
                                      </p:cBhvr>
                                      <p:to>
                                        <p:strVal val="visible"/>
                                      </p:to>
                                    </p:set>
                                    <p:animEffect transition="in" filter="fade">
                                      <p:cBhvr>
                                        <p:cTn id="61" dur="500"/>
                                        <p:tgtEl>
                                          <p:spTgt spid="129"/>
                                        </p:tgtEl>
                                      </p:cBhvr>
                                    </p:animEffect>
                                    <p:anim calcmode="lin" valueType="num">
                                      <p:cBhvr additive="base">
                                        <p:cTn id="62" dur="500" decel="100000" fill="hold"/>
                                        <p:tgtEl>
                                          <p:spTgt spid="129"/>
                                        </p:tgtEl>
                                        <p:attrNameLst>
                                          <p:attrName>ppt_y</p:attrName>
                                        </p:attrNameLst>
                                      </p:cBhvr>
                                      <p:tavLst>
                                        <p:tav tm="0">
                                          <p:val>
                                            <p:strVal val="#ppt_y+0.06"/>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130"/>
                                        </p:tgtEl>
                                        <p:attrNameLst>
                                          <p:attrName>style.visibility</p:attrName>
                                        </p:attrNameLst>
                                      </p:cBhvr>
                                      <p:to>
                                        <p:strVal val="visible"/>
                                      </p:to>
                                    </p:set>
                                    <p:animEffect transition="in" filter="fade">
                                      <p:cBhvr>
                                        <p:cTn id="65" dur="500"/>
                                        <p:tgtEl>
                                          <p:spTgt spid="130"/>
                                        </p:tgtEl>
                                      </p:cBhvr>
                                    </p:animEffect>
                                    <p:anim calcmode="lin" valueType="num">
                                      <p:cBhvr additive="base">
                                        <p:cTn id="66" dur="500" decel="100000" fill="hold"/>
                                        <p:tgtEl>
                                          <p:spTgt spid="130"/>
                                        </p:tgtEl>
                                        <p:attrNameLst>
                                          <p:attrName>ppt_y</p:attrName>
                                        </p:attrNameLst>
                                      </p:cBhvr>
                                      <p:tavLst>
                                        <p:tav tm="0">
                                          <p:val>
                                            <p:strVal val="#ppt_y+0.06"/>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131"/>
                                        </p:tgtEl>
                                        <p:attrNameLst>
                                          <p:attrName>style.visibility</p:attrName>
                                        </p:attrNameLst>
                                      </p:cBhvr>
                                      <p:to>
                                        <p:strVal val="visible"/>
                                      </p:to>
                                    </p:set>
                                    <p:animEffect transition="in" filter="fade">
                                      <p:cBhvr>
                                        <p:cTn id="69" dur="500"/>
                                        <p:tgtEl>
                                          <p:spTgt spid="131"/>
                                        </p:tgtEl>
                                      </p:cBhvr>
                                    </p:animEffect>
                                    <p:anim calcmode="lin" valueType="num">
                                      <p:cBhvr additive="base">
                                        <p:cTn id="70" dur="500" decel="100000" fill="hold"/>
                                        <p:tgtEl>
                                          <p:spTgt spid="131"/>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132"/>
                                        </p:tgtEl>
                                        <p:attrNameLst>
                                          <p:attrName>style.visibility</p:attrName>
                                        </p:attrNameLst>
                                      </p:cBhvr>
                                      <p:to>
                                        <p:strVal val="visible"/>
                                      </p:to>
                                    </p:set>
                                    <p:animEffect transition="in" filter="fade">
                                      <p:cBhvr>
                                        <p:cTn id="73" dur="500"/>
                                        <p:tgtEl>
                                          <p:spTgt spid="132"/>
                                        </p:tgtEl>
                                      </p:cBhvr>
                                    </p:animEffect>
                                    <p:anim calcmode="lin" valueType="num">
                                      <p:cBhvr additive="base">
                                        <p:cTn id="74" dur="500" decel="100000" fill="hold"/>
                                        <p:tgtEl>
                                          <p:spTgt spid="132"/>
                                        </p:tgtEl>
                                        <p:attrNameLst>
                                          <p:attrName>ppt_y</p:attrName>
                                        </p:attrNameLst>
                                      </p:cBhvr>
                                      <p:tavLst>
                                        <p:tav tm="0">
                                          <p:val>
                                            <p:strVal val="#ppt_y+0.06"/>
                                          </p:val>
                                        </p:tav>
                                        <p:tav tm="100000">
                                          <p:val>
                                            <p:strVal val="#ppt_y"/>
                                          </p:val>
                                        </p:tav>
                                      </p:tavLst>
                                    </p:anim>
                                  </p:childTnLst>
                                </p:cTn>
                              </p:par>
                              <p:par>
                                <p:cTn id="75" presetID="42" presetClass="entr" presetSubtype="0" fill="hold" nodeType="withEffect">
                                  <p:stCondLst>
                                    <p:cond delay="0"/>
                                  </p:stCondLst>
                                  <p:childTnLst>
                                    <p:set>
                                      <p:cBhvr>
                                        <p:cTn id="76" dur="1" fill="hold">
                                          <p:stCondLst>
                                            <p:cond delay="0"/>
                                          </p:stCondLst>
                                        </p:cTn>
                                        <p:tgtEl>
                                          <p:spTgt spid="133"/>
                                        </p:tgtEl>
                                        <p:attrNameLst>
                                          <p:attrName>style.visibility</p:attrName>
                                        </p:attrNameLst>
                                      </p:cBhvr>
                                      <p:to>
                                        <p:strVal val="visible"/>
                                      </p:to>
                                    </p:set>
                                    <p:animEffect transition="in" filter="fade">
                                      <p:cBhvr>
                                        <p:cTn id="77" dur="500"/>
                                        <p:tgtEl>
                                          <p:spTgt spid="133"/>
                                        </p:tgtEl>
                                      </p:cBhvr>
                                    </p:animEffect>
                                    <p:anim calcmode="lin" valueType="num">
                                      <p:cBhvr additive="base">
                                        <p:cTn id="78" dur="500" decel="100000" fill="hold"/>
                                        <p:tgtEl>
                                          <p:spTgt spid="133"/>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34"/>
                                        </p:tgtEl>
                                        <p:attrNameLst>
                                          <p:attrName>style.visibility</p:attrName>
                                        </p:attrNameLst>
                                      </p:cBhvr>
                                      <p:to>
                                        <p:strVal val="visible"/>
                                      </p:to>
                                    </p:set>
                                    <p:animEffect transition="in" filter="fade">
                                      <p:cBhvr>
                                        <p:cTn id="81" dur="500"/>
                                        <p:tgtEl>
                                          <p:spTgt spid="134"/>
                                        </p:tgtEl>
                                      </p:cBhvr>
                                    </p:animEffect>
                                    <p:anim calcmode="lin" valueType="num">
                                      <p:cBhvr additive="base">
                                        <p:cTn id="82" dur="500" decel="100000" fill="hold"/>
                                        <p:tgtEl>
                                          <p:spTgt spid="134"/>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35"/>
                                        </p:tgtEl>
                                        <p:attrNameLst>
                                          <p:attrName>style.visibility</p:attrName>
                                        </p:attrNameLst>
                                      </p:cBhvr>
                                      <p:to>
                                        <p:strVal val="visible"/>
                                      </p:to>
                                    </p:set>
                                    <p:animEffect transition="in" filter="fade">
                                      <p:cBhvr>
                                        <p:cTn id="85" dur="500"/>
                                        <p:tgtEl>
                                          <p:spTgt spid="135"/>
                                        </p:tgtEl>
                                      </p:cBhvr>
                                    </p:animEffect>
                                    <p:anim calcmode="lin" valueType="num">
                                      <p:cBhvr additive="base">
                                        <p:cTn id="86" dur="500" decel="100000" fill="hold"/>
                                        <p:tgtEl>
                                          <p:spTgt spid="135"/>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36"/>
                                        </p:tgtEl>
                                        <p:attrNameLst>
                                          <p:attrName>style.visibility</p:attrName>
                                        </p:attrNameLst>
                                      </p:cBhvr>
                                      <p:to>
                                        <p:strVal val="visible"/>
                                      </p:to>
                                    </p:set>
                                    <p:animEffect transition="in" filter="fade">
                                      <p:cBhvr>
                                        <p:cTn id="89" dur="500"/>
                                        <p:tgtEl>
                                          <p:spTgt spid="136"/>
                                        </p:tgtEl>
                                      </p:cBhvr>
                                    </p:animEffect>
                                    <p:anim calcmode="lin" valueType="num">
                                      <p:cBhvr additive="base">
                                        <p:cTn id="90" dur="500" decel="100000" fill="hold"/>
                                        <p:tgtEl>
                                          <p:spTgt spid="136"/>
                                        </p:tgtEl>
                                        <p:attrNameLst>
                                          <p:attrName>ppt_y</p:attrName>
                                        </p:attrNameLst>
                                      </p:cBhvr>
                                      <p:tavLst>
                                        <p:tav tm="0">
                                          <p:val>
                                            <p:strVal val="#ppt_y+0.06"/>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37"/>
                                        </p:tgtEl>
                                        <p:attrNameLst>
                                          <p:attrName>style.visibility</p:attrName>
                                        </p:attrNameLst>
                                      </p:cBhvr>
                                      <p:to>
                                        <p:strVal val="visible"/>
                                      </p:to>
                                    </p:set>
                                    <p:animEffect transition="in" filter="fade">
                                      <p:cBhvr>
                                        <p:cTn id="93" dur="500"/>
                                        <p:tgtEl>
                                          <p:spTgt spid="137"/>
                                        </p:tgtEl>
                                      </p:cBhvr>
                                    </p:animEffect>
                                    <p:anim calcmode="lin" valueType="num">
                                      <p:cBhvr additive="base">
                                        <p:cTn id="94" dur="500" decel="100000" fill="hold"/>
                                        <p:tgtEl>
                                          <p:spTgt spid="137"/>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38"/>
                                        </p:tgtEl>
                                        <p:attrNameLst>
                                          <p:attrName>style.visibility</p:attrName>
                                        </p:attrNameLst>
                                      </p:cBhvr>
                                      <p:to>
                                        <p:strVal val="visible"/>
                                      </p:to>
                                    </p:set>
                                    <p:animEffect transition="in" filter="fade">
                                      <p:cBhvr>
                                        <p:cTn id="97" dur="500"/>
                                        <p:tgtEl>
                                          <p:spTgt spid="138"/>
                                        </p:tgtEl>
                                      </p:cBhvr>
                                    </p:animEffect>
                                    <p:anim calcmode="lin" valueType="num">
                                      <p:cBhvr additive="base">
                                        <p:cTn id="98" dur="500" decel="100000" fill="hold"/>
                                        <p:tgtEl>
                                          <p:spTgt spid="138"/>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39"/>
                                        </p:tgtEl>
                                        <p:attrNameLst>
                                          <p:attrName>style.visibility</p:attrName>
                                        </p:attrNameLst>
                                      </p:cBhvr>
                                      <p:to>
                                        <p:strVal val="visible"/>
                                      </p:to>
                                    </p:set>
                                    <p:animEffect transition="in" filter="fade">
                                      <p:cBhvr>
                                        <p:cTn id="101" dur="500"/>
                                        <p:tgtEl>
                                          <p:spTgt spid="139"/>
                                        </p:tgtEl>
                                      </p:cBhvr>
                                    </p:animEffect>
                                    <p:anim calcmode="lin" valueType="num">
                                      <p:cBhvr additive="base">
                                        <p:cTn id="102" dur="500" decel="100000" fill="hold"/>
                                        <p:tgtEl>
                                          <p:spTgt spid="139"/>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140"/>
                                        </p:tgtEl>
                                        <p:attrNameLst>
                                          <p:attrName>style.visibility</p:attrName>
                                        </p:attrNameLst>
                                      </p:cBhvr>
                                      <p:to>
                                        <p:strVal val="visible"/>
                                      </p:to>
                                    </p:set>
                                    <p:animEffect transition="in" filter="fade">
                                      <p:cBhvr>
                                        <p:cTn id="105" dur="500"/>
                                        <p:tgtEl>
                                          <p:spTgt spid="140"/>
                                        </p:tgtEl>
                                      </p:cBhvr>
                                    </p:animEffect>
                                    <p:anim calcmode="lin" valueType="num">
                                      <p:cBhvr additive="base">
                                        <p:cTn id="106" dur="500" decel="100000" fill="hold"/>
                                        <p:tgtEl>
                                          <p:spTgt spid="140"/>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141"/>
                                        </p:tgtEl>
                                        <p:attrNameLst>
                                          <p:attrName>style.visibility</p:attrName>
                                        </p:attrNameLst>
                                      </p:cBhvr>
                                      <p:to>
                                        <p:strVal val="visible"/>
                                      </p:to>
                                    </p:set>
                                    <p:animEffect transition="in" filter="fade">
                                      <p:cBhvr>
                                        <p:cTn id="109" dur="500"/>
                                        <p:tgtEl>
                                          <p:spTgt spid="141"/>
                                        </p:tgtEl>
                                      </p:cBhvr>
                                    </p:animEffect>
                                    <p:anim calcmode="lin" valueType="num">
                                      <p:cBhvr additive="base">
                                        <p:cTn id="110" dur="500" decel="100000" fill="hold"/>
                                        <p:tgtEl>
                                          <p:spTgt spid="141"/>
                                        </p:tgtEl>
                                        <p:attrNameLst>
                                          <p:attrName>ppt_y</p:attrName>
                                        </p:attrNameLst>
                                      </p:cBhvr>
                                      <p:tavLst>
                                        <p:tav tm="0">
                                          <p:val>
                                            <p:strVal val="#ppt_y+0.06"/>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42" presetClass="entr" presetSubtype="0" fill="hold" grpId="0" nodeType="clickEffect">
                                  <p:stCondLst>
                                    <p:cond delay="0"/>
                                  </p:stCondLst>
                                  <p:childTnLst>
                                    <p:set>
                                      <p:cBhvr>
                                        <p:cTn id="114" dur="1" fill="hold">
                                          <p:stCondLst>
                                            <p:cond delay="0"/>
                                          </p:stCondLst>
                                        </p:cTn>
                                        <p:tgtEl>
                                          <p:spTgt spid="115"/>
                                        </p:tgtEl>
                                        <p:attrNameLst>
                                          <p:attrName>style.visibility</p:attrName>
                                        </p:attrNameLst>
                                      </p:cBhvr>
                                      <p:to>
                                        <p:strVal val="visible"/>
                                      </p:to>
                                    </p:set>
                                    <p:animEffect transition="in" filter="fade">
                                      <p:cBhvr>
                                        <p:cTn id="115" dur="500"/>
                                        <p:tgtEl>
                                          <p:spTgt spid="115"/>
                                        </p:tgtEl>
                                      </p:cBhvr>
                                    </p:animEffect>
                                    <p:anim calcmode="lin" valueType="num">
                                      <p:cBhvr additive="base">
                                        <p:cTn id="116" dur="500" decel="100000" fill="hold"/>
                                        <p:tgtEl>
                                          <p:spTgt spid="115"/>
                                        </p:tgtEl>
                                        <p:attrNameLst>
                                          <p:attrName>ppt_y</p:attrName>
                                        </p:attrNameLst>
                                      </p:cBhvr>
                                      <p:tavLst>
                                        <p:tav tm="0">
                                          <p:val>
                                            <p:strVal val="#ppt_y+0.06"/>
                                          </p:val>
                                        </p:tav>
                                        <p:tav tm="100000">
                                          <p:val>
                                            <p:strVal val="#ppt_y"/>
                                          </p:val>
                                        </p:tav>
                                      </p:tavLst>
                                    </p:anim>
                                  </p:childTnLst>
                                </p:cTn>
                              </p:par>
                              <p:par>
                                <p:cTn id="117" presetID="42" presetClass="entr" presetSubtype="0" fill="hold" grpId="0" nodeType="withEffect">
                                  <p:stCondLst>
                                    <p:cond delay="0"/>
                                  </p:stCondLst>
                                  <p:childTnLst>
                                    <p:set>
                                      <p:cBhvr>
                                        <p:cTn id="118" dur="1" fill="hold">
                                          <p:stCondLst>
                                            <p:cond delay="0"/>
                                          </p:stCondLst>
                                        </p:cTn>
                                        <p:tgtEl>
                                          <p:spTgt spid="116"/>
                                        </p:tgtEl>
                                        <p:attrNameLst>
                                          <p:attrName>style.visibility</p:attrName>
                                        </p:attrNameLst>
                                      </p:cBhvr>
                                      <p:to>
                                        <p:strVal val="visible"/>
                                      </p:to>
                                    </p:set>
                                    <p:animEffect transition="in" filter="fade">
                                      <p:cBhvr>
                                        <p:cTn id="119" dur="500"/>
                                        <p:tgtEl>
                                          <p:spTgt spid="116"/>
                                        </p:tgtEl>
                                      </p:cBhvr>
                                    </p:animEffect>
                                    <p:anim calcmode="lin" valueType="num">
                                      <p:cBhvr additive="base">
                                        <p:cTn id="120" dur="500" decel="100000" fill="hold"/>
                                        <p:tgtEl>
                                          <p:spTgt spid="116"/>
                                        </p:tgtEl>
                                        <p:attrNameLst>
                                          <p:attrName>ppt_y</p:attrName>
                                        </p:attrNameLst>
                                      </p:cBhvr>
                                      <p:tavLst>
                                        <p:tav tm="0">
                                          <p:val>
                                            <p:strVal val="#ppt_y+0.06"/>
                                          </p:val>
                                        </p:tav>
                                        <p:tav tm="100000">
                                          <p:val>
                                            <p:strVal val="#ppt_y"/>
                                          </p:val>
                                        </p:tav>
                                      </p:tavLst>
                                    </p:anim>
                                  </p:childTnLst>
                                </p:cTn>
                              </p:par>
                              <p:par>
                                <p:cTn id="121" presetID="42" presetClass="entr" presetSubtype="0" fill="hold" grpId="0" nodeType="withEffect">
                                  <p:stCondLst>
                                    <p:cond delay="0"/>
                                  </p:stCondLst>
                                  <p:childTnLst>
                                    <p:set>
                                      <p:cBhvr>
                                        <p:cTn id="122" dur="1" fill="hold">
                                          <p:stCondLst>
                                            <p:cond delay="0"/>
                                          </p:stCondLst>
                                        </p:cTn>
                                        <p:tgtEl>
                                          <p:spTgt spid="117"/>
                                        </p:tgtEl>
                                        <p:attrNameLst>
                                          <p:attrName>style.visibility</p:attrName>
                                        </p:attrNameLst>
                                      </p:cBhvr>
                                      <p:to>
                                        <p:strVal val="visible"/>
                                      </p:to>
                                    </p:set>
                                    <p:animEffect transition="in" filter="fade">
                                      <p:cBhvr>
                                        <p:cTn id="123" dur="500"/>
                                        <p:tgtEl>
                                          <p:spTgt spid="117"/>
                                        </p:tgtEl>
                                      </p:cBhvr>
                                    </p:animEffect>
                                    <p:anim calcmode="lin" valueType="num">
                                      <p:cBhvr additive="base">
                                        <p:cTn id="124" dur="500" decel="100000" fill="hold"/>
                                        <p:tgtEl>
                                          <p:spTgt spid="117"/>
                                        </p:tgtEl>
                                        <p:attrNameLst>
                                          <p:attrName>ppt_y</p:attrName>
                                        </p:attrNameLst>
                                      </p:cBhvr>
                                      <p:tavLst>
                                        <p:tav tm="0">
                                          <p:val>
                                            <p:strVal val="#ppt_y+0.06"/>
                                          </p:val>
                                        </p:tav>
                                        <p:tav tm="100000">
                                          <p:val>
                                            <p:strVal val="#ppt_y"/>
                                          </p:val>
                                        </p:tav>
                                      </p:tavLst>
                                    </p:anim>
                                  </p:childTnLst>
                                </p:cTn>
                              </p:par>
                              <p:par>
                                <p:cTn id="125" presetID="42" presetClass="entr" presetSubtype="0" fill="hold" grpId="0" nodeType="withEffect">
                                  <p:stCondLst>
                                    <p:cond delay="0"/>
                                  </p:stCondLst>
                                  <p:childTnLst>
                                    <p:set>
                                      <p:cBhvr>
                                        <p:cTn id="126" dur="1" fill="hold">
                                          <p:stCondLst>
                                            <p:cond delay="0"/>
                                          </p:stCondLst>
                                        </p:cTn>
                                        <p:tgtEl>
                                          <p:spTgt spid="118"/>
                                        </p:tgtEl>
                                        <p:attrNameLst>
                                          <p:attrName>style.visibility</p:attrName>
                                        </p:attrNameLst>
                                      </p:cBhvr>
                                      <p:to>
                                        <p:strVal val="visible"/>
                                      </p:to>
                                    </p:set>
                                    <p:animEffect transition="in" filter="fade">
                                      <p:cBhvr>
                                        <p:cTn id="127" dur="500"/>
                                        <p:tgtEl>
                                          <p:spTgt spid="118"/>
                                        </p:tgtEl>
                                      </p:cBhvr>
                                    </p:animEffect>
                                    <p:anim calcmode="lin" valueType="num">
                                      <p:cBhvr additive="base">
                                        <p:cTn id="128" dur="500" decel="100000" fill="hold"/>
                                        <p:tgtEl>
                                          <p:spTgt spid="118"/>
                                        </p:tgtEl>
                                        <p:attrNameLst>
                                          <p:attrName>ppt_y</p:attrName>
                                        </p:attrNameLst>
                                      </p:cBhvr>
                                      <p:tavLst>
                                        <p:tav tm="0">
                                          <p:val>
                                            <p:strVal val="#ppt_y+0.06"/>
                                          </p:val>
                                        </p:tav>
                                        <p:tav tm="100000">
                                          <p:val>
                                            <p:strVal val="#ppt_y"/>
                                          </p:val>
                                        </p:tav>
                                      </p:tavLst>
                                    </p:anim>
                                  </p:childTnLst>
                                </p:cTn>
                              </p:par>
                              <p:par>
                                <p:cTn id="129" presetID="42" presetClass="entr" presetSubtype="0" fill="hold" grpId="0" nodeType="withEffect">
                                  <p:stCondLst>
                                    <p:cond delay="0"/>
                                  </p:stCondLst>
                                  <p:childTnLst>
                                    <p:set>
                                      <p:cBhvr>
                                        <p:cTn id="130" dur="1" fill="hold">
                                          <p:stCondLst>
                                            <p:cond delay="0"/>
                                          </p:stCondLst>
                                        </p:cTn>
                                        <p:tgtEl>
                                          <p:spTgt spid="119"/>
                                        </p:tgtEl>
                                        <p:attrNameLst>
                                          <p:attrName>style.visibility</p:attrName>
                                        </p:attrNameLst>
                                      </p:cBhvr>
                                      <p:to>
                                        <p:strVal val="visible"/>
                                      </p:to>
                                    </p:set>
                                    <p:animEffect transition="in" filter="fade">
                                      <p:cBhvr>
                                        <p:cTn id="131" dur="500"/>
                                        <p:tgtEl>
                                          <p:spTgt spid="119"/>
                                        </p:tgtEl>
                                      </p:cBhvr>
                                    </p:animEffect>
                                    <p:anim calcmode="lin" valueType="num">
                                      <p:cBhvr additive="base">
                                        <p:cTn id="132" dur="500" decel="100000" fill="hold"/>
                                        <p:tgtEl>
                                          <p:spTgt spid="119"/>
                                        </p:tgtEl>
                                        <p:attrNameLst>
                                          <p:attrName>ppt_y</p:attrName>
                                        </p:attrNameLst>
                                      </p:cBhvr>
                                      <p:tavLst>
                                        <p:tav tm="0">
                                          <p:val>
                                            <p:strVal val="#ppt_y+0.06"/>
                                          </p:val>
                                        </p:tav>
                                        <p:tav tm="100000">
                                          <p:val>
                                            <p:strVal val="#ppt_y"/>
                                          </p:val>
                                        </p:tav>
                                      </p:tavLst>
                                    </p:anim>
                                  </p:childTnLst>
                                </p:cTn>
                              </p:par>
                              <p:par>
                                <p:cTn id="133" presetID="42" presetClass="entr" presetSubtype="0" fill="hold" nodeType="withEffect">
                                  <p:stCondLst>
                                    <p:cond delay="0"/>
                                  </p:stCondLst>
                                  <p:childTnLst>
                                    <p:set>
                                      <p:cBhvr>
                                        <p:cTn id="134" dur="1" fill="hold">
                                          <p:stCondLst>
                                            <p:cond delay="0"/>
                                          </p:stCondLst>
                                        </p:cTn>
                                        <p:tgtEl>
                                          <p:spTgt spid="120"/>
                                        </p:tgtEl>
                                        <p:attrNameLst>
                                          <p:attrName>style.visibility</p:attrName>
                                        </p:attrNameLst>
                                      </p:cBhvr>
                                      <p:to>
                                        <p:strVal val="visible"/>
                                      </p:to>
                                    </p:set>
                                    <p:animEffect transition="in" filter="fade">
                                      <p:cBhvr>
                                        <p:cTn id="135" dur="500"/>
                                        <p:tgtEl>
                                          <p:spTgt spid="120"/>
                                        </p:tgtEl>
                                      </p:cBhvr>
                                    </p:animEffect>
                                    <p:anim calcmode="lin" valueType="num">
                                      <p:cBhvr additive="base">
                                        <p:cTn id="136" dur="500" decel="100000" fill="hold"/>
                                        <p:tgtEl>
                                          <p:spTgt spid="120"/>
                                        </p:tgtEl>
                                        <p:attrNameLst>
                                          <p:attrName>ppt_y</p:attrName>
                                        </p:attrNameLst>
                                      </p:cBhvr>
                                      <p:tavLst>
                                        <p:tav tm="0">
                                          <p:val>
                                            <p:strVal val="#ppt_y+0.06"/>
                                          </p:val>
                                        </p:tav>
                                        <p:tav tm="100000">
                                          <p:val>
                                            <p:strVal val="#ppt_y"/>
                                          </p:val>
                                        </p:tav>
                                      </p:tavLst>
                                    </p:anim>
                                  </p:childTnLst>
                                </p:cTn>
                              </p:par>
                              <p:par>
                                <p:cTn id="137" presetID="42" presetClass="entr" presetSubtype="0" fill="hold" grpId="0" nodeType="withEffect">
                                  <p:stCondLst>
                                    <p:cond delay="0"/>
                                  </p:stCondLst>
                                  <p:childTnLst>
                                    <p:set>
                                      <p:cBhvr>
                                        <p:cTn id="138" dur="1" fill="hold">
                                          <p:stCondLst>
                                            <p:cond delay="0"/>
                                          </p:stCondLst>
                                        </p:cTn>
                                        <p:tgtEl>
                                          <p:spTgt spid="121"/>
                                        </p:tgtEl>
                                        <p:attrNameLst>
                                          <p:attrName>style.visibility</p:attrName>
                                        </p:attrNameLst>
                                      </p:cBhvr>
                                      <p:to>
                                        <p:strVal val="visible"/>
                                      </p:to>
                                    </p:set>
                                    <p:animEffect transition="in" filter="fade">
                                      <p:cBhvr>
                                        <p:cTn id="139" dur="500"/>
                                        <p:tgtEl>
                                          <p:spTgt spid="121"/>
                                        </p:tgtEl>
                                      </p:cBhvr>
                                    </p:animEffect>
                                    <p:anim calcmode="lin" valueType="num">
                                      <p:cBhvr additive="base">
                                        <p:cTn id="140" dur="500" decel="100000" fill="hold"/>
                                        <p:tgtEl>
                                          <p:spTgt spid="121"/>
                                        </p:tgtEl>
                                        <p:attrNameLst>
                                          <p:attrName>ppt_y</p:attrName>
                                        </p:attrNameLst>
                                      </p:cBhvr>
                                      <p:tavLst>
                                        <p:tav tm="0">
                                          <p:val>
                                            <p:strVal val="#ppt_y+0.06"/>
                                          </p:val>
                                        </p:tav>
                                        <p:tav tm="100000">
                                          <p:val>
                                            <p:strVal val="#ppt_y"/>
                                          </p:val>
                                        </p:tav>
                                      </p:tavLst>
                                    </p:anim>
                                  </p:childTnLst>
                                </p:cTn>
                              </p:par>
                              <p:par>
                                <p:cTn id="141" presetID="42" presetClass="entr" presetSubtype="0" fill="hold" grpId="0" nodeType="withEffect">
                                  <p:stCondLst>
                                    <p:cond delay="0"/>
                                  </p:stCondLst>
                                  <p:childTnLst>
                                    <p:set>
                                      <p:cBhvr>
                                        <p:cTn id="142" dur="1" fill="hold">
                                          <p:stCondLst>
                                            <p:cond delay="0"/>
                                          </p:stCondLst>
                                        </p:cTn>
                                        <p:tgtEl>
                                          <p:spTgt spid="122"/>
                                        </p:tgtEl>
                                        <p:attrNameLst>
                                          <p:attrName>style.visibility</p:attrName>
                                        </p:attrNameLst>
                                      </p:cBhvr>
                                      <p:to>
                                        <p:strVal val="visible"/>
                                      </p:to>
                                    </p:set>
                                    <p:animEffect transition="in" filter="fade">
                                      <p:cBhvr>
                                        <p:cTn id="143" dur="500"/>
                                        <p:tgtEl>
                                          <p:spTgt spid="122"/>
                                        </p:tgtEl>
                                      </p:cBhvr>
                                    </p:animEffect>
                                    <p:anim calcmode="lin" valueType="num">
                                      <p:cBhvr additive="base">
                                        <p:cTn id="144" dur="500" decel="100000" fill="hold"/>
                                        <p:tgtEl>
                                          <p:spTgt spid="122"/>
                                        </p:tgtEl>
                                        <p:attrNameLst>
                                          <p:attrName>ppt_y</p:attrName>
                                        </p:attrNameLst>
                                      </p:cBhvr>
                                      <p:tavLst>
                                        <p:tav tm="0">
                                          <p:val>
                                            <p:strVal val="#ppt_y+0.06"/>
                                          </p:val>
                                        </p:tav>
                                        <p:tav tm="100000">
                                          <p:val>
                                            <p:strVal val="#ppt_y"/>
                                          </p:val>
                                        </p:tav>
                                      </p:tavLst>
                                    </p:anim>
                                  </p:childTnLst>
                                </p:cTn>
                              </p:par>
                              <p:par>
                                <p:cTn id="145" presetID="42" presetClass="entr" presetSubtype="0" fill="hold" grpId="0" nodeType="withEffect">
                                  <p:stCondLst>
                                    <p:cond delay="0"/>
                                  </p:stCondLst>
                                  <p:childTnLst>
                                    <p:set>
                                      <p:cBhvr>
                                        <p:cTn id="146" dur="1" fill="hold">
                                          <p:stCondLst>
                                            <p:cond delay="0"/>
                                          </p:stCondLst>
                                        </p:cTn>
                                        <p:tgtEl>
                                          <p:spTgt spid="123"/>
                                        </p:tgtEl>
                                        <p:attrNameLst>
                                          <p:attrName>style.visibility</p:attrName>
                                        </p:attrNameLst>
                                      </p:cBhvr>
                                      <p:to>
                                        <p:strVal val="visible"/>
                                      </p:to>
                                    </p:set>
                                    <p:animEffect transition="in" filter="fade">
                                      <p:cBhvr>
                                        <p:cTn id="147" dur="500"/>
                                        <p:tgtEl>
                                          <p:spTgt spid="123"/>
                                        </p:tgtEl>
                                      </p:cBhvr>
                                    </p:animEffect>
                                    <p:anim calcmode="lin" valueType="num">
                                      <p:cBhvr additive="base">
                                        <p:cTn id="148" dur="500" decel="100000" fill="hold"/>
                                        <p:tgtEl>
                                          <p:spTgt spid="123"/>
                                        </p:tgtEl>
                                        <p:attrNameLst>
                                          <p:attrName>ppt_y</p:attrName>
                                        </p:attrNameLst>
                                      </p:cBhvr>
                                      <p:tavLst>
                                        <p:tav tm="0">
                                          <p:val>
                                            <p:strVal val="#ppt_y+0.06"/>
                                          </p:val>
                                        </p:tav>
                                        <p:tav tm="100000">
                                          <p:val>
                                            <p:strVal val="#ppt_y"/>
                                          </p:val>
                                        </p:tav>
                                      </p:tavLst>
                                    </p:anim>
                                  </p:childTnLst>
                                </p:cTn>
                              </p:par>
                              <p:par>
                                <p:cTn id="149" presetID="42" presetClass="entr" presetSubtype="0" fill="hold" grpId="0" nodeType="withEffect">
                                  <p:stCondLst>
                                    <p:cond delay="0"/>
                                  </p:stCondLst>
                                  <p:childTnLst>
                                    <p:set>
                                      <p:cBhvr>
                                        <p:cTn id="150" dur="1" fill="hold">
                                          <p:stCondLst>
                                            <p:cond delay="0"/>
                                          </p:stCondLst>
                                        </p:cTn>
                                        <p:tgtEl>
                                          <p:spTgt spid="124"/>
                                        </p:tgtEl>
                                        <p:attrNameLst>
                                          <p:attrName>style.visibility</p:attrName>
                                        </p:attrNameLst>
                                      </p:cBhvr>
                                      <p:to>
                                        <p:strVal val="visible"/>
                                      </p:to>
                                    </p:set>
                                    <p:animEffect transition="in" filter="fade">
                                      <p:cBhvr>
                                        <p:cTn id="151" dur="500"/>
                                        <p:tgtEl>
                                          <p:spTgt spid="124"/>
                                        </p:tgtEl>
                                      </p:cBhvr>
                                    </p:animEffect>
                                    <p:anim calcmode="lin" valueType="num">
                                      <p:cBhvr additive="base">
                                        <p:cTn id="152" dur="500" decel="100000" fill="hold"/>
                                        <p:tgtEl>
                                          <p:spTgt spid="124"/>
                                        </p:tgtEl>
                                        <p:attrNameLst>
                                          <p:attrName>ppt_y</p:attrName>
                                        </p:attrNameLst>
                                      </p:cBhvr>
                                      <p:tavLst>
                                        <p:tav tm="0">
                                          <p:val>
                                            <p:strVal val="#ppt_y+0.06"/>
                                          </p:val>
                                        </p:tav>
                                        <p:tav tm="100000">
                                          <p:val>
                                            <p:strVal val="#ppt_y"/>
                                          </p:val>
                                        </p:tav>
                                      </p:tavLst>
                                    </p:anim>
                                  </p:childTnLst>
                                </p:cTn>
                              </p:par>
                              <p:par>
                                <p:cTn id="153" presetID="42" presetClass="entr" presetSubtype="0" fill="hold" grpId="0" nodeType="withEffect">
                                  <p:stCondLst>
                                    <p:cond delay="0"/>
                                  </p:stCondLst>
                                  <p:childTnLst>
                                    <p:set>
                                      <p:cBhvr>
                                        <p:cTn id="154" dur="1" fill="hold">
                                          <p:stCondLst>
                                            <p:cond delay="0"/>
                                          </p:stCondLst>
                                        </p:cTn>
                                        <p:tgtEl>
                                          <p:spTgt spid="125"/>
                                        </p:tgtEl>
                                        <p:attrNameLst>
                                          <p:attrName>style.visibility</p:attrName>
                                        </p:attrNameLst>
                                      </p:cBhvr>
                                      <p:to>
                                        <p:strVal val="visible"/>
                                      </p:to>
                                    </p:set>
                                    <p:animEffect transition="in" filter="fade">
                                      <p:cBhvr>
                                        <p:cTn id="155" dur="500"/>
                                        <p:tgtEl>
                                          <p:spTgt spid="125"/>
                                        </p:tgtEl>
                                      </p:cBhvr>
                                    </p:animEffect>
                                    <p:anim calcmode="lin" valueType="num">
                                      <p:cBhvr additive="base">
                                        <p:cTn id="156" dur="500" decel="100000" fill="hold"/>
                                        <p:tgtEl>
                                          <p:spTgt spid="125"/>
                                        </p:tgtEl>
                                        <p:attrNameLst>
                                          <p:attrName>ppt_y</p:attrName>
                                        </p:attrNameLst>
                                      </p:cBhvr>
                                      <p:tavLst>
                                        <p:tav tm="0">
                                          <p:val>
                                            <p:strVal val="#ppt_y+0.06"/>
                                          </p:val>
                                        </p:tav>
                                        <p:tav tm="100000">
                                          <p:val>
                                            <p:strVal val="#ppt_y"/>
                                          </p:val>
                                        </p:tav>
                                      </p:tavLst>
                                    </p:anim>
                                  </p:childTnLst>
                                </p:cTn>
                              </p:par>
                              <p:par>
                                <p:cTn id="157" presetID="42" presetClass="entr" presetSubtype="0" fill="hold" grpId="0" nodeType="withEffect">
                                  <p:stCondLst>
                                    <p:cond delay="0"/>
                                  </p:stCondLst>
                                  <p:childTnLst>
                                    <p:set>
                                      <p:cBhvr>
                                        <p:cTn id="158" dur="1" fill="hold">
                                          <p:stCondLst>
                                            <p:cond delay="0"/>
                                          </p:stCondLst>
                                        </p:cTn>
                                        <p:tgtEl>
                                          <p:spTgt spid="126"/>
                                        </p:tgtEl>
                                        <p:attrNameLst>
                                          <p:attrName>style.visibility</p:attrName>
                                        </p:attrNameLst>
                                      </p:cBhvr>
                                      <p:to>
                                        <p:strVal val="visible"/>
                                      </p:to>
                                    </p:set>
                                    <p:animEffect transition="in" filter="fade">
                                      <p:cBhvr>
                                        <p:cTn id="159" dur="500"/>
                                        <p:tgtEl>
                                          <p:spTgt spid="126"/>
                                        </p:tgtEl>
                                      </p:cBhvr>
                                    </p:animEffect>
                                    <p:anim calcmode="lin" valueType="num">
                                      <p:cBhvr additive="base">
                                        <p:cTn id="160" dur="500" decel="100000" fill="hold"/>
                                        <p:tgtEl>
                                          <p:spTgt spid="126"/>
                                        </p:tgtEl>
                                        <p:attrNameLst>
                                          <p:attrName>ppt_y</p:attrName>
                                        </p:attrNameLst>
                                      </p:cBhvr>
                                      <p:tavLst>
                                        <p:tav tm="0">
                                          <p:val>
                                            <p:strVal val="#ppt_y+0.06"/>
                                          </p:val>
                                        </p:tav>
                                        <p:tav tm="100000">
                                          <p:val>
                                            <p:strVal val="#ppt_y"/>
                                          </p:val>
                                        </p:tav>
                                      </p:tavLst>
                                    </p:anim>
                                  </p:childTnLst>
                                </p:cTn>
                              </p:par>
                            </p:childTnLst>
                          </p:cTn>
                        </p:par>
                      </p:childTnLst>
                    </p:cTn>
                  </p:par>
                  <p:par>
                    <p:cTn id="161" fill="hold">
                      <p:stCondLst>
                        <p:cond delay="indefinite"/>
                      </p:stCondLst>
                      <p:childTnLst>
                        <p:par>
                          <p:cTn id="162" fill="hold">
                            <p:stCondLst>
                              <p:cond delay="0"/>
                            </p:stCondLst>
                            <p:childTnLst>
                              <p:par>
                                <p:cTn id="163" presetID="53" presetClass="entr" presetSubtype="16" fill="hold" grpId="0" nodeType="clickEffect">
                                  <p:stCondLst>
                                    <p:cond delay="0"/>
                                  </p:stCondLst>
                                  <p:childTnLst>
                                    <p:set>
                                      <p:cBhvr>
                                        <p:cTn id="164" dur="1" fill="hold">
                                          <p:stCondLst>
                                            <p:cond delay="0"/>
                                          </p:stCondLst>
                                        </p:cTn>
                                        <p:tgtEl>
                                          <p:spTgt spid="142"/>
                                        </p:tgtEl>
                                        <p:attrNameLst>
                                          <p:attrName>style.visibility</p:attrName>
                                        </p:attrNameLst>
                                      </p:cBhvr>
                                      <p:to>
                                        <p:strVal val="visible"/>
                                      </p:to>
                                    </p:set>
                                    <p:anim calcmode="lin" valueType="num">
                                      <p:cBhvr additive="base">
                                        <p:cTn id="165" dur="500" decel="100000" fill="hold"/>
                                        <p:tgtEl>
                                          <p:spTgt spid="142"/>
                                        </p:tgtEl>
                                        <p:attrNameLst>
                                          <p:attrName>ppt_w</p:attrName>
                                        </p:attrNameLst>
                                      </p:cBhvr>
                                      <p:tavLst>
                                        <p:tav tm="0">
                                          <p:val>
                                            <p:strVal val="#ppt_w*0.3"/>
                                          </p:val>
                                        </p:tav>
                                        <p:tav tm="100000">
                                          <p:val>
                                            <p:strVal val="#ppt_w*1.08"/>
                                          </p:val>
                                        </p:tav>
                                      </p:tavLst>
                                    </p:anim>
                                    <p:anim calcmode="lin" valueType="num">
                                      <p:cBhvr additive="base">
                                        <p:cTn id="166" dur="500" decel="100000" fill="hold"/>
                                        <p:tgtEl>
                                          <p:spTgt spid="142"/>
                                        </p:tgtEl>
                                        <p:attrNameLst>
                                          <p:attrName>ppt_h</p:attrName>
                                        </p:attrNameLst>
                                      </p:cBhvr>
                                      <p:tavLst>
                                        <p:tav tm="0">
                                          <p:val>
                                            <p:strVal val="#ppt_h*0.3"/>
                                          </p:val>
                                        </p:tav>
                                        <p:tav tm="100000">
                                          <p:val>
                                            <p:strVal val="#ppt_h*1.08"/>
                                          </p:val>
                                        </p:tav>
                                      </p:tavLst>
                                    </p:anim>
                                    <p:animEffect transition="in" filter="fade">
                                      <p:cBhvr>
                                        <p:cTn id="167" dur="250"/>
                                        <p:tgtEl>
                                          <p:spTgt spid="142"/>
                                        </p:tgtEl>
                                      </p:cBhvr>
                                    </p:animEffect>
                                    <p:anim calcmode="lin" valueType="num">
                                      <p:cBhvr additive="base">
                                        <p:cTn id="168" dur="160" fill="hold">
                                          <p:stCondLst>
                                            <p:cond delay="500"/>
                                          </p:stCondLst>
                                        </p:cTn>
                                        <p:tgtEl>
                                          <p:spTgt spid="142"/>
                                        </p:tgtEl>
                                        <p:attrNameLst>
                                          <p:attrName>ppt_w</p:attrName>
                                        </p:attrNameLst>
                                      </p:cBhvr>
                                      <p:tavLst>
                                        <p:tav tm="0">
                                          <p:val>
                                            <p:strVal val="#ppt_w*1.08"/>
                                          </p:val>
                                        </p:tav>
                                        <p:tav tm="100000">
                                          <p:val>
                                            <p:strVal val="#ppt_w"/>
                                          </p:val>
                                        </p:tav>
                                      </p:tavLst>
                                    </p:anim>
                                    <p:anim calcmode="lin" valueType="num">
                                      <p:cBhvr additive="base">
                                        <p:cTn id="169" dur="160" fill="hold">
                                          <p:stCondLst>
                                            <p:cond delay="500"/>
                                          </p:stCondLst>
                                        </p:cTn>
                                        <p:tgtEl>
                                          <p:spTgt spid="142"/>
                                        </p:tgtEl>
                                        <p:attrNameLst>
                                          <p:attrName>ppt_h</p:attrName>
                                        </p:attrNameLst>
                                      </p:cBhvr>
                                      <p:tavLst>
                                        <p:tav tm="0">
                                          <p:val>
                                            <p:strVal val="#ppt_h*1.08"/>
                                          </p:val>
                                        </p:tav>
                                        <p:tav tm="100000">
                                          <p:val>
                                            <p:strVal val="#ppt_h"/>
                                          </p:val>
                                        </p:tav>
                                      </p:tavLst>
                                    </p:anim>
                                  </p:childTnLst>
                                </p:cTn>
                              </p:par>
                            </p:childTnLst>
                          </p:cTn>
                        </p:par>
                      </p:childTnLst>
                    </p:cTn>
                  </p:par>
                  <p:par>
                    <p:cTn id="170" fill="hold">
                      <p:stCondLst>
                        <p:cond delay="indefinite"/>
                      </p:stCondLst>
                      <p:childTnLst>
                        <p:par>
                          <p:cTn id="171" fill="hold">
                            <p:stCondLst>
                              <p:cond delay="0"/>
                            </p:stCondLst>
                            <p:childTnLst>
                              <p:par>
                                <p:cTn id="172" presetID="42" presetClass="entr" presetSubtype="0" fill="hold" grpId="0" nodeType="clickEffect">
                                  <p:stCondLst>
                                    <p:cond delay="0"/>
                                  </p:stCondLst>
                                  <p:childTnLst>
                                    <p:set>
                                      <p:cBhvr>
                                        <p:cTn id="173" dur="1" fill="hold">
                                          <p:stCondLst>
                                            <p:cond delay="0"/>
                                          </p:stCondLst>
                                        </p:cTn>
                                        <p:tgtEl>
                                          <p:spTgt spid="143"/>
                                        </p:tgtEl>
                                        <p:attrNameLst>
                                          <p:attrName>style.visibility</p:attrName>
                                        </p:attrNameLst>
                                      </p:cBhvr>
                                      <p:to>
                                        <p:strVal val="visible"/>
                                      </p:to>
                                    </p:set>
                                    <p:animEffect transition="in" filter="fade">
                                      <p:cBhvr>
                                        <p:cTn id="174" dur="500"/>
                                        <p:tgtEl>
                                          <p:spTgt spid="143"/>
                                        </p:tgtEl>
                                      </p:cBhvr>
                                    </p:animEffect>
                                    <p:anim calcmode="lin" valueType="num">
                                      <p:cBhvr additive="base">
                                        <p:cTn id="175" dur="500" decel="100000" fill="hold"/>
                                        <p:tgtEl>
                                          <p:spTgt spid="143"/>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5" grpId="0" animBg="1"/>
      <p:bldP spid="116" grpId="0" animBg="1"/>
      <p:bldP spid="117" grpId="0" animBg="1"/>
      <p:bldP spid="118" grpId="0" animBg="1"/>
      <p:bldP spid="119" grpId="0" animBg="1"/>
      <p:bldP spid="121" grpId="0" animBg="1"/>
      <p:bldP spid="122" grpId="0" animBg="1"/>
      <p:bldP spid="123" grpId="0" animBg="1"/>
      <p:bldP spid="124" grpId="0" animBg="1"/>
      <p:bldP spid="125" grpId="0" animBg="1"/>
      <p:bldP spid="126" grpId="0" animBg="1"/>
      <p:bldP spid="128" grpId="0" animBg="1"/>
      <p:bldP spid="129" grpId="0" animBg="1"/>
      <p:bldP spid="130" grpId="0" animBg="1"/>
      <p:bldP spid="131" grpId="0" animBg="1"/>
      <p:bldP spid="132"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07085"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2 · GREEN</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GREEN: The Least Code That Passes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Do not add what no test asks for. Not yet.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TDD</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177</a:t>
            </a:r>
            <a:endParaRPr lang="en-US" sz="850" dirty="0"/>
          </a:p>
        </p:txBody>
      </p:sp>
      <p:sp>
        <p:nvSpPr>
          <p:cNvPr id="101" name="s101"/>
          <p:cNvSpPr txBox="1"/>
          <p:nvPr/>
        </p:nvSpPr>
        <p:spPr>
          <a:xfrm>
            <a:off x="543154" y="1810512"/>
            <a:ext cx="630936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34D399"/>
                </a:solidFill>
                <a:latin typeface="Segoe UI"/>
                <a:ea typeface="Segoe UI"/>
                <a:cs typeface="Segoe UI"/>
              </a:rPr>
              <a:t>THE PRODUCTION CODE</a:t>
            </a:r>
            <a:endParaRPr lang="en-US" sz="1050" dirty="0"/>
          </a:p>
        </p:txBody>
      </p:sp>
      <p:sp>
        <p:nvSpPr>
          <p:cNvPr id="102" name="s102"/>
          <p:cNvSpPr/>
          <p:nvPr/>
        </p:nvSpPr>
        <p:spPr>
          <a:xfrm>
            <a:off x="543154" y="2084832"/>
            <a:ext cx="6309360" cy="210312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157984"/>
            <a:ext cx="103327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Pricing.cs</a:t>
            </a:r>
            <a:endParaRPr lang="en-US" sz="950" dirty="0"/>
          </a:p>
        </p:txBody>
      </p:sp>
      <p:cxnSp>
        <p:nvCxnSpPr>
          <p:cNvPr id="107" name="ln107"/>
          <p:cNvCxnSpPr/>
          <p:nvPr/>
        </p:nvCxnSpPr>
        <p:spPr>
          <a:xfrm>
            <a:off x="543154" y="2496312"/>
            <a:ext cx="6309360" cy="0"/>
          </a:xfrm>
          <a:prstGeom prst="line">
            <a:avLst/>
          </a:prstGeom>
          <a:ln w="9525">
            <a:solidFill>
              <a:srgbClr val="1E3A5F"/>
            </a:solidFill>
          </a:ln>
        </p:spPr>
      </p:cxnSp>
      <p:sp>
        <p:nvSpPr>
          <p:cNvPr id="108" name="s108"/>
          <p:cNvSpPr/>
          <p:nvPr/>
        </p:nvSpPr>
        <p:spPr>
          <a:xfrm>
            <a:off x="543154" y="2615184"/>
            <a:ext cx="6309360"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60A5FA"/>
                </a:solidFill>
                <a:latin typeface="Consolas"/>
                <a:ea typeface="Consolas"/>
                <a:cs typeface="Consolas"/>
              </a:rPr>
              <a:t>public</a:t>
            </a: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static</a:t>
            </a: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class</a:t>
            </a:r>
            <a:r>
              <a:rPr lang="en-US" sz="1025" b="0" dirty="0">
                <a:solidFill>
                  <a:srgbClr val="E2E8F0"/>
                </a:solidFill>
                <a:latin typeface="Consolas"/>
                <a:ea typeface="Consolas"/>
                <a:cs typeface="Consolas"/>
              </a:rPr>
              <a:t> </a:t>
            </a:r>
            <a:r>
              <a:rPr lang="en-US" sz="1025" b="0" dirty="0">
                <a:solidFill>
                  <a:srgbClr val="7DD3FC"/>
                </a:solidFill>
                <a:latin typeface="Consolas"/>
                <a:ea typeface="Consolas"/>
                <a:cs typeface="Consolas"/>
              </a:rPr>
              <a:t>Pricing</a:t>
            </a:r>
            <a:endParaRPr lang="en-US" sz="1025" dirty="0"/>
          </a:p>
        </p:txBody>
      </p:sp>
      <p:sp>
        <p:nvSpPr>
          <p:cNvPr id="109" name="s109"/>
          <p:cNvSpPr/>
          <p:nvPr/>
        </p:nvSpPr>
        <p:spPr>
          <a:xfrm>
            <a:off x="543154" y="2771394"/>
            <a:ext cx="6309360"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a:t>
            </a:r>
            <a:endParaRPr lang="en-US" sz="1025" dirty="0"/>
          </a:p>
        </p:txBody>
      </p:sp>
      <p:sp>
        <p:nvSpPr>
          <p:cNvPr id="110" name="s110"/>
          <p:cNvSpPr/>
          <p:nvPr/>
        </p:nvSpPr>
        <p:spPr>
          <a:xfrm>
            <a:off x="543154" y="2927604"/>
            <a:ext cx="6309360"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public</a:t>
            </a: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static</a:t>
            </a: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decimal</a:t>
            </a:r>
            <a:r>
              <a:rPr lang="en-US" sz="1025" b="0" dirty="0">
                <a:solidFill>
                  <a:srgbClr val="E2E8F0"/>
                </a:solidFill>
                <a:latin typeface="Consolas"/>
                <a:ea typeface="Consolas"/>
                <a:cs typeface="Consolas"/>
              </a:rPr>
              <a:t> </a:t>
            </a:r>
            <a:r>
              <a:rPr lang="en-US" sz="1025" b="0" dirty="0">
                <a:solidFill>
                  <a:srgbClr val="7DD3FC"/>
                </a:solidFill>
                <a:latin typeface="Consolas"/>
                <a:ea typeface="Consolas"/>
                <a:cs typeface="Consolas"/>
              </a:rPr>
              <a:t>CalculateTotal</a:t>
            </a:r>
            <a:r>
              <a:rPr lang="en-US" sz="1025" b="0" dirty="0">
                <a:solidFill>
                  <a:srgbClr val="E2E8F0"/>
                </a:solidFill>
                <a:latin typeface="Consolas"/>
                <a:ea typeface="Consolas"/>
                <a:cs typeface="Consolas"/>
              </a:rPr>
              <a:t>(</a:t>
            </a:r>
            <a:r>
              <a:rPr lang="en-US" sz="1025" b="0" dirty="0">
                <a:solidFill>
                  <a:srgbClr val="60A5FA"/>
                </a:solidFill>
                <a:latin typeface="Consolas"/>
                <a:ea typeface="Consolas"/>
                <a:cs typeface="Consolas"/>
              </a:rPr>
              <a:t>decimal</a:t>
            </a:r>
            <a:r>
              <a:rPr lang="en-US" sz="1025" b="0" dirty="0">
                <a:solidFill>
                  <a:srgbClr val="E2E8F0"/>
                </a:solidFill>
                <a:latin typeface="Consolas"/>
                <a:ea typeface="Consolas"/>
                <a:cs typeface="Consolas"/>
              </a:rPr>
              <a:t> price, </a:t>
            </a:r>
            <a:r>
              <a:rPr lang="en-US" sz="1025" b="0" dirty="0">
                <a:solidFill>
                  <a:srgbClr val="60A5FA"/>
                </a:solidFill>
                <a:latin typeface="Consolas"/>
                <a:ea typeface="Consolas"/>
                <a:cs typeface="Consolas"/>
              </a:rPr>
              <a:t>decimal</a:t>
            </a:r>
            <a:r>
              <a:rPr lang="en-US" sz="1025" b="0" dirty="0">
                <a:solidFill>
                  <a:srgbClr val="E2E8F0"/>
                </a:solidFill>
                <a:latin typeface="Consolas"/>
                <a:ea typeface="Consolas"/>
                <a:cs typeface="Consolas"/>
              </a:rPr>
              <a:t> discount)</a:t>
            </a:r>
            <a:endParaRPr lang="en-US" sz="1025" dirty="0"/>
          </a:p>
        </p:txBody>
      </p:sp>
      <p:sp>
        <p:nvSpPr>
          <p:cNvPr id="111" name="s111"/>
          <p:cNvSpPr/>
          <p:nvPr/>
        </p:nvSpPr>
        <p:spPr>
          <a:xfrm>
            <a:off x="543154" y="3083814"/>
            <a:ext cx="6309360"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a:t>
            </a:r>
            <a:endParaRPr lang="en-US" sz="1025" dirty="0"/>
          </a:p>
        </p:txBody>
      </p:sp>
      <p:sp>
        <p:nvSpPr>
          <p:cNvPr id="112" name="s112"/>
          <p:cNvSpPr/>
          <p:nvPr/>
        </p:nvSpPr>
        <p:spPr>
          <a:xfrm>
            <a:off x="543154" y="3240024"/>
            <a:ext cx="6309360"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a:t>
            </a:r>
            <a:r>
              <a:rPr lang="en-US" sz="1025" b="0" dirty="0">
                <a:solidFill>
                  <a:srgbClr val="60A5FA"/>
                </a:solidFill>
                <a:latin typeface="Consolas"/>
                <a:ea typeface="Consolas"/>
                <a:cs typeface="Consolas"/>
              </a:rPr>
              <a:t>return</a:t>
            </a:r>
            <a:r>
              <a:rPr lang="en-US" sz="1025" b="0" dirty="0">
                <a:solidFill>
                  <a:srgbClr val="E2E8F0"/>
                </a:solidFill>
                <a:latin typeface="Consolas"/>
                <a:ea typeface="Consolas"/>
                <a:cs typeface="Consolas"/>
              </a:rPr>
              <a:t> price - discount;</a:t>
            </a:r>
            <a:endParaRPr lang="en-US" sz="1025" dirty="0"/>
          </a:p>
        </p:txBody>
      </p:sp>
      <p:sp>
        <p:nvSpPr>
          <p:cNvPr id="113" name="s113"/>
          <p:cNvSpPr/>
          <p:nvPr/>
        </p:nvSpPr>
        <p:spPr>
          <a:xfrm>
            <a:off x="543154" y="3396234"/>
            <a:ext cx="6309360"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    }</a:t>
            </a:r>
            <a:endParaRPr lang="en-US" sz="1025" dirty="0"/>
          </a:p>
        </p:txBody>
      </p:sp>
      <p:sp>
        <p:nvSpPr>
          <p:cNvPr id="114" name="s114"/>
          <p:cNvSpPr/>
          <p:nvPr/>
        </p:nvSpPr>
        <p:spPr>
          <a:xfrm>
            <a:off x="543154" y="3552444"/>
            <a:ext cx="6309360" cy="15621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025" b="0" dirty="0">
                <a:solidFill>
                  <a:srgbClr val="E2E8F0"/>
                </a:solidFill>
                <a:latin typeface="Consolas"/>
                <a:ea typeface="Consolas"/>
                <a:cs typeface="Consolas"/>
              </a:rPr>
              <a:t>}</a:t>
            </a:r>
            <a:endParaRPr lang="en-US" sz="1025" dirty="0"/>
          </a:p>
        </p:txBody>
      </p:sp>
      <p:sp>
        <p:nvSpPr>
          <p:cNvPr id="115" name="s115"/>
          <p:cNvSpPr/>
          <p:nvPr/>
        </p:nvSpPr>
        <p:spPr>
          <a:xfrm>
            <a:off x="652882" y="3212592"/>
            <a:ext cx="6089904" cy="211074"/>
          </a:xfrm>
          <a:prstGeom prst="roundRect">
            <a:avLst>
              <a:gd name="adj" fmla="val 6000"/>
            </a:avLst>
          </a:prstGeom>
          <a:solidFill>
            <a:srgbClr val="34D399">
              <a:alpha val="10000"/>
            </a:srgbClr>
          </a:solidFill>
          <a:ln w="15875">
            <a:solidFill>
              <a:srgbClr val="34D399"/>
            </a:solidFill>
            <a:prstDash val="solid"/>
          </a:ln>
        </p:spPr>
        <p:txBody>
          <a:bodyPr wrap="square" lIns="164592" tIns="109728" rIns="137160" bIns="91440" rtlCol="0" anchor="t">
            <a:noAutofit/>
          </a:bodyPr>
          <a:lstStyle/>
          <a:p>
            <a:endParaRPr lang="en-US"/>
          </a:p>
        </p:txBody>
      </p:sp>
      <p:sp>
        <p:nvSpPr>
          <p:cNvPr id="116" name="s116"/>
          <p:cNvSpPr txBox="1"/>
          <p:nvPr/>
        </p:nvSpPr>
        <p:spPr>
          <a:xfrm>
            <a:off x="7126834" y="1810512"/>
            <a:ext cx="4504334"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34D399"/>
                </a:solidFill>
                <a:latin typeface="Segoe UI"/>
                <a:ea typeface="Segoe UI"/>
                <a:cs typeface="Segoe UI"/>
              </a:rPr>
              <a:t>RUN IT</a:t>
            </a:r>
            <a:endParaRPr lang="en-US" sz="1050" dirty="0"/>
          </a:p>
        </p:txBody>
      </p:sp>
      <p:sp>
        <p:nvSpPr>
          <p:cNvPr id="117" name="s117"/>
          <p:cNvSpPr/>
          <p:nvPr/>
        </p:nvSpPr>
        <p:spPr>
          <a:xfrm>
            <a:off x="7126834" y="2084832"/>
            <a:ext cx="4504334" cy="96012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8" name="s118"/>
          <p:cNvSpPr/>
          <p:nvPr/>
        </p:nvSpPr>
        <p:spPr>
          <a:xfrm>
            <a:off x="7291426" y="223113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9" name="s119"/>
          <p:cNvSpPr/>
          <p:nvPr/>
        </p:nvSpPr>
        <p:spPr>
          <a:xfrm>
            <a:off x="7474306" y="223113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20" name="s120"/>
          <p:cNvSpPr/>
          <p:nvPr/>
        </p:nvSpPr>
        <p:spPr>
          <a:xfrm>
            <a:off x="7657186" y="223113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21" name="s121"/>
          <p:cNvSpPr/>
          <p:nvPr/>
        </p:nvSpPr>
        <p:spPr>
          <a:xfrm>
            <a:off x="7904074" y="2157984"/>
            <a:ext cx="1104595"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94A3B8"/>
                </a:solidFill>
                <a:latin typeface="Consolas"/>
                <a:ea typeface="Consolas"/>
                <a:cs typeface="Consolas"/>
              </a:rPr>
              <a:t>dotnet test</a:t>
            </a:r>
            <a:endParaRPr lang="en-US" sz="950" dirty="0"/>
          </a:p>
        </p:txBody>
      </p:sp>
      <p:cxnSp>
        <p:nvCxnSpPr>
          <p:cNvPr id="122" name="ln122"/>
          <p:cNvCxnSpPr/>
          <p:nvPr/>
        </p:nvCxnSpPr>
        <p:spPr>
          <a:xfrm>
            <a:off x="7126834" y="2496312"/>
            <a:ext cx="4504334" cy="0"/>
          </a:xfrm>
          <a:prstGeom prst="line">
            <a:avLst/>
          </a:prstGeom>
          <a:ln w="9525">
            <a:solidFill>
              <a:srgbClr val="1E3A5F"/>
            </a:solidFill>
          </a:ln>
        </p:spPr>
      </p:cxnSp>
      <p:sp>
        <p:nvSpPr>
          <p:cNvPr id="123" name="s123"/>
          <p:cNvSpPr/>
          <p:nvPr/>
        </p:nvSpPr>
        <p:spPr>
          <a:xfrm>
            <a:off x="7126834" y="2615184"/>
            <a:ext cx="4504334" cy="18288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00" b="0" dirty="0">
                <a:solidFill>
                  <a:srgbClr val="E2E8F0"/>
                </a:solidFill>
                <a:latin typeface="Consolas"/>
                <a:ea typeface="Consolas"/>
                <a:cs typeface="Consolas"/>
              </a:rPr>
              <a:t>Passed!  - Failed: 0, Passed: 1, Total: 1</a:t>
            </a:r>
            <a:endParaRPr lang="en-US" sz="1200" dirty="0"/>
          </a:p>
        </p:txBody>
      </p:sp>
      <p:sp>
        <p:nvSpPr>
          <p:cNvPr id="124" name="s124"/>
          <p:cNvSpPr/>
          <p:nvPr/>
        </p:nvSpPr>
        <p:spPr>
          <a:xfrm>
            <a:off x="7126834" y="3182112"/>
            <a:ext cx="4504334" cy="1005840"/>
          </a:xfrm>
          <a:prstGeom prst="roundRect">
            <a:avLst>
              <a:gd name="adj" fmla="val 10000"/>
            </a:avLst>
          </a:prstGeom>
          <a:solidFill>
            <a:srgbClr val="111B2E"/>
          </a:solidFill>
          <a:ln w="12700">
            <a:solidFill>
              <a:srgbClr val="FBBF24"/>
            </a:solidFill>
            <a:prstDash val="solid"/>
          </a:ln>
        </p:spPr>
        <p:txBody>
          <a:bodyPr wrap="square" lIns="182880" tIns="54864" rIns="137160" bIns="54864" rtlCol="0" anchor="ctr">
            <a:noAutofit/>
          </a:bodyPr>
          <a:lstStyle/>
          <a:p>
            <a:pPr marL="0" indent="0" algn="l">
              <a:spcBef>
                <a:spcPts val="0"/>
              </a:spcBef>
              <a:spcAft>
                <a:spcPts val="300"/>
              </a:spcAft>
              <a:buNone/>
            </a:pPr>
            <a:r>
              <a:rPr lang="en-US" sz="1150" b="1" dirty="0">
                <a:solidFill>
                  <a:srgbClr val="FBBF24"/>
                </a:solidFill>
                <a:latin typeface="Segoe UI"/>
                <a:ea typeface="Segoe UI"/>
                <a:cs typeface="Segoe UI"/>
              </a:rPr>
              <a:t>STOP HERE</a:t>
            </a:r>
            <a:endParaRPr lang="en-US" sz="1150" dirty="0"/>
          </a:p>
          <a:p>
            <a:pPr marL="0" indent="0" algn="l">
              <a:spcBef>
                <a:spcPts val="0"/>
              </a:spcBef>
              <a:spcAft>
                <a:spcPts val="0"/>
              </a:spcAft>
              <a:buNone/>
            </a:pPr>
            <a:r>
              <a:rPr lang="en-US" sz="1250" b="0" dirty="0">
                <a:solidFill>
                  <a:srgbClr val="E2E8F0"/>
                </a:solidFill>
                <a:latin typeface="Segoe UI"/>
                <a:ea typeface="Segoe UI"/>
                <a:cs typeface="Segoe UI"/>
              </a:rPr>
              <a:t>no rounding, no validation yet: no test asked for them.</a:t>
            </a:r>
            <a:endParaRPr lang="en-US" sz="1250" dirty="0"/>
          </a:p>
        </p:txBody>
      </p:sp>
      <p:sp>
        <p:nvSpPr>
          <p:cNvPr id="125" name="s125"/>
          <p:cNvSpPr/>
          <p:nvPr/>
        </p:nvSpPr>
        <p:spPr>
          <a:xfrm>
            <a:off x="543154" y="4370832"/>
            <a:ext cx="11088014" cy="914400"/>
          </a:xfrm>
          <a:prstGeom prst="roundRect">
            <a:avLst>
              <a:gd name="adj" fmla="val 10000"/>
            </a:avLst>
          </a:prstGeom>
          <a:solidFill>
            <a:srgbClr val="60A5FA">
              <a:alpha val="10000"/>
            </a:srgbClr>
          </a:solidFill>
          <a:ln w="12700">
            <a:solidFill>
              <a:srgbClr val="60A5FA"/>
            </a:solidFill>
            <a:prstDash val="solid"/>
          </a:ln>
        </p:spPr>
        <p:txBody>
          <a:bodyPr wrap="square" lIns="228600" tIns="54864" rIns="182880" bIns="54864" rtlCol="0" anchor="ctr">
            <a:noAutofit/>
          </a:bodyPr>
          <a:lstStyle/>
          <a:p>
            <a:pPr marL="0" indent="0" algn="ctr">
              <a:spcBef>
                <a:spcPts val="0"/>
              </a:spcBef>
              <a:spcAft>
                <a:spcPts val="0"/>
              </a:spcAft>
              <a:buNone/>
            </a:pPr>
            <a:r>
              <a:rPr lang="en-US" sz="1500" b="1" dirty="0">
                <a:solidFill>
                  <a:srgbClr val="60A5FA"/>
                </a:solidFill>
                <a:latin typeface="Segoe UI"/>
                <a:ea typeface="Segoe UI"/>
                <a:cs typeface="Segoe UI"/>
              </a:rPr>
              <a:t>3 · REFACTOR   </a:t>
            </a:r>
            <a:r>
              <a:rPr lang="en-US" sz="1500" b="0" dirty="0">
                <a:solidFill>
                  <a:srgbClr val="E2E8F0"/>
                </a:solidFill>
                <a:latin typeface="Segoe UI"/>
                <a:ea typeface="Segoe UI"/>
                <a:cs typeface="Segoe UI"/>
              </a:rPr>
              <a:t>Read the code again: duplication? bad names? too complex?</a:t>
            </a:r>
            <a:endParaRPr lang="en-US" sz="1500" dirty="0"/>
          </a:p>
          <a:p>
            <a:pPr marL="0" indent="0" algn="ctr">
              <a:spcBef>
                <a:spcPts val="400"/>
              </a:spcBef>
              <a:spcAft>
                <a:spcPts val="0"/>
              </a:spcAft>
              <a:buNone/>
            </a:pPr>
            <a:r>
              <a:rPr lang="en-US" sz="1300" b="0" dirty="0">
                <a:solidFill>
                  <a:srgbClr val="94A3B8"/>
                </a:solidFill>
                <a:latin typeface="Segoe UI"/>
                <a:ea typeface="Segoe UI"/>
                <a:cs typeface="Segoe UI"/>
              </a:rPr>
              <a:t>Here: nothing to change. Tests stay green, so the refactor is safe.</a:t>
            </a:r>
            <a:endParaRPr lang="en-US" sz="1300" dirty="0"/>
          </a:p>
        </p:txBody>
      </p:sp>
      <p:sp>
        <p:nvSpPr>
          <p:cNvPr id="126" name="s126"/>
          <p:cNvSpPr/>
          <p:nvPr/>
        </p:nvSpPr>
        <p:spPr>
          <a:xfrm>
            <a:off x="543154" y="5422392"/>
            <a:ext cx="11088014" cy="832104"/>
          </a:xfrm>
          <a:prstGeom prst="roundRect">
            <a:avLst>
              <a:gd name="adj" fmla="val 10000"/>
            </a:avLst>
          </a:prstGeom>
          <a:solidFill>
            <a:srgbClr val="111B2E"/>
          </a:solidFill>
          <a:ln w="12700">
            <a:solidFill>
              <a:srgbClr val="F87171"/>
            </a:solidFill>
            <a:prstDash val="solid"/>
          </a:ln>
        </p:spPr>
        <p:txBody>
          <a:bodyPr wrap="square" lIns="228600" tIns="54864" rIns="182880" bIns="54864" rtlCol="0" anchor="ctr">
            <a:noAutofit/>
          </a:bodyPr>
          <a:lstStyle/>
          <a:p>
            <a:pPr marL="0" indent="0" algn="ctr">
              <a:spcBef>
                <a:spcPts val="0"/>
              </a:spcBef>
              <a:spcAft>
                <a:spcPts val="0"/>
              </a:spcAft>
              <a:buNone/>
            </a:pPr>
            <a:r>
              <a:rPr lang="en-US" sz="1500" b="1" dirty="0">
                <a:solidFill>
                  <a:srgbClr val="F87171"/>
                </a:solidFill>
                <a:latin typeface="Segoe UI"/>
                <a:ea typeface="Segoe UI"/>
                <a:cs typeface="Segoe UI"/>
              </a:rPr>
              <a:t>NEXT BEHAVIOR  →  back to RED:   </a:t>
            </a:r>
            <a:r>
              <a:rPr lang="en-US" sz="1500" b="0" dirty="0">
                <a:solidFill>
                  <a:srgbClr val="E2E8F0"/>
                </a:solidFill>
                <a:latin typeface="Segoe UI"/>
                <a:ea typeface="Segoe UI"/>
                <a:cs typeface="Segoe UI"/>
              </a:rPr>
              <a:t>what if the discount is BIGGER than the price?</a:t>
            </a:r>
            <a:endParaRPr lang="en-US" sz="15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anim calcmode="lin" valueType="num">
                                      <p:cBhvr additive="base">
                                        <p:cTn id="12" dur="500" decel="100000" fill="hold"/>
                                        <p:tgtEl>
                                          <p:spTgt spid="103"/>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53" presetClass="entr" presetSubtype="16" fill="hold" grpId="0" nodeType="clickEffect">
                                  <p:stCondLst>
                                    <p:cond delay="0"/>
                                  </p:stCondLst>
                                  <p:childTnLst>
                                    <p:set>
                                      <p:cBhvr>
                                        <p:cTn id="60" dur="1" fill="hold">
                                          <p:stCondLst>
                                            <p:cond delay="0"/>
                                          </p:stCondLst>
                                        </p:cTn>
                                        <p:tgtEl>
                                          <p:spTgt spid="115"/>
                                        </p:tgtEl>
                                        <p:attrNameLst>
                                          <p:attrName>style.visibility</p:attrName>
                                        </p:attrNameLst>
                                      </p:cBhvr>
                                      <p:to>
                                        <p:strVal val="visible"/>
                                      </p:to>
                                    </p:set>
                                    <p:anim calcmode="lin" valueType="num">
                                      <p:cBhvr additive="base">
                                        <p:cTn id="61" dur="5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62" dur="500" decel="100000" fill="hold"/>
                                        <p:tgtEl>
                                          <p:spTgt spid="115"/>
                                        </p:tgtEl>
                                        <p:attrNameLst>
                                          <p:attrName>ppt_h</p:attrName>
                                        </p:attrNameLst>
                                      </p:cBhvr>
                                      <p:tavLst>
                                        <p:tav tm="0">
                                          <p:val>
                                            <p:strVal val="#ppt_h*0.3"/>
                                          </p:val>
                                        </p:tav>
                                        <p:tav tm="100000">
                                          <p:val>
                                            <p:strVal val="#ppt_h*1.08"/>
                                          </p:val>
                                        </p:tav>
                                      </p:tavLst>
                                    </p:anim>
                                    <p:animEffect transition="in" filter="fade">
                                      <p:cBhvr>
                                        <p:cTn id="63" dur="250"/>
                                        <p:tgtEl>
                                          <p:spTgt spid="115"/>
                                        </p:tgtEl>
                                      </p:cBhvr>
                                    </p:animEffect>
                                    <p:anim calcmode="lin" valueType="num">
                                      <p:cBhvr additive="base">
                                        <p:cTn id="64" dur="160" fill="hold">
                                          <p:stCondLst>
                                            <p:cond delay="500"/>
                                          </p:stCondLst>
                                        </p:cTn>
                                        <p:tgtEl>
                                          <p:spTgt spid="115"/>
                                        </p:tgtEl>
                                        <p:attrNameLst>
                                          <p:attrName>ppt_w</p:attrName>
                                        </p:attrNameLst>
                                      </p:cBhvr>
                                      <p:tavLst>
                                        <p:tav tm="0">
                                          <p:val>
                                            <p:strVal val="#ppt_w*1.08"/>
                                          </p:val>
                                        </p:tav>
                                        <p:tav tm="100000">
                                          <p:val>
                                            <p:strVal val="#ppt_w"/>
                                          </p:val>
                                        </p:tav>
                                      </p:tavLst>
                                    </p:anim>
                                    <p:anim calcmode="lin" valueType="num">
                                      <p:cBhvr additive="base">
                                        <p:cTn id="65" dur="160" fill="hold">
                                          <p:stCondLst>
                                            <p:cond delay="5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117"/>
                                        </p:tgtEl>
                                        <p:attrNameLst>
                                          <p:attrName>style.visibility</p:attrName>
                                        </p:attrNameLst>
                                      </p:cBhvr>
                                      <p:to>
                                        <p:strVal val="visible"/>
                                      </p:to>
                                    </p:set>
                                    <p:animEffect transition="in" filter="fade">
                                      <p:cBhvr>
                                        <p:cTn id="70" dur="500"/>
                                        <p:tgtEl>
                                          <p:spTgt spid="117"/>
                                        </p:tgtEl>
                                      </p:cBhvr>
                                    </p:animEffect>
                                    <p:anim calcmode="lin" valueType="num">
                                      <p:cBhvr additive="base">
                                        <p:cTn id="71" dur="500" decel="100000" fill="hold"/>
                                        <p:tgtEl>
                                          <p:spTgt spid="117"/>
                                        </p:tgtEl>
                                        <p:attrNameLst>
                                          <p:attrName>ppt_y</p:attrName>
                                        </p:attrNameLst>
                                      </p:cBhvr>
                                      <p:tavLst>
                                        <p:tav tm="0">
                                          <p:val>
                                            <p:strVal val="#ppt_y+0.06"/>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118"/>
                                        </p:tgtEl>
                                        <p:attrNameLst>
                                          <p:attrName>style.visibility</p:attrName>
                                        </p:attrNameLst>
                                      </p:cBhvr>
                                      <p:to>
                                        <p:strVal val="visible"/>
                                      </p:to>
                                    </p:set>
                                    <p:animEffect transition="in" filter="fade">
                                      <p:cBhvr>
                                        <p:cTn id="74" dur="500"/>
                                        <p:tgtEl>
                                          <p:spTgt spid="118"/>
                                        </p:tgtEl>
                                      </p:cBhvr>
                                    </p:animEffect>
                                    <p:anim calcmode="lin" valueType="num">
                                      <p:cBhvr additive="base">
                                        <p:cTn id="75" dur="500" decel="100000" fill="hold"/>
                                        <p:tgtEl>
                                          <p:spTgt spid="118"/>
                                        </p:tgtEl>
                                        <p:attrNameLst>
                                          <p:attrName>ppt_y</p:attrName>
                                        </p:attrNameLst>
                                      </p:cBhvr>
                                      <p:tavLst>
                                        <p:tav tm="0">
                                          <p:val>
                                            <p:strVal val="#ppt_y+0.06"/>
                                          </p:val>
                                        </p:tav>
                                        <p:tav tm="100000">
                                          <p:val>
                                            <p:strVal val="#ppt_y"/>
                                          </p:val>
                                        </p:tav>
                                      </p:tavLst>
                                    </p:anim>
                                  </p:childTnLst>
                                </p:cTn>
                              </p:par>
                              <p:par>
                                <p:cTn id="76" presetID="42" presetClass="entr" presetSubtype="0" fill="hold" grpId="0" nodeType="withEffect">
                                  <p:stCondLst>
                                    <p:cond delay="0"/>
                                  </p:stCondLst>
                                  <p:childTnLst>
                                    <p:set>
                                      <p:cBhvr>
                                        <p:cTn id="77" dur="1" fill="hold">
                                          <p:stCondLst>
                                            <p:cond delay="0"/>
                                          </p:stCondLst>
                                        </p:cTn>
                                        <p:tgtEl>
                                          <p:spTgt spid="119"/>
                                        </p:tgtEl>
                                        <p:attrNameLst>
                                          <p:attrName>style.visibility</p:attrName>
                                        </p:attrNameLst>
                                      </p:cBhvr>
                                      <p:to>
                                        <p:strVal val="visible"/>
                                      </p:to>
                                    </p:set>
                                    <p:animEffect transition="in" filter="fade">
                                      <p:cBhvr>
                                        <p:cTn id="78" dur="500"/>
                                        <p:tgtEl>
                                          <p:spTgt spid="119"/>
                                        </p:tgtEl>
                                      </p:cBhvr>
                                    </p:animEffect>
                                    <p:anim calcmode="lin" valueType="num">
                                      <p:cBhvr additive="base">
                                        <p:cTn id="79" dur="500" decel="100000" fill="hold"/>
                                        <p:tgtEl>
                                          <p:spTgt spid="119"/>
                                        </p:tgtEl>
                                        <p:attrNameLst>
                                          <p:attrName>ppt_y</p:attrName>
                                        </p:attrNameLst>
                                      </p:cBhvr>
                                      <p:tavLst>
                                        <p:tav tm="0">
                                          <p:val>
                                            <p:strVal val="#ppt_y+0.06"/>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120"/>
                                        </p:tgtEl>
                                        <p:attrNameLst>
                                          <p:attrName>style.visibility</p:attrName>
                                        </p:attrNameLst>
                                      </p:cBhvr>
                                      <p:to>
                                        <p:strVal val="visible"/>
                                      </p:to>
                                    </p:set>
                                    <p:animEffect transition="in" filter="fade">
                                      <p:cBhvr>
                                        <p:cTn id="82" dur="500"/>
                                        <p:tgtEl>
                                          <p:spTgt spid="120"/>
                                        </p:tgtEl>
                                      </p:cBhvr>
                                    </p:animEffect>
                                    <p:anim calcmode="lin" valueType="num">
                                      <p:cBhvr additive="base">
                                        <p:cTn id="83" dur="500" decel="100000" fill="hold"/>
                                        <p:tgtEl>
                                          <p:spTgt spid="120"/>
                                        </p:tgtEl>
                                        <p:attrNameLst>
                                          <p:attrName>ppt_y</p:attrName>
                                        </p:attrNameLst>
                                      </p:cBhvr>
                                      <p:tavLst>
                                        <p:tav tm="0">
                                          <p:val>
                                            <p:strVal val="#ppt_y+0.06"/>
                                          </p:val>
                                        </p:tav>
                                        <p:tav tm="100000">
                                          <p:val>
                                            <p:strVal val="#ppt_y"/>
                                          </p:val>
                                        </p:tav>
                                      </p:tavLst>
                                    </p:anim>
                                  </p:childTnLst>
                                </p:cTn>
                              </p:par>
                              <p:par>
                                <p:cTn id="84" presetID="42" presetClass="entr" presetSubtype="0" fill="hold" grpId="0" nodeType="withEffect">
                                  <p:stCondLst>
                                    <p:cond delay="0"/>
                                  </p:stCondLst>
                                  <p:childTnLst>
                                    <p:set>
                                      <p:cBhvr>
                                        <p:cTn id="85" dur="1" fill="hold">
                                          <p:stCondLst>
                                            <p:cond delay="0"/>
                                          </p:stCondLst>
                                        </p:cTn>
                                        <p:tgtEl>
                                          <p:spTgt spid="121"/>
                                        </p:tgtEl>
                                        <p:attrNameLst>
                                          <p:attrName>style.visibility</p:attrName>
                                        </p:attrNameLst>
                                      </p:cBhvr>
                                      <p:to>
                                        <p:strVal val="visible"/>
                                      </p:to>
                                    </p:set>
                                    <p:animEffect transition="in" filter="fade">
                                      <p:cBhvr>
                                        <p:cTn id="86" dur="500"/>
                                        <p:tgtEl>
                                          <p:spTgt spid="121"/>
                                        </p:tgtEl>
                                      </p:cBhvr>
                                    </p:animEffect>
                                    <p:anim calcmode="lin" valueType="num">
                                      <p:cBhvr additive="base">
                                        <p:cTn id="87" dur="500" decel="100000" fill="hold"/>
                                        <p:tgtEl>
                                          <p:spTgt spid="121"/>
                                        </p:tgtEl>
                                        <p:attrNameLst>
                                          <p:attrName>ppt_y</p:attrName>
                                        </p:attrNameLst>
                                      </p:cBhvr>
                                      <p:tavLst>
                                        <p:tav tm="0">
                                          <p:val>
                                            <p:strVal val="#ppt_y+0.06"/>
                                          </p:val>
                                        </p:tav>
                                        <p:tav tm="100000">
                                          <p:val>
                                            <p:strVal val="#ppt_y"/>
                                          </p:val>
                                        </p:tav>
                                      </p:tavLst>
                                    </p:anim>
                                  </p:childTnLst>
                                </p:cTn>
                              </p:par>
                              <p:par>
                                <p:cTn id="88" presetID="42" presetClass="entr" presetSubtype="0" fill="hold" nodeType="withEffect">
                                  <p:stCondLst>
                                    <p:cond delay="0"/>
                                  </p:stCondLst>
                                  <p:childTnLst>
                                    <p:set>
                                      <p:cBhvr>
                                        <p:cTn id="89" dur="1" fill="hold">
                                          <p:stCondLst>
                                            <p:cond delay="0"/>
                                          </p:stCondLst>
                                        </p:cTn>
                                        <p:tgtEl>
                                          <p:spTgt spid="122"/>
                                        </p:tgtEl>
                                        <p:attrNameLst>
                                          <p:attrName>style.visibility</p:attrName>
                                        </p:attrNameLst>
                                      </p:cBhvr>
                                      <p:to>
                                        <p:strVal val="visible"/>
                                      </p:to>
                                    </p:set>
                                    <p:animEffect transition="in" filter="fade">
                                      <p:cBhvr>
                                        <p:cTn id="90" dur="500"/>
                                        <p:tgtEl>
                                          <p:spTgt spid="122"/>
                                        </p:tgtEl>
                                      </p:cBhvr>
                                    </p:animEffect>
                                    <p:anim calcmode="lin" valueType="num">
                                      <p:cBhvr additive="base">
                                        <p:cTn id="91" dur="500" decel="100000" fill="hold"/>
                                        <p:tgtEl>
                                          <p:spTgt spid="122"/>
                                        </p:tgtEl>
                                        <p:attrNameLst>
                                          <p:attrName>ppt_y</p:attrName>
                                        </p:attrNameLst>
                                      </p:cBhvr>
                                      <p:tavLst>
                                        <p:tav tm="0">
                                          <p:val>
                                            <p:strVal val="#ppt_y+0.06"/>
                                          </p:val>
                                        </p:tav>
                                        <p:tav tm="100000">
                                          <p:val>
                                            <p:strVal val="#ppt_y"/>
                                          </p:val>
                                        </p:tav>
                                      </p:tavLst>
                                    </p:anim>
                                  </p:childTnLst>
                                </p:cTn>
                              </p:par>
                              <p:par>
                                <p:cTn id="92" presetID="42" presetClass="entr" presetSubtype="0" fill="hold" grpId="0" nodeType="withEffect">
                                  <p:stCondLst>
                                    <p:cond delay="0"/>
                                  </p:stCondLst>
                                  <p:childTnLst>
                                    <p:set>
                                      <p:cBhvr>
                                        <p:cTn id="93" dur="1" fill="hold">
                                          <p:stCondLst>
                                            <p:cond delay="0"/>
                                          </p:stCondLst>
                                        </p:cTn>
                                        <p:tgtEl>
                                          <p:spTgt spid="123"/>
                                        </p:tgtEl>
                                        <p:attrNameLst>
                                          <p:attrName>style.visibility</p:attrName>
                                        </p:attrNameLst>
                                      </p:cBhvr>
                                      <p:to>
                                        <p:strVal val="visible"/>
                                      </p:to>
                                    </p:set>
                                    <p:animEffect transition="in" filter="fade">
                                      <p:cBhvr>
                                        <p:cTn id="94" dur="500"/>
                                        <p:tgtEl>
                                          <p:spTgt spid="123"/>
                                        </p:tgtEl>
                                      </p:cBhvr>
                                    </p:animEffect>
                                    <p:anim calcmode="lin" valueType="num">
                                      <p:cBhvr additive="base">
                                        <p:cTn id="95" dur="500" decel="100000" fill="hold"/>
                                        <p:tgtEl>
                                          <p:spTgt spid="123"/>
                                        </p:tgtEl>
                                        <p:attrNameLst>
                                          <p:attrName>ppt_y</p:attrName>
                                        </p:attrNameLst>
                                      </p:cBhvr>
                                      <p:tavLst>
                                        <p:tav tm="0">
                                          <p:val>
                                            <p:strVal val="#ppt_y+0.06"/>
                                          </p:val>
                                        </p:tav>
                                        <p:tav tm="100000">
                                          <p:val>
                                            <p:strVal val="#ppt_y"/>
                                          </p:val>
                                        </p:tav>
                                      </p:tavLst>
                                    </p:anim>
                                  </p:childTnLst>
                                </p:cTn>
                              </p:par>
                            </p:childTnLst>
                          </p:cTn>
                        </p:par>
                      </p:childTnLst>
                    </p:cTn>
                  </p:par>
                  <p:par>
                    <p:cTn id="96" fill="hold">
                      <p:stCondLst>
                        <p:cond delay="indefinite"/>
                      </p:stCondLst>
                      <p:childTnLst>
                        <p:par>
                          <p:cTn id="97" fill="hold">
                            <p:stCondLst>
                              <p:cond delay="0"/>
                            </p:stCondLst>
                            <p:childTnLst>
                              <p:par>
                                <p:cTn id="98" presetID="42" presetClass="entr" presetSubtype="0" fill="hold" grpId="0" nodeType="clickEffect">
                                  <p:stCondLst>
                                    <p:cond delay="0"/>
                                  </p:stCondLst>
                                  <p:childTnLst>
                                    <p:set>
                                      <p:cBhvr>
                                        <p:cTn id="99" dur="1" fill="hold">
                                          <p:stCondLst>
                                            <p:cond delay="0"/>
                                          </p:stCondLst>
                                        </p:cTn>
                                        <p:tgtEl>
                                          <p:spTgt spid="124"/>
                                        </p:tgtEl>
                                        <p:attrNameLst>
                                          <p:attrName>style.visibility</p:attrName>
                                        </p:attrNameLst>
                                      </p:cBhvr>
                                      <p:to>
                                        <p:strVal val="visible"/>
                                      </p:to>
                                    </p:set>
                                    <p:animEffect transition="in" filter="fade">
                                      <p:cBhvr>
                                        <p:cTn id="100" dur="500"/>
                                        <p:tgtEl>
                                          <p:spTgt spid="124"/>
                                        </p:tgtEl>
                                      </p:cBhvr>
                                    </p:animEffect>
                                    <p:anim calcmode="lin" valueType="num">
                                      <p:cBhvr additive="base">
                                        <p:cTn id="101" dur="500" decel="100000" fill="hold"/>
                                        <p:tgtEl>
                                          <p:spTgt spid="124"/>
                                        </p:tgtEl>
                                        <p:attrNameLst>
                                          <p:attrName>ppt_y</p:attrName>
                                        </p:attrNameLst>
                                      </p:cBhvr>
                                      <p:tavLst>
                                        <p:tav tm="0">
                                          <p:val>
                                            <p:strVal val="#ppt_y+0.06"/>
                                          </p:val>
                                        </p:tav>
                                        <p:tav tm="100000">
                                          <p:val>
                                            <p:strVal val="#ppt_y"/>
                                          </p:val>
                                        </p:tav>
                                      </p:tavLst>
                                    </p:anim>
                                  </p:childTnLst>
                                </p:cTn>
                              </p:par>
                            </p:childTnLst>
                          </p:cTn>
                        </p:par>
                      </p:childTnLst>
                    </p:cTn>
                  </p:par>
                  <p:par>
                    <p:cTn id="102" fill="hold">
                      <p:stCondLst>
                        <p:cond delay="indefinite"/>
                      </p:stCondLst>
                      <p:childTnLst>
                        <p:par>
                          <p:cTn id="103" fill="hold">
                            <p:stCondLst>
                              <p:cond delay="0"/>
                            </p:stCondLst>
                            <p:childTnLst>
                              <p:par>
                                <p:cTn id="104" presetID="42" presetClass="entr" presetSubtype="0" fill="hold" grpId="0" nodeType="clickEffect">
                                  <p:stCondLst>
                                    <p:cond delay="0"/>
                                  </p:stCondLst>
                                  <p:childTnLst>
                                    <p:set>
                                      <p:cBhvr>
                                        <p:cTn id="105" dur="1" fill="hold">
                                          <p:stCondLst>
                                            <p:cond delay="0"/>
                                          </p:stCondLst>
                                        </p:cTn>
                                        <p:tgtEl>
                                          <p:spTgt spid="125"/>
                                        </p:tgtEl>
                                        <p:attrNameLst>
                                          <p:attrName>style.visibility</p:attrName>
                                        </p:attrNameLst>
                                      </p:cBhvr>
                                      <p:to>
                                        <p:strVal val="visible"/>
                                      </p:to>
                                    </p:set>
                                    <p:animEffect transition="in" filter="fade">
                                      <p:cBhvr>
                                        <p:cTn id="106" dur="500"/>
                                        <p:tgtEl>
                                          <p:spTgt spid="125"/>
                                        </p:tgtEl>
                                      </p:cBhvr>
                                    </p:animEffect>
                                    <p:anim calcmode="lin" valueType="num">
                                      <p:cBhvr additive="base">
                                        <p:cTn id="107" dur="500" decel="100000" fill="hold"/>
                                        <p:tgtEl>
                                          <p:spTgt spid="125"/>
                                        </p:tgtEl>
                                        <p:attrNameLst>
                                          <p:attrName>ppt_y</p:attrName>
                                        </p:attrNameLst>
                                      </p:cBhvr>
                                      <p:tavLst>
                                        <p:tav tm="0">
                                          <p:val>
                                            <p:strVal val="#ppt_y+0.06"/>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53" presetClass="entr" presetSubtype="16" fill="hold" grpId="0" nodeType="clickEffect">
                                  <p:stCondLst>
                                    <p:cond delay="0"/>
                                  </p:stCondLst>
                                  <p:childTnLst>
                                    <p:set>
                                      <p:cBhvr>
                                        <p:cTn id="111" dur="1" fill="hold">
                                          <p:stCondLst>
                                            <p:cond delay="0"/>
                                          </p:stCondLst>
                                        </p:cTn>
                                        <p:tgtEl>
                                          <p:spTgt spid="126"/>
                                        </p:tgtEl>
                                        <p:attrNameLst>
                                          <p:attrName>style.visibility</p:attrName>
                                        </p:attrNameLst>
                                      </p:cBhvr>
                                      <p:to>
                                        <p:strVal val="visible"/>
                                      </p:to>
                                    </p:set>
                                    <p:anim calcmode="lin" valueType="num">
                                      <p:cBhvr additive="base">
                                        <p:cTn id="112" dur="500" decel="100000" fill="hold"/>
                                        <p:tgtEl>
                                          <p:spTgt spid="126"/>
                                        </p:tgtEl>
                                        <p:attrNameLst>
                                          <p:attrName>ppt_w</p:attrName>
                                        </p:attrNameLst>
                                      </p:cBhvr>
                                      <p:tavLst>
                                        <p:tav tm="0">
                                          <p:val>
                                            <p:strVal val="#ppt_w*0.3"/>
                                          </p:val>
                                        </p:tav>
                                        <p:tav tm="100000">
                                          <p:val>
                                            <p:strVal val="#ppt_w*1.08"/>
                                          </p:val>
                                        </p:tav>
                                      </p:tavLst>
                                    </p:anim>
                                    <p:anim calcmode="lin" valueType="num">
                                      <p:cBhvr additive="base">
                                        <p:cTn id="113" dur="500" decel="100000" fill="hold"/>
                                        <p:tgtEl>
                                          <p:spTgt spid="126"/>
                                        </p:tgtEl>
                                        <p:attrNameLst>
                                          <p:attrName>ppt_h</p:attrName>
                                        </p:attrNameLst>
                                      </p:cBhvr>
                                      <p:tavLst>
                                        <p:tav tm="0">
                                          <p:val>
                                            <p:strVal val="#ppt_h*0.3"/>
                                          </p:val>
                                        </p:tav>
                                        <p:tav tm="100000">
                                          <p:val>
                                            <p:strVal val="#ppt_h*1.08"/>
                                          </p:val>
                                        </p:tav>
                                      </p:tavLst>
                                    </p:anim>
                                    <p:animEffect transition="in" filter="fade">
                                      <p:cBhvr>
                                        <p:cTn id="114" dur="250"/>
                                        <p:tgtEl>
                                          <p:spTgt spid="126"/>
                                        </p:tgtEl>
                                      </p:cBhvr>
                                    </p:animEffect>
                                    <p:anim calcmode="lin" valueType="num">
                                      <p:cBhvr additive="base">
                                        <p:cTn id="115" dur="160" fill="hold">
                                          <p:stCondLst>
                                            <p:cond delay="500"/>
                                          </p:stCondLst>
                                        </p:cTn>
                                        <p:tgtEl>
                                          <p:spTgt spid="126"/>
                                        </p:tgtEl>
                                        <p:attrNameLst>
                                          <p:attrName>ppt_w</p:attrName>
                                        </p:attrNameLst>
                                      </p:cBhvr>
                                      <p:tavLst>
                                        <p:tav tm="0">
                                          <p:val>
                                            <p:strVal val="#ppt_w*1.08"/>
                                          </p:val>
                                        </p:tav>
                                        <p:tav tm="100000">
                                          <p:val>
                                            <p:strVal val="#ppt_w"/>
                                          </p:val>
                                        </p:tav>
                                      </p:tavLst>
                                    </p:anim>
                                    <p:anim calcmode="lin" valueType="num">
                                      <p:cBhvr additive="base">
                                        <p:cTn id="116" dur="160" fill="hold">
                                          <p:stCondLst>
                                            <p:cond delay="500"/>
                                          </p:stCondLst>
                                        </p:cTn>
                                        <p:tgtEl>
                                          <p:spTgt spid="126"/>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7" grpId="0" animBg="1"/>
      <p:bldP spid="118" grpId="0" animBg="1"/>
      <p:bldP spid="119" grpId="0" animBg="1"/>
      <p:bldP spid="120" grpId="0" animBg="1"/>
      <p:bldP spid="121" grpId="0" animBg="1"/>
      <p:bldP spid="123" grpId="0" animBg="1"/>
      <p:bldP spid="124" grpId="0" animBg="1"/>
      <p:bldP spid="125" grpId="0" animBg="1"/>
      <p:bldP spid="126"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ROUND 2</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Round 2: The Discount Is Bigger Than the Price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Same loop again. A new behavior always starts with a new red test.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TDD</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178</a:t>
            </a:r>
            <a:endParaRPr lang="en-US" sz="850" dirty="0"/>
          </a:p>
        </p:txBody>
      </p:sp>
      <p:sp>
        <p:nvSpPr>
          <p:cNvPr id="101" name="s101"/>
          <p:cNvSpPr/>
          <p:nvPr/>
        </p:nvSpPr>
        <p:spPr>
          <a:xfrm>
            <a:off x="543154" y="1810512"/>
            <a:ext cx="5406847" cy="365760"/>
          </a:xfrm>
          <a:prstGeom prst="roundRect">
            <a:avLst>
              <a:gd name="adj" fmla="val 20000"/>
            </a:avLst>
          </a:prstGeom>
          <a:solidFill>
            <a:srgbClr val="F87171">
              <a:alpha val="16000"/>
            </a:srgbClr>
          </a:solidFill>
          <a:ln w="127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400" b="1" dirty="0">
                <a:solidFill>
                  <a:srgbClr val="F87171"/>
                </a:solidFill>
                <a:latin typeface="Segoe UI"/>
                <a:ea typeface="Segoe UI"/>
                <a:cs typeface="Segoe UI"/>
              </a:rPr>
              <a:t>1 · RED</a:t>
            </a:r>
            <a:endParaRPr lang="en-US" sz="1400" dirty="0"/>
          </a:p>
        </p:txBody>
      </p:sp>
      <p:sp>
        <p:nvSpPr>
          <p:cNvPr id="102" name="s102"/>
          <p:cNvSpPr/>
          <p:nvPr/>
        </p:nvSpPr>
        <p:spPr>
          <a:xfrm>
            <a:off x="543154" y="2267712"/>
            <a:ext cx="5406847" cy="210312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707746" y="241401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04" name="s104"/>
          <p:cNvSpPr/>
          <p:nvPr/>
        </p:nvSpPr>
        <p:spPr>
          <a:xfrm>
            <a:off x="890626" y="241401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05" name="s105"/>
          <p:cNvSpPr/>
          <p:nvPr/>
        </p:nvSpPr>
        <p:spPr>
          <a:xfrm>
            <a:off x="1073506" y="241401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1320394" y="2340864"/>
            <a:ext cx="1389888"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PricingTests.cs</a:t>
            </a:r>
            <a:endParaRPr lang="en-US" sz="950" dirty="0"/>
          </a:p>
        </p:txBody>
      </p:sp>
      <p:cxnSp>
        <p:nvCxnSpPr>
          <p:cNvPr id="107" name="ln107"/>
          <p:cNvCxnSpPr/>
          <p:nvPr/>
        </p:nvCxnSpPr>
        <p:spPr>
          <a:xfrm>
            <a:off x="543154" y="2679192"/>
            <a:ext cx="5406847" cy="0"/>
          </a:xfrm>
          <a:prstGeom prst="line">
            <a:avLst/>
          </a:prstGeom>
          <a:ln w="9525">
            <a:solidFill>
              <a:srgbClr val="1E3A5F"/>
            </a:solidFill>
          </a:ln>
        </p:spPr>
      </p:cxnSp>
      <p:sp>
        <p:nvSpPr>
          <p:cNvPr id="108" name="s108"/>
          <p:cNvSpPr/>
          <p:nvPr/>
        </p:nvSpPr>
        <p:spPr>
          <a:xfrm>
            <a:off x="543154" y="2798064"/>
            <a:ext cx="5406847" cy="18669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25" b="0" dirty="0">
                <a:solidFill>
                  <a:srgbClr val="FBBF24"/>
                </a:solidFill>
                <a:latin typeface="Consolas"/>
                <a:ea typeface="Consolas"/>
                <a:cs typeface="Consolas"/>
              </a:rPr>
              <a:t>[Fact]</a:t>
            </a:r>
            <a:endParaRPr lang="en-US" sz="1225" dirty="0"/>
          </a:p>
        </p:txBody>
      </p:sp>
      <p:sp>
        <p:nvSpPr>
          <p:cNvPr id="109" name="s109"/>
          <p:cNvSpPr/>
          <p:nvPr/>
        </p:nvSpPr>
        <p:spPr>
          <a:xfrm>
            <a:off x="543154" y="2984754"/>
            <a:ext cx="5406847" cy="18669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25" b="0" dirty="0">
                <a:solidFill>
                  <a:srgbClr val="60A5FA"/>
                </a:solidFill>
                <a:latin typeface="Consolas"/>
                <a:ea typeface="Consolas"/>
                <a:cs typeface="Consolas"/>
              </a:rPr>
              <a:t>public</a:t>
            </a:r>
            <a:r>
              <a:rPr lang="en-US" sz="1225" b="0" dirty="0">
                <a:solidFill>
                  <a:srgbClr val="E2E8F0"/>
                </a:solidFill>
                <a:latin typeface="Consolas"/>
                <a:ea typeface="Consolas"/>
                <a:cs typeface="Consolas"/>
              </a:rPr>
              <a:t> </a:t>
            </a:r>
            <a:r>
              <a:rPr lang="en-US" sz="1225" b="0" dirty="0">
                <a:solidFill>
                  <a:srgbClr val="60A5FA"/>
                </a:solidFill>
                <a:latin typeface="Consolas"/>
                <a:ea typeface="Consolas"/>
                <a:cs typeface="Consolas"/>
              </a:rPr>
              <a:t>void</a:t>
            </a:r>
            <a:r>
              <a:rPr lang="en-US" sz="1225" b="0" dirty="0">
                <a:solidFill>
                  <a:srgbClr val="E2E8F0"/>
                </a:solidFill>
                <a:latin typeface="Consolas"/>
                <a:ea typeface="Consolas"/>
                <a:cs typeface="Consolas"/>
              </a:rPr>
              <a:t> </a:t>
            </a:r>
            <a:r>
              <a:rPr lang="en-US" sz="1225" b="0" dirty="0">
                <a:solidFill>
                  <a:srgbClr val="7DD3FC"/>
                </a:solidFill>
                <a:latin typeface="Consolas"/>
                <a:ea typeface="Consolas"/>
                <a:cs typeface="Consolas"/>
              </a:rPr>
              <a:t>CalculateTotal_BigDiscount_ReturnsZero</a:t>
            </a:r>
            <a:r>
              <a:rPr lang="en-US" sz="1225" b="0" dirty="0">
                <a:solidFill>
                  <a:srgbClr val="E2E8F0"/>
                </a:solidFill>
                <a:latin typeface="Consolas"/>
                <a:ea typeface="Consolas"/>
                <a:cs typeface="Consolas"/>
              </a:rPr>
              <a:t>()</a:t>
            </a:r>
            <a:endParaRPr lang="en-US" sz="1225" dirty="0"/>
          </a:p>
        </p:txBody>
      </p:sp>
      <p:sp>
        <p:nvSpPr>
          <p:cNvPr id="110" name="s110"/>
          <p:cNvSpPr/>
          <p:nvPr/>
        </p:nvSpPr>
        <p:spPr>
          <a:xfrm>
            <a:off x="543154" y="3171444"/>
            <a:ext cx="5406847" cy="18669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25" b="0" dirty="0">
                <a:solidFill>
                  <a:srgbClr val="E2E8F0"/>
                </a:solidFill>
                <a:latin typeface="Consolas"/>
                <a:ea typeface="Consolas"/>
                <a:cs typeface="Consolas"/>
              </a:rPr>
              <a:t>{</a:t>
            </a:r>
            <a:endParaRPr lang="en-US" sz="1225" dirty="0"/>
          </a:p>
        </p:txBody>
      </p:sp>
      <p:sp>
        <p:nvSpPr>
          <p:cNvPr id="111" name="s111"/>
          <p:cNvSpPr/>
          <p:nvPr/>
        </p:nvSpPr>
        <p:spPr>
          <a:xfrm>
            <a:off x="543154" y="3358134"/>
            <a:ext cx="5406847" cy="18669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25" b="0" dirty="0">
                <a:solidFill>
                  <a:srgbClr val="E2E8F0"/>
                </a:solidFill>
                <a:latin typeface="Consolas"/>
                <a:ea typeface="Consolas"/>
                <a:cs typeface="Consolas"/>
              </a:rPr>
              <a:t>    </a:t>
            </a:r>
            <a:r>
              <a:rPr lang="en-US" sz="1225" b="0" dirty="0">
                <a:solidFill>
                  <a:srgbClr val="7DD3FC"/>
                </a:solidFill>
                <a:latin typeface="Consolas"/>
                <a:ea typeface="Consolas"/>
                <a:cs typeface="Consolas"/>
              </a:rPr>
              <a:t>Pricing</a:t>
            </a:r>
            <a:r>
              <a:rPr lang="en-US" sz="1225" b="0" dirty="0">
                <a:solidFill>
                  <a:srgbClr val="E2E8F0"/>
                </a:solidFill>
                <a:latin typeface="Consolas"/>
                <a:ea typeface="Consolas"/>
                <a:cs typeface="Consolas"/>
              </a:rPr>
              <a:t>.</a:t>
            </a:r>
            <a:r>
              <a:rPr lang="en-US" sz="1225" b="0" dirty="0">
                <a:solidFill>
                  <a:srgbClr val="7DD3FC"/>
                </a:solidFill>
                <a:latin typeface="Consolas"/>
                <a:ea typeface="Consolas"/>
                <a:cs typeface="Consolas"/>
              </a:rPr>
              <a:t>CalculateTotal</a:t>
            </a:r>
            <a:r>
              <a:rPr lang="en-US" sz="1225" b="0" dirty="0">
                <a:solidFill>
                  <a:srgbClr val="E2E8F0"/>
                </a:solidFill>
                <a:latin typeface="Consolas"/>
                <a:ea typeface="Consolas"/>
                <a:cs typeface="Consolas"/>
              </a:rPr>
              <a:t>(</a:t>
            </a:r>
            <a:r>
              <a:rPr lang="en-US" sz="1225" b="0" dirty="0">
                <a:solidFill>
                  <a:srgbClr val="C4B5FD"/>
                </a:solidFill>
                <a:latin typeface="Consolas"/>
                <a:ea typeface="Consolas"/>
                <a:cs typeface="Consolas"/>
              </a:rPr>
              <a:t>50m</a:t>
            </a:r>
            <a:r>
              <a:rPr lang="en-US" sz="1225" b="0" dirty="0">
                <a:solidFill>
                  <a:srgbClr val="E2E8F0"/>
                </a:solidFill>
                <a:latin typeface="Consolas"/>
                <a:ea typeface="Consolas"/>
                <a:cs typeface="Consolas"/>
              </a:rPr>
              <a:t>, </a:t>
            </a:r>
            <a:r>
              <a:rPr lang="en-US" sz="1225" b="0" dirty="0">
                <a:solidFill>
                  <a:srgbClr val="C4B5FD"/>
                </a:solidFill>
                <a:latin typeface="Consolas"/>
                <a:ea typeface="Consolas"/>
                <a:cs typeface="Consolas"/>
              </a:rPr>
              <a:t>80m</a:t>
            </a:r>
            <a:r>
              <a:rPr lang="en-US" sz="1225" b="0" dirty="0">
                <a:solidFill>
                  <a:srgbClr val="E2E8F0"/>
                </a:solidFill>
                <a:latin typeface="Consolas"/>
                <a:ea typeface="Consolas"/>
                <a:cs typeface="Consolas"/>
              </a:rPr>
              <a:t>).</a:t>
            </a:r>
            <a:r>
              <a:rPr lang="en-US" sz="1225" b="0" dirty="0">
                <a:solidFill>
                  <a:srgbClr val="7DD3FC"/>
                </a:solidFill>
                <a:latin typeface="Consolas"/>
                <a:ea typeface="Consolas"/>
                <a:cs typeface="Consolas"/>
              </a:rPr>
              <a:t>ShouldBe</a:t>
            </a:r>
            <a:r>
              <a:rPr lang="en-US" sz="1225" b="0" dirty="0">
                <a:solidFill>
                  <a:srgbClr val="E2E8F0"/>
                </a:solidFill>
                <a:latin typeface="Consolas"/>
                <a:ea typeface="Consolas"/>
                <a:cs typeface="Consolas"/>
              </a:rPr>
              <a:t>(</a:t>
            </a:r>
            <a:r>
              <a:rPr lang="en-US" sz="1225" b="0" dirty="0">
                <a:solidFill>
                  <a:srgbClr val="C4B5FD"/>
                </a:solidFill>
                <a:latin typeface="Consolas"/>
                <a:ea typeface="Consolas"/>
                <a:cs typeface="Consolas"/>
              </a:rPr>
              <a:t>0m</a:t>
            </a:r>
            <a:r>
              <a:rPr lang="en-US" sz="1225" b="0" dirty="0">
                <a:solidFill>
                  <a:srgbClr val="E2E8F0"/>
                </a:solidFill>
                <a:latin typeface="Consolas"/>
                <a:ea typeface="Consolas"/>
                <a:cs typeface="Consolas"/>
              </a:rPr>
              <a:t>);</a:t>
            </a:r>
            <a:endParaRPr lang="en-US" sz="1225" dirty="0"/>
          </a:p>
        </p:txBody>
      </p:sp>
      <p:sp>
        <p:nvSpPr>
          <p:cNvPr id="112" name="s112"/>
          <p:cNvSpPr/>
          <p:nvPr/>
        </p:nvSpPr>
        <p:spPr>
          <a:xfrm>
            <a:off x="543154" y="3544824"/>
            <a:ext cx="5406847" cy="18669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25" b="0" dirty="0">
                <a:solidFill>
                  <a:srgbClr val="E2E8F0"/>
                </a:solidFill>
                <a:latin typeface="Consolas"/>
                <a:ea typeface="Consolas"/>
                <a:cs typeface="Consolas"/>
              </a:rPr>
              <a:t>}</a:t>
            </a:r>
            <a:endParaRPr lang="en-US" sz="1225" dirty="0"/>
          </a:p>
        </p:txBody>
      </p:sp>
      <p:sp>
        <p:nvSpPr>
          <p:cNvPr id="113" name="s113"/>
          <p:cNvSpPr/>
          <p:nvPr/>
        </p:nvSpPr>
        <p:spPr>
          <a:xfrm>
            <a:off x="543154" y="3731514"/>
            <a:ext cx="5406847" cy="18669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225" b="0" dirty="0">
                <a:solidFill>
                  <a:srgbClr val="6FAE7A"/>
                </a:solidFill>
                <a:latin typeface="Consolas"/>
                <a:ea typeface="Consolas"/>
                <a:cs typeface="Consolas"/>
              </a:rPr>
              <a:t>// run: FAILS, it returns -30</a:t>
            </a:r>
            <a:endParaRPr lang="en-US" sz="1225" dirty="0"/>
          </a:p>
        </p:txBody>
      </p:sp>
      <p:sp>
        <p:nvSpPr>
          <p:cNvPr id="114" name="s114"/>
          <p:cNvSpPr/>
          <p:nvPr/>
        </p:nvSpPr>
        <p:spPr>
          <a:xfrm>
            <a:off x="6224321" y="1810512"/>
            <a:ext cx="5406847" cy="365760"/>
          </a:xfrm>
          <a:prstGeom prst="roundRect">
            <a:avLst>
              <a:gd name="adj" fmla="val 20000"/>
            </a:avLst>
          </a:prstGeom>
          <a:solidFill>
            <a:srgbClr val="34D399">
              <a:alpha val="16000"/>
            </a:srgbClr>
          </a:solidFill>
          <a:ln w="127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400" b="1" dirty="0">
                <a:solidFill>
                  <a:srgbClr val="34D399"/>
                </a:solidFill>
                <a:latin typeface="Segoe UI"/>
                <a:ea typeface="Segoe UI"/>
                <a:cs typeface="Segoe UI"/>
              </a:rPr>
              <a:t>2 · GREEN</a:t>
            </a:r>
            <a:endParaRPr lang="en-US" sz="1400" dirty="0"/>
          </a:p>
        </p:txBody>
      </p:sp>
      <p:sp>
        <p:nvSpPr>
          <p:cNvPr id="115" name="s115"/>
          <p:cNvSpPr/>
          <p:nvPr/>
        </p:nvSpPr>
        <p:spPr>
          <a:xfrm>
            <a:off x="6224321" y="2267712"/>
            <a:ext cx="5406847" cy="2103120"/>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16" name="s116"/>
          <p:cNvSpPr/>
          <p:nvPr/>
        </p:nvSpPr>
        <p:spPr>
          <a:xfrm>
            <a:off x="6388913" y="241401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17" name="s117"/>
          <p:cNvSpPr/>
          <p:nvPr/>
        </p:nvSpPr>
        <p:spPr>
          <a:xfrm>
            <a:off x="6571793" y="241401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18" name="s118"/>
          <p:cNvSpPr/>
          <p:nvPr/>
        </p:nvSpPr>
        <p:spPr>
          <a:xfrm>
            <a:off x="6754673" y="241401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19" name="s119"/>
          <p:cNvSpPr/>
          <p:nvPr/>
        </p:nvSpPr>
        <p:spPr>
          <a:xfrm>
            <a:off x="7001561" y="2340864"/>
            <a:ext cx="103327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Pricing.cs</a:t>
            </a:r>
            <a:endParaRPr lang="en-US" sz="950" dirty="0"/>
          </a:p>
        </p:txBody>
      </p:sp>
      <p:cxnSp>
        <p:nvCxnSpPr>
          <p:cNvPr id="120" name="ln120"/>
          <p:cNvCxnSpPr/>
          <p:nvPr/>
        </p:nvCxnSpPr>
        <p:spPr>
          <a:xfrm>
            <a:off x="6224321" y="2679192"/>
            <a:ext cx="5406847" cy="0"/>
          </a:xfrm>
          <a:prstGeom prst="line">
            <a:avLst/>
          </a:prstGeom>
          <a:ln w="9525">
            <a:solidFill>
              <a:srgbClr val="1E3A5F"/>
            </a:solidFill>
          </a:ln>
        </p:spPr>
      </p:cxnSp>
      <p:sp>
        <p:nvSpPr>
          <p:cNvPr id="121" name="s121"/>
          <p:cNvSpPr/>
          <p:nvPr/>
        </p:nvSpPr>
        <p:spPr>
          <a:xfrm>
            <a:off x="6224321" y="2798064"/>
            <a:ext cx="5406847" cy="1981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300" b="0" dirty="0">
                <a:solidFill>
                  <a:srgbClr val="60A5FA"/>
                </a:solidFill>
                <a:latin typeface="Consolas"/>
                <a:ea typeface="Consolas"/>
                <a:cs typeface="Consolas"/>
              </a:rPr>
              <a:t>public</a:t>
            </a:r>
            <a:r>
              <a:rPr lang="en-US" sz="1300" b="0" dirty="0">
                <a:solidFill>
                  <a:srgbClr val="E2E8F0"/>
                </a:solidFill>
                <a:latin typeface="Consolas"/>
                <a:ea typeface="Consolas"/>
                <a:cs typeface="Consolas"/>
              </a:rPr>
              <a:t> </a:t>
            </a:r>
            <a:r>
              <a:rPr lang="en-US" sz="1300" b="0" dirty="0">
                <a:solidFill>
                  <a:srgbClr val="60A5FA"/>
                </a:solidFill>
                <a:latin typeface="Consolas"/>
                <a:ea typeface="Consolas"/>
                <a:cs typeface="Consolas"/>
              </a:rPr>
              <a:t>static</a:t>
            </a:r>
            <a:r>
              <a:rPr lang="en-US" sz="1300" b="0" dirty="0">
                <a:solidFill>
                  <a:srgbClr val="E2E8F0"/>
                </a:solidFill>
                <a:latin typeface="Consolas"/>
                <a:ea typeface="Consolas"/>
                <a:cs typeface="Consolas"/>
              </a:rPr>
              <a:t> </a:t>
            </a:r>
            <a:r>
              <a:rPr lang="en-US" sz="1300" b="0" dirty="0">
                <a:solidFill>
                  <a:srgbClr val="60A5FA"/>
                </a:solidFill>
                <a:latin typeface="Consolas"/>
                <a:ea typeface="Consolas"/>
                <a:cs typeface="Consolas"/>
              </a:rPr>
              <a:t>decimal</a:t>
            </a:r>
            <a:r>
              <a:rPr lang="en-US" sz="1300" b="0" dirty="0">
                <a:solidFill>
                  <a:srgbClr val="E2E8F0"/>
                </a:solidFill>
                <a:latin typeface="Consolas"/>
                <a:ea typeface="Consolas"/>
                <a:cs typeface="Consolas"/>
              </a:rPr>
              <a:t> </a:t>
            </a:r>
            <a:r>
              <a:rPr lang="en-US" sz="1300" b="0" dirty="0">
                <a:solidFill>
                  <a:srgbClr val="7DD3FC"/>
                </a:solidFill>
                <a:latin typeface="Consolas"/>
                <a:ea typeface="Consolas"/>
                <a:cs typeface="Consolas"/>
              </a:rPr>
              <a:t>CalculateTotal</a:t>
            </a:r>
            <a:r>
              <a:rPr lang="en-US" sz="1300" b="0" dirty="0">
                <a:solidFill>
                  <a:srgbClr val="E2E8F0"/>
                </a:solidFill>
                <a:latin typeface="Consolas"/>
                <a:ea typeface="Consolas"/>
                <a:cs typeface="Consolas"/>
              </a:rPr>
              <a:t>(</a:t>
            </a:r>
            <a:endParaRPr lang="en-US" sz="1300" dirty="0"/>
          </a:p>
        </p:txBody>
      </p:sp>
      <p:sp>
        <p:nvSpPr>
          <p:cNvPr id="122" name="s122"/>
          <p:cNvSpPr/>
          <p:nvPr/>
        </p:nvSpPr>
        <p:spPr>
          <a:xfrm>
            <a:off x="6224321" y="2996184"/>
            <a:ext cx="5406847" cy="1981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300" b="0" dirty="0">
                <a:solidFill>
                  <a:srgbClr val="E2E8F0"/>
                </a:solidFill>
                <a:latin typeface="Consolas"/>
                <a:ea typeface="Consolas"/>
                <a:cs typeface="Consolas"/>
              </a:rPr>
              <a:t>    </a:t>
            </a:r>
            <a:r>
              <a:rPr lang="en-US" sz="1300" b="0" dirty="0">
                <a:solidFill>
                  <a:srgbClr val="60A5FA"/>
                </a:solidFill>
                <a:latin typeface="Consolas"/>
                <a:ea typeface="Consolas"/>
                <a:cs typeface="Consolas"/>
              </a:rPr>
              <a:t>decimal</a:t>
            </a:r>
            <a:r>
              <a:rPr lang="en-US" sz="1300" b="0" dirty="0">
                <a:solidFill>
                  <a:srgbClr val="E2E8F0"/>
                </a:solidFill>
                <a:latin typeface="Consolas"/>
                <a:ea typeface="Consolas"/>
                <a:cs typeface="Consolas"/>
              </a:rPr>
              <a:t> price, </a:t>
            </a:r>
            <a:r>
              <a:rPr lang="en-US" sz="1300" b="0" dirty="0">
                <a:solidFill>
                  <a:srgbClr val="60A5FA"/>
                </a:solidFill>
                <a:latin typeface="Consolas"/>
                <a:ea typeface="Consolas"/>
                <a:cs typeface="Consolas"/>
              </a:rPr>
              <a:t>decimal</a:t>
            </a:r>
            <a:r>
              <a:rPr lang="en-US" sz="1300" b="0" dirty="0">
                <a:solidFill>
                  <a:srgbClr val="E2E8F0"/>
                </a:solidFill>
                <a:latin typeface="Consolas"/>
                <a:ea typeface="Consolas"/>
                <a:cs typeface="Consolas"/>
              </a:rPr>
              <a:t> discount)</a:t>
            </a:r>
            <a:endParaRPr lang="en-US" sz="1300" dirty="0"/>
          </a:p>
        </p:txBody>
      </p:sp>
      <p:sp>
        <p:nvSpPr>
          <p:cNvPr id="123" name="s123"/>
          <p:cNvSpPr/>
          <p:nvPr/>
        </p:nvSpPr>
        <p:spPr>
          <a:xfrm>
            <a:off x="6224321" y="3194304"/>
            <a:ext cx="5406847" cy="1981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300" b="0" dirty="0">
                <a:solidFill>
                  <a:srgbClr val="E2E8F0"/>
                </a:solidFill>
                <a:latin typeface="Consolas"/>
                <a:ea typeface="Consolas"/>
                <a:cs typeface="Consolas"/>
              </a:rPr>
              <a:t>{</a:t>
            </a:r>
            <a:endParaRPr lang="en-US" sz="1300" dirty="0"/>
          </a:p>
        </p:txBody>
      </p:sp>
      <p:sp>
        <p:nvSpPr>
          <p:cNvPr id="124" name="s124"/>
          <p:cNvSpPr/>
          <p:nvPr/>
        </p:nvSpPr>
        <p:spPr>
          <a:xfrm>
            <a:off x="6224321" y="3392424"/>
            <a:ext cx="5406847" cy="1981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300" b="0" dirty="0">
                <a:solidFill>
                  <a:srgbClr val="E2E8F0"/>
                </a:solidFill>
                <a:latin typeface="Consolas"/>
                <a:ea typeface="Consolas"/>
                <a:cs typeface="Consolas"/>
              </a:rPr>
              <a:t>    </a:t>
            </a:r>
            <a:r>
              <a:rPr lang="en-US" sz="1300" b="0" dirty="0">
                <a:solidFill>
                  <a:srgbClr val="60A5FA"/>
                </a:solidFill>
                <a:latin typeface="Consolas"/>
                <a:ea typeface="Consolas"/>
                <a:cs typeface="Consolas"/>
              </a:rPr>
              <a:t>var</a:t>
            </a:r>
            <a:r>
              <a:rPr lang="en-US" sz="1300" b="0" dirty="0">
                <a:solidFill>
                  <a:srgbClr val="E2E8F0"/>
                </a:solidFill>
                <a:latin typeface="Consolas"/>
                <a:ea typeface="Consolas"/>
                <a:cs typeface="Consolas"/>
              </a:rPr>
              <a:t> total = price - discount;</a:t>
            </a:r>
            <a:endParaRPr lang="en-US" sz="1300" dirty="0"/>
          </a:p>
        </p:txBody>
      </p:sp>
      <p:sp>
        <p:nvSpPr>
          <p:cNvPr id="125" name="s125"/>
          <p:cNvSpPr/>
          <p:nvPr/>
        </p:nvSpPr>
        <p:spPr>
          <a:xfrm>
            <a:off x="6224321" y="3590544"/>
            <a:ext cx="5406847" cy="1981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300" b="0" dirty="0">
                <a:solidFill>
                  <a:srgbClr val="E2E8F0"/>
                </a:solidFill>
                <a:latin typeface="Consolas"/>
                <a:ea typeface="Consolas"/>
                <a:cs typeface="Consolas"/>
              </a:rPr>
              <a:t>    </a:t>
            </a:r>
            <a:r>
              <a:rPr lang="en-US" sz="1300" b="0" dirty="0">
                <a:solidFill>
                  <a:srgbClr val="60A5FA"/>
                </a:solidFill>
                <a:latin typeface="Consolas"/>
                <a:ea typeface="Consolas"/>
                <a:cs typeface="Consolas"/>
              </a:rPr>
              <a:t>if</a:t>
            </a:r>
            <a:r>
              <a:rPr lang="en-US" sz="1300" b="0" dirty="0">
                <a:solidFill>
                  <a:srgbClr val="E2E8F0"/>
                </a:solidFill>
                <a:latin typeface="Consolas"/>
                <a:ea typeface="Consolas"/>
                <a:cs typeface="Consolas"/>
              </a:rPr>
              <a:t> (total &lt; </a:t>
            </a:r>
            <a:r>
              <a:rPr lang="en-US" sz="1300" b="0" dirty="0">
                <a:solidFill>
                  <a:srgbClr val="C4B5FD"/>
                </a:solidFill>
                <a:latin typeface="Consolas"/>
                <a:ea typeface="Consolas"/>
                <a:cs typeface="Consolas"/>
              </a:rPr>
              <a:t>0</a:t>
            </a:r>
            <a:r>
              <a:rPr lang="en-US" sz="1300" b="0" dirty="0">
                <a:solidFill>
                  <a:srgbClr val="E2E8F0"/>
                </a:solidFill>
                <a:latin typeface="Consolas"/>
                <a:ea typeface="Consolas"/>
                <a:cs typeface="Consolas"/>
              </a:rPr>
              <a:t>) </a:t>
            </a:r>
            <a:r>
              <a:rPr lang="en-US" sz="1300" b="0" dirty="0">
                <a:solidFill>
                  <a:srgbClr val="60A5FA"/>
                </a:solidFill>
                <a:latin typeface="Consolas"/>
                <a:ea typeface="Consolas"/>
                <a:cs typeface="Consolas"/>
              </a:rPr>
              <a:t>return</a:t>
            </a:r>
            <a:r>
              <a:rPr lang="en-US" sz="1300" b="0" dirty="0">
                <a:solidFill>
                  <a:srgbClr val="E2E8F0"/>
                </a:solidFill>
                <a:latin typeface="Consolas"/>
                <a:ea typeface="Consolas"/>
                <a:cs typeface="Consolas"/>
              </a:rPr>
              <a:t> </a:t>
            </a:r>
            <a:r>
              <a:rPr lang="en-US" sz="1300" b="0" dirty="0">
                <a:solidFill>
                  <a:srgbClr val="C4B5FD"/>
                </a:solidFill>
                <a:latin typeface="Consolas"/>
                <a:ea typeface="Consolas"/>
                <a:cs typeface="Consolas"/>
              </a:rPr>
              <a:t>0</a:t>
            </a:r>
            <a:r>
              <a:rPr lang="en-US" sz="1300" b="0" dirty="0">
                <a:solidFill>
                  <a:srgbClr val="E2E8F0"/>
                </a:solidFill>
                <a:latin typeface="Consolas"/>
                <a:ea typeface="Consolas"/>
                <a:cs typeface="Consolas"/>
              </a:rPr>
              <a:t>;      </a:t>
            </a:r>
            <a:r>
              <a:rPr lang="en-US" sz="1300" b="0" dirty="0">
                <a:solidFill>
                  <a:srgbClr val="6FAE7A"/>
                </a:solidFill>
                <a:latin typeface="Consolas"/>
                <a:ea typeface="Consolas"/>
                <a:cs typeface="Consolas"/>
              </a:rPr>
              <a:t>// least change</a:t>
            </a:r>
            <a:endParaRPr lang="en-US" sz="1300" dirty="0"/>
          </a:p>
        </p:txBody>
      </p:sp>
      <p:sp>
        <p:nvSpPr>
          <p:cNvPr id="126" name="s126"/>
          <p:cNvSpPr/>
          <p:nvPr/>
        </p:nvSpPr>
        <p:spPr>
          <a:xfrm>
            <a:off x="6224321" y="3788664"/>
            <a:ext cx="5406847" cy="1981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300" b="0" dirty="0">
                <a:solidFill>
                  <a:srgbClr val="E2E8F0"/>
                </a:solidFill>
                <a:latin typeface="Consolas"/>
                <a:ea typeface="Consolas"/>
                <a:cs typeface="Consolas"/>
              </a:rPr>
              <a:t>    </a:t>
            </a:r>
            <a:r>
              <a:rPr lang="en-US" sz="1300" b="0" dirty="0">
                <a:solidFill>
                  <a:srgbClr val="60A5FA"/>
                </a:solidFill>
                <a:latin typeface="Consolas"/>
                <a:ea typeface="Consolas"/>
                <a:cs typeface="Consolas"/>
              </a:rPr>
              <a:t>return</a:t>
            </a:r>
            <a:r>
              <a:rPr lang="en-US" sz="1300" b="0" dirty="0">
                <a:solidFill>
                  <a:srgbClr val="E2E8F0"/>
                </a:solidFill>
                <a:latin typeface="Consolas"/>
                <a:ea typeface="Consolas"/>
                <a:cs typeface="Consolas"/>
              </a:rPr>
              <a:t> total;</a:t>
            </a:r>
            <a:endParaRPr lang="en-US" sz="1300" dirty="0"/>
          </a:p>
        </p:txBody>
      </p:sp>
      <p:sp>
        <p:nvSpPr>
          <p:cNvPr id="127" name="s127"/>
          <p:cNvSpPr/>
          <p:nvPr/>
        </p:nvSpPr>
        <p:spPr>
          <a:xfrm>
            <a:off x="6224321" y="3986784"/>
            <a:ext cx="5406847" cy="19812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300" b="0" dirty="0">
                <a:solidFill>
                  <a:srgbClr val="E2E8F0"/>
                </a:solidFill>
                <a:latin typeface="Consolas"/>
                <a:ea typeface="Consolas"/>
                <a:cs typeface="Consolas"/>
              </a:rPr>
              <a:t>}</a:t>
            </a:r>
            <a:endParaRPr lang="en-US" sz="1300" dirty="0"/>
          </a:p>
        </p:txBody>
      </p:sp>
      <p:sp>
        <p:nvSpPr>
          <p:cNvPr id="128" name="s128"/>
          <p:cNvSpPr/>
          <p:nvPr/>
        </p:nvSpPr>
        <p:spPr>
          <a:xfrm>
            <a:off x="543154" y="4507992"/>
            <a:ext cx="11088014" cy="365760"/>
          </a:xfrm>
          <a:prstGeom prst="roundRect">
            <a:avLst>
              <a:gd name="adj" fmla="val 20000"/>
            </a:avLst>
          </a:prstGeom>
          <a:solidFill>
            <a:srgbClr val="60A5FA">
              <a:alpha val="16000"/>
            </a:srgbClr>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400" b="1" dirty="0">
                <a:solidFill>
                  <a:srgbClr val="60A5FA"/>
                </a:solidFill>
                <a:latin typeface="Segoe UI"/>
                <a:ea typeface="Segoe UI"/>
                <a:cs typeface="Segoe UI"/>
              </a:rPr>
              <a:t>3 · REFACTOR</a:t>
            </a:r>
            <a:endParaRPr lang="en-US" sz="1400" dirty="0"/>
          </a:p>
        </p:txBody>
      </p:sp>
      <p:sp>
        <p:nvSpPr>
          <p:cNvPr id="129" name="s129"/>
          <p:cNvSpPr/>
          <p:nvPr/>
        </p:nvSpPr>
        <p:spPr>
          <a:xfrm>
            <a:off x="543154" y="4965192"/>
            <a:ext cx="11088014" cy="1289304"/>
          </a:xfrm>
          <a:prstGeom prst="roundRect">
            <a:avLst>
              <a:gd name="adj" fmla="val 3000"/>
            </a:avLst>
          </a:prstGeom>
          <a:solidFill>
            <a:srgbClr val="060D18"/>
          </a:solidFill>
          <a:ln w="12700">
            <a:solidFill>
              <a:srgbClr val="1E3A5F"/>
            </a:solidFill>
            <a:prstDash val="solid"/>
          </a:ln>
        </p:spPr>
        <p:txBody>
          <a:bodyPr wrap="square" lIns="164592" tIns="109728" rIns="137160" bIns="91440" rtlCol="0" anchor="t">
            <a:noAutofit/>
          </a:bodyPr>
          <a:lstStyle/>
          <a:p>
            <a:endParaRPr lang="en-US"/>
          </a:p>
        </p:txBody>
      </p:sp>
      <p:sp>
        <p:nvSpPr>
          <p:cNvPr id="130" name="s130"/>
          <p:cNvSpPr/>
          <p:nvPr/>
        </p:nvSpPr>
        <p:spPr>
          <a:xfrm>
            <a:off x="707746" y="5111496"/>
            <a:ext cx="109728" cy="109728"/>
          </a:xfrm>
          <a:prstGeom prst="ellipse">
            <a:avLst/>
          </a:prstGeom>
          <a:solidFill>
            <a:srgbClr val="F87171"/>
          </a:solidFill>
          <a:ln>
            <a:noFill/>
          </a:ln>
        </p:spPr>
        <p:txBody>
          <a:bodyPr wrap="square" lIns="164592" tIns="109728" rIns="137160" bIns="91440" rtlCol="0" anchor="t">
            <a:noAutofit/>
          </a:bodyPr>
          <a:lstStyle/>
          <a:p>
            <a:endParaRPr lang="en-US"/>
          </a:p>
        </p:txBody>
      </p:sp>
      <p:sp>
        <p:nvSpPr>
          <p:cNvPr id="131" name="s131"/>
          <p:cNvSpPr/>
          <p:nvPr/>
        </p:nvSpPr>
        <p:spPr>
          <a:xfrm>
            <a:off x="890626" y="5111496"/>
            <a:ext cx="109728" cy="109728"/>
          </a:xfrm>
          <a:prstGeom prst="ellipse">
            <a:avLst/>
          </a:prstGeom>
          <a:solidFill>
            <a:srgbClr val="FBBF24"/>
          </a:solidFill>
          <a:ln>
            <a:noFill/>
          </a:ln>
        </p:spPr>
        <p:txBody>
          <a:bodyPr wrap="square" lIns="164592" tIns="109728" rIns="137160" bIns="91440" rtlCol="0" anchor="t">
            <a:noAutofit/>
          </a:bodyPr>
          <a:lstStyle/>
          <a:p>
            <a:endParaRPr lang="en-US"/>
          </a:p>
        </p:txBody>
      </p:sp>
      <p:sp>
        <p:nvSpPr>
          <p:cNvPr id="132" name="s132"/>
          <p:cNvSpPr/>
          <p:nvPr/>
        </p:nvSpPr>
        <p:spPr>
          <a:xfrm>
            <a:off x="1073506" y="5111496"/>
            <a:ext cx="109728" cy="109728"/>
          </a:xfrm>
          <a:prstGeom prst="ellipse">
            <a:avLst/>
          </a:prstGeom>
          <a:solidFill>
            <a:srgbClr val="34D399"/>
          </a:solidFill>
          <a:ln>
            <a:noFill/>
          </a:ln>
        </p:spPr>
        <p:txBody>
          <a:bodyPr wrap="square" lIns="164592" tIns="109728" rIns="137160" bIns="91440" rtlCol="0" anchor="t">
            <a:noAutofit/>
          </a:bodyPr>
          <a:lstStyle/>
          <a:p>
            <a:endParaRPr lang="en-US"/>
          </a:p>
        </p:txBody>
      </p:sp>
      <p:sp>
        <p:nvSpPr>
          <p:cNvPr id="133" name="s133"/>
          <p:cNvSpPr/>
          <p:nvPr/>
        </p:nvSpPr>
        <p:spPr>
          <a:xfrm>
            <a:off x="1320394" y="5038344"/>
            <a:ext cx="1033272" cy="274320"/>
          </a:xfrm>
          <a:prstGeom prst="roundRect">
            <a:avLst>
              <a:gd name="adj" fmla="val 15000"/>
            </a:avLst>
          </a:prstGeom>
          <a:solidFill>
            <a:srgbClr val="111B2E"/>
          </a:solidFill>
          <a:ln>
            <a:noFill/>
          </a:ln>
        </p:spPr>
        <p:txBody>
          <a:bodyPr wrap="square" lIns="109728" tIns="0" rIns="45720" bIns="0" rtlCol="0" anchor="ctr">
            <a:noAutofit/>
          </a:bodyPr>
          <a:lstStyle/>
          <a:p>
            <a:pPr marL="0" indent="0" algn="l">
              <a:spcBef>
                <a:spcPts val="0"/>
              </a:spcBef>
              <a:spcAft>
                <a:spcPts val="0"/>
              </a:spcAft>
              <a:buNone/>
            </a:pPr>
            <a:r>
              <a:rPr lang="en-US" sz="950" b="0" dirty="0">
                <a:solidFill>
                  <a:srgbClr val="60A5FA"/>
                </a:solidFill>
                <a:latin typeface="Consolas"/>
                <a:ea typeface="Consolas"/>
                <a:cs typeface="Consolas"/>
              </a:rPr>
              <a:t>Pricing.cs</a:t>
            </a:r>
            <a:endParaRPr lang="en-US" sz="950" dirty="0"/>
          </a:p>
        </p:txBody>
      </p:sp>
      <p:cxnSp>
        <p:nvCxnSpPr>
          <p:cNvPr id="134" name="ln134"/>
          <p:cNvCxnSpPr/>
          <p:nvPr/>
        </p:nvCxnSpPr>
        <p:spPr>
          <a:xfrm>
            <a:off x="543154" y="5376672"/>
            <a:ext cx="11088014" cy="0"/>
          </a:xfrm>
          <a:prstGeom prst="line">
            <a:avLst/>
          </a:prstGeom>
          <a:ln w="9525">
            <a:solidFill>
              <a:srgbClr val="1E3A5F"/>
            </a:solidFill>
          </a:ln>
        </p:spPr>
      </p:cxnSp>
      <p:sp>
        <p:nvSpPr>
          <p:cNvPr id="135" name="s135"/>
          <p:cNvSpPr/>
          <p:nvPr/>
        </p:nvSpPr>
        <p:spPr>
          <a:xfrm>
            <a:off x="543154" y="5495544"/>
            <a:ext cx="11088014" cy="2057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350" b="0" dirty="0">
                <a:solidFill>
                  <a:srgbClr val="60A5FA"/>
                </a:solidFill>
                <a:latin typeface="Consolas"/>
                <a:ea typeface="Consolas"/>
                <a:cs typeface="Consolas"/>
              </a:rPr>
              <a:t>public</a:t>
            </a:r>
            <a:r>
              <a:rPr lang="en-US" sz="1350" b="0" dirty="0">
                <a:solidFill>
                  <a:srgbClr val="E2E8F0"/>
                </a:solidFill>
                <a:latin typeface="Consolas"/>
                <a:ea typeface="Consolas"/>
                <a:cs typeface="Consolas"/>
              </a:rPr>
              <a:t> </a:t>
            </a:r>
            <a:r>
              <a:rPr lang="en-US" sz="1350" b="0" dirty="0">
                <a:solidFill>
                  <a:srgbClr val="60A5FA"/>
                </a:solidFill>
                <a:latin typeface="Consolas"/>
                <a:ea typeface="Consolas"/>
                <a:cs typeface="Consolas"/>
              </a:rPr>
              <a:t>static</a:t>
            </a:r>
            <a:r>
              <a:rPr lang="en-US" sz="1350" b="0" dirty="0">
                <a:solidFill>
                  <a:srgbClr val="E2E8F0"/>
                </a:solidFill>
                <a:latin typeface="Consolas"/>
                <a:ea typeface="Consolas"/>
                <a:cs typeface="Consolas"/>
              </a:rPr>
              <a:t> </a:t>
            </a:r>
            <a:r>
              <a:rPr lang="en-US" sz="1350" b="0" dirty="0">
                <a:solidFill>
                  <a:srgbClr val="60A5FA"/>
                </a:solidFill>
                <a:latin typeface="Consolas"/>
                <a:ea typeface="Consolas"/>
                <a:cs typeface="Consolas"/>
              </a:rPr>
              <a:t>decimal</a:t>
            </a:r>
            <a:r>
              <a:rPr lang="en-US" sz="1350" b="0" dirty="0">
                <a:solidFill>
                  <a:srgbClr val="E2E8F0"/>
                </a:solidFill>
                <a:latin typeface="Consolas"/>
                <a:ea typeface="Consolas"/>
                <a:cs typeface="Consolas"/>
              </a:rPr>
              <a:t> </a:t>
            </a:r>
            <a:r>
              <a:rPr lang="en-US" sz="1350" b="0" dirty="0">
                <a:solidFill>
                  <a:srgbClr val="7DD3FC"/>
                </a:solidFill>
                <a:latin typeface="Consolas"/>
                <a:ea typeface="Consolas"/>
                <a:cs typeface="Consolas"/>
              </a:rPr>
              <a:t>CalculateTotal</a:t>
            </a:r>
            <a:r>
              <a:rPr lang="en-US" sz="1350" b="0" dirty="0">
                <a:solidFill>
                  <a:srgbClr val="E2E8F0"/>
                </a:solidFill>
                <a:latin typeface="Consolas"/>
                <a:ea typeface="Consolas"/>
                <a:cs typeface="Consolas"/>
              </a:rPr>
              <a:t>(</a:t>
            </a:r>
            <a:r>
              <a:rPr lang="en-US" sz="1350" b="0" dirty="0">
                <a:solidFill>
                  <a:srgbClr val="60A5FA"/>
                </a:solidFill>
                <a:latin typeface="Consolas"/>
                <a:ea typeface="Consolas"/>
                <a:cs typeface="Consolas"/>
              </a:rPr>
              <a:t>decimal</a:t>
            </a:r>
            <a:r>
              <a:rPr lang="en-US" sz="1350" b="0" dirty="0">
                <a:solidFill>
                  <a:srgbClr val="E2E8F0"/>
                </a:solidFill>
                <a:latin typeface="Consolas"/>
                <a:ea typeface="Consolas"/>
                <a:cs typeface="Consolas"/>
              </a:rPr>
              <a:t> price, </a:t>
            </a:r>
            <a:r>
              <a:rPr lang="en-US" sz="1350" b="0" dirty="0">
                <a:solidFill>
                  <a:srgbClr val="60A5FA"/>
                </a:solidFill>
                <a:latin typeface="Consolas"/>
                <a:ea typeface="Consolas"/>
                <a:cs typeface="Consolas"/>
              </a:rPr>
              <a:t>decimal</a:t>
            </a:r>
            <a:r>
              <a:rPr lang="en-US" sz="1350" b="0" dirty="0">
                <a:solidFill>
                  <a:srgbClr val="E2E8F0"/>
                </a:solidFill>
                <a:latin typeface="Consolas"/>
                <a:ea typeface="Consolas"/>
                <a:cs typeface="Consolas"/>
              </a:rPr>
              <a:t> discount)</a:t>
            </a:r>
            <a:endParaRPr lang="en-US" sz="1350" dirty="0"/>
          </a:p>
        </p:txBody>
      </p:sp>
      <p:sp>
        <p:nvSpPr>
          <p:cNvPr id="136" name="s136"/>
          <p:cNvSpPr/>
          <p:nvPr/>
        </p:nvSpPr>
        <p:spPr>
          <a:xfrm>
            <a:off x="543154" y="5701284"/>
            <a:ext cx="11088014" cy="205740"/>
          </a:xfrm>
          <a:prstGeom prst="rect">
            <a:avLst/>
          </a:prstGeom>
          <a:noFill/>
          <a:ln>
            <a:noFill/>
          </a:ln>
        </p:spPr>
        <p:txBody>
          <a:bodyPr wrap="none" lIns="201168" tIns="0" rIns="91440" bIns="0" rtlCol="0" anchor="ctr">
            <a:noAutofit/>
          </a:bodyPr>
          <a:lstStyle/>
          <a:p>
            <a:pPr marL="0" indent="0" algn="l">
              <a:spcBef>
                <a:spcPts val="0"/>
              </a:spcBef>
              <a:spcAft>
                <a:spcPts val="0"/>
              </a:spcAft>
              <a:buNone/>
            </a:pPr>
            <a:r>
              <a:rPr lang="en-US" sz="1350" b="0" dirty="0">
                <a:solidFill>
                  <a:srgbClr val="E2E8F0"/>
                </a:solidFill>
                <a:latin typeface="Consolas"/>
                <a:ea typeface="Consolas"/>
                <a:cs typeface="Consolas"/>
              </a:rPr>
              <a:t>    =&gt; </a:t>
            </a:r>
            <a:r>
              <a:rPr lang="en-US" sz="1350" b="0" dirty="0">
                <a:solidFill>
                  <a:srgbClr val="7DD3FC"/>
                </a:solidFill>
                <a:latin typeface="Consolas"/>
                <a:ea typeface="Consolas"/>
                <a:cs typeface="Consolas"/>
              </a:rPr>
              <a:t>Math</a:t>
            </a:r>
            <a:r>
              <a:rPr lang="en-US" sz="1350" b="0" dirty="0">
                <a:solidFill>
                  <a:srgbClr val="E2E8F0"/>
                </a:solidFill>
                <a:latin typeface="Consolas"/>
                <a:ea typeface="Consolas"/>
                <a:cs typeface="Consolas"/>
              </a:rPr>
              <a:t>.</a:t>
            </a:r>
            <a:r>
              <a:rPr lang="en-US" sz="1350" b="0" dirty="0">
                <a:solidFill>
                  <a:srgbClr val="7DD3FC"/>
                </a:solidFill>
                <a:latin typeface="Consolas"/>
                <a:ea typeface="Consolas"/>
                <a:cs typeface="Consolas"/>
              </a:rPr>
              <a:t>Max</a:t>
            </a:r>
            <a:r>
              <a:rPr lang="en-US" sz="1350" b="0" dirty="0">
                <a:solidFill>
                  <a:srgbClr val="E2E8F0"/>
                </a:solidFill>
                <a:latin typeface="Consolas"/>
                <a:ea typeface="Consolas"/>
                <a:cs typeface="Consolas"/>
              </a:rPr>
              <a:t>(</a:t>
            </a:r>
            <a:r>
              <a:rPr lang="en-US" sz="1350" b="0" dirty="0">
                <a:solidFill>
                  <a:srgbClr val="C4B5FD"/>
                </a:solidFill>
                <a:latin typeface="Consolas"/>
                <a:ea typeface="Consolas"/>
                <a:cs typeface="Consolas"/>
              </a:rPr>
              <a:t>0</a:t>
            </a:r>
            <a:r>
              <a:rPr lang="en-US" sz="1350" b="0" dirty="0">
                <a:solidFill>
                  <a:srgbClr val="E2E8F0"/>
                </a:solidFill>
                <a:latin typeface="Consolas"/>
                <a:ea typeface="Consolas"/>
                <a:cs typeface="Consolas"/>
              </a:rPr>
              <a:t>, price - discount);      </a:t>
            </a:r>
            <a:r>
              <a:rPr lang="en-US" sz="1350" b="0" dirty="0">
                <a:solidFill>
                  <a:srgbClr val="6FAE7A"/>
                </a:solidFill>
                <a:latin typeface="Consolas"/>
                <a:ea typeface="Consolas"/>
                <a:cs typeface="Consolas"/>
              </a:rPr>
              <a:t>// same behavior, one clear line</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10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ppt_x</p:attrName>
                                        </p:attrNameLst>
                                      </p:cBhvr>
                                      <p:tavLst>
                                        <p:tav tm="0">
                                          <p:val>
                                            <p:strVal val="#ppt_x-0.05"/>
                                          </p:val>
                                        </p:tav>
                                        <p:tav tm="100000">
                                          <p:val>
                                            <p:strVal val="#ppt_x"/>
                                          </p:val>
                                        </p:tav>
                                      </p:tavLst>
                                    </p:anim>
                                  </p:childTnLst>
                                </p:cTn>
                              </p:par>
                              <p:par>
                                <p:cTn id="13" presetID="42" presetClass="entr" presetSubtype="0" fill="hold" grpId="0" nodeType="withEffect">
                                  <p:stCondLst>
                                    <p:cond delay="10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ppt_x</p:attrName>
                                        </p:attrNameLst>
                                      </p:cBhvr>
                                      <p:tavLst>
                                        <p:tav tm="0">
                                          <p:val>
                                            <p:strVal val="#ppt_x-0.05"/>
                                          </p:val>
                                        </p:tav>
                                        <p:tav tm="100000">
                                          <p:val>
                                            <p:strVal val="#ppt_x"/>
                                          </p:val>
                                        </p:tav>
                                      </p:tavLst>
                                    </p:anim>
                                  </p:childTnLst>
                                </p:cTn>
                              </p:par>
                              <p:par>
                                <p:cTn id="17" presetID="42" presetClass="entr" presetSubtype="0" fill="hold" grpId="0" nodeType="withEffect">
                                  <p:stCondLst>
                                    <p:cond delay="10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10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10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ppt_x</p:attrName>
                                        </p:attrNameLst>
                                      </p:cBhvr>
                                      <p:tavLst>
                                        <p:tav tm="0">
                                          <p:val>
                                            <p:strVal val="#ppt_x-0.05"/>
                                          </p:val>
                                        </p:tav>
                                        <p:tav tm="100000">
                                          <p:val>
                                            <p:strVal val="#ppt_x"/>
                                          </p:val>
                                        </p:tav>
                                      </p:tavLst>
                                    </p:anim>
                                  </p:childTnLst>
                                </p:cTn>
                              </p:par>
                              <p:par>
                                <p:cTn id="29" presetID="42" presetClass="entr" presetSubtype="0" fill="hold" nodeType="withEffect">
                                  <p:stCondLst>
                                    <p:cond delay="10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ppt_x</p:attrName>
                                        </p:attrNameLst>
                                      </p:cBhvr>
                                      <p:tavLst>
                                        <p:tav tm="0">
                                          <p:val>
                                            <p:strVal val="#ppt_x-0.05"/>
                                          </p:val>
                                        </p:tav>
                                        <p:tav tm="100000">
                                          <p:val>
                                            <p:strVal val="#ppt_x"/>
                                          </p:val>
                                        </p:tav>
                                      </p:tavLst>
                                    </p:anim>
                                  </p:childTnLst>
                                </p:cTn>
                              </p:par>
                              <p:par>
                                <p:cTn id="33" presetID="42" presetClass="entr" presetSubtype="0" fill="hold" grpId="0" nodeType="withEffect">
                                  <p:stCondLst>
                                    <p:cond delay="10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ppt_x</p:attrName>
                                        </p:attrNameLst>
                                      </p:cBhvr>
                                      <p:tavLst>
                                        <p:tav tm="0">
                                          <p:val>
                                            <p:strVal val="#ppt_x-0.05"/>
                                          </p:val>
                                        </p:tav>
                                        <p:tav tm="100000">
                                          <p:val>
                                            <p:strVal val="#ppt_x"/>
                                          </p:val>
                                        </p:tav>
                                      </p:tavLst>
                                    </p:anim>
                                  </p:childTnLst>
                                </p:cTn>
                              </p:par>
                              <p:par>
                                <p:cTn id="37" presetID="42" presetClass="entr" presetSubtype="0" fill="hold" grpId="0" nodeType="withEffect">
                                  <p:stCondLst>
                                    <p:cond delay="10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ppt_x</p:attrName>
                                        </p:attrNameLst>
                                      </p:cBhvr>
                                      <p:tavLst>
                                        <p:tav tm="0">
                                          <p:val>
                                            <p:strVal val="#ppt_x-0.05"/>
                                          </p:val>
                                        </p:tav>
                                        <p:tav tm="100000">
                                          <p:val>
                                            <p:strVal val="#ppt_x"/>
                                          </p:val>
                                        </p:tav>
                                      </p:tavLst>
                                    </p:anim>
                                  </p:childTnLst>
                                </p:cTn>
                              </p:par>
                              <p:par>
                                <p:cTn id="41" presetID="42" presetClass="entr" presetSubtype="0" fill="hold" grpId="0" nodeType="withEffect">
                                  <p:stCondLst>
                                    <p:cond delay="10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ppt_x</p:attrName>
                                        </p:attrNameLst>
                                      </p:cBhvr>
                                      <p:tavLst>
                                        <p:tav tm="0">
                                          <p:val>
                                            <p:strVal val="#ppt_x-0.05"/>
                                          </p:val>
                                        </p:tav>
                                        <p:tav tm="100000">
                                          <p:val>
                                            <p:strVal val="#ppt_x"/>
                                          </p:val>
                                        </p:tav>
                                      </p:tavLst>
                                    </p:anim>
                                  </p:childTnLst>
                                </p:cTn>
                              </p:par>
                              <p:par>
                                <p:cTn id="45" presetID="42" presetClass="entr" presetSubtype="0" fill="hold" grpId="0" nodeType="withEffect">
                                  <p:stCondLst>
                                    <p:cond delay="10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ppt_x</p:attrName>
                                        </p:attrNameLst>
                                      </p:cBhvr>
                                      <p:tavLst>
                                        <p:tav tm="0">
                                          <p:val>
                                            <p:strVal val="#ppt_x-0.05"/>
                                          </p:val>
                                        </p:tav>
                                        <p:tav tm="100000">
                                          <p:val>
                                            <p:strVal val="#ppt_x"/>
                                          </p:val>
                                        </p:tav>
                                      </p:tavLst>
                                    </p:anim>
                                  </p:childTnLst>
                                </p:cTn>
                              </p:par>
                              <p:par>
                                <p:cTn id="49" presetID="42" presetClass="entr" presetSubtype="0" fill="hold" grpId="0" nodeType="withEffect">
                                  <p:stCondLst>
                                    <p:cond delay="10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10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ppt_x</p:attrName>
                                        </p:attrNameLst>
                                      </p:cBhvr>
                                      <p:tavLst>
                                        <p:tav tm="0">
                                          <p:val>
                                            <p:strVal val="#ppt_x-0.05"/>
                                          </p:val>
                                        </p:tav>
                                        <p:tav tm="100000">
                                          <p:val>
                                            <p:strVal val="#ppt_x"/>
                                          </p:val>
                                        </p:tav>
                                      </p:tavLst>
                                    </p:anim>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grpId="0" nodeType="clickEffect">
                                  <p:stCondLst>
                                    <p:cond delay="0"/>
                                  </p:stCondLst>
                                  <p:childTnLst>
                                    <p:set>
                                      <p:cBhvr>
                                        <p:cTn id="60" dur="1" fill="hold">
                                          <p:stCondLst>
                                            <p:cond delay="0"/>
                                          </p:stCondLst>
                                        </p:cTn>
                                        <p:tgtEl>
                                          <p:spTgt spid="114"/>
                                        </p:tgtEl>
                                        <p:attrNameLst>
                                          <p:attrName>style.visibility</p:attrName>
                                        </p:attrNameLst>
                                      </p:cBhvr>
                                      <p:to>
                                        <p:strVal val="visible"/>
                                      </p:to>
                                    </p:set>
                                    <p:animEffect transition="in" filter="fade">
                                      <p:cBhvr>
                                        <p:cTn id="61" dur="500"/>
                                        <p:tgtEl>
                                          <p:spTgt spid="114"/>
                                        </p:tgtEl>
                                      </p:cBhvr>
                                    </p:animEffect>
                                    <p:anim calcmode="lin" valueType="num">
                                      <p:cBhvr additive="base">
                                        <p:cTn id="62" dur="500" decel="100000" fill="hold"/>
                                        <p:tgtEl>
                                          <p:spTgt spid="114"/>
                                        </p:tgtEl>
                                        <p:attrNameLst>
                                          <p:attrName>ppt_x</p:attrName>
                                        </p:attrNameLst>
                                      </p:cBhvr>
                                      <p:tavLst>
                                        <p:tav tm="0">
                                          <p:val>
                                            <p:strVal val="#ppt_x-0.05"/>
                                          </p:val>
                                        </p:tav>
                                        <p:tav tm="100000">
                                          <p:val>
                                            <p:strVal val="#ppt_x"/>
                                          </p:val>
                                        </p:tav>
                                      </p:tavLst>
                                    </p:anim>
                                  </p:childTnLst>
                                </p:cTn>
                              </p:par>
                              <p:par>
                                <p:cTn id="63" presetID="42" presetClass="entr" presetSubtype="0" fill="hold" grpId="0" nodeType="withEffect">
                                  <p:stCondLst>
                                    <p:cond delay="100"/>
                                  </p:stCondLst>
                                  <p:childTnLst>
                                    <p:set>
                                      <p:cBhvr>
                                        <p:cTn id="64" dur="1" fill="hold">
                                          <p:stCondLst>
                                            <p:cond delay="0"/>
                                          </p:stCondLst>
                                        </p:cTn>
                                        <p:tgtEl>
                                          <p:spTgt spid="115"/>
                                        </p:tgtEl>
                                        <p:attrNameLst>
                                          <p:attrName>style.visibility</p:attrName>
                                        </p:attrNameLst>
                                      </p:cBhvr>
                                      <p:to>
                                        <p:strVal val="visible"/>
                                      </p:to>
                                    </p:set>
                                    <p:animEffect transition="in" filter="fade">
                                      <p:cBhvr>
                                        <p:cTn id="65" dur="500"/>
                                        <p:tgtEl>
                                          <p:spTgt spid="115"/>
                                        </p:tgtEl>
                                      </p:cBhvr>
                                    </p:animEffect>
                                    <p:anim calcmode="lin" valueType="num">
                                      <p:cBhvr additive="base">
                                        <p:cTn id="66" dur="500" decel="100000" fill="hold"/>
                                        <p:tgtEl>
                                          <p:spTgt spid="115"/>
                                        </p:tgtEl>
                                        <p:attrNameLst>
                                          <p:attrName>ppt_x</p:attrName>
                                        </p:attrNameLst>
                                      </p:cBhvr>
                                      <p:tavLst>
                                        <p:tav tm="0">
                                          <p:val>
                                            <p:strVal val="#ppt_x-0.05"/>
                                          </p:val>
                                        </p:tav>
                                        <p:tav tm="100000">
                                          <p:val>
                                            <p:strVal val="#ppt_x"/>
                                          </p:val>
                                        </p:tav>
                                      </p:tavLst>
                                    </p:anim>
                                  </p:childTnLst>
                                </p:cTn>
                              </p:par>
                              <p:par>
                                <p:cTn id="67" presetID="42" presetClass="entr" presetSubtype="0" fill="hold" grpId="0" nodeType="withEffect">
                                  <p:stCondLst>
                                    <p:cond delay="10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500"/>
                                        <p:tgtEl>
                                          <p:spTgt spid="116"/>
                                        </p:tgtEl>
                                      </p:cBhvr>
                                    </p:animEffect>
                                    <p:anim calcmode="lin" valueType="num">
                                      <p:cBhvr additive="base">
                                        <p:cTn id="70" dur="500" decel="100000" fill="hold"/>
                                        <p:tgtEl>
                                          <p:spTgt spid="116"/>
                                        </p:tgtEl>
                                        <p:attrNameLst>
                                          <p:attrName>ppt_x</p:attrName>
                                        </p:attrNameLst>
                                      </p:cBhvr>
                                      <p:tavLst>
                                        <p:tav tm="0">
                                          <p:val>
                                            <p:strVal val="#ppt_x-0.05"/>
                                          </p:val>
                                        </p:tav>
                                        <p:tav tm="100000">
                                          <p:val>
                                            <p:strVal val="#ppt_x"/>
                                          </p:val>
                                        </p:tav>
                                      </p:tavLst>
                                    </p:anim>
                                  </p:childTnLst>
                                </p:cTn>
                              </p:par>
                              <p:par>
                                <p:cTn id="71" presetID="42" presetClass="entr" presetSubtype="0" fill="hold" grpId="0" nodeType="withEffect">
                                  <p:stCondLst>
                                    <p:cond delay="100"/>
                                  </p:stCondLst>
                                  <p:childTnLst>
                                    <p:set>
                                      <p:cBhvr>
                                        <p:cTn id="72" dur="1" fill="hold">
                                          <p:stCondLst>
                                            <p:cond delay="0"/>
                                          </p:stCondLst>
                                        </p:cTn>
                                        <p:tgtEl>
                                          <p:spTgt spid="117"/>
                                        </p:tgtEl>
                                        <p:attrNameLst>
                                          <p:attrName>style.visibility</p:attrName>
                                        </p:attrNameLst>
                                      </p:cBhvr>
                                      <p:to>
                                        <p:strVal val="visible"/>
                                      </p:to>
                                    </p:set>
                                    <p:animEffect transition="in" filter="fade">
                                      <p:cBhvr>
                                        <p:cTn id="73" dur="500"/>
                                        <p:tgtEl>
                                          <p:spTgt spid="117"/>
                                        </p:tgtEl>
                                      </p:cBhvr>
                                    </p:animEffect>
                                    <p:anim calcmode="lin" valueType="num">
                                      <p:cBhvr additive="base">
                                        <p:cTn id="74" dur="500" decel="100000" fill="hold"/>
                                        <p:tgtEl>
                                          <p:spTgt spid="117"/>
                                        </p:tgtEl>
                                        <p:attrNameLst>
                                          <p:attrName>ppt_x</p:attrName>
                                        </p:attrNameLst>
                                      </p:cBhvr>
                                      <p:tavLst>
                                        <p:tav tm="0">
                                          <p:val>
                                            <p:strVal val="#ppt_x-0.05"/>
                                          </p:val>
                                        </p:tav>
                                        <p:tav tm="100000">
                                          <p:val>
                                            <p:strVal val="#ppt_x"/>
                                          </p:val>
                                        </p:tav>
                                      </p:tavLst>
                                    </p:anim>
                                  </p:childTnLst>
                                </p:cTn>
                              </p:par>
                              <p:par>
                                <p:cTn id="75" presetID="42" presetClass="entr" presetSubtype="0" fill="hold" grpId="0" nodeType="withEffect">
                                  <p:stCondLst>
                                    <p:cond delay="100"/>
                                  </p:stCondLst>
                                  <p:childTnLst>
                                    <p:set>
                                      <p:cBhvr>
                                        <p:cTn id="76" dur="1" fill="hold">
                                          <p:stCondLst>
                                            <p:cond delay="0"/>
                                          </p:stCondLst>
                                        </p:cTn>
                                        <p:tgtEl>
                                          <p:spTgt spid="118"/>
                                        </p:tgtEl>
                                        <p:attrNameLst>
                                          <p:attrName>style.visibility</p:attrName>
                                        </p:attrNameLst>
                                      </p:cBhvr>
                                      <p:to>
                                        <p:strVal val="visible"/>
                                      </p:to>
                                    </p:set>
                                    <p:animEffect transition="in" filter="fade">
                                      <p:cBhvr>
                                        <p:cTn id="77" dur="500"/>
                                        <p:tgtEl>
                                          <p:spTgt spid="118"/>
                                        </p:tgtEl>
                                      </p:cBhvr>
                                    </p:animEffect>
                                    <p:anim calcmode="lin" valueType="num">
                                      <p:cBhvr additive="base">
                                        <p:cTn id="78" dur="500" decel="100000" fill="hold"/>
                                        <p:tgtEl>
                                          <p:spTgt spid="118"/>
                                        </p:tgtEl>
                                        <p:attrNameLst>
                                          <p:attrName>ppt_x</p:attrName>
                                        </p:attrNameLst>
                                      </p:cBhvr>
                                      <p:tavLst>
                                        <p:tav tm="0">
                                          <p:val>
                                            <p:strVal val="#ppt_x-0.05"/>
                                          </p:val>
                                        </p:tav>
                                        <p:tav tm="100000">
                                          <p:val>
                                            <p:strVal val="#ppt_x"/>
                                          </p:val>
                                        </p:tav>
                                      </p:tavLst>
                                    </p:anim>
                                  </p:childTnLst>
                                </p:cTn>
                              </p:par>
                              <p:par>
                                <p:cTn id="79" presetID="42" presetClass="entr" presetSubtype="0" fill="hold" grpId="0" nodeType="withEffect">
                                  <p:stCondLst>
                                    <p:cond delay="100"/>
                                  </p:stCondLst>
                                  <p:childTnLst>
                                    <p:set>
                                      <p:cBhvr>
                                        <p:cTn id="80" dur="1" fill="hold">
                                          <p:stCondLst>
                                            <p:cond delay="0"/>
                                          </p:stCondLst>
                                        </p:cTn>
                                        <p:tgtEl>
                                          <p:spTgt spid="119"/>
                                        </p:tgtEl>
                                        <p:attrNameLst>
                                          <p:attrName>style.visibility</p:attrName>
                                        </p:attrNameLst>
                                      </p:cBhvr>
                                      <p:to>
                                        <p:strVal val="visible"/>
                                      </p:to>
                                    </p:set>
                                    <p:animEffect transition="in" filter="fade">
                                      <p:cBhvr>
                                        <p:cTn id="81" dur="500"/>
                                        <p:tgtEl>
                                          <p:spTgt spid="119"/>
                                        </p:tgtEl>
                                      </p:cBhvr>
                                    </p:animEffect>
                                    <p:anim calcmode="lin" valueType="num">
                                      <p:cBhvr additive="base">
                                        <p:cTn id="82" dur="500" decel="100000" fill="hold"/>
                                        <p:tgtEl>
                                          <p:spTgt spid="119"/>
                                        </p:tgtEl>
                                        <p:attrNameLst>
                                          <p:attrName>ppt_x</p:attrName>
                                        </p:attrNameLst>
                                      </p:cBhvr>
                                      <p:tavLst>
                                        <p:tav tm="0">
                                          <p:val>
                                            <p:strVal val="#ppt_x-0.05"/>
                                          </p:val>
                                        </p:tav>
                                        <p:tav tm="100000">
                                          <p:val>
                                            <p:strVal val="#ppt_x"/>
                                          </p:val>
                                        </p:tav>
                                      </p:tavLst>
                                    </p:anim>
                                  </p:childTnLst>
                                </p:cTn>
                              </p:par>
                              <p:par>
                                <p:cTn id="83" presetID="42" presetClass="entr" presetSubtype="0" fill="hold" nodeType="withEffect">
                                  <p:stCondLst>
                                    <p:cond delay="100"/>
                                  </p:stCondLst>
                                  <p:childTnLst>
                                    <p:set>
                                      <p:cBhvr>
                                        <p:cTn id="84" dur="1" fill="hold">
                                          <p:stCondLst>
                                            <p:cond delay="0"/>
                                          </p:stCondLst>
                                        </p:cTn>
                                        <p:tgtEl>
                                          <p:spTgt spid="120"/>
                                        </p:tgtEl>
                                        <p:attrNameLst>
                                          <p:attrName>style.visibility</p:attrName>
                                        </p:attrNameLst>
                                      </p:cBhvr>
                                      <p:to>
                                        <p:strVal val="visible"/>
                                      </p:to>
                                    </p:set>
                                    <p:animEffect transition="in" filter="fade">
                                      <p:cBhvr>
                                        <p:cTn id="85" dur="500"/>
                                        <p:tgtEl>
                                          <p:spTgt spid="120"/>
                                        </p:tgtEl>
                                      </p:cBhvr>
                                    </p:animEffect>
                                    <p:anim calcmode="lin" valueType="num">
                                      <p:cBhvr additive="base">
                                        <p:cTn id="86" dur="500" decel="100000" fill="hold"/>
                                        <p:tgtEl>
                                          <p:spTgt spid="120"/>
                                        </p:tgtEl>
                                        <p:attrNameLst>
                                          <p:attrName>ppt_x</p:attrName>
                                        </p:attrNameLst>
                                      </p:cBhvr>
                                      <p:tavLst>
                                        <p:tav tm="0">
                                          <p:val>
                                            <p:strVal val="#ppt_x-0.05"/>
                                          </p:val>
                                        </p:tav>
                                        <p:tav tm="100000">
                                          <p:val>
                                            <p:strVal val="#ppt_x"/>
                                          </p:val>
                                        </p:tav>
                                      </p:tavLst>
                                    </p:anim>
                                  </p:childTnLst>
                                </p:cTn>
                              </p:par>
                              <p:par>
                                <p:cTn id="87" presetID="42" presetClass="entr" presetSubtype="0" fill="hold" grpId="0" nodeType="withEffect">
                                  <p:stCondLst>
                                    <p:cond delay="100"/>
                                  </p:stCondLst>
                                  <p:childTnLst>
                                    <p:set>
                                      <p:cBhvr>
                                        <p:cTn id="88" dur="1" fill="hold">
                                          <p:stCondLst>
                                            <p:cond delay="0"/>
                                          </p:stCondLst>
                                        </p:cTn>
                                        <p:tgtEl>
                                          <p:spTgt spid="121"/>
                                        </p:tgtEl>
                                        <p:attrNameLst>
                                          <p:attrName>style.visibility</p:attrName>
                                        </p:attrNameLst>
                                      </p:cBhvr>
                                      <p:to>
                                        <p:strVal val="visible"/>
                                      </p:to>
                                    </p:set>
                                    <p:animEffect transition="in" filter="fade">
                                      <p:cBhvr>
                                        <p:cTn id="89" dur="500"/>
                                        <p:tgtEl>
                                          <p:spTgt spid="121"/>
                                        </p:tgtEl>
                                      </p:cBhvr>
                                    </p:animEffect>
                                    <p:anim calcmode="lin" valueType="num">
                                      <p:cBhvr additive="base">
                                        <p:cTn id="90" dur="500" decel="100000" fill="hold"/>
                                        <p:tgtEl>
                                          <p:spTgt spid="121"/>
                                        </p:tgtEl>
                                        <p:attrNameLst>
                                          <p:attrName>ppt_x</p:attrName>
                                        </p:attrNameLst>
                                      </p:cBhvr>
                                      <p:tavLst>
                                        <p:tav tm="0">
                                          <p:val>
                                            <p:strVal val="#ppt_x-0.05"/>
                                          </p:val>
                                        </p:tav>
                                        <p:tav tm="100000">
                                          <p:val>
                                            <p:strVal val="#ppt_x"/>
                                          </p:val>
                                        </p:tav>
                                      </p:tavLst>
                                    </p:anim>
                                  </p:childTnLst>
                                </p:cTn>
                              </p:par>
                              <p:par>
                                <p:cTn id="91" presetID="42" presetClass="entr" presetSubtype="0" fill="hold" grpId="0" nodeType="withEffect">
                                  <p:stCondLst>
                                    <p:cond delay="100"/>
                                  </p:stCondLst>
                                  <p:childTnLst>
                                    <p:set>
                                      <p:cBhvr>
                                        <p:cTn id="92" dur="1" fill="hold">
                                          <p:stCondLst>
                                            <p:cond delay="0"/>
                                          </p:stCondLst>
                                        </p:cTn>
                                        <p:tgtEl>
                                          <p:spTgt spid="122"/>
                                        </p:tgtEl>
                                        <p:attrNameLst>
                                          <p:attrName>style.visibility</p:attrName>
                                        </p:attrNameLst>
                                      </p:cBhvr>
                                      <p:to>
                                        <p:strVal val="visible"/>
                                      </p:to>
                                    </p:set>
                                    <p:animEffect transition="in" filter="fade">
                                      <p:cBhvr>
                                        <p:cTn id="93" dur="500"/>
                                        <p:tgtEl>
                                          <p:spTgt spid="122"/>
                                        </p:tgtEl>
                                      </p:cBhvr>
                                    </p:animEffect>
                                    <p:anim calcmode="lin" valueType="num">
                                      <p:cBhvr additive="base">
                                        <p:cTn id="94" dur="500" decel="100000" fill="hold"/>
                                        <p:tgtEl>
                                          <p:spTgt spid="122"/>
                                        </p:tgtEl>
                                        <p:attrNameLst>
                                          <p:attrName>ppt_x</p:attrName>
                                        </p:attrNameLst>
                                      </p:cBhvr>
                                      <p:tavLst>
                                        <p:tav tm="0">
                                          <p:val>
                                            <p:strVal val="#ppt_x-0.05"/>
                                          </p:val>
                                        </p:tav>
                                        <p:tav tm="100000">
                                          <p:val>
                                            <p:strVal val="#ppt_x"/>
                                          </p:val>
                                        </p:tav>
                                      </p:tavLst>
                                    </p:anim>
                                  </p:childTnLst>
                                </p:cTn>
                              </p:par>
                              <p:par>
                                <p:cTn id="95" presetID="42" presetClass="entr" presetSubtype="0" fill="hold" grpId="0" nodeType="withEffect">
                                  <p:stCondLst>
                                    <p:cond delay="100"/>
                                  </p:stCondLst>
                                  <p:childTnLst>
                                    <p:set>
                                      <p:cBhvr>
                                        <p:cTn id="96" dur="1" fill="hold">
                                          <p:stCondLst>
                                            <p:cond delay="0"/>
                                          </p:stCondLst>
                                        </p:cTn>
                                        <p:tgtEl>
                                          <p:spTgt spid="123"/>
                                        </p:tgtEl>
                                        <p:attrNameLst>
                                          <p:attrName>style.visibility</p:attrName>
                                        </p:attrNameLst>
                                      </p:cBhvr>
                                      <p:to>
                                        <p:strVal val="visible"/>
                                      </p:to>
                                    </p:set>
                                    <p:animEffect transition="in" filter="fade">
                                      <p:cBhvr>
                                        <p:cTn id="97" dur="500"/>
                                        <p:tgtEl>
                                          <p:spTgt spid="123"/>
                                        </p:tgtEl>
                                      </p:cBhvr>
                                    </p:animEffect>
                                    <p:anim calcmode="lin" valueType="num">
                                      <p:cBhvr additive="base">
                                        <p:cTn id="98" dur="500" decel="100000" fill="hold"/>
                                        <p:tgtEl>
                                          <p:spTgt spid="123"/>
                                        </p:tgtEl>
                                        <p:attrNameLst>
                                          <p:attrName>ppt_x</p:attrName>
                                        </p:attrNameLst>
                                      </p:cBhvr>
                                      <p:tavLst>
                                        <p:tav tm="0">
                                          <p:val>
                                            <p:strVal val="#ppt_x-0.05"/>
                                          </p:val>
                                        </p:tav>
                                        <p:tav tm="100000">
                                          <p:val>
                                            <p:strVal val="#ppt_x"/>
                                          </p:val>
                                        </p:tav>
                                      </p:tavLst>
                                    </p:anim>
                                  </p:childTnLst>
                                </p:cTn>
                              </p:par>
                              <p:par>
                                <p:cTn id="99" presetID="42" presetClass="entr" presetSubtype="0" fill="hold" grpId="0" nodeType="withEffect">
                                  <p:stCondLst>
                                    <p:cond delay="100"/>
                                  </p:stCondLst>
                                  <p:childTnLst>
                                    <p:set>
                                      <p:cBhvr>
                                        <p:cTn id="100" dur="1" fill="hold">
                                          <p:stCondLst>
                                            <p:cond delay="0"/>
                                          </p:stCondLst>
                                        </p:cTn>
                                        <p:tgtEl>
                                          <p:spTgt spid="124"/>
                                        </p:tgtEl>
                                        <p:attrNameLst>
                                          <p:attrName>style.visibility</p:attrName>
                                        </p:attrNameLst>
                                      </p:cBhvr>
                                      <p:to>
                                        <p:strVal val="visible"/>
                                      </p:to>
                                    </p:set>
                                    <p:animEffect transition="in" filter="fade">
                                      <p:cBhvr>
                                        <p:cTn id="101" dur="500"/>
                                        <p:tgtEl>
                                          <p:spTgt spid="124"/>
                                        </p:tgtEl>
                                      </p:cBhvr>
                                    </p:animEffect>
                                    <p:anim calcmode="lin" valueType="num">
                                      <p:cBhvr additive="base">
                                        <p:cTn id="102" dur="500" decel="100000" fill="hold"/>
                                        <p:tgtEl>
                                          <p:spTgt spid="124"/>
                                        </p:tgtEl>
                                        <p:attrNameLst>
                                          <p:attrName>ppt_x</p:attrName>
                                        </p:attrNameLst>
                                      </p:cBhvr>
                                      <p:tavLst>
                                        <p:tav tm="0">
                                          <p:val>
                                            <p:strVal val="#ppt_x-0.05"/>
                                          </p:val>
                                        </p:tav>
                                        <p:tav tm="100000">
                                          <p:val>
                                            <p:strVal val="#ppt_x"/>
                                          </p:val>
                                        </p:tav>
                                      </p:tavLst>
                                    </p:anim>
                                  </p:childTnLst>
                                </p:cTn>
                              </p:par>
                              <p:par>
                                <p:cTn id="103" presetID="42" presetClass="entr" presetSubtype="0" fill="hold" grpId="0" nodeType="withEffect">
                                  <p:stCondLst>
                                    <p:cond delay="100"/>
                                  </p:stCondLst>
                                  <p:childTnLst>
                                    <p:set>
                                      <p:cBhvr>
                                        <p:cTn id="104" dur="1" fill="hold">
                                          <p:stCondLst>
                                            <p:cond delay="0"/>
                                          </p:stCondLst>
                                        </p:cTn>
                                        <p:tgtEl>
                                          <p:spTgt spid="125"/>
                                        </p:tgtEl>
                                        <p:attrNameLst>
                                          <p:attrName>style.visibility</p:attrName>
                                        </p:attrNameLst>
                                      </p:cBhvr>
                                      <p:to>
                                        <p:strVal val="visible"/>
                                      </p:to>
                                    </p:set>
                                    <p:animEffect transition="in" filter="fade">
                                      <p:cBhvr>
                                        <p:cTn id="105" dur="500"/>
                                        <p:tgtEl>
                                          <p:spTgt spid="125"/>
                                        </p:tgtEl>
                                      </p:cBhvr>
                                    </p:animEffect>
                                    <p:anim calcmode="lin" valueType="num">
                                      <p:cBhvr additive="base">
                                        <p:cTn id="106" dur="500" decel="100000" fill="hold"/>
                                        <p:tgtEl>
                                          <p:spTgt spid="125"/>
                                        </p:tgtEl>
                                        <p:attrNameLst>
                                          <p:attrName>ppt_x</p:attrName>
                                        </p:attrNameLst>
                                      </p:cBhvr>
                                      <p:tavLst>
                                        <p:tav tm="0">
                                          <p:val>
                                            <p:strVal val="#ppt_x-0.05"/>
                                          </p:val>
                                        </p:tav>
                                        <p:tav tm="100000">
                                          <p:val>
                                            <p:strVal val="#ppt_x"/>
                                          </p:val>
                                        </p:tav>
                                      </p:tavLst>
                                    </p:anim>
                                  </p:childTnLst>
                                </p:cTn>
                              </p:par>
                              <p:par>
                                <p:cTn id="107" presetID="42" presetClass="entr" presetSubtype="0" fill="hold" grpId="0" nodeType="withEffect">
                                  <p:stCondLst>
                                    <p:cond delay="100"/>
                                  </p:stCondLst>
                                  <p:childTnLst>
                                    <p:set>
                                      <p:cBhvr>
                                        <p:cTn id="108" dur="1" fill="hold">
                                          <p:stCondLst>
                                            <p:cond delay="0"/>
                                          </p:stCondLst>
                                        </p:cTn>
                                        <p:tgtEl>
                                          <p:spTgt spid="126"/>
                                        </p:tgtEl>
                                        <p:attrNameLst>
                                          <p:attrName>style.visibility</p:attrName>
                                        </p:attrNameLst>
                                      </p:cBhvr>
                                      <p:to>
                                        <p:strVal val="visible"/>
                                      </p:to>
                                    </p:set>
                                    <p:animEffect transition="in" filter="fade">
                                      <p:cBhvr>
                                        <p:cTn id="109" dur="500"/>
                                        <p:tgtEl>
                                          <p:spTgt spid="126"/>
                                        </p:tgtEl>
                                      </p:cBhvr>
                                    </p:animEffect>
                                    <p:anim calcmode="lin" valueType="num">
                                      <p:cBhvr additive="base">
                                        <p:cTn id="110" dur="500" decel="100000" fill="hold"/>
                                        <p:tgtEl>
                                          <p:spTgt spid="126"/>
                                        </p:tgtEl>
                                        <p:attrNameLst>
                                          <p:attrName>ppt_x</p:attrName>
                                        </p:attrNameLst>
                                      </p:cBhvr>
                                      <p:tavLst>
                                        <p:tav tm="0">
                                          <p:val>
                                            <p:strVal val="#ppt_x-0.05"/>
                                          </p:val>
                                        </p:tav>
                                        <p:tav tm="100000">
                                          <p:val>
                                            <p:strVal val="#ppt_x"/>
                                          </p:val>
                                        </p:tav>
                                      </p:tavLst>
                                    </p:anim>
                                  </p:childTnLst>
                                </p:cTn>
                              </p:par>
                              <p:par>
                                <p:cTn id="111" presetID="42" presetClass="entr" presetSubtype="0" fill="hold" grpId="0" nodeType="withEffect">
                                  <p:stCondLst>
                                    <p:cond delay="100"/>
                                  </p:stCondLst>
                                  <p:childTnLst>
                                    <p:set>
                                      <p:cBhvr>
                                        <p:cTn id="112" dur="1" fill="hold">
                                          <p:stCondLst>
                                            <p:cond delay="0"/>
                                          </p:stCondLst>
                                        </p:cTn>
                                        <p:tgtEl>
                                          <p:spTgt spid="127"/>
                                        </p:tgtEl>
                                        <p:attrNameLst>
                                          <p:attrName>style.visibility</p:attrName>
                                        </p:attrNameLst>
                                      </p:cBhvr>
                                      <p:to>
                                        <p:strVal val="visible"/>
                                      </p:to>
                                    </p:set>
                                    <p:animEffect transition="in" filter="fade">
                                      <p:cBhvr>
                                        <p:cTn id="113" dur="500"/>
                                        <p:tgtEl>
                                          <p:spTgt spid="127"/>
                                        </p:tgtEl>
                                      </p:cBhvr>
                                    </p:animEffect>
                                    <p:anim calcmode="lin" valueType="num">
                                      <p:cBhvr additive="base">
                                        <p:cTn id="114" dur="500" decel="100000" fill="hold"/>
                                        <p:tgtEl>
                                          <p:spTgt spid="127"/>
                                        </p:tgtEl>
                                        <p:attrNameLst>
                                          <p:attrName>ppt_x</p:attrName>
                                        </p:attrNameLst>
                                      </p:cBhvr>
                                      <p:tavLst>
                                        <p:tav tm="0">
                                          <p:val>
                                            <p:strVal val="#ppt_x-0.05"/>
                                          </p:val>
                                        </p:tav>
                                        <p:tav tm="100000">
                                          <p:val>
                                            <p:strVal val="#ppt_x"/>
                                          </p:val>
                                        </p:tav>
                                      </p:tavLst>
                                    </p:anim>
                                  </p:childTnLst>
                                </p:cTn>
                              </p:par>
                            </p:childTnLst>
                          </p:cTn>
                        </p:par>
                      </p:childTnLst>
                    </p:cTn>
                  </p:par>
                  <p:par>
                    <p:cTn id="115" fill="hold">
                      <p:stCondLst>
                        <p:cond delay="indefinite"/>
                      </p:stCondLst>
                      <p:childTnLst>
                        <p:par>
                          <p:cTn id="116" fill="hold">
                            <p:stCondLst>
                              <p:cond delay="0"/>
                            </p:stCondLst>
                            <p:childTnLst>
                              <p:par>
                                <p:cTn id="117" presetID="42" presetClass="entr" presetSubtype="0" fill="hold" grpId="0" nodeType="clickEffect">
                                  <p:stCondLst>
                                    <p:cond delay="0"/>
                                  </p:stCondLst>
                                  <p:childTnLst>
                                    <p:set>
                                      <p:cBhvr>
                                        <p:cTn id="118" dur="1" fill="hold">
                                          <p:stCondLst>
                                            <p:cond delay="0"/>
                                          </p:stCondLst>
                                        </p:cTn>
                                        <p:tgtEl>
                                          <p:spTgt spid="128"/>
                                        </p:tgtEl>
                                        <p:attrNameLst>
                                          <p:attrName>style.visibility</p:attrName>
                                        </p:attrNameLst>
                                      </p:cBhvr>
                                      <p:to>
                                        <p:strVal val="visible"/>
                                      </p:to>
                                    </p:set>
                                    <p:animEffect transition="in" filter="fade">
                                      <p:cBhvr>
                                        <p:cTn id="119" dur="500"/>
                                        <p:tgtEl>
                                          <p:spTgt spid="128"/>
                                        </p:tgtEl>
                                      </p:cBhvr>
                                    </p:animEffect>
                                    <p:anim calcmode="lin" valueType="num">
                                      <p:cBhvr additive="base">
                                        <p:cTn id="120" dur="500" decel="100000" fill="hold"/>
                                        <p:tgtEl>
                                          <p:spTgt spid="128"/>
                                        </p:tgtEl>
                                        <p:attrNameLst>
                                          <p:attrName>ppt_x</p:attrName>
                                        </p:attrNameLst>
                                      </p:cBhvr>
                                      <p:tavLst>
                                        <p:tav tm="0">
                                          <p:val>
                                            <p:strVal val="#ppt_x-0.05"/>
                                          </p:val>
                                        </p:tav>
                                        <p:tav tm="100000">
                                          <p:val>
                                            <p:strVal val="#ppt_x"/>
                                          </p:val>
                                        </p:tav>
                                      </p:tavLst>
                                    </p:anim>
                                  </p:childTnLst>
                                </p:cTn>
                              </p:par>
                              <p:par>
                                <p:cTn id="121" presetID="42" presetClass="entr" presetSubtype="0" fill="hold" grpId="0" nodeType="withEffect">
                                  <p:stCondLst>
                                    <p:cond delay="100"/>
                                  </p:stCondLst>
                                  <p:childTnLst>
                                    <p:set>
                                      <p:cBhvr>
                                        <p:cTn id="122" dur="1" fill="hold">
                                          <p:stCondLst>
                                            <p:cond delay="0"/>
                                          </p:stCondLst>
                                        </p:cTn>
                                        <p:tgtEl>
                                          <p:spTgt spid="129"/>
                                        </p:tgtEl>
                                        <p:attrNameLst>
                                          <p:attrName>style.visibility</p:attrName>
                                        </p:attrNameLst>
                                      </p:cBhvr>
                                      <p:to>
                                        <p:strVal val="visible"/>
                                      </p:to>
                                    </p:set>
                                    <p:animEffect transition="in" filter="fade">
                                      <p:cBhvr>
                                        <p:cTn id="123" dur="500"/>
                                        <p:tgtEl>
                                          <p:spTgt spid="129"/>
                                        </p:tgtEl>
                                      </p:cBhvr>
                                    </p:animEffect>
                                    <p:anim calcmode="lin" valueType="num">
                                      <p:cBhvr additive="base">
                                        <p:cTn id="124" dur="500" decel="100000" fill="hold"/>
                                        <p:tgtEl>
                                          <p:spTgt spid="129"/>
                                        </p:tgtEl>
                                        <p:attrNameLst>
                                          <p:attrName>ppt_x</p:attrName>
                                        </p:attrNameLst>
                                      </p:cBhvr>
                                      <p:tavLst>
                                        <p:tav tm="0">
                                          <p:val>
                                            <p:strVal val="#ppt_x-0.05"/>
                                          </p:val>
                                        </p:tav>
                                        <p:tav tm="100000">
                                          <p:val>
                                            <p:strVal val="#ppt_x"/>
                                          </p:val>
                                        </p:tav>
                                      </p:tavLst>
                                    </p:anim>
                                  </p:childTnLst>
                                </p:cTn>
                              </p:par>
                              <p:par>
                                <p:cTn id="125" presetID="42" presetClass="entr" presetSubtype="0" fill="hold" grpId="0" nodeType="withEffect">
                                  <p:stCondLst>
                                    <p:cond delay="100"/>
                                  </p:stCondLst>
                                  <p:childTnLst>
                                    <p:set>
                                      <p:cBhvr>
                                        <p:cTn id="126" dur="1" fill="hold">
                                          <p:stCondLst>
                                            <p:cond delay="0"/>
                                          </p:stCondLst>
                                        </p:cTn>
                                        <p:tgtEl>
                                          <p:spTgt spid="130"/>
                                        </p:tgtEl>
                                        <p:attrNameLst>
                                          <p:attrName>style.visibility</p:attrName>
                                        </p:attrNameLst>
                                      </p:cBhvr>
                                      <p:to>
                                        <p:strVal val="visible"/>
                                      </p:to>
                                    </p:set>
                                    <p:animEffect transition="in" filter="fade">
                                      <p:cBhvr>
                                        <p:cTn id="127" dur="500"/>
                                        <p:tgtEl>
                                          <p:spTgt spid="130"/>
                                        </p:tgtEl>
                                      </p:cBhvr>
                                    </p:animEffect>
                                    <p:anim calcmode="lin" valueType="num">
                                      <p:cBhvr additive="base">
                                        <p:cTn id="128" dur="500" decel="100000" fill="hold"/>
                                        <p:tgtEl>
                                          <p:spTgt spid="130"/>
                                        </p:tgtEl>
                                        <p:attrNameLst>
                                          <p:attrName>ppt_x</p:attrName>
                                        </p:attrNameLst>
                                      </p:cBhvr>
                                      <p:tavLst>
                                        <p:tav tm="0">
                                          <p:val>
                                            <p:strVal val="#ppt_x-0.05"/>
                                          </p:val>
                                        </p:tav>
                                        <p:tav tm="100000">
                                          <p:val>
                                            <p:strVal val="#ppt_x"/>
                                          </p:val>
                                        </p:tav>
                                      </p:tavLst>
                                    </p:anim>
                                  </p:childTnLst>
                                </p:cTn>
                              </p:par>
                              <p:par>
                                <p:cTn id="129" presetID="42" presetClass="entr" presetSubtype="0" fill="hold" grpId="0" nodeType="withEffect">
                                  <p:stCondLst>
                                    <p:cond delay="100"/>
                                  </p:stCondLst>
                                  <p:childTnLst>
                                    <p:set>
                                      <p:cBhvr>
                                        <p:cTn id="130" dur="1" fill="hold">
                                          <p:stCondLst>
                                            <p:cond delay="0"/>
                                          </p:stCondLst>
                                        </p:cTn>
                                        <p:tgtEl>
                                          <p:spTgt spid="131"/>
                                        </p:tgtEl>
                                        <p:attrNameLst>
                                          <p:attrName>style.visibility</p:attrName>
                                        </p:attrNameLst>
                                      </p:cBhvr>
                                      <p:to>
                                        <p:strVal val="visible"/>
                                      </p:to>
                                    </p:set>
                                    <p:animEffect transition="in" filter="fade">
                                      <p:cBhvr>
                                        <p:cTn id="131" dur="500"/>
                                        <p:tgtEl>
                                          <p:spTgt spid="131"/>
                                        </p:tgtEl>
                                      </p:cBhvr>
                                    </p:animEffect>
                                    <p:anim calcmode="lin" valueType="num">
                                      <p:cBhvr additive="base">
                                        <p:cTn id="132" dur="500" decel="100000" fill="hold"/>
                                        <p:tgtEl>
                                          <p:spTgt spid="131"/>
                                        </p:tgtEl>
                                        <p:attrNameLst>
                                          <p:attrName>ppt_x</p:attrName>
                                        </p:attrNameLst>
                                      </p:cBhvr>
                                      <p:tavLst>
                                        <p:tav tm="0">
                                          <p:val>
                                            <p:strVal val="#ppt_x-0.05"/>
                                          </p:val>
                                        </p:tav>
                                        <p:tav tm="100000">
                                          <p:val>
                                            <p:strVal val="#ppt_x"/>
                                          </p:val>
                                        </p:tav>
                                      </p:tavLst>
                                    </p:anim>
                                  </p:childTnLst>
                                </p:cTn>
                              </p:par>
                              <p:par>
                                <p:cTn id="133" presetID="42" presetClass="entr" presetSubtype="0" fill="hold" grpId="0" nodeType="withEffect">
                                  <p:stCondLst>
                                    <p:cond delay="100"/>
                                  </p:stCondLst>
                                  <p:childTnLst>
                                    <p:set>
                                      <p:cBhvr>
                                        <p:cTn id="134" dur="1" fill="hold">
                                          <p:stCondLst>
                                            <p:cond delay="0"/>
                                          </p:stCondLst>
                                        </p:cTn>
                                        <p:tgtEl>
                                          <p:spTgt spid="132"/>
                                        </p:tgtEl>
                                        <p:attrNameLst>
                                          <p:attrName>style.visibility</p:attrName>
                                        </p:attrNameLst>
                                      </p:cBhvr>
                                      <p:to>
                                        <p:strVal val="visible"/>
                                      </p:to>
                                    </p:set>
                                    <p:animEffect transition="in" filter="fade">
                                      <p:cBhvr>
                                        <p:cTn id="135" dur="500"/>
                                        <p:tgtEl>
                                          <p:spTgt spid="132"/>
                                        </p:tgtEl>
                                      </p:cBhvr>
                                    </p:animEffect>
                                    <p:anim calcmode="lin" valueType="num">
                                      <p:cBhvr additive="base">
                                        <p:cTn id="136" dur="500" decel="100000" fill="hold"/>
                                        <p:tgtEl>
                                          <p:spTgt spid="132"/>
                                        </p:tgtEl>
                                        <p:attrNameLst>
                                          <p:attrName>ppt_x</p:attrName>
                                        </p:attrNameLst>
                                      </p:cBhvr>
                                      <p:tavLst>
                                        <p:tav tm="0">
                                          <p:val>
                                            <p:strVal val="#ppt_x-0.05"/>
                                          </p:val>
                                        </p:tav>
                                        <p:tav tm="100000">
                                          <p:val>
                                            <p:strVal val="#ppt_x"/>
                                          </p:val>
                                        </p:tav>
                                      </p:tavLst>
                                    </p:anim>
                                  </p:childTnLst>
                                </p:cTn>
                              </p:par>
                              <p:par>
                                <p:cTn id="137" presetID="42" presetClass="entr" presetSubtype="0" fill="hold" grpId="0" nodeType="withEffect">
                                  <p:stCondLst>
                                    <p:cond delay="100"/>
                                  </p:stCondLst>
                                  <p:childTnLst>
                                    <p:set>
                                      <p:cBhvr>
                                        <p:cTn id="138" dur="1" fill="hold">
                                          <p:stCondLst>
                                            <p:cond delay="0"/>
                                          </p:stCondLst>
                                        </p:cTn>
                                        <p:tgtEl>
                                          <p:spTgt spid="133"/>
                                        </p:tgtEl>
                                        <p:attrNameLst>
                                          <p:attrName>style.visibility</p:attrName>
                                        </p:attrNameLst>
                                      </p:cBhvr>
                                      <p:to>
                                        <p:strVal val="visible"/>
                                      </p:to>
                                    </p:set>
                                    <p:animEffect transition="in" filter="fade">
                                      <p:cBhvr>
                                        <p:cTn id="139" dur="500"/>
                                        <p:tgtEl>
                                          <p:spTgt spid="133"/>
                                        </p:tgtEl>
                                      </p:cBhvr>
                                    </p:animEffect>
                                    <p:anim calcmode="lin" valueType="num">
                                      <p:cBhvr additive="base">
                                        <p:cTn id="140" dur="500" decel="100000" fill="hold"/>
                                        <p:tgtEl>
                                          <p:spTgt spid="133"/>
                                        </p:tgtEl>
                                        <p:attrNameLst>
                                          <p:attrName>ppt_x</p:attrName>
                                        </p:attrNameLst>
                                      </p:cBhvr>
                                      <p:tavLst>
                                        <p:tav tm="0">
                                          <p:val>
                                            <p:strVal val="#ppt_x-0.05"/>
                                          </p:val>
                                        </p:tav>
                                        <p:tav tm="100000">
                                          <p:val>
                                            <p:strVal val="#ppt_x"/>
                                          </p:val>
                                        </p:tav>
                                      </p:tavLst>
                                    </p:anim>
                                  </p:childTnLst>
                                </p:cTn>
                              </p:par>
                              <p:par>
                                <p:cTn id="141" presetID="42" presetClass="entr" presetSubtype="0" fill="hold" nodeType="withEffect">
                                  <p:stCondLst>
                                    <p:cond delay="100"/>
                                  </p:stCondLst>
                                  <p:childTnLst>
                                    <p:set>
                                      <p:cBhvr>
                                        <p:cTn id="142" dur="1" fill="hold">
                                          <p:stCondLst>
                                            <p:cond delay="0"/>
                                          </p:stCondLst>
                                        </p:cTn>
                                        <p:tgtEl>
                                          <p:spTgt spid="134"/>
                                        </p:tgtEl>
                                        <p:attrNameLst>
                                          <p:attrName>style.visibility</p:attrName>
                                        </p:attrNameLst>
                                      </p:cBhvr>
                                      <p:to>
                                        <p:strVal val="visible"/>
                                      </p:to>
                                    </p:set>
                                    <p:animEffect transition="in" filter="fade">
                                      <p:cBhvr>
                                        <p:cTn id="143" dur="500"/>
                                        <p:tgtEl>
                                          <p:spTgt spid="134"/>
                                        </p:tgtEl>
                                      </p:cBhvr>
                                    </p:animEffect>
                                    <p:anim calcmode="lin" valueType="num">
                                      <p:cBhvr additive="base">
                                        <p:cTn id="144" dur="500" decel="100000" fill="hold"/>
                                        <p:tgtEl>
                                          <p:spTgt spid="134"/>
                                        </p:tgtEl>
                                        <p:attrNameLst>
                                          <p:attrName>ppt_x</p:attrName>
                                        </p:attrNameLst>
                                      </p:cBhvr>
                                      <p:tavLst>
                                        <p:tav tm="0">
                                          <p:val>
                                            <p:strVal val="#ppt_x-0.05"/>
                                          </p:val>
                                        </p:tav>
                                        <p:tav tm="100000">
                                          <p:val>
                                            <p:strVal val="#ppt_x"/>
                                          </p:val>
                                        </p:tav>
                                      </p:tavLst>
                                    </p:anim>
                                  </p:childTnLst>
                                </p:cTn>
                              </p:par>
                              <p:par>
                                <p:cTn id="145" presetID="42" presetClass="entr" presetSubtype="0" fill="hold" grpId="0" nodeType="withEffect">
                                  <p:stCondLst>
                                    <p:cond delay="100"/>
                                  </p:stCondLst>
                                  <p:childTnLst>
                                    <p:set>
                                      <p:cBhvr>
                                        <p:cTn id="146" dur="1" fill="hold">
                                          <p:stCondLst>
                                            <p:cond delay="0"/>
                                          </p:stCondLst>
                                        </p:cTn>
                                        <p:tgtEl>
                                          <p:spTgt spid="135"/>
                                        </p:tgtEl>
                                        <p:attrNameLst>
                                          <p:attrName>style.visibility</p:attrName>
                                        </p:attrNameLst>
                                      </p:cBhvr>
                                      <p:to>
                                        <p:strVal val="visible"/>
                                      </p:to>
                                    </p:set>
                                    <p:animEffect transition="in" filter="fade">
                                      <p:cBhvr>
                                        <p:cTn id="147" dur="500"/>
                                        <p:tgtEl>
                                          <p:spTgt spid="135"/>
                                        </p:tgtEl>
                                      </p:cBhvr>
                                    </p:animEffect>
                                    <p:anim calcmode="lin" valueType="num">
                                      <p:cBhvr additive="base">
                                        <p:cTn id="148" dur="500" decel="100000" fill="hold"/>
                                        <p:tgtEl>
                                          <p:spTgt spid="135"/>
                                        </p:tgtEl>
                                        <p:attrNameLst>
                                          <p:attrName>ppt_x</p:attrName>
                                        </p:attrNameLst>
                                      </p:cBhvr>
                                      <p:tavLst>
                                        <p:tav tm="0">
                                          <p:val>
                                            <p:strVal val="#ppt_x-0.05"/>
                                          </p:val>
                                        </p:tav>
                                        <p:tav tm="100000">
                                          <p:val>
                                            <p:strVal val="#ppt_x"/>
                                          </p:val>
                                        </p:tav>
                                      </p:tavLst>
                                    </p:anim>
                                  </p:childTnLst>
                                </p:cTn>
                              </p:par>
                              <p:par>
                                <p:cTn id="149" presetID="42" presetClass="entr" presetSubtype="0" fill="hold" grpId="0" nodeType="withEffect">
                                  <p:stCondLst>
                                    <p:cond delay="100"/>
                                  </p:stCondLst>
                                  <p:childTnLst>
                                    <p:set>
                                      <p:cBhvr>
                                        <p:cTn id="150" dur="1" fill="hold">
                                          <p:stCondLst>
                                            <p:cond delay="0"/>
                                          </p:stCondLst>
                                        </p:cTn>
                                        <p:tgtEl>
                                          <p:spTgt spid="136"/>
                                        </p:tgtEl>
                                        <p:attrNameLst>
                                          <p:attrName>style.visibility</p:attrName>
                                        </p:attrNameLst>
                                      </p:cBhvr>
                                      <p:to>
                                        <p:strVal val="visible"/>
                                      </p:to>
                                    </p:set>
                                    <p:animEffect transition="in" filter="fade">
                                      <p:cBhvr>
                                        <p:cTn id="151" dur="500"/>
                                        <p:tgtEl>
                                          <p:spTgt spid="136"/>
                                        </p:tgtEl>
                                      </p:cBhvr>
                                    </p:animEffect>
                                    <p:anim calcmode="lin" valueType="num">
                                      <p:cBhvr additive="base">
                                        <p:cTn id="152" dur="500" decel="100000" fill="hold"/>
                                        <p:tgtEl>
                                          <p:spTgt spid="136"/>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5" grpId="0" animBg="1"/>
      <p:bldP spid="136"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2114093"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TEST FIRST vs CODE FIRST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Test First or Code First? What Is the Difference?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Both end with tests. The ORDER changes what you build and how it is designed.</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UNIT TESTING · TDD</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179</a:t>
            </a:r>
            <a:endParaRPr lang="en-US" sz="850" dirty="0"/>
          </a:p>
        </p:txBody>
      </p:sp>
      <p:sp>
        <p:nvSpPr>
          <p:cNvPr id="101" name="s101"/>
          <p:cNvSpPr/>
          <p:nvPr/>
        </p:nvSpPr>
        <p:spPr>
          <a:xfrm>
            <a:off x="543154" y="1810512"/>
            <a:ext cx="5406847" cy="2514600"/>
          </a:xfrm>
          <a:prstGeom prst="roundRect">
            <a:avLst>
              <a:gd name="adj" fmla="val 7000"/>
            </a:avLst>
          </a:prstGeom>
          <a:solidFill>
            <a:srgbClr val="111B2E"/>
          </a:solidFill>
          <a:ln w="19050">
            <a:solidFill>
              <a:srgbClr val="60A5FA"/>
            </a:solidFill>
            <a:prstDash val="solid"/>
          </a:ln>
        </p:spPr>
        <p:txBody>
          <a:bodyPr wrap="square" lIns="228600" tIns="164592" rIns="182880" bIns="109728" rtlCol="0" anchor="t">
            <a:noAutofit/>
          </a:bodyPr>
          <a:lstStyle/>
          <a:p>
            <a:pPr marL="0" indent="0" algn="l">
              <a:spcBef>
                <a:spcPts val="0"/>
              </a:spcBef>
              <a:spcAft>
                <a:spcPts val="800"/>
              </a:spcAft>
              <a:buNone/>
            </a:pPr>
            <a:r>
              <a:rPr lang="en-US" sz="1600" b="1" dirty="0">
                <a:solidFill>
                  <a:srgbClr val="60A5FA"/>
                </a:solidFill>
                <a:latin typeface="Segoe UI"/>
                <a:ea typeface="Segoe UI"/>
                <a:cs typeface="Segoe UI"/>
              </a:rPr>
              <a:t>CODE FIRST</a:t>
            </a:r>
            <a:endParaRPr lang="en-US" sz="1600" dirty="0"/>
          </a:p>
          <a:p>
            <a:pPr marL="0" indent="0" algn="l">
              <a:spcBef>
                <a:spcPts val="0"/>
              </a:spcBef>
              <a:spcAft>
                <a:spcPts val="500"/>
              </a:spcAft>
              <a:buNone/>
            </a:pPr>
            <a:r>
              <a:rPr lang="en-US" sz="1250" b="0" dirty="0">
                <a:solidFill>
                  <a:srgbClr val="60A5FA"/>
                </a:solidFill>
                <a:latin typeface="Segoe UI"/>
                <a:ea typeface="Segoe UI"/>
                <a:cs typeface="Segoe UI"/>
              </a:rPr>
              <a:t>•  </a:t>
            </a:r>
            <a:r>
              <a:rPr lang="en-US" sz="1250" b="0" dirty="0">
                <a:solidFill>
                  <a:srgbClr val="E2E8F0"/>
                </a:solidFill>
                <a:latin typeface="Segoe UI"/>
                <a:ea typeface="Segoe UI"/>
                <a:cs typeface="Segoe UI"/>
              </a:rPr>
              <a:t>you design WHILE coding</a:t>
            </a:r>
            <a:endParaRPr lang="en-US" sz="1250" dirty="0"/>
          </a:p>
          <a:p>
            <a:pPr marL="0" indent="0" algn="l">
              <a:spcBef>
                <a:spcPts val="0"/>
              </a:spcBef>
              <a:spcAft>
                <a:spcPts val="500"/>
              </a:spcAft>
              <a:buNone/>
            </a:pPr>
            <a:r>
              <a:rPr lang="en-US" sz="1250" b="0" dirty="0">
                <a:solidFill>
                  <a:srgbClr val="60A5FA"/>
                </a:solidFill>
                <a:latin typeface="Segoe UI"/>
                <a:ea typeface="Segoe UI"/>
                <a:cs typeface="Segoe UI"/>
              </a:rPr>
              <a:t>•  </a:t>
            </a:r>
            <a:r>
              <a:rPr lang="en-US" sz="1250" b="0" dirty="0">
                <a:solidFill>
                  <a:srgbClr val="E2E8F0"/>
                </a:solidFill>
                <a:latin typeface="Segoe UI"/>
                <a:ea typeface="Segoe UI"/>
                <a:cs typeface="Segoe UI"/>
              </a:rPr>
              <a:t>tests come later (often skipped when time is short)</a:t>
            </a:r>
            <a:endParaRPr lang="en-US" sz="1250" dirty="0"/>
          </a:p>
          <a:p>
            <a:pPr marL="0" indent="0" algn="l">
              <a:spcBef>
                <a:spcPts val="0"/>
              </a:spcBef>
              <a:spcAft>
                <a:spcPts val="500"/>
              </a:spcAft>
              <a:buNone/>
            </a:pPr>
            <a:r>
              <a:rPr lang="en-US" sz="1250" b="0" dirty="0">
                <a:solidFill>
                  <a:srgbClr val="60A5FA"/>
                </a:solidFill>
                <a:latin typeface="Segoe UI"/>
                <a:ea typeface="Segoe UI"/>
                <a:cs typeface="Segoe UI"/>
              </a:rPr>
              <a:t>•  </a:t>
            </a:r>
            <a:r>
              <a:rPr lang="en-US" sz="1250" b="0" dirty="0">
                <a:solidFill>
                  <a:srgbClr val="E2E8F0"/>
                </a:solidFill>
                <a:latin typeface="Segoe UI"/>
                <a:ea typeface="Segoe UI"/>
                <a:cs typeface="Segoe UI"/>
              </a:rPr>
              <a:t>code is often HARD to test: hidden dependencies, big methods</a:t>
            </a:r>
            <a:endParaRPr lang="en-US" sz="1250" dirty="0"/>
          </a:p>
          <a:p>
            <a:pPr marL="0" indent="0" algn="l">
              <a:spcBef>
                <a:spcPts val="0"/>
              </a:spcBef>
              <a:spcAft>
                <a:spcPts val="500"/>
              </a:spcAft>
              <a:buNone/>
            </a:pPr>
            <a:r>
              <a:rPr lang="en-US" sz="1250" b="0" dirty="0">
                <a:solidFill>
                  <a:srgbClr val="60A5FA"/>
                </a:solidFill>
                <a:latin typeface="Segoe UI"/>
                <a:ea typeface="Segoe UI"/>
                <a:cs typeface="Segoe UI"/>
              </a:rPr>
              <a:t>•  </a:t>
            </a:r>
            <a:r>
              <a:rPr lang="en-US" sz="1250" b="0" dirty="0">
                <a:solidFill>
                  <a:srgbClr val="E2E8F0"/>
                </a:solidFill>
                <a:latin typeface="Segoe UI"/>
                <a:ea typeface="Segoe UI"/>
                <a:cs typeface="Segoe UI"/>
              </a:rPr>
              <a:t>tests may just confirm what the code already does</a:t>
            </a:r>
            <a:endParaRPr lang="en-US" sz="1250" dirty="0"/>
          </a:p>
          <a:p>
            <a:pPr marL="0" indent="0" algn="l">
              <a:spcBef>
                <a:spcPts val="400"/>
              </a:spcBef>
              <a:spcAft>
                <a:spcPts val="0"/>
              </a:spcAft>
              <a:buNone/>
            </a:pPr>
            <a:r>
              <a:rPr lang="en-US" sz="1300" b="0" dirty="0">
                <a:solidFill>
                  <a:srgbClr val="60A5FA"/>
                </a:solidFill>
                <a:latin typeface="Segoe UI"/>
                <a:ea typeface="Segoe UI"/>
                <a:cs typeface="Segoe UI"/>
              </a:rPr>
              <a:t>→  </a:t>
            </a:r>
            <a:r>
              <a:rPr lang="en-US" sz="1300" b="1" dirty="0">
                <a:solidFill>
                  <a:srgbClr val="FFFFFF"/>
                </a:solidFill>
                <a:latin typeface="Segoe UI"/>
                <a:ea typeface="Segoe UI"/>
                <a:cs typeface="Segoe UI"/>
              </a:rPr>
              <a:t>fast to start, risky to change later</a:t>
            </a:r>
            <a:endParaRPr lang="en-US" sz="1300" dirty="0"/>
          </a:p>
        </p:txBody>
      </p:sp>
      <p:sp>
        <p:nvSpPr>
          <p:cNvPr id="102" name="s102"/>
          <p:cNvSpPr/>
          <p:nvPr/>
        </p:nvSpPr>
        <p:spPr>
          <a:xfrm>
            <a:off x="6224321" y="1810512"/>
            <a:ext cx="5406847" cy="2514600"/>
          </a:xfrm>
          <a:prstGeom prst="roundRect">
            <a:avLst>
              <a:gd name="adj" fmla="val 7000"/>
            </a:avLst>
          </a:prstGeom>
          <a:solidFill>
            <a:srgbClr val="111B2E"/>
          </a:solidFill>
          <a:ln w="19050">
            <a:solidFill>
              <a:srgbClr val="F87171"/>
            </a:solidFill>
            <a:prstDash val="solid"/>
          </a:ln>
        </p:spPr>
        <p:txBody>
          <a:bodyPr wrap="square" lIns="228600" tIns="164592" rIns="182880" bIns="109728" rtlCol="0" anchor="t">
            <a:noAutofit/>
          </a:bodyPr>
          <a:lstStyle/>
          <a:p>
            <a:pPr marL="0" indent="0" algn="l">
              <a:spcBef>
                <a:spcPts val="0"/>
              </a:spcBef>
              <a:spcAft>
                <a:spcPts val="800"/>
              </a:spcAft>
              <a:buNone/>
            </a:pPr>
            <a:r>
              <a:rPr lang="en-US" sz="1600" b="1" dirty="0">
                <a:solidFill>
                  <a:srgbClr val="F87171"/>
                </a:solidFill>
                <a:latin typeface="Segoe UI"/>
                <a:ea typeface="Segoe UI"/>
                <a:cs typeface="Segoe UI"/>
              </a:rPr>
              <a:t>TEST FIRST  (TDD)</a:t>
            </a:r>
            <a:endParaRPr lang="en-US" sz="1600" dirty="0"/>
          </a:p>
          <a:p>
            <a:pPr marL="0" indent="0" algn="l">
              <a:spcBef>
                <a:spcPts val="0"/>
              </a:spcBef>
              <a:spcAft>
                <a:spcPts val="500"/>
              </a:spcAft>
              <a:buNone/>
            </a:pPr>
            <a:r>
              <a:rPr lang="en-US" sz="1250" b="0" dirty="0">
                <a:solidFill>
                  <a:srgbClr val="F87171"/>
                </a:solidFill>
                <a:latin typeface="Segoe UI"/>
                <a:ea typeface="Segoe UI"/>
                <a:cs typeface="Segoe UI"/>
              </a:rPr>
              <a:t>•  </a:t>
            </a:r>
            <a:r>
              <a:rPr lang="en-US" sz="1250" b="0" dirty="0">
                <a:solidFill>
                  <a:srgbClr val="E2E8F0"/>
                </a:solidFill>
                <a:latin typeface="Segoe UI"/>
                <a:ea typeface="Segoe UI"/>
                <a:cs typeface="Segoe UI"/>
              </a:rPr>
              <a:t>the test is the FIRST USER of your code: clean API</a:t>
            </a:r>
            <a:endParaRPr lang="en-US" sz="1250" dirty="0"/>
          </a:p>
          <a:p>
            <a:pPr marL="0" indent="0" algn="l">
              <a:spcBef>
                <a:spcPts val="0"/>
              </a:spcBef>
              <a:spcAft>
                <a:spcPts val="500"/>
              </a:spcAft>
              <a:buNone/>
            </a:pPr>
            <a:r>
              <a:rPr lang="en-US" sz="1250" b="0" dirty="0">
                <a:solidFill>
                  <a:srgbClr val="F87171"/>
                </a:solidFill>
                <a:latin typeface="Segoe UI"/>
                <a:ea typeface="Segoe UI"/>
                <a:cs typeface="Segoe UI"/>
              </a:rPr>
              <a:t>•  </a:t>
            </a:r>
            <a:r>
              <a:rPr lang="en-US" sz="1250" b="0" dirty="0">
                <a:solidFill>
                  <a:srgbClr val="E2E8F0"/>
                </a:solidFill>
                <a:latin typeface="Segoe UI"/>
                <a:ea typeface="Segoe UI"/>
                <a:cs typeface="Segoe UI"/>
              </a:rPr>
              <a:t>you write only what a test asks for: no extra code</a:t>
            </a:r>
            <a:endParaRPr lang="en-US" sz="1250" dirty="0"/>
          </a:p>
          <a:p>
            <a:pPr marL="0" indent="0" algn="l">
              <a:spcBef>
                <a:spcPts val="0"/>
              </a:spcBef>
              <a:spcAft>
                <a:spcPts val="500"/>
              </a:spcAft>
              <a:buNone/>
            </a:pPr>
            <a:r>
              <a:rPr lang="en-US" sz="1250" b="0" dirty="0">
                <a:solidFill>
                  <a:srgbClr val="F87171"/>
                </a:solidFill>
                <a:latin typeface="Segoe UI"/>
                <a:ea typeface="Segoe UI"/>
                <a:cs typeface="Segoe UI"/>
              </a:rPr>
              <a:t>•  </a:t>
            </a:r>
            <a:r>
              <a:rPr lang="en-US" sz="1250" b="0" dirty="0">
                <a:solidFill>
                  <a:srgbClr val="E2E8F0"/>
                </a:solidFill>
                <a:latin typeface="Segoe UI"/>
                <a:ea typeface="Segoe UI"/>
                <a:cs typeface="Segoe UI"/>
              </a:rPr>
              <a:t>testable by design: dependencies are passed in</a:t>
            </a:r>
            <a:endParaRPr lang="en-US" sz="1250" dirty="0"/>
          </a:p>
          <a:p>
            <a:pPr marL="0" indent="0" algn="l">
              <a:spcBef>
                <a:spcPts val="0"/>
              </a:spcBef>
              <a:spcAft>
                <a:spcPts val="500"/>
              </a:spcAft>
              <a:buNone/>
            </a:pPr>
            <a:r>
              <a:rPr lang="en-US" sz="1250" b="0" dirty="0">
                <a:solidFill>
                  <a:srgbClr val="F87171"/>
                </a:solidFill>
                <a:latin typeface="Segoe UI"/>
                <a:ea typeface="Segoe UI"/>
                <a:cs typeface="Segoe UI"/>
              </a:rPr>
              <a:t>•  </a:t>
            </a:r>
            <a:r>
              <a:rPr lang="en-US" sz="1250" b="0" dirty="0">
                <a:solidFill>
                  <a:srgbClr val="E2E8F0"/>
                </a:solidFill>
                <a:latin typeface="Segoe UI"/>
                <a:ea typeface="Segoe UI"/>
                <a:cs typeface="Segoe UI"/>
              </a:rPr>
              <a:t>safety net from minute one: refactor without fear</a:t>
            </a:r>
            <a:endParaRPr lang="en-US" sz="1250" dirty="0"/>
          </a:p>
          <a:p>
            <a:pPr marL="0" indent="0" algn="l">
              <a:spcBef>
                <a:spcPts val="400"/>
              </a:spcBef>
              <a:spcAft>
                <a:spcPts val="0"/>
              </a:spcAft>
              <a:buNone/>
            </a:pPr>
            <a:r>
              <a:rPr lang="en-US" sz="1300" b="0" dirty="0">
                <a:solidFill>
                  <a:srgbClr val="F87171"/>
                </a:solidFill>
                <a:latin typeface="Segoe UI"/>
                <a:ea typeface="Segoe UI"/>
                <a:cs typeface="Segoe UI"/>
              </a:rPr>
              <a:t>→  </a:t>
            </a:r>
            <a:r>
              <a:rPr lang="en-US" sz="1300" b="1" dirty="0">
                <a:solidFill>
                  <a:srgbClr val="FFFFFF"/>
                </a:solidFill>
                <a:latin typeface="Segoe UI"/>
                <a:ea typeface="Segoe UI"/>
                <a:cs typeface="Segoe UI"/>
              </a:rPr>
              <a:t>slower at first, safer and cleaner later</a:t>
            </a:r>
            <a:endParaRPr lang="en-US" sz="1300" dirty="0"/>
          </a:p>
        </p:txBody>
      </p:sp>
      <p:sp>
        <p:nvSpPr>
          <p:cNvPr id="103" name="s103"/>
          <p:cNvSpPr/>
          <p:nvPr/>
        </p:nvSpPr>
        <p:spPr>
          <a:xfrm>
            <a:off x="543154" y="4462272"/>
            <a:ext cx="11088014" cy="804672"/>
          </a:xfrm>
          <a:prstGeom prst="roundRect">
            <a:avLst>
              <a:gd name="adj" fmla="val 12000"/>
            </a:avLst>
          </a:prstGeom>
          <a:solidFill>
            <a:srgbClr val="34D399">
              <a:alpha val="10000"/>
            </a:srgbClr>
          </a:solidFill>
          <a:ln w="12700">
            <a:solidFill>
              <a:srgbClr val="34D399"/>
            </a:solidFill>
            <a:prstDash val="solid"/>
          </a:ln>
        </p:spPr>
        <p:txBody>
          <a:bodyPr wrap="square" lIns="228600" tIns="45720" rIns="182880" bIns="45720" rtlCol="0" anchor="ctr">
            <a:noAutofit/>
          </a:bodyPr>
          <a:lstStyle/>
          <a:p>
            <a:pPr marL="0" indent="0" algn="l">
              <a:spcBef>
                <a:spcPts val="0"/>
              </a:spcBef>
              <a:spcAft>
                <a:spcPts val="300"/>
              </a:spcAft>
              <a:buNone/>
            </a:pPr>
            <a:r>
              <a:rPr lang="en-US" sz="1200" b="1" dirty="0">
                <a:solidFill>
                  <a:srgbClr val="34D399"/>
                </a:solidFill>
                <a:latin typeface="Segoe UI"/>
                <a:ea typeface="Segoe UI"/>
                <a:cs typeface="Segoe UI"/>
              </a:rPr>
              <a:t>PREFER TEST FIRST WHEN …</a:t>
            </a:r>
            <a:endParaRPr lang="en-US" sz="1200" dirty="0"/>
          </a:p>
          <a:p>
            <a:pPr marL="0" indent="0" algn="l">
              <a:spcBef>
                <a:spcPts val="0"/>
              </a:spcBef>
              <a:spcAft>
                <a:spcPts val="0"/>
              </a:spcAft>
              <a:buNone/>
            </a:pPr>
            <a:r>
              <a:rPr lang="en-US" sz="1300" b="0" dirty="0">
                <a:solidFill>
                  <a:srgbClr val="E2E8F0"/>
                </a:solidFill>
                <a:latin typeface="Segoe UI"/>
                <a:ea typeface="Segoe UI"/>
                <a:cs typeface="Segoe UI"/>
              </a:rPr>
              <a:t>business rules and calculations  ·  fixing a bug (reproduce it in a red test first)  ·  the requirement is clear</a:t>
            </a:r>
            <a:endParaRPr lang="en-US" sz="1300" dirty="0"/>
          </a:p>
        </p:txBody>
      </p:sp>
      <p:sp>
        <p:nvSpPr>
          <p:cNvPr id="104" name="s104"/>
          <p:cNvSpPr/>
          <p:nvPr/>
        </p:nvSpPr>
        <p:spPr>
          <a:xfrm>
            <a:off x="543154" y="5358384"/>
            <a:ext cx="11088014" cy="804672"/>
          </a:xfrm>
          <a:prstGeom prst="roundRect">
            <a:avLst>
              <a:gd name="adj" fmla="val 12000"/>
            </a:avLst>
          </a:prstGeom>
          <a:solidFill>
            <a:srgbClr val="FBBF24">
              <a:alpha val="10000"/>
            </a:srgbClr>
          </a:solidFill>
          <a:ln w="12700">
            <a:solidFill>
              <a:srgbClr val="FBBF24"/>
            </a:solidFill>
            <a:prstDash val="solid"/>
          </a:ln>
        </p:spPr>
        <p:txBody>
          <a:bodyPr wrap="square" lIns="228600" tIns="45720" rIns="182880" bIns="45720" rtlCol="0" anchor="ctr">
            <a:noAutofit/>
          </a:bodyPr>
          <a:lstStyle/>
          <a:p>
            <a:pPr marL="0" indent="0" algn="l">
              <a:spcBef>
                <a:spcPts val="0"/>
              </a:spcBef>
              <a:spcAft>
                <a:spcPts val="300"/>
              </a:spcAft>
              <a:buNone/>
            </a:pPr>
            <a:r>
              <a:rPr lang="en-US" sz="1200" b="1" dirty="0">
                <a:solidFill>
                  <a:srgbClr val="FBBF24"/>
                </a:solidFill>
                <a:latin typeface="Segoe UI"/>
                <a:ea typeface="Segoe UI"/>
                <a:cs typeface="Segoe UI"/>
              </a:rPr>
              <a:t>CODE FIRST IS FINE WHEN …</a:t>
            </a:r>
            <a:endParaRPr lang="en-US" sz="1200" dirty="0"/>
          </a:p>
          <a:p>
            <a:pPr marL="0" indent="0" algn="l">
              <a:spcBef>
                <a:spcPts val="0"/>
              </a:spcBef>
              <a:spcAft>
                <a:spcPts val="0"/>
              </a:spcAft>
              <a:buNone/>
            </a:pPr>
            <a:r>
              <a:rPr lang="en-US" sz="1300" b="0" dirty="0">
                <a:solidFill>
                  <a:srgbClr val="E2E8F0"/>
                </a:solidFill>
                <a:latin typeface="Segoe UI"/>
                <a:ea typeface="Segoe UI"/>
                <a:cs typeface="Segoe UI"/>
              </a:rPr>
              <a:t>a spike or prototype you will throw away  ·  exploring a new library  ·  UI layout  →  add tests before you keep the code</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2"/>
                                        </p:tgtEl>
                                        <p:attrNameLst>
                                          <p:attrName>style.visibility</p:attrName>
                                        </p:attrNameLst>
                                      </p:cBhvr>
                                      <p:to>
                                        <p:strVal val="visible"/>
                                      </p:to>
                                    </p:set>
                                    <p:animEffect transition="in" filter="fade">
                                      <p:cBhvr>
                                        <p:cTn id="13" dur="500"/>
                                        <p:tgtEl>
                                          <p:spTgt spid="102"/>
                                        </p:tgtEl>
                                      </p:cBhvr>
                                    </p:animEffect>
                                    <p:anim calcmode="lin" valueType="num">
                                      <p:cBhvr additive="base">
                                        <p:cTn id="14"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3"/>
                                        </p:tgtEl>
                                        <p:attrNameLst>
                                          <p:attrName>style.visibility</p:attrName>
                                        </p:attrNameLst>
                                      </p:cBhvr>
                                      <p:to>
                                        <p:strVal val="visible"/>
                                      </p:to>
                                    </p:set>
                                    <p:animEffect transition="in" filter="fade">
                                      <p:cBhvr>
                                        <p:cTn id="19" dur="500"/>
                                        <p:tgtEl>
                                          <p:spTgt spid="103"/>
                                        </p:tgtEl>
                                      </p:cBhvr>
                                    </p:animEffect>
                                    <p:anim calcmode="lin" valueType="num">
                                      <p:cBhvr additive="base">
                                        <p:cTn id="20" dur="500" decel="100000" fill="hold"/>
                                        <p:tgtEl>
                                          <p:spTgt spid="103"/>
                                        </p:tgtEl>
                                        <p:attrNameLst>
                                          <p:attrName>ppt_x</p:attrName>
                                        </p:attrNameLst>
                                      </p:cBhvr>
                                      <p:tavLst>
                                        <p:tav tm="0">
                                          <p:val>
                                            <p:strVal val="#ppt_x-0.05"/>
                                          </p:val>
                                        </p:tav>
                                        <p:tav tm="100000">
                                          <p:val>
                                            <p:strVal val="#ppt_x"/>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childTnLst>
                                    <p:set>
                                      <p:cBhvr>
                                        <p:cTn id="24" dur="1" fill="hold">
                                          <p:stCondLst>
                                            <p:cond delay="0"/>
                                          </p:stCondLst>
                                        </p:cTn>
                                        <p:tgtEl>
                                          <p:spTgt spid="104"/>
                                        </p:tgtEl>
                                        <p:attrNameLst>
                                          <p:attrName>style.visibility</p:attrName>
                                        </p:attrNameLst>
                                      </p:cBhvr>
                                      <p:to>
                                        <p:strVal val="visible"/>
                                      </p:to>
                                    </p:set>
                                    <p:animEffect transition="in" filter="fade">
                                      <p:cBhvr>
                                        <p:cTn id="25" dur="500"/>
                                        <p:tgtEl>
                                          <p:spTgt spid="104"/>
                                        </p:tgtEl>
                                      </p:cBhvr>
                                    </p:animEffect>
                                    <p:anim calcmode="lin" valueType="num">
                                      <p:cBhvr additive="base">
                                        <p:cTn id="26" dur="500" decel="100000" fill="hold"/>
                                        <p:tgtEl>
                                          <p:spTgt spid="104"/>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PART 11</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&amp; SCRUM</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180</a:t>
            </a:r>
            <a:endParaRPr lang="en-US" sz="850" dirty="0"/>
          </a:p>
        </p:txBody>
      </p:sp>
      <p:sp>
        <p:nvSpPr>
          <p:cNvPr id="101" name="s101"/>
          <p:cNvSpPr txBox="1"/>
          <p:nvPr/>
        </p:nvSpPr>
        <p:spPr>
          <a:xfrm>
            <a:off x="543154" y="1234440"/>
            <a:ext cx="2286000" cy="13716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13D0F7"/>
                </a:solidFill>
                <a:latin typeface="Segoe UI"/>
                <a:ea typeface="Segoe UI"/>
                <a:cs typeface="Segoe UI"/>
              </a:rPr>
              <a:t>2</a:t>
            </a:r>
            <a:endParaRPr lang="en-US" sz="9600" dirty="0"/>
          </a:p>
        </p:txBody>
      </p:sp>
      <p:sp>
        <p:nvSpPr>
          <p:cNvPr id="102" name="s102"/>
          <p:cNvSpPr txBox="1"/>
          <p:nvPr/>
        </p:nvSpPr>
        <p:spPr>
          <a:xfrm>
            <a:off x="543154" y="2514600"/>
            <a:ext cx="6949440" cy="9144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5400" b="1" dirty="0">
                <a:solidFill>
                  <a:srgbClr val="FFFFFF"/>
                </a:solidFill>
                <a:latin typeface="Segoe UI"/>
                <a:ea typeface="Segoe UI"/>
                <a:cs typeface="Segoe UI"/>
              </a:rPr>
              <a:t>Agile &amp; Scrum</a:t>
            </a:r>
            <a:endParaRPr lang="en-US" sz="5400" dirty="0"/>
          </a:p>
        </p:txBody>
      </p:sp>
      <p:sp>
        <p:nvSpPr>
          <p:cNvPr id="103" name="s103"/>
          <p:cNvSpPr txBox="1"/>
          <p:nvPr/>
        </p:nvSpPr>
        <p:spPr>
          <a:xfrm>
            <a:off x="570586" y="3520440"/>
            <a:ext cx="676656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2000" b="0" dirty="0">
                <a:solidFill>
                  <a:srgbClr val="E2E8F0"/>
                </a:solidFill>
                <a:latin typeface="Segoe UI"/>
                <a:ea typeface="Segoe UI"/>
                <a:cs typeface="Segoe UI"/>
              </a:rPr>
              <a:t>From mindset to a real Sprint, with a real customer.</a:t>
            </a:r>
            <a:endParaRPr lang="en-US" sz="2000" dirty="0"/>
          </a:p>
        </p:txBody>
      </p:sp>
      <p:sp>
        <p:nvSpPr>
          <p:cNvPr id="104" name="s104"/>
          <p:cNvSpPr txBox="1"/>
          <p:nvPr/>
        </p:nvSpPr>
        <p:spPr>
          <a:xfrm>
            <a:off x="570586" y="4160520"/>
            <a:ext cx="6583680" cy="914400"/>
          </a:xfrm>
          <a:prstGeom prst="rect">
            <a:avLst/>
          </a:prstGeom>
          <a:noFill/>
          <a:ln>
            <a:noFill/>
          </a:ln>
        </p:spPr>
        <p:txBody>
          <a:bodyPr wrap="square" lIns="0" tIns="0" rIns="0" bIns="0" rtlCol="0" anchor="t">
            <a:noAutofit/>
          </a:bodyPr>
          <a:lstStyle/>
          <a:p>
            <a:pPr marL="0" indent="0" algn="l">
              <a:lnSpc>
                <a:spcPct val="125000"/>
              </a:lnSpc>
              <a:spcBef>
                <a:spcPts val="0"/>
              </a:spcBef>
              <a:spcAft>
                <a:spcPts val="0"/>
              </a:spcAft>
              <a:buNone/>
            </a:pPr>
            <a:r>
              <a:rPr lang="en-US" sz="1300" b="0" dirty="0">
                <a:solidFill>
                  <a:srgbClr val="94A3B8"/>
                </a:solidFill>
                <a:latin typeface="Segoe UI"/>
                <a:ea typeface="Segoe UI"/>
                <a:cs typeface="Segoe UI"/>
              </a:rPr>
              <a:t>Methodologies  ·  Agile mindset  ·  Manifesto  ·  12 principles  ·  Scrum team  ·  Backlog &amp; stories  ·  Estimation  ·  Sprint events  ·  Done  ·  Metrics  ·  GitHub lab</a:t>
            </a:r>
            <a:endParaRPr lang="en-US" sz="1300" dirty="0"/>
          </a:p>
        </p:txBody>
      </p:sp>
      <p:sp>
        <p:nvSpPr>
          <p:cNvPr id="105" name="s105"/>
          <p:cNvSpPr/>
          <p:nvPr/>
        </p:nvSpPr>
        <p:spPr>
          <a:xfrm>
            <a:off x="7680960" y="1554480"/>
            <a:ext cx="3200400" cy="3200400"/>
          </a:xfrm>
          <a:prstGeom prst="circularArrow">
            <a:avLst>
              <a:gd name="adj1" fmla="val 7000"/>
              <a:gd name="adj2" fmla="val 1142319"/>
              <a:gd name="adj3" fmla="val 3600000"/>
              <a:gd name="adj4" fmla="val 7200000"/>
              <a:gd name="adj5" fmla="val 8000"/>
            </a:avLst>
          </a:prstGeom>
          <a:solidFill>
            <a:srgbClr val="13D0F7">
              <a:alpha val="85000"/>
            </a:srgbClr>
          </a:solidFill>
          <a:ln>
            <a:noFill/>
          </a:ln>
        </p:spPr>
        <p:txBody>
          <a:bodyPr wrap="square" lIns="164592" tIns="109728" rIns="137160" bIns="91440" rtlCol="0" anchor="t">
            <a:noAutofit/>
          </a:bodyPr>
          <a:lstStyle/>
          <a:p>
            <a:endParaRPr lang="en-US"/>
          </a:p>
        </p:txBody>
      </p:sp>
      <p:sp>
        <p:nvSpPr>
          <p:cNvPr id="106" name="s106"/>
          <p:cNvSpPr/>
          <p:nvPr/>
        </p:nvSpPr>
        <p:spPr>
          <a:xfrm>
            <a:off x="8412480" y="2286000"/>
            <a:ext cx="1737360" cy="1737360"/>
          </a:xfrm>
          <a:prstGeom prst="ellipse">
            <a:avLst/>
          </a:prstGeom>
          <a:solidFill>
            <a:srgbClr val="111B2E"/>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800" b="1" dirty="0">
                <a:solidFill>
                  <a:srgbClr val="FFFFFF"/>
                </a:solidFill>
                <a:latin typeface="Segoe UI"/>
                <a:ea typeface="Segoe UI"/>
                <a:cs typeface="Segoe UI"/>
              </a:rPr>
              <a:t>SPRINT</a:t>
            </a:r>
            <a:endParaRPr lang="en-US" sz="1800" dirty="0"/>
          </a:p>
          <a:p>
            <a:pPr marL="0" indent="0" algn="ctr">
              <a:spcBef>
                <a:spcPts val="0"/>
              </a:spcBef>
              <a:spcAft>
                <a:spcPts val="0"/>
              </a:spcAft>
              <a:buNone/>
            </a:pPr>
            <a:r>
              <a:rPr lang="en-US" sz="1100" b="0" dirty="0">
                <a:solidFill>
                  <a:srgbClr val="94A3B8"/>
                </a:solidFill>
                <a:latin typeface="Segoe UI"/>
                <a:ea typeface="Segoe UI"/>
                <a:cs typeface="Segoe UI"/>
              </a:rPr>
              <a:t>1–4 weeks</a:t>
            </a:r>
            <a:endParaRPr lang="en-US" sz="1100" dirty="0"/>
          </a:p>
        </p:txBody>
      </p:sp>
      <p:sp>
        <p:nvSpPr>
          <p:cNvPr id="107" name="s107"/>
          <p:cNvSpPr/>
          <p:nvPr/>
        </p:nvSpPr>
        <p:spPr>
          <a:xfrm>
            <a:off x="8823960" y="1325880"/>
            <a:ext cx="914400" cy="365760"/>
          </a:xfrm>
          <a:prstGeom prst="roundRect">
            <a:avLst>
              <a:gd name="adj" fmla="val 50000"/>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Plan</a:t>
            </a:r>
            <a:endParaRPr lang="en-US" sz="1100" dirty="0"/>
          </a:p>
        </p:txBody>
      </p:sp>
      <p:sp>
        <p:nvSpPr>
          <p:cNvPr id="108" name="s108"/>
          <p:cNvSpPr/>
          <p:nvPr/>
        </p:nvSpPr>
        <p:spPr>
          <a:xfrm>
            <a:off x="10389323" y="2463183"/>
            <a:ext cx="914400" cy="365760"/>
          </a:xfrm>
          <a:prstGeom prst="roundRect">
            <a:avLst>
              <a:gd name="adj" fmla="val 50000"/>
            </a:avLst>
          </a:prstGeom>
          <a:solidFill>
            <a:srgbClr val="34D399"/>
          </a:solidFill>
          <a:ln w="127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Build</a:t>
            </a:r>
            <a:endParaRPr lang="en-US" sz="1100" dirty="0"/>
          </a:p>
        </p:txBody>
      </p:sp>
      <p:sp>
        <p:nvSpPr>
          <p:cNvPr id="109" name="s109"/>
          <p:cNvSpPr/>
          <p:nvPr/>
        </p:nvSpPr>
        <p:spPr>
          <a:xfrm>
            <a:off x="9791408" y="4303377"/>
            <a:ext cx="914400" cy="365760"/>
          </a:xfrm>
          <a:prstGeom prst="roundRect">
            <a:avLst>
              <a:gd name="adj" fmla="val 50000"/>
            </a:avLst>
          </a:prstGeom>
          <a:solidFill>
            <a:srgbClr val="60A5FA"/>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Daily</a:t>
            </a:r>
            <a:endParaRPr lang="en-US" sz="1100" dirty="0"/>
          </a:p>
        </p:txBody>
      </p:sp>
      <p:sp>
        <p:nvSpPr>
          <p:cNvPr id="110" name="s110"/>
          <p:cNvSpPr/>
          <p:nvPr/>
        </p:nvSpPr>
        <p:spPr>
          <a:xfrm>
            <a:off x="7856512" y="4303377"/>
            <a:ext cx="914400" cy="365760"/>
          </a:xfrm>
          <a:prstGeom prst="roundRect">
            <a:avLst>
              <a:gd name="adj" fmla="val 50000"/>
            </a:avLst>
          </a:prstGeom>
          <a:solidFill>
            <a:srgbClr val="A78BFA"/>
          </a:solidFill>
          <a:ln w="1270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Review</a:t>
            </a:r>
            <a:endParaRPr lang="en-US" sz="1100" dirty="0"/>
          </a:p>
        </p:txBody>
      </p:sp>
      <p:sp>
        <p:nvSpPr>
          <p:cNvPr id="111" name="s111"/>
          <p:cNvSpPr/>
          <p:nvPr/>
        </p:nvSpPr>
        <p:spPr>
          <a:xfrm>
            <a:off x="7258597" y="2463183"/>
            <a:ext cx="914400" cy="365760"/>
          </a:xfrm>
          <a:prstGeom prst="roundRect">
            <a:avLst>
              <a:gd name="adj" fmla="val 50000"/>
            </a:avLst>
          </a:prstGeom>
          <a:solidFill>
            <a:srgbClr val="F472B6"/>
          </a:solidFill>
          <a:ln w="12700">
            <a:solidFill>
              <a:srgbClr val="F472B6"/>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Retro</a:t>
            </a:r>
            <a:endParaRPr lang="en-US" sz="1100" dirty="0"/>
          </a:p>
        </p:txBody>
      </p:sp>
    </p:spTree>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6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600" decel="100000" fill="hold"/>
                                        <p:tgtEl>
                                          <p:spTgt spid="101"/>
                                        </p:tgtEl>
                                        <p:attrNameLst>
                                          <p:attrName>ppt_h</p:attrName>
                                        </p:attrNameLst>
                                      </p:cBhvr>
                                      <p:tavLst>
                                        <p:tav tm="0">
                                          <p:val>
                                            <p:strVal val="#ppt_h*0.3"/>
                                          </p:val>
                                        </p:tav>
                                        <p:tav tm="100000">
                                          <p:val>
                                            <p:strVal val="#ppt_h*1.08"/>
                                          </p:val>
                                        </p:tav>
                                      </p:tavLst>
                                    </p:anim>
                                    <p:animEffect transition="in" filter="fade">
                                      <p:cBhvr>
                                        <p:cTn id="9" dur="300"/>
                                        <p:tgtEl>
                                          <p:spTgt spid="101"/>
                                        </p:tgtEl>
                                      </p:cBhvr>
                                    </p:animEffect>
                                    <p:anim calcmode="lin" valueType="num">
                                      <p:cBhvr additive="base">
                                        <p:cTn id="10" dur="160" fill="hold">
                                          <p:stCondLst>
                                            <p:cond delay="6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60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6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600"/>
                                        <p:tgtEl>
                                          <p:spTgt spid="102"/>
                                        </p:tgtEl>
                                      </p:cBhvr>
                                    </p:animEffect>
                                    <p:anim calcmode="lin" valueType="num">
                                      <p:cBhvr additive="base">
                                        <p:cTn id="15" dur="6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32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600"/>
                                        <p:tgtEl>
                                          <p:spTgt spid="103"/>
                                        </p:tgtEl>
                                      </p:cBhvr>
                                    </p:animEffect>
                                    <p:anim calcmode="lin" valueType="num">
                                      <p:cBhvr additive="base">
                                        <p:cTn id="19" dur="600" decel="100000" fill="hold"/>
                                        <p:tgtEl>
                                          <p:spTgt spid="103"/>
                                        </p:tgtEl>
                                        <p:attrNameLst>
                                          <p:attrName>ppt_y</p:attrName>
                                        </p:attrNameLst>
                                      </p:cBhvr>
                                      <p:tavLst>
                                        <p:tav tm="0">
                                          <p:val>
                                            <p:strVal val="#ppt_y+0.06"/>
                                          </p:val>
                                        </p:tav>
                                        <p:tav tm="100000">
                                          <p:val>
                                            <p:strVal val="#ppt_y"/>
                                          </p:val>
                                        </p:tav>
                                      </p:tavLst>
                                    </p:anim>
                                  </p:childTnLst>
                                </p:cTn>
                              </p:par>
                              <p:par>
                                <p:cTn id="20" presetID="10" presetClass="entr" presetSubtype="0" fill="hold" grpId="0" nodeType="withEffect">
                                  <p:stCondLst>
                                    <p:cond delay="48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600"/>
                                        <p:tgtEl>
                                          <p:spTgt spid="104"/>
                                        </p:tgtEl>
                                      </p:cBhvr>
                                    </p:animEffect>
                                  </p:childTnLst>
                                </p:cTn>
                              </p:par>
                              <p:par>
                                <p:cTn id="23" presetID="53" presetClass="entr" presetSubtype="16" fill="hold" grpId="0" nodeType="withEffect">
                                  <p:stCondLst>
                                    <p:cond delay="480"/>
                                  </p:stCondLst>
                                  <p:childTnLst>
                                    <p:set>
                                      <p:cBhvr>
                                        <p:cTn id="24" dur="1" fill="hold">
                                          <p:stCondLst>
                                            <p:cond delay="0"/>
                                          </p:stCondLst>
                                        </p:cTn>
                                        <p:tgtEl>
                                          <p:spTgt spid="105"/>
                                        </p:tgtEl>
                                        <p:attrNameLst>
                                          <p:attrName>style.visibility</p:attrName>
                                        </p:attrNameLst>
                                      </p:cBhvr>
                                      <p:to>
                                        <p:strVal val="visible"/>
                                      </p:to>
                                    </p:set>
                                    <p:anim calcmode="lin" valueType="num">
                                      <p:cBhvr additive="base">
                                        <p:cTn id="25" dur="7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26" dur="700" decel="100000" fill="hold"/>
                                        <p:tgtEl>
                                          <p:spTgt spid="105"/>
                                        </p:tgtEl>
                                        <p:attrNameLst>
                                          <p:attrName>ppt_h</p:attrName>
                                        </p:attrNameLst>
                                      </p:cBhvr>
                                      <p:tavLst>
                                        <p:tav tm="0">
                                          <p:val>
                                            <p:strVal val="#ppt_h*0.55"/>
                                          </p:val>
                                        </p:tav>
                                        <p:tav tm="100000">
                                          <p:val>
                                            <p:strVal val="#ppt_h"/>
                                          </p:val>
                                        </p:tav>
                                      </p:tavLst>
                                    </p:anim>
                                    <p:animEffect transition="in" filter="fade">
                                      <p:cBhvr>
                                        <p:cTn id="27" dur="700"/>
                                        <p:tgtEl>
                                          <p:spTgt spid="105"/>
                                        </p:tgtEl>
                                      </p:cBhvr>
                                    </p:animEffect>
                                  </p:childTnLst>
                                </p:cTn>
                              </p:par>
                              <p:par>
                                <p:cTn id="28" presetID="53" presetClass="entr" presetSubtype="16" fill="hold" grpId="0" nodeType="withEffect">
                                  <p:stCondLst>
                                    <p:cond delay="630"/>
                                  </p:stCondLst>
                                  <p:childTnLst>
                                    <p:set>
                                      <p:cBhvr>
                                        <p:cTn id="29" dur="1" fill="hold">
                                          <p:stCondLst>
                                            <p:cond delay="0"/>
                                          </p:stCondLst>
                                        </p:cTn>
                                        <p:tgtEl>
                                          <p:spTgt spid="106"/>
                                        </p:tgtEl>
                                        <p:attrNameLst>
                                          <p:attrName>style.visibility</p:attrName>
                                        </p:attrNameLst>
                                      </p:cBhvr>
                                      <p:to>
                                        <p:strVal val="visible"/>
                                      </p:to>
                                    </p:set>
                                    <p:anim calcmode="lin" valueType="num">
                                      <p:cBhvr additive="base">
                                        <p:cTn id="30" dur="7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31" dur="700" decel="100000" fill="hold"/>
                                        <p:tgtEl>
                                          <p:spTgt spid="106"/>
                                        </p:tgtEl>
                                        <p:attrNameLst>
                                          <p:attrName>ppt_h</p:attrName>
                                        </p:attrNameLst>
                                      </p:cBhvr>
                                      <p:tavLst>
                                        <p:tav tm="0">
                                          <p:val>
                                            <p:strVal val="#ppt_h*0.3"/>
                                          </p:val>
                                        </p:tav>
                                        <p:tav tm="100000">
                                          <p:val>
                                            <p:strVal val="#ppt_h*1.08"/>
                                          </p:val>
                                        </p:tav>
                                      </p:tavLst>
                                    </p:anim>
                                    <p:animEffect transition="in" filter="fade">
                                      <p:cBhvr>
                                        <p:cTn id="32" dur="350"/>
                                        <p:tgtEl>
                                          <p:spTgt spid="106"/>
                                        </p:tgtEl>
                                      </p:cBhvr>
                                    </p:animEffect>
                                    <p:anim calcmode="lin" valueType="num">
                                      <p:cBhvr additive="base">
                                        <p:cTn id="33" dur="160" fill="hold">
                                          <p:stCondLst>
                                            <p:cond delay="700"/>
                                          </p:stCondLst>
                                        </p:cTn>
                                        <p:tgtEl>
                                          <p:spTgt spid="106"/>
                                        </p:tgtEl>
                                        <p:attrNameLst>
                                          <p:attrName>ppt_w</p:attrName>
                                        </p:attrNameLst>
                                      </p:cBhvr>
                                      <p:tavLst>
                                        <p:tav tm="0">
                                          <p:val>
                                            <p:strVal val="#ppt_w*1.08"/>
                                          </p:val>
                                        </p:tav>
                                        <p:tav tm="100000">
                                          <p:val>
                                            <p:strVal val="#ppt_w"/>
                                          </p:val>
                                        </p:tav>
                                      </p:tavLst>
                                    </p:anim>
                                    <p:anim calcmode="lin" valueType="num">
                                      <p:cBhvr additive="base">
                                        <p:cTn id="34" dur="160" fill="hold">
                                          <p:stCondLst>
                                            <p:cond delay="700"/>
                                          </p:stCondLst>
                                        </p:cTn>
                                        <p:tgtEl>
                                          <p:spTgt spid="106"/>
                                        </p:tgtEl>
                                        <p:attrNameLst>
                                          <p:attrName>ppt_h</p:attrName>
                                        </p:attrNameLst>
                                      </p:cBhvr>
                                      <p:tavLst>
                                        <p:tav tm="0">
                                          <p:val>
                                            <p:strVal val="#ppt_h*1.08"/>
                                          </p:val>
                                        </p:tav>
                                        <p:tav tm="100000">
                                          <p:val>
                                            <p:strVal val="#ppt_h"/>
                                          </p:val>
                                        </p:tav>
                                      </p:tavLst>
                                    </p:anim>
                                  </p:childTnLst>
                                </p:cTn>
                              </p:par>
                              <p:par>
                                <p:cTn id="35" presetID="8" presetClass="emph" presetSubtype="0" fill="hold" grpId="1" nodeType="withEffect">
                                  <p:stCondLst>
                                    <p:cond delay="630"/>
                                  </p:stCondLst>
                                  <p:childTnLst>
                                    <p:animRot by="21600000">
                                      <p:cBhvr>
                                        <p:cTn id="36" dur="1400" decel="60000" fill="hold"/>
                                        <p:tgtEl>
                                          <p:spTgt spid="105"/>
                                        </p:tgtEl>
                                        <p:attrNameLst>
                                          <p:attrName>r</p:attrName>
                                        </p:attrNameLst>
                                      </p:cBhvr>
                                    </p:animRot>
                                  </p:childTnLst>
                                </p:cTn>
                              </p:par>
                              <p:par>
                                <p:cTn id="37" presetID="53" presetClass="entr" presetSubtype="16" fill="hold" grpId="0" nodeType="withEffect">
                                  <p:stCondLst>
                                    <p:cond delay="830"/>
                                  </p:stCondLst>
                                  <p:childTnLst>
                                    <p:set>
                                      <p:cBhvr>
                                        <p:cTn id="38" dur="1" fill="hold">
                                          <p:stCondLst>
                                            <p:cond delay="0"/>
                                          </p:stCondLst>
                                        </p:cTn>
                                        <p:tgtEl>
                                          <p:spTgt spid="107"/>
                                        </p:tgtEl>
                                        <p:attrNameLst>
                                          <p:attrName>style.visibility</p:attrName>
                                        </p:attrNameLst>
                                      </p:cBhvr>
                                      <p:to>
                                        <p:strVal val="visible"/>
                                      </p:to>
                                    </p:set>
                                    <p:anim calcmode="lin" valueType="num">
                                      <p:cBhvr additive="base">
                                        <p:cTn id="39" dur="45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40" dur="450" decel="100000" fill="hold"/>
                                        <p:tgtEl>
                                          <p:spTgt spid="107"/>
                                        </p:tgtEl>
                                        <p:attrNameLst>
                                          <p:attrName>ppt_h</p:attrName>
                                        </p:attrNameLst>
                                      </p:cBhvr>
                                      <p:tavLst>
                                        <p:tav tm="0">
                                          <p:val>
                                            <p:strVal val="#ppt_h*0.3"/>
                                          </p:val>
                                        </p:tav>
                                        <p:tav tm="100000">
                                          <p:val>
                                            <p:strVal val="#ppt_h*1.08"/>
                                          </p:val>
                                        </p:tav>
                                      </p:tavLst>
                                    </p:anim>
                                    <p:animEffect transition="in" filter="fade">
                                      <p:cBhvr>
                                        <p:cTn id="41" dur="225"/>
                                        <p:tgtEl>
                                          <p:spTgt spid="107"/>
                                        </p:tgtEl>
                                      </p:cBhvr>
                                    </p:animEffect>
                                    <p:anim calcmode="lin" valueType="num">
                                      <p:cBhvr additive="base">
                                        <p:cTn id="42" dur="160" fill="hold">
                                          <p:stCondLst>
                                            <p:cond delay="450"/>
                                          </p:stCondLst>
                                        </p:cTn>
                                        <p:tgtEl>
                                          <p:spTgt spid="107"/>
                                        </p:tgtEl>
                                        <p:attrNameLst>
                                          <p:attrName>ppt_w</p:attrName>
                                        </p:attrNameLst>
                                      </p:cBhvr>
                                      <p:tavLst>
                                        <p:tav tm="0">
                                          <p:val>
                                            <p:strVal val="#ppt_w*1.08"/>
                                          </p:val>
                                        </p:tav>
                                        <p:tav tm="100000">
                                          <p:val>
                                            <p:strVal val="#ppt_w"/>
                                          </p:val>
                                        </p:tav>
                                      </p:tavLst>
                                    </p:anim>
                                    <p:anim calcmode="lin" valueType="num">
                                      <p:cBhvr additive="base">
                                        <p:cTn id="43" dur="160" fill="hold">
                                          <p:stCondLst>
                                            <p:cond delay="450"/>
                                          </p:stCondLst>
                                        </p:cTn>
                                        <p:tgtEl>
                                          <p:spTgt spid="107"/>
                                        </p:tgtEl>
                                        <p:attrNameLst>
                                          <p:attrName>ppt_h</p:attrName>
                                        </p:attrNameLst>
                                      </p:cBhvr>
                                      <p:tavLst>
                                        <p:tav tm="0">
                                          <p:val>
                                            <p:strVal val="#ppt_h*1.08"/>
                                          </p:val>
                                        </p:tav>
                                        <p:tav tm="100000">
                                          <p:val>
                                            <p:strVal val="#ppt_h"/>
                                          </p:val>
                                        </p:tav>
                                      </p:tavLst>
                                    </p:anim>
                                  </p:childTnLst>
                                </p:cTn>
                              </p:par>
                              <p:par>
                                <p:cTn id="44" presetID="53" presetClass="entr" presetSubtype="16" fill="hold" grpId="0" nodeType="withEffect">
                                  <p:stCondLst>
                                    <p:cond delay="960"/>
                                  </p:stCondLst>
                                  <p:childTnLst>
                                    <p:set>
                                      <p:cBhvr>
                                        <p:cTn id="45" dur="1" fill="hold">
                                          <p:stCondLst>
                                            <p:cond delay="0"/>
                                          </p:stCondLst>
                                        </p:cTn>
                                        <p:tgtEl>
                                          <p:spTgt spid="108"/>
                                        </p:tgtEl>
                                        <p:attrNameLst>
                                          <p:attrName>style.visibility</p:attrName>
                                        </p:attrNameLst>
                                      </p:cBhvr>
                                      <p:to>
                                        <p:strVal val="visible"/>
                                      </p:to>
                                    </p:set>
                                    <p:anim calcmode="lin" valueType="num">
                                      <p:cBhvr additive="base">
                                        <p:cTn id="46" dur="45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47" dur="450" decel="100000" fill="hold"/>
                                        <p:tgtEl>
                                          <p:spTgt spid="108"/>
                                        </p:tgtEl>
                                        <p:attrNameLst>
                                          <p:attrName>ppt_h</p:attrName>
                                        </p:attrNameLst>
                                      </p:cBhvr>
                                      <p:tavLst>
                                        <p:tav tm="0">
                                          <p:val>
                                            <p:strVal val="#ppt_h*0.3"/>
                                          </p:val>
                                        </p:tav>
                                        <p:tav tm="100000">
                                          <p:val>
                                            <p:strVal val="#ppt_h*1.08"/>
                                          </p:val>
                                        </p:tav>
                                      </p:tavLst>
                                    </p:anim>
                                    <p:animEffect transition="in" filter="fade">
                                      <p:cBhvr>
                                        <p:cTn id="48" dur="225"/>
                                        <p:tgtEl>
                                          <p:spTgt spid="108"/>
                                        </p:tgtEl>
                                      </p:cBhvr>
                                    </p:animEffect>
                                    <p:anim calcmode="lin" valueType="num">
                                      <p:cBhvr additive="base">
                                        <p:cTn id="49" dur="160" fill="hold">
                                          <p:stCondLst>
                                            <p:cond delay="450"/>
                                          </p:stCondLst>
                                        </p:cTn>
                                        <p:tgtEl>
                                          <p:spTgt spid="108"/>
                                        </p:tgtEl>
                                        <p:attrNameLst>
                                          <p:attrName>ppt_w</p:attrName>
                                        </p:attrNameLst>
                                      </p:cBhvr>
                                      <p:tavLst>
                                        <p:tav tm="0">
                                          <p:val>
                                            <p:strVal val="#ppt_w*1.08"/>
                                          </p:val>
                                        </p:tav>
                                        <p:tav tm="100000">
                                          <p:val>
                                            <p:strVal val="#ppt_w"/>
                                          </p:val>
                                        </p:tav>
                                      </p:tavLst>
                                    </p:anim>
                                    <p:anim calcmode="lin" valueType="num">
                                      <p:cBhvr additive="base">
                                        <p:cTn id="50" dur="160" fill="hold">
                                          <p:stCondLst>
                                            <p:cond delay="450"/>
                                          </p:stCondLst>
                                        </p:cTn>
                                        <p:tgtEl>
                                          <p:spTgt spid="108"/>
                                        </p:tgtEl>
                                        <p:attrNameLst>
                                          <p:attrName>ppt_h</p:attrName>
                                        </p:attrNameLst>
                                      </p:cBhvr>
                                      <p:tavLst>
                                        <p:tav tm="0">
                                          <p:val>
                                            <p:strVal val="#ppt_h*1.08"/>
                                          </p:val>
                                        </p:tav>
                                        <p:tav tm="100000">
                                          <p:val>
                                            <p:strVal val="#ppt_h"/>
                                          </p:val>
                                        </p:tav>
                                      </p:tavLst>
                                    </p:anim>
                                  </p:childTnLst>
                                </p:cTn>
                              </p:par>
                              <p:par>
                                <p:cTn id="51" presetID="53" presetClass="entr" presetSubtype="16" fill="hold" grpId="0" nodeType="withEffect">
                                  <p:stCondLst>
                                    <p:cond delay="1090"/>
                                  </p:stCondLst>
                                  <p:childTnLst>
                                    <p:set>
                                      <p:cBhvr>
                                        <p:cTn id="52" dur="1" fill="hold">
                                          <p:stCondLst>
                                            <p:cond delay="0"/>
                                          </p:stCondLst>
                                        </p:cTn>
                                        <p:tgtEl>
                                          <p:spTgt spid="109"/>
                                        </p:tgtEl>
                                        <p:attrNameLst>
                                          <p:attrName>style.visibility</p:attrName>
                                        </p:attrNameLst>
                                      </p:cBhvr>
                                      <p:to>
                                        <p:strVal val="visible"/>
                                      </p:to>
                                    </p:set>
                                    <p:anim calcmode="lin" valueType="num">
                                      <p:cBhvr additive="base">
                                        <p:cTn id="53" dur="45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54" dur="450" decel="100000" fill="hold"/>
                                        <p:tgtEl>
                                          <p:spTgt spid="109"/>
                                        </p:tgtEl>
                                        <p:attrNameLst>
                                          <p:attrName>ppt_h</p:attrName>
                                        </p:attrNameLst>
                                      </p:cBhvr>
                                      <p:tavLst>
                                        <p:tav tm="0">
                                          <p:val>
                                            <p:strVal val="#ppt_h*0.3"/>
                                          </p:val>
                                        </p:tav>
                                        <p:tav tm="100000">
                                          <p:val>
                                            <p:strVal val="#ppt_h*1.08"/>
                                          </p:val>
                                        </p:tav>
                                      </p:tavLst>
                                    </p:anim>
                                    <p:animEffect transition="in" filter="fade">
                                      <p:cBhvr>
                                        <p:cTn id="55" dur="225"/>
                                        <p:tgtEl>
                                          <p:spTgt spid="109"/>
                                        </p:tgtEl>
                                      </p:cBhvr>
                                    </p:animEffect>
                                    <p:anim calcmode="lin" valueType="num">
                                      <p:cBhvr additive="base">
                                        <p:cTn id="56" dur="160" fill="hold">
                                          <p:stCondLst>
                                            <p:cond delay="450"/>
                                          </p:stCondLst>
                                        </p:cTn>
                                        <p:tgtEl>
                                          <p:spTgt spid="109"/>
                                        </p:tgtEl>
                                        <p:attrNameLst>
                                          <p:attrName>ppt_w</p:attrName>
                                        </p:attrNameLst>
                                      </p:cBhvr>
                                      <p:tavLst>
                                        <p:tav tm="0">
                                          <p:val>
                                            <p:strVal val="#ppt_w*1.08"/>
                                          </p:val>
                                        </p:tav>
                                        <p:tav tm="100000">
                                          <p:val>
                                            <p:strVal val="#ppt_w"/>
                                          </p:val>
                                        </p:tav>
                                      </p:tavLst>
                                    </p:anim>
                                    <p:anim calcmode="lin" valueType="num">
                                      <p:cBhvr additive="base">
                                        <p:cTn id="57" dur="160" fill="hold">
                                          <p:stCondLst>
                                            <p:cond delay="450"/>
                                          </p:stCondLst>
                                        </p:cTn>
                                        <p:tgtEl>
                                          <p:spTgt spid="109"/>
                                        </p:tgtEl>
                                        <p:attrNameLst>
                                          <p:attrName>ppt_h</p:attrName>
                                        </p:attrNameLst>
                                      </p:cBhvr>
                                      <p:tavLst>
                                        <p:tav tm="0">
                                          <p:val>
                                            <p:strVal val="#ppt_h*1.08"/>
                                          </p:val>
                                        </p:tav>
                                        <p:tav tm="100000">
                                          <p:val>
                                            <p:strVal val="#ppt_h"/>
                                          </p:val>
                                        </p:tav>
                                      </p:tavLst>
                                    </p:anim>
                                  </p:childTnLst>
                                </p:cTn>
                              </p:par>
                              <p:par>
                                <p:cTn id="58" presetID="53" presetClass="entr" presetSubtype="16" fill="hold" grpId="0" nodeType="withEffect">
                                  <p:stCondLst>
                                    <p:cond delay="1220"/>
                                  </p:stCondLst>
                                  <p:childTnLst>
                                    <p:set>
                                      <p:cBhvr>
                                        <p:cTn id="59" dur="1" fill="hold">
                                          <p:stCondLst>
                                            <p:cond delay="0"/>
                                          </p:stCondLst>
                                        </p:cTn>
                                        <p:tgtEl>
                                          <p:spTgt spid="110"/>
                                        </p:tgtEl>
                                        <p:attrNameLst>
                                          <p:attrName>style.visibility</p:attrName>
                                        </p:attrNameLst>
                                      </p:cBhvr>
                                      <p:to>
                                        <p:strVal val="visible"/>
                                      </p:to>
                                    </p:set>
                                    <p:anim calcmode="lin" valueType="num">
                                      <p:cBhvr additive="base">
                                        <p:cTn id="60" dur="450" decel="100000" fill="hold"/>
                                        <p:tgtEl>
                                          <p:spTgt spid="110"/>
                                        </p:tgtEl>
                                        <p:attrNameLst>
                                          <p:attrName>ppt_w</p:attrName>
                                        </p:attrNameLst>
                                      </p:cBhvr>
                                      <p:tavLst>
                                        <p:tav tm="0">
                                          <p:val>
                                            <p:strVal val="#ppt_w*0.3"/>
                                          </p:val>
                                        </p:tav>
                                        <p:tav tm="100000">
                                          <p:val>
                                            <p:strVal val="#ppt_w*1.08"/>
                                          </p:val>
                                        </p:tav>
                                      </p:tavLst>
                                    </p:anim>
                                    <p:anim calcmode="lin" valueType="num">
                                      <p:cBhvr additive="base">
                                        <p:cTn id="61" dur="450" decel="100000" fill="hold"/>
                                        <p:tgtEl>
                                          <p:spTgt spid="110"/>
                                        </p:tgtEl>
                                        <p:attrNameLst>
                                          <p:attrName>ppt_h</p:attrName>
                                        </p:attrNameLst>
                                      </p:cBhvr>
                                      <p:tavLst>
                                        <p:tav tm="0">
                                          <p:val>
                                            <p:strVal val="#ppt_h*0.3"/>
                                          </p:val>
                                        </p:tav>
                                        <p:tav tm="100000">
                                          <p:val>
                                            <p:strVal val="#ppt_h*1.08"/>
                                          </p:val>
                                        </p:tav>
                                      </p:tavLst>
                                    </p:anim>
                                    <p:animEffect transition="in" filter="fade">
                                      <p:cBhvr>
                                        <p:cTn id="62" dur="225"/>
                                        <p:tgtEl>
                                          <p:spTgt spid="110"/>
                                        </p:tgtEl>
                                      </p:cBhvr>
                                    </p:animEffect>
                                    <p:anim calcmode="lin" valueType="num">
                                      <p:cBhvr additive="base">
                                        <p:cTn id="63" dur="160" fill="hold">
                                          <p:stCondLst>
                                            <p:cond delay="450"/>
                                          </p:stCondLst>
                                        </p:cTn>
                                        <p:tgtEl>
                                          <p:spTgt spid="110"/>
                                        </p:tgtEl>
                                        <p:attrNameLst>
                                          <p:attrName>ppt_w</p:attrName>
                                        </p:attrNameLst>
                                      </p:cBhvr>
                                      <p:tavLst>
                                        <p:tav tm="0">
                                          <p:val>
                                            <p:strVal val="#ppt_w*1.08"/>
                                          </p:val>
                                        </p:tav>
                                        <p:tav tm="100000">
                                          <p:val>
                                            <p:strVal val="#ppt_w"/>
                                          </p:val>
                                        </p:tav>
                                      </p:tavLst>
                                    </p:anim>
                                    <p:anim calcmode="lin" valueType="num">
                                      <p:cBhvr additive="base">
                                        <p:cTn id="64" dur="160" fill="hold">
                                          <p:stCondLst>
                                            <p:cond delay="450"/>
                                          </p:stCondLst>
                                        </p:cTn>
                                        <p:tgtEl>
                                          <p:spTgt spid="110"/>
                                        </p:tgtEl>
                                        <p:attrNameLst>
                                          <p:attrName>ppt_h</p:attrName>
                                        </p:attrNameLst>
                                      </p:cBhvr>
                                      <p:tavLst>
                                        <p:tav tm="0">
                                          <p:val>
                                            <p:strVal val="#ppt_h*1.08"/>
                                          </p:val>
                                        </p:tav>
                                        <p:tav tm="100000">
                                          <p:val>
                                            <p:strVal val="#ppt_h"/>
                                          </p:val>
                                        </p:tav>
                                      </p:tavLst>
                                    </p:anim>
                                  </p:childTnLst>
                                </p:cTn>
                              </p:par>
                              <p:par>
                                <p:cTn id="65" presetID="53" presetClass="entr" presetSubtype="16" fill="hold" grpId="0" nodeType="withEffect">
                                  <p:stCondLst>
                                    <p:cond delay="1350"/>
                                  </p:stCondLst>
                                  <p:childTnLst>
                                    <p:set>
                                      <p:cBhvr>
                                        <p:cTn id="66" dur="1" fill="hold">
                                          <p:stCondLst>
                                            <p:cond delay="0"/>
                                          </p:stCondLst>
                                        </p:cTn>
                                        <p:tgtEl>
                                          <p:spTgt spid="111"/>
                                        </p:tgtEl>
                                        <p:attrNameLst>
                                          <p:attrName>style.visibility</p:attrName>
                                        </p:attrNameLst>
                                      </p:cBhvr>
                                      <p:to>
                                        <p:strVal val="visible"/>
                                      </p:to>
                                    </p:set>
                                    <p:anim calcmode="lin" valueType="num">
                                      <p:cBhvr additive="base">
                                        <p:cTn id="67" dur="450" decel="100000" fill="hold"/>
                                        <p:tgtEl>
                                          <p:spTgt spid="111"/>
                                        </p:tgtEl>
                                        <p:attrNameLst>
                                          <p:attrName>ppt_w</p:attrName>
                                        </p:attrNameLst>
                                      </p:cBhvr>
                                      <p:tavLst>
                                        <p:tav tm="0">
                                          <p:val>
                                            <p:strVal val="#ppt_w*0.3"/>
                                          </p:val>
                                        </p:tav>
                                        <p:tav tm="100000">
                                          <p:val>
                                            <p:strVal val="#ppt_w*1.08"/>
                                          </p:val>
                                        </p:tav>
                                      </p:tavLst>
                                    </p:anim>
                                    <p:anim calcmode="lin" valueType="num">
                                      <p:cBhvr additive="base">
                                        <p:cTn id="68" dur="450" decel="100000" fill="hold"/>
                                        <p:tgtEl>
                                          <p:spTgt spid="111"/>
                                        </p:tgtEl>
                                        <p:attrNameLst>
                                          <p:attrName>ppt_h</p:attrName>
                                        </p:attrNameLst>
                                      </p:cBhvr>
                                      <p:tavLst>
                                        <p:tav tm="0">
                                          <p:val>
                                            <p:strVal val="#ppt_h*0.3"/>
                                          </p:val>
                                        </p:tav>
                                        <p:tav tm="100000">
                                          <p:val>
                                            <p:strVal val="#ppt_h*1.08"/>
                                          </p:val>
                                        </p:tav>
                                      </p:tavLst>
                                    </p:anim>
                                    <p:animEffect transition="in" filter="fade">
                                      <p:cBhvr>
                                        <p:cTn id="69" dur="225"/>
                                        <p:tgtEl>
                                          <p:spTgt spid="111"/>
                                        </p:tgtEl>
                                      </p:cBhvr>
                                    </p:animEffect>
                                    <p:anim calcmode="lin" valueType="num">
                                      <p:cBhvr additive="base">
                                        <p:cTn id="70" dur="160" fill="hold">
                                          <p:stCondLst>
                                            <p:cond delay="450"/>
                                          </p:stCondLst>
                                        </p:cTn>
                                        <p:tgtEl>
                                          <p:spTgt spid="111"/>
                                        </p:tgtEl>
                                        <p:attrNameLst>
                                          <p:attrName>ppt_w</p:attrName>
                                        </p:attrNameLst>
                                      </p:cBhvr>
                                      <p:tavLst>
                                        <p:tav tm="0">
                                          <p:val>
                                            <p:strVal val="#ppt_w*1.08"/>
                                          </p:val>
                                        </p:tav>
                                        <p:tav tm="100000">
                                          <p:val>
                                            <p:strVal val="#ppt_w"/>
                                          </p:val>
                                        </p:tav>
                                      </p:tavLst>
                                    </p:anim>
                                    <p:anim calcmode="lin" valueType="num">
                                      <p:cBhvr additive="base">
                                        <p:cTn id="71" dur="160" fill="hold">
                                          <p:stCondLst>
                                            <p:cond delay="450"/>
                                          </p:stCondLst>
                                        </p:cTn>
                                        <p:tgtEl>
                                          <p:spTgt spid="111"/>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5" grpId="1" animBg="1"/>
      <p:bldP spid="106" grpId="0" animBg="1"/>
      <p:bldP spid="107" grpId="0" animBg="1"/>
      <p:bldP spid="108" grpId="0" animBg="1"/>
      <p:bldP spid="109" grpId="0" animBg="1"/>
      <p:bldP spid="110" grpId="0" animBg="1"/>
      <p:bldP spid="111"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ROADMAP</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From Mindset to a Real Sprint</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&amp; SCRUM</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181</a:t>
            </a:r>
            <a:endParaRPr lang="en-US" sz="850" dirty="0"/>
          </a:p>
        </p:txBody>
      </p:sp>
      <p:cxnSp>
        <p:nvCxnSpPr>
          <p:cNvPr id="101" name="ln101"/>
          <p:cNvCxnSpPr/>
          <p:nvPr/>
        </p:nvCxnSpPr>
        <p:spPr>
          <a:xfrm>
            <a:off x="1390955" y="2377440"/>
            <a:ext cx="9392412" cy="0"/>
          </a:xfrm>
          <a:prstGeom prst="line">
            <a:avLst/>
          </a:prstGeom>
          <a:ln w="25400">
            <a:solidFill>
              <a:srgbClr val="1E3A5F"/>
            </a:solidFill>
          </a:ln>
        </p:spPr>
      </p:cxnSp>
      <p:sp>
        <p:nvSpPr>
          <p:cNvPr id="102" name="s102"/>
          <p:cNvSpPr/>
          <p:nvPr/>
        </p:nvSpPr>
        <p:spPr>
          <a:xfrm>
            <a:off x="543154" y="1874520"/>
            <a:ext cx="1695602" cy="2880360"/>
          </a:xfrm>
          <a:prstGeom prst="roundRect">
            <a:avLst>
              <a:gd name="adj" fmla="val 9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03" name="s103"/>
          <p:cNvSpPr/>
          <p:nvPr/>
        </p:nvSpPr>
        <p:spPr>
          <a:xfrm>
            <a:off x="1061771" y="2057400"/>
            <a:ext cx="658368" cy="658368"/>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04" name="img104"/>
          <p:cNvPicPr>
            <a:picLocks noChangeAspect="1"/>
          </p:cNvPicPr>
          <p:nvPr/>
        </p:nvPicPr>
        <p:blipFill>
          <a:blip r:embed="rId4"/>
          <a:stretch>
            <a:fillRect/>
          </a:stretch>
        </p:blipFill>
        <p:spPr>
          <a:xfrm>
            <a:off x="1219779" y="2215408"/>
            <a:ext cx="342351" cy="342351"/>
          </a:xfrm>
          <a:prstGeom prst="rect">
            <a:avLst/>
          </a:prstGeom>
        </p:spPr>
      </p:pic>
      <p:sp>
        <p:nvSpPr>
          <p:cNvPr id="105" name="s105"/>
          <p:cNvSpPr txBox="1"/>
          <p:nvPr/>
        </p:nvSpPr>
        <p:spPr>
          <a:xfrm>
            <a:off x="543154" y="2862072"/>
            <a:ext cx="169560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2600" b="1" dirty="0">
                <a:solidFill>
                  <a:srgbClr val="13D0F7"/>
                </a:solidFill>
                <a:latin typeface="Segoe UI"/>
                <a:ea typeface="Segoe UI"/>
                <a:cs typeface="Segoe UI"/>
              </a:rPr>
              <a:t>01</a:t>
            </a:r>
            <a:endParaRPr lang="en-US" sz="2600" dirty="0"/>
          </a:p>
        </p:txBody>
      </p:sp>
      <p:sp>
        <p:nvSpPr>
          <p:cNvPr id="106" name="s106"/>
          <p:cNvSpPr txBox="1"/>
          <p:nvPr/>
        </p:nvSpPr>
        <p:spPr>
          <a:xfrm>
            <a:off x="634594" y="3447288"/>
            <a:ext cx="1512722"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Methodologies</a:t>
            </a:r>
            <a:endParaRPr lang="en-US" sz="1400" dirty="0"/>
          </a:p>
        </p:txBody>
      </p:sp>
      <p:sp>
        <p:nvSpPr>
          <p:cNvPr id="107" name="s107"/>
          <p:cNvSpPr txBox="1"/>
          <p:nvPr/>
        </p:nvSpPr>
        <p:spPr>
          <a:xfrm>
            <a:off x="652882" y="3867912"/>
            <a:ext cx="1476146" cy="7772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0" dirty="0">
                <a:solidFill>
                  <a:srgbClr val="94A3B8"/>
                </a:solidFill>
                <a:latin typeface="Segoe UI"/>
                <a:ea typeface="Segoe UI"/>
                <a:cs typeface="Segoe UI"/>
              </a:rPr>
              <a:t>SDLC is WHAT,</a:t>
            </a:r>
            <a:endParaRPr lang="en-US" sz="1150" dirty="0"/>
          </a:p>
          <a:p>
            <a:pPr marL="0" indent="0" algn="ctr">
              <a:spcBef>
                <a:spcPts val="0"/>
              </a:spcBef>
              <a:spcAft>
                <a:spcPts val="0"/>
              </a:spcAft>
              <a:buNone/>
            </a:pPr>
            <a:r>
              <a:rPr lang="en-US" sz="1150" b="0" dirty="0">
                <a:solidFill>
                  <a:srgbClr val="94A3B8"/>
                </a:solidFill>
                <a:latin typeface="Segoe UI"/>
                <a:ea typeface="Segoe UI"/>
                <a:cs typeface="Segoe UI"/>
              </a:rPr>
              <a:t>methodology is HOW</a:t>
            </a:r>
            <a:endParaRPr lang="en-US" sz="1150" dirty="0"/>
          </a:p>
        </p:txBody>
      </p:sp>
      <p:sp>
        <p:nvSpPr>
          <p:cNvPr id="108" name="s108"/>
          <p:cNvSpPr/>
          <p:nvPr/>
        </p:nvSpPr>
        <p:spPr>
          <a:xfrm>
            <a:off x="2421636" y="1874520"/>
            <a:ext cx="1695602" cy="2880360"/>
          </a:xfrm>
          <a:prstGeom prst="roundRect">
            <a:avLst>
              <a:gd name="adj" fmla="val 9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09" name="s109"/>
          <p:cNvSpPr/>
          <p:nvPr/>
        </p:nvSpPr>
        <p:spPr>
          <a:xfrm>
            <a:off x="2940253" y="2057400"/>
            <a:ext cx="658368" cy="658368"/>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10" name="img110"/>
          <p:cNvPicPr>
            <a:picLocks noChangeAspect="1"/>
          </p:cNvPicPr>
          <p:nvPr/>
        </p:nvPicPr>
        <p:blipFill>
          <a:blip r:embed="rId5"/>
          <a:stretch>
            <a:fillRect/>
          </a:stretch>
        </p:blipFill>
        <p:spPr>
          <a:xfrm>
            <a:off x="3098262" y="2215408"/>
            <a:ext cx="342351" cy="342351"/>
          </a:xfrm>
          <a:prstGeom prst="rect">
            <a:avLst/>
          </a:prstGeom>
        </p:spPr>
      </p:pic>
      <p:sp>
        <p:nvSpPr>
          <p:cNvPr id="111" name="s111"/>
          <p:cNvSpPr txBox="1"/>
          <p:nvPr/>
        </p:nvSpPr>
        <p:spPr>
          <a:xfrm>
            <a:off x="2421636" y="2862072"/>
            <a:ext cx="169560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2600" b="1" dirty="0">
                <a:solidFill>
                  <a:srgbClr val="34D399"/>
                </a:solidFill>
                <a:latin typeface="Segoe UI"/>
                <a:ea typeface="Segoe UI"/>
                <a:cs typeface="Segoe UI"/>
              </a:rPr>
              <a:t>02</a:t>
            </a:r>
            <a:endParaRPr lang="en-US" sz="2600" dirty="0"/>
          </a:p>
        </p:txBody>
      </p:sp>
      <p:sp>
        <p:nvSpPr>
          <p:cNvPr id="112" name="s112"/>
          <p:cNvSpPr txBox="1"/>
          <p:nvPr/>
        </p:nvSpPr>
        <p:spPr>
          <a:xfrm>
            <a:off x="2513076" y="3447288"/>
            <a:ext cx="1512722"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Agile mindset</a:t>
            </a:r>
            <a:endParaRPr lang="en-US" sz="1400" dirty="0"/>
          </a:p>
        </p:txBody>
      </p:sp>
      <p:sp>
        <p:nvSpPr>
          <p:cNvPr id="113" name="s113"/>
          <p:cNvSpPr txBox="1"/>
          <p:nvPr/>
        </p:nvSpPr>
        <p:spPr>
          <a:xfrm>
            <a:off x="2531364" y="3867912"/>
            <a:ext cx="1476146" cy="7772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0" dirty="0">
                <a:solidFill>
                  <a:srgbClr val="94A3B8"/>
                </a:solidFill>
                <a:latin typeface="Segoe UI"/>
                <a:ea typeface="Segoe UI"/>
                <a:cs typeface="Segoe UI"/>
              </a:rPr>
              <a:t>value · collaboration</a:t>
            </a:r>
            <a:endParaRPr lang="en-US" sz="1150" dirty="0"/>
          </a:p>
          <a:p>
            <a:pPr marL="0" indent="0" algn="ctr">
              <a:spcBef>
                <a:spcPts val="0"/>
              </a:spcBef>
              <a:spcAft>
                <a:spcPts val="0"/>
              </a:spcAft>
              <a:buNone/>
            </a:pPr>
            <a:r>
              <a:rPr lang="en-US" sz="1150" b="0" dirty="0">
                <a:solidFill>
                  <a:srgbClr val="94A3B8"/>
                </a:solidFill>
                <a:latin typeface="Segoe UI"/>
                <a:ea typeface="Segoe UI"/>
                <a:cs typeface="Segoe UI"/>
              </a:rPr>
              <a:t>adaptation</a:t>
            </a:r>
            <a:endParaRPr lang="en-US" sz="1150" dirty="0"/>
          </a:p>
        </p:txBody>
      </p:sp>
      <p:sp>
        <p:nvSpPr>
          <p:cNvPr id="114" name="s114"/>
          <p:cNvSpPr/>
          <p:nvPr/>
        </p:nvSpPr>
        <p:spPr>
          <a:xfrm>
            <a:off x="4300118" y="1874520"/>
            <a:ext cx="1695602" cy="2880360"/>
          </a:xfrm>
          <a:prstGeom prst="roundRect">
            <a:avLst>
              <a:gd name="adj" fmla="val 9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15" name="s115"/>
          <p:cNvSpPr/>
          <p:nvPr/>
        </p:nvSpPr>
        <p:spPr>
          <a:xfrm>
            <a:off x="4818736" y="2057400"/>
            <a:ext cx="658368" cy="658368"/>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16" name="img116"/>
          <p:cNvPicPr>
            <a:picLocks noChangeAspect="1"/>
          </p:cNvPicPr>
          <p:nvPr/>
        </p:nvPicPr>
        <p:blipFill>
          <a:blip r:embed="rId6"/>
          <a:stretch>
            <a:fillRect/>
          </a:stretch>
        </p:blipFill>
        <p:spPr>
          <a:xfrm>
            <a:off x="4976744" y="2215408"/>
            <a:ext cx="342351" cy="342351"/>
          </a:xfrm>
          <a:prstGeom prst="rect">
            <a:avLst/>
          </a:prstGeom>
        </p:spPr>
      </p:pic>
      <p:sp>
        <p:nvSpPr>
          <p:cNvPr id="117" name="s117"/>
          <p:cNvSpPr txBox="1"/>
          <p:nvPr/>
        </p:nvSpPr>
        <p:spPr>
          <a:xfrm>
            <a:off x="4300118" y="2862072"/>
            <a:ext cx="169560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2600" b="1" dirty="0">
                <a:solidFill>
                  <a:srgbClr val="A78BFA"/>
                </a:solidFill>
                <a:latin typeface="Segoe UI"/>
                <a:ea typeface="Segoe UI"/>
                <a:cs typeface="Segoe UI"/>
              </a:rPr>
              <a:t>03</a:t>
            </a:r>
            <a:endParaRPr lang="en-US" sz="2600" dirty="0"/>
          </a:p>
        </p:txBody>
      </p:sp>
      <p:sp>
        <p:nvSpPr>
          <p:cNvPr id="118" name="s118"/>
          <p:cNvSpPr txBox="1"/>
          <p:nvPr/>
        </p:nvSpPr>
        <p:spPr>
          <a:xfrm>
            <a:off x="4391558" y="3447288"/>
            <a:ext cx="1512722"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Manifesto</a:t>
            </a:r>
            <a:endParaRPr lang="en-US" sz="1400" dirty="0"/>
          </a:p>
        </p:txBody>
      </p:sp>
      <p:sp>
        <p:nvSpPr>
          <p:cNvPr id="119" name="s119"/>
          <p:cNvSpPr txBox="1"/>
          <p:nvPr/>
        </p:nvSpPr>
        <p:spPr>
          <a:xfrm>
            <a:off x="4409846" y="3867912"/>
            <a:ext cx="1476146" cy="7772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0" dirty="0">
                <a:solidFill>
                  <a:srgbClr val="94A3B8"/>
                </a:solidFill>
                <a:latin typeface="Segoe UI"/>
                <a:ea typeface="Segoe UI"/>
                <a:cs typeface="Segoe UI"/>
              </a:rPr>
              <a:t>4 values, each with</a:t>
            </a:r>
            <a:endParaRPr lang="en-US" sz="1150" dirty="0"/>
          </a:p>
          <a:p>
            <a:pPr marL="0" indent="0" algn="ctr">
              <a:spcBef>
                <a:spcPts val="0"/>
              </a:spcBef>
              <a:spcAft>
                <a:spcPts val="0"/>
              </a:spcAft>
              <a:buNone/>
            </a:pPr>
            <a:r>
              <a:rPr lang="en-US" sz="1150" b="0" dirty="0">
                <a:solidFill>
                  <a:srgbClr val="94A3B8"/>
                </a:solidFill>
                <a:latin typeface="Segoe UI"/>
                <a:ea typeface="Segoe UI"/>
                <a:cs typeface="Segoe UI"/>
              </a:rPr>
              <a:t>a real case</a:t>
            </a:r>
            <a:endParaRPr lang="en-US" sz="1150" dirty="0"/>
          </a:p>
        </p:txBody>
      </p:sp>
      <p:sp>
        <p:nvSpPr>
          <p:cNvPr id="120" name="s120"/>
          <p:cNvSpPr/>
          <p:nvPr/>
        </p:nvSpPr>
        <p:spPr>
          <a:xfrm>
            <a:off x="6178601" y="1874520"/>
            <a:ext cx="1695602" cy="2880360"/>
          </a:xfrm>
          <a:prstGeom prst="roundRect">
            <a:avLst>
              <a:gd name="adj" fmla="val 9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21" name="s121"/>
          <p:cNvSpPr/>
          <p:nvPr/>
        </p:nvSpPr>
        <p:spPr>
          <a:xfrm>
            <a:off x="6697218" y="2057400"/>
            <a:ext cx="658368" cy="658368"/>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22" name="img122"/>
          <p:cNvPicPr>
            <a:picLocks noChangeAspect="1"/>
          </p:cNvPicPr>
          <p:nvPr/>
        </p:nvPicPr>
        <p:blipFill>
          <a:blip r:embed="rId7"/>
          <a:stretch>
            <a:fillRect/>
          </a:stretch>
        </p:blipFill>
        <p:spPr>
          <a:xfrm>
            <a:off x="6855226" y="2215408"/>
            <a:ext cx="342351" cy="342351"/>
          </a:xfrm>
          <a:prstGeom prst="rect">
            <a:avLst/>
          </a:prstGeom>
        </p:spPr>
      </p:pic>
      <p:sp>
        <p:nvSpPr>
          <p:cNvPr id="123" name="s123"/>
          <p:cNvSpPr txBox="1"/>
          <p:nvPr/>
        </p:nvSpPr>
        <p:spPr>
          <a:xfrm>
            <a:off x="6178601" y="2862072"/>
            <a:ext cx="169560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2600" b="1" dirty="0">
                <a:solidFill>
                  <a:srgbClr val="FBBF24"/>
                </a:solidFill>
                <a:latin typeface="Segoe UI"/>
                <a:ea typeface="Segoe UI"/>
                <a:cs typeface="Segoe UI"/>
              </a:rPr>
              <a:t>04</a:t>
            </a:r>
            <a:endParaRPr lang="en-US" sz="2600" dirty="0"/>
          </a:p>
        </p:txBody>
      </p:sp>
      <p:sp>
        <p:nvSpPr>
          <p:cNvPr id="124" name="s124"/>
          <p:cNvSpPr txBox="1"/>
          <p:nvPr/>
        </p:nvSpPr>
        <p:spPr>
          <a:xfrm>
            <a:off x="6270041" y="3447288"/>
            <a:ext cx="1512722"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12 principles</a:t>
            </a:r>
            <a:endParaRPr lang="en-US" sz="1400" dirty="0"/>
          </a:p>
        </p:txBody>
      </p:sp>
      <p:sp>
        <p:nvSpPr>
          <p:cNvPr id="125" name="s125"/>
          <p:cNvSpPr txBox="1"/>
          <p:nvPr/>
        </p:nvSpPr>
        <p:spPr>
          <a:xfrm>
            <a:off x="6288329" y="3867912"/>
            <a:ext cx="1476146" cy="7772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0" dirty="0">
                <a:solidFill>
                  <a:srgbClr val="94A3B8"/>
                </a:solidFill>
                <a:latin typeface="Segoe UI"/>
                <a:ea typeface="Segoe UI"/>
                <a:cs typeface="Segoe UI"/>
              </a:rPr>
              <a:t>define · ask · case</a:t>
            </a:r>
            <a:endParaRPr lang="en-US" sz="1150" dirty="0"/>
          </a:p>
          <a:p>
            <a:pPr marL="0" indent="0" algn="ctr">
              <a:spcBef>
                <a:spcPts val="0"/>
              </a:spcBef>
              <a:spcAft>
                <a:spcPts val="0"/>
              </a:spcAft>
              <a:buNone/>
            </a:pPr>
            <a:r>
              <a:rPr lang="en-US" sz="1150" b="0" dirty="0">
                <a:solidFill>
                  <a:srgbClr val="94A3B8"/>
                </a:solidFill>
                <a:latin typeface="Segoe UI"/>
                <a:ea typeface="Segoe UI"/>
                <a:cs typeface="Segoe UI"/>
              </a:rPr>
              <a:t>for each one</a:t>
            </a:r>
            <a:endParaRPr lang="en-US" sz="1150" dirty="0"/>
          </a:p>
        </p:txBody>
      </p:sp>
      <p:sp>
        <p:nvSpPr>
          <p:cNvPr id="126" name="s126"/>
          <p:cNvSpPr/>
          <p:nvPr/>
        </p:nvSpPr>
        <p:spPr>
          <a:xfrm>
            <a:off x="8057083" y="1874520"/>
            <a:ext cx="1695602" cy="2880360"/>
          </a:xfrm>
          <a:prstGeom prst="roundRect">
            <a:avLst>
              <a:gd name="adj" fmla="val 9000"/>
            </a:avLst>
          </a:prstGeom>
          <a:solidFill>
            <a:srgbClr val="111B2E"/>
          </a:solidFill>
          <a:ln w="12700">
            <a:solidFill>
              <a:srgbClr val="60A5FA"/>
            </a:solidFill>
            <a:prstDash val="solid"/>
          </a:ln>
        </p:spPr>
        <p:txBody>
          <a:bodyPr wrap="square" lIns="164592" tIns="109728" rIns="137160" bIns="91440" rtlCol="0" anchor="t">
            <a:noAutofit/>
          </a:bodyPr>
          <a:lstStyle/>
          <a:p>
            <a:endParaRPr lang="en-US"/>
          </a:p>
        </p:txBody>
      </p:sp>
      <p:sp>
        <p:nvSpPr>
          <p:cNvPr id="127" name="s127"/>
          <p:cNvSpPr/>
          <p:nvPr/>
        </p:nvSpPr>
        <p:spPr>
          <a:xfrm>
            <a:off x="8575700" y="2057400"/>
            <a:ext cx="658368" cy="658368"/>
          </a:xfrm>
          <a:prstGeom prst="ellipse">
            <a:avLst/>
          </a:prstGeom>
          <a:solidFill>
            <a:srgbClr val="60A5FA">
              <a:alpha val="16000"/>
            </a:srgbClr>
          </a:solidFill>
          <a:ln w="12700">
            <a:solidFill>
              <a:srgbClr val="60A5FA">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8"/>
          <a:stretch>
            <a:fillRect/>
          </a:stretch>
        </p:blipFill>
        <p:spPr>
          <a:xfrm>
            <a:off x="8733709" y="2215408"/>
            <a:ext cx="342351" cy="342351"/>
          </a:xfrm>
          <a:prstGeom prst="rect">
            <a:avLst/>
          </a:prstGeom>
        </p:spPr>
      </p:pic>
      <p:sp>
        <p:nvSpPr>
          <p:cNvPr id="129" name="s129"/>
          <p:cNvSpPr txBox="1"/>
          <p:nvPr/>
        </p:nvSpPr>
        <p:spPr>
          <a:xfrm>
            <a:off x="8057083" y="2862072"/>
            <a:ext cx="169560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2600" b="1" dirty="0">
                <a:solidFill>
                  <a:srgbClr val="60A5FA"/>
                </a:solidFill>
                <a:latin typeface="Segoe UI"/>
                <a:ea typeface="Segoe UI"/>
                <a:cs typeface="Segoe UI"/>
              </a:rPr>
              <a:t>05</a:t>
            </a:r>
            <a:endParaRPr lang="en-US" sz="2600" dirty="0"/>
          </a:p>
        </p:txBody>
      </p:sp>
      <p:sp>
        <p:nvSpPr>
          <p:cNvPr id="130" name="s130"/>
          <p:cNvSpPr txBox="1"/>
          <p:nvPr/>
        </p:nvSpPr>
        <p:spPr>
          <a:xfrm>
            <a:off x="8148523" y="3447288"/>
            <a:ext cx="1512722"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Scrum</a:t>
            </a:r>
            <a:endParaRPr lang="en-US" sz="1400" dirty="0"/>
          </a:p>
        </p:txBody>
      </p:sp>
      <p:sp>
        <p:nvSpPr>
          <p:cNvPr id="131" name="s131"/>
          <p:cNvSpPr txBox="1"/>
          <p:nvPr/>
        </p:nvSpPr>
        <p:spPr>
          <a:xfrm>
            <a:off x="8166811" y="3867912"/>
            <a:ext cx="1476146" cy="7772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0" dirty="0">
                <a:solidFill>
                  <a:srgbClr val="94A3B8"/>
                </a:solidFill>
                <a:latin typeface="Segoe UI"/>
                <a:ea typeface="Segoe UI"/>
                <a:cs typeface="Segoe UI"/>
              </a:rPr>
              <a:t>one complete Sprint</a:t>
            </a:r>
            <a:endParaRPr lang="en-US" sz="1150" dirty="0"/>
          </a:p>
          <a:p>
            <a:pPr marL="0" indent="0" algn="ctr">
              <a:spcBef>
                <a:spcPts val="0"/>
              </a:spcBef>
              <a:spcAft>
                <a:spcPts val="0"/>
              </a:spcAft>
              <a:buNone/>
            </a:pPr>
            <a:r>
              <a:rPr lang="en-US" sz="1150" b="0" dirty="0">
                <a:solidFill>
                  <a:srgbClr val="94A3B8"/>
                </a:solidFill>
                <a:latin typeface="Segoe UI"/>
                <a:ea typeface="Segoe UI"/>
                <a:cs typeface="Segoe UI"/>
              </a:rPr>
              <a:t>with Care Hospital</a:t>
            </a:r>
            <a:endParaRPr lang="en-US" sz="1150" dirty="0"/>
          </a:p>
        </p:txBody>
      </p:sp>
      <p:sp>
        <p:nvSpPr>
          <p:cNvPr id="132" name="s132"/>
          <p:cNvSpPr/>
          <p:nvPr/>
        </p:nvSpPr>
        <p:spPr>
          <a:xfrm>
            <a:off x="9935566" y="1874520"/>
            <a:ext cx="1695602" cy="2880360"/>
          </a:xfrm>
          <a:prstGeom prst="roundRect">
            <a:avLst>
              <a:gd name="adj" fmla="val 9000"/>
            </a:avLst>
          </a:prstGeom>
          <a:solidFill>
            <a:srgbClr val="111B2E"/>
          </a:solidFill>
          <a:ln w="12700">
            <a:solidFill>
              <a:srgbClr val="F472B6"/>
            </a:solidFill>
            <a:prstDash val="solid"/>
          </a:ln>
        </p:spPr>
        <p:txBody>
          <a:bodyPr wrap="square" lIns="164592" tIns="109728" rIns="137160" bIns="91440" rtlCol="0" anchor="t">
            <a:noAutofit/>
          </a:bodyPr>
          <a:lstStyle/>
          <a:p>
            <a:endParaRPr lang="en-US"/>
          </a:p>
        </p:txBody>
      </p:sp>
      <p:sp>
        <p:nvSpPr>
          <p:cNvPr id="133" name="s133"/>
          <p:cNvSpPr/>
          <p:nvPr/>
        </p:nvSpPr>
        <p:spPr>
          <a:xfrm>
            <a:off x="10454183" y="2057400"/>
            <a:ext cx="658368" cy="658368"/>
          </a:xfrm>
          <a:prstGeom prst="ellipse">
            <a:avLst/>
          </a:prstGeom>
          <a:solidFill>
            <a:srgbClr val="F472B6">
              <a:alpha val="16000"/>
            </a:srgbClr>
          </a:solidFill>
          <a:ln w="12700">
            <a:solidFill>
              <a:srgbClr val="F472B6">
                <a:alpha val="55000"/>
              </a:srgbClr>
            </a:solidFill>
            <a:prstDash val="solid"/>
          </a:ln>
        </p:spPr>
        <p:txBody>
          <a:bodyPr wrap="square" lIns="164592" tIns="109728" rIns="137160" bIns="91440" rtlCol="0" anchor="t">
            <a:noAutofit/>
          </a:bodyPr>
          <a:lstStyle/>
          <a:p>
            <a:endParaRPr lang="en-US"/>
          </a:p>
        </p:txBody>
      </p:sp>
      <p:pic>
        <p:nvPicPr>
          <p:cNvPr id="134" name="img134"/>
          <p:cNvPicPr>
            <a:picLocks noChangeAspect="1"/>
          </p:cNvPicPr>
          <p:nvPr/>
        </p:nvPicPr>
        <p:blipFill>
          <a:blip r:embed="rId9"/>
          <a:stretch>
            <a:fillRect/>
          </a:stretch>
        </p:blipFill>
        <p:spPr>
          <a:xfrm>
            <a:off x="10612191" y="2215408"/>
            <a:ext cx="342351" cy="342351"/>
          </a:xfrm>
          <a:prstGeom prst="rect">
            <a:avLst/>
          </a:prstGeom>
        </p:spPr>
      </p:pic>
      <p:sp>
        <p:nvSpPr>
          <p:cNvPr id="135" name="s135"/>
          <p:cNvSpPr txBox="1"/>
          <p:nvPr/>
        </p:nvSpPr>
        <p:spPr>
          <a:xfrm>
            <a:off x="9935566" y="2862072"/>
            <a:ext cx="169560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2600" b="1" dirty="0">
                <a:solidFill>
                  <a:srgbClr val="F472B6"/>
                </a:solidFill>
                <a:latin typeface="Segoe UI"/>
                <a:ea typeface="Segoe UI"/>
                <a:cs typeface="Segoe UI"/>
              </a:rPr>
              <a:t>06</a:t>
            </a:r>
            <a:endParaRPr lang="en-US" sz="2600" dirty="0"/>
          </a:p>
        </p:txBody>
      </p:sp>
      <p:sp>
        <p:nvSpPr>
          <p:cNvPr id="136" name="s136"/>
          <p:cNvSpPr txBox="1"/>
          <p:nvPr/>
        </p:nvSpPr>
        <p:spPr>
          <a:xfrm>
            <a:off x="10027006" y="3447288"/>
            <a:ext cx="1512722"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Practice lab</a:t>
            </a:r>
            <a:endParaRPr lang="en-US" sz="1400" dirty="0"/>
          </a:p>
        </p:txBody>
      </p:sp>
      <p:sp>
        <p:nvSpPr>
          <p:cNvPr id="137" name="s137"/>
          <p:cNvSpPr txBox="1"/>
          <p:nvPr/>
        </p:nvSpPr>
        <p:spPr>
          <a:xfrm>
            <a:off x="10045294" y="3867912"/>
            <a:ext cx="1476146" cy="7772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0" dirty="0">
                <a:solidFill>
                  <a:srgbClr val="94A3B8"/>
                </a:solidFill>
                <a:latin typeface="Segoe UI"/>
                <a:ea typeface="Segoe UI"/>
                <a:cs typeface="Segoe UI"/>
              </a:rPr>
              <a:t>GitHub Projects,</a:t>
            </a:r>
            <a:endParaRPr lang="en-US" sz="1150" dirty="0"/>
          </a:p>
          <a:p>
            <a:pPr marL="0" indent="0" algn="ctr">
              <a:spcBef>
                <a:spcPts val="0"/>
              </a:spcBef>
              <a:spcAft>
                <a:spcPts val="0"/>
              </a:spcAft>
              <a:buNone/>
            </a:pPr>
            <a:r>
              <a:rPr lang="en-US" sz="1150" b="0" dirty="0">
                <a:solidFill>
                  <a:srgbClr val="94A3B8"/>
                </a:solidFill>
                <a:latin typeface="Segoe UI"/>
                <a:ea typeface="Segoe UI"/>
                <a:cs typeface="Segoe UI"/>
              </a:rPr>
              <a:t>Issues and PRs</a:t>
            </a:r>
            <a:endParaRPr lang="en-US" sz="1150" dirty="0"/>
          </a:p>
        </p:txBody>
      </p:sp>
      <p:sp>
        <p:nvSpPr>
          <p:cNvPr id="138" name="s138"/>
          <p:cNvSpPr/>
          <p:nvPr/>
        </p:nvSpPr>
        <p:spPr>
          <a:xfrm>
            <a:off x="543154" y="5029200"/>
            <a:ext cx="11088014" cy="566928"/>
          </a:xfrm>
          <a:prstGeom prst="roundRect">
            <a:avLst>
              <a:gd name="adj" fmla="val 12000"/>
            </a:avLst>
          </a:prstGeom>
          <a:solidFill>
            <a:srgbClr val="111B2E"/>
          </a:solidFill>
          <a:ln w="12700">
            <a:solidFill>
              <a:srgbClr val="13D0F7"/>
            </a:solidFill>
            <a:prstDash val="solid"/>
          </a:ln>
        </p:spPr>
        <p:txBody>
          <a:bodyPr wrap="square" lIns="228600" tIns="45720" rIns="228600" bIns="45720" rtlCol="0" anchor="ctr">
            <a:noAutofit/>
          </a:bodyPr>
          <a:lstStyle/>
          <a:p>
            <a:pPr marL="0" indent="0" algn="ctr">
              <a:spcBef>
                <a:spcPts val="0"/>
              </a:spcBef>
              <a:spcAft>
                <a:spcPts val="0"/>
              </a:spcAft>
              <a:buNone/>
            </a:pPr>
            <a:r>
              <a:rPr lang="en-US" sz="1300" b="0" dirty="0">
                <a:solidFill>
                  <a:srgbClr val="E2E8F0"/>
                </a:solidFill>
                <a:latin typeface="Segoe UI"/>
                <a:ea typeface="Segoe UI"/>
                <a:cs typeface="Segoe UI"/>
              </a:rPr>
              <a:t>Concepts first on a </a:t>
            </a:r>
            <a:r>
              <a:rPr lang="en-US" sz="1300" b="1" dirty="0">
                <a:solidFill>
                  <a:srgbClr val="13D0F7"/>
                </a:solidFill>
                <a:latin typeface="Segoe UI"/>
                <a:ea typeface="Segoe UI"/>
                <a:cs typeface="Segoe UI"/>
              </a:rPr>
              <a:t>Food Delivery Platform</a:t>
            </a:r>
            <a:r>
              <a:rPr lang="en-US" sz="1300" b="0" dirty="0">
                <a:solidFill>
                  <a:srgbClr val="E2E8F0"/>
                </a:solidFill>
                <a:latin typeface="Segoe UI"/>
                <a:ea typeface="Segoe UI"/>
                <a:cs typeface="Segoe UI"/>
              </a:rPr>
              <a:t>, then one real Sprint for </a:t>
            </a:r>
            <a:r>
              <a:rPr lang="en-US" sz="1300" b="1" dirty="0">
                <a:solidFill>
                  <a:srgbClr val="13D0F7"/>
                </a:solidFill>
                <a:latin typeface="Segoe UI"/>
                <a:ea typeface="Segoe UI"/>
                <a:cs typeface="Segoe UI"/>
              </a:rPr>
              <a:t>Care Hospital</a:t>
            </a:r>
            <a:r>
              <a:rPr lang="en-US" sz="1300" b="0" dirty="0">
                <a:solidFill>
                  <a:srgbClr val="E2E8F0"/>
                </a:solidFill>
                <a:latin typeface="Segoe UI"/>
                <a:ea typeface="Segoe UI"/>
                <a:cs typeface="Segoe UI"/>
              </a:rPr>
              <a:t>, then GitHub.</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wipe(left)">
                                      <p:cBhvr>
                                        <p:cTn id="7" dur="900"/>
                                        <p:tgtEl>
                                          <p:spTgt spid="101"/>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102"/>
                                        </p:tgtEl>
                                        <p:attrNameLst>
                                          <p:attrName>style.visibility</p:attrName>
                                        </p:attrNameLst>
                                      </p:cBhvr>
                                      <p:to>
                                        <p:strVal val="visible"/>
                                      </p:to>
                                    </p:set>
                                    <p:animEffect transition="in" filter="fade">
                                      <p:cBhvr>
                                        <p:cTn id="12" dur="500"/>
                                        <p:tgtEl>
                                          <p:spTgt spid="102"/>
                                        </p:tgtEl>
                                      </p:cBhvr>
                                    </p:animEffect>
                                    <p:anim calcmode="lin" valueType="num">
                                      <p:cBhvr additive="base">
                                        <p:cTn id="13" dur="500" decel="100000" fill="hold"/>
                                        <p:tgtEl>
                                          <p:spTgt spid="102"/>
                                        </p:tgtEl>
                                        <p:attrNameLst>
                                          <p:attrName>ppt_y</p:attrName>
                                        </p:attrNameLst>
                                      </p:cBhvr>
                                      <p:tavLst>
                                        <p:tav tm="0">
                                          <p:val>
                                            <p:strVal val="#ppt_y+0.06"/>
                                          </p:val>
                                        </p:tav>
                                        <p:tav tm="100000">
                                          <p:val>
                                            <p:strVal val="#ppt_y"/>
                                          </p:val>
                                        </p:tav>
                                      </p:tavLst>
                                    </p:anim>
                                  </p:childTnLst>
                                </p:cTn>
                              </p:par>
                              <p:par>
                                <p:cTn id="14" presetID="42" presetClass="entr" presetSubtype="0" fill="hold" grpId="0" nodeType="withEffect">
                                  <p:stCondLst>
                                    <p:cond delay="0"/>
                                  </p:stCondLst>
                                  <p:childTnLst>
                                    <p:set>
                                      <p:cBhvr>
                                        <p:cTn id="15" dur="1" fill="hold">
                                          <p:stCondLst>
                                            <p:cond delay="0"/>
                                          </p:stCondLst>
                                        </p:cTn>
                                        <p:tgtEl>
                                          <p:spTgt spid="103"/>
                                        </p:tgtEl>
                                        <p:attrNameLst>
                                          <p:attrName>style.visibility</p:attrName>
                                        </p:attrNameLst>
                                      </p:cBhvr>
                                      <p:to>
                                        <p:strVal val="visible"/>
                                      </p:to>
                                    </p:set>
                                    <p:animEffect transition="in" filter="fade">
                                      <p:cBhvr>
                                        <p:cTn id="16" dur="500"/>
                                        <p:tgtEl>
                                          <p:spTgt spid="103"/>
                                        </p:tgtEl>
                                      </p:cBhvr>
                                    </p:animEffect>
                                    <p:anim calcmode="lin" valueType="num">
                                      <p:cBhvr additive="base">
                                        <p:cTn id="17" dur="500" decel="100000" fill="hold"/>
                                        <p:tgtEl>
                                          <p:spTgt spid="103"/>
                                        </p:tgtEl>
                                        <p:attrNameLst>
                                          <p:attrName>ppt_y</p:attrName>
                                        </p:attrNameLst>
                                      </p:cBhvr>
                                      <p:tavLst>
                                        <p:tav tm="0">
                                          <p:val>
                                            <p:strVal val="#ppt_y+0.06"/>
                                          </p:val>
                                        </p:tav>
                                        <p:tav tm="100000">
                                          <p:val>
                                            <p:strVal val="#ppt_y"/>
                                          </p:val>
                                        </p:tav>
                                      </p:tavLst>
                                    </p:anim>
                                  </p:childTnLst>
                                </p:cTn>
                              </p:par>
                              <p:par>
                                <p:cTn id="18" presetID="42" presetClass="entr" presetSubtype="0" fill="hold" nodeType="withEffect">
                                  <p:stCondLst>
                                    <p:cond delay="0"/>
                                  </p:stCondLst>
                                  <p:childTnLst>
                                    <p:set>
                                      <p:cBhvr>
                                        <p:cTn id="19" dur="1" fill="hold">
                                          <p:stCondLst>
                                            <p:cond delay="0"/>
                                          </p:stCondLst>
                                        </p:cTn>
                                        <p:tgtEl>
                                          <p:spTgt spid="104"/>
                                        </p:tgtEl>
                                        <p:attrNameLst>
                                          <p:attrName>style.visibility</p:attrName>
                                        </p:attrNameLst>
                                      </p:cBhvr>
                                      <p:to>
                                        <p:strVal val="visible"/>
                                      </p:to>
                                    </p:set>
                                    <p:animEffect transition="in" filter="fade">
                                      <p:cBhvr>
                                        <p:cTn id="20" dur="500"/>
                                        <p:tgtEl>
                                          <p:spTgt spid="104"/>
                                        </p:tgtEl>
                                      </p:cBhvr>
                                    </p:animEffect>
                                    <p:anim calcmode="lin" valueType="num">
                                      <p:cBhvr additive="base">
                                        <p:cTn id="21" dur="500" decel="100000" fill="hold"/>
                                        <p:tgtEl>
                                          <p:spTgt spid="104"/>
                                        </p:tgtEl>
                                        <p:attrNameLst>
                                          <p:attrName>ppt_y</p:attrName>
                                        </p:attrNameLst>
                                      </p:cBhvr>
                                      <p:tavLst>
                                        <p:tav tm="0">
                                          <p:val>
                                            <p:strVal val="#ppt_y+0.06"/>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105"/>
                                        </p:tgtEl>
                                        <p:attrNameLst>
                                          <p:attrName>style.visibility</p:attrName>
                                        </p:attrNameLst>
                                      </p:cBhvr>
                                      <p:to>
                                        <p:strVal val="visible"/>
                                      </p:to>
                                    </p:set>
                                    <p:animEffect transition="in" filter="fade">
                                      <p:cBhvr>
                                        <p:cTn id="24" dur="500"/>
                                        <p:tgtEl>
                                          <p:spTgt spid="105"/>
                                        </p:tgtEl>
                                      </p:cBhvr>
                                    </p:animEffect>
                                    <p:anim calcmode="lin" valueType="num">
                                      <p:cBhvr additive="base">
                                        <p:cTn id="25" dur="500" decel="100000" fill="hold"/>
                                        <p:tgtEl>
                                          <p:spTgt spid="105"/>
                                        </p:tgtEl>
                                        <p:attrNameLst>
                                          <p:attrName>ppt_y</p:attrName>
                                        </p:attrNameLst>
                                      </p:cBhvr>
                                      <p:tavLst>
                                        <p:tav tm="0">
                                          <p:val>
                                            <p:strVal val="#ppt_y+0.06"/>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106"/>
                                        </p:tgtEl>
                                        <p:attrNameLst>
                                          <p:attrName>style.visibility</p:attrName>
                                        </p:attrNameLst>
                                      </p:cBhvr>
                                      <p:to>
                                        <p:strVal val="visible"/>
                                      </p:to>
                                    </p:set>
                                    <p:animEffect transition="in" filter="fade">
                                      <p:cBhvr>
                                        <p:cTn id="28" dur="500"/>
                                        <p:tgtEl>
                                          <p:spTgt spid="106"/>
                                        </p:tgtEl>
                                      </p:cBhvr>
                                    </p:animEffect>
                                    <p:anim calcmode="lin" valueType="num">
                                      <p:cBhvr additive="base">
                                        <p:cTn id="29" dur="500" decel="100000" fill="hold"/>
                                        <p:tgtEl>
                                          <p:spTgt spid="106"/>
                                        </p:tgtEl>
                                        <p:attrNameLst>
                                          <p:attrName>ppt_y</p:attrName>
                                        </p:attrNameLst>
                                      </p:cBhvr>
                                      <p:tavLst>
                                        <p:tav tm="0">
                                          <p:val>
                                            <p:strVal val="#ppt_y+0.06"/>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107"/>
                                        </p:tgtEl>
                                        <p:attrNameLst>
                                          <p:attrName>style.visibility</p:attrName>
                                        </p:attrNameLst>
                                      </p:cBhvr>
                                      <p:to>
                                        <p:strVal val="visible"/>
                                      </p:to>
                                    </p:set>
                                    <p:animEffect transition="in" filter="fade">
                                      <p:cBhvr>
                                        <p:cTn id="32" dur="500"/>
                                        <p:tgtEl>
                                          <p:spTgt spid="107"/>
                                        </p:tgtEl>
                                      </p:cBhvr>
                                    </p:animEffect>
                                    <p:anim calcmode="lin" valueType="num">
                                      <p:cBhvr additive="base">
                                        <p:cTn id="33" dur="500" decel="100000" fill="hold"/>
                                        <p:tgtEl>
                                          <p:spTgt spid="107"/>
                                        </p:tgtEl>
                                        <p:attrNameLst>
                                          <p:attrName>ppt_y</p:attrName>
                                        </p:attrNameLst>
                                      </p:cBhvr>
                                      <p:tavLst>
                                        <p:tav tm="0">
                                          <p:val>
                                            <p:strVal val="#ppt_y+0.06"/>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grpId="0" nodeType="clickEffect">
                                  <p:stCondLst>
                                    <p:cond delay="0"/>
                                  </p:stCondLst>
                                  <p:childTnLst>
                                    <p:set>
                                      <p:cBhvr>
                                        <p:cTn id="37" dur="1" fill="hold">
                                          <p:stCondLst>
                                            <p:cond delay="0"/>
                                          </p:stCondLst>
                                        </p:cTn>
                                        <p:tgtEl>
                                          <p:spTgt spid="108"/>
                                        </p:tgtEl>
                                        <p:attrNameLst>
                                          <p:attrName>style.visibility</p:attrName>
                                        </p:attrNameLst>
                                      </p:cBhvr>
                                      <p:to>
                                        <p:strVal val="visible"/>
                                      </p:to>
                                    </p:set>
                                    <p:animEffect transition="in" filter="fade">
                                      <p:cBhvr>
                                        <p:cTn id="38" dur="500"/>
                                        <p:tgtEl>
                                          <p:spTgt spid="108"/>
                                        </p:tgtEl>
                                      </p:cBhvr>
                                    </p:animEffect>
                                    <p:anim calcmode="lin" valueType="num">
                                      <p:cBhvr additive="base">
                                        <p:cTn id="39" dur="500" decel="100000" fill="hold"/>
                                        <p:tgtEl>
                                          <p:spTgt spid="108"/>
                                        </p:tgtEl>
                                        <p:attrNameLst>
                                          <p:attrName>ppt_y</p:attrName>
                                        </p:attrNameLst>
                                      </p:cBhvr>
                                      <p:tavLst>
                                        <p:tav tm="0">
                                          <p:val>
                                            <p:strVal val="#ppt_y+0.06"/>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109"/>
                                        </p:tgtEl>
                                        <p:attrNameLst>
                                          <p:attrName>style.visibility</p:attrName>
                                        </p:attrNameLst>
                                      </p:cBhvr>
                                      <p:to>
                                        <p:strVal val="visible"/>
                                      </p:to>
                                    </p:set>
                                    <p:animEffect transition="in" filter="fade">
                                      <p:cBhvr>
                                        <p:cTn id="42" dur="500"/>
                                        <p:tgtEl>
                                          <p:spTgt spid="109"/>
                                        </p:tgtEl>
                                      </p:cBhvr>
                                    </p:animEffect>
                                    <p:anim calcmode="lin" valueType="num">
                                      <p:cBhvr additive="base">
                                        <p:cTn id="43" dur="500" decel="100000" fill="hold"/>
                                        <p:tgtEl>
                                          <p:spTgt spid="109"/>
                                        </p:tgtEl>
                                        <p:attrNameLst>
                                          <p:attrName>ppt_y</p:attrName>
                                        </p:attrNameLst>
                                      </p:cBhvr>
                                      <p:tavLst>
                                        <p:tav tm="0">
                                          <p:val>
                                            <p:strVal val="#ppt_y+0.06"/>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110"/>
                                        </p:tgtEl>
                                        <p:attrNameLst>
                                          <p:attrName>style.visibility</p:attrName>
                                        </p:attrNameLst>
                                      </p:cBhvr>
                                      <p:to>
                                        <p:strVal val="visible"/>
                                      </p:to>
                                    </p:set>
                                    <p:animEffect transition="in" filter="fade">
                                      <p:cBhvr>
                                        <p:cTn id="46" dur="500"/>
                                        <p:tgtEl>
                                          <p:spTgt spid="110"/>
                                        </p:tgtEl>
                                      </p:cBhvr>
                                    </p:animEffect>
                                    <p:anim calcmode="lin" valueType="num">
                                      <p:cBhvr additive="base">
                                        <p:cTn id="47" dur="500" decel="100000" fill="hold"/>
                                        <p:tgtEl>
                                          <p:spTgt spid="110"/>
                                        </p:tgtEl>
                                        <p:attrNameLst>
                                          <p:attrName>ppt_y</p:attrName>
                                        </p:attrNameLst>
                                      </p:cBhvr>
                                      <p:tavLst>
                                        <p:tav tm="0">
                                          <p:val>
                                            <p:strVal val="#ppt_y+0.06"/>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111"/>
                                        </p:tgtEl>
                                        <p:attrNameLst>
                                          <p:attrName>style.visibility</p:attrName>
                                        </p:attrNameLst>
                                      </p:cBhvr>
                                      <p:to>
                                        <p:strVal val="visible"/>
                                      </p:to>
                                    </p:set>
                                    <p:animEffect transition="in" filter="fade">
                                      <p:cBhvr>
                                        <p:cTn id="50" dur="500"/>
                                        <p:tgtEl>
                                          <p:spTgt spid="111"/>
                                        </p:tgtEl>
                                      </p:cBhvr>
                                    </p:animEffect>
                                    <p:anim calcmode="lin" valueType="num">
                                      <p:cBhvr additive="base">
                                        <p:cTn id="51" dur="500" decel="100000" fill="hold"/>
                                        <p:tgtEl>
                                          <p:spTgt spid="111"/>
                                        </p:tgtEl>
                                        <p:attrNameLst>
                                          <p:attrName>ppt_y</p:attrName>
                                        </p:attrNameLst>
                                      </p:cBhvr>
                                      <p:tavLst>
                                        <p:tav tm="0">
                                          <p:val>
                                            <p:strVal val="#ppt_y+0.06"/>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12"/>
                                        </p:tgtEl>
                                        <p:attrNameLst>
                                          <p:attrName>style.visibility</p:attrName>
                                        </p:attrNameLst>
                                      </p:cBhvr>
                                      <p:to>
                                        <p:strVal val="visible"/>
                                      </p:to>
                                    </p:set>
                                    <p:animEffect transition="in" filter="fade">
                                      <p:cBhvr>
                                        <p:cTn id="54" dur="500"/>
                                        <p:tgtEl>
                                          <p:spTgt spid="112"/>
                                        </p:tgtEl>
                                      </p:cBhvr>
                                    </p:animEffect>
                                    <p:anim calcmode="lin" valueType="num">
                                      <p:cBhvr additive="base">
                                        <p:cTn id="55" dur="500" decel="100000" fill="hold"/>
                                        <p:tgtEl>
                                          <p:spTgt spid="112"/>
                                        </p:tgtEl>
                                        <p:attrNameLst>
                                          <p:attrName>ppt_y</p:attrName>
                                        </p:attrNameLst>
                                      </p:cBhvr>
                                      <p:tavLst>
                                        <p:tav tm="0">
                                          <p:val>
                                            <p:strVal val="#ppt_y+0.06"/>
                                          </p:val>
                                        </p:tav>
                                        <p:tav tm="100000">
                                          <p:val>
                                            <p:strVal val="#ppt_y"/>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113"/>
                                        </p:tgtEl>
                                        <p:attrNameLst>
                                          <p:attrName>style.visibility</p:attrName>
                                        </p:attrNameLst>
                                      </p:cBhvr>
                                      <p:to>
                                        <p:strVal val="visible"/>
                                      </p:to>
                                    </p:set>
                                    <p:animEffect transition="in" filter="fade">
                                      <p:cBhvr>
                                        <p:cTn id="58" dur="500"/>
                                        <p:tgtEl>
                                          <p:spTgt spid="113"/>
                                        </p:tgtEl>
                                      </p:cBhvr>
                                    </p:animEffect>
                                    <p:anim calcmode="lin" valueType="num">
                                      <p:cBhvr additive="base">
                                        <p:cTn id="59" dur="500" decel="100000" fill="hold"/>
                                        <p:tgtEl>
                                          <p:spTgt spid="113"/>
                                        </p:tgtEl>
                                        <p:attrNameLst>
                                          <p:attrName>ppt_y</p:attrName>
                                        </p:attrNameLst>
                                      </p:cBhvr>
                                      <p:tavLst>
                                        <p:tav tm="0">
                                          <p:val>
                                            <p:strVal val="#ppt_y+0.06"/>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114"/>
                                        </p:tgtEl>
                                        <p:attrNameLst>
                                          <p:attrName>style.visibility</p:attrName>
                                        </p:attrNameLst>
                                      </p:cBhvr>
                                      <p:to>
                                        <p:strVal val="visible"/>
                                      </p:to>
                                    </p:set>
                                    <p:animEffect transition="in" filter="fade">
                                      <p:cBhvr>
                                        <p:cTn id="64" dur="500"/>
                                        <p:tgtEl>
                                          <p:spTgt spid="114"/>
                                        </p:tgtEl>
                                      </p:cBhvr>
                                    </p:animEffect>
                                    <p:anim calcmode="lin" valueType="num">
                                      <p:cBhvr additive="base">
                                        <p:cTn id="65" dur="500" decel="100000" fill="hold"/>
                                        <p:tgtEl>
                                          <p:spTgt spid="114"/>
                                        </p:tgtEl>
                                        <p:attrNameLst>
                                          <p:attrName>ppt_y</p:attrName>
                                        </p:attrNameLst>
                                      </p:cBhvr>
                                      <p:tavLst>
                                        <p:tav tm="0">
                                          <p:val>
                                            <p:strVal val="#ppt_y+0.06"/>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115"/>
                                        </p:tgtEl>
                                        <p:attrNameLst>
                                          <p:attrName>style.visibility</p:attrName>
                                        </p:attrNameLst>
                                      </p:cBhvr>
                                      <p:to>
                                        <p:strVal val="visible"/>
                                      </p:to>
                                    </p:set>
                                    <p:animEffect transition="in" filter="fade">
                                      <p:cBhvr>
                                        <p:cTn id="68" dur="500"/>
                                        <p:tgtEl>
                                          <p:spTgt spid="115"/>
                                        </p:tgtEl>
                                      </p:cBhvr>
                                    </p:animEffect>
                                    <p:anim calcmode="lin" valueType="num">
                                      <p:cBhvr additive="base">
                                        <p:cTn id="69" dur="500" decel="100000" fill="hold"/>
                                        <p:tgtEl>
                                          <p:spTgt spid="115"/>
                                        </p:tgtEl>
                                        <p:attrNameLst>
                                          <p:attrName>ppt_y</p:attrName>
                                        </p:attrNameLst>
                                      </p:cBhvr>
                                      <p:tavLst>
                                        <p:tav tm="0">
                                          <p:val>
                                            <p:strVal val="#ppt_y+0.06"/>
                                          </p:val>
                                        </p:tav>
                                        <p:tav tm="100000">
                                          <p:val>
                                            <p:strVal val="#ppt_y"/>
                                          </p:val>
                                        </p:tav>
                                      </p:tavLst>
                                    </p:anim>
                                  </p:childTnLst>
                                </p:cTn>
                              </p:par>
                              <p:par>
                                <p:cTn id="70" presetID="42" presetClass="entr" presetSubtype="0" fill="hold" nodeType="withEffect">
                                  <p:stCondLst>
                                    <p:cond delay="0"/>
                                  </p:stCondLst>
                                  <p:childTnLst>
                                    <p:set>
                                      <p:cBhvr>
                                        <p:cTn id="71" dur="1" fill="hold">
                                          <p:stCondLst>
                                            <p:cond delay="0"/>
                                          </p:stCondLst>
                                        </p:cTn>
                                        <p:tgtEl>
                                          <p:spTgt spid="116"/>
                                        </p:tgtEl>
                                        <p:attrNameLst>
                                          <p:attrName>style.visibility</p:attrName>
                                        </p:attrNameLst>
                                      </p:cBhvr>
                                      <p:to>
                                        <p:strVal val="visible"/>
                                      </p:to>
                                    </p:set>
                                    <p:animEffect transition="in" filter="fade">
                                      <p:cBhvr>
                                        <p:cTn id="72" dur="500"/>
                                        <p:tgtEl>
                                          <p:spTgt spid="116"/>
                                        </p:tgtEl>
                                      </p:cBhvr>
                                    </p:animEffect>
                                    <p:anim calcmode="lin" valueType="num">
                                      <p:cBhvr additive="base">
                                        <p:cTn id="73" dur="500" decel="100000" fill="hold"/>
                                        <p:tgtEl>
                                          <p:spTgt spid="116"/>
                                        </p:tgtEl>
                                        <p:attrNameLst>
                                          <p:attrName>ppt_y</p:attrName>
                                        </p:attrNameLst>
                                      </p:cBhvr>
                                      <p:tavLst>
                                        <p:tav tm="0">
                                          <p:val>
                                            <p:strVal val="#ppt_y+0.06"/>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117"/>
                                        </p:tgtEl>
                                        <p:attrNameLst>
                                          <p:attrName>style.visibility</p:attrName>
                                        </p:attrNameLst>
                                      </p:cBhvr>
                                      <p:to>
                                        <p:strVal val="visible"/>
                                      </p:to>
                                    </p:set>
                                    <p:animEffect transition="in" filter="fade">
                                      <p:cBhvr>
                                        <p:cTn id="76" dur="500"/>
                                        <p:tgtEl>
                                          <p:spTgt spid="117"/>
                                        </p:tgtEl>
                                      </p:cBhvr>
                                    </p:animEffect>
                                    <p:anim calcmode="lin" valueType="num">
                                      <p:cBhvr additive="base">
                                        <p:cTn id="77" dur="500" decel="100000" fill="hold"/>
                                        <p:tgtEl>
                                          <p:spTgt spid="117"/>
                                        </p:tgtEl>
                                        <p:attrNameLst>
                                          <p:attrName>ppt_y</p:attrName>
                                        </p:attrNameLst>
                                      </p:cBhvr>
                                      <p:tavLst>
                                        <p:tav tm="0">
                                          <p:val>
                                            <p:strVal val="#ppt_y+0.06"/>
                                          </p:val>
                                        </p:tav>
                                        <p:tav tm="100000">
                                          <p:val>
                                            <p:strVal val="#ppt_y"/>
                                          </p:val>
                                        </p:tav>
                                      </p:tavLst>
                                    </p:anim>
                                  </p:childTnLst>
                                </p:cTn>
                              </p:par>
                              <p:par>
                                <p:cTn id="78" presetID="42" presetClass="entr" presetSubtype="0" fill="hold" grpId="0" nodeType="withEffect">
                                  <p:stCondLst>
                                    <p:cond delay="0"/>
                                  </p:stCondLst>
                                  <p:childTnLst>
                                    <p:set>
                                      <p:cBhvr>
                                        <p:cTn id="79" dur="1" fill="hold">
                                          <p:stCondLst>
                                            <p:cond delay="0"/>
                                          </p:stCondLst>
                                        </p:cTn>
                                        <p:tgtEl>
                                          <p:spTgt spid="118"/>
                                        </p:tgtEl>
                                        <p:attrNameLst>
                                          <p:attrName>style.visibility</p:attrName>
                                        </p:attrNameLst>
                                      </p:cBhvr>
                                      <p:to>
                                        <p:strVal val="visible"/>
                                      </p:to>
                                    </p:set>
                                    <p:animEffect transition="in" filter="fade">
                                      <p:cBhvr>
                                        <p:cTn id="80" dur="500"/>
                                        <p:tgtEl>
                                          <p:spTgt spid="118"/>
                                        </p:tgtEl>
                                      </p:cBhvr>
                                    </p:animEffect>
                                    <p:anim calcmode="lin" valueType="num">
                                      <p:cBhvr additive="base">
                                        <p:cTn id="81" dur="500" decel="100000" fill="hold"/>
                                        <p:tgtEl>
                                          <p:spTgt spid="118"/>
                                        </p:tgtEl>
                                        <p:attrNameLst>
                                          <p:attrName>ppt_y</p:attrName>
                                        </p:attrNameLst>
                                      </p:cBhvr>
                                      <p:tavLst>
                                        <p:tav tm="0">
                                          <p:val>
                                            <p:strVal val="#ppt_y+0.06"/>
                                          </p:val>
                                        </p:tav>
                                        <p:tav tm="100000">
                                          <p:val>
                                            <p:strVal val="#ppt_y"/>
                                          </p:val>
                                        </p:tav>
                                      </p:tavLst>
                                    </p:anim>
                                  </p:childTnLst>
                                </p:cTn>
                              </p:par>
                              <p:par>
                                <p:cTn id="82" presetID="42" presetClass="entr" presetSubtype="0" fill="hold" grpId="0" nodeType="withEffect">
                                  <p:stCondLst>
                                    <p:cond delay="0"/>
                                  </p:stCondLst>
                                  <p:childTnLst>
                                    <p:set>
                                      <p:cBhvr>
                                        <p:cTn id="83" dur="1" fill="hold">
                                          <p:stCondLst>
                                            <p:cond delay="0"/>
                                          </p:stCondLst>
                                        </p:cTn>
                                        <p:tgtEl>
                                          <p:spTgt spid="119"/>
                                        </p:tgtEl>
                                        <p:attrNameLst>
                                          <p:attrName>style.visibility</p:attrName>
                                        </p:attrNameLst>
                                      </p:cBhvr>
                                      <p:to>
                                        <p:strVal val="visible"/>
                                      </p:to>
                                    </p:set>
                                    <p:animEffect transition="in" filter="fade">
                                      <p:cBhvr>
                                        <p:cTn id="84" dur="500"/>
                                        <p:tgtEl>
                                          <p:spTgt spid="119"/>
                                        </p:tgtEl>
                                      </p:cBhvr>
                                    </p:animEffect>
                                    <p:anim calcmode="lin" valueType="num">
                                      <p:cBhvr additive="base">
                                        <p:cTn id="85" dur="5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par>
                    <p:cTn id="86" fill="hold">
                      <p:stCondLst>
                        <p:cond delay="indefinite"/>
                      </p:stCondLst>
                      <p:childTnLst>
                        <p:par>
                          <p:cTn id="87" fill="hold">
                            <p:stCondLst>
                              <p:cond delay="0"/>
                            </p:stCondLst>
                            <p:childTnLst>
                              <p:par>
                                <p:cTn id="88" presetID="42" presetClass="entr" presetSubtype="0" fill="hold" grpId="0" nodeType="clickEffect">
                                  <p:stCondLst>
                                    <p:cond delay="0"/>
                                  </p:stCondLst>
                                  <p:childTnLst>
                                    <p:set>
                                      <p:cBhvr>
                                        <p:cTn id="89" dur="1" fill="hold">
                                          <p:stCondLst>
                                            <p:cond delay="0"/>
                                          </p:stCondLst>
                                        </p:cTn>
                                        <p:tgtEl>
                                          <p:spTgt spid="120"/>
                                        </p:tgtEl>
                                        <p:attrNameLst>
                                          <p:attrName>style.visibility</p:attrName>
                                        </p:attrNameLst>
                                      </p:cBhvr>
                                      <p:to>
                                        <p:strVal val="visible"/>
                                      </p:to>
                                    </p:set>
                                    <p:animEffect transition="in" filter="fade">
                                      <p:cBhvr>
                                        <p:cTn id="90" dur="500"/>
                                        <p:tgtEl>
                                          <p:spTgt spid="120"/>
                                        </p:tgtEl>
                                      </p:cBhvr>
                                    </p:animEffect>
                                    <p:anim calcmode="lin" valueType="num">
                                      <p:cBhvr additive="base">
                                        <p:cTn id="91" dur="500" decel="100000" fill="hold"/>
                                        <p:tgtEl>
                                          <p:spTgt spid="120"/>
                                        </p:tgtEl>
                                        <p:attrNameLst>
                                          <p:attrName>ppt_y</p:attrName>
                                        </p:attrNameLst>
                                      </p:cBhvr>
                                      <p:tavLst>
                                        <p:tav tm="0">
                                          <p:val>
                                            <p:strVal val="#ppt_y+0.06"/>
                                          </p:val>
                                        </p:tav>
                                        <p:tav tm="100000">
                                          <p:val>
                                            <p:strVal val="#ppt_y"/>
                                          </p:val>
                                        </p:tav>
                                      </p:tavLst>
                                    </p:anim>
                                  </p:childTnLst>
                                </p:cTn>
                              </p:par>
                              <p:par>
                                <p:cTn id="92" presetID="42" presetClass="entr" presetSubtype="0" fill="hold" grpId="0" nodeType="withEffect">
                                  <p:stCondLst>
                                    <p:cond delay="0"/>
                                  </p:stCondLst>
                                  <p:childTnLst>
                                    <p:set>
                                      <p:cBhvr>
                                        <p:cTn id="93" dur="1" fill="hold">
                                          <p:stCondLst>
                                            <p:cond delay="0"/>
                                          </p:stCondLst>
                                        </p:cTn>
                                        <p:tgtEl>
                                          <p:spTgt spid="121"/>
                                        </p:tgtEl>
                                        <p:attrNameLst>
                                          <p:attrName>style.visibility</p:attrName>
                                        </p:attrNameLst>
                                      </p:cBhvr>
                                      <p:to>
                                        <p:strVal val="visible"/>
                                      </p:to>
                                    </p:set>
                                    <p:animEffect transition="in" filter="fade">
                                      <p:cBhvr>
                                        <p:cTn id="94" dur="500"/>
                                        <p:tgtEl>
                                          <p:spTgt spid="121"/>
                                        </p:tgtEl>
                                      </p:cBhvr>
                                    </p:animEffect>
                                    <p:anim calcmode="lin" valueType="num">
                                      <p:cBhvr additive="base">
                                        <p:cTn id="95" dur="500" decel="100000" fill="hold"/>
                                        <p:tgtEl>
                                          <p:spTgt spid="121"/>
                                        </p:tgtEl>
                                        <p:attrNameLst>
                                          <p:attrName>ppt_y</p:attrName>
                                        </p:attrNameLst>
                                      </p:cBhvr>
                                      <p:tavLst>
                                        <p:tav tm="0">
                                          <p:val>
                                            <p:strVal val="#ppt_y+0.06"/>
                                          </p:val>
                                        </p:tav>
                                        <p:tav tm="100000">
                                          <p:val>
                                            <p:strVal val="#ppt_y"/>
                                          </p:val>
                                        </p:tav>
                                      </p:tavLst>
                                    </p:anim>
                                  </p:childTnLst>
                                </p:cTn>
                              </p:par>
                              <p:par>
                                <p:cTn id="96" presetID="42" presetClass="entr" presetSubtype="0" fill="hold" nodeType="withEffect">
                                  <p:stCondLst>
                                    <p:cond delay="0"/>
                                  </p:stCondLst>
                                  <p:childTnLst>
                                    <p:set>
                                      <p:cBhvr>
                                        <p:cTn id="97" dur="1" fill="hold">
                                          <p:stCondLst>
                                            <p:cond delay="0"/>
                                          </p:stCondLst>
                                        </p:cTn>
                                        <p:tgtEl>
                                          <p:spTgt spid="122"/>
                                        </p:tgtEl>
                                        <p:attrNameLst>
                                          <p:attrName>style.visibility</p:attrName>
                                        </p:attrNameLst>
                                      </p:cBhvr>
                                      <p:to>
                                        <p:strVal val="visible"/>
                                      </p:to>
                                    </p:set>
                                    <p:animEffect transition="in" filter="fade">
                                      <p:cBhvr>
                                        <p:cTn id="98" dur="500"/>
                                        <p:tgtEl>
                                          <p:spTgt spid="122"/>
                                        </p:tgtEl>
                                      </p:cBhvr>
                                    </p:animEffect>
                                    <p:anim calcmode="lin" valueType="num">
                                      <p:cBhvr additive="base">
                                        <p:cTn id="99" dur="500" decel="100000" fill="hold"/>
                                        <p:tgtEl>
                                          <p:spTgt spid="122"/>
                                        </p:tgtEl>
                                        <p:attrNameLst>
                                          <p:attrName>ppt_y</p:attrName>
                                        </p:attrNameLst>
                                      </p:cBhvr>
                                      <p:tavLst>
                                        <p:tav tm="0">
                                          <p:val>
                                            <p:strVal val="#ppt_y+0.06"/>
                                          </p:val>
                                        </p:tav>
                                        <p:tav tm="100000">
                                          <p:val>
                                            <p:strVal val="#ppt_y"/>
                                          </p:val>
                                        </p:tav>
                                      </p:tavLst>
                                    </p:anim>
                                  </p:childTnLst>
                                </p:cTn>
                              </p:par>
                              <p:par>
                                <p:cTn id="100" presetID="42" presetClass="entr" presetSubtype="0" fill="hold" grpId="0" nodeType="withEffect">
                                  <p:stCondLst>
                                    <p:cond delay="0"/>
                                  </p:stCondLst>
                                  <p:childTnLst>
                                    <p:set>
                                      <p:cBhvr>
                                        <p:cTn id="101" dur="1" fill="hold">
                                          <p:stCondLst>
                                            <p:cond delay="0"/>
                                          </p:stCondLst>
                                        </p:cTn>
                                        <p:tgtEl>
                                          <p:spTgt spid="123"/>
                                        </p:tgtEl>
                                        <p:attrNameLst>
                                          <p:attrName>style.visibility</p:attrName>
                                        </p:attrNameLst>
                                      </p:cBhvr>
                                      <p:to>
                                        <p:strVal val="visible"/>
                                      </p:to>
                                    </p:set>
                                    <p:animEffect transition="in" filter="fade">
                                      <p:cBhvr>
                                        <p:cTn id="102" dur="500"/>
                                        <p:tgtEl>
                                          <p:spTgt spid="123"/>
                                        </p:tgtEl>
                                      </p:cBhvr>
                                    </p:animEffect>
                                    <p:anim calcmode="lin" valueType="num">
                                      <p:cBhvr additive="base">
                                        <p:cTn id="103" dur="500" decel="100000" fill="hold"/>
                                        <p:tgtEl>
                                          <p:spTgt spid="123"/>
                                        </p:tgtEl>
                                        <p:attrNameLst>
                                          <p:attrName>ppt_y</p:attrName>
                                        </p:attrNameLst>
                                      </p:cBhvr>
                                      <p:tavLst>
                                        <p:tav tm="0">
                                          <p:val>
                                            <p:strVal val="#ppt_y+0.06"/>
                                          </p:val>
                                        </p:tav>
                                        <p:tav tm="100000">
                                          <p:val>
                                            <p:strVal val="#ppt_y"/>
                                          </p:val>
                                        </p:tav>
                                      </p:tavLst>
                                    </p:anim>
                                  </p:childTnLst>
                                </p:cTn>
                              </p:par>
                              <p:par>
                                <p:cTn id="104" presetID="42" presetClass="entr" presetSubtype="0" fill="hold" grpId="0" nodeType="withEffect">
                                  <p:stCondLst>
                                    <p:cond delay="0"/>
                                  </p:stCondLst>
                                  <p:childTnLst>
                                    <p:set>
                                      <p:cBhvr>
                                        <p:cTn id="105" dur="1" fill="hold">
                                          <p:stCondLst>
                                            <p:cond delay="0"/>
                                          </p:stCondLst>
                                        </p:cTn>
                                        <p:tgtEl>
                                          <p:spTgt spid="124"/>
                                        </p:tgtEl>
                                        <p:attrNameLst>
                                          <p:attrName>style.visibility</p:attrName>
                                        </p:attrNameLst>
                                      </p:cBhvr>
                                      <p:to>
                                        <p:strVal val="visible"/>
                                      </p:to>
                                    </p:set>
                                    <p:animEffect transition="in" filter="fade">
                                      <p:cBhvr>
                                        <p:cTn id="106" dur="500"/>
                                        <p:tgtEl>
                                          <p:spTgt spid="124"/>
                                        </p:tgtEl>
                                      </p:cBhvr>
                                    </p:animEffect>
                                    <p:anim calcmode="lin" valueType="num">
                                      <p:cBhvr additive="base">
                                        <p:cTn id="107" dur="500" decel="100000" fill="hold"/>
                                        <p:tgtEl>
                                          <p:spTgt spid="124"/>
                                        </p:tgtEl>
                                        <p:attrNameLst>
                                          <p:attrName>ppt_y</p:attrName>
                                        </p:attrNameLst>
                                      </p:cBhvr>
                                      <p:tavLst>
                                        <p:tav tm="0">
                                          <p:val>
                                            <p:strVal val="#ppt_y+0.06"/>
                                          </p:val>
                                        </p:tav>
                                        <p:tav tm="100000">
                                          <p:val>
                                            <p:strVal val="#ppt_y"/>
                                          </p:val>
                                        </p:tav>
                                      </p:tavLst>
                                    </p:anim>
                                  </p:childTnLst>
                                </p:cTn>
                              </p:par>
                              <p:par>
                                <p:cTn id="108" presetID="42" presetClass="entr" presetSubtype="0" fill="hold" grpId="0" nodeType="withEffect">
                                  <p:stCondLst>
                                    <p:cond delay="0"/>
                                  </p:stCondLst>
                                  <p:childTnLst>
                                    <p:set>
                                      <p:cBhvr>
                                        <p:cTn id="109" dur="1" fill="hold">
                                          <p:stCondLst>
                                            <p:cond delay="0"/>
                                          </p:stCondLst>
                                        </p:cTn>
                                        <p:tgtEl>
                                          <p:spTgt spid="125"/>
                                        </p:tgtEl>
                                        <p:attrNameLst>
                                          <p:attrName>style.visibility</p:attrName>
                                        </p:attrNameLst>
                                      </p:cBhvr>
                                      <p:to>
                                        <p:strVal val="visible"/>
                                      </p:to>
                                    </p:set>
                                    <p:animEffect transition="in" filter="fade">
                                      <p:cBhvr>
                                        <p:cTn id="110" dur="500"/>
                                        <p:tgtEl>
                                          <p:spTgt spid="125"/>
                                        </p:tgtEl>
                                      </p:cBhvr>
                                    </p:animEffect>
                                    <p:anim calcmode="lin" valueType="num">
                                      <p:cBhvr additive="base">
                                        <p:cTn id="111" dur="500" decel="100000" fill="hold"/>
                                        <p:tgtEl>
                                          <p:spTgt spid="125"/>
                                        </p:tgtEl>
                                        <p:attrNameLst>
                                          <p:attrName>ppt_y</p:attrName>
                                        </p:attrNameLst>
                                      </p:cBhvr>
                                      <p:tavLst>
                                        <p:tav tm="0">
                                          <p:val>
                                            <p:strVal val="#ppt_y+0.06"/>
                                          </p:val>
                                        </p:tav>
                                        <p:tav tm="100000">
                                          <p:val>
                                            <p:strVal val="#ppt_y"/>
                                          </p:val>
                                        </p:tav>
                                      </p:tavLst>
                                    </p:anim>
                                  </p:childTnLst>
                                </p:cTn>
                              </p:par>
                            </p:childTnLst>
                          </p:cTn>
                        </p:par>
                      </p:childTnLst>
                    </p:cTn>
                  </p:par>
                  <p:par>
                    <p:cTn id="112" fill="hold">
                      <p:stCondLst>
                        <p:cond delay="indefinite"/>
                      </p:stCondLst>
                      <p:childTnLst>
                        <p:par>
                          <p:cTn id="113" fill="hold">
                            <p:stCondLst>
                              <p:cond delay="0"/>
                            </p:stCondLst>
                            <p:childTnLst>
                              <p:par>
                                <p:cTn id="114" presetID="42" presetClass="entr" presetSubtype="0" fill="hold" grpId="0" nodeType="clickEffect">
                                  <p:stCondLst>
                                    <p:cond delay="0"/>
                                  </p:stCondLst>
                                  <p:childTnLst>
                                    <p:set>
                                      <p:cBhvr>
                                        <p:cTn id="115" dur="1" fill="hold">
                                          <p:stCondLst>
                                            <p:cond delay="0"/>
                                          </p:stCondLst>
                                        </p:cTn>
                                        <p:tgtEl>
                                          <p:spTgt spid="126"/>
                                        </p:tgtEl>
                                        <p:attrNameLst>
                                          <p:attrName>style.visibility</p:attrName>
                                        </p:attrNameLst>
                                      </p:cBhvr>
                                      <p:to>
                                        <p:strVal val="visible"/>
                                      </p:to>
                                    </p:set>
                                    <p:animEffect transition="in" filter="fade">
                                      <p:cBhvr>
                                        <p:cTn id="116" dur="500"/>
                                        <p:tgtEl>
                                          <p:spTgt spid="126"/>
                                        </p:tgtEl>
                                      </p:cBhvr>
                                    </p:animEffect>
                                    <p:anim calcmode="lin" valueType="num">
                                      <p:cBhvr additive="base">
                                        <p:cTn id="117" dur="500" decel="100000" fill="hold"/>
                                        <p:tgtEl>
                                          <p:spTgt spid="126"/>
                                        </p:tgtEl>
                                        <p:attrNameLst>
                                          <p:attrName>ppt_y</p:attrName>
                                        </p:attrNameLst>
                                      </p:cBhvr>
                                      <p:tavLst>
                                        <p:tav tm="0">
                                          <p:val>
                                            <p:strVal val="#ppt_y+0.06"/>
                                          </p:val>
                                        </p:tav>
                                        <p:tav tm="100000">
                                          <p:val>
                                            <p:strVal val="#ppt_y"/>
                                          </p:val>
                                        </p:tav>
                                      </p:tavLst>
                                    </p:anim>
                                  </p:childTnLst>
                                </p:cTn>
                              </p:par>
                              <p:par>
                                <p:cTn id="118" presetID="42" presetClass="entr" presetSubtype="0" fill="hold" grpId="0" nodeType="withEffect">
                                  <p:stCondLst>
                                    <p:cond delay="0"/>
                                  </p:stCondLst>
                                  <p:childTnLst>
                                    <p:set>
                                      <p:cBhvr>
                                        <p:cTn id="119" dur="1" fill="hold">
                                          <p:stCondLst>
                                            <p:cond delay="0"/>
                                          </p:stCondLst>
                                        </p:cTn>
                                        <p:tgtEl>
                                          <p:spTgt spid="127"/>
                                        </p:tgtEl>
                                        <p:attrNameLst>
                                          <p:attrName>style.visibility</p:attrName>
                                        </p:attrNameLst>
                                      </p:cBhvr>
                                      <p:to>
                                        <p:strVal val="visible"/>
                                      </p:to>
                                    </p:set>
                                    <p:animEffect transition="in" filter="fade">
                                      <p:cBhvr>
                                        <p:cTn id="120" dur="500"/>
                                        <p:tgtEl>
                                          <p:spTgt spid="127"/>
                                        </p:tgtEl>
                                      </p:cBhvr>
                                    </p:animEffect>
                                    <p:anim calcmode="lin" valueType="num">
                                      <p:cBhvr additive="base">
                                        <p:cTn id="121" dur="500" decel="100000" fill="hold"/>
                                        <p:tgtEl>
                                          <p:spTgt spid="127"/>
                                        </p:tgtEl>
                                        <p:attrNameLst>
                                          <p:attrName>ppt_y</p:attrName>
                                        </p:attrNameLst>
                                      </p:cBhvr>
                                      <p:tavLst>
                                        <p:tav tm="0">
                                          <p:val>
                                            <p:strVal val="#ppt_y+0.06"/>
                                          </p:val>
                                        </p:tav>
                                        <p:tav tm="100000">
                                          <p:val>
                                            <p:strVal val="#ppt_y"/>
                                          </p:val>
                                        </p:tav>
                                      </p:tavLst>
                                    </p:anim>
                                  </p:childTnLst>
                                </p:cTn>
                              </p:par>
                              <p:par>
                                <p:cTn id="122" presetID="42" presetClass="entr" presetSubtype="0" fill="hold" nodeType="withEffect">
                                  <p:stCondLst>
                                    <p:cond delay="0"/>
                                  </p:stCondLst>
                                  <p:childTnLst>
                                    <p:set>
                                      <p:cBhvr>
                                        <p:cTn id="123" dur="1" fill="hold">
                                          <p:stCondLst>
                                            <p:cond delay="0"/>
                                          </p:stCondLst>
                                        </p:cTn>
                                        <p:tgtEl>
                                          <p:spTgt spid="128"/>
                                        </p:tgtEl>
                                        <p:attrNameLst>
                                          <p:attrName>style.visibility</p:attrName>
                                        </p:attrNameLst>
                                      </p:cBhvr>
                                      <p:to>
                                        <p:strVal val="visible"/>
                                      </p:to>
                                    </p:set>
                                    <p:animEffect transition="in" filter="fade">
                                      <p:cBhvr>
                                        <p:cTn id="124" dur="500"/>
                                        <p:tgtEl>
                                          <p:spTgt spid="128"/>
                                        </p:tgtEl>
                                      </p:cBhvr>
                                    </p:animEffect>
                                    <p:anim calcmode="lin" valueType="num">
                                      <p:cBhvr additive="base">
                                        <p:cTn id="125" dur="500" decel="100000" fill="hold"/>
                                        <p:tgtEl>
                                          <p:spTgt spid="128"/>
                                        </p:tgtEl>
                                        <p:attrNameLst>
                                          <p:attrName>ppt_y</p:attrName>
                                        </p:attrNameLst>
                                      </p:cBhvr>
                                      <p:tavLst>
                                        <p:tav tm="0">
                                          <p:val>
                                            <p:strVal val="#ppt_y+0.06"/>
                                          </p:val>
                                        </p:tav>
                                        <p:tav tm="100000">
                                          <p:val>
                                            <p:strVal val="#ppt_y"/>
                                          </p:val>
                                        </p:tav>
                                      </p:tavLst>
                                    </p:anim>
                                  </p:childTnLst>
                                </p:cTn>
                              </p:par>
                              <p:par>
                                <p:cTn id="126" presetID="42" presetClass="entr" presetSubtype="0" fill="hold" grpId="0" nodeType="withEffect">
                                  <p:stCondLst>
                                    <p:cond delay="0"/>
                                  </p:stCondLst>
                                  <p:childTnLst>
                                    <p:set>
                                      <p:cBhvr>
                                        <p:cTn id="127" dur="1" fill="hold">
                                          <p:stCondLst>
                                            <p:cond delay="0"/>
                                          </p:stCondLst>
                                        </p:cTn>
                                        <p:tgtEl>
                                          <p:spTgt spid="129"/>
                                        </p:tgtEl>
                                        <p:attrNameLst>
                                          <p:attrName>style.visibility</p:attrName>
                                        </p:attrNameLst>
                                      </p:cBhvr>
                                      <p:to>
                                        <p:strVal val="visible"/>
                                      </p:to>
                                    </p:set>
                                    <p:animEffect transition="in" filter="fade">
                                      <p:cBhvr>
                                        <p:cTn id="128" dur="500"/>
                                        <p:tgtEl>
                                          <p:spTgt spid="129"/>
                                        </p:tgtEl>
                                      </p:cBhvr>
                                    </p:animEffect>
                                    <p:anim calcmode="lin" valueType="num">
                                      <p:cBhvr additive="base">
                                        <p:cTn id="129" dur="500" decel="100000" fill="hold"/>
                                        <p:tgtEl>
                                          <p:spTgt spid="129"/>
                                        </p:tgtEl>
                                        <p:attrNameLst>
                                          <p:attrName>ppt_y</p:attrName>
                                        </p:attrNameLst>
                                      </p:cBhvr>
                                      <p:tavLst>
                                        <p:tav tm="0">
                                          <p:val>
                                            <p:strVal val="#ppt_y+0.06"/>
                                          </p:val>
                                        </p:tav>
                                        <p:tav tm="100000">
                                          <p:val>
                                            <p:strVal val="#ppt_y"/>
                                          </p:val>
                                        </p:tav>
                                      </p:tavLst>
                                    </p:anim>
                                  </p:childTnLst>
                                </p:cTn>
                              </p:par>
                              <p:par>
                                <p:cTn id="130" presetID="42" presetClass="entr" presetSubtype="0" fill="hold" grpId="0" nodeType="withEffect">
                                  <p:stCondLst>
                                    <p:cond delay="0"/>
                                  </p:stCondLst>
                                  <p:childTnLst>
                                    <p:set>
                                      <p:cBhvr>
                                        <p:cTn id="131" dur="1" fill="hold">
                                          <p:stCondLst>
                                            <p:cond delay="0"/>
                                          </p:stCondLst>
                                        </p:cTn>
                                        <p:tgtEl>
                                          <p:spTgt spid="130"/>
                                        </p:tgtEl>
                                        <p:attrNameLst>
                                          <p:attrName>style.visibility</p:attrName>
                                        </p:attrNameLst>
                                      </p:cBhvr>
                                      <p:to>
                                        <p:strVal val="visible"/>
                                      </p:to>
                                    </p:set>
                                    <p:animEffect transition="in" filter="fade">
                                      <p:cBhvr>
                                        <p:cTn id="132" dur="500"/>
                                        <p:tgtEl>
                                          <p:spTgt spid="130"/>
                                        </p:tgtEl>
                                      </p:cBhvr>
                                    </p:animEffect>
                                    <p:anim calcmode="lin" valueType="num">
                                      <p:cBhvr additive="base">
                                        <p:cTn id="133" dur="500" decel="100000" fill="hold"/>
                                        <p:tgtEl>
                                          <p:spTgt spid="130"/>
                                        </p:tgtEl>
                                        <p:attrNameLst>
                                          <p:attrName>ppt_y</p:attrName>
                                        </p:attrNameLst>
                                      </p:cBhvr>
                                      <p:tavLst>
                                        <p:tav tm="0">
                                          <p:val>
                                            <p:strVal val="#ppt_y+0.06"/>
                                          </p:val>
                                        </p:tav>
                                        <p:tav tm="100000">
                                          <p:val>
                                            <p:strVal val="#ppt_y"/>
                                          </p:val>
                                        </p:tav>
                                      </p:tavLst>
                                    </p:anim>
                                  </p:childTnLst>
                                </p:cTn>
                              </p:par>
                              <p:par>
                                <p:cTn id="134" presetID="42" presetClass="entr" presetSubtype="0" fill="hold" grpId="0" nodeType="withEffect">
                                  <p:stCondLst>
                                    <p:cond delay="0"/>
                                  </p:stCondLst>
                                  <p:childTnLst>
                                    <p:set>
                                      <p:cBhvr>
                                        <p:cTn id="135" dur="1" fill="hold">
                                          <p:stCondLst>
                                            <p:cond delay="0"/>
                                          </p:stCondLst>
                                        </p:cTn>
                                        <p:tgtEl>
                                          <p:spTgt spid="131"/>
                                        </p:tgtEl>
                                        <p:attrNameLst>
                                          <p:attrName>style.visibility</p:attrName>
                                        </p:attrNameLst>
                                      </p:cBhvr>
                                      <p:to>
                                        <p:strVal val="visible"/>
                                      </p:to>
                                    </p:set>
                                    <p:animEffect transition="in" filter="fade">
                                      <p:cBhvr>
                                        <p:cTn id="136" dur="500"/>
                                        <p:tgtEl>
                                          <p:spTgt spid="131"/>
                                        </p:tgtEl>
                                      </p:cBhvr>
                                    </p:animEffect>
                                    <p:anim calcmode="lin" valueType="num">
                                      <p:cBhvr additive="base">
                                        <p:cTn id="137" dur="500" decel="100000" fill="hold"/>
                                        <p:tgtEl>
                                          <p:spTgt spid="131"/>
                                        </p:tgtEl>
                                        <p:attrNameLst>
                                          <p:attrName>ppt_y</p:attrName>
                                        </p:attrNameLst>
                                      </p:cBhvr>
                                      <p:tavLst>
                                        <p:tav tm="0">
                                          <p:val>
                                            <p:strVal val="#ppt_y+0.06"/>
                                          </p:val>
                                        </p:tav>
                                        <p:tav tm="100000">
                                          <p:val>
                                            <p:strVal val="#ppt_y"/>
                                          </p:val>
                                        </p:tav>
                                      </p:tavLst>
                                    </p:anim>
                                  </p:childTnLst>
                                </p:cTn>
                              </p:par>
                            </p:childTnLst>
                          </p:cTn>
                        </p:par>
                      </p:childTnLst>
                    </p:cTn>
                  </p:par>
                  <p:par>
                    <p:cTn id="138" fill="hold">
                      <p:stCondLst>
                        <p:cond delay="indefinite"/>
                      </p:stCondLst>
                      <p:childTnLst>
                        <p:par>
                          <p:cTn id="139" fill="hold">
                            <p:stCondLst>
                              <p:cond delay="0"/>
                            </p:stCondLst>
                            <p:childTnLst>
                              <p:par>
                                <p:cTn id="140" presetID="42" presetClass="entr" presetSubtype="0" fill="hold" grpId="0" nodeType="clickEffect">
                                  <p:stCondLst>
                                    <p:cond delay="0"/>
                                  </p:stCondLst>
                                  <p:childTnLst>
                                    <p:set>
                                      <p:cBhvr>
                                        <p:cTn id="141" dur="1" fill="hold">
                                          <p:stCondLst>
                                            <p:cond delay="0"/>
                                          </p:stCondLst>
                                        </p:cTn>
                                        <p:tgtEl>
                                          <p:spTgt spid="132"/>
                                        </p:tgtEl>
                                        <p:attrNameLst>
                                          <p:attrName>style.visibility</p:attrName>
                                        </p:attrNameLst>
                                      </p:cBhvr>
                                      <p:to>
                                        <p:strVal val="visible"/>
                                      </p:to>
                                    </p:set>
                                    <p:animEffect transition="in" filter="fade">
                                      <p:cBhvr>
                                        <p:cTn id="142" dur="500"/>
                                        <p:tgtEl>
                                          <p:spTgt spid="132"/>
                                        </p:tgtEl>
                                      </p:cBhvr>
                                    </p:animEffect>
                                    <p:anim calcmode="lin" valueType="num">
                                      <p:cBhvr additive="base">
                                        <p:cTn id="143" dur="500" decel="100000" fill="hold"/>
                                        <p:tgtEl>
                                          <p:spTgt spid="132"/>
                                        </p:tgtEl>
                                        <p:attrNameLst>
                                          <p:attrName>ppt_y</p:attrName>
                                        </p:attrNameLst>
                                      </p:cBhvr>
                                      <p:tavLst>
                                        <p:tav tm="0">
                                          <p:val>
                                            <p:strVal val="#ppt_y+0.06"/>
                                          </p:val>
                                        </p:tav>
                                        <p:tav tm="100000">
                                          <p:val>
                                            <p:strVal val="#ppt_y"/>
                                          </p:val>
                                        </p:tav>
                                      </p:tavLst>
                                    </p:anim>
                                  </p:childTnLst>
                                </p:cTn>
                              </p:par>
                              <p:par>
                                <p:cTn id="144" presetID="42" presetClass="entr" presetSubtype="0" fill="hold" grpId="0" nodeType="withEffect">
                                  <p:stCondLst>
                                    <p:cond delay="0"/>
                                  </p:stCondLst>
                                  <p:childTnLst>
                                    <p:set>
                                      <p:cBhvr>
                                        <p:cTn id="145" dur="1" fill="hold">
                                          <p:stCondLst>
                                            <p:cond delay="0"/>
                                          </p:stCondLst>
                                        </p:cTn>
                                        <p:tgtEl>
                                          <p:spTgt spid="133"/>
                                        </p:tgtEl>
                                        <p:attrNameLst>
                                          <p:attrName>style.visibility</p:attrName>
                                        </p:attrNameLst>
                                      </p:cBhvr>
                                      <p:to>
                                        <p:strVal val="visible"/>
                                      </p:to>
                                    </p:set>
                                    <p:animEffect transition="in" filter="fade">
                                      <p:cBhvr>
                                        <p:cTn id="146" dur="500"/>
                                        <p:tgtEl>
                                          <p:spTgt spid="133"/>
                                        </p:tgtEl>
                                      </p:cBhvr>
                                    </p:animEffect>
                                    <p:anim calcmode="lin" valueType="num">
                                      <p:cBhvr additive="base">
                                        <p:cTn id="147" dur="500" decel="100000" fill="hold"/>
                                        <p:tgtEl>
                                          <p:spTgt spid="133"/>
                                        </p:tgtEl>
                                        <p:attrNameLst>
                                          <p:attrName>ppt_y</p:attrName>
                                        </p:attrNameLst>
                                      </p:cBhvr>
                                      <p:tavLst>
                                        <p:tav tm="0">
                                          <p:val>
                                            <p:strVal val="#ppt_y+0.06"/>
                                          </p:val>
                                        </p:tav>
                                        <p:tav tm="100000">
                                          <p:val>
                                            <p:strVal val="#ppt_y"/>
                                          </p:val>
                                        </p:tav>
                                      </p:tavLst>
                                    </p:anim>
                                  </p:childTnLst>
                                </p:cTn>
                              </p:par>
                              <p:par>
                                <p:cTn id="148" presetID="42" presetClass="entr" presetSubtype="0" fill="hold" nodeType="withEffect">
                                  <p:stCondLst>
                                    <p:cond delay="0"/>
                                  </p:stCondLst>
                                  <p:childTnLst>
                                    <p:set>
                                      <p:cBhvr>
                                        <p:cTn id="149" dur="1" fill="hold">
                                          <p:stCondLst>
                                            <p:cond delay="0"/>
                                          </p:stCondLst>
                                        </p:cTn>
                                        <p:tgtEl>
                                          <p:spTgt spid="134"/>
                                        </p:tgtEl>
                                        <p:attrNameLst>
                                          <p:attrName>style.visibility</p:attrName>
                                        </p:attrNameLst>
                                      </p:cBhvr>
                                      <p:to>
                                        <p:strVal val="visible"/>
                                      </p:to>
                                    </p:set>
                                    <p:animEffect transition="in" filter="fade">
                                      <p:cBhvr>
                                        <p:cTn id="150" dur="500"/>
                                        <p:tgtEl>
                                          <p:spTgt spid="134"/>
                                        </p:tgtEl>
                                      </p:cBhvr>
                                    </p:animEffect>
                                    <p:anim calcmode="lin" valueType="num">
                                      <p:cBhvr additive="base">
                                        <p:cTn id="151" dur="500" decel="100000" fill="hold"/>
                                        <p:tgtEl>
                                          <p:spTgt spid="134"/>
                                        </p:tgtEl>
                                        <p:attrNameLst>
                                          <p:attrName>ppt_y</p:attrName>
                                        </p:attrNameLst>
                                      </p:cBhvr>
                                      <p:tavLst>
                                        <p:tav tm="0">
                                          <p:val>
                                            <p:strVal val="#ppt_y+0.06"/>
                                          </p:val>
                                        </p:tav>
                                        <p:tav tm="100000">
                                          <p:val>
                                            <p:strVal val="#ppt_y"/>
                                          </p:val>
                                        </p:tav>
                                      </p:tavLst>
                                    </p:anim>
                                  </p:childTnLst>
                                </p:cTn>
                              </p:par>
                              <p:par>
                                <p:cTn id="152" presetID="42" presetClass="entr" presetSubtype="0" fill="hold" grpId="0" nodeType="withEffect">
                                  <p:stCondLst>
                                    <p:cond delay="0"/>
                                  </p:stCondLst>
                                  <p:childTnLst>
                                    <p:set>
                                      <p:cBhvr>
                                        <p:cTn id="153" dur="1" fill="hold">
                                          <p:stCondLst>
                                            <p:cond delay="0"/>
                                          </p:stCondLst>
                                        </p:cTn>
                                        <p:tgtEl>
                                          <p:spTgt spid="135"/>
                                        </p:tgtEl>
                                        <p:attrNameLst>
                                          <p:attrName>style.visibility</p:attrName>
                                        </p:attrNameLst>
                                      </p:cBhvr>
                                      <p:to>
                                        <p:strVal val="visible"/>
                                      </p:to>
                                    </p:set>
                                    <p:animEffect transition="in" filter="fade">
                                      <p:cBhvr>
                                        <p:cTn id="154" dur="500"/>
                                        <p:tgtEl>
                                          <p:spTgt spid="135"/>
                                        </p:tgtEl>
                                      </p:cBhvr>
                                    </p:animEffect>
                                    <p:anim calcmode="lin" valueType="num">
                                      <p:cBhvr additive="base">
                                        <p:cTn id="155" dur="500" decel="100000" fill="hold"/>
                                        <p:tgtEl>
                                          <p:spTgt spid="135"/>
                                        </p:tgtEl>
                                        <p:attrNameLst>
                                          <p:attrName>ppt_y</p:attrName>
                                        </p:attrNameLst>
                                      </p:cBhvr>
                                      <p:tavLst>
                                        <p:tav tm="0">
                                          <p:val>
                                            <p:strVal val="#ppt_y+0.06"/>
                                          </p:val>
                                        </p:tav>
                                        <p:tav tm="100000">
                                          <p:val>
                                            <p:strVal val="#ppt_y"/>
                                          </p:val>
                                        </p:tav>
                                      </p:tavLst>
                                    </p:anim>
                                  </p:childTnLst>
                                </p:cTn>
                              </p:par>
                              <p:par>
                                <p:cTn id="156" presetID="42" presetClass="entr" presetSubtype="0" fill="hold" grpId="0" nodeType="withEffect">
                                  <p:stCondLst>
                                    <p:cond delay="0"/>
                                  </p:stCondLst>
                                  <p:childTnLst>
                                    <p:set>
                                      <p:cBhvr>
                                        <p:cTn id="157" dur="1" fill="hold">
                                          <p:stCondLst>
                                            <p:cond delay="0"/>
                                          </p:stCondLst>
                                        </p:cTn>
                                        <p:tgtEl>
                                          <p:spTgt spid="136"/>
                                        </p:tgtEl>
                                        <p:attrNameLst>
                                          <p:attrName>style.visibility</p:attrName>
                                        </p:attrNameLst>
                                      </p:cBhvr>
                                      <p:to>
                                        <p:strVal val="visible"/>
                                      </p:to>
                                    </p:set>
                                    <p:animEffect transition="in" filter="fade">
                                      <p:cBhvr>
                                        <p:cTn id="158" dur="500"/>
                                        <p:tgtEl>
                                          <p:spTgt spid="136"/>
                                        </p:tgtEl>
                                      </p:cBhvr>
                                    </p:animEffect>
                                    <p:anim calcmode="lin" valueType="num">
                                      <p:cBhvr additive="base">
                                        <p:cTn id="159" dur="500" decel="100000" fill="hold"/>
                                        <p:tgtEl>
                                          <p:spTgt spid="136"/>
                                        </p:tgtEl>
                                        <p:attrNameLst>
                                          <p:attrName>ppt_y</p:attrName>
                                        </p:attrNameLst>
                                      </p:cBhvr>
                                      <p:tavLst>
                                        <p:tav tm="0">
                                          <p:val>
                                            <p:strVal val="#ppt_y+0.06"/>
                                          </p:val>
                                        </p:tav>
                                        <p:tav tm="100000">
                                          <p:val>
                                            <p:strVal val="#ppt_y"/>
                                          </p:val>
                                        </p:tav>
                                      </p:tavLst>
                                    </p:anim>
                                  </p:childTnLst>
                                </p:cTn>
                              </p:par>
                              <p:par>
                                <p:cTn id="160" presetID="42" presetClass="entr" presetSubtype="0" fill="hold" grpId="0" nodeType="withEffect">
                                  <p:stCondLst>
                                    <p:cond delay="0"/>
                                  </p:stCondLst>
                                  <p:childTnLst>
                                    <p:set>
                                      <p:cBhvr>
                                        <p:cTn id="161" dur="1" fill="hold">
                                          <p:stCondLst>
                                            <p:cond delay="0"/>
                                          </p:stCondLst>
                                        </p:cTn>
                                        <p:tgtEl>
                                          <p:spTgt spid="137"/>
                                        </p:tgtEl>
                                        <p:attrNameLst>
                                          <p:attrName>style.visibility</p:attrName>
                                        </p:attrNameLst>
                                      </p:cBhvr>
                                      <p:to>
                                        <p:strVal val="visible"/>
                                      </p:to>
                                    </p:set>
                                    <p:animEffect transition="in" filter="fade">
                                      <p:cBhvr>
                                        <p:cTn id="162" dur="500"/>
                                        <p:tgtEl>
                                          <p:spTgt spid="137"/>
                                        </p:tgtEl>
                                      </p:cBhvr>
                                    </p:animEffect>
                                    <p:anim calcmode="lin" valueType="num">
                                      <p:cBhvr additive="base">
                                        <p:cTn id="163" dur="500" decel="100000" fill="hold"/>
                                        <p:tgtEl>
                                          <p:spTgt spid="137"/>
                                        </p:tgtEl>
                                        <p:attrNameLst>
                                          <p:attrName>ppt_y</p:attrName>
                                        </p:attrNameLst>
                                      </p:cBhvr>
                                      <p:tavLst>
                                        <p:tav tm="0">
                                          <p:val>
                                            <p:strVal val="#ppt_y+0.06"/>
                                          </p:val>
                                        </p:tav>
                                        <p:tav tm="100000">
                                          <p:val>
                                            <p:strVal val="#ppt_y"/>
                                          </p:val>
                                        </p:tav>
                                      </p:tavLst>
                                    </p:anim>
                                  </p:childTnLst>
                                </p:cTn>
                              </p:par>
                            </p:childTnLst>
                          </p:cTn>
                        </p:par>
                      </p:childTnLst>
                    </p:cTn>
                  </p:par>
                  <p:par>
                    <p:cTn id="164" fill="hold">
                      <p:stCondLst>
                        <p:cond delay="indefinite"/>
                      </p:stCondLst>
                      <p:childTnLst>
                        <p:par>
                          <p:cTn id="165" fill="hold">
                            <p:stCondLst>
                              <p:cond delay="0"/>
                            </p:stCondLst>
                            <p:childTnLst>
                              <p:par>
                                <p:cTn id="166" presetID="42" presetClass="entr" presetSubtype="0" fill="hold" grpId="0" nodeType="clickEffect">
                                  <p:stCondLst>
                                    <p:cond delay="0"/>
                                  </p:stCondLst>
                                  <p:childTnLst>
                                    <p:set>
                                      <p:cBhvr>
                                        <p:cTn id="167" dur="1" fill="hold">
                                          <p:stCondLst>
                                            <p:cond delay="0"/>
                                          </p:stCondLst>
                                        </p:cTn>
                                        <p:tgtEl>
                                          <p:spTgt spid="138"/>
                                        </p:tgtEl>
                                        <p:attrNameLst>
                                          <p:attrName>style.visibility</p:attrName>
                                        </p:attrNameLst>
                                      </p:cBhvr>
                                      <p:to>
                                        <p:strVal val="visible"/>
                                      </p:to>
                                    </p:set>
                                    <p:animEffect transition="in" filter="fade">
                                      <p:cBhvr>
                                        <p:cTn id="168" dur="500"/>
                                        <p:tgtEl>
                                          <p:spTgt spid="138"/>
                                        </p:tgtEl>
                                      </p:cBhvr>
                                    </p:animEffect>
                                    <p:anim calcmode="lin" valueType="num">
                                      <p:cBhvr additive="base">
                                        <p:cTn id="169" dur="500" decel="100000" fill="hold"/>
                                        <p:tgtEl>
                                          <p:spTgt spid="13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5" grpId="0" animBg="1"/>
      <p:bldP spid="106" grpId="0" animBg="1"/>
      <p:bldP spid="107" grpId="0" animBg="1"/>
      <p:bldP spid="108" grpId="0" animBg="1"/>
      <p:bldP spid="109" grpId="0" animBg="1"/>
      <p:bldP spid="111" grpId="0" animBg="1"/>
      <p:bldP spid="112" grpId="0" animBg="1"/>
      <p:bldP spid="113" grpId="0" animBg="1"/>
      <p:bldP spid="114" grpId="0" animBg="1"/>
      <p:bldP spid="115" grpId="0" animBg="1"/>
      <p:bldP spid="117" grpId="0" animBg="1"/>
      <p:bldP spid="118" grpId="0" animBg="1"/>
      <p:bldP spid="119" grpId="0" animBg="1"/>
      <p:bldP spid="120" grpId="0" animBg="1"/>
      <p:bldP spid="121" grpId="0" animBg="1"/>
      <p:bldP spid="123" grpId="0" animBg="1"/>
      <p:bldP spid="124" grpId="0" animBg="1"/>
      <p:bldP spid="125" grpId="0" animBg="1"/>
      <p:bldP spid="126" grpId="0" animBg="1"/>
      <p:bldP spid="127" grpId="0" animBg="1"/>
      <p:bldP spid="129" grpId="0" animBg="1"/>
      <p:bldP spid="130" grpId="0" animBg="1"/>
      <p:bldP spid="131" grpId="0" animBg="1"/>
      <p:bldP spid="132" grpId="0" animBg="1"/>
      <p:bldP spid="133" grpId="0" animBg="1"/>
      <p:bldP spid="135" grpId="0" animBg="1"/>
      <p:bldP spid="136" grpId="0" animBg="1"/>
      <p:bldP spid="137" grpId="0" animBg="1"/>
      <p:bldP spid="138"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CHAPTER 01</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METHODOLOGIES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182</a:t>
            </a:r>
            <a:endParaRPr lang="en-US" sz="850" dirty="0"/>
          </a:p>
        </p:txBody>
      </p:sp>
      <p:sp>
        <p:nvSpPr>
          <p:cNvPr id="101" name="!!bignum"/>
          <p:cNvSpPr txBox="1"/>
          <p:nvPr/>
        </p:nvSpPr>
        <p:spPr>
          <a:xfrm>
            <a:off x="497434" y="960120"/>
            <a:ext cx="2926080" cy="1463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13D0F7"/>
                </a:solidFill>
                <a:latin typeface="Segoe UI"/>
                <a:ea typeface="Segoe UI"/>
                <a:cs typeface="Segoe UI"/>
              </a:rPr>
              <a:t>01</a:t>
            </a:r>
            <a:endParaRPr lang="en-US" sz="9600" dirty="0"/>
          </a:p>
        </p:txBody>
      </p:sp>
      <p:sp>
        <p:nvSpPr>
          <p:cNvPr id="102" name="s102"/>
          <p:cNvSpPr txBox="1"/>
          <p:nvPr/>
        </p:nvSpPr>
        <p:spPr>
          <a:xfrm>
            <a:off x="543154" y="2377440"/>
            <a:ext cx="10515600" cy="8229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Methodologies</a:t>
            </a:r>
            <a:endParaRPr lang="en-US" sz="4000" dirty="0"/>
          </a:p>
        </p:txBody>
      </p:sp>
      <p:sp>
        <p:nvSpPr>
          <p:cNvPr id="103" name="s103"/>
          <p:cNvSpPr txBox="1"/>
          <p:nvPr/>
        </p:nvSpPr>
        <p:spPr>
          <a:xfrm>
            <a:off x="543154" y="3154680"/>
            <a:ext cx="1051560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0" dirty="0">
                <a:solidFill>
                  <a:srgbClr val="CBD5E1"/>
                </a:solidFill>
                <a:latin typeface="Segoe UI"/>
                <a:ea typeface="Segoe UI"/>
                <a:cs typeface="Segoe UI"/>
              </a:rPr>
              <a:t>The SDLC tells us WHAT the phases are. A methodology decides HOW we move through them.</a:t>
            </a:r>
            <a:endParaRPr lang="en-US" sz="1600" dirty="0"/>
          </a:p>
        </p:txBody>
      </p:sp>
      <p:sp>
        <p:nvSpPr>
          <p:cNvPr id="104" name="s104"/>
          <p:cNvSpPr/>
          <p:nvPr/>
        </p:nvSpPr>
        <p:spPr>
          <a:xfrm>
            <a:off x="543154" y="3840480"/>
            <a:ext cx="3513125" cy="960120"/>
          </a:xfrm>
          <a:prstGeom prst="roundRect">
            <a:avLst>
              <a:gd name="adj" fmla="val 10000"/>
            </a:avLst>
          </a:prstGeom>
          <a:solidFill>
            <a:srgbClr val="111B2E"/>
          </a:solidFill>
          <a:ln w="12700">
            <a:solidFill>
              <a:srgbClr val="13D0F7"/>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13D0F7"/>
                </a:solidFill>
                <a:latin typeface="Segoe UI"/>
                <a:ea typeface="Segoe UI"/>
                <a:cs typeface="Segoe UI"/>
              </a:rPr>
              <a:t>The question</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Is there one way to execute the SDLC?</a:t>
            </a:r>
            <a:endParaRPr lang="en-US" sz="1200" dirty="0"/>
          </a:p>
        </p:txBody>
      </p:sp>
      <p:sp>
        <p:nvSpPr>
          <p:cNvPr id="105" name="s105"/>
          <p:cNvSpPr/>
          <p:nvPr/>
        </p:nvSpPr>
        <p:spPr>
          <a:xfrm>
            <a:off x="4330598" y="3840480"/>
            <a:ext cx="3513125" cy="960120"/>
          </a:xfrm>
          <a:prstGeom prst="roundRect">
            <a:avLst>
              <a:gd name="adj" fmla="val 10000"/>
            </a:avLst>
          </a:prstGeom>
          <a:solidFill>
            <a:srgbClr val="111B2E"/>
          </a:solidFill>
          <a:ln w="12700">
            <a:solidFill>
              <a:srgbClr val="13D0F7"/>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13D0F7"/>
                </a:solidFill>
                <a:latin typeface="Segoe UI"/>
                <a:ea typeface="Segoe UI"/>
                <a:cs typeface="Segoe UI"/>
              </a:rPr>
              <a:t>The answer</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No. Many styles, one map.</a:t>
            </a:r>
            <a:endParaRPr lang="en-US" sz="1200" dirty="0"/>
          </a:p>
        </p:txBody>
      </p:sp>
      <p:sp>
        <p:nvSpPr>
          <p:cNvPr id="106" name="s106"/>
          <p:cNvSpPr/>
          <p:nvPr/>
        </p:nvSpPr>
        <p:spPr>
          <a:xfrm>
            <a:off x="8118043" y="3840480"/>
            <a:ext cx="3513125" cy="960120"/>
          </a:xfrm>
          <a:prstGeom prst="roundRect">
            <a:avLst>
              <a:gd name="adj" fmla="val 10000"/>
            </a:avLst>
          </a:prstGeom>
          <a:solidFill>
            <a:srgbClr val="111B2E"/>
          </a:solidFill>
          <a:ln w="12700">
            <a:solidFill>
              <a:srgbClr val="13D0F7"/>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13D0F7"/>
                </a:solidFill>
                <a:latin typeface="Segoe UI"/>
                <a:ea typeface="Segoe UI"/>
                <a:cs typeface="Segoe UI"/>
              </a:rPr>
              <a:t>The choice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Predictability vs. adaptation.</a:t>
            </a:r>
            <a:endParaRPr lang="en-US" sz="1200" dirty="0"/>
          </a:p>
        </p:txBody>
      </p:sp>
      <p:sp>
        <p:nvSpPr>
          <p:cNvPr id="107" name="!!chap0"/>
          <p:cNvSpPr/>
          <p:nvPr/>
        </p:nvSpPr>
        <p:spPr>
          <a:xfrm>
            <a:off x="543154" y="5074920"/>
            <a:ext cx="1756562" cy="457200"/>
          </a:xfrm>
          <a:prstGeom prst="roundRect">
            <a:avLst>
              <a:gd name="adj" fmla="val 50000"/>
            </a:avLst>
          </a:prstGeom>
          <a:solidFill>
            <a:srgbClr val="13D0F7"/>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01  Methodologies</a:t>
            </a:r>
            <a:endParaRPr lang="en-US" sz="1100" dirty="0"/>
          </a:p>
        </p:txBody>
      </p:sp>
      <p:sp>
        <p:nvSpPr>
          <p:cNvPr id="108" name="!!chap1"/>
          <p:cNvSpPr/>
          <p:nvPr/>
        </p:nvSpPr>
        <p:spPr>
          <a:xfrm>
            <a:off x="240944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02  </a:t>
            </a:r>
            <a:r>
              <a:rPr lang="en-US" sz="1100" b="0" dirty="0">
                <a:solidFill>
                  <a:srgbClr val="94A3B8"/>
                </a:solidFill>
                <a:latin typeface="Segoe UI"/>
                <a:ea typeface="Segoe UI"/>
                <a:cs typeface="Segoe UI"/>
              </a:rPr>
              <a:t>Agile mindset</a:t>
            </a:r>
            <a:endParaRPr lang="en-US" sz="1100" dirty="0"/>
          </a:p>
        </p:txBody>
      </p:sp>
      <p:sp>
        <p:nvSpPr>
          <p:cNvPr id="109" name="!!chap2"/>
          <p:cNvSpPr/>
          <p:nvPr/>
        </p:nvSpPr>
        <p:spPr>
          <a:xfrm>
            <a:off x="427573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03  </a:t>
            </a:r>
            <a:r>
              <a:rPr lang="en-US" sz="1100" b="0" dirty="0">
                <a:solidFill>
                  <a:srgbClr val="94A3B8"/>
                </a:solidFill>
                <a:latin typeface="Segoe UI"/>
                <a:ea typeface="Segoe UI"/>
                <a:cs typeface="Segoe UI"/>
              </a:rPr>
              <a:t>Manifesto values</a:t>
            </a:r>
            <a:endParaRPr lang="en-US" sz="1100" dirty="0"/>
          </a:p>
        </p:txBody>
      </p:sp>
      <p:sp>
        <p:nvSpPr>
          <p:cNvPr id="110" name="!!chap3"/>
          <p:cNvSpPr/>
          <p:nvPr/>
        </p:nvSpPr>
        <p:spPr>
          <a:xfrm>
            <a:off x="614202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04  </a:t>
            </a:r>
            <a:r>
              <a:rPr lang="en-US" sz="1100" b="0" dirty="0">
                <a:solidFill>
                  <a:srgbClr val="94A3B8"/>
                </a:solidFill>
                <a:latin typeface="Segoe UI"/>
                <a:ea typeface="Segoe UI"/>
                <a:cs typeface="Segoe UI"/>
              </a:rPr>
              <a:t>12 principles</a:t>
            </a:r>
            <a:endParaRPr lang="en-US" sz="1100" dirty="0"/>
          </a:p>
        </p:txBody>
      </p:sp>
      <p:sp>
        <p:nvSpPr>
          <p:cNvPr id="111" name="!!chap4"/>
          <p:cNvSpPr/>
          <p:nvPr/>
        </p:nvSpPr>
        <p:spPr>
          <a:xfrm>
            <a:off x="800831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05  </a:t>
            </a:r>
            <a:r>
              <a:rPr lang="en-US" sz="1100" b="0" dirty="0">
                <a:solidFill>
                  <a:srgbClr val="94A3B8"/>
                </a:solidFill>
                <a:latin typeface="Segoe UI"/>
                <a:ea typeface="Segoe UI"/>
                <a:cs typeface="Segoe UI"/>
              </a:rPr>
              <a:t>Scrum: one Sprint</a:t>
            </a:r>
            <a:endParaRPr lang="en-US" sz="1100" dirty="0"/>
          </a:p>
        </p:txBody>
      </p:sp>
      <p:sp>
        <p:nvSpPr>
          <p:cNvPr id="112" name="!!chap5"/>
          <p:cNvSpPr/>
          <p:nvPr/>
        </p:nvSpPr>
        <p:spPr>
          <a:xfrm>
            <a:off x="9874606"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472B6"/>
                </a:solidFill>
                <a:latin typeface="Segoe UI"/>
                <a:ea typeface="Segoe UI"/>
                <a:cs typeface="Segoe UI"/>
              </a:rPr>
              <a:t>06  </a:t>
            </a:r>
            <a:r>
              <a:rPr lang="en-US" sz="1100" b="0" dirty="0">
                <a:solidFill>
                  <a:srgbClr val="94A3B8"/>
                </a:solidFill>
                <a:latin typeface="Segoe UI"/>
                <a:ea typeface="Segoe UI"/>
                <a:cs typeface="Segoe UI"/>
              </a:rPr>
              <a:t>Practice lab</a:t>
            </a:r>
            <a:endParaRPr lang="en-US" sz="11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5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50" decel="100000" fill="hold"/>
                                        <p:tgtEl>
                                          <p:spTgt spid="101"/>
                                        </p:tgtEl>
                                        <p:attrNameLst>
                                          <p:attrName>ppt_h</p:attrName>
                                        </p:attrNameLst>
                                      </p:cBhvr>
                                      <p:tavLst>
                                        <p:tav tm="0">
                                          <p:val>
                                            <p:strVal val="#ppt_h*0.3"/>
                                          </p:val>
                                        </p:tav>
                                        <p:tav tm="100000">
                                          <p:val>
                                            <p:strVal val="#ppt_h*1.08"/>
                                          </p:val>
                                        </p:tav>
                                      </p:tavLst>
                                    </p:anim>
                                    <p:animEffect transition="in" filter="fade">
                                      <p:cBhvr>
                                        <p:cTn id="9" dur="275"/>
                                        <p:tgtEl>
                                          <p:spTgt spid="101"/>
                                        </p:tgtEl>
                                      </p:cBhvr>
                                    </p:animEffect>
                                    <p:anim calcmode="lin" valueType="num">
                                      <p:cBhvr additive="base">
                                        <p:cTn id="10" dur="160" fill="hold">
                                          <p:stCondLst>
                                            <p:cond delay="55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5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4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50"/>
                                        <p:tgtEl>
                                          <p:spTgt spid="102"/>
                                        </p:tgtEl>
                                      </p:cBhvr>
                                    </p:animEffect>
                                    <p:anim calcmode="lin" valueType="num">
                                      <p:cBhvr additive="base">
                                        <p:cTn id="15" dur="55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8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50"/>
                                        <p:tgtEl>
                                          <p:spTgt spid="103"/>
                                        </p:tgtEl>
                                      </p:cBhvr>
                                    </p:animEffect>
                                    <p:anim calcmode="lin" valueType="num">
                                      <p:cBhvr additive="base">
                                        <p:cTn id="19" dur="55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42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50"/>
                                        <p:tgtEl>
                                          <p:spTgt spid="104"/>
                                        </p:tgtEl>
                                      </p:cBhvr>
                                    </p:animEffect>
                                    <p:anim calcmode="lin" valueType="num">
                                      <p:cBhvr additive="base">
                                        <p:cTn id="23" dur="55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56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50"/>
                                        <p:tgtEl>
                                          <p:spTgt spid="105"/>
                                        </p:tgtEl>
                                      </p:cBhvr>
                                    </p:animEffect>
                                    <p:anim calcmode="lin" valueType="num">
                                      <p:cBhvr additive="base">
                                        <p:cTn id="27" dur="55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70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50"/>
                                        <p:tgtEl>
                                          <p:spTgt spid="106"/>
                                        </p:tgtEl>
                                      </p:cBhvr>
                                    </p:animEffect>
                                    <p:anim calcmode="lin" valueType="num">
                                      <p:cBhvr additive="base">
                                        <p:cTn id="31" dur="550" decel="100000" fill="hold"/>
                                        <p:tgtEl>
                                          <p:spTgt spid="106"/>
                                        </p:tgtEl>
                                        <p:attrNameLst>
                                          <p:attrName>ppt_y</p:attrName>
                                        </p:attrNameLst>
                                      </p:cBhvr>
                                      <p:tavLst>
                                        <p:tav tm="0">
                                          <p:val>
                                            <p:strVal val="#ppt_y+0.06"/>
                                          </p:val>
                                        </p:tav>
                                        <p:tav tm="100000">
                                          <p:val>
                                            <p:strVal val="#ppt_y"/>
                                          </p:val>
                                        </p:tav>
                                      </p:tavLst>
                                    </p:anim>
                                  </p:childTnLst>
                                </p:cTn>
                              </p:par>
                              <p:par>
                                <p:cTn id="32" presetID="10" presetClass="entr" presetSubtype="0" fill="hold" grpId="0" nodeType="withEffect">
                                  <p:stCondLst>
                                    <p:cond delay="85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childTnLst>
                                </p:cTn>
                              </p:par>
                              <p:par>
                                <p:cTn id="35" presetID="10" presetClass="entr" presetSubtype="0" fill="hold" grpId="0" nodeType="withEffect">
                                  <p:stCondLst>
                                    <p:cond delay="85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85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85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85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85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068019"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INTERACTIVE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Do All Companies Execute the SDLC the Same Way?</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Most students say YES. Collect answers, then reveal.</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METHODOLOGIES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183</a:t>
            </a:r>
            <a:endParaRPr lang="en-US" sz="850" dirty="0"/>
          </a:p>
        </p:txBody>
      </p:sp>
      <p:sp>
        <p:nvSpPr>
          <p:cNvPr id="101" name="s101"/>
          <p:cNvSpPr/>
          <p:nvPr/>
        </p:nvSpPr>
        <p:spPr>
          <a:xfrm>
            <a:off x="543154" y="2057400"/>
            <a:ext cx="2600554" cy="2514600"/>
          </a:xfrm>
          <a:prstGeom prst="roundRect">
            <a:avLst>
              <a:gd name="adj" fmla="val 9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1459382" y="2350008"/>
            <a:ext cx="768096" cy="768096"/>
          </a:xfrm>
          <a:prstGeom prst="ellipse">
            <a:avLst/>
          </a:prstGeom>
          <a:solidFill>
            <a:srgbClr val="13D0F7">
              <a:alpha val="14000"/>
            </a:srgbClr>
          </a:solidFill>
          <a:ln w="127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2400" b="1" dirty="0">
                <a:solidFill>
                  <a:srgbClr val="13D0F7"/>
                </a:solidFill>
                <a:latin typeface="Segoe UI"/>
                <a:ea typeface="Segoe UI"/>
                <a:cs typeface="Segoe UI"/>
              </a:rPr>
              <a:t>A</a:t>
            </a:r>
            <a:endParaRPr lang="en-US" sz="2400" dirty="0"/>
          </a:p>
        </p:txBody>
      </p:sp>
      <p:sp>
        <p:nvSpPr>
          <p:cNvPr id="103" name="s103"/>
          <p:cNvSpPr txBox="1"/>
          <p:nvPr/>
        </p:nvSpPr>
        <p:spPr>
          <a:xfrm>
            <a:off x="680314" y="3319272"/>
            <a:ext cx="2326234"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FFFFFF"/>
                </a:solidFill>
                <a:latin typeface="Segoe UI"/>
                <a:ea typeface="Segoe UI"/>
                <a:cs typeface="Segoe UI"/>
              </a:rPr>
              <a:t>Yes</a:t>
            </a:r>
            <a:endParaRPr lang="en-US" sz="1600" dirty="0"/>
          </a:p>
        </p:txBody>
      </p:sp>
      <p:sp>
        <p:nvSpPr>
          <p:cNvPr id="104" name="s104"/>
          <p:cNvSpPr txBox="1"/>
          <p:nvPr/>
        </p:nvSpPr>
        <p:spPr>
          <a:xfrm>
            <a:off x="726034" y="3721608"/>
            <a:ext cx="2234794" cy="68580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94A3B8"/>
                </a:solidFill>
                <a:latin typeface="Segoe UI"/>
                <a:ea typeface="Segoe UI"/>
                <a:cs typeface="Segoe UI"/>
              </a:rPr>
              <a:t>everyone copies the same plan</a:t>
            </a:r>
            <a:endParaRPr lang="en-US" sz="1300" dirty="0"/>
          </a:p>
        </p:txBody>
      </p:sp>
      <p:sp>
        <p:nvSpPr>
          <p:cNvPr id="105" name="s105"/>
          <p:cNvSpPr/>
          <p:nvPr/>
        </p:nvSpPr>
        <p:spPr>
          <a:xfrm>
            <a:off x="524866" y="2039112"/>
            <a:ext cx="2637130" cy="2551176"/>
          </a:xfrm>
          <a:prstGeom prst="roundRect">
            <a:avLst>
              <a:gd name="adj" fmla="val 9000"/>
            </a:avLst>
          </a:prstGeom>
          <a:solidFill>
            <a:srgbClr val="0F172A">
              <a:alpha val="68000"/>
            </a:srgbClr>
          </a:solidFill>
          <a:ln>
            <a:noFill/>
          </a:ln>
        </p:spPr>
        <p:txBody>
          <a:bodyPr wrap="square" lIns="164592" tIns="109728" rIns="137160" bIns="91440" rtlCol="0" anchor="t">
            <a:noAutofit/>
          </a:bodyPr>
          <a:lstStyle/>
          <a:p>
            <a:endParaRPr lang="en-US"/>
          </a:p>
        </p:txBody>
      </p:sp>
      <p:sp>
        <p:nvSpPr>
          <p:cNvPr id="106" name="s106"/>
          <p:cNvSpPr/>
          <p:nvPr/>
        </p:nvSpPr>
        <p:spPr>
          <a:xfrm>
            <a:off x="3372307" y="2057400"/>
            <a:ext cx="2600554" cy="2514600"/>
          </a:xfrm>
          <a:prstGeom prst="roundRect">
            <a:avLst>
              <a:gd name="adj" fmla="val 9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7" name="s107"/>
          <p:cNvSpPr/>
          <p:nvPr/>
        </p:nvSpPr>
        <p:spPr>
          <a:xfrm>
            <a:off x="4288536" y="2350008"/>
            <a:ext cx="768096" cy="768096"/>
          </a:xfrm>
          <a:prstGeom prst="ellipse">
            <a:avLst/>
          </a:prstGeom>
          <a:solidFill>
            <a:srgbClr val="13D0F7">
              <a:alpha val="14000"/>
            </a:srgbClr>
          </a:solidFill>
          <a:ln w="127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2400" b="1" dirty="0">
                <a:solidFill>
                  <a:srgbClr val="13D0F7"/>
                </a:solidFill>
                <a:latin typeface="Segoe UI"/>
                <a:ea typeface="Segoe UI"/>
                <a:cs typeface="Segoe UI"/>
              </a:rPr>
              <a:t>B</a:t>
            </a:r>
            <a:endParaRPr lang="en-US" sz="2400" dirty="0"/>
          </a:p>
        </p:txBody>
      </p:sp>
      <p:sp>
        <p:nvSpPr>
          <p:cNvPr id="108" name="s108"/>
          <p:cNvSpPr txBox="1"/>
          <p:nvPr/>
        </p:nvSpPr>
        <p:spPr>
          <a:xfrm>
            <a:off x="3509467" y="3319272"/>
            <a:ext cx="2326234"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FFFFFF"/>
                </a:solidFill>
                <a:latin typeface="Segoe UI"/>
                <a:ea typeface="Segoe UI"/>
                <a:cs typeface="Segoe UI"/>
              </a:rPr>
              <a:t>Yes</a:t>
            </a:r>
            <a:endParaRPr lang="en-US" sz="1600" dirty="0"/>
          </a:p>
        </p:txBody>
      </p:sp>
      <p:sp>
        <p:nvSpPr>
          <p:cNvPr id="109" name="s109"/>
          <p:cNvSpPr txBox="1"/>
          <p:nvPr/>
        </p:nvSpPr>
        <p:spPr>
          <a:xfrm>
            <a:off x="3555187" y="3721608"/>
            <a:ext cx="2234794" cy="68580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94A3B8"/>
                </a:solidFill>
                <a:latin typeface="Segoe UI"/>
                <a:ea typeface="Segoe UI"/>
                <a:cs typeface="Segoe UI"/>
              </a:rPr>
              <a:t>the SDLC forces one style</a:t>
            </a:r>
            <a:endParaRPr lang="en-US" sz="1300" dirty="0"/>
          </a:p>
        </p:txBody>
      </p:sp>
      <p:sp>
        <p:nvSpPr>
          <p:cNvPr id="110" name="s110"/>
          <p:cNvSpPr/>
          <p:nvPr/>
        </p:nvSpPr>
        <p:spPr>
          <a:xfrm>
            <a:off x="3354019" y="2039112"/>
            <a:ext cx="2637130" cy="2551176"/>
          </a:xfrm>
          <a:prstGeom prst="roundRect">
            <a:avLst>
              <a:gd name="adj" fmla="val 9000"/>
            </a:avLst>
          </a:prstGeom>
          <a:solidFill>
            <a:srgbClr val="0F172A">
              <a:alpha val="68000"/>
            </a:srgbClr>
          </a:solidFill>
          <a:ln>
            <a:noFill/>
          </a:ln>
        </p:spPr>
        <p:txBody>
          <a:bodyPr wrap="square" lIns="164592" tIns="109728" rIns="137160" bIns="91440" rtlCol="0" anchor="t">
            <a:noAutofit/>
          </a:bodyPr>
          <a:lstStyle/>
          <a:p>
            <a:endParaRPr lang="en-US"/>
          </a:p>
        </p:txBody>
      </p:sp>
      <p:sp>
        <p:nvSpPr>
          <p:cNvPr id="111" name="s111"/>
          <p:cNvSpPr/>
          <p:nvPr/>
        </p:nvSpPr>
        <p:spPr>
          <a:xfrm>
            <a:off x="6201461" y="2057400"/>
            <a:ext cx="2600554" cy="2514600"/>
          </a:xfrm>
          <a:prstGeom prst="roundRect">
            <a:avLst>
              <a:gd name="adj" fmla="val 9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2" name="s112"/>
          <p:cNvSpPr/>
          <p:nvPr/>
        </p:nvSpPr>
        <p:spPr>
          <a:xfrm>
            <a:off x="7117690" y="2350008"/>
            <a:ext cx="768096" cy="768096"/>
          </a:xfrm>
          <a:prstGeom prst="ellipse">
            <a:avLst/>
          </a:prstGeom>
          <a:solidFill>
            <a:srgbClr val="13D0F7">
              <a:alpha val="14000"/>
            </a:srgbClr>
          </a:solidFill>
          <a:ln w="127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2400" b="1" dirty="0">
                <a:solidFill>
                  <a:srgbClr val="13D0F7"/>
                </a:solidFill>
                <a:latin typeface="Segoe UI"/>
                <a:ea typeface="Segoe UI"/>
                <a:cs typeface="Segoe UI"/>
              </a:rPr>
              <a:t>C</a:t>
            </a:r>
            <a:endParaRPr lang="en-US" sz="2400" dirty="0"/>
          </a:p>
        </p:txBody>
      </p:sp>
      <p:sp>
        <p:nvSpPr>
          <p:cNvPr id="113" name="s113"/>
          <p:cNvSpPr txBox="1"/>
          <p:nvPr/>
        </p:nvSpPr>
        <p:spPr>
          <a:xfrm>
            <a:off x="6338621" y="3319272"/>
            <a:ext cx="2326234"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FFFFFF"/>
                </a:solidFill>
                <a:latin typeface="Segoe UI"/>
                <a:ea typeface="Segoe UI"/>
                <a:cs typeface="Segoe UI"/>
              </a:rPr>
              <a:t>No</a:t>
            </a:r>
            <a:endParaRPr lang="en-US" sz="1600" dirty="0"/>
          </a:p>
        </p:txBody>
      </p:sp>
      <p:sp>
        <p:nvSpPr>
          <p:cNvPr id="114" name="s114"/>
          <p:cNvSpPr txBox="1"/>
          <p:nvPr/>
        </p:nvSpPr>
        <p:spPr>
          <a:xfrm>
            <a:off x="6384341" y="3721608"/>
            <a:ext cx="2234794" cy="68580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94A3B8"/>
                </a:solidFill>
                <a:latin typeface="Segoe UI"/>
                <a:ea typeface="Segoe UI"/>
                <a:cs typeface="Segoe UI"/>
              </a:rPr>
              <a:t>execution differs from company to company</a:t>
            </a:r>
            <a:endParaRPr lang="en-US" sz="1300" dirty="0"/>
          </a:p>
        </p:txBody>
      </p:sp>
      <p:sp>
        <p:nvSpPr>
          <p:cNvPr id="115" name="s115"/>
          <p:cNvSpPr/>
          <p:nvPr/>
        </p:nvSpPr>
        <p:spPr>
          <a:xfrm>
            <a:off x="9030614" y="2057400"/>
            <a:ext cx="2600554" cy="2514600"/>
          </a:xfrm>
          <a:prstGeom prst="roundRect">
            <a:avLst>
              <a:gd name="adj" fmla="val 9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6" name="s116"/>
          <p:cNvSpPr/>
          <p:nvPr/>
        </p:nvSpPr>
        <p:spPr>
          <a:xfrm>
            <a:off x="9946843" y="2350008"/>
            <a:ext cx="768096" cy="768096"/>
          </a:xfrm>
          <a:prstGeom prst="ellipse">
            <a:avLst/>
          </a:prstGeom>
          <a:solidFill>
            <a:srgbClr val="13D0F7">
              <a:alpha val="14000"/>
            </a:srgbClr>
          </a:solidFill>
          <a:ln w="127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2400" b="1" dirty="0">
                <a:solidFill>
                  <a:srgbClr val="13D0F7"/>
                </a:solidFill>
                <a:latin typeface="Segoe UI"/>
                <a:ea typeface="Segoe UI"/>
                <a:cs typeface="Segoe UI"/>
              </a:rPr>
              <a:t>D</a:t>
            </a:r>
            <a:endParaRPr lang="en-US" sz="2400" dirty="0"/>
          </a:p>
        </p:txBody>
      </p:sp>
      <p:sp>
        <p:nvSpPr>
          <p:cNvPr id="117" name="s117"/>
          <p:cNvSpPr txBox="1"/>
          <p:nvPr/>
        </p:nvSpPr>
        <p:spPr>
          <a:xfrm>
            <a:off x="9167774" y="3319272"/>
            <a:ext cx="2326234"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FFFFFF"/>
                </a:solidFill>
                <a:latin typeface="Segoe UI"/>
                <a:ea typeface="Segoe UI"/>
                <a:cs typeface="Segoe UI"/>
              </a:rPr>
              <a:t>No idea</a:t>
            </a:r>
            <a:endParaRPr lang="en-US" sz="1600" dirty="0"/>
          </a:p>
        </p:txBody>
      </p:sp>
      <p:sp>
        <p:nvSpPr>
          <p:cNvPr id="118" name="s118"/>
          <p:cNvSpPr txBox="1"/>
          <p:nvPr/>
        </p:nvSpPr>
        <p:spPr>
          <a:xfrm>
            <a:off x="9213494" y="3721608"/>
            <a:ext cx="2234794" cy="68580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94A3B8"/>
                </a:solidFill>
                <a:latin typeface="Segoe UI"/>
                <a:ea typeface="Segoe UI"/>
                <a:cs typeface="Segoe UI"/>
              </a:rPr>
              <a:t>it depends on the tools only</a:t>
            </a:r>
            <a:endParaRPr lang="en-US" sz="1300" dirty="0"/>
          </a:p>
        </p:txBody>
      </p:sp>
      <p:sp>
        <p:nvSpPr>
          <p:cNvPr id="119" name="s119"/>
          <p:cNvSpPr/>
          <p:nvPr/>
        </p:nvSpPr>
        <p:spPr>
          <a:xfrm>
            <a:off x="9012326" y="2039112"/>
            <a:ext cx="2637130" cy="2551176"/>
          </a:xfrm>
          <a:prstGeom prst="roundRect">
            <a:avLst>
              <a:gd name="adj" fmla="val 9000"/>
            </a:avLst>
          </a:prstGeom>
          <a:solidFill>
            <a:srgbClr val="0F172A">
              <a:alpha val="68000"/>
            </a:srgbClr>
          </a:solidFill>
          <a:ln>
            <a:noFill/>
          </a:ln>
        </p:spPr>
        <p:txBody>
          <a:bodyPr wrap="square" lIns="164592" tIns="109728" rIns="137160" bIns="91440" rtlCol="0" anchor="t">
            <a:noAutofit/>
          </a:bodyPr>
          <a:lstStyle/>
          <a:p>
            <a:endParaRPr lang="en-US"/>
          </a:p>
        </p:txBody>
      </p:sp>
      <p:sp>
        <p:nvSpPr>
          <p:cNvPr id="120" name="s120"/>
          <p:cNvSpPr/>
          <p:nvPr/>
        </p:nvSpPr>
        <p:spPr>
          <a:xfrm>
            <a:off x="6201461" y="2057400"/>
            <a:ext cx="2600554" cy="2514600"/>
          </a:xfrm>
          <a:prstGeom prst="roundRect">
            <a:avLst>
              <a:gd name="adj" fmla="val 9000"/>
            </a:avLst>
          </a:prstGeom>
          <a:solidFill>
            <a:srgbClr val="34D399">
              <a:alpha val="10000"/>
            </a:srgbClr>
          </a:solidFill>
          <a:ln w="31750">
            <a:solidFill>
              <a:srgbClr val="34D399"/>
            </a:solidFill>
            <a:prstDash val="solid"/>
          </a:ln>
        </p:spPr>
        <p:txBody>
          <a:bodyPr wrap="square" lIns="164592" tIns="109728" rIns="137160" bIns="91440" rtlCol="0" anchor="t">
            <a:noAutofit/>
          </a:bodyPr>
          <a:lstStyle/>
          <a:p>
            <a:endParaRPr lang="en-US"/>
          </a:p>
        </p:txBody>
      </p:sp>
      <p:sp>
        <p:nvSpPr>
          <p:cNvPr id="121" name="s121"/>
          <p:cNvSpPr/>
          <p:nvPr/>
        </p:nvSpPr>
        <p:spPr>
          <a:xfrm>
            <a:off x="6907378" y="4736592"/>
            <a:ext cx="1188720" cy="329184"/>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  CORRECT</a:t>
            </a:r>
            <a:endParaRPr lang="en-US" sz="1100" dirty="0"/>
          </a:p>
        </p:txBody>
      </p:sp>
      <p:sp>
        <p:nvSpPr>
          <p:cNvPr id="122" name="s122"/>
          <p:cNvSpPr/>
          <p:nvPr/>
        </p:nvSpPr>
        <p:spPr>
          <a:xfrm>
            <a:off x="543154" y="5257800"/>
            <a:ext cx="11088014" cy="566928"/>
          </a:xfrm>
          <a:prstGeom prst="roundRect">
            <a:avLst>
              <a:gd name="adj" fmla="val 12000"/>
            </a:avLst>
          </a:prstGeom>
          <a:solidFill>
            <a:srgbClr val="111B2E"/>
          </a:solidFill>
          <a:ln w="12700">
            <a:solidFill>
              <a:srgbClr val="13D0F7"/>
            </a:solidFill>
            <a:prstDash val="solid"/>
          </a:ln>
        </p:spPr>
        <p:txBody>
          <a:bodyPr wrap="square" lIns="228600" tIns="45720" rIns="228600" bIns="45720" rtlCol="0" anchor="ctr">
            <a:noAutofit/>
          </a:bodyPr>
          <a:lstStyle/>
          <a:p>
            <a:pPr marL="0" indent="0" algn="ctr">
              <a:spcBef>
                <a:spcPts val="0"/>
              </a:spcBef>
              <a:spcAft>
                <a:spcPts val="0"/>
              </a:spcAft>
              <a:buNone/>
            </a:pPr>
            <a:r>
              <a:rPr lang="en-US" sz="1400" b="0" dirty="0">
                <a:solidFill>
                  <a:srgbClr val="E2E8F0"/>
                </a:solidFill>
                <a:latin typeface="Segoe UI"/>
                <a:ea typeface="Segoe UI"/>
                <a:cs typeface="Segoe UI"/>
              </a:rPr>
              <a:t>The </a:t>
            </a:r>
            <a:r>
              <a:rPr lang="en-US" sz="1400" b="1" dirty="0">
                <a:solidFill>
                  <a:srgbClr val="FFFFFF"/>
                </a:solidFill>
                <a:latin typeface="Segoe UI"/>
                <a:ea typeface="Segoe UI"/>
                <a:cs typeface="Segoe UI"/>
              </a:rPr>
              <a:t>phases</a:t>
            </a:r>
            <a:r>
              <a:rPr lang="en-US" sz="1400" b="0" dirty="0">
                <a:solidFill>
                  <a:srgbClr val="E2E8F0"/>
                </a:solidFill>
                <a:latin typeface="Segoe UI"/>
                <a:ea typeface="Segoe UI"/>
                <a:cs typeface="Segoe UI"/>
              </a:rPr>
              <a:t> are shared. The </a:t>
            </a:r>
            <a:r>
              <a:rPr lang="en-US" sz="1400" b="1" dirty="0">
                <a:solidFill>
                  <a:srgbClr val="13D0F7"/>
                </a:solidFill>
                <a:latin typeface="Segoe UI"/>
                <a:ea typeface="Segoe UI"/>
                <a:cs typeface="Segoe UI"/>
              </a:rPr>
              <a:t>way teams move through them</a:t>
            </a:r>
            <a:r>
              <a:rPr lang="en-US" sz="1400" b="0" dirty="0">
                <a:solidFill>
                  <a:srgbClr val="E2E8F0"/>
                </a:solidFill>
                <a:latin typeface="Segoe UI"/>
                <a:ea typeface="Segoe UI"/>
                <a:cs typeface="Segoe UI"/>
              </a:rPr>
              <a:t> is a choice.</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13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13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13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13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260"/>
                                  </p:stCondLst>
                                  <p:childTnLst>
                                    <p:set>
                                      <p:cBhvr>
                                        <p:cTn id="38" dur="1" fill="hold">
                                          <p:stCondLst>
                                            <p:cond delay="0"/>
                                          </p:stCondLst>
                                        </p:cTn>
                                        <p:tgtEl>
                                          <p:spTgt spid="111"/>
                                        </p:tgtEl>
                                        <p:attrNameLst>
                                          <p:attrName>style.visibility</p:attrName>
                                        </p:attrNameLst>
                                      </p:cBhvr>
                                      <p:to>
                                        <p:strVal val="visible"/>
                                      </p:to>
                                    </p:set>
                                    <p:animEffect transition="in" filter="fade">
                                      <p:cBhvr>
                                        <p:cTn id="39" dur="500"/>
                                        <p:tgtEl>
                                          <p:spTgt spid="111"/>
                                        </p:tgtEl>
                                      </p:cBhvr>
                                    </p:animEffect>
                                    <p:anim calcmode="lin" valueType="num">
                                      <p:cBhvr additive="base">
                                        <p:cTn id="40" dur="500" decel="100000" fill="hold"/>
                                        <p:tgtEl>
                                          <p:spTgt spid="111"/>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260"/>
                                  </p:stCondLst>
                                  <p:childTnLst>
                                    <p:set>
                                      <p:cBhvr>
                                        <p:cTn id="42" dur="1" fill="hold">
                                          <p:stCondLst>
                                            <p:cond delay="0"/>
                                          </p:stCondLst>
                                        </p:cTn>
                                        <p:tgtEl>
                                          <p:spTgt spid="112"/>
                                        </p:tgtEl>
                                        <p:attrNameLst>
                                          <p:attrName>style.visibility</p:attrName>
                                        </p:attrNameLst>
                                      </p:cBhvr>
                                      <p:to>
                                        <p:strVal val="visible"/>
                                      </p:to>
                                    </p:set>
                                    <p:animEffect transition="in" filter="fade">
                                      <p:cBhvr>
                                        <p:cTn id="43" dur="500"/>
                                        <p:tgtEl>
                                          <p:spTgt spid="112"/>
                                        </p:tgtEl>
                                      </p:cBhvr>
                                    </p:animEffect>
                                    <p:anim calcmode="lin" valueType="num">
                                      <p:cBhvr additive="base">
                                        <p:cTn id="44" dur="500" decel="100000" fill="hold"/>
                                        <p:tgtEl>
                                          <p:spTgt spid="112"/>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260"/>
                                  </p:stCondLst>
                                  <p:childTnLst>
                                    <p:set>
                                      <p:cBhvr>
                                        <p:cTn id="46" dur="1" fill="hold">
                                          <p:stCondLst>
                                            <p:cond delay="0"/>
                                          </p:stCondLst>
                                        </p:cTn>
                                        <p:tgtEl>
                                          <p:spTgt spid="113"/>
                                        </p:tgtEl>
                                        <p:attrNameLst>
                                          <p:attrName>style.visibility</p:attrName>
                                        </p:attrNameLst>
                                      </p:cBhvr>
                                      <p:to>
                                        <p:strVal val="visible"/>
                                      </p:to>
                                    </p:set>
                                    <p:animEffect transition="in" filter="fade">
                                      <p:cBhvr>
                                        <p:cTn id="47" dur="500"/>
                                        <p:tgtEl>
                                          <p:spTgt spid="113"/>
                                        </p:tgtEl>
                                      </p:cBhvr>
                                    </p:animEffect>
                                    <p:anim calcmode="lin" valueType="num">
                                      <p:cBhvr additive="base">
                                        <p:cTn id="48" dur="500" decel="100000" fill="hold"/>
                                        <p:tgtEl>
                                          <p:spTgt spid="113"/>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260"/>
                                  </p:stCondLst>
                                  <p:childTnLst>
                                    <p:set>
                                      <p:cBhvr>
                                        <p:cTn id="50" dur="1" fill="hold">
                                          <p:stCondLst>
                                            <p:cond delay="0"/>
                                          </p:stCondLst>
                                        </p:cTn>
                                        <p:tgtEl>
                                          <p:spTgt spid="114"/>
                                        </p:tgtEl>
                                        <p:attrNameLst>
                                          <p:attrName>style.visibility</p:attrName>
                                        </p:attrNameLst>
                                      </p:cBhvr>
                                      <p:to>
                                        <p:strVal val="visible"/>
                                      </p:to>
                                    </p:set>
                                    <p:animEffect transition="in" filter="fade">
                                      <p:cBhvr>
                                        <p:cTn id="51" dur="500"/>
                                        <p:tgtEl>
                                          <p:spTgt spid="114"/>
                                        </p:tgtEl>
                                      </p:cBhvr>
                                    </p:animEffect>
                                    <p:anim calcmode="lin" valueType="num">
                                      <p:cBhvr additive="base">
                                        <p:cTn id="52" dur="500" decel="100000" fill="hold"/>
                                        <p:tgtEl>
                                          <p:spTgt spid="114"/>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390"/>
                                  </p:stCondLst>
                                  <p:childTnLst>
                                    <p:set>
                                      <p:cBhvr>
                                        <p:cTn id="54" dur="1" fill="hold">
                                          <p:stCondLst>
                                            <p:cond delay="0"/>
                                          </p:stCondLst>
                                        </p:cTn>
                                        <p:tgtEl>
                                          <p:spTgt spid="115"/>
                                        </p:tgtEl>
                                        <p:attrNameLst>
                                          <p:attrName>style.visibility</p:attrName>
                                        </p:attrNameLst>
                                      </p:cBhvr>
                                      <p:to>
                                        <p:strVal val="visible"/>
                                      </p:to>
                                    </p:set>
                                    <p:animEffect transition="in" filter="fade">
                                      <p:cBhvr>
                                        <p:cTn id="55" dur="500"/>
                                        <p:tgtEl>
                                          <p:spTgt spid="115"/>
                                        </p:tgtEl>
                                      </p:cBhvr>
                                    </p:animEffect>
                                    <p:anim calcmode="lin" valueType="num">
                                      <p:cBhvr additive="base">
                                        <p:cTn id="56" dur="500" decel="100000" fill="hold"/>
                                        <p:tgtEl>
                                          <p:spTgt spid="115"/>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390"/>
                                  </p:stCondLst>
                                  <p:childTnLst>
                                    <p:set>
                                      <p:cBhvr>
                                        <p:cTn id="58" dur="1" fill="hold">
                                          <p:stCondLst>
                                            <p:cond delay="0"/>
                                          </p:stCondLst>
                                        </p:cTn>
                                        <p:tgtEl>
                                          <p:spTgt spid="116"/>
                                        </p:tgtEl>
                                        <p:attrNameLst>
                                          <p:attrName>style.visibility</p:attrName>
                                        </p:attrNameLst>
                                      </p:cBhvr>
                                      <p:to>
                                        <p:strVal val="visible"/>
                                      </p:to>
                                    </p:set>
                                    <p:animEffect transition="in" filter="fade">
                                      <p:cBhvr>
                                        <p:cTn id="59" dur="500"/>
                                        <p:tgtEl>
                                          <p:spTgt spid="116"/>
                                        </p:tgtEl>
                                      </p:cBhvr>
                                    </p:animEffect>
                                    <p:anim calcmode="lin" valueType="num">
                                      <p:cBhvr additive="base">
                                        <p:cTn id="60" dur="500" decel="100000" fill="hold"/>
                                        <p:tgtEl>
                                          <p:spTgt spid="116"/>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390"/>
                                  </p:stCondLst>
                                  <p:childTnLst>
                                    <p:set>
                                      <p:cBhvr>
                                        <p:cTn id="62" dur="1" fill="hold">
                                          <p:stCondLst>
                                            <p:cond delay="0"/>
                                          </p:stCondLst>
                                        </p:cTn>
                                        <p:tgtEl>
                                          <p:spTgt spid="117"/>
                                        </p:tgtEl>
                                        <p:attrNameLst>
                                          <p:attrName>style.visibility</p:attrName>
                                        </p:attrNameLst>
                                      </p:cBhvr>
                                      <p:to>
                                        <p:strVal val="visible"/>
                                      </p:to>
                                    </p:set>
                                    <p:animEffect transition="in" filter="fade">
                                      <p:cBhvr>
                                        <p:cTn id="63" dur="500"/>
                                        <p:tgtEl>
                                          <p:spTgt spid="117"/>
                                        </p:tgtEl>
                                      </p:cBhvr>
                                    </p:animEffect>
                                    <p:anim calcmode="lin" valueType="num">
                                      <p:cBhvr additive="base">
                                        <p:cTn id="64" dur="500" decel="100000" fill="hold"/>
                                        <p:tgtEl>
                                          <p:spTgt spid="117"/>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390"/>
                                  </p:stCondLst>
                                  <p:childTnLst>
                                    <p:set>
                                      <p:cBhvr>
                                        <p:cTn id="66" dur="1" fill="hold">
                                          <p:stCondLst>
                                            <p:cond delay="0"/>
                                          </p:stCondLst>
                                        </p:cTn>
                                        <p:tgtEl>
                                          <p:spTgt spid="118"/>
                                        </p:tgtEl>
                                        <p:attrNameLst>
                                          <p:attrName>style.visibility</p:attrName>
                                        </p:attrNameLst>
                                      </p:cBhvr>
                                      <p:to>
                                        <p:strVal val="visible"/>
                                      </p:to>
                                    </p:set>
                                    <p:animEffect transition="in" filter="fade">
                                      <p:cBhvr>
                                        <p:cTn id="67" dur="500"/>
                                        <p:tgtEl>
                                          <p:spTgt spid="118"/>
                                        </p:tgtEl>
                                      </p:cBhvr>
                                    </p:animEffect>
                                    <p:anim calcmode="lin" valueType="num">
                                      <p:cBhvr additive="base">
                                        <p:cTn id="68" dur="500" decel="100000" fill="hold"/>
                                        <p:tgtEl>
                                          <p:spTgt spid="118"/>
                                        </p:tgtEl>
                                        <p:attrNameLst>
                                          <p:attrName>ppt_y</p:attrName>
                                        </p:attrNameLst>
                                      </p:cBhvr>
                                      <p:tavLst>
                                        <p:tav tm="0">
                                          <p:val>
                                            <p:strVal val="#ppt_y+0.06"/>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105"/>
                                        </p:tgtEl>
                                        <p:attrNameLst>
                                          <p:attrName>style.visibility</p:attrName>
                                        </p:attrNameLst>
                                      </p:cBhvr>
                                      <p:to>
                                        <p:strVal val="visible"/>
                                      </p:to>
                                    </p:set>
                                    <p:animEffect transition="in" filter="fade">
                                      <p:cBhvr>
                                        <p:cTn id="73" dur="500"/>
                                        <p:tgtEl>
                                          <p:spTgt spid="105"/>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110"/>
                                        </p:tgtEl>
                                        <p:attrNameLst>
                                          <p:attrName>style.visibility</p:attrName>
                                        </p:attrNameLst>
                                      </p:cBhvr>
                                      <p:to>
                                        <p:strVal val="visible"/>
                                      </p:to>
                                    </p:set>
                                    <p:animEffect transition="in" filter="fade">
                                      <p:cBhvr>
                                        <p:cTn id="76" dur="500"/>
                                        <p:tgtEl>
                                          <p:spTgt spid="110"/>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childTnLst>
                                </p:cTn>
                              </p:par>
                              <p:par>
                                <p:cTn id="80" presetID="53" presetClass="entr" presetSubtype="16" fill="hold" grpId="0" nodeType="withEffect">
                                  <p:stCondLst>
                                    <p:cond delay="180"/>
                                  </p:stCondLst>
                                  <p:childTnLst>
                                    <p:set>
                                      <p:cBhvr>
                                        <p:cTn id="81" dur="1" fill="hold">
                                          <p:stCondLst>
                                            <p:cond delay="0"/>
                                          </p:stCondLst>
                                        </p:cTn>
                                        <p:tgtEl>
                                          <p:spTgt spid="120"/>
                                        </p:tgtEl>
                                        <p:attrNameLst>
                                          <p:attrName>style.visibility</p:attrName>
                                        </p:attrNameLst>
                                      </p:cBhvr>
                                      <p:to>
                                        <p:strVal val="visible"/>
                                      </p:to>
                                    </p:set>
                                    <p:anim calcmode="lin" valueType="num">
                                      <p:cBhvr additive="base">
                                        <p:cTn id="82" dur="500" decel="100000" fill="hold"/>
                                        <p:tgtEl>
                                          <p:spTgt spid="120"/>
                                        </p:tgtEl>
                                        <p:attrNameLst>
                                          <p:attrName>ppt_w</p:attrName>
                                        </p:attrNameLst>
                                      </p:cBhvr>
                                      <p:tavLst>
                                        <p:tav tm="0">
                                          <p:val>
                                            <p:strVal val="#ppt_w*0.3"/>
                                          </p:val>
                                        </p:tav>
                                        <p:tav tm="100000">
                                          <p:val>
                                            <p:strVal val="#ppt_w*1.08"/>
                                          </p:val>
                                        </p:tav>
                                      </p:tavLst>
                                    </p:anim>
                                    <p:anim calcmode="lin" valueType="num">
                                      <p:cBhvr additive="base">
                                        <p:cTn id="83" dur="500" decel="100000" fill="hold"/>
                                        <p:tgtEl>
                                          <p:spTgt spid="120"/>
                                        </p:tgtEl>
                                        <p:attrNameLst>
                                          <p:attrName>ppt_h</p:attrName>
                                        </p:attrNameLst>
                                      </p:cBhvr>
                                      <p:tavLst>
                                        <p:tav tm="0">
                                          <p:val>
                                            <p:strVal val="#ppt_h*0.3"/>
                                          </p:val>
                                        </p:tav>
                                        <p:tav tm="100000">
                                          <p:val>
                                            <p:strVal val="#ppt_h*1.08"/>
                                          </p:val>
                                        </p:tav>
                                      </p:tavLst>
                                    </p:anim>
                                    <p:animEffect transition="in" filter="fade">
                                      <p:cBhvr>
                                        <p:cTn id="84" dur="250"/>
                                        <p:tgtEl>
                                          <p:spTgt spid="120"/>
                                        </p:tgtEl>
                                      </p:cBhvr>
                                    </p:animEffect>
                                    <p:anim calcmode="lin" valueType="num">
                                      <p:cBhvr additive="base">
                                        <p:cTn id="85" dur="160" fill="hold">
                                          <p:stCondLst>
                                            <p:cond delay="500"/>
                                          </p:stCondLst>
                                        </p:cTn>
                                        <p:tgtEl>
                                          <p:spTgt spid="120"/>
                                        </p:tgtEl>
                                        <p:attrNameLst>
                                          <p:attrName>ppt_w</p:attrName>
                                        </p:attrNameLst>
                                      </p:cBhvr>
                                      <p:tavLst>
                                        <p:tav tm="0">
                                          <p:val>
                                            <p:strVal val="#ppt_w*1.08"/>
                                          </p:val>
                                        </p:tav>
                                        <p:tav tm="100000">
                                          <p:val>
                                            <p:strVal val="#ppt_w"/>
                                          </p:val>
                                        </p:tav>
                                      </p:tavLst>
                                    </p:anim>
                                    <p:anim calcmode="lin" valueType="num">
                                      <p:cBhvr additive="base">
                                        <p:cTn id="86" dur="160" fill="hold">
                                          <p:stCondLst>
                                            <p:cond delay="500"/>
                                          </p:stCondLst>
                                        </p:cTn>
                                        <p:tgtEl>
                                          <p:spTgt spid="120"/>
                                        </p:tgtEl>
                                        <p:attrNameLst>
                                          <p:attrName>ppt_h</p:attrName>
                                        </p:attrNameLst>
                                      </p:cBhvr>
                                      <p:tavLst>
                                        <p:tav tm="0">
                                          <p:val>
                                            <p:strVal val="#ppt_h*1.08"/>
                                          </p:val>
                                        </p:tav>
                                        <p:tav tm="100000">
                                          <p:val>
                                            <p:strVal val="#ppt_h"/>
                                          </p:val>
                                        </p:tav>
                                      </p:tavLst>
                                    </p:anim>
                                  </p:childTnLst>
                                </p:cTn>
                              </p:par>
                              <p:par>
                                <p:cTn id="87" presetID="53" presetClass="entr" presetSubtype="16" fill="hold" grpId="0" nodeType="withEffect">
                                  <p:stCondLst>
                                    <p:cond delay="360"/>
                                  </p:stCondLst>
                                  <p:childTnLst>
                                    <p:set>
                                      <p:cBhvr>
                                        <p:cTn id="88" dur="1" fill="hold">
                                          <p:stCondLst>
                                            <p:cond delay="0"/>
                                          </p:stCondLst>
                                        </p:cTn>
                                        <p:tgtEl>
                                          <p:spTgt spid="121"/>
                                        </p:tgtEl>
                                        <p:attrNameLst>
                                          <p:attrName>style.visibility</p:attrName>
                                        </p:attrNameLst>
                                      </p:cBhvr>
                                      <p:to>
                                        <p:strVal val="visible"/>
                                      </p:to>
                                    </p:set>
                                    <p:anim calcmode="lin" valueType="num">
                                      <p:cBhvr additive="base">
                                        <p:cTn id="89" dur="500" decel="100000" fill="hold"/>
                                        <p:tgtEl>
                                          <p:spTgt spid="121"/>
                                        </p:tgtEl>
                                        <p:attrNameLst>
                                          <p:attrName>ppt_w</p:attrName>
                                        </p:attrNameLst>
                                      </p:cBhvr>
                                      <p:tavLst>
                                        <p:tav tm="0">
                                          <p:val>
                                            <p:strVal val="#ppt_w*0.55"/>
                                          </p:val>
                                        </p:tav>
                                        <p:tav tm="100000">
                                          <p:val>
                                            <p:strVal val="#ppt_w"/>
                                          </p:val>
                                        </p:tav>
                                      </p:tavLst>
                                    </p:anim>
                                    <p:anim calcmode="lin" valueType="num">
                                      <p:cBhvr additive="base">
                                        <p:cTn id="90" dur="500" decel="100000" fill="hold"/>
                                        <p:tgtEl>
                                          <p:spTgt spid="121"/>
                                        </p:tgtEl>
                                        <p:attrNameLst>
                                          <p:attrName>ppt_h</p:attrName>
                                        </p:attrNameLst>
                                      </p:cBhvr>
                                      <p:tavLst>
                                        <p:tav tm="0">
                                          <p:val>
                                            <p:strVal val="#ppt_h*0.55"/>
                                          </p:val>
                                        </p:tav>
                                        <p:tav tm="100000">
                                          <p:val>
                                            <p:strVal val="#ppt_h"/>
                                          </p:val>
                                        </p:tav>
                                      </p:tavLst>
                                    </p:anim>
                                    <p:animEffect transition="in" filter="fade">
                                      <p:cBhvr>
                                        <p:cTn id="91" dur="500"/>
                                        <p:tgtEl>
                                          <p:spTgt spid="121"/>
                                        </p:tgtEl>
                                      </p:cBhvr>
                                    </p:animEffect>
                                  </p:childTnLst>
                                </p:cTn>
                              </p:par>
                            </p:childTnLst>
                          </p:cTn>
                        </p:par>
                      </p:childTnLst>
                    </p:cTn>
                  </p:par>
                  <p:par>
                    <p:cTn id="92" fill="hold">
                      <p:stCondLst>
                        <p:cond delay="indefinite"/>
                      </p:stCondLst>
                      <p:childTnLst>
                        <p:par>
                          <p:cTn id="93" fill="hold">
                            <p:stCondLst>
                              <p:cond delay="0"/>
                            </p:stCondLst>
                            <p:childTnLst>
                              <p:par>
                                <p:cTn id="94" presetID="42" presetClass="entr" presetSubtype="0" fill="hold" grpId="0" nodeType="clickEffect">
                                  <p:stCondLst>
                                    <p:cond delay="0"/>
                                  </p:stCondLst>
                                  <p:childTnLst>
                                    <p:set>
                                      <p:cBhvr>
                                        <p:cTn id="95" dur="1" fill="hold">
                                          <p:stCondLst>
                                            <p:cond delay="0"/>
                                          </p:stCondLst>
                                        </p:cTn>
                                        <p:tgtEl>
                                          <p:spTgt spid="122"/>
                                        </p:tgtEl>
                                        <p:attrNameLst>
                                          <p:attrName>style.visibility</p:attrName>
                                        </p:attrNameLst>
                                      </p:cBhvr>
                                      <p:to>
                                        <p:strVal val="visible"/>
                                      </p:to>
                                    </p:set>
                                    <p:animEffect transition="in" filter="fade">
                                      <p:cBhvr>
                                        <p:cTn id="96" dur="500"/>
                                        <p:tgtEl>
                                          <p:spTgt spid="122"/>
                                        </p:tgtEl>
                                      </p:cBhvr>
                                    </p:animEffect>
                                    <p:anim calcmode="lin" valueType="num">
                                      <p:cBhvr additive="base">
                                        <p:cTn id="97" dur="500" decel="100000" fill="hold"/>
                                        <p:tgtEl>
                                          <p:spTgt spid="122"/>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DEFINE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Methodology: A Way of Organizing and Executing the SDLC</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METHODOLOGIES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184</a:t>
            </a:r>
            <a:endParaRPr lang="en-US" sz="850" dirty="0"/>
          </a:p>
        </p:txBody>
      </p:sp>
      <p:sp>
        <p:nvSpPr>
          <p:cNvPr id="101" name="s101"/>
          <p:cNvSpPr/>
          <p:nvPr/>
        </p:nvSpPr>
        <p:spPr>
          <a:xfrm>
            <a:off x="1527048" y="2029968"/>
            <a:ext cx="2523744" cy="2523744"/>
          </a:xfrm>
          <a:prstGeom prst="ellipse">
            <a:avLst/>
          </a:prstGeom>
          <a:noFill/>
          <a:ln w="19050">
            <a:solidFill>
              <a:srgbClr val="1E3A5F"/>
            </a:solidFill>
            <a:prstDash val="dash"/>
          </a:ln>
        </p:spPr>
        <p:txBody>
          <a:bodyPr wrap="square" lIns="164592" tIns="109728" rIns="137160" bIns="91440" rtlCol="0" anchor="t">
            <a:noAutofit/>
          </a:bodyPr>
          <a:lstStyle/>
          <a:p>
            <a:endParaRPr lang="en-US"/>
          </a:p>
        </p:txBody>
      </p:sp>
      <p:sp>
        <p:nvSpPr>
          <p:cNvPr id="102" name="s102"/>
          <p:cNvSpPr/>
          <p:nvPr/>
        </p:nvSpPr>
        <p:spPr>
          <a:xfrm>
            <a:off x="2103120" y="2880360"/>
            <a:ext cx="1371600" cy="822960"/>
          </a:xfrm>
          <a:prstGeom prst="roundRect">
            <a:avLst>
              <a:gd name="adj" fmla="val 12000"/>
            </a:avLst>
          </a:prstGeom>
          <a:noFill/>
          <a:ln>
            <a:noFill/>
          </a:ln>
        </p:spPr>
        <p:txBody>
          <a:bodyPr wrap="square" lIns="0" tIns="0" rIns="0" bIns="0" rtlCol="0" anchor="ctr">
            <a:noAutofit/>
          </a:bodyPr>
          <a:lstStyle/>
          <a:p>
            <a:pPr marL="0" indent="0" algn="ctr">
              <a:spcBef>
                <a:spcPts val="0"/>
              </a:spcBef>
              <a:spcAft>
                <a:spcPts val="0"/>
              </a:spcAft>
              <a:buNone/>
            </a:pPr>
            <a:r>
              <a:rPr lang="en-US" sz="1100" b="1" dirty="0">
                <a:solidFill>
                  <a:srgbClr val="94A3B8"/>
                </a:solidFill>
                <a:latin typeface="Segoe UI"/>
                <a:ea typeface="Segoe UI"/>
                <a:cs typeface="Segoe UI"/>
              </a:rPr>
              <a:t>SAME</a:t>
            </a:r>
            <a:endParaRPr lang="en-US" sz="1100" dirty="0"/>
          </a:p>
          <a:p>
            <a:pPr marL="0" indent="0" algn="ctr">
              <a:spcBef>
                <a:spcPts val="0"/>
              </a:spcBef>
              <a:spcAft>
                <a:spcPts val="0"/>
              </a:spcAft>
              <a:buNone/>
            </a:pPr>
            <a:r>
              <a:rPr lang="en-US" sz="2000" b="1" dirty="0">
                <a:solidFill>
                  <a:srgbClr val="FFFFFF"/>
                </a:solidFill>
                <a:latin typeface="Consolas"/>
                <a:ea typeface="Consolas"/>
                <a:cs typeface="Consolas"/>
              </a:rPr>
              <a:t>SDLC</a:t>
            </a:r>
            <a:endParaRPr lang="en-US" sz="2000" dirty="0"/>
          </a:p>
        </p:txBody>
      </p:sp>
      <p:sp>
        <p:nvSpPr>
          <p:cNvPr id="103" name="s103"/>
          <p:cNvSpPr/>
          <p:nvPr/>
        </p:nvSpPr>
        <p:spPr>
          <a:xfrm>
            <a:off x="2130552" y="1837944"/>
            <a:ext cx="1316736" cy="384048"/>
          </a:xfrm>
          <a:prstGeom prst="roundRect">
            <a:avLst>
              <a:gd name="adj" fmla="val 50000"/>
            </a:avLst>
          </a:prstGeom>
          <a:solidFill>
            <a:srgbClr val="111B2E"/>
          </a:solidFill>
          <a:ln w="127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Requirements</a:t>
            </a:r>
            <a:endParaRPr lang="en-US" sz="1100" dirty="0"/>
          </a:p>
        </p:txBody>
      </p:sp>
      <p:sp>
        <p:nvSpPr>
          <p:cNvPr id="104" name="s104"/>
          <p:cNvSpPr/>
          <p:nvPr/>
        </p:nvSpPr>
        <p:spPr>
          <a:xfrm>
            <a:off x="3223365" y="2468880"/>
            <a:ext cx="1316736" cy="384048"/>
          </a:xfrm>
          <a:prstGeom prst="roundRect">
            <a:avLst>
              <a:gd name="adj" fmla="val 50000"/>
            </a:avLst>
          </a:prstGeom>
          <a:solidFill>
            <a:srgbClr val="111B2E"/>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Design</a:t>
            </a:r>
            <a:endParaRPr lang="en-US" sz="1100" dirty="0"/>
          </a:p>
        </p:txBody>
      </p:sp>
      <p:sp>
        <p:nvSpPr>
          <p:cNvPr id="105" name="s105"/>
          <p:cNvSpPr/>
          <p:nvPr/>
        </p:nvSpPr>
        <p:spPr>
          <a:xfrm>
            <a:off x="3223365" y="3730752"/>
            <a:ext cx="1316736" cy="384048"/>
          </a:xfrm>
          <a:prstGeom prst="roundRect">
            <a:avLst>
              <a:gd name="adj" fmla="val 50000"/>
            </a:avLst>
          </a:prstGeom>
          <a:solidFill>
            <a:srgbClr val="111B2E"/>
          </a:solidFill>
          <a:ln w="1270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Build</a:t>
            </a:r>
            <a:endParaRPr lang="en-US" sz="1100" dirty="0"/>
          </a:p>
        </p:txBody>
      </p:sp>
      <p:sp>
        <p:nvSpPr>
          <p:cNvPr id="106" name="s106"/>
          <p:cNvSpPr/>
          <p:nvPr/>
        </p:nvSpPr>
        <p:spPr>
          <a:xfrm>
            <a:off x="2130552" y="4361688"/>
            <a:ext cx="1316736" cy="384048"/>
          </a:xfrm>
          <a:prstGeom prst="roundRect">
            <a:avLst>
              <a:gd name="adj" fmla="val 50000"/>
            </a:avLst>
          </a:prstGeom>
          <a:solidFill>
            <a:srgbClr val="111B2E"/>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Test</a:t>
            </a:r>
            <a:endParaRPr lang="en-US" sz="1100" dirty="0"/>
          </a:p>
        </p:txBody>
      </p:sp>
      <p:sp>
        <p:nvSpPr>
          <p:cNvPr id="107" name="s107"/>
          <p:cNvSpPr/>
          <p:nvPr/>
        </p:nvSpPr>
        <p:spPr>
          <a:xfrm>
            <a:off x="1037739" y="3730752"/>
            <a:ext cx="1316736" cy="384048"/>
          </a:xfrm>
          <a:prstGeom prst="roundRect">
            <a:avLst>
              <a:gd name="adj" fmla="val 50000"/>
            </a:avLst>
          </a:prstGeom>
          <a:solidFill>
            <a:srgbClr val="111B2E"/>
          </a:solidFill>
          <a:ln w="127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Deploy</a:t>
            </a:r>
            <a:endParaRPr lang="en-US" sz="1100" dirty="0"/>
          </a:p>
        </p:txBody>
      </p:sp>
      <p:sp>
        <p:nvSpPr>
          <p:cNvPr id="108" name="s108"/>
          <p:cNvSpPr/>
          <p:nvPr/>
        </p:nvSpPr>
        <p:spPr>
          <a:xfrm>
            <a:off x="1037739" y="2468880"/>
            <a:ext cx="1316736" cy="384048"/>
          </a:xfrm>
          <a:prstGeom prst="roundRect">
            <a:avLst>
              <a:gd name="adj" fmla="val 50000"/>
            </a:avLst>
          </a:prstGeom>
          <a:solidFill>
            <a:srgbClr val="111B2E"/>
          </a:solidFill>
          <a:ln w="12700">
            <a:solidFill>
              <a:srgbClr val="F472B6"/>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F472B6"/>
                </a:solidFill>
                <a:latin typeface="Segoe UI"/>
                <a:ea typeface="Segoe UI"/>
                <a:cs typeface="Segoe UI"/>
              </a:rPr>
              <a:t>Maintain</a:t>
            </a:r>
            <a:endParaRPr lang="en-US" sz="1100" dirty="0"/>
          </a:p>
        </p:txBody>
      </p:sp>
      <p:sp>
        <p:nvSpPr>
          <p:cNvPr id="109" name="s109"/>
          <p:cNvSpPr/>
          <p:nvPr/>
        </p:nvSpPr>
        <p:spPr>
          <a:xfrm>
            <a:off x="5852160" y="1828800"/>
            <a:ext cx="5779008" cy="841248"/>
          </a:xfrm>
          <a:prstGeom prst="roundRect">
            <a:avLst>
              <a:gd name="adj" fmla="val 12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10" name="s110"/>
          <p:cNvSpPr/>
          <p:nvPr/>
        </p:nvSpPr>
        <p:spPr>
          <a:xfrm>
            <a:off x="6053328" y="2075688"/>
            <a:ext cx="822960" cy="347472"/>
          </a:xfrm>
          <a:prstGeom prst="roundRect">
            <a:avLst>
              <a:gd name="adj" fmla="val 50000"/>
            </a:avLst>
          </a:prstGeom>
          <a:solidFill>
            <a:srgbClr val="F87171"/>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NOT</a:t>
            </a:r>
            <a:endParaRPr lang="en-US" sz="1100" dirty="0"/>
          </a:p>
        </p:txBody>
      </p:sp>
      <p:sp>
        <p:nvSpPr>
          <p:cNvPr id="111" name="s111"/>
          <p:cNvSpPr txBox="1"/>
          <p:nvPr/>
        </p:nvSpPr>
        <p:spPr>
          <a:xfrm>
            <a:off x="7086600" y="1920240"/>
            <a:ext cx="4361688" cy="6583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E2E8F0"/>
                </a:solidFill>
                <a:latin typeface="Segoe UI"/>
                <a:ea typeface="Segoe UI"/>
                <a:cs typeface="Segoe UI"/>
              </a:rPr>
              <a:t>A new lifecycle. Not another SDLC.</a:t>
            </a:r>
            <a:endParaRPr lang="en-US" sz="1350" dirty="0"/>
          </a:p>
        </p:txBody>
      </p:sp>
      <p:sp>
        <p:nvSpPr>
          <p:cNvPr id="112" name="s112"/>
          <p:cNvSpPr/>
          <p:nvPr/>
        </p:nvSpPr>
        <p:spPr>
          <a:xfrm>
            <a:off x="5852160" y="2834640"/>
            <a:ext cx="5779008" cy="841248"/>
          </a:xfrm>
          <a:prstGeom prst="roundRect">
            <a:avLst>
              <a:gd name="adj" fmla="val 12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13" name="s113"/>
          <p:cNvSpPr/>
          <p:nvPr/>
        </p:nvSpPr>
        <p:spPr>
          <a:xfrm>
            <a:off x="6053328" y="3081528"/>
            <a:ext cx="822960" cy="347472"/>
          </a:xfrm>
          <a:prstGeom prst="roundRect">
            <a:avLst>
              <a:gd name="adj" fmla="val 50000"/>
            </a:avLst>
          </a:prstGeom>
          <a:solidFill>
            <a:srgbClr val="13D0F7"/>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IS</a:t>
            </a:r>
            <a:endParaRPr lang="en-US" sz="1100" dirty="0"/>
          </a:p>
        </p:txBody>
      </p:sp>
      <p:sp>
        <p:nvSpPr>
          <p:cNvPr id="114" name="s114"/>
          <p:cNvSpPr txBox="1"/>
          <p:nvPr/>
        </p:nvSpPr>
        <p:spPr>
          <a:xfrm>
            <a:off x="7086600" y="2926080"/>
            <a:ext cx="4361688" cy="6583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E2E8F0"/>
                </a:solidFill>
                <a:latin typeface="Segoe UI"/>
                <a:ea typeface="Segoe UI"/>
                <a:cs typeface="Segoe UI"/>
              </a:rPr>
              <a:t>A different way of moving through the SAME phases: an execution style.</a:t>
            </a:r>
            <a:endParaRPr lang="en-US" sz="1350" dirty="0"/>
          </a:p>
        </p:txBody>
      </p:sp>
      <p:sp>
        <p:nvSpPr>
          <p:cNvPr id="115" name="s115"/>
          <p:cNvSpPr/>
          <p:nvPr/>
        </p:nvSpPr>
        <p:spPr>
          <a:xfrm>
            <a:off x="5852160" y="3840480"/>
            <a:ext cx="5779008" cy="841248"/>
          </a:xfrm>
          <a:prstGeom prst="roundRect">
            <a:avLst>
              <a:gd name="adj" fmla="val 12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16" name="s116"/>
          <p:cNvSpPr/>
          <p:nvPr/>
        </p:nvSpPr>
        <p:spPr>
          <a:xfrm>
            <a:off x="6053328" y="4087368"/>
            <a:ext cx="822960" cy="347472"/>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GOAL</a:t>
            </a:r>
            <a:endParaRPr lang="en-US" sz="1100" dirty="0"/>
          </a:p>
        </p:txBody>
      </p:sp>
      <p:sp>
        <p:nvSpPr>
          <p:cNvPr id="117" name="s117"/>
          <p:cNvSpPr txBox="1"/>
          <p:nvPr/>
        </p:nvSpPr>
        <p:spPr>
          <a:xfrm>
            <a:off x="7086600" y="3931920"/>
            <a:ext cx="4361688" cy="65836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E2E8F0"/>
                </a:solidFill>
                <a:latin typeface="Segoe UI"/>
                <a:ea typeface="Segoe UI"/>
                <a:cs typeface="Segoe UI"/>
              </a:rPr>
              <a:t>Optimize a trade-off: predictability vs. adaptability.</a:t>
            </a:r>
            <a:endParaRPr lang="en-US" sz="1350" dirty="0"/>
          </a:p>
        </p:txBody>
      </p:sp>
      <p:sp>
        <p:nvSpPr>
          <p:cNvPr id="118" name="s118"/>
          <p:cNvSpPr/>
          <p:nvPr/>
        </p:nvSpPr>
        <p:spPr>
          <a:xfrm>
            <a:off x="543154" y="5029200"/>
            <a:ext cx="11088014" cy="566928"/>
          </a:xfrm>
          <a:prstGeom prst="roundRect">
            <a:avLst>
              <a:gd name="adj" fmla="val 12000"/>
            </a:avLst>
          </a:prstGeom>
          <a:solidFill>
            <a:srgbClr val="111B2E"/>
          </a:solidFill>
          <a:ln w="12700">
            <a:solidFill>
              <a:srgbClr val="34D399"/>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34D399"/>
                </a:solidFill>
                <a:latin typeface="Segoe UI"/>
                <a:ea typeface="Segoe UI"/>
                <a:cs typeface="Segoe UI"/>
              </a:rPr>
              <a:t>REMEMBER   </a:t>
            </a:r>
            <a:r>
              <a:rPr lang="en-US" sz="1350" b="1" dirty="0">
                <a:solidFill>
                  <a:srgbClr val="FFFFFF"/>
                </a:solidFill>
                <a:latin typeface="Segoe UI"/>
                <a:ea typeface="Segoe UI"/>
                <a:cs typeface="Segoe UI"/>
              </a:rPr>
              <a:t>SDLC</a:t>
            </a:r>
            <a:r>
              <a:rPr lang="en-US" sz="1350" b="0" dirty="0">
                <a:solidFill>
                  <a:srgbClr val="E2E8F0"/>
                </a:solidFill>
                <a:latin typeface="Segoe UI"/>
                <a:ea typeface="Segoe UI"/>
                <a:cs typeface="Segoe UI"/>
              </a:rPr>
              <a:t> describes WHAT stages exist.   </a:t>
            </a:r>
            <a:r>
              <a:rPr lang="en-US" sz="1350" b="1" dirty="0">
                <a:solidFill>
                  <a:srgbClr val="FFFFFF"/>
                </a:solidFill>
                <a:latin typeface="Segoe UI"/>
                <a:ea typeface="Segoe UI"/>
                <a:cs typeface="Segoe UI"/>
              </a:rPr>
              <a:t>Methodologies</a:t>
            </a:r>
            <a:r>
              <a:rPr lang="en-US" sz="1350" b="0" dirty="0">
                <a:solidFill>
                  <a:srgbClr val="E2E8F0"/>
                </a:solidFill>
                <a:latin typeface="Segoe UI"/>
                <a:ea typeface="Segoe UI"/>
                <a:cs typeface="Segoe UI"/>
              </a:rPr>
              <a:t> describe HOW teams navigate them.</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45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450" decel="100000" fill="hold"/>
                                        <p:tgtEl>
                                          <p:spTgt spid="101"/>
                                        </p:tgtEl>
                                        <p:attrNameLst>
                                          <p:attrName>ppt_h</p:attrName>
                                        </p:attrNameLst>
                                      </p:cBhvr>
                                      <p:tavLst>
                                        <p:tav tm="0">
                                          <p:val>
                                            <p:strVal val="#ppt_h*0.55"/>
                                          </p:val>
                                        </p:tav>
                                        <p:tav tm="100000">
                                          <p:val>
                                            <p:strVal val="#ppt_h"/>
                                          </p:val>
                                        </p:tav>
                                      </p:tavLst>
                                    </p:anim>
                                    <p:animEffect transition="in" filter="fade">
                                      <p:cBhvr>
                                        <p:cTn id="9" dur="450"/>
                                        <p:tgtEl>
                                          <p:spTgt spid="101"/>
                                        </p:tgtEl>
                                      </p:cBhvr>
                                    </p:animEffect>
                                  </p:childTnLst>
                                </p:cTn>
                              </p:par>
                              <p:par>
                                <p:cTn id="10" presetID="10" presetClass="entr" presetSubtype="0" fill="hold" grpId="0" nodeType="withEffect">
                                  <p:stCondLst>
                                    <p:cond delay="110"/>
                                  </p:stCondLst>
                                  <p:childTnLst>
                                    <p:set>
                                      <p:cBhvr>
                                        <p:cTn id="11" dur="1" fill="hold">
                                          <p:stCondLst>
                                            <p:cond delay="0"/>
                                          </p:stCondLst>
                                        </p:cTn>
                                        <p:tgtEl>
                                          <p:spTgt spid="102"/>
                                        </p:tgtEl>
                                        <p:attrNameLst>
                                          <p:attrName>style.visibility</p:attrName>
                                        </p:attrNameLst>
                                      </p:cBhvr>
                                      <p:to>
                                        <p:strVal val="visible"/>
                                      </p:to>
                                    </p:set>
                                    <p:animEffect transition="in" filter="fade">
                                      <p:cBhvr>
                                        <p:cTn id="12" dur="450"/>
                                        <p:tgtEl>
                                          <p:spTgt spid="102"/>
                                        </p:tgtEl>
                                      </p:cBhvr>
                                    </p:animEffect>
                                  </p:childTnLst>
                                </p:cTn>
                              </p:par>
                              <p:par>
                                <p:cTn id="13" presetID="53" presetClass="entr" presetSubtype="16" fill="hold" grpId="0" nodeType="withEffect">
                                  <p:stCondLst>
                                    <p:cond delay="220"/>
                                  </p:stCondLst>
                                  <p:childTnLst>
                                    <p:set>
                                      <p:cBhvr>
                                        <p:cTn id="14" dur="1" fill="hold">
                                          <p:stCondLst>
                                            <p:cond delay="0"/>
                                          </p:stCondLst>
                                        </p:cTn>
                                        <p:tgtEl>
                                          <p:spTgt spid="103"/>
                                        </p:tgtEl>
                                        <p:attrNameLst>
                                          <p:attrName>style.visibility</p:attrName>
                                        </p:attrNameLst>
                                      </p:cBhvr>
                                      <p:to>
                                        <p:strVal val="visible"/>
                                      </p:to>
                                    </p:set>
                                    <p:anim calcmode="lin" valueType="num">
                                      <p:cBhvr additive="base">
                                        <p:cTn id="15" dur="450" decel="100000" fill="hold"/>
                                        <p:tgtEl>
                                          <p:spTgt spid="103"/>
                                        </p:tgtEl>
                                        <p:attrNameLst>
                                          <p:attrName>ppt_w</p:attrName>
                                        </p:attrNameLst>
                                      </p:cBhvr>
                                      <p:tavLst>
                                        <p:tav tm="0">
                                          <p:val>
                                            <p:strVal val="#ppt_w*0.3"/>
                                          </p:val>
                                        </p:tav>
                                        <p:tav tm="100000">
                                          <p:val>
                                            <p:strVal val="#ppt_w*1.08"/>
                                          </p:val>
                                        </p:tav>
                                      </p:tavLst>
                                    </p:anim>
                                    <p:anim calcmode="lin" valueType="num">
                                      <p:cBhvr additive="base">
                                        <p:cTn id="16" dur="450" decel="100000" fill="hold"/>
                                        <p:tgtEl>
                                          <p:spTgt spid="103"/>
                                        </p:tgtEl>
                                        <p:attrNameLst>
                                          <p:attrName>ppt_h</p:attrName>
                                        </p:attrNameLst>
                                      </p:cBhvr>
                                      <p:tavLst>
                                        <p:tav tm="0">
                                          <p:val>
                                            <p:strVal val="#ppt_h*0.3"/>
                                          </p:val>
                                        </p:tav>
                                        <p:tav tm="100000">
                                          <p:val>
                                            <p:strVal val="#ppt_h*1.08"/>
                                          </p:val>
                                        </p:tav>
                                      </p:tavLst>
                                    </p:anim>
                                    <p:animEffect transition="in" filter="fade">
                                      <p:cBhvr>
                                        <p:cTn id="17" dur="225"/>
                                        <p:tgtEl>
                                          <p:spTgt spid="103"/>
                                        </p:tgtEl>
                                      </p:cBhvr>
                                    </p:animEffect>
                                    <p:anim calcmode="lin" valueType="num">
                                      <p:cBhvr additive="base">
                                        <p:cTn id="18" dur="160" fill="hold">
                                          <p:stCondLst>
                                            <p:cond delay="450"/>
                                          </p:stCondLst>
                                        </p:cTn>
                                        <p:tgtEl>
                                          <p:spTgt spid="103"/>
                                        </p:tgtEl>
                                        <p:attrNameLst>
                                          <p:attrName>ppt_w</p:attrName>
                                        </p:attrNameLst>
                                      </p:cBhvr>
                                      <p:tavLst>
                                        <p:tav tm="0">
                                          <p:val>
                                            <p:strVal val="#ppt_w*1.08"/>
                                          </p:val>
                                        </p:tav>
                                        <p:tav tm="100000">
                                          <p:val>
                                            <p:strVal val="#ppt_w"/>
                                          </p:val>
                                        </p:tav>
                                      </p:tavLst>
                                    </p:anim>
                                    <p:anim calcmode="lin" valueType="num">
                                      <p:cBhvr additive="base">
                                        <p:cTn id="19" dur="160" fill="hold">
                                          <p:stCondLst>
                                            <p:cond delay="450"/>
                                          </p:stCondLst>
                                        </p:cTn>
                                        <p:tgtEl>
                                          <p:spTgt spid="103"/>
                                        </p:tgtEl>
                                        <p:attrNameLst>
                                          <p:attrName>ppt_h</p:attrName>
                                        </p:attrNameLst>
                                      </p:cBhvr>
                                      <p:tavLst>
                                        <p:tav tm="0">
                                          <p:val>
                                            <p:strVal val="#ppt_h*1.08"/>
                                          </p:val>
                                        </p:tav>
                                        <p:tav tm="100000">
                                          <p:val>
                                            <p:strVal val="#ppt_h"/>
                                          </p:val>
                                        </p:tav>
                                      </p:tavLst>
                                    </p:anim>
                                  </p:childTnLst>
                                </p:cTn>
                              </p:par>
                              <p:par>
                                <p:cTn id="20" presetID="53" presetClass="entr" presetSubtype="16" fill="hold" grpId="0" nodeType="withEffect">
                                  <p:stCondLst>
                                    <p:cond delay="330"/>
                                  </p:stCondLst>
                                  <p:childTnLst>
                                    <p:set>
                                      <p:cBhvr>
                                        <p:cTn id="21" dur="1" fill="hold">
                                          <p:stCondLst>
                                            <p:cond delay="0"/>
                                          </p:stCondLst>
                                        </p:cTn>
                                        <p:tgtEl>
                                          <p:spTgt spid="104"/>
                                        </p:tgtEl>
                                        <p:attrNameLst>
                                          <p:attrName>style.visibility</p:attrName>
                                        </p:attrNameLst>
                                      </p:cBhvr>
                                      <p:to>
                                        <p:strVal val="visible"/>
                                      </p:to>
                                    </p:set>
                                    <p:anim calcmode="lin" valueType="num">
                                      <p:cBhvr additive="base">
                                        <p:cTn id="22" dur="45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23" dur="450" decel="100000" fill="hold"/>
                                        <p:tgtEl>
                                          <p:spTgt spid="104"/>
                                        </p:tgtEl>
                                        <p:attrNameLst>
                                          <p:attrName>ppt_h</p:attrName>
                                        </p:attrNameLst>
                                      </p:cBhvr>
                                      <p:tavLst>
                                        <p:tav tm="0">
                                          <p:val>
                                            <p:strVal val="#ppt_h*0.3"/>
                                          </p:val>
                                        </p:tav>
                                        <p:tav tm="100000">
                                          <p:val>
                                            <p:strVal val="#ppt_h*1.08"/>
                                          </p:val>
                                        </p:tav>
                                      </p:tavLst>
                                    </p:anim>
                                    <p:animEffect transition="in" filter="fade">
                                      <p:cBhvr>
                                        <p:cTn id="24" dur="225"/>
                                        <p:tgtEl>
                                          <p:spTgt spid="104"/>
                                        </p:tgtEl>
                                      </p:cBhvr>
                                    </p:animEffect>
                                    <p:anim calcmode="lin" valueType="num">
                                      <p:cBhvr additive="base">
                                        <p:cTn id="25" dur="160" fill="hold">
                                          <p:stCondLst>
                                            <p:cond delay="450"/>
                                          </p:stCondLst>
                                        </p:cTn>
                                        <p:tgtEl>
                                          <p:spTgt spid="104"/>
                                        </p:tgtEl>
                                        <p:attrNameLst>
                                          <p:attrName>ppt_w</p:attrName>
                                        </p:attrNameLst>
                                      </p:cBhvr>
                                      <p:tavLst>
                                        <p:tav tm="0">
                                          <p:val>
                                            <p:strVal val="#ppt_w*1.08"/>
                                          </p:val>
                                        </p:tav>
                                        <p:tav tm="100000">
                                          <p:val>
                                            <p:strVal val="#ppt_w"/>
                                          </p:val>
                                        </p:tav>
                                      </p:tavLst>
                                    </p:anim>
                                    <p:anim calcmode="lin" valueType="num">
                                      <p:cBhvr additive="base">
                                        <p:cTn id="26" dur="160" fill="hold">
                                          <p:stCondLst>
                                            <p:cond delay="450"/>
                                          </p:stCondLst>
                                        </p:cTn>
                                        <p:tgtEl>
                                          <p:spTgt spid="104"/>
                                        </p:tgtEl>
                                        <p:attrNameLst>
                                          <p:attrName>ppt_h</p:attrName>
                                        </p:attrNameLst>
                                      </p:cBhvr>
                                      <p:tavLst>
                                        <p:tav tm="0">
                                          <p:val>
                                            <p:strVal val="#ppt_h*1.08"/>
                                          </p:val>
                                        </p:tav>
                                        <p:tav tm="100000">
                                          <p:val>
                                            <p:strVal val="#ppt_h"/>
                                          </p:val>
                                        </p:tav>
                                      </p:tavLst>
                                    </p:anim>
                                  </p:childTnLst>
                                </p:cTn>
                              </p:par>
                              <p:par>
                                <p:cTn id="27" presetID="53" presetClass="entr" presetSubtype="16" fill="hold" grpId="0" nodeType="withEffect">
                                  <p:stCondLst>
                                    <p:cond delay="440"/>
                                  </p:stCondLst>
                                  <p:childTnLst>
                                    <p:set>
                                      <p:cBhvr>
                                        <p:cTn id="28" dur="1" fill="hold">
                                          <p:stCondLst>
                                            <p:cond delay="0"/>
                                          </p:stCondLst>
                                        </p:cTn>
                                        <p:tgtEl>
                                          <p:spTgt spid="105"/>
                                        </p:tgtEl>
                                        <p:attrNameLst>
                                          <p:attrName>style.visibility</p:attrName>
                                        </p:attrNameLst>
                                      </p:cBhvr>
                                      <p:to>
                                        <p:strVal val="visible"/>
                                      </p:to>
                                    </p:set>
                                    <p:anim calcmode="lin" valueType="num">
                                      <p:cBhvr additive="base">
                                        <p:cTn id="29" dur="450" decel="100000" fill="hold"/>
                                        <p:tgtEl>
                                          <p:spTgt spid="105"/>
                                        </p:tgtEl>
                                        <p:attrNameLst>
                                          <p:attrName>ppt_w</p:attrName>
                                        </p:attrNameLst>
                                      </p:cBhvr>
                                      <p:tavLst>
                                        <p:tav tm="0">
                                          <p:val>
                                            <p:strVal val="#ppt_w*0.3"/>
                                          </p:val>
                                        </p:tav>
                                        <p:tav tm="100000">
                                          <p:val>
                                            <p:strVal val="#ppt_w*1.08"/>
                                          </p:val>
                                        </p:tav>
                                      </p:tavLst>
                                    </p:anim>
                                    <p:anim calcmode="lin" valueType="num">
                                      <p:cBhvr additive="base">
                                        <p:cTn id="30" dur="450" decel="100000" fill="hold"/>
                                        <p:tgtEl>
                                          <p:spTgt spid="105"/>
                                        </p:tgtEl>
                                        <p:attrNameLst>
                                          <p:attrName>ppt_h</p:attrName>
                                        </p:attrNameLst>
                                      </p:cBhvr>
                                      <p:tavLst>
                                        <p:tav tm="0">
                                          <p:val>
                                            <p:strVal val="#ppt_h*0.3"/>
                                          </p:val>
                                        </p:tav>
                                        <p:tav tm="100000">
                                          <p:val>
                                            <p:strVal val="#ppt_h*1.08"/>
                                          </p:val>
                                        </p:tav>
                                      </p:tavLst>
                                    </p:anim>
                                    <p:animEffect transition="in" filter="fade">
                                      <p:cBhvr>
                                        <p:cTn id="31" dur="225"/>
                                        <p:tgtEl>
                                          <p:spTgt spid="105"/>
                                        </p:tgtEl>
                                      </p:cBhvr>
                                    </p:animEffect>
                                    <p:anim calcmode="lin" valueType="num">
                                      <p:cBhvr additive="base">
                                        <p:cTn id="32" dur="160" fill="hold">
                                          <p:stCondLst>
                                            <p:cond delay="450"/>
                                          </p:stCondLst>
                                        </p:cTn>
                                        <p:tgtEl>
                                          <p:spTgt spid="105"/>
                                        </p:tgtEl>
                                        <p:attrNameLst>
                                          <p:attrName>ppt_w</p:attrName>
                                        </p:attrNameLst>
                                      </p:cBhvr>
                                      <p:tavLst>
                                        <p:tav tm="0">
                                          <p:val>
                                            <p:strVal val="#ppt_w*1.08"/>
                                          </p:val>
                                        </p:tav>
                                        <p:tav tm="100000">
                                          <p:val>
                                            <p:strVal val="#ppt_w"/>
                                          </p:val>
                                        </p:tav>
                                      </p:tavLst>
                                    </p:anim>
                                    <p:anim calcmode="lin" valueType="num">
                                      <p:cBhvr additive="base">
                                        <p:cTn id="33" dur="160" fill="hold">
                                          <p:stCondLst>
                                            <p:cond delay="450"/>
                                          </p:stCondLst>
                                        </p:cTn>
                                        <p:tgtEl>
                                          <p:spTgt spid="105"/>
                                        </p:tgtEl>
                                        <p:attrNameLst>
                                          <p:attrName>ppt_h</p:attrName>
                                        </p:attrNameLst>
                                      </p:cBhvr>
                                      <p:tavLst>
                                        <p:tav tm="0">
                                          <p:val>
                                            <p:strVal val="#ppt_h*1.08"/>
                                          </p:val>
                                        </p:tav>
                                        <p:tav tm="100000">
                                          <p:val>
                                            <p:strVal val="#ppt_h"/>
                                          </p:val>
                                        </p:tav>
                                      </p:tavLst>
                                    </p:anim>
                                  </p:childTnLst>
                                </p:cTn>
                              </p:par>
                              <p:par>
                                <p:cTn id="34" presetID="53" presetClass="entr" presetSubtype="16" fill="hold" grpId="0" nodeType="withEffect">
                                  <p:stCondLst>
                                    <p:cond delay="550"/>
                                  </p:stCondLst>
                                  <p:childTnLst>
                                    <p:set>
                                      <p:cBhvr>
                                        <p:cTn id="35" dur="1" fill="hold">
                                          <p:stCondLst>
                                            <p:cond delay="0"/>
                                          </p:stCondLst>
                                        </p:cTn>
                                        <p:tgtEl>
                                          <p:spTgt spid="106"/>
                                        </p:tgtEl>
                                        <p:attrNameLst>
                                          <p:attrName>style.visibility</p:attrName>
                                        </p:attrNameLst>
                                      </p:cBhvr>
                                      <p:to>
                                        <p:strVal val="visible"/>
                                      </p:to>
                                    </p:set>
                                    <p:anim calcmode="lin" valueType="num">
                                      <p:cBhvr additive="base">
                                        <p:cTn id="36" dur="45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37" dur="450" decel="100000" fill="hold"/>
                                        <p:tgtEl>
                                          <p:spTgt spid="106"/>
                                        </p:tgtEl>
                                        <p:attrNameLst>
                                          <p:attrName>ppt_h</p:attrName>
                                        </p:attrNameLst>
                                      </p:cBhvr>
                                      <p:tavLst>
                                        <p:tav tm="0">
                                          <p:val>
                                            <p:strVal val="#ppt_h*0.3"/>
                                          </p:val>
                                        </p:tav>
                                        <p:tav tm="100000">
                                          <p:val>
                                            <p:strVal val="#ppt_h*1.08"/>
                                          </p:val>
                                        </p:tav>
                                      </p:tavLst>
                                    </p:anim>
                                    <p:animEffect transition="in" filter="fade">
                                      <p:cBhvr>
                                        <p:cTn id="38" dur="225"/>
                                        <p:tgtEl>
                                          <p:spTgt spid="106"/>
                                        </p:tgtEl>
                                      </p:cBhvr>
                                    </p:animEffect>
                                    <p:anim calcmode="lin" valueType="num">
                                      <p:cBhvr additive="base">
                                        <p:cTn id="39" dur="160" fill="hold">
                                          <p:stCondLst>
                                            <p:cond delay="450"/>
                                          </p:stCondLst>
                                        </p:cTn>
                                        <p:tgtEl>
                                          <p:spTgt spid="106"/>
                                        </p:tgtEl>
                                        <p:attrNameLst>
                                          <p:attrName>ppt_w</p:attrName>
                                        </p:attrNameLst>
                                      </p:cBhvr>
                                      <p:tavLst>
                                        <p:tav tm="0">
                                          <p:val>
                                            <p:strVal val="#ppt_w*1.08"/>
                                          </p:val>
                                        </p:tav>
                                        <p:tav tm="100000">
                                          <p:val>
                                            <p:strVal val="#ppt_w"/>
                                          </p:val>
                                        </p:tav>
                                      </p:tavLst>
                                    </p:anim>
                                    <p:anim calcmode="lin" valueType="num">
                                      <p:cBhvr additive="base">
                                        <p:cTn id="40" dur="160" fill="hold">
                                          <p:stCondLst>
                                            <p:cond delay="450"/>
                                          </p:stCondLst>
                                        </p:cTn>
                                        <p:tgtEl>
                                          <p:spTgt spid="106"/>
                                        </p:tgtEl>
                                        <p:attrNameLst>
                                          <p:attrName>ppt_h</p:attrName>
                                        </p:attrNameLst>
                                      </p:cBhvr>
                                      <p:tavLst>
                                        <p:tav tm="0">
                                          <p:val>
                                            <p:strVal val="#ppt_h*1.08"/>
                                          </p:val>
                                        </p:tav>
                                        <p:tav tm="100000">
                                          <p:val>
                                            <p:strVal val="#ppt_h"/>
                                          </p:val>
                                        </p:tav>
                                      </p:tavLst>
                                    </p:anim>
                                  </p:childTnLst>
                                </p:cTn>
                              </p:par>
                              <p:par>
                                <p:cTn id="41" presetID="53" presetClass="entr" presetSubtype="16" fill="hold" grpId="0" nodeType="withEffect">
                                  <p:stCondLst>
                                    <p:cond delay="660"/>
                                  </p:stCondLst>
                                  <p:childTnLst>
                                    <p:set>
                                      <p:cBhvr>
                                        <p:cTn id="42" dur="1" fill="hold">
                                          <p:stCondLst>
                                            <p:cond delay="0"/>
                                          </p:stCondLst>
                                        </p:cTn>
                                        <p:tgtEl>
                                          <p:spTgt spid="107"/>
                                        </p:tgtEl>
                                        <p:attrNameLst>
                                          <p:attrName>style.visibility</p:attrName>
                                        </p:attrNameLst>
                                      </p:cBhvr>
                                      <p:to>
                                        <p:strVal val="visible"/>
                                      </p:to>
                                    </p:set>
                                    <p:anim calcmode="lin" valueType="num">
                                      <p:cBhvr additive="base">
                                        <p:cTn id="43" dur="45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44" dur="450" decel="100000" fill="hold"/>
                                        <p:tgtEl>
                                          <p:spTgt spid="107"/>
                                        </p:tgtEl>
                                        <p:attrNameLst>
                                          <p:attrName>ppt_h</p:attrName>
                                        </p:attrNameLst>
                                      </p:cBhvr>
                                      <p:tavLst>
                                        <p:tav tm="0">
                                          <p:val>
                                            <p:strVal val="#ppt_h*0.3"/>
                                          </p:val>
                                        </p:tav>
                                        <p:tav tm="100000">
                                          <p:val>
                                            <p:strVal val="#ppt_h*1.08"/>
                                          </p:val>
                                        </p:tav>
                                      </p:tavLst>
                                    </p:anim>
                                    <p:animEffect transition="in" filter="fade">
                                      <p:cBhvr>
                                        <p:cTn id="45" dur="225"/>
                                        <p:tgtEl>
                                          <p:spTgt spid="107"/>
                                        </p:tgtEl>
                                      </p:cBhvr>
                                    </p:animEffect>
                                    <p:anim calcmode="lin" valueType="num">
                                      <p:cBhvr additive="base">
                                        <p:cTn id="46" dur="160" fill="hold">
                                          <p:stCondLst>
                                            <p:cond delay="450"/>
                                          </p:stCondLst>
                                        </p:cTn>
                                        <p:tgtEl>
                                          <p:spTgt spid="107"/>
                                        </p:tgtEl>
                                        <p:attrNameLst>
                                          <p:attrName>ppt_w</p:attrName>
                                        </p:attrNameLst>
                                      </p:cBhvr>
                                      <p:tavLst>
                                        <p:tav tm="0">
                                          <p:val>
                                            <p:strVal val="#ppt_w*1.08"/>
                                          </p:val>
                                        </p:tav>
                                        <p:tav tm="100000">
                                          <p:val>
                                            <p:strVal val="#ppt_w"/>
                                          </p:val>
                                        </p:tav>
                                      </p:tavLst>
                                    </p:anim>
                                    <p:anim calcmode="lin" valueType="num">
                                      <p:cBhvr additive="base">
                                        <p:cTn id="47" dur="160" fill="hold">
                                          <p:stCondLst>
                                            <p:cond delay="450"/>
                                          </p:stCondLst>
                                        </p:cTn>
                                        <p:tgtEl>
                                          <p:spTgt spid="107"/>
                                        </p:tgtEl>
                                        <p:attrNameLst>
                                          <p:attrName>ppt_h</p:attrName>
                                        </p:attrNameLst>
                                      </p:cBhvr>
                                      <p:tavLst>
                                        <p:tav tm="0">
                                          <p:val>
                                            <p:strVal val="#ppt_h*1.08"/>
                                          </p:val>
                                        </p:tav>
                                        <p:tav tm="100000">
                                          <p:val>
                                            <p:strVal val="#ppt_h"/>
                                          </p:val>
                                        </p:tav>
                                      </p:tavLst>
                                    </p:anim>
                                  </p:childTnLst>
                                </p:cTn>
                              </p:par>
                              <p:par>
                                <p:cTn id="48" presetID="53" presetClass="entr" presetSubtype="16" fill="hold" grpId="0" nodeType="withEffect">
                                  <p:stCondLst>
                                    <p:cond delay="770"/>
                                  </p:stCondLst>
                                  <p:childTnLst>
                                    <p:set>
                                      <p:cBhvr>
                                        <p:cTn id="49" dur="1" fill="hold">
                                          <p:stCondLst>
                                            <p:cond delay="0"/>
                                          </p:stCondLst>
                                        </p:cTn>
                                        <p:tgtEl>
                                          <p:spTgt spid="108"/>
                                        </p:tgtEl>
                                        <p:attrNameLst>
                                          <p:attrName>style.visibility</p:attrName>
                                        </p:attrNameLst>
                                      </p:cBhvr>
                                      <p:to>
                                        <p:strVal val="visible"/>
                                      </p:to>
                                    </p:set>
                                    <p:anim calcmode="lin" valueType="num">
                                      <p:cBhvr additive="base">
                                        <p:cTn id="50" dur="45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51" dur="450" decel="100000" fill="hold"/>
                                        <p:tgtEl>
                                          <p:spTgt spid="108"/>
                                        </p:tgtEl>
                                        <p:attrNameLst>
                                          <p:attrName>ppt_h</p:attrName>
                                        </p:attrNameLst>
                                      </p:cBhvr>
                                      <p:tavLst>
                                        <p:tav tm="0">
                                          <p:val>
                                            <p:strVal val="#ppt_h*0.3"/>
                                          </p:val>
                                        </p:tav>
                                        <p:tav tm="100000">
                                          <p:val>
                                            <p:strVal val="#ppt_h*1.08"/>
                                          </p:val>
                                        </p:tav>
                                      </p:tavLst>
                                    </p:anim>
                                    <p:animEffect transition="in" filter="fade">
                                      <p:cBhvr>
                                        <p:cTn id="52" dur="225"/>
                                        <p:tgtEl>
                                          <p:spTgt spid="108"/>
                                        </p:tgtEl>
                                      </p:cBhvr>
                                    </p:animEffect>
                                    <p:anim calcmode="lin" valueType="num">
                                      <p:cBhvr additive="base">
                                        <p:cTn id="53" dur="160" fill="hold">
                                          <p:stCondLst>
                                            <p:cond delay="450"/>
                                          </p:stCondLst>
                                        </p:cTn>
                                        <p:tgtEl>
                                          <p:spTgt spid="108"/>
                                        </p:tgtEl>
                                        <p:attrNameLst>
                                          <p:attrName>ppt_w</p:attrName>
                                        </p:attrNameLst>
                                      </p:cBhvr>
                                      <p:tavLst>
                                        <p:tav tm="0">
                                          <p:val>
                                            <p:strVal val="#ppt_w*1.08"/>
                                          </p:val>
                                        </p:tav>
                                        <p:tav tm="100000">
                                          <p:val>
                                            <p:strVal val="#ppt_w"/>
                                          </p:val>
                                        </p:tav>
                                      </p:tavLst>
                                    </p:anim>
                                    <p:anim calcmode="lin" valueType="num">
                                      <p:cBhvr additive="base">
                                        <p:cTn id="54" dur="160" fill="hold">
                                          <p:stCondLst>
                                            <p:cond delay="450"/>
                                          </p:stCondLst>
                                        </p:cTn>
                                        <p:tgtEl>
                                          <p:spTgt spid="108"/>
                                        </p:tgtEl>
                                        <p:attrNameLst>
                                          <p:attrName>ppt_h</p:attrName>
                                        </p:attrNameLst>
                                      </p:cBhvr>
                                      <p:tavLst>
                                        <p:tav tm="0">
                                          <p:val>
                                            <p:strVal val="#ppt_h*1.08"/>
                                          </p:val>
                                        </p:tav>
                                        <p:tav tm="100000">
                                          <p:val>
                                            <p:strVal val="#ppt_h"/>
                                          </p:val>
                                        </p:tav>
                                      </p:tavLst>
                                    </p:anim>
                                  </p:childTnLst>
                                </p:cTn>
                              </p:par>
                            </p:childTnLst>
                          </p:cTn>
                        </p:par>
                      </p:childTnLst>
                    </p:cTn>
                  </p:par>
                  <p:par>
                    <p:cTn id="55" fill="hold">
                      <p:stCondLst>
                        <p:cond delay="indefinite"/>
                      </p:stCondLst>
                      <p:childTnLst>
                        <p:par>
                          <p:cTn id="56" fill="hold">
                            <p:stCondLst>
                              <p:cond delay="0"/>
                            </p:stCondLst>
                            <p:childTnLst>
                              <p:par>
                                <p:cTn id="57" presetID="42" presetClass="entr" presetSubtype="0" fill="hold" grpId="0" nodeType="clickEffect">
                                  <p:stCondLst>
                                    <p:cond delay="0"/>
                                  </p:stCondLst>
                                  <p:childTnLst>
                                    <p:set>
                                      <p:cBhvr>
                                        <p:cTn id="58" dur="1" fill="hold">
                                          <p:stCondLst>
                                            <p:cond delay="0"/>
                                          </p:stCondLst>
                                        </p:cTn>
                                        <p:tgtEl>
                                          <p:spTgt spid="109"/>
                                        </p:tgtEl>
                                        <p:attrNameLst>
                                          <p:attrName>style.visibility</p:attrName>
                                        </p:attrNameLst>
                                      </p:cBhvr>
                                      <p:to>
                                        <p:strVal val="visible"/>
                                      </p:to>
                                    </p:set>
                                    <p:animEffect transition="in" filter="fade">
                                      <p:cBhvr>
                                        <p:cTn id="59" dur="500"/>
                                        <p:tgtEl>
                                          <p:spTgt spid="109"/>
                                        </p:tgtEl>
                                      </p:cBhvr>
                                    </p:animEffect>
                                    <p:anim calcmode="lin" valueType="num">
                                      <p:cBhvr additive="base">
                                        <p:cTn id="60" dur="500" decel="100000" fill="hold"/>
                                        <p:tgtEl>
                                          <p:spTgt spid="109"/>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0"/>
                                        </p:tgtEl>
                                        <p:attrNameLst>
                                          <p:attrName>style.visibility</p:attrName>
                                        </p:attrNameLst>
                                      </p:cBhvr>
                                      <p:to>
                                        <p:strVal val="visible"/>
                                      </p:to>
                                    </p:set>
                                    <p:animEffect transition="in" filter="fade">
                                      <p:cBhvr>
                                        <p:cTn id="63" dur="500"/>
                                        <p:tgtEl>
                                          <p:spTgt spid="110"/>
                                        </p:tgtEl>
                                      </p:cBhvr>
                                    </p:animEffect>
                                    <p:anim calcmode="lin" valueType="num">
                                      <p:cBhvr additive="base">
                                        <p:cTn id="64" dur="500" decel="100000" fill="hold"/>
                                        <p:tgtEl>
                                          <p:spTgt spid="110"/>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1"/>
                                        </p:tgtEl>
                                        <p:attrNameLst>
                                          <p:attrName>style.visibility</p:attrName>
                                        </p:attrNameLst>
                                      </p:cBhvr>
                                      <p:to>
                                        <p:strVal val="visible"/>
                                      </p:to>
                                    </p:set>
                                    <p:animEffect transition="in" filter="fade">
                                      <p:cBhvr>
                                        <p:cTn id="67" dur="500"/>
                                        <p:tgtEl>
                                          <p:spTgt spid="111"/>
                                        </p:tgtEl>
                                      </p:cBhvr>
                                    </p:animEffect>
                                    <p:anim calcmode="lin" valueType="num">
                                      <p:cBhvr additive="base">
                                        <p:cTn id="68" dur="500" decel="100000" fill="hold"/>
                                        <p:tgtEl>
                                          <p:spTgt spid="111"/>
                                        </p:tgtEl>
                                        <p:attrNameLst>
                                          <p:attrName>ppt_y</p:attrName>
                                        </p:attrNameLst>
                                      </p:cBhvr>
                                      <p:tavLst>
                                        <p:tav tm="0">
                                          <p:val>
                                            <p:strVal val="#ppt_y+0.06"/>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42" presetClass="entr" presetSubtype="0" fill="hold" grpId="0" nodeType="clickEffect">
                                  <p:stCondLst>
                                    <p:cond delay="0"/>
                                  </p:stCondLst>
                                  <p:childTnLst>
                                    <p:set>
                                      <p:cBhvr>
                                        <p:cTn id="72" dur="1" fill="hold">
                                          <p:stCondLst>
                                            <p:cond delay="0"/>
                                          </p:stCondLst>
                                        </p:cTn>
                                        <p:tgtEl>
                                          <p:spTgt spid="112"/>
                                        </p:tgtEl>
                                        <p:attrNameLst>
                                          <p:attrName>style.visibility</p:attrName>
                                        </p:attrNameLst>
                                      </p:cBhvr>
                                      <p:to>
                                        <p:strVal val="visible"/>
                                      </p:to>
                                    </p:set>
                                    <p:animEffect transition="in" filter="fade">
                                      <p:cBhvr>
                                        <p:cTn id="73" dur="500"/>
                                        <p:tgtEl>
                                          <p:spTgt spid="112"/>
                                        </p:tgtEl>
                                      </p:cBhvr>
                                    </p:animEffect>
                                    <p:anim calcmode="lin" valueType="num">
                                      <p:cBhvr additive="base">
                                        <p:cTn id="74" dur="500" decel="100000" fill="hold"/>
                                        <p:tgtEl>
                                          <p:spTgt spid="112"/>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113"/>
                                        </p:tgtEl>
                                        <p:attrNameLst>
                                          <p:attrName>style.visibility</p:attrName>
                                        </p:attrNameLst>
                                      </p:cBhvr>
                                      <p:to>
                                        <p:strVal val="visible"/>
                                      </p:to>
                                    </p:set>
                                    <p:animEffect transition="in" filter="fade">
                                      <p:cBhvr>
                                        <p:cTn id="77" dur="500"/>
                                        <p:tgtEl>
                                          <p:spTgt spid="113"/>
                                        </p:tgtEl>
                                      </p:cBhvr>
                                    </p:animEffect>
                                    <p:anim calcmode="lin" valueType="num">
                                      <p:cBhvr additive="base">
                                        <p:cTn id="78" dur="500" decel="100000" fill="hold"/>
                                        <p:tgtEl>
                                          <p:spTgt spid="113"/>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14"/>
                                        </p:tgtEl>
                                        <p:attrNameLst>
                                          <p:attrName>style.visibility</p:attrName>
                                        </p:attrNameLst>
                                      </p:cBhvr>
                                      <p:to>
                                        <p:strVal val="visible"/>
                                      </p:to>
                                    </p:set>
                                    <p:animEffect transition="in" filter="fade">
                                      <p:cBhvr>
                                        <p:cTn id="81" dur="500"/>
                                        <p:tgtEl>
                                          <p:spTgt spid="114"/>
                                        </p:tgtEl>
                                      </p:cBhvr>
                                    </p:animEffect>
                                    <p:anim calcmode="lin" valueType="num">
                                      <p:cBhvr additive="base">
                                        <p:cTn id="82"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42" presetClass="entr" presetSubtype="0" fill="hold" grpId="0" nodeType="clickEffect">
                                  <p:stCondLst>
                                    <p:cond delay="0"/>
                                  </p:stCondLst>
                                  <p:childTnLst>
                                    <p:set>
                                      <p:cBhvr>
                                        <p:cTn id="86" dur="1" fill="hold">
                                          <p:stCondLst>
                                            <p:cond delay="0"/>
                                          </p:stCondLst>
                                        </p:cTn>
                                        <p:tgtEl>
                                          <p:spTgt spid="115"/>
                                        </p:tgtEl>
                                        <p:attrNameLst>
                                          <p:attrName>style.visibility</p:attrName>
                                        </p:attrNameLst>
                                      </p:cBhvr>
                                      <p:to>
                                        <p:strVal val="visible"/>
                                      </p:to>
                                    </p:set>
                                    <p:animEffect transition="in" filter="fade">
                                      <p:cBhvr>
                                        <p:cTn id="87" dur="500"/>
                                        <p:tgtEl>
                                          <p:spTgt spid="115"/>
                                        </p:tgtEl>
                                      </p:cBhvr>
                                    </p:animEffect>
                                    <p:anim calcmode="lin" valueType="num">
                                      <p:cBhvr additive="base">
                                        <p:cTn id="88" dur="500" decel="100000" fill="hold"/>
                                        <p:tgtEl>
                                          <p:spTgt spid="115"/>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116"/>
                                        </p:tgtEl>
                                        <p:attrNameLst>
                                          <p:attrName>style.visibility</p:attrName>
                                        </p:attrNameLst>
                                      </p:cBhvr>
                                      <p:to>
                                        <p:strVal val="visible"/>
                                      </p:to>
                                    </p:set>
                                    <p:animEffect transition="in" filter="fade">
                                      <p:cBhvr>
                                        <p:cTn id="91" dur="500"/>
                                        <p:tgtEl>
                                          <p:spTgt spid="116"/>
                                        </p:tgtEl>
                                      </p:cBhvr>
                                    </p:animEffect>
                                    <p:anim calcmode="lin" valueType="num">
                                      <p:cBhvr additive="base">
                                        <p:cTn id="92" dur="500" decel="100000" fill="hold"/>
                                        <p:tgtEl>
                                          <p:spTgt spid="116"/>
                                        </p:tgtEl>
                                        <p:attrNameLst>
                                          <p:attrName>ppt_y</p:attrName>
                                        </p:attrNameLst>
                                      </p:cBhvr>
                                      <p:tavLst>
                                        <p:tav tm="0">
                                          <p:val>
                                            <p:strVal val="#ppt_y+0.06"/>
                                          </p:val>
                                        </p:tav>
                                        <p:tav tm="100000">
                                          <p:val>
                                            <p:strVal val="#ppt_y"/>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117"/>
                                        </p:tgtEl>
                                        <p:attrNameLst>
                                          <p:attrName>style.visibility</p:attrName>
                                        </p:attrNameLst>
                                      </p:cBhvr>
                                      <p:to>
                                        <p:strVal val="visible"/>
                                      </p:to>
                                    </p:set>
                                    <p:animEffect transition="in" filter="fade">
                                      <p:cBhvr>
                                        <p:cTn id="95" dur="500"/>
                                        <p:tgtEl>
                                          <p:spTgt spid="117"/>
                                        </p:tgtEl>
                                      </p:cBhvr>
                                    </p:animEffect>
                                    <p:anim calcmode="lin" valueType="num">
                                      <p:cBhvr additive="base">
                                        <p:cTn id="96" dur="500" decel="100000" fill="hold"/>
                                        <p:tgtEl>
                                          <p:spTgt spid="117"/>
                                        </p:tgtEl>
                                        <p:attrNameLst>
                                          <p:attrName>ppt_y</p:attrName>
                                        </p:attrNameLst>
                                      </p:cBhvr>
                                      <p:tavLst>
                                        <p:tav tm="0">
                                          <p:val>
                                            <p:strVal val="#ppt_y+0.06"/>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42" presetClass="entr" presetSubtype="0" fill="hold" grpId="0" nodeType="clickEffect">
                                  <p:stCondLst>
                                    <p:cond delay="0"/>
                                  </p:stCondLst>
                                  <p:childTnLst>
                                    <p:set>
                                      <p:cBhvr>
                                        <p:cTn id="100" dur="1" fill="hold">
                                          <p:stCondLst>
                                            <p:cond delay="0"/>
                                          </p:stCondLst>
                                        </p:cTn>
                                        <p:tgtEl>
                                          <p:spTgt spid="118"/>
                                        </p:tgtEl>
                                        <p:attrNameLst>
                                          <p:attrName>style.visibility</p:attrName>
                                        </p:attrNameLst>
                                      </p:cBhvr>
                                      <p:to>
                                        <p:strVal val="visible"/>
                                      </p:to>
                                    </p:set>
                                    <p:animEffect transition="in" filter="fade">
                                      <p:cBhvr>
                                        <p:cTn id="101" dur="500"/>
                                        <p:tgtEl>
                                          <p:spTgt spid="118"/>
                                        </p:tgtEl>
                                      </p:cBhvr>
                                    </p:animEffect>
                                    <p:anim calcmode="lin" valueType="num">
                                      <p:cBhvr additive="base">
                                        <p:cTn id="102" dur="500" decel="100000" fill="hold"/>
                                        <p:tgtEl>
                                          <p:spTgt spid="11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ANALOGY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Cairo → Alexandria</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Same destination. Many ways to get there.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METHODOLOGIES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185</a:t>
            </a:r>
            <a:endParaRPr lang="en-US" sz="850" dirty="0"/>
          </a:p>
        </p:txBody>
      </p:sp>
      <p:sp>
        <p:nvSpPr>
          <p:cNvPr id="101" name="s101"/>
          <p:cNvSpPr/>
          <p:nvPr/>
        </p:nvSpPr>
        <p:spPr>
          <a:xfrm>
            <a:off x="543154" y="1965960"/>
            <a:ext cx="1417320" cy="2880360"/>
          </a:xfrm>
          <a:prstGeom prst="roundRect">
            <a:avLst>
              <a:gd name="adj" fmla="val 14000"/>
            </a:avLst>
          </a:prstGeom>
          <a:solidFill>
            <a:srgbClr val="111B2E"/>
          </a:solidFill>
          <a:ln w="12700">
            <a:solidFill>
              <a:srgbClr val="13D0F7"/>
            </a:solidFill>
            <a:prstDash val="solid"/>
          </a:ln>
        </p:spPr>
        <p:txBody>
          <a:bodyPr wrap="square" lIns="164592" tIns="109728" rIns="137160" bIns="91440" rtlCol="0" anchor="ctr">
            <a:noAutofit/>
          </a:bodyPr>
          <a:lstStyle/>
          <a:p>
            <a:pPr marL="0" indent="0" algn="ctr">
              <a:spcBef>
                <a:spcPts val="0"/>
              </a:spcBef>
              <a:spcAft>
                <a:spcPts val="0"/>
              </a:spcAft>
              <a:buNone/>
            </a:pPr>
            <a:r>
              <a:rPr lang="en-US" sz="1500" b="1" dirty="0">
                <a:solidFill>
                  <a:srgbClr val="13D0F7"/>
                </a:solidFill>
                <a:latin typeface="Segoe UI"/>
                <a:ea typeface="Segoe UI"/>
                <a:cs typeface="Segoe UI"/>
              </a:rPr>
              <a:t>CAIRO</a:t>
            </a:r>
            <a:endParaRPr lang="en-US" sz="1500" dirty="0"/>
          </a:p>
          <a:p>
            <a:pPr marL="0" indent="0" algn="ctr">
              <a:spcBef>
                <a:spcPts val="0"/>
              </a:spcBef>
              <a:spcAft>
                <a:spcPts val="0"/>
              </a:spcAft>
              <a:buNone/>
            </a:pPr>
            <a:r>
              <a:rPr lang="en-US" sz="1100" b="0" dirty="0">
                <a:solidFill>
                  <a:srgbClr val="94A3B8"/>
                </a:solidFill>
                <a:latin typeface="Segoe UI"/>
                <a:ea typeface="Segoe UI"/>
                <a:cs typeface="Segoe UI"/>
              </a:rPr>
              <a:t>start</a:t>
            </a:r>
            <a:endParaRPr lang="en-US" sz="1100" dirty="0"/>
          </a:p>
        </p:txBody>
      </p:sp>
      <p:sp>
        <p:nvSpPr>
          <p:cNvPr id="102" name="s102"/>
          <p:cNvSpPr/>
          <p:nvPr/>
        </p:nvSpPr>
        <p:spPr>
          <a:xfrm>
            <a:off x="6400800" y="1965960"/>
            <a:ext cx="1417320" cy="2880360"/>
          </a:xfrm>
          <a:prstGeom prst="roundRect">
            <a:avLst>
              <a:gd name="adj" fmla="val 14000"/>
            </a:avLst>
          </a:prstGeom>
          <a:solidFill>
            <a:srgbClr val="111B2E"/>
          </a:solidFill>
          <a:ln w="12700">
            <a:solidFill>
              <a:srgbClr val="34D399"/>
            </a:solidFill>
            <a:prstDash val="solid"/>
          </a:ln>
        </p:spPr>
        <p:txBody>
          <a:bodyPr wrap="square" lIns="164592" tIns="109728" rIns="137160" bIns="91440" rtlCol="0" anchor="ctr">
            <a:noAutofit/>
          </a:bodyPr>
          <a:lstStyle/>
          <a:p>
            <a:pPr marL="0" indent="0" algn="ctr">
              <a:spcBef>
                <a:spcPts val="0"/>
              </a:spcBef>
              <a:spcAft>
                <a:spcPts val="0"/>
              </a:spcAft>
              <a:buNone/>
            </a:pPr>
            <a:r>
              <a:rPr lang="en-US" sz="1500" b="1" dirty="0">
                <a:solidFill>
                  <a:srgbClr val="34D399"/>
                </a:solidFill>
                <a:latin typeface="Segoe UI"/>
                <a:ea typeface="Segoe UI"/>
                <a:cs typeface="Segoe UI"/>
              </a:rPr>
              <a:t>ALEX</a:t>
            </a:r>
            <a:endParaRPr lang="en-US" sz="1500" dirty="0"/>
          </a:p>
          <a:p>
            <a:pPr marL="0" indent="0" algn="ctr">
              <a:spcBef>
                <a:spcPts val="0"/>
              </a:spcBef>
              <a:spcAft>
                <a:spcPts val="0"/>
              </a:spcAft>
              <a:buNone/>
            </a:pPr>
            <a:r>
              <a:rPr lang="en-US" sz="1100" b="0" dirty="0">
                <a:solidFill>
                  <a:srgbClr val="94A3B8"/>
                </a:solidFill>
                <a:latin typeface="Segoe UI"/>
                <a:ea typeface="Segoe UI"/>
                <a:cs typeface="Segoe UI"/>
              </a:rPr>
              <a:t>same destination</a:t>
            </a:r>
            <a:endParaRPr lang="en-US" sz="1100" dirty="0"/>
          </a:p>
        </p:txBody>
      </p:sp>
      <p:cxnSp>
        <p:nvCxnSpPr>
          <p:cNvPr id="103" name="ln103"/>
          <p:cNvCxnSpPr/>
          <p:nvPr/>
        </p:nvCxnSpPr>
        <p:spPr>
          <a:xfrm>
            <a:off x="2006194" y="2313432"/>
            <a:ext cx="4348886" cy="0"/>
          </a:xfrm>
          <a:prstGeom prst="line">
            <a:avLst/>
          </a:prstGeom>
          <a:ln w="22225">
            <a:solidFill>
              <a:srgbClr val="A78BFA">
                <a:alpha val="70000"/>
              </a:srgbClr>
            </a:solidFill>
            <a:prstDash val="dash"/>
            <a:tailEnd type="triangle" w="med" len="med"/>
          </a:ln>
        </p:spPr>
      </p:cxnSp>
      <p:sp>
        <p:nvSpPr>
          <p:cNvPr id="104" name="s104"/>
          <p:cNvSpPr/>
          <p:nvPr/>
        </p:nvSpPr>
        <p:spPr>
          <a:xfrm>
            <a:off x="2240280" y="2048256"/>
            <a:ext cx="530352" cy="530352"/>
          </a:xfrm>
          <a:prstGeom prst="ellipse">
            <a:avLst/>
          </a:prstGeom>
          <a:solidFill>
            <a:srgbClr val="0F172A"/>
          </a:solidFill>
          <a:ln>
            <a:noFill/>
          </a:ln>
        </p:spPr>
        <p:txBody>
          <a:bodyPr wrap="square" lIns="164592" tIns="109728" rIns="137160" bIns="91440" rtlCol="0" anchor="t">
            <a:noAutofit/>
          </a:bodyPr>
          <a:lstStyle/>
          <a:p>
            <a:endParaRPr lang="en-US"/>
          </a:p>
        </p:txBody>
      </p:sp>
      <p:sp>
        <p:nvSpPr>
          <p:cNvPr id="105" name="s105"/>
          <p:cNvSpPr/>
          <p:nvPr/>
        </p:nvSpPr>
        <p:spPr>
          <a:xfrm>
            <a:off x="2258568" y="2066544"/>
            <a:ext cx="493776" cy="493776"/>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06" name="img106"/>
          <p:cNvPicPr>
            <a:picLocks noChangeAspect="1"/>
          </p:cNvPicPr>
          <p:nvPr/>
        </p:nvPicPr>
        <p:blipFill>
          <a:blip r:embed="rId4"/>
          <a:stretch>
            <a:fillRect/>
          </a:stretch>
        </p:blipFill>
        <p:spPr>
          <a:xfrm>
            <a:off x="2377074" y="2185050"/>
            <a:ext cx="256764" cy="256764"/>
          </a:xfrm>
          <a:prstGeom prst="rect">
            <a:avLst/>
          </a:prstGeom>
        </p:spPr>
      </p:pic>
      <p:sp>
        <p:nvSpPr>
          <p:cNvPr id="107" name="s107"/>
          <p:cNvSpPr txBox="1"/>
          <p:nvPr/>
        </p:nvSpPr>
        <p:spPr>
          <a:xfrm>
            <a:off x="2926080" y="1947672"/>
            <a:ext cx="3291840" cy="31089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Car   </a:t>
            </a:r>
            <a:r>
              <a:rPr lang="en-US" sz="1250" b="0" dirty="0">
                <a:solidFill>
                  <a:srgbClr val="94A3B8"/>
                </a:solidFill>
                <a:latin typeface="Segoe UI"/>
                <a:ea typeface="Segoe UI"/>
                <a:cs typeface="Segoe UI"/>
              </a:rPr>
              <a:t>flexible stops</a:t>
            </a:r>
            <a:endParaRPr lang="en-US" sz="1250" dirty="0"/>
          </a:p>
        </p:txBody>
      </p:sp>
      <p:cxnSp>
        <p:nvCxnSpPr>
          <p:cNvPr id="108" name="ln108"/>
          <p:cNvCxnSpPr/>
          <p:nvPr/>
        </p:nvCxnSpPr>
        <p:spPr>
          <a:xfrm>
            <a:off x="2006194" y="2999232"/>
            <a:ext cx="4348886" cy="0"/>
          </a:xfrm>
          <a:prstGeom prst="line">
            <a:avLst/>
          </a:prstGeom>
          <a:ln w="22225">
            <a:solidFill>
              <a:srgbClr val="A78BFA">
                <a:alpha val="70000"/>
              </a:srgbClr>
            </a:solidFill>
            <a:prstDash val="dash"/>
            <a:tailEnd type="triangle" w="med" len="med"/>
          </a:ln>
        </p:spPr>
      </p:cxnSp>
      <p:sp>
        <p:nvSpPr>
          <p:cNvPr id="109" name="s109"/>
          <p:cNvSpPr/>
          <p:nvPr/>
        </p:nvSpPr>
        <p:spPr>
          <a:xfrm>
            <a:off x="2240280" y="2734056"/>
            <a:ext cx="530352" cy="530352"/>
          </a:xfrm>
          <a:prstGeom prst="ellipse">
            <a:avLst/>
          </a:prstGeom>
          <a:solidFill>
            <a:srgbClr val="0F172A"/>
          </a:solidFill>
          <a:ln>
            <a:noFill/>
          </a:ln>
        </p:spPr>
        <p:txBody>
          <a:bodyPr wrap="square" lIns="164592" tIns="109728" rIns="137160" bIns="91440" rtlCol="0" anchor="t">
            <a:noAutofit/>
          </a:bodyPr>
          <a:lstStyle/>
          <a:p>
            <a:endParaRPr lang="en-US"/>
          </a:p>
        </p:txBody>
      </p:sp>
      <p:sp>
        <p:nvSpPr>
          <p:cNvPr id="110" name="s110"/>
          <p:cNvSpPr/>
          <p:nvPr/>
        </p:nvSpPr>
        <p:spPr>
          <a:xfrm>
            <a:off x="2258568" y="2752344"/>
            <a:ext cx="493776" cy="493776"/>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11" name="img111"/>
          <p:cNvPicPr>
            <a:picLocks noChangeAspect="1"/>
          </p:cNvPicPr>
          <p:nvPr/>
        </p:nvPicPr>
        <p:blipFill>
          <a:blip r:embed="rId5"/>
          <a:stretch>
            <a:fillRect/>
          </a:stretch>
        </p:blipFill>
        <p:spPr>
          <a:xfrm>
            <a:off x="2377074" y="2870850"/>
            <a:ext cx="256764" cy="256764"/>
          </a:xfrm>
          <a:prstGeom prst="rect">
            <a:avLst/>
          </a:prstGeom>
        </p:spPr>
      </p:pic>
      <p:sp>
        <p:nvSpPr>
          <p:cNvPr id="112" name="s112"/>
          <p:cNvSpPr txBox="1"/>
          <p:nvPr/>
        </p:nvSpPr>
        <p:spPr>
          <a:xfrm>
            <a:off x="2926080" y="2633472"/>
            <a:ext cx="3291840" cy="31089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Train   </a:t>
            </a:r>
            <a:r>
              <a:rPr lang="en-US" sz="1250" b="0" dirty="0">
                <a:solidFill>
                  <a:srgbClr val="94A3B8"/>
                </a:solidFill>
                <a:latin typeface="Segoe UI"/>
                <a:ea typeface="Segoe UI"/>
                <a:cs typeface="Segoe UI"/>
              </a:rPr>
              <a:t>fixed schedule</a:t>
            </a:r>
            <a:endParaRPr lang="en-US" sz="1250" dirty="0"/>
          </a:p>
        </p:txBody>
      </p:sp>
      <p:cxnSp>
        <p:nvCxnSpPr>
          <p:cNvPr id="113" name="ln113"/>
          <p:cNvCxnSpPr/>
          <p:nvPr/>
        </p:nvCxnSpPr>
        <p:spPr>
          <a:xfrm>
            <a:off x="2006194" y="3685032"/>
            <a:ext cx="4348886" cy="0"/>
          </a:xfrm>
          <a:prstGeom prst="line">
            <a:avLst/>
          </a:prstGeom>
          <a:ln w="22225">
            <a:solidFill>
              <a:srgbClr val="A78BFA">
                <a:alpha val="70000"/>
              </a:srgbClr>
            </a:solidFill>
            <a:prstDash val="dash"/>
            <a:tailEnd type="triangle" w="med" len="med"/>
          </a:ln>
        </p:spPr>
      </p:cxnSp>
      <p:sp>
        <p:nvSpPr>
          <p:cNvPr id="114" name="s114"/>
          <p:cNvSpPr/>
          <p:nvPr/>
        </p:nvSpPr>
        <p:spPr>
          <a:xfrm>
            <a:off x="2240280" y="3419856"/>
            <a:ext cx="530352" cy="530352"/>
          </a:xfrm>
          <a:prstGeom prst="ellipse">
            <a:avLst/>
          </a:prstGeom>
          <a:solidFill>
            <a:srgbClr val="0F172A"/>
          </a:solidFill>
          <a:ln>
            <a:noFill/>
          </a:ln>
        </p:spPr>
        <p:txBody>
          <a:bodyPr wrap="square" lIns="164592" tIns="109728" rIns="137160" bIns="91440" rtlCol="0" anchor="t">
            <a:noAutofit/>
          </a:bodyPr>
          <a:lstStyle/>
          <a:p>
            <a:endParaRPr lang="en-US"/>
          </a:p>
        </p:txBody>
      </p:sp>
      <p:sp>
        <p:nvSpPr>
          <p:cNvPr id="115" name="s115"/>
          <p:cNvSpPr/>
          <p:nvPr/>
        </p:nvSpPr>
        <p:spPr>
          <a:xfrm>
            <a:off x="2258568" y="3438144"/>
            <a:ext cx="493776" cy="493776"/>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16" name="img116"/>
          <p:cNvPicPr>
            <a:picLocks noChangeAspect="1"/>
          </p:cNvPicPr>
          <p:nvPr/>
        </p:nvPicPr>
        <p:blipFill>
          <a:blip r:embed="rId6"/>
          <a:stretch>
            <a:fillRect/>
          </a:stretch>
        </p:blipFill>
        <p:spPr>
          <a:xfrm>
            <a:off x="2377074" y="3556650"/>
            <a:ext cx="256764" cy="256764"/>
          </a:xfrm>
          <a:prstGeom prst="rect">
            <a:avLst/>
          </a:prstGeom>
        </p:spPr>
      </p:pic>
      <p:sp>
        <p:nvSpPr>
          <p:cNvPr id="117" name="s117"/>
          <p:cNvSpPr txBox="1"/>
          <p:nvPr/>
        </p:nvSpPr>
        <p:spPr>
          <a:xfrm>
            <a:off x="2926080" y="3319272"/>
            <a:ext cx="3291840" cy="31089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Plane   </a:t>
            </a:r>
            <a:r>
              <a:rPr lang="en-US" sz="1250" b="0" dirty="0">
                <a:solidFill>
                  <a:srgbClr val="94A3B8"/>
                </a:solidFill>
                <a:latin typeface="Segoe UI"/>
                <a:ea typeface="Segoe UI"/>
                <a:cs typeface="Segoe UI"/>
              </a:rPr>
              <a:t>fast, more overhead</a:t>
            </a:r>
            <a:endParaRPr lang="en-US" sz="1250" dirty="0"/>
          </a:p>
        </p:txBody>
      </p:sp>
      <p:cxnSp>
        <p:nvCxnSpPr>
          <p:cNvPr id="118" name="ln118"/>
          <p:cNvCxnSpPr/>
          <p:nvPr/>
        </p:nvCxnSpPr>
        <p:spPr>
          <a:xfrm>
            <a:off x="2006194" y="4370832"/>
            <a:ext cx="4348886" cy="0"/>
          </a:xfrm>
          <a:prstGeom prst="line">
            <a:avLst/>
          </a:prstGeom>
          <a:ln w="22225">
            <a:solidFill>
              <a:srgbClr val="A78BFA">
                <a:alpha val="70000"/>
              </a:srgbClr>
            </a:solidFill>
            <a:prstDash val="dash"/>
            <a:tailEnd type="triangle" w="med" len="med"/>
          </a:ln>
        </p:spPr>
      </p:cxnSp>
      <p:sp>
        <p:nvSpPr>
          <p:cNvPr id="119" name="s119"/>
          <p:cNvSpPr/>
          <p:nvPr/>
        </p:nvSpPr>
        <p:spPr>
          <a:xfrm>
            <a:off x="2240280" y="4105656"/>
            <a:ext cx="530352" cy="530352"/>
          </a:xfrm>
          <a:prstGeom prst="ellipse">
            <a:avLst/>
          </a:prstGeom>
          <a:solidFill>
            <a:srgbClr val="0F172A"/>
          </a:solidFill>
          <a:ln>
            <a:noFill/>
          </a:ln>
        </p:spPr>
        <p:txBody>
          <a:bodyPr wrap="square" lIns="164592" tIns="109728" rIns="137160" bIns="91440" rtlCol="0" anchor="t">
            <a:noAutofit/>
          </a:bodyPr>
          <a:lstStyle/>
          <a:p>
            <a:endParaRPr lang="en-US"/>
          </a:p>
        </p:txBody>
      </p:sp>
      <p:sp>
        <p:nvSpPr>
          <p:cNvPr id="120" name="s120"/>
          <p:cNvSpPr/>
          <p:nvPr/>
        </p:nvSpPr>
        <p:spPr>
          <a:xfrm>
            <a:off x="2258568" y="4123944"/>
            <a:ext cx="493776" cy="493776"/>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21" name="img121"/>
          <p:cNvPicPr>
            <a:picLocks noChangeAspect="1"/>
          </p:cNvPicPr>
          <p:nvPr/>
        </p:nvPicPr>
        <p:blipFill>
          <a:blip r:embed="rId7"/>
          <a:stretch>
            <a:fillRect/>
          </a:stretch>
        </p:blipFill>
        <p:spPr>
          <a:xfrm>
            <a:off x="2377074" y="4242450"/>
            <a:ext cx="256764" cy="256764"/>
          </a:xfrm>
          <a:prstGeom prst="rect">
            <a:avLst/>
          </a:prstGeom>
        </p:spPr>
      </p:pic>
      <p:sp>
        <p:nvSpPr>
          <p:cNvPr id="122" name="s122"/>
          <p:cNvSpPr txBox="1"/>
          <p:nvPr/>
        </p:nvSpPr>
        <p:spPr>
          <a:xfrm>
            <a:off x="2926080" y="4005072"/>
            <a:ext cx="3291840" cy="31089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Bus   </a:t>
            </a:r>
            <a:r>
              <a:rPr lang="en-US" sz="1250" b="0" dirty="0">
                <a:solidFill>
                  <a:srgbClr val="94A3B8"/>
                </a:solidFill>
                <a:latin typeface="Segoe UI"/>
                <a:ea typeface="Segoe UI"/>
                <a:cs typeface="Segoe UI"/>
              </a:rPr>
              <a:t>shared, cheaper</a:t>
            </a:r>
            <a:endParaRPr lang="en-US" sz="1250" dirty="0"/>
          </a:p>
        </p:txBody>
      </p:sp>
      <p:sp>
        <p:nvSpPr>
          <p:cNvPr id="123" name="s123"/>
          <p:cNvSpPr/>
          <p:nvPr/>
        </p:nvSpPr>
        <p:spPr>
          <a:xfrm>
            <a:off x="8183880" y="1965960"/>
            <a:ext cx="3447288" cy="868680"/>
          </a:xfrm>
          <a:prstGeom prst="roundRect">
            <a:avLst>
              <a:gd name="adj" fmla="val 10000"/>
            </a:avLst>
          </a:prstGeom>
          <a:solidFill>
            <a:srgbClr val="111B2E"/>
          </a:solidFill>
          <a:ln w="12700">
            <a:solidFill>
              <a:srgbClr val="A78BFA"/>
            </a:solidFill>
            <a:prstDash val="solid"/>
          </a:ln>
        </p:spPr>
        <p:txBody>
          <a:bodyPr wrap="square" lIns="182880" tIns="146304" rIns="164592" bIns="109728" rtlCol="0" anchor="ctr">
            <a:noAutofit/>
          </a:bodyPr>
          <a:lstStyle/>
          <a:p>
            <a:pPr marL="0" indent="0" algn="l">
              <a:spcBef>
                <a:spcPts val="0"/>
              </a:spcBef>
              <a:spcAft>
                <a:spcPts val="300"/>
              </a:spcAft>
              <a:buNone/>
            </a:pPr>
            <a:r>
              <a:rPr lang="en-US" sz="1300" b="0" dirty="0">
                <a:solidFill>
                  <a:srgbClr val="E2E8F0"/>
                </a:solidFill>
                <a:latin typeface="Segoe UI"/>
                <a:ea typeface="Segoe UI"/>
                <a:cs typeface="Segoe UI"/>
              </a:rPr>
              <a:t>Destination is fixed. The method of travel changes.</a:t>
            </a:r>
            <a:endParaRPr lang="en-US" sz="1300" dirty="0"/>
          </a:p>
        </p:txBody>
      </p:sp>
      <p:sp>
        <p:nvSpPr>
          <p:cNvPr id="124" name="s124"/>
          <p:cNvSpPr/>
          <p:nvPr/>
        </p:nvSpPr>
        <p:spPr>
          <a:xfrm>
            <a:off x="8183880" y="2971800"/>
            <a:ext cx="3447288" cy="868680"/>
          </a:xfrm>
          <a:prstGeom prst="roundRect">
            <a:avLst>
              <a:gd name="adj" fmla="val 10000"/>
            </a:avLst>
          </a:prstGeom>
          <a:solidFill>
            <a:srgbClr val="111B2E"/>
          </a:solidFill>
          <a:ln w="12700">
            <a:solidFill>
              <a:srgbClr val="13D0F7"/>
            </a:solidFill>
            <a:prstDash val="solid"/>
          </a:ln>
        </p:spPr>
        <p:txBody>
          <a:bodyPr wrap="square" lIns="182880" tIns="146304" rIns="164592" bIns="109728" rtlCol="0" anchor="ctr">
            <a:noAutofit/>
          </a:bodyPr>
          <a:lstStyle/>
          <a:p>
            <a:pPr marL="0" indent="0" algn="l">
              <a:spcBef>
                <a:spcPts val="0"/>
              </a:spcBef>
              <a:spcAft>
                <a:spcPts val="300"/>
              </a:spcAft>
              <a:buNone/>
            </a:pPr>
            <a:r>
              <a:rPr lang="en-US" sz="1300" b="0" dirty="0">
                <a:solidFill>
                  <a:srgbClr val="E2E8F0"/>
                </a:solidFill>
                <a:latin typeface="Segoe UI"/>
                <a:ea typeface="Segoe UI"/>
                <a:cs typeface="Segoe UI"/>
              </a:rPr>
              <a:t>SDLC phases = the route milestones.</a:t>
            </a:r>
            <a:endParaRPr lang="en-US" sz="1300" dirty="0"/>
          </a:p>
        </p:txBody>
      </p:sp>
      <p:sp>
        <p:nvSpPr>
          <p:cNvPr id="125" name="s125"/>
          <p:cNvSpPr/>
          <p:nvPr/>
        </p:nvSpPr>
        <p:spPr>
          <a:xfrm>
            <a:off x="8183880" y="3977640"/>
            <a:ext cx="3447288" cy="868680"/>
          </a:xfrm>
          <a:prstGeom prst="roundRect">
            <a:avLst>
              <a:gd name="adj" fmla="val 10000"/>
            </a:avLst>
          </a:prstGeom>
          <a:solidFill>
            <a:srgbClr val="111B2E"/>
          </a:solidFill>
          <a:ln w="12700">
            <a:solidFill>
              <a:srgbClr val="34D399"/>
            </a:solidFill>
            <a:prstDash val="solid"/>
          </a:ln>
        </p:spPr>
        <p:txBody>
          <a:bodyPr wrap="square" lIns="182880" tIns="146304" rIns="164592" bIns="109728" rtlCol="0" anchor="ctr">
            <a:noAutofit/>
          </a:bodyPr>
          <a:lstStyle/>
          <a:p>
            <a:pPr marL="0" indent="0" algn="l">
              <a:spcBef>
                <a:spcPts val="0"/>
              </a:spcBef>
              <a:spcAft>
                <a:spcPts val="300"/>
              </a:spcAft>
              <a:buNone/>
            </a:pPr>
            <a:r>
              <a:rPr lang="en-US" sz="1300" b="0" dirty="0">
                <a:solidFill>
                  <a:srgbClr val="E2E8F0"/>
                </a:solidFill>
                <a:latin typeface="Segoe UI"/>
                <a:ea typeface="Segoe UI"/>
                <a:cs typeface="Segoe UI"/>
              </a:rPr>
              <a:t>Methodology = HOW you travel those milestones.</a:t>
            </a:r>
            <a:endParaRPr lang="en-US" sz="1300" dirty="0"/>
          </a:p>
        </p:txBody>
      </p:sp>
      <p:sp>
        <p:nvSpPr>
          <p:cNvPr id="126" name="s126"/>
          <p:cNvSpPr/>
          <p:nvPr/>
        </p:nvSpPr>
        <p:spPr>
          <a:xfrm>
            <a:off x="543154" y="5074920"/>
            <a:ext cx="11088014" cy="502920"/>
          </a:xfrm>
          <a:prstGeom prst="roundRect">
            <a:avLst>
              <a:gd name="adj" fmla="val 50000"/>
            </a:avLst>
          </a:prstGeom>
          <a:solidFill>
            <a:srgbClr val="A78BFA">
              <a:alpha val="18000"/>
            </a:srgbClr>
          </a:solidFill>
          <a:ln w="12700">
            <a:solidFill>
              <a:srgbClr val="A78BFA"/>
            </a:solidFill>
            <a:prstDash val="solid"/>
          </a:ln>
        </p:spPr>
        <p:txBody>
          <a:bodyPr wrap="square" lIns="36576" tIns="0" rIns="36576" bIns="0" rtlCol="0" anchor="ctr">
            <a:noAutofit/>
          </a:bodyPr>
          <a:lstStyle/>
          <a:p>
            <a:pPr marL="0" indent="0" algn="ctr" rtl="1">
              <a:spcBef>
                <a:spcPts val="0"/>
              </a:spcBef>
              <a:spcAft>
                <a:spcPts val="0"/>
              </a:spcAft>
              <a:buNone/>
            </a:pPr>
            <a:r>
              <a:rPr lang="en-US" sz="1600" b="1" dirty="0">
                <a:solidFill>
                  <a:srgbClr val="A78BFA"/>
                </a:solidFill>
                <a:latin typeface="Segoe UI"/>
                <a:ea typeface="Segoe UI"/>
                <a:cs typeface="Segoe UI"/>
              </a:rPr>
              <a:t>نفس الوجهة — طرق مختلفة</a:t>
            </a:r>
            <a:endParaRPr lang="en-US" sz="16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15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ppt_x</p:attrName>
                                        </p:attrNameLst>
                                      </p:cBhvr>
                                      <p:tavLst>
                                        <p:tav tm="0">
                                          <p:val>
                                            <p:strVal val="#ppt_x+0.05"/>
                                          </p:val>
                                        </p:tav>
                                        <p:tav tm="100000">
                                          <p:val>
                                            <p:strVal val="#ppt_x"/>
                                          </p:val>
                                        </p:tav>
                                      </p:tavLst>
                                    </p:anim>
                                  </p:childTnLst>
                                </p:cTn>
                              </p:par>
                              <p:par>
                                <p:cTn id="13" presetID="22" presetClass="entr" presetSubtype="8" fill="hold" nodeType="withEffect">
                                  <p:stCondLst>
                                    <p:cond delay="150"/>
                                  </p:stCondLst>
                                  <p:childTnLst>
                                    <p:set>
                                      <p:cBhvr>
                                        <p:cTn id="14" dur="1" fill="hold">
                                          <p:stCondLst>
                                            <p:cond delay="0"/>
                                          </p:stCondLst>
                                        </p:cTn>
                                        <p:tgtEl>
                                          <p:spTgt spid="103"/>
                                        </p:tgtEl>
                                        <p:attrNameLst>
                                          <p:attrName>style.visibility</p:attrName>
                                        </p:attrNameLst>
                                      </p:cBhvr>
                                      <p:to>
                                        <p:strVal val="visible"/>
                                      </p:to>
                                    </p:set>
                                    <p:animEffect transition="in" filter="wipe(left)">
                                      <p:cBhvr>
                                        <p:cTn id="15" dur="600"/>
                                        <p:tgtEl>
                                          <p:spTgt spid="103"/>
                                        </p:tgtEl>
                                      </p:cBhvr>
                                    </p:animEffect>
                                  </p:childTnLst>
                                </p:cTn>
                              </p:par>
                              <p:par>
                                <p:cTn id="16" presetID="22" presetClass="entr" presetSubtype="8" fill="hold" nodeType="withEffect">
                                  <p:stCondLst>
                                    <p:cond delay="320"/>
                                  </p:stCondLst>
                                  <p:childTnLst>
                                    <p:set>
                                      <p:cBhvr>
                                        <p:cTn id="17" dur="1" fill="hold">
                                          <p:stCondLst>
                                            <p:cond delay="0"/>
                                          </p:stCondLst>
                                        </p:cTn>
                                        <p:tgtEl>
                                          <p:spTgt spid="108"/>
                                        </p:tgtEl>
                                        <p:attrNameLst>
                                          <p:attrName>style.visibility</p:attrName>
                                        </p:attrNameLst>
                                      </p:cBhvr>
                                      <p:to>
                                        <p:strVal val="visible"/>
                                      </p:to>
                                    </p:set>
                                    <p:animEffect transition="in" filter="wipe(left)">
                                      <p:cBhvr>
                                        <p:cTn id="18" dur="600"/>
                                        <p:tgtEl>
                                          <p:spTgt spid="108"/>
                                        </p:tgtEl>
                                      </p:cBhvr>
                                    </p:animEffect>
                                  </p:childTnLst>
                                </p:cTn>
                              </p:par>
                              <p:par>
                                <p:cTn id="19" presetID="22" presetClass="entr" presetSubtype="8" fill="hold" nodeType="withEffect">
                                  <p:stCondLst>
                                    <p:cond delay="490"/>
                                  </p:stCondLst>
                                  <p:childTnLst>
                                    <p:set>
                                      <p:cBhvr>
                                        <p:cTn id="20" dur="1" fill="hold">
                                          <p:stCondLst>
                                            <p:cond delay="0"/>
                                          </p:stCondLst>
                                        </p:cTn>
                                        <p:tgtEl>
                                          <p:spTgt spid="113"/>
                                        </p:tgtEl>
                                        <p:attrNameLst>
                                          <p:attrName>style.visibility</p:attrName>
                                        </p:attrNameLst>
                                      </p:cBhvr>
                                      <p:to>
                                        <p:strVal val="visible"/>
                                      </p:to>
                                    </p:set>
                                    <p:animEffect transition="in" filter="wipe(left)">
                                      <p:cBhvr>
                                        <p:cTn id="21" dur="600"/>
                                        <p:tgtEl>
                                          <p:spTgt spid="113"/>
                                        </p:tgtEl>
                                      </p:cBhvr>
                                    </p:animEffect>
                                  </p:childTnLst>
                                </p:cTn>
                              </p:par>
                              <p:par>
                                <p:cTn id="22" presetID="22" presetClass="entr" presetSubtype="8" fill="hold" nodeType="withEffect">
                                  <p:stCondLst>
                                    <p:cond delay="660"/>
                                  </p:stCondLst>
                                  <p:childTnLst>
                                    <p:set>
                                      <p:cBhvr>
                                        <p:cTn id="23" dur="1" fill="hold">
                                          <p:stCondLst>
                                            <p:cond delay="0"/>
                                          </p:stCondLst>
                                        </p:cTn>
                                        <p:tgtEl>
                                          <p:spTgt spid="118"/>
                                        </p:tgtEl>
                                        <p:attrNameLst>
                                          <p:attrName>style.visibility</p:attrName>
                                        </p:attrNameLst>
                                      </p:cBhvr>
                                      <p:to>
                                        <p:strVal val="visible"/>
                                      </p:to>
                                    </p:set>
                                    <p:animEffect transition="in" filter="wipe(left)">
                                      <p:cBhvr>
                                        <p:cTn id="24" dur="600"/>
                                        <p:tgtEl>
                                          <p:spTgt spid="118"/>
                                        </p:tgtEl>
                                      </p:cBhvr>
                                    </p:animEffect>
                                  </p:childTnLst>
                                </p:cTn>
                              </p:par>
                              <p:par>
                                <p:cTn id="25" presetID="42" presetClass="entr" presetSubtype="0" fill="hold" grpId="0" nodeType="withEffect">
                                  <p:stCondLst>
                                    <p:cond delay="660"/>
                                  </p:stCondLst>
                                  <p:childTnLst>
                                    <p:set>
                                      <p:cBhvr>
                                        <p:cTn id="26" dur="1" fill="hold">
                                          <p:stCondLst>
                                            <p:cond delay="0"/>
                                          </p:stCondLst>
                                        </p:cTn>
                                        <p:tgtEl>
                                          <p:spTgt spid="104"/>
                                        </p:tgtEl>
                                        <p:attrNameLst>
                                          <p:attrName>style.visibility</p:attrName>
                                        </p:attrNameLst>
                                      </p:cBhvr>
                                      <p:to>
                                        <p:strVal val="visible"/>
                                      </p:to>
                                    </p:set>
                                    <p:animEffect transition="in" filter="fade">
                                      <p:cBhvr>
                                        <p:cTn id="27" dur="500"/>
                                        <p:tgtEl>
                                          <p:spTgt spid="104"/>
                                        </p:tgtEl>
                                      </p:cBhvr>
                                    </p:animEffect>
                                    <p:anim calcmode="lin" valueType="num">
                                      <p:cBhvr additive="base">
                                        <p:cTn id="28" dur="500" decel="100000" fill="hold"/>
                                        <p:tgtEl>
                                          <p:spTgt spid="104"/>
                                        </p:tgtEl>
                                        <p:attrNameLst>
                                          <p:attrName>ppt_x</p:attrName>
                                        </p:attrNameLst>
                                      </p:cBhvr>
                                      <p:tavLst>
                                        <p:tav tm="0">
                                          <p:val>
                                            <p:strVal val="#ppt_x-0.05"/>
                                          </p:val>
                                        </p:tav>
                                        <p:tav tm="100000">
                                          <p:val>
                                            <p:strVal val="#ppt_x"/>
                                          </p:val>
                                        </p:tav>
                                      </p:tavLst>
                                    </p:anim>
                                  </p:childTnLst>
                                </p:cTn>
                              </p:par>
                              <p:par>
                                <p:cTn id="29" presetID="42" presetClass="entr" presetSubtype="0" fill="hold" grpId="0" nodeType="withEffect">
                                  <p:stCondLst>
                                    <p:cond delay="660"/>
                                  </p:stCondLst>
                                  <p:childTnLst>
                                    <p:set>
                                      <p:cBhvr>
                                        <p:cTn id="30" dur="1" fill="hold">
                                          <p:stCondLst>
                                            <p:cond delay="0"/>
                                          </p:stCondLst>
                                        </p:cTn>
                                        <p:tgtEl>
                                          <p:spTgt spid="105"/>
                                        </p:tgtEl>
                                        <p:attrNameLst>
                                          <p:attrName>style.visibility</p:attrName>
                                        </p:attrNameLst>
                                      </p:cBhvr>
                                      <p:to>
                                        <p:strVal val="visible"/>
                                      </p:to>
                                    </p:set>
                                    <p:animEffect transition="in" filter="fade">
                                      <p:cBhvr>
                                        <p:cTn id="31" dur="500"/>
                                        <p:tgtEl>
                                          <p:spTgt spid="105"/>
                                        </p:tgtEl>
                                      </p:cBhvr>
                                    </p:animEffect>
                                    <p:anim calcmode="lin" valueType="num">
                                      <p:cBhvr additive="base">
                                        <p:cTn id="32" dur="500" decel="100000" fill="hold"/>
                                        <p:tgtEl>
                                          <p:spTgt spid="105"/>
                                        </p:tgtEl>
                                        <p:attrNameLst>
                                          <p:attrName>ppt_x</p:attrName>
                                        </p:attrNameLst>
                                      </p:cBhvr>
                                      <p:tavLst>
                                        <p:tav tm="0">
                                          <p:val>
                                            <p:strVal val="#ppt_x-0.05"/>
                                          </p:val>
                                        </p:tav>
                                        <p:tav tm="100000">
                                          <p:val>
                                            <p:strVal val="#ppt_x"/>
                                          </p:val>
                                        </p:tav>
                                      </p:tavLst>
                                    </p:anim>
                                  </p:childTnLst>
                                </p:cTn>
                              </p:par>
                              <p:par>
                                <p:cTn id="33" presetID="42" presetClass="entr" presetSubtype="0" fill="hold" nodeType="withEffect">
                                  <p:stCondLst>
                                    <p:cond delay="660"/>
                                  </p:stCondLst>
                                  <p:childTnLst>
                                    <p:set>
                                      <p:cBhvr>
                                        <p:cTn id="34" dur="1" fill="hold">
                                          <p:stCondLst>
                                            <p:cond delay="0"/>
                                          </p:stCondLst>
                                        </p:cTn>
                                        <p:tgtEl>
                                          <p:spTgt spid="106"/>
                                        </p:tgtEl>
                                        <p:attrNameLst>
                                          <p:attrName>style.visibility</p:attrName>
                                        </p:attrNameLst>
                                      </p:cBhvr>
                                      <p:to>
                                        <p:strVal val="visible"/>
                                      </p:to>
                                    </p:set>
                                    <p:animEffect transition="in" filter="fade">
                                      <p:cBhvr>
                                        <p:cTn id="35" dur="500"/>
                                        <p:tgtEl>
                                          <p:spTgt spid="106"/>
                                        </p:tgtEl>
                                      </p:cBhvr>
                                    </p:animEffect>
                                    <p:anim calcmode="lin" valueType="num">
                                      <p:cBhvr additive="base">
                                        <p:cTn id="36" dur="500" decel="100000" fill="hold"/>
                                        <p:tgtEl>
                                          <p:spTgt spid="106"/>
                                        </p:tgtEl>
                                        <p:attrNameLst>
                                          <p:attrName>ppt_x</p:attrName>
                                        </p:attrNameLst>
                                      </p:cBhvr>
                                      <p:tavLst>
                                        <p:tav tm="0">
                                          <p:val>
                                            <p:strVal val="#ppt_x-0.05"/>
                                          </p:val>
                                        </p:tav>
                                        <p:tav tm="100000">
                                          <p:val>
                                            <p:strVal val="#ppt_x"/>
                                          </p:val>
                                        </p:tav>
                                      </p:tavLst>
                                    </p:anim>
                                  </p:childTnLst>
                                </p:cTn>
                              </p:par>
                              <p:par>
                                <p:cTn id="37" presetID="42" presetClass="entr" presetSubtype="0" fill="hold" grpId="0" nodeType="withEffect">
                                  <p:stCondLst>
                                    <p:cond delay="660"/>
                                  </p:stCondLst>
                                  <p:childTnLst>
                                    <p:set>
                                      <p:cBhvr>
                                        <p:cTn id="38" dur="1" fill="hold">
                                          <p:stCondLst>
                                            <p:cond delay="0"/>
                                          </p:stCondLst>
                                        </p:cTn>
                                        <p:tgtEl>
                                          <p:spTgt spid="107"/>
                                        </p:tgtEl>
                                        <p:attrNameLst>
                                          <p:attrName>style.visibility</p:attrName>
                                        </p:attrNameLst>
                                      </p:cBhvr>
                                      <p:to>
                                        <p:strVal val="visible"/>
                                      </p:to>
                                    </p:set>
                                    <p:animEffect transition="in" filter="fade">
                                      <p:cBhvr>
                                        <p:cTn id="39" dur="500"/>
                                        <p:tgtEl>
                                          <p:spTgt spid="107"/>
                                        </p:tgtEl>
                                      </p:cBhvr>
                                    </p:animEffect>
                                    <p:anim calcmode="lin" valueType="num">
                                      <p:cBhvr additive="base">
                                        <p:cTn id="40" dur="500" decel="100000" fill="hold"/>
                                        <p:tgtEl>
                                          <p:spTgt spid="107"/>
                                        </p:tgtEl>
                                        <p:attrNameLst>
                                          <p:attrName>ppt_x</p:attrName>
                                        </p:attrNameLst>
                                      </p:cBhvr>
                                      <p:tavLst>
                                        <p:tav tm="0">
                                          <p:val>
                                            <p:strVal val="#ppt_x-0.05"/>
                                          </p:val>
                                        </p:tav>
                                        <p:tav tm="100000">
                                          <p:val>
                                            <p:strVal val="#ppt_x"/>
                                          </p:val>
                                        </p:tav>
                                      </p:tavLst>
                                    </p:anim>
                                  </p:childTnLst>
                                </p:cTn>
                              </p:par>
                              <p:par>
                                <p:cTn id="41" presetID="42" presetClass="entr" presetSubtype="0" fill="hold" grpId="0" nodeType="withEffect">
                                  <p:stCondLst>
                                    <p:cond delay="830"/>
                                  </p:stCondLst>
                                  <p:childTnLst>
                                    <p:set>
                                      <p:cBhvr>
                                        <p:cTn id="42" dur="1" fill="hold">
                                          <p:stCondLst>
                                            <p:cond delay="0"/>
                                          </p:stCondLst>
                                        </p:cTn>
                                        <p:tgtEl>
                                          <p:spTgt spid="109"/>
                                        </p:tgtEl>
                                        <p:attrNameLst>
                                          <p:attrName>style.visibility</p:attrName>
                                        </p:attrNameLst>
                                      </p:cBhvr>
                                      <p:to>
                                        <p:strVal val="visible"/>
                                      </p:to>
                                    </p:set>
                                    <p:animEffect transition="in" filter="fade">
                                      <p:cBhvr>
                                        <p:cTn id="43" dur="500"/>
                                        <p:tgtEl>
                                          <p:spTgt spid="109"/>
                                        </p:tgtEl>
                                      </p:cBhvr>
                                    </p:animEffect>
                                    <p:anim calcmode="lin" valueType="num">
                                      <p:cBhvr additive="base">
                                        <p:cTn id="44" dur="500" decel="100000" fill="hold"/>
                                        <p:tgtEl>
                                          <p:spTgt spid="109"/>
                                        </p:tgtEl>
                                        <p:attrNameLst>
                                          <p:attrName>ppt_x</p:attrName>
                                        </p:attrNameLst>
                                      </p:cBhvr>
                                      <p:tavLst>
                                        <p:tav tm="0">
                                          <p:val>
                                            <p:strVal val="#ppt_x-0.05"/>
                                          </p:val>
                                        </p:tav>
                                        <p:tav tm="100000">
                                          <p:val>
                                            <p:strVal val="#ppt_x"/>
                                          </p:val>
                                        </p:tav>
                                      </p:tavLst>
                                    </p:anim>
                                  </p:childTnLst>
                                </p:cTn>
                              </p:par>
                              <p:par>
                                <p:cTn id="45" presetID="42" presetClass="entr" presetSubtype="0" fill="hold" grpId="0" nodeType="withEffect">
                                  <p:stCondLst>
                                    <p:cond delay="830"/>
                                  </p:stCondLst>
                                  <p:childTnLst>
                                    <p:set>
                                      <p:cBhvr>
                                        <p:cTn id="46" dur="1" fill="hold">
                                          <p:stCondLst>
                                            <p:cond delay="0"/>
                                          </p:stCondLst>
                                        </p:cTn>
                                        <p:tgtEl>
                                          <p:spTgt spid="110"/>
                                        </p:tgtEl>
                                        <p:attrNameLst>
                                          <p:attrName>style.visibility</p:attrName>
                                        </p:attrNameLst>
                                      </p:cBhvr>
                                      <p:to>
                                        <p:strVal val="visible"/>
                                      </p:to>
                                    </p:set>
                                    <p:animEffect transition="in" filter="fade">
                                      <p:cBhvr>
                                        <p:cTn id="47" dur="500"/>
                                        <p:tgtEl>
                                          <p:spTgt spid="110"/>
                                        </p:tgtEl>
                                      </p:cBhvr>
                                    </p:animEffect>
                                    <p:anim calcmode="lin" valueType="num">
                                      <p:cBhvr additive="base">
                                        <p:cTn id="48" dur="500" decel="100000" fill="hold"/>
                                        <p:tgtEl>
                                          <p:spTgt spid="110"/>
                                        </p:tgtEl>
                                        <p:attrNameLst>
                                          <p:attrName>ppt_x</p:attrName>
                                        </p:attrNameLst>
                                      </p:cBhvr>
                                      <p:tavLst>
                                        <p:tav tm="0">
                                          <p:val>
                                            <p:strVal val="#ppt_x-0.05"/>
                                          </p:val>
                                        </p:tav>
                                        <p:tav tm="100000">
                                          <p:val>
                                            <p:strVal val="#ppt_x"/>
                                          </p:val>
                                        </p:tav>
                                      </p:tavLst>
                                    </p:anim>
                                  </p:childTnLst>
                                </p:cTn>
                              </p:par>
                              <p:par>
                                <p:cTn id="49" presetID="42" presetClass="entr" presetSubtype="0" fill="hold" nodeType="withEffect">
                                  <p:stCondLst>
                                    <p:cond delay="830"/>
                                  </p:stCondLst>
                                  <p:childTnLst>
                                    <p:set>
                                      <p:cBhvr>
                                        <p:cTn id="50" dur="1" fill="hold">
                                          <p:stCondLst>
                                            <p:cond delay="0"/>
                                          </p:stCondLst>
                                        </p:cTn>
                                        <p:tgtEl>
                                          <p:spTgt spid="111"/>
                                        </p:tgtEl>
                                        <p:attrNameLst>
                                          <p:attrName>style.visibility</p:attrName>
                                        </p:attrNameLst>
                                      </p:cBhvr>
                                      <p:to>
                                        <p:strVal val="visible"/>
                                      </p:to>
                                    </p:set>
                                    <p:animEffect transition="in" filter="fade">
                                      <p:cBhvr>
                                        <p:cTn id="51" dur="500"/>
                                        <p:tgtEl>
                                          <p:spTgt spid="111"/>
                                        </p:tgtEl>
                                      </p:cBhvr>
                                    </p:animEffect>
                                    <p:anim calcmode="lin" valueType="num">
                                      <p:cBhvr additive="base">
                                        <p:cTn id="52" dur="500" decel="100000" fill="hold"/>
                                        <p:tgtEl>
                                          <p:spTgt spid="111"/>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830"/>
                                  </p:stCondLst>
                                  <p:childTnLst>
                                    <p:set>
                                      <p:cBhvr>
                                        <p:cTn id="54" dur="1" fill="hold">
                                          <p:stCondLst>
                                            <p:cond delay="0"/>
                                          </p:stCondLst>
                                        </p:cTn>
                                        <p:tgtEl>
                                          <p:spTgt spid="112"/>
                                        </p:tgtEl>
                                        <p:attrNameLst>
                                          <p:attrName>style.visibility</p:attrName>
                                        </p:attrNameLst>
                                      </p:cBhvr>
                                      <p:to>
                                        <p:strVal val="visible"/>
                                      </p:to>
                                    </p:set>
                                    <p:animEffect transition="in" filter="fade">
                                      <p:cBhvr>
                                        <p:cTn id="55" dur="500"/>
                                        <p:tgtEl>
                                          <p:spTgt spid="112"/>
                                        </p:tgtEl>
                                      </p:cBhvr>
                                    </p:animEffect>
                                    <p:anim calcmode="lin" valueType="num">
                                      <p:cBhvr additive="base">
                                        <p:cTn id="56" dur="500" decel="100000" fill="hold"/>
                                        <p:tgtEl>
                                          <p:spTgt spid="112"/>
                                        </p:tgtEl>
                                        <p:attrNameLst>
                                          <p:attrName>ppt_x</p:attrName>
                                        </p:attrNameLst>
                                      </p:cBhvr>
                                      <p:tavLst>
                                        <p:tav tm="0">
                                          <p:val>
                                            <p:strVal val="#ppt_x-0.05"/>
                                          </p:val>
                                        </p:tav>
                                        <p:tav tm="100000">
                                          <p:val>
                                            <p:strVal val="#ppt_x"/>
                                          </p:val>
                                        </p:tav>
                                      </p:tavLst>
                                    </p:anim>
                                  </p:childTnLst>
                                </p:cTn>
                              </p:par>
                              <p:par>
                                <p:cTn id="57" presetID="42" presetClass="entr" presetSubtype="0" fill="hold" grpId="0" nodeType="withEffect">
                                  <p:stCondLst>
                                    <p:cond delay="100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100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ppt_x</p:attrName>
                                        </p:attrNameLst>
                                      </p:cBhvr>
                                      <p:tavLst>
                                        <p:tav tm="0">
                                          <p:val>
                                            <p:strVal val="#ppt_x-0.05"/>
                                          </p:val>
                                        </p:tav>
                                        <p:tav tm="100000">
                                          <p:val>
                                            <p:strVal val="#ppt_x"/>
                                          </p:val>
                                        </p:tav>
                                      </p:tavLst>
                                    </p:anim>
                                  </p:childTnLst>
                                </p:cTn>
                              </p:par>
                              <p:par>
                                <p:cTn id="65" presetID="42" presetClass="entr" presetSubtype="0" fill="hold" nodeType="withEffect">
                                  <p:stCondLst>
                                    <p:cond delay="100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ppt_x</p:attrName>
                                        </p:attrNameLst>
                                      </p:cBhvr>
                                      <p:tavLst>
                                        <p:tav tm="0">
                                          <p:val>
                                            <p:strVal val="#ppt_x-0.05"/>
                                          </p:val>
                                        </p:tav>
                                        <p:tav tm="100000">
                                          <p:val>
                                            <p:strVal val="#ppt_x"/>
                                          </p:val>
                                        </p:tav>
                                      </p:tavLst>
                                    </p:anim>
                                  </p:childTnLst>
                                </p:cTn>
                              </p:par>
                              <p:par>
                                <p:cTn id="69" presetID="42" presetClass="entr" presetSubtype="0" fill="hold" grpId="0" nodeType="withEffect">
                                  <p:stCondLst>
                                    <p:cond delay="100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ppt_x</p:attrName>
                                        </p:attrNameLst>
                                      </p:cBhvr>
                                      <p:tavLst>
                                        <p:tav tm="0">
                                          <p:val>
                                            <p:strVal val="#ppt_x-0.05"/>
                                          </p:val>
                                        </p:tav>
                                        <p:tav tm="100000">
                                          <p:val>
                                            <p:strVal val="#ppt_x"/>
                                          </p:val>
                                        </p:tav>
                                      </p:tavLst>
                                    </p:anim>
                                  </p:childTnLst>
                                </p:cTn>
                              </p:par>
                              <p:par>
                                <p:cTn id="73" presetID="42" presetClass="entr" presetSubtype="0" fill="hold" grpId="0" nodeType="withEffect">
                                  <p:stCondLst>
                                    <p:cond delay="1170"/>
                                  </p:stCondLst>
                                  <p:childTnLst>
                                    <p:set>
                                      <p:cBhvr>
                                        <p:cTn id="74" dur="1" fill="hold">
                                          <p:stCondLst>
                                            <p:cond delay="0"/>
                                          </p:stCondLst>
                                        </p:cTn>
                                        <p:tgtEl>
                                          <p:spTgt spid="119"/>
                                        </p:tgtEl>
                                        <p:attrNameLst>
                                          <p:attrName>style.visibility</p:attrName>
                                        </p:attrNameLst>
                                      </p:cBhvr>
                                      <p:to>
                                        <p:strVal val="visible"/>
                                      </p:to>
                                    </p:set>
                                    <p:animEffect transition="in" filter="fade">
                                      <p:cBhvr>
                                        <p:cTn id="75" dur="500"/>
                                        <p:tgtEl>
                                          <p:spTgt spid="119"/>
                                        </p:tgtEl>
                                      </p:cBhvr>
                                    </p:animEffect>
                                    <p:anim calcmode="lin" valueType="num">
                                      <p:cBhvr additive="base">
                                        <p:cTn id="76" dur="500" decel="100000" fill="hold"/>
                                        <p:tgtEl>
                                          <p:spTgt spid="119"/>
                                        </p:tgtEl>
                                        <p:attrNameLst>
                                          <p:attrName>ppt_x</p:attrName>
                                        </p:attrNameLst>
                                      </p:cBhvr>
                                      <p:tavLst>
                                        <p:tav tm="0">
                                          <p:val>
                                            <p:strVal val="#ppt_x-0.05"/>
                                          </p:val>
                                        </p:tav>
                                        <p:tav tm="100000">
                                          <p:val>
                                            <p:strVal val="#ppt_x"/>
                                          </p:val>
                                        </p:tav>
                                      </p:tavLst>
                                    </p:anim>
                                  </p:childTnLst>
                                </p:cTn>
                              </p:par>
                              <p:par>
                                <p:cTn id="77" presetID="42" presetClass="entr" presetSubtype="0" fill="hold" grpId="0" nodeType="withEffect">
                                  <p:stCondLst>
                                    <p:cond delay="1170"/>
                                  </p:stCondLst>
                                  <p:childTnLst>
                                    <p:set>
                                      <p:cBhvr>
                                        <p:cTn id="78" dur="1" fill="hold">
                                          <p:stCondLst>
                                            <p:cond delay="0"/>
                                          </p:stCondLst>
                                        </p:cTn>
                                        <p:tgtEl>
                                          <p:spTgt spid="120"/>
                                        </p:tgtEl>
                                        <p:attrNameLst>
                                          <p:attrName>style.visibility</p:attrName>
                                        </p:attrNameLst>
                                      </p:cBhvr>
                                      <p:to>
                                        <p:strVal val="visible"/>
                                      </p:to>
                                    </p:set>
                                    <p:animEffect transition="in" filter="fade">
                                      <p:cBhvr>
                                        <p:cTn id="79" dur="500"/>
                                        <p:tgtEl>
                                          <p:spTgt spid="120"/>
                                        </p:tgtEl>
                                      </p:cBhvr>
                                    </p:animEffect>
                                    <p:anim calcmode="lin" valueType="num">
                                      <p:cBhvr additive="base">
                                        <p:cTn id="80" dur="500" decel="100000" fill="hold"/>
                                        <p:tgtEl>
                                          <p:spTgt spid="120"/>
                                        </p:tgtEl>
                                        <p:attrNameLst>
                                          <p:attrName>ppt_x</p:attrName>
                                        </p:attrNameLst>
                                      </p:cBhvr>
                                      <p:tavLst>
                                        <p:tav tm="0">
                                          <p:val>
                                            <p:strVal val="#ppt_x-0.05"/>
                                          </p:val>
                                        </p:tav>
                                        <p:tav tm="100000">
                                          <p:val>
                                            <p:strVal val="#ppt_x"/>
                                          </p:val>
                                        </p:tav>
                                      </p:tavLst>
                                    </p:anim>
                                  </p:childTnLst>
                                </p:cTn>
                              </p:par>
                              <p:par>
                                <p:cTn id="81" presetID="42" presetClass="entr" presetSubtype="0" fill="hold" nodeType="withEffect">
                                  <p:stCondLst>
                                    <p:cond delay="1170"/>
                                  </p:stCondLst>
                                  <p:childTnLst>
                                    <p:set>
                                      <p:cBhvr>
                                        <p:cTn id="82" dur="1" fill="hold">
                                          <p:stCondLst>
                                            <p:cond delay="0"/>
                                          </p:stCondLst>
                                        </p:cTn>
                                        <p:tgtEl>
                                          <p:spTgt spid="121"/>
                                        </p:tgtEl>
                                        <p:attrNameLst>
                                          <p:attrName>style.visibility</p:attrName>
                                        </p:attrNameLst>
                                      </p:cBhvr>
                                      <p:to>
                                        <p:strVal val="visible"/>
                                      </p:to>
                                    </p:set>
                                    <p:animEffect transition="in" filter="fade">
                                      <p:cBhvr>
                                        <p:cTn id="83" dur="500"/>
                                        <p:tgtEl>
                                          <p:spTgt spid="121"/>
                                        </p:tgtEl>
                                      </p:cBhvr>
                                    </p:animEffect>
                                    <p:anim calcmode="lin" valueType="num">
                                      <p:cBhvr additive="base">
                                        <p:cTn id="84" dur="500" decel="100000" fill="hold"/>
                                        <p:tgtEl>
                                          <p:spTgt spid="121"/>
                                        </p:tgtEl>
                                        <p:attrNameLst>
                                          <p:attrName>ppt_x</p:attrName>
                                        </p:attrNameLst>
                                      </p:cBhvr>
                                      <p:tavLst>
                                        <p:tav tm="0">
                                          <p:val>
                                            <p:strVal val="#ppt_x-0.05"/>
                                          </p:val>
                                        </p:tav>
                                        <p:tav tm="100000">
                                          <p:val>
                                            <p:strVal val="#ppt_x"/>
                                          </p:val>
                                        </p:tav>
                                      </p:tavLst>
                                    </p:anim>
                                  </p:childTnLst>
                                </p:cTn>
                              </p:par>
                              <p:par>
                                <p:cTn id="85" presetID="42" presetClass="entr" presetSubtype="0" fill="hold" grpId="0" nodeType="withEffect">
                                  <p:stCondLst>
                                    <p:cond delay="1170"/>
                                  </p:stCondLst>
                                  <p:childTnLst>
                                    <p:set>
                                      <p:cBhvr>
                                        <p:cTn id="86" dur="1" fill="hold">
                                          <p:stCondLst>
                                            <p:cond delay="0"/>
                                          </p:stCondLst>
                                        </p:cTn>
                                        <p:tgtEl>
                                          <p:spTgt spid="122"/>
                                        </p:tgtEl>
                                        <p:attrNameLst>
                                          <p:attrName>style.visibility</p:attrName>
                                        </p:attrNameLst>
                                      </p:cBhvr>
                                      <p:to>
                                        <p:strVal val="visible"/>
                                      </p:to>
                                    </p:set>
                                    <p:animEffect transition="in" filter="fade">
                                      <p:cBhvr>
                                        <p:cTn id="87" dur="500"/>
                                        <p:tgtEl>
                                          <p:spTgt spid="122"/>
                                        </p:tgtEl>
                                      </p:cBhvr>
                                    </p:animEffect>
                                    <p:anim calcmode="lin" valueType="num">
                                      <p:cBhvr additive="base">
                                        <p:cTn id="88" dur="500" decel="100000" fill="hold"/>
                                        <p:tgtEl>
                                          <p:spTgt spid="122"/>
                                        </p:tgtEl>
                                        <p:attrNameLst>
                                          <p:attrName>ppt_x</p:attrName>
                                        </p:attrNameLst>
                                      </p:cBhvr>
                                      <p:tavLst>
                                        <p:tav tm="0">
                                          <p:val>
                                            <p:strVal val="#ppt_x-0.05"/>
                                          </p:val>
                                        </p:tav>
                                        <p:tav tm="100000">
                                          <p:val>
                                            <p:strVal val="#ppt_x"/>
                                          </p:val>
                                        </p:tav>
                                      </p:tavLst>
                                    </p:anim>
                                  </p:childTnLst>
                                </p:cTn>
                              </p:par>
                            </p:childTnLst>
                          </p:cTn>
                        </p:par>
                      </p:childTnLst>
                    </p:cTn>
                  </p:par>
                  <p:par>
                    <p:cTn id="89" fill="hold">
                      <p:stCondLst>
                        <p:cond delay="indefinite"/>
                      </p:stCondLst>
                      <p:childTnLst>
                        <p:par>
                          <p:cTn id="90" fill="hold">
                            <p:stCondLst>
                              <p:cond delay="0"/>
                            </p:stCondLst>
                            <p:childTnLst>
                              <p:par>
                                <p:cTn id="91" presetID="42" presetClass="entr" presetSubtype="0" fill="hold" grpId="0" nodeType="clickEffect">
                                  <p:stCondLst>
                                    <p:cond delay="0"/>
                                  </p:stCondLst>
                                  <p:childTnLst>
                                    <p:set>
                                      <p:cBhvr>
                                        <p:cTn id="92" dur="1" fill="hold">
                                          <p:stCondLst>
                                            <p:cond delay="0"/>
                                          </p:stCondLst>
                                        </p:cTn>
                                        <p:tgtEl>
                                          <p:spTgt spid="123"/>
                                        </p:tgtEl>
                                        <p:attrNameLst>
                                          <p:attrName>style.visibility</p:attrName>
                                        </p:attrNameLst>
                                      </p:cBhvr>
                                      <p:to>
                                        <p:strVal val="visible"/>
                                      </p:to>
                                    </p:set>
                                    <p:animEffect transition="in" filter="fade">
                                      <p:cBhvr>
                                        <p:cTn id="93" dur="500"/>
                                        <p:tgtEl>
                                          <p:spTgt spid="123"/>
                                        </p:tgtEl>
                                      </p:cBhvr>
                                    </p:animEffect>
                                    <p:anim calcmode="lin" valueType="num">
                                      <p:cBhvr additive="base">
                                        <p:cTn id="94" dur="500" decel="100000" fill="hold"/>
                                        <p:tgtEl>
                                          <p:spTgt spid="123"/>
                                        </p:tgtEl>
                                        <p:attrNameLst>
                                          <p:attrName>ppt_y</p:attrName>
                                        </p:attrNameLst>
                                      </p:cBhvr>
                                      <p:tavLst>
                                        <p:tav tm="0">
                                          <p:val>
                                            <p:strVal val="#ppt_y+0.06"/>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42" presetClass="entr" presetSubtype="0" fill="hold" grpId="0" nodeType="clickEffect">
                                  <p:stCondLst>
                                    <p:cond delay="0"/>
                                  </p:stCondLst>
                                  <p:childTnLst>
                                    <p:set>
                                      <p:cBhvr>
                                        <p:cTn id="98" dur="1" fill="hold">
                                          <p:stCondLst>
                                            <p:cond delay="0"/>
                                          </p:stCondLst>
                                        </p:cTn>
                                        <p:tgtEl>
                                          <p:spTgt spid="124"/>
                                        </p:tgtEl>
                                        <p:attrNameLst>
                                          <p:attrName>style.visibility</p:attrName>
                                        </p:attrNameLst>
                                      </p:cBhvr>
                                      <p:to>
                                        <p:strVal val="visible"/>
                                      </p:to>
                                    </p:set>
                                    <p:animEffect transition="in" filter="fade">
                                      <p:cBhvr>
                                        <p:cTn id="99" dur="500"/>
                                        <p:tgtEl>
                                          <p:spTgt spid="124"/>
                                        </p:tgtEl>
                                      </p:cBhvr>
                                    </p:animEffect>
                                    <p:anim calcmode="lin" valueType="num">
                                      <p:cBhvr additive="base">
                                        <p:cTn id="100" dur="500" decel="100000" fill="hold"/>
                                        <p:tgtEl>
                                          <p:spTgt spid="124"/>
                                        </p:tgtEl>
                                        <p:attrNameLst>
                                          <p:attrName>ppt_y</p:attrName>
                                        </p:attrNameLst>
                                      </p:cBhvr>
                                      <p:tavLst>
                                        <p:tav tm="0">
                                          <p:val>
                                            <p:strVal val="#ppt_y+0.06"/>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42" presetClass="entr" presetSubtype="0" fill="hold" grpId="0" nodeType="clickEffect">
                                  <p:stCondLst>
                                    <p:cond delay="0"/>
                                  </p:stCondLst>
                                  <p:childTnLst>
                                    <p:set>
                                      <p:cBhvr>
                                        <p:cTn id="104" dur="1" fill="hold">
                                          <p:stCondLst>
                                            <p:cond delay="0"/>
                                          </p:stCondLst>
                                        </p:cTn>
                                        <p:tgtEl>
                                          <p:spTgt spid="125"/>
                                        </p:tgtEl>
                                        <p:attrNameLst>
                                          <p:attrName>style.visibility</p:attrName>
                                        </p:attrNameLst>
                                      </p:cBhvr>
                                      <p:to>
                                        <p:strVal val="visible"/>
                                      </p:to>
                                    </p:set>
                                    <p:animEffect transition="in" filter="fade">
                                      <p:cBhvr>
                                        <p:cTn id="105" dur="500"/>
                                        <p:tgtEl>
                                          <p:spTgt spid="125"/>
                                        </p:tgtEl>
                                      </p:cBhvr>
                                    </p:animEffect>
                                    <p:anim calcmode="lin" valueType="num">
                                      <p:cBhvr additive="base">
                                        <p:cTn id="106" dur="500" decel="100000" fill="hold"/>
                                        <p:tgtEl>
                                          <p:spTgt spid="125"/>
                                        </p:tgtEl>
                                        <p:attrNameLst>
                                          <p:attrName>ppt_y</p:attrName>
                                        </p:attrNameLst>
                                      </p:cBhvr>
                                      <p:tavLst>
                                        <p:tav tm="0">
                                          <p:val>
                                            <p:strVal val="#ppt_y+0.06"/>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53" presetClass="entr" presetSubtype="16" fill="hold" grpId="0" nodeType="clickEffect">
                                  <p:stCondLst>
                                    <p:cond delay="0"/>
                                  </p:stCondLst>
                                  <p:childTnLst>
                                    <p:set>
                                      <p:cBhvr>
                                        <p:cTn id="110" dur="1" fill="hold">
                                          <p:stCondLst>
                                            <p:cond delay="0"/>
                                          </p:stCondLst>
                                        </p:cTn>
                                        <p:tgtEl>
                                          <p:spTgt spid="126"/>
                                        </p:tgtEl>
                                        <p:attrNameLst>
                                          <p:attrName>style.visibility</p:attrName>
                                        </p:attrNameLst>
                                      </p:cBhvr>
                                      <p:to>
                                        <p:strVal val="visible"/>
                                      </p:to>
                                    </p:set>
                                    <p:anim calcmode="lin" valueType="num">
                                      <p:cBhvr additive="base">
                                        <p:cTn id="111" dur="500" decel="100000" fill="hold"/>
                                        <p:tgtEl>
                                          <p:spTgt spid="126"/>
                                        </p:tgtEl>
                                        <p:attrNameLst>
                                          <p:attrName>ppt_w</p:attrName>
                                        </p:attrNameLst>
                                      </p:cBhvr>
                                      <p:tavLst>
                                        <p:tav tm="0">
                                          <p:val>
                                            <p:strVal val="#ppt_w*0.55"/>
                                          </p:val>
                                        </p:tav>
                                        <p:tav tm="100000">
                                          <p:val>
                                            <p:strVal val="#ppt_w"/>
                                          </p:val>
                                        </p:tav>
                                      </p:tavLst>
                                    </p:anim>
                                    <p:anim calcmode="lin" valueType="num">
                                      <p:cBhvr additive="base">
                                        <p:cTn id="112" dur="500" decel="100000" fill="hold"/>
                                        <p:tgtEl>
                                          <p:spTgt spid="126"/>
                                        </p:tgtEl>
                                        <p:attrNameLst>
                                          <p:attrName>ppt_h</p:attrName>
                                        </p:attrNameLst>
                                      </p:cBhvr>
                                      <p:tavLst>
                                        <p:tav tm="0">
                                          <p:val>
                                            <p:strVal val="#ppt_h*0.55"/>
                                          </p:val>
                                        </p:tav>
                                        <p:tav tm="100000">
                                          <p:val>
                                            <p:strVal val="#ppt_h"/>
                                          </p:val>
                                        </p:tav>
                                      </p:tavLst>
                                    </p:anim>
                                    <p:animEffect transition="in" filter="fade">
                                      <p:cBhvr>
                                        <p:cTn id="113"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7" grpId="0" animBg="1"/>
      <p:bldP spid="109" grpId="0" animBg="1"/>
      <p:bldP spid="110" grpId="0" animBg="1"/>
      <p:bldP spid="112" grpId="0" animBg="1"/>
      <p:bldP spid="114" grpId="0" animBg="1"/>
      <p:bldP spid="115" grpId="0" animBg="1"/>
      <p:bldP spid="117" grpId="0" animBg="1"/>
      <p:bldP spid="119" grpId="0" animBg="1"/>
      <p:bldP spid="120" grpId="0" animBg="1"/>
      <p:bldP spid="122" grpId="0" animBg="1"/>
      <p:bldP spid="123" grpId="0" animBg="1"/>
      <p:bldP spid="124" grpId="0" animBg="1"/>
      <p:bldP spid="125" grpId="0" animBg="1"/>
      <p:bldP spid="126"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VISUAL</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Different Ways to Execute the SAME SDLC</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METHODOLOGIES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186</a:t>
            </a:r>
            <a:endParaRPr lang="en-US" sz="850" dirty="0"/>
          </a:p>
        </p:txBody>
      </p:sp>
      <p:sp>
        <p:nvSpPr>
          <p:cNvPr id="101" name="s101"/>
          <p:cNvSpPr/>
          <p:nvPr/>
        </p:nvSpPr>
        <p:spPr>
          <a:xfrm>
            <a:off x="543154" y="1783080"/>
            <a:ext cx="1939442" cy="502920"/>
          </a:xfrm>
          <a:prstGeom prst="homePlate">
            <a:avLst>
              <a:gd name="adj" fmla="val 30000"/>
            </a:avLst>
          </a:prstGeom>
          <a:solidFill>
            <a:srgbClr val="005EB5">
              <a:alpha val="70000"/>
            </a:srgbClr>
          </a:solidFill>
          <a:ln w="12700">
            <a:solidFill>
              <a:srgbClr val="13D0F7">
                <a:alpha val="60000"/>
              </a:srgbClr>
            </a:solidFill>
            <a:prstDash val="solid"/>
          </a:ln>
        </p:spPr>
        <p:txBody>
          <a:bodyPr wrap="square" lIns="228600" tIns="0" rIns="13716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Requirements</a:t>
            </a:r>
            <a:endParaRPr lang="en-US" sz="1200" dirty="0"/>
          </a:p>
        </p:txBody>
      </p:sp>
      <p:sp>
        <p:nvSpPr>
          <p:cNvPr id="102" name="s102"/>
          <p:cNvSpPr/>
          <p:nvPr/>
        </p:nvSpPr>
        <p:spPr>
          <a:xfrm>
            <a:off x="2372868" y="1783080"/>
            <a:ext cx="1939442" cy="502920"/>
          </a:xfrm>
          <a:prstGeom prst="chevron">
            <a:avLst>
              <a:gd name="adj" fmla="val 30000"/>
            </a:avLst>
          </a:prstGeom>
          <a:solidFill>
            <a:srgbClr val="005EB5">
              <a:alpha val="70000"/>
            </a:srgbClr>
          </a:solidFill>
          <a:ln w="12700">
            <a:solidFill>
              <a:srgbClr val="13D0F7">
                <a:alpha val="60000"/>
              </a:srgbClr>
            </a:solidFill>
            <a:prstDash val="solid"/>
          </a:ln>
        </p:spPr>
        <p:txBody>
          <a:bodyPr wrap="square" lIns="228600" tIns="0" rIns="13716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Design</a:t>
            </a:r>
            <a:endParaRPr lang="en-US" sz="1200" dirty="0"/>
          </a:p>
        </p:txBody>
      </p:sp>
      <p:sp>
        <p:nvSpPr>
          <p:cNvPr id="103" name="s103"/>
          <p:cNvSpPr/>
          <p:nvPr/>
        </p:nvSpPr>
        <p:spPr>
          <a:xfrm>
            <a:off x="4202582" y="1783080"/>
            <a:ext cx="1939442" cy="502920"/>
          </a:xfrm>
          <a:prstGeom prst="chevron">
            <a:avLst>
              <a:gd name="adj" fmla="val 30000"/>
            </a:avLst>
          </a:prstGeom>
          <a:solidFill>
            <a:srgbClr val="005EB5">
              <a:alpha val="70000"/>
            </a:srgbClr>
          </a:solidFill>
          <a:ln w="12700">
            <a:solidFill>
              <a:srgbClr val="13D0F7">
                <a:alpha val="60000"/>
              </a:srgbClr>
            </a:solidFill>
            <a:prstDash val="solid"/>
          </a:ln>
        </p:spPr>
        <p:txBody>
          <a:bodyPr wrap="square" lIns="228600" tIns="0" rIns="13716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Build</a:t>
            </a:r>
            <a:endParaRPr lang="en-US" sz="1200" dirty="0"/>
          </a:p>
        </p:txBody>
      </p:sp>
      <p:sp>
        <p:nvSpPr>
          <p:cNvPr id="104" name="s104"/>
          <p:cNvSpPr/>
          <p:nvPr/>
        </p:nvSpPr>
        <p:spPr>
          <a:xfrm>
            <a:off x="6032297" y="1783080"/>
            <a:ext cx="1939442" cy="502920"/>
          </a:xfrm>
          <a:prstGeom prst="chevron">
            <a:avLst>
              <a:gd name="adj" fmla="val 30000"/>
            </a:avLst>
          </a:prstGeom>
          <a:solidFill>
            <a:srgbClr val="005EB5">
              <a:alpha val="70000"/>
            </a:srgbClr>
          </a:solidFill>
          <a:ln w="12700">
            <a:solidFill>
              <a:srgbClr val="13D0F7">
                <a:alpha val="60000"/>
              </a:srgbClr>
            </a:solidFill>
            <a:prstDash val="solid"/>
          </a:ln>
        </p:spPr>
        <p:txBody>
          <a:bodyPr wrap="square" lIns="228600" tIns="0" rIns="13716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Test</a:t>
            </a:r>
            <a:endParaRPr lang="en-US" sz="1200" dirty="0"/>
          </a:p>
        </p:txBody>
      </p:sp>
      <p:sp>
        <p:nvSpPr>
          <p:cNvPr id="105" name="s105"/>
          <p:cNvSpPr/>
          <p:nvPr/>
        </p:nvSpPr>
        <p:spPr>
          <a:xfrm>
            <a:off x="7862011" y="1783080"/>
            <a:ext cx="1939442" cy="502920"/>
          </a:xfrm>
          <a:prstGeom prst="chevron">
            <a:avLst>
              <a:gd name="adj" fmla="val 30000"/>
            </a:avLst>
          </a:prstGeom>
          <a:solidFill>
            <a:srgbClr val="005EB5">
              <a:alpha val="70000"/>
            </a:srgbClr>
          </a:solidFill>
          <a:ln w="12700">
            <a:solidFill>
              <a:srgbClr val="13D0F7">
                <a:alpha val="60000"/>
              </a:srgbClr>
            </a:solidFill>
            <a:prstDash val="solid"/>
          </a:ln>
        </p:spPr>
        <p:txBody>
          <a:bodyPr wrap="square" lIns="228600" tIns="0" rIns="13716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Deploy</a:t>
            </a:r>
            <a:endParaRPr lang="en-US" sz="1200" dirty="0"/>
          </a:p>
        </p:txBody>
      </p:sp>
      <p:sp>
        <p:nvSpPr>
          <p:cNvPr id="106" name="s106"/>
          <p:cNvSpPr/>
          <p:nvPr/>
        </p:nvSpPr>
        <p:spPr>
          <a:xfrm>
            <a:off x="9691726" y="1783080"/>
            <a:ext cx="1939442" cy="502920"/>
          </a:xfrm>
          <a:prstGeom prst="chevron">
            <a:avLst>
              <a:gd name="adj" fmla="val 30000"/>
            </a:avLst>
          </a:prstGeom>
          <a:solidFill>
            <a:srgbClr val="005EB5">
              <a:alpha val="70000"/>
            </a:srgbClr>
          </a:solidFill>
          <a:ln w="12700">
            <a:solidFill>
              <a:srgbClr val="13D0F7">
                <a:alpha val="60000"/>
              </a:srgbClr>
            </a:solidFill>
            <a:prstDash val="solid"/>
          </a:ln>
        </p:spPr>
        <p:txBody>
          <a:bodyPr wrap="square" lIns="228600" tIns="0" rIns="13716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Maintain</a:t>
            </a:r>
            <a:endParaRPr lang="en-US" sz="1200" dirty="0"/>
          </a:p>
        </p:txBody>
      </p:sp>
      <p:sp>
        <p:nvSpPr>
          <p:cNvPr id="107" name="s107"/>
          <p:cNvSpPr/>
          <p:nvPr/>
        </p:nvSpPr>
        <p:spPr>
          <a:xfrm>
            <a:off x="543154" y="2560320"/>
            <a:ext cx="3543605" cy="1024128"/>
          </a:xfrm>
          <a:prstGeom prst="roundRect">
            <a:avLst>
              <a:gd name="adj" fmla="val 12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08" name="s108"/>
          <p:cNvSpPr/>
          <p:nvPr/>
        </p:nvSpPr>
        <p:spPr>
          <a:xfrm>
            <a:off x="726034" y="2834640"/>
            <a:ext cx="475488" cy="475488"/>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09" name="img109"/>
          <p:cNvPicPr>
            <a:picLocks noChangeAspect="1"/>
          </p:cNvPicPr>
          <p:nvPr/>
        </p:nvPicPr>
        <p:blipFill>
          <a:blip r:embed="rId4"/>
          <a:stretch>
            <a:fillRect/>
          </a:stretch>
        </p:blipFill>
        <p:spPr>
          <a:xfrm>
            <a:off x="840151" y="2948757"/>
            <a:ext cx="247254" cy="247254"/>
          </a:xfrm>
          <a:prstGeom prst="rect">
            <a:avLst/>
          </a:prstGeom>
        </p:spPr>
      </p:pic>
      <p:sp>
        <p:nvSpPr>
          <p:cNvPr id="110" name="s110"/>
          <p:cNvSpPr txBox="1"/>
          <p:nvPr/>
        </p:nvSpPr>
        <p:spPr>
          <a:xfrm>
            <a:off x="1366114" y="2679192"/>
            <a:ext cx="2583485" cy="310896"/>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13D0F7"/>
                </a:solidFill>
                <a:latin typeface="Segoe UI"/>
                <a:ea typeface="Segoe UI"/>
                <a:cs typeface="Segoe UI"/>
              </a:rPr>
              <a:t>Waterfall</a:t>
            </a:r>
            <a:endParaRPr lang="en-US" sz="1400" dirty="0"/>
          </a:p>
        </p:txBody>
      </p:sp>
      <p:sp>
        <p:nvSpPr>
          <p:cNvPr id="111" name="s111"/>
          <p:cNvSpPr txBox="1"/>
          <p:nvPr/>
        </p:nvSpPr>
        <p:spPr>
          <a:xfrm>
            <a:off x="1366114" y="2990088"/>
            <a:ext cx="2583485"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0" dirty="0">
                <a:solidFill>
                  <a:srgbClr val="CBD5E1"/>
                </a:solidFill>
                <a:latin typeface="Segoe UI"/>
                <a:ea typeface="Segoe UI"/>
                <a:cs typeface="Segoe UI"/>
              </a:rPr>
              <a:t>One pass, phase after phase. Late change is expensive.</a:t>
            </a:r>
            <a:endParaRPr lang="en-US" sz="1150" dirty="0"/>
          </a:p>
        </p:txBody>
      </p:sp>
      <p:sp>
        <p:nvSpPr>
          <p:cNvPr id="112" name="s112"/>
          <p:cNvSpPr/>
          <p:nvPr/>
        </p:nvSpPr>
        <p:spPr>
          <a:xfrm>
            <a:off x="4315358" y="2560320"/>
            <a:ext cx="3543605" cy="1024128"/>
          </a:xfrm>
          <a:prstGeom prst="roundRect">
            <a:avLst>
              <a:gd name="adj" fmla="val 12000"/>
            </a:avLst>
          </a:prstGeom>
          <a:solidFill>
            <a:srgbClr val="111B2E"/>
          </a:solidFill>
          <a:ln w="12700">
            <a:solidFill>
              <a:srgbClr val="60A5FA"/>
            </a:solidFill>
            <a:prstDash val="solid"/>
          </a:ln>
        </p:spPr>
        <p:txBody>
          <a:bodyPr wrap="square" lIns="164592" tIns="109728" rIns="137160" bIns="91440" rtlCol="0" anchor="t">
            <a:noAutofit/>
          </a:bodyPr>
          <a:lstStyle/>
          <a:p>
            <a:endParaRPr lang="en-US"/>
          </a:p>
        </p:txBody>
      </p:sp>
      <p:sp>
        <p:nvSpPr>
          <p:cNvPr id="113" name="s113"/>
          <p:cNvSpPr/>
          <p:nvPr/>
        </p:nvSpPr>
        <p:spPr>
          <a:xfrm>
            <a:off x="4498238" y="2834640"/>
            <a:ext cx="475488" cy="475488"/>
          </a:xfrm>
          <a:prstGeom prst="ellipse">
            <a:avLst/>
          </a:prstGeom>
          <a:solidFill>
            <a:srgbClr val="60A5FA">
              <a:alpha val="16000"/>
            </a:srgbClr>
          </a:solidFill>
          <a:ln w="12700">
            <a:solidFill>
              <a:srgbClr val="60A5FA">
                <a:alpha val="55000"/>
              </a:srgbClr>
            </a:solidFill>
            <a:prstDash val="solid"/>
          </a:ln>
        </p:spPr>
        <p:txBody>
          <a:bodyPr wrap="square" lIns="164592" tIns="109728" rIns="137160" bIns="91440" rtlCol="0" anchor="t">
            <a:noAutofit/>
          </a:bodyPr>
          <a:lstStyle/>
          <a:p>
            <a:endParaRPr lang="en-US"/>
          </a:p>
        </p:txBody>
      </p:sp>
      <p:pic>
        <p:nvPicPr>
          <p:cNvPr id="114" name="img114"/>
          <p:cNvPicPr>
            <a:picLocks noChangeAspect="1"/>
          </p:cNvPicPr>
          <p:nvPr/>
        </p:nvPicPr>
        <p:blipFill>
          <a:blip r:embed="rId5"/>
          <a:stretch>
            <a:fillRect/>
          </a:stretch>
        </p:blipFill>
        <p:spPr>
          <a:xfrm>
            <a:off x="4612356" y="2948757"/>
            <a:ext cx="247254" cy="247254"/>
          </a:xfrm>
          <a:prstGeom prst="rect">
            <a:avLst/>
          </a:prstGeom>
        </p:spPr>
      </p:pic>
      <p:sp>
        <p:nvSpPr>
          <p:cNvPr id="115" name="s115"/>
          <p:cNvSpPr txBox="1"/>
          <p:nvPr/>
        </p:nvSpPr>
        <p:spPr>
          <a:xfrm>
            <a:off x="5138318" y="2679192"/>
            <a:ext cx="2583485" cy="310896"/>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60A5FA"/>
                </a:solidFill>
                <a:latin typeface="Segoe UI"/>
                <a:ea typeface="Segoe UI"/>
                <a:cs typeface="Segoe UI"/>
              </a:rPr>
              <a:t>V-Model</a:t>
            </a:r>
            <a:endParaRPr lang="en-US" sz="1400" dirty="0"/>
          </a:p>
        </p:txBody>
      </p:sp>
      <p:sp>
        <p:nvSpPr>
          <p:cNvPr id="116" name="s116"/>
          <p:cNvSpPr txBox="1"/>
          <p:nvPr/>
        </p:nvSpPr>
        <p:spPr>
          <a:xfrm>
            <a:off x="5138318" y="2990088"/>
            <a:ext cx="2583485"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0" dirty="0">
                <a:solidFill>
                  <a:srgbClr val="CBD5E1"/>
                </a:solidFill>
                <a:latin typeface="Segoe UI"/>
                <a:ea typeface="Segoe UI"/>
                <a:cs typeface="Segoe UI"/>
              </a:rPr>
              <a:t>Every build phase is paired with a test level.</a:t>
            </a:r>
            <a:endParaRPr lang="en-US" sz="1150" dirty="0"/>
          </a:p>
        </p:txBody>
      </p:sp>
      <p:sp>
        <p:nvSpPr>
          <p:cNvPr id="117" name="s117"/>
          <p:cNvSpPr/>
          <p:nvPr/>
        </p:nvSpPr>
        <p:spPr>
          <a:xfrm>
            <a:off x="8087563" y="2560320"/>
            <a:ext cx="3543605" cy="1024128"/>
          </a:xfrm>
          <a:prstGeom prst="roundRect">
            <a:avLst>
              <a:gd name="adj" fmla="val 12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18" name="s118"/>
          <p:cNvSpPr/>
          <p:nvPr/>
        </p:nvSpPr>
        <p:spPr>
          <a:xfrm>
            <a:off x="8270443" y="2834640"/>
            <a:ext cx="475488" cy="475488"/>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19" name="img119"/>
          <p:cNvPicPr>
            <a:picLocks noChangeAspect="1"/>
          </p:cNvPicPr>
          <p:nvPr/>
        </p:nvPicPr>
        <p:blipFill>
          <a:blip r:embed="rId6"/>
          <a:stretch>
            <a:fillRect/>
          </a:stretch>
        </p:blipFill>
        <p:spPr>
          <a:xfrm>
            <a:off x="8384560" y="2948757"/>
            <a:ext cx="247254" cy="247254"/>
          </a:xfrm>
          <a:prstGeom prst="rect">
            <a:avLst/>
          </a:prstGeom>
        </p:spPr>
      </p:pic>
      <p:sp>
        <p:nvSpPr>
          <p:cNvPr id="120" name="s120"/>
          <p:cNvSpPr txBox="1"/>
          <p:nvPr/>
        </p:nvSpPr>
        <p:spPr>
          <a:xfrm>
            <a:off x="8910523" y="2679192"/>
            <a:ext cx="2583485" cy="310896"/>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A78BFA"/>
                </a:solidFill>
                <a:latin typeface="Segoe UI"/>
                <a:ea typeface="Segoe UI"/>
                <a:cs typeface="Segoe UI"/>
              </a:rPr>
              <a:t>Spiral</a:t>
            </a:r>
            <a:endParaRPr lang="en-US" sz="1400" dirty="0"/>
          </a:p>
        </p:txBody>
      </p:sp>
      <p:sp>
        <p:nvSpPr>
          <p:cNvPr id="121" name="s121"/>
          <p:cNvSpPr txBox="1"/>
          <p:nvPr/>
        </p:nvSpPr>
        <p:spPr>
          <a:xfrm>
            <a:off x="8910523" y="2990088"/>
            <a:ext cx="2583485"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0" dirty="0">
                <a:solidFill>
                  <a:srgbClr val="CBD5E1"/>
                </a:solidFill>
                <a:latin typeface="Segoe UI"/>
                <a:ea typeface="Segoe UI"/>
                <a:cs typeface="Segoe UI"/>
              </a:rPr>
              <a:t>Risk-driven loops: plan, analyse risk, build, evaluate.</a:t>
            </a:r>
            <a:endParaRPr lang="en-US" sz="1150" dirty="0"/>
          </a:p>
        </p:txBody>
      </p:sp>
      <p:sp>
        <p:nvSpPr>
          <p:cNvPr id="122" name="s122"/>
          <p:cNvSpPr/>
          <p:nvPr/>
        </p:nvSpPr>
        <p:spPr>
          <a:xfrm>
            <a:off x="543154" y="3749040"/>
            <a:ext cx="3543605" cy="1024128"/>
          </a:xfrm>
          <a:prstGeom prst="roundRect">
            <a:avLst>
              <a:gd name="adj" fmla="val 12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23" name="s123"/>
          <p:cNvSpPr/>
          <p:nvPr/>
        </p:nvSpPr>
        <p:spPr>
          <a:xfrm>
            <a:off x="726034" y="4023360"/>
            <a:ext cx="475488" cy="475488"/>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24" name="img124"/>
          <p:cNvPicPr>
            <a:picLocks noChangeAspect="1"/>
          </p:cNvPicPr>
          <p:nvPr/>
        </p:nvPicPr>
        <p:blipFill>
          <a:blip r:embed="rId7"/>
          <a:stretch>
            <a:fillRect/>
          </a:stretch>
        </p:blipFill>
        <p:spPr>
          <a:xfrm>
            <a:off x="840151" y="4137477"/>
            <a:ext cx="247254" cy="247254"/>
          </a:xfrm>
          <a:prstGeom prst="rect">
            <a:avLst/>
          </a:prstGeom>
        </p:spPr>
      </p:pic>
      <p:sp>
        <p:nvSpPr>
          <p:cNvPr id="125" name="s125"/>
          <p:cNvSpPr txBox="1"/>
          <p:nvPr/>
        </p:nvSpPr>
        <p:spPr>
          <a:xfrm>
            <a:off x="1366114" y="3867912"/>
            <a:ext cx="2583485" cy="310896"/>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FBBF24"/>
                </a:solidFill>
                <a:latin typeface="Segoe UI"/>
                <a:ea typeface="Segoe UI"/>
                <a:cs typeface="Segoe UI"/>
              </a:rPr>
              <a:t>Incremental</a:t>
            </a:r>
            <a:endParaRPr lang="en-US" sz="1400" dirty="0"/>
          </a:p>
        </p:txBody>
      </p:sp>
      <p:sp>
        <p:nvSpPr>
          <p:cNvPr id="126" name="s126"/>
          <p:cNvSpPr txBox="1"/>
          <p:nvPr/>
        </p:nvSpPr>
        <p:spPr>
          <a:xfrm>
            <a:off x="1366114" y="4178808"/>
            <a:ext cx="2583485"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0" dirty="0">
                <a:solidFill>
                  <a:srgbClr val="CBD5E1"/>
                </a:solidFill>
                <a:latin typeface="Segoe UI"/>
                <a:ea typeface="Segoe UI"/>
                <a:cs typeface="Segoe UI"/>
              </a:rPr>
              <a:t>Deliver the system in usable pieces.</a:t>
            </a:r>
            <a:endParaRPr lang="en-US" sz="1150" dirty="0"/>
          </a:p>
        </p:txBody>
      </p:sp>
      <p:sp>
        <p:nvSpPr>
          <p:cNvPr id="127" name="s127"/>
          <p:cNvSpPr/>
          <p:nvPr/>
        </p:nvSpPr>
        <p:spPr>
          <a:xfrm>
            <a:off x="4315358" y="3749040"/>
            <a:ext cx="3543605" cy="1024128"/>
          </a:xfrm>
          <a:prstGeom prst="roundRect">
            <a:avLst>
              <a:gd name="adj" fmla="val 12000"/>
            </a:avLst>
          </a:prstGeom>
          <a:solidFill>
            <a:srgbClr val="111B2E"/>
          </a:solidFill>
          <a:ln w="12700">
            <a:solidFill>
              <a:srgbClr val="F472B6"/>
            </a:solidFill>
            <a:prstDash val="solid"/>
          </a:ln>
        </p:spPr>
        <p:txBody>
          <a:bodyPr wrap="square" lIns="164592" tIns="109728" rIns="137160" bIns="91440" rtlCol="0" anchor="t">
            <a:noAutofit/>
          </a:bodyPr>
          <a:lstStyle/>
          <a:p>
            <a:endParaRPr lang="en-US"/>
          </a:p>
        </p:txBody>
      </p:sp>
      <p:sp>
        <p:nvSpPr>
          <p:cNvPr id="128" name="s128"/>
          <p:cNvSpPr/>
          <p:nvPr/>
        </p:nvSpPr>
        <p:spPr>
          <a:xfrm>
            <a:off x="4498238" y="4023360"/>
            <a:ext cx="475488" cy="475488"/>
          </a:xfrm>
          <a:prstGeom prst="ellipse">
            <a:avLst/>
          </a:prstGeom>
          <a:solidFill>
            <a:srgbClr val="F472B6">
              <a:alpha val="16000"/>
            </a:srgbClr>
          </a:solidFill>
          <a:ln w="12700">
            <a:solidFill>
              <a:srgbClr val="F472B6">
                <a:alpha val="55000"/>
              </a:srgbClr>
            </a:solidFill>
            <a:prstDash val="solid"/>
          </a:ln>
        </p:spPr>
        <p:txBody>
          <a:bodyPr wrap="square" lIns="164592" tIns="109728" rIns="137160" bIns="91440" rtlCol="0" anchor="t">
            <a:noAutofit/>
          </a:bodyPr>
          <a:lstStyle/>
          <a:p>
            <a:endParaRPr lang="en-US"/>
          </a:p>
        </p:txBody>
      </p:sp>
      <p:pic>
        <p:nvPicPr>
          <p:cNvPr id="129" name="img129"/>
          <p:cNvPicPr>
            <a:picLocks noChangeAspect="1"/>
          </p:cNvPicPr>
          <p:nvPr/>
        </p:nvPicPr>
        <p:blipFill>
          <a:blip r:embed="rId8"/>
          <a:stretch>
            <a:fillRect/>
          </a:stretch>
        </p:blipFill>
        <p:spPr>
          <a:xfrm>
            <a:off x="4612356" y="4137477"/>
            <a:ext cx="247254" cy="247254"/>
          </a:xfrm>
          <a:prstGeom prst="rect">
            <a:avLst/>
          </a:prstGeom>
        </p:spPr>
      </p:pic>
      <p:sp>
        <p:nvSpPr>
          <p:cNvPr id="130" name="s130"/>
          <p:cNvSpPr txBox="1"/>
          <p:nvPr/>
        </p:nvSpPr>
        <p:spPr>
          <a:xfrm>
            <a:off x="5138318" y="3867912"/>
            <a:ext cx="2583485" cy="310896"/>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F472B6"/>
                </a:solidFill>
                <a:latin typeface="Segoe UI"/>
                <a:ea typeface="Segoe UI"/>
                <a:cs typeface="Segoe UI"/>
              </a:rPr>
              <a:t>Iterative</a:t>
            </a:r>
            <a:endParaRPr lang="en-US" sz="1400" dirty="0"/>
          </a:p>
        </p:txBody>
      </p:sp>
      <p:sp>
        <p:nvSpPr>
          <p:cNvPr id="131" name="s131"/>
          <p:cNvSpPr txBox="1"/>
          <p:nvPr/>
        </p:nvSpPr>
        <p:spPr>
          <a:xfrm>
            <a:off x="5138318" y="4178808"/>
            <a:ext cx="2583485"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0" dirty="0">
                <a:solidFill>
                  <a:srgbClr val="CBD5E1"/>
                </a:solidFill>
                <a:latin typeface="Segoe UI"/>
                <a:ea typeface="Segoe UI"/>
                <a:cs typeface="Segoe UI"/>
              </a:rPr>
              <a:t>Rebuild and refine the whole in repeated cycles.</a:t>
            </a:r>
            <a:endParaRPr lang="en-US" sz="1150" dirty="0"/>
          </a:p>
        </p:txBody>
      </p:sp>
      <p:sp>
        <p:nvSpPr>
          <p:cNvPr id="132" name="s132"/>
          <p:cNvSpPr/>
          <p:nvPr/>
        </p:nvSpPr>
        <p:spPr>
          <a:xfrm>
            <a:off x="8087563" y="3749040"/>
            <a:ext cx="3543605" cy="1024128"/>
          </a:xfrm>
          <a:prstGeom prst="roundRect">
            <a:avLst>
              <a:gd name="adj" fmla="val 12000"/>
            </a:avLst>
          </a:prstGeom>
          <a:solidFill>
            <a:srgbClr val="34D399">
              <a:alpha val="12000"/>
            </a:srgbClr>
          </a:solidFill>
          <a:ln w="25400">
            <a:solidFill>
              <a:srgbClr val="34D399"/>
            </a:solidFill>
            <a:prstDash val="solid"/>
          </a:ln>
        </p:spPr>
        <p:txBody>
          <a:bodyPr wrap="square" lIns="164592" tIns="109728" rIns="137160" bIns="91440" rtlCol="0" anchor="t">
            <a:noAutofit/>
          </a:bodyPr>
          <a:lstStyle/>
          <a:p>
            <a:endParaRPr lang="en-US"/>
          </a:p>
        </p:txBody>
      </p:sp>
      <p:sp>
        <p:nvSpPr>
          <p:cNvPr id="133" name="s133"/>
          <p:cNvSpPr/>
          <p:nvPr/>
        </p:nvSpPr>
        <p:spPr>
          <a:xfrm>
            <a:off x="8270443" y="4023360"/>
            <a:ext cx="475488" cy="475488"/>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34" name="img134"/>
          <p:cNvPicPr>
            <a:picLocks noChangeAspect="1"/>
          </p:cNvPicPr>
          <p:nvPr/>
        </p:nvPicPr>
        <p:blipFill>
          <a:blip r:embed="rId9"/>
          <a:stretch>
            <a:fillRect/>
          </a:stretch>
        </p:blipFill>
        <p:spPr>
          <a:xfrm>
            <a:off x="8384560" y="4137477"/>
            <a:ext cx="247254" cy="247254"/>
          </a:xfrm>
          <a:prstGeom prst="rect">
            <a:avLst/>
          </a:prstGeom>
        </p:spPr>
      </p:pic>
      <p:sp>
        <p:nvSpPr>
          <p:cNvPr id="135" name="s135"/>
          <p:cNvSpPr txBox="1"/>
          <p:nvPr/>
        </p:nvSpPr>
        <p:spPr>
          <a:xfrm>
            <a:off x="8910523" y="3867912"/>
            <a:ext cx="2583485" cy="310896"/>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34D399"/>
                </a:solidFill>
                <a:latin typeface="Segoe UI"/>
                <a:ea typeface="Segoe UI"/>
                <a:cs typeface="Segoe UI"/>
              </a:rPr>
              <a:t>Agile</a:t>
            </a:r>
            <a:endParaRPr lang="en-US" sz="1400" dirty="0"/>
          </a:p>
        </p:txBody>
      </p:sp>
      <p:sp>
        <p:nvSpPr>
          <p:cNvPr id="136" name="s136"/>
          <p:cNvSpPr txBox="1"/>
          <p:nvPr/>
        </p:nvSpPr>
        <p:spPr>
          <a:xfrm>
            <a:off x="8910523" y="4178808"/>
            <a:ext cx="2583485"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0" dirty="0">
                <a:solidFill>
                  <a:srgbClr val="CBD5E1"/>
                </a:solidFill>
                <a:latin typeface="Segoe UI"/>
                <a:ea typeface="Segoe UI"/>
                <a:cs typeface="Segoe UI"/>
              </a:rPr>
              <a:t>Small increments, constant feedback, adapt to change.</a:t>
            </a:r>
            <a:endParaRPr lang="en-US" sz="1150" dirty="0"/>
          </a:p>
        </p:txBody>
      </p:sp>
      <p:sp>
        <p:nvSpPr>
          <p:cNvPr id="137" name="s137"/>
          <p:cNvSpPr/>
          <p:nvPr/>
        </p:nvSpPr>
        <p:spPr>
          <a:xfrm>
            <a:off x="543154" y="5029200"/>
            <a:ext cx="11088014" cy="548640"/>
          </a:xfrm>
          <a:prstGeom prst="roundRect">
            <a:avLst>
              <a:gd name="adj" fmla="val 12000"/>
            </a:avLst>
          </a:prstGeom>
          <a:solidFill>
            <a:srgbClr val="111B2E"/>
          </a:solidFill>
          <a:ln w="12700">
            <a:solidFill>
              <a:srgbClr val="13D0F7"/>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0" dirty="0">
                <a:solidFill>
                  <a:srgbClr val="E2E8F0"/>
                </a:solidFill>
                <a:latin typeface="Segoe UI"/>
                <a:ea typeface="Segoe UI"/>
                <a:cs typeface="Segoe UI"/>
              </a:rPr>
              <a:t>All still use </a:t>
            </a:r>
            <a:r>
              <a:rPr lang="en-US" sz="1350" b="1" dirty="0">
                <a:solidFill>
                  <a:srgbClr val="FFFFFF"/>
                </a:solidFill>
                <a:latin typeface="Segoe UI"/>
                <a:ea typeface="Segoe UI"/>
                <a:cs typeface="Segoe UI"/>
              </a:rPr>
              <a:t>Requirements → … → Maintenance</a:t>
            </a:r>
            <a:r>
              <a:rPr lang="en-US" sz="1350" b="0" dirty="0">
                <a:solidFill>
                  <a:srgbClr val="E2E8F0"/>
                </a:solidFill>
                <a:latin typeface="Segoe UI"/>
                <a:ea typeface="Segoe UI"/>
                <a:cs typeface="Segoe UI"/>
              </a:rPr>
              <a:t>. They differ in </a:t>
            </a:r>
            <a:r>
              <a:rPr lang="en-US" sz="1350" b="1" dirty="0">
                <a:solidFill>
                  <a:srgbClr val="13D0F7"/>
                </a:solidFill>
                <a:latin typeface="Segoe UI"/>
                <a:ea typeface="Segoe UI"/>
                <a:cs typeface="Segoe UI"/>
              </a:rPr>
              <a:t>timing, feedback and risk</a:t>
            </a:r>
            <a:r>
              <a:rPr lang="en-US" sz="1350" b="0" dirty="0">
                <a:solidFill>
                  <a:srgbClr val="E2E8F0"/>
                </a:solidFill>
                <a:latin typeface="Segoe UI"/>
                <a:ea typeface="Segoe UI"/>
                <a:cs typeface="Segoe UI"/>
              </a:rPr>
              <a:t>.</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wipe(left)">
                                      <p:cBhvr>
                                        <p:cTn id="7" dur="350"/>
                                        <p:tgtEl>
                                          <p:spTgt spid="101"/>
                                        </p:tgtEl>
                                      </p:cBhvr>
                                    </p:animEffect>
                                  </p:childTnLst>
                                </p:cTn>
                              </p:par>
                              <p:par>
                                <p:cTn id="8" presetID="22" presetClass="entr" presetSubtype="8" fill="hold" grpId="0" nodeType="withEffect">
                                  <p:stCondLst>
                                    <p:cond delay="120"/>
                                  </p:stCondLst>
                                  <p:childTnLst>
                                    <p:set>
                                      <p:cBhvr>
                                        <p:cTn id="9" dur="1" fill="hold">
                                          <p:stCondLst>
                                            <p:cond delay="0"/>
                                          </p:stCondLst>
                                        </p:cTn>
                                        <p:tgtEl>
                                          <p:spTgt spid="102"/>
                                        </p:tgtEl>
                                        <p:attrNameLst>
                                          <p:attrName>style.visibility</p:attrName>
                                        </p:attrNameLst>
                                      </p:cBhvr>
                                      <p:to>
                                        <p:strVal val="visible"/>
                                      </p:to>
                                    </p:set>
                                    <p:animEffect transition="in" filter="wipe(left)">
                                      <p:cBhvr>
                                        <p:cTn id="10" dur="350"/>
                                        <p:tgtEl>
                                          <p:spTgt spid="102"/>
                                        </p:tgtEl>
                                      </p:cBhvr>
                                    </p:animEffect>
                                  </p:childTnLst>
                                </p:cTn>
                              </p:par>
                              <p:par>
                                <p:cTn id="11" presetID="22" presetClass="entr" presetSubtype="8" fill="hold" grpId="0" nodeType="withEffect">
                                  <p:stCondLst>
                                    <p:cond delay="240"/>
                                  </p:stCondLst>
                                  <p:childTnLst>
                                    <p:set>
                                      <p:cBhvr>
                                        <p:cTn id="12" dur="1" fill="hold">
                                          <p:stCondLst>
                                            <p:cond delay="0"/>
                                          </p:stCondLst>
                                        </p:cTn>
                                        <p:tgtEl>
                                          <p:spTgt spid="103"/>
                                        </p:tgtEl>
                                        <p:attrNameLst>
                                          <p:attrName>style.visibility</p:attrName>
                                        </p:attrNameLst>
                                      </p:cBhvr>
                                      <p:to>
                                        <p:strVal val="visible"/>
                                      </p:to>
                                    </p:set>
                                    <p:animEffect transition="in" filter="wipe(left)">
                                      <p:cBhvr>
                                        <p:cTn id="13" dur="350"/>
                                        <p:tgtEl>
                                          <p:spTgt spid="103"/>
                                        </p:tgtEl>
                                      </p:cBhvr>
                                    </p:animEffect>
                                  </p:childTnLst>
                                </p:cTn>
                              </p:par>
                              <p:par>
                                <p:cTn id="14" presetID="22" presetClass="entr" presetSubtype="8" fill="hold" grpId="0" nodeType="withEffect">
                                  <p:stCondLst>
                                    <p:cond delay="360"/>
                                  </p:stCondLst>
                                  <p:childTnLst>
                                    <p:set>
                                      <p:cBhvr>
                                        <p:cTn id="15" dur="1" fill="hold">
                                          <p:stCondLst>
                                            <p:cond delay="0"/>
                                          </p:stCondLst>
                                        </p:cTn>
                                        <p:tgtEl>
                                          <p:spTgt spid="104"/>
                                        </p:tgtEl>
                                        <p:attrNameLst>
                                          <p:attrName>style.visibility</p:attrName>
                                        </p:attrNameLst>
                                      </p:cBhvr>
                                      <p:to>
                                        <p:strVal val="visible"/>
                                      </p:to>
                                    </p:set>
                                    <p:animEffect transition="in" filter="wipe(left)">
                                      <p:cBhvr>
                                        <p:cTn id="16" dur="350"/>
                                        <p:tgtEl>
                                          <p:spTgt spid="104"/>
                                        </p:tgtEl>
                                      </p:cBhvr>
                                    </p:animEffect>
                                  </p:childTnLst>
                                </p:cTn>
                              </p:par>
                              <p:par>
                                <p:cTn id="17" presetID="22" presetClass="entr" presetSubtype="8" fill="hold" grpId="0" nodeType="withEffect">
                                  <p:stCondLst>
                                    <p:cond delay="480"/>
                                  </p:stCondLst>
                                  <p:childTnLst>
                                    <p:set>
                                      <p:cBhvr>
                                        <p:cTn id="18" dur="1" fill="hold">
                                          <p:stCondLst>
                                            <p:cond delay="0"/>
                                          </p:stCondLst>
                                        </p:cTn>
                                        <p:tgtEl>
                                          <p:spTgt spid="105"/>
                                        </p:tgtEl>
                                        <p:attrNameLst>
                                          <p:attrName>style.visibility</p:attrName>
                                        </p:attrNameLst>
                                      </p:cBhvr>
                                      <p:to>
                                        <p:strVal val="visible"/>
                                      </p:to>
                                    </p:set>
                                    <p:animEffect transition="in" filter="wipe(left)">
                                      <p:cBhvr>
                                        <p:cTn id="19" dur="350"/>
                                        <p:tgtEl>
                                          <p:spTgt spid="105"/>
                                        </p:tgtEl>
                                      </p:cBhvr>
                                    </p:animEffect>
                                  </p:childTnLst>
                                </p:cTn>
                              </p:par>
                              <p:par>
                                <p:cTn id="20" presetID="22" presetClass="entr" presetSubtype="8" fill="hold" grpId="0" nodeType="withEffect">
                                  <p:stCondLst>
                                    <p:cond delay="600"/>
                                  </p:stCondLst>
                                  <p:childTnLst>
                                    <p:set>
                                      <p:cBhvr>
                                        <p:cTn id="21" dur="1" fill="hold">
                                          <p:stCondLst>
                                            <p:cond delay="0"/>
                                          </p:stCondLst>
                                        </p:cTn>
                                        <p:tgtEl>
                                          <p:spTgt spid="106"/>
                                        </p:tgtEl>
                                        <p:attrNameLst>
                                          <p:attrName>style.visibility</p:attrName>
                                        </p:attrNameLst>
                                      </p:cBhvr>
                                      <p:to>
                                        <p:strVal val="visible"/>
                                      </p:to>
                                    </p:set>
                                    <p:animEffect transition="in" filter="wipe(left)">
                                      <p:cBhvr>
                                        <p:cTn id="22" dur="350"/>
                                        <p:tgtEl>
                                          <p:spTgt spid="106"/>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500"/>
                                        <p:tgtEl>
                                          <p:spTgt spid="107"/>
                                        </p:tgtEl>
                                      </p:cBhvr>
                                    </p:animEffect>
                                    <p:anim calcmode="lin" valueType="num">
                                      <p:cBhvr additive="base">
                                        <p:cTn id="28" dur="50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nodeType="withEffect">
                                  <p:stCondLst>
                                    <p:cond delay="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500"/>
                                        <p:tgtEl>
                                          <p:spTgt spid="109"/>
                                        </p:tgtEl>
                                      </p:cBhvr>
                                    </p:animEffect>
                                    <p:anim calcmode="lin" valueType="num">
                                      <p:cBhvr additive="base">
                                        <p:cTn id="36" dur="50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fade">
                                      <p:cBhvr>
                                        <p:cTn id="43" dur="500"/>
                                        <p:tgtEl>
                                          <p:spTgt spid="111"/>
                                        </p:tgtEl>
                                      </p:cBhvr>
                                    </p:animEffect>
                                    <p:anim calcmode="lin" valueType="num">
                                      <p:cBhvr additive="base">
                                        <p:cTn id="44" dur="500" decel="100000" fill="hold"/>
                                        <p:tgtEl>
                                          <p:spTgt spid="111"/>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12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12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anim calcmode="lin" valueType="num">
                                      <p:cBhvr additive="base">
                                        <p:cTn id="52" dur="50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nodeType="withEffect">
                                  <p:stCondLst>
                                    <p:cond delay="12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anim calcmode="lin" valueType="num">
                                      <p:cBhvr additive="base">
                                        <p:cTn id="56" dur="500" decel="100000" fill="hold"/>
                                        <p:tgtEl>
                                          <p:spTgt spid="114"/>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12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anim calcmode="lin" valueType="num">
                                      <p:cBhvr additive="base">
                                        <p:cTn id="60" dur="500" decel="100000" fill="hold"/>
                                        <p:tgtEl>
                                          <p:spTgt spid="115"/>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120"/>
                                  </p:stCondLst>
                                  <p:childTnLst>
                                    <p:set>
                                      <p:cBhvr>
                                        <p:cTn id="62" dur="1" fill="hold">
                                          <p:stCondLst>
                                            <p:cond delay="0"/>
                                          </p:stCondLst>
                                        </p:cTn>
                                        <p:tgtEl>
                                          <p:spTgt spid="116"/>
                                        </p:tgtEl>
                                        <p:attrNameLst>
                                          <p:attrName>style.visibility</p:attrName>
                                        </p:attrNameLst>
                                      </p:cBhvr>
                                      <p:to>
                                        <p:strVal val="visible"/>
                                      </p:to>
                                    </p:set>
                                    <p:animEffect transition="in" filter="fade">
                                      <p:cBhvr>
                                        <p:cTn id="63" dur="500"/>
                                        <p:tgtEl>
                                          <p:spTgt spid="116"/>
                                        </p:tgtEl>
                                      </p:cBhvr>
                                    </p:animEffect>
                                    <p:anim calcmode="lin" valueType="num">
                                      <p:cBhvr additive="base">
                                        <p:cTn id="64" dur="500" decel="100000" fill="hold"/>
                                        <p:tgtEl>
                                          <p:spTgt spid="116"/>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240"/>
                                  </p:stCondLst>
                                  <p:childTnLst>
                                    <p:set>
                                      <p:cBhvr>
                                        <p:cTn id="66" dur="1" fill="hold">
                                          <p:stCondLst>
                                            <p:cond delay="0"/>
                                          </p:stCondLst>
                                        </p:cTn>
                                        <p:tgtEl>
                                          <p:spTgt spid="117"/>
                                        </p:tgtEl>
                                        <p:attrNameLst>
                                          <p:attrName>style.visibility</p:attrName>
                                        </p:attrNameLst>
                                      </p:cBhvr>
                                      <p:to>
                                        <p:strVal val="visible"/>
                                      </p:to>
                                    </p:set>
                                    <p:animEffect transition="in" filter="fade">
                                      <p:cBhvr>
                                        <p:cTn id="67" dur="500"/>
                                        <p:tgtEl>
                                          <p:spTgt spid="117"/>
                                        </p:tgtEl>
                                      </p:cBhvr>
                                    </p:animEffect>
                                    <p:anim calcmode="lin" valueType="num">
                                      <p:cBhvr additive="base">
                                        <p:cTn id="68" dur="500" decel="100000" fill="hold"/>
                                        <p:tgtEl>
                                          <p:spTgt spid="117"/>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240"/>
                                  </p:stCondLst>
                                  <p:childTnLst>
                                    <p:set>
                                      <p:cBhvr>
                                        <p:cTn id="70" dur="1" fill="hold">
                                          <p:stCondLst>
                                            <p:cond delay="0"/>
                                          </p:stCondLst>
                                        </p:cTn>
                                        <p:tgtEl>
                                          <p:spTgt spid="118"/>
                                        </p:tgtEl>
                                        <p:attrNameLst>
                                          <p:attrName>style.visibility</p:attrName>
                                        </p:attrNameLst>
                                      </p:cBhvr>
                                      <p:to>
                                        <p:strVal val="visible"/>
                                      </p:to>
                                    </p:set>
                                    <p:animEffect transition="in" filter="fade">
                                      <p:cBhvr>
                                        <p:cTn id="71" dur="500"/>
                                        <p:tgtEl>
                                          <p:spTgt spid="118"/>
                                        </p:tgtEl>
                                      </p:cBhvr>
                                    </p:animEffect>
                                    <p:anim calcmode="lin" valueType="num">
                                      <p:cBhvr additive="base">
                                        <p:cTn id="72" dur="500" decel="100000" fill="hold"/>
                                        <p:tgtEl>
                                          <p:spTgt spid="118"/>
                                        </p:tgtEl>
                                        <p:attrNameLst>
                                          <p:attrName>ppt_y</p:attrName>
                                        </p:attrNameLst>
                                      </p:cBhvr>
                                      <p:tavLst>
                                        <p:tav tm="0">
                                          <p:val>
                                            <p:strVal val="#ppt_y+0.06"/>
                                          </p:val>
                                        </p:tav>
                                        <p:tav tm="100000">
                                          <p:val>
                                            <p:strVal val="#ppt_y"/>
                                          </p:val>
                                        </p:tav>
                                      </p:tavLst>
                                    </p:anim>
                                  </p:childTnLst>
                                </p:cTn>
                              </p:par>
                              <p:par>
                                <p:cTn id="73" presetID="42" presetClass="entr" presetSubtype="0" fill="hold" nodeType="withEffect">
                                  <p:stCondLst>
                                    <p:cond delay="240"/>
                                  </p:stCondLst>
                                  <p:childTnLst>
                                    <p:set>
                                      <p:cBhvr>
                                        <p:cTn id="74" dur="1" fill="hold">
                                          <p:stCondLst>
                                            <p:cond delay="0"/>
                                          </p:stCondLst>
                                        </p:cTn>
                                        <p:tgtEl>
                                          <p:spTgt spid="119"/>
                                        </p:tgtEl>
                                        <p:attrNameLst>
                                          <p:attrName>style.visibility</p:attrName>
                                        </p:attrNameLst>
                                      </p:cBhvr>
                                      <p:to>
                                        <p:strVal val="visible"/>
                                      </p:to>
                                    </p:set>
                                    <p:animEffect transition="in" filter="fade">
                                      <p:cBhvr>
                                        <p:cTn id="75" dur="500"/>
                                        <p:tgtEl>
                                          <p:spTgt spid="119"/>
                                        </p:tgtEl>
                                      </p:cBhvr>
                                    </p:animEffect>
                                    <p:anim calcmode="lin" valueType="num">
                                      <p:cBhvr additive="base">
                                        <p:cTn id="76" dur="500" decel="100000" fill="hold"/>
                                        <p:tgtEl>
                                          <p:spTgt spid="119"/>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240"/>
                                  </p:stCondLst>
                                  <p:childTnLst>
                                    <p:set>
                                      <p:cBhvr>
                                        <p:cTn id="78" dur="1" fill="hold">
                                          <p:stCondLst>
                                            <p:cond delay="0"/>
                                          </p:stCondLst>
                                        </p:cTn>
                                        <p:tgtEl>
                                          <p:spTgt spid="120"/>
                                        </p:tgtEl>
                                        <p:attrNameLst>
                                          <p:attrName>style.visibility</p:attrName>
                                        </p:attrNameLst>
                                      </p:cBhvr>
                                      <p:to>
                                        <p:strVal val="visible"/>
                                      </p:to>
                                    </p:set>
                                    <p:animEffect transition="in" filter="fade">
                                      <p:cBhvr>
                                        <p:cTn id="79" dur="500"/>
                                        <p:tgtEl>
                                          <p:spTgt spid="120"/>
                                        </p:tgtEl>
                                      </p:cBhvr>
                                    </p:animEffect>
                                    <p:anim calcmode="lin" valueType="num">
                                      <p:cBhvr additive="base">
                                        <p:cTn id="80" dur="500" decel="100000" fill="hold"/>
                                        <p:tgtEl>
                                          <p:spTgt spid="120"/>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240"/>
                                  </p:stCondLst>
                                  <p:childTnLst>
                                    <p:set>
                                      <p:cBhvr>
                                        <p:cTn id="82" dur="1" fill="hold">
                                          <p:stCondLst>
                                            <p:cond delay="0"/>
                                          </p:stCondLst>
                                        </p:cTn>
                                        <p:tgtEl>
                                          <p:spTgt spid="121"/>
                                        </p:tgtEl>
                                        <p:attrNameLst>
                                          <p:attrName>style.visibility</p:attrName>
                                        </p:attrNameLst>
                                      </p:cBhvr>
                                      <p:to>
                                        <p:strVal val="visible"/>
                                      </p:to>
                                    </p:set>
                                    <p:animEffect transition="in" filter="fade">
                                      <p:cBhvr>
                                        <p:cTn id="83" dur="500"/>
                                        <p:tgtEl>
                                          <p:spTgt spid="121"/>
                                        </p:tgtEl>
                                      </p:cBhvr>
                                    </p:animEffect>
                                    <p:anim calcmode="lin" valueType="num">
                                      <p:cBhvr additive="base">
                                        <p:cTn id="84" dur="500" decel="100000" fill="hold"/>
                                        <p:tgtEl>
                                          <p:spTgt spid="121"/>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360"/>
                                  </p:stCondLst>
                                  <p:childTnLst>
                                    <p:set>
                                      <p:cBhvr>
                                        <p:cTn id="86" dur="1" fill="hold">
                                          <p:stCondLst>
                                            <p:cond delay="0"/>
                                          </p:stCondLst>
                                        </p:cTn>
                                        <p:tgtEl>
                                          <p:spTgt spid="122"/>
                                        </p:tgtEl>
                                        <p:attrNameLst>
                                          <p:attrName>style.visibility</p:attrName>
                                        </p:attrNameLst>
                                      </p:cBhvr>
                                      <p:to>
                                        <p:strVal val="visible"/>
                                      </p:to>
                                    </p:set>
                                    <p:animEffect transition="in" filter="fade">
                                      <p:cBhvr>
                                        <p:cTn id="87" dur="500"/>
                                        <p:tgtEl>
                                          <p:spTgt spid="122"/>
                                        </p:tgtEl>
                                      </p:cBhvr>
                                    </p:animEffect>
                                    <p:anim calcmode="lin" valueType="num">
                                      <p:cBhvr additive="base">
                                        <p:cTn id="88" dur="500" decel="100000" fill="hold"/>
                                        <p:tgtEl>
                                          <p:spTgt spid="122"/>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360"/>
                                  </p:stCondLst>
                                  <p:childTnLst>
                                    <p:set>
                                      <p:cBhvr>
                                        <p:cTn id="90" dur="1" fill="hold">
                                          <p:stCondLst>
                                            <p:cond delay="0"/>
                                          </p:stCondLst>
                                        </p:cTn>
                                        <p:tgtEl>
                                          <p:spTgt spid="123"/>
                                        </p:tgtEl>
                                        <p:attrNameLst>
                                          <p:attrName>style.visibility</p:attrName>
                                        </p:attrNameLst>
                                      </p:cBhvr>
                                      <p:to>
                                        <p:strVal val="visible"/>
                                      </p:to>
                                    </p:set>
                                    <p:animEffect transition="in" filter="fade">
                                      <p:cBhvr>
                                        <p:cTn id="91" dur="500"/>
                                        <p:tgtEl>
                                          <p:spTgt spid="123"/>
                                        </p:tgtEl>
                                      </p:cBhvr>
                                    </p:animEffect>
                                    <p:anim calcmode="lin" valueType="num">
                                      <p:cBhvr additive="base">
                                        <p:cTn id="92" dur="500" decel="100000" fill="hold"/>
                                        <p:tgtEl>
                                          <p:spTgt spid="123"/>
                                        </p:tgtEl>
                                        <p:attrNameLst>
                                          <p:attrName>ppt_y</p:attrName>
                                        </p:attrNameLst>
                                      </p:cBhvr>
                                      <p:tavLst>
                                        <p:tav tm="0">
                                          <p:val>
                                            <p:strVal val="#ppt_y+0.06"/>
                                          </p:val>
                                        </p:tav>
                                        <p:tav tm="100000">
                                          <p:val>
                                            <p:strVal val="#ppt_y"/>
                                          </p:val>
                                        </p:tav>
                                      </p:tavLst>
                                    </p:anim>
                                  </p:childTnLst>
                                </p:cTn>
                              </p:par>
                              <p:par>
                                <p:cTn id="93" presetID="42" presetClass="entr" presetSubtype="0" fill="hold" nodeType="withEffect">
                                  <p:stCondLst>
                                    <p:cond delay="360"/>
                                  </p:stCondLst>
                                  <p:childTnLst>
                                    <p:set>
                                      <p:cBhvr>
                                        <p:cTn id="94" dur="1" fill="hold">
                                          <p:stCondLst>
                                            <p:cond delay="0"/>
                                          </p:stCondLst>
                                        </p:cTn>
                                        <p:tgtEl>
                                          <p:spTgt spid="124"/>
                                        </p:tgtEl>
                                        <p:attrNameLst>
                                          <p:attrName>style.visibility</p:attrName>
                                        </p:attrNameLst>
                                      </p:cBhvr>
                                      <p:to>
                                        <p:strVal val="visible"/>
                                      </p:to>
                                    </p:set>
                                    <p:animEffect transition="in" filter="fade">
                                      <p:cBhvr>
                                        <p:cTn id="95" dur="500"/>
                                        <p:tgtEl>
                                          <p:spTgt spid="124"/>
                                        </p:tgtEl>
                                      </p:cBhvr>
                                    </p:animEffect>
                                    <p:anim calcmode="lin" valueType="num">
                                      <p:cBhvr additive="base">
                                        <p:cTn id="96" dur="500" decel="100000" fill="hold"/>
                                        <p:tgtEl>
                                          <p:spTgt spid="124"/>
                                        </p:tgtEl>
                                        <p:attrNameLst>
                                          <p:attrName>ppt_y</p:attrName>
                                        </p:attrNameLst>
                                      </p:cBhvr>
                                      <p:tavLst>
                                        <p:tav tm="0">
                                          <p:val>
                                            <p:strVal val="#ppt_y+0.06"/>
                                          </p:val>
                                        </p:tav>
                                        <p:tav tm="100000">
                                          <p:val>
                                            <p:strVal val="#ppt_y"/>
                                          </p:val>
                                        </p:tav>
                                      </p:tavLst>
                                    </p:anim>
                                  </p:childTnLst>
                                </p:cTn>
                              </p:par>
                              <p:par>
                                <p:cTn id="97" presetID="42" presetClass="entr" presetSubtype="0" fill="hold" grpId="0" nodeType="withEffect">
                                  <p:stCondLst>
                                    <p:cond delay="360"/>
                                  </p:stCondLst>
                                  <p:childTnLst>
                                    <p:set>
                                      <p:cBhvr>
                                        <p:cTn id="98" dur="1" fill="hold">
                                          <p:stCondLst>
                                            <p:cond delay="0"/>
                                          </p:stCondLst>
                                        </p:cTn>
                                        <p:tgtEl>
                                          <p:spTgt spid="125"/>
                                        </p:tgtEl>
                                        <p:attrNameLst>
                                          <p:attrName>style.visibility</p:attrName>
                                        </p:attrNameLst>
                                      </p:cBhvr>
                                      <p:to>
                                        <p:strVal val="visible"/>
                                      </p:to>
                                    </p:set>
                                    <p:animEffect transition="in" filter="fade">
                                      <p:cBhvr>
                                        <p:cTn id="99" dur="500"/>
                                        <p:tgtEl>
                                          <p:spTgt spid="125"/>
                                        </p:tgtEl>
                                      </p:cBhvr>
                                    </p:animEffect>
                                    <p:anim calcmode="lin" valueType="num">
                                      <p:cBhvr additive="base">
                                        <p:cTn id="100" dur="500" decel="100000" fill="hold"/>
                                        <p:tgtEl>
                                          <p:spTgt spid="125"/>
                                        </p:tgtEl>
                                        <p:attrNameLst>
                                          <p:attrName>ppt_y</p:attrName>
                                        </p:attrNameLst>
                                      </p:cBhvr>
                                      <p:tavLst>
                                        <p:tav tm="0">
                                          <p:val>
                                            <p:strVal val="#ppt_y+0.06"/>
                                          </p:val>
                                        </p:tav>
                                        <p:tav tm="100000">
                                          <p:val>
                                            <p:strVal val="#ppt_y"/>
                                          </p:val>
                                        </p:tav>
                                      </p:tavLst>
                                    </p:anim>
                                  </p:childTnLst>
                                </p:cTn>
                              </p:par>
                              <p:par>
                                <p:cTn id="101" presetID="42" presetClass="entr" presetSubtype="0" fill="hold" grpId="0" nodeType="withEffect">
                                  <p:stCondLst>
                                    <p:cond delay="360"/>
                                  </p:stCondLst>
                                  <p:childTnLst>
                                    <p:set>
                                      <p:cBhvr>
                                        <p:cTn id="102" dur="1" fill="hold">
                                          <p:stCondLst>
                                            <p:cond delay="0"/>
                                          </p:stCondLst>
                                        </p:cTn>
                                        <p:tgtEl>
                                          <p:spTgt spid="126"/>
                                        </p:tgtEl>
                                        <p:attrNameLst>
                                          <p:attrName>style.visibility</p:attrName>
                                        </p:attrNameLst>
                                      </p:cBhvr>
                                      <p:to>
                                        <p:strVal val="visible"/>
                                      </p:to>
                                    </p:set>
                                    <p:animEffect transition="in" filter="fade">
                                      <p:cBhvr>
                                        <p:cTn id="103" dur="500"/>
                                        <p:tgtEl>
                                          <p:spTgt spid="126"/>
                                        </p:tgtEl>
                                      </p:cBhvr>
                                    </p:animEffect>
                                    <p:anim calcmode="lin" valueType="num">
                                      <p:cBhvr additive="base">
                                        <p:cTn id="104" dur="500" decel="100000" fill="hold"/>
                                        <p:tgtEl>
                                          <p:spTgt spid="126"/>
                                        </p:tgtEl>
                                        <p:attrNameLst>
                                          <p:attrName>ppt_y</p:attrName>
                                        </p:attrNameLst>
                                      </p:cBhvr>
                                      <p:tavLst>
                                        <p:tav tm="0">
                                          <p:val>
                                            <p:strVal val="#ppt_y+0.06"/>
                                          </p:val>
                                        </p:tav>
                                        <p:tav tm="100000">
                                          <p:val>
                                            <p:strVal val="#ppt_y"/>
                                          </p:val>
                                        </p:tav>
                                      </p:tavLst>
                                    </p:anim>
                                  </p:childTnLst>
                                </p:cTn>
                              </p:par>
                              <p:par>
                                <p:cTn id="105" presetID="42" presetClass="entr" presetSubtype="0" fill="hold" grpId="0" nodeType="withEffect">
                                  <p:stCondLst>
                                    <p:cond delay="480"/>
                                  </p:stCondLst>
                                  <p:childTnLst>
                                    <p:set>
                                      <p:cBhvr>
                                        <p:cTn id="106" dur="1" fill="hold">
                                          <p:stCondLst>
                                            <p:cond delay="0"/>
                                          </p:stCondLst>
                                        </p:cTn>
                                        <p:tgtEl>
                                          <p:spTgt spid="127"/>
                                        </p:tgtEl>
                                        <p:attrNameLst>
                                          <p:attrName>style.visibility</p:attrName>
                                        </p:attrNameLst>
                                      </p:cBhvr>
                                      <p:to>
                                        <p:strVal val="visible"/>
                                      </p:to>
                                    </p:set>
                                    <p:animEffect transition="in" filter="fade">
                                      <p:cBhvr>
                                        <p:cTn id="107" dur="500"/>
                                        <p:tgtEl>
                                          <p:spTgt spid="127"/>
                                        </p:tgtEl>
                                      </p:cBhvr>
                                    </p:animEffect>
                                    <p:anim calcmode="lin" valueType="num">
                                      <p:cBhvr additive="base">
                                        <p:cTn id="108" dur="500" decel="100000" fill="hold"/>
                                        <p:tgtEl>
                                          <p:spTgt spid="127"/>
                                        </p:tgtEl>
                                        <p:attrNameLst>
                                          <p:attrName>ppt_y</p:attrName>
                                        </p:attrNameLst>
                                      </p:cBhvr>
                                      <p:tavLst>
                                        <p:tav tm="0">
                                          <p:val>
                                            <p:strVal val="#ppt_y+0.06"/>
                                          </p:val>
                                        </p:tav>
                                        <p:tav tm="100000">
                                          <p:val>
                                            <p:strVal val="#ppt_y"/>
                                          </p:val>
                                        </p:tav>
                                      </p:tavLst>
                                    </p:anim>
                                  </p:childTnLst>
                                </p:cTn>
                              </p:par>
                              <p:par>
                                <p:cTn id="109" presetID="42" presetClass="entr" presetSubtype="0" fill="hold" grpId="0" nodeType="withEffect">
                                  <p:stCondLst>
                                    <p:cond delay="480"/>
                                  </p:stCondLst>
                                  <p:childTnLst>
                                    <p:set>
                                      <p:cBhvr>
                                        <p:cTn id="110" dur="1" fill="hold">
                                          <p:stCondLst>
                                            <p:cond delay="0"/>
                                          </p:stCondLst>
                                        </p:cTn>
                                        <p:tgtEl>
                                          <p:spTgt spid="128"/>
                                        </p:tgtEl>
                                        <p:attrNameLst>
                                          <p:attrName>style.visibility</p:attrName>
                                        </p:attrNameLst>
                                      </p:cBhvr>
                                      <p:to>
                                        <p:strVal val="visible"/>
                                      </p:to>
                                    </p:set>
                                    <p:animEffect transition="in" filter="fade">
                                      <p:cBhvr>
                                        <p:cTn id="111" dur="500"/>
                                        <p:tgtEl>
                                          <p:spTgt spid="128"/>
                                        </p:tgtEl>
                                      </p:cBhvr>
                                    </p:animEffect>
                                    <p:anim calcmode="lin" valueType="num">
                                      <p:cBhvr additive="base">
                                        <p:cTn id="112" dur="500" decel="100000" fill="hold"/>
                                        <p:tgtEl>
                                          <p:spTgt spid="128"/>
                                        </p:tgtEl>
                                        <p:attrNameLst>
                                          <p:attrName>ppt_y</p:attrName>
                                        </p:attrNameLst>
                                      </p:cBhvr>
                                      <p:tavLst>
                                        <p:tav tm="0">
                                          <p:val>
                                            <p:strVal val="#ppt_y+0.06"/>
                                          </p:val>
                                        </p:tav>
                                        <p:tav tm="100000">
                                          <p:val>
                                            <p:strVal val="#ppt_y"/>
                                          </p:val>
                                        </p:tav>
                                      </p:tavLst>
                                    </p:anim>
                                  </p:childTnLst>
                                </p:cTn>
                              </p:par>
                              <p:par>
                                <p:cTn id="113" presetID="42" presetClass="entr" presetSubtype="0" fill="hold" nodeType="withEffect">
                                  <p:stCondLst>
                                    <p:cond delay="480"/>
                                  </p:stCondLst>
                                  <p:childTnLst>
                                    <p:set>
                                      <p:cBhvr>
                                        <p:cTn id="114" dur="1" fill="hold">
                                          <p:stCondLst>
                                            <p:cond delay="0"/>
                                          </p:stCondLst>
                                        </p:cTn>
                                        <p:tgtEl>
                                          <p:spTgt spid="129"/>
                                        </p:tgtEl>
                                        <p:attrNameLst>
                                          <p:attrName>style.visibility</p:attrName>
                                        </p:attrNameLst>
                                      </p:cBhvr>
                                      <p:to>
                                        <p:strVal val="visible"/>
                                      </p:to>
                                    </p:set>
                                    <p:animEffect transition="in" filter="fade">
                                      <p:cBhvr>
                                        <p:cTn id="115" dur="500"/>
                                        <p:tgtEl>
                                          <p:spTgt spid="129"/>
                                        </p:tgtEl>
                                      </p:cBhvr>
                                    </p:animEffect>
                                    <p:anim calcmode="lin" valueType="num">
                                      <p:cBhvr additive="base">
                                        <p:cTn id="116" dur="500" decel="100000" fill="hold"/>
                                        <p:tgtEl>
                                          <p:spTgt spid="129"/>
                                        </p:tgtEl>
                                        <p:attrNameLst>
                                          <p:attrName>ppt_y</p:attrName>
                                        </p:attrNameLst>
                                      </p:cBhvr>
                                      <p:tavLst>
                                        <p:tav tm="0">
                                          <p:val>
                                            <p:strVal val="#ppt_y+0.06"/>
                                          </p:val>
                                        </p:tav>
                                        <p:tav tm="100000">
                                          <p:val>
                                            <p:strVal val="#ppt_y"/>
                                          </p:val>
                                        </p:tav>
                                      </p:tavLst>
                                    </p:anim>
                                  </p:childTnLst>
                                </p:cTn>
                              </p:par>
                              <p:par>
                                <p:cTn id="117" presetID="42" presetClass="entr" presetSubtype="0" fill="hold" grpId="0" nodeType="withEffect">
                                  <p:stCondLst>
                                    <p:cond delay="480"/>
                                  </p:stCondLst>
                                  <p:childTnLst>
                                    <p:set>
                                      <p:cBhvr>
                                        <p:cTn id="118" dur="1" fill="hold">
                                          <p:stCondLst>
                                            <p:cond delay="0"/>
                                          </p:stCondLst>
                                        </p:cTn>
                                        <p:tgtEl>
                                          <p:spTgt spid="130"/>
                                        </p:tgtEl>
                                        <p:attrNameLst>
                                          <p:attrName>style.visibility</p:attrName>
                                        </p:attrNameLst>
                                      </p:cBhvr>
                                      <p:to>
                                        <p:strVal val="visible"/>
                                      </p:to>
                                    </p:set>
                                    <p:animEffect transition="in" filter="fade">
                                      <p:cBhvr>
                                        <p:cTn id="119" dur="500"/>
                                        <p:tgtEl>
                                          <p:spTgt spid="130"/>
                                        </p:tgtEl>
                                      </p:cBhvr>
                                    </p:animEffect>
                                    <p:anim calcmode="lin" valueType="num">
                                      <p:cBhvr additive="base">
                                        <p:cTn id="120" dur="500" decel="100000" fill="hold"/>
                                        <p:tgtEl>
                                          <p:spTgt spid="130"/>
                                        </p:tgtEl>
                                        <p:attrNameLst>
                                          <p:attrName>ppt_y</p:attrName>
                                        </p:attrNameLst>
                                      </p:cBhvr>
                                      <p:tavLst>
                                        <p:tav tm="0">
                                          <p:val>
                                            <p:strVal val="#ppt_y+0.06"/>
                                          </p:val>
                                        </p:tav>
                                        <p:tav tm="100000">
                                          <p:val>
                                            <p:strVal val="#ppt_y"/>
                                          </p:val>
                                        </p:tav>
                                      </p:tavLst>
                                    </p:anim>
                                  </p:childTnLst>
                                </p:cTn>
                              </p:par>
                              <p:par>
                                <p:cTn id="121" presetID="42" presetClass="entr" presetSubtype="0" fill="hold" grpId="0" nodeType="withEffect">
                                  <p:stCondLst>
                                    <p:cond delay="480"/>
                                  </p:stCondLst>
                                  <p:childTnLst>
                                    <p:set>
                                      <p:cBhvr>
                                        <p:cTn id="122" dur="1" fill="hold">
                                          <p:stCondLst>
                                            <p:cond delay="0"/>
                                          </p:stCondLst>
                                        </p:cTn>
                                        <p:tgtEl>
                                          <p:spTgt spid="131"/>
                                        </p:tgtEl>
                                        <p:attrNameLst>
                                          <p:attrName>style.visibility</p:attrName>
                                        </p:attrNameLst>
                                      </p:cBhvr>
                                      <p:to>
                                        <p:strVal val="visible"/>
                                      </p:to>
                                    </p:set>
                                    <p:animEffect transition="in" filter="fade">
                                      <p:cBhvr>
                                        <p:cTn id="123" dur="500"/>
                                        <p:tgtEl>
                                          <p:spTgt spid="131"/>
                                        </p:tgtEl>
                                      </p:cBhvr>
                                    </p:animEffect>
                                    <p:anim calcmode="lin" valueType="num">
                                      <p:cBhvr additive="base">
                                        <p:cTn id="124" dur="500" decel="100000" fill="hold"/>
                                        <p:tgtEl>
                                          <p:spTgt spid="131"/>
                                        </p:tgtEl>
                                        <p:attrNameLst>
                                          <p:attrName>ppt_y</p:attrName>
                                        </p:attrNameLst>
                                      </p:cBhvr>
                                      <p:tavLst>
                                        <p:tav tm="0">
                                          <p:val>
                                            <p:strVal val="#ppt_y+0.06"/>
                                          </p:val>
                                        </p:tav>
                                        <p:tav tm="100000">
                                          <p:val>
                                            <p:strVal val="#ppt_y"/>
                                          </p:val>
                                        </p:tav>
                                      </p:tavLst>
                                    </p:anim>
                                  </p:childTnLst>
                                </p:cTn>
                              </p:par>
                              <p:par>
                                <p:cTn id="125" presetID="42" presetClass="entr" presetSubtype="0" fill="hold" grpId="0" nodeType="withEffect">
                                  <p:stCondLst>
                                    <p:cond delay="600"/>
                                  </p:stCondLst>
                                  <p:childTnLst>
                                    <p:set>
                                      <p:cBhvr>
                                        <p:cTn id="126" dur="1" fill="hold">
                                          <p:stCondLst>
                                            <p:cond delay="0"/>
                                          </p:stCondLst>
                                        </p:cTn>
                                        <p:tgtEl>
                                          <p:spTgt spid="132"/>
                                        </p:tgtEl>
                                        <p:attrNameLst>
                                          <p:attrName>style.visibility</p:attrName>
                                        </p:attrNameLst>
                                      </p:cBhvr>
                                      <p:to>
                                        <p:strVal val="visible"/>
                                      </p:to>
                                    </p:set>
                                    <p:animEffect transition="in" filter="fade">
                                      <p:cBhvr>
                                        <p:cTn id="127" dur="500"/>
                                        <p:tgtEl>
                                          <p:spTgt spid="132"/>
                                        </p:tgtEl>
                                      </p:cBhvr>
                                    </p:animEffect>
                                    <p:anim calcmode="lin" valueType="num">
                                      <p:cBhvr additive="base">
                                        <p:cTn id="128" dur="500" decel="100000" fill="hold"/>
                                        <p:tgtEl>
                                          <p:spTgt spid="132"/>
                                        </p:tgtEl>
                                        <p:attrNameLst>
                                          <p:attrName>ppt_y</p:attrName>
                                        </p:attrNameLst>
                                      </p:cBhvr>
                                      <p:tavLst>
                                        <p:tav tm="0">
                                          <p:val>
                                            <p:strVal val="#ppt_y+0.06"/>
                                          </p:val>
                                        </p:tav>
                                        <p:tav tm="100000">
                                          <p:val>
                                            <p:strVal val="#ppt_y"/>
                                          </p:val>
                                        </p:tav>
                                      </p:tavLst>
                                    </p:anim>
                                  </p:childTnLst>
                                </p:cTn>
                              </p:par>
                              <p:par>
                                <p:cTn id="129" presetID="42" presetClass="entr" presetSubtype="0" fill="hold" grpId="0" nodeType="withEffect">
                                  <p:stCondLst>
                                    <p:cond delay="600"/>
                                  </p:stCondLst>
                                  <p:childTnLst>
                                    <p:set>
                                      <p:cBhvr>
                                        <p:cTn id="130" dur="1" fill="hold">
                                          <p:stCondLst>
                                            <p:cond delay="0"/>
                                          </p:stCondLst>
                                        </p:cTn>
                                        <p:tgtEl>
                                          <p:spTgt spid="133"/>
                                        </p:tgtEl>
                                        <p:attrNameLst>
                                          <p:attrName>style.visibility</p:attrName>
                                        </p:attrNameLst>
                                      </p:cBhvr>
                                      <p:to>
                                        <p:strVal val="visible"/>
                                      </p:to>
                                    </p:set>
                                    <p:animEffect transition="in" filter="fade">
                                      <p:cBhvr>
                                        <p:cTn id="131" dur="500"/>
                                        <p:tgtEl>
                                          <p:spTgt spid="133"/>
                                        </p:tgtEl>
                                      </p:cBhvr>
                                    </p:animEffect>
                                    <p:anim calcmode="lin" valueType="num">
                                      <p:cBhvr additive="base">
                                        <p:cTn id="132" dur="500" decel="100000" fill="hold"/>
                                        <p:tgtEl>
                                          <p:spTgt spid="133"/>
                                        </p:tgtEl>
                                        <p:attrNameLst>
                                          <p:attrName>ppt_y</p:attrName>
                                        </p:attrNameLst>
                                      </p:cBhvr>
                                      <p:tavLst>
                                        <p:tav tm="0">
                                          <p:val>
                                            <p:strVal val="#ppt_y+0.06"/>
                                          </p:val>
                                        </p:tav>
                                        <p:tav tm="100000">
                                          <p:val>
                                            <p:strVal val="#ppt_y"/>
                                          </p:val>
                                        </p:tav>
                                      </p:tavLst>
                                    </p:anim>
                                  </p:childTnLst>
                                </p:cTn>
                              </p:par>
                              <p:par>
                                <p:cTn id="133" presetID="42" presetClass="entr" presetSubtype="0" fill="hold" nodeType="withEffect">
                                  <p:stCondLst>
                                    <p:cond delay="600"/>
                                  </p:stCondLst>
                                  <p:childTnLst>
                                    <p:set>
                                      <p:cBhvr>
                                        <p:cTn id="134" dur="1" fill="hold">
                                          <p:stCondLst>
                                            <p:cond delay="0"/>
                                          </p:stCondLst>
                                        </p:cTn>
                                        <p:tgtEl>
                                          <p:spTgt spid="134"/>
                                        </p:tgtEl>
                                        <p:attrNameLst>
                                          <p:attrName>style.visibility</p:attrName>
                                        </p:attrNameLst>
                                      </p:cBhvr>
                                      <p:to>
                                        <p:strVal val="visible"/>
                                      </p:to>
                                    </p:set>
                                    <p:animEffect transition="in" filter="fade">
                                      <p:cBhvr>
                                        <p:cTn id="135" dur="500"/>
                                        <p:tgtEl>
                                          <p:spTgt spid="134"/>
                                        </p:tgtEl>
                                      </p:cBhvr>
                                    </p:animEffect>
                                    <p:anim calcmode="lin" valueType="num">
                                      <p:cBhvr additive="base">
                                        <p:cTn id="136" dur="500" decel="100000" fill="hold"/>
                                        <p:tgtEl>
                                          <p:spTgt spid="134"/>
                                        </p:tgtEl>
                                        <p:attrNameLst>
                                          <p:attrName>ppt_y</p:attrName>
                                        </p:attrNameLst>
                                      </p:cBhvr>
                                      <p:tavLst>
                                        <p:tav tm="0">
                                          <p:val>
                                            <p:strVal val="#ppt_y+0.06"/>
                                          </p:val>
                                        </p:tav>
                                        <p:tav tm="100000">
                                          <p:val>
                                            <p:strVal val="#ppt_y"/>
                                          </p:val>
                                        </p:tav>
                                      </p:tavLst>
                                    </p:anim>
                                  </p:childTnLst>
                                </p:cTn>
                              </p:par>
                              <p:par>
                                <p:cTn id="137" presetID="42" presetClass="entr" presetSubtype="0" fill="hold" grpId="0" nodeType="withEffect">
                                  <p:stCondLst>
                                    <p:cond delay="600"/>
                                  </p:stCondLst>
                                  <p:childTnLst>
                                    <p:set>
                                      <p:cBhvr>
                                        <p:cTn id="138" dur="1" fill="hold">
                                          <p:stCondLst>
                                            <p:cond delay="0"/>
                                          </p:stCondLst>
                                        </p:cTn>
                                        <p:tgtEl>
                                          <p:spTgt spid="135"/>
                                        </p:tgtEl>
                                        <p:attrNameLst>
                                          <p:attrName>style.visibility</p:attrName>
                                        </p:attrNameLst>
                                      </p:cBhvr>
                                      <p:to>
                                        <p:strVal val="visible"/>
                                      </p:to>
                                    </p:set>
                                    <p:animEffect transition="in" filter="fade">
                                      <p:cBhvr>
                                        <p:cTn id="139" dur="500"/>
                                        <p:tgtEl>
                                          <p:spTgt spid="135"/>
                                        </p:tgtEl>
                                      </p:cBhvr>
                                    </p:animEffect>
                                    <p:anim calcmode="lin" valueType="num">
                                      <p:cBhvr additive="base">
                                        <p:cTn id="140" dur="500" decel="100000" fill="hold"/>
                                        <p:tgtEl>
                                          <p:spTgt spid="135"/>
                                        </p:tgtEl>
                                        <p:attrNameLst>
                                          <p:attrName>ppt_y</p:attrName>
                                        </p:attrNameLst>
                                      </p:cBhvr>
                                      <p:tavLst>
                                        <p:tav tm="0">
                                          <p:val>
                                            <p:strVal val="#ppt_y+0.06"/>
                                          </p:val>
                                        </p:tav>
                                        <p:tav tm="100000">
                                          <p:val>
                                            <p:strVal val="#ppt_y"/>
                                          </p:val>
                                        </p:tav>
                                      </p:tavLst>
                                    </p:anim>
                                  </p:childTnLst>
                                </p:cTn>
                              </p:par>
                              <p:par>
                                <p:cTn id="141" presetID="42" presetClass="entr" presetSubtype="0" fill="hold" grpId="0" nodeType="withEffect">
                                  <p:stCondLst>
                                    <p:cond delay="600"/>
                                  </p:stCondLst>
                                  <p:childTnLst>
                                    <p:set>
                                      <p:cBhvr>
                                        <p:cTn id="142" dur="1" fill="hold">
                                          <p:stCondLst>
                                            <p:cond delay="0"/>
                                          </p:stCondLst>
                                        </p:cTn>
                                        <p:tgtEl>
                                          <p:spTgt spid="136"/>
                                        </p:tgtEl>
                                        <p:attrNameLst>
                                          <p:attrName>style.visibility</p:attrName>
                                        </p:attrNameLst>
                                      </p:cBhvr>
                                      <p:to>
                                        <p:strVal val="visible"/>
                                      </p:to>
                                    </p:set>
                                    <p:animEffect transition="in" filter="fade">
                                      <p:cBhvr>
                                        <p:cTn id="143" dur="500"/>
                                        <p:tgtEl>
                                          <p:spTgt spid="136"/>
                                        </p:tgtEl>
                                      </p:cBhvr>
                                    </p:animEffect>
                                    <p:anim calcmode="lin" valueType="num">
                                      <p:cBhvr additive="base">
                                        <p:cTn id="144" dur="500" decel="100000" fill="hold"/>
                                        <p:tgtEl>
                                          <p:spTgt spid="136"/>
                                        </p:tgtEl>
                                        <p:attrNameLst>
                                          <p:attrName>ppt_y</p:attrName>
                                        </p:attrNameLst>
                                      </p:cBhvr>
                                      <p:tavLst>
                                        <p:tav tm="0">
                                          <p:val>
                                            <p:strVal val="#ppt_y+0.06"/>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42" presetClass="entr" presetSubtype="0" fill="hold" grpId="0" nodeType="clickEffect">
                                  <p:stCondLst>
                                    <p:cond delay="0"/>
                                  </p:stCondLst>
                                  <p:childTnLst>
                                    <p:set>
                                      <p:cBhvr>
                                        <p:cTn id="148" dur="1" fill="hold">
                                          <p:stCondLst>
                                            <p:cond delay="0"/>
                                          </p:stCondLst>
                                        </p:cTn>
                                        <p:tgtEl>
                                          <p:spTgt spid="137"/>
                                        </p:tgtEl>
                                        <p:attrNameLst>
                                          <p:attrName>style.visibility</p:attrName>
                                        </p:attrNameLst>
                                      </p:cBhvr>
                                      <p:to>
                                        <p:strVal val="visible"/>
                                      </p:to>
                                    </p:set>
                                    <p:animEffect transition="in" filter="fade">
                                      <p:cBhvr>
                                        <p:cTn id="149" dur="500"/>
                                        <p:tgtEl>
                                          <p:spTgt spid="137"/>
                                        </p:tgtEl>
                                      </p:cBhvr>
                                    </p:animEffect>
                                    <p:anim calcmode="lin" valueType="num">
                                      <p:cBhvr additive="base">
                                        <p:cTn id="150" dur="500" decel="100000" fill="hold"/>
                                        <p:tgtEl>
                                          <p:spTgt spid="137"/>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10" grpId="0" animBg="1"/>
      <p:bldP spid="111" grpId="0" animBg="1"/>
      <p:bldP spid="112" grpId="0" animBg="1"/>
      <p:bldP spid="113" grpId="0" animBg="1"/>
      <p:bldP spid="115" grpId="0" animBg="1"/>
      <p:bldP spid="116" grpId="0" animBg="1"/>
      <p:bldP spid="117" grpId="0" animBg="1"/>
      <p:bldP spid="118" grpId="0" animBg="1"/>
      <p:bldP spid="120" grpId="0" animBg="1"/>
      <p:bldP spid="121" grpId="0" animBg="1"/>
      <p:bldP spid="122" grpId="0" animBg="1"/>
      <p:bldP spid="123" grpId="0" animBg="1"/>
      <p:bldP spid="125" grpId="0" animBg="1"/>
      <p:bldP spid="126" grpId="0" animBg="1"/>
      <p:bldP spid="127" grpId="0" animBg="1"/>
      <p:bldP spid="128" grpId="0" animBg="1"/>
      <p:bldP spid="130" grpId="0" animBg="1"/>
      <p:bldP spid="131" grpId="0" animBg="1"/>
      <p:bldP spid="132" grpId="0" animBg="1"/>
      <p:bldP spid="133" grpId="0" animBg="1"/>
      <p:bldP spid="135" grpId="0" animBg="1"/>
      <p:bldP spid="136" grpId="0" animBg="1"/>
      <p:bldP spid="137"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SIX WAYS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Six Ways to Run the Same SDLC</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Every model goes through the same phases. They differ in HOW and WHEN.</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METHODOLOGIES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187</a:t>
            </a:r>
            <a:endParaRPr lang="en-US" sz="850" dirty="0"/>
          </a:p>
        </p:txBody>
      </p:sp>
      <p:sp>
        <p:nvSpPr>
          <p:cNvPr id="101" name="s101"/>
          <p:cNvSpPr txBox="1"/>
          <p:nvPr/>
        </p:nvSpPr>
        <p:spPr>
          <a:xfrm>
            <a:off x="543154" y="182880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WHAT THEY ALL SHARE:  THE SDLC</a:t>
            </a:r>
            <a:endParaRPr lang="en-US" sz="1100" dirty="0"/>
          </a:p>
        </p:txBody>
      </p:sp>
      <p:sp>
        <p:nvSpPr>
          <p:cNvPr id="102" name="s102"/>
          <p:cNvSpPr/>
          <p:nvPr/>
        </p:nvSpPr>
        <p:spPr>
          <a:xfrm>
            <a:off x="543154" y="2148840"/>
            <a:ext cx="1634642" cy="457200"/>
          </a:xfrm>
          <a:prstGeom prst="roundRect">
            <a:avLst>
              <a:gd name="adj" fmla="val 20000"/>
            </a:avLst>
          </a:prstGeom>
          <a:solidFill>
            <a:srgbClr val="13D0F7">
              <a:alpha val="16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Requirements</a:t>
            </a:r>
            <a:endParaRPr lang="en-US" sz="1200" dirty="0"/>
          </a:p>
        </p:txBody>
      </p:sp>
      <p:sp>
        <p:nvSpPr>
          <p:cNvPr id="103" name="s103"/>
          <p:cNvSpPr/>
          <p:nvPr/>
        </p:nvSpPr>
        <p:spPr>
          <a:xfrm>
            <a:off x="2433828" y="2148840"/>
            <a:ext cx="1634642" cy="457200"/>
          </a:xfrm>
          <a:prstGeom prst="roundRect">
            <a:avLst>
              <a:gd name="adj" fmla="val 20000"/>
            </a:avLst>
          </a:prstGeom>
          <a:solidFill>
            <a:srgbClr val="60A5FA">
              <a:alpha val="16000"/>
            </a:srgbClr>
          </a:solidFill>
          <a:ln w="12700">
            <a:solidFill>
              <a:srgbClr val="60A5FA"/>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Design</a:t>
            </a:r>
            <a:endParaRPr lang="en-US" sz="1200" dirty="0"/>
          </a:p>
        </p:txBody>
      </p:sp>
      <p:cxnSp>
        <p:nvCxnSpPr>
          <p:cNvPr id="104" name="ln104"/>
          <p:cNvCxnSpPr/>
          <p:nvPr/>
        </p:nvCxnSpPr>
        <p:spPr>
          <a:xfrm>
            <a:off x="2223516" y="2377440"/>
            <a:ext cx="164592" cy="0"/>
          </a:xfrm>
          <a:prstGeom prst="line">
            <a:avLst/>
          </a:prstGeom>
          <a:ln w="15875">
            <a:solidFill>
              <a:srgbClr val="94A3B8"/>
            </a:solidFill>
            <a:tailEnd type="triangle" w="med" len="med"/>
          </a:ln>
        </p:spPr>
      </p:cxnSp>
      <p:sp>
        <p:nvSpPr>
          <p:cNvPr id="105" name="s105"/>
          <p:cNvSpPr/>
          <p:nvPr/>
        </p:nvSpPr>
        <p:spPr>
          <a:xfrm>
            <a:off x="4324502" y="2148840"/>
            <a:ext cx="1634642" cy="457200"/>
          </a:xfrm>
          <a:prstGeom prst="roundRect">
            <a:avLst>
              <a:gd name="adj" fmla="val 20000"/>
            </a:avLst>
          </a:prstGeom>
          <a:solidFill>
            <a:srgbClr val="A78BFA">
              <a:alpha val="16000"/>
            </a:srgbClr>
          </a:solidFill>
          <a:ln w="12700">
            <a:solidFill>
              <a:srgbClr val="A78BFA"/>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Build</a:t>
            </a:r>
            <a:endParaRPr lang="en-US" sz="1200" dirty="0"/>
          </a:p>
        </p:txBody>
      </p:sp>
      <p:cxnSp>
        <p:nvCxnSpPr>
          <p:cNvPr id="106" name="ln106"/>
          <p:cNvCxnSpPr/>
          <p:nvPr/>
        </p:nvCxnSpPr>
        <p:spPr>
          <a:xfrm>
            <a:off x="4114190" y="2377440"/>
            <a:ext cx="164592" cy="0"/>
          </a:xfrm>
          <a:prstGeom prst="line">
            <a:avLst/>
          </a:prstGeom>
          <a:ln w="15875">
            <a:solidFill>
              <a:srgbClr val="94A3B8"/>
            </a:solidFill>
            <a:tailEnd type="triangle" w="med" len="med"/>
          </a:ln>
        </p:spPr>
      </p:cxnSp>
      <p:sp>
        <p:nvSpPr>
          <p:cNvPr id="107" name="s107"/>
          <p:cNvSpPr/>
          <p:nvPr/>
        </p:nvSpPr>
        <p:spPr>
          <a:xfrm>
            <a:off x="6215177" y="2148840"/>
            <a:ext cx="1634642" cy="457200"/>
          </a:xfrm>
          <a:prstGeom prst="roundRect">
            <a:avLst>
              <a:gd name="adj" fmla="val 20000"/>
            </a:avLst>
          </a:prstGeom>
          <a:solidFill>
            <a:srgbClr val="FBBF24">
              <a:alpha val="16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Test</a:t>
            </a:r>
            <a:endParaRPr lang="en-US" sz="1200" dirty="0"/>
          </a:p>
        </p:txBody>
      </p:sp>
      <p:cxnSp>
        <p:nvCxnSpPr>
          <p:cNvPr id="108" name="ln108"/>
          <p:cNvCxnSpPr/>
          <p:nvPr/>
        </p:nvCxnSpPr>
        <p:spPr>
          <a:xfrm>
            <a:off x="6004865" y="2377440"/>
            <a:ext cx="164592" cy="0"/>
          </a:xfrm>
          <a:prstGeom prst="line">
            <a:avLst/>
          </a:prstGeom>
          <a:ln w="15875">
            <a:solidFill>
              <a:srgbClr val="94A3B8"/>
            </a:solidFill>
            <a:tailEnd type="triangle" w="med" len="med"/>
          </a:ln>
        </p:spPr>
      </p:cxnSp>
      <p:sp>
        <p:nvSpPr>
          <p:cNvPr id="109" name="s109"/>
          <p:cNvSpPr/>
          <p:nvPr/>
        </p:nvSpPr>
        <p:spPr>
          <a:xfrm>
            <a:off x="8105851" y="2148840"/>
            <a:ext cx="1634642" cy="457200"/>
          </a:xfrm>
          <a:prstGeom prst="roundRect">
            <a:avLst>
              <a:gd name="adj" fmla="val 20000"/>
            </a:avLst>
          </a:prstGeom>
          <a:solidFill>
            <a:srgbClr val="34D399">
              <a:alpha val="16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Deploy</a:t>
            </a:r>
            <a:endParaRPr lang="en-US" sz="1200" dirty="0"/>
          </a:p>
        </p:txBody>
      </p:sp>
      <p:cxnSp>
        <p:nvCxnSpPr>
          <p:cNvPr id="110" name="ln110"/>
          <p:cNvCxnSpPr/>
          <p:nvPr/>
        </p:nvCxnSpPr>
        <p:spPr>
          <a:xfrm>
            <a:off x="7895539" y="2377440"/>
            <a:ext cx="164592" cy="0"/>
          </a:xfrm>
          <a:prstGeom prst="line">
            <a:avLst/>
          </a:prstGeom>
          <a:ln w="15875">
            <a:solidFill>
              <a:srgbClr val="94A3B8"/>
            </a:solidFill>
            <a:tailEnd type="triangle" w="med" len="med"/>
          </a:ln>
        </p:spPr>
      </p:cxnSp>
      <p:sp>
        <p:nvSpPr>
          <p:cNvPr id="111" name="s111"/>
          <p:cNvSpPr/>
          <p:nvPr/>
        </p:nvSpPr>
        <p:spPr>
          <a:xfrm>
            <a:off x="9996526" y="2148840"/>
            <a:ext cx="1634642" cy="457200"/>
          </a:xfrm>
          <a:prstGeom prst="roundRect">
            <a:avLst>
              <a:gd name="adj" fmla="val 20000"/>
            </a:avLst>
          </a:prstGeom>
          <a:solidFill>
            <a:srgbClr val="F472B6">
              <a:alpha val="16000"/>
            </a:srgbClr>
          </a:solidFill>
          <a:ln w="12700">
            <a:solidFill>
              <a:srgbClr val="F472B6"/>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Maintain</a:t>
            </a:r>
            <a:endParaRPr lang="en-US" sz="1200" dirty="0"/>
          </a:p>
        </p:txBody>
      </p:sp>
      <p:cxnSp>
        <p:nvCxnSpPr>
          <p:cNvPr id="112" name="ln112"/>
          <p:cNvCxnSpPr/>
          <p:nvPr/>
        </p:nvCxnSpPr>
        <p:spPr>
          <a:xfrm>
            <a:off x="9786214" y="2377440"/>
            <a:ext cx="164592" cy="0"/>
          </a:xfrm>
          <a:prstGeom prst="line">
            <a:avLst/>
          </a:prstGeom>
          <a:ln w="15875">
            <a:solidFill>
              <a:srgbClr val="94A3B8"/>
            </a:solidFill>
            <a:tailEnd type="triangle" w="med" len="med"/>
          </a:ln>
        </p:spPr>
      </p:cxnSp>
      <p:sp>
        <p:nvSpPr>
          <p:cNvPr id="113" name="s113"/>
          <p:cNvSpPr txBox="1"/>
          <p:nvPr/>
        </p:nvSpPr>
        <p:spPr>
          <a:xfrm>
            <a:off x="543154" y="2852928"/>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WHERE THEY DIFFER:  5 QUESTIONS</a:t>
            </a:r>
            <a:endParaRPr lang="en-US" sz="1100" dirty="0"/>
          </a:p>
        </p:txBody>
      </p:sp>
      <p:sp>
        <p:nvSpPr>
          <p:cNvPr id="114" name="s114"/>
          <p:cNvSpPr/>
          <p:nvPr/>
        </p:nvSpPr>
        <p:spPr>
          <a:xfrm>
            <a:off x="543154" y="3172968"/>
            <a:ext cx="2085929" cy="1417320"/>
          </a:xfrm>
          <a:prstGeom prst="roundRect">
            <a:avLst>
              <a:gd name="adj" fmla="val 10000"/>
            </a:avLst>
          </a:prstGeom>
          <a:solidFill>
            <a:srgbClr val="111B2E"/>
          </a:solidFill>
          <a:ln w="12700">
            <a:solidFill>
              <a:srgbClr val="13D0F7"/>
            </a:solidFill>
            <a:prstDash val="solid"/>
          </a:ln>
        </p:spPr>
        <p:txBody>
          <a:bodyPr wrap="square" lIns="182880" tIns="146304" rIns="164592" bIns="109728" rtlCol="0" anchor="t">
            <a:noAutofit/>
          </a:bodyPr>
          <a:lstStyle/>
          <a:p>
            <a:pPr marL="0" indent="0" algn="l">
              <a:spcBef>
                <a:spcPts val="0"/>
              </a:spcBef>
              <a:spcAft>
                <a:spcPts val="400"/>
              </a:spcAft>
              <a:buNone/>
            </a:pPr>
            <a:r>
              <a:rPr lang="en-US" sz="1100" b="1" dirty="0">
                <a:solidFill>
                  <a:srgbClr val="13D0F7"/>
                </a:solidFill>
                <a:latin typeface="Segoe UI"/>
                <a:ea typeface="Segoe UI"/>
                <a:cs typeface="Segoe UI"/>
              </a:rPr>
              <a:t>1  REQUIREMENTS</a:t>
            </a:r>
            <a:endParaRPr lang="en-US" sz="1100" dirty="0"/>
          </a:p>
          <a:p>
            <a:pPr marL="0" indent="0" algn="l">
              <a:spcBef>
                <a:spcPts val="0"/>
              </a:spcBef>
              <a:spcAft>
                <a:spcPts val="300"/>
              </a:spcAft>
              <a:buNone/>
            </a:pPr>
            <a:r>
              <a:rPr lang="en-US" sz="1250" b="0" dirty="0">
                <a:solidFill>
                  <a:srgbClr val="CBD5E1"/>
                </a:solidFill>
                <a:latin typeface="Segoe UI"/>
                <a:ea typeface="Segoe UI"/>
                <a:cs typeface="Segoe UI"/>
              </a:rPr>
              <a:t>Finish ALL requirements before coding?</a:t>
            </a:r>
            <a:endParaRPr lang="en-US" sz="1250" dirty="0"/>
          </a:p>
        </p:txBody>
      </p:sp>
      <p:sp>
        <p:nvSpPr>
          <p:cNvPr id="115" name="s115"/>
          <p:cNvSpPr/>
          <p:nvPr/>
        </p:nvSpPr>
        <p:spPr>
          <a:xfrm>
            <a:off x="2793675" y="3172968"/>
            <a:ext cx="2085929" cy="1417320"/>
          </a:xfrm>
          <a:prstGeom prst="roundRect">
            <a:avLst>
              <a:gd name="adj" fmla="val 10000"/>
            </a:avLst>
          </a:prstGeom>
          <a:solidFill>
            <a:srgbClr val="111B2E"/>
          </a:solidFill>
          <a:ln w="12700">
            <a:solidFill>
              <a:srgbClr val="34D399"/>
            </a:solidFill>
            <a:prstDash val="solid"/>
          </a:ln>
        </p:spPr>
        <p:txBody>
          <a:bodyPr wrap="square" lIns="182880" tIns="146304" rIns="164592" bIns="109728" rtlCol="0" anchor="t">
            <a:noAutofit/>
          </a:bodyPr>
          <a:lstStyle/>
          <a:p>
            <a:pPr marL="0" indent="0" algn="l">
              <a:spcBef>
                <a:spcPts val="0"/>
              </a:spcBef>
              <a:spcAft>
                <a:spcPts val="400"/>
              </a:spcAft>
              <a:buNone/>
            </a:pPr>
            <a:r>
              <a:rPr lang="en-US" sz="1100" b="1" dirty="0">
                <a:solidFill>
                  <a:srgbClr val="34D399"/>
                </a:solidFill>
                <a:latin typeface="Segoe UI"/>
                <a:ea typeface="Segoe UI"/>
                <a:cs typeface="Segoe UI"/>
              </a:rPr>
              <a:t>2  DELIVERY</a:t>
            </a:r>
            <a:endParaRPr lang="en-US" sz="1100" dirty="0"/>
          </a:p>
          <a:p>
            <a:pPr marL="0" indent="0" algn="l">
              <a:spcBef>
                <a:spcPts val="0"/>
              </a:spcBef>
              <a:spcAft>
                <a:spcPts val="300"/>
              </a:spcAft>
              <a:buNone/>
            </a:pPr>
            <a:r>
              <a:rPr lang="en-US" sz="1250" b="0" dirty="0">
                <a:solidFill>
                  <a:srgbClr val="CBD5E1"/>
                </a:solidFill>
                <a:latin typeface="Segoe UI"/>
                <a:ea typeface="Segoe UI"/>
                <a:cs typeface="Segoe UI"/>
              </a:rPr>
              <a:t>Ship the whole system at once, or in parts?</a:t>
            </a:r>
            <a:endParaRPr lang="en-US" sz="1250" dirty="0"/>
          </a:p>
        </p:txBody>
      </p:sp>
      <p:sp>
        <p:nvSpPr>
          <p:cNvPr id="116" name="s116"/>
          <p:cNvSpPr/>
          <p:nvPr/>
        </p:nvSpPr>
        <p:spPr>
          <a:xfrm>
            <a:off x="5044196" y="3172968"/>
            <a:ext cx="2085929" cy="1417320"/>
          </a:xfrm>
          <a:prstGeom prst="roundRect">
            <a:avLst>
              <a:gd name="adj" fmla="val 10000"/>
            </a:avLst>
          </a:prstGeom>
          <a:solidFill>
            <a:srgbClr val="111B2E"/>
          </a:solidFill>
          <a:ln w="12700">
            <a:solidFill>
              <a:srgbClr val="A78BFA"/>
            </a:solidFill>
            <a:prstDash val="solid"/>
          </a:ln>
        </p:spPr>
        <p:txBody>
          <a:bodyPr wrap="square" lIns="182880" tIns="146304" rIns="164592" bIns="109728" rtlCol="0" anchor="t">
            <a:noAutofit/>
          </a:bodyPr>
          <a:lstStyle/>
          <a:p>
            <a:pPr marL="0" indent="0" algn="l">
              <a:spcBef>
                <a:spcPts val="0"/>
              </a:spcBef>
              <a:spcAft>
                <a:spcPts val="400"/>
              </a:spcAft>
              <a:buNone/>
            </a:pPr>
            <a:r>
              <a:rPr lang="en-US" sz="1100" b="1" dirty="0">
                <a:solidFill>
                  <a:srgbClr val="A78BFA"/>
                </a:solidFill>
                <a:latin typeface="Segoe UI"/>
                <a:ea typeface="Segoe UI"/>
                <a:cs typeface="Segoe UI"/>
              </a:rPr>
              <a:t>3  DESIGN</a:t>
            </a:r>
            <a:endParaRPr lang="en-US" sz="1100" dirty="0"/>
          </a:p>
          <a:p>
            <a:pPr marL="0" indent="0" algn="l">
              <a:spcBef>
                <a:spcPts val="0"/>
              </a:spcBef>
              <a:spcAft>
                <a:spcPts val="300"/>
              </a:spcAft>
              <a:buNone/>
            </a:pPr>
            <a:r>
              <a:rPr lang="en-US" sz="1250" b="0" dirty="0">
                <a:solidFill>
                  <a:srgbClr val="CBD5E1"/>
                </a:solidFill>
                <a:latin typeface="Segoe UI"/>
                <a:ea typeface="Segoe UI"/>
                <a:cs typeface="Segoe UI"/>
              </a:rPr>
              <a:t>Can the design change during development?</a:t>
            </a:r>
            <a:endParaRPr lang="en-US" sz="1250" dirty="0"/>
          </a:p>
        </p:txBody>
      </p:sp>
      <p:sp>
        <p:nvSpPr>
          <p:cNvPr id="117" name="s117"/>
          <p:cNvSpPr/>
          <p:nvPr/>
        </p:nvSpPr>
        <p:spPr>
          <a:xfrm>
            <a:off x="7294717" y="3172968"/>
            <a:ext cx="2085929" cy="1417320"/>
          </a:xfrm>
          <a:prstGeom prst="roundRect">
            <a:avLst>
              <a:gd name="adj" fmla="val 10000"/>
            </a:avLst>
          </a:prstGeom>
          <a:solidFill>
            <a:srgbClr val="111B2E"/>
          </a:solidFill>
          <a:ln w="12700">
            <a:solidFill>
              <a:srgbClr val="FBBF24"/>
            </a:solidFill>
            <a:prstDash val="solid"/>
          </a:ln>
        </p:spPr>
        <p:txBody>
          <a:bodyPr wrap="square" lIns="182880" tIns="146304" rIns="164592" bIns="109728" rtlCol="0" anchor="t">
            <a:noAutofit/>
          </a:bodyPr>
          <a:lstStyle/>
          <a:p>
            <a:pPr marL="0" indent="0" algn="l">
              <a:spcBef>
                <a:spcPts val="0"/>
              </a:spcBef>
              <a:spcAft>
                <a:spcPts val="400"/>
              </a:spcAft>
              <a:buNone/>
            </a:pPr>
            <a:r>
              <a:rPr lang="en-US" sz="1100" b="1" dirty="0">
                <a:solidFill>
                  <a:srgbClr val="FBBF24"/>
                </a:solidFill>
                <a:latin typeface="Segoe UI"/>
                <a:ea typeface="Segoe UI"/>
                <a:cs typeface="Segoe UI"/>
              </a:rPr>
              <a:t>4  TESTING</a:t>
            </a:r>
            <a:endParaRPr lang="en-US" sz="1100" dirty="0"/>
          </a:p>
          <a:p>
            <a:pPr marL="0" indent="0" algn="l">
              <a:spcBef>
                <a:spcPts val="0"/>
              </a:spcBef>
              <a:spcAft>
                <a:spcPts val="300"/>
              </a:spcAft>
              <a:buNone/>
            </a:pPr>
            <a:r>
              <a:rPr lang="en-US" sz="1250" b="0" dirty="0">
                <a:solidFill>
                  <a:srgbClr val="CBD5E1"/>
                </a:solidFill>
                <a:latin typeface="Segoe UI"/>
                <a:ea typeface="Segoe UI"/>
                <a:cs typeface="Segoe UI"/>
              </a:rPr>
              <a:t>Test at the end, or during the work?</a:t>
            </a:r>
            <a:endParaRPr lang="en-US" sz="1250" dirty="0"/>
          </a:p>
        </p:txBody>
      </p:sp>
      <p:sp>
        <p:nvSpPr>
          <p:cNvPr id="118" name="s118"/>
          <p:cNvSpPr/>
          <p:nvPr/>
        </p:nvSpPr>
        <p:spPr>
          <a:xfrm>
            <a:off x="9545239" y="3172968"/>
            <a:ext cx="2085929" cy="1417320"/>
          </a:xfrm>
          <a:prstGeom prst="roundRect">
            <a:avLst>
              <a:gd name="adj" fmla="val 10000"/>
            </a:avLst>
          </a:prstGeom>
          <a:solidFill>
            <a:srgbClr val="111B2E"/>
          </a:solidFill>
          <a:ln w="12700">
            <a:solidFill>
              <a:srgbClr val="F87171"/>
            </a:solidFill>
            <a:prstDash val="solid"/>
          </a:ln>
        </p:spPr>
        <p:txBody>
          <a:bodyPr wrap="square" lIns="182880" tIns="146304" rIns="164592" bIns="109728" rtlCol="0" anchor="t">
            <a:noAutofit/>
          </a:bodyPr>
          <a:lstStyle/>
          <a:p>
            <a:pPr marL="0" indent="0" algn="l">
              <a:spcBef>
                <a:spcPts val="0"/>
              </a:spcBef>
              <a:spcAft>
                <a:spcPts val="400"/>
              </a:spcAft>
              <a:buNone/>
            </a:pPr>
            <a:r>
              <a:rPr lang="en-US" sz="1100" b="1" dirty="0">
                <a:solidFill>
                  <a:srgbClr val="F87171"/>
                </a:solidFill>
                <a:latin typeface="Segoe UI"/>
                <a:ea typeface="Segoe UI"/>
                <a:cs typeface="Segoe UI"/>
              </a:rPr>
              <a:t>5  RISK</a:t>
            </a:r>
            <a:endParaRPr lang="en-US" sz="1100" dirty="0"/>
          </a:p>
          <a:p>
            <a:pPr marL="0" indent="0" algn="l">
              <a:spcBef>
                <a:spcPts val="0"/>
              </a:spcBef>
              <a:spcAft>
                <a:spcPts val="300"/>
              </a:spcAft>
              <a:buNone/>
            </a:pPr>
            <a:r>
              <a:rPr lang="en-US" sz="1250" b="0" dirty="0">
                <a:solidFill>
                  <a:srgbClr val="CBD5E1"/>
                </a:solidFill>
                <a:latin typeface="Segoe UI"/>
                <a:ea typeface="Segoe UI"/>
                <a:cs typeface="Segoe UI"/>
              </a:rPr>
              <a:t>How do we handle risk and customer changes?</a:t>
            </a:r>
            <a:endParaRPr lang="en-US" sz="1250" dirty="0"/>
          </a:p>
        </p:txBody>
      </p:sp>
      <p:sp>
        <p:nvSpPr>
          <p:cNvPr id="119" name="s119"/>
          <p:cNvSpPr txBox="1"/>
          <p:nvPr/>
        </p:nvSpPr>
        <p:spPr>
          <a:xfrm>
            <a:off x="543154" y="475488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THE SIX ANSWERS WE WILL MEET</a:t>
            </a:r>
            <a:endParaRPr lang="en-US" sz="1100" dirty="0"/>
          </a:p>
        </p:txBody>
      </p:sp>
      <p:sp>
        <p:nvSpPr>
          <p:cNvPr id="120" name="s120"/>
          <p:cNvSpPr/>
          <p:nvPr/>
        </p:nvSpPr>
        <p:spPr>
          <a:xfrm>
            <a:off x="543154" y="5074920"/>
            <a:ext cx="1710842" cy="502920"/>
          </a:xfrm>
          <a:prstGeom prst="roundRect">
            <a:avLst>
              <a:gd name="adj" fmla="val 15000"/>
            </a:avLst>
          </a:prstGeom>
          <a:solidFill>
            <a:srgbClr val="111B2E"/>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300" b="1" dirty="0">
                <a:solidFill>
                  <a:srgbClr val="13D0F7"/>
                </a:solidFill>
                <a:latin typeface="Segoe UI"/>
                <a:ea typeface="Segoe UI"/>
                <a:cs typeface="Segoe UI"/>
              </a:rPr>
              <a:t>1  Waterfall</a:t>
            </a:r>
            <a:endParaRPr lang="en-US" sz="1300" dirty="0"/>
          </a:p>
        </p:txBody>
      </p:sp>
      <p:sp>
        <p:nvSpPr>
          <p:cNvPr id="121" name="s121"/>
          <p:cNvSpPr/>
          <p:nvPr/>
        </p:nvSpPr>
        <p:spPr>
          <a:xfrm>
            <a:off x="2418588" y="5074920"/>
            <a:ext cx="1710842" cy="502920"/>
          </a:xfrm>
          <a:prstGeom prst="roundRect">
            <a:avLst>
              <a:gd name="adj" fmla="val 15000"/>
            </a:avLst>
          </a:prstGeom>
          <a:solidFill>
            <a:srgbClr val="111B2E"/>
          </a:solidFill>
          <a:ln w="1905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2  V-Model</a:t>
            </a:r>
            <a:endParaRPr lang="en-US" sz="1300" dirty="0"/>
          </a:p>
        </p:txBody>
      </p:sp>
      <p:sp>
        <p:nvSpPr>
          <p:cNvPr id="122" name="s122"/>
          <p:cNvSpPr/>
          <p:nvPr/>
        </p:nvSpPr>
        <p:spPr>
          <a:xfrm>
            <a:off x="4294022" y="5074920"/>
            <a:ext cx="1710842" cy="502920"/>
          </a:xfrm>
          <a:prstGeom prst="roundRect">
            <a:avLst>
              <a:gd name="adj" fmla="val 15000"/>
            </a:avLst>
          </a:prstGeom>
          <a:solidFill>
            <a:srgbClr val="111B2E"/>
          </a:solidFill>
          <a:ln w="1905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300" b="1" dirty="0">
                <a:solidFill>
                  <a:srgbClr val="A78BFA"/>
                </a:solidFill>
                <a:latin typeface="Segoe UI"/>
                <a:ea typeface="Segoe UI"/>
                <a:cs typeface="Segoe UI"/>
              </a:rPr>
              <a:t>3  Spiral</a:t>
            </a:r>
            <a:endParaRPr lang="en-US" sz="1300" dirty="0"/>
          </a:p>
        </p:txBody>
      </p:sp>
      <p:sp>
        <p:nvSpPr>
          <p:cNvPr id="123" name="s123"/>
          <p:cNvSpPr/>
          <p:nvPr/>
        </p:nvSpPr>
        <p:spPr>
          <a:xfrm>
            <a:off x="6169457" y="5074920"/>
            <a:ext cx="1710842" cy="502920"/>
          </a:xfrm>
          <a:prstGeom prst="roundRect">
            <a:avLst>
              <a:gd name="adj" fmla="val 15000"/>
            </a:avLst>
          </a:prstGeom>
          <a:solidFill>
            <a:srgbClr val="111B2E"/>
          </a:solidFill>
          <a:ln w="1905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4  Incremental</a:t>
            </a:r>
            <a:endParaRPr lang="en-US" sz="1300" dirty="0"/>
          </a:p>
        </p:txBody>
      </p:sp>
      <p:sp>
        <p:nvSpPr>
          <p:cNvPr id="124" name="s124"/>
          <p:cNvSpPr/>
          <p:nvPr/>
        </p:nvSpPr>
        <p:spPr>
          <a:xfrm>
            <a:off x="8044891" y="5074920"/>
            <a:ext cx="1710842" cy="502920"/>
          </a:xfrm>
          <a:prstGeom prst="roundRect">
            <a:avLst>
              <a:gd name="adj" fmla="val 15000"/>
            </a:avLst>
          </a:prstGeom>
          <a:solidFill>
            <a:srgbClr val="111B2E"/>
          </a:solidFill>
          <a:ln w="1905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300" b="1" dirty="0">
                <a:solidFill>
                  <a:srgbClr val="34D399"/>
                </a:solidFill>
                <a:latin typeface="Segoe UI"/>
                <a:ea typeface="Segoe UI"/>
                <a:cs typeface="Segoe UI"/>
              </a:rPr>
              <a:t>5  Iterative</a:t>
            </a:r>
            <a:endParaRPr lang="en-US" sz="1300" dirty="0"/>
          </a:p>
        </p:txBody>
      </p:sp>
      <p:sp>
        <p:nvSpPr>
          <p:cNvPr id="125" name="s125"/>
          <p:cNvSpPr/>
          <p:nvPr/>
        </p:nvSpPr>
        <p:spPr>
          <a:xfrm>
            <a:off x="9920326" y="5074920"/>
            <a:ext cx="1710842" cy="502920"/>
          </a:xfrm>
          <a:prstGeom prst="roundRect">
            <a:avLst>
              <a:gd name="adj" fmla="val 15000"/>
            </a:avLst>
          </a:prstGeom>
          <a:solidFill>
            <a:srgbClr val="111B2E"/>
          </a:solidFill>
          <a:ln w="19050">
            <a:solidFill>
              <a:srgbClr val="F472B6"/>
            </a:solidFill>
            <a:prstDash val="solid"/>
          </a:ln>
        </p:spPr>
        <p:txBody>
          <a:bodyPr wrap="square" lIns="0" tIns="0" rIns="0" bIns="0" rtlCol="0" anchor="ctr">
            <a:noAutofit/>
          </a:bodyPr>
          <a:lstStyle/>
          <a:p>
            <a:pPr marL="0" indent="0" algn="ctr">
              <a:spcBef>
                <a:spcPts val="0"/>
              </a:spcBef>
              <a:spcAft>
                <a:spcPts val="0"/>
              </a:spcAft>
              <a:buNone/>
            </a:pPr>
            <a:r>
              <a:rPr lang="en-US" sz="1300" b="1" dirty="0">
                <a:solidFill>
                  <a:srgbClr val="F472B6"/>
                </a:solidFill>
                <a:latin typeface="Segoe UI"/>
                <a:ea typeface="Segoe UI"/>
                <a:cs typeface="Segoe UI"/>
              </a:rPr>
              <a:t>6  Agile</a:t>
            </a:r>
            <a:endParaRPr lang="en-US" sz="1300" dirty="0"/>
          </a:p>
        </p:txBody>
      </p:sp>
      <p:sp>
        <p:nvSpPr>
          <p:cNvPr id="126" name="s126"/>
          <p:cNvSpPr/>
          <p:nvPr/>
        </p:nvSpPr>
        <p:spPr>
          <a:xfrm>
            <a:off x="543154" y="5742432"/>
            <a:ext cx="11088014" cy="457200"/>
          </a:xfrm>
          <a:prstGeom prst="roundRect">
            <a:avLst>
              <a:gd name="adj" fmla="val 12000"/>
            </a:avLst>
          </a:prstGeom>
          <a:solidFill>
            <a:srgbClr val="111B2E"/>
          </a:solidFill>
          <a:ln w="12700">
            <a:solidFill>
              <a:srgbClr val="FBBF24"/>
            </a:solidFill>
            <a:prstDash val="solid"/>
          </a:ln>
        </p:spPr>
        <p:txBody>
          <a:bodyPr wrap="square" lIns="228600" tIns="45720" rIns="228600" bIns="45720" rtlCol="0" anchor="ctr">
            <a:noAutofit/>
          </a:bodyPr>
          <a:lstStyle/>
          <a:p>
            <a:pPr marL="0" indent="0" algn="ctr">
              <a:spcBef>
                <a:spcPts val="0"/>
              </a:spcBef>
              <a:spcAft>
                <a:spcPts val="0"/>
              </a:spcAft>
              <a:buNone/>
            </a:pPr>
            <a:r>
              <a:rPr lang="en-US" sz="1250" b="1" dirty="0">
                <a:solidFill>
                  <a:srgbClr val="FBBF24"/>
                </a:solidFill>
                <a:latin typeface="Segoe UI"/>
                <a:ea typeface="Segoe UI"/>
                <a:cs typeface="Segoe UI"/>
              </a:rPr>
              <a:t>Running example</a:t>
            </a:r>
            <a:r>
              <a:rPr lang="en-US" sz="1250" b="0" dirty="0">
                <a:solidFill>
                  <a:srgbClr val="E2E8F0"/>
                </a:solidFill>
                <a:latin typeface="Segoe UI"/>
                <a:ea typeface="Segoe UI"/>
                <a:cs typeface="Segoe UI"/>
              </a:rPr>
              <a:t>   E-commerce:  Login · Products · Cart · Orders · Payments</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9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ppt_x</p:attrName>
                                        </p:attrNameLst>
                                      </p:cBhvr>
                                      <p:tavLst>
                                        <p:tav tm="0">
                                          <p:val>
                                            <p:strVal val="#ppt_x-0.05"/>
                                          </p:val>
                                        </p:tav>
                                        <p:tav tm="100000">
                                          <p:val>
                                            <p:strVal val="#ppt_x"/>
                                          </p:val>
                                        </p:tav>
                                      </p:tavLst>
                                    </p:anim>
                                  </p:childTnLst>
                                </p:cTn>
                              </p:par>
                              <p:par>
                                <p:cTn id="13" presetID="42" presetClass="entr" presetSubtype="0" fill="hold" nodeType="withEffect">
                                  <p:stCondLst>
                                    <p:cond delay="9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ppt_x</p:attrName>
                                        </p:attrNameLst>
                                      </p:cBhvr>
                                      <p:tavLst>
                                        <p:tav tm="0">
                                          <p:val>
                                            <p:strVal val="#ppt_x-0.05"/>
                                          </p:val>
                                        </p:tav>
                                        <p:tav tm="100000">
                                          <p:val>
                                            <p:strVal val="#ppt_x"/>
                                          </p:val>
                                        </p:tav>
                                      </p:tavLst>
                                    </p:anim>
                                  </p:childTnLst>
                                </p:cTn>
                              </p:par>
                              <p:par>
                                <p:cTn id="17" presetID="42" presetClass="entr" presetSubtype="0" fill="hold" grpId="0" nodeType="withEffect">
                                  <p:stCondLst>
                                    <p:cond delay="90"/>
                                  </p:stCondLst>
                                  <p:childTnLst>
                                    <p:set>
                                      <p:cBhvr>
                                        <p:cTn id="18" dur="1" fill="hold">
                                          <p:stCondLst>
                                            <p:cond delay="0"/>
                                          </p:stCondLst>
                                        </p:cTn>
                                        <p:tgtEl>
                                          <p:spTgt spid="103"/>
                                        </p:tgtEl>
                                        <p:attrNameLst>
                                          <p:attrName>style.visibility</p:attrName>
                                        </p:attrNameLst>
                                      </p:cBhvr>
                                      <p:to>
                                        <p:strVal val="visible"/>
                                      </p:to>
                                    </p:set>
                                    <p:animEffect transition="in" filter="fade">
                                      <p:cBhvr>
                                        <p:cTn id="19" dur="500"/>
                                        <p:tgtEl>
                                          <p:spTgt spid="103"/>
                                        </p:tgtEl>
                                      </p:cBhvr>
                                    </p:animEffect>
                                    <p:anim calcmode="lin" valueType="num">
                                      <p:cBhvr additive="base">
                                        <p:cTn id="20" dur="500" decel="100000" fill="hold"/>
                                        <p:tgtEl>
                                          <p:spTgt spid="103"/>
                                        </p:tgtEl>
                                        <p:attrNameLst>
                                          <p:attrName>ppt_x</p:attrName>
                                        </p:attrNameLst>
                                      </p:cBhvr>
                                      <p:tavLst>
                                        <p:tav tm="0">
                                          <p:val>
                                            <p:strVal val="#ppt_x-0.05"/>
                                          </p:val>
                                        </p:tav>
                                        <p:tav tm="100000">
                                          <p:val>
                                            <p:strVal val="#ppt_x"/>
                                          </p:val>
                                        </p:tav>
                                      </p:tavLst>
                                    </p:anim>
                                  </p:childTnLst>
                                </p:cTn>
                              </p:par>
                              <p:par>
                                <p:cTn id="21" presetID="42" presetClass="entr" presetSubtype="0" fill="hold" nodeType="withEffect">
                                  <p:stCondLst>
                                    <p:cond delay="9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9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anim calcmode="lin" valueType="num">
                                      <p:cBhvr additive="base">
                                        <p:cTn id="28" dur="500" decel="100000" fill="hold"/>
                                        <p:tgtEl>
                                          <p:spTgt spid="105"/>
                                        </p:tgtEl>
                                        <p:attrNameLst>
                                          <p:attrName>ppt_x</p:attrName>
                                        </p:attrNameLst>
                                      </p:cBhvr>
                                      <p:tavLst>
                                        <p:tav tm="0">
                                          <p:val>
                                            <p:strVal val="#ppt_x-0.05"/>
                                          </p:val>
                                        </p:tav>
                                        <p:tav tm="100000">
                                          <p:val>
                                            <p:strVal val="#ppt_x"/>
                                          </p:val>
                                        </p:tav>
                                      </p:tavLst>
                                    </p:anim>
                                  </p:childTnLst>
                                </p:cTn>
                              </p:par>
                              <p:par>
                                <p:cTn id="29" presetID="42" presetClass="entr" presetSubtype="0" fill="hold" nodeType="withEffect">
                                  <p:stCondLst>
                                    <p:cond delay="9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ppt_x</p:attrName>
                                        </p:attrNameLst>
                                      </p:cBhvr>
                                      <p:tavLst>
                                        <p:tav tm="0">
                                          <p:val>
                                            <p:strVal val="#ppt_x-0.05"/>
                                          </p:val>
                                        </p:tav>
                                        <p:tav tm="100000">
                                          <p:val>
                                            <p:strVal val="#ppt_x"/>
                                          </p:val>
                                        </p:tav>
                                      </p:tavLst>
                                    </p:anim>
                                  </p:childTnLst>
                                </p:cTn>
                              </p:par>
                              <p:par>
                                <p:cTn id="33" presetID="42" presetClass="entr" presetSubtype="0" fill="hold" grpId="0" nodeType="withEffect">
                                  <p:stCondLst>
                                    <p:cond delay="90"/>
                                  </p:stCondLst>
                                  <p:childTnLst>
                                    <p:set>
                                      <p:cBhvr>
                                        <p:cTn id="34" dur="1" fill="hold">
                                          <p:stCondLst>
                                            <p:cond delay="0"/>
                                          </p:stCondLst>
                                        </p:cTn>
                                        <p:tgtEl>
                                          <p:spTgt spid="107"/>
                                        </p:tgtEl>
                                        <p:attrNameLst>
                                          <p:attrName>style.visibility</p:attrName>
                                        </p:attrNameLst>
                                      </p:cBhvr>
                                      <p:to>
                                        <p:strVal val="visible"/>
                                      </p:to>
                                    </p:set>
                                    <p:animEffect transition="in" filter="fade">
                                      <p:cBhvr>
                                        <p:cTn id="35" dur="500"/>
                                        <p:tgtEl>
                                          <p:spTgt spid="107"/>
                                        </p:tgtEl>
                                      </p:cBhvr>
                                    </p:animEffect>
                                    <p:anim calcmode="lin" valueType="num">
                                      <p:cBhvr additive="base">
                                        <p:cTn id="36" dur="500" decel="100000" fill="hold"/>
                                        <p:tgtEl>
                                          <p:spTgt spid="107"/>
                                        </p:tgtEl>
                                        <p:attrNameLst>
                                          <p:attrName>ppt_x</p:attrName>
                                        </p:attrNameLst>
                                      </p:cBhvr>
                                      <p:tavLst>
                                        <p:tav tm="0">
                                          <p:val>
                                            <p:strVal val="#ppt_x-0.05"/>
                                          </p:val>
                                        </p:tav>
                                        <p:tav tm="100000">
                                          <p:val>
                                            <p:strVal val="#ppt_x"/>
                                          </p:val>
                                        </p:tav>
                                      </p:tavLst>
                                    </p:anim>
                                  </p:childTnLst>
                                </p:cTn>
                              </p:par>
                              <p:par>
                                <p:cTn id="37" presetID="42" presetClass="entr" presetSubtype="0" fill="hold" nodeType="withEffect">
                                  <p:stCondLst>
                                    <p:cond delay="9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500"/>
                                        <p:tgtEl>
                                          <p:spTgt spid="110"/>
                                        </p:tgtEl>
                                      </p:cBhvr>
                                    </p:animEffect>
                                    <p:anim calcmode="lin" valueType="num">
                                      <p:cBhvr additive="base">
                                        <p:cTn id="40" dur="500" decel="100000" fill="hold"/>
                                        <p:tgtEl>
                                          <p:spTgt spid="110"/>
                                        </p:tgtEl>
                                        <p:attrNameLst>
                                          <p:attrName>ppt_x</p:attrName>
                                        </p:attrNameLst>
                                      </p:cBhvr>
                                      <p:tavLst>
                                        <p:tav tm="0">
                                          <p:val>
                                            <p:strVal val="#ppt_x-0.05"/>
                                          </p:val>
                                        </p:tav>
                                        <p:tav tm="100000">
                                          <p:val>
                                            <p:strVal val="#ppt_x"/>
                                          </p:val>
                                        </p:tav>
                                      </p:tavLst>
                                    </p:anim>
                                  </p:childTnLst>
                                </p:cTn>
                              </p:par>
                              <p:par>
                                <p:cTn id="41" presetID="42" presetClass="entr" presetSubtype="0" fill="hold" grpId="0" nodeType="withEffect">
                                  <p:stCondLst>
                                    <p:cond delay="90"/>
                                  </p:stCondLst>
                                  <p:childTnLst>
                                    <p:set>
                                      <p:cBhvr>
                                        <p:cTn id="42" dur="1" fill="hold">
                                          <p:stCondLst>
                                            <p:cond delay="0"/>
                                          </p:stCondLst>
                                        </p:cTn>
                                        <p:tgtEl>
                                          <p:spTgt spid="109"/>
                                        </p:tgtEl>
                                        <p:attrNameLst>
                                          <p:attrName>style.visibility</p:attrName>
                                        </p:attrNameLst>
                                      </p:cBhvr>
                                      <p:to>
                                        <p:strVal val="visible"/>
                                      </p:to>
                                    </p:set>
                                    <p:animEffect transition="in" filter="fade">
                                      <p:cBhvr>
                                        <p:cTn id="43" dur="500"/>
                                        <p:tgtEl>
                                          <p:spTgt spid="109"/>
                                        </p:tgtEl>
                                      </p:cBhvr>
                                    </p:animEffect>
                                    <p:anim calcmode="lin" valueType="num">
                                      <p:cBhvr additive="base">
                                        <p:cTn id="44" dur="500" decel="100000" fill="hold"/>
                                        <p:tgtEl>
                                          <p:spTgt spid="109"/>
                                        </p:tgtEl>
                                        <p:attrNameLst>
                                          <p:attrName>ppt_x</p:attrName>
                                        </p:attrNameLst>
                                      </p:cBhvr>
                                      <p:tavLst>
                                        <p:tav tm="0">
                                          <p:val>
                                            <p:strVal val="#ppt_x-0.05"/>
                                          </p:val>
                                        </p:tav>
                                        <p:tav tm="100000">
                                          <p:val>
                                            <p:strVal val="#ppt_x"/>
                                          </p:val>
                                        </p:tav>
                                      </p:tavLst>
                                    </p:anim>
                                  </p:childTnLst>
                                </p:cTn>
                              </p:par>
                              <p:par>
                                <p:cTn id="45" presetID="42" presetClass="entr" presetSubtype="0" fill="hold" nodeType="withEffect">
                                  <p:stCondLst>
                                    <p:cond delay="9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500"/>
                                        <p:tgtEl>
                                          <p:spTgt spid="112"/>
                                        </p:tgtEl>
                                      </p:cBhvr>
                                    </p:animEffect>
                                    <p:anim calcmode="lin" valueType="num">
                                      <p:cBhvr additive="base">
                                        <p:cTn id="48" dur="500" decel="100000" fill="hold"/>
                                        <p:tgtEl>
                                          <p:spTgt spid="112"/>
                                        </p:tgtEl>
                                        <p:attrNameLst>
                                          <p:attrName>ppt_x</p:attrName>
                                        </p:attrNameLst>
                                      </p:cBhvr>
                                      <p:tavLst>
                                        <p:tav tm="0">
                                          <p:val>
                                            <p:strVal val="#ppt_x-0.05"/>
                                          </p:val>
                                        </p:tav>
                                        <p:tav tm="100000">
                                          <p:val>
                                            <p:strVal val="#ppt_x"/>
                                          </p:val>
                                        </p:tav>
                                      </p:tavLst>
                                    </p:anim>
                                  </p:childTnLst>
                                </p:cTn>
                              </p:par>
                              <p:par>
                                <p:cTn id="49" presetID="42" presetClass="entr" presetSubtype="0" fill="hold" grpId="0" nodeType="withEffect">
                                  <p:stCondLst>
                                    <p:cond delay="90"/>
                                  </p:stCondLst>
                                  <p:childTnLst>
                                    <p:set>
                                      <p:cBhvr>
                                        <p:cTn id="50" dur="1" fill="hold">
                                          <p:stCondLst>
                                            <p:cond delay="0"/>
                                          </p:stCondLst>
                                        </p:cTn>
                                        <p:tgtEl>
                                          <p:spTgt spid="111"/>
                                        </p:tgtEl>
                                        <p:attrNameLst>
                                          <p:attrName>style.visibility</p:attrName>
                                        </p:attrNameLst>
                                      </p:cBhvr>
                                      <p:to>
                                        <p:strVal val="visible"/>
                                      </p:to>
                                    </p:set>
                                    <p:animEffect transition="in" filter="fade">
                                      <p:cBhvr>
                                        <p:cTn id="51" dur="500"/>
                                        <p:tgtEl>
                                          <p:spTgt spid="111"/>
                                        </p:tgtEl>
                                      </p:cBhvr>
                                    </p:animEffect>
                                    <p:anim calcmode="lin" valueType="num">
                                      <p:cBhvr additive="base">
                                        <p:cTn id="52" dur="500" decel="100000" fill="hold"/>
                                        <p:tgtEl>
                                          <p:spTgt spid="111"/>
                                        </p:tgtEl>
                                        <p:attrNameLst>
                                          <p:attrName>ppt_x</p:attrName>
                                        </p:attrNameLst>
                                      </p:cBhvr>
                                      <p:tavLst>
                                        <p:tav tm="0">
                                          <p:val>
                                            <p:strVal val="#ppt_x-0.05"/>
                                          </p:val>
                                        </p:tav>
                                        <p:tav tm="100000">
                                          <p:val>
                                            <p:strVal val="#ppt_x"/>
                                          </p:val>
                                        </p:tav>
                                      </p:tavLst>
                                    </p:anim>
                                  </p:childTnLst>
                                </p:cTn>
                              </p:par>
                            </p:childTnLst>
                          </p:cTn>
                        </p:par>
                      </p:childTnLst>
                    </p:cTn>
                  </p:par>
                  <p:par>
                    <p:cTn id="53" fill="hold">
                      <p:stCondLst>
                        <p:cond delay="indefinite"/>
                      </p:stCondLst>
                      <p:childTnLst>
                        <p:par>
                          <p:cTn id="54" fill="hold">
                            <p:stCondLst>
                              <p:cond delay="0"/>
                            </p:stCondLst>
                            <p:childTnLst>
                              <p:par>
                                <p:cTn id="55" presetID="42" presetClass="entr" presetSubtype="0" fill="hold" grpId="0" nodeType="clickEffect">
                                  <p:stCondLst>
                                    <p:cond delay="0"/>
                                  </p:stCondLst>
                                  <p:childTnLst>
                                    <p:set>
                                      <p:cBhvr>
                                        <p:cTn id="56" dur="1" fill="hold">
                                          <p:stCondLst>
                                            <p:cond delay="0"/>
                                          </p:stCondLst>
                                        </p:cTn>
                                        <p:tgtEl>
                                          <p:spTgt spid="113"/>
                                        </p:tgtEl>
                                        <p:attrNameLst>
                                          <p:attrName>style.visibility</p:attrName>
                                        </p:attrNameLst>
                                      </p:cBhvr>
                                      <p:to>
                                        <p:strVal val="visible"/>
                                      </p:to>
                                    </p:set>
                                    <p:animEffect transition="in" filter="fade">
                                      <p:cBhvr>
                                        <p:cTn id="57" dur="500"/>
                                        <p:tgtEl>
                                          <p:spTgt spid="113"/>
                                        </p:tgtEl>
                                      </p:cBhvr>
                                    </p:animEffect>
                                    <p:anim calcmode="lin" valueType="num">
                                      <p:cBhvr additive="base">
                                        <p:cTn id="58" dur="500" decel="100000" fill="hold"/>
                                        <p:tgtEl>
                                          <p:spTgt spid="113"/>
                                        </p:tgtEl>
                                        <p:attrNameLst>
                                          <p:attrName>ppt_y</p:attrName>
                                        </p:attrNameLst>
                                      </p:cBhvr>
                                      <p:tavLst>
                                        <p:tav tm="0">
                                          <p:val>
                                            <p:strVal val="#ppt_y+0.06"/>
                                          </p:val>
                                        </p:tav>
                                        <p:tav tm="100000">
                                          <p:val>
                                            <p:strVal val="#ppt_y"/>
                                          </p:val>
                                        </p:tav>
                                      </p:tavLst>
                                    </p:anim>
                                  </p:childTnLst>
                                </p:cTn>
                              </p:par>
                              <p:par>
                                <p:cTn id="59" presetID="42" presetClass="entr" presetSubtype="0" fill="hold" grpId="0" nodeType="withEffect">
                                  <p:stCondLst>
                                    <p:cond delay="110"/>
                                  </p:stCondLst>
                                  <p:childTnLst>
                                    <p:set>
                                      <p:cBhvr>
                                        <p:cTn id="60" dur="1" fill="hold">
                                          <p:stCondLst>
                                            <p:cond delay="0"/>
                                          </p:stCondLst>
                                        </p:cTn>
                                        <p:tgtEl>
                                          <p:spTgt spid="114"/>
                                        </p:tgtEl>
                                        <p:attrNameLst>
                                          <p:attrName>style.visibility</p:attrName>
                                        </p:attrNameLst>
                                      </p:cBhvr>
                                      <p:to>
                                        <p:strVal val="visible"/>
                                      </p:to>
                                    </p:set>
                                    <p:animEffect transition="in" filter="fade">
                                      <p:cBhvr>
                                        <p:cTn id="61" dur="500"/>
                                        <p:tgtEl>
                                          <p:spTgt spid="114"/>
                                        </p:tgtEl>
                                      </p:cBhvr>
                                    </p:animEffect>
                                    <p:anim calcmode="lin" valueType="num">
                                      <p:cBhvr additive="base">
                                        <p:cTn id="62" dur="500" decel="100000" fill="hold"/>
                                        <p:tgtEl>
                                          <p:spTgt spid="114"/>
                                        </p:tgtEl>
                                        <p:attrNameLst>
                                          <p:attrName>ppt_y</p:attrName>
                                        </p:attrNameLst>
                                      </p:cBhvr>
                                      <p:tavLst>
                                        <p:tav tm="0">
                                          <p:val>
                                            <p:strVal val="#ppt_y+0.06"/>
                                          </p:val>
                                        </p:tav>
                                        <p:tav tm="100000">
                                          <p:val>
                                            <p:strVal val="#ppt_y"/>
                                          </p:val>
                                        </p:tav>
                                      </p:tavLst>
                                    </p:anim>
                                  </p:childTnLst>
                                </p:cTn>
                              </p:par>
                              <p:par>
                                <p:cTn id="63" presetID="42" presetClass="entr" presetSubtype="0" fill="hold" grpId="0" nodeType="withEffect">
                                  <p:stCondLst>
                                    <p:cond delay="220"/>
                                  </p:stCondLst>
                                  <p:childTnLst>
                                    <p:set>
                                      <p:cBhvr>
                                        <p:cTn id="64" dur="1" fill="hold">
                                          <p:stCondLst>
                                            <p:cond delay="0"/>
                                          </p:stCondLst>
                                        </p:cTn>
                                        <p:tgtEl>
                                          <p:spTgt spid="115"/>
                                        </p:tgtEl>
                                        <p:attrNameLst>
                                          <p:attrName>style.visibility</p:attrName>
                                        </p:attrNameLst>
                                      </p:cBhvr>
                                      <p:to>
                                        <p:strVal val="visible"/>
                                      </p:to>
                                    </p:set>
                                    <p:animEffect transition="in" filter="fade">
                                      <p:cBhvr>
                                        <p:cTn id="65" dur="500"/>
                                        <p:tgtEl>
                                          <p:spTgt spid="115"/>
                                        </p:tgtEl>
                                      </p:cBhvr>
                                    </p:animEffect>
                                    <p:anim calcmode="lin" valueType="num">
                                      <p:cBhvr additive="base">
                                        <p:cTn id="66" dur="500" decel="100000" fill="hold"/>
                                        <p:tgtEl>
                                          <p:spTgt spid="115"/>
                                        </p:tgtEl>
                                        <p:attrNameLst>
                                          <p:attrName>ppt_y</p:attrName>
                                        </p:attrNameLst>
                                      </p:cBhvr>
                                      <p:tavLst>
                                        <p:tav tm="0">
                                          <p:val>
                                            <p:strVal val="#ppt_y+0.06"/>
                                          </p:val>
                                        </p:tav>
                                        <p:tav tm="100000">
                                          <p:val>
                                            <p:strVal val="#ppt_y"/>
                                          </p:val>
                                        </p:tav>
                                      </p:tavLst>
                                    </p:anim>
                                  </p:childTnLst>
                                </p:cTn>
                              </p:par>
                              <p:par>
                                <p:cTn id="67" presetID="42" presetClass="entr" presetSubtype="0" fill="hold" grpId="0" nodeType="withEffect">
                                  <p:stCondLst>
                                    <p:cond delay="33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500"/>
                                        <p:tgtEl>
                                          <p:spTgt spid="116"/>
                                        </p:tgtEl>
                                      </p:cBhvr>
                                    </p:animEffect>
                                    <p:anim calcmode="lin" valueType="num">
                                      <p:cBhvr additive="base">
                                        <p:cTn id="70" dur="500" decel="100000" fill="hold"/>
                                        <p:tgtEl>
                                          <p:spTgt spid="116"/>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440"/>
                                  </p:stCondLst>
                                  <p:childTnLst>
                                    <p:set>
                                      <p:cBhvr>
                                        <p:cTn id="72" dur="1" fill="hold">
                                          <p:stCondLst>
                                            <p:cond delay="0"/>
                                          </p:stCondLst>
                                        </p:cTn>
                                        <p:tgtEl>
                                          <p:spTgt spid="117"/>
                                        </p:tgtEl>
                                        <p:attrNameLst>
                                          <p:attrName>style.visibility</p:attrName>
                                        </p:attrNameLst>
                                      </p:cBhvr>
                                      <p:to>
                                        <p:strVal val="visible"/>
                                      </p:to>
                                    </p:set>
                                    <p:animEffect transition="in" filter="fade">
                                      <p:cBhvr>
                                        <p:cTn id="73" dur="500"/>
                                        <p:tgtEl>
                                          <p:spTgt spid="117"/>
                                        </p:tgtEl>
                                      </p:cBhvr>
                                    </p:animEffect>
                                    <p:anim calcmode="lin" valueType="num">
                                      <p:cBhvr additive="base">
                                        <p:cTn id="74" dur="500" decel="100000" fill="hold"/>
                                        <p:tgtEl>
                                          <p:spTgt spid="117"/>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550"/>
                                  </p:stCondLst>
                                  <p:childTnLst>
                                    <p:set>
                                      <p:cBhvr>
                                        <p:cTn id="76" dur="1" fill="hold">
                                          <p:stCondLst>
                                            <p:cond delay="0"/>
                                          </p:stCondLst>
                                        </p:cTn>
                                        <p:tgtEl>
                                          <p:spTgt spid="118"/>
                                        </p:tgtEl>
                                        <p:attrNameLst>
                                          <p:attrName>style.visibility</p:attrName>
                                        </p:attrNameLst>
                                      </p:cBhvr>
                                      <p:to>
                                        <p:strVal val="visible"/>
                                      </p:to>
                                    </p:set>
                                    <p:animEffect transition="in" filter="fade">
                                      <p:cBhvr>
                                        <p:cTn id="77" dur="500"/>
                                        <p:tgtEl>
                                          <p:spTgt spid="118"/>
                                        </p:tgtEl>
                                      </p:cBhvr>
                                    </p:animEffect>
                                    <p:anim calcmode="lin" valueType="num">
                                      <p:cBhvr additive="base">
                                        <p:cTn id="78" dur="500" decel="100000" fill="hold"/>
                                        <p:tgtEl>
                                          <p:spTgt spid="118"/>
                                        </p:tgtEl>
                                        <p:attrNameLst>
                                          <p:attrName>ppt_y</p:attrName>
                                        </p:attrNameLst>
                                      </p:cBhvr>
                                      <p:tavLst>
                                        <p:tav tm="0">
                                          <p:val>
                                            <p:strVal val="#ppt_y+0.06"/>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53" presetClass="entr" presetSubtype="16" fill="hold" grpId="0" nodeType="clickEffect">
                                  <p:stCondLst>
                                    <p:cond delay="0"/>
                                  </p:stCondLst>
                                  <p:childTnLst>
                                    <p:set>
                                      <p:cBhvr>
                                        <p:cTn id="82" dur="1" fill="hold">
                                          <p:stCondLst>
                                            <p:cond delay="0"/>
                                          </p:stCondLst>
                                        </p:cTn>
                                        <p:tgtEl>
                                          <p:spTgt spid="119"/>
                                        </p:tgtEl>
                                        <p:attrNameLst>
                                          <p:attrName>style.visibility</p:attrName>
                                        </p:attrNameLst>
                                      </p:cBhvr>
                                      <p:to>
                                        <p:strVal val="visible"/>
                                      </p:to>
                                    </p:set>
                                    <p:anim calcmode="lin" valueType="num">
                                      <p:cBhvr additive="base">
                                        <p:cTn id="83" dur="500" decel="100000" fill="hold"/>
                                        <p:tgtEl>
                                          <p:spTgt spid="119"/>
                                        </p:tgtEl>
                                        <p:attrNameLst>
                                          <p:attrName>ppt_w</p:attrName>
                                        </p:attrNameLst>
                                      </p:cBhvr>
                                      <p:tavLst>
                                        <p:tav tm="0">
                                          <p:val>
                                            <p:strVal val="#ppt_w*0.3"/>
                                          </p:val>
                                        </p:tav>
                                        <p:tav tm="100000">
                                          <p:val>
                                            <p:strVal val="#ppt_w*1.08"/>
                                          </p:val>
                                        </p:tav>
                                      </p:tavLst>
                                    </p:anim>
                                    <p:anim calcmode="lin" valueType="num">
                                      <p:cBhvr additive="base">
                                        <p:cTn id="84" dur="500" decel="100000" fill="hold"/>
                                        <p:tgtEl>
                                          <p:spTgt spid="119"/>
                                        </p:tgtEl>
                                        <p:attrNameLst>
                                          <p:attrName>ppt_h</p:attrName>
                                        </p:attrNameLst>
                                      </p:cBhvr>
                                      <p:tavLst>
                                        <p:tav tm="0">
                                          <p:val>
                                            <p:strVal val="#ppt_h*0.3"/>
                                          </p:val>
                                        </p:tav>
                                        <p:tav tm="100000">
                                          <p:val>
                                            <p:strVal val="#ppt_h*1.08"/>
                                          </p:val>
                                        </p:tav>
                                      </p:tavLst>
                                    </p:anim>
                                    <p:animEffect transition="in" filter="fade">
                                      <p:cBhvr>
                                        <p:cTn id="85" dur="250"/>
                                        <p:tgtEl>
                                          <p:spTgt spid="119"/>
                                        </p:tgtEl>
                                      </p:cBhvr>
                                    </p:animEffect>
                                    <p:anim calcmode="lin" valueType="num">
                                      <p:cBhvr additive="base">
                                        <p:cTn id="86" dur="160" fill="hold">
                                          <p:stCondLst>
                                            <p:cond delay="500"/>
                                          </p:stCondLst>
                                        </p:cTn>
                                        <p:tgtEl>
                                          <p:spTgt spid="119"/>
                                        </p:tgtEl>
                                        <p:attrNameLst>
                                          <p:attrName>ppt_w</p:attrName>
                                        </p:attrNameLst>
                                      </p:cBhvr>
                                      <p:tavLst>
                                        <p:tav tm="0">
                                          <p:val>
                                            <p:strVal val="#ppt_w*1.08"/>
                                          </p:val>
                                        </p:tav>
                                        <p:tav tm="100000">
                                          <p:val>
                                            <p:strVal val="#ppt_w"/>
                                          </p:val>
                                        </p:tav>
                                      </p:tavLst>
                                    </p:anim>
                                    <p:anim calcmode="lin" valueType="num">
                                      <p:cBhvr additive="base">
                                        <p:cTn id="87" dur="160" fill="hold">
                                          <p:stCondLst>
                                            <p:cond delay="500"/>
                                          </p:stCondLst>
                                        </p:cTn>
                                        <p:tgtEl>
                                          <p:spTgt spid="119"/>
                                        </p:tgtEl>
                                        <p:attrNameLst>
                                          <p:attrName>ppt_h</p:attrName>
                                        </p:attrNameLst>
                                      </p:cBhvr>
                                      <p:tavLst>
                                        <p:tav tm="0">
                                          <p:val>
                                            <p:strVal val="#ppt_h*1.08"/>
                                          </p:val>
                                        </p:tav>
                                        <p:tav tm="100000">
                                          <p:val>
                                            <p:strVal val="#ppt_h"/>
                                          </p:val>
                                        </p:tav>
                                      </p:tavLst>
                                    </p:anim>
                                  </p:childTnLst>
                                </p:cTn>
                              </p:par>
                              <p:par>
                                <p:cTn id="88" presetID="53" presetClass="entr" presetSubtype="16" fill="hold" grpId="0" nodeType="withEffect">
                                  <p:stCondLst>
                                    <p:cond delay="90"/>
                                  </p:stCondLst>
                                  <p:childTnLst>
                                    <p:set>
                                      <p:cBhvr>
                                        <p:cTn id="89" dur="1" fill="hold">
                                          <p:stCondLst>
                                            <p:cond delay="0"/>
                                          </p:stCondLst>
                                        </p:cTn>
                                        <p:tgtEl>
                                          <p:spTgt spid="120"/>
                                        </p:tgtEl>
                                        <p:attrNameLst>
                                          <p:attrName>style.visibility</p:attrName>
                                        </p:attrNameLst>
                                      </p:cBhvr>
                                      <p:to>
                                        <p:strVal val="visible"/>
                                      </p:to>
                                    </p:set>
                                    <p:anim calcmode="lin" valueType="num">
                                      <p:cBhvr additive="base">
                                        <p:cTn id="90" dur="500" decel="100000" fill="hold"/>
                                        <p:tgtEl>
                                          <p:spTgt spid="120"/>
                                        </p:tgtEl>
                                        <p:attrNameLst>
                                          <p:attrName>ppt_w</p:attrName>
                                        </p:attrNameLst>
                                      </p:cBhvr>
                                      <p:tavLst>
                                        <p:tav tm="0">
                                          <p:val>
                                            <p:strVal val="#ppt_w*0.3"/>
                                          </p:val>
                                        </p:tav>
                                        <p:tav tm="100000">
                                          <p:val>
                                            <p:strVal val="#ppt_w*1.08"/>
                                          </p:val>
                                        </p:tav>
                                      </p:tavLst>
                                    </p:anim>
                                    <p:anim calcmode="lin" valueType="num">
                                      <p:cBhvr additive="base">
                                        <p:cTn id="91" dur="500" decel="100000" fill="hold"/>
                                        <p:tgtEl>
                                          <p:spTgt spid="120"/>
                                        </p:tgtEl>
                                        <p:attrNameLst>
                                          <p:attrName>ppt_h</p:attrName>
                                        </p:attrNameLst>
                                      </p:cBhvr>
                                      <p:tavLst>
                                        <p:tav tm="0">
                                          <p:val>
                                            <p:strVal val="#ppt_h*0.3"/>
                                          </p:val>
                                        </p:tav>
                                        <p:tav tm="100000">
                                          <p:val>
                                            <p:strVal val="#ppt_h*1.08"/>
                                          </p:val>
                                        </p:tav>
                                      </p:tavLst>
                                    </p:anim>
                                    <p:animEffect transition="in" filter="fade">
                                      <p:cBhvr>
                                        <p:cTn id="92" dur="250"/>
                                        <p:tgtEl>
                                          <p:spTgt spid="120"/>
                                        </p:tgtEl>
                                      </p:cBhvr>
                                    </p:animEffect>
                                    <p:anim calcmode="lin" valueType="num">
                                      <p:cBhvr additive="base">
                                        <p:cTn id="93" dur="160" fill="hold">
                                          <p:stCondLst>
                                            <p:cond delay="500"/>
                                          </p:stCondLst>
                                        </p:cTn>
                                        <p:tgtEl>
                                          <p:spTgt spid="120"/>
                                        </p:tgtEl>
                                        <p:attrNameLst>
                                          <p:attrName>ppt_w</p:attrName>
                                        </p:attrNameLst>
                                      </p:cBhvr>
                                      <p:tavLst>
                                        <p:tav tm="0">
                                          <p:val>
                                            <p:strVal val="#ppt_w*1.08"/>
                                          </p:val>
                                        </p:tav>
                                        <p:tav tm="100000">
                                          <p:val>
                                            <p:strVal val="#ppt_w"/>
                                          </p:val>
                                        </p:tav>
                                      </p:tavLst>
                                    </p:anim>
                                    <p:anim calcmode="lin" valueType="num">
                                      <p:cBhvr additive="base">
                                        <p:cTn id="94" dur="160" fill="hold">
                                          <p:stCondLst>
                                            <p:cond delay="500"/>
                                          </p:stCondLst>
                                        </p:cTn>
                                        <p:tgtEl>
                                          <p:spTgt spid="120"/>
                                        </p:tgtEl>
                                        <p:attrNameLst>
                                          <p:attrName>ppt_h</p:attrName>
                                        </p:attrNameLst>
                                      </p:cBhvr>
                                      <p:tavLst>
                                        <p:tav tm="0">
                                          <p:val>
                                            <p:strVal val="#ppt_h*1.08"/>
                                          </p:val>
                                        </p:tav>
                                        <p:tav tm="100000">
                                          <p:val>
                                            <p:strVal val="#ppt_h"/>
                                          </p:val>
                                        </p:tav>
                                      </p:tavLst>
                                    </p:anim>
                                  </p:childTnLst>
                                </p:cTn>
                              </p:par>
                              <p:par>
                                <p:cTn id="95" presetID="53" presetClass="entr" presetSubtype="16" fill="hold" grpId="0" nodeType="withEffect">
                                  <p:stCondLst>
                                    <p:cond delay="180"/>
                                  </p:stCondLst>
                                  <p:childTnLst>
                                    <p:set>
                                      <p:cBhvr>
                                        <p:cTn id="96" dur="1" fill="hold">
                                          <p:stCondLst>
                                            <p:cond delay="0"/>
                                          </p:stCondLst>
                                        </p:cTn>
                                        <p:tgtEl>
                                          <p:spTgt spid="121"/>
                                        </p:tgtEl>
                                        <p:attrNameLst>
                                          <p:attrName>style.visibility</p:attrName>
                                        </p:attrNameLst>
                                      </p:cBhvr>
                                      <p:to>
                                        <p:strVal val="visible"/>
                                      </p:to>
                                    </p:set>
                                    <p:anim calcmode="lin" valueType="num">
                                      <p:cBhvr additive="base">
                                        <p:cTn id="97" dur="500" decel="100000" fill="hold"/>
                                        <p:tgtEl>
                                          <p:spTgt spid="121"/>
                                        </p:tgtEl>
                                        <p:attrNameLst>
                                          <p:attrName>ppt_w</p:attrName>
                                        </p:attrNameLst>
                                      </p:cBhvr>
                                      <p:tavLst>
                                        <p:tav tm="0">
                                          <p:val>
                                            <p:strVal val="#ppt_w*0.3"/>
                                          </p:val>
                                        </p:tav>
                                        <p:tav tm="100000">
                                          <p:val>
                                            <p:strVal val="#ppt_w*1.08"/>
                                          </p:val>
                                        </p:tav>
                                      </p:tavLst>
                                    </p:anim>
                                    <p:anim calcmode="lin" valueType="num">
                                      <p:cBhvr additive="base">
                                        <p:cTn id="98" dur="500" decel="100000" fill="hold"/>
                                        <p:tgtEl>
                                          <p:spTgt spid="121"/>
                                        </p:tgtEl>
                                        <p:attrNameLst>
                                          <p:attrName>ppt_h</p:attrName>
                                        </p:attrNameLst>
                                      </p:cBhvr>
                                      <p:tavLst>
                                        <p:tav tm="0">
                                          <p:val>
                                            <p:strVal val="#ppt_h*0.3"/>
                                          </p:val>
                                        </p:tav>
                                        <p:tav tm="100000">
                                          <p:val>
                                            <p:strVal val="#ppt_h*1.08"/>
                                          </p:val>
                                        </p:tav>
                                      </p:tavLst>
                                    </p:anim>
                                    <p:animEffect transition="in" filter="fade">
                                      <p:cBhvr>
                                        <p:cTn id="99" dur="250"/>
                                        <p:tgtEl>
                                          <p:spTgt spid="121"/>
                                        </p:tgtEl>
                                      </p:cBhvr>
                                    </p:animEffect>
                                    <p:anim calcmode="lin" valueType="num">
                                      <p:cBhvr additive="base">
                                        <p:cTn id="100" dur="160" fill="hold">
                                          <p:stCondLst>
                                            <p:cond delay="500"/>
                                          </p:stCondLst>
                                        </p:cTn>
                                        <p:tgtEl>
                                          <p:spTgt spid="121"/>
                                        </p:tgtEl>
                                        <p:attrNameLst>
                                          <p:attrName>ppt_w</p:attrName>
                                        </p:attrNameLst>
                                      </p:cBhvr>
                                      <p:tavLst>
                                        <p:tav tm="0">
                                          <p:val>
                                            <p:strVal val="#ppt_w*1.08"/>
                                          </p:val>
                                        </p:tav>
                                        <p:tav tm="100000">
                                          <p:val>
                                            <p:strVal val="#ppt_w"/>
                                          </p:val>
                                        </p:tav>
                                      </p:tavLst>
                                    </p:anim>
                                    <p:anim calcmode="lin" valueType="num">
                                      <p:cBhvr additive="base">
                                        <p:cTn id="101" dur="160" fill="hold">
                                          <p:stCondLst>
                                            <p:cond delay="500"/>
                                          </p:stCondLst>
                                        </p:cTn>
                                        <p:tgtEl>
                                          <p:spTgt spid="121"/>
                                        </p:tgtEl>
                                        <p:attrNameLst>
                                          <p:attrName>ppt_h</p:attrName>
                                        </p:attrNameLst>
                                      </p:cBhvr>
                                      <p:tavLst>
                                        <p:tav tm="0">
                                          <p:val>
                                            <p:strVal val="#ppt_h*1.08"/>
                                          </p:val>
                                        </p:tav>
                                        <p:tav tm="100000">
                                          <p:val>
                                            <p:strVal val="#ppt_h"/>
                                          </p:val>
                                        </p:tav>
                                      </p:tavLst>
                                    </p:anim>
                                  </p:childTnLst>
                                </p:cTn>
                              </p:par>
                              <p:par>
                                <p:cTn id="102" presetID="53" presetClass="entr" presetSubtype="16" fill="hold" grpId="0" nodeType="withEffect">
                                  <p:stCondLst>
                                    <p:cond delay="270"/>
                                  </p:stCondLst>
                                  <p:childTnLst>
                                    <p:set>
                                      <p:cBhvr>
                                        <p:cTn id="103" dur="1" fill="hold">
                                          <p:stCondLst>
                                            <p:cond delay="0"/>
                                          </p:stCondLst>
                                        </p:cTn>
                                        <p:tgtEl>
                                          <p:spTgt spid="122"/>
                                        </p:tgtEl>
                                        <p:attrNameLst>
                                          <p:attrName>style.visibility</p:attrName>
                                        </p:attrNameLst>
                                      </p:cBhvr>
                                      <p:to>
                                        <p:strVal val="visible"/>
                                      </p:to>
                                    </p:set>
                                    <p:anim calcmode="lin" valueType="num">
                                      <p:cBhvr additive="base">
                                        <p:cTn id="104" dur="500" decel="100000" fill="hold"/>
                                        <p:tgtEl>
                                          <p:spTgt spid="122"/>
                                        </p:tgtEl>
                                        <p:attrNameLst>
                                          <p:attrName>ppt_w</p:attrName>
                                        </p:attrNameLst>
                                      </p:cBhvr>
                                      <p:tavLst>
                                        <p:tav tm="0">
                                          <p:val>
                                            <p:strVal val="#ppt_w*0.3"/>
                                          </p:val>
                                        </p:tav>
                                        <p:tav tm="100000">
                                          <p:val>
                                            <p:strVal val="#ppt_w*1.08"/>
                                          </p:val>
                                        </p:tav>
                                      </p:tavLst>
                                    </p:anim>
                                    <p:anim calcmode="lin" valueType="num">
                                      <p:cBhvr additive="base">
                                        <p:cTn id="105" dur="500" decel="100000" fill="hold"/>
                                        <p:tgtEl>
                                          <p:spTgt spid="122"/>
                                        </p:tgtEl>
                                        <p:attrNameLst>
                                          <p:attrName>ppt_h</p:attrName>
                                        </p:attrNameLst>
                                      </p:cBhvr>
                                      <p:tavLst>
                                        <p:tav tm="0">
                                          <p:val>
                                            <p:strVal val="#ppt_h*0.3"/>
                                          </p:val>
                                        </p:tav>
                                        <p:tav tm="100000">
                                          <p:val>
                                            <p:strVal val="#ppt_h*1.08"/>
                                          </p:val>
                                        </p:tav>
                                      </p:tavLst>
                                    </p:anim>
                                    <p:animEffect transition="in" filter="fade">
                                      <p:cBhvr>
                                        <p:cTn id="106" dur="250"/>
                                        <p:tgtEl>
                                          <p:spTgt spid="122"/>
                                        </p:tgtEl>
                                      </p:cBhvr>
                                    </p:animEffect>
                                    <p:anim calcmode="lin" valueType="num">
                                      <p:cBhvr additive="base">
                                        <p:cTn id="107" dur="160" fill="hold">
                                          <p:stCondLst>
                                            <p:cond delay="500"/>
                                          </p:stCondLst>
                                        </p:cTn>
                                        <p:tgtEl>
                                          <p:spTgt spid="122"/>
                                        </p:tgtEl>
                                        <p:attrNameLst>
                                          <p:attrName>ppt_w</p:attrName>
                                        </p:attrNameLst>
                                      </p:cBhvr>
                                      <p:tavLst>
                                        <p:tav tm="0">
                                          <p:val>
                                            <p:strVal val="#ppt_w*1.08"/>
                                          </p:val>
                                        </p:tav>
                                        <p:tav tm="100000">
                                          <p:val>
                                            <p:strVal val="#ppt_w"/>
                                          </p:val>
                                        </p:tav>
                                      </p:tavLst>
                                    </p:anim>
                                    <p:anim calcmode="lin" valueType="num">
                                      <p:cBhvr additive="base">
                                        <p:cTn id="108" dur="160" fill="hold">
                                          <p:stCondLst>
                                            <p:cond delay="500"/>
                                          </p:stCondLst>
                                        </p:cTn>
                                        <p:tgtEl>
                                          <p:spTgt spid="122"/>
                                        </p:tgtEl>
                                        <p:attrNameLst>
                                          <p:attrName>ppt_h</p:attrName>
                                        </p:attrNameLst>
                                      </p:cBhvr>
                                      <p:tavLst>
                                        <p:tav tm="0">
                                          <p:val>
                                            <p:strVal val="#ppt_h*1.08"/>
                                          </p:val>
                                        </p:tav>
                                        <p:tav tm="100000">
                                          <p:val>
                                            <p:strVal val="#ppt_h"/>
                                          </p:val>
                                        </p:tav>
                                      </p:tavLst>
                                    </p:anim>
                                  </p:childTnLst>
                                </p:cTn>
                              </p:par>
                              <p:par>
                                <p:cTn id="109" presetID="53" presetClass="entr" presetSubtype="16" fill="hold" grpId="0" nodeType="withEffect">
                                  <p:stCondLst>
                                    <p:cond delay="360"/>
                                  </p:stCondLst>
                                  <p:childTnLst>
                                    <p:set>
                                      <p:cBhvr>
                                        <p:cTn id="110" dur="1" fill="hold">
                                          <p:stCondLst>
                                            <p:cond delay="0"/>
                                          </p:stCondLst>
                                        </p:cTn>
                                        <p:tgtEl>
                                          <p:spTgt spid="123"/>
                                        </p:tgtEl>
                                        <p:attrNameLst>
                                          <p:attrName>style.visibility</p:attrName>
                                        </p:attrNameLst>
                                      </p:cBhvr>
                                      <p:to>
                                        <p:strVal val="visible"/>
                                      </p:to>
                                    </p:set>
                                    <p:anim calcmode="lin" valueType="num">
                                      <p:cBhvr additive="base">
                                        <p:cTn id="111" dur="500" decel="100000" fill="hold"/>
                                        <p:tgtEl>
                                          <p:spTgt spid="123"/>
                                        </p:tgtEl>
                                        <p:attrNameLst>
                                          <p:attrName>ppt_w</p:attrName>
                                        </p:attrNameLst>
                                      </p:cBhvr>
                                      <p:tavLst>
                                        <p:tav tm="0">
                                          <p:val>
                                            <p:strVal val="#ppt_w*0.3"/>
                                          </p:val>
                                        </p:tav>
                                        <p:tav tm="100000">
                                          <p:val>
                                            <p:strVal val="#ppt_w*1.08"/>
                                          </p:val>
                                        </p:tav>
                                      </p:tavLst>
                                    </p:anim>
                                    <p:anim calcmode="lin" valueType="num">
                                      <p:cBhvr additive="base">
                                        <p:cTn id="112" dur="500" decel="100000" fill="hold"/>
                                        <p:tgtEl>
                                          <p:spTgt spid="123"/>
                                        </p:tgtEl>
                                        <p:attrNameLst>
                                          <p:attrName>ppt_h</p:attrName>
                                        </p:attrNameLst>
                                      </p:cBhvr>
                                      <p:tavLst>
                                        <p:tav tm="0">
                                          <p:val>
                                            <p:strVal val="#ppt_h*0.3"/>
                                          </p:val>
                                        </p:tav>
                                        <p:tav tm="100000">
                                          <p:val>
                                            <p:strVal val="#ppt_h*1.08"/>
                                          </p:val>
                                        </p:tav>
                                      </p:tavLst>
                                    </p:anim>
                                    <p:animEffect transition="in" filter="fade">
                                      <p:cBhvr>
                                        <p:cTn id="113" dur="250"/>
                                        <p:tgtEl>
                                          <p:spTgt spid="123"/>
                                        </p:tgtEl>
                                      </p:cBhvr>
                                    </p:animEffect>
                                    <p:anim calcmode="lin" valueType="num">
                                      <p:cBhvr additive="base">
                                        <p:cTn id="114" dur="160" fill="hold">
                                          <p:stCondLst>
                                            <p:cond delay="500"/>
                                          </p:stCondLst>
                                        </p:cTn>
                                        <p:tgtEl>
                                          <p:spTgt spid="123"/>
                                        </p:tgtEl>
                                        <p:attrNameLst>
                                          <p:attrName>ppt_w</p:attrName>
                                        </p:attrNameLst>
                                      </p:cBhvr>
                                      <p:tavLst>
                                        <p:tav tm="0">
                                          <p:val>
                                            <p:strVal val="#ppt_w*1.08"/>
                                          </p:val>
                                        </p:tav>
                                        <p:tav tm="100000">
                                          <p:val>
                                            <p:strVal val="#ppt_w"/>
                                          </p:val>
                                        </p:tav>
                                      </p:tavLst>
                                    </p:anim>
                                    <p:anim calcmode="lin" valueType="num">
                                      <p:cBhvr additive="base">
                                        <p:cTn id="115" dur="160" fill="hold">
                                          <p:stCondLst>
                                            <p:cond delay="500"/>
                                          </p:stCondLst>
                                        </p:cTn>
                                        <p:tgtEl>
                                          <p:spTgt spid="123"/>
                                        </p:tgtEl>
                                        <p:attrNameLst>
                                          <p:attrName>ppt_h</p:attrName>
                                        </p:attrNameLst>
                                      </p:cBhvr>
                                      <p:tavLst>
                                        <p:tav tm="0">
                                          <p:val>
                                            <p:strVal val="#ppt_h*1.08"/>
                                          </p:val>
                                        </p:tav>
                                        <p:tav tm="100000">
                                          <p:val>
                                            <p:strVal val="#ppt_h"/>
                                          </p:val>
                                        </p:tav>
                                      </p:tavLst>
                                    </p:anim>
                                  </p:childTnLst>
                                </p:cTn>
                              </p:par>
                              <p:par>
                                <p:cTn id="116" presetID="53" presetClass="entr" presetSubtype="16" fill="hold" grpId="0" nodeType="withEffect">
                                  <p:stCondLst>
                                    <p:cond delay="450"/>
                                  </p:stCondLst>
                                  <p:childTnLst>
                                    <p:set>
                                      <p:cBhvr>
                                        <p:cTn id="117" dur="1" fill="hold">
                                          <p:stCondLst>
                                            <p:cond delay="0"/>
                                          </p:stCondLst>
                                        </p:cTn>
                                        <p:tgtEl>
                                          <p:spTgt spid="124"/>
                                        </p:tgtEl>
                                        <p:attrNameLst>
                                          <p:attrName>style.visibility</p:attrName>
                                        </p:attrNameLst>
                                      </p:cBhvr>
                                      <p:to>
                                        <p:strVal val="visible"/>
                                      </p:to>
                                    </p:set>
                                    <p:anim calcmode="lin" valueType="num">
                                      <p:cBhvr additive="base">
                                        <p:cTn id="118" dur="500" decel="100000" fill="hold"/>
                                        <p:tgtEl>
                                          <p:spTgt spid="124"/>
                                        </p:tgtEl>
                                        <p:attrNameLst>
                                          <p:attrName>ppt_w</p:attrName>
                                        </p:attrNameLst>
                                      </p:cBhvr>
                                      <p:tavLst>
                                        <p:tav tm="0">
                                          <p:val>
                                            <p:strVal val="#ppt_w*0.3"/>
                                          </p:val>
                                        </p:tav>
                                        <p:tav tm="100000">
                                          <p:val>
                                            <p:strVal val="#ppt_w*1.08"/>
                                          </p:val>
                                        </p:tav>
                                      </p:tavLst>
                                    </p:anim>
                                    <p:anim calcmode="lin" valueType="num">
                                      <p:cBhvr additive="base">
                                        <p:cTn id="119" dur="500" decel="100000" fill="hold"/>
                                        <p:tgtEl>
                                          <p:spTgt spid="124"/>
                                        </p:tgtEl>
                                        <p:attrNameLst>
                                          <p:attrName>ppt_h</p:attrName>
                                        </p:attrNameLst>
                                      </p:cBhvr>
                                      <p:tavLst>
                                        <p:tav tm="0">
                                          <p:val>
                                            <p:strVal val="#ppt_h*0.3"/>
                                          </p:val>
                                        </p:tav>
                                        <p:tav tm="100000">
                                          <p:val>
                                            <p:strVal val="#ppt_h*1.08"/>
                                          </p:val>
                                        </p:tav>
                                      </p:tavLst>
                                    </p:anim>
                                    <p:animEffect transition="in" filter="fade">
                                      <p:cBhvr>
                                        <p:cTn id="120" dur="250"/>
                                        <p:tgtEl>
                                          <p:spTgt spid="124"/>
                                        </p:tgtEl>
                                      </p:cBhvr>
                                    </p:animEffect>
                                    <p:anim calcmode="lin" valueType="num">
                                      <p:cBhvr additive="base">
                                        <p:cTn id="121" dur="160" fill="hold">
                                          <p:stCondLst>
                                            <p:cond delay="500"/>
                                          </p:stCondLst>
                                        </p:cTn>
                                        <p:tgtEl>
                                          <p:spTgt spid="124"/>
                                        </p:tgtEl>
                                        <p:attrNameLst>
                                          <p:attrName>ppt_w</p:attrName>
                                        </p:attrNameLst>
                                      </p:cBhvr>
                                      <p:tavLst>
                                        <p:tav tm="0">
                                          <p:val>
                                            <p:strVal val="#ppt_w*1.08"/>
                                          </p:val>
                                        </p:tav>
                                        <p:tav tm="100000">
                                          <p:val>
                                            <p:strVal val="#ppt_w"/>
                                          </p:val>
                                        </p:tav>
                                      </p:tavLst>
                                    </p:anim>
                                    <p:anim calcmode="lin" valueType="num">
                                      <p:cBhvr additive="base">
                                        <p:cTn id="122" dur="160" fill="hold">
                                          <p:stCondLst>
                                            <p:cond delay="500"/>
                                          </p:stCondLst>
                                        </p:cTn>
                                        <p:tgtEl>
                                          <p:spTgt spid="124"/>
                                        </p:tgtEl>
                                        <p:attrNameLst>
                                          <p:attrName>ppt_h</p:attrName>
                                        </p:attrNameLst>
                                      </p:cBhvr>
                                      <p:tavLst>
                                        <p:tav tm="0">
                                          <p:val>
                                            <p:strVal val="#ppt_h*1.08"/>
                                          </p:val>
                                        </p:tav>
                                        <p:tav tm="100000">
                                          <p:val>
                                            <p:strVal val="#ppt_h"/>
                                          </p:val>
                                        </p:tav>
                                      </p:tavLst>
                                    </p:anim>
                                  </p:childTnLst>
                                </p:cTn>
                              </p:par>
                              <p:par>
                                <p:cTn id="123" presetID="53" presetClass="entr" presetSubtype="16" fill="hold" grpId="0" nodeType="withEffect">
                                  <p:stCondLst>
                                    <p:cond delay="540"/>
                                  </p:stCondLst>
                                  <p:childTnLst>
                                    <p:set>
                                      <p:cBhvr>
                                        <p:cTn id="124" dur="1" fill="hold">
                                          <p:stCondLst>
                                            <p:cond delay="0"/>
                                          </p:stCondLst>
                                        </p:cTn>
                                        <p:tgtEl>
                                          <p:spTgt spid="125"/>
                                        </p:tgtEl>
                                        <p:attrNameLst>
                                          <p:attrName>style.visibility</p:attrName>
                                        </p:attrNameLst>
                                      </p:cBhvr>
                                      <p:to>
                                        <p:strVal val="visible"/>
                                      </p:to>
                                    </p:set>
                                    <p:anim calcmode="lin" valueType="num">
                                      <p:cBhvr additive="base">
                                        <p:cTn id="125" dur="500" decel="100000" fill="hold"/>
                                        <p:tgtEl>
                                          <p:spTgt spid="125"/>
                                        </p:tgtEl>
                                        <p:attrNameLst>
                                          <p:attrName>ppt_w</p:attrName>
                                        </p:attrNameLst>
                                      </p:cBhvr>
                                      <p:tavLst>
                                        <p:tav tm="0">
                                          <p:val>
                                            <p:strVal val="#ppt_w*0.3"/>
                                          </p:val>
                                        </p:tav>
                                        <p:tav tm="100000">
                                          <p:val>
                                            <p:strVal val="#ppt_w*1.08"/>
                                          </p:val>
                                        </p:tav>
                                      </p:tavLst>
                                    </p:anim>
                                    <p:anim calcmode="lin" valueType="num">
                                      <p:cBhvr additive="base">
                                        <p:cTn id="126" dur="500" decel="100000" fill="hold"/>
                                        <p:tgtEl>
                                          <p:spTgt spid="125"/>
                                        </p:tgtEl>
                                        <p:attrNameLst>
                                          <p:attrName>ppt_h</p:attrName>
                                        </p:attrNameLst>
                                      </p:cBhvr>
                                      <p:tavLst>
                                        <p:tav tm="0">
                                          <p:val>
                                            <p:strVal val="#ppt_h*0.3"/>
                                          </p:val>
                                        </p:tav>
                                        <p:tav tm="100000">
                                          <p:val>
                                            <p:strVal val="#ppt_h*1.08"/>
                                          </p:val>
                                        </p:tav>
                                      </p:tavLst>
                                    </p:anim>
                                    <p:animEffect transition="in" filter="fade">
                                      <p:cBhvr>
                                        <p:cTn id="127" dur="250"/>
                                        <p:tgtEl>
                                          <p:spTgt spid="125"/>
                                        </p:tgtEl>
                                      </p:cBhvr>
                                    </p:animEffect>
                                    <p:anim calcmode="lin" valueType="num">
                                      <p:cBhvr additive="base">
                                        <p:cTn id="128" dur="160" fill="hold">
                                          <p:stCondLst>
                                            <p:cond delay="500"/>
                                          </p:stCondLst>
                                        </p:cTn>
                                        <p:tgtEl>
                                          <p:spTgt spid="125"/>
                                        </p:tgtEl>
                                        <p:attrNameLst>
                                          <p:attrName>ppt_w</p:attrName>
                                        </p:attrNameLst>
                                      </p:cBhvr>
                                      <p:tavLst>
                                        <p:tav tm="0">
                                          <p:val>
                                            <p:strVal val="#ppt_w*1.08"/>
                                          </p:val>
                                        </p:tav>
                                        <p:tav tm="100000">
                                          <p:val>
                                            <p:strVal val="#ppt_w"/>
                                          </p:val>
                                        </p:tav>
                                      </p:tavLst>
                                    </p:anim>
                                    <p:anim calcmode="lin" valueType="num">
                                      <p:cBhvr additive="base">
                                        <p:cTn id="129" dur="160" fill="hold">
                                          <p:stCondLst>
                                            <p:cond delay="500"/>
                                          </p:stCondLst>
                                        </p:cTn>
                                        <p:tgtEl>
                                          <p:spTgt spid="125"/>
                                        </p:tgtEl>
                                        <p:attrNameLst>
                                          <p:attrName>ppt_h</p:attrName>
                                        </p:attrNameLst>
                                      </p:cBhvr>
                                      <p:tavLst>
                                        <p:tav tm="0">
                                          <p:val>
                                            <p:strVal val="#ppt_h*1.08"/>
                                          </p:val>
                                        </p:tav>
                                        <p:tav tm="100000">
                                          <p:val>
                                            <p:strVal val="#ppt_h"/>
                                          </p:val>
                                        </p:tav>
                                      </p:tavLst>
                                    </p:anim>
                                  </p:childTnLst>
                                </p:cTn>
                              </p:par>
                            </p:childTnLst>
                          </p:cTn>
                        </p:par>
                      </p:childTnLst>
                    </p:cTn>
                  </p:par>
                  <p:par>
                    <p:cTn id="130" fill="hold">
                      <p:stCondLst>
                        <p:cond delay="indefinite"/>
                      </p:stCondLst>
                      <p:childTnLst>
                        <p:par>
                          <p:cTn id="131" fill="hold">
                            <p:stCondLst>
                              <p:cond delay="0"/>
                            </p:stCondLst>
                            <p:childTnLst>
                              <p:par>
                                <p:cTn id="132" presetID="42" presetClass="entr" presetSubtype="0" fill="hold" grpId="0" nodeType="clickEffect">
                                  <p:stCondLst>
                                    <p:cond delay="0"/>
                                  </p:stCondLst>
                                  <p:childTnLst>
                                    <p:set>
                                      <p:cBhvr>
                                        <p:cTn id="133" dur="1" fill="hold">
                                          <p:stCondLst>
                                            <p:cond delay="0"/>
                                          </p:stCondLst>
                                        </p:cTn>
                                        <p:tgtEl>
                                          <p:spTgt spid="126"/>
                                        </p:tgtEl>
                                        <p:attrNameLst>
                                          <p:attrName>style.visibility</p:attrName>
                                        </p:attrNameLst>
                                      </p:cBhvr>
                                      <p:to>
                                        <p:strVal val="visible"/>
                                      </p:to>
                                    </p:set>
                                    <p:animEffect transition="in" filter="fade">
                                      <p:cBhvr>
                                        <p:cTn id="134" dur="500"/>
                                        <p:tgtEl>
                                          <p:spTgt spid="126"/>
                                        </p:tgtEl>
                                      </p:cBhvr>
                                    </p:animEffect>
                                    <p:anim calcmode="lin" valueType="num">
                                      <p:cBhvr additive="base">
                                        <p:cTn id="135" dur="500" decel="100000" fill="hold"/>
                                        <p:tgtEl>
                                          <p:spTgt spid="126"/>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5" grpId="0" animBg="1"/>
      <p:bldP spid="107" grpId="0" animBg="1"/>
      <p:bldP spid="109" grpId="0" animBg="1"/>
      <p:bldP spid="111"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REAL WORLD</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Big Bang vs Small Increments: Real Projects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Two well-known public projects. Same lesson: wait to deliver everything, and you learn too late.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METHODOLOGIES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188</a:t>
            </a:r>
            <a:endParaRPr lang="en-US" sz="850" dirty="0"/>
          </a:p>
        </p:txBody>
      </p:sp>
      <p:sp>
        <p:nvSpPr>
          <p:cNvPr id="101" name="s101"/>
          <p:cNvSpPr/>
          <p:nvPr/>
        </p:nvSpPr>
        <p:spPr>
          <a:xfrm>
            <a:off x="543154" y="1965960"/>
            <a:ext cx="5406847" cy="36576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02" name="s102"/>
          <p:cNvSpPr/>
          <p:nvPr/>
        </p:nvSpPr>
        <p:spPr>
          <a:xfrm>
            <a:off x="817474" y="2194560"/>
            <a:ext cx="594360" cy="59436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960120" y="2337206"/>
            <a:ext cx="309067" cy="309067"/>
          </a:xfrm>
          <a:prstGeom prst="rect">
            <a:avLst/>
          </a:prstGeom>
        </p:spPr>
      </p:pic>
      <p:sp>
        <p:nvSpPr>
          <p:cNvPr id="104" name="s104"/>
          <p:cNvSpPr txBox="1"/>
          <p:nvPr/>
        </p:nvSpPr>
        <p:spPr>
          <a:xfrm>
            <a:off x="1594714" y="2194560"/>
            <a:ext cx="4172407" cy="5943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700" b="1" dirty="0">
                <a:solidFill>
                  <a:srgbClr val="F87171"/>
                </a:solidFill>
                <a:latin typeface="Segoe UI"/>
                <a:ea typeface="Segoe UI"/>
                <a:cs typeface="Segoe UI"/>
              </a:rPr>
              <a:t>HealthCare.gov · 2013</a:t>
            </a:r>
            <a:endParaRPr lang="en-US" sz="1700" dirty="0"/>
          </a:p>
        </p:txBody>
      </p:sp>
      <p:sp>
        <p:nvSpPr>
          <p:cNvPr id="105" name="s105"/>
          <p:cNvSpPr txBox="1"/>
          <p:nvPr/>
        </p:nvSpPr>
        <p:spPr>
          <a:xfrm>
            <a:off x="863194" y="3017520"/>
            <a:ext cx="4858207" cy="1737360"/>
          </a:xfrm>
          <a:prstGeom prst="rect">
            <a:avLst/>
          </a:prstGeom>
          <a:noFill/>
          <a:ln>
            <a:noFill/>
          </a:ln>
        </p:spPr>
        <p:txBody>
          <a:bodyPr wrap="square" lIns="0" tIns="0" rIns="0" bIns="0" rtlCol="0" anchor="t">
            <a:noAutofit/>
          </a:bodyPr>
          <a:lstStyle/>
          <a:p>
            <a:pPr marL="0" indent="0" algn="l">
              <a:spcBef>
                <a:spcPts val="0"/>
              </a:spcBef>
              <a:spcAft>
                <a:spcPts val="600"/>
              </a:spcAft>
              <a:buNone/>
            </a:pPr>
            <a:r>
              <a:rPr lang="en-US" sz="1350" b="0" dirty="0">
                <a:solidFill>
                  <a:srgbClr val="F87171"/>
                </a:solidFill>
                <a:latin typeface="Segoe UI"/>
                <a:ea typeface="Segoe UI"/>
                <a:cs typeface="Segoe UI"/>
              </a:rPr>
              <a:t>•  </a:t>
            </a:r>
            <a:r>
              <a:rPr lang="en-US" sz="1350" b="0" dirty="0">
                <a:solidFill>
                  <a:srgbClr val="E2E8F0"/>
                </a:solidFill>
                <a:latin typeface="Segoe UI"/>
                <a:ea typeface="Segoe UI"/>
                <a:cs typeface="Segoe UI"/>
              </a:rPr>
              <a:t>One big launch day for the whole country.</a:t>
            </a:r>
            <a:endParaRPr lang="en-US" sz="1350" dirty="0"/>
          </a:p>
          <a:p>
            <a:pPr marL="0" indent="0" algn="l">
              <a:spcBef>
                <a:spcPts val="0"/>
              </a:spcBef>
              <a:spcAft>
                <a:spcPts val="600"/>
              </a:spcAft>
              <a:buNone/>
            </a:pPr>
            <a:r>
              <a:rPr lang="en-US" sz="1350" b="0" dirty="0">
                <a:solidFill>
                  <a:srgbClr val="F87171"/>
                </a:solidFill>
                <a:latin typeface="Segoe UI"/>
                <a:ea typeface="Segoe UI"/>
                <a:cs typeface="Segoe UI"/>
              </a:rPr>
              <a:t>•  </a:t>
            </a:r>
            <a:r>
              <a:rPr lang="en-US" sz="1350" b="0" dirty="0">
                <a:solidFill>
                  <a:srgbClr val="E2E8F0"/>
                </a:solidFill>
                <a:latin typeface="Segoe UI"/>
                <a:ea typeface="Segoe UI"/>
                <a:cs typeface="Segoe UI"/>
              </a:rPr>
              <a:t>Crashed under real traffic; only a handful enrolled on day one.</a:t>
            </a:r>
            <a:endParaRPr lang="en-US" sz="1350" dirty="0"/>
          </a:p>
          <a:p>
            <a:pPr marL="0" indent="0" algn="l">
              <a:spcBef>
                <a:spcPts val="0"/>
              </a:spcBef>
              <a:spcAft>
                <a:spcPts val="600"/>
              </a:spcAft>
              <a:buNone/>
            </a:pPr>
            <a:r>
              <a:rPr lang="en-US" sz="1350" b="0" dirty="0">
                <a:solidFill>
                  <a:srgbClr val="F87171"/>
                </a:solidFill>
                <a:latin typeface="Segoe UI"/>
                <a:ea typeface="Segoe UI"/>
                <a:cs typeface="Segoe UI"/>
              </a:rPr>
              <a:t>•  </a:t>
            </a:r>
            <a:r>
              <a:rPr lang="en-US" sz="1350" b="0" dirty="0">
                <a:solidFill>
                  <a:srgbClr val="E2E8F0"/>
                </a:solidFill>
                <a:latin typeface="Segoe UI"/>
                <a:ea typeface="Segoe UI"/>
                <a:cs typeface="Segoe UI"/>
              </a:rPr>
              <a:t>Rescued by a small team shipping fixes in short cycles.</a:t>
            </a:r>
            <a:endParaRPr lang="en-US" sz="1350" dirty="0"/>
          </a:p>
        </p:txBody>
      </p:sp>
      <p:sp>
        <p:nvSpPr>
          <p:cNvPr id="106" name="s106"/>
          <p:cNvSpPr/>
          <p:nvPr/>
        </p:nvSpPr>
        <p:spPr>
          <a:xfrm>
            <a:off x="817474" y="4846320"/>
            <a:ext cx="4858207" cy="594360"/>
          </a:xfrm>
          <a:prstGeom prst="roundRect">
            <a:avLst>
              <a:gd name="adj" fmla="val 15000"/>
            </a:avLst>
          </a:prstGeom>
          <a:solidFill>
            <a:srgbClr val="34D399">
              <a:alpha val="10000"/>
            </a:srgbClr>
          </a:solidFill>
          <a:ln w="12700">
            <a:solidFill>
              <a:srgbClr val="34D399"/>
            </a:solidFill>
            <a:prstDash val="solid"/>
          </a:ln>
        </p:spPr>
        <p:txBody>
          <a:bodyPr wrap="square" lIns="182880" tIns="0" rIns="9144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Lesson: </a:t>
            </a:r>
            <a:r>
              <a:rPr lang="en-US" sz="1200" b="0" dirty="0">
                <a:solidFill>
                  <a:srgbClr val="FFFFFF"/>
                </a:solidFill>
                <a:latin typeface="Segoe UI"/>
                <a:ea typeface="Segoe UI"/>
                <a:cs typeface="Segoe UI"/>
              </a:rPr>
              <a:t>Real users find what months of planning missed.</a:t>
            </a:r>
            <a:endParaRPr lang="en-US" sz="1200" dirty="0"/>
          </a:p>
        </p:txBody>
      </p:sp>
      <p:sp>
        <p:nvSpPr>
          <p:cNvPr id="107" name="s107"/>
          <p:cNvSpPr/>
          <p:nvPr/>
        </p:nvSpPr>
        <p:spPr>
          <a:xfrm>
            <a:off x="6224321" y="1965960"/>
            <a:ext cx="5406847" cy="3657600"/>
          </a:xfrm>
          <a:prstGeom prst="roundRect">
            <a:avLst>
              <a:gd name="adj" fmla="val 8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08" name="s108"/>
          <p:cNvSpPr/>
          <p:nvPr/>
        </p:nvSpPr>
        <p:spPr>
          <a:xfrm>
            <a:off x="6498641" y="2194560"/>
            <a:ext cx="594360" cy="59436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09" name="img109"/>
          <p:cNvPicPr>
            <a:picLocks noChangeAspect="1"/>
          </p:cNvPicPr>
          <p:nvPr/>
        </p:nvPicPr>
        <p:blipFill>
          <a:blip r:embed="rId5"/>
          <a:stretch>
            <a:fillRect/>
          </a:stretch>
        </p:blipFill>
        <p:spPr>
          <a:xfrm>
            <a:off x="6641287" y="2337206"/>
            <a:ext cx="309067" cy="309067"/>
          </a:xfrm>
          <a:prstGeom prst="rect">
            <a:avLst/>
          </a:prstGeom>
        </p:spPr>
      </p:pic>
      <p:sp>
        <p:nvSpPr>
          <p:cNvPr id="110" name="s110"/>
          <p:cNvSpPr txBox="1"/>
          <p:nvPr/>
        </p:nvSpPr>
        <p:spPr>
          <a:xfrm>
            <a:off x="7275881" y="2194560"/>
            <a:ext cx="4172407" cy="5943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700" b="1" dirty="0">
                <a:solidFill>
                  <a:srgbClr val="FBBF24"/>
                </a:solidFill>
                <a:latin typeface="Segoe UI"/>
                <a:ea typeface="Segoe UI"/>
                <a:cs typeface="Segoe UI"/>
              </a:rPr>
              <a:t>FBI Virtual Case File → Sentinel</a:t>
            </a:r>
            <a:endParaRPr lang="en-US" sz="1700" dirty="0"/>
          </a:p>
        </p:txBody>
      </p:sp>
      <p:sp>
        <p:nvSpPr>
          <p:cNvPr id="111" name="s111"/>
          <p:cNvSpPr txBox="1"/>
          <p:nvPr/>
        </p:nvSpPr>
        <p:spPr>
          <a:xfrm>
            <a:off x="6544361" y="3017520"/>
            <a:ext cx="4858207" cy="1737360"/>
          </a:xfrm>
          <a:prstGeom prst="rect">
            <a:avLst/>
          </a:prstGeom>
          <a:noFill/>
          <a:ln>
            <a:noFill/>
          </a:ln>
        </p:spPr>
        <p:txBody>
          <a:bodyPr wrap="square" lIns="0" tIns="0" rIns="0" bIns="0" rtlCol="0" anchor="t">
            <a:noAutofit/>
          </a:bodyPr>
          <a:lstStyle/>
          <a:p>
            <a:pPr marL="0" indent="0" algn="l">
              <a:spcBef>
                <a:spcPts val="0"/>
              </a:spcBef>
              <a:spcAft>
                <a:spcPts val="600"/>
              </a:spcAft>
              <a:buNone/>
            </a:pPr>
            <a:r>
              <a:rPr lang="en-US" sz="1350" b="0" dirty="0">
                <a:solidFill>
                  <a:srgbClr val="FBBF24"/>
                </a:solidFill>
                <a:latin typeface="Segoe UI"/>
                <a:ea typeface="Segoe UI"/>
                <a:cs typeface="Segoe UI"/>
              </a:rPr>
              <a:t>•  </a:t>
            </a:r>
            <a:r>
              <a:rPr lang="en-US" sz="1350" b="0" dirty="0">
                <a:solidFill>
                  <a:srgbClr val="E2E8F0"/>
                </a:solidFill>
                <a:latin typeface="Segoe UI"/>
                <a:ea typeface="Segoe UI"/>
                <a:cs typeface="Segoe UI"/>
              </a:rPr>
              <a:t>VCF: years of upfront specs, abandoned in 2005 (~$170M).</a:t>
            </a:r>
            <a:endParaRPr lang="en-US" sz="1350" dirty="0"/>
          </a:p>
          <a:p>
            <a:pPr marL="0" indent="0" algn="l">
              <a:spcBef>
                <a:spcPts val="0"/>
              </a:spcBef>
              <a:spcAft>
                <a:spcPts val="600"/>
              </a:spcAft>
              <a:buNone/>
            </a:pPr>
            <a:r>
              <a:rPr lang="en-US" sz="1350" b="0" dirty="0">
                <a:solidFill>
                  <a:srgbClr val="FBBF24"/>
                </a:solidFill>
                <a:latin typeface="Segoe UI"/>
                <a:ea typeface="Segoe UI"/>
                <a:cs typeface="Segoe UI"/>
              </a:rPr>
              <a:t>•  </a:t>
            </a:r>
            <a:r>
              <a:rPr lang="en-US" sz="1350" b="0" dirty="0">
                <a:solidFill>
                  <a:srgbClr val="E2E8F0"/>
                </a:solidFill>
                <a:latin typeface="Segoe UI"/>
                <a:ea typeface="Segoe UI"/>
                <a:cs typeface="Segoe UI"/>
              </a:rPr>
              <a:t>Sentinel: restarted with an agile, incremental approach.</a:t>
            </a:r>
            <a:endParaRPr lang="en-US" sz="1350" dirty="0"/>
          </a:p>
          <a:p>
            <a:pPr marL="0" indent="0" algn="l">
              <a:spcBef>
                <a:spcPts val="0"/>
              </a:spcBef>
              <a:spcAft>
                <a:spcPts val="600"/>
              </a:spcAft>
              <a:buNone/>
            </a:pPr>
            <a:r>
              <a:rPr lang="en-US" sz="1350" b="0" dirty="0">
                <a:solidFill>
                  <a:srgbClr val="FBBF24"/>
                </a:solidFill>
                <a:latin typeface="Segoe UI"/>
                <a:ea typeface="Segoe UI"/>
                <a:cs typeface="Segoe UI"/>
              </a:rPr>
              <a:t>•  </a:t>
            </a:r>
            <a:r>
              <a:rPr lang="en-US" sz="1350" b="0" dirty="0">
                <a:solidFill>
                  <a:srgbClr val="E2E8F0"/>
                </a:solidFill>
                <a:latin typeface="Segoe UI"/>
                <a:ea typeface="Segoe UI"/>
                <a:cs typeface="Segoe UI"/>
              </a:rPr>
              <a:t>Delivered working software step by step; live in 2012.</a:t>
            </a:r>
            <a:endParaRPr lang="en-US" sz="1350" dirty="0"/>
          </a:p>
        </p:txBody>
      </p:sp>
      <p:sp>
        <p:nvSpPr>
          <p:cNvPr id="112" name="s112"/>
          <p:cNvSpPr/>
          <p:nvPr/>
        </p:nvSpPr>
        <p:spPr>
          <a:xfrm>
            <a:off x="6498641" y="4846320"/>
            <a:ext cx="4858207" cy="594360"/>
          </a:xfrm>
          <a:prstGeom prst="roundRect">
            <a:avLst>
              <a:gd name="adj" fmla="val 15000"/>
            </a:avLst>
          </a:prstGeom>
          <a:solidFill>
            <a:srgbClr val="34D399">
              <a:alpha val="10000"/>
            </a:srgbClr>
          </a:solidFill>
          <a:ln w="12700">
            <a:solidFill>
              <a:srgbClr val="34D399"/>
            </a:solidFill>
            <a:prstDash val="solid"/>
          </a:ln>
        </p:spPr>
        <p:txBody>
          <a:bodyPr wrap="square" lIns="182880" tIns="0" rIns="9144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Lesson: </a:t>
            </a:r>
            <a:r>
              <a:rPr lang="en-US" sz="1200" b="0" dirty="0">
                <a:solidFill>
                  <a:srgbClr val="FFFFFF"/>
                </a:solidFill>
                <a:latin typeface="Segoe UI"/>
                <a:ea typeface="Segoe UI"/>
                <a:cs typeface="Segoe UI"/>
              </a:rPr>
              <a:t>Small, usable increments reduce the risk of total failure.</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ppt_x</p:attrName>
                                        </p:attrNameLst>
                                      </p:cBhvr>
                                      <p:tavLst>
                                        <p:tav tm="0">
                                          <p:val>
                                            <p:strVal val="#ppt_x-0.05"/>
                                          </p:val>
                                        </p:tav>
                                        <p:tav tm="100000">
                                          <p:val>
                                            <p:strVal val="#ppt_x"/>
                                          </p:val>
                                        </p:tav>
                                      </p:tavLst>
                                    </p:anim>
                                  </p:childTnLst>
                                </p:cTn>
                              </p:par>
                              <p:par>
                                <p:cTn id="13" presetID="42" presetClass="entr" presetSubtype="0"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ppt_x</p:attrName>
                                        </p:attrNameLst>
                                      </p:cBhvr>
                                      <p:tavLst>
                                        <p:tav tm="0">
                                          <p:val>
                                            <p:strVal val="#ppt_x-0.05"/>
                                          </p:val>
                                        </p:tav>
                                        <p:tav tm="100000">
                                          <p:val>
                                            <p:strVal val="#ppt_x"/>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ppt_x</p:attrName>
                                        </p:attrNameLst>
                                      </p:cBhvr>
                                      <p:tavLst>
                                        <p:tav tm="0">
                                          <p:val>
                                            <p:strVal val="#ppt_x-0.05"/>
                                          </p:val>
                                        </p:tav>
                                        <p:tav tm="100000">
                                          <p:val>
                                            <p:strVal val="#ppt_x"/>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ppt_x</p:attrName>
                                        </p:attrNameLst>
                                      </p:cBhvr>
                                      <p:tavLst>
                                        <p:tav tm="0">
                                          <p:val>
                                            <p:strVal val="#ppt_x+0.05"/>
                                          </p:val>
                                        </p:tav>
                                        <p:tav tm="100000">
                                          <p:val>
                                            <p:strVal val="#ppt_x"/>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ppt_x</p:attrName>
                                        </p:attrNameLst>
                                      </p:cBhvr>
                                      <p:tavLst>
                                        <p:tav tm="0">
                                          <p:val>
                                            <p:strVal val="#ppt_x+0.05"/>
                                          </p:val>
                                        </p:tav>
                                        <p:tav tm="100000">
                                          <p:val>
                                            <p:strVal val="#ppt_x"/>
                                          </p:val>
                                        </p:tav>
                                      </p:tavLst>
                                    </p:anim>
                                  </p:childTnLst>
                                </p:cTn>
                              </p:par>
                              <p:par>
                                <p:cTn id="39" presetID="42" presetClass="entr" presetSubtype="0" fill="hold" nodeType="with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ppt_x</p:attrName>
                                        </p:attrNameLst>
                                      </p:cBhvr>
                                      <p:tavLst>
                                        <p:tav tm="0">
                                          <p:val>
                                            <p:strVal val="#ppt_x+0.05"/>
                                          </p:val>
                                        </p:tav>
                                        <p:tav tm="100000">
                                          <p:val>
                                            <p:strVal val="#ppt_x"/>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111"/>
                                        </p:tgtEl>
                                        <p:attrNameLst>
                                          <p:attrName>style.visibility</p:attrName>
                                        </p:attrNameLst>
                                      </p:cBhvr>
                                      <p:to>
                                        <p:strVal val="visible"/>
                                      </p:to>
                                    </p:set>
                                    <p:animEffect transition="in" filter="fade">
                                      <p:cBhvr>
                                        <p:cTn id="49" dur="500"/>
                                        <p:tgtEl>
                                          <p:spTgt spid="111"/>
                                        </p:tgtEl>
                                      </p:cBhvr>
                                    </p:animEffect>
                                    <p:anim calcmode="lin" valueType="num">
                                      <p:cBhvr additive="base">
                                        <p:cTn id="50" dur="500" decel="100000" fill="hold"/>
                                        <p:tgtEl>
                                          <p:spTgt spid="111"/>
                                        </p:tgtEl>
                                        <p:attrNameLst>
                                          <p:attrName>ppt_x</p:attrName>
                                        </p:attrNameLst>
                                      </p:cBhvr>
                                      <p:tavLst>
                                        <p:tav tm="0">
                                          <p:val>
                                            <p:strVal val="#ppt_x+0.05"/>
                                          </p:val>
                                        </p:tav>
                                        <p:tav tm="100000">
                                          <p:val>
                                            <p:strVal val="#ppt_x"/>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112"/>
                                        </p:tgtEl>
                                        <p:attrNameLst>
                                          <p:attrName>style.visibility</p:attrName>
                                        </p:attrNameLst>
                                      </p:cBhvr>
                                      <p:to>
                                        <p:strVal val="visible"/>
                                      </p:to>
                                    </p:set>
                                    <p:animEffect transition="in" filter="fade">
                                      <p:cBhvr>
                                        <p:cTn id="53" dur="500"/>
                                        <p:tgtEl>
                                          <p:spTgt spid="112"/>
                                        </p:tgtEl>
                                      </p:cBhvr>
                                    </p:animEffect>
                                    <p:anim calcmode="lin" valueType="num">
                                      <p:cBhvr additive="base">
                                        <p:cTn id="54" dur="500" decel="100000" fill="hold"/>
                                        <p:tgtEl>
                                          <p:spTgt spid="112"/>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8" grpId="0" animBg="1"/>
      <p:bldP spid="110" grpId="0" animBg="1"/>
      <p:bldP spid="111" grpId="0" animBg="1"/>
      <p:bldP spid="112"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228954"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1 · WATERFALL</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Waterfall: One Pass, Phase After Phase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Finish each phase before the next one starts.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METHODOLOGIES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189</a:t>
            </a:r>
            <a:endParaRPr lang="en-US" sz="850" dirty="0"/>
          </a:p>
        </p:txBody>
      </p:sp>
      <p:sp>
        <p:nvSpPr>
          <p:cNvPr id="101" name="s101"/>
          <p:cNvSpPr/>
          <p:nvPr/>
        </p:nvSpPr>
        <p:spPr>
          <a:xfrm>
            <a:off x="543154" y="1874520"/>
            <a:ext cx="1737360" cy="420624"/>
          </a:xfrm>
          <a:prstGeom prst="roundRect">
            <a:avLst>
              <a:gd name="adj" fmla="val 20000"/>
            </a:avLst>
          </a:prstGeom>
          <a:solidFill>
            <a:srgbClr val="13D0F7">
              <a:alpha val="16000"/>
            </a:srgbClr>
          </a:solidFill>
          <a:ln w="127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Requirements</a:t>
            </a:r>
            <a:endParaRPr lang="en-US" sz="1200" dirty="0"/>
          </a:p>
        </p:txBody>
      </p:sp>
      <p:sp>
        <p:nvSpPr>
          <p:cNvPr id="102" name="s102"/>
          <p:cNvSpPr/>
          <p:nvPr/>
        </p:nvSpPr>
        <p:spPr>
          <a:xfrm>
            <a:off x="1411834" y="2331720"/>
            <a:ext cx="1737360" cy="420624"/>
          </a:xfrm>
          <a:prstGeom prst="roundRect">
            <a:avLst>
              <a:gd name="adj" fmla="val 20000"/>
            </a:avLst>
          </a:prstGeom>
          <a:solidFill>
            <a:srgbClr val="60A5FA">
              <a:alpha val="16000"/>
            </a:srgbClr>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Design</a:t>
            </a:r>
            <a:endParaRPr lang="en-US" sz="1200" dirty="0"/>
          </a:p>
        </p:txBody>
      </p:sp>
      <p:cxnSp>
        <p:nvCxnSpPr>
          <p:cNvPr id="103" name="ln103"/>
          <p:cNvCxnSpPr/>
          <p:nvPr/>
        </p:nvCxnSpPr>
        <p:spPr>
          <a:xfrm>
            <a:off x="2280514" y="2084832"/>
            <a:ext cx="228600" cy="0"/>
          </a:xfrm>
          <a:prstGeom prst="line">
            <a:avLst/>
          </a:prstGeom>
          <a:ln w="15875">
            <a:solidFill>
              <a:srgbClr val="94A3B8"/>
            </a:solidFill>
          </a:ln>
        </p:spPr>
      </p:cxnSp>
      <p:cxnSp>
        <p:nvCxnSpPr>
          <p:cNvPr id="104" name="ln104"/>
          <p:cNvCxnSpPr/>
          <p:nvPr/>
        </p:nvCxnSpPr>
        <p:spPr>
          <a:xfrm>
            <a:off x="2509114" y="2084832"/>
            <a:ext cx="0" cy="228600"/>
          </a:xfrm>
          <a:prstGeom prst="line">
            <a:avLst/>
          </a:prstGeom>
          <a:ln w="15875">
            <a:solidFill>
              <a:srgbClr val="94A3B8"/>
            </a:solidFill>
            <a:tailEnd type="triangle" w="med" len="med"/>
          </a:ln>
        </p:spPr>
      </p:cxnSp>
      <p:sp>
        <p:nvSpPr>
          <p:cNvPr id="105" name="s105"/>
          <p:cNvSpPr/>
          <p:nvPr/>
        </p:nvSpPr>
        <p:spPr>
          <a:xfrm>
            <a:off x="2280514" y="2788920"/>
            <a:ext cx="1737360" cy="420624"/>
          </a:xfrm>
          <a:prstGeom prst="roundRect">
            <a:avLst>
              <a:gd name="adj" fmla="val 20000"/>
            </a:avLst>
          </a:prstGeom>
          <a:solidFill>
            <a:srgbClr val="A78BFA">
              <a:alpha val="16000"/>
            </a:srgbClr>
          </a:solidFill>
          <a:ln w="1270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Build</a:t>
            </a:r>
            <a:endParaRPr lang="en-US" sz="1200" dirty="0"/>
          </a:p>
        </p:txBody>
      </p:sp>
      <p:cxnSp>
        <p:nvCxnSpPr>
          <p:cNvPr id="106" name="ln106"/>
          <p:cNvCxnSpPr/>
          <p:nvPr/>
        </p:nvCxnSpPr>
        <p:spPr>
          <a:xfrm>
            <a:off x="3149194" y="2542032"/>
            <a:ext cx="228600" cy="0"/>
          </a:xfrm>
          <a:prstGeom prst="line">
            <a:avLst/>
          </a:prstGeom>
          <a:ln w="15875">
            <a:solidFill>
              <a:srgbClr val="94A3B8"/>
            </a:solidFill>
          </a:ln>
        </p:spPr>
      </p:cxnSp>
      <p:cxnSp>
        <p:nvCxnSpPr>
          <p:cNvPr id="107" name="ln107"/>
          <p:cNvCxnSpPr/>
          <p:nvPr/>
        </p:nvCxnSpPr>
        <p:spPr>
          <a:xfrm>
            <a:off x="3377794" y="2542032"/>
            <a:ext cx="0" cy="228600"/>
          </a:xfrm>
          <a:prstGeom prst="line">
            <a:avLst/>
          </a:prstGeom>
          <a:ln w="15875">
            <a:solidFill>
              <a:srgbClr val="94A3B8"/>
            </a:solidFill>
            <a:tailEnd type="triangle" w="med" len="med"/>
          </a:ln>
        </p:spPr>
      </p:cxnSp>
      <p:sp>
        <p:nvSpPr>
          <p:cNvPr id="108" name="s108"/>
          <p:cNvSpPr/>
          <p:nvPr/>
        </p:nvSpPr>
        <p:spPr>
          <a:xfrm>
            <a:off x="3149194" y="3246120"/>
            <a:ext cx="1737360" cy="420624"/>
          </a:xfrm>
          <a:prstGeom prst="roundRect">
            <a:avLst>
              <a:gd name="adj" fmla="val 20000"/>
            </a:avLst>
          </a:prstGeom>
          <a:solidFill>
            <a:srgbClr val="FBBF24">
              <a:alpha val="16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Test</a:t>
            </a:r>
            <a:endParaRPr lang="en-US" sz="1200" dirty="0"/>
          </a:p>
        </p:txBody>
      </p:sp>
      <p:cxnSp>
        <p:nvCxnSpPr>
          <p:cNvPr id="109" name="ln109"/>
          <p:cNvCxnSpPr/>
          <p:nvPr/>
        </p:nvCxnSpPr>
        <p:spPr>
          <a:xfrm>
            <a:off x="4017874" y="2999232"/>
            <a:ext cx="228600" cy="0"/>
          </a:xfrm>
          <a:prstGeom prst="line">
            <a:avLst/>
          </a:prstGeom>
          <a:ln w="15875">
            <a:solidFill>
              <a:srgbClr val="94A3B8"/>
            </a:solidFill>
          </a:ln>
        </p:spPr>
      </p:cxnSp>
      <p:cxnSp>
        <p:nvCxnSpPr>
          <p:cNvPr id="110" name="ln110"/>
          <p:cNvCxnSpPr/>
          <p:nvPr/>
        </p:nvCxnSpPr>
        <p:spPr>
          <a:xfrm>
            <a:off x="4246474" y="2999232"/>
            <a:ext cx="0" cy="228600"/>
          </a:xfrm>
          <a:prstGeom prst="line">
            <a:avLst/>
          </a:prstGeom>
          <a:ln w="15875">
            <a:solidFill>
              <a:srgbClr val="94A3B8"/>
            </a:solidFill>
            <a:tailEnd type="triangle" w="med" len="med"/>
          </a:ln>
        </p:spPr>
      </p:cxnSp>
      <p:sp>
        <p:nvSpPr>
          <p:cNvPr id="111" name="s111"/>
          <p:cNvSpPr/>
          <p:nvPr/>
        </p:nvSpPr>
        <p:spPr>
          <a:xfrm>
            <a:off x="4017874" y="3703320"/>
            <a:ext cx="1737360" cy="420624"/>
          </a:xfrm>
          <a:prstGeom prst="roundRect">
            <a:avLst>
              <a:gd name="adj" fmla="val 20000"/>
            </a:avLst>
          </a:prstGeom>
          <a:solidFill>
            <a:srgbClr val="34D399">
              <a:alpha val="16000"/>
            </a:srgbClr>
          </a:solidFill>
          <a:ln w="127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Deploy</a:t>
            </a:r>
            <a:endParaRPr lang="en-US" sz="1200" dirty="0"/>
          </a:p>
        </p:txBody>
      </p:sp>
      <p:cxnSp>
        <p:nvCxnSpPr>
          <p:cNvPr id="112" name="ln112"/>
          <p:cNvCxnSpPr/>
          <p:nvPr/>
        </p:nvCxnSpPr>
        <p:spPr>
          <a:xfrm>
            <a:off x="4886554" y="3456432"/>
            <a:ext cx="228600" cy="0"/>
          </a:xfrm>
          <a:prstGeom prst="line">
            <a:avLst/>
          </a:prstGeom>
          <a:ln w="15875">
            <a:solidFill>
              <a:srgbClr val="94A3B8"/>
            </a:solidFill>
          </a:ln>
        </p:spPr>
      </p:cxnSp>
      <p:cxnSp>
        <p:nvCxnSpPr>
          <p:cNvPr id="113" name="ln113"/>
          <p:cNvCxnSpPr/>
          <p:nvPr/>
        </p:nvCxnSpPr>
        <p:spPr>
          <a:xfrm>
            <a:off x="5115154" y="3456432"/>
            <a:ext cx="0" cy="228600"/>
          </a:xfrm>
          <a:prstGeom prst="line">
            <a:avLst/>
          </a:prstGeom>
          <a:ln w="15875">
            <a:solidFill>
              <a:srgbClr val="94A3B8"/>
            </a:solidFill>
            <a:tailEnd type="triangle" w="med" len="med"/>
          </a:ln>
        </p:spPr>
      </p:cxnSp>
      <p:sp>
        <p:nvSpPr>
          <p:cNvPr id="114" name="s114"/>
          <p:cNvSpPr/>
          <p:nvPr/>
        </p:nvSpPr>
        <p:spPr>
          <a:xfrm>
            <a:off x="543154" y="4251960"/>
            <a:ext cx="5486400" cy="1463040"/>
          </a:xfrm>
          <a:prstGeom prst="roundRect">
            <a:avLst>
              <a:gd name="adj" fmla="val 8000"/>
            </a:avLst>
          </a:prstGeom>
          <a:solidFill>
            <a:srgbClr val="111B2E"/>
          </a:solidFill>
          <a:ln w="12700">
            <a:solidFill>
              <a:srgbClr val="1E3A5F"/>
            </a:solidFill>
            <a:prstDash val="solid"/>
          </a:ln>
        </p:spPr>
        <p:txBody>
          <a:bodyPr wrap="square" lIns="182880" tIns="109728" rIns="137160" bIns="91440" rtlCol="0" anchor="t">
            <a:noAutofit/>
          </a:bodyPr>
          <a:lstStyle/>
          <a:p>
            <a:pPr marL="0" indent="0" algn="l">
              <a:spcBef>
                <a:spcPts val="0"/>
              </a:spcBef>
              <a:spcAft>
                <a:spcPts val="400"/>
              </a:spcAft>
              <a:buNone/>
            </a:pPr>
            <a:r>
              <a:rPr lang="en-US" sz="1050" b="1" dirty="0">
                <a:solidFill>
                  <a:srgbClr val="13D0F7"/>
                </a:solidFill>
                <a:latin typeface="Segoe UI"/>
                <a:ea typeface="Segoe UI"/>
                <a:cs typeface="Segoe UI"/>
              </a:rPr>
              <a:t>E-COMMERCE, THE WATERFALL WAY</a:t>
            </a:r>
            <a:endParaRPr lang="en-US" sz="1050" dirty="0"/>
          </a:p>
          <a:p>
            <a:pPr marL="0" indent="0" algn="l">
              <a:spcBef>
                <a:spcPts val="0"/>
              </a:spcBef>
              <a:spcAft>
                <a:spcPts val="200"/>
              </a:spcAft>
              <a:buNone/>
            </a:pPr>
            <a:r>
              <a:rPr lang="en-US" sz="1200" b="1" dirty="0">
                <a:solidFill>
                  <a:srgbClr val="13D0F7"/>
                </a:solidFill>
                <a:latin typeface="Segoe UI"/>
                <a:ea typeface="Segoe UI"/>
                <a:cs typeface="Segoe UI"/>
              </a:rPr>
              <a:t>1  </a:t>
            </a:r>
            <a:r>
              <a:rPr lang="en-US" sz="1200" b="0" dirty="0">
                <a:solidFill>
                  <a:srgbClr val="E2E8F0"/>
                </a:solidFill>
                <a:latin typeface="Segoe UI"/>
                <a:ea typeface="Segoe UI"/>
                <a:cs typeface="Segoe UI"/>
              </a:rPr>
              <a:t>collect ALL requirements with the client</a:t>
            </a:r>
            <a:endParaRPr lang="en-US" sz="1200" dirty="0"/>
          </a:p>
          <a:p>
            <a:pPr marL="0" indent="0" algn="l">
              <a:spcBef>
                <a:spcPts val="0"/>
              </a:spcBef>
              <a:spcAft>
                <a:spcPts val="200"/>
              </a:spcAft>
              <a:buNone/>
            </a:pPr>
            <a:r>
              <a:rPr lang="en-US" sz="1200" b="1" dirty="0">
                <a:solidFill>
                  <a:srgbClr val="13D0F7"/>
                </a:solidFill>
                <a:latin typeface="Segoe UI"/>
                <a:ea typeface="Segoe UI"/>
                <a:cs typeface="Segoe UI"/>
              </a:rPr>
              <a:t>2  </a:t>
            </a:r>
            <a:r>
              <a:rPr lang="en-US" sz="1200" b="0" dirty="0">
                <a:solidFill>
                  <a:srgbClr val="E2E8F0"/>
                </a:solidFill>
                <a:latin typeface="Segoe UI"/>
                <a:ea typeface="Segoe UI"/>
                <a:cs typeface="Segoe UI"/>
              </a:rPr>
              <a:t>design the whole database + architecture</a:t>
            </a:r>
            <a:endParaRPr lang="en-US" sz="1200" dirty="0"/>
          </a:p>
          <a:p>
            <a:pPr marL="0" indent="0" algn="l">
              <a:spcBef>
                <a:spcPts val="0"/>
              </a:spcBef>
              <a:spcAft>
                <a:spcPts val="200"/>
              </a:spcAft>
              <a:buNone/>
            </a:pPr>
            <a:r>
              <a:rPr lang="en-US" sz="1200" b="1" dirty="0">
                <a:solidFill>
                  <a:srgbClr val="13D0F7"/>
                </a:solidFill>
                <a:latin typeface="Segoe UI"/>
                <a:ea typeface="Segoe UI"/>
                <a:cs typeface="Segoe UI"/>
              </a:rPr>
              <a:t>3  </a:t>
            </a:r>
            <a:r>
              <a:rPr lang="en-US" sz="1200" b="0" dirty="0">
                <a:solidFill>
                  <a:srgbClr val="E2E8F0"/>
                </a:solidFill>
                <a:latin typeface="Segoe UI"/>
                <a:ea typeface="Segoe UI"/>
                <a:cs typeface="Segoe UI"/>
              </a:rPr>
              <a:t>write the code for the WHOLE system</a:t>
            </a:r>
            <a:endParaRPr lang="en-US" sz="1200" dirty="0"/>
          </a:p>
          <a:p>
            <a:pPr marL="0" indent="0" algn="l">
              <a:spcBef>
                <a:spcPts val="0"/>
              </a:spcBef>
              <a:spcAft>
                <a:spcPts val="200"/>
              </a:spcAft>
              <a:buNone/>
            </a:pPr>
            <a:r>
              <a:rPr lang="en-US" sz="1200" b="1" dirty="0">
                <a:solidFill>
                  <a:srgbClr val="13D0F7"/>
                </a:solidFill>
                <a:latin typeface="Segoe UI"/>
                <a:ea typeface="Segoe UI"/>
                <a:cs typeface="Segoe UI"/>
              </a:rPr>
              <a:t>4  </a:t>
            </a:r>
            <a:r>
              <a:rPr lang="en-US" sz="1200" b="0" dirty="0">
                <a:solidFill>
                  <a:srgbClr val="E2E8F0"/>
                </a:solidFill>
                <a:latin typeface="Segoe UI"/>
                <a:ea typeface="Segoe UI"/>
                <a:cs typeface="Segoe UI"/>
              </a:rPr>
              <a:t>test after building</a:t>
            </a:r>
            <a:endParaRPr lang="en-US" sz="1200" dirty="0"/>
          </a:p>
          <a:p>
            <a:pPr marL="0" indent="0" algn="l">
              <a:spcBef>
                <a:spcPts val="0"/>
              </a:spcBef>
              <a:spcAft>
                <a:spcPts val="200"/>
              </a:spcAft>
              <a:buNone/>
            </a:pPr>
            <a:r>
              <a:rPr lang="en-US" sz="1200" b="1" dirty="0">
                <a:solidFill>
                  <a:srgbClr val="13D0F7"/>
                </a:solidFill>
                <a:latin typeface="Segoe UI"/>
                <a:ea typeface="Segoe UI"/>
                <a:cs typeface="Segoe UI"/>
              </a:rPr>
              <a:t>5  </a:t>
            </a:r>
            <a:r>
              <a:rPr lang="en-US" sz="1200" b="0" dirty="0">
                <a:solidFill>
                  <a:srgbClr val="E2E8F0"/>
                </a:solidFill>
                <a:latin typeface="Segoe UI"/>
                <a:ea typeface="Segoe UI"/>
                <a:cs typeface="Segoe UI"/>
              </a:rPr>
              <a:t>deploy the system</a:t>
            </a:r>
            <a:endParaRPr lang="en-US" sz="1200" dirty="0"/>
          </a:p>
        </p:txBody>
      </p:sp>
      <p:sp>
        <p:nvSpPr>
          <p:cNvPr id="115" name="s115"/>
          <p:cNvSpPr/>
          <p:nvPr/>
        </p:nvSpPr>
        <p:spPr>
          <a:xfrm>
            <a:off x="6303874" y="1828800"/>
            <a:ext cx="5327294" cy="1280160"/>
          </a:xfrm>
          <a:prstGeom prst="roundRect">
            <a:avLst>
              <a:gd name="adj" fmla="val 10000"/>
            </a:avLst>
          </a:prstGeom>
          <a:solidFill>
            <a:srgbClr val="111B2E"/>
          </a:solidFill>
          <a:ln w="12700">
            <a:solidFill>
              <a:srgbClr val="F87171"/>
            </a:solidFill>
            <a:prstDash val="solid"/>
          </a:ln>
        </p:spPr>
        <p:txBody>
          <a:bodyPr wrap="square" lIns="182880" tIns="146304" rIns="164592" bIns="109728" rtlCol="0" anchor="t">
            <a:noAutofit/>
          </a:bodyPr>
          <a:lstStyle/>
          <a:p>
            <a:pPr marL="0" indent="0" algn="l">
              <a:spcBef>
                <a:spcPts val="0"/>
              </a:spcBef>
              <a:spcAft>
                <a:spcPts val="400"/>
              </a:spcAft>
              <a:buNone/>
            </a:pPr>
            <a:r>
              <a:rPr lang="en-US" sz="1100" b="1" dirty="0">
                <a:solidFill>
                  <a:srgbClr val="F87171"/>
                </a:solidFill>
                <a:latin typeface="Segoe UI"/>
                <a:ea typeface="Segoe UI"/>
                <a:cs typeface="Segoe UI"/>
              </a:rPr>
              <a:t>THE PROBLEM</a:t>
            </a:r>
            <a:endParaRPr lang="en-US" sz="1100" dirty="0"/>
          </a:p>
          <a:p>
            <a:pPr marL="0" indent="0" algn="l">
              <a:spcBef>
                <a:spcPts val="0"/>
              </a:spcBef>
              <a:spcAft>
                <a:spcPts val="300"/>
              </a:spcAft>
              <a:buNone/>
            </a:pPr>
            <a:r>
              <a:rPr lang="en-US" sz="1250" b="0" dirty="0">
                <a:solidFill>
                  <a:srgbClr val="CBD5E1"/>
                </a:solidFill>
                <a:latin typeface="Segoe UI"/>
                <a:ea typeface="Segoe UI"/>
                <a:cs typeface="Segoe UI"/>
              </a:rPr>
              <a:t>Design done, most code written…</a:t>
            </a:r>
            <a:endParaRPr lang="en-US" sz="1250" dirty="0"/>
          </a:p>
          <a:p>
            <a:pPr marL="0" indent="0" algn="l">
              <a:spcBef>
                <a:spcPts val="0"/>
              </a:spcBef>
              <a:spcAft>
                <a:spcPts val="300"/>
              </a:spcAft>
              <a:buNone/>
            </a:pPr>
            <a:r>
              <a:rPr lang="en-US" sz="1250" b="0" dirty="0">
                <a:solidFill>
                  <a:srgbClr val="CBD5E1"/>
                </a:solidFill>
                <a:latin typeface="Segoe UI"/>
                <a:ea typeface="Segoe UI"/>
                <a:cs typeface="Segoe UI"/>
              </a:rPr>
              <a:t>Client: "Change the payment system completely."</a:t>
            </a:r>
            <a:endParaRPr lang="en-US" sz="1250" dirty="0"/>
          </a:p>
          <a:p>
            <a:pPr marL="0" indent="0" algn="l">
              <a:spcBef>
                <a:spcPts val="0"/>
              </a:spcBef>
              <a:spcAft>
                <a:spcPts val="300"/>
              </a:spcAft>
              <a:buNone/>
            </a:pPr>
            <a:r>
              <a:rPr lang="en-US" sz="1250" b="0" dirty="0">
                <a:solidFill>
                  <a:srgbClr val="CBD5E1"/>
                </a:solidFill>
                <a:latin typeface="Segoe UI"/>
                <a:ea typeface="Segoe UI"/>
                <a:cs typeface="Segoe UI"/>
              </a:rPr>
              <a:t>→ go back and rework finished phases: expensive.</a:t>
            </a:r>
            <a:endParaRPr lang="en-US" sz="1250" dirty="0"/>
          </a:p>
        </p:txBody>
      </p:sp>
      <p:sp>
        <p:nvSpPr>
          <p:cNvPr id="116" name="s116"/>
          <p:cNvSpPr/>
          <p:nvPr/>
        </p:nvSpPr>
        <p:spPr>
          <a:xfrm>
            <a:off x="6303874" y="3218688"/>
            <a:ext cx="5327294" cy="1005840"/>
          </a:xfrm>
          <a:prstGeom prst="roundRect">
            <a:avLst>
              <a:gd name="adj" fmla="val 10000"/>
            </a:avLst>
          </a:prstGeom>
          <a:solidFill>
            <a:srgbClr val="111B2E"/>
          </a:solidFill>
          <a:ln w="12700">
            <a:solidFill>
              <a:srgbClr val="34D399"/>
            </a:solidFill>
            <a:prstDash val="solid"/>
          </a:ln>
        </p:spPr>
        <p:txBody>
          <a:bodyPr wrap="square" lIns="182880" tIns="146304" rIns="164592" bIns="109728" rtlCol="0" anchor="t">
            <a:noAutofit/>
          </a:bodyPr>
          <a:lstStyle/>
          <a:p>
            <a:pPr marL="0" indent="0" algn="l">
              <a:spcBef>
                <a:spcPts val="0"/>
              </a:spcBef>
              <a:spcAft>
                <a:spcPts val="400"/>
              </a:spcAft>
              <a:buNone/>
            </a:pPr>
            <a:r>
              <a:rPr lang="en-US" sz="1100" b="1" dirty="0">
                <a:solidFill>
                  <a:srgbClr val="34D399"/>
                </a:solidFill>
                <a:latin typeface="Segoe UI"/>
                <a:ea typeface="Segoe UI"/>
                <a:cs typeface="Segoe UI"/>
              </a:rPr>
              <a:t>USE IT WHEN</a:t>
            </a:r>
            <a:endParaRPr lang="en-US" sz="1100" dirty="0"/>
          </a:p>
          <a:p>
            <a:pPr marL="0" indent="0" algn="l">
              <a:spcBef>
                <a:spcPts val="0"/>
              </a:spcBef>
              <a:spcAft>
                <a:spcPts val="300"/>
              </a:spcAft>
              <a:buNone/>
            </a:pPr>
            <a:r>
              <a:rPr lang="en-US" sz="1250" b="0" dirty="0">
                <a:solidFill>
                  <a:srgbClr val="CBD5E1"/>
                </a:solidFill>
                <a:latin typeface="Segoe UI"/>
                <a:ea typeface="Segoe UI"/>
                <a:cs typeface="Segoe UI"/>
              </a:rPr>
              <a:t>requirements are clear and fairly stable</a:t>
            </a:r>
            <a:endParaRPr lang="en-US" sz="1250" dirty="0"/>
          </a:p>
          <a:p>
            <a:pPr marL="0" indent="0" algn="l">
              <a:spcBef>
                <a:spcPts val="0"/>
              </a:spcBef>
              <a:spcAft>
                <a:spcPts val="300"/>
              </a:spcAft>
              <a:buNone/>
            </a:pPr>
            <a:r>
              <a:rPr lang="en-US" sz="1250" b="0" dirty="0">
                <a:solidFill>
                  <a:srgbClr val="CBD5E1"/>
                </a:solidFill>
                <a:latin typeface="Segoe UI"/>
                <a:ea typeface="Segoe UI"/>
                <a:cs typeface="Segoe UI"/>
              </a:rPr>
              <a:t>the project needs strong planning + documents</a:t>
            </a:r>
            <a:endParaRPr lang="en-US" sz="1250" dirty="0"/>
          </a:p>
        </p:txBody>
      </p:sp>
      <p:sp>
        <p:nvSpPr>
          <p:cNvPr id="117" name="s117"/>
          <p:cNvSpPr/>
          <p:nvPr/>
        </p:nvSpPr>
        <p:spPr>
          <a:xfrm>
            <a:off x="6303874" y="4334256"/>
            <a:ext cx="5327294" cy="1380744"/>
          </a:xfrm>
          <a:prstGeom prst="roundRect">
            <a:avLst>
              <a:gd name="adj" fmla="val 10000"/>
            </a:avLst>
          </a:prstGeom>
          <a:solidFill>
            <a:srgbClr val="111B2E"/>
          </a:solidFill>
          <a:ln w="12700">
            <a:solidFill>
              <a:srgbClr val="FBBF24"/>
            </a:solidFill>
            <a:prstDash val="solid"/>
          </a:ln>
        </p:spPr>
        <p:txBody>
          <a:bodyPr wrap="square" lIns="182880" tIns="146304" rIns="164592" bIns="109728" rtlCol="0" anchor="t">
            <a:noAutofit/>
          </a:bodyPr>
          <a:lstStyle/>
          <a:p>
            <a:pPr marL="0" indent="0" algn="l">
              <a:spcBef>
                <a:spcPts val="0"/>
              </a:spcBef>
              <a:spcAft>
                <a:spcPts val="400"/>
              </a:spcAft>
              <a:buNone/>
            </a:pPr>
            <a:r>
              <a:rPr lang="en-US" sz="1100" b="1" dirty="0">
                <a:solidFill>
                  <a:srgbClr val="FBBF24"/>
                </a:solidFill>
                <a:latin typeface="Segoe UI"/>
                <a:ea typeface="Segoe UI"/>
                <a:cs typeface="Segoe UI"/>
              </a:rPr>
              <a:t>NOTE</a:t>
            </a:r>
            <a:endParaRPr lang="en-US" sz="1100" dirty="0"/>
          </a:p>
          <a:p>
            <a:pPr marL="0" indent="0" algn="l">
              <a:spcBef>
                <a:spcPts val="0"/>
              </a:spcBef>
              <a:spcAft>
                <a:spcPts val="300"/>
              </a:spcAft>
              <a:buNone/>
            </a:pPr>
            <a:r>
              <a:rPr lang="en-US" sz="1250" b="0" dirty="0">
                <a:solidFill>
                  <a:srgbClr val="CBD5E1"/>
                </a:solidFill>
                <a:latin typeface="Segoe UI"/>
                <a:ea typeface="Segoe UI"/>
                <a:cs typeface="Segoe UI"/>
              </a:rPr>
              <a:t>Waterfall does NOT forbid testing during coding or going back.</a:t>
            </a:r>
            <a:endParaRPr lang="en-US" sz="1250" dirty="0"/>
          </a:p>
          <a:p>
            <a:pPr marL="0" indent="0" algn="l">
              <a:spcBef>
                <a:spcPts val="0"/>
              </a:spcBef>
              <a:spcAft>
                <a:spcPts val="300"/>
              </a:spcAft>
              <a:buNone/>
            </a:pPr>
            <a:r>
              <a:rPr lang="en-US" sz="1250" b="0" dirty="0">
                <a:solidFill>
                  <a:srgbClr val="CBD5E1"/>
                </a:solidFill>
                <a:latin typeface="Segoe UI"/>
                <a:ea typeface="Segoe UI"/>
                <a:cs typeface="Segoe UI"/>
              </a:rPr>
              <a:t>It just keeps iteration and change LOW compared to adaptive ways.</a:t>
            </a:r>
            <a:endParaRPr lang="en-US" sz="1250" dirty="0"/>
          </a:p>
        </p:txBody>
      </p:sp>
      <p:sp>
        <p:nvSpPr>
          <p:cNvPr id="118" name="s118"/>
          <p:cNvSpPr/>
          <p:nvPr/>
        </p:nvSpPr>
        <p:spPr>
          <a:xfrm>
            <a:off x="543154" y="5833872"/>
            <a:ext cx="11088014" cy="457200"/>
          </a:xfrm>
          <a:prstGeom prst="roundRect">
            <a:avLst>
              <a:gd name="adj" fmla="val 12000"/>
            </a:avLst>
          </a:prstGeom>
          <a:solidFill>
            <a:srgbClr val="111B2E"/>
          </a:solidFill>
          <a:ln w="12700">
            <a:solidFill>
              <a:srgbClr val="13D0F7"/>
            </a:solidFill>
            <a:prstDash val="solid"/>
          </a:ln>
        </p:spPr>
        <p:txBody>
          <a:bodyPr wrap="square" lIns="228600" tIns="45720" rIns="228600" bIns="45720" rtlCol="0" anchor="ctr">
            <a:noAutofit/>
          </a:bodyPr>
          <a:lstStyle/>
          <a:p>
            <a:pPr marL="0" indent="0" algn="ctr">
              <a:spcBef>
                <a:spcPts val="0"/>
              </a:spcBef>
              <a:spcAft>
                <a:spcPts val="0"/>
              </a:spcAft>
              <a:buNone/>
            </a:pPr>
            <a:r>
              <a:rPr lang="en-US" sz="1300" b="1" dirty="0">
                <a:solidFill>
                  <a:srgbClr val="13D0F7"/>
                </a:solidFill>
                <a:latin typeface="Segoe UI"/>
                <a:ea typeface="Segoe UI"/>
                <a:cs typeface="Segoe UI"/>
              </a:rPr>
              <a:t>IDEA</a:t>
            </a:r>
            <a:r>
              <a:rPr lang="en-US" sz="1300" b="0" dirty="0">
                <a:solidFill>
                  <a:srgbClr val="E2E8F0"/>
                </a:solidFill>
                <a:latin typeface="Segoe UI"/>
                <a:ea typeface="Segoe UI"/>
                <a:cs typeface="Segoe UI"/>
              </a:rPr>
              <a:t>   One pass, phase after phase.  Change late = change expensive.</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450"/>
                                        <p:tgtEl>
                                          <p:spTgt spid="101"/>
                                        </p:tgtEl>
                                      </p:cBhvr>
                                    </p:animEffect>
                                    <p:anim calcmode="lin" valueType="num">
                                      <p:cBhvr additive="base">
                                        <p:cTn id="8" dur="45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nodeType="withEffect">
                                  <p:stCondLst>
                                    <p:cond delay="22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450"/>
                                        <p:tgtEl>
                                          <p:spTgt spid="103"/>
                                        </p:tgtEl>
                                      </p:cBhvr>
                                    </p:animEffect>
                                    <p:anim calcmode="lin" valueType="num">
                                      <p:cBhvr additive="base">
                                        <p:cTn id="12" dur="450" decel="100000" fill="hold"/>
                                        <p:tgtEl>
                                          <p:spTgt spid="103"/>
                                        </p:tgtEl>
                                        <p:attrNameLst>
                                          <p:attrName>ppt_y</p:attrName>
                                        </p:attrNameLst>
                                      </p:cBhvr>
                                      <p:tavLst>
                                        <p:tav tm="0">
                                          <p:val>
                                            <p:strVal val="#ppt_y-0.06"/>
                                          </p:val>
                                        </p:tav>
                                        <p:tav tm="100000">
                                          <p:val>
                                            <p:strVal val="#ppt_y"/>
                                          </p:val>
                                        </p:tav>
                                      </p:tavLst>
                                    </p:anim>
                                  </p:childTnLst>
                                </p:cTn>
                              </p:par>
                              <p:par>
                                <p:cTn id="13" presetID="42" presetClass="entr" presetSubtype="0" fill="hold" nodeType="withEffect">
                                  <p:stCondLst>
                                    <p:cond delay="22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450"/>
                                        <p:tgtEl>
                                          <p:spTgt spid="104"/>
                                        </p:tgtEl>
                                      </p:cBhvr>
                                    </p:animEffect>
                                    <p:anim calcmode="lin" valueType="num">
                                      <p:cBhvr additive="base">
                                        <p:cTn id="16" dur="45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220"/>
                                  </p:stCondLst>
                                  <p:childTnLst>
                                    <p:set>
                                      <p:cBhvr>
                                        <p:cTn id="18" dur="1" fill="hold">
                                          <p:stCondLst>
                                            <p:cond delay="0"/>
                                          </p:stCondLst>
                                        </p:cTn>
                                        <p:tgtEl>
                                          <p:spTgt spid="102"/>
                                        </p:tgtEl>
                                        <p:attrNameLst>
                                          <p:attrName>style.visibility</p:attrName>
                                        </p:attrNameLst>
                                      </p:cBhvr>
                                      <p:to>
                                        <p:strVal val="visible"/>
                                      </p:to>
                                    </p:set>
                                    <p:animEffect transition="in" filter="fade">
                                      <p:cBhvr>
                                        <p:cTn id="19" dur="450"/>
                                        <p:tgtEl>
                                          <p:spTgt spid="102"/>
                                        </p:tgtEl>
                                      </p:cBhvr>
                                    </p:animEffect>
                                    <p:anim calcmode="lin" valueType="num">
                                      <p:cBhvr additive="base">
                                        <p:cTn id="20" dur="450" decel="100000" fill="hold"/>
                                        <p:tgtEl>
                                          <p:spTgt spid="102"/>
                                        </p:tgtEl>
                                        <p:attrNameLst>
                                          <p:attrName>ppt_y</p:attrName>
                                        </p:attrNameLst>
                                      </p:cBhvr>
                                      <p:tavLst>
                                        <p:tav tm="0">
                                          <p:val>
                                            <p:strVal val="#ppt_y-0.06"/>
                                          </p:val>
                                        </p:tav>
                                        <p:tav tm="100000">
                                          <p:val>
                                            <p:strVal val="#ppt_y"/>
                                          </p:val>
                                        </p:tav>
                                      </p:tavLst>
                                    </p:anim>
                                  </p:childTnLst>
                                </p:cTn>
                              </p:par>
                              <p:par>
                                <p:cTn id="21" presetID="42" presetClass="entr" presetSubtype="0" fill="hold" nodeType="withEffect">
                                  <p:stCondLst>
                                    <p:cond delay="44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450"/>
                                        <p:tgtEl>
                                          <p:spTgt spid="106"/>
                                        </p:tgtEl>
                                      </p:cBhvr>
                                    </p:animEffect>
                                    <p:anim calcmode="lin" valueType="num">
                                      <p:cBhvr additive="base">
                                        <p:cTn id="24" dur="45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440"/>
                                  </p:stCondLst>
                                  <p:childTnLst>
                                    <p:set>
                                      <p:cBhvr>
                                        <p:cTn id="26" dur="1" fill="hold">
                                          <p:stCondLst>
                                            <p:cond delay="0"/>
                                          </p:stCondLst>
                                        </p:cTn>
                                        <p:tgtEl>
                                          <p:spTgt spid="107"/>
                                        </p:tgtEl>
                                        <p:attrNameLst>
                                          <p:attrName>style.visibility</p:attrName>
                                        </p:attrNameLst>
                                      </p:cBhvr>
                                      <p:to>
                                        <p:strVal val="visible"/>
                                      </p:to>
                                    </p:set>
                                    <p:animEffect transition="in" filter="fade">
                                      <p:cBhvr>
                                        <p:cTn id="27" dur="450"/>
                                        <p:tgtEl>
                                          <p:spTgt spid="107"/>
                                        </p:tgtEl>
                                      </p:cBhvr>
                                    </p:animEffect>
                                    <p:anim calcmode="lin" valueType="num">
                                      <p:cBhvr additive="base">
                                        <p:cTn id="28" dur="450" decel="100000" fill="hold"/>
                                        <p:tgtEl>
                                          <p:spTgt spid="107"/>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440"/>
                                  </p:stCondLst>
                                  <p:childTnLst>
                                    <p:set>
                                      <p:cBhvr>
                                        <p:cTn id="30" dur="1" fill="hold">
                                          <p:stCondLst>
                                            <p:cond delay="0"/>
                                          </p:stCondLst>
                                        </p:cTn>
                                        <p:tgtEl>
                                          <p:spTgt spid="105"/>
                                        </p:tgtEl>
                                        <p:attrNameLst>
                                          <p:attrName>style.visibility</p:attrName>
                                        </p:attrNameLst>
                                      </p:cBhvr>
                                      <p:to>
                                        <p:strVal val="visible"/>
                                      </p:to>
                                    </p:set>
                                    <p:animEffect transition="in" filter="fade">
                                      <p:cBhvr>
                                        <p:cTn id="31" dur="450"/>
                                        <p:tgtEl>
                                          <p:spTgt spid="105"/>
                                        </p:tgtEl>
                                      </p:cBhvr>
                                    </p:animEffect>
                                    <p:anim calcmode="lin" valueType="num">
                                      <p:cBhvr additive="base">
                                        <p:cTn id="32" dur="450" decel="100000" fill="hold"/>
                                        <p:tgtEl>
                                          <p:spTgt spid="105"/>
                                        </p:tgtEl>
                                        <p:attrNameLst>
                                          <p:attrName>ppt_y</p:attrName>
                                        </p:attrNameLst>
                                      </p:cBhvr>
                                      <p:tavLst>
                                        <p:tav tm="0">
                                          <p:val>
                                            <p:strVal val="#ppt_y-0.06"/>
                                          </p:val>
                                        </p:tav>
                                        <p:tav tm="100000">
                                          <p:val>
                                            <p:strVal val="#ppt_y"/>
                                          </p:val>
                                        </p:tav>
                                      </p:tavLst>
                                    </p:anim>
                                  </p:childTnLst>
                                </p:cTn>
                              </p:par>
                              <p:par>
                                <p:cTn id="33" presetID="42" presetClass="entr" presetSubtype="0" fill="hold" nodeType="withEffect">
                                  <p:stCondLst>
                                    <p:cond delay="660"/>
                                  </p:stCondLst>
                                  <p:childTnLst>
                                    <p:set>
                                      <p:cBhvr>
                                        <p:cTn id="34" dur="1" fill="hold">
                                          <p:stCondLst>
                                            <p:cond delay="0"/>
                                          </p:stCondLst>
                                        </p:cTn>
                                        <p:tgtEl>
                                          <p:spTgt spid="109"/>
                                        </p:tgtEl>
                                        <p:attrNameLst>
                                          <p:attrName>style.visibility</p:attrName>
                                        </p:attrNameLst>
                                      </p:cBhvr>
                                      <p:to>
                                        <p:strVal val="visible"/>
                                      </p:to>
                                    </p:set>
                                    <p:animEffect transition="in" filter="fade">
                                      <p:cBhvr>
                                        <p:cTn id="35" dur="450"/>
                                        <p:tgtEl>
                                          <p:spTgt spid="109"/>
                                        </p:tgtEl>
                                      </p:cBhvr>
                                    </p:animEffect>
                                    <p:anim calcmode="lin" valueType="num">
                                      <p:cBhvr additive="base">
                                        <p:cTn id="36" dur="450" decel="100000" fill="hold"/>
                                        <p:tgtEl>
                                          <p:spTgt spid="109"/>
                                        </p:tgtEl>
                                        <p:attrNameLst>
                                          <p:attrName>ppt_y</p:attrName>
                                        </p:attrNameLst>
                                      </p:cBhvr>
                                      <p:tavLst>
                                        <p:tav tm="0">
                                          <p:val>
                                            <p:strVal val="#ppt_y-0.06"/>
                                          </p:val>
                                        </p:tav>
                                        <p:tav tm="100000">
                                          <p:val>
                                            <p:strVal val="#ppt_y"/>
                                          </p:val>
                                        </p:tav>
                                      </p:tavLst>
                                    </p:anim>
                                  </p:childTnLst>
                                </p:cTn>
                              </p:par>
                              <p:par>
                                <p:cTn id="37" presetID="42" presetClass="entr" presetSubtype="0" fill="hold" nodeType="withEffect">
                                  <p:stCondLst>
                                    <p:cond delay="66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450"/>
                                        <p:tgtEl>
                                          <p:spTgt spid="110"/>
                                        </p:tgtEl>
                                      </p:cBhvr>
                                    </p:animEffect>
                                    <p:anim calcmode="lin" valueType="num">
                                      <p:cBhvr additive="base">
                                        <p:cTn id="40" dur="450" decel="100000" fill="hold"/>
                                        <p:tgtEl>
                                          <p:spTgt spid="110"/>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660"/>
                                  </p:stCondLst>
                                  <p:childTnLst>
                                    <p:set>
                                      <p:cBhvr>
                                        <p:cTn id="42" dur="1" fill="hold">
                                          <p:stCondLst>
                                            <p:cond delay="0"/>
                                          </p:stCondLst>
                                        </p:cTn>
                                        <p:tgtEl>
                                          <p:spTgt spid="108"/>
                                        </p:tgtEl>
                                        <p:attrNameLst>
                                          <p:attrName>style.visibility</p:attrName>
                                        </p:attrNameLst>
                                      </p:cBhvr>
                                      <p:to>
                                        <p:strVal val="visible"/>
                                      </p:to>
                                    </p:set>
                                    <p:animEffect transition="in" filter="fade">
                                      <p:cBhvr>
                                        <p:cTn id="43" dur="450"/>
                                        <p:tgtEl>
                                          <p:spTgt spid="108"/>
                                        </p:tgtEl>
                                      </p:cBhvr>
                                    </p:animEffect>
                                    <p:anim calcmode="lin" valueType="num">
                                      <p:cBhvr additive="base">
                                        <p:cTn id="44" dur="450" decel="100000" fill="hold"/>
                                        <p:tgtEl>
                                          <p:spTgt spid="108"/>
                                        </p:tgtEl>
                                        <p:attrNameLst>
                                          <p:attrName>ppt_y</p:attrName>
                                        </p:attrNameLst>
                                      </p:cBhvr>
                                      <p:tavLst>
                                        <p:tav tm="0">
                                          <p:val>
                                            <p:strVal val="#ppt_y-0.06"/>
                                          </p:val>
                                        </p:tav>
                                        <p:tav tm="100000">
                                          <p:val>
                                            <p:strVal val="#ppt_y"/>
                                          </p:val>
                                        </p:tav>
                                      </p:tavLst>
                                    </p:anim>
                                  </p:childTnLst>
                                </p:cTn>
                              </p:par>
                              <p:par>
                                <p:cTn id="45" presetID="42" presetClass="entr" presetSubtype="0" fill="hold" nodeType="withEffect">
                                  <p:stCondLst>
                                    <p:cond delay="880"/>
                                  </p:stCondLst>
                                  <p:childTnLst>
                                    <p:set>
                                      <p:cBhvr>
                                        <p:cTn id="46" dur="1" fill="hold">
                                          <p:stCondLst>
                                            <p:cond delay="0"/>
                                          </p:stCondLst>
                                        </p:cTn>
                                        <p:tgtEl>
                                          <p:spTgt spid="112"/>
                                        </p:tgtEl>
                                        <p:attrNameLst>
                                          <p:attrName>style.visibility</p:attrName>
                                        </p:attrNameLst>
                                      </p:cBhvr>
                                      <p:to>
                                        <p:strVal val="visible"/>
                                      </p:to>
                                    </p:set>
                                    <p:animEffect transition="in" filter="fade">
                                      <p:cBhvr>
                                        <p:cTn id="47" dur="450"/>
                                        <p:tgtEl>
                                          <p:spTgt spid="112"/>
                                        </p:tgtEl>
                                      </p:cBhvr>
                                    </p:animEffect>
                                    <p:anim calcmode="lin" valueType="num">
                                      <p:cBhvr additive="base">
                                        <p:cTn id="48" dur="450" decel="100000" fill="hold"/>
                                        <p:tgtEl>
                                          <p:spTgt spid="112"/>
                                        </p:tgtEl>
                                        <p:attrNameLst>
                                          <p:attrName>ppt_y</p:attrName>
                                        </p:attrNameLst>
                                      </p:cBhvr>
                                      <p:tavLst>
                                        <p:tav tm="0">
                                          <p:val>
                                            <p:strVal val="#ppt_y-0.06"/>
                                          </p:val>
                                        </p:tav>
                                        <p:tav tm="100000">
                                          <p:val>
                                            <p:strVal val="#ppt_y"/>
                                          </p:val>
                                        </p:tav>
                                      </p:tavLst>
                                    </p:anim>
                                  </p:childTnLst>
                                </p:cTn>
                              </p:par>
                              <p:par>
                                <p:cTn id="49" presetID="42" presetClass="entr" presetSubtype="0" fill="hold" nodeType="withEffect">
                                  <p:stCondLst>
                                    <p:cond delay="88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450"/>
                                        <p:tgtEl>
                                          <p:spTgt spid="113"/>
                                        </p:tgtEl>
                                      </p:cBhvr>
                                    </p:animEffect>
                                    <p:anim calcmode="lin" valueType="num">
                                      <p:cBhvr additive="base">
                                        <p:cTn id="52" dur="450" decel="100000" fill="hold"/>
                                        <p:tgtEl>
                                          <p:spTgt spid="113"/>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880"/>
                                  </p:stCondLst>
                                  <p:childTnLst>
                                    <p:set>
                                      <p:cBhvr>
                                        <p:cTn id="54" dur="1" fill="hold">
                                          <p:stCondLst>
                                            <p:cond delay="0"/>
                                          </p:stCondLst>
                                        </p:cTn>
                                        <p:tgtEl>
                                          <p:spTgt spid="111"/>
                                        </p:tgtEl>
                                        <p:attrNameLst>
                                          <p:attrName>style.visibility</p:attrName>
                                        </p:attrNameLst>
                                      </p:cBhvr>
                                      <p:to>
                                        <p:strVal val="visible"/>
                                      </p:to>
                                    </p:set>
                                    <p:animEffect transition="in" filter="fade">
                                      <p:cBhvr>
                                        <p:cTn id="55" dur="450"/>
                                        <p:tgtEl>
                                          <p:spTgt spid="111"/>
                                        </p:tgtEl>
                                      </p:cBhvr>
                                    </p:animEffect>
                                    <p:anim calcmode="lin" valueType="num">
                                      <p:cBhvr additive="base">
                                        <p:cTn id="56" dur="450" decel="100000" fill="hold"/>
                                        <p:tgtEl>
                                          <p:spTgt spid="111"/>
                                        </p:tgtEl>
                                        <p:attrNameLst>
                                          <p:attrName>ppt_y</p:attrName>
                                        </p:attrNameLst>
                                      </p:cBhvr>
                                      <p:tavLst>
                                        <p:tav tm="0">
                                          <p:val>
                                            <p:strVal val="#ppt_y-0.06"/>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grpId="0" nodeType="clickEffect">
                                  <p:stCondLst>
                                    <p:cond delay="0"/>
                                  </p:stCondLst>
                                  <p:childTnLst>
                                    <p:set>
                                      <p:cBhvr>
                                        <p:cTn id="60" dur="1" fill="hold">
                                          <p:stCondLst>
                                            <p:cond delay="0"/>
                                          </p:stCondLst>
                                        </p:cTn>
                                        <p:tgtEl>
                                          <p:spTgt spid="114"/>
                                        </p:tgtEl>
                                        <p:attrNameLst>
                                          <p:attrName>style.visibility</p:attrName>
                                        </p:attrNameLst>
                                      </p:cBhvr>
                                      <p:to>
                                        <p:strVal val="visible"/>
                                      </p:to>
                                    </p:set>
                                    <p:animEffect transition="in" filter="fade">
                                      <p:cBhvr>
                                        <p:cTn id="61" dur="500"/>
                                        <p:tgtEl>
                                          <p:spTgt spid="114"/>
                                        </p:tgtEl>
                                      </p:cBhvr>
                                    </p:animEffect>
                                    <p:anim calcmode="lin" valueType="num">
                                      <p:cBhvr additive="base">
                                        <p:cTn id="62"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115"/>
                                        </p:tgtEl>
                                        <p:attrNameLst>
                                          <p:attrName>style.visibility</p:attrName>
                                        </p:attrNameLst>
                                      </p:cBhvr>
                                      <p:to>
                                        <p:strVal val="visible"/>
                                      </p:to>
                                    </p:set>
                                    <p:animEffect transition="in" filter="fade">
                                      <p:cBhvr>
                                        <p:cTn id="67" dur="500"/>
                                        <p:tgtEl>
                                          <p:spTgt spid="115"/>
                                        </p:tgtEl>
                                      </p:cBhvr>
                                    </p:animEffect>
                                    <p:anim calcmode="lin" valueType="num">
                                      <p:cBhvr additive="base">
                                        <p:cTn id="68" dur="500" decel="100000" fill="hold"/>
                                        <p:tgtEl>
                                          <p:spTgt spid="115"/>
                                        </p:tgtEl>
                                        <p:attrNameLst>
                                          <p:attrName>ppt_y</p:attrName>
                                        </p:attrNameLst>
                                      </p:cBhvr>
                                      <p:tavLst>
                                        <p:tav tm="0">
                                          <p:val>
                                            <p:strVal val="#ppt_y+0.06"/>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42" presetClass="entr" presetSubtype="0" fill="hold" grpId="0" nodeType="clickEffect">
                                  <p:stCondLst>
                                    <p:cond delay="0"/>
                                  </p:stCondLst>
                                  <p:childTnLst>
                                    <p:set>
                                      <p:cBhvr>
                                        <p:cTn id="72" dur="1" fill="hold">
                                          <p:stCondLst>
                                            <p:cond delay="0"/>
                                          </p:stCondLst>
                                        </p:cTn>
                                        <p:tgtEl>
                                          <p:spTgt spid="116"/>
                                        </p:tgtEl>
                                        <p:attrNameLst>
                                          <p:attrName>style.visibility</p:attrName>
                                        </p:attrNameLst>
                                      </p:cBhvr>
                                      <p:to>
                                        <p:strVal val="visible"/>
                                      </p:to>
                                    </p:set>
                                    <p:animEffect transition="in" filter="fade">
                                      <p:cBhvr>
                                        <p:cTn id="73" dur="500"/>
                                        <p:tgtEl>
                                          <p:spTgt spid="116"/>
                                        </p:tgtEl>
                                      </p:cBhvr>
                                    </p:animEffect>
                                    <p:anim calcmode="lin" valueType="num">
                                      <p:cBhvr additive="base">
                                        <p:cTn id="74"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42" presetClass="entr" presetSubtype="0" fill="hold" grpId="0" nodeType="clickEffect">
                                  <p:stCondLst>
                                    <p:cond delay="0"/>
                                  </p:stCondLst>
                                  <p:childTnLst>
                                    <p:set>
                                      <p:cBhvr>
                                        <p:cTn id="78" dur="1" fill="hold">
                                          <p:stCondLst>
                                            <p:cond delay="0"/>
                                          </p:stCondLst>
                                        </p:cTn>
                                        <p:tgtEl>
                                          <p:spTgt spid="117"/>
                                        </p:tgtEl>
                                        <p:attrNameLst>
                                          <p:attrName>style.visibility</p:attrName>
                                        </p:attrNameLst>
                                      </p:cBhvr>
                                      <p:to>
                                        <p:strVal val="visible"/>
                                      </p:to>
                                    </p:set>
                                    <p:animEffect transition="in" filter="fade">
                                      <p:cBhvr>
                                        <p:cTn id="79" dur="500"/>
                                        <p:tgtEl>
                                          <p:spTgt spid="117"/>
                                        </p:tgtEl>
                                      </p:cBhvr>
                                    </p:animEffect>
                                    <p:anim calcmode="lin" valueType="num">
                                      <p:cBhvr additive="base">
                                        <p:cTn id="80" dur="500" decel="100000" fill="hold"/>
                                        <p:tgtEl>
                                          <p:spTgt spid="117"/>
                                        </p:tgtEl>
                                        <p:attrNameLst>
                                          <p:attrName>ppt_y</p:attrName>
                                        </p:attrNameLst>
                                      </p:cBhvr>
                                      <p:tavLst>
                                        <p:tav tm="0">
                                          <p:val>
                                            <p:strVal val="#ppt_y+0.06"/>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42" presetClass="entr" presetSubtype="0" fill="hold" grpId="0" nodeType="clickEffect">
                                  <p:stCondLst>
                                    <p:cond delay="0"/>
                                  </p:stCondLst>
                                  <p:childTnLst>
                                    <p:set>
                                      <p:cBhvr>
                                        <p:cTn id="84" dur="1" fill="hold">
                                          <p:stCondLst>
                                            <p:cond delay="0"/>
                                          </p:stCondLst>
                                        </p:cTn>
                                        <p:tgtEl>
                                          <p:spTgt spid="118"/>
                                        </p:tgtEl>
                                        <p:attrNameLst>
                                          <p:attrName>style.visibility</p:attrName>
                                        </p:attrNameLst>
                                      </p:cBhvr>
                                      <p:to>
                                        <p:strVal val="visible"/>
                                      </p:to>
                                    </p:set>
                                    <p:animEffect transition="in" filter="fade">
                                      <p:cBhvr>
                                        <p:cTn id="85" dur="500"/>
                                        <p:tgtEl>
                                          <p:spTgt spid="118"/>
                                        </p:tgtEl>
                                      </p:cBhvr>
                                    </p:animEffect>
                                    <p:anim calcmode="lin" valueType="num">
                                      <p:cBhvr additive="base">
                                        <p:cTn id="86" dur="500" decel="100000" fill="hold"/>
                                        <p:tgtEl>
                                          <p:spTgt spid="11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5" grpId="0" animBg="1"/>
      <p:bldP spid="108" grpId="0" animBg="1"/>
      <p:bldP spid="111" grpId="0" animBg="1"/>
      <p:bldP spid="114" grpId="0" animBg="1"/>
      <p:bldP spid="115" grpId="0" animBg="1"/>
      <p:bldP spid="116" grpId="0" animBg="1"/>
      <p:bldP spid="117" grpId="0" animBg="1"/>
      <p:bldP spid="118"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07085"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DOCUMENTS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Waterfall Runs on Documents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Each phase writes documents. The next phase builds on them.</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METHODOLOGIES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190</a:t>
            </a:r>
            <a:endParaRPr lang="en-US" sz="850" dirty="0"/>
          </a:p>
        </p:txBody>
      </p:sp>
      <p:sp>
        <p:nvSpPr>
          <p:cNvPr id="101" name="s101"/>
          <p:cNvSpPr/>
          <p:nvPr/>
        </p:nvSpPr>
        <p:spPr>
          <a:xfrm>
            <a:off x="543154" y="1828800"/>
            <a:ext cx="2511400" cy="3200400"/>
          </a:xfrm>
          <a:prstGeom prst="roundRect">
            <a:avLst>
              <a:gd name="adj" fmla="val 8000"/>
            </a:avLst>
          </a:prstGeom>
          <a:solidFill>
            <a:srgbClr val="111B2E"/>
          </a:solidFill>
          <a:ln w="19050">
            <a:solidFill>
              <a:srgbClr val="13D0F7"/>
            </a:solidFill>
            <a:prstDash val="solid"/>
          </a:ln>
        </p:spPr>
        <p:txBody>
          <a:bodyPr wrap="square" lIns="182880" tIns="164592" rIns="137160" bIns="91440" rtlCol="0" anchor="t">
            <a:noAutofit/>
          </a:bodyPr>
          <a:lstStyle/>
          <a:p>
            <a:pPr marL="0" indent="0" algn="l">
              <a:spcBef>
                <a:spcPts val="0"/>
              </a:spcBef>
              <a:spcAft>
                <a:spcPts val="200"/>
              </a:spcAft>
              <a:buNone/>
            </a:pPr>
            <a:r>
              <a:rPr lang="en-US" sz="1400" b="1" dirty="0">
                <a:solidFill>
                  <a:srgbClr val="13D0F7"/>
                </a:solidFill>
                <a:latin typeface="Segoe UI"/>
                <a:ea typeface="Segoe UI"/>
                <a:cs typeface="Segoe UI"/>
              </a:rPr>
              <a:t>1  REQUIREMENTS</a:t>
            </a:r>
            <a:endParaRPr lang="en-US" sz="1400" dirty="0"/>
          </a:p>
          <a:p>
            <a:pPr marL="0" indent="0" algn="l">
              <a:spcBef>
                <a:spcPts val="0"/>
              </a:spcBef>
              <a:spcAft>
                <a:spcPts val="1000"/>
              </a:spcAft>
              <a:buNone/>
            </a:pPr>
            <a:r>
              <a:rPr lang="en-US" sz="1200" b="0" i="1" dirty="0">
                <a:solidFill>
                  <a:srgbClr val="94A3B8"/>
                </a:solidFill>
                <a:latin typeface="Segoe UI"/>
                <a:ea typeface="Segoe UI"/>
                <a:cs typeface="Segoe UI"/>
              </a:rPr>
              <a:t>WHAT the client wants</a:t>
            </a:r>
            <a:endParaRPr lang="en-US" sz="1200" dirty="0"/>
          </a:p>
          <a:p>
            <a:pPr marL="0" indent="0" algn="l">
              <a:spcBef>
                <a:spcPts val="0"/>
              </a:spcBef>
              <a:spcAft>
                <a:spcPts val="500"/>
              </a:spcAft>
              <a:buNone/>
            </a:pPr>
            <a:r>
              <a:rPr lang="en-US" sz="1250" b="0" dirty="0">
                <a:solidFill>
                  <a:srgbClr val="13D0F7"/>
                </a:solidFill>
                <a:latin typeface="Segoe UI"/>
                <a:ea typeface="Segoe UI"/>
                <a:cs typeface="Segoe UI"/>
              </a:rPr>
              <a:t>▸ </a:t>
            </a:r>
            <a:r>
              <a:rPr lang="en-US" sz="1250" b="0" dirty="0">
                <a:solidFill>
                  <a:srgbClr val="FFFFFF"/>
                </a:solidFill>
                <a:latin typeface="Segoe UI"/>
                <a:ea typeface="Segoe UI"/>
                <a:cs typeface="Segoe UI"/>
              </a:rPr>
              <a:t>SRS: Software Requirements Specification</a:t>
            </a:r>
            <a:endParaRPr lang="en-US" sz="1250" dirty="0"/>
          </a:p>
        </p:txBody>
      </p:sp>
      <p:sp>
        <p:nvSpPr>
          <p:cNvPr id="102" name="s102"/>
          <p:cNvSpPr/>
          <p:nvPr/>
        </p:nvSpPr>
        <p:spPr>
          <a:xfrm>
            <a:off x="3402025" y="1828800"/>
            <a:ext cx="2511400" cy="3200400"/>
          </a:xfrm>
          <a:prstGeom prst="roundRect">
            <a:avLst>
              <a:gd name="adj" fmla="val 8000"/>
            </a:avLst>
          </a:prstGeom>
          <a:solidFill>
            <a:srgbClr val="111B2E"/>
          </a:solidFill>
          <a:ln w="19050">
            <a:solidFill>
              <a:srgbClr val="A78BFA"/>
            </a:solidFill>
            <a:prstDash val="solid"/>
          </a:ln>
        </p:spPr>
        <p:txBody>
          <a:bodyPr wrap="square" lIns="182880" tIns="164592" rIns="137160" bIns="91440" rtlCol="0" anchor="t">
            <a:noAutofit/>
          </a:bodyPr>
          <a:lstStyle/>
          <a:p>
            <a:pPr marL="0" indent="0" algn="l">
              <a:spcBef>
                <a:spcPts val="0"/>
              </a:spcBef>
              <a:spcAft>
                <a:spcPts val="200"/>
              </a:spcAft>
              <a:buNone/>
            </a:pPr>
            <a:r>
              <a:rPr lang="en-US" sz="1400" b="1" dirty="0">
                <a:solidFill>
                  <a:srgbClr val="A78BFA"/>
                </a:solidFill>
                <a:latin typeface="Segoe UI"/>
                <a:ea typeface="Segoe UI"/>
                <a:cs typeface="Segoe UI"/>
              </a:rPr>
              <a:t>2  DESIGN</a:t>
            </a:r>
            <a:endParaRPr lang="en-US" sz="1400" dirty="0"/>
          </a:p>
          <a:p>
            <a:pPr marL="0" indent="0" algn="l">
              <a:spcBef>
                <a:spcPts val="0"/>
              </a:spcBef>
              <a:spcAft>
                <a:spcPts val="1000"/>
              </a:spcAft>
              <a:buNone/>
            </a:pPr>
            <a:r>
              <a:rPr lang="en-US" sz="1200" b="0" i="1" dirty="0">
                <a:solidFill>
                  <a:srgbClr val="94A3B8"/>
                </a:solidFill>
                <a:latin typeface="Segoe UI"/>
                <a:ea typeface="Segoe UI"/>
                <a:cs typeface="Segoe UI"/>
              </a:rPr>
              <a:t>HOW we will build it</a:t>
            </a:r>
            <a:endParaRPr lang="en-US" sz="1200" dirty="0"/>
          </a:p>
          <a:p>
            <a:pPr marL="0" indent="0" algn="l">
              <a:spcBef>
                <a:spcPts val="0"/>
              </a:spcBef>
              <a:spcAft>
                <a:spcPts val="500"/>
              </a:spcAft>
              <a:buNone/>
            </a:pPr>
            <a:r>
              <a:rPr lang="en-US" sz="1250" b="0" dirty="0">
                <a:solidFill>
                  <a:srgbClr val="A78BFA"/>
                </a:solidFill>
                <a:latin typeface="Segoe UI"/>
                <a:ea typeface="Segoe UI"/>
                <a:cs typeface="Segoe UI"/>
              </a:rPr>
              <a:t>▸ </a:t>
            </a:r>
            <a:r>
              <a:rPr lang="en-US" sz="1250" b="0" dirty="0">
                <a:solidFill>
                  <a:srgbClr val="FFFFFF"/>
                </a:solidFill>
                <a:latin typeface="Segoe UI"/>
                <a:ea typeface="Segoe UI"/>
                <a:cs typeface="Segoe UI"/>
              </a:rPr>
              <a:t>Architecture Document</a:t>
            </a:r>
            <a:endParaRPr lang="en-US" sz="1250" dirty="0"/>
          </a:p>
          <a:p>
            <a:pPr marL="0" indent="0" algn="l">
              <a:spcBef>
                <a:spcPts val="0"/>
              </a:spcBef>
              <a:spcAft>
                <a:spcPts val="500"/>
              </a:spcAft>
              <a:buNone/>
            </a:pPr>
            <a:r>
              <a:rPr lang="en-US" sz="1250" b="0" dirty="0">
                <a:solidFill>
                  <a:srgbClr val="A78BFA"/>
                </a:solidFill>
                <a:latin typeface="Segoe UI"/>
                <a:ea typeface="Segoe UI"/>
                <a:cs typeface="Segoe UI"/>
              </a:rPr>
              <a:t>▸ </a:t>
            </a:r>
            <a:r>
              <a:rPr lang="en-US" sz="1250" b="0" dirty="0">
                <a:solidFill>
                  <a:srgbClr val="FFFFFF"/>
                </a:solidFill>
                <a:latin typeface="Segoe UI"/>
                <a:ea typeface="Segoe UI"/>
                <a:cs typeface="Segoe UI"/>
              </a:rPr>
              <a:t>Database ERD</a:t>
            </a:r>
            <a:endParaRPr lang="en-US" sz="1250" dirty="0"/>
          </a:p>
          <a:p>
            <a:pPr marL="0" indent="0" algn="l">
              <a:spcBef>
                <a:spcPts val="0"/>
              </a:spcBef>
              <a:spcAft>
                <a:spcPts val="500"/>
              </a:spcAft>
              <a:buNone/>
            </a:pPr>
            <a:r>
              <a:rPr lang="en-US" sz="1250" b="0" dirty="0">
                <a:solidFill>
                  <a:srgbClr val="A78BFA"/>
                </a:solidFill>
                <a:latin typeface="Segoe UI"/>
                <a:ea typeface="Segoe UI"/>
                <a:cs typeface="Segoe UI"/>
              </a:rPr>
              <a:t>▸ </a:t>
            </a:r>
            <a:r>
              <a:rPr lang="en-US" sz="1250" b="0" dirty="0">
                <a:solidFill>
                  <a:srgbClr val="FFFFFF"/>
                </a:solidFill>
                <a:latin typeface="Segoe UI"/>
                <a:ea typeface="Segoe UI"/>
                <a:cs typeface="Segoe UI"/>
              </a:rPr>
              <a:t>API Contracts</a:t>
            </a:r>
            <a:endParaRPr lang="en-US" sz="1250" dirty="0"/>
          </a:p>
          <a:p>
            <a:pPr marL="0" indent="0" algn="l">
              <a:spcBef>
                <a:spcPts val="0"/>
              </a:spcBef>
              <a:spcAft>
                <a:spcPts val="500"/>
              </a:spcAft>
              <a:buNone/>
            </a:pPr>
            <a:r>
              <a:rPr lang="en-US" sz="1250" b="0" dirty="0">
                <a:solidFill>
                  <a:srgbClr val="A78BFA"/>
                </a:solidFill>
                <a:latin typeface="Segoe UI"/>
                <a:ea typeface="Segoe UI"/>
                <a:cs typeface="Segoe UI"/>
              </a:rPr>
              <a:t>▸ </a:t>
            </a:r>
            <a:r>
              <a:rPr lang="en-US" sz="1250" b="0" dirty="0">
                <a:solidFill>
                  <a:srgbClr val="FFFFFF"/>
                </a:solidFill>
                <a:latin typeface="Segoe UI"/>
                <a:ea typeface="Segoe UI"/>
                <a:cs typeface="Segoe UI"/>
              </a:rPr>
              <a:t>Sequence Diagrams</a:t>
            </a:r>
            <a:endParaRPr lang="en-US" sz="1250" dirty="0"/>
          </a:p>
          <a:p>
            <a:pPr marL="0" indent="0" algn="l">
              <a:spcBef>
                <a:spcPts val="0"/>
              </a:spcBef>
              <a:spcAft>
                <a:spcPts val="500"/>
              </a:spcAft>
              <a:buNone/>
            </a:pPr>
            <a:r>
              <a:rPr lang="en-US" sz="1250" b="0" dirty="0">
                <a:solidFill>
                  <a:srgbClr val="A78BFA"/>
                </a:solidFill>
                <a:latin typeface="Segoe UI"/>
                <a:ea typeface="Segoe UI"/>
                <a:cs typeface="Segoe UI"/>
              </a:rPr>
              <a:t>▸ </a:t>
            </a:r>
            <a:r>
              <a:rPr lang="en-US" sz="1250" b="0" dirty="0">
                <a:solidFill>
                  <a:srgbClr val="FFFFFF"/>
                </a:solidFill>
                <a:latin typeface="Segoe UI"/>
                <a:ea typeface="Segoe UI"/>
                <a:cs typeface="Segoe UI"/>
              </a:rPr>
              <a:t>Integration Design</a:t>
            </a:r>
            <a:endParaRPr lang="en-US" sz="1250" dirty="0"/>
          </a:p>
        </p:txBody>
      </p:sp>
      <p:cxnSp>
        <p:nvCxnSpPr>
          <p:cNvPr id="103" name="ln103"/>
          <p:cNvCxnSpPr/>
          <p:nvPr/>
        </p:nvCxnSpPr>
        <p:spPr>
          <a:xfrm>
            <a:off x="3109417" y="2240280"/>
            <a:ext cx="237744" cy="0"/>
          </a:xfrm>
          <a:prstGeom prst="line">
            <a:avLst/>
          </a:prstGeom>
          <a:ln w="22225">
            <a:solidFill>
              <a:srgbClr val="94A3B8"/>
            </a:solidFill>
            <a:tailEnd type="triangle" w="med" len="med"/>
          </a:ln>
        </p:spPr>
      </p:cxnSp>
      <p:sp>
        <p:nvSpPr>
          <p:cNvPr id="104" name="s104"/>
          <p:cNvSpPr/>
          <p:nvPr/>
        </p:nvSpPr>
        <p:spPr>
          <a:xfrm>
            <a:off x="6260897" y="1828800"/>
            <a:ext cx="2511400" cy="3200400"/>
          </a:xfrm>
          <a:prstGeom prst="roundRect">
            <a:avLst>
              <a:gd name="adj" fmla="val 8000"/>
            </a:avLst>
          </a:prstGeom>
          <a:solidFill>
            <a:srgbClr val="111B2E"/>
          </a:solidFill>
          <a:ln w="19050">
            <a:solidFill>
              <a:srgbClr val="FBBF24"/>
            </a:solidFill>
            <a:prstDash val="solid"/>
          </a:ln>
        </p:spPr>
        <p:txBody>
          <a:bodyPr wrap="square" lIns="182880" tIns="164592" rIns="137160" bIns="91440" rtlCol="0" anchor="t">
            <a:noAutofit/>
          </a:bodyPr>
          <a:lstStyle/>
          <a:p>
            <a:pPr marL="0" indent="0" algn="l">
              <a:spcBef>
                <a:spcPts val="0"/>
              </a:spcBef>
              <a:spcAft>
                <a:spcPts val="200"/>
              </a:spcAft>
              <a:buNone/>
            </a:pPr>
            <a:r>
              <a:rPr lang="en-US" sz="1400" b="1" dirty="0">
                <a:solidFill>
                  <a:srgbClr val="FBBF24"/>
                </a:solidFill>
                <a:latin typeface="Segoe UI"/>
                <a:ea typeface="Segoe UI"/>
                <a:cs typeface="Segoe UI"/>
              </a:rPr>
              <a:t>3  TESTING</a:t>
            </a:r>
            <a:endParaRPr lang="en-US" sz="1400" dirty="0"/>
          </a:p>
          <a:p>
            <a:pPr marL="0" indent="0" algn="l">
              <a:spcBef>
                <a:spcPts val="0"/>
              </a:spcBef>
              <a:spcAft>
                <a:spcPts val="1000"/>
              </a:spcAft>
              <a:buNone/>
            </a:pPr>
            <a:r>
              <a:rPr lang="en-US" sz="1200" b="0" i="1" dirty="0">
                <a:solidFill>
                  <a:srgbClr val="94A3B8"/>
                </a:solidFill>
                <a:latin typeface="Segoe UI"/>
                <a:ea typeface="Segoe UI"/>
                <a:cs typeface="Segoe UI"/>
              </a:rPr>
              <a:t>HOW we prove it works</a:t>
            </a:r>
            <a:endParaRPr lang="en-US" sz="1200" dirty="0"/>
          </a:p>
          <a:p>
            <a:pPr marL="0" indent="0" algn="l">
              <a:spcBef>
                <a:spcPts val="0"/>
              </a:spcBef>
              <a:spcAft>
                <a:spcPts val="500"/>
              </a:spcAft>
              <a:buNone/>
            </a:pPr>
            <a:r>
              <a:rPr lang="en-US" sz="1250" b="0" dirty="0">
                <a:solidFill>
                  <a:srgbClr val="FBBF24"/>
                </a:solidFill>
                <a:latin typeface="Segoe UI"/>
                <a:ea typeface="Segoe UI"/>
                <a:cs typeface="Segoe UI"/>
              </a:rPr>
              <a:t>▸ </a:t>
            </a:r>
            <a:r>
              <a:rPr lang="en-US" sz="1250" b="0" dirty="0">
                <a:solidFill>
                  <a:srgbClr val="FFFFFF"/>
                </a:solidFill>
                <a:latin typeface="Segoe UI"/>
                <a:ea typeface="Segoe UI"/>
                <a:cs typeface="Segoe UI"/>
              </a:rPr>
              <a:t>Test Plan</a:t>
            </a:r>
            <a:endParaRPr lang="en-US" sz="1250" dirty="0"/>
          </a:p>
          <a:p>
            <a:pPr marL="0" indent="0" algn="l">
              <a:spcBef>
                <a:spcPts val="0"/>
              </a:spcBef>
              <a:spcAft>
                <a:spcPts val="500"/>
              </a:spcAft>
              <a:buNone/>
            </a:pPr>
            <a:r>
              <a:rPr lang="en-US" sz="1250" b="0" dirty="0">
                <a:solidFill>
                  <a:srgbClr val="FBBF24"/>
                </a:solidFill>
                <a:latin typeface="Segoe UI"/>
                <a:ea typeface="Segoe UI"/>
                <a:cs typeface="Segoe UI"/>
              </a:rPr>
              <a:t>▸ </a:t>
            </a:r>
            <a:r>
              <a:rPr lang="en-US" sz="1250" b="0" dirty="0">
                <a:solidFill>
                  <a:srgbClr val="FFFFFF"/>
                </a:solidFill>
                <a:latin typeface="Segoe UI"/>
                <a:ea typeface="Segoe UI"/>
                <a:cs typeface="Segoe UI"/>
              </a:rPr>
              <a:t>Test Cases</a:t>
            </a:r>
            <a:endParaRPr lang="en-US" sz="1250" dirty="0"/>
          </a:p>
        </p:txBody>
      </p:sp>
      <p:cxnSp>
        <p:nvCxnSpPr>
          <p:cNvPr id="105" name="ln105"/>
          <p:cNvCxnSpPr/>
          <p:nvPr/>
        </p:nvCxnSpPr>
        <p:spPr>
          <a:xfrm>
            <a:off x="5968289" y="2240280"/>
            <a:ext cx="237744" cy="0"/>
          </a:xfrm>
          <a:prstGeom prst="line">
            <a:avLst/>
          </a:prstGeom>
          <a:ln w="22225">
            <a:solidFill>
              <a:srgbClr val="94A3B8"/>
            </a:solidFill>
            <a:tailEnd type="triangle" w="med" len="med"/>
          </a:ln>
        </p:spPr>
      </p:cxnSp>
      <p:sp>
        <p:nvSpPr>
          <p:cNvPr id="106" name="s106"/>
          <p:cNvSpPr/>
          <p:nvPr/>
        </p:nvSpPr>
        <p:spPr>
          <a:xfrm>
            <a:off x="9119768" y="1828800"/>
            <a:ext cx="2511400" cy="3200400"/>
          </a:xfrm>
          <a:prstGeom prst="roundRect">
            <a:avLst>
              <a:gd name="adj" fmla="val 8000"/>
            </a:avLst>
          </a:prstGeom>
          <a:solidFill>
            <a:srgbClr val="111B2E"/>
          </a:solidFill>
          <a:ln w="19050">
            <a:solidFill>
              <a:srgbClr val="34D399"/>
            </a:solidFill>
            <a:prstDash val="solid"/>
          </a:ln>
        </p:spPr>
        <p:txBody>
          <a:bodyPr wrap="square" lIns="182880" tIns="164592" rIns="137160" bIns="91440" rtlCol="0" anchor="t">
            <a:noAutofit/>
          </a:bodyPr>
          <a:lstStyle/>
          <a:p>
            <a:pPr marL="0" indent="0" algn="l">
              <a:spcBef>
                <a:spcPts val="0"/>
              </a:spcBef>
              <a:spcAft>
                <a:spcPts val="200"/>
              </a:spcAft>
              <a:buNone/>
            </a:pPr>
            <a:r>
              <a:rPr lang="en-US" sz="1400" b="1" dirty="0">
                <a:solidFill>
                  <a:srgbClr val="34D399"/>
                </a:solidFill>
                <a:latin typeface="Segoe UI"/>
                <a:ea typeface="Segoe UI"/>
                <a:cs typeface="Segoe UI"/>
              </a:rPr>
              <a:t>4  DEPLOY &amp; MAINTAIN</a:t>
            </a:r>
            <a:endParaRPr lang="en-US" sz="1400" dirty="0"/>
          </a:p>
          <a:p>
            <a:pPr marL="0" indent="0" algn="l">
              <a:spcBef>
                <a:spcPts val="0"/>
              </a:spcBef>
              <a:spcAft>
                <a:spcPts val="1000"/>
              </a:spcAft>
              <a:buNone/>
            </a:pPr>
            <a:r>
              <a:rPr lang="en-US" sz="1200" b="0" i="1" dirty="0">
                <a:solidFill>
                  <a:srgbClr val="94A3B8"/>
                </a:solidFill>
                <a:latin typeface="Segoe UI"/>
                <a:ea typeface="Segoe UI"/>
                <a:cs typeface="Segoe UI"/>
              </a:rPr>
              <a:t>HOW we run and fix it</a:t>
            </a:r>
            <a:endParaRPr lang="en-US" sz="1200" dirty="0"/>
          </a:p>
          <a:p>
            <a:pPr marL="0" indent="0" algn="l">
              <a:spcBef>
                <a:spcPts val="0"/>
              </a:spcBef>
              <a:spcAft>
                <a:spcPts val="500"/>
              </a:spcAft>
              <a:buNone/>
            </a:pPr>
            <a:r>
              <a:rPr lang="en-US" sz="1250" b="0" dirty="0">
                <a:solidFill>
                  <a:srgbClr val="34D399"/>
                </a:solidFill>
                <a:latin typeface="Segoe UI"/>
                <a:ea typeface="Segoe UI"/>
                <a:cs typeface="Segoe UI"/>
              </a:rPr>
              <a:t>▸ </a:t>
            </a:r>
            <a:r>
              <a:rPr lang="en-US" sz="1250" b="0" dirty="0">
                <a:solidFill>
                  <a:srgbClr val="FFFFFF"/>
                </a:solidFill>
                <a:latin typeface="Segoe UI"/>
                <a:ea typeface="Segoe UI"/>
                <a:cs typeface="Segoe UI"/>
              </a:rPr>
              <a:t>Deployment Guide</a:t>
            </a:r>
            <a:endParaRPr lang="en-US" sz="1250" dirty="0"/>
          </a:p>
          <a:p>
            <a:pPr marL="0" indent="0" algn="l">
              <a:spcBef>
                <a:spcPts val="0"/>
              </a:spcBef>
              <a:spcAft>
                <a:spcPts val="500"/>
              </a:spcAft>
              <a:buNone/>
            </a:pPr>
            <a:r>
              <a:rPr lang="en-US" sz="1250" b="0" dirty="0">
                <a:solidFill>
                  <a:srgbClr val="34D399"/>
                </a:solidFill>
                <a:latin typeface="Segoe UI"/>
                <a:ea typeface="Segoe UI"/>
                <a:cs typeface="Segoe UI"/>
              </a:rPr>
              <a:t>▸ </a:t>
            </a:r>
            <a:r>
              <a:rPr lang="en-US" sz="1250" b="0" dirty="0">
                <a:solidFill>
                  <a:srgbClr val="FFFFFF"/>
                </a:solidFill>
                <a:latin typeface="Segoe UI"/>
                <a:ea typeface="Segoe UI"/>
                <a:cs typeface="Segoe UI"/>
              </a:rPr>
              <a:t>Installation Instructions</a:t>
            </a:r>
            <a:endParaRPr lang="en-US" sz="1250" dirty="0"/>
          </a:p>
          <a:p>
            <a:pPr marL="0" indent="0" algn="l">
              <a:spcBef>
                <a:spcPts val="0"/>
              </a:spcBef>
              <a:spcAft>
                <a:spcPts val="500"/>
              </a:spcAft>
              <a:buNone/>
            </a:pPr>
            <a:r>
              <a:rPr lang="en-US" sz="1250" b="0" dirty="0">
                <a:solidFill>
                  <a:srgbClr val="34D399"/>
                </a:solidFill>
                <a:latin typeface="Segoe UI"/>
                <a:ea typeface="Segoe UI"/>
                <a:cs typeface="Segoe UI"/>
              </a:rPr>
              <a:t>▸ </a:t>
            </a:r>
            <a:r>
              <a:rPr lang="en-US" sz="1250" b="0" dirty="0">
                <a:solidFill>
                  <a:srgbClr val="FFFFFF"/>
                </a:solidFill>
                <a:latin typeface="Segoe UI"/>
                <a:ea typeface="Segoe UI"/>
                <a:cs typeface="Segoe UI"/>
              </a:rPr>
              <a:t>Configuration Guide</a:t>
            </a:r>
            <a:endParaRPr lang="en-US" sz="1250" dirty="0"/>
          </a:p>
          <a:p>
            <a:pPr marL="0" indent="0" algn="l">
              <a:spcBef>
                <a:spcPts val="0"/>
              </a:spcBef>
              <a:spcAft>
                <a:spcPts val="500"/>
              </a:spcAft>
              <a:buNone/>
            </a:pPr>
            <a:r>
              <a:rPr lang="en-US" sz="1250" b="0" dirty="0">
                <a:solidFill>
                  <a:srgbClr val="34D399"/>
                </a:solidFill>
                <a:latin typeface="Segoe UI"/>
                <a:ea typeface="Segoe UI"/>
                <a:cs typeface="Segoe UI"/>
              </a:rPr>
              <a:t>▸ </a:t>
            </a:r>
            <a:r>
              <a:rPr lang="en-US" sz="1250" b="0" dirty="0">
                <a:solidFill>
                  <a:srgbClr val="FFFFFF"/>
                </a:solidFill>
                <a:latin typeface="Segoe UI"/>
                <a:ea typeface="Segoe UI"/>
                <a:cs typeface="Segoe UI"/>
              </a:rPr>
              <a:t>Operations Runbook</a:t>
            </a:r>
            <a:endParaRPr lang="en-US" sz="1250" dirty="0"/>
          </a:p>
          <a:p>
            <a:pPr marL="0" indent="0" algn="l">
              <a:spcBef>
                <a:spcPts val="0"/>
              </a:spcBef>
              <a:spcAft>
                <a:spcPts val="500"/>
              </a:spcAft>
              <a:buNone/>
            </a:pPr>
            <a:r>
              <a:rPr lang="en-US" sz="1250" b="0" dirty="0">
                <a:solidFill>
                  <a:srgbClr val="34D399"/>
                </a:solidFill>
                <a:latin typeface="Segoe UI"/>
                <a:ea typeface="Segoe UI"/>
                <a:cs typeface="Segoe UI"/>
              </a:rPr>
              <a:t>▸ </a:t>
            </a:r>
            <a:r>
              <a:rPr lang="en-US" sz="1250" b="0" dirty="0">
                <a:solidFill>
                  <a:srgbClr val="FFFFFF"/>
                </a:solidFill>
                <a:latin typeface="Segoe UI"/>
                <a:ea typeface="Segoe UI"/>
                <a:cs typeface="Segoe UI"/>
              </a:rPr>
              <a:t>Maintenance Procedures</a:t>
            </a:r>
            <a:endParaRPr lang="en-US" sz="1250" dirty="0"/>
          </a:p>
        </p:txBody>
      </p:sp>
      <p:cxnSp>
        <p:nvCxnSpPr>
          <p:cNvPr id="107" name="ln107"/>
          <p:cNvCxnSpPr/>
          <p:nvPr/>
        </p:nvCxnSpPr>
        <p:spPr>
          <a:xfrm>
            <a:off x="8827160" y="2240280"/>
            <a:ext cx="237744" cy="0"/>
          </a:xfrm>
          <a:prstGeom prst="line">
            <a:avLst/>
          </a:prstGeom>
          <a:ln w="22225">
            <a:solidFill>
              <a:srgbClr val="94A3B8"/>
            </a:solidFill>
            <a:tailEnd type="triangle" w="med" len="med"/>
          </a:ln>
        </p:spPr>
      </p:cxnSp>
      <p:sp>
        <p:nvSpPr>
          <p:cNvPr id="108" name="s108"/>
          <p:cNvSpPr/>
          <p:nvPr/>
        </p:nvSpPr>
        <p:spPr>
          <a:xfrm>
            <a:off x="543154" y="5257800"/>
            <a:ext cx="11088014" cy="548640"/>
          </a:xfrm>
          <a:prstGeom prst="roundRect">
            <a:avLst>
              <a:gd name="adj" fmla="val 12000"/>
            </a:avLst>
          </a:prstGeom>
          <a:solidFill>
            <a:srgbClr val="111B2E"/>
          </a:solidFill>
          <a:ln w="12700">
            <a:solidFill>
              <a:srgbClr val="FBBF24"/>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FBBF24"/>
                </a:solidFill>
                <a:latin typeface="Segoe UI"/>
                <a:ea typeface="Segoe UI"/>
                <a:cs typeface="Segoe UI"/>
              </a:rPr>
              <a:t>EXAMPLE</a:t>
            </a:r>
            <a:r>
              <a:rPr lang="en-US" sz="1350" b="0" dirty="0">
                <a:solidFill>
                  <a:srgbClr val="E2E8F0"/>
                </a:solidFill>
                <a:latin typeface="Segoe UI"/>
                <a:ea typeface="Segoe UI"/>
                <a:cs typeface="Segoe UI"/>
              </a:rPr>
              <a:t>   An online learning platform: students, instructors, paid courses, video lectures.</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anim calcmode="lin" valueType="num">
                                      <p:cBhvr additive="base">
                                        <p:cTn id="14" dur="500" decel="100000" fill="hold"/>
                                        <p:tgtEl>
                                          <p:spTgt spid="103"/>
                                        </p:tgtEl>
                                        <p:attrNameLst>
                                          <p:attrName>ppt_y</p:attrName>
                                        </p:attrNameLst>
                                      </p:cBhvr>
                                      <p:tavLst>
                                        <p:tav tm="0">
                                          <p:val>
                                            <p:strVal val="#ppt_y+0.06"/>
                                          </p:val>
                                        </p:tav>
                                        <p:tav tm="100000">
                                          <p:val>
                                            <p:strVal val="#ppt_y"/>
                                          </p:val>
                                        </p:tav>
                                      </p:tavLst>
                                    </p:anim>
                                  </p:childTnLst>
                                </p:cTn>
                              </p:par>
                              <p:par>
                                <p:cTn id="15" presetID="42" presetClass="entr" presetSubtype="0" fill="hold" grpId="0" nodeType="withEffect">
                                  <p:stCondLst>
                                    <p:cond delay="110"/>
                                  </p:stCondLst>
                                  <p:childTnLst>
                                    <p:set>
                                      <p:cBhvr>
                                        <p:cTn id="16" dur="1" fill="hold">
                                          <p:stCondLst>
                                            <p:cond delay="0"/>
                                          </p:stCondLst>
                                        </p:cTn>
                                        <p:tgtEl>
                                          <p:spTgt spid="102"/>
                                        </p:tgtEl>
                                        <p:attrNameLst>
                                          <p:attrName>style.visibility</p:attrName>
                                        </p:attrNameLst>
                                      </p:cBhvr>
                                      <p:to>
                                        <p:strVal val="visible"/>
                                      </p:to>
                                    </p:set>
                                    <p:animEffect transition="in" filter="fade">
                                      <p:cBhvr>
                                        <p:cTn id="17" dur="500"/>
                                        <p:tgtEl>
                                          <p:spTgt spid="102"/>
                                        </p:tgtEl>
                                      </p:cBhvr>
                                    </p:animEffect>
                                    <p:anim calcmode="lin" valueType="num">
                                      <p:cBhvr additive="base">
                                        <p:cTn id="18"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nodeType="click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110"/>
                                  </p:stCondLst>
                                  <p:childTnLst>
                                    <p:set>
                                      <p:cBhvr>
                                        <p:cTn id="26" dur="1" fill="hold">
                                          <p:stCondLst>
                                            <p:cond delay="0"/>
                                          </p:stCondLst>
                                        </p:cTn>
                                        <p:tgtEl>
                                          <p:spTgt spid="104"/>
                                        </p:tgtEl>
                                        <p:attrNameLst>
                                          <p:attrName>style.visibility</p:attrName>
                                        </p:attrNameLst>
                                      </p:cBhvr>
                                      <p:to>
                                        <p:strVal val="visible"/>
                                      </p:to>
                                    </p:set>
                                    <p:animEffect transition="in" filter="fade">
                                      <p:cBhvr>
                                        <p:cTn id="27" dur="500"/>
                                        <p:tgtEl>
                                          <p:spTgt spid="104"/>
                                        </p:tgtEl>
                                      </p:cBhvr>
                                    </p:animEffect>
                                    <p:anim calcmode="lin" valueType="num">
                                      <p:cBhvr additive="base">
                                        <p:cTn id="28" dur="500" decel="100000" fill="hold"/>
                                        <p:tgtEl>
                                          <p:spTgt spid="104"/>
                                        </p:tgtEl>
                                        <p:attrNameLst>
                                          <p:attrName>ppt_y</p:attrName>
                                        </p:attrNameLst>
                                      </p:cBhvr>
                                      <p:tavLst>
                                        <p:tav tm="0">
                                          <p:val>
                                            <p:strVal val="#ppt_y+0.06"/>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par>
                                <p:cTn id="35" presetID="42" presetClass="entr" presetSubtype="0" fill="hold" grpId="0" nodeType="withEffect">
                                  <p:stCondLst>
                                    <p:cond delay="110"/>
                                  </p:stCondLst>
                                  <p:childTnLst>
                                    <p:set>
                                      <p:cBhvr>
                                        <p:cTn id="36" dur="1" fill="hold">
                                          <p:stCondLst>
                                            <p:cond delay="0"/>
                                          </p:stCondLst>
                                        </p:cTn>
                                        <p:tgtEl>
                                          <p:spTgt spid="106"/>
                                        </p:tgtEl>
                                        <p:attrNameLst>
                                          <p:attrName>style.visibility</p:attrName>
                                        </p:attrNameLst>
                                      </p:cBhvr>
                                      <p:to>
                                        <p:strVal val="visible"/>
                                      </p:to>
                                    </p:set>
                                    <p:animEffect transition="in" filter="fade">
                                      <p:cBhvr>
                                        <p:cTn id="37" dur="500"/>
                                        <p:tgtEl>
                                          <p:spTgt spid="106"/>
                                        </p:tgtEl>
                                      </p:cBhvr>
                                    </p:animEffect>
                                    <p:anim calcmode="lin" valueType="num">
                                      <p:cBhvr additive="base">
                                        <p:cTn id="38" dur="500" decel="100000" fill="hold"/>
                                        <p:tgtEl>
                                          <p:spTgt spid="106"/>
                                        </p:tgtEl>
                                        <p:attrNameLst>
                                          <p:attrName>ppt_y</p:attrName>
                                        </p:attrNameLst>
                                      </p:cBhvr>
                                      <p:tavLst>
                                        <p:tav tm="0">
                                          <p:val>
                                            <p:strVal val="#ppt_y+0.06"/>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108"/>
                                        </p:tgtEl>
                                        <p:attrNameLst>
                                          <p:attrName>style.visibility</p:attrName>
                                        </p:attrNameLst>
                                      </p:cBhvr>
                                      <p:to>
                                        <p:strVal val="visible"/>
                                      </p:to>
                                    </p:set>
                                    <p:animEffect transition="in" filter="fade">
                                      <p:cBhvr>
                                        <p:cTn id="43" dur="500"/>
                                        <p:tgtEl>
                                          <p:spTgt spid="108"/>
                                        </p:tgtEl>
                                      </p:cBhvr>
                                    </p:animEffect>
                                    <p:anim calcmode="lin" valueType="num">
                                      <p:cBhvr additive="base">
                                        <p:cTn id="44" dur="500" decel="100000" fill="hold"/>
                                        <p:tgtEl>
                                          <p:spTgt spid="10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6" grpId="0" animBg="1"/>
      <p:bldP spid="108"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WHY?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Why Are Documents So Important in Waterfall?</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Every phase hands its output to the next one. The document IS the handoff.</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METHODOLOGIES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193</a:t>
            </a:r>
            <a:endParaRPr lang="en-US" sz="850" dirty="0"/>
          </a:p>
        </p:txBody>
      </p:sp>
      <p:sp>
        <p:nvSpPr>
          <p:cNvPr id="101" name="s101"/>
          <p:cNvSpPr/>
          <p:nvPr/>
        </p:nvSpPr>
        <p:spPr>
          <a:xfrm>
            <a:off x="543154" y="1828800"/>
            <a:ext cx="2463394" cy="1325880"/>
          </a:xfrm>
          <a:prstGeom prst="roundRect">
            <a:avLst>
              <a:gd name="adj" fmla="val 12000"/>
            </a:avLst>
          </a:prstGeom>
          <a:solidFill>
            <a:srgbClr val="13D0F7">
              <a:alpha val="14000"/>
            </a:srgbClr>
          </a:solidFill>
          <a:ln w="19050">
            <a:solidFill>
              <a:srgbClr val="13D0F7"/>
            </a:solidFill>
            <a:prstDash val="solid"/>
          </a:ln>
        </p:spPr>
        <p:txBody>
          <a:bodyPr wrap="square" lIns="137160" tIns="45720" rIns="109728" bIns="45720" rtlCol="0" anchor="ctr">
            <a:noAutofit/>
          </a:bodyPr>
          <a:lstStyle/>
          <a:p>
            <a:pPr marL="0" indent="0" algn="ctr">
              <a:spcBef>
                <a:spcPts val="0"/>
              </a:spcBef>
              <a:spcAft>
                <a:spcPts val="400"/>
              </a:spcAft>
              <a:buNone/>
            </a:pPr>
            <a:r>
              <a:rPr lang="en-US" sz="1300" b="1" dirty="0">
                <a:solidFill>
                  <a:srgbClr val="13D0F7"/>
                </a:solidFill>
                <a:latin typeface="Segoe UI"/>
                <a:ea typeface="Segoe UI"/>
                <a:cs typeface="Segoe UI"/>
              </a:rPr>
              <a:t>REQUIREMENTS TEAM</a:t>
            </a:r>
            <a:endParaRPr lang="en-US" sz="1300" dirty="0"/>
          </a:p>
          <a:p>
            <a:pPr marL="0" indent="0" algn="ctr">
              <a:spcBef>
                <a:spcPts val="0"/>
              </a:spcBef>
              <a:spcAft>
                <a:spcPts val="0"/>
              </a:spcAft>
              <a:buNone/>
            </a:pPr>
            <a:r>
              <a:rPr lang="en-US" sz="1200" b="0" dirty="0">
                <a:solidFill>
                  <a:srgbClr val="E2E8F0"/>
                </a:solidFill>
                <a:latin typeface="Segoe UI"/>
                <a:ea typeface="Segoe UI"/>
                <a:cs typeface="Segoe UI"/>
              </a:rPr>
              <a:t>delivers the SRS</a:t>
            </a:r>
            <a:endParaRPr lang="en-US" sz="1200" dirty="0"/>
          </a:p>
        </p:txBody>
      </p:sp>
      <p:sp>
        <p:nvSpPr>
          <p:cNvPr id="102" name="s102"/>
          <p:cNvSpPr/>
          <p:nvPr/>
        </p:nvSpPr>
        <p:spPr>
          <a:xfrm>
            <a:off x="997610" y="3291840"/>
            <a:ext cx="1554480" cy="457200"/>
          </a:xfrm>
          <a:prstGeom prst="roundRect">
            <a:avLst>
              <a:gd name="adj" fmla="val 8000"/>
            </a:avLst>
          </a:prstGeom>
          <a:solidFill>
            <a:srgbClr val="060D18"/>
          </a:solidFill>
          <a:ln w="127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 SRS</a:t>
            </a:r>
            <a:endParaRPr lang="en-US" sz="1200" dirty="0"/>
          </a:p>
        </p:txBody>
      </p:sp>
      <p:sp>
        <p:nvSpPr>
          <p:cNvPr id="103" name="s103"/>
          <p:cNvSpPr/>
          <p:nvPr/>
        </p:nvSpPr>
        <p:spPr>
          <a:xfrm>
            <a:off x="3418027" y="1828800"/>
            <a:ext cx="2463394" cy="1325880"/>
          </a:xfrm>
          <a:prstGeom prst="roundRect">
            <a:avLst>
              <a:gd name="adj" fmla="val 12000"/>
            </a:avLst>
          </a:prstGeom>
          <a:solidFill>
            <a:srgbClr val="A78BFA">
              <a:alpha val="14000"/>
            </a:srgbClr>
          </a:solidFill>
          <a:ln w="19050">
            <a:solidFill>
              <a:srgbClr val="A78BFA"/>
            </a:solidFill>
            <a:prstDash val="solid"/>
          </a:ln>
        </p:spPr>
        <p:txBody>
          <a:bodyPr wrap="square" lIns="137160" tIns="45720" rIns="109728" bIns="45720" rtlCol="0" anchor="ctr">
            <a:noAutofit/>
          </a:bodyPr>
          <a:lstStyle/>
          <a:p>
            <a:pPr marL="0" indent="0" algn="ctr">
              <a:spcBef>
                <a:spcPts val="0"/>
              </a:spcBef>
              <a:spcAft>
                <a:spcPts val="400"/>
              </a:spcAft>
              <a:buNone/>
            </a:pPr>
            <a:r>
              <a:rPr lang="en-US" sz="1300" b="1" dirty="0">
                <a:solidFill>
                  <a:srgbClr val="A78BFA"/>
                </a:solidFill>
                <a:latin typeface="Segoe UI"/>
                <a:ea typeface="Segoe UI"/>
                <a:cs typeface="Segoe UI"/>
              </a:rPr>
              <a:t>DESIGN TEAM</a:t>
            </a:r>
            <a:endParaRPr lang="en-US" sz="1300" dirty="0"/>
          </a:p>
          <a:p>
            <a:pPr marL="0" indent="0" algn="ctr">
              <a:spcBef>
                <a:spcPts val="0"/>
              </a:spcBef>
              <a:spcAft>
                <a:spcPts val="0"/>
              </a:spcAft>
              <a:buNone/>
            </a:pPr>
            <a:r>
              <a:rPr lang="en-US" sz="1200" b="0" dirty="0">
                <a:solidFill>
                  <a:srgbClr val="E2E8F0"/>
                </a:solidFill>
                <a:latin typeface="Segoe UI"/>
                <a:ea typeface="Segoe UI"/>
                <a:cs typeface="Segoe UI"/>
              </a:rPr>
              <a:t>designs from the SRS</a:t>
            </a:r>
            <a:endParaRPr lang="en-US" sz="1200" dirty="0"/>
          </a:p>
        </p:txBody>
      </p:sp>
      <p:sp>
        <p:nvSpPr>
          <p:cNvPr id="104" name="s104"/>
          <p:cNvSpPr/>
          <p:nvPr/>
        </p:nvSpPr>
        <p:spPr>
          <a:xfrm>
            <a:off x="3872484" y="3291840"/>
            <a:ext cx="1554480" cy="457200"/>
          </a:xfrm>
          <a:prstGeom prst="roundRect">
            <a:avLst>
              <a:gd name="adj" fmla="val 8000"/>
            </a:avLst>
          </a:prstGeom>
          <a:solidFill>
            <a:srgbClr val="060D18"/>
          </a:solidFill>
          <a:ln w="1270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 Design docs</a:t>
            </a:r>
            <a:endParaRPr lang="en-US" sz="1200" dirty="0"/>
          </a:p>
        </p:txBody>
      </p:sp>
      <p:cxnSp>
        <p:nvCxnSpPr>
          <p:cNvPr id="105" name="ln105"/>
          <p:cNvCxnSpPr/>
          <p:nvPr/>
        </p:nvCxnSpPr>
        <p:spPr>
          <a:xfrm>
            <a:off x="3061411" y="2487168"/>
            <a:ext cx="301752" cy="0"/>
          </a:xfrm>
          <a:prstGeom prst="line">
            <a:avLst/>
          </a:prstGeom>
          <a:ln w="25400">
            <a:solidFill>
              <a:srgbClr val="94A3B8"/>
            </a:solidFill>
            <a:tailEnd type="triangle" w="med" len="med"/>
          </a:ln>
        </p:spPr>
      </p:cxnSp>
      <p:sp>
        <p:nvSpPr>
          <p:cNvPr id="106" name="s106"/>
          <p:cNvSpPr/>
          <p:nvPr/>
        </p:nvSpPr>
        <p:spPr>
          <a:xfrm>
            <a:off x="6292901" y="1828800"/>
            <a:ext cx="2463394" cy="1325880"/>
          </a:xfrm>
          <a:prstGeom prst="roundRect">
            <a:avLst>
              <a:gd name="adj" fmla="val 12000"/>
            </a:avLst>
          </a:prstGeom>
          <a:solidFill>
            <a:srgbClr val="60A5FA">
              <a:alpha val="14000"/>
            </a:srgbClr>
          </a:solidFill>
          <a:ln w="19050">
            <a:solidFill>
              <a:srgbClr val="60A5FA"/>
            </a:solidFill>
            <a:prstDash val="solid"/>
          </a:ln>
        </p:spPr>
        <p:txBody>
          <a:bodyPr wrap="square" lIns="137160" tIns="45720" rIns="109728" bIns="45720" rtlCol="0" anchor="ctr">
            <a:noAutofit/>
          </a:bodyPr>
          <a:lstStyle/>
          <a:p>
            <a:pPr marL="0" indent="0" algn="ctr">
              <a:spcBef>
                <a:spcPts val="0"/>
              </a:spcBef>
              <a:spcAft>
                <a:spcPts val="400"/>
              </a:spcAft>
              <a:buNone/>
            </a:pPr>
            <a:r>
              <a:rPr lang="en-US" sz="1300" b="1" dirty="0">
                <a:solidFill>
                  <a:srgbClr val="60A5FA"/>
                </a:solidFill>
                <a:latin typeface="Segoe UI"/>
                <a:ea typeface="Segoe UI"/>
                <a:cs typeface="Segoe UI"/>
              </a:rPr>
              <a:t>DEVELOPMENT TEAM</a:t>
            </a:r>
            <a:endParaRPr lang="en-US" sz="1300" dirty="0"/>
          </a:p>
          <a:p>
            <a:pPr marL="0" indent="0" algn="ctr">
              <a:spcBef>
                <a:spcPts val="0"/>
              </a:spcBef>
              <a:spcAft>
                <a:spcPts val="0"/>
              </a:spcAft>
              <a:buNone/>
            </a:pPr>
            <a:r>
              <a:rPr lang="en-US" sz="1200" b="0" dirty="0">
                <a:solidFill>
                  <a:srgbClr val="E2E8F0"/>
                </a:solidFill>
                <a:latin typeface="Segoe UI"/>
                <a:ea typeface="Segoe UI"/>
                <a:cs typeface="Segoe UI"/>
              </a:rPr>
              <a:t>codes from design + requirements</a:t>
            </a:r>
            <a:endParaRPr lang="en-US" sz="1200" dirty="0"/>
          </a:p>
        </p:txBody>
      </p:sp>
      <p:sp>
        <p:nvSpPr>
          <p:cNvPr id="107" name="s107"/>
          <p:cNvSpPr/>
          <p:nvPr/>
        </p:nvSpPr>
        <p:spPr>
          <a:xfrm>
            <a:off x="6747358" y="3291840"/>
            <a:ext cx="1554480" cy="457200"/>
          </a:xfrm>
          <a:prstGeom prst="roundRect">
            <a:avLst>
              <a:gd name="adj" fmla="val 8000"/>
            </a:avLst>
          </a:prstGeom>
          <a:solidFill>
            <a:srgbClr val="060D18"/>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 Code</a:t>
            </a:r>
            <a:endParaRPr lang="en-US" sz="1200" dirty="0"/>
          </a:p>
        </p:txBody>
      </p:sp>
      <p:cxnSp>
        <p:nvCxnSpPr>
          <p:cNvPr id="108" name="ln108"/>
          <p:cNvCxnSpPr/>
          <p:nvPr/>
        </p:nvCxnSpPr>
        <p:spPr>
          <a:xfrm>
            <a:off x="5936285" y="2487168"/>
            <a:ext cx="301752" cy="0"/>
          </a:xfrm>
          <a:prstGeom prst="line">
            <a:avLst/>
          </a:prstGeom>
          <a:ln w="25400">
            <a:solidFill>
              <a:srgbClr val="94A3B8"/>
            </a:solidFill>
            <a:tailEnd type="triangle" w="med" len="med"/>
          </a:ln>
        </p:spPr>
      </p:cxnSp>
      <p:sp>
        <p:nvSpPr>
          <p:cNvPr id="109" name="s109"/>
          <p:cNvSpPr/>
          <p:nvPr/>
        </p:nvSpPr>
        <p:spPr>
          <a:xfrm>
            <a:off x="9167774" y="1828800"/>
            <a:ext cx="2463394" cy="1325880"/>
          </a:xfrm>
          <a:prstGeom prst="roundRect">
            <a:avLst>
              <a:gd name="adj" fmla="val 12000"/>
            </a:avLst>
          </a:prstGeom>
          <a:solidFill>
            <a:srgbClr val="FBBF24">
              <a:alpha val="14000"/>
            </a:srgbClr>
          </a:solidFill>
          <a:ln w="19050">
            <a:solidFill>
              <a:srgbClr val="FBBF24"/>
            </a:solidFill>
            <a:prstDash val="solid"/>
          </a:ln>
        </p:spPr>
        <p:txBody>
          <a:bodyPr wrap="square" lIns="137160" tIns="45720" rIns="109728" bIns="45720" rtlCol="0" anchor="ctr">
            <a:noAutofit/>
          </a:bodyPr>
          <a:lstStyle/>
          <a:p>
            <a:pPr marL="0" indent="0" algn="ctr">
              <a:spcBef>
                <a:spcPts val="0"/>
              </a:spcBef>
              <a:spcAft>
                <a:spcPts val="400"/>
              </a:spcAft>
              <a:buNone/>
            </a:pPr>
            <a:r>
              <a:rPr lang="en-US" sz="1300" b="1" dirty="0">
                <a:solidFill>
                  <a:srgbClr val="FBBF24"/>
                </a:solidFill>
                <a:latin typeface="Segoe UI"/>
                <a:ea typeface="Segoe UI"/>
                <a:cs typeface="Segoe UI"/>
              </a:rPr>
              <a:t>TESTING TEAM</a:t>
            </a:r>
            <a:endParaRPr lang="en-US" sz="1300" dirty="0"/>
          </a:p>
          <a:p>
            <a:pPr marL="0" indent="0" algn="ctr">
              <a:spcBef>
                <a:spcPts val="0"/>
              </a:spcBef>
              <a:spcAft>
                <a:spcPts val="0"/>
              </a:spcAft>
              <a:buNone/>
            </a:pPr>
            <a:r>
              <a:rPr lang="en-US" sz="1200" b="0" dirty="0">
                <a:solidFill>
                  <a:srgbClr val="E2E8F0"/>
                </a:solidFill>
                <a:latin typeface="Segoe UI"/>
                <a:ea typeface="Segoe UI"/>
                <a:cs typeface="Segoe UI"/>
              </a:rPr>
              <a:t>verifies against requirements + acceptance criteria</a:t>
            </a:r>
            <a:endParaRPr lang="en-US" sz="1200" dirty="0"/>
          </a:p>
        </p:txBody>
      </p:sp>
      <p:sp>
        <p:nvSpPr>
          <p:cNvPr id="110" name="s110"/>
          <p:cNvSpPr/>
          <p:nvPr/>
        </p:nvSpPr>
        <p:spPr>
          <a:xfrm>
            <a:off x="9622231" y="3291840"/>
            <a:ext cx="1554480" cy="457200"/>
          </a:xfrm>
          <a:prstGeom prst="roundRect">
            <a:avLst>
              <a:gd name="adj" fmla="val 8000"/>
            </a:avLst>
          </a:prstGeom>
          <a:solidFill>
            <a:srgbClr val="060D18"/>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 Test results</a:t>
            </a:r>
            <a:endParaRPr lang="en-US" sz="1200" dirty="0"/>
          </a:p>
        </p:txBody>
      </p:sp>
      <p:cxnSp>
        <p:nvCxnSpPr>
          <p:cNvPr id="111" name="ln111"/>
          <p:cNvCxnSpPr/>
          <p:nvPr/>
        </p:nvCxnSpPr>
        <p:spPr>
          <a:xfrm>
            <a:off x="8811158" y="2487168"/>
            <a:ext cx="301752" cy="0"/>
          </a:xfrm>
          <a:prstGeom prst="line">
            <a:avLst/>
          </a:prstGeom>
          <a:ln w="25400">
            <a:solidFill>
              <a:srgbClr val="94A3B8"/>
            </a:solidFill>
            <a:tailEnd type="triangle" w="med" len="med"/>
          </a:ln>
        </p:spPr>
      </p:cxnSp>
      <p:sp>
        <p:nvSpPr>
          <p:cNvPr id="112" name="s112"/>
          <p:cNvSpPr/>
          <p:nvPr/>
        </p:nvSpPr>
        <p:spPr>
          <a:xfrm>
            <a:off x="543154" y="4023360"/>
            <a:ext cx="5406847" cy="1234440"/>
          </a:xfrm>
          <a:prstGeom prst="roundRect">
            <a:avLst>
              <a:gd name="adj" fmla="val 10000"/>
            </a:avLst>
          </a:prstGeom>
          <a:solidFill>
            <a:srgbClr val="F87171">
              <a:alpha val="10000"/>
            </a:srgbClr>
          </a:solidFill>
          <a:ln w="12700">
            <a:solidFill>
              <a:srgbClr val="F87171"/>
            </a:solidFill>
            <a:prstDash val="solid"/>
          </a:ln>
        </p:spPr>
        <p:txBody>
          <a:bodyPr wrap="square" lIns="201168" tIns="54864" rIns="137160" bIns="54864" rtlCol="0" anchor="ctr">
            <a:noAutofit/>
          </a:bodyPr>
          <a:lstStyle/>
          <a:p>
            <a:pPr marL="0" indent="0" algn="l">
              <a:spcBef>
                <a:spcPts val="0"/>
              </a:spcBef>
              <a:spcAft>
                <a:spcPts val="400"/>
              </a:spcAft>
              <a:buNone/>
            </a:pPr>
            <a:r>
              <a:rPr lang="en-US" sz="1150" b="1" dirty="0">
                <a:solidFill>
                  <a:srgbClr val="F87171"/>
                </a:solidFill>
                <a:latin typeface="Segoe UI"/>
                <a:ea typeface="Segoe UI"/>
                <a:cs typeface="Segoe UI"/>
              </a:rPr>
              <a:t>THE RISK</a:t>
            </a:r>
            <a:endParaRPr lang="en-US" sz="1150" dirty="0"/>
          </a:p>
          <a:p>
            <a:pPr marL="0" indent="0" algn="l">
              <a:spcBef>
                <a:spcPts val="0"/>
              </a:spcBef>
              <a:spcAft>
                <a:spcPts val="0"/>
              </a:spcAft>
              <a:buNone/>
            </a:pPr>
            <a:r>
              <a:rPr lang="en-US" sz="1350" b="0" dirty="0">
                <a:solidFill>
                  <a:srgbClr val="FFFFFF"/>
                </a:solidFill>
                <a:latin typeface="Segoe UI"/>
                <a:ea typeface="Segoe UI"/>
                <a:cs typeface="Segoe UI"/>
              </a:rPr>
              <a:t>a vague or wrong SRS → every phase after it builds on the mistake</a:t>
            </a:r>
            <a:endParaRPr lang="en-US" sz="1350" dirty="0"/>
          </a:p>
        </p:txBody>
      </p:sp>
      <p:sp>
        <p:nvSpPr>
          <p:cNvPr id="113" name="s113"/>
          <p:cNvSpPr/>
          <p:nvPr/>
        </p:nvSpPr>
        <p:spPr>
          <a:xfrm>
            <a:off x="6224321" y="4023360"/>
            <a:ext cx="5406847" cy="1234440"/>
          </a:xfrm>
          <a:prstGeom prst="roundRect">
            <a:avLst>
              <a:gd name="adj" fmla="val 10000"/>
            </a:avLst>
          </a:prstGeom>
          <a:solidFill>
            <a:srgbClr val="34D399">
              <a:alpha val="10000"/>
            </a:srgbClr>
          </a:solidFill>
          <a:ln w="12700">
            <a:solidFill>
              <a:srgbClr val="34D399"/>
            </a:solidFill>
            <a:prstDash val="solid"/>
          </a:ln>
        </p:spPr>
        <p:txBody>
          <a:bodyPr wrap="square" lIns="201168" tIns="54864" rIns="137160" bIns="54864" rtlCol="0" anchor="ctr">
            <a:noAutofit/>
          </a:bodyPr>
          <a:lstStyle/>
          <a:p>
            <a:pPr marL="0" indent="0" algn="l">
              <a:spcBef>
                <a:spcPts val="0"/>
              </a:spcBef>
              <a:spcAft>
                <a:spcPts val="400"/>
              </a:spcAft>
              <a:buNone/>
            </a:pPr>
            <a:r>
              <a:rPr lang="en-US" sz="1150" b="1" dirty="0">
                <a:solidFill>
                  <a:srgbClr val="34D399"/>
                </a:solidFill>
                <a:latin typeface="Segoe UI"/>
                <a:ea typeface="Segoe UI"/>
                <a:cs typeface="Segoe UI"/>
              </a:rPr>
              <a:t>AGILE, BY CONTRAST</a:t>
            </a:r>
            <a:endParaRPr lang="en-US" sz="1150" dirty="0"/>
          </a:p>
          <a:p>
            <a:pPr marL="0" indent="0" algn="l">
              <a:spcBef>
                <a:spcPts val="0"/>
              </a:spcBef>
              <a:spcAft>
                <a:spcPts val="0"/>
              </a:spcAft>
              <a:buNone/>
            </a:pPr>
            <a:r>
              <a:rPr lang="en-US" sz="1350" b="0" dirty="0">
                <a:solidFill>
                  <a:srgbClr val="FFFFFF"/>
                </a:solidFill>
                <a:latin typeface="Segoe UI"/>
                <a:ea typeface="Segoe UI"/>
                <a:cs typeface="Segoe UI"/>
              </a:rPr>
              <a:t>working software + conversation are the main handoff; documents are lighter</a:t>
            </a:r>
            <a:endParaRPr lang="en-US" sz="1350" dirty="0"/>
          </a:p>
        </p:txBody>
      </p:sp>
      <p:sp>
        <p:nvSpPr>
          <p:cNvPr id="114" name="s114"/>
          <p:cNvSpPr/>
          <p:nvPr/>
        </p:nvSpPr>
        <p:spPr>
          <a:xfrm>
            <a:off x="543154" y="5440680"/>
            <a:ext cx="11088014" cy="548640"/>
          </a:xfrm>
          <a:prstGeom prst="roundRect">
            <a:avLst>
              <a:gd name="adj" fmla="val 12000"/>
            </a:avLst>
          </a:prstGeom>
          <a:solidFill>
            <a:srgbClr val="111B2E"/>
          </a:solidFill>
          <a:ln w="12700">
            <a:solidFill>
              <a:srgbClr val="13D0F7"/>
            </a:solidFill>
            <a:prstDash val="solid"/>
          </a:ln>
        </p:spPr>
        <p:txBody>
          <a:bodyPr wrap="square" lIns="228600" tIns="45720" rIns="228600" bIns="45720" rtlCol="0" anchor="ctr">
            <a:noAutofit/>
          </a:bodyPr>
          <a:lstStyle/>
          <a:p>
            <a:pPr marL="0" indent="0" algn="ctr">
              <a:spcBef>
                <a:spcPts val="0"/>
              </a:spcBef>
              <a:spcAft>
                <a:spcPts val="0"/>
              </a:spcAft>
              <a:buNone/>
            </a:pPr>
            <a:r>
              <a:rPr lang="en-US" sz="1400" b="1" dirty="0">
                <a:solidFill>
                  <a:srgbClr val="13D0F7"/>
                </a:solidFill>
                <a:latin typeface="Segoe UI"/>
                <a:ea typeface="Segoe UI"/>
                <a:cs typeface="Segoe UI"/>
              </a:rPr>
              <a:t>KEY</a:t>
            </a:r>
            <a:r>
              <a:rPr lang="en-US" sz="1400" b="0" dirty="0">
                <a:solidFill>
                  <a:srgbClr val="E2E8F0"/>
                </a:solidFill>
                <a:latin typeface="Segoe UI"/>
                <a:ea typeface="Segoe UI"/>
                <a:cs typeface="Segoe UI"/>
              </a:rPr>
              <a:t>   In Waterfall, the document is the contract between phases.</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11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nodeType="clickEffect">
                                  <p:stCondLst>
                                    <p:cond delay="0"/>
                                  </p:stCondLst>
                                  <p:childTnLst>
                                    <p:set>
                                      <p:cBhvr>
                                        <p:cTn id="16" dur="1" fill="hold">
                                          <p:stCondLst>
                                            <p:cond delay="0"/>
                                          </p:stCondLst>
                                        </p:cTn>
                                        <p:tgtEl>
                                          <p:spTgt spid="105"/>
                                        </p:tgtEl>
                                        <p:attrNameLst>
                                          <p:attrName>style.visibility</p:attrName>
                                        </p:attrNameLst>
                                      </p:cBhvr>
                                      <p:to>
                                        <p:strVal val="visible"/>
                                      </p:to>
                                    </p:set>
                                    <p:animEffect transition="in" filter="fade">
                                      <p:cBhvr>
                                        <p:cTn id="17" dur="500"/>
                                        <p:tgtEl>
                                          <p:spTgt spid="105"/>
                                        </p:tgtEl>
                                      </p:cBhvr>
                                    </p:animEffect>
                                    <p:anim calcmode="lin" valueType="num">
                                      <p:cBhvr additive="base">
                                        <p:cTn id="18" dur="500" decel="100000" fill="hold"/>
                                        <p:tgtEl>
                                          <p:spTgt spid="105"/>
                                        </p:tgtEl>
                                        <p:attrNameLst>
                                          <p:attrName>ppt_y</p:attrName>
                                        </p:attrNameLst>
                                      </p:cBhvr>
                                      <p:tavLst>
                                        <p:tav tm="0">
                                          <p:val>
                                            <p:strVal val="#ppt_y+0.06"/>
                                          </p:val>
                                        </p:tav>
                                        <p:tav tm="100000">
                                          <p:val>
                                            <p:strVal val="#ppt_y"/>
                                          </p:val>
                                        </p:tav>
                                      </p:tavLst>
                                    </p:anim>
                                  </p:childTnLst>
                                </p:cTn>
                              </p:par>
                              <p:par>
                                <p:cTn id="19" presetID="42" presetClass="entr" presetSubtype="0" fill="hold" grpId="0" nodeType="withEffect">
                                  <p:stCondLst>
                                    <p:cond delay="110"/>
                                  </p:stCondLst>
                                  <p:childTnLst>
                                    <p:set>
                                      <p:cBhvr>
                                        <p:cTn id="20" dur="1" fill="hold">
                                          <p:stCondLst>
                                            <p:cond delay="0"/>
                                          </p:stCondLst>
                                        </p:cTn>
                                        <p:tgtEl>
                                          <p:spTgt spid="103"/>
                                        </p:tgtEl>
                                        <p:attrNameLst>
                                          <p:attrName>style.visibility</p:attrName>
                                        </p:attrNameLst>
                                      </p:cBhvr>
                                      <p:to>
                                        <p:strVal val="visible"/>
                                      </p:to>
                                    </p:set>
                                    <p:animEffect transition="in" filter="fade">
                                      <p:cBhvr>
                                        <p:cTn id="21" dur="500"/>
                                        <p:tgtEl>
                                          <p:spTgt spid="103"/>
                                        </p:tgtEl>
                                      </p:cBhvr>
                                    </p:animEffect>
                                    <p:anim calcmode="lin" valueType="num">
                                      <p:cBhvr additive="base">
                                        <p:cTn id="22" dur="500" decel="100000" fill="hold"/>
                                        <p:tgtEl>
                                          <p:spTgt spid="103"/>
                                        </p:tgtEl>
                                        <p:attrNameLst>
                                          <p:attrName>ppt_y</p:attrName>
                                        </p:attrNameLst>
                                      </p:cBhvr>
                                      <p:tavLst>
                                        <p:tav tm="0">
                                          <p:val>
                                            <p:strVal val="#ppt_y+0.06"/>
                                          </p:val>
                                        </p:tav>
                                        <p:tav tm="100000">
                                          <p:val>
                                            <p:strVal val="#ppt_y"/>
                                          </p:val>
                                        </p:tav>
                                      </p:tavLst>
                                    </p:anim>
                                  </p:childTnLst>
                                </p:cTn>
                              </p:par>
                              <p:par>
                                <p:cTn id="23" presetID="42" presetClass="entr" presetSubtype="0" fill="hold" grpId="0" nodeType="withEffect">
                                  <p:stCondLst>
                                    <p:cond delay="220"/>
                                  </p:stCondLst>
                                  <p:childTnLst>
                                    <p:set>
                                      <p:cBhvr>
                                        <p:cTn id="24" dur="1" fill="hold">
                                          <p:stCondLst>
                                            <p:cond delay="0"/>
                                          </p:stCondLst>
                                        </p:cTn>
                                        <p:tgtEl>
                                          <p:spTgt spid="104"/>
                                        </p:tgtEl>
                                        <p:attrNameLst>
                                          <p:attrName>style.visibility</p:attrName>
                                        </p:attrNameLst>
                                      </p:cBhvr>
                                      <p:to>
                                        <p:strVal val="visible"/>
                                      </p:to>
                                    </p:set>
                                    <p:animEffect transition="in" filter="fade">
                                      <p:cBhvr>
                                        <p:cTn id="25" dur="500"/>
                                        <p:tgtEl>
                                          <p:spTgt spid="104"/>
                                        </p:tgtEl>
                                      </p:cBhvr>
                                    </p:animEffect>
                                    <p:anim calcmode="lin" valueType="num">
                                      <p:cBhvr additive="base">
                                        <p:cTn id="26" dur="500" decel="100000" fill="hold"/>
                                        <p:tgtEl>
                                          <p:spTgt spid="104"/>
                                        </p:tgtEl>
                                        <p:attrNameLst>
                                          <p:attrName>ppt_y</p:attrName>
                                        </p:attrNameLst>
                                      </p:cBhvr>
                                      <p:tavLst>
                                        <p:tav tm="0">
                                          <p:val>
                                            <p:strVal val="#ppt_y+0.06"/>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nodeType="clickEffect">
                                  <p:stCondLst>
                                    <p:cond delay="0"/>
                                  </p:stCondLst>
                                  <p:childTnLst>
                                    <p:set>
                                      <p:cBhvr>
                                        <p:cTn id="30" dur="1" fill="hold">
                                          <p:stCondLst>
                                            <p:cond delay="0"/>
                                          </p:stCondLst>
                                        </p:cTn>
                                        <p:tgtEl>
                                          <p:spTgt spid="108"/>
                                        </p:tgtEl>
                                        <p:attrNameLst>
                                          <p:attrName>style.visibility</p:attrName>
                                        </p:attrNameLst>
                                      </p:cBhvr>
                                      <p:to>
                                        <p:strVal val="visible"/>
                                      </p:to>
                                    </p:set>
                                    <p:animEffect transition="in" filter="fade">
                                      <p:cBhvr>
                                        <p:cTn id="31" dur="500"/>
                                        <p:tgtEl>
                                          <p:spTgt spid="108"/>
                                        </p:tgtEl>
                                      </p:cBhvr>
                                    </p:animEffect>
                                    <p:anim calcmode="lin" valueType="num">
                                      <p:cBhvr additive="base">
                                        <p:cTn id="32" dur="500" decel="100000" fill="hold"/>
                                        <p:tgtEl>
                                          <p:spTgt spid="108"/>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110"/>
                                  </p:stCondLst>
                                  <p:childTnLst>
                                    <p:set>
                                      <p:cBhvr>
                                        <p:cTn id="34" dur="1" fill="hold">
                                          <p:stCondLst>
                                            <p:cond delay="0"/>
                                          </p:stCondLst>
                                        </p:cTn>
                                        <p:tgtEl>
                                          <p:spTgt spid="106"/>
                                        </p:tgtEl>
                                        <p:attrNameLst>
                                          <p:attrName>style.visibility</p:attrName>
                                        </p:attrNameLst>
                                      </p:cBhvr>
                                      <p:to>
                                        <p:strVal val="visible"/>
                                      </p:to>
                                    </p:set>
                                    <p:animEffect transition="in" filter="fade">
                                      <p:cBhvr>
                                        <p:cTn id="35" dur="500"/>
                                        <p:tgtEl>
                                          <p:spTgt spid="106"/>
                                        </p:tgtEl>
                                      </p:cBhvr>
                                    </p:animEffect>
                                    <p:anim calcmode="lin" valueType="num">
                                      <p:cBhvr additive="base">
                                        <p:cTn id="36" dur="500" decel="100000" fill="hold"/>
                                        <p:tgtEl>
                                          <p:spTgt spid="106"/>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220"/>
                                  </p:stCondLst>
                                  <p:childTnLst>
                                    <p:set>
                                      <p:cBhvr>
                                        <p:cTn id="38" dur="1" fill="hold">
                                          <p:stCondLst>
                                            <p:cond delay="0"/>
                                          </p:stCondLst>
                                        </p:cTn>
                                        <p:tgtEl>
                                          <p:spTgt spid="107"/>
                                        </p:tgtEl>
                                        <p:attrNameLst>
                                          <p:attrName>style.visibility</p:attrName>
                                        </p:attrNameLst>
                                      </p:cBhvr>
                                      <p:to>
                                        <p:strVal val="visible"/>
                                      </p:to>
                                    </p:set>
                                    <p:animEffect transition="in" filter="fade">
                                      <p:cBhvr>
                                        <p:cTn id="39" dur="500"/>
                                        <p:tgtEl>
                                          <p:spTgt spid="107"/>
                                        </p:tgtEl>
                                      </p:cBhvr>
                                    </p:animEffect>
                                    <p:anim calcmode="lin" valueType="num">
                                      <p:cBhvr additive="base">
                                        <p:cTn id="40" dur="500" decel="100000" fill="hold"/>
                                        <p:tgtEl>
                                          <p:spTgt spid="107"/>
                                        </p:tgtEl>
                                        <p:attrNameLst>
                                          <p:attrName>ppt_y</p:attrName>
                                        </p:attrNameLst>
                                      </p:cBhvr>
                                      <p:tavLst>
                                        <p:tav tm="0">
                                          <p:val>
                                            <p:strVal val="#ppt_y+0.06"/>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nodeType="clickEffect">
                                  <p:stCondLst>
                                    <p:cond delay="0"/>
                                  </p:stCondLst>
                                  <p:childTnLst>
                                    <p:set>
                                      <p:cBhvr>
                                        <p:cTn id="44" dur="1" fill="hold">
                                          <p:stCondLst>
                                            <p:cond delay="0"/>
                                          </p:stCondLst>
                                        </p:cTn>
                                        <p:tgtEl>
                                          <p:spTgt spid="111"/>
                                        </p:tgtEl>
                                        <p:attrNameLst>
                                          <p:attrName>style.visibility</p:attrName>
                                        </p:attrNameLst>
                                      </p:cBhvr>
                                      <p:to>
                                        <p:strVal val="visible"/>
                                      </p:to>
                                    </p:set>
                                    <p:animEffect transition="in" filter="fade">
                                      <p:cBhvr>
                                        <p:cTn id="45" dur="500"/>
                                        <p:tgtEl>
                                          <p:spTgt spid="111"/>
                                        </p:tgtEl>
                                      </p:cBhvr>
                                    </p:animEffect>
                                    <p:anim calcmode="lin" valueType="num">
                                      <p:cBhvr additive="base">
                                        <p:cTn id="46" dur="500" decel="100000" fill="hold"/>
                                        <p:tgtEl>
                                          <p:spTgt spid="111"/>
                                        </p:tgtEl>
                                        <p:attrNameLst>
                                          <p:attrName>ppt_y</p:attrName>
                                        </p:attrNameLst>
                                      </p:cBhvr>
                                      <p:tavLst>
                                        <p:tav tm="0">
                                          <p:val>
                                            <p:strVal val="#ppt_y+0.06"/>
                                          </p:val>
                                        </p:tav>
                                        <p:tav tm="100000">
                                          <p:val>
                                            <p:strVal val="#ppt_y"/>
                                          </p:val>
                                        </p:tav>
                                      </p:tavLst>
                                    </p:anim>
                                  </p:childTnLst>
                                </p:cTn>
                              </p:par>
                              <p:par>
                                <p:cTn id="47" presetID="42" presetClass="entr" presetSubtype="0" fill="hold" grpId="0" nodeType="withEffect">
                                  <p:stCondLst>
                                    <p:cond delay="110"/>
                                  </p:stCondLst>
                                  <p:childTnLst>
                                    <p:set>
                                      <p:cBhvr>
                                        <p:cTn id="48" dur="1" fill="hold">
                                          <p:stCondLst>
                                            <p:cond delay="0"/>
                                          </p:stCondLst>
                                        </p:cTn>
                                        <p:tgtEl>
                                          <p:spTgt spid="109"/>
                                        </p:tgtEl>
                                        <p:attrNameLst>
                                          <p:attrName>style.visibility</p:attrName>
                                        </p:attrNameLst>
                                      </p:cBhvr>
                                      <p:to>
                                        <p:strVal val="visible"/>
                                      </p:to>
                                    </p:set>
                                    <p:animEffect transition="in" filter="fade">
                                      <p:cBhvr>
                                        <p:cTn id="49" dur="500"/>
                                        <p:tgtEl>
                                          <p:spTgt spid="109"/>
                                        </p:tgtEl>
                                      </p:cBhvr>
                                    </p:animEffect>
                                    <p:anim calcmode="lin" valueType="num">
                                      <p:cBhvr additive="base">
                                        <p:cTn id="50" dur="500" decel="100000" fill="hold"/>
                                        <p:tgtEl>
                                          <p:spTgt spid="109"/>
                                        </p:tgtEl>
                                        <p:attrNameLst>
                                          <p:attrName>ppt_y</p:attrName>
                                        </p:attrNameLst>
                                      </p:cBhvr>
                                      <p:tavLst>
                                        <p:tav tm="0">
                                          <p:val>
                                            <p:strVal val="#ppt_y+0.06"/>
                                          </p:val>
                                        </p:tav>
                                        <p:tav tm="100000">
                                          <p:val>
                                            <p:strVal val="#ppt_y"/>
                                          </p:val>
                                        </p:tav>
                                      </p:tavLst>
                                    </p:anim>
                                  </p:childTnLst>
                                </p:cTn>
                              </p:par>
                              <p:par>
                                <p:cTn id="51" presetID="42" presetClass="entr" presetSubtype="0" fill="hold" grpId="0" nodeType="withEffect">
                                  <p:stCondLst>
                                    <p:cond delay="220"/>
                                  </p:stCondLst>
                                  <p:childTnLst>
                                    <p:set>
                                      <p:cBhvr>
                                        <p:cTn id="52" dur="1" fill="hold">
                                          <p:stCondLst>
                                            <p:cond delay="0"/>
                                          </p:stCondLst>
                                        </p:cTn>
                                        <p:tgtEl>
                                          <p:spTgt spid="110"/>
                                        </p:tgtEl>
                                        <p:attrNameLst>
                                          <p:attrName>style.visibility</p:attrName>
                                        </p:attrNameLst>
                                      </p:cBhvr>
                                      <p:to>
                                        <p:strVal val="visible"/>
                                      </p:to>
                                    </p:set>
                                    <p:animEffect transition="in" filter="fade">
                                      <p:cBhvr>
                                        <p:cTn id="53" dur="500"/>
                                        <p:tgtEl>
                                          <p:spTgt spid="110"/>
                                        </p:tgtEl>
                                      </p:cBhvr>
                                    </p:animEffect>
                                    <p:anim calcmode="lin" valueType="num">
                                      <p:cBhvr additive="base">
                                        <p:cTn id="54"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42" presetClass="entr" presetSubtype="0" fill="hold" grpId="0" nodeType="clickEffect">
                                  <p:stCondLst>
                                    <p:cond delay="0"/>
                                  </p:stCondLst>
                                  <p:childTnLst>
                                    <p:set>
                                      <p:cBhvr>
                                        <p:cTn id="58" dur="1" fill="hold">
                                          <p:stCondLst>
                                            <p:cond delay="0"/>
                                          </p:stCondLst>
                                        </p:cTn>
                                        <p:tgtEl>
                                          <p:spTgt spid="112"/>
                                        </p:tgtEl>
                                        <p:attrNameLst>
                                          <p:attrName>style.visibility</p:attrName>
                                        </p:attrNameLst>
                                      </p:cBhvr>
                                      <p:to>
                                        <p:strVal val="visible"/>
                                      </p:to>
                                    </p:set>
                                    <p:animEffect transition="in" filter="fade">
                                      <p:cBhvr>
                                        <p:cTn id="59" dur="500"/>
                                        <p:tgtEl>
                                          <p:spTgt spid="112"/>
                                        </p:tgtEl>
                                      </p:cBhvr>
                                    </p:animEffect>
                                    <p:anim calcmode="lin" valueType="num">
                                      <p:cBhvr additive="base">
                                        <p:cTn id="60" dur="500" decel="100000" fill="hold"/>
                                        <p:tgtEl>
                                          <p:spTgt spid="112"/>
                                        </p:tgtEl>
                                        <p:attrNameLst>
                                          <p:attrName>ppt_y</p:attrName>
                                        </p:attrNameLst>
                                      </p:cBhvr>
                                      <p:tavLst>
                                        <p:tav tm="0">
                                          <p:val>
                                            <p:strVal val="#ppt_y+0.06"/>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42" presetClass="entr" presetSubtype="0" fill="hold" grpId="0" nodeType="clickEffect">
                                  <p:stCondLst>
                                    <p:cond delay="0"/>
                                  </p:stCondLst>
                                  <p:childTnLst>
                                    <p:set>
                                      <p:cBhvr>
                                        <p:cTn id="64" dur="1" fill="hold">
                                          <p:stCondLst>
                                            <p:cond delay="0"/>
                                          </p:stCondLst>
                                        </p:cTn>
                                        <p:tgtEl>
                                          <p:spTgt spid="113"/>
                                        </p:tgtEl>
                                        <p:attrNameLst>
                                          <p:attrName>style.visibility</p:attrName>
                                        </p:attrNameLst>
                                      </p:cBhvr>
                                      <p:to>
                                        <p:strVal val="visible"/>
                                      </p:to>
                                    </p:set>
                                    <p:animEffect transition="in" filter="fade">
                                      <p:cBhvr>
                                        <p:cTn id="65" dur="500"/>
                                        <p:tgtEl>
                                          <p:spTgt spid="113"/>
                                        </p:tgtEl>
                                      </p:cBhvr>
                                    </p:animEffect>
                                    <p:anim calcmode="lin" valueType="num">
                                      <p:cBhvr additive="base">
                                        <p:cTn id="66" dur="500" decel="100000" fill="hold"/>
                                        <p:tgtEl>
                                          <p:spTgt spid="113"/>
                                        </p:tgtEl>
                                        <p:attrNameLst>
                                          <p:attrName>ppt_y</p:attrName>
                                        </p:attrNameLst>
                                      </p:cBhvr>
                                      <p:tavLst>
                                        <p:tav tm="0">
                                          <p:val>
                                            <p:strVal val="#ppt_y+0.06"/>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42" presetClass="entr" presetSubtype="0" fill="hold" grpId="0" nodeType="clickEffect">
                                  <p:stCondLst>
                                    <p:cond delay="0"/>
                                  </p:stCondLst>
                                  <p:childTnLst>
                                    <p:set>
                                      <p:cBhvr>
                                        <p:cTn id="70" dur="1" fill="hold">
                                          <p:stCondLst>
                                            <p:cond delay="0"/>
                                          </p:stCondLst>
                                        </p:cTn>
                                        <p:tgtEl>
                                          <p:spTgt spid="114"/>
                                        </p:tgtEl>
                                        <p:attrNameLst>
                                          <p:attrName>style.visibility</p:attrName>
                                        </p:attrNameLst>
                                      </p:cBhvr>
                                      <p:to>
                                        <p:strVal val="visible"/>
                                      </p:to>
                                    </p:set>
                                    <p:animEffect transition="in" filter="fade">
                                      <p:cBhvr>
                                        <p:cTn id="71" dur="500"/>
                                        <p:tgtEl>
                                          <p:spTgt spid="114"/>
                                        </p:tgtEl>
                                      </p:cBhvr>
                                    </p:animEffect>
                                    <p:anim calcmode="lin" valueType="num">
                                      <p:cBhvr additive="base">
                                        <p:cTn id="72"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6" grpId="0" animBg="1"/>
      <p:bldP spid="107" grpId="0" animBg="1"/>
      <p:bldP spid="109" grpId="0" animBg="1"/>
      <p:bldP spid="110" grpId="0" animBg="1"/>
      <p:bldP spid="112" grpId="0" animBg="1"/>
      <p:bldP spid="113" grpId="0" animBg="1"/>
      <p:bldP spid="114"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309421" cy="285750"/>
          </a:xfrm>
          <a:prstGeom prst="roundRect">
            <a:avLst>
              <a:gd name="adj" fmla="val 23333"/>
            </a:avLst>
          </a:prstGeom>
          <a:solidFill>
            <a:srgbClr val="F0A98B">
              <a:alpha val="18000"/>
            </a:srgbClr>
          </a:solidFill>
          <a:ln w="12700">
            <a:solidFill>
              <a:srgbClr val="F0A98B"/>
            </a:solidFill>
          </a:ln>
        </p:spPr>
        <p:txBody>
          <a:bodyPr wrap="square" lIns="0" tIns="0" rIns="0" bIns="0" rtlCol="0" anchor="ctr">
            <a:noAutofit/>
          </a:bodyPr>
          <a:lstStyle/>
          <a:p>
            <a:pPr marL="0" indent="0" algn="ctr">
              <a:spcBef>
                <a:spcPts val="0"/>
              </a:spcBef>
              <a:spcAft>
                <a:spcPts val="0"/>
              </a:spcAft>
              <a:buNone/>
            </a:pPr>
            <a:r>
              <a:rPr lang="en-US" sz="1000" b="1" dirty="0">
                <a:solidFill>
                  <a:srgbClr val="F0A98B"/>
                </a:solidFill>
                <a:latin typeface="Segoe UI"/>
                <a:ea typeface="Segoe UI"/>
                <a:cs typeface="Segoe UI"/>
              </a:rPr>
              <a:t>CHANGE REQUEST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Waterfall: The Client Changes Their Mind</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E-commerce: Registration · Products · Cart · Orders · Online Payment.  Development is 70% done.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METHODOLOGIES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173</a:t>
            </a:r>
            <a:endParaRPr lang="en-US" sz="850" dirty="0"/>
          </a:p>
        </p:txBody>
      </p:sp>
      <p:sp>
        <p:nvSpPr>
          <p:cNvPr id="101" name="s101"/>
          <p:cNvSpPr txBox="1"/>
          <p:nvPr/>
        </p:nvSpPr>
        <p:spPr>
          <a:xfrm>
            <a:off x="543154" y="1828800"/>
            <a:ext cx="1554480" cy="2743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Requirements</a:t>
            </a:r>
            <a:endParaRPr lang="en-US" sz="1200" dirty="0"/>
          </a:p>
        </p:txBody>
      </p:sp>
      <p:sp>
        <p:nvSpPr>
          <p:cNvPr id="102" name="s102"/>
          <p:cNvSpPr/>
          <p:nvPr/>
        </p:nvSpPr>
        <p:spPr>
          <a:xfrm>
            <a:off x="2143354" y="1856232"/>
            <a:ext cx="3794760" cy="219456"/>
          </a:xfrm>
          <a:prstGeom prst="roundRect">
            <a:avLst>
              <a:gd name="adj" fmla="val 50000"/>
            </a:avLst>
          </a:prstGeom>
          <a:solidFill>
            <a:srgbClr val="0A1220"/>
          </a:solidFill>
          <a:ln>
            <a:noFill/>
          </a:ln>
        </p:spPr>
        <p:txBody>
          <a:bodyPr wrap="square" lIns="164592" tIns="109728" rIns="137160" bIns="91440" rtlCol="0" anchor="t">
            <a:noAutofit/>
          </a:bodyPr>
          <a:lstStyle/>
          <a:p>
            <a:endParaRPr lang="en-US"/>
          </a:p>
        </p:txBody>
      </p:sp>
      <p:sp>
        <p:nvSpPr>
          <p:cNvPr id="103" name="s103"/>
          <p:cNvSpPr/>
          <p:nvPr/>
        </p:nvSpPr>
        <p:spPr>
          <a:xfrm>
            <a:off x="2143354" y="1856232"/>
            <a:ext cx="3794760" cy="219456"/>
          </a:xfrm>
          <a:prstGeom prst="roundRect">
            <a:avLst>
              <a:gd name="adj" fmla="val 50000"/>
            </a:avLst>
          </a:prstGeom>
          <a:solidFill>
            <a:srgbClr val="34D399">
              <a:alpha val="55000"/>
            </a:srgbClr>
          </a:solidFill>
          <a:ln>
            <a:noFill/>
          </a:ln>
        </p:spPr>
        <p:txBody>
          <a:bodyPr wrap="square" lIns="91440" tIns="0" rIns="45720" bIns="0" rtlCol="0" anchor="ctr">
            <a:noAutofit/>
          </a:bodyPr>
          <a:lstStyle/>
          <a:p>
            <a:pPr marL="0" indent="0" algn="l">
              <a:spcBef>
                <a:spcPts val="0"/>
              </a:spcBef>
              <a:spcAft>
                <a:spcPts val="0"/>
              </a:spcAft>
              <a:buNone/>
            </a:pPr>
            <a:r>
              <a:rPr lang="en-US" sz="950" b="1" dirty="0">
                <a:solidFill>
                  <a:srgbClr val="FFFFFF"/>
                </a:solidFill>
                <a:latin typeface="Segoe UI"/>
                <a:ea typeface="Segoe UI"/>
                <a:cs typeface="Segoe UI"/>
              </a:rPr>
              <a:t>completed &amp; approved</a:t>
            </a:r>
            <a:endParaRPr lang="en-US" sz="950" dirty="0"/>
          </a:p>
        </p:txBody>
      </p:sp>
      <p:sp>
        <p:nvSpPr>
          <p:cNvPr id="104" name="s104"/>
          <p:cNvSpPr txBox="1"/>
          <p:nvPr/>
        </p:nvSpPr>
        <p:spPr>
          <a:xfrm>
            <a:off x="543154" y="2157984"/>
            <a:ext cx="1554480" cy="2743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Design</a:t>
            </a:r>
            <a:endParaRPr lang="en-US" sz="1200" dirty="0"/>
          </a:p>
        </p:txBody>
      </p:sp>
      <p:sp>
        <p:nvSpPr>
          <p:cNvPr id="105" name="s105"/>
          <p:cNvSpPr/>
          <p:nvPr/>
        </p:nvSpPr>
        <p:spPr>
          <a:xfrm>
            <a:off x="2143354" y="2185416"/>
            <a:ext cx="3794760" cy="219456"/>
          </a:xfrm>
          <a:prstGeom prst="roundRect">
            <a:avLst>
              <a:gd name="adj" fmla="val 50000"/>
            </a:avLst>
          </a:prstGeom>
          <a:solidFill>
            <a:srgbClr val="0A1220"/>
          </a:solidFill>
          <a:ln>
            <a:noFill/>
          </a:ln>
        </p:spPr>
        <p:txBody>
          <a:bodyPr wrap="square" lIns="164592" tIns="109728" rIns="137160" bIns="91440" rtlCol="0" anchor="t">
            <a:noAutofit/>
          </a:bodyPr>
          <a:lstStyle/>
          <a:p>
            <a:endParaRPr lang="en-US"/>
          </a:p>
        </p:txBody>
      </p:sp>
      <p:sp>
        <p:nvSpPr>
          <p:cNvPr id="106" name="s106"/>
          <p:cNvSpPr/>
          <p:nvPr/>
        </p:nvSpPr>
        <p:spPr>
          <a:xfrm>
            <a:off x="2143354" y="2185416"/>
            <a:ext cx="3794760" cy="219456"/>
          </a:xfrm>
          <a:prstGeom prst="roundRect">
            <a:avLst>
              <a:gd name="adj" fmla="val 50000"/>
            </a:avLst>
          </a:prstGeom>
          <a:solidFill>
            <a:srgbClr val="34D399">
              <a:alpha val="55000"/>
            </a:srgbClr>
          </a:solidFill>
          <a:ln>
            <a:noFill/>
          </a:ln>
        </p:spPr>
        <p:txBody>
          <a:bodyPr wrap="square" lIns="91440" tIns="0" rIns="45720" bIns="0" rtlCol="0" anchor="ctr">
            <a:noAutofit/>
          </a:bodyPr>
          <a:lstStyle/>
          <a:p>
            <a:pPr marL="0" indent="0" algn="l">
              <a:spcBef>
                <a:spcPts val="0"/>
              </a:spcBef>
              <a:spcAft>
                <a:spcPts val="0"/>
              </a:spcAft>
              <a:buNone/>
            </a:pPr>
            <a:r>
              <a:rPr lang="en-US" sz="950" b="1" dirty="0">
                <a:solidFill>
                  <a:srgbClr val="FFFFFF"/>
                </a:solidFill>
                <a:latin typeface="Segoe UI"/>
                <a:ea typeface="Segoe UI"/>
                <a:cs typeface="Segoe UI"/>
              </a:rPr>
              <a:t>completed &amp; approved</a:t>
            </a:r>
            <a:endParaRPr lang="en-US" sz="950" dirty="0"/>
          </a:p>
        </p:txBody>
      </p:sp>
      <p:sp>
        <p:nvSpPr>
          <p:cNvPr id="107" name="s107"/>
          <p:cNvSpPr txBox="1"/>
          <p:nvPr/>
        </p:nvSpPr>
        <p:spPr>
          <a:xfrm>
            <a:off x="543154" y="2487168"/>
            <a:ext cx="1554480" cy="2743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Development</a:t>
            </a:r>
            <a:endParaRPr lang="en-US" sz="1200" dirty="0"/>
          </a:p>
        </p:txBody>
      </p:sp>
      <p:sp>
        <p:nvSpPr>
          <p:cNvPr id="108" name="s108"/>
          <p:cNvSpPr/>
          <p:nvPr/>
        </p:nvSpPr>
        <p:spPr>
          <a:xfrm>
            <a:off x="2143354" y="2514600"/>
            <a:ext cx="3794760" cy="219456"/>
          </a:xfrm>
          <a:prstGeom prst="roundRect">
            <a:avLst>
              <a:gd name="adj" fmla="val 50000"/>
            </a:avLst>
          </a:prstGeom>
          <a:solidFill>
            <a:srgbClr val="0A1220"/>
          </a:solidFill>
          <a:ln>
            <a:noFill/>
          </a:ln>
        </p:spPr>
        <p:txBody>
          <a:bodyPr wrap="square" lIns="164592" tIns="109728" rIns="137160" bIns="91440" rtlCol="0" anchor="t">
            <a:noAutofit/>
          </a:bodyPr>
          <a:lstStyle/>
          <a:p>
            <a:endParaRPr lang="en-US"/>
          </a:p>
        </p:txBody>
      </p:sp>
      <p:sp>
        <p:nvSpPr>
          <p:cNvPr id="109" name="s109"/>
          <p:cNvSpPr/>
          <p:nvPr/>
        </p:nvSpPr>
        <p:spPr>
          <a:xfrm>
            <a:off x="2143354" y="2514600"/>
            <a:ext cx="2656332" cy="219456"/>
          </a:xfrm>
          <a:prstGeom prst="roundRect">
            <a:avLst>
              <a:gd name="adj" fmla="val 50000"/>
            </a:avLst>
          </a:prstGeom>
          <a:solidFill>
            <a:srgbClr val="FBBF24">
              <a:alpha val="55000"/>
            </a:srgbClr>
          </a:solidFill>
          <a:ln>
            <a:noFill/>
          </a:ln>
        </p:spPr>
        <p:txBody>
          <a:bodyPr wrap="square" lIns="91440" tIns="0" rIns="45720" bIns="0" rtlCol="0" anchor="ctr">
            <a:noAutofit/>
          </a:bodyPr>
          <a:lstStyle/>
          <a:p>
            <a:pPr marL="0" indent="0" algn="l">
              <a:spcBef>
                <a:spcPts val="0"/>
              </a:spcBef>
              <a:spcAft>
                <a:spcPts val="0"/>
              </a:spcAft>
              <a:buNone/>
            </a:pPr>
            <a:r>
              <a:rPr lang="en-US" sz="950" b="1" dirty="0">
                <a:solidFill>
                  <a:srgbClr val="FFFFFF"/>
                </a:solidFill>
                <a:latin typeface="Segoe UI"/>
                <a:ea typeface="Segoe UI"/>
                <a:cs typeface="Segoe UI"/>
              </a:rPr>
              <a:t>70% completed</a:t>
            </a:r>
            <a:endParaRPr lang="en-US" sz="950" dirty="0"/>
          </a:p>
        </p:txBody>
      </p:sp>
      <p:sp>
        <p:nvSpPr>
          <p:cNvPr id="110" name="s110"/>
          <p:cNvSpPr/>
          <p:nvPr/>
        </p:nvSpPr>
        <p:spPr>
          <a:xfrm>
            <a:off x="6212434" y="1783080"/>
            <a:ext cx="3269894" cy="960120"/>
          </a:xfrm>
          <a:prstGeom prst="roundRect">
            <a:avLst>
              <a:gd name="adj" fmla="val 12000"/>
            </a:avLst>
          </a:prstGeom>
          <a:solidFill>
            <a:srgbClr val="111B2E"/>
          </a:solidFill>
          <a:ln w="12700">
            <a:solidFill>
              <a:srgbClr val="F0A98B"/>
            </a:solidFill>
            <a:prstDash val="solid"/>
          </a:ln>
        </p:spPr>
        <p:txBody>
          <a:bodyPr wrap="square" lIns="182880" tIns="45720" rIns="137160" bIns="45720" rtlCol="0" anchor="ctr">
            <a:noAutofit/>
          </a:bodyPr>
          <a:lstStyle/>
          <a:p>
            <a:pPr marL="0" indent="0" algn="l">
              <a:spcBef>
                <a:spcPts val="0"/>
              </a:spcBef>
              <a:spcAft>
                <a:spcPts val="200"/>
              </a:spcAft>
              <a:buNone/>
            </a:pPr>
            <a:r>
              <a:rPr lang="en-US" sz="1050" b="1" dirty="0">
                <a:solidFill>
                  <a:srgbClr val="F0A98B"/>
                </a:solidFill>
                <a:latin typeface="Segoe UI"/>
                <a:ea typeface="Segoe UI"/>
                <a:cs typeface="Segoe UI"/>
              </a:rPr>
              <a:t>CLIENT</a:t>
            </a:r>
            <a:endParaRPr lang="en-US" sz="1050" dirty="0"/>
          </a:p>
          <a:p>
            <a:pPr marL="0" indent="0" algn="l">
              <a:spcBef>
                <a:spcPts val="0"/>
              </a:spcBef>
              <a:spcAft>
                <a:spcPts val="0"/>
              </a:spcAft>
              <a:buNone/>
            </a:pPr>
            <a:r>
              <a:rPr lang="en-US" sz="1300" b="0" i="1" dirty="0">
                <a:solidFill>
                  <a:srgbClr val="FFFFFF"/>
                </a:solidFill>
                <a:latin typeface="Segoe UI"/>
                <a:ea typeface="Segoe UI"/>
                <a:cs typeface="Segoe UI"/>
              </a:rPr>
              <a:t>"Not only one-time payment. I also want Monthly Subscriptions."</a:t>
            </a:r>
            <a:endParaRPr lang="en-US" sz="1300" dirty="0"/>
          </a:p>
        </p:txBody>
      </p:sp>
      <p:sp>
        <p:nvSpPr>
          <p:cNvPr id="111" name="s111"/>
          <p:cNvSpPr/>
          <p:nvPr/>
        </p:nvSpPr>
        <p:spPr>
          <a:xfrm>
            <a:off x="9619488" y="1783080"/>
            <a:ext cx="2011680" cy="960120"/>
          </a:xfrm>
          <a:prstGeom prst="roundRect">
            <a:avLst>
              <a:gd name="adj" fmla="val 12000"/>
            </a:avLst>
          </a:prstGeom>
          <a:solidFill>
            <a:srgbClr val="F87171">
              <a:alpha val="12000"/>
            </a:srgbClr>
          </a:solidFill>
          <a:ln w="12700">
            <a:solidFill>
              <a:srgbClr val="F87171"/>
            </a:solidFill>
            <a:prstDash val="solid"/>
          </a:ln>
        </p:spPr>
        <p:txBody>
          <a:bodyPr wrap="square" lIns="91440" tIns="45720" rIns="91440" bIns="45720" rtlCol="0" anchor="ctr">
            <a:noAutofit/>
          </a:bodyPr>
          <a:lstStyle/>
          <a:p>
            <a:pPr marL="0" indent="0" algn="ctr">
              <a:spcBef>
                <a:spcPts val="0"/>
              </a:spcBef>
              <a:spcAft>
                <a:spcPts val="0"/>
              </a:spcAft>
              <a:buNone/>
            </a:pPr>
            <a:r>
              <a:rPr lang="en-US" sz="1150" b="0" dirty="0">
                <a:solidFill>
                  <a:srgbClr val="94A3B8"/>
                </a:solidFill>
                <a:latin typeface="Segoe UI"/>
                <a:ea typeface="Segoe UI"/>
                <a:cs typeface="Segoe UI"/>
              </a:rPr>
              <a:t>"We are Waterfall,</a:t>
            </a:r>
            <a:endParaRPr lang="en-US" sz="1150" dirty="0"/>
          </a:p>
          <a:p>
            <a:pPr marL="0" indent="0" algn="ctr">
              <a:spcBef>
                <a:spcPts val="0"/>
              </a:spcBef>
              <a:spcAft>
                <a:spcPts val="0"/>
              </a:spcAft>
              <a:buNone/>
            </a:pPr>
            <a:r>
              <a:rPr lang="en-US" sz="1150" b="0" dirty="0">
                <a:solidFill>
                  <a:srgbClr val="94A3B8"/>
                </a:solidFill>
                <a:latin typeface="Segoe UI"/>
                <a:ea typeface="Segoe UI"/>
                <a:cs typeface="Segoe UI"/>
              </a:rPr>
              <a:t>no changes"?</a:t>
            </a:r>
            <a:endParaRPr lang="en-US" sz="1150" dirty="0"/>
          </a:p>
          <a:p>
            <a:pPr marL="0" indent="0" algn="ctr">
              <a:spcBef>
                <a:spcPts val="200"/>
              </a:spcBef>
              <a:spcAft>
                <a:spcPts val="0"/>
              </a:spcAft>
              <a:buNone/>
            </a:pPr>
            <a:r>
              <a:rPr lang="en-US" sz="1600" b="1" dirty="0">
                <a:solidFill>
                  <a:srgbClr val="F87171"/>
                </a:solidFill>
                <a:latin typeface="Segoe UI"/>
                <a:ea typeface="Segoe UI"/>
                <a:cs typeface="Segoe UI"/>
              </a:rPr>
              <a:t>NO!</a:t>
            </a:r>
            <a:endParaRPr lang="en-US" sz="1600" dirty="0"/>
          </a:p>
        </p:txBody>
      </p:sp>
      <p:sp>
        <p:nvSpPr>
          <p:cNvPr id="112" name="s112"/>
          <p:cNvSpPr/>
          <p:nvPr/>
        </p:nvSpPr>
        <p:spPr>
          <a:xfrm>
            <a:off x="543154" y="2880360"/>
            <a:ext cx="2531974" cy="658368"/>
          </a:xfrm>
          <a:prstGeom prst="roundRect">
            <a:avLst>
              <a:gd name="adj" fmla="val 14000"/>
            </a:avLst>
          </a:prstGeom>
          <a:solidFill>
            <a:srgbClr val="F0A98B">
              <a:alpha val="14000"/>
            </a:srgbClr>
          </a:solidFill>
          <a:ln w="19050">
            <a:solidFill>
              <a:srgbClr val="F0A98B"/>
            </a:solidFill>
            <a:prstDash val="solid"/>
          </a:ln>
        </p:spPr>
        <p:txBody>
          <a:bodyPr wrap="square" lIns="73152" tIns="27432" rIns="73152" bIns="27432" rtlCol="0" anchor="ctr">
            <a:noAutofit/>
          </a:bodyPr>
          <a:lstStyle/>
          <a:p>
            <a:pPr marL="0" indent="0" algn="ctr">
              <a:spcBef>
                <a:spcPts val="0"/>
              </a:spcBef>
              <a:spcAft>
                <a:spcPts val="100"/>
              </a:spcAft>
              <a:buNone/>
            </a:pPr>
            <a:r>
              <a:rPr lang="en-US" sz="1250" b="1" dirty="0">
                <a:solidFill>
                  <a:srgbClr val="F0A98B"/>
                </a:solidFill>
                <a:latin typeface="Segoe UI"/>
                <a:ea typeface="Segoe UI"/>
                <a:cs typeface="Segoe UI"/>
              </a:rPr>
              <a:t>1  CHANGE REQUEST</a:t>
            </a:r>
            <a:endParaRPr lang="en-US" sz="1250" dirty="0"/>
          </a:p>
          <a:p>
            <a:pPr marL="0" indent="0" algn="ctr">
              <a:spcBef>
                <a:spcPts val="0"/>
              </a:spcBef>
              <a:spcAft>
                <a:spcPts val="0"/>
              </a:spcAft>
              <a:buNone/>
            </a:pPr>
            <a:r>
              <a:rPr lang="en-US" sz="1100" b="0" dirty="0">
                <a:solidFill>
                  <a:srgbClr val="E2E8F0"/>
                </a:solidFill>
                <a:latin typeface="Segoe UI"/>
                <a:ea typeface="Segoe UI"/>
                <a:cs typeface="Segoe UI"/>
              </a:rPr>
              <a:t>client asks for subscriptions</a:t>
            </a:r>
            <a:endParaRPr lang="en-US" sz="1100" dirty="0"/>
          </a:p>
        </p:txBody>
      </p:sp>
      <p:sp>
        <p:nvSpPr>
          <p:cNvPr id="113" name="s113"/>
          <p:cNvSpPr/>
          <p:nvPr/>
        </p:nvSpPr>
        <p:spPr>
          <a:xfrm>
            <a:off x="3395167" y="2880360"/>
            <a:ext cx="2531974" cy="658368"/>
          </a:xfrm>
          <a:prstGeom prst="roundRect">
            <a:avLst>
              <a:gd name="adj" fmla="val 14000"/>
            </a:avLst>
          </a:prstGeom>
          <a:solidFill>
            <a:srgbClr val="FBBF24">
              <a:alpha val="14000"/>
            </a:srgbClr>
          </a:solidFill>
          <a:ln w="19050">
            <a:solidFill>
              <a:srgbClr val="FBBF24"/>
            </a:solidFill>
            <a:prstDash val="solid"/>
          </a:ln>
        </p:spPr>
        <p:txBody>
          <a:bodyPr wrap="square" lIns="73152" tIns="27432" rIns="73152" bIns="27432" rtlCol="0" anchor="ctr">
            <a:noAutofit/>
          </a:bodyPr>
          <a:lstStyle/>
          <a:p>
            <a:pPr marL="0" indent="0" algn="ctr">
              <a:spcBef>
                <a:spcPts val="0"/>
              </a:spcBef>
              <a:spcAft>
                <a:spcPts val="100"/>
              </a:spcAft>
              <a:buNone/>
            </a:pPr>
            <a:r>
              <a:rPr lang="en-US" sz="1250" b="1" dirty="0">
                <a:solidFill>
                  <a:srgbClr val="FBBF24"/>
                </a:solidFill>
                <a:latin typeface="Segoe UI"/>
                <a:ea typeface="Segoe UI"/>
                <a:cs typeface="Segoe UI"/>
              </a:rPr>
              <a:t>2  IMPACT ANALYSIS</a:t>
            </a:r>
            <a:endParaRPr lang="en-US" sz="1250" dirty="0"/>
          </a:p>
          <a:p>
            <a:pPr marL="0" indent="0" algn="ctr">
              <a:spcBef>
                <a:spcPts val="0"/>
              </a:spcBef>
              <a:spcAft>
                <a:spcPts val="0"/>
              </a:spcAft>
              <a:buNone/>
            </a:pPr>
            <a:r>
              <a:rPr lang="en-US" sz="1100" b="0" dirty="0">
                <a:solidFill>
                  <a:srgbClr val="E2E8F0"/>
                </a:solidFill>
                <a:latin typeface="Segoe UI"/>
                <a:ea typeface="Segoe UI"/>
                <a:cs typeface="Segoe UI"/>
              </a:rPr>
              <a:t>time · cost · design · code</a:t>
            </a:r>
            <a:endParaRPr lang="en-US" sz="1100" dirty="0"/>
          </a:p>
        </p:txBody>
      </p:sp>
      <p:cxnSp>
        <p:nvCxnSpPr>
          <p:cNvPr id="114" name="ln114"/>
          <p:cNvCxnSpPr/>
          <p:nvPr/>
        </p:nvCxnSpPr>
        <p:spPr>
          <a:xfrm>
            <a:off x="3120847" y="3209544"/>
            <a:ext cx="228600" cy="0"/>
          </a:xfrm>
          <a:prstGeom prst="line">
            <a:avLst/>
          </a:prstGeom>
          <a:ln w="22225">
            <a:solidFill>
              <a:srgbClr val="94A3B8"/>
            </a:solidFill>
            <a:tailEnd type="triangle" w="med" len="med"/>
          </a:ln>
        </p:spPr>
      </p:cxnSp>
      <p:sp>
        <p:nvSpPr>
          <p:cNvPr id="115" name="s115"/>
          <p:cNvSpPr/>
          <p:nvPr/>
        </p:nvSpPr>
        <p:spPr>
          <a:xfrm>
            <a:off x="6247181" y="2880360"/>
            <a:ext cx="2531974" cy="658368"/>
          </a:xfrm>
          <a:prstGeom prst="roundRect">
            <a:avLst>
              <a:gd name="adj" fmla="val 14000"/>
            </a:avLst>
          </a:prstGeom>
          <a:solidFill>
            <a:srgbClr val="A78BFA">
              <a:alpha val="14000"/>
            </a:srgbClr>
          </a:solidFill>
          <a:ln w="19050">
            <a:solidFill>
              <a:srgbClr val="A78BFA"/>
            </a:solidFill>
            <a:prstDash val="solid"/>
          </a:ln>
        </p:spPr>
        <p:txBody>
          <a:bodyPr wrap="square" lIns="73152" tIns="27432" rIns="73152" bIns="27432" rtlCol="0" anchor="ctr">
            <a:noAutofit/>
          </a:bodyPr>
          <a:lstStyle/>
          <a:p>
            <a:pPr marL="0" indent="0" algn="ctr">
              <a:spcBef>
                <a:spcPts val="0"/>
              </a:spcBef>
              <a:spcAft>
                <a:spcPts val="100"/>
              </a:spcAft>
              <a:buNone/>
            </a:pPr>
            <a:r>
              <a:rPr lang="en-US" sz="1250" b="1" dirty="0">
                <a:solidFill>
                  <a:srgbClr val="A78BFA"/>
                </a:solidFill>
                <a:latin typeface="Segoe UI"/>
                <a:ea typeface="Segoe UI"/>
                <a:cs typeface="Segoe UI"/>
              </a:rPr>
              <a:t>3  DECISION</a:t>
            </a:r>
            <a:endParaRPr lang="en-US" sz="1250" dirty="0"/>
          </a:p>
          <a:p>
            <a:pPr marL="0" indent="0" algn="ctr">
              <a:spcBef>
                <a:spcPts val="0"/>
              </a:spcBef>
              <a:spcAft>
                <a:spcPts val="0"/>
              </a:spcAft>
              <a:buNone/>
            </a:pPr>
            <a:r>
              <a:rPr lang="en-US" sz="1100" b="0" dirty="0">
                <a:solidFill>
                  <a:srgbClr val="E2E8F0"/>
                </a:solidFill>
                <a:latin typeface="Segoe UI"/>
                <a:ea typeface="Segoe UI"/>
                <a:cs typeface="Segoe UI"/>
              </a:rPr>
              <a:t>approve · reject · postpone</a:t>
            </a:r>
            <a:endParaRPr lang="en-US" sz="1100" dirty="0"/>
          </a:p>
        </p:txBody>
      </p:sp>
      <p:cxnSp>
        <p:nvCxnSpPr>
          <p:cNvPr id="116" name="ln116"/>
          <p:cNvCxnSpPr/>
          <p:nvPr/>
        </p:nvCxnSpPr>
        <p:spPr>
          <a:xfrm>
            <a:off x="5972861" y="3209544"/>
            <a:ext cx="228600" cy="0"/>
          </a:xfrm>
          <a:prstGeom prst="line">
            <a:avLst/>
          </a:prstGeom>
          <a:ln w="22225">
            <a:solidFill>
              <a:srgbClr val="94A3B8"/>
            </a:solidFill>
            <a:tailEnd type="triangle" w="med" len="med"/>
          </a:ln>
        </p:spPr>
      </p:cxnSp>
      <p:sp>
        <p:nvSpPr>
          <p:cNvPr id="117" name="s117"/>
          <p:cNvSpPr/>
          <p:nvPr/>
        </p:nvSpPr>
        <p:spPr>
          <a:xfrm>
            <a:off x="9099194" y="2880360"/>
            <a:ext cx="2531974" cy="658368"/>
          </a:xfrm>
          <a:prstGeom prst="roundRect">
            <a:avLst>
              <a:gd name="adj" fmla="val 14000"/>
            </a:avLst>
          </a:prstGeom>
          <a:solidFill>
            <a:srgbClr val="34D399">
              <a:alpha val="14000"/>
            </a:srgbClr>
          </a:solidFill>
          <a:ln w="19050">
            <a:solidFill>
              <a:srgbClr val="34D399"/>
            </a:solidFill>
            <a:prstDash val="solid"/>
          </a:ln>
        </p:spPr>
        <p:txBody>
          <a:bodyPr wrap="square" lIns="73152" tIns="27432" rIns="73152" bIns="27432" rtlCol="0" anchor="ctr">
            <a:noAutofit/>
          </a:bodyPr>
          <a:lstStyle/>
          <a:p>
            <a:pPr marL="0" indent="0" algn="ctr">
              <a:spcBef>
                <a:spcPts val="0"/>
              </a:spcBef>
              <a:spcAft>
                <a:spcPts val="100"/>
              </a:spcAft>
              <a:buNone/>
            </a:pPr>
            <a:r>
              <a:rPr lang="en-US" sz="1250" b="1" dirty="0">
                <a:solidFill>
                  <a:srgbClr val="34D399"/>
                </a:solidFill>
                <a:latin typeface="Segoe UI"/>
                <a:ea typeface="Segoe UI"/>
                <a:cs typeface="Segoe UI"/>
              </a:rPr>
              <a:t>4  UPDATE &amp; BUILD</a:t>
            </a:r>
            <a:endParaRPr lang="en-US" sz="1250" dirty="0"/>
          </a:p>
          <a:p>
            <a:pPr marL="0" indent="0" algn="ctr">
              <a:spcBef>
                <a:spcPts val="0"/>
              </a:spcBef>
              <a:spcAft>
                <a:spcPts val="0"/>
              </a:spcAft>
              <a:buNone/>
            </a:pPr>
            <a:r>
              <a:rPr lang="en-US" sz="1100" b="0" dirty="0">
                <a:solidFill>
                  <a:srgbClr val="E2E8F0"/>
                </a:solidFill>
                <a:latin typeface="Segoe UI"/>
                <a:ea typeface="Segoe UI"/>
                <a:cs typeface="Segoe UI"/>
              </a:rPr>
              <a:t>docs · plan · code · tests</a:t>
            </a:r>
            <a:endParaRPr lang="en-US" sz="1100" dirty="0"/>
          </a:p>
        </p:txBody>
      </p:sp>
      <p:cxnSp>
        <p:nvCxnSpPr>
          <p:cNvPr id="118" name="ln118"/>
          <p:cNvCxnSpPr/>
          <p:nvPr/>
        </p:nvCxnSpPr>
        <p:spPr>
          <a:xfrm>
            <a:off x="8824874" y="3209544"/>
            <a:ext cx="228600" cy="0"/>
          </a:xfrm>
          <a:prstGeom prst="line">
            <a:avLst/>
          </a:prstGeom>
          <a:ln w="22225">
            <a:solidFill>
              <a:srgbClr val="94A3B8"/>
            </a:solidFill>
            <a:tailEnd type="triangle" w="med" len="med"/>
          </a:ln>
        </p:spPr>
      </p:cxnSp>
      <p:sp>
        <p:nvSpPr>
          <p:cNvPr id="119" name="s119"/>
          <p:cNvSpPr/>
          <p:nvPr/>
        </p:nvSpPr>
        <p:spPr>
          <a:xfrm>
            <a:off x="543154" y="3675888"/>
            <a:ext cx="5120640" cy="868680"/>
          </a:xfrm>
          <a:prstGeom prst="roundRect">
            <a:avLst>
              <a:gd name="adj" fmla="val 10000"/>
            </a:avLst>
          </a:prstGeom>
          <a:solidFill>
            <a:srgbClr val="FBBF24">
              <a:alpha val="10000"/>
            </a:srgbClr>
          </a:solidFill>
          <a:ln w="12700">
            <a:solidFill>
              <a:srgbClr val="FBBF24"/>
            </a:solidFill>
            <a:prstDash val="solid"/>
          </a:ln>
        </p:spPr>
        <p:txBody>
          <a:bodyPr wrap="square" lIns="182880" tIns="45720" rIns="137160" bIns="45720" rtlCol="0" anchor="ctr">
            <a:noAutofit/>
          </a:bodyPr>
          <a:lstStyle/>
          <a:p>
            <a:pPr marL="0" indent="0" algn="l">
              <a:spcBef>
                <a:spcPts val="0"/>
              </a:spcBef>
              <a:spcAft>
                <a:spcPts val="200"/>
              </a:spcAft>
              <a:buNone/>
            </a:pPr>
            <a:r>
              <a:rPr lang="en-US" sz="1050" b="1" dirty="0">
                <a:solidFill>
                  <a:srgbClr val="FBBF24"/>
                </a:solidFill>
                <a:latin typeface="Segoe UI"/>
                <a:ea typeface="Segoe UI"/>
                <a:cs typeface="Segoe UI"/>
              </a:rPr>
              <a:t>IMPACT ANALYSIS SAYS</a:t>
            </a:r>
            <a:endParaRPr lang="en-US" sz="1050" dirty="0"/>
          </a:p>
          <a:p>
            <a:pPr marL="0" indent="0" algn="l">
              <a:spcBef>
                <a:spcPts val="0"/>
              </a:spcBef>
              <a:spcAft>
                <a:spcPts val="0"/>
              </a:spcAft>
              <a:buNone/>
            </a:pPr>
            <a:r>
              <a:rPr lang="en-US" sz="1250" b="0" dirty="0">
                <a:solidFill>
                  <a:srgbClr val="FFFFFF"/>
                </a:solidFill>
                <a:latin typeface="Segoe UI"/>
                <a:ea typeface="Segoe UI"/>
                <a:cs typeface="Segoe UI"/>
              </a:rPr>
              <a:t>Database + Payment Service + APIs  →  </a:t>
            </a:r>
            <a:r>
              <a:rPr lang="en-US" sz="1250" b="1" dirty="0">
                <a:solidFill>
                  <a:srgbClr val="FBBF24"/>
                </a:solidFill>
                <a:latin typeface="Segoe UI"/>
                <a:ea typeface="Segoe UI"/>
                <a:cs typeface="Segoe UI"/>
              </a:rPr>
              <a:t>+3 weeks</a:t>
            </a:r>
            <a:endParaRPr lang="en-US" sz="1250" dirty="0"/>
          </a:p>
        </p:txBody>
      </p:sp>
      <p:sp>
        <p:nvSpPr>
          <p:cNvPr id="120" name="s120"/>
          <p:cNvSpPr/>
          <p:nvPr/>
        </p:nvSpPr>
        <p:spPr>
          <a:xfrm>
            <a:off x="543154" y="4636008"/>
            <a:ext cx="2491740" cy="493776"/>
          </a:xfrm>
          <a:prstGeom prst="roundRect">
            <a:avLst>
              <a:gd name="adj" fmla="val 15000"/>
            </a:avLst>
          </a:prstGeom>
          <a:solidFill>
            <a:srgbClr val="111B2E"/>
          </a:solidFill>
          <a:ln w="12700">
            <a:solidFill>
              <a:srgbClr val="34D399"/>
            </a:solidFill>
            <a:prstDash val="solid"/>
          </a:ln>
        </p:spPr>
        <p:txBody>
          <a:bodyPr wrap="square" lIns="137160" tIns="0" rIns="9144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 accept  </a:t>
            </a:r>
            <a:r>
              <a:rPr lang="en-US" sz="1200" b="0" dirty="0">
                <a:solidFill>
                  <a:srgbClr val="E2E8F0"/>
                </a:solidFill>
                <a:latin typeface="Segoe UI"/>
                <a:ea typeface="Segoe UI"/>
                <a:cs typeface="Segoe UI"/>
              </a:rPr>
              <a:t>extra time + cost</a:t>
            </a:r>
            <a:endParaRPr lang="en-US" sz="1200" dirty="0"/>
          </a:p>
        </p:txBody>
      </p:sp>
      <p:sp>
        <p:nvSpPr>
          <p:cNvPr id="121" name="s121"/>
          <p:cNvSpPr/>
          <p:nvPr/>
        </p:nvSpPr>
        <p:spPr>
          <a:xfrm>
            <a:off x="3172054" y="4636008"/>
            <a:ext cx="2491740" cy="493776"/>
          </a:xfrm>
          <a:prstGeom prst="roundRect">
            <a:avLst>
              <a:gd name="adj" fmla="val 15000"/>
            </a:avLst>
          </a:prstGeom>
          <a:solidFill>
            <a:srgbClr val="111B2E"/>
          </a:solidFill>
          <a:ln w="12700">
            <a:solidFill>
              <a:srgbClr val="13D0F7"/>
            </a:solidFill>
            <a:prstDash val="solid"/>
          </a:ln>
        </p:spPr>
        <p:txBody>
          <a:bodyPr wrap="square" lIns="137160" tIns="0" rIns="91440" bIns="0" rtlCol="0" anchor="ctr">
            <a:noAutofit/>
          </a:bodyPr>
          <a:lstStyle/>
          <a:p>
            <a:pPr marL="0" indent="0" algn="l">
              <a:spcBef>
                <a:spcPts val="0"/>
              </a:spcBef>
              <a:spcAft>
                <a:spcPts val="0"/>
              </a:spcAft>
              <a:buNone/>
            </a:pPr>
            <a:r>
              <a:rPr lang="en-US" sz="1200" b="1" dirty="0">
                <a:solidFill>
                  <a:srgbClr val="13D0F7"/>
                </a:solidFill>
                <a:latin typeface="Segoe UI"/>
                <a:ea typeface="Segoe UI"/>
                <a:cs typeface="Segoe UI"/>
              </a:rPr>
              <a:t>⏸ postpone  </a:t>
            </a:r>
            <a:r>
              <a:rPr lang="en-US" sz="1200" b="0" dirty="0">
                <a:solidFill>
                  <a:srgbClr val="E2E8F0"/>
                </a:solidFill>
                <a:latin typeface="Segoe UI"/>
                <a:ea typeface="Segoe UI"/>
                <a:cs typeface="Segoe UI"/>
              </a:rPr>
              <a:t>to a later release</a:t>
            </a:r>
            <a:endParaRPr lang="en-US" sz="1200" dirty="0"/>
          </a:p>
        </p:txBody>
      </p:sp>
      <p:sp>
        <p:nvSpPr>
          <p:cNvPr id="122" name="s122"/>
          <p:cNvSpPr/>
          <p:nvPr/>
        </p:nvSpPr>
        <p:spPr>
          <a:xfrm>
            <a:off x="543154" y="5202936"/>
            <a:ext cx="2491740" cy="493776"/>
          </a:xfrm>
          <a:prstGeom prst="roundRect">
            <a:avLst>
              <a:gd name="adj" fmla="val 15000"/>
            </a:avLst>
          </a:prstGeom>
          <a:solidFill>
            <a:srgbClr val="111B2E"/>
          </a:solidFill>
          <a:ln w="12700">
            <a:solidFill>
              <a:srgbClr val="A78BFA"/>
            </a:solidFill>
            <a:prstDash val="solid"/>
          </a:ln>
        </p:spPr>
        <p:txBody>
          <a:bodyPr wrap="square" lIns="137160" tIns="0" rIns="91440" bIns="0" rtlCol="0" anchor="ctr">
            <a:noAutofit/>
          </a:bodyPr>
          <a:lstStyle/>
          <a:p>
            <a:pPr marL="0" indent="0" algn="l">
              <a:spcBef>
                <a:spcPts val="0"/>
              </a:spcBef>
              <a:spcAft>
                <a:spcPts val="0"/>
              </a:spcAft>
              <a:buNone/>
            </a:pPr>
            <a:r>
              <a:rPr lang="en-US" sz="1200" b="1" dirty="0">
                <a:solidFill>
                  <a:srgbClr val="A78BFA"/>
                </a:solidFill>
                <a:latin typeface="Segoe UI"/>
                <a:ea typeface="Segoe UI"/>
                <a:cs typeface="Segoe UI"/>
              </a:rPr>
              <a:t>↻ re-scope  </a:t>
            </a:r>
            <a:r>
              <a:rPr lang="en-US" sz="1200" b="0" dirty="0">
                <a:solidFill>
                  <a:srgbClr val="E2E8F0"/>
                </a:solidFill>
                <a:latin typeface="Segoe UI"/>
                <a:ea typeface="Segoe UI"/>
                <a:cs typeface="Segoe UI"/>
              </a:rPr>
              <a:t>redefine scope</a:t>
            </a:r>
            <a:endParaRPr lang="en-US" sz="1200" dirty="0"/>
          </a:p>
        </p:txBody>
      </p:sp>
      <p:sp>
        <p:nvSpPr>
          <p:cNvPr id="123" name="s123"/>
          <p:cNvSpPr/>
          <p:nvPr/>
        </p:nvSpPr>
        <p:spPr>
          <a:xfrm>
            <a:off x="3172054" y="5202936"/>
            <a:ext cx="2491740" cy="493776"/>
          </a:xfrm>
          <a:prstGeom prst="roundRect">
            <a:avLst>
              <a:gd name="adj" fmla="val 15000"/>
            </a:avLst>
          </a:prstGeom>
          <a:solidFill>
            <a:srgbClr val="111B2E"/>
          </a:solidFill>
          <a:ln w="12700">
            <a:solidFill>
              <a:srgbClr val="F87171"/>
            </a:solidFill>
            <a:prstDash val="solid"/>
          </a:ln>
        </p:spPr>
        <p:txBody>
          <a:bodyPr wrap="square" lIns="137160" tIns="0" rIns="9144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 reject  </a:t>
            </a:r>
            <a:r>
              <a:rPr lang="en-US" sz="1200" b="0" dirty="0">
                <a:solidFill>
                  <a:srgbClr val="E2E8F0"/>
                </a:solidFill>
                <a:latin typeface="Segoe UI"/>
                <a:ea typeface="Segoe UI"/>
                <a:cs typeface="Segoe UI"/>
              </a:rPr>
              <a:t>keep the original deal</a:t>
            </a:r>
            <a:endParaRPr lang="en-US" sz="1200" dirty="0"/>
          </a:p>
        </p:txBody>
      </p:sp>
      <p:sp>
        <p:nvSpPr>
          <p:cNvPr id="124" name="s124"/>
          <p:cNvSpPr txBox="1"/>
          <p:nvPr/>
        </p:nvSpPr>
        <p:spPr>
          <a:xfrm>
            <a:off x="543154" y="5806440"/>
            <a:ext cx="5120640" cy="2286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0" i="1" dirty="0">
                <a:solidFill>
                  <a:srgbClr val="94A3B8"/>
                </a:solidFill>
                <a:latin typeface="Segoe UI"/>
                <a:ea typeface="Segoe UI"/>
                <a:cs typeface="Segoe UI"/>
              </a:rPr>
              <a:t>the client chooses  ·  numbers are only an example</a:t>
            </a:r>
            <a:endParaRPr lang="en-US" sz="1000" dirty="0"/>
          </a:p>
        </p:txBody>
      </p:sp>
      <p:sp>
        <p:nvSpPr>
          <p:cNvPr id="125" name="s125"/>
          <p:cNvSpPr txBox="1"/>
          <p:nvPr/>
        </p:nvSpPr>
        <p:spPr>
          <a:xfrm>
            <a:off x="5938114" y="3675888"/>
            <a:ext cx="5693054"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87171"/>
                </a:solidFill>
                <a:latin typeface="Segoe UI"/>
                <a:ea typeface="Segoe UI"/>
                <a:cs typeface="Segoe UI"/>
              </a:rPr>
              <a:t>THE LATER THE CHANGE, THE MORE WE REDO</a:t>
            </a:r>
            <a:endParaRPr lang="en-US" sz="1050" dirty="0"/>
          </a:p>
        </p:txBody>
      </p:sp>
      <p:sp>
        <p:nvSpPr>
          <p:cNvPr id="126" name="s126"/>
          <p:cNvSpPr/>
          <p:nvPr/>
        </p:nvSpPr>
        <p:spPr>
          <a:xfrm>
            <a:off x="5938114" y="3977640"/>
            <a:ext cx="5693054" cy="365760"/>
          </a:xfrm>
          <a:prstGeom prst="roundRect">
            <a:avLst>
              <a:gd name="adj" fmla="val 2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7" name="s127"/>
          <p:cNvSpPr txBox="1"/>
          <p:nvPr/>
        </p:nvSpPr>
        <p:spPr>
          <a:xfrm>
            <a:off x="6075274" y="3977640"/>
            <a:ext cx="141732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Requirements</a:t>
            </a:r>
            <a:endParaRPr lang="en-US" sz="1200" dirty="0"/>
          </a:p>
        </p:txBody>
      </p:sp>
      <p:sp>
        <p:nvSpPr>
          <p:cNvPr id="128" name="s128"/>
          <p:cNvSpPr txBox="1"/>
          <p:nvPr/>
        </p:nvSpPr>
        <p:spPr>
          <a:xfrm>
            <a:off x="7538314" y="3977640"/>
            <a:ext cx="2401214"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edit before approval: cheapest</a:t>
            </a:r>
            <a:endParaRPr lang="en-US" sz="1150" dirty="0"/>
          </a:p>
        </p:txBody>
      </p:sp>
      <p:sp>
        <p:nvSpPr>
          <p:cNvPr id="129" name="s129"/>
          <p:cNvSpPr/>
          <p:nvPr/>
        </p:nvSpPr>
        <p:spPr>
          <a:xfrm>
            <a:off x="10030968" y="4078224"/>
            <a:ext cx="320040" cy="164592"/>
          </a:xfrm>
          <a:prstGeom prst="roundRect">
            <a:avLst>
              <a:gd name="adj" fmla="val 50000"/>
            </a:avLst>
          </a:prstGeom>
          <a:solidFill>
            <a:srgbClr val="34D399">
              <a:alpha val="70000"/>
            </a:srgbClr>
          </a:solidFill>
          <a:ln>
            <a:noFill/>
          </a:ln>
        </p:spPr>
        <p:txBody>
          <a:bodyPr wrap="square" lIns="164592" tIns="109728" rIns="137160" bIns="91440" rtlCol="0" anchor="t">
            <a:noAutofit/>
          </a:bodyPr>
          <a:lstStyle/>
          <a:p>
            <a:endParaRPr lang="en-US"/>
          </a:p>
        </p:txBody>
      </p:sp>
      <p:sp>
        <p:nvSpPr>
          <p:cNvPr id="130" name="s130"/>
          <p:cNvSpPr/>
          <p:nvPr/>
        </p:nvSpPr>
        <p:spPr>
          <a:xfrm>
            <a:off x="5938114" y="4407408"/>
            <a:ext cx="5693054" cy="365760"/>
          </a:xfrm>
          <a:prstGeom prst="roundRect">
            <a:avLst>
              <a:gd name="adj" fmla="val 2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1" name="s131"/>
          <p:cNvSpPr txBox="1"/>
          <p:nvPr/>
        </p:nvSpPr>
        <p:spPr>
          <a:xfrm>
            <a:off x="6075274" y="4407408"/>
            <a:ext cx="141732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13D0F7"/>
                </a:solidFill>
                <a:latin typeface="Segoe UI"/>
                <a:ea typeface="Segoe UI"/>
                <a:cs typeface="Segoe UI"/>
              </a:rPr>
              <a:t>Design</a:t>
            </a:r>
            <a:endParaRPr lang="en-US" sz="1200" dirty="0"/>
          </a:p>
        </p:txBody>
      </p:sp>
      <p:sp>
        <p:nvSpPr>
          <p:cNvPr id="132" name="s132"/>
          <p:cNvSpPr txBox="1"/>
          <p:nvPr/>
        </p:nvSpPr>
        <p:spPr>
          <a:xfrm>
            <a:off x="7538314" y="4407408"/>
            <a:ext cx="2401214"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revisit requirements + design</a:t>
            </a:r>
            <a:endParaRPr lang="en-US" sz="1150" dirty="0"/>
          </a:p>
        </p:txBody>
      </p:sp>
      <p:sp>
        <p:nvSpPr>
          <p:cNvPr id="133" name="s133"/>
          <p:cNvSpPr/>
          <p:nvPr/>
        </p:nvSpPr>
        <p:spPr>
          <a:xfrm>
            <a:off x="10030968" y="4507992"/>
            <a:ext cx="612648" cy="164592"/>
          </a:xfrm>
          <a:prstGeom prst="roundRect">
            <a:avLst>
              <a:gd name="adj" fmla="val 50000"/>
            </a:avLst>
          </a:prstGeom>
          <a:solidFill>
            <a:srgbClr val="13D0F7">
              <a:alpha val="70000"/>
            </a:srgbClr>
          </a:solidFill>
          <a:ln>
            <a:noFill/>
          </a:ln>
        </p:spPr>
        <p:txBody>
          <a:bodyPr wrap="square" lIns="164592" tIns="109728" rIns="137160" bIns="91440" rtlCol="0" anchor="t">
            <a:noAutofit/>
          </a:bodyPr>
          <a:lstStyle/>
          <a:p>
            <a:endParaRPr lang="en-US"/>
          </a:p>
        </p:txBody>
      </p:sp>
      <p:sp>
        <p:nvSpPr>
          <p:cNvPr id="134" name="s134"/>
          <p:cNvSpPr/>
          <p:nvPr/>
        </p:nvSpPr>
        <p:spPr>
          <a:xfrm>
            <a:off x="5938114" y="4837176"/>
            <a:ext cx="5693054" cy="365760"/>
          </a:xfrm>
          <a:prstGeom prst="roundRect">
            <a:avLst>
              <a:gd name="adj" fmla="val 2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5" name="s135"/>
          <p:cNvSpPr txBox="1"/>
          <p:nvPr/>
        </p:nvSpPr>
        <p:spPr>
          <a:xfrm>
            <a:off x="6075274" y="4837176"/>
            <a:ext cx="141732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BBF24"/>
                </a:solidFill>
                <a:latin typeface="Segoe UI"/>
                <a:ea typeface="Segoe UI"/>
                <a:cs typeface="Segoe UI"/>
              </a:rPr>
              <a:t>Development</a:t>
            </a:r>
            <a:endParaRPr lang="en-US" sz="1200" dirty="0"/>
          </a:p>
        </p:txBody>
      </p:sp>
      <p:sp>
        <p:nvSpPr>
          <p:cNvPr id="136" name="s136"/>
          <p:cNvSpPr txBox="1"/>
          <p:nvPr/>
        </p:nvSpPr>
        <p:spPr>
          <a:xfrm>
            <a:off x="7538314" y="4837176"/>
            <a:ext cx="2401214"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change design, code + tests</a:t>
            </a:r>
            <a:endParaRPr lang="en-US" sz="1150" dirty="0"/>
          </a:p>
        </p:txBody>
      </p:sp>
      <p:sp>
        <p:nvSpPr>
          <p:cNvPr id="137" name="s137"/>
          <p:cNvSpPr/>
          <p:nvPr/>
        </p:nvSpPr>
        <p:spPr>
          <a:xfrm>
            <a:off x="10030968" y="4937760"/>
            <a:ext cx="905256" cy="164592"/>
          </a:xfrm>
          <a:prstGeom prst="roundRect">
            <a:avLst>
              <a:gd name="adj" fmla="val 50000"/>
            </a:avLst>
          </a:prstGeom>
          <a:solidFill>
            <a:srgbClr val="FBBF24">
              <a:alpha val="70000"/>
            </a:srgbClr>
          </a:solidFill>
          <a:ln>
            <a:noFill/>
          </a:ln>
        </p:spPr>
        <p:txBody>
          <a:bodyPr wrap="square" lIns="164592" tIns="109728" rIns="137160" bIns="91440" rtlCol="0" anchor="t">
            <a:noAutofit/>
          </a:bodyPr>
          <a:lstStyle/>
          <a:p>
            <a:endParaRPr lang="en-US"/>
          </a:p>
        </p:txBody>
      </p:sp>
      <p:sp>
        <p:nvSpPr>
          <p:cNvPr id="138" name="s138"/>
          <p:cNvSpPr/>
          <p:nvPr/>
        </p:nvSpPr>
        <p:spPr>
          <a:xfrm>
            <a:off x="5938114" y="5266944"/>
            <a:ext cx="5693054" cy="365760"/>
          </a:xfrm>
          <a:prstGeom prst="roundRect">
            <a:avLst>
              <a:gd name="adj" fmla="val 2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9" name="s139"/>
          <p:cNvSpPr txBox="1"/>
          <p:nvPr/>
        </p:nvSpPr>
        <p:spPr>
          <a:xfrm>
            <a:off x="6075274" y="5266944"/>
            <a:ext cx="141732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0A98B"/>
                </a:solidFill>
                <a:latin typeface="Segoe UI"/>
                <a:ea typeface="Segoe UI"/>
                <a:cs typeface="Segoe UI"/>
              </a:rPr>
              <a:t>Testing</a:t>
            </a:r>
            <a:endParaRPr lang="en-US" sz="1200" dirty="0"/>
          </a:p>
        </p:txBody>
      </p:sp>
      <p:sp>
        <p:nvSpPr>
          <p:cNvPr id="140" name="s140"/>
          <p:cNvSpPr txBox="1"/>
          <p:nvPr/>
        </p:nvSpPr>
        <p:spPr>
          <a:xfrm>
            <a:off x="7538314" y="5266944"/>
            <a:ext cx="2401214"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redevelop parts, test again</a:t>
            </a:r>
            <a:endParaRPr lang="en-US" sz="1150" dirty="0"/>
          </a:p>
        </p:txBody>
      </p:sp>
      <p:sp>
        <p:nvSpPr>
          <p:cNvPr id="141" name="s141"/>
          <p:cNvSpPr/>
          <p:nvPr/>
        </p:nvSpPr>
        <p:spPr>
          <a:xfrm>
            <a:off x="10030968" y="5367528"/>
            <a:ext cx="1197864" cy="164592"/>
          </a:xfrm>
          <a:prstGeom prst="roundRect">
            <a:avLst>
              <a:gd name="adj" fmla="val 50000"/>
            </a:avLst>
          </a:prstGeom>
          <a:solidFill>
            <a:srgbClr val="F0A98B">
              <a:alpha val="70000"/>
            </a:srgbClr>
          </a:solidFill>
          <a:ln>
            <a:noFill/>
          </a:ln>
        </p:spPr>
        <p:txBody>
          <a:bodyPr wrap="square" lIns="164592" tIns="109728" rIns="137160" bIns="91440" rtlCol="0" anchor="t">
            <a:noAutofit/>
          </a:bodyPr>
          <a:lstStyle/>
          <a:p>
            <a:endParaRPr lang="en-US"/>
          </a:p>
        </p:txBody>
      </p:sp>
      <p:sp>
        <p:nvSpPr>
          <p:cNvPr id="142" name="s142"/>
          <p:cNvSpPr/>
          <p:nvPr/>
        </p:nvSpPr>
        <p:spPr>
          <a:xfrm>
            <a:off x="5938114" y="5696712"/>
            <a:ext cx="5693054" cy="365760"/>
          </a:xfrm>
          <a:prstGeom prst="roundRect">
            <a:avLst>
              <a:gd name="adj" fmla="val 2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43" name="s143"/>
          <p:cNvSpPr txBox="1"/>
          <p:nvPr/>
        </p:nvSpPr>
        <p:spPr>
          <a:xfrm>
            <a:off x="6075274" y="5696712"/>
            <a:ext cx="141732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After deploy</a:t>
            </a:r>
            <a:endParaRPr lang="en-US" sz="1200" dirty="0"/>
          </a:p>
        </p:txBody>
      </p:sp>
      <p:sp>
        <p:nvSpPr>
          <p:cNvPr id="144" name="s144"/>
          <p:cNvSpPr txBox="1"/>
          <p:nvPr/>
        </p:nvSpPr>
        <p:spPr>
          <a:xfrm>
            <a:off x="7538314" y="5696712"/>
            <a:ext cx="2401214"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a new release + operations</a:t>
            </a:r>
            <a:endParaRPr lang="en-US" sz="1150" dirty="0"/>
          </a:p>
        </p:txBody>
      </p:sp>
      <p:sp>
        <p:nvSpPr>
          <p:cNvPr id="145" name="s145"/>
          <p:cNvSpPr/>
          <p:nvPr/>
        </p:nvSpPr>
        <p:spPr>
          <a:xfrm>
            <a:off x="10030968" y="5797296"/>
            <a:ext cx="1490472" cy="164592"/>
          </a:xfrm>
          <a:prstGeom prst="roundRect">
            <a:avLst>
              <a:gd name="adj" fmla="val 50000"/>
            </a:avLst>
          </a:prstGeom>
          <a:solidFill>
            <a:srgbClr val="F87171">
              <a:alpha val="70000"/>
            </a:srgbClr>
          </a:solidFill>
          <a:ln>
            <a:noFill/>
          </a:ln>
        </p:spPr>
        <p:txBody>
          <a:bodyPr wrap="square" lIns="164592" tIns="109728" rIns="137160" bIns="91440" rtlCol="0" anchor="t">
            <a:noAutofit/>
          </a:bodyP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ppt_x</p:attrName>
                                        </p:attrNameLst>
                                      </p:cBhvr>
                                      <p:tavLst>
                                        <p:tav tm="0">
                                          <p:val>
                                            <p:strVal val="#ppt_x-0.05"/>
                                          </p:val>
                                        </p:tav>
                                        <p:tav tm="100000">
                                          <p:val>
                                            <p:strVal val="#ppt_x"/>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ppt_x</p:attrName>
                                        </p:attrNameLst>
                                      </p:cBhvr>
                                      <p:tavLst>
                                        <p:tav tm="0">
                                          <p:val>
                                            <p:strVal val="#ppt_x-0.05"/>
                                          </p:val>
                                        </p:tav>
                                        <p:tav tm="100000">
                                          <p:val>
                                            <p:strVal val="#ppt_x"/>
                                          </p:val>
                                        </p:tav>
                                      </p:tavLst>
                                    </p:anim>
                                  </p:childTnLst>
                                </p:cTn>
                              </p:par>
                              <p:par>
                                <p:cTn id="17" presetID="42" presetClass="entr" presetSubtype="0" fill="hold" grpId="0" nodeType="withEffect">
                                  <p:stCondLst>
                                    <p:cond delay="15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15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15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ppt_x</p:attrName>
                                        </p:attrNameLst>
                                      </p:cBhvr>
                                      <p:tavLst>
                                        <p:tav tm="0">
                                          <p:val>
                                            <p:strVal val="#ppt_x-0.05"/>
                                          </p:val>
                                        </p:tav>
                                        <p:tav tm="100000">
                                          <p:val>
                                            <p:strVal val="#ppt_x"/>
                                          </p:val>
                                        </p:tav>
                                      </p:tavLst>
                                    </p:anim>
                                  </p:childTnLst>
                                </p:cTn>
                              </p:par>
                              <p:par>
                                <p:cTn id="29" presetID="42" presetClass="entr" presetSubtype="0" fill="hold" grpId="0" nodeType="withEffect">
                                  <p:stCondLst>
                                    <p:cond delay="30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ppt_x</p:attrName>
                                        </p:attrNameLst>
                                      </p:cBhvr>
                                      <p:tavLst>
                                        <p:tav tm="0">
                                          <p:val>
                                            <p:strVal val="#ppt_x-0.05"/>
                                          </p:val>
                                        </p:tav>
                                        <p:tav tm="100000">
                                          <p:val>
                                            <p:strVal val="#ppt_x"/>
                                          </p:val>
                                        </p:tav>
                                      </p:tavLst>
                                    </p:anim>
                                  </p:childTnLst>
                                </p:cTn>
                              </p:par>
                              <p:par>
                                <p:cTn id="33" presetID="42" presetClass="entr" presetSubtype="0" fill="hold" grpId="0" nodeType="withEffect">
                                  <p:stCondLst>
                                    <p:cond delay="30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ppt_x</p:attrName>
                                        </p:attrNameLst>
                                      </p:cBhvr>
                                      <p:tavLst>
                                        <p:tav tm="0">
                                          <p:val>
                                            <p:strVal val="#ppt_x-0.05"/>
                                          </p:val>
                                        </p:tav>
                                        <p:tav tm="100000">
                                          <p:val>
                                            <p:strVal val="#ppt_x"/>
                                          </p:val>
                                        </p:tav>
                                      </p:tavLst>
                                    </p:anim>
                                  </p:childTnLst>
                                </p:cTn>
                              </p:par>
                              <p:par>
                                <p:cTn id="37" presetID="42" presetClass="entr" presetSubtype="0" fill="hold" grpId="0" nodeType="withEffect">
                                  <p:stCondLst>
                                    <p:cond delay="30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ppt_x</p:attrName>
                                        </p:attrNameLst>
                                      </p:cBhvr>
                                      <p:tavLst>
                                        <p:tav tm="0">
                                          <p:val>
                                            <p:strVal val="#ppt_x-0.05"/>
                                          </p:val>
                                        </p:tav>
                                        <p:tav tm="100000">
                                          <p:val>
                                            <p:strVal val="#ppt_x"/>
                                          </p:val>
                                        </p:tav>
                                      </p:tavLst>
                                    </p:anim>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53" presetClass="entr" presetSubtype="16" fill="hold" grpId="0" nodeType="clickEffect">
                                  <p:stCondLst>
                                    <p:cond delay="0"/>
                                  </p:stCondLst>
                                  <p:childTnLst>
                                    <p:set>
                                      <p:cBhvr>
                                        <p:cTn id="50" dur="1" fill="hold">
                                          <p:stCondLst>
                                            <p:cond delay="0"/>
                                          </p:stCondLst>
                                        </p:cTn>
                                        <p:tgtEl>
                                          <p:spTgt spid="111"/>
                                        </p:tgtEl>
                                        <p:attrNameLst>
                                          <p:attrName>style.visibility</p:attrName>
                                        </p:attrNameLst>
                                      </p:cBhvr>
                                      <p:to>
                                        <p:strVal val="visible"/>
                                      </p:to>
                                    </p:set>
                                    <p:anim calcmode="lin" valueType="num">
                                      <p:cBhvr additive="base">
                                        <p:cTn id="51" dur="500" decel="100000" fill="hold"/>
                                        <p:tgtEl>
                                          <p:spTgt spid="111"/>
                                        </p:tgtEl>
                                        <p:attrNameLst>
                                          <p:attrName>ppt_w</p:attrName>
                                        </p:attrNameLst>
                                      </p:cBhvr>
                                      <p:tavLst>
                                        <p:tav tm="0">
                                          <p:val>
                                            <p:strVal val="#ppt_w*0.3"/>
                                          </p:val>
                                        </p:tav>
                                        <p:tav tm="100000">
                                          <p:val>
                                            <p:strVal val="#ppt_w*1.08"/>
                                          </p:val>
                                        </p:tav>
                                      </p:tavLst>
                                    </p:anim>
                                    <p:anim calcmode="lin" valueType="num">
                                      <p:cBhvr additive="base">
                                        <p:cTn id="52" dur="500" decel="100000" fill="hold"/>
                                        <p:tgtEl>
                                          <p:spTgt spid="111"/>
                                        </p:tgtEl>
                                        <p:attrNameLst>
                                          <p:attrName>ppt_h</p:attrName>
                                        </p:attrNameLst>
                                      </p:cBhvr>
                                      <p:tavLst>
                                        <p:tav tm="0">
                                          <p:val>
                                            <p:strVal val="#ppt_h*0.3"/>
                                          </p:val>
                                        </p:tav>
                                        <p:tav tm="100000">
                                          <p:val>
                                            <p:strVal val="#ppt_h*1.08"/>
                                          </p:val>
                                        </p:tav>
                                      </p:tavLst>
                                    </p:anim>
                                    <p:animEffect transition="in" filter="fade">
                                      <p:cBhvr>
                                        <p:cTn id="53" dur="250"/>
                                        <p:tgtEl>
                                          <p:spTgt spid="111"/>
                                        </p:tgtEl>
                                      </p:cBhvr>
                                    </p:animEffect>
                                    <p:anim calcmode="lin" valueType="num">
                                      <p:cBhvr additive="base">
                                        <p:cTn id="54" dur="160" fill="hold">
                                          <p:stCondLst>
                                            <p:cond delay="500"/>
                                          </p:stCondLst>
                                        </p:cTn>
                                        <p:tgtEl>
                                          <p:spTgt spid="111"/>
                                        </p:tgtEl>
                                        <p:attrNameLst>
                                          <p:attrName>ppt_w</p:attrName>
                                        </p:attrNameLst>
                                      </p:cBhvr>
                                      <p:tavLst>
                                        <p:tav tm="0">
                                          <p:val>
                                            <p:strVal val="#ppt_w*1.08"/>
                                          </p:val>
                                        </p:tav>
                                        <p:tav tm="100000">
                                          <p:val>
                                            <p:strVal val="#ppt_w"/>
                                          </p:val>
                                        </p:tav>
                                      </p:tavLst>
                                    </p:anim>
                                    <p:anim calcmode="lin" valueType="num">
                                      <p:cBhvr additive="base">
                                        <p:cTn id="55" dur="160" fill="hold">
                                          <p:stCondLst>
                                            <p:cond delay="500"/>
                                          </p:stCondLst>
                                        </p:cTn>
                                        <p:tgtEl>
                                          <p:spTgt spid="111"/>
                                        </p:tgtEl>
                                        <p:attrNameLst>
                                          <p:attrName>ppt_h</p:attrName>
                                        </p:attrNameLst>
                                      </p:cBhvr>
                                      <p:tavLst>
                                        <p:tav tm="0">
                                          <p:val>
                                            <p:strVal val="#ppt_h*1.08"/>
                                          </p:val>
                                        </p:tav>
                                        <p:tav tm="100000">
                                          <p:val>
                                            <p:strVal val="#ppt_h"/>
                                          </p:val>
                                        </p:tav>
                                      </p:tavLst>
                                    </p:anim>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grpId="0" nodeType="clickEffect">
                                  <p:stCondLst>
                                    <p:cond delay="0"/>
                                  </p:stCondLst>
                                  <p:childTnLst>
                                    <p:set>
                                      <p:cBhvr>
                                        <p:cTn id="59" dur="1" fill="hold">
                                          <p:stCondLst>
                                            <p:cond delay="0"/>
                                          </p:stCondLst>
                                        </p:cTn>
                                        <p:tgtEl>
                                          <p:spTgt spid="112"/>
                                        </p:tgtEl>
                                        <p:attrNameLst>
                                          <p:attrName>style.visibility</p:attrName>
                                        </p:attrNameLst>
                                      </p:cBhvr>
                                      <p:to>
                                        <p:strVal val="visible"/>
                                      </p:to>
                                    </p:set>
                                    <p:animEffect transition="in" filter="fade">
                                      <p:cBhvr>
                                        <p:cTn id="60" dur="500"/>
                                        <p:tgtEl>
                                          <p:spTgt spid="112"/>
                                        </p:tgtEl>
                                      </p:cBhvr>
                                    </p:animEffect>
                                    <p:anim calcmode="lin" valueType="num">
                                      <p:cBhvr additive="base">
                                        <p:cTn id="61" dur="500" decel="100000" fill="hold"/>
                                        <p:tgtEl>
                                          <p:spTgt spid="112"/>
                                        </p:tgtEl>
                                        <p:attrNameLst>
                                          <p:attrName>ppt_x</p:attrName>
                                        </p:attrNameLst>
                                      </p:cBhvr>
                                      <p:tavLst>
                                        <p:tav tm="0">
                                          <p:val>
                                            <p:strVal val="#ppt_x-0.05"/>
                                          </p:val>
                                        </p:tav>
                                        <p:tav tm="100000">
                                          <p:val>
                                            <p:strVal val="#ppt_x"/>
                                          </p:val>
                                        </p:tav>
                                      </p:tavLst>
                                    </p:anim>
                                  </p:childTnLst>
                                </p:cTn>
                              </p:par>
                            </p:childTnLst>
                          </p:cTn>
                        </p:par>
                      </p:childTnLst>
                    </p:cTn>
                  </p:par>
                  <p:par>
                    <p:cTn id="62" fill="hold">
                      <p:stCondLst>
                        <p:cond delay="indefinite"/>
                      </p:stCondLst>
                      <p:childTnLst>
                        <p:par>
                          <p:cTn id="63" fill="hold">
                            <p:stCondLst>
                              <p:cond delay="0"/>
                            </p:stCondLst>
                            <p:childTnLst>
                              <p:par>
                                <p:cTn id="64" presetID="42" presetClass="entr" presetSubtype="0" fill="hold" nodeType="clickEffect">
                                  <p:stCondLst>
                                    <p:cond delay="0"/>
                                  </p:stCondLst>
                                  <p:childTnLst>
                                    <p:set>
                                      <p:cBhvr>
                                        <p:cTn id="65" dur="1" fill="hold">
                                          <p:stCondLst>
                                            <p:cond delay="0"/>
                                          </p:stCondLst>
                                        </p:cTn>
                                        <p:tgtEl>
                                          <p:spTgt spid="114"/>
                                        </p:tgtEl>
                                        <p:attrNameLst>
                                          <p:attrName>style.visibility</p:attrName>
                                        </p:attrNameLst>
                                      </p:cBhvr>
                                      <p:to>
                                        <p:strVal val="visible"/>
                                      </p:to>
                                    </p:set>
                                    <p:animEffect transition="in" filter="fade">
                                      <p:cBhvr>
                                        <p:cTn id="66" dur="500"/>
                                        <p:tgtEl>
                                          <p:spTgt spid="114"/>
                                        </p:tgtEl>
                                      </p:cBhvr>
                                    </p:animEffect>
                                    <p:anim calcmode="lin" valueType="num">
                                      <p:cBhvr additive="base">
                                        <p:cTn id="67" dur="500" decel="100000" fill="hold"/>
                                        <p:tgtEl>
                                          <p:spTgt spid="114"/>
                                        </p:tgtEl>
                                        <p:attrNameLst>
                                          <p:attrName>ppt_x</p:attrName>
                                        </p:attrNameLst>
                                      </p:cBhvr>
                                      <p:tavLst>
                                        <p:tav tm="0">
                                          <p:val>
                                            <p:strVal val="#ppt_x-0.05"/>
                                          </p:val>
                                        </p:tav>
                                        <p:tav tm="100000">
                                          <p:val>
                                            <p:strVal val="#ppt_x"/>
                                          </p:val>
                                        </p:tav>
                                      </p:tavLst>
                                    </p:anim>
                                  </p:childTnLst>
                                </p:cTn>
                              </p:par>
                              <p:par>
                                <p:cTn id="68" presetID="42" presetClass="entr" presetSubtype="0" fill="hold" grpId="0" nodeType="withEffect">
                                  <p:stCondLst>
                                    <p:cond delay="110"/>
                                  </p:stCondLst>
                                  <p:childTnLst>
                                    <p:set>
                                      <p:cBhvr>
                                        <p:cTn id="69" dur="1" fill="hold">
                                          <p:stCondLst>
                                            <p:cond delay="0"/>
                                          </p:stCondLst>
                                        </p:cTn>
                                        <p:tgtEl>
                                          <p:spTgt spid="113"/>
                                        </p:tgtEl>
                                        <p:attrNameLst>
                                          <p:attrName>style.visibility</p:attrName>
                                        </p:attrNameLst>
                                      </p:cBhvr>
                                      <p:to>
                                        <p:strVal val="visible"/>
                                      </p:to>
                                    </p:set>
                                    <p:animEffect transition="in" filter="fade">
                                      <p:cBhvr>
                                        <p:cTn id="70" dur="500"/>
                                        <p:tgtEl>
                                          <p:spTgt spid="113"/>
                                        </p:tgtEl>
                                      </p:cBhvr>
                                    </p:animEffect>
                                    <p:anim calcmode="lin" valueType="num">
                                      <p:cBhvr additive="base">
                                        <p:cTn id="71" dur="500" decel="100000" fill="hold"/>
                                        <p:tgtEl>
                                          <p:spTgt spid="113"/>
                                        </p:tgtEl>
                                        <p:attrNameLst>
                                          <p:attrName>ppt_x</p:attrName>
                                        </p:attrNameLst>
                                      </p:cBhvr>
                                      <p:tavLst>
                                        <p:tav tm="0">
                                          <p:val>
                                            <p:strVal val="#ppt_x-0.05"/>
                                          </p:val>
                                        </p:tav>
                                        <p:tav tm="100000">
                                          <p:val>
                                            <p:strVal val="#ppt_x"/>
                                          </p:val>
                                        </p:tav>
                                      </p:tavLst>
                                    </p:anim>
                                  </p:childTnLst>
                                </p:cTn>
                              </p:par>
                            </p:childTnLst>
                          </p:cTn>
                        </p:par>
                      </p:childTnLst>
                    </p:cTn>
                  </p:par>
                  <p:par>
                    <p:cTn id="72" fill="hold">
                      <p:stCondLst>
                        <p:cond delay="indefinite"/>
                      </p:stCondLst>
                      <p:childTnLst>
                        <p:par>
                          <p:cTn id="73" fill="hold">
                            <p:stCondLst>
                              <p:cond delay="0"/>
                            </p:stCondLst>
                            <p:childTnLst>
                              <p:par>
                                <p:cTn id="74" presetID="42" presetClass="entr" presetSubtype="0" fill="hold" nodeType="clickEffect">
                                  <p:stCondLst>
                                    <p:cond delay="0"/>
                                  </p:stCondLst>
                                  <p:childTnLst>
                                    <p:set>
                                      <p:cBhvr>
                                        <p:cTn id="75" dur="1" fill="hold">
                                          <p:stCondLst>
                                            <p:cond delay="0"/>
                                          </p:stCondLst>
                                        </p:cTn>
                                        <p:tgtEl>
                                          <p:spTgt spid="116"/>
                                        </p:tgtEl>
                                        <p:attrNameLst>
                                          <p:attrName>style.visibility</p:attrName>
                                        </p:attrNameLst>
                                      </p:cBhvr>
                                      <p:to>
                                        <p:strVal val="visible"/>
                                      </p:to>
                                    </p:set>
                                    <p:animEffect transition="in" filter="fade">
                                      <p:cBhvr>
                                        <p:cTn id="76" dur="500"/>
                                        <p:tgtEl>
                                          <p:spTgt spid="116"/>
                                        </p:tgtEl>
                                      </p:cBhvr>
                                    </p:animEffect>
                                    <p:anim calcmode="lin" valueType="num">
                                      <p:cBhvr additive="base">
                                        <p:cTn id="77" dur="500" decel="100000" fill="hold"/>
                                        <p:tgtEl>
                                          <p:spTgt spid="116"/>
                                        </p:tgtEl>
                                        <p:attrNameLst>
                                          <p:attrName>ppt_x</p:attrName>
                                        </p:attrNameLst>
                                      </p:cBhvr>
                                      <p:tavLst>
                                        <p:tav tm="0">
                                          <p:val>
                                            <p:strVal val="#ppt_x-0.05"/>
                                          </p:val>
                                        </p:tav>
                                        <p:tav tm="100000">
                                          <p:val>
                                            <p:strVal val="#ppt_x"/>
                                          </p:val>
                                        </p:tav>
                                      </p:tavLst>
                                    </p:anim>
                                  </p:childTnLst>
                                </p:cTn>
                              </p:par>
                              <p:par>
                                <p:cTn id="78" presetID="42" presetClass="entr" presetSubtype="0" fill="hold" grpId="0" nodeType="withEffect">
                                  <p:stCondLst>
                                    <p:cond delay="110"/>
                                  </p:stCondLst>
                                  <p:childTnLst>
                                    <p:set>
                                      <p:cBhvr>
                                        <p:cTn id="79" dur="1" fill="hold">
                                          <p:stCondLst>
                                            <p:cond delay="0"/>
                                          </p:stCondLst>
                                        </p:cTn>
                                        <p:tgtEl>
                                          <p:spTgt spid="115"/>
                                        </p:tgtEl>
                                        <p:attrNameLst>
                                          <p:attrName>style.visibility</p:attrName>
                                        </p:attrNameLst>
                                      </p:cBhvr>
                                      <p:to>
                                        <p:strVal val="visible"/>
                                      </p:to>
                                    </p:set>
                                    <p:animEffect transition="in" filter="fade">
                                      <p:cBhvr>
                                        <p:cTn id="80" dur="500"/>
                                        <p:tgtEl>
                                          <p:spTgt spid="115"/>
                                        </p:tgtEl>
                                      </p:cBhvr>
                                    </p:animEffect>
                                    <p:anim calcmode="lin" valueType="num">
                                      <p:cBhvr additive="base">
                                        <p:cTn id="81" dur="500" decel="100000" fill="hold"/>
                                        <p:tgtEl>
                                          <p:spTgt spid="115"/>
                                        </p:tgtEl>
                                        <p:attrNameLst>
                                          <p:attrName>ppt_x</p:attrName>
                                        </p:attrNameLst>
                                      </p:cBhvr>
                                      <p:tavLst>
                                        <p:tav tm="0">
                                          <p:val>
                                            <p:strVal val="#ppt_x-0.05"/>
                                          </p:val>
                                        </p:tav>
                                        <p:tav tm="100000">
                                          <p:val>
                                            <p:strVal val="#ppt_x"/>
                                          </p:val>
                                        </p:tav>
                                      </p:tavLst>
                                    </p:anim>
                                  </p:childTnLst>
                                </p:cTn>
                              </p:par>
                            </p:childTnLst>
                          </p:cTn>
                        </p:par>
                      </p:childTnLst>
                    </p:cTn>
                  </p:par>
                  <p:par>
                    <p:cTn id="82" fill="hold">
                      <p:stCondLst>
                        <p:cond delay="indefinite"/>
                      </p:stCondLst>
                      <p:childTnLst>
                        <p:par>
                          <p:cTn id="83" fill="hold">
                            <p:stCondLst>
                              <p:cond delay="0"/>
                            </p:stCondLst>
                            <p:childTnLst>
                              <p:par>
                                <p:cTn id="84" presetID="42" presetClass="entr" presetSubtype="0" fill="hold" nodeType="clickEffect">
                                  <p:stCondLst>
                                    <p:cond delay="0"/>
                                  </p:stCondLst>
                                  <p:childTnLst>
                                    <p:set>
                                      <p:cBhvr>
                                        <p:cTn id="85" dur="1" fill="hold">
                                          <p:stCondLst>
                                            <p:cond delay="0"/>
                                          </p:stCondLst>
                                        </p:cTn>
                                        <p:tgtEl>
                                          <p:spTgt spid="118"/>
                                        </p:tgtEl>
                                        <p:attrNameLst>
                                          <p:attrName>style.visibility</p:attrName>
                                        </p:attrNameLst>
                                      </p:cBhvr>
                                      <p:to>
                                        <p:strVal val="visible"/>
                                      </p:to>
                                    </p:set>
                                    <p:animEffect transition="in" filter="fade">
                                      <p:cBhvr>
                                        <p:cTn id="86" dur="500"/>
                                        <p:tgtEl>
                                          <p:spTgt spid="118"/>
                                        </p:tgtEl>
                                      </p:cBhvr>
                                    </p:animEffect>
                                    <p:anim calcmode="lin" valueType="num">
                                      <p:cBhvr additive="base">
                                        <p:cTn id="87" dur="500" decel="100000" fill="hold"/>
                                        <p:tgtEl>
                                          <p:spTgt spid="118"/>
                                        </p:tgtEl>
                                        <p:attrNameLst>
                                          <p:attrName>ppt_x</p:attrName>
                                        </p:attrNameLst>
                                      </p:cBhvr>
                                      <p:tavLst>
                                        <p:tav tm="0">
                                          <p:val>
                                            <p:strVal val="#ppt_x-0.05"/>
                                          </p:val>
                                        </p:tav>
                                        <p:tav tm="100000">
                                          <p:val>
                                            <p:strVal val="#ppt_x"/>
                                          </p:val>
                                        </p:tav>
                                      </p:tavLst>
                                    </p:anim>
                                  </p:childTnLst>
                                </p:cTn>
                              </p:par>
                              <p:par>
                                <p:cTn id="88" presetID="42" presetClass="entr" presetSubtype="0" fill="hold" grpId="0" nodeType="withEffect">
                                  <p:stCondLst>
                                    <p:cond delay="110"/>
                                  </p:stCondLst>
                                  <p:childTnLst>
                                    <p:set>
                                      <p:cBhvr>
                                        <p:cTn id="89" dur="1" fill="hold">
                                          <p:stCondLst>
                                            <p:cond delay="0"/>
                                          </p:stCondLst>
                                        </p:cTn>
                                        <p:tgtEl>
                                          <p:spTgt spid="117"/>
                                        </p:tgtEl>
                                        <p:attrNameLst>
                                          <p:attrName>style.visibility</p:attrName>
                                        </p:attrNameLst>
                                      </p:cBhvr>
                                      <p:to>
                                        <p:strVal val="visible"/>
                                      </p:to>
                                    </p:set>
                                    <p:animEffect transition="in" filter="fade">
                                      <p:cBhvr>
                                        <p:cTn id="90" dur="500"/>
                                        <p:tgtEl>
                                          <p:spTgt spid="117"/>
                                        </p:tgtEl>
                                      </p:cBhvr>
                                    </p:animEffect>
                                    <p:anim calcmode="lin" valueType="num">
                                      <p:cBhvr additive="base">
                                        <p:cTn id="91" dur="500" decel="100000" fill="hold"/>
                                        <p:tgtEl>
                                          <p:spTgt spid="117"/>
                                        </p:tgtEl>
                                        <p:attrNameLst>
                                          <p:attrName>ppt_x</p:attrName>
                                        </p:attrNameLst>
                                      </p:cBhvr>
                                      <p:tavLst>
                                        <p:tav tm="0">
                                          <p:val>
                                            <p:strVal val="#ppt_x-0.05"/>
                                          </p:val>
                                        </p:tav>
                                        <p:tav tm="100000">
                                          <p:val>
                                            <p:strVal val="#ppt_x"/>
                                          </p:val>
                                        </p:tav>
                                      </p:tavLst>
                                    </p:anim>
                                  </p:childTnLst>
                                </p:cTn>
                              </p:par>
                            </p:childTnLst>
                          </p:cTn>
                        </p:par>
                      </p:childTnLst>
                    </p:cTn>
                  </p:par>
                  <p:par>
                    <p:cTn id="92" fill="hold">
                      <p:stCondLst>
                        <p:cond delay="indefinite"/>
                      </p:stCondLst>
                      <p:childTnLst>
                        <p:par>
                          <p:cTn id="93" fill="hold">
                            <p:stCondLst>
                              <p:cond delay="0"/>
                            </p:stCondLst>
                            <p:childTnLst>
                              <p:par>
                                <p:cTn id="94" presetID="42" presetClass="entr" presetSubtype="0" fill="hold" grpId="0" nodeType="clickEffect">
                                  <p:stCondLst>
                                    <p:cond delay="0"/>
                                  </p:stCondLst>
                                  <p:childTnLst>
                                    <p:set>
                                      <p:cBhvr>
                                        <p:cTn id="95" dur="1" fill="hold">
                                          <p:stCondLst>
                                            <p:cond delay="0"/>
                                          </p:stCondLst>
                                        </p:cTn>
                                        <p:tgtEl>
                                          <p:spTgt spid="119"/>
                                        </p:tgtEl>
                                        <p:attrNameLst>
                                          <p:attrName>style.visibility</p:attrName>
                                        </p:attrNameLst>
                                      </p:cBhvr>
                                      <p:to>
                                        <p:strVal val="visible"/>
                                      </p:to>
                                    </p:set>
                                    <p:animEffect transition="in" filter="fade">
                                      <p:cBhvr>
                                        <p:cTn id="96" dur="500"/>
                                        <p:tgtEl>
                                          <p:spTgt spid="119"/>
                                        </p:tgtEl>
                                      </p:cBhvr>
                                    </p:animEffect>
                                    <p:anim calcmode="lin" valueType="num">
                                      <p:cBhvr additive="base">
                                        <p:cTn id="97" dur="5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par>
                    <p:cTn id="98" fill="hold">
                      <p:stCondLst>
                        <p:cond delay="indefinite"/>
                      </p:stCondLst>
                      <p:childTnLst>
                        <p:par>
                          <p:cTn id="99" fill="hold">
                            <p:stCondLst>
                              <p:cond delay="0"/>
                            </p:stCondLst>
                            <p:childTnLst>
                              <p:par>
                                <p:cTn id="100" presetID="42" presetClass="entr" presetSubtype="0" fill="hold" grpId="0" nodeType="clickEffect">
                                  <p:stCondLst>
                                    <p:cond delay="0"/>
                                  </p:stCondLst>
                                  <p:childTnLst>
                                    <p:set>
                                      <p:cBhvr>
                                        <p:cTn id="101" dur="1" fill="hold">
                                          <p:stCondLst>
                                            <p:cond delay="0"/>
                                          </p:stCondLst>
                                        </p:cTn>
                                        <p:tgtEl>
                                          <p:spTgt spid="120"/>
                                        </p:tgtEl>
                                        <p:attrNameLst>
                                          <p:attrName>style.visibility</p:attrName>
                                        </p:attrNameLst>
                                      </p:cBhvr>
                                      <p:to>
                                        <p:strVal val="visible"/>
                                      </p:to>
                                    </p:set>
                                    <p:animEffect transition="in" filter="fade">
                                      <p:cBhvr>
                                        <p:cTn id="102" dur="500"/>
                                        <p:tgtEl>
                                          <p:spTgt spid="120"/>
                                        </p:tgtEl>
                                      </p:cBhvr>
                                    </p:animEffect>
                                    <p:anim calcmode="lin" valueType="num">
                                      <p:cBhvr additive="base">
                                        <p:cTn id="103" dur="500" decel="100000" fill="hold"/>
                                        <p:tgtEl>
                                          <p:spTgt spid="120"/>
                                        </p:tgtEl>
                                        <p:attrNameLst>
                                          <p:attrName>ppt_x</p:attrName>
                                        </p:attrNameLst>
                                      </p:cBhvr>
                                      <p:tavLst>
                                        <p:tav tm="0">
                                          <p:val>
                                            <p:strVal val="#ppt_x-0.05"/>
                                          </p:val>
                                        </p:tav>
                                        <p:tav tm="100000">
                                          <p:val>
                                            <p:strVal val="#ppt_x"/>
                                          </p:val>
                                        </p:tav>
                                      </p:tavLst>
                                    </p:anim>
                                  </p:childTnLst>
                                </p:cTn>
                              </p:par>
                              <p:par>
                                <p:cTn id="104" presetID="42" presetClass="entr" presetSubtype="0" fill="hold" grpId="0" nodeType="withEffect">
                                  <p:stCondLst>
                                    <p:cond delay="100"/>
                                  </p:stCondLst>
                                  <p:childTnLst>
                                    <p:set>
                                      <p:cBhvr>
                                        <p:cTn id="105" dur="1" fill="hold">
                                          <p:stCondLst>
                                            <p:cond delay="0"/>
                                          </p:stCondLst>
                                        </p:cTn>
                                        <p:tgtEl>
                                          <p:spTgt spid="121"/>
                                        </p:tgtEl>
                                        <p:attrNameLst>
                                          <p:attrName>style.visibility</p:attrName>
                                        </p:attrNameLst>
                                      </p:cBhvr>
                                      <p:to>
                                        <p:strVal val="visible"/>
                                      </p:to>
                                    </p:set>
                                    <p:animEffect transition="in" filter="fade">
                                      <p:cBhvr>
                                        <p:cTn id="106" dur="500"/>
                                        <p:tgtEl>
                                          <p:spTgt spid="121"/>
                                        </p:tgtEl>
                                      </p:cBhvr>
                                    </p:animEffect>
                                    <p:anim calcmode="lin" valueType="num">
                                      <p:cBhvr additive="base">
                                        <p:cTn id="107" dur="500" decel="100000" fill="hold"/>
                                        <p:tgtEl>
                                          <p:spTgt spid="121"/>
                                        </p:tgtEl>
                                        <p:attrNameLst>
                                          <p:attrName>ppt_x</p:attrName>
                                        </p:attrNameLst>
                                      </p:cBhvr>
                                      <p:tavLst>
                                        <p:tav tm="0">
                                          <p:val>
                                            <p:strVal val="#ppt_x-0.05"/>
                                          </p:val>
                                        </p:tav>
                                        <p:tav tm="100000">
                                          <p:val>
                                            <p:strVal val="#ppt_x"/>
                                          </p:val>
                                        </p:tav>
                                      </p:tavLst>
                                    </p:anim>
                                  </p:childTnLst>
                                </p:cTn>
                              </p:par>
                              <p:par>
                                <p:cTn id="108" presetID="42" presetClass="entr" presetSubtype="0" fill="hold" grpId="0" nodeType="withEffect">
                                  <p:stCondLst>
                                    <p:cond delay="200"/>
                                  </p:stCondLst>
                                  <p:childTnLst>
                                    <p:set>
                                      <p:cBhvr>
                                        <p:cTn id="109" dur="1" fill="hold">
                                          <p:stCondLst>
                                            <p:cond delay="0"/>
                                          </p:stCondLst>
                                        </p:cTn>
                                        <p:tgtEl>
                                          <p:spTgt spid="122"/>
                                        </p:tgtEl>
                                        <p:attrNameLst>
                                          <p:attrName>style.visibility</p:attrName>
                                        </p:attrNameLst>
                                      </p:cBhvr>
                                      <p:to>
                                        <p:strVal val="visible"/>
                                      </p:to>
                                    </p:set>
                                    <p:animEffect transition="in" filter="fade">
                                      <p:cBhvr>
                                        <p:cTn id="110" dur="500"/>
                                        <p:tgtEl>
                                          <p:spTgt spid="122"/>
                                        </p:tgtEl>
                                      </p:cBhvr>
                                    </p:animEffect>
                                    <p:anim calcmode="lin" valueType="num">
                                      <p:cBhvr additive="base">
                                        <p:cTn id="111" dur="500" decel="100000" fill="hold"/>
                                        <p:tgtEl>
                                          <p:spTgt spid="122"/>
                                        </p:tgtEl>
                                        <p:attrNameLst>
                                          <p:attrName>ppt_x</p:attrName>
                                        </p:attrNameLst>
                                      </p:cBhvr>
                                      <p:tavLst>
                                        <p:tav tm="0">
                                          <p:val>
                                            <p:strVal val="#ppt_x-0.05"/>
                                          </p:val>
                                        </p:tav>
                                        <p:tav tm="100000">
                                          <p:val>
                                            <p:strVal val="#ppt_x"/>
                                          </p:val>
                                        </p:tav>
                                      </p:tavLst>
                                    </p:anim>
                                  </p:childTnLst>
                                </p:cTn>
                              </p:par>
                              <p:par>
                                <p:cTn id="112" presetID="42" presetClass="entr" presetSubtype="0" fill="hold" grpId="0" nodeType="withEffect">
                                  <p:stCondLst>
                                    <p:cond delay="300"/>
                                  </p:stCondLst>
                                  <p:childTnLst>
                                    <p:set>
                                      <p:cBhvr>
                                        <p:cTn id="113" dur="1" fill="hold">
                                          <p:stCondLst>
                                            <p:cond delay="0"/>
                                          </p:stCondLst>
                                        </p:cTn>
                                        <p:tgtEl>
                                          <p:spTgt spid="123"/>
                                        </p:tgtEl>
                                        <p:attrNameLst>
                                          <p:attrName>style.visibility</p:attrName>
                                        </p:attrNameLst>
                                      </p:cBhvr>
                                      <p:to>
                                        <p:strVal val="visible"/>
                                      </p:to>
                                    </p:set>
                                    <p:animEffect transition="in" filter="fade">
                                      <p:cBhvr>
                                        <p:cTn id="114" dur="500"/>
                                        <p:tgtEl>
                                          <p:spTgt spid="123"/>
                                        </p:tgtEl>
                                      </p:cBhvr>
                                    </p:animEffect>
                                    <p:anim calcmode="lin" valueType="num">
                                      <p:cBhvr additive="base">
                                        <p:cTn id="115" dur="500" decel="100000" fill="hold"/>
                                        <p:tgtEl>
                                          <p:spTgt spid="123"/>
                                        </p:tgtEl>
                                        <p:attrNameLst>
                                          <p:attrName>ppt_x</p:attrName>
                                        </p:attrNameLst>
                                      </p:cBhvr>
                                      <p:tavLst>
                                        <p:tav tm="0">
                                          <p:val>
                                            <p:strVal val="#ppt_x-0.05"/>
                                          </p:val>
                                        </p:tav>
                                        <p:tav tm="100000">
                                          <p:val>
                                            <p:strVal val="#ppt_x"/>
                                          </p:val>
                                        </p:tav>
                                      </p:tavLst>
                                    </p:anim>
                                  </p:childTnLst>
                                </p:cTn>
                              </p:par>
                              <p:par>
                                <p:cTn id="116" presetID="42" presetClass="entr" presetSubtype="0" fill="hold" grpId="0" nodeType="withEffect">
                                  <p:stCondLst>
                                    <p:cond delay="400"/>
                                  </p:stCondLst>
                                  <p:childTnLst>
                                    <p:set>
                                      <p:cBhvr>
                                        <p:cTn id="117" dur="1" fill="hold">
                                          <p:stCondLst>
                                            <p:cond delay="0"/>
                                          </p:stCondLst>
                                        </p:cTn>
                                        <p:tgtEl>
                                          <p:spTgt spid="124"/>
                                        </p:tgtEl>
                                        <p:attrNameLst>
                                          <p:attrName>style.visibility</p:attrName>
                                        </p:attrNameLst>
                                      </p:cBhvr>
                                      <p:to>
                                        <p:strVal val="visible"/>
                                      </p:to>
                                    </p:set>
                                    <p:animEffect transition="in" filter="fade">
                                      <p:cBhvr>
                                        <p:cTn id="118" dur="500"/>
                                        <p:tgtEl>
                                          <p:spTgt spid="124"/>
                                        </p:tgtEl>
                                      </p:cBhvr>
                                    </p:animEffect>
                                    <p:anim calcmode="lin" valueType="num">
                                      <p:cBhvr additive="base">
                                        <p:cTn id="119" dur="500" decel="100000" fill="hold"/>
                                        <p:tgtEl>
                                          <p:spTgt spid="124"/>
                                        </p:tgtEl>
                                        <p:attrNameLst>
                                          <p:attrName>ppt_x</p:attrName>
                                        </p:attrNameLst>
                                      </p:cBhvr>
                                      <p:tavLst>
                                        <p:tav tm="0">
                                          <p:val>
                                            <p:strVal val="#ppt_x-0.05"/>
                                          </p:val>
                                        </p:tav>
                                        <p:tav tm="100000">
                                          <p:val>
                                            <p:strVal val="#ppt_x"/>
                                          </p:val>
                                        </p:tav>
                                      </p:tavLst>
                                    </p:anim>
                                  </p:childTnLst>
                                </p:cTn>
                              </p:par>
                            </p:childTnLst>
                          </p:cTn>
                        </p:par>
                      </p:childTnLst>
                    </p:cTn>
                  </p:par>
                  <p:par>
                    <p:cTn id="120" fill="hold">
                      <p:stCondLst>
                        <p:cond delay="indefinite"/>
                      </p:stCondLst>
                      <p:childTnLst>
                        <p:par>
                          <p:cTn id="121" fill="hold">
                            <p:stCondLst>
                              <p:cond delay="0"/>
                            </p:stCondLst>
                            <p:childTnLst>
                              <p:par>
                                <p:cTn id="122" presetID="42" presetClass="entr" presetSubtype="0" fill="hold" grpId="0" nodeType="clickEffect">
                                  <p:stCondLst>
                                    <p:cond delay="0"/>
                                  </p:stCondLst>
                                  <p:childTnLst>
                                    <p:set>
                                      <p:cBhvr>
                                        <p:cTn id="123" dur="1" fill="hold">
                                          <p:stCondLst>
                                            <p:cond delay="0"/>
                                          </p:stCondLst>
                                        </p:cTn>
                                        <p:tgtEl>
                                          <p:spTgt spid="126"/>
                                        </p:tgtEl>
                                        <p:attrNameLst>
                                          <p:attrName>style.visibility</p:attrName>
                                        </p:attrNameLst>
                                      </p:cBhvr>
                                      <p:to>
                                        <p:strVal val="visible"/>
                                      </p:to>
                                    </p:set>
                                    <p:animEffect transition="in" filter="fade">
                                      <p:cBhvr>
                                        <p:cTn id="124" dur="500"/>
                                        <p:tgtEl>
                                          <p:spTgt spid="126"/>
                                        </p:tgtEl>
                                      </p:cBhvr>
                                    </p:animEffect>
                                    <p:anim calcmode="lin" valueType="num">
                                      <p:cBhvr additive="base">
                                        <p:cTn id="125" dur="500" decel="100000" fill="hold"/>
                                        <p:tgtEl>
                                          <p:spTgt spid="126"/>
                                        </p:tgtEl>
                                        <p:attrNameLst>
                                          <p:attrName>ppt_x</p:attrName>
                                        </p:attrNameLst>
                                      </p:cBhvr>
                                      <p:tavLst>
                                        <p:tav tm="0">
                                          <p:val>
                                            <p:strVal val="#ppt_x-0.05"/>
                                          </p:val>
                                        </p:tav>
                                        <p:tav tm="100000">
                                          <p:val>
                                            <p:strVal val="#ppt_x"/>
                                          </p:val>
                                        </p:tav>
                                      </p:tavLst>
                                    </p:anim>
                                  </p:childTnLst>
                                </p:cTn>
                              </p:par>
                              <p:par>
                                <p:cTn id="126" presetID="42" presetClass="entr" presetSubtype="0" fill="hold" grpId="0" nodeType="withEffect">
                                  <p:stCondLst>
                                    <p:cond delay="0"/>
                                  </p:stCondLst>
                                  <p:childTnLst>
                                    <p:set>
                                      <p:cBhvr>
                                        <p:cTn id="127" dur="1" fill="hold">
                                          <p:stCondLst>
                                            <p:cond delay="0"/>
                                          </p:stCondLst>
                                        </p:cTn>
                                        <p:tgtEl>
                                          <p:spTgt spid="127"/>
                                        </p:tgtEl>
                                        <p:attrNameLst>
                                          <p:attrName>style.visibility</p:attrName>
                                        </p:attrNameLst>
                                      </p:cBhvr>
                                      <p:to>
                                        <p:strVal val="visible"/>
                                      </p:to>
                                    </p:set>
                                    <p:animEffect transition="in" filter="fade">
                                      <p:cBhvr>
                                        <p:cTn id="128" dur="500"/>
                                        <p:tgtEl>
                                          <p:spTgt spid="127"/>
                                        </p:tgtEl>
                                      </p:cBhvr>
                                    </p:animEffect>
                                    <p:anim calcmode="lin" valueType="num">
                                      <p:cBhvr additive="base">
                                        <p:cTn id="129" dur="500" decel="100000" fill="hold"/>
                                        <p:tgtEl>
                                          <p:spTgt spid="127"/>
                                        </p:tgtEl>
                                        <p:attrNameLst>
                                          <p:attrName>ppt_x</p:attrName>
                                        </p:attrNameLst>
                                      </p:cBhvr>
                                      <p:tavLst>
                                        <p:tav tm="0">
                                          <p:val>
                                            <p:strVal val="#ppt_x-0.05"/>
                                          </p:val>
                                        </p:tav>
                                        <p:tav tm="100000">
                                          <p:val>
                                            <p:strVal val="#ppt_x"/>
                                          </p:val>
                                        </p:tav>
                                      </p:tavLst>
                                    </p:anim>
                                  </p:childTnLst>
                                </p:cTn>
                              </p:par>
                              <p:par>
                                <p:cTn id="130" presetID="42" presetClass="entr" presetSubtype="0" fill="hold" grpId="0" nodeType="withEffect">
                                  <p:stCondLst>
                                    <p:cond delay="0"/>
                                  </p:stCondLst>
                                  <p:childTnLst>
                                    <p:set>
                                      <p:cBhvr>
                                        <p:cTn id="131" dur="1" fill="hold">
                                          <p:stCondLst>
                                            <p:cond delay="0"/>
                                          </p:stCondLst>
                                        </p:cTn>
                                        <p:tgtEl>
                                          <p:spTgt spid="128"/>
                                        </p:tgtEl>
                                        <p:attrNameLst>
                                          <p:attrName>style.visibility</p:attrName>
                                        </p:attrNameLst>
                                      </p:cBhvr>
                                      <p:to>
                                        <p:strVal val="visible"/>
                                      </p:to>
                                    </p:set>
                                    <p:animEffect transition="in" filter="fade">
                                      <p:cBhvr>
                                        <p:cTn id="132" dur="500"/>
                                        <p:tgtEl>
                                          <p:spTgt spid="128"/>
                                        </p:tgtEl>
                                      </p:cBhvr>
                                    </p:animEffect>
                                    <p:anim calcmode="lin" valueType="num">
                                      <p:cBhvr additive="base">
                                        <p:cTn id="133" dur="500" decel="100000" fill="hold"/>
                                        <p:tgtEl>
                                          <p:spTgt spid="128"/>
                                        </p:tgtEl>
                                        <p:attrNameLst>
                                          <p:attrName>ppt_x</p:attrName>
                                        </p:attrNameLst>
                                      </p:cBhvr>
                                      <p:tavLst>
                                        <p:tav tm="0">
                                          <p:val>
                                            <p:strVal val="#ppt_x-0.05"/>
                                          </p:val>
                                        </p:tav>
                                        <p:tav tm="100000">
                                          <p:val>
                                            <p:strVal val="#ppt_x"/>
                                          </p:val>
                                        </p:tav>
                                      </p:tavLst>
                                    </p:anim>
                                  </p:childTnLst>
                                </p:cTn>
                              </p:par>
                              <p:par>
                                <p:cTn id="134" presetID="42" presetClass="entr" presetSubtype="0" fill="hold" grpId="0" nodeType="withEffect">
                                  <p:stCondLst>
                                    <p:cond delay="0"/>
                                  </p:stCondLst>
                                  <p:childTnLst>
                                    <p:set>
                                      <p:cBhvr>
                                        <p:cTn id="135" dur="1" fill="hold">
                                          <p:stCondLst>
                                            <p:cond delay="0"/>
                                          </p:stCondLst>
                                        </p:cTn>
                                        <p:tgtEl>
                                          <p:spTgt spid="129"/>
                                        </p:tgtEl>
                                        <p:attrNameLst>
                                          <p:attrName>style.visibility</p:attrName>
                                        </p:attrNameLst>
                                      </p:cBhvr>
                                      <p:to>
                                        <p:strVal val="visible"/>
                                      </p:to>
                                    </p:set>
                                    <p:animEffect transition="in" filter="fade">
                                      <p:cBhvr>
                                        <p:cTn id="136" dur="500"/>
                                        <p:tgtEl>
                                          <p:spTgt spid="129"/>
                                        </p:tgtEl>
                                      </p:cBhvr>
                                    </p:animEffect>
                                    <p:anim calcmode="lin" valueType="num">
                                      <p:cBhvr additive="base">
                                        <p:cTn id="137" dur="500" decel="100000" fill="hold"/>
                                        <p:tgtEl>
                                          <p:spTgt spid="129"/>
                                        </p:tgtEl>
                                        <p:attrNameLst>
                                          <p:attrName>ppt_x</p:attrName>
                                        </p:attrNameLst>
                                      </p:cBhvr>
                                      <p:tavLst>
                                        <p:tav tm="0">
                                          <p:val>
                                            <p:strVal val="#ppt_x-0.05"/>
                                          </p:val>
                                        </p:tav>
                                        <p:tav tm="100000">
                                          <p:val>
                                            <p:strVal val="#ppt_x"/>
                                          </p:val>
                                        </p:tav>
                                      </p:tavLst>
                                    </p:anim>
                                  </p:childTnLst>
                                </p:cTn>
                              </p:par>
                              <p:par>
                                <p:cTn id="138" presetID="42" presetClass="entr" presetSubtype="0" fill="hold" grpId="0" nodeType="withEffect">
                                  <p:stCondLst>
                                    <p:cond delay="120"/>
                                  </p:stCondLst>
                                  <p:childTnLst>
                                    <p:set>
                                      <p:cBhvr>
                                        <p:cTn id="139" dur="1" fill="hold">
                                          <p:stCondLst>
                                            <p:cond delay="0"/>
                                          </p:stCondLst>
                                        </p:cTn>
                                        <p:tgtEl>
                                          <p:spTgt spid="130"/>
                                        </p:tgtEl>
                                        <p:attrNameLst>
                                          <p:attrName>style.visibility</p:attrName>
                                        </p:attrNameLst>
                                      </p:cBhvr>
                                      <p:to>
                                        <p:strVal val="visible"/>
                                      </p:to>
                                    </p:set>
                                    <p:animEffect transition="in" filter="fade">
                                      <p:cBhvr>
                                        <p:cTn id="140" dur="500"/>
                                        <p:tgtEl>
                                          <p:spTgt spid="130"/>
                                        </p:tgtEl>
                                      </p:cBhvr>
                                    </p:animEffect>
                                    <p:anim calcmode="lin" valueType="num">
                                      <p:cBhvr additive="base">
                                        <p:cTn id="141" dur="500" decel="100000" fill="hold"/>
                                        <p:tgtEl>
                                          <p:spTgt spid="130"/>
                                        </p:tgtEl>
                                        <p:attrNameLst>
                                          <p:attrName>ppt_x</p:attrName>
                                        </p:attrNameLst>
                                      </p:cBhvr>
                                      <p:tavLst>
                                        <p:tav tm="0">
                                          <p:val>
                                            <p:strVal val="#ppt_x-0.05"/>
                                          </p:val>
                                        </p:tav>
                                        <p:tav tm="100000">
                                          <p:val>
                                            <p:strVal val="#ppt_x"/>
                                          </p:val>
                                        </p:tav>
                                      </p:tavLst>
                                    </p:anim>
                                  </p:childTnLst>
                                </p:cTn>
                              </p:par>
                              <p:par>
                                <p:cTn id="142" presetID="42" presetClass="entr" presetSubtype="0" fill="hold" grpId="0" nodeType="withEffect">
                                  <p:stCondLst>
                                    <p:cond delay="120"/>
                                  </p:stCondLst>
                                  <p:childTnLst>
                                    <p:set>
                                      <p:cBhvr>
                                        <p:cTn id="143" dur="1" fill="hold">
                                          <p:stCondLst>
                                            <p:cond delay="0"/>
                                          </p:stCondLst>
                                        </p:cTn>
                                        <p:tgtEl>
                                          <p:spTgt spid="131"/>
                                        </p:tgtEl>
                                        <p:attrNameLst>
                                          <p:attrName>style.visibility</p:attrName>
                                        </p:attrNameLst>
                                      </p:cBhvr>
                                      <p:to>
                                        <p:strVal val="visible"/>
                                      </p:to>
                                    </p:set>
                                    <p:animEffect transition="in" filter="fade">
                                      <p:cBhvr>
                                        <p:cTn id="144" dur="500"/>
                                        <p:tgtEl>
                                          <p:spTgt spid="131"/>
                                        </p:tgtEl>
                                      </p:cBhvr>
                                    </p:animEffect>
                                    <p:anim calcmode="lin" valueType="num">
                                      <p:cBhvr additive="base">
                                        <p:cTn id="145" dur="500" decel="100000" fill="hold"/>
                                        <p:tgtEl>
                                          <p:spTgt spid="131"/>
                                        </p:tgtEl>
                                        <p:attrNameLst>
                                          <p:attrName>ppt_x</p:attrName>
                                        </p:attrNameLst>
                                      </p:cBhvr>
                                      <p:tavLst>
                                        <p:tav tm="0">
                                          <p:val>
                                            <p:strVal val="#ppt_x-0.05"/>
                                          </p:val>
                                        </p:tav>
                                        <p:tav tm="100000">
                                          <p:val>
                                            <p:strVal val="#ppt_x"/>
                                          </p:val>
                                        </p:tav>
                                      </p:tavLst>
                                    </p:anim>
                                  </p:childTnLst>
                                </p:cTn>
                              </p:par>
                              <p:par>
                                <p:cTn id="146" presetID="42" presetClass="entr" presetSubtype="0" fill="hold" grpId="0" nodeType="withEffect">
                                  <p:stCondLst>
                                    <p:cond delay="120"/>
                                  </p:stCondLst>
                                  <p:childTnLst>
                                    <p:set>
                                      <p:cBhvr>
                                        <p:cTn id="147" dur="1" fill="hold">
                                          <p:stCondLst>
                                            <p:cond delay="0"/>
                                          </p:stCondLst>
                                        </p:cTn>
                                        <p:tgtEl>
                                          <p:spTgt spid="132"/>
                                        </p:tgtEl>
                                        <p:attrNameLst>
                                          <p:attrName>style.visibility</p:attrName>
                                        </p:attrNameLst>
                                      </p:cBhvr>
                                      <p:to>
                                        <p:strVal val="visible"/>
                                      </p:to>
                                    </p:set>
                                    <p:animEffect transition="in" filter="fade">
                                      <p:cBhvr>
                                        <p:cTn id="148" dur="500"/>
                                        <p:tgtEl>
                                          <p:spTgt spid="132"/>
                                        </p:tgtEl>
                                      </p:cBhvr>
                                    </p:animEffect>
                                    <p:anim calcmode="lin" valueType="num">
                                      <p:cBhvr additive="base">
                                        <p:cTn id="149" dur="500" decel="100000" fill="hold"/>
                                        <p:tgtEl>
                                          <p:spTgt spid="132"/>
                                        </p:tgtEl>
                                        <p:attrNameLst>
                                          <p:attrName>ppt_x</p:attrName>
                                        </p:attrNameLst>
                                      </p:cBhvr>
                                      <p:tavLst>
                                        <p:tav tm="0">
                                          <p:val>
                                            <p:strVal val="#ppt_x-0.05"/>
                                          </p:val>
                                        </p:tav>
                                        <p:tav tm="100000">
                                          <p:val>
                                            <p:strVal val="#ppt_x"/>
                                          </p:val>
                                        </p:tav>
                                      </p:tavLst>
                                    </p:anim>
                                  </p:childTnLst>
                                </p:cTn>
                              </p:par>
                              <p:par>
                                <p:cTn id="150" presetID="42" presetClass="entr" presetSubtype="0" fill="hold" grpId="0" nodeType="withEffect">
                                  <p:stCondLst>
                                    <p:cond delay="120"/>
                                  </p:stCondLst>
                                  <p:childTnLst>
                                    <p:set>
                                      <p:cBhvr>
                                        <p:cTn id="151" dur="1" fill="hold">
                                          <p:stCondLst>
                                            <p:cond delay="0"/>
                                          </p:stCondLst>
                                        </p:cTn>
                                        <p:tgtEl>
                                          <p:spTgt spid="133"/>
                                        </p:tgtEl>
                                        <p:attrNameLst>
                                          <p:attrName>style.visibility</p:attrName>
                                        </p:attrNameLst>
                                      </p:cBhvr>
                                      <p:to>
                                        <p:strVal val="visible"/>
                                      </p:to>
                                    </p:set>
                                    <p:animEffect transition="in" filter="fade">
                                      <p:cBhvr>
                                        <p:cTn id="152" dur="500"/>
                                        <p:tgtEl>
                                          <p:spTgt spid="133"/>
                                        </p:tgtEl>
                                      </p:cBhvr>
                                    </p:animEffect>
                                    <p:anim calcmode="lin" valueType="num">
                                      <p:cBhvr additive="base">
                                        <p:cTn id="153" dur="500" decel="100000" fill="hold"/>
                                        <p:tgtEl>
                                          <p:spTgt spid="133"/>
                                        </p:tgtEl>
                                        <p:attrNameLst>
                                          <p:attrName>ppt_x</p:attrName>
                                        </p:attrNameLst>
                                      </p:cBhvr>
                                      <p:tavLst>
                                        <p:tav tm="0">
                                          <p:val>
                                            <p:strVal val="#ppt_x-0.05"/>
                                          </p:val>
                                        </p:tav>
                                        <p:tav tm="100000">
                                          <p:val>
                                            <p:strVal val="#ppt_x"/>
                                          </p:val>
                                        </p:tav>
                                      </p:tavLst>
                                    </p:anim>
                                  </p:childTnLst>
                                </p:cTn>
                              </p:par>
                              <p:par>
                                <p:cTn id="154" presetID="42" presetClass="entr" presetSubtype="0" fill="hold" grpId="0" nodeType="withEffect">
                                  <p:stCondLst>
                                    <p:cond delay="240"/>
                                  </p:stCondLst>
                                  <p:childTnLst>
                                    <p:set>
                                      <p:cBhvr>
                                        <p:cTn id="155" dur="1" fill="hold">
                                          <p:stCondLst>
                                            <p:cond delay="0"/>
                                          </p:stCondLst>
                                        </p:cTn>
                                        <p:tgtEl>
                                          <p:spTgt spid="134"/>
                                        </p:tgtEl>
                                        <p:attrNameLst>
                                          <p:attrName>style.visibility</p:attrName>
                                        </p:attrNameLst>
                                      </p:cBhvr>
                                      <p:to>
                                        <p:strVal val="visible"/>
                                      </p:to>
                                    </p:set>
                                    <p:animEffect transition="in" filter="fade">
                                      <p:cBhvr>
                                        <p:cTn id="156" dur="500"/>
                                        <p:tgtEl>
                                          <p:spTgt spid="134"/>
                                        </p:tgtEl>
                                      </p:cBhvr>
                                    </p:animEffect>
                                    <p:anim calcmode="lin" valueType="num">
                                      <p:cBhvr additive="base">
                                        <p:cTn id="157" dur="500" decel="100000" fill="hold"/>
                                        <p:tgtEl>
                                          <p:spTgt spid="134"/>
                                        </p:tgtEl>
                                        <p:attrNameLst>
                                          <p:attrName>ppt_x</p:attrName>
                                        </p:attrNameLst>
                                      </p:cBhvr>
                                      <p:tavLst>
                                        <p:tav tm="0">
                                          <p:val>
                                            <p:strVal val="#ppt_x-0.05"/>
                                          </p:val>
                                        </p:tav>
                                        <p:tav tm="100000">
                                          <p:val>
                                            <p:strVal val="#ppt_x"/>
                                          </p:val>
                                        </p:tav>
                                      </p:tavLst>
                                    </p:anim>
                                  </p:childTnLst>
                                </p:cTn>
                              </p:par>
                              <p:par>
                                <p:cTn id="158" presetID="42" presetClass="entr" presetSubtype="0" fill="hold" grpId="0" nodeType="withEffect">
                                  <p:stCondLst>
                                    <p:cond delay="240"/>
                                  </p:stCondLst>
                                  <p:childTnLst>
                                    <p:set>
                                      <p:cBhvr>
                                        <p:cTn id="159" dur="1" fill="hold">
                                          <p:stCondLst>
                                            <p:cond delay="0"/>
                                          </p:stCondLst>
                                        </p:cTn>
                                        <p:tgtEl>
                                          <p:spTgt spid="135"/>
                                        </p:tgtEl>
                                        <p:attrNameLst>
                                          <p:attrName>style.visibility</p:attrName>
                                        </p:attrNameLst>
                                      </p:cBhvr>
                                      <p:to>
                                        <p:strVal val="visible"/>
                                      </p:to>
                                    </p:set>
                                    <p:animEffect transition="in" filter="fade">
                                      <p:cBhvr>
                                        <p:cTn id="160" dur="500"/>
                                        <p:tgtEl>
                                          <p:spTgt spid="135"/>
                                        </p:tgtEl>
                                      </p:cBhvr>
                                    </p:animEffect>
                                    <p:anim calcmode="lin" valueType="num">
                                      <p:cBhvr additive="base">
                                        <p:cTn id="161" dur="500" decel="100000" fill="hold"/>
                                        <p:tgtEl>
                                          <p:spTgt spid="135"/>
                                        </p:tgtEl>
                                        <p:attrNameLst>
                                          <p:attrName>ppt_x</p:attrName>
                                        </p:attrNameLst>
                                      </p:cBhvr>
                                      <p:tavLst>
                                        <p:tav tm="0">
                                          <p:val>
                                            <p:strVal val="#ppt_x-0.05"/>
                                          </p:val>
                                        </p:tav>
                                        <p:tav tm="100000">
                                          <p:val>
                                            <p:strVal val="#ppt_x"/>
                                          </p:val>
                                        </p:tav>
                                      </p:tavLst>
                                    </p:anim>
                                  </p:childTnLst>
                                </p:cTn>
                              </p:par>
                              <p:par>
                                <p:cTn id="162" presetID="42" presetClass="entr" presetSubtype="0" fill="hold" grpId="0" nodeType="withEffect">
                                  <p:stCondLst>
                                    <p:cond delay="240"/>
                                  </p:stCondLst>
                                  <p:childTnLst>
                                    <p:set>
                                      <p:cBhvr>
                                        <p:cTn id="163" dur="1" fill="hold">
                                          <p:stCondLst>
                                            <p:cond delay="0"/>
                                          </p:stCondLst>
                                        </p:cTn>
                                        <p:tgtEl>
                                          <p:spTgt spid="136"/>
                                        </p:tgtEl>
                                        <p:attrNameLst>
                                          <p:attrName>style.visibility</p:attrName>
                                        </p:attrNameLst>
                                      </p:cBhvr>
                                      <p:to>
                                        <p:strVal val="visible"/>
                                      </p:to>
                                    </p:set>
                                    <p:animEffect transition="in" filter="fade">
                                      <p:cBhvr>
                                        <p:cTn id="164" dur="500"/>
                                        <p:tgtEl>
                                          <p:spTgt spid="136"/>
                                        </p:tgtEl>
                                      </p:cBhvr>
                                    </p:animEffect>
                                    <p:anim calcmode="lin" valueType="num">
                                      <p:cBhvr additive="base">
                                        <p:cTn id="165" dur="500" decel="100000" fill="hold"/>
                                        <p:tgtEl>
                                          <p:spTgt spid="136"/>
                                        </p:tgtEl>
                                        <p:attrNameLst>
                                          <p:attrName>ppt_x</p:attrName>
                                        </p:attrNameLst>
                                      </p:cBhvr>
                                      <p:tavLst>
                                        <p:tav tm="0">
                                          <p:val>
                                            <p:strVal val="#ppt_x-0.05"/>
                                          </p:val>
                                        </p:tav>
                                        <p:tav tm="100000">
                                          <p:val>
                                            <p:strVal val="#ppt_x"/>
                                          </p:val>
                                        </p:tav>
                                      </p:tavLst>
                                    </p:anim>
                                  </p:childTnLst>
                                </p:cTn>
                              </p:par>
                              <p:par>
                                <p:cTn id="166" presetID="42" presetClass="entr" presetSubtype="0" fill="hold" grpId="0" nodeType="withEffect">
                                  <p:stCondLst>
                                    <p:cond delay="240"/>
                                  </p:stCondLst>
                                  <p:childTnLst>
                                    <p:set>
                                      <p:cBhvr>
                                        <p:cTn id="167" dur="1" fill="hold">
                                          <p:stCondLst>
                                            <p:cond delay="0"/>
                                          </p:stCondLst>
                                        </p:cTn>
                                        <p:tgtEl>
                                          <p:spTgt spid="137"/>
                                        </p:tgtEl>
                                        <p:attrNameLst>
                                          <p:attrName>style.visibility</p:attrName>
                                        </p:attrNameLst>
                                      </p:cBhvr>
                                      <p:to>
                                        <p:strVal val="visible"/>
                                      </p:to>
                                    </p:set>
                                    <p:animEffect transition="in" filter="fade">
                                      <p:cBhvr>
                                        <p:cTn id="168" dur="500"/>
                                        <p:tgtEl>
                                          <p:spTgt spid="137"/>
                                        </p:tgtEl>
                                      </p:cBhvr>
                                    </p:animEffect>
                                    <p:anim calcmode="lin" valueType="num">
                                      <p:cBhvr additive="base">
                                        <p:cTn id="169" dur="500" decel="100000" fill="hold"/>
                                        <p:tgtEl>
                                          <p:spTgt spid="137"/>
                                        </p:tgtEl>
                                        <p:attrNameLst>
                                          <p:attrName>ppt_x</p:attrName>
                                        </p:attrNameLst>
                                      </p:cBhvr>
                                      <p:tavLst>
                                        <p:tav tm="0">
                                          <p:val>
                                            <p:strVal val="#ppt_x-0.05"/>
                                          </p:val>
                                        </p:tav>
                                        <p:tav tm="100000">
                                          <p:val>
                                            <p:strVal val="#ppt_x"/>
                                          </p:val>
                                        </p:tav>
                                      </p:tavLst>
                                    </p:anim>
                                  </p:childTnLst>
                                </p:cTn>
                              </p:par>
                              <p:par>
                                <p:cTn id="170" presetID="42" presetClass="entr" presetSubtype="0" fill="hold" grpId="0" nodeType="withEffect">
                                  <p:stCondLst>
                                    <p:cond delay="360"/>
                                  </p:stCondLst>
                                  <p:childTnLst>
                                    <p:set>
                                      <p:cBhvr>
                                        <p:cTn id="171" dur="1" fill="hold">
                                          <p:stCondLst>
                                            <p:cond delay="0"/>
                                          </p:stCondLst>
                                        </p:cTn>
                                        <p:tgtEl>
                                          <p:spTgt spid="138"/>
                                        </p:tgtEl>
                                        <p:attrNameLst>
                                          <p:attrName>style.visibility</p:attrName>
                                        </p:attrNameLst>
                                      </p:cBhvr>
                                      <p:to>
                                        <p:strVal val="visible"/>
                                      </p:to>
                                    </p:set>
                                    <p:animEffect transition="in" filter="fade">
                                      <p:cBhvr>
                                        <p:cTn id="172" dur="500"/>
                                        <p:tgtEl>
                                          <p:spTgt spid="138"/>
                                        </p:tgtEl>
                                      </p:cBhvr>
                                    </p:animEffect>
                                    <p:anim calcmode="lin" valueType="num">
                                      <p:cBhvr additive="base">
                                        <p:cTn id="173" dur="500" decel="100000" fill="hold"/>
                                        <p:tgtEl>
                                          <p:spTgt spid="138"/>
                                        </p:tgtEl>
                                        <p:attrNameLst>
                                          <p:attrName>ppt_x</p:attrName>
                                        </p:attrNameLst>
                                      </p:cBhvr>
                                      <p:tavLst>
                                        <p:tav tm="0">
                                          <p:val>
                                            <p:strVal val="#ppt_x-0.05"/>
                                          </p:val>
                                        </p:tav>
                                        <p:tav tm="100000">
                                          <p:val>
                                            <p:strVal val="#ppt_x"/>
                                          </p:val>
                                        </p:tav>
                                      </p:tavLst>
                                    </p:anim>
                                  </p:childTnLst>
                                </p:cTn>
                              </p:par>
                              <p:par>
                                <p:cTn id="174" presetID="42" presetClass="entr" presetSubtype="0" fill="hold" grpId="0" nodeType="withEffect">
                                  <p:stCondLst>
                                    <p:cond delay="360"/>
                                  </p:stCondLst>
                                  <p:childTnLst>
                                    <p:set>
                                      <p:cBhvr>
                                        <p:cTn id="175" dur="1" fill="hold">
                                          <p:stCondLst>
                                            <p:cond delay="0"/>
                                          </p:stCondLst>
                                        </p:cTn>
                                        <p:tgtEl>
                                          <p:spTgt spid="139"/>
                                        </p:tgtEl>
                                        <p:attrNameLst>
                                          <p:attrName>style.visibility</p:attrName>
                                        </p:attrNameLst>
                                      </p:cBhvr>
                                      <p:to>
                                        <p:strVal val="visible"/>
                                      </p:to>
                                    </p:set>
                                    <p:animEffect transition="in" filter="fade">
                                      <p:cBhvr>
                                        <p:cTn id="176" dur="500"/>
                                        <p:tgtEl>
                                          <p:spTgt spid="139"/>
                                        </p:tgtEl>
                                      </p:cBhvr>
                                    </p:animEffect>
                                    <p:anim calcmode="lin" valueType="num">
                                      <p:cBhvr additive="base">
                                        <p:cTn id="177" dur="500" decel="100000" fill="hold"/>
                                        <p:tgtEl>
                                          <p:spTgt spid="139"/>
                                        </p:tgtEl>
                                        <p:attrNameLst>
                                          <p:attrName>ppt_x</p:attrName>
                                        </p:attrNameLst>
                                      </p:cBhvr>
                                      <p:tavLst>
                                        <p:tav tm="0">
                                          <p:val>
                                            <p:strVal val="#ppt_x-0.05"/>
                                          </p:val>
                                        </p:tav>
                                        <p:tav tm="100000">
                                          <p:val>
                                            <p:strVal val="#ppt_x"/>
                                          </p:val>
                                        </p:tav>
                                      </p:tavLst>
                                    </p:anim>
                                  </p:childTnLst>
                                </p:cTn>
                              </p:par>
                              <p:par>
                                <p:cTn id="178" presetID="42" presetClass="entr" presetSubtype="0" fill="hold" grpId="0" nodeType="withEffect">
                                  <p:stCondLst>
                                    <p:cond delay="360"/>
                                  </p:stCondLst>
                                  <p:childTnLst>
                                    <p:set>
                                      <p:cBhvr>
                                        <p:cTn id="179" dur="1" fill="hold">
                                          <p:stCondLst>
                                            <p:cond delay="0"/>
                                          </p:stCondLst>
                                        </p:cTn>
                                        <p:tgtEl>
                                          <p:spTgt spid="140"/>
                                        </p:tgtEl>
                                        <p:attrNameLst>
                                          <p:attrName>style.visibility</p:attrName>
                                        </p:attrNameLst>
                                      </p:cBhvr>
                                      <p:to>
                                        <p:strVal val="visible"/>
                                      </p:to>
                                    </p:set>
                                    <p:animEffect transition="in" filter="fade">
                                      <p:cBhvr>
                                        <p:cTn id="180" dur="500"/>
                                        <p:tgtEl>
                                          <p:spTgt spid="140"/>
                                        </p:tgtEl>
                                      </p:cBhvr>
                                    </p:animEffect>
                                    <p:anim calcmode="lin" valueType="num">
                                      <p:cBhvr additive="base">
                                        <p:cTn id="181" dur="500" decel="100000" fill="hold"/>
                                        <p:tgtEl>
                                          <p:spTgt spid="140"/>
                                        </p:tgtEl>
                                        <p:attrNameLst>
                                          <p:attrName>ppt_x</p:attrName>
                                        </p:attrNameLst>
                                      </p:cBhvr>
                                      <p:tavLst>
                                        <p:tav tm="0">
                                          <p:val>
                                            <p:strVal val="#ppt_x-0.05"/>
                                          </p:val>
                                        </p:tav>
                                        <p:tav tm="100000">
                                          <p:val>
                                            <p:strVal val="#ppt_x"/>
                                          </p:val>
                                        </p:tav>
                                      </p:tavLst>
                                    </p:anim>
                                  </p:childTnLst>
                                </p:cTn>
                              </p:par>
                              <p:par>
                                <p:cTn id="182" presetID="42" presetClass="entr" presetSubtype="0" fill="hold" grpId="0" nodeType="withEffect">
                                  <p:stCondLst>
                                    <p:cond delay="360"/>
                                  </p:stCondLst>
                                  <p:childTnLst>
                                    <p:set>
                                      <p:cBhvr>
                                        <p:cTn id="183" dur="1" fill="hold">
                                          <p:stCondLst>
                                            <p:cond delay="0"/>
                                          </p:stCondLst>
                                        </p:cTn>
                                        <p:tgtEl>
                                          <p:spTgt spid="141"/>
                                        </p:tgtEl>
                                        <p:attrNameLst>
                                          <p:attrName>style.visibility</p:attrName>
                                        </p:attrNameLst>
                                      </p:cBhvr>
                                      <p:to>
                                        <p:strVal val="visible"/>
                                      </p:to>
                                    </p:set>
                                    <p:animEffect transition="in" filter="fade">
                                      <p:cBhvr>
                                        <p:cTn id="184" dur="500"/>
                                        <p:tgtEl>
                                          <p:spTgt spid="141"/>
                                        </p:tgtEl>
                                      </p:cBhvr>
                                    </p:animEffect>
                                    <p:anim calcmode="lin" valueType="num">
                                      <p:cBhvr additive="base">
                                        <p:cTn id="185" dur="500" decel="100000" fill="hold"/>
                                        <p:tgtEl>
                                          <p:spTgt spid="141"/>
                                        </p:tgtEl>
                                        <p:attrNameLst>
                                          <p:attrName>ppt_x</p:attrName>
                                        </p:attrNameLst>
                                      </p:cBhvr>
                                      <p:tavLst>
                                        <p:tav tm="0">
                                          <p:val>
                                            <p:strVal val="#ppt_x-0.05"/>
                                          </p:val>
                                        </p:tav>
                                        <p:tav tm="100000">
                                          <p:val>
                                            <p:strVal val="#ppt_x"/>
                                          </p:val>
                                        </p:tav>
                                      </p:tavLst>
                                    </p:anim>
                                  </p:childTnLst>
                                </p:cTn>
                              </p:par>
                              <p:par>
                                <p:cTn id="186" presetID="42" presetClass="entr" presetSubtype="0" fill="hold" grpId="0" nodeType="withEffect">
                                  <p:stCondLst>
                                    <p:cond delay="480"/>
                                  </p:stCondLst>
                                  <p:childTnLst>
                                    <p:set>
                                      <p:cBhvr>
                                        <p:cTn id="187" dur="1" fill="hold">
                                          <p:stCondLst>
                                            <p:cond delay="0"/>
                                          </p:stCondLst>
                                        </p:cTn>
                                        <p:tgtEl>
                                          <p:spTgt spid="142"/>
                                        </p:tgtEl>
                                        <p:attrNameLst>
                                          <p:attrName>style.visibility</p:attrName>
                                        </p:attrNameLst>
                                      </p:cBhvr>
                                      <p:to>
                                        <p:strVal val="visible"/>
                                      </p:to>
                                    </p:set>
                                    <p:animEffect transition="in" filter="fade">
                                      <p:cBhvr>
                                        <p:cTn id="188" dur="500"/>
                                        <p:tgtEl>
                                          <p:spTgt spid="142"/>
                                        </p:tgtEl>
                                      </p:cBhvr>
                                    </p:animEffect>
                                    <p:anim calcmode="lin" valueType="num">
                                      <p:cBhvr additive="base">
                                        <p:cTn id="189" dur="500" decel="100000" fill="hold"/>
                                        <p:tgtEl>
                                          <p:spTgt spid="142"/>
                                        </p:tgtEl>
                                        <p:attrNameLst>
                                          <p:attrName>ppt_x</p:attrName>
                                        </p:attrNameLst>
                                      </p:cBhvr>
                                      <p:tavLst>
                                        <p:tav tm="0">
                                          <p:val>
                                            <p:strVal val="#ppt_x-0.05"/>
                                          </p:val>
                                        </p:tav>
                                        <p:tav tm="100000">
                                          <p:val>
                                            <p:strVal val="#ppt_x"/>
                                          </p:val>
                                        </p:tav>
                                      </p:tavLst>
                                    </p:anim>
                                  </p:childTnLst>
                                </p:cTn>
                              </p:par>
                              <p:par>
                                <p:cTn id="190" presetID="42" presetClass="entr" presetSubtype="0" fill="hold" grpId="0" nodeType="withEffect">
                                  <p:stCondLst>
                                    <p:cond delay="480"/>
                                  </p:stCondLst>
                                  <p:childTnLst>
                                    <p:set>
                                      <p:cBhvr>
                                        <p:cTn id="191" dur="1" fill="hold">
                                          <p:stCondLst>
                                            <p:cond delay="0"/>
                                          </p:stCondLst>
                                        </p:cTn>
                                        <p:tgtEl>
                                          <p:spTgt spid="143"/>
                                        </p:tgtEl>
                                        <p:attrNameLst>
                                          <p:attrName>style.visibility</p:attrName>
                                        </p:attrNameLst>
                                      </p:cBhvr>
                                      <p:to>
                                        <p:strVal val="visible"/>
                                      </p:to>
                                    </p:set>
                                    <p:animEffect transition="in" filter="fade">
                                      <p:cBhvr>
                                        <p:cTn id="192" dur="500"/>
                                        <p:tgtEl>
                                          <p:spTgt spid="143"/>
                                        </p:tgtEl>
                                      </p:cBhvr>
                                    </p:animEffect>
                                    <p:anim calcmode="lin" valueType="num">
                                      <p:cBhvr additive="base">
                                        <p:cTn id="193" dur="500" decel="100000" fill="hold"/>
                                        <p:tgtEl>
                                          <p:spTgt spid="143"/>
                                        </p:tgtEl>
                                        <p:attrNameLst>
                                          <p:attrName>ppt_x</p:attrName>
                                        </p:attrNameLst>
                                      </p:cBhvr>
                                      <p:tavLst>
                                        <p:tav tm="0">
                                          <p:val>
                                            <p:strVal val="#ppt_x-0.05"/>
                                          </p:val>
                                        </p:tav>
                                        <p:tav tm="100000">
                                          <p:val>
                                            <p:strVal val="#ppt_x"/>
                                          </p:val>
                                        </p:tav>
                                      </p:tavLst>
                                    </p:anim>
                                  </p:childTnLst>
                                </p:cTn>
                              </p:par>
                              <p:par>
                                <p:cTn id="194" presetID="42" presetClass="entr" presetSubtype="0" fill="hold" grpId="0" nodeType="withEffect">
                                  <p:stCondLst>
                                    <p:cond delay="480"/>
                                  </p:stCondLst>
                                  <p:childTnLst>
                                    <p:set>
                                      <p:cBhvr>
                                        <p:cTn id="195" dur="1" fill="hold">
                                          <p:stCondLst>
                                            <p:cond delay="0"/>
                                          </p:stCondLst>
                                        </p:cTn>
                                        <p:tgtEl>
                                          <p:spTgt spid="144"/>
                                        </p:tgtEl>
                                        <p:attrNameLst>
                                          <p:attrName>style.visibility</p:attrName>
                                        </p:attrNameLst>
                                      </p:cBhvr>
                                      <p:to>
                                        <p:strVal val="visible"/>
                                      </p:to>
                                    </p:set>
                                    <p:animEffect transition="in" filter="fade">
                                      <p:cBhvr>
                                        <p:cTn id="196" dur="500"/>
                                        <p:tgtEl>
                                          <p:spTgt spid="144"/>
                                        </p:tgtEl>
                                      </p:cBhvr>
                                    </p:animEffect>
                                    <p:anim calcmode="lin" valueType="num">
                                      <p:cBhvr additive="base">
                                        <p:cTn id="197" dur="500" decel="100000" fill="hold"/>
                                        <p:tgtEl>
                                          <p:spTgt spid="144"/>
                                        </p:tgtEl>
                                        <p:attrNameLst>
                                          <p:attrName>ppt_x</p:attrName>
                                        </p:attrNameLst>
                                      </p:cBhvr>
                                      <p:tavLst>
                                        <p:tav tm="0">
                                          <p:val>
                                            <p:strVal val="#ppt_x-0.05"/>
                                          </p:val>
                                        </p:tav>
                                        <p:tav tm="100000">
                                          <p:val>
                                            <p:strVal val="#ppt_x"/>
                                          </p:val>
                                        </p:tav>
                                      </p:tavLst>
                                    </p:anim>
                                  </p:childTnLst>
                                </p:cTn>
                              </p:par>
                              <p:par>
                                <p:cTn id="198" presetID="42" presetClass="entr" presetSubtype="0" fill="hold" grpId="0" nodeType="withEffect">
                                  <p:stCondLst>
                                    <p:cond delay="480"/>
                                  </p:stCondLst>
                                  <p:childTnLst>
                                    <p:set>
                                      <p:cBhvr>
                                        <p:cTn id="199" dur="1" fill="hold">
                                          <p:stCondLst>
                                            <p:cond delay="0"/>
                                          </p:stCondLst>
                                        </p:cTn>
                                        <p:tgtEl>
                                          <p:spTgt spid="145"/>
                                        </p:tgtEl>
                                        <p:attrNameLst>
                                          <p:attrName>style.visibility</p:attrName>
                                        </p:attrNameLst>
                                      </p:cBhvr>
                                      <p:to>
                                        <p:strVal val="visible"/>
                                      </p:to>
                                    </p:set>
                                    <p:animEffect transition="in" filter="fade">
                                      <p:cBhvr>
                                        <p:cTn id="200" dur="500"/>
                                        <p:tgtEl>
                                          <p:spTgt spid="145"/>
                                        </p:tgtEl>
                                      </p:cBhvr>
                                    </p:animEffect>
                                    <p:anim calcmode="lin" valueType="num">
                                      <p:cBhvr additive="base">
                                        <p:cTn id="201" dur="500" decel="100000" fill="hold"/>
                                        <p:tgtEl>
                                          <p:spTgt spid="145"/>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5" grpId="0" animBg="1"/>
      <p:bldP spid="117" grpId="0" animBg="1"/>
      <p:bldP spid="119" grpId="0" animBg="1"/>
      <p:bldP spid="120" grpId="0" animBg="1"/>
      <p:bldP spid="121" grpId="0" animBg="1"/>
      <p:bldP spid="122" grpId="0" animBg="1"/>
      <p:bldP spid="123" grpId="0" animBg="1"/>
      <p:bldP spid="124"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CHAPTER 02</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MINDSET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194</a:t>
            </a:r>
            <a:endParaRPr lang="en-US" sz="850" dirty="0"/>
          </a:p>
        </p:txBody>
      </p:sp>
      <p:sp>
        <p:nvSpPr>
          <p:cNvPr id="101" name="!!bignum"/>
          <p:cNvSpPr txBox="1"/>
          <p:nvPr/>
        </p:nvSpPr>
        <p:spPr>
          <a:xfrm>
            <a:off x="497434" y="960120"/>
            <a:ext cx="2926080" cy="1463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34D399"/>
                </a:solidFill>
                <a:latin typeface="Segoe UI"/>
                <a:ea typeface="Segoe UI"/>
                <a:cs typeface="Segoe UI"/>
              </a:rPr>
              <a:t>02</a:t>
            </a:r>
            <a:endParaRPr lang="en-US" sz="9600" dirty="0"/>
          </a:p>
        </p:txBody>
      </p:sp>
      <p:sp>
        <p:nvSpPr>
          <p:cNvPr id="102" name="s102"/>
          <p:cNvSpPr txBox="1"/>
          <p:nvPr/>
        </p:nvSpPr>
        <p:spPr>
          <a:xfrm>
            <a:off x="543154" y="2377440"/>
            <a:ext cx="10515600" cy="8229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The Agile Mindset</a:t>
            </a:r>
            <a:endParaRPr lang="en-US" sz="4000" dirty="0"/>
          </a:p>
        </p:txBody>
      </p:sp>
      <p:sp>
        <p:nvSpPr>
          <p:cNvPr id="103" name="s103"/>
          <p:cNvSpPr txBox="1"/>
          <p:nvPr/>
        </p:nvSpPr>
        <p:spPr>
          <a:xfrm>
            <a:off x="543154" y="3154680"/>
            <a:ext cx="1051560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0" dirty="0">
                <a:solidFill>
                  <a:srgbClr val="CBD5E1"/>
                </a:solidFill>
                <a:latin typeface="Segoe UI"/>
                <a:ea typeface="Segoe UI"/>
                <a:cs typeface="Segoe UI"/>
              </a:rPr>
              <a:t>Not a framework. Not a tool. A way of making decisions under change.</a:t>
            </a:r>
            <a:endParaRPr lang="en-US" sz="1600" dirty="0"/>
          </a:p>
        </p:txBody>
      </p:sp>
      <p:sp>
        <p:nvSpPr>
          <p:cNvPr id="104" name="s104"/>
          <p:cNvSpPr/>
          <p:nvPr/>
        </p:nvSpPr>
        <p:spPr>
          <a:xfrm>
            <a:off x="543154" y="3840480"/>
            <a:ext cx="3513125" cy="960120"/>
          </a:xfrm>
          <a:prstGeom prst="roundRect">
            <a:avLst>
              <a:gd name="adj" fmla="val 10000"/>
            </a:avLst>
          </a:prstGeom>
          <a:solidFill>
            <a:srgbClr val="111B2E"/>
          </a:solidFill>
          <a:ln w="12700">
            <a:solidFill>
              <a:srgbClr val="34D399"/>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34D399"/>
                </a:solidFill>
                <a:latin typeface="Segoe UI"/>
                <a:ea typeface="Segoe UI"/>
                <a:cs typeface="Segoe UI"/>
              </a:rPr>
              <a:t>Myth vs. reality</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What Agile is, and is not.</a:t>
            </a:r>
            <a:endParaRPr lang="en-US" sz="1200" dirty="0"/>
          </a:p>
        </p:txBody>
      </p:sp>
      <p:sp>
        <p:nvSpPr>
          <p:cNvPr id="105" name="s105"/>
          <p:cNvSpPr/>
          <p:nvPr/>
        </p:nvSpPr>
        <p:spPr>
          <a:xfrm>
            <a:off x="4330598" y="3840480"/>
            <a:ext cx="3513125" cy="960120"/>
          </a:xfrm>
          <a:prstGeom prst="roundRect">
            <a:avLst>
              <a:gd name="adj" fmla="val 10000"/>
            </a:avLst>
          </a:prstGeom>
          <a:solidFill>
            <a:srgbClr val="111B2E"/>
          </a:solidFill>
          <a:ln w="12700">
            <a:solidFill>
              <a:srgbClr val="34D399"/>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34D399"/>
                </a:solidFill>
                <a:latin typeface="Segoe UI"/>
                <a:ea typeface="Segoe UI"/>
                <a:cs typeface="Segoe UI"/>
              </a:rPr>
              <a:t>Four questions</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What every Agile team keeps asking.</a:t>
            </a:r>
            <a:endParaRPr lang="en-US" sz="1200" dirty="0"/>
          </a:p>
        </p:txBody>
      </p:sp>
      <p:sp>
        <p:nvSpPr>
          <p:cNvPr id="106" name="s106"/>
          <p:cNvSpPr/>
          <p:nvPr/>
        </p:nvSpPr>
        <p:spPr>
          <a:xfrm>
            <a:off x="8118043" y="3840480"/>
            <a:ext cx="3513125" cy="960120"/>
          </a:xfrm>
          <a:prstGeom prst="roundRect">
            <a:avLst>
              <a:gd name="adj" fmla="val 10000"/>
            </a:avLst>
          </a:prstGeom>
          <a:solidFill>
            <a:srgbClr val="111B2E"/>
          </a:solidFill>
          <a:ln w="12700">
            <a:solidFill>
              <a:srgbClr val="34D399"/>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34D399"/>
                </a:solidFill>
                <a:latin typeface="Segoe UI"/>
                <a:ea typeface="Segoe UI"/>
                <a:cs typeface="Segoe UI"/>
              </a:rPr>
              <a:t>One example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Docs first vs. working software.</a:t>
            </a:r>
            <a:endParaRPr lang="en-US" sz="1200" dirty="0"/>
          </a:p>
        </p:txBody>
      </p:sp>
      <p:sp>
        <p:nvSpPr>
          <p:cNvPr id="107" name="!!chap0"/>
          <p:cNvSpPr/>
          <p:nvPr/>
        </p:nvSpPr>
        <p:spPr>
          <a:xfrm>
            <a:off x="54315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01  </a:t>
            </a:r>
            <a:r>
              <a:rPr lang="en-US" sz="1100" b="0" dirty="0">
                <a:solidFill>
                  <a:srgbClr val="94A3B8"/>
                </a:solidFill>
                <a:latin typeface="Segoe UI"/>
                <a:ea typeface="Segoe UI"/>
                <a:cs typeface="Segoe UI"/>
              </a:rPr>
              <a:t>Methodologies</a:t>
            </a:r>
            <a:endParaRPr lang="en-US" sz="1100" dirty="0"/>
          </a:p>
        </p:txBody>
      </p:sp>
      <p:sp>
        <p:nvSpPr>
          <p:cNvPr id="108" name="!!chap1"/>
          <p:cNvSpPr/>
          <p:nvPr/>
        </p:nvSpPr>
        <p:spPr>
          <a:xfrm>
            <a:off x="2409444" y="5074920"/>
            <a:ext cx="1756562" cy="457200"/>
          </a:xfrm>
          <a:prstGeom prst="roundRect">
            <a:avLst>
              <a:gd name="adj" fmla="val 50000"/>
            </a:avLst>
          </a:prstGeom>
          <a:solidFill>
            <a:srgbClr val="34D399"/>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02  Agile mindset</a:t>
            </a:r>
            <a:endParaRPr lang="en-US" sz="1100" dirty="0"/>
          </a:p>
        </p:txBody>
      </p:sp>
      <p:sp>
        <p:nvSpPr>
          <p:cNvPr id="109" name="!!chap2"/>
          <p:cNvSpPr/>
          <p:nvPr/>
        </p:nvSpPr>
        <p:spPr>
          <a:xfrm>
            <a:off x="427573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03  </a:t>
            </a:r>
            <a:r>
              <a:rPr lang="en-US" sz="1100" b="0" dirty="0">
                <a:solidFill>
                  <a:srgbClr val="94A3B8"/>
                </a:solidFill>
                <a:latin typeface="Segoe UI"/>
                <a:ea typeface="Segoe UI"/>
                <a:cs typeface="Segoe UI"/>
              </a:rPr>
              <a:t>Manifesto values</a:t>
            </a:r>
            <a:endParaRPr lang="en-US" sz="1100" dirty="0"/>
          </a:p>
        </p:txBody>
      </p:sp>
      <p:sp>
        <p:nvSpPr>
          <p:cNvPr id="110" name="!!chap3"/>
          <p:cNvSpPr/>
          <p:nvPr/>
        </p:nvSpPr>
        <p:spPr>
          <a:xfrm>
            <a:off x="614202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04  </a:t>
            </a:r>
            <a:r>
              <a:rPr lang="en-US" sz="1100" b="0" dirty="0">
                <a:solidFill>
                  <a:srgbClr val="94A3B8"/>
                </a:solidFill>
                <a:latin typeface="Segoe UI"/>
                <a:ea typeface="Segoe UI"/>
                <a:cs typeface="Segoe UI"/>
              </a:rPr>
              <a:t>12 principles</a:t>
            </a:r>
            <a:endParaRPr lang="en-US" sz="1100" dirty="0"/>
          </a:p>
        </p:txBody>
      </p:sp>
      <p:sp>
        <p:nvSpPr>
          <p:cNvPr id="111" name="!!chap4"/>
          <p:cNvSpPr/>
          <p:nvPr/>
        </p:nvSpPr>
        <p:spPr>
          <a:xfrm>
            <a:off x="800831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05  </a:t>
            </a:r>
            <a:r>
              <a:rPr lang="en-US" sz="1100" b="0" dirty="0">
                <a:solidFill>
                  <a:srgbClr val="94A3B8"/>
                </a:solidFill>
                <a:latin typeface="Segoe UI"/>
                <a:ea typeface="Segoe UI"/>
                <a:cs typeface="Segoe UI"/>
              </a:rPr>
              <a:t>Scrum: one Sprint</a:t>
            </a:r>
            <a:endParaRPr lang="en-US" sz="1100" dirty="0"/>
          </a:p>
        </p:txBody>
      </p:sp>
      <p:sp>
        <p:nvSpPr>
          <p:cNvPr id="112" name="!!chap5"/>
          <p:cNvSpPr/>
          <p:nvPr/>
        </p:nvSpPr>
        <p:spPr>
          <a:xfrm>
            <a:off x="9874606"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472B6"/>
                </a:solidFill>
                <a:latin typeface="Segoe UI"/>
                <a:ea typeface="Segoe UI"/>
                <a:cs typeface="Segoe UI"/>
              </a:rPr>
              <a:t>06  </a:t>
            </a:r>
            <a:r>
              <a:rPr lang="en-US" sz="1100" b="0" dirty="0">
                <a:solidFill>
                  <a:srgbClr val="94A3B8"/>
                </a:solidFill>
                <a:latin typeface="Segoe UI"/>
                <a:ea typeface="Segoe UI"/>
                <a:cs typeface="Segoe UI"/>
              </a:rPr>
              <a:t>Practice lab</a:t>
            </a:r>
            <a:endParaRPr lang="en-US" sz="11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5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50" decel="100000" fill="hold"/>
                                        <p:tgtEl>
                                          <p:spTgt spid="101"/>
                                        </p:tgtEl>
                                        <p:attrNameLst>
                                          <p:attrName>ppt_h</p:attrName>
                                        </p:attrNameLst>
                                      </p:cBhvr>
                                      <p:tavLst>
                                        <p:tav tm="0">
                                          <p:val>
                                            <p:strVal val="#ppt_h*0.3"/>
                                          </p:val>
                                        </p:tav>
                                        <p:tav tm="100000">
                                          <p:val>
                                            <p:strVal val="#ppt_h*1.08"/>
                                          </p:val>
                                        </p:tav>
                                      </p:tavLst>
                                    </p:anim>
                                    <p:animEffect transition="in" filter="fade">
                                      <p:cBhvr>
                                        <p:cTn id="9" dur="275"/>
                                        <p:tgtEl>
                                          <p:spTgt spid="101"/>
                                        </p:tgtEl>
                                      </p:cBhvr>
                                    </p:animEffect>
                                    <p:anim calcmode="lin" valueType="num">
                                      <p:cBhvr additive="base">
                                        <p:cTn id="10" dur="160" fill="hold">
                                          <p:stCondLst>
                                            <p:cond delay="55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5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4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50"/>
                                        <p:tgtEl>
                                          <p:spTgt spid="102"/>
                                        </p:tgtEl>
                                      </p:cBhvr>
                                    </p:animEffect>
                                    <p:anim calcmode="lin" valueType="num">
                                      <p:cBhvr additive="base">
                                        <p:cTn id="15" dur="55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8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50"/>
                                        <p:tgtEl>
                                          <p:spTgt spid="103"/>
                                        </p:tgtEl>
                                      </p:cBhvr>
                                    </p:animEffect>
                                    <p:anim calcmode="lin" valueType="num">
                                      <p:cBhvr additive="base">
                                        <p:cTn id="19" dur="55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42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50"/>
                                        <p:tgtEl>
                                          <p:spTgt spid="104"/>
                                        </p:tgtEl>
                                      </p:cBhvr>
                                    </p:animEffect>
                                    <p:anim calcmode="lin" valueType="num">
                                      <p:cBhvr additive="base">
                                        <p:cTn id="23" dur="55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56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50"/>
                                        <p:tgtEl>
                                          <p:spTgt spid="105"/>
                                        </p:tgtEl>
                                      </p:cBhvr>
                                    </p:animEffect>
                                    <p:anim calcmode="lin" valueType="num">
                                      <p:cBhvr additive="base">
                                        <p:cTn id="27" dur="55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70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50"/>
                                        <p:tgtEl>
                                          <p:spTgt spid="106"/>
                                        </p:tgtEl>
                                      </p:cBhvr>
                                    </p:animEffect>
                                    <p:anim calcmode="lin" valueType="num">
                                      <p:cBhvr additive="base">
                                        <p:cTn id="31" dur="550" decel="100000" fill="hold"/>
                                        <p:tgtEl>
                                          <p:spTgt spid="106"/>
                                        </p:tgtEl>
                                        <p:attrNameLst>
                                          <p:attrName>ppt_y</p:attrName>
                                        </p:attrNameLst>
                                      </p:cBhvr>
                                      <p:tavLst>
                                        <p:tav tm="0">
                                          <p:val>
                                            <p:strVal val="#ppt_y+0.06"/>
                                          </p:val>
                                        </p:tav>
                                        <p:tav tm="100000">
                                          <p:val>
                                            <p:strVal val="#ppt_y"/>
                                          </p:val>
                                        </p:tav>
                                      </p:tavLst>
                                    </p:anim>
                                  </p:childTnLst>
                                </p:cTn>
                              </p:par>
                              <p:par>
                                <p:cTn id="32" presetID="10" presetClass="entr" presetSubtype="0" fill="hold" grpId="0" nodeType="withEffect">
                                  <p:stCondLst>
                                    <p:cond delay="85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childTnLst>
                                </p:cTn>
                              </p:par>
                              <p:par>
                                <p:cTn id="35" presetID="10" presetClass="entr" presetSubtype="0" fill="hold" grpId="0" nodeType="withEffect">
                                  <p:stCondLst>
                                    <p:cond delay="85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85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85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85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85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MINDSET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Is Agile?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One of the biggest misconceptions in software engineering.</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MINDSET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195</a:t>
            </a:r>
            <a:endParaRPr lang="en-US" sz="850" dirty="0"/>
          </a:p>
        </p:txBody>
      </p:sp>
      <p:sp>
        <p:nvSpPr>
          <p:cNvPr id="101" name="s101"/>
          <p:cNvSpPr/>
          <p:nvPr/>
        </p:nvSpPr>
        <p:spPr>
          <a:xfrm>
            <a:off x="543154" y="1965960"/>
            <a:ext cx="5361127" cy="301752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02" name="s102"/>
          <p:cNvSpPr/>
          <p:nvPr/>
        </p:nvSpPr>
        <p:spPr>
          <a:xfrm>
            <a:off x="817474" y="2240280"/>
            <a:ext cx="548640" cy="54864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949147" y="2371954"/>
            <a:ext cx="285293" cy="285293"/>
          </a:xfrm>
          <a:prstGeom prst="rect">
            <a:avLst/>
          </a:prstGeom>
        </p:spPr>
      </p:pic>
      <p:sp>
        <p:nvSpPr>
          <p:cNvPr id="104" name="s104"/>
          <p:cNvSpPr txBox="1"/>
          <p:nvPr/>
        </p:nvSpPr>
        <p:spPr>
          <a:xfrm>
            <a:off x="1548994" y="2286000"/>
            <a:ext cx="417240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COMMON MYTH</a:t>
            </a:r>
            <a:endParaRPr lang="en-US" sz="1200" dirty="0"/>
          </a:p>
        </p:txBody>
      </p:sp>
      <p:sp>
        <p:nvSpPr>
          <p:cNvPr id="105" name="s105"/>
          <p:cNvSpPr txBox="1"/>
          <p:nvPr/>
        </p:nvSpPr>
        <p:spPr>
          <a:xfrm>
            <a:off x="817474" y="2971800"/>
            <a:ext cx="4812487" cy="10972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700" b="1" dirty="0">
                <a:solidFill>
                  <a:srgbClr val="FFFFFF"/>
                </a:solidFill>
                <a:latin typeface="Segoe UI"/>
                <a:ea typeface="Segoe UI"/>
                <a:cs typeface="Segoe UI"/>
              </a:rPr>
              <a:t>Agile is just a framework like Scrum, or a project-management methodology.</a:t>
            </a:r>
            <a:endParaRPr lang="en-US" sz="1700" dirty="0"/>
          </a:p>
        </p:txBody>
      </p:sp>
      <p:sp>
        <p:nvSpPr>
          <p:cNvPr id="106" name="s106"/>
          <p:cNvSpPr txBox="1"/>
          <p:nvPr/>
        </p:nvSpPr>
        <p:spPr>
          <a:xfrm>
            <a:off x="817474" y="4114800"/>
            <a:ext cx="4812487" cy="7315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94A3B8"/>
                </a:solidFill>
                <a:latin typeface="Segoe UI"/>
                <a:ea typeface="Segoe UI"/>
                <a:cs typeface="Segoe UI"/>
              </a:rPr>
              <a:t>People reduce Agile to ceremonies, boards and tools. That misses the point.</a:t>
            </a:r>
            <a:endParaRPr lang="en-US" sz="1250" dirty="0"/>
          </a:p>
        </p:txBody>
      </p:sp>
      <p:sp>
        <p:nvSpPr>
          <p:cNvPr id="107" name="s107"/>
          <p:cNvSpPr/>
          <p:nvPr/>
        </p:nvSpPr>
        <p:spPr>
          <a:xfrm rot="-480000">
            <a:off x="3755441" y="2221992"/>
            <a:ext cx="1828800" cy="548640"/>
          </a:xfrm>
          <a:prstGeom prst="roundRect">
            <a:avLst>
              <a:gd name="adj" fmla="val 12000"/>
            </a:avLst>
          </a:prstGeom>
          <a:solidFill>
            <a:srgbClr val="F87171">
              <a:alpha val="18000"/>
            </a:srgbClr>
          </a:solidFill>
          <a:ln w="3175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800" b="1" dirty="0">
                <a:solidFill>
                  <a:srgbClr val="F87171"/>
                </a:solidFill>
                <a:latin typeface="Segoe UI"/>
                <a:ea typeface="Segoe UI"/>
                <a:cs typeface="Segoe UI"/>
              </a:rPr>
              <a:t>BUSTED</a:t>
            </a:r>
            <a:endParaRPr lang="en-US" sz="1800" dirty="0"/>
          </a:p>
        </p:txBody>
      </p:sp>
      <p:sp>
        <p:nvSpPr>
          <p:cNvPr id="108" name="s108"/>
          <p:cNvSpPr/>
          <p:nvPr/>
        </p:nvSpPr>
        <p:spPr>
          <a:xfrm>
            <a:off x="6270041" y="1965960"/>
            <a:ext cx="5361127" cy="3017520"/>
          </a:xfrm>
          <a:prstGeom prst="roundRect">
            <a:avLst>
              <a:gd name="adj" fmla="val 8000"/>
            </a:avLst>
          </a:prstGeom>
          <a:solidFill>
            <a:srgbClr val="34D399">
              <a:alpha val="8000"/>
            </a:srgbClr>
          </a:solidFill>
          <a:ln w="22225">
            <a:solidFill>
              <a:srgbClr val="34D399"/>
            </a:solidFill>
            <a:prstDash val="solid"/>
          </a:ln>
        </p:spPr>
        <p:txBody>
          <a:bodyPr wrap="square" lIns="164592" tIns="109728" rIns="137160" bIns="91440" rtlCol="0" anchor="t">
            <a:noAutofit/>
          </a:bodyPr>
          <a:lstStyle/>
          <a:p>
            <a:endParaRPr lang="en-US"/>
          </a:p>
        </p:txBody>
      </p:sp>
      <p:sp>
        <p:nvSpPr>
          <p:cNvPr id="109" name="s109"/>
          <p:cNvSpPr/>
          <p:nvPr/>
        </p:nvSpPr>
        <p:spPr>
          <a:xfrm>
            <a:off x="6544361" y="2240280"/>
            <a:ext cx="548640" cy="54864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10" name="img110"/>
          <p:cNvPicPr>
            <a:picLocks noChangeAspect="1"/>
          </p:cNvPicPr>
          <p:nvPr/>
        </p:nvPicPr>
        <p:blipFill>
          <a:blip r:embed="rId5"/>
          <a:stretch>
            <a:fillRect/>
          </a:stretch>
        </p:blipFill>
        <p:spPr>
          <a:xfrm>
            <a:off x="6676034" y="2371954"/>
            <a:ext cx="285293" cy="285293"/>
          </a:xfrm>
          <a:prstGeom prst="rect">
            <a:avLst/>
          </a:prstGeom>
        </p:spPr>
      </p:pic>
      <p:sp>
        <p:nvSpPr>
          <p:cNvPr id="111" name="s111"/>
          <p:cNvSpPr txBox="1"/>
          <p:nvPr/>
        </p:nvSpPr>
        <p:spPr>
          <a:xfrm>
            <a:off x="7275881" y="2286000"/>
            <a:ext cx="417240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REALITY</a:t>
            </a:r>
            <a:endParaRPr lang="en-US" sz="1200" dirty="0"/>
          </a:p>
        </p:txBody>
      </p:sp>
      <p:sp>
        <p:nvSpPr>
          <p:cNvPr id="112" name="s112"/>
          <p:cNvSpPr txBox="1"/>
          <p:nvPr/>
        </p:nvSpPr>
        <p:spPr>
          <a:xfrm>
            <a:off x="6544361" y="2971800"/>
            <a:ext cx="4812487" cy="10972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700" b="1" dirty="0">
                <a:solidFill>
                  <a:srgbClr val="FFFFFF"/>
                </a:solidFill>
                <a:latin typeface="Segoe UI"/>
                <a:ea typeface="Segoe UI"/>
                <a:cs typeface="Segoe UI"/>
              </a:rPr>
              <a:t>Agile is a mindset: a way of thinking about building products, collaborating with customers, and responding to change.</a:t>
            </a:r>
            <a:endParaRPr lang="en-US" sz="1700" dirty="0"/>
          </a:p>
        </p:txBody>
      </p:sp>
      <p:sp>
        <p:nvSpPr>
          <p:cNvPr id="113" name="s113"/>
          <p:cNvSpPr txBox="1"/>
          <p:nvPr/>
        </p:nvSpPr>
        <p:spPr>
          <a:xfrm>
            <a:off x="6544361" y="4114800"/>
            <a:ext cx="4812487" cy="7315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94A3B8"/>
                </a:solidFill>
                <a:latin typeface="Segoe UI"/>
                <a:ea typeface="Segoe UI"/>
                <a:cs typeface="Segoe UI"/>
              </a:rPr>
              <a:t>Developers, PMs, product owners, analysts and executives may describe it differently, but they share the same philosophy.</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107"/>
                                        </p:tgtEl>
                                        <p:attrNameLst>
                                          <p:attrName>style.visibility</p:attrName>
                                        </p:attrNameLst>
                                      </p:cBhvr>
                                      <p:to>
                                        <p:strVal val="visible"/>
                                      </p:to>
                                    </p:set>
                                    <p:anim calcmode="lin" valueType="num">
                                      <p:cBhvr additive="base">
                                        <p:cTn id="33" dur="45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34" dur="450" decel="100000" fill="hold"/>
                                        <p:tgtEl>
                                          <p:spTgt spid="107"/>
                                        </p:tgtEl>
                                        <p:attrNameLst>
                                          <p:attrName>ppt_h</p:attrName>
                                        </p:attrNameLst>
                                      </p:cBhvr>
                                      <p:tavLst>
                                        <p:tav tm="0">
                                          <p:val>
                                            <p:strVal val="#ppt_h*0.3"/>
                                          </p:val>
                                        </p:tav>
                                        <p:tav tm="100000">
                                          <p:val>
                                            <p:strVal val="#ppt_h*1.08"/>
                                          </p:val>
                                        </p:tav>
                                      </p:tavLst>
                                    </p:anim>
                                    <p:animEffect transition="in" filter="fade">
                                      <p:cBhvr>
                                        <p:cTn id="35" dur="225"/>
                                        <p:tgtEl>
                                          <p:spTgt spid="107"/>
                                        </p:tgtEl>
                                      </p:cBhvr>
                                    </p:animEffect>
                                    <p:anim calcmode="lin" valueType="num">
                                      <p:cBhvr additive="base">
                                        <p:cTn id="36" dur="160" fill="hold">
                                          <p:stCondLst>
                                            <p:cond delay="450"/>
                                          </p:stCondLst>
                                        </p:cTn>
                                        <p:tgtEl>
                                          <p:spTgt spid="107"/>
                                        </p:tgtEl>
                                        <p:attrNameLst>
                                          <p:attrName>ppt_w</p:attrName>
                                        </p:attrNameLst>
                                      </p:cBhvr>
                                      <p:tavLst>
                                        <p:tav tm="0">
                                          <p:val>
                                            <p:strVal val="#ppt_w*1.08"/>
                                          </p:val>
                                        </p:tav>
                                        <p:tav tm="100000">
                                          <p:val>
                                            <p:strVal val="#ppt_w"/>
                                          </p:val>
                                        </p:tav>
                                      </p:tavLst>
                                    </p:anim>
                                    <p:anim calcmode="lin" valueType="num">
                                      <p:cBhvr additive="base">
                                        <p:cTn id="37" dur="160" fill="hold">
                                          <p:stCondLst>
                                            <p:cond delay="450"/>
                                          </p:stCondLst>
                                        </p:cTn>
                                        <p:tgtEl>
                                          <p:spTgt spid="107"/>
                                        </p:tgtEl>
                                        <p:attrNameLst>
                                          <p:attrName>ppt_h</p:attrName>
                                        </p:attrNameLst>
                                      </p:cBhvr>
                                      <p:tavLst>
                                        <p:tav tm="0">
                                          <p:val>
                                            <p:strVal val="#ppt_h*1.08"/>
                                          </p:val>
                                        </p:tav>
                                        <p:tav tm="100000">
                                          <p:val>
                                            <p:strVal val="#ppt_h"/>
                                          </p:val>
                                        </p:tav>
                                      </p:tavLst>
                                    </p:anim>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grpId="0" nodeType="clickEffect">
                                  <p:stCondLst>
                                    <p:cond delay="0"/>
                                  </p:stCondLst>
                                  <p:childTnLst>
                                    <p:set>
                                      <p:cBhvr>
                                        <p:cTn id="41" dur="1" fill="hold">
                                          <p:stCondLst>
                                            <p:cond delay="0"/>
                                          </p:stCondLst>
                                        </p:cTn>
                                        <p:tgtEl>
                                          <p:spTgt spid="108"/>
                                        </p:tgtEl>
                                        <p:attrNameLst>
                                          <p:attrName>style.visibility</p:attrName>
                                        </p:attrNameLst>
                                      </p:cBhvr>
                                      <p:to>
                                        <p:strVal val="visible"/>
                                      </p:to>
                                    </p:set>
                                    <p:anim calcmode="lin" valueType="num">
                                      <p:cBhvr additive="base">
                                        <p:cTn id="42"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3" dur="500" decel="100000" fill="hold"/>
                                        <p:tgtEl>
                                          <p:spTgt spid="108"/>
                                        </p:tgtEl>
                                        <p:attrNameLst>
                                          <p:attrName>ppt_h</p:attrName>
                                        </p:attrNameLst>
                                      </p:cBhvr>
                                      <p:tavLst>
                                        <p:tav tm="0">
                                          <p:val>
                                            <p:strVal val="#ppt_h*0.55"/>
                                          </p:val>
                                        </p:tav>
                                        <p:tav tm="100000">
                                          <p:val>
                                            <p:strVal val="#ppt_h"/>
                                          </p:val>
                                        </p:tav>
                                      </p:tavLst>
                                    </p:anim>
                                    <p:animEffect transition="in" filter="fade">
                                      <p:cBhvr>
                                        <p:cTn id="44" dur="500"/>
                                        <p:tgtEl>
                                          <p:spTgt spid="108"/>
                                        </p:tgtEl>
                                      </p:cBhvr>
                                    </p:animEffect>
                                  </p:childTnLst>
                                </p:cTn>
                              </p:par>
                              <p:par>
                                <p:cTn id="45" presetID="42" presetClass="entr" presetSubtype="0" fill="hold" grpId="0" nodeType="withEffect">
                                  <p:stCondLst>
                                    <p:cond delay="200"/>
                                  </p:stCondLst>
                                  <p:childTnLst>
                                    <p:set>
                                      <p:cBhvr>
                                        <p:cTn id="46" dur="1" fill="hold">
                                          <p:stCondLst>
                                            <p:cond delay="0"/>
                                          </p:stCondLst>
                                        </p:cTn>
                                        <p:tgtEl>
                                          <p:spTgt spid="109"/>
                                        </p:tgtEl>
                                        <p:attrNameLst>
                                          <p:attrName>style.visibility</p:attrName>
                                        </p:attrNameLst>
                                      </p:cBhvr>
                                      <p:to>
                                        <p:strVal val="visible"/>
                                      </p:to>
                                    </p:set>
                                    <p:animEffect transition="in" filter="fade">
                                      <p:cBhvr>
                                        <p:cTn id="47" dur="500"/>
                                        <p:tgtEl>
                                          <p:spTgt spid="109"/>
                                        </p:tgtEl>
                                      </p:cBhvr>
                                    </p:animEffect>
                                    <p:anim calcmode="lin" valueType="num">
                                      <p:cBhvr additive="base">
                                        <p:cTn id="48" dur="500" decel="100000" fill="hold"/>
                                        <p:tgtEl>
                                          <p:spTgt spid="109"/>
                                        </p:tgtEl>
                                        <p:attrNameLst>
                                          <p:attrName>ppt_y</p:attrName>
                                        </p:attrNameLst>
                                      </p:cBhvr>
                                      <p:tavLst>
                                        <p:tav tm="0">
                                          <p:val>
                                            <p:strVal val="#ppt_y+0.06"/>
                                          </p:val>
                                        </p:tav>
                                        <p:tav tm="100000">
                                          <p:val>
                                            <p:strVal val="#ppt_y"/>
                                          </p:val>
                                        </p:tav>
                                      </p:tavLst>
                                    </p:anim>
                                  </p:childTnLst>
                                </p:cTn>
                              </p:par>
                              <p:par>
                                <p:cTn id="49" presetID="42" presetClass="entr" presetSubtype="0" fill="hold" nodeType="withEffect">
                                  <p:stCondLst>
                                    <p:cond delay="200"/>
                                  </p:stCondLst>
                                  <p:childTnLst>
                                    <p:set>
                                      <p:cBhvr>
                                        <p:cTn id="50" dur="1" fill="hold">
                                          <p:stCondLst>
                                            <p:cond delay="0"/>
                                          </p:stCondLst>
                                        </p:cTn>
                                        <p:tgtEl>
                                          <p:spTgt spid="110"/>
                                        </p:tgtEl>
                                        <p:attrNameLst>
                                          <p:attrName>style.visibility</p:attrName>
                                        </p:attrNameLst>
                                      </p:cBhvr>
                                      <p:to>
                                        <p:strVal val="visible"/>
                                      </p:to>
                                    </p:set>
                                    <p:animEffect transition="in" filter="fade">
                                      <p:cBhvr>
                                        <p:cTn id="51" dur="500"/>
                                        <p:tgtEl>
                                          <p:spTgt spid="110"/>
                                        </p:tgtEl>
                                      </p:cBhvr>
                                    </p:animEffect>
                                    <p:anim calcmode="lin" valueType="num">
                                      <p:cBhvr additive="base">
                                        <p:cTn id="52" dur="500" decel="100000" fill="hold"/>
                                        <p:tgtEl>
                                          <p:spTgt spid="110"/>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200"/>
                                  </p:stCondLst>
                                  <p:childTnLst>
                                    <p:set>
                                      <p:cBhvr>
                                        <p:cTn id="54" dur="1" fill="hold">
                                          <p:stCondLst>
                                            <p:cond delay="0"/>
                                          </p:stCondLst>
                                        </p:cTn>
                                        <p:tgtEl>
                                          <p:spTgt spid="111"/>
                                        </p:tgtEl>
                                        <p:attrNameLst>
                                          <p:attrName>style.visibility</p:attrName>
                                        </p:attrNameLst>
                                      </p:cBhvr>
                                      <p:to>
                                        <p:strVal val="visible"/>
                                      </p:to>
                                    </p:set>
                                    <p:animEffect transition="in" filter="fade">
                                      <p:cBhvr>
                                        <p:cTn id="55" dur="500"/>
                                        <p:tgtEl>
                                          <p:spTgt spid="111"/>
                                        </p:tgtEl>
                                      </p:cBhvr>
                                    </p:animEffect>
                                    <p:anim calcmode="lin" valueType="num">
                                      <p:cBhvr additive="base">
                                        <p:cTn id="56" dur="500" decel="100000" fill="hold"/>
                                        <p:tgtEl>
                                          <p:spTgt spid="111"/>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200"/>
                                  </p:stCondLst>
                                  <p:childTnLst>
                                    <p:set>
                                      <p:cBhvr>
                                        <p:cTn id="58" dur="1" fill="hold">
                                          <p:stCondLst>
                                            <p:cond delay="0"/>
                                          </p:stCondLst>
                                        </p:cTn>
                                        <p:tgtEl>
                                          <p:spTgt spid="112"/>
                                        </p:tgtEl>
                                        <p:attrNameLst>
                                          <p:attrName>style.visibility</p:attrName>
                                        </p:attrNameLst>
                                      </p:cBhvr>
                                      <p:to>
                                        <p:strVal val="visible"/>
                                      </p:to>
                                    </p:set>
                                    <p:animEffect transition="in" filter="fade">
                                      <p:cBhvr>
                                        <p:cTn id="59" dur="500"/>
                                        <p:tgtEl>
                                          <p:spTgt spid="112"/>
                                        </p:tgtEl>
                                      </p:cBhvr>
                                    </p:animEffect>
                                    <p:anim calcmode="lin" valueType="num">
                                      <p:cBhvr additive="base">
                                        <p:cTn id="60" dur="500" decel="100000" fill="hold"/>
                                        <p:tgtEl>
                                          <p:spTgt spid="112"/>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200"/>
                                  </p:stCondLst>
                                  <p:childTnLst>
                                    <p:set>
                                      <p:cBhvr>
                                        <p:cTn id="62" dur="1" fill="hold">
                                          <p:stCondLst>
                                            <p:cond delay="0"/>
                                          </p:stCondLst>
                                        </p:cTn>
                                        <p:tgtEl>
                                          <p:spTgt spid="113"/>
                                        </p:tgtEl>
                                        <p:attrNameLst>
                                          <p:attrName>style.visibility</p:attrName>
                                        </p:attrNameLst>
                                      </p:cBhvr>
                                      <p:to>
                                        <p:strVal val="visible"/>
                                      </p:to>
                                    </p:set>
                                    <p:animEffect transition="in" filter="fade">
                                      <p:cBhvr>
                                        <p:cTn id="63" dur="500"/>
                                        <p:tgtEl>
                                          <p:spTgt spid="113"/>
                                        </p:tgtEl>
                                      </p:cBhvr>
                                    </p:animEffect>
                                    <p:anim calcmode="lin" valueType="num">
                                      <p:cBhvr additive="base">
                                        <p:cTn id="64" dur="500" decel="100000" fill="hold"/>
                                        <p:tgtEl>
                                          <p:spTgt spid="113"/>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8" grpId="0" animBg="1"/>
      <p:bldP spid="109" grpId="0" animBg="1"/>
      <p:bldP spid="111" grpId="0" animBg="1"/>
      <p:bldP spid="112" grpId="0" animBg="1"/>
      <p:bldP spid="113"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PHILOSOPHY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Agile Is a Mindset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Not a process with fixed rules: a decision-making philosophy.</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MINDSET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196</a:t>
            </a:r>
            <a:endParaRPr lang="en-US" sz="850" dirty="0"/>
          </a:p>
        </p:txBody>
      </p:sp>
      <p:sp>
        <p:nvSpPr>
          <p:cNvPr id="101" name="s101"/>
          <p:cNvSpPr/>
          <p:nvPr/>
        </p:nvSpPr>
        <p:spPr>
          <a:xfrm>
            <a:off x="543154" y="1965960"/>
            <a:ext cx="11088014" cy="960120"/>
          </a:xfrm>
          <a:prstGeom prst="roundRect">
            <a:avLst>
              <a:gd name="adj" fmla="val 12000"/>
            </a:avLst>
          </a:prstGeom>
          <a:solidFill>
            <a:srgbClr val="111B2E"/>
          </a:solidFill>
          <a:ln w="12700">
            <a:solidFill>
              <a:srgbClr val="34D399"/>
            </a:solidFill>
            <a:prstDash val="solid"/>
          </a:ln>
        </p:spPr>
        <p:txBody>
          <a:bodyPr wrap="square" lIns="365760" tIns="45720" rIns="365760" bIns="45720" rtlCol="0" anchor="ctr">
            <a:noAutofit/>
          </a:bodyPr>
          <a:lstStyle/>
          <a:p>
            <a:pPr marL="0" indent="0" algn="ctr">
              <a:spcBef>
                <a:spcPts val="0"/>
              </a:spcBef>
              <a:spcAft>
                <a:spcPts val="0"/>
              </a:spcAft>
              <a:buNone/>
            </a:pPr>
            <a:r>
              <a:rPr lang="en-US" sz="1700" b="0" dirty="0">
                <a:solidFill>
                  <a:srgbClr val="E2E8F0"/>
                </a:solidFill>
                <a:latin typeface="Segoe UI"/>
                <a:ea typeface="Segoe UI"/>
                <a:cs typeface="Segoe UI"/>
              </a:rPr>
              <a:t>Whenever a team faces a choice, Agile helps it optimize for </a:t>
            </a:r>
            <a:r>
              <a:rPr lang="en-US" sz="1700" b="1" dirty="0">
                <a:solidFill>
                  <a:srgbClr val="34D399"/>
                </a:solidFill>
                <a:latin typeface="Segoe UI"/>
                <a:ea typeface="Segoe UI"/>
                <a:cs typeface="Segoe UI"/>
              </a:rPr>
              <a:t>value, collaboration, adaptation</a:t>
            </a:r>
            <a:r>
              <a:rPr lang="en-US" sz="1700" b="0" dirty="0">
                <a:solidFill>
                  <a:srgbClr val="E2E8F0"/>
                </a:solidFill>
                <a:latin typeface="Segoe UI"/>
                <a:ea typeface="Segoe UI"/>
                <a:cs typeface="Segoe UI"/>
              </a:rPr>
              <a:t> and </a:t>
            </a:r>
            <a:r>
              <a:rPr lang="en-US" sz="1700" b="1" dirty="0">
                <a:solidFill>
                  <a:srgbClr val="34D399"/>
                </a:solidFill>
                <a:latin typeface="Segoe UI"/>
                <a:ea typeface="Segoe UI"/>
                <a:cs typeface="Segoe UI"/>
              </a:rPr>
              <a:t>continuous improvement</a:t>
            </a:r>
            <a:r>
              <a:rPr lang="en-US" sz="1700" b="0" dirty="0">
                <a:solidFill>
                  <a:srgbClr val="E2E8F0"/>
                </a:solidFill>
                <a:latin typeface="Segoe UI"/>
                <a:ea typeface="Segoe UI"/>
                <a:cs typeface="Segoe UI"/>
              </a:rPr>
              <a:t>.</a:t>
            </a:r>
            <a:endParaRPr lang="en-US" sz="1700" dirty="0"/>
          </a:p>
        </p:txBody>
      </p:sp>
      <p:sp>
        <p:nvSpPr>
          <p:cNvPr id="102" name="s102"/>
          <p:cNvSpPr/>
          <p:nvPr/>
        </p:nvSpPr>
        <p:spPr>
          <a:xfrm>
            <a:off x="543154" y="3200400"/>
            <a:ext cx="3513125" cy="2331720"/>
          </a:xfrm>
          <a:prstGeom prst="roundRect">
            <a:avLst>
              <a:gd name="adj" fmla="val 10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03" name="s103"/>
          <p:cNvSpPr/>
          <p:nvPr/>
        </p:nvSpPr>
        <p:spPr>
          <a:xfrm>
            <a:off x="1888236" y="3429000"/>
            <a:ext cx="822960" cy="82296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04" name="img104"/>
          <p:cNvPicPr>
            <a:picLocks noChangeAspect="1"/>
          </p:cNvPicPr>
          <p:nvPr/>
        </p:nvPicPr>
        <p:blipFill>
          <a:blip r:embed="rId4"/>
          <a:stretch>
            <a:fillRect/>
          </a:stretch>
        </p:blipFill>
        <p:spPr>
          <a:xfrm>
            <a:off x="2085746" y="3626510"/>
            <a:ext cx="427939" cy="427939"/>
          </a:xfrm>
          <a:prstGeom prst="rect">
            <a:avLst/>
          </a:prstGeom>
        </p:spPr>
      </p:pic>
      <p:sp>
        <p:nvSpPr>
          <p:cNvPr id="105" name="s105"/>
          <p:cNvSpPr txBox="1"/>
          <p:nvPr/>
        </p:nvSpPr>
        <p:spPr>
          <a:xfrm>
            <a:off x="543154" y="4389120"/>
            <a:ext cx="3513125"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500" b="1" dirty="0">
                <a:solidFill>
                  <a:srgbClr val="13D0F7"/>
                </a:solidFill>
                <a:latin typeface="Segoe UI"/>
                <a:ea typeface="Segoe UI"/>
                <a:cs typeface="Segoe UI"/>
              </a:rPr>
              <a:t>BUILD</a:t>
            </a:r>
            <a:endParaRPr lang="en-US" sz="1500" dirty="0"/>
          </a:p>
        </p:txBody>
      </p:sp>
      <p:sp>
        <p:nvSpPr>
          <p:cNvPr id="106" name="s106"/>
          <p:cNvSpPr txBox="1"/>
          <p:nvPr/>
        </p:nvSpPr>
        <p:spPr>
          <a:xfrm>
            <a:off x="817474" y="4754880"/>
            <a:ext cx="2964485" cy="68580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E2E8F0"/>
                </a:solidFill>
                <a:latin typeface="Segoe UI"/>
                <a:ea typeface="Segoe UI"/>
                <a:cs typeface="Segoe UI"/>
              </a:rPr>
              <a:t>Products that deliver real customer value, early and often.</a:t>
            </a:r>
            <a:endParaRPr lang="en-US" sz="1300" dirty="0"/>
          </a:p>
        </p:txBody>
      </p:sp>
      <p:sp>
        <p:nvSpPr>
          <p:cNvPr id="107" name="s107"/>
          <p:cNvSpPr/>
          <p:nvPr/>
        </p:nvSpPr>
        <p:spPr>
          <a:xfrm>
            <a:off x="4330598" y="3200400"/>
            <a:ext cx="3513125" cy="2331720"/>
          </a:xfrm>
          <a:prstGeom prst="roundRect">
            <a:avLst>
              <a:gd name="adj" fmla="val 10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08" name="s108"/>
          <p:cNvSpPr/>
          <p:nvPr/>
        </p:nvSpPr>
        <p:spPr>
          <a:xfrm>
            <a:off x="5675681" y="3429000"/>
            <a:ext cx="822960" cy="82296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09" name="img109"/>
          <p:cNvPicPr>
            <a:picLocks noChangeAspect="1"/>
          </p:cNvPicPr>
          <p:nvPr/>
        </p:nvPicPr>
        <p:blipFill>
          <a:blip r:embed="rId5"/>
          <a:stretch>
            <a:fillRect/>
          </a:stretch>
        </p:blipFill>
        <p:spPr>
          <a:xfrm>
            <a:off x="5873191" y="3626510"/>
            <a:ext cx="427939" cy="427939"/>
          </a:xfrm>
          <a:prstGeom prst="rect">
            <a:avLst/>
          </a:prstGeom>
        </p:spPr>
      </p:pic>
      <p:sp>
        <p:nvSpPr>
          <p:cNvPr id="110" name="s110"/>
          <p:cNvSpPr txBox="1"/>
          <p:nvPr/>
        </p:nvSpPr>
        <p:spPr>
          <a:xfrm>
            <a:off x="4330598" y="4389120"/>
            <a:ext cx="3513125"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500" b="1" dirty="0">
                <a:solidFill>
                  <a:srgbClr val="FBBF24"/>
                </a:solidFill>
                <a:latin typeface="Segoe UI"/>
                <a:ea typeface="Segoe UI"/>
                <a:cs typeface="Segoe UI"/>
              </a:rPr>
              <a:t>COLLABORATE</a:t>
            </a:r>
            <a:endParaRPr lang="en-US" sz="1500" dirty="0"/>
          </a:p>
        </p:txBody>
      </p:sp>
      <p:sp>
        <p:nvSpPr>
          <p:cNvPr id="111" name="s111"/>
          <p:cNvSpPr txBox="1"/>
          <p:nvPr/>
        </p:nvSpPr>
        <p:spPr>
          <a:xfrm>
            <a:off x="4604918" y="4754880"/>
            <a:ext cx="2964485" cy="68580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E2E8F0"/>
                </a:solidFill>
                <a:latin typeface="Segoe UI"/>
                <a:ea typeface="Segoe UI"/>
                <a:cs typeface="Segoe UI"/>
              </a:rPr>
              <a:t>Work with customers as partners, not as ticket machines.</a:t>
            </a:r>
            <a:endParaRPr lang="en-US" sz="1300" dirty="0"/>
          </a:p>
        </p:txBody>
      </p:sp>
      <p:sp>
        <p:nvSpPr>
          <p:cNvPr id="112" name="s112"/>
          <p:cNvSpPr/>
          <p:nvPr/>
        </p:nvSpPr>
        <p:spPr>
          <a:xfrm>
            <a:off x="8118043" y="3200400"/>
            <a:ext cx="3513125" cy="2331720"/>
          </a:xfrm>
          <a:prstGeom prst="roundRect">
            <a:avLst>
              <a:gd name="adj" fmla="val 10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13" name="s113"/>
          <p:cNvSpPr/>
          <p:nvPr/>
        </p:nvSpPr>
        <p:spPr>
          <a:xfrm>
            <a:off x="9463126" y="3429000"/>
            <a:ext cx="822960" cy="82296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14" name="img114"/>
          <p:cNvPicPr>
            <a:picLocks noChangeAspect="1"/>
          </p:cNvPicPr>
          <p:nvPr/>
        </p:nvPicPr>
        <p:blipFill>
          <a:blip r:embed="rId6"/>
          <a:stretch>
            <a:fillRect/>
          </a:stretch>
        </p:blipFill>
        <p:spPr>
          <a:xfrm>
            <a:off x="9660636" y="3626510"/>
            <a:ext cx="427939" cy="427939"/>
          </a:xfrm>
          <a:prstGeom prst="rect">
            <a:avLst/>
          </a:prstGeom>
        </p:spPr>
      </p:pic>
      <p:sp>
        <p:nvSpPr>
          <p:cNvPr id="115" name="s115"/>
          <p:cNvSpPr txBox="1"/>
          <p:nvPr/>
        </p:nvSpPr>
        <p:spPr>
          <a:xfrm>
            <a:off x="8118043" y="4389120"/>
            <a:ext cx="3513125"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500" b="1" dirty="0">
                <a:solidFill>
                  <a:srgbClr val="A78BFA"/>
                </a:solidFill>
                <a:latin typeface="Segoe UI"/>
                <a:ea typeface="Segoe UI"/>
                <a:cs typeface="Segoe UI"/>
              </a:rPr>
              <a:t>ADAPT</a:t>
            </a:r>
            <a:endParaRPr lang="en-US" sz="1500" dirty="0"/>
          </a:p>
        </p:txBody>
      </p:sp>
      <p:sp>
        <p:nvSpPr>
          <p:cNvPr id="116" name="s116"/>
          <p:cNvSpPr txBox="1"/>
          <p:nvPr/>
        </p:nvSpPr>
        <p:spPr>
          <a:xfrm>
            <a:off x="8392363" y="4754880"/>
            <a:ext cx="2964485" cy="68580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E2E8F0"/>
                </a:solidFill>
                <a:latin typeface="Segoe UI"/>
                <a:ea typeface="Segoe UI"/>
                <a:cs typeface="Segoe UI"/>
              </a:rPr>
              <a:t>Treat change as information, not as a failure of the plan.</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6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600" decel="100000" fill="hold"/>
                                        <p:tgtEl>
                                          <p:spTgt spid="101"/>
                                        </p:tgtEl>
                                        <p:attrNameLst>
                                          <p:attrName>ppt_h</p:attrName>
                                        </p:attrNameLst>
                                      </p:cBhvr>
                                      <p:tavLst>
                                        <p:tav tm="0">
                                          <p:val>
                                            <p:strVal val="#ppt_h*0.55"/>
                                          </p:val>
                                        </p:tav>
                                        <p:tav tm="100000">
                                          <p:val>
                                            <p:strVal val="#ppt_h"/>
                                          </p:val>
                                        </p:tav>
                                      </p:tavLst>
                                    </p:anim>
                                    <p:animEffect transition="in" filter="fade">
                                      <p:cBhvr>
                                        <p:cTn id="9" dur="600"/>
                                        <p:tgtEl>
                                          <p:spTgt spid="101"/>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anim calcmode="lin" valueType="num">
                                      <p:cBhvr additive="base">
                                        <p:cTn id="15" dur="5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anim calcmode="lin" valueType="num">
                                      <p:cBhvr additive="base">
                                        <p:cTn id="23" dur="50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00"/>
                                        <p:tgtEl>
                                          <p:spTgt spid="105"/>
                                        </p:tgtEl>
                                      </p:cBhvr>
                                    </p:animEffect>
                                    <p:anim calcmode="lin" valueType="num">
                                      <p:cBhvr additive="base">
                                        <p:cTn id="27" dur="50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00"/>
                                        <p:tgtEl>
                                          <p:spTgt spid="106"/>
                                        </p:tgtEl>
                                      </p:cBhvr>
                                    </p:animEffect>
                                    <p:anim calcmode="lin" valueType="num">
                                      <p:cBhvr additive="base">
                                        <p:cTn id="31" dur="500" decel="100000" fill="hold"/>
                                        <p:tgtEl>
                                          <p:spTgt spid="106"/>
                                        </p:tgtEl>
                                        <p:attrNameLst>
                                          <p:attrName>ppt_y</p:attrName>
                                        </p:attrNameLst>
                                      </p:cBhvr>
                                      <p:tavLst>
                                        <p:tav tm="0">
                                          <p:val>
                                            <p:strVal val="#ppt_y+0.06"/>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107"/>
                                        </p:tgtEl>
                                        <p:attrNameLst>
                                          <p:attrName>style.visibility</p:attrName>
                                        </p:attrNameLst>
                                      </p:cBhvr>
                                      <p:to>
                                        <p:strVal val="visible"/>
                                      </p:to>
                                    </p:set>
                                    <p:animEffect transition="in" filter="fade">
                                      <p:cBhvr>
                                        <p:cTn id="36" dur="500"/>
                                        <p:tgtEl>
                                          <p:spTgt spid="107"/>
                                        </p:tgtEl>
                                      </p:cBhvr>
                                    </p:animEffect>
                                    <p:anim calcmode="lin" valueType="num">
                                      <p:cBhvr additive="base">
                                        <p:cTn id="37" dur="500" decel="100000" fill="hold"/>
                                        <p:tgtEl>
                                          <p:spTgt spid="107"/>
                                        </p:tgtEl>
                                        <p:attrNameLst>
                                          <p:attrName>ppt_y</p:attrName>
                                        </p:attrNameLst>
                                      </p:cBhvr>
                                      <p:tavLst>
                                        <p:tav tm="0">
                                          <p:val>
                                            <p:strVal val="#ppt_y+0.06"/>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108"/>
                                        </p:tgtEl>
                                        <p:attrNameLst>
                                          <p:attrName>style.visibility</p:attrName>
                                        </p:attrNameLst>
                                      </p:cBhvr>
                                      <p:to>
                                        <p:strVal val="visible"/>
                                      </p:to>
                                    </p:set>
                                    <p:animEffect transition="in" filter="fade">
                                      <p:cBhvr>
                                        <p:cTn id="40" dur="500"/>
                                        <p:tgtEl>
                                          <p:spTgt spid="108"/>
                                        </p:tgtEl>
                                      </p:cBhvr>
                                    </p:animEffect>
                                    <p:anim calcmode="lin" valueType="num">
                                      <p:cBhvr additive="base">
                                        <p:cTn id="41" dur="500" decel="100000" fill="hold"/>
                                        <p:tgtEl>
                                          <p:spTgt spid="108"/>
                                        </p:tgtEl>
                                        <p:attrNameLst>
                                          <p:attrName>ppt_y</p:attrName>
                                        </p:attrNameLst>
                                      </p:cBhvr>
                                      <p:tavLst>
                                        <p:tav tm="0">
                                          <p:val>
                                            <p:strVal val="#ppt_y+0.06"/>
                                          </p:val>
                                        </p:tav>
                                        <p:tav tm="100000">
                                          <p:val>
                                            <p:strVal val="#ppt_y"/>
                                          </p:val>
                                        </p:tav>
                                      </p:tavLst>
                                    </p:anim>
                                  </p:childTnLst>
                                </p:cTn>
                              </p:par>
                              <p:par>
                                <p:cTn id="42" presetID="42" presetClass="entr" presetSubtype="0" fill="hold" nodeType="withEffect">
                                  <p:stCondLst>
                                    <p:cond delay="0"/>
                                  </p:stCondLst>
                                  <p:childTnLst>
                                    <p:set>
                                      <p:cBhvr>
                                        <p:cTn id="43" dur="1" fill="hold">
                                          <p:stCondLst>
                                            <p:cond delay="0"/>
                                          </p:stCondLst>
                                        </p:cTn>
                                        <p:tgtEl>
                                          <p:spTgt spid="109"/>
                                        </p:tgtEl>
                                        <p:attrNameLst>
                                          <p:attrName>style.visibility</p:attrName>
                                        </p:attrNameLst>
                                      </p:cBhvr>
                                      <p:to>
                                        <p:strVal val="visible"/>
                                      </p:to>
                                    </p:set>
                                    <p:animEffect transition="in" filter="fade">
                                      <p:cBhvr>
                                        <p:cTn id="44" dur="500"/>
                                        <p:tgtEl>
                                          <p:spTgt spid="109"/>
                                        </p:tgtEl>
                                      </p:cBhvr>
                                    </p:animEffect>
                                    <p:anim calcmode="lin" valueType="num">
                                      <p:cBhvr additive="base">
                                        <p:cTn id="45" dur="500" decel="100000" fill="hold"/>
                                        <p:tgtEl>
                                          <p:spTgt spid="109"/>
                                        </p:tgtEl>
                                        <p:attrNameLst>
                                          <p:attrName>ppt_y</p:attrName>
                                        </p:attrNameLst>
                                      </p:cBhvr>
                                      <p:tavLst>
                                        <p:tav tm="0">
                                          <p:val>
                                            <p:strVal val="#ppt_y+0.06"/>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110"/>
                                        </p:tgtEl>
                                        <p:attrNameLst>
                                          <p:attrName>style.visibility</p:attrName>
                                        </p:attrNameLst>
                                      </p:cBhvr>
                                      <p:to>
                                        <p:strVal val="visible"/>
                                      </p:to>
                                    </p:set>
                                    <p:animEffect transition="in" filter="fade">
                                      <p:cBhvr>
                                        <p:cTn id="48" dur="500"/>
                                        <p:tgtEl>
                                          <p:spTgt spid="110"/>
                                        </p:tgtEl>
                                      </p:cBhvr>
                                    </p:animEffect>
                                    <p:anim calcmode="lin" valueType="num">
                                      <p:cBhvr additive="base">
                                        <p:cTn id="49" dur="500" decel="100000" fill="hold"/>
                                        <p:tgtEl>
                                          <p:spTgt spid="110"/>
                                        </p:tgtEl>
                                        <p:attrNameLst>
                                          <p:attrName>ppt_y</p:attrName>
                                        </p:attrNameLst>
                                      </p:cBhvr>
                                      <p:tavLst>
                                        <p:tav tm="0">
                                          <p:val>
                                            <p:strVal val="#ppt_y+0.06"/>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111"/>
                                        </p:tgtEl>
                                        <p:attrNameLst>
                                          <p:attrName>style.visibility</p:attrName>
                                        </p:attrNameLst>
                                      </p:cBhvr>
                                      <p:to>
                                        <p:strVal val="visible"/>
                                      </p:to>
                                    </p:set>
                                    <p:animEffect transition="in" filter="fade">
                                      <p:cBhvr>
                                        <p:cTn id="52" dur="500"/>
                                        <p:tgtEl>
                                          <p:spTgt spid="111"/>
                                        </p:tgtEl>
                                      </p:cBhvr>
                                    </p:animEffect>
                                    <p:anim calcmode="lin" valueType="num">
                                      <p:cBhvr additive="base">
                                        <p:cTn id="53" dur="500" decel="100000" fill="hold"/>
                                        <p:tgtEl>
                                          <p:spTgt spid="111"/>
                                        </p:tgtEl>
                                        <p:attrNameLst>
                                          <p:attrName>ppt_y</p:attrName>
                                        </p:attrNameLst>
                                      </p:cBhvr>
                                      <p:tavLst>
                                        <p:tav tm="0">
                                          <p:val>
                                            <p:strVal val="#ppt_y+0.06"/>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42" presetClass="entr" presetSubtype="0" fill="hold" grpId="0" nodeType="clickEffect">
                                  <p:stCondLst>
                                    <p:cond delay="0"/>
                                  </p:stCondLst>
                                  <p:childTnLst>
                                    <p:set>
                                      <p:cBhvr>
                                        <p:cTn id="57" dur="1" fill="hold">
                                          <p:stCondLst>
                                            <p:cond delay="0"/>
                                          </p:stCondLst>
                                        </p:cTn>
                                        <p:tgtEl>
                                          <p:spTgt spid="112"/>
                                        </p:tgtEl>
                                        <p:attrNameLst>
                                          <p:attrName>style.visibility</p:attrName>
                                        </p:attrNameLst>
                                      </p:cBhvr>
                                      <p:to>
                                        <p:strVal val="visible"/>
                                      </p:to>
                                    </p:set>
                                    <p:animEffect transition="in" filter="fade">
                                      <p:cBhvr>
                                        <p:cTn id="58" dur="500"/>
                                        <p:tgtEl>
                                          <p:spTgt spid="112"/>
                                        </p:tgtEl>
                                      </p:cBhvr>
                                    </p:animEffect>
                                    <p:anim calcmode="lin" valueType="num">
                                      <p:cBhvr additive="base">
                                        <p:cTn id="59" dur="500" decel="100000" fill="hold"/>
                                        <p:tgtEl>
                                          <p:spTgt spid="112"/>
                                        </p:tgtEl>
                                        <p:attrNameLst>
                                          <p:attrName>ppt_y</p:attrName>
                                        </p:attrNameLst>
                                      </p:cBhvr>
                                      <p:tavLst>
                                        <p:tav tm="0">
                                          <p:val>
                                            <p:strVal val="#ppt_y+0.06"/>
                                          </p:val>
                                        </p:tav>
                                        <p:tav tm="100000">
                                          <p:val>
                                            <p:strVal val="#ppt_y"/>
                                          </p:val>
                                        </p:tav>
                                      </p:tavLst>
                                    </p:anim>
                                  </p:childTnLst>
                                </p:cTn>
                              </p:par>
                              <p:par>
                                <p:cTn id="60" presetID="42" presetClass="entr" presetSubtype="0" fill="hold" grpId="0" nodeType="withEffect">
                                  <p:stCondLst>
                                    <p:cond delay="0"/>
                                  </p:stCondLst>
                                  <p:childTnLst>
                                    <p:set>
                                      <p:cBhvr>
                                        <p:cTn id="61" dur="1" fill="hold">
                                          <p:stCondLst>
                                            <p:cond delay="0"/>
                                          </p:stCondLst>
                                        </p:cTn>
                                        <p:tgtEl>
                                          <p:spTgt spid="113"/>
                                        </p:tgtEl>
                                        <p:attrNameLst>
                                          <p:attrName>style.visibility</p:attrName>
                                        </p:attrNameLst>
                                      </p:cBhvr>
                                      <p:to>
                                        <p:strVal val="visible"/>
                                      </p:to>
                                    </p:set>
                                    <p:animEffect transition="in" filter="fade">
                                      <p:cBhvr>
                                        <p:cTn id="62" dur="500"/>
                                        <p:tgtEl>
                                          <p:spTgt spid="113"/>
                                        </p:tgtEl>
                                      </p:cBhvr>
                                    </p:animEffect>
                                    <p:anim calcmode="lin" valueType="num">
                                      <p:cBhvr additive="base">
                                        <p:cTn id="63" dur="500" decel="100000" fill="hold"/>
                                        <p:tgtEl>
                                          <p:spTgt spid="113"/>
                                        </p:tgtEl>
                                        <p:attrNameLst>
                                          <p:attrName>ppt_y</p:attrName>
                                        </p:attrNameLst>
                                      </p:cBhvr>
                                      <p:tavLst>
                                        <p:tav tm="0">
                                          <p:val>
                                            <p:strVal val="#ppt_y+0.06"/>
                                          </p:val>
                                        </p:tav>
                                        <p:tav tm="100000">
                                          <p:val>
                                            <p:strVal val="#ppt_y"/>
                                          </p:val>
                                        </p:tav>
                                      </p:tavLst>
                                    </p:anim>
                                  </p:childTnLst>
                                </p:cTn>
                              </p:par>
                              <p:par>
                                <p:cTn id="64" presetID="42" presetClass="entr" presetSubtype="0" fill="hold" nodeType="withEffect">
                                  <p:stCondLst>
                                    <p:cond delay="0"/>
                                  </p:stCondLst>
                                  <p:childTnLst>
                                    <p:set>
                                      <p:cBhvr>
                                        <p:cTn id="65" dur="1" fill="hold">
                                          <p:stCondLst>
                                            <p:cond delay="0"/>
                                          </p:stCondLst>
                                        </p:cTn>
                                        <p:tgtEl>
                                          <p:spTgt spid="114"/>
                                        </p:tgtEl>
                                        <p:attrNameLst>
                                          <p:attrName>style.visibility</p:attrName>
                                        </p:attrNameLst>
                                      </p:cBhvr>
                                      <p:to>
                                        <p:strVal val="visible"/>
                                      </p:to>
                                    </p:set>
                                    <p:animEffect transition="in" filter="fade">
                                      <p:cBhvr>
                                        <p:cTn id="66" dur="500"/>
                                        <p:tgtEl>
                                          <p:spTgt spid="114"/>
                                        </p:tgtEl>
                                      </p:cBhvr>
                                    </p:animEffect>
                                    <p:anim calcmode="lin" valueType="num">
                                      <p:cBhvr additive="base">
                                        <p:cTn id="67" dur="500" decel="100000" fill="hold"/>
                                        <p:tgtEl>
                                          <p:spTgt spid="114"/>
                                        </p:tgtEl>
                                        <p:attrNameLst>
                                          <p:attrName>ppt_y</p:attrName>
                                        </p:attrNameLst>
                                      </p:cBhvr>
                                      <p:tavLst>
                                        <p:tav tm="0">
                                          <p:val>
                                            <p:strVal val="#ppt_y+0.06"/>
                                          </p:val>
                                        </p:tav>
                                        <p:tav tm="100000">
                                          <p:val>
                                            <p:strVal val="#ppt_y"/>
                                          </p:val>
                                        </p:tav>
                                      </p:tavLst>
                                    </p:anim>
                                  </p:childTnLst>
                                </p:cTn>
                              </p:par>
                              <p:par>
                                <p:cTn id="68" presetID="42" presetClass="entr" presetSubtype="0" fill="hold" grpId="0" nodeType="withEffect">
                                  <p:stCondLst>
                                    <p:cond delay="0"/>
                                  </p:stCondLst>
                                  <p:childTnLst>
                                    <p:set>
                                      <p:cBhvr>
                                        <p:cTn id="69" dur="1" fill="hold">
                                          <p:stCondLst>
                                            <p:cond delay="0"/>
                                          </p:stCondLst>
                                        </p:cTn>
                                        <p:tgtEl>
                                          <p:spTgt spid="115"/>
                                        </p:tgtEl>
                                        <p:attrNameLst>
                                          <p:attrName>style.visibility</p:attrName>
                                        </p:attrNameLst>
                                      </p:cBhvr>
                                      <p:to>
                                        <p:strVal val="visible"/>
                                      </p:to>
                                    </p:set>
                                    <p:animEffect transition="in" filter="fade">
                                      <p:cBhvr>
                                        <p:cTn id="70" dur="500"/>
                                        <p:tgtEl>
                                          <p:spTgt spid="115"/>
                                        </p:tgtEl>
                                      </p:cBhvr>
                                    </p:animEffect>
                                    <p:anim calcmode="lin" valueType="num">
                                      <p:cBhvr additive="base">
                                        <p:cTn id="71" dur="500" decel="100000" fill="hold"/>
                                        <p:tgtEl>
                                          <p:spTgt spid="115"/>
                                        </p:tgtEl>
                                        <p:attrNameLst>
                                          <p:attrName>ppt_y</p:attrName>
                                        </p:attrNameLst>
                                      </p:cBhvr>
                                      <p:tavLst>
                                        <p:tav tm="0">
                                          <p:val>
                                            <p:strVal val="#ppt_y+0.06"/>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116"/>
                                        </p:tgtEl>
                                        <p:attrNameLst>
                                          <p:attrName>style.visibility</p:attrName>
                                        </p:attrNameLst>
                                      </p:cBhvr>
                                      <p:to>
                                        <p:strVal val="visible"/>
                                      </p:to>
                                    </p:set>
                                    <p:animEffect transition="in" filter="fade">
                                      <p:cBhvr>
                                        <p:cTn id="74" dur="500"/>
                                        <p:tgtEl>
                                          <p:spTgt spid="116"/>
                                        </p:tgtEl>
                                      </p:cBhvr>
                                    </p:animEffect>
                                    <p:anim calcmode="lin" valueType="num">
                                      <p:cBhvr additive="base">
                                        <p:cTn id="75"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5" grpId="0" animBg="1"/>
      <p:bldP spid="106" grpId="0" animBg="1"/>
      <p:bldP spid="107" grpId="0" animBg="1"/>
      <p:bldP spid="108" grpId="0" animBg="1"/>
      <p:bldP spid="110" grpId="0" animBg="1"/>
      <p:bldP spid="111" grpId="0" animBg="1"/>
      <p:bldP spid="112" grpId="0" animBg="1"/>
      <p:bldP spid="113" grpId="0" animBg="1"/>
      <p:bldP spid="115" grpId="0" animBg="1"/>
      <p:bldP spid="116"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EXAMPLE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Understanding Agile Through an Example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You want to build a mobile game. Limited budget. You hire a team.</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MINDSET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197</a:t>
            </a:r>
            <a:endParaRPr lang="en-US" sz="850" dirty="0"/>
          </a:p>
        </p:txBody>
      </p:sp>
      <p:sp>
        <p:nvSpPr>
          <p:cNvPr id="101" name="s101"/>
          <p:cNvSpPr/>
          <p:nvPr/>
        </p:nvSpPr>
        <p:spPr>
          <a:xfrm>
            <a:off x="543154" y="1965960"/>
            <a:ext cx="5361127" cy="3794760"/>
          </a:xfrm>
          <a:prstGeom prst="roundRect">
            <a:avLst>
              <a:gd name="adj" fmla="val 7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02" name="s102"/>
          <p:cNvSpPr txBox="1"/>
          <p:nvPr/>
        </p:nvSpPr>
        <p:spPr>
          <a:xfrm>
            <a:off x="817474" y="2148840"/>
            <a:ext cx="4812487"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F87171"/>
                </a:solidFill>
                <a:latin typeface="Segoe UI"/>
                <a:ea typeface="Segoe UI"/>
                <a:cs typeface="Segoe UI"/>
              </a:rPr>
              <a:t>OPTION 1 · DOCS FIRST</a:t>
            </a:r>
            <a:endParaRPr lang="en-US" sz="1200" dirty="0"/>
          </a:p>
          <a:p>
            <a:pPr marL="0" indent="0" algn="l">
              <a:spcBef>
                <a:spcPts val="0"/>
              </a:spcBef>
              <a:spcAft>
                <a:spcPts val="0"/>
              </a:spcAft>
              <a:buNone/>
            </a:pPr>
            <a:r>
              <a:rPr lang="en-US" sz="1200" b="0" dirty="0">
                <a:solidFill>
                  <a:srgbClr val="94A3B8"/>
                </a:solidFill>
                <a:latin typeface="Segoe UI"/>
                <a:ea typeface="Segoe UI"/>
                <a:cs typeface="Segoe UI"/>
              </a:rPr>
              <a:t>Months of documents, diagrams, wireframes and reports.</a:t>
            </a:r>
            <a:endParaRPr lang="en-US" sz="1200" dirty="0"/>
          </a:p>
        </p:txBody>
      </p:sp>
      <p:sp>
        <p:nvSpPr>
          <p:cNvPr id="103" name="s103"/>
          <p:cNvSpPr/>
          <p:nvPr/>
        </p:nvSpPr>
        <p:spPr>
          <a:xfrm>
            <a:off x="863194" y="2880360"/>
            <a:ext cx="2926080" cy="566928"/>
          </a:xfrm>
          <a:prstGeom prst="roundRect">
            <a:avLst>
              <a:gd name="adj" fmla="val 8000"/>
            </a:avLst>
          </a:prstGeom>
          <a:solidFill>
            <a:srgbClr val="152238"/>
          </a:solidFill>
          <a:ln w="12700">
            <a:solidFill>
              <a:srgbClr val="F87171">
                <a:alpha val="60000"/>
              </a:srgbClr>
            </a:solidFill>
            <a:prstDash val="solid"/>
          </a:ln>
          <a:effectLst>
            <a:outerShdw blurRad="190500" dist="38100" dir="5400000" algn="t" rotWithShape="0">
              <a:srgbClr val="000000">
                <a:alpha val="45000"/>
              </a:srgbClr>
            </a:outerShdw>
          </a:effectLst>
        </p:spPr>
        <p:txBody>
          <a:bodyPr wrap="square" lIns="182880" tIns="0" rIns="91440" bIns="0" rtlCol="0" anchor="ctr">
            <a:noAutofit/>
          </a:bodyPr>
          <a:lstStyle/>
          <a:p>
            <a:pPr marL="0" indent="0" algn="l">
              <a:spcBef>
                <a:spcPts val="0"/>
              </a:spcBef>
              <a:spcAft>
                <a:spcPts val="0"/>
              </a:spcAft>
              <a:buNone/>
            </a:pPr>
            <a:r>
              <a:rPr lang="en-US" sz="1200" b="0" dirty="0">
                <a:solidFill>
                  <a:srgbClr val="F87171"/>
                </a:solidFill>
                <a:latin typeface="Segoe UI"/>
                <a:ea typeface="Segoe UI"/>
                <a:cs typeface="Segoe UI"/>
              </a:rPr>
              <a:t>▤  </a:t>
            </a:r>
            <a:r>
              <a:rPr lang="en-US" sz="1200" b="0" dirty="0">
                <a:solidFill>
                  <a:srgbClr val="E2E8F0"/>
                </a:solidFill>
                <a:latin typeface="Segoe UI"/>
                <a:ea typeface="Segoe UI"/>
                <a:cs typeface="Segoe UI"/>
              </a:rPr>
              <a:t>Documentation</a:t>
            </a:r>
            <a:endParaRPr lang="en-US" sz="1200" dirty="0"/>
          </a:p>
        </p:txBody>
      </p:sp>
      <p:sp>
        <p:nvSpPr>
          <p:cNvPr id="104" name="s104"/>
          <p:cNvSpPr/>
          <p:nvPr/>
        </p:nvSpPr>
        <p:spPr>
          <a:xfrm>
            <a:off x="1064362" y="3291840"/>
            <a:ext cx="2926080" cy="566928"/>
          </a:xfrm>
          <a:prstGeom prst="roundRect">
            <a:avLst>
              <a:gd name="adj" fmla="val 8000"/>
            </a:avLst>
          </a:prstGeom>
          <a:solidFill>
            <a:srgbClr val="152238"/>
          </a:solidFill>
          <a:ln w="12700">
            <a:solidFill>
              <a:srgbClr val="F87171">
                <a:alpha val="60000"/>
              </a:srgbClr>
            </a:solidFill>
            <a:prstDash val="solid"/>
          </a:ln>
          <a:effectLst>
            <a:outerShdw blurRad="190500" dist="38100" dir="5400000" algn="t" rotWithShape="0">
              <a:srgbClr val="000000">
                <a:alpha val="45000"/>
              </a:srgbClr>
            </a:outerShdw>
          </a:effectLst>
        </p:spPr>
        <p:txBody>
          <a:bodyPr wrap="square" lIns="182880" tIns="0" rIns="91440" bIns="0" rtlCol="0" anchor="ctr">
            <a:noAutofit/>
          </a:bodyPr>
          <a:lstStyle/>
          <a:p>
            <a:pPr marL="0" indent="0" algn="l">
              <a:spcBef>
                <a:spcPts val="0"/>
              </a:spcBef>
              <a:spcAft>
                <a:spcPts val="0"/>
              </a:spcAft>
              <a:buNone/>
            </a:pPr>
            <a:r>
              <a:rPr lang="en-US" sz="1200" b="0" dirty="0">
                <a:solidFill>
                  <a:srgbClr val="F87171"/>
                </a:solidFill>
                <a:latin typeface="Segoe UI"/>
                <a:ea typeface="Segoe UI"/>
                <a:cs typeface="Segoe UI"/>
              </a:rPr>
              <a:t>▤  </a:t>
            </a:r>
            <a:r>
              <a:rPr lang="en-US" sz="1200" b="0" dirty="0">
                <a:solidFill>
                  <a:srgbClr val="E2E8F0"/>
                </a:solidFill>
                <a:latin typeface="Segoe UI"/>
                <a:ea typeface="Segoe UI"/>
                <a:cs typeface="Segoe UI"/>
              </a:rPr>
              <a:t>Diagrams</a:t>
            </a:r>
            <a:endParaRPr lang="en-US" sz="1200" dirty="0"/>
          </a:p>
        </p:txBody>
      </p:sp>
      <p:sp>
        <p:nvSpPr>
          <p:cNvPr id="105" name="s105"/>
          <p:cNvSpPr/>
          <p:nvPr/>
        </p:nvSpPr>
        <p:spPr>
          <a:xfrm>
            <a:off x="1265530" y="3703320"/>
            <a:ext cx="2926080" cy="566928"/>
          </a:xfrm>
          <a:prstGeom prst="roundRect">
            <a:avLst>
              <a:gd name="adj" fmla="val 8000"/>
            </a:avLst>
          </a:prstGeom>
          <a:solidFill>
            <a:srgbClr val="152238"/>
          </a:solidFill>
          <a:ln w="12700">
            <a:solidFill>
              <a:srgbClr val="F87171">
                <a:alpha val="60000"/>
              </a:srgbClr>
            </a:solidFill>
            <a:prstDash val="solid"/>
          </a:ln>
          <a:effectLst>
            <a:outerShdw blurRad="190500" dist="38100" dir="5400000" algn="t" rotWithShape="0">
              <a:srgbClr val="000000">
                <a:alpha val="45000"/>
              </a:srgbClr>
            </a:outerShdw>
          </a:effectLst>
        </p:spPr>
        <p:txBody>
          <a:bodyPr wrap="square" lIns="182880" tIns="0" rIns="91440" bIns="0" rtlCol="0" anchor="ctr">
            <a:noAutofit/>
          </a:bodyPr>
          <a:lstStyle/>
          <a:p>
            <a:pPr marL="0" indent="0" algn="l">
              <a:spcBef>
                <a:spcPts val="0"/>
              </a:spcBef>
              <a:spcAft>
                <a:spcPts val="0"/>
              </a:spcAft>
              <a:buNone/>
            </a:pPr>
            <a:r>
              <a:rPr lang="en-US" sz="1200" b="0" dirty="0">
                <a:solidFill>
                  <a:srgbClr val="F87171"/>
                </a:solidFill>
                <a:latin typeface="Segoe UI"/>
                <a:ea typeface="Segoe UI"/>
                <a:cs typeface="Segoe UI"/>
              </a:rPr>
              <a:t>▤  </a:t>
            </a:r>
            <a:r>
              <a:rPr lang="en-US" sz="1200" b="0" dirty="0">
                <a:solidFill>
                  <a:srgbClr val="E2E8F0"/>
                </a:solidFill>
                <a:latin typeface="Segoe UI"/>
                <a:ea typeface="Segoe UI"/>
                <a:cs typeface="Segoe UI"/>
              </a:rPr>
              <a:t>Wireframes</a:t>
            </a:r>
            <a:endParaRPr lang="en-US" sz="1200" dirty="0"/>
          </a:p>
        </p:txBody>
      </p:sp>
      <p:sp>
        <p:nvSpPr>
          <p:cNvPr id="106" name="s106"/>
          <p:cNvSpPr/>
          <p:nvPr/>
        </p:nvSpPr>
        <p:spPr>
          <a:xfrm>
            <a:off x="1466698" y="4114800"/>
            <a:ext cx="2926080" cy="566928"/>
          </a:xfrm>
          <a:prstGeom prst="roundRect">
            <a:avLst>
              <a:gd name="adj" fmla="val 8000"/>
            </a:avLst>
          </a:prstGeom>
          <a:solidFill>
            <a:srgbClr val="152238"/>
          </a:solidFill>
          <a:ln w="12700">
            <a:solidFill>
              <a:srgbClr val="F87171">
                <a:alpha val="60000"/>
              </a:srgbClr>
            </a:solidFill>
            <a:prstDash val="solid"/>
          </a:ln>
          <a:effectLst>
            <a:outerShdw blurRad="190500" dist="38100" dir="5400000" algn="t" rotWithShape="0">
              <a:srgbClr val="000000">
                <a:alpha val="45000"/>
              </a:srgbClr>
            </a:outerShdw>
          </a:effectLst>
        </p:spPr>
        <p:txBody>
          <a:bodyPr wrap="square" lIns="182880" tIns="0" rIns="91440" bIns="0" rtlCol="0" anchor="ctr">
            <a:noAutofit/>
          </a:bodyPr>
          <a:lstStyle/>
          <a:p>
            <a:pPr marL="0" indent="0" algn="l">
              <a:spcBef>
                <a:spcPts val="0"/>
              </a:spcBef>
              <a:spcAft>
                <a:spcPts val="0"/>
              </a:spcAft>
              <a:buNone/>
            </a:pPr>
            <a:r>
              <a:rPr lang="en-US" sz="1200" b="0" dirty="0">
                <a:solidFill>
                  <a:srgbClr val="F87171"/>
                </a:solidFill>
                <a:latin typeface="Segoe UI"/>
                <a:ea typeface="Segoe UI"/>
                <a:cs typeface="Segoe UI"/>
              </a:rPr>
              <a:t>▤  </a:t>
            </a:r>
            <a:r>
              <a:rPr lang="en-US" sz="1200" b="0" dirty="0">
                <a:solidFill>
                  <a:srgbClr val="E2E8F0"/>
                </a:solidFill>
                <a:latin typeface="Segoe UI"/>
                <a:ea typeface="Segoe UI"/>
                <a:cs typeface="Segoe UI"/>
              </a:rPr>
              <a:t>Design documents</a:t>
            </a:r>
            <a:endParaRPr lang="en-US" sz="1200" dirty="0"/>
          </a:p>
        </p:txBody>
      </p:sp>
      <p:sp>
        <p:nvSpPr>
          <p:cNvPr id="107" name="s107"/>
          <p:cNvSpPr/>
          <p:nvPr/>
        </p:nvSpPr>
        <p:spPr>
          <a:xfrm>
            <a:off x="1667866" y="4526280"/>
            <a:ext cx="2926080" cy="566928"/>
          </a:xfrm>
          <a:prstGeom prst="roundRect">
            <a:avLst>
              <a:gd name="adj" fmla="val 8000"/>
            </a:avLst>
          </a:prstGeom>
          <a:solidFill>
            <a:srgbClr val="152238"/>
          </a:solidFill>
          <a:ln w="12700">
            <a:solidFill>
              <a:srgbClr val="F87171">
                <a:alpha val="60000"/>
              </a:srgbClr>
            </a:solidFill>
            <a:prstDash val="solid"/>
          </a:ln>
          <a:effectLst>
            <a:outerShdw blurRad="190500" dist="38100" dir="5400000" algn="t" rotWithShape="0">
              <a:srgbClr val="000000">
                <a:alpha val="45000"/>
              </a:srgbClr>
            </a:outerShdw>
          </a:effectLst>
        </p:spPr>
        <p:txBody>
          <a:bodyPr wrap="square" lIns="182880" tIns="0" rIns="91440" bIns="0" rtlCol="0" anchor="ctr">
            <a:noAutofit/>
          </a:bodyPr>
          <a:lstStyle/>
          <a:p>
            <a:pPr marL="0" indent="0" algn="l">
              <a:spcBef>
                <a:spcPts val="0"/>
              </a:spcBef>
              <a:spcAft>
                <a:spcPts val="0"/>
              </a:spcAft>
              <a:buNone/>
            </a:pPr>
            <a:r>
              <a:rPr lang="en-US" sz="1200" b="0" dirty="0">
                <a:solidFill>
                  <a:srgbClr val="F87171"/>
                </a:solidFill>
                <a:latin typeface="Segoe UI"/>
                <a:ea typeface="Segoe UI"/>
                <a:cs typeface="Segoe UI"/>
              </a:rPr>
              <a:t>▤  </a:t>
            </a:r>
            <a:r>
              <a:rPr lang="en-US" sz="1200" b="0" dirty="0">
                <a:solidFill>
                  <a:srgbClr val="E2E8F0"/>
                </a:solidFill>
                <a:latin typeface="Segoe UI"/>
                <a:ea typeface="Segoe UI"/>
                <a:cs typeface="Segoe UI"/>
              </a:rPr>
              <a:t>Reports</a:t>
            </a:r>
            <a:endParaRPr lang="en-US" sz="1200" dirty="0"/>
          </a:p>
        </p:txBody>
      </p:sp>
      <p:sp>
        <p:nvSpPr>
          <p:cNvPr id="108" name="s108"/>
          <p:cNvSpPr/>
          <p:nvPr/>
        </p:nvSpPr>
        <p:spPr>
          <a:xfrm>
            <a:off x="817474" y="5212080"/>
            <a:ext cx="4812487" cy="384048"/>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F87171"/>
                </a:solidFill>
                <a:latin typeface="Segoe UI"/>
                <a:ea typeface="Segoe UI"/>
                <a:cs typeface="Segoe UI"/>
              </a:rPr>
              <a:t>✗  Month 4: no working application</a:t>
            </a:r>
            <a:endParaRPr lang="en-US" sz="1200" dirty="0"/>
          </a:p>
        </p:txBody>
      </p:sp>
      <p:sp>
        <p:nvSpPr>
          <p:cNvPr id="109" name="s109"/>
          <p:cNvSpPr/>
          <p:nvPr/>
        </p:nvSpPr>
        <p:spPr>
          <a:xfrm>
            <a:off x="6270041" y="1965960"/>
            <a:ext cx="5361127" cy="3794760"/>
          </a:xfrm>
          <a:prstGeom prst="roundRect">
            <a:avLst>
              <a:gd name="adj" fmla="val 7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10" name="s110"/>
          <p:cNvSpPr txBox="1"/>
          <p:nvPr/>
        </p:nvSpPr>
        <p:spPr>
          <a:xfrm>
            <a:off x="6544361" y="2148840"/>
            <a:ext cx="4812487" cy="5486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34D399"/>
                </a:solidFill>
                <a:latin typeface="Segoe UI"/>
                <a:ea typeface="Segoe UI"/>
                <a:cs typeface="Segoe UI"/>
              </a:rPr>
              <a:t>OPTION 2 · WORKING SOFTWARE</a:t>
            </a:r>
            <a:endParaRPr lang="en-US" sz="1200" dirty="0"/>
          </a:p>
          <a:p>
            <a:pPr marL="0" indent="0" algn="l">
              <a:spcBef>
                <a:spcPts val="0"/>
              </a:spcBef>
              <a:spcAft>
                <a:spcPts val="0"/>
              </a:spcAft>
              <a:buNone/>
            </a:pPr>
            <a:r>
              <a:rPr lang="en-US" sz="1200" b="0" dirty="0">
                <a:solidFill>
                  <a:srgbClr val="94A3B8"/>
                </a:solidFill>
                <a:latin typeface="Segoe UI"/>
                <a:ea typeface="Segoe UI"/>
                <a:cs typeface="Segoe UI"/>
              </a:rPr>
              <a:t>Every 1–2 weeks, a working version of the game.</a:t>
            </a:r>
            <a:endParaRPr lang="en-US" sz="1200" dirty="0"/>
          </a:p>
        </p:txBody>
      </p:sp>
      <p:sp>
        <p:nvSpPr>
          <p:cNvPr id="111" name="s111"/>
          <p:cNvSpPr/>
          <p:nvPr/>
        </p:nvSpPr>
        <p:spPr>
          <a:xfrm>
            <a:off x="6544361" y="2926080"/>
            <a:ext cx="868680" cy="347472"/>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Week 1</a:t>
            </a:r>
            <a:endParaRPr lang="en-US" sz="1000" dirty="0"/>
          </a:p>
        </p:txBody>
      </p:sp>
      <p:sp>
        <p:nvSpPr>
          <p:cNvPr id="112" name="s112"/>
          <p:cNvSpPr/>
          <p:nvPr/>
        </p:nvSpPr>
        <p:spPr>
          <a:xfrm>
            <a:off x="7550201" y="2926080"/>
            <a:ext cx="1280160" cy="347472"/>
          </a:xfrm>
          <a:prstGeom prst="roundRect">
            <a:avLst>
              <a:gd name="adj" fmla="val 50000"/>
            </a:avLst>
          </a:prstGeom>
          <a:solidFill>
            <a:srgbClr val="34D399">
              <a:alpha val="18000"/>
            </a:srgbClr>
          </a:solidFill>
          <a:ln w="12700">
            <a:solidFill>
              <a:srgbClr val="34D399"/>
            </a:solidFill>
            <a:prstDash val="solid"/>
          </a:ln>
        </p:spPr>
        <p:txBody>
          <a:bodyPr wrap="square" lIns="137160" tIns="0" rIns="91440" bIns="0" rtlCol="0" anchor="ctr">
            <a:noAutofit/>
          </a:bodyPr>
          <a:lstStyle/>
          <a:p>
            <a:pPr marL="0" indent="0" algn="l">
              <a:spcBef>
                <a:spcPts val="0"/>
              </a:spcBef>
              <a:spcAft>
                <a:spcPts val="0"/>
              </a:spcAft>
              <a:buNone/>
            </a:pPr>
            <a:r>
              <a:rPr lang="en-US" sz="1150" b="1" dirty="0">
                <a:solidFill>
                  <a:srgbClr val="FFFFFF"/>
                </a:solidFill>
                <a:latin typeface="Segoe UI"/>
                <a:ea typeface="Segoe UI"/>
                <a:cs typeface="Segoe UI"/>
              </a:rPr>
              <a:t>Basic menu</a:t>
            </a:r>
            <a:endParaRPr lang="en-US" sz="1150" dirty="0"/>
          </a:p>
        </p:txBody>
      </p:sp>
      <p:sp>
        <p:nvSpPr>
          <p:cNvPr id="113" name="s113"/>
          <p:cNvSpPr/>
          <p:nvPr/>
        </p:nvSpPr>
        <p:spPr>
          <a:xfrm>
            <a:off x="6544361" y="3474720"/>
            <a:ext cx="868680" cy="347472"/>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Week 2</a:t>
            </a:r>
            <a:endParaRPr lang="en-US" sz="1000" dirty="0"/>
          </a:p>
        </p:txBody>
      </p:sp>
      <p:sp>
        <p:nvSpPr>
          <p:cNvPr id="114" name="s114"/>
          <p:cNvSpPr/>
          <p:nvPr/>
        </p:nvSpPr>
        <p:spPr>
          <a:xfrm>
            <a:off x="7550201" y="3474720"/>
            <a:ext cx="2194560" cy="347472"/>
          </a:xfrm>
          <a:prstGeom prst="roundRect">
            <a:avLst>
              <a:gd name="adj" fmla="val 50000"/>
            </a:avLst>
          </a:prstGeom>
          <a:solidFill>
            <a:srgbClr val="34D399">
              <a:alpha val="28000"/>
            </a:srgbClr>
          </a:solidFill>
          <a:ln w="12700">
            <a:solidFill>
              <a:srgbClr val="34D399"/>
            </a:solidFill>
            <a:prstDash val="solid"/>
          </a:ln>
        </p:spPr>
        <p:txBody>
          <a:bodyPr wrap="square" lIns="137160" tIns="0" rIns="91440" bIns="0" rtlCol="0" anchor="ctr">
            <a:noAutofit/>
          </a:bodyPr>
          <a:lstStyle/>
          <a:p>
            <a:pPr marL="0" indent="0" algn="l">
              <a:spcBef>
                <a:spcPts val="0"/>
              </a:spcBef>
              <a:spcAft>
                <a:spcPts val="0"/>
              </a:spcAft>
              <a:buNone/>
            </a:pPr>
            <a:r>
              <a:rPr lang="en-US" sz="1150" b="1" dirty="0">
                <a:solidFill>
                  <a:srgbClr val="FFFFFF"/>
                </a:solidFill>
                <a:latin typeface="Segoe UI"/>
                <a:ea typeface="Segoe UI"/>
                <a:cs typeface="Segoe UI"/>
              </a:rPr>
              <a:t>User registration</a:t>
            </a:r>
            <a:endParaRPr lang="en-US" sz="1150" dirty="0"/>
          </a:p>
        </p:txBody>
      </p:sp>
      <p:sp>
        <p:nvSpPr>
          <p:cNvPr id="115" name="s115"/>
          <p:cNvSpPr/>
          <p:nvPr/>
        </p:nvSpPr>
        <p:spPr>
          <a:xfrm>
            <a:off x="6544361" y="4023360"/>
            <a:ext cx="868680" cy="347472"/>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Week 3</a:t>
            </a:r>
            <a:endParaRPr lang="en-US" sz="1000" dirty="0"/>
          </a:p>
        </p:txBody>
      </p:sp>
      <p:sp>
        <p:nvSpPr>
          <p:cNvPr id="116" name="s116"/>
          <p:cNvSpPr/>
          <p:nvPr/>
        </p:nvSpPr>
        <p:spPr>
          <a:xfrm>
            <a:off x="7550201" y="4023360"/>
            <a:ext cx="3108960" cy="347472"/>
          </a:xfrm>
          <a:prstGeom prst="roundRect">
            <a:avLst>
              <a:gd name="adj" fmla="val 50000"/>
            </a:avLst>
          </a:prstGeom>
          <a:solidFill>
            <a:srgbClr val="34D399">
              <a:alpha val="38000"/>
            </a:srgbClr>
          </a:solidFill>
          <a:ln w="12700">
            <a:solidFill>
              <a:srgbClr val="34D399"/>
            </a:solidFill>
            <a:prstDash val="solid"/>
          </a:ln>
        </p:spPr>
        <p:txBody>
          <a:bodyPr wrap="square" lIns="137160" tIns="0" rIns="91440" bIns="0" rtlCol="0" anchor="ctr">
            <a:noAutofit/>
          </a:bodyPr>
          <a:lstStyle/>
          <a:p>
            <a:pPr marL="0" indent="0" algn="l">
              <a:spcBef>
                <a:spcPts val="0"/>
              </a:spcBef>
              <a:spcAft>
                <a:spcPts val="0"/>
              </a:spcAft>
              <a:buNone/>
            </a:pPr>
            <a:r>
              <a:rPr lang="en-US" sz="1150" b="1" dirty="0">
                <a:solidFill>
                  <a:srgbClr val="FFFFFF"/>
                </a:solidFill>
                <a:latin typeface="Segoe UI"/>
                <a:ea typeface="Segoe UI"/>
                <a:cs typeface="Segoe UI"/>
              </a:rPr>
              <a:t>First playable level</a:t>
            </a:r>
            <a:endParaRPr lang="en-US" sz="1150" dirty="0"/>
          </a:p>
        </p:txBody>
      </p:sp>
      <p:sp>
        <p:nvSpPr>
          <p:cNvPr id="117" name="s117"/>
          <p:cNvSpPr/>
          <p:nvPr/>
        </p:nvSpPr>
        <p:spPr>
          <a:xfrm>
            <a:off x="6544361" y="4572000"/>
            <a:ext cx="868680" cy="347472"/>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Week 4</a:t>
            </a:r>
            <a:endParaRPr lang="en-US" sz="1000" dirty="0"/>
          </a:p>
        </p:txBody>
      </p:sp>
      <p:sp>
        <p:nvSpPr>
          <p:cNvPr id="118" name="s118"/>
          <p:cNvSpPr/>
          <p:nvPr/>
        </p:nvSpPr>
        <p:spPr>
          <a:xfrm>
            <a:off x="7550201" y="4572000"/>
            <a:ext cx="4023360" cy="347472"/>
          </a:xfrm>
          <a:prstGeom prst="roundRect">
            <a:avLst>
              <a:gd name="adj" fmla="val 50000"/>
            </a:avLst>
          </a:prstGeom>
          <a:solidFill>
            <a:srgbClr val="34D399">
              <a:alpha val="48000"/>
            </a:srgbClr>
          </a:solidFill>
          <a:ln w="12700">
            <a:solidFill>
              <a:srgbClr val="34D399"/>
            </a:solidFill>
            <a:prstDash val="solid"/>
          </a:ln>
        </p:spPr>
        <p:txBody>
          <a:bodyPr wrap="square" lIns="137160" tIns="0" rIns="91440" bIns="0" rtlCol="0" anchor="ctr">
            <a:noAutofit/>
          </a:bodyPr>
          <a:lstStyle/>
          <a:p>
            <a:pPr marL="0" indent="0" algn="l">
              <a:spcBef>
                <a:spcPts val="0"/>
              </a:spcBef>
              <a:spcAft>
                <a:spcPts val="0"/>
              </a:spcAft>
              <a:buNone/>
            </a:pPr>
            <a:r>
              <a:rPr lang="en-US" sz="1150" b="1" dirty="0">
                <a:solidFill>
                  <a:srgbClr val="FFFFFF"/>
                </a:solidFill>
                <a:latin typeface="Segoe UI"/>
                <a:ea typeface="Segoe UI"/>
                <a:cs typeface="Segoe UI"/>
              </a:rPr>
              <a:t>Scoreboard</a:t>
            </a:r>
            <a:endParaRPr lang="en-US" sz="1150" dirty="0"/>
          </a:p>
        </p:txBody>
      </p:sp>
      <p:sp>
        <p:nvSpPr>
          <p:cNvPr id="119" name="s119"/>
          <p:cNvSpPr/>
          <p:nvPr/>
        </p:nvSpPr>
        <p:spPr>
          <a:xfrm>
            <a:off x="10762488" y="2148840"/>
            <a:ext cx="566928" cy="566928"/>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0" name="img120"/>
          <p:cNvPicPr>
            <a:picLocks noChangeAspect="1"/>
          </p:cNvPicPr>
          <p:nvPr/>
        </p:nvPicPr>
        <p:blipFill>
          <a:blip r:embed="rId4"/>
          <a:stretch>
            <a:fillRect/>
          </a:stretch>
        </p:blipFill>
        <p:spPr>
          <a:xfrm>
            <a:off x="10898551" y="2284903"/>
            <a:ext cx="294803" cy="294803"/>
          </a:xfrm>
          <a:prstGeom prst="rect">
            <a:avLst/>
          </a:prstGeom>
        </p:spPr>
      </p:pic>
      <p:sp>
        <p:nvSpPr>
          <p:cNvPr id="121" name="s121"/>
          <p:cNvSpPr/>
          <p:nvPr/>
        </p:nvSpPr>
        <p:spPr>
          <a:xfrm>
            <a:off x="6544361" y="5212080"/>
            <a:ext cx="4812487" cy="384048"/>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34D399"/>
                </a:solidFill>
                <a:latin typeface="Segoe UI"/>
                <a:ea typeface="Segoe UI"/>
                <a:cs typeface="Segoe UI"/>
              </a:rPr>
              <a:t>✓  Every week: something to play and react to</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150"/>
                                  </p:stCondLst>
                                  <p:childTnLst>
                                    <p:set>
                                      <p:cBhvr>
                                        <p:cTn id="14" dur="1" fill="hold">
                                          <p:stCondLst>
                                            <p:cond delay="0"/>
                                          </p:stCondLst>
                                        </p:cTn>
                                        <p:tgtEl>
                                          <p:spTgt spid="109"/>
                                        </p:tgtEl>
                                        <p:attrNameLst>
                                          <p:attrName>style.visibility</p:attrName>
                                        </p:attrNameLst>
                                      </p:cBhvr>
                                      <p:to>
                                        <p:strVal val="visible"/>
                                      </p:to>
                                    </p:set>
                                    <p:animEffect transition="in" filter="fade">
                                      <p:cBhvr>
                                        <p:cTn id="15" dur="500"/>
                                        <p:tgtEl>
                                          <p:spTgt spid="109"/>
                                        </p:tgtEl>
                                      </p:cBhvr>
                                    </p:animEffect>
                                    <p:anim calcmode="lin" valueType="num">
                                      <p:cBhvr additive="base">
                                        <p:cTn id="16" dur="500" decel="100000" fill="hold"/>
                                        <p:tgtEl>
                                          <p:spTgt spid="109"/>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150"/>
                                  </p:stCondLst>
                                  <p:childTnLst>
                                    <p:set>
                                      <p:cBhvr>
                                        <p:cTn id="18" dur="1" fill="hold">
                                          <p:stCondLst>
                                            <p:cond delay="0"/>
                                          </p:stCondLst>
                                        </p:cTn>
                                        <p:tgtEl>
                                          <p:spTgt spid="110"/>
                                        </p:tgtEl>
                                        <p:attrNameLst>
                                          <p:attrName>style.visibility</p:attrName>
                                        </p:attrNameLst>
                                      </p:cBhvr>
                                      <p:to>
                                        <p:strVal val="visible"/>
                                      </p:to>
                                    </p:set>
                                    <p:animEffect transition="in" filter="fade">
                                      <p:cBhvr>
                                        <p:cTn id="19" dur="500"/>
                                        <p:tgtEl>
                                          <p:spTgt spid="110"/>
                                        </p:tgtEl>
                                      </p:cBhvr>
                                    </p:animEffect>
                                    <p:anim calcmode="lin" valueType="num">
                                      <p:cBhvr additive="base">
                                        <p:cTn id="20" dur="500" decel="100000" fill="hold"/>
                                        <p:tgtEl>
                                          <p:spTgt spid="110"/>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150"/>
                                  </p:stCondLst>
                                  <p:childTnLst>
                                    <p:set>
                                      <p:cBhvr>
                                        <p:cTn id="22" dur="1" fill="hold">
                                          <p:stCondLst>
                                            <p:cond delay="0"/>
                                          </p:stCondLst>
                                        </p:cTn>
                                        <p:tgtEl>
                                          <p:spTgt spid="119"/>
                                        </p:tgtEl>
                                        <p:attrNameLst>
                                          <p:attrName>style.visibility</p:attrName>
                                        </p:attrNameLst>
                                      </p:cBhvr>
                                      <p:to>
                                        <p:strVal val="visible"/>
                                      </p:to>
                                    </p:set>
                                    <p:animEffect transition="in" filter="fade">
                                      <p:cBhvr>
                                        <p:cTn id="23" dur="500"/>
                                        <p:tgtEl>
                                          <p:spTgt spid="119"/>
                                        </p:tgtEl>
                                      </p:cBhvr>
                                    </p:animEffect>
                                    <p:anim calcmode="lin" valueType="num">
                                      <p:cBhvr additive="base">
                                        <p:cTn id="24" dur="500" decel="100000" fill="hold"/>
                                        <p:tgtEl>
                                          <p:spTgt spid="119"/>
                                        </p:tgtEl>
                                        <p:attrNameLst>
                                          <p:attrName>ppt_y</p:attrName>
                                        </p:attrNameLst>
                                      </p:cBhvr>
                                      <p:tavLst>
                                        <p:tav tm="0">
                                          <p:val>
                                            <p:strVal val="#ppt_y+0.06"/>
                                          </p:val>
                                        </p:tav>
                                        <p:tav tm="100000">
                                          <p:val>
                                            <p:strVal val="#ppt_y"/>
                                          </p:val>
                                        </p:tav>
                                      </p:tavLst>
                                    </p:anim>
                                  </p:childTnLst>
                                </p:cTn>
                              </p:par>
                              <p:par>
                                <p:cTn id="25" presetID="42" presetClass="entr" presetSubtype="0" fill="hold" nodeType="withEffect">
                                  <p:stCondLst>
                                    <p:cond delay="150"/>
                                  </p:stCondLst>
                                  <p:childTnLst>
                                    <p:set>
                                      <p:cBhvr>
                                        <p:cTn id="26" dur="1" fill="hold">
                                          <p:stCondLst>
                                            <p:cond delay="0"/>
                                          </p:stCondLst>
                                        </p:cTn>
                                        <p:tgtEl>
                                          <p:spTgt spid="120"/>
                                        </p:tgtEl>
                                        <p:attrNameLst>
                                          <p:attrName>style.visibility</p:attrName>
                                        </p:attrNameLst>
                                      </p:cBhvr>
                                      <p:to>
                                        <p:strVal val="visible"/>
                                      </p:to>
                                    </p:set>
                                    <p:animEffect transition="in" filter="fade">
                                      <p:cBhvr>
                                        <p:cTn id="27" dur="500"/>
                                        <p:tgtEl>
                                          <p:spTgt spid="120"/>
                                        </p:tgtEl>
                                      </p:cBhvr>
                                    </p:animEffect>
                                    <p:anim calcmode="lin" valueType="num">
                                      <p:cBhvr additive="base">
                                        <p:cTn id="28" dur="500" decel="100000" fill="hold"/>
                                        <p:tgtEl>
                                          <p:spTgt spid="120"/>
                                        </p:tgtEl>
                                        <p:attrNameLst>
                                          <p:attrName>ppt_y</p:attrName>
                                        </p:attrNameLst>
                                      </p:cBhvr>
                                      <p:tavLst>
                                        <p:tav tm="0">
                                          <p:val>
                                            <p:strVal val="#ppt_y+0.06"/>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103"/>
                                        </p:tgtEl>
                                        <p:attrNameLst>
                                          <p:attrName>style.visibility</p:attrName>
                                        </p:attrNameLst>
                                      </p:cBhvr>
                                      <p:to>
                                        <p:strVal val="visible"/>
                                      </p:to>
                                    </p:set>
                                    <p:animEffect transition="in" filter="fade">
                                      <p:cBhvr>
                                        <p:cTn id="33" dur="500"/>
                                        <p:tgtEl>
                                          <p:spTgt spid="103"/>
                                        </p:tgtEl>
                                      </p:cBhvr>
                                    </p:animEffect>
                                    <p:anim calcmode="lin" valueType="num">
                                      <p:cBhvr additive="base">
                                        <p:cTn id="34" dur="500" decel="100000" fill="hold"/>
                                        <p:tgtEl>
                                          <p:spTgt spid="103"/>
                                        </p:tgtEl>
                                        <p:attrNameLst>
                                          <p:attrName>ppt_y</p:attrName>
                                        </p:attrNameLst>
                                      </p:cBhvr>
                                      <p:tavLst>
                                        <p:tav tm="0">
                                          <p:val>
                                            <p:strVal val="#ppt_y-0.06"/>
                                          </p:val>
                                        </p:tav>
                                        <p:tav tm="100000">
                                          <p:val>
                                            <p:strVal val="#ppt_y"/>
                                          </p:val>
                                        </p:tav>
                                      </p:tavLst>
                                    </p:anim>
                                  </p:childTnLst>
                                </p:cTn>
                              </p:par>
                              <p:par>
                                <p:cTn id="35" presetID="42" presetClass="entr" presetSubtype="0" fill="hold" grpId="0" nodeType="withEffect">
                                  <p:stCondLst>
                                    <p:cond delay="260"/>
                                  </p:stCondLst>
                                  <p:childTnLst>
                                    <p:set>
                                      <p:cBhvr>
                                        <p:cTn id="36" dur="1" fill="hold">
                                          <p:stCondLst>
                                            <p:cond delay="0"/>
                                          </p:stCondLst>
                                        </p:cTn>
                                        <p:tgtEl>
                                          <p:spTgt spid="104"/>
                                        </p:tgtEl>
                                        <p:attrNameLst>
                                          <p:attrName>style.visibility</p:attrName>
                                        </p:attrNameLst>
                                      </p:cBhvr>
                                      <p:to>
                                        <p:strVal val="visible"/>
                                      </p:to>
                                    </p:set>
                                    <p:animEffect transition="in" filter="fade">
                                      <p:cBhvr>
                                        <p:cTn id="37" dur="500"/>
                                        <p:tgtEl>
                                          <p:spTgt spid="104"/>
                                        </p:tgtEl>
                                      </p:cBhvr>
                                    </p:animEffect>
                                    <p:anim calcmode="lin" valueType="num">
                                      <p:cBhvr additive="base">
                                        <p:cTn id="38" dur="500" decel="100000" fill="hold"/>
                                        <p:tgtEl>
                                          <p:spTgt spid="104"/>
                                        </p:tgtEl>
                                        <p:attrNameLst>
                                          <p:attrName>ppt_y</p:attrName>
                                        </p:attrNameLst>
                                      </p:cBhvr>
                                      <p:tavLst>
                                        <p:tav tm="0">
                                          <p:val>
                                            <p:strVal val="#ppt_y-0.06"/>
                                          </p:val>
                                        </p:tav>
                                        <p:tav tm="100000">
                                          <p:val>
                                            <p:strVal val="#ppt_y"/>
                                          </p:val>
                                        </p:tav>
                                      </p:tavLst>
                                    </p:anim>
                                  </p:childTnLst>
                                </p:cTn>
                              </p:par>
                              <p:par>
                                <p:cTn id="39" presetID="42" presetClass="entr" presetSubtype="0" fill="hold" grpId="0" nodeType="withEffect">
                                  <p:stCondLst>
                                    <p:cond delay="520"/>
                                  </p:stCondLst>
                                  <p:childTnLst>
                                    <p:set>
                                      <p:cBhvr>
                                        <p:cTn id="40" dur="1" fill="hold">
                                          <p:stCondLst>
                                            <p:cond delay="0"/>
                                          </p:stCondLst>
                                        </p:cTn>
                                        <p:tgtEl>
                                          <p:spTgt spid="105"/>
                                        </p:tgtEl>
                                        <p:attrNameLst>
                                          <p:attrName>style.visibility</p:attrName>
                                        </p:attrNameLst>
                                      </p:cBhvr>
                                      <p:to>
                                        <p:strVal val="visible"/>
                                      </p:to>
                                    </p:set>
                                    <p:animEffect transition="in" filter="fade">
                                      <p:cBhvr>
                                        <p:cTn id="41" dur="500"/>
                                        <p:tgtEl>
                                          <p:spTgt spid="105"/>
                                        </p:tgtEl>
                                      </p:cBhvr>
                                    </p:animEffect>
                                    <p:anim calcmode="lin" valueType="num">
                                      <p:cBhvr additive="base">
                                        <p:cTn id="42" dur="500" decel="100000" fill="hold"/>
                                        <p:tgtEl>
                                          <p:spTgt spid="105"/>
                                        </p:tgtEl>
                                        <p:attrNameLst>
                                          <p:attrName>ppt_y</p:attrName>
                                        </p:attrNameLst>
                                      </p:cBhvr>
                                      <p:tavLst>
                                        <p:tav tm="0">
                                          <p:val>
                                            <p:strVal val="#ppt_y-0.06"/>
                                          </p:val>
                                        </p:tav>
                                        <p:tav tm="100000">
                                          <p:val>
                                            <p:strVal val="#ppt_y"/>
                                          </p:val>
                                        </p:tav>
                                      </p:tavLst>
                                    </p:anim>
                                  </p:childTnLst>
                                </p:cTn>
                              </p:par>
                              <p:par>
                                <p:cTn id="43" presetID="42" presetClass="entr" presetSubtype="0" fill="hold" grpId="0" nodeType="withEffect">
                                  <p:stCondLst>
                                    <p:cond delay="780"/>
                                  </p:stCondLst>
                                  <p:childTnLst>
                                    <p:set>
                                      <p:cBhvr>
                                        <p:cTn id="44" dur="1" fill="hold">
                                          <p:stCondLst>
                                            <p:cond delay="0"/>
                                          </p:stCondLst>
                                        </p:cTn>
                                        <p:tgtEl>
                                          <p:spTgt spid="106"/>
                                        </p:tgtEl>
                                        <p:attrNameLst>
                                          <p:attrName>style.visibility</p:attrName>
                                        </p:attrNameLst>
                                      </p:cBhvr>
                                      <p:to>
                                        <p:strVal val="visible"/>
                                      </p:to>
                                    </p:set>
                                    <p:animEffect transition="in" filter="fade">
                                      <p:cBhvr>
                                        <p:cTn id="45" dur="500"/>
                                        <p:tgtEl>
                                          <p:spTgt spid="106"/>
                                        </p:tgtEl>
                                      </p:cBhvr>
                                    </p:animEffect>
                                    <p:anim calcmode="lin" valueType="num">
                                      <p:cBhvr additive="base">
                                        <p:cTn id="46" dur="500" decel="100000" fill="hold"/>
                                        <p:tgtEl>
                                          <p:spTgt spid="106"/>
                                        </p:tgtEl>
                                        <p:attrNameLst>
                                          <p:attrName>ppt_y</p:attrName>
                                        </p:attrNameLst>
                                      </p:cBhvr>
                                      <p:tavLst>
                                        <p:tav tm="0">
                                          <p:val>
                                            <p:strVal val="#ppt_y-0.06"/>
                                          </p:val>
                                        </p:tav>
                                        <p:tav tm="100000">
                                          <p:val>
                                            <p:strVal val="#ppt_y"/>
                                          </p:val>
                                        </p:tav>
                                      </p:tavLst>
                                    </p:anim>
                                  </p:childTnLst>
                                </p:cTn>
                              </p:par>
                              <p:par>
                                <p:cTn id="47" presetID="42" presetClass="entr" presetSubtype="0" fill="hold" grpId="0" nodeType="withEffect">
                                  <p:stCondLst>
                                    <p:cond delay="1040"/>
                                  </p:stCondLst>
                                  <p:childTnLst>
                                    <p:set>
                                      <p:cBhvr>
                                        <p:cTn id="48" dur="1" fill="hold">
                                          <p:stCondLst>
                                            <p:cond delay="0"/>
                                          </p:stCondLst>
                                        </p:cTn>
                                        <p:tgtEl>
                                          <p:spTgt spid="107"/>
                                        </p:tgtEl>
                                        <p:attrNameLst>
                                          <p:attrName>style.visibility</p:attrName>
                                        </p:attrNameLst>
                                      </p:cBhvr>
                                      <p:to>
                                        <p:strVal val="visible"/>
                                      </p:to>
                                    </p:set>
                                    <p:animEffect transition="in" filter="fade">
                                      <p:cBhvr>
                                        <p:cTn id="49" dur="500"/>
                                        <p:tgtEl>
                                          <p:spTgt spid="107"/>
                                        </p:tgtEl>
                                      </p:cBhvr>
                                    </p:animEffect>
                                    <p:anim calcmode="lin" valueType="num">
                                      <p:cBhvr additive="base">
                                        <p:cTn id="50" dur="500" decel="100000" fill="hold"/>
                                        <p:tgtEl>
                                          <p:spTgt spid="107"/>
                                        </p:tgtEl>
                                        <p:attrNameLst>
                                          <p:attrName>ppt_y</p:attrName>
                                        </p:attrNameLst>
                                      </p:cBhvr>
                                      <p:tavLst>
                                        <p:tav tm="0">
                                          <p:val>
                                            <p:strVal val="#ppt_y-0.06"/>
                                          </p:val>
                                        </p:tav>
                                        <p:tav tm="100000">
                                          <p:val>
                                            <p:strVal val="#ppt_y"/>
                                          </p:val>
                                        </p:tav>
                                      </p:tavLst>
                                    </p:anim>
                                  </p:childTnLst>
                                </p:cTn>
                              </p:par>
                              <p:par>
                                <p:cTn id="51" presetID="53" presetClass="entr" presetSubtype="16" fill="hold" grpId="0" nodeType="withEffect">
                                  <p:stCondLst>
                                    <p:cond delay="1300"/>
                                  </p:stCondLst>
                                  <p:childTnLst>
                                    <p:set>
                                      <p:cBhvr>
                                        <p:cTn id="52" dur="1" fill="hold">
                                          <p:stCondLst>
                                            <p:cond delay="0"/>
                                          </p:stCondLst>
                                        </p:cTn>
                                        <p:tgtEl>
                                          <p:spTgt spid="108"/>
                                        </p:tgtEl>
                                        <p:attrNameLst>
                                          <p:attrName>style.visibility</p:attrName>
                                        </p:attrNameLst>
                                      </p:cBhvr>
                                      <p:to>
                                        <p:strVal val="visible"/>
                                      </p:to>
                                    </p:set>
                                    <p:anim calcmode="lin" valueType="num">
                                      <p:cBhvr additive="base">
                                        <p:cTn id="53" dur="50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54" dur="500" decel="100000" fill="hold"/>
                                        <p:tgtEl>
                                          <p:spTgt spid="108"/>
                                        </p:tgtEl>
                                        <p:attrNameLst>
                                          <p:attrName>ppt_h</p:attrName>
                                        </p:attrNameLst>
                                      </p:cBhvr>
                                      <p:tavLst>
                                        <p:tav tm="0">
                                          <p:val>
                                            <p:strVal val="#ppt_h*0.3"/>
                                          </p:val>
                                        </p:tav>
                                        <p:tav tm="100000">
                                          <p:val>
                                            <p:strVal val="#ppt_h*1.08"/>
                                          </p:val>
                                        </p:tav>
                                      </p:tavLst>
                                    </p:anim>
                                    <p:animEffect transition="in" filter="fade">
                                      <p:cBhvr>
                                        <p:cTn id="55" dur="250"/>
                                        <p:tgtEl>
                                          <p:spTgt spid="108"/>
                                        </p:tgtEl>
                                      </p:cBhvr>
                                    </p:animEffect>
                                    <p:anim calcmode="lin" valueType="num">
                                      <p:cBhvr additive="base">
                                        <p:cTn id="56" dur="160" fill="hold">
                                          <p:stCondLst>
                                            <p:cond delay="500"/>
                                          </p:stCondLst>
                                        </p:cTn>
                                        <p:tgtEl>
                                          <p:spTgt spid="108"/>
                                        </p:tgtEl>
                                        <p:attrNameLst>
                                          <p:attrName>ppt_w</p:attrName>
                                        </p:attrNameLst>
                                      </p:cBhvr>
                                      <p:tavLst>
                                        <p:tav tm="0">
                                          <p:val>
                                            <p:strVal val="#ppt_w*1.08"/>
                                          </p:val>
                                        </p:tav>
                                        <p:tav tm="100000">
                                          <p:val>
                                            <p:strVal val="#ppt_w"/>
                                          </p:val>
                                        </p:tav>
                                      </p:tavLst>
                                    </p:anim>
                                    <p:anim calcmode="lin" valueType="num">
                                      <p:cBhvr additive="base">
                                        <p:cTn id="57" dur="160" fill="hold">
                                          <p:stCondLst>
                                            <p:cond delay="500"/>
                                          </p:stCondLst>
                                        </p:cTn>
                                        <p:tgtEl>
                                          <p:spTgt spid="108"/>
                                        </p:tgtEl>
                                        <p:attrNameLst>
                                          <p:attrName>ppt_h</p:attrName>
                                        </p:attrNameLst>
                                      </p:cBhvr>
                                      <p:tavLst>
                                        <p:tav tm="0">
                                          <p:val>
                                            <p:strVal val="#ppt_h*1.08"/>
                                          </p:val>
                                        </p:tav>
                                        <p:tav tm="100000">
                                          <p:val>
                                            <p:strVal val="#ppt_h"/>
                                          </p:val>
                                        </p:tav>
                                      </p:tavLst>
                                    </p:anim>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11"/>
                                        </p:tgtEl>
                                        <p:attrNameLst>
                                          <p:attrName>style.visibility</p:attrName>
                                        </p:attrNameLst>
                                      </p:cBhvr>
                                      <p:to>
                                        <p:strVal val="visible"/>
                                      </p:to>
                                    </p:set>
                                    <p:animEffect transition="in" filter="fade">
                                      <p:cBhvr>
                                        <p:cTn id="62" dur="500"/>
                                        <p:tgtEl>
                                          <p:spTgt spid="111"/>
                                        </p:tgtEl>
                                      </p:cBhvr>
                                    </p:animEffect>
                                  </p:childTnLst>
                                </p:cTn>
                              </p:par>
                              <p:par>
                                <p:cTn id="63" presetID="22" presetClass="entr" presetSubtype="8" fill="hold" grpId="0" nodeType="withEffect">
                                  <p:stCondLst>
                                    <p:cond delay="60"/>
                                  </p:stCondLst>
                                  <p:childTnLst>
                                    <p:set>
                                      <p:cBhvr>
                                        <p:cTn id="64" dur="1" fill="hold">
                                          <p:stCondLst>
                                            <p:cond delay="0"/>
                                          </p:stCondLst>
                                        </p:cTn>
                                        <p:tgtEl>
                                          <p:spTgt spid="112"/>
                                        </p:tgtEl>
                                        <p:attrNameLst>
                                          <p:attrName>style.visibility</p:attrName>
                                        </p:attrNameLst>
                                      </p:cBhvr>
                                      <p:to>
                                        <p:strVal val="visible"/>
                                      </p:to>
                                    </p:set>
                                    <p:animEffect transition="in" filter="wipe(left)">
                                      <p:cBhvr>
                                        <p:cTn id="65" dur="500"/>
                                        <p:tgtEl>
                                          <p:spTgt spid="112"/>
                                        </p:tgtEl>
                                      </p:cBhvr>
                                    </p:animEffect>
                                  </p:childTnLst>
                                </p:cTn>
                              </p:par>
                              <p:par>
                                <p:cTn id="66" presetID="10" presetClass="entr" presetSubtype="0" fill="hold" grpId="0" nodeType="withEffect">
                                  <p:stCondLst>
                                    <p:cond delay="320"/>
                                  </p:stCondLst>
                                  <p:childTnLst>
                                    <p:set>
                                      <p:cBhvr>
                                        <p:cTn id="67" dur="1" fill="hold">
                                          <p:stCondLst>
                                            <p:cond delay="0"/>
                                          </p:stCondLst>
                                        </p:cTn>
                                        <p:tgtEl>
                                          <p:spTgt spid="113"/>
                                        </p:tgtEl>
                                        <p:attrNameLst>
                                          <p:attrName>style.visibility</p:attrName>
                                        </p:attrNameLst>
                                      </p:cBhvr>
                                      <p:to>
                                        <p:strVal val="visible"/>
                                      </p:to>
                                    </p:set>
                                    <p:animEffect transition="in" filter="fade">
                                      <p:cBhvr>
                                        <p:cTn id="68" dur="500"/>
                                        <p:tgtEl>
                                          <p:spTgt spid="113"/>
                                        </p:tgtEl>
                                      </p:cBhvr>
                                    </p:animEffect>
                                  </p:childTnLst>
                                </p:cTn>
                              </p:par>
                              <p:par>
                                <p:cTn id="69" presetID="22" presetClass="entr" presetSubtype="8" fill="hold" grpId="0" nodeType="withEffect">
                                  <p:stCondLst>
                                    <p:cond delay="380"/>
                                  </p:stCondLst>
                                  <p:childTnLst>
                                    <p:set>
                                      <p:cBhvr>
                                        <p:cTn id="70" dur="1" fill="hold">
                                          <p:stCondLst>
                                            <p:cond delay="0"/>
                                          </p:stCondLst>
                                        </p:cTn>
                                        <p:tgtEl>
                                          <p:spTgt spid="114"/>
                                        </p:tgtEl>
                                        <p:attrNameLst>
                                          <p:attrName>style.visibility</p:attrName>
                                        </p:attrNameLst>
                                      </p:cBhvr>
                                      <p:to>
                                        <p:strVal val="visible"/>
                                      </p:to>
                                    </p:set>
                                    <p:animEffect transition="in" filter="wipe(left)">
                                      <p:cBhvr>
                                        <p:cTn id="71" dur="500"/>
                                        <p:tgtEl>
                                          <p:spTgt spid="114"/>
                                        </p:tgtEl>
                                      </p:cBhvr>
                                    </p:animEffect>
                                  </p:childTnLst>
                                </p:cTn>
                              </p:par>
                              <p:par>
                                <p:cTn id="72" presetID="10" presetClass="entr" presetSubtype="0" fill="hold" grpId="0" nodeType="withEffect">
                                  <p:stCondLst>
                                    <p:cond delay="640"/>
                                  </p:stCondLst>
                                  <p:childTnLst>
                                    <p:set>
                                      <p:cBhvr>
                                        <p:cTn id="73" dur="1" fill="hold">
                                          <p:stCondLst>
                                            <p:cond delay="0"/>
                                          </p:stCondLst>
                                        </p:cTn>
                                        <p:tgtEl>
                                          <p:spTgt spid="115"/>
                                        </p:tgtEl>
                                        <p:attrNameLst>
                                          <p:attrName>style.visibility</p:attrName>
                                        </p:attrNameLst>
                                      </p:cBhvr>
                                      <p:to>
                                        <p:strVal val="visible"/>
                                      </p:to>
                                    </p:set>
                                    <p:animEffect transition="in" filter="fade">
                                      <p:cBhvr>
                                        <p:cTn id="74" dur="500"/>
                                        <p:tgtEl>
                                          <p:spTgt spid="115"/>
                                        </p:tgtEl>
                                      </p:cBhvr>
                                    </p:animEffect>
                                  </p:childTnLst>
                                </p:cTn>
                              </p:par>
                              <p:par>
                                <p:cTn id="75" presetID="22" presetClass="entr" presetSubtype="8" fill="hold" grpId="0" nodeType="withEffect">
                                  <p:stCondLst>
                                    <p:cond delay="700"/>
                                  </p:stCondLst>
                                  <p:childTnLst>
                                    <p:set>
                                      <p:cBhvr>
                                        <p:cTn id="76" dur="1" fill="hold">
                                          <p:stCondLst>
                                            <p:cond delay="0"/>
                                          </p:stCondLst>
                                        </p:cTn>
                                        <p:tgtEl>
                                          <p:spTgt spid="116"/>
                                        </p:tgtEl>
                                        <p:attrNameLst>
                                          <p:attrName>style.visibility</p:attrName>
                                        </p:attrNameLst>
                                      </p:cBhvr>
                                      <p:to>
                                        <p:strVal val="visible"/>
                                      </p:to>
                                    </p:set>
                                    <p:animEffect transition="in" filter="wipe(left)">
                                      <p:cBhvr>
                                        <p:cTn id="77" dur="500"/>
                                        <p:tgtEl>
                                          <p:spTgt spid="116"/>
                                        </p:tgtEl>
                                      </p:cBhvr>
                                    </p:animEffect>
                                  </p:childTnLst>
                                </p:cTn>
                              </p:par>
                              <p:par>
                                <p:cTn id="78" presetID="10" presetClass="entr" presetSubtype="0" fill="hold" grpId="0" nodeType="withEffect">
                                  <p:stCondLst>
                                    <p:cond delay="960"/>
                                  </p:stCondLst>
                                  <p:childTnLst>
                                    <p:set>
                                      <p:cBhvr>
                                        <p:cTn id="79" dur="1" fill="hold">
                                          <p:stCondLst>
                                            <p:cond delay="0"/>
                                          </p:stCondLst>
                                        </p:cTn>
                                        <p:tgtEl>
                                          <p:spTgt spid="117"/>
                                        </p:tgtEl>
                                        <p:attrNameLst>
                                          <p:attrName>style.visibility</p:attrName>
                                        </p:attrNameLst>
                                      </p:cBhvr>
                                      <p:to>
                                        <p:strVal val="visible"/>
                                      </p:to>
                                    </p:set>
                                    <p:animEffect transition="in" filter="fade">
                                      <p:cBhvr>
                                        <p:cTn id="80" dur="500"/>
                                        <p:tgtEl>
                                          <p:spTgt spid="117"/>
                                        </p:tgtEl>
                                      </p:cBhvr>
                                    </p:animEffect>
                                  </p:childTnLst>
                                </p:cTn>
                              </p:par>
                              <p:par>
                                <p:cTn id="81" presetID="22" presetClass="entr" presetSubtype="8" fill="hold" grpId="0" nodeType="withEffect">
                                  <p:stCondLst>
                                    <p:cond delay="1020"/>
                                  </p:stCondLst>
                                  <p:childTnLst>
                                    <p:set>
                                      <p:cBhvr>
                                        <p:cTn id="82" dur="1" fill="hold">
                                          <p:stCondLst>
                                            <p:cond delay="0"/>
                                          </p:stCondLst>
                                        </p:cTn>
                                        <p:tgtEl>
                                          <p:spTgt spid="118"/>
                                        </p:tgtEl>
                                        <p:attrNameLst>
                                          <p:attrName>style.visibility</p:attrName>
                                        </p:attrNameLst>
                                      </p:cBhvr>
                                      <p:to>
                                        <p:strVal val="visible"/>
                                      </p:to>
                                    </p:set>
                                    <p:animEffect transition="in" filter="wipe(left)">
                                      <p:cBhvr>
                                        <p:cTn id="83" dur="500"/>
                                        <p:tgtEl>
                                          <p:spTgt spid="118"/>
                                        </p:tgtEl>
                                      </p:cBhvr>
                                    </p:animEffect>
                                  </p:childTnLst>
                                </p:cTn>
                              </p:par>
                              <p:par>
                                <p:cTn id="84" presetID="53" presetClass="entr" presetSubtype="16" fill="hold" grpId="0" nodeType="withEffect">
                                  <p:stCondLst>
                                    <p:cond delay="1320"/>
                                  </p:stCondLst>
                                  <p:childTnLst>
                                    <p:set>
                                      <p:cBhvr>
                                        <p:cTn id="85" dur="1" fill="hold">
                                          <p:stCondLst>
                                            <p:cond delay="0"/>
                                          </p:stCondLst>
                                        </p:cTn>
                                        <p:tgtEl>
                                          <p:spTgt spid="121"/>
                                        </p:tgtEl>
                                        <p:attrNameLst>
                                          <p:attrName>style.visibility</p:attrName>
                                        </p:attrNameLst>
                                      </p:cBhvr>
                                      <p:to>
                                        <p:strVal val="visible"/>
                                      </p:to>
                                    </p:set>
                                    <p:anim calcmode="lin" valueType="num">
                                      <p:cBhvr additive="base">
                                        <p:cTn id="86" dur="500" decel="100000" fill="hold"/>
                                        <p:tgtEl>
                                          <p:spTgt spid="121"/>
                                        </p:tgtEl>
                                        <p:attrNameLst>
                                          <p:attrName>ppt_w</p:attrName>
                                        </p:attrNameLst>
                                      </p:cBhvr>
                                      <p:tavLst>
                                        <p:tav tm="0">
                                          <p:val>
                                            <p:strVal val="#ppt_w*0.3"/>
                                          </p:val>
                                        </p:tav>
                                        <p:tav tm="100000">
                                          <p:val>
                                            <p:strVal val="#ppt_w*1.08"/>
                                          </p:val>
                                        </p:tav>
                                      </p:tavLst>
                                    </p:anim>
                                    <p:anim calcmode="lin" valueType="num">
                                      <p:cBhvr additive="base">
                                        <p:cTn id="87" dur="500" decel="100000" fill="hold"/>
                                        <p:tgtEl>
                                          <p:spTgt spid="121"/>
                                        </p:tgtEl>
                                        <p:attrNameLst>
                                          <p:attrName>ppt_h</p:attrName>
                                        </p:attrNameLst>
                                      </p:cBhvr>
                                      <p:tavLst>
                                        <p:tav tm="0">
                                          <p:val>
                                            <p:strVal val="#ppt_h*0.3"/>
                                          </p:val>
                                        </p:tav>
                                        <p:tav tm="100000">
                                          <p:val>
                                            <p:strVal val="#ppt_h*1.08"/>
                                          </p:val>
                                        </p:tav>
                                      </p:tavLst>
                                    </p:anim>
                                    <p:animEffect transition="in" filter="fade">
                                      <p:cBhvr>
                                        <p:cTn id="88" dur="250"/>
                                        <p:tgtEl>
                                          <p:spTgt spid="121"/>
                                        </p:tgtEl>
                                      </p:cBhvr>
                                    </p:animEffect>
                                    <p:anim calcmode="lin" valueType="num">
                                      <p:cBhvr additive="base">
                                        <p:cTn id="89" dur="160" fill="hold">
                                          <p:stCondLst>
                                            <p:cond delay="500"/>
                                          </p:stCondLst>
                                        </p:cTn>
                                        <p:tgtEl>
                                          <p:spTgt spid="121"/>
                                        </p:tgtEl>
                                        <p:attrNameLst>
                                          <p:attrName>ppt_w</p:attrName>
                                        </p:attrNameLst>
                                      </p:cBhvr>
                                      <p:tavLst>
                                        <p:tav tm="0">
                                          <p:val>
                                            <p:strVal val="#ppt_w*1.08"/>
                                          </p:val>
                                        </p:tav>
                                        <p:tav tm="100000">
                                          <p:val>
                                            <p:strVal val="#ppt_w"/>
                                          </p:val>
                                        </p:tav>
                                      </p:tavLst>
                                    </p:anim>
                                    <p:anim calcmode="lin" valueType="num">
                                      <p:cBhvr additive="base">
                                        <p:cTn id="90" dur="160" fill="hold">
                                          <p:stCondLst>
                                            <p:cond delay="500"/>
                                          </p:stCondLst>
                                        </p:cTn>
                                        <p:tgtEl>
                                          <p:spTgt spid="121"/>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1"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CHAPTER 03</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MANIFESTO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198</a:t>
            </a:r>
            <a:endParaRPr lang="en-US" sz="850" dirty="0"/>
          </a:p>
        </p:txBody>
      </p:sp>
      <p:sp>
        <p:nvSpPr>
          <p:cNvPr id="101" name="!!bignum"/>
          <p:cNvSpPr txBox="1"/>
          <p:nvPr/>
        </p:nvSpPr>
        <p:spPr>
          <a:xfrm>
            <a:off x="497434" y="960120"/>
            <a:ext cx="2926080" cy="1463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A78BFA"/>
                </a:solidFill>
                <a:latin typeface="Segoe UI"/>
                <a:ea typeface="Segoe UI"/>
                <a:cs typeface="Segoe UI"/>
              </a:rPr>
              <a:t>03</a:t>
            </a:r>
            <a:endParaRPr lang="en-US" sz="9600" dirty="0"/>
          </a:p>
        </p:txBody>
      </p:sp>
      <p:sp>
        <p:nvSpPr>
          <p:cNvPr id="102" name="s102"/>
          <p:cNvSpPr txBox="1"/>
          <p:nvPr/>
        </p:nvSpPr>
        <p:spPr>
          <a:xfrm>
            <a:off x="543154" y="2377440"/>
            <a:ext cx="10515600" cy="8229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The Agile Manifesto</a:t>
            </a:r>
            <a:endParaRPr lang="en-US" sz="4000" dirty="0"/>
          </a:p>
        </p:txBody>
      </p:sp>
      <p:sp>
        <p:nvSpPr>
          <p:cNvPr id="103" name="s103"/>
          <p:cNvSpPr txBox="1"/>
          <p:nvPr/>
        </p:nvSpPr>
        <p:spPr>
          <a:xfrm>
            <a:off x="543154" y="3154680"/>
            <a:ext cx="1051560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0" dirty="0">
                <a:solidFill>
                  <a:srgbClr val="CBD5E1"/>
                </a:solidFill>
                <a:latin typeface="Segoe UI"/>
                <a:ea typeface="Segoe UI"/>
                <a:cs typeface="Segoe UI"/>
              </a:rPr>
              <a:t>4 core values · 12 principles · real decisions, not slogans.</a:t>
            </a:r>
            <a:endParaRPr lang="en-US" sz="1600" dirty="0"/>
          </a:p>
        </p:txBody>
      </p:sp>
      <p:sp>
        <p:nvSpPr>
          <p:cNvPr id="104" name="s104"/>
          <p:cNvSpPr/>
          <p:nvPr/>
        </p:nvSpPr>
        <p:spPr>
          <a:xfrm>
            <a:off x="543154" y="3840480"/>
            <a:ext cx="3513125" cy="960120"/>
          </a:xfrm>
          <a:prstGeom prst="roundRect">
            <a:avLst>
              <a:gd name="adj" fmla="val 10000"/>
            </a:avLst>
          </a:prstGeom>
          <a:solidFill>
            <a:srgbClr val="111B2E"/>
          </a:solidFill>
          <a:ln w="12700">
            <a:solidFill>
              <a:srgbClr val="A78BFA"/>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A78BFA"/>
                </a:solidFill>
                <a:latin typeface="Segoe UI"/>
                <a:ea typeface="Segoe UI"/>
                <a:cs typeface="Segoe UI"/>
              </a:rPr>
              <a:t>4 values</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What to prefer when trade-offs appear.</a:t>
            </a:r>
            <a:endParaRPr lang="en-US" sz="1200" dirty="0"/>
          </a:p>
        </p:txBody>
      </p:sp>
      <p:sp>
        <p:nvSpPr>
          <p:cNvPr id="105" name="s105"/>
          <p:cNvSpPr/>
          <p:nvPr/>
        </p:nvSpPr>
        <p:spPr>
          <a:xfrm>
            <a:off x="4330598" y="3840480"/>
            <a:ext cx="3513125" cy="960120"/>
          </a:xfrm>
          <a:prstGeom prst="roundRect">
            <a:avLst>
              <a:gd name="adj" fmla="val 10000"/>
            </a:avLst>
          </a:prstGeom>
          <a:solidFill>
            <a:srgbClr val="111B2E"/>
          </a:solidFill>
          <a:ln w="12700">
            <a:solidFill>
              <a:srgbClr val="A78BFA"/>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A78BFA"/>
                </a:solidFill>
                <a:latin typeface="Segoe UI"/>
                <a:ea typeface="Segoe UI"/>
                <a:cs typeface="Segoe UI"/>
              </a:rPr>
              <a:t>12 principles</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How to act day to day on a real team.</a:t>
            </a:r>
            <a:endParaRPr lang="en-US" sz="1200" dirty="0"/>
          </a:p>
        </p:txBody>
      </p:sp>
      <p:sp>
        <p:nvSpPr>
          <p:cNvPr id="106" name="s106"/>
          <p:cNvSpPr/>
          <p:nvPr/>
        </p:nvSpPr>
        <p:spPr>
          <a:xfrm>
            <a:off x="8118043" y="3840480"/>
            <a:ext cx="3513125" cy="960120"/>
          </a:xfrm>
          <a:prstGeom prst="roundRect">
            <a:avLst>
              <a:gd name="adj" fmla="val 10000"/>
            </a:avLst>
          </a:prstGeom>
          <a:solidFill>
            <a:srgbClr val="111B2E"/>
          </a:solidFill>
          <a:ln w="12700">
            <a:solidFill>
              <a:srgbClr val="A78BFA"/>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A78BFA"/>
                </a:solidFill>
                <a:latin typeface="Segoe UI"/>
                <a:ea typeface="Segoe UI"/>
                <a:cs typeface="Segoe UI"/>
              </a:rPr>
              <a:t>Classroom method</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Define → Ask → Real case.</a:t>
            </a:r>
            <a:endParaRPr lang="en-US" sz="1200" dirty="0"/>
          </a:p>
        </p:txBody>
      </p:sp>
      <p:sp>
        <p:nvSpPr>
          <p:cNvPr id="107" name="!!chap0"/>
          <p:cNvSpPr/>
          <p:nvPr/>
        </p:nvSpPr>
        <p:spPr>
          <a:xfrm>
            <a:off x="54315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01  </a:t>
            </a:r>
            <a:r>
              <a:rPr lang="en-US" sz="1100" b="0" dirty="0">
                <a:solidFill>
                  <a:srgbClr val="94A3B8"/>
                </a:solidFill>
                <a:latin typeface="Segoe UI"/>
                <a:ea typeface="Segoe UI"/>
                <a:cs typeface="Segoe UI"/>
              </a:rPr>
              <a:t>Methodologies</a:t>
            </a:r>
            <a:endParaRPr lang="en-US" sz="1100" dirty="0"/>
          </a:p>
        </p:txBody>
      </p:sp>
      <p:sp>
        <p:nvSpPr>
          <p:cNvPr id="108" name="!!chap1"/>
          <p:cNvSpPr/>
          <p:nvPr/>
        </p:nvSpPr>
        <p:spPr>
          <a:xfrm>
            <a:off x="240944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02  </a:t>
            </a:r>
            <a:r>
              <a:rPr lang="en-US" sz="1100" b="0" dirty="0">
                <a:solidFill>
                  <a:srgbClr val="94A3B8"/>
                </a:solidFill>
                <a:latin typeface="Segoe UI"/>
                <a:ea typeface="Segoe UI"/>
                <a:cs typeface="Segoe UI"/>
              </a:rPr>
              <a:t>Agile mindset</a:t>
            </a:r>
            <a:endParaRPr lang="en-US" sz="1100" dirty="0"/>
          </a:p>
        </p:txBody>
      </p:sp>
      <p:sp>
        <p:nvSpPr>
          <p:cNvPr id="109" name="!!chap2"/>
          <p:cNvSpPr/>
          <p:nvPr/>
        </p:nvSpPr>
        <p:spPr>
          <a:xfrm>
            <a:off x="4275734" y="5074920"/>
            <a:ext cx="1756562" cy="457200"/>
          </a:xfrm>
          <a:prstGeom prst="roundRect">
            <a:avLst>
              <a:gd name="adj" fmla="val 50000"/>
            </a:avLst>
          </a:prstGeom>
          <a:solidFill>
            <a:srgbClr val="A78BFA"/>
          </a:solidFill>
          <a:ln w="12700">
            <a:solidFill>
              <a:srgbClr val="A78BFA"/>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03  Manifesto values</a:t>
            </a:r>
            <a:endParaRPr lang="en-US" sz="1100" dirty="0"/>
          </a:p>
        </p:txBody>
      </p:sp>
      <p:sp>
        <p:nvSpPr>
          <p:cNvPr id="110" name="!!chap3"/>
          <p:cNvSpPr/>
          <p:nvPr/>
        </p:nvSpPr>
        <p:spPr>
          <a:xfrm>
            <a:off x="614202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04  </a:t>
            </a:r>
            <a:r>
              <a:rPr lang="en-US" sz="1100" b="0" dirty="0">
                <a:solidFill>
                  <a:srgbClr val="94A3B8"/>
                </a:solidFill>
                <a:latin typeface="Segoe UI"/>
                <a:ea typeface="Segoe UI"/>
                <a:cs typeface="Segoe UI"/>
              </a:rPr>
              <a:t>12 principles</a:t>
            </a:r>
            <a:endParaRPr lang="en-US" sz="1100" dirty="0"/>
          </a:p>
        </p:txBody>
      </p:sp>
      <p:sp>
        <p:nvSpPr>
          <p:cNvPr id="111" name="!!chap4"/>
          <p:cNvSpPr/>
          <p:nvPr/>
        </p:nvSpPr>
        <p:spPr>
          <a:xfrm>
            <a:off x="800831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05  </a:t>
            </a:r>
            <a:r>
              <a:rPr lang="en-US" sz="1100" b="0" dirty="0">
                <a:solidFill>
                  <a:srgbClr val="94A3B8"/>
                </a:solidFill>
                <a:latin typeface="Segoe UI"/>
                <a:ea typeface="Segoe UI"/>
                <a:cs typeface="Segoe UI"/>
              </a:rPr>
              <a:t>Scrum: one Sprint</a:t>
            </a:r>
            <a:endParaRPr lang="en-US" sz="1100" dirty="0"/>
          </a:p>
        </p:txBody>
      </p:sp>
      <p:sp>
        <p:nvSpPr>
          <p:cNvPr id="112" name="!!chap5"/>
          <p:cNvSpPr/>
          <p:nvPr/>
        </p:nvSpPr>
        <p:spPr>
          <a:xfrm>
            <a:off x="9874606"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472B6"/>
                </a:solidFill>
                <a:latin typeface="Segoe UI"/>
                <a:ea typeface="Segoe UI"/>
                <a:cs typeface="Segoe UI"/>
              </a:rPr>
              <a:t>06  </a:t>
            </a:r>
            <a:r>
              <a:rPr lang="en-US" sz="1100" b="0" dirty="0">
                <a:solidFill>
                  <a:srgbClr val="94A3B8"/>
                </a:solidFill>
                <a:latin typeface="Segoe UI"/>
                <a:ea typeface="Segoe UI"/>
                <a:cs typeface="Segoe UI"/>
              </a:rPr>
              <a:t>Practice lab</a:t>
            </a:r>
            <a:endParaRPr lang="en-US" sz="11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5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50" decel="100000" fill="hold"/>
                                        <p:tgtEl>
                                          <p:spTgt spid="101"/>
                                        </p:tgtEl>
                                        <p:attrNameLst>
                                          <p:attrName>ppt_h</p:attrName>
                                        </p:attrNameLst>
                                      </p:cBhvr>
                                      <p:tavLst>
                                        <p:tav tm="0">
                                          <p:val>
                                            <p:strVal val="#ppt_h*0.3"/>
                                          </p:val>
                                        </p:tav>
                                        <p:tav tm="100000">
                                          <p:val>
                                            <p:strVal val="#ppt_h*1.08"/>
                                          </p:val>
                                        </p:tav>
                                      </p:tavLst>
                                    </p:anim>
                                    <p:animEffect transition="in" filter="fade">
                                      <p:cBhvr>
                                        <p:cTn id="9" dur="275"/>
                                        <p:tgtEl>
                                          <p:spTgt spid="101"/>
                                        </p:tgtEl>
                                      </p:cBhvr>
                                    </p:animEffect>
                                    <p:anim calcmode="lin" valueType="num">
                                      <p:cBhvr additive="base">
                                        <p:cTn id="10" dur="160" fill="hold">
                                          <p:stCondLst>
                                            <p:cond delay="55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5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4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50"/>
                                        <p:tgtEl>
                                          <p:spTgt spid="102"/>
                                        </p:tgtEl>
                                      </p:cBhvr>
                                    </p:animEffect>
                                    <p:anim calcmode="lin" valueType="num">
                                      <p:cBhvr additive="base">
                                        <p:cTn id="15" dur="55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8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50"/>
                                        <p:tgtEl>
                                          <p:spTgt spid="103"/>
                                        </p:tgtEl>
                                      </p:cBhvr>
                                    </p:animEffect>
                                    <p:anim calcmode="lin" valueType="num">
                                      <p:cBhvr additive="base">
                                        <p:cTn id="19" dur="55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42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50"/>
                                        <p:tgtEl>
                                          <p:spTgt spid="104"/>
                                        </p:tgtEl>
                                      </p:cBhvr>
                                    </p:animEffect>
                                    <p:anim calcmode="lin" valueType="num">
                                      <p:cBhvr additive="base">
                                        <p:cTn id="23" dur="55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56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50"/>
                                        <p:tgtEl>
                                          <p:spTgt spid="105"/>
                                        </p:tgtEl>
                                      </p:cBhvr>
                                    </p:animEffect>
                                    <p:anim calcmode="lin" valueType="num">
                                      <p:cBhvr additive="base">
                                        <p:cTn id="27" dur="55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70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50"/>
                                        <p:tgtEl>
                                          <p:spTgt spid="106"/>
                                        </p:tgtEl>
                                      </p:cBhvr>
                                    </p:animEffect>
                                    <p:anim calcmode="lin" valueType="num">
                                      <p:cBhvr additive="base">
                                        <p:cTn id="31" dur="550" decel="100000" fill="hold"/>
                                        <p:tgtEl>
                                          <p:spTgt spid="106"/>
                                        </p:tgtEl>
                                        <p:attrNameLst>
                                          <p:attrName>ppt_y</p:attrName>
                                        </p:attrNameLst>
                                      </p:cBhvr>
                                      <p:tavLst>
                                        <p:tav tm="0">
                                          <p:val>
                                            <p:strVal val="#ppt_y+0.06"/>
                                          </p:val>
                                        </p:tav>
                                        <p:tav tm="100000">
                                          <p:val>
                                            <p:strVal val="#ppt_y"/>
                                          </p:val>
                                        </p:tav>
                                      </p:tavLst>
                                    </p:anim>
                                  </p:childTnLst>
                                </p:cTn>
                              </p:par>
                              <p:par>
                                <p:cTn id="32" presetID="10" presetClass="entr" presetSubtype="0" fill="hold" grpId="0" nodeType="withEffect">
                                  <p:stCondLst>
                                    <p:cond delay="85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childTnLst>
                                </p:cTn>
                              </p:par>
                              <p:par>
                                <p:cTn id="35" presetID="10" presetClass="entr" presetSubtype="0" fill="hold" grpId="0" nodeType="withEffect">
                                  <p:stCondLst>
                                    <p:cond delay="85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85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85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85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85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DEFINITION</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Is the Agile Manifesto?</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MANIFESTO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199</a:t>
            </a:r>
            <a:endParaRPr lang="en-US" sz="850" dirty="0"/>
          </a:p>
        </p:txBody>
      </p:sp>
      <p:sp>
        <p:nvSpPr>
          <p:cNvPr id="101" name="s101"/>
          <p:cNvSpPr/>
          <p:nvPr/>
        </p:nvSpPr>
        <p:spPr>
          <a:xfrm>
            <a:off x="543154" y="1828800"/>
            <a:ext cx="3291840" cy="1097280"/>
          </a:xfrm>
          <a:prstGeom prst="roundRect">
            <a:avLst>
              <a:gd name="adj" fmla="val 12000"/>
            </a:avLst>
          </a:prstGeom>
          <a:solidFill>
            <a:srgbClr val="111B2E"/>
          </a:solidFill>
          <a:ln w="12700">
            <a:solidFill>
              <a:srgbClr val="A78BFA"/>
            </a:solidFill>
            <a:prstDash val="solid"/>
          </a:ln>
        </p:spPr>
        <p:txBody>
          <a:bodyPr wrap="square" lIns="1005840" tIns="0" rIns="91440" bIns="0" rtlCol="0" anchor="ctr">
            <a:noAutofit/>
          </a:bodyPr>
          <a:lstStyle/>
          <a:p>
            <a:pPr marL="0" indent="0" algn="l">
              <a:spcBef>
                <a:spcPts val="0"/>
              </a:spcBef>
              <a:spcAft>
                <a:spcPts val="0"/>
              </a:spcAft>
              <a:buNone/>
            </a:pPr>
            <a:r>
              <a:rPr lang="en-US" sz="2800" b="1" dirty="0">
                <a:solidFill>
                  <a:srgbClr val="A78BFA"/>
                </a:solidFill>
                <a:latin typeface="Segoe UI"/>
                <a:ea typeface="Segoe UI"/>
                <a:cs typeface="Segoe UI"/>
              </a:rPr>
              <a:t>2001</a:t>
            </a:r>
            <a:endParaRPr lang="en-US" sz="2800" dirty="0"/>
          </a:p>
          <a:p>
            <a:pPr marL="0" indent="0" algn="l">
              <a:spcBef>
                <a:spcPts val="0"/>
              </a:spcBef>
              <a:spcAft>
                <a:spcPts val="0"/>
              </a:spcAft>
              <a:buNone/>
            </a:pPr>
            <a:r>
              <a:rPr lang="en-US" sz="1200" b="0" dirty="0">
                <a:solidFill>
                  <a:srgbClr val="94A3B8"/>
                </a:solidFill>
                <a:latin typeface="Segoe UI"/>
                <a:ea typeface="Segoe UI"/>
                <a:cs typeface="Segoe UI"/>
              </a:rPr>
              <a:t>Snowbird, Utah</a:t>
            </a:r>
            <a:endParaRPr lang="en-US" sz="1200" dirty="0"/>
          </a:p>
        </p:txBody>
      </p:sp>
      <p:sp>
        <p:nvSpPr>
          <p:cNvPr id="102" name="s102"/>
          <p:cNvSpPr/>
          <p:nvPr/>
        </p:nvSpPr>
        <p:spPr>
          <a:xfrm>
            <a:off x="771754" y="2103120"/>
            <a:ext cx="548640" cy="54864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903427" y="2234794"/>
            <a:ext cx="285293" cy="285293"/>
          </a:xfrm>
          <a:prstGeom prst="rect">
            <a:avLst/>
          </a:prstGeom>
        </p:spPr>
      </p:pic>
      <p:cxnSp>
        <p:nvCxnSpPr>
          <p:cNvPr id="104" name="ln104"/>
          <p:cNvCxnSpPr/>
          <p:nvPr/>
        </p:nvCxnSpPr>
        <p:spPr>
          <a:xfrm>
            <a:off x="3926434" y="2377440"/>
            <a:ext cx="548640" cy="0"/>
          </a:xfrm>
          <a:prstGeom prst="line">
            <a:avLst/>
          </a:prstGeom>
          <a:ln w="25400">
            <a:solidFill>
              <a:srgbClr val="A78BFA"/>
            </a:solidFill>
            <a:tailEnd type="triangle" w="med" len="med"/>
          </a:ln>
        </p:spPr>
      </p:cxnSp>
      <p:sp>
        <p:nvSpPr>
          <p:cNvPr id="105" name="s105"/>
          <p:cNvSpPr/>
          <p:nvPr/>
        </p:nvSpPr>
        <p:spPr>
          <a:xfrm>
            <a:off x="4566514" y="1828800"/>
            <a:ext cx="3291840" cy="1097280"/>
          </a:xfrm>
          <a:prstGeom prst="roundRect">
            <a:avLst>
              <a:gd name="adj" fmla="val 12000"/>
            </a:avLst>
          </a:prstGeom>
          <a:solidFill>
            <a:srgbClr val="111B2E"/>
          </a:solidFill>
          <a:ln w="12700">
            <a:solidFill>
              <a:srgbClr val="A78BFA"/>
            </a:solidFill>
            <a:prstDash val="solid"/>
          </a:ln>
        </p:spPr>
        <p:txBody>
          <a:bodyPr wrap="square" lIns="1005840" tIns="0" rIns="91440" bIns="0" rtlCol="0" anchor="ctr">
            <a:noAutofit/>
          </a:bodyPr>
          <a:lstStyle/>
          <a:p>
            <a:pPr marL="0" indent="0" algn="l">
              <a:spcBef>
                <a:spcPts val="0"/>
              </a:spcBef>
              <a:spcAft>
                <a:spcPts val="0"/>
              </a:spcAft>
              <a:buNone/>
            </a:pPr>
            <a:r>
              <a:rPr lang="en-US" sz="2800" b="1" dirty="0">
                <a:solidFill>
                  <a:srgbClr val="A78BFA"/>
                </a:solidFill>
                <a:latin typeface="Segoe UI"/>
                <a:ea typeface="Segoe UI"/>
                <a:cs typeface="Segoe UI"/>
              </a:rPr>
              <a:t>17</a:t>
            </a:r>
            <a:endParaRPr lang="en-US" sz="2800" dirty="0"/>
          </a:p>
          <a:p>
            <a:pPr marL="0" indent="0" algn="l">
              <a:spcBef>
                <a:spcPts val="0"/>
              </a:spcBef>
              <a:spcAft>
                <a:spcPts val="0"/>
              </a:spcAft>
              <a:buNone/>
            </a:pPr>
            <a:r>
              <a:rPr lang="en-US" sz="1200" b="0" dirty="0">
                <a:solidFill>
                  <a:srgbClr val="94A3B8"/>
                </a:solidFill>
                <a:latin typeface="Segoe UI"/>
                <a:ea typeface="Segoe UI"/>
                <a:cs typeface="Segoe UI"/>
              </a:rPr>
              <a:t>software practitioners</a:t>
            </a:r>
            <a:endParaRPr lang="en-US" sz="1200" dirty="0"/>
          </a:p>
        </p:txBody>
      </p:sp>
      <p:sp>
        <p:nvSpPr>
          <p:cNvPr id="106" name="s106"/>
          <p:cNvSpPr/>
          <p:nvPr/>
        </p:nvSpPr>
        <p:spPr>
          <a:xfrm>
            <a:off x="4795114" y="2103120"/>
            <a:ext cx="548640" cy="54864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07" name="img107"/>
          <p:cNvPicPr>
            <a:picLocks noChangeAspect="1"/>
          </p:cNvPicPr>
          <p:nvPr/>
        </p:nvPicPr>
        <p:blipFill>
          <a:blip r:embed="rId5"/>
          <a:stretch>
            <a:fillRect/>
          </a:stretch>
        </p:blipFill>
        <p:spPr>
          <a:xfrm>
            <a:off x="4926787" y="2234794"/>
            <a:ext cx="285293" cy="285293"/>
          </a:xfrm>
          <a:prstGeom prst="rect">
            <a:avLst/>
          </a:prstGeom>
        </p:spPr>
      </p:pic>
      <p:cxnSp>
        <p:nvCxnSpPr>
          <p:cNvPr id="108" name="ln108"/>
          <p:cNvCxnSpPr/>
          <p:nvPr/>
        </p:nvCxnSpPr>
        <p:spPr>
          <a:xfrm>
            <a:off x="7949794" y="2377440"/>
            <a:ext cx="548640" cy="0"/>
          </a:xfrm>
          <a:prstGeom prst="line">
            <a:avLst/>
          </a:prstGeom>
          <a:ln w="25400">
            <a:solidFill>
              <a:srgbClr val="A78BFA"/>
            </a:solidFill>
            <a:tailEnd type="triangle" w="med" len="med"/>
          </a:ln>
        </p:spPr>
      </p:cxnSp>
      <p:sp>
        <p:nvSpPr>
          <p:cNvPr id="109" name="s109"/>
          <p:cNvSpPr/>
          <p:nvPr/>
        </p:nvSpPr>
        <p:spPr>
          <a:xfrm>
            <a:off x="8589874" y="1828800"/>
            <a:ext cx="3041294" cy="1097280"/>
          </a:xfrm>
          <a:prstGeom prst="roundRect">
            <a:avLst>
              <a:gd name="adj" fmla="val 12000"/>
            </a:avLst>
          </a:prstGeom>
          <a:solidFill>
            <a:srgbClr val="A78BFA">
              <a:alpha val="12000"/>
            </a:srgbClr>
          </a:solidFill>
          <a:ln w="12700">
            <a:solidFill>
              <a:srgbClr val="A78BFA"/>
            </a:solidFill>
            <a:prstDash val="solid"/>
          </a:ln>
        </p:spPr>
        <p:txBody>
          <a:bodyPr wrap="square" lIns="1005840" tIns="0" rIns="91440" bIns="0" rtlCol="0" anchor="ctr">
            <a:noAutofit/>
          </a:bodyPr>
          <a:lstStyle/>
          <a:p>
            <a:pPr marL="0" indent="0" algn="l">
              <a:spcBef>
                <a:spcPts val="0"/>
              </a:spcBef>
              <a:spcAft>
                <a:spcPts val="0"/>
              </a:spcAft>
              <a:buNone/>
            </a:pPr>
            <a:r>
              <a:rPr lang="en-US" sz="2800" b="1" dirty="0">
                <a:solidFill>
                  <a:srgbClr val="FFFFFF"/>
                </a:solidFill>
                <a:latin typeface="Segoe UI"/>
                <a:ea typeface="Segoe UI"/>
                <a:cs typeface="Segoe UI"/>
              </a:rPr>
              <a:t>1 page</a:t>
            </a:r>
            <a:endParaRPr lang="en-US" sz="2800" dirty="0"/>
          </a:p>
          <a:p>
            <a:pPr marL="0" indent="0" algn="l">
              <a:spcBef>
                <a:spcPts val="0"/>
              </a:spcBef>
              <a:spcAft>
                <a:spcPts val="0"/>
              </a:spcAft>
              <a:buNone/>
            </a:pPr>
            <a:r>
              <a:rPr lang="en-US" sz="1200" b="0" dirty="0">
                <a:solidFill>
                  <a:srgbClr val="94A3B8"/>
                </a:solidFill>
                <a:latin typeface="Segoe UI"/>
                <a:ea typeface="Segoe UI"/>
                <a:cs typeface="Segoe UI"/>
              </a:rPr>
              <a:t>a short public declaration</a:t>
            </a:r>
            <a:endParaRPr lang="en-US" sz="1200" dirty="0"/>
          </a:p>
        </p:txBody>
      </p:sp>
      <p:sp>
        <p:nvSpPr>
          <p:cNvPr id="110" name="s110"/>
          <p:cNvSpPr/>
          <p:nvPr/>
        </p:nvSpPr>
        <p:spPr>
          <a:xfrm>
            <a:off x="8818474" y="2103120"/>
            <a:ext cx="548640" cy="54864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11" name="img111"/>
          <p:cNvPicPr>
            <a:picLocks noChangeAspect="1"/>
          </p:cNvPicPr>
          <p:nvPr/>
        </p:nvPicPr>
        <p:blipFill>
          <a:blip r:embed="rId6"/>
          <a:stretch>
            <a:fillRect/>
          </a:stretch>
        </p:blipFill>
        <p:spPr>
          <a:xfrm>
            <a:off x="8950147" y="2234794"/>
            <a:ext cx="285293" cy="285293"/>
          </a:xfrm>
          <a:prstGeom prst="rect">
            <a:avLst/>
          </a:prstGeom>
        </p:spPr>
      </p:pic>
      <p:sp>
        <p:nvSpPr>
          <p:cNvPr id="112" name="s112"/>
          <p:cNvSpPr/>
          <p:nvPr/>
        </p:nvSpPr>
        <p:spPr>
          <a:xfrm>
            <a:off x="543154" y="3154680"/>
            <a:ext cx="11088014" cy="685800"/>
          </a:xfrm>
          <a:prstGeom prst="roundRect">
            <a:avLst>
              <a:gd name="adj" fmla="val 12000"/>
            </a:avLst>
          </a:prstGeom>
          <a:solidFill>
            <a:srgbClr val="111B2E"/>
          </a:solidFill>
          <a:ln w="12700">
            <a:solidFill>
              <a:srgbClr val="A78B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400" b="0" dirty="0">
                <a:solidFill>
                  <a:srgbClr val="E2E8F0"/>
                </a:solidFill>
                <a:latin typeface="Segoe UI"/>
                <a:ea typeface="Segoe UI"/>
                <a:cs typeface="Segoe UI"/>
              </a:rPr>
              <a:t>A shared philosophy: </a:t>
            </a:r>
            <a:r>
              <a:rPr lang="en-US" sz="1400" b="1" dirty="0">
                <a:solidFill>
                  <a:srgbClr val="A78BFA"/>
                </a:solidFill>
                <a:latin typeface="Segoe UI"/>
                <a:ea typeface="Segoe UI"/>
                <a:cs typeface="Segoe UI"/>
              </a:rPr>
              <a:t>values and principles</a:t>
            </a:r>
            <a:r>
              <a:rPr lang="en-US" sz="1400" b="0" dirty="0">
                <a:solidFill>
                  <a:srgbClr val="E2E8F0"/>
                </a:solidFill>
                <a:latin typeface="Segoe UI"/>
                <a:ea typeface="Segoe UI"/>
                <a:cs typeface="Segoe UI"/>
              </a:rPr>
              <a:t> that guide how teams decide, collaborate and deliver software under change.</a:t>
            </a:r>
            <a:endParaRPr lang="en-US" sz="1400" dirty="0"/>
          </a:p>
        </p:txBody>
      </p:sp>
      <p:sp>
        <p:nvSpPr>
          <p:cNvPr id="113" name="s113"/>
          <p:cNvSpPr/>
          <p:nvPr/>
        </p:nvSpPr>
        <p:spPr>
          <a:xfrm>
            <a:off x="543154" y="4114800"/>
            <a:ext cx="3513125" cy="1463040"/>
          </a:xfrm>
          <a:prstGeom prst="roundRect">
            <a:avLst>
              <a:gd name="adj" fmla="val 10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14" name="s114"/>
          <p:cNvSpPr/>
          <p:nvPr/>
        </p:nvSpPr>
        <p:spPr>
          <a:xfrm>
            <a:off x="817474" y="4343400"/>
            <a:ext cx="548640" cy="54864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7"/>
          <a:stretch>
            <a:fillRect/>
          </a:stretch>
        </p:blipFill>
        <p:spPr>
          <a:xfrm>
            <a:off x="949147" y="4475074"/>
            <a:ext cx="285293" cy="285293"/>
          </a:xfrm>
          <a:prstGeom prst="rect">
            <a:avLst/>
          </a:prstGeom>
        </p:spPr>
      </p:pic>
      <p:sp>
        <p:nvSpPr>
          <p:cNvPr id="116" name="s116"/>
          <p:cNvSpPr txBox="1"/>
          <p:nvPr/>
        </p:nvSpPr>
        <p:spPr>
          <a:xfrm>
            <a:off x="1548994" y="4370832"/>
            <a:ext cx="2324405"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87171"/>
                </a:solidFill>
                <a:latin typeface="Segoe UI"/>
                <a:ea typeface="Segoe UI"/>
                <a:cs typeface="Segoe UI"/>
              </a:rPr>
              <a:t>Not a framework</a:t>
            </a:r>
            <a:endParaRPr lang="en-US" sz="1500" dirty="0"/>
          </a:p>
        </p:txBody>
      </p:sp>
      <p:sp>
        <p:nvSpPr>
          <p:cNvPr id="117" name="s117"/>
          <p:cNvSpPr txBox="1"/>
          <p:nvPr/>
        </p:nvSpPr>
        <p:spPr>
          <a:xfrm>
            <a:off x="817474" y="4983480"/>
            <a:ext cx="3055925" cy="5029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Not Scrum. Not Kanban. Not Jira.</a:t>
            </a:r>
            <a:endParaRPr lang="en-US" sz="1250" dirty="0"/>
          </a:p>
        </p:txBody>
      </p:sp>
      <p:sp>
        <p:nvSpPr>
          <p:cNvPr id="118" name="s118"/>
          <p:cNvSpPr/>
          <p:nvPr/>
        </p:nvSpPr>
        <p:spPr>
          <a:xfrm>
            <a:off x="4330598" y="4114800"/>
            <a:ext cx="3513125" cy="1463040"/>
          </a:xfrm>
          <a:prstGeom prst="roundRect">
            <a:avLst>
              <a:gd name="adj" fmla="val 10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19" name="s119"/>
          <p:cNvSpPr/>
          <p:nvPr/>
        </p:nvSpPr>
        <p:spPr>
          <a:xfrm>
            <a:off x="4604918" y="4343400"/>
            <a:ext cx="548640" cy="5486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20" name="img120"/>
          <p:cNvPicPr>
            <a:picLocks noChangeAspect="1"/>
          </p:cNvPicPr>
          <p:nvPr/>
        </p:nvPicPr>
        <p:blipFill>
          <a:blip r:embed="rId8"/>
          <a:stretch>
            <a:fillRect/>
          </a:stretch>
        </p:blipFill>
        <p:spPr>
          <a:xfrm>
            <a:off x="4736592" y="4475074"/>
            <a:ext cx="285293" cy="285293"/>
          </a:xfrm>
          <a:prstGeom prst="rect">
            <a:avLst/>
          </a:prstGeom>
        </p:spPr>
      </p:pic>
      <p:sp>
        <p:nvSpPr>
          <p:cNvPr id="121" name="s121"/>
          <p:cNvSpPr txBox="1"/>
          <p:nvPr/>
        </p:nvSpPr>
        <p:spPr>
          <a:xfrm>
            <a:off x="5336438" y="4370832"/>
            <a:ext cx="2324405"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BBF24"/>
                </a:solidFill>
                <a:latin typeface="Segoe UI"/>
                <a:ea typeface="Segoe UI"/>
                <a:cs typeface="Segoe UI"/>
              </a:rPr>
              <a:t>Not a checklist</a:t>
            </a:r>
            <a:endParaRPr lang="en-US" sz="1500" dirty="0"/>
          </a:p>
        </p:txBody>
      </p:sp>
      <p:sp>
        <p:nvSpPr>
          <p:cNvPr id="122" name="s122"/>
          <p:cNvSpPr txBox="1"/>
          <p:nvPr/>
        </p:nvSpPr>
        <p:spPr>
          <a:xfrm>
            <a:off x="4604918" y="4983480"/>
            <a:ext cx="3055925" cy="5029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You cannot install Agile by copying rituals.</a:t>
            </a:r>
            <a:endParaRPr lang="en-US" sz="1250" dirty="0"/>
          </a:p>
        </p:txBody>
      </p:sp>
      <p:sp>
        <p:nvSpPr>
          <p:cNvPr id="123" name="s123"/>
          <p:cNvSpPr/>
          <p:nvPr/>
        </p:nvSpPr>
        <p:spPr>
          <a:xfrm>
            <a:off x="8118043" y="4114800"/>
            <a:ext cx="3513125" cy="1463040"/>
          </a:xfrm>
          <a:prstGeom prst="roundRect">
            <a:avLst>
              <a:gd name="adj" fmla="val 10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24" name="s124"/>
          <p:cNvSpPr/>
          <p:nvPr/>
        </p:nvSpPr>
        <p:spPr>
          <a:xfrm>
            <a:off x="8392363" y="4343400"/>
            <a:ext cx="548640" cy="54864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5" name="img125"/>
          <p:cNvPicPr>
            <a:picLocks noChangeAspect="1"/>
          </p:cNvPicPr>
          <p:nvPr/>
        </p:nvPicPr>
        <p:blipFill>
          <a:blip r:embed="rId9"/>
          <a:stretch>
            <a:fillRect/>
          </a:stretch>
        </p:blipFill>
        <p:spPr>
          <a:xfrm>
            <a:off x="8524037" y="4475074"/>
            <a:ext cx="285293" cy="285293"/>
          </a:xfrm>
          <a:prstGeom prst="rect">
            <a:avLst/>
          </a:prstGeom>
        </p:spPr>
      </p:pic>
      <p:sp>
        <p:nvSpPr>
          <p:cNvPr id="126" name="s126"/>
          <p:cNvSpPr txBox="1"/>
          <p:nvPr/>
        </p:nvSpPr>
        <p:spPr>
          <a:xfrm>
            <a:off x="9123883" y="4370832"/>
            <a:ext cx="2324405"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34D399"/>
                </a:solidFill>
                <a:latin typeface="Segoe UI"/>
                <a:ea typeface="Segoe UI"/>
                <a:cs typeface="Segoe UI"/>
              </a:rPr>
              <a:t>A compass</a:t>
            </a:r>
            <a:endParaRPr lang="en-US" sz="1500" dirty="0"/>
          </a:p>
        </p:txBody>
      </p:sp>
      <p:sp>
        <p:nvSpPr>
          <p:cNvPr id="127" name="s127"/>
          <p:cNvSpPr txBox="1"/>
          <p:nvPr/>
        </p:nvSpPr>
        <p:spPr>
          <a:xfrm>
            <a:off x="8392363" y="4983480"/>
            <a:ext cx="3055925" cy="5029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0" dirty="0">
                <a:solidFill>
                  <a:srgbClr val="E2E8F0"/>
                </a:solidFill>
                <a:latin typeface="Segoe UI"/>
                <a:ea typeface="Segoe UI"/>
                <a:cs typeface="Segoe UI"/>
              </a:rPr>
              <a:t>It helps teams choose when trade-offs appear.</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22" presetClass="entr" presetSubtype="8" fill="hold" nodeType="withEffect">
                                  <p:stCondLst>
                                    <p:cond delay="220"/>
                                  </p:stCondLst>
                                  <p:childTnLst>
                                    <p:set>
                                      <p:cBhvr>
                                        <p:cTn id="18" dur="1" fill="hold">
                                          <p:stCondLst>
                                            <p:cond delay="0"/>
                                          </p:stCondLst>
                                        </p:cTn>
                                        <p:tgtEl>
                                          <p:spTgt spid="104"/>
                                        </p:tgtEl>
                                        <p:attrNameLst>
                                          <p:attrName>style.visibility</p:attrName>
                                        </p:attrNameLst>
                                      </p:cBhvr>
                                      <p:to>
                                        <p:strVal val="visible"/>
                                      </p:to>
                                    </p:set>
                                    <p:animEffect transition="in" filter="wipe(left)">
                                      <p:cBhvr>
                                        <p:cTn id="19" dur="500"/>
                                        <p:tgtEl>
                                          <p:spTgt spid="104"/>
                                        </p:tgtEl>
                                      </p:cBhvr>
                                    </p:animEffect>
                                  </p:childTnLst>
                                </p:cTn>
                              </p:par>
                              <p:par>
                                <p:cTn id="20" presetID="42" presetClass="entr" presetSubtype="0" fill="hold" grpId="0" nodeType="withEffect">
                                  <p:stCondLst>
                                    <p:cond delay="440"/>
                                  </p:stCondLst>
                                  <p:childTnLst>
                                    <p:set>
                                      <p:cBhvr>
                                        <p:cTn id="21" dur="1" fill="hold">
                                          <p:stCondLst>
                                            <p:cond delay="0"/>
                                          </p:stCondLst>
                                        </p:cTn>
                                        <p:tgtEl>
                                          <p:spTgt spid="105"/>
                                        </p:tgtEl>
                                        <p:attrNameLst>
                                          <p:attrName>style.visibility</p:attrName>
                                        </p:attrNameLst>
                                      </p:cBhvr>
                                      <p:to>
                                        <p:strVal val="visible"/>
                                      </p:to>
                                    </p:set>
                                    <p:animEffect transition="in" filter="fade">
                                      <p:cBhvr>
                                        <p:cTn id="22" dur="500"/>
                                        <p:tgtEl>
                                          <p:spTgt spid="105"/>
                                        </p:tgtEl>
                                      </p:cBhvr>
                                    </p:animEffect>
                                    <p:anim calcmode="lin" valueType="num">
                                      <p:cBhvr additive="base">
                                        <p:cTn id="23" dur="500" decel="100000" fill="hold"/>
                                        <p:tgtEl>
                                          <p:spTgt spid="105"/>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440"/>
                                  </p:stCondLst>
                                  <p:childTnLst>
                                    <p:set>
                                      <p:cBhvr>
                                        <p:cTn id="25" dur="1" fill="hold">
                                          <p:stCondLst>
                                            <p:cond delay="0"/>
                                          </p:stCondLst>
                                        </p:cTn>
                                        <p:tgtEl>
                                          <p:spTgt spid="106"/>
                                        </p:tgtEl>
                                        <p:attrNameLst>
                                          <p:attrName>style.visibility</p:attrName>
                                        </p:attrNameLst>
                                      </p:cBhvr>
                                      <p:to>
                                        <p:strVal val="visible"/>
                                      </p:to>
                                    </p:set>
                                    <p:animEffect transition="in" filter="fade">
                                      <p:cBhvr>
                                        <p:cTn id="26" dur="500"/>
                                        <p:tgtEl>
                                          <p:spTgt spid="106"/>
                                        </p:tgtEl>
                                      </p:cBhvr>
                                    </p:animEffect>
                                    <p:anim calcmode="lin" valueType="num">
                                      <p:cBhvr additive="base">
                                        <p:cTn id="27" dur="500" decel="100000" fill="hold"/>
                                        <p:tgtEl>
                                          <p:spTgt spid="106"/>
                                        </p:tgtEl>
                                        <p:attrNameLst>
                                          <p:attrName>ppt_y</p:attrName>
                                        </p:attrNameLst>
                                      </p:cBhvr>
                                      <p:tavLst>
                                        <p:tav tm="0">
                                          <p:val>
                                            <p:strVal val="#ppt_y+0.06"/>
                                          </p:val>
                                        </p:tav>
                                        <p:tav tm="100000">
                                          <p:val>
                                            <p:strVal val="#ppt_y"/>
                                          </p:val>
                                        </p:tav>
                                      </p:tavLst>
                                    </p:anim>
                                  </p:childTnLst>
                                </p:cTn>
                              </p:par>
                              <p:par>
                                <p:cTn id="28" presetID="42" presetClass="entr" presetSubtype="0" fill="hold" nodeType="withEffect">
                                  <p:stCondLst>
                                    <p:cond delay="440"/>
                                  </p:stCondLst>
                                  <p:childTnLst>
                                    <p:set>
                                      <p:cBhvr>
                                        <p:cTn id="29" dur="1" fill="hold">
                                          <p:stCondLst>
                                            <p:cond delay="0"/>
                                          </p:stCondLst>
                                        </p:cTn>
                                        <p:tgtEl>
                                          <p:spTgt spid="107"/>
                                        </p:tgtEl>
                                        <p:attrNameLst>
                                          <p:attrName>style.visibility</p:attrName>
                                        </p:attrNameLst>
                                      </p:cBhvr>
                                      <p:to>
                                        <p:strVal val="visible"/>
                                      </p:to>
                                    </p:set>
                                    <p:animEffect transition="in" filter="fade">
                                      <p:cBhvr>
                                        <p:cTn id="30" dur="500"/>
                                        <p:tgtEl>
                                          <p:spTgt spid="107"/>
                                        </p:tgtEl>
                                      </p:cBhvr>
                                    </p:animEffect>
                                    <p:anim calcmode="lin" valueType="num">
                                      <p:cBhvr additive="base">
                                        <p:cTn id="31" dur="500" decel="100000" fill="hold"/>
                                        <p:tgtEl>
                                          <p:spTgt spid="107"/>
                                        </p:tgtEl>
                                        <p:attrNameLst>
                                          <p:attrName>ppt_y</p:attrName>
                                        </p:attrNameLst>
                                      </p:cBhvr>
                                      <p:tavLst>
                                        <p:tav tm="0">
                                          <p:val>
                                            <p:strVal val="#ppt_y+0.06"/>
                                          </p:val>
                                        </p:tav>
                                        <p:tav tm="100000">
                                          <p:val>
                                            <p:strVal val="#ppt_y"/>
                                          </p:val>
                                        </p:tav>
                                      </p:tavLst>
                                    </p:anim>
                                  </p:childTnLst>
                                </p:cTn>
                              </p:par>
                              <p:par>
                                <p:cTn id="32" presetID="22" presetClass="entr" presetSubtype="8" fill="hold" nodeType="withEffect">
                                  <p:stCondLst>
                                    <p:cond delay="660"/>
                                  </p:stCondLst>
                                  <p:childTnLst>
                                    <p:set>
                                      <p:cBhvr>
                                        <p:cTn id="33" dur="1" fill="hold">
                                          <p:stCondLst>
                                            <p:cond delay="0"/>
                                          </p:stCondLst>
                                        </p:cTn>
                                        <p:tgtEl>
                                          <p:spTgt spid="108"/>
                                        </p:tgtEl>
                                        <p:attrNameLst>
                                          <p:attrName>style.visibility</p:attrName>
                                        </p:attrNameLst>
                                      </p:cBhvr>
                                      <p:to>
                                        <p:strVal val="visible"/>
                                      </p:to>
                                    </p:set>
                                    <p:animEffect transition="in" filter="wipe(left)">
                                      <p:cBhvr>
                                        <p:cTn id="34" dur="500"/>
                                        <p:tgtEl>
                                          <p:spTgt spid="108"/>
                                        </p:tgtEl>
                                      </p:cBhvr>
                                    </p:animEffect>
                                  </p:childTnLst>
                                </p:cTn>
                              </p:par>
                              <p:par>
                                <p:cTn id="35" presetID="42" presetClass="entr" presetSubtype="0" fill="hold" grpId="0" nodeType="withEffect">
                                  <p:stCondLst>
                                    <p:cond delay="880"/>
                                  </p:stCondLst>
                                  <p:childTnLst>
                                    <p:set>
                                      <p:cBhvr>
                                        <p:cTn id="36" dur="1" fill="hold">
                                          <p:stCondLst>
                                            <p:cond delay="0"/>
                                          </p:stCondLst>
                                        </p:cTn>
                                        <p:tgtEl>
                                          <p:spTgt spid="109"/>
                                        </p:tgtEl>
                                        <p:attrNameLst>
                                          <p:attrName>style.visibility</p:attrName>
                                        </p:attrNameLst>
                                      </p:cBhvr>
                                      <p:to>
                                        <p:strVal val="visible"/>
                                      </p:to>
                                    </p:set>
                                    <p:animEffect transition="in" filter="fade">
                                      <p:cBhvr>
                                        <p:cTn id="37" dur="500"/>
                                        <p:tgtEl>
                                          <p:spTgt spid="109"/>
                                        </p:tgtEl>
                                      </p:cBhvr>
                                    </p:animEffect>
                                    <p:anim calcmode="lin" valueType="num">
                                      <p:cBhvr additive="base">
                                        <p:cTn id="38" dur="500" decel="100000" fill="hold"/>
                                        <p:tgtEl>
                                          <p:spTgt spid="109"/>
                                        </p:tgtEl>
                                        <p:attrNameLst>
                                          <p:attrName>ppt_y</p:attrName>
                                        </p:attrNameLst>
                                      </p:cBhvr>
                                      <p:tavLst>
                                        <p:tav tm="0">
                                          <p:val>
                                            <p:strVal val="#ppt_y+0.06"/>
                                          </p:val>
                                        </p:tav>
                                        <p:tav tm="100000">
                                          <p:val>
                                            <p:strVal val="#ppt_y"/>
                                          </p:val>
                                        </p:tav>
                                      </p:tavLst>
                                    </p:anim>
                                  </p:childTnLst>
                                </p:cTn>
                              </p:par>
                              <p:par>
                                <p:cTn id="39" presetID="42" presetClass="entr" presetSubtype="0" fill="hold" grpId="0" nodeType="withEffect">
                                  <p:stCondLst>
                                    <p:cond delay="880"/>
                                  </p:stCondLst>
                                  <p:childTnLst>
                                    <p:set>
                                      <p:cBhvr>
                                        <p:cTn id="40" dur="1" fill="hold">
                                          <p:stCondLst>
                                            <p:cond delay="0"/>
                                          </p:stCondLst>
                                        </p:cTn>
                                        <p:tgtEl>
                                          <p:spTgt spid="110"/>
                                        </p:tgtEl>
                                        <p:attrNameLst>
                                          <p:attrName>style.visibility</p:attrName>
                                        </p:attrNameLst>
                                      </p:cBhvr>
                                      <p:to>
                                        <p:strVal val="visible"/>
                                      </p:to>
                                    </p:set>
                                    <p:animEffect transition="in" filter="fade">
                                      <p:cBhvr>
                                        <p:cTn id="41" dur="500"/>
                                        <p:tgtEl>
                                          <p:spTgt spid="110"/>
                                        </p:tgtEl>
                                      </p:cBhvr>
                                    </p:animEffect>
                                    <p:anim calcmode="lin" valueType="num">
                                      <p:cBhvr additive="base">
                                        <p:cTn id="42" dur="500" decel="100000" fill="hold"/>
                                        <p:tgtEl>
                                          <p:spTgt spid="110"/>
                                        </p:tgtEl>
                                        <p:attrNameLst>
                                          <p:attrName>ppt_y</p:attrName>
                                        </p:attrNameLst>
                                      </p:cBhvr>
                                      <p:tavLst>
                                        <p:tav tm="0">
                                          <p:val>
                                            <p:strVal val="#ppt_y+0.06"/>
                                          </p:val>
                                        </p:tav>
                                        <p:tav tm="100000">
                                          <p:val>
                                            <p:strVal val="#ppt_y"/>
                                          </p:val>
                                        </p:tav>
                                      </p:tavLst>
                                    </p:anim>
                                  </p:childTnLst>
                                </p:cTn>
                              </p:par>
                              <p:par>
                                <p:cTn id="43" presetID="42" presetClass="entr" presetSubtype="0" fill="hold" nodeType="withEffect">
                                  <p:stCondLst>
                                    <p:cond delay="880"/>
                                  </p:stCondLst>
                                  <p:childTnLst>
                                    <p:set>
                                      <p:cBhvr>
                                        <p:cTn id="44" dur="1" fill="hold">
                                          <p:stCondLst>
                                            <p:cond delay="0"/>
                                          </p:stCondLst>
                                        </p:cTn>
                                        <p:tgtEl>
                                          <p:spTgt spid="111"/>
                                        </p:tgtEl>
                                        <p:attrNameLst>
                                          <p:attrName>style.visibility</p:attrName>
                                        </p:attrNameLst>
                                      </p:cBhvr>
                                      <p:to>
                                        <p:strVal val="visible"/>
                                      </p:to>
                                    </p:set>
                                    <p:animEffect transition="in" filter="fade">
                                      <p:cBhvr>
                                        <p:cTn id="45" dur="500"/>
                                        <p:tgtEl>
                                          <p:spTgt spid="111"/>
                                        </p:tgtEl>
                                      </p:cBhvr>
                                    </p:animEffect>
                                    <p:anim calcmode="lin" valueType="num">
                                      <p:cBhvr additive="base">
                                        <p:cTn id="46" dur="500" decel="100000" fill="hold"/>
                                        <p:tgtEl>
                                          <p:spTgt spid="111"/>
                                        </p:tgtEl>
                                        <p:attrNameLst>
                                          <p:attrName>ppt_y</p:attrName>
                                        </p:attrNameLst>
                                      </p:cBhvr>
                                      <p:tavLst>
                                        <p:tav tm="0">
                                          <p:val>
                                            <p:strVal val="#ppt_y+0.06"/>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53" presetClass="entr" presetSubtype="16" fill="hold" grpId="0" nodeType="clickEffect">
                                  <p:stCondLst>
                                    <p:cond delay="0"/>
                                  </p:stCondLst>
                                  <p:childTnLst>
                                    <p:set>
                                      <p:cBhvr>
                                        <p:cTn id="50" dur="1" fill="hold">
                                          <p:stCondLst>
                                            <p:cond delay="0"/>
                                          </p:stCondLst>
                                        </p:cTn>
                                        <p:tgtEl>
                                          <p:spTgt spid="112"/>
                                        </p:tgtEl>
                                        <p:attrNameLst>
                                          <p:attrName>style.visibility</p:attrName>
                                        </p:attrNameLst>
                                      </p:cBhvr>
                                      <p:to>
                                        <p:strVal val="visible"/>
                                      </p:to>
                                    </p:set>
                                    <p:anim calcmode="lin" valueType="num">
                                      <p:cBhvr additive="base">
                                        <p:cTn id="51" dur="500" decel="100000" fill="hold"/>
                                        <p:tgtEl>
                                          <p:spTgt spid="112"/>
                                        </p:tgtEl>
                                        <p:attrNameLst>
                                          <p:attrName>ppt_w</p:attrName>
                                        </p:attrNameLst>
                                      </p:cBhvr>
                                      <p:tavLst>
                                        <p:tav tm="0">
                                          <p:val>
                                            <p:strVal val="#ppt_w*0.55"/>
                                          </p:val>
                                        </p:tav>
                                        <p:tav tm="100000">
                                          <p:val>
                                            <p:strVal val="#ppt_w"/>
                                          </p:val>
                                        </p:tav>
                                      </p:tavLst>
                                    </p:anim>
                                    <p:anim calcmode="lin" valueType="num">
                                      <p:cBhvr additive="base">
                                        <p:cTn id="52" dur="500" decel="100000" fill="hold"/>
                                        <p:tgtEl>
                                          <p:spTgt spid="112"/>
                                        </p:tgtEl>
                                        <p:attrNameLst>
                                          <p:attrName>ppt_h</p:attrName>
                                        </p:attrNameLst>
                                      </p:cBhvr>
                                      <p:tavLst>
                                        <p:tav tm="0">
                                          <p:val>
                                            <p:strVal val="#ppt_h*0.55"/>
                                          </p:val>
                                        </p:tav>
                                        <p:tav tm="100000">
                                          <p:val>
                                            <p:strVal val="#ppt_h"/>
                                          </p:val>
                                        </p:tav>
                                      </p:tavLst>
                                    </p:anim>
                                    <p:animEffect transition="in" filter="fade">
                                      <p:cBhvr>
                                        <p:cTn id="53" dur="500"/>
                                        <p:tgtEl>
                                          <p:spTgt spid="112"/>
                                        </p:tgtEl>
                                      </p:cBhvr>
                                    </p:animEffect>
                                  </p:childTnLst>
                                </p:cTn>
                              </p:par>
                            </p:childTnLst>
                          </p:cTn>
                        </p:par>
                      </p:childTnLst>
                    </p:cTn>
                  </p:par>
                  <p:par>
                    <p:cTn id="54" fill="hold">
                      <p:stCondLst>
                        <p:cond delay="indefinite"/>
                      </p:stCondLst>
                      <p:childTnLst>
                        <p:par>
                          <p:cTn id="55" fill="hold">
                            <p:stCondLst>
                              <p:cond delay="0"/>
                            </p:stCondLst>
                            <p:childTnLst>
                              <p:par>
                                <p:cTn id="56" presetID="42" presetClass="entr" presetSubtype="0" fill="hold" grpId="0" nodeType="clickEffect">
                                  <p:stCondLst>
                                    <p:cond delay="0"/>
                                  </p:stCondLst>
                                  <p:childTnLst>
                                    <p:set>
                                      <p:cBhvr>
                                        <p:cTn id="57" dur="1" fill="hold">
                                          <p:stCondLst>
                                            <p:cond delay="0"/>
                                          </p:stCondLst>
                                        </p:cTn>
                                        <p:tgtEl>
                                          <p:spTgt spid="113"/>
                                        </p:tgtEl>
                                        <p:attrNameLst>
                                          <p:attrName>style.visibility</p:attrName>
                                        </p:attrNameLst>
                                      </p:cBhvr>
                                      <p:to>
                                        <p:strVal val="visible"/>
                                      </p:to>
                                    </p:set>
                                    <p:animEffect transition="in" filter="fade">
                                      <p:cBhvr>
                                        <p:cTn id="58" dur="500"/>
                                        <p:tgtEl>
                                          <p:spTgt spid="113"/>
                                        </p:tgtEl>
                                      </p:cBhvr>
                                    </p:animEffect>
                                    <p:anim calcmode="lin" valueType="num">
                                      <p:cBhvr additive="base">
                                        <p:cTn id="59" dur="500" decel="100000" fill="hold"/>
                                        <p:tgtEl>
                                          <p:spTgt spid="113"/>
                                        </p:tgtEl>
                                        <p:attrNameLst>
                                          <p:attrName>ppt_y</p:attrName>
                                        </p:attrNameLst>
                                      </p:cBhvr>
                                      <p:tavLst>
                                        <p:tav tm="0">
                                          <p:val>
                                            <p:strVal val="#ppt_y+0.06"/>
                                          </p:val>
                                        </p:tav>
                                        <p:tav tm="100000">
                                          <p:val>
                                            <p:strVal val="#ppt_y"/>
                                          </p:val>
                                        </p:tav>
                                      </p:tavLst>
                                    </p:anim>
                                  </p:childTnLst>
                                </p:cTn>
                              </p:par>
                              <p:par>
                                <p:cTn id="60" presetID="42" presetClass="entr" presetSubtype="0" fill="hold" grpId="0" nodeType="withEffect">
                                  <p:stCondLst>
                                    <p:cond delay="0"/>
                                  </p:stCondLst>
                                  <p:childTnLst>
                                    <p:set>
                                      <p:cBhvr>
                                        <p:cTn id="61" dur="1" fill="hold">
                                          <p:stCondLst>
                                            <p:cond delay="0"/>
                                          </p:stCondLst>
                                        </p:cTn>
                                        <p:tgtEl>
                                          <p:spTgt spid="114"/>
                                        </p:tgtEl>
                                        <p:attrNameLst>
                                          <p:attrName>style.visibility</p:attrName>
                                        </p:attrNameLst>
                                      </p:cBhvr>
                                      <p:to>
                                        <p:strVal val="visible"/>
                                      </p:to>
                                    </p:set>
                                    <p:animEffect transition="in" filter="fade">
                                      <p:cBhvr>
                                        <p:cTn id="62" dur="500"/>
                                        <p:tgtEl>
                                          <p:spTgt spid="114"/>
                                        </p:tgtEl>
                                      </p:cBhvr>
                                    </p:animEffect>
                                    <p:anim calcmode="lin" valueType="num">
                                      <p:cBhvr additive="base">
                                        <p:cTn id="63" dur="500" decel="100000" fill="hold"/>
                                        <p:tgtEl>
                                          <p:spTgt spid="114"/>
                                        </p:tgtEl>
                                        <p:attrNameLst>
                                          <p:attrName>ppt_y</p:attrName>
                                        </p:attrNameLst>
                                      </p:cBhvr>
                                      <p:tavLst>
                                        <p:tav tm="0">
                                          <p:val>
                                            <p:strVal val="#ppt_y+0.06"/>
                                          </p:val>
                                        </p:tav>
                                        <p:tav tm="100000">
                                          <p:val>
                                            <p:strVal val="#ppt_y"/>
                                          </p:val>
                                        </p:tav>
                                      </p:tavLst>
                                    </p:anim>
                                  </p:childTnLst>
                                </p:cTn>
                              </p:par>
                              <p:par>
                                <p:cTn id="64" presetID="42" presetClass="entr" presetSubtype="0" fill="hold" nodeType="withEffect">
                                  <p:stCondLst>
                                    <p:cond delay="0"/>
                                  </p:stCondLst>
                                  <p:childTnLst>
                                    <p:set>
                                      <p:cBhvr>
                                        <p:cTn id="65" dur="1" fill="hold">
                                          <p:stCondLst>
                                            <p:cond delay="0"/>
                                          </p:stCondLst>
                                        </p:cTn>
                                        <p:tgtEl>
                                          <p:spTgt spid="115"/>
                                        </p:tgtEl>
                                        <p:attrNameLst>
                                          <p:attrName>style.visibility</p:attrName>
                                        </p:attrNameLst>
                                      </p:cBhvr>
                                      <p:to>
                                        <p:strVal val="visible"/>
                                      </p:to>
                                    </p:set>
                                    <p:animEffect transition="in" filter="fade">
                                      <p:cBhvr>
                                        <p:cTn id="66" dur="500"/>
                                        <p:tgtEl>
                                          <p:spTgt spid="115"/>
                                        </p:tgtEl>
                                      </p:cBhvr>
                                    </p:animEffect>
                                    <p:anim calcmode="lin" valueType="num">
                                      <p:cBhvr additive="base">
                                        <p:cTn id="67" dur="500" decel="100000" fill="hold"/>
                                        <p:tgtEl>
                                          <p:spTgt spid="115"/>
                                        </p:tgtEl>
                                        <p:attrNameLst>
                                          <p:attrName>ppt_y</p:attrName>
                                        </p:attrNameLst>
                                      </p:cBhvr>
                                      <p:tavLst>
                                        <p:tav tm="0">
                                          <p:val>
                                            <p:strVal val="#ppt_y+0.06"/>
                                          </p:val>
                                        </p:tav>
                                        <p:tav tm="100000">
                                          <p:val>
                                            <p:strVal val="#ppt_y"/>
                                          </p:val>
                                        </p:tav>
                                      </p:tavLst>
                                    </p:anim>
                                  </p:childTnLst>
                                </p:cTn>
                              </p:par>
                              <p:par>
                                <p:cTn id="68" presetID="42" presetClass="entr" presetSubtype="0" fill="hold" grpId="0" nodeType="withEffect">
                                  <p:stCondLst>
                                    <p:cond delay="0"/>
                                  </p:stCondLst>
                                  <p:childTnLst>
                                    <p:set>
                                      <p:cBhvr>
                                        <p:cTn id="69" dur="1" fill="hold">
                                          <p:stCondLst>
                                            <p:cond delay="0"/>
                                          </p:stCondLst>
                                        </p:cTn>
                                        <p:tgtEl>
                                          <p:spTgt spid="116"/>
                                        </p:tgtEl>
                                        <p:attrNameLst>
                                          <p:attrName>style.visibility</p:attrName>
                                        </p:attrNameLst>
                                      </p:cBhvr>
                                      <p:to>
                                        <p:strVal val="visible"/>
                                      </p:to>
                                    </p:set>
                                    <p:animEffect transition="in" filter="fade">
                                      <p:cBhvr>
                                        <p:cTn id="70" dur="500"/>
                                        <p:tgtEl>
                                          <p:spTgt spid="116"/>
                                        </p:tgtEl>
                                      </p:cBhvr>
                                    </p:animEffect>
                                    <p:anim calcmode="lin" valueType="num">
                                      <p:cBhvr additive="base">
                                        <p:cTn id="71" dur="500" decel="100000" fill="hold"/>
                                        <p:tgtEl>
                                          <p:spTgt spid="116"/>
                                        </p:tgtEl>
                                        <p:attrNameLst>
                                          <p:attrName>ppt_y</p:attrName>
                                        </p:attrNameLst>
                                      </p:cBhvr>
                                      <p:tavLst>
                                        <p:tav tm="0">
                                          <p:val>
                                            <p:strVal val="#ppt_y+0.06"/>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117"/>
                                        </p:tgtEl>
                                        <p:attrNameLst>
                                          <p:attrName>style.visibility</p:attrName>
                                        </p:attrNameLst>
                                      </p:cBhvr>
                                      <p:to>
                                        <p:strVal val="visible"/>
                                      </p:to>
                                    </p:set>
                                    <p:animEffect transition="in" filter="fade">
                                      <p:cBhvr>
                                        <p:cTn id="74" dur="500"/>
                                        <p:tgtEl>
                                          <p:spTgt spid="117"/>
                                        </p:tgtEl>
                                      </p:cBhvr>
                                    </p:animEffect>
                                    <p:anim calcmode="lin" valueType="num">
                                      <p:cBhvr additive="base">
                                        <p:cTn id="75" dur="500" decel="100000" fill="hold"/>
                                        <p:tgtEl>
                                          <p:spTgt spid="117"/>
                                        </p:tgtEl>
                                        <p:attrNameLst>
                                          <p:attrName>ppt_y</p:attrName>
                                        </p:attrNameLst>
                                      </p:cBhvr>
                                      <p:tavLst>
                                        <p:tav tm="0">
                                          <p:val>
                                            <p:strVal val="#ppt_y+0.06"/>
                                          </p:val>
                                        </p:tav>
                                        <p:tav tm="100000">
                                          <p:val>
                                            <p:strVal val="#ppt_y"/>
                                          </p:val>
                                        </p:tav>
                                      </p:tavLst>
                                    </p:anim>
                                  </p:childTnLst>
                                </p:cTn>
                              </p:par>
                              <p:par>
                                <p:cTn id="76" presetID="42" presetClass="entr" presetSubtype="0" fill="hold" grpId="0" nodeType="withEffect">
                                  <p:stCondLst>
                                    <p:cond delay="180"/>
                                  </p:stCondLst>
                                  <p:childTnLst>
                                    <p:set>
                                      <p:cBhvr>
                                        <p:cTn id="77" dur="1" fill="hold">
                                          <p:stCondLst>
                                            <p:cond delay="0"/>
                                          </p:stCondLst>
                                        </p:cTn>
                                        <p:tgtEl>
                                          <p:spTgt spid="118"/>
                                        </p:tgtEl>
                                        <p:attrNameLst>
                                          <p:attrName>style.visibility</p:attrName>
                                        </p:attrNameLst>
                                      </p:cBhvr>
                                      <p:to>
                                        <p:strVal val="visible"/>
                                      </p:to>
                                    </p:set>
                                    <p:animEffect transition="in" filter="fade">
                                      <p:cBhvr>
                                        <p:cTn id="78" dur="500"/>
                                        <p:tgtEl>
                                          <p:spTgt spid="118"/>
                                        </p:tgtEl>
                                      </p:cBhvr>
                                    </p:animEffect>
                                    <p:anim calcmode="lin" valueType="num">
                                      <p:cBhvr additive="base">
                                        <p:cTn id="79" dur="500" decel="100000" fill="hold"/>
                                        <p:tgtEl>
                                          <p:spTgt spid="118"/>
                                        </p:tgtEl>
                                        <p:attrNameLst>
                                          <p:attrName>ppt_y</p:attrName>
                                        </p:attrNameLst>
                                      </p:cBhvr>
                                      <p:tavLst>
                                        <p:tav tm="0">
                                          <p:val>
                                            <p:strVal val="#ppt_y+0.06"/>
                                          </p:val>
                                        </p:tav>
                                        <p:tav tm="100000">
                                          <p:val>
                                            <p:strVal val="#ppt_y"/>
                                          </p:val>
                                        </p:tav>
                                      </p:tavLst>
                                    </p:anim>
                                  </p:childTnLst>
                                </p:cTn>
                              </p:par>
                              <p:par>
                                <p:cTn id="80" presetID="42" presetClass="entr" presetSubtype="0" fill="hold" grpId="0" nodeType="withEffect">
                                  <p:stCondLst>
                                    <p:cond delay="180"/>
                                  </p:stCondLst>
                                  <p:childTnLst>
                                    <p:set>
                                      <p:cBhvr>
                                        <p:cTn id="81" dur="1" fill="hold">
                                          <p:stCondLst>
                                            <p:cond delay="0"/>
                                          </p:stCondLst>
                                        </p:cTn>
                                        <p:tgtEl>
                                          <p:spTgt spid="119"/>
                                        </p:tgtEl>
                                        <p:attrNameLst>
                                          <p:attrName>style.visibility</p:attrName>
                                        </p:attrNameLst>
                                      </p:cBhvr>
                                      <p:to>
                                        <p:strVal val="visible"/>
                                      </p:to>
                                    </p:set>
                                    <p:animEffect transition="in" filter="fade">
                                      <p:cBhvr>
                                        <p:cTn id="82" dur="500"/>
                                        <p:tgtEl>
                                          <p:spTgt spid="119"/>
                                        </p:tgtEl>
                                      </p:cBhvr>
                                    </p:animEffect>
                                    <p:anim calcmode="lin" valueType="num">
                                      <p:cBhvr additive="base">
                                        <p:cTn id="83" dur="500" decel="100000" fill="hold"/>
                                        <p:tgtEl>
                                          <p:spTgt spid="119"/>
                                        </p:tgtEl>
                                        <p:attrNameLst>
                                          <p:attrName>ppt_y</p:attrName>
                                        </p:attrNameLst>
                                      </p:cBhvr>
                                      <p:tavLst>
                                        <p:tav tm="0">
                                          <p:val>
                                            <p:strVal val="#ppt_y+0.06"/>
                                          </p:val>
                                        </p:tav>
                                        <p:tav tm="100000">
                                          <p:val>
                                            <p:strVal val="#ppt_y"/>
                                          </p:val>
                                        </p:tav>
                                      </p:tavLst>
                                    </p:anim>
                                  </p:childTnLst>
                                </p:cTn>
                              </p:par>
                              <p:par>
                                <p:cTn id="84" presetID="42" presetClass="entr" presetSubtype="0" fill="hold" nodeType="withEffect">
                                  <p:stCondLst>
                                    <p:cond delay="180"/>
                                  </p:stCondLst>
                                  <p:childTnLst>
                                    <p:set>
                                      <p:cBhvr>
                                        <p:cTn id="85" dur="1" fill="hold">
                                          <p:stCondLst>
                                            <p:cond delay="0"/>
                                          </p:stCondLst>
                                        </p:cTn>
                                        <p:tgtEl>
                                          <p:spTgt spid="120"/>
                                        </p:tgtEl>
                                        <p:attrNameLst>
                                          <p:attrName>style.visibility</p:attrName>
                                        </p:attrNameLst>
                                      </p:cBhvr>
                                      <p:to>
                                        <p:strVal val="visible"/>
                                      </p:to>
                                    </p:set>
                                    <p:animEffect transition="in" filter="fade">
                                      <p:cBhvr>
                                        <p:cTn id="86" dur="500"/>
                                        <p:tgtEl>
                                          <p:spTgt spid="120"/>
                                        </p:tgtEl>
                                      </p:cBhvr>
                                    </p:animEffect>
                                    <p:anim calcmode="lin" valueType="num">
                                      <p:cBhvr additive="base">
                                        <p:cTn id="87" dur="500" decel="100000" fill="hold"/>
                                        <p:tgtEl>
                                          <p:spTgt spid="120"/>
                                        </p:tgtEl>
                                        <p:attrNameLst>
                                          <p:attrName>ppt_y</p:attrName>
                                        </p:attrNameLst>
                                      </p:cBhvr>
                                      <p:tavLst>
                                        <p:tav tm="0">
                                          <p:val>
                                            <p:strVal val="#ppt_y+0.06"/>
                                          </p:val>
                                        </p:tav>
                                        <p:tav tm="100000">
                                          <p:val>
                                            <p:strVal val="#ppt_y"/>
                                          </p:val>
                                        </p:tav>
                                      </p:tavLst>
                                    </p:anim>
                                  </p:childTnLst>
                                </p:cTn>
                              </p:par>
                              <p:par>
                                <p:cTn id="88" presetID="42" presetClass="entr" presetSubtype="0" fill="hold" grpId="0" nodeType="withEffect">
                                  <p:stCondLst>
                                    <p:cond delay="180"/>
                                  </p:stCondLst>
                                  <p:childTnLst>
                                    <p:set>
                                      <p:cBhvr>
                                        <p:cTn id="89" dur="1" fill="hold">
                                          <p:stCondLst>
                                            <p:cond delay="0"/>
                                          </p:stCondLst>
                                        </p:cTn>
                                        <p:tgtEl>
                                          <p:spTgt spid="121"/>
                                        </p:tgtEl>
                                        <p:attrNameLst>
                                          <p:attrName>style.visibility</p:attrName>
                                        </p:attrNameLst>
                                      </p:cBhvr>
                                      <p:to>
                                        <p:strVal val="visible"/>
                                      </p:to>
                                    </p:set>
                                    <p:animEffect transition="in" filter="fade">
                                      <p:cBhvr>
                                        <p:cTn id="90" dur="500"/>
                                        <p:tgtEl>
                                          <p:spTgt spid="121"/>
                                        </p:tgtEl>
                                      </p:cBhvr>
                                    </p:animEffect>
                                    <p:anim calcmode="lin" valueType="num">
                                      <p:cBhvr additive="base">
                                        <p:cTn id="91" dur="500" decel="100000" fill="hold"/>
                                        <p:tgtEl>
                                          <p:spTgt spid="121"/>
                                        </p:tgtEl>
                                        <p:attrNameLst>
                                          <p:attrName>ppt_y</p:attrName>
                                        </p:attrNameLst>
                                      </p:cBhvr>
                                      <p:tavLst>
                                        <p:tav tm="0">
                                          <p:val>
                                            <p:strVal val="#ppt_y+0.06"/>
                                          </p:val>
                                        </p:tav>
                                        <p:tav tm="100000">
                                          <p:val>
                                            <p:strVal val="#ppt_y"/>
                                          </p:val>
                                        </p:tav>
                                      </p:tavLst>
                                    </p:anim>
                                  </p:childTnLst>
                                </p:cTn>
                              </p:par>
                              <p:par>
                                <p:cTn id="92" presetID="42" presetClass="entr" presetSubtype="0" fill="hold" grpId="0" nodeType="withEffect">
                                  <p:stCondLst>
                                    <p:cond delay="180"/>
                                  </p:stCondLst>
                                  <p:childTnLst>
                                    <p:set>
                                      <p:cBhvr>
                                        <p:cTn id="93" dur="1" fill="hold">
                                          <p:stCondLst>
                                            <p:cond delay="0"/>
                                          </p:stCondLst>
                                        </p:cTn>
                                        <p:tgtEl>
                                          <p:spTgt spid="122"/>
                                        </p:tgtEl>
                                        <p:attrNameLst>
                                          <p:attrName>style.visibility</p:attrName>
                                        </p:attrNameLst>
                                      </p:cBhvr>
                                      <p:to>
                                        <p:strVal val="visible"/>
                                      </p:to>
                                    </p:set>
                                    <p:animEffect transition="in" filter="fade">
                                      <p:cBhvr>
                                        <p:cTn id="94" dur="500"/>
                                        <p:tgtEl>
                                          <p:spTgt spid="122"/>
                                        </p:tgtEl>
                                      </p:cBhvr>
                                    </p:animEffect>
                                    <p:anim calcmode="lin" valueType="num">
                                      <p:cBhvr additive="base">
                                        <p:cTn id="95" dur="500" decel="100000" fill="hold"/>
                                        <p:tgtEl>
                                          <p:spTgt spid="122"/>
                                        </p:tgtEl>
                                        <p:attrNameLst>
                                          <p:attrName>ppt_y</p:attrName>
                                        </p:attrNameLst>
                                      </p:cBhvr>
                                      <p:tavLst>
                                        <p:tav tm="0">
                                          <p:val>
                                            <p:strVal val="#ppt_y+0.06"/>
                                          </p:val>
                                        </p:tav>
                                        <p:tav tm="100000">
                                          <p:val>
                                            <p:strVal val="#ppt_y"/>
                                          </p:val>
                                        </p:tav>
                                      </p:tavLst>
                                    </p:anim>
                                  </p:childTnLst>
                                </p:cTn>
                              </p:par>
                              <p:par>
                                <p:cTn id="96" presetID="42" presetClass="entr" presetSubtype="0" fill="hold" grpId="0" nodeType="withEffect">
                                  <p:stCondLst>
                                    <p:cond delay="360"/>
                                  </p:stCondLst>
                                  <p:childTnLst>
                                    <p:set>
                                      <p:cBhvr>
                                        <p:cTn id="97" dur="1" fill="hold">
                                          <p:stCondLst>
                                            <p:cond delay="0"/>
                                          </p:stCondLst>
                                        </p:cTn>
                                        <p:tgtEl>
                                          <p:spTgt spid="123"/>
                                        </p:tgtEl>
                                        <p:attrNameLst>
                                          <p:attrName>style.visibility</p:attrName>
                                        </p:attrNameLst>
                                      </p:cBhvr>
                                      <p:to>
                                        <p:strVal val="visible"/>
                                      </p:to>
                                    </p:set>
                                    <p:animEffect transition="in" filter="fade">
                                      <p:cBhvr>
                                        <p:cTn id="98" dur="500"/>
                                        <p:tgtEl>
                                          <p:spTgt spid="123"/>
                                        </p:tgtEl>
                                      </p:cBhvr>
                                    </p:animEffect>
                                    <p:anim calcmode="lin" valueType="num">
                                      <p:cBhvr additive="base">
                                        <p:cTn id="99" dur="500" decel="100000" fill="hold"/>
                                        <p:tgtEl>
                                          <p:spTgt spid="123"/>
                                        </p:tgtEl>
                                        <p:attrNameLst>
                                          <p:attrName>ppt_y</p:attrName>
                                        </p:attrNameLst>
                                      </p:cBhvr>
                                      <p:tavLst>
                                        <p:tav tm="0">
                                          <p:val>
                                            <p:strVal val="#ppt_y+0.06"/>
                                          </p:val>
                                        </p:tav>
                                        <p:tav tm="100000">
                                          <p:val>
                                            <p:strVal val="#ppt_y"/>
                                          </p:val>
                                        </p:tav>
                                      </p:tavLst>
                                    </p:anim>
                                  </p:childTnLst>
                                </p:cTn>
                              </p:par>
                              <p:par>
                                <p:cTn id="100" presetID="42" presetClass="entr" presetSubtype="0" fill="hold" grpId="0" nodeType="withEffect">
                                  <p:stCondLst>
                                    <p:cond delay="360"/>
                                  </p:stCondLst>
                                  <p:childTnLst>
                                    <p:set>
                                      <p:cBhvr>
                                        <p:cTn id="101" dur="1" fill="hold">
                                          <p:stCondLst>
                                            <p:cond delay="0"/>
                                          </p:stCondLst>
                                        </p:cTn>
                                        <p:tgtEl>
                                          <p:spTgt spid="124"/>
                                        </p:tgtEl>
                                        <p:attrNameLst>
                                          <p:attrName>style.visibility</p:attrName>
                                        </p:attrNameLst>
                                      </p:cBhvr>
                                      <p:to>
                                        <p:strVal val="visible"/>
                                      </p:to>
                                    </p:set>
                                    <p:animEffect transition="in" filter="fade">
                                      <p:cBhvr>
                                        <p:cTn id="102" dur="500"/>
                                        <p:tgtEl>
                                          <p:spTgt spid="124"/>
                                        </p:tgtEl>
                                      </p:cBhvr>
                                    </p:animEffect>
                                    <p:anim calcmode="lin" valueType="num">
                                      <p:cBhvr additive="base">
                                        <p:cTn id="103" dur="500" decel="100000" fill="hold"/>
                                        <p:tgtEl>
                                          <p:spTgt spid="124"/>
                                        </p:tgtEl>
                                        <p:attrNameLst>
                                          <p:attrName>ppt_y</p:attrName>
                                        </p:attrNameLst>
                                      </p:cBhvr>
                                      <p:tavLst>
                                        <p:tav tm="0">
                                          <p:val>
                                            <p:strVal val="#ppt_y+0.06"/>
                                          </p:val>
                                        </p:tav>
                                        <p:tav tm="100000">
                                          <p:val>
                                            <p:strVal val="#ppt_y"/>
                                          </p:val>
                                        </p:tav>
                                      </p:tavLst>
                                    </p:anim>
                                  </p:childTnLst>
                                </p:cTn>
                              </p:par>
                              <p:par>
                                <p:cTn id="104" presetID="42" presetClass="entr" presetSubtype="0" fill="hold" nodeType="withEffect">
                                  <p:stCondLst>
                                    <p:cond delay="360"/>
                                  </p:stCondLst>
                                  <p:childTnLst>
                                    <p:set>
                                      <p:cBhvr>
                                        <p:cTn id="105" dur="1" fill="hold">
                                          <p:stCondLst>
                                            <p:cond delay="0"/>
                                          </p:stCondLst>
                                        </p:cTn>
                                        <p:tgtEl>
                                          <p:spTgt spid="125"/>
                                        </p:tgtEl>
                                        <p:attrNameLst>
                                          <p:attrName>style.visibility</p:attrName>
                                        </p:attrNameLst>
                                      </p:cBhvr>
                                      <p:to>
                                        <p:strVal val="visible"/>
                                      </p:to>
                                    </p:set>
                                    <p:animEffect transition="in" filter="fade">
                                      <p:cBhvr>
                                        <p:cTn id="106" dur="500"/>
                                        <p:tgtEl>
                                          <p:spTgt spid="125"/>
                                        </p:tgtEl>
                                      </p:cBhvr>
                                    </p:animEffect>
                                    <p:anim calcmode="lin" valueType="num">
                                      <p:cBhvr additive="base">
                                        <p:cTn id="107" dur="500" decel="100000" fill="hold"/>
                                        <p:tgtEl>
                                          <p:spTgt spid="125"/>
                                        </p:tgtEl>
                                        <p:attrNameLst>
                                          <p:attrName>ppt_y</p:attrName>
                                        </p:attrNameLst>
                                      </p:cBhvr>
                                      <p:tavLst>
                                        <p:tav tm="0">
                                          <p:val>
                                            <p:strVal val="#ppt_y+0.06"/>
                                          </p:val>
                                        </p:tav>
                                        <p:tav tm="100000">
                                          <p:val>
                                            <p:strVal val="#ppt_y"/>
                                          </p:val>
                                        </p:tav>
                                      </p:tavLst>
                                    </p:anim>
                                  </p:childTnLst>
                                </p:cTn>
                              </p:par>
                              <p:par>
                                <p:cTn id="108" presetID="42" presetClass="entr" presetSubtype="0" fill="hold" grpId="0" nodeType="withEffect">
                                  <p:stCondLst>
                                    <p:cond delay="360"/>
                                  </p:stCondLst>
                                  <p:childTnLst>
                                    <p:set>
                                      <p:cBhvr>
                                        <p:cTn id="109" dur="1" fill="hold">
                                          <p:stCondLst>
                                            <p:cond delay="0"/>
                                          </p:stCondLst>
                                        </p:cTn>
                                        <p:tgtEl>
                                          <p:spTgt spid="126"/>
                                        </p:tgtEl>
                                        <p:attrNameLst>
                                          <p:attrName>style.visibility</p:attrName>
                                        </p:attrNameLst>
                                      </p:cBhvr>
                                      <p:to>
                                        <p:strVal val="visible"/>
                                      </p:to>
                                    </p:set>
                                    <p:animEffect transition="in" filter="fade">
                                      <p:cBhvr>
                                        <p:cTn id="110" dur="500"/>
                                        <p:tgtEl>
                                          <p:spTgt spid="126"/>
                                        </p:tgtEl>
                                      </p:cBhvr>
                                    </p:animEffect>
                                    <p:anim calcmode="lin" valueType="num">
                                      <p:cBhvr additive="base">
                                        <p:cTn id="111" dur="500" decel="100000" fill="hold"/>
                                        <p:tgtEl>
                                          <p:spTgt spid="126"/>
                                        </p:tgtEl>
                                        <p:attrNameLst>
                                          <p:attrName>ppt_y</p:attrName>
                                        </p:attrNameLst>
                                      </p:cBhvr>
                                      <p:tavLst>
                                        <p:tav tm="0">
                                          <p:val>
                                            <p:strVal val="#ppt_y+0.06"/>
                                          </p:val>
                                        </p:tav>
                                        <p:tav tm="100000">
                                          <p:val>
                                            <p:strVal val="#ppt_y"/>
                                          </p:val>
                                        </p:tav>
                                      </p:tavLst>
                                    </p:anim>
                                  </p:childTnLst>
                                </p:cTn>
                              </p:par>
                              <p:par>
                                <p:cTn id="112" presetID="42" presetClass="entr" presetSubtype="0" fill="hold" grpId="0" nodeType="withEffect">
                                  <p:stCondLst>
                                    <p:cond delay="360"/>
                                  </p:stCondLst>
                                  <p:childTnLst>
                                    <p:set>
                                      <p:cBhvr>
                                        <p:cTn id="113" dur="1" fill="hold">
                                          <p:stCondLst>
                                            <p:cond delay="0"/>
                                          </p:stCondLst>
                                        </p:cTn>
                                        <p:tgtEl>
                                          <p:spTgt spid="127"/>
                                        </p:tgtEl>
                                        <p:attrNameLst>
                                          <p:attrName>style.visibility</p:attrName>
                                        </p:attrNameLst>
                                      </p:cBhvr>
                                      <p:to>
                                        <p:strVal val="visible"/>
                                      </p:to>
                                    </p:set>
                                    <p:animEffect transition="in" filter="fade">
                                      <p:cBhvr>
                                        <p:cTn id="114" dur="500"/>
                                        <p:tgtEl>
                                          <p:spTgt spid="127"/>
                                        </p:tgtEl>
                                      </p:cBhvr>
                                    </p:animEffect>
                                    <p:anim calcmode="lin" valueType="num">
                                      <p:cBhvr additive="base">
                                        <p:cTn id="115" dur="500" decel="100000" fill="hold"/>
                                        <p:tgtEl>
                                          <p:spTgt spid="127"/>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5" grpId="0" animBg="1"/>
      <p:bldP spid="106" grpId="0" animBg="1"/>
      <p:bldP spid="109" grpId="0" animBg="1"/>
      <p:bldP spid="110" grpId="0" animBg="1"/>
      <p:bldP spid="112" grpId="0" animBg="1"/>
      <p:bldP spid="113" grpId="0" animBg="1"/>
      <p:bldP spid="114" grpId="0" animBg="1"/>
      <p:bldP spid="116" grpId="0" animBg="1"/>
      <p:bldP spid="117" grpId="0" animBg="1"/>
      <p:bldP spid="118" grpId="0" animBg="1"/>
      <p:bldP spid="119" grpId="0" animBg="1"/>
      <p:bldP spid="121" grpId="0" animBg="1"/>
      <p:bldP spid="122" grpId="0" animBg="1"/>
      <p:bldP spid="123" grpId="0" animBg="1"/>
      <p:bldP spid="124" grpId="0" animBg="1"/>
      <p:bldP spid="126" grpId="0" animBg="1"/>
      <p:bldP spid="127"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ANSWER</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4 Values + 12 Principles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Tree model: values are roots, principles are branches, frameworks are tools.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MANIFESTO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200</a:t>
            </a:r>
            <a:endParaRPr lang="en-US" sz="850" dirty="0"/>
          </a:p>
        </p:txBody>
      </p:sp>
      <p:sp>
        <p:nvSpPr>
          <p:cNvPr id="101" name="s101"/>
          <p:cNvSpPr/>
          <p:nvPr/>
        </p:nvSpPr>
        <p:spPr>
          <a:xfrm>
            <a:off x="543154" y="1965960"/>
            <a:ext cx="3246120" cy="3657600"/>
          </a:xfrm>
          <a:prstGeom prst="roundRect">
            <a:avLst>
              <a:gd name="adj" fmla="val 8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02" name="s102"/>
          <p:cNvSpPr/>
          <p:nvPr/>
        </p:nvSpPr>
        <p:spPr>
          <a:xfrm>
            <a:off x="1800454" y="2148840"/>
            <a:ext cx="731520" cy="73152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1976018" y="2324405"/>
            <a:ext cx="380390" cy="380390"/>
          </a:xfrm>
          <a:prstGeom prst="rect">
            <a:avLst/>
          </a:prstGeom>
        </p:spPr>
      </p:pic>
      <p:sp>
        <p:nvSpPr>
          <p:cNvPr id="104" name="s104"/>
          <p:cNvSpPr txBox="1"/>
          <p:nvPr/>
        </p:nvSpPr>
        <p:spPr>
          <a:xfrm>
            <a:off x="543154" y="2971800"/>
            <a:ext cx="324612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1" dirty="0">
                <a:solidFill>
                  <a:srgbClr val="A78BFA"/>
                </a:solidFill>
                <a:latin typeface="Segoe UI"/>
                <a:ea typeface="Segoe UI"/>
                <a:cs typeface="Segoe UI"/>
              </a:rPr>
              <a:t>ROOTS</a:t>
            </a:r>
            <a:endParaRPr lang="en-US" sz="1050" dirty="0"/>
          </a:p>
        </p:txBody>
      </p:sp>
      <p:sp>
        <p:nvSpPr>
          <p:cNvPr id="105" name="s105"/>
          <p:cNvSpPr txBox="1"/>
          <p:nvPr/>
        </p:nvSpPr>
        <p:spPr>
          <a:xfrm>
            <a:off x="543154" y="3246120"/>
            <a:ext cx="3246120"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FFFFFF"/>
                </a:solidFill>
                <a:latin typeface="Segoe UI"/>
                <a:ea typeface="Segoe UI"/>
                <a:cs typeface="Segoe UI"/>
              </a:rPr>
              <a:t>4 Core Values</a:t>
            </a:r>
            <a:endParaRPr lang="en-US" sz="1600" dirty="0"/>
          </a:p>
        </p:txBody>
      </p:sp>
      <p:sp>
        <p:nvSpPr>
          <p:cNvPr id="106" name="s106"/>
          <p:cNvSpPr/>
          <p:nvPr/>
        </p:nvSpPr>
        <p:spPr>
          <a:xfrm>
            <a:off x="817474" y="3749040"/>
            <a:ext cx="2697480" cy="347472"/>
          </a:xfrm>
          <a:prstGeom prst="roundRect">
            <a:avLst>
              <a:gd name="adj" fmla="val 30000"/>
            </a:avLst>
          </a:prstGeom>
          <a:solidFill>
            <a:srgbClr val="A78BFA">
              <a:alpha val="14000"/>
            </a:srgbClr>
          </a:solidFill>
          <a:ln w="12700">
            <a:solidFill>
              <a:srgbClr val="A78BFA">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Individuals and interactions</a:t>
            </a:r>
            <a:endParaRPr lang="en-US" sz="1100" dirty="0"/>
          </a:p>
        </p:txBody>
      </p:sp>
      <p:sp>
        <p:nvSpPr>
          <p:cNvPr id="107" name="s107"/>
          <p:cNvSpPr/>
          <p:nvPr/>
        </p:nvSpPr>
        <p:spPr>
          <a:xfrm>
            <a:off x="817474" y="4178808"/>
            <a:ext cx="2697480" cy="347472"/>
          </a:xfrm>
          <a:prstGeom prst="roundRect">
            <a:avLst>
              <a:gd name="adj" fmla="val 30000"/>
            </a:avLst>
          </a:prstGeom>
          <a:solidFill>
            <a:srgbClr val="A78BFA">
              <a:alpha val="14000"/>
            </a:srgbClr>
          </a:solidFill>
          <a:ln w="12700">
            <a:solidFill>
              <a:srgbClr val="A78BFA">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Working software</a:t>
            </a:r>
            <a:endParaRPr lang="en-US" sz="1100" dirty="0"/>
          </a:p>
        </p:txBody>
      </p:sp>
      <p:sp>
        <p:nvSpPr>
          <p:cNvPr id="108" name="s108"/>
          <p:cNvSpPr/>
          <p:nvPr/>
        </p:nvSpPr>
        <p:spPr>
          <a:xfrm>
            <a:off x="817474" y="4608576"/>
            <a:ext cx="2697480" cy="347472"/>
          </a:xfrm>
          <a:prstGeom prst="roundRect">
            <a:avLst>
              <a:gd name="adj" fmla="val 30000"/>
            </a:avLst>
          </a:prstGeom>
          <a:solidFill>
            <a:srgbClr val="A78BFA">
              <a:alpha val="14000"/>
            </a:srgbClr>
          </a:solidFill>
          <a:ln w="12700">
            <a:solidFill>
              <a:srgbClr val="A78BFA">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Customer collaboration</a:t>
            </a:r>
            <a:endParaRPr lang="en-US" sz="1100" dirty="0"/>
          </a:p>
        </p:txBody>
      </p:sp>
      <p:sp>
        <p:nvSpPr>
          <p:cNvPr id="109" name="s109"/>
          <p:cNvSpPr/>
          <p:nvPr/>
        </p:nvSpPr>
        <p:spPr>
          <a:xfrm>
            <a:off x="817474" y="5038344"/>
            <a:ext cx="2697480" cy="347472"/>
          </a:xfrm>
          <a:prstGeom prst="roundRect">
            <a:avLst>
              <a:gd name="adj" fmla="val 30000"/>
            </a:avLst>
          </a:prstGeom>
          <a:solidFill>
            <a:srgbClr val="A78BFA">
              <a:alpha val="14000"/>
            </a:srgbClr>
          </a:solidFill>
          <a:ln w="12700">
            <a:solidFill>
              <a:srgbClr val="A78BFA">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Responding to change</a:t>
            </a:r>
            <a:endParaRPr lang="en-US" sz="1100" dirty="0"/>
          </a:p>
        </p:txBody>
      </p:sp>
      <p:cxnSp>
        <p:nvCxnSpPr>
          <p:cNvPr id="110" name="ln110"/>
          <p:cNvCxnSpPr/>
          <p:nvPr/>
        </p:nvCxnSpPr>
        <p:spPr>
          <a:xfrm>
            <a:off x="3862426" y="3749040"/>
            <a:ext cx="528523" cy="0"/>
          </a:xfrm>
          <a:prstGeom prst="line">
            <a:avLst/>
          </a:prstGeom>
          <a:ln w="31750">
            <a:solidFill>
              <a:srgbClr val="A78BFA"/>
            </a:solidFill>
            <a:tailEnd type="triangle" w="med" len="med"/>
          </a:ln>
        </p:spPr>
      </p:cxnSp>
      <p:sp>
        <p:nvSpPr>
          <p:cNvPr id="111" name="s111"/>
          <p:cNvSpPr/>
          <p:nvPr/>
        </p:nvSpPr>
        <p:spPr>
          <a:xfrm>
            <a:off x="4464101" y="1965960"/>
            <a:ext cx="3246120" cy="3657600"/>
          </a:xfrm>
          <a:prstGeom prst="roundRect">
            <a:avLst>
              <a:gd name="adj" fmla="val 8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12" name="s112"/>
          <p:cNvSpPr/>
          <p:nvPr/>
        </p:nvSpPr>
        <p:spPr>
          <a:xfrm>
            <a:off x="5721401" y="2148840"/>
            <a:ext cx="731520" cy="73152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3" name="img113"/>
          <p:cNvPicPr>
            <a:picLocks noChangeAspect="1"/>
          </p:cNvPicPr>
          <p:nvPr/>
        </p:nvPicPr>
        <p:blipFill>
          <a:blip r:embed="rId5"/>
          <a:stretch>
            <a:fillRect/>
          </a:stretch>
        </p:blipFill>
        <p:spPr>
          <a:xfrm>
            <a:off x="5896966" y="2324405"/>
            <a:ext cx="380390" cy="380390"/>
          </a:xfrm>
          <a:prstGeom prst="rect">
            <a:avLst/>
          </a:prstGeom>
        </p:spPr>
      </p:pic>
      <p:sp>
        <p:nvSpPr>
          <p:cNvPr id="114" name="s114"/>
          <p:cNvSpPr txBox="1"/>
          <p:nvPr/>
        </p:nvSpPr>
        <p:spPr>
          <a:xfrm>
            <a:off x="4464101" y="2971800"/>
            <a:ext cx="324612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1" dirty="0">
                <a:solidFill>
                  <a:srgbClr val="FBBF24"/>
                </a:solidFill>
                <a:latin typeface="Segoe UI"/>
                <a:ea typeface="Segoe UI"/>
                <a:cs typeface="Segoe UI"/>
              </a:rPr>
              <a:t>BRANCHES</a:t>
            </a:r>
            <a:endParaRPr lang="en-US" sz="1050" dirty="0"/>
          </a:p>
        </p:txBody>
      </p:sp>
      <p:sp>
        <p:nvSpPr>
          <p:cNvPr id="115" name="s115"/>
          <p:cNvSpPr txBox="1"/>
          <p:nvPr/>
        </p:nvSpPr>
        <p:spPr>
          <a:xfrm>
            <a:off x="4464101" y="3246120"/>
            <a:ext cx="3246120"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FFFFFF"/>
                </a:solidFill>
                <a:latin typeface="Segoe UI"/>
                <a:ea typeface="Segoe UI"/>
                <a:cs typeface="Segoe UI"/>
              </a:rPr>
              <a:t>12 Principles</a:t>
            </a:r>
            <a:endParaRPr lang="en-US" sz="1600" dirty="0"/>
          </a:p>
        </p:txBody>
      </p:sp>
      <p:sp>
        <p:nvSpPr>
          <p:cNvPr id="116" name="s116"/>
          <p:cNvSpPr/>
          <p:nvPr/>
        </p:nvSpPr>
        <p:spPr>
          <a:xfrm>
            <a:off x="4646981" y="3749040"/>
            <a:ext cx="1394460" cy="457200"/>
          </a:xfrm>
          <a:prstGeom prst="roundRect">
            <a:avLst>
              <a:gd name="adj" fmla="val 30000"/>
            </a:avLst>
          </a:prstGeom>
          <a:solidFill>
            <a:srgbClr val="FBBF24">
              <a:alpha val="14000"/>
            </a:srgbClr>
          </a:solidFill>
          <a:ln w="12700">
            <a:solidFill>
              <a:srgbClr val="FBBF24">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Early delivery</a:t>
            </a:r>
            <a:endParaRPr lang="en-US" sz="1100" dirty="0"/>
          </a:p>
        </p:txBody>
      </p:sp>
      <p:sp>
        <p:nvSpPr>
          <p:cNvPr id="117" name="s117"/>
          <p:cNvSpPr/>
          <p:nvPr/>
        </p:nvSpPr>
        <p:spPr>
          <a:xfrm>
            <a:off x="6132881" y="3749040"/>
            <a:ext cx="1394460" cy="457200"/>
          </a:xfrm>
          <a:prstGeom prst="roundRect">
            <a:avLst>
              <a:gd name="adj" fmla="val 30000"/>
            </a:avLst>
          </a:prstGeom>
          <a:solidFill>
            <a:srgbClr val="FBBF24">
              <a:alpha val="14000"/>
            </a:srgbClr>
          </a:solidFill>
          <a:ln w="12700">
            <a:solidFill>
              <a:srgbClr val="FBBF24">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Welcome change</a:t>
            </a:r>
            <a:endParaRPr lang="en-US" sz="1100" dirty="0"/>
          </a:p>
        </p:txBody>
      </p:sp>
      <p:sp>
        <p:nvSpPr>
          <p:cNvPr id="118" name="s118"/>
          <p:cNvSpPr/>
          <p:nvPr/>
        </p:nvSpPr>
        <p:spPr>
          <a:xfrm>
            <a:off x="4646981" y="4315968"/>
            <a:ext cx="1394460" cy="457200"/>
          </a:xfrm>
          <a:prstGeom prst="roundRect">
            <a:avLst>
              <a:gd name="adj" fmla="val 30000"/>
            </a:avLst>
          </a:prstGeom>
          <a:solidFill>
            <a:srgbClr val="FBBF24">
              <a:alpha val="14000"/>
            </a:srgbClr>
          </a:solidFill>
          <a:ln w="12700">
            <a:solidFill>
              <a:srgbClr val="FBBF24">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Face-to-face talk</a:t>
            </a:r>
            <a:endParaRPr lang="en-US" sz="1100" dirty="0"/>
          </a:p>
        </p:txBody>
      </p:sp>
      <p:sp>
        <p:nvSpPr>
          <p:cNvPr id="119" name="s119"/>
          <p:cNvSpPr/>
          <p:nvPr/>
        </p:nvSpPr>
        <p:spPr>
          <a:xfrm>
            <a:off x="6132881" y="4315968"/>
            <a:ext cx="1394460" cy="457200"/>
          </a:xfrm>
          <a:prstGeom prst="roundRect">
            <a:avLst>
              <a:gd name="adj" fmla="val 30000"/>
            </a:avLst>
          </a:prstGeom>
          <a:solidFill>
            <a:srgbClr val="FBBF24">
              <a:alpha val="14000"/>
            </a:srgbClr>
          </a:solidFill>
          <a:ln w="12700">
            <a:solidFill>
              <a:srgbClr val="FBBF24">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Sustainable pace</a:t>
            </a:r>
            <a:endParaRPr lang="en-US" sz="1100" dirty="0"/>
          </a:p>
        </p:txBody>
      </p:sp>
      <p:sp>
        <p:nvSpPr>
          <p:cNvPr id="120" name="s120"/>
          <p:cNvSpPr/>
          <p:nvPr/>
        </p:nvSpPr>
        <p:spPr>
          <a:xfrm>
            <a:off x="4646981" y="4882896"/>
            <a:ext cx="1394460" cy="457200"/>
          </a:xfrm>
          <a:prstGeom prst="roundRect">
            <a:avLst>
              <a:gd name="adj" fmla="val 30000"/>
            </a:avLst>
          </a:prstGeom>
          <a:solidFill>
            <a:srgbClr val="FBBF24">
              <a:alpha val="14000"/>
            </a:srgbClr>
          </a:solidFill>
          <a:ln w="12700">
            <a:solidFill>
              <a:srgbClr val="FBBF24">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Technical excellence</a:t>
            </a:r>
            <a:endParaRPr lang="en-US" sz="1100" dirty="0"/>
          </a:p>
        </p:txBody>
      </p:sp>
      <p:sp>
        <p:nvSpPr>
          <p:cNvPr id="121" name="s121"/>
          <p:cNvSpPr/>
          <p:nvPr/>
        </p:nvSpPr>
        <p:spPr>
          <a:xfrm>
            <a:off x="6132881" y="4882896"/>
            <a:ext cx="1394460" cy="457200"/>
          </a:xfrm>
          <a:prstGeom prst="roundRect">
            <a:avLst>
              <a:gd name="adj" fmla="val 30000"/>
            </a:avLst>
          </a:prstGeom>
          <a:solidFill>
            <a:srgbClr val="FBBF24">
              <a:alpha val="14000"/>
            </a:srgbClr>
          </a:solidFill>
          <a:ln w="12700">
            <a:solidFill>
              <a:srgbClr val="FBBF24">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Reflect and improve</a:t>
            </a:r>
            <a:endParaRPr lang="en-US" sz="1100" dirty="0"/>
          </a:p>
        </p:txBody>
      </p:sp>
      <p:cxnSp>
        <p:nvCxnSpPr>
          <p:cNvPr id="122" name="ln122"/>
          <p:cNvCxnSpPr/>
          <p:nvPr/>
        </p:nvCxnSpPr>
        <p:spPr>
          <a:xfrm>
            <a:off x="7783373" y="3749040"/>
            <a:ext cx="528523" cy="0"/>
          </a:xfrm>
          <a:prstGeom prst="line">
            <a:avLst/>
          </a:prstGeom>
          <a:ln w="31750">
            <a:solidFill>
              <a:srgbClr val="FBBF24"/>
            </a:solidFill>
            <a:tailEnd type="triangle" w="med" len="med"/>
          </a:ln>
        </p:spPr>
      </p:cxnSp>
      <p:sp>
        <p:nvSpPr>
          <p:cNvPr id="123" name="s123"/>
          <p:cNvSpPr/>
          <p:nvPr/>
        </p:nvSpPr>
        <p:spPr>
          <a:xfrm>
            <a:off x="8385048" y="1965960"/>
            <a:ext cx="3246120" cy="3657600"/>
          </a:xfrm>
          <a:prstGeom prst="roundRect">
            <a:avLst>
              <a:gd name="adj" fmla="val 8000"/>
            </a:avLst>
          </a:prstGeom>
          <a:solidFill>
            <a:srgbClr val="111B2E"/>
          </a:solidFill>
          <a:ln w="12700">
            <a:solidFill>
              <a:srgbClr val="60A5FA"/>
            </a:solidFill>
            <a:prstDash val="solid"/>
          </a:ln>
        </p:spPr>
        <p:txBody>
          <a:bodyPr wrap="square" lIns="164592" tIns="109728" rIns="137160" bIns="91440" rtlCol="0" anchor="t">
            <a:noAutofit/>
          </a:bodyPr>
          <a:lstStyle/>
          <a:p>
            <a:endParaRPr lang="en-US"/>
          </a:p>
        </p:txBody>
      </p:sp>
      <p:sp>
        <p:nvSpPr>
          <p:cNvPr id="124" name="s124"/>
          <p:cNvSpPr/>
          <p:nvPr/>
        </p:nvSpPr>
        <p:spPr>
          <a:xfrm>
            <a:off x="9642348" y="2148840"/>
            <a:ext cx="731520" cy="731520"/>
          </a:xfrm>
          <a:prstGeom prst="ellipse">
            <a:avLst/>
          </a:prstGeom>
          <a:solidFill>
            <a:srgbClr val="60A5FA">
              <a:alpha val="16000"/>
            </a:srgbClr>
          </a:solidFill>
          <a:ln w="12700">
            <a:solidFill>
              <a:srgbClr val="60A5FA">
                <a:alpha val="55000"/>
              </a:srgbClr>
            </a:solidFill>
            <a:prstDash val="solid"/>
          </a:ln>
        </p:spPr>
        <p:txBody>
          <a:bodyPr wrap="square" lIns="164592" tIns="109728" rIns="137160" bIns="91440" rtlCol="0" anchor="t">
            <a:noAutofit/>
          </a:bodyPr>
          <a:lstStyle/>
          <a:p>
            <a:endParaRPr lang="en-US"/>
          </a:p>
        </p:txBody>
      </p:sp>
      <p:pic>
        <p:nvPicPr>
          <p:cNvPr id="125" name="img125"/>
          <p:cNvPicPr>
            <a:picLocks noChangeAspect="1"/>
          </p:cNvPicPr>
          <p:nvPr/>
        </p:nvPicPr>
        <p:blipFill>
          <a:blip r:embed="rId6"/>
          <a:stretch>
            <a:fillRect/>
          </a:stretch>
        </p:blipFill>
        <p:spPr>
          <a:xfrm>
            <a:off x="9817913" y="2324405"/>
            <a:ext cx="380390" cy="380390"/>
          </a:xfrm>
          <a:prstGeom prst="rect">
            <a:avLst/>
          </a:prstGeom>
        </p:spPr>
      </p:pic>
      <p:sp>
        <p:nvSpPr>
          <p:cNvPr id="126" name="s126"/>
          <p:cNvSpPr txBox="1"/>
          <p:nvPr/>
        </p:nvSpPr>
        <p:spPr>
          <a:xfrm>
            <a:off x="8385048" y="2971800"/>
            <a:ext cx="324612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1" dirty="0">
                <a:solidFill>
                  <a:srgbClr val="60A5FA"/>
                </a:solidFill>
                <a:latin typeface="Segoe UI"/>
                <a:ea typeface="Segoe UI"/>
                <a:cs typeface="Segoe UI"/>
              </a:rPr>
              <a:t>TOOLS</a:t>
            </a:r>
            <a:endParaRPr lang="en-US" sz="1050" dirty="0"/>
          </a:p>
        </p:txBody>
      </p:sp>
      <p:sp>
        <p:nvSpPr>
          <p:cNvPr id="127" name="s127"/>
          <p:cNvSpPr txBox="1"/>
          <p:nvPr/>
        </p:nvSpPr>
        <p:spPr>
          <a:xfrm>
            <a:off x="8385048" y="3246120"/>
            <a:ext cx="3246120"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FFFFFF"/>
                </a:solidFill>
                <a:latin typeface="Segoe UI"/>
                <a:ea typeface="Segoe UI"/>
                <a:cs typeface="Segoe UI"/>
              </a:rPr>
              <a:t>Frameworks &amp; practice</a:t>
            </a:r>
            <a:endParaRPr lang="en-US" sz="1600" dirty="0"/>
          </a:p>
        </p:txBody>
      </p:sp>
      <p:sp>
        <p:nvSpPr>
          <p:cNvPr id="128" name="s128"/>
          <p:cNvSpPr/>
          <p:nvPr/>
        </p:nvSpPr>
        <p:spPr>
          <a:xfrm>
            <a:off x="8659368" y="3749040"/>
            <a:ext cx="2697480" cy="347472"/>
          </a:xfrm>
          <a:prstGeom prst="roundRect">
            <a:avLst>
              <a:gd name="adj" fmla="val 30000"/>
            </a:avLst>
          </a:prstGeom>
          <a:solidFill>
            <a:srgbClr val="60A5FA">
              <a:alpha val="14000"/>
            </a:srgbClr>
          </a:solidFill>
          <a:ln w="12700">
            <a:solidFill>
              <a:srgbClr val="60A5FA">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Scrum</a:t>
            </a:r>
            <a:endParaRPr lang="en-US" sz="1100" dirty="0"/>
          </a:p>
        </p:txBody>
      </p:sp>
      <p:sp>
        <p:nvSpPr>
          <p:cNvPr id="129" name="s129"/>
          <p:cNvSpPr/>
          <p:nvPr/>
        </p:nvSpPr>
        <p:spPr>
          <a:xfrm>
            <a:off x="8659368" y="4178808"/>
            <a:ext cx="2697480" cy="347472"/>
          </a:xfrm>
          <a:prstGeom prst="roundRect">
            <a:avLst>
              <a:gd name="adj" fmla="val 30000"/>
            </a:avLst>
          </a:prstGeom>
          <a:solidFill>
            <a:srgbClr val="60A5FA">
              <a:alpha val="14000"/>
            </a:srgbClr>
          </a:solidFill>
          <a:ln w="12700">
            <a:solidFill>
              <a:srgbClr val="60A5FA">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Kanban</a:t>
            </a:r>
            <a:endParaRPr lang="en-US" sz="1100" dirty="0"/>
          </a:p>
        </p:txBody>
      </p:sp>
      <p:sp>
        <p:nvSpPr>
          <p:cNvPr id="130" name="s130"/>
          <p:cNvSpPr/>
          <p:nvPr/>
        </p:nvSpPr>
        <p:spPr>
          <a:xfrm>
            <a:off x="8659368" y="4608576"/>
            <a:ext cx="2697480" cy="347472"/>
          </a:xfrm>
          <a:prstGeom prst="roundRect">
            <a:avLst>
              <a:gd name="adj" fmla="val 30000"/>
            </a:avLst>
          </a:prstGeom>
          <a:solidFill>
            <a:srgbClr val="60A5FA">
              <a:alpha val="14000"/>
            </a:srgbClr>
          </a:solidFill>
          <a:ln w="12700">
            <a:solidFill>
              <a:srgbClr val="60A5FA">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XP</a:t>
            </a:r>
            <a:endParaRPr lang="en-US" sz="1100" dirty="0"/>
          </a:p>
        </p:txBody>
      </p:sp>
      <p:sp>
        <p:nvSpPr>
          <p:cNvPr id="131" name="s131"/>
          <p:cNvSpPr/>
          <p:nvPr/>
        </p:nvSpPr>
        <p:spPr>
          <a:xfrm>
            <a:off x="8659368" y="5038344"/>
            <a:ext cx="2697480" cy="347472"/>
          </a:xfrm>
          <a:prstGeom prst="roundRect">
            <a:avLst>
              <a:gd name="adj" fmla="val 30000"/>
            </a:avLst>
          </a:prstGeom>
          <a:solidFill>
            <a:srgbClr val="60A5FA">
              <a:alpha val="14000"/>
            </a:srgbClr>
          </a:solidFill>
          <a:ln w="12700">
            <a:solidFill>
              <a:srgbClr val="60A5FA">
                <a:alpha val="50000"/>
              </a:srgbClr>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E2E8F0"/>
                </a:solidFill>
                <a:latin typeface="Segoe UI"/>
                <a:ea typeface="Segoe UI"/>
                <a:cs typeface="Segoe UI"/>
              </a:rPr>
              <a:t>Daily habits</a:t>
            </a:r>
            <a:endParaRPr lang="en-US" sz="11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53" presetClass="entr" presetSubtype="16" fill="hold" grpId="0" nodeType="withEffect">
                                  <p:stCondLst>
                                    <p:cond delay="80"/>
                                  </p:stCondLst>
                                  <p:childTnLst>
                                    <p:set>
                                      <p:cBhvr>
                                        <p:cTn id="26" dur="1" fill="hold">
                                          <p:stCondLst>
                                            <p:cond delay="0"/>
                                          </p:stCondLst>
                                        </p:cTn>
                                        <p:tgtEl>
                                          <p:spTgt spid="106"/>
                                        </p:tgtEl>
                                        <p:attrNameLst>
                                          <p:attrName>style.visibility</p:attrName>
                                        </p:attrNameLst>
                                      </p:cBhvr>
                                      <p:to>
                                        <p:strVal val="visible"/>
                                      </p:to>
                                    </p:set>
                                    <p:anim calcmode="lin" valueType="num">
                                      <p:cBhvr additive="base">
                                        <p:cTn id="27"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28" dur="500" decel="100000" fill="hold"/>
                                        <p:tgtEl>
                                          <p:spTgt spid="106"/>
                                        </p:tgtEl>
                                        <p:attrNameLst>
                                          <p:attrName>ppt_h</p:attrName>
                                        </p:attrNameLst>
                                      </p:cBhvr>
                                      <p:tavLst>
                                        <p:tav tm="0">
                                          <p:val>
                                            <p:strVal val="#ppt_h*0.55"/>
                                          </p:val>
                                        </p:tav>
                                        <p:tav tm="100000">
                                          <p:val>
                                            <p:strVal val="#ppt_h"/>
                                          </p:val>
                                        </p:tav>
                                      </p:tavLst>
                                    </p:anim>
                                    <p:animEffect transition="in" filter="fade">
                                      <p:cBhvr>
                                        <p:cTn id="29" dur="500"/>
                                        <p:tgtEl>
                                          <p:spTgt spid="106"/>
                                        </p:tgtEl>
                                      </p:cBhvr>
                                    </p:animEffect>
                                  </p:childTnLst>
                                </p:cTn>
                              </p:par>
                              <p:par>
                                <p:cTn id="30" presetID="53" presetClass="entr" presetSubtype="16" fill="hold" grpId="0" nodeType="withEffect">
                                  <p:stCondLst>
                                    <p:cond delay="160"/>
                                  </p:stCondLst>
                                  <p:childTnLst>
                                    <p:set>
                                      <p:cBhvr>
                                        <p:cTn id="31" dur="1" fill="hold">
                                          <p:stCondLst>
                                            <p:cond delay="0"/>
                                          </p:stCondLst>
                                        </p:cTn>
                                        <p:tgtEl>
                                          <p:spTgt spid="107"/>
                                        </p:tgtEl>
                                        <p:attrNameLst>
                                          <p:attrName>style.visibility</p:attrName>
                                        </p:attrNameLst>
                                      </p:cBhvr>
                                      <p:to>
                                        <p:strVal val="visible"/>
                                      </p:to>
                                    </p:set>
                                    <p:anim calcmode="lin" valueType="num">
                                      <p:cBhvr additive="base">
                                        <p:cTn id="32"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3" dur="500" decel="100000" fill="hold"/>
                                        <p:tgtEl>
                                          <p:spTgt spid="107"/>
                                        </p:tgtEl>
                                        <p:attrNameLst>
                                          <p:attrName>ppt_h</p:attrName>
                                        </p:attrNameLst>
                                      </p:cBhvr>
                                      <p:tavLst>
                                        <p:tav tm="0">
                                          <p:val>
                                            <p:strVal val="#ppt_h*0.55"/>
                                          </p:val>
                                        </p:tav>
                                        <p:tav tm="100000">
                                          <p:val>
                                            <p:strVal val="#ppt_h"/>
                                          </p:val>
                                        </p:tav>
                                      </p:tavLst>
                                    </p:anim>
                                    <p:animEffect transition="in" filter="fade">
                                      <p:cBhvr>
                                        <p:cTn id="34" dur="500"/>
                                        <p:tgtEl>
                                          <p:spTgt spid="107"/>
                                        </p:tgtEl>
                                      </p:cBhvr>
                                    </p:animEffect>
                                  </p:childTnLst>
                                </p:cTn>
                              </p:par>
                              <p:par>
                                <p:cTn id="35" presetID="53" presetClass="entr" presetSubtype="16" fill="hold" grpId="0" nodeType="withEffect">
                                  <p:stCondLst>
                                    <p:cond delay="240"/>
                                  </p:stCondLst>
                                  <p:childTnLst>
                                    <p:set>
                                      <p:cBhvr>
                                        <p:cTn id="36" dur="1" fill="hold">
                                          <p:stCondLst>
                                            <p:cond delay="0"/>
                                          </p:stCondLst>
                                        </p:cTn>
                                        <p:tgtEl>
                                          <p:spTgt spid="108"/>
                                        </p:tgtEl>
                                        <p:attrNameLst>
                                          <p:attrName>style.visibility</p:attrName>
                                        </p:attrNameLst>
                                      </p:cBhvr>
                                      <p:to>
                                        <p:strVal val="visible"/>
                                      </p:to>
                                    </p:set>
                                    <p:anim calcmode="lin" valueType="num">
                                      <p:cBhvr additive="base">
                                        <p:cTn id="37"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38" dur="500" decel="100000" fill="hold"/>
                                        <p:tgtEl>
                                          <p:spTgt spid="108"/>
                                        </p:tgtEl>
                                        <p:attrNameLst>
                                          <p:attrName>ppt_h</p:attrName>
                                        </p:attrNameLst>
                                      </p:cBhvr>
                                      <p:tavLst>
                                        <p:tav tm="0">
                                          <p:val>
                                            <p:strVal val="#ppt_h*0.55"/>
                                          </p:val>
                                        </p:tav>
                                        <p:tav tm="100000">
                                          <p:val>
                                            <p:strVal val="#ppt_h"/>
                                          </p:val>
                                        </p:tav>
                                      </p:tavLst>
                                    </p:anim>
                                    <p:animEffect transition="in" filter="fade">
                                      <p:cBhvr>
                                        <p:cTn id="39" dur="500"/>
                                        <p:tgtEl>
                                          <p:spTgt spid="108"/>
                                        </p:tgtEl>
                                      </p:cBhvr>
                                    </p:animEffect>
                                  </p:childTnLst>
                                </p:cTn>
                              </p:par>
                              <p:par>
                                <p:cTn id="40" presetID="53" presetClass="entr" presetSubtype="16" fill="hold" grpId="0" nodeType="withEffect">
                                  <p:stCondLst>
                                    <p:cond delay="320"/>
                                  </p:stCondLst>
                                  <p:childTnLst>
                                    <p:set>
                                      <p:cBhvr>
                                        <p:cTn id="41" dur="1" fill="hold">
                                          <p:stCondLst>
                                            <p:cond delay="0"/>
                                          </p:stCondLst>
                                        </p:cTn>
                                        <p:tgtEl>
                                          <p:spTgt spid="109"/>
                                        </p:tgtEl>
                                        <p:attrNameLst>
                                          <p:attrName>style.visibility</p:attrName>
                                        </p:attrNameLst>
                                      </p:cBhvr>
                                      <p:to>
                                        <p:strVal val="visible"/>
                                      </p:to>
                                    </p:set>
                                    <p:anim calcmode="lin" valueType="num">
                                      <p:cBhvr additive="base">
                                        <p:cTn id="42"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43" dur="500" decel="100000" fill="hold"/>
                                        <p:tgtEl>
                                          <p:spTgt spid="109"/>
                                        </p:tgtEl>
                                        <p:attrNameLst>
                                          <p:attrName>ppt_h</p:attrName>
                                        </p:attrNameLst>
                                      </p:cBhvr>
                                      <p:tavLst>
                                        <p:tav tm="0">
                                          <p:val>
                                            <p:strVal val="#ppt_h*0.55"/>
                                          </p:val>
                                        </p:tav>
                                        <p:tav tm="100000">
                                          <p:val>
                                            <p:strVal val="#ppt_h"/>
                                          </p:val>
                                        </p:tav>
                                      </p:tavLst>
                                    </p:anim>
                                    <p:animEffect transition="in" filter="fade">
                                      <p:cBhvr>
                                        <p:cTn id="44" dur="500"/>
                                        <p:tgtEl>
                                          <p:spTgt spid="109"/>
                                        </p:tgtEl>
                                      </p:cBhvr>
                                    </p:animEffect>
                                  </p:childTnLst>
                                </p:cTn>
                              </p:par>
                              <p:par>
                                <p:cTn id="45" presetID="22" presetClass="entr" presetSubtype="8" fill="hold" nodeType="withEffect">
                                  <p:stCondLst>
                                    <p:cond delay="470"/>
                                  </p:stCondLst>
                                  <p:childTnLst>
                                    <p:set>
                                      <p:cBhvr>
                                        <p:cTn id="46" dur="1" fill="hold">
                                          <p:stCondLst>
                                            <p:cond delay="0"/>
                                          </p:stCondLst>
                                        </p:cTn>
                                        <p:tgtEl>
                                          <p:spTgt spid="110"/>
                                        </p:tgtEl>
                                        <p:attrNameLst>
                                          <p:attrName>style.visibility</p:attrName>
                                        </p:attrNameLst>
                                      </p:cBhvr>
                                      <p:to>
                                        <p:strVal val="visible"/>
                                      </p:to>
                                    </p:set>
                                    <p:animEffect transition="in" filter="wipe(left)">
                                      <p:cBhvr>
                                        <p:cTn id="47" dur="500"/>
                                        <p:tgtEl>
                                          <p:spTgt spid="110"/>
                                        </p:tgtEl>
                                      </p:cBhvr>
                                    </p:animEffect>
                                  </p:childTnLst>
                                </p:cTn>
                              </p:par>
                            </p:childTnLst>
                          </p:cTn>
                        </p:par>
                      </p:childTnLst>
                    </p:cTn>
                  </p:par>
                  <p:par>
                    <p:cTn id="48" fill="hold">
                      <p:stCondLst>
                        <p:cond delay="indefinite"/>
                      </p:stCondLst>
                      <p:childTnLst>
                        <p:par>
                          <p:cTn id="49" fill="hold">
                            <p:stCondLst>
                              <p:cond delay="0"/>
                            </p:stCondLst>
                            <p:childTnLst>
                              <p:par>
                                <p:cTn id="50" presetID="42" presetClass="entr" presetSubtype="0" fill="hold" grpId="0" nodeType="clickEffect">
                                  <p:stCondLst>
                                    <p:cond delay="0"/>
                                  </p:stCondLst>
                                  <p:childTnLst>
                                    <p:set>
                                      <p:cBhvr>
                                        <p:cTn id="51" dur="1" fill="hold">
                                          <p:stCondLst>
                                            <p:cond delay="0"/>
                                          </p:stCondLst>
                                        </p:cTn>
                                        <p:tgtEl>
                                          <p:spTgt spid="111"/>
                                        </p:tgtEl>
                                        <p:attrNameLst>
                                          <p:attrName>style.visibility</p:attrName>
                                        </p:attrNameLst>
                                      </p:cBhvr>
                                      <p:to>
                                        <p:strVal val="visible"/>
                                      </p:to>
                                    </p:set>
                                    <p:animEffect transition="in" filter="fade">
                                      <p:cBhvr>
                                        <p:cTn id="52" dur="500"/>
                                        <p:tgtEl>
                                          <p:spTgt spid="111"/>
                                        </p:tgtEl>
                                      </p:cBhvr>
                                    </p:animEffect>
                                    <p:anim calcmode="lin" valueType="num">
                                      <p:cBhvr additive="base">
                                        <p:cTn id="53" dur="500" decel="100000" fill="hold"/>
                                        <p:tgtEl>
                                          <p:spTgt spid="111"/>
                                        </p:tgtEl>
                                        <p:attrNameLst>
                                          <p:attrName>ppt_y</p:attrName>
                                        </p:attrNameLst>
                                      </p:cBhvr>
                                      <p:tavLst>
                                        <p:tav tm="0">
                                          <p:val>
                                            <p:strVal val="#ppt_y+0.06"/>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12"/>
                                        </p:tgtEl>
                                        <p:attrNameLst>
                                          <p:attrName>style.visibility</p:attrName>
                                        </p:attrNameLst>
                                      </p:cBhvr>
                                      <p:to>
                                        <p:strVal val="visible"/>
                                      </p:to>
                                    </p:set>
                                    <p:animEffect transition="in" filter="fade">
                                      <p:cBhvr>
                                        <p:cTn id="56" dur="500"/>
                                        <p:tgtEl>
                                          <p:spTgt spid="112"/>
                                        </p:tgtEl>
                                      </p:cBhvr>
                                    </p:animEffect>
                                    <p:anim calcmode="lin" valueType="num">
                                      <p:cBhvr additive="base">
                                        <p:cTn id="57" dur="500" decel="100000" fill="hold"/>
                                        <p:tgtEl>
                                          <p:spTgt spid="112"/>
                                        </p:tgtEl>
                                        <p:attrNameLst>
                                          <p:attrName>ppt_y</p:attrName>
                                        </p:attrNameLst>
                                      </p:cBhvr>
                                      <p:tavLst>
                                        <p:tav tm="0">
                                          <p:val>
                                            <p:strVal val="#ppt_y+0.06"/>
                                          </p:val>
                                        </p:tav>
                                        <p:tav tm="100000">
                                          <p:val>
                                            <p:strVal val="#ppt_y"/>
                                          </p:val>
                                        </p:tav>
                                      </p:tavLst>
                                    </p:anim>
                                  </p:childTnLst>
                                </p:cTn>
                              </p:par>
                              <p:par>
                                <p:cTn id="58" presetID="42" presetClass="entr" presetSubtype="0" fill="hold" nodeType="withEffect">
                                  <p:stCondLst>
                                    <p:cond delay="0"/>
                                  </p:stCondLst>
                                  <p:childTnLst>
                                    <p:set>
                                      <p:cBhvr>
                                        <p:cTn id="59" dur="1" fill="hold">
                                          <p:stCondLst>
                                            <p:cond delay="0"/>
                                          </p:stCondLst>
                                        </p:cTn>
                                        <p:tgtEl>
                                          <p:spTgt spid="113"/>
                                        </p:tgtEl>
                                        <p:attrNameLst>
                                          <p:attrName>style.visibility</p:attrName>
                                        </p:attrNameLst>
                                      </p:cBhvr>
                                      <p:to>
                                        <p:strVal val="visible"/>
                                      </p:to>
                                    </p:set>
                                    <p:animEffect transition="in" filter="fade">
                                      <p:cBhvr>
                                        <p:cTn id="60" dur="500"/>
                                        <p:tgtEl>
                                          <p:spTgt spid="113"/>
                                        </p:tgtEl>
                                      </p:cBhvr>
                                    </p:animEffect>
                                    <p:anim calcmode="lin" valueType="num">
                                      <p:cBhvr additive="base">
                                        <p:cTn id="61" dur="500" decel="100000" fill="hold"/>
                                        <p:tgtEl>
                                          <p:spTgt spid="113"/>
                                        </p:tgtEl>
                                        <p:attrNameLst>
                                          <p:attrName>ppt_y</p:attrName>
                                        </p:attrNameLst>
                                      </p:cBhvr>
                                      <p:tavLst>
                                        <p:tav tm="0">
                                          <p:val>
                                            <p:strVal val="#ppt_y+0.06"/>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114"/>
                                        </p:tgtEl>
                                        <p:attrNameLst>
                                          <p:attrName>style.visibility</p:attrName>
                                        </p:attrNameLst>
                                      </p:cBhvr>
                                      <p:to>
                                        <p:strVal val="visible"/>
                                      </p:to>
                                    </p:set>
                                    <p:animEffect transition="in" filter="fade">
                                      <p:cBhvr>
                                        <p:cTn id="64" dur="500"/>
                                        <p:tgtEl>
                                          <p:spTgt spid="114"/>
                                        </p:tgtEl>
                                      </p:cBhvr>
                                    </p:animEffect>
                                    <p:anim calcmode="lin" valueType="num">
                                      <p:cBhvr additive="base">
                                        <p:cTn id="65" dur="500" decel="100000" fill="hold"/>
                                        <p:tgtEl>
                                          <p:spTgt spid="114"/>
                                        </p:tgtEl>
                                        <p:attrNameLst>
                                          <p:attrName>ppt_y</p:attrName>
                                        </p:attrNameLst>
                                      </p:cBhvr>
                                      <p:tavLst>
                                        <p:tav tm="0">
                                          <p:val>
                                            <p:strVal val="#ppt_y+0.06"/>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115"/>
                                        </p:tgtEl>
                                        <p:attrNameLst>
                                          <p:attrName>style.visibility</p:attrName>
                                        </p:attrNameLst>
                                      </p:cBhvr>
                                      <p:to>
                                        <p:strVal val="visible"/>
                                      </p:to>
                                    </p:set>
                                    <p:animEffect transition="in" filter="fade">
                                      <p:cBhvr>
                                        <p:cTn id="68" dur="500"/>
                                        <p:tgtEl>
                                          <p:spTgt spid="115"/>
                                        </p:tgtEl>
                                      </p:cBhvr>
                                    </p:animEffect>
                                    <p:anim calcmode="lin" valueType="num">
                                      <p:cBhvr additive="base">
                                        <p:cTn id="69" dur="500" decel="100000" fill="hold"/>
                                        <p:tgtEl>
                                          <p:spTgt spid="115"/>
                                        </p:tgtEl>
                                        <p:attrNameLst>
                                          <p:attrName>ppt_y</p:attrName>
                                        </p:attrNameLst>
                                      </p:cBhvr>
                                      <p:tavLst>
                                        <p:tav tm="0">
                                          <p:val>
                                            <p:strVal val="#ppt_y+0.06"/>
                                          </p:val>
                                        </p:tav>
                                        <p:tav tm="100000">
                                          <p:val>
                                            <p:strVal val="#ppt_y"/>
                                          </p:val>
                                        </p:tav>
                                      </p:tavLst>
                                    </p:anim>
                                  </p:childTnLst>
                                </p:cTn>
                              </p:par>
                              <p:par>
                                <p:cTn id="70" presetID="53" presetClass="entr" presetSubtype="16" fill="hold" grpId="0" nodeType="withEffect">
                                  <p:stCondLst>
                                    <p:cond delay="80"/>
                                  </p:stCondLst>
                                  <p:childTnLst>
                                    <p:set>
                                      <p:cBhvr>
                                        <p:cTn id="71" dur="1" fill="hold">
                                          <p:stCondLst>
                                            <p:cond delay="0"/>
                                          </p:stCondLst>
                                        </p:cTn>
                                        <p:tgtEl>
                                          <p:spTgt spid="116"/>
                                        </p:tgtEl>
                                        <p:attrNameLst>
                                          <p:attrName>style.visibility</p:attrName>
                                        </p:attrNameLst>
                                      </p:cBhvr>
                                      <p:to>
                                        <p:strVal val="visible"/>
                                      </p:to>
                                    </p:set>
                                    <p:anim calcmode="lin" valueType="num">
                                      <p:cBhvr additive="base">
                                        <p:cTn id="72" dur="500" decel="100000" fill="hold"/>
                                        <p:tgtEl>
                                          <p:spTgt spid="116"/>
                                        </p:tgtEl>
                                        <p:attrNameLst>
                                          <p:attrName>ppt_w</p:attrName>
                                        </p:attrNameLst>
                                      </p:cBhvr>
                                      <p:tavLst>
                                        <p:tav tm="0">
                                          <p:val>
                                            <p:strVal val="#ppt_w*0.55"/>
                                          </p:val>
                                        </p:tav>
                                        <p:tav tm="100000">
                                          <p:val>
                                            <p:strVal val="#ppt_w"/>
                                          </p:val>
                                        </p:tav>
                                      </p:tavLst>
                                    </p:anim>
                                    <p:anim calcmode="lin" valueType="num">
                                      <p:cBhvr additive="base">
                                        <p:cTn id="73" dur="500" decel="100000" fill="hold"/>
                                        <p:tgtEl>
                                          <p:spTgt spid="116"/>
                                        </p:tgtEl>
                                        <p:attrNameLst>
                                          <p:attrName>ppt_h</p:attrName>
                                        </p:attrNameLst>
                                      </p:cBhvr>
                                      <p:tavLst>
                                        <p:tav tm="0">
                                          <p:val>
                                            <p:strVal val="#ppt_h*0.55"/>
                                          </p:val>
                                        </p:tav>
                                        <p:tav tm="100000">
                                          <p:val>
                                            <p:strVal val="#ppt_h"/>
                                          </p:val>
                                        </p:tav>
                                      </p:tavLst>
                                    </p:anim>
                                    <p:animEffect transition="in" filter="fade">
                                      <p:cBhvr>
                                        <p:cTn id="74" dur="500"/>
                                        <p:tgtEl>
                                          <p:spTgt spid="116"/>
                                        </p:tgtEl>
                                      </p:cBhvr>
                                    </p:animEffect>
                                  </p:childTnLst>
                                </p:cTn>
                              </p:par>
                              <p:par>
                                <p:cTn id="75" presetID="53" presetClass="entr" presetSubtype="16" fill="hold" grpId="0" nodeType="withEffect">
                                  <p:stCondLst>
                                    <p:cond delay="160"/>
                                  </p:stCondLst>
                                  <p:childTnLst>
                                    <p:set>
                                      <p:cBhvr>
                                        <p:cTn id="76" dur="1" fill="hold">
                                          <p:stCondLst>
                                            <p:cond delay="0"/>
                                          </p:stCondLst>
                                        </p:cTn>
                                        <p:tgtEl>
                                          <p:spTgt spid="117"/>
                                        </p:tgtEl>
                                        <p:attrNameLst>
                                          <p:attrName>style.visibility</p:attrName>
                                        </p:attrNameLst>
                                      </p:cBhvr>
                                      <p:to>
                                        <p:strVal val="visible"/>
                                      </p:to>
                                    </p:set>
                                    <p:anim calcmode="lin" valueType="num">
                                      <p:cBhvr additive="base">
                                        <p:cTn id="77" dur="500" decel="100000" fill="hold"/>
                                        <p:tgtEl>
                                          <p:spTgt spid="117"/>
                                        </p:tgtEl>
                                        <p:attrNameLst>
                                          <p:attrName>ppt_w</p:attrName>
                                        </p:attrNameLst>
                                      </p:cBhvr>
                                      <p:tavLst>
                                        <p:tav tm="0">
                                          <p:val>
                                            <p:strVal val="#ppt_w*0.55"/>
                                          </p:val>
                                        </p:tav>
                                        <p:tav tm="100000">
                                          <p:val>
                                            <p:strVal val="#ppt_w"/>
                                          </p:val>
                                        </p:tav>
                                      </p:tavLst>
                                    </p:anim>
                                    <p:anim calcmode="lin" valueType="num">
                                      <p:cBhvr additive="base">
                                        <p:cTn id="78" dur="500" decel="100000" fill="hold"/>
                                        <p:tgtEl>
                                          <p:spTgt spid="117"/>
                                        </p:tgtEl>
                                        <p:attrNameLst>
                                          <p:attrName>ppt_h</p:attrName>
                                        </p:attrNameLst>
                                      </p:cBhvr>
                                      <p:tavLst>
                                        <p:tav tm="0">
                                          <p:val>
                                            <p:strVal val="#ppt_h*0.55"/>
                                          </p:val>
                                        </p:tav>
                                        <p:tav tm="100000">
                                          <p:val>
                                            <p:strVal val="#ppt_h"/>
                                          </p:val>
                                        </p:tav>
                                      </p:tavLst>
                                    </p:anim>
                                    <p:animEffect transition="in" filter="fade">
                                      <p:cBhvr>
                                        <p:cTn id="79" dur="500"/>
                                        <p:tgtEl>
                                          <p:spTgt spid="117"/>
                                        </p:tgtEl>
                                      </p:cBhvr>
                                    </p:animEffect>
                                  </p:childTnLst>
                                </p:cTn>
                              </p:par>
                              <p:par>
                                <p:cTn id="80" presetID="53" presetClass="entr" presetSubtype="16" fill="hold" grpId="0" nodeType="withEffect">
                                  <p:stCondLst>
                                    <p:cond delay="240"/>
                                  </p:stCondLst>
                                  <p:childTnLst>
                                    <p:set>
                                      <p:cBhvr>
                                        <p:cTn id="81" dur="1" fill="hold">
                                          <p:stCondLst>
                                            <p:cond delay="0"/>
                                          </p:stCondLst>
                                        </p:cTn>
                                        <p:tgtEl>
                                          <p:spTgt spid="118"/>
                                        </p:tgtEl>
                                        <p:attrNameLst>
                                          <p:attrName>style.visibility</p:attrName>
                                        </p:attrNameLst>
                                      </p:cBhvr>
                                      <p:to>
                                        <p:strVal val="visible"/>
                                      </p:to>
                                    </p:set>
                                    <p:anim calcmode="lin" valueType="num">
                                      <p:cBhvr additive="base">
                                        <p:cTn id="82" dur="500" decel="100000" fill="hold"/>
                                        <p:tgtEl>
                                          <p:spTgt spid="118"/>
                                        </p:tgtEl>
                                        <p:attrNameLst>
                                          <p:attrName>ppt_w</p:attrName>
                                        </p:attrNameLst>
                                      </p:cBhvr>
                                      <p:tavLst>
                                        <p:tav tm="0">
                                          <p:val>
                                            <p:strVal val="#ppt_w*0.55"/>
                                          </p:val>
                                        </p:tav>
                                        <p:tav tm="100000">
                                          <p:val>
                                            <p:strVal val="#ppt_w"/>
                                          </p:val>
                                        </p:tav>
                                      </p:tavLst>
                                    </p:anim>
                                    <p:anim calcmode="lin" valueType="num">
                                      <p:cBhvr additive="base">
                                        <p:cTn id="83" dur="500" decel="100000" fill="hold"/>
                                        <p:tgtEl>
                                          <p:spTgt spid="118"/>
                                        </p:tgtEl>
                                        <p:attrNameLst>
                                          <p:attrName>ppt_h</p:attrName>
                                        </p:attrNameLst>
                                      </p:cBhvr>
                                      <p:tavLst>
                                        <p:tav tm="0">
                                          <p:val>
                                            <p:strVal val="#ppt_h*0.55"/>
                                          </p:val>
                                        </p:tav>
                                        <p:tav tm="100000">
                                          <p:val>
                                            <p:strVal val="#ppt_h"/>
                                          </p:val>
                                        </p:tav>
                                      </p:tavLst>
                                    </p:anim>
                                    <p:animEffect transition="in" filter="fade">
                                      <p:cBhvr>
                                        <p:cTn id="84" dur="500"/>
                                        <p:tgtEl>
                                          <p:spTgt spid="118"/>
                                        </p:tgtEl>
                                      </p:cBhvr>
                                    </p:animEffect>
                                  </p:childTnLst>
                                </p:cTn>
                              </p:par>
                              <p:par>
                                <p:cTn id="85" presetID="53" presetClass="entr" presetSubtype="16" fill="hold" grpId="0" nodeType="withEffect">
                                  <p:stCondLst>
                                    <p:cond delay="320"/>
                                  </p:stCondLst>
                                  <p:childTnLst>
                                    <p:set>
                                      <p:cBhvr>
                                        <p:cTn id="86" dur="1" fill="hold">
                                          <p:stCondLst>
                                            <p:cond delay="0"/>
                                          </p:stCondLst>
                                        </p:cTn>
                                        <p:tgtEl>
                                          <p:spTgt spid="119"/>
                                        </p:tgtEl>
                                        <p:attrNameLst>
                                          <p:attrName>style.visibility</p:attrName>
                                        </p:attrNameLst>
                                      </p:cBhvr>
                                      <p:to>
                                        <p:strVal val="visible"/>
                                      </p:to>
                                    </p:set>
                                    <p:anim calcmode="lin" valueType="num">
                                      <p:cBhvr additive="base">
                                        <p:cTn id="87" dur="500" decel="100000" fill="hold"/>
                                        <p:tgtEl>
                                          <p:spTgt spid="119"/>
                                        </p:tgtEl>
                                        <p:attrNameLst>
                                          <p:attrName>ppt_w</p:attrName>
                                        </p:attrNameLst>
                                      </p:cBhvr>
                                      <p:tavLst>
                                        <p:tav tm="0">
                                          <p:val>
                                            <p:strVal val="#ppt_w*0.55"/>
                                          </p:val>
                                        </p:tav>
                                        <p:tav tm="100000">
                                          <p:val>
                                            <p:strVal val="#ppt_w"/>
                                          </p:val>
                                        </p:tav>
                                      </p:tavLst>
                                    </p:anim>
                                    <p:anim calcmode="lin" valueType="num">
                                      <p:cBhvr additive="base">
                                        <p:cTn id="88" dur="500" decel="100000" fill="hold"/>
                                        <p:tgtEl>
                                          <p:spTgt spid="119"/>
                                        </p:tgtEl>
                                        <p:attrNameLst>
                                          <p:attrName>ppt_h</p:attrName>
                                        </p:attrNameLst>
                                      </p:cBhvr>
                                      <p:tavLst>
                                        <p:tav tm="0">
                                          <p:val>
                                            <p:strVal val="#ppt_h*0.55"/>
                                          </p:val>
                                        </p:tav>
                                        <p:tav tm="100000">
                                          <p:val>
                                            <p:strVal val="#ppt_h"/>
                                          </p:val>
                                        </p:tav>
                                      </p:tavLst>
                                    </p:anim>
                                    <p:animEffect transition="in" filter="fade">
                                      <p:cBhvr>
                                        <p:cTn id="89" dur="500"/>
                                        <p:tgtEl>
                                          <p:spTgt spid="119"/>
                                        </p:tgtEl>
                                      </p:cBhvr>
                                    </p:animEffect>
                                  </p:childTnLst>
                                </p:cTn>
                              </p:par>
                              <p:par>
                                <p:cTn id="90" presetID="53" presetClass="entr" presetSubtype="16" fill="hold" grpId="0" nodeType="withEffect">
                                  <p:stCondLst>
                                    <p:cond delay="400"/>
                                  </p:stCondLst>
                                  <p:childTnLst>
                                    <p:set>
                                      <p:cBhvr>
                                        <p:cTn id="91" dur="1" fill="hold">
                                          <p:stCondLst>
                                            <p:cond delay="0"/>
                                          </p:stCondLst>
                                        </p:cTn>
                                        <p:tgtEl>
                                          <p:spTgt spid="120"/>
                                        </p:tgtEl>
                                        <p:attrNameLst>
                                          <p:attrName>style.visibility</p:attrName>
                                        </p:attrNameLst>
                                      </p:cBhvr>
                                      <p:to>
                                        <p:strVal val="visible"/>
                                      </p:to>
                                    </p:set>
                                    <p:anim calcmode="lin" valueType="num">
                                      <p:cBhvr additive="base">
                                        <p:cTn id="92" dur="500" decel="100000" fill="hold"/>
                                        <p:tgtEl>
                                          <p:spTgt spid="120"/>
                                        </p:tgtEl>
                                        <p:attrNameLst>
                                          <p:attrName>ppt_w</p:attrName>
                                        </p:attrNameLst>
                                      </p:cBhvr>
                                      <p:tavLst>
                                        <p:tav tm="0">
                                          <p:val>
                                            <p:strVal val="#ppt_w*0.55"/>
                                          </p:val>
                                        </p:tav>
                                        <p:tav tm="100000">
                                          <p:val>
                                            <p:strVal val="#ppt_w"/>
                                          </p:val>
                                        </p:tav>
                                      </p:tavLst>
                                    </p:anim>
                                    <p:anim calcmode="lin" valueType="num">
                                      <p:cBhvr additive="base">
                                        <p:cTn id="93" dur="500" decel="100000" fill="hold"/>
                                        <p:tgtEl>
                                          <p:spTgt spid="120"/>
                                        </p:tgtEl>
                                        <p:attrNameLst>
                                          <p:attrName>ppt_h</p:attrName>
                                        </p:attrNameLst>
                                      </p:cBhvr>
                                      <p:tavLst>
                                        <p:tav tm="0">
                                          <p:val>
                                            <p:strVal val="#ppt_h*0.55"/>
                                          </p:val>
                                        </p:tav>
                                        <p:tav tm="100000">
                                          <p:val>
                                            <p:strVal val="#ppt_h"/>
                                          </p:val>
                                        </p:tav>
                                      </p:tavLst>
                                    </p:anim>
                                    <p:animEffect transition="in" filter="fade">
                                      <p:cBhvr>
                                        <p:cTn id="94" dur="500"/>
                                        <p:tgtEl>
                                          <p:spTgt spid="120"/>
                                        </p:tgtEl>
                                      </p:cBhvr>
                                    </p:animEffect>
                                  </p:childTnLst>
                                </p:cTn>
                              </p:par>
                              <p:par>
                                <p:cTn id="95" presetID="53" presetClass="entr" presetSubtype="16" fill="hold" grpId="0" nodeType="withEffect">
                                  <p:stCondLst>
                                    <p:cond delay="480"/>
                                  </p:stCondLst>
                                  <p:childTnLst>
                                    <p:set>
                                      <p:cBhvr>
                                        <p:cTn id="96" dur="1" fill="hold">
                                          <p:stCondLst>
                                            <p:cond delay="0"/>
                                          </p:stCondLst>
                                        </p:cTn>
                                        <p:tgtEl>
                                          <p:spTgt spid="121"/>
                                        </p:tgtEl>
                                        <p:attrNameLst>
                                          <p:attrName>style.visibility</p:attrName>
                                        </p:attrNameLst>
                                      </p:cBhvr>
                                      <p:to>
                                        <p:strVal val="visible"/>
                                      </p:to>
                                    </p:set>
                                    <p:anim calcmode="lin" valueType="num">
                                      <p:cBhvr additive="base">
                                        <p:cTn id="97" dur="500" decel="100000" fill="hold"/>
                                        <p:tgtEl>
                                          <p:spTgt spid="121"/>
                                        </p:tgtEl>
                                        <p:attrNameLst>
                                          <p:attrName>ppt_w</p:attrName>
                                        </p:attrNameLst>
                                      </p:cBhvr>
                                      <p:tavLst>
                                        <p:tav tm="0">
                                          <p:val>
                                            <p:strVal val="#ppt_w*0.55"/>
                                          </p:val>
                                        </p:tav>
                                        <p:tav tm="100000">
                                          <p:val>
                                            <p:strVal val="#ppt_w"/>
                                          </p:val>
                                        </p:tav>
                                      </p:tavLst>
                                    </p:anim>
                                    <p:anim calcmode="lin" valueType="num">
                                      <p:cBhvr additive="base">
                                        <p:cTn id="98" dur="500" decel="100000" fill="hold"/>
                                        <p:tgtEl>
                                          <p:spTgt spid="121"/>
                                        </p:tgtEl>
                                        <p:attrNameLst>
                                          <p:attrName>ppt_h</p:attrName>
                                        </p:attrNameLst>
                                      </p:cBhvr>
                                      <p:tavLst>
                                        <p:tav tm="0">
                                          <p:val>
                                            <p:strVal val="#ppt_h*0.55"/>
                                          </p:val>
                                        </p:tav>
                                        <p:tav tm="100000">
                                          <p:val>
                                            <p:strVal val="#ppt_h"/>
                                          </p:val>
                                        </p:tav>
                                      </p:tavLst>
                                    </p:anim>
                                    <p:animEffect transition="in" filter="fade">
                                      <p:cBhvr>
                                        <p:cTn id="99" dur="500"/>
                                        <p:tgtEl>
                                          <p:spTgt spid="121"/>
                                        </p:tgtEl>
                                      </p:cBhvr>
                                    </p:animEffect>
                                  </p:childTnLst>
                                </p:cTn>
                              </p:par>
                              <p:par>
                                <p:cTn id="100" presetID="22" presetClass="entr" presetSubtype="8" fill="hold" nodeType="withEffect">
                                  <p:stCondLst>
                                    <p:cond delay="630"/>
                                  </p:stCondLst>
                                  <p:childTnLst>
                                    <p:set>
                                      <p:cBhvr>
                                        <p:cTn id="101" dur="1" fill="hold">
                                          <p:stCondLst>
                                            <p:cond delay="0"/>
                                          </p:stCondLst>
                                        </p:cTn>
                                        <p:tgtEl>
                                          <p:spTgt spid="122"/>
                                        </p:tgtEl>
                                        <p:attrNameLst>
                                          <p:attrName>style.visibility</p:attrName>
                                        </p:attrNameLst>
                                      </p:cBhvr>
                                      <p:to>
                                        <p:strVal val="visible"/>
                                      </p:to>
                                    </p:set>
                                    <p:animEffect transition="in" filter="wipe(left)">
                                      <p:cBhvr>
                                        <p:cTn id="102" dur="500"/>
                                        <p:tgtEl>
                                          <p:spTgt spid="122"/>
                                        </p:tgtEl>
                                      </p:cBhvr>
                                    </p:animEffect>
                                  </p:childTnLst>
                                </p:cTn>
                              </p:par>
                            </p:childTnLst>
                          </p:cTn>
                        </p:par>
                      </p:childTnLst>
                    </p:cTn>
                  </p:par>
                  <p:par>
                    <p:cTn id="103" fill="hold">
                      <p:stCondLst>
                        <p:cond delay="indefinite"/>
                      </p:stCondLst>
                      <p:childTnLst>
                        <p:par>
                          <p:cTn id="104" fill="hold">
                            <p:stCondLst>
                              <p:cond delay="0"/>
                            </p:stCondLst>
                            <p:childTnLst>
                              <p:par>
                                <p:cTn id="105" presetID="42" presetClass="entr" presetSubtype="0" fill="hold" grpId="0" nodeType="clickEffect">
                                  <p:stCondLst>
                                    <p:cond delay="0"/>
                                  </p:stCondLst>
                                  <p:childTnLst>
                                    <p:set>
                                      <p:cBhvr>
                                        <p:cTn id="106" dur="1" fill="hold">
                                          <p:stCondLst>
                                            <p:cond delay="0"/>
                                          </p:stCondLst>
                                        </p:cTn>
                                        <p:tgtEl>
                                          <p:spTgt spid="123"/>
                                        </p:tgtEl>
                                        <p:attrNameLst>
                                          <p:attrName>style.visibility</p:attrName>
                                        </p:attrNameLst>
                                      </p:cBhvr>
                                      <p:to>
                                        <p:strVal val="visible"/>
                                      </p:to>
                                    </p:set>
                                    <p:animEffect transition="in" filter="fade">
                                      <p:cBhvr>
                                        <p:cTn id="107" dur="500"/>
                                        <p:tgtEl>
                                          <p:spTgt spid="123"/>
                                        </p:tgtEl>
                                      </p:cBhvr>
                                    </p:animEffect>
                                    <p:anim calcmode="lin" valueType="num">
                                      <p:cBhvr additive="base">
                                        <p:cTn id="108" dur="500" decel="100000" fill="hold"/>
                                        <p:tgtEl>
                                          <p:spTgt spid="123"/>
                                        </p:tgtEl>
                                        <p:attrNameLst>
                                          <p:attrName>ppt_y</p:attrName>
                                        </p:attrNameLst>
                                      </p:cBhvr>
                                      <p:tavLst>
                                        <p:tav tm="0">
                                          <p:val>
                                            <p:strVal val="#ppt_y+0.06"/>
                                          </p:val>
                                        </p:tav>
                                        <p:tav tm="100000">
                                          <p:val>
                                            <p:strVal val="#ppt_y"/>
                                          </p:val>
                                        </p:tav>
                                      </p:tavLst>
                                    </p:anim>
                                  </p:childTnLst>
                                </p:cTn>
                              </p:par>
                              <p:par>
                                <p:cTn id="109" presetID="42" presetClass="entr" presetSubtype="0" fill="hold" grpId="0" nodeType="withEffect">
                                  <p:stCondLst>
                                    <p:cond delay="0"/>
                                  </p:stCondLst>
                                  <p:childTnLst>
                                    <p:set>
                                      <p:cBhvr>
                                        <p:cTn id="110" dur="1" fill="hold">
                                          <p:stCondLst>
                                            <p:cond delay="0"/>
                                          </p:stCondLst>
                                        </p:cTn>
                                        <p:tgtEl>
                                          <p:spTgt spid="124"/>
                                        </p:tgtEl>
                                        <p:attrNameLst>
                                          <p:attrName>style.visibility</p:attrName>
                                        </p:attrNameLst>
                                      </p:cBhvr>
                                      <p:to>
                                        <p:strVal val="visible"/>
                                      </p:to>
                                    </p:set>
                                    <p:animEffect transition="in" filter="fade">
                                      <p:cBhvr>
                                        <p:cTn id="111" dur="500"/>
                                        <p:tgtEl>
                                          <p:spTgt spid="124"/>
                                        </p:tgtEl>
                                      </p:cBhvr>
                                    </p:animEffect>
                                    <p:anim calcmode="lin" valueType="num">
                                      <p:cBhvr additive="base">
                                        <p:cTn id="112" dur="500" decel="100000" fill="hold"/>
                                        <p:tgtEl>
                                          <p:spTgt spid="124"/>
                                        </p:tgtEl>
                                        <p:attrNameLst>
                                          <p:attrName>ppt_y</p:attrName>
                                        </p:attrNameLst>
                                      </p:cBhvr>
                                      <p:tavLst>
                                        <p:tav tm="0">
                                          <p:val>
                                            <p:strVal val="#ppt_y+0.06"/>
                                          </p:val>
                                        </p:tav>
                                        <p:tav tm="100000">
                                          <p:val>
                                            <p:strVal val="#ppt_y"/>
                                          </p:val>
                                        </p:tav>
                                      </p:tavLst>
                                    </p:anim>
                                  </p:childTnLst>
                                </p:cTn>
                              </p:par>
                              <p:par>
                                <p:cTn id="113" presetID="42" presetClass="entr" presetSubtype="0" fill="hold" nodeType="withEffect">
                                  <p:stCondLst>
                                    <p:cond delay="0"/>
                                  </p:stCondLst>
                                  <p:childTnLst>
                                    <p:set>
                                      <p:cBhvr>
                                        <p:cTn id="114" dur="1" fill="hold">
                                          <p:stCondLst>
                                            <p:cond delay="0"/>
                                          </p:stCondLst>
                                        </p:cTn>
                                        <p:tgtEl>
                                          <p:spTgt spid="125"/>
                                        </p:tgtEl>
                                        <p:attrNameLst>
                                          <p:attrName>style.visibility</p:attrName>
                                        </p:attrNameLst>
                                      </p:cBhvr>
                                      <p:to>
                                        <p:strVal val="visible"/>
                                      </p:to>
                                    </p:set>
                                    <p:animEffect transition="in" filter="fade">
                                      <p:cBhvr>
                                        <p:cTn id="115" dur="500"/>
                                        <p:tgtEl>
                                          <p:spTgt spid="125"/>
                                        </p:tgtEl>
                                      </p:cBhvr>
                                    </p:animEffect>
                                    <p:anim calcmode="lin" valueType="num">
                                      <p:cBhvr additive="base">
                                        <p:cTn id="116" dur="500" decel="100000" fill="hold"/>
                                        <p:tgtEl>
                                          <p:spTgt spid="125"/>
                                        </p:tgtEl>
                                        <p:attrNameLst>
                                          <p:attrName>ppt_y</p:attrName>
                                        </p:attrNameLst>
                                      </p:cBhvr>
                                      <p:tavLst>
                                        <p:tav tm="0">
                                          <p:val>
                                            <p:strVal val="#ppt_y+0.06"/>
                                          </p:val>
                                        </p:tav>
                                        <p:tav tm="100000">
                                          <p:val>
                                            <p:strVal val="#ppt_y"/>
                                          </p:val>
                                        </p:tav>
                                      </p:tavLst>
                                    </p:anim>
                                  </p:childTnLst>
                                </p:cTn>
                              </p:par>
                              <p:par>
                                <p:cTn id="117" presetID="42" presetClass="entr" presetSubtype="0" fill="hold" grpId="0" nodeType="withEffect">
                                  <p:stCondLst>
                                    <p:cond delay="0"/>
                                  </p:stCondLst>
                                  <p:childTnLst>
                                    <p:set>
                                      <p:cBhvr>
                                        <p:cTn id="118" dur="1" fill="hold">
                                          <p:stCondLst>
                                            <p:cond delay="0"/>
                                          </p:stCondLst>
                                        </p:cTn>
                                        <p:tgtEl>
                                          <p:spTgt spid="126"/>
                                        </p:tgtEl>
                                        <p:attrNameLst>
                                          <p:attrName>style.visibility</p:attrName>
                                        </p:attrNameLst>
                                      </p:cBhvr>
                                      <p:to>
                                        <p:strVal val="visible"/>
                                      </p:to>
                                    </p:set>
                                    <p:animEffect transition="in" filter="fade">
                                      <p:cBhvr>
                                        <p:cTn id="119" dur="500"/>
                                        <p:tgtEl>
                                          <p:spTgt spid="126"/>
                                        </p:tgtEl>
                                      </p:cBhvr>
                                    </p:animEffect>
                                    <p:anim calcmode="lin" valueType="num">
                                      <p:cBhvr additive="base">
                                        <p:cTn id="120" dur="500" decel="100000" fill="hold"/>
                                        <p:tgtEl>
                                          <p:spTgt spid="126"/>
                                        </p:tgtEl>
                                        <p:attrNameLst>
                                          <p:attrName>ppt_y</p:attrName>
                                        </p:attrNameLst>
                                      </p:cBhvr>
                                      <p:tavLst>
                                        <p:tav tm="0">
                                          <p:val>
                                            <p:strVal val="#ppt_y+0.06"/>
                                          </p:val>
                                        </p:tav>
                                        <p:tav tm="100000">
                                          <p:val>
                                            <p:strVal val="#ppt_y"/>
                                          </p:val>
                                        </p:tav>
                                      </p:tavLst>
                                    </p:anim>
                                  </p:childTnLst>
                                </p:cTn>
                              </p:par>
                              <p:par>
                                <p:cTn id="121" presetID="42" presetClass="entr" presetSubtype="0" fill="hold" grpId="0" nodeType="withEffect">
                                  <p:stCondLst>
                                    <p:cond delay="0"/>
                                  </p:stCondLst>
                                  <p:childTnLst>
                                    <p:set>
                                      <p:cBhvr>
                                        <p:cTn id="122" dur="1" fill="hold">
                                          <p:stCondLst>
                                            <p:cond delay="0"/>
                                          </p:stCondLst>
                                        </p:cTn>
                                        <p:tgtEl>
                                          <p:spTgt spid="127"/>
                                        </p:tgtEl>
                                        <p:attrNameLst>
                                          <p:attrName>style.visibility</p:attrName>
                                        </p:attrNameLst>
                                      </p:cBhvr>
                                      <p:to>
                                        <p:strVal val="visible"/>
                                      </p:to>
                                    </p:set>
                                    <p:animEffect transition="in" filter="fade">
                                      <p:cBhvr>
                                        <p:cTn id="123" dur="500"/>
                                        <p:tgtEl>
                                          <p:spTgt spid="127"/>
                                        </p:tgtEl>
                                      </p:cBhvr>
                                    </p:animEffect>
                                    <p:anim calcmode="lin" valueType="num">
                                      <p:cBhvr additive="base">
                                        <p:cTn id="124" dur="500" decel="100000" fill="hold"/>
                                        <p:tgtEl>
                                          <p:spTgt spid="127"/>
                                        </p:tgtEl>
                                        <p:attrNameLst>
                                          <p:attrName>ppt_y</p:attrName>
                                        </p:attrNameLst>
                                      </p:cBhvr>
                                      <p:tavLst>
                                        <p:tav tm="0">
                                          <p:val>
                                            <p:strVal val="#ppt_y+0.06"/>
                                          </p:val>
                                        </p:tav>
                                        <p:tav tm="100000">
                                          <p:val>
                                            <p:strVal val="#ppt_y"/>
                                          </p:val>
                                        </p:tav>
                                      </p:tavLst>
                                    </p:anim>
                                  </p:childTnLst>
                                </p:cTn>
                              </p:par>
                              <p:par>
                                <p:cTn id="125" presetID="53" presetClass="entr" presetSubtype="16" fill="hold" grpId="0" nodeType="withEffect">
                                  <p:stCondLst>
                                    <p:cond delay="80"/>
                                  </p:stCondLst>
                                  <p:childTnLst>
                                    <p:set>
                                      <p:cBhvr>
                                        <p:cTn id="126" dur="1" fill="hold">
                                          <p:stCondLst>
                                            <p:cond delay="0"/>
                                          </p:stCondLst>
                                        </p:cTn>
                                        <p:tgtEl>
                                          <p:spTgt spid="128"/>
                                        </p:tgtEl>
                                        <p:attrNameLst>
                                          <p:attrName>style.visibility</p:attrName>
                                        </p:attrNameLst>
                                      </p:cBhvr>
                                      <p:to>
                                        <p:strVal val="visible"/>
                                      </p:to>
                                    </p:set>
                                    <p:anim calcmode="lin" valueType="num">
                                      <p:cBhvr additive="base">
                                        <p:cTn id="127" dur="500" decel="100000" fill="hold"/>
                                        <p:tgtEl>
                                          <p:spTgt spid="128"/>
                                        </p:tgtEl>
                                        <p:attrNameLst>
                                          <p:attrName>ppt_w</p:attrName>
                                        </p:attrNameLst>
                                      </p:cBhvr>
                                      <p:tavLst>
                                        <p:tav tm="0">
                                          <p:val>
                                            <p:strVal val="#ppt_w*0.55"/>
                                          </p:val>
                                        </p:tav>
                                        <p:tav tm="100000">
                                          <p:val>
                                            <p:strVal val="#ppt_w"/>
                                          </p:val>
                                        </p:tav>
                                      </p:tavLst>
                                    </p:anim>
                                    <p:anim calcmode="lin" valueType="num">
                                      <p:cBhvr additive="base">
                                        <p:cTn id="128" dur="500" decel="100000" fill="hold"/>
                                        <p:tgtEl>
                                          <p:spTgt spid="128"/>
                                        </p:tgtEl>
                                        <p:attrNameLst>
                                          <p:attrName>ppt_h</p:attrName>
                                        </p:attrNameLst>
                                      </p:cBhvr>
                                      <p:tavLst>
                                        <p:tav tm="0">
                                          <p:val>
                                            <p:strVal val="#ppt_h*0.55"/>
                                          </p:val>
                                        </p:tav>
                                        <p:tav tm="100000">
                                          <p:val>
                                            <p:strVal val="#ppt_h"/>
                                          </p:val>
                                        </p:tav>
                                      </p:tavLst>
                                    </p:anim>
                                    <p:animEffect transition="in" filter="fade">
                                      <p:cBhvr>
                                        <p:cTn id="129" dur="500"/>
                                        <p:tgtEl>
                                          <p:spTgt spid="128"/>
                                        </p:tgtEl>
                                      </p:cBhvr>
                                    </p:animEffect>
                                  </p:childTnLst>
                                </p:cTn>
                              </p:par>
                              <p:par>
                                <p:cTn id="130" presetID="53" presetClass="entr" presetSubtype="16" fill="hold" grpId="0" nodeType="withEffect">
                                  <p:stCondLst>
                                    <p:cond delay="160"/>
                                  </p:stCondLst>
                                  <p:childTnLst>
                                    <p:set>
                                      <p:cBhvr>
                                        <p:cTn id="131" dur="1" fill="hold">
                                          <p:stCondLst>
                                            <p:cond delay="0"/>
                                          </p:stCondLst>
                                        </p:cTn>
                                        <p:tgtEl>
                                          <p:spTgt spid="129"/>
                                        </p:tgtEl>
                                        <p:attrNameLst>
                                          <p:attrName>style.visibility</p:attrName>
                                        </p:attrNameLst>
                                      </p:cBhvr>
                                      <p:to>
                                        <p:strVal val="visible"/>
                                      </p:to>
                                    </p:set>
                                    <p:anim calcmode="lin" valueType="num">
                                      <p:cBhvr additive="base">
                                        <p:cTn id="132" dur="500" decel="100000" fill="hold"/>
                                        <p:tgtEl>
                                          <p:spTgt spid="129"/>
                                        </p:tgtEl>
                                        <p:attrNameLst>
                                          <p:attrName>ppt_w</p:attrName>
                                        </p:attrNameLst>
                                      </p:cBhvr>
                                      <p:tavLst>
                                        <p:tav tm="0">
                                          <p:val>
                                            <p:strVal val="#ppt_w*0.55"/>
                                          </p:val>
                                        </p:tav>
                                        <p:tav tm="100000">
                                          <p:val>
                                            <p:strVal val="#ppt_w"/>
                                          </p:val>
                                        </p:tav>
                                      </p:tavLst>
                                    </p:anim>
                                    <p:anim calcmode="lin" valueType="num">
                                      <p:cBhvr additive="base">
                                        <p:cTn id="133" dur="500" decel="100000" fill="hold"/>
                                        <p:tgtEl>
                                          <p:spTgt spid="129"/>
                                        </p:tgtEl>
                                        <p:attrNameLst>
                                          <p:attrName>ppt_h</p:attrName>
                                        </p:attrNameLst>
                                      </p:cBhvr>
                                      <p:tavLst>
                                        <p:tav tm="0">
                                          <p:val>
                                            <p:strVal val="#ppt_h*0.55"/>
                                          </p:val>
                                        </p:tav>
                                        <p:tav tm="100000">
                                          <p:val>
                                            <p:strVal val="#ppt_h"/>
                                          </p:val>
                                        </p:tav>
                                      </p:tavLst>
                                    </p:anim>
                                    <p:animEffect transition="in" filter="fade">
                                      <p:cBhvr>
                                        <p:cTn id="134" dur="500"/>
                                        <p:tgtEl>
                                          <p:spTgt spid="129"/>
                                        </p:tgtEl>
                                      </p:cBhvr>
                                    </p:animEffect>
                                  </p:childTnLst>
                                </p:cTn>
                              </p:par>
                              <p:par>
                                <p:cTn id="135" presetID="53" presetClass="entr" presetSubtype="16" fill="hold" grpId="0" nodeType="withEffect">
                                  <p:stCondLst>
                                    <p:cond delay="240"/>
                                  </p:stCondLst>
                                  <p:childTnLst>
                                    <p:set>
                                      <p:cBhvr>
                                        <p:cTn id="136" dur="1" fill="hold">
                                          <p:stCondLst>
                                            <p:cond delay="0"/>
                                          </p:stCondLst>
                                        </p:cTn>
                                        <p:tgtEl>
                                          <p:spTgt spid="130"/>
                                        </p:tgtEl>
                                        <p:attrNameLst>
                                          <p:attrName>style.visibility</p:attrName>
                                        </p:attrNameLst>
                                      </p:cBhvr>
                                      <p:to>
                                        <p:strVal val="visible"/>
                                      </p:to>
                                    </p:set>
                                    <p:anim calcmode="lin" valueType="num">
                                      <p:cBhvr additive="base">
                                        <p:cTn id="137" dur="500" decel="100000" fill="hold"/>
                                        <p:tgtEl>
                                          <p:spTgt spid="130"/>
                                        </p:tgtEl>
                                        <p:attrNameLst>
                                          <p:attrName>ppt_w</p:attrName>
                                        </p:attrNameLst>
                                      </p:cBhvr>
                                      <p:tavLst>
                                        <p:tav tm="0">
                                          <p:val>
                                            <p:strVal val="#ppt_w*0.55"/>
                                          </p:val>
                                        </p:tav>
                                        <p:tav tm="100000">
                                          <p:val>
                                            <p:strVal val="#ppt_w"/>
                                          </p:val>
                                        </p:tav>
                                      </p:tavLst>
                                    </p:anim>
                                    <p:anim calcmode="lin" valueType="num">
                                      <p:cBhvr additive="base">
                                        <p:cTn id="138" dur="500" decel="100000" fill="hold"/>
                                        <p:tgtEl>
                                          <p:spTgt spid="130"/>
                                        </p:tgtEl>
                                        <p:attrNameLst>
                                          <p:attrName>ppt_h</p:attrName>
                                        </p:attrNameLst>
                                      </p:cBhvr>
                                      <p:tavLst>
                                        <p:tav tm="0">
                                          <p:val>
                                            <p:strVal val="#ppt_h*0.55"/>
                                          </p:val>
                                        </p:tav>
                                        <p:tav tm="100000">
                                          <p:val>
                                            <p:strVal val="#ppt_h"/>
                                          </p:val>
                                        </p:tav>
                                      </p:tavLst>
                                    </p:anim>
                                    <p:animEffect transition="in" filter="fade">
                                      <p:cBhvr>
                                        <p:cTn id="139" dur="500"/>
                                        <p:tgtEl>
                                          <p:spTgt spid="130"/>
                                        </p:tgtEl>
                                      </p:cBhvr>
                                    </p:animEffect>
                                  </p:childTnLst>
                                </p:cTn>
                              </p:par>
                              <p:par>
                                <p:cTn id="140" presetID="53" presetClass="entr" presetSubtype="16" fill="hold" grpId="0" nodeType="withEffect">
                                  <p:stCondLst>
                                    <p:cond delay="320"/>
                                  </p:stCondLst>
                                  <p:childTnLst>
                                    <p:set>
                                      <p:cBhvr>
                                        <p:cTn id="141" dur="1" fill="hold">
                                          <p:stCondLst>
                                            <p:cond delay="0"/>
                                          </p:stCondLst>
                                        </p:cTn>
                                        <p:tgtEl>
                                          <p:spTgt spid="131"/>
                                        </p:tgtEl>
                                        <p:attrNameLst>
                                          <p:attrName>style.visibility</p:attrName>
                                        </p:attrNameLst>
                                      </p:cBhvr>
                                      <p:to>
                                        <p:strVal val="visible"/>
                                      </p:to>
                                    </p:set>
                                    <p:anim calcmode="lin" valueType="num">
                                      <p:cBhvr additive="base">
                                        <p:cTn id="142" dur="500" decel="100000" fill="hold"/>
                                        <p:tgtEl>
                                          <p:spTgt spid="131"/>
                                        </p:tgtEl>
                                        <p:attrNameLst>
                                          <p:attrName>ppt_w</p:attrName>
                                        </p:attrNameLst>
                                      </p:cBhvr>
                                      <p:tavLst>
                                        <p:tav tm="0">
                                          <p:val>
                                            <p:strVal val="#ppt_w*0.55"/>
                                          </p:val>
                                        </p:tav>
                                        <p:tav tm="100000">
                                          <p:val>
                                            <p:strVal val="#ppt_w"/>
                                          </p:val>
                                        </p:tav>
                                      </p:tavLst>
                                    </p:anim>
                                    <p:anim calcmode="lin" valueType="num">
                                      <p:cBhvr additive="base">
                                        <p:cTn id="143" dur="500" decel="100000" fill="hold"/>
                                        <p:tgtEl>
                                          <p:spTgt spid="131"/>
                                        </p:tgtEl>
                                        <p:attrNameLst>
                                          <p:attrName>ppt_h</p:attrName>
                                        </p:attrNameLst>
                                      </p:cBhvr>
                                      <p:tavLst>
                                        <p:tav tm="0">
                                          <p:val>
                                            <p:strVal val="#ppt_h*0.55"/>
                                          </p:val>
                                        </p:tav>
                                        <p:tav tm="100000">
                                          <p:val>
                                            <p:strVal val="#ppt_h"/>
                                          </p:val>
                                        </p:tav>
                                      </p:tavLst>
                                    </p:anim>
                                    <p:animEffect transition="in" filter="fade">
                                      <p:cBhvr>
                                        <p:cTn id="144"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8" grpId="0" animBg="1"/>
      <p:bldP spid="109" grpId="0" animBg="1"/>
      <p:bldP spid="111" grpId="0" animBg="1"/>
      <p:bldP spid="112" grpId="0" animBg="1"/>
      <p:bldP spid="114" grpId="0" animBg="1"/>
      <p:bldP spid="115" grpId="0" animBg="1"/>
      <p:bldP spid="116" grpId="0" animBg="1"/>
      <p:bldP spid="117" grpId="0" animBg="1"/>
      <p:bldP spid="118" grpId="0" animBg="1"/>
      <p:bldP spid="119" grpId="0" animBg="1"/>
      <p:bldP spid="120" grpId="0" animBg="1"/>
      <p:bldP spid="121" grpId="0" animBg="1"/>
      <p:bldP spid="123" grpId="0" animBg="1"/>
      <p:bldP spid="124" grpId="0" animBg="1"/>
      <p:bldP spid="126" grpId="0" animBg="1"/>
      <p:bldP spid="127" grpId="0" animBg="1"/>
      <p:bldP spid="128" grpId="0" animBg="1"/>
      <p:bldP spid="129" grpId="0" animBg="1"/>
      <p:bldP spid="130" grpId="0" animBg="1"/>
      <p:bldP spid="131"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068019"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READING TIP</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How to Read 'X over Y'</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The most misunderstood word in the Manifesto.</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MANIFESTO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201</a:t>
            </a:r>
            <a:endParaRPr lang="en-US" sz="850" dirty="0"/>
          </a:p>
        </p:txBody>
      </p:sp>
      <p:sp>
        <p:nvSpPr>
          <p:cNvPr id="101" name="s101"/>
          <p:cNvSpPr/>
          <p:nvPr/>
        </p:nvSpPr>
        <p:spPr>
          <a:xfrm>
            <a:off x="6044184" y="2286000"/>
            <a:ext cx="109728" cy="1874520"/>
          </a:xfrm>
          <a:prstGeom prst="rect">
            <a:avLst/>
          </a:prstGeom>
          <a:solidFill>
            <a:srgbClr val="94A3B8"/>
          </a:solidFill>
          <a:ln>
            <a:noFill/>
          </a:ln>
        </p:spPr>
        <p:txBody>
          <a:bodyPr wrap="square" lIns="164592" tIns="109728" rIns="137160" bIns="91440" rtlCol="0" anchor="t">
            <a:noAutofit/>
          </a:bodyPr>
          <a:lstStyle/>
          <a:p>
            <a:endParaRPr lang="en-US"/>
          </a:p>
        </p:txBody>
      </p:sp>
      <p:sp>
        <p:nvSpPr>
          <p:cNvPr id="102" name="s102"/>
          <p:cNvSpPr/>
          <p:nvPr/>
        </p:nvSpPr>
        <p:spPr>
          <a:xfrm>
            <a:off x="5458968" y="4114800"/>
            <a:ext cx="1280160" cy="384048"/>
          </a:xfrm>
          <a:prstGeom prst="triangle">
            <a:avLst/>
          </a:prstGeom>
          <a:solidFill>
            <a:srgbClr val="94A3B8"/>
          </a:solidFill>
          <a:ln>
            <a:noFill/>
          </a:ln>
        </p:spPr>
        <p:txBody>
          <a:bodyPr wrap="square" lIns="164592" tIns="109728" rIns="137160" bIns="91440" rtlCol="0" anchor="t">
            <a:noAutofit/>
          </a:bodyPr>
          <a:lstStyle/>
          <a:p>
            <a:endParaRPr lang="en-US"/>
          </a:p>
        </p:txBody>
      </p:sp>
      <p:sp>
        <p:nvSpPr>
          <p:cNvPr id="103" name="s103"/>
          <p:cNvSpPr/>
          <p:nvPr/>
        </p:nvSpPr>
        <p:spPr>
          <a:xfrm rot="21240000">
            <a:off x="2715768" y="2176272"/>
            <a:ext cx="6766560" cy="109728"/>
          </a:xfrm>
          <a:prstGeom prst="rect">
            <a:avLst/>
          </a:prstGeom>
          <a:solidFill>
            <a:srgbClr val="E2E8F0"/>
          </a:solidFill>
          <a:ln>
            <a:noFill/>
          </a:ln>
        </p:spPr>
        <p:txBody>
          <a:bodyPr wrap="square" lIns="164592" tIns="109728" rIns="137160" bIns="91440" rtlCol="0" anchor="t">
            <a:noAutofit/>
          </a:bodyPr>
          <a:lstStyle/>
          <a:p>
            <a:endParaRPr lang="en-US"/>
          </a:p>
        </p:txBody>
      </p:sp>
      <p:sp>
        <p:nvSpPr>
          <p:cNvPr id="104" name="s104"/>
          <p:cNvSpPr/>
          <p:nvPr/>
        </p:nvSpPr>
        <p:spPr>
          <a:xfrm>
            <a:off x="5897880" y="2029968"/>
            <a:ext cx="402336" cy="402336"/>
          </a:xfrm>
          <a:prstGeom prst="ellipse">
            <a:avLst/>
          </a:prstGeom>
          <a:solidFill>
            <a:srgbClr val="A78BFA"/>
          </a:solidFill>
          <a:ln w="12700">
            <a:solidFill>
              <a:srgbClr val="FFFFFF"/>
            </a:solidFill>
            <a:prstDash val="solid"/>
          </a:ln>
        </p:spPr>
        <p:txBody>
          <a:bodyPr wrap="square" lIns="164592" tIns="109728" rIns="137160" bIns="91440" rtlCol="0" anchor="ctr">
            <a:noAutofit/>
          </a:bodyPr>
          <a:lstStyle/>
          <a:p>
            <a:pPr marL="0" indent="0" algn="l">
              <a:spcBef>
                <a:spcPts val="0"/>
              </a:spcBef>
              <a:spcAft>
                <a:spcPts val="0"/>
              </a:spcAft>
              <a:buNone/>
            </a:pPr>
            <a:endParaRPr lang="en-US" sz="800" dirty="0"/>
          </a:p>
        </p:txBody>
      </p:sp>
      <p:sp>
        <p:nvSpPr>
          <p:cNvPr id="105" name="s105"/>
          <p:cNvSpPr/>
          <p:nvPr/>
        </p:nvSpPr>
        <p:spPr>
          <a:xfrm>
            <a:off x="5596128" y="2788920"/>
            <a:ext cx="1005840" cy="384048"/>
          </a:xfrm>
          <a:prstGeom prst="roundRect">
            <a:avLst>
              <a:gd name="adj" fmla="val 50000"/>
            </a:avLst>
          </a:prstGeom>
          <a:solidFill>
            <a:srgbClr val="A78BFA"/>
          </a:solidFill>
          <a:ln w="12700">
            <a:solidFill>
              <a:srgbClr val="A78BFA"/>
            </a:solidFill>
            <a:prstDash val="solid"/>
          </a:ln>
        </p:spPr>
        <p:txBody>
          <a:bodyPr wrap="square" lIns="36576" tIns="0" rIns="36576" bIns="0" rtlCol="0" anchor="ctr">
            <a:noAutofit/>
          </a:bodyPr>
          <a:lstStyle/>
          <a:p>
            <a:pPr marL="0" indent="0" algn="ctr">
              <a:spcBef>
                <a:spcPts val="0"/>
              </a:spcBef>
              <a:spcAft>
                <a:spcPts val="0"/>
              </a:spcAft>
              <a:buNone/>
            </a:pPr>
            <a:r>
              <a:rPr lang="en-US" sz="1400" b="1" dirty="0">
                <a:solidFill>
                  <a:srgbClr val="0F172A"/>
                </a:solidFill>
                <a:latin typeface="Segoe UI"/>
                <a:ea typeface="Segoe UI"/>
                <a:cs typeface="Segoe UI"/>
              </a:rPr>
              <a:t>over</a:t>
            </a:r>
            <a:endParaRPr lang="en-US" sz="1400" dirty="0"/>
          </a:p>
        </p:txBody>
      </p:sp>
      <p:cxnSp>
        <p:nvCxnSpPr>
          <p:cNvPr id="106" name="ln106"/>
          <p:cNvCxnSpPr/>
          <p:nvPr/>
        </p:nvCxnSpPr>
        <p:spPr>
          <a:xfrm>
            <a:off x="2734302" y="2584785"/>
            <a:ext cx="0" cy="502920"/>
          </a:xfrm>
          <a:prstGeom prst="line">
            <a:avLst/>
          </a:prstGeom>
          <a:ln w="15875">
            <a:solidFill>
              <a:srgbClr val="94A3B8"/>
            </a:solidFill>
          </a:ln>
        </p:spPr>
      </p:cxnSp>
      <p:cxnSp>
        <p:nvCxnSpPr>
          <p:cNvPr id="107" name="ln107"/>
          <p:cNvCxnSpPr/>
          <p:nvPr/>
        </p:nvCxnSpPr>
        <p:spPr>
          <a:xfrm>
            <a:off x="9463794" y="1877487"/>
            <a:ext cx="0" cy="502920"/>
          </a:xfrm>
          <a:prstGeom prst="line">
            <a:avLst/>
          </a:prstGeom>
          <a:ln w="15875">
            <a:solidFill>
              <a:srgbClr val="94A3B8"/>
            </a:solidFill>
          </a:ln>
        </p:spPr>
      </p:cxnSp>
      <p:sp>
        <p:nvSpPr>
          <p:cNvPr id="108" name="s108"/>
          <p:cNvSpPr/>
          <p:nvPr/>
        </p:nvSpPr>
        <p:spPr>
          <a:xfrm>
            <a:off x="814062" y="3087705"/>
            <a:ext cx="3840480" cy="1828800"/>
          </a:xfrm>
          <a:prstGeom prst="roundRect">
            <a:avLst>
              <a:gd name="adj" fmla="val 10000"/>
            </a:avLst>
          </a:prstGeom>
          <a:solidFill>
            <a:srgbClr val="34D399">
              <a:alpha val="10000"/>
            </a:srgbClr>
          </a:solidFill>
          <a:ln w="22225">
            <a:solidFill>
              <a:srgbClr val="34D399"/>
            </a:solidFill>
            <a:prstDash val="solid"/>
          </a:ln>
        </p:spPr>
        <p:txBody>
          <a:bodyPr wrap="square" lIns="228600" tIns="164592" rIns="182880" bIns="91440" rtlCol="0" anchor="t">
            <a:noAutofit/>
          </a:bodyPr>
          <a:lstStyle/>
          <a:p>
            <a:pPr marL="0" indent="0" algn="l">
              <a:spcBef>
                <a:spcPts val="0"/>
              </a:spcBef>
              <a:spcAft>
                <a:spcPts val="200"/>
              </a:spcAft>
              <a:buNone/>
            </a:pPr>
            <a:r>
              <a:rPr lang="en-US" sz="1050" b="1" dirty="0">
                <a:solidFill>
                  <a:srgbClr val="34D399"/>
                </a:solidFill>
                <a:latin typeface="Segoe UI"/>
                <a:ea typeface="Segoe UI"/>
                <a:cs typeface="Segoe UI"/>
              </a:rPr>
              <a:t>WE VALUE MORE</a:t>
            </a:r>
            <a:endParaRPr lang="en-US" sz="1050" dirty="0"/>
          </a:p>
          <a:p>
            <a:pPr marL="0" indent="0" algn="l">
              <a:spcBef>
                <a:spcPts val="0"/>
              </a:spcBef>
              <a:spcAft>
                <a:spcPts val="600"/>
              </a:spcAft>
              <a:buNone/>
            </a:pPr>
            <a:r>
              <a:rPr lang="en-US" sz="1700" b="1" dirty="0">
                <a:solidFill>
                  <a:srgbClr val="FFFFFF"/>
                </a:solidFill>
                <a:latin typeface="Segoe UI"/>
                <a:ea typeface="Segoe UI"/>
                <a:cs typeface="Segoe UI"/>
              </a:rPr>
              <a:t>The LEFT side</a:t>
            </a:r>
            <a:endParaRPr lang="en-US" sz="1700" dirty="0"/>
          </a:p>
          <a:p>
            <a:pPr marL="0" indent="0" algn="l">
              <a:spcBef>
                <a:spcPts val="0"/>
              </a:spcBef>
              <a:spcAft>
                <a:spcPts val="0"/>
              </a:spcAft>
              <a:buNone/>
            </a:pPr>
            <a:r>
              <a:rPr lang="en-US" sz="1200" b="0" dirty="0">
                <a:solidFill>
                  <a:srgbClr val="E2E8F0"/>
                </a:solidFill>
                <a:latin typeface="Segoe UI"/>
                <a:ea typeface="Segoe UI"/>
                <a:cs typeface="Segoe UI"/>
              </a:rPr>
              <a:t>People, working software, collaboration and adapting to change get priority when time and attention are limited.</a:t>
            </a:r>
            <a:endParaRPr lang="en-US" sz="1200" dirty="0"/>
          </a:p>
        </p:txBody>
      </p:sp>
      <p:sp>
        <p:nvSpPr>
          <p:cNvPr id="109" name="s109"/>
          <p:cNvSpPr/>
          <p:nvPr/>
        </p:nvSpPr>
        <p:spPr>
          <a:xfrm>
            <a:off x="7543554" y="2380407"/>
            <a:ext cx="3840480" cy="1828800"/>
          </a:xfrm>
          <a:prstGeom prst="roundRect">
            <a:avLst>
              <a:gd name="adj" fmla="val 10000"/>
            </a:avLst>
          </a:prstGeom>
          <a:solidFill>
            <a:srgbClr val="111B2E"/>
          </a:solidFill>
          <a:ln w="12700">
            <a:solidFill>
              <a:srgbClr val="94A3B8"/>
            </a:solidFill>
            <a:prstDash val="solid"/>
          </a:ln>
        </p:spPr>
        <p:txBody>
          <a:bodyPr wrap="square" lIns="228600" tIns="164592" rIns="182880" bIns="91440" rtlCol="0" anchor="t">
            <a:noAutofit/>
          </a:bodyPr>
          <a:lstStyle/>
          <a:p>
            <a:pPr marL="0" indent="0" algn="l">
              <a:spcBef>
                <a:spcPts val="0"/>
              </a:spcBef>
              <a:spcAft>
                <a:spcPts val="200"/>
              </a:spcAft>
              <a:buNone/>
            </a:pPr>
            <a:r>
              <a:rPr lang="en-US" sz="1050" b="1" dirty="0">
                <a:solidFill>
                  <a:srgbClr val="94A3B8"/>
                </a:solidFill>
                <a:latin typeface="Segoe UI"/>
                <a:ea typeface="Segoe UI"/>
                <a:cs typeface="Segoe UI"/>
              </a:rPr>
              <a:t>STILL USEFUL</a:t>
            </a:r>
            <a:endParaRPr lang="en-US" sz="1050" dirty="0"/>
          </a:p>
          <a:p>
            <a:pPr marL="0" indent="0" algn="l">
              <a:spcBef>
                <a:spcPts val="0"/>
              </a:spcBef>
              <a:spcAft>
                <a:spcPts val="600"/>
              </a:spcAft>
              <a:buNone/>
            </a:pPr>
            <a:r>
              <a:rPr lang="en-US" sz="1700" b="1" dirty="0">
                <a:solidFill>
                  <a:srgbClr val="FFFFFF"/>
                </a:solidFill>
                <a:latin typeface="Segoe UI"/>
                <a:ea typeface="Segoe UI"/>
                <a:cs typeface="Segoe UI"/>
              </a:rPr>
              <a:t>The RIGHT side</a:t>
            </a:r>
            <a:endParaRPr lang="en-US" sz="1700" dirty="0"/>
          </a:p>
          <a:p>
            <a:pPr marL="0" indent="0" algn="l">
              <a:spcBef>
                <a:spcPts val="0"/>
              </a:spcBef>
              <a:spcAft>
                <a:spcPts val="0"/>
              </a:spcAft>
              <a:buNone/>
            </a:pPr>
            <a:r>
              <a:rPr lang="en-US" sz="1200" b="0" dirty="0">
                <a:solidFill>
                  <a:srgbClr val="E2E8F0"/>
                </a:solidFill>
                <a:latin typeface="Segoe UI"/>
                <a:ea typeface="Segoe UI"/>
                <a:cs typeface="Segoe UI"/>
              </a:rPr>
              <a:t>Processes, docs, contracts and plans still matter. Agile does NOT mean 'no docs' or 'no plan'.</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childTnLst>
                                </p:cTn>
                              </p:par>
                              <p:par>
                                <p:cTn id="8" presetID="22" presetClass="entr" presetSubtype="4" fill="hold" grpId="0" nodeType="withEffect">
                                  <p:stCondLst>
                                    <p:cond delay="150"/>
                                  </p:stCondLst>
                                  <p:childTnLst>
                                    <p:set>
                                      <p:cBhvr>
                                        <p:cTn id="9" dur="1" fill="hold">
                                          <p:stCondLst>
                                            <p:cond delay="0"/>
                                          </p:stCondLst>
                                        </p:cTn>
                                        <p:tgtEl>
                                          <p:spTgt spid="101"/>
                                        </p:tgtEl>
                                        <p:attrNameLst>
                                          <p:attrName>style.visibility</p:attrName>
                                        </p:attrNameLst>
                                      </p:cBhvr>
                                      <p:to>
                                        <p:strVal val="visible"/>
                                      </p:to>
                                    </p:set>
                                    <p:animEffect transition="in" filter="wipe(down)">
                                      <p:cBhvr>
                                        <p:cTn id="10" dur="500"/>
                                        <p:tgtEl>
                                          <p:spTgt spid="101"/>
                                        </p:tgtEl>
                                      </p:cBhvr>
                                    </p:animEffect>
                                  </p:childTnLst>
                                </p:cTn>
                              </p:par>
                              <p:par>
                                <p:cTn id="11" presetID="53" presetClass="entr" presetSubtype="16" fill="hold" grpId="0" nodeType="withEffect">
                                  <p:stCondLst>
                                    <p:cond delay="300"/>
                                  </p:stCondLst>
                                  <p:childTnLst>
                                    <p:set>
                                      <p:cBhvr>
                                        <p:cTn id="12" dur="1" fill="hold">
                                          <p:stCondLst>
                                            <p:cond delay="0"/>
                                          </p:stCondLst>
                                        </p:cTn>
                                        <p:tgtEl>
                                          <p:spTgt spid="103"/>
                                        </p:tgtEl>
                                        <p:attrNameLst>
                                          <p:attrName>style.visibility</p:attrName>
                                        </p:attrNameLst>
                                      </p:cBhvr>
                                      <p:to>
                                        <p:strVal val="visible"/>
                                      </p:to>
                                    </p:set>
                                    <p:anim calcmode="lin" valueType="num">
                                      <p:cBhvr additive="base">
                                        <p:cTn id="13"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4" dur="500" decel="100000" fill="hold"/>
                                        <p:tgtEl>
                                          <p:spTgt spid="103"/>
                                        </p:tgtEl>
                                        <p:attrNameLst>
                                          <p:attrName>ppt_h</p:attrName>
                                        </p:attrNameLst>
                                      </p:cBhvr>
                                      <p:tavLst>
                                        <p:tav tm="0">
                                          <p:val>
                                            <p:strVal val="#ppt_h*0.55"/>
                                          </p:val>
                                        </p:tav>
                                        <p:tav tm="100000">
                                          <p:val>
                                            <p:strVal val="#ppt_h"/>
                                          </p:val>
                                        </p:tav>
                                      </p:tavLst>
                                    </p:anim>
                                    <p:animEffect transition="in" filter="fade">
                                      <p:cBhvr>
                                        <p:cTn id="15" dur="500"/>
                                        <p:tgtEl>
                                          <p:spTgt spid="103"/>
                                        </p:tgtEl>
                                      </p:cBhvr>
                                    </p:animEffect>
                                  </p:childTnLst>
                                </p:cTn>
                              </p:par>
                              <p:par>
                                <p:cTn id="16" presetID="53" presetClass="entr" presetSubtype="16" fill="hold" grpId="0" nodeType="withEffect">
                                  <p:stCondLst>
                                    <p:cond delay="450"/>
                                  </p:stCondLst>
                                  <p:childTnLst>
                                    <p:set>
                                      <p:cBhvr>
                                        <p:cTn id="17" dur="1" fill="hold">
                                          <p:stCondLst>
                                            <p:cond delay="0"/>
                                          </p:stCondLst>
                                        </p:cTn>
                                        <p:tgtEl>
                                          <p:spTgt spid="104"/>
                                        </p:tgtEl>
                                        <p:attrNameLst>
                                          <p:attrName>style.visibility</p:attrName>
                                        </p:attrNameLst>
                                      </p:cBhvr>
                                      <p:to>
                                        <p:strVal val="visible"/>
                                      </p:to>
                                    </p:set>
                                    <p:anim calcmode="lin" valueType="num">
                                      <p:cBhvr additive="base">
                                        <p:cTn id="18"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19" dur="500" decel="100000" fill="hold"/>
                                        <p:tgtEl>
                                          <p:spTgt spid="104"/>
                                        </p:tgtEl>
                                        <p:attrNameLst>
                                          <p:attrName>ppt_h</p:attrName>
                                        </p:attrNameLst>
                                      </p:cBhvr>
                                      <p:tavLst>
                                        <p:tav tm="0">
                                          <p:val>
                                            <p:strVal val="#ppt_h*0.3"/>
                                          </p:val>
                                        </p:tav>
                                        <p:tav tm="100000">
                                          <p:val>
                                            <p:strVal val="#ppt_h*1.08"/>
                                          </p:val>
                                        </p:tav>
                                      </p:tavLst>
                                    </p:anim>
                                    <p:animEffect transition="in" filter="fade">
                                      <p:cBhvr>
                                        <p:cTn id="20" dur="250"/>
                                        <p:tgtEl>
                                          <p:spTgt spid="104"/>
                                        </p:tgtEl>
                                      </p:cBhvr>
                                    </p:animEffect>
                                    <p:anim calcmode="lin" valueType="num">
                                      <p:cBhvr additive="base">
                                        <p:cTn id="21"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22"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wipe(up)">
                                      <p:cBhvr>
                                        <p:cTn id="27" dur="500"/>
                                        <p:tgtEl>
                                          <p:spTgt spid="106"/>
                                        </p:tgtEl>
                                      </p:cBhvr>
                                    </p:animEffect>
                                  </p:childTnLst>
                                </p:cTn>
                              </p:par>
                              <p:par>
                                <p:cTn id="28" presetID="42" presetClass="entr" presetSubtype="0" fill="hold" grpId="0" nodeType="withEffect">
                                  <p:stCondLst>
                                    <p:cond delay="120"/>
                                  </p:stCondLst>
                                  <p:childTnLst>
                                    <p:set>
                                      <p:cBhvr>
                                        <p:cTn id="29" dur="1" fill="hold">
                                          <p:stCondLst>
                                            <p:cond delay="0"/>
                                          </p:stCondLst>
                                        </p:cTn>
                                        <p:tgtEl>
                                          <p:spTgt spid="108"/>
                                        </p:tgtEl>
                                        <p:attrNameLst>
                                          <p:attrName>style.visibility</p:attrName>
                                        </p:attrNameLst>
                                      </p:cBhvr>
                                      <p:to>
                                        <p:strVal val="visible"/>
                                      </p:to>
                                    </p:set>
                                    <p:animEffect transition="in" filter="fade">
                                      <p:cBhvr>
                                        <p:cTn id="30" dur="500"/>
                                        <p:tgtEl>
                                          <p:spTgt spid="108"/>
                                        </p:tgtEl>
                                      </p:cBhvr>
                                    </p:animEffect>
                                    <p:anim calcmode="lin" valueType="num">
                                      <p:cBhvr additive="base">
                                        <p:cTn id="31" dur="500" decel="100000" fill="hold"/>
                                        <p:tgtEl>
                                          <p:spTgt spid="108"/>
                                        </p:tgtEl>
                                        <p:attrNameLst>
                                          <p:attrName>ppt_y</p:attrName>
                                        </p:attrNameLst>
                                      </p:cBhvr>
                                      <p:tavLst>
                                        <p:tav tm="0">
                                          <p:val>
                                            <p:strVal val="#ppt_y-0.06"/>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2" presetClass="entr" presetSubtype="1" fill="hold" nodeType="clickEffect">
                                  <p:stCondLst>
                                    <p:cond delay="0"/>
                                  </p:stCondLst>
                                  <p:childTnLst>
                                    <p:set>
                                      <p:cBhvr>
                                        <p:cTn id="35" dur="1" fill="hold">
                                          <p:stCondLst>
                                            <p:cond delay="0"/>
                                          </p:stCondLst>
                                        </p:cTn>
                                        <p:tgtEl>
                                          <p:spTgt spid="107"/>
                                        </p:tgtEl>
                                        <p:attrNameLst>
                                          <p:attrName>style.visibility</p:attrName>
                                        </p:attrNameLst>
                                      </p:cBhvr>
                                      <p:to>
                                        <p:strVal val="visible"/>
                                      </p:to>
                                    </p:set>
                                    <p:animEffect transition="in" filter="wipe(up)">
                                      <p:cBhvr>
                                        <p:cTn id="36" dur="500"/>
                                        <p:tgtEl>
                                          <p:spTgt spid="107"/>
                                        </p:tgtEl>
                                      </p:cBhvr>
                                    </p:animEffect>
                                  </p:childTnLst>
                                </p:cTn>
                              </p:par>
                              <p:par>
                                <p:cTn id="37" presetID="42" presetClass="entr" presetSubtype="0" fill="hold" grpId="0" nodeType="withEffect">
                                  <p:stCondLst>
                                    <p:cond delay="12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105"/>
                                        </p:tgtEl>
                                        <p:attrNameLst>
                                          <p:attrName>style.visibility</p:attrName>
                                        </p:attrNameLst>
                                      </p:cBhvr>
                                      <p:to>
                                        <p:strVal val="visible"/>
                                      </p:to>
                                    </p:set>
                                    <p:anim calcmode="lin" valueType="num">
                                      <p:cBhvr additive="base">
                                        <p:cTn id="45" dur="500" decel="100000" fill="hold"/>
                                        <p:tgtEl>
                                          <p:spTgt spid="105"/>
                                        </p:tgtEl>
                                        <p:attrNameLst>
                                          <p:attrName>ppt_w</p:attrName>
                                        </p:attrNameLst>
                                      </p:cBhvr>
                                      <p:tavLst>
                                        <p:tav tm="0">
                                          <p:val>
                                            <p:strVal val="#ppt_w*0.3"/>
                                          </p:val>
                                        </p:tav>
                                        <p:tav tm="100000">
                                          <p:val>
                                            <p:strVal val="#ppt_w*1.08"/>
                                          </p:val>
                                        </p:tav>
                                      </p:tavLst>
                                    </p:anim>
                                    <p:anim calcmode="lin" valueType="num">
                                      <p:cBhvr additive="base">
                                        <p:cTn id="46" dur="500" decel="100000" fill="hold"/>
                                        <p:tgtEl>
                                          <p:spTgt spid="105"/>
                                        </p:tgtEl>
                                        <p:attrNameLst>
                                          <p:attrName>ppt_h</p:attrName>
                                        </p:attrNameLst>
                                      </p:cBhvr>
                                      <p:tavLst>
                                        <p:tav tm="0">
                                          <p:val>
                                            <p:strVal val="#ppt_h*0.3"/>
                                          </p:val>
                                        </p:tav>
                                        <p:tav tm="100000">
                                          <p:val>
                                            <p:strVal val="#ppt_h*1.08"/>
                                          </p:val>
                                        </p:tav>
                                      </p:tavLst>
                                    </p:anim>
                                    <p:animEffect transition="in" filter="fade">
                                      <p:cBhvr>
                                        <p:cTn id="47" dur="250"/>
                                        <p:tgtEl>
                                          <p:spTgt spid="105"/>
                                        </p:tgtEl>
                                      </p:cBhvr>
                                    </p:animEffect>
                                    <p:anim calcmode="lin" valueType="num">
                                      <p:cBhvr additive="base">
                                        <p:cTn id="48" dur="160" fill="hold">
                                          <p:stCondLst>
                                            <p:cond delay="500"/>
                                          </p:stCondLst>
                                        </p:cTn>
                                        <p:tgtEl>
                                          <p:spTgt spid="105"/>
                                        </p:tgtEl>
                                        <p:attrNameLst>
                                          <p:attrName>ppt_w</p:attrName>
                                        </p:attrNameLst>
                                      </p:cBhvr>
                                      <p:tavLst>
                                        <p:tav tm="0">
                                          <p:val>
                                            <p:strVal val="#ppt_w*1.08"/>
                                          </p:val>
                                        </p:tav>
                                        <p:tav tm="100000">
                                          <p:val>
                                            <p:strVal val="#ppt_w"/>
                                          </p:val>
                                        </p:tav>
                                      </p:tavLst>
                                    </p:anim>
                                    <p:anim calcmode="lin" valueType="num">
                                      <p:cBhvr additive="base">
                                        <p:cTn id="49" dur="160" fill="hold">
                                          <p:stCondLst>
                                            <p:cond delay="500"/>
                                          </p:stCondLst>
                                        </p:cTn>
                                        <p:tgtEl>
                                          <p:spTgt spid="105"/>
                                        </p:tgtEl>
                                        <p:attrNameLst>
                                          <p:attrName>ppt_h</p:attrName>
                                        </p:attrNameLst>
                                      </p:cBhvr>
                                      <p:tavLst>
                                        <p:tav tm="0">
                                          <p:val>
                                            <p:strVal val="#ppt_h*1.08"/>
                                          </p:val>
                                        </p:tav>
                                        <p:tav tm="100000">
                                          <p:val>
                                            <p:strVal val="#ppt_h"/>
                                          </p:val>
                                        </p:tav>
                                      </p:tavLst>
                                    </p:anim>
                                  </p:childTnLst>
                                </p:cTn>
                              </p:par>
                              <p:par>
                                <p:cTn id="50" presetID="6" presetClass="emph" presetSubtype="0" fill="hold" grpId="1" nodeType="withEffect">
                                  <p:stCondLst>
                                    <p:cond delay="250"/>
                                  </p:stCondLst>
                                  <p:childTnLst>
                                    <p:animScale>
                                      <p:cBhvr>
                                        <p:cTn id="51" dur="250" autoRev="1" fill="hold"/>
                                        <p:tgtEl>
                                          <p:spTgt spid="105"/>
                                        </p:tgtEl>
                                      </p:cBhvr>
                                      <p:by x="112000" y="112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5" grpId="1" animBg="1"/>
      <p:bldP spid="108" grpId="0" animBg="1"/>
      <p:bldP spid="109"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MAP</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4 Core Values at a Glance</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MANIFESTO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202</a:t>
            </a:r>
            <a:endParaRPr lang="en-US" sz="850" dirty="0"/>
          </a:p>
        </p:txBody>
      </p:sp>
      <p:sp>
        <p:nvSpPr>
          <p:cNvPr id="101" name="s101"/>
          <p:cNvSpPr/>
          <p:nvPr/>
        </p:nvSpPr>
        <p:spPr>
          <a:xfrm>
            <a:off x="543154" y="1828800"/>
            <a:ext cx="11088014" cy="804672"/>
          </a:xfrm>
          <a:prstGeom prst="roundRect">
            <a:avLst>
              <a:gd name="adj" fmla="val 12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02" name="s102"/>
          <p:cNvSpPr txBox="1"/>
          <p:nvPr/>
        </p:nvSpPr>
        <p:spPr>
          <a:xfrm>
            <a:off x="771754" y="1828800"/>
            <a:ext cx="548640" cy="8046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2000" b="1" dirty="0">
                <a:solidFill>
                  <a:srgbClr val="13D0F7"/>
                </a:solidFill>
                <a:latin typeface="Segoe UI"/>
                <a:ea typeface="Segoe UI"/>
                <a:cs typeface="Segoe UI"/>
              </a:rPr>
              <a:t>01</a:t>
            </a:r>
            <a:endParaRPr lang="en-US" sz="2000" dirty="0"/>
          </a:p>
        </p:txBody>
      </p:sp>
      <p:sp>
        <p:nvSpPr>
          <p:cNvPr id="103" name="s103"/>
          <p:cNvSpPr/>
          <p:nvPr/>
        </p:nvSpPr>
        <p:spPr>
          <a:xfrm>
            <a:off x="1411834" y="1984248"/>
            <a:ext cx="493776" cy="493776"/>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04" name="img104"/>
          <p:cNvPicPr>
            <a:picLocks noChangeAspect="1"/>
          </p:cNvPicPr>
          <p:nvPr/>
        </p:nvPicPr>
        <p:blipFill>
          <a:blip r:embed="rId4"/>
          <a:stretch>
            <a:fillRect/>
          </a:stretch>
        </p:blipFill>
        <p:spPr>
          <a:xfrm>
            <a:off x="1530340" y="2102754"/>
            <a:ext cx="256764" cy="256764"/>
          </a:xfrm>
          <a:prstGeom prst="rect">
            <a:avLst/>
          </a:prstGeom>
        </p:spPr>
      </p:pic>
      <p:sp>
        <p:nvSpPr>
          <p:cNvPr id="105" name="s105"/>
          <p:cNvSpPr txBox="1"/>
          <p:nvPr/>
        </p:nvSpPr>
        <p:spPr>
          <a:xfrm>
            <a:off x="2097634" y="1828800"/>
            <a:ext cx="4389120" cy="8046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900" b="1" dirty="0">
                <a:solidFill>
                  <a:srgbClr val="FFFFFF"/>
                </a:solidFill>
                <a:latin typeface="Segoe UI"/>
                <a:ea typeface="Segoe UI"/>
                <a:cs typeface="Segoe UI"/>
              </a:rPr>
              <a:t>Individuals and Interactions</a:t>
            </a:r>
            <a:endParaRPr lang="en-US" sz="1900" dirty="0"/>
          </a:p>
        </p:txBody>
      </p:sp>
      <p:sp>
        <p:nvSpPr>
          <p:cNvPr id="106" name="s106"/>
          <p:cNvSpPr/>
          <p:nvPr/>
        </p:nvSpPr>
        <p:spPr>
          <a:xfrm>
            <a:off x="6532474" y="2057400"/>
            <a:ext cx="777240" cy="347472"/>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13D0F7"/>
                </a:solidFill>
                <a:latin typeface="Segoe UI"/>
                <a:ea typeface="Segoe UI"/>
                <a:cs typeface="Segoe UI"/>
              </a:rPr>
              <a:t>over</a:t>
            </a:r>
            <a:endParaRPr lang="en-US" sz="1200" dirty="0"/>
          </a:p>
        </p:txBody>
      </p:sp>
      <p:sp>
        <p:nvSpPr>
          <p:cNvPr id="107" name="s107"/>
          <p:cNvSpPr txBox="1"/>
          <p:nvPr/>
        </p:nvSpPr>
        <p:spPr>
          <a:xfrm>
            <a:off x="7538314" y="1828800"/>
            <a:ext cx="3931920" cy="8046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0" dirty="0">
                <a:solidFill>
                  <a:srgbClr val="94A3B8"/>
                </a:solidFill>
                <a:latin typeface="Segoe UI"/>
                <a:ea typeface="Segoe UI"/>
                <a:cs typeface="Segoe UI"/>
              </a:rPr>
              <a:t>processes and tools</a:t>
            </a:r>
            <a:endParaRPr lang="en-US" sz="1600" dirty="0"/>
          </a:p>
        </p:txBody>
      </p:sp>
      <p:sp>
        <p:nvSpPr>
          <p:cNvPr id="108" name="s108"/>
          <p:cNvSpPr/>
          <p:nvPr/>
        </p:nvSpPr>
        <p:spPr>
          <a:xfrm>
            <a:off x="543154" y="2788920"/>
            <a:ext cx="11088014" cy="804672"/>
          </a:xfrm>
          <a:prstGeom prst="roundRect">
            <a:avLst>
              <a:gd name="adj" fmla="val 12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09" name="s109"/>
          <p:cNvSpPr txBox="1"/>
          <p:nvPr/>
        </p:nvSpPr>
        <p:spPr>
          <a:xfrm>
            <a:off x="771754" y="2788920"/>
            <a:ext cx="548640" cy="8046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2000" b="1" dirty="0">
                <a:solidFill>
                  <a:srgbClr val="34D399"/>
                </a:solidFill>
                <a:latin typeface="Segoe UI"/>
                <a:ea typeface="Segoe UI"/>
                <a:cs typeface="Segoe UI"/>
              </a:rPr>
              <a:t>02</a:t>
            </a:r>
            <a:endParaRPr lang="en-US" sz="2000" dirty="0"/>
          </a:p>
        </p:txBody>
      </p:sp>
      <p:sp>
        <p:nvSpPr>
          <p:cNvPr id="110" name="s110"/>
          <p:cNvSpPr/>
          <p:nvPr/>
        </p:nvSpPr>
        <p:spPr>
          <a:xfrm>
            <a:off x="1411834" y="2944368"/>
            <a:ext cx="493776" cy="493776"/>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11" name="img111"/>
          <p:cNvPicPr>
            <a:picLocks noChangeAspect="1"/>
          </p:cNvPicPr>
          <p:nvPr/>
        </p:nvPicPr>
        <p:blipFill>
          <a:blip r:embed="rId5"/>
          <a:stretch>
            <a:fillRect/>
          </a:stretch>
        </p:blipFill>
        <p:spPr>
          <a:xfrm>
            <a:off x="1530340" y="3062874"/>
            <a:ext cx="256764" cy="256764"/>
          </a:xfrm>
          <a:prstGeom prst="rect">
            <a:avLst/>
          </a:prstGeom>
        </p:spPr>
      </p:pic>
      <p:sp>
        <p:nvSpPr>
          <p:cNvPr id="112" name="s112"/>
          <p:cNvSpPr txBox="1"/>
          <p:nvPr/>
        </p:nvSpPr>
        <p:spPr>
          <a:xfrm>
            <a:off x="2097634" y="2788920"/>
            <a:ext cx="4389120" cy="8046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900" b="1" dirty="0">
                <a:solidFill>
                  <a:srgbClr val="FFFFFF"/>
                </a:solidFill>
                <a:latin typeface="Segoe UI"/>
                <a:ea typeface="Segoe UI"/>
                <a:cs typeface="Segoe UI"/>
              </a:rPr>
              <a:t>Working Software</a:t>
            </a:r>
            <a:endParaRPr lang="en-US" sz="1900" dirty="0"/>
          </a:p>
        </p:txBody>
      </p:sp>
      <p:sp>
        <p:nvSpPr>
          <p:cNvPr id="113" name="s113"/>
          <p:cNvSpPr/>
          <p:nvPr/>
        </p:nvSpPr>
        <p:spPr>
          <a:xfrm>
            <a:off x="6532474" y="3017520"/>
            <a:ext cx="777240" cy="347472"/>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34D399"/>
                </a:solidFill>
                <a:latin typeface="Segoe UI"/>
                <a:ea typeface="Segoe UI"/>
                <a:cs typeface="Segoe UI"/>
              </a:rPr>
              <a:t>over</a:t>
            </a:r>
            <a:endParaRPr lang="en-US" sz="1200" dirty="0"/>
          </a:p>
        </p:txBody>
      </p:sp>
      <p:sp>
        <p:nvSpPr>
          <p:cNvPr id="114" name="s114"/>
          <p:cNvSpPr txBox="1"/>
          <p:nvPr/>
        </p:nvSpPr>
        <p:spPr>
          <a:xfrm>
            <a:off x="7538314" y="2788920"/>
            <a:ext cx="3931920" cy="8046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0" dirty="0">
                <a:solidFill>
                  <a:srgbClr val="94A3B8"/>
                </a:solidFill>
                <a:latin typeface="Segoe UI"/>
                <a:ea typeface="Segoe UI"/>
                <a:cs typeface="Segoe UI"/>
              </a:rPr>
              <a:t>comprehensive documentation</a:t>
            </a:r>
            <a:endParaRPr lang="en-US" sz="1600" dirty="0"/>
          </a:p>
        </p:txBody>
      </p:sp>
      <p:sp>
        <p:nvSpPr>
          <p:cNvPr id="115" name="s115"/>
          <p:cNvSpPr/>
          <p:nvPr/>
        </p:nvSpPr>
        <p:spPr>
          <a:xfrm>
            <a:off x="543154" y="3749040"/>
            <a:ext cx="11088014" cy="804672"/>
          </a:xfrm>
          <a:prstGeom prst="roundRect">
            <a:avLst>
              <a:gd name="adj" fmla="val 12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16" name="s116"/>
          <p:cNvSpPr txBox="1"/>
          <p:nvPr/>
        </p:nvSpPr>
        <p:spPr>
          <a:xfrm>
            <a:off x="771754" y="3749040"/>
            <a:ext cx="548640" cy="8046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2000" b="1" dirty="0">
                <a:solidFill>
                  <a:srgbClr val="FBBF24"/>
                </a:solidFill>
                <a:latin typeface="Segoe UI"/>
                <a:ea typeface="Segoe UI"/>
                <a:cs typeface="Segoe UI"/>
              </a:rPr>
              <a:t>03</a:t>
            </a:r>
            <a:endParaRPr lang="en-US" sz="2000" dirty="0"/>
          </a:p>
        </p:txBody>
      </p:sp>
      <p:sp>
        <p:nvSpPr>
          <p:cNvPr id="117" name="s117"/>
          <p:cNvSpPr/>
          <p:nvPr/>
        </p:nvSpPr>
        <p:spPr>
          <a:xfrm>
            <a:off x="1411834" y="3904488"/>
            <a:ext cx="493776" cy="493776"/>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8" name="img118"/>
          <p:cNvPicPr>
            <a:picLocks noChangeAspect="1"/>
          </p:cNvPicPr>
          <p:nvPr/>
        </p:nvPicPr>
        <p:blipFill>
          <a:blip r:embed="rId6"/>
          <a:stretch>
            <a:fillRect/>
          </a:stretch>
        </p:blipFill>
        <p:spPr>
          <a:xfrm>
            <a:off x="1530340" y="4022994"/>
            <a:ext cx="256764" cy="256764"/>
          </a:xfrm>
          <a:prstGeom prst="rect">
            <a:avLst/>
          </a:prstGeom>
        </p:spPr>
      </p:pic>
      <p:sp>
        <p:nvSpPr>
          <p:cNvPr id="119" name="s119"/>
          <p:cNvSpPr txBox="1"/>
          <p:nvPr/>
        </p:nvSpPr>
        <p:spPr>
          <a:xfrm>
            <a:off x="2097634" y="3749040"/>
            <a:ext cx="4389120" cy="8046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900" b="1" dirty="0">
                <a:solidFill>
                  <a:srgbClr val="FFFFFF"/>
                </a:solidFill>
                <a:latin typeface="Segoe UI"/>
                <a:ea typeface="Segoe UI"/>
                <a:cs typeface="Segoe UI"/>
              </a:rPr>
              <a:t>Customer Collaboration</a:t>
            </a:r>
            <a:endParaRPr lang="en-US" sz="1900" dirty="0"/>
          </a:p>
        </p:txBody>
      </p:sp>
      <p:sp>
        <p:nvSpPr>
          <p:cNvPr id="120" name="s120"/>
          <p:cNvSpPr/>
          <p:nvPr/>
        </p:nvSpPr>
        <p:spPr>
          <a:xfrm>
            <a:off x="6532474" y="3977640"/>
            <a:ext cx="777240" cy="347472"/>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FBBF24"/>
                </a:solidFill>
                <a:latin typeface="Segoe UI"/>
                <a:ea typeface="Segoe UI"/>
                <a:cs typeface="Segoe UI"/>
              </a:rPr>
              <a:t>over</a:t>
            </a:r>
            <a:endParaRPr lang="en-US" sz="1200" dirty="0"/>
          </a:p>
        </p:txBody>
      </p:sp>
      <p:sp>
        <p:nvSpPr>
          <p:cNvPr id="121" name="s121"/>
          <p:cNvSpPr txBox="1"/>
          <p:nvPr/>
        </p:nvSpPr>
        <p:spPr>
          <a:xfrm>
            <a:off x="7538314" y="3749040"/>
            <a:ext cx="3931920" cy="8046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0" dirty="0">
                <a:solidFill>
                  <a:srgbClr val="94A3B8"/>
                </a:solidFill>
                <a:latin typeface="Segoe UI"/>
                <a:ea typeface="Segoe UI"/>
                <a:cs typeface="Segoe UI"/>
              </a:rPr>
              <a:t>contract negotiation</a:t>
            </a:r>
            <a:endParaRPr lang="en-US" sz="1600" dirty="0"/>
          </a:p>
        </p:txBody>
      </p:sp>
      <p:sp>
        <p:nvSpPr>
          <p:cNvPr id="122" name="s122"/>
          <p:cNvSpPr/>
          <p:nvPr/>
        </p:nvSpPr>
        <p:spPr>
          <a:xfrm>
            <a:off x="543154" y="4709160"/>
            <a:ext cx="11088014" cy="804672"/>
          </a:xfrm>
          <a:prstGeom prst="roundRect">
            <a:avLst>
              <a:gd name="adj" fmla="val 12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23" name="s123"/>
          <p:cNvSpPr txBox="1"/>
          <p:nvPr/>
        </p:nvSpPr>
        <p:spPr>
          <a:xfrm>
            <a:off x="771754" y="4709160"/>
            <a:ext cx="548640" cy="8046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2000" b="1" dirty="0">
                <a:solidFill>
                  <a:srgbClr val="A78BFA"/>
                </a:solidFill>
                <a:latin typeface="Segoe UI"/>
                <a:ea typeface="Segoe UI"/>
                <a:cs typeface="Segoe UI"/>
              </a:rPr>
              <a:t>04</a:t>
            </a:r>
            <a:endParaRPr lang="en-US" sz="2000" dirty="0"/>
          </a:p>
        </p:txBody>
      </p:sp>
      <p:sp>
        <p:nvSpPr>
          <p:cNvPr id="124" name="s124"/>
          <p:cNvSpPr/>
          <p:nvPr/>
        </p:nvSpPr>
        <p:spPr>
          <a:xfrm>
            <a:off x="1411834" y="4864608"/>
            <a:ext cx="493776" cy="493776"/>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25" name="img125"/>
          <p:cNvPicPr>
            <a:picLocks noChangeAspect="1"/>
          </p:cNvPicPr>
          <p:nvPr/>
        </p:nvPicPr>
        <p:blipFill>
          <a:blip r:embed="rId7"/>
          <a:stretch>
            <a:fillRect/>
          </a:stretch>
        </p:blipFill>
        <p:spPr>
          <a:xfrm>
            <a:off x="1530340" y="4983114"/>
            <a:ext cx="256764" cy="256764"/>
          </a:xfrm>
          <a:prstGeom prst="rect">
            <a:avLst/>
          </a:prstGeom>
        </p:spPr>
      </p:pic>
      <p:sp>
        <p:nvSpPr>
          <p:cNvPr id="126" name="s126"/>
          <p:cNvSpPr txBox="1"/>
          <p:nvPr/>
        </p:nvSpPr>
        <p:spPr>
          <a:xfrm>
            <a:off x="2097634" y="4709160"/>
            <a:ext cx="4389120" cy="8046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900" b="1" dirty="0">
                <a:solidFill>
                  <a:srgbClr val="FFFFFF"/>
                </a:solidFill>
                <a:latin typeface="Segoe UI"/>
                <a:ea typeface="Segoe UI"/>
                <a:cs typeface="Segoe UI"/>
              </a:rPr>
              <a:t>Responding to Change</a:t>
            </a:r>
            <a:endParaRPr lang="en-US" sz="1900" dirty="0"/>
          </a:p>
        </p:txBody>
      </p:sp>
      <p:sp>
        <p:nvSpPr>
          <p:cNvPr id="127" name="s127"/>
          <p:cNvSpPr/>
          <p:nvPr/>
        </p:nvSpPr>
        <p:spPr>
          <a:xfrm>
            <a:off x="6532474" y="4937760"/>
            <a:ext cx="777240" cy="347472"/>
          </a:xfrm>
          <a:prstGeom prst="roundRect">
            <a:avLst>
              <a:gd name="adj" fmla="val 50000"/>
            </a:avLst>
          </a:prstGeom>
          <a:solidFill>
            <a:srgbClr val="A78BFA">
              <a:alpha val="18000"/>
            </a:srgbClr>
          </a:solidFill>
          <a:ln w="12700">
            <a:solidFill>
              <a:srgbClr val="A78BFA"/>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A78BFA"/>
                </a:solidFill>
                <a:latin typeface="Segoe UI"/>
                <a:ea typeface="Segoe UI"/>
                <a:cs typeface="Segoe UI"/>
              </a:rPr>
              <a:t>over</a:t>
            </a:r>
            <a:endParaRPr lang="en-US" sz="1200" dirty="0"/>
          </a:p>
        </p:txBody>
      </p:sp>
      <p:sp>
        <p:nvSpPr>
          <p:cNvPr id="128" name="s128"/>
          <p:cNvSpPr txBox="1"/>
          <p:nvPr/>
        </p:nvSpPr>
        <p:spPr>
          <a:xfrm>
            <a:off x="7538314" y="4709160"/>
            <a:ext cx="3931920" cy="8046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0" dirty="0">
                <a:solidFill>
                  <a:srgbClr val="94A3B8"/>
                </a:solidFill>
                <a:latin typeface="Segoe UI"/>
                <a:ea typeface="Segoe UI"/>
                <a:cs typeface="Segoe UI"/>
              </a:rPr>
              <a:t>following a plan</a:t>
            </a:r>
            <a:endParaRPr lang="en-US" sz="1600" dirty="0"/>
          </a:p>
        </p:txBody>
      </p:sp>
      <p:sp>
        <p:nvSpPr>
          <p:cNvPr id="129" name="s129"/>
          <p:cNvSpPr txBox="1"/>
          <p:nvPr/>
        </p:nvSpPr>
        <p:spPr>
          <a:xfrm>
            <a:off x="543154" y="5715000"/>
            <a:ext cx="11088014" cy="292608"/>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0" dirty="0">
                <a:solidFill>
                  <a:srgbClr val="94A3B8"/>
                </a:solidFill>
                <a:latin typeface="Segoe UI"/>
                <a:ea typeface="Segoe UI"/>
                <a:cs typeface="Segoe UI"/>
              </a:rPr>
              <a:t>Each value next: define it · ask the class · real Food Delivery case.</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wipe(left)">
                                      <p:cBhvr>
                                        <p:cTn id="7" dur="550"/>
                                        <p:tgtEl>
                                          <p:spTgt spid="10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02"/>
                                        </p:tgtEl>
                                        <p:attrNameLst>
                                          <p:attrName>style.visibility</p:attrName>
                                        </p:attrNameLst>
                                      </p:cBhvr>
                                      <p:to>
                                        <p:strVal val="visible"/>
                                      </p:to>
                                    </p:set>
                                    <p:animEffect transition="in" filter="wipe(left)">
                                      <p:cBhvr>
                                        <p:cTn id="10" dur="550"/>
                                        <p:tgtEl>
                                          <p:spTgt spid="102"/>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wipe(left)">
                                      <p:cBhvr>
                                        <p:cTn id="13" dur="550"/>
                                        <p:tgtEl>
                                          <p:spTgt spid="103"/>
                                        </p:tgtEl>
                                      </p:cBhvr>
                                    </p:animEffect>
                                  </p:childTnLst>
                                </p:cTn>
                              </p:par>
                              <p:par>
                                <p:cTn id="14" presetID="22" presetClass="entr" presetSubtype="8" fill="hold" nodeType="withEffect">
                                  <p:stCondLst>
                                    <p:cond delay="0"/>
                                  </p:stCondLst>
                                  <p:childTnLst>
                                    <p:set>
                                      <p:cBhvr>
                                        <p:cTn id="15" dur="1" fill="hold">
                                          <p:stCondLst>
                                            <p:cond delay="0"/>
                                          </p:stCondLst>
                                        </p:cTn>
                                        <p:tgtEl>
                                          <p:spTgt spid="104"/>
                                        </p:tgtEl>
                                        <p:attrNameLst>
                                          <p:attrName>style.visibility</p:attrName>
                                        </p:attrNameLst>
                                      </p:cBhvr>
                                      <p:to>
                                        <p:strVal val="visible"/>
                                      </p:to>
                                    </p:set>
                                    <p:animEffect transition="in" filter="wipe(left)">
                                      <p:cBhvr>
                                        <p:cTn id="16" dur="550"/>
                                        <p:tgtEl>
                                          <p:spTgt spid="104"/>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wipe(left)">
                                      <p:cBhvr>
                                        <p:cTn id="19" dur="550"/>
                                        <p:tgtEl>
                                          <p:spTgt spid="105"/>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wipe(left)">
                                      <p:cBhvr>
                                        <p:cTn id="22" dur="550"/>
                                        <p:tgtEl>
                                          <p:spTgt spid="106"/>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107"/>
                                        </p:tgtEl>
                                        <p:attrNameLst>
                                          <p:attrName>style.visibility</p:attrName>
                                        </p:attrNameLst>
                                      </p:cBhvr>
                                      <p:to>
                                        <p:strVal val="visible"/>
                                      </p:to>
                                    </p:set>
                                    <p:animEffect transition="in" filter="wipe(left)">
                                      <p:cBhvr>
                                        <p:cTn id="25" dur="550"/>
                                        <p:tgtEl>
                                          <p:spTgt spid="107"/>
                                        </p:tgtEl>
                                      </p:cBhvr>
                                    </p:animEffect>
                                  </p:childTnLst>
                                </p:cTn>
                              </p:par>
                              <p:par>
                                <p:cTn id="26" presetID="22" presetClass="entr" presetSubtype="8" fill="hold" grpId="0" nodeType="withEffect">
                                  <p:stCondLst>
                                    <p:cond delay="220"/>
                                  </p:stCondLst>
                                  <p:childTnLst>
                                    <p:set>
                                      <p:cBhvr>
                                        <p:cTn id="27" dur="1" fill="hold">
                                          <p:stCondLst>
                                            <p:cond delay="0"/>
                                          </p:stCondLst>
                                        </p:cTn>
                                        <p:tgtEl>
                                          <p:spTgt spid="108"/>
                                        </p:tgtEl>
                                        <p:attrNameLst>
                                          <p:attrName>style.visibility</p:attrName>
                                        </p:attrNameLst>
                                      </p:cBhvr>
                                      <p:to>
                                        <p:strVal val="visible"/>
                                      </p:to>
                                    </p:set>
                                    <p:animEffect transition="in" filter="wipe(left)">
                                      <p:cBhvr>
                                        <p:cTn id="28" dur="550"/>
                                        <p:tgtEl>
                                          <p:spTgt spid="108"/>
                                        </p:tgtEl>
                                      </p:cBhvr>
                                    </p:animEffect>
                                  </p:childTnLst>
                                </p:cTn>
                              </p:par>
                              <p:par>
                                <p:cTn id="29" presetID="22" presetClass="entr" presetSubtype="8" fill="hold" grpId="0" nodeType="withEffect">
                                  <p:stCondLst>
                                    <p:cond delay="220"/>
                                  </p:stCondLst>
                                  <p:childTnLst>
                                    <p:set>
                                      <p:cBhvr>
                                        <p:cTn id="30" dur="1" fill="hold">
                                          <p:stCondLst>
                                            <p:cond delay="0"/>
                                          </p:stCondLst>
                                        </p:cTn>
                                        <p:tgtEl>
                                          <p:spTgt spid="109"/>
                                        </p:tgtEl>
                                        <p:attrNameLst>
                                          <p:attrName>style.visibility</p:attrName>
                                        </p:attrNameLst>
                                      </p:cBhvr>
                                      <p:to>
                                        <p:strVal val="visible"/>
                                      </p:to>
                                    </p:set>
                                    <p:animEffect transition="in" filter="wipe(left)">
                                      <p:cBhvr>
                                        <p:cTn id="31" dur="550"/>
                                        <p:tgtEl>
                                          <p:spTgt spid="109"/>
                                        </p:tgtEl>
                                      </p:cBhvr>
                                    </p:animEffect>
                                  </p:childTnLst>
                                </p:cTn>
                              </p:par>
                              <p:par>
                                <p:cTn id="32" presetID="22" presetClass="entr" presetSubtype="8" fill="hold" grpId="0" nodeType="withEffect">
                                  <p:stCondLst>
                                    <p:cond delay="220"/>
                                  </p:stCondLst>
                                  <p:childTnLst>
                                    <p:set>
                                      <p:cBhvr>
                                        <p:cTn id="33" dur="1" fill="hold">
                                          <p:stCondLst>
                                            <p:cond delay="0"/>
                                          </p:stCondLst>
                                        </p:cTn>
                                        <p:tgtEl>
                                          <p:spTgt spid="110"/>
                                        </p:tgtEl>
                                        <p:attrNameLst>
                                          <p:attrName>style.visibility</p:attrName>
                                        </p:attrNameLst>
                                      </p:cBhvr>
                                      <p:to>
                                        <p:strVal val="visible"/>
                                      </p:to>
                                    </p:set>
                                    <p:animEffect transition="in" filter="wipe(left)">
                                      <p:cBhvr>
                                        <p:cTn id="34" dur="550"/>
                                        <p:tgtEl>
                                          <p:spTgt spid="110"/>
                                        </p:tgtEl>
                                      </p:cBhvr>
                                    </p:animEffect>
                                  </p:childTnLst>
                                </p:cTn>
                              </p:par>
                              <p:par>
                                <p:cTn id="35" presetID="22" presetClass="entr" presetSubtype="8" fill="hold" nodeType="withEffect">
                                  <p:stCondLst>
                                    <p:cond delay="220"/>
                                  </p:stCondLst>
                                  <p:childTnLst>
                                    <p:set>
                                      <p:cBhvr>
                                        <p:cTn id="36" dur="1" fill="hold">
                                          <p:stCondLst>
                                            <p:cond delay="0"/>
                                          </p:stCondLst>
                                        </p:cTn>
                                        <p:tgtEl>
                                          <p:spTgt spid="111"/>
                                        </p:tgtEl>
                                        <p:attrNameLst>
                                          <p:attrName>style.visibility</p:attrName>
                                        </p:attrNameLst>
                                      </p:cBhvr>
                                      <p:to>
                                        <p:strVal val="visible"/>
                                      </p:to>
                                    </p:set>
                                    <p:animEffect transition="in" filter="wipe(left)">
                                      <p:cBhvr>
                                        <p:cTn id="37" dur="550"/>
                                        <p:tgtEl>
                                          <p:spTgt spid="111"/>
                                        </p:tgtEl>
                                      </p:cBhvr>
                                    </p:animEffect>
                                  </p:childTnLst>
                                </p:cTn>
                              </p:par>
                              <p:par>
                                <p:cTn id="38" presetID="22" presetClass="entr" presetSubtype="8" fill="hold" grpId="0" nodeType="withEffect">
                                  <p:stCondLst>
                                    <p:cond delay="220"/>
                                  </p:stCondLst>
                                  <p:childTnLst>
                                    <p:set>
                                      <p:cBhvr>
                                        <p:cTn id="39" dur="1" fill="hold">
                                          <p:stCondLst>
                                            <p:cond delay="0"/>
                                          </p:stCondLst>
                                        </p:cTn>
                                        <p:tgtEl>
                                          <p:spTgt spid="112"/>
                                        </p:tgtEl>
                                        <p:attrNameLst>
                                          <p:attrName>style.visibility</p:attrName>
                                        </p:attrNameLst>
                                      </p:cBhvr>
                                      <p:to>
                                        <p:strVal val="visible"/>
                                      </p:to>
                                    </p:set>
                                    <p:animEffect transition="in" filter="wipe(left)">
                                      <p:cBhvr>
                                        <p:cTn id="40" dur="550"/>
                                        <p:tgtEl>
                                          <p:spTgt spid="112"/>
                                        </p:tgtEl>
                                      </p:cBhvr>
                                    </p:animEffect>
                                  </p:childTnLst>
                                </p:cTn>
                              </p:par>
                              <p:par>
                                <p:cTn id="41" presetID="22" presetClass="entr" presetSubtype="8" fill="hold" grpId="0" nodeType="withEffect">
                                  <p:stCondLst>
                                    <p:cond delay="220"/>
                                  </p:stCondLst>
                                  <p:childTnLst>
                                    <p:set>
                                      <p:cBhvr>
                                        <p:cTn id="42" dur="1" fill="hold">
                                          <p:stCondLst>
                                            <p:cond delay="0"/>
                                          </p:stCondLst>
                                        </p:cTn>
                                        <p:tgtEl>
                                          <p:spTgt spid="113"/>
                                        </p:tgtEl>
                                        <p:attrNameLst>
                                          <p:attrName>style.visibility</p:attrName>
                                        </p:attrNameLst>
                                      </p:cBhvr>
                                      <p:to>
                                        <p:strVal val="visible"/>
                                      </p:to>
                                    </p:set>
                                    <p:animEffect transition="in" filter="wipe(left)">
                                      <p:cBhvr>
                                        <p:cTn id="43" dur="550"/>
                                        <p:tgtEl>
                                          <p:spTgt spid="113"/>
                                        </p:tgtEl>
                                      </p:cBhvr>
                                    </p:animEffect>
                                  </p:childTnLst>
                                </p:cTn>
                              </p:par>
                              <p:par>
                                <p:cTn id="44" presetID="22" presetClass="entr" presetSubtype="8" fill="hold" grpId="0" nodeType="withEffect">
                                  <p:stCondLst>
                                    <p:cond delay="220"/>
                                  </p:stCondLst>
                                  <p:childTnLst>
                                    <p:set>
                                      <p:cBhvr>
                                        <p:cTn id="45" dur="1" fill="hold">
                                          <p:stCondLst>
                                            <p:cond delay="0"/>
                                          </p:stCondLst>
                                        </p:cTn>
                                        <p:tgtEl>
                                          <p:spTgt spid="114"/>
                                        </p:tgtEl>
                                        <p:attrNameLst>
                                          <p:attrName>style.visibility</p:attrName>
                                        </p:attrNameLst>
                                      </p:cBhvr>
                                      <p:to>
                                        <p:strVal val="visible"/>
                                      </p:to>
                                    </p:set>
                                    <p:animEffect transition="in" filter="wipe(left)">
                                      <p:cBhvr>
                                        <p:cTn id="46" dur="550"/>
                                        <p:tgtEl>
                                          <p:spTgt spid="114"/>
                                        </p:tgtEl>
                                      </p:cBhvr>
                                    </p:animEffect>
                                  </p:childTnLst>
                                </p:cTn>
                              </p:par>
                              <p:par>
                                <p:cTn id="47" presetID="22" presetClass="entr" presetSubtype="8" fill="hold" grpId="0" nodeType="withEffect">
                                  <p:stCondLst>
                                    <p:cond delay="440"/>
                                  </p:stCondLst>
                                  <p:childTnLst>
                                    <p:set>
                                      <p:cBhvr>
                                        <p:cTn id="48" dur="1" fill="hold">
                                          <p:stCondLst>
                                            <p:cond delay="0"/>
                                          </p:stCondLst>
                                        </p:cTn>
                                        <p:tgtEl>
                                          <p:spTgt spid="115"/>
                                        </p:tgtEl>
                                        <p:attrNameLst>
                                          <p:attrName>style.visibility</p:attrName>
                                        </p:attrNameLst>
                                      </p:cBhvr>
                                      <p:to>
                                        <p:strVal val="visible"/>
                                      </p:to>
                                    </p:set>
                                    <p:animEffect transition="in" filter="wipe(left)">
                                      <p:cBhvr>
                                        <p:cTn id="49" dur="550"/>
                                        <p:tgtEl>
                                          <p:spTgt spid="115"/>
                                        </p:tgtEl>
                                      </p:cBhvr>
                                    </p:animEffect>
                                  </p:childTnLst>
                                </p:cTn>
                              </p:par>
                              <p:par>
                                <p:cTn id="50" presetID="22" presetClass="entr" presetSubtype="8" fill="hold" grpId="0" nodeType="withEffect">
                                  <p:stCondLst>
                                    <p:cond delay="440"/>
                                  </p:stCondLst>
                                  <p:childTnLst>
                                    <p:set>
                                      <p:cBhvr>
                                        <p:cTn id="51" dur="1" fill="hold">
                                          <p:stCondLst>
                                            <p:cond delay="0"/>
                                          </p:stCondLst>
                                        </p:cTn>
                                        <p:tgtEl>
                                          <p:spTgt spid="116"/>
                                        </p:tgtEl>
                                        <p:attrNameLst>
                                          <p:attrName>style.visibility</p:attrName>
                                        </p:attrNameLst>
                                      </p:cBhvr>
                                      <p:to>
                                        <p:strVal val="visible"/>
                                      </p:to>
                                    </p:set>
                                    <p:animEffect transition="in" filter="wipe(left)">
                                      <p:cBhvr>
                                        <p:cTn id="52" dur="550"/>
                                        <p:tgtEl>
                                          <p:spTgt spid="116"/>
                                        </p:tgtEl>
                                      </p:cBhvr>
                                    </p:animEffect>
                                  </p:childTnLst>
                                </p:cTn>
                              </p:par>
                              <p:par>
                                <p:cTn id="53" presetID="22" presetClass="entr" presetSubtype="8" fill="hold" grpId="0" nodeType="withEffect">
                                  <p:stCondLst>
                                    <p:cond delay="440"/>
                                  </p:stCondLst>
                                  <p:childTnLst>
                                    <p:set>
                                      <p:cBhvr>
                                        <p:cTn id="54" dur="1" fill="hold">
                                          <p:stCondLst>
                                            <p:cond delay="0"/>
                                          </p:stCondLst>
                                        </p:cTn>
                                        <p:tgtEl>
                                          <p:spTgt spid="117"/>
                                        </p:tgtEl>
                                        <p:attrNameLst>
                                          <p:attrName>style.visibility</p:attrName>
                                        </p:attrNameLst>
                                      </p:cBhvr>
                                      <p:to>
                                        <p:strVal val="visible"/>
                                      </p:to>
                                    </p:set>
                                    <p:animEffect transition="in" filter="wipe(left)">
                                      <p:cBhvr>
                                        <p:cTn id="55" dur="550"/>
                                        <p:tgtEl>
                                          <p:spTgt spid="117"/>
                                        </p:tgtEl>
                                      </p:cBhvr>
                                    </p:animEffect>
                                  </p:childTnLst>
                                </p:cTn>
                              </p:par>
                              <p:par>
                                <p:cTn id="56" presetID="22" presetClass="entr" presetSubtype="8" fill="hold" nodeType="withEffect">
                                  <p:stCondLst>
                                    <p:cond delay="440"/>
                                  </p:stCondLst>
                                  <p:childTnLst>
                                    <p:set>
                                      <p:cBhvr>
                                        <p:cTn id="57" dur="1" fill="hold">
                                          <p:stCondLst>
                                            <p:cond delay="0"/>
                                          </p:stCondLst>
                                        </p:cTn>
                                        <p:tgtEl>
                                          <p:spTgt spid="118"/>
                                        </p:tgtEl>
                                        <p:attrNameLst>
                                          <p:attrName>style.visibility</p:attrName>
                                        </p:attrNameLst>
                                      </p:cBhvr>
                                      <p:to>
                                        <p:strVal val="visible"/>
                                      </p:to>
                                    </p:set>
                                    <p:animEffect transition="in" filter="wipe(left)">
                                      <p:cBhvr>
                                        <p:cTn id="58" dur="550"/>
                                        <p:tgtEl>
                                          <p:spTgt spid="118"/>
                                        </p:tgtEl>
                                      </p:cBhvr>
                                    </p:animEffect>
                                  </p:childTnLst>
                                </p:cTn>
                              </p:par>
                              <p:par>
                                <p:cTn id="59" presetID="22" presetClass="entr" presetSubtype="8" fill="hold" grpId="0" nodeType="withEffect">
                                  <p:stCondLst>
                                    <p:cond delay="440"/>
                                  </p:stCondLst>
                                  <p:childTnLst>
                                    <p:set>
                                      <p:cBhvr>
                                        <p:cTn id="60" dur="1" fill="hold">
                                          <p:stCondLst>
                                            <p:cond delay="0"/>
                                          </p:stCondLst>
                                        </p:cTn>
                                        <p:tgtEl>
                                          <p:spTgt spid="119"/>
                                        </p:tgtEl>
                                        <p:attrNameLst>
                                          <p:attrName>style.visibility</p:attrName>
                                        </p:attrNameLst>
                                      </p:cBhvr>
                                      <p:to>
                                        <p:strVal val="visible"/>
                                      </p:to>
                                    </p:set>
                                    <p:animEffect transition="in" filter="wipe(left)">
                                      <p:cBhvr>
                                        <p:cTn id="61" dur="550"/>
                                        <p:tgtEl>
                                          <p:spTgt spid="119"/>
                                        </p:tgtEl>
                                      </p:cBhvr>
                                    </p:animEffect>
                                  </p:childTnLst>
                                </p:cTn>
                              </p:par>
                              <p:par>
                                <p:cTn id="62" presetID="22" presetClass="entr" presetSubtype="8" fill="hold" grpId="0" nodeType="withEffect">
                                  <p:stCondLst>
                                    <p:cond delay="440"/>
                                  </p:stCondLst>
                                  <p:childTnLst>
                                    <p:set>
                                      <p:cBhvr>
                                        <p:cTn id="63" dur="1" fill="hold">
                                          <p:stCondLst>
                                            <p:cond delay="0"/>
                                          </p:stCondLst>
                                        </p:cTn>
                                        <p:tgtEl>
                                          <p:spTgt spid="120"/>
                                        </p:tgtEl>
                                        <p:attrNameLst>
                                          <p:attrName>style.visibility</p:attrName>
                                        </p:attrNameLst>
                                      </p:cBhvr>
                                      <p:to>
                                        <p:strVal val="visible"/>
                                      </p:to>
                                    </p:set>
                                    <p:animEffect transition="in" filter="wipe(left)">
                                      <p:cBhvr>
                                        <p:cTn id="64" dur="550"/>
                                        <p:tgtEl>
                                          <p:spTgt spid="120"/>
                                        </p:tgtEl>
                                      </p:cBhvr>
                                    </p:animEffect>
                                  </p:childTnLst>
                                </p:cTn>
                              </p:par>
                              <p:par>
                                <p:cTn id="65" presetID="22" presetClass="entr" presetSubtype="8" fill="hold" grpId="0" nodeType="withEffect">
                                  <p:stCondLst>
                                    <p:cond delay="440"/>
                                  </p:stCondLst>
                                  <p:childTnLst>
                                    <p:set>
                                      <p:cBhvr>
                                        <p:cTn id="66" dur="1" fill="hold">
                                          <p:stCondLst>
                                            <p:cond delay="0"/>
                                          </p:stCondLst>
                                        </p:cTn>
                                        <p:tgtEl>
                                          <p:spTgt spid="121"/>
                                        </p:tgtEl>
                                        <p:attrNameLst>
                                          <p:attrName>style.visibility</p:attrName>
                                        </p:attrNameLst>
                                      </p:cBhvr>
                                      <p:to>
                                        <p:strVal val="visible"/>
                                      </p:to>
                                    </p:set>
                                    <p:animEffect transition="in" filter="wipe(left)">
                                      <p:cBhvr>
                                        <p:cTn id="67" dur="550"/>
                                        <p:tgtEl>
                                          <p:spTgt spid="121"/>
                                        </p:tgtEl>
                                      </p:cBhvr>
                                    </p:animEffect>
                                  </p:childTnLst>
                                </p:cTn>
                              </p:par>
                              <p:par>
                                <p:cTn id="68" presetID="22" presetClass="entr" presetSubtype="8" fill="hold" grpId="0" nodeType="withEffect">
                                  <p:stCondLst>
                                    <p:cond delay="660"/>
                                  </p:stCondLst>
                                  <p:childTnLst>
                                    <p:set>
                                      <p:cBhvr>
                                        <p:cTn id="69" dur="1" fill="hold">
                                          <p:stCondLst>
                                            <p:cond delay="0"/>
                                          </p:stCondLst>
                                        </p:cTn>
                                        <p:tgtEl>
                                          <p:spTgt spid="122"/>
                                        </p:tgtEl>
                                        <p:attrNameLst>
                                          <p:attrName>style.visibility</p:attrName>
                                        </p:attrNameLst>
                                      </p:cBhvr>
                                      <p:to>
                                        <p:strVal val="visible"/>
                                      </p:to>
                                    </p:set>
                                    <p:animEffect transition="in" filter="wipe(left)">
                                      <p:cBhvr>
                                        <p:cTn id="70" dur="550"/>
                                        <p:tgtEl>
                                          <p:spTgt spid="122"/>
                                        </p:tgtEl>
                                      </p:cBhvr>
                                    </p:animEffect>
                                  </p:childTnLst>
                                </p:cTn>
                              </p:par>
                              <p:par>
                                <p:cTn id="71" presetID="22" presetClass="entr" presetSubtype="8" fill="hold" grpId="0" nodeType="withEffect">
                                  <p:stCondLst>
                                    <p:cond delay="660"/>
                                  </p:stCondLst>
                                  <p:childTnLst>
                                    <p:set>
                                      <p:cBhvr>
                                        <p:cTn id="72" dur="1" fill="hold">
                                          <p:stCondLst>
                                            <p:cond delay="0"/>
                                          </p:stCondLst>
                                        </p:cTn>
                                        <p:tgtEl>
                                          <p:spTgt spid="123"/>
                                        </p:tgtEl>
                                        <p:attrNameLst>
                                          <p:attrName>style.visibility</p:attrName>
                                        </p:attrNameLst>
                                      </p:cBhvr>
                                      <p:to>
                                        <p:strVal val="visible"/>
                                      </p:to>
                                    </p:set>
                                    <p:animEffect transition="in" filter="wipe(left)">
                                      <p:cBhvr>
                                        <p:cTn id="73" dur="550"/>
                                        <p:tgtEl>
                                          <p:spTgt spid="123"/>
                                        </p:tgtEl>
                                      </p:cBhvr>
                                    </p:animEffect>
                                  </p:childTnLst>
                                </p:cTn>
                              </p:par>
                              <p:par>
                                <p:cTn id="74" presetID="22" presetClass="entr" presetSubtype="8" fill="hold" grpId="0" nodeType="withEffect">
                                  <p:stCondLst>
                                    <p:cond delay="660"/>
                                  </p:stCondLst>
                                  <p:childTnLst>
                                    <p:set>
                                      <p:cBhvr>
                                        <p:cTn id="75" dur="1" fill="hold">
                                          <p:stCondLst>
                                            <p:cond delay="0"/>
                                          </p:stCondLst>
                                        </p:cTn>
                                        <p:tgtEl>
                                          <p:spTgt spid="124"/>
                                        </p:tgtEl>
                                        <p:attrNameLst>
                                          <p:attrName>style.visibility</p:attrName>
                                        </p:attrNameLst>
                                      </p:cBhvr>
                                      <p:to>
                                        <p:strVal val="visible"/>
                                      </p:to>
                                    </p:set>
                                    <p:animEffect transition="in" filter="wipe(left)">
                                      <p:cBhvr>
                                        <p:cTn id="76" dur="550"/>
                                        <p:tgtEl>
                                          <p:spTgt spid="124"/>
                                        </p:tgtEl>
                                      </p:cBhvr>
                                    </p:animEffect>
                                  </p:childTnLst>
                                </p:cTn>
                              </p:par>
                              <p:par>
                                <p:cTn id="77" presetID="22" presetClass="entr" presetSubtype="8" fill="hold" nodeType="withEffect">
                                  <p:stCondLst>
                                    <p:cond delay="660"/>
                                  </p:stCondLst>
                                  <p:childTnLst>
                                    <p:set>
                                      <p:cBhvr>
                                        <p:cTn id="78" dur="1" fill="hold">
                                          <p:stCondLst>
                                            <p:cond delay="0"/>
                                          </p:stCondLst>
                                        </p:cTn>
                                        <p:tgtEl>
                                          <p:spTgt spid="125"/>
                                        </p:tgtEl>
                                        <p:attrNameLst>
                                          <p:attrName>style.visibility</p:attrName>
                                        </p:attrNameLst>
                                      </p:cBhvr>
                                      <p:to>
                                        <p:strVal val="visible"/>
                                      </p:to>
                                    </p:set>
                                    <p:animEffect transition="in" filter="wipe(left)">
                                      <p:cBhvr>
                                        <p:cTn id="79" dur="550"/>
                                        <p:tgtEl>
                                          <p:spTgt spid="125"/>
                                        </p:tgtEl>
                                      </p:cBhvr>
                                    </p:animEffect>
                                  </p:childTnLst>
                                </p:cTn>
                              </p:par>
                              <p:par>
                                <p:cTn id="80" presetID="22" presetClass="entr" presetSubtype="8" fill="hold" grpId="0" nodeType="withEffect">
                                  <p:stCondLst>
                                    <p:cond delay="660"/>
                                  </p:stCondLst>
                                  <p:childTnLst>
                                    <p:set>
                                      <p:cBhvr>
                                        <p:cTn id="81" dur="1" fill="hold">
                                          <p:stCondLst>
                                            <p:cond delay="0"/>
                                          </p:stCondLst>
                                        </p:cTn>
                                        <p:tgtEl>
                                          <p:spTgt spid="126"/>
                                        </p:tgtEl>
                                        <p:attrNameLst>
                                          <p:attrName>style.visibility</p:attrName>
                                        </p:attrNameLst>
                                      </p:cBhvr>
                                      <p:to>
                                        <p:strVal val="visible"/>
                                      </p:to>
                                    </p:set>
                                    <p:animEffect transition="in" filter="wipe(left)">
                                      <p:cBhvr>
                                        <p:cTn id="82" dur="550"/>
                                        <p:tgtEl>
                                          <p:spTgt spid="126"/>
                                        </p:tgtEl>
                                      </p:cBhvr>
                                    </p:animEffect>
                                  </p:childTnLst>
                                </p:cTn>
                              </p:par>
                              <p:par>
                                <p:cTn id="83" presetID="22" presetClass="entr" presetSubtype="8" fill="hold" grpId="0" nodeType="withEffect">
                                  <p:stCondLst>
                                    <p:cond delay="660"/>
                                  </p:stCondLst>
                                  <p:childTnLst>
                                    <p:set>
                                      <p:cBhvr>
                                        <p:cTn id="84" dur="1" fill="hold">
                                          <p:stCondLst>
                                            <p:cond delay="0"/>
                                          </p:stCondLst>
                                        </p:cTn>
                                        <p:tgtEl>
                                          <p:spTgt spid="127"/>
                                        </p:tgtEl>
                                        <p:attrNameLst>
                                          <p:attrName>style.visibility</p:attrName>
                                        </p:attrNameLst>
                                      </p:cBhvr>
                                      <p:to>
                                        <p:strVal val="visible"/>
                                      </p:to>
                                    </p:set>
                                    <p:animEffect transition="in" filter="wipe(left)">
                                      <p:cBhvr>
                                        <p:cTn id="85" dur="550"/>
                                        <p:tgtEl>
                                          <p:spTgt spid="127"/>
                                        </p:tgtEl>
                                      </p:cBhvr>
                                    </p:animEffect>
                                  </p:childTnLst>
                                </p:cTn>
                              </p:par>
                              <p:par>
                                <p:cTn id="86" presetID="22" presetClass="entr" presetSubtype="8" fill="hold" grpId="0" nodeType="withEffect">
                                  <p:stCondLst>
                                    <p:cond delay="660"/>
                                  </p:stCondLst>
                                  <p:childTnLst>
                                    <p:set>
                                      <p:cBhvr>
                                        <p:cTn id="87" dur="1" fill="hold">
                                          <p:stCondLst>
                                            <p:cond delay="0"/>
                                          </p:stCondLst>
                                        </p:cTn>
                                        <p:tgtEl>
                                          <p:spTgt spid="128"/>
                                        </p:tgtEl>
                                        <p:attrNameLst>
                                          <p:attrName>style.visibility</p:attrName>
                                        </p:attrNameLst>
                                      </p:cBhvr>
                                      <p:to>
                                        <p:strVal val="visible"/>
                                      </p:to>
                                    </p:set>
                                    <p:animEffect transition="in" filter="wipe(left)">
                                      <p:cBhvr>
                                        <p:cTn id="88" dur="550"/>
                                        <p:tgtEl>
                                          <p:spTgt spid="128"/>
                                        </p:tgtEl>
                                      </p:cBhvr>
                                    </p:animEffect>
                                  </p:childTnLst>
                                </p:cTn>
                              </p:par>
                              <p:par>
                                <p:cTn id="89" presetID="10" presetClass="entr" presetSubtype="0" fill="hold" grpId="0" nodeType="withEffect">
                                  <p:stCondLst>
                                    <p:cond delay="860"/>
                                  </p:stCondLst>
                                  <p:childTnLst>
                                    <p:set>
                                      <p:cBhvr>
                                        <p:cTn id="90" dur="1" fill="hold">
                                          <p:stCondLst>
                                            <p:cond delay="0"/>
                                          </p:stCondLst>
                                        </p:cTn>
                                        <p:tgtEl>
                                          <p:spTgt spid="129"/>
                                        </p:tgtEl>
                                        <p:attrNameLst>
                                          <p:attrName>style.visibility</p:attrName>
                                        </p:attrNameLst>
                                      </p:cBhvr>
                                      <p:to>
                                        <p:strVal val="visible"/>
                                      </p:to>
                                    </p:set>
                                    <p:animEffect transition="in" filter="fade">
                                      <p:cBhvr>
                                        <p:cTn id="91"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5" grpId="0" animBg="1"/>
      <p:bldP spid="106" grpId="0" animBg="1"/>
      <p:bldP spid="107" grpId="0" animBg="1"/>
      <p:bldP spid="108" grpId="0" animBg="1"/>
      <p:bldP spid="109" grpId="0" animBg="1"/>
      <p:bldP spid="110" grpId="0" animBg="1"/>
      <p:bldP spid="112" grpId="0" animBg="1"/>
      <p:bldP spid="113" grpId="0" animBg="1"/>
      <p:bldP spid="114" grpId="0" animBg="1"/>
      <p:bldP spid="115" grpId="0" animBg="1"/>
      <p:bldP spid="116" grpId="0" animBg="1"/>
      <p:bldP spid="117" grpId="0" animBg="1"/>
      <p:bldP spid="119" grpId="0" animBg="1"/>
      <p:bldP spid="120" grpId="0" animBg="1"/>
      <p:bldP spid="121" grpId="0" animBg="1"/>
      <p:bldP spid="122" grpId="0" animBg="1"/>
      <p:bldP spid="123" grpId="0" animBg="1"/>
      <p:bldP spid="124" grpId="0" animBg="1"/>
      <p:bldP spid="126" grpId="0" animBg="1"/>
      <p:bldP spid="127" grpId="0" animBg="1"/>
      <p:bldP spid="128" grpId="0" animBg="1"/>
      <p:bldP spid="129"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VALUE 01</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Individuals and Interactions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over processes and tools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MANIFESTO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203</a:t>
            </a:r>
            <a:endParaRPr lang="en-US" sz="850" dirty="0"/>
          </a:p>
        </p:txBody>
      </p:sp>
      <p:sp>
        <p:nvSpPr>
          <p:cNvPr id="101" name="s101"/>
          <p:cNvSpPr/>
          <p:nvPr/>
        </p:nvSpPr>
        <p:spPr>
          <a:xfrm>
            <a:off x="543154" y="1965960"/>
            <a:ext cx="4206240" cy="3611880"/>
          </a:xfrm>
          <a:prstGeom prst="roundRect">
            <a:avLst>
              <a:gd name="adj" fmla="val 8000"/>
            </a:avLst>
          </a:prstGeom>
          <a:solidFill>
            <a:srgbClr val="13D0F7">
              <a:alpha val="8000"/>
            </a:srgbClr>
          </a:solidFill>
          <a:ln w="12700">
            <a:solidFill>
              <a:srgbClr val="13D0F7"/>
            </a:solidFill>
            <a:prstDash val="solid"/>
          </a:ln>
        </p:spPr>
        <p:txBody>
          <a:bodyPr wrap="square" lIns="164592" tIns="109728" rIns="137160" bIns="91440" rtlCol="0" anchor="t">
            <a:noAutofit/>
          </a:bodyPr>
          <a:lstStyle/>
          <a:p>
            <a:endParaRPr lang="en-US"/>
          </a:p>
        </p:txBody>
      </p:sp>
      <p:sp>
        <p:nvSpPr>
          <p:cNvPr id="102" name="s102"/>
          <p:cNvSpPr/>
          <p:nvPr/>
        </p:nvSpPr>
        <p:spPr>
          <a:xfrm>
            <a:off x="2051914" y="2240280"/>
            <a:ext cx="1188720" cy="118872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2337206" y="2525573"/>
            <a:ext cx="618134" cy="618134"/>
          </a:xfrm>
          <a:prstGeom prst="rect">
            <a:avLst/>
          </a:prstGeom>
        </p:spPr>
      </p:pic>
      <p:sp>
        <p:nvSpPr>
          <p:cNvPr id="104" name="s104"/>
          <p:cNvSpPr txBox="1"/>
          <p:nvPr/>
        </p:nvSpPr>
        <p:spPr>
          <a:xfrm>
            <a:off x="543154" y="3566160"/>
            <a:ext cx="4206240"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13D0F7"/>
                </a:solidFill>
                <a:latin typeface="Segoe UI"/>
                <a:ea typeface="Segoe UI"/>
                <a:cs typeface="Segoe UI"/>
              </a:rPr>
              <a:t>PEOPLE FIRST</a:t>
            </a:r>
            <a:endParaRPr lang="en-US" sz="1600" dirty="0"/>
          </a:p>
        </p:txBody>
      </p:sp>
      <p:sp>
        <p:nvSpPr>
          <p:cNvPr id="105" name="s105"/>
          <p:cNvSpPr txBox="1"/>
          <p:nvPr/>
        </p:nvSpPr>
        <p:spPr>
          <a:xfrm>
            <a:off x="863194" y="4023360"/>
            <a:ext cx="3566160" cy="137160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E2E8F0"/>
                </a:solidFill>
                <a:latin typeface="Segoe UI"/>
                <a:ea typeface="Segoe UI"/>
                <a:cs typeface="Segoe UI"/>
              </a:rPr>
              <a:t>Great tools help. Great conversations deliver. A silent team with perfect Jira boards still fails.</a:t>
            </a:r>
            <a:endParaRPr lang="en-US" sz="1300" dirty="0"/>
          </a:p>
        </p:txBody>
      </p:sp>
      <p:sp>
        <p:nvSpPr>
          <p:cNvPr id="106" name="s106"/>
          <p:cNvSpPr txBox="1"/>
          <p:nvPr/>
        </p:nvSpPr>
        <p:spPr>
          <a:xfrm>
            <a:off x="5023714" y="1965960"/>
            <a:ext cx="6607454" cy="320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WHAT IT MEANS</a:t>
            </a:r>
            <a:endParaRPr lang="en-US" sz="1100" dirty="0"/>
          </a:p>
        </p:txBody>
      </p:sp>
      <p:sp>
        <p:nvSpPr>
          <p:cNvPr id="107" name="s107"/>
          <p:cNvSpPr/>
          <p:nvPr/>
        </p:nvSpPr>
        <p:spPr>
          <a:xfrm>
            <a:off x="5023714" y="2377440"/>
            <a:ext cx="6607454" cy="676656"/>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8" name="s108"/>
          <p:cNvSpPr/>
          <p:nvPr/>
        </p:nvSpPr>
        <p:spPr>
          <a:xfrm>
            <a:off x="5188306" y="2487168"/>
            <a:ext cx="457200" cy="45720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09" name="img109"/>
          <p:cNvPicPr>
            <a:picLocks noChangeAspect="1"/>
          </p:cNvPicPr>
          <p:nvPr/>
        </p:nvPicPr>
        <p:blipFill>
          <a:blip r:embed="rId5"/>
          <a:stretch>
            <a:fillRect/>
          </a:stretch>
        </p:blipFill>
        <p:spPr>
          <a:xfrm>
            <a:off x="5298034" y="2596896"/>
            <a:ext cx="237744" cy="237744"/>
          </a:xfrm>
          <a:prstGeom prst="rect">
            <a:avLst/>
          </a:prstGeom>
        </p:spPr>
      </p:pic>
      <p:sp>
        <p:nvSpPr>
          <p:cNvPr id="110" name="s110"/>
          <p:cNvSpPr txBox="1"/>
          <p:nvPr/>
        </p:nvSpPr>
        <p:spPr>
          <a:xfrm>
            <a:off x="5800954" y="2377440"/>
            <a:ext cx="5693054" cy="67665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Talk early when blocked.</a:t>
            </a:r>
            <a:endParaRPr lang="en-US" sz="1400" dirty="0"/>
          </a:p>
        </p:txBody>
      </p:sp>
      <p:sp>
        <p:nvSpPr>
          <p:cNvPr id="111" name="s111"/>
          <p:cNvSpPr/>
          <p:nvPr/>
        </p:nvSpPr>
        <p:spPr>
          <a:xfrm>
            <a:off x="5023714" y="3182112"/>
            <a:ext cx="6607454" cy="676656"/>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2" name="s112"/>
          <p:cNvSpPr/>
          <p:nvPr/>
        </p:nvSpPr>
        <p:spPr>
          <a:xfrm>
            <a:off x="5188306" y="3291840"/>
            <a:ext cx="457200" cy="45720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13" name="img113"/>
          <p:cNvPicPr>
            <a:picLocks noChangeAspect="1"/>
          </p:cNvPicPr>
          <p:nvPr/>
        </p:nvPicPr>
        <p:blipFill>
          <a:blip r:embed="rId6"/>
          <a:stretch>
            <a:fillRect/>
          </a:stretch>
        </p:blipFill>
        <p:spPr>
          <a:xfrm>
            <a:off x="5298034" y="3401568"/>
            <a:ext cx="237744" cy="237744"/>
          </a:xfrm>
          <a:prstGeom prst="rect">
            <a:avLst/>
          </a:prstGeom>
        </p:spPr>
      </p:pic>
      <p:sp>
        <p:nvSpPr>
          <p:cNvPr id="114" name="s114"/>
          <p:cNvSpPr txBox="1"/>
          <p:nvPr/>
        </p:nvSpPr>
        <p:spPr>
          <a:xfrm>
            <a:off x="5800954" y="3182112"/>
            <a:ext cx="5693054" cy="67665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Clarify face-to-face before long threads.</a:t>
            </a:r>
            <a:endParaRPr lang="en-US" sz="1400" dirty="0"/>
          </a:p>
        </p:txBody>
      </p:sp>
      <p:sp>
        <p:nvSpPr>
          <p:cNvPr id="115" name="s115"/>
          <p:cNvSpPr/>
          <p:nvPr/>
        </p:nvSpPr>
        <p:spPr>
          <a:xfrm>
            <a:off x="5023714" y="3986784"/>
            <a:ext cx="6607454" cy="676656"/>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6" name="s116"/>
          <p:cNvSpPr/>
          <p:nvPr/>
        </p:nvSpPr>
        <p:spPr>
          <a:xfrm>
            <a:off x="5188306" y="4096512"/>
            <a:ext cx="457200" cy="45720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17" name="img117"/>
          <p:cNvPicPr>
            <a:picLocks noChangeAspect="1"/>
          </p:cNvPicPr>
          <p:nvPr/>
        </p:nvPicPr>
        <p:blipFill>
          <a:blip r:embed="rId7"/>
          <a:stretch>
            <a:fillRect/>
          </a:stretch>
        </p:blipFill>
        <p:spPr>
          <a:xfrm>
            <a:off x="5298034" y="4206240"/>
            <a:ext cx="237744" cy="237744"/>
          </a:xfrm>
          <a:prstGeom prst="rect">
            <a:avLst/>
          </a:prstGeom>
        </p:spPr>
      </p:pic>
      <p:sp>
        <p:nvSpPr>
          <p:cNvPr id="118" name="s118"/>
          <p:cNvSpPr txBox="1"/>
          <p:nvPr/>
        </p:nvSpPr>
        <p:spPr>
          <a:xfrm>
            <a:off x="5800954" y="3986784"/>
            <a:ext cx="5693054" cy="67665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Hire for teamwork, not only skills.</a:t>
            </a:r>
            <a:endParaRPr lang="en-US" sz="1400" dirty="0"/>
          </a:p>
        </p:txBody>
      </p:sp>
      <p:sp>
        <p:nvSpPr>
          <p:cNvPr id="119" name="s119"/>
          <p:cNvSpPr/>
          <p:nvPr/>
        </p:nvSpPr>
        <p:spPr>
          <a:xfrm>
            <a:off x="5023714" y="4791456"/>
            <a:ext cx="6607454" cy="676656"/>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0" name="s120"/>
          <p:cNvSpPr/>
          <p:nvPr/>
        </p:nvSpPr>
        <p:spPr>
          <a:xfrm>
            <a:off x="5188306" y="4901184"/>
            <a:ext cx="457200" cy="45720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21" name="img121"/>
          <p:cNvPicPr>
            <a:picLocks noChangeAspect="1"/>
          </p:cNvPicPr>
          <p:nvPr/>
        </p:nvPicPr>
        <p:blipFill>
          <a:blip r:embed="rId8"/>
          <a:stretch>
            <a:fillRect/>
          </a:stretch>
        </p:blipFill>
        <p:spPr>
          <a:xfrm>
            <a:off x="5298034" y="5010912"/>
            <a:ext cx="237744" cy="237744"/>
          </a:xfrm>
          <a:prstGeom prst="rect">
            <a:avLst/>
          </a:prstGeom>
        </p:spPr>
      </p:pic>
      <p:sp>
        <p:nvSpPr>
          <p:cNvPr id="122" name="s122"/>
          <p:cNvSpPr txBox="1"/>
          <p:nvPr/>
        </p:nvSpPr>
        <p:spPr>
          <a:xfrm>
            <a:off x="5800954" y="4791456"/>
            <a:ext cx="5693054" cy="67665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Tools support people; they never replace them.</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53" presetClass="entr" presetSubtype="16" fill="hold" grpId="0" nodeType="withEffect">
                                  <p:stCondLst>
                                    <p:cond delay="12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500" decel="100000" fill="hold"/>
                                        <p:tgtEl>
                                          <p:spTgt spid="102"/>
                                        </p:tgtEl>
                                        <p:attrNameLst>
                                          <p:attrName>ppt_w</p:attrName>
                                        </p:attrNameLst>
                                      </p:cBhvr>
                                      <p:tavLst>
                                        <p:tav tm="0">
                                          <p:val>
                                            <p:strVal val="#ppt_w*0.3"/>
                                          </p:val>
                                        </p:tav>
                                        <p:tav tm="100000">
                                          <p:val>
                                            <p:strVal val="#ppt_w*1.08"/>
                                          </p:val>
                                        </p:tav>
                                      </p:tavLst>
                                    </p:anim>
                                    <p:anim calcmode="lin" valueType="num">
                                      <p:cBhvr additive="base">
                                        <p:cTn id="13" dur="500" decel="100000" fill="hold"/>
                                        <p:tgtEl>
                                          <p:spTgt spid="102"/>
                                        </p:tgtEl>
                                        <p:attrNameLst>
                                          <p:attrName>ppt_h</p:attrName>
                                        </p:attrNameLst>
                                      </p:cBhvr>
                                      <p:tavLst>
                                        <p:tav tm="0">
                                          <p:val>
                                            <p:strVal val="#ppt_h*0.3"/>
                                          </p:val>
                                        </p:tav>
                                        <p:tav tm="100000">
                                          <p:val>
                                            <p:strVal val="#ppt_h*1.08"/>
                                          </p:val>
                                        </p:tav>
                                      </p:tavLst>
                                    </p:anim>
                                    <p:animEffect transition="in" filter="fade">
                                      <p:cBhvr>
                                        <p:cTn id="14" dur="250"/>
                                        <p:tgtEl>
                                          <p:spTgt spid="102"/>
                                        </p:tgtEl>
                                      </p:cBhvr>
                                    </p:animEffect>
                                    <p:anim calcmode="lin" valueType="num">
                                      <p:cBhvr additive="base">
                                        <p:cTn id="15" dur="160" fill="hold">
                                          <p:stCondLst>
                                            <p:cond delay="500"/>
                                          </p:stCondLst>
                                        </p:cTn>
                                        <p:tgtEl>
                                          <p:spTgt spid="102"/>
                                        </p:tgtEl>
                                        <p:attrNameLst>
                                          <p:attrName>ppt_w</p:attrName>
                                        </p:attrNameLst>
                                      </p:cBhvr>
                                      <p:tavLst>
                                        <p:tav tm="0">
                                          <p:val>
                                            <p:strVal val="#ppt_w*1.08"/>
                                          </p:val>
                                        </p:tav>
                                        <p:tav tm="100000">
                                          <p:val>
                                            <p:strVal val="#ppt_w"/>
                                          </p:val>
                                        </p:tav>
                                      </p:tavLst>
                                    </p:anim>
                                    <p:anim calcmode="lin" valueType="num">
                                      <p:cBhvr additive="base">
                                        <p:cTn id="16" dur="160" fill="hold">
                                          <p:stCondLst>
                                            <p:cond delay="500"/>
                                          </p:stCondLst>
                                        </p:cTn>
                                        <p:tgtEl>
                                          <p:spTgt spid="102"/>
                                        </p:tgtEl>
                                        <p:attrNameLst>
                                          <p:attrName>ppt_h</p:attrName>
                                        </p:attrNameLst>
                                      </p:cBhvr>
                                      <p:tavLst>
                                        <p:tav tm="0">
                                          <p:val>
                                            <p:strVal val="#ppt_h*1.08"/>
                                          </p:val>
                                        </p:tav>
                                        <p:tav tm="100000">
                                          <p:val>
                                            <p:strVal val="#ppt_h"/>
                                          </p:val>
                                        </p:tav>
                                      </p:tavLst>
                                    </p:anim>
                                  </p:childTnLst>
                                </p:cTn>
                              </p:par>
                              <p:par>
                                <p:cTn id="17" presetID="53" presetClass="entr" presetSubtype="16" fill="hold" nodeType="withEffect">
                                  <p:stCondLst>
                                    <p:cond delay="240"/>
                                  </p:stCondLst>
                                  <p:childTnLst>
                                    <p:set>
                                      <p:cBhvr>
                                        <p:cTn id="18" dur="1" fill="hold">
                                          <p:stCondLst>
                                            <p:cond delay="0"/>
                                          </p:stCondLst>
                                        </p:cTn>
                                        <p:tgtEl>
                                          <p:spTgt spid="103"/>
                                        </p:tgtEl>
                                        <p:attrNameLst>
                                          <p:attrName>style.visibility</p:attrName>
                                        </p:attrNameLst>
                                      </p:cBhvr>
                                      <p:to>
                                        <p:strVal val="visible"/>
                                      </p:to>
                                    </p:set>
                                    <p:anim calcmode="lin" valueType="num">
                                      <p:cBhvr additive="base">
                                        <p:cTn id="19" dur="500" decel="100000" fill="hold"/>
                                        <p:tgtEl>
                                          <p:spTgt spid="103"/>
                                        </p:tgtEl>
                                        <p:attrNameLst>
                                          <p:attrName>ppt_w</p:attrName>
                                        </p:attrNameLst>
                                      </p:cBhvr>
                                      <p:tavLst>
                                        <p:tav tm="0">
                                          <p:val>
                                            <p:strVal val="#ppt_w*0.3"/>
                                          </p:val>
                                        </p:tav>
                                        <p:tav tm="100000">
                                          <p:val>
                                            <p:strVal val="#ppt_w*1.08"/>
                                          </p:val>
                                        </p:tav>
                                      </p:tavLst>
                                    </p:anim>
                                    <p:anim calcmode="lin" valueType="num">
                                      <p:cBhvr additive="base">
                                        <p:cTn id="20" dur="500" decel="100000" fill="hold"/>
                                        <p:tgtEl>
                                          <p:spTgt spid="103"/>
                                        </p:tgtEl>
                                        <p:attrNameLst>
                                          <p:attrName>ppt_h</p:attrName>
                                        </p:attrNameLst>
                                      </p:cBhvr>
                                      <p:tavLst>
                                        <p:tav tm="0">
                                          <p:val>
                                            <p:strVal val="#ppt_h*0.3"/>
                                          </p:val>
                                        </p:tav>
                                        <p:tav tm="100000">
                                          <p:val>
                                            <p:strVal val="#ppt_h*1.08"/>
                                          </p:val>
                                        </p:tav>
                                      </p:tavLst>
                                    </p:anim>
                                    <p:animEffect transition="in" filter="fade">
                                      <p:cBhvr>
                                        <p:cTn id="21" dur="250"/>
                                        <p:tgtEl>
                                          <p:spTgt spid="103"/>
                                        </p:tgtEl>
                                      </p:cBhvr>
                                    </p:animEffect>
                                    <p:anim calcmode="lin" valueType="num">
                                      <p:cBhvr additive="base">
                                        <p:cTn id="22" dur="160" fill="hold">
                                          <p:stCondLst>
                                            <p:cond delay="500"/>
                                          </p:stCondLst>
                                        </p:cTn>
                                        <p:tgtEl>
                                          <p:spTgt spid="103"/>
                                        </p:tgtEl>
                                        <p:attrNameLst>
                                          <p:attrName>ppt_w</p:attrName>
                                        </p:attrNameLst>
                                      </p:cBhvr>
                                      <p:tavLst>
                                        <p:tav tm="0">
                                          <p:val>
                                            <p:strVal val="#ppt_w*1.08"/>
                                          </p:val>
                                        </p:tav>
                                        <p:tav tm="100000">
                                          <p:val>
                                            <p:strVal val="#ppt_w"/>
                                          </p:val>
                                        </p:tav>
                                      </p:tavLst>
                                    </p:anim>
                                    <p:anim calcmode="lin" valueType="num">
                                      <p:cBhvr additive="base">
                                        <p:cTn id="23" dur="160" fill="hold">
                                          <p:stCondLst>
                                            <p:cond delay="500"/>
                                          </p:stCondLst>
                                        </p:cTn>
                                        <p:tgtEl>
                                          <p:spTgt spid="103"/>
                                        </p:tgtEl>
                                        <p:attrNameLst>
                                          <p:attrName>ppt_h</p:attrName>
                                        </p:attrNameLst>
                                      </p:cBhvr>
                                      <p:tavLst>
                                        <p:tav tm="0">
                                          <p:val>
                                            <p:strVal val="#ppt_h*1.08"/>
                                          </p:val>
                                        </p:tav>
                                        <p:tav tm="100000">
                                          <p:val>
                                            <p:strVal val="#ppt_h"/>
                                          </p:val>
                                        </p:tav>
                                      </p:tavLst>
                                    </p:anim>
                                  </p:childTnLst>
                                </p:cTn>
                              </p:par>
                              <p:par>
                                <p:cTn id="24" presetID="42" presetClass="entr" presetSubtype="0" fill="hold" grpId="0" nodeType="withEffect">
                                  <p:stCondLst>
                                    <p:cond delay="360"/>
                                  </p:stCondLst>
                                  <p:childTnLst>
                                    <p:set>
                                      <p:cBhvr>
                                        <p:cTn id="25" dur="1" fill="hold">
                                          <p:stCondLst>
                                            <p:cond delay="0"/>
                                          </p:stCondLst>
                                        </p:cTn>
                                        <p:tgtEl>
                                          <p:spTgt spid="104"/>
                                        </p:tgtEl>
                                        <p:attrNameLst>
                                          <p:attrName>style.visibility</p:attrName>
                                        </p:attrNameLst>
                                      </p:cBhvr>
                                      <p:to>
                                        <p:strVal val="visible"/>
                                      </p:to>
                                    </p:set>
                                    <p:animEffect transition="in" filter="fade">
                                      <p:cBhvr>
                                        <p:cTn id="26" dur="500"/>
                                        <p:tgtEl>
                                          <p:spTgt spid="104"/>
                                        </p:tgtEl>
                                      </p:cBhvr>
                                    </p:animEffect>
                                    <p:anim calcmode="lin" valueType="num">
                                      <p:cBhvr additive="base">
                                        <p:cTn id="27" dur="500" decel="100000" fill="hold"/>
                                        <p:tgtEl>
                                          <p:spTgt spid="104"/>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480"/>
                                  </p:stCondLst>
                                  <p:childTnLst>
                                    <p:set>
                                      <p:cBhvr>
                                        <p:cTn id="29" dur="1" fill="hold">
                                          <p:stCondLst>
                                            <p:cond delay="0"/>
                                          </p:stCondLst>
                                        </p:cTn>
                                        <p:tgtEl>
                                          <p:spTgt spid="105"/>
                                        </p:tgtEl>
                                        <p:attrNameLst>
                                          <p:attrName>style.visibility</p:attrName>
                                        </p:attrNameLst>
                                      </p:cBhvr>
                                      <p:to>
                                        <p:strVal val="visible"/>
                                      </p:to>
                                    </p:set>
                                    <p:animEffect transition="in" filter="fade">
                                      <p:cBhvr>
                                        <p:cTn id="30" dur="500"/>
                                        <p:tgtEl>
                                          <p:spTgt spid="105"/>
                                        </p:tgtEl>
                                      </p:cBhvr>
                                    </p:animEffect>
                                    <p:anim calcmode="lin" valueType="num">
                                      <p:cBhvr additive="base">
                                        <p:cTn id="31" dur="500" decel="100000" fill="hold"/>
                                        <p:tgtEl>
                                          <p:spTgt spid="105"/>
                                        </p:tgtEl>
                                        <p:attrNameLst>
                                          <p:attrName>ppt_y</p:attrName>
                                        </p:attrNameLst>
                                      </p:cBhvr>
                                      <p:tavLst>
                                        <p:tav tm="0">
                                          <p:val>
                                            <p:strVal val="#ppt_y+0.06"/>
                                          </p:val>
                                        </p:tav>
                                        <p:tav tm="100000">
                                          <p:val>
                                            <p:strVal val="#ppt_y"/>
                                          </p:val>
                                        </p:tav>
                                      </p:tavLst>
                                    </p:anim>
                                  </p:childTnLst>
                                </p:cTn>
                              </p:par>
                              <p:par>
                                <p:cTn id="32" presetID="10" presetClass="entr" presetSubtype="0" fill="hold" grpId="0" nodeType="withEffect">
                                  <p:stCondLst>
                                    <p:cond delay="580"/>
                                  </p:stCondLst>
                                  <p:childTnLst>
                                    <p:set>
                                      <p:cBhvr>
                                        <p:cTn id="33" dur="1" fill="hold">
                                          <p:stCondLst>
                                            <p:cond delay="0"/>
                                          </p:stCondLst>
                                        </p:cTn>
                                        <p:tgtEl>
                                          <p:spTgt spid="106"/>
                                        </p:tgtEl>
                                        <p:attrNameLst>
                                          <p:attrName>style.visibility</p:attrName>
                                        </p:attrNameLst>
                                      </p:cBhvr>
                                      <p:to>
                                        <p:strVal val="visible"/>
                                      </p:to>
                                    </p:set>
                                    <p:animEffect transition="in" filter="fade">
                                      <p:cBhvr>
                                        <p:cTn id="34" dur="500"/>
                                        <p:tgtEl>
                                          <p:spTgt spid="106"/>
                                        </p:tgtEl>
                                      </p:cBhvr>
                                    </p:animEffect>
                                  </p:childTnLst>
                                </p:cTn>
                              </p:par>
                              <p:par>
                                <p:cTn id="35" presetID="42" presetClass="entr" presetSubtype="0" fill="hold" grpId="0" nodeType="withEffect">
                                  <p:stCondLst>
                                    <p:cond delay="730"/>
                                  </p:stCondLst>
                                  <p:childTnLst>
                                    <p:set>
                                      <p:cBhvr>
                                        <p:cTn id="36" dur="1" fill="hold">
                                          <p:stCondLst>
                                            <p:cond delay="0"/>
                                          </p:stCondLst>
                                        </p:cTn>
                                        <p:tgtEl>
                                          <p:spTgt spid="107"/>
                                        </p:tgtEl>
                                        <p:attrNameLst>
                                          <p:attrName>style.visibility</p:attrName>
                                        </p:attrNameLst>
                                      </p:cBhvr>
                                      <p:to>
                                        <p:strVal val="visible"/>
                                      </p:to>
                                    </p:set>
                                    <p:animEffect transition="in" filter="fade">
                                      <p:cBhvr>
                                        <p:cTn id="37" dur="500"/>
                                        <p:tgtEl>
                                          <p:spTgt spid="107"/>
                                        </p:tgtEl>
                                      </p:cBhvr>
                                    </p:animEffect>
                                    <p:anim calcmode="lin" valueType="num">
                                      <p:cBhvr additive="base">
                                        <p:cTn id="38" dur="500" decel="100000" fill="hold"/>
                                        <p:tgtEl>
                                          <p:spTgt spid="107"/>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730"/>
                                  </p:stCondLst>
                                  <p:childTnLst>
                                    <p:set>
                                      <p:cBhvr>
                                        <p:cTn id="40" dur="1" fill="hold">
                                          <p:stCondLst>
                                            <p:cond delay="0"/>
                                          </p:stCondLst>
                                        </p:cTn>
                                        <p:tgtEl>
                                          <p:spTgt spid="108"/>
                                        </p:tgtEl>
                                        <p:attrNameLst>
                                          <p:attrName>style.visibility</p:attrName>
                                        </p:attrNameLst>
                                      </p:cBhvr>
                                      <p:to>
                                        <p:strVal val="visible"/>
                                      </p:to>
                                    </p:set>
                                    <p:animEffect transition="in" filter="fade">
                                      <p:cBhvr>
                                        <p:cTn id="41" dur="500"/>
                                        <p:tgtEl>
                                          <p:spTgt spid="108"/>
                                        </p:tgtEl>
                                      </p:cBhvr>
                                    </p:animEffect>
                                    <p:anim calcmode="lin" valueType="num">
                                      <p:cBhvr additive="base">
                                        <p:cTn id="42" dur="500" decel="100000" fill="hold"/>
                                        <p:tgtEl>
                                          <p:spTgt spid="108"/>
                                        </p:tgtEl>
                                        <p:attrNameLst>
                                          <p:attrName>ppt_x</p:attrName>
                                        </p:attrNameLst>
                                      </p:cBhvr>
                                      <p:tavLst>
                                        <p:tav tm="0">
                                          <p:val>
                                            <p:strVal val="#ppt_x-0.05"/>
                                          </p:val>
                                        </p:tav>
                                        <p:tav tm="100000">
                                          <p:val>
                                            <p:strVal val="#ppt_x"/>
                                          </p:val>
                                        </p:tav>
                                      </p:tavLst>
                                    </p:anim>
                                  </p:childTnLst>
                                </p:cTn>
                              </p:par>
                              <p:par>
                                <p:cTn id="43" presetID="42" presetClass="entr" presetSubtype="0" fill="hold" nodeType="withEffect">
                                  <p:stCondLst>
                                    <p:cond delay="730"/>
                                  </p:stCondLst>
                                  <p:childTnLst>
                                    <p:set>
                                      <p:cBhvr>
                                        <p:cTn id="44" dur="1" fill="hold">
                                          <p:stCondLst>
                                            <p:cond delay="0"/>
                                          </p:stCondLst>
                                        </p:cTn>
                                        <p:tgtEl>
                                          <p:spTgt spid="109"/>
                                        </p:tgtEl>
                                        <p:attrNameLst>
                                          <p:attrName>style.visibility</p:attrName>
                                        </p:attrNameLst>
                                      </p:cBhvr>
                                      <p:to>
                                        <p:strVal val="visible"/>
                                      </p:to>
                                    </p:set>
                                    <p:animEffect transition="in" filter="fade">
                                      <p:cBhvr>
                                        <p:cTn id="45" dur="500"/>
                                        <p:tgtEl>
                                          <p:spTgt spid="109"/>
                                        </p:tgtEl>
                                      </p:cBhvr>
                                    </p:animEffect>
                                    <p:anim calcmode="lin" valueType="num">
                                      <p:cBhvr additive="base">
                                        <p:cTn id="46" dur="500" decel="100000" fill="hold"/>
                                        <p:tgtEl>
                                          <p:spTgt spid="109"/>
                                        </p:tgtEl>
                                        <p:attrNameLst>
                                          <p:attrName>ppt_x</p:attrName>
                                        </p:attrNameLst>
                                      </p:cBhvr>
                                      <p:tavLst>
                                        <p:tav tm="0">
                                          <p:val>
                                            <p:strVal val="#ppt_x-0.05"/>
                                          </p:val>
                                        </p:tav>
                                        <p:tav tm="100000">
                                          <p:val>
                                            <p:strVal val="#ppt_x"/>
                                          </p:val>
                                        </p:tav>
                                      </p:tavLst>
                                    </p:anim>
                                  </p:childTnLst>
                                </p:cTn>
                              </p:par>
                              <p:par>
                                <p:cTn id="47" presetID="42" presetClass="entr" presetSubtype="0" fill="hold" grpId="0" nodeType="withEffect">
                                  <p:stCondLst>
                                    <p:cond delay="730"/>
                                  </p:stCondLst>
                                  <p:childTnLst>
                                    <p:set>
                                      <p:cBhvr>
                                        <p:cTn id="48" dur="1" fill="hold">
                                          <p:stCondLst>
                                            <p:cond delay="0"/>
                                          </p:stCondLst>
                                        </p:cTn>
                                        <p:tgtEl>
                                          <p:spTgt spid="110"/>
                                        </p:tgtEl>
                                        <p:attrNameLst>
                                          <p:attrName>style.visibility</p:attrName>
                                        </p:attrNameLst>
                                      </p:cBhvr>
                                      <p:to>
                                        <p:strVal val="visible"/>
                                      </p:to>
                                    </p:set>
                                    <p:animEffect transition="in" filter="fade">
                                      <p:cBhvr>
                                        <p:cTn id="49" dur="500"/>
                                        <p:tgtEl>
                                          <p:spTgt spid="110"/>
                                        </p:tgtEl>
                                      </p:cBhvr>
                                    </p:animEffect>
                                    <p:anim calcmode="lin" valueType="num">
                                      <p:cBhvr additive="base">
                                        <p:cTn id="50" dur="500" decel="100000" fill="hold"/>
                                        <p:tgtEl>
                                          <p:spTgt spid="110"/>
                                        </p:tgtEl>
                                        <p:attrNameLst>
                                          <p:attrName>ppt_x</p:attrName>
                                        </p:attrNameLst>
                                      </p:cBhvr>
                                      <p:tavLst>
                                        <p:tav tm="0">
                                          <p:val>
                                            <p:strVal val="#ppt_x-0.05"/>
                                          </p:val>
                                        </p:tav>
                                        <p:tav tm="100000">
                                          <p:val>
                                            <p:strVal val="#ppt_x"/>
                                          </p:val>
                                        </p:tav>
                                      </p:tavLst>
                                    </p:anim>
                                  </p:childTnLst>
                                </p:cTn>
                              </p:par>
                              <p:par>
                                <p:cTn id="51" presetID="42" presetClass="entr" presetSubtype="0" fill="hold" grpId="0" nodeType="withEffect">
                                  <p:stCondLst>
                                    <p:cond delay="910"/>
                                  </p:stCondLst>
                                  <p:childTnLst>
                                    <p:set>
                                      <p:cBhvr>
                                        <p:cTn id="52" dur="1" fill="hold">
                                          <p:stCondLst>
                                            <p:cond delay="0"/>
                                          </p:stCondLst>
                                        </p:cTn>
                                        <p:tgtEl>
                                          <p:spTgt spid="111"/>
                                        </p:tgtEl>
                                        <p:attrNameLst>
                                          <p:attrName>style.visibility</p:attrName>
                                        </p:attrNameLst>
                                      </p:cBhvr>
                                      <p:to>
                                        <p:strVal val="visible"/>
                                      </p:to>
                                    </p:set>
                                    <p:animEffect transition="in" filter="fade">
                                      <p:cBhvr>
                                        <p:cTn id="53" dur="500"/>
                                        <p:tgtEl>
                                          <p:spTgt spid="111"/>
                                        </p:tgtEl>
                                      </p:cBhvr>
                                    </p:animEffect>
                                    <p:anim calcmode="lin" valueType="num">
                                      <p:cBhvr additive="base">
                                        <p:cTn id="54" dur="500" decel="100000" fill="hold"/>
                                        <p:tgtEl>
                                          <p:spTgt spid="111"/>
                                        </p:tgtEl>
                                        <p:attrNameLst>
                                          <p:attrName>ppt_x</p:attrName>
                                        </p:attrNameLst>
                                      </p:cBhvr>
                                      <p:tavLst>
                                        <p:tav tm="0">
                                          <p:val>
                                            <p:strVal val="#ppt_x-0.05"/>
                                          </p:val>
                                        </p:tav>
                                        <p:tav tm="100000">
                                          <p:val>
                                            <p:strVal val="#ppt_x"/>
                                          </p:val>
                                        </p:tav>
                                      </p:tavLst>
                                    </p:anim>
                                  </p:childTnLst>
                                </p:cTn>
                              </p:par>
                              <p:par>
                                <p:cTn id="55" presetID="42" presetClass="entr" presetSubtype="0" fill="hold" grpId="0" nodeType="withEffect">
                                  <p:stCondLst>
                                    <p:cond delay="910"/>
                                  </p:stCondLst>
                                  <p:childTnLst>
                                    <p:set>
                                      <p:cBhvr>
                                        <p:cTn id="56" dur="1" fill="hold">
                                          <p:stCondLst>
                                            <p:cond delay="0"/>
                                          </p:stCondLst>
                                        </p:cTn>
                                        <p:tgtEl>
                                          <p:spTgt spid="112"/>
                                        </p:tgtEl>
                                        <p:attrNameLst>
                                          <p:attrName>style.visibility</p:attrName>
                                        </p:attrNameLst>
                                      </p:cBhvr>
                                      <p:to>
                                        <p:strVal val="visible"/>
                                      </p:to>
                                    </p:set>
                                    <p:animEffect transition="in" filter="fade">
                                      <p:cBhvr>
                                        <p:cTn id="57" dur="500"/>
                                        <p:tgtEl>
                                          <p:spTgt spid="112"/>
                                        </p:tgtEl>
                                      </p:cBhvr>
                                    </p:animEffect>
                                    <p:anim calcmode="lin" valueType="num">
                                      <p:cBhvr additive="base">
                                        <p:cTn id="58" dur="500" decel="100000" fill="hold"/>
                                        <p:tgtEl>
                                          <p:spTgt spid="112"/>
                                        </p:tgtEl>
                                        <p:attrNameLst>
                                          <p:attrName>ppt_x</p:attrName>
                                        </p:attrNameLst>
                                      </p:cBhvr>
                                      <p:tavLst>
                                        <p:tav tm="0">
                                          <p:val>
                                            <p:strVal val="#ppt_x-0.05"/>
                                          </p:val>
                                        </p:tav>
                                        <p:tav tm="100000">
                                          <p:val>
                                            <p:strVal val="#ppt_x"/>
                                          </p:val>
                                        </p:tav>
                                      </p:tavLst>
                                    </p:anim>
                                  </p:childTnLst>
                                </p:cTn>
                              </p:par>
                              <p:par>
                                <p:cTn id="59" presetID="42" presetClass="entr" presetSubtype="0" fill="hold" nodeType="withEffect">
                                  <p:stCondLst>
                                    <p:cond delay="910"/>
                                  </p:stCondLst>
                                  <p:childTnLst>
                                    <p:set>
                                      <p:cBhvr>
                                        <p:cTn id="60" dur="1" fill="hold">
                                          <p:stCondLst>
                                            <p:cond delay="0"/>
                                          </p:stCondLst>
                                        </p:cTn>
                                        <p:tgtEl>
                                          <p:spTgt spid="113"/>
                                        </p:tgtEl>
                                        <p:attrNameLst>
                                          <p:attrName>style.visibility</p:attrName>
                                        </p:attrNameLst>
                                      </p:cBhvr>
                                      <p:to>
                                        <p:strVal val="visible"/>
                                      </p:to>
                                    </p:set>
                                    <p:animEffect transition="in" filter="fade">
                                      <p:cBhvr>
                                        <p:cTn id="61" dur="500"/>
                                        <p:tgtEl>
                                          <p:spTgt spid="113"/>
                                        </p:tgtEl>
                                      </p:cBhvr>
                                    </p:animEffect>
                                    <p:anim calcmode="lin" valueType="num">
                                      <p:cBhvr additive="base">
                                        <p:cTn id="62" dur="500" decel="100000" fill="hold"/>
                                        <p:tgtEl>
                                          <p:spTgt spid="113"/>
                                        </p:tgtEl>
                                        <p:attrNameLst>
                                          <p:attrName>ppt_x</p:attrName>
                                        </p:attrNameLst>
                                      </p:cBhvr>
                                      <p:tavLst>
                                        <p:tav tm="0">
                                          <p:val>
                                            <p:strVal val="#ppt_x-0.05"/>
                                          </p:val>
                                        </p:tav>
                                        <p:tav tm="100000">
                                          <p:val>
                                            <p:strVal val="#ppt_x"/>
                                          </p:val>
                                        </p:tav>
                                      </p:tavLst>
                                    </p:anim>
                                  </p:childTnLst>
                                </p:cTn>
                              </p:par>
                              <p:par>
                                <p:cTn id="63" presetID="42" presetClass="entr" presetSubtype="0" fill="hold" grpId="0" nodeType="withEffect">
                                  <p:stCondLst>
                                    <p:cond delay="910"/>
                                  </p:stCondLst>
                                  <p:childTnLst>
                                    <p:set>
                                      <p:cBhvr>
                                        <p:cTn id="64" dur="1" fill="hold">
                                          <p:stCondLst>
                                            <p:cond delay="0"/>
                                          </p:stCondLst>
                                        </p:cTn>
                                        <p:tgtEl>
                                          <p:spTgt spid="114"/>
                                        </p:tgtEl>
                                        <p:attrNameLst>
                                          <p:attrName>style.visibility</p:attrName>
                                        </p:attrNameLst>
                                      </p:cBhvr>
                                      <p:to>
                                        <p:strVal val="visible"/>
                                      </p:to>
                                    </p:set>
                                    <p:animEffect transition="in" filter="fade">
                                      <p:cBhvr>
                                        <p:cTn id="65" dur="500"/>
                                        <p:tgtEl>
                                          <p:spTgt spid="114"/>
                                        </p:tgtEl>
                                      </p:cBhvr>
                                    </p:animEffect>
                                    <p:anim calcmode="lin" valueType="num">
                                      <p:cBhvr additive="base">
                                        <p:cTn id="66" dur="500" decel="100000" fill="hold"/>
                                        <p:tgtEl>
                                          <p:spTgt spid="114"/>
                                        </p:tgtEl>
                                        <p:attrNameLst>
                                          <p:attrName>ppt_x</p:attrName>
                                        </p:attrNameLst>
                                      </p:cBhvr>
                                      <p:tavLst>
                                        <p:tav tm="0">
                                          <p:val>
                                            <p:strVal val="#ppt_x-0.05"/>
                                          </p:val>
                                        </p:tav>
                                        <p:tav tm="100000">
                                          <p:val>
                                            <p:strVal val="#ppt_x"/>
                                          </p:val>
                                        </p:tav>
                                      </p:tavLst>
                                    </p:anim>
                                  </p:childTnLst>
                                </p:cTn>
                              </p:par>
                              <p:par>
                                <p:cTn id="67" presetID="42" presetClass="entr" presetSubtype="0" fill="hold" grpId="0" nodeType="withEffect">
                                  <p:stCondLst>
                                    <p:cond delay="1090"/>
                                  </p:stCondLst>
                                  <p:childTnLst>
                                    <p:set>
                                      <p:cBhvr>
                                        <p:cTn id="68" dur="1" fill="hold">
                                          <p:stCondLst>
                                            <p:cond delay="0"/>
                                          </p:stCondLst>
                                        </p:cTn>
                                        <p:tgtEl>
                                          <p:spTgt spid="115"/>
                                        </p:tgtEl>
                                        <p:attrNameLst>
                                          <p:attrName>style.visibility</p:attrName>
                                        </p:attrNameLst>
                                      </p:cBhvr>
                                      <p:to>
                                        <p:strVal val="visible"/>
                                      </p:to>
                                    </p:set>
                                    <p:animEffect transition="in" filter="fade">
                                      <p:cBhvr>
                                        <p:cTn id="69" dur="500"/>
                                        <p:tgtEl>
                                          <p:spTgt spid="115"/>
                                        </p:tgtEl>
                                      </p:cBhvr>
                                    </p:animEffect>
                                    <p:anim calcmode="lin" valueType="num">
                                      <p:cBhvr additive="base">
                                        <p:cTn id="70" dur="500" decel="100000" fill="hold"/>
                                        <p:tgtEl>
                                          <p:spTgt spid="115"/>
                                        </p:tgtEl>
                                        <p:attrNameLst>
                                          <p:attrName>ppt_x</p:attrName>
                                        </p:attrNameLst>
                                      </p:cBhvr>
                                      <p:tavLst>
                                        <p:tav tm="0">
                                          <p:val>
                                            <p:strVal val="#ppt_x-0.05"/>
                                          </p:val>
                                        </p:tav>
                                        <p:tav tm="100000">
                                          <p:val>
                                            <p:strVal val="#ppt_x"/>
                                          </p:val>
                                        </p:tav>
                                      </p:tavLst>
                                    </p:anim>
                                  </p:childTnLst>
                                </p:cTn>
                              </p:par>
                              <p:par>
                                <p:cTn id="71" presetID="42" presetClass="entr" presetSubtype="0" fill="hold" grpId="0" nodeType="withEffect">
                                  <p:stCondLst>
                                    <p:cond delay="1090"/>
                                  </p:stCondLst>
                                  <p:childTnLst>
                                    <p:set>
                                      <p:cBhvr>
                                        <p:cTn id="72" dur="1" fill="hold">
                                          <p:stCondLst>
                                            <p:cond delay="0"/>
                                          </p:stCondLst>
                                        </p:cTn>
                                        <p:tgtEl>
                                          <p:spTgt spid="116"/>
                                        </p:tgtEl>
                                        <p:attrNameLst>
                                          <p:attrName>style.visibility</p:attrName>
                                        </p:attrNameLst>
                                      </p:cBhvr>
                                      <p:to>
                                        <p:strVal val="visible"/>
                                      </p:to>
                                    </p:set>
                                    <p:animEffect transition="in" filter="fade">
                                      <p:cBhvr>
                                        <p:cTn id="73" dur="500"/>
                                        <p:tgtEl>
                                          <p:spTgt spid="116"/>
                                        </p:tgtEl>
                                      </p:cBhvr>
                                    </p:animEffect>
                                    <p:anim calcmode="lin" valueType="num">
                                      <p:cBhvr additive="base">
                                        <p:cTn id="74" dur="500" decel="100000" fill="hold"/>
                                        <p:tgtEl>
                                          <p:spTgt spid="116"/>
                                        </p:tgtEl>
                                        <p:attrNameLst>
                                          <p:attrName>ppt_x</p:attrName>
                                        </p:attrNameLst>
                                      </p:cBhvr>
                                      <p:tavLst>
                                        <p:tav tm="0">
                                          <p:val>
                                            <p:strVal val="#ppt_x-0.05"/>
                                          </p:val>
                                        </p:tav>
                                        <p:tav tm="100000">
                                          <p:val>
                                            <p:strVal val="#ppt_x"/>
                                          </p:val>
                                        </p:tav>
                                      </p:tavLst>
                                    </p:anim>
                                  </p:childTnLst>
                                </p:cTn>
                              </p:par>
                              <p:par>
                                <p:cTn id="75" presetID="42" presetClass="entr" presetSubtype="0" fill="hold" nodeType="withEffect">
                                  <p:stCondLst>
                                    <p:cond delay="1090"/>
                                  </p:stCondLst>
                                  <p:childTnLst>
                                    <p:set>
                                      <p:cBhvr>
                                        <p:cTn id="76" dur="1" fill="hold">
                                          <p:stCondLst>
                                            <p:cond delay="0"/>
                                          </p:stCondLst>
                                        </p:cTn>
                                        <p:tgtEl>
                                          <p:spTgt spid="117"/>
                                        </p:tgtEl>
                                        <p:attrNameLst>
                                          <p:attrName>style.visibility</p:attrName>
                                        </p:attrNameLst>
                                      </p:cBhvr>
                                      <p:to>
                                        <p:strVal val="visible"/>
                                      </p:to>
                                    </p:set>
                                    <p:animEffect transition="in" filter="fade">
                                      <p:cBhvr>
                                        <p:cTn id="77" dur="500"/>
                                        <p:tgtEl>
                                          <p:spTgt spid="117"/>
                                        </p:tgtEl>
                                      </p:cBhvr>
                                    </p:animEffect>
                                    <p:anim calcmode="lin" valueType="num">
                                      <p:cBhvr additive="base">
                                        <p:cTn id="78" dur="500" decel="100000" fill="hold"/>
                                        <p:tgtEl>
                                          <p:spTgt spid="117"/>
                                        </p:tgtEl>
                                        <p:attrNameLst>
                                          <p:attrName>ppt_x</p:attrName>
                                        </p:attrNameLst>
                                      </p:cBhvr>
                                      <p:tavLst>
                                        <p:tav tm="0">
                                          <p:val>
                                            <p:strVal val="#ppt_x-0.05"/>
                                          </p:val>
                                        </p:tav>
                                        <p:tav tm="100000">
                                          <p:val>
                                            <p:strVal val="#ppt_x"/>
                                          </p:val>
                                        </p:tav>
                                      </p:tavLst>
                                    </p:anim>
                                  </p:childTnLst>
                                </p:cTn>
                              </p:par>
                              <p:par>
                                <p:cTn id="79" presetID="42" presetClass="entr" presetSubtype="0" fill="hold" grpId="0" nodeType="withEffect">
                                  <p:stCondLst>
                                    <p:cond delay="1090"/>
                                  </p:stCondLst>
                                  <p:childTnLst>
                                    <p:set>
                                      <p:cBhvr>
                                        <p:cTn id="80" dur="1" fill="hold">
                                          <p:stCondLst>
                                            <p:cond delay="0"/>
                                          </p:stCondLst>
                                        </p:cTn>
                                        <p:tgtEl>
                                          <p:spTgt spid="118"/>
                                        </p:tgtEl>
                                        <p:attrNameLst>
                                          <p:attrName>style.visibility</p:attrName>
                                        </p:attrNameLst>
                                      </p:cBhvr>
                                      <p:to>
                                        <p:strVal val="visible"/>
                                      </p:to>
                                    </p:set>
                                    <p:animEffect transition="in" filter="fade">
                                      <p:cBhvr>
                                        <p:cTn id="81" dur="500"/>
                                        <p:tgtEl>
                                          <p:spTgt spid="118"/>
                                        </p:tgtEl>
                                      </p:cBhvr>
                                    </p:animEffect>
                                    <p:anim calcmode="lin" valueType="num">
                                      <p:cBhvr additive="base">
                                        <p:cTn id="82" dur="500" decel="100000" fill="hold"/>
                                        <p:tgtEl>
                                          <p:spTgt spid="118"/>
                                        </p:tgtEl>
                                        <p:attrNameLst>
                                          <p:attrName>ppt_x</p:attrName>
                                        </p:attrNameLst>
                                      </p:cBhvr>
                                      <p:tavLst>
                                        <p:tav tm="0">
                                          <p:val>
                                            <p:strVal val="#ppt_x-0.05"/>
                                          </p:val>
                                        </p:tav>
                                        <p:tav tm="100000">
                                          <p:val>
                                            <p:strVal val="#ppt_x"/>
                                          </p:val>
                                        </p:tav>
                                      </p:tavLst>
                                    </p:anim>
                                  </p:childTnLst>
                                </p:cTn>
                              </p:par>
                              <p:par>
                                <p:cTn id="83" presetID="42" presetClass="entr" presetSubtype="0" fill="hold" grpId="0" nodeType="withEffect">
                                  <p:stCondLst>
                                    <p:cond delay="1270"/>
                                  </p:stCondLst>
                                  <p:childTnLst>
                                    <p:set>
                                      <p:cBhvr>
                                        <p:cTn id="84" dur="1" fill="hold">
                                          <p:stCondLst>
                                            <p:cond delay="0"/>
                                          </p:stCondLst>
                                        </p:cTn>
                                        <p:tgtEl>
                                          <p:spTgt spid="119"/>
                                        </p:tgtEl>
                                        <p:attrNameLst>
                                          <p:attrName>style.visibility</p:attrName>
                                        </p:attrNameLst>
                                      </p:cBhvr>
                                      <p:to>
                                        <p:strVal val="visible"/>
                                      </p:to>
                                    </p:set>
                                    <p:animEffect transition="in" filter="fade">
                                      <p:cBhvr>
                                        <p:cTn id="85" dur="500"/>
                                        <p:tgtEl>
                                          <p:spTgt spid="119"/>
                                        </p:tgtEl>
                                      </p:cBhvr>
                                    </p:animEffect>
                                    <p:anim calcmode="lin" valueType="num">
                                      <p:cBhvr additive="base">
                                        <p:cTn id="86" dur="500" decel="100000" fill="hold"/>
                                        <p:tgtEl>
                                          <p:spTgt spid="119"/>
                                        </p:tgtEl>
                                        <p:attrNameLst>
                                          <p:attrName>ppt_x</p:attrName>
                                        </p:attrNameLst>
                                      </p:cBhvr>
                                      <p:tavLst>
                                        <p:tav tm="0">
                                          <p:val>
                                            <p:strVal val="#ppt_x-0.05"/>
                                          </p:val>
                                        </p:tav>
                                        <p:tav tm="100000">
                                          <p:val>
                                            <p:strVal val="#ppt_x"/>
                                          </p:val>
                                        </p:tav>
                                      </p:tavLst>
                                    </p:anim>
                                  </p:childTnLst>
                                </p:cTn>
                              </p:par>
                              <p:par>
                                <p:cTn id="87" presetID="42" presetClass="entr" presetSubtype="0" fill="hold" grpId="0" nodeType="withEffect">
                                  <p:stCondLst>
                                    <p:cond delay="1270"/>
                                  </p:stCondLst>
                                  <p:childTnLst>
                                    <p:set>
                                      <p:cBhvr>
                                        <p:cTn id="88" dur="1" fill="hold">
                                          <p:stCondLst>
                                            <p:cond delay="0"/>
                                          </p:stCondLst>
                                        </p:cTn>
                                        <p:tgtEl>
                                          <p:spTgt spid="120"/>
                                        </p:tgtEl>
                                        <p:attrNameLst>
                                          <p:attrName>style.visibility</p:attrName>
                                        </p:attrNameLst>
                                      </p:cBhvr>
                                      <p:to>
                                        <p:strVal val="visible"/>
                                      </p:to>
                                    </p:set>
                                    <p:animEffect transition="in" filter="fade">
                                      <p:cBhvr>
                                        <p:cTn id="89" dur="500"/>
                                        <p:tgtEl>
                                          <p:spTgt spid="120"/>
                                        </p:tgtEl>
                                      </p:cBhvr>
                                    </p:animEffect>
                                    <p:anim calcmode="lin" valueType="num">
                                      <p:cBhvr additive="base">
                                        <p:cTn id="90" dur="500" decel="100000" fill="hold"/>
                                        <p:tgtEl>
                                          <p:spTgt spid="120"/>
                                        </p:tgtEl>
                                        <p:attrNameLst>
                                          <p:attrName>ppt_x</p:attrName>
                                        </p:attrNameLst>
                                      </p:cBhvr>
                                      <p:tavLst>
                                        <p:tav tm="0">
                                          <p:val>
                                            <p:strVal val="#ppt_x-0.05"/>
                                          </p:val>
                                        </p:tav>
                                        <p:tav tm="100000">
                                          <p:val>
                                            <p:strVal val="#ppt_x"/>
                                          </p:val>
                                        </p:tav>
                                      </p:tavLst>
                                    </p:anim>
                                  </p:childTnLst>
                                </p:cTn>
                              </p:par>
                              <p:par>
                                <p:cTn id="91" presetID="42" presetClass="entr" presetSubtype="0" fill="hold" nodeType="withEffect">
                                  <p:stCondLst>
                                    <p:cond delay="1270"/>
                                  </p:stCondLst>
                                  <p:childTnLst>
                                    <p:set>
                                      <p:cBhvr>
                                        <p:cTn id="92" dur="1" fill="hold">
                                          <p:stCondLst>
                                            <p:cond delay="0"/>
                                          </p:stCondLst>
                                        </p:cTn>
                                        <p:tgtEl>
                                          <p:spTgt spid="121"/>
                                        </p:tgtEl>
                                        <p:attrNameLst>
                                          <p:attrName>style.visibility</p:attrName>
                                        </p:attrNameLst>
                                      </p:cBhvr>
                                      <p:to>
                                        <p:strVal val="visible"/>
                                      </p:to>
                                    </p:set>
                                    <p:animEffect transition="in" filter="fade">
                                      <p:cBhvr>
                                        <p:cTn id="93" dur="500"/>
                                        <p:tgtEl>
                                          <p:spTgt spid="121"/>
                                        </p:tgtEl>
                                      </p:cBhvr>
                                    </p:animEffect>
                                    <p:anim calcmode="lin" valueType="num">
                                      <p:cBhvr additive="base">
                                        <p:cTn id="94" dur="500" decel="100000" fill="hold"/>
                                        <p:tgtEl>
                                          <p:spTgt spid="121"/>
                                        </p:tgtEl>
                                        <p:attrNameLst>
                                          <p:attrName>ppt_x</p:attrName>
                                        </p:attrNameLst>
                                      </p:cBhvr>
                                      <p:tavLst>
                                        <p:tav tm="0">
                                          <p:val>
                                            <p:strVal val="#ppt_x-0.05"/>
                                          </p:val>
                                        </p:tav>
                                        <p:tav tm="100000">
                                          <p:val>
                                            <p:strVal val="#ppt_x"/>
                                          </p:val>
                                        </p:tav>
                                      </p:tavLst>
                                    </p:anim>
                                  </p:childTnLst>
                                </p:cTn>
                              </p:par>
                              <p:par>
                                <p:cTn id="95" presetID="42" presetClass="entr" presetSubtype="0" fill="hold" grpId="0" nodeType="withEffect">
                                  <p:stCondLst>
                                    <p:cond delay="1270"/>
                                  </p:stCondLst>
                                  <p:childTnLst>
                                    <p:set>
                                      <p:cBhvr>
                                        <p:cTn id="96" dur="1" fill="hold">
                                          <p:stCondLst>
                                            <p:cond delay="0"/>
                                          </p:stCondLst>
                                        </p:cTn>
                                        <p:tgtEl>
                                          <p:spTgt spid="122"/>
                                        </p:tgtEl>
                                        <p:attrNameLst>
                                          <p:attrName>style.visibility</p:attrName>
                                        </p:attrNameLst>
                                      </p:cBhvr>
                                      <p:to>
                                        <p:strVal val="visible"/>
                                      </p:to>
                                    </p:set>
                                    <p:animEffect transition="in" filter="fade">
                                      <p:cBhvr>
                                        <p:cTn id="97" dur="500"/>
                                        <p:tgtEl>
                                          <p:spTgt spid="122"/>
                                        </p:tgtEl>
                                      </p:cBhvr>
                                    </p:animEffect>
                                    <p:anim calcmode="lin" valueType="num">
                                      <p:cBhvr additive="base">
                                        <p:cTn id="98" dur="500" decel="100000" fill="hold"/>
                                        <p:tgtEl>
                                          <p:spTgt spid="122"/>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8" grpId="0" animBg="1"/>
      <p:bldP spid="110" grpId="0" animBg="1"/>
      <p:bldP spid="111" grpId="0" animBg="1"/>
      <p:bldP spid="112" grpId="0" animBg="1"/>
      <p:bldP spid="114" grpId="0" animBg="1"/>
      <p:bldP spid="115" grpId="0" animBg="1"/>
      <p:bldP spid="116" grpId="0" animBg="1"/>
      <p:bldP spid="118" grpId="0" animBg="1"/>
      <p:bldP spid="119" grpId="0" animBg="1"/>
      <p:bldP spid="120" grpId="0" animBg="1"/>
      <p:bldP spid="122"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Process or People?</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MANIFESTO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204</a:t>
            </a:r>
            <a:endParaRPr lang="en-US" sz="850" dirty="0"/>
          </a:p>
        </p:txBody>
      </p:sp>
      <p:sp>
        <p:nvSpPr>
          <p:cNvPr id="101" name="s101"/>
          <p:cNvSpPr/>
          <p:nvPr/>
        </p:nvSpPr>
        <p:spPr>
          <a:xfrm>
            <a:off x="726034" y="195681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02" name="s102"/>
          <p:cNvSpPr/>
          <p:nvPr/>
        </p:nvSpPr>
        <p:spPr>
          <a:xfrm>
            <a:off x="543154" y="1783080"/>
            <a:ext cx="11088014" cy="64008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A team has perfect tickets in Jira, but nobody talks when a payment bug appears. Are they Agile?</a:t>
            </a:r>
            <a:endParaRPr lang="en-US" sz="1500" dirty="0"/>
          </a:p>
        </p:txBody>
      </p:sp>
      <p:sp>
        <p:nvSpPr>
          <p:cNvPr id="103" name="s103"/>
          <p:cNvSpPr/>
          <p:nvPr/>
        </p:nvSpPr>
        <p:spPr>
          <a:xfrm>
            <a:off x="543154" y="2606040"/>
            <a:ext cx="4754880" cy="329184"/>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50" b="1" dirty="0">
                <a:solidFill>
                  <a:srgbClr val="13D0F7"/>
                </a:solidFill>
                <a:latin typeface="Segoe UI"/>
                <a:ea typeface="Segoe UI"/>
                <a:cs typeface="Segoe UI"/>
              </a:rPr>
              <a:t>CASE · Food Delivery: rider app crash at dinner peak</a:t>
            </a:r>
            <a:endParaRPr lang="en-US" sz="1050" dirty="0"/>
          </a:p>
        </p:txBody>
      </p:sp>
      <p:sp>
        <p:nvSpPr>
          <p:cNvPr id="104" name="s104"/>
          <p:cNvSpPr/>
          <p:nvPr/>
        </p:nvSpPr>
        <p:spPr>
          <a:xfrm>
            <a:off x="543154" y="3154680"/>
            <a:ext cx="11088014" cy="1143000"/>
          </a:xfrm>
          <a:prstGeom prst="roundRect">
            <a:avLst>
              <a:gd name="adj" fmla="val 10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05" name="s105"/>
          <p:cNvSpPr txBox="1"/>
          <p:nvPr/>
        </p:nvSpPr>
        <p:spPr>
          <a:xfrm>
            <a:off x="771754" y="3246120"/>
            <a:ext cx="27432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F87171"/>
                </a:solidFill>
                <a:latin typeface="Segoe UI"/>
                <a:ea typeface="Segoe UI"/>
                <a:cs typeface="Segoe UI"/>
              </a:rPr>
              <a:t>PROCESS-ONLY</a:t>
            </a:r>
            <a:endParaRPr lang="en-US" sz="1100" dirty="0"/>
          </a:p>
        </p:txBody>
      </p:sp>
      <p:sp>
        <p:nvSpPr>
          <p:cNvPr id="106" name="s106"/>
          <p:cNvSpPr/>
          <p:nvPr/>
        </p:nvSpPr>
        <p:spPr>
          <a:xfrm>
            <a:off x="771754" y="3657600"/>
            <a:ext cx="1554480" cy="420624"/>
          </a:xfrm>
          <a:prstGeom prst="roundRect">
            <a:avLst>
              <a:gd name="adj" fmla="val 30000"/>
            </a:avLst>
          </a:prstGeom>
          <a:solidFill>
            <a:srgbClr val="F87171">
              <a:alpha val="14000"/>
            </a:srgbClr>
          </a:solidFill>
          <a:ln w="12700">
            <a:solidFill>
              <a:srgbClr val="F87171"/>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FFFFF"/>
                </a:solidFill>
                <a:latin typeface="Segoe UI"/>
                <a:ea typeface="Segoe UI"/>
                <a:cs typeface="Segoe UI"/>
              </a:rPr>
              <a:t>Open ticket</a:t>
            </a:r>
            <a:endParaRPr lang="en-US" sz="1100" dirty="0"/>
          </a:p>
        </p:txBody>
      </p:sp>
      <p:sp>
        <p:nvSpPr>
          <p:cNvPr id="107" name="s107"/>
          <p:cNvSpPr/>
          <p:nvPr/>
        </p:nvSpPr>
        <p:spPr>
          <a:xfrm>
            <a:off x="2600554" y="3657600"/>
            <a:ext cx="1554480" cy="420624"/>
          </a:xfrm>
          <a:prstGeom prst="roundRect">
            <a:avLst>
              <a:gd name="adj" fmla="val 30000"/>
            </a:avLst>
          </a:prstGeom>
          <a:solidFill>
            <a:srgbClr val="F87171">
              <a:alpha val="14000"/>
            </a:srgbClr>
          </a:solidFill>
          <a:ln w="12700">
            <a:solidFill>
              <a:srgbClr val="F87171"/>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FFFFF"/>
                </a:solidFill>
                <a:latin typeface="Segoe UI"/>
                <a:ea typeface="Segoe UI"/>
                <a:cs typeface="Segoe UI"/>
              </a:rPr>
              <a:t>Wait for triage</a:t>
            </a:r>
            <a:endParaRPr lang="en-US" sz="1100" dirty="0"/>
          </a:p>
        </p:txBody>
      </p:sp>
      <p:cxnSp>
        <p:nvCxnSpPr>
          <p:cNvPr id="108" name="ln108"/>
          <p:cNvCxnSpPr/>
          <p:nvPr/>
        </p:nvCxnSpPr>
        <p:spPr>
          <a:xfrm>
            <a:off x="2362810" y="3867912"/>
            <a:ext cx="201168" cy="0"/>
          </a:xfrm>
          <a:prstGeom prst="line">
            <a:avLst/>
          </a:prstGeom>
          <a:ln w="19050">
            <a:solidFill>
              <a:srgbClr val="F87171"/>
            </a:solidFill>
            <a:tailEnd type="triangle" w="med" len="med"/>
          </a:ln>
        </p:spPr>
      </p:cxnSp>
      <p:sp>
        <p:nvSpPr>
          <p:cNvPr id="109" name="s109"/>
          <p:cNvSpPr/>
          <p:nvPr/>
        </p:nvSpPr>
        <p:spPr>
          <a:xfrm>
            <a:off x="4429354" y="3657600"/>
            <a:ext cx="1554480" cy="420624"/>
          </a:xfrm>
          <a:prstGeom prst="roundRect">
            <a:avLst>
              <a:gd name="adj" fmla="val 30000"/>
            </a:avLst>
          </a:prstGeom>
          <a:solidFill>
            <a:srgbClr val="F87171">
              <a:alpha val="14000"/>
            </a:srgbClr>
          </a:solidFill>
          <a:ln w="12700">
            <a:solidFill>
              <a:srgbClr val="F87171"/>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FFFFF"/>
                </a:solidFill>
                <a:latin typeface="Segoe UI"/>
                <a:ea typeface="Segoe UI"/>
                <a:cs typeface="Segoe UI"/>
              </a:rPr>
              <a:t>Email overnight</a:t>
            </a:r>
            <a:endParaRPr lang="en-US" sz="1100" dirty="0"/>
          </a:p>
        </p:txBody>
      </p:sp>
      <p:cxnSp>
        <p:nvCxnSpPr>
          <p:cNvPr id="110" name="ln110"/>
          <p:cNvCxnSpPr/>
          <p:nvPr/>
        </p:nvCxnSpPr>
        <p:spPr>
          <a:xfrm>
            <a:off x="4191610" y="3867912"/>
            <a:ext cx="201168" cy="0"/>
          </a:xfrm>
          <a:prstGeom prst="line">
            <a:avLst/>
          </a:prstGeom>
          <a:ln w="19050">
            <a:solidFill>
              <a:srgbClr val="F87171"/>
            </a:solidFill>
            <a:tailEnd type="triangle" w="med" len="med"/>
          </a:ln>
        </p:spPr>
      </p:cxnSp>
      <p:sp>
        <p:nvSpPr>
          <p:cNvPr id="111" name="s111"/>
          <p:cNvSpPr/>
          <p:nvPr/>
        </p:nvSpPr>
        <p:spPr>
          <a:xfrm>
            <a:off x="6258154" y="3657600"/>
            <a:ext cx="1554480" cy="420624"/>
          </a:xfrm>
          <a:prstGeom prst="roundRect">
            <a:avLst>
              <a:gd name="adj" fmla="val 30000"/>
            </a:avLst>
          </a:prstGeom>
          <a:solidFill>
            <a:srgbClr val="F87171">
              <a:alpha val="14000"/>
            </a:srgbClr>
          </a:solidFill>
          <a:ln w="12700">
            <a:solidFill>
              <a:srgbClr val="F87171"/>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FFFFF"/>
                </a:solidFill>
                <a:latin typeface="Segoe UI"/>
                <a:ea typeface="Segoe UI"/>
                <a:cs typeface="Segoe UI"/>
              </a:rPr>
              <a:t>Fix next day</a:t>
            </a:r>
            <a:endParaRPr lang="en-US" sz="1100" dirty="0"/>
          </a:p>
        </p:txBody>
      </p:sp>
      <p:cxnSp>
        <p:nvCxnSpPr>
          <p:cNvPr id="112" name="ln112"/>
          <p:cNvCxnSpPr/>
          <p:nvPr/>
        </p:nvCxnSpPr>
        <p:spPr>
          <a:xfrm>
            <a:off x="6020410" y="3867912"/>
            <a:ext cx="201168" cy="0"/>
          </a:xfrm>
          <a:prstGeom prst="line">
            <a:avLst/>
          </a:prstGeom>
          <a:ln w="19050">
            <a:solidFill>
              <a:srgbClr val="F87171"/>
            </a:solidFill>
            <a:tailEnd type="triangle" w="med" len="med"/>
          </a:ln>
        </p:spPr>
      </p:cxnSp>
      <p:sp>
        <p:nvSpPr>
          <p:cNvPr id="113" name="s113"/>
          <p:cNvSpPr/>
          <p:nvPr/>
        </p:nvSpPr>
        <p:spPr>
          <a:xfrm>
            <a:off x="9116568" y="3337560"/>
            <a:ext cx="2286000" cy="777240"/>
          </a:xfrm>
          <a:prstGeom prst="roundRect">
            <a:avLst>
              <a:gd name="adj" fmla="val 12000"/>
            </a:avLst>
          </a:prstGeom>
          <a:solidFill>
            <a:srgbClr val="F87171">
              <a:alpha val="14000"/>
            </a:srgbClr>
          </a:solidFill>
          <a:ln w="127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2200" b="1" dirty="0">
                <a:solidFill>
                  <a:srgbClr val="F87171"/>
                </a:solidFill>
                <a:latin typeface="Segoe UI"/>
                <a:ea typeface="Segoe UI"/>
                <a:cs typeface="Segoe UI"/>
              </a:rPr>
              <a:t>~18 h</a:t>
            </a:r>
            <a:endParaRPr lang="en-US" sz="2200" dirty="0"/>
          </a:p>
          <a:p>
            <a:pPr marL="0" indent="0" algn="ctr">
              <a:spcBef>
                <a:spcPts val="0"/>
              </a:spcBef>
              <a:spcAft>
                <a:spcPts val="0"/>
              </a:spcAft>
              <a:buNone/>
            </a:pPr>
            <a:r>
              <a:rPr lang="en-US" sz="1000" b="0" dirty="0">
                <a:solidFill>
                  <a:srgbClr val="E2E8F0"/>
                </a:solidFill>
                <a:latin typeface="Segoe UI"/>
                <a:ea typeface="Segoe UI"/>
                <a:cs typeface="Segoe UI"/>
              </a:rPr>
              <a:t>riders offline · orders lost</a:t>
            </a:r>
            <a:endParaRPr lang="en-US" sz="1000" dirty="0"/>
          </a:p>
        </p:txBody>
      </p:sp>
      <p:sp>
        <p:nvSpPr>
          <p:cNvPr id="114" name="s114"/>
          <p:cNvSpPr/>
          <p:nvPr/>
        </p:nvSpPr>
        <p:spPr>
          <a:xfrm>
            <a:off x="543154" y="4480560"/>
            <a:ext cx="11088014" cy="1143000"/>
          </a:xfrm>
          <a:prstGeom prst="roundRect">
            <a:avLst>
              <a:gd name="adj" fmla="val 10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15" name="s115"/>
          <p:cNvSpPr txBox="1"/>
          <p:nvPr/>
        </p:nvSpPr>
        <p:spPr>
          <a:xfrm>
            <a:off x="771754" y="4572000"/>
            <a:ext cx="36576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34D399"/>
                </a:solidFill>
                <a:latin typeface="Segoe UI"/>
                <a:ea typeface="Segoe UI"/>
                <a:cs typeface="Segoe UI"/>
              </a:rPr>
              <a:t>PEOPLE + INTERACTIONS</a:t>
            </a:r>
            <a:endParaRPr lang="en-US" sz="1100" dirty="0"/>
          </a:p>
        </p:txBody>
      </p:sp>
      <p:sp>
        <p:nvSpPr>
          <p:cNvPr id="116" name="s116"/>
          <p:cNvSpPr/>
          <p:nvPr/>
        </p:nvSpPr>
        <p:spPr>
          <a:xfrm>
            <a:off x="771754" y="4983480"/>
            <a:ext cx="1554480" cy="420624"/>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FFFFF"/>
                </a:solidFill>
                <a:latin typeface="Segoe UI"/>
                <a:ea typeface="Segoe UI"/>
                <a:cs typeface="Segoe UI"/>
              </a:rPr>
              <a:t>10-min call</a:t>
            </a:r>
            <a:endParaRPr lang="en-US" sz="1100" dirty="0"/>
          </a:p>
        </p:txBody>
      </p:sp>
      <p:sp>
        <p:nvSpPr>
          <p:cNvPr id="117" name="s117"/>
          <p:cNvSpPr/>
          <p:nvPr/>
        </p:nvSpPr>
        <p:spPr>
          <a:xfrm>
            <a:off x="2600554" y="4983480"/>
            <a:ext cx="1554480" cy="420624"/>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FFFFF"/>
                </a:solidFill>
                <a:latin typeface="Segoe UI"/>
                <a:ea typeface="Segoe UI"/>
                <a:cs typeface="Segoe UI"/>
              </a:rPr>
              <a:t>Reproduce together</a:t>
            </a:r>
            <a:endParaRPr lang="en-US" sz="1100" dirty="0"/>
          </a:p>
        </p:txBody>
      </p:sp>
      <p:cxnSp>
        <p:nvCxnSpPr>
          <p:cNvPr id="118" name="ln118"/>
          <p:cNvCxnSpPr/>
          <p:nvPr/>
        </p:nvCxnSpPr>
        <p:spPr>
          <a:xfrm>
            <a:off x="2362810" y="5193792"/>
            <a:ext cx="201168" cy="0"/>
          </a:xfrm>
          <a:prstGeom prst="line">
            <a:avLst/>
          </a:prstGeom>
          <a:ln w="19050">
            <a:solidFill>
              <a:srgbClr val="34D399"/>
            </a:solidFill>
            <a:tailEnd type="triangle" w="med" len="med"/>
          </a:ln>
        </p:spPr>
      </p:cxnSp>
      <p:sp>
        <p:nvSpPr>
          <p:cNvPr id="119" name="s119"/>
          <p:cNvSpPr/>
          <p:nvPr/>
        </p:nvSpPr>
        <p:spPr>
          <a:xfrm>
            <a:off x="4429354" y="4983480"/>
            <a:ext cx="1554480" cy="420624"/>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FFFFF"/>
                </a:solidFill>
                <a:latin typeface="Segoe UI"/>
                <a:ea typeface="Segoe UI"/>
                <a:cs typeface="Segoe UI"/>
              </a:rPr>
              <a:t>Ship hotfix</a:t>
            </a:r>
            <a:endParaRPr lang="en-US" sz="1100" dirty="0"/>
          </a:p>
        </p:txBody>
      </p:sp>
      <p:cxnSp>
        <p:nvCxnSpPr>
          <p:cNvPr id="120" name="ln120"/>
          <p:cNvCxnSpPr/>
          <p:nvPr/>
        </p:nvCxnSpPr>
        <p:spPr>
          <a:xfrm>
            <a:off x="4191610" y="5193792"/>
            <a:ext cx="201168" cy="0"/>
          </a:xfrm>
          <a:prstGeom prst="line">
            <a:avLst/>
          </a:prstGeom>
          <a:ln w="19050">
            <a:solidFill>
              <a:srgbClr val="34D399"/>
            </a:solidFill>
            <a:tailEnd type="triangle" w="med" len="med"/>
          </a:ln>
        </p:spPr>
      </p:cxnSp>
      <p:sp>
        <p:nvSpPr>
          <p:cNvPr id="121" name="s121"/>
          <p:cNvSpPr/>
          <p:nvPr/>
        </p:nvSpPr>
        <p:spPr>
          <a:xfrm>
            <a:off x="9116568" y="4663440"/>
            <a:ext cx="2286000" cy="777240"/>
          </a:xfrm>
          <a:prstGeom prst="roundRect">
            <a:avLst>
              <a:gd name="adj" fmla="val 12000"/>
            </a:avLst>
          </a:prstGeom>
          <a:solidFill>
            <a:srgbClr val="34D399">
              <a:alpha val="14000"/>
            </a:srgbClr>
          </a:solidFill>
          <a:ln w="127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2200" b="1" dirty="0">
                <a:solidFill>
                  <a:srgbClr val="34D399"/>
                </a:solidFill>
                <a:latin typeface="Segoe UI"/>
                <a:ea typeface="Segoe UI"/>
                <a:cs typeface="Segoe UI"/>
              </a:rPr>
              <a:t>40 min</a:t>
            </a:r>
            <a:endParaRPr lang="en-US" sz="2200" dirty="0"/>
          </a:p>
          <a:p>
            <a:pPr marL="0" indent="0" algn="ctr">
              <a:spcBef>
                <a:spcPts val="0"/>
              </a:spcBef>
              <a:spcAft>
                <a:spcPts val="0"/>
              </a:spcAft>
              <a:buNone/>
            </a:pPr>
            <a:r>
              <a:rPr lang="en-US" sz="1000" b="0" dirty="0">
                <a:solidFill>
                  <a:srgbClr val="E2E8F0"/>
                </a:solidFill>
                <a:latin typeface="Segoe UI"/>
                <a:ea typeface="Segoe UI"/>
                <a:cs typeface="Segoe UI"/>
              </a:rPr>
              <a:t>tools used, after people talked</a:t>
            </a:r>
            <a:endParaRPr lang="en-US" sz="10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1"/>
                                        </p:tgtEl>
                                        <p:attrNameLst>
                                          <p:attrName>style.visibility</p:attrName>
                                        </p:attrNameLst>
                                      </p:cBhvr>
                                      <p:to>
                                        <p:strVal val="visible"/>
                                      </p:to>
                                    </p:set>
                                    <p:animEffect transition="in" filter="fade">
                                      <p:cBhvr>
                                        <p:cTn id="11" dur="500"/>
                                        <p:tgtEl>
                                          <p:spTgt spid="101"/>
                                        </p:tgtEl>
                                      </p:cBhvr>
                                    </p:animEffect>
                                    <p:anim calcmode="lin" valueType="num">
                                      <p:cBhvr additive="base">
                                        <p:cTn id="12" dur="500" decel="100000" fill="hold"/>
                                        <p:tgtEl>
                                          <p:spTgt spid="101"/>
                                        </p:tgtEl>
                                        <p:attrNameLst>
                                          <p:attrName>ppt_y</p:attrName>
                                        </p:attrNameLst>
                                      </p:cBhvr>
                                      <p:tavLst>
                                        <p:tav tm="0">
                                          <p:val>
                                            <p:strVal val="#ppt_y+0.06"/>
                                          </p:val>
                                        </p:tav>
                                        <p:tav tm="100000">
                                          <p:val>
                                            <p:strVal val="#ppt_y"/>
                                          </p:val>
                                        </p:tav>
                                      </p:tavLst>
                                    </p:anim>
                                  </p:childTnLst>
                                </p:cTn>
                              </p:par>
                              <p:par>
                                <p:cTn id="13" presetID="10" presetClass="entr" presetSubtype="0" fill="hold" grpId="0" nodeType="withEffect">
                                  <p:stCondLst>
                                    <p:cond delay="15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104"/>
                                        </p:tgtEl>
                                        <p:attrNameLst>
                                          <p:attrName>style.visibility</p:attrName>
                                        </p:attrNameLst>
                                      </p:cBhvr>
                                      <p:to>
                                        <p:strVal val="visible"/>
                                      </p:to>
                                    </p:set>
                                    <p:animEffect transition="in" filter="fade">
                                      <p:cBhvr>
                                        <p:cTn id="20" dur="500"/>
                                        <p:tgtEl>
                                          <p:spTgt spid="104"/>
                                        </p:tgtEl>
                                      </p:cBhvr>
                                    </p:animEffect>
                                    <p:anim calcmode="lin" valueType="num">
                                      <p:cBhvr additive="base">
                                        <p:cTn id="21" dur="500" decel="100000" fill="hold"/>
                                        <p:tgtEl>
                                          <p:spTgt spid="104"/>
                                        </p:tgtEl>
                                        <p:attrNameLst>
                                          <p:attrName>ppt_x</p:attrName>
                                        </p:attrNameLst>
                                      </p:cBhvr>
                                      <p:tavLst>
                                        <p:tav tm="0">
                                          <p:val>
                                            <p:strVal val="#ppt_x-0.05"/>
                                          </p:val>
                                        </p:tav>
                                        <p:tav tm="100000">
                                          <p:val>
                                            <p:strVal val="#ppt_x"/>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105"/>
                                        </p:tgtEl>
                                        <p:attrNameLst>
                                          <p:attrName>style.visibility</p:attrName>
                                        </p:attrNameLst>
                                      </p:cBhvr>
                                      <p:to>
                                        <p:strVal val="visible"/>
                                      </p:to>
                                    </p:set>
                                    <p:animEffect transition="in" filter="fade">
                                      <p:cBhvr>
                                        <p:cTn id="24" dur="500"/>
                                        <p:tgtEl>
                                          <p:spTgt spid="105"/>
                                        </p:tgtEl>
                                      </p:cBhvr>
                                    </p:animEffect>
                                    <p:anim calcmode="lin" valueType="num">
                                      <p:cBhvr additive="base">
                                        <p:cTn id="25" dur="500" decel="100000" fill="hold"/>
                                        <p:tgtEl>
                                          <p:spTgt spid="105"/>
                                        </p:tgtEl>
                                        <p:attrNameLst>
                                          <p:attrName>ppt_x</p:attrName>
                                        </p:attrNameLst>
                                      </p:cBhvr>
                                      <p:tavLst>
                                        <p:tav tm="0">
                                          <p:val>
                                            <p:strVal val="#ppt_x-0.05"/>
                                          </p:val>
                                        </p:tav>
                                        <p:tav tm="100000">
                                          <p:val>
                                            <p:strVal val="#ppt_x"/>
                                          </p:val>
                                        </p:tav>
                                      </p:tavLst>
                                    </p:anim>
                                  </p:childTnLst>
                                </p:cTn>
                              </p:par>
                              <p:par>
                                <p:cTn id="26" presetID="42" presetClass="entr" presetSubtype="0" fill="hold" grpId="0" nodeType="withEffect">
                                  <p:stCondLst>
                                    <p:cond delay="230"/>
                                  </p:stCondLst>
                                  <p:childTnLst>
                                    <p:set>
                                      <p:cBhvr>
                                        <p:cTn id="27" dur="1" fill="hold">
                                          <p:stCondLst>
                                            <p:cond delay="0"/>
                                          </p:stCondLst>
                                        </p:cTn>
                                        <p:tgtEl>
                                          <p:spTgt spid="106"/>
                                        </p:tgtEl>
                                        <p:attrNameLst>
                                          <p:attrName>style.visibility</p:attrName>
                                        </p:attrNameLst>
                                      </p:cBhvr>
                                      <p:to>
                                        <p:strVal val="visible"/>
                                      </p:to>
                                    </p:set>
                                    <p:animEffect transition="in" filter="fade">
                                      <p:cBhvr>
                                        <p:cTn id="28" dur="500"/>
                                        <p:tgtEl>
                                          <p:spTgt spid="106"/>
                                        </p:tgtEl>
                                      </p:cBhvr>
                                    </p:animEffect>
                                    <p:anim calcmode="lin" valueType="num">
                                      <p:cBhvr additive="base">
                                        <p:cTn id="29" dur="500" decel="100000" fill="hold"/>
                                        <p:tgtEl>
                                          <p:spTgt spid="106"/>
                                        </p:tgtEl>
                                        <p:attrNameLst>
                                          <p:attrName>ppt_x</p:attrName>
                                        </p:attrNameLst>
                                      </p:cBhvr>
                                      <p:tavLst>
                                        <p:tav tm="0">
                                          <p:val>
                                            <p:strVal val="#ppt_x-0.05"/>
                                          </p:val>
                                        </p:tav>
                                        <p:tav tm="100000">
                                          <p:val>
                                            <p:strVal val="#ppt_x"/>
                                          </p:val>
                                        </p:tav>
                                      </p:tavLst>
                                    </p:anim>
                                  </p:childTnLst>
                                </p:cTn>
                              </p:par>
                              <p:par>
                                <p:cTn id="30" presetID="42" presetClass="entr" presetSubtype="0" fill="hold" nodeType="withEffect">
                                  <p:stCondLst>
                                    <p:cond delay="460"/>
                                  </p:stCondLst>
                                  <p:childTnLst>
                                    <p:set>
                                      <p:cBhvr>
                                        <p:cTn id="31" dur="1" fill="hold">
                                          <p:stCondLst>
                                            <p:cond delay="0"/>
                                          </p:stCondLst>
                                        </p:cTn>
                                        <p:tgtEl>
                                          <p:spTgt spid="108"/>
                                        </p:tgtEl>
                                        <p:attrNameLst>
                                          <p:attrName>style.visibility</p:attrName>
                                        </p:attrNameLst>
                                      </p:cBhvr>
                                      <p:to>
                                        <p:strVal val="visible"/>
                                      </p:to>
                                    </p:set>
                                    <p:animEffect transition="in" filter="fade">
                                      <p:cBhvr>
                                        <p:cTn id="32" dur="500"/>
                                        <p:tgtEl>
                                          <p:spTgt spid="108"/>
                                        </p:tgtEl>
                                      </p:cBhvr>
                                    </p:animEffect>
                                    <p:anim calcmode="lin" valueType="num">
                                      <p:cBhvr additive="base">
                                        <p:cTn id="33" dur="500" decel="100000" fill="hold"/>
                                        <p:tgtEl>
                                          <p:spTgt spid="108"/>
                                        </p:tgtEl>
                                        <p:attrNameLst>
                                          <p:attrName>ppt_x</p:attrName>
                                        </p:attrNameLst>
                                      </p:cBhvr>
                                      <p:tavLst>
                                        <p:tav tm="0">
                                          <p:val>
                                            <p:strVal val="#ppt_x-0.05"/>
                                          </p:val>
                                        </p:tav>
                                        <p:tav tm="100000">
                                          <p:val>
                                            <p:strVal val="#ppt_x"/>
                                          </p:val>
                                        </p:tav>
                                      </p:tavLst>
                                    </p:anim>
                                  </p:childTnLst>
                                </p:cTn>
                              </p:par>
                              <p:par>
                                <p:cTn id="34" presetID="42" presetClass="entr" presetSubtype="0" fill="hold" grpId="0" nodeType="withEffect">
                                  <p:stCondLst>
                                    <p:cond delay="460"/>
                                  </p:stCondLst>
                                  <p:childTnLst>
                                    <p:set>
                                      <p:cBhvr>
                                        <p:cTn id="35" dur="1" fill="hold">
                                          <p:stCondLst>
                                            <p:cond delay="0"/>
                                          </p:stCondLst>
                                        </p:cTn>
                                        <p:tgtEl>
                                          <p:spTgt spid="107"/>
                                        </p:tgtEl>
                                        <p:attrNameLst>
                                          <p:attrName>style.visibility</p:attrName>
                                        </p:attrNameLst>
                                      </p:cBhvr>
                                      <p:to>
                                        <p:strVal val="visible"/>
                                      </p:to>
                                    </p:set>
                                    <p:animEffect transition="in" filter="fade">
                                      <p:cBhvr>
                                        <p:cTn id="36" dur="500"/>
                                        <p:tgtEl>
                                          <p:spTgt spid="107"/>
                                        </p:tgtEl>
                                      </p:cBhvr>
                                    </p:animEffect>
                                    <p:anim calcmode="lin" valueType="num">
                                      <p:cBhvr additive="base">
                                        <p:cTn id="37" dur="500" decel="100000" fill="hold"/>
                                        <p:tgtEl>
                                          <p:spTgt spid="107"/>
                                        </p:tgtEl>
                                        <p:attrNameLst>
                                          <p:attrName>ppt_x</p:attrName>
                                        </p:attrNameLst>
                                      </p:cBhvr>
                                      <p:tavLst>
                                        <p:tav tm="0">
                                          <p:val>
                                            <p:strVal val="#ppt_x-0.05"/>
                                          </p:val>
                                        </p:tav>
                                        <p:tav tm="100000">
                                          <p:val>
                                            <p:strVal val="#ppt_x"/>
                                          </p:val>
                                        </p:tav>
                                      </p:tavLst>
                                    </p:anim>
                                  </p:childTnLst>
                                </p:cTn>
                              </p:par>
                              <p:par>
                                <p:cTn id="38" presetID="42" presetClass="entr" presetSubtype="0" fill="hold" nodeType="withEffect">
                                  <p:stCondLst>
                                    <p:cond delay="690"/>
                                  </p:stCondLst>
                                  <p:childTnLst>
                                    <p:set>
                                      <p:cBhvr>
                                        <p:cTn id="39" dur="1" fill="hold">
                                          <p:stCondLst>
                                            <p:cond delay="0"/>
                                          </p:stCondLst>
                                        </p:cTn>
                                        <p:tgtEl>
                                          <p:spTgt spid="110"/>
                                        </p:tgtEl>
                                        <p:attrNameLst>
                                          <p:attrName>style.visibility</p:attrName>
                                        </p:attrNameLst>
                                      </p:cBhvr>
                                      <p:to>
                                        <p:strVal val="visible"/>
                                      </p:to>
                                    </p:set>
                                    <p:animEffect transition="in" filter="fade">
                                      <p:cBhvr>
                                        <p:cTn id="40" dur="500"/>
                                        <p:tgtEl>
                                          <p:spTgt spid="110"/>
                                        </p:tgtEl>
                                      </p:cBhvr>
                                    </p:animEffect>
                                    <p:anim calcmode="lin" valueType="num">
                                      <p:cBhvr additive="base">
                                        <p:cTn id="41" dur="500" decel="100000" fill="hold"/>
                                        <p:tgtEl>
                                          <p:spTgt spid="110"/>
                                        </p:tgtEl>
                                        <p:attrNameLst>
                                          <p:attrName>ppt_x</p:attrName>
                                        </p:attrNameLst>
                                      </p:cBhvr>
                                      <p:tavLst>
                                        <p:tav tm="0">
                                          <p:val>
                                            <p:strVal val="#ppt_x-0.05"/>
                                          </p:val>
                                        </p:tav>
                                        <p:tav tm="100000">
                                          <p:val>
                                            <p:strVal val="#ppt_x"/>
                                          </p:val>
                                        </p:tav>
                                      </p:tavLst>
                                    </p:anim>
                                  </p:childTnLst>
                                </p:cTn>
                              </p:par>
                              <p:par>
                                <p:cTn id="42" presetID="42" presetClass="entr" presetSubtype="0" fill="hold" grpId="0" nodeType="withEffect">
                                  <p:stCondLst>
                                    <p:cond delay="690"/>
                                  </p:stCondLst>
                                  <p:childTnLst>
                                    <p:set>
                                      <p:cBhvr>
                                        <p:cTn id="43" dur="1" fill="hold">
                                          <p:stCondLst>
                                            <p:cond delay="0"/>
                                          </p:stCondLst>
                                        </p:cTn>
                                        <p:tgtEl>
                                          <p:spTgt spid="109"/>
                                        </p:tgtEl>
                                        <p:attrNameLst>
                                          <p:attrName>style.visibility</p:attrName>
                                        </p:attrNameLst>
                                      </p:cBhvr>
                                      <p:to>
                                        <p:strVal val="visible"/>
                                      </p:to>
                                    </p:set>
                                    <p:animEffect transition="in" filter="fade">
                                      <p:cBhvr>
                                        <p:cTn id="44" dur="500"/>
                                        <p:tgtEl>
                                          <p:spTgt spid="109"/>
                                        </p:tgtEl>
                                      </p:cBhvr>
                                    </p:animEffect>
                                    <p:anim calcmode="lin" valueType="num">
                                      <p:cBhvr additive="base">
                                        <p:cTn id="45" dur="500" decel="100000" fill="hold"/>
                                        <p:tgtEl>
                                          <p:spTgt spid="109"/>
                                        </p:tgtEl>
                                        <p:attrNameLst>
                                          <p:attrName>ppt_x</p:attrName>
                                        </p:attrNameLst>
                                      </p:cBhvr>
                                      <p:tavLst>
                                        <p:tav tm="0">
                                          <p:val>
                                            <p:strVal val="#ppt_x-0.05"/>
                                          </p:val>
                                        </p:tav>
                                        <p:tav tm="100000">
                                          <p:val>
                                            <p:strVal val="#ppt_x"/>
                                          </p:val>
                                        </p:tav>
                                      </p:tavLst>
                                    </p:anim>
                                  </p:childTnLst>
                                </p:cTn>
                              </p:par>
                              <p:par>
                                <p:cTn id="46" presetID="42" presetClass="entr" presetSubtype="0" fill="hold" nodeType="withEffect">
                                  <p:stCondLst>
                                    <p:cond delay="920"/>
                                  </p:stCondLst>
                                  <p:childTnLst>
                                    <p:set>
                                      <p:cBhvr>
                                        <p:cTn id="47" dur="1" fill="hold">
                                          <p:stCondLst>
                                            <p:cond delay="0"/>
                                          </p:stCondLst>
                                        </p:cTn>
                                        <p:tgtEl>
                                          <p:spTgt spid="112"/>
                                        </p:tgtEl>
                                        <p:attrNameLst>
                                          <p:attrName>style.visibility</p:attrName>
                                        </p:attrNameLst>
                                      </p:cBhvr>
                                      <p:to>
                                        <p:strVal val="visible"/>
                                      </p:to>
                                    </p:set>
                                    <p:animEffect transition="in" filter="fade">
                                      <p:cBhvr>
                                        <p:cTn id="48" dur="500"/>
                                        <p:tgtEl>
                                          <p:spTgt spid="112"/>
                                        </p:tgtEl>
                                      </p:cBhvr>
                                    </p:animEffect>
                                    <p:anim calcmode="lin" valueType="num">
                                      <p:cBhvr additive="base">
                                        <p:cTn id="49" dur="500" decel="100000" fill="hold"/>
                                        <p:tgtEl>
                                          <p:spTgt spid="112"/>
                                        </p:tgtEl>
                                        <p:attrNameLst>
                                          <p:attrName>ppt_x</p:attrName>
                                        </p:attrNameLst>
                                      </p:cBhvr>
                                      <p:tavLst>
                                        <p:tav tm="0">
                                          <p:val>
                                            <p:strVal val="#ppt_x-0.05"/>
                                          </p:val>
                                        </p:tav>
                                        <p:tav tm="100000">
                                          <p:val>
                                            <p:strVal val="#ppt_x"/>
                                          </p:val>
                                        </p:tav>
                                      </p:tavLst>
                                    </p:anim>
                                  </p:childTnLst>
                                </p:cTn>
                              </p:par>
                              <p:par>
                                <p:cTn id="50" presetID="42" presetClass="entr" presetSubtype="0" fill="hold" grpId="0" nodeType="withEffect">
                                  <p:stCondLst>
                                    <p:cond delay="920"/>
                                  </p:stCondLst>
                                  <p:childTnLst>
                                    <p:set>
                                      <p:cBhvr>
                                        <p:cTn id="51" dur="1" fill="hold">
                                          <p:stCondLst>
                                            <p:cond delay="0"/>
                                          </p:stCondLst>
                                        </p:cTn>
                                        <p:tgtEl>
                                          <p:spTgt spid="111"/>
                                        </p:tgtEl>
                                        <p:attrNameLst>
                                          <p:attrName>style.visibility</p:attrName>
                                        </p:attrNameLst>
                                      </p:cBhvr>
                                      <p:to>
                                        <p:strVal val="visible"/>
                                      </p:to>
                                    </p:set>
                                    <p:animEffect transition="in" filter="fade">
                                      <p:cBhvr>
                                        <p:cTn id="52" dur="500"/>
                                        <p:tgtEl>
                                          <p:spTgt spid="111"/>
                                        </p:tgtEl>
                                      </p:cBhvr>
                                    </p:animEffect>
                                    <p:anim calcmode="lin" valueType="num">
                                      <p:cBhvr additive="base">
                                        <p:cTn id="53" dur="500" decel="100000" fill="hold"/>
                                        <p:tgtEl>
                                          <p:spTgt spid="111"/>
                                        </p:tgtEl>
                                        <p:attrNameLst>
                                          <p:attrName>ppt_x</p:attrName>
                                        </p:attrNameLst>
                                      </p:cBhvr>
                                      <p:tavLst>
                                        <p:tav tm="0">
                                          <p:val>
                                            <p:strVal val="#ppt_x-0.05"/>
                                          </p:val>
                                        </p:tav>
                                        <p:tav tm="100000">
                                          <p:val>
                                            <p:strVal val="#ppt_x"/>
                                          </p:val>
                                        </p:tav>
                                      </p:tavLst>
                                    </p:anim>
                                  </p:childTnLst>
                                </p:cTn>
                              </p:par>
                              <p:par>
                                <p:cTn id="54" presetID="53" presetClass="entr" presetSubtype="16" fill="hold" grpId="0" nodeType="withEffect">
                                  <p:stCondLst>
                                    <p:cond delay="1120"/>
                                  </p:stCondLst>
                                  <p:childTnLst>
                                    <p:set>
                                      <p:cBhvr>
                                        <p:cTn id="55" dur="1" fill="hold">
                                          <p:stCondLst>
                                            <p:cond delay="0"/>
                                          </p:stCondLst>
                                        </p:cTn>
                                        <p:tgtEl>
                                          <p:spTgt spid="113"/>
                                        </p:tgtEl>
                                        <p:attrNameLst>
                                          <p:attrName>style.visibility</p:attrName>
                                        </p:attrNameLst>
                                      </p:cBhvr>
                                      <p:to>
                                        <p:strVal val="visible"/>
                                      </p:to>
                                    </p:set>
                                    <p:anim calcmode="lin" valueType="num">
                                      <p:cBhvr additive="base">
                                        <p:cTn id="56" dur="500" decel="100000" fill="hold"/>
                                        <p:tgtEl>
                                          <p:spTgt spid="113"/>
                                        </p:tgtEl>
                                        <p:attrNameLst>
                                          <p:attrName>ppt_w</p:attrName>
                                        </p:attrNameLst>
                                      </p:cBhvr>
                                      <p:tavLst>
                                        <p:tav tm="0">
                                          <p:val>
                                            <p:strVal val="#ppt_w*0.3"/>
                                          </p:val>
                                        </p:tav>
                                        <p:tav tm="100000">
                                          <p:val>
                                            <p:strVal val="#ppt_w*1.08"/>
                                          </p:val>
                                        </p:tav>
                                      </p:tavLst>
                                    </p:anim>
                                    <p:anim calcmode="lin" valueType="num">
                                      <p:cBhvr additive="base">
                                        <p:cTn id="57" dur="500" decel="100000" fill="hold"/>
                                        <p:tgtEl>
                                          <p:spTgt spid="113"/>
                                        </p:tgtEl>
                                        <p:attrNameLst>
                                          <p:attrName>ppt_h</p:attrName>
                                        </p:attrNameLst>
                                      </p:cBhvr>
                                      <p:tavLst>
                                        <p:tav tm="0">
                                          <p:val>
                                            <p:strVal val="#ppt_h*0.3"/>
                                          </p:val>
                                        </p:tav>
                                        <p:tav tm="100000">
                                          <p:val>
                                            <p:strVal val="#ppt_h*1.08"/>
                                          </p:val>
                                        </p:tav>
                                      </p:tavLst>
                                    </p:anim>
                                    <p:animEffect transition="in" filter="fade">
                                      <p:cBhvr>
                                        <p:cTn id="58" dur="250"/>
                                        <p:tgtEl>
                                          <p:spTgt spid="113"/>
                                        </p:tgtEl>
                                      </p:cBhvr>
                                    </p:animEffect>
                                    <p:anim calcmode="lin" valueType="num">
                                      <p:cBhvr additive="base">
                                        <p:cTn id="59" dur="160" fill="hold">
                                          <p:stCondLst>
                                            <p:cond delay="500"/>
                                          </p:stCondLst>
                                        </p:cTn>
                                        <p:tgtEl>
                                          <p:spTgt spid="113"/>
                                        </p:tgtEl>
                                        <p:attrNameLst>
                                          <p:attrName>ppt_w</p:attrName>
                                        </p:attrNameLst>
                                      </p:cBhvr>
                                      <p:tavLst>
                                        <p:tav tm="0">
                                          <p:val>
                                            <p:strVal val="#ppt_w*1.08"/>
                                          </p:val>
                                        </p:tav>
                                        <p:tav tm="100000">
                                          <p:val>
                                            <p:strVal val="#ppt_w"/>
                                          </p:val>
                                        </p:tav>
                                      </p:tavLst>
                                    </p:anim>
                                    <p:anim calcmode="lin" valueType="num">
                                      <p:cBhvr additive="base">
                                        <p:cTn id="60" dur="160" fill="hold">
                                          <p:stCondLst>
                                            <p:cond delay="500"/>
                                          </p:stCondLst>
                                        </p:cTn>
                                        <p:tgtEl>
                                          <p:spTgt spid="113"/>
                                        </p:tgtEl>
                                        <p:attrNameLst>
                                          <p:attrName>ppt_h</p:attrName>
                                        </p:attrNameLst>
                                      </p:cBhvr>
                                      <p:tavLst>
                                        <p:tav tm="0">
                                          <p:val>
                                            <p:strVal val="#ppt_h*1.08"/>
                                          </p:val>
                                        </p:tav>
                                        <p:tav tm="100000">
                                          <p:val>
                                            <p:strVal val="#ppt_h"/>
                                          </p:val>
                                        </p:tav>
                                      </p:tavLst>
                                    </p:anim>
                                  </p:childTnLst>
                                </p:cTn>
                              </p:par>
                            </p:childTnLst>
                          </p:cTn>
                        </p:par>
                      </p:childTnLst>
                    </p:cTn>
                  </p:par>
                  <p:par>
                    <p:cTn id="61" fill="hold">
                      <p:stCondLst>
                        <p:cond delay="indefinite"/>
                      </p:stCondLst>
                      <p:childTnLst>
                        <p:par>
                          <p:cTn id="62" fill="hold">
                            <p:stCondLst>
                              <p:cond delay="0"/>
                            </p:stCondLst>
                            <p:childTnLst>
                              <p:par>
                                <p:cTn id="63" presetID="42" presetClass="entr" presetSubtype="0" fill="hold" grpId="0" nodeType="clickEffect">
                                  <p:stCondLst>
                                    <p:cond delay="0"/>
                                  </p:stCondLst>
                                  <p:childTnLst>
                                    <p:set>
                                      <p:cBhvr>
                                        <p:cTn id="64" dur="1" fill="hold">
                                          <p:stCondLst>
                                            <p:cond delay="0"/>
                                          </p:stCondLst>
                                        </p:cTn>
                                        <p:tgtEl>
                                          <p:spTgt spid="114"/>
                                        </p:tgtEl>
                                        <p:attrNameLst>
                                          <p:attrName>style.visibility</p:attrName>
                                        </p:attrNameLst>
                                      </p:cBhvr>
                                      <p:to>
                                        <p:strVal val="visible"/>
                                      </p:to>
                                    </p:set>
                                    <p:animEffect transition="in" filter="fade">
                                      <p:cBhvr>
                                        <p:cTn id="65" dur="500"/>
                                        <p:tgtEl>
                                          <p:spTgt spid="114"/>
                                        </p:tgtEl>
                                      </p:cBhvr>
                                    </p:animEffect>
                                    <p:anim calcmode="lin" valueType="num">
                                      <p:cBhvr additive="base">
                                        <p:cTn id="66" dur="500" decel="100000" fill="hold"/>
                                        <p:tgtEl>
                                          <p:spTgt spid="114"/>
                                        </p:tgtEl>
                                        <p:attrNameLst>
                                          <p:attrName>ppt_x</p:attrName>
                                        </p:attrNameLst>
                                      </p:cBhvr>
                                      <p:tavLst>
                                        <p:tav tm="0">
                                          <p:val>
                                            <p:strVal val="#ppt_x-0.05"/>
                                          </p:val>
                                        </p:tav>
                                        <p:tav tm="100000">
                                          <p:val>
                                            <p:strVal val="#ppt_x"/>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115"/>
                                        </p:tgtEl>
                                        <p:attrNameLst>
                                          <p:attrName>style.visibility</p:attrName>
                                        </p:attrNameLst>
                                      </p:cBhvr>
                                      <p:to>
                                        <p:strVal val="visible"/>
                                      </p:to>
                                    </p:set>
                                    <p:animEffect transition="in" filter="fade">
                                      <p:cBhvr>
                                        <p:cTn id="69" dur="500"/>
                                        <p:tgtEl>
                                          <p:spTgt spid="115"/>
                                        </p:tgtEl>
                                      </p:cBhvr>
                                    </p:animEffect>
                                    <p:anim calcmode="lin" valueType="num">
                                      <p:cBhvr additive="base">
                                        <p:cTn id="70" dur="500" decel="100000" fill="hold"/>
                                        <p:tgtEl>
                                          <p:spTgt spid="115"/>
                                        </p:tgtEl>
                                        <p:attrNameLst>
                                          <p:attrName>ppt_x</p:attrName>
                                        </p:attrNameLst>
                                      </p:cBhvr>
                                      <p:tavLst>
                                        <p:tav tm="0">
                                          <p:val>
                                            <p:strVal val="#ppt_x-0.05"/>
                                          </p:val>
                                        </p:tav>
                                        <p:tav tm="100000">
                                          <p:val>
                                            <p:strVal val="#ppt_x"/>
                                          </p:val>
                                        </p:tav>
                                      </p:tavLst>
                                    </p:anim>
                                  </p:childTnLst>
                                </p:cTn>
                              </p:par>
                              <p:par>
                                <p:cTn id="71" presetID="42" presetClass="entr" presetSubtype="0" fill="hold" grpId="0" nodeType="withEffect">
                                  <p:stCondLst>
                                    <p:cond delay="230"/>
                                  </p:stCondLst>
                                  <p:childTnLst>
                                    <p:set>
                                      <p:cBhvr>
                                        <p:cTn id="72" dur="1" fill="hold">
                                          <p:stCondLst>
                                            <p:cond delay="0"/>
                                          </p:stCondLst>
                                        </p:cTn>
                                        <p:tgtEl>
                                          <p:spTgt spid="116"/>
                                        </p:tgtEl>
                                        <p:attrNameLst>
                                          <p:attrName>style.visibility</p:attrName>
                                        </p:attrNameLst>
                                      </p:cBhvr>
                                      <p:to>
                                        <p:strVal val="visible"/>
                                      </p:to>
                                    </p:set>
                                    <p:animEffect transition="in" filter="fade">
                                      <p:cBhvr>
                                        <p:cTn id="73" dur="500"/>
                                        <p:tgtEl>
                                          <p:spTgt spid="116"/>
                                        </p:tgtEl>
                                      </p:cBhvr>
                                    </p:animEffect>
                                    <p:anim calcmode="lin" valueType="num">
                                      <p:cBhvr additive="base">
                                        <p:cTn id="74" dur="500" decel="100000" fill="hold"/>
                                        <p:tgtEl>
                                          <p:spTgt spid="116"/>
                                        </p:tgtEl>
                                        <p:attrNameLst>
                                          <p:attrName>ppt_x</p:attrName>
                                        </p:attrNameLst>
                                      </p:cBhvr>
                                      <p:tavLst>
                                        <p:tav tm="0">
                                          <p:val>
                                            <p:strVal val="#ppt_x-0.05"/>
                                          </p:val>
                                        </p:tav>
                                        <p:tav tm="100000">
                                          <p:val>
                                            <p:strVal val="#ppt_x"/>
                                          </p:val>
                                        </p:tav>
                                      </p:tavLst>
                                    </p:anim>
                                  </p:childTnLst>
                                </p:cTn>
                              </p:par>
                              <p:par>
                                <p:cTn id="75" presetID="42" presetClass="entr" presetSubtype="0" fill="hold" nodeType="withEffect">
                                  <p:stCondLst>
                                    <p:cond delay="460"/>
                                  </p:stCondLst>
                                  <p:childTnLst>
                                    <p:set>
                                      <p:cBhvr>
                                        <p:cTn id="76" dur="1" fill="hold">
                                          <p:stCondLst>
                                            <p:cond delay="0"/>
                                          </p:stCondLst>
                                        </p:cTn>
                                        <p:tgtEl>
                                          <p:spTgt spid="118"/>
                                        </p:tgtEl>
                                        <p:attrNameLst>
                                          <p:attrName>style.visibility</p:attrName>
                                        </p:attrNameLst>
                                      </p:cBhvr>
                                      <p:to>
                                        <p:strVal val="visible"/>
                                      </p:to>
                                    </p:set>
                                    <p:animEffect transition="in" filter="fade">
                                      <p:cBhvr>
                                        <p:cTn id="77" dur="500"/>
                                        <p:tgtEl>
                                          <p:spTgt spid="118"/>
                                        </p:tgtEl>
                                      </p:cBhvr>
                                    </p:animEffect>
                                    <p:anim calcmode="lin" valueType="num">
                                      <p:cBhvr additive="base">
                                        <p:cTn id="78" dur="500" decel="100000" fill="hold"/>
                                        <p:tgtEl>
                                          <p:spTgt spid="118"/>
                                        </p:tgtEl>
                                        <p:attrNameLst>
                                          <p:attrName>ppt_x</p:attrName>
                                        </p:attrNameLst>
                                      </p:cBhvr>
                                      <p:tavLst>
                                        <p:tav tm="0">
                                          <p:val>
                                            <p:strVal val="#ppt_x-0.05"/>
                                          </p:val>
                                        </p:tav>
                                        <p:tav tm="100000">
                                          <p:val>
                                            <p:strVal val="#ppt_x"/>
                                          </p:val>
                                        </p:tav>
                                      </p:tavLst>
                                    </p:anim>
                                  </p:childTnLst>
                                </p:cTn>
                              </p:par>
                              <p:par>
                                <p:cTn id="79" presetID="42" presetClass="entr" presetSubtype="0" fill="hold" grpId="0" nodeType="withEffect">
                                  <p:stCondLst>
                                    <p:cond delay="460"/>
                                  </p:stCondLst>
                                  <p:childTnLst>
                                    <p:set>
                                      <p:cBhvr>
                                        <p:cTn id="80" dur="1" fill="hold">
                                          <p:stCondLst>
                                            <p:cond delay="0"/>
                                          </p:stCondLst>
                                        </p:cTn>
                                        <p:tgtEl>
                                          <p:spTgt spid="117"/>
                                        </p:tgtEl>
                                        <p:attrNameLst>
                                          <p:attrName>style.visibility</p:attrName>
                                        </p:attrNameLst>
                                      </p:cBhvr>
                                      <p:to>
                                        <p:strVal val="visible"/>
                                      </p:to>
                                    </p:set>
                                    <p:animEffect transition="in" filter="fade">
                                      <p:cBhvr>
                                        <p:cTn id="81" dur="500"/>
                                        <p:tgtEl>
                                          <p:spTgt spid="117"/>
                                        </p:tgtEl>
                                      </p:cBhvr>
                                    </p:animEffect>
                                    <p:anim calcmode="lin" valueType="num">
                                      <p:cBhvr additive="base">
                                        <p:cTn id="82" dur="500" decel="100000" fill="hold"/>
                                        <p:tgtEl>
                                          <p:spTgt spid="117"/>
                                        </p:tgtEl>
                                        <p:attrNameLst>
                                          <p:attrName>ppt_x</p:attrName>
                                        </p:attrNameLst>
                                      </p:cBhvr>
                                      <p:tavLst>
                                        <p:tav tm="0">
                                          <p:val>
                                            <p:strVal val="#ppt_x-0.05"/>
                                          </p:val>
                                        </p:tav>
                                        <p:tav tm="100000">
                                          <p:val>
                                            <p:strVal val="#ppt_x"/>
                                          </p:val>
                                        </p:tav>
                                      </p:tavLst>
                                    </p:anim>
                                  </p:childTnLst>
                                </p:cTn>
                              </p:par>
                              <p:par>
                                <p:cTn id="83" presetID="42" presetClass="entr" presetSubtype="0" fill="hold" nodeType="withEffect">
                                  <p:stCondLst>
                                    <p:cond delay="690"/>
                                  </p:stCondLst>
                                  <p:childTnLst>
                                    <p:set>
                                      <p:cBhvr>
                                        <p:cTn id="84" dur="1" fill="hold">
                                          <p:stCondLst>
                                            <p:cond delay="0"/>
                                          </p:stCondLst>
                                        </p:cTn>
                                        <p:tgtEl>
                                          <p:spTgt spid="120"/>
                                        </p:tgtEl>
                                        <p:attrNameLst>
                                          <p:attrName>style.visibility</p:attrName>
                                        </p:attrNameLst>
                                      </p:cBhvr>
                                      <p:to>
                                        <p:strVal val="visible"/>
                                      </p:to>
                                    </p:set>
                                    <p:animEffect transition="in" filter="fade">
                                      <p:cBhvr>
                                        <p:cTn id="85" dur="500"/>
                                        <p:tgtEl>
                                          <p:spTgt spid="120"/>
                                        </p:tgtEl>
                                      </p:cBhvr>
                                    </p:animEffect>
                                    <p:anim calcmode="lin" valueType="num">
                                      <p:cBhvr additive="base">
                                        <p:cTn id="86" dur="500" decel="100000" fill="hold"/>
                                        <p:tgtEl>
                                          <p:spTgt spid="120"/>
                                        </p:tgtEl>
                                        <p:attrNameLst>
                                          <p:attrName>ppt_x</p:attrName>
                                        </p:attrNameLst>
                                      </p:cBhvr>
                                      <p:tavLst>
                                        <p:tav tm="0">
                                          <p:val>
                                            <p:strVal val="#ppt_x-0.05"/>
                                          </p:val>
                                        </p:tav>
                                        <p:tav tm="100000">
                                          <p:val>
                                            <p:strVal val="#ppt_x"/>
                                          </p:val>
                                        </p:tav>
                                      </p:tavLst>
                                    </p:anim>
                                  </p:childTnLst>
                                </p:cTn>
                              </p:par>
                              <p:par>
                                <p:cTn id="87" presetID="42" presetClass="entr" presetSubtype="0" fill="hold" grpId="0" nodeType="withEffect">
                                  <p:stCondLst>
                                    <p:cond delay="690"/>
                                  </p:stCondLst>
                                  <p:childTnLst>
                                    <p:set>
                                      <p:cBhvr>
                                        <p:cTn id="88" dur="1" fill="hold">
                                          <p:stCondLst>
                                            <p:cond delay="0"/>
                                          </p:stCondLst>
                                        </p:cTn>
                                        <p:tgtEl>
                                          <p:spTgt spid="119"/>
                                        </p:tgtEl>
                                        <p:attrNameLst>
                                          <p:attrName>style.visibility</p:attrName>
                                        </p:attrNameLst>
                                      </p:cBhvr>
                                      <p:to>
                                        <p:strVal val="visible"/>
                                      </p:to>
                                    </p:set>
                                    <p:animEffect transition="in" filter="fade">
                                      <p:cBhvr>
                                        <p:cTn id="89" dur="500"/>
                                        <p:tgtEl>
                                          <p:spTgt spid="119"/>
                                        </p:tgtEl>
                                      </p:cBhvr>
                                    </p:animEffect>
                                    <p:anim calcmode="lin" valueType="num">
                                      <p:cBhvr additive="base">
                                        <p:cTn id="90" dur="500" decel="100000" fill="hold"/>
                                        <p:tgtEl>
                                          <p:spTgt spid="119"/>
                                        </p:tgtEl>
                                        <p:attrNameLst>
                                          <p:attrName>ppt_x</p:attrName>
                                        </p:attrNameLst>
                                      </p:cBhvr>
                                      <p:tavLst>
                                        <p:tav tm="0">
                                          <p:val>
                                            <p:strVal val="#ppt_x-0.05"/>
                                          </p:val>
                                        </p:tav>
                                        <p:tav tm="100000">
                                          <p:val>
                                            <p:strVal val="#ppt_x"/>
                                          </p:val>
                                        </p:tav>
                                      </p:tavLst>
                                    </p:anim>
                                  </p:childTnLst>
                                </p:cTn>
                              </p:par>
                              <p:par>
                                <p:cTn id="91" presetID="53" presetClass="entr" presetSubtype="16" fill="hold" grpId="0" nodeType="withEffect">
                                  <p:stCondLst>
                                    <p:cond delay="890"/>
                                  </p:stCondLst>
                                  <p:childTnLst>
                                    <p:set>
                                      <p:cBhvr>
                                        <p:cTn id="92" dur="1" fill="hold">
                                          <p:stCondLst>
                                            <p:cond delay="0"/>
                                          </p:stCondLst>
                                        </p:cTn>
                                        <p:tgtEl>
                                          <p:spTgt spid="121"/>
                                        </p:tgtEl>
                                        <p:attrNameLst>
                                          <p:attrName>style.visibility</p:attrName>
                                        </p:attrNameLst>
                                      </p:cBhvr>
                                      <p:to>
                                        <p:strVal val="visible"/>
                                      </p:to>
                                    </p:set>
                                    <p:anim calcmode="lin" valueType="num">
                                      <p:cBhvr additive="base">
                                        <p:cTn id="93" dur="500" decel="100000" fill="hold"/>
                                        <p:tgtEl>
                                          <p:spTgt spid="121"/>
                                        </p:tgtEl>
                                        <p:attrNameLst>
                                          <p:attrName>ppt_w</p:attrName>
                                        </p:attrNameLst>
                                      </p:cBhvr>
                                      <p:tavLst>
                                        <p:tav tm="0">
                                          <p:val>
                                            <p:strVal val="#ppt_w*0.3"/>
                                          </p:val>
                                        </p:tav>
                                        <p:tav tm="100000">
                                          <p:val>
                                            <p:strVal val="#ppt_w*1.08"/>
                                          </p:val>
                                        </p:tav>
                                      </p:tavLst>
                                    </p:anim>
                                    <p:anim calcmode="lin" valueType="num">
                                      <p:cBhvr additive="base">
                                        <p:cTn id="94" dur="500" decel="100000" fill="hold"/>
                                        <p:tgtEl>
                                          <p:spTgt spid="121"/>
                                        </p:tgtEl>
                                        <p:attrNameLst>
                                          <p:attrName>ppt_h</p:attrName>
                                        </p:attrNameLst>
                                      </p:cBhvr>
                                      <p:tavLst>
                                        <p:tav tm="0">
                                          <p:val>
                                            <p:strVal val="#ppt_h*0.3"/>
                                          </p:val>
                                        </p:tav>
                                        <p:tav tm="100000">
                                          <p:val>
                                            <p:strVal val="#ppt_h*1.08"/>
                                          </p:val>
                                        </p:tav>
                                      </p:tavLst>
                                    </p:anim>
                                    <p:animEffect transition="in" filter="fade">
                                      <p:cBhvr>
                                        <p:cTn id="95" dur="250"/>
                                        <p:tgtEl>
                                          <p:spTgt spid="121"/>
                                        </p:tgtEl>
                                      </p:cBhvr>
                                    </p:animEffect>
                                    <p:anim calcmode="lin" valueType="num">
                                      <p:cBhvr additive="base">
                                        <p:cTn id="96" dur="160" fill="hold">
                                          <p:stCondLst>
                                            <p:cond delay="500"/>
                                          </p:stCondLst>
                                        </p:cTn>
                                        <p:tgtEl>
                                          <p:spTgt spid="121"/>
                                        </p:tgtEl>
                                        <p:attrNameLst>
                                          <p:attrName>ppt_w</p:attrName>
                                        </p:attrNameLst>
                                      </p:cBhvr>
                                      <p:tavLst>
                                        <p:tav tm="0">
                                          <p:val>
                                            <p:strVal val="#ppt_w*1.08"/>
                                          </p:val>
                                        </p:tav>
                                        <p:tav tm="100000">
                                          <p:val>
                                            <p:strVal val="#ppt_w"/>
                                          </p:val>
                                        </p:tav>
                                      </p:tavLst>
                                    </p:anim>
                                    <p:anim calcmode="lin" valueType="num">
                                      <p:cBhvr additive="base">
                                        <p:cTn id="97" dur="160" fill="hold">
                                          <p:stCondLst>
                                            <p:cond delay="500"/>
                                          </p:stCondLst>
                                        </p:cTn>
                                        <p:tgtEl>
                                          <p:spTgt spid="121"/>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9" grpId="0" animBg="1"/>
      <p:bldP spid="111" grpId="0" animBg="1"/>
      <p:bldP spid="113" grpId="0" animBg="1"/>
      <p:bldP spid="114" grpId="0" animBg="1"/>
      <p:bldP spid="115" grpId="0" animBg="1"/>
      <p:bldP spid="116" grpId="0" animBg="1"/>
      <p:bldP spid="117" grpId="0" animBg="1"/>
      <p:bldP spid="119" grpId="0" animBg="1"/>
      <p:bldP spid="121"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VALUE 02</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Working Software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over comprehensive documentation</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MANIFESTO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205</a:t>
            </a:r>
            <a:endParaRPr lang="en-US" sz="850" dirty="0"/>
          </a:p>
        </p:txBody>
      </p:sp>
      <p:sp>
        <p:nvSpPr>
          <p:cNvPr id="101" name="s101"/>
          <p:cNvSpPr/>
          <p:nvPr/>
        </p:nvSpPr>
        <p:spPr>
          <a:xfrm>
            <a:off x="543154" y="1965960"/>
            <a:ext cx="11088014" cy="640080"/>
          </a:xfrm>
          <a:prstGeom prst="roundRect">
            <a:avLst>
              <a:gd name="adj" fmla="val 12000"/>
            </a:avLst>
          </a:prstGeom>
          <a:solidFill>
            <a:srgbClr val="111B2E"/>
          </a:solidFill>
          <a:ln w="12700">
            <a:solidFill>
              <a:srgbClr val="34D399"/>
            </a:solidFill>
            <a:prstDash val="solid"/>
          </a:ln>
        </p:spPr>
        <p:txBody>
          <a:bodyPr wrap="square" lIns="228600" tIns="45720" rIns="228600" bIns="45720" rtlCol="0" anchor="ctr">
            <a:noAutofit/>
          </a:bodyPr>
          <a:lstStyle/>
          <a:p>
            <a:pPr marL="0" indent="0" algn="ctr">
              <a:spcBef>
                <a:spcPts val="0"/>
              </a:spcBef>
              <a:spcAft>
                <a:spcPts val="0"/>
              </a:spcAft>
              <a:buNone/>
            </a:pPr>
            <a:r>
              <a:rPr lang="en-US" sz="1600" b="0" dirty="0">
                <a:solidFill>
                  <a:srgbClr val="E2E8F0"/>
                </a:solidFill>
                <a:latin typeface="Segoe UI"/>
                <a:ea typeface="Segoe UI"/>
                <a:cs typeface="Segoe UI"/>
              </a:rPr>
              <a:t>Progress is measured by what </a:t>
            </a:r>
            <a:r>
              <a:rPr lang="en-US" sz="1600" b="1" dirty="0">
                <a:solidFill>
                  <a:srgbClr val="34D399"/>
                </a:solidFill>
                <a:latin typeface="Segoe UI"/>
                <a:ea typeface="Segoe UI"/>
                <a:cs typeface="Segoe UI"/>
              </a:rPr>
              <a:t>RUNS</a:t>
            </a:r>
            <a:r>
              <a:rPr lang="en-US" sz="1600" b="0" dirty="0">
                <a:solidFill>
                  <a:srgbClr val="E2E8F0"/>
                </a:solidFill>
                <a:latin typeface="Segoe UI"/>
                <a:ea typeface="Segoe UI"/>
                <a:cs typeface="Segoe UI"/>
              </a:rPr>
              <a:t>, not by PDF page count.</a:t>
            </a:r>
            <a:endParaRPr lang="en-US" sz="1600" dirty="0"/>
          </a:p>
        </p:txBody>
      </p:sp>
      <p:sp>
        <p:nvSpPr>
          <p:cNvPr id="102" name="s102"/>
          <p:cNvSpPr txBox="1"/>
          <p:nvPr/>
        </p:nvSpPr>
        <p:spPr>
          <a:xfrm>
            <a:off x="771754" y="2880360"/>
            <a:ext cx="3200400"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00" b="1" dirty="0">
                <a:solidFill>
                  <a:srgbClr val="94A3B8"/>
                </a:solidFill>
                <a:latin typeface="Segoe UI"/>
                <a:ea typeface="Segoe UI"/>
                <a:cs typeface="Segoe UI"/>
              </a:rPr>
              <a:t>EVIDENCE</a:t>
            </a:r>
            <a:endParaRPr lang="en-US" sz="1100" dirty="0"/>
          </a:p>
        </p:txBody>
      </p:sp>
      <p:sp>
        <p:nvSpPr>
          <p:cNvPr id="103" name="s103"/>
          <p:cNvSpPr/>
          <p:nvPr/>
        </p:nvSpPr>
        <p:spPr>
          <a:xfrm>
            <a:off x="4109314" y="2880360"/>
            <a:ext cx="3657600" cy="365760"/>
          </a:xfrm>
          <a:prstGeom prst="roundRect">
            <a:avLst>
              <a:gd name="adj" fmla="val 30000"/>
            </a:avLst>
          </a:prstGeom>
          <a:solidFill>
            <a:srgbClr val="F87171">
              <a:alpha val="14000"/>
            </a:srgbClr>
          </a:solidFill>
          <a:ln>
            <a:noFill/>
          </a:ln>
        </p:spPr>
        <p:txBody>
          <a:bodyPr wrap="square" lIns="164592" tIns="109728" rIns="137160" bIns="91440" rtlCol="0" anchor="ctr">
            <a:noAutofit/>
          </a:bodyPr>
          <a:lstStyle/>
          <a:p>
            <a:pPr marL="0" indent="0" algn="ctr">
              <a:spcBef>
                <a:spcPts val="0"/>
              </a:spcBef>
              <a:spcAft>
                <a:spcPts val="0"/>
              </a:spcAft>
              <a:buNone/>
            </a:pPr>
            <a:r>
              <a:rPr lang="en-US" sz="1100" b="1" dirty="0">
                <a:solidFill>
                  <a:srgbClr val="F87171"/>
                </a:solidFill>
                <a:latin typeface="Segoe UI"/>
                <a:ea typeface="Segoe UI"/>
                <a:cs typeface="Segoe UI"/>
              </a:rPr>
              <a:t>DOCS-HEAVY</a:t>
            </a:r>
            <a:endParaRPr lang="en-US" sz="1100" dirty="0"/>
          </a:p>
        </p:txBody>
      </p:sp>
      <p:sp>
        <p:nvSpPr>
          <p:cNvPr id="104" name="s104"/>
          <p:cNvSpPr/>
          <p:nvPr/>
        </p:nvSpPr>
        <p:spPr>
          <a:xfrm>
            <a:off x="7949794" y="2880360"/>
            <a:ext cx="3657600" cy="365760"/>
          </a:xfrm>
          <a:prstGeom prst="roundRect">
            <a:avLst>
              <a:gd name="adj" fmla="val 30000"/>
            </a:avLst>
          </a:prstGeom>
          <a:solidFill>
            <a:srgbClr val="34D399">
              <a:alpha val="14000"/>
            </a:srgbClr>
          </a:solidFill>
          <a:ln>
            <a:noFill/>
          </a:ln>
        </p:spPr>
        <p:txBody>
          <a:bodyPr wrap="square" lIns="164592" tIns="109728" rIns="137160" bIns="9144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AGILE-MINDED</a:t>
            </a:r>
            <a:endParaRPr lang="en-US" sz="1100" dirty="0"/>
          </a:p>
        </p:txBody>
      </p:sp>
      <p:sp>
        <p:nvSpPr>
          <p:cNvPr id="105" name="s105"/>
          <p:cNvSpPr/>
          <p:nvPr/>
        </p:nvSpPr>
        <p:spPr>
          <a:xfrm>
            <a:off x="543154" y="3383280"/>
            <a:ext cx="11088014" cy="512064"/>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6" name="s106"/>
          <p:cNvSpPr txBox="1"/>
          <p:nvPr/>
        </p:nvSpPr>
        <p:spPr>
          <a:xfrm>
            <a:off x="771754" y="3383280"/>
            <a:ext cx="320040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Week 2 output</a:t>
            </a:r>
            <a:endParaRPr lang="en-US" sz="1400" dirty="0"/>
          </a:p>
        </p:txBody>
      </p:sp>
      <p:pic>
        <p:nvPicPr>
          <p:cNvPr id="107" name="img107"/>
          <p:cNvPicPr>
            <a:picLocks noChangeAspect="1"/>
          </p:cNvPicPr>
          <p:nvPr/>
        </p:nvPicPr>
        <p:blipFill>
          <a:blip r:embed="rId4"/>
          <a:stretch>
            <a:fillRect/>
          </a:stretch>
        </p:blipFill>
        <p:spPr>
          <a:xfrm>
            <a:off x="4155034" y="3511296"/>
            <a:ext cx="256032" cy="256032"/>
          </a:xfrm>
          <a:prstGeom prst="rect">
            <a:avLst/>
          </a:prstGeom>
        </p:spPr>
      </p:pic>
      <p:sp>
        <p:nvSpPr>
          <p:cNvPr id="108" name="s108"/>
          <p:cNvSpPr txBox="1"/>
          <p:nvPr/>
        </p:nvSpPr>
        <p:spPr>
          <a:xfrm>
            <a:off x="4520794" y="3383280"/>
            <a:ext cx="324612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CBD5E1"/>
                </a:solidFill>
                <a:latin typeface="Segoe UI"/>
                <a:ea typeface="Segoe UI"/>
                <a:cs typeface="Segoe UI"/>
              </a:rPr>
              <a:t>SRS v3 + diagrams</a:t>
            </a:r>
            <a:endParaRPr lang="en-US" sz="1350" dirty="0"/>
          </a:p>
        </p:txBody>
      </p:sp>
      <p:pic>
        <p:nvPicPr>
          <p:cNvPr id="109" name="img109"/>
          <p:cNvPicPr>
            <a:picLocks noChangeAspect="1"/>
          </p:cNvPicPr>
          <p:nvPr/>
        </p:nvPicPr>
        <p:blipFill>
          <a:blip r:embed="rId5"/>
          <a:stretch>
            <a:fillRect/>
          </a:stretch>
        </p:blipFill>
        <p:spPr>
          <a:xfrm>
            <a:off x="7995514" y="3511296"/>
            <a:ext cx="256032" cy="256032"/>
          </a:xfrm>
          <a:prstGeom prst="rect">
            <a:avLst/>
          </a:prstGeom>
        </p:spPr>
      </p:pic>
      <p:sp>
        <p:nvSpPr>
          <p:cNvPr id="110" name="s110"/>
          <p:cNvSpPr txBox="1"/>
          <p:nvPr/>
        </p:nvSpPr>
        <p:spPr>
          <a:xfrm>
            <a:off x="8361274" y="3383280"/>
            <a:ext cx="324612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E2E8F0"/>
                </a:solidFill>
                <a:latin typeface="Segoe UI"/>
                <a:ea typeface="Segoe UI"/>
                <a:cs typeface="Segoe UI"/>
              </a:rPr>
              <a:t>A login screen that works</a:t>
            </a:r>
            <a:endParaRPr lang="en-US" sz="1350" dirty="0"/>
          </a:p>
        </p:txBody>
      </p:sp>
      <p:sp>
        <p:nvSpPr>
          <p:cNvPr id="111" name="s111"/>
          <p:cNvSpPr/>
          <p:nvPr/>
        </p:nvSpPr>
        <p:spPr>
          <a:xfrm>
            <a:off x="543154" y="3986784"/>
            <a:ext cx="11088014" cy="512064"/>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2" name="s112"/>
          <p:cNvSpPr txBox="1"/>
          <p:nvPr/>
        </p:nvSpPr>
        <p:spPr>
          <a:xfrm>
            <a:off x="771754" y="3986784"/>
            <a:ext cx="320040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The customer can…</a:t>
            </a:r>
            <a:endParaRPr lang="en-US" sz="1400" dirty="0"/>
          </a:p>
        </p:txBody>
      </p:sp>
      <p:pic>
        <p:nvPicPr>
          <p:cNvPr id="113" name="img113"/>
          <p:cNvPicPr>
            <a:picLocks noChangeAspect="1"/>
          </p:cNvPicPr>
          <p:nvPr/>
        </p:nvPicPr>
        <p:blipFill>
          <a:blip r:embed="rId4"/>
          <a:stretch>
            <a:fillRect/>
          </a:stretch>
        </p:blipFill>
        <p:spPr>
          <a:xfrm>
            <a:off x="4155034" y="4114800"/>
            <a:ext cx="256032" cy="256032"/>
          </a:xfrm>
          <a:prstGeom prst="rect">
            <a:avLst/>
          </a:prstGeom>
        </p:spPr>
      </p:pic>
      <p:sp>
        <p:nvSpPr>
          <p:cNvPr id="114" name="s114"/>
          <p:cNvSpPr txBox="1"/>
          <p:nvPr/>
        </p:nvSpPr>
        <p:spPr>
          <a:xfrm>
            <a:off x="4520794" y="3986784"/>
            <a:ext cx="324612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CBD5E1"/>
                </a:solidFill>
                <a:latin typeface="Segoe UI"/>
                <a:ea typeface="Segoe UI"/>
                <a:cs typeface="Segoe UI"/>
              </a:rPr>
              <a:t>Read and comment</a:t>
            </a:r>
            <a:endParaRPr lang="en-US" sz="1350" dirty="0"/>
          </a:p>
        </p:txBody>
      </p:sp>
      <p:pic>
        <p:nvPicPr>
          <p:cNvPr id="115" name="img115"/>
          <p:cNvPicPr>
            <a:picLocks noChangeAspect="1"/>
          </p:cNvPicPr>
          <p:nvPr/>
        </p:nvPicPr>
        <p:blipFill>
          <a:blip r:embed="rId5"/>
          <a:stretch>
            <a:fillRect/>
          </a:stretch>
        </p:blipFill>
        <p:spPr>
          <a:xfrm>
            <a:off x="7995514" y="4114800"/>
            <a:ext cx="256032" cy="256032"/>
          </a:xfrm>
          <a:prstGeom prst="rect">
            <a:avLst/>
          </a:prstGeom>
        </p:spPr>
      </p:pic>
      <p:sp>
        <p:nvSpPr>
          <p:cNvPr id="116" name="s116"/>
          <p:cNvSpPr txBox="1"/>
          <p:nvPr/>
        </p:nvSpPr>
        <p:spPr>
          <a:xfrm>
            <a:off x="8361274" y="3986784"/>
            <a:ext cx="324612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E2E8F0"/>
                </a:solidFill>
                <a:latin typeface="Segoe UI"/>
                <a:ea typeface="Segoe UI"/>
                <a:cs typeface="Segoe UI"/>
              </a:rPr>
              <a:t>Click and feel the product</a:t>
            </a:r>
            <a:endParaRPr lang="en-US" sz="1350" dirty="0"/>
          </a:p>
        </p:txBody>
      </p:sp>
      <p:sp>
        <p:nvSpPr>
          <p:cNvPr id="117" name="s117"/>
          <p:cNvSpPr/>
          <p:nvPr/>
        </p:nvSpPr>
        <p:spPr>
          <a:xfrm>
            <a:off x="543154" y="4590288"/>
            <a:ext cx="11088014" cy="512064"/>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8" name="s118"/>
          <p:cNvSpPr txBox="1"/>
          <p:nvPr/>
        </p:nvSpPr>
        <p:spPr>
          <a:xfrm>
            <a:off x="771754" y="4590288"/>
            <a:ext cx="320040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Risk discovery</a:t>
            </a:r>
            <a:endParaRPr lang="en-US" sz="1400" dirty="0"/>
          </a:p>
        </p:txBody>
      </p:sp>
      <p:pic>
        <p:nvPicPr>
          <p:cNvPr id="119" name="img119"/>
          <p:cNvPicPr>
            <a:picLocks noChangeAspect="1"/>
          </p:cNvPicPr>
          <p:nvPr/>
        </p:nvPicPr>
        <p:blipFill>
          <a:blip r:embed="rId4"/>
          <a:stretch>
            <a:fillRect/>
          </a:stretch>
        </p:blipFill>
        <p:spPr>
          <a:xfrm>
            <a:off x="4155034" y="4718304"/>
            <a:ext cx="256032" cy="256032"/>
          </a:xfrm>
          <a:prstGeom prst="rect">
            <a:avLst/>
          </a:prstGeom>
        </p:spPr>
      </p:pic>
      <p:sp>
        <p:nvSpPr>
          <p:cNvPr id="120" name="s120"/>
          <p:cNvSpPr txBox="1"/>
          <p:nvPr/>
        </p:nvSpPr>
        <p:spPr>
          <a:xfrm>
            <a:off x="4520794" y="4590288"/>
            <a:ext cx="324612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CBD5E1"/>
                </a:solidFill>
                <a:latin typeface="Segoe UI"/>
                <a:ea typeface="Segoe UI"/>
                <a:cs typeface="Segoe UI"/>
              </a:rPr>
              <a:t>Late (after coding)</a:t>
            </a:r>
            <a:endParaRPr lang="en-US" sz="1350" dirty="0"/>
          </a:p>
        </p:txBody>
      </p:sp>
      <p:pic>
        <p:nvPicPr>
          <p:cNvPr id="121" name="img121"/>
          <p:cNvPicPr>
            <a:picLocks noChangeAspect="1"/>
          </p:cNvPicPr>
          <p:nvPr/>
        </p:nvPicPr>
        <p:blipFill>
          <a:blip r:embed="rId5"/>
          <a:stretch>
            <a:fillRect/>
          </a:stretch>
        </p:blipFill>
        <p:spPr>
          <a:xfrm>
            <a:off x="7995514" y="4718304"/>
            <a:ext cx="256032" cy="256032"/>
          </a:xfrm>
          <a:prstGeom prst="rect">
            <a:avLst/>
          </a:prstGeom>
        </p:spPr>
      </p:pic>
      <p:sp>
        <p:nvSpPr>
          <p:cNvPr id="122" name="s122"/>
          <p:cNvSpPr txBox="1"/>
          <p:nvPr/>
        </p:nvSpPr>
        <p:spPr>
          <a:xfrm>
            <a:off x="8361274" y="4590288"/>
            <a:ext cx="324612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E2E8F0"/>
                </a:solidFill>
                <a:latin typeface="Segoe UI"/>
                <a:ea typeface="Segoe UI"/>
                <a:cs typeface="Segoe UI"/>
              </a:rPr>
              <a:t>Early (every increment)</a:t>
            </a:r>
            <a:endParaRPr lang="en-US" sz="1350" dirty="0"/>
          </a:p>
        </p:txBody>
      </p:sp>
      <p:sp>
        <p:nvSpPr>
          <p:cNvPr id="123" name="s123"/>
          <p:cNvSpPr/>
          <p:nvPr/>
        </p:nvSpPr>
        <p:spPr>
          <a:xfrm>
            <a:off x="543154" y="5193792"/>
            <a:ext cx="11088014" cy="512064"/>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4" name="s124"/>
          <p:cNvSpPr txBox="1"/>
          <p:nvPr/>
        </p:nvSpPr>
        <p:spPr>
          <a:xfrm>
            <a:off x="771754" y="5193792"/>
            <a:ext cx="320040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Role of docs</a:t>
            </a:r>
            <a:endParaRPr lang="en-US" sz="1400" dirty="0"/>
          </a:p>
        </p:txBody>
      </p:sp>
      <p:pic>
        <p:nvPicPr>
          <p:cNvPr id="125" name="img125"/>
          <p:cNvPicPr>
            <a:picLocks noChangeAspect="1"/>
          </p:cNvPicPr>
          <p:nvPr/>
        </p:nvPicPr>
        <p:blipFill>
          <a:blip r:embed="rId4"/>
          <a:stretch>
            <a:fillRect/>
          </a:stretch>
        </p:blipFill>
        <p:spPr>
          <a:xfrm>
            <a:off x="4155034" y="5321808"/>
            <a:ext cx="256032" cy="256032"/>
          </a:xfrm>
          <a:prstGeom prst="rect">
            <a:avLst/>
          </a:prstGeom>
        </p:spPr>
      </p:pic>
      <p:sp>
        <p:nvSpPr>
          <p:cNvPr id="126" name="s126"/>
          <p:cNvSpPr txBox="1"/>
          <p:nvPr/>
        </p:nvSpPr>
        <p:spPr>
          <a:xfrm>
            <a:off x="4520794" y="5193792"/>
            <a:ext cx="324612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CBD5E1"/>
                </a:solidFill>
                <a:latin typeface="Segoe UI"/>
                <a:ea typeface="Segoe UI"/>
                <a:cs typeface="Segoe UI"/>
              </a:rPr>
              <a:t>The main deliverable</a:t>
            </a:r>
            <a:endParaRPr lang="en-US" sz="1350" dirty="0"/>
          </a:p>
        </p:txBody>
      </p:sp>
      <p:pic>
        <p:nvPicPr>
          <p:cNvPr id="127" name="img127"/>
          <p:cNvPicPr>
            <a:picLocks noChangeAspect="1"/>
          </p:cNvPicPr>
          <p:nvPr/>
        </p:nvPicPr>
        <p:blipFill>
          <a:blip r:embed="rId5"/>
          <a:stretch>
            <a:fillRect/>
          </a:stretch>
        </p:blipFill>
        <p:spPr>
          <a:xfrm>
            <a:off x="7995514" y="5321808"/>
            <a:ext cx="256032" cy="256032"/>
          </a:xfrm>
          <a:prstGeom prst="rect">
            <a:avLst/>
          </a:prstGeom>
        </p:spPr>
      </p:pic>
      <p:sp>
        <p:nvSpPr>
          <p:cNvPr id="128" name="s128"/>
          <p:cNvSpPr txBox="1"/>
          <p:nvPr/>
        </p:nvSpPr>
        <p:spPr>
          <a:xfrm>
            <a:off x="8361274" y="5193792"/>
            <a:ext cx="3246120" cy="512064"/>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E2E8F0"/>
                </a:solidFill>
                <a:latin typeface="Segoe UI"/>
                <a:ea typeface="Segoe UI"/>
                <a:cs typeface="Segoe UI"/>
              </a:rPr>
              <a:t>Support the software</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42" presetClass="entr" presetSubtype="0" fill="hold" grpId="0" nodeType="withEffect">
                                  <p:stCondLst>
                                    <p:cond delay="200"/>
                                  </p:stCondLst>
                                  <p:childTnLst>
                                    <p:set>
                                      <p:cBhvr>
                                        <p:cTn id="11" dur="1" fill="hold">
                                          <p:stCondLst>
                                            <p:cond delay="0"/>
                                          </p:stCondLst>
                                        </p:cTn>
                                        <p:tgtEl>
                                          <p:spTgt spid="102"/>
                                        </p:tgtEl>
                                        <p:attrNameLst>
                                          <p:attrName>style.visibility</p:attrName>
                                        </p:attrNameLst>
                                      </p:cBhvr>
                                      <p:to>
                                        <p:strVal val="visible"/>
                                      </p:to>
                                    </p:set>
                                    <p:animEffect transition="in" filter="fade">
                                      <p:cBhvr>
                                        <p:cTn id="12" dur="500"/>
                                        <p:tgtEl>
                                          <p:spTgt spid="102"/>
                                        </p:tgtEl>
                                      </p:cBhvr>
                                    </p:animEffect>
                                    <p:anim calcmode="lin" valueType="num">
                                      <p:cBhvr additive="base">
                                        <p:cTn id="13" dur="500" decel="100000" fill="hold"/>
                                        <p:tgtEl>
                                          <p:spTgt spid="102"/>
                                        </p:tgtEl>
                                        <p:attrNameLst>
                                          <p:attrName>ppt_y</p:attrName>
                                        </p:attrNameLst>
                                      </p:cBhvr>
                                      <p:tavLst>
                                        <p:tav tm="0">
                                          <p:val>
                                            <p:strVal val="#ppt_y+0.06"/>
                                          </p:val>
                                        </p:tav>
                                        <p:tav tm="100000">
                                          <p:val>
                                            <p:strVal val="#ppt_y"/>
                                          </p:val>
                                        </p:tav>
                                      </p:tavLst>
                                    </p:anim>
                                  </p:childTnLst>
                                </p:cTn>
                              </p:par>
                              <p:par>
                                <p:cTn id="14" presetID="42" presetClass="entr" presetSubtype="0" fill="hold" grpId="0" nodeType="withEffect">
                                  <p:stCondLst>
                                    <p:cond delay="200"/>
                                  </p:stCondLst>
                                  <p:childTnLst>
                                    <p:set>
                                      <p:cBhvr>
                                        <p:cTn id="15" dur="1" fill="hold">
                                          <p:stCondLst>
                                            <p:cond delay="0"/>
                                          </p:stCondLst>
                                        </p:cTn>
                                        <p:tgtEl>
                                          <p:spTgt spid="103"/>
                                        </p:tgtEl>
                                        <p:attrNameLst>
                                          <p:attrName>style.visibility</p:attrName>
                                        </p:attrNameLst>
                                      </p:cBhvr>
                                      <p:to>
                                        <p:strVal val="visible"/>
                                      </p:to>
                                    </p:set>
                                    <p:animEffect transition="in" filter="fade">
                                      <p:cBhvr>
                                        <p:cTn id="16" dur="500"/>
                                        <p:tgtEl>
                                          <p:spTgt spid="103"/>
                                        </p:tgtEl>
                                      </p:cBhvr>
                                    </p:animEffect>
                                    <p:anim calcmode="lin" valueType="num">
                                      <p:cBhvr additive="base">
                                        <p:cTn id="17" dur="500" decel="100000" fill="hold"/>
                                        <p:tgtEl>
                                          <p:spTgt spid="103"/>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200"/>
                                  </p:stCondLst>
                                  <p:childTnLst>
                                    <p:set>
                                      <p:cBhvr>
                                        <p:cTn id="19" dur="1" fill="hold">
                                          <p:stCondLst>
                                            <p:cond delay="0"/>
                                          </p:stCondLst>
                                        </p:cTn>
                                        <p:tgtEl>
                                          <p:spTgt spid="104"/>
                                        </p:tgtEl>
                                        <p:attrNameLst>
                                          <p:attrName>style.visibility</p:attrName>
                                        </p:attrNameLst>
                                      </p:cBhvr>
                                      <p:to>
                                        <p:strVal val="visible"/>
                                      </p:to>
                                    </p:set>
                                    <p:animEffect transition="in" filter="fade">
                                      <p:cBhvr>
                                        <p:cTn id="20" dur="500"/>
                                        <p:tgtEl>
                                          <p:spTgt spid="104"/>
                                        </p:tgtEl>
                                      </p:cBhvr>
                                    </p:animEffect>
                                    <p:anim calcmode="lin" valueType="num">
                                      <p:cBhvr additive="base">
                                        <p:cTn id="21" dur="500" decel="100000" fill="hold"/>
                                        <p:tgtEl>
                                          <p:spTgt spid="104"/>
                                        </p:tgtEl>
                                        <p:attrNameLst>
                                          <p:attrName>ppt_y</p:attrName>
                                        </p:attrNameLst>
                                      </p:cBhvr>
                                      <p:tavLst>
                                        <p:tav tm="0">
                                          <p:val>
                                            <p:strVal val="#ppt_y+0.06"/>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00"/>
                                        <p:tgtEl>
                                          <p:spTgt spid="105"/>
                                        </p:tgtEl>
                                      </p:cBhvr>
                                    </p:animEffect>
                                    <p:anim calcmode="lin" valueType="num">
                                      <p:cBhvr additive="base">
                                        <p:cTn id="27" dur="50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00"/>
                                        <p:tgtEl>
                                          <p:spTgt spid="106"/>
                                        </p:tgtEl>
                                      </p:cBhvr>
                                    </p:animEffect>
                                    <p:anim calcmode="lin" valueType="num">
                                      <p:cBhvr additive="base">
                                        <p:cTn id="31" dur="500" decel="100000" fill="hold"/>
                                        <p:tgtEl>
                                          <p:spTgt spid="106"/>
                                        </p:tgtEl>
                                        <p:attrNameLst>
                                          <p:attrName>ppt_y</p:attrName>
                                        </p:attrNameLst>
                                      </p:cBhvr>
                                      <p:tavLst>
                                        <p:tav tm="0">
                                          <p:val>
                                            <p:strVal val="#ppt_y+0.06"/>
                                          </p:val>
                                        </p:tav>
                                        <p:tav tm="100000">
                                          <p:val>
                                            <p:strVal val="#ppt_y"/>
                                          </p:val>
                                        </p:tav>
                                      </p:tavLst>
                                    </p:anim>
                                  </p:childTnLst>
                                </p:cTn>
                              </p:par>
                              <p:par>
                                <p:cTn id="32" presetID="42" presetClass="entr" presetSubtype="0" fill="hold" nodeType="withEffect">
                                  <p:stCondLst>
                                    <p:cond delay="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anim calcmode="lin" valueType="num">
                                      <p:cBhvr additive="base">
                                        <p:cTn id="35" dur="500" decel="100000" fill="hold"/>
                                        <p:tgtEl>
                                          <p:spTgt spid="107"/>
                                        </p:tgtEl>
                                        <p:attrNameLst>
                                          <p:attrName>ppt_y</p:attrName>
                                        </p:attrNameLst>
                                      </p:cBhvr>
                                      <p:tavLst>
                                        <p:tav tm="0">
                                          <p:val>
                                            <p:strVal val="#ppt_y+0.06"/>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108"/>
                                        </p:tgtEl>
                                        <p:attrNameLst>
                                          <p:attrName>style.visibility</p:attrName>
                                        </p:attrNameLst>
                                      </p:cBhvr>
                                      <p:to>
                                        <p:strVal val="visible"/>
                                      </p:to>
                                    </p:set>
                                    <p:animEffect transition="in" filter="fade">
                                      <p:cBhvr>
                                        <p:cTn id="38" dur="500"/>
                                        <p:tgtEl>
                                          <p:spTgt spid="108"/>
                                        </p:tgtEl>
                                      </p:cBhvr>
                                    </p:animEffect>
                                    <p:anim calcmode="lin" valueType="num">
                                      <p:cBhvr additive="base">
                                        <p:cTn id="39" dur="500" decel="100000" fill="hold"/>
                                        <p:tgtEl>
                                          <p:spTgt spid="108"/>
                                        </p:tgtEl>
                                        <p:attrNameLst>
                                          <p:attrName>ppt_y</p:attrName>
                                        </p:attrNameLst>
                                      </p:cBhvr>
                                      <p:tavLst>
                                        <p:tav tm="0">
                                          <p:val>
                                            <p:strVal val="#ppt_y+0.06"/>
                                          </p:val>
                                        </p:tav>
                                        <p:tav tm="100000">
                                          <p:val>
                                            <p:strVal val="#ppt_y"/>
                                          </p:val>
                                        </p:tav>
                                      </p:tavLst>
                                    </p:anim>
                                  </p:childTnLst>
                                </p:cTn>
                              </p:par>
                              <p:par>
                                <p:cTn id="40" presetID="42" presetClass="entr" presetSubtype="0" fill="hold" nodeType="withEffect">
                                  <p:stCondLst>
                                    <p:cond delay="0"/>
                                  </p:stCondLst>
                                  <p:childTnLst>
                                    <p:set>
                                      <p:cBhvr>
                                        <p:cTn id="41" dur="1" fill="hold">
                                          <p:stCondLst>
                                            <p:cond delay="0"/>
                                          </p:stCondLst>
                                        </p:cTn>
                                        <p:tgtEl>
                                          <p:spTgt spid="109"/>
                                        </p:tgtEl>
                                        <p:attrNameLst>
                                          <p:attrName>style.visibility</p:attrName>
                                        </p:attrNameLst>
                                      </p:cBhvr>
                                      <p:to>
                                        <p:strVal val="visible"/>
                                      </p:to>
                                    </p:set>
                                    <p:animEffect transition="in" filter="fade">
                                      <p:cBhvr>
                                        <p:cTn id="42" dur="500"/>
                                        <p:tgtEl>
                                          <p:spTgt spid="109"/>
                                        </p:tgtEl>
                                      </p:cBhvr>
                                    </p:animEffect>
                                    <p:anim calcmode="lin" valueType="num">
                                      <p:cBhvr additive="base">
                                        <p:cTn id="43" dur="500" decel="100000" fill="hold"/>
                                        <p:tgtEl>
                                          <p:spTgt spid="109"/>
                                        </p:tgtEl>
                                        <p:attrNameLst>
                                          <p:attrName>ppt_y</p:attrName>
                                        </p:attrNameLst>
                                      </p:cBhvr>
                                      <p:tavLst>
                                        <p:tav tm="0">
                                          <p:val>
                                            <p:strVal val="#ppt_y+0.06"/>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110"/>
                                        </p:tgtEl>
                                        <p:attrNameLst>
                                          <p:attrName>style.visibility</p:attrName>
                                        </p:attrNameLst>
                                      </p:cBhvr>
                                      <p:to>
                                        <p:strVal val="visible"/>
                                      </p:to>
                                    </p:set>
                                    <p:animEffect transition="in" filter="fade">
                                      <p:cBhvr>
                                        <p:cTn id="46" dur="500"/>
                                        <p:tgtEl>
                                          <p:spTgt spid="110"/>
                                        </p:tgtEl>
                                      </p:cBhvr>
                                    </p:animEffect>
                                    <p:anim calcmode="lin" valueType="num">
                                      <p:cBhvr additive="base">
                                        <p:cTn id="47"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42" presetClass="entr" presetSubtype="0" fill="hold" grpId="0" nodeType="clickEffect">
                                  <p:stCondLst>
                                    <p:cond delay="0"/>
                                  </p:stCondLst>
                                  <p:childTnLst>
                                    <p:set>
                                      <p:cBhvr>
                                        <p:cTn id="51" dur="1" fill="hold">
                                          <p:stCondLst>
                                            <p:cond delay="0"/>
                                          </p:stCondLst>
                                        </p:cTn>
                                        <p:tgtEl>
                                          <p:spTgt spid="111"/>
                                        </p:tgtEl>
                                        <p:attrNameLst>
                                          <p:attrName>style.visibility</p:attrName>
                                        </p:attrNameLst>
                                      </p:cBhvr>
                                      <p:to>
                                        <p:strVal val="visible"/>
                                      </p:to>
                                    </p:set>
                                    <p:animEffect transition="in" filter="fade">
                                      <p:cBhvr>
                                        <p:cTn id="52" dur="500"/>
                                        <p:tgtEl>
                                          <p:spTgt spid="111"/>
                                        </p:tgtEl>
                                      </p:cBhvr>
                                    </p:animEffect>
                                    <p:anim calcmode="lin" valueType="num">
                                      <p:cBhvr additive="base">
                                        <p:cTn id="53" dur="500" decel="100000" fill="hold"/>
                                        <p:tgtEl>
                                          <p:spTgt spid="111"/>
                                        </p:tgtEl>
                                        <p:attrNameLst>
                                          <p:attrName>ppt_y</p:attrName>
                                        </p:attrNameLst>
                                      </p:cBhvr>
                                      <p:tavLst>
                                        <p:tav tm="0">
                                          <p:val>
                                            <p:strVal val="#ppt_y+0.06"/>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12"/>
                                        </p:tgtEl>
                                        <p:attrNameLst>
                                          <p:attrName>style.visibility</p:attrName>
                                        </p:attrNameLst>
                                      </p:cBhvr>
                                      <p:to>
                                        <p:strVal val="visible"/>
                                      </p:to>
                                    </p:set>
                                    <p:animEffect transition="in" filter="fade">
                                      <p:cBhvr>
                                        <p:cTn id="56" dur="500"/>
                                        <p:tgtEl>
                                          <p:spTgt spid="112"/>
                                        </p:tgtEl>
                                      </p:cBhvr>
                                    </p:animEffect>
                                    <p:anim calcmode="lin" valueType="num">
                                      <p:cBhvr additive="base">
                                        <p:cTn id="57" dur="500" decel="100000" fill="hold"/>
                                        <p:tgtEl>
                                          <p:spTgt spid="112"/>
                                        </p:tgtEl>
                                        <p:attrNameLst>
                                          <p:attrName>ppt_y</p:attrName>
                                        </p:attrNameLst>
                                      </p:cBhvr>
                                      <p:tavLst>
                                        <p:tav tm="0">
                                          <p:val>
                                            <p:strVal val="#ppt_y+0.06"/>
                                          </p:val>
                                        </p:tav>
                                        <p:tav tm="100000">
                                          <p:val>
                                            <p:strVal val="#ppt_y"/>
                                          </p:val>
                                        </p:tav>
                                      </p:tavLst>
                                    </p:anim>
                                  </p:childTnLst>
                                </p:cTn>
                              </p:par>
                              <p:par>
                                <p:cTn id="58" presetID="42" presetClass="entr" presetSubtype="0" fill="hold" nodeType="withEffect">
                                  <p:stCondLst>
                                    <p:cond delay="0"/>
                                  </p:stCondLst>
                                  <p:childTnLst>
                                    <p:set>
                                      <p:cBhvr>
                                        <p:cTn id="59" dur="1" fill="hold">
                                          <p:stCondLst>
                                            <p:cond delay="0"/>
                                          </p:stCondLst>
                                        </p:cTn>
                                        <p:tgtEl>
                                          <p:spTgt spid="113"/>
                                        </p:tgtEl>
                                        <p:attrNameLst>
                                          <p:attrName>style.visibility</p:attrName>
                                        </p:attrNameLst>
                                      </p:cBhvr>
                                      <p:to>
                                        <p:strVal val="visible"/>
                                      </p:to>
                                    </p:set>
                                    <p:animEffect transition="in" filter="fade">
                                      <p:cBhvr>
                                        <p:cTn id="60" dur="500"/>
                                        <p:tgtEl>
                                          <p:spTgt spid="113"/>
                                        </p:tgtEl>
                                      </p:cBhvr>
                                    </p:animEffect>
                                    <p:anim calcmode="lin" valueType="num">
                                      <p:cBhvr additive="base">
                                        <p:cTn id="61" dur="500" decel="100000" fill="hold"/>
                                        <p:tgtEl>
                                          <p:spTgt spid="113"/>
                                        </p:tgtEl>
                                        <p:attrNameLst>
                                          <p:attrName>ppt_y</p:attrName>
                                        </p:attrNameLst>
                                      </p:cBhvr>
                                      <p:tavLst>
                                        <p:tav tm="0">
                                          <p:val>
                                            <p:strVal val="#ppt_y+0.06"/>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114"/>
                                        </p:tgtEl>
                                        <p:attrNameLst>
                                          <p:attrName>style.visibility</p:attrName>
                                        </p:attrNameLst>
                                      </p:cBhvr>
                                      <p:to>
                                        <p:strVal val="visible"/>
                                      </p:to>
                                    </p:set>
                                    <p:animEffect transition="in" filter="fade">
                                      <p:cBhvr>
                                        <p:cTn id="64" dur="500"/>
                                        <p:tgtEl>
                                          <p:spTgt spid="114"/>
                                        </p:tgtEl>
                                      </p:cBhvr>
                                    </p:animEffect>
                                    <p:anim calcmode="lin" valueType="num">
                                      <p:cBhvr additive="base">
                                        <p:cTn id="65" dur="500" decel="100000" fill="hold"/>
                                        <p:tgtEl>
                                          <p:spTgt spid="114"/>
                                        </p:tgtEl>
                                        <p:attrNameLst>
                                          <p:attrName>ppt_y</p:attrName>
                                        </p:attrNameLst>
                                      </p:cBhvr>
                                      <p:tavLst>
                                        <p:tav tm="0">
                                          <p:val>
                                            <p:strVal val="#ppt_y+0.06"/>
                                          </p:val>
                                        </p:tav>
                                        <p:tav tm="100000">
                                          <p:val>
                                            <p:strVal val="#ppt_y"/>
                                          </p:val>
                                        </p:tav>
                                      </p:tavLst>
                                    </p:anim>
                                  </p:childTnLst>
                                </p:cTn>
                              </p:par>
                              <p:par>
                                <p:cTn id="66" presetID="42" presetClass="entr" presetSubtype="0" fill="hold" nodeType="withEffect">
                                  <p:stCondLst>
                                    <p:cond delay="0"/>
                                  </p:stCondLst>
                                  <p:childTnLst>
                                    <p:set>
                                      <p:cBhvr>
                                        <p:cTn id="67" dur="1" fill="hold">
                                          <p:stCondLst>
                                            <p:cond delay="0"/>
                                          </p:stCondLst>
                                        </p:cTn>
                                        <p:tgtEl>
                                          <p:spTgt spid="115"/>
                                        </p:tgtEl>
                                        <p:attrNameLst>
                                          <p:attrName>style.visibility</p:attrName>
                                        </p:attrNameLst>
                                      </p:cBhvr>
                                      <p:to>
                                        <p:strVal val="visible"/>
                                      </p:to>
                                    </p:set>
                                    <p:animEffect transition="in" filter="fade">
                                      <p:cBhvr>
                                        <p:cTn id="68" dur="500"/>
                                        <p:tgtEl>
                                          <p:spTgt spid="115"/>
                                        </p:tgtEl>
                                      </p:cBhvr>
                                    </p:animEffect>
                                    <p:anim calcmode="lin" valueType="num">
                                      <p:cBhvr additive="base">
                                        <p:cTn id="69" dur="500" decel="100000" fill="hold"/>
                                        <p:tgtEl>
                                          <p:spTgt spid="115"/>
                                        </p:tgtEl>
                                        <p:attrNameLst>
                                          <p:attrName>ppt_y</p:attrName>
                                        </p:attrNameLst>
                                      </p:cBhvr>
                                      <p:tavLst>
                                        <p:tav tm="0">
                                          <p:val>
                                            <p:strVal val="#ppt_y+0.06"/>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116"/>
                                        </p:tgtEl>
                                        <p:attrNameLst>
                                          <p:attrName>style.visibility</p:attrName>
                                        </p:attrNameLst>
                                      </p:cBhvr>
                                      <p:to>
                                        <p:strVal val="visible"/>
                                      </p:to>
                                    </p:set>
                                    <p:animEffect transition="in" filter="fade">
                                      <p:cBhvr>
                                        <p:cTn id="72" dur="500"/>
                                        <p:tgtEl>
                                          <p:spTgt spid="116"/>
                                        </p:tgtEl>
                                      </p:cBhvr>
                                    </p:animEffect>
                                    <p:anim calcmode="lin" valueType="num">
                                      <p:cBhvr additive="base">
                                        <p:cTn id="73"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74" fill="hold">
                      <p:stCondLst>
                        <p:cond delay="indefinite"/>
                      </p:stCondLst>
                      <p:childTnLst>
                        <p:par>
                          <p:cTn id="75" fill="hold">
                            <p:stCondLst>
                              <p:cond delay="0"/>
                            </p:stCondLst>
                            <p:childTnLst>
                              <p:par>
                                <p:cTn id="76" presetID="42" presetClass="entr" presetSubtype="0" fill="hold" grpId="0" nodeType="clickEffect">
                                  <p:stCondLst>
                                    <p:cond delay="0"/>
                                  </p:stCondLst>
                                  <p:childTnLst>
                                    <p:set>
                                      <p:cBhvr>
                                        <p:cTn id="77" dur="1" fill="hold">
                                          <p:stCondLst>
                                            <p:cond delay="0"/>
                                          </p:stCondLst>
                                        </p:cTn>
                                        <p:tgtEl>
                                          <p:spTgt spid="117"/>
                                        </p:tgtEl>
                                        <p:attrNameLst>
                                          <p:attrName>style.visibility</p:attrName>
                                        </p:attrNameLst>
                                      </p:cBhvr>
                                      <p:to>
                                        <p:strVal val="visible"/>
                                      </p:to>
                                    </p:set>
                                    <p:animEffect transition="in" filter="fade">
                                      <p:cBhvr>
                                        <p:cTn id="78" dur="500"/>
                                        <p:tgtEl>
                                          <p:spTgt spid="117"/>
                                        </p:tgtEl>
                                      </p:cBhvr>
                                    </p:animEffect>
                                    <p:anim calcmode="lin" valueType="num">
                                      <p:cBhvr additive="base">
                                        <p:cTn id="79" dur="500" decel="100000" fill="hold"/>
                                        <p:tgtEl>
                                          <p:spTgt spid="117"/>
                                        </p:tgtEl>
                                        <p:attrNameLst>
                                          <p:attrName>ppt_y</p:attrName>
                                        </p:attrNameLst>
                                      </p:cBhvr>
                                      <p:tavLst>
                                        <p:tav tm="0">
                                          <p:val>
                                            <p:strVal val="#ppt_y+0.06"/>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118"/>
                                        </p:tgtEl>
                                        <p:attrNameLst>
                                          <p:attrName>style.visibility</p:attrName>
                                        </p:attrNameLst>
                                      </p:cBhvr>
                                      <p:to>
                                        <p:strVal val="visible"/>
                                      </p:to>
                                    </p:set>
                                    <p:animEffect transition="in" filter="fade">
                                      <p:cBhvr>
                                        <p:cTn id="82" dur="500"/>
                                        <p:tgtEl>
                                          <p:spTgt spid="118"/>
                                        </p:tgtEl>
                                      </p:cBhvr>
                                    </p:animEffect>
                                    <p:anim calcmode="lin" valueType="num">
                                      <p:cBhvr additive="base">
                                        <p:cTn id="83" dur="500" decel="100000" fill="hold"/>
                                        <p:tgtEl>
                                          <p:spTgt spid="118"/>
                                        </p:tgtEl>
                                        <p:attrNameLst>
                                          <p:attrName>ppt_y</p:attrName>
                                        </p:attrNameLst>
                                      </p:cBhvr>
                                      <p:tavLst>
                                        <p:tav tm="0">
                                          <p:val>
                                            <p:strVal val="#ppt_y+0.06"/>
                                          </p:val>
                                        </p:tav>
                                        <p:tav tm="100000">
                                          <p:val>
                                            <p:strVal val="#ppt_y"/>
                                          </p:val>
                                        </p:tav>
                                      </p:tavLst>
                                    </p:anim>
                                  </p:childTnLst>
                                </p:cTn>
                              </p:par>
                              <p:par>
                                <p:cTn id="84" presetID="42" presetClass="entr" presetSubtype="0" fill="hold" nodeType="withEffect">
                                  <p:stCondLst>
                                    <p:cond delay="0"/>
                                  </p:stCondLst>
                                  <p:childTnLst>
                                    <p:set>
                                      <p:cBhvr>
                                        <p:cTn id="85" dur="1" fill="hold">
                                          <p:stCondLst>
                                            <p:cond delay="0"/>
                                          </p:stCondLst>
                                        </p:cTn>
                                        <p:tgtEl>
                                          <p:spTgt spid="119"/>
                                        </p:tgtEl>
                                        <p:attrNameLst>
                                          <p:attrName>style.visibility</p:attrName>
                                        </p:attrNameLst>
                                      </p:cBhvr>
                                      <p:to>
                                        <p:strVal val="visible"/>
                                      </p:to>
                                    </p:set>
                                    <p:animEffect transition="in" filter="fade">
                                      <p:cBhvr>
                                        <p:cTn id="86" dur="500"/>
                                        <p:tgtEl>
                                          <p:spTgt spid="119"/>
                                        </p:tgtEl>
                                      </p:cBhvr>
                                    </p:animEffect>
                                    <p:anim calcmode="lin" valueType="num">
                                      <p:cBhvr additive="base">
                                        <p:cTn id="87" dur="500" decel="100000" fill="hold"/>
                                        <p:tgtEl>
                                          <p:spTgt spid="119"/>
                                        </p:tgtEl>
                                        <p:attrNameLst>
                                          <p:attrName>ppt_y</p:attrName>
                                        </p:attrNameLst>
                                      </p:cBhvr>
                                      <p:tavLst>
                                        <p:tav tm="0">
                                          <p:val>
                                            <p:strVal val="#ppt_y+0.06"/>
                                          </p:val>
                                        </p:tav>
                                        <p:tav tm="100000">
                                          <p:val>
                                            <p:strVal val="#ppt_y"/>
                                          </p:val>
                                        </p:tav>
                                      </p:tavLst>
                                    </p:anim>
                                  </p:childTnLst>
                                </p:cTn>
                              </p:par>
                              <p:par>
                                <p:cTn id="88" presetID="42" presetClass="entr" presetSubtype="0" fill="hold" grpId="0" nodeType="withEffect">
                                  <p:stCondLst>
                                    <p:cond delay="0"/>
                                  </p:stCondLst>
                                  <p:childTnLst>
                                    <p:set>
                                      <p:cBhvr>
                                        <p:cTn id="89" dur="1" fill="hold">
                                          <p:stCondLst>
                                            <p:cond delay="0"/>
                                          </p:stCondLst>
                                        </p:cTn>
                                        <p:tgtEl>
                                          <p:spTgt spid="120"/>
                                        </p:tgtEl>
                                        <p:attrNameLst>
                                          <p:attrName>style.visibility</p:attrName>
                                        </p:attrNameLst>
                                      </p:cBhvr>
                                      <p:to>
                                        <p:strVal val="visible"/>
                                      </p:to>
                                    </p:set>
                                    <p:animEffect transition="in" filter="fade">
                                      <p:cBhvr>
                                        <p:cTn id="90" dur="500"/>
                                        <p:tgtEl>
                                          <p:spTgt spid="120"/>
                                        </p:tgtEl>
                                      </p:cBhvr>
                                    </p:animEffect>
                                    <p:anim calcmode="lin" valueType="num">
                                      <p:cBhvr additive="base">
                                        <p:cTn id="91" dur="500" decel="100000" fill="hold"/>
                                        <p:tgtEl>
                                          <p:spTgt spid="120"/>
                                        </p:tgtEl>
                                        <p:attrNameLst>
                                          <p:attrName>ppt_y</p:attrName>
                                        </p:attrNameLst>
                                      </p:cBhvr>
                                      <p:tavLst>
                                        <p:tav tm="0">
                                          <p:val>
                                            <p:strVal val="#ppt_y+0.06"/>
                                          </p:val>
                                        </p:tav>
                                        <p:tav tm="100000">
                                          <p:val>
                                            <p:strVal val="#ppt_y"/>
                                          </p:val>
                                        </p:tav>
                                      </p:tavLst>
                                    </p:anim>
                                  </p:childTnLst>
                                </p:cTn>
                              </p:par>
                              <p:par>
                                <p:cTn id="92" presetID="42" presetClass="entr" presetSubtype="0" fill="hold" nodeType="withEffect">
                                  <p:stCondLst>
                                    <p:cond delay="0"/>
                                  </p:stCondLst>
                                  <p:childTnLst>
                                    <p:set>
                                      <p:cBhvr>
                                        <p:cTn id="93" dur="1" fill="hold">
                                          <p:stCondLst>
                                            <p:cond delay="0"/>
                                          </p:stCondLst>
                                        </p:cTn>
                                        <p:tgtEl>
                                          <p:spTgt spid="121"/>
                                        </p:tgtEl>
                                        <p:attrNameLst>
                                          <p:attrName>style.visibility</p:attrName>
                                        </p:attrNameLst>
                                      </p:cBhvr>
                                      <p:to>
                                        <p:strVal val="visible"/>
                                      </p:to>
                                    </p:set>
                                    <p:animEffect transition="in" filter="fade">
                                      <p:cBhvr>
                                        <p:cTn id="94" dur="500"/>
                                        <p:tgtEl>
                                          <p:spTgt spid="121"/>
                                        </p:tgtEl>
                                      </p:cBhvr>
                                    </p:animEffect>
                                    <p:anim calcmode="lin" valueType="num">
                                      <p:cBhvr additive="base">
                                        <p:cTn id="95" dur="500" decel="100000" fill="hold"/>
                                        <p:tgtEl>
                                          <p:spTgt spid="121"/>
                                        </p:tgtEl>
                                        <p:attrNameLst>
                                          <p:attrName>ppt_y</p:attrName>
                                        </p:attrNameLst>
                                      </p:cBhvr>
                                      <p:tavLst>
                                        <p:tav tm="0">
                                          <p:val>
                                            <p:strVal val="#ppt_y+0.06"/>
                                          </p:val>
                                        </p:tav>
                                        <p:tav tm="100000">
                                          <p:val>
                                            <p:strVal val="#ppt_y"/>
                                          </p:val>
                                        </p:tav>
                                      </p:tavLst>
                                    </p:anim>
                                  </p:childTnLst>
                                </p:cTn>
                              </p:par>
                              <p:par>
                                <p:cTn id="96" presetID="42" presetClass="entr" presetSubtype="0" fill="hold" grpId="0" nodeType="withEffect">
                                  <p:stCondLst>
                                    <p:cond delay="0"/>
                                  </p:stCondLst>
                                  <p:childTnLst>
                                    <p:set>
                                      <p:cBhvr>
                                        <p:cTn id="97" dur="1" fill="hold">
                                          <p:stCondLst>
                                            <p:cond delay="0"/>
                                          </p:stCondLst>
                                        </p:cTn>
                                        <p:tgtEl>
                                          <p:spTgt spid="122"/>
                                        </p:tgtEl>
                                        <p:attrNameLst>
                                          <p:attrName>style.visibility</p:attrName>
                                        </p:attrNameLst>
                                      </p:cBhvr>
                                      <p:to>
                                        <p:strVal val="visible"/>
                                      </p:to>
                                    </p:set>
                                    <p:animEffect transition="in" filter="fade">
                                      <p:cBhvr>
                                        <p:cTn id="98" dur="500"/>
                                        <p:tgtEl>
                                          <p:spTgt spid="122"/>
                                        </p:tgtEl>
                                      </p:cBhvr>
                                    </p:animEffect>
                                    <p:anim calcmode="lin" valueType="num">
                                      <p:cBhvr additive="base">
                                        <p:cTn id="99" dur="500" decel="100000" fill="hold"/>
                                        <p:tgtEl>
                                          <p:spTgt spid="122"/>
                                        </p:tgtEl>
                                        <p:attrNameLst>
                                          <p:attrName>ppt_y</p:attrName>
                                        </p:attrNameLst>
                                      </p:cBhvr>
                                      <p:tavLst>
                                        <p:tav tm="0">
                                          <p:val>
                                            <p:strVal val="#ppt_y+0.06"/>
                                          </p:val>
                                        </p:tav>
                                        <p:tav tm="100000">
                                          <p:val>
                                            <p:strVal val="#ppt_y"/>
                                          </p:val>
                                        </p:tav>
                                      </p:tavLst>
                                    </p:anim>
                                  </p:childTnLst>
                                </p:cTn>
                              </p:par>
                            </p:childTnLst>
                          </p:cTn>
                        </p:par>
                      </p:childTnLst>
                    </p:cTn>
                  </p:par>
                  <p:par>
                    <p:cTn id="100" fill="hold">
                      <p:stCondLst>
                        <p:cond delay="indefinite"/>
                      </p:stCondLst>
                      <p:childTnLst>
                        <p:par>
                          <p:cTn id="101" fill="hold">
                            <p:stCondLst>
                              <p:cond delay="0"/>
                            </p:stCondLst>
                            <p:childTnLst>
                              <p:par>
                                <p:cTn id="102" presetID="42" presetClass="entr" presetSubtype="0" fill="hold" grpId="0" nodeType="clickEffect">
                                  <p:stCondLst>
                                    <p:cond delay="0"/>
                                  </p:stCondLst>
                                  <p:childTnLst>
                                    <p:set>
                                      <p:cBhvr>
                                        <p:cTn id="103" dur="1" fill="hold">
                                          <p:stCondLst>
                                            <p:cond delay="0"/>
                                          </p:stCondLst>
                                        </p:cTn>
                                        <p:tgtEl>
                                          <p:spTgt spid="123"/>
                                        </p:tgtEl>
                                        <p:attrNameLst>
                                          <p:attrName>style.visibility</p:attrName>
                                        </p:attrNameLst>
                                      </p:cBhvr>
                                      <p:to>
                                        <p:strVal val="visible"/>
                                      </p:to>
                                    </p:set>
                                    <p:animEffect transition="in" filter="fade">
                                      <p:cBhvr>
                                        <p:cTn id="104" dur="500"/>
                                        <p:tgtEl>
                                          <p:spTgt spid="123"/>
                                        </p:tgtEl>
                                      </p:cBhvr>
                                    </p:animEffect>
                                    <p:anim calcmode="lin" valueType="num">
                                      <p:cBhvr additive="base">
                                        <p:cTn id="105" dur="500" decel="100000" fill="hold"/>
                                        <p:tgtEl>
                                          <p:spTgt spid="123"/>
                                        </p:tgtEl>
                                        <p:attrNameLst>
                                          <p:attrName>ppt_y</p:attrName>
                                        </p:attrNameLst>
                                      </p:cBhvr>
                                      <p:tavLst>
                                        <p:tav tm="0">
                                          <p:val>
                                            <p:strVal val="#ppt_y+0.06"/>
                                          </p:val>
                                        </p:tav>
                                        <p:tav tm="100000">
                                          <p:val>
                                            <p:strVal val="#ppt_y"/>
                                          </p:val>
                                        </p:tav>
                                      </p:tavLst>
                                    </p:anim>
                                  </p:childTnLst>
                                </p:cTn>
                              </p:par>
                              <p:par>
                                <p:cTn id="106" presetID="42" presetClass="entr" presetSubtype="0" fill="hold" grpId="0" nodeType="withEffect">
                                  <p:stCondLst>
                                    <p:cond delay="0"/>
                                  </p:stCondLst>
                                  <p:childTnLst>
                                    <p:set>
                                      <p:cBhvr>
                                        <p:cTn id="107" dur="1" fill="hold">
                                          <p:stCondLst>
                                            <p:cond delay="0"/>
                                          </p:stCondLst>
                                        </p:cTn>
                                        <p:tgtEl>
                                          <p:spTgt spid="124"/>
                                        </p:tgtEl>
                                        <p:attrNameLst>
                                          <p:attrName>style.visibility</p:attrName>
                                        </p:attrNameLst>
                                      </p:cBhvr>
                                      <p:to>
                                        <p:strVal val="visible"/>
                                      </p:to>
                                    </p:set>
                                    <p:animEffect transition="in" filter="fade">
                                      <p:cBhvr>
                                        <p:cTn id="108" dur="500"/>
                                        <p:tgtEl>
                                          <p:spTgt spid="124"/>
                                        </p:tgtEl>
                                      </p:cBhvr>
                                    </p:animEffect>
                                    <p:anim calcmode="lin" valueType="num">
                                      <p:cBhvr additive="base">
                                        <p:cTn id="109" dur="500" decel="100000" fill="hold"/>
                                        <p:tgtEl>
                                          <p:spTgt spid="124"/>
                                        </p:tgtEl>
                                        <p:attrNameLst>
                                          <p:attrName>ppt_y</p:attrName>
                                        </p:attrNameLst>
                                      </p:cBhvr>
                                      <p:tavLst>
                                        <p:tav tm="0">
                                          <p:val>
                                            <p:strVal val="#ppt_y+0.06"/>
                                          </p:val>
                                        </p:tav>
                                        <p:tav tm="100000">
                                          <p:val>
                                            <p:strVal val="#ppt_y"/>
                                          </p:val>
                                        </p:tav>
                                      </p:tavLst>
                                    </p:anim>
                                  </p:childTnLst>
                                </p:cTn>
                              </p:par>
                              <p:par>
                                <p:cTn id="110" presetID="42" presetClass="entr" presetSubtype="0" fill="hold" nodeType="withEffect">
                                  <p:stCondLst>
                                    <p:cond delay="0"/>
                                  </p:stCondLst>
                                  <p:childTnLst>
                                    <p:set>
                                      <p:cBhvr>
                                        <p:cTn id="111" dur="1" fill="hold">
                                          <p:stCondLst>
                                            <p:cond delay="0"/>
                                          </p:stCondLst>
                                        </p:cTn>
                                        <p:tgtEl>
                                          <p:spTgt spid="125"/>
                                        </p:tgtEl>
                                        <p:attrNameLst>
                                          <p:attrName>style.visibility</p:attrName>
                                        </p:attrNameLst>
                                      </p:cBhvr>
                                      <p:to>
                                        <p:strVal val="visible"/>
                                      </p:to>
                                    </p:set>
                                    <p:animEffect transition="in" filter="fade">
                                      <p:cBhvr>
                                        <p:cTn id="112" dur="500"/>
                                        <p:tgtEl>
                                          <p:spTgt spid="125"/>
                                        </p:tgtEl>
                                      </p:cBhvr>
                                    </p:animEffect>
                                    <p:anim calcmode="lin" valueType="num">
                                      <p:cBhvr additive="base">
                                        <p:cTn id="113" dur="500" decel="100000" fill="hold"/>
                                        <p:tgtEl>
                                          <p:spTgt spid="125"/>
                                        </p:tgtEl>
                                        <p:attrNameLst>
                                          <p:attrName>ppt_y</p:attrName>
                                        </p:attrNameLst>
                                      </p:cBhvr>
                                      <p:tavLst>
                                        <p:tav tm="0">
                                          <p:val>
                                            <p:strVal val="#ppt_y+0.06"/>
                                          </p:val>
                                        </p:tav>
                                        <p:tav tm="100000">
                                          <p:val>
                                            <p:strVal val="#ppt_y"/>
                                          </p:val>
                                        </p:tav>
                                      </p:tavLst>
                                    </p:anim>
                                  </p:childTnLst>
                                </p:cTn>
                              </p:par>
                              <p:par>
                                <p:cTn id="114" presetID="42" presetClass="entr" presetSubtype="0" fill="hold" grpId="0" nodeType="withEffect">
                                  <p:stCondLst>
                                    <p:cond delay="0"/>
                                  </p:stCondLst>
                                  <p:childTnLst>
                                    <p:set>
                                      <p:cBhvr>
                                        <p:cTn id="115" dur="1" fill="hold">
                                          <p:stCondLst>
                                            <p:cond delay="0"/>
                                          </p:stCondLst>
                                        </p:cTn>
                                        <p:tgtEl>
                                          <p:spTgt spid="126"/>
                                        </p:tgtEl>
                                        <p:attrNameLst>
                                          <p:attrName>style.visibility</p:attrName>
                                        </p:attrNameLst>
                                      </p:cBhvr>
                                      <p:to>
                                        <p:strVal val="visible"/>
                                      </p:to>
                                    </p:set>
                                    <p:animEffect transition="in" filter="fade">
                                      <p:cBhvr>
                                        <p:cTn id="116" dur="500"/>
                                        <p:tgtEl>
                                          <p:spTgt spid="126"/>
                                        </p:tgtEl>
                                      </p:cBhvr>
                                    </p:animEffect>
                                    <p:anim calcmode="lin" valueType="num">
                                      <p:cBhvr additive="base">
                                        <p:cTn id="117" dur="500" decel="100000" fill="hold"/>
                                        <p:tgtEl>
                                          <p:spTgt spid="126"/>
                                        </p:tgtEl>
                                        <p:attrNameLst>
                                          <p:attrName>ppt_y</p:attrName>
                                        </p:attrNameLst>
                                      </p:cBhvr>
                                      <p:tavLst>
                                        <p:tav tm="0">
                                          <p:val>
                                            <p:strVal val="#ppt_y+0.06"/>
                                          </p:val>
                                        </p:tav>
                                        <p:tav tm="100000">
                                          <p:val>
                                            <p:strVal val="#ppt_y"/>
                                          </p:val>
                                        </p:tav>
                                      </p:tavLst>
                                    </p:anim>
                                  </p:childTnLst>
                                </p:cTn>
                              </p:par>
                              <p:par>
                                <p:cTn id="118" presetID="42" presetClass="entr" presetSubtype="0" fill="hold" nodeType="withEffect">
                                  <p:stCondLst>
                                    <p:cond delay="0"/>
                                  </p:stCondLst>
                                  <p:childTnLst>
                                    <p:set>
                                      <p:cBhvr>
                                        <p:cTn id="119" dur="1" fill="hold">
                                          <p:stCondLst>
                                            <p:cond delay="0"/>
                                          </p:stCondLst>
                                        </p:cTn>
                                        <p:tgtEl>
                                          <p:spTgt spid="127"/>
                                        </p:tgtEl>
                                        <p:attrNameLst>
                                          <p:attrName>style.visibility</p:attrName>
                                        </p:attrNameLst>
                                      </p:cBhvr>
                                      <p:to>
                                        <p:strVal val="visible"/>
                                      </p:to>
                                    </p:set>
                                    <p:animEffect transition="in" filter="fade">
                                      <p:cBhvr>
                                        <p:cTn id="120" dur="500"/>
                                        <p:tgtEl>
                                          <p:spTgt spid="127"/>
                                        </p:tgtEl>
                                      </p:cBhvr>
                                    </p:animEffect>
                                    <p:anim calcmode="lin" valueType="num">
                                      <p:cBhvr additive="base">
                                        <p:cTn id="121" dur="500" decel="100000" fill="hold"/>
                                        <p:tgtEl>
                                          <p:spTgt spid="127"/>
                                        </p:tgtEl>
                                        <p:attrNameLst>
                                          <p:attrName>ppt_y</p:attrName>
                                        </p:attrNameLst>
                                      </p:cBhvr>
                                      <p:tavLst>
                                        <p:tav tm="0">
                                          <p:val>
                                            <p:strVal val="#ppt_y+0.06"/>
                                          </p:val>
                                        </p:tav>
                                        <p:tav tm="100000">
                                          <p:val>
                                            <p:strVal val="#ppt_y"/>
                                          </p:val>
                                        </p:tav>
                                      </p:tavLst>
                                    </p:anim>
                                  </p:childTnLst>
                                </p:cTn>
                              </p:par>
                              <p:par>
                                <p:cTn id="122" presetID="42" presetClass="entr" presetSubtype="0" fill="hold" grpId="0" nodeType="withEffect">
                                  <p:stCondLst>
                                    <p:cond delay="0"/>
                                  </p:stCondLst>
                                  <p:childTnLst>
                                    <p:set>
                                      <p:cBhvr>
                                        <p:cTn id="123" dur="1" fill="hold">
                                          <p:stCondLst>
                                            <p:cond delay="0"/>
                                          </p:stCondLst>
                                        </p:cTn>
                                        <p:tgtEl>
                                          <p:spTgt spid="128"/>
                                        </p:tgtEl>
                                        <p:attrNameLst>
                                          <p:attrName>style.visibility</p:attrName>
                                        </p:attrNameLst>
                                      </p:cBhvr>
                                      <p:to>
                                        <p:strVal val="visible"/>
                                      </p:to>
                                    </p:set>
                                    <p:animEffect transition="in" filter="fade">
                                      <p:cBhvr>
                                        <p:cTn id="124" dur="500"/>
                                        <p:tgtEl>
                                          <p:spTgt spid="128"/>
                                        </p:tgtEl>
                                      </p:cBhvr>
                                    </p:animEffect>
                                    <p:anim calcmode="lin" valueType="num">
                                      <p:cBhvr additive="base">
                                        <p:cTn id="125" dur="500" decel="100000" fill="hold"/>
                                        <p:tgtEl>
                                          <p:spTgt spid="12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8" grpId="0" animBg="1"/>
      <p:bldP spid="110" grpId="0" animBg="1"/>
      <p:bldP spid="111" grpId="0" animBg="1"/>
      <p:bldP spid="112" grpId="0" animBg="1"/>
      <p:bldP spid="114" grpId="0" animBg="1"/>
      <p:bldP spid="116" grpId="0" animBg="1"/>
      <p:bldP spid="117" grpId="0" animBg="1"/>
      <p:bldP spid="118" grpId="0" animBg="1"/>
      <p:bldP spid="120" grpId="0" animBg="1"/>
      <p:bldP spid="122" grpId="0" animBg="1"/>
      <p:bldP spid="123" grpId="0" animBg="1"/>
      <p:bldP spid="124" grpId="0" animBg="1"/>
      <p:bldP spid="126" grpId="0" animBg="1"/>
      <p:bldP spid="128"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VALUE 03</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Customer Collaboration</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over contract negotiation</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MANIFESTO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207</a:t>
            </a:r>
            <a:endParaRPr lang="en-US" sz="850" dirty="0"/>
          </a:p>
        </p:txBody>
      </p:sp>
      <p:sp>
        <p:nvSpPr>
          <p:cNvPr id="101" name="s101"/>
          <p:cNvSpPr/>
          <p:nvPr/>
        </p:nvSpPr>
        <p:spPr>
          <a:xfrm>
            <a:off x="543154" y="2011680"/>
            <a:ext cx="3840480" cy="2514600"/>
          </a:xfrm>
          <a:prstGeom prst="roundRect">
            <a:avLst>
              <a:gd name="adj" fmla="val 8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02" name="s102"/>
          <p:cNvSpPr/>
          <p:nvPr/>
        </p:nvSpPr>
        <p:spPr>
          <a:xfrm>
            <a:off x="817474" y="2267712"/>
            <a:ext cx="603504" cy="603504"/>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962315" y="2412553"/>
            <a:ext cx="313822" cy="313822"/>
          </a:xfrm>
          <a:prstGeom prst="rect">
            <a:avLst/>
          </a:prstGeom>
        </p:spPr>
      </p:pic>
      <p:sp>
        <p:nvSpPr>
          <p:cNvPr id="104" name="s104"/>
          <p:cNvSpPr txBox="1"/>
          <p:nvPr/>
        </p:nvSpPr>
        <p:spPr>
          <a:xfrm>
            <a:off x="1594714" y="2286000"/>
            <a:ext cx="2651760"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BBF24"/>
                </a:solidFill>
                <a:latin typeface="Segoe UI"/>
                <a:ea typeface="Segoe UI"/>
                <a:cs typeface="Segoe UI"/>
              </a:rPr>
              <a:t>CUSTOMER</a:t>
            </a:r>
            <a:endParaRPr lang="en-US" sz="1500" dirty="0"/>
          </a:p>
        </p:txBody>
      </p:sp>
      <p:sp>
        <p:nvSpPr>
          <p:cNvPr id="105" name="s105"/>
          <p:cNvSpPr/>
          <p:nvPr/>
        </p:nvSpPr>
        <p:spPr>
          <a:xfrm>
            <a:off x="817474" y="3108960"/>
            <a:ext cx="1600200" cy="411480"/>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Goals</a:t>
            </a:r>
            <a:endParaRPr lang="en-US" sz="1100" dirty="0"/>
          </a:p>
        </p:txBody>
      </p:sp>
      <p:sp>
        <p:nvSpPr>
          <p:cNvPr id="106" name="s106"/>
          <p:cNvSpPr/>
          <p:nvPr/>
        </p:nvSpPr>
        <p:spPr>
          <a:xfrm>
            <a:off x="2554834" y="3108960"/>
            <a:ext cx="1600200" cy="411480"/>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Priorities</a:t>
            </a:r>
            <a:endParaRPr lang="en-US" sz="1100" dirty="0"/>
          </a:p>
        </p:txBody>
      </p:sp>
      <p:sp>
        <p:nvSpPr>
          <p:cNvPr id="107" name="s107"/>
          <p:cNvSpPr/>
          <p:nvPr/>
        </p:nvSpPr>
        <p:spPr>
          <a:xfrm>
            <a:off x="817474" y="3675888"/>
            <a:ext cx="1600200" cy="411480"/>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Feedback</a:t>
            </a:r>
            <a:endParaRPr lang="en-US" sz="1100" dirty="0"/>
          </a:p>
        </p:txBody>
      </p:sp>
      <p:sp>
        <p:nvSpPr>
          <p:cNvPr id="108" name="s108"/>
          <p:cNvSpPr/>
          <p:nvPr/>
        </p:nvSpPr>
        <p:spPr>
          <a:xfrm>
            <a:off x="2554834" y="3675888"/>
            <a:ext cx="1600200" cy="411480"/>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Real constraints</a:t>
            </a:r>
            <a:endParaRPr lang="en-US" sz="1100" dirty="0"/>
          </a:p>
        </p:txBody>
      </p:sp>
      <p:sp>
        <p:nvSpPr>
          <p:cNvPr id="109" name="s109"/>
          <p:cNvSpPr/>
          <p:nvPr/>
        </p:nvSpPr>
        <p:spPr>
          <a:xfrm>
            <a:off x="7790688" y="2011680"/>
            <a:ext cx="3840480" cy="2514600"/>
          </a:xfrm>
          <a:prstGeom prst="roundRect">
            <a:avLst>
              <a:gd name="adj" fmla="val 8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10" name="s110"/>
          <p:cNvSpPr/>
          <p:nvPr/>
        </p:nvSpPr>
        <p:spPr>
          <a:xfrm>
            <a:off x="8065008" y="2267712"/>
            <a:ext cx="603504" cy="603504"/>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11" name="img111"/>
          <p:cNvPicPr>
            <a:picLocks noChangeAspect="1"/>
          </p:cNvPicPr>
          <p:nvPr/>
        </p:nvPicPr>
        <p:blipFill>
          <a:blip r:embed="rId5"/>
          <a:stretch>
            <a:fillRect/>
          </a:stretch>
        </p:blipFill>
        <p:spPr>
          <a:xfrm>
            <a:off x="8209849" y="2412553"/>
            <a:ext cx="313822" cy="313822"/>
          </a:xfrm>
          <a:prstGeom prst="rect">
            <a:avLst/>
          </a:prstGeom>
        </p:spPr>
      </p:pic>
      <p:sp>
        <p:nvSpPr>
          <p:cNvPr id="112" name="s112"/>
          <p:cNvSpPr txBox="1"/>
          <p:nvPr/>
        </p:nvSpPr>
        <p:spPr>
          <a:xfrm>
            <a:off x="8842248" y="2286000"/>
            <a:ext cx="2651760"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13D0F7"/>
                </a:solidFill>
                <a:latin typeface="Segoe UI"/>
                <a:ea typeface="Segoe UI"/>
                <a:cs typeface="Segoe UI"/>
              </a:rPr>
              <a:t>TEAM</a:t>
            </a:r>
            <a:endParaRPr lang="en-US" sz="1500" dirty="0"/>
          </a:p>
        </p:txBody>
      </p:sp>
      <p:sp>
        <p:nvSpPr>
          <p:cNvPr id="113" name="s113"/>
          <p:cNvSpPr/>
          <p:nvPr/>
        </p:nvSpPr>
        <p:spPr>
          <a:xfrm>
            <a:off x="8065008" y="3108960"/>
            <a:ext cx="1600200" cy="411480"/>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Options</a:t>
            </a:r>
            <a:endParaRPr lang="en-US" sz="1100" dirty="0"/>
          </a:p>
        </p:txBody>
      </p:sp>
      <p:sp>
        <p:nvSpPr>
          <p:cNvPr id="114" name="s114"/>
          <p:cNvSpPr/>
          <p:nvPr/>
        </p:nvSpPr>
        <p:spPr>
          <a:xfrm>
            <a:off x="9802368" y="3108960"/>
            <a:ext cx="1600200" cy="411480"/>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Trade-offs</a:t>
            </a:r>
            <a:endParaRPr lang="en-US" sz="1100" dirty="0"/>
          </a:p>
        </p:txBody>
      </p:sp>
      <p:sp>
        <p:nvSpPr>
          <p:cNvPr id="115" name="s115"/>
          <p:cNvSpPr/>
          <p:nvPr/>
        </p:nvSpPr>
        <p:spPr>
          <a:xfrm>
            <a:off x="8065008" y="3675888"/>
            <a:ext cx="1600200" cy="411480"/>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Demos</a:t>
            </a:r>
            <a:endParaRPr lang="en-US" sz="1100" dirty="0"/>
          </a:p>
        </p:txBody>
      </p:sp>
      <p:sp>
        <p:nvSpPr>
          <p:cNvPr id="116" name="s116"/>
          <p:cNvSpPr/>
          <p:nvPr/>
        </p:nvSpPr>
        <p:spPr>
          <a:xfrm>
            <a:off x="9802368" y="3675888"/>
            <a:ext cx="1600200" cy="411480"/>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Honest estimates</a:t>
            </a:r>
            <a:endParaRPr lang="en-US" sz="1100" dirty="0"/>
          </a:p>
        </p:txBody>
      </p:sp>
      <p:cxnSp>
        <p:nvCxnSpPr>
          <p:cNvPr id="117" name="ln117"/>
          <p:cNvCxnSpPr/>
          <p:nvPr/>
        </p:nvCxnSpPr>
        <p:spPr>
          <a:xfrm>
            <a:off x="4566514" y="2926080"/>
            <a:ext cx="3041294" cy="0"/>
          </a:xfrm>
          <a:prstGeom prst="line">
            <a:avLst/>
          </a:prstGeom>
          <a:ln w="31750">
            <a:solidFill>
              <a:srgbClr val="FFFFFF"/>
            </a:solidFill>
            <a:headEnd type="triangle" w="med" len="med"/>
            <a:tailEnd type="triangle" w="med" len="med"/>
          </a:ln>
        </p:spPr>
      </p:cxnSp>
      <p:sp>
        <p:nvSpPr>
          <p:cNvPr id="118" name="s118"/>
          <p:cNvSpPr/>
          <p:nvPr/>
        </p:nvSpPr>
        <p:spPr>
          <a:xfrm>
            <a:off x="5492801" y="2514600"/>
            <a:ext cx="1188720" cy="329184"/>
          </a:xfrm>
          <a:prstGeom prst="roundRect">
            <a:avLst>
              <a:gd name="adj" fmla="val 50000"/>
            </a:avLst>
          </a:prstGeom>
          <a:solidFill>
            <a:srgbClr val="FFFFFF">
              <a:alpha val="18000"/>
            </a:srgbClr>
          </a:solidFill>
          <a:ln w="12700">
            <a:solidFill>
              <a:srgbClr val="FFFFFF"/>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FFFFFF"/>
                </a:solidFill>
                <a:latin typeface="Segoe UI"/>
                <a:ea typeface="Segoe UI"/>
                <a:cs typeface="Segoe UI"/>
              </a:rPr>
              <a:t>talk often</a:t>
            </a:r>
            <a:endParaRPr lang="en-US" sz="1100" dirty="0"/>
          </a:p>
        </p:txBody>
      </p:sp>
      <p:cxnSp>
        <p:nvCxnSpPr>
          <p:cNvPr id="119" name="ln119"/>
          <p:cNvCxnSpPr/>
          <p:nvPr/>
        </p:nvCxnSpPr>
        <p:spPr>
          <a:xfrm>
            <a:off x="4566514" y="3703320"/>
            <a:ext cx="3041294" cy="0"/>
          </a:xfrm>
          <a:prstGeom prst="line">
            <a:avLst/>
          </a:prstGeom>
          <a:ln w="31750">
            <a:solidFill>
              <a:srgbClr val="FFFFFF">
                <a:alpha val="50000"/>
              </a:srgbClr>
            </a:solidFill>
            <a:headEnd type="triangle" w="med" len="med"/>
            <a:tailEnd type="triangle" w="med" len="med"/>
          </a:ln>
        </p:spPr>
      </p:cxnSp>
      <p:sp>
        <p:nvSpPr>
          <p:cNvPr id="120" name="s120"/>
          <p:cNvSpPr/>
          <p:nvPr/>
        </p:nvSpPr>
        <p:spPr>
          <a:xfrm>
            <a:off x="5492801" y="3840480"/>
            <a:ext cx="1188720" cy="329184"/>
          </a:xfrm>
          <a:prstGeom prst="roundRect">
            <a:avLst>
              <a:gd name="adj" fmla="val 50000"/>
            </a:avLst>
          </a:prstGeom>
          <a:solidFill>
            <a:srgbClr val="94A3B8">
              <a:alpha val="18000"/>
            </a:srgbClr>
          </a:solidFill>
          <a:ln w="12700">
            <a:solidFill>
              <a:srgbClr val="94A3B8"/>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94A3B8"/>
                </a:solidFill>
                <a:latin typeface="Segoe UI"/>
                <a:ea typeface="Segoe UI"/>
                <a:cs typeface="Segoe UI"/>
              </a:rPr>
              <a:t>every Sprint</a:t>
            </a:r>
            <a:endParaRPr lang="en-US" sz="1000" dirty="0"/>
          </a:p>
        </p:txBody>
      </p:sp>
      <p:sp>
        <p:nvSpPr>
          <p:cNvPr id="121" name="s121"/>
          <p:cNvSpPr/>
          <p:nvPr/>
        </p:nvSpPr>
        <p:spPr>
          <a:xfrm>
            <a:off x="2920594" y="4800600"/>
            <a:ext cx="6333134" cy="822960"/>
          </a:xfrm>
          <a:prstGeom prst="roundRect">
            <a:avLst>
              <a:gd name="adj" fmla="val 12000"/>
            </a:avLst>
          </a:prstGeom>
          <a:solidFill>
            <a:srgbClr val="111B2E"/>
          </a:solidFill>
          <a:ln w="12700">
            <a:solidFill>
              <a:srgbClr val="94A3B8"/>
            </a:solidFill>
            <a:prstDash val="dash"/>
          </a:ln>
        </p:spPr>
        <p:txBody>
          <a:bodyPr wrap="square" lIns="731520" tIns="45720" rIns="274320" bIns="45720" rtlCol="0" anchor="ctr">
            <a:noAutofit/>
          </a:bodyPr>
          <a:lstStyle/>
          <a:p>
            <a:pPr marL="0" indent="0" algn="ctr">
              <a:spcBef>
                <a:spcPts val="0"/>
              </a:spcBef>
              <a:spcAft>
                <a:spcPts val="0"/>
              </a:spcAft>
              <a:buNone/>
            </a:pPr>
            <a:r>
              <a:rPr lang="en-US" sz="1300" b="1" dirty="0">
                <a:solidFill>
                  <a:srgbClr val="94A3B8"/>
                </a:solidFill>
                <a:latin typeface="Segoe UI"/>
                <a:ea typeface="Segoe UI"/>
                <a:cs typeface="Segoe UI"/>
              </a:rPr>
              <a:t>Contract?  </a:t>
            </a:r>
            <a:r>
              <a:rPr lang="en-US" sz="1300" b="0" dirty="0">
                <a:solidFill>
                  <a:srgbClr val="CBD5E1"/>
                </a:solidFill>
                <a:latin typeface="Segoe UI"/>
                <a:ea typeface="Segoe UI"/>
                <a:cs typeface="Segoe UI"/>
              </a:rPr>
              <a:t>Useful for scope and money, but it is not the relationship.</a:t>
            </a:r>
            <a:endParaRPr lang="en-US" sz="1300" dirty="0"/>
          </a:p>
        </p:txBody>
      </p:sp>
      <p:pic>
        <p:nvPicPr>
          <p:cNvPr id="122" name="img122"/>
          <p:cNvPicPr>
            <a:picLocks noChangeAspect="1"/>
          </p:cNvPicPr>
          <p:nvPr/>
        </p:nvPicPr>
        <p:blipFill>
          <a:blip r:embed="rId6"/>
          <a:stretch>
            <a:fillRect/>
          </a:stretch>
        </p:blipFill>
        <p:spPr>
          <a:xfrm>
            <a:off x="3149194" y="4983480"/>
            <a:ext cx="457200" cy="457200"/>
          </a:xfrm>
          <a:prstGeom prst="rect">
            <a:avLst/>
          </a:prstGeom>
        </p:spPr>
      </p:pic>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20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20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nodeType="withEffect">
                                  <p:stCondLst>
                                    <p:cond delay="20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20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20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20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20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20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53" presetClass="entr" presetSubtype="16" fill="hold" nodeType="clickEffect">
                                  <p:stCondLst>
                                    <p:cond delay="0"/>
                                  </p:stCondLst>
                                  <p:childTnLst>
                                    <p:set>
                                      <p:cBhvr>
                                        <p:cTn id="72" dur="1" fill="hold">
                                          <p:stCondLst>
                                            <p:cond delay="0"/>
                                          </p:stCondLst>
                                        </p:cTn>
                                        <p:tgtEl>
                                          <p:spTgt spid="117"/>
                                        </p:tgtEl>
                                        <p:attrNameLst>
                                          <p:attrName>style.visibility</p:attrName>
                                        </p:attrNameLst>
                                      </p:cBhvr>
                                      <p:to>
                                        <p:strVal val="visible"/>
                                      </p:to>
                                    </p:set>
                                    <p:anim calcmode="lin" valueType="num">
                                      <p:cBhvr additive="base">
                                        <p:cTn id="73" dur="500" decel="100000" fill="hold"/>
                                        <p:tgtEl>
                                          <p:spTgt spid="117"/>
                                        </p:tgtEl>
                                        <p:attrNameLst>
                                          <p:attrName>ppt_w</p:attrName>
                                        </p:attrNameLst>
                                      </p:cBhvr>
                                      <p:tavLst>
                                        <p:tav tm="0">
                                          <p:val>
                                            <p:strVal val="#ppt_w*0.55"/>
                                          </p:val>
                                        </p:tav>
                                        <p:tav tm="100000">
                                          <p:val>
                                            <p:strVal val="#ppt_w"/>
                                          </p:val>
                                        </p:tav>
                                      </p:tavLst>
                                    </p:anim>
                                    <p:anim calcmode="lin" valueType="num">
                                      <p:cBhvr additive="base">
                                        <p:cTn id="74" dur="500" decel="100000" fill="hold"/>
                                        <p:tgtEl>
                                          <p:spTgt spid="117"/>
                                        </p:tgtEl>
                                        <p:attrNameLst>
                                          <p:attrName>ppt_h</p:attrName>
                                        </p:attrNameLst>
                                      </p:cBhvr>
                                      <p:tavLst>
                                        <p:tav tm="0">
                                          <p:val>
                                            <p:strVal val="#ppt_h*0.55"/>
                                          </p:val>
                                        </p:tav>
                                        <p:tav tm="100000">
                                          <p:val>
                                            <p:strVal val="#ppt_h"/>
                                          </p:val>
                                        </p:tav>
                                      </p:tavLst>
                                    </p:anim>
                                    <p:animEffect transition="in" filter="fade">
                                      <p:cBhvr>
                                        <p:cTn id="75" dur="500"/>
                                        <p:tgtEl>
                                          <p:spTgt spid="117"/>
                                        </p:tgtEl>
                                      </p:cBhvr>
                                    </p:animEffect>
                                  </p:childTnLst>
                                </p:cTn>
                              </p:par>
                              <p:par>
                                <p:cTn id="76" presetID="53" presetClass="entr" presetSubtype="16" fill="hold" grpId="0" nodeType="withEffect">
                                  <p:stCondLst>
                                    <p:cond delay="150"/>
                                  </p:stCondLst>
                                  <p:childTnLst>
                                    <p:set>
                                      <p:cBhvr>
                                        <p:cTn id="77" dur="1" fill="hold">
                                          <p:stCondLst>
                                            <p:cond delay="0"/>
                                          </p:stCondLst>
                                        </p:cTn>
                                        <p:tgtEl>
                                          <p:spTgt spid="118"/>
                                        </p:tgtEl>
                                        <p:attrNameLst>
                                          <p:attrName>style.visibility</p:attrName>
                                        </p:attrNameLst>
                                      </p:cBhvr>
                                      <p:to>
                                        <p:strVal val="visible"/>
                                      </p:to>
                                    </p:set>
                                    <p:anim calcmode="lin" valueType="num">
                                      <p:cBhvr additive="base">
                                        <p:cTn id="78" dur="500" decel="100000" fill="hold"/>
                                        <p:tgtEl>
                                          <p:spTgt spid="118"/>
                                        </p:tgtEl>
                                        <p:attrNameLst>
                                          <p:attrName>ppt_w</p:attrName>
                                        </p:attrNameLst>
                                      </p:cBhvr>
                                      <p:tavLst>
                                        <p:tav tm="0">
                                          <p:val>
                                            <p:strVal val="#ppt_w*0.3"/>
                                          </p:val>
                                        </p:tav>
                                        <p:tav tm="100000">
                                          <p:val>
                                            <p:strVal val="#ppt_w*1.08"/>
                                          </p:val>
                                        </p:tav>
                                      </p:tavLst>
                                    </p:anim>
                                    <p:anim calcmode="lin" valueType="num">
                                      <p:cBhvr additive="base">
                                        <p:cTn id="79" dur="500" decel="100000" fill="hold"/>
                                        <p:tgtEl>
                                          <p:spTgt spid="118"/>
                                        </p:tgtEl>
                                        <p:attrNameLst>
                                          <p:attrName>ppt_h</p:attrName>
                                        </p:attrNameLst>
                                      </p:cBhvr>
                                      <p:tavLst>
                                        <p:tav tm="0">
                                          <p:val>
                                            <p:strVal val="#ppt_h*0.3"/>
                                          </p:val>
                                        </p:tav>
                                        <p:tav tm="100000">
                                          <p:val>
                                            <p:strVal val="#ppt_h*1.08"/>
                                          </p:val>
                                        </p:tav>
                                      </p:tavLst>
                                    </p:anim>
                                    <p:animEffect transition="in" filter="fade">
                                      <p:cBhvr>
                                        <p:cTn id="80" dur="250"/>
                                        <p:tgtEl>
                                          <p:spTgt spid="118"/>
                                        </p:tgtEl>
                                      </p:cBhvr>
                                    </p:animEffect>
                                    <p:anim calcmode="lin" valueType="num">
                                      <p:cBhvr additive="base">
                                        <p:cTn id="81" dur="160" fill="hold">
                                          <p:stCondLst>
                                            <p:cond delay="500"/>
                                          </p:stCondLst>
                                        </p:cTn>
                                        <p:tgtEl>
                                          <p:spTgt spid="118"/>
                                        </p:tgtEl>
                                        <p:attrNameLst>
                                          <p:attrName>ppt_w</p:attrName>
                                        </p:attrNameLst>
                                      </p:cBhvr>
                                      <p:tavLst>
                                        <p:tav tm="0">
                                          <p:val>
                                            <p:strVal val="#ppt_w*1.08"/>
                                          </p:val>
                                        </p:tav>
                                        <p:tav tm="100000">
                                          <p:val>
                                            <p:strVal val="#ppt_w"/>
                                          </p:val>
                                        </p:tav>
                                      </p:tavLst>
                                    </p:anim>
                                    <p:anim calcmode="lin" valueType="num">
                                      <p:cBhvr additive="base">
                                        <p:cTn id="82" dur="160" fill="hold">
                                          <p:stCondLst>
                                            <p:cond delay="500"/>
                                          </p:stCondLst>
                                        </p:cTn>
                                        <p:tgtEl>
                                          <p:spTgt spid="118"/>
                                        </p:tgtEl>
                                        <p:attrNameLst>
                                          <p:attrName>ppt_h</p:attrName>
                                        </p:attrNameLst>
                                      </p:cBhvr>
                                      <p:tavLst>
                                        <p:tav tm="0">
                                          <p:val>
                                            <p:strVal val="#ppt_h*1.08"/>
                                          </p:val>
                                        </p:tav>
                                        <p:tav tm="100000">
                                          <p:val>
                                            <p:strVal val="#ppt_h"/>
                                          </p:val>
                                        </p:tav>
                                      </p:tavLst>
                                    </p:anim>
                                  </p:childTnLst>
                                </p:cTn>
                              </p:par>
                              <p:par>
                                <p:cTn id="83" presetID="53" presetClass="entr" presetSubtype="16" fill="hold" nodeType="withEffect">
                                  <p:stCondLst>
                                    <p:cond delay="300"/>
                                  </p:stCondLst>
                                  <p:childTnLst>
                                    <p:set>
                                      <p:cBhvr>
                                        <p:cTn id="84" dur="1" fill="hold">
                                          <p:stCondLst>
                                            <p:cond delay="0"/>
                                          </p:stCondLst>
                                        </p:cTn>
                                        <p:tgtEl>
                                          <p:spTgt spid="119"/>
                                        </p:tgtEl>
                                        <p:attrNameLst>
                                          <p:attrName>style.visibility</p:attrName>
                                        </p:attrNameLst>
                                      </p:cBhvr>
                                      <p:to>
                                        <p:strVal val="visible"/>
                                      </p:to>
                                    </p:set>
                                    <p:anim calcmode="lin" valueType="num">
                                      <p:cBhvr additive="base">
                                        <p:cTn id="85" dur="500" decel="100000" fill="hold"/>
                                        <p:tgtEl>
                                          <p:spTgt spid="119"/>
                                        </p:tgtEl>
                                        <p:attrNameLst>
                                          <p:attrName>ppt_w</p:attrName>
                                        </p:attrNameLst>
                                      </p:cBhvr>
                                      <p:tavLst>
                                        <p:tav tm="0">
                                          <p:val>
                                            <p:strVal val="#ppt_w*0.55"/>
                                          </p:val>
                                        </p:tav>
                                        <p:tav tm="100000">
                                          <p:val>
                                            <p:strVal val="#ppt_w"/>
                                          </p:val>
                                        </p:tav>
                                      </p:tavLst>
                                    </p:anim>
                                    <p:anim calcmode="lin" valueType="num">
                                      <p:cBhvr additive="base">
                                        <p:cTn id="86" dur="500" decel="100000" fill="hold"/>
                                        <p:tgtEl>
                                          <p:spTgt spid="119"/>
                                        </p:tgtEl>
                                        <p:attrNameLst>
                                          <p:attrName>ppt_h</p:attrName>
                                        </p:attrNameLst>
                                      </p:cBhvr>
                                      <p:tavLst>
                                        <p:tav tm="0">
                                          <p:val>
                                            <p:strVal val="#ppt_h*0.55"/>
                                          </p:val>
                                        </p:tav>
                                        <p:tav tm="100000">
                                          <p:val>
                                            <p:strVal val="#ppt_h"/>
                                          </p:val>
                                        </p:tav>
                                      </p:tavLst>
                                    </p:anim>
                                    <p:animEffect transition="in" filter="fade">
                                      <p:cBhvr>
                                        <p:cTn id="87" dur="500"/>
                                        <p:tgtEl>
                                          <p:spTgt spid="119"/>
                                        </p:tgtEl>
                                      </p:cBhvr>
                                    </p:animEffect>
                                  </p:childTnLst>
                                </p:cTn>
                              </p:par>
                              <p:par>
                                <p:cTn id="88" presetID="53" presetClass="entr" presetSubtype="16" fill="hold" grpId="0" nodeType="withEffect">
                                  <p:stCondLst>
                                    <p:cond delay="450"/>
                                  </p:stCondLst>
                                  <p:childTnLst>
                                    <p:set>
                                      <p:cBhvr>
                                        <p:cTn id="89" dur="1" fill="hold">
                                          <p:stCondLst>
                                            <p:cond delay="0"/>
                                          </p:stCondLst>
                                        </p:cTn>
                                        <p:tgtEl>
                                          <p:spTgt spid="120"/>
                                        </p:tgtEl>
                                        <p:attrNameLst>
                                          <p:attrName>style.visibility</p:attrName>
                                        </p:attrNameLst>
                                      </p:cBhvr>
                                      <p:to>
                                        <p:strVal val="visible"/>
                                      </p:to>
                                    </p:set>
                                    <p:anim calcmode="lin" valueType="num">
                                      <p:cBhvr additive="base">
                                        <p:cTn id="90" dur="500" decel="100000" fill="hold"/>
                                        <p:tgtEl>
                                          <p:spTgt spid="120"/>
                                        </p:tgtEl>
                                        <p:attrNameLst>
                                          <p:attrName>ppt_w</p:attrName>
                                        </p:attrNameLst>
                                      </p:cBhvr>
                                      <p:tavLst>
                                        <p:tav tm="0">
                                          <p:val>
                                            <p:strVal val="#ppt_w*0.3"/>
                                          </p:val>
                                        </p:tav>
                                        <p:tav tm="100000">
                                          <p:val>
                                            <p:strVal val="#ppt_w*1.08"/>
                                          </p:val>
                                        </p:tav>
                                      </p:tavLst>
                                    </p:anim>
                                    <p:anim calcmode="lin" valueType="num">
                                      <p:cBhvr additive="base">
                                        <p:cTn id="91" dur="500" decel="100000" fill="hold"/>
                                        <p:tgtEl>
                                          <p:spTgt spid="120"/>
                                        </p:tgtEl>
                                        <p:attrNameLst>
                                          <p:attrName>ppt_h</p:attrName>
                                        </p:attrNameLst>
                                      </p:cBhvr>
                                      <p:tavLst>
                                        <p:tav tm="0">
                                          <p:val>
                                            <p:strVal val="#ppt_h*0.3"/>
                                          </p:val>
                                        </p:tav>
                                        <p:tav tm="100000">
                                          <p:val>
                                            <p:strVal val="#ppt_h*1.08"/>
                                          </p:val>
                                        </p:tav>
                                      </p:tavLst>
                                    </p:anim>
                                    <p:animEffect transition="in" filter="fade">
                                      <p:cBhvr>
                                        <p:cTn id="92" dur="250"/>
                                        <p:tgtEl>
                                          <p:spTgt spid="120"/>
                                        </p:tgtEl>
                                      </p:cBhvr>
                                    </p:animEffect>
                                    <p:anim calcmode="lin" valueType="num">
                                      <p:cBhvr additive="base">
                                        <p:cTn id="93" dur="160" fill="hold">
                                          <p:stCondLst>
                                            <p:cond delay="500"/>
                                          </p:stCondLst>
                                        </p:cTn>
                                        <p:tgtEl>
                                          <p:spTgt spid="120"/>
                                        </p:tgtEl>
                                        <p:attrNameLst>
                                          <p:attrName>ppt_w</p:attrName>
                                        </p:attrNameLst>
                                      </p:cBhvr>
                                      <p:tavLst>
                                        <p:tav tm="0">
                                          <p:val>
                                            <p:strVal val="#ppt_w*1.08"/>
                                          </p:val>
                                        </p:tav>
                                        <p:tav tm="100000">
                                          <p:val>
                                            <p:strVal val="#ppt_w"/>
                                          </p:val>
                                        </p:tav>
                                      </p:tavLst>
                                    </p:anim>
                                    <p:anim calcmode="lin" valueType="num">
                                      <p:cBhvr additive="base">
                                        <p:cTn id="94" dur="160" fill="hold">
                                          <p:stCondLst>
                                            <p:cond delay="500"/>
                                          </p:stCondLst>
                                        </p:cTn>
                                        <p:tgtEl>
                                          <p:spTgt spid="120"/>
                                        </p:tgtEl>
                                        <p:attrNameLst>
                                          <p:attrName>ppt_h</p:attrName>
                                        </p:attrNameLst>
                                      </p:cBhvr>
                                      <p:tavLst>
                                        <p:tav tm="0">
                                          <p:val>
                                            <p:strVal val="#ppt_h*1.08"/>
                                          </p:val>
                                        </p:tav>
                                        <p:tav tm="100000">
                                          <p:val>
                                            <p:strVal val="#ppt_h"/>
                                          </p:val>
                                        </p:tav>
                                      </p:tavLst>
                                    </p:anim>
                                  </p:childTnLst>
                                </p:cTn>
                              </p:par>
                            </p:childTnLst>
                          </p:cTn>
                        </p:par>
                      </p:childTnLst>
                    </p:cTn>
                  </p:par>
                  <p:par>
                    <p:cTn id="95" fill="hold">
                      <p:stCondLst>
                        <p:cond delay="indefinite"/>
                      </p:stCondLst>
                      <p:childTnLst>
                        <p:par>
                          <p:cTn id="96" fill="hold">
                            <p:stCondLst>
                              <p:cond delay="0"/>
                            </p:stCondLst>
                            <p:childTnLst>
                              <p:par>
                                <p:cTn id="97" presetID="42" presetClass="entr" presetSubtype="0" fill="hold" grpId="0" nodeType="clickEffect">
                                  <p:stCondLst>
                                    <p:cond delay="0"/>
                                  </p:stCondLst>
                                  <p:childTnLst>
                                    <p:set>
                                      <p:cBhvr>
                                        <p:cTn id="98" dur="1" fill="hold">
                                          <p:stCondLst>
                                            <p:cond delay="0"/>
                                          </p:stCondLst>
                                        </p:cTn>
                                        <p:tgtEl>
                                          <p:spTgt spid="121"/>
                                        </p:tgtEl>
                                        <p:attrNameLst>
                                          <p:attrName>style.visibility</p:attrName>
                                        </p:attrNameLst>
                                      </p:cBhvr>
                                      <p:to>
                                        <p:strVal val="visible"/>
                                      </p:to>
                                    </p:set>
                                    <p:animEffect transition="in" filter="fade">
                                      <p:cBhvr>
                                        <p:cTn id="99" dur="500"/>
                                        <p:tgtEl>
                                          <p:spTgt spid="121"/>
                                        </p:tgtEl>
                                      </p:cBhvr>
                                    </p:animEffect>
                                    <p:anim calcmode="lin" valueType="num">
                                      <p:cBhvr additive="base">
                                        <p:cTn id="100" dur="500" decel="100000" fill="hold"/>
                                        <p:tgtEl>
                                          <p:spTgt spid="121"/>
                                        </p:tgtEl>
                                        <p:attrNameLst>
                                          <p:attrName>ppt_y</p:attrName>
                                        </p:attrNameLst>
                                      </p:cBhvr>
                                      <p:tavLst>
                                        <p:tav tm="0">
                                          <p:val>
                                            <p:strVal val="#ppt_y+0.06"/>
                                          </p:val>
                                        </p:tav>
                                        <p:tav tm="100000">
                                          <p:val>
                                            <p:strVal val="#ppt_y"/>
                                          </p:val>
                                        </p:tav>
                                      </p:tavLst>
                                    </p:anim>
                                  </p:childTnLst>
                                </p:cTn>
                              </p:par>
                              <p:par>
                                <p:cTn id="101" presetID="42" presetClass="entr" presetSubtype="0" fill="hold" nodeType="withEffect">
                                  <p:stCondLst>
                                    <p:cond delay="0"/>
                                  </p:stCondLst>
                                  <p:childTnLst>
                                    <p:set>
                                      <p:cBhvr>
                                        <p:cTn id="102" dur="1" fill="hold">
                                          <p:stCondLst>
                                            <p:cond delay="0"/>
                                          </p:stCondLst>
                                        </p:cTn>
                                        <p:tgtEl>
                                          <p:spTgt spid="122"/>
                                        </p:tgtEl>
                                        <p:attrNameLst>
                                          <p:attrName>style.visibility</p:attrName>
                                        </p:attrNameLst>
                                      </p:cBhvr>
                                      <p:to>
                                        <p:strVal val="visible"/>
                                      </p:to>
                                    </p:set>
                                    <p:animEffect transition="in" filter="fade">
                                      <p:cBhvr>
                                        <p:cTn id="103" dur="500"/>
                                        <p:tgtEl>
                                          <p:spTgt spid="122"/>
                                        </p:tgtEl>
                                      </p:cBhvr>
                                    </p:animEffect>
                                    <p:anim calcmode="lin" valueType="num">
                                      <p:cBhvr additive="base">
                                        <p:cTn id="104" dur="500" decel="100000" fill="hold"/>
                                        <p:tgtEl>
                                          <p:spTgt spid="122"/>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8" grpId="0" animBg="1"/>
      <p:bldP spid="109" grpId="0" animBg="1"/>
      <p:bldP spid="110" grpId="0" animBg="1"/>
      <p:bldP spid="112" grpId="0" animBg="1"/>
      <p:bldP spid="113" grpId="0" animBg="1"/>
      <p:bldP spid="114" grpId="0" animBg="1"/>
      <p:bldP spid="115" grpId="0" animBg="1"/>
      <p:bldP spid="116" grpId="0" animBg="1"/>
      <p:bldP spid="118" grpId="0" animBg="1"/>
      <p:bldP spid="120" grpId="0" animBg="1"/>
      <p:bldP spid="121"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VALUE 04</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Responding to Change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over following a plan</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MANIFESTO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209</a:t>
            </a:r>
            <a:endParaRPr lang="en-US" sz="850" dirty="0"/>
          </a:p>
        </p:txBody>
      </p:sp>
      <p:sp>
        <p:nvSpPr>
          <p:cNvPr id="101" name="s101"/>
          <p:cNvSpPr/>
          <p:nvPr/>
        </p:nvSpPr>
        <p:spPr>
          <a:xfrm>
            <a:off x="543154" y="1965960"/>
            <a:ext cx="11088014" cy="603504"/>
          </a:xfrm>
          <a:prstGeom prst="roundRect">
            <a:avLst>
              <a:gd name="adj" fmla="val 12000"/>
            </a:avLst>
          </a:prstGeom>
          <a:solidFill>
            <a:srgbClr val="111B2E"/>
          </a:solidFill>
          <a:ln w="12700">
            <a:solidFill>
              <a:srgbClr val="A78B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400" b="0" dirty="0">
                <a:solidFill>
                  <a:srgbClr val="E2E8F0"/>
                </a:solidFill>
                <a:latin typeface="Segoe UI"/>
                <a:ea typeface="Segoe UI"/>
                <a:cs typeface="Segoe UI"/>
              </a:rPr>
              <a:t>Plans are necessary. </a:t>
            </a:r>
            <a:r>
              <a:rPr lang="en-US" sz="1400" b="1" dirty="0">
                <a:solidFill>
                  <a:srgbClr val="FFFFFF"/>
                </a:solidFill>
                <a:latin typeface="Segoe UI"/>
                <a:ea typeface="Segoe UI"/>
                <a:cs typeface="Segoe UI"/>
              </a:rPr>
              <a:t>Blind loyalty to an outdated plan is expensive.</a:t>
            </a:r>
            <a:r>
              <a:rPr lang="en-US" sz="1400" b="0" dirty="0">
                <a:solidFill>
                  <a:srgbClr val="E2E8F0"/>
                </a:solidFill>
                <a:latin typeface="Segoe UI"/>
                <a:ea typeface="Segoe UI"/>
                <a:cs typeface="Segoe UI"/>
              </a:rPr>
              <a:t> Change is information, not failure.</a:t>
            </a:r>
            <a:endParaRPr lang="en-US" sz="1400" dirty="0"/>
          </a:p>
        </p:txBody>
      </p:sp>
      <p:sp>
        <p:nvSpPr>
          <p:cNvPr id="102" name="s102"/>
          <p:cNvSpPr txBox="1"/>
          <p:nvPr/>
        </p:nvSpPr>
        <p:spPr>
          <a:xfrm>
            <a:off x="543154" y="2971800"/>
            <a:ext cx="27432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F87171"/>
                </a:solidFill>
                <a:latin typeface="Segoe UI"/>
                <a:ea typeface="Segoe UI"/>
                <a:cs typeface="Segoe UI"/>
              </a:rPr>
              <a:t>FIXED PLAN PATH</a:t>
            </a:r>
            <a:endParaRPr lang="en-US" sz="1100" dirty="0"/>
          </a:p>
        </p:txBody>
      </p:sp>
      <p:sp>
        <p:nvSpPr>
          <p:cNvPr id="103" name="s103"/>
          <p:cNvSpPr/>
          <p:nvPr/>
        </p:nvSpPr>
        <p:spPr>
          <a:xfrm>
            <a:off x="543154" y="3319272"/>
            <a:ext cx="1463040" cy="420624"/>
          </a:xfrm>
          <a:prstGeom prst="roundRect">
            <a:avLst>
              <a:gd name="adj" fmla="val 30000"/>
            </a:avLst>
          </a:prstGeom>
          <a:solidFill>
            <a:srgbClr val="94A3B8">
              <a:alpha val="14000"/>
            </a:srgbClr>
          </a:solidFill>
          <a:ln w="12700">
            <a:solidFill>
              <a:srgbClr val="94A3B8"/>
            </a:solidFill>
            <a:prstDash val="solid"/>
          </a:ln>
        </p:spPr>
        <p:txBody>
          <a:bodyPr wrap="square" lIns="45720" tIns="0" rIns="4572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Plan</a:t>
            </a:r>
            <a:endParaRPr lang="en-US" sz="1200" dirty="0"/>
          </a:p>
        </p:txBody>
      </p:sp>
      <p:sp>
        <p:nvSpPr>
          <p:cNvPr id="104" name="s104"/>
          <p:cNvSpPr/>
          <p:nvPr/>
        </p:nvSpPr>
        <p:spPr>
          <a:xfrm>
            <a:off x="2353666" y="3319272"/>
            <a:ext cx="1463040" cy="420624"/>
          </a:xfrm>
          <a:prstGeom prst="roundRect">
            <a:avLst>
              <a:gd name="adj" fmla="val 30000"/>
            </a:avLst>
          </a:prstGeom>
          <a:solidFill>
            <a:srgbClr val="94A3B8">
              <a:alpha val="14000"/>
            </a:srgbClr>
          </a:solidFill>
          <a:ln w="12700">
            <a:solidFill>
              <a:srgbClr val="94A3B8"/>
            </a:solidFill>
            <a:prstDash val="solid"/>
          </a:ln>
        </p:spPr>
        <p:txBody>
          <a:bodyPr wrap="square" lIns="45720" tIns="0" rIns="4572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Build</a:t>
            </a:r>
            <a:endParaRPr lang="en-US" sz="1200" dirty="0"/>
          </a:p>
        </p:txBody>
      </p:sp>
      <p:cxnSp>
        <p:nvCxnSpPr>
          <p:cNvPr id="105" name="ln105"/>
          <p:cNvCxnSpPr/>
          <p:nvPr/>
        </p:nvCxnSpPr>
        <p:spPr>
          <a:xfrm>
            <a:off x="2042770" y="3529584"/>
            <a:ext cx="274320" cy="0"/>
          </a:xfrm>
          <a:prstGeom prst="line">
            <a:avLst/>
          </a:prstGeom>
          <a:ln w="19050">
            <a:solidFill>
              <a:srgbClr val="94A3B8"/>
            </a:solidFill>
            <a:tailEnd type="triangle" w="med" len="med"/>
          </a:ln>
        </p:spPr>
      </p:cxnSp>
      <p:sp>
        <p:nvSpPr>
          <p:cNvPr id="106" name="s106"/>
          <p:cNvSpPr/>
          <p:nvPr/>
        </p:nvSpPr>
        <p:spPr>
          <a:xfrm>
            <a:off x="4164178" y="3319272"/>
            <a:ext cx="1463040" cy="420624"/>
          </a:xfrm>
          <a:prstGeom prst="roundRect">
            <a:avLst>
              <a:gd name="adj" fmla="val 30000"/>
            </a:avLst>
          </a:prstGeom>
          <a:solidFill>
            <a:srgbClr val="F87171">
              <a:alpha val="14000"/>
            </a:srgbClr>
          </a:solidFill>
          <a:ln w="12700">
            <a:solidFill>
              <a:srgbClr val="F87171"/>
            </a:solidFill>
            <a:prstDash val="solid"/>
          </a:ln>
        </p:spPr>
        <p:txBody>
          <a:bodyPr wrap="square" lIns="45720" tIns="0" rIns="4572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Wrong product</a:t>
            </a:r>
            <a:endParaRPr lang="en-US" sz="1200" dirty="0"/>
          </a:p>
        </p:txBody>
      </p:sp>
      <p:cxnSp>
        <p:nvCxnSpPr>
          <p:cNvPr id="107" name="ln107"/>
          <p:cNvCxnSpPr/>
          <p:nvPr/>
        </p:nvCxnSpPr>
        <p:spPr>
          <a:xfrm>
            <a:off x="3853282" y="3529584"/>
            <a:ext cx="274320" cy="0"/>
          </a:xfrm>
          <a:prstGeom prst="line">
            <a:avLst/>
          </a:prstGeom>
          <a:ln w="19050">
            <a:solidFill>
              <a:srgbClr val="F87171"/>
            </a:solidFill>
            <a:tailEnd type="triangle" w="med" len="med"/>
          </a:ln>
        </p:spPr>
      </p:cxnSp>
      <p:sp>
        <p:nvSpPr>
          <p:cNvPr id="108" name="s108"/>
          <p:cNvSpPr txBox="1"/>
          <p:nvPr/>
        </p:nvSpPr>
        <p:spPr>
          <a:xfrm>
            <a:off x="543154" y="4343400"/>
            <a:ext cx="27432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34D399"/>
                </a:solidFill>
                <a:latin typeface="Segoe UI"/>
                <a:ea typeface="Segoe UI"/>
                <a:cs typeface="Segoe UI"/>
              </a:rPr>
              <a:t>ADAPTIVE PATH</a:t>
            </a:r>
            <a:endParaRPr lang="en-US" sz="1100" dirty="0"/>
          </a:p>
        </p:txBody>
      </p:sp>
      <p:sp>
        <p:nvSpPr>
          <p:cNvPr id="109" name="s109"/>
          <p:cNvSpPr/>
          <p:nvPr/>
        </p:nvSpPr>
        <p:spPr>
          <a:xfrm>
            <a:off x="543154" y="4690872"/>
            <a:ext cx="1463040" cy="420624"/>
          </a:xfrm>
          <a:prstGeom prst="roundRect">
            <a:avLst>
              <a:gd name="adj" fmla="val 30000"/>
            </a:avLst>
          </a:prstGeom>
          <a:solidFill>
            <a:srgbClr val="94A3B8">
              <a:alpha val="14000"/>
            </a:srgbClr>
          </a:solidFill>
          <a:ln w="12700">
            <a:solidFill>
              <a:srgbClr val="94A3B8"/>
            </a:solidFill>
            <a:prstDash val="solid"/>
          </a:ln>
        </p:spPr>
        <p:txBody>
          <a:bodyPr wrap="square" lIns="45720" tIns="0" rIns="4572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Plan</a:t>
            </a:r>
            <a:endParaRPr lang="en-US" sz="1200" dirty="0"/>
          </a:p>
        </p:txBody>
      </p:sp>
      <p:sp>
        <p:nvSpPr>
          <p:cNvPr id="110" name="s110"/>
          <p:cNvSpPr/>
          <p:nvPr/>
        </p:nvSpPr>
        <p:spPr>
          <a:xfrm>
            <a:off x="2353666" y="4690872"/>
            <a:ext cx="1463040" cy="420624"/>
          </a:xfrm>
          <a:prstGeom prst="roundRect">
            <a:avLst>
              <a:gd name="adj" fmla="val 30000"/>
            </a:avLst>
          </a:prstGeom>
          <a:solidFill>
            <a:srgbClr val="94A3B8">
              <a:alpha val="14000"/>
            </a:srgbClr>
          </a:solidFill>
          <a:ln w="12700">
            <a:solidFill>
              <a:srgbClr val="94A3B8"/>
            </a:solidFill>
            <a:prstDash val="solid"/>
          </a:ln>
        </p:spPr>
        <p:txBody>
          <a:bodyPr wrap="square" lIns="45720" tIns="0" rIns="4572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Learn</a:t>
            </a:r>
            <a:endParaRPr lang="en-US" sz="1200" dirty="0"/>
          </a:p>
        </p:txBody>
      </p:sp>
      <p:cxnSp>
        <p:nvCxnSpPr>
          <p:cNvPr id="111" name="ln111"/>
          <p:cNvCxnSpPr/>
          <p:nvPr/>
        </p:nvCxnSpPr>
        <p:spPr>
          <a:xfrm>
            <a:off x="2042770" y="4901184"/>
            <a:ext cx="274320" cy="0"/>
          </a:xfrm>
          <a:prstGeom prst="line">
            <a:avLst/>
          </a:prstGeom>
          <a:ln w="19050">
            <a:solidFill>
              <a:srgbClr val="94A3B8"/>
            </a:solidFill>
            <a:tailEnd type="triangle" w="med" len="med"/>
          </a:ln>
        </p:spPr>
      </p:cxnSp>
      <p:sp>
        <p:nvSpPr>
          <p:cNvPr id="112" name="s112"/>
          <p:cNvSpPr/>
          <p:nvPr/>
        </p:nvSpPr>
        <p:spPr>
          <a:xfrm>
            <a:off x="4164178" y="4690872"/>
            <a:ext cx="1463040" cy="420624"/>
          </a:xfrm>
          <a:prstGeom prst="roundRect">
            <a:avLst>
              <a:gd name="adj" fmla="val 30000"/>
            </a:avLst>
          </a:prstGeom>
          <a:solidFill>
            <a:srgbClr val="94A3B8">
              <a:alpha val="14000"/>
            </a:srgbClr>
          </a:solidFill>
          <a:ln w="12700">
            <a:solidFill>
              <a:srgbClr val="94A3B8"/>
            </a:solidFill>
            <a:prstDash val="solid"/>
          </a:ln>
        </p:spPr>
        <p:txBody>
          <a:bodyPr wrap="square" lIns="45720" tIns="0" rIns="4572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Adjust</a:t>
            </a:r>
            <a:endParaRPr lang="en-US" sz="1200" dirty="0"/>
          </a:p>
        </p:txBody>
      </p:sp>
      <p:cxnSp>
        <p:nvCxnSpPr>
          <p:cNvPr id="113" name="ln113"/>
          <p:cNvCxnSpPr/>
          <p:nvPr/>
        </p:nvCxnSpPr>
        <p:spPr>
          <a:xfrm>
            <a:off x="3853282" y="4901184"/>
            <a:ext cx="274320" cy="0"/>
          </a:xfrm>
          <a:prstGeom prst="line">
            <a:avLst/>
          </a:prstGeom>
          <a:ln w="19050">
            <a:solidFill>
              <a:srgbClr val="94A3B8"/>
            </a:solidFill>
            <a:tailEnd type="triangle" w="med" len="med"/>
          </a:ln>
        </p:spPr>
      </p:cxnSp>
      <p:sp>
        <p:nvSpPr>
          <p:cNvPr id="114" name="s114"/>
          <p:cNvSpPr/>
          <p:nvPr/>
        </p:nvSpPr>
        <p:spPr>
          <a:xfrm>
            <a:off x="5974690" y="4690872"/>
            <a:ext cx="1463040" cy="420624"/>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Fits market</a:t>
            </a:r>
            <a:endParaRPr lang="en-US" sz="1200" dirty="0"/>
          </a:p>
        </p:txBody>
      </p:sp>
      <p:cxnSp>
        <p:nvCxnSpPr>
          <p:cNvPr id="115" name="ln115"/>
          <p:cNvCxnSpPr/>
          <p:nvPr/>
        </p:nvCxnSpPr>
        <p:spPr>
          <a:xfrm>
            <a:off x="5663794" y="4901184"/>
            <a:ext cx="274320" cy="0"/>
          </a:xfrm>
          <a:prstGeom prst="line">
            <a:avLst/>
          </a:prstGeom>
          <a:ln w="19050">
            <a:solidFill>
              <a:srgbClr val="34D399"/>
            </a:solidFill>
            <a:tailEnd type="triangle" w="med" len="med"/>
          </a:ln>
        </p:spPr>
      </p:cxnSp>
      <p:sp>
        <p:nvSpPr>
          <p:cNvPr id="116" name="s116"/>
          <p:cNvSpPr/>
          <p:nvPr/>
        </p:nvSpPr>
        <p:spPr>
          <a:xfrm>
            <a:off x="8178394" y="2971800"/>
            <a:ext cx="3452774" cy="1874520"/>
          </a:xfrm>
          <a:prstGeom prst="roundRect">
            <a:avLst>
              <a:gd name="adj" fmla="val 10000"/>
            </a:avLst>
          </a:prstGeom>
          <a:solidFill>
            <a:srgbClr val="A78BFA">
              <a:alpha val="10000"/>
            </a:srgbClr>
          </a:solidFill>
          <a:ln w="12700">
            <a:solidFill>
              <a:srgbClr val="A78BFA"/>
            </a:solidFill>
            <a:prstDash val="solid"/>
          </a:ln>
        </p:spPr>
        <p:txBody>
          <a:bodyPr wrap="square" lIns="320040" tIns="91440" rIns="182880" bIns="91440" rtlCol="0" anchor="ctr">
            <a:noAutofit/>
          </a:bodyPr>
          <a:lstStyle/>
          <a:p>
            <a:pPr marL="0" indent="0" algn="l">
              <a:spcBef>
                <a:spcPts val="0"/>
              </a:spcBef>
              <a:spcAft>
                <a:spcPts val="800"/>
              </a:spcAft>
              <a:buNone/>
            </a:pPr>
            <a:r>
              <a:rPr lang="en-US" sz="1600" b="1" dirty="0">
                <a:solidFill>
                  <a:srgbClr val="FFFFFF"/>
                </a:solidFill>
                <a:latin typeface="Segoe UI"/>
                <a:ea typeface="Segoe UI"/>
                <a:cs typeface="Segoe UI"/>
              </a:rPr>
              <a:t>Plan</a:t>
            </a:r>
            <a:r>
              <a:rPr lang="en-US" sz="1600" b="0" dirty="0">
                <a:solidFill>
                  <a:srgbClr val="E2E8F0"/>
                </a:solidFill>
                <a:latin typeface="Segoe UI"/>
                <a:ea typeface="Segoe UI"/>
                <a:cs typeface="Segoe UI"/>
              </a:rPr>
              <a:t>  =  hypothesis</a:t>
            </a:r>
            <a:endParaRPr lang="en-US" sz="1600" dirty="0"/>
          </a:p>
          <a:p>
            <a:pPr marL="0" indent="0" algn="l">
              <a:spcBef>
                <a:spcPts val="0"/>
              </a:spcBef>
              <a:spcAft>
                <a:spcPts val="800"/>
              </a:spcAft>
              <a:buNone/>
            </a:pPr>
            <a:r>
              <a:rPr lang="en-US" sz="1600" b="1" dirty="0">
                <a:solidFill>
                  <a:srgbClr val="FFFFFF"/>
                </a:solidFill>
                <a:latin typeface="Segoe UI"/>
                <a:ea typeface="Segoe UI"/>
                <a:cs typeface="Segoe UI"/>
              </a:rPr>
              <a:t>Feedback</a:t>
            </a:r>
            <a:r>
              <a:rPr lang="en-US" sz="1600" b="0" dirty="0">
                <a:solidFill>
                  <a:srgbClr val="E2E8F0"/>
                </a:solidFill>
                <a:latin typeface="Segoe UI"/>
                <a:ea typeface="Segoe UI"/>
                <a:cs typeface="Segoe UI"/>
              </a:rPr>
              <a:t>  =  data</a:t>
            </a:r>
            <a:endParaRPr lang="en-US" sz="1600" dirty="0"/>
          </a:p>
          <a:p>
            <a:pPr marL="0" indent="0" algn="l">
              <a:spcBef>
                <a:spcPts val="0"/>
              </a:spcBef>
              <a:spcAft>
                <a:spcPts val="0"/>
              </a:spcAft>
              <a:buNone/>
            </a:pPr>
            <a:r>
              <a:rPr lang="en-US" sz="1600" b="1" dirty="0">
                <a:solidFill>
                  <a:srgbClr val="FFFFFF"/>
                </a:solidFill>
                <a:latin typeface="Segoe UI"/>
                <a:ea typeface="Segoe UI"/>
                <a:cs typeface="Segoe UI"/>
              </a:rPr>
              <a:t>Change</a:t>
            </a:r>
            <a:r>
              <a:rPr lang="en-US" sz="1600" b="0" dirty="0">
                <a:solidFill>
                  <a:srgbClr val="E2E8F0"/>
                </a:solidFill>
                <a:latin typeface="Segoe UI"/>
                <a:ea typeface="Segoe UI"/>
                <a:cs typeface="Segoe UI"/>
              </a:rPr>
              <a:t>  =  update</a:t>
            </a:r>
            <a:endParaRPr lang="en-US" sz="16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childTnLst>
                                </p:cTn>
                              </p:par>
                              <p:par>
                                <p:cTn id="15" presetID="42" presetClass="entr" presetSubtype="0" fill="hold" grpId="0" nodeType="withEffect">
                                  <p:stCondLst>
                                    <p:cond delay="26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anim calcmode="lin" valueType="num">
                                      <p:cBhvr additive="base">
                                        <p:cTn id="18" dur="500" decel="100000" fill="hold"/>
                                        <p:tgtEl>
                                          <p:spTgt spid="103"/>
                                        </p:tgtEl>
                                        <p:attrNameLst>
                                          <p:attrName>ppt_x</p:attrName>
                                        </p:attrNameLst>
                                      </p:cBhvr>
                                      <p:tavLst>
                                        <p:tav tm="0">
                                          <p:val>
                                            <p:strVal val="#ppt_x-0.05"/>
                                          </p:val>
                                        </p:tav>
                                        <p:tav tm="100000">
                                          <p:val>
                                            <p:strVal val="#ppt_x"/>
                                          </p:val>
                                        </p:tav>
                                      </p:tavLst>
                                    </p:anim>
                                  </p:childTnLst>
                                </p:cTn>
                              </p:par>
                              <p:par>
                                <p:cTn id="19" presetID="42" presetClass="entr" presetSubtype="0" fill="hold" nodeType="withEffect">
                                  <p:stCondLst>
                                    <p:cond delay="520"/>
                                  </p:stCondLst>
                                  <p:childTnLst>
                                    <p:set>
                                      <p:cBhvr>
                                        <p:cTn id="20" dur="1" fill="hold">
                                          <p:stCondLst>
                                            <p:cond delay="0"/>
                                          </p:stCondLst>
                                        </p:cTn>
                                        <p:tgtEl>
                                          <p:spTgt spid="105"/>
                                        </p:tgtEl>
                                        <p:attrNameLst>
                                          <p:attrName>style.visibility</p:attrName>
                                        </p:attrNameLst>
                                      </p:cBhvr>
                                      <p:to>
                                        <p:strVal val="visible"/>
                                      </p:to>
                                    </p:set>
                                    <p:animEffect transition="in" filter="fade">
                                      <p:cBhvr>
                                        <p:cTn id="21" dur="500"/>
                                        <p:tgtEl>
                                          <p:spTgt spid="105"/>
                                        </p:tgtEl>
                                      </p:cBhvr>
                                    </p:animEffect>
                                    <p:anim calcmode="lin" valueType="num">
                                      <p:cBhvr additive="base">
                                        <p:cTn id="22" dur="500" decel="100000" fill="hold"/>
                                        <p:tgtEl>
                                          <p:spTgt spid="105"/>
                                        </p:tgtEl>
                                        <p:attrNameLst>
                                          <p:attrName>ppt_x</p:attrName>
                                        </p:attrNameLst>
                                      </p:cBhvr>
                                      <p:tavLst>
                                        <p:tav tm="0">
                                          <p:val>
                                            <p:strVal val="#ppt_x-0.05"/>
                                          </p:val>
                                        </p:tav>
                                        <p:tav tm="100000">
                                          <p:val>
                                            <p:strVal val="#ppt_x"/>
                                          </p:val>
                                        </p:tav>
                                      </p:tavLst>
                                    </p:anim>
                                  </p:childTnLst>
                                </p:cTn>
                              </p:par>
                              <p:par>
                                <p:cTn id="23" presetID="42" presetClass="entr" presetSubtype="0" fill="hold" grpId="0" nodeType="withEffect">
                                  <p:stCondLst>
                                    <p:cond delay="520"/>
                                  </p:stCondLst>
                                  <p:childTnLst>
                                    <p:set>
                                      <p:cBhvr>
                                        <p:cTn id="24" dur="1" fill="hold">
                                          <p:stCondLst>
                                            <p:cond delay="0"/>
                                          </p:stCondLst>
                                        </p:cTn>
                                        <p:tgtEl>
                                          <p:spTgt spid="104"/>
                                        </p:tgtEl>
                                        <p:attrNameLst>
                                          <p:attrName>style.visibility</p:attrName>
                                        </p:attrNameLst>
                                      </p:cBhvr>
                                      <p:to>
                                        <p:strVal val="visible"/>
                                      </p:to>
                                    </p:set>
                                    <p:animEffect transition="in" filter="fade">
                                      <p:cBhvr>
                                        <p:cTn id="25" dur="500"/>
                                        <p:tgtEl>
                                          <p:spTgt spid="104"/>
                                        </p:tgtEl>
                                      </p:cBhvr>
                                    </p:animEffect>
                                    <p:anim calcmode="lin" valueType="num">
                                      <p:cBhvr additive="base">
                                        <p:cTn id="26" dur="500" decel="100000" fill="hold"/>
                                        <p:tgtEl>
                                          <p:spTgt spid="104"/>
                                        </p:tgtEl>
                                        <p:attrNameLst>
                                          <p:attrName>ppt_x</p:attrName>
                                        </p:attrNameLst>
                                      </p:cBhvr>
                                      <p:tavLst>
                                        <p:tav tm="0">
                                          <p:val>
                                            <p:strVal val="#ppt_x-0.05"/>
                                          </p:val>
                                        </p:tav>
                                        <p:tav tm="100000">
                                          <p:val>
                                            <p:strVal val="#ppt_x"/>
                                          </p:val>
                                        </p:tav>
                                      </p:tavLst>
                                    </p:anim>
                                  </p:childTnLst>
                                </p:cTn>
                              </p:par>
                              <p:par>
                                <p:cTn id="27" presetID="42" presetClass="entr" presetSubtype="0" fill="hold" nodeType="withEffect">
                                  <p:stCondLst>
                                    <p:cond delay="780"/>
                                  </p:stCondLst>
                                  <p:childTnLst>
                                    <p:set>
                                      <p:cBhvr>
                                        <p:cTn id="28" dur="1" fill="hold">
                                          <p:stCondLst>
                                            <p:cond delay="0"/>
                                          </p:stCondLst>
                                        </p:cTn>
                                        <p:tgtEl>
                                          <p:spTgt spid="107"/>
                                        </p:tgtEl>
                                        <p:attrNameLst>
                                          <p:attrName>style.visibility</p:attrName>
                                        </p:attrNameLst>
                                      </p:cBhvr>
                                      <p:to>
                                        <p:strVal val="visible"/>
                                      </p:to>
                                    </p:set>
                                    <p:animEffect transition="in" filter="fade">
                                      <p:cBhvr>
                                        <p:cTn id="29" dur="500"/>
                                        <p:tgtEl>
                                          <p:spTgt spid="107"/>
                                        </p:tgtEl>
                                      </p:cBhvr>
                                    </p:animEffect>
                                    <p:anim calcmode="lin" valueType="num">
                                      <p:cBhvr additive="base">
                                        <p:cTn id="30" dur="500" decel="100000" fill="hold"/>
                                        <p:tgtEl>
                                          <p:spTgt spid="107"/>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780"/>
                                  </p:stCondLst>
                                  <p:childTnLst>
                                    <p:set>
                                      <p:cBhvr>
                                        <p:cTn id="32" dur="1" fill="hold">
                                          <p:stCondLst>
                                            <p:cond delay="0"/>
                                          </p:stCondLst>
                                        </p:cTn>
                                        <p:tgtEl>
                                          <p:spTgt spid="106"/>
                                        </p:tgtEl>
                                        <p:attrNameLst>
                                          <p:attrName>style.visibility</p:attrName>
                                        </p:attrNameLst>
                                      </p:cBhvr>
                                      <p:to>
                                        <p:strVal val="visible"/>
                                      </p:to>
                                    </p:set>
                                    <p:animEffect transition="in" filter="fade">
                                      <p:cBhvr>
                                        <p:cTn id="33" dur="500"/>
                                        <p:tgtEl>
                                          <p:spTgt spid="106"/>
                                        </p:tgtEl>
                                      </p:cBhvr>
                                    </p:animEffect>
                                    <p:anim calcmode="lin" valueType="num">
                                      <p:cBhvr additive="base">
                                        <p:cTn id="34" dur="500" decel="100000" fill="hold"/>
                                        <p:tgtEl>
                                          <p:spTgt spid="106"/>
                                        </p:tgtEl>
                                        <p:attrNameLst>
                                          <p:attrName>ppt_x</p:attrName>
                                        </p:attrNameLst>
                                      </p:cBhvr>
                                      <p:tavLst>
                                        <p:tav tm="0">
                                          <p:val>
                                            <p:strVal val="#ppt_x-0.05"/>
                                          </p:val>
                                        </p:tav>
                                        <p:tav tm="100000">
                                          <p:val>
                                            <p:strVal val="#ppt_x"/>
                                          </p:val>
                                        </p:tav>
                                      </p:tavLst>
                                    </p:anim>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08"/>
                                        </p:tgtEl>
                                        <p:attrNameLst>
                                          <p:attrName>style.visibility</p:attrName>
                                        </p:attrNameLst>
                                      </p:cBhvr>
                                      <p:to>
                                        <p:strVal val="visible"/>
                                      </p:to>
                                    </p:set>
                                    <p:animEffect transition="in" filter="fade">
                                      <p:cBhvr>
                                        <p:cTn id="39" dur="500"/>
                                        <p:tgtEl>
                                          <p:spTgt spid="108"/>
                                        </p:tgtEl>
                                      </p:cBhvr>
                                    </p:animEffect>
                                  </p:childTnLst>
                                </p:cTn>
                              </p:par>
                              <p:par>
                                <p:cTn id="40" presetID="42" presetClass="entr" presetSubtype="0" fill="hold" grpId="0" nodeType="withEffect">
                                  <p:stCondLst>
                                    <p:cond delay="260"/>
                                  </p:stCondLst>
                                  <p:childTnLst>
                                    <p:set>
                                      <p:cBhvr>
                                        <p:cTn id="41" dur="1" fill="hold">
                                          <p:stCondLst>
                                            <p:cond delay="0"/>
                                          </p:stCondLst>
                                        </p:cTn>
                                        <p:tgtEl>
                                          <p:spTgt spid="109"/>
                                        </p:tgtEl>
                                        <p:attrNameLst>
                                          <p:attrName>style.visibility</p:attrName>
                                        </p:attrNameLst>
                                      </p:cBhvr>
                                      <p:to>
                                        <p:strVal val="visible"/>
                                      </p:to>
                                    </p:set>
                                    <p:animEffect transition="in" filter="fade">
                                      <p:cBhvr>
                                        <p:cTn id="42" dur="500"/>
                                        <p:tgtEl>
                                          <p:spTgt spid="109"/>
                                        </p:tgtEl>
                                      </p:cBhvr>
                                    </p:animEffect>
                                    <p:anim calcmode="lin" valueType="num">
                                      <p:cBhvr additive="base">
                                        <p:cTn id="43" dur="500" decel="100000" fill="hold"/>
                                        <p:tgtEl>
                                          <p:spTgt spid="109"/>
                                        </p:tgtEl>
                                        <p:attrNameLst>
                                          <p:attrName>ppt_x</p:attrName>
                                        </p:attrNameLst>
                                      </p:cBhvr>
                                      <p:tavLst>
                                        <p:tav tm="0">
                                          <p:val>
                                            <p:strVal val="#ppt_x-0.05"/>
                                          </p:val>
                                        </p:tav>
                                        <p:tav tm="100000">
                                          <p:val>
                                            <p:strVal val="#ppt_x"/>
                                          </p:val>
                                        </p:tav>
                                      </p:tavLst>
                                    </p:anim>
                                  </p:childTnLst>
                                </p:cTn>
                              </p:par>
                              <p:par>
                                <p:cTn id="44" presetID="42" presetClass="entr" presetSubtype="0" fill="hold" nodeType="withEffect">
                                  <p:stCondLst>
                                    <p:cond delay="52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anim calcmode="lin" valueType="num">
                                      <p:cBhvr additive="base">
                                        <p:cTn id="47" dur="500" decel="100000" fill="hold"/>
                                        <p:tgtEl>
                                          <p:spTgt spid="111"/>
                                        </p:tgtEl>
                                        <p:attrNameLst>
                                          <p:attrName>ppt_x</p:attrName>
                                        </p:attrNameLst>
                                      </p:cBhvr>
                                      <p:tavLst>
                                        <p:tav tm="0">
                                          <p:val>
                                            <p:strVal val="#ppt_x-0.05"/>
                                          </p:val>
                                        </p:tav>
                                        <p:tav tm="100000">
                                          <p:val>
                                            <p:strVal val="#ppt_x"/>
                                          </p:val>
                                        </p:tav>
                                      </p:tavLst>
                                    </p:anim>
                                  </p:childTnLst>
                                </p:cTn>
                              </p:par>
                              <p:par>
                                <p:cTn id="48" presetID="42" presetClass="entr" presetSubtype="0" fill="hold" grpId="0" nodeType="withEffect">
                                  <p:stCondLst>
                                    <p:cond delay="520"/>
                                  </p:stCondLst>
                                  <p:childTnLst>
                                    <p:set>
                                      <p:cBhvr>
                                        <p:cTn id="49" dur="1" fill="hold">
                                          <p:stCondLst>
                                            <p:cond delay="0"/>
                                          </p:stCondLst>
                                        </p:cTn>
                                        <p:tgtEl>
                                          <p:spTgt spid="110"/>
                                        </p:tgtEl>
                                        <p:attrNameLst>
                                          <p:attrName>style.visibility</p:attrName>
                                        </p:attrNameLst>
                                      </p:cBhvr>
                                      <p:to>
                                        <p:strVal val="visible"/>
                                      </p:to>
                                    </p:set>
                                    <p:animEffect transition="in" filter="fade">
                                      <p:cBhvr>
                                        <p:cTn id="50" dur="500"/>
                                        <p:tgtEl>
                                          <p:spTgt spid="110"/>
                                        </p:tgtEl>
                                      </p:cBhvr>
                                    </p:animEffect>
                                    <p:anim calcmode="lin" valueType="num">
                                      <p:cBhvr additive="base">
                                        <p:cTn id="51" dur="500" decel="100000" fill="hold"/>
                                        <p:tgtEl>
                                          <p:spTgt spid="110"/>
                                        </p:tgtEl>
                                        <p:attrNameLst>
                                          <p:attrName>ppt_x</p:attrName>
                                        </p:attrNameLst>
                                      </p:cBhvr>
                                      <p:tavLst>
                                        <p:tav tm="0">
                                          <p:val>
                                            <p:strVal val="#ppt_x-0.05"/>
                                          </p:val>
                                        </p:tav>
                                        <p:tav tm="100000">
                                          <p:val>
                                            <p:strVal val="#ppt_x"/>
                                          </p:val>
                                        </p:tav>
                                      </p:tavLst>
                                    </p:anim>
                                  </p:childTnLst>
                                </p:cTn>
                              </p:par>
                              <p:par>
                                <p:cTn id="52" presetID="42" presetClass="entr" presetSubtype="0" fill="hold" nodeType="withEffect">
                                  <p:stCondLst>
                                    <p:cond delay="780"/>
                                  </p:stCondLst>
                                  <p:childTnLst>
                                    <p:set>
                                      <p:cBhvr>
                                        <p:cTn id="53" dur="1" fill="hold">
                                          <p:stCondLst>
                                            <p:cond delay="0"/>
                                          </p:stCondLst>
                                        </p:cTn>
                                        <p:tgtEl>
                                          <p:spTgt spid="113"/>
                                        </p:tgtEl>
                                        <p:attrNameLst>
                                          <p:attrName>style.visibility</p:attrName>
                                        </p:attrNameLst>
                                      </p:cBhvr>
                                      <p:to>
                                        <p:strVal val="visible"/>
                                      </p:to>
                                    </p:set>
                                    <p:animEffect transition="in" filter="fade">
                                      <p:cBhvr>
                                        <p:cTn id="54" dur="500"/>
                                        <p:tgtEl>
                                          <p:spTgt spid="113"/>
                                        </p:tgtEl>
                                      </p:cBhvr>
                                    </p:animEffect>
                                    <p:anim calcmode="lin" valueType="num">
                                      <p:cBhvr additive="base">
                                        <p:cTn id="55" dur="500" decel="100000" fill="hold"/>
                                        <p:tgtEl>
                                          <p:spTgt spid="113"/>
                                        </p:tgtEl>
                                        <p:attrNameLst>
                                          <p:attrName>ppt_x</p:attrName>
                                        </p:attrNameLst>
                                      </p:cBhvr>
                                      <p:tavLst>
                                        <p:tav tm="0">
                                          <p:val>
                                            <p:strVal val="#ppt_x-0.05"/>
                                          </p:val>
                                        </p:tav>
                                        <p:tav tm="100000">
                                          <p:val>
                                            <p:strVal val="#ppt_x"/>
                                          </p:val>
                                        </p:tav>
                                      </p:tavLst>
                                    </p:anim>
                                  </p:childTnLst>
                                </p:cTn>
                              </p:par>
                              <p:par>
                                <p:cTn id="56" presetID="42" presetClass="entr" presetSubtype="0" fill="hold" grpId="0" nodeType="withEffect">
                                  <p:stCondLst>
                                    <p:cond delay="780"/>
                                  </p:stCondLst>
                                  <p:childTnLst>
                                    <p:set>
                                      <p:cBhvr>
                                        <p:cTn id="57" dur="1" fill="hold">
                                          <p:stCondLst>
                                            <p:cond delay="0"/>
                                          </p:stCondLst>
                                        </p:cTn>
                                        <p:tgtEl>
                                          <p:spTgt spid="112"/>
                                        </p:tgtEl>
                                        <p:attrNameLst>
                                          <p:attrName>style.visibility</p:attrName>
                                        </p:attrNameLst>
                                      </p:cBhvr>
                                      <p:to>
                                        <p:strVal val="visible"/>
                                      </p:to>
                                    </p:set>
                                    <p:animEffect transition="in" filter="fade">
                                      <p:cBhvr>
                                        <p:cTn id="58" dur="500"/>
                                        <p:tgtEl>
                                          <p:spTgt spid="112"/>
                                        </p:tgtEl>
                                      </p:cBhvr>
                                    </p:animEffect>
                                    <p:anim calcmode="lin" valueType="num">
                                      <p:cBhvr additive="base">
                                        <p:cTn id="59" dur="500" decel="100000" fill="hold"/>
                                        <p:tgtEl>
                                          <p:spTgt spid="112"/>
                                        </p:tgtEl>
                                        <p:attrNameLst>
                                          <p:attrName>ppt_x</p:attrName>
                                        </p:attrNameLst>
                                      </p:cBhvr>
                                      <p:tavLst>
                                        <p:tav tm="0">
                                          <p:val>
                                            <p:strVal val="#ppt_x-0.05"/>
                                          </p:val>
                                        </p:tav>
                                        <p:tav tm="100000">
                                          <p:val>
                                            <p:strVal val="#ppt_x"/>
                                          </p:val>
                                        </p:tav>
                                      </p:tavLst>
                                    </p:anim>
                                  </p:childTnLst>
                                </p:cTn>
                              </p:par>
                              <p:par>
                                <p:cTn id="60" presetID="42" presetClass="entr" presetSubtype="0" fill="hold" nodeType="withEffect">
                                  <p:stCondLst>
                                    <p:cond delay="1040"/>
                                  </p:stCondLst>
                                  <p:childTnLst>
                                    <p:set>
                                      <p:cBhvr>
                                        <p:cTn id="61" dur="1" fill="hold">
                                          <p:stCondLst>
                                            <p:cond delay="0"/>
                                          </p:stCondLst>
                                        </p:cTn>
                                        <p:tgtEl>
                                          <p:spTgt spid="115"/>
                                        </p:tgtEl>
                                        <p:attrNameLst>
                                          <p:attrName>style.visibility</p:attrName>
                                        </p:attrNameLst>
                                      </p:cBhvr>
                                      <p:to>
                                        <p:strVal val="visible"/>
                                      </p:to>
                                    </p:set>
                                    <p:animEffect transition="in" filter="fade">
                                      <p:cBhvr>
                                        <p:cTn id="62" dur="500"/>
                                        <p:tgtEl>
                                          <p:spTgt spid="115"/>
                                        </p:tgtEl>
                                      </p:cBhvr>
                                    </p:animEffect>
                                    <p:anim calcmode="lin" valueType="num">
                                      <p:cBhvr additive="base">
                                        <p:cTn id="63" dur="500" decel="100000" fill="hold"/>
                                        <p:tgtEl>
                                          <p:spTgt spid="115"/>
                                        </p:tgtEl>
                                        <p:attrNameLst>
                                          <p:attrName>ppt_x</p:attrName>
                                        </p:attrNameLst>
                                      </p:cBhvr>
                                      <p:tavLst>
                                        <p:tav tm="0">
                                          <p:val>
                                            <p:strVal val="#ppt_x-0.05"/>
                                          </p:val>
                                        </p:tav>
                                        <p:tav tm="100000">
                                          <p:val>
                                            <p:strVal val="#ppt_x"/>
                                          </p:val>
                                        </p:tav>
                                      </p:tavLst>
                                    </p:anim>
                                  </p:childTnLst>
                                </p:cTn>
                              </p:par>
                              <p:par>
                                <p:cTn id="64" presetID="42" presetClass="entr" presetSubtype="0" fill="hold" grpId="0" nodeType="withEffect">
                                  <p:stCondLst>
                                    <p:cond delay="1040"/>
                                  </p:stCondLst>
                                  <p:childTnLst>
                                    <p:set>
                                      <p:cBhvr>
                                        <p:cTn id="65" dur="1" fill="hold">
                                          <p:stCondLst>
                                            <p:cond delay="0"/>
                                          </p:stCondLst>
                                        </p:cTn>
                                        <p:tgtEl>
                                          <p:spTgt spid="114"/>
                                        </p:tgtEl>
                                        <p:attrNameLst>
                                          <p:attrName>style.visibility</p:attrName>
                                        </p:attrNameLst>
                                      </p:cBhvr>
                                      <p:to>
                                        <p:strVal val="visible"/>
                                      </p:to>
                                    </p:set>
                                    <p:animEffect transition="in" filter="fade">
                                      <p:cBhvr>
                                        <p:cTn id="66" dur="500"/>
                                        <p:tgtEl>
                                          <p:spTgt spid="114"/>
                                        </p:tgtEl>
                                      </p:cBhvr>
                                    </p:animEffect>
                                    <p:anim calcmode="lin" valueType="num">
                                      <p:cBhvr additive="base">
                                        <p:cTn id="67" dur="500" decel="100000" fill="hold"/>
                                        <p:tgtEl>
                                          <p:spTgt spid="114"/>
                                        </p:tgtEl>
                                        <p:attrNameLst>
                                          <p:attrName>ppt_x</p:attrName>
                                        </p:attrNameLst>
                                      </p:cBhvr>
                                      <p:tavLst>
                                        <p:tav tm="0">
                                          <p:val>
                                            <p:strVal val="#ppt_x-0.05"/>
                                          </p:val>
                                        </p:tav>
                                        <p:tav tm="100000">
                                          <p:val>
                                            <p:strVal val="#ppt_x"/>
                                          </p:val>
                                        </p:tav>
                                      </p:tavLst>
                                    </p:anim>
                                  </p:childTnLst>
                                </p:cTn>
                              </p:par>
                            </p:childTnLst>
                          </p:cTn>
                        </p:par>
                      </p:childTnLst>
                    </p:cTn>
                  </p:par>
                  <p:par>
                    <p:cTn id="68" fill="hold">
                      <p:stCondLst>
                        <p:cond delay="indefinite"/>
                      </p:stCondLst>
                      <p:childTnLst>
                        <p:par>
                          <p:cTn id="69" fill="hold">
                            <p:stCondLst>
                              <p:cond delay="0"/>
                            </p:stCondLst>
                            <p:childTnLst>
                              <p:par>
                                <p:cTn id="70" presetID="53" presetClass="entr" presetSubtype="16" fill="hold" grpId="0" nodeType="clickEffect">
                                  <p:stCondLst>
                                    <p:cond delay="0"/>
                                  </p:stCondLst>
                                  <p:childTnLst>
                                    <p:set>
                                      <p:cBhvr>
                                        <p:cTn id="71" dur="1" fill="hold">
                                          <p:stCondLst>
                                            <p:cond delay="0"/>
                                          </p:stCondLst>
                                        </p:cTn>
                                        <p:tgtEl>
                                          <p:spTgt spid="116"/>
                                        </p:tgtEl>
                                        <p:attrNameLst>
                                          <p:attrName>style.visibility</p:attrName>
                                        </p:attrNameLst>
                                      </p:cBhvr>
                                      <p:to>
                                        <p:strVal val="visible"/>
                                      </p:to>
                                    </p:set>
                                    <p:anim calcmode="lin" valueType="num">
                                      <p:cBhvr additive="base">
                                        <p:cTn id="72" dur="500" decel="100000" fill="hold"/>
                                        <p:tgtEl>
                                          <p:spTgt spid="116"/>
                                        </p:tgtEl>
                                        <p:attrNameLst>
                                          <p:attrName>ppt_w</p:attrName>
                                        </p:attrNameLst>
                                      </p:cBhvr>
                                      <p:tavLst>
                                        <p:tav tm="0">
                                          <p:val>
                                            <p:strVal val="#ppt_w*0.55"/>
                                          </p:val>
                                        </p:tav>
                                        <p:tav tm="100000">
                                          <p:val>
                                            <p:strVal val="#ppt_w"/>
                                          </p:val>
                                        </p:tav>
                                      </p:tavLst>
                                    </p:anim>
                                    <p:anim calcmode="lin" valueType="num">
                                      <p:cBhvr additive="base">
                                        <p:cTn id="73" dur="500" decel="100000" fill="hold"/>
                                        <p:tgtEl>
                                          <p:spTgt spid="116"/>
                                        </p:tgtEl>
                                        <p:attrNameLst>
                                          <p:attrName>ppt_h</p:attrName>
                                        </p:attrNameLst>
                                      </p:cBhvr>
                                      <p:tavLst>
                                        <p:tav tm="0">
                                          <p:val>
                                            <p:strVal val="#ppt_h*0.55"/>
                                          </p:val>
                                        </p:tav>
                                        <p:tav tm="100000">
                                          <p:val>
                                            <p:strVal val="#ppt_h"/>
                                          </p:val>
                                        </p:tav>
                                      </p:tavLst>
                                    </p:anim>
                                    <p:animEffect transition="in" filter="fade">
                                      <p:cBhvr>
                                        <p:cTn id="74" dur="5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6" grpId="0" animBg="1"/>
      <p:bldP spid="108" grpId="0" animBg="1"/>
      <p:bldP spid="109" grpId="0" animBg="1"/>
      <p:bldP spid="110" grpId="0" animBg="1"/>
      <p:bldP spid="112" grpId="0" animBg="1"/>
      <p:bldP spid="114" grpId="0" animBg="1"/>
      <p:bldP spid="116"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Ask the Class: Stick to the Q2 Plan?</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MANIFESTO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210</a:t>
            </a:r>
            <a:endParaRPr lang="en-US" sz="850" dirty="0"/>
          </a:p>
        </p:txBody>
      </p:sp>
      <p:sp>
        <p:nvSpPr>
          <p:cNvPr id="101" name="s101"/>
          <p:cNvSpPr/>
          <p:nvPr/>
        </p:nvSpPr>
        <p:spPr>
          <a:xfrm>
            <a:off x="726034" y="195681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02" name="s102"/>
          <p:cNvSpPr/>
          <p:nvPr/>
        </p:nvSpPr>
        <p:spPr>
          <a:xfrm>
            <a:off x="543154" y="1783080"/>
            <a:ext cx="11088014" cy="64008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Ramadan starts in 3 weeks. Your roadmap ignored iftar peak hours. Stick to the Q2 plan?</a:t>
            </a:r>
            <a:endParaRPr lang="en-US" sz="1500" dirty="0"/>
          </a:p>
        </p:txBody>
      </p:sp>
      <p:sp>
        <p:nvSpPr>
          <p:cNvPr id="103" name="s103"/>
          <p:cNvSpPr/>
          <p:nvPr/>
        </p:nvSpPr>
        <p:spPr>
          <a:xfrm>
            <a:off x="543154" y="2606040"/>
            <a:ext cx="4023360" cy="329184"/>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50" b="1" dirty="0">
                <a:solidFill>
                  <a:srgbClr val="13D0F7"/>
                </a:solidFill>
                <a:latin typeface="Segoe UI"/>
                <a:ea typeface="Segoe UI"/>
                <a:cs typeface="Segoe UI"/>
              </a:rPr>
              <a:t>CASE · Food Delivery: seasonal demand spike</a:t>
            </a:r>
            <a:endParaRPr lang="en-US" sz="1050" dirty="0"/>
          </a:p>
        </p:txBody>
      </p:sp>
      <p:sp>
        <p:nvSpPr>
          <p:cNvPr id="104" name="s104"/>
          <p:cNvSpPr/>
          <p:nvPr/>
        </p:nvSpPr>
        <p:spPr>
          <a:xfrm>
            <a:off x="543154" y="3154680"/>
            <a:ext cx="4892040" cy="2514600"/>
          </a:xfrm>
          <a:prstGeom prst="roundRect">
            <a:avLst>
              <a:gd name="adj" fmla="val 8000"/>
            </a:avLst>
          </a:prstGeom>
          <a:solidFill>
            <a:srgbClr val="111B2E"/>
          </a:solidFill>
          <a:ln w="12700">
            <a:solidFill>
              <a:srgbClr val="94A3B8"/>
            </a:solidFill>
            <a:prstDash val="solid"/>
          </a:ln>
        </p:spPr>
        <p:txBody>
          <a:bodyPr wrap="square" lIns="164592" tIns="109728" rIns="137160" bIns="91440" rtlCol="0" anchor="t">
            <a:noAutofit/>
          </a:bodyPr>
          <a:lstStyle/>
          <a:p>
            <a:endParaRPr lang="en-US"/>
          </a:p>
        </p:txBody>
      </p:sp>
      <p:sp>
        <p:nvSpPr>
          <p:cNvPr id="105" name="s105"/>
          <p:cNvSpPr txBox="1"/>
          <p:nvPr/>
        </p:nvSpPr>
        <p:spPr>
          <a:xfrm>
            <a:off x="817474" y="3337560"/>
            <a:ext cx="43434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OLD PLAN</a:t>
            </a:r>
            <a:endParaRPr lang="en-US" sz="1100" dirty="0"/>
          </a:p>
        </p:txBody>
      </p:sp>
      <p:sp>
        <p:nvSpPr>
          <p:cNvPr id="106" name="s106"/>
          <p:cNvSpPr/>
          <p:nvPr/>
        </p:nvSpPr>
        <p:spPr>
          <a:xfrm>
            <a:off x="817474" y="3749040"/>
            <a:ext cx="4343400" cy="438912"/>
          </a:xfrm>
          <a:prstGeom prst="roundRect">
            <a:avLst>
              <a:gd name="adj" fmla="val 15000"/>
            </a:avLst>
          </a:prstGeom>
          <a:solidFill>
            <a:srgbClr val="152238"/>
          </a:solidFill>
          <a:ln>
            <a:noFill/>
          </a:ln>
        </p:spPr>
        <p:txBody>
          <a:bodyPr wrap="square" lIns="182880" tIns="0" rIns="91440" bIns="0" rtlCol="0" anchor="ctr">
            <a:noAutofit/>
          </a:bodyPr>
          <a:lstStyle/>
          <a:p>
            <a:pPr marL="0" indent="0" algn="l">
              <a:spcBef>
                <a:spcPts val="0"/>
              </a:spcBef>
              <a:spcAft>
                <a:spcPts val="0"/>
              </a:spcAft>
              <a:buNone/>
            </a:pPr>
            <a:r>
              <a:rPr lang="en-US" sz="1300" b="1" dirty="0">
                <a:solidFill>
                  <a:srgbClr val="94A3B8"/>
                </a:solidFill>
                <a:latin typeface="Segoe UI"/>
                <a:ea typeface="Segoe UI"/>
                <a:cs typeface="Segoe UI"/>
              </a:rPr>
              <a:t>1   </a:t>
            </a:r>
            <a:r>
              <a:rPr lang="en-US" sz="1300" b="0" dirty="0">
                <a:solidFill>
                  <a:srgbClr val="CBD5E1"/>
                </a:solidFill>
                <a:latin typeface="Segoe UI"/>
                <a:ea typeface="Segoe UI"/>
                <a:cs typeface="Segoe UI"/>
              </a:rPr>
              <a:t>Admin reports</a:t>
            </a:r>
            <a:endParaRPr lang="en-US" sz="1300" dirty="0"/>
          </a:p>
        </p:txBody>
      </p:sp>
      <p:sp>
        <p:nvSpPr>
          <p:cNvPr id="107" name="s107"/>
          <p:cNvSpPr/>
          <p:nvPr/>
        </p:nvSpPr>
        <p:spPr>
          <a:xfrm>
            <a:off x="817474" y="4297680"/>
            <a:ext cx="4343400" cy="438912"/>
          </a:xfrm>
          <a:prstGeom prst="roundRect">
            <a:avLst>
              <a:gd name="adj" fmla="val 15000"/>
            </a:avLst>
          </a:prstGeom>
          <a:solidFill>
            <a:srgbClr val="152238"/>
          </a:solidFill>
          <a:ln>
            <a:noFill/>
          </a:ln>
        </p:spPr>
        <p:txBody>
          <a:bodyPr wrap="square" lIns="182880" tIns="0" rIns="91440" bIns="0" rtlCol="0" anchor="ctr">
            <a:noAutofit/>
          </a:bodyPr>
          <a:lstStyle/>
          <a:p>
            <a:pPr marL="0" indent="0" algn="l">
              <a:spcBef>
                <a:spcPts val="0"/>
              </a:spcBef>
              <a:spcAft>
                <a:spcPts val="0"/>
              </a:spcAft>
              <a:buNone/>
            </a:pPr>
            <a:r>
              <a:rPr lang="en-US" sz="1300" b="1" dirty="0">
                <a:solidFill>
                  <a:srgbClr val="94A3B8"/>
                </a:solidFill>
                <a:latin typeface="Segoe UI"/>
                <a:ea typeface="Segoe UI"/>
                <a:cs typeface="Segoe UI"/>
              </a:rPr>
              <a:t>2   </a:t>
            </a:r>
            <a:r>
              <a:rPr lang="en-US" sz="1300" b="0" dirty="0">
                <a:solidFill>
                  <a:srgbClr val="CBD5E1"/>
                </a:solidFill>
                <a:latin typeface="Segoe UI"/>
                <a:ea typeface="Segoe UI"/>
                <a:cs typeface="Segoe UI"/>
              </a:rPr>
              <a:t>New theme</a:t>
            </a:r>
            <a:endParaRPr lang="en-US" sz="1300" dirty="0"/>
          </a:p>
        </p:txBody>
      </p:sp>
      <p:sp>
        <p:nvSpPr>
          <p:cNvPr id="108" name="s108"/>
          <p:cNvSpPr/>
          <p:nvPr/>
        </p:nvSpPr>
        <p:spPr>
          <a:xfrm>
            <a:off x="817474" y="4846320"/>
            <a:ext cx="4343400" cy="438912"/>
          </a:xfrm>
          <a:prstGeom prst="roundRect">
            <a:avLst>
              <a:gd name="adj" fmla="val 15000"/>
            </a:avLst>
          </a:prstGeom>
          <a:solidFill>
            <a:srgbClr val="152238"/>
          </a:solidFill>
          <a:ln>
            <a:noFill/>
          </a:ln>
        </p:spPr>
        <p:txBody>
          <a:bodyPr wrap="square" lIns="182880" tIns="0" rIns="91440" bIns="0" rtlCol="0" anchor="ctr">
            <a:noAutofit/>
          </a:bodyPr>
          <a:lstStyle/>
          <a:p>
            <a:pPr marL="0" indent="0" algn="l">
              <a:spcBef>
                <a:spcPts val="0"/>
              </a:spcBef>
              <a:spcAft>
                <a:spcPts val="0"/>
              </a:spcAft>
              <a:buNone/>
            </a:pPr>
            <a:r>
              <a:rPr lang="en-US" sz="1300" b="1" dirty="0">
                <a:solidFill>
                  <a:srgbClr val="94A3B8"/>
                </a:solidFill>
                <a:latin typeface="Segoe UI"/>
                <a:ea typeface="Segoe UI"/>
                <a:cs typeface="Segoe UI"/>
              </a:rPr>
              <a:t>3   </a:t>
            </a:r>
            <a:r>
              <a:rPr lang="en-US" sz="1300" b="0" dirty="0">
                <a:solidFill>
                  <a:srgbClr val="CBD5E1"/>
                </a:solidFill>
                <a:latin typeface="Segoe UI"/>
                <a:ea typeface="Segoe UI"/>
                <a:cs typeface="Segoe UI"/>
              </a:rPr>
              <a:t>Referral v2</a:t>
            </a:r>
            <a:endParaRPr lang="en-US" sz="1300" dirty="0"/>
          </a:p>
        </p:txBody>
      </p:sp>
      <p:sp>
        <p:nvSpPr>
          <p:cNvPr id="109" name="s109"/>
          <p:cNvSpPr/>
          <p:nvPr/>
        </p:nvSpPr>
        <p:spPr>
          <a:xfrm rot="-420000">
            <a:off x="2920594" y="4343400"/>
            <a:ext cx="2286000" cy="502920"/>
          </a:xfrm>
          <a:prstGeom prst="roundRect">
            <a:avLst>
              <a:gd name="adj" fmla="val 12000"/>
            </a:avLst>
          </a:prstGeom>
          <a:solidFill>
            <a:srgbClr val="F87171">
              <a:alpha val="18000"/>
            </a:srgbClr>
          </a:solidFill>
          <a:ln w="28575">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400" b="1" dirty="0">
                <a:solidFill>
                  <a:srgbClr val="F87171"/>
                </a:solidFill>
                <a:latin typeface="Segoe UI"/>
                <a:ea typeface="Segoe UI"/>
                <a:cs typeface="Segoe UI"/>
              </a:rPr>
              <a:t>ignores Ramadan</a:t>
            </a:r>
            <a:endParaRPr lang="en-US" sz="1400" dirty="0"/>
          </a:p>
        </p:txBody>
      </p:sp>
      <p:cxnSp>
        <p:nvCxnSpPr>
          <p:cNvPr id="110" name="ln110"/>
          <p:cNvCxnSpPr/>
          <p:nvPr/>
        </p:nvCxnSpPr>
        <p:spPr>
          <a:xfrm>
            <a:off x="5544922" y="4416552"/>
            <a:ext cx="694944" cy="0"/>
          </a:xfrm>
          <a:prstGeom prst="line">
            <a:avLst/>
          </a:prstGeom>
          <a:ln w="38100">
            <a:solidFill>
              <a:srgbClr val="34D399"/>
            </a:solidFill>
            <a:tailEnd type="triangle" w="med" len="med"/>
          </a:ln>
        </p:spPr>
      </p:cxnSp>
      <p:sp>
        <p:nvSpPr>
          <p:cNvPr id="111" name="s111"/>
          <p:cNvSpPr/>
          <p:nvPr/>
        </p:nvSpPr>
        <p:spPr>
          <a:xfrm>
            <a:off x="6349594" y="3154680"/>
            <a:ext cx="5281574" cy="2514600"/>
          </a:xfrm>
          <a:prstGeom prst="roundRect">
            <a:avLst>
              <a:gd name="adj" fmla="val 8000"/>
            </a:avLst>
          </a:prstGeom>
          <a:solidFill>
            <a:srgbClr val="34D399">
              <a:alpha val="7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12" name="s112"/>
          <p:cNvSpPr txBox="1"/>
          <p:nvPr/>
        </p:nvSpPr>
        <p:spPr>
          <a:xfrm>
            <a:off x="6623914" y="3337560"/>
            <a:ext cx="473293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34D399"/>
                </a:solidFill>
                <a:latin typeface="Segoe UI"/>
                <a:ea typeface="Segoe UI"/>
                <a:cs typeface="Segoe UI"/>
              </a:rPr>
              <a:t>RESPOND TO CHANGE</a:t>
            </a:r>
            <a:endParaRPr lang="en-US" sz="1100" dirty="0"/>
          </a:p>
        </p:txBody>
      </p:sp>
      <p:sp>
        <p:nvSpPr>
          <p:cNvPr id="113" name="s113"/>
          <p:cNvSpPr/>
          <p:nvPr/>
        </p:nvSpPr>
        <p:spPr>
          <a:xfrm>
            <a:off x="6623914" y="3749040"/>
            <a:ext cx="4732934" cy="438912"/>
          </a:xfrm>
          <a:prstGeom prst="roundRect">
            <a:avLst>
              <a:gd name="adj" fmla="val 15000"/>
            </a:avLst>
          </a:prstGeom>
          <a:solidFill>
            <a:srgbClr val="34D399">
              <a:alpha val="15000"/>
            </a:srgbClr>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1   </a:t>
            </a:r>
            <a:r>
              <a:rPr lang="en-US" sz="1300" b="1" dirty="0">
                <a:solidFill>
                  <a:srgbClr val="FFFFFF"/>
                </a:solidFill>
                <a:latin typeface="Segoe UI"/>
                <a:ea typeface="Segoe UI"/>
                <a:cs typeface="Segoe UI"/>
              </a:rPr>
              <a:t>Iftar peak capacity</a:t>
            </a:r>
            <a:endParaRPr lang="en-US" sz="1300" dirty="0"/>
          </a:p>
        </p:txBody>
      </p:sp>
      <p:sp>
        <p:nvSpPr>
          <p:cNvPr id="114" name="s114"/>
          <p:cNvSpPr/>
          <p:nvPr/>
        </p:nvSpPr>
        <p:spPr>
          <a:xfrm>
            <a:off x="6623914" y="4297680"/>
            <a:ext cx="4732934" cy="438912"/>
          </a:xfrm>
          <a:prstGeom prst="roundRect">
            <a:avLst>
              <a:gd name="adj" fmla="val 15000"/>
            </a:avLst>
          </a:prstGeom>
          <a:solidFill>
            <a:srgbClr val="34D399">
              <a:alpha val="15000"/>
            </a:srgbClr>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2   </a:t>
            </a:r>
            <a:r>
              <a:rPr lang="en-US" sz="1300" b="1" dirty="0">
                <a:solidFill>
                  <a:srgbClr val="FFFFFF"/>
                </a:solidFill>
                <a:latin typeface="Segoe UI"/>
                <a:ea typeface="Segoe UI"/>
                <a:cs typeface="Segoe UI"/>
              </a:rPr>
              <a:t>Scheduled orders</a:t>
            </a:r>
            <a:endParaRPr lang="en-US" sz="1300" dirty="0"/>
          </a:p>
        </p:txBody>
      </p:sp>
      <p:sp>
        <p:nvSpPr>
          <p:cNvPr id="115" name="s115"/>
          <p:cNvSpPr/>
          <p:nvPr/>
        </p:nvSpPr>
        <p:spPr>
          <a:xfrm>
            <a:off x="6623914" y="4846320"/>
            <a:ext cx="4732934" cy="438912"/>
          </a:xfrm>
          <a:prstGeom prst="roundRect">
            <a:avLst>
              <a:gd name="adj" fmla="val 15000"/>
            </a:avLst>
          </a:prstGeom>
          <a:solidFill>
            <a:srgbClr val="34D399">
              <a:alpha val="15000"/>
            </a:srgbClr>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3   </a:t>
            </a:r>
            <a:r>
              <a:rPr lang="en-US" sz="1300" b="1" dirty="0">
                <a:solidFill>
                  <a:srgbClr val="FFFFFF"/>
                </a:solidFill>
                <a:latin typeface="Segoe UI"/>
                <a:ea typeface="Segoe UI"/>
                <a:cs typeface="Segoe UI"/>
              </a:rPr>
              <a:t>Restaurant prep times</a:t>
            </a:r>
            <a:endParaRPr lang="en-US" sz="1300" dirty="0"/>
          </a:p>
        </p:txBody>
      </p:sp>
      <p:sp>
        <p:nvSpPr>
          <p:cNvPr id="116" name="s116"/>
          <p:cNvSpPr txBox="1"/>
          <p:nvPr/>
        </p:nvSpPr>
        <p:spPr>
          <a:xfrm>
            <a:off x="6623914" y="5367528"/>
            <a:ext cx="4732934"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0" dirty="0">
                <a:solidFill>
                  <a:srgbClr val="94A3B8"/>
                </a:solidFill>
                <a:latin typeface="Segoe UI"/>
                <a:ea typeface="Segoe UI"/>
                <a:cs typeface="Segoe UI"/>
              </a:rPr>
              <a:t>Deferred: new theme. Plan updated, value protected.</a:t>
            </a:r>
            <a:endParaRPr lang="en-US" sz="11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1"/>
                                        </p:tgtEl>
                                        <p:attrNameLst>
                                          <p:attrName>style.visibility</p:attrName>
                                        </p:attrNameLst>
                                      </p:cBhvr>
                                      <p:to>
                                        <p:strVal val="visible"/>
                                      </p:to>
                                    </p:set>
                                    <p:animEffect transition="in" filter="fade">
                                      <p:cBhvr>
                                        <p:cTn id="11" dur="500"/>
                                        <p:tgtEl>
                                          <p:spTgt spid="101"/>
                                        </p:tgtEl>
                                      </p:cBhvr>
                                    </p:animEffect>
                                    <p:anim calcmode="lin" valueType="num">
                                      <p:cBhvr additive="base">
                                        <p:cTn id="12" dur="500" decel="100000" fill="hold"/>
                                        <p:tgtEl>
                                          <p:spTgt spid="101"/>
                                        </p:tgtEl>
                                        <p:attrNameLst>
                                          <p:attrName>ppt_y</p:attrName>
                                        </p:attrNameLst>
                                      </p:cBhvr>
                                      <p:tavLst>
                                        <p:tav tm="0">
                                          <p:val>
                                            <p:strVal val="#ppt_y+0.06"/>
                                          </p:val>
                                        </p:tav>
                                        <p:tav tm="100000">
                                          <p:val>
                                            <p:strVal val="#ppt_y"/>
                                          </p:val>
                                        </p:tav>
                                      </p:tavLst>
                                    </p:anim>
                                  </p:childTnLst>
                                </p:cTn>
                              </p:par>
                              <p:par>
                                <p:cTn id="13" presetID="10" presetClass="entr" presetSubtype="0" fill="hold" grpId="0" nodeType="withEffect">
                                  <p:stCondLst>
                                    <p:cond delay="15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childTnLst>
                                </p:cTn>
                              </p:par>
                              <p:par>
                                <p:cTn id="16" presetID="42" presetClass="entr" presetSubtype="0" fill="hold" grpId="0" nodeType="withEffect">
                                  <p:stCondLst>
                                    <p:cond delay="300"/>
                                  </p:stCondLst>
                                  <p:childTnLst>
                                    <p:set>
                                      <p:cBhvr>
                                        <p:cTn id="17" dur="1" fill="hold">
                                          <p:stCondLst>
                                            <p:cond delay="0"/>
                                          </p:stCondLst>
                                        </p:cTn>
                                        <p:tgtEl>
                                          <p:spTgt spid="104"/>
                                        </p:tgtEl>
                                        <p:attrNameLst>
                                          <p:attrName>style.visibility</p:attrName>
                                        </p:attrNameLst>
                                      </p:cBhvr>
                                      <p:to>
                                        <p:strVal val="visible"/>
                                      </p:to>
                                    </p:set>
                                    <p:animEffect transition="in" filter="fade">
                                      <p:cBhvr>
                                        <p:cTn id="18" dur="500"/>
                                        <p:tgtEl>
                                          <p:spTgt spid="104"/>
                                        </p:tgtEl>
                                      </p:cBhvr>
                                    </p:animEffect>
                                    <p:anim calcmode="lin" valueType="num">
                                      <p:cBhvr additive="base">
                                        <p:cTn id="19" dur="500" decel="100000" fill="hold"/>
                                        <p:tgtEl>
                                          <p:spTgt spid="104"/>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300"/>
                                  </p:stCondLst>
                                  <p:childTnLst>
                                    <p:set>
                                      <p:cBhvr>
                                        <p:cTn id="21" dur="1" fill="hold">
                                          <p:stCondLst>
                                            <p:cond delay="0"/>
                                          </p:stCondLst>
                                        </p:cTn>
                                        <p:tgtEl>
                                          <p:spTgt spid="105"/>
                                        </p:tgtEl>
                                        <p:attrNameLst>
                                          <p:attrName>style.visibility</p:attrName>
                                        </p:attrNameLst>
                                      </p:cBhvr>
                                      <p:to>
                                        <p:strVal val="visible"/>
                                      </p:to>
                                    </p:set>
                                    <p:animEffect transition="in" filter="fade">
                                      <p:cBhvr>
                                        <p:cTn id="22" dur="500"/>
                                        <p:tgtEl>
                                          <p:spTgt spid="105"/>
                                        </p:tgtEl>
                                      </p:cBhvr>
                                    </p:animEffect>
                                    <p:anim calcmode="lin" valueType="num">
                                      <p:cBhvr additive="base">
                                        <p:cTn id="23" dur="500" decel="100000" fill="hold"/>
                                        <p:tgtEl>
                                          <p:spTgt spid="105"/>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300"/>
                                  </p:stCondLst>
                                  <p:childTnLst>
                                    <p:set>
                                      <p:cBhvr>
                                        <p:cTn id="25" dur="1" fill="hold">
                                          <p:stCondLst>
                                            <p:cond delay="0"/>
                                          </p:stCondLst>
                                        </p:cTn>
                                        <p:tgtEl>
                                          <p:spTgt spid="106"/>
                                        </p:tgtEl>
                                        <p:attrNameLst>
                                          <p:attrName>style.visibility</p:attrName>
                                        </p:attrNameLst>
                                      </p:cBhvr>
                                      <p:to>
                                        <p:strVal val="visible"/>
                                      </p:to>
                                    </p:set>
                                    <p:animEffect transition="in" filter="fade">
                                      <p:cBhvr>
                                        <p:cTn id="26" dur="500"/>
                                        <p:tgtEl>
                                          <p:spTgt spid="106"/>
                                        </p:tgtEl>
                                      </p:cBhvr>
                                    </p:animEffect>
                                    <p:anim calcmode="lin" valueType="num">
                                      <p:cBhvr additive="base">
                                        <p:cTn id="27" dur="500" decel="100000" fill="hold"/>
                                        <p:tgtEl>
                                          <p:spTgt spid="106"/>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300"/>
                                  </p:stCondLst>
                                  <p:childTnLst>
                                    <p:set>
                                      <p:cBhvr>
                                        <p:cTn id="29" dur="1" fill="hold">
                                          <p:stCondLst>
                                            <p:cond delay="0"/>
                                          </p:stCondLst>
                                        </p:cTn>
                                        <p:tgtEl>
                                          <p:spTgt spid="107"/>
                                        </p:tgtEl>
                                        <p:attrNameLst>
                                          <p:attrName>style.visibility</p:attrName>
                                        </p:attrNameLst>
                                      </p:cBhvr>
                                      <p:to>
                                        <p:strVal val="visible"/>
                                      </p:to>
                                    </p:set>
                                    <p:animEffect transition="in" filter="fade">
                                      <p:cBhvr>
                                        <p:cTn id="30" dur="500"/>
                                        <p:tgtEl>
                                          <p:spTgt spid="107"/>
                                        </p:tgtEl>
                                      </p:cBhvr>
                                    </p:animEffect>
                                    <p:anim calcmode="lin" valueType="num">
                                      <p:cBhvr additive="base">
                                        <p:cTn id="31" dur="500" decel="100000" fill="hold"/>
                                        <p:tgtEl>
                                          <p:spTgt spid="107"/>
                                        </p:tgtEl>
                                        <p:attrNameLst>
                                          <p:attrName>ppt_y</p:attrName>
                                        </p:attrNameLst>
                                      </p:cBhvr>
                                      <p:tavLst>
                                        <p:tav tm="0">
                                          <p:val>
                                            <p:strVal val="#ppt_y+0.06"/>
                                          </p:val>
                                        </p:tav>
                                        <p:tav tm="100000">
                                          <p:val>
                                            <p:strVal val="#ppt_y"/>
                                          </p:val>
                                        </p:tav>
                                      </p:tavLst>
                                    </p:anim>
                                  </p:childTnLst>
                                </p:cTn>
                              </p:par>
                              <p:par>
                                <p:cTn id="32" presetID="42" presetClass="entr" presetSubtype="0" fill="hold" grpId="0" nodeType="withEffect">
                                  <p:stCondLst>
                                    <p:cond delay="300"/>
                                  </p:stCondLst>
                                  <p:childTnLst>
                                    <p:set>
                                      <p:cBhvr>
                                        <p:cTn id="33" dur="1" fill="hold">
                                          <p:stCondLst>
                                            <p:cond delay="0"/>
                                          </p:stCondLst>
                                        </p:cTn>
                                        <p:tgtEl>
                                          <p:spTgt spid="108"/>
                                        </p:tgtEl>
                                        <p:attrNameLst>
                                          <p:attrName>style.visibility</p:attrName>
                                        </p:attrNameLst>
                                      </p:cBhvr>
                                      <p:to>
                                        <p:strVal val="visible"/>
                                      </p:to>
                                    </p:set>
                                    <p:animEffect transition="in" filter="fade">
                                      <p:cBhvr>
                                        <p:cTn id="34" dur="500"/>
                                        <p:tgtEl>
                                          <p:spTgt spid="108"/>
                                        </p:tgtEl>
                                      </p:cBhvr>
                                    </p:animEffect>
                                    <p:anim calcmode="lin" valueType="num">
                                      <p:cBhvr additive="base">
                                        <p:cTn id="35" dur="500" decel="100000" fill="hold"/>
                                        <p:tgtEl>
                                          <p:spTgt spid="108"/>
                                        </p:tgtEl>
                                        <p:attrNameLst>
                                          <p:attrName>ppt_y</p:attrName>
                                        </p:attrNameLst>
                                      </p:cBhvr>
                                      <p:tavLst>
                                        <p:tav tm="0">
                                          <p:val>
                                            <p:strVal val="#ppt_y+0.06"/>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53" presetClass="entr" presetSubtype="16" fill="hold" grpId="0" nodeType="clickEffect">
                                  <p:stCondLst>
                                    <p:cond delay="0"/>
                                  </p:stCondLst>
                                  <p:childTnLst>
                                    <p:set>
                                      <p:cBhvr>
                                        <p:cTn id="39" dur="1" fill="hold">
                                          <p:stCondLst>
                                            <p:cond delay="0"/>
                                          </p:stCondLst>
                                        </p:cTn>
                                        <p:tgtEl>
                                          <p:spTgt spid="109"/>
                                        </p:tgtEl>
                                        <p:attrNameLst>
                                          <p:attrName>style.visibility</p:attrName>
                                        </p:attrNameLst>
                                      </p:cBhvr>
                                      <p:to>
                                        <p:strVal val="visible"/>
                                      </p:to>
                                    </p:set>
                                    <p:anim calcmode="lin" valueType="num">
                                      <p:cBhvr additive="base">
                                        <p:cTn id="40" dur="50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41" dur="500" decel="100000" fill="hold"/>
                                        <p:tgtEl>
                                          <p:spTgt spid="109"/>
                                        </p:tgtEl>
                                        <p:attrNameLst>
                                          <p:attrName>ppt_h</p:attrName>
                                        </p:attrNameLst>
                                      </p:cBhvr>
                                      <p:tavLst>
                                        <p:tav tm="0">
                                          <p:val>
                                            <p:strVal val="#ppt_h*0.3"/>
                                          </p:val>
                                        </p:tav>
                                        <p:tav tm="100000">
                                          <p:val>
                                            <p:strVal val="#ppt_h*1.08"/>
                                          </p:val>
                                        </p:tav>
                                      </p:tavLst>
                                    </p:anim>
                                    <p:animEffect transition="in" filter="fade">
                                      <p:cBhvr>
                                        <p:cTn id="42" dur="250"/>
                                        <p:tgtEl>
                                          <p:spTgt spid="109"/>
                                        </p:tgtEl>
                                      </p:cBhvr>
                                    </p:animEffect>
                                    <p:anim calcmode="lin" valueType="num">
                                      <p:cBhvr additive="base">
                                        <p:cTn id="43" dur="160" fill="hold">
                                          <p:stCondLst>
                                            <p:cond delay="500"/>
                                          </p:stCondLst>
                                        </p:cTn>
                                        <p:tgtEl>
                                          <p:spTgt spid="109"/>
                                        </p:tgtEl>
                                        <p:attrNameLst>
                                          <p:attrName>ppt_w</p:attrName>
                                        </p:attrNameLst>
                                      </p:cBhvr>
                                      <p:tavLst>
                                        <p:tav tm="0">
                                          <p:val>
                                            <p:strVal val="#ppt_w*1.08"/>
                                          </p:val>
                                        </p:tav>
                                        <p:tav tm="100000">
                                          <p:val>
                                            <p:strVal val="#ppt_w"/>
                                          </p:val>
                                        </p:tav>
                                      </p:tavLst>
                                    </p:anim>
                                    <p:anim calcmode="lin" valueType="num">
                                      <p:cBhvr additive="base">
                                        <p:cTn id="44" dur="160" fill="hold">
                                          <p:stCondLst>
                                            <p:cond delay="500"/>
                                          </p:stCondLst>
                                        </p:cTn>
                                        <p:tgtEl>
                                          <p:spTgt spid="109"/>
                                        </p:tgtEl>
                                        <p:attrNameLst>
                                          <p:attrName>ppt_h</p:attrName>
                                        </p:attrNameLst>
                                      </p:cBhvr>
                                      <p:tavLst>
                                        <p:tav tm="0">
                                          <p:val>
                                            <p:strVal val="#ppt_h*1.08"/>
                                          </p:val>
                                        </p:tav>
                                        <p:tav tm="100000">
                                          <p:val>
                                            <p:strVal val="#ppt_h"/>
                                          </p:val>
                                        </p:tav>
                                      </p:tavLst>
                                    </p:anim>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nodeType="clickEffect">
                                  <p:stCondLst>
                                    <p:cond delay="0"/>
                                  </p:stCondLst>
                                  <p:childTnLst>
                                    <p:set>
                                      <p:cBhvr>
                                        <p:cTn id="48" dur="1" fill="hold">
                                          <p:stCondLst>
                                            <p:cond delay="0"/>
                                          </p:stCondLst>
                                        </p:cTn>
                                        <p:tgtEl>
                                          <p:spTgt spid="110"/>
                                        </p:tgtEl>
                                        <p:attrNameLst>
                                          <p:attrName>style.visibility</p:attrName>
                                        </p:attrNameLst>
                                      </p:cBhvr>
                                      <p:to>
                                        <p:strVal val="visible"/>
                                      </p:to>
                                    </p:set>
                                    <p:animEffect transition="in" filter="wipe(left)">
                                      <p:cBhvr>
                                        <p:cTn id="49" dur="500"/>
                                        <p:tgtEl>
                                          <p:spTgt spid="110"/>
                                        </p:tgtEl>
                                      </p:cBhvr>
                                    </p:animEffect>
                                  </p:childTnLst>
                                </p:cTn>
                              </p:par>
                              <p:par>
                                <p:cTn id="50" presetID="42" presetClass="entr" presetSubtype="0" fill="hold" grpId="0" nodeType="withEffect">
                                  <p:stCondLst>
                                    <p:cond delay="200"/>
                                  </p:stCondLst>
                                  <p:childTnLst>
                                    <p:set>
                                      <p:cBhvr>
                                        <p:cTn id="51" dur="1" fill="hold">
                                          <p:stCondLst>
                                            <p:cond delay="0"/>
                                          </p:stCondLst>
                                        </p:cTn>
                                        <p:tgtEl>
                                          <p:spTgt spid="111"/>
                                        </p:tgtEl>
                                        <p:attrNameLst>
                                          <p:attrName>style.visibility</p:attrName>
                                        </p:attrNameLst>
                                      </p:cBhvr>
                                      <p:to>
                                        <p:strVal val="visible"/>
                                      </p:to>
                                    </p:set>
                                    <p:animEffect transition="in" filter="fade">
                                      <p:cBhvr>
                                        <p:cTn id="52" dur="500"/>
                                        <p:tgtEl>
                                          <p:spTgt spid="111"/>
                                        </p:tgtEl>
                                      </p:cBhvr>
                                    </p:animEffect>
                                    <p:anim calcmode="lin" valueType="num">
                                      <p:cBhvr additive="base">
                                        <p:cTn id="53" dur="500" decel="100000" fill="hold"/>
                                        <p:tgtEl>
                                          <p:spTgt spid="111"/>
                                        </p:tgtEl>
                                        <p:attrNameLst>
                                          <p:attrName>ppt_y</p:attrName>
                                        </p:attrNameLst>
                                      </p:cBhvr>
                                      <p:tavLst>
                                        <p:tav tm="0">
                                          <p:val>
                                            <p:strVal val="#ppt_y+0.06"/>
                                          </p:val>
                                        </p:tav>
                                        <p:tav tm="100000">
                                          <p:val>
                                            <p:strVal val="#ppt_y"/>
                                          </p:val>
                                        </p:tav>
                                      </p:tavLst>
                                    </p:anim>
                                  </p:childTnLst>
                                </p:cTn>
                              </p:par>
                              <p:par>
                                <p:cTn id="54" presetID="42" presetClass="entr" presetSubtype="0" fill="hold" grpId="0" nodeType="withEffect">
                                  <p:stCondLst>
                                    <p:cond delay="200"/>
                                  </p:stCondLst>
                                  <p:childTnLst>
                                    <p:set>
                                      <p:cBhvr>
                                        <p:cTn id="55" dur="1" fill="hold">
                                          <p:stCondLst>
                                            <p:cond delay="0"/>
                                          </p:stCondLst>
                                        </p:cTn>
                                        <p:tgtEl>
                                          <p:spTgt spid="112"/>
                                        </p:tgtEl>
                                        <p:attrNameLst>
                                          <p:attrName>style.visibility</p:attrName>
                                        </p:attrNameLst>
                                      </p:cBhvr>
                                      <p:to>
                                        <p:strVal val="visible"/>
                                      </p:to>
                                    </p:set>
                                    <p:animEffect transition="in" filter="fade">
                                      <p:cBhvr>
                                        <p:cTn id="56" dur="500"/>
                                        <p:tgtEl>
                                          <p:spTgt spid="112"/>
                                        </p:tgtEl>
                                      </p:cBhvr>
                                    </p:animEffect>
                                    <p:anim calcmode="lin" valueType="num">
                                      <p:cBhvr additive="base">
                                        <p:cTn id="57" dur="500" decel="100000" fill="hold"/>
                                        <p:tgtEl>
                                          <p:spTgt spid="112"/>
                                        </p:tgtEl>
                                        <p:attrNameLst>
                                          <p:attrName>ppt_y</p:attrName>
                                        </p:attrNameLst>
                                      </p:cBhvr>
                                      <p:tavLst>
                                        <p:tav tm="0">
                                          <p:val>
                                            <p:strVal val="#ppt_y+0.06"/>
                                          </p:val>
                                        </p:tav>
                                        <p:tav tm="100000">
                                          <p:val>
                                            <p:strVal val="#ppt_y"/>
                                          </p:val>
                                        </p:tav>
                                      </p:tavLst>
                                    </p:anim>
                                  </p:childTnLst>
                                </p:cTn>
                              </p:par>
                              <p:par>
                                <p:cTn id="58" presetID="42" presetClass="entr" presetSubtype="0" fill="hold" grpId="0" nodeType="withEffect">
                                  <p:stCondLst>
                                    <p:cond delay="400"/>
                                  </p:stCondLst>
                                  <p:childTnLst>
                                    <p:set>
                                      <p:cBhvr>
                                        <p:cTn id="59" dur="1" fill="hold">
                                          <p:stCondLst>
                                            <p:cond delay="0"/>
                                          </p:stCondLst>
                                        </p:cTn>
                                        <p:tgtEl>
                                          <p:spTgt spid="113"/>
                                        </p:tgtEl>
                                        <p:attrNameLst>
                                          <p:attrName>style.visibility</p:attrName>
                                        </p:attrNameLst>
                                      </p:cBhvr>
                                      <p:to>
                                        <p:strVal val="visible"/>
                                      </p:to>
                                    </p:set>
                                    <p:animEffect transition="in" filter="fade">
                                      <p:cBhvr>
                                        <p:cTn id="60" dur="500"/>
                                        <p:tgtEl>
                                          <p:spTgt spid="113"/>
                                        </p:tgtEl>
                                      </p:cBhvr>
                                    </p:animEffect>
                                    <p:anim calcmode="lin" valueType="num">
                                      <p:cBhvr additive="base">
                                        <p:cTn id="61" dur="500" decel="100000" fill="hold"/>
                                        <p:tgtEl>
                                          <p:spTgt spid="113"/>
                                        </p:tgtEl>
                                        <p:attrNameLst>
                                          <p:attrName>ppt_x</p:attrName>
                                        </p:attrNameLst>
                                      </p:cBhvr>
                                      <p:tavLst>
                                        <p:tav tm="0">
                                          <p:val>
                                            <p:strVal val="#ppt_x+0.05"/>
                                          </p:val>
                                        </p:tav>
                                        <p:tav tm="100000">
                                          <p:val>
                                            <p:strVal val="#ppt_x"/>
                                          </p:val>
                                        </p:tav>
                                      </p:tavLst>
                                    </p:anim>
                                  </p:childTnLst>
                                </p:cTn>
                              </p:par>
                              <p:par>
                                <p:cTn id="62" presetID="42" presetClass="entr" presetSubtype="0" fill="hold" grpId="0" nodeType="withEffect">
                                  <p:stCondLst>
                                    <p:cond delay="600"/>
                                  </p:stCondLst>
                                  <p:childTnLst>
                                    <p:set>
                                      <p:cBhvr>
                                        <p:cTn id="63" dur="1" fill="hold">
                                          <p:stCondLst>
                                            <p:cond delay="0"/>
                                          </p:stCondLst>
                                        </p:cTn>
                                        <p:tgtEl>
                                          <p:spTgt spid="114"/>
                                        </p:tgtEl>
                                        <p:attrNameLst>
                                          <p:attrName>style.visibility</p:attrName>
                                        </p:attrNameLst>
                                      </p:cBhvr>
                                      <p:to>
                                        <p:strVal val="visible"/>
                                      </p:to>
                                    </p:set>
                                    <p:animEffect transition="in" filter="fade">
                                      <p:cBhvr>
                                        <p:cTn id="64" dur="500"/>
                                        <p:tgtEl>
                                          <p:spTgt spid="114"/>
                                        </p:tgtEl>
                                      </p:cBhvr>
                                    </p:animEffect>
                                    <p:anim calcmode="lin" valueType="num">
                                      <p:cBhvr additive="base">
                                        <p:cTn id="65" dur="500" decel="100000" fill="hold"/>
                                        <p:tgtEl>
                                          <p:spTgt spid="114"/>
                                        </p:tgtEl>
                                        <p:attrNameLst>
                                          <p:attrName>ppt_x</p:attrName>
                                        </p:attrNameLst>
                                      </p:cBhvr>
                                      <p:tavLst>
                                        <p:tav tm="0">
                                          <p:val>
                                            <p:strVal val="#ppt_x+0.05"/>
                                          </p:val>
                                        </p:tav>
                                        <p:tav tm="100000">
                                          <p:val>
                                            <p:strVal val="#ppt_x"/>
                                          </p:val>
                                        </p:tav>
                                      </p:tavLst>
                                    </p:anim>
                                  </p:childTnLst>
                                </p:cTn>
                              </p:par>
                              <p:par>
                                <p:cTn id="66" presetID="42" presetClass="entr" presetSubtype="0" fill="hold" grpId="0" nodeType="withEffect">
                                  <p:stCondLst>
                                    <p:cond delay="800"/>
                                  </p:stCondLst>
                                  <p:childTnLst>
                                    <p:set>
                                      <p:cBhvr>
                                        <p:cTn id="67" dur="1" fill="hold">
                                          <p:stCondLst>
                                            <p:cond delay="0"/>
                                          </p:stCondLst>
                                        </p:cTn>
                                        <p:tgtEl>
                                          <p:spTgt spid="115"/>
                                        </p:tgtEl>
                                        <p:attrNameLst>
                                          <p:attrName>style.visibility</p:attrName>
                                        </p:attrNameLst>
                                      </p:cBhvr>
                                      <p:to>
                                        <p:strVal val="visible"/>
                                      </p:to>
                                    </p:set>
                                    <p:animEffect transition="in" filter="fade">
                                      <p:cBhvr>
                                        <p:cTn id="68" dur="500"/>
                                        <p:tgtEl>
                                          <p:spTgt spid="115"/>
                                        </p:tgtEl>
                                      </p:cBhvr>
                                    </p:animEffect>
                                    <p:anim calcmode="lin" valueType="num">
                                      <p:cBhvr additive="base">
                                        <p:cTn id="69" dur="500" decel="100000" fill="hold"/>
                                        <p:tgtEl>
                                          <p:spTgt spid="115"/>
                                        </p:tgtEl>
                                        <p:attrNameLst>
                                          <p:attrName>ppt_x</p:attrName>
                                        </p:attrNameLst>
                                      </p:cBhvr>
                                      <p:tavLst>
                                        <p:tav tm="0">
                                          <p:val>
                                            <p:strVal val="#ppt_x+0.05"/>
                                          </p:val>
                                        </p:tav>
                                        <p:tav tm="100000">
                                          <p:val>
                                            <p:strVal val="#ppt_x"/>
                                          </p:val>
                                        </p:tav>
                                      </p:tavLst>
                                    </p:anim>
                                  </p:childTnLst>
                                </p:cTn>
                              </p:par>
                              <p:par>
                                <p:cTn id="70" presetID="10" presetClass="entr" presetSubtype="0" fill="hold" grpId="0" nodeType="withEffect">
                                  <p:stCondLst>
                                    <p:cond delay="1000"/>
                                  </p:stCondLst>
                                  <p:childTnLst>
                                    <p:set>
                                      <p:cBhvr>
                                        <p:cTn id="71" dur="1" fill="hold">
                                          <p:stCondLst>
                                            <p:cond delay="0"/>
                                          </p:stCondLst>
                                        </p:cTn>
                                        <p:tgtEl>
                                          <p:spTgt spid="116"/>
                                        </p:tgtEl>
                                        <p:attrNameLst>
                                          <p:attrName>style.visibility</p:attrName>
                                        </p:attrNameLst>
                                      </p:cBhvr>
                                      <p:to>
                                        <p:strVal val="visible"/>
                                      </p:to>
                                    </p:set>
                                    <p:animEffect transition="in" filter="fade">
                                      <p:cBhvr>
                                        <p:cTn id="72" dur="5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1" grpId="0" animBg="1"/>
      <p:bldP spid="112" grpId="0" animBg="1"/>
      <p:bldP spid="113" grpId="0" animBg="1"/>
      <p:bldP spid="114" grpId="0" animBg="1"/>
      <p:bldP spid="115" grpId="0" animBg="1"/>
      <p:bldP spid="116"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CHAPTER 04</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211</a:t>
            </a:r>
            <a:endParaRPr lang="en-US" sz="850" dirty="0"/>
          </a:p>
        </p:txBody>
      </p:sp>
      <p:sp>
        <p:nvSpPr>
          <p:cNvPr id="101" name="!!bignum"/>
          <p:cNvSpPr txBox="1"/>
          <p:nvPr/>
        </p:nvSpPr>
        <p:spPr>
          <a:xfrm>
            <a:off x="497434" y="960120"/>
            <a:ext cx="2926080" cy="1463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FBBF24"/>
                </a:solidFill>
                <a:latin typeface="Segoe UI"/>
                <a:ea typeface="Segoe UI"/>
                <a:cs typeface="Segoe UI"/>
              </a:rPr>
              <a:t>04</a:t>
            </a:r>
            <a:endParaRPr lang="en-US" sz="9600" dirty="0"/>
          </a:p>
        </p:txBody>
      </p:sp>
      <p:sp>
        <p:nvSpPr>
          <p:cNvPr id="102" name="s102"/>
          <p:cNvSpPr txBox="1"/>
          <p:nvPr/>
        </p:nvSpPr>
        <p:spPr>
          <a:xfrm>
            <a:off x="543154" y="2377440"/>
            <a:ext cx="10515600" cy="8229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The 12 Agile Principles</a:t>
            </a:r>
            <a:endParaRPr lang="en-US" sz="4000" dirty="0"/>
          </a:p>
        </p:txBody>
      </p:sp>
      <p:sp>
        <p:nvSpPr>
          <p:cNvPr id="103" name="s103"/>
          <p:cNvSpPr txBox="1"/>
          <p:nvPr/>
        </p:nvSpPr>
        <p:spPr>
          <a:xfrm>
            <a:off x="543154" y="3154680"/>
            <a:ext cx="1051560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0" dirty="0">
                <a:solidFill>
                  <a:srgbClr val="CBD5E1"/>
                </a:solidFill>
                <a:latin typeface="Segoe UI"/>
                <a:ea typeface="Segoe UI"/>
                <a:cs typeface="Segoe UI"/>
              </a:rPr>
              <a:t>Values tell you WHAT to prefer. Principles tell you HOW to act.</a:t>
            </a:r>
            <a:endParaRPr lang="en-US" sz="1600" dirty="0"/>
          </a:p>
        </p:txBody>
      </p:sp>
      <p:sp>
        <p:nvSpPr>
          <p:cNvPr id="104" name="s104"/>
          <p:cNvSpPr/>
          <p:nvPr/>
        </p:nvSpPr>
        <p:spPr>
          <a:xfrm>
            <a:off x="543154" y="3840480"/>
            <a:ext cx="3513125" cy="960120"/>
          </a:xfrm>
          <a:prstGeom prst="roundRect">
            <a:avLst>
              <a:gd name="adj" fmla="val 10000"/>
            </a:avLst>
          </a:prstGeom>
          <a:solidFill>
            <a:srgbClr val="111B2E"/>
          </a:solidFill>
          <a:ln w="12700">
            <a:solidFill>
              <a:srgbClr val="FBBF24"/>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BBF24"/>
                </a:solidFill>
                <a:latin typeface="Segoe UI"/>
                <a:ea typeface="Segoe UI"/>
                <a:cs typeface="Segoe UI"/>
              </a:rPr>
              <a:t>12 principles</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One teaching pattern for each.</a:t>
            </a:r>
            <a:endParaRPr lang="en-US" sz="1200" dirty="0"/>
          </a:p>
        </p:txBody>
      </p:sp>
      <p:sp>
        <p:nvSpPr>
          <p:cNvPr id="105" name="s105"/>
          <p:cNvSpPr/>
          <p:nvPr/>
        </p:nvSpPr>
        <p:spPr>
          <a:xfrm>
            <a:off x="4330598" y="3840480"/>
            <a:ext cx="3513125" cy="960120"/>
          </a:xfrm>
          <a:prstGeom prst="roundRect">
            <a:avLst>
              <a:gd name="adj" fmla="val 10000"/>
            </a:avLst>
          </a:prstGeom>
          <a:solidFill>
            <a:srgbClr val="111B2E"/>
          </a:solidFill>
          <a:ln w="12700">
            <a:solidFill>
              <a:srgbClr val="FBBF24"/>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BBF24"/>
                </a:solidFill>
                <a:latin typeface="Segoe UI"/>
                <a:ea typeface="Segoe UI"/>
                <a:cs typeface="Segoe UI"/>
              </a:rPr>
              <a:t>Define → Ask → Case</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Understand, don't memorize.</a:t>
            </a:r>
            <a:endParaRPr lang="en-US" sz="1200" dirty="0"/>
          </a:p>
        </p:txBody>
      </p:sp>
      <p:sp>
        <p:nvSpPr>
          <p:cNvPr id="106" name="s106"/>
          <p:cNvSpPr/>
          <p:nvPr/>
        </p:nvSpPr>
        <p:spPr>
          <a:xfrm>
            <a:off x="8118043" y="3840480"/>
            <a:ext cx="3513125" cy="960120"/>
          </a:xfrm>
          <a:prstGeom prst="roundRect">
            <a:avLst>
              <a:gd name="adj" fmla="val 10000"/>
            </a:avLst>
          </a:prstGeom>
          <a:solidFill>
            <a:srgbClr val="111B2E"/>
          </a:solidFill>
          <a:ln w="12700">
            <a:solidFill>
              <a:srgbClr val="FBBF24"/>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BBF24"/>
                </a:solidFill>
                <a:latin typeface="Segoe UI"/>
                <a:ea typeface="Segoe UI"/>
                <a:cs typeface="Segoe UI"/>
              </a:rPr>
              <a:t>Food Delivery</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Same product, every case.</a:t>
            </a:r>
            <a:endParaRPr lang="en-US" sz="1200" dirty="0"/>
          </a:p>
        </p:txBody>
      </p:sp>
      <p:sp>
        <p:nvSpPr>
          <p:cNvPr id="107" name="!!chap0"/>
          <p:cNvSpPr/>
          <p:nvPr/>
        </p:nvSpPr>
        <p:spPr>
          <a:xfrm>
            <a:off x="54315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01  </a:t>
            </a:r>
            <a:r>
              <a:rPr lang="en-US" sz="1100" b="0" dirty="0">
                <a:solidFill>
                  <a:srgbClr val="94A3B8"/>
                </a:solidFill>
                <a:latin typeface="Segoe UI"/>
                <a:ea typeface="Segoe UI"/>
                <a:cs typeface="Segoe UI"/>
              </a:rPr>
              <a:t>Methodologies</a:t>
            </a:r>
            <a:endParaRPr lang="en-US" sz="1100" dirty="0"/>
          </a:p>
        </p:txBody>
      </p:sp>
      <p:sp>
        <p:nvSpPr>
          <p:cNvPr id="108" name="!!chap1"/>
          <p:cNvSpPr/>
          <p:nvPr/>
        </p:nvSpPr>
        <p:spPr>
          <a:xfrm>
            <a:off x="240944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02  </a:t>
            </a:r>
            <a:r>
              <a:rPr lang="en-US" sz="1100" b="0" dirty="0">
                <a:solidFill>
                  <a:srgbClr val="94A3B8"/>
                </a:solidFill>
                <a:latin typeface="Segoe UI"/>
                <a:ea typeface="Segoe UI"/>
                <a:cs typeface="Segoe UI"/>
              </a:rPr>
              <a:t>Agile mindset</a:t>
            </a:r>
            <a:endParaRPr lang="en-US" sz="1100" dirty="0"/>
          </a:p>
        </p:txBody>
      </p:sp>
      <p:sp>
        <p:nvSpPr>
          <p:cNvPr id="109" name="!!chap2"/>
          <p:cNvSpPr/>
          <p:nvPr/>
        </p:nvSpPr>
        <p:spPr>
          <a:xfrm>
            <a:off x="427573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03  </a:t>
            </a:r>
            <a:r>
              <a:rPr lang="en-US" sz="1100" b="0" dirty="0">
                <a:solidFill>
                  <a:srgbClr val="94A3B8"/>
                </a:solidFill>
                <a:latin typeface="Segoe UI"/>
                <a:ea typeface="Segoe UI"/>
                <a:cs typeface="Segoe UI"/>
              </a:rPr>
              <a:t>Manifesto values</a:t>
            </a:r>
            <a:endParaRPr lang="en-US" sz="1100" dirty="0"/>
          </a:p>
        </p:txBody>
      </p:sp>
      <p:sp>
        <p:nvSpPr>
          <p:cNvPr id="110" name="!!chap3"/>
          <p:cNvSpPr/>
          <p:nvPr/>
        </p:nvSpPr>
        <p:spPr>
          <a:xfrm>
            <a:off x="6142025" y="5074920"/>
            <a:ext cx="1756562" cy="457200"/>
          </a:xfrm>
          <a:prstGeom prst="roundRect">
            <a:avLst>
              <a:gd name="adj" fmla="val 50000"/>
            </a:avLst>
          </a:prstGeom>
          <a:solidFill>
            <a:srgbClr val="FBBF24"/>
          </a:solidFill>
          <a:ln w="12700">
            <a:solidFill>
              <a:srgbClr val="FBBF24"/>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04  12 principles</a:t>
            </a:r>
            <a:endParaRPr lang="en-US" sz="1100" dirty="0"/>
          </a:p>
        </p:txBody>
      </p:sp>
      <p:sp>
        <p:nvSpPr>
          <p:cNvPr id="111" name="!!chap4"/>
          <p:cNvSpPr/>
          <p:nvPr/>
        </p:nvSpPr>
        <p:spPr>
          <a:xfrm>
            <a:off x="800831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05  </a:t>
            </a:r>
            <a:r>
              <a:rPr lang="en-US" sz="1100" b="0" dirty="0">
                <a:solidFill>
                  <a:srgbClr val="94A3B8"/>
                </a:solidFill>
                <a:latin typeface="Segoe UI"/>
                <a:ea typeface="Segoe UI"/>
                <a:cs typeface="Segoe UI"/>
              </a:rPr>
              <a:t>Scrum: one Sprint</a:t>
            </a:r>
            <a:endParaRPr lang="en-US" sz="1100" dirty="0"/>
          </a:p>
        </p:txBody>
      </p:sp>
      <p:sp>
        <p:nvSpPr>
          <p:cNvPr id="112" name="!!chap5"/>
          <p:cNvSpPr/>
          <p:nvPr/>
        </p:nvSpPr>
        <p:spPr>
          <a:xfrm>
            <a:off x="9874606"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472B6"/>
                </a:solidFill>
                <a:latin typeface="Segoe UI"/>
                <a:ea typeface="Segoe UI"/>
                <a:cs typeface="Segoe UI"/>
              </a:rPr>
              <a:t>06  </a:t>
            </a:r>
            <a:r>
              <a:rPr lang="en-US" sz="1100" b="0" dirty="0">
                <a:solidFill>
                  <a:srgbClr val="94A3B8"/>
                </a:solidFill>
                <a:latin typeface="Segoe UI"/>
                <a:ea typeface="Segoe UI"/>
                <a:cs typeface="Segoe UI"/>
              </a:rPr>
              <a:t>Practice lab</a:t>
            </a:r>
            <a:endParaRPr lang="en-US" sz="11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5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50" decel="100000" fill="hold"/>
                                        <p:tgtEl>
                                          <p:spTgt spid="101"/>
                                        </p:tgtEl>
                                        <p:attrNameLst>
                                          <p:attrName>ppt_h</p:attrName>
                                        </p:attrNameLst>
                                      </p:cBhvr>
                                      <p:tavLst>
                                        <p:tav tm="0">
                                          <p:val>
                                            <p:strVal val="#ppt_h*0.3"/>
                                          </p:val>
                                        </p:tav>
                                        <p:tav tm="100000">
                                          <p:val>
                                            <p:strVal val="#ppt_h*1.08"/>
                                          </p:val>
                                        </p:tav>
                                      </p:tavLst>
                                    </p:anim>
                                    <p:animEffect transition="in" filter="fade">
                                      <p:cBhvr>
                                        <p:cTn id="9" dur="275"/>
                                        <p:tgtEl>
                                          <p:spTgt spid="101"/>
                                        </p:tgtEl>
                                      </p:cBhvr>
                                    </p:animEffect>
                                    <p:anim calcmode="lin" valueType="num">
                                      <p:cBhvr additive="base">
                                        <p:cTn id="10" dur="160" fill="hold">
                                          <p:stCondLst>
                                            <p:cond delay="55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5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4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50"/>
                                        <p:tgtEl>
                                          <p:spTgt spid="102"/>
                                        </p:tgtEl>
                                      </p:cBhvr>
                                    </p:animEffect>
                                    <p:anim calcmode="lin" valueType="num">
                                      <p:cBhvr additive="base">
                                        <p:cTn id="15" dur="55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8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50"/>
                                        <p:tgtEl>
                                          <p:spTgt spid="103"/>
                                        </p:tgtEl>
                                      </p:cBhvr>
                                    </p:animEffect>
                                    <p:anim calcmode="lin" valueType="num">
                                      <p:cBhvr additive="base">
                                        <p:cTn id="19" dur="55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42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50"/>
                                        <p:tgtEl>
                                          <p:spTgt spid="104"/>
                                        </p:tgtEl>
                                      </p:cBhvr>
                                    </p:animEffect>
                                    <p:anim calcmode="lin" valueType="num">
                                      <p:cBhvr additive="base">
                                        <p:cTn id="23" dur="55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56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50"/>
                                        <p:tgtEl>
                                          <p:spTgt spid="105"/>
                                        </p:tgtEl>
                                      </p:cBhvr>
                                    </p:animEffect>
                                    <p:anim calcmode="lin" valueType="num">
                                      <p:cBhvr additive="base">
                                        <p:cTn id="27" dur="55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70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50"/>
                                        <p:tgtEl>
                                          <p:spTgt spid="106"/>
                                        </p:tgtEl>
                                      </p:cBhvr>
                                    </p:animEffect>
                                    <p:anim calcmode="lin" valueType="num">
                                      <p:cBhvr additive="base">
                                        <p:cTn id="31" dur="550" decel="100000" fill="hold"/>
                                        <p:tgtEl>
                                          <p:spTgt spid="106"/>
                                        </p:tgtEl>
                                        <p:attrNameLst>
                                          <p:attrName>ppt_y</p:attrName>
                                        </p:attrNameLst>
                                      </p:cBhvr>
                                      <p:tavLst>
                                        <p:tav tm="0">
                                          <p:val>
                                            <p:strVal val="#ppt_y+0.06"/>
                                          </p:val>
                                        </p:tav>
                                        <p:tav tm="100000">
                                          <p:val>
                                            <p:strVal val="#ppt_y"/>
                                          </p:val>
                                        </p:tav>
                                      </p:tavLst>
                                    </p:anim>
                                  </p:childTnLst>
                                </p:cTn>
                              </p:par>
                              <p:par>
                                <p:cTn id="32" presetID="10" presetClass="entr" presetSubtype="0" fill="hold" grpId="0" nodeType="withEffect">
                                  <p:stCondLst>
                                    <p:cond delay="85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childTnLst>
                                </p:cTn>
                              </p:par>
                              <p:par>
                                <p:cTn id="35" presetID="10" presetClass="entr" presetSubtype="0" fill="hold" grpId="0" nodeType="withEffect">
                                  <p:stCondLst>
                                    <p:cond delay="85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85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85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85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85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MAP</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All 12 Principles: The Map</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212</a:t>
            </a:r>
            <a:endParaRPr lang="en-US" sz="850" dirty="0"/>
          </a:p>
        </p:txBody>
      </p:sp>
      <p:sp>
        <p:nvSpPr>
          <p:cNvPr id="101" name="s101"/>
          <p:cNvSpPr/>
          <p:nvPr/>
        </p:nvSpPr>
        <p:spPr>
          <a:xfrm>
            <a:off x="543154" y="1783080"/>
            <a:ext cx="2634844" cy="1069848"/>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txBox="1"/>
          <p:nvPr/>
        </p:nvSpPr>
        <p:spPr>
          <a:xfrm>
            <a:off x="726034" y="1892808"/>
            <a:ext cx="7315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1" dirty="0">
                <a:solidFill>
                  <a:srgbClr val="FBBF24"/>
                </a:solidFill>
                <a:latin typeface="Segoe UI"/>
                <a:ea typeface="Segoe UI"/>
                <a:cs typeface="Segoe UI"/>
              </a:rPr>
              <a:t>01</a:t>
            </a:r>
            <a:endParaRPr lang="en-US" sz="1600" dirty="0"/>
          </a:p>
        </p:txBody>
      </p:sp>
      <p:sp>
        <p:nvSpPr>
          <p:cNvPr id="103" name="s103"/>
          <p:cNvSpPr/>
          <p:nvPr/>
        </p:nvSpPr>
        <p:spPr>
          <a:xfrm>
            <a:off x="2556205" y="1911096"/>
            <a:ext cx="438912" cy="438912"/>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04" name="img104"/>
          <p:cNvPicPr>
            <a:picLocks noChangeAspect="1"/>
          </p:cNvPicPr>
          <p:nvPr/>
        </p:nvPicPr>
        <p:blipFill>
          <a:blip r:embed="rId4"/>
          <a:stretch>
            <a:fillRect/>
          </a:stretch>
        </p:blipFill>
        <p:spPr>
          <a:xfrm>
            <a:off x="2661544" y="2016435"/>
            <a:ext cx="228234" cy="228234"/>
          </a:xfrm>
          <a:prstGeom prst="rect">
            <a:avLst/>
          </a:prstGeom>
        </p:spPr>
      </p:pic>
      <p:sp>
        <p:nvSpPr>
          <p:cNvPr id="105" name="s105"/>
          <p:cNvSpPr txBox="1"/>
          <p:nvPr/>
        </p:nvSpPr>
        <p:spPr>
          <a:xfrm>
            <a:off x="726034" y="2313432"/>
            <a:ext cx="231480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FFFFF"/>
                </a:solidFill>
                <a:latin typeface="Segoe UI"/>
                <a:ea typeface="Segoe UI"/>
                <a:cs typeface="Segoe UI"/>
              </a:rPr>
              <a:t>Satisfy the Customer</a:t>
            </a:r>
            <a:endParaRPr lang="en-US" sz="1300" dirty="0"/>
          </a:p>
        </p:txBody>
      </p:sp>
      <p:sp>
        <p:nvSpPr>
          <p:cNvPr id="106" name="s106"/>
          <p:cNvSpPr/>
          <p:nvPr/>
        </p:nvSpPr>
        <p:spPr>
          <a:xfrm>
            <a:off x="3360877" y="1783080"/>
            <a:ext cx="2634844" cy="1069848"/>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7" name="s107"/>
          <p:cNvSpPr txBox="1"/>
          <p:nvPr/>
        </p:nvSpPr>
        <p:spPr>
          <a:xfrm>
            <a:off x="3543757" y="1892808"/>
            <a:ext cx="7315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1" dirty="0">
                <a:solidFill>
                  <a:srgbClr val="FBBF24"/>
                </a:solidFill>
                <a:latin typeface="Segoe UI"/>
                <a:ea typeface="Segoe UI"/>
                <a:cs typeface="Segoe UI"/>
              </a:rPr>
              <a:t>02</a:t>
            </a:r>
            <a:endParaRPr lang="en-US" sz="1600" dirty="0"/>
          </a:p>
        </p:txBody>
      </p:sp>
      <p:sp>
        <p:nvSpPr>
          <p:cNvPr id="108" name="s108"/>
          <p:cNvSpPr/>
          <p:nvPr/>
        </p:nvSpPr>
        <p:spPr>
          <a:xfrm>
            <a:off x="5373929" y="1911096"/>
            <a:ext cx="438912" cy="438912"/>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09" name="img109"/>
          <p:cNvPicPr>
            <a:picLocks noChangeAspect="1"/>
          </p:cNvPicPr>
          <p:nvPr/>
        </p:nvPicPr>
        <p:blipFill>
          <a:blip r:embed="rId5"/>
          <a:stretch>
            <a:fillRect/>
          </a:stretch>
        </p:blipFill>
        <p:spPr>
          <a:xfrm>
            <a:off x="5479268" y="2016435"/>
            <a:ext cx="228234" cy="228234"/>
          </a:xfrm>
          <a:prstGeom prst="rect">
            <a:avLst/>
          </a:prstGeom>
        </p:spPr>
      </p:pic>
      <p:sp>
        <p:nvSpPr>
          <p:cNvPr id="110" name="s110"/>
          <p:cNvSpPr txBox="1"/>
          <p:nvPr/>
        </p:nvSpPr>
        <p:spPr>
          <a:xfrm>
            <a:off x="3543757" y="2313432"/>
            <a:ext cx="231480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FFFFF"/>
                </a:solidFill>
                <a:latin typeface="Segoe UI"/>
                <a:ea typeface="Segoe UI"/>
                <a:cs typeface="Segoe UI"/>
              </a:rPr>
              <a:t>Welcome Changing Requirements</a:t>
            </a:r>
            <a:endParaRPr lang="en-US" sz="1300" dirty="0"/>
          </a:p>
        </p:txBody>
      </p:sp>
      <p:sp>
        <p:nvSpPr>
          <p:cNvPr id="111" name="s111"/>
          <p:cNvSpPr/>
          <p:nvPr/>
        </p:nvSpPr>
        <p:spPr>
          <a:xfrm>
            <a:off x="6178601" y="1783080"/>
            <a:ext cx="2634844" cy="1069848"/>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2" name="s112"/>
          <p:cNvSpPr txBox="1"/>
          <p:nvPr/>
        </p:nvSpPr>
        <p:spPr>
          <a:xfrm>
            <a:off x="6361481" y="1892808"/>
            <a:ext cx="7315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1" dirty="0">
                <a:solidFill>
                  <a:srgbClr val="FBBF24"/>
                </a:solidFill>
                <a:latin typeface="Segoe UI"/>
                <a:ea typeface="Segoe UI"/>
                <a:cs typeface="Segoe UI"/>
              </a:rPr>
              <a:t>03</a:t>
            </a:r>
            <a:endParaRPr lang="en-US" sz="1600" dirty="0"/>
          </a:p>
        </p:txBody>
      </p:sp>
      <p:sp>
        <p:nvSpPr>
          <p:cNvPr id="113" name="s113"/>
          <p:cNvSpPr/>
          <p:nvPr/>
        </p:nvSpPr>
        <p:spPr>
          <a:xfrm>
            <a:off x="8191652" y="1911096"/>
            <a:ext cx="438912" cy="438912"/>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4" name="img114"/>
          <p:cNvPicPr>
            <a:picLocks noChangeAspect="1"/>
          </p:cNvPicPr>
          <p:nvPr/>
        </p:nvPicPr>
        <p:blipFill>
          <a:blip r:embed="rId6"/>
          <a:stretch>
            <a:fillRect/>
          </a:stretch>
        </p:blipFill>
        <p:spPr>
          <a:xfrm>
            <a:off x="8296991" y="2016435"/>
            <a:ext cx="228234" cy="228234"/>
          </a:xfrm>
          <a:prstGeom prst="rect">
            <a:avLst/>
          </a:prstGeom>
        </p:spPr>
      </p:pic>
      <p:sp>
        <p:nvSpPr>
          <p:cNvPr id="115" name="s115"/>
          <p:cNvSpPr txBox="1"/>
          <p:nvPr/>
        </p:nvSpPr>
        <p:spPr>
          <a:xfrm>
            <a:off x="6361481" y="2313432"/>
            <a:ext cx="231480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FFFFF"/>
                </a:solidFill>
                <a:latin typeface="Segoe UI"/>
                <a:ea typeface="Segoe UI"/>
                <a:cs typeface="Segoe UI"/>
              </a:rPr>
              <a:t>Deliver Working Software Frequently</a:t>
            </a:r>
            <a:endParaRPr lang="en-US" sz="1300" dirty="0"/>
          </a:p>
        </p:txBody>
      </p:sp>
      <p:sp>
        <p:nvSpPr>
          <p:cNvPr id="116" name="s116"/>
          <p:cNvSpPr/>
          <p:nvPr/>
        </p:nvSpPr>
        <p:spPr>
          <a:xfrm>
            <a:off x="8996324" y="1783080"/>
            <a:ext cx="2634844" cy="1069848"/>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7" name="s117"/>
          <p:cNvSpPr txBox="1"/>
          <p:nvPr/>
        </p:nvSpPr>
        <p:spPr>
          <a:xfrm>
            <a:off x="9179204" y="1892808"/>
            <a:ext cx="7315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1" dirty="0">
                <a:solidFill>
                  <a:srgbClr val="FBBF24"/>
                </a:solidFill>
                <a:latin typeface="Segoe UI"/>
                <a:ea typeface="Segoe UI"/>
                <a:cs typeface="Segoe UI"/>
              </a:rPr>
              <a:t>04</a:t>
            </a:r>
            <a:endParaRPr lang="en-US" sz="1600" dirty="0"/>
          </a:p>
        </p:txBody>
      </p:sp>
      <p:sp>
        <p:nvSpPr>
          <p:cNvPr id="118" name="s118"/>
          <p:cNvSpPr/>
          <p:nvPr/>
        </p:nvSpPr>
        <p:spPr>
          <a:xfrm>
            <a:off x="11009376" y="1911096"/>
            <a:ext cx="438912" cy="438912"/>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9" name="img119"/>
          <p:cNvPicPr>
            <a:picLocks noChangeAspect="1"/>
          </p:cNvPicPr>
          <p:nvPr/>
        </p:nvPicPr>
        <p:blipFill>
          <a:blip r:embed="rId7"/>
          <a:stretch>
            <a:fillRect/>
          </a:stretch>
        </p:blipFill>
        <p:spPr>
          <a:xfrm>
            <a:off x="11114715" y="2016435"/>
            <a:ext cx="228234" cy="228234"/>
          </a:xfrm>
          <a:prstGeom prst="rect">
            <a:avLst/>
          </a:prstGeom>
        </p:spPr>
      </p:pic>
      <p:sp>
        <p:nvSpPr>
          <p:cNvPr id="120" name="s120"/>
          <p:cNvSpPr txBox="1"/>
          <p:nvPr/>
        </p:nvSpPr>
        <p:spPr>
          <a:xfrm>
            <a:off x="9179204" y="2313432"/>
            <a:ext cx="231480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FFFFF"/>
                </a:solidFill>
                <a:latin typeface="Segoe UI"/>
                <a:ea typeface="Segoe UI"/>
                <a:cs typeface="Segoe UI"/>
              </a:rPr>
              <a:t>Business and Developers Together</a:t>
            </a:r>
            <a:endParaRPr lang="en-US" sz="1300" dirty="0"/>
          </a:p>
        </p:txBody>
      </p:sp>
      <p:sp>
        <p:nvSpPr>
          <p:cNvPr id="121" name="s121"/>
          <p:cNvSpPr/>
          <p:nvPr/>
        </p:nvSpPr>
        <p:spPr>
          <a:xfrm>
            <a:off x="543154" y="3035808"/>
            <a:ext cx="2634844" cy="1069848"/>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2" name="s122"/>
          <p:cNvSpPr txBox="1"/>
          <p:nvPr/>
        </p:nvSpPr>
        <p:spPr>
          <a:xfrm>
            <a:off x="726034" y="3145536"/>
            <a:ext cx="7315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1" dirty="0">
                <a:solidFill>
                  <a:srgbClr val="FBBF24"/>
                </a:solidFill>
                <a:latin typeface="Segoe UI"/>
                <a:ea typeface="Segoe UI"/>
                <a:cs typeface="Segoe UI"/>
              </a:rPr>
              <a:t>05</a:t>
            </a:r>
            <a:endParaRPr lang="en-US" sz="1600" dirty="0"/>
          </a:p>
        </p:txBody>
      </p:sp>
      <p:sp>
        <p:nvSpPr>
          <p:cNvPr id="123" name="s123"/>
          <p:cNvSpPr/>
          <p:nvPr/>
        </p:nvSpPr>
        <p:spPr>
          <a:xfrm>
            <a:off x="2556205" y="3163824"/>
            <a:ext cx="438912" cy="438912"/>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24" name="img124"/>
          <p:cNvPicPr>
            <a:picLocks noChangeAspect="1"/>
          </p:cNvPicPr>
          <p:nvPr/>
        </p:nvPicPr>
        <p:blipFill>
          <a:blip r:embed="rId8"/>
          <a:stretch>
            <a:fillRect/>
          </a:stretch>
        </p:blipFill>
        <p:spPr>
          <a:xfrm>
            <a:off x="2661544" y="3269163"/>
            <a:ext cx="228234" cy="228234"/>
          </a:xfrm>
          <a:prstGeom prst="rect">
            <a:avLst/>
          </a:prstGeom>
        </p:spPr>
      </p:pic>
      <p:sp>
        <p:nvSpPr>
          <p:cNvPr id="125" name="s125"/>
          <p:cNvSpPr txBox="1"/>
          <p:nvPr/>
        </p:nvSpPr>
        <p:spPr>
          <a:xfrm>
            <a:off x="726034" y="3566160"/>
            <a:ext cx="231480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FFFFF"/>
                </a:solidFill>
                <a:latin typeface="Segoe UI"/>
                <a:ea typeface="Segoe UI"/>
                <a:cs typeface="Segoe UI"/>
              </a:rPr>
              <a:t>Build Around Motivated People</a:t>
            </a:r>
            <a:endParaRPr lang="en-US" sz="1300" dirty="0"/>
          </a:p>
        </p:txBody>
      </p:sp>
      <p:sp>
        <p:nvSpPr>
          <p:cNvPr id="126" name="s126"/>
          <p:cNvSpPr/>
          <p:nvPr/>
        </p:nvSpPr>
        <p:spPr>
          <a:xfrm>
            <a:off x="3360877" y="3035808"/>
            <a:ext cx="2634844" cy="1069848"/>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7" name="s127"/>
          <p:cNvSpPr txBox="1"/>
          <p:nvPr/>
        </p:nvSpPr>
        <p:spPr>
          <a:xfrm>
            <a:off x="3543757" y="3145536"/>
            <a:ext cx="7315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1" dirty="0">
                <a:solidFill>
                  <a:srgbClr val="FBBF24"/>
                </a:solidFill>
                <a:latin typeface="Segoe UI"/>
                <a:ea typeface="Segoe UI"/>
                <a:cs typeface="Segoe UI"/>
              </a:rPr>
              <a:t>06</a:t>
            </a:r>
            <a:endParaRPr lang="en-US" sz="1600" dirty="0"/>
          </a:p>
        </p:txBody>
      </p:sp>
      <p:sp>
        <p:nvSpPr>
          <p:cNvPr id="128" name="s128"/>
          <p:cNvSpPr/>
          <p:nvPr/>
        </p:nvSpPr>
        <p:spPr>
          <a:xfrm>
            <a:off x="5373929" y="3163824"/>
            <a:ext cx="438912" cy="438912"/>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29" name="img129"/>
          <p:cNvPicPr>
            <a:picLocks noChangeAspect="1"/>
          </p:cNvPicPr>
          <p:nvPr/>
        </p:nvPicPr>
        <p:blipFill>
          <a:blip r:embed="rId9"/>
          <a:stretch>
            <a:fillRect/>
          </a:stretch>
        </p:blipFill>
        <p:spPr>
          <a:xfrm>
            <a:off x="5479268" y="3269163"/>
            <a:ext cx="228234" cy="228234"/>
          </a:xfrm>
          <a:prstGeom prst="rect">
            <a:avLst/>
          </a:prstGeom>
        </p:spPr>
      </p:pic>
      <p:sp>
        <p:nvSpPr>
          <p:cNvPr id="130" name="s130"/>
          <p:cNvSpPr txBox="1"/>
          <p:nvPr/>
        </p:nvSpPr>
        <p:spPr>
          <a:xfrm>
            <a:off x="3543757" y="3566160"/>
            <a:ext cx="231480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FFFFF"/>
                </a:solidFill>
                <a:latin typeface="Segoe UI"/>
                <a:ea typeface="Segoe UI"/>
                <a:cs typeface="Segoe UI"/>
              </a:rPr>
              <a:t>Face-to-Face Conversation</a:t>
            </a:r>
            <a:endParaRPr lang="en-US" sz="1300" dirty="0"/>
          </a:p>
        </p:txBody>
      </p:sp>
      <p:sp>
        <p:nvSpPr>
          <p:cNvPr id="131" name="s131"/>
          <p:cNvSpPr/>
          <p:nvPr/>
        </p:nvSpPr>
        <p:spPr>
          <a:xfrm>
            <a:off x="6178601" y="3035808"/>
            <a:ext cx="2634844" cy="1069848"/>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2" name="s132"/>
          <p:cNvSpPr txBox="1"/>
          <p:nvPr/>
        </p:nvSpPr>
        <p:spPr>
          <a:xfrm>
            <a:off x="6361481" y="3145536"/>
            <a:ext cx="7315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1" dirty="0">
                <a:solidFill>
                  <a:srgbClr val="FBBF24"/>
                </a:solidFill>
                <a:latin typeface="Segoe UI"/>
                <a:ea typeface="Segoe UI"/>
                <a:cs typeface="Segoe UI"/>
              </a:rPr>
              <a:t>07</a:t>
            </a:r>
            <a:endParaRPr lang="en-US" sz="1600" dirty="0"/>
          </a:p>
        </p:txBody>
      </p:sp>
      <p:sp>
        <p:nvSpPr>
          <p:cNvPr id="133" name="s133"/>
          <p:cNvSpPr/>
          <p:nvPr/>
        </p:nvSpPr>
        <p:spPr>
          <a:xfrm>
            <a:off x="8191652" y="3163824"/>
            <a:ext cx="438912" cy="438912"/>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34" name="img134"/>
          <p:cNvPicPr>
            <a:picLocks noChangeAspect="1"/>
          </p:cNvPicPr>
          <p:nvPr/>
        </p:nvPicPr>
        <p:blipFill>
          <a:blip r:embed="rId10"/>
          <a:stretch>
            <a:fillRect/>
          </a:stretch>
        </p:blipFill>
        <p:spPr>
          <a:xfrm>
            <a:off x="8296991" y="3269163"/>
            <a:ext cx="228234" cy="228234"/>
          </a:xfrm>
          <a:prstGeom prst="rect">
            <a:avLst/>
          </a:prstGeom>
        </p:spPr>
      </p:pic>
      <p:sp>
        <p:nvSpPr>
          <p:cNvPr id="135" name="s135"/>
          <p:cNvSpPr txBox="1"/>
          <p:nvPr/>
        </p:nvSpPr>
        <p:spPr>
          <a:xfrm>
            <a:off x="6361481" y="3566160"/>
            <a:ext cx="231480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FFFFF"/>
                </a:solidFill>
                <a:latin typeface="Segoe UI"/>
                <a:ea typeface="Segoe UI"/>
                <a:cs typeface="Segoe UI"/>
              </a:rPr>
              <a:t>Working Software = Progress</a:t>
            </a:r>
            <a:endParaRPr lang="en-US" sz="1300" dirty="0"/>
          </a:p>
        </p:txBody>
      </p:sp>
      <p:sp>
        <p:nvSpPr>
          <p:cNvPr id="136" name="s136"/>
          <p:cNvSpPr/>
          <p:nvPr/>
        </p:nvSpPr>
        <p:spPr>
          <a:xfrm>
            <a:off x="8996324" y="3035808"/>
            <a:ext cx="2634844" cy="1069848"/>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7" name="s137"/>
          <p:cNvSpPr txBox="1"/>
          <p:nvPr/>
        </p:nvSpPr>
        <p:spPr>
          <a:xfrm>
            <a:off x="9179204" y="3145536"/>
            <a:ext cx="7315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1" dirty="0">
                <a:solidFill>
                  <a:srgbClr val="FBBF24"/>
                </a:solidFill>
                <a:latin typeface="Segoe UI"/>
                <a:ea typeface="Segoe UI"/>
                <a:cs typeface="Segoe UI"/>
              </a:rPr>
              <a:t>08</a:t>
            </a:r>
            <a:endParaRPr lang="en-US" sz="1600" dirty="0"/>
          </a:p>
        </p:txBody>
      </p:sp>
      <p:sp>
        <p:nvSpPr>
          <p:cNvPr id="138" name="s138"/>
          <p:cNvSpPr/>
          <p:nvPr/>
        </p:nvSpPr>
        <p:spPr>
          <a:xfrm>
            <a:off x="11009376" y="3163824"/>
            <a:ext cx="438912" cy="438912"/>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39" name="img139"/>
          <p:cNvPicPr>
            <a:picLocks noChangeAspect="1"/>
          </p:cNvPicPr>
          <p:nvPr/>
        </p:nvPicPr>
        <p:blipFill>
          <a:blip r:embed="rId11"/>
          <a:stretch>
            <a:fillRect/>
          </a:stretch>
        </p:blipFill>
        <p:spPr>
          <a:xfrm>
            <a:off x="11114715" y="3269163"/>
            <a:ext cx="228234" cy="228234"/>
          </a:xfrm>
          <a:prstGeom prst="rect">
            <a:avLst/>
          </a:prstGeom>
        </p:spPr>
      </p:pic>
      <p:sp>
        <p:nvSpPr>
          <p:cNvPr id="140" name="s140"/>
          <p:cNvSpPr txBox="1"/>
          <p:nvPr/>
        </p:nvSpPr>
        <p:spPr>
          <a:xfrm>
            <a:off x="9179204" y="3566160"/>
            <a:ext cx="231480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FFFFF"/>
                </a:solidFill>
                <a:latin typeface="Segoe UI"/>
                <a:ea typeface="Segoe UI"/>
                <a:cs typeface="Segoe UI"/>
              </a:rPr>
              <a:t>Sustainable Pace</a:t>
            </a:r>
            <a:endParaRPr lang="en-US" sz="1300" dirty="0"/>
          </a:p>
        </p:txBody>
      </p:sp>
      <p:sp>
        <p:nvSpPr>
          <p:cNvPr id="141" name="s141"/>
          <p:cNvSpPr/>
          <p:nvPr/>
        </p:nvSpPr>
        <p:spPr>
          <a:xfrm>
            <a:off x="543154" y="4288536"/>
            <a:ext cx="2634844" cy="1069848"/>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42" name="s142"/>
          <p:cNvSpPr txBox="1"/>
          <p:nvPr/>
        </p:nvSpPr>
        <p:spPr>
          <a:xfrm>
            <a:off x="726034" y="4398264"/>
            <a:ext cx="7315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1" dirty="0">
                <a:solidFill>
                  <a:srgbClr val="FBBF24"/>
                </a:solidFill>
                <a:latin typeface="Segoe UI"/>
                <a:ea typeface="Segoe UI"/>
                <a:cs typeface="Segoe UI"/>
              </a:rPr>
              <a:t>09</a:t>
            </a:r>
            <a:endParaRPr lang="en-US" sz="1600" dirty="0"/>
          </a:p>
        </p:txBody>
      </p:sp>
      <p:sp>
        <p:nvSpPr>
          <p:cNvPr id="143" name="s143"/>
          <p:cNvSpPr/>
          <p:nvPr/>
        </p:nvSpPr>
        <p:spPr>
          <a:xfrm>
            <a:off x="2556205" y="4416552"/>
            <a:ext cx="438912" cy="438912"/>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44" name="img144"/>
          <p:cNvPicPr>
            <a:picLocks noChangeAspect="1"/>
          </p:cNvPicPr>
          <p:nvPr/>
        </p:nvPicPr>
        <p:blipFill>
          <a:blip r:embed="rId12"/>
          <a:stretch>
            <a:fillRect/>
          </a:stretch>
        </p:blipFill>
        <p:spPr>
          <a:xfrm>
            <a:off x="2661544" y="4521891"/>
            <a:ext cx="228234" cy="228234"/>
          </a:xfrm>
          <a:prstGeom prst="rect">
            <a:avLst/>
          </a:prstGeom>
        </p:spPr>
      </p:pic>
      <p:sp>
        <p:nvSpPr>
          <p:cNvPr id="145" name="s145"/>
          <p:cNvSpPr txBox="1"/>
          <p:nvPr/>
        </p:nvSpPr>
        <p:spPr>
          <a:xfrm>
            <a:off x="726034" y="4818888"/>
            <a:ext cx="231480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FFFFF"/>
                </a:solidFill>
                <a:latin typeface="Segoe UI"/>
                <a:ea typeface="Segoe UI"/>
                <a:cs typeface="Segoe UI"/>
              </a:rPr>
              <a:t>Technical Excellence</a:t>
            </a:r>
            <a:endParaRPr lang="en-US" sz="1300" dirty="0"/>
          </a:p>
        </p:txBody>
      </p:sp>
      <p:sp>
        <p:nvSpPr>
          <p:cNvPr id="146" name="s146"/>
          <p:cNvSpPr/>
          <p:nvPr/>
        </p:nvSpPr>
        <p:spPr>
          <a:xfrm>
            <a:off x="3360877" y="4288536"/>
            <a:ext cx="2634844" cy="1069848"/>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47" name="s147"/>
          <p:cNvSpPr txBox="1"/>
          <p:nvPr/>
        </p:nvSpPr>
        <p:spPr>
          <a:xfrm>
            <a:off x="3543757" y="4398264"/>
            <a:ext cx="7315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1" dirty="0">
                <a:solidFill>
                  <a:srgbClr val="FBBF24"/>
                </a:solidFill>
                <a:latin typeface="Segoe UI"/>
                <a:ea typeface="Segoe UI"/>
                <a:cs typeface="Segoe UI"/>
              </a:rPr>
              <a:t>10</a:t>
            </a:r>
            <a:endParaRPr lang="en-US" sz="1600" dirty="0"/>
          </a:p>
        </p:txBody>
      </p:sp>
      <p:sp>
        <p:nvSpPr>
          <p:cNvPr id="148" name="s148"/>
          <p:cNvSpPr/>
          <p:nvPr/>
        </p:nvSpPr>
        <p:spPr>
          <a:xfrm>
            <a:off x="5373929" y="4416552"/>
            <a:ext cx="438912" cy="438912"/>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49" name="img149"/>
          <p:cNvPicPr>
            <a:picLocks noChangeAspect="1"/>
          </p:cNvPicPr>
          <p:nvPr/>
        </p:nvPicPr>
        <p:blipFill>
          <a:blip r:embed="rId13"/>
          <a:stretch>
            <a:fillRect/>
          </a:stretch>
        </p:blipFill>
        <p:spPr>
          <a:xfrm>
            <a:off x="5479268" y="4521891"/>
            <a:ext cx="228234" cy="228234"/>
          </a:xfrm>
          <a:prstGeom prst="rect">
            <a:avLst/>
          </a:prstGeom>
        </p:spPr>
      </p:pic>
      <p:sp>
        <p:nvSpPr>
          <p:cNvPr id="150" name="s150"/>
          <p:cNvSpPr txBox="1"/>
          <p:nvPr/>
        </p:nvSpPr>
        <p:spPr>
          <a:xfrm>
            <a:off x="3543757" y="4818888"/>
            <a:ext cx="231480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FFFFF"/>
                </a:solidFill>
                <a:latin typeface="Segoe UI"/>
                <a:ea typeface="Segoe UI"/>
                <a:cs typeface="Segoe UI"/>
              </a:rPr>
              <a:t>Simplicity</a:t>
            </a:r>
            <a:endParaRPr lang="en-US" sz="1300" dirty="0"/>
          </a:p>
        </p:txBody>
      </p:sp>
      <p:sp>
        <p:nvSpPr>
          <p:cNvPr id="151" name="s151"/>
          <p:cNvSpPr/>
          <p:nvPr/>
        </p:nvSpPr>
        <p:spPr>
          <a:xfrm>
            <a:off x="6178601" y="4288536"/>
            <a:ext cx="2634844" cy="1069848"/>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52" name="s152"/>
          <p:cNvSpPr txBox="1"/>
          <p:nvPr/>
        </p:nvSpPr>
        <p:spPr>
          <a:xfrm>
            <a:off x="6361481" y="4398264"/>
            <a:ext cx="7315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1" dirty="0">
                <a:solidFill>
                  <a:srgbClr val="FBBF24"/>
                </a:solidFill>
                <a:latin typeface="Segoe UI"/>
                <a:ea typeface="Segoe UI"/>
                <a:cs typeface="Segoe UI"/>
              </a:rPr>
              <a:t>11</a:t>
            </a:r>
            <a:endParaRPr lang="en-US" sz="1600" dirty="0"/>
          </a:p>
        </p:txBody>
      </p:sp>
      <p:sp>
        <p:nvSpPr>
          <p:cNvPr id="153" name="s153"/>
          <p:cNvSpPr/>
          <p:nvPr/>
        </p:nvSpPr>
        <p:spPr>
          <a:xfrm>
            <a:off x="8191652" y="4416552"/>
            <a:ext cx="438912" cy="438912"/>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54" name="img154"/>
          <p:cNvPicPr>
            <a:picLocks noChangeAspect="1"/>
          </p:cNvPicPr>
          <p:nvPr/>
        </p:nvPicPr>
        <p:blipFill>
          <a:blip r:embed="rId14"/>
          <a:stretch>
            <a:fillRect/>
          </a:stretch>
        </p:blipFill>
        <p:spPr>
          <a:xfrm>
            <a:off x="8296991" y="4521891"/>
            <a:ext cx="228234" cy="228234"/>
          </a:xfrm>
          <a:prstGeom prst="rect">
            <a:avLst/>
          </a:prstGeom>
        </p:spPr>
      </p:pic>
      <p:sp>
        <p:nvSpPr>
          <p:cNvPr id="155" name="s155"/>
          <p:cNvSpPr txBox="1"/>
          <p:nvPr/>
        </p:nvSpPr>
        <p:spPr>
          <a:xfrm>
            <a:off x="6361481" y="4818888"/>
            <a:ext cx="231480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FFFFF"/>
                </a:solidFill>
                <a:latin typeface="Segoe UI"/>
                <a:ea typeface="Segoe UI"/>
                <a:cs typeface="Segoe UI"/>
              </a:rPr>
              <a:t>Self-Organizing Teams</a:t>
            </a:r>
            <a:endParaRPr lang="en-US" sz="1300" dirty="0"/>
          </a:p>
        </p:txBody>
      </p:sp>
      <p:sp>
        <p:nvSpPr>
          <p:cNvPr id="156" name="s156"/>
          <p:cNvSpPr/>
          <p:nvPr/>
        </p:nvSpPr>
        <p:spPr>
          <a:xfrm>
            <a:off x="8996324" y="4288536"/>
            <a:ext cx="2634844" cy="1069848"/>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57" name="s157"/>
          <p:cNvSpPr txBox="1"/>
          <p:nvPr/>
        </p:nvSpPr>
        <p:spPr>
          <a:xfrm>
            <a:off x="9179204" y="4398264"/>
            <a:ext cx="7315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1" dirty="0">
                <a:solidFill>
                  <a:srgbClr val="FBBF24"/>
                </a:solidFill>
                <a:latin typeface="Segoe UI"/>
                <a:ea typeface="Segoe UI"/>
                <a:cs typeface="Segoe UI"/>
              </a:rPr>
              <a:t>12</a:t>
            </a:r>
            <a:endParaRPr lang="en-US" sz="1600" dirty="0"/>
          </a:p>
        </p:txBody>
      </p:sp>
      <p:sp>
        <p:nvSpPr>
          <p:cNvPr id="158" name="s158"/>
          <p:cNvSpPr/>
          <p:nvPr/>
        </p:nvSpPr>
        <p:spPr>
          <a:xfrm>
            <a:off x="11009376" y="4416552"/>
            <a:ext cx="438912" cy="438912"/>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59" name="img159"/>
          <p:cNvPicPr>
            <a:picLocks noChangeAspect="1"/>
          </p:cNvPicPr>
          <p:nvPr/>
        </p:nvPicPr>
        <p:blipFill>
          <a:blip r:embed="rId15"/>
          <a:stretch>
            <a:fillRect/>
          </a:stretch>
        </p:blipFill>
        <p:spPr>
          <a:xfrm>
            <a:off x="11114715" y="4521891"/>
            <a:ext cx="228234" cy="228234"/>
          </a:xfrm>
          <a:prstGeom prst="rect">
            <a:avLst/>
          </a:prstGeom>
        </p:spPr>
      </p:pic>
      <p:sp>
        <p:nvSpPr>
          <p:cNvPr id="160" name="s160"/>
          <p:cNvSpPr txBox="1"/>
          <p:nvPr/>
        </p:nvSpPr>
        <p:spPr>
          <a:xfrm>
            <a:off x="9179204" y="4818888"/>
            <a:ext cx="231480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FFFFFF"/>
                </a:solidFill>
                <a:latin typeface="Segoe UI"/>
                <a:ea typeface="Segoe UI"/>
                <a:cs typeface="Segoe UI"/>
              </a:rPr>
              <a:t>Reflect and Adjust</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42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420" decel="100000" fill="hold"/>
                                        <p:tgtEl>
                                          <p:spTgt spid="101"/>
                                        </p:tgtEl>
                                        <p:attrNameLst>
                                          <p:attrName>ppt_h</p:attrName>
                                        </p:attrNameLst>
                                      </p:cBhvr>
                                      <p:tavLst>
                                        <p:tav tm="0">
                                          <p:val>
                                            <p:strVal val="#ppt_h*0.55"/>
                                          </p:val>
                                        </p:tav>
                                        <p:tav tm="100000">
                                          <p:val>
                                            <p:strVal val="#ppt_h"/>
                                          </p:val>
                                        </p:tav>
                                      </p:tavLst>
                                    </p:anim>
                                    <p:animEffect transition="in" filter="fade">
                                      <p:cBhvr>
                                        <p:cTn id="9" dur="420"/>
                                        <p:tgtEl>
                                          <p:spTgt spid="10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42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3" dur="420" decel="100000" fill="hold"/>
                                        <p:tgtEl>
                                          <p:spTgt spid="102"/>
                                        </p:tgtEl>
                                        <p:attrNameLst>
                                          <p:attrName>ppt_h</p:attrName>
                                        </p:attrNameLst>
                                      </p:cBhvr>
                                      <p:tavLst>
                                        <p:tav tm="0">
                                          <p:val>
                                            <p:strVal val="#ppt_h*0.55"/>
                                          </p:val>
                                        </p:tav>
                                        <p:tav tm="100000">
                                          <p:val>
                                            <p:strVal val="#ppt_h"/>
                                          </p:val>
                                        </p:tav>
                                      </p:tavLst>
                                    </p:anim>
                                    <p:animEffect transition="in" filter="fade">
                                      <p:cBhvr>
                                        <p:cTn id="14" dur="420"/>
                                        <p:tgtEl>
                                          <p:spTgt spid="10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03"/>
                                        </p:tgtEl>
                                        <p:attrNameLst>
                                          <p:attrName>style.visibility</p:attrName>
                                        </p:attrNameLst>
                                      </p:cBhvr>
                                      <p:to>
                                        <p:strVal val="visible"/>
                                      </p:to>
                                    </p:set>
                                    <p:anim calcmode="lin" valueType="num">
                                      <p:cBhvr additive="base">
                                        <p:cTn id="17" dur="42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8" dur="420" decel="100000" fill="hold"/>
                                        <p:tgtEl>
                                          <p:spTgt spid="103"/>
                                        </p:tgtEl>
                                        <p:attrNameLst>
                                          <p:attrName>ppt_h</p:attrName>
                                        </p:attrNameLst>
                                      </p:cBhvr>
                                      <p:tavLst>
                                        <p:tav tm="0">
                                          <p:val>
                                            <p:strVal val="#ppt_h*0.55"/>
                                          </p:val>
                                        </p:tav>
                                        <p:tav tm="100000">
                                          <p:val>
                                            <p:strVal val="#ppt_h"/>
                                          </p:val>
                                        </p:tav>
                                      </p:tavLst>
                                    </p:anim>
                                    <p:animEffect transition="in" filter="fade">
                                      <p:cBhvr>
                                        <p:cTn id="19" dur="420"/>
                                        <p:tgtEl>
                                          <p:spTgt spid="103"/>
                                        </p:tgtEl>
                                      </p:cBhvr>
                                    </p:animEffect>
                                  </p:childTnLst>
                                </p:cTn>
                              </p:par>
                              <p:par>
                                <p:cTn id="20" presetID="53" presetClass="entr" presetSubtype="16" fill="hold" nodeType="withEffect">
                                  <p:stCondLst>
                                    <p:cond delay="0"/>
                                  </p:stCondLst>
                                  <p:childTnLst>
                                    <p:set>
                                      <p:cBhvr>
                                        <p:cTn id="21" dur="1" fill="hold">
                                          <p:stCondLst>
                                            <p:cond delay="0"/>
                                          </p:stCondLst>
                                        </p:cTn>
                                        <p:tgtEl>
                                          <p:spTgt spid="104"/>
                                        </p:tgtEl>
                                        <p:attrNameLst>
                                          <p:attrName>style.visibility</p:attrName>
                                        </p:attrNameLst>
                                      </p:cBhvr>
                                      <p:to>
                                        <p:strVal val="visible"/>
                                      </p:to>
                                    </p:set>
                                    <p:anim calcmode="lin" valueType="num">
                                      <p:cBhvr additive="base">
                                        <p:cTn id="22" dur="420" decel="100000" fill="hold"/>
                                        <p:tgtEl>
                                          <p:spTgt spid="104"/>
                                        </p:tgtEl>
                                        <p:attrNameLst>
                                          <p:attrName>ppt_w</p:attrName>
                                        </p:attrNameLst>
                                      </p:cBhvr>
                                      <p:tavLst>
                                        <p:tav tm="0">
                                          <p:val>
                                            <p:strVal val="#ppt_w*0.55"/>
                                          </p:val>
                                        </p:tav>
                                        <p:tav tm="100000">
                                          <p:val>
                                            <p:strVal val="#ppt_w"/>
                                          </p:val>
                                        </p:tav>
                                      </p:tavLst>
                                    </p:anim>
                                    <p:anim calcmode="lin" valueType="num">
                                      <p:cBhvr additive="base">
                                        <p:cTn id="23" dur="420" decel="100000" fill="hold"/>
                                        <p:tgtEl>
                                          <p:spTgt spid="104"/>
                                        </p:tgtEl>
                                        <p:attrNameLst>
                                          <p:attrName>ppt_h</p:attrName>
                                        </p:attrNameLst>
                                      </p:cBhvr>
                                      <p:tavLst>
                                        <p:tav tm="0">
                                          <p:val>
                                            <p:strVal val="#ppt_h*0.55"/>
                                          </p:val>
                                        </p:tav>
                                        <p:tav tm="100000">
                                          <p:val>
                                            <p:strVal val="#ppt_h"/>
                                          </p:val>
                                        </p:tav>
                                      </p:tavLst>
                                    </p:anim>
                                    <p:animEffect transition="in" filter="fade">
                                      <p:cBhvr>
                                        <p:cTn id="24" dur="420"/>
                                        <p:tgtEl>
                                          <p:spTgt spid="104"/>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05"/>
                                        </p:tgtEl>
                                        <p:attrNameLst>
                                          <p:attrName>style.visibility</p:attrName>
                                        </p:attrNameLst>
                                      </p:cBhvr>
                                      <p:to>
                                        <p:strVal val="visible"/>
                                      </p:to>
                                    </p:set>
                                    <p:anim calcmode="lin" valueType="num">
                                      <p:cBhvr additive="base">
                                        <p:cTn id="27" dur="420" decel="100000" fill="hold"/>
                                        <p:tgtEl>
                                          <p:spTgt spid="105"/>
                                        </p:tgtEl>
                                        <p:attrNameLst>
                                          <p:attrName>ppt_w</p:attrName>
                                        </p:attrNameLst>
                                      </p:cBhvr>
                                      <p:tavLst>
                                        <p:tav tm="0">
                                          <p:val>
                                            <p:strVal val="#ppt_w*0.55"/>
                                          </p:val>
                                        </p:tav>
                                        <p:tav tm="100000">
                                          <p:val>
                                            <p:strVal val="#ppt_w"/>
                                          </p:val>
                                        </p:tav>
                                      </p:tavLst>
                                    </p:anim>
                                    <p:anim calcmode="lin" valueType="num">
                                      <p:cBhvr additive="base">
                                        <p:cTn id="28" dur="420" decel="100000" fill="hold"/>
                                        <p:tgtEl>
                                          <p:spTgt spid="105"/>
                                        </p:tgtEl>
                                        <p:attrNameLst>
                                          <p:attrName>ppt_h</p:attrName>
                                        </p:attrNameLst>
                                      </p:cBhvr>
                                      <p:tavLst>
                                        <p:tav tm="0">
                                          <p:val>
                                            <p:strVal val="#ppt_h*0.55"/>
                                          </p:val>
                                        </p:tav>
                                        <p:tav tm="100000">
                                          <p:val>
                                            <p:strVal val="#ppt_h"/>
                                          </p:val>
                                        </p:tav>
                                      </p:tavLst>
                                    </p:anim>
                                    <p:animEffect transition="in" filter="fade">
                                      <p:cBhvr>
                                        <p:cTn id="29" dur="420"/>
                                        <p:tgtEl>
                                          <p:spTgt spid="105"/>
                                        </p:tgtEl>
                                      </p:cBhvr>
                                    </p:animEffect>
                                  </p:childTnLst>
                                </p:cTn>
                              </p:par>
                              <p:par>
                                <p:cTn id="30" presetID="53" presetClass="entr" presetSubtype="16" fill="hold" grpId="0" nodeType="withEffect">
                                  <p:stCondLst>
                                    <p:cond delay="90"/>
                                  </p:stCondLst>
                                  <p:childTnLst>
                                    <p:set>
                                      <p:cBhvr>
                                        <p:cTn id="31" dur="1" fill="hold">
                                          <p:stCondLst>
                                            <p:cond delay="0"/>
                                          </p:stCondLst>
                                        </p:cTn>
                                        <p:tgtEl>
                                          <p:spTgt spid="106"/>
                                        </p:tgtEl>
                                        <p:attrNameLst>
                                          <p:attrName>style.visibility</p:attrName>
                                        </p:attrNameLst>
                                      </p:cBhvr>
                                      <p:to>
                                        <p:strVal val="visible"/>
                                      </p:to>
                                    </p:set>
                                    <p:anim calcmode="lin" valueType="num">
                                      <p:cBhvr additive="base">
                                        <p:cTn id="32" dur="420" decel="100000" fill="hold"/>
                                        <p:tgtEl>
                                          <p:spTgt spid="106"/>
                                        </p:tgtEl>
                                        <p:attrNameLst>
                                          <p:attrName>ppt_w</p:attrName>
                                        </p:attrNameLst>
                                      </p:cBhvr>
                                      <p:tavLst>
                                        <p:tav tm="0">
                                          <p:val>
                                            <p:strVal val="#ppt_w*0.55"/>
                                          </p:val>
                                        </p:tav>
                                        <p:tav tm="100000">
                                          <p:val>
                                            <p:strVal val="#ppt_w"/>
                                          </p:val>
                                        </p:tav>
                                      </p:tavLst>
                                    </p:anim>
                                    <p:anim calcmode="lin" valueType="num">
                                      <p:cBhvr additive="base">
                                        <p:cTn id="33" dur="420" decel="100000" fill="hold"/>
                                        <p:tgtEl>
                                          <p:spTgt spid="106"/>
                                        </p:tgtEl>
                                        <p:attrNameLst>
                                          <p:attrName>ppt_h</p:attrName>
                                        </p:attrNameLst>
                                      </p:cBhvr>
                                      <p:tavLst>
                                        <p:tav tm="0">
                                          <p:val>
                                            <p:strVal val="#ppt_h*0.55"/>
                                          </p:val>
                                        </p:tav>
                                        <p:tav tm="100000">
                                          <p:val>
                                            <p:strVal val="#ppt_h"/>
                                          </p:val>
                                        </p:tav>
                                      </p:tavLst>
                                    </p:anim>
                                    <p:animEffect transition="in" filter="fade">
                                      <p:cBhvr>
                                        <p:cTn id="34" dur="420"/>
                                        <p:tgtEl>
                                          <p:spTgt spid="106"/>
                                        </p:tgtEl>
                                      </p:cBhvr>
                                    </p:animEffect>
                                  </p:childTnLst>
                                </p:cTn>
                              </p:par>
                              <p:par>
                                <p:cTn id="35" presetID="53" presetClass="entr" presetSubtype="16" fill="hold" grpId="0" nodeType="withEffect">
                                  <p:stCondLst>
                                    <p:cond delay="90"/>
                                  </p:stCondLst>
                                  <p:childTnLst>
                                    <p:set>
                                      <p:cBhvr>
                                        <p:cTn id="36" dur="1" fill="hold">
                                          <p:stCondLst>
                                            <p:cond delay="0"/>
                                          </p:stCondLst>
                                        </p:cTn>
                                        <p:tgtEl>
                                          <p:spTgt spid="107"/>
                                        </p:tgtEl>
                                        <p:attrNameLst>
                                          <p:attrName>style.visibility</p:attrName>
                                        </p:attrNameLst>
                                      </p:cBhvr>
                                      <p:to>
                                        <p:strVal val="visible"/>
                                      </p:to>
                                    </p:set>
                                    <p:anim calcmode="lin" valueType="num">
                                      <p:cBhvr additive="base">
                                        <p:cTn id="37" dur="42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8" dur="420" decel="100000" fill="hold"/>
                                        <p:tgtEl>
                                          <p:spTgt spid="107"/>
                                        </p:tgtEl>
                                        <p:attrNameLst>
                                          <p:attrName>ppt_h</p:attrName>
                                        </p:attrNameLst>
                                      </p:cBhvr>
                                      <p:tavLst>
                                        <p:tav tm="0">
                                          <p:val>
                                            <p:strVal val="#ppt_h*0.55"/>
                                          </p:val>
                                        </p:tav>
                                        <p:tav tm="100000">
                                          <p:val>
                                            <p:strVal val="#ppt_h"/>
                                          </p:val>
                                        </p:tav>
                                      </p:tavLst>
                                    </p:anim>
                                    <p:animEffect transition="in" filter="fade">
                                      <p:cBhvr>
                                        <p:cTn id="39" dur="420"/>
                                        <p:tgtEl>
                                          <p:spTgt spid="107"/>
                                        </p:tgtEl>
                                      </p:cBhvr>
                                    </p:animEffect>
                                  </p:childTnLst>
                                </p:cTn>
                              </p:par>
                              <p:par>
                                <p:cTn id="40" presetID="53" presetClass="entr" presetSubtype="16" fill="hold" grpId="0" nodeType="withEffect">
                                  <p:stCondLst>
                                    <p:cond delay="90"/>
                                  </p:stCondLst>
                                  <p:childTnLst>
                                    <p:set>
                                      <p:cBhvr>
                                        <p:cTn id="41" dur="1" fill="hold">
                                          <p:stCondLst>
                                            <p:cond delay="0"/>
                                          </p:stCondLst>
                                        </p:cTn>
                                        <p:tgtEl>
                                          <p:spTgt spid="108"/>
                                        </p:tgtEl>
                                        <p:attrNameLst>
                                          <p:attrName>style.visibility</p:attrName>
                                        </p:attrNameLst>
                                      </p:cBhvr>
                                      <p:to>
                                        <p:strVal val="visible"/>
                                      </p:to>
                                    </p:set>
                                    <p:anim calcmode="lin" valueType="num">
                                      <p:cBhvr additive="base">
                                        <p:cTn id="42" dur="42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3" dur="420" decel="100000" fill="hold"/>
                                        <p:tgtEl>
                                          <p:spTgt spid="108"/>
                                        </p:tgtEl>
                                        <p:attrNameLst>
                                          <p:attrName>ppt_h</p:attrName>
                                        </p:attrNameLst>
                                      </p:cBhvr>
                                      <p:tavLst>
                                        <p:tav tm="0">
                                          <p:val>
                                            <p:strVal val="#ppt_h*0.55"/>
                                          </p:val>
                                        </p:tav>
                                        <p:tav tm="100000">
                                          <p:val>
                                            <p:strVal val="#ppt_h"/>
                                          </p:val>
                                        </p:tav>
                                      </p:tavLst>
                                    </p:anim>
                                    <p:animEffect transition="in" filter="fade">
                                      <p:cBhvr>
                                        <p:cTn id="44" dur="420"/>
                                        <p:tgtEl>
                                          <p:spTgt spid="108"/>
                                        </p:tgtEl>
                                      </p:cBhvr>
                                    </p:animEffect>
                                  </p:childTnLst>
                                </p:cTn>
                              </p:par>
                              <p:par>
                                <p:cTn id="45" presetID="53" presetClass="entr" presetSubtype="16" fill="hold" nodeType="withEffect">
                                  <p:stCondLst>
                                    <p:cond delay="90"/>
                                  </p:stCondLst>
                                  <p:childTnLst>
                                    <p:set>
                                      <p:cBhvr>
                                        <p:cTn id="46" dur="1" fill="hold">
                                          <p:stCondLst>
                                            <p:cond delay="0"/>
                                          </p:stCondLst>
                                        </p:cTn>
                                        <p:tgtEl>
                                          <p:spTgt spid="109"/>
                                        </p:tgtEl>
                                        <p:attrNameLst>
                                          <p:attrName>style.visibility</p:attrName>
                                        </p:attrNameLst>
                                      </p:cBhvr>
                                      <p:to>
                                        <p:strVal val="visible"/>
                                      </p:to>
                                    </p:set>
                                    <p:anim calcmode="lin" valueType="num">
                                      <p:cBhvr additive="base">
                                        <p:cTn id="47" dur="420" decel="100000" fill="hold"/>
                                        <p:tgtEl>
                                          <p:spTgt spid="109"/>
                                        </p:tgtEl>
                                        <p:attrNameLst>
                                          <p:attrName>ppt_w</p:attrName>
                                        </p:attrNameLst>
                                      </p:cBhvr>
                                      <p:tavLst>
                                        <p:tav tm="0">
                                          <p:val>
                                            <p:strVal val="#ppt_w*0.55"/>
                                          </p:val>
                                        </p:tav>
                                        <p:tav tm="100000">
                                          <p:val>
                                            <p:strVal val="#ppt_w"/>
                                          </p:val>
                                        </p:tav>
                                      </p:tavLst>
                                    </p:anim>
                                    <p:anim calcmode="lin" valueType="num">
                                      <p:cBhvr additive="base">
                                        <p:cTn id="48" dur="420" decel="100000" fill="hold"/>
                                        <p:tgtEl>
                                          <p:spTgt spid="109"/>
                                        </p:tgtEl>
                                        <p:attrNameLst>
                                          <p:attrName>ppt_h</p:attrName>
                                        </p:attrNameLst>
                                      </p:cBhvr>
                                      <p:tavLst>
                                        <p:tav tm="0">
                                          <p:val>
                                            <p:strVal val="#ppt_h*0.55"/>
                                          </p:val>
                                        </p:tav>
                                        <p:tav tm="100000">
                                          <p:val>
                                            <p:strVal val="#ppt_h"/>
                                          </p:val>
                                        </p:tav>
                                      </p:tavLst>
                                    </p:anim>
                                    <p:animEffect transition="in" filter="fade">
                                      <p:cBhvr>
                                        <p:cTn id="49" dur="420"/>
                                        <p:tgtEl>
                                          <p:spTgt spid="109"/>
                                        </p:tgtEl>
                                      </p:cBhvr>
                                    </p:animEffect>
                                  </p:childTnLst>
                                </p:cTn>
                              </p:par>
                              <p:par>
                                <p:cTn id="50" presetID="53" presetClass="entr" presetSubtype="16" fill="hold" grpId="0" nodeType="withEffect">
                                  <p:stCondLst>
                                    <p:cond delay="90"/>
                                  </p:stCondLst>
                                  <p:childTnLst>
                                    <p:set>
                                      <p:cBhvr>
                                        <p:cTn id="51" dur="1" fill="hold">
                                          <p:stCondLst>
                                            <p:cond delay="0"/>
                                          </p:stCondLst>
                                        </p:cTn>
                                        <p:tgtEl>
                                          <p:spTgt spid="110"/>
                                        </p:tgtEl>
                                        <p:attrNameLst>
                                          <p:attrName>style.visibility</p:attrName>
                                        </p:attrNameLst>
                                      </p:cBhvr>
                                      <p:to>
                                        <p:strVal val="visible"/>
                                      </p:to>
                                    </p:set>
                                    <p:anim calcmode="lin" valueType="num">
                                      <p:cBhvr additive="base">
                                        <p:cTn id="52" dur="420" decel="100000" fill="hold"/>
                                        <p:tgtEl>
                                          <p:spTgt spid="110"/>
                                        </p:tgtEl>
                                        <p:attrNameLst>
                                          <p:attrName>ppt_w</p:attrName>
                                        </p:attrNameLst>
                                      </p:cBhvr>
                                      <p:tavLst>
                                        <p:tav tm="0">
                                          <p:val>
                                            <p:strVal val="#ppt_w*0.55"/>
                                          </p:val>
                                        </p:tav>
                                        <p:tav tm="100000">
                                          <p:val>
                                            <p:strVal val="#ppt_w"/>
                                          </p:val>
                                        </p:tav>
                                      </p:tavLst>
                                    </p:anim>
                                    <p:anim calcmode="lin" valueType="num">
                                      <p:cBhvr additive="base">
                                        <p:cTn id="53" dur="420" decel="100000" fill="hold"/>
                                        <p:tgtEl>
                                          <p:spTgt spid="110"/>
                                        </p:tgtEl>
                                        <p:attrNameLst>
                                          <p:attrName>ppt_h</p:attrName>
                                        </p:attrNameLst>
                                      </p:cBhvr>
                                      <p:tavLst>
                                        <p:tav tm="0">
                                          <p:val>
                                            <p:strVal val="#ppt_h*0.55"/>
                                          </p:val>
                                        </p:tav>
                                        <p:tav tm="100000">
                                          <p:val>
                                            <p:strVal val="#ppt_h"/>
                                          </p:val>
                                        </p:tav>
                                      </p:tavLst>
                                    </p:anim>
                                    <p:animEffect transition="in" filter="fade">
                                      <p:cBhvr>
                                        <p:cTn id="54" dur="420"/>
                                        <p:tgtEl>
                                          <p:spTgt spid="110"/>
                                        </p:tgtEl>
                                      </p:cBhvr>
                                    </p:animEffect>
                                  </p:childTnLst>
                                </p:cTn>
                              </p:par>
                              <p:par>
                                <p:cTn id="55" presetID="53" presetClass="entr" presetSubtype="16" fill="hold" grpId="0" nodeType="withEffect">
                                  <p:stCondLst>
                                    <p:cond delay="180"/>
                                  </p:stCondLst>
                                  <p:childTnLst>
                                    <p:set>
                                      <p:cBhvr>
                                        <p:cTn id="56" dur="1" fill="hold">
                                          <p:stCondLst>
                                            <p:cond delay="0"/>
                                          </p:stCondLst>
                                        </p:cTn>
                                        <p:tgtEl>
                                          <p:spTgt spid="111"/>
                                        </p:tgtEl>
                                        <p:attrNameLst>
                                          <p:attrName>style.visibility</p:attrName>
                                        </p:attrNameLst>
                                      </p:cBhvr>
                                      <p:to>
                                        <p:strVal val="visible"/>
                                      </p:to>
                                    </p:set>
                                    <p:anim calcmode="lin" valueType="num">
                                      <p:cBhvr additive="base">
                                        <p:cTn id="57" dur="420" decel="100000" fill="hold"/>
                                        <p:tgtEl>
                                          <p:spTgt spid="111"/>
                                        </p:tgtEl>
                                        <p:attrNameLst>
                                          <p:attrName>ppt_w</p:attrName>
                                        </p:attrNameLst>
                                      </p:cBhvr>
                                      <p:tavLst>
                                        <p:tav tm="0">
                                          <p:val>
                                            <p:strVal val="#ppt_w*0.55"/>
                                          </p:val>
                                        </p:tav>
                                        <p:tav tm="100000">
                                          <p:val>
                                            <p:strVal val="#ppt_w"/>
                                          </p:val>
                                        </p:tav>
                                      </p:tavLst>
                                    </p:anim>
                                    <p:anim calcmode="lin" valueType="num">
                                      <p:cBhvr additive="base">
                                        <p:cTn id="58" dur="420" decel="100000" fill="hold"/>
                                        <p:tgtEl>
                                          <p:spTgt spid="111"/>
                                        </p:tgtEl>
                                        <p:attrNameLst>
                                          <p:attrName>ppt_h</p:attrName>
                                        </p:attrNameLst>
                                      </p:cBhvr>
                                      <p:tavLst>
                                        <p:tav tm="0">
                                          <p:val>
                                            <p:strVal val="#ppt_h*0.55"/>
                                          </p:val>
                                        </p:tav>
                                        <p:tav tm="100000">
                                          <p:val>
                                            <p:strVal val="#ppt_h"/>
                                          </p:val>
                                        </p:tav>
                                      </p:tavLst>
                                    </p:anim>
                                    <p:animEffect transition="in" filter="fade">
                                      <p:cBhvr>
                                        <p:cTn id="59" dur="420"/>
                                        <p:tgtEl>
                                          <p:spTgt spid="111"/>
                                        </p:tgtEl>
                                      </p:cBhvr>
                                    </p:animEffect>
                                  </p:childTnLst>
                                </p:cTn>
                              </p:par>
                              <p:par>
                                <p:cTn id="60" presetID="53" presetClass="entr" presetSubtype="16" fill="hold" grpId="0" nodeType="withEffect">
                                  <p:stCondLst>
                                    <p:cond delay="180"/>
                                  </p:stCondLst>
                                  <p:childTnLst>
                                    <p:set>
                                      <p:cBhvr>
                                        <p:cTn id="61" dur="1" fill="hold">
                                          <p:stCondLst>
                                            <p:cond delay="0"/>
                                          </p:stCondLst>
                                        </p:cTn>
                                        <p:tgtEl>
                                          <p:spTgt spid="112"/>
                                        </p:tgtEl>
                                        <p:attrNameLst>
                                          <p:attrName>style.visibility</p:attrName>
                                        </p:attrNameLst>
                                      </p:cBhvr>
                                      <p:to>
                                        <p:strVal val="visible"/>
                                      </p:to>
                                    </p:set>
                                    <p:anim calcmode="lin" valueType="num">
                                      <p:cBhvr additive="base">
                                        <p:cTn id="62" dur="420" decel="100000" fill="hold"/>
                                        <p:tgtEl>
                                          <p:spTgt spid="112"/>
                                        </p:tgtEl>
                                        <p:attrNameLst>
                                          <p:attrName>ppt_w</p:attrName>
                                        </p:attrNameLst>
                                      </p:cBhvr>
                                      <p:tavLst>
                                        <p:tav tm="0">
                                          <p:val>
                                            <p:strVal val="#ppt_w*0.55"/>
                                          </p:val>
                                        </p:tav>
                                        <p:tav tm="100000">
                                          <p:val>
                                            <p:strVal val="#ppt_w"/>
                                          </p:val>
                                        </p:tav>
                                      </p:tavLst>
                                    </p:anim>
                                    <p:anim calcmode="lin" valueType="num">
                                      <p:cBhvr additive="base">
                                        <p:cTn id="63" dur="420" decel="100000" fill="hold"/>
                                        <p:tgtEl>
                                          <p:spTgt spid="112"/>
                                        </p:tgtEl>
                                        <p:attrNameLst>
                                          <p:attrName>ppt_h</p:attrName>
                                        </p:attrNameLst>
                                      </p:cBhvr>
                                      <p:tavLst>
                                        <p:tav tm="0">
                                          <p:val>
                                            <p:strVal val="#ppt_h*0.55"/>
                                          </p:val>
                                        </p:tav>
                                        <p:tav tm="100000">
                                          <p:val>
                                            <p:strVal val="#ppt_h"/>
                                          </p:val>
                                        </p:tav>
                                      </p:tavLst>
                                    </p:anim>
                                    <p:animEffect transition="in" filter="fade">
                                      <p:cBhvr>
                                        <p:cTn id="64" dur="420"/>
                                        <p:tgtEl>
                                          <p:spTgt spid="112"/>
                                        </p:tgtEl>
                                      </p:cBhvr>
                                    </p:animEffect>
                                  </p:childTnLst>
                                </p:cTn>
                              </p:par>
                              <p:par>
                                <p:cTn id="65" presetID="53" presetClass="entr" presetSubtype="16" fill="hold" grpId="0" nodeType="withEffect">
                                  <p:stCondLst>
                                    <p:cond delay="180"/>
                                  </p:stCondLst>
                                  <p:childTnLst>
                                    <p:set>
                                      <p:cBhvr>
                                        <p:cTn id="66" dur="1" fill="hold">
                                          <p:stCondLst>
                                            <p:cond delay="0"/>
                                          </p:stCondLst>
                                        </p:cTn>
                                        <p:tgtEl>
                                          <p:spTgt spid="113"/>
                                        </p:tgtEl>
                                        <p:attrNameLst>
                                          <p:attrName>style.visibility</p:attrName>
                                        </p:attrNameLst>
                                      </p:cBhvr>
                                      <p:to>
                                        <p:strVal val="visible"/>
                                      </p:to>
                                    </p:set>
                                    <p:anim calcmode="lin" valueType="num">
                                      <p:cBhvr additive="base">
                                        <p:cTn id="67" dur="420" decel="100000" fill="hold"/>
                                        <p:tgtEl>
                                          <p:spTgt spid="113"/>
                                        </p:tgtEl>
                                        <p:attrNameLst>
                                          <p:attrName>ppt_w</p:attrName>
                                        </p:attrNameLst>
                                      </p:cBhvr>
                                      <p:tavLst>
                                        <p:tav tm="0">
                                          <p:val>
                                            <p:strVal val="#ppt_w*0.55"/>
                                          </p:val>
                                        </p:tav>
                                        <p:tav tm="100000">
                                          <p:val>
                                            <p:strVal val="#ppt_w"/>
                                          </p:val>
                                        </p:tav>
                                      </p:tavLst>
                                    </p:anim>
                                    <p:anim calcmode="lin" valueType="num">
                                      <p:cBhvr additive="base">
                                        <p:cTn id="68" dur="420" decel="100000" fill="hold"/>
                                        <p:tgtEl>
                                          <p:spTgt spid="113"/>
                                        </p:tgtEl>
                                        <p:attrNameLst>
                                          <p:attrName>ppt_h</p:attrName>
                                        </p:attrNameLst>
                                      </p:cBhvr>
                                      <p:tavLst>
                                        <p:tav tm="0">
                                          <p:val>
                                            <p:strVal val="#ppt_h*0.55"/>
                                          </p:val>
                                        </p:tav>
                                        <p:tav tm="100000">
                                          <p:val>
                                            <p:strVal val="#ppt_h"/>
                                          </p:val>
                                        </p:tav>
                                      </p:tavLst>
                                    </p:anim>
                                    <p:animEffect transition="in" filter="fade">
                                      <p:cBhvr>
                                        <p:cTn id="69" dur="420"/>
                                        <p:tgtEl>
                                          <p:spTgt spid="113"/>
                                        </p:tgtEl>
                                      </p:cBhvr>
                                    </p:animEffect>
                                  </p:childTnLst>
                                </p:cTn>
                              </p:par>
                              <p:par>
                                <p:cTn id="70" presetID="53" presetClass="entr" presetSubtype="16" fill="hold" nodeType="withEffect">
                                  <p:stCondLst>
                                    <p:cond delay="180"/>
                                  </p:stCondLst>
                                  <p:childTnLst>
                                    <p:set>
                                      <p:cBhvr>
                                        <p:cTn id="71" dur="1" fill="hold">
                                          <p:stCondLst>
                                            <p:cond delay="0"/>
                                          </p:stCondLst>
                                        </p:cTn>
                                        <p:tgtEl>
                                          <p:spTgt spid="114"/>
                                        </p:tgtEl>
                                        <p:attrNameLst>
                                          <p:attrName>style.visibility</p:attrName>
                                        </p:attrNameLst>
                                      </p:cBhvr>
                                      <p:to>
                                        <p:strVal val="visible"/>
                                      </p:to>
                                    </p:set>
                                    <p:anim calcmode="lin" valueType="num">
                                      <p:cBhvr additive="base">
                                        <p:cTn id="72" dur="420" decel="100000" fill="hold"/>
                                        <p:tgtEl>
                                          <p:spTgt spid="114"/>
                                        </p:tgtEl>
                                        <p:attrNameLst>
                                          <p:attrName>ppt_w</p:attrName>
                                        </p:attrNameLst>
                                      </p:cBhvr>
                                      <p:tavLst>
                                        <p:tav tm="0">
                                          <p:val>
                                            <p:strVal val="#ppt_w*0.55"/>
                                          </p:val>
                                        </p:tav>
                                        <p:tav tm="100000">
                                          <p:val>
                                            <p:strVal val="#ppt_w"/>
                                          </p:val>
                                        </p:tav>
                                      </p:tavLst>
                                    </p:anim>
                                    <p:anim calcmode="lin" valueType="num">
                                      <p:cBhvr additive="base">
                                        <p:cTn id="73" dur="420" decel="100000" fill="hold"/>
                                        <p:tgtEl>
                                          <p:spTgt spid="114"/>
                                        </p:tgtEl>
                                        <p:attrNameLst>
                                          <p:attrName>ppt_h</p:attrName>
                                        </p:attrNameLst>
                                      </p:cBhvr>
                                      <p:tavLst>
                                        <p:tav tm="0">
                                          <p:val>
                                            <p:strVal val="#ppt_h*0.55"/>
                                          </p:val>
                                        </p:tav>
                                        <p:tav tm="100000">
                                          <p:val>
                                            <p:strVal val="#ppt_h"/>
                                          </p:val>
                                        </p:tav>
                                      </p:tavLst>
                                    </p:anim>
                                    <p:animEffect transition="in" filter="fade">
                                      <p:cBhvr>
                                        <p:cTn id="74" dur="420"/>
                                        <p:tgtEl>
                                          <p:spTgt spid="114"/>
                                        </p:tgtEl>
                                      </p:cBhvr>
                                    </p:animEffect>
                                  </p:childTnLst>
                                </p:cTn>
                              </p:par>
                              <p:par>
                                <p:cTn id="75" presetID="53" presetClass="entr" presetSubtype="16" fill="hold" grpId="0" nodeType="withEffect">
                                  <p:stCondLst>
                                    <p:cond delay="180"/>
                                  </p:stCondLst>
                                  <p:childTnLst>
                                    <p:set>
                                      <p:cBhvr>
                                        <p:cTn id="76" dur="1" fill="hold">
                                          <p:stCondLst>
                                            <p:cond delay="0"/>
                                          </p:stCondLst>
                                        </p:cTn>
                                        <p:tgtEl>
                                          <p:spTgt spid="115"/>
                                        </p:tgtEl>
                                        <p:attrNameLst>
                                          <p:attrName>style.visibility</p:attrName>
                                        </p:attrNameLst>
                                      </p:cBhvr>
                                      <p:to>
                                        <p:strVal val="visible"/>
                                      </p:to>
                                    </p:set>
                                    <p:anim calcmode="lin" valueType="num">
                                      <p:cBhvr additive="base">
                                        <p:cTn id="77" dur="420" decel="100000" fill="hold"/>
                                        <p:tgtEl>
                                          <p:spTgt spid="115"/>
                                        </p:tgtEl>
                                        <p:attrNameLst>
                                          <p:attrName>ppt_w</p:attrName>
                                        </p:attrNameLst>
                                      </p:cBhvr>
                                      <p:tavLst>
                                        <p:tav tm="0">
                                          <p:val>
                                            <p:strVal val="#ppt_w*0.55"/>
                                          </p:val>
                                        </p:tav>
                                        <p:tav tm="100000">
                                          <p:val>
                                            <p:strVal val="#ppt_w"/>
                                          </p:val>
                                        </p:tav>
                                      </p:tavLst>
                                    </p:anim>
                                    <p:anim calcmode="lin" valueType="num">
                                      <p:cBhvr additive="base">
                                        <p:cTn id="78" dur="420" decel="100000" fill="hold"/>
                                        <p:tgtEl>
                                          <p:spTgt spid="115"/>
                                        </p:tgtEl>
                                        <p:attrNameLst>
                                          <p:attrName>ppt_h</p:attrName>
                                        </p:attrNameLst>
                                      </p:cBhvr>
                                      <p:tavLst>
                                        <p:tav tm="0">
                                          <p:val>
                                            <p:strVal val="#ppt_h*0.55"/>
                                          </p:val>
                                        </p:tav>
                                        <p:tav tm="100000">
                                          <p:val>
                                            <p:strVal val="#ppt_h"/>
                                          </p:val>
                                        </p:tav>
                                      </p:tavLst>
                                    </p:anim>
                                    <p:animEffect transition="in" filter="fade">
                                      <p:cBhvr>
                                        <p:cTn id="79" dur="420"/>
                                        <p:tgtEl>
                                          <p:spTgt spid="115"/>
                                        </p:tgtEl>
                                      </p:cBhvr>
                                    </p:animEffect>
                                  </p:childTnLst>
                                </p:cTn>
                              </p:par>
                              <p:par>
                                <p:cTn id="80" presetID="53" presetClass="entr" presetSubtype="16" fill="hold" grpId="0" nodeType="withEffect">
                                  <p:stCondLst>
                                    <p:cond delay="270"/>
                                  </p:stCondLst>
                                  <p:childTnLst>
                                    <p:set>
                                      <p:cBhvr>
                                        <p:cTn id="81" dur="1" fill="hold">
                                          <p:stCondLst>
                                            <p:cond delay="0"/>
                                          </p:stCondLst>
                                        </p:cTn>
                                        <p:tgtEl>
                                          <p:spTgt spid="116"/>
                                        </p:tgtEl>
                                        <p:attrNameLst>
                                          <p:attrName>style.visibility</p:attrName>
                                        </p:attrNameLst>
                                      </p:cBhvr>
                                      <p:to>
                                        <p:strVal val="visible"/>
                                      </p:to>
                                    </p:set>
                                    <p:anim calcmode="lin" valueType="num">
                                      <p:cBhvr additive="base">
                                        <p:cTn id="82" dur="420" decel="100000" fill="hold"/>
                                        <p:tgtEl>
                                          <p:spTgt spid="116"/>
                                        </p:tgtEl>
                                        <p:attrNameLst>
                                          <p:attrName>ppt_w</p:attrName>
                                        </p:attrNameLst>
                                      </p:cBhvr>
                                      <p:tavLst>
                                        <p:tav tm="0">
                                          <p:val>
                                            <p:strVal val="#ppt_w*0.55"/>
                                          </p:val>
                                        </p:tav>
                                        <p:tav tm="100000">
                                          <p:val>
                                            <p:strVal val="#ppt_w"/>
                                          </p:val>
                                        </p:tav>
                                      </p:tavLst>
                                    </p:anim>
                                    <p:anim calcmode="lin" valueType="num">
                                      <p:cBhvr additive="base">
                                        <p:cTn id="83" dur="420" decel="100000" fill="hold"/>
                                        <p:tgtEl>
                                          <p:spTgt spid="116"/>
                                        </p:tgtEl>
                                        <p:attrNameLst>
                                          <p:attrName>ppt_h</p:attrName>
                                        </p:attrNameLst>
                                      </p:cBhvr>
                                      <p:tavLst>
                                        <p:tav tm="0">
                                          <p:val>
                                            <p:strVal val="#ppt_h*0.55"/>
                                          </p:val>
                                        </p:tav>
                                        <p:tav tm="100000">
                                          <p:val>
                                            <p:strVal val="#ppt_h"/>
                                          </p:val>
                                        </p:tav>
                                      </p:tavLst>
                                    </p:anim>
                                    <p:animEffect transition="in" filter="fade">
                                      <p:cBhvr>
                                        <p:cTn id="84" dur="420"/>
                                        <p:tgtEl>
                                          <p:spTgt spid="116"/>
                                        </p:tgtEl>
                                      </p:cBhvr>
                                    </p:animEffect>
                                  </p:childTnLst>
                                </p:cTn>
                              </p:par>
                              <p:par>
                                <p:cTn id="85" presetID="53" presetClass="entr" presetSubtype="16" fill="hold" grpId="0" nodeType="withEffect">
                                  <p:stCondLst>
                                    <p:cond delay="270"/>
                                  </p:stCondLst>
                                  <p:childTnLst>
                                    <p:set>
                                      <p:cBhvr>
                                        <p:cTn id="86" dur="1" fill="hold">
                                          <p:stCondLst>
                                            <p:cond delay="0"/>
                                          </p:stCondLst>
                                        </p:cTn>
                                        <p:tgtEl>
                                          <p:spTgt spid="117"/>
                                        </p:tgtEl>
                                        <p:attrNameLst>
                                          <p:attrName>style.visibility</p:attrName>
                                        </p:attrNameLst>
                                      </p:cBhvr>
                                      <p:to>
                                        <p:strVal val="visible"/>
                                      </p:to>
                                    </p:set>
                                    <p:anim calcmode="lin" valueType="num">
                                      <p:cBhvr additive="base">
                                        <p:cTn id="87" dur="420" decel="100000" fill="hold"/>
                                        <p:tgtEl>
                                          <p:spTgt spid="117"/>
                                        </p:tgtEl>
                                        <p:attrNameLst>
                                          <p:attrName>ppt_w</p:attrName>
                                        </p:attrNameLst>
                                      </p:cBhvr>
                                      <p:tavLst>
                                        <p:tav tm="0">
                                          <p:val>
                                            <p:strVal val="#ppt_w*0.55"/>
                                          </p:val>
                                        </p:tav>
                                        <p:tav tm="100000">
                                          <p:val>
                                            <p:strVal val="#ppt_w"/>
                                          </p:val>
                                        </p:tav>
                                      </p:tavLst>
                                    </p:anim>
                                    <p:anim calcmode="lin" valueType="num">
                                      <p:cBhvr additive="base">
                                        <p:cTn id="88" dur="420" decel="100000" fill="hold"/>
                                        <p:tgtEl>
                                          <p:spTgt spid="117"/>
                                        </p:tgtEl>
                                        <p:attrNameLst>
                                          <p:attrName>ppt_h</p:attrName>
                                        </p:attrNameLst>
                                      </p:cBhvr>
                                      <p:tavLst>
                                        <p:tav tm="0">
                                          <p:val>
                                            <p:strVal val="#ppt_h*0.55"/>
                                          </p:val>
                                        </p:tav>
                                        <p:tav tm="100000">
                                          <p:val>
                                            <p:strVal val="#ppt_h"/>
                                          </p:val>
                                        </p:tav>
                                      </p:tavLst>
                                    </p:anim>
                                    <p:animEffect transition="in" filter="fade">
                                      <p:cBhvr>
                                        <p:cTn id="89" dur="420"/>
                                        <p:tgtEl>
                                          <p:spTgt spid="117"/>
                                        </p:tgtEl>
                                      </p:cBhvr>
                                    </p:animEffect>
                                  </p:childTnLst>
                                </p:cTn>
                              </p:par>
                              <p:par>
                                <p:cTn id="90" presetID="53" presetClass="entr" presetSubtype="16" fill="hold" grpId="0" nodeType="withEffect">
                                  <p:stCondLst>
                                    <p:cond delay="270"/>
                                  </p:stCondLst>
                                  <p:childTnLst>
                                    <p:set>
                                      <p:cBhvr>
                                        <p:cTn id="91" dur="1" fill="hold">
                                          <p:stCondLst>
                                            <p:cond delay="0"/>
                                          </p:stCondLst>
                                        </p:cTn>
                                        <p:tgtEl>
                                          <p:spTgt spid="118"/>
                                        </p:tgtEl>
                                        <p:attrNameLst>
                                          <p:attrName>style.visibility</p:attrName>
                                        </p:attrNameLst>
                                      </p:cBhvr>
                                      <p:to>
                                        <p:strVal val="visible"/>
                                      </p:to>
                                    </p:set>
                                    <p:anim calcmode="lin" valueType="num">
                                      <p:cBhvr additive="base">
                                        <p:cTn id="92" dur="420" decel="100000" fill="hold"/>
                                        <p:tgtEl>
                                          <p:spTgt spid="118"/>
                                        </p:tgtEl>
                                        <p:attrNameLst>
                                          <p:attrName>ppt_w</p:attrName>
                                        </p:attrNameLst>
                                      </p:cBhvr>
                                      <p:tavLst>
                                        <p:tav tm="0">
                                          <p:val>
                                            <p:strVal val="#ppt_w*0.55"/>
                                          </p:val>
                                        </p:tav>
                                        <p:tav tm="100000">
                                          <p:val>
                                            <p:strVal val="#ppt_w"/>
                                          </p:val>
                                        </p:tav>
                                      </p:tavLst>
                                    </p:anim>
                                    <p:anim calcmode="lin" valueType="num">
                                      <p:cBhvr additive="base">
                                        <p:cTn id="93" dur="420" decel="100000" fill="hold"/>
                                        <p:tgtEl>
                                          <p:spTgt spid="118"/>
                                        </p:tgtEl>
                                        <p:attrNameLst>
                                          <p:attrName>ppt_h</p:attrName>
                                        </p:attrNameLst>
                                      </p:cBhvr>
                                      <p:tavLst>
                                        <p:tav tm="0">
                                          <p:val>
                                            <p:strVal val="#ppt_h*0.55"/>
                                          </p:val>
                                        </p:tav>
                                        <p:tav tm="100000">
                                          <p:val>
                                            <p:strVal val="#ppt_h"/>
                                          </p:val>
                                        </p:tav>
                                      </p:tavLst>
                                    </p:anim>
                                    <p:animEffect transition="in" filter="fade">
                                      <p:cBhvr>
                                        <p:cTn id="94" dur="420"/>
                                        <p:tgtEl>
                                          <p:spTgt spid="118"/>
                                        </p:tgtEl>
                                      </p:cBhvr>
                                    </p:animEffect>
                                  </p:childTnLst>
                                </p:cTn>
                              </p:par>
                              <p:par>
                                <p:cTn id="95" presetID="53" presetClass="entr" presetSubtype="16" fill="hold" nodeType="withEffect">
                                  <p:stCondLst>
                                    <p:cond delay="270"/>
                                  </p:stCondLst>
                                  <p:childTnLst>
                                    <p:set>
                                      <p:cBhvr>
                                        <p:cTn id="96" dur="1" fill="hold">
                                          <p:stCondLst>
                                            <p:cond delay="0"/>
                                          </p:stCondLst>
                                        </p:cTn>
                                        <p:tgtEl>
                                          <p:spTgt spid="119"/>
                                        </p:tgtEl>
                                        <p:attrNameLst>
                                          <p:attrName>style.visibility</p:attrName>
                                        </p:attrNameLst>
                                      </p:cBhvr>
                                      <p:to>
                                        <p:strVal val="visible"/>
                                      </p:to>
                                    </p:set>
                                    <p:anim calcmode="lin" valueType="num">
                                      <p:cBhvr additive="base">
                                        <p:cTn id="97" dur="420" decel="100000" fill="hold"/>
                                        <p:tgtEl>
                                          <p:spTgt spid="119"/>
                                        </p:tgtEl>
                                        <p:attrNameLst>
                                          <p:attrName>ppt_w</p:attrName>
                                        </p:attrNameLst>
                                      </p:cBhvr>
                                      <p:tavLst>
                                        <p:tav tm="0">
                                          <p:val>
                                            <p:strVal val="#ppt_w*0.55"/>
                                          </p:val>
                                        </p:tav>
                                        <p:tav tm="100000">
                                          <p:val>
                                            <p:strVal val="#ppt_w"/>
                                          </p:val>
                                        </p:tav>
                                      </p:tavLst>
                                    </p:anim>
                                    <p:anim calcmode="lin" valueType="num">
                                      <p:cBhvr additive="base">
                                        <p:cTn id="98" dur="420" decel="100000" fill="hold"/>
                                        <p:tgtEl>
                                          <p:spTgt spid="119"/>
                                        </p:tgtEl>
                                        <p:attrNameLst>
                                          <p:attrName>ppt_h</p:attrName>
                                        </p:attrNameLst>
                                      </p:cBhvr>
                                      <p:tavLst>
                                        <p:tav tm="0">
                                          <p:val>
                                            <p:strVal val="#ppt_h*0.55"/>
                                          </p:val>
                                        </p:tav>
                                        <p:tav tm="100000">
                                          <p:val>
                                            <p:strVal val="#ppt_h"/>
                                          </p:val>
                                        </p:tav>
                                      </p:tavLst>
                                    </p:anim>
                                    <p:animEffect transition="in" filter="fade">
                                      <p:cBhvr>
                                        <p:cTn id="99" dur="420"/>
                                        <p:tgtEl>
                                          <p:spTgt spid="119"/>
                                        </p:tgtEl>
                                      </p:cBhvr>
                                    </p:animEffect>
                                  </p:childTnLst>
                                </p:cTn>
                              </p:par>
                              <p:par>
                                <p:cTn id="100" presetID="53" presetClass="entr" presetSubtype="16" fill="hold" grpId="0" nodeType="withEffect">
                                  <p:stCondLst>
                                    <p:cond delay="270"/>
                                  </p:stCondLst>
                                  <p:childTnLst>
                                    <p:set>
                                      <p:cBhvr>
                                        <p:cTn id="101" dur="1" fill="hold">
                                          <p:stCondLst>
                                            <p:cond delay="0"/>
                                          </p:stCondLst>
                                        </p:cTn>
                                        <p:tgtEl>
                                          <p:spTgt spid="120"/>
                                        </p:tgtEl>
                                        <p:attrNameLst>
                                          <p:attrName>style.visibility</p:attrName>
                                        </p:attrNameLst>
                                      </p:cBhvr>
                                      <p:to>
                                        <p:strVal val="visible"/>
                                      </p:to>
                                    </p:set>
                                    <p:anim calcmode="lin" valueType="num">
                                      <p:cBhvr additive="base">
                                        <p:cTn id="102" dur="420" decel="100000" fill="hold"/>
                                        <p:tgtEl>
                                          <p:spTgt spid="120"/>
                                        </p:tgtEl>
                                        <p:attrNameLst>
                                          <p:attrName>ppt_w</p:attrName>
                                        </p:attrNameLst>
                                      </p:cBhvr>
                                      <p:tavLst>
                                        <p:tav tm="0">
                                          <p:val>
                                            <p:strVal val="#ppt_w*0.55"/>
                                          </p:val>
                                        </p:tav>
                                        <p:tav tm="100000">
                                          <p:val>
                                            <p:strVal val="#ppt_w"/>
                                          </p:val>
                                        </p:tav>
                                      </p:tavLst>
                                    </p:anim>
                                    <p:anim calcmode="lin" valueType="num">
                                      <p:cBhvr additive="base">
                                        <p:cTn id="103" dur="420" decel="100000" fill="hold"/>
                                        <p:tgtEl>
                                          <p:spTgt spid="120"/>
                                        </p:tgtEl>
                                        <p:attrNameLst>
                                          <p:attrName>ppt_h</p:attrName>
                                        </p:attrNameLst>
                                      </p:cBhvr>
                                      <p:tavLst>
                                        <p:tav tm="0">
                                          <p:val>
                                            <p:strVal val="#ppt_h*0.55"/>
                                          </p:val>
                                        </p:tav>
                                        <p:tav tm="100000">
                                          <p:val>
                                            <p:strVal val="#ppt_h"/>
                                          </p:val>
                                        </p:tav>
                                      </p:tavLst>
                                    </p:anim>
                                    <p:animEffect transition="in" filter="fade">
                                      <p:cBhvr>
                                        <p:cTn id="104" dur="420"/>
                                        <p:tgtEl>
                                          <p:spTgt spid="120"/>
                                        </p:tgtEl>
                                      </p:cBhvr>
                                    </p:animEffect>
                                  </p:childTnLst>
                                </p:cTn>
                              </p:par>
                              <p:par>
                                <p:cTn id="105" presetID="53" presetClass="entr" presetSubtype="16" fill="hold" grpId="0" nodeType="withEffect">
                                  <p:stCondLst>
                                    <p:cond delay="360"/>
                                  </p:stCondLst>
                                  <p:childTnLst>
                                    <p:set>
                                      <p:cBhvr>
                                        <p:cTn id="106" dur="1" fill="hold">
                                          <p:stCondLst>
                                            <p:cond delay="0"/>
                                          </p:stCondLst>
                                        </p:cTn>
                                        <p:tgtEl>
                                          <p:spTgt spid="121"/>
                                        </p:tgtEl>
                                        <p:attrNameLst>
                                          <p:attrName>style.visibility</p:attrName>
                                        </p:attrNameLst>
                                      </p:cBhvr>
                                      <p:to>
                                        <p:strVal val="visible"/>
                                      </p:to>
                                    </p:set>
                                    <p:anim calcmode="lin" valueType="num">
                                      <p:cBhvr additive="base">
                                        <p:cTn id="107" dur="420" decel="100000" fill="hold"/>
                                        <p:tgtEl>
                                          <p:spTgt spid="121"/>
                                        </p:tgtEl>
                                        <p:attrNameLst>
                                          <p:attrName>ppt_w</p:attrName>
                                        </p:attrNameLst>
                                      </p:cBhvr>
                                      <p:tavLst>
                                        <p:tav tm="0">
                                          <p:val>
                                            <p:strVal val="#ppt_w*0.55"/>
                                          </p:val>
                                        </p:tav>
                                        <p:tav tm="100000">
                                          <p:val>
                                            <p:strVal val="#ppt_w"/>
                                          </p:val>
                                        </p:tav>
                                      </p:tavLst>
                                    </p:anim>
                                    <p:anim calcmode="lin" valueType="num">
                                      <p:cBhvr additive="base">
                                        <p:cTn id="108" dur="420" decel="100000" fill="hold"/>
                                        <p:tgtEl>
                                          <p:spTgt spid="121"/>
                                        </p:tgtEl>
                                        <p:attrNameLst>
                                          <p:attrName>ppt_h</p:attrName>
                                        </p:attrNameLst>
                                      </p:cBhvr>
                                      <p:tavLst>
                                        <p:tav tm="0">
                                          <p:val>
                                            <p:strVal val="#ppt_h*0.55"/>
                                          </p:val>
                                        </p:tav>
                                        <p:tav tm="100000">
                                          <p:val>
                                            <p:strVal val="#ppt_h"/>
                                          </p:val>
                                        </p:tav>
                                      </p:tavLst>
                                    </p:anim>
                                    <p:animEffect transition="in" filter="fade">
                                      <p:cBhvr>
                                        <p:cTn id="109" dur="420"/>
                                        <p:tgtEl>
                                          <p:spTgt spid="121"/>
                                        </p:tgtEl>
                                      </p:cBhvr>
                                    </p:animEffect>
                                  </p:childTnLst>
                                </p:cTn>
                              </p:par>
                              <p:par>
                                <p:cTn id="110" presetID="53" presetClass="entr" presetSubtype="16" fill="hold" grpId="0" nodeType="withEffect">
                                  <p:stCondLst>
                                    <p:cond delay="360"/>
                                  </p:stCondLst>
                                  <p:childTnLst>
                                    <p:set>
                                      <p:cBhvr>
                                        <p:cTn id="111" dur="1" fill="hold">
                                          <p:stCondLst>
                                            <p:cond delay="0"/>
                                          </p:stCondLst>
                                        </p:cTn>
                                        <p:tgtEl>
                                          <p:spTgt spid="122"/>
                                        </p:tgtEl>
                                        <p:attrNameLst>
                                          <p:attrName>style.visibility</p:attrName>
                                        </p:attrNameLst>
                                      </p:cBhvr>
                                      <p:to>
                                        <p:strVal val="visible"/>
                                      </p:to>
                                    </p:set>
                                    <p:anim calcmode="lin" valueType="num">
                                      <p:cBhvr additive="base">
                                        <p:cTn id="112" dur="420" decel="100000" fill="hold"/>
                                        <p:tgtEl>
                                          <p:spTgt spid="122"/>
                                        </p:tgtEl>
                                        <p:attrNameLst>
                                          <p:attrName>ppt_w</p:attrName>
                                        </p:attrNameLst>
                                      </p:cBhvr>
                                      <p:tavLst>
                                        <p:tav tm="0">
                                          <p:val>
                                            <p:strVal val="#ppt_w*0.55"/>
                                          </p:val>
                                        </p:tav>
                                        <p:tav tm="100000">
                                          <p:val>
                                            <p:strVal val="#ppt_w"/>
                                          </p:val>
                                        </p:tav>
                                      </p:tavLst>
                                    </p:anim>
                                    <p:anim calcmode="lin" valueType="num">
                                      <p:cBhvr additive="base">
                                        <p:cTn id="113" dur="420" decel="100000" fill="hold"/>
                                        <p:tgtEl>
                                          <p:spTgt spid="122"/>
                                        </p:tgtEl>
                                        <p:attrNameLst>
                                          <p:attrName>ppt_h</p:attrName>
                                        </p:attrNameLst>
                                      </p:cBhvr>
                                      <p:tavLst>
                                        <p:tav tm="0">
                                          <p:val>
                                            <p:strVal val="#ppt_h*0.55"/>
                                          </p:val>
                                        </p:tav>
                                        <p:tav tm="100000">
                                          <p:val>
                                            <p:strVal val="#ppt_h"/>
                                          </p:val>
                                        </p:tav>
                                      </p:tavLst>
                                    </p:anim>
                                    <p:animEffect transition="in" filter="fade">
                                      <p:cBhvr>
                                        <p:cTn id="114" dur="420"/>
                                        <p:tgtEl>
                                          <p:spTgt spid="122"/>
                                        </p:tgtEl>
                                      </p:cBhvr>
                                    </p:animEffect>
                                  </p:childTnLst>
                                </p:cTn>
                              </p:par>
                              <p:par>
                                <p:cTn id="115" presetID="53" presetClass="entr" presetSubtype="16" fill="hold" grpId="0" nodeType="withEffect">
                                  <p:stCondLst>
                                    <p:cond delay="360"/>
                                  </p:stCondLst>
                                  <p:childTnLst>
                                    <p:set>
                                      <p:cBhvr>
                                        <p:cTn id="116" dur="1" fill="hold">
                                          <p:stCondLst>
                                            <p:cond delay="0"/>
                                          </p:stCondLst>
                                        </p:cTn>
                                        <p:tgtEl>
                                          <p:spTgt spid="123"/>
                                        </p:tgtEl>
                                        <p:attrNameLst>
                                          <p:attrName>style.visibility</p:attrName>
                                        </p:attrNameLst>
                                      </p:cBhvr>
                                      <p:to>
                                        <p:strVal val="visible"/>
                                      </p:to>
                                    </p:set>
                                    <p:anim calcmode="lin" valueType="num">
                                      <p:cBhvr additive="base">
                                        <p:cTn id="117" dur="420" decel="100000" fill="hold"/>
                                        <p:tgtEl>
                                          <p:spTgt spid="123"/>
                                        </p:tgtEl>
                                        <p:attrNameLst>
                                          <p:attrName>ppt_w</p:attrName>
                                        </p:attrNameLst>
                                      </p:cBhvr>
                                      <p:tavLst>
                                        <p:tav tm="0">
                                          <p:val>
                                            <p:strVal val="#ppt_w*0.55"/>
                                          </p:val>
                                        </p:tav>
                                        <p:tav tm="100000">
                                          <p:val>
                                            <p:strVal val="#ppt_w"/>
                                          </p:val>
                                        </p:tav>
                                      </p:tavLst>
                                    </p:anim>
                                    <p:anim calcmode="lin" valueType="num">
                                      <p:cBhvr additive="base">
                                        <p:cTn id="118" dur="420" decel="100000" fill="hold"/>
                                        <p:tgtEl>
                                          <p:spTgt spid="123"/>
                                        </p:tgtEl>
                                        <p:attrNameLst>
                                          <p:attrName>ppt_h</p:attrName>
                                        </p:attrNameLst>
                                      </p:cBhvr>
                                      <p:tavLst>
                                        <p:tav tm="0">
                                          <p:val>
                                            <p:strVal val="#ppt_h*0.55"/>
                                          </p:val>
                                        </p:tav>
                                        <p:tav tm="100000">
                                          <p:val>
                                            <p:strVal val="#ppt_h"/>
                                          </p:val>
                                        </p:tav>
                                      </p:tavLst>
                                    </p:anim>
                                    <p:animEffect transition="in" filter="fade">
                                      <p:cBhvr>
                                        <p:cTn id="119" dur="420"/>
                                        <p:tgtEl>
                                          <p:spTgt spid="123"/>
                                        </p:tgtEl>
                                      </p:cBhvr>
                                    </p:animEffect>
                                  </p:childTnLst>
                                </p:cTn>
                              </p:par>
                              <p:par>
                                <p:cTn id="120" presetID="53" presetClass="entr" presetSubtype="16" fill="hold" nodeType="withEffect">
                                  <p:stCondLst>
                                    <p:cond delay="360"/>
                                  </p:stCondLst>
                                  <p:childTnLst>
                                    <p:set>
                                      <p:cBhvr>
                                        <p:cTn id="121" dur="1" fill="hold">
                                          <p:stCondLst>
                                            <p:cond delay="0"/>
                                          </p:stCondLst>
                                        </p:cTn>
                                        <p:tgtEl>
                                          <p:spTgt spid="124"/>
                                        </p:tgtEl>
                                        <p:attrNameLst>
                                          <p:attrName>style.visibility</p:attrName>
                                        </p:attrNameLst>
                                      </p:cBhvr>
                                      <p:to>
                                        <p:strVal val="visible"/>
                                      </p:to>
                                    </p:set>
                                    <p:anim calcmode="lin" valueType="num">
                                      <p:cBhvr additive="base">
                                        <p:cTn id="122" dur="420" decel="100000" fill="hold"/>
                                        <p:tgtEl>
                                          <p:spTgt spid="124"/>
                                        </p:tgtEl>
                                        <p:attrNameLst>
                                          <p:attrName>ppt_w</p:attrName>
                                        </p:attrNameLst>
                                      </p:cBhvr>
                                      <p:tavLst>
                                        <p:tav tm="0">
                                          <p:val>
                                            <p:strVal val="#ppt_w*0.55"/>
                                          </p:val>
                                        </p:tav>
                                        <p:tav tm="100000">
                                          <p:val>
                                            <p:strVal val="#ppt_w"/>
                                          </p:val>
                                        </p:tav>
                                      </p:tavLst>
                                    </p:anim>
                                    <p:anim calcmode="lin" valueType="num">
                                      <p:cBhvr additive="base">
                                        <p:cTn id="123" dur="420" decel="100000" fill="hold"/>
                                        <p:tgtEl>
                                          <p:spTgt spid="124"/>
                                        </p:tgtEl>
                                        <p:attrNameLst>
                                          <p:attrName>ppt_h</p:attrName>
                                        </p:attrNameLst>
                                      </p:cBhvr>
                                      <p:tavLst>
                                        <p:tav tm="0">
                                          <p:val>
                                            <p:strVal val="#ppt_h*0.55"/>
                                          </p:val>
                                        </p:tav>
                                        <p:tav tm="100000">
                                          <p:val>
                                            <p:strVal val="#ppt_h"/>
                                          </p:val>
                                        </p:tav>
                                      </p:tavLst>
                                    </p:anim>
                                    <p:animEffect transition="in" filter="fade">
                                      <p:cBhvr>
                                        <p:cTn id="124" dur="420"/>
                                        <p:tgtEl>
                                          <p:spTgt spid="124"/>
                                        </p:tgtEl>
                                      </p:cBhvr>
                                    </p:animEffect>
                                  </p:childTnLst>
                                </p:cTn>
                              </p:par>
                              <p:par>
                                <p:cTn id="125" presetID="53" presetClass="entr" presetSubtype="16" fill="hold" grpId="0" nodeType="withEffect">
                                  <p:stCondLst>
                                    <p:cond delay="360"/>
                                  </p:stCondLst>
                                  <p:childTnLst>
                                    <p:set>
                                      <p:cBhvr>
                                        <p:cTn id="126" dur="1" fill="hold">
                                          <p:stCondLst>
                                            <p:cond delay="0"/>
                                          </p:stCondLst>
                                        </p:cTn>
                                        <p:tgtEl>
                                          <p:spTgt spid="125"/>
                                        </p:tgtEl>
                                        <p:attrNameLst>
                                          <p:attrName>style.visibility</p:attrName>
                                        </p:attrNameLst>
                                      </p:cBhvr>
                                      <p:to>
                                        <p:strVal val="visible"/>
                                      </p:to>
                                    </p:set>
                                    <p:anim calcmode="lin" valueType="num">
                                      <p:cBhvr additive="base">
                                        <p:cTn id="127" dur="420" decel="100000" fill="hold"/>
                                        <p:tgtEl>
                                          <p:spTgt spid="125"/>
                                        </p:tgtEl>
                                        <p:attrNameLst>
                                          <p:attrName>ppt_w</p:attrName>
                                        </p:attrNameLst>
                                      </p:cBhvr>
                                      <p:tavLst>
                                        <p:tav tm="0">
                                          <p:val>
                                            <p:strVal val="#ppt_w*0.55"/>
                                          </p:val>
                                        </p:tav>
                                        <p:tav tm="100000">
                                          <p:val>
                                            <p:strVal val="#ppt_w"/>
                                          </p:val>
                                        </p:tav>
                                      </p:tavLst>
                                    </p:anim>
                                    <p:anim calcmode="lin" valueType="num">
                                      <p:cBhvr additive="base">
                                        <p:cTn id="128" dur="420" decel="100000" fill="hold"/>
                                        <p:tgtEl>
                                          <p:spTgt spid="125"/>
                                        </p:tgtEl>
                                        <p:attrNameLst>
                                          <p:attrName>ppt_h</p:attrName>
                                        </p:attrNameLst>
                                      </p:cBhvr>
                                      <p:tavLst>
                                        <p:tav tm="0">
                                          <p:val>
                                            <p:strVal val="#ppt_h*0.55"/>
                                          </p:val>
                                        </p:tav>
                                        <p:tav tm="100000">
                                          <p:val>
                                            <p:strVal val="#ppt_h"/>
                                          </p:val>
                                        </p:tav>
                                      </p:tavLst>
                                    </p:anim>
                                    <p:animEffect transition="in" filter="fade">
                                      <p:cBhvr>
                                        <p:cTn id="129" dur="420"/>
                                        <p:tgtEl>
                                          <p:spTgt spid="125"/>
                                        </p:tgtEl>
                                      </p:cBhvr>
                                    </p:animEffect>
                                  </p:childTnLst>
                                </p:cTn>
                              </p:par>
                              <p:par>
                                <p:cTn id="130" presetID="53" presetClass="entr" presetSubtype="16" fill="hold" grpId="0" nodeType="withEffect">
                                  <p:stCondLst>
                                    <p:cond delay="450"/>
                                  </p:stCondLst>
                                  <p:childTnLst>
                                    <p:set>
                                      <p:cBhvr>
                                        <p:cTn id="131" dur="1" fill="hold">
                                          <p:stCondLst>
                                            <p:cond delay="0"/>
                                          </p:stCondLst>
                                        </p:cTn>
                                        <p:tgtEl>
                                          <p:spTgt spid="126"/>
                                        </p:tgtEl>
                                        <p:attrNameLst>
                                          <p:attrName>style.visibility</p:attrName>
                                        </p:attrNameLst>
                                      </p:cBhvr>
                                      <p:to>
                                        <p:strVal val="visible"/>
                                      </p:to>
                                    </p:set>
                                    <p:anim calcmode="lin" valueType="num">
                                      <p:cBhvr additive="base">
                                        <p:cTn id="132" dur="420" decel="100000" fill="hold"/>
                                        <p:tgtEl>
                                          <p:spTgt spid="126"/>
                                        </p:tgtEl>
                                        <p:attrNameLst>
                                          <p:attrName>ppt_w</p:attrName>
                                        </p:attrNameLst>
                                      </p:cBhvr>
                                      <p:tavLst>
                                        <p:tav tm="0">
                                          <p:val>
                                            <p:strVal val="#ppt_w*0.55"/>
                                          </p:val>
                                        </p:tav>
                                        <p:tav tm="100000">
                                          <p:val>
                                            <p:strVal val="#ppt_w"/>
                                          </p:val>
                                        </p:tav>
                                      </p:tavLst>
                                    </p:anim>
                                    <p:anim calcmode="lin" valueType="num">
                                      <p:cBhvr additive="base">
                                        <p:cTn id="133" dur="420" decel="100000" fill="hold"/>
                                        <p:tgtEl>
                                          <p:spTgt spid="126"/>
                                        </p:tgtEl>
                                        <p:attrNameLst>
                                          <p:attrName>ppt_h</p:attrName>
                                        </p:attrNameLst>
                                      </p:cBhvr>
                                      <p:tavLst>
                                        <p:tav tm="0">
                                          <p:val>
                                            <p:strVal val="#ppt_h*0.55"/>
                                          </p:val>
                                        </p:tav>
                                        <p:tav tm="100000">
                                          <p:val>
                                            <p:strVal val="#ppt_h"/>
                                          </p:val>
                                        </p:tav>
                                      </p:tavLst>
                                    </p:anim>
                                    <p:animEffect transition="in" filter="fade">
                                      <p:cBhvr>
                                        <p:cTn id="134" dur="420"/>
                                        <p:tgtEl>
                                          <p:spTgt spid="126"/>
                                        </p:tgtEl>
                                      </p:cBhvr>
                                    </p:animEffect>
                                  </p:childTnLst>
                                </p:cTn>
                              </p:par>
                              <p:par>
                                <p:cTn id="135" presetID="53" presetClass="entr" presetSubtype="16" fill="hold" grpId="0" nodeType="withEffect">
                                  <p:stCondLst>
                                    <p:cond delay="450"/>
                                  </p:stCondLst>
                                  <p:childTnLst>
                                    <p:set>
                                      <p:cBhvr>
                                        <p:cTn id="136" dur="1" fill="hold">
                                          <p:stCondLst>
                                            <p:cond delay="0"/>
                                          </p:stCondLst>
                                        </p:cTn>
                                        <p:tgtEl>
                                          <p:spTgt spid="127"/>
                                        </p:tgtEl>
                                        <p:attrNameLst>
                                          <p:attrName>style.visibility</p:attrName>
                                        </p:attrNameLst>
                                      </p:cBhvr>
                                      <p:to>
                                        <p:strVal val="visible"/>
                                      </p:to>
                                    </p:set>
                                    <p:anim calcmode="lin" valueType="num">
                                      <p:cBhvr additive="base">
                                        <p:cTn id="137" dur="420" decel="100000" fill="hold"/>
                                        <p:tgtEl>
                                          <p:spTgt spid="127"/>
                                        </p:tgtEl>
                                        <p:attrNameLst>
                                          <p:attrName>ppt_w</p:attrName>
                                        </p:attrNameLst>
                                      </p:cBhvr>
                                      <p:tavLst>
                                        <p:tav tm="0">
                                          <p:val>
                                            <p:strVal val="#ppt_w*0.55"/>
                                          </p:val>
                                        </p:tav>
                                        <p:tav tm="100000">
                                          <p:val>
                                            <p:strVal val="#ppt_w"/>
                                          </p:val>
                                        </p:tav>
                                      </p:tavLst>
                                    </p:anim>
                                    <p:anim calcmode="lin" valueType="num">
                                      <p:cBhvr additive="base">
                                        <p:cTn id="138" dur="420" decel="100000" fill="hold"/>
                                        <p:tgtEl>
                                          <p:spTgt spid="127"/>
                                        </p:tgtEl>
                                        <p:attrNameLst>
                                          <p:attrName>ppt_h</p:attrName>
                                        </p:attrNameLst>
                                      </p:cBhvr>
                                      <p:tavLst>
                                        <p:tav tm="0">
                                          <p:val>
                                            <p:strVal val="#ppt_h*0.55"/>
                                          </p:val>
                                        </p:tav>
                                        <p:tav tm="100000">
                                          <p:val>
                                            <p:strVal val="#ppt_h"/>
                                          </p:val>
                                        </p:tav>
                                      </p:tavLst>
                                    </p:anim>
                                    <p:animEffect transition="in" filter="fade">
                                      <p:cBhvr>
                                        <p:cTn id="139" dur="420"/>
                                        <p:tgtEl>
                                          <p:spTgt spid="127"/>
                                        </p:tgtEl>
                                      </p:cBhvr>
                                    </p:animEffect>
                                  </p:childTnLst>
                                </p:cTn>
                              </p:par>
                              <p:par>
                                <p:cTn id="140" presetID="53" presetClass="entr" presetSubtype="16" fill="hold" grpId="0" nodeType="withEffect">
                                  <p:stCondLst>
                                    <p:cond delay="450"/>
                                  </p:stCondLst>
                                  <p:childTnLst>
                                    <p:set>
                                      <p:cBhvr>
                                        <p:cTn id="141" dur="1" fill="hold">
                                          <p:stCondLst>
                                            <p:cond delay="0"/>
                                          </p:stCondLst>
                                        </p:cTn>
                                        <p:tgtEl>
                                          <p:spTgt spid="128"/>
                                        </p:tgtEl>
                                        <p:attrNameLst>
                                          <p:attrName>style.visibility</p:attrName>
                                        </p:attrNameLst>
                                      </p:cBhvr>
                                      <p:to>
                                        <p:strVal val="visible"/>
                                      </p:to>
                                    </p:set>
                                    <p:anim calcmode="lin" valueType="num">
                                      <p:cBhvr additive="base">
                                        <p:cTn id="142" dur="420" decel="100000" fill="hold"/>
                                        <p:tgtEl>
                                          <p:spTgt spid="128"/>
                                        </p:tgtEl>
                                        <p:attrNameLst>
                                          <p:attrName>ppt_w</p:attrName>
                                        </p:attrNameLst>
                                      </p:cBhvr>
                                      <p:tavLst>
                                        <p:tav tm="0">
                                          <p:val>
                                            <p:strVal val="#ppt_w*0.55"/>
                                          </p:val>
                                        </p:tav>
                                        <p:tav tm="100000">
                                          <p:val>
                                            <p:strVal val="#ppt_w"/>
                                          </p:val>
                                        </p:tav>
                                      </p:tavLst>
                                    </p:anim>
                                    <p:anim calcmode="lin" valueType="num">
                                      <p:cBhvr additive="base">
                                        <p:cTn id="143" dur="420" decel="100000" fill="hold"/>
                                        <p:tgtEl>
                                          <p:spTgt spid="128"/>
                                        </p:tgtEl>
                                        <p:attrNameLst>
                                          <p:attrName>ppt_h</p:attrName>
                                        </p:attrNameLst>
                                      </p:cBhvr>
                                      <p:tavLst>
                                        <p:tav tm="0">
                                          <p:val>
                                            <p:strVal val="#ppt_h*0.55"/>
                                          </p:val>
                                        </p:tav>
                                        <p:tav tm="100000">
                                          <p:val>
                                            <p:strVal val="#ppt_h"/>
                                          </p:val>
                                        </p:tav>
                                      </p:tavLst>
                                    </p:anim>
                                    <p:animEffect transition="in" filter="fade">
                                      <p:cBhvr>
                                        <p:cTn id="144" dur="420"/>
                                        <p:tgtEl>
                                          <p:spTgt spid="128"/>
                                        </p:tgtEl>
                                      </p:cBhvr>
                                    </p:animEffect>
                                  </p:childTnLst>
                                </p:cTn>
                              </p:par>
                              <p:par>
                                <p:cTn id="145" presetID="53" presetClass="entr" presetSubtype="16" fill="hold" nodeType="withEffect">
                                  <p:stCondLst>
                                    <p:cond delay="450"/>
                                  </p:stCondLst>
                                  <p:childTnLst>
                                    <p:set>
                                      <p:cBhvr>
                                        <p:cTn id="146" dur="1" fill="hold">
                                          <p:stCondLst>
                                            <p:cond delay="0"/>
                                          </p:stCondLst>
                                        </p:cTn>
                                        <p:tgtEl>
                                          <p:spTgt spid="129"/>
                                        </p:tgtEl>
                                        <p:attrNameLst>
                                          <p:attrName>style.visibility</p:attrName>
                                        </p:attrNameLst>
                                      </p:cBhvr>
                                      <p:to>
                                        <p:strVal val="visible"/>
                                      </p:to>
                                    </p:set>
                                    <p:anim calcmode="lin" valueType="num">
                                      <p:cBhvr additive="base">
                                        <p:cTn id="147" dur="420" decel="100000" fill="hold"/>
                                        <p:tgtEl>
                                          <p:spTgt spid="129"/>
                                        </p:tgtEl>
                                        <p:attrNameLst>
                                          <p:attrName>ppt_w</p:attrName>
                                        </p:attrNameLst>
                                      </p:cBhvr>
                                      <p:tavLst>
                                        <p:tav tm="0">
                                          <p:val>
                                            <p:strVal val="#ppt_w*0.55"/>
                                          </p:val>
                                        </p:tav>
                                        <p:tav tm="100000">
                                          <p:val>
                                            <p:strVal val="#ppt_w"/>
                                          </p:val>
                                        </p:tav>
                                      </p:tavLst>
                                    </p:anim>
                                    <p:anim calcmode="lin" valueType="num">
                                      <p:cBhvr additive="base">
                                        <p:cTn id="148" dur="420" decel="100000" fill="hold"/>
                                        <p:tgtEl>
                                          <p:spTgt spid="129"/>
                                        </p:tgtEl>
                                        <p:attrNameLst>
                                          <p:attrName>ppt_h</p:attrName>
                                        </p:attrNameLst>
                                      </p:cBhvr>
                                      <p:tavLst>
                                        <p:tav tm="0">
                                          <p:val>
                                            <p:strVal val="#ppt_h*0.55"/>
                                          </p:val>
                                        </p:tav>
                                        <p:tav tm="100000">
                                          <p:val>
                                            <p:strVal val="#ppt_h"/>
                                          </p:val>
                                        </p:tav>
                                      </p:tavLst>
                                    </p:anim>
                                    <p:animEffect transition="in" filter="fade">
                                      <p:cBhvr>
                                        <p:cTn id="149" dur="420"/>
                                        <p:tgtEl>
                                          <p:spTgt spid="129"/>
                                        </p:tgtEl>
                                      </p:cBhvr>
                                    </p:animEffect>
                                  </p:childTnLst>
                                </p:cTn>
                              </p:par>
                              <p:par>
                                <p:cTn id="150" presetID="53" presetClass="entr" presetSubtype="16" fill="hold" grpId="0" nodeType="withEffect">
                                  <p:stCondLst>
                                    <p:cond delay="450"/>
                                  </p:stCondLst>
                                  <p:childTnLst>
                                    <p:set>
                                      <p:cBhvr>
                                        <p:cTn id="151" dur="1" fill="hold">
                                          <p:stCondLst>
                                            <p:cond delay="0"/>
                                          </p:stCondLst>
                                        </p:cTn>
                                        <p:tgtEl>
                                          <p:spTgt spid="130"/>
                                        </p:tgtEl>
                                        <p:attrNameLst>
                                          <p:attrName>style.visibility</p:attrName>
                                        </p:attrNameLst>
                                      </p:cBhvr>
                                      <p:to>
                                        <p:strVal val="visible"/>
                                      </p:to>
                                    </p:set>
                                    <p:anim calcmode="lin" valueType="num">
                                      <p:cBhvr additive="base">
                                        <p:cTn id="152" dur="420" decel="100000" fill="hold"/>
                                        <p:tgtEl>
                                          <p:spTgt spid="130"/>
                                        </p:tgtEl>
                                        <p:attrNameLst>
                                          <p:attrName>ppt_w</p:attrName>
                                        </p:attrNameLst>
                                      </p:cBhvr>
                                      <p:tavLst>
                                        <p:tav tm="0">
                                          <p:val>
                                            <p:strVal val="#ppt_w*0.55"/>
                                          </p:val>
                                        </p:tav>
                                        <p:tav tm="100000">
                                          <p:val>
                                            <p:strVal val="#ppt_w"/>
                                          </p:val>
                                        </p:tav>
                                      </p:tavLst>
                                    </p:anim>
                                    <p:anim calcmode="lin" valueType="num">
                                      <p:cBhvr additive="base">
                                        <p:cTn id="153" dur="420" decel="100000" fill="hold"/>
                                        <p:tgtEl>
                                          <p:spTgt spid="130"/>
                                        </p:tgtEl>
                                        <p:attrNameLst>
                                          <p:attrName>ppt_h</p:attrName>
                                        </p:attrNameLst>
                                      </p:cBhvr>
                                      <p:tavLst>
                                        <p:tav tm="0">
                                          <p:val>
                                            <p:strVal val="#ppt_h*0.55"/>
                                          </p:val>
                                        </p:tav>
                                        <p:tav tm="100000">
                                          <p:val>
                                            <p:strVal val="#ppt_h"/>
                                          </p:val>
                                        </p:tav>
                                      </p:tavLst>
                                    </p:anim>
                                    <p:animEffect transition="in" filter="fade">
                                      <p:cBhvr>
                                        <p:cTn id="154" dur="420"/>
                                        <p:tgtEl>
                                          <p:spTgt spid="130"/>
                                        </p:tgtEl>
                                      </p:cBhvr>
                                    </p:animEffect>
                                  </p:childTnLst>
                                </p:cTn>
                              </p:par>
                              <p:par>
                                <p:cTn id="155" presetID="53" presetClass="entr" presetSubtype="16" fill="hold" grpId="0" nodeType="withEffect">
                                  <p:stCondLst>
                                    <p:cond delay="540"/>
                                  </p:stCondLst>
                                  <p:childTnLst>
                                    <p:set>
                                      <p:cBhvr>
                                        <p:cTn id="156" dur="1" fill="hold">
                                          <p:stCondLst>
                                            <p:cond delay="0"/>
                                          </p:stCondLst>
                                        </p:cTn>
                                        <p:tgtEl>
                                          <p:spTgt spid="131"/>
                                        </p:tgtEl>
                                        <p:attrNameLst>
                                          <p:attrName>style.visibility</p:attrName>
                                        </p:attrNameLst>
                                      </p:cBhvr>
                                      <p:to>
                                        <p:strVal val="visible"/>
                                      </p:to>
                                    </p:set>
                                    <p:anim calcmode="lin" valueType="num">
                                      <p:cBhvr additive="base">
                                        <p:cTn id="157" dur="420" decel="100000" fill="hold"/>
                                        <p:tgtEl>
                                          <p:spTgt spid="131"/>
                                        </p:tgtEl>
                                        <p:attrNameLst>
                                          <p:attrName>ppt_w</p:attrName>
                                        </p:attrNameLst>
                                      </p:cBhvr>
                                      <p:tavLst>
                                        <p:tav tm="0">
                                          <p:val>
                                            <p:strVal val="#ppt_w*0.55"/>
                                          </p:val>
                                        </p:tav>
                                        <p:tav tm="100000">
                                          <p:val>
                                            <p:strVal val="#ppt_w"/>
                                          </p:val>
                                        </p:tav>
                                      </p:tavLst>
                                    </p:anim>
                                    <p:anim calcmode="lin" valueType="num">
                                      <p:cBhvr additive="base">
                                        <p:cTn id="158" dur="420" decel="100000" fill="hold"/>
                                        <p:tgtEl>
                                          <p:spTgt spid="131"/>
                                        </p:tgtEl>
                                        <p:attrNameLst>
                                          <p:attrName>ppt_h</p:attrName>
                                        </p:attrNameLst>
                                      </p:cBhvr>
                                      <p:tavLst>
                                        <p:tav tm="0">
                                          <p:val>
                                            <p:strVal val="#ppt_h*0.55"/>
                                          </p:val>
                                        </p:tav>
                                        <p:tav tm="100000">
                                          <p:val>
                                            <p:strVal val="#ppt_h"/>
                                          </p:val>
                                        </p:tav>
                                      </p:tavLst>
                                    </p:anim>
                                    <p:animEffect transition="in" filter="fade">
                                      <p:cBhvr>
                                        <p:cTn id="159" dur="420"/>
                                        <p:tgtEl>
                                          <p:spTgt spid="131"/>
                                        </p:tgtEl>
                                      </p:cBhvr>
                                    </p:animEffect>
                                  </p:childTnLst>
                                </p:cTn>
                              </p:par>
                              <p:par>
                                <p:cTn id="160" presetID="53" presetClass="entr" presetSubtype="16" fill="hold" grpId="0" nodeType="withEffect">
                                  <p:stCondLst>
                                    <p:cond delay="540"/>
                                  </p:stCondLst>
                                  <p:childTnLst>
                                    <p:set>
                                      <p:cBhvr>
                                        <p:cTn id="161" dur="1" fill="hold">
                                          <p:stCondLst>
                                            <p:cond delay="0"/>
                                          </p:stCondLst>
                                        </p:cTn>
                                        <p:tgtEl>
                                          <p:spTgt spid="132"/>
                                        </p:tgtEl>
                                        <p:attrNameLst>
                                          <p:attrName>style.visibility</p:attrName>
                                        </p:attrNameLst>
                                      </p:cBhvr>
                                      <p:to>
                                        <p:strVal val="visible"/>
                                      </p:to>
                                    </p:set>
                                    <p:anim calcmode="lin" valueType="num">
                                      <p:cBhvr additive="base">
                                        <p:cTn id="162" dur="420" decel="100000" fill="hold"/>
                                        <p:tgtEl>
                                          <p:spTgt spid="132"/>
                                        </p:tgtEl>
                                        <p:attrNameLst>
                                          <p:attrName>ppt_w</p:attrName>
                                        </p:attrNameLst>
                                      </p:cBhvr>
                                      <p:tavLst>
                                        <p:tav tm="0">
                                          <p:val>
                                            <p:strVal val="#ppt_w*0.55"/>
                                          </p:val>
                                        </p:tav>
                                        <p:tav tm="100000">
                                          <p:val>
                                            <p:strVal val="#ppt_w"/>
                                          </p:val>
                                        </p:tav>
                                      </p:tavLst>
                                    </p:anim>
                                    <p:anim calcmode="lin" valueType="num">
                                      <p:cBhvr additive="base">
                                        <p:cTn id="163" dur="420" decel="100000" fill="hold"/>
                                        <p:tgtEl>
                                          <p:spTgt spid="132"/>
                                        </p:tgtEl>
                                        <p:attrNameLst>
                                          <p:attrName>ppt_h</p:attrName>
                                        </p:attrNameLst>
                                      </p:cBhvr>
                                      <p:tavLst>
                                        <p:tav tm="0">
                                          <p:val>
                                            <p:strVal val="#ppt_h*0.55"/>
                                          </p:val>
                                        </p:tav>
                                        <p:tav tm="100000">
                                          <p:val>
                                            <p:strVal val="#ppt_h"/>
                                          </p:val>
                                        </p:tav>
                                      </p:tavLst>
                                    </p:anim>
                                    <p:animEffect transition="in" filter="fade">
                                      <p:cBhvr>
                                        <p:cTn id="164" dur="420"/>
                                        <p:tgtEl>
                                          <p:spTgt spid="132"/>
                                        </p:tgtEl>
                                      </p:cBhvr>
                                    </p:animEffect>
                                  </p:childTnLst>
                                </p:cTn>
                              </p:par>
                              <p:par>
                                <p:cTn id="165" presetID="53" presetClass="entr" presetSubtype="16" fill="hold" grpId="0" nodeType="withEffect">
                                  <p:stCondLst>
                                    <p:cond delay="540"/>
                                  </p:stCondLst>
                                  <p:childTnLst>
                                    <p:set>
                                      <p:cBhvr>
                                        <p:cTn id="166" dur="1" fill="hold">
                                          <p:stCondLst>
                                            <p:cond delay="0"/>
                                          </p:stCondLst>
                                        </p:cTn>
                                        <p:tgtEl>
                                          <p:spTgt spid="133"/>
                                        </p:tgtEl>
                                        <p:attrNameLst>
                                          <p:attrName>style.visibility</p:attrName>
                                        </p:attrNameLst>
                                      </p:cBhvr>
                                      <p:to>
                                        <p:strVal val="visible"/>
                                      </p:to>
                                    </p:set>
                                    <p:anim calcmode="lin" valueType="num">
                                      <p:cBhvr additive="base">
                                        <p:cTn id="167" dur="420" decel="100000" fill="hold"/>
                                        <p:tgtEl>
                                          <p:spTgt spid="133"/>
                                        </p:tgtEl>
                                        <p:attrNameLst>
                                          <p:attrName>ppt_w</p:attrName>
                                        </p:attrNameLst>
                                      </p:cBhvr>
                                      <p:tavLst>
                                        <p:tav tm="0">
                                          <p:val>
                                            <p:strVal val="#ppt_w*0.55"/>
                                          </p:val>
                                        </p:tav>
                                        <p:tav tm="100000">
                                          <p:val>
                                            <p:strVal val="#ppt_w"/>
                                          </p:val>
                                        </p:tav>
                                      </p:tavLst>
                                    </p:anim>
                                    <p:anim calcmode="lin" valueType="num">
                                      <p:cBhvr additive="base">
                                        <p:cTn id="168" dur="420" decel="100000" fill="hold"/>
                                        <p:tgtEl>
                                          <p:spTgt spid="133"/>
                                        </p:tgtEl>
                                        <p:attrNameLst>
                                          <p:attrName>ppt_h</p:attrName>
                                        </p:attrNameLst>
                                      </p:cBhvr>
                                      <p:tavLst>
                                        <p:tav tm="0">
                                          <p:val>
                                            <p:strVal val="#ppt_h*0.55"/>
                                          </p:val>
                                        </p:tav>
                                        <p:tav tm="100000">
                                          <p:val>
                                            <p:strVal val="#ppt_h"/>
                                          </p:val>
                                        </p:tav>
                                      </p:tavLst>
                                    </p:anim>
                                    <p:animEffect transition="in" filter="fade">
                                      <p:cBhvr>
                                        <p:cTn id="169" dur="420"/>
                                        <p:tgtEl>
                                          <p:spTgt spid="133"/>
                                        </p:tgtEl>
                                      </p:cBhvr>
                                    </p:animEffect>
                                  </p:childTnLst>
                                </p:cTn>
                              </p:par>
                              <p:par>
                                <p:cTn id="170" presetID="53" presetClass="entr" presetSubtype="16" fill="hold" nodeType="withEffect">
                                  <p:stCondLst>
                                    <p:cond delay="540"/>
                                  </p:stCondLst>
                                  <p:childTnLst>
                                    <p:set>
                                      <p:cBhvr>
                                        <p:cTn id="171" dur="1" fill="hold">
                                          <p:stCondLst>
                                            <p:cond delay="0"/>
                                          </p:stCondLst>
                                        </p:cTn>
                                        <p:tgtEl>
                                          <p:spTgt spid="134"/>
                                        </p:tgtEl>
                                        <p:attrNameLst>
                                          <p:attrName>style.visibility</p:attrName>
                                        </p:attrNameLst>
                                      </p:cBhvr>
                                      <p:to>
                                        <p:strVal val="visible"/>
                                      </p:to>
                                    </p:set>
                                    <p:anim calcmode="lin" valueType="num">
                                      <p:cBhvr additive="base">
                                        <p:cTn id="172" dur="420" decel="100000" fill="hold"/>
                                        <p:tgtEl>
                                          <p:spTgt spid="134"/>
                                        </p:tgtEl>
                                        <p:attrNameLst>
                                          <p:attrName>ppt_w</p:attrName>
                                        </p:attrNameLst>
                                      </p:cBhvr>
                                      <p:tavLst>
                                        <p:tav tm="0">
                                          <p:val>
                                            <p:strVal val="#ppt_w*0.55"/>
                                          </p:val>
                                        </p:tav>
                                        <p:tav tm="100000">
                                          <p:val>
                                            <p:strVal val="#ppt_w"/>
                                          </p:val>
                                        </p:tav>
                                      </p:tavLst>
                                    </p:anim>
                                    <p:anim calcmode="lin" valueType="num">
                                      <p:cBhvr additive="base">
                                        <p:cTn id="173" dur="420" decel="100000" fill="hold"/>
                                        <p:tgtEl>
                                          <p:spTgt spid="134"/>
                                        </p:tgtEl>
                                        <p:attrNameLst>
                                          <p:attrName>ppt_h</p:attrName>
                                        </p:attrNameLst>
                                      </p:cBhvr>
                                      <p:tavLst>
                                        <p:tav tm="0">
                                          <p:val>
                                            <p:strVal val="#ppt_h*0.55"/>
                                          </p:val>
                                        </p:tav>
                                        <p:tav tm="100000">
                                          <p:val>
                                            <p:strVal val="#ppt_h"/>
                                          </p:val>
                                        </p:tav>
                                      </p:tavLst>
                                    </p:anim>
                                    <p:animEffect transition="in" filter="fade">
                                      <p:cBhvr>
                                        <p:cTn id="174" dur="420"/>
                                        <p:tgtEl>
                                          <p:spTgt spid="134"/>
                                        </p:tgtEl>
                                      </p:cBhvr>
                                    </p:animEffect>
                                  </p:childTnLst>
                                </p:cTn>
                              </p:par>
                              <p:par>
                                <p:cTn id="175" presetID="53" presetClass="entr" presetSubtype="16" fill="hold" grpId="0" nodeType="withEffect">
                                  <p:stCondLst>
                                    <p:cond delay="540"/>
                                  </p:stCondLst>
                                  <p:childTnLst>
                                    <p:set>
                                      <p:cBhvr>
                                        <p:cTn id="176" dur="1" fill="hold">
                                          <p:stCondLst>
                                            <p:cond delay="0"/>
                                          </p:stCondLst>
                                        </p:cTn>
                                        <p:tgtEl>
                                          <p:spTgt spid="135"/>
                                        </p:tgtEl>
                                        <p:attrNameLst>
                                          <p:attrName>style.visibility</p:attrName>
                                        </p:attrNameLst>
                                      </p:cBhvr>
                                      <p:to>
                                        <p:strVal val="visible"/>
                                      </p:to>
                                    </p:set>
                                    <p:anim calcmode="lin" valueType="num">
                                      <p:cBhvr additive="base">
                                        <p:cTn id="177" dur="420" decel="100000" fill="hold"/>
                                        <p:tgtEl>
                                          <p:spTgt spid="135"/>
                                        </p:tgtEl>
                                        <p:attrNameLst>
                                          <p:attrName>ppt_w</p:attrName>
                                        </p:attrNameLst>
                                      </p:cBhvr>
                                      <p:tavLst>
                                        <p:tav tm="0">
                                          <p:val>
                                            <p:strVal val="#ppt_w*0.55"/>
                                          </p:val>
                                        </p:tav>
                                        <p:tav tm="100000">
                                          <p:val>
                                            <p:strVal val="#ppt_w"/>
                                          </p:val>
                                        </p:tav>
                                      </p:tavLst>
                                    </p:anim>
                                    <p:anim calcmode="lin" valueType="num">
                                      <p:cBhvr additive="base">
                                        <p:cTn id="178" dur="420" decel="100000" fill="hold"/>
                                        <p:tgtEl>
                                          <p:spTgt spid="135"/>
                                        </p:tgtEl>
                                        <p:attrNameLst>
                                          <p:attrName>ppt_h</p:attrName>
                                        </p:attrNameLst>
                                      </p:cBhvr>
                                      <p:tavLst>
                                        <p:tav tm="0">
                                          <p:val>
                                            <p:strVal val="#ppt_h*0.55"/>
                                          </p:val>
                                        </p:tav>
                                        <p:tav tm="100000">
                                          <p:val>
                                            <p:strVal val="#ppt_h"/>
                                          </p:val>
                                        </p:tav>
                                      </p:tavLst>
                                    </p:anim>
                                    <p:animEffect transition="in" filter="fade">
                                      <p:cBhvr>
                                        <p:cTn id="179" dur="420"/>
                                        <p:tgtEl>
                                          <p:spTgt spid="135"/>
                                        </p:tgtEl>
                                      </p:cBhvr>
                                    </p:animEffect>
                                  </p:childTnLst>
                                </p:cTn>
                              </p:par>
                              <p:par>
                                <p:cTn id="180" presetID="53" presetClass="entr" presetSubtype="16" fill="hold" grpId="0" nodeType="withEffect">
                                  <p:stCondLst>
                                    <p:cond delay="630"/>
                                  </p:stCondLst>
                                  <p:childTnLst>
                                    <p:set>
                                      <p:cBhvr>
                                        <p:cTn id="181" dur="1" fill="hold">
                                          <p:stCondLst>
                                            <p:cond delay="0"/>
                                          </p:stCondLst>
                                        </p:cTn>
                                        <p:tgtEl>
                                          <p:spTgt spid="136"/>
                                        </p:tgtEl>
                                        <p:attrNameLst>
                                          <p:attrName>style.visibility</p:attrName>
                                        </p:attrNameLst>
                                      </p:cBhvr>
                                      <p:to>
                                        <p:strVal val="visible"/>
                                      </p:to>
                                    </p:set>
                                    <p:anim calcmode="lin" valueType="num">
                                      <p:cBhvr additive="base">
                                        <p:cTn id="182" dur="420" decel="100000" fill="hold"/>
                                        <p:tgtEl>
                                          <p:spTgt spid="136"/>
                                        </p:tgtEl>
                                        <p:attrNameLst>
                                          <p:attrName>ppt_w</p:attrName>
                                        </p:attrNameLst>
                                      </p:cBhvr>
                                      <p:tavLst>
                                        <p:tav tm="0">
                                          <p:val>
                                            <p:strVal val="#ppt_w*0.55"/>
                                          </p:val>
                                        </p:tav>
                                        <p:tav tm="100000">
                                          <p:val>
                                            <p:strVal val="#ppt_w"/>
                                          </p:val>
                                        </p:tav>
                                      </p:tavLst>
                                    </p:anim>
                                    <p:anim calcmode="lin" valueType="num">
                                      <p:cBhvr additive="base">
                                        <p:cTn id="183" dur="420" decel="100000" fill="hold"/>
                                        <p:tgtEl>
                                          <p:spTgt spid="136"/>
                                        </p:tgtEl>
                                        <p:attrNameLst>
                                          <p:attrName>ppt_h</p:attrName>
                                        </p:attrNameLst>
                                      </p:cBhvr>
                                      <p:tavLst>
                                        <p:tav tm="0">
                                          <p:val>
                                            <p:strVal val="#ppt_h*0.55"/>
                                          </p:val>
                                        </p:tav>
                                        <p:tav tm="100000">
                                          <p:val>
                                            <p:strVal val="#ppt_h"/>
                                          </p:val>
                                        </p:tav>
                                      </p:tavLst>
                                    </p:anim>
                                    <p:animEffect transition="in" filter="fade">
                                      <p:cBhvr>
                                        <p:cTn id="184" dur="420"/>
                                        <p:tgtEl>
                                          <p:spTgt spid="136"/>
                                        </p:tgtEl>
                                      </p:cBhvr>
                                    </p:animEffect>
                                  </p:childTnLst>
                                </p:cTn>
                              </p:par>
                              <p:par>
                                <p:cTn id="185" presetID="53" presetClass="entr" presetSubtype="16" fill="hold" grpId="0" nodeType="withEffect">
                                  <p:stCondLst>
                                    <p:cond delay="630"/>
                                  </p:stCondLst>
                                  <p:childTnLst>
                                    <p:set>
                                      <p:cBhvr>
                                        <p:cTn id="186" dur="1" fill="hold">
                                          <p:stCondLst>
                                            <p:cond delay="0"/>
                                          </p:stCondLst>
                                        </p:cTn>
                                        <p:tgtEl>
                                          <p:spTgt spid="137"/>
                                        </p:tgtEl>
                                        <p:attrNameLst>
                                          <p:attrName>style.visibility</p:attrName>
                                        </p:attrNameLst>
                                      </p:cBhvr>
                                      <p:to>
                                        <p:strVal val="visible"/>
                                      </p:to>
                                    </p:set>
                                    <p:anim calcmode="lin" valueType="num">
                                      <p:cBhvr additive="base">
                                        <p:cTn id="187" dur="420" decel="100000" fill="hold"/>
                                        <p:tgtEl>
                                          <p:spTgt spid="137"/>
                                        </p:tgtEl>
                                        <p:attrNameLst>
                                          <p:attrName>ppt_w</p:attrName>
                                        </p:attrNameLst>
                                      </p:cBhvr>
                                      <p:tavLst>
                                        <p:tav tm="0">
                                          <p:val>
                                            <p:strVal val="#ppt_w*0.55"/>
                                          </p:val>
                                        </p:tav>
                                        <p:tav tm="100000">
                                          <p:val>
                                            <p:strVal val="#ppt_w"/>
                                          </p:val>
                                        </p:tav>
                                      </p:tavLst>
                                    </p:anim>
                                    <p:anim calcmode="lin" valueType="num">
                                      <p:cBhvr additive="base">
                                        <p:cTn id="188" dur="420" decel="100000" fill="hold"/>
                                        <p:tgtEl>
                                          <p:spTgt spid="137"/>
                                        </p:tgtEl>
                                        <p:attrNameLst>
                                          <p:attrName>ppt_h</p:attrName>
                                        </p:attrNameLst>
                                      </p:cBhvr>
                                      <p:tavLst>
                                        <p:tav tm="0">
                                          <p:val>
                                            <p:strVal val="#ppt_h*0.55"/>
                                          </p:val>
                                        </p:tav>
                                        <p:tav tm="100000">
                                          <p:val>
                                            <p:strVal val="#ppt_h"/>
                                          </p:val>
                                        </p:tav>
                                      </p:tavLst>
                                    </p:anim>
                                    <p:animEffect transition="in" filter="fade">
                                      <p:cBhvr>
                                        <p:cTn id="189" dur="420"/>
                                        <p:tgtEl>
                                          <p:spTgt spid="137"/>
                                        </p:tgtEl>
                                      </p:cBhvr>
                                    </p:animEffect>
                                  </p:childTnLst>
                                </p:cTn>
                              </p:par>
                              <p:par>
                                <p:cTn id="190" presetID="53" presetClass="entr" presetSubtype="16" fill="hold" grpId="0" nodeType="withEffect">
                                  <p:stCondLst>
                                    <p:cond delay="630"/>
                                  </p:stCondLst>
                                  <p:childTnLst>
                                    <p:set>
                                      <p:cBhvr>
                                        <p:cTn id="191" dur="1" fill="hold">
                                          <p:stCondLst>
                                            <p:cond delay="0"/>
                                          </p:stCondLst>
                                        </p:cTn>
                                        <p:tgtEl>
                                          <p:spTgt spid="138"/>
                                        </p:tgtEl>
                                        <p:attrNameLst>
                                          <p:attrName>style.visibility</p:attrName>
                                        </p:attrNameLst>
                                      </p:cBhvr>
                                      <p:to>
                                        <p:strVal val="visible"/>
                                      </p:to>
                                    </p:set>
                                    <p:anim calcmode="lin" valueType="num">
                                      <p:cBhvr additive="base">
                                        <p:cTn id="192" dur="420" decel="100000" fill="hold"/>
                                        <p:tgtEl>
                                          <p:spTgt spid="138"/>
                                        </p:tgtEl>
                                        <p:attrNameLst>
                                          <p:attrName>ppt_w</p:attrName>
                                        </p:attrNameLst>
                                      </p:cBhvr>
                                      <p:tavLst>
                                        <p:tav tm="0">
                                          <p:val>
                                            <p:strVal val="#ppt_w*0.55"/>
                                          </p:val>
                                        </p:tav>
                                        <p:tav tm="100000">
                                          <p:val>
                                            <p:strVal val="#ppt_w"/>
                                          </p:val>
                                        </p:tav>
                                      </p:tavLst>
                                    </p:anim>
                                    <p:anim calcmode="lin" valueType="num">
                                      <p:cBhvr additive="base">
                                        <p:cTn id="193" dur="420" decel="100000" fill="hold"/>
                                        <p:tgtEl>
                                          <p:spTgt spid="138"/>
                                        </p:tgtEl>
                                        <p:attrNameLst>
                                          <p:attrName>ppt_h</p:attrName>
                                        </p:attrNameLst>
                                      </p:cBhvr>
                                      <p:tavLst>
                                        <p:tav tm="0">
                                          <p:val>
                                            <p:strVal val="#ppt_h*0.55"/>
                                          </p:val>
                                        </p:tav>
                                        <p:tav tm="100000">
                                          <p:val>
                                            <p:strVal val="#ppt_h"/>
                                          </p:val>
                                        </p:tav>
                                      </p:tavLst>
                                    </p:anim>
                                    <p:animEffect transition="in" filter="fade">
                                      <p:cBhvr>
                                        <p:cTn id="194" dur="420"/>
                                        <p:tgtEl>
                                          <p:spTgt spid="138"/>
                                        </p:tgtEl>
                                      </p:cBhvr>
                                    </p:animEffect>
                                  </p:childTnLst>
                                </p:cTn>
                              </p:par>
                              <p:par>
                                <p:cTn id="195" presetID="53" presetClass="entr" presetSubtype="16" fill="hold" nodeType="withEffect">
                                  <p:stCondLst>
                                    <p:cond delay="630"/>
                                  </p:stCondLst>
                                  <p:childTnLst>
                                    <p:set>
                                      <p:cBhvr>
                                        <p:cTn id="196" dur="1" fill="hold">
                                          <p:stCondLst>
                                            <p:cond delay="0"/>
                                          </p:stCondLst>
                                        </p:cTn>
                                        <p:tgtEl>
                                          <p:spTgt spid="139"/>
                                        </p:tgtEl>
                                        <p:attrNameLst>
                                          <p:attrName>style.visibility</p:attrName>
                                        </p:attrNameLst>
                                      </p:cBhvr>
                                      <p:to>
                                        <p:strVal val="visible"/>
                                      </p:to>
                                    </p:set>
                                    <p:anim calcmode="lin" valueType="num">
                                      <p:cBhvr additive="base">
                                        <p:cTn id="197" dur="420" decel="100000" fill="hold"/>
                                        <p:tgtEl>
                                          <p:spTgt spid="139"/>
                                        </p:tgtEl>
                                        <p:attrNameLst>
                                          <p:attrName>ppt_w</p:attrName>
                                        </p:attrNameLst>
                                      </p:cBhvr>
                                      <p:tavLst>
                                        <p:tav tm="0">
                                          <p:val>
                                            <p:strVal val="#ppt_w*0.55"/>
                                          </p:val>
                                        </p:tav>
                                        <p:tav tm="100000">
                                          <p:val>
                                            <p:strVal val="#ppt_w"/>
                                          </p:val>
                                        </p:tav>
                                      </p:tavLst>
                                    </p:anim>
                                    <p:anim calcmode="lin" valueType="num">
                                      <p:cBhvr additive="base">
                                        <p:cTn id="198" dur="420" decel="100000" fill="hold"/>
                                        <p:tgtEl>
                                          <p:spTgt spid="139"/>
                                        </p:tgtEl>
                                        <p:attrNameLst>
                                          <p:attrName>ppt_h</p:attrName>
                                        </p:attrNameLst>
                                      </p:cBhvr>
                                      <p:tavLst>
                                        <p:tav tm="0">
                                          <p:val>
                                            <p:strVal val="#ppt_h*0.55"/>
                                          </p:val>
                                        </p:tav>
                                        <p:tav tm="100000">
                                          <p:val>
                                            <p:strVal val="#ppt_h"/>
                                          </p:val>
                                        </p:tav>
                                      </p:tavLst>
                                    </p:anim>
                                    <p:animEffect transition="in" filter="fade">
                                      <p:cBhvr>
                                        <p:cTn id="199" dur="420"/>
                                        <p:tgtEl>
                                          <p:spTgt spid="139"/>
                                        </p:tgtEl>
                                      </p:cBhvr>
                                    </p:animEffect>
                                  </p:childTnLst>
                                </p:cTn>
                              </p:par>
                              <p:par>
                                <p:cTn id="200" presetID="53" presetClass="entr" presetSubtype="16" fill="hold" grpId="0" nodeType="withEffect">
                                  <p:stCondLst>
                                    <p:cond delay="630"/>
                                  </p:stCondLst>
                                  <p:childTnLst>
                                    <p:set>
                                      <p:cBhvr>
                                        <p:cTn id="201" dur="1" fill="hold">
                                          <p:stCondLst>
                                            <p:cond delay="0"/>
                                          </p:stCondLst>
                                        </p:cTn>
                                        <p:tgtEl>
                                          <p:spTgt spid="140"/>
                                        </p:tgtEl>
                                        <p:attrNameLst>
                                          <p:attrName>style.visibility</p:attrName>
                                        </p:attrNameLst>
                                      </p:cBhvr>
                                      <p:to>
                                        <p:strVal val="visible"/>
                                      </p:to>
                                    </p:set>
                                    <p:anim calcmode="lin" valueType="num">
                                      <p:cBhvr additive="base">
                                        <p:cTn id="202" dur="420" decel="100000" fill="hold"/>
                                        <p:tgtEl>
                                          <p:spTgt spid="140"/>
                                        </p:tgtEl>
                                        <p:attrNameLst>
                                          <p:attrName>ppt_w</p:attrName>
                                        </p:attrNameLst>
                                      </p:cBhvr>
                                      <p:tavLst>
                                        <p:tav tm="0">
                                          <p:val>
                                            <p:strVal val="#ppt_w*0.55"/>
                                          </p:val>
                                        </p:tav>
                                        <p:tav tm="100000">
                                          <p:val>
                                            <p:strVal val="#ppt_w"/>
                                          </p:val>
                                        </p:tav>
                                      </p:tavLst>
                                    </p:anim>
                                    <p:anim calcmode="lin" valueType="num">
                                      <p:cBhvr additive="base">
                                        <p:cTn id="203" dur="420" decel="100000" fill="hold"/>
                                        <p:tgtEl>
                                          <p:spTgt spid="140"/>
                                        </p:tgtEl>
                                        <p:attrNameLst>
                                          <p:attrName>ppt_h</p:attrName>
                                        </p:attrNameLst>
                                      </p:cBhvr>
                                      <p:tavLst>
                                        <p:tav tm="0">
                                          <p:val>
                                            <p:strVal val="#ppt_h*0.55"/>
                                          </p:val>
                                        </p:tav>
                                        <p:tav tm="100000">
                                          <p:val>
                                            <p:strVal val="#ppt_h"/>
                                          </p:val>
                                        </p:tav>
                                      </p:tavLst>
                                    </p:anim>
                                    <p:animEffect transition="in" filter="fade">
                                      <p:cBhvr>
                                        <p:cTn id="204" dur="420"/>
                                        <p:tgtEl>
                                          <p:spTgt spid="140"/>
                                        </p:tgtEl>
                                      </p:cBhvr>
                                    </p:animEffect>
                                  </p:childTnLst>
                                </p:cTn>
                              </p:par>
                              <p:par>
                                <p:cTn id="205" presetID="53" presetClass="entr" presetSubtype="16" fill="hold" grpId="0" nodeType="withEffect">
                                  <p:stCondLst>
                                    <p:cond delay="720"/>
                                  </p:stCondLst>
                                  <p:childTnLst>
                                    <p:set>
                                      <p:cBhvr>
                                        <p:cTn id="206" dur="1" fill="hold">
                                          <p:stCondLst>
                                            <p:cond delay="0"/>
                                          </p:stCondLst>
                                        </p:cTn>
                                        <p:tgtEl>
                                          <p:spTgt spid="141"/>
                                        </p:tgtEl>
                                        <p:attrNameLst>
                                          <p:attrName>style.visibility</p:attrName>
                                        </p:attrNameLst>
                                      </p:cBhvr>
                                      <p:to>
                                        <p:strVal val="visible"/>
                                      </p:to>
                                    </p:set>
                                    <p:anim calcmode="lin" valueType="num">
                                      <p:cBhvr additive="base">
                                        <p:cTn id="207" dur="420" decel="100000" fill="hold"/>
                                        <p:tgtEl>
                                          <p:spTgt spid="141"/>
                                        </p:tgtEl>
                                        <p:attrNameLst>
                                          <p:attrName>ppt_w</p:attrName>
                                        </p:attrNameLst>
                                      </p:cBhvr>
                                      <p:tavLst>
                                        <p:tav tm="0">
                                          <p:val>
                                            <p:strVal val="#ppt_w*0.55"/>
                                          </p:val>
                                        </p:tav>
                                        <p:tav tm="100000">
                                          <p:val>
                                            <p:strVal val="#ppt_w"/>
                                          </p:val>
                                        </p:tav>
                                      </p:tavLst>
                                    </p:anim>
                                    <p:anim calcmode="lin" valueType="num">
                                      <p:cBhvr additive="base">
                                        <p:cTn id="208" dur="420" decel="100000" fill="hold"/>
                                        <p:tgtEl>
                                          <p:spTgt spid="141"/>
                                        </p:tgtEl>
                                        <p:attrNameLst>
                                          <p:attrName>ppt_h</p:attrName>
                                        </p:attrNameLst>
                                      </p:cBhvr>
                                      <p:tavLst>
                                        <p:tav tm="0">
                                          <p:val>
                                            <p:strVal val="#ppt_h*0.55"/>
                                          </p:val>
                                        </p:tav>
                                        <p:tav tm="100000">
                                          <p:val>
                                            <p:strVal val="#ppt_h"/>
                                          </p:val>
                                        </p:tav>
                                      </p:tavLst>
                                    </p:anim>
                                    <p:animEffect transition="in" filter="fade">
                                      <p:cBhvr>
                                        <p:cTn id="209" dur="420"/>
                                        <p:tgtEl>
                                          <p:spTgt spid="141"/>
                                        </p:tgtEl>
                                      </p:cBhvr>
                                    </p:animEffect>
                                  </p:childTnLst>
                                </p:cTn>
                              </p:par>
                              <p:par>
                                <p:cTn id="210" presetID="53" presetClass="entr" presetSubtype="16" fill="hold" grpId="0" nodeType="withEffect">
                                  <p:stCondLst>
                                    <p:cond delay="720"/>
                                  </p:stCondLst>
                                  <p:childTnLst>
                                    <p:set>
                                      <p:cBhvr>
                                        <p:cTn id="211" dur="1" fill="hold">
                                          <p:stCondLst>
                                            <p:cond delay="0"/>
                                          </p:stCondLst>
                                        </p:cTn>
                                        <p:tgtEl>
                                          <p:spTgt spid="142"/>
                                        </p:tgtEl>
                                        <p:attrNameLst>
                                          <p:attrName>style.visibility</p:attrName>
                                        </p:attrNameLst>
                                      </p:cBhvr>
                                      <p:to>
                                        <p:strVal val="visible"/>
                                      </p:to>
                                    </p:set>
                                    <p:anim calcmode="lin" valueType="num">
                                      <p:cBhvr additive="base">
                                        <p:cTn id="212" dur="420" decel="100000" fill="hold"/>
                                        <p:tgtEl>
                                          <p:spTgt spid="142"/>
                                        </p:tgtEl>
                                        <p:attrNameLst>
                                          <p:attrName>ppt_w</p:attrName>
                                        </p:attrNameLst>
                                      </p:cBhvr>
                                      <p:tavLst>
                                        <p:tav tm="0">
                                          <p:val>
                                            <p:strVal val="#ppt_w*0.55"/>
                                          </p:val>
                                        </p:tav>
                                        <p:tav tm="100000">
                                          <p:val>
                                            <p:strVal val="#ppt_w"/>
                                          </p:val>
                                        </p:tav>
                                      </p:tavLst>
                                    </p:anim>
                                    <p:anim calcmode="lin" valueType="num">
                                      <p:cBhvr additive="base">
                                        <p:cTn id="213" dur="420" decel="100000" fill="hold"/>
                                        <p:tgtEl>
                                          <p:spTgt spid="142"/>
                                        </p:tgtEl>
                                        <p:attrNameLst>
                                          <p:attrName>ppt_h</p:attrName>
                                        </p:attrNameLst>
                                      </p:cBhvr>
                                      <p:tavLst>
                                        <p:tav tm="0">
                                          <p:val>
                                            <p:strVal val="#ppt_h*0.55"/>
                                          </p:val>
                                        </p:tav>
                                        <p:tav tm="100000">
                                          <p:val>
                                            <p:strVal val="#ppt_h"/>
                                          </p:val>
                                        </p:tav>
                                      </p:tavLst>
                                    </p:anim>
                                    <p:animEffect transition="in" filter="fade">
                                      <p:cBhvr>
                                        <p:cTn id="214" dur="420"/>
                                        <p:tgtEl>
                                          <p:spTgt spid="142"/>
                                        </p:tgtEl>
                                      </p:cBhvr>
                                    </p:animEffect>
                                  </p:childTnLst>
                                </p:cTn>
                              </p:par>
                              <p:par>
                                <p:cTn id="215" presetID="53" presetClass="entr" presetSubtype="16" fill="hold" grpId="0" nodeType="withEffect">
                                  <p:stCondLst>
                                    <p:cond delay="720"/>
                                  </p:stCondLst>
                                  <p:childTnLst>
                                    <p:set>
                                      <p:cBhvr>
                                        <p:cTn id="216" dur="1" fill="hold">
                                          <p:stCondLst>
                                            <p:cond delay="0"/>
                                          </p:stCondLst>
                                        </p:cTn>
                                        <p:tgtEl>
                                          <p:spTgt spid="143"/>
                                        </p:tgtEl>
                                        <p:attrNameLst>
                                          <p:attrName>style.visibility</p:attrName>
                                        </p:attrNameLst>
                                      </p:cBhvr>
                                      <p:to>
                                        <p:strVal val="visible"/>
                                      </p:to>
                                    </p:set>
                                    <p:anim calcmode="lin" valueType="num">
                                      <p:cBhvr additive="base">
                                        <p:cTn id="217" dur="420" decel="100000" fill="hold"/>
                                        <p:tgtEl>
                                          <p:spTgt spid="143"/>
                                        </p:tgtEl>
                                        <p:attrNameLst>
                                          <p:attrName>ppt_w</p:attrName>
                                        </p:attrNameLst>
                                      </p:cBhvr>
                                      <p:tavLst>
                                        <p:tav tm="0">
                                          <p:val>
                                            <p:strVal val="#ppt_w*0.55"/>
                                          </p:val>
                                        </p:tav>
                                        <p:tav tm="100000">
                                          <p:val>
                                            <p:strVal val="#ppt_w"/>
                                          </p:val>
                                        </p:tav>
                                      </p:tavLst>
                                    </p:anim>
                                    <p:anim calcmode="lin" valueType="num">
                                      <p:cBhvr additive="base">
                                        <p:cTn id="218" dur="420" decel="100000" fill="hold"/>
                                        <p:tgtEl>
                                          <p:spTgt spid="143"/>
                                        </p:tgtEl>
                                        <p:attrNameLst>
                                          <p:attrName>ppt_h</p:attrName>
                                        </p:attrNameLst>
                                      </p:cBhvr>
                                      <p:tavLst>
                                        <p:tav tm="0">
                                          <p:val>
                                            <p:strVal val="#ppt_h*0.55"/>
                                          </p:val>
                                        </p:tav>
                                        <p:tav tm="100000">
                                          <p:val>
                                            <p:strVal val="#ppt_h"/>
                                          </p:val>
                                        </p:tav>
                                      </p:tavLst>
                                    </p:anim>
                                    <p:animEffect transition="in" filter="fade">
                                      <p:cBhvr>
                                        <p:cTn id="219" dur="420"/>
                                        <p:tgtEl>
                                          <p:spTgt spid="143"/>
                                        </p:tgtEl>
                                      </p:cBhvr>
                                    </p:animEffect>
                                  </p:childTnLst>
                                </p:cTn>
                              </p:par>
                              <p:par>
                                <p:cTn id="220" presetID="53" presetClass="entr" presetSubtype="16" fill="hold" nodeType="withEffect">
                                  <p:stCondLst>
                                    <p:cond delay="720"/>
                                  </p:stCondLst>
                                  <p:childTnLst>
                                    <p:set>
                                      <p:cBhvr>
                                        <p:cTn id="221" dur="1" fill="hold">
                                          <p:stCondLst>
                                            <p:cond delay="0"/>
                                          </p:stCondLst>
                                        </p:cTn>
                                        <p:tgtEl>
                                          <p:spTgt spid="144"/>
                                        </p:tgtEl>
                                        <p:attrNameLst>
                                          <p:attrName>style.visibility</p:attrName>
                                        </p:attrNameLst>
                                      </p:cBhvr>
                                      <p:to>
                                        <p:strVal val="visible"/>
                                      </p:to>
                                    </p:set>
                                    <p:anim calcmode="lin" valueType="num">
                                      <p:cBhvr additive="base">
                                        <p:cTn id="222" dur="420" decel="100000" fill="hold"/>
                                        <p:tgtEl>
                                          <p:spTgt spid="144"/>
                                        </p:tgtEl>
                                        <p:attrNameLst>
                                          <p:attrName>ppt_w</p:attrName>
                                        </p:attrNameLst>
                                      </p:cBhvr>
                                      <p:tavLst>
                                        <p:tav tm="0">
                                          <p:val>
                                            <p:strVal val="#ppt_w*0.55"/>
                                          </p:val>
                                        </p:tav>
                                        <p:tav tm="100000">
                                          <p:val>
                                            <p:strVal val="#ppt_w"/>
                                          </p:val>
                                        </p:tav>
                                      </p:tavLst>
                                    </p:anim>
                                    <p:anim calcmode="lin" valueType="num">
                                      <p:cBhvr additive="base">
                                        <p:cTn id="223" dur="420" decel="100000" fill="hold"/>
                                        <p:tgtEl>
                                          <p:spTgt spid="144"/>
                                        </p:tgtEl>
                                        <p:attrNameLst>
                                          <p:attrName>ppt_h</p:attrName>
                                        </p:attrNameLst>
                                      </p:cBhvr>
                                      <p:tavLst>
                                        <p:tav tm="0">
                                          <p:val>
                                            <p:strVal val="#ppt_h*0.55"/>
                                          </p:val>
                                        </p:tav>
                                        <p:tav tm="100000">
                                          <p:val>
                                            <p:strVal val="#ppt_h"/>
                                          </p:val>
                                        </p:tav>
                                      </p:tavLst>
                                    </p:anim>
                                    <p:animEffect transition="in" filter="fade">
                                      <p:cBhvr>
                                        <p:cTn id="224" dur="420"/>
                                        <p:tgtEl>
                                          <p:spTgt spid="144"/>
                                        </p:tgtEl>
                                      </p:cBhvr>
                                    </p:animEffect>
                                  </p:childTnLst>
                                </p:cTn>
                              </p:par>
                              <p:par>
                                <p:cTn id="225" presetID="53" presetClass="entr" presetSubtype="16" fill="hold" grpId="0" nodeType="withEffect">
                                  <p:stCondLst>
                                    <p:cond delay="720"/>
                                  </p:stCondLst>
                                  <p:childTnLst>
                                    <p:set>
                                      <p:cBhvr>
                                        <p:cTn id="226" dur="1" fill="hold">
                                          <p:stCondLst>
                                            <p:cond delay="0"/>
                                          </p:stCondLst>
                                        </p:cTn>
                                        <p:tgtEl>
                                          <p:spTgt spid="145"/>
                                        </p:tgtEl>
                                        <p:attrNameLst>
                                          <p:attrName>style.visibility</p:attrName>
                                        </p:attrNameLst>
                                      </p:cBhvr>
                                      <p:to>
                                        <p:strVal val="visible"/>
                                      </p:to>
                                    </p:set>
                                    <p:anim calcmode="lin" valueType="num">
                                      <p:cBhvr additive="base">
                                        <p:cTn id="227" dur="420" decel="100000" fill="hold"/>
                                        <p:tgtEl>
                                          <p:spTgt spid="145"/>
                                        </p:tgtEl>
                                        <p:attrNameLst>
                                          <p:attrName>ppt_w</p:attrName>
                                        </p:attrNameLst>
                                      </p:cBhvr>
                                      <p:tavLst>
                                        <p:tav tm="0">
                                          <p:val>
                                            <p:strVal val="#ppt_w*0.55"/>
                                          </p:val>
                                        </p:tav>
                                        <p:tav tm="100000">
                                          <p:val>
                                            <p:strVal val="#ppt_w"/>
                                          </p:val>
                                        </p:tav>
                                      </p:tavLst>
                                    </p:anim>
                                    <p:anim calcmode="lin" valueType="num">
                                      <p:cBhvr additive="base">
                                        <p:cTn id="228" dur="420" decel="100000" fill="hold"/>
                                        <p:tgtEl>
                                          <p:spTgt spid="145"/>
                                        </p:tgtEl>
                                        <p:attrNameLst>
                                          <p:attrName>ppt_h</p:attrName>
                                        </p:attrNameLst>
                                      </p:cBhvr>
                                      <p:tavLst>
                                        <p:tav tm="0">
                                          <p:val>
                                            <p:strVal val="#ppt_h*0.55"/>
                                          </p:val>
                                        </p:tav>
                                        <p:tav tm="100000">
                                          <p:val>
                                            <p:strVal val="#ppt_h"/>
                                          </p:val>
                                        </p:tav>
                                      </p:tavLst>
                                    </p:anim>
                                    <p:animEffect transition="in" filter="fade">
                                      <p:cBhvr>
                                        <p:cTn id="229" dur="420"/>
                                        <p:tgtEl>
                                          <p:spTgt spid="145"/>
                                        </p:tgtEl>
                                      </p:cBhvr>
                                    </p:animEffect>
                                  </p:childTnLst>
                                </p:cTn>
                              </p:par>
                              <p:par>
                                <p:cTn id="230" presetID="53" presetClass="entr" presetSubtype="16" fill="hold" grpId="0" nodeType="withEffect">
                                  <p:stCondLst>
                                    <p:cond delay="810"/>
                                  </p:stCondLst>
                                  <p:childTnLst>
                                    <p:set>
                                      <p:cBhvr>
                                        <p:cTn id="231" dur="1" fill="hold">
                                          <p:stCondLst>
                                            <p:cond delay="0"/>
                                          </p:stCondLst>
                                        </p:cTn>
                                        <p:tgtEl>
                                          <p:spTgt spid="146"/>
                                        </p:tgtEl>
                                        <p:attrNameLst>
                                          <p:attrName>style.visibility</p:attrName>
                                        </p:attrNameLst>
                                      </p:cBhvr>
                                      <p:to>
                                        <p:strVal val="visible"/>
                                      </p:to>
                                    </p:set>
                                    <p:anim calcmode="lin" valueType="num">
                                      <p:cBhvr additive="base">
                                        <p:cTn id="232" dur="420" decel="100000" fill="hold"/>
                                        <p:tgtEl>
                                          <p:spTgt spid="146"/>
                                        </p:tgtEl>
                                        <p:attrNameLst>
                                          <p:attrName>ppt_w</p:attrName>
                                        </p:attrNameLst>
                                      </p:cBhvr>
                                      <p:tavLst>
                                        <p:tav tm="0">
                                          <p:val>
                                            <p:strVal val="#ppt_w*0.55"/>
                                          </p:val>
                                        </p:tav>
                                        <p:tav tm="100000">
                                          <p:val>
                                            <p:strVal val="#ppt_w"/>
                                          </p:val>
                                        </p:tav>
                                      </p:tavLst>
                                    </p:anim>
                                    <p:anim calcmode="lin" valueType="num">
                                      <p:cBhvr additive="base">
                                        <p:cTn id="233" dur="420" decel="100000" fill="hold"/>
                                        <p:tgtEl>
                                          <p:spTgt spid="146"/>
                                        </p:tgtEl>
                                        <p:attrNameLst>
                                          <p:attrName>ppt_h</p:attrName>
                                        </p:attrNameLst>
                                      </p:cBhvr>
                                      <p:tavLst>
                                        <p:tav tm="0">
                                          <p:val>
                                            <p:strVal val="#ppt_h*0.55"/>
                                          </p:val>
                                        </p:tav>
                                        <p:tav tm="100000">
                                          <p:val>
                                            <p:strVal val="#ppt_h"/>
                                          </p:val>
                                        </p:tav>
                                      </p:tavLst>
                                    </p:anim>
                                    <p:animEffect transition="in" filter="fade">
                                      <p:cBhvr>
                                        <p:cTn id="234" dur="420"/>
                                        <p:tgtEl>
                                          <p:spTgt spid="146"/>
                                        </p:tgtEl>
                                      </p:cBhvr>
                                    </p:animEffect>
                                  </p:childTnLst>
                                </p:cTn>
                              </p:par>
                              <p:par>
                                <p:cTn id="235" presetID="53" presetClass="entr" presetSubtype="16" fill="hold" grpId="0" nodeType="withEffect">
                                  <p:stCondLst>
                                    <p:cond delay="810"/>
                                  </p:stCondLst>
                                  <p:childTnLst>
                                    <p:set>
                                      <p:cBhvr>
                                        <p:cTn id="236" dur="1" fill="hold">
                                          <p:stCondLst>
                                            <p:cond delay="0"/>
                                          </p:stCondLst>
                                        </p:cTn>
                                        <p:tgtEl>
                                          <p:spTgt spid="147"/>
                                        </p:tgtEl>
                                        <p:attrNameLst>
                                          <p:attrName>style.visibility</p:attrName>
                                        </p:attrNameLst>
                                      </p:cBhvr>
                                      <p:to>
                                        <p:strVal val="visible"/>
                                      </p:to>
                                    </p:set>
                                    <p:anim calcmode="lin" valueType="num">
                                      <p:cBhvr additive="base">
                                        <p:cTn id="237" dur="420" decel="100000" fill="hold"/>
                                        <p:tgtEl>
                                          <p:spTgt spid="147"/>
                                        </p:tgtEl>
                                        <p:attrNameLst>
                                          <p:attrName>ppt_w</p:attrName>
                                        </p:attrNameLst>
                                      </p:cBhvr>
                                      <p:tavLst>
                                        <p:tav tm="0">
                                          <p:val>
                                            <p:strVal val="#ppt_w*0.55"/>
                                          </p:val>
                                        </p:tav>
                                        <p:tav tm="100000">
                                          <p:val>
                                            <p:strVal val="#ppt_w"/>
                                          </p:val>
                                        </p:tav>
                                      </p:tavLst>
                                    </p:anim>
                                    <p:anim calcmode="lin" valueType="num">
                                      <p:cBhvr additive="base">
                                        <p:cTn id="238" dur="420" decel="100000" fill="hold"/>
                                        <p:tgtEl>
                                          <p:spTgt spid="147"/>
                                        </p:tgtEl>
                                        <p:attrNameLst>
                                          <p:attrName>ppt_h</p:attrName>
                                        </p:attrNameLst>
                                      </p:cBhvr>
                                      <p:tavLst>
                                        <p:tav tm="0">
                                          <p:val>
                                            <p:strVal val="#ppt_h*0.55"/>
                                          </p:val>
                                        </p:tav>
                                        <p:tav tm="100000">
                                          <p:val>
                                            <p:strVal val="#ppt_h"/>
                                          </p:val>
                                        </p:tav>
                                      </p:tavLst>
                                    </p:anim>
                                    <p:animEffect transition="in" filter="fade">
                                      <p:cBhvr>
                                        <p:cTn id="239" dur="420"/>
                                        <p:tgtEl>
                                          <p:spTgt spid="147"/>
                                        </p:tgtEl>
                                      </p:cBhvr>
                                    </p:animEffect>
                                  </p:childTnLst>
                                </p:cTn>
                              </p:par>
                              <p:par>
                                <p:cTn id="240" presetID="53" presetClass="entr" presetSubtype="16" fill="hold" grpId="0" nodeType="withEffect">
                                  <p:stCondLst>
                                    <p:cond delay="810"/>
                                  </p:stCondLst>
                                  <p:childTnLst>
                                    <p:set>
                                      <p:cBhvr>
                                        <p:cTn id="241" dur="1" fill="hold">
                                          <p:stCondLst>
                                            <p:cond delay="0"/>
                                          </p:stCondLst>
                                        </p:cTn>
                                        <p:tgtEl>
                                          <p:spTgt spid="148"/>
                                        </p:tgtEl>
                                        <p:attrNameLst>
                                          <p:attrName>style.visibility</p:attrName>
                                        </p:attrNameLst>
                                      </p:cBhvr>
                                      <p:to>
                                        <p:strVal val="visible"/>
                                      </p:to>
                                    </p:set>
                                    <p:anim calcmode="lin" valueType="num">
                                      <p:cBhvr additive="base">
                                        <p:cTn id="242" dur="420" decel="100000" fill="hold"/>
                                        <p:tgtEl>
                                          <p:spTgt spid="148"/>
                                        </p:tgtEl>
                                        <p:attrNameLst>
                                          <p:attrName>ppt_w</p:attrName>
                                        </p:attrNameLst>
                                      </p:cBhvr>
                                      <p:tavLst>
                                        <p:tav tm="0">
                                          <p:val>
                                            <p:strVal val="#ppt_w*0.55"/>
                                          </p:val>
                                        </p:tav>
                                        <p:tav tm="100000">
                                          <p:val>
                                            <p:strVal val="#ppt_w"/>
                                          </p:val>
                                        </p:tav>
                                      </p:tavLst>
                                    </p:anim>
                                    <p:anim calcmode="lin" valueType="num">
                                      <p:cBhvr additive="base">
                                        <p:cTn id="243" dur="420" decel="100000" fill="hold"/>
                                        <p:tgtEl>
                                          <p:spTgt spid="148"/>
                                        </p:tgtEl>
                                        <p:attrNameLst>
                                          <p:attrName>ppt_h</p:attrName>
                                        </p:attrNameLst>
                                      </p:cBhvr>
                                      <p:tavLst>
                                        <p:tav tm="0">
                                          <p:val>
                                            <p:strVal val="#ppt_h*0.55"/>
                                          </p:val>
                                        </p:tav>
                                        <p:tav tm="100000">
                                          <p:val>
                                            <p:strVal val="#ppt_h"/>
                                          </p:val>
                                        </p:tav>
                                      </p:tavLst>
                                    </p:anim>
                                    <p:animEffect transition="in" filter="fade">
                                      <p:cBhvr>
                                        <p:cTn id="244" dur="420"/>
                                        <p:tgtEl>
                                          <p:spTgt spid="148"/>
                                        </p:tgtEl>
                                      </p:cBhvr>
                                    </p:animEffect>
                                  </p:childTnLst>
                                </p:cTn>
                              </p:par>
                              <p:par>
                                <p:cTn id="245" presetID="53" presetClass="entr" presetSubtype="16" fill="hold" nodeType="withEffect">
                                  <p:stCondLst>
                                    <p:cond delay="810"/>
                                  </p:stCondLst>
                                  <p:childTnLst>
                                    <p:set>
                                      <p:cBhvr>
                                        <p:cTn id="246" dur="1" fill="hold">
                                          <p:stCondLst>
                                            <p:cond delay="0"/>
                                          </p:stCondLst>
                                        </p:cTn>
                                        <p:tgtEl>
                                          <p:spTgt spid="149"/>
                                        </p:tgtEl>
                                        <p:attrNameLst>
                                          <p:attrName>style.visibility</p:attrName>
                                        </p:attrNameLst>
                                      </p:cBhvr>
                                      <p:to>
                                        <p:strVal val="visible"/>
                                      </p:to>
                                    </p:set>
                                    <p:anim calcmode="lin" valueType="num">
                                      <p:cBhvr additive="base">
                                        <p:cTn id="247" dur="420" decel="100000" fill="hold"/>
                                        <p:tgtEl>
                                          <p:spTgt spid="149"/>
                                        </p:tgtEl>
                                        <p:attrNameLst>
                                          <p:attrName>ppt_w</p:attrName>
                                        </p:attrNameLst>
                                      </p:cBhvr>
                                      <p:tavLst>
                                        <p:tav tm="0">
                                          <p:val>
                                            <p:strVal val="#ppt_w*0.55"/>
                                          </p:val>
                                        </p:tav>
                                        <p:tav tm="100000">
                                          <p:val>
                                            <p:strVal val="#ppt_w"/>
                                          </p:val>
                                        </p:tav>
                                      </p:tavLst>
                                    </p:anim>
                                    <p:anim calcmode="lin" valueType="num">
                                      <p:cBhvr additive="base">
                                        <p:cTn id="248" dur="420" decel="100000" fill="hold"/>
                                        <p:tgtEl>
                                          <p:spTgt spid="149"/>
                                        </p:tgtEl>
                                        <p:attrNameLst>
                                          <p:attrName>ppt_h</p:attrName>
                                        </p:attrNameLst>
                                      </p:cBhvr>
                                      <p:tavLst>
                                        <p:tav tm="0">
                                          <p:val>
                                            <p:strVal val="#ppt_h*0.55"/>
                                          </p:val>
                                        </p:tav>
                                        <p:tav tm="100000">
                                          <p:val>
                                            <p:strVal val="#ppt_h"/>
                                          </p:val>
                                        </p:tav>
                                      </p:tavLst>
                                    </p:anim>
                                    <p:animEffect transition="in" filter="fade">
                                      <p:cBhvr>
                                        <p:cTn id="249" dur="420"/>
                                        <p:tgtEl>
                                          <p:spTgt spid="149"/>
                                        </p:tgtEl>
                                      </p:cBhvr>
                                    </p:animEffect>
                                  </p:childTnLst>
                                </p:cTn>
                              </p:par>
                              <p:par>
                                <p:cTn id="250" presetID="53" presetClass="entr" presetSubtype="16" fill="hold" grpId="0" nodeType="withEffect">
                                  <p:stCondLst>
                                    <p:cond delay="810"/>
                                  </p:stCondLst>
                                  <p:childTnLst>
                                    <p:set>
                                      <p:cBhvr>
                                        <p:cTn id="251" dur="1" fill="hold">
                                          <p:stCondLst>
                                            <p:cond delay="0"/>
                                          </p:stCondLst>
                                        </p:cTn>
                                        <p:tgtEl>
                                          <p:spTgt spid="150"/>
                                        </p:tgtEl>
                                        <p:attrNameLst>
                                          <p:attrName>style.visibility</p:attrName>
                                        </p:attrNameLst>
                                      </p:cBhvr>
                                      <p:to>
                                        <p:strVal val="visible"/>
                                      </p:to>
                                    </p:set>
                                    <p:anim calcmode="lin" valueType="num">
                                      <p:cBhvr additive="base">
                                        <p:cTn id="252" dur="420" decel="100000" fill="hold"/>
                                        <p:tgtEl>
                                          <p:spTgt spid="150"/>
                                        </p:tgtEl>
                                        <p:attrNameLst>
                                          <p:attrName>ppt_w</p:attrName>
                                        </p:attrNameLst>
                                      </p:cBhvr>
                                      <p:tavLst>
                                        <p:tav tm="0">
                                          <p:val>
                                            <p:strVal val="#ppt_w*0.55"/>
                                          </p:val>
                                        </p:tav>
                                        <p:tav tm="100000">
                                          <p:val>
                                            <p:strVal val="#ppt_w"/>
                                          </p:val>
                                        </p:tav>
                                      </p:tavLst>
                                    </p:anim>
                                    <p:anim calcmode="lin" valueType="num">
                                      <p:cBhvr additive="base">
                                        <p:cTn id="253" dur="420" decel="100000" fill="hold"/>
                                        <p:tgtEl>
                                          <p:spTgt spid="150"/>
                                        </p:tgtEl>
                                        <p:attrNameLst>
                                          <p:attrName>ppt_h</p:attrName>
                                        </p:attrNameLst>
                                      </p:cBhvr>
                                      <p:tavLst>
                                        <p:tav tm="0">
                                          <p:val>
                                            <p:strVal val="#ppt_h*0.55"/>
                                          </p:val>
                                        </p:tav>
                                        <p:tav tm="100000">
                                          <p:val>
                                            <p:strVal val="#ppt_h"/>
                                          </p:val>
                                        </p:tav>
                                      </p:tavLst>
                                    </p:anim>
                                    <p:animEffect transition="in" filter="fade">
                                      <p:cBhvr>
                                        <p:cTn id="254" dur="420"/>
                                        <p:tgtEl>
                                          <p:spTgt spid="150"/>
                                        </p:tgtEl>
                                      </p:cBhvr>
                                    </p:animEffect>
                                  </p:childTnLst>
                                </p:cTn>
                              </p:par>
                              <p:par>
                                <p:cTn id="255" presetID="53" presetClass="entr" presetSubtype="16" fill="hold" grpId="0" nodeType="withEffect">
                                  <p:stCondLst>
                                    <p:cond delay="900"/>
                                  </p:stCondLst>
                                  <p:childTnLst>
                                    <p:set>
                                      <p:cBhvr>
                                        <p:cTn id="256" dur="1" fill="hold">
                                          <p:stCondLst>
                                            <p:cond delay="0"/>
                                          </p:stCondLst>
                                        </p:cTn>
                                        <p:tgtEl>
                                          <p:spTgt spid="151"/>
                                        </p:tgtEl>
                                        <p:attrNameLst>
                                          <p:attrName>style.visibility</p:attrName>
                                        </p:attrNameLst>
                                      </p:cBhvr>
                                      <p:to>
                                        <p:strVal val="visible"/>
                                      </p:to>
                                    </p:set>
                                    <p:anim calcmode="lin" valueType="num">
                                      <p:cBhvr additive="base">
                                        <p:cTn id="257" dur="420" decel="100000" fill="hold"/>
                                        <p:tgtEl>
                                          <p:spTgt spid="151"/>
                                        </p:tgtEl>
                                        <p:attrNameLst>
                                          <p:attrName>ppt_w</p:attrName>
                                        </p:attrNameLst>
                                      </p:cBhvr>
                                      <p:tavLst>
                                        <p:tav tm="0">
                                          <p:val>
                                            <p:strVal val="#ppt_w*0.55"/>
                                          </p:val>
                                        </p:tav>
                                        <p:tav tm="100000">
                                          <p:val>
                                            <p:strVal val="#ppt_w"/>
                                          </p:val>
                                        </p:tav>
                                      </p:tavLst>
                                    </p:anim>
                                    <p:anim calcmode="lin" valueType="num">
                                      <p:cBhvr additive="base">
                                        <p:cTn id="258" dur="420" decel="100000" fill="hold"/>
                                        <p:tgtEl>
                                          <p:spTgt spid="151"/>
                                        </p:tgtEl>
                                        <p:attrNameLst>
                                          <p:attrName>ppt_h</p:attrName>
                                        </p:attrNameLst>
                                      </p:cBhvr>
                                      <p:tavLst>
                                        <p:tav tm="0">
                                          <p:val>
                                            <p:strVal val="#ppt_h*0.55"/>
                                          </p:val>
                                        </p:tav>
                                        <p:tav tm="100000">
                                          <p:val>
                                            <p:strVal val="#ppt_h"/>
                                          </p:val>
                                        </p:tav>
                                      </p:tavLst>
                                    </p:anim>
                                    <p:animEffect transition="in" filter="fade">
                                      <p:cBhvr>
                                        <p:cTn id="259" dur="420"/>
                                        <p:tgtEl>
                                          <p:spTgt spid="151"/>
                                        </p:tgtEl>
                                      </p:cBhvr>
                                    </p:animEffect>
                                  </p:childTnLst>
                                </p:cTn>
                              </p:par>
                              <p:par>
                                <p:cTn id="260" presetID="53" presetClass="entr" presetSubtype="16" fill="hold" grpId="0" nodeType="withEffect">
                                  <p:stCondLst>
                                    <p:cond delay="900"/>
                                  </p:stCondLst>
                                  <p:childTnLst>
                                    <p:set>
                                      <p:cBhvr>
                                        <p:cTn id="261" dur="1" fill="hold">
                                          <p:stCondLst>
                                            <p:cond delay="0"/>
                                          </p:stCondLst>
                                        </p:cTn>
                                        <p:tgtEl>
                                          <p:spTgt spid="152"/>
                                        </p:tgtEl>
                                        <p:attrNameLst>
                                          <p:attrName>style.visibility</p:attrName>
                                        </p:attrNameLst>
                                      </p:cBhvr>
                                      <p:to>
                                        <p:strVal val="visible"/>
                                      </p:to>
                                    </p:set>
                                    <p:anim calcmode="lin" valueType="num">
                                      <p:cBhvr additive="base">
                                        <p:cTn id="262" dur="420" decel="100000" fill="hold"/>
                                        <p:tgtEl>
                                          <p:spTgt spid="152"/>
                                        </p:tgtEl>
                                        <p:attrNameLst>
                                          <p:attrName>ppt_w</p:attrName>
                                        </p:attrNameLst>
                                      </p:cBhvr>
                                      <p:tavLst>
                                        <p:tav tm="0">
                                          <p:val>
                                            <p:strVal val="#ppt_w*0.55"/>
                                          </p:val>
                                        </p:tav>
                                        <p:tav tm="100000">
                                          <p:val>
                                            <p:strVal val="#ppt_w"/>
                                          </p:val>
                                        </p:tav>
                                      </p:tavLst>
                                    </p:anim>
                                    <p:anim calcmode="lin" valueType="num">
                                      <p:cBhvr additive="base">
                                        <p:cTn id="263" dur="420" decel="100000" fill="hold"/>
                                        <p:tgtEl>
                                          <p:spTgt spid="152"/>
                                        </p:tgtEl>
                                        <p:attrNameLst>
                                          <p:attrName>ppt_h</p:attrName>
                                        </p:attrNameLst>
                                      </p:cBhvr>
                                      <p:tavLst>
                                        <p:tav tm="0">
                                          <p:val>
                                            <p:strVal val="#ppt_h*0.55"/>
                                          </p:val>
                                        </p:tav>
                                        <p:tav tm="100000">
                                          <p:val>
                                            <p:strVal val="#ppt_h"/>
                                          </p:val>
                                        </p:tav>
                                      </p:tavLst>
                                    </p:anim>
                                    <p:animEffect transition="in" filter="fade">
                                      <p:cBhvr>
                                        <p:cTn id="264" dur="420"/>
                                        <p:tgtEl>
                                          <p:spTgt spid="152"/>
                                        </p:tgtEl>
                                      </p:cBhvr>
                                    </p:animEffect>
                                  </p:childTnLst>
                                </p:cTn>
                              </p:par>
                              <p:par>
                                <p:cTn id="265" presetID="53" presetClass="entr" presetSubtype="16" fill="hold" grpId="0" nodeType="withEffect">
                                  <p:stCondLst>
                                    <p:cond delay="900"/>
                                  </p:stCondLst>
                                  <p:childTnLst>
                                    <p:set>
                                      <p:cBhvr>
                                        <p:cTn id="266" dur="1" fill="hold">
                                          <p:stCondLst>
                                            <p:cond delay="0"/>
                                          </p:stCondLst>
                                        </p:cTn>
                                        <p:tgtEl>
                                          <p:spTgt spid="153"/>
                                        </p:tgtEl>
                                        <p:attrNameLst>
                                          <p:attrName>style.visibility</p:attrName>
                                        </p:attrNameLst>
                                      </p:cBhvr>
                                      <p:to>
                                        <p:strVal val="visible"/>
                                      </p:to>
                                    </p:set>
                                    <p:anim calcmode="lin" valueType="num">
                                      <p:cBhvr additive="base">
                                        <p:cTn id="267" dur="420" decel="100000" fill="hold"/>
                                        <p:tgtEl>
                                          <p:spTgt spid="153"/>
                                        </p:tgtEl>
                                        <p:attrNameLst>
                                          <p:attrName>ppt_w</p:attrName>
                                        </p:attrNameLst>
                                      </p:cBhvr>
                                      <p:tavLst>
                                        <p:tav tm="0">
                                          <p:val>
                                            <p:strVal val="#ppt_w*0.55"/>
                                          </p:val>
                                        </p:tav>
                                        <p:tav tm="100000">
                                          <p:val>
                                            <p:strVal val="#ppt_w"/>
                                          </p:val>
                                        </p:tav>
                                      </p:tavLst>
                                    </p:anim>
                                    <p:anim calcmode="lin" valueType="num">
                                      <p:cBhvr additive="base">
                                        <p:cTn id="268" dur="420" decel="100000" fill="hold"/>
                                        <p:tgtEl>
                                          <p:spTgt spid="153"/>
                                        </p:tgtEl>
                                        <p:attrNameLst>
                                          <p:attrName>ppt_h</p:attrName>
                                        </p:attrNameLst>
                                      </p:cBhvr>
                                      <p:tavLst>
                                        <p:tav tm="0">
                                          <p:val>
                                            <p:strVal val="#ppt_h*0.55"/>
                                          </p:val>
                                        </p:tav>
                                        <p:tav tm="100000">
                                          <p:val>
                                            <p:strVal val="#ppt_h"/>
                                          </p:val>
                                        </p:tav>
                                      </p:tavLst>
                                    </p:anim>
                                    <p:animEffect transition="in" filter="fade">
                                      <p:cBhvr>
                                        <p:cTn id="269" dur="420"/>
                                        <p:tgtEl>
                                          <p:spTgt spid="153"/>
                                        </p:tgtEl>
                                      </p:cBhvr>
                                    </p:animEffect>
                                  </p:childTnLst>
                                </p:cTn>
                              </p:par>
                              <p:par>
                                <p:cTn id="270" presetID="53" presetClass="entr" presetSubtype="16" fill="hold" nodeType="withEffect">
                                  <p:stCondLst>
                                    <p:cond delay="900"/>
                                  </p:stCondLst>
                                  <p:childTnLst>
                                    <p:set>
                                      <p:cBhvr>
                                        <p:cTn id="271" dur="1" fill="hold">
                                          <p:stCondLst>
                                            <p:cond delay="0"/>
                                          </p:stCondLst>
                                        </p:cTn>
                                        <p:tgtEl>
                                          <p:spTgt spid="154"/>
                                        </p:tgtEl>
                                        <p:attrNameLst>
                                          <p:attrName>style.visibility</p:attrName>
                                        </p:attrNameLst>
                                      </p:cBhvr>
                                      <p:to>
                                        <p:strVal val="visible"/>
                                      </p:to>
                                    </p:set>
                                    <p:anim calcmode="lin" valueType="num">
                                      <p:cBhvr additive="base">
                                        <p:cTn id="272" dur="420" decel="100000" fill="hold"/>
                                        <p:tgtEl>
                                          <p:spTgt spid="154"/>
                                        </p:tgtEl>
                                        <p:attrNameLst>
                                          <p:attrName>ppt_w</p:attrName>
                                        </p:attrNameLst>
                                      </p:cBhvr>
                                      <p:tavLst>
                                        <p:tav tm="0">
                                          <p:val>
                                            <p:strVal val="#ppt_w*0.55"/>
                                          </p:val>
                                        </p:tav>
                                        <p:tav tm="100000">
                                          <p:val>
                                            <p:strVal val="#ppt_w"/>
                                          </p:val>
                                        </p:tav>
                                      </p:tavLst>
                                    </p:anim>
                                    <p:anim calcmode="lin" valueType="num">
                                      <p:cBhvr additive="base">
                                        <p:cTn id="273" dur="420" decel="100000" fill="hold"/>
                                        <p:tgtEl>
                                          <p:spTgt spid="154"/>
                                        </p:tgtEl>
                                        <p:attrNameLst>
                                          <p:attrName>ppt_h</p:attrName>
                                        </p:attrNameLst>
                                      </p:cBhvr>
                                      <p:tavLst>
                                        <p:tav tm="0">
                                          <p:val>
                                            <p:strVal val="#ppt_h*0.55"/>
                                          </p:val>
                                        </p:tav>
                                        <p:tav tm="100000">
                                          <p:val>
                                            <p:strVal val="#ppt_h"/>
                                          </p:val>
                                        </p:tav>
                                      </p:tavLst>
                                    </p:anim>
                                    <p:animEffect transition="in" filter="fade">
                                      <p:cBhvr>
                                        <p:cTn id="274" dur="420"/>
                                        <p:tgtEl>
                                          <p:spTgt spid="154"/>
                                        </p:tgtEl>
                                      </p:cBhvr>
                                    </p:animEffect>
                                  </p:childTnLst>
                                </p:cTn>
                              </p:par>
                              <p:par>
                                <p:cTn id="275" presetID="53" presetClass="entr" presetSubtype="16" fill="hold" grpId="0" nodeType="withEffect">
                                  <p:stCondLst>
                                    <p:cond delay="900"/>
                                  </p:stCondLst>
                                  <p:childTnLst>
                                    <p:set>
                                      <p:cBhvr>
                                        <p:cTn id="276" dur="1" fill="hold">
                                          <p:stCondLst>
                                            <p:cond delay="0"/>
                                          </p:stCondLst>
                                        </p:cTn>
                                        <p:tgtEl>
                                          <p:spTgt spid="155"/>
                                        </p:tgtEl>
                                        <p:attrNameLst>
                                          <p:attrName>style.visibility</p:attrName>
                                        </p:attrNameLst>
                                      </p:cBhvr>
                                      <p:to>
                                        <p:strVal val="visible"/>
                                      </p:to>
                                    </p:set>
                                    <p:anim calcmode="lin" valueType="num">
                                      <p:cBhvr additive="base">
                                        <p:cTn id="277" dur="420" decel="100000" fill="hold"/>
                                        <p:tgtEl>
                                          <p:spTgt spid="155"/>
                                        </p:tgtEl>
                                        <p:attrNameLst>
                                          <p:attrName>ppt_w</p:attrName>
                                        </p:attrNameLst>
                                      </p:cBhvr>
                                      <p:tavLst>
                                        <p:tav tm="0">
                                          <p:val>
                                            <p:strVal val="#ppt_w*0.55"/>
                                          </p:val>
                                        </p:tav>
                                        <p:tav tm="100000">
                                          <p:val>
                                            <p:strVal val="#ppt_w"/>
                                          </p:val>
                                        </p:tav>
                                      </p:tavLst>
                                    </p:anim>
                                    <p:anim calcmode="lin" valueType="num">
                                      <p:cBhvr additive="base">
                                        <p:cTn id="278" dur="420" decel="100000" fill="hold"/>
                                        <p:tgtEl>
                                          <p:spTgt spid="155"/>
                                        </p:tgtEl>
                                        <p:attrNameLst>
                                          <p:attrName>ppt_h</p:attrName>
                                        </p:attrNameLst>
                                      </p:cBhvr>
                                      <p:tavLst>
                                        <p:tav tm="0">
                                          <p:val>
                                            <p:strVal val="#ppt_h*0.55"/>
                                          </p:val>
                                        </p:tav>
                                        <p:tav tm="100000">
                                          <p:val>
                                            <p:strVal val="#ppt_h"/>
                                          </p:val>
                                        </p:tav>
                                      </p:tavLst>
                                    </p:anim>
                                    <p:animEffect transition="in" filter="fade">
                                      <p:cBhvr>
                                        <p:cTn id="279" dur="420"/>
                                        <p:tgtEl>
                                          <p:spTgt spid="155"/>
                                        </p:tgtEl>
                                      </p:cBhvr>
                                    </p:animEffect>
                                  </p:childTnLst>
                                </p:cTn>
                              </p:par>
                              <p:par>
                                <p:cTn id="280" presetID="53" presetClass="entr" presetSubtype="16" fill="hold" grpId="0" nodeType="withEffect">
                                  <p:stCondLst>
                                    <p:cond delay="990"/>
                                  </p:stCondLst>
                                  <p:childTnLst>
                                    <p:set>
                                      <p:cBhvr>
                                        <p:cTn id="281" dur="1" fill="hold">
                                          <p:stCondLst>
                                            <p:cond delay="0"/>
                                          </p:stCondLst>
                                        </p:cTn>
                                        <p:tgtEl>
                                          <p:spTgt spid="156"/>
                                        </p:tgtEl>
                                        <p:attrNameLst>
                                          <p:attrName>style.visibility</p:attrName>
                                        </p:attrNameLst>
                                      </p:cBhvr>
                                      <p:to>
                                        <p:strVal val="visible"/>
                                      </p:to>
                                    </p:set>
                                    <p:anim calcmode="lin" valueType="num">
                                      <p:cBhvr additive="base">
                                        <p:cTn id="282" dur="420" decel="100000" fill="hold"/>
                                        <p:tgtEl>
                                          <p:spTgt spid="156"/>
                                        </p:tgtEl>
                                        <p:attrNameLst>
                                          <p:attrName>ppt_w</p:attrName>
                                        </p:attrNameLst>
                                      </p:cBhvr>
                                      <p:tavLst>
                                        <p:tav tm="0">
                                          <p:val>
                                            <p:strVal val="#ppt_w*0.55"/>
                                          </p:val>
                                        </p:tav>
                                        <p:tav tm="100000">
                                          <p:val>
                                            <p:strVal val="#ppt_w"/>
                                          </p:val>
                                        </p:tav>
                                      </p:tavLst>
                                    </p:anim>
                                    <p:anim calcmode="lin" valueType="num">
                                      <p:cBhvr additive="base">
                                        <p:cTn id="283" dur="420" decel="100000" fill="hold"/>
                                        <p:tgtEl>
                                          <p:spTgt spid="156"/>
                                        </p:tgtEl>
                                        <p:attrNameLst>
                                          <p:attrName>ppt_h</p:attrName>
                                        </p:attrNameLst>
                                      </p:cBhvr>
                                      <p:tavLst>
                                        <p:tav tm="0">
                                          <p:val>
                                            <p:strVal val="#ppt_h*0.55"/>
                                          </p:val>
                                        </p:tav>
                                        <p:tav tm="100000">
                                          <p:val>
                                            <p:strVal val="#ppt_h"/>
                                          </p:val>
                                        </p:tav>
                                      </p:tavLst>
                                    </p:anim>
                                    <p:animEffect transition="in" filter="fade">
                                      <p:cBhvr>
                                        <p:cTn id="284" dur="420"/>
                                        <p:tgtEl>
                                          <p:spTgt spid="156"/>
                                        </p:tgtEl>
                                      </p:cBhvr>
                                    </p:animEffect>
                                  </p:childTnLst>
                                </p:cTn>
                              </p:par>
                              <p:par>
                                <p:cTn id="285" presetID="53" presetClass="entr" presetSubtype="16" fill="hold" grpId="0" nodeType="withEffect">
                                  <p:stCondLst>
                                    <p:cond delay="990"/>
                                  </p:stCondLst>
                                  <p:childTnLst>
                                    <p:set>
                                      <p:cBhvr>
                                        <p:cTn id="286" dur="1" fill="hold">
                                          <p:stCondLst>
                                            <p:cond delay="0"/>
                                          </p:stCondLst>
                                        </p:cTn>
                                        <p:tgtEl>
                                          <p:spTgt spid="157"/>
                                        </p:tgtEl>
                                        <p:attrNameLst>
                                          <p:attrName>style.visibility</p:attrName>
                                        </p:attrNameLst>
                                      </p:cBhvr>
                                      <p:to>
                                        <p:strVal val="visible"/>
                                      </p:to>
                                    </p:set>
                                    <p:anim calcmode="lin" valueType="num">
                                      <p:cBhvr additive="base">
                                        <p:cTn id="287" dur="420" decel="100000" fill="hold"/>
                                        <p:tgtEl>
                                          <p:spTgt spid="157"/>
                                        </p:tgtEl>
                                        <p:attrNameLst>
                                          <p:attrName>ppt_w</p:attrName>
                                        </p:attrNameLst>
                                      </p:cBhvr>
                                      <p:tavLst>
                                        <p:tav tm="0">
                                          <p:val>
                                            <p:strVal val="#ppt_w*0.55"/>
                                          </p:val>
                                        </p:tav>
                                        <p:tav tm="100000">
                                          <p:val>
                                            <p:strVal val="#ppt_w"/>
                                          </p:val>
                                        </p:tav>
                                      </p:tavLst>
                                    </p:anim>
                                    <p:anim calcmode="lin" valueType="num">
                                      <p:cBhvr additive="base">
                                        <p:cTn id="288" dur="420" decel="100000" fill="hold"/>
                                        <p:tgtEl>
                                          <p:spTgt spid="157"/>
                                        </p:tgtEl>
                                        <p:attrNameLst>
                                          <p:attrName>ppt_h</p:attrName>
                                        </p:attrNameLst>
                                      </p:cBhvr>
                                      <p:tavLst>
                                        <p:tav tm="0">
                                          <p:val>
                                            <p:strVal val="#ppt_h*0.55"/>
                                          </p:val>
                                        </p:tav>
                                        <p:tav tm="100000">
                                          <p:val>
                                            <p:strVal val="#ppt_h"/>
                                          </p:val>
                                        </p:tav>
                                      </p:tavLst>
                                    </p:anim>
                                    <p:animEffect transition="in" filter="fade">
                                      <p:cBhvr>
                                        <p:cTn id="289" dur="420"/>
                                        <p:tgtEl>
                                          <p:spTgt spid="157"/>
                                        </p:tgtEl>
                                      </p:cBhvr>
                                    </p:animEffect>
                                  </p:childTnLst>
                                </p:cTn>
                              </p:par>
                              <p:par>
                                <p:cTn id="290" presetID="53" presetClass="entr" presetSubtype="16" fill="hold" grpId="0" nodeType="withEffect">
                                  <p:stCondLst>
                                    <p:cond delay="990"/>
                                  </p:stCondLst>
                                  <p:childTnLst>
                                    <p:set>
                                      <p:cBhvr>
                                        <p:cTn id="291" dur="1" fill="hold">
                                          <p:stCondLst>
                                            <p:cond delay="0"/>
                                          </p:stCondLst>
                                        </p:cTn>
                                        <p:tgtEl>
                                          <p:spTgt spid="158"/>
                                        </p:tgtEl>
                                        <p:attrNameLst>
                                          <p:attrName>style.visibility</p:attrName>
                                        </p:attrNameLst>
                                      </p:cBhvr>
                                      <p:to>
                                        <p:strVal val="visible"/>
                                      </p:to>
                                    </p:set>
                                    <p:anim calcmode="lin" valueType="num">
                                      <p:cBhvr additive="base">
                                        <p:cTn id="292" dur="420" decel="100000" fill="hold"/>
                                        <p:tgtEl>
                                          <p:spTgt spid="158"/>
                                        </p:tgtEl>
                                        <p:attrNameLst>
                                          <p:attrName>ppt_w</p:attrName>
                                        </p:attrNameLst>
                                      </p:cBhvr>
                                      <p:tavLst>
                                        <p:tav tm="0">
                                          <p:val>
                                            <p:strVal val="#ppt_w*0.55"/>
                                          </p:val>
                                        </p:tav>
                                        <p:tav tm="100000">
                                          <p:val>
                                            <p:strVal val="#ppt_w"/>
                                          </p:val>
                                        </p:tav>
                                      </p:tavLst>
                                    </p:anim>
                                    <p:anim calcmode="lin" valueType="num">
                                      <p:cBhvr additive="base">
                                        <p:cTn id="293" dur="420" decel="100000" fill="hold"/>
                                        <p:tgtEl>
                                          <p:spTgt spid="158"/>
                                        </p:tgtEl>
                                        <p:attrNameLst>
                                          <p:attrName>ppt_h</p:attrName>
                                        </p:attrNameLst>
                                      </p:cBhvr>
                                      <p:tavLst>
                                        <p:tav tm="0">
                                          <p:val>
                                            <p:strVal val="#ppt_h*0.55"/>
                                          </p:val>
                                        </p:tav>
                                        <p:tav tm="100000">
                                          <p:val>
                                            <p:strVal val="#ppt_h"/>
                                          </p:val>
                                        </p:tav>
                                      </p:tavLst>
                                    </p:anim>
                                    <p:animEffect transition="in" filter="fade">
                                      <p:cBhvr>
                                        <p:cTn id="294" dur="420"/>
                                        <p:tgtEl>
                                          <p:spTgt spid="158"/>
                                        </p:tgtEl>
                                      </p:cBhvr>
                                    </p:animEffect>
                                  </p:childTnLst>
                                </p:cTn>
                              </p:par>
                              <p:par>
                                <p:cTn id="295" presetID="53" presetClass="entr" presetSubtype="16" fill="hold" nodeType="withEffect">
                                  <p:stCondLst>
                                    <p:cond delay="990"/>
                                  </p:stCondLst>
                                  <p:childTnLst>
                                    <p:set>
                                      <p:cBhvr>
                                        <p:cTn id="296" dur="1" fill="hold">
                                          <p:stCondLst>
                                            <p:cond delay="0"/>
                                          </p:stCondLst>
                                        </p:cTn>
                                        <p:tgtEl>
                                          <p:spTgt spid="159"/>
                                        </p:tgtEl>
                                        <p:attrNameLst>
                                          <p:attrName>style.visibility</p:attrName>
                                        </p:attrNameLst>
                                      </p:cBhvr>
                                      <p:to>
                                        <p:strVal val="visible"/>
                                      </p:to>
                                    </p:set>
                                    <p:anim calcmode="lin" valueType="num">
                                      <p:cBhvr additive="base">
                                        <p:cTn id="297" dur="420" decel="100000" fill="hold"/>
                                        <p:tgtEl>
                                          <p:spTgt spid="159"/>
                                        </p:tgtEl>
                                        <p:attrNameLst>
                                          <p:attrName>ppt_w</p:attrName>
                                        </p:attrNameLst>
                                      </p:cBhvr>
                                      <p:tavLst>
                                        <p:tav tm="0">
                                          <p:val>
                                            <p:strVal val="#ppt_w*0.55"/>
                                          </p:val>
                                        </p:tav>
                                        <p:tav tm="100000">
                                          <p:val>
                                            <p:strVal val="#ppt_w"/>
                                          </p:val>
                                        </p:tav>
                                      </p:tavLst>
                                    </p:anim>
                                    <p:anim calcmode="lin" valueType="num">
                                      <p:cBhvr additive="base">
                                        <p:cTn id="298" dur="420" decel="100000" fill="hold"/>
                                        <p:tgtEl>
                                          <p:spTgt spid="159"/>
                                        </p:tgtEl>
                                        <p:attrNameLst>
                                          <p:attrName>ppt_h</p:attrName>
                                        </p:attrNameLst>
                                      </p:cBhvr>
                                      <p:tavLst>
                                        <p:tav tm="0">
                                          <p:val>
                                            <p:strVal val="#ppt_h*0.55"/>
                                          </p:val>
                                        </p:tav>
                                        <p:tav tm="100000">
                                          <p:val>
                                            <p:strVal val="#ppt_h"/>
                                          </p:val>
                                        </p:tav>
                                      </p:tavLst>
                                    </p:anim>
                                    <p:animEffect transition="in" filter="fade">
                                      <p:cBhvr>
                                        <p:cTn id="299" dur="420"/>
                                        <p:tgtEl>
                                          <p:spTgt spid="159"/>
                                        </p:tgtEl>
                                      </p:cBhvr>
                                    </p:animEffect>
                                  </p:childTnLst>
                                </p:cTn>
                              </p:par>
                              <p:par>
                                <p:cTn id="300" presetID="53" presetClass="entr" presetSubtype="16" fill="hold" grpId="0" nodeType="withEffect">
                                  <p:stCondLst>
                                    <p:cond delay="990"/>
                                  </p:stCondLst>
                                  <p:childTnLst>
                                    <p:set>
                                      <p:cBhvr>
                                        <p:cTn id="301" dur="1" fill="hold">
                                          <p:stCondLst>
                                            <p:cond delay="0"/>
                                          </p:stCondLst>
                                        </p:cTn>
                                        <p:tgtEl>
                                          <p:spTgt spid="160"/>
                                        </p:tgtEl>
                                        <p:attrNameLst>
                                          <p:attrName>style.visibility</p:attrName>
                                        </p:attrNameLst>
                                      </p:cBhvr>
                                      <p:to>
                                        <p:strVal val="visible"/>
                                      </p:to>
                                    </p:set>
                                    <p:anim calcmode="lin" valueType="num">
                                      <p:cBhvr additive="base">
                                        <p:cTn id="302" dur="420" decel="100000" fill="hold"/>
                                        <p:tgtEl>
                                          <p:spTgt spid="160"/>
                                        </p:tgtEl>
                                        <p:attrNameLst>
                                          <p:attrName>ppt_w</p:attrName>
                                        </p:attrNameLst>
                                      </p:cBhvr>
                                      <p:tavLst>
                                        <p:tav tm="0">
                                          <p:val>
                                            <p:strVal val="#ppt_w*0.55"/>
                                          </p:val>
                                        </p:tav>
                                        <p:tav tm="100000">
                                          <p:val>
                                            <p:strVal val="#ppt_w"/>
                                          </p:val>
                                        </p:tav>
                                      </p:tavLst>
                                    </p:anim>
                                    <p:anim calcmode="lin" valueType="num">
                                      <p:cBhvr additive="base">
                                        <p:cTn id="303" dur="420" decel="100000" fill="hold"/>
                                        <p:tgtEl>
                                          <p:spTgt spid="160"/>
                                        </p:tgtEl>
                                        <p:attrNameLst>
                                          <p:attrName>ppt_h</p:attrName>
                                        </p:attrNameLst>
                                      </p:cBhvr>
                                      <p:tavLst>
                                        <p:tav tm="0">
                                          <p:val>
                                            <p:strVal val="#ppt_h*0.55"/>
                                          </p:val>
                                        </p:tav>
                                        <p:tav tm="100000">
                                          <p:val>
                                            <p:strVal val="#ppt_h"/>
                                          </p:val>
                                        </p:tav>
                                      </p:tavLst>
                                    </p:anim>
                                    <p:animEffect transition="in" filter="fade">
                                      <p:cBhvr>
                                        <p:cTn id="304" dur="420"/>
                                        <p:tgtEl>
                                          <p:spTgt spid="1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5" grpId="0" animBg="1"/>
      <p:bldP spid="106" grpId="0" animBg="1"/>
      <p:bldP spid="107" grpId="0" animBg="1"/>
      <p:bldP spid="108" grpId="0" animBg="1"/>
      <p:bldP spid="110" grpId="0" animBg="1"/>
      <p:bldP spid="111" grpId="0" animBg="1"/>
      <p:bldP spid="112" grpId="0" animBg="1"/>
      <p:bldP spid="113" grpId="0" animBg="1"/>
      <p:bldP spid="115" grpId="0" animBg="1"/>
      <p:bldP spid="116" grpId="0" animBg="1"/>
      <p:bldP spid="117" grpId="0" animBg="1"/>
      <p:bldP spid="118" grpId="0" animBg="1"/>
      <p:bldP spid="120" grpId="0" animBg="1"/>
      <p:bldP spid="121" grpId="0" animBg="1"/>
      <p:bldP spid="122" grpId="0" animBg="1"/>
      <p:bldP spid="123" grpId="0" animBg="1"/>
      <p:bldP spid="125" grpId="0" animBg="1"/>
      <p:bldP spid="126" grpId="0" animBg="1"/>
      <p:bldP spid="127" grpId="0" animBg="1"/>
      <p:bldP spid="128" grpId="0" animBg="1"/>
      <p:bldP spid="130" grpId="0" animBg="1"/>
      <p:bldP spid="131" grpId="0" animBg="1"/>
      <p:bldP spid="132" grpId="0" animBg="1"/>
      <p:bldP spid="133" grpId="0" animBg="1"/>
      <p:bldP spid="135" grpId="0" animBg="1"/>
      <p:bldP spid="136" grpId="0" animBg="1"/>
      <p:bldP spid="137" grpId="0" animBg="1"/>
      <p:bldP spid="138" grpId="0" animBg="1"/>
      <p:bldP spid="140" grpId="0" animBg="1"/>
      <p:bldP spid="141" grpId="0" animBg="1"/>
      <p:bldP spid="142" grpId="0" animBg="1"/>
      <p:bldP spid="143" grpId="0" animBg="1"/>
      <p:bldP spid="145" grpId="0" animBg="1"/>
      <p:bldP spid="146" grpId="0" animBg="1"/>
      <p:bldP spid="147" grpId="0" animBg="1"/>
      <p:bldP spid="148" grpId="0" animBg="1"/>
      <p:bldP spid="150" grpId="0" animBg="1"/>
      <p:bldP spid="151" grpId="0" animBg="1"/>
      <p:bldP spid="152" grpId="0" animBg="1"/>
      <p:bldP spid="153" grpId="0" animBg="1"/>
      <p:bldP spid="155" grpId="0" animBg="1"/>
      <p:bldP spid="156" grpId="0" animBg="1"/>
      <p:bldP spid="157" grpId="0" animBg="1"/>
      <p:bldP spid="158" grpId="0" animBg="1"/>
      <p:bldP spid="160"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PRINCIPLE 01</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Satisfy the Customer</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213</a:t>
            </a:r>
            <a:endParaRPr lang="en-US" sz="850" dirty="0"/>
          </a:p>
        </p:txBody>
      </p:sp>
      <p:sp>
        <p:nvSpPr>
          <p:cNvPr id="101" name="!!trk0"/>
          <p:cNvSpPr/>
          <p:nvPr/>
        </p:nvSpPr>
        <p:spPr>
          <a:xfrm>
            <a:off x="7708392" y="457200"/>
            <a:ext cx="265176" cy="265176"/>
          </a:xfrm>
          <a:prstGeom prst="ellipse">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0F172A"/>
                </a:solidFill>
                <a:latin typeface="Segoe UI"/>
                <a:ea typeface="Segoe UI"/>
                <a:cs typeface="Segoe UI"/>
              </a:rPr>
              <a:t>1</a:t>
            </a:r>
            <a:endParaRPr lang="en-US" sz="700" dirty="0"/>
          </a:p>
        </p:txBody>
      </p:sp>
      <p:sp>
        <p:nvSpPr>
          <p:cNvPr id="102" name="!!trk1"/>
          <p:cNvSpPr/>
          <p:nvPr/>
        </p:nvSpPr>
        <p:spPr>
          <a:xfrm>
            <a:off x="803757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2</a:t>
            </a:r>
            <a:endParaRPr lang="en-US" sz="700" dirty="0"/>
          </a:p>
        </p:txBody>
      </p:sp>
      <p:sp>
        <p:nvSpPr>
          <p:cNvPr id="103" name="!!trk2"/>
          <p:cNvSpPr/>
          <p:nvPr/>
        </p:nvSpPr>
        <p:spPr>
          <a:xfrm>
            <a:off x="8366760"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3</a:t>
            </a:r>
            <a:endParaRPr lang="en-US" sz="700" dirty="0"/>
          </a:p>
        </p:txBody>
      </p:sp>
      <p:sp>
        <p:nvSpPr>
          <p:cNvPr id="104" name="!!trk3"/>
          <p:cNvSpPr/>
          <p:nvPr/>
        </p:nvSpPr>
        <p:spPr>
          <a:xfrm>
            <a:off x="8695944"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4</a:t>
            </a:r>
            <a:endParaRPr lang="en-US" sz="700" dirty="0"/>
          </a:p>
        </p:txBody>
      </p:sp>
      <p:sp>
        <p:nvSpPr>
          <p:cNvPr id="105" name="!!trk4"/>
          <p:cNvSpPr/>
          <p:nvPr/>
        </p:nvSpPr>
        <p:spPr>
          <a:xfrm>
            <a:off x="902512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5</a:t>
            </a:r>
            <a:endParaRPr lang="en-US" sz="700" dirty="0"/>
          </a:p>
        </p:txBody>
      </p:sp>
      <p:sp>
        <p:nvSpPr>
          <p:cNvPr id="106" name="!!trk5"/>
          <p:cNvSpPr/>
          <p:nvPr/>
        </p:nvSpPr>
        <p:spPr>
          <a:xfrm>
            <a:off x="935431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6</a:t>
            </a:r>
            <a:endParaRPr lang="en-US" sz="700" dirty="0"/>
          </a:p>
        </p:txBody>
      </p:sp>
      <p:sp>
        <p:nvSpPr>
          <p:cNvPr id="107" name="!!trk6"/>
          <p:cNvSpPr/>
          <p:nvPr/>
        </p:nvSpPr>
        <p:spPr>
          <a:xfrm>
            <a:off x="968349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7</a:t>
            </a:r>
            <a:endParaRPr lang="en-US" sz="700" dirty="0"/>
          </a:p>
        </p:txBody>
      </p:sp>
      <p:sp>
        <p:nvSpPr>
          <p:cNvPr id="108" name="!!trk7"/>
          <p:cNvSpPr/>
          <p:nvPr/>
        </p:nvSpPr>
        <p:spPr>
          <a:xfrm>
            <a:off x="10012680"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8</a:t>
            </a:r>
            <a:endParaRPr lang="en-US" sz="700" dirty="0"/>
          </a:p>
        </p:txBody>
      </p:sp>
      <p:sp>
        <p:nvSpPr>
          <p:cNvPr id="109" name="!!trk8"/>
          <p:cNvSpPr/>
          <p:nvPr/>
        </p:nvSpPr>
        <p:spPr>
          <a:xfrm>
            <a:off x="10341864"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9</a:t>
            </a:r>
            <a:endParaRPr lang="en-US" sz="700" dirty="0"/>
          </a:p>
        </p:txBody>
      </p:sp>
      <p:sp>
        <p:nvSpPr>
          <p:cNvPr id="110" name="!!trk9"/>
          <p:cNvSpPr/>
          <p:nvPr/>
        </p:nvSpPr>
        <p:spPr>
          <a:xfrm>
            <a:off x="1067104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10</a:t>
            </a:r>
            <a:endParaRPr lang="en-US" sz="700" dirty="0"/>
          </a:p>
        </p:txBody>
      </p:sp>
      <p:sp>
        <p:nvSpPr>
          <p:cNvPr id="111" name="!!trk10"/>
          <p:cNvSpPr/>
          <p:nvPr/>
        </p:nvSpPr>
        <p:spPr>
          <a:xfrm>
            <a:off x="1100023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11</a:t>
            </a:r>
            <a:endParaRPr lang="en-US" sz="700" dirty="0"/>
          </a:p>
        </p:txBody>
      </p:sp>
      <p:sp>
        <p:nvSpPr>
          <p:cNvPr id="112" name="!!trk11"/>
          <p:cNvSpPr/>
          <p:nvPr/>
        </p:nvSpPr>
        <p:spPr>
          <a:xfrm>
            <a:off x="1132941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12</a:t>
            </a:r>
            <a:endParaRPr lang="en-US" sz="700" dirty="0"/>
          </a:p>
        </p:txBody>
      </p:sp>
      <p:sp>
        <p:nvSpPr>
          <p:cNvPr id="113" name="!!pnum"/>
          <p:cNvSpPr txBox="1"/>
          <p:nvPr/>
        </p:nvSpPr>
        <p:spPr>
          <a:xfrm>
            <a:off x="506578" y="1600200"/>
            <a:ext cx="2194560" cy="11887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7200" b="1" dirty="0">
                <a:solidFill>
                  <a:srgbClr val="FBBF24"/>
                </a:solidFill>
                <a:latin typeface="Segoe UI"/>
                <a:ea typeface="Segoe UI"/>
                <a:cs typeface="Segoe UI"/>
              </a:rPr>
              <a:t>01</a:t>
            </a:r>
            <a:endParaRPr lang="en-US" sz="7200" dirty="0"/>
          </a:p>
        </p:txBody>
      </p:sp>
      <p:sp>
        <p:nvSpPr>
          <p:cNvPr id="114" name="s114"/>
          <p:cNvSpPr/>
          <p:nvPr/>
        </p:nvSpPr>
        <p:spPr>
          <a:xfrm>
            <a:off x="3057754" y="1828800"/>
            <a:ext cx="777240" cy="7772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3244291" y="2015338"/>
            <a:ext cx="404165" cy="404165"/>
          </a:xfrm>
          <a:prstGeom prst="rect">
            <a:avLst/>
          </a:prstGeom>
        </p:spPr>
      </p:pic>
      <p:sp>
        <p:nvSpPr>
          <p:cNvPr id="116" name="!!def"/>
          <p:cNvSpPr/>
          <p:nvPr/>
        </p:nvSpPr>
        <p:spPr>
          <a:xfrm>
            <a:off x="543154" y="2926080"/>
            <a:ext cx="3886200" cy="868680"/>
          </a:xfrm>
          <a:prstGeom prst="roundRect">
            <a:avLst>
              <a:gd name="adj" fmla="val 12000"/>
            </a:avLst>
          </a:prstGeom>
          <a:solidFill>
            <a:srgbClr val="FBBF24">
              <a:alpha val="10000"/>
            </a:srgbClr>
          </a:solidFill>
          <a:ln w="12700">
            <a:solidFill>
              <a:srgbClr val="FBBF24"/>
            </a:solidFill>
            <a:prstDash val="solid"/>
          </a:ln>
        </p:spPr>
        <p:txBody>
          <a:bodyPr wrap="square" lIns="201168" tIns="45720" rIns="137160" bIns="45720" rtlCol="0" anchor="ctr">
            <a:noAutofit/>
          </a:bodyPr>
          <a:lstStyle/>
          <a:p>
            <a:pPr marL="0" indent="0" algn="l">
              <a:spcBef>
                <a:spcPts val="0"/>
              </a:spcBef>
              <a:spcAft>
                <a:spcPts val="200"/>
              </a:spcAft>
              <a:buNone/>
            </a:pPr>
            <a:r>
              <a:rPr lang="en-US" sz="1000" b="1" dirty="0">
                <a:solidFill>
                  <a:srgbClr val="FBBF24"/>
                </a:solidFill>
                <a:latin typeface="Segoe UI"/>
                <a:ea typeface="Segoe UI"/>
                <a:cs typeface="Segoe UI"/>
              </a:rPr>
              <a:t>IN SHORT</a:t>
            </a:r>
            <a:endParaRPr lang="en-US" sz="1000" dirty="0"/>
          </a:p>
          <a:p>
            <a:pPr marL="0" indent="0" algn="l">
              <a:spcBef>
                <a:spcPts val="0"/>
              </a:spcBef>
              <a:spcAft>
                <a:spcPts val="0"/>
              </a:spcAft>
              <a:buNone/>
            </a:pPr>
            <a:r>
              <a:rPr lang="en-US" sz="1450" b="1" dirty="0">
                <a:solidFill>
                  <a:srgbClr val="FFFFFF"/>
                </a:solidFill>
                <a:latin typeface="Segoe UI"/>
                <a:ea typeface="Segoe UI"/>
                <a:cs typeface="Segoe UI"/>
              </a:rPr>
              <a:t>Early and continuous delivery of valuable software.</a:t>
            </a:r>
            <a:endParaRPr lang="en-US" sz="1450" dirty="0"/>
          </a:p>
        </p:txBody>
      </p:sp>
      <p:sp>
        <p:nvSpPr>
          <p:cNvPr id="117" name="!!quote"/>
          <p:cNvSpPr/>
          <p:nvPr/>
        </p:nvSpPr>
        <p:spPr>
          <a:xfrm>
            <a:off x="543154" y="3931920"/>
            <a:ext cx="3886200" cy="1691640"/>
          </a:xfrm>
          <a:prstGeom prst="roundRect">
            <a:avLst>
              <a:gd name="adj" fmla="val 8000"/>
            </a:avLst>
          </a:prstGeom>
          <a:solidFill>
            <a:srgbClr val="111B2E"/>
          </a:solidFill>
          <a:ln w="12700">
            <a:solidFill>
              <a:srgbClr val="1E3A5F"/>
            </a:solidFill>
            <a:prstDash val="solid"/>
          </a:ln>
        </p:spPr>
        <p:txBody>
          <a:bodyPr wrap="square" lIns="201168" tIns="146304" rIns="164592" bIns="91440" rtlCol="0" anchor="t">
            <a:noAutofit/>
          </a:bodyPr>
          <a:lstStyle/>
          <a:p>
            <a:pPr marL="0" indent="0" algn="l">
              <a:spcBef>
                <a:spcPts val="0"/>
              </a:spcBef>
              <a:spcAft>
                <a:spcPts val="400"/>
              </a:spcAft>
              <a:buNone/>
            </a:pPr>
            <a:r>
              <a:rPr lang="en-US" sz="1000" b="1" dirty="0">
                <a:solidFill>
                  <a:srgbClr val="94A3B8"/>
                </a:solidFill>
                <a:latin typeface="Segoe UI"/>
                <a:ea typeface="Segoe UI"/>
                <a:cs typeface="Segoe UI"/>
              </a:rPr>
              <a:t>THE MANIFESTO SAYS</a:t>
            </a:r>
            <a:endParaRPr lang="en-US" sz="1000" dirty="0"/>
          </a:p>
          <a:p>
            <a:pPr marL="0" indent="0" algn="l">
              <a:lnSpc>
                <a:spcPct val="110000"/>
              </a:lnSpc>
              <a:spcBef>
                <a:spcPts val="0"/>
              </a:spcBef>
              <a:spcAft>
                <a:spcPts val="0"/>
              </a:spcAft>
              <a:buNone/>
            </a:pPr>
            <a:r>
              <a:rPr lang="en-US" sz="1250" b="0" i="1" dirty="0">
                <a:solidFill>
                  <a:srgbClr val="CBD5E1"/>
                </a:solidFill>
                <a:latin typeface="Segoe UI"/>
                <a:ea typeface="Segoe UI"/>
                <a:cs typeface="Segoe UI"/>
              </a:rPr>
              <a:t>“Our highest priority is to satisfy the customer through early and continuous delivery of valuable software.”</a:t>
            </a:r>
            <a:endParaRPr lang="en-US" sz="1250" dirty="0"/>
          </a:p>
        </p:txBody>
      </p:sp>
      <p:sp>
        <p:nvSpPr>
          <p:cNvPr id="118" name="s118"/>
          <p:cNvSpPr/>
          <p:nvPr/>
        </p:nvSpPr>
        <p:spPr>
          <a:xfrm>
            <a:off x="4886554" y="209397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19" name="s119"/>
          <p:cNvSpPr/>
          <p:nvPr/>
        </p:nvSpPr>
        <p:spPr>
          <a:xfrm>
            <a:off x="4703674" y="1783080"/>
            <a:ext cx="6927494" cy="91440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Is a perfect plan more important than a first working release in week 2?</a:t>
            </a:r>
            <a:endParaRPr lang="en-US" sz="1450" dirty="0"/>
          </a:p>
        </p:txBody>
      </p:sp>
      <p:sp>
        <p:nvSpPr>
          <p:cNvPr id="120" name="s120"/>
          <p:cNvSpPr/>
          <p:nvPr/>
        </p:nvSpPr>
        <p:spPr>
          <a:xfrm>
            <a:off x="4703674" y="2862072"/>
            <a:ext cx="283464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CASE · Food Delivery Platform</a:t>
            </a:r>
            <a:endParaRPr lang="en-US" sz="1000" dirty="0"/>
          </a:p>
        </p:txBody>
      </p:sp>
      <p:sp>
        <p:nvSpPr>
          <p:cNvPr id="121" name="s121"/>
          <p:cNvSpPr/>
          <p:nvPr/>
        </p:nvSpPr>
        <p:spPr>
          <a:xfrm>
            <a:off x="4703674" y="3337560"/>
            <a:ext cx="3349447" cy="22860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p:nvPr/>
        </p:nvSpPr>
        <p:spPr>
          <a:xfrm>
            <a:off x="4904842" y="3520440"/>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5"/>
          <a:stretch>
            <a:fillRect/>
          </a:stretch>
        </p:blipFill>
        <p:spPr>
          <a:xfrm>
            <a:off x="5014570" y="3630168"/>
            <a:ext cx="237744" cy="237744"/>
          </a:xfrm>
          <a:prstGeom prst="rect">
            <a:avLst/>
          </a:prstGeom>
        </p:spPr>
      </p:pic>
      <p:sp>
        <p:nvSpPr>
          <p:cNvPr id="124" name="s124"/>
          <p:cNvSpPr txBox="1"/>
          <p:nvPr/>
        </p:nvSpPr>
        <p:spPr>
          <a:xfrm>
            <a:off x="5480914"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IGNORE IT</a:t>
            </a:r>
            <a:endParaRPr lang="en-US" sz="1200" dirty="0"/>
          </a:p>
        </p:txBody>
      </p:sp>
      <p:sp>
        <p:nvSpPr>
          <p:cNvPr id="125" name="s125"/>
          <p:cNvSpPr txBox="1"/>
          <p:nvPr/>
        </p:nvSpPr>
        <p:spPr>
          <a:xfrm>
            <a:off x="4932274"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0" dirty="0">
                <a:solidFill>
                  <a:srgbClr val="E2E8F0"/>
                </a:solidFill>
                <a:latin typeface="Segoe UI"/>
                <a:ea typeface="Segoe UI"/>
                <a:cs typeface="Segoe UI"/>
              </a:rPr>
              <a:t>Wait 4 months for the 'complete' app.</a:t>
            </a:r>
            <a:endParaRPr lang="en-US" sz="1500" dirty="0"/>
          </a:p>
        </p:txBody>
      </p:sp>
      <p:sp>
        <p:nvSpPr>
          <p:cNvPr id="126" name="s126"/>
          <p:cNvSpPr/>
          <p:nvPr/>
        </p:nvSpPr>
        <p:spPr>
          <a:xfrm>
            <a:off x="8281721" y="3337560"/>
            <a:ext cx="3349447" cy="2286000"/>
          </a:xfrm>
          <a:prstGeom prst="roundRect">
            <a:avLst>
              <a:gd name="adj" fmla="val 8000"/>
            </a:avLst>
          </a:prstGeom>
          <a:solidFill>
            <a:srgbClr val="34D399">
              <a:alpha val="8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482889" y="352044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6"/>
          <a:stretch>
            <a:fillRect/>
          </a:stretch>
        </p:blipFill>
        <p:spPr>
          <a:xfrm>
            <a:off x="8592617" y="3630168"/>
            <a:ext cx="237744" cy="237744"/>
          </a:xfrm>
          <a:prstGeom prst="rect">
            <a:avLst/>
          </a:prstGeom>
        </p:spPr>
      </p:pic>
      <p:sp>
        <p:nvSpPr>
          <p:cNvPr id="129" name="s129"/>
          <p:cNvSpPr txBox="1"/>
          <p:nvPr/>
        </p:nvSpPr>
        <p:spPr>
          <a:xfrm>
            <a:off x="9058961"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APPLY IT</a:t>
            </a:r>
            <a:endParaRPr lang="en-US" sz="1200" dirty="0"/>
          </a:p>
        </p:txBody>
      </p:sp>
      <p:sp>
        <p:nvSpPr>
          <p:cNvPr id="130" name="s130"/>
          <p:cNvSpPr txBox="1"/>
          <p:nvPr/>
        </p:nvSpPr>
        <p:spPr>
          <a:xfrm>
            <a:off x="8510321" y="4160520"/>
            <a:ext cx="2937967" cy="1325880"/>
          </a:xfrm>
          <a:prstGeom prst="rect">
            <a:avLst/>
          </a:prstGeom>
          <a:noFill/>
          <a:ln>
            <a:noFill/>
          </a:ln>
        </p:spPr>
        <p:txBody>
          <a:bodyPr wrap="square" lIns="0" tIns="0" rIns="0" bIns="0" rtlCol="0" anchor="t">
            <a:noAutofit/>
          </a:bodyPr>
          <a:lstStyle/>
          <a:p>
            <a:r>
              <a:rPr lang="en-US" sz="1500" dirty="0">
                <a:solidFill>
                  <a:srgbClr val="E2E8F0"/>
                </a:solidFill>
                <a:latin typeface="Segoe UI"/>
                <a:ea typeface="Segoe UI"/>
                <a:cs typeface="Segoe UI"/>
              </a:rPr>
              <a:t>Launch a minimal ordering flow for one restaurant, then learn from real orders</a:t>
            </a: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13"/>
                                        </p:tgtEl>
                                        <p:attrNameLst>
                                          <p:attrName>style.visibility</p:attrName>
                                        </p:attrNameLst>
                                      </p:cBhvr>
                                      <p:to>
                                        <p:strVal val="visible"/>
                                      </p:to>
                                    </p:set>
                                    <p:anim calcmode="lin" valueType="num">
                                      <p:cBhvr additive="base">
                                        <p:cTn id="7" dur="500" decel="100000" fill="hold"/>
                                        <p:tgtEl>
                                          <p:spTgt spid="113"/>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13"/>
                                        </p:tgtEl>
                                        <p:attrNameLst>
                                          <p:attrName>ppt_h</p:attrName>
                                        </p:attrNameLst>
                                      </p:cBhvr>
                                      <p:tavLst>
                                        <p:tav tm="0">
                                          <p:val>
                                            <p:strVal val="#ppt_h*0.3"/>
                                          </p:val>
                                        </p:tav>
                                        <p:tav tm="100000">
                                          <p:val>
                                            <p:strVal val="#ppt_h*1.08"/>
                                          </p:val>
                                        </p:tav>
                                      </p:tavLst>
                                    </p:anim>
                                    <p:animEffect transition="in" filter="fade">
                                      <p:cBhvr>
                                        <p:cTn id="9" dur="250"/>
                                        <p:tgtEl>
                                          <p:spTgt spid="113"/>
                                        </p:tgtEl>
                                      </p:cBhvr>
                                    </p:animEffect>
                                    <p:anim calcmode="lin" valueType="num">
                                      <p:cBhvr additive="base">
                                        <p:cTn id="10" dur="160" fill="hold">
                                          <p:stCondLst>
                                            <p:cond delay="500"/>
                                          </p:stCondLst>
                                        </p:cTn>
                                        <p:tgtEl>
                                          <p:spTgt spid="113"/>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13"/>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50"/>
                                  </p:stCondLst>
                                  <p:childTnLst>
                                    <p:set>
                                      <p:cBhvr>
                                        <p:cTn id="13" dur="1" fill="hold">
                                          <p:stCondLst>
                                            <p:cond delay="0"/>
                                          </p:stCondLst>
                                        </p:cTn>
                                        <p:tgtEl>
                                          <p:spTgt spid="114"/>
                                        </p:tgtEl>
                                        <p:attrNameLst>
                                          <p:attrName>style.visibility</p:attrName>
                                        </p:attrNameLst>
                                      </p:cBhvr>
                                      <p:to>
                                        <p:strVal val="visible"/>
                                      </p:to>
                                    </p:set>
                                    <p:animEffect transition="in" filter="fade">
                                      <p:cBhvr>
                                        <p:cTn id="14" dur="500"/>
                                        <p:tgtEl>
                                          <p:spTgt spid="114"/>
                                        </p:tgtEl>
                                      </p:cBhvr>
                                    </p:animEffect>
                                    <p:anim calcmode="lin" valueType="num">
                                      <p:cBhvr additive="base">
                                        <p:cTn id="15" dur="500" decel="100000" fill="hold"/>
                                        <p:tgtEl>
                                          <p:spTgt spid="114"/>
                                        </p:tgtEl>
                                        <p:attrNameLst>
                                          <p:attrName>ppt_y</p:attrName>
                                        </p:attrNameLst>
                                      </p:cBhvr>
                                      <p:tavLst>
                                        <p:tav tm="0">
                                          <p:val>
                                            <p:strVal val="#ppt_y+0.06"/>
                                          </p:val>
                                        </p:tav>
                                        <p:tav tm="100000">
                                          <p:val>
                                            <p:strVal val="#ppt_y"/>
                                          </p:val>
                                        </p:tav>
                                      </p:tavLst>
                                    </p:anim>
                                  </p:childTnLst>
                                </p:cTn>
                              </p:par>
                              <p:par>
                                <p:cTn id="16" presetID="42" presetClass="entr" presetSubtype="0" fill="hold" nodeType="withEffect">
                                  <p:stCondLst>
                                    <p:cond delay="150"/>
                                  </p:stCondLst>
                                  <p:childTnLst>
                                    <p:set>
                                      <p:cBhvr>
                                        <p:cTn id="17" dur="1" fill="hold">
                                          <p:stCondLst>
                                            <p:cond delay="0"/>
                                          </p:stCondLst>
                                        </p:cTn>
                                        <p:tgtEl>
                                          <p:spTgt spid="115"/>
                                        </p:tgtEl>
                                        <p:attrNameLst>
                                          <p:attrName>style.visibility</p:attrName>
                                        </p:attrNameLst>
                                      </p:cBhvr>
                                      <p:to>
                                        <p:strVal val="visible"/>
                                      </p:to>
                                    </p:set>
                                    <p:animEffect transition="in" filter="fade">
                                      <p:cBhvr>
                                        <p:cTn id="18" dur="500"/>
                                        <p:tgtEl>
                                          <p:spTgt spid="115"/>
                                        </p:tgtEl>
                                      </p:cBhvr>
                                    </p:animEffect>
                                    <p:anim calcmode="lin" valueType="num">
                                      <p:cBhvr additive="base">
                                        <p:cTn id="19" dur="500" decel="100000" fill="hold"/>
                                        <p:tgtEl>
                                          <p:spTgt spid="115"/>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300"/>
                                  </p:stCondLst>
                                  <p:childTnLst>
                                    <p:set>
                                      <p:cBhvr>
                                        <p:cTn id="21" dur="1" fill="hold">
                                          <p:stCondLst>
                                            <p:cond delay="0"/>
                                          </p:stCondLst>
                                        </p:cTn>
                                        <p:tgtEl>
                                          <p:spTgt spid="116"/>
                                        </p:tgtEl>
                                        <p:attrNameLst>
                                          <p:attrName>style.visibility</p:attrName>
                                        </p:attrNameLst>
                                      </p:cBhvr>
                                      <p:to>
                                        <p:strVal val="visible"/>
                                      </p:to>
                                    </p:set>
                                    <p:animEffect transition="in" filter="fade">
                                      <p:cBhvr>
                                        <p:cTn id="22" dur="500"/>
                                        <p:tgtEl>
                                          <p:spTgt spid="116"/>
                                        </p:tgtEl>
                                      </p:cBhvr>
                                    </p:animEffect>
                                    <p:anim calcmode="lin" valueType="num">
                                      <p:cBhvr additive="base">
                                        <p:cTn id="23" dur="500" decel="100000" fill="hold"/>
                                        <p:tgtEl>
                                          <p:spTgt spid="116"/>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450"/>
                                  </p:stCondLst>
                                  <p:childTnLst>
                                    <p:set>
                                      <p:cBhvr>
                                        <p:cTn id="25" dur="1" fill="hold">
                                          <p:stCondLst>
                                            <p:cond delay="0"/>
                                          </p:stCondLst>
                                        </p:cTn>
                                        <p:tgtEl>
                                          <p:spTgt spid="117"/>
                                        </p:tgtEl>
                                        <p:attrNameLst>
                                          <p:attrName>style.visibility</p:attrName>
                                        </p:attrNameLst>
                                      </p:cBhvr>
                                      <p:to>
                                        <p:strVal val="visible"/>
                                      </p:to>
                                    </p:set>
                                    <p:animEffect transition="in" filter="fade">
                                      <p:cBhvr>
                                        <p:cTn id="26" dur="500"/>
                                        <p:tgtEl>
                                          <p:spTgt spid="117"/>
                                        </p:tgtEl>
                                      </p:cBhvr>
                                    </p:animEffect>
                                    <p:anim calcmode="lin" valueType="num">
                                      <p:cBhvr additive="base">
                                        <p:cTn id="27" dur="500" decel="100000" fill="hold"/>
                                        <p:tgtEl>
                                          <p:spTgt spid="117"/>
                                        </p:tgtEl>
                                        <p:attrNameLst>
                                          <p:attrName>ppt_y</p:attrName>
                                        </p:attrNameLst>
                                      </p:cBhvr>
                                      <p:tavLst>
                                        <p:tav tm="0">
                                          <p:val>
                                            <p:strVal val="#ppt_y+0.06"/>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grpId="0" nodeType="clickEffect">
                                  <p:stCondLst>
                                    <p:cond delay="0"/>
                                  </p:stCondLst>
                                  <p:childTnLst>
                                    <p:set>
                                      <p:cBhvr>
                                        <p:cTn id="31" dur="1" fill="hold">
                                          <p:stCondLst>
                                            <p:cond delay="0"/>
                                          </p:stCondLst>
                                        </p:cTn>
                                        <p:tgtEl>
                                          <p:spTgt spid="119"/>
                                        </p:tgtEl>
                                        <p:attrNameLst>
                                          <p:attrName>style.visibility</p:attrName>
                                        </p:attrNameLst>
                                      </p:cBhvr>
                                      <p:to>
                                        <p:strVal val="visible"/>
                                      </p:to>
                                    </p:set>
                                    <p:animEffect transition="in" filter="fade">
                                      <p:cBhvr>
                                        <p:cTn id="32" dur="500"/>
                                        <p:tgtEl>
                                          <p:spTgt spid="119"/>
                                        </p:tgtEl>
                                      </p:cBhvr>
                                    </p:animEffect>
                                    <p:anim calcmode="lin" valueType="num">
                                      <p:cBhvr additive="base">
                                        <p:cTn id="33" dur="500" decel="100000" fill="hold"/>
                                        <p:tgtEl>
                                          <p:spTgt spid="119"/>
                                        </p:tgtEl>
                                        <p:attrNameLst>
                                          <p:attrName>ppt_y</p:attrName>
                                        </p:attrNameLst>
                                      </p:cBhvr>
                                      <p:tavLst>
                                        <p:tav tm="0">
                                          <p:val>
                                            <p:strVal val="#ppt_y+0.06"/>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fade">
                                      <p:cBhvr>
                                        <p:cTn id="36" dur="500"/>
                                        <p:tgtEl>
                                          <p:spTgt spid="118"/>
                                        </p:tgtEl>
                                      </p:cBhvr>
                                    </p:animEffect>
                                    <p:anim calcmode="lin" valueType="num">
                                      <p:cBhvr additive="base">
                                        <p:cTn id="37" dur="500" decel="100000" fill="hold"/>
                                        <p:tgtEl>
                                          <p:spTgt spid="118"/>
                                        </p:tgtEl>
                                        <p:attrNameLst>
                                          <p:attrName>ppt_y</p:attrName>
                                        </p:attrNameLst>
                                      </p:cBhvr>
                                      <p:tavLst>
                                        <p:tav tm="0">
                                          <p:val>
                                            <p:strVal val="#ppt_y+0.06"/>
                                          </p:val>
                                        </p:tav>
                                        <p:tav tm="100000">
                                          <p:val>
                                            <p:strVal val="#ppt_y"/>
                                          </p:val>
                                        </p:tav>
                                      </p:tavLst>
                                    </p:anim>
                                  </p:childTnLst>
                                </p:cTn>
                              </p:par>
                              <p:par>
                                <p:cTn id="38" presetID="10" presetClass="entr" presetSubtype="0" fill="hold" grpId="0" nodeType="withEffect">
                                  <p:stCondLst>
                                    <p:cond delay="120"/>
                                  </p:stCondLst>
                                  <p:childTnLst>
                                    <p:set>
                                      <p:cBhvr>
                                        <p:cTn id="39" dur="1" fill="hold">
                                          <p:stCondLst>
                                            <p:cond delay="0"/>
                                          </p:stCondLst>
                                        </p:cTn>
                                        <p:tgtEl>
                                          <p:spTgt spid="120"/>
                                        </p:tgtEl>
                                        <p:attrNameLst>
                                          <p:attrName>style.visibility</p:attrName>
                                        </p:attrNameLst>
                                      </p:cBhvr>
                                      <p:to>
                                        <p:strVal val="visible"/>
                                      </p:to>
                                    </p:set>
                                    <p:animEffect transition="in" filter="fade">
                                      <p:cBhvr>
                                        <p:cTn id="40" dur="500"/>
                                        <p:tgtEl>
                                          <p:spTgt spid="120"/>
                                        </p:tgtEl>
                                      </p:cBhvr>
                                    </p:animEffect>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121"/>
                                        </p:tgtEl>
                                        <p:attrNameLst>
                                          <p:attrName>style.visibility</p:attrName>
                                        </p:attrNameLst>
                                      </p:cBhvr>
                                      <p:to>
                                        <p:strVal val="visible"/>
                                      </p:to>
                                    </p:set>
                                    <p:animEffect transition="in" filter="fade">
                                      <p:cBhvr>
                                        <p:cTn id="45" dur="500"/>
                                        <p:tgtEl>
                                          <p:spTgt spid="121"/>
                                        </p:tgtEl>
                                      </p:cBhvr>
                                    </p:animEffect>
                                    <p:anim calcmode="lin" valueType="num">
                                      <p:cBhvr additive="base">
                                        <p:cTn id="46" dur="500" decel="100000" fill="hold"/>
                                        <p:tgtEl>
                                          <p:spTgt spid="121"/>
                                        </p:tgtEl>
                                        <p:attrNameLst>
                                          <p:attrName>ppt_x</p:attrName>
                                        </p:attrNameLst>
                                      </p:cBhvr>
                                      <p:tavLst>
                                        <p:tav tm="0">
                                          <p:val>
                                            <p:strVal val="#ppt_x-0.05"/>
                                          </p:val>
                                        </p:tav>
                                        <p:tav tm="100000">
                                          <p:val>
                                            <p:strVal val="#ppt_x"/>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122"/>
                                        </p:tgtEl>
                                        <p:attrNameLst>
                                          <p:attrName>style.visibility</p:attrName>
                                        </p:attrNameLst>
                                      </p:cBhvr>
                                      <p:to>
                                        <p:strVal val="visible"/>
                                      </p:to>
                                    </p:set>
                                    <p:animEffect transition="in" filter="fade">
                                      <p:cBhvr>
                                        <p:cTn id="49" dur="500"/>
                                        <p:tgtEl>
                                          <p:spTgt spid="122"/>
                                        </p:tgtEl>
                                      </p:cBhvr>
                                    </p:animEffect>
                                    <p:anim calcmode="lin" valueType="num">
                                      <p:cBhvr additive="base">
                                        <p:cTn id="50" dur="500" decel="100000" fill="hold"/>
                                        <p:tgtEl>
                                          <p:spTgt spid="122"/>
                                        </p:tgtEl>
                                        <p:attrNameLst>
                                          <p:attrName>ppt_x</p:attrName>
                                        </p:attrNameLst>
                                      </p:cBhvr>
                                      <p:tavLst>
                                        <p:tav tm="0">
                                          <p:val>
                                            <p:strVal val="#ppt_x-0.05"/>
                                          </p:val>
                                        </p:tav>
                                        <p:tav tm="100000">
                                          <p:val>
                                            <p:strVal val="#ppt_x"/>
                                          </p:val>
                                        </p:tav>
                                      </p:tavLst>
                                    </p:anim>
                                  </p:childTnLst>
                                </p:cTn>
                              </p:par>
                              <p:par>
                                <p:cTn id="51" presetID="42" presetClass="entr" presetSubtype="0" fill="hold" nodeType="withEffect">
                                  <p:stCondLst>
                                    <p:cond delay="0"/>
                                  </p:stCondLst>
                                  <p:childTnLst>
                                    <p:set>
                                      <p:cBhvr>
                                        <p:cTn id="52" dur="1" fill="hold">
                                          <p:stCondLst>
                                            <p:cond delay="0"/>
                                          </p:stCondLst>
                                        </p:cTn>
                                        <p:tgtEl>
                                          <p:spTgt spid="123"/>
                                        </p:tgtEl>
                                        <p:attrNameLst>
                                          <p:attrName>style.visibility</p:attrName>
                                        </p:attrNameLst>
                                      </p:cBhvr>
                                      <p:to>
                                        <p:strVal val="visible"/>
                                      </p:to>
                                    </p:set>
                                    <p:animEffect transition="in" filter="fade">
                                      <p:cBhvr>
                                        <p:cTn id="53" dur="500"/>
                                        <p:tgtEl>
                                          <p:spTgt spid="123"/>
                                        </p:tgtEl>
                                      </p:cBhvr>
                                    </p:animEffect>
                                    <p:anim calcmode="lin" valueType="num">
                                      <p:cBhvr additive="base">
                                        <p:cTn id="54" dur="500" decel="100000" fill="hold"/>
                                        <p:tgtEl>
                                          <p:spTgt spid="123"/>
                                        </p:tgtEl>
                                        <p:attrNameLst>
                                          <p:attrName>ppt_x</p:attrName>
                                        </p:attrNameLst>
                                      </p:cBhvr>
                                      <p:tavLst>
                                        <p:tav tm="0">
                                          <p:val>
                                            <p:strVal val="#ppt_x-0.05"/>
                                          </p:val>
                                        </p:tav>
                                        <p:tav tm="100000">
                                          <p:val>
                                            <p:strVal val="#ppt_x"/>
                                          </p:val>
                                        </p:tav>
                                      </p:tavLst>
                                    </p:anim>
                                  </p:childTnLst>
                                </p:cTn>
                              </p:par>
                              <p:par>
                                <p:cTn id="55" presetID="42" presetClass="entr" presetSubtype="0" fill="hold" grpId="0" nodeType="withEffect">
                                  <p:stCondLst>
                                    <p:cond delay="0"/>
                                  </p:stCondLst>
                                  <p:childTnLst>
                                    <p:set>
                                      <p:cBhvr>
                                        <p:cTn id="56" dur="1" fill="hold">
                                          <p:stCondLst>
                                            <p:cond delay="0"/>
                                          </p:stCondLst>
                                        </p:cTn>
                                        <p:tgtEl>
                                          <p:spTgt spid="124"/>
                                        </p:tgtEl>
                                        <p:attrNameLst>
                                          <p:attrName>style.visibility</p:attrName>
                                        </p:attrNameLst>
                                      </p:cBhvr>
                                      <p:to>
                                        <p:strVal val="visible"/>
                                      </p:to>
                                    </p:set>
                                    <p:animEffect transition="in" filter="fade">
                                      <p:cBhvr>
                                        <p:cTn id="57" dur="500"/>
                                        <p:tgtEl>
                                          <p:spTgt spid="124"/>
                                        </p:tgtEl>
                                      </p:cBhvr>
                                    </p:animEffect>
                                    <p:anim calcmode="lin" valueType="num">
                                      <p:cBhvr additive="base">
                                        <p:cTn id="58" dur="500" decel="100000" fill="hold"/>
                                        <p:tgtEl>
                                          <p:spTgt spid="124"/>
                                        </p:tgtEl>
                                        <p:attrNameLst>
                                          <p:attrName>ppt_x</p:attrName>
                                        </p:attrNameLst>
                                      </p:cBhvr>
                                      <p:tavLst>
                                        <p:tav tm="0">
                                          <p:val>
                                            <p:strVal val="#ppt_x-0.05"/>
                                          </p:val>
                                        </p:tav>
                                        <p:tav tm="100000">
                                          <p:val>
                                            <p:strVal val="#ppt_x"/>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25"/>
                                        </p:tgtEl>
                                        <p:attrNameLst>
                                          <p:attrName>style.visibility</p:attrName>
                                        </p:attrNameLst>
                                      </p:cBhvr>
                                      <p:to>
                                        <p:strVal val="visible"/>
                                      </p:to>
                                    </p:set>
                                    <p:animEffect transition="in" filter="fade">
                                      <p:cBhvr>
                                        <p:cTn id="61" dur="500"/>
                                        <p:tgtEl>
                                          <p:spTgt spid="125"/>
                                        </p:tgtEl>
                                      </p:cBhvr>
                                    </p:animEffect>
                                    <p:anim calcmode="lin" valueType="num">
                                      <p:cBhvr additive="base">
                                        <p:cTn id="62" dur="500" decel="100000" fill="hold"/>
                                        <p:tgtEl>
                                          <p:spTgt spid="125"/>
                                        </p:tgtEl>
                                        <p:attrNameLst>
                                          <p:attrName>ppt_x</p:attrName>
                                        </p:attrNameLst>
                                      </p:cBhvr>
                                      <p:tavLst>
                                        <p:tav tm="0">
                                          <p:val>
                                            <p:strVal val="#ppt_x-0.05"/>
                                          </p:val>
                                        </p:tav>
                                        <p:tav tm="100000">
                                          <p:val>
                                            <p:strVal val="#ppt_x"/>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126"/>
                                        </p:tgtEl>
                                        <p:attrNameLst>
                                          <p:attrName>style.visibility</p:attrName>
                                        </p:attrNameLst>
                                      </p:cBhvr>
                                      <p:to>
                                        <p:strVal val="visible"/>
                                      </p:to>
                                    </p:set>
                                    <p:animEffect transition="in" filter="fade">
                                      <p:cBhvr>
                                        <p:cTn id="67" dur="500"/>
                                        <p:tgtEl>
                                          <p:spTgt spid="126"/>
                                        </p:tgtEl>
                                      </p:cBhvr>
                                    </p:animEffect>
                                    <p:anim calcmode="lin" valueType="num">
                                      <p:cBhvr additive="base">
                                        <p:cTn id="68" dur="500" decel="100000" fill="hold"/>
                                        <p:tgtEl>
                                          <p:spTgt spid="126"/>
                                        </p:tgtEl>
                                        <p:attrNameLst>
                                          <p:attrName>ppt_x</p:attrName>
                                        </p:attrNameLst>
                                      </p:cBhvr>
                                      <p:tavLst>
                                        <p:tav tm="0">
                                          <p:val>
                                            <p:strVal val="#ppt_x+0.05"/>
                                          </p:val>
                                        </p:tav>
                                        <p:tav tm="100000">
                                          <p:val>
                                            <p:strVal val="#ppt_x"/>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27"/>
                                        </p:tgtEl>
                                        <p:attrNameLst>
                                          <p:attrName>style.visibility</p:attrName>
                                        </p:attrNameLst>
                                      </p:cBhvr>
                                      <p:to>
                                        <p:strVal val="visible"/>
                                      </p:to>
                                    </p:set>
                                    <p:animEffect transition="in" filter="fade">
                                      <p:cBhvr>
                                        <p:cTn id="71" dur="500"/>
                                        <p:tgtEl>
                                          <p:spTgt spid="127"/>
                                        </p:tgtEl>
                                      </p:cBhvr>
                                    </p:animEffect>
                                    <p:anim calcmode="lin" valueType="num">
                                      <p:cBhvr additive="base">
                                        <p:cTn id="72" dur="500" decel="100000" fill="hold"/>
                                        <p:tgtEl>
                                          <p:spTgt spid="127"/>
                                        </p:tgtEl>
                                        <p:attrNameLst>
                                          <p:attrName>ppt_x</p:attrName>
                                        </p:attrNameLst>
                                      </p:cBhvr>
                                      <p:tavLst>
                                        <p:tav tm="0">
                                          <p:val>
                                            <p:strVal val="#ppt_x+0.05"/>
                                          </p:val>
                                        </p:tav>
                                        <p:tav tm="100000">
                                          <p:val>
                                            <p:strVal val="#ppt_x"/>
                                          </p:val>
                                        </p:tav>
                                      </p:tavLst>
                                    </p:anim>
                                  </p:childTnLst>
                                </p:cTn>
                              </p:par>
                              <p:par>
                                <p:cTn id="73" presetID="42" presetClass="entr" presetSubtype="0" fill="hold" nodeType="withEffect">
                                  <p:stCondLst>
                                    <p:cond delay="0"/>
                                  </p:stCondLst>
                                  <p:childTnLst>
                                    <p:set>
                                      <p:cBhvr>
                                        <p:cTn id="74" dur="1" fill="hold">
                                          <p:stCondLst>
                                            <p:cond delay="0"/>
                                          </p:stCondLst>
                                        </p:cTn>
                                        <p:tgtEl>
                                          <p:spTgt spid="128"/>
                                        </p:tgtEl>
                                        <p:attrNameLst>
                                          <p:attrName>style.visibility</p:attrName>
                                        </p:attrNameLst>
                                      </p:cBhvr>
                                      <p:to>
                                        <p:strVal val="visible"/>
                                      </p:to>
                                    </p:set>
                                    <p:animEffect transition="in" filter="fade">
                                      <p:cBhvr>
                                        <p:cTn id="75" dur="500"/>
                                        <p:tgtEl>
                                          <p:spTgt spid="128"/>
                                        </p:tgtEl>
                                      </p:cBhvr>
                                    </p:animEffect>
                                    <p:anim calcmode="lin" valueType="num">
                                      <p:cBhvr additive="base">
                                        <p:cTn id="76" dur="500" decel="100000" fill="hold"/>
                                        <p:tgtEl>
                                          <p:spTgt spid="128"/>
                                        </p:tgtEl>
                                        <p:attrNameLst>
                                          <p:attrName>ppt_x</p:attrName>
                                        </p:attrNameLst>
                                      </p:cBhvr>
                                      <p:tavLst>
                                        <p:tav tm="0">
                                          <p:val>
                                            <p:strVal val="#ppt_x+0.05"/>
                                          </p:val>
                                        </p:tav>
                                        <p:tav tm="100000">
                                          <p:val>
                                            <p:strVal val="#ppt_x"/>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29"/>
                                        </p:tgtEl>
                                        <p:attrNameLst>
                                          <p:attrName>style.visibility</p:attrName>
                                        </p:attrNameLst>
                                      </p:cBhvr>
                                      <p:to>
                                        <p:strVal val="visible"/>
                                      </p:to>
                                    </p:set>
                                    <p:animEffect transition="in" filter="fade">
                                      <p:cBhvr>
                                        <p:cTn id="79" dur="500"/>
                                        <p:tgtEl>
                                          <p:spTgt spid="129"/>
                                        </p:tgtEl>
                                      </p:cBhvr>
                                    </p:animEffect>
                                    <p:anim calcmode="lin" valueType="num">
                                      <p:cBhvr additive="base">
                                        <p:cTn id="80" dur="500" decel="100000" fill="hold"/>
                                        <p:tgtEl>
                                          <p:spTgt spid="129"/>
                                        </p:tgtEl>
                                        <p:attrNameLst>
                                          <p:attrName>ppt_x</p:attrName>
                                        </p:attrNameLst>
                                      </p:cBhvr>
                                      <p:tavLst>
                                        <p:tav tm="0">
                                          <p:val>
                                            <p:strVal val="#ppt_x+0.05"/>
                                          </p:val>
                                        </p:tav>
                                        <p:tav tm="100000">
                                          <p:val>
                                            <p:strVal val="#ppt_x"/>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30"/>
                                        </p:tgtEl>
                                        <p:attrNameLst>
                                          <p:attrName>style.visibility</p:attrName>
                                        </p:attrNameLst>
                                      </p:cBhvr>
                                      <p:to>
                                        <p:strVal val="visible"/>
                                      </p:to>
                                    </p:set>
                                    <p:animEffect transition="in" filter="fade">
                                      <p:cBhvr>
                                        <p:cTn id="83" dur="500"/>
                                        <p:tgtEl>
                                          <p:spTgt spid="130"/>
                                        </p:tgtEl>
                                      </p:cBhvr>
                                    </p:animEffect>
                                    <p:anim calcmode="lin" valueType="num">
                                      <p:cBhvr additive="base">
                                        <p:cTn id="84"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animBg="1"/>
      <p:bldP spid="114" grpId="0" animBg="1"/>
      <p:bldP spid="116" grpId="0" animBg="1"/>
      <p:bldP spid="117" grpId="0" animBg="1"/>
      <p:bldP spid="118" grpId="0" animBg="1"/>
      <p:bldP spid="119" grpId="0" animBg="1"/>
      <p:bldP spid="120" grpId="0" animBg="1"/>
      <p:bldP spid="121" grpId="0" animBg="1"/>
      <p:bldP spid="122" grpId="0" animBg="1"/>
      <p:bldP spid="124" grpId="0" animBg="1"/>
      <p:bldP spid="125" grpId="0" animBg="1"/>
      <p:bldP spid="126" grpId="0" animBg="1"/>
      <p:bldP spid="127" grpId="0" animBg="1"/>
      <p:bldP spid="129" grpId="0" animBg="1"/>
      <p:bldP spid="130"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PRINCIPLE 02</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Welcome Changing Requirements</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214</a:t>
            </a:r>
            <a:endParaRPr lang="en-US" sz="850" dirty="0"/>
          </a:p>
        </p:txBody>
      </p:sp>
      <p:sp>
        <p:nvSpPr>
          <p:cNvPr id="101" name="!!trk0"/>
          <p:cNvSpPr/>
          <p:nvPr/>
        </p:nvSpPr>
        <p:spPr>
          <a:xfrm>
            <a:off x="770839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a:t>
            </a:r>
            <a:endParaRPr lang="en-US" sz="700" dirty="0"/>
          </a:p>
        </p:txBody>
      </p:sp>
      <p:sp>
        <p:nvSpPr>
          <p:cNvPr id="102" name="!!trk1"/>
          <p:cNvSpPr/>
          <p:nvPr/>
        </p:nvSpPr>
        <p:spPr>
          <a:xfrm>
            <a:off x="8037576" y="457200"/>
            <a:ext cx="265176" cy="265176"/>
          </a:xfrm>
          <a:prstGeom prst="ellipse">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0F172A"/>
                </a:solidFill>
                <a:latin typeface="Segoe UI"/>
                <a:ea typeface="Segoe UI"/>
                <a:cs typeface="Segoe UI"/>
              </a:rPr>
              <a:t>2</a:t>
            </a:r>
            <a:endParaRPr lang="en-US" sz="700" dirty="0"/>
          </a:p>
        </p:txBody>
      </p:sp>
      <p:sp>
        <p:nvSpPr>
          <p:cNvPr id="103" name="!!trk2"/>
          <p:cNvSpPr/>
          <p:nvPr/>
        </p:nvSpPr>
        <p:spPr>
          <a:xfrm>
            <a:off x="8366760"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3</a:t>
            </a:r>
            <a:endParaRPr lang="en-US" sz="700" dirty="0"/>
          </a:p>
        </p:txBody>
      </p:sp>
      <p:sp>
        <p:nvSpPr>
          <p:cNvPr id="104" name="!!trk3"/>
          <p:cNvSpPr/>
          <p:nvPr/>
        </p:nvSpPr>
        <p:spPr>
          <a:xfrm>
            <a:off x="8695944"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4</a:t>
            </a:r>
            <a:endParaRPr lang="en-US" sz="700" dirty="0"/>
          </a:p>
        </p:txBody>
      </p:sp>
      <p:sp>
        <p:nvSpPr>
          <p:cNvPr id="105" name="!!trk4"/>
          <p:cNvSpPr/>
          <p:nvPr/>
        </p:nvSpPr>
        <p:spPr>
          <a:xfrm>
            <a:off x="902512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5</a:t>
            </a:r>
            <a:endParaRPr lang="en-US" sz="700" dirty="0"/>
          </a:p>
        </p:txBody>
      </p:sp>
      <p:sp>
        <p:nvSpPr>
          <p:cNvPr id="106" name="!!trk5"/>
          <p:cNvSpPr/>
          <p:nvPr/>
        </p:nvSpPr>
        <p:spPr>
          <a:xfrm>
            <a:off x="935431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6</a:t>
            </a:r>
            <a:endParaRPr lang="en-US" sz="700" dirty="0"/>
          </a:p>
        </p:txBody>
      </p:sp>
      <p:sp>
        <p:nvSpPr>
          <p:cNvPr id="107" name="!!trk6"/>
          <p:cNvSpPr/>
          <p:nvPr/>
        </p:nvSpPr>
        <p:spPr>
          <a:xfrm>
            <a:off x="968349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7</a:t>
            </a:r>
            <a:endParaRPr lang="en-US" sz="700" dirty="0"/>
          </a:p>
        </p:txBody>
      </p:sp>
      <p:sp>
        <p:nvSpPr>
          <p:cNvPr id="108" name="!!trk7"/>
          <p:cNvSpPr/>
          <p:nvPr/>
        </p:nvSpPr>
        <p:spPr>
          <a:xfrm>
            <a:off x="10012680"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8</a:t>
            </a:r>
            <a:endParaRPr lang="en-US" sz="700" dirty="0"/>
          </a:p>
        </p:txBody>
      </p:sp>
      <p:sp>
        <p:nvSpPr>
          <p:cNvPr id="109" name="!!trk8"/>
          <p:cNvSpPr/>
          <p:nvPr/>
        </p:nvSpPr>
        <p:spPr>
          <a:xfrm>
            <a:off x="10341864"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9</a:t>
            </a:r>
            <a:endParaRPr lang="en-US" sz="700" dirty="0"/>
          </a:p>
        </p:txBody>
      </p:sp>
      <p:sp>
        <p:nvSpPr>
          <p:cNvPr id="110" name="!!trk9"/>
          <p:cNvSpPr/>
          <p:nvPr/>
        </p:nvSpPr>
        <p:spPr>
          <a:xfrm>
            <a:off x="1067104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10</a:t>
            </a:r>
            <a:endParaRPr lang="en-US" sz="700" dirty="0"/>
          </a:p>
        </p:txBody>
      </p:sp>
      <p:sp>
        <p:nvSpPr>
          <p:cNvPr id="111" name="!!trk10"/>
          <p:cNvSpPr/>
          <p:nvPr/>
        </p:nvSpPr>
        <p:spPr>
          <a:xfrm>
            <a:off x="1100023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11</a:t>
            </a:r>
            <a:endParaRPr lang="en-US" sz="700" dirty="0"/>
          </a:p>
        </p:txBody>
      </p:sp>
      <p:sp>
        <p:nvSpPr>
          <p:cNvPr id="112" name="!!trk11"/>
          <p:cNvSpPr/>
          <p:nvPr/>
        </p:nvSpPr>
        <p:spPr>
          <a:xfrm>
            <a:off x="1132941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12</a:t>
            </a:r>
            <a:endParaRPr lang="en-US" sz="700" dirty="0"/>
          </a:p>
        </p:txBody>
      </p:sp>
      <p:sp>
        <p:nvSpPr>
          <p:cNvPr id="113" name="!!pnum"/>
          <p:cNvSpPr txBox="1"/>
          <p:nvPr/>
        </p:nvSpPr>
        <p:spPr>
          <a:xfrm>
            <a:off x="506578" y="1600200"/>
            <a:ext cx="2194560" cy="11887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7200" b="1" dirty="0">
                <a:solidFill>
                  <a:srgbClr val="FBBF24"/>
                </a:solidFill>
                <a:latin typeface="Segoe UI"/>
                <a:ea typeface="Segoe UI"/>
                <a:cs typeface="Segoe UI"/>
              </a:rPr>
              <a:t>02</a:t>
            </a:r>
            <a:endParaRPr lang="en-US" sz="7200" dirty="0"/>
          </a:p>
        </p:txBody>
      </p:sp>
      <p:sp>
        <p:nvSpPr>
          <p:cNvPr id="114" name="s114"/>
          <p:cNvSpPr/>
          <p:nvPr/>
        </p:nvSpPr>
        <p:spPr>
          <a:xfrm>
            <a:off x="3057754" y="1828800"/>
            <a:ext cx="777240" cy="7772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3244291" y="2015338"/>
            <a:ext cx="404165" cy="404165"/>
          </a:xfrm>
          <a:prstGeom prst="rect">
            <a:avLst/>
          </a:prstGeom>
        </p:spPr>
      </p:pic>
      <p:sp>
        <p:nvSpPr>
          <p:cNvPr id="116" name="!!def"/>
          <p:cNvSpPr/>
          <p:nvPr/>
        </p:nvSpPr>
        <p:spPr>
          <a:xfrm>
            <a:off x="543154" y="2926080"/>
            <a:ext cx="3886200" cy="868680"/>
          </a:xfrm>
          <a:prstGeom prst="roundRect">
            <a:avLst>
              <a:gd name="adj" fmla="val 12000"/>
            </a:avLst>
          </a:prstGeom>
          <a:solidFill>
            <a:srgbClr val="FBBF24">
              <a:alpha val="10000"/>
            </a:srgbClr>
          </a:solidFill>
          <a:ln w="12700">
            <a:solidFill>
              <a:srgbClr val="FBBF24"/>
            </a:solidFill>
            <a:prstDash val="solid"/>
          </a:ln>
        </p:spPr>
        <p:txBody>
          <a:bodyPr wrap="square" lIns="201168" tIns="45720" rIns="137160" bIns="45720" rtlCol="0" anchor="ctr">
            <a:noAutofit/>
          </a:bodyPr>
          <a:lstStyle/>
          <a:p>
            <a:pPr marL="0" indent="0" algn="l">
              <a:spcBef>
                <a:spcPts val="0"/>
              </a:spcBef>
              <a:spcAft>
                <a:spcPts val="200"/>
              </a:spcAft>
              <a:buNone/>
            </a:pPr>
            <a:r>
              <a:rPr lang="en-US" sz="1000" b="1" dirty="0">
                <a:solidFill>
                  <a:srgbClr val="FBBF24"/>
                </a:solidFill>
                <a:latin typeface="Segoe UI"/>
                <a:ea typeface="Segoe UI"/>
                <a:cs typeface="Segoe UI"/>
              </a:rPr>
              <a:t>IN SHORT</a:t>
            </a:r>
            <a:endParaRPr lang="en-US" sz="1000" dirty="0"/>
          </a:p>
          <a:p>
            <a:pPr marL="0" indent="0" algn="l">
              <a:spcBef>
                <a:spcPts val="0"/>
              </a:spcBef>
              <a:spcAft>
                <a:spcPts val="0"/>
              </a:spcAft>
              <a:buNone/>
            </a:pPr>
            <a:r>
              <a:rPr lang="en-US" sz="1450" b="1" dirty="0">
                <a:solidFill>
                  <a:srgbClr val="FFFFFF"/>
                </a:solidFill>
                <a:latin typeface="Segoe UI"/>
                <a:ea typeface="Segoe UI"/>
                <a:cs typeface="Segoe UI"/>
              </a:rPr>
              <a:t>Even late change can help the customer win.</a:t>
            </a:r>
            <a:endParaRPr lang="en-US" sz="1450" dirty="0"/>
          </a:p>
        </p:txBody>
      </p:sp>
      <p:sp>
        <p:nvSpPr>
          <p:cNvPr id="117" name="!!quote"/>
          <p:cNvSpPr/>
          <p:nvPr/>
        </p:nvSpPr>
        <p:spPr>
          <a:xfrm>
            <a:off x="543154" y="3931920"/>
            <a:ext cx="3886200" cy="1691640"/>
          </a:xfrm>
          <a:prstGeom prst="roundRect">
            <a:avLst>
              <a:gd name="adj" fmla="val 8000"/>
            </a:avLst>
          </a:prstGeom>
          <a:solidFill>
            <a:srgbClr val="111B2E"/>
          </a:solidFill>
          <a:ln w="12700">
            <a:solidFill>
              <a:srgbClr val="1E3A5F"/>
            </a:solidFill>
            <a:prstDash val="solid"/>
          </a:ln>
        </p:spPr>
        <p:txBody>
          <a:bodyPr wrap="square" lIns="201168" tIns="146304" rIns="164592" bIns="91440" rtlCol="0" anchor="t">
            <a:noAutofit/>
          </a:bodyPr>
          <a:lstStyle/>
          <a:p>
            <a:pPr marL="0" indent="0" algn="l">
              <a:spcBef>
                <a:spcPts val="0"/>
              </a:spcBef>
              <a:spcAft>
                <a:spcPts val="400"/>
              </a:spcAft>
              <a:buNone/>
            </a:pPr>
            <a:r>
              <a:rPr lang="en-US" sz="1000" b="1" dirty="0">
                <a:solidFill>
                  <a:srgbClr val="94A3B8"/>
                </a:solidFill>
                <a:latin typeface="Segoe UI"/>
                <a:ea typeface="Segoe UI"/>
                <a:cs typeface="Segoe UI"/>
              </a:rPr>
              <a:t>THE MANIFESTO SAYS</a:t>
            </a:r>
            <a:endParaRPr lang="en-US" sz="1000" dirty="0"/>
          </a:p>
          <a:p>
            <a:pPr marL="0" indent="0" algn="l">
              <a:lnSpc>
                <a:spcPct val="110000"/>
              </a:lnSpc>
              <a:spcBef>
                <a:spcPts val="0"/>
              </a:spcBef>
              <a:spcAft>
                <a:spcPts val="0"/>
              </a:spcAft>
              <a:buNone/>
            </a:pPr>
            <a:r>
              <a:rPr lang="en-US" sz="1250" b="0" i="1" dirty="0">
                <a:solidFill>
                  <a:srgbClr val="CBD5E1"/>
                </a:solidFill>
                <a:latin typeface="Segoe UI"/>
                <a:ea typeface="Segoe UI"/>
                <a:cs typeface="Segoe UI"/>
              </a:rPr>
              <a:t>“Welcome changing requirements, even late in development. Agile processes harness change for the customer's competitive advantage.”</a:t>
            </a:r>
            <a:endParaRPr lang="en-US" sz="1250" dirty="0"/>
          </a:p>
        </p:txBody>
      </p:sp>
      <p:sp>
        <p:nvSpPr>
          <p:cNvPr id="118" name="s118"/>
          <p:cNvSpPr/>
          <p:nvPr/>
        </p:nvSpPr>
        <p:spPr>
          <a:xfrm>
            <a:off x="4886554" y="209397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19" name="s119"/>
          <p:cNvSpPr/>
          <p:nvPr/>
        </p:nvSpPr>
        <p:spPr>
          <a:xfrm>
            <a:off x="4703674" y="1783080"/>
            <a:ext cx="6927494" cy="91440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A competitor launches live tracking. Do we ignore it because the sprint is locked?</a:t>
            </a:r>
            <a:endParaRPr lang="en-US" sz="1450" dirty="0"/>
          </a:p>
        </p:txBody>
      </p:sp>
      <p:sp>
        <p:nvSpPr>
          <p:cNvPr id="120" name="s120"/>
          <p:cNvSpPr/>
          <p:nvPr/>
        </p:nvSpPr>
        <p:spPr>
          <a:xfrm>
            <a:off x="4703674" y="2862072"/>
            <a:ext cx="283464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CASE · Food Delivery Platform</a:t>
            </a:r>
            <a:endParaRPr lang="en-US" sz="1000" dirty="0"/>
          </a:p>
        </p:txBody>
      </p:sp>
      <p:sp>
        <p:nvSpPr>
          <p:cNvPr id="121" name="s121"/>
          <p:cNvSpPr/>
          <p:nvPr/>
        </p:nvSpPr>
        <p:spPr>
          <a:xfrm>
            <a:off x="4703674" y="3337560"/>
            <a:ext cx="3349447" cy="22860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p:nvPr/>
        </p:nvSpPr>
        <p:spPr>
          <a:xfrm>
            <a:off x="4904842" y="3520440"/>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5"/>
          <a:stretch>
            <a:fillRect/>
          </a:stretch>
        </p:blipFill>
        <p:spPr>
          <a:xfrm>
            <a:off x="5014570" y="3630168"/>
            <a:ext cx="237744" cy="237744"/>
          </a:xfrm>
          <a:prstGeom prst="rect">
            <a:avLst/>
          </a:prstGeom>
        </p:spPr>
      </p:pic>
      <p:sp>
        <p:nvSpPr>
          <p:cNvPr id="124" name="s124"/>
          <p:cNvSpPr txBox="1"/>
          <p:nvPr/>
        </p:nvSpPr>
        <p:spPr>
          <a:xfrm>
            <a:off x="5480914"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IGNORE IT</a:t>
            </a:r>
            <a:endParaRPr lang="en-US" sz="1200" dirty="0"/>
          </a:p>
        </p:txBody>
      </p:sp>
      <p:sp>
        <p:nvSpPr>
          <p:cNvPr id="125" name="s125"/>
          <p:cNvSpPr txBox="1"/>
          <p:nvPr/>
        </p:nvSpPr>
        <p:spPr>
          <a:xfrm>
            <a:off x="4932274"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0" dirty="0">
                <a:solidFill>
                  <a:srgbClr val="E2E8F0"/>
                </a:solidFill>
                <a:latin typeface="Segoe UI"/>
                <a:ea typeface="Segoe UI"/>
                <a:cs typeface="Segoe UI"/>
              </a:rPr>
              <a:t>Say 'out of scope until next quarter'.</a:t>
            </a:r>
            <a:endParaRPr lang="en-US" sz="1500" dirty="0"/>
          </a:p>
        </p:txBody>
      </p:sp>
      <p:sp>
        <p:nvSpPr>
          <p:cNvPr id="126" name="s126"/>
          <p:cNvSpPr/>
          <p:nvPr/>
        </p:nvSpPr>
        <p:spPr>
          <a:xfrm>
            <a:off x="8281721" y="3337560"/>
            <a:ext cx="3349447" cy="2286000"/>
          </a:xfrm>
          <a:prstGeom prst="roundRect">
            <a:avLst>
              <a:gd name="adj" fmla="val 8000"/>
            </a:avLst>
          </a:prstGeom>
          <a:solidFill>
            <a:srgbClr val="34D399">
              <a:alpha val="8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482889" y="352044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6"/>
          <a:stretch>
            <a:fillRect/>
          </a:stretch>
        </p:blipFill>
        <p:spPr>
          <a:xfrm>
            <a:off x="8592617" y="3630168"/>
            <a:ext cx="237744" cy="237744"/>
          </a:xfrm>
          <a:prstGeom prst="rect">
            <a:avLst/>
          </a:prstGeom>
        </p:spPr>
      </p:pic>
      <p:sp>
        <p:nvSpPr>
          <p:cNvPr id="129" name="s129"/>
          <p:cNvSpPr txBox="1"/>
          <p:nvPr/>
        </p:nvSpPr>
        <p:spPr>
          <a:xfrm>
            <a:off x="9058961"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APPLY IT</a:t>
            </a:r>
            <a:endParaRPr lang="en-US" sz="1200" dirty="0"/>
          </a:p>
        </p:txBody>
      </p:sp>
      <p:sp>
        <p:nvSpPr>
          <p:cNvPr id="130" name="s130"/>
          <p:cNvSpPr txBox="1"/>
          <p:nvPr/>
        </p:nvSpPr>
        <p:spPr>
          <a:xfrm>
            <a:off x="8510321"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FFFFF"/>
                </a:solidFill>
                <a:latin typeface="Segoe UI"/>
                <a:ea typeface="Segoe UI"/>
                <a:cs typeface="Segoe UI"/>
              </a:rPr>
              <a:t>Replan: cut a low-value admin screen, add a tracking MVP.</a:t>
            </a:r>
            <a:endParaRPr lang="en-US" sz="15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30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4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 dur="400" decel="100000" fill="hold"/>
                                        <p:tgtEl>
                                          <p:spTgt spid="115"/>
                                        </p:tgtEl>
                                        <p:attrNameLst>
                                          <p:attrName>ppt_h</p:attrName>
                                        </p:attrNameLst>
                                      </p:cBhvr>
                                      <p:tavLst>
                                        <p:tav tm="0">
                                          <p:val>
                                            <p:strVal val="#ppt_h*0.3"/>
                                          </p:val>
                                        </p:tav>
                                        <p:tav tm="100000">
                                          <p:val>
                                            <p:strVal val="#ppt_h*1.08"/>
                                          </p:val>
                                        </p:tav>
                                      </p:tavLst>
                                    </p:anim>
                                    <p:animEffect transition="in" filter="fade">
                                      <p:cBhvr>
                                        <p:cTn id="9" dur="200"/>
                                        <p:tgtEl>
                                          <p:spTgt spid="115"/>
                                        </p:tgtEl>
                                      </p:cBhvr>
                                    </p:animEffect>
                                    <p:anim calcmode="lin" valueType="num">
                                      <p:cBhvr additive="base">
                                        <p:cTn id="10" dur="160" fill="hold">
                                          <p:stCondLst>
                                            <p:cond delay="400"/>
                                          </p:stCondLst>
                                        </p:cTn>
                                        <p:tgtEl>
                                          <p:spTgt spid="115"/>
                                        </p:tgtEl>
                                        <p:attrNameLst>
                                          <p:attrName>ppt_w</p:attrName>
                                        </p:attrNameLst>
                                      </p:cBhvr>
                                      <p:tavLst>
                                        <p:tav tm="0">
                                          <p:val>
                                            <p:strVal val="#ppt_w*1.08"/>
                                          </p:val>
                                        </p:tav>
                                        <p:tav tm="100000">
                                          <p:val>
                                            <p:strVal val="#ppt_w"/>
                                          </p:val>
                                        </p:tav>
                                      </p:tavLst>
                                    </p:anim>
                                    <p:anim calcmode="lin" valueType="num">
                                      <p:cBhvr additive="base">
                                        <p:cTn id="11" dur="160" fill="hold">
                                          <p:stCondLst>
                                            <p:cond delay="4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fade">
                                      <p:cBhvr>
                                        <p:cTn id="16" dur="500"/>
                                        <p:tgtEl>
                                          <p:spTgt spid="119"/>
                                        </p:tgtEl>
                                      </p:cBhvr>
                                    </p:animEffect>
                                    <p:anim calcmode="lin" valueType="num">
                                      <p:cBhvr additive="base">
                                        <p:cTn id="17" dur="500" decel="100000" fill="hold"/>
                                        <p:tgtEl>
                                          <p:spTgt spid="119"/>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18"/>
                                        </p:tgtEl>
                                        <p:attrNameLst>
                                          <p:attrName>style.visibility</p:attrName>
                                        </p:attrNameLst>
                                      </p:cBhvr>
                                      <p:to>
                                        <p:strVal val="visible"/>
                                      </p:to>
                                    </p:set>
                                    <p:animEffect transition="in" filter="fade">
                                      <p:cBhvr>
                                        <p:cTn id="20" dur="500"/>
                                        <p:tgtEl>
                                          <p:spTgt spid="118"/>
                                        </p:tgtEl>
                                      </p:cBhvr>
                                    </p:animEffect>
                                    <p:anim calcmode="lin" valueType="num">
                                      <p:cBhvr additive="base">
                                        <p:cTn id="21" dur="500" decel="100000" fill="hold"/>
                                        <p:tgtEl>
                                          <p:spTgt spid="118"/>
                                        </p:tgtEl>
                                        <p:attrNameLst>
                                          <p:attrName>ppt_y</p:attrName>
                                        </p:attrNameLst>
                                      </p:cBhvr>
                                      <p:tavLst>
                                        <p:tav tm="0">
                                          <p:val>
                                            <p:strVal val="#ppt_y+0.06"/>
                                          </p:val>
                                        </p:tav>
                                        <p:tav tm="100000">
                                          <p:val>
                                            <p:strVal val="#ppt_y"/>
                                          </p:val>
                                        </p:tav>
                                      </p:tavLst>
                                    </p:anim>
                                  </p:childTnLst>
                                </p:cTn>
                              </p:par>
                              <p:par>
                                <p:cTn id="22" presetID="10" presetClass="entr" presetSubtype="0" fill="hold" grpId="0" nodeType="withEffect">
                                  <p:stCondLst>
                                    <p:cond delay="120"/>
                                  </p:stCondLst>
                                  <p:childTnLst>
                                    <p:set>
                                      <p:cBhvr>
                                        <p:cTn id="23" dur="1" fill="hold">
                                          <p:stCondLst>
                                            <p:cond delay="0"/>
                                          </p:stCondLst>
                                        </p:cTn>
                                        <p:tgtEl>
                                          <p:spTgt spid="120"/>
                                        </p:tgtEl>
                                        <p:attrNameLst>
                                          <p:attrName>style.visibility</p:attrName>
                                        </p:attrNameLst>
                                      </p:cBhvr>
                                      <p:to>
                                        <p:strVal val="visible"/>
                                      </p:to>
                                    </p:set>
                                    <p:animEffect transition="in" filter="fade">
                                      <p:cBhvr>
                                        <p:cTn id="24" dur="500"/>
                                        <p:tgtEl>
                                          <p:spTgt spid="120"/>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fade">
                                      <p:cBhvr>
                                        <p:cTn id="29" dur="500"/>
                                        <p:tgtEl>
                                          <p:spTgt spid="121"/>
                                        </p:tgtEl>
                                      </p:cBhvr>
                                    </p:animEffect>
                                    <p:anim calcmode="lin" valueType="num">
                                      <p:cBhvr additive="base">
                                        <p:cTn id="30" dur="500" decel="100000" fill="hold"/>
                                        <p:tgtEl>
                                          <p:spTgt spid="121"/>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22"/>
                                        </p:tgtEl>
                                        <p:attrNameLst>
                                          <p:attrName>style.visibility</p:attrName>
                                        </p:attrNameLst>
                                      </p:cBhvr>
                                      <p:to>
                                        <p:strVal val="visible"/>
                                      </p:to>
                                    </p:set>
                                    <p:animEffect transition="in" filter="fade">
                                      <p:cBhvr>
                                        <p:cTn id="33" dur="500"/>
                                        <p:tgtEl>
                                          <p:spTgt spid="122"/>
                                        </p:tgtEl>
                                      </p:cBhvr>
                                    </p:animEffect>
                                    <p:anim calcmode="lin" valueType="num">
                                      <p:cBhvr additive="base">
                                        <p:cTn id="34" dur="500" decel="100000" fill="hold"/>
                                        <p:tgtEl>
                                          <p:spTgt spid="122"/>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23"/>
                                        </p:tgtEl>
                                        <p:attrNameLst>
                                          <p:attrName>style.visibility</p:attrName>
                                        </p:attrNameLst>
                                      </p:cBhvr>
                                      <p:to>
                                        <p:strVal val="visible"/>
                                      </p:to>
                                    </p:set>
                                    <p:animEffect transition="in" filter="fade">
                                      <p:cBhvr>
                                        <p:cTn id="37" dur="500"/>
                                        <p:tgtEl>
                                          <p:spTgt spid="123"/>
                                        </p:tgtEl>
                                      </p:cBhvr>
                                    </p:animEffect>
                                    <p:anim calcmode="lin" valueType="num">
                                      <p:cBhvr additive="base">
                                        <p:cTn id="38" dur="500" decel="100000" fill="hold"/>
                                        <p:tgtEl>
                                          <p:spTgt spid="123"/>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24"/>
                                        </p:tgtEl>
                                        <p:attrNameLst>
                                          <p:attrName>style.visibility</p:attrName>
                                        </p:attrNameLst>
                                      </p:cBhvr>
                                      <p:to>
                                        <p:strVal val="visible"/>
                                      </p:to>
                                    </p:set>
                                    <p:animEffect transition="in" filter="fade">
                                      <p:cBhvr>
                                        <p:cTn id="41" dur="500"/>
                                        <p:tgtEl>
                                          <p:spTgt spid="124"/>
                                        </p:tgtEl>
                                      </p:cBhvr>
                                    </p:animEffect>
                                    <p:anim calcmode="lin" valueType="num">
                                      <p:cBhvr additive="base">
                                        <p:cTn id="42" dur="500" decel="100000" fill="hold"/>
                                        <p:tgtEl>
                                          <p:spTgt spid="124"/>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25"/>
                                        </p:tgtEl>
                                        <p:attrNameLst>
                                          <p:attrName>style.visibility</p:attrName>
                                        </p:attrNameLst>
                                      </p:cBhvr>
                                      <p:to>
                                        <p:strVal val="visible"/>
                                      </p:to>
                                    </p:set>
                                    <p:animEffect transition="in" filter="fade">
                                      <p:cBhvr>
                                        <p:cTn id="45" dur="500"/>
                                        <p:tgtEl>
                                          <p:spTgt spid="125"/>
                                        </p:tgtEl>
                                      </p:cBhvr>
                                    </p:animEffect>
                                    <p:anim calcmode="lin" valueType="num">
                                      <p:cBhvr additive="base">
                                        <p:cTn id="46" dur="500" decel="100000" fill="hold"/>
                                        <p:tgtEl>
                                          <p:spTgt spid="125"/>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fade">
                                      <p:cBhvr>
                                        <p:cTn id="51" dur="500"/>
                                        <p:tgtEl>
                                          <p:spTgt spid="126"/>
                                        </p:tgtEl>
                                      </p:cBhvr>
                                    </p:animEffect>
                                    <p:anim calcmode="lin" valueType="num">
                                      <p:cBhvr additive="base">
                                        <p:cTn id="52" dur="500" decel="100000" fill="hold"/>
                                        <p:tgtEl>
                                          <p:spTgt spid="126"/>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27"/>
                                        </p:tgtEl>
                                        <p:attrNameLst>
                                          <p:attrName>style.visibility</p:attrName>
                                        </p:attrNameLst>
                                      </p:cBhvr>
                                      <p:to>
                                        <p:strVal val="visible"/>
                                      </p:to>
                                    </p:set>
                                    <p:animEffect transition="in" filter="fade">
                                      <p:cBhvr>
                                        <p:cTn id="55" dur="500"/>
                                        <p:tgtEl>
                                          <p:spTgt spid="127"/>
                                        </p:tgtEl>
                                      </p:cBhvr>
                                    </p:animEffect>
                                    <p:anim calcmode="lin" valueType="num">
                                      <p:cBhvr additive="base">
                                        <p:cTn id="56" dur="500" decel="100000" fill="hold"/>
                                        <p:tgtEl>
                                          <p:spTgt spid="127"/>
                                        </p:tgtEl>
                                        <p:attrNameLst>
                                          <p:attrName>ppt_x</p:attrName>
                                        </p:attrNameLst>
                                      </p:cBhvr>
                                      <p:tavLst>
                                        <p:tav tm="0">
                                          <p:val>
                                            <p:strVal val="#ppt_x+0.05"/>
                                          </p:val>
                                        </p:tav>
                                        <p:tav tm="100000">
                                          <p:val>
                                            <p:strVal val="#ppt_x"/>
                                          </p:val>
                                        </p:tav>
                                      </p:tavLst>
                                    </p:anim>
                                  </p:childTnLst>
                                </p:cTn>
                              </p:par>
                              <p:par>
                                <p:cTn id="57" presetID="42" presetClass="entr" presetSubtype="0" fill="hold" nodeType="withEffect">
                                  <p:stCondLst>
                                    <p:cond delay="0"/>
                                  </p:stCondLst>
                                  <p:childTnLst>
                                    <p:set>
                                      <p:cBhvr>
                                        <p:cTn id="58" dur="1" fill="hold">
                                          <p:stCondLst>
                                            <p:cond delay="0"/>
                                          </p:stCondLst>
                                        </p:cTn>
                                        <p:tgtEl>
                                          <p:spTgt spid="128"/>
                                        </p:tgtEl>
                                        <p:attrNameLst>
                                          <p:attrName>style.visibility</p:attrName>
                                        </p:attrNameLst>
                                      </p:cBhvr>
                                      <p:to>
                                        <p:strVal val="visible"/>
                                      </p:to>
                                    </p:set>
                                    <p:animEffect transition="in" filter="fade">
                                      <p:cBhvr>
                                        <p:cTn id="59" dur="500"/>
                                        <p:tgtEl>
                                          <p:spTgt spid="128"/>
                                        </p:tgtEl>
                                      </p:cBhvr>
                                    </p:animEffect>
                                    <p:anim calcmode="lin" valueType="num">
                                      <p:cBhvr additive="base">
                                        <p:cTn id="60" dur="500" decel="100000" fill="hold"/>
                                        <p:tgtEl>
                                          <p:spTgt spid="128"/>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29"/>
                                        </p:tgtEl>
                                        <p:attrNameLst>
                                          <p:attrName>style.visibility</p:attrName>
                                        </p:attrNameLst>
                                      </p:cBhvr>
                                      <p:to>
                                        <p:strVal val="visible"/>
                                      </p:to>
                                    </p:set>
                                    <p:animEffect transition="in" filter="fade">
                                      <p:cBhvr>
                                        <p:cTn id="63" dur="500"/>
                                        <p:tgtEl>
                                          <p:spTgt spid="129"/>
                                        </p:tgtEl>
                                      </p:cBhvr>
                                    </p:animEffect>
                                    <p:anim calcmode="lin" valueType="num">
                                      <p:cBhvr additive="base">
                                        <p:cTn id="64" dur="500" decel="100000" fill="hold"/>
                                        <p:tgtEl>
                                          <p:spTgt spid="129"/>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500"/>
                                        <p:tgtEl>
                                          <p:spTgt spid="130"/>
                                        </p:tgtEl>
                                      </p:cBhvr>
                                    </p:animEffect>
                                    <p:anim calcmode="lin" valueType="num">
                                      <p:cBhvr additive="base">
                                        <p:cTn id="68"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20" grpId="0" animBg="1"/>
      <p:bldP spid="121" grpId="0" animBg="1"/>
      <p:bldP spid="122" grpId="0" animBg="1"/>
      <p:bldP spid="124" grpId="0" animBg="1"/>
      <p:bldP spid="125" grpId="0" animBg="1"/>
      <p:bldP spid="126" grpId="0" animBg="1"/>
      <p:bldP spid="127" grpId="0" animBg="1"/>
      <p:bldP spid="129" grpId="0" animBg="1"/>
      <p:bldP spid="130"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PRINCIPLE 03</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Deliver Working Software Frequently</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215</a:t>
            </a:r>
            <a:endParaRPr lang="en-US" sz="850" dirty="0"/>
          </a:p>
        </p:txBody>
      </p:sp>
      <p:sp>
        <p:nvSpPr>
          <p:cNvPr id="101" name="!!trk0"/>
          <p:cNvSpPr/>
          <p:nvPr/>
        </p:nvSpPr>
        <p:spPr>
          <a:xfrm>
            <a:off x="770839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a:t>
            </a:r>
            <a:endParaRPr lang="en-US" sz="700" dirty="0"/>
          </a:p>
        </p:txBody>
      </p:sp>
      <p:sp>
        <p:nvSpPr>
          <p:cNvPr id="102" name="!!trk1"/>
          <p:cNvSpPr/>
          <p:nvPr/>
        </p:nvSpPr>
        <p:spPr>
          <a:xfrm>
            <a:off x="803757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2</a:t>
            </a:r>
            <a:endParaRPr lang="en-US" sz="700" dirty="0"/>
          </a:p>
        </p:txBody>
      </p:sp>
      <p:sp>
        <p:nvSpPr>
          <p:cNvPr id="103" name="!!trk2"/>
          <p:cNvSpPr/>
          <p:nvPr/>
        </p:nvSpPr>
        <p:spPr>
          <a:xfrm>
            <a:off x="8366760" y="457200"/>
            <a:ext cx="265176" cy="265176"/>
          </a:xfrm>
          <a:prstGeom prst="ellipse">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0F172A"/>
                </a:solidFill>
                <a:latin typeface="Segoe UI"/>
                <a:ea typeface="Segoe UI"/>
                <a:cs typeface="Segoe UI"/>
              </a:rPr>
              <a:t>3</a:t>
            </a:r>
            <a:endParaRPr lang="en-US" sz="700" dirty="0"/>
          </a:p>
        </p:txBody>
      </p:sp>
      <p:sp>
        <p:nvSpPr>
          <p:cNvPr id="104" name="!!trk3"/>
          <p:cNvSpPr/>
          <p:nvPr/>
        </p:nvSpPr>
        <p:spPr>
          <a:xfrm>
            <a:off x="8695944"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4</a:t>
            </a:r>
            <a:endParaRPr lang="en-US" sz="700" dirty="0"/>
          </a:p>
        </p:txBody>
      </p:sp>
      <p:sp>
        <p:nvSpPr>
          <p:cNvPr id="105" name="!!trk4"/>
          <p:cNvSpPr/>
          <p:nvPr/>
        </p:nvSpPr>
        <p:spPr>
          <a:xfrm>
            <a:off x="902512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5</a:t>
            </a:r>
            <a:endParaRPr lang="en-US" sz="700" dirty="0"/>
          </a:p>
        </p:txBody>
      </p:sp>
      <p:sp>
        <p:nvSpPr>
          <p:cNvPr id="106" name="!!trk5"/>
          <p:cNvSpPr/>
          <p:nvPr/>
        </p:nvSpPr>
        <p:spPr>
          <a:xfrm>
            <a:off x="935431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6</a:t>
            </a:r>
            <a:endParaRPr lang="en-US" sz="700" dirty="0"/>
          </a:p>
        </p:txBody>
      </p:sp>
      <p:sp>
        <p:nvSpPr>
          <p:cNvPr id="107" name="!!trk6"/>
          <p:cNvSpPr/>
          <p:nvPr/>
        </p:nvSpPr>
        <p:spPr>
          <a:xfrm>
            <a:off x="968349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7</a:t>
            </a:r>
            <a:endParaRPr lang="en-US" sz="700" dirty="0"/>
          </a:p>
        </p:txBody>
      </p:sp>
      <p:sp>
        <p:nvSpPr>
          <p:cNvPr id="108" name="!!trk7"/>
          <p:cNvSpPr/>
          <p:nvPr/>
        </p:nvSpPr>
        <p:spPr>
          <a:xfrm>
            <a:off x="10012680"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8</a:t>
            </a:r>
            <a:endParaRPr lang="en-US" sz="700" dirty="0"/>
          </a:p>
        </p:txBody>
      </p:sp>
      <p:sp>
        <p:nvSpPr>
          <p:cNvPr id="109" name="!!trk8"/>
          <p:cNvSpPr/>
          <p:nvPr/>
        </p:nvSpPr>
        <p:spPr>
          <a:xfrm>
            <a:off x="10341864"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9</a:t>
            </a:r>
            <a:endParaRPr lang="en-US" sz="700" dirty="0"/>
          </a:p>
        </p:txBody>
      </p:sp>
      <p:sp>
        <p:nvSpPr>
          <p:cNvPr id="110" name="!!trk9"/>
          <p:cNvSpPr/>
          <p:nvPr/>
        </p:nvSpPr>
        <p:spPr>
          <a:xfrm>
            <a:off x="1067104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10</a:t>
            </a:r>
            <a:endParaRPr lang="en-US" sz="700" dirty="0"/>
          </a:p>
        </p:txBody>
      </p:sp>
      <p:sp>
        <p:nvSpPr>
          <p:cNvPr id="111" name="!!trk10"/>
          <p:cNvSpPr/>
          <p:nvPr/>
        </p:nvSpPr>
        <p:spPr>
          <a:xfrm>
            <a:off x="1100023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11</a:t>
            </a:r>
            <a:endParaRPr lang="en-US" sz="700" dirty="0"/>
          </a:p>
        </p:txBody>
      </p:sp>
      <p:sp>
        <p:nvSpPr>
          <p:cNvPr id="112" name="!!trk11"/>
          <p:cNvSpPr/>
          <p:nvPr/>
        </p:nvSpPr>
        <p:spPr>
          <a:xfrm>
            <a:off x="1132941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12</a:t>
            </a:r>
            <a:endParaRPr lang="en-US" sz="700" dirty="0"/>
          </a:p>
        </p:txBody>
      </p:sp>
      <p:sp>
        <p:nvSpPr>
          <p:cNvPr id="113" name="!!pnum"/>
          <p:cNvSpPr txBox="1"/>
          <p:nvPr/>
        </p:nvSpPr>
        <p:spPr>
          <a:xfrm>
            <a:off x="506578" y="1600200"/>
            <a:ext cx="2194560" cy="11887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7200" b="1" dirty="0">
                <a:solidFill>
                  <a:srgbClr val="FBBF24"/>
                </a:solidFill>
                <a:latin typeface="Segoe UI"/>
                <a:ea typeface="Segoe UI"/>
                <a:cs typeface="Segoe UI"/>
              </a:rPr>
              <a:t>03</a:t>
            </a:r>
            <a:endParaRPr lang="en-US" sz="7200" dirty="0"/>
          </a:p>
        </p:txBody>
      </p:sp>
      <p:sp>
        <p:nvSpPr>
          <p:cNvPr id="114" name="s114"/>
          <p:cNvSpPr/>
          <p:nvPr/>
        </p:nvSpPr>
        <p:spPr>
          <a:xfrm>
            <a:off x="3057754" y="1828800"/>
            <a:ext cx="777240" cy="7772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3244291" y="2015338"/>
            <a:ext cx="404165" cy="404165"/>
          </a:xfrm>
          <a:prstGeom prst="rect">
            <a:avLst/>
          </a:prstGeom>
        </p:spPr>
      </p:pic>
      <p:sp>
        <p:nvSpPr>
          <p:cNvPr id="116" name="!!def"/>
          <p:cNvSpPr/>
          <p:nvPr/>
        </p:nvSpPr>
        <p:spPr>
          <a:xfrm>
            <a:off x="543154" y="2926080"/>
            <a:ext cx="3886200" cy="868680"/>
          </a:xfrm>
          <a:prstGeom prst="roundRect">
            <a:avLst>
              <a:gd name="adj" fmla="val 12000"/>
            </a:avLst>
          </a:prstGeom>
          <a:solidFill>
            <a:srgbClr val="FBBF24">
              <a:alpha val="10000"/>
            </a:srgbClr>
          </a:solidFill>
          <a:ln w="12700">
            <a:solidFill>
              <a:srgbClr val="FBBF24"/>
            </a:solidFill>
            <a:prstDash val="solid"/>
          </a:ln>
        </p:spPr>
        <p:txBody>
          <a:bodyPr wrap="square" lIns="201168" tIns="45720" rIns="137160" bIns="45720" rtlCol="0" anchor="ctr">
            <a:noAutofit/>
          </a:bodyPr>
          <a:lstStyle/>
          <a:p>
            <a:pPr marL="0" indent="0" algn="l">
              <a:spcBef>
                <a:spcPts val="0"/>
              </a:spcBef>
              <a:spcAft>
                <a:spcPts val="200"/>
              </a:spcAft>
              <a:buNone/>
            </a:pPr>
            <a:r>
              <a:rPr lang="en-US" sz="1000" b="1" dirty="0">
                <a:solidFill>
                  <a:srgbClr val="FBBF24"/>
                </a:solidFill>
                <a:latin typeface="Segoe UI"/>
                <a:ea typeface="Segoe UI"/>
                <a:cs typeface="Segoe UI"/>
              </a:rPr>
              <a:t>IN SHORT</a:t>
            </a:r>
            <a:endParaRPr lang="en-US" sz="1000" dirty="0"/>
          </a:p>
          <a:p>
            <a:pPr marL="0" indent="0" algn="l">
              <a:spcBef>
                <a:spcPts val="0"/>
              </a:spcBef>
              <a:spcAft>
                <a:spcPts val="0"/>
              </a:spcAft>
              <a:buNone/>
            </a:pPr>
            <a:r>
              <a:rPr lang="en-US" sz="1450" b="1" dirty="0">
                <a:solidFill>
                  <a:srgbClr val="FFFFFF"/>
                </a:solidFill>
                <a:latin typeface="Segoe UI"/>
                <a:ea typeface="Segoe UI"/>
                <a:cs typeface="Segoe UI"/>
              </a:rPr>
              <a:t>Prefer weeks over months.</a:t>
            </a:r>
            <a:endParaRPr lang="en-US" sz="1450" dirty="0"/>
          </a:p>
        </p:txBody>
      </p:sp>
      <p:sp>
        <p:nvSpPr>
          <p:cNvPr id="117" name="!!quote"/>
          <p:cNvSpPr/>
          <p:nvPr/>
        </p:nvSpPr>
        <p:spPr>
          <a:xfrm>
            <a:off x="543154" y="3931920"/>
            <a:ext cx="3886200" cy="1691640"/>
          </a:xfrm>
          <a:prstGeom prst="roundRect">
            <a:avLst>
              <a:gd name="adj" fmla="val 8000"/>
            </a:avLst>
          </a:prstGeom>
          <a:solidFill>
            <a:srgbClr val="111B2E"/>
          </a:solidFill>
          <a:ln w="12700">
            <a:solidFill>
              <a:srgbClr val="1E3A5F"/>
            </a:solidFill>
            <a:prstDash val="solid"/>
          </a:ln>
        </p:spPr>
        <p:txBody>
          <a:bodyPr wrap="square" lIns="201168" tIns="146304" rIns="164592" bIns="91440" rtlCol="0" anchor="t">
            <a:noAutofit/>
          </a:bodyPr>
          <a:lstStyle/>
          <a:p>
            <a:pPr marL="0" indent="0" algn="l">
              <a:spcBef>
                <a:spcPts val="0"/>
              </a:spcBef>
              <a:spcAft>
                <a:spcPts val="400"/>
              </a:spcAft>
              <a:buNone/>
            </a:pPr>
            <a:r>
              <a:rPr lang="en-US" sz="1000" b="1" dirty="0">
                <a:solidFill>
                  <a:srgbClr val="94A3B8"/>
                </a:solidFill>
                <a:latin typeface="Segoe UI"/>
                <a:ea typeface="Segoe UI"/>
                <a:cs typeface="Segoe UI"/>
              </a:rPr>
              <a:t>THE MANIFESTO SAYS</a:t>
            </a:r>
            <a:endParaRPr lang="en-US" sz="1000" dirty="0"/>
          </a:p>
          <a:p>
            <a:pPr marL="0" indent="0" algn="l">
              <a:lnSpc>
                <a:spcPct val="110000"/>
              </a:lnSpc>
              <a:spcBef>
                <a:spcPts val="0"/>
              </a:spcBef>
              <a:spcAft>
                <a:spcPts val="0"/>
              </a:spcAft>
              <a:buNone/>
            </a:pPr>
            <a:r>
              <a:rPr lang="en-US" sz="1250" b="0" i="1" dirty="0">
                <a:solidFill>
                  <a:srgbClr val="CBD5E1"/>
                </a:solidFill>
                <a:latin typeface="Segoe UI"/>
                <a:ea typeface="Segoe UI"/>
                <a:cs typeface="Segoe UI"/>
              </a:rPr>
              <a:t>“Deliver working software frequently, from a couple of weeks to a couple of months, with a preference to the shorter timescale.”</a:t>
            </a:r>
            <a:endParaRPr lang="en-US" sz="1250" dirty="0"/>
          </a:p>
        </p:txBody>
      </p:sp>
      <p:sp>
        <p:nvSpPr>
          <p:cNvPr id="118" name="s118"/>
          <p:cNvSpPr/>
          <p:nvPr/>
        </p:nvSpPr>
        <p:spPr>
          <a:xfrm>
            <a:off x="4886554" y="209397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19" name="s119"/>
          <p:cNvSpPr/>
          <p:nvPr/>
        </p:nvSpPr>
        <p:spPr>
          <a:xfrm>
            <a:off x="4703674" y="1783080"/>
            <a:ext cx="6927494" cy="91440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Why is a 6-month big-bang release risky for a food app?</a:t>
            </a:r>
            <a:endParaRPr lang="en-US" sz="1450" dirty="0"/>
          </a:p>
        </p:txBody>
      </p:sp>
      <p:sp>
        <p:nvSpPr>
          <p:cNvPr id="120" name="s120"/>
          <p:cNvSpPr/>
          <p:nvPr/>
        </p:nvSpPr>
        <p:spPr>
          <a:xfrm>
            <a:off x="4703674" y="2862072"/>
            <a:ext cx="283464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CASE · Food Delivery Platform</a:t>
            </a:r>
            <a:endParaRPr lang="en-US" sz="1000" dirty="0"/>
          </a:p>
        </p:txBody>
      </p:sp>
      <p:sp>
        <p:nvSpPr>
          <p:cNvPr id="121" name="s121"/>
          <p:cNvSpPr/>
          <p:nvPr/>
        </p:nvSpPr>
        <p:spPr>
          <a:xfrm>
            <a:off x="4703674" y="3337560"/>
            <a:ext cx="3349447" cy="22860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p:nvPr/>
        </p:nvSpPr>
        <p:spPr>
          <a:xfrm>
            <a:off x="4904842" y="3520440"/>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5"/>
          <a:stretch>
            <a:fillRect/>
          </a:stretch>
        </p:blipFill>
        <p:spPr>
          <a:xfrm>
            <a:off x="5014570" y="3630168"/>
            <a:ext cx="237744" cy="237744"/>
          </a:xfrm>
          <a:prstGeom prst="rect">
            <a:avLst/>
          </a:prstGeom>
        </p:spPr>
      </p:pic>
      <p:sp>
        <p:nvSpPr>
          <p:cNvPr id="124" name="s124"/>
          <p:cNvSpPr txBox="1"/>
          <p:nvPr/>
        </p:nvSpPr>
        <p:spPr>
          <a:xfrm>
            <a:off x="5480914"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IGNORE IT</a:t>
            </a:r>
            <a:endParaRPr lang="en-US" sz="1200" dirty="0"/>
          </a:p>
        </p:txBody>
      </p:sp>
      <p:sp>
        <p:nvSpPr>
          <p:cNvPr id="125" name="s125"/>
          <p:cNvSpPr txBox="1"/>
          <p:nvPr/>
        </p:nvSpPr>
        <p:spPr>
          <a:xfrm>
            <a:off x="4932274"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0" dirty="0">
                <a:solidFill>
                  <a:srgbClr val="E2E8F0"/>
                </a:solidFill>
                <a:latin typeface="Segoe UI"/>
                <a:ea typeface="Segoe UI"/>
                <a:cs typeface="Segoe UI"/>
              </a:rPr>
              <a:t>One huge launch day.</a:t>
            </a:r>
            <a:endParaRPr lang="en-US" sz="1500" dirty="0"/>
          </a:p>
        </p:txBody>
      </p:sp>
      <p:sp>
        <p:nvSpPr>
          <p:cNvPr id="126" name="s126"/>
          <p:cNvSpPr/>
          <p:nvPr/>
        </p:nvSpPr>
        <p:spPr>
          <a:xfrm>
            <a:off x="8281721" y="3337560"/>
            <a:ext cx="3349447" cy="2286000"/>
          </a:xfrm>
          <a:prstGeom prst="roundRect">
            <a:avLst>
              <a:gd name="adj" fmla="val 8000"/>
            </a:avLst>
          </a:prstGeom>
          <a:solidFill>
            <a:srgbClr val="34D399">
              <a:alpha val="8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482889" y="352044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6"/>
          <a:stretch>
            <a:fillRect/>
          </a:stretch>
        </p:blipFill>
        <p:spPr>
          <a:xfrm>
            <a:off x="8592617" y="3630168"/>
            <a:ext cx="237744" cy="237744"/>
          </a:xfrm>
          <a:prstGeom prst="rect">
            <a:avLst/>
          </a:prstGeom>
        </p:spPr>
      </p:pic>
      <p:sp>
        <p:nvSpPr>
          <p:cNvPr id="129" name="s129"/>
          <p:cNvSpPr txBox="1"/>
          <p:nvPr/>
        </p:nvSpPr>
        <p:spPr>
          <a:xfrm>
            <a:off x="9058961"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APPLY IT</a:t>
            </a:r>
            <a:endParaRPr lang="en-US" sz="1200" dirty="0"/>
          </a:p>
        </p:txBody>
      </p:sp>
      <p:sp>
        <p:nvSpPr>
          <p:cNvPr id="130" name="s130"/>
          <p:cNvSpPr txBox="1"/>
          <p:nvPr/>
        </p:nvSpPr>
        <p:spPr>
          <a:xfrm>
            <a:off x="8510321"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FFFFF"/>
                </a:solidFill>
                <a:latin typeface="Segoe UI"/>
                <a:ea typeface="Segoe UI"/>
                <a:cs typeface="Segoe UI"/>
              </a:rPr>
              <a:t>Every two weeks: cart, then pay, then ratings.</a:t>
            </a:r>
            <a:endParaRPr lang="en-US" sz="15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30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4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 dur="400" decel="100000" fill="hold"/>
                                        <p:tgtEl>
                                          <p:spTgt spid="115"/>
                                        </p:tgtEl>
                                        <p:attrNameLst>
                                          <p:attrName>ppt_h</p:attrName>
                                        </p:attrNameLst>
                                      </p:cBhvr>
                                      <p:tavLst>
                                        <p:tav tm="0">
                                          <p:val>
                                            <p:strVal val="#ppt_h*0.3"/>
                                          </p:val>
                                        </p:tav>
                                        <p:tav tm="100000">
                                          <p:val>
                                            <p:strVal val="#ppt_h*1.08"/>
                                          </p:val>
                                        </p:tav>
                                      </p:tavLst>
                                    </p:anim>
                                    <p:animEffect transition="in" filter="fade">
                                      <p:cBhvr>
                                        <p:cTn id="9" dur="200"/>
                                        <p:tgtEl>
                                          <p:spTgt spid="115"/>
                                        </p:tgtEl>
                                      </p:cBhvr>
                                    </p:animEffect>
                                    <p:anim calcmode="lin" valueType="num">
                                      <p:cBhvr additive="base">
                                        <p:cTn id="10" dur="160" fill="hold">
                                          <p:stCondLst>
                                            <p:cond delay="400"/>
                                          </p:stCondLst>
                                        </p:cTn>
                                        <p:tgtEl>
                                          <p:spTgt spid="115"/>
                                        </p:tgtEl>
                                        <p:attrNameLst>
                                          <p:attrName>ppt_w</p:attrName>
                                        </p:attrNameLst>
                                      </p:cBhvr>
                                      <p:tavLst>
                                        <p:tav tm="0">
                                          <p:val>
                                            <p:strVal val="#ppt_w*1.08"/>
                                          </p:val>
                                        </p:tav>
                                        <p:tav tm="100000">
                                          <p:val>
                                            <p:strVal val="#ppt_w"/>
                                          </p:val>
                                        </p:tav>
                                      </p:tavLst>
                                    </p:anim>
                                    <p:anim calcmode="lin" valueType="num">
                                      <p:cBhvr additive="base">
                                        <p:cTn id="11" dur="160" fill="hold">
                                          <p:stCondLst>
                                            <p:cond delay="4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fade">
                                      <p:cBhvr>
                                        <p:cTn id="16" dur="500"/>
                                        <p:tgtEl>
                                          <p:spTgt spid="119"/>
                                        </p:tgtEl>
                                      </p:cBhvr>
                                    </p:animEffect>
                                    <p:anim calcmode="lin" valueType="num">
                                      <p:cBhvr additive="base">
                                        <p:cTn id="17" dur="500" decel="100000" fill="hold"/>
                                        <p:tgtEl>
                                          <p:spTgt spid="119"/>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18"/>
                                        </p:tgtEl>
                                        <p:attrNameLst>
                                          <p:attrName>style.visibility</p:attrName>
                                        </p:attrNameLst>
                                      </p:cBhvr>
                                      <p:to>
                                        <p:strVal val="visible"/>
                                      </p:to>
                                    </p:set>
                                    <p:animEffect transition="in" filter="fade">
                                      <p:cBhvr>
                                        <p:cTn id="20" dur="500"/>
                                        <p:tgtEl>
                                          <p:spTgt spid="118"/>
                                        </p:tgtEl>
                                      </p:cBhvr>
                                    </p:animEffect>
                                    <p:anim calcmode="lin" valueType="num">
                                      <p:cBhvr additive="base">
                                        <p:cTn id="21" dur="500" decel="100000" fill="hold"/>
                                        <p:tgtEl>
                                          <p:spTgt spid="118"/>
                                        </p:tgtEl>
                                        <p:attrNameLst>
                                          <p:attrName>ppt_y</p:attrName>
                                        </p:attrNameLst>
                                      </p:cBhvr>
                                      <p:tavLst>
                                        <p:tav tm="0">
                                          <p:val>
                                            <p:strVal val="#ppt_y+0.06"/>
                                          </p:val>
                                        </p:tav>
                                        <p:tav tm="100000">
                                          <p:val>
                                            <p:strVal val="#ppt_y"/>
                                          </p:val>
                                        </p:tav>
                                      </p:tavLst>
                                    </p:anim>
                                  </p:childTnLst>
                                </p:cTn>
                              </p:par>
                              <p:par>
                                <p:cTn id="22" presetID="10" presetClass="entr" presetSubtype="0" fill="hold" grpId="0" nodeType="withEffect">
                                  <p:stCondLst>
                                    <p:cond delay="120"/>
                                  </p:stCondLst>
                                  <p:childTnLst>
                                    <p:set>
                                      <p:cBhvr>
                                        <p:cTn id="23" dur="1" fill="hold">
                                          <p:stCondLst>
                                            <p:cond delay="0"/>
                                          </p:stCondLst>
                                        </p:cTn>
                                        <p:tgtEl>
                                          <p:spTgt spid="120"/>
                                        </p:tgtEl>
                                        <p:attrNameLst>
                                          <p:attrName>style.visibility</p:attrName>
                                        </p:attrNameLst>
                                      </p:cBhvr>
                                      <p:to>
                                        <p:strVal val="visible"/>
                                      </p:to>
                                    </p:set>
                                    <p:animEffect transition="in" filter="fade">
                                      <p:cBhvr>
                                        <p:cTn id="24" dur="500"/>
                                        <p:tgtEl>
                                          <p:spTgt spid="120"/>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fade">
                                      <p:cBhvr>
                                        <p:cTn id="29" dur="500"/>
                                        <p:tgtEl>
                                          <p:spTgt spid="121"/>
                                        </p:tgtEl>
                                      </p:cBhvr>
                                    </p:animEffect>
                                    <p:anim calcmode="lin" valueType="num">
                                      <p:cBhvr additive="base">
                                        <p:cTn id="30" dur="500" decel="100000" fill="hold"/>
                                        <p:tgtEl>
                                          <p:spTgt spid="121"/>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22"/>
                                        </p:tgtEl>
                                        <p:attrNameLst>
                                          <p:attrName>style.visibility</p:attrName>
                                        </p:attrNameLst>
                                      </p:cBhvr>
                                      <p:to>
                                        <p:strVal val="visible"/>
                                      </p:to>
                                    </p:set>
                                    <p:animEffect transition="in" filter="fade">
                                      <p:cBhvr>
                                        <p:cTn id="33" dur="500"/>
                                        <p:tgtEl>
                                          <p:spTgt spid="122"/>
                                        </p:tgtEl>
                                      </p:cBhvr>
                                    </p:animEffect>
                                    <p:anim calcmode="lin" valueType="num">
                                      <p:cBhvr additive="base">
                                        <p:cTn id="34" dur="500" decel="100000" fill="hold"/>
                                        <p:tgtEl>
                                          <p:spTgt spid="122"/>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23"/>
                                        </p:tgtEl>
                                        <p:attrNameLst>
                                          <p:attrName>style.visibility</p:attrName>
                                        </p:attrNameLst>
                                      </p:cBhvr>
                                      <p:to>
                                        <p:strVal val="visible"/>
                                      </p:to>
                                    </p:set>
                                    <p:animEffect transition="in" filter="fade">
                                      <p:cBhvr>
                                        <p:cTn id="37" dur="500"/>
                                        <p:tgtEl>
                                          <p:spTgt spid="123"/>
                                        </p:tgtEl>
                                      </p:cBhvr>
                                    </p:animEffect>
                                    <p:anim calcmode="lin" valueType="num">
                                      <p:cBhvr additive="base">
                                        <p:cTn id="38" dur="500" decel="100000" fill="hold"/>
                                        <p:tgtEl>
                                          <p:spTgt spid="123"/>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24"/>
                                        </p:tgtEl>
                                        <p:attrNameLst>
                                          <p:attrName>style.visibility</p:attrName>
                                        </p:attrNameLst>
                                      </p:cBhvr>
                                      <p:to>
                                        <p:strVal val="visible"/>
                                      </p:to>
                                    </p:set>
                                    <p:animEffect transition="in" filter="fade">
                                      <p:cBhvr>
                                        <p:cTn id="41" dur="500"/>
                                        <p:tgtEl>
                                          <p:spTgt spid="124"/>
                                        </p:tgtEl>
                                      </p:cBhvr>
                                    </p:animEffect>
                                    <p:anim calcmode="lin" valueType="num">
                                      <p:cBhvr additive="base">
                                        <p:cTn id="42" dur="500" decel="100000" fill="hold"/>
                                        <p:tgtEl>
                                          <p:spTgt spid="124"/>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25"/>
                                        </p:tgtEl>
                                        <p:attrNameLst>
                                          <p:attrName>style.visibility</p:attrName>
                                        </p:attrNameLst>
                                      </p:cBhvr>
                                      <p:to>
                                        <p:strVal val="visible"/>
                                      </p:to>
                                    </p:set>
                                    <p:animEffect transition="in" filter="fade">
                                      <p:cBhvr>
                                        <p:cTn id="45" dur="500"/>
                                        <p:tgtEl>
                                          <p:spTgt spid="125"/>
                                        </p:tgtEl>
                                      </p:cBhvr>
                                    </p:animEffect>
                                    <p:anim calcmode="lin" valueType="num">
                                      <p:cBhvr additive="base">
                                        <p:cTn id="46" dur="500" decel="100000" fill="hold"/>
                                        <p:tgtEl>
                                          <p:spTgt spid="125"/>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fade">
                                      <p:cBhvr>
                                        <p:cTn id="51" dur="500"/>
                                        <p:tgtEl>
                                          <p:spTgt spid="126"/>
                                        </p:tgtEl>
                                      </p:cBhvr>
                                    </p:animEffect>
                                    <p:anim calcmode="lin" valueType="num">
                                      <p:cBhvr additive="base">
                                        <p:cTn id="52" dur="500" decel="100000" fill="hold"/>
                                        <p:tgtEl>
                                          <p:spTgt spid="126"/>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27"/>
                                        </p:tgtEl>
                                        <p:attrNameLst>
                                          <p:attrName>style.visibility</p:attrName>
                                        </p:attrNameLst>
                                      </p:cBhvr>
                                      <p:to>
                                        <p:strVal val="visible"/>
                                      </p:to>
                                    </p:set>
                                    <p:animEffect transition="in" filter="fade">
                                      <p:cBhvr>
                                        <p:cTn id="55" dur="500"/>
                                        <p:tgtEl>
                                          <p:spTgt spid="127"/>
                                        </p:tgtEl>
                                      </p:cBhvr>
                                    </p:animEffect>
                                    <p:anim calcmode="lin" valueType="num">
                                      <p:cBhvr additive="base">
                                        <p:cTn id="56" dur="500" decel="100000" fill="hold"/>
                                        <p:tgtEl>
                                          <p:spTgt spid="127"/>
                                        </p:tgtEl>
                                        <p:attrNameLst>
                                          <p:attrName>ppt_x</p:attrName>
                                        </p:attrNameLst>
                                      </p:cBhvr>
                                      <p:tavLst>
                                        <p:tav tm="0">
                                          <p:val>
                                            <p:strVal val="#ppt_x+0.05"/>
                                          </p:val>
                                        </p:tav>
                                        <p:tav tm="100000">
                                          <p:val>
                                            <p:strVal val="#ppt_x"/>
                                          </p:val>
                                        </p:tav>
                                      </p:tavLst>
                                    </p:anim>
                                  </p:childTnLst>
                                </p:cTn>
                              </p:par>
                              <p:par>
                                <p:cTn id="57" presetID="42" presetClass="entr" presetSubtype="0" fill="hold" nodeType="withEffect">
                                  <p:stCondLst>
                                    <p:cond delay="0"/>
                                  </p:stCondLst>
                                  <p:childTnLst>
                                    <p:set>
                                      <p:cBhvr>
                                        <p:cTn id="58" dur="1" fill="hold">
                                          <p:stCondLst>
                                            <p:cond delay="0"/>
                                          </p:stCondLst>
                                        </p:cTn>
                                        <p:tgtEl>
                                          <p:spTgt spid="128"/>
                                        </p:tgtEl>
                                        <p:attrNameLst>
                                          <p:attrName>style.visibility</p:attrName>
                                        </p:attrNameLst>
                                      </p:cBhvr>
                                      <p:to>
                                        <p:strVal val="visible"/>
                                      </p:to>
                                    </p:set>
                                    <p:animEffect transition="in" filter="fade">
                                      <p:cBhvr>
                                        <p:cTn id="59" dur="500"/>
                                        <p:tgtEl>
                                          <p:spTgt spid="128"/>
                                        </p:tgtEl>
                                      </p:cBhvr>
                                    </p:animEffect>
                                    <p:anim calcmode="lin" valueType="num">
                                      <p:cBhvr additive="base">
                                        <p:cTn id="60" dur="500" decel="100000" fill="hold"/>
                                        <p:tgtEl>
                                          <p:spTgt spid="128"/>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29"/>
                                        </p:tgtEl>
                                        <p:attrNameLst>
                                          <p:attrName>style.visibility</p:attrName>
                                        </p:attrNameLst>
                                      </p:cBhvr>
                                      <p:to>
                                        <p:strVal val="visible"/>
                                      </p:to>
                                    </p:set>
                                    <p:animEffect transition="in" filter="fade">
                                      <p:cBhvr>
                                        <p:cTn id="63" dur="500"/>
                                        <p:tgtEl>
                                          <p:spTgt spid="129"/>
                                        </p:tgtEl>
                                      </p:cBhvr>
                                    </p:animEffect>
                                    <p:anim calcmode="lin" valueType="num">
                                      <p:cBhvr additive="base">
                                        <p:cTn id="64" dur="500" decel="100000" fill="hold"/>
                                        <p:tgtEl>
                                          <p:spTgt spid="129"/>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500"/>
                                        <p:tgtEl>
                                          <p:spTgt spid="130"/>
                                        </p:tgtEl>
                                      </p:cBhvr>
                                    </p:animEffect>
                                    <p:anim calcmode="lin" valueType="num">
                                      <p:cBhvr additive="base">
                                        <p:cTn id="68"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20" grpId="0" animBg="1"/>
      <p:bldP spid="121" grpId="0" animBg="1"/>
      <p:bldP spid="122" grpId="0" animBg="1"/>
      <p:bldP spid="124" grpId="0" animBg="1"/>
      <p:bldP spid="125" grpId="0" animBg="1"/>
      <p:bldP spid="126" grpId="0" animBg="1"/>
      <p:bldP spid="127" grpId="0" animBg="1"/>
      <p:bldP spid="129" grpId="0" animBg="1"/>
      <p:bldP spid="130"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PRINCIPLE 04</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Business and Developers Together</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216</a:t>
            </a:r>
            <a:endParaRPr lang="en-US" sz="850" dirty="0"/>
          </a:p>
        </p:txBody>
      </p:sp>
      <p:sp>
        <p:nvSpPr>
          <p:cNvPr id="101" name="!!trk0"/>
          <p:cNvSpPr/>
          <p:nvPr/>
        </p:nvSpPr>
        <p:spPr>
          <a:xfrm>
            <a:off x="770839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a:t>
            </a:r>
            <a:endParaRPr lang="en-US" sz="700" dirty="0"/>
          </a:p>
        </p:txBody>
      </p:sp>
      <p:sp>
        <p:nvSpPr>
          <p:cNvPr id="102" name="!!trk1"/>
          <p:cNvSpPr/>
          <p:nvPr/>
        </p:nvSpPr>
        <p:spPr>
          <a:xfrm>
            <a:off x="803757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2</a:t>
            </a:r>
            <a:endParaRPr lang="en-US" sz="700" dirty="0"/>
          </a:p>
        </p:txBody>
      </p:sp>
      <p:sp>
        <p:nvSpPr>
          <p:cNvPr id="103" name="!!trk2"/>
          <p:cNvSpPr/>
          <p:nvPr/>
        </p:nvSpPr>
        <p:spPr>
          <a:xfrm>
            <a:off x="836676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3</a:t>
            </a:r>
            <a:endParaRPr lang="en-US" sz="700" dirty="0"/>
          </a:p>
        </p:txBody>
      </p:sp>
      <p:sp>
        <p:nvSpPr>
          <p:cNvPr id="104" name="!!trk3"/>
          <p:cNvSpPr/>
          <p:nvPr/>
        </p:nvSpPr>
        <p:spPr>
          <a:xfrm>
            <a:off x="8695944" y="457200"/>
            <a:ext cx="265176" cy="265176"/>
          </a:xfrm>
          <a:prstGeom prst="ellipse">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0F172A"/>
                </a:solidFill>
                <a:latin typeface="Segoe UI"/>
                <a:ea typeface="Segoe UI"/>
                <a:cs typeface="Segoe UI"/>
              </a:rPr>
              <a:t>4</a:t>
            </a:r>
            <a:endParaRPr lang="en-US" sz="700" dirty="0"/>
          </a:p>
        </p:txBody>
      </p:sp>
      <p:sp>
        <p:nvSpPr>
          <p:cNvPr id="105" name="!!trk4"/>
          <p:cNvSpPr/>
          <p:nvPr/>
        </p:nvSpPr>
        <p:spPr>
          <a:xfrm>
            <a:off x="902512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5</a:t>
            </a:r>
            <a:endParaRPr lang="en-US" sz="700" dirty="0"/>
          </a:p>
        </p:txBody>
      </p:sp>
      <p:sp>
        <p:nvSpPr>
          <p:cNvPr id="106" name="!!trk5"/>
          <p:cNvSpPr/>
          <p:nvPr/>
        </p:nvSpPr>
        <p:spPr>
          <a:xfrm>
            <a:off x="935431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6</a:t>
            </a:r>
            <a:endParaRPr lang="en-US" sz="700" dirty="0"/>
          </a:p>
        </p:txBody>
      </p:sp>
      <p:sp>
        <p:nvSpPr>
          <p:cNvPr id="107" name="!!trk6"/>
          <p:cNvSpPr/>
          <p:nvPr/>
        </p:nvSpPr>
        <p:spPr>
          <a:xfrm>
            <a:off x="968349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7</a:t>
            </a:r>
            <a:endParaRPr lang="en-US" sz="700" dirty="0"/>
          </a:p>
        </p:txBody>
      </p:sp>
      <p:sp>
        <p:nvSpPr>
          <p:cNvPr id="108" name="!!trk7"/>
          <p:cNvSpPr/>
          <p:nvPr/>
        </p:nvSpPr>
        <p:spPr>
          <a:xfrm>
            <a:off x="10012680"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8</a:t>
            </a:r>
            <a:endParaRPr lang="en-US" sz="700" dirty="0"/>
          </a:p>
        </p:txBody>
      </p:sp>
      <p:sp>
        <p:nvSpPr>
          <p:cNvPr id="109" name="!!trk8"/>
          <p:cNvSpPr/>
          <p:nvPr/>
        </p:nvSpPr>
        <p:spPr>
          <a:xfrm>
            <a:off x="10341864"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9</a:t>
            </a:r>
            <a:endParaRPr lang="en-US" sz="700" dirty="0"/>
          </a:p>
        </p:txBody>
      </p:sp>
      <p:sp>
        <p:nvSpPr>
          <p:cNvPr id="110" name="!!trk9"/>
          <p:cNvSpPr/>
          <p:nvPr/>
        </p:nvSpPr>
        <p:spPr>
          <a:xfrm>
            <a:off x="1067104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10</a:t>
            </a:r>
            <a:endParaRPr lang="en-US" sz="700" dirty="0"/>
          </a:p>
        </p:txBody>
      </p:sp>
      <p:sp>
        <p:nvSpPr>
          <p:cNvPr id="111" name="!!trk10"/>
          <p:cNvSpPr/>
          <p:nvPr/>
        </p:nvSpPr>
        <p:spPr>
          <a:xfrm>
            <a:off x="1100023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11</a:t>
            </a:r>
            <a:endParaRPr lang="en-US" sz="700" dirty="0"/>
          </a:p>
        </p:txBody>
      </p:sp>
      <p:sp>
        <p:nvSpPr>
          <p:cNvPr id="112" name="!!trk11"/>
          <p:cNvSpPr/>
          <p:nvPr/>
        </p:nvSpPr>
        <p:spPr>
          <a:xfrm>
            <a:off x="1132941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12</a:t>
            </a:r>
            <a:endParaRPr lang="en-US" sz="700" dirty="0"/>
          </a:p>
        </p:txBody>
      </p:sp>
      <p:sp>
        <p:nvSpPr>
          <p:cNvPr id="113" name="!!pnum"/>
          <p:cNvSpPr txBox="1"/>
          <p:nvPr/>
        </p:nvSpPr>
        <p:spPr>
          <a:xfrm>
            <a:off x="506578" y="1600200"/>
            <a:ext cx="2194560" cy="11887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7200" b="1" dirty="0">
                <a:solidFill>
                  <a:srgbClr val="FBBF24"/>
                </a:solidFill>
                <a:latin typeface="Segoe UI"/>
                <a:ea typeface="Segoe UI"/>
                <a:cs typeface="Segoe UI"/>
              </a:rPr>
              <a:t>04</a:t>
            </a:r>
            <a:endParaRPr lang="en-US" sz="7200" dirty="0"/>
          </a:p>
        </p:txBody>
      </p:sp>
      <p:sp>
        <p:nvSpPr>
          <p:cNvPr id="114" name="s114"/>
          <p:cNvSpPr/>
          <p:nvPr/>
        </p:nvSpPr>
        <p:spPr>
          <a:xfrm>
            <a:off x="3057754" y="1828800"/>
            <a:ext cx="777240" cy="7772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3244291" y="2015338"/>
            <a:ext cx="404165" cy="404165"/>
          </a:xfrm>
          <a:prstGeom prst="rect">
            <a:avLst/>
          </a:prstGeom>
        </p:spPr>
      </p:pic>
      <p:sp>
        <p:nvSpPr>
          <p:cNvPr id="116" name="!!def"/>
          <p:cNvSpPr/>
          <p:nvPr/>
        </p:nvSpPr>
        <p:spPr>
          <a:xfrm>
            <a:off x="543154" y="2926080"/>
            <a:ext cx="3886200" cy="868680"/>
          </a:xfrm>
          <a:prstGeom prst="roundRect">
            <a:avLst>
              <a:gd name="adj" fmla="val 12000"/>
            </a:avLst>
          </a:prstGeom>
          <a:solidFill>
            <a:srgbClr val="FBBF24">
              <a:alpha val="10000"/>
            </a:srgbClr>
          </a:solidFill>
          <a:ln w="12700">
            <a:solidFill>
              <a:srgbClr val="FBBF24"/>
            </a:solidFill>
            <a:prstDash val="solid"/>
          </a:ln>
        </p:spPr>
        <p:txBody>
          <a:bodyPr wrap="square" lIns="201168" tIns="45720" rIns="137160" bIns="45720" rtlCol="0" anchor="ctr">
            <a:noAutofit/>
          </a:bodyPr>
          <a:lstStyle/>
          <a:p>
            <a:pPr marL="0" indent="0" algn="l">
              <a:spcBef>
                <a:spcPts val="0"/>
              </a:spcBef>
              <a:spcAft>
                <a:spcPts val="200"/>
              </a:spcAft>
              <a:buNone/>
            </a:pPr>
            <a:r>
              <a:rPr lang="en-US" sz="1000" b="1" dirty="0">
                <a:solidFill>
                  <a:srgbClr val="FBBF24"/>
                </a:solidFill>
                <a:latin typeface="Segoe UI"/>
                <a:ea typeface="Segoe UI"/>
                <a:cs typeface="Segoe UI"/>
              </a:rPr>
              <a:t>IN SHORT</a:t>
            </a:r>
            <a:endParaRPr lang="en-US" sz="1000" dirty="0"/>
          </a:p>
          <a:p>
            <a:pPr marL="0" indent="0" algn="l">
              <a:spcBef>
                <a:spcPts val="0"/>
              </a:spcBef>
              <a:spcAft>
                <a:spcPts val="0"/>
              </a:spcAft>
              <a:buNone/>
            </a:pPr>
            <a:r>
              <a:rPr lang="en-US" sz="1450" b="1" dirty="0">
                <a:solidFill>
                  <a:srgbClr val="FFFFFF"/>
                </a:solidFill>
                <a:latin typeface="Segoe UI"/>
                <a:ea typeface="Segoe UI"/>
                <a:cs typeface="Segoe UI"/>
              </a:rPr>
              <a:t>Daily cooperation, not ticket tennis.</a:t>
            </a:r>
            <a:endParaRPr lang="en-US" sz="1450" dirty="0"/>
          </a:p>
        </p:txBody>
      </p:sp>
      <p:sp>
        <p:nvSpPr>
          <p:cNvPr id="117" name="!!quote"/>
          <p:cNvSpPr/>
          <p:nvPr/>
        </p:nvSpPr>
        <p:spPr>
          <a:xfrm>
            <a:off x="543154" y="3931920"/>
            <a:ext cx="3886200" cy="1691640"/>
          </a:xfrm>
          <a:prstGeom prst="roundRect">
            <a:avLst>
              <a:gd name="adj" fmla="val 8000"/>
            </a:avLst>
          </a:prstGeom>
          <a:solidFill>
            <a:srgbClr val="111B2E"/>
          </a:solidFill>
          <a:ln w="12700">
            <a:solidFill>
              <a:srgbClr val="1E3A5F"/>
            </a:solidFill>
            <a:prstDash val="solid"/>
          </a:ln>
        </p:spPr>
        <p:txBody>
          <a:bodyPr wrap="square" lIns="201168" tIns="146304" rIns="164592" bIns="91440" rtlCol="0" anchor="t">
            <a:noAutofit/>
          </a:bodyPr>
          <a:lstStyle/>
          <a:p>
            <a:pPr marL="0" indent="0" algn="l">
              <a:spcBef>
                <a:spcPts val="0"/>
              </a:spcBef>
              <a:spcAft>
                <a:spcPts val="400"/>
              </a:spcAft>
              <a:buNone/>
            </a:pPr>
            <a:r>
              <a:rPr lang="en-US" sz="1000" b="1" dirty="0">
                <a:solidFill>
                  <a:srgbClr val="94A3B8"/>
                </a:solidFill>
                <a:latin typeface="Segoe UI"/>
                <a:ea typeface="Segoe UI"/>
                <a:cs typeface="Segoe UI"/>
              </a:rPr>
              <a:t>THE MANIFESTO SAYS</a:t>
            </a:r>
            <a:endParaRPr lang="en-US" sz="1000" dirty="0"/>
          </a:p>
          <a:p>
            <a:pPr marL="0" indent="0" algn="l">
              <a:lnSpc>
                <a:spcPct val="110000"/>
              </a:lnSpc>
              <a:spcBef>
                <a:spcPts val="0"/>
              </a:spcBef>
              <a:spcAft>
                <a:spcPts val="0"/>
              </a:spcAft>
              <a:buNone/>
            </a:pPr>
            <a:r>
              <a:rPr lang="en-US" sz="1250" b="0" i="1" dirty="0">
                <a:solidFill>
                  <a:srgbClr val="CBD5E1"/>
                </a:solidFill>
                <a:latin typeface="Segoe UI"/>
                <a:ea typeface="Segoe UI"/>
                <a:cs typeface="Segoe UI"/>
              </a:rPr>
              <a:t>“Business people and developers must work together daily throughout the project.”</a:t>
            </a:r>
            <a:endParaRPr lang="en-US" sz="1250" dirty="0"/>
          </a:p>
        </p:txBody>
      </p:sp>
      <p:sp>
        <p:nvSpPr>
          <p:cNvPr id="118" name="s118"/>
          <p:cNvSpPr/>
          <p:nvPr/>
        </p:nvSpPr>
        <p:spPr>
          <a:xfrm>
            <a:off x="4886554" y="209397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19" name="s119"/>
          <p:cNvSpPr/>
          <p:nvPr/>
        </p:nvSpPr>
        <p:spPr>
          <a:xfrm>
            <a:off x="4703674" y="1783080"/>
            <a:ext cx="6927494" cy="91440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Who should decide courier fee rules: only finance, or finance + engineering?</a:t>
            </a:r>
            <a:endParaRPr lang="en-US" sz="1450" dirty="0"/>
          </a:p>
        </p:txBody>
      </p:sp>
      <p:sp>
        <p:nvSpPr>
          <p:cNvPr id="120" name="s120"/>
          <p:cNvSpPr/>
          <p:nvPr/>
        </p:nvSpPr>
        <p:spPr>
          <a:xfrm>
            <a:off x="4703674" y="2862072"/>
            <a:ext cx="283464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CASE · Food Delivery Platform</a:t>
            </a:r>
            <a:endParaRPr lang="en-US" sz="1000" dirty="0"/>
          </a:p>
        </p:txBody>
      </p:sp>
      <p:sp>
        <p:nvSpPr>
          <p:cNvPr id="121" name="s121"/>
          <p:cNvSpPr/>
          <p:nvPr/>
        </p:nvSpPr>
        <p:spPr>
          <a:xfrm>
            <a:off x="4703674" y="3337560"/>
            <a:ext cx="3349447" cy="22860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p:nvPr/>
        </p:nvSpPr>
        <p:spPr>
          <a:xfrm>
            <a:off x="4904842" y="3520440"/>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5"/>
          <a:stretch>
            <a:fillRect/>
          </a:stretch>
        </p:blipFill>
        <p:spPr>
          <a:xfrm>
            <a:off x="5014570" y="3630168"/>
            <a:ext cx="237744" cy="237744"/>
          </a:xfrm>
          <a:prstGeom prst="rect">
            <a:avLst/>
          </a:prstGeom>
        </p:spPr>
      </p:pic>
      <p:sp>
        <p:nvSpPr>
          <p:cNvPr id="124" name="s124"/>
          <p:cNvSpPr txBox="1"/>
          <p:nvPr/>
        </p:nvSpPr>
        <p:spPr>
          <a:xfrm>
            <a:off x="5480914"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IGNORE IT</a:t>
            </a:r>
            <a:endParaRPr lang="en-US" sz="1200" dirty="0"/>
          </a:p>
        </p:txBody>
      </p:sp>
      <p:sp>
        <p:nvSpPr>
          <p:cNvPr id="125" name="s125"/>
          <p:cNvSpPr txBox="1"/>
          <p:nvPr/>
        </p:nvSpPr>
        <p:spPr>
          <a:xfrm>
            <a:off x="4932274"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0" dirty="0">
                <a:solidFill>
                  <a:srgbClr val="E2E8F0"/>
                </a:solidFill>
                <a:latin typeface="Segoe UI"/>
                <a:ea typeface="Segoe UI"/>
                <a:cs typeface="Segoe UI"/>
              </a:rPr>
              <a:t>Finance emails a PDF once a month.</a:t>
            </a:r>
            <a:endParaRPr lang="en-US" sz="1500" dirty="0"/>
          </a:p>
        </p:txBody>
      </p:sp>
      <p:sp>
        <p:nvSpPr>
          <p:cNvPr id="126" name="s126"/>
          <p:cNvSpPr/>
          <p:nvPr/>
        </p:nvSpPr>
        <p:spPr>
          <a:xfrm>
            <a:off x="8281721" y="3337560"/>
            <a:ext cx="3349447" cy="2286000"/>
          </a:xfrm>
          <a:prstGeom prst="roundRect">
            <a:avLst>
              <a:gd name="adj" fmla="val 8000"/>
            </a:avLst>
          </a:prstGeom>
          <a:solidFill>
            <a:srgbClr val="34D399">
              <a:alpha val="8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482889" y="352044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6"/>
          <a:stretch>
            <a:fillRect/>
          </a:stretch>
        </p:blipFill>
        <p:spPr>
          <a:xfrm>
            <a:off x="8592617" y="3630168"/>
            <a:ext cx="237744" cy="237744"/>
          </a:xfrm>
          <a:prstGeom prst="rect">
            <a:avLst/>
          </a:prstGeom>
        </p:spPr>
      </p:pic>
      <p:sp>
        <p:nvSpPr>
          <p:cNvPr id="129" name="s129"/>
          <p:cNvSpPr txBox="1"/>
          <p:nvPr/>
        </p:nvSpPr>
        <p:spPr>
          <a:xfrm>
            <a:off x="9058961"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APPLY IT</a:t>
            </a:r>
            <a:endParaRPr lang="en-US" sz="1200" dirty="0"/>
          </a:p>
        </p:txBody>
      </p:sp>
      <p:sp>
        <p:nvSpPr>
          <p:cNvPr id="130" name="s130"/>
          <p:cNvSpPr txBox="1"/>
          <p:nvPr/>
        </p:nvSpPr>
        <p:spPr>
          <a:xfrm>
            <a:off x="8510321"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FFFFF"/>
                </a:solidFill>
                <a:latin typeface="Segoe UI"/>
                <a:ea typeface="Segoe UI"/>
                <a:cs typeface="Segoe UI"/>
              </a:rPr>
              <a:t>A daily 15-minute sync on fees and edge cases.</a:t>
            </a:r>
            <a:endParaRPr lang="en-US" sz="15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30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4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 dur="400" decel="100000" fill="hold"/>
                                        <p:tgtEl>
                                          <p:spTgt spid="115"/>
                                        </p:tgtEl>
                                        <p:attrNameLst>
                                          <p:attrName>ppt_h</p:attrName>
                                        </p:attrNameLst>
                                      </p:cBhvr>
                                      <p:tavLst>
                                        <p:tav tm="0">
                                          <p:val>
                                            <p:strVal val="#ppt_h*0.3"/>
                                          </p:val>
                                        </p:tav>
                                        <p:tav tm="100000">
                                          <p:val>
                                            <p:strVal val="#ppt_h*1.08"/>
                                          </p:val>
                                        </p:tav>
                                      </p:tavLst>
                                    </p:anim>
                                    <p:animEffect transition="in" filter="fade">
                                      <p:cBhvr>
                                        <p:cTn id="9" dur="200"/>
                                        <p:tgtEl>
                                          <p:spTgt spid="115"/>
                                        </p:tgtEl>
                                      </p:cBhvr>
                                    </p:animEffect>
                                    <p:anim calcmode="lin" valueType="num">
                                      <p:cBhvr additive="base">
                                        <p:cTn id="10" dur="160" fill="hold">
                                          <p:stCondLst>
                                            <p:cond delay="400"/>
                                          </p:stCondLst>
                                        </p:cTn>
                                        <p:tgtEl>
                                          <p:spTgt spid="115"/>
                                        </p:tgtEl>
                                        <p:attrNameLst>
                                          <p:attrName>ppt_w</p:attrName>
                                        </p:attrNameLst>
                                      </p:cBhvr>
                                      <p:tavLst>
                                        <p:tav tm="0">
                                          <p:val>
                                            <p:strVal val="#ppt_w*1.08"/>
                                          </p:val>
                                        </p:tav>
                                        <p:tav tm="100000">
                                          <p:val>
                                            <p:strVal val="#ppt_w"/>
                                          </p:val>
                                        </p:tav>
                                      </p:tavLst>
                                    </p:anim>
                                    <p:anim calcmode="lin" valueType="num">
                                      <p:cBhvr additive="base">
                                        <p:cTn id="11" dur="160" fill="hold">
                                          <p:stCondLst>
                                            <p:cond delay="4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fade">
                                      <p:cBhvr>
                                        <p:cTn id="16" dur="500"/>
                                        <p:tgtEl>
                                          <p:spTgt spid="119"/>
                                        </p:tgtEl>
                                      </p:cBhvr>
                                    </p:animEffect>
                                    <p:anim calcmode="lin" valueType="num">
                                      <p:cBhvr additive="base">
                                        <p:cTn id="17" dur="500" decel="100000" fill="hold"/>
                                        <p:tgtEl>
                                          <p:spTgt spid="119"/>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18"/>
                                        </p:tgtEl>
                                        <p:attrNameLst>
                                          <p:attrName>style.visibility</p:attrName>
                                        </p:attrNameLst>
                                      </p:cBhvr>
                                      <p:to>
                                        <p:strVal val="visible"/>
                                      </p:to>
                                    </p:set>
                                    <p:animEffect transition="in" filter="fade">
                                      <p:cBhvr>
                                        <p:cTn id="20" dur="500"/>
                                        <p:tgtEl>
                                          <p:spTgt spid="118"/>
                                        </p:tgtEl>
                                      </p:cBhvr>
                                    </p:animEffect>
                                    <p:anim calcmode="lin" valueType="num">
                                      <p:cBhvr additive="base">
                                        <p:cTn id="21" dur="500" decel="100000" fill="hold"/>
                                        <p:tgtEl>
                                          <p:spTgt spid="118"/>
                                        </p:tgtEl>
                                        <p:attrNameLst>
                                          <p:attrName>ppt_y</p:attrName>
                                        </p:attrNameLst>
                                      </p:cBhvr>
                                      <p:tavLst>
                                        <p:tav tm="0">
                                          <p:val>
                                            <p:strVal val="#ppt_y+0.06"/>
                                          </p:val>
                                        </p:tav>
                                        <p:tav tm="100000">
                                          <p:val>
                                            <p:strVal val="#ppt_y"/>
                                          </p:val>
                                        </p:tav>
                                      </p:tavLst>
                                    </p:anim>
                                  </p:childTnLst>
                                </p:cTn>
                              </p:par>
                              <p:par>
                                <p:cTn id="22" presetID="10" presetClass="entr" presetSubtype="0" fill="hold" grpId="0" nodeType="withEffect">
                                  <p:stCondLst>
                                    <p:cond delay="120"/>
                                  </p:stCondLst>
                                  <p:childTnLst>
                                    <p:set>
                                      <p:cBhvr>
                                        <p:cTn id="23" dur="1" fill="hold">
                                          <p:stCondLst>
                                            <p:cond delay="0"/>
                                          </p:stCondLst>
                                        </p:cTn>
                                        <p:tgtEl>
                                          <p:spTgt spid="120"/>
                                        </p:tgtEl>
                                        <p:attrNameLst>
                                          <p:attrName>style.visibility</p:attrName>
                                        </p:attrNameLst>
                                      </p:cBhvr>
                                      <p:to>
                                        <p:strVal val="visible"/>
                                      </p:to>
                                    </p:set>
                                    <p:animEffect transition="in" filter="fade">
                                      <p:cBhvr>
                                        <p:cTn id="24" dur="500"/>
                                        <p:tgtEl>
                                          <p:spTgt spid="120"/>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fade">
                                      <p:cBhvr>
                                        <p:cTn id="29" dur="500"/>
                                        <p:tgtEl>
                                          <p:spTgt spid="121"/>
                                        </p:tgtEl>
                                      </p:cBhvr>
                                    </p:animEffect>
                                    <p:anim calcmode="lin" valueType="num">
                                      <p:cBhvr additive="base">
                                        <p:cTn id="30" dur="500" decel="100000" fill="hold"/>
                                        <p:tgtEl>
                                          <p:spTgt spid="121"/>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22"/>
                                        </p:tgtEl>
                                        <p:attrNameLst>
                                          <p:attrName>style.visibility</p:attrName>
                                        </p:attrNameLst>
                                      </p:cBhvr>
                                      <p:to>
                                        <p:strVal val="visible"/>
                                      </p:to>
                                    </p:set>
                                    <p:animEffect transition="in" filter="fade">
                                      <p:cBhvr>
                                        <p:cTn id="33" dur="500"/>
                                        <p:tgtEl>
                                          <p:spTgt spid="122"/>
                                        </p:tgtEl>
                                      </p:cBhvr>
                                    </p:animEffect>
                                    <p:anim calcmode="lin" valueType="num">
                                      <p:cBhvr additive="base">
                                        <p:cTn id="34" dur="500" decel="100000" fill="hold"/>
                                        <p:tgtEl>
                                          <p:spTgt spid="122"/>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23"/>
                                        </p:tgtEl>
                                        <p:attrNameLst>
                                          <p:attrName>style.visibility</p:attrName>
                                        </p:attrNameLst>
                                      </p:cBhvr>
                                      <p:to>
                                        <p:strVal val="visible"/>
                                      </p:to>
                                    </p:set>
                                    <p:animEffect transition="in" filter="fade">
                                      <p:cBhvr>
                                        <p:cTn id="37" dur="500"/>
                                        <p:tgtEl>
                                          <p:spTgt spid="123"/>
                                        </p:tgtEl>
                                      </p:cBhvr>
                                    </p:animEffect>
                                    <p:anim calcmode="lin" valueType="num">
                                      <p:cBhvr additive="base">
                                        <p:cTn id="38" dur="500" decel="100000" fill="hold"/>
                                        <p:tgtEl>
                                          <p:spTgt spid="123"/>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24"/>
                                        </p:tgtEl>
                                        <p:attrNameLst>
                                          <p:attrName>style.visibility</p:attrName>
                                        </p:attrNameLst>
                                      </p:cBhvr>
                                      <p:to>
                                        <p:strVal val="visible"/>
                                      </p:to>
                                    </p:set>
                                    <p:animEffect transition="in" filter="fade">
                                      <p:cBhvr>
                                        <p:cTn id="41" dur="500"/>
                                        <p:tgtEl>
                                          <p:spTgt spid="124"/>
                                        </p:tgtEl>
                                      </p:cBhvr>
                                    </p:animEffect>
                                    <p:anim calcmode="lin" valueType="num">
                                      <p:cBhvr additive="base">
                                        <p:cTn id="42" dur="500" decel="100000" fill="hold"/>
                                        <p:tgtEl>
                                          <p:spTgt spid="124"/>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25"/>
                                        </p:tgtEl>
                                        <p:attrNameLst>
                                          <p:attrName>style.visibility</p:attrName>
                                        </p:attrNameLst>
                                      </p:cBhvr>
                                      <p:to>
                                        <p:strVal val="visible"/>
                                      </p:to>
                                    </p:set>
                                    <p:animEffect transition="in" filter="fade">
                                      <p:cBhvr>
                                        <p:cTn id="45" dur="500"/>
                                        <p:tgtEl>
                                          <p:spTgt spid="125"/>
                                        </p:tgtEl>
                                      </p:cBhvr>
                                    </p:animEffect>
                                    <p:anim calcmode="lin" valueType="num">
                                      <p:cBhvr additive="base">
                                        <p:cTn id="46" dur="500" decel="100000" fill="hold"/>
                                        <p:tgtEl>
                                          <p:spTgt spid="125"/>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fade">
                                      <p:cBhvr>
                                        <p:cTn id="51" dur="500"/>
                                        <p:tgtEl>
                                          <p:spTgt spid="126"/>
                                        </p:tgtEl>
                                      </p:cBhvr>
                                    </p:animEffect>
                                    <p:anim calcmode="lin" valueType="num">
                                      <p:cBhvr additive="base">
                                        <p:cTn id="52" dur="500" decel="100000" fill="hold"/>
                                        <p:tgtEl>
                                          <p:spTgt spid="126"/>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27"/>
                                        </p:tgtEl>
                                        <p:attrNameLst>
                                          <p:attrName>style.visibility</p:attrName>
                                        </p:attrNameLst>
                                      </p:cBhvr>
                                      <p:to>
                                        <p:strVal val="visible"/>
                                      </p:to>
                                    </p:set>
                                    <p:animEffect transition="in" filter="fade">
                                      <p:cBhvr>
                                        <p:cTn id="55" dur="500"/>
                                        <p:tgtEl>
                                          <p:spTgt spid="127"/>
                                        </p:tgtEl>
                                      </p:cBhvr>
                                    </p:animEffect>
                                    <p:anim calcmode="lin" valueType="num">
                                      <p:cBhvr additive="base">
                                        <p:cTn id="56" dur="500" decel="100000" fill="hold"/>
                                        <p:tgtEl>
                                          <p:spTgt spid="127"/>
                                        </p:tgtEl>
                                        <p:attrNameLst>
                                          <p:attrName>ppt_x</p:attrName>
                                        </p:attrNameLst>
                                      </p:cBhvr>
                                      <p:tavLst>
                                        <p:tav tm="0">
                                          <p:val>
                                            <p:strVal val="#ppt_x+0.05"/>
                                          </p:val>
                                        </p:tav>
                                        <p:tav tm="100000">
                                          <p:val>
                                            <p:strVal val="#ppt_x"/>
                                          </p:val>
                                        </p:tav>
                                      </p:tavLst>
                                    </p:anim>
                                  </p:childTnLst>
                                </p:cTn>
                              </p:par>
                              <p:par>
                                <p:cTn id="57" presetID="42" presetClass="entr" presetSubtype="0" fill="hold" nodeType="withEffect">
                                  <p:stCondLst>
                                    <p:cond delay="0"/>
                                  </p:stCondLst>
                                  <p:childTnLst>
                                    <p:set>
                                      <p:cBhvr>
                                        <p:cTn id="58" dur="1" fill="hold">
                                          <p:stCondLst>
                                            <p:cond delay="0"/>
                                          </p:stCondLst>
                                        </p:cTn>
                                        <p:tgtEl>
                                          <p:spTgt spid="128"/>
                                        </p:tgtEl>
                                        <p:attrNameLst>
                                          <p:attrName>style.visibility</p:attrName>
                                        </p:attrNameLst>
                                      </p:cBhvr>
                                      <p:to>
                                        <p:strVal val="visible"/>
                                      </p:to>
                                    </p:set>
                                    <p:animEffect transition="in" filter="fade">
                                      <p:cBhvr>
                                        <p:cTn id="59" dur="500"/>
                                        <p:tgtEl>
                                          <p:spTgt spid="128"/>
                                        </p:tgtEl>
                                      </p:cBhvr>
                                    </p:animEffect>
                                    <p:anim calcmode="lin" valueType="num">
                                      <p:cBhvr additive="base">
                                        <p:cTn id="60" dur="500" decel="100000" fill="hold"/>
                                        <p:tgtEl>
                                          <p:spTgt spid="128"/>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29"/>
                                        </p:tgtEl>
                                        <p:attrNameLst>
                                          <p:attrName>style.visibility</p:attrName>
                                        </p:attrNameLst>
                                      </p:cBhvr>
                                      <p:to>
                                        <p:strVal val="visible"/>
                                      </p:to>
                                    </p:set>
                                    <p:animEffect transition="in" filter="fade">
                                      <p:cBhvr>
                                        <p:cTn id="63" dur="500"/>
                                        <p:tgtEl>
                                          <p:spTgt spid="129"/>
                                        </p:tgtEl>
                                      </p:cBhvr>
                                    </p:animEffect>
                                    <p:anim calcmode="lin" valueType="num">
                                      <p:cBhvr additive="base">
                                        <p:cTn id="64" dur="500" decel="100000" fill="hold"/>
                                        <p:tgtEl>
                                          <p:spTgt spid="129"/>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500"/>
                                        <p:tgtEl>
                                          <p:spTgt spid="130"/>
                                        </p:tgtEl>
                                      </p:cBhvr>
                                    </p:animEffect>
                                    <p:anim calcmode="lin" valueType="num">
                                      <p:cBhvr additive="base">
                                        <p:cTn id="68"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20" grpId="0" animBg="1"/>
      <p:bldP spid="121" grpId="0" animBg="1"/>
      <p:bldP spid="122" grpId="0" animBg="1"/>
      <p:bldP spid="124" grpId="0" animBg="1"/>
      <p:bldP spid="125" grpId="0" animBg="1"/>
      <p:bldP spid="126" grpId="0" animBg="1"/>
      <p:bldP spid="127" grpId="0" animBg="1"/>
      <p:bldP spid="129" grpId="0" animBg="1"/>
      <p:bldP spid="130"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PRINCIPLE 05</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Build Around Motivated People</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217</a:t>
            </a:r>
            <a:endParaRPr lang="en-US" sz="850" dirty="0"/>
          </a:p>
        </p:txBody>
      </p:sp>
      <p:sp>
        <p:nvSpPr>
          <p:cNvPr id="101" name="!!trk0"/>
          <p:cNvSpPr/>
          <p:nvPr/>
        </p:nvSpPr>
        <p:spPr>
          <a:xfrm>
            <a:off x="770839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a:t>
            </a:r>
            <a:endParaRPr lang="en-US" sz="700" dirty="0"/>
          </a:p>
        </p:txBody>
      </p:sp>
      <p:sp>
        <p:nvSpPr>
          <p:cNvPr id="102" name="!!trk1"/>
          <p:cNvSpPr/>
          <p:nvPr/>
        </p:nvSpPr>
        <p:spPr>
          <a:xfrm>
            <a:off x="803757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2</a:t>
            </a:r>
            <a:endParaRPr lang="en-US" sz="700" dirty="0"/>
          </a:p>
        </p:txBody>
      </p:sp>
      <p:sp>
        <p:nvSpPr>
          <p:cNvPr id="103" name="!!trk2"/>
          <p:cNvSpPr/>
          <p:nvPr/>
        </p:nvSpPr>
        <p:spPr>
          <a:xfrm>
            <a:off x="836676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3</a:t>
            </a:r>
            <a:endParaRPr lang="en-US" sz="700" dirty="0"/>
          </a:p>
        </p:txBody>
      </p:sp>
      <p:sp>
        <p:nvSpPr>
          <p:cNvPr id="104" name="!!trk3"/>
          <p:cNvSpPr/>
          <p:nvPr/>
        </p:nvSpPr>
        <p:spPr>
          <a:xfrm>
            <a:off x="8695944"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4</a:t>
            </a:r>
            <a:endParaRPr lang="en-US" sz="700" dirty="0"/>
          </a:p>
        </p:txBody>
      </p:sp>
      <p:sp>
        <p:nvSpPr>
          <p:cNvPr id="105" name="!!trk4"/>
          <p:cNvSpPr/>
          <p:nvPr/>
        </p:nvSpPr>
        <p:spPr>
          <a:xfrm>
            <a:off x="9025128" y="457200"/>
            <a:ext cx="265176" cy="265176"/>
          </a:xfrm>
          <a:prstGeom prst="ellipse">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0F172A"/>
                </a:solidFill>
                <a:latin typeface="Segoe UI"/>
                <a:ea typeface="Segoe UI"/>
                <a:cs typeface="Segoe UI"/>
              </a:rPr>
              <a:t>5</a:t>
            </a:r>
            <a:endParaRPr lang="en-US" sz="700" dirty="0"/>
          </a:p>
        </p:txBody>
      </p:sp>
      <p:sp>
        <p:nvSpPr>
          <p:cNvPr id="106" name="!!trk5"/>
          <p:cNvSpPr/>
          <p:nvPr/>
        </p:nvSpPr>
        <p:spPr>
          <a:xfrm>
            <a:off x="935431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6</a:t>
            </a:r>
            <a:endParaRPr lang="en-US" sz="700" dirty="0"/>
          </a:p>
        </p:txBody>
      </p:sp>
      <p:sp>
        <p:nvSpPr>
          <p:cNvPr id="107" name="!!trk6"/>
          <p:cNvSpPr/>
          <p:nvPr/>
        </p:nvSpPr>
        <p:spPr>
          <a:xfrm>
            <a:off x="968349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7</a:t>
            </a:r>
            <a:endParaRPr lang="en-US" sz="700" dirty="0"/>
          </a:p>
        </p:txBody>
      </p:sp>
      <p:sp>
        <p:nvSpPr>
          <p:cNvPr id="108" name="!!trk7"/>
          <p:cNvSpPr/>
          <p:nvPr/>
        </p:nvSpPr>
        <p:spPr>
          <a:xfrm>
            <a:off x="10012680"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8</a:t>
            </a:r>
            <a:endParaRPr lang="en-US" sz="700" dirty="0"/>
          </a:p>
        </p:txBody>
      </p:sp>
      <p:sp>
        <p:nvSpPr>
          <p:cNvPr id="109" name="!!trk8"/>
          <p:cNvSpPr/>
          <p:nvPr/>
        </p:nvSpPr>
        <p:spPr>
          <a:xfrm>
            <a:off x="10341864"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9</a:t>
            </a:r>
            <a:endParaRPr lang="en-US" sz="700" dirty="0"/>
          </a:p>
        </p:txBody>
      </p:sp>
      <p:sp>
        <p:nvSpPr>
          <p:cNvPr id="110" name="!!trk9"/>
          <p:cNvSpPr/>
          <p:nvPr/>
        </p:nvSpPr>
        <p:spPr>
          <a:xfrm>
            <a:off x="1067104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10</a:t>
            </a:r>
            <a:endParaRPr lang="en-US" sz="700" dirty="0"/>
          </a:p>
        </p:txBody>
      </p:sp>
      <p:sp>
        <p:nvSpPr>
          <p:cNvPr id="111" name="!!trk10"/>
          <p:cNvSpPr/>
          <p:nvPr/>
        </p:nvSpPr>
        <p:spPr>
          <a:xfrm>
            <a:off x="1100023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11</a:t>
            </a:r>
            <a:endParaRPr lang="en-US" sz="700" dirty="0"/>
          </a:p>
        </p:txBody>
      </p:sp>
      <p:sp>
        <p:nvSpPr>
          <p:cNvPr id="112" name="!!trk11"/>
          <p:cNvSpPr/>
          <p:nvPr/>
        </p:nvSpPr>
        <p:spPr>
          <a:xfrm>
            <a:off x="1132941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12</a:t>
            </a:r>
            <a:endParaRPr lang="en-US" sz="700" dirty="0"/>
          </a:p>
        </p:txBody>
      </p:sp>
      <p:sp>
        <p:nvSpPr>
          <p:cNvPr id="113" name="!!pnum"/>
          <p:cNvSpPr txBox="1"/>
          <p:nvPr/>
        </p:nvSpPr>
        <p:spPr>
          <a:xfrm>
            <a:off x="506578" y="1600200"/>
            <a:ext cx="2194560" cy="11887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7200" b="1" dirty="0">
                <a:solidFill>
                  <a:srgbClr val="FBBF24"/>
                </a:solidFill>
                <a:latin typeface="Segoe UI"/>
                <a:ea typeface="Segoe UI"/>
                <a:cs typeface="Segoe UI"/>
              </a:rPr>
              <a:t>05</a:t>
            </a:r>
            <a:endParaRPr lang="en-US" sz="7200" dirty="0"/>
          </a:p>
        </p:txBody>
      </p:sp>
      <p:sp>
        <p:nvSpPr>
          <p:cNvPr id="114" name="s114"/>
          <p:cNvSpPr/>
          <p:nvPr/>
        </p:nvSpPr>
        <p:spPr>
          <a:xfrm>
            <a:off x="3057754" y="1828800"/>
            <a:ext cx="777240" cy="7772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3244291" y="2015338"/>
            <a:ext cx="404165" cy="404165"/>
          </a:xfrm>
          <a:prstGeom prst="rect">
            <a:avLst/>
          </a:prstGeom>
        </p:spPr>
      </p:pic>
      <p:sp>
        <p:nvSpPr>
          <p:cNvPr id="116" name="!!def"/>
          <p:cNvSpPr/>
          <p:nvPr/>
        </p:nvSpPr>
        <p:spPr>
          <a:xfrm>
            <a:off x="543154" y="2926080"/>
            <a:ext cx="3886200" cy="868680"/>
          </a:xfrm>
          <a:prstGeom prst="roundRect">
            <a:avLst>
              <a:gd name="adj" fmla="val 12000"/>
            </a:avLst>
          </a:prstGeom>
          <a:solidFill>
            <a:srgbClr val="FBBF24">
              <a:alpha val="10000"/>
            </a:srgbClr>
          </a:solidFill>
          <a:ln w="12700">
            <a:solidFill>
              <a:srgbClr val="FBBF24"/>
            </a:solidFill>
            <a:prstDash val="solid"/>
          </a:ln>
        </p:spPr>
        <p:txBody>
          <a:bodyPr wrap="square" lIns="201168" tIns="45720" rIns="137160" bIns="45720" rtlCol="0" anchor="ctr">
            <a:noAutofit/>
          </a:bodyPr>
          <a:lstStyle/>
          <a:p>
            <a:pPr marL="0" indent="0" algn="l">
              <a:spcBef>
                <a:spcPts val="0"/>
              </a:spcBef>
              <a:spcAft>
                <a:spcPts val="200"/>
              </a:spcAft>
              <a:buNone/>
            </a:pPr>
            <a:r>
              <a:rPr lang="en-US" sz="1000" b="1" dirty="0">
                <a:solidFill>
                  <a:srgbClr val="FBBF24"/>
                </a:solidFill>
                <a:latin typeface="Segoe UI"/>
                <a:ea typeface="Segoe UI"/>
                <a:cs typeface="Segoe UI"/>
              </a:rPr>
              <a:t>IN SHORT</a:t>
            </a:r>
            <a:endParaRPr lang="en-US" sz="1000" dirty="0"/>
          </a:p>
          <a:p>
            <a:pPr marL="0" indent="0" algn="l">
              <a:spcBef>
                <a:spcPts val="0"/>
              </a:spcBef>
              <a:spcAft>
                <a:spcPts val="0"/>
              </a:spcAft>
              <a:buNone/>
            </a:pPr>
            <a:r>
              <a:rPr lang="en-US" sz="1450" b="1" dirty="0">
                <a:solidFill>
                  <a:srgbClr val="FFFFFF"/>
                </a:solidFill>
                <a:latin typeface="Segoe UI"/>
                <a:ea typeface="Segoe UI"/>
                <a:cs typeface="Segoe UI"/>
              </a:rPr>
              <a:t>Support and trust the team.</a:t>
            </a:r>
            <a:endParaRPr lang="en-US" sz="1450" dirty="0"/>
          </a:p>
        </p:txBody>
      </p:sp>
      <p:sp>
        <p:nvSpPr>
          <p:cNvPr id="117" name="!!quote"/>
          <p:cNvSpPr/>
          <p:nvPr/>
        </p:nvSpPr>
        <p:spPr>
          <a:xfrm>
            <a:off x="543154" y="3931920"/>
            <a:ext cx="3886200" cy="1691640"/>
          </a:xfrm>
          <a:prstGeom prst="roundRect">
            <a:avLst>
              <a:gd name="adj" fmla="val 8000"/>
            </a:avLst>
          </a:prstGeom>
          <a:solidFill>
            <a:srgbClr val="111B2E"/>
          </a:solidFill>
          <a:ln w="12700">
            <a:solidFill>
              <a:srgbClr val="1E3A5F"/>
            </a:solidFill>
            <a:prstDash val="solid"/>
          </a:ln>
        </p:spPr>
        <p:txBody>
          <a:bodyPr wrap="square" lIns="201168" tIns="146304" rIns="164592" bIns="91440" rtlCol="0" anchor="t">
            <a:noAutofit/>
          </a:bodyPr>
          <a:lstStyle/>
          <a:p>
            <a:pPr marL="0" indent="0" algn="l">
              <a:spcBef>
                <a:spcPts val="0"/>
              </a:spcBef>
              <a:spcAft>
                <a:spcPts val="400"/>
              </a:spcAft>
              <a:buNone/>
            </a:pPr>
            <a:r>
              <a:rPr lang="en-US" sz="1000" b="1" dirty="0">
                <a:solidFill>
                  <a:srgbClr val="94A3B8"/>
                </a:solidFill>
                <a:latin typeface="Segoe UI"/>
                <a:ea typeface="Segoe UI"/>
                <a:cs typeface="Segoe UI"/>
              </a:rPr>
              <a:t>THE MANIFESTO SAYS</a:t>
            </a:r>
            <a:endParaRPr lang="en-US" sz="1000" dirty="0"/>
          </a:p>
          <a:p>
            <a:pPr marL="0" indent="0" algn="l">
              <a:lnSpc>
                <a:spcPct val="110000"/>
              </a:lnSpc>
              <a:spcBef>
                <a:spcPts val="0"/>
              </a:spcBef>
              <a:spcAft>
                <a:spcPts val="0"/>
              </a:spcAft>
              <a:buNone/>
            </a:pPr>
            <a:r>
              <a:rPr lang="en-US" sz="1250" b="0" i="1" dirty="0">
                <a:solidFill>
                  <a:srgbClr val="CBD5E1"/>
                </a:solidFill>
                <a:latin typeface="Segoe UI"/>
                <a:ea typeface="Segoe UI"/>
                <a:cs typeface="Segoe UI"/>
              </a:rPr>
              <a:t>“Build projects around motivated individuals. Give them the environment and support they need, and trust them to get the job done.”</a:t>
            </a:r>
            <a:endParaRPr lang="en-US" sz="1250" dirty="0"/>
          </a:p>
        </p:txBody>
      </p:sp>
      <p:sp>
        <p:nvSpPr>
          <p:cNvPr id="118" name="s118"/>
          <p:cNvSpPr/>
          <p:nvPr/>
        </p:nvSpPr>
        <p:spPr>
          <a:xfrm>
            <a:off x="4886554" y="209397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19" name="s119"/>
          <p:cNvSpPr/>
          <p:nvPr/>
        </p:nvSpPr>
        <p:spPr>
          <a:xfrm>
            <a:off x="4703674" y="1783080"/>
            <a:ext cx="6927494" cy="91440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Does micromanaging every commit make the software better?</a:t>
            </a:r>
            <a:endParaRPr lang="en-US" sz="1450" dirty="0"/>
          </a:p>
        </p:txBody>
      </p:sp>
      <p:sp>
        <p:nvSpPr>
          <p:cNvPr id="120" name="s120"/>
          <p:cNvSpPr/>
          <p:nvPr/>
        </p:nvSpPr>
        <p:spPr>
          <a:xfrm>
            <a:off x="4703674" y="2862072"/>
            <a:ext cx="283464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CASE · Food Delivery Platform</a:t>
            </a:r>
            <a:endParaRPr lang="en-US" sz="1000" dirty="0"/>
          </a:p>
        </p:txBody>
      </p:sp>
      <p:sp>
        <p:nvSpPr>
          <p:cNvPr id="121" name="s121"/>
          <p:cNvSpPr/>
          <p:nvPr/>
        </p:nvSpPr>
        <p:spPr>
          <a:xfrm>
            <a:off x="4703674" y="3337560"/>
            <a:ext cx="3349447" cy="22860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p:nvPr/>
        </p:nvSpPr>
        <p:spPr>
          <a:xfrm>
            <a:off x="4904842" y="3520440"/>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5"/>
          <a:stretch>
            <a:fillRect/>
          </a:stretch>
        </p:blipFill>
        <p:spPr>
          <a:xfrm>
            <a:off x="5014570" y="3630168"/>
            <a:ext cx="237744" cy="237744"/>
          </a:xfrm>
          <a:prstGeom prst="rect">
            <a:avLst/>
          </a:prstGeom>
        </p:spPr>
      </p:pic>
      <p:sp>
        <p:nvSpPr>
          <p:cNvPr id="124" name="s124"/>
          <p:cNvSpPr txBox="1"/>
          <p:nvPr/>
        </p:nvSpPr>
        <p:spPr>
          <a:xfrm>
            <a:off x="5480914"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IGNORE IT</a:t>
            </a:r>
            <a:endParaRPr lang="en-US" sz="1200" dirty="0"/>
          </a:p>
        </p:txBody>
      </p:sp>
      <p:sp>
        <p:nvSpPr>
          <p:cNvPr id="125" name="s125"/>
          <p:cNvSpPr txBox="1"/>
          <p:nvPr/>
        </p:nvSpPr>
        <p:spPr>
          <a:xfrm>
            <a:off x="4932274"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0" dirty="0">
                <a:solidFill>
                  <a:srgbClr val="E2E8F0"/>
                </a:solidFill>
                <a:latin typeface="Segoe UI"/>
                <a:ea typeface="Segoe UI"/>
                <a:cs typeface="Segoe UI"/>
              </a:rPr>
              <a:t>Approve every line; nobody owns anything.</a:t>
            </a:r>
            <a:endParaRPr lang="en-US" sz="1500" dirty="0"/>
          </a:p>
        </p:txBody>
      </p:sp>
      <p:sp>
        <p:nvSpPr>
          <p:cNvPr id="126" name="s126"/>
          <p:cNvSpPr/>
          <p:nvPr/>
        </p:nvSpPr>
        <p:spPr>
          <a:xfrm>
            <a:off x="8281721" y="3337560"/>
            <a:ext cx="3349447" cy="2286000"/>
          </a:xfrm>
          <a:prstGeom prst="roundRect">
            <a:avLst>
              <a:gd name="adj" fmla="val 8000"/>
            </a:avLst>
          </a:prstGeom>
          <a:solidFill>
            <a:srgbClr val="34D399">
              <a:alpha val="8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482889" y="352044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6"/>
          <a:stretch>
            <a:fillRect/>
          </a:stretch>
        </p:blipFill>
        <p:spPr>
          <a:xfrm>
            <a:off x="8592617" y="3630168"/>
            <a:ext cx="237744" cy="237744"/>
          </a:xfrm>
          <a:prstGeom prst="rect">
            <a:avLst/>
          </a:prstGeom>
        </p:spPr>
      </p:pic>
      <p:sp>
        <p:nvSpPr>
          <p:cNvPr id="129" name="s129"/>
          <p:cNvSpPr txBox="1"/>
          <p:nvPr/>
        </p:nvSpPr>
        <p:spPr>
          <a:xfrm>
            <a:off x="9058961"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APPLY IT</a:t>
            </a:r>
            <a:endParaRPr lang="en-US" sz="1200" dirty="0"/>
          </a:p>
        </p:txBody>
      </p:sp>
      <p:sp>
        <p:nvSpPr>
          <p:cNvPr id="130" name="s130"/>
          <p:cNvSpPr txBox="1"/>
          <p:nvPr/>
        </p:nvSpPr>
        <p:spPr>
          <a:xfrm>
            <a:off x="8510321"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FFFFF"/>
                </a:solidFill>
                <a:latin typeface="Segoe UI"/>
                <a:ea typeface="Segoe UI"/>
                <a:cs typeface="Segoe UI"/>
              </a:rPr>
              <a:t>A clear goal, trust, and blockers removed fast.</a:t>
            </a:r>
            <a:endParaRPr lang="en-US" sz="15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30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4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 dur="400" decel="100000" fill="hold"/>
                                        <p:tgtEl>
                                          <p:spTgt spid="115"/>
                                        </p:tgtEl>
                                        <p:attrNameLst>
                                          <p:attrName>ppt_h</p:attrName>
                                        </p:attrNameLst>
                                      </p:cBhvr>
                                      <p:tavLst>
                                        <p:tav tm="0">
                                          <p:val>
                                            <p:strVal val="#ppt_h*0.3"/>
                                          </p:val>
                                        </p:tav>
                                        <p:tav tm="100000">
                                          <p:val>
                                            <p:strVal val="#ppt_h*1.08"/>
                                          </p:val>
                                        </p:tav>
                                      </p:tavLst>
                                    </p:anim>
                                    <p:animEffect transition="in" filter="fade">
                                      <p:cBhvr>
                                        <p:cTn id="9" dur="200"/>
                                        <p:tgtEl>
                                          <p:spTgt spid="115"/>
                                        </p:tgtEl>
                                      </p:cBhvr>
                                    </p:animEffect>
                                    <p:anim calcmode="lin" valueType="num">
                                      <p:cBhvr additive="base">
                                        <p:cTn id="10" dur="160" fill="hold">
                                          <p:stCondLst>
                                            <p:cond delay="400"/>
                                          </p:stCondLst>
                                        </p:cTn>
                                        <p:tgtEl>
                                          <p:spTgt spid="115"/>
                                        </p:tgtEl>
                                        <p:attrNameLst>
                                          <p:attrName>ppt_w</p:attrName>
                                        </p:attrNameLst>
                                      </p:cBhvr>
                                      <p:tavLst>
                                        <p:tav tm="0">
                                          <p:val>
                                            <p:strVal val="#ppt_w*1.08"/>
                                          </p:val>
                                        </p:tav>
                                        <p:tav tm="100000">
                                          <p:val>
                                            <p:strVal val="#ppt_w"/>
                                          </p:val>
                                        </p:tav>
                                      </p:tavLst>
                                    </p:anim>
                                    <p:anim calcmode="lin" valueType="num">
                                      <p:cBhvr additive="base">
                                        <p:cTn id="11" dur="160" fill="hold">
                                          <p:stCondLst>
                                            <p:cond delay="4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fade">
                                      <p:cBhvr>
                                        <p:cTn id="16" dur="500"/>
                                        <p:tgtEl>
                                          <p:spTgt spid="119"/>
                                        </p:tgtEl>
                                      </p:cBhvr>
                                    </p:animEffect>
                                    <p:anim calcmode="lin" valueType="num">
                                      <p:cBhvr additive="base">
                                        <p:cTn id="17" dur="500" decel="100000" fill="hold"/>
                                        <p:tgtEl>
                                          <p:spTgt spid="119"/>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18"/>
                                        </p:tgtEl>
                                        <p:attrNameLst>
                                          <p:attrName>style.visibility</p:attrName>
                                        </p:attrNameLst>
                                      </p:cBhvr>
                                      <p:to>
                                        <p:strVal val="visible"/>
                                      </p:to>
                                    </p:set>
                                    <p:animEffect transition="in" filter="fade">
                                      <p:cBhvr>
                                        <p:cTn id="20" dur="500"/>
                                        <p:tgtEl>
                                          <p:spTgt spid="118"/>
                                        </p:tgtEl>
                                      </p:cBhvr>
                                    </p:animEffect>
                                    <p:anim calcmode="lin" valueType="num">
                                      <p:cBhvr additive="base">
                                        <p:cTn id="21" dur="500" decel="100000" fill="hold"/>
                                        <p:tgtEl>
                                          <p:spTgt spid="118"/>
                                        </p:tgtEl>
                                        <p:attrNameLst>
                                          <p:attrName>ppt_y</p:attrName>
                                        </p:attrNameLst>
                                      </p:cBhvr>
                                      <p:tavLst>
                                        <p:tav tm="0">
                                          <p:val>
                                            <p:strVal val="#ppt_y+0.06"/>
                                          </p:val>
                                        </p:tav>
                                        <p:tav tm="100000">
                                          <p:val>
                                            <p:strVal val="#ppt_y"/>
                                          </p:val>
                                        </p:tav>
                                      </p:tavLst>
                                    </p:anim>
                                  </p:childTnLst>
                                </p:cTn>
                              </p:par>
                              <p:par>
                                <p:cTn id="22" presetID="10" presetClass="entr" presetSubtype="0" fill="hold" grpId="0" nodeType="withEffect">
                                  <p:stCondLst>
                                    <p:cond delay="120"/>
                                  </p:stCondLst>
                                  <p:childTnLst>
                                    <p:set>
                                      <p:cBhvr>
                                        <p:cTn id="23" dur="1" fill="hold">
                                          <p:stCondLst>
                                            <p:cond delay="0"/>
                                          </p:stCondLst>
                                        </p:cTn>
                                        <p:tgtEl>
                                          <p:spTgt spid="120"/>
                                        </p:tgtEl>
                                        <p:attrNameLst>
                                          <p:attrName>style.visibility</p:attrName>
                                        </p:attrNameLst>
                                      </p:cBhvr>
                                      <p:to>
                                        <p:strVal val="visible"/>
                                      </p:to>
                                    </p:set>
                                    <p:animEffect transition="in" filter="fade">
                                      <p:cBhvr>
                                        <p:cTn id="24" dur="500"/>
                                        <p:tgtEl>
                                          <p:spTgt spid="120"/>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fade">
                                      <p:cBhvr>
                                        <p:cTn id="29" dur="500"/>
                                        <p:tgtEl>
                                          <p:spTgt spid="121"/>
                                        </p:tgtEl>
                                      </p:cBhvr>
                                    </p:animEffect>
                                    <p:anim calcmode="lin" valueType="num">
                                      <p:cBhvr additive="base">
                                        <p:cTn id="30" dur="500" decel="100000" fill="hold"/>
                                        <p:tgtEl>
                                          <p:spTgt spid="121"/>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22"/>
                                        </p:tgtEl>
                                        <p:attrNameLst>
                                          <p:attrName>style.visibility</p:attrName>
                                        </p:attrNameLst>
                                      </p:cBhvr>
                                      <p:to>
                                        <p:strVal val="visible"/>
                                      </p:to>
                                    </p:set>
                                    <p:animEffect transition="in" filter="fade">
                                      <p:cBhvr>
                                        <p:cTn id="33" dur="500"/>
                                        <p:tgtEl>
                                          <p:spTgt spid="122"/>
                                        </p:tgtEl>
                                      </p:cBhvr>
                                    </p:animEffect>
                                    <p:anim calcmode="lin" valueType="num">
                                      <p:cBhvr additive="base">
                                        <p:cTn id="34" dur="500" decel="100000" fill="hold"/>
                                        <p:tgtEl>
                                          <p:spTgt spid="122"/>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23"/>
                                        </p:tgtEl>
                                        <p:attrNameLst>
                                          <p:attrName>style.visibility</p:attrName>
                                        </p:attrNameLst>
                                      </p:cBhvr>
                                      <p:to>
                                        <p:strVal val="visible"/>
                                      </p:to>
                                    </p:set>
                                    <p:animEffect transition="in" filter="fade">
                                      <p:cBhvr>
                                        <p:cTn id="37" dur="500"/>
                                        <p:tgtEl>
                                          <p:spTgt spid="123"/>
                                        </p:tgtEl>
                                      </p:cBhvr>
                                    </p:animEffect>
                                    <p:anim calcmode="lin" valueType="num">
                                      <p:cBhvr additive="base">
                                        <p:cTn id="38" dur="500" decel="100000" fill="hold"/>
                                        <p:tgtEl>
                                          <p:spTgt spid="123"/>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24"/>
                                        </p:tgtEl>
                                        <p:attrNameLst>
                                          <p:attrName>style.visibility</p:attrName>
                                        </p:attrNameLst>
                                      </p:cBhvr>
                                      <p:to>
                                        <p:strVal val="visible"/>
                                      </p:to>
                                    </p:set>
                                    <p:animEffect transition="in" filter="fade">
                                      <p:cBhvr>
                                        <p:cTn id="41" dur="500"/>
                                        <p:tgtEl>
                                          <p:spTgt spid="124"/>
                                        </p:tgtEl>
                                      </p:cBhvr>
                                    </p:animEffect>
                                    <p:anim calcmode="lin" valueType="num">
                                      <p:cBhvr additive="base">
                                        <p:cTn id="42" dur="500" decel="100000" fill="hold"/>
                                        <p:tgtEl>
                                          <p:spTgt spid="124"/>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25"/>
                                        </p:tgtEl>
                                        <p:attrNameLst>
                                          <p:attrName>style.visibility</p:attrName>
                                        </p:attrNameLst>
                                      </p:cBhvr>
                                      <p:to>
                                        <p:strVal val="visible"/>
                                      </p:to>
                                    </p:set>
                                    <p:animEffect transition="in" filter="fade">
                                      <p:cBhvr>
                                        <p:cTn id="45" dur="500"/>
                                        <p:tgtEl>
                                          <p:spTgt spid="125"/>
                                        </p:tgtEl>
                                      </p:cBhvr>
                                    </p:animEffect>
                                    <p:anim calcmode="lin" valueType="num">
                                      <p:cBhvr additive="base">
                                        <p:cTn id="46" dur="500" decel="100000" fill="hold"/>
                                        <p:tgtEl>
                                          <p:spTgt spid="125"/>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fade">
                                      <p:cBhvr>
                                        <p:cTn id="51" dur="500"/>
                                        <p:tgtEl>
                                          <p:spTgt spid="126"/>
                                        </p:tgtEl>
                                      </p:cBhvr>
                                    </p:animEffect>
                                    <p:anim calcmode="lin" valueType="num">
                                      <p:cBhvr additive="base">
                                        <p:cTn id="52" dur="500" decel="100000" fill="hold"/>
                                        <p:tgtEl>
                                          <p:spTgt spid="126"/>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27"/>
                                        </p:tgtEl>
                                        <p:attrNameLst>
                                          <p:attrName>style.visibility</p:attrName>
                                        </p:attrNameLst>
                                      </p:cBhvr>
                                      <p:to>
                                        <p:strVal val="visible"/>
                                      </p:to>
                                    </p:set>
                                    <p:animEffect transition="in" filter="fade">
                                      <p:cBhvr>
                                        <p:cTn id="55" dur="500"/>
                                        <p:tgtEl>
                                          <p:spTgt spid="127"/>
                                        </p:tgtEl>
                                      </p:cBhvr>
                                    </p:animEffect>
                                    <p:anim calcmode="lin" valueType="num">
                                      <p:cBhvr additive="base">
                                        <p:cTn id="56" dur="500" decel="100000" fill="hold"/>
                                        <p:tgtEl>
                                          <p:spTgt spid="127"/>
                                        </p:tgtEl>
                                        <p:attrNameLst>
                                          <p:attrName>ppt_x</p:attrName>
                                        </p:attrNameLst>
                                      </p:cBhvr>
                                      <p:tavLst>
                                        <p:tav tm="0">
                                          <p:val>
                                            <p:strVal val="#ppt_x+0.05"/>
                                          </p:val>
                                        </p:tav>
                                        <p:tav tm="100000">
                                          <p:val>
                                            <p:strVal val="#ppt_x"/>
                                          </p:val>
                                        </p:tav>
                                      </p:tavLst>
                                    </p:anim>
                                  </p:childTnLst>
                                </p:cTn>
                              </p:par>
                              <p:par>
                                <p:cTn id="57" presetID="42" presetClass="entr" presetSubtype="0" fill="hold" nodeType="withEffect">
                                  <p:stCondLst>
                                    <p:cond delay="0"/>
                                  </p:stCondLst>
                                  <p:childTnLst>
                                    <p:set>
                                      <p:cBhvr>
                                        <p:cTn id="58" dur="1" fill="hold">
                                          <p:stCondLst>
                                            <p:cond delay="0"/>
                                          </p:stCondLst>
                                        </p:cTn>
                                        <p:tgtEl>
                                          <p:spTgt spid="128"/>
                                        </p:tgtEl>
                                        <p:attrNameLst>
                                          <p:attrName>style.visibility</p:attrName>
                                        </p:attrNameLst>
                                      </p:cBhvr>
                                      <p:to>
                                        <p:strVal val="visible"/>
                                      </p:to>
                                    </p:set>
                                    <p:animEffect transition="in" filter="fade">
                                      <p:cBhvr>
                                        <p:cTn id="59" dur="500"/>
                                        <p:tgtEl>
                                          <p:spTgt spid="128"/>
                                        </p:tgtEl>
                                      </p:cBhvr>
                                    </p:animEffect>
                                    <p:anim calcmode="lin" valueType="num">
                                      <p:cBhvr additive="base">
                                        <p:cTn id="60" dur="500" decel="100000" fill="hold"/>
                                        <p:tgtEl>
                                          <p:spTgt spid="128"/>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29"/>
                                        </p:tgtEl>
                                        <p:attrNameLst>
                                          <p:attrName>style.visibility</p:attrName>
                                        </p:attrNameLst>
                                      </p:cBhvr>
                                      <p:to>
                                        <p:strVal val="visible"/>
                                      </p:to>
                                    </p:set>
                                    <p:animEffect transition="in" filter="fade">
                                      <p:cBhvr>
                                        <p:cTn id="63" dur="500"/>
                                        <p:tgtEl>
                                          <p:spTgt spid="129"/>
                                        </p:tgtEl>
                                      </p:cBhvr>
                                    </p:animEffect>
                                    <p:anim calcmode="lin" valueType="num">
                                      <p:cBhvr additive="base">
                                        <p:cTn id="64" dur="500" decel="100000" fill="hold"/>
                                        <p:tgtEl>
                                          <p:spTgt spid="129"/>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500"/>
                                        <p:tgtEl>
                                          <p:spTgt spid="130"/>
                                        </p:tgtEl>
                                      </p:cBhvr>
                                    </p:animEffect>
                                    <p:anim calcmode="lin" valueType="num">
                                      <p:cBhvr additive="base">
                                        <p:cTn id="68"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20" grpId="0" animBg="1"/>
      <p:bldP spid="121" grpId="0" animBg="1"/>
      <p:bldP spid="122" grpId="0" animBg="1"/>
      <p:bldP spid="124" grpId="0" animBg="1"/>
      <p:bldP spid="125" grpId="0" animBg="1"/>
      <p:bldP spid="126" grpId="0" animBg="1"/>
      <p:bldP spid="127" grpId="0" animBg="1"/>
      <p:bldP spid="129" grpId="0" animBg="1"/>
      <p:bldP spid="130"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PRINCIPLE 06</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Face-to-Face Conversation</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218</a:t>
            </a:r>
            <a:endParaRPr lang="en-US" sz="850" dirty="0"/>
          </a:p>
        </p:txBody>
      </p:sp>
      <p:sp>
        <p:nvSpPr>
          <p:cNvPr id="101" name="!!trk0"/>
          <p:cNvSpPr/>
          <p:nvPr/>
        </p:nvSpPr>
        <p:spPr>
          <a:xfrm>
            <a:off x="770839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a:t>
            </a:r>
            <a:endParaRPr lang="en-US" sz="700" dirty="0"/>
          </a:p>
        </p:txBody>
      </p:sp>
      <p:sp>
        <p:nvSpPr>
          <p:cNvPr id="102" name="!!trk1"/>
          <p:cNvSpPr/>
          <p:nvPr/>
        </p:nvSpPr>
        <p:spPr>
          <a:xfrm>
            <a:off x="803757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2</a:t>
            </a:r>
            <a:endParaRPr lang="en-US" sz="700" dirty="0"/>
          </a:p>
        </p:txBody>
      </p:sp>
      <p:sp>
        <p:nvSpPr>
          <p:cNvPr id="103" name="!!trk2"/>
          <p:cNvSpPr/>
          <p:nvPr/>
        </p:nvSpPr>
        <p:spPr>
          <a:xfrm>
            <a:off x="836676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3</a:t>
            </a:r>
            <a:endParaRPr lang="en-US" sz="700" dirty="0"/>
          </a:p>
        </p:txBody>
      </p:sp>
      <p:sp>
        <p:nvSpPr>
          <p:cNvPr id="104" name="!!trk3"/>
          <p:cNvSpPr/>
          <p:nvPr/>
        </p:nvSpPr>
        <p:spPr>
          <a:xfrm>
            <a:off x="8695944"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4</a:t>
            </a:r>
            <a:endParaRPr lang="en-US" sz="700" dirty="0"/>
          </a:p>
        </p:txBody>
      </p:sp>
      <p:sp>
        <p:nvSpPr>
          <p:cNvPr id="105" name="!!trk4"/>
          <p:cNvSpPr/>
          <p:nvPr/>
        </p:nvSpPr>
        <p:spPr>
          <a:xfrm>
            <a:off x="9025128"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5</a:t>
            </a:r>
            <a:endParaRPr lang="en-US" sz="700" dirty="0"/>
          </a:p>
        </p:txBody>
      </p:sp>
      <p:sp>
        <p:nvSpPr>
          <p:cNvPr id="106" name="!!trk5"/>
          <p:cNvSpPr/>
          <p:nvPr/>
        </p:nvSpPr>
        <p:spPr>
          <a:xfrm>
            <a:off x="9354312" y="457200"/>
            <a:ext cx="265176" cy="265176"/>
          </a:xfrm>
          <a:prstGeom prst="ellipse">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0F172A"/>
                </a:solidFill>
                <a:latin typeface="Segoe UI"/>
                <a:ea typeface="Segoe UI"/>
                <a:cs typeface="Segoe UI"/>
              </a:rPr>
              <a:t>6</a:t>
            </a:r>
            <a:endParaRPr lang="en-US" sz="700" dirty="0"/>
          </a:p>
        </p:txBody>
      </p:sp>
      <p:sp>
        <p:nvSpPr>
          <p:cNvPr id="107" name="!!trk6"/>
          <p:cNvSpPr/>
          <p:nvPr/>
        </p:nvSpPr>
        <p:spPr>
          <a:xfrm>
            <a:off x="968349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7</a:t>
            </a:r>
            <a:endParaRPr lang="en-US" sz="700" dirty="0"/>
          </a:p>
        </p:txBody>
      </p:sp>
      <p:sp>
        <p:nvSpPr>
          <p:cNvPr id="108" name="!!trk7"/>
          <p:cNvSpPr/>
          <p:nvPr/>
        </p:nvSpPr>
        <p:spPr>
          <a:xfrm>
            <a:off x="10012680"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8</a:t>
            </a:r>
            <a:endParaRPr lang="en-US" sz="700" dirty="0"/>
          </a:p>
        </p:txBody>
      </p:sp>
      <p:sp>
        <p:nvSpPr>
          <p:cNvPr id="109" name="!!trk8"/>
          <p:cNvSpPr/>
          <p:nvPr/>
        </p:nvSpPr>
        <p:spPr>
          <a:xfrm>
            <a:off x="10341864"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9</a:t>
            </a:r>
            <a:endParaRPr lang="en-US" sz="700" dirty="0"/>
          </a:p>
        </p:txBody>
      </p:sp>
      <p:sp>
        <p:nvSpPr>
          <p:cNvPr id="110" name="!!trk9"/>
          <p:cNvSpPr/>
          <p:nvPr/>
        </p:nvSpPr>
        <p:spPr>
          <a:xfrm>
            <a:off x="1067104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10</a:t>
            </a:r>
            <a:endParaRPr lang="en-US" sz="700" dirty="0"/>
          </a:p>
        </p:txBody>
      </p:sp>
      <p:sp>
        <p:nvSpPr>
          <p:cNvPr id="111" name="!!trk10"/>
          <p:cNvSpPr/>
          <p:nvPr/>
        </p:nvSpPr>
        <p:spPr>
          <a:xfrm>
            <a:off x="1100023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11</a:t>
            </a:r>
            <a:endParaRPr lang="en-US" sz="700" dirty="0"/>
          </a:p>
        </p:txBody>
      </p:sp>
      <p:sp>
        <p:nvSpPr>
          <p:cNvPr id="112" name="!!trk11"/>
          <p:cNvSpPr/>
          <p:nvPr/>
        </p:nvSpPr>
        <p:spPr>
          <a:xfrm>
            <a:off x="1132941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12</a:t>
            </a:r>
            <a:endParaRPr lang="en-US" sz="700" dirty="0"/>
          </a:p>
        </p:txBody>
      </p:sp>
      <p:sp>
        <p:nvSpPr>
          <p:cNvPr id="113" name="!!pnum"/>
          <p:cNvSpPr txBox="1"/>
          <p:nvPr/>
        </p:nvSpPr>
        <p:spPr>
          <a:xfrm>
            <a:off x="506578" y="1600200"/>
            <a:ext cx="2194560" cy="11887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7200" b="1" dirty="0">
                <a:solidFill>
                  <a:srgbClr val="FBBF24"/>
                </a:solidFill>
                <a:latin typeface="Segoe UI"/>
                <a:ea typeface="Segoe UI"/>
                <a:cs typeface="Segoe UI"/>
              </a:rPr>
              <a:t>06</a:t>
            </a:r>
            <a:endParaRPr lang="en-US" sz="7200" dirty="0"/>
          </a:p>
        </p:txBody>
      </p:sp>
      <p:sp>
        <p:nvSpPr>
          <p:cNvPr id="114" name="s114"/>
          <p:cNvSpPr/>
          <p:nvPr/>
        </p:nvSpPr>
        <p:spPr>
          <a:xfrm>
            <a:off x="3057754" y="1828800"/>
            <a:ext cx="777240" cy="7772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3244291" y="2015338"/>
            <a:ext cx="404165" cy="404165"/>
          </a:xfrm>
          <a:prstGeom prst="rect">
            <a:avLst/>
          </a:prstGeom>
        </p:spPr>
      </p:pic>
      <p:sp>
        <p:nvSpPr>
          <p:cNvPr id="116" name="!!def"/>
          <p:cNvSpPr/>
          <p:nvPr/>
        </p:nvSpPr>
        <p:spPr>
          <a:xfrm>
            <a:off x="543154" y="2926080"/>
            <a:ext cx="3886200" cy="868680"/>
          </a:xfrm>
          <a:prstGeom prst="roundRect">
            <a:avLst>
              <a:gd name="adj" fmla="val 12000"/>
            </a:avLst>
          </a:prstGeom>
          <a:solidFill>
            <a:srgbClr val="FBBF24">
              <a:alpha val="10000"/>
            </a:srgbClr>
          </a:solidFill>
          <a:ln w="12700">
            <a:solidFill>
              <a:srgbClr val="FBBF24"/>
            </a:solidFill>
            <a:prstDash val="solid"/>
          </a:ln>
        </p:spPr>
        <p:txBody>
          <a:bodyPr wrap="square" lIns="201168" tIns="45720" rIns="137160" bIns="45720" rtlCol="0" anchor="ctr">
            <a:noAutofit/>
          </a:bodyPr>
          <a:lstStyle/>
          <a:p>
            <a:pPr marL="0" indent="0" algn="l">
              <a:spcBef>
                <a:spcPts val="0"/>
              </a:spcBef>
              <a:spcAft>
                <a:spcPts val="200"/>
              </a:spcAft>
              <a:buNone/>
            </a:pPr>
            <a:r>
              <a:rPr lang="en-US" sz="1000" b="1" dirty="0">
                <a:solidFill>
                  <a:srgbClr val="FBBF24"/>
                </a:solidFill>
                <a:latin typeface="Segoe UI"/>
                <a:ea typeface="Segoe UI"/>
                <a:cs typeface="Segoe UI"/>
              </a:rPr>
              <a:t>IN SHORT</a:t>
            </a:r>
            <a:endParaRPr lang="en-US" sz="1000" dirty="0"/>
          </a:p>
          <a:p>
            <a:pPr marL="0" indent="0" algn="l">
              <a:spcBef>
                <a:spcPts val="0"/>
              </a:spcBef>
              <a:spcAft>
                <a:spcPts val="0"/>
              </a:spcAft>
              <a:buNone/>
            </a:pPr>
            <a:r>
              <a:rPr lang="en-US" sz="1450" b="1" dirty="0">
                <a:solidFill>
                  <a:srgbClr val="FFFFFF"/>
                </a:solidFill>
                <a:latin typeface="Segoe UI"/>
                <a:ea typeface="Segoe UI"/>
                <a:cs typeface="Segoe UI"/>
              </a:rPr>
              <a:t>The richest communication channel.</a:t>
            </a:r>
            <a:endParaRPr lang="en-US" sz="1450" dirty="0"/>
          </a:p>
        </p:txBody>
      </p:sp>
      <p:sp>
        <p:nvSpPr>
          <p:cNvPr id="117" name="!!quote"/>
          <p:cNvSpPr/>
          <p:nvPr/>
        </p:nvSpPr>
        <p:spPr>
          <a:xfrm>
            <a:off x="543154" y="3931920"/>
            <a:ext cx="3886200" cy="1691640"/>
          </a:xfrm>
          <a:prstGeom prst="roundRect">
            <a:avLst>
              <a:gd name="adj" fmla="val 8000"/>
            </a:avLst>
          </a:prstGeom>
          <a:solidFill>
            <a:srgbClr val="111B2E"/>
          </a:solidFill>
          <a:ln w="12700">
            <a:solidFill>
              <a:srgbClr val="1E3A5F"/>
            </a:solidFill>
            <a:prstDash val="solid"/>
          </a:ln>
        </p:spPr>
        <p:txBody>
          <a:bodyPr wrap="square" lIns="201168" tIns="146304" rIns="164592" bIns="91440" rtlCol="0" anchor="t">
            <a:noAutofit/>
          </a:bodyPr>
          <a:lstStyle/>
          <a:p>
            <a:pPr marL="0" indent="0" algn="l">
              <a:spcBef>
                <a:spcPts val="0"/>
              </a:spcBef>
              <a:spcAft>
                <a:spcPts val="400"/>
              </a:spcAft>
              <a:buNone/>
            </a:pPr>
            <a:r>
              <a:rPr lang="en-US" sz="1000" b="1" dirty="0">
                <a:solidFill>
                  <a:srgbClr val="94A3B8"/>
                </a:solidFill>
                <a:latin typeface="Segoe UI"/>
                <a:ea typeface="Segoe UI"/>
                <a:cs typeface="Segoe UI"/>
              </a:rPr>
              <a:t>THE MANIFESTO SAYS</a:t>
            </a:r>
            <a:endParaRPr lang="en-US" sz="1000" dirty="0"/>
          </a:p>
          <a:p>
            <a:pPr marL="0" indent="0" algn="l">
              <a:lnSpc>
                <a:spcPct val="110000"/>
              </a:lnSpc>
              <a:spcBef>
                <a:spcPts val="0"/>
              </a:spcBef>
              <a:spcAft>
                <a:spcPts val="0"/>
              </a:spcAft>
              <a:buNone/>
            </a:pPr>
            <a:r>
              <a:rPr lang="en-US" sz="1250" b="0" i="1" dirty="0">
                <a:solidFill>
                  <a:srgbClr val="CBD5E1"/>
                </a:solidFill>
                <a:latin typeface="Segoe UI"/>
                <a:ea typeface="Segoe UI"/>
                <a:cs typeface="Segoe UI"/>
              </a:rPr>
              <a:t>“The most efficient and effective method of conveying information to and within a development team is face-to-face conversation.”</a:t>
            </a:r>
            <a:endParaRPr lang="en-US" sz="1250" dirty="0"/>
          </a:p>
        </p:txBody>
      </p:sp>
      <p:sp>
        <p:nvSpPr>
          <p:cNvPr id="118" name="s118"/>
          <p:cNvSpPr/>
          <p:nvPr/>
        </p:nvSpPr>
        <p:spPr>
          <a:xfrm>
            <a:off x="4886554" y="209397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19" name="s119"/>
          <p:cNvSpPr/>
          <p:nvPr/>
        </p:nvSpPr>
        <p:spPr>
          <a:xfrm>
            <a:off x="4703674" y="1783080"/>
            <a:ext cx="6927494" cy="91440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A confusing payment bug: a 20-message Slack thread, or a 5-minute huddle?</a:t>
            </a:r>
            <a:endParaRPr lang="en-US" sz="1450" dirty="0"/>
          </a:p>
        </p:txBody>
      </p:sp>
      <p:sp>
        <p:nvSpPr>
          <p:cNvPr id="120" name="s120"/>
          <p:cNvSpPr/>
          <p:nvPr/>
        </p:nvSpPr>
        <p:spPr>
          <a:xfrm>
            <a:off x="4703674" y="2862072"/>
            <a:ext cx="283464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CASE · Food Delivery Platform</a:t>
            </a:r>
            <a:endParaRPr lang="en-US" sz="1000" dirty="0"/>
          </a:p>
        </p:txBody>
      </p:sp>
      <p:sp>
        <p:nvSpPr>
          <p:cNvPr id="121" name="s121"/>
          <p:cNvSpPr/>
          <p:nvPr/>
        </p:nvSpPr>
        <p:spPr>
          <a:xfrm>
            <a:off x="4703674" y="3337560"/>
            <a:ext cx="3349447" cy="22860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p:nvPr/>
        </p:nvSpPr>
        <p:spPr>
          <a:xfrm>
            <a:off x="4904842" y="3520440"/>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5"/>
          <a:stretch>
            <a:fillRect/>
          </a:stretch>
        </p:blipFill>
        <p:spPr>
          <a:xfrm>
            <a:off x="5014570" y="3630168"/>
            <a:ext cx="237744" cy="237744"/>
          </a:xfrm>
          <a:prstGeom prst="rect">
            <a:avLst/>
          </a:prstGeom>
        </p:spPr>
      </p:pic>
      <p:sp>
        <p:nvSpPr>
          <p:cNvPr id="124" name="s124"/>
          <p:cNvSpPr txBox="1"/>
          <p:nvPr/>
        </p:nvSpPr>
        <p:spPr>
          <a:xfrm>
            <a:off x="5480914"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IGNORE IT</a:t>
            </a:r>
            <a:endParaRPr lang="en-US" sz="1200" dirty="0"/>
          </a:p>
        </p:txBody>
      </p:sp>
      <p:sp>
        <p:nvSpPr>
          <p:cNvPr id="125" name="s125"/>
          <p:cNvSpPr txBox="1"/>
          <p:nvPr/>
        </p:nvSpPr>
        <p:spPr>
          <a:xfrm>
            <a:off x="4932274"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0" dirty="0">
                <a:solidFill>
                  <a:srgbClr val="E2E8F0"/>
                </a:solidFill>
                <a:latin typeface="Segoe UI"/>
                <a:ea typeface="Segoe UI"/>
                <a:cs typeface="Segoe UI"/>
              </a:rPr>
              <a:t>A long thread, then the wrong fix.</a:t>
            </a:r>
            <a:endParaRPr lang="en-US" sz="1500" dirty="0"/>
          </a:p>
        </p:txBody>
      </p:sp>
      <p:sp>
        <p:nvSpPr>
          <p:cNvPr id="126" name="s126"/>
          <p:cNvSpPr/>
          <p:nvPr/>
        </p:nvSpPr>
        <p:spPr>
          <a:xfrm>
            <a:off x="8281721" y="3337560"/>
            <a:ext cx="3349447" cy="2286000"/>
          </a:xfrm>
          <a:prstGeom prst="roundRect">
            <a:avLst>
              <a:gd name="adj" fmla="val 8000"/>
            </a:avLst>
          </a:prstGeom>
          <a:solidFill>
            <a:srgbClr val="34D399">
              <a:alpha val="8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482889" y="352044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6"/>
          <a:stretch>
            <a:fillRect/>
          </a:stretch>
        </p:blipFill>
        <p:spPr>
          <a:xfrm>
            <a:off x="8592617" y="3630168"/>
            <a:ext cx="237744" cy="237744"/>
          </a:xfrm>
          <a:prstGeom prst="rect">
            <a:avLst/>
          </a:prstGeom>
        </p:spPr>
      </p:pic>
      <p:sp>
        <p:nvSpPr>
          <p:cNvPr id="129" name="s129"/>
          <p:cNvSpPr txBox="1"/>
          <p:nvPr/>
        </p:nvSpPr>
        <p:spPr>
          <a:xfrm>
            <a:off x="9058961"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APPLY IT</a:t>
            </a:r>
            <a:endParaRPr lang="en-US" sz="1200" dirty="0"/>
          </a:p>
        </p:txBody>
      </p:sp>
      <p:sp>
        <p:nvSpPr>
          <p:cNvPr id="130" name="s130"/>
          <p:cNvSpPr txBox="1"/>
          <p:nvPr/>
        </p:nvSpPr>
        <p:spPr>
          <a:xfrm>
            <a:off x="8510321"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FFFFF"/>
                </a:solidFill>
                <a:latin typeface="Segoe UI"/>
                <a:ea typeface="Segoe UI"/>
                <a:cs typeface="Segoe UI"/>
              </a:rPr>
              <a:t>Screen-share, reproduce, decide.</a:t>
            </a:r>
            <a:endParaRPr lang="en-US" sz="15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30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4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 dur="400" decel="100000" fill="hold"/>
                                        <p:tgtEl>
                                          <p:spTgt spid="115"/>
                                        </p:tgtEl>
                                        <p:attrNameLst>
                                          <p:attrName>ppt_h</p:attrName>
                                        </p:attrNameLst>
                                      </p:cBhvr>
                                      <p:tavLst>
                                        <p:tav tm="0">
                                          <p:val>
                                            <p:strVal val="#ppt_h*0.3"/>
                                          </p:val>
                                        </p:tav>
                                        <p:tav tm="100000">
                                          <p:val>
                                            <p:strVal val="#ppt_h*1.08"/>
                                          </p:val>
                                        </p:tav>
                                      </p:tavLst>
                                    </p:anim>
                                    <p:animEffect transition="in" filter="fade">
                                      <p:cBhvr>
                                        <p:cTn id="9" dur="200"/>
                                        <p:tgtEl>
                                          <p:spTgt spid="115"/>
                                        </p:tgtEl>
                                      </p:cBhvr>
                                    </p:animEffect>
                                    <p:anim calcmode="lin" valueType="num">
                                      <p:cBhvr additive="base">
                                        <p:cTn id="10" dur="160" fill="hold">
                                          <p:stCondLst>
                                            <p:cond delay="400"/>
                                          </p:stCondLst>
                                        </p:cTn>
                                        <p:tgtEl>
                                          <p:spTgt spid="115"/>
                                        </p:tgtEl>
                                        <p:attrNameLst>
                                          <p:attrName>ppt_w</p:attrName>
                                        </p:attrNameLst>
                                      </p:cBhvr>
                                      <p:tavLst>
                                        <p:tav tm="0">
                                          <p:val>
                                            <p:strVal val="#ppt_w*1.08"/>
                                          </p:val>
                                        </p:tav>
                                        <p:tav tm="100000">
                                          <p:val>
                                            <p:strVal val="#ppt_w"/>
                                          </p:val>
                                        </p:tav>
                                      </p:tavLst>
                                    </p:anim>
                                    <p:anim calcmode="lin" valueType="num">
                                      <p:cBhvr additive="base">
                                        <p:cTn id="11" dur="160" fill="hold">
                                          <p:stCondLst>
                                            <p:cond delay="4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fade">
                                      <p:cBhvr>
                                        <p:cTn id="16" dur="500"/>
                                        <p:tgtEl>
                                          <p:spTgt spid="119"/>
                                        </p:tgtEl>
                                      </p:cBhvr>
                                    </p:animEffect>
                                    <p:anim calcmode="lin" valueType="num">
                                      <p:cBhvr additive="base">
                                        <p:cTn id="17" dur="500" decel="100000" fill="hold"/>
                                        <p:tgtEl>
                                          <p:spTgt spid="119"/>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18"/>
                                        </p:tgtEl>
                                        <p:attrNameLst>
                                          <p:attrName>style.visibility</p:attrName>
                                        </p:attrNameLst>
                                      </p:cBhvr>
                                      <p:to>
                                        <p:strVal val="visible"/>
                                      </p:to>
                                    </p:set>
                                    <p:animEffect transition="in" filter="fade">
                                      <p:cBhvr>
                                        <p:cTn id="20" dur="500"/>
                                        <p:tgtEl>
                                          <p:spTgt spid="118"/>
                                        </p:tgtEl>
                                      </p:cBhvr>
                                    </p:animEffect>
                                    <p:anim calcmode="lin" valueType="num">
                                      <p:cBhvr additive="base">
                                        <p:cTn id="21" dur="500" decel="100000" fill="hold"/>
                                        <p:tgtEl>
                                          <p:spTgt spid="118"/>
                                        </p:tgtEl>
                                        <p:attrNameLst>
                                          <p:attrName>ppt_y</p:attrName>
                                        </p:attrNameLst>
                                      </p:cBhvr>
                                      <p:tavLst>
                                        <p:tav tm="0">
                                          <p:val>
                                            <p:strVal val="#ppt_y+0.06"/>
                                          </p:val>
                                        </p:tav>
                                        <p:tav tm="100000">
                                          <p:val>
                                            <p:strVal val="#ppt_y"/>
                                          </p:val>
                                        </p:tav>
                                      </p:tavLst>
                                    </p:anim>
                                  </p:childTnLst>
                                </p:cTn>
                              </p:par>
                              <p:par>
                                <p:cTn id="22" presetID="10" presetClass="entr" presetSubtype="0" fill="hold" grpId="0" nodeType="withEffect">
                                  <p:stCondLst>
                                    <p:cond delay="120"/>
                                  </p:stCondLst>
                                  <p:childTnLst>
                                    <p:set>
                                      <p:cBhvr>
                                        <p:cTn id="23" dur="1" fill="hold">
                                          <p:stCondLst>
                                            <p:cond delay="0"/>
                                          </p:stCondLst>
                                        </p:cTn>
                                        <p:tgtEl>
                                          <p:spTgt spid="120"/>
                                        </p:tgtEl>
                                        <p:attrNameLst>
                                          <p:attrName>style.visibility</p:attrName>
                                        </p:attrNameLst>
                                      </p:cBhvr>
                                      <p:to>
                                        <p:strVal val="visible"/>
                                      </p:to>
                                    </p:set>
                                    <p:animEffect transition="in" filter="fade">
                                      <p:cBhvr>
                                        <p:cTn id="24" dur="500"/>
                                        <p:tgtEl>
                                          <p:spTgt spid="120"/>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fade">
                                      <p:cBhvr>
                                        <p:cTn id="29" dur="500"/>
                                        <p:tgtEl>
                                          <p:spTgt spid="121"/>
                                        </p:tgtEl>
                                      </p:cBhvr>
                                    </p:animEffect>
                                    <p:anim calcmode="lin" valueType="num">
                                      <p:cBhvr additive="base">
                                        <p:cTn id="30" dur="500" decel="100000" fill="hold"/>
                                        <p:tgtEl>
                                          <p:spTgt spid="121"/>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22"/>
                                        </p:tgtEl>
                                        <p:attrNameLst>
                                          <p:attrName>style.visibility</p:attrName>
                                        </p:attrNameLst>
                                      </p:cBhvr>
                                      <p:to>
                                        <p:strVal val="visible"/>
                                      </p:to>
                                    </p:set>
                                    <p:animEffect transition="in" filter="fade">
                                      <p:cBhvr>
                                        <p:cTn id="33" dur="500"/>
                                        <p:tgtEl>
                                          <p:spTgt spid="122"/>
                                        </p:tgtEl>
                                      </p:cBhvr>
                                    </p:animEffect>
                                    <p:anim calcmode="lin" valueType="num">
                                      <p:cBhvr additive="base">
                                        <p:cTn id="34" dur="500" decel="100000" fill="hold"/>
                                        <p:tgtEl>
                                          <p:spTgt spid="122"/>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23"/>
                                        </p:tgtEl>
                                        <p:attrNameLst>
                                          <p:attrName>style.visibility</p:attrName>
                                        </p:attrNameLst>
                                      </p:cBhvr>
                                      <p:to>
                                        <p:strVal val="visible"/>
                                      </p:to>
                                    </p:set>
                                    <p:animEffect transition="in" filter="fade">
                                      <p:cBhvr>
                                        <p:cTn id="37" dur="500"/>
                                        <p:tgtEl>
                                          <p:spTgt spid="123"/>
                                        </p:tgtEl>
                                      </p:cBhvr>
                                    </p:animEffect>
                                    <p:anim calcmode="lin" valueType="num">
                                      <p:cBhvr additive="base">
                                        <p:cTn id="38" dur="500" decel="100000" fill="hold"/>
                                        <p:tgtEl>
                                          <p:spTgt spid="123"/>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24"/>
                                        </p:tgtEl>
                                        <p:attrNameLst>
                                          <p:attrName>style.visibility</p:attrName>
                                        </p:attrNameLst>
                                      </p:cBhvr>
                                      <p:to>
                                        <p:strVal val="visible"/>
                                      </p:to>
                                    </p:set>
                                    <p:animEffect transition="in" filter="fade">
                                      <p:cBhvr>
                                        <p:cTn id="41" dur="500"/>
                                        <p:tgtEl>
                                          <p:spTgt spid="124"/>
                                        </p:tgtEl>
                                      </p:cBhvr>
                                    </p:animEffect>
                                    <p:anim calcmode="lin" valueType="num">
                                      <p:cBhvr additive="base">
                                        <p:cTn id="42" dur="500" decel="100000" fill="hold"/>
                                        <p:tgtEl>
                                          <p:spTgt spid="124"/>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25"/>
                                        </p:tgtEl>
                                        <p:attrNameLst>
                                          <p:attrName>style.visibility</p:attrName>
                                        </p:attrNameLst>
                                      </p:cBhvr>
                                      <p:to>
                                        <p:strVal val="visible"/>
                                      </p:to>
                                    </p:set>
                                    <p:animEffect transition="in" filter="fade">
                                      <p:cBhvr>
                                        <p:cTn id="45" dur="500"/>
                                        <p:tgtEl>
                                          <p:spTgt spid="125"/>
                                        </p:tgtEl>
                                      </p:cBhvr>
                                    </p:animEffect>
                                    <p:anim calcmode="lin" valueType="num">
                                      <p:cBhvr additive="base">
                                        <p:cTn id="46" dur="500" decel="100000" fill="hold"/>
                                        <p:tgtEl>
                                          <p:spTgt spid="125"/>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fade">
                                      <p:cBhvr>
                                        <p:cTn id="51" dur="500"/>
                                        <p:tgtEl>
                                          <p:spTgt spid="126"/>
                                        </p:tgtEl>
                                      </p:cBhvr>
                                    </p:animEffect>
                                    <p:anim calcmode="lin" valueType="num">
                                      <p:cBhvr additive="base">
                                        <p:cTn id="52" dur="500" decel="100000" fill="hold"/>
                                        <p:tgtEl>
                                          <p:spTgt spid="126"/>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27"/>
                                        </p:tgtEl>
                                        <p:attrNameLst>
                                          <p:attrName>style.visibility</p:attrName>
                                        </p:attrNameLst>
                                      </p:cBhvr>
                                      <p:to>
                                        <p:strVal val="visible"/>
                                      </p:to>
                                    </p:set>
                                    <p:animEffect transition="in" filter="fade">
                                      <p:cBhvr>
                                        <p:cTn id="55" dur="500"/>
                                        <p:tgtEl>
                                          <p:spTgt spid="127"/>
                                        </p:tgtEl>
                                      </p:cBhvr>
                                    </p:animEffect>
                                    <p:anim calcmode="lin" valueType="num">
                                      <p:cBhvr additive="base">
                                        <p:cTn id="56" dur="500" decel="100000" fill="hold"/>
                                        <p:tgtEl>
                                          <p:spTgt spid="127"/>
                                        </p:tgtEl>
                                        <p:attrNameLst>
                                          <p:attrName>ppt_x</p:attrName>
                                        </p:attrNameLst>
                                      </p:cBhvr>
                                      <p:tavLst>
                                        <p:tav tm="0">
                                          <p:val>
                                            <p:strVal val="#ppt_x+0.05"/>
                                          </p:val>
                                        </p:tav>
                                        <p:tav tm="100000">
                                          <p:val>
                                            <p:strVal val="#ppt_x"/>
                                          </p:val>
                                        </p:tav>
                                      </p:tavLst>
                                    </p:anim>
                                  </p:childTnLst>
                                </p:cTn>
                              </p:par>
                              <p:par>
                                <p:cTn id="57" presetID="42" presetClass="entr" presetSubtype="0" fill="hold" nodeType="withEffect">
                                  <p:stCondLst>
                                    <p:cond delay="0"/>
                                  </p:stCondLst>
                                  <p:childTnLst>
                                    <p:set>
                                      <p:cBhvr>
                                        <p:cTn id="58" dur="1" fill="hold">
                                          <p:stCondLst>
                                            <p:cond delay="0"/>
                                          </p:stCondLst>
                                        </p:cTn>
                                        <p:tgtEl>
                                          <p:spTgt spid="128"/>
                                        </p:tgtEl>
                                        <p:attrNameLst>
                                          <p:attrName>style.visibility</p:attrName>
                                        </p:attrNameLst>
                                      </p:cBhvr>
                                      <p:to>
                                        <p:strVal val="visible"/>
                                      </p:to>
                                    </p:set>
                                    <p:animEffect transition="in" filter="fade">
                                      <p:cBhvr>
                                        <p:cTn id="59" dur="500"/>
                                        <p:tgtEl>
                                          <p:spTgt spid="128"/>
                                        </p:tgtEl>
                                      </p:cBhvr>
                                    </p:animEffect>
                                    <p:anim calcmode="lin" valueType="num">
                                      <p:cBhvr additive="base">
                                        <p:cTn id="60" dur="500" decel="100000" fill="hold"/>
                                        <p:tgtEl>
                                          <p:spTgt spid="128"/>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29"/>
                                        </p:tgtEl>
                                        <p:attrNameLst>
                                          <p:attrName>style.visibility</p:attrName>
                                        </p:attrNameLst>
                                      </p:cBhvr>
                                      <p:to>
                                        <p:strVal val="visible"/>
                                      </p:to>
                                    </p:set>
                                    <p:animEffect transition="in" filter="fade">
                                      <p:cBhvr>
                                        <p:cTn id="63" dur="500"/>
                                        <p:tgtEl>
                                          <p:spTgt spid="129"/>
                                        </p:tgtEl>
                                      </p:cBhvr>
                                    </p:animEffect>
                                    <p:anim calcmode="lin" valueType="num">
                                      <p:cBhvr additive="base">
                                        <p:cTn id="64" dur="500" decel="100000" fill="hold"/>
                                        <p:tgtEl>
                                          <p:spTgt spid="129"/>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500"/>
                                        <p:tgtEl>
                                          <p:spTgt spid="130"/>
                                        </p:tgtEl>
                                      </p:cBhvr>
                                    </p:animEffect>
                                    <p:anim calcmode="lin" valueType="num">
                                      <p:cBhvr additive="base">
                                        <p:cTn id="68"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20" grpId="0" animBg="1"/>
      <p:bldP spid="121" grpId="0" animBg="1"/>
      <p:bldP spid="122" grpId="0" animBg="1"/>
      <p:bldP spid="124" grpId="0" animBg="1"/>
      <p:bldP spid="125" grpId="0" animBg="1"/>
      <p:bldP spid="126" grpId="0" animBg="1"/>
      <p:bldP spid="127" grpId="0" animBg="1"/>
      <p:bldP spid="129" grpId="0" animBg="1"/>
      <p:bldP spid="130"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PRINCIPLE 07</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Working Software = Progress</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219</a:t>
            </a:r>
            <a:endParaRPr lang="en-US" sz="850" dirty="0"/>
          </a:p>
        </p:txBody>
      </p:sp>
      <p:sp>
        <p:nvSpPr>
          <p:cNvPr id="101" name="!!trk0"/>
          <p:cNvSpPr/>
          <p:nvPr/>
        </p:nvSpPr>
        <p:spPr>
          <a:xfrm>
            <a:off x="770839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a:t>
            </a:r>
            <a:endParaRPr lang="en-US" sz="700" dirty="0"/>
          </a:p>
        </p:txBody>
      </p:sp>
      <p:sp>
        <p:nvSpPr>
          <p:cNvPr id="102" name="!!trk1"/>
          <p:cNvSpPr/>
          <p:nvPr/>
        </p:nvSpPr>
        <p:spPr>
          <a:xfrm>
            <a:off x="803757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2</a:t>
            </a:r>
            <a:endParaRPr lang="en-US" sz="700" dirty="0"/>
          </a:p>
        </p:txBody>
      </p:sp>
      <p:sp>
        <p:nvSpPr>
          <p:cNvPr id="103" name="!!trk2"/>
          <p:cNvSpPr/>
          <p:nvPr/>
        </p:nvSpPr>
        <p:spPr>
          <a:xfrm>
            <a:off x="836676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3</a:t>
            </a:r>
            <a:endParaRPr lang="en-US" sz="700" dirty="0"/>
          </a:p>
        </p:txBody>
      </p:sp>
      <p:sp>
        <p:nvSpPr>
          <p:cNvPr id="104" name="!!trk3"/>
          <p:cNvSpPr/>
          <p:nvPr/>
        </p:nvSpPr>
        <p:spPr>
          <a:xfrm>
            <a:off x="8695944"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4</a:t>
            </a:r>
            <a:endParaRPr lang="en-US" sz="700" dirty="0"/>
          </a:p>
        </p:txBody>
      </p:sp>
      <p:sp>
        <p:nvSpPr>
          <p:cNvPr id="105" name="!!trk4"/>
          <p:cNvSpPr/>
          <p:nvPr/>
        </p:nvSpPr>
        <p:spPr>
          <a:xfrm>
            <a:off x="9025128"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5</a:t>
            </a:r>
            <a:endParaRPr lang="en-US" sz="700" dirty="0"/>
          </a:p>
        </p:txBody>
      </p:sp>
      <p:sp>
        <p:nvSpPr>
          <p:cNvPr id="106" name="!!trk5"/>
          <p:cNvSpPr/>
          <p:nvPr/>
        </p:nvSpPr>
        <p:spPr>
          <a:xfrm>
            <a:off x="935431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6</a:t>
            </a:r>
            <a:endParaRPr lang="en-US" sz="700" dirty="0"/>
          </a:p>
        </p:txBody>
      </p:sp>
      <p:sp>
        <p:nvSpPr>
          <p:cNvPr id="107" name="!!trk6"/>
          <p:cNvSpPr/>
          <p:nvPr/>
        </p:nvSpPr>
        <p:spPr>
          <a:xfrm>
            <a:off x="9683496" y="457200"/>
            <a:ext cx="265176" cy="265176"/>
          </a:xfrm>
          <a:prstGeom prst="ellipse">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0F172A"/>
                </a:solidFill>
                <a:latin typeface="Segoe UI"/>
                <a:ea typeface="Segoe UI"/>
                <a:cs typeface="Segoe UI"/>
              </a:rPr>
              <a:t>7</a:t>
            </a:r>
            <a:endParaRPr lang="en-US" sz="700" dirty="0"/>
          </a:p>
        </p:txBody>
      </p:sp>
      <p:sp>
        <p:nvSpPr>
          <p:cNvPr id="108" name="!!trk7"/>
          <p:cNvSpPr/>
          <p:nvPr/>
        </p:nvSpPr>
        <p:spPr>
          <a:xfrm>
            <a:off x="10012680"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8</a:t>
            </a:r>
            <a:endParaRPr lang="en-US" sz="700" dirty="0"/>
          </a:p>
        </p:txBody>
      </p:sp>
      <p:sp>
        <p:nvSpPr>
          <p:cNvPr id="109" name="!!trk8"/>
          <p:cNvSpPr/>
          <p:nvPr/>
        </p:nvSpPr>
        <p:spPr>
          <a:xfrm>
            <a:off x="10341864"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9</a:t>
            </a:r>
            <a:endParaRPr lang="en-US" sz="700" dirty="0"/>
          </a:p>
        </p:txBody>
      </p:sp>
      <p:sp>
        <p:nvSpPr>
          <p:cNvPr id="110" name="!!trk9"/>
          <p:cNvSpPr/>
          <p:nvPr/>
        </p:nvSpPr>
        <p:spPr>
          <a:xfrm>
            <a:off x="1067104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10</a:t>
            </a:r>
            <a:endParaRPr lang="en-US" sz="700" dirty="0"/>
          </a:p>
        </p:txBody>
      </p:sp>
      <p:sp>
        <p:nvSpPr>
          <p:cNvPr id="111" name="!!trk10"/>
          <p:cNvSpPr/>
          <p:nvPr/>
        </p:nvSpPr>
        <p:spPr>
          <a:xfrm>
            <a:off x="1100023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11</a:t>
            </a:r>
            <a:endParaRPr lang="en-US" sz="700" dirty="0"/>
          </a:p>
        </p:txBody>
      </p:sp>
      <p:sp>
        <p:nvSpPr>
          <p:cNvPr id="112" name="!!trk11"/>
          <p:cNvSpPr/>
          <p:nvPr/>
        </p:nvSpPr>
        <p:spPr>
          <a:xfrm>
            <a:off x="1132941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12</a:t>
            </a:r>
            <a:endParaRPr lang="en-US" sz="700" dirty="0"/>
          </a:p>
        </p:txBody>
      </p:sp>
      <p:sp>
        <p:nvSpPr>
          <p:cNvPr id="113" name="!!pnum"/>
          <p:cNvSpPr txBox="1"/>
          <p:nvPr/>
        </p:nvSpPr>
        <p:spPr>
          <a:xfrm>
            <a:off x="506578" y="1600200"/>
            <a:ext cx="2194560" cy="11887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7200" b="1" dirty="0">
                <a:solidFill>
                  <a:srgbClr val="FBBF24"/>
                </a:solidFill>
                <a:latin typeface="Segoe UI"/>
                <a:ea typeface="Segoe UI"/>
                <a:cs typeface="Segoe UI"/>
              </a:rPr>
              <a:t>07</a:t>
            </a:r>
            <a:endParaRPr lang="en-US" sz="7200" dirty="0"/>
          </a:p>
        </p:txBody>
      </p:sp>
      <p:sp>
        <p:nvSpPr>
          <p:cNvPr id="114" name="s114"/>
          <p:cNvSpPr/>
          <p:nvPr/>
        </p:nvSpPr>
        <p:spPr>
          <a:xfrm>
            <a:off x="3057754" y="1828800"/>
            <a:ext cx="777240" cy="7772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3244291" y="2015338"/>
            <a:ext cx="404165" cy="404165"/>
          </a:xfrm>
          <a:prstGeom prst="rect">
            <a:avLst/>
          </a:prstGeom>
        </p:spPr>
      </p:pic>
      <p:sp>
        <p:nvSpPr>
          <p:cNvPr id="116" name="!!def"/>
          <p:cNvSpPr/>
          <p:nvPr/>
        </p:nvSpPr>
        <p:spPr>
          <a:xfrm>
            <a:off x="543154" y="2926080"/>
            <a:ext cx="3886200" cy="868680"/>
          </a:xfrm>
          <a:prstGeom prst="roundRect">
            <a:avLst>
              <a:gd name="adj" fmla="val 12000"/>
            </a:avLst>
          </a:prstGeom>
          <a:solidFill>
            <a:srgbClr val="FBBF24">
              <a:alpha val="10000"/>
            </a:srgbClr>
          </a:solidFill>
          <a:ln w="12700">
            <a:solidFill>
              <a:srgbClr val="FBBF24"/>
            </a:solidFill>
            <a:prstDash val="solid"/>
          </a:ln>
        </p:spPr>
        <p:txBody>
          <a:bodyPr wrap="square" lIns="201168" tIns="45720" rIns="137160" bIns="45720" rtlCol="0" anchor="ctr">
            <a:noAutofit/>
          </a:bodyPr>
          <a:lstStyle/>
          <a:p>
            <a:pPr marL="0" indent="0" algn="l">
              <a:spcBef>
                <a:spcPts val="0"/>
              </a:spcBef>
              <a:spcAft>
                <a:spcPts val="200"/>
              </a:spcAft>
              <a:buNone/>
            </a:pPr>
            <a:r>
              <a:rPr lang="en-US" sz="1000" b="1" dirty="0">
                <a:solidFill>
                  <a:srgbClr val="FBBF24"/>
                </a:solidFill>
                <a:latin typeface="Segoe UI"/>
                <a:ea typeface="Segoe UI"/>
                <a:cs typeface="Segoe UI"/>
              </a:rPr>
              <a:t>IN SHORT</a:t>
            </a:r>
            <a:endParaRPr lang="en-US" sz="1000" dirty="0"/>
          </a:p>
          <a:p>
            <a:pPr marL="0" indent="0" algn="l">
              <a:spcBef>
                <a:spcPts val="0"/>
              </a:spcBef>
              <a:spcAft>
                <a:spcPts val="0"/>
              </a:spcAft>
              <a:buNone/>
            </a:pPr>
            <a:r>
              <a:rPr lang="en-US" sz="1450" b="1" dirty="0">
                <a:solidFill>
                  <a:srgbClr val="FFFFFF"/>
                </a:solidFill>
                <a:latin typeface="Segoe UI"/>
                <a:ea typeface="Segoe UI"/>
                <a:cs typeface="Segoe UI"/>
              </a:rPr>
              <a:t>The primary measure of progress.</a:t>
            </a:r>
            <a:endParaRPr lang="en-US" sz="1450" dirty="0"/>
          </a:p>
        </p:txBody>
      </p:sp>
      <p:sp>
        <p:nvSpPr>
          <p:cNvPr id="117" name="!!quote"/>
          <p:cNvSpPr/>
          <p:nvPr/>
        </p:nvSpPr>
        <p:spPr>
          <a:xfrm>
            <a:off x="543154" y="3931920"/>
            <a:ext cx="3886200" cy="1691640"/>
          </a:xfrm>
          <a:prstGeom prst="roundRect">
            <a:avLst>
              <a:gd name="adj" fmla="val 8000"/>
            </a:avLst>
          </a:prstGeom>
          <a:solidFill>
            <a:srgbClr val="111B2E"/>
          </a:solidFill>
          <a:ln w="12700">
            <a:solidFill>
              <a:srgbClr val="1E3A5F"/>
            </a:solidFill>
            <a:prstDash val="solid"/>
          </a:ln>
        </p:spPr>
        <p:txBody>
          <a:bodyPr wrap="square" lIns="201168" tIns="146304" rIns="164592" bIns="91440" rtlCol="0" anchor="t">
            <a:noAutofit/>
          </a:bodyPr>
          <a:lstStyle/>
          <a:p>
            <a:pPr marL="0" indent="0" algn="l">
              <a:spcBef>
                <a:spcPts val="0"/>
              </a:spcBef>
              <a:spcAft>
                <a:spcPts val="400"/>
              </a:spcAft>
              <a:buNone/>
            </a:pPr>
            <a:r>
              <a:rPr lang="en-US" sz="1000" b="1" dirty="0">
                <a:solidFill>
                  <a:srgbClr val="94A3B8"/>
                </a:solidFill>
                <a:latin typeface="Segoe UI"/>
                <a:ea typeface="Segoe UI"/>
                <a:cs typeface="Segoe UI"/>
              </a:rPr>
              <a:t>THE MANIFESTO SAYS</a:t>
            </a:r>
            <a:endParaRPr lang="en-US" sz="1000" dirty="0"/>
          </a:p>
          <a:p>
            <a:pPr marL="0" indent="0" algn="l">
              <a:lnSpc>
                <a:spcPct val="110000"/>
              </a:lnSpc>
              <a:spcBef>
                <a:spcPts val="0"/>
              </a:spcBef>
              <a:spcAft>
                <a:spcPts val="0"/>
              </a:spcAft>
              <a:buNone/>
            </a:pPr>
            <a:r>
              <a:rPr lang="en-US" sz="1250" b="0" i="1" dirty="0">
                <a:solidFill>
                  <a:srgbClr val="CBD5E1"/>
                </a:solidFill>
                <a:latin typeface="Segoe UI"/>
                <a:ea typeface="Segoe UI"/>
                <a:cs typeface="Segoe UI"/>
              </a:rPr>
              <a:t>“Working software is the primary measure of progress.”</a:t>
            </a:r>
            <a:endParaRPr lang="en-US" sz="1250" dirty="0"/>
          </a:p>
        </p:txBody>
      </p:sp>
      <p:sp>
        <p:nvSpPr>
          <p:cNvPr id="118" name="s118"/>
          <p:cNvSpPr/>
          <p:nvPr/>
        </p:nvSpPr>
        <p:spPr>
          <a:xfrm>
            <a:off x="4886554" y="209397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19" name="s119"/>
          <p:cNvSpPr/>
          <p:nvPr/>
        </p:nvSpPr>
        <p:spPr>
          <a:xfrm>
            <a:off x="4703674" y="1783080"/>
            <a:ext cx="6927494" cy="91440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Is '80% of the docs are done' real progress for customers?</a:t>
            </a:r>
            <a:endParaRPr lang="en-US" sz="1450" dirty="0"/>
          </a:p>
        </p:txBody>
      </p:sp>
      <p:sp>
        <p:nvSpPr>
          <p:cNvPr id="120" name="s120"/>
          <p:cNvSpPr/>
          <p:nvPr/>
        </p:nvSpPr>
        <p:spPr>
          <a:xfrm>
            <a:off x="4703674" y="2862072"/>
            <a:ext cx="283464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CASE · Food Delivery Platform</a:t>
            </a:r>
            <a:endParaRPr lang="en-US" sz="1000" dirty="0"/>
          </a:p>
        </p:txBody>
      </p:sp>
      <p:sp>
        <p:nvSpPr>
          <p:cNvPr id="121" name="s121"/>
          <p:cNvSpPr/>
          <p:nvPr/>
        </p:nvSpPr>
        <p:spPr>
          <a:xfrm>
            <a:off x="4703674" y="3337560"/>
            <a:ext cx="3349447" cy="22860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p:nvPr/>
        </p:nvSpPr>
        <p:spPr>
          <a:xfrm>
            <a:off x="4904842" y="3520440"/>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5"/>
          <a:stretch>
            <a:fillRect/>
          </a:stretch>
        </p:blipFill>
        <p:spPr>
          <a:xfrm>
            <a:off x="5014570" y="3630168"/>
            <a:ext cx="237744" cy="237744"/>
          </a:xfrm>
          <a:prstGeom prst="rect">
            <a:avLst/>
          </a:prstGeom>
        </p:spPr>
      </p:pic>
      <p:sp>
        <p:nvSpPr>
          <p:cNvPr id="124" name="s124"/>
          <p:cNvSpPr txBox="1"/>
          <p:nvPr/>
        </p:nvSpPr>
        <p:spPr>
          <a:xfrm>
            <a:off x="5480914"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IGNORE IT</a:t>
            </a:r>
            <a:endParaRPr lang="en-US" sz="1200" dirty="0"/>
          </a:p>
        </p:txBody>
      </p:sp>
      <p:sp>
        <p:nvSpPr>
          <p:cNvPr id="125" name="s125"/>
          <p:cNvSpPr txBox="1"/>
          <p:nvPr/>
        </p:nvSpPr>
        <p:spPr>
          <a:xfrm>
            <a:off x="4932274"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0" dirty="0">
                <a:solidFill>
                  <a:srgbClr val="E2E8F0"/>
                </a:solidFill>
                <a:latin typeface="Segoe UI"/>
                <a:ea typeface="Segoe UI"/>
                <a:cs typeface="Segoe UI"/>
              </a:rPr>
              <a:t>Status reported by document count.</a:t>
            </a:r>
            <a:endParaRPr lang="en-US" sz="1500" dirty="0"/>
          </a:p>
        </p:txBody>
      </p:sp>
      <p:sp>
        <p:nvSpPr>
          <p:cNvPr id="126" name="s126"/>
          <p:cNvSpPr/>
          <p:nvPr/>
        </p:nvSpPr>
        <p:spPr>
          <a:xfrm>
            <a:off x="8281721" y="3337560"/>
            <a:ext cx="3349447" cy="2286000"/>
          </a:xfrm>
          <a:prstGeom prst="roundRect">
            <a:avLst>
              <a:gd name="adj" fmla="val 8000"/>
            </a:avLst>
          </a:prstGeom>
          <a:solidFill>
            <a:srgbClr val="34D399">
              <a:alpha val="8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482889" y="352044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6"/>
          <a:stretch>
            <a:fillRect/>
          </a:stretch>
        </p:blipFill>
        <p:spPr>
          <a:xfrm>
            <a:off x="8592617" y="3630168"/>
            <a:ext cx="237744" cy="237744"/>
          </a:xfrm>
          <a:prstGeom prst="rect">
            <a:avLst/>
          </a:prstGeom>
        </p:spPr>
      </p:pic>
      <p:sp>
        <p:nvSpPr>
          <p:cNvPr id="129" name="s129"/>
          <p:cNvSpPr txBox="1"/>
          <p:nvPr/>
        </p:nvSpPr>
        <p:spPr>
          <a:xfrm>
            <a:off x="9058961"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APPLY IT</a:t>
            </a:r>
            <a:endParaRPr lang="en-US" sz="1200" dirty="0"/>
          </a:p>
        </p:txBody>
      </p:sp>
      <p:sp>
        <p:nvSpPr>
          <p:cNvPr id="130" name="s130"/>
          <p:cNvSpPr txBox="1"/>
          <p:nvPr/>
        </p:nvSpPr>
        <p:spPr>
          <a:xfrm>
            <a:off x="8510321"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FFFFF"/>
                </a:solidFill>
                <a:latin typeface="Segoe UI"/>
                <a:ea typeface="Segoe UI"/>
                <a:cs typeface="Segoe UI"/>
              </a:rPr>
              <a:t>Status reported by features users can use.</a:t>
            </a:r>
            <a:endParaRPr lang="en-US" sz="15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30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4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 dur="400" decel="100000" fill="hold"/>
                                        <p:tgtEl>
                                          <p:spTgt spid="115"/>
                                        </p:tgtEl>
                                        <p:attrNameLst>
                                          <p:attrName>ppt_h</p:attrName>
                                        </p:attrNameLst>
                                      </p:cBhvr>
                                      <p:tavLst>
                                        <p:tav tm="0">
                                          <p:val>
                                            <p:strVal val="#ppt_h*0.3"/>
                                          </p:val>
                                        </p:tav>
                                        <p:tav tm="100000">
                                          <p:val>
                                            <p:strVal val="#ppt_h*1.08"/>
                                          </p:val>
                                        </p:tav>
                                      </p:tavLst>
                                    </p:anim>
                                    <p:animEffect transition="in" filter="fade">
                                      <p:cBhvr>
                                        <p:cTn id="9" dur="200"/>
                                        <p:tgtEl>
                                          <p:spTgt spid="115"/>
                                        </p:tgtEl>
                                      </p:cBhvr>
                                    </p:animEffect>
                                    <p:anim calcmode="lin" valueType="num">
                                      <p:cBhvr additive="base">
                                        <p:cTn id="10" dur="160" fill="hold">
                                          <p:stCondLst>
                                            <p:cond delay="400"/>
                                          </p:stCondLst>
                                        </p:cTn>
                                        <p:tgtEl>
                                          <p:spTgt spid="115"/>
                                        </p:tgtEl>
                                        <p:attrNameLst>
                                          <p:attrName>ppt_w</p:attrName>
                                        </p:attrNameLst>
                                      </p:cBhvr>
                                      <p:tavLst>
                                        <p:tav tm="0">
                                          <p:val>
                                            <p:strVal val="#ppt_w*1.08"/>
                                          </p:val>
                                        </p:tav>
                                        <p:tav tm="100000">
                                          <p:val>
                                            <p:strVal val="#ppt_w"/>
                                          </p:val>
                                        </p:tav>
                                      </p:tavLst>
                                    </p:anim>
                                    <p:anim calcmode="lin" valueType="num">
                                      <p:cBhvr additive="base">
                                        <p:cTn id="11" dur="160" fill="hold">
                                          <p:stCondLst>
                                            <p:cond delay="4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fade">
                                      <p:cBhvr>
                                        <p:cTn id="16" dur="500"/>
                                        <p:tgtEl>
                                          <p:spTgt spid="119"/>
                                        </p:tgtEl>
                                      </p:cBhvr>
                                    </p:animEffect>
                                    <p:anim calcmode="lin" valueType="num">
                                      <p:cBhvr additive="base">
                                        <p:cTn id="17" dur="500" decel="100000" fill="hold"/>
                                        <p:tgtEl>
                                          <p:spTgt spid="119"/>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18"/>
                                        </p:tgtEl>
                                        <p:attrNameLst>
                                          <p:attrName>style.visibility</p:attrName>
                                        </p:attrNameLst>
                                      </p:cBhvr>
                                      <p:to>
                                        <p:strVal val="visible"/>
                                      </p:to>
                                    </p:set>
                                    <p:animEffect transition="in" filter="fade">
                                      <p:cBhvr>
                                        <p:cTn id="20" dur="500"/>
                                        <p:tgtEl>
                                          <p:spTgt spid="118"/>
                                        </p:tgtEl>
                                      </p:cBhvr>
                                    </p:animEffect>
                                    <p:anim calcmode="lin" valueType="num">
                                      <p:cBhvr additive="base">
                                        <p:cTn id="21" dur="500" decel="100000" fill="hold"/>
                                        <p:tgtEl>
                                          <p:spTgt spid="118"/>
                                        </p:tgtEl>
                                        <p:attrNameLst>
                                          <p:attrName>ppt_y</p:attrName>
                                        </p:attrNameLst>
                                      </p:cBhvr>
                                      <p:tavLst>
                                        <p:tav tm="0">
                                          <p:val>
                                            <p:strVal val="#ppt_y+0.06"/>
                                          </p:val>
                                        </p:tav>
                                        <p:tav tm="100000">
                                          <p:val>
                                            <p:strVal val="#ppt_y"/>
                                          </p:val>
                                        </p:tav>
                                      </p:tavLst>
                                    </p:anim>
                                  </p:childTnLst>
                                </p:cTn>
                              </p:par>
                              <p:par>
                                <p:cTn id="22" presetID="10" presetClass="entr" presetSubtype="0" fill="hold" grpId="0" nodeType="withEffect">
                                  <p:stCondLst>
                                    <p:cond delay="120"/>
                                  </p:stCondLst>
                                  <p:childTnLst>
                                    <p:set>
                                      <p:cBhvr>
                                        <p:cTn id="23" dur="1" fill="hold">
                                          <p:stCondLst>
                                            <p:cond delay="0"/>
                                          </p:stCondLst>
                                        </p:cTn>
                                        <p:tgtEl>
                                          <p:spTgt spid="120"/>
                                        </p:tgtEl>
                                        <p:attrNameLst>
                                          <p:attrName>style.visibility</p:attrName>
                                        </p:attrNameLst>
                                      </p:cBhvr>
                                      <p:to>
                                        <p:strVal val="visible"/>
                                      </p:to>
                                    </p:set>
                                    <p:animEffect transition="in" filter="fade">
                                      <p:cBhvr>
                                        <p:cTn id="24" dur="500"/>
                                        <p:tgtEl>
                                          <p:spTgt spid="120"/>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fade">
                                      <p:cBhvr>
                                        <p:cTn id="29" dur="500"/>
                                        <p:tgtEl>
                                          <p:spTgt spid="121"/>
                                        </p:tgtEl>
                                      </p:cBhvr>
                                    </p:animEffect>
                                    <p:anim calcmode="lin" valueType="num">
                                      <p:cBhvr additive="base">
                                        <p:cTn id="30" dur="500" decel="100000" fill="hold"/>
                                        <p:tgtEl>
                                          <p:spTgt spid="121"/>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22"/>
                                        </p:tgtEl>
                                        <p:attrNameLst>
                                          <p:attrName>style.visibility</p:attrName>
                                        </p:attrNameLst>
                                      </p:cBhvr>
                                      <p:to>
                                        <p:strVal val="visible"/>
                                      </p:to>
                                    </p:set>
                                    <p:animEffect transition="in" filter="fade">
                                      <p:cBhvr>
                                        <p:cTn id="33" dur="500"/>
                                        <p:tgtEl>
                                          <p:spTgt spid="122"/>
                                        </p:tgtEl>
                                      </p:cBhvr>
                                    </p:animEffect>
                                    <p:anim calcmode="lin" valueType="num">
                                      <p:cBhvr additive="base">
                                        <p:cTn id="34" dur="500" decel="100000" fill="hold"/>
                                        <p:tgtEl>
                                          <p:spTgt spid="122"/>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23"/>
                                        </p:tgtEl>
                                        <p:attrNameLst>
                                          <p:attrName>style.visibility</p:attrName>
                                        </p:attrNameLst>
                                      </p:cBhvr>
                                      <p:to>
                                        <p:strVal val="visible"/>
                                      </p:to>
                                    </p:set>
                                    <p:animEffect transition="in" filter="fade">
                                      <p:cBhvr>
                                        <p:cTn id="37" dur="500"/>
                                        <p:tgtEl>
                                          <p:spTgt spid="123"/>
                                        </p:tgtEl>
                                      </p:cBhvr>
                                    </p:animEffect>
                                    <p:anim calcmode="lin" valueType="num">
                                      <p:cBhvr additive="base">
                                        <p:cTn id="38" dur="500" decel="100000" fill="hold"/>
                                        <p:tgtEl>
                                          <p:spTgt spid="123"/>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24"/>
                                        </p:tgtEl>
                                        <p:attrNameLst>
                                          <p:attrName>style.visibility</p:attrName>
                                        </p:attrNameLst>
                                      </p:cBhvr>
                                      <p:to>
                                        <p:strVal val="visible"/>
                                      </p:to>
                                    </p:set>
                                    <p:animEffect transition="in" filter="fade">
                                      <p:cBhvr>
                                        <p:cTn id="41" dur="500"/>
                                        <p:tgtEl>
                                          <p:spTgt spid="124"/>
                                        </p:tgtEl>
                                      </p:cBhvr>
                                    </p:animEffect>
                                    <p:anim calcmode="lin" valueType="num">
                                      <p:cBhvr additive="base">
                                        <p:cTn id="42" dur="500" decel="100000" fill="hold"/>
                                        <p:tgtEl>
                                          <p:spTgt spid="124"/>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25"/>
                                        </p:tgtEl>
                                        <p:attrNameLst>
                                          <p:attrName>style.visibility</p:attrName>
                                        </p:attrNameLst>
                                      </p:cBhvr>
                                      <p:to>
                                        <p:strVal val="visible"/>
                                      </p:to>
                                    </p:set>
                                    <p:animEffect transition="in" filter="fade">
                                      <p:cBhvr>
                                        <p:cTn id="45" dur="500"/>
                                        <p:tgtEl>
                                          <p:spTgt spid="125"/>
                                        </p:tgtEl>
                                      </p:cBhvr>
                                    </p:animEffect>
                                    <p:anim calcmode="lin" valueType="num">
                                      <p:cBhvr additive="base">
                                        <p:cTn id="46" dur="500" decel="100000" fill="hold"/>
                                        <p:tgtEl>
                                          <p:spTgt spid="125"/>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fade">
                                      <p:cBhvr>
                                        <p:cTn id="51" dur="500"/>
                                        <p:tgtEl>
                                          <p:spTgt spid="126"/>
                                        </p:tgtEl>
                                      </p:cBhvr>
                                    </p:animEffect>
                                    <p:anim calcmode="lin" valueType="num">
                                      <p:cBhvr additive="base">
                                        <p:cTn id="52" dur="500" decel="100000" fill="hold"/>
                                        <p:tgtEl>
                                          <p:spTgt spid="126"/>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27"/>
                                        </p:tgtEl>
                                        <p:attrNameLst>
                                          <p:attrName>style.visibility</p:attrName>
                                        </p:attrNameLst>
                                      </p:cBhvr>
                                      <p:to>
                                        <p:strVal val="visible"/>
                                      </p:to>
                                    </p:set>
                                    <p:animEffect transition="in" filter="fade">
                                      <p:cBhvr>
                                        <p:cTn id="55" dur="500"/>
                                        <p:tgtEl>
                                          <p:spTgt spid="127"/>
                                        </p:tgtEl>
                                      </p:cBhvr>
                                    </p:animEffect>
                                    <p:anim calcmode="lin" valueType="num">
                                      <p:cBhvr additive="base">
                                        <p:cTn id="56" dur="500" decel="100000" fill="hold"/>
                                        <p:tgtEl>
                                          <p:spTgt spid="127"/>
                                        </p:tgtEl>
                                        <p:attrNameLst>
                                          <p:attrName>ppt_x</p:attrName>
                                        </p:attrNameLst>
                                      </p:cBhvr>
                                      <p:tavLst>
                                        <p:tav tm="0">
                                          <p:val>
                                            <p:strVal val="#ppt_x+0.05"/>
                                          </p:val>
                                        </p:tav>
                                        <p:tav tm="100000">
                                          <p:val>
                                            <p:strVal val="#ppt_x"/>
                                          </p:val>
                                        </p:tav>
                                      </p:tavLst>
                                    </p:anim>
                                  </p:childTnLst>
                                </p:cTn>
                              </p:par>
                              <p:par>
                                <p:cTn id="57" presetID="42" presetClass="entr" presetSubtype="0" fill="hold" nodeType="withEffect">
                                  <p:stCondLst>
                                    <p:cond delay="0"/>
                                  </p:stCondLst>
                                  <p:childTnLst>
                                    <p:set>
                                      <p:cBhvr>
                                        <p:cTn id="58" dur="1" fill="hold">
                                          <p:stCondLst>
                                            <p:cond delay="0"/>
                                          </p:stCondLst>
                                        </p:cTn>
                                        <p:tgtEl>
                                          <p:spTgt spid="128"/>
                                        </p:tgtEl>
                                        <p:attrNameLst>
                                          <p:attrName>style.visibility</p:attrName>
                                        </p:attrNameLst>
                                      </p:cBhvr>
                                      <p:to>
                                        <p:strVal val="visible"/>
                                      </p:to>
                                    </p:set>
                                    <p:animEffect transition="in" filter="fade">
                                      <p:cBhvr>
                                        <p:cTn id="59" dur="500"/>
                                        <p:tgtEl>
                                          <p:spTgt spid="128"/>
                                        </p:tgtEl>
                                      </p:cBhvr>
                                    </p:animEffect>
                                    <p:anim calcmode="lin" valueType="num">
                                      <p:cBhvr additive="base">
                                        <p:cTn id="60" dur="500" decel="100000" fill="hold"/>
                                        <p:tgtEl>
                                          <p:spTgt spid="128"/>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29"/>
                                        </p:tgtEl>
                                        <p:attrNameLst>
                                          <p:attrName>style.visibility</p:attrName>
                                        </p:attrNameLst>
                                      </p:cBhvr>
                                      <p:to>
                                        <p:strVal val="visible"/>
                                      </p:to>
                                    </p:set>
                                    <p:animEffect transition="in" filter="fade">
                                      <p:cBhvr>
                                        <p:cTn id="63" dur="500"/>
                                        <p:tgtEl>
                                          <p:spTgt spid="129"/>
                                        </p:tgtEl>
                                      </p:cBhvr>
                                    </p:animEffect>
                                    <p:anim calcmode="lin" valueType="num">
                                      <p:cBhvr additive="base">
                                        <p:cTn id="64" dur="500" decel="100000" fill="hold"/>
                                        <p:tgtEl>
                                          <p:spTgt spid="129"/>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500"/>
                                        <p:tgtEl>
                                          <p:spTgt spid="130"/>
                                        </p:tgtEl>
                                      </p:cBhvr>
                                    </p:animEffect>
                                    <p:anim calcmode="lin" valueType="num">
                                      <p:cBhvr additive="base">
                                        <p:cTn id="68"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20" grpId="0" animBg="1"/>
      <p:bldP spid="121" grpId="0" animBg="1"/>
      <p:bldP spid="122" grpId="0" animBg="1"/>
      <p:bldP spid="124" grpId="0" animBg="1"/>
      <p:bldP spid="125" grpId="0" animBg="1"/>
      <p:bldP spid="126" grpId="0" animBg="1"/>
      <p:bldP spid="127" grpId="0" animBg="1"/>
      <p:bldP spid="129" grpId="0" animBg="1"/>
      <p:bldP spid="130"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PRINCIPLE 08</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Sustainable Pace</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220</a:t>
            </a:r>
            <a:endParaRPr lang="en-US" sz="850" dirty="0"/>
          </a:p>
        </p:txBody>
      </p:sp>
      <p:sp>
        <p:nvSpPr>
          <p:cNvPr id="101" name="!!trk0"/>
          <p:cNvSpPr/>
          <p:nvPr/>
        </p:nvSpPr>
        <p:spPr>
          <a:xfrm>
            <a:off x="770839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a:t>
            </a:r>
            <a:endParaRPr lang="en-US" sz="700" dirty="0"/>
          </a:p>
        </p:txBody>
      </p:sp>
      <p:sp>
        <p:nvSpPr>
          <p:cNvPr id="102" name="!!trk1"/>
          <p:cNvSpPr/>
          <p:nvPr/>
        </p:nvSpPr>
        <p:spPr>
          <a:xfrm>
            <a:off x="803757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2</a:t>
            </a:r>
            <a:endParaRPr lang="en-US" sz="700" dirty="0"/>
          </a:p>
        </p:txBody>
      </p:sp>
      <p:sp>
        <p:nvSpPr>
          <p:cNvPr id="103" name="!!trk2"/>
          <p:cNvSpPr/>
          <p:nvPr/>
        </p:nvSpPr>
        <p:spPr>
          <a:xfrm>
            <a:off x="836676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3</a:t>
            </a:r>
            <a:endParaRPr lang="en-US" sz="700" dirty="0"/>
          </a:p>
        </p:txBody>
      </p:sp>
      <p:sp>
        <p:nvSpPr>
          <p:cNvPr id="104" name="!!trk3"/>
          <p:cNvSpPr/>
          <p:nvPr/>
        </p:nvSpPr>
        <p:spPr>
          <a:xfrm>
            <a:off x="8695944"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4</a:t>
            </a:r>
            <a:endParaRPr lang="en-US" sz="700" dirty="0"/>
          </a:p>
        </p:txBody>
      </p:sp>
      <p:sp>
        <p:nvSpPr>
          <p:cNvPr id="105" name="!!trk4"/>
          <p:cNvSpPr/>
          <p:nvPr/>
        </p:nvSpPr>
        <p:spPr>
          <a:xfrm>
            <a:off x="9025128"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5</a:t>
            </a:r>
            <a:endParaRPr lang="en-US" sz="700" dirty="0"/>
          </a:p>
        </p:txBody>
      </p:sp>
      <p:sp>
        <p:nvSpPr>
          <p:cNvPr id="106" name="!!trk5"/>
          <p:cNvSpPr/>
          <p:nvPr/>
        </p:nvSpPr>
        <p:spPr>
          <a:xfrm>
            <a:off x="935431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6</a:t>
            </a:r>
            <a:endParaRPr lang="en-US" sz="700" dirty="0"/>
          </a:p>
        </p:txBody>
      </p:sp>
      <p:sp>
        <p:nvSpPr>
          <p:cNvPr id="107" name="!!trk6"/>
          <p:cNvSpPr/>
          <p:nvPr/>
        </p:nvSpPr>
        <p:spPr>
          <a:xfrm>
            <a:off x="968349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7</a:t>
            </a:r>
            <a:endParaRPr lang="en-US" sz="700" dirty="0"/>
          </a:p>
        </p:txBody>
      </p:sp>
      <p:sp>
        <p:nvSpPr>
          <p:cNvPr id="108" name="!!trk7"/>
          <p:cNvSpPr/>
          <p:nvPr/>
        </p:nvSpPr>
        <p:spPr>
          <a:xfrm>
            <a:off x="10012680" y="457200"/>
            <a:ext cx="265176" cy="265176"/>
          </a:xfrm>
          <a:prstGeom prst="ellipse">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0F172A"/>
                </a:solidFill>
                <a:latin typeface="Segoe UI"/>
                <a:ea typeface="Segoe UI"/>
                <a:cs typeface="Segoe UI"/>
              </a:rPr>
              <a:t>8</a:t>
            </a:r>
            <a:endParaRPr lang="en-US" sz="700" dirty="0"/>
          </a:p>
        </p:txBody>
      </p:sp>
      <p:sp>
        <p:nvSpPr>
          <p:cNvPr id="109" name="!!trk8"/>
          <p:cNvSpPr/>
          <p:nvPr/>
        </p:nvSpPr>
        <p:spPr>
          <a:xfrm>
            <a:off x="10341864"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9</a:t>
            </a:r>
            <a:endParaRPr lang="en-US" sz="700" dirty="0"/>
          </a:p>
        </p:txBody>
      </p:sp>
      <p:sp>
        <p:nvSpPr>
          <p:cNvPr id="110" name="!!trk9"/>
          <p:cNvSpPr/>
          <p:nvPr/>
        </p:nvSpPr>
        <p:spPr>
          <a:xfrm>
            <a:off x="1067104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10</a:t>
            </a:r>
            <a:endParaRPr lang="en-US" sz="700" dirty="0"/>
          </a:p>
        </p:txBody>
      </p:sp>
      <p:sp>
        <p:nvSpPr>
          <p:cNvPr id="111" name="!!trk10"/>
          <p:cNvSpPr/>
          <p:nvPr/>
        </p:nvSpPr>
        <p:spPr>
          <a:xfrm>
            <a:off x="1100023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11</a:t>
            </a:r>
            <a:endParaRPr lang="en-US" sz="700" dirty="0"/>
          </a:p>
        </p:txBody>
      </p:sp>
      <p:sp>
        <p:nvSpPr>
          <p:cNvPr id="112" name="!!trk11"/>
          <p:cNvSpPr/>
          <p:nvPr/>
        </p:nvSpPr>
        <p:spPr>
          <a:xfrm>
            <a:off x="1132941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12</a:t>
            </a:r>
            <a:endParaRPr lang="en-US" sz="700" dirty="0"/>
          </a:p>
        </p:txBody>
      </p:sp>
      <p:sp>
        <p:nvSpPr>
          <p:cNvPr id="113" name="!!pnum"/>
          <p:cNvSpPr txBox="1"/>
          <p:nvPr/>
        </p:nvSpPr>
        <p:spPr>
          <a:xfrm>
            <a:off x="506578" y="1600200"/>
            <a:ext cx="2194560" cy="11887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7200" b="1" dirty="0">
                <a:solidFill>
                  <a:srgbClr val="FBBF24"/>
                </a:solidFill>
                <a:latin typeface="Segoe UI"/>
                <a:ea typeface="Segoe UI"/>
                <a:cs typeface="Segoe UI"/>
              </a:rPr>
              <a:t>08</a:t>
            </a:r>
            <a:endParaRPr lang="en-US" sz="7200" dirty="0"/>
          </a:p>
        </p:txBody>
      </p:sp>
      <p:sp>
        <p:nvSpPr>
          <p:cNvPr id="114" name="s114"/>
          <p:cNvSpPr/>
          <p:nvPr/>
        </p:nvSpPr>
        <p:spPr>
          <a:xfrm>
            <a:off x="3057754" y="1828800"/>
            <a:ext cx="777240" cy="7772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3244291" y="2015338"/>
            <a:ext cx="404165" cy="404165"/>
          </a:xfrm>
          <a:prstGeom prst="rect">
            <a:avLst/>
          </a:prstGeom>
        </p:spPr>
      </p:pic>
      <p:sp>
        <p:nvSpPr>
          <p:cNvPr id="116" name="!!def"/>
          <p:cNvSpPr/>
          <p:nvPr/>
        </p:nvSpPr>
        <p:spPr>
          <a:xfrm>
            <a:off x="543154" y="2926080"/>
            <a:ext cx="3886200" cy="868680"/>
          </a:xfrm>
          <a:prstGeom prst="roundRect">
            <a:avLst>
              <a:gd name="adj" fmla="val 12000"/>
            </a:avLst>
          </a:prstGeom>
          <a:solidFill>
            <a:srgbClr val="FBBF24">
              <a:alpha val="10000"/>
            </a:srgbClr>
          </a:solidFill>
          <a:ln w="12700">
            <a:solidFill>
              <a:srgbClr val="FBBF24"/>
            </a:solidFill>
            <a:prstDash val="solid"/>
          </a:ln>
        </p:spPr>
        <p:txBody>
          <a:bodyPr wrap="square" lIns="201168" tIns="45720" rIns="137160" bIns="45720" rtlCol="0" anchor="ctr">
            <a:noAutofit/>
          </a:bodyPr>
          <a:lstStyle/>
          <a:p>
            <a:pPr marL="0" indent="0" algn="l">
              <a:spcBef>
                <a:spcPts val="0"/>
              </a:spcBef>
              <a:spcAft>
                <a:spcPts val="200"/>
              </a:spcAft>
              <a:buNone/>
            </a:pPr>
            <a:r>
              <a:rPr lang="en-US" sz="1000" b="1" dirty="0">
                <a:solidFill>
                  <a:srgbClr val="FBBF24"/>
                </a:solidFill>
                <a:latin typeface="Segoe UI"/>
                <a:ea typeface="Segoe UI"/>
                <a:cs typeface="Segoe UI"/>
              </a:rPr>
              <a:t>IN SHORT</a:t>
            </a:r>
            <a:endParaRPr lang="en-US" sz="1000" dirty="0"/>
          </a:p>
          <a:p>
            <a:pPr marL="0" indent="0" algn="l">
              <a:spcBef>
                <a:spcPts val="0"/>
              </a:spcBef>
              <a:spcAft>
                <a:spcPts val="0"/>
              </a:spcAft>
              <a:buNone/>
            </a:pPr>
            <a:r>
              <a:rPr lang="en-US" sz="1450" b="1" dirty="0">
                <a:solidFill>
                  <a:srgbClr val="FFFFFF"/>
                </a:solidFill>
                <a:latin typeface="Segoe UI"/>
                <a:ea typeface="Segoe UI"/>
                <a:cs typeface="Segoe UI"/>
              </a:rPr>
              <a:t>The team should be able to keep going indefinitely.</a:t>
            </a:r>
            <a:endParaRPr lang="en-US" sz="1450" dirty="0"/>
          </a:p>
        </p:txBody>
      </p:sp>
      <p:sp>
        <p:nvSpPr>
          <p:cNvPr id="117" name="!!quote"/>
          <p:cNvSpPr/>
          <p:nvPr/>
        </p:nvSpPr>
        <p:spPr>
          <a:xfrm>
            <a:off x="543154" y="3931920"/>
            <a:ext cx="3886200" cy="1691640"/>
          </a:xfrm>
          <a:prstGeom prst="roundRect">
            <a:avLst>
              <a:gd name="adj" fmla="val 8000"/>
            </a:avLst>
          </a:prstGeom>
          <a:solidFill>
            <a:srgbClr val="111B2E"/>
          </a:solidFill>
          <a:ln w="12700">
            <a:solidFill>
              <a:srgbClr val="1E3A5F"/>
            </a:solidFill>
            <a:prstDash val="solid"/>
          </a:ln>
        </p:spPr>
        <p:txBody>
          <a:bodyPr wrap="square" lIns="201168" tIns="146304" rIns="164592" bIns="91440" rtlCol="0" anchor="t">
            <a:noAutofit/>
          </a:bodyPr>
          <a:lstStyle/>
          <a:p>
            <a:pPr marL="0" indent="0" algn="l">
              <a:spcBef>
                <a:spcPts val="0"/>
              </a:spcBef>
              <a:spcAft>
                <a:spcPts val="400"/>
              </a:spcAft>
              <a:buNone/>
            </a:pPr>
            <a:r>
              <a:rPr lang="en-US" sz="1000" b="1" dirty="0">
                <a:solidFill>
                  <a:srgbClr val="94A3B8"/>
                </a:solidFill>
                <a:latin typeface="Segoe UI"/>
                <a:ea typeface="Segoe UI"/>
                <a:cs typeface="Segoe UI"/>
              </a:rPr>
              <a:t>THE MANIFESTO SAYS</a:t>
            </a:r>
            <a:endParaRPr lang="en-US" sz="1000" dirty="0"/>
          </a:p>
          <a:p>
            <a:pPr marL="0" indent="0" algn="l">
              <a:lnSpc>
                <a:spcPct val="110000"/>
              </a:lnSpc>
              <a:spcBef>
                <a:spcPts val="0"/>
              </a:spcBef>
              <a:spcAft>
                <a:spcPts val="0"/>
              </a:spcAft>
              <a:buNone/>
            </a:pPr>
            <a:r>
              <a:rPr lang="en-US" sz="1250" b="0" i="1" dirty="0">
                <a:solidFill>
                  <a:srgbClr val="CBD5E1"/>
                </a:solidFill>
                <a:latin typeface="Segoe UI"/>
                <a:ea typeface="Segoe UI"/>
                <a:cs typeface="Segoe UI"/>
              </a:rPr>
              <a:t>“Agile processes promote sustainable development. The sponsors, developers, and users should be able to maintain a constant pace indefinitely.”</a:t>
            </a:r>
            <a:endParaRPr lang="en-US" sz="1250" dirty="0"/>
          </a:p>
        </p:txBody>
      </p:sp>
      <p:sp>
        <p:nvSpPr>
          <p:cNvPr id="118" name="s118"/>
          <p:cNvSpPr/>
          <p:nvPr/>
        </p:nvSpPr>
        <p:spPr>
          <a:xfrm>
            <a:off x="4886554" y="209397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19" name="s119"/>
          <p:cNvSpPr/>
          <p:nvPr/>
        </p:nvSpPr>
        <p:spPr>
          <a:xfrm>
            <a:off x="4703674" y="1783080"/>
            <a:ext cx="6927494" cy="91440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Can a team crunch 70-hour weeks for 3 months and stay Agile?</a:t>
            </a:r>
            <a:endParaRPr lang="en-US" sz="1450" dirty="0"/>
          </a:p>
        </p:txBody>
      </p:sp>
      <p:sp>
        <p:nvSpPr>
          <p:cNvPr id="120" name="s120"/>
          <p:cNvSpPr/>
          <p:nvPr/>
        </p:nvSpPr>
        <p:spPr>
          <a:xfrm>
            <a:off x="4703674" y="2862072"/>
            <a:ext cx="283464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CASE · Food Delivery Platform</a:t>
            </a:r>
            <a:endParaRPr lang="en-US" sz="1000" dirty="0"/>
          </a:p>
        </p:txBody>
      </p:sp>
      <p:sp>
        <p:nvSpPr>
          <p:cNvPr id="121" name="s121"/>
          <p:cNvSpPr/>
          <p:nvPr/>
        </p:nvSpPr>
        <p:spPr>
          <a:xfrm>
            <a:off x="4703674" y="3337560"/>
            <a:ext cx="3349447" cy="22860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p:nvPr/>
        </p:nvSpPr>
        <p:spPr>
          <a:xfrm>
            <a:off x="4904842" y="3520440"/>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5"/>
          <a:stretch>
            <a:fillRect/>
          </a:stretch>
        </p:blipFill>
        <p:spPr>
          <a:xfrm>
            <a:off x="5014570" y="3630168"/>
            <a:ext cx="237744" cy="237744"/>
          </a:xfrm>
          <a:prstGeom prst="rect">
            <a:avLst/>
          </a:prstGeom>
        </p:spPr>
      </p:pic>
      <p:sp>
        <p:nvSpPr>
          <p:cNvPr id="124" name="s124"/>
          <p:cNvSpPr txBox="1"/>
          <p:nvPr/>
        </p:nvSpPr>
        <p:spPr>
          <a:xfrm>
            <a:off x="5480914"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IGNORE IT</a:t>
            </a:r>
            <a:endParaRPr lang="en-US" sz="1200" dirty="0"/>
          </a:p>
        </p:txBody>
      </p:sp>
      <p:sp>
        <p:nvSpPr>
          <p:cNvPr id="125" name="s125"/>
          <p:cNvSpPr txBox="1"/>
          <p:nvPr/>
        </p:nvSpPr>
        <p:spPr>
          <a:xfrm>
            <a:off x="4932274"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0" dirty="0">
                <a:solidFill>
                  <a:srgbClr val="E2E8F0"/>
                </a:solidFill>
                <a:latin typeface="Segoe UI"/>
                <a:ea typeface="Segoe UI"/>
                <a:cs typeface="Segoe UI"/>
              </a:rPr>
              <a:t>Heroics, then burnout and bugs.</a:t>
            </a:r>
            <a:endParaRPr lang="en-US" sz="1500" dirty="0"/>
          </a:p>
        </p:txBody>
      </p:sp>
      <p:sp>
        <p:nvSpPr>
          <p:cNvPr id="126" name="s126"/>
          <p:cNvSpPr/>
          <p:nvPr/>
        </p:nvSpPr>
        <p:spPr>
          <a:xfrm>
            <a:off x="8281721" y="3337560"/>
            <a:ext cx="3349447" cy="2286000"/>
          </a:xfrm>
          <a:prstGeom prst="roundRect">
            <a:avLst>
              <a:gd name="adj" fmla="val 8000"/>
            </a:avLst>
          </a:prstGeom>
          <a:solidFill>
            <a:srgbClr val="34D399">
              <a:alpha val="8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482889" y="352044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6"/>
          <a:stretch>
            <a:fillRect/>
          </a:stretch>
        </p:blipFill>
        <p:spPr>
          <a:xfrm>
            <a:off x="8592617" y="3630168"/>
            <a:ext cx="237744" cy="237744"/>
          </a:xfrm>
          <a:prstGeom prst="rect">
            <a:avLst/>
          </a:prstGeom>
        </p:spPr>
      </p:pic>
      <p:sp>
        <p:nvSpPr>
          <p:cNvPr id="129" name="s129"/>
          <p:cNvSpPr txBox="1"/>
          <p:nvPr/>
        </p:nvSpPr>
        <p:spPr>
          <a:xfrm>
            <a:off x="9058961"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APPLY IT</a:t>
            </a:r>
            <a:endParaRPr lang="en-US" sz="1200" dirty="0"/>
          </a:p>
        </p:txBody>
      </p:sp>
      <p:sp>
        <p:nvSpPr>
          <p:cNvPr id="130" name="s130"/>
          <p:cNvSpPr txBox="1"/>
          <p:nvPr/>
        </p:nvSpPr>
        <p:spPr>
          <a:xfrm>
            <a:off x="8510321"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FFFFF"/>
                </a:solidFill>
                <a:latin typeface="Segoe UI"/>
                <a:ea typeface="Segoe UI"/>
                <a:cs typeface="Segoe UI"/>
              </a:rPr>
              <a:t>A steady 2-week rhythm and a healthy on-call.</a:t>
            </a:r>
            <a:endParaRPr lang="en-US" sz="15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30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4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 dur="400" decel="100000" fill="hold"/>
                                        <p:tgtEl>
                                          <p:spTgt spid="115"/>
                                        </p:tgtEl>
                                        <p:attrNameLst>
                                          <p:attrName>ppt_h</p:attrName>
                                        </p:attrNameLst>
                                      </p:cBhvr>
                                      <p:tavLst>
                                        <p:tav tm="0">
                                          <p:val>
                                            <p:strVal val="#ppt_h*0.3"/>
                                          </p:val>
                                        </p:tav>
                                        <p:tav tm="100000">
                                          <p:val>
                                            <p:strVal val="#ppt_h*1.08"/>
                                          </p:val>
                                        </p:tav>
                                      </p:tavLst>
                                    </p:anim>
                                    <p:animEffect transition="in" filter="fade">
                                      <p:cBhvr>
                                        <p:cTn id="9" dur="200"/>
                                        <p:tgtEl>
                                          <p:spTgt spid="115"/>
                                        </p:tgtEl>
                                      </p:cBhvr>
                                    </p:animEffect>
                                    <p:anim calcmode="lin" valueType="num">
                                      <p:cBhvr additive="base">
                                        <p:cTn id="10" dur="160" fill="hold">
                                          <p:stCondLst>
                                            <p:cond delay="400"/>
                                          </p:stCondLst>
                                        </p:cTn>
                                        <p:tgtEl>
                                          <p:spTgt spid="115"/>
                                        </p:tgtEl>
                                        <p:attrNameLst>
                                          <p:attrName>ppt_w</p:attrName>
                                        </p:attrNameLst>
                                      </p:cBhvr>
                                      <p:tavLst>
                                        <p:tav tm="0">
                                          <p:val>
                                            <p:strVal val="#ppt_w*1.08"/>
                                          </p:val>
                                        </p:tav>
                                        <p:tav tm="100000">
                                          <p:val>
                                            <p:strVal val="#ppt_w"/>
                                          </p:val>
                                        </p:tav>
                                      </p:tavLst>
                                    </p:anim>
                                    <p:anim calcmode="lin" valueType="num">
                                      <p:cBhvr additive="base">
                                        <p:cTn id="11" dur="160" fill="hold">
                                          <p:stCondLst>
                                            <p:cond delay="4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fade">
                                      <p:cBhvr>
                                        <p:cTn id="16" dur="500"/>
                                        <p:tgtEl>
                                          <p:spTgt spid="119"/>
                                        </p:tgtEl>
                                      </p:cBhvr>
                                    </p:animEffect>
                                    <p:anim calcmode="lin" valueType="num">
                                      <p:cBhvr additive="base">
                                        <p:cTn id="17" dur="500" decel="100000" fill="hold"/>
                                        <p:tgtEl>
                                          <p:spTgt spid="119"/>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18"/>
                                        </p:tgtEl>
                                        <p:attrNameLst>
                                          <p:attrName>style.visibility</p:attrName>
                                        </p:attrNameLst>
                                      </p:cBhvr>
                                      <p:to>
                                        <p:strVal val="visible"/>
                                      </p:to>
                                    </p:set>
                                    <p:animEffect transition="in" filter="fade">
                                      <p:cBhvr>
                                        <p:cTn id="20" dur="500"/>
                                        <p:tgtEl>
                                          <p:spTgt spid="118"/>
                                        </p:tgtEl>
                                      </p:cBhvr>
                                    </p:animEffect>
                                    <p:anim calcmode="lin" valueType="num">
                                      <p:cBhvr additive="base">
                                        <p:cTn id="21" dur="500" decel="100000" fill="hold"/>
                                        <p:tgtEl>
                                          <p:spTgt spid="118"/>
                                        </p:tgtEl>
                                        <p:attrNameLst>
                                          <p:attrName>ppt_y</p:attrName>
                                        </p:attrNameLst>
                                      </p:cBhvr>
                                      <p:tavLst>
                                        <p:tav tm="0">
                                          <p:val>
                                            <p:strVal val="#ppt_y+0.06"/>
                                          </p:val>
                                        </p:tav>
                                        <p:tav tm="100000">
                                          <p:val>
                                            <p:strVal val="#ppt_y"/>
                                          </p:val>
                                        </p:tav>
                                      </p:tavLst>
                                    </p:anim>
                                  </p:childTnLst>
                                </p:cTn>
                              </p:par>
                              <p:par>
                                <p:cTn id="22" presetID="10" presetClass="entr" presetSubtype="0" fill="hold" grpId="0" nodeType="withEffect">
                                  <p:stCondLst>
                                    <p:cond delay="120"/>
                                  </p:stCondLst>
                                  <p:childTnLst>
                                    <p:set>
                                      <p:cBhvr>
                                        <p:cTn id="23" dur="1" fill="hold">
                                          <p:stCondLst>
                                            <p:cond delay="0"/>
                                          </p:stCondLst>
                                        </p:cTn>
                                        <p:tgtEl>
                                          <p:spTgt spid="120"/>
                                        </p:tgtEl>
                                        <p:attrNameLst>
                                          <p:attrName>style.visibility</p:attrName>
                                        </p:attrNameLst>
                                      </p:cBhvr>
                                      <p:to>
                                        <p:strVal val="visible"/>
                                      </p:to>
                                    </p:set>
                                    <p:animEffect transition="in" filter="fade">
                                      <p:cBhvr>
                                        <p:cTn id="24" dur="500"/>
                                        <p:tgtEl>
                                          <p:spTgt spid="120"/>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fade">
                                      <p:cBhvr>
                                        <p:cTn id="29" dur="500"/>
                                        <p:tgtEl>
                                          <p:spTgt spid="121"/>
                                        </p:tgtEl>
                                      </p:cBhvr>
                                    </p:animEffect>
                                    <p:anim calcmode="lin" valueType="num">
                                      <p:cBhvr additive="base">
                                        <p:cTn id="30" dur="500" decel="100000" fill="hold"/>
                                        <p:tgtEl>
                                          <p:spTgt spid="121"/>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22"/>
                                        </p:tgtEl>
                                        <p:attrNameLst>
                                          <p:attrName>style.visibility</p:attrName>
                                        </p:attrNameLst>
                                      </p:cBhvr>
                                      <p:to>
                                        <p:strVal val="visible"/>
                                      </p:to>
                                    </p:set>
                                    <p:animEffect transition="in" filter="fade">
                                      <p:cBhvr>
                                        <p:cTn id="33" dur="500"/>
                                        <p:tgtEl>
                                          <p:spTgt spid="122"/>
                                        </p:tgtEl>
                                      </p:cBhvr>
                                    </p:animEffect>
                                    <p:anim calcmode="lin" valueType="num">
                                      <p:cBhvr additive="base">
                                        <p:cTn id="34" dur="500" decel="100000" fill="hold"/>
                                        <p:tgtEl>
                                          <p:spTgt spid="122"/>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23"/>
                                        </p:tgtEl>
                                        <p:attrNameLst>
                                          <p:attrName>style.visibility</p:attrName>
                                        </p:attrNameLst>
                                      </p:cBhvr>
                                      <p:to>
                                        <p:strVal val="visible"/>
                                      </p:to>
                                    </p:set>
                                    <p:animEffect transition="in" filter="fade">
                                      <p:cBhvr>
                                        <p:cTn id="37" dur="500"/>
                                        <p:tgtEl>
                                          <p:spTgt spid="123"/>
                                        </p:tgtEl>
                                      </p:cBhvr>
                                    </p:animEffect>
                                    <p:anim calcmode="lin" valueType="num">
                                      <p:cBhvr additive="base">
                                        <p:cTn id="38" dur="500" decel="100000" fill="hold"/>
                                        <p:tgtEl>
                                          <p:spTgt spid="123"/>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24"/>
                                        </p:tgtEl>
                                        <p:attrNameLst>
                                          <p:attrName>style.visibility</p:attrName>
                                        </p:attrNameLst>
                                      </p:cBhvr>
                                      <p:to>
                                        <p:strVal val="visible"/>
                                      </p:to>
                                    </p:set>
                                    <p:animEffect transition="in" filter="fade">
                                      <p:cBhvr>
                                        <p:cTn id="41" dur="500"/>
                                        <p:tgtEl>
                                          <p:spTgt spid="124"/>
                                        </p:tgtEl>
                                      </p:cBhvr>
                                    </p:animEffect>
                                    <p:anim calcmode="lin" valueType="num">
                                      <p:cBhvr additive="base">
                                        <p:cTn id="42" dur="500" decel="100000" fill="hold"/>
                                        <p:tgtEl>
                                          <p:spTgt spid="124"/>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25"/>
                                        </p:tgtEl>
                                        <p:attrNameLst>
                                          <p:attrName>style.visibility</p:attrName>
                                        </p:attrNameLst>
                                      </p:cBhvr>
                                      <p:to>
                                        <p:strVal val="visible"/>
                                      </p:to>
                                    </p:set>
                                    <p:animEffect transition="in" filter="fade">
                                      <p:cBhvr>
                                        <p:cTn id="45" dur="500"/>
                                        <p:tgtEl>
                                          <p:spTgt spid="125"/>
                                        </p:tgtEl>
                                      </p:cBhvr>
                                    </p:animEffect>
                                    <p:anim calcmode="lin" valueType="num">
                                      <p:cBhvr additive="base">
                                        <p:cTn id="46" dur="500" decel="100000" fill="hold"/>
                                        <p:tgtEl>
                                          <p:spTgt spid="125"/>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fade">
                                      <p:cBhvr>
                                        <p:cTn id="51" dur="500"/>
                                        <p:tgtEl>
                                          <p:spTgt spid="126"/>
                                        </p:tgtEl>
                                      </p:cBhvr>
                                    </p:animEffect>
                                    <p:anim calcmode="lin" valueType="num">
                                      <p:cBhvr additive="base">
                                        <p:cTn id="52" dur="500" decel="100000" fill="hold"/>
                                        <p:tgtEl>
                                          <p:spTgt spid="126"/>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27"/>
                                        </p:tgtEl>
                                        <p:attrNameLst>
                                          <p:attrName>style.visibility</p:attrName>
                                        </p:attrNameLst>
                                      </p:cBhvr>
                                      <p:to>
                                        <p:strVal val="visible"/>
                                      </p:to>
                                    </p:set>
                                    <p:animEffect transition="in" filter="fade">
                                      <p:cBhvr>
                                        <p:cTn id="55" dur="500"/>
                                        <p:tgtEl>
                                          <p:spTgt spid="127"/>
                                        </p:tgtEl>
                                      </p:cBhvr>
                                    </p:animEffect>
                                    <p:anim calcmode="lin" valueType="num">
                                      <p:cBhvr additive="base">
                                        <p:cTn id="56" dur="500" decel="100000" fill="hold"/>
                                        <p:tgtEl>
                                          <p:spTgt spid="127"/>
                                        </p:tgtEl>
                                        <p:attrNameLst>
                                          <p:attrName>ppt_x</p:attrName>
                                        </p:attrNameLst>
                                      </p:cBhvr>
                                      <p:tavLst>
                                        <p:tav tm="0">
                                          <p:val>
                                            <p:strVal val="#ppt_x+0.05"/>
                                          </p:val>
                                        </p:tav>
                                        <p:tav tm="100000">
                                          <p:val>
                                            <p:strVal val="#ppt_x"/>
                                          </p:val>
                                        </p:tav>
                                      </p:tavLst>
                                    </p:anim>
                                  </p:childTnLst>
                                </p:cTn>
                              </p:par>
                              <p:par>
                                <p:cTn id="57" presetID="42" presetClass="entr" presetSubtype="0" fill="hold" nodeType="withEffect">
                                  <p:stCondLst>
                                    <p:cond delay="0"/>
                                  </p:stCondLst>
                                  <p:childTnLst>
                                    <p:set>
                                      <p:cBhvr>
                                        <p:cTn id="58" dur="1" fill="hold">
                                          <p:stCondLst>
                                            <p:cond delay="0"/>
                                          </p:stCondLst>
                                        </p:cTn>
                                        <p:tgtEl>
                                          <p:spTgt spid="128"/>
                                        </p:tgtEl>
                                        <p:attrNameLst>
                                          <p:attrName>style.visibility</p:attrName>
                                        </p:attrNameLst>
                                      </p:cBhvr>
                                      <p:to>
                                        <p:strVal val="visible"/>
                                      </p:to>
                                    </p:set>
                                    <p:animEffect transition="in" filter="fade">
                                      <p:cBhvr>
                                        <p:cTn id="59" dur="500"/>
                                        <p:tgtEl>
                                          <p:spTgt spid="128"/>
                                        </p:tgtEl>
                                      </p:cBhvr>
                                    </p:animEffect>
                                    <p:anim calcmode="lin" valueType="num">
                                      <p:cBhvr additive="base">
                                        <p:cTn id="60" dur="500" decel="100000" fill="hold"/>
                                        <p:tgtEl>
                                          <p:spTgt spid="128"/>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29"/>
                                        </p:tgtEl>
                                        <p:attrNameLst>
                                          <p:attrName>style.visibility</p:attrName>
                                        </p:attrNameLst>
                                      </p:cBhvr>
                                      <p:to>
                                        <p:strVal val="visible"/>
                                      </p:to>
                                    </p:set>
                                    <p:animEffect transition="in" filter="fade">
                                      <p:cBhvr>
                                        <p:cTn id="63" dur="500"/>
                                        <p:tgtEl>
                                          <p:spTgt spid="129"/>
                                        </p:tgtEl>
                                      </p:cBhvr>
                                    </p:animEffect>
                                    <p:anim calcmode="lin" valueType="num">
                                      <p:cBhvr additive="base">
                                        <p:cTn id="64" dur="500" decel="100000" fill="hold"/>
                                        <p:tgtEl>
                                          <p:spTgt spid="129"/>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500"/>
                                        <p:tgtEl>
                                          <p:spTgt spid="130"/>
                                        </p:tgtEl>
                                      </p:cBhvr>
                                    </p:animEffect>
                                    <p:anim calcmode="lin" valueType="num">
                                      <p:cBhvr additive="base">
                                        <p:cTn id="68"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20" grpId="0" animBg="1"/>
      <p:bldP spid="121" grpId="0" animBg="1"/>
      <p:bldP spid="122" grpId="0" animBg="1"/>
      <p:bldP spid="124" grpId="0" animBg="1"/>
      <p:bldP spid="125" grpId="0" animBg="1"/>
      <p:bldP spid="126" grpId="0" animBg="1"/>
      <p:bldP spid="127" grpId="0" animBg="1"/>
      <p:bldP spid="129" grpId="0" animBg="1"/>
      <p:bldP spid="130"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PRINCIPLE 09</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Technical Excellence</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221</a:t>
            </a:r>
            <a:endParaRPr lang="en-US" sz="850" dirty="0"/>
          </a:p>
        </p:txBody>
      </p:sp>
      <p:sp>
        <p:nvSpPr>
          <p:cNvPr id="101" name="!!trk0"/>
          <p:cNvSpPr/>
          <p:nvPr/>
        </p:nvSpPr>
        <p:spPr>
          <a:xfrm>
            <a:off x="770839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a:t>
            </a:r>
            <a:endParaRPr lang="en-US" sz="700" dirty="0"/>
          </a:p>
        </p:txBody>
      </p:sp>
      <p:sp>
        <p:nvSpPr>
          <p:cNvPr id="102" name="!!trk1"/>
          <p:cNvSpPr/>
          <p:nvPr/>
        </p:nvSpPr>
        <p:spPr>
          <a:xfrm>
            <a:off x="803757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2</a:t>
            </a:r>
            <a:endParaRPr lang="en-US" sz="700" dirty="0"/>
          </a:p>
        </p:txBody>
      </p:sp>
      <p:sp>
        <p:nvSpPr>
          <p:cNvPr id="103" name="!!trk2"/>
          <p:cNvSpPr/>
          <p:nvPr/>
        </p:nvSpPr>
        <p:spPr>
          <a:xfrm>
            <a:off x="836676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3</a:t>
            </a:r>
            <a:endParaRPr lang="en-US" sz="700" dirty="0"/>
          </a:p>
        </p:txBody>
      </p:sp>
      <p:sp>
        <p:nvSpPr>
          <p:cNvPr id="104" name="!!trk3"/>
          <p:cNvSpPr/>
          <p:nvPr/>
        </p:nvSpPr>
        <p:spPr>
          <a:xfrm>
            <a:off x="8695944"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4</a:t>
            </a:r>
            <a:endParaRPr lang="en-US" sz="700" dirty="0"/>
          </a:p>
        </p:txBody>
      </p:sp>
      <p:sp>
        <p:nvSpPr>
          <p:cNvPr id="105" name="!!trk4"/>
          <p:cNvSpPr/>
          <p:nvPr/>
        </p:nvSpPr>
        <p:spPr>
          <a:xfrm>
            <a:off x="9025128"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5</a:t>
            </a:r>
            <a:endParaRPr lang="en-US" sz="700" dirty="0"/>
          </a:p>
        </p:txBody>
      </p:sp>
      <p:sp>
        <p:nvSpPr>
          <p:cNvPr id="106" name="!!trk5"/>
          <p:cNvSpPr/>
          <p:nvPr/>
        </p:nvSpPr>
        <p:spPr>
          <a:xfrm>
            <a:off x="935431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6</a:t>
            </a:r>
            <a:endParaRPr lang="en-US" sz="700" dirty="0"/>
          </a:p>
        </p:txBody>
      </p:sp>
      <p:sp>
        <p:nvSpPr>
          <p:cNvPr id="107" name="!!trk6"/>
          <p:cNvSpPr/>
          <p:nvPr/>
        </p:nvSpPr>
        <p:spPr>
          <a:xfrm>
            <a:off x="968349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7</a:t>
            </a:r>
            <a:endParaRPr lang="en-US" sz="700" dirty="0"/>
          </a:p>
        </p:txBody>
      </p:sp>
      <p:sp>
        <p:nvSpPr>
          <p:cNvPr id="108" name="!!trk7"/>
          <p:cNvSpPr/>
          <p:nvPr/>
        </p:nvSpPr>
        <p:spPr>
          <a:xfrm>
            <a:off x="1001268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8</a:t>
            </a:r>
            <a:endParaRPr lang="en-US" sz="700" dirty="0"/>
          </a:p>
        </p:txBody>
      </p:sp>
      <p:sp>
        <p:nvSpPr>
          <p:cNvPr id="109" name="!!trk8"/>
          <p:cNvSpPr/>
          <p:nvPr/>
        </p:nvSpPr>
        <p:spPr>
          <a:xfrm>
            <a:off x="10341864" y="457200"/>
            <a:ext cx="265176" cy="265176"/>
          </a:xfrm>
          <a:prstGeom prst="ellipse">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0F172A"/>
                </a:solidFill>
                <a:latin typeface="Segoe UI"/>
                <a:ea typeface="Segoe UI"/>
                <a:cs typeface="Segoe UI"/>
              </a:rPr>
              <a:t>9</a:t>
            </a:r>
            <a:endParaRPr lang="en-US" sz="700" dirty="0"/>
          </a:p>
        </p:txBody>
      </p:sp>
      <p:sp>
        <p:nvSpPr>
          <p:cNvPr id="110" name="!!trk9"/>
          <p:cNvSpPr/>
          <p:nvPr/>
        </p:nvSpPr>
        <p:spPr>
          <a:xfrm>
            <a:off x="10671048"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10</a:t>
            </a:r>
            <a:endParaRPr lang="en-US" sz="700" dirty="0"/>
          </a:p>
        </p:txBody>
      </p:sp>
      <p:sp>
        <p:nvSpPr>
          <p:cNvPr id="111" name="!!trk10"/>
          <p:cNvSpPr/>
          <p:nvPr/>
        </p:nvSpPr>
        <p:spPr>
          <a:xfrm>
            <a:off x="1100023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11</a:t>
            </a:r>
            <a:endParaRPr lang="en-US" sz="700" dirty="0"/>
          </a:p>
        </p:txBody>
      </p:sp>
      <p:sp>
        <p:nvSpPr>
          <p:cNvPr id="112" name="!!trk11"/>
          <p:cNvSpPr/>
          <p:nvPr/>
        </p:nvSpPr>
        <p:spPr>
          <a:xfrm>
            <a:off x="1132941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12</a:t>
            </a:r>
            <a:endParaRPr lang="en-US" sz="700" dirty="0"/>
          </a:p>
        </p:txBody>
      </p:sp>
      <p:sp>
        <p:nvSpPr>
          <p:cNvPr id="113" name="!!pnum"/>
          <p:cNvSpPr txBox="1"/>
          <p:nvPr/>
        </p:nvSpPr>
        <p:spPr>
          <a:xfrm>
            <a:off x="506578" y="1600200"/>
            <a:ext cx="2194560" cy="11887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7200" b="1" dirty="0">
                <a:solidFill>
                  <a:srgbClr val="FBBF24"/>
                </a:solidFill>
                <a:latin typeface="Segoe UI"/>
                <a:ea typeface="Segoe UI"/>
                <a:cs typeface="Segoe UI"/>
              </a:rPr>
              <a:t>09</a:t>
            </a:r>
            <a:endParaRPr lang="en-US" sz="7200" dirty="0"/>
          </a:p>
        </p:txBody>
      </p:sp>
      <p:sp>
        <p:nvSpPr>
          <p:cNvPr id="114" name="s114"/>
          <p:cNvSpPr/>
          <p:nvPr/>
        </p:nvSpPr>
        <p:spPr>
          <a:xfrm>
            <a:off x="3057754" y="1828800"/>
            <a:ext cx="777240" cy="7772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3244291" y="2015338"/>
            <a:ext cx="404165" cy="404165"/>
          </a:xfrm>
          <a:prstGeom prst="rect">
            <a:avLst/>
          </a:prstGeom>
        </p:spPr>
      </p:pic>
      <p:sp>
        <p:nvSpPr>
          <p:cNvPr id="116" name="!!def"/>
          <p:cNvSpPr/>
          <p:nvPr/>
        </p:nvSpPr>
        <p:spPr>
          <a:xfrm>
            <a:off x="543154" y="2926080"/>
            <a:ext cx="3886200" cy="868680"/>
          </a:xfrm>
          <a:prstGeom prst="roundRect">
            <a:avLst>
              <a:gd name="adj" fmla="val 12000"/>
            </a:avLst>
          </a:prstGeom>
          <a:solidFill>
            <a:srgbClr val="FBBF24">
              <a:alpha val="10000"/>
            </a:srgbClr>
          </a:solidFill>
          <a:ln w="12700">
            <a:solidFill>
              <a:srgbClr val="FBBF24"/>
            </a:solidFill>
            <a:prstDash val="solid"/>
          </a:ln>
        </p:spPr>
        <p:txBody>
          <a:bodyPr wrap="square" lIns="201168" tIns="45720" rIns="137160" bIns="45720" rtlCol="0" anchor="ctr">
            <a:noAutofit/>
          </a:bodyPr>
          <a:lstStyle/>
          <a:p>
            <a:pPr marL="0" indent="0" algn="l">
              <a:spcBef>
                <a:spcPts val="0"/>
              </a:spcBef>
              <a:spcAft>
                <a:spcPts val="200"/>
              </a:spcAft>
              <a:buNone/>
            </a:pPr>
            <a:r>
              <a:rPr lang="en-US" sz="1000" b="1" dirty="0">
                <a:solidFill>
                  <a:srgbClr val="FBBF24"/>
                </a:solidFill>
                <a:latin typeface="Segoe UI"/>
                <a:ea typeface="Segoe UI"/>
                <a:cs typeface="Segoe UI"/>
              </a:rPr>
              <a:t>IN SHORT</a:t>
            </a:r>
            <a:endParaRPr lang="en-US" sz="1000" dirty="0"/>
          </a:p>
          <a:p>
            <a:pPr marL="0" indent="0" algn="l">
              <a:spcBef>
                <a:spcPts val="0"/>
              </a:spcBef>
              <a:spcAft>
                <a:spcPts val="0"/>
              </a:spcAft>
              <a:buNone/>
            </a:pPr>
            <a:r>
              <a:rPr lang="en-US" sz="1450" b="1" dirty="0">
                <a:solidFill>
                  <a:srgbClr val="FFFFFF"/>
                </a:solidFill>
                <a:latin typeface="Segoe UI"/>
                <a:ea typeface="Segoe UI"/>
                <a:cs typeface="Segoe UI"/>
              </a:rPr>
              <a:t>Good design makes you more Agile.</a:t>
            </a:r>
            <a:endParaRPr lang="en-US" sz="1450" dirty="0"/>
          </a:p>
        </p:txBody>
      </p:sp>
      <p:sp>
        <p:nvSpPr>
          <p:cNvPr id="117" name="!!quote"/>
          <p:cNvSpPr/>
          <p:nvPr/>
        </p:nvSpPr>
        <p:spPr>
          <a:xfrm>
            <a:off x="543154" y="3931920"/>
            <a:ext cx="3886200" cy="1691640"/>
          </a:xfrm>
          <a:prstGeom prst="roundRect">
            <a:avLst>
              <a:gd name="adj" fmla="val 8000"/>
            </a:avLst>
          </a:prstGeom>
          <a:solidFill>
            <a:srgbClr val="111B2E"/>
          </a:solidFill>
          <a:ln w="12700">
            <a:solidFill>
              <a:srgbClr val="1E3A5F"/>
            </a:solidFill>
            <a:prstDash val="solid"/>
          </a:ln>
        </p:spPr>
        <p:txBody>
          <a:bodyPr wrap="square" lIns="201168" tIns="146304" rIns="164592" bIns="91440" rtlCol="0" anchor="t">
            <a:noAutofit/>
          </a:bodyPr>
          <a:lstStyle/>
          <a:p>
            <a:pPr marL="0" indent="0" algn="l">
              <a:spcBef>
                <a:spcPts val="0"/>
              </a:spcBef>
              <a:spcAft>
                <a:spcPts val="400"/>
              </a:spcAft>
              <a:buNone/>
            </a:pPr>
            <a:r>
              <a:rPr lang="en-US" sz="1000" b="1" dirty="0">
                <a:solidFill>
                  <a:srgbClr val="94A3B8"/>
                </a:solidFill>
                <a:latin typeface="Segoe UI"/>
                <a:ea typeface="Segoe UI"/>
                <a:cs typeface="Segoe UI"/>
              </a:rPr>
              <a:t>THE MANIFESTO SAYS</a:t>
            </a:r>
            <a:endParaRPr lang="en-US" sz="1000" dirty="0"/>
          </a:p>
          <a:p>
            <a:pPr marL="0" indent="0" algn="l">
              <a:lnSpc>
                <a:spcPct val="110000"/>
              </a:lnSpc>
              <a:spcBef>
                <a:spcPts val="0"/>
              </a:spcBef>
              <a:spcAft>
                <a:spcPts val="0"/>
              </a:spcAft>
              <a:buNone/>
            </a:pPr>
            <a:r>
              <a:rPr lang="en-US" sz="1250" b="0" i="1" dirty="0">
                <a:solidFill>
                  <a:srgbClr val="CBD5E1"/>
                </a:solidFill>
                <a:latin typeface="Segoe UI"/>
                <a:ea typeface="Segoe UI"/>
                <a:cs typeface="Segoe UI"/>
              </a:rPr>
              <a:t>“Continuous attention to technical excellence and good design enhances agility.”</a:t>
            </a:r>
            <a:endParaRPr lang="en-US" sz="1250" dirty="0"/>
          </a:p>
        </p:txBody>
      </p:sp>
      <p:sp>
        <p:nvSpPr>
          <p:cNvPr id="118" name="s118"/>
          <p:cNvSpPr/>
          <p:nvPr/>
        </p:nvSpPr>
        <p:spPr>
          <a:xfrm>
            <a:off x="4886554" y="209397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19" name="s119"/>
          <p:cNvSpPr/>
          <p:nvPr/>
        </p:nvSpPr>
        <p:spPr>
          <a:xfrm>
            <a:off x="4703674" y="1783080"/>
            <a:ext cx="6927494" cy="91440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Why does messy code make change slower next month?</a:t>
            </a:r>
            <a:endParaRPr lang="en-US" sz="1450" dirty="0"/>
          </a:p>
        </p:txBody>
      </p:sp>
      <p:sp>
        <p:nvSpPr>
          <p:cNvPr id="120" name="s120"/>
          <p:cNvSpPr/>
          <p:nvPr/>
        </p:nvSpPr>
        <p:spPr>
          <a:xfrm>
            <a:off x="4703674" y="2862072"/>
            <a:ext cx="283464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CASE · Food Delivery Platform</a:t>
            </a:r>
            <a:endParaRPr lang="en-US" sz="1000" dirty="0"/>
          </a:p>
        </p:txBody>
      </p:sp>
      <p:sp>
        <p:nvSpPr>
          <p:cNvPr id="121" name="s121"/>
          <p:cNvSpPr/>
          <p:nvPr/>
        </p:nvSpPr>
        <p:spPr>
          <a:xfrm>
            <a:off x="4703674" y="3337560"/>
            <a:ext cx="3349447" cy="22860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p:nvPr/>
        </p:nvSpPr>
        <p:spPr>
          <a:xfrm>
            <a:off x="4904842" y="3520440"/>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5"/>
          <a:stretch>
            <a:fillRect/>
          </a:stretch>
        </p:blipFill>
        <p:spPr>
          <a:xfrm>
            <a:off x="5014570" y="3630168"/>
            <a:ext cx="237744" cy="237744"/>
          </a:xfrm>
          <a:prstGeom prst="rect">
            <a:avLst/>
          </a:prstGeom>
        </p:spPr>
      </p:pic>
      <p:sp>
        <p:nvSpPr>
          <p:cNvPr id="124" name="s124"/>
          <p:cNvSpPr txBox="1"/>
          <p:nvPr/>
        </p:nvSpPr>
        <p:spPr>
          <a:xfrm>
            <a:off x="5480914"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IGNORE IT</a:t>
            </a:r>
            <a:endParaRPr lang="en-US" sz="1200" dirty="0"/>
          </a:p>
        </p:txBody>
      </p:sp>
      <p:sp>
        <p:nvSpPr>
          <p:cNvPr id="125" name="s125"/>
          <p:cNvSpPr txBox="1"/>
          <p:nvPr/>
        </p:nvSpPr>
        <p:spPr>
          <a:xfrm>
            <a:off x="4932274"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0" dirty="0">
                <a:solidFill>
                  <a:srgbClr val="E2E8F0"/>
                </a:solidFill>
                <a:latin typeface="Segoe UI"/>
                <a:ea typeface="Segoe UI"/>
                <a:cs typeface="Segoe UI"/>
              </a:rPr>
              <a:t>Coupon logic copy-pasted in 3 places.</a:t>
            </a:r>
            <a:endParaRPr lang="en-US" sz="1500" dirty="0"/>
          </a:p>
        </p:txBody>
      </p:sp>
      <p:sp>
        <p:nvSpPr>
          <p:cNvPr id="126" name="s126"/>
          <p:cNvSpPr/>
          <p:nvPr/>
        </p:nvSpPr>
        <p:spPr>
          <a:xfrm>
            <a:off x="8281721" y="3337560"/>
            <a:ext cx="3349447" cy="2286000"/>
          </a:xfrm>
          <a:prstGeom prst="roundRect">
            <a:avLst>
              <a:gd name="adj" fmla="val 8000"/>
            </a:avLst>
          </a:prstGeom>
          <a:solidFill>
            <a:srgbClr val="34D399">
              <a:alpha val="8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482889" y="352044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6"/>
          <a:stretch>
            <a:fillRect/>
          </a:stretch>
        </p:blipFill>
        <p:spPr>
          <a:xfrm>
            <a:off x="8592617" y="3630168"/>
            <a:ext cx="237744" cy="237744"/>
          </a:xfrm>
          <a:prstGeom prst="rect">
            <a:avLst/>
          </a:prstGeom>
        </p:spPr>
      </p:pic>
      <p:sp>
        <p:nvSpPr>
          <p:cNvPr id="129" name="s129"/>
          <p:cNvSpPr txBox="1"/>
          <p:nvPr/>
        </p:nvSpPr>
        <p:spPr>
          <a:xfrm>
            <a:off x="9058961"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APPLY IT</a:t>
            </a:r>
            <a:endParaRPr lang="en-US" sz="1200" dirty="0"/>
          </a:p>
        </p:txBody>
      </p:sp>
      <p:sp>
        <p:nvSpPr>
          <p:cNvPr id="130" name="s130"/>
          <p:cNvSpPr txBox="1"/>
          <p:nvPr/>
        </p:nvSpPr>
        <p:spPr>
          <a:xfrm>
            <a:off x="8510321"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FFFFF"/>
                </a:solidFill>
                <a:latin typeface="Segoe UI"/>
                <a:ea typeface="Segoe UI"/>
                <a:cs typeface="Segoe UI"/>
              </a:rPr>
              <a:t>One shared pricing module, covered by tests.</a:t>
            </a:r>
            <a:endParaRPr lang="en-US" sz="15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30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4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 dur="400" decel="100000" fill="hold"/>
                                        <p:tgtEl>
                                          <p:spTgt spid="115"/>
                                        </p:tgtEl>
                                        <p:attrNameLst>
                                          <p:attrName>ppt_h</p:attrName>
                                        </p:attrNameLst>
                                      </p:cBhvr>
                                      <p:tavLst>
                                        <p:tav tm="0">
                                          <p:val>
                                            <p:strVal val="#ppt_h*0.3"/>
                                          </p:val>
                                        </p:tav>
                                        <p:tav tm="100000">
                                          <p:val>
                                            <p:strVal val="#ppt_h*1.08"/>
                                          </p:val>
                                        </p:tav>
                                      </p:tavLst>
                                    </p:anim>
                                    <p:animEffect transition="in" filter="fade">
                                      <p:cBhvr>
                                        <p:cTn id="9" dur="200"/>
                                        <p:tgtEl>
                                          <p:spTgt spid="115"/>
                                        </p:tgtEl>
                                      </p:cBhvr>
                                    </p:animEffect>
                                    <p:anim calcmode="lin" valueType="num">
                                      <p:cBhvr additive="base">
                                        <p:cTn id="10" dur="160" fill="hold">
                                          <p:stCondLst>
                                            <p:cond delay="400"/>
                                          </p:stCondLst>
                                        </p:cTn>
                                        <p:tgtEl>
                                          <p:spTgt spid="115"/>
                                        </p:tgtEl>
                                        <p:attrNameLst>
                                          <p:attrName>ppt_w</p:attrName>
                                        </p:attrNameLst>
                                      </p:cBhvr>
                                      <p:tavLst>
                                        <p:tav tm="0">
                                          <p:val>
                                            <p:strVal val="#ppt_w*1.08"/>
                                          </p:val>
                                        </p:tav>
                                        <p:tav tm="100000">
                                          <p:val>
                                            <p:strVal val="#ppt_w"/>
                                          </p:val>
                                        </p:tav>
                                      </p:tavLst>
                                    </p:anim>
                                    <p:anim calcmode="lin" valueType="num">
                                      <p:cBhvr additive="base">
                                        <p:cTn id="11" dur="160" fill="hold">
                                          <p:stCondLst>
                                            <p:cond delay="4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fade">
                                      <p:cBhvr>
                                        <p:cTn id="16" dur="500"/>
                                        <p:tgtEl>
                                          <p:spTgt spid="119"/>
                                        </p:tgtEl>
                                      </p:cBhvr>
                                    </p:animEffect>
                                    <p:anim calcmode="lin" valueType="num">
                                      <p:cBhvr additive="base">
                                        <p:cTn id="17" dur="500" decel="100000" fill="hold"/>
                                        <p:tgtEl>
                                          <p:spTgt spid="119"/>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18"/>
                                        </p:tgtEl>
                                        <p:attrNameLst>
                                          <p:attrName>style.visibility</p:attrName>
                                        </p:attrNameLst>
                                      </p:cBhvr>
                                      <p:to>
                                        <p:strVal val="visible"/>
                                      </p:to>
                                    </p:set>
                                    <p:animEffect transition="in" filter="fade">
                                      <p:cBhvr>
                                        <p:cTn id="20" dur="500"/>
                                        <p:tgtEl>
                                          <p:spTgt spid="118"/>
                                        </p:tgtEl>
                                      </p:cBhvr>
                                    </p:animEffect>
                                    <p:anim calcmode="lin" valueType="num">
                                      <p:cBhvr additive="base">
                                        <p:cTn id="21" dur="500" decel="100000" fill="hold"/>
                                        <p:tgtEl>
                                          <p:spTgt spid="118"/>
                                        </p:tgtEl>
                                        <p:attrNameLst>
                                          <p:attrName>ppt_y</p:attrName>
                                        </p:attrNameLst>
                                      </p:cBhvr>
                                      <p:tavLst>
                                        <p:tav tm="0">
                                          <p:val>
                                            <p:strVal val="#ppt_y+0.06"/>
                                          </p:val>
                                        </p:tav>
                                        <p:tav tm="100000">
                                          <p:val>
                                            <p:strVal val="#ppt_y"/>
                                          </p:val>
                                        </p:tav>
                                      </p:tavLst>
                                    </p:anim>
                                  </p:childTnLst>
                                </p:cTn>
                              </p:par>
                              <p:par>
                                <p:cTn id="22" presetID="10" presetClass="entr" presetSubtype="0" fill="hold" grpId="0" nodeType="withEffect">
                                  <p:stCondLst>
                                    <p:cond delay="120"/>
                                  </p:stCondLst>
                                  <p:childTnLst>
                                    <p:set>
                                      <p:cBhvr>
                                        <p:cTn id="23" dur="1" fill="hold">
                                          <p:stCondLst>
                                            <p:cond delay="0"/>
                                          </p:stCondLst>
                                        </p:cTn>
                                        <p:tgtEl>
                                          <p:spTgt spid="120"/>
                                        </p:tgtEl>
                                        <p:attrNameLst>
                                          <p:attrName>style.visibility</p:attrName>
                                        </p:attrNameLst>
                                      </p:cBhvr>
                                      <p:to>
                                        <p:strVal val="visible"/>
                                      </p:to>
                                    </p:set>
                                    <p:animEffect transition="in" filter="fade">
                                      <p:cBhvr>
                                        <p:cTn id="24" dur="500"/>
                                        <p:tgtEl>
                                          <p:spTgt spid="120"/>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fade">
                                      <p:cBhvr>
                                        <p:cTn id="29" dur="500"/>
                                        <p:tgtEl>
                                          <p:spTgt spid="121"/>
                                        </p:tgtEl>
                                      </p:cBhvr>
                                    </p:animEffect>
                                    <p:anim calcmode="lin" valueType="num">
                                      <p:cBhvr additive="base">
                                        <p:cTn id="30" dur="500" decel="100000" fill="hold"/>
                                        <p:tgtEl>
                                          <p:spTgt spid="121"/>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22"/>
                                        </p:tgtEl>
                                        <p:attrNameLst>
                                          <p:attrName>style.visibility</p:attrName>
                                        </p:attrNameLst>
                                      </p:cBhvr>
                                      <p:to>
                                        <p:strVal val="visible"/>
                                      </p:to>
                                    </p:set>
                                    <p:animEffect transition="in" filter="fade">
                                      <p:cBhvr>
                                        <p:cTn id="33" dur="500"/>
                                        <p:tgtEl>
                                          <p:spTgt spid="122"/>
                                        </p:tgtEl>
                                      </p:cBhvr>
                                    </p:animEffect>
                                    <p:anim calcmode="lin" valueType="num">
                                      <p:cBhvr additive="base">
                                        <p:cTn id="34" dur="500" decel="100000" fill="hold"/>
                                        <p:tgtEl>
                                          <p:spTgt spid="122"/>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23"/>
                                        </p:tgtEl>
                                        <p:attrNameLst>
                                          <p:attrName>style.visibility</p:attrName>
                                        </p:attrNameLst>
                                      </p:cBhvr>
                                      <p:to>
                                        <p:strVal val="visible"/>
                                      </p:to>
                                    </p:set>
                                    <p:animEffect transition="in" filter="fade">
                                      <p:cBhvr>
                                        <p:cTn id="37" dur="500"/>
                                        <p:tgtEl>
                                          <p:spTgt spid="123"/>
                                        </p:tgtEl>
                                      </p:cBhvr>
                                    </p:animEffect>
                                    <p:anim calcmode="lin" valueType="num">
                                      <p:cBhvr additive="base">
                                        <p:cTn id="38" dur="500" decel="100000" fill="hold"/>
                                        <p:tgtEl>
                                          <p:spTgt spid="123"/>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24"/>
                                        </p:tgtEl>
                                        <p:attrNameLst>
                                          <p:attrName>style.visibility</p:attrName>
                                        </p:attrNameLst>
                                      </p:cBhvr>
                                      <p:to>
                                        <p:strVal val="visible"/>
                                      </p:to>
                                    </p:set>
                                    <p:animEffect transition="in" filter="fade">
                                      <p:cBhvr>
                                        <p:cTn id="41" dur="500"/>
                                        <p:tgtEl>
                                          <p:spTgt spid="124"/>
                                        </p:tgtEl>
                                      </p:cBhvr>
                                    </p:animEffect>
                                    <p:anim calcmode="lin" valueType="num">
                                      <p:cBhvr additive="base">
                                        <p:cTn id="42" dur="500" decel="100000" fill="hold"/>
                                        <p:tgtEl>
                                          <p:spTgt spid="124"/>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25"/>
                                        </p:tgtEl>
                                        <p:attrNameLst>
                                          <p:attrName>style.visibility</p:attrName>
                                        </p:attrNameLst>
                                      </p:cBhvr>
                                      <p:to>
                                        <p:strVal val="visible"/>
                                      </p:to>
                                    </p:set>
                                    <p:animEffect transition="in" filter="fade">
                                      <p:cBhvr>
                                        <p:cTn id="45" dur="500"/>
                                        <p:tgtEl>
                                          <p:spTgt spid="125"/>
                                        </p:tgtEl>
                                      </p:cBhvr>
                                    </p:animEffect>
                                    <p:anim calcmode="lin" valueType="num">
                                      <p:cBhvr additive="base">
                                        <p:cTn id="46" dur="500" decel="100000" fill="hold"/>
                                        <p:tgtEl>
                                          <p:spTgt spid="125"/>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fade">
                                      <p:cBhvr>
                                        <p:cTn id="51" dur="500"/>
                                        <p:tgtEl>
                                          <p:spTgt spid="126"/>
                                        </p:tgtEl>
                                      </p:cBhvr>
                                    </p:animEffect>
                                    <p:anim calcmode="lin" valueType="num">
                                      <p:cBhvr additive="base">
                                        <p:cTn id="52" dur="500" decel="100000" fill="hold"/>
                                        <p:tgtEl>
                                          <p:spTgt spid="126"/>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27"/>
                                        </p:tgtEl>
                                        <p:attrNameLst>
                                          <p:attrName>style.visibility</p:attrName>
                                        </p:attrNameLst>
                                      </p:cBhvr>
                                      <p:to>
                                        <p:strVal val="visible"/>
                                      </p:to>
                                    </p:set>
                                    <p:animEffect transition="in" filter="fade">
                                      <p:cBhvr>
                                        <p:cTn id="55" dur="500"/>
                                        <p:tgtEl>
                                          <p:spTgt spid="127"/>
                                        </p:tgtEl>
                                      </p:cBhvr>
                                    </p:animEffect>
                                    <p:anim calcmode="lin" valueType="num">
                                      <p:cBhvr additive="base">
                                        <p:cTn id="56" dur="500" decel="100000" fill="hold"/>
                                        <p:tgtEl>
                                          <p:spTgt spid="127"/>
                                        </p:tgtEl>
                                        <p:attrNameLst>
                                          <p:attrName>ppt_x</p:attrName>
                                        </p:attrNameLst>
                                      </p:cBhvr>
                                      <p:tavLst>
                                        <p:tav tm="0">
                                          <p:val>
                                            <p:strVal val="#ppt_x+0.05"/>
                                          </p:val>
                                        </p:tav>
                                        <p:tav tm="100000">
                                          <p:val>
                                            <p:strVal val="#ppt_x"/>
                                          </p:val>
                                        </p:tav>
                                      </p:tavLst>
                                    </p:anim>
                                  </p:childTnLst>
                                </p:cTn>
                              </p:par>
                              <p:par>
                                <p:cTn id="57" presetID="42" presetClass="entr" presetSubtype="0" fill="hold" nodeType="withEffect">
                                  <p:stCondLst>
                                    <p:cond delay="0"/>
                                  </p:stCondLst>
                                  <p:childTnLst>
                                    <p:set>
                                      <p:cBhvr>
                                        <p:cTn id="58" dur="1" fill="hold">
                                          <p:stCondLst>
                                            <p:cond delay="0"/>
                                          </p:stCondLst>
                                        </p:cTn>
                                        <p:tgtEl>
                                          <p:spTgt spid="128"/>
                                        </p:tgtEl>
                                        <p:attrNameLst>
                                          <p:attrName>style.visibility</p:attrName>
                                        </p:attrNameLst>
                                      </p:cBhvr>
                                      <p:to>
                                        <p:strVal val="visible"/>
                                      </p:to>
                                    </p:set>
                                    <p:animEffect transition="in" filter="fade">
                                      <p:cBhvr>
                                        <p:cTn id="59" dur="500"/>
                                        <p:tgtEl>
                                          <p:spTgt spid="128"/>
                                        </p:tgtEl>
                                      </p:cBhvr>
                                    </p:animEffect>
                                    <p:anim calcmode="lin" valueType="num">
                                      <p:cBhvr additive="base">
                                        <p:cTn id="60" dur="500" decel="100000" fill="hold"/>
                                        <p:tgtEl>
                                          <p:spTgt spid="128"/>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29"/>
                                        </p:tgtEl>
                                        <p:attrNameLst>
                                          <p:attrName>style.visibility</p:attrName>
                                        </p:attrNameLst>
                                      </p:cBhvr>
                                      <p:to>
                                        <p:strVal val="visible"/>
                                      </p:to>
                                    </p:set>
                                    <p:animEffect transition="in" filter="fade">
                                      <p:cBhvr>
                                        <p:cTn id="63" dur="500"/>
                                        <p:tgtEl>
                                          <p:spTgt spid="129"/>
                                        </p:tgtEl>
                                      </p:cBhvr>
                                    </p:animEffect>
                                    <p:anim calcmode="lin" valueType="num">
                                      <p:cBhvr additive="base">
                                        <p:cTn id="64" dur="500" decel="100000" fill="hold"/>
                                        <p:tgtEl>
                                          <p:spTgt spid="129"/>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500"/>
                                        <p:tgtEl>
                                          <p:spTgt spid="130"/>
                                        </p:tgtEl>
                                      </p:cBhvr>
                                    </p:animEffect>
                                    <p:anim calcmode="lin" valueType="num">
                                      <p:cBhvr additive="base">
                                        <p:cTn id="68"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20" grpId="0" animBg="1"/>
      <p:bldP spid="121" grpId="0" animBg="1"/>
      <p:bldP spid="122" grpId="0" animBg="1"/>
      <p:bldP spid="124" grpId="0" animBg="1"/>
      <p:bldP spid="125" grpId="0" animBg="1"/>
      <p:bldP spid="126" grpId="0" animBg="1"/>
      <p:bldP spid="127" grpId="0" animBg="1"/>
      <p:bldP spid="129" grpId="0" animBg="1"/>
      <p:bldP spid="130"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PRINCIPLE 10</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Simplicity</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222</a:t>
            </a:r>
            <a:endParaRPr lang="en-US" sz="850" dirty="0"/>
          </a:p>
        </p:txBody>
      </p:sp>
      <p:sp>
        <p:nvSpPr>
          <p:cNvPr id="101" name="!!trk0"/>
          <p:cNvSpPr/>
          <p:nvPr/>
        </p:nvSpPr>
        <p:spPr>
          <a:xfrm>
            <a:off x="770839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a:t>
            </a:r>
            <a:endParaRPr lang="en-US" sz="700" dirty="0"/>
          </a:p>
        </p:txBody>
      </p:sp>
      <p:sp>
        <p:nvSpPr>
          <p:cNvPr id="102" name="!!trk1"/>
          <p:cNvSpPr/>
          <p:nvPr/>
        </p:nvSpPr>
        <p:spPr>
          <a:xfrm>
            <a:off x="803757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2</a:t>
            </a:r>
            <a:endParaRPr lang="en-US" sz="700" dirty="0"/>
          </a:p>
        </p:txBody>
      </p:sp>
      <p:sp>
        <p:nvSpPr>
          <p:cNvPr id="103" name="!!trk2"/>
          <p:cNvSpPr/>
          <p:nvPr/>
        </p:nvSpPr>
        <p:spPr>
          <a:xfrm>
            <a:off x="836676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3</a:t>
            </a:r>
            <a:endParaRPr lang="en-US" sz="700" dirty="0"/>
          </a:p>
        </p:txBody>
      </p:sp>
      <p:sp>
        <p:nvSpPr>
          <p:cNvPr id="104" name="!!trk3"/>
          <p:cNvSpPr/>
          <p:nvPr/>
        </p:nvSpPr>
        <p:spPr>
          <a:xfrm>
            <a:off x="8695944"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4</a:t>
            </a:r>
            <a:endParaRPr lang="en-US" sz="700" dirty="0"/>
          </a:p>
        </p:txBody>
      </p:sp>
      <p:sp>
        <p:nvSpPr>
          <p:cNvPr id="105" name="!!trk4"/>
          <p:cNvSpPr/>
          <p:nvPr/>
        </p:nvSpPr>
        <p:spPr>
          <a:xfrm>
            <a:off x="9025128"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5</a:t>
            </a:r>
            <a:endParaRPr lang="en-US" sz="700" dirty="0"/>
          </a:p>
        </p:txBody>
      </p:sp>
      <p:sp>
        <p:nvSpPr>
          <p:cNvPr id="106" name="!!trk5"/>
          <p:cNvSpPr/>
          <p:nvPr/>
        </p:nvSpPr>
        <p:spPr>
          <a:xfrm>
            <a:off x="935431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6</a:t>
            </a:r>
            <a:endParaRPr lang="en-US" sz="700" dirty="0"/>
          </a:p>
        </p:txBody>
      </p:sp>
      <p:sp>
        <p:nvSpPr>
          <p:cNvPr id="107" name="!!trk6"/>
          <p:cNvSpPr/>
          <p:nvPr/>
        </p:nvSpPr>
        <p:spPr>
          <a:xfrm>
            <a:off x="968349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7</a:t>
            </a:r>
            <a:endParaRPr lang="en-US" sz="700" dirty="0"/>
          </a:p>
        </p:txBody>
      </p:sp>
      <p:sp>
        <p:nvSpPr>
          <p:cNvPr id="108" name="!!trk7"/>
          <p:cNvSpPr/>
          <p:nvPr/>
        </p:nvSpPr>
        <p:spPr>
          <a:xfrm>
            <a:off x="1001268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8</a:t>
            </a:r>
            <a:endParaRPr lang="en-US" sz="700" dirty="0"/>
          </a:p>
        </p:txBody>
      </p:sp>
      <p:sp>
        <p:nvSpPr>
          <p:cNvPr id="109" name="!!trk8"/>
          <p:cNvSpPr/>
          <p:nvPr/>
        </p:nvSpPr>
        <p:spPr>
          <a:xfrm>
            <a:off x="10341864"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9</a:t>
            </a:r>
            <a:endParaRPr lang="en-US" sz="700" dirty="0"/>
          </a:p>
        </p:txBody>
      </p:sp>
      <p:sp>
        <p:nvSpPr>
          <p:cNvPr id="110" name="!!trk9"/>
          <p:cNvSpPr/>
          <p:nvPr/>
        </p:nvSpPr>
        <p:spPr>
          <a:xfrm>
            <a:off x="10671048" y="457200"/>
            <a:ext cx="265176" cy="265176"/>
          </a:xfrm>
          <a:prstGeom prst="ellipse">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0F172A"/>
                </a:solidFill>
                <a:latin typeface="Segoe UI"/>
                <a:ea typeface="Segoe UI"/>
                <a:cs typeface="Segoe UI"/>
              </a:rPr>
              <a:t>10</a:t>
            </a:r>
            <a:endParaRPr lang="en-US" sz="700" dirty="0"/>
          </a:p>
        </p:txBody>
      </p:sp>
      <p:sp>
        <p:nvSpPr>
          <p:cNvPr id="111" name="!!trk10"/>
          <p:cNvSpPr/>
          <p:nvPr/>
        </p:nvSpPr>
        <p:spPr>
          <a:xfrm>
            <a:off x="11000232"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11</a:t>
            </a:r>
            <a:endParaRPr lang="en-US" sz="700" dirty="0"/>
          </a:p>
        </p:txBody>
      </p:sp>
      <p:sp>
        <p:nvSpPr>
          <p:cNvPr id="112" name="!!trk11"/>
          <p:cNvSpPr/>
          <p:nvPr/>
        </p:nvSpPr>
        <p:spPr>
          <a:xfrm>
            <a:off x="1132941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12</a:t>
            </a:r>
            <a:endParaRPr lang="en-US" sz="700" dirty="0"/>
          </a:p>
        </p:txBody>
      </p:sp>
      <p:sp>
        <p:nvSpPr>
          <p:cNvPr id="113" name="!!pnum"/>
          <p:cNvSpPr txBox="1"/>
          <p:nvPr/>
        </p:nvSpPr>
        <p:spPr>
          <a:xfrm>
            <a:off x="506578" y="1600200"/>
            <a:ext cx="2194560" cy="11887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7200" b="1" dirty="0">
                <a:solidFill>
                  <a:srgbClr val="FBBF24"/>
                </a:solidFill>
                <a:latin typeface="Segoe UI"/>
                <a:ea typeface="Segoe UI"/>
                <a:cs typeface="Segoe UI"/>
              </a:rPr>
              <a:t>10</a:t>
            </a:r>
            <a:endParaRPr lang="en-US" sz="7200" dirty="0"/>
          </a:p>
        </p:txBody>
      </p:sp>
      <p:sp>
        <p:nvSpPr>
          <p:cNvPr id="114" name="s114"/>
          <p:cNvSpPr/>
          <p:nvPr/>
        </p:nvSpPr>
        <p:spPr>
          <a:xfrm>
            <a:off x="3057754" y="1828800"/>
            <a:ext cx="777240" cy="7772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3244291" y="2015338"/>
            <a:ext cx="404165" cy="404165"/>
          </a:xfrm>
          <a:prstGeom prst="rect">
            <a:avLst/>
          </a:prstGeom>
        </p:spPr>
      </p:pic>
      <p:sp>
        <p:nvSpPr>
          <p:cNvPr id="116" name="!!def"/>
          <p:cNvSpPr/>
          <p:nvPr/>
        </p:nvSpPr>
        <p:spPr>
          <a:xfrm>
            <a:off x="543154" y="2926080"/>
            <a:ext cx="3886200" cy="868680"/>
          </a:xfrm>
          <a:prstGeom prst="roundRect">
            <a:avLst>
              <a:gd name="adj" fmla="val 12000"/>
            </a:avLst>
          </a:prstGeom>
          <a:solidFill>
            <a:srgbClr val="FBBF24">
              <a:alpha val="10000"/>
            </a:srgbClr>
          </a:solidFill>
          <a:ln w="12700">
            <a:solidFill>
              <a:srgbClr val="FBBF24"/>
            </a:solidFill>
            <a:prstDash val="solid"/>
          </a:ln>
        </p:spPr>
        <p:txBody>
          <a:bodyPr wrap="square" lIns="201168" tIns="45720" rIns="137160" bIns="45720" rtlCol="0" anchor="ctr">
            <a:noAutofit/>
          </a:bodyPr>
          <a:lstStyle/>
          <a:p>
            <a:pPr marL="0" indent="0" algn="l">
              <a:spcBef>
                <a:spcPts val="0"/>
              </a:spcBef>
              <a:spcAft>
                <a:spcPts val="200"/>
              </a:spcAft>
              <a:buNone/>
            </a:pPr>
            <a:r>
              <a:rPr lang="en-US" sz="1000" b="1" dirty="0">
                <a:solidFill>
                  <a:srgbClr val="FBBF24"/>
                </a:solidFill>
                <a:latin typeface="Segoe UI"/>
                <a:ea typeface="Segoe UI"/>
                <a:cs typeface="Segoe UI"/>
              </a:rPr>
              <a:t>IN SHORT</a:t>
            </a:r>
            <a:endParaRPr lang="en-US" sz="1000" dirty="0"/>
          </a:p>
          <a:p>
            <a:pPr marL="0" indent="0" algn="l">
              <a:spcBef>
                <a:spcPts val="0"/>
              </a:spcBef>
              <a:spcAft>
                <a:spcPts val="0"/>
              </a:spcAft>
              <a:buNone/>
            </a:pPr>
            <a:r>
              <a:rPr lang="en-US" sz="1450" b="1" dirty="0">
                <a:solidFill>
                  <a:srgbClr val="FFFFFF"/>
                </a:solidFill>
                <a:latin typeface="Segoe UI"/>
                <a:ea typeface="Segoe UI"/>
                <a:cs typeface="Segoe UI"/>
              </a:rPr>
              <a:t>Maximize the work NOT done.</a:t>
            </a:r>
            <a:endParaRPr lang="en-US" sz="1450" dirty="0"/>
          </a:p>
        </p:txBody>
      </p:sp>
      <p:sp>
        <p:nvSpPr>
          <p:cNvPr id="117" name="!!quote"/>
          <p:cNvSpPr/>
          <p:nvPr/>
        </p:nvSpPr>
        <p:spPr>
          <a:xfrm>
            <a:off x="543154" y="3931920"/>
            <a:ext cx="3886200" cy="1691640"/>
          </a:xfrm>
          <a:prstGeom prst="roundRect">
            <a:avLst>
              <a:gd name="adj" fmla="val 8000"/>
            </a:avLst>
          </a:prstGeom>
          <a:solidFill>
            <a:srgbClr val="111B2E"/>
          </a:solidFill>
          <a:ln w="12700">
            <a:solidFill>
              <a:srgbClr val="1E3A5F"/>
            </a:solidFill>
            <a:prstDash val="solid"/>
          </a:ln>
        </p:spPr>
        <p:txBody>
          <a:bodyPr wrap="square" lIns="201168" tIns="146304" rIns="164592" bIns="91440" rtlCol="0" anchor="t">
            <a:noAutofit/>
          </a:bodyPr>
          <a:lstStyle/>
          <a:p>
            <a:pPr marL="0" indent="0" algn="l">
              <a:spcBef>
                <a:spcPts val="0"/>
              </a:spcBef>
              <a:spcAft>
                <a:spcPts val="400"/>
              </a:spcAft>
              <a:buNone/>
            </a:pPr>
            <a:r>
              <a:rPr lang="en-US" sz="1000" b="1" dirty="0">
                <a:solidFill>
                  <a:srgbClr val="94A3B8"/>
                </a:solidFill>
                <a:latin typeface="Segoe UI"/>
                <a:ea typeface="Segoe UI"/>
                <a:cs typeface="Segoe UI"/>
              </a:rPr>
              <a:t>THE MANIFESTO SAYS</a:t>
            </a:r>
            <a:endParaRPr lang="en-US" sz="1000" dirty="0"/>
          </a:p>
          <a:p>
            <a:pPr marL="0" indent="0" algn="l">
              <a:lnSpc>
                <a:spcPct val="110000"/>
              </a:lnSpc>
              <a:spcBef>
                <a:spcPts val="0"/>
              </a:spcBef>
              <a:spcAft>
                <a:spcPts val="0"/>
              </a:spcAft>
              <a:buNone/>
            </a:pPr>
            <a:r>
              <a:rPr lang="en-US" sz="1250" b="0" i="1" dirty="0">
                <a:solidFill>
                  <a:srgbClr val="CBD5E1"/>
                </a:solidFill>
                <a:latin typeface="Segoe UI"/>
                <a:ea typeface="Segoe UI"/>
                <a:cs typeface="Segoe UI"/>
              </a:rPr>
              <a:t>“Simplicity, the art of maximizing the amount of work not done, is essential.”</a:t>
            </a:r>
            <a:endParaRPr lang="en-US" sz="1250" dirty="0"/>
          </a:p>
        </p:txBody>
      </p:sp>
      <p:sp>
        <p:nvSpPr>
          <p:cNvPr id="118" name="s118"/>
          <p:cNvSpPr/>
          <p:nvPr/>
        </p:nvSpPr>
        <p:spPr>
          <a:xfrm>
            <a:off x="4886554" y="209397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19" name="s119"/>
          <p:cNvSpPr/>
          <p:nvPr/>
        </p:nvSpPr>
        <p:spPr>
          <a:xfrm>
            <a:off x="4703674" y="1783080"/>
            <a:ext cx="6927494" cy="91440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Do we need AI recommendations before basic search works?</a:t>
            </a:r>
            <a:endParaRPr lang="en-US" sz="1450" dirty="0"/>
          </a:p>
        </p:txBody>
      </p:sp>
      <p:sp>
        <p:nvSpPr>
          <p:cNvPr id="120" name="s120"/>
          <p:cNvSpPr/>
          <p:nvPr/>
        </p:nvSpPr>
        <p:spPr>
          <a:xfrm>
            <a:off x="4703674" y="2862072"/>
            <a:ext cx="283464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CASE · Food Delivery Platform</a:t>
            </a:r>
            <a:endParaRPr lang="en-US" sz="1000" dirty="0"/>
          </a:p>
        </p:txBody>
      </p:sp>
      <p:sp>
        <p:nvSpPr>
          <p:cNvPr id="121" name="s121"/>
          <p:cNvSpPr/>
          <p:nvPr/>
        </p:nvSpPr>
        <p:spPr>
          <a:xfrm>
            <a:off x="4703674" y="3337560"/>
            <a:ext cx="3349447" cy="22860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p:nvPr/>
        </p:nvSpPr>
        <p:spPr>
          <a:xfrm>
            <a:off x="4904842" y="3520440"/>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5"/>
          <a:stretch>
            <a:fillRect/>
          </a:stretch>
        </p:blipFill>
        <p:spPr>
          <a:xfrm>
            <a:off x="5014570" y="3630168"/>
            <a:ext cx="237744" cy="237744"/>
          </a:xfrm>
          <a:prstGeom prst="rect">
            <a:avLst/>
          </a:prstGeom>
        </p:spPr>
      </p:pic>
      <p:sp>
        <p:nvSpPr>
          <p:cNvPr id="124" name="s124"/>
          <p:cNvSpPr txBox="1"/>
          <p:nvPr/>
        </p:nvSpPr>
        <p:spPr>
          <a:xfrm>
            <a:off x="5480914"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IGNORE IT</a:t>
            </a:r>
            <a:endParaRPr lang="en-US" sz="1200" dirty="0"/>
          </a:p>
        </p:txBody>
      </p:sp>
      <p:sp>
        <p:nvSpPr>
          <p:cNvPr id="125" name="s125"/>
          <p:cNvSpPr txBox="1"/>
          <p:nvPr/>
        </p:nvSpPr>
        <p:spPr>
          <a:xfrm>
            <a:off x="4932274"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0" dirty="0">
                <a:solidFill>
                  <a:srgbClr val="E2E8F0"/>
                </a:solidFill>
                <a:latin typeface="Segoe UI"/>
                <a:ea typeface="Segoe UI"/>
                <a:cs typeface="Segoe UI"/>
              </a:rPr>
              <a:t>Build 12 features nobody uses.</a:t>
            </a:r>
            <a:endParaRPr lang="en-US" sz="1500" dirty="0"/>
          </a:p>
        </p:txBody>
      </p:sp>
      <p:sp>
        <p:nvSpPr>
          <p:cNvPr id="126" name="s126"/>
          <p:cNvSpPr/>
          <p:nvPr/>
        </p:nvSpPr>
        <p:spPr>
          <a:xfrm>
            <a:off x="8281721" y="3337560"/>
            <a:ext cx="3349447" cy="2286000"/>
          </a:xfrm>
          <a:prstGeom prst="roundRect">
            <a:avLst>
              <a:gd name="adj" fmla="val 8000"/>
            </a:avLst>
          </a:prstGeom>
          <a:solidFill>
            <a:srgbClr val="34D399">
              <a:alpha val="8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482889" y="352044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6"/>
          <a:stretch>
            <a:fillRect/>
          </a:stretch>
        </p:blipFill>
        <p:spPr>
          <a:xfrm>
            <a:off x="8592617" y="3630168"/>
            <a:ext cx="237744" cy="237744"/>
          </a:xfrm>
          <a:prstGeom prst="rect">
            <a:avLst/>
          </a:prstGeom>
        </p:spPr>
      </p:pic>
      <p:sp>
        <p:nvSpPr>
          <p:cNvPr id="129" name="s129"/>
          <p:cNvSpPr txBox="1"/>
          <p:nvPr/>
        </p:nvSpPr>
        <p:spPr>
          <a:xfrm>
            <a:off x="9058961"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APPLY IT</a:t>
            </a:r>
            <a:endParaRPr lang="en-US" sz="1200" dirty="0"/>
          </a:p>
        </p:txBody>
      </p:sp>
      <p:sp>
        <p:nvSpPr>
          <p:cNvPr id="130" name="s130"/>
          <p:cNvSpPr txBox="1"/>
          <p:nvPr/>
        </p:nvSpPr>
        <p:spPr>
          <a:xfrm>
            <a:off x="8510321"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FFFFF"/>
                </a:solidFill>
                <a:latin typeface="Segoe UI"/>
                <a:ea typeface="Segoe UI"/>
                <a:cs typeface="Segoe UI"/>
              </a:rPr>
              <a:t>Ship search first; defer the AI.</a:t>
            </a:r>
            <a:endParaRPr lang="en-US" sz="15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30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4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 dur="400" decel="100000" fill="hold"/>
                                        <p:tgtEl>
                                          <p:spTgt spid="115"/>
                                        </p:tgtEl>
                                        <p:attrNameLst>
                                          <p:attrName>ppt_h</p:attrName>
                                        </p:attrNameLst>
                                      </p:cBhvr>
                                      <p:tavLst>
                                        <p:tav tm="0">
                                          <p:val>
                                            <p:strVal val="#ppt_h*0.3"/>
                                          </p:val>
                                        </p:tav>
                                        <p:tav tm="100000">
                                          <p:val>
                                            <p:strVal val="#ppt_h*1.08"/>
                                          </p:val>
                                        </p:tav>
                                      </p:tavLst>
                                    </p:anim>
                                    <p:animEffect transition="in" filter="fade">
                                      <p:cBhvr>
                                        <p:cTn id="9" dur="200"/>
                                        <p:tgtEl>
                                          <p:spTgt spid="115"/>
                                        </p:tgtEl>
                                      </p:cBhvr>
                                    </p:animEffect>
                                    <p:anim calcmode="lin" valueType="num">
                                      <p:cBhvr additive="base">
                                        <p:cTn id="10" dur="160" fill="hold">
                                          <p:stCondLst>
                                            <p:cond delay="400"/>
                                          </p:stCondLst>
                                        </p:cTn>
                                        <p:tgtEl>
                                          <p:spTgt spid="115"/>
                                        </p:tgtEl>
                                        <p:attrNameLst>
                                          <p:attrName>ppt_w</p:attrName>
                                        </p:attrNameLst>
                                      </p:cBhvr>
                                      <p:tavLst>
                                        <p:tav tm="0">
                                          <p:val>
                                            <p:strVal val="#ppt_w*1.08"/>
                                          </p:val>
                                        </p:tav>
                                        <p:tav tm="100000">
                                          <p:val>
                                            <p:strVal val="#ppt_w"/>
                                          </p:val>
                                        </p:tav>
                                      </p:tavLst>
                                    </p:anim>
                                    <p:anim calcmode="lin" valueType="num">
                                      <p:cBhvr additive="base">
                                        <p:cTn id="11" dur="160" fill="hold">
                                          <p:stCondLst>
                                            <p:cond delay="4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fade">
                                      <p:cBhvr>
                                        <p:cTn id="16" dur="500"/>
                                        <p:tgtEl>
                                          <p:spTgt spid="119"/>
                                        </p:tgtEl>
                                      </p:cBhvr>
                                    </p:animEffect>
                                    <p:anim calcmode="lin" valueType="num">
                                      <p:cBhvr additive="base">
                                        <p:cTn id="17" dur="500" decel="100000" fill="hold"/>
                                        <p:tgtEl>
                                          <p:spTgt spid="119"/>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18"/>
                                        </p:tgtEl>
                                        <p:attrNameLst>
                                          <p:attrName>style.visibility</p:attrName>
                                        </p:attrNameLst>
                                      </p:cBhvr>
                                      <p:to>
                                        <p:strVal val="visible"/>
                                      </p:to>
                                    </p:set>
                                    <p:animEffect transition="in" filter="fade">
                                      <p:cBhvr>
                                        <p:cTn id="20" dur="500"/>
                                        <p:tgtEl>
                                          <p:spTgt spid="118"/>
                                        </p:tgtEl>
                                      </p:cBhvr>
                                    </p:animEffect>
                                    <p:anim calcmode="lin" valueType="num">
                                      <p:cBhvr additive="base">
                                        <p:cTn id="21" dur="500" decel="100000" fill="hold"/>
                                        <p:tgtEl>
                                          <p:spTgt spid="118"/>
                                        </p:tgtEl>
                                        <p:attrNameLst>
                                          <p:attrName>ppt_y</p:attrName>
                                        </p:attrNameLst>
                                      </p:cBhvr>
                                      <p:tavLst>
                                        <p:tav tm="0">
                                          <p:val>
                                            <p:strVal val="#ppt_y+0.06"/>
                                          </p:val>
                                        </p:tav>
                                        <p:tav tm="100000">
                                          <p:val>
                                            <p:strVal val="#ppt_y"/>
                                          </p:val>
                                        </p:tav>
                                      </p:tavLst>
                                    </p:anim>
                                  </p:childTnLst>
                                </p:cTn>
                              </p:par>
                              <p:par>
                                <p:cTn id="22" presetID="10" presetClass="entr" presetSubtype="0" fill="hold" grpId="0" nodeType="withEffect">
                                  <p:stCondLst>
                                    <p:cond delay="120"/>
                                  </p:stCondLst>
                                  <p:childTnLst>
                                    <p:set>
                                      <p:cBhvr>
                                        <p:cTn id="23" dur="1" fill="hold">
                                          <p:stCondLst>
                                            <p:cond delay="0"/>
                                          </p:stCondLst>
                                        </p:cTn>
                                        <p:tgtEl>
                                          <p:spTgt spid="120"/>
                                        </p:tgtEl>
                                        <p:attrNameLst>
                                          <p:attrName>style.visibility</p:attrName>
                                        </p:attrNameLst>
                                      </p:cBhvr>
                                      <p:to>
                                        <p:strVal val="visible"/>
                                      </p:to>
                                    </p:set>
                                    <p:animEffect transition="in" filter="fade">
                                      <p:cBhvr>
                                        <p:cTn id="24" dur="500"/>
                                        <p:tgtEl>
                                          <p:spTgt spid="120"/>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fade">
                                      <p:cBhvr>
                                        <p:cTn id="29" dur="500"/>
                                        <p:tgtEl>
                                          <p:spTgt spid="121"/>
                                        </p:tgtEl>
                                      </p:cBhvr>
                                    </p:animEffect>
                                    <p:anim calcmode="lin" valueType="num">
                                      <p:cBhvr additive="base">
                                        <p:cTn id="30" dur="500" decel="100000" fill="hold"/>
                                        <p:tgtEl>
                                          <p:spTgt spid="121"/>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22"/>
                                        </p:tgtEl>
                                        <p:attrNameLst>
                                          <p:attrName>style.visibility</p:attrName>
                                        </p:attrNameLst>
                                      </p:cBhvr>
                                      <p:to>
                                        <p:strVal val="visible"/>
                                      </p:to>
                                    </p:set>
                                    <p:animEffect transition="in" filter="fade">
                                      <p:cBhvr>
                                        <p:cTn id="33" dur="500"/>
                                        <p:tgtEl>
                                          <p:spTgt spid="122"/>
                                        </p:tgtEl>
                                      </p:cBhvr>
                                    </p:animEffect>
                                    <p:anim calcmode="lin" valueType="num">
                                      <p:cBhvr additive="base">
                                        <p:cTn id="34" dur="500" decel="100000" fill="hold"/>
                                        <p:tgtEl>
                                          <p:spTgt spid="122"/>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23"/>
                                        </p:tgtEl>
                                        <p:attrNameLst>
                                          <p:attrName>style.visibility</p:attrName>
                                        </p:attrNameLst>
                                      </p:cBhvr>
                                      <p:to>
                                        <p:strVal val="visible"/>
                                      </p:to>
                                    </p:set>
                                    <p:animEffect transition="in" filter="fade">
                                      <p:cBhvr>
                                        <p:cTn id="37" dur="500"/>
                                        <p:tgtEl>
                                          <p:spTgt spid="123"/>
                                        </p:tgtEl>
                                      </p:cBhvr>
                                    </p:animEffect>
                                    <p:anim calcmode="lin" valueType="num">
                                      <p:cBhvr additive="base">
                                        <p:cTn id="38" dur="500" decel="100000" fill="hold"/>
                                        <p:tgtEl>
                                          <p:spTgt spid="123"/>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24"/>
                                        </p:tgtEl>
                                        <p:attrNameLst>
                                          <p:attrName>style.visibility</p:attrName>
                                        </p:attrNameLst>
                                      </p:cBhvr>
                                      <p:to>
                                        <p:strVal val="visible"/>
                                      </p:to>
                                    </p:set>
                                    <p:animEffect transition="in" filter="fade">
                                      <p:cBhvr>
                                        <p:cTn id="41" dur="500"/>
                                        <p:tgtEl>
                                          <p:spTgt spid="124"/>
                                        </p:tgtEl>
                                      </p:cBhvr>
                                    </p:animEffect>
                                    <p:anim calcmode="lin" valueType="num">
                                      <p:cBhvr additive="base">
                                        <p:cTn id="42" dur="500" decel="100000" fill="hold"/>
                                        <p:tgtEl>
                                          <p:spTgt spid="124"/>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25"/>
                                        </p:tgtEl>
                                        <p:attrNameLst>
                                          <p:attrName>style.visibility</p:attrName>
                                        </p:attrNameLst>
                                      </p:cBhvr>
                                      <p:to>
                                        <p:strVal val="visible"/>
                                      </p:to>
                                    </p:set>
                                    <p:animEffect transition="in" filter="fade">
                                      <p:cBhvr>
                                        <p:cTn id="45" dur="500"/>
                                        <p:tgtEl>
                                          <p:spTgt spid="125"/>
                                        </p:tgtEl>
                                      </p:cBhvr>
                                    </p:animEffect>
                                    <p:anim calcmode="lin" valueType="num">
                                      <p:cBhvr additive="base">
                                        <p:cTn id="46" dur="500" decel="100000" fill="hold"/>
                                        <p:tgtEl>
                                          <p:spTgt spid="125"/>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fade">
                                      <p:cBhvr>
                                        <p:cTn id="51" dur="500"/>
                                        <p:tgtEl>
                                          <p:spTgt spid="126"/>
                                        </p:tgtEl>
                                      </p:cBhvr>
                                    </p:animEffect>
                                    <p:anim calcmode="lin" valueType="num">
                                      <p:cBhvr additive="base">
                                        <p:cTn id="52" dur="500" decel="100000" fill="hold"/>
                                        <p:tgtEl>
                                          <p:spTgt spid="126"/>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27"/>
                                        </p:tgtEl>
                                        <p:attrNameLst>
                                          <p:attrName>style.visibility</p:attrName>
                                        </p:attrNameLst>
                                      </p:cBhvr>
                                      <p:to>
                                        <p:strVal val="visible"/>
                                      </p:to>
                                    </p:set>
                                    <p:animEffect transition="in" filter="fade">
                                      <p:cBhvr>
                                        <p:cTn id="55" dur="500"/>
                                        <p:tgtEl>
                                          <p:spTgt spid="127"/>
                                        </p:tgtEl>
                                      </p:cBhvr>
                                    </p:animEffect>
                                    <p:anim calcmode="lin" valueType="num">
                                      <p:cBhvr additive="base">
                                        <p:cTn id="56" dur="500" decel="100000" fill="hold"/>
                                        <p:tgtEl>
                                          <p:spTgt spid="127"/>
                                        </p:tgtEl>
                                        <p:attrNameLst>
                                          <p:attrName>ppt_x</p:attrName>
                                        </p:attrNameLst>
                                      </p:cBhvr>
                                      <p:tavLst>
                                        <p:tav tm="0">
                                          <p:val>
                                            <p:strVal val="#ppt_x+0.05"/>
                                          </p:val>
                                        </p:tav>
                                        <p:tav tm="100000">
                                          <p:val>
                                            <p:strVal val="#ppt_x"/>
                                          </p:val>
                                        </p:tav>
                                      </p:tavLst>
                                    </p:anim>
                                  </p:childTnLst>
                                </p:cTn>
                              </p:par>
                              <p:par>
                                <p:cTn id="57" presetID="42" presetClass="entr" presetSubtype="0" fill="hold" nodeType="withEffect">
                                  <p:stCondLst>
                                    <p:cond delay="0"/>
                                  </p:stCondLst>
                                  <p:childTnLst>
                                    <p:set>
                                      <p:cBhvr>
                                        <p:cTn id="58" dur="1" fill="hold">
                                          <p:stCondLst>
                                            <p:cond delay="0"/>
                                          </p:stCondLst>
                                        </p:cTn>
                                        <p:tgtEl>
                                          <p:spTgt spid="128"/>
                                        </p:tgtEl>
                                        <p:attrNameLst>
                                          <p:attrName>style.visibility</p:attrName>
                                        </p:attrNameLst>
                                      </p:cBhvr>
                                      <p:to>
                                        <p:strVal val="visible"/>
                                      </p:to>
                                    </p:set>
                                    <p:animEffect transition="in" filter="fade">
                                      <p:cBhvr>
                                        <p:cTn id="59" dur="500"/>
                                        <p:tgtEl>
                                          <p:spTgt spid="128"/>
                                        </p:tgtEl>
                                      </p:cBhvr>
                                    </p:animEffect>
                                    <p:anim calcmode="lin" valueType="num">
                                      <p:cBhvr additive="base">
                                        <p:cTn id="60" dur="500" decel="100000" fill="hold"/>
                                        <p:tgtEl>
                                          <p:spTgt spid="128"/>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29"/>
                                        </p:tgtEl>
                                        <p:attrNameLst>
                                          <p:attrName>style.visibility</p:attrName>
                                        </p:attrNameLst>
                                      </p:cBhvr>
                                      <p:to>
                                        <p:strVal val="visible"/>
                                      </p:to>
                                    </p:set>
                                    <p:animEffect transition="in" filter="fade">
                                      <p:cBhvr>
                                        <p:cTn id="63" dur="500"/>
                                        <p:tgtEl>
                                          <p:spTgt spid="129"/>
                                        </p:tgtEl>
                                      </p:cBhvr>
                                    </p:animEffect>
                                    <p:anim calcmode="lin" valueType="num">
                                      <p:cBhvr additive="base">
                                        <p:cTn id="64" dur="500" decel="100000" fill="hold"/>
                                        <p:tgtEl>
                                          <p:spTgt spid="129"/>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500"/>
                                        <p:tgtEl>
                                          <p:spTgt spid="130"/>
                                        </p:tgtEl>
                                      </p:cBhvr>
                                    </p:animEffect>
                                    <p:anim calcmode="lin" valueType="num">
                                      <p:cBhvr additive="base">
                                        <p:cTn id="68"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20" grpId="0" animBg="1"/>
      <p:bldP spid="121" grpId="0" animBg="1"/>
      <p:bldP spid="122" grpId="0" animBg="1"/>
      <p:bldP spid="124" grpId="0" animBg="1"/>
      <p:bldP spid="125" grpId="0" animBg="1"/>
      <p:bldP spid="126" grpId="0" animBg="1"/>
      <p:bldP spid="127" grpId="0" animBg="1"/>
      <p:bldP spid="129" grpId="0" animBg="1"/>
      <p:bldP spid="130"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PRINCIPLE 11</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Self-Organizing Teams</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223</a:t>
            </a:r>
            <a:endParaRPr lang="en-US" sz="850" dirty="0"/>
          </a:p>
        </p:txBody>
      </p:sp>
      <p:sp>
        <p:nvSpPr>
          <p:cNvPr id="101" name="!!trk0"/>
          <p:cNvSpPr/>
          <p:nvPr/>
        </p:nvSpPr>
        <p:spPr>
          <a:xfrm>
            <a:off x="770839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a:t>
            </a:r>
            <a:endParaRPr lang="en-US" sz="700" dirty="0"/>
          </a:p>
        </p:txBody>
      </p:sp>
      <p:sp>
        <p:nvSpPr>
          <p:cNvPr id="102" name="!!trk1"/>
          <p:cNvSpPr/>
          <p:nvPr/>
        </p:nvSpPr>
        <p:spPr>
          <a:xfrm>
            <a:off x="803757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2</a:t>
            </a:r>
            <a:endParaRPr lang="en-US" sz="700" dirty="0"/>
          </a:p>
        </p:txBody>
      </p:sp>
      <p:sp>
        <p:nvSpPr>
          <p:cNvPr id="103" name="!!trk2"/>
          <p:cNvSpPr/>
          <p:nvPr/>
        </p:nvSpPr>
        <p:spPr>
          <a:xfrm>
            <a:off x="836676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3</a:t>
            </a:r>
            <a:endParaRPr lang="en-US" sz="700" dirty="0"/>
          </a:p>
        </p:txBody>
      </p:sp>
      <p:sp>
        <p:nvSpPr>
          <p:cNvPr id="104" name="!!trk3"/>
          <p:cNvSpPr/>
          <p:nvPr/>
        </p:nvSpPr>
        <p:spPr>
          <a:xfrm>
            <a:off x="8695944"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4</a:t>
            </a:r>
            <a:endParaRPr lang="en-US" sz="700" dirty="0"/>
          </a:p>
        </p:txBody>
      </p:sp>
      <p:sp>
        <p:nvSpPr>
          <p:cNvPr id="105" name="!!trk4"/>
          <p:cNvSpPr/>
          <p:nvPr/>
        </p:nvSpPr>
        <p:spPr>
          <a:xfrm>
            <a:off x="9025128"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5</a:t>
            </a:r>
            <a:endParaRPr lang="en-US" sz="700" dirty="0"/>
          </a:p>
        </p:txBody>
      </p:sp>
      <p:sp>
        <p:nvSpPr>
          <p:cNvPr id="106" name="!!trk5"/>
          <p:cNvSpPr/>
          <p:nvPr/>
        </p:nvSpPr>
        <p:spPr>
          <a:xfrm>
            <a:off x="935431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6</a:t>
            </a:r>
            <a:endParaRPr lang="en-US" sz="700" dirty="0"/>
          </a:p>
        </p:txBody>
      </p:sp>
      <p:sp>
        <p:nvSpPr>
          <p:cNvPr id="107" name="!!trk6"/>
          <p:cNvSpPr/>
          <p:nvPr/>
        </p:nvSpPr>
        <p:spPr>
          <a:xfrm>
            <a:off x="968349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7</a:t>
            </a:r>
            <a:endParaRPr lang="en-US" sz="700" dirty="0"/>
          </a:p>
        </p:txBody>
      </p:sp>
      <p:sp>
        <p:nvSpPr>
          <p:cNvPr id="108" name="!!trk7"/>
          <p:cNvSpPr/>
          <p:nvPr/>
        </p:nvSpPr>
        <p:spPr>
          <a:xfrm>
            <a:off x="1001268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8</a:t>
            </a:r>
            <a:endParaRPr lang="en-US" sz="700" dirty="0"/>
          </a:p>
        </p:txBody>
      </p:sp>
      <p:sp>
        <p:nvSpPr>
          <p:cNvPr id="109" name="!!trk8"/>
          <p:cNvSpPr/>
          <p:nvPr/>
        </p:nvSpPr>
        <p:spPr>
          <a:xfrm>
            <a:off x="10341864"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9</a:t>
            </a:r>
            <a:endParaRPr lang="en-US" sz="700" dirty="0"/>
          </a:p>
        </p:txBody>
      </p:sp>
      <p:sp>
        <p:nvSpPr>
          <p:cNvPr id="110" name="!!trk9"/>
          <p:cNvSpPr/>
          <p:nvPr/>
        </p:nvSpPr>
        <p:spPr>
          <a:xfrm>
            <a:off x="10671048"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10</a:t>
            </a:r>
            <a:endParaRPr lang="en-US" sz="700" dirty="0"/>
          </a:p>
        </p:txBody>
      </p:sp>
      <p:sp>
        <p:nvSpPr>
          <p:cNvPr id="111" name="!!trk10"/>
          <p:cNvSpPr/>
          <p:nvPr/>
        </p:nvSpPr>
        <p:spPr>
          <a:xfrm>
            <a:off x="11000232" y="457200"/>
            <a:ext cx="265176" cy="265176"/>
          </a:xfrm>
          <a:prstGeom prst="ellipse">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0F172A"/>
                </a:solidFill>
                <a:latin typeface="Segoe UI"/>
                <a:ea typeface="Segoe UI"/>
                <a:cs typeface="Segoe UI"/>
              </a:rPr>
              <a:t>11</a:t>
            </a:r>
            <a:endParaRPr lang="en-US" sz="700" dirty="0"/>
          </a:p>
        </p:txBody>
      </p:sp>
      <p:sp>
        <p:nvSpPr>
          <p:cNvPr id="112" name="!!trk11"/>
          <p:cNvSpPr/>
          <p:nvPr/>
        </p:nvSpPr>
        <p:spPr>
          <a:xfrm>
            <a:off x="11329416" y="457200"/>
            <a:ext cx="265176" cy="265176"/>
          </a:xfrm>
          <a:prstGeom prst="ellipse">
            <a:avLst/>
          </a:prstGeom>
          <a:no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12</a:t>
            </a:r>
            <a:endParaRPr lang="en-US" sz="700" dirty="0"/>
          </a:p>
        </p:txBody>
      </p:sp>
      <p:sp>
        <p:nvSpPr>
          <p:cNvPr id="113" name="!!pnum"/>
          <p:cNvSpPr txBox="1"/>
          <p:nvPr/>
        </p:nvSpPr>
        <p:spPr>
          <a:xfrm>
            <a:off x="506578" y="1600200"/>
            <a:ext cx="2194560" cy="11887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7200" b="1" dirty="0">
                <a:solidFill>
                  <a:srgbClr val="FBBF24"/>
                </a:solidFill>
                <a:latin typeface="Segoe UI"/>
                <a:ea typeface="Segoe UI"/>
                <a:cs typeface="Segoe UI"/>
              </a:rPr>
              <a:t>11</a:t>
            </a:r>
            <a:endParaRPr lang="en-US" sz="7200" dirty="0"/>
          </a:p>
        </p:txBody>
      </p:sp>
      <p:sp>
        <p:nvSpPr>
          <p:cNvPr id="114" name="s114"/>
          <p:cNvSpPr/>
          <p:nvPr/>
        </p:nvSpPr>
        <p:spPr>
          <a:xfrm>
            <a:off x="3057754" y="1828800"/>
            <a:ext cx="777240" cy="7772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3244291" y="2015338"/>
            <a:ext cx="404165" cy="404165"/>
          </a:xfrm>
          <a:prstGeom prst="rect">
            <a:avLst/>
          </a:prstGeom>
        </p:spPr>
      </p:pic>
      <p:sp>
        <p:nvSpPr>
          <p:cNvPr id="116" name="!!def"/>
          <p:cNvSpPr/>
          <p:nvPr/>
        </p:nvSpPr>
        <p:spPr>
          <a:xfrm>
            <a:off x="543154" y="2926080"/>
            <a:ext cx="3886200" cy="868680"/>
          </a:xfrm>
          <a:prstGeom prst="roundRect">
            <a:avLst>
              <a:gd name="adj" fmla="val 12000"/>
            </a:avLst>
          </a:prstGeom>
          <a:solidFill>
            <a:srgbClr val="FBBF24">
              <a:alpha val="10000"/>
            </a:srgbClr>
          </a:solidFill>
          <a:ln w="12700">
            <a:solidFill>
              <a:srgbClr val="FBBF24"/>
            </a:solidFill>
            <a:prstDash val="solid"/>
          </a:ln>
        </p:spPr>
        <p:txBody>
          <a:bodyPr wrap="square" lIns="201168" tIns="45720" rIns="137160" bIns="45720" rtlCol="0" anchor="ctr">
            <a:noAutofit/>
          </a:bodyPr>
          <a:lstStyle/>
          <a:p>
            <a:pPr marL="0" indent="0" algn="l">
              <a:spcBef>
                <a:spcPts val="0"/>
              </a:spcBef>
              <a:spcAft>
                <a:spcPts val="200"/>
              </a:spcAft>
              <a:buNone/>
            </a:pPr>
            <a:r>
              <a:rPr lang="en-US" sz="1000" b="1" dirty="0">
                <a:solidFill>
                  <a:srgbClr val="FBBF24"/>
                </a:solidFill>
                <a:latin typeface="Segoe UI"/>
                <a:ea typeface="Segoe UI"/>
                <a:cs typeface="Segoe UI"/>
              </a:rPr>
              <a:t>IN SHORT</a:t>
            </a:r>
            <a:endParaRPr lang="en-US" sz="1000" dirty="0"/>
          </a:p>
          <a:p>
            <a:pPr marL="0" indent="0" algn="l">
              <a:spcBef>
                <a:spcPts val="0"/>
              </a:spcBef>
              <a:spcAft>
                <a:spcPts val="0"/>
              </a:spcAft>
              <a:buNone/>
            </a:pPr>
            <a:r>
              <a:rPr lang="en-US" sz="1450" b="1" dirty="0">
                <a:solidFill>
                  <a:srgbClr val="FFFFFF"/>
                </a:solidFill>
                <a:latin typeface="Segoe UI"/>
                <a:ea typeface="Segoe UI"/>
                <a:cs typeface="Segoe UI"/>
              </a:rPr>
              <a:t>The best designs emerge from the team.</a:t>
            </a:r>
            <a:endParaRPr lang="en-US" sz="1450" dirty="0"/>
          </a:p>
        </p:txBody>
      </p:sp>
      <p:sp>
        <p:nvSpPr>
          <p:cNvPr id="117" name="!!quote"/>
          <p:cNvSpPr/>
          <p:nvPr/>
        </p:nvSpPr>
        <p:spPr>
          <a:xfrm>
            <a:off x="543154" y="3931920"/>
            <a:ext cx="3886200" cy="1691640"/>
          </a:xfrm>
          <a:prstGeom prst="roundRect">
            <a:avLst>
              <a:gd name="adj" fmla="val 8000"/>
            </a:avLst>
          </a:prstGeom>
          <a:solidFill>
            <a:srgbClr val="111B2E"/>
          </a:solidFill>
          <a:ln w="12700">
            <a:solidFill>
              <a:srgbClr val="1E3A5F"/>
            </a:solidFill>
            <a:prstDash val="solid"/>
          </a:ln>
        </p:spPr>
        <p:txBody>
          <a:bodyPr wrap="square" lIns="201168" tIns="146304" rIns="164592" bIns="91440" rtlCol="0" anchor="t">
            <a:noAutofit/>
          </a:bodyPr>
          <a:lstStyle/>
          <a:p>
            <a:pPr marL="0" indent="0" algn="l">
              <a:spcBef>
                <a:spcPts val="0"/>
              </a:spcBef>
              <a:spcAft>
                <a:spcPts val="400"/>
              </a:spcAft>
              <a:buNone/>
            </a:pPr>
            <a:r>
              <a:rPr lang="en-US" sz="1000" b="1" dirty="0">
                <a:solidFill>
                  <a:srgbClr val="94A3B8"/>
                </a:solidFill>
                <a:latin typeface="Segoe UI"/>
                <a:ea typeface="Segoe UI"/>
                <a:cs typeface="Segoe UI"/>
              </a:rPr>
              <a:t>THE MANIFESTO SAYS</a:t>
            </a:r>
            <a:endParaRPr lang="en-US" sz="1000" dirty="0"/>
          </a:p>
          <a:p>
            <a:pPr marL="0" indent="0" algn="l">
              <a:lnSpc>
                <a:spcPct val="110000"/>
              </a:lnSpc>
              <a:spcBef>
                <a:spcPts val="0"/>
              </a:spcBef>
              <a:spcAft>
                <a:spcPts val="0"/>
              </a:spcAft>
              <a:buNone/>
            </a:pPr>
            <a:r>
              <a:rPr lang="en-US" sz="1250" b="0" i="1" dirty="0">
                <a:solidFill>
                  <a:srgbClr val="CBD5E1"/>
                </a:solidFill>
                <a:latin typeface="Segoe UI"/>
                <a:ea typeface="Segoe UI"/>
                <a:cs typeface="Segoe UI"/>
              </a:rPr>
              <a:t>“The best architectures, requirements, and designs emerge from self-organizing teams.”</a:t>
            </a:r>
            <a:endParaRPr lang="en-US" sz="1250" dirty="0"/>
          </a:p>
        </p:txBody>
      </p:sp>
      <p:sp>
        <p:nvSpPr>
          <p:cNvPr id="118" name="s118"/>
          <p:cNvSpPr/>
          <p:nvPr/>
        </p:nvSpPr>
        <p:spPr>
          <a:xfrm>
            <a:off x="4886554" y="209397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19" name="s119"/>
          <p:cNvSpPr/>
          <p:nvPr/>
        </p:nvSpPr>
        <p:spPr>
          <a:xfrm>
            <a:off x="4703674" y="1783080"/>
            <a:ext cx="6927494" cy="91440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Should a manager assign every task, or can the team pull the work?</a:t>
            </a:r>
            <a:endParaRPr lang="en-US" sz="1450" dirty="0"/>
          </a:p>
        </p:txBody>
      </p:sp>
      <p:sp>
        <p:nvSpPr>
          <p:cNvPr id="120" name="s120"/>
          <p:cNvSpPr/>
          <p:nvPr/>
        </p:nvSpPr>
        <p:spPr>
          <a:xfrm>
            <a:off x="4703674" y="2862072"/>
            <a:ext cx="283464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CASE · Food Delivery Platform</a:t>
            </a:r>
            <a:endParaRPr lang="en-US" sz="1000" dirty="0"/>
          </a:p>
        </p:txBody>
      </p:sp>
      <p:sp>
        <p:nvSpPr>
          <p:cNvPr id="121" name="s121"/>
          <p:cNvSpPr/>
          <p:nvPr/>
        </p:nvSpPr>
        <p:spPr>
          <a:xfrm>
            <a:off x="4703674" y="3337560"/>
            <a:ext cx="3349447" cy="22860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p:nvPr/>
        </p:nvSpPr>
        <p:spPr>
          <a:xfrm>
            <a:off x="4904842" y="3520440"/>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5"/>
          <a:stretch>
            <a:fillRect/>
          </a:stretch>
        </p:blipFill>
        <p:spPr>
          <a:xfrm>
            <a:off x="5014570" y="3630168"/>
            <a:ext cx="237744" cy="237744"/>
          </a:xfrm>
          <a:prstGeom prst="rect">
            <a:avLst/>
          </a:prstGeom>
        </p:spPr>
      </p:pic>
      <p:sp>
        <p:nvSpPr>
          <p:cNvPr id="124" name="s124"/>
          <p:cNvSpPr txBox="1"/>
          <p:nvPr/>
        </p:nvSpPr>
        <p:spPr>
          <a:xfrm>
            <a:off x="5480914"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IGNORE IT</a:t>
            </a:r>
            <a:endParaRPr lang="en-US" sz="1200" dirty="0"/>
          </a:p>
        </p:txBody>
      </p:sp>
      <p:sp>
        <p:nvSpPr>
          <p:cNvPr id="125" name="s125"/>
          <p:cNvSpPr txBox="1"/>
          <p:nvPr/>
        </p:nvSpPr>
        <p:spPr>
          <a:xfrm>
            <a:off x="4932274"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0" dirty="0">
                <a:solidFill>
                  <a:srgbClr val="E2E8F0"/>
                </a:solidFill>
                <a:latin typeface="Segoe UI"/>
                <a:ea typeface="Segoe UI"/>
                <a:cs typeface="Segoe UI"/>
              </a:rPr>
              <a:t>A top-down task list, every day.</a:t>
            </a:r>
            <a:endParaRPr lang="en-US" sz="1500" dirty="0"/>
          </a:p>
        </p:txBody>
      </p:sp>
      <p:sp>
        <p:nvSpPr>
          <p:cNvPr id="126" name="s126"/>
          <p:cNvSpPr/>
          <p:nvPr/>
        </p:nvSpPr>
        <p:spPr>
          <a:xfrm>
            <a:off x="8281721" y="3337560"/>
            <a:ext cx="3349447" cy="2286000"/>
          </a:xfrm>
          <a:prstGeom prst="roundRect">
            <a:avLst>
              <a:gd name="adj" fmla="val 8000"/>
            </a:avLst>
          </a:prstGeom>
          <a:solidFill>
            <a:srgbClr val="34D399">
              <a:alpha val="8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482889" y="352044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6"/>
          <a:stretch>
            <a:fillRect/>
          </a:stretch>
        </p:blipFill>
        <p:spPr>
          <a:xfrm>
            <a:off x="8592617" y="3630168"/>
            <a:ext cx="237744" cy="237744"/>
          </a:xfrm>
          <a:prstGeom prst="rect">
            <a:avLst/>
          </a:prstGeom>
        </p:spPr>
      </p:pic>
      <p:sp>
        <p:nvSpPr>
          <p:cNvPr id="129" name="s129"/>
          <p:cNvSpPr txBox="1"/>
          <p:nvPr/>
        </p:nvSpPr>
        <p:spPr>
          <a:xfrm>
            <a:off x="9058961"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APPLY IT</a:t>
            </a:r>
            <a:endParaRPr lang="en-US" sz="1200" dirty="0"/>
          </a:p>
        </p:txBody>
      </p:sp>
      <p:sp>
        <p:nvSpPr>
          <p:cNvPr id="130" name="s130"/>
          <p:cNvSpPr txBox="1"/>
          <p:nvPr/>
        </p:nvSpPr>
        <p:spPr>
          <a:xfrm>
            <a:off x="8510321"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FFFFF"/>
                </a:solidFill>
                <a:latin typeface="Segoe UI"/>
                <a:ea typeface="Segoe UI"/>
                <a:cs typeface="Segoe UI"/>
              </a:rPr>
              <a:t>The team plans the sprint around the goal.</a:t>
            </a:r>
            <a:endParaRPr lang="en-US" sz="15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30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4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 dur="400" decel="100000" fill="hold"/>
                                        <p:tgtEl>
                                          <p:spTgt spid="115"/>
                                        </p:tgtEl>
                                        <p:attrNameLst>
                                          <p:attrName>ppt_h</p:attrName>
                                        </p:attrNameLst>
                                      </p:cBhvr>
                                      <p:tavLst>
                                        <p:tav tm="0">
                                          <p:val>
                                            <p:strVal val="#ppt_h*0.3"/>
                                          </p:val>
                                        </p:tav>
                                        <p:tav tm="100000">
                                          <p:val>
                                            <p:strVal val="#ppt_h*1.08"/>
                                          </p:val>
                                        </p:tav>
                                      </p:tavLst>
                                    </p:anim>
                                    <p:animEffect transition="in" filter="fade">
                                      <p:cBhvr>
                                        <p:cTn id="9" dur="200"/>
                                        <p:tgtEl>
                                          <p:spTgt spid="115"/>
                                        </p:tgtEl>
                                      </p:cBhvr>
                                    </p:animEffect>
                                    <p:anim calcmode="lin" valueType="num">
                                      <p:cBhvr additive="base">
                                        <p:cTn id="10" dur="160" fill="hold">
                                          <p:stCondLst>
                                            <p:cond delay="400"/>
                                          </p:stCondLst>
                                        </p:cTn>
                                        <p:tgtEl>
                                          <p:spTgt spid="115"/>
                                        </p:tgtEl>
                                        <p:attrNameLst>
                                          <p:attrName>ppt_w</p:attrName>
                                        </p:attrNameLst>
                                      </p:cBhvr>
                                      <p:tavLst>
                                        <p:tav tm="0">
                                          <p:val>
                                            <p:strVal val="#ppt_w*1.08"/>
                                          </p:val>
                                        </p:tav>
                                        <p:tav tm="100000">
                                          <p:val>
                                            <p:strVal val="#ppt_w"/>
                                          </p:val>
                                        </p:tav>
                                      </p:tavLst>
                                    </p:anim>
                                    <p:anim calcmode="lin" valueType="num">
                                      <p:cBhvr additive="base">
                                        <p:cTn id="11" dur="160" fill="hold">
                                          <p:stCondLst>
                                            <p:cond delay="4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fade">
                                      <p:cBhvr>
                                        <p:cTn id="16" dur="500"/>
                                        <p:tgtEl>
                                          <p:spTgt spid="119"/>
                                        </p:tgtEl>
                                      </p:cBhvr>
                                    </p:animEffect>
                                    <p:anim calcmode="lin" valueType="num">
                                      <p:cBhvr additive="base">
                                        <p:cTn id="17" dur="500" decel="100000" fill="hold"/>
                                        <p:tgtEl>
                                          <p:spTgt spid="119"/>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18"/>
                                        </p:tgtEl>
                                        <p:attrNameLst>
                                          <p:attrName>style.visibility</p:attrName>
                                        </p:attrNameLst>
                                      </p:cBhvr>
                                      <p:to>
                                        <p:strVal val="visible"/>
                                      </p:to>
                                    </p:set>
                                    <p:animEffect transition="in" filter="fade">
                                      <p:cBhvr>
                                        <p:cTn id="20" dur="500"/>
                                        <p:tgtEl>
                                          <p:spTgt spid="118"/>
                                        </p:tgtEl>
                                      </p:cBhvr>
                                    </p:animEffect>
                                    <p:anim calcmode="lin" valueType="num">
                                      <p:cBhvr additive="base">
                                        <p:cTn id="21" dur="500" decel="100000" fill="hold"/>
                                        <p:tgtEl>
                                          <p:spTgt spid="118"/>
                                        </p:tgtEl>
                                        <p:attrNameLst>
                                          <p:attrName>ppt_y</p:attrName>
                                        </p:attrNameLst>
                                      </p:cBhvr>
                                      <p:tavLst>
                                        <p:tav tm="0">
                                          <p:val>
                                            <p:strVal val="#ppt_y+0.06"/>
                                          </p:val>
                                        </p:tav>
                                        <p:tav tm="100000">
                                          <p:val>
                                            <p:strVal val="#ppt_y"/>
                                          </p:val>
                                        </p:tav>
                                      </p:tavLst>
                                    </p:anim>
                                  </p:childTnLst>
                                </p:cTn>
                              </p:par>
                              <p:par>
                                <p:cTn id="22" presetID="10" presetClass="entr" presetSubtype="0" fill="hold" grpId="0" nodeType="withEffect">
                                  <p:stCondLst>
                                    <p:cond delay="120"/>
                                  </p:stCondLst>
                                  <p:childTnLst>
                                    <p:set>
                                      <p:cBhvr>
                                        <p:cTn id="23" dur="1" fill="hold">
                                          <p:stCondLst>
                                            <p:cond delay="0"/>
                                          </p:stCondLst>
                                        </p:cTn>
                                        <p:tgtEl>
                                          <p:spTgt spid="120"/>
                                        </p:tgtEl>
                                        <p:attrNameLst>
                                          <p:attrName>style.visibility</p:attrName>
                                        </p:attrNameLst>
                                      </p:cBhvr>
                                      <p:to>
                                        <p:strVal val="visible"/>
                                      </p:to>
                                    </p:set>
                                    <p:animEffect transition="in" filter="fade">
                                      <p:cBhvr>
                                        <p:cTn id="24" dur="500"/>
                                        <p:tgtEl>
                                          <p:spTgt spid="120"/>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fade">
                                      <p:cBhvr>
                                        <p:cTn id="29" dur="500"/>
                                        <p:tgtEl>
                                          <p:spTgt spid="121"/>
                                        </p:tgtEl>
                                      </p:cBhvr>
                                    </p:animEffect>
                                    <p:anim calcmode="lin" valueType="num">
                                      <p:cBhvr additive="base">
                                        <p:cTn id="30" dur="500" decel="100000" fill="hold"/>
                                        <p:tgtEl>
                                          <p:spTgt spid="121"/>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22"/>
                                        </p:tgtEl>
                                        <p:attrNameLst>
                                          <p:attrName>style.visibility</p:attrName>
                                        </p:attrNameLst>
                                      </p:cBhvr>
                                      <p:to>
                                        <p:strVal val="visible"/>
                                      </p:to>
                                    </p:set>
                                    <p:animEffect transition="in" filter="fade">
                                      <p:cBhvr>
                                        <p:cTn id="33" dur="500"/>
                                        <p:tgtEl>
                                          <p:spTgt spid="122"/>
                                        </p:tgtEl>
                                      </p:cBhvr>
                                    </p:animEffect>
                                    <p:anim calcmode="lin" valueType="num">
                                      <p:cBhvr additive="base">
                                        <p:cTn id="34" dur="500" decel="100000" fill="hold"/>
                                        <p:tgtEl>
                                          <p:spTgt spid="122"/>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23"/>
                                        </p:tgtEl>
                                        <p:attrNameLst>
                                          <p:attrName>style.visibility</p:attrName>
                                        </p:attrNameLst>
                                      </p:cBhvr>
                                      <p:to>
                                        <p:strVal val="visible"/>
                                      </p:to>
                                    </p:set>
                                    <p:animEffect transition="in" filter="fade">
                                      <p:cBhvr>
                                        <p:cTn id="37" dur="500"/>
                                        <p:tgtEl>
                                          <p:spTgt spid="123"/>
                                        </p:tgtEl>
                                      </p:cBhvr>
                                    </p:animEffect>
                                    <p:anim calcmode="lin" valueType="num">
                                      <p:cBhvr additive="base">
                                        <p:cTn id="38" dur="500" decel="100000" fill="hold"/>
                                        <p:tgtEl>
                                          <p:spTgt spid="123"/>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24"/>
                                        </p:tgtEl>
                                        <p:attrNameLst>
                                          <p:attrName>style.visibility</p:attrName>
                                        </p:attrNameLst>
                                      </p:cBhvr>
                                      <p:to>
                                        <p:strVal val="visible"/>
                                      </p:to>
                                    </p:set>
                                    <p:animEffect transition="in" filter="fade">
                                      <p:cBhvr>
                                        <p:cTn id="41" dur="500"/>
                                        <p:tgtEl>
                                          <p:spTgt spid="124"/>
                                        </p:tgtEl>
                                      </p:cBhvr>
                                    </p:animEffect>
                                    <p:anim calcmode="lin" valueType="num">
                                      <p:cBhvr additive="base">
                                        <p:cTn id="42" dur="500" decel="100000" fill="hold"/>
                                        <p:tgtEl>
                                          <p:spTgt spid="124"/>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25"/>
                                        </p:tgtEl>
                                        <p:attrNameLst>
                                          <p:attrName>style.visibility</p:attrName>
                                        </p:attrNameLst>
                                      </p:cBhvr>
                                      <p:to>
                                        <p:strVal val="visible"/>
                                      </p:to>
                                    </p:set>
                                    <p:animEffect transition="in" filter="fade">
                                      <p:cBhvr>
                                        <p:cTn id="45" dur="500"/>
                                        <p:tgtEl>
                                          <p:spTgt spid="125"/>
                                        </p:tgtEl>
                                      </p:cBhvr>
                                    </p:animEffect>
                                    <p:anim calcmode="lin" valueType="num">
                                      <p:cBhvr additive="base">
                                        <p:cTn id="46" dur="500" decel="100000" fill="hold"/>
                                        <p:tgtEl>
                                          <p:spTgt spid="125"/>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fade">
                                      <p:cBhvr>
                                        <p:cTn id="51" dur="500"/>
                                        <p:tgtEl>
                                          <p:spTgt spid="126"/>
                                        </p:tgtEl>
                                      </p:cBhvr>
                                    </p:animEffect>
                                    <p:anim calcmode="lin" valueType="num">
                                      <p:cBhvr additive="base">
                                        <p:cTn id="52" dur="500" decel="100000" fill="hold"/>
                                        <p:tgtEl>
                                          <p:spTgt spid="126"/>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27"/>
                                        </p:tgtEl>
                                        <p:attrNameLst>
                                          <p:attrName>style.visibility</p:attrName>
                                        </p:attrNameLst>
                                      </p:cBhvr>
                                      <p:to>
                                        <p:strVal val="visible"/>
                                      </p:to>
                                    </p:set>
                                    <p:animEffect transition="in" filter="fade">
                                      <p:cBhvr>
                                        <p:cTn id="55" dur="500"/>
                                        <p:tgtEl>
                                          <p:spTgt spid="127"/>
                                        </p:tgtEl>
                                      </p:cBhvr>
                                    </p:animEffect>
                                    <p:anim calcmode="lin" valueType="num">
                                      <p:cBhvr additive="base">
                                        <p:cTn id="56" dur="500" decel="100000" fill="hold"/>
                                        <p:tgtEl>
                                          <p:spTgt spid="127"/>
                                        </p:tgtEl>
                                        <p:attrNameLst>
                                          <p:attrName>ppt_x</p:attrName>
                                        </p:attrNameLst>
                                      </p:cBhvr>
                                      <p:tavLst>
                                        <p:tav tm="0">
                                          <p:val>
                                            <p:strVal val="#ppt_x+0.05"/>
                                          </p:val>
                                        </p:tav>
                                        <p:tav tm="100000">
                                          <p:val>
                                            <p:strVal val="#ppt_x"/>
                                          </p:val>
                                        </p:tav>
                                      </p:tavLst>
                                    </p:anim>
                                  </p:childTnLst>
                                </p:cTn>
                              </p:par>
                              <p:par>
                                <p:cTn id="57" presetID="42" presetClass="entr" presetSubtype="0" fill="hold" nodeType="withEffect">
                                  <p:stCondLst>
                                    <p:cond delay="0"/>
                                  </p:stCondLst>
                                  <p:childTnLst>
                                    <p:set>
                                      <p:cBhvr>
                                        <p:cTn id="58" dur="1" fill="hold">
                                          <p:stCondLst>
                                            <p:cond delay="0"/>
                                          </p:stCondLst>
                                        </p:cTn>
                                        <p:tgtEl>
                                          <p:spTgt spid="128"/>
                                        </p:tgtEl>
                                        <p:attrNameLst>
                                          <p:attrName>style.visibility</p:attrName>
                                        </p:attrNameLst>
                                      </p:cBhvr>
                                      <p:to>
                                        <p:strVal val="visible"/>
                                      </p:to>
                                    </p:set>
                                    <p:animEffect transition="in" filter="fade">
                                      <p:cBhvr>
                                        <p:cTn id="59" dur="500"/>
                                        <p:tgtEl>
                                          <p:spTgt spid="128"/>
                                        </p:tgtEl>
                                      </p:cBhvr>
                                    </p:animEffect>
                                    <p:anim calcmode="lin" valueType="num">
                                      <p:cBhvr additive="base">
                                        <p:cTn id="60" dur="500" decel="100000" fill="hold"/>
                                        <p:tgtEl>
                                          <p:spTgt spid="128"/>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29"/>
                                        </p:tgtEl>
                                        <p:attrNameLst>
                                          <p:attrName>style.visibility</p:attrName>
                                        </p:attrNameLst>
                                      </p:cBhvr>
                                      <p:to>
                                        <p:strVal val="visible"/>
                                      </p:to>
                                    </p:set>
                                    <p:animEffect transition="in" filter="fade">
                                      <p:cBhvr>
                                        <p:cTn id="63" dur="500"/>
                                        <p:tgtEl>
                                          <p:spTgt spid="129"/>
                                        </p:tgtEl>
                                      </p:cBhvr>
                                    </p:animEffect>
                                    <p:anim calcmode="lin" valueType="num">
                                      <p:cBhvr additive="base">
                                        <p:cTn id="64" dur="500" decel="100000" fill="hold"/>
                                        <p:tgtEl>
                                          <p:spTgt spid="129"/>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500"/>
                                        <p:tgtEl>
                                          <p:spTgt spid="130"/>
                                        </p:tgtEl>
                                      </p:cBhvr>
                                    </p:animEffect>
                                    <p:anim calcmode="lin" valueType="num">
                                      <p:cBhvr additive="base">
                                        <p:cTn id="68"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20" grpId="0" animBg="1"/>
      <p:bldP spid="121" grpId="0" animBg="1"/>
      <p:bldP spid="122" grpId="0" animBg="1"/>
      <p:bldP spid="124" grpId="0" animBg="1"/>
      <p:bldP spid="125" grpId="0" animBg="1"/>
      <p:bldP spid="126" grpId="0" animBg="1"/>
      <p:bldP spid="127" grpId="0" animBg="1"/>
      <p:bldP spid="129" grpId="0" animBg="1"/>
      <p:bldP spid="130"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PRINCIPLE 12</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Reflect and Adjust</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PRINCIPLES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224</a:t>
            </a:r>
            <a:endParaRPr lang="en-US" sz="850" dirty="0"/>
          </a:p>
        </p:txBody>
      </p:sp>
      <p:sp>
        <p:nvSpPr>
          <p:cNvPr id="101" name="!!trk0"/>
          <p:cNvSpPr/>
          <p:nvPr/>
        </p:nvSpPr>
        <p:spPr>
          <a:xfrm>
            <a:off x="770839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a:t>
            </a:r>
            <a:endParaRPr lang="en-US" sz="700" dirty="0"/>
          </a:p>
        </p:txBody>
      </p:sp>
      <p:sp>
        <p:nvSpPr>
          <p:cNvPr id="102" name="!!trk1"/>
          <p:cNvSpPr/>
          <p:nvPr/>
        </p:nvSpPr>
        <p:spPr>
          <a:xfrm>
            <a:off x="803757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2</a:t>
            </a:r>
            <a:endParaRPr lang="en-US" sz="700" dirty="0"/>
          </a:p>
        </p:txBody>
      </p:sp>
      <p:sp>
        <p:nvSpPr>
          <p:cNvPr id="103" name="!!trk2"/>
          <p:cNvSpPr/>
          <p:nvPr/>
        </p:nvSpPr>
        <p:spPr>
          <a:xfrm>
            <a:off x="836676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3</a:t>
            </a:r>
            <a:endParaRPr lang="en-US" sz="700" dirty="0"/>
          </a:p>
        </p:txBody>
      </p:sp>
      <p:sp>
        <p:nvSpPr>
          <p:cNvPr id="104" name="!!trk3"/>
          <p:cNvSpPr/>
          <p:nvPr/>
        </p:nvSpPr>
        <p:spPr>
          <a:xfrm>
            <a:off x="8695944"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4</a:t>
            </a:r>
            <a:endParaRPr lang="en-US" sz="700" dirty="0"/>
          </a:p>
        </p:txBody>
      </p:sp>
      <p:sp>
        <p:nvSpPr>
          <p:cNvPr id="105" name="!!trk4"/>
          <p:cNvSpPr/>
          <p:nvPr/>
        </p:nvSpPr>
        <p:spPr>
          <a:xfrm>
            <a:off x="9025128"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5</a:t>
            </a:r>
            <a:endParaRPr lang="en-US" sz="700" dirty="0"/>
          </a:p>
        </p:txBody>
      </p:sp>
      <p:sp>
        <p:nvSpPr>
          <p:cNvPr id="106" name="!!trk5"/>
          <p:cNvSpPr/>
          <p:nvPr/>
        </p:nvSpPr>
        <p:spPr>
          <a:xfrm>
            <a:off x="935431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6</a:t>
            </a:r>
            <a:endParaRPr lang="en-US" sz="700" dirty="0"/>
          </a:p>
        </p:txBody>
      </p:sp>
      <p:sp>
        <p:nvSpPr>
          <p:cNvPr id="107" name="!!trk6"/>
          <p:cNvSpPr/>
          <p:nvPr/>
        </p:nvSpPr>
        <p:spPr>
          <a:xfrm>
            <a:off x="9683496"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7</a:t>
            </a:r>
            <a:endParaRPr lang="en-US" sz="700" dirty="0"/>
          </a:p>
        </p:txBody>
      </p:sp>
      <p:sp>
        <p:nvSpPr>
          <p:cNvPr id="108" name="!!trk7"/>
          <p:cNvSpPr/>
          <p:nvPr/>
        </p:nvSpPr>
        <p:spPr>
          <a:xfrm>
            <a:off x="10012680"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8</a:t>
            </a:r>
            <a:endParaRPr lang="en-US" sz="700" dirty="0"/>
          </a:p>
        </p:txBody>
      </p:sp>
      <p:sp>
        <p:nvSpPr>
          <p:cNvPr id="109" name="!!trk8"/>
          <p:cNvSpPr/>
          <p:nvPr/>
        </p:nvSpPr>
        <p:spPr>
          <a:xfrm>
            <a:off x="10341864"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9</a:t>
            </a:r>
            <a:endParaRPr lang="en-US" sz="700" dirty="0"/>
          </a:p>
        </p:txBody>
      </p:sp>
      <p:sp>
        <p:nvSpPr>
          <p:cNvPr id="110" name="!!trk9"/>
          <p:cNvSpPr/>
          <p:nvPr/>
        </p:nvSpPr>
        <p:spPr>
          <a:xfrm>
            <a:off x="10671048"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10</a:t>
            </a:r>
            <a:endParaRPr lang="en-US" sz="700" dirty="0"/>
          </a:p>
        </p:txBody>
      </p:sp>
      <p:sp>
        <p:nvSpPr>
          <p:cNvPr id="111" name="!!trk10"/>
          <p:cNvSpPr/>
          <p:nvPr/>
        </p:nvSpPr>
        <p:spPr>
          <a:xfrm>
            <a:off x="11000232" y="457200"/>
            <a:ext cx="265176" cy="265176"/>
          </a:xfrm>
          <a:prstGeom prst="ellipse">
            <a:avLst/>
          </a:prstGeom>
          <a:solidFill>
            <a:srgbClr val="FBBF24">
              <a:alpha val="30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94A3B8"/>
                </a:solidFill>
                <a:latin typeface="Segoe UI"/>
                <a:ea typeface="Segoe UI"/>
                <a:cs typeface="Segoe UI"/>
              </a:rPr>
              <a:t>11</a:t>
            </a:r>
            <a:endParaRPr lang="en-US" sz="700" dirty="0"/>
          </a:p>
        </p:txBody>
      </p:sp>
      <p:sp>
        <p:nvSpPr>
          <p:cNvPr id="112" name="!!trk11"/>
          <p:cNvSpPr/>
          <p:nvPr/>
        </p:nvSpPr>
        <p:spPr>
          <a:xfrm>
            <a:off x="11329416" y="457200"/>
            <a:ext cx="265176" cy="265176"/>
          </a:xfrm>
          <a:prstGeom prst="ellipse">
            <a:avLst/>
          </a:prstGeom>
          <a:solidFill>
            <a:srgbClr val="FBBF24"/>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700" b="1" dirty="0">
                <a:solidFill>
                  <a:srgbClr val="0F172A"/>
                </a:solidFill>
                <a:latin typeface="Segoe UI"/>
                <a:ea typeface="Segoe UI"/>
                <a:cs typeface="Segoe UI"/>
              </a:rPr>
              <a:t>12</a:t>
            </a:r>
            <a:endParaRPr lang="en-US" sz="700" dirty="0"/>
          </a:p>
        </p:txBody>
      </p:sp>
      <p:sp>
        <p:nvSpPr>
          <p:cNvPr id="113" name="!!pnum"/>
          <p:cNvSpPr txBox="1"/>
          <p:nvPr/>
        </p:nvSpPr>
        <p:spPr>
          <a:xfrm>
            <a:off x="506578" y="1600200"/>
            <a:ext cx="2194560" cy="11887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7200" b="1" dirty="0">
                <a:solidFill>
                  <a:srgbClr val="FBBF24"/>
                </a:solidFill>
                <a:latin typeface="Segoe UI"/>
                <a:ea typeface="Segoe UI"/>
                <a:cs typeface="Segoe UI"/>
              </a:rPr>
              <a:t>12</a:t>
            </a:r>
            <a:endParaRPr lang="en-US" sz="7200" dirty="0"/>
          </a:p>
        </p:txBody>
      </p:sp>
      <p:sp>
        <p:nvSpPr>
          <p:cNvPr id="114" name="s114"/>
          <p:cNvSpPr/>
          <p:nvPr/>
        </p:nvSpPr>
        <p:spPr>
          <a:xfrm>
            <a:off x="3057754" y="1828800"/>
            <a:ext cx="777240" cy="7772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3244291" y="2015338"/>
            <a:ext cx="404165" cy="404165"/>
          </a:xfrm>
          <a:prstGeom prst="rect">
            <a:avLst/>
          </a:prstGeom>
        </p:spPr>
      </p:pic>
      <p:sp>
        <p:nvSpPr>
          <p:cNvPr id="116" name="!!def"/>
          <p:cNvSpPr/>
          <p:nvPr/>
        </p:nvSpPr>
        <p:spPr>
          <a:xfrm>
            <a:off x="543154" y="2926080"/>
            <a:ext cx="3886200" cy="868680"/>
          </a:xfrm>
          <a:prstGeom prst="roundRect">
            <a:avLst>
              <a:gd name="adj" fmla="val 12000"/>
            </a:avLst>
          </a:prstGeom>
          <a:solidFill>
            <a:srgbClr val="FBBF24">
              <a:alpha val="10000"/>
            </a:srgbClr>
          </a:solidFill>
          <a:ln w="12700">
            <a:solidFill>
              <a:srgbClr val="FBBF24"/>
            </a:solidFill>
            <a:prstDash val="solid"/>
          </a:ln>
        </p:spPr>
        <p:txBody>
          <a:bodyPr wrap="square" lIns="201168" tIns="45720" rIns="137160" bIns="45720" rtlCol="0" anchor="ctr">
            <a:noAutofit/>
          </a:bodyPr>
          <a:lstStyle/>
          <a:p>
            <a:pPr marL="0" indent="0" algn="l">
              <a:spcBef>
                <a:spcPts val="0"/>
              </a:spcBef>
              <a:spcAft>
                <a:spcPts val="200"/>
              </a:spcAft>
              <a:buNone/>
            </a:pPr>
            <a:r>
              <a:rPr lang="en-US" sz="1000" b="1" dirty="0">
                <a:solidFill>
                  <a:srgbClr val="FBBF24"/>
                </a:solidFill>
                <a:latin typeface="Segoe UI"/>
                <a:ea typeface="Segoe UI"/>
                <a:cs typeface="Segoe UI"/>
              </a:rPr>
              <a:t>IN SHORT</a:t>
            </a:r>
            <a:endParaRPr lang="en-US" sz="1000" dirty="0"/>
          </a:p>
          <a:p>
            <a:pPr marL="0" indent="0" algn="l">
              <a:spcBef>
                <a:spcPts val="0"/>
              </a:spcBef>
              <a:spcAft>
                <a:spcPts val="0"/>
              </a:spcAft>
              <a:buNone/>
            </a:pPr>
            <a:r>
              <a:rPr lang="en-US" sz="1450" b="1" dirty="0">
                <a:solidFill>
                  <a:srgbClr val="FFFFFF"/>
                </a:solidFill>
                <a:latin typeface="Segoe UI"/>
                <a:ea typeface="Segoe UI"/>
                <a:cs typeface="Segoe UI"/>
              </a:rPr>
              <a:t>Regular retrospectives, then changed behavior.</a:t>
            </a:r>
            <a:endParaRPr lang="en-US" sz="1450" dirty="0"/>
          </a:p>
        </p:txBody>
      </p:sp>
      <p:sp>
        <p:nvSpPr>
          <p:cNvPr id="117" name="!!quote"/>
          <p:cNvSpPr/>
          <p:nvPr/>
        </p:nvSpPr>
        <p:spPr>
          <a:xfrm>
            <a:off x="543154" y="3931920"/>
            <a:ext cx="3886200" cy="1691640"/>
          </a:xfrm>
          <a:prstGeom prst="roundRect">
            <a:avLst>
              <a:gd name="adj" fmla="val 8000"/>
            </a:avLst>
          </a:prstGeom>
          <a:solidFill>
            <a:srgbClr val="111B2E"/>
          </a:solidFill>
          <a:ln w="12700">
            <a:solidFill>
              <a:srgbClr val="1E3A5F"/>
            </a:solidFill>
            <a:prstDash val="solid"/>
          </a:ln>
        </p:spPr>
        <p:txBody>
          <a:bodyPr wrap="square" lIns="201168" tIns="146304" rIns="164592" bIns="91440" rtlCol="0" anchor="t">
            <a:noAutofit/>
          </a:bodyPr>
          <a:lstStyle/>
          <a:p>
            <a:pPr marL="0" indent="0" algn="l">
              <a:spcBef>
                <a:spcPts val="0"/>
              </a:spcBef>
              <a:spcAft>
                <a:spcPts val="400"/>
              </a:spcAft>
              <a:buNone/>
            </a:pPr>
            <a:r>
              <a:rPr lang="en-US" sz="1000" b="1" dirty="0">
                <a:solidFill>
                  <a:srgbClr val="94A3B8"/>
                </a:solidFill>
                <a:latin typeface="Segoe UI"/>
                <a:ea typeface="Segoe UI"/>
                <a:cs typeface="Segoe UI"/>
              </a:rPr>
              <a:t>THE MANIFESTO SAYS</a:t>
            </a:r>
            <a:endParaRPr lang="en-US" sz="1000" dirty="0"/>
          </a:p>
          <a:p>
            <a:pPr marL="0" indent="0" algn="l">
              <a:lnSpc>
                <a:spcPct val="110000"/>
              </a:lnSpc>
              <a:spcBef>
                <a:spcPts val="0"/>
              </a:spcBef>
              <a:spcAft>
                <a:spcPts val="0"/>
              </a:spcAft>
              <a:buNone/>
            </a:pPr>
            <a:r>
              <a:rPr lang="en-US" sz="1250" b="0" i="1" dirty="0">
                <a:solidFill>
                  <a:srgbClr val="CBD5E1"/>
                </a:solidFill>
                <a:latin typeface="Segoe UI"/>
                <a:ea typeface="Segoe UI"/>
                <a:cs typeface="Segoe UI"/>
              </a:rPr>
              <a:t>“At regular intervals, the team reflects on how to become more effective, then tunes and adjusts its behavior accordingly.”</a:t>
            </a:r>
            <a:endParaRPr lang="en-US" sz="1250" dirty="0"/>
          </a:p>
        </p:txBody>
      </p:sp>
      <p:sp>
        <p:nvSpPr>
          <p:cNvPr id="118" name="s118"/>
          <p:cNvSpPr/>
          <p:nvPr/>
        </p:nvSpPr>
        <p:spPr>
          <a:xfrm>
            <a:off x="4886554" y="2093976"/>
            <a:ext cx="685800" cy="29260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ASK</a:t>
            </a:r>
            <a:endParaRPr lang="en-US" sz="1000" dirty="0"/>
          </a:p>
        </p:txBody>
      </p:sp>
      <p:sp>
        <p:nvSpPr>
          <p:cNvPr id="119" name="s119"/>
          <p:cNvSpPr/>
          <p:nvPr/>
        </p:nvSpPr>
        <p:spPr>
          <a:xfrm>
            <a:off x="4703674" y="1783080"/>
            <a:ext cx="6927494" cy="914400"/>
          </a:xfrm>
          <a:prstGeom prst="roundRect">
            <a:avLst>
              <a:gd name="adj" fmla="val 14000"/>
            </a:avLst>
          </a:prstGeom>
          <a:solidFill>
            <a:srgbClr val="FBBF24">
              <a:alpha val="8000"/>
            </a:srgbClr>
          </a:solidFill>
          <a:ln w="12700">
            <a:solidFill>
              <a:srgbClr val="FBBF24"/>
            </a:solidFill>
            <a:prstDash val="solid"/>
          </a:ln>
        </p:spPr>
        <p:txBody>
          <a:bodyPr wrap="square" lIns="1051560" tIns="45720" rIns="228600" bIns="4572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If the same deploy pain happens every week, what should we do?</a:t>
            </a:r>
            <a:endParaRPr lang="en-US" sz="1450" dirty="0"/>
          </a:p>
        </p:txBody>
      </p:sp>
      <p:sp>
        <p:nvSpPr>
          <p:cNvPr id="120" name="s120"/>
          <p:cNvSpPr/>
          <p:nvPr/>
        </p:nvSpPr>
        <p:spPr>
          <a:xfrm>
            <a:off x="4703674" y="2862072"/>
            <a:ext cx="283464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CASE · Food Delivery Platform</a:t>
            </a:r>
            <a:endParaRPr lang="en-US" sz="1000" dirty="0"/>
          </a:p>
        </p:txBody>
      </p:sp>
      <p:sp>
        <p:nvSpPr>
          <p:cNvPr id="121" name="s121"/>
          <p:cNvSpPr/>
          <p:nvPr/>
        </p:nvSpPr>
        <p:spPr>
          <a:xfrm>
            <a:off x="4703674" y="3337560"/>
            <a:ext cx="3349447" cy="228600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22" name="s122"/>
          <p:cNvSpPr/>
          <p:nvPr/>
        </p:nvSpPr>
        <p:spPr>
          <a:xfrm>
            <a:off x="4904842" y="3520440"/>
            <a:ext cx="457200" cy="45720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5"/>
          <a:stretch>
            <a:fillRect/>
          </a:stretch>
        </p:blipFill>
        <p:spPr>
          <a:xfrm>
            <a:off x="5014570" y="3630168"/>
            <a:ext cx="237744" cy="237744"/>
          </a:xfrm>
          <a:prstGeom prst="rect">
            <a:avLst/>
          </a:prstGeom>
        </p:spPr>
      </p:pic>
      <p:sp>
        <p:nvSpPr>
          <p:cNvPr id="124" name="s124"/>
          <p:cNvSpPr txBox="1"/>
          <p:nvPr/>
        </p:nvSpPr>
        <p:spPr>
          <a:xfrm>
            <a:off x="5480914"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F87171"/>
                </a:solidFill>
                <a:latin typeface="Segoe UI"/>
                <a:ea typeface="Segoe UI"/>
                <a:cs typeface="Segoe UI"/>
              </a:rPr>
              <a:t>IGNORE IT</a:t>
            </a:r>
            <a:endParaRPr lang="en-US" sz="1200" dirty="0"/>
          </a:p>
        </p:txBody>
      </p:sp>
      <p:sp>
        <p:nvSpPr>
          <p:cNvPr id="125" name="s125"/>
          <p:cNvSpPr txBox="1"/>
          <p:nvPr/>
        </p:nvSpPr>
        <p:spPr>
          <a:xfrm>
            <a:off x="4932274"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0" dirty="0">
                <a:solidFill>
                  <a:srgbClr val="E2E8F0"/>
                </a:solidFill>
                <a:latin typeface="Segoe UI"/>
                <a:ea typeface="Segoe UI"/>
                <a:cs typeface="Segoe UI"/>
              </a:rPr>
              <a:t>Complain, and repeat.</a:t>
            </a:r>
            <a:endParaRPr lang="en-US" sz="1500" dirty="0"/>
          </a:p>
        </p:txBody>
      </p:sp>
      <p:sp>
        <p:nvSpPr>
          <p:cNvPr id="126" name="s126"/>
          <p:cNvSpPr/>
          <p:nvPr/>
        </p:nvSpPr>
        <p:spPr>
          <a:xfrm>
            <a:off x="8281721" y="3337560"/>
            <a:ext cx="3349447" cy="2286000"/>
          </a:xfrm>
          <a:prstGeom prst="roundRect">
            <a:avLst>
              <a:gd name="adj" fmla="val 8000"/>
            </a:avLst>
          </a:prstGeom>
          <a:solidFill>
            <a:srgbClr val="34D399">
              <a:alpha val="8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27" name="s127"/>
          <p:cNvSpPr/>
          <p:nvPr/>
        </p:nvSpPr>
        <p:spPr>
          <a:xfrm>
            <a:off x="8482889" y="3520440"/>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8" name="img128"/>
          <p:cNvPicPr>
            <a:picLocks noChangeAspect="1"/>
          </p:cNvPicPr>
          <p:nvPr/>
        </p:nvPicPr>
        <p:blipFill>
          <a:blip r:embed="rId6"/>
          <a:stretch>
            <a:fillRect/>
          </a:stretch>
        </p:blipFill>
        <p:spPr>
          <a:xfrm>
            <a:off x="8592617" y="3630168"/>
            <a:ext cx="237744" cy="237744"/>
          </a:xfrm>
          <a:prstGeom prst="rect">
            <a:avLst/>
          </a:prstGeom>
        </p:spPr>
      </p:pic>
      <p:sp>
        <p:nvSpPr>
          <p:cNvPr id="129" name="s129"/>
          <p:cNvSpPr txBox="1"/>
          <p:nvPr/>
        </p:nvSpPr>
        <p:spPr>
          <a:xfrm>
            <a:off x="9058961" y="3520440"/>
            <a:ext cx="2435047"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00" b="1" dirty="0">
                <a:solidFill>
                  <a:srgbClr val="34D399"/>
                </a:solidFill>
                <a:latin typeface="Segoe UI"/>
                <a:ea typeface="Segoe UI"/>
                <a:cs typeface="Segoe UI"/>
              </a:rPr>
              <a:t>APPLY IT</a:t>
            </a:r>
            <a:endParaRPr lang="en-US" sz="1200" dirty="0"/>
          </a:p>
        </p:txBody>
      </p:sp>
      <p:sp>
        <p:nvSpPr>
          <p:cNvPr id="130" name="s130"/>
          <p:cNvSpPr txBox="1"/>
          <p:nvPr/>
        </p:nvSpPr>
        <p:spPr>
          <a:xfrm>
            <a:off x="8510321" y="4160520"/>
            <a:ext cx="2937967" cy="13258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500" b="1" dirty="0">
                <a:solidFill>
                  <a:srgbClr val="FFFFFF"/>
                </a:solidFill>
                <a:latin typeface="Segoe UI"/>
                <a:ea typeface="Segoe UI"/>
                <a:cs typeface="Segoe UI"/>
              </a:rPr>
              <a:t>Retro action: automate smoke tests next sprint.</a:t>
            </a:r>
            <a:endParaRPr lang="en-US" sz="15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30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4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 dur="400" decel="100000" fill="hold"/>
                                        <p:tgtEl>
                                          <p:spTgt spid="115"/>
                                        </p:tgtEl>
                                        <p:attrNameLst>
                                          <p:attrName>ppt_h</p:attrName>
                                        </p:attrNameLst>
                                      </p:cBhvr>
                                      <p:tavLst>
                                        <p:tav tm="0">
                                          <p:val>
                                            <p:strVal val="#ppt_h*0.3"/>
                                          </p:val>
                                        </p:tav>
                                        <p:tav tm="100000">
                                          <p:val>
                                            <p:strVal val="#ppt_h*1.08"/>
                                          </p:val>
                                        </p:tav>
                                      </p:tavLst>
                                    </p:anim>
                                    <p:animEffect transition="in" filter="fade">
                                      <p:cBhvr>
                                        <p:cTn id="9" dur="200"/>
                                        <p:tgtEl>
                                          <p:spTgt spid="115"/>
                                        </p:tgtEl>
                                      </p:cBhvr>
                                    </p:animEffect>
                                    <p:anim calcmode="lin" valueType="num">
                                      <p:cBhvr additive="base">
                                        <p:cTn id="10" dur="160" fill="hold">
                                          <p:stCondLst>
                                            <p:cond delay="400"/>
                                          </p:stCondLst>
                                        </p:cTn>
                                        <p:tgtEl>
                                          <p:spTgt spid="115"/>
                                        </p:tgtEl>
                                        <p:attrNameLst>
                                          <p:attrName>ppt_w</p:attrName>
                                        </p:attrNameLst>
                                      </p:cBhvr>
                                      <p:tavLst>
                                        <p:tav tm="0">
                                          <p:val>
                                            <p:strVal val="#ppt_w*1.08"/>
                                          </p:val>
                                        </p:tav>
                                        <p:tav tm="100000">
                                          <p:val>
                                            <p:strVal val="#ppt_w"/>
                                          </p:val>
                                        </p:tav>
                                      </p:tavLst>
                                    </p:anim>
                                    <p:anim calcmode="lin" valueType="num">
                                      <p:cBhvr additive="base">
                                        <p:cTn id="11" dur="160" fill="hold">
                                          <p:stCondLst>
                                            <p:cond delay="400"/>
                                          </p:stCondLst>
                                        </p:cTn>
                                        <p:tgtEl>
                                          <p:spTgt spid="115"/>
                                        </p:tgtEl>
                                        <p:attrNameLst>
                                          <p:attrName>ppt_h</p:attrName>
                                        </p:attrNameLst>
                                      </p:cBhvr>
                                      <p:tavLst>
                                        <p:tav tm="0">
                                          <p:val>
                                            <p:strVal val="#ppt_h*1.08"/>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fade">
                                      <p:cBhvr>
                                        <p:cTn id="16" dur="500"/>
                                        <p:tgtEl>
                                          <p:spTgt spid="119"/>
                                        </p:tgtEl>
                                      </p:cBhvr>
                                    </p:animEffect>
                                    <p:anim calcmode="lin" valueType="num">
                                      <p:cBhvr additive="base">
                                        <p:cTn id="17" dur="500" decel="100000" fill="hold"/>
                                        <p:tgtEl>
                                          <p:spTgt spid="119"/>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18"/>
                                        </p:tgtEl>
                                        <p:attrNameLst>
                                          <p:attrName>style.visibility</p:attrName>
                                        </p:attrNameLst>
                                      </p:cBhvr>
                                      <p:to>
                                        <p:strVal val="visible"/>
                                      </p:to>
                                    </p:set>
                                    <p:animEffect transition="in" filter="fade">
                                      <p:cBhvr>
                                        <p:cTn id="20" dur="500"/>
                                        <p:tgtEl>
                                          <p:spTgt spid="118"/>
                                        </p:tgtEl>
                                      </p:cBhvr>
                                    </p:animEffect>
                                    <p:anim calcmode="lin" valueType="num">
                                      <p:cBhvr additive="base">
                                        <p:cTn id="21" dur="500" decel="100000" fill="hold"/>
                                        <p:tgtEl>
                                          <p:spTgt spid="118"/>
                                        </p:tgtEl>
                                        <p:attrNameLst>
                                          <p:attrName>ppt_y</p:attrName>
                                        </p:attrNameLst>
                                      </p:cBhvr>
                                      <p:tavLst>
                                        <p:tav tm="0">
                                          <p:val>
                                            <p:strVal val="#ppt_y+0.06"/>
                                          </p:val>
                                        </p:tav>
                                        <p:tav tm="100000">
                                          <p:val>
                                            <p:strVal val="#ppt_y"/>
                                          </p:val>
                                        </p:tav>
                                      </p:tavLst>
                                    </p:anim>
                                  </p:childTnLst>
                                </p:cTn>
                              </p:par>
                              <p:par>
                                <p:cTn id="22" presetID="10" presetClass="entr" presetSubtype="0" fill="hold" grpId="0" nodeType="withEffect">
                                  <p:stCondLst>
                                    <p:cond delay="120"/>
                                  </p:stCondLst>
                                  <p:childTnLst>
                                    <p:set>
                                      <p:cBhvr>
                                        <p:cTn id="23" dur="1" fill="hold">
                                          <p:stCondLst>
                                            <p:cond delay="0"/>
                                          </p:stCondLst>
                                        </p:cTn>
                                        <p:tgtEl>
                                          <p:spTgt spid="120"/>
                                        </p:tgtEl>
                                        <p:attrNameLst>
                                          <p:attrName>style.visibility</p:attrName>
                                        </p:attrNameLst>
                                      </p:cBhvr>
                                      <p:to>
                                        <p:strVal val="visible"/>
                                      </p:to>
                                    </p:set>
                                    <p:animEffect transition="in" filter="fade">
                                      <p:cBhvr>
                                        <p:cTn id="24" dur="500"/>
                                        <p:tgtEl>
                                          <p:spTgt spid="120"/>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fade">
                                      <p:cBhvr>
                                        <p:cTn id="29" dur="500"/>
                                        <p:tgtEl>
                                          <p:spTgt spid="121"/>
                                        </p:tgtEl>
                                      </p:cBhvr>
                                    </p:animEffect>
                                    <p:anim calcmode="lin" valueType="num">
                                      <p:cBhvr additive="base">
                                        <p:cTn id="30" dur="500" decel="100000" fill="hold"/>
                                        <p:tgtEl>
                                          <p:spTgt spid="121"/>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22"/>
                                        </p:tgtEl>
                                        <p:attrNameLst>
                                          <p:attrName>style.visibility</p:attrName>
                                        </p:attrNameLst>
                                      </p:cBhvr>
                                      <p:to>
                                        <p:strVal val="visible"/>
                                      </p:to>
                                    </p:set>
                                    <p:animEffect transition="in" filter="fade">
                                      <p:cBhvr>
                                        <p:cTn id="33" dur="500"/>
                                        <p:tgtEl>
                                          <p:spTgt spid="122"/>
                                        </p:tgtEl>
                                      </p:cBhvr>
                                    </p:animEffect>
                                    <p:anim calcmode="lin" valueType="num">
                                      <p:cBhvr additive="base">
                                        <p:cTn id="34" dur="500" decel="100000" fill="hold"/>
                                        <p:tgtEl>
                                          <p:spTgt spid="122"/>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23"/>
                                        </p:tgtEl>
                                        <p:attrNameLst>
                                          <p:attrName>style.visibility</p:attrName>
                                        </p:attrNameLst>
                                      </p:cBhvr>
                                      <p:to>
                                        <p:strVal val="visible"/>
                                      </p:to>
                                    </p:set>
                                    <p:animEffect transition="in" filter="fade">
                                      <p:cBhvr>
                                        <p:cTn id="37" dur="500"/>
                                        <p:tgtEl>
                                          <p:spTgt spid="123"/>
                                        </p:tgtEl>
                                      </p:cBhvr>
                                    </p:animEffect>
                                    <p:anim calcmode="lin" valueType="num">
                                      <p:cBhvr additive="base">
                                        <p:cTn id="38" dur="500" decel="100000" fill="hold"/>
                                        <p:tgtEl>
                                          <p:spTgt spid="123"/>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24"/>
                                        </p:tgtEl>
                                        <p:attrNameLst>
                                          <p:attrName>style.visibility</p:attrName>
                                        </p:attrNameLst>
                                      </p:cBhvr>
                                      <p:to>
                                        <p:strVal val="visible"/>
                                      </p:to>
                                    </p:set>
                                    <p:animEffect transition="in" filter="fade">
                                      <p:cBhvr>
                                        <p:cTn id="41" dur="500"/>
                                        <p:tgtEl>
                                          <p:spTgt spid="124"/>
                                        </p:tgtEl>
                                      </p:cBhvr>
                                    </p:animEffect>
                                    <p:anim calcmode="lin" valueType="num">
                                      <p:cBhvr additive="base">
                                        <p:cTn id="42" dur="500" decel="100000" fill="hold"/>
                                        <p:tgtEl>
                                          <p:spTgt spid="124"/>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25"/>
                                        </p:tgtEl>
                                        <p:attrNameLst>
                                          <p:attrName>style.visibility</p:attrName>
                                        </p:attrNameLst>
                                      </p:cBhvr>
                                      <p:to>
                                        <p:strVal val="visible"/>
                                      </p:to>
                                    </p:set>
                                    <p:animEffect transition="in" filter="fade">
                                      <p:cBhvr>
                                        <p:cTn id="45" dur="500"/>
                                        <p:tgtEl>
                                          <p:spTgt spid="125"/>
                                        </p:tgtEl>
                                      </p:cBhvr>
                                    </p:animEffect>
                                    <p:anim calcmode="lin" valueType="num">
                                      <p:cBhvr additive="base">
                                        <p:cTn id="46" dur="500" decel="100000" fill="hold"/>
                                        <p:tgtEl>
                                          <p:spTgt spid="125"/>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fade">
                                      <p:cBhvr>
                                        <p:cTn id="51" dur="500"/>
                                        <p:tgtEl>
                                          <p:spTgt spid="126"/>
                                        </p:tgtEl>
                                      </p:cBhvr>
                                    </p:animEffect>
                                    <p:anim calcmode="lin" valueType="num">
                                      <p:cBhvr additive="base">
                                        <p:cTn id="52" dur="500" decel="100000" fill="hold"/>
                                        <p:tgtEl>
                                          <p:spTgt spid="126"/>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27"/>
                                        </p:tgtEl>
                                        <p:attrNameLst>
                                          <p:attrName>style.visibility</p:attrName>
                                        </p:attrNameLst>
                                      </p:cBhvr>
                                      <p:to>
                                        <p:strVal val="visible"/>
                                      </p:to>
                                    </p:set>
                                    <p:animEffect transition="in" filter="fade">
                                      <p:cBhvr>
                                        <p:cTn id="55" dur="500"/>
                                        <p:tgtEl>
                                          <p:spTgt spid="127"/>
                                        </p:tgtEl>
                                      </p:cBhvr>
                                    </p:animEffect>
                                    <p:anim calcmode="lin" valueType="num">
                                      <p:cBhvr additive="base">
                                        <p:cTn id="56" dur="500" decel="100000" fill="hold"/>
                                        <p:tgtEl>
                                          <p:spTgt spid="127"/>
                                        </p:tgtEl>
                                        <p:attrNameLst>
                                          <p:attrName>ppt_x</p:attrName>
                                        </p:attrNameLst>
                                      </p:cBhvr>
                                      <p:tavLst>
                                        <p:tav tm="0">
                                          <p:val>
                                            <p:strVal val="#ppt_x+0.05"/>
                                          </p:val>
                                        </p:tav>
                                        <p:tav tm="100000">
                                          <p:val>
                                            <p:strVal val="#ppt_x"/>
                                          </p:val>
                                        </p:tav>
                                      </p:tavLst>
                                    </p:anim>
                                  </p:childTnLst>
                                </p:cTn>
                              </p:par>
                              <p:par>
                                <p:cTn id="57" presetID="42" presetClass="entr" presetSubtype="0" fill="hold" nodeType="withEffect">
                                  <p:stCondLst>
                                    <p:cond delay="0"/>
                                  </p:stCondLst>
                                  <p:childTnLst>
                                    <p:set>
                                      <p:cBhvr>
                                        <p:cTn id="58" dur="1" fill="hold">
                                          <p:stCondLst>
                                            <p:cond delay="0"/>
                                          </p:stCondLst>
                                        </p:cTn>
                                        <p:tgtEl>
                                          <p:spTgt spid="128"/>
                                        </p:tgtEl>
                                        <p:attrNameLst>
                                          <p:attrName>style.visibility</p:attrName>
                                        </p:attrNameLst>
                                      </p:cBhvr>
                                      <p:to>
                                        <p:strVal val="visible"/>
                                      </p:to>
                                    </p:set>
                                    <p:animEffect transition="in" filter="fade">
                                      <p:cBhvr>
                                        <p:cTn id="59" dur="500"/>
                                        <p:tgtEl>
                                          <p:spTgt spid="128"/>
                                        </p:tgtEl>
                                      </p:cBhvr>
                                    </p:animEffect>
                                    <p:anim calcmode="lin" valueType="num">
                                      <p:cBhvr additive="base">
                                        <p:cTn id="60" dur="500" decel="100000" fill="hold"/>
                                        <p:tgtEl>
                                          <p:spTgt spid="128"/>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29"/>
                                        </p:tgtEl>
                                        <p:attrNameLst>
                                          <p:attrName>style.visibility</p:attrName>
                                        </p:attrNameLst>
                                      </p:cBhvr>
                                      <p:to>
                                        <p:strVal val="visible"/>
                                      </p:to>
                                    </p:set>
                                    <p:animEffect transition="in" filter="fade">
                                      <p:cBhvr>
                                        <p:cTn id="63" dur="500"/>
                                        <p:tgtEl>
                                          <p:spTgt spid="129"/>
                                        </p:tgtEl>
                                      </p:cBhvr>
                                    </p:animEffect>
                                    <p:anim calcmode="lin" valueType="num">
                                      <p:cBhvr additive="base">
                                        <p:cTn id="64" dur="500" decel="100000" fill="hold"/>
                                        <p:tgtEl>
                                          <p:spTgt spid="129"/>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500"/>
                                        <p:tgtEl>
                                          <p:spTgt spid="130"/>
                                        </p:tgtEl>
                                      </p:cBhvr>
                                    </p:animEffect>
                                    <p:anim calcmode="lin" valueType="num">
                                      <p:cBhvr additive="base">
                                        <p:cTn id="68" dur="500" decel="100000" fill="hold"/>
                                        <p:tgtEl>
                                          <p:spTgt spid="13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20" grpId="0" animBg="1"/>
      <p:bldP spid="121" grpId="0" animBg="1"/>
      <p:bldP spid="122" grpId="0" animBg="1"/>
      <p:bldP spid="124" grpId="0" animBg="1"/>
      <p:bldP spid="125" grpId="0" animBg="1"/>
      <p:bldP spid="126" grpId="0" animBg="1"/>
      <p:bldP spid="127" grpId="0" animBg="1"/>
      <p:bldP spid="129" grpId="0" animBg="1"/>
      <p:bldP spid="130"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CHALLENGES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Where Agile Gets Hard in Real Companies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Agile is not free. Name the failure modes so you recognize them on day one.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 REFLECT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225</a:t>
            </a:r>
            <a:endParaRPr lang="en-US" sz="850" dirty="0"/>
          </a:p>
        </p:txBody>
      </p:sp>
      <p:sp>
        <p:nvSpPr>
          <p:cNvPr id="101" name="s101"/>
          <p:cNvSpPr/>
          <p:nvPr/>
        </p:nvSpPr>
        <p:spPr>
          <a:xfrm>
            <a:off x="543154" y="1965960"/>
            <a:ext cx="5406847" cy="1783080"/>
          </a:xfrm>
          <a:prstGeom prst="roundRect">
            <a:avLst>
              <a:gd name="adj" fmla="val 9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02" name="s102"/>
          <p:cNvSpPr/>
          <p:nvPr/>
        </p:nvSpPr>
        <p:spPr>
          <a:xfrm>
            <a:off x="771754" y="2194560"/>
            <a:ext cx="548640" cy="54864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903427" y="2326234"/>
            <a:ext cx="285293" cy="285293"/>
          </a:xfrm>
          <a:prstGeom prst="rect">
            <a:avLst/>
          </a:prstGeom>
        </p:spPr>
      </p:pic>
      <p:sp>
        <p:nvSpPr>
          <p:cNvPr id="104" name="s104"/>
          <p:cNvSpPr txBox="1"/>
          <p:nvPr/>
        </p:nvSpPr>
        <p:spPr>
          <a:xfrm>
            <a:off x="1503274" y="2194560"/>
            <a:ext cx="426384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F87171"/>
                </a:solidFill>
                <a:latin typeface="Segoe UI"/>
                <a:ea typeface="Segoe UI"/>
                <a:cs typeface="Segoe UI"/>
              </a:rPr>
              <a:t>Fake Agile</a:t>
            </a:r>
            <a:endParaRPr lang="en-US" sz="1600" dirty="0"/>
          </a:p>
        </p:txBody>
      </p:sp>
      <p:sp>
        <p:nvSpPr>
          <p:cNvPr id="105" name="s105"/>
          <p:cNvSpPr txBox="1"/>
          <p:nvPr/>
        </p:nvSpPr>
        <p:spPr>
          <a:xfrm>
            <a:off x="817474" y="2862072"/>
            <a:ext cx="4903927"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0" dirty="0">
                <a:solidFill>
                  <a:srgbClr val="E2E8F0"/>
                </a:solidFill>
                <a:latin typeface="Segoe UI"/>
                <a:ea typeface="Segoe UI"/>
                <a:cs typeface="Segoe UI"/>
              </a:rPr>
              <a:t>Stand-ups and Jira without the values. Ceremonies, no decisions.</a:t>
            </a:r>
            <a:endParaRPr lang="en-US" sz="1300" dirty="0"/>
          </a:p>
        </p:txBody>
      </p:sp>
      <p:sp>
        <p:nvSpPr>
          <p:cNvPr id="106" name="s106"/>
          <p:cNvSpPr txBox="1"/>
          <p:nvPr/>
        </p:nvSpPr>
        <p:spPr>
          <a:xfrm>
            <a:off x="817474" y="3291840"/>
            <a:ext cx="4903927"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FBBF24"/>
                </a:solidFill>
                <a:latin typeface="Segoe UI"/>
                <a:ea typeface="Segoe UI"/>
                <a:cs typeface="Segoe UI"/>
              </a:rPr>
              <a:t>Ask: </a:t>
            </a:r>
            <a:r>
              <a:rPr lang="en-US" sz="1200" b="0" dirty="0">
                <a:solidFill>
                  <a:srgbClr val="FBBF24"/>
                </a:solidFill>
                <a:latin typeface="Segoe UI"/>
                <a:ea typeface="Segoe UI"/>
                <a:cs typeface="Segoe UI"/>
              </a:rPr>
              <a:t>Does your Daily ever change the plan?</a:t>
            </a:r>
            <a:endParaRPr lang="en-US" sz="1200" dirty="0"/>
          </a:p>
        </p:txBody>
      </p:sp>
      <p:sp>
        <p:nvSpPr>
          <p:cNvPr id="107" name="s107"/>
          <p:cNvSpPr/>
          <p:nvPr/>
        </p:nvSpPr>
        <p:spPr>
          <a:xfrm>
            <a:off x="6224321" y="1965960"/>
            <a:ext cx="5406847" cy="1783080"/>
          </a:xfrm>
          <a:prstGeom prst="roundRect">
            <a:avLst>
              <a:gd name="adj" fmla="val 9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08" name="s108"/>
          <p:cNvSpPr/>
          <p:nvPr/>
        </p:nvSpPr>
        <p:spPr>
          <a:xfrm>
            <a:off x="6452921" y="2194560"/>
            <a:ext cx="548640" cy="5486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09" name="img109"/>
          <p:cNvPicPr>
            <a:picLocks noChangeAspect="1"/>
          </p:cNvPicPr>
          <p:nvPr/>
        </p:nvPicPr>
        <p:blipFill>
          <a:blip r:embed="rId5"/>
          <a:stretch>
            <a:fillRect/>
          </a:stretch>
        </p:blipFill>
        <p:spPr>
          <a:xfrm>
            <a:off x="6584594" y="2326234"/>
            <a:ext cx="285293" cy="285293"/>
          </a:xfrm>
          <a:prstGeom prst="rect">
            <a:avLst/>
          </a:prstGeom>
        </p:spPr>
      </p:pic>
      <p:sp>
        <p:nvSpPr>
          <p:cNvPr id="110" name="s110"/>
          <p:cNvSpPr txBox="1"/>
          <p:nvPr/>
        </p:nvSpPr>
        <p:spPr>
          <a:xfrm>
            <a:off x="7184441" y="2194560"/>
            <a:ext cx="426384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FBBF24"/>
                </a:solidFill>
                <a:latin typeface="Segoe UI"/>
                <a:ea typeface="Segoe UI"/>
                <a:cs typeface="Segoe UI"/>
              </a:rPr>
              <a:t>Unclear ownership</a:t>
            </a:r>
            <a:endParaRPr lang="en-US" sz="1600" dirty="0"/>
          </a:p>
        </p:txBody>
      </p:sp>
      <p:sp>
        <p:nvSpPr>
          <p:cNvPr id="111" name="s111"/>
          <p:cNvSpPr txBox="1"/>
          <p:nvPr/>
        </p:nvSpPr>
        <p:spPr>
          <a:xfrm>
            <a:off x="6498641" y="2862072"/>
            <a:ext cx="4903927"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0" dirty="0">
                <a:solidFill>
                  <a:srgbClr val="E2E8F0"/>
                </a:solidFill>
                <a:latin typeface="Segoe UI"/>
                <a:ea typeface="Segoe UI"/>
                <a:cs typeface="Segoe UI"/>
              </a:rPr>
              <a:t>Everyone 'collaborates'; nobody decides priorities.</a:t>
            </a:r>
            <a:endParaRPr lang="en-US" sz="1300" dirty="0"/>
          </a:p>
        </p:txBody>
      </p:sp>
      <p:sp>
        <p:nvSpPr>
          <p:cNvPr id="112" name="s112"/>
          <p:cNvSpPr txBox="1"/>
          <p:nvPr/>
        </p:nvSpPr>
        <p:spPr>
          <a:xfrm>
            <a:off x="6498641" y="3291840"/>
            <a:ext cx="4903927"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FBBF24"/>
                </a:solidFill>
                <a:latin typeface="Segoe UI"/>
                <a:ea typeface="Segoe UI"/>
                <a:cs typeface="Segoe UI"/>
              </a:rPr>
              <a:t>Ask: </a:t>
            </a:r>
            <a:r>
              <a:rPr lang="en-US" sz="1200" b="0" dirty="0">
                <a:solidFill>
                  <a:srgbClr val="FBBF24"/>
                </a:solidFill>
                <a:latin typeface="Segoe UI"/>
                <a:ea typeface="Segoe UI"/>
                <a:cs typeface="Segoe UI"/>
              </a:rPr>
              <a:t>Who can say NO to a new request?</a:t>
            </a:r>
            <a:endParaRPr lang="en-US" sz="1200" dirty="0"/>
          </a:p>
        </p:txBody>
      </p:sp>
      <p:sp>
        <p:nvSpPr>
          <p:cNvPr id="113" name="s113"/>
          <p:cNvSpPr/>
          <p:nvPr/>
        </p:nvSpPr>
        <p:spPr>
          <a:xfrm>
            <a:off x="543154" y="3931920"/>
            <a:ext cx="5406847" cy="1783080"/>
          </a:xfrm>
          <a:prstGeom prst="roundRect">
            <a:avLst>
              <a:gd name="adj" fmla="val 9000"/>
            </a:avLst>
          </a:prstGeom>
          <a:solidFill>
            <a:srgbClr val="111B2E"/>
          </a:solidFill>
          <a:ln w="12700">
            <a:solidFill>
              <a:srgbClr val="F0A98B"/>
            </a:solidFill>
            <a:prstDash val="solid"/>
          </a:ln>
        </p:spPr>
        <p:txBody>
          <a:bodyPr wrap="square" lIns="164592" tIns="109728" rIns="137160" bIns="91440" rtlCol="0" anchor="t">
            <a:noAutofit/>
          </a:bodyPr>
          <a:lstStyle/>
          <a:p>
            <a:endParaRPr lang="en-US"/>
          </a:p>
        </p:txBody>
      </p:sp>
      <p:sp>
        <p:nvSpPr>
          <p:cNvPr id="114" name="s114"/>
          <p:cNvSpPr/>
          <p:nvPr/>
        </p:nvSpPr>
        <p:spPr>
          <a:xfrm>
            <a:off x="771754" y="4160520"/>
            <a:ext cx="548640" cy="548640"/>
          </a:xfrm>
          <a:prstGeom prst="ellipse">
            <a:avLst/>
          </a:prstGeom>
          <a:solidFill>
            <a:srgbClr val="F0A98B">
              <a:alpha val="16000"/>
            </a:srgbClr>
          </a:solidFill>
          <a:ln w="12700">
            <a:solidFill>
              <a:srgbClr val="F0A98B">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6"/>
          <a:stretch>
            <a:fillRect/>
          </a:stretch>
        </p:blipFill>
        <p:spPr>
          <a:xfrm>
            <a:off x="903427" y="4292194"/>
            <a:ext cx="285293" cy="285293"/>
          </a:xfrm>
          <a:prstGeom prst="rect">
            <a:avLst/>
          </a:prstGeom>
        </p:spPr>
      </p:pic>
      <p:sp>
        <p:nvSpPr>
          <p:cNvPr id="116" name="s116"/>
          <p:cNvSpPr txBox="1"/>
          <p:nvPr/>
        </p:nvSpPr>
        <p:spPr>
          <a:xfrm>
            <a:off x="1503274" y="4160520"/>
            <a:ext cx="426384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F0A98B"/>
                </a:solidFill>
                <a:latin typeface="Segoe UI"/>
                <a:ea typeface="Segoe UI"/>
                <a:cs typeface="Segoe UI"/>
              </a:rPr>
              <a:t>Stakeholder impatience</a:t>
            </a:r>
            <a:endParaRPr lang="en-US" sz="1600" dirty="0"/>
          </a:p>
        </p:txBody>
      </p:sp>
      <p:sp>
        <p:nvSpPr>
          <p:cNvPr id="117" name="s117"/>
          <p:cNvSpPr txBox="1"/>
          <p:nvPr/>
        </p:nvSpPr>
        <p:spPr>
          <a:xfrm>
            <a:off x="817474" y="4828032"/>
            <a:ext cx="4903927"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0" dirty="0">
                <a:solidFill>
                  <a:srgbClr val="E2E8F0"/>
                </a:solidFill>
                <a:latin typeface="Segoe UI"/>
                <a:ea typeface="Segoe UI"/>
                <a:cs typeface="Segoe UI"/>
              </a:rPr>
              <a:t>Leaders still want a fixed date for every feature.</a:t>
            </a:r>
            <a:endParaRPr lang="en-US" sz="1300" dirty="0"/>
          </a:p>
        </p:txBody>
      </p:sp>
      <p:sp>
        <p:nvSpPr>
          <p:cNvPr id="118" name="s118"/>
          <p:cNvSpPr txBox="1"/>
          <p:nvPr/>
        </p:nvSpPr>
        <p:spPr>
          <a:xfrm>
            <a:off x="817474" y="5257800"/>
            <a:ext cx="4903927"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FBBF24"/>
                </a:solidFill>
                <a:latin typeface="Segoe UI"/>
                <a:ea typeface="Segoe UI"/>
                <a:cs typeface="Segoe UI"/>
              </a:rPr>
              <a:t>Ask: </a:t>
            </a:r>
            <a:r>
              <a:rPr lang="en-US" sz="1200" b="0" dirty="0">
                <a:solidFill>
                  <a:srgbClr val="FBBF24"/>
                </a:solidFill>
                <a:latin typeface="Segoe UI"/>
                <a:ea typeface="Segoe UI"/>
                <a:cs typeface="Segoe UI"/>
              </a:rPr>
              <a:t>What do you do when the CEO asks for a 1-year Gantt?</a:t>
            </a:r>
            <a:endParaRPr lang="en-US" sz="1200" dirty="0"/>
          </a:p>
        </p:txBody>
      </p:sp>
      <p:sp>
        <p:nvSpPr>
          <p:cNvPr id="119" name="s119"/>
          <p:cNvSpPr/>
          <p:nvPr/>
        </p:nvSpPr>
        <p:spPr>
          <a:xfrm>
            <a:off x="6224321" y="3931920"/>
            <a:ext cx="5406847" cy="1783080"/>
          </a:xfrm>
          <a:prstGeom prst="roundRect">
            <a:avLst>
              <a:gd name="adj" fmla="val 9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20" name="s120"/>
          <p:cNvSpPr/>
          <p:nvPr/>
        </p:nvSpPr>
        <p:spPr>
          <a:xfrm>
            <a:off x="6452921" y="4160520"/>
            <a:ext cx="548640" cy="54864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21" name="img121"/>
          <p:cNvPicPr>
            <a:picLocks noChangeAspect="1"/>
          </p:cNvPicPr>
          <p:nvPr/>
        </p:nvPicPr>
        <p:blipFill>
          <a:blip r:embed="rId7"/>
          <a:stretch>
            <a:fillRect/>
          </a:stretch>
        </p:blipFill>
        <p:spPr>
          <a:xfrm>
            <a:off x="6584594" y="4292194"/>
            <a:ext cx="285293" cy="285293"/>
          </a:xfrm>
          <a:prstGeom prst="rect">
            <a:avLst/>
          </a:prstGeom>
        </p:spPr>
      </p:pic>
      <p:sp>
        <p:nvSpPr>
          <p:cNvPr id="122" name="s122"/>
          <p:cNvSpPr txBox="1"/>
          <p:nvPr/>
        </p:nvSpPr>
        <p:spPr>
          <a:xfrm>
            <a:off x="7184441" y="4160520"/>
            <a:ext cx="426384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A78BFA"/>
                </a:solidFill>
                <a:latin typeface="Segoe UI"/>
                <a:ea typeface="Segoe UI"/>
                <a:cs typeface="Segoe UI"/>
              </a:rPr>
              <a:t>Wrong context</a:t>
            </a:r>
            <a:endParaRPr lang="en-US" sz="1600" dirty="0"/>
          </a:p>
        </p:txBody>
      </p:sp>
      <p:sp>
        <p:nvSpPr>
          <p:cNvPr id="123" name="s123"/>
          <p:cNvSpPr txBox="1"/>
          <p:nvPr/>
        </p:nvSpPr>
        <p:spPr>
          <a:xfrm>
            <a:off x="6498641" y="4828032"/>
            <a:ext cx="4903927"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0" dirty="0">
                <a:solidFill>
                  <a:srgbClr val="E2E8F0"/>
                </a:solidFill>
                <a:latin typeface="Segoe UI"/>
                <a:ea typeface="Segoe UI"/>
                <a:cs typeface="Segoe UI"/>
              </a:rPr>
              <a:t>Safety-critical or regulated work may need heavier gates.</a:t>
            </a:r>
            <a:endParaRPr lang="en-US" sz="1300" dirty="0"/>
          </a:p>
        </p:txBody>
      </p:sp>
      <p:sp>
        <p:nvSpPr>
          <p:cNvPr id="124" name="s124"/>
          <p:cNvSpPr txBox="1"/>
          <p:nvPr/>
        </p:nvSpPr>
        <p:spPr>
          <a:xfrm>
            <a:off x="6498641" y="5257800"/>
            <a:ext cx="4903927"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FBBF24"/>
                </a:solidFill>
                <a:latin typeface="Segoe UI"/>
                <a:ea typeface="Segoe UI"/>
                <a:cs typeface="Segoe UI"/>
              </a:rPr>
              <a:t>Ask: </a:t>
            </a:r>
            <a:r>
              <a:rPr lang="en-US" sz="1200" b="0" dirty="0">
                <a:solidFill>
                  <a:srgbClr val="FBBF24"/>
                </a:solidFill>
                <a:latin typeface="Segoe UI"/>
                <a:ea typeface="Segoe UI"/>
                <a:cs typeface="Segoe UI"/>
              </a:rPr>
              <a:t>Medical device firmware: pure Agile, or a hybrid?</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3" dur="500" decel="100000" fill="hold"/>
                                        <p:tgtEl>
                                          <p:spTgt spid="102"/>
                                        </p:tgtEl>
                                        <p:attrNameLst>
                                          <p:attrName>ppt_h</p:attrName>
                                        </p:attrNameLst>
                                      </p:cBhvr>
                                      <p:tavLst>
                                        <p:tav tm="0">
                                          <p:val>
                                            <p:strVal val="#ppt_h*0.55"/>
                                          </p:val>
                                        </p:tav>
                                        <p:tav tm="100000">
                                          <p:val>
                                            <p:strVal val="#ppt_h"/>
                                          </p:val>
                                        </p:tav>
                                      </p:tavLst>
                                    </p:anim>
                                    <p:animEffect transition="in" filter="fade">
                                      <p:cBhvr>
                                        <p:cTn id="14" dur="500"/>
                                        <p:tgtEl>
                                          <p:spTgt spid="102"/>
                                        </p:tgtEl>
                                      </p:cBhvr>
                                    </p:animEffect>
                                  </p:childTnLst>
                                </p:cTn>
                              </p:par>
                              <p:par>
                                <p:cTn id="15" presetID="53" presetClass="entr" presetSubtype="16" fill="hold" nodeType="withEffect">
                                  <p:stCondLst>
                                    <p:cond delay="0"/>
                                  </p:stCondLst>
                                  <p:childTnLst>
                                    <p:set>
                                      <p:cBhvr>
                                        <p:cTn id="16" dur="1" fill="hold">
                                          <p:stCondLst>
                                            <p:cond delay="0"/>
                                          </p:stCondLst>
                                        </p:cTn>
                                        <p:tgtEl>
                                          <p:spTgt spid="103"/>
                                        </p:tgtEl>
                                        <p:attrNameLst>
                                          <p:attrName>style.visibility</p:attrName>
                                        </p:attrNameLst>
                                      </p:cBhvr>
                                      <p:to>
                                        <p:strVal val="visible"/>
                                      </p:to>
                                    </p:set>
                                    <p:anim calcmode="lin" valueType="num">
                                      <p:cBhvr additive="base">
                                        <p:cTn id="17"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8" dur="500" decel="100000" fill="hold"/>
                                        <p:tgtEl>
                                          <p:spTgt spid="103"/>
                                        </p:tgtEl>
                                        <p:attrNameLst>
                                          <p:attrName>ppt_h</p:attrName>
                                        </p:attrNameLst>
                                      </p:cBhvr>
                                      <p:tavLst>
                                        <p:tav tm="0">
                                          <p:val>
                                            <p:strVal val="#ppt_h*0.55"/>
                                          </p:val>
                                        </p:tav>
                                        <p:tav tm="100000">
                                          <p:val>
                                            <p:strVal val="#ppt_h"/>
                                          </p:val>
                                        </p:tav>
                                      </p:tavLst>
                                    </p:anim>
                                    <p:animEffect transition="in" filter="fade">
                                      <p:cBhvr>
                                        <p:cTn id="19" dur="500"/>
                                        <p:tgtEl>
                                          <p:spTgt spid="10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04"/>
                                        </p:tgtEl>
                                        <p:attrNameLst>
                                          <p:attrName>style.visibility</p:attrName>
                                        </p:attrNameLst>
                                      </p:cBhvr>
                                      <p:to>
                                        <p:strVal val="visible"/>
                                      </p:to>
                                    </p:set>
                                    <p:anim calcmode="lin" valueType="num">
                                      <p:cBhvr additive="base">
                                        <p:cTn id="22" dur="500" decel="100000" fill="hold"/>
                                        <p:tgtEl>
                                          <p:spTgt spid="104"/>
                                        </p:tgtEl>
                                        <p:attrNameLst>
                                          <p:attrName>ppt_w</p:attrName>
                                        </p:attrNameLst>
                                      </p:cBhvr>
                                      <p:tavLst>
                                        <p:tav tm="0">
                                          <p:val>
                                            <p:strVal val="#ppt_w*0.55"/>
                                          </p:val>
                                        </p:tav>
                                        <p:tav tm="100000">
                                          <p:val>
                                            <p:strVal val="#ppt_w"/>
                                          </p:val>
                                        </p:tav>
                                      </p:tavLst>
                                    </p:anim>
                                    <p:anim calcmode="lin" valueType="num">
                                      <p:cBhvr additive="base">
                                        <p:cTn id="23" dur="500" decel="100000" fill="hold"/>
                                        <p:tgtEl>
                                          <p:spTgt spid="104"/>
                                        </p:tgtEl>
                                        <p:attrNameLst>
                                          <p:attrName>ppt_h</p:attrName>
                                        </p:attrNameLst>
                                      </p:cBhvr>
                                      <p:tavLst>
                                        <p:tav tm="0">
                                          <p:val>
                                            <p:strVal val="#ppt_h*0.55"/>
                                          </p:val>
                                        </p:tav>
                                        <p:tav tm="100000">
                                          <p:val>
                                            <p:strVal val="#ppt_h"/>
                                          </p:val>
                                        </p:tav>
                                      </p:tavLst>
                                    </p:anim>
                                    <p:animEffect transition="in" filter="fade">
                                      <p:cBhvr>
                                        <p:cTn id="24" dur="500"/>
                                        <p:tgtEl>
                                          <p:spTgt spid="104"/>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05"/>
                                        </p:tgtEl>
                                        <p:attrNameLst>
                                          <p:attrName>style.visibility</p:attrName>
                                        </p:attrNameLst>
                                      </p:cBhvr>
                                      <p:to>
                                        <p:strVal val="visible"/>
                                      </p:to>
                                    </p:set>
                                    <p:anim calcmode="lin" valueType="num">
                                      <p:cBhvr additive="base">
                                        <p:cTn id="27" dur="5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28" dur="500" decel="100000" fill="hold"/>
                                        <p:tgtEl>
                                          <p:spTgt spid="105"/>
                                        </p:tgtEl>
                                        <p:attrNameLst>
                                          <p:attrName>ppt_h</p:attrName>
                                        </p:attrNameLst>
                                      </p:cBhvr>
                                      <p:tavLst>
                                        <p:tav tm="0">
                                          <p:val>
                                            <p:strVal val="#ppt_h*0.55"/>
                                          </p:val>
                                        </p:tav>
                                        <p:tav tm="100000">
                                          <p:val>
                                            <p:strVal val="#ppt_h"/>
                                          </p:val>
                                        </p:tav>
                                      </p:tavLst>
                                    </p:anim>
                                    <p:animEffect transition="in" filter="fade">
                                      <p:cBhvr>
                                        <p:cTn id="29" dur="500"/>
                                        <p:tgtEl>
                                          <p:spTgt spid="105"/>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106"/>
                                        </p:tgtEl>
                                        <p:attrNameLst>
                                          <p:attrName>style.visibility</p:attrName>
                                        </p:attrNameLst>
                                      </p:cBhvr>
                                      <p:to>
                                        <p:strVal val="visible"/>
                                      </p:to>
                                    </p:set>
                                    <p:anim calcmode="lin" valueType="num">
                                      <p:cBhvr additive="base">
                                        <p:cTn id="32"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33" dur="500" decel="100000" fill="hold"/>
                                        <p:tgtEl>
                                          <p:spTgt spid="106"/>
                                        </p:tgtEl>
                                        <p:attrNameLst>
                                          <p:attrName>ppt_h</p:attrName>
                                        </p:attrNameLst>
                                      </p:cBhvr>
                                      <p:tavLst>
                                        <p:tav tm="0">
                                          <p:val>
                                            <p:strVal val="#ppt_h*0.55"/>
                                          </p:val>
                                        </p:tav>
                                        <p:tav tm="100000">
                                          <p:val>
                                            <p:strVal val="#ppt_h"/>
                                          </p:val>
                                        </p:tav>
                                      </p:tavLst>
                                    </p:anim>
                                    <p:animEffect transition="in" filter="fade">
                                      <p:cBhvr>
                                        <p:cTn id="34" dur="500"/>
                                        <p:tgtEl>
                                          <p:spTgt spid="106"/>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107"/>
                                        </p:tgtEl>
                                        <p:attrNameLst>
                                          <p:attrName>style.visibility</p:attrName>
                                        </p:attrNameLst>
                                      </p:cBhvr>
                                      <p:to>
                                        <p:strVal val="visible"/>
                                      </p:to>
                                    </p:set>
                                    <p:anim calcmode="lin" valueType="num">
                                      <p:cBhvr additive="base">
                                        <p:cTn id="39"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40" dur="500" decel="100000" fill="hold"/>
                                        <p:tgtEl>
                                          <p:spTgt spid="107"/>
                                        </p:tgtEl>
                                        <p:attrNameLst>
                                          <p:attrName>ppt_h</p:attrName>
                                        </p:attrNameLst>
                                      </p:cBhvr>
                                      <p:tavLst>
                                        <p:tav tm="0">
                                          <p:val>
                                            <p:strVal val="#ppt_h*0.55"/>
                                          </p:val>
                                        </p:tav>
                                        <p:tav tm="100000">
                                          <p:val>
                                            <p:strVal val="#ppt_h"/>
                                          </p:val>
                                        </p:tav>
                                      </p:tavLst>
                                    </p:anim>
                                    <p:animEffect transition="in" filter="fade">
                                      <p:cBhvr>
                                        <p:cTn id="41" dur="500"/>
                                        <p:tgtEl>
                                          <p:spTgt spid="107"/>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08"/>
                                        </p:tgtEl>
                                        <p:attrNameLst>
                                          <p:attrName>style.visibility</p:attrName>
                                        </p:attrNameLst>
                                      </p:cBhvr>
                                      <p:to>
                                        <p:strVal val="visible"/>
                                      </p:to>
                                    </p:set>
                                    <p:anim calcmode="lin" valueType="num">
                                      <p:cBhvr additive="base">
                                        <p:cTn id="44"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5" dur="500" decel="100000" fill="hold"/>
                                        <p:tgtEl>
                                          <p:spTgt spid="108"/>
                                        </p:tgtEl>
                                        <p:attrNameLst>
                                          <p:attrName>ppt_h</p:attrName>
                                        </p:attrNameLst>
                                      </p:cBhvr>
                                      <p:tavLst>
                                        <p:tav tm="0">
                                          <p:val>
                                            <p:strVal val="#ppt_h*0.55"/>
                                          </p:val>
                                        </p:tav>
                                        <p:tav tm="100000">
                                          <p:val>
                                            <p:strVal val="#ppt_h"/>
                                          </p:val>
                                        </p:tav>
                                      </p:tavLst>
                                    </p:anim>
                                    <p:animEffect transition="in" filter="fade">
                                      <p:cBhvr>
                                        <p:cTn id="46" dur="500"/>
                                        <p:tgtEl>
                                          <p:spTgt spid="108"/>
                                        </p:tgtEl>
                                      </p:cBhvr>
                                    </p:animEffect>
                                  </p:childTnLst>
                                </p:cTn>
                              </p:par>
                              <p:par>
                                <p:cTn id="47" presetID="53" presetClass="entr" presetSubtype="16" fill="hold" nodeType="withEffect">
                                  <p:stCondLst>
                                    <p:cond delay="0"/>
                                  </p:stCondLst>
                                  <p:childTnLst>
                                    <p:set>
                                      <p:cBhvr>
                                        <p:cTn id="48" dur="1" fill="hold">
                                          <p:stCondLst>
                                            <p:cond delay="0"/>
                                          </p:stCondLst>
                                        </p:cTn>
                                        <p:tgtEl>
                                          <p:spTgt spid="109"/>
                                        </p:tgtEl>
                                        <p:attrNameLst>
                                          <p:attrName>style.visibility</p:attrName>
                                        </p:attrNameLst>
                                      </p:cBhvr>
                                      <p:to>
                                        <p:strVal val="visible"/>
                                      </p:to>
                                    </p:set>
                                    <p:anim calcmode="lin" valueType="num">
                                      <p:cBhvr additive="base">
                                        <p:cTn id="49"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50" dur="500" decel="100000" fill="hold"/>
                                        <p:tgtEl>
                                          <p:spTgt spid="109"/>
                                        </p:tgtEl>
                                        <p:attrNameLst>
                                          <p:attrName>ppt_h</p:attrName>
                                        </p:attrNameLst>
                                      </p:cBhvr>
                                      <p:tavLst>
                                        <p:tav tm="0">
                                          <p:val>
                                            <p:strVal val="#ppt_h*0.55"/>
                                          </p:val>
                                        </p:tav>
                                        <p:tav tm="100000">
                                          <p:val>
                                            <p:strVal val="#ppt_h"/>
                                          </p:val>
                                        </p:tav>
                                      </p:tavLst>
                                    </p:anim>
                                    <p:animEffect transition="in" filter="fade">
                                      <p:cBhvr>
                                        <p:cTn id="51" dur="500"/>
                                        <p:tgtEl>
                                          <p:spTgt spid="109"/>
                                        </p:tgtEl>
                                      </p:cBhvr>
                                    </p:animEffect>
                                  </p:childTnLst>
                                </p:cTn>
                              </p:par>
                              <p:par>
                                <p:cTn id="52" presetID="53" presetClass="entr" presetSubtype="16" fill="hold" grpId="0" nodeType="withEffect">
                                  <p:stCondLst>
                                    <p:cond delay="0"/>
                                  </p:stCondLst>
                                  <p:childTnLst>
                                    <p:set>
                                      <p:cBhvr>
                                        <p:cTn id="53" dur="1" fill="hold">
                                          <p:stCondLst>
                                            <p:cond delay="0"/>
                                          </p:stCondLst>
                                        </p:cTn>
                                        <p:tgtEl>
                                          <p:spTgt spid="110"/>
                                        </p:tgtEl>
                                        <p:attrNameLst>
                                          <p:attrName>style.visibility</p:attrName>
                                        </p:attrNameLst>
                                      </p:cBhvr>
                                      <p:to>
                                        <p:strVal val="visible"/>
                                      </p:to>
                                    </p:set>
                                    <p:anim calcmode="lin" valueType="num">
                                      <p:cBhvr additive="base">
                                        <p:cTn id="54" dur="500" decel="100000" fill="hold"/>
                                        <p:tgtEl>
                                          <p:spTgt spid="110"/>
                                        </p:tgtEl>
                                        <p:attrNameLst>
                                          <p:attrName>ppt_w</p:attrName>
                                        </p:attrNameLst>
                                      </p:cBhvr>
                                      <p:tavLst>
                                        <p:tav tm="0">
                                          <p:val>
                                            <p:strVal val="#ppt_w*0.55"/>
                                          </p:val>
                                        </p:tav>
                                        <p:tav tm="100000">
                                          <p:val>
                                            <p:strVal val="#ppt_w"/>
                                          </p:val>
                                        </p:tav>
                                      </p:tavLst>
                                    </p:anim>
                                    <p:anim calcmode="lin" valueType="num">
                                      <p:cBhvr additive="base">
                                        <p:cTn id="55" dur="500" decel="100000" fill="hold"/>
                                        <p:tgtEl>
                                          <p:spTgt spid="110"/>
                                        </p:tgtEl>
                                        <p:attrNameLst>
                                          <p:attrName>ppt_h</p:attrName>
                                        </p:attrNameLst>
                                      </p:cBhvr>
                                      <p:tavLst>
                                        <p:tav tm="0">
                                          <p:val>
                                            <p:strVal val="#ppt_h*0.55"/>
                                          </p:val>
                                        </p:tav>
                                        <p:tav tm="100000">
                                          <p:val>
                                            <p:strVal val="#ppt_h"/>
                                          </p:val>
                                        </p:tav>
                                      </p:tavLst>
                                    </p:anim>
                                    <p:animEffect transition="in" filter="fade">
                                      <p:cBhvr>
                                        <p:cTn id="56" dur="500"/>
                                        <p:tgtEl>
                                          <p:spTgt spid="110"/>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111"/>
                                        </p:tgtEl>
                                        <p:attrNameLst>
                                          <p:attrName>style.visibility</p:attrName>
                                        </p:attrNameLst>
                                      </p:cBhvr>
                                      <p:to>
                                        <p:strVal val="visible"/>
                                      </p:to>
                                    </p:set>
                                    <p:anim calcmode="lin" valueType="num">
                                      <p:cBhvr additive="base">
                                        <p:cTn id="59" dur="500" decel="100000" fill="hold"/>
                                        <p:tgtEl>
                                          <p:spTgt spid="111"/>
                                        </p:tgtEl>
                                        <p:attrNameLst>
                                          <p:attrName>ppt_w</p:attrName>
                                        </p:attrNameLst>
                                      </p:cBhvr>
                                      <p:tavLst>
                                        <p:tav tm="0">
                                          <p:val>
                                            <p:strVal val="#ppt_w*0.55"/>
                                          </p:val>
                                        </p:tav>
                                        <p:tav tm="100000">
                                          <p:val>
                                            <p:strVal val="#ppt_w"/>
                                          </p:val>
                                        </p:tav>
                                      </p:tavLst>
                                    </p:anim>
                                    <p:anim calcmode="lin" valueType="num">
                                      <p:cBhvr additive="base">
                                        <p:cTn id="60" dur="500" decel="100000" fill="hold"/>
                                        <p:tgtEl>
                                          <p:spTgt spid="111"/>
                                        </p:tgtEl>
                                        <p:attrNameLst>
                                          <p:attrName>ppt_h</p:attrName>
                                        </p:attrNameLst>
                                      </p:cBhvr>
                                      <p:tavLst>
                                        <p:tav tm="0">
                                          <p:val>
                                            <p:strVal val="#ppt_h*0.55"/>
                                          </p:val>
                                        </p:tav>
                                        <p:tav tm="100000">
                                          <p:val>
                                            <p:strVal val="#ppt_h"/>
                                          </p:val>
                                        </p:tav>
                                      </p:tavLst>
                                    </p:anim>
                                    <p:animEffect transition="in" filter="fade">
                                      <p:cBhvr>
                                        <p:cTn id="61" dur="500"/>
                                        <p:tgtEl>
                                          <p:spTgt spid="111"/>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112"/>
                                        </p:tgtEl>
                                        <p:attrNameLst>
                                          <p:attrName>style.visibility</p:attrName>
                                        </p:attrNameLst>
                                      </p:cBhvr>
                                      <p:to>
                                        <p:strVal val="visible"/>
                                      </p:to>
                                    </p:set>
                                    <p:anim calcmode="lin" valueType="num">
                                      <p:cBhvr additive="base">
                                        <p:cTn id="64" dur="500" decel="100000" fill="hold"/>
                                        <p:tgtEl>
                                          <p:spTgt spid="112"/>
                                        </p:tgtEl>
                                        <p:attrNameLst>
                                          <p:attrName>ppt_w</p:attrName>
                                        </p:attrNameLst>
                                      </p:cBhvr>
                                      <p:tavLst>
                                        <p:tav tm="0">
                                          <p:val>
                                            <p:strVal val="#ppt_w*0.55"/>
                                          </p:val>
                                        </p:tav>
                                        <p:tav tm="100000">
                                          <p:val>
                                            <p:strVal val="#ppt_w"/>
                                          </p:val>
                                        </p:tav>
                                      </p:tavLst>
                                    </p:anim>
                                    <p:anim calcmode="lin" valueType="num">
                                      <p:cBhvr additive="base">
                                        <p:cTn id="65" dur="500" decel="100000" fill="hold"/>
                                        <p:tgtEl>
                                          <p:spTgt spid="112"/>
                                        </p:tgtEl>
                                        <p:attrNameLst>
                                          <p:attrName>ppt_h</p:attrName>
                                        </p:attrNameLst>
                                      </p:cBhvr>
                                      <p:tavLst>
                                        <p:tav tm="0">
                                          <p:val>
                                            <p:strVal val="#ppt_h*0.55"/>
                                          </p:val>
                                        </p:tav>
                                        <p:tav tm="100000">
                                          <p:val>
                                            <p:strVal val="#ppt_h"/>
                                          </p:val>
                                        </p:tav>
                                      </p:tavLst>
                                    </p:anim>
                                    <p:animEffect transition="in" filter="fade">
                                      <p:cBhvr>
                                        <p:cTn id="66" dur="500"/>
                                        <p:tgtEl>
                                          <p:spTgt spid="112"/>
                                        </p:tgtEl>
                                      </p:cBhvr>
                                    </p:animEffect>
                                  </p:childTnLst>
                                </p:cTn>
                              </p:par>
                            </p:childTnLst>
                          </p:cTn>
                        </p:par>
                      </p:childTnLst>
                    </p:cTn>
                  </p:par>
                  <p:par>
                    <p:cTn id="67" fill="hold">
                      <p:stCondLst>
                        <p:cond delay="indefinite"/>
                      </p:stCondLst>
                      <p:childTnLst>
                        <p:par>
                          <p:cTn id="68" fill="hold">
                            <p:stCondLst>
                              <p:cond delay="0"/>
                            </p:stCondLst>
                            <p:childTnLst>
                              <p:par>
                                <p:cTn id="69" presetID="53" presetClass="entr" presetSubtype="16" fill="hold" grpId="0" nodeType="clickEffect">
                                  <p:stCondLst>
                                    <p:cond delay="0"/>
                                  </p:stCondLst>
                                  <p:childTnLst>
                                    <p:set>
                                      <p:cBhvr>
                                        <p:cTn id="70" dur="1" fill="hold">
                                          <p:stCondLst>
                                            <p:cond delay="0"/>
                                          </p:stCondLst>
                                        </p:cTn>
                                        <p:tgtEl>
                                          <p:spTgt spid="113"/>
                                        </p:tgtEl>
                                        <p:attrNameLst>
                                          <p:attrName>style.visibility</p:attrName>
                                        </p:attrNameLst>
                                      </p:cBhvr>
                                      <p:to>
                                        <p:strVal val="visible"/>
                                      </p:to>
                                    </p:set>
                                    <p:anim calcmode="lin" valueType="num">
                                      <p:cBhvr additive="base">
                                        <p:cTn id="71" dur="500" decel="100000" fill="hold"/>
                                        <p:tgtEl>
                                          <p:spTgt spid="113"/>
                                        </p:tgtEl>
                                        <p:attrNameLst>
                                          <p:attrName>ppt_w</p:attrName>
                                        </p:attrNameLst>
                                      </p:cBhvr>
                                      <p:tavLst>
                                        <p:tav tm="0">
                                          <p:val>
                                            <p:strVal val="#ppt_w*0.55"/>
                                          </p:val>
                                        </p:tav>
                                        <p:tav tm="100000">
                                          <p:val>
                                            <p:strVal val="#ppt_w"/>
                                          </p:val>
                                        </p:tav>
                                      </p:tavLst>
                                    </p:anim>
                                    <p:anim calcmode="lin" valueType="num">
                                      <p:cBhvr additive="base">
                                        <p:cTn id="72" dur="500" decel="100000" fill="hold"/>
                                        <p:tgtEl>
                                          <p:spTgt spid="113"/>
                                        </p:tgtEl>
                                        <p:attrNameLst>
                                          <p:attrName>ppt_h</p:attrName>
                                        </p:attrNameLst>
                                      </p:cBhvr>
                                      <p:tavLst>
                                        <p:tav tm="0">
                                          <p:val>
                                            <p:strVal val="#ppt_h*0.55"/>
                                          </p:val>
                                        </p:tav>
                                        <p:tav tm="100000">
                                          <p:val>
                                            <p:strVal val="#ppt_h"/>
                                          </p:val>
                                        </p:tav>
                                      </p:tavLst>
                                    </p:anim>
                                    <p:animEffect transition="in" filter="fade">
                                      <p:cBhvr>
                                        <p:cTn id="73" dur="500"/>
                                        <p:tgtEl>
                                          <p:spTgt spid="113"/>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114"/>
                                        </p:tgtEl>
                                        <p:attrNameLst>
                                          <p:attrName>style.visibility</p:attrName>
                                        </p:attrNameLst>
                                      </p:cBhvr>
                                      <p:to>
                                        <p:strVal val="visible"/>
                                      </p:to>
                                    </p:set>
                                    <p:anim calcmode="lin" valueType="num">
                                      <p:cBhvr additive="base">
                                        <p:cTn id="76" dur="500" decel="100000" fill="hold"/>
                                        <p:tgtEl>
                                          <p:spTgt spid="114"/>
                                        </p:tgtEl>
                                        <p:attrNameLst>
                                          <p:attrName>ppt_w</p:attrName>
                                        </p:attrNameLst>
                                      </p:cBhvr>
                                      <p:tavLst>
                                        <p:tav tm="0">
                                          <p:val>
                                            <p:strVal val="#ppt_w*0.55"/>
                                          </p:val>
                                        </p:tav>
                                        <p:tav tm="100000">
                                          <p:val>
                                            <p:strVal val="#ppt_w"/>
                                          </p:val>
                                        </p:tav>
                                      </p:tavLst>
                                    </p:anim>
                                    <p:anim calcmode="lin" valueType="num">
                                      <p:cBhvr additive="base">
                                        <p:cTn id="77" dur="500" decel="100000" fill="hold"/>
                                        <p:tgtEl>
                                          <p:spTgt spid="114"/>
                                        </p:tgtEl>
                                        <p:attrNameLst>
                                          <p:attrName>ppt_h</p:attrName>
                                        </p:attrNameLst>
                                      </p:cBhvr>
                                      <p:tavLst>
                                        <p:tav tm="0">
                                          <p:val>
                                            <p:strVal val="#ppt_h*0.55"/>
                                          </p:val>
                                        </p:tav>
                                        <p:tav tm="100000">
                                          <p:val>
                                            <p:strVal val="#ppt_h"/>
                                          </p:val>
                                        </p:tav>
                                      </p:tavLst>
                                    </p:anim>
                                    <p:animEffect transition="in" filter="fade">
                                      <p:cBhvr>
                                        <p:cTn id="78" dur="500"/>
                                        <p:tgtEl>
                                          <p:spTgt spid="114"/>
                                        </p:tgtEl>
                                      </p:cBhvr>
                                    </p:animEffect>
                                  </p:childTnLst>
                                </p:cTn>
                              </p:par>
                              <p:par>
                                <p:cTn id="79" presetID="53" presetClass="entr" presetSubtype="16" fill="hold" nodeType="withEffect">
                                  <p:stCondLst>
                                    <p:cond delay="0"/>
                                  </p:stCondLst>
                                  <p:childTnLst>
                                    <p:set>
                                      <p:cBhvr>
                                        <p:cTn id="80" dur="1" fill="hold">
                                          <p:stCondLst>
                                            <p:cond delay="0"/>
                                          </p:stCondLst>
                                        </p:cTn>
                                        <p:tgtEl>
                                          <p:spTgt spid="115"/>
                                        </p:tgtEl>
                                        <p:attrNameLst>
                                          <p:attrName>style.visibility</p:attrName>
                                        </p:attrNameLst>
                                      </p:cBhvr>
                                      <p:to>
                                        <p:strVal val="visible"/>
                                      </p:to>
                                    </p:set>
                                    <p:anim calcmode="lin" valueType="num">
                                      <p:cBhvr additive="base">
                                        <p:cTn id="81" dur="500" decel="100000" fill="hold"/>
                                        <p:tgtEl>
                                          <p:spTgt spid="115"/>
                                        </p:tgtEl>
                                        <p:attrNameLst>
                                          <p:attrName>ppt_w</p:attrName>
                                        </p:attrNameLst>
                                      </p:cBhvr>
                                      <p:tavLst>
                                        <p:tav tm="0">
                                          <p:val>
                                            <p:strVal val="#ppt_w*0.55"/>
                                          </p:val>
                                        </p:tav>
                                        <p:tav tm="100000">
                                          <p:val>
                                            <p:strVal val="#ppt_w"/>
                                          </p:val>
                                        </p:tav>
                                      </p:tavLst>
                                    </p:anim>
                                    <p:anim calcmode="lin" valueType="num">
                                      <p:cBhvr additive="base">
                                        <p:cTn id="82" dur="500" decel="100000" fill="hold"/>
                                        <p:tgtEl>
                                          <p:spTgt spid="115"/>
                                        </p:tgtEl>
                                        <p:attrNameLst>
                                          <p:attrName>ppt_h</p:attrName>
                                        </p:attrNameLst>
                                      </p:cBhvr>
                                      <p:tavLst>
                                        <p:tav tm="0">
                                          <p:val>
                                            <p:strVal val="#ppt_h*0.55"/>
                                          </p:val>
                                        </p:tav>
                                        <p:tav tm="100000">
                                          <p:val>
                                            <p:strVal val="#ppt_h"/>
                                          </p:val>
                                        </p:tav>
                                      </p:tavLst>
                                    </p:anim>
                                    <p:animEffect transition="in" filter="fade">
                                      <p:cBhvr>
                                        <p:cTn id="83" dur="500"/>
                                        <p:tgtEl>
                                          <p:spTgt spid="115"/>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116"/>
                                        </p:tgtEl>
                                        <p:attrNameLst>
                                          <p:attrName>style.visibility</p:attrName>
                                        </p:attrNameLst>
                                      </p:cBhvr>
                                      <p:to>
                                        <p:strVal val="visible"/>
                                      </p:to>
                                    </p:set>
                                    <p:anim calcmode="lin" valueType="num">
                                      <p:cBhvr additive="base">
                                        <p:cTn id="86" dur="500" decel="100000" fill="hold"/>
                                        <p:tgtEl>
                                          <p:spTgt spid="116"/>
                                        </p:tgtEl>
                                        <p:attrNameLst>
                                          <p:attrName>ppt_w</p:attrName>
                                        </p:attrNameLst>
                                      </p:cBhvr>
                                      <p:tavLst>
                                        <p:tav tm="0">
                                          <p:val>
                                            <p:strVal val="#ppt_w*0.55"/>
                                          </p:val>
                                        </p:tav>
                                        <p:tav tm="100000">
                                          <p:val>
                                            <p:strVal val="#ppt_w"/>
                                          </p:val>
                                        </p:tav>
                                      </p:tavLst>
                                    </p:anim>
                                    <p:anim calcmode="lin" valueType="num">
                                      <p:cBhvr additive="base">
                                        <p:cTn id="87" dur="500" decel="100000" fill="hold"/>
                                        <p:tgtEl>
                                          <p:spTgt spid="116"/>
                                        </p:tgtEl>
                                        <p:attrNameLst>
                                          <p:attrName>ppt_h</p:attrName>
                                        </p:attrNameLst>
                                      </p:cBhvr>
                                      <p:tavLst>
                                        <p:tav tm="0">
                                          <p:val>
                                            <p:strVal val="#ppt_h*0.55"/>
                                          </p:val>
                                        </p:tav>
                                        <p:tav tm="100000">
                                          <p:val>
                                            <p:strVal val="#ppt_h"/>
                                          </p:val>
                                        </p:tav>
                                      </p:tavLst>
                                    </p:anim>
                                    <p:animEffect transition="in" filter="fade">
                                      <p:cBhvr>
                                        <p:cTn id="88" dur="500"/>
                                        <p:tgtEl>
                                          <p:spTgt spid="116"/>
                                        </p:tgtEl>
                                      </p:cBhvr>
                                    </p:animEffect>
                                  </p:childTnLst>
                                </p:cTn>
                              </p:par>
                              <p:par>
                                <p:cTn id="89" presetID="53" presetClass="entr" presetSubtype="16" fill="hold" grpId="0" nodeType="withEffect">
                                  <p:stCondLst>
                                    <p:cond delay="0"/>
                                  </p:stCondLst>
                                  <p:childTnLst>
                                    <p:set>
                                      <p:cBhvr>
                                        <p:cTn id="90" dur="1" fill="hold">
                                          <p:stCondLst>
                                            <p:cond delay="0"/>
                                          </p:stCondLst>
                                        </p:cTn>
                                        <p:tgtEl>
                                          <p:spTgt spid="117"/>
                                        </p:tgtEl>
                                        <p:attrNameLst>
                                          <p:attrName>style.visibility</p:attrName>
                                        </p:attrNameLst>
                                      </p:cBhvr>
                                      <p:to>
                                        <p:strVal val="visible"/>
                                      </p:to>
                                    </p:set>
                                    <p:anim calcmode="lin" valueType="num">
                                      <p:cBhvr additive="base">
                                        <p:cTn id="91" dur="500" decel="100000" fill="hold"/>
                                        <p:tgtEl>
                                          <p:spTgt spid="117"/>
                                        </p:tgtEl>
                                        <p:attrNameLst>
                                          <p:attrName>ppt_w</p:attrName>
                                        </p:attrNameLst>
                                      </p:cBhvr>
                                      <p:tavLst>
                                        <p:tav tm="0">
                                          <p:val>
                                            <p:strVal val="#ppt_w*0.55"/>
                                          </p:val>
                                        </p:tav>
                                        <p:tav tm="100000">
                                          <p:val>
                                            <p:strVal val="#ppt_w"/>
                                          </p:val>
                                        </p:tav>
                                      </p:tavLst>
                                    </p:anim>
                                    <p:anim calcmode="lin" valueType="num">
                                      <p:cBhvr additive="base">
                                        <p:cTn id="92" dur="500" decel="100000" fill="hold"/>
                                        <p:tgtEl>
                                          <p:spTgt spid="117"/>
                                        </p:tgtEl>
                                        <p:attrNameLst>
                                          <p:attrName>ppt_h</p:attrName>
                                        </p:attrNameLst>
                                      </p:cBhvr>
                                      <p:tavLst>
                                        <p:tav tm="0">
                                          <p:val>
                                            <p:strVal val="#ppt_h*0.55"/>
                                          </p:val>
                                        </p:tav>
                                        <p:tav tm="100000">
                                          <p:val>
                                            <p:strVal val="#ppt_h"/>
                                          </p:val>
                                        </p:tav>
                                      </p:tavLst>
                                    </p:anim>
                                    <p:animEffect transition="in" filter="fade">
                                      <p:cBhvr>
                                        <p:cTn id="93" dur="500"/>
                                        <p:tgtEl>
                                          <p:spTgt spid="117"/>
                                        </p:tgtEl>
                                      </p:cBhvr>
                                    </p:animEffect>
                                  </p:childTnLst>
                                </p:cTn>
                              </p:par>
                              <p:par>
                                <p:cTn id="94" presetID="53" presetClass="entr" presetSubtype="16" fill="hold" grpId="0" nodeType="withEffect">
                                  <p:stCondLst>
                                    <p:cond delay="0"/>
                                  </p:stCondLst>
                                  <p:childTnLst>
                                    <p:set>
                                      <p:cBhvr>
                                        <p:cTn id="95" dur="1" fill="hold">
                                          <p:stCondLst>
                                            <p:cond delay="0"/>
                                          </p:stCondLst>
                                        </p:cTn>
                                        <p:tgtEl>
                                          <p:spTgt spid="118"/>
                                        </p:tgtEl>
                                        <p:attrNameLst>
                                          <p:attrName>style.visibility</p:attrName>
                                        </p:attrNameLst>
                                      </p:cBhvr>
                                      <p:to>
                                        <p:strVal val="visible"/>
                                      </p:to>
                                    </p:set>
                                    <p:anim calcmode="lin" valueType="num">
                                      <p:cBhvr additive="base">
                                        <p:cTn id="96" dur="500" decel="100000" fill="hold"/>
                                        <p:tgtEl>
                                          <p:spTgt spid="118"/>
                                        </p:tgtEl>
                                        <p:attrNameLst>
                                          <p:attrName>ppt_w</p:attrName>
                                        </p:attrNameLst>
                                      </p:cBhvr>
                                      <p:tavLst>
                                        <p:tav tm="0">
                                          <p:val>
                                            <p:strVal val="#ppt_w*0.55"/>
                                          </p:val>
                                        </p:tav>
                                        <p:tav tm="100000">
                                          <p:val>
                                            <p:strVal val="#ppt_w"/>
                                          </p:val>
                                        </p:tav>
                                      </p:tavLst>
                                    </p:anim>
                                    <p:anim calcmode="lin" valueType="num">
                                      <p:cBhvr additive="base">
                                        <p:cTn id="97" dur="500" decel="100000" fill="hold"/>
                                        <p:tgtEl>
                                          <p:spTgt spid="118"/>
                                        </p:tgtEl>
                                        <p:attrNameLst>
                                          <p:attrName>ppt_h</p:attrName>
                                        </p:attrNameLst>
                                      </p:cBhvr>
                                      <p:tavLst>
                                        <p:tav tm="0">
                                          <p:val>
                                            <p:strVal val="#ppt_h*0.55"/>
                                          </p:val>
                                        </p:tav>
                                        <p:tav tm="100000">
                                          <p:val>
                                            <p:strVal val="#ppt_h"/>
                                          </p:val>
                                        </p:tav>
                                      </p:tavLst>
                                    </p:anim>
                                    <p:animEffect transition="in" filter="fade">
                                      <p:cBhvr>
                                        <p:cTn id="98" dur="500"/>
                                        <p:tgtEl>
                                          <p:spTgt spid="118"/>
                                        </p:tgtEl>
                                      </p:cBhvr>
                                    </p:animEffect>
                                  </p:childTnLst>
                                </p:cTn>
                              </p:par>
                            </p:childTnLst>
                          </p:cTn>
                        </p:par>
                      </p:childTnLst>
                    </p:cTn>
                  </p:par>
                  <p:par>
                    <p:cTn id="99" fill="hold">
                      <p:stCondLst>
                        <p:cond delay="indefinite"/>
                      </p:stCondLst>
                      <p:childTnLst>
                        <p:par>
                          <p:cTn id="100" fill="hold">
                            <p:stCondLst>
                              <p:cond delay="0"/>
                            </p:stCondLst>
                            <p:childTnLst>
                              <p:par>
                                <p:cTn id="101" presetID="53" presetClass="entr" presetSubtype="16" fill="hold" grpId="0" nodeType="clickEffect">
                                  <p:stCondLst>
                                    <p:cond delay="0"/>
                                  </p:stCondLst>
                                  <p:childTnLst>
                                    <p:set>
                                      <p:cBhvr>
                                        <p:cTn id="102" dur="1" fill="hold">
                                          <p:stCondLst>
                                            <p:cond delay="0"/>
                                          </p:stCondLst>
                                        </p:cTn>
                                        <p:tgtEl>
                                          <p:spTgt spid="119"/>
                                        </p:tgtEl>
                                        <p:attrNameLst>
                                          <p:attrName>style.visibility</p:attrName>
                                        </p:attrNameLst>
                                      </p:cBhvr>
                                      <p:to>
                                        <p:strVal val="visible"/>
                                      </p:to>
                                    </p:set>
                                    <p:anim calcmode="lin" valueType="num">
                                      <p:cBhvr additive="base">
                                        <p:cTn id="103" dur="500" decel="100000" fill="hold"/>
                                        <p:tgtEl>
                                          <p:spTgt spid="119"/>
                                        </p:tgtEl>
                                        <p:attrNameLst>
                                          <p:attrName>ppt_w</p:attrName>
                                        </p:attrNameLst>
                                      </p:cBhvr>
                                      <p:tavLst>
                                        <p:tav tm="0">
                                          <p:val>
                                            <p:strVal val="#ppt_w*0.55"/>
                                          </p:val>
                                        </p:tav>
                                        <p:tav tm="100000">
                                          <p:val>
                                            <p:strVal val="#ppt_w"/>
                                          </p:val>
                                        </p:tav>
                                      </p:tavLst>
                                    </p:anim>
                                    <p:anim calcmode="lin" valueType="num">
                                      <p:cBhvr additive="base">
                                        <p:cTn id="104" dur="500" decel="100000" fill="hold"/>
                                        <p:tgtEl>
                                          <p:spTgt spid="119"/>
                                        </p:tgtEl>
                                        <p:attrNameLst>
                                          <p:attrName>ppt_h</p:attrName>
                                        </p:attrNameLst>
                                      </p:cBhvr>
                                      <p:tavLst>
                                        <p:tav tm="0">
                                          <p:val>
                                            <p:strVal val="#ppt_h*0.55"/>
                                          </p:val>
                                        </p:tav>
                                        <p:tav tm="100000">
                                          <p:val>
                                            <p:strVal val="#ppt_h"/>
                                          </p:val>
                                        </p:tav>
                                      </p:tavLst>
                                    </p:anim>
                                    <p:animEffect transition="in" filter="fade">
                                      <p:cBhvr>
                                        <p:cTn id="105" dur="500"/>
                                        <p:tgtEl>
                                          <p:spTgt spid="119"/>
                                        </p:tgtEl>
                                      </p:cBhvr>
                                    </p:animEffect>
                                  </p:childTnLst>
                                </p:cTn>
                              </p:par>
                              <p:par>
                                <p:cTn id="106" presetID="53" presetClass="entr" presetSubtype="16" fill="hold" grpId="0" nodeType="withEffect">
                                  <p:stCondLst>
                                    <p:cond delay="0"/>
                                  </p:stCondLst>
                                  <p:childTnLst>
                                    <p:set>
                                      <p:cBhvr>
                                        <p:cTn id="107" dur="1" fill="hold">
                                          <p:stCondLst>
                                            <p:cond delay="0"/>
                                          </p:stCondLst>
                                        </p:cTn>
                                        <p:tgtEl>
                                          <p:spTgt spid="120"/>
                                        </p:tgtEl>
                                        <p:attrNameLst>
                                          <p:attrName>style.visibility</p:attrName>
                                        </p:attrNameLst>
                                      </p:cBhvr>
                                      <p:to>
                                        <p:strVal val="visible"/>
                                      </p:to>
                                    </p:set>
                                    <p:anim calcmode="lin" valueType="num">
                                      <p:cBhvr additive="base">
                                        <p:cTn id="108" dur="500" decel="100000" fill="hold"/>
                                        <p:tgtEl>
                                          <p:spTgt spid="120"/>
                                        </p:tgtEl>
                                        <p:attrNameLst>
                                          <p:attrName>ppt_w</p:attrName>
                                        </p:attrNameLst>
                                      </p:cBhvr>
                                      <p:tavLst>
                                        <p:tav tm="0">
                                          <p:val>
                                            <p:strVal val="#ppt_w*0.55"/>
                                          </p:val>
                                        </p:tav>
                                        <p:tav tm="100000">
                                          <p:val>
                                            <p:strVal val="#ppt_w"/>
                                          </p:val>
                                        </p:tav>
                                      </p:tavLst>
                                    </p:anim>
                                    <p:anim calcmode="lin" valueType="num">
                                      <p:cBhvr additive="base">
                                        <p:cTn id="109" dur="500" decel="100000" fill="hold"/>
                                        <p:tgtEl>
                                          <p:spTgt spid="120"/>
                                        </p:tgtEl>
                                        <p:attrNameLst>
                                          <p:attrName>ppt_h</p:attrName>
                                        </p:attrNameLst>
                                      </p:cBhvr>
                                      <p:tavLst>
                                        <p:tav tm="0">
                                          <p:val>
                                            <p:strVal val="#ppt_h*0.55"/>
                                          </p:val>
                                        </p:tav>
                                        <p:tav tm="100000">
                                          <p:val>
                                            <p:strVal val="#ppt_h"/>
                                          </p:val>
                                        </p:tav>
                                      </p:tavLst>
                                    </p:anim>
                                    <p:animEffect transition="in" filter="fade">
                                      <p:cBhvr>
                                        <p:cTn id="110" dur="500"/>
                                        <p:tgtEl>
                                          <p:spTgt spid="120"/>
                                        </p:tgtEl>
                                      </p:cBhvr>
                                    </p:animEffect>
                                  </p:childTnLst>
                                </p:cTn>
                              </p:par>
                              <p:par>
                                <p:cTn id="111" presetID="53" presetClass="entr" presetSubtype="16" fill="hold" nodeType="withEffect">
                                  <p:stCondLst>
                                    <p:cond delay="0"/>
                                  </p:stCondLst>
                                  <p:childTnLst>
                                    <p:set>
                                      <p:cBhvr>
                                        <p:cTn id="112" dur="1" fill="hold">
                                          <p:stCondLst>
                                            <p:cond delay="0"/>
                                          </p:stCondLst>
                                        </p:cTn>
                                        <p:tgtEl>
                                          <p:spTgt spid="121"/>
                                        </p:tgtEl>
                                        <p:attrNameLst>
                                          <p:attrName>style.visibility</p:attrName>
                                        </p:attrNameLst>
                                      </p:cBhvr>
                                      <p:to>
                                        <p:strVal val="visible"/>
                                      </p:to>
                                    </p:set>
                                    <p:anim calcmode="lin" valueType="num">
                                      <p:cBhvr additive="base">
                                        <p:cTn id="113" dur="500" decel="100000" fill="hold"/>
                                        <p:tgtEl>
                                          <p:spTgt spid="121"/>
                                        </p:tgtEl>
                                        <p:attrNameLst>
                                          <p:attrName>ppt_w</p:attrName>
                                        </p:attrNameLst>
                                      </p:cBhvr>
                                      <p:tavLst>
                                        <p:tav tm="0">
                                          <p:val>
                                            <p:strVal val="#ppt_w*0.55"/>
                                          </p:val>
                                        </p:tav>
                                        <p:tav tm="100000">
                                          <p:val>
                                            <p:strVal val="#ppt_w"/>
                                          </p:val>
                                        </p:tav>
                                      </p:tavLst>
                                    </p:anim>
                                    <p:anim calcmode="lin" valueType="num">
                                      <p:cBhvr additive="base">
                                        <p:cTn id="114" dur="500" decel="100000" fill="hold"/>
                                        <p:tgtEl>
                                          <p:spTgt spid="121"/>
                                        </p:tgtEl>
                                        <p:attrNameLst>
                                          <p:attrName>ppt_h</p:attrName>
                                        </p:attrNameLst>
                                      </p:cBhvr>
                                      <p:tavLst>
                                        <p:tav tm="0">
                                          <p:val>
                                            <p:strVal val="#ppt_h*0.55"/>
                                          </p:val>
                                        </p:tav>
                                        <p:tav tm="100000">
                                          <p:val>
                                            <p:strVal val="#ppt_h"/>
                                          </p:val>
                                        </p:tav>
                                      </p:tavLst>
                                    </p:anim>
                                    <p:animEffect transition="in" filter="fade">
                                      <p:cBhvr>
                                        <p:cTn id="115" dur="500"/>
                                        <p:tgtEl>
                                          <p:spTgt spid="121"/>
                                        </p:tgtEl>
                                      </p:cBhvr>
                                    </p:animEffect>
                                  </p:childTnLst>
                                </p:cTn>
                              </p:par>
                              <p:par>
                                <p:cTn id="116" presetID="53" presetClass="entr" presetSubtype="16" fill="hold" grpId="0" nodeType="withEffect">
                                  <p:stCondLst>
                                    <p:cond delay="0"/>
                                  </p:stCondLst>
                                  <p:childTnLst>
                                    <p:set>
                                      <p:cBhvr>
                                        <p:cTn id="117" dur="1" fill="hold">
                                          <p:stCondLst>
                                            <p:cond delay="0"/>
                                          </p:stCondLst>
                                        </p:cTn>
                                        <p:tgtEl>
                                          <p:spTgt spid="122"/>
                                        </p:tgtEl>
                                        <p:attrNameLst>
                                          <p:attrName>style.visibility</p:attrName>
                                        </p:attrNameLst>
                                      </p:cBhvr>
                                      <p:to>
                                        <p:strVal val="visible"/>
                                      </p:to>
                                    </p:set>
                                    <p:anim calcmode="lin" valueType="num">
                                      <p:cBhvr additive="base">
                                        <p:cTn id="118" dur="500" decel="100000" fill="hold"/>
                                        <p:tgtEl>
                                          <p:spTgt spid="122"/>
                                        </p:tgtEl>
                                        <p:attrNameLst>
                                          <p:attrName>ppt_w</p:attrName>
                                        </p:attrNameLst>
                                      </p:cBhvr>
                                      <p:tavLst>
                                        <p:tav tm="0">
                                          <p:val>
                                            <p:strVal val="#ppt_w*0.55"/>
                                          </p:val>
                                        </p:tav>
                                        <p:tav tm="100000">
                                          <p:val>
                                            <p:strVal val="#ppt_w"/>
                                          </p:val>
                                        </p:tav>
                                      </p:tavLst>
                                    </p:anim>
                                    <p:anim calcmode="lin" valueType="num">
                                      <p:cBhvr additive="base">
                                        <p:cTn id="119" dur="500" decel="100000" fill="hold"/>
                                        <p:tgtEl>
                                          <p:spTgt spid="122"/>
                                        </p:tgtEl>
                                        <p:attrNameLst>
                                          <p:attrName>ppt_h</p:attrName>
                                        </p:attrNameLst>
                                      </p:cBhvr>
                                      <p:tavLst>
                                        <p:tav tm="0">
                                          <p:val>
                                            <p:strVal val="#ppt_h*0.55"/>
                                          </p:val>
                                        </p:tav>
                                        <p:tav tm="100000">
                                          <p:val>
                                            <p:strVal val="#ppt_h"/>
                                          </p:val>
                                        </p:tav>
                                      </p:tavLst>
                                    </p:anim>
                                    <p:animEffect transition="in" filter="fade">
                                      <p:cBhvr>
                                        <p:cTn id="120" dur="500"/>
                                        <p:tgtEl>
                                          <p:spTgt spid="122"/>
                                        </p:tgtEl>
                                      </p:cBhvr>
                                    </p:animEffect>
                                  </p:childTnLst>
                                </p:cTn>
                              </p:par>
                              <p:par>
                                <p:cTn id="121" presetID="53" presetClass="entr" presetSubtype="16" fill="hold" grpId="0" nodeType="withEffect">
                                  <p:stCondLst>
                                    <p:cond delay="0"/>
                                  </p:stCondLst>
                                  <p:childTnLst>
                                    <p:set>
                                      <p:cBhvr>
                                        <p:cTn id="122" dur="1" fill="hold">
                                          <p:stCondLst>
                                            <p:cond delay="0"/>
                                          </p:stCondLst>
                                        </p:cTn>
                                        <p:tgtEl>
                                          <p:spTgt spid="123"/>
                                        </p:tgtEl>
                                        <p:attrNameLst>
                                          <p:attrName>style.visibility</p:attrName>
                                        </p:attrNameLst>
                                      </p:cBhvr>
                                      <p:to>
                                        <p:strVal val="visible"/>
                                      </p:to>
                                    </p:set>
                                    <p:anim calcmode="lin" valueType="num">
                                      <p:cBhvr additive="base">
                                        <p:cTn id="123" dur="500" decel="100000" fill="hold"/>
                                        <p:tgtEl>
                                          <p:spTgt spid="123"/>
                                        </p:tgtEl>
                                        <p:attrNameLst>
                                          <p:attrName>ppt_w</p:attrName>
                                        </p:attrNameLst>
                                      </p:cBhvr>
                                      <p:tavLst>
                                        <p:tav tm="0">
                                          <p:val>
                                            <p:strVal val="#ppt_w*0.55"/>
                                          </p:val>
                                        </p:tav>
                                        <p:tav tm="100000">
                                          <p:val>
                                            <p:strVal val="#ppt_w"/>
                                          </p:val>
                                        </p:tav>
                                      </p:tavLst>
                                    </p:anim>
                                    <p:anim calcmode="lin" valueType="num">
                                      <p:cBhvr additive="base">
                                        <p:cTn id="124" dur="500" decel="100000" fill="hold"/>
                                        <p:tgtEl>
                                          <p:spTgt spid="123"/>
                                        </p:tgtEl>
                                        <p:attrNameLst>
                                          <p:attrName>ppt_h</p:attrName>
                                        </p:attrNameLst>
                                      </p:cBhvr>
                                      <p:tavLst>
                                        <p:tav tm="0">
                                          <p:val>
                                            <p:strVal val="#ppt_h*0.55"/>
                                          </p:val>
                                        </p:tav>
                                        <p:tav tm="100000">
                                          <p:val>
                                            <p:strVal val="#ppt_h"/>
                                          </p:val>
                                        </p:tav>
                                      </p:tavLst>
                                    </p:anim>
                                    <p:animEffect transition="in" filter="fade">
                                      <p:cBhvr>
                                        <p:cTn id="125" dur="500"/>
                                        <p:tgtEl>
                                          <p:spTgt spid="123"/>
                                        </p:tgtEl>
                                      </p:cBhvr>
                                    </p:animEffect>
                                  </p:childTnLst>
                                </p:cTn>
                              </p:par>
                              <p:par>
                                <p:cTn id="126" presetID="53" presetClass="entr" presetSubtype="16" fill="hold" grpId="0" nodeType="withEffect">
                                  <p:stCondLst>
                                    <p:cond delay="0"/>
                                  </p:stCondLst>
                                  <p:childTnLst>
                                    <p:set>
                                      <p:cBhvr>
                                        <p:cTn id="127" dur="1" fill="hold">
                                          <p:stCondLst>
                                            <p:cond delay="0"/>
                                          </p:stCondLst>
                                        </p:cTn>
                                        <p:tgtEl>
                                          <p:spTgt spid="124"/>
                                        </p:tgtEl>
                                        <p:attrNameLst>
                                          <p:attrName>style.visibility</p:attrName>
                                        </p:attrNameLst>
                                      </p:cBhvr>
                                      <p:to>
                                        <p:strVal val="visible"/>
                                      </p:to>
                                    </p:set>
                                    <p:anim calcmode="lin" valueType="num">
                                      <p:cBhvr additive="base">
                                        <p:cTn id="128" dur="500" decel="100000" fill="hold"/>
                                        <p:tgtEl>
                                          <p:spTgt spid="124"/>
                                        </p:tgtEl>
                                        <p:attrNameLst>
                                          <p:attrName>ppt_w</p:attrName>
                                        </p:attrNameLst>
                                      </p:cBhvr>
                                      <p:tavLst>
                                        <p:tav tm="0">
                                          <p:val>
                                            <p:strVal val="#ppt_w*0.55"/>
                                          </p:val>
                                        </p:tav>
                                        <p:tav tm="100000">
                                          <p:val>
                                            <p:strVal val="#ppt_w"/>
                                          </p:val>
                                        </p:tav>
                                      </p:tavLst>
                                    </p:anim>
                                    <p:anim calcmode="lin" valueType="num">
                                      <p:cBhvr additive="base">
                                        <p:cTn id="129" dur="500" decel="100000" fill="hold"/>
                                        <p:tgtEl>
                                          <p:spTgt spid="124"/>
                                        </p:tgtEl>
                                        <p:attrNameLst>
                                          <p:attrName>ppt_h</p:attrName>
                                        </p:attrNameLst>
                                      </p:cBhvr>
                                      <p:tavLst>
                                        <p:tav tm="0">
                                          <p:val>
                                            <p:strVal val="#ppt_h*0.55"/>
                                          </p:val>
                                        </p:tav>
                                        <p:tav tm="100000">
                                          <p:val>
                                            <p:strVal val="#ppt_h"/>
                                          </p:val>
                                        </p:tav>
                                      </p:tavLst>
                                    </p:anim>
                                    <p:animEffect transition="in" filter="fade">
                                      <p:cBhvr>
                                        <p:cTn id="130" dur="500"/>
                                        <p:tgtEl>
                                          <p:spTgt spid="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8" grpId="0" animBg="1"/>
      <p:bldP spid="110" grpId="0" animBg="1"/>
      <p:bldP spid="111" grpId="0" animBg="1"/>
      <p:bldP spid="112" grpId="0" animBg="1"/>
      <p:bldP spid="113" grpId="0" animBg="1"/>
      <p:bldP spid="114" grpId="0" animBg="1"/>
      <p:bldP spid="116" grpId="0" animBg="1"/>
      <p:bldP spid="117" grpId="0" animBg="1"/>
      <p:bldP spid="118" grpId="0" animBg="1"/>
      <p:bldP spid="119" grpId="0" animBg="1"/>
      <p:bldP spid="120" grpId="0" animBg="1"/>
      <p:bldP spid="122" grpId="0" animBg="1"/>
      <p:bldP spid="123" grpId="0" animBg="1"/>
      <p:bldP spid="124"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CHAPTER 05</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226</a:t>
            </a:r>
            <a:endParaRPr lang="en-US" sz="850" dirty="0"/>
          </a:p>
        </p:txBody>
      </p:sp>
      <p:sp>
        <p:nvSpPr>
          <p:cNvPr id="101" name="!!bignum"/>
          <p:cNvSpPr txBox="1"/>
          <p:nvPr/>
        </p:nvSpPr>
        <p:spPr>
          <a:xfrm>
            <a:off x="497434" y="960120"/>
            <a:ext cx="2926080" cy="1463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60A5FA"/>
                </a:solidFill>
                <a:latin typeface="Segoe UI"/>
                <a:ea typeface="Segoe UI"/>
                <a:cs typeface="Segoe UI"/>
              </a:rPr>
              <a:t>05</a:t>
            </a:r>
            <a:endParaRPr lang="en-US" sz="9600" dirty="0"/>
          </a:p>
        </p:txBody>
      </p:sp>
      <p:sp>
        <p:nvSpPr>
          <p:cNvPr id="102" name="s102"/>
          <p:cNvSpPr txBox="1"/>
          <p:nvPr/>
        </p:nvSpPr>
        <p:spPr>
          <a:xfrm>
            <a:off x="543154" y="2377440"/>
            <a:ext cx="10515600" cy="8229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Your First Scrum Project</a:t>
            </a:r>
            <a:endParaRPr lang="en-US" sz="4000" dirty="0"/>
          </a:p>
        </p:txBody>
      </p:sp>
      <p:sp>
        <p:nvSpPr>
          <p:cNvPr id="103" name="s103"/>
          <p:cNvSpPr txBox="1"/>
          <p:nvPr/>
        </p:nvSpPr>
        <p:spPr>
          <a:xfrm>
            <a:off x="543154" y="3154680"/>
            <a:ext cx="1051560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0" dirty="0">
                <a:solidFill>
                  <a:srgbClr val="CBD5E1"/>
                </a:solidFill>
                <a:latin typeface="Segoe UI"/>
                <a:ea typeface="Segoe UI"/>
                <a:cs typeface="Segoe UI"/>
              </a:rPr>
              <a:t>Care Hospital × Simulation Software House: learn Scrum by living one Sprint.</a:t>
            </a:r>
            <a:endParaRPr lang="en-US" sz="1600" dirty="0"/>
          </a:p>
        </p:txBody>
      </p:sp>
      <p:sp>
        <p:nvSpPr>
          <p:cNvPr id="104" name="s104"/>
          <p:cNvSpPr/>
          <p:nvPr/>
        </p:nvSpPr>
        <p:spPr>
          <a:xfrm>
            <a:off x="1192835" y="3703320"/>
            <a:ext cx="548640" cy="548640"/>
          </a:xfrm>
          <a:prstGeom prst="ellipse">
            <a:avLst/>
          </a:prstGeom>
          <a:solidFill>
            <a:srgbClr val="FBBF24">
              <a:alpha val="22000"/>
            </a:srgbClr>
          </a:solidFill>
          <a:ln w="1905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FBBF24"/>
                </a:solidFill>
                <a:latin typeface="Segoe UI"/>
                <a:ea typeface="Segoe UI"/>
                <a:cs typeface="Segoe UI"/>
              </a:rPr>
              <a:t>S</a:t>
            </a:r>
            <a:endParaRPr lang="en-US" sz="1560" dirty="0"/>
          </a:p>
        </p:txBody>
      </p:sp>
      <p:sp>
        <p:nvSpPr>
          <p:cNvPr id="105" name="s105"/>
          <p:cNvSpPr txBox="1"/>
          <p:nvPr/>
        </p:nvSpPr>
        <p:spPr>
          <a:xfrm>
            <a:off x="598475" y="4306824"/>
            <a:ext cx="17373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Sarah</a:t>
            </a:r>
            <a:endParaRPr lang="en-US" sz="1200" dirty="0"/>
          </a:p>
        </p:txBody>
      </p:sp>
      <p:sp>
        <p:nvSpPr>
          <p:cNvPr id="106" name="s106"/>
          <p:cNvSpPr txBox="1"/>
          <p:nvPr/>
        </p:nvSpPr>
        <p:spPr>
          <a:xfrm>
            <a:off x="598475" y="4562856"/>
            <a:ext cx="1737360" cy="25603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0" dirty="0">
                <a:solidFill>
                  <a:srgbClr val="FBBF24"/>
                </a:solidFill>
                <a:latin typeface="Segoe UI"/>
                <a:ea typeface="Segoe UI"/>
                <a:cs typeface="Segoe UI"/>
              </a:rPr>
              <a:t>Product Owner</a:t>
            </a:r>
            <a:endParaRPr lang="en-US" sz="1050" dirty="0"/>
          </a:p>
        </p:txBody>
      </p:sp>
      <p:sp>
        <p:nvSpPr>
          <p:cNvPr id="107" name="s107"/>
          <p:cNvSpPr/>
          <p:nvPr/>
        </p:nvSpPr>
        <p:spPr>
          <a:xfrm>
            <a:off x="3040837" y="3703320"/>
            <a:ext cx="548640" cy="548640"/>
          </a:xfrm>
          <a:prstGeom prst="ellipse">
            <a:avLst/>
          </a:prstGeom>
          <a:solidFill>
            <a:srgbClr val="A78BFA">
              <a:alpha val="22000"/>
            </a:srgbClr>
          </a:solidFill>
          <a:ln w="1905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A78BFA"/>
                </a:solidFill>
                <a:latin typeface="Segoe UI"/>
                <a:ea typeface="Segoe UI"/>
                <a:cs typeface="Segoe UI"/>
              </a:rPr>
              <a:t>A</a:t>
            </a:r>
            <a:endParaRPr lang="en-US" sz="1560" dirty="0"/>
          </a:p>
        </p:txBody>
      </p:sp>
      <p:sp>
        <p:nvSpPr>
          <p:cNvPr id="108" name="s108"/>
          <p:cNvSpPr txBox="1"/>
          <p:nvPr/>
        </p:nvSpPr>
        <p:spPr>
          <a:xfrm>
            <a:off x="2446477" y="4306824"/>
            <a:ext cx="17373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Adam</a:t>
            </a:r>
            <a:endParaRPr lang="en-US" sz="1200" dirty="0"/>
          </a:p>
        </p:txBody>
      </p:sp>
      <p:sp>
        <p:nvSpPr>
          <p:cNvPr id="109" name="s109"/>
          <p:cNvSpPr txBox="1"/>
          <p:nvPr/>
        </p:nvSpPr>
        <p:spPr>
          <a:xfrm>
            <a:off x="2446477" y="4562856"/>
            <a:ext cx="1737360" cy="25603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0" dirty="0">
                <a:solidFill>
                  <a:srgbClr val="A78BFA"/>
                </a:solidFill>
                <a:latin typeface="Segoe UI"/>
                <a:ea typeface="Segoe UI"/>
                <a:cs typeface="Segoe UI"/>
              </a:rPr>
              <a:t>Scrum Master</a:t>
            </a:r>
            <a:endParaRPr lang="en-US" sz="1050" dirty="0"/>
          </a:p>
        </p:txBody>
      </p:sp>
      <p:sp>
        <p:nvSpPr>
          <p:cNvPr id="110" name="s110"/>
          <p:cNvSpPr/>
          <p:nvPr/>
        </p:nvSpPr>
        <p:spPr>
          <a:xfrm>
            <a:off x="4888840" y="3703320"/>
            <a:ext cx="548640" cy="548640"/>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13D0F7"/>
                </a:solidFill>
                <a:latin typeface="Segoe UI"/>
                <a:ea typeface="Segoe UI"/>
                <a:cs typeface="Segoe UI"/>
              </a:rPr>
              <a:t>O</a:t>
            </a:r>
            <a:endParaRPr lang="en-US" sz="1560" dirty="0"/>
          </a:p>
        </p:txBody>
      </p:sp>
      <p:sp>
        <p:nvSpPr>
          <p:cNvPr id="111" name="s111"/>
          <p:cNvSpPr txBox="1"/>
          <p:nvPr/>
        </p:nvSpPr>
        <p:spPr>
          <a:xfrm>
            <a:off x="4294480" y="4306824"/>
            <a:ext cx="17373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Omar</a:t>
            </a:r>
            <a:endParaRPr lang="en-US" sz="1200" dirty="0"/>
          </a:p>
        </p:txBody>
      </p:sp>
      <p:sp>
        <p:nvSpPr>
          <p:cNvPr id="112" name="s112"/>
          <p:cNvSpPr txBox="1"/>
          <p:nvPr/>
        </p:nvSpPr>
        <p:spPr>
          <a:xfrm>
            <a:off x="4294480" y="4562856"/>
            <a:ext cx="1737360" cy="25603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0" dirty="0">
                <a:solidFill>
                  <a:srgbClr val="13D0F7"/>
                </a:solidFill>
                <a:latin typeface="Segoe UI"/>
                <a:ea typeface="Segoe UI"/>
                <a:cs typeface="Segoe UI"/>
              </a:rPr>
              <a:t>Backend</a:t>
            </a:r>
            <a:endParaRPr lang="en-US" sz="1050" dirty="0"/>
          </a:p>
        </p:txBody>
      </p:sp>
      <p:sp>
        <p:nvSpPr>
          <p:cNvPr id="113" name="s113"/>
          <p:cNvSpPr/>
          <p:nvPr/>
        </p:nvSpPr>
        <p:spPr>
          <a:xfrm>
            <a:off x="6736842" y="3703320"/>
            <a:ext cx="548640" cy="548640"/>
          </a:xfrm>
          <a:prstGeom prst="ellipse">
            <a:avLst/>
          </a:prstGeom>
          <a:solidFill>
            <a:srgbClr val="F472B6">
              <a:alpha val="22000"/>
            </a:srgbClr>
          </a:solidFill>
          <a:ln w="19050">
            <a:solidFill>
              <a:srgbClr val="F472B6"/>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F472B6"/>
                </a:solidFill>
                <a:latin typeface="Segoe UI"/>
                <a:ea typeface="Segoe UI"/>
                <a:cs typeface="Segoe UI"/>
              </a:rPr>
              <a:t>L</a:t>
            </a:r>
            <a:endParaRPr lang="en-US" sz="1560" dirty="0"/>
          </a:p>
        </p:txBody>
      </p:sp>
      <p:sp>
        <p:nvSpPr>
          <p:cNvPr id="114" name="s114"/>
          <p:cNvSpPr txBox="1"/>
          <p:nvPr/>
        </p:nvSpPr>
        <p:spPr>
          <a:xfrm>
            <a:off x="6142482" y="4306824"/>
            <a:ext cx="17373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Lina</a:t>
            </a:r>
            <a:endParaRPr lang="en-US" sz="1200" dirty="0"/>
          </a:p>
        </p:txBody>
      </p:sp>
      <p:sp>
        <p:nvSpPr>
          <p:cNvPr id="115" name="s115"/>
          <p:cNvSpPr txBox="1"/>
          <p:nvPr/>
        </p:nvSpPr>
        <p:spPr>
          <a:xfrm>
            <a:off x="6142482" y="4562856"/>
            <a:ext cx="1737360" cy="25603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0" dirty="0">
                <a:solidFill>
                  <a:srgbClr val="F472B6"/>
                </a:solidFill>
                <a:latin typeface="Segoe UI"/>
                <a:ea typeface="Segoe UI"/>
                <a:cs typeface="Segoe UI"/>
              </a:rPr>
              <a:t>Frontend</a:t>
            </a:r>
            <a:endParaRPr lang="en-US" sz="1050" dirty="0"/>
          </a:p>
        </p:txBody>
      </p:sp>
      <p:sp>
        <p:nvSpPr>
          <p:cNvPr id="116" name="s116"/>
          <p:cNvSpPr/>
          <p:nvPr/>
        </p:nvSpPr>
        <p:spPr>
          <a:xfrm>
            <a:off x="8584844" y="3703320"/>
            <a:ext cx="548640" cy="548640"/>
          </a:xfrm>
          <a:prstGeom prst="ellipse">
            <a:avLst/>
          </a:prstGeom>
          <a:solidFill>
            <a:srgbClr val="34D399">
              <a:alpha val="22000"/>
            </a:srgbClr>
          </a:solidFill>
          <a:ln w="1905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34D399"/>
                </a:solidFill>
                <a:latin typeface="Segoe UI"/>
                <a:ea typeface="Segoe UI"/>
                <a:cs typeface="Segoe UI"/>
              </a:rPr>
              <a:t>M</a:t>
            </a:r>
            <a:endParaRPr lang="en-US" sz="1560" dirty="0"/>
          </a:p>
        </p:txBody>
      </p:sp>
      <p:sp>
        <p:nvSpPr>
          <p:cNvPr id="117" name="s117"/>
          <p:cNvSpPr txBox="1"/>
          <p:nvPr/>
        </p:nvSpPr>
        <p:spPr>
          <a:xfrm>
            <a:off x="7990484" y="4306824"/>
            <a:ext cx="17373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Maya</a:t>
            </a:r>
            <a:endParaRPr lang="en-US" sz="1200" dirty="0"/>
          </a:p>
        </p:txBody>
      </p:sp>
      <p:sp>
        <p:nvSpPr>
          <p:cNvPr id="118" name="s118"/>
          <p:cNvSpPr txBox="1"/>
          <p:nvPr/>
        </p:nvSpPr>
        <p:spPr>
          <a:xfrm>
            <a:off x="7990484" y="4562856"/>
            <a:ext cx="1737360" cy="25603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0" dirty="0">
                <a:solidFill>
                  <a:srgbClr val="34D399"/>
                </a:solidFill>
                <a:latin typeface="Segoe UI"/>
                <a:ea typeface="Segoe UI"/>
                <a:cs typeface="Segoe UI"/>
              </a:rPr>
              <a:t>QA</a:t>
            </a:r>
            <a:endParaRPr lang="en-US" sz="1050" dirty="0"/>
          </a:p>
        </p:txBody>
      </p:sp>
      <p:sp>
        <p:nvSpPr>
          <p:cNvPr id="119" name="s119"/>
          <p:cNvSpPr/>
          <p:nvPr/>
        </p:nvSpPr>
        <p:spPr>
          <a:xfrm>
            <a:off x="10432847" y="3703320"/>
            <a:ext cx="548640" cy="548640"/>
          </a:xfrm>
          <a:prstGeom prst="ellipse">
            <a:avLst/>
          </a:prstGeom>
          <a:solidFill>
            <a:srgbClr val="F0A98B">
              <a:alpha val="22000"/>
            </a:srgbClr>
          </a:solidFill>
          <a:ln w="19050">
            <a:solidFill>
              <a:srgbClr val="F0A98B"/>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F0A98B"/>
                </a:solidFill>
                <a:latin typeface="Segoe UI"/>
                <a:ea typeface="Segoe UI"/>
                <a:cs typeface="Segoe UI"/>
              </a:rPr>
              <a:t>D</a:t>
            </a:r>
            <a:endParaRPr lang="en-US" sz="1560" dirty="0"/>
          </a:p>
        </p:txBody>
      </p:sp>
      <p:sp>
        <p:nvSpPr>
          <p:cNvPr id="120" name="s120"/>
          <p:cNvSpPr txBox="1"/>
          <p:nvPr/>
        </p:nvSpPr>
        <p:spPr>
          <a:xfrm>
            <a:off x="9838487" y="4306824"/>
            <a:ext cx="17373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Daniel</a:t>
            </a:r>
            <a:endParaRPr lang="en-US" sz="1200" dirty="0"/>
          </a:p>
        </p:txBody>
      </p:sp>
      <p:sp>
        <p:nvSpPr>
          <p:cNvPr id="121" name="s121"/>
          <p:cNvSpPr txBox="1"/>
          <p:nvPr/>
        </p:nvSpPr>
        <p:spPr>
          <a:xfrm>
            <a:off x="9838487" y="4562856"/>
            <a:ext cx="1737360" cy="25603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0" dirty="0">
                <a:solidFill>
                  <a:srgbClr val="F0A98B"/>
                </a:solidFill>
                <a:latin typeface="Segoe UI"/>
                <a:ea typeface="Segoe UI"/>
                <a:cs typeface="Segoe UI"/>
              </a:rPr>
              <a:t>UI/UX</a:t>
            </a:r>
            <a:endParaRPr lang="en-US" sz="1050" dirty="0"/>
          </a:p>
        </p:txBody>
      </p:sp>
      <p:sp>
        <p:nvSpPr>
          <p:cNvPr id="122" name="!!chap0"/>
          <p:cNvSpPr/>
          <p:nvPr/>
        </p:nvSpPr>
        <p:spPr>
          <a:xfrm>
            <a:off x="543154" y="512064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01  </a:t>
            </a:r>
            <a:r>
              <a:rPr lang="en-US" sz="1100" b="0" dirty="0">
                <a:solidFill>
                  <a:srgbClr val="94A3B8"/>
                </a:solidFill>
                <a:latin typeface="Segoe UI"/>
                <a:ea typeface="Segoe UI"/>
                <a:cs typeface="Segoe UI"/>
              </a:rPr>
              <a:t>Methodologies</a:t>
            </a:r>
            <a:endParaRPr lang="en-US" sz="1100" dirty="0"/>
          </a:p>
        </p:txBody>
      </p:sp>
      <p:sp>
        <p:nvSpPr>
          <p:cNvPr id="123" name="!!chap1"/>
          <p:cNvSpPr/>
          <p:nvPr/>
        </p:nvSpPr>
        <p:spPr>
          <a:xfrm>
            <a:off x="2409444" y="512064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02  </a:t>
            </a:r>
            <a:r>
              <a:rPr lang="en-US" sz="1100" b="0" dirty="0">
                <a:solidFill>
                  <a:srgbClr val="94A3B8"/>
                </a:solidFill>
                <a:latin typeface="Segoe UI"/>
                <a:ea typeface="Segoe UI"/>
                <a:cs typeface="Segoe UI"/>
              </a:rPr>
              <a:t>Agile mindset</a:t>
            </a:r>
            <a:endParaRPr lang="en-US" sz="1100" dirty="0"/>
          </a:p>
        </p:txBody>
      </p:sp>
      <p:sp>
        <p:nvSpPr>
          <p:cNvPr id="124" name="!!chap2"/>
          <p:cNvSpPr/>
          <p:nvPr/>
        </p:nvSpPr>
        <p:spPr>
          <a:xfrm>
            <a:off x="4275734" y="512064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03  </a:t>
            </a:r>
            <a:r>
              <a:rPr lang="en-US" sz="1100" b="0" dirty="0">
                <a:solidFill>
                  <a:srgbClr val="94A3B8"/>
                </a:solidFill>
                <a:latin typeface="Segoe UI"/>
                <a:ea typeface="Segoe UI"/>
                <a:cs typeface="Segoe UI"/>
              </a:rPr>
              <a:t>Manifesto values</a:t>
            </a:r>
            <a:endParaRPr lang="en-US" sz="1100" dirty="0"/>
          </a:p>
        </p:txBody>
      </p:sp>
      <p:sp>
        <p:nvSpPr>
          <p:cNvPr id="125" name="!!chap3"/>
          <p:cNvSpPr/>
          <p:nvPr/>
        </p:nvSpPr>
        <p:spPr>
          <a:xfrm>
            <a:off x="6142025" y="512064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04  </a:t>
            </a:r>
            <a:r>
              <a:rPr lang="en-US" sz="1100" b="0" dirty="0">
                <a:solidFill>
                  <a:srgbClr val="94A3B8"/>
                </a:solidFill>
                <a:latin typeface="Segoe UI"/>
                <a:ea typeface="Segoe UI"/>
                <a:cs typeface="Segoe UI"/>
              </a:rPr>
              <a:t>12 principles</a:t>
            </a:r>
            <a:endParaRPr lang="en-US" sz="1100" dirty="0"/>
          </a:p>
        </p:txBody>
      </p:sp>
      <p:sp>
        <p:nvSpPr>
          <p:cNvPr id="126" name="!!chap4"/>
          <p:cNvSpPr/>
          <p:nvPr/>
        </p:nvSpPr>
        <p:spPr>
          <a:xfrm>
            <a:off x="8008315" y="5120640"/>
            <a:ext cx="1756562" cy="457200"/>
          </a:xfrm>
          <a:prstGeom prst="roundRect">
            <a:avLst>
              <a:gd name="adj" fmla="val 50000"/>
            </a:avLst>
          </a:prstGeom>
          <a:solidFill>
            <a:srgbClr val="60A5FA"/>
          </a:solidFill>
          <a:ln w="12700">
            <a:solidFill>
              <a:srgbClr val="60A5FA"/>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05  Scrum: one Sprint</a:t>
            </a:r>
            <a:endParaRPr lang="en-US" sz="1100" dirty="0"/>
          </a:p>
        </p:txBody>
      </p:sp>
      <p:sp>
        <p:nvSpPr>
          <p:cNvPr id="127" name="!!chap5"/>
          <p:cNvSpPr/>
          <p:nvPr/>
        </p:nvSpPr>
        <p:spPr>
          <a:xfrm>
            <a:off x="9874606" y="512064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472B6"/>
                </a:solidFill>
                <a:latin typeface="Segoe UI"/>
                <a:ea typeface="Segoe UI"/>
                <a:cs typeface="Segoe UI"/>
              </a:rPr>
              <a:t>06  </a:t>
            </a:r>
            <a:r>
              <a:rPr lang="en-US" sz="1100" b="0" dirty="0">
                <a:solidFill>
                  <a:srgbClr val="94A3B8"/>
                </a:solidFill>
                <a:latin typeface="Segoe UI"/>
                <a:ea typeface="Segoe UI"/>
                <a:cs typeface="Segoe UI"/>
              </a:rPr>
              <a:t>Practice lab</a:t>
            </a:r>
            <a:endParaRPr lang="en-US" sz="11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5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50" decel="100000" fill="hold"/>
                                        <p:tgtEl>
                                          <p:spTgt spid="101"/>
                                        </p:tgtEl>
                                        <p:attrNameLst>
                                          <p:attrName>ppt_h</p:attrName>
                                        </p:attrNameLst>
                                      </p:cBhvr>
                                      <p:tavLst>
                                        <p:tav tm="0">
                                          <p:val>
                                            <p:strVal val="#ppt_h*0.3"/>
                                          </p:val>
                                        </p:tav>
                                        <p:tav tm="100000">
                                          <p:val>
                                            <p:strVal val="#ppt_h*1.08"/>
                                          </p:val>
                                        </p:tav>
                                      </p:tavLst>
                                    </p:anim>
                                    <p:animEffect transition="in" filter="fade">
                                      <p:cBhvr>
                                        <p:cTn id="9" dur="275"/>
                                        <p:tgtEl>
                                          <p:spTgt spid="101"/>
                                        </p:tgtEl>
                                      </p:cBhvr>
                                    </p:animEffect>
                                    <p:anim calcmode="lin" valueType="num">
                                      <p:cBhvr additive="base">
                                        <p:cTn id="10" dur="160" fill="hold">
                                          <p:stCondLst>
                                            <p:cond delay="55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5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4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50"/>
                                        <p:tgtEl>
                                          <p:spTgt spid="102"/>
                                        </p:tgtEl>
                                      </p:cBhvr>
                                    </p:animEffect>
                                    <p:anim calcmode="lin" valueType="num">
                                      <p:cBhvr additive="base">
                                        <p:cTn id="15" dur="55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8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50"/>
                                        <p:tgtEl>
                                          <p:spTgt spid="103"/>
                                        </p:tgtEl>
                                      </p:cBhvr>
                                    </p:animEffect>
                                    <p:anim calcmode="lin" valueType="num">
                                      <p:cBhvr additive="base">
                                        <p:cTn id="19" dur="55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43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anim calcmode="lin" valueType="num">
                                      <p:cBhvr additive="base">
                                        <p:cTn id="23" dur="50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43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00"/>
                                        <p:tgtEl>
                                          <p:spTgt spid="105"/>
                                        </p:tgtEl>
                                      </p:cBhvr>
                                    </p:animEffect>
                                    <p:anim calcmode="lin" valueType="num">
                                      <p:cBhvr additive="base">
                                        <p:cTn id="27" dur="50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43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00"/>
                                        <p:tgtEl>
                                          <p:spTgt spid="106"/>
                                        </p:tgtEl>
                                      </p:cBhvr>
                                    </p:animEffect>
                                    <p:anim calcmode="lin" valueType="num">
                                      <p:cBhvr additive="base">
                                        <p:cTn id="31" dur="500" decel="100000" fill="hold"/>
                                        <p:tgtEl>
                                          <p:spTgt spid="106"/>
                                        </p:tgtEl>
                                        <p:attrNameLst>
                                          <p:attrName>ppt_y</p:attrName>
                                        </p:attrNameLst>
                                      </p:cBhvr>
                                      <p:tavLst>
                                        <p:tav tm="0">
                                          <p:val>
                                            <p:strVal val="#ppt_y+0.06"/>
                                          </p:val>
                                        </p:tav>
                                        <p:tav tm="100000">
                                          <p:val>
                                            <p:strVal val="#ppt_y"/>
                                          </p:val>
                                        </p:tav>
                                      </p:tavLst>
                                    </p:anim>
                                  </p:childTnLst>
                                </p:cTn>
                              </p:par>
                              <p:par>
                                <p:cTn id="32" presetID="42" presetClass="entr" presetSubtype="0" fill="hold" grpId="0" nodeType="withEffect">
                                  <p:stCondLst>
                                    <p:cond delay="54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anim calcmode="lin" valueType="num">
                                      <p:cBhvr additive="base">
                                        <p:cTn id="35" dur="500" decel="100000" fill="hold"/>
                                        <p:tgtEl>
                                          <p:spTgt spid="107"/>
                                        </p:tgtEl>
                                        <p:attrNameLst>
                                          <p:attrName>ppt_y</p:attrName>
                                        </p:attrNameLst>
                                      </p:cBhvr>
                                      <p:tavLst>
                                        <p:tav tm="0">
                                          <p:val>
                                            <p:strVal val="#ppt_y+0.06"/>
                                          </p:val>
                                        </p:tav>
                                        <p:tav tm="100000">
                                          <p:val>
                                            <p:strVal val="#ppt_y"/>
                                          </p:val>
                                        </p:tav>
                                      </p:tavLst>
                                    </p:anim>
                                  </p:childTnLst>
                                </p:cTn>
                              </p:par>
                              <p:par>
                                <p:cTn id="36" presetID="42" presetClass="entr" presetSubtype="0" fill="hold" grpId="0" nodeType="withEffect">
                                  <p:stCondLst>
                                    <p:cond delay="540"/>
                                  </p:stCondLst>
                                  <p:childTnLst>
                                    <p:set>
                                      <p:cBhvr>
                                        <p:cTn id="37" dur="1" fill="hold">
                                          <p:stCondLst>
                                            <p:cond delay="0"/>
                                          </p:stCondLst>
                                        </p:cTn>
                                        <p:tgtEl>
                                          <p:spTgt spid="108"/>
                                        </p:tgtEl>
                                        <p:attrNameLst>
                                          <p:attrName>style.visibility</p:attrName>
                                        </p:attrNameLst>
                                      </p:cBhvr>
                                      <p:to>
                                        <p:strVal val="visible"/>
                                      </p:to>
                                    </p:set>
                                    <p:animEffect transition="in" filter="fade">
                                      <p:cBhvr>
                                        <p:cTn id="38" dur="500"/>
                                        <p:tgtEl>
                                          <p:spTgt spid="108"/>
                                        </p:tgtEl>
                                      </p:cBhvr>
                                    </p:animEffect>
                                    <p:anim calcmode="lin" valueType="num">
                                      <p:cBhvr additive="base">
                                        <p:cTn id="39" dur="500" decel="100000" fill="hold"/>
                                        <p:tgtEl>
                                          <p:spTgt spid="108"/>
                                        </p:tgtEl>
                                        <p:attrNameLst>
                                          <p:attrName>ppt_y</p:attrName>
                                        </p:attrNameLst>
                                      </p:cBhvr>
                                      <p:tavLst>
                                        <p:tav tm="0">
                                          <p:val>
                                            <p:strVal val="#ppt_y+0.06"/>
                                          </p:val>
                                        </p:tav>
                                        <p:tav tm="100000">
                                          <p:val>
                                            <p:strVal val="#ppt_y"/>
                                          </p:val>
                                        </p:tav>
                                      </p:tavLst>
                                    </p:anim>
                                  </p:childTnLst>
                                </p:cTn>
                              </p:par>
                              <p:par>
                                <p:cTn id="40" presetID="42" presetClass="entr" presetSubtype="0" fill="hold" grpId="0" nodeType="withEffect">
                                  <p:stCondLst>
                                    <p:cond delay="540"/>
                                  </p:stCondLst>
                                  <p:childTnLst>
                                    <p:set>
                                      <p:cBhvr>
                                        <p:cTn id="41" dur="1" fill="hold">
                                          <p:stCondLst>
                                            <p:cond delay="0"/>
                                          </p:stCondLst>
                                        </p:cTn>
                                        <p:tgtEl>
                                          <p:spTgt spid="109"/>
                                        </p:tgtEl>
                                        <p:attrNameLst>
                                          <p:attrName>style.visibility</p:attrName>
                                        </p:attrNameLst>
                                      </p:cBhvr>
                                      <p:to>
                                        <p:strVal val="visible"/>
                                      </p:to>
                                    </p:set>
                                    <p:animEffect transition="in" filter="fade">
                                      <p:cBhvr>
                                        <p:cTn id="42" dur="500"/>
                                        <p:tgtEl>
                                          <p:spTgt spid="109"/>
                                        </p:tgtEl>
                                      </p:cBhvr>
                                    </p:animEffect>
                                    <p:anim calcmode="lin" valueType="num">
                                      <p:cBhvr additive="base">
                                        <p:cTn id="43" dur="500" decel="100000" fill="hold"/>
                                        <p:tgtEl>
                                          <p:spTgt spid="109"/>
                                        </p:tgtEl>
                                        <p:attrNameLst>
                                          <p:attrName>ppt_y</p:attrName>
                                        </p:attrNameLst>
                                      </p:cBhvr>
                                      <p:tavLst>
                                        <p:tav tm="0">
                                          <p:val>
                                            <p:strVal val="#ppt_y+0.06"/>
                                          </p:val>
                                        </p:tav>
                                        <p:tav tm="100000">
                                          <p:val>
                                            <p:strVal val="#ppt_y"/>
                                          </p:val>
                                        </p:tav>
                                      </p:tavLst>
                                    </p:anim>
                                  </p:childTnLst>
                                </p:cTn>
                              </p:par>
                              <p:par>
                                <p:cTn id="44" presetID="42" presetClass="entr" presetSubtype="0" fill="hold" grpId="0" nodeType="withEffect">
                                  <p:stCondLst>
                                    <p:cond delay="650"/>
                                  </p:stCondLst>
                                  <p:childTnLst>
                                    <p:set>
                                      <p:cBhvr>
                                        <p:cTn id="45" dur="1" fill="hold">
                                          <p:stCondLst>
                                            <p:cond delay="0"/>
                                          </p:stCondLst>
                                        </p:cTn>
                                        <p:tgtEl>
                                          <p:spTgt spid="110"/>
                                        </p:tgtEl>
                                        <p:attrNameLst>
                                          <p:attrName>style.visibility</p:attrName>
                                        </p:attrNameLst>
                                      </p:cBhvr>
                                      <p:to>
                                        <p:strVal val="visible"/>
                                      </p:to>
                                    </p:set>
                                    <p:animEffect transition="in" filter="fade">
                                      <p:cBhvr>
                                        <p:cTn id="46" dur="500"/>
                                        <p:tgtEl>
                                          <p:spTgt spid="110"/>
                                        </p:tgtEl>
                                      </p:cBhvr>
                                    </p:animEffect>
                                    <p:anim calcmode="lin" valueType="num">
                                      <p:cBhvr additive="base">
                                        <p:cTn id="47" dur="500" decel="100000" fill="hold"/>
                                        <p:tgtEl>
                                          <p:spTgt spid="110"/>
                                        </p:tgtEl>
                                        <p:attrNameLst>
                                          <p:attrName>ppt_y</p:attrName>
                                        </p:attrNameLst>
                                      </p:cBhvr>
                                      <p:tavLst>
                                        <p:tav tm="0">
                                          <p:val>
                                            <p:strVal val="#ppt_y+0.06"/>
                                          </p:val>
                                        </p:tav>
                                        <p:tav tm="100000">
                                          <p:val>
                                            <p:strVal val="#ppt_y"/>
                                          </p:val>
                                        </p:tav>
                                      </p:tavLst>
                                    </p:anim>
                                  </p:childTnLst>
                                </p:cTn>
                              </p:par>
                              <p:par>
                                <p:cTn id="48" presetID="42" presetClass="entr" presetSubtype="0" fill="hold" grpId="0" nodeType="withEffect">
                                  <p:stCondLst>
                                    <p:cond delay="650"/>
                                  </p:stCondLst>
                                  <p:childTnLst>
                                    <p:set>
                                      <p:cBhvr>
                                        <p:cTn id="49" dur="1" fill="hold">
                                          <p:stCondLst>
                                            <p:cond delay="0"/>
                                          </p:stCondLst>
                                        </p:cTn>
                                        <p:tgtEl>
                                          <p:spTgt spid="111"/>
                                        </p:tgtEl>
                                        <p:attrNameLst>
                                          <p:attrName>style.visibility</p:attrName>
                                        </p:attrNameLst>
                                      </p:cBhvr>
                                      <p:to>
                                        <p:strVal val="visible"/>
                                      </p:to>
                                    </p:set>
                                    <p:animEffect transition="in" filter="fade">
                                      <p:cBhvr>
                                        <p:cTn id="50" dur="500"/>
                                        <p:tgtEl>
                                          <p:spTgt spid="111"/>
                                        </p:tgtEl>
                                      </p:cBhvr>
                                    </p:animEffect>
                                    <p:anim calcmode="lin" valueType="num">
                                      <p:cBhvr additive="base">
                                        <p:cTn id="51" dur="500" decel="100000" fill="hold"/>
                                        <p:tgtEl>
                                          <p:spTgt spid="111"/>
                                        </p:tgtEl>
                                        <p:attrNameLst>
                                          <p:attrName>ppt_y</p:attrName>
                                        </p:attrNameLst>
                                      </p:cBhvr>
                                      <p:tavLst>
                                        <p:tav tm="0">
                                          <p:val>
                                            <p:strVal val="#ppt_y+0.06"/>
                                          </p:val>
                                        </p:tav>
                                        <p:tav tm="100000">
                                          <p:val>
                                            <p:strVal val="#ppt_y"/>
                                          </p:val>
                                        </p:tav>
                                      </p:tavLst>
                                    </p:anim>
                                  </p:childTnLst>
                                </p:cTn>
                              </p:par>
                              <p:par>
                                <p:cTn id="52" presetID="42" presetClass="entr" presetSubtype="0" fill="hold" grpId="0" nodeType="withEffect">
                                  <p:stCondLst>
                                    <p:cond delay="650"/>
                                  </p:stCondLst>
                                  <p:childTnLst>
                                    <p:set>
                                      <p:cBhvr>
                                        <p:cTn id="53" dur="1" fill="hold">
                                          <p:stCondLst>
                                            <p:cond delay="0"/>
                                          </p:stCondLst>
                                        </p:cTn>
                                        <p:tgtEl>
                                          <p:spTgt spid="112"/>
                                        </p:tgtEl>
                                        <p:attrNameLst>
                                          <p:attrName>style.visibility</p:attrName>
                                        </p:attrNameLst>
                                      </p:cBhvr>
                                      <p:to>
                                        <p:strVal val="visible"/>
                                      </p:to>
                                    </p:set>
                                    <p:animEffect transition="in" filter="fade">
                                      <p:cBhvr>
                                        <p:cTn id="54" dur="500"/>
                                        <p:tgtEl>
                                          <p:spTgt spid="112"/>
                                        </p:tgtEl>
                                      </p:cBhvr>
                                    </p:animEffect>
                                    <p:anim calcmode="lin" valueType="num">
                                      <p:cBhvr additive="base">
                                        <p:cTn id="55" dur="500" decel="100000" fill="hold"/>
                                        <p:tgtEl>
                                          <p:spTgt spid="112"/>
                                        </p:tgtEl>
                                        <p:attrNameLst>
                                          <p:attrName>ppt_y</p:attrName>
                                        </p:attrNameLst>
                                      </p:cBhvr>
                                      <p:tavLst>
                                        <p:tav tm="0">
                                          <p:val>
                                            <p:strVal val="#ppt_y+0.06"/>
                                          </p:val>
                                        </p:tav>
                                        <p:tav tm="100000">
                                          <p:val>
                                            <p:strVal val="#ppt_y"/>
                                          </p:val>
                                        </p:tav>
                                      </p:tavLst>
                                    </p:anim>
                                  </p:childTnLst>
                                </p:cTn>
                              </p:par>
                              <p:par>
                                <p:cTn id="56" presetID="42" presetClass="entr" presetSubtype="0" fill="hold" grpId="0" nodeType="withEffect">
                                  <p:stCondLst>
                                    <p:cond delay="760"/>
                                  </p:stCondLst>
                                  <p:childTnLst>
                                    <p:set>
                                      <p:cBhvr>
                                        <p:cTn id="57" dur="1" fill="hold">
                                          <p:stCondLst>
                                            <p:cond delay="0"/>
                                          </p:stCondLst>
                                        </p:cTn>
                                        <p:tgtEl>
                                          <p:spTgt spid="113"/>
                                        </p:tgtEl>
                                        <p:attrNameLst>
                                          <p:attrName>style.visibility</p:attrName>
                                        </p:attrNameLst>
                                      </p:cBhvr>
                                      <p:to>
                                        <p:strVal val="visible"/>
                                      </p:to>
                                    </p:set>
                                    <p:animEffect transition="in" filter="fade">
                                      <p:cBhvr>
                                        <p:cTn id="58" dur="500"/>
                                        <p:tgtEl>
                                          <p:spTgt spid="113"/>
                                        </p:tgtEl>
                                      </p:cBhvr>
                                    </p:animEffect>
                                    <p:anim calcmode="lin" valueType="num">
                                      <p:cBhvr additive="base">
                                        <p:cTn id="59" dur="500" decel="100000" fill="hold"/>
                                        <p:tgtEl>
                                          <p:spTgt spid="113"/>
                                        </p:tgtEl>
                                        <p:attrNameLst>
                                          <p:attrName>ppt_y</p:attrName>
                                        </p:attrNameLst>
                                      </p:cBhvr>
                                      <p:tavLst>
                                        <p:tav tm="0">
                                          <p:val>
                                            <p:strVal val="#ppt_y+0.06"/>
                                          </p:val>
                                        </p:tav>
                                        <p:tav tm="100000">
                                          <p:val>
                                            <p:strVal val="#ppt_y"/>
                                          </p:val>
                                        </p:tav>
                                      </p:tavLst>
                                    </p:anim>
                                  </p:childTnLst>
                                </p:cTn>
                              </p:par>
                              <p:par>
                                <p:cTn id="60" presetID="42" presetClass="entr" presetSubtype="0" fill="hold" grpId="0" nodeType="withEffect">
                                  <p:stCondLst>
                                    <p:cond delay="760"/>
                                  </p:stCondLst>
                                  <p:childTnLst>
                                    <p:set>
                                      <p:cBhvr>
                                        <p:cTn id="61" dur="1" fill="hold">
                                          <p:stCondLst>
                                            <p:cond delay="0"/>
                                          </p:stCondLst>
                                        </p:cTn>
                                        <p:tgtEl>
                                          <p:spTgt spid="114"/>
                                        </p:tgtEl>
                                        <p:attrNameLst>
                                          <p:attrName>style.visibility</p:attrName>
                                        </p:attrNameLst>
                                      </p:cBhvr>
                                      <p:to>
                                        <p:strVal val="visible"/>
                                      </p:to>
                                    </p:set>
                                    <p:animEffect transition="in" filter="fade">
                                      <p:cBhvr>
                                        <p:cTn id="62" dur="500"/>
                                        <p:tgtEl>
                                          <p:spTgt spid="114"/>
                                        </p:tgtEl>
                                      </p:cBhvr>
                                    </p:animEffect>
                                    <p:anim calcmode="lin" valueType="num">
                                      <p:cBhvr additive="base">
                                        <p:cTn id="63" dur="500" decel="100000" fill="hold"/>
                                        <p:tgtEl>
                                          <p:spTgt spid="114"/>
                                        </p:tgtEl>
                                        <p:attrNameLst>
                                          <p:attrName>ppt_y</p:attrName>
                                        </p:attrNameLst>
                                      </p:cBhvr>
                                      <p:tavLst>
                                        <p:tav tm="0">
                                          <p:val>
                                            <p:strVal val="#ppt_y+0.06"/>
                                          </p:val>
                                        </p:tav>
                                        <p:tav tm="100000">
                                          <p:val>
                                            <p:strVal val="#ppt_y"/>
                                          </p:val>
                                        </p:tav>
                                      </p:tavLst>
                                    </p:anim>
                                  </p:childTnLst>
                                </p:cTn>
                              </p:par>
                              <p:par>
                                <p:cTn id="64" presetID="42" presetClass="entr" presetSubtype="0" fill="hold" grpId="0" nodeType="withEffect">
                                  <p:stCondLst>
                                    <p:cond delay="760"/>
                                  </p:stCondLst>
                                  <p:childTnLst>
                                    <p:set>
                                      <p:cBhvr>
                                        <p:cTn id="65" dur="1" fill="hold">
                                          <p:stCondLst>
                                            <p:cond delay="0"/>
                                          </p:stCondLst>
                                        </p:cTn>
                                        <p:tgtEl>
                                          <p:spTgt spid="115"/>
                                        </p:tgtEl>
                                        <p:attrNameLst>
                                          <p:attrName>style.visibility</p:attrName>
                                        </p:attrNameLst>
                                      </p:cBhvr>
                                      <p:to>
                                        <p:strVal val="visible"/>
                                      </p:to>
                                    </p:set>
                                    <p:animEffect transition="in" filter="fade">
                                      <p:cBhvr>
                                        <p:cTn id="66" dur="500"/>
                                        <p:tgtEl>
                                          <p:spTgt spid="115"/>
                                        </p:tgtEl>
                                      </p:cBhvr>
                                    </p:animEffect>
                                    <p:anim calcmode="lin" valueType="num">
                                      <p:cBhvr additive="base">
                                        <p:cTn id="67" dur="500" decel="100000" fill="hold"/>
                                        <p:tgtEl>
                                          <p:spTgt spid="115"/>
                                        </p:tgtEl>
                                        <p:attrNameLst>
                                          <p:attrName>ppt_y</p:attrName>
                                        </p:attrNameLst>
                                      </p:cBhvr>
                                      <p:tavLst>
                                        <p:tav tm="0">
                                          <p:val>
                                            <p:strVal val="#ppt_y+0.06"/>
                                          </p:val>
                                        </p:tav>
                                        <p:tav tm="100000">
                                          <p:val>
                                            <p:strVal val="#ppt_y"/>
                                          </p:val>
                                        </p:tav>
                                      </p:tavLst>
                                    </p:anim>
                                  </p:childTnLst>
                                </p:cTn>
                              </p:par>
                              <p:par>
                                <p:cTn id="68" presetID="42" presetClass="entr" presetSubtype="0" fill="hold" grpId="0" nodeType="withEffect">
                                  <p:stCondLst>
                                    <p:cond delay="870"/>
                                  </p:stCondLst>
                                  <p:childTnLst>
                                    <p:set>
                                      <p:cBhvr>
                                        <p:cTn id="69" dur="1" fill="hold">
                                          <p:stCondLst>
                                            <p:cond delay="0"/>
                                          </p:stCondLst>
                                        </p:cTn>
                                        <p:tgtEl>
                                          <p:spTgt spid="116"/>
                                        </p:tgtEl>
                                        <p:attrNameLst>
                                          <p:attrName>style.visibility</p:attrName>
                                        </p:attrNameLst>
                                      </p:cBhvr>
                                      <p:to>
                                        <p:strVal val="visible"/>
                                      </p:to>
                                    </p:set>
                                    <p:animEffect transition="in" filter="fade">
                                      <p:cBhvr>
                                        <p:cTn id="70" dur="500"/>
                                        <p:tgtEl>
                                          <p:spTgt spid="116"/>
                                        </p:tgtEl>
                                      </p:cBhvr>
                                    </p:animEffect>
                                    <p:anim calcmode="lin" valueType="num">
                                      <p:cBhvr additive="base">
                                        <p:cTn id="71" dur="500" decel="100000" fill="hold"/>
                                        <p:tgtEl>
                                          <p:spTgt spid="116"/>
                                        </p:tgtEl>
                                        <p:attrNameLst>
                                          <p:attrName>ppt_y</p:attrName>
                                        </p:attrNameLst>
                                      </p:cBhvr>
                                      <p:tavLst>
                                        <p:tav tm="0">
                                          <p:val>
                                            <p:strVal val="#ppt_y+0.06"/>
                                          </p:val>
                                        </p:tav>
                                        <p:tav tm="100000">
                                          <p:val>
                                            <p:strVal val="#ppt_y"/>
                                          </p:val>
                                        </p:tav>
                                      </p:tavLst>
                                    </p:anim>
                                  </p:childTnLst>
                                </p:cTn>
                              </p:par>
                              <p:par>
                                <p:cTn id="72" presetID="42" presetClass="entr" presetSubtype="0" fill="hold" grpId="0" nodeType="withEffect">
                                  <p:stCondLst>
                                    <p:cond delay="870"/>
                                  </p:stCondLst>
                                  <p:childTnLst>
                                    <p:set>
                                      <p:cBhvr>
                                        <p:cTn id="73" dur="1" fill="hold">
                                          <p:stCondLst>
                                            <p:cond delay="0"/>
                                          </p:stCondLst>
                                        </p:cTn>
                                        <p:tgtEl>
                                          <p:spTgt spid="117"/>
                                        </p:tgtEl>
                                        <p:attrNameLst>
                                          <p:attrName>style.visibility</p:attrName>
                                        </p:attrNameLst>
                                      </p:cBhvr>
                                      <p:to>
                                        <p:strVal val="visible"/>
                                      </p:to>
                                    </p:set>
                                    <p:animEffect transition="in" filter="fade">
                                      <p:cBhvr>
                                        <p:cTn id="74" dur="500"/>
                                        <p:tgtEl>
                                          <p:spTgt spid="117"/>
                                        </p:tgtEl>
                                      </p:cBhvr>
                                    </p:animEffect>
                                    <p:anim calcmode="lin" valueType="num">
                                      <p:cBhvr additive="base">
                                        <p:cTn id="75" dur="500" decel="100000" fill="hold"/>
                                        <p:tgtEl>
                                          <p:spTgt spid="117"/>
                                        </p:tgtEl>
                                        <p:attrNameLst>
                                          <p:attrName>ppt_y</p:attrName>
                                        </p:attrNameLst>
                                      </p:cBhvr>
                                      <p:tavLst>
                                        <p:tav tm="0">
                                          <p:val>
                                            <p:strVal val="#ppt_y+0.06"/>
                                          </p:val>
                                        </p:tav>
                                        <p:tav tm="100000">
                                          <p:val>
                                            <p:strVal val="#ppt_y"/>
                                          </p:val>
                                        </p:tav>
                                      </p:tavLst>
                                    </p:anim>
                                  </p:childTnLst>
                                </p:cTn>
                              </p:par>
                              <p:par>
                                <p:cTn id="76" presetID="42" presetClass="entr" presetSubtype="0" fill="hold" grpId="0" nodeType="withEffect">
                                  <p:stCondLst>
                                    <p:cond delay="870"/>
                                  </p:stCondLst>
                                  <p:childTnLst>
                                    <p:set>
                                      <p:cBhvr>
                                        <p:cTn id="77" dur="1" fill="hold">
                                          <p:stCondLst>
                                            <p:cond delay="0"/>
                                          </p:stCondLst>
                                        </p:cTn>
                                        <p:tgtEl>
                                          <p:spTgt spid="118"/>
                                        </p:tgtEl>
                                        <p:attrNameLst>
                                          <p:attrName>style.visibility</p:attrName>
                                        </p:attrNameLst>
                                      </p:cBhvr>
                                      <p:to>
                                        <p:strVal val="visible"/>
                                      </p:to>
                                    </p:set>
                                    <p:animEffect transition="in" filter="fade">
                                      <p:cBhvr>
                                        <p:cTn id="78" dur="500"/>
                                        <p:tgtEl>
                                          <p:spTgt spid="118"/>
                                        </p:tgtEl>
                                      </p:cBhvr>
                                    </p:animEffect>
                                    <p:anim calcmode="lin" valueType="num">
                                      <p:cBhvr additive="base">
                                        <p:cTn id="79" dur="500" decel="100000" fill="hold"/>
                                        <p:tgtEl>
                                          <p:spTgt spid="118"/>
                                        </p:tgtEl>
                                        <p:attrNameLst>
                                          <p:attrName>ppt_y</p:attrName>
                                        </p:attrNameLst>
                                      </p:cBhvr>
                                      <p:tavLst>
                                        <p:tav tm="0">
                                          <p:val>
                                            <p:strVal val="#ppt_y+0.06"/>
                                          </p:val>
                                        </p:tav>
                                        <p:tav tm="100000">
                                          <p:val>
                                            <p:strVal val="#ppt_y"/>
                                          </p:val>
                                        </p:tav>
                                      </p:tavLst>
                                    </p:anim>
                                  </p:childTnLst>
                                </p:cTn>
                              </p:par>
                              <p:par>
                                <p:cTn id="80" presetID="42" presetClass="entr" presetSubtype="0" fill="hold" grpId="0" nodeType="withEffect">
                                  <p:stCondLst>
                                    <p:cond delay="980"/>
                                  </p:stCondLst>
                                  <p:childTnLst>
                                    <p:set>
                                      <p:cBhvr>
                                        <p:cTn id="81" dur="1" fill="hold">
                                          <p:stCondLst>
                                            <p:cond delay="0"/>
                                          </p:stCondLst>
                                        </p:cTn>
                                        <p:tgtEl>
                                          <p:spTgt spid="119"/>
                                        </p:tgtEl>
                                        <p:attrNameLst>
                                          <p:attrName>style.visibility</p:attrName>
                                        </p:attrNameLst>
                                      </p:cBhvr>
                                      <p:to>
                                        <p:strVal val="visible"/>
                                      </p:to>
                                    </p:set>
                                    <p:animEffect transition="in" filter="fade">
                                      <p:cBhvr>
                                        <p:cTn id="82" dur="500"/>
                                        <p:tgtEl>
                                          <p:spTgt spid="119"/>
                                        </p:tgtEl>
                                      </p:cBhvr>
                                    </p:animEffect>
                                    <p:anim calcmode="lin" valueType="num">
                                      <p:cBhvr additive="base">
                                        <p:cTn id="83" dur="500" decel="100000" fill="hold"/>
                                        <p:tgtEl>
                                          <p:spTgt spid="119"/>
                                        </p:tgtEl>
                                        <p:attrNameLst>
                                          <p:attrName>ppt_y</p:attrName>
                                        </p:attrNameLst>
                                      </p:cBhvr>
                                      <p:tavLst>
                                        <p:tav tm="0">
                                          <p:val>
                                            <p:strVal val="#ppt_y+0.06"/>
                                          </p:val>
                                        </p:tav>
                                        <p:tav tm="100000">
                                          <p:val>
                                            <p:strVal val="#ppt_y"/>
                                          </p:val>
                                        </p:tav>
                                      </p:tavLst>
                                    </p:anim>
                                  </p:childTnLst>
                                </p:cTn>
                              </p:par>
                              <p:par>
                                <p:cTn id="84" presetID="42" presetClass="entr" presetSubtype="0" fill="hold" grpId="0" nodeType="withEffect">
                                  <p:stCondLst>
                                    <p:cond delay="980"/>
                                  </p:stCondLst>
                                  <p:childTnLst>
                                    <p:set>
                                      <p:cBhvr>
                                        <p:cTn id="85" dur="1" fill="hold">
                                          <p:stCondLst>
                                            <p:cond delay="0"/>
                                          </p:stCondLst>
                                        </p:cTn>
                                        <p:tgtEl>
                                          <p:spTgt spid="120"/>
                                        </p:tgtEl>
                                        <p:attrNameLst>
                                          <p:attrName>style.visibility</p:attrName>
                                        </p:attrNameLst>
                                      </p:cBhvr>
                                      <p:to>
                                        <p:strVal val="visible"/>
                                      </p:to>
                                    </p:set>
                                    <p:animEffect transition="in" filter="fade">
                                      <p:cBhvr>
                                        <p:cTn id="86" dur="500"/>
                                        <p:tgtEl>
                                          <p:spTgt spid="120"/>
                                        </p:tgtEl>
                                      </p:cBhvr>
                                    </p:animEffect>
                                    <p:anim calcmode="lin" valueType="num">
                                      <p:cBhvr additive="base">
                                        <p:cTn id="87" dur="500" decel="100000" fill="hold"/>
                                        <p:tgtEl>
                                          <p:spTgt spid="120"/>
                                        </p:tgtEl>
                                        <p:attrNameLst>
                                          <p:attrName>ppt_y</p:attrName>
                                        </p:attrNameLst>
                                      </p:cBhvr>
                                      <p:tavLst>
                                        <p:tav tm="0">
                                          <p:val>
                                            <p:strVal val="#ppt_y+0.06"/>
                                          </p:val>
                                        </p:tav>
                                        <p:tav tm="100000">
                                          <p:val>
                                            <p:strVal val="#ppt_y"/>
                                          </p:val>
                                        </p:tav>
                                      </p:tavLst>
                                    </p:anim>
                                  </p:childTnLst>
                                </p:cTn>
                              </p:par>
                              <p:par>
                                <p:cTn id="88" presetID="42" presetClass="entr" presetSubtype="0" fill="hold" grpId="0" nodeType="withEffect">
                                  <p:stCondLst>
                                    <p:cond delay="980"/>
                                  </p:stCondLst>
                                  <p:childTnLst>
                                    <p:set>
                                      <p:cBhvr>
                                        <p:cTn id="89" dur="1" fill="hold">
                                          <p:stCondLst>
                                            <p:cond delay="0"/>
                                          </p:stCondLst>
                                        </p:cTn>
                                        <p:tgtEl>
                                          <p:spTgt spid="121"/>
                                        </p:tgtEl>
                                        <p:attrNameLst>
                                          <p:attrName>style.visibility</p:attrName>
                                        </p:attrNameLst>
                                      </p:cBhvr>
                                      <p:to>
                                        <p:strVal val="visible"/>
                                      </p:to>
                                    </p:set>
                                    <p:animEffect transition="in" filter="fade">
                                      <p:cBhvr>
                                        <p:cTn id="90" dur="500"/>
                                        <p:tgtEl>
                                          <p:spTgt spid="121"/>
                                        </p:tgtEl>
                                      </p:cBhvr>
                                    </p:animEffect>
                                    <p:anim calcmode="lin" valueType="num">
                                      <p:cBhvr additive="base">
                                        <p:cTn id="91" dur="500" decel="100000" fill="hold"/>
                                        <p:tgtEl>
                                          <p:spTgt spid="121"/>
                                        </p:tgtEl>
                                        <p:attrNameLst>
                                          <p:attrName>ppt_y</p:attrName>
                                        </p:attrNameLst>
                                      </p:cBhvr>
                                      <p:tavLst>
                                        <p:tav tm="0">
                                          <p:val>
                                            <p:strVal val="#ppt_y+0.06"/>
                                          </p:val>
                                        </p:tav>
                                        <p:tav tm="100000">
                                          <p:val>
                                            <p:strVal val="#ppt_y"/>
                                          </p:val>
                                        </p:tav>
                                      </p:tavLst>
                                    </p:anim>
                                  </p:childTnLst>
                                </p:cTn>
                              </p:par>
                              <p:par>
                                <p:cTn id="92" presetID="10" presetClass="entr" presetSubtype="0" fill="hold" grpId="0" nodeType="withEffect">
                                  <p:stCondLst>
                                    <p:cond delay="1130"/>
                                  </p:stCondLst>
                                  <p:childTnLst>
                                    <p:set>
                                      <p:cBhvr>
                                        <p:cTn id="93" dur="1" fill="hold">
                                          <p:stCondLst>
                                            <p:cond delay="0"/>
                                          </p:stCondLst>
                                        </p:cTn>
                                        <p:tgtEl>
                                          <p:spTgt spid="122"/>
                                        </p:tgtEl>
                                        <p:attrNameLst>
                                          <p:attrName>style.visibility</p:attrName>
                                        </p:attrNameLst>
                                      </p:cBhvr>
                                      <p:to>
                                        <p:strVal val="visible"/>
                                      </p:to>
                                    </p:set>
                                    <p:animEffect transition="in" filter="fade">
                                      <p:cBhvr>
                                        <p:cTn id="94" dur="500"/>
                                        <p:tgtEl>
                                          <p:spTgt spid="122"/>
                                        </p:tgtEl>
                                      </p:cBhvr>
                                    </p:animEffect>
                                  </p:childTnLst>
                                </p:cTn>
                              </p:par>
                              <p:par>
                                <p:cTn id="95" presetID="10" presetClass="entr" presetSubtype="0" fill="hold" grpId="0" nodeType="withEffect">
                                  <p:stCondLst>
                                    <p:cond delay="1130"/>
                                  </p:stCondLst>
                                  <p:childTnLst>
                                    <p:set>
                                      <p:cBhvr>
                                        <p:cTn id="96" dur="1" fill="hold">
                                          <p:stCondLst>
                                            <p:cond delay="0"/>
                                          </p:stCondLst>
                                        </p:cTn>
                                        <p:tgtEl>
                                          <p:spTgt spid="123"/>
                                        </p:tgtEl>
                                        <p:attrNameLst>
                                          <p:attrName>style.visibility</p:attrName>
                                        </p:attrNameLst>
                                      </p:cBhvr>
                                      <p:to>
                                        <p:strVal val="visible"/>
                                      </p:to>
                                    </p:set>
                                    <p:animEffect transition="in" filter="fade">
                                      <p:cBhvr>
                                        <p:cTn id="97" dur="500"/>
                                        <p:tgtEl>
                                          <p:spTgt spid="123"/>
                                        </p:tgtEl>
                                      </p:cBhvr>
                                    </p:animEffect>
                                  </p:childTnLst>
                                </p:cTn>
                              </p:par>
                              <p:par>
                                <p:cTn id="98" presetID="10" presetClass="entr" presetSubtype="0" fill="hold" grpId="0" nodeType="withEffect">
                                  <p:stCondLst>
                                    <p:cond delay="1130"/>
                                  </p:stCondLst>
                                  <p:childTnLst>
                                    <p:set>
                                      <p:cBhvr>
                                        <p:cTn id="99" dur="1" fill="hold">
                                          <p:stCondLst>
                                            <p:cond delay="0"/>
                                          </p:stCondLst>
                                        </p:cTn>
                                        <p:tgtEl>
                                          <p:spTgt spid="124"/>
                                        </p:tgtEl>
                                        <p:attrNameLst>
                                          <p:attrName>style.visibility</p:attrName>
                                        </p:attrNameLst>
                                      </p:cBhvr>
                                      <p:to>
                                        <p:strVal val="visible"/>
                                      </p:to>
                                    </p:set>
                                    <p:animEffect transition="in" filter="fade">
                                      <p:cBhvr>
                                        <p:cTn id="100" dur="500"/>
                                        <p:tgtEl>
                                          <p:spTgt spid="124"/>
                                        </p:tgtEl>
                                      </p:cBhvr>
                                    </p:animEffect>
                                  </p:childTnLst>
                                </p:cTn>
                              </p:par>
                              <p:par>
                                <p:cTn id="101" presetID="10" presetClass="entr" presetSubtype="0" fill="hold" grpId="0" nodeType="withEffect">
                                  <p:stCondLst>
                                    <p:cond delay="1130"/>
                                  </p:stCondLst>
                                  <p:childTnLst>
                                    <p:set>
                                      <p:cBhvr>
                                        <p:cTn id="102" dur="1" fill="hold">
                                          <p:stCondLst>
                                            <p:cond delay="0"/>
                                          </p:stCondLst>
                                        </p:cTn>
                                        <p:tgtEl>
                                          <p:spTgt spid="125"/>
                                        </p:tgtEl>
                                        <p:attrNameLst>
                                          <p:attrName>style.visibility</p:attrName>
                                        </p:attrNameLst>
                                      </p:cBhvr>
                                      <p:to>
                                        <p:strVal val="visible"/>
                                      </p:to>
                                    </p:set>
                                    <p:animEffect transition="in" filter="fade">
                                      <p:cBhvr>
                                        <p:cTn id="103" dur="500"/>
                                        <p:tgtEl>
                                          <p:spTgt spid="125"/>
                                        </p:tgtEl>
                                      </p:cBhvr>
                                    </p:animEffect>
                                  </p:childTnLst>
                                </p:cTn>
                              </p:par>
                              <p:par>
                                <p:cTn id="104" presetID="10" presetClass="entr" presetSubtype="0" fill="hold" grpId="0" nodeType="withEffect">
                                  <p:stCondLst>
                                    <p:cond delay="1130"/>
                                  </p:stCondLst>
                                  <p:childTnLst>
                                    <p:set>
                                      <p:cBhvr>
                                        <p:cTn id="105" dur="1" fill="hold">
                                          <p:stCondLst>
                                            <p:cond delay="0"/>
                                          </p:stCondLst>
                                        </p:cTn>
                                        <p:tgtEl>
                                          <p:spTgt spid="126"/>
                                        </p:tgtEl>
                                        <p:attrNameLst>
                                          <p:attrName>style.visibility</p:attrName>
                                        </p:attrNameLst>
                                      </p:cBhvr>
                                      <p:to>
                                        <p:strVal val="visible"/>
                                      </p:to>
                                    </p:set>
                                    <p:animEffect transition="in" filter="fade">
                                      <p:cBhvr>
                                        <p:cTn id="106" dur="500"/>
                                        <p:tgtEl>
                                          <p:spTgt spid="126"/>
                                        </p:tgtEl>
                                      </p:cBhvr>
                                    </p:animEffect>
                                  </p:childTnLst>
                                </p:cTn>
                              </p:par>
                              <p:par>
                                <p:cTn id="107" presetID="10" presetClass="entr" presetSubtype="0" fill="hold" grpId="0" nodeType="withEffect">
                                  <p:stCondLst>
                                    <p:cond delay="1130"/>
                                  </p:stCondLst>
                                  <p:childTnLst>
                                    <p:set>
                                      <p:cBhvr>
                                        <p:cTn id="108" dur="1" fill="hold">
                                          <p:stCondLst>
                                            <p:cond delay="0"/>
                                          </p:stCondLst>
                                        </p:cTn>
                                        <p:tgtEl>
                                          <p:spTgt spid="127"/>
                                        </p:tgtEl>
                                        <p:attrNameLst>
                                          <p:attrName>style.visibility</p:attrName>
                                        </p:attrNameLst>
                                      </p:cBhvr>
                                      <p:to>
                                        <p:strVal val="visible"/>
                                      </p:to>
                                    </p:set>
                                    <p:animEffect transition="in" filter="fade">
                                      <p:cBhvr>
                                        <p:cTn id="109"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SCENE 1</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228</a:t>
            </a:r>
            <a:endParaRPr lang="en-US" sz="850" dirty="0"/>
          </a:p>
        </p:txBody>
      </p:sp>
      <p:sp>
        <p:nvSpPr>
          <p:cNvPr id="101" name="s101"/>
          <p:cNvSpPr txBox="1"/>
          <p:nvPr/>
        </p:nvSpPr>
        <p:spPr>
          <a:xfrm>
            <a:off x="497434" y="1051560"/>
            <a:ext cx="2743200" cy="12801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8800" b="1" dirty="0">
                <a:solidFill>
                  <a:srgbClr val="60A5FA"/>
                </a:solidFill>
                <a:latin typeface="Segoe UI"/>
                <a:ea typeface="Segoe UI"/>
                <a:cs typeface="Segoe UI"/>
              </a:rPr>
              <a:t>01</a:t>
            </a:r>
            <a:endParaRPr lang="en-US" sz="8800" dirty="0"/>
          </a:p>
        </p:txBody>
      </p:sp>
      <p:sp>
        <p:nvSpPr>
          <p:cNvPr id="102" name="s102"/>
          <p:cNvSpPr txBox="1"/>
          <p:nvPr/>
        </p:nvSpPr>
        <p:spPr>
          <a:xfrm>
            <a:off x="543154" y="2331720"/>
            <a:ext cx="11088014" cy="7772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A New Team Is Formed</a:t>
            </a:r>
            <a:endParaRPr lang="en-US" sz="4000" dirty="0"/>
          </a:p>
        </p:txBody>
      </p:sp>
      <p:sp>
        <p:nvSpPr>
          <p:cNvPr id="103" name="s103"/>
          <p:cNvSpPr txBox="1"/>
          <p:nvPr/>
        </p:nvSpPr>
        <p:spPr>
          <a:xfrm>
            <a:off x="543154" y="3108960"/>
            <a:ext cx="1108801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800" b="0" dirty="0">
                <a:solidFill>
                  <a:srgbClr val="CBD5E1"/>
                </a:solidFill>
                <a:latin typeface="Segoe UI"/>
                <a:ea typeface="Segoe UI"/>
                <a:cs typeface="Segoe UI"/>
              </a:rPr>
              <a:t>Six people meet for the first time. Nobody knows the client, the product, or the team's speed.</a:t>
            </a:r>
            <a:endParaRPr lang="en-US" sz="1800" dirty="0"/>
          </a:p>
        </p:txBody>
      </p:sp>
      <p:sp>
        <p:nvSpPr>
          <p:cNvPr id="104" name="s104"/>
          <p:cNvSpPr txBox="1"/>
          <p:nvPr/>
        </p:nvSpPr>
        <p:spPr>
          <a:xfrm>
            <a:off x="543154" y="393192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IN THIS SCENE</a:t>
            </a:r>
            <a:endParaRPr lang="en-US" sz="1100" dirty="0"/>
          </a:p>
        </p:txBody>
      </p:sp>
      <p:sp>
        <p:nvSpPr>
          <p:cNvPr id="105" name="s105"/>
          <p:cNvSpPr/>
          <p:nvPr/>
        </p:nvSpPr>
        <p:spPr>
          <a:xfrm>
            <a:off x="543154" y="4251960"/>
            <a:ext cx="2651760" cy="548640"/>
          </a:xfrm>
          <a:prstGeom prst="roundRect">
            <a:avLst>
              <a:gd name="adj" fmla="val 20000"/>
            </a:avLst>
          </a:prstGeom>
          <a:solidFill>
            <a:srgbClr val="60A5FA">
              <a:alpha val="14000"/>
            </a:srgbClr>
          </a:solidFill>
          <a:ln w="12700">
            <a:solidFill>
              <a:srgbClr val="60A5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who is on the team</a:t>
            </a:r>
            <a:endParaRPr lang="en-US" sz="1350" dirty="0"/>
          </a:p>
        </p:txBody>
      </p:sp>
      <p:sp>
        <p:nvSpPr>
          <p:cNvPr id="106" name="s106"/>
          <p:cNvSpPr/>
          <p:nvPr/>
        </p:nvSpPr>
        <p:spPr>
          <a:xfrm>
            <a:off x="3377794" y="4251960"/>
            <a:ext cx="2651760" cy="548640"/>
          </a:xfrm>
          <a:prstGeom prst="roundRect">
            <a:avLst>
              <a:gd name="adj" fmla="val 20000"/>
            </a:avLst>
          </a:prstGeom>
          <a:solidFill>
            <a:srgbClr val="60A5FA">
              <a:alpha val="14000"/>
            </a:srgbClr>
          </a:solidFill>
          <a:ln w="12700">
            <a:solidFill>
              <a:srgbClr val="60A5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what "Developers" means</a:t>
            </a:r>
            <a:endParaRPr lang="en-US" sz="1350" dirty="0"/>
          </a:p>
        </p:txBody>
      </p:sp>
      <p:sp>
        <p:nvSpPr>
          <p:cNvPr id="107" name="s107"/>
          <p:cNvSpPr/>
          <p:nvPr/>
        </p:nvSpPr>
        <p:spPr>
          <a:xfrm>
            <a:off x="543154" y="5669280"/>
            <a:ext cx="1042965" cy="457200"/>
          </a:xfrm>
          <a:prstGeom prst="roundRect">
            <a:avLst>
              <a:gd name="adj" fmla="val 20000"/>
            </a:avLst>
          </a:prstGeom>
          <a:solidFill>
            <a:srgbClr val="60A5FA"/>
          </a:solidFill>
          <a:ln w="1905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1</a:t>
            </a:r>
            <a:endParaRPr lang="en-US" sz="1300" dirty="0"/>
          </a:p>
        </p:txBody>
      </p:sp>
      <p:sp>
        <p:nvSpPr>
          <p:cNvPr id="108" name="s108"/>
          <p:cNvSpPr/>
          <p:nvPr/>
        </p:nvSpPr>
        <p:spPr>
          <a:xfrm>
            <a:off x="1659270"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2</a:t>
            </a:r>
            <a:endParaRPr lang="en-US" sz="1300" dirty="0"/>
          </a:p>
        </p:txBody>
      </p:sp>
      <p:sp>
        <p:nvSpPr>
          <p:cNvPr id="109" name="s109"/>
          <p:cNvSpPr/>
          <p:nvPr/>
        </p:nvSpPr>
        <p:spPr>
          <a:xfrm>
            <a:off x="277538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3</a:t>
            </a:r>
            <a:endParaRPr lang="en-US" sz="1300" dirty="0"/>
          </a:p>
        </p:txBody>
      </p:sp>
      <p:sp>
        <p:nvSpPr>
          <p:cNvPr id="110" name="s110"/>
          <p:cNvSpPr/>
          <p:nvPr/>
        </p:nvSpPr>
        <p:spPr>
          <a:xfrm>
            <a:off x="3891504"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4</a:t>
            </a:r>
            <a:endParaRPr lang="en-US" sz="1300" dirty="0"/>
          </a:p>
        </p:txBody>
      </p:sp>
      <p:sp>
        <p:nvSpPr>
          <p:cNvPr id="111" name="s111"/>
          <p:cNvSpPr/>
          <p:nvPr/>
        </p:nvSpPr>
        <p:spPr>
          <a:xfrm>
            <a:off x="5007620"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5</a:t>
            </a:r>
            <a:endParaRPr lang="en-US" sz="1300" dirty="0"/>
          </a:p>
        </p:txBody>
      </p:sp>
      <p:sp>
        <p:nvSpPr>
          <p:cNvPr id="112" name="s112"/>
          <p:cNvSpPr/>
          <p:nvPr/>
        </p:nvSpPr>
        <p:spPr>
          <a:xfrm>
            <a:off x="612373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6</a:t>
            </a:r>
            <a:endParaRPr lang="en-US" sz="1300" dirty="0"/>
          </a:p>
        </p:txBody>
      </p:sp>
      <p:sp>
        <p:nvSpPr>
          <p:cNvPr id="113" name="s113"/>
          <p:cNvSpPr/>
          <p:nvPr/>
        </p:nvSpPr>
        <p:spPr>
          <a:xfrm>
            <a:off x="723985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7</a:t>
            </a:r>
            <a:endParaRPr lang="en-US" sz="1300" dirty="0"/>
          </a:p>
        </p:txBody>
      </p:sp>
      <p:sp>
        <p:nvSpPr>
          <p:cNvPr id="114" name="s114"/>
          <p:cNvSpPr/>
          <p:nvPr/>
        </p:nvSpPr>
        <p:spPr>
          <a:xfrm>
            <a:off x="8355970"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8</a:t>
            </a:r>
            <a:endParaRPr lang="en-US" sz="1300" dirty="0"/>
          </a:p>
        </p:txBody>
      </p:sp>
      <p:sp>
        <p:nvSpPr>
          <p:cNvPr id="115" name="s115"/>
          <p:cNvSpPr/>
          <p:nvPr/>
        </p:nvSpPr>
        <p:spPr>
          <a:xfrm>
            <a:off x="947208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9</a:t>
            </a:r>
            <a:endParaRPr lang="en-US" sz="1300" dirty="0"/>
          </a:p>
        </p:txBody>
      </p:sp>
      <p:sp>
        <p:nvSpPr>
          <p:cNvPr id="116" name="s116"/>
          <p:cNvSpPr/>
          <p:nvPr/>
        </p:nvSpPr>
        <p:spPr>
          <a:xfrm>
            <a:off x="1058820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10</a:t>
            </a:r>
            <a:endParaRPr lang="en-US" sz="13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1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anim calcmode="lin" valueType="num">
                                      <p:cBhvr additive="base">
                                        <p:cTn id="15" dur="5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2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10" presetClass="entr" presetSubtype="0" fill="hold" grpId="0" nodeType="withEffect">
                                  <p:stCondLst>
                                    <p:cond delay="33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childTnLst>
                                </p:cTn>
                              </p:par>
                              <p:par>
                                <p:cTn id="23" presetID="42" presetClass="entr" presetSubtype="0" fill="hold" grpId="0" nodeType="withEffect">
                                  <p:stCondLst>
                                    <p:cond delay="44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55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10" presetClass="entr" presetSubtype="0" fill="hold" grpId="0" nodeType="withEffect">
                                  <p:stCondLst>
                                    <p:cond delay="65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childTnLst>
                                </p:cTn>
                              </p:par>
                              <p:par>
                                <p:cTn id="34" presetID="10" presetClass="entr" presetSubtype="0" fill="hold" grpId="0" nodeType="withEffect">
                                  <p:stCondLst>
                                    <p:cond delay="650"/>
                                  </p:stCondLst>
                                  <p:childTnLst>
                                    <p:set>
                                      <p:cBhvr>
                                        <p:cTn id="35" dur="1" fill="hold">
                                          <p:stCondLst>
                                            <p:cond delay="0"/>
                                          </p:stCondLst>
                                        </p:cTn>
                                        <p:tgtEl>
                                          <p:spTgt spid="108"/>
                                        </p:tgtEl>
                                        <p:attrNameLst>
                                          <p:attrName>style.visibility</p:attrName>
                                        </p:attrNameLst>
                                      </p:cBhvr>
                                      <p:to>
                                        <p:strVal val="visible"/>
                                      </p:to>
                                    </p:set>
                                    <p:animEffect transition="in" filter="fade">
                                      <p:cBhvr>
                                        <p:cTn id="36" dur="500"/>
                                        <p:tgtEl>
                                          <p:spTgt spid="108"/>
                                        </p:tgtEl>
                                      </p:cBhvr>
                                    </p:animEffect>
                                  </p:childTnLst>
                                </p:cTn>
                              </p:par>
                              <p:par>
                                <p:cTn id="37" presetID="10" presetClass="entr" presetSubtype="0" fill="hold" grpId="0" nodeType="withEffect">
                                  <p:stCondLst>
                                    <p:cond delay="65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childTnLst>
                                </p:cTn>
                              </p:par>
                              <p:par>
                                <p:cTn id="40" presetID="10" presetClass="entr" presetSubtype="0" fill="hold" grpId="0" nodeType="withEffect">
                                  <p:stCondLst>
                                    <p:cond delay="650"/>
                                  </p:stCondLst>
                                  <p:childTnLst>
                                    <p:set>
                                      <p:cBhvr>
                                        <p:cTn id="41" dur="1" fill="hold">
                                          <p:stCondLst>
                                            <p:cond delay="0"/>
                                          </p:stCondLst>
                                        </p:cTn>
                                        <p:tgtEl>
                                          <p:spTgt spid="110"/>
                                        </p:tgtEl>
                                        <p:attrNameLst>
                                          <p:attrName>style.visibility</p:attrName>
                                        </p:attrNameLst>
                                      </p:cBhvr>
                                      <p:to>
                                        <p:strVal val="visible"/>
                                      </p:to>
                                    </p:set>
                                    <p:animEffect transition="in" filter="fade">
                                      <p:cBhvr>
                                        <p:cTn id="42" dur="500"/>
                                        <p:tgtEl>
                                          <p:spTgt spid="110"/>
                                        </p:tgtEl>
                                      </p:cBhvr>
                                    </p:animEffect>
                                  </p:childTnLst>
                                </p:cTn>
                              </p:par>
                              <p:par>
                                <p:cTn id="43" presetID="10" presetClass="entr" presetSubtype="0" fill="hold" grpId="0" nodeType="withEffect">
                                  <p:stCondLst>
                                    <p:cond delay="650"/>
                                  </p:stCondLst>
                                  <p:childTnLst>
                                    <p:set>
                                      <p:cBhvr>
                                        <p:cTn id="44" dur="1" fill="hold">
                                          <p:stCondLst>
                                            <p:cond delay="0"/>
                                          </p:stCondLst>
                                        </p:cTn>
                                        <p:tgtEl>
                                          <p:spTgt spid="111"/>
                                        </p:tgtEl>
                                        <p:attrNameLst>
                                          <p:attrName>style.visibility</p:attrName>
                                        </p:attrNameLst>
                                      </p:cBhvr>
                                      <p:to>
                                        <p:strVal val="visible"/>
                                      </p:to>
                                    </p:set>
                                    <p:animEffect transition="in" filter="fade">
                                      <p:cBhvr>
                                        <p:cTn id="45" dur="500"/>
                                        <p:tgtEl>
                                          <p:spTgt spid="111"/>
                                        </p:tgtEl>
                                      </p:cBhvr>
                                    </p:animEffect>
                                  </p:childTnLst>
                                </p:cTn>
                              </p:par>
                              <p:par>
                                <p:cTn id="46" presetID="10" presetClass="entr" presetSubtype="0" fill="hold" grpId="0" nodeType="withEffect">
                                  <p:stCondLst>
                                    <p:cond delay="650"/>
                                  </p:stCondLst>
                                  <p:childTnLst>
                                    <p:set>
                                      <p:cBhvr>
                                        <p:cTn id="47" dur="1" fill="hold">
                                          <p:stCondLst>
                                            <p:cond delay="0"/>
                                          </p:stCondLst>
                                        </p:cTn>
                                        <p:tgtEl>
                                          <p:spTgt spid="112"/>
                                        </p:tgtEl>
                                        <p:attrNameLst>
                                          <p:attrName>style.visibility</p:attrName>
                                        </p:attrNameLst>
                                      </p:cBhvr>
                                      <p:to>
                                        <p:strVal val="visible"/>
                                      </p:to>
                                    </p:set>
                                    <p:animEffect transition="in" filter="fade">
                                      <p:cBhvr>
                                        <p:cTn id="48" dur="500"/>
                                        <p:tgtEl>
                                          <p:spTgt spid="112"/>
                                        </p:tgtEl>
                                      </p:cBhvr>
                                    </p:animEffect>
                                  </p:childTnLst>
                                </p:cTn>
                              </p:par>
                              <p:par>
                                <p:cTn id="49" presetID="10" presetClass="entr" presetSubtype="0" fill="hold" grpId="0" nodeType="withEffect">
                                  <p:stCondLst>
                                    <p:cond delay="65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childTnLst>
                                </p:cTn>
                              </p:par>
                              <p:par>
                                <p:cTn id="52" presetID="10" presetClass="entr" presetSubtype="0" fill="hold" grpId="0" nodeType="withEffect">
                                  <p:stCondLst>
                                    <p:cond delay="650"/>
                                  </p:stCondLst>
                                  <p:childTnLst>
                                    <p:set>
                                      <p:cBhvr>
                                        <p:cTn id="53" dur="1" fill="hold">
                                          <p:stCondLst>
                                            <p:cond delay="0"/>
                                          </p:stCondLst>
                                        </p:cTn>
                                        <p:tgtEl>
                                          <p:spTgt spid="114"/>
                                        </p:tgtEl>
                                        <p:attrNameLst>
                                          <p:attrName>style.visibility</p:attrName>
                                        </p:attrNameLst>
                                      </p:cBhvr>
                                      <p:to>
                                        <p:strVal val="visible"/>
                                      </p:to>
                                    </p:set>
                                    <p:animEffect transition="in" filter="fade">
                                      <p:cBhvr>
                                        <p:cTn id="54" dur="500"/>
                                        <p:tgtEl>
                                          <p:spTgt spid="114"/>
                                        </p:tgtEl>
                                      </p:cBhvr>
                                    </p:animEffect>
                                  </p:childTnLst>
                                </p:cTn>
                              </p:par>
                              <p:par>
                                <p:cTn id="55" presetID="10" presetClass="entr" presetSubtype="0" fill="hold" grpId="0" nodeType="withEffect">
                                  <p:stCondLst>
                                    <p:cond delay="650"/>
                                  </p:stCondLst>
                                  <p:childTnLst>
                                    <p:set>
                                      <p:cBhvr>
                                        <p:cTn id="56" dur="1" fill="hold">
                                          <p:stCondLst>
                                            <p:cond delay="0"/>
                                          </p:stCondLst>
                                        </p:cTn>
                                        <p:tgtEl>
                                          <p:spTgt spid="115"/>
                                        </p:tgtEl>
                                        <p:attrNameLst>
                                          <p:attrName>style.visibility</p:attrName>
                                        </p:attrNameLst>
                                      </p:cBhvr>
                                      <p:to>
                                        <p:strVal val="visible"/>
                                      </p:to>
                                    </p:set>
                                    <p:animEffect transition="in" filter="fade">
                                      <p:cBhvr>
                                        <p:cTn id="57" dur="500"/>
                                        <p:tgtEl>
                                          <p:spTgt spid="115"/>
                                        </p:tgtEl>
                                      </p:cBhvr>
                                    </p:animEffect>
                                  </p:childTnLst>
                                </p:cTn>
                              </p:par>
                              <p:par>
                                <p:cTn id="58" presetID="10" presetClass="entr" presetSubtype="0" fill="hold" grpId="0" nodeType="withEffect">
                                  <p:stCondLst>
                                    <p:cond delay="650"/>
                                  </p:stCondLst>
                                  <p:childTnLst>
                                    <p:set>
                                      <p:cBhvr>
                                        <p:cTn id="59" dur="1" fill="hold">
                                          <p:stCondLst>
                                            <p:cond delay="0"/>
                                          </p:stCondLst>
                                        </p:cTn>
                                        <p:tgtEl>
                                          <p:spTgt spid="116"/>
                                        </p:tgtEl>
                                        <p:attrNameLst>
                                          <p:attrName>style.visibility</p:attrName>
                                        </p:attrNameLst>
                                      </p:cBhvr>
                                      <p:to>
                                        <p:strVal val="visible"/>
                                      </p:to>
                                    </p:set>
                                    <p:animEffect transition="in" filter="fade">
                                      <p:cBhvr>
                                        <p:cTn id="60" dur="5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SCRUM</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Scrum: How We Apply Agile in Real Work</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Agile tells us WHAT we believe. Scrum gives us a concrete way to DO it, every two weeks.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173</a:t>
            </a:r>
            <a:endParaRPr lang="en-US" sz="850" dirty="0"/>
          </a:p>
        </p:txBody>
      </p:sp>
      <p:sp>
        <p:nvSpPr>
          <p:cNvPr id="101" name="s101"/>
          <p:cNvSpPr/>
          <p:nvPr/>
        </p:nvSpPr>
        <p:spPr>
          <a:xfrm>
            <a:off x="543154" y="1828800"/>
            <a:ext cx="5406847" cy="822960"/>
          </a:xfrm>
          <a:prstGeom prst="roundRect">
            <a:avLst>
              <a:gd name="adj" fmla="val 12000"/>
            </a:avLst>
          </a:prstGeom>
          <a:solidFill>
            <a:srgbClr val="34D399">
              <a:alpha val="12000"/>
            </a:srgbClr>
          </a:solidFill>
          <a:ln w="12700">
            <a:solidFill>
              <a:srgbClr val="34D399"/>
            </a:solidFill>
            <a:prstDash val="solid"/>
          </a:ln>
        </p:spPr>
        <p:txBody>
          <a:bodyPr wrap="square" lIns="228600" tIns="45720" rIns="182880" bIns="45720" rtlCol="0" anchor="ctr">
            <a:noAutofit/>
          </a:bodyPr>
          <a:lstStyle/>
          <a:p>
            <a:pPr marL="0" indent="0" algn="l">
              <a:spcBef>
                <a:spcPts val="0"/>
              </a:spcBef>
              <a:spcAft>
                <a:spcPts val="0"/>
              </a:spcAft>
              <a:buNone/>
            </a:pPr>
            <a:r>
              <a:rPr lang="en-US" sz="1700" b="1" dirty="0">
                <a:solidFill>
                  <a:srgbClr val="34D399"/>
                </a:solidFill>
                <a:latin typeface="Segoe UI"/>
                <a:ea typeface="Segoe UI"/>
                <a:cs typeface="Segoe UI"/>
              </a:rPr>
              <a:t>AGILE  </a:t>
            </a:r>
            <a:r>
              <a:rPr lang="en-US" sz="1700" b="0" dirty="0">
                <a:solidFill>
                  <a:srgbClr val="FFFFFF"/>
                </a:solidFill>
                <a:latin typeface="Segoe UI"/>
                <a:ea typeface="Segoe UI"/>
                <a:cs typeface="Segoe UI"/>
              </a:rPr>
              <a:t>= the mindset</a:t>
            </a:r>
            <a:endParaRPr lang="en-US" sz="1700" dirty="0"/>
          </a:p>
          <a:p>
            <a:pPr marL="0" indent="0" algn="l">
              <a:spcBef>
                <a:spcPts val="200"/>
              </a:spcBef>
              <a:spcAft>
                <a:spcPts val="0"/>
              </a:spcAft>
              <a:buNone/>
            </a:pPr>
            <a:r>
              <a:rPr lang="en-US" sz="1250" b="0" dirty="0">
                <a:solidFill>
                  <a:srgbClr val="94A3B8"/>
                </a:solidFill>
                <a:latin typeface="Segoe UI"/>
                <a:ea typeface="Segoe UI"/>
                <a:cs typeface="Segoe UI"/>
              </a:rPr>
              <a:t>4 values + 12 principles: WHAT we believe</a:t>
            </a:r>
            <a:endParaRPr lang="en-US" sz="1250" dirty="0"/>
          </a:p>
        </p:txBody>
      </p:sp>
      <p:sp>
        <p:nvSpPr>
          <p:cNvPr id="102" name="s102"/>
          <p:cNvSpPr/>
          <p:nvPr/>
        </p:nvSpPr>
        <p:spPr>
          <a:xfrm>
            <a:off x="6224321" y="1828800"/>
            <a:ext cx="5406847" cy="822960"/>
          </a:xfrm>
          <a:prstGeom prst="roundRect">
            <a:avLst>
              <a:gd name="adj" fmla="val 12000"/>
            </a:avLst>
          </a:prstGeom>
          <a:solidFill>
            <a:srgbClr val="60A5FA">
              <a:alpha val="14000"/>
            </a:srgbClr>
          </a:solidFill>
          <a:ln w="12700">
            <a:solidFill>
              <a:srgbClr val="60A5FA"/>
            </a:solidFill>
            <a:prstDash val="solid"/>
          </a:ln>
        </p:spPr>
        <p:txBody>
          <a:bodyPr wrap="square" lIns="228600" tIns="45720" rIns="182880" bIns="45720" rtlCol="0" anchor="ctr">
            <a:noAutofit/>
          </a:bodyPr>
          <a:lstStyle/>
          <a:p>
            <a:pPr marL="0" indent="0" algn="l">
              <a:spcBef>
                <a:spcPts val="0"/>
              </a:spcBef>
              <a:spcAft>
                <a:spcPts val="0"/>
              </a:spcAft>
              <a:buNone/>
            </a:pPr>
            <a:r>
              <a:rPr lang="en-US" sz="1700" b="1" dirty="0">
                <a:solidFill>
                  <a:srgbClr val="60A5FA"/>
                </a:solidFill>
                <a:latin typeface="Segoe UI"/>
                <a:ea typeface="Segoe UI"/>
                <a:cs typeface="Segoe UI"/>
              </a:rPr>
              <a:t>SCRUM  </a:t>
            </a:r>
            <a:r>
              <a:rPr lang="en-US" sz="1700" b="0" dirty="0">
                <a:solidFill>
                  <a:srgbClr val="FFFFFF"/>
                </a:solidFill>
                <a:latin typeface="Segoe UI"/>
                <a:ea typeface="Segoe UI"/>
                <a:cs typeface="Segoe UI"/>
              </a:rPr>
              <a:t>= a framework</a:t>
            </a:r>
            <a:endParaRPr lang="en-US" sz="1700" dirty="0"/>
          </a:p>
          <a:p>
            <a:pPr marL="0" indent="0" algn="l">
              <a:spcBef>
                <a:spcPts val="200"/>
              </a:spcBef>
              <a:spcAft>
                <a:spcPts val="0"/>
              </a:spcAft>
              <a:buNone/>
            </a:pPr>
            <a:r>
              <a:rPr lang="en-US" sz="1250" b="0" dirty="0">
                <a:solidFill>
                  <a:srgbClr val="94A3B8"/>
                </a:solidFill>
                <a:latin typeface="Segoe UI"/>
                <a:ea typeface="Segoe UI"/>
                <a:cs typeface="Segoe UI"/>
              </a:rPr>
              <a:t>roles + events + artifacts: HOW we do it</a:t>
            </a:r>
            <a:endParaRPr lang="en-US" sz="1250" dirty="0"/>
          </a:p>
        </p:txBody>
      </p:sp>
      <p:sp>
        <p:nvSpPr>
          <p:cNvPr id="103" name="s103"/>
          <p:cNvSpPr/>
          <p:nvPr/>
        </p:nvSpPr>
        <p:spPr>
          <a:xfrm>
            <a:off x="543154" y="2788920"/>
            <a:ext cx="5406847" cy="393192"/>
          </a:xfrm>
          <a:prstGeom prst="roundRect">
            <a:avLst>
              <a:gd name="adj" fmla="val 20000"/>
            </a:avLst>
          </a:prstGeom>
          <a:solidFill>
            <a:srgbClr val="111B2E"/>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0" dirty="0">
                <a:solidFill>
                  <a:srgbClr val="FFFFFF"/>
                </a:solidFill>
                <a:latin typeface="Segoe UI"/>
                <a:ea typeface="Segoe UI"/>
                <a:cs typeface="Segoe UI"/>
              </a:rPr>
              <a:t>Deliver working software frequently</a:t>
            </a:r>
            <a:endParaRPr lang="en-US" sz="1250" dirty="0"/>
          </a:p>
        </p:txBody>
      </p:sp>
      <p:sp>
        <p:nvSpPr>
          <p:cNvPr id="104" name="s104"/>
          <p:cNvSpPr txBox="1"/>
          <p:nvPr/>
        </p:nvSpPr>
        <p:spPr>
          <a:xfrm>
            <a:off x="5968289" y="2788920"/>
            <a:ext cx="237744" cy="393192"/>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400" b="1" dirty="0">
                <a:solidFill>
                  <a:srgbClr val="94A3B8"/>
                </a:solidFill>
                <a:latin typeface="Segoe UI"/>
                <a:ea typeface="Segoe UI"/>
                <a:cs typeface="Segoe UI"/>
              </a:rPr>
              <a:t>→</a:t>
            </a:r>
            <a:endParaRPr lang="en-US" sz="1400" dirty="0"/>
          </a:p>
        </p:txBody>
      </p:sp>
      <p:sp>
        <p:nvSpPr>
          <p:cNvPr id="105" name="s105"/>
          <p:cNvSpPr/>
          <p:nvPr/>
        </p:nvSpPr>
        <p:spPr>
          <a:xfrm>
            <a:off x="6224321" y="2788920"/>
            <a:ext cx="4263847" cy="393192"/>
          </a:xfrm>
          <a:prstGeom prst="roundRect">
            <a:avLst>
              <a:gd name="adj" fmla="val 20000"/>
            </a:avLst>
          </a:prstGeom>
          <a:solidFill>
            <a:srgbClr val="111B2E"/>
          </a:solidFill>
          <a:ln w="12700">
            <a:solidFill>
              <a:srgbClr val="60A5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Sprint (2 weeks) → a usable Increment</a:t>
            </a:r>
            <a:endParaRPr lang="en-US" sz="1250" dirty="0"/>
          </a:p>
        </p:txBody>
      </p:sp>
      <p:sp>
        <p:nvSpPr>
          <p:cNvPr id="106" name="s106"/>
          <p:cNvSpPr/>
          <p:nvPr/>
        </p:nvSpPr>
        <p:spPr>
          <a:xfrm>
            <a:off x="10579608" y="2843784"/>
            <a:ext cx="1051560" cy="283464"/>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950" b="1" dirty="0">
                <a:solidFill>
                  <a:srgbClr val="13D0F7"/>
                </a:solidFill>
                <a:latin typeface="Segoe UI"/>
                <a:ea typeface="Segoe UI"/>
                <a:cs typeface="Segoe UI"/>
              </a:rPr>
              <a:t>EVENT</a:t>
            </a:r>
            <a:endParaRPr lang="en-US" sz="950" dirty="0"/>
          </a:p>
        </p:txBody>
      </p:sp>
      <p:sp>
        <p:nvSpPr>
          <p:cNvPr id="107" name="s107"/>
          <p:cNvSpPr/>
          <p:nvPr/>
        </p:nvSpPr>
        <p:spPr>
          <a:xfrm>
            <a:off x="543154" y="3246120"/>
            <a:ext cx="5406847" cy="393192"/>
          </a:xfrm>
          <a:prstGeom prst="roundRect">
            <a:avLst>
              <a:gd name="adj" fmla="val 20000"/>
            </a:avLst>
          </a:prstGeom>
          <a:solidFill>
            <a:srgbClr val="111B2E"/>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0" dirty="0">
                <a:solidFill>
                  <a:srgbClr val="FFFFFF"/>
                </a:solidFill>
                <a:latin typeface="Segoe UI"/>
                <a:ea typeface="Segoe UI"/>
                <a:cs typeface="Segoe UI"/>
              </a:rPr>
              <a:t>Welcome changing requirements</a:t>
            </a:r>
            <a:endParaRPr lang="en-US" sz="1250" dirty="0"/>
          </a:p>
        </p:txBody>
      </p:sp>
      <p:sp>
        <p:nvSpPr>
          <p:cNvPr id="108" name="s108"/>
          <p:cNvSpPr txBox="1"/>
          <p:nvPr/>
        </p:nvSpPr>
        <p:spPr>
          <a:xfrm>
            <a:off x="5968289" y="3246120"/>
            <a:ext cx="237744" cy="393192"/>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400" b="1" dirty="0">
                <a:solidFill>
                  <a:srgbClr val="94A3B8"/>
                </a:solidFill>
                <a:latin typeface="Segoe UI"/>
                <a:ea typeface="Segoe UI"/>
                <a:cs typeface="Segoe UI"/>
              </a:rPr>
              <a:t>→</a:t>
            </a:r>
            <a:endParaRPr lang="en-US" sz="1400" dirty="0"/>
          </a:p>
        </p:txBody>
      </p:sp>
      <p:sp>
        <p:nvSpPr>
          <p:cNvPr id="109" name="s109"/>
          <p:cNvSpPr/>
          <p:nvPr/>
        </p:nvSpPr>
        <p:spPr>
          <a:xfrm>
            <a:off x="6224321" y="3246120"/>
            <a:ext cx="4263847" cy="393192"/>
          </a:xfrm>
          <a:prstGeom prst="roundRect">
            <a:avLst>
              <a:gd name="adj" fmla="val 20000"/>
            </a:avLst>
          </a:prstGeom>
          <a:solidFill>
            <a:srgbClr val="111B2E"/>
          </a:solidFill>
          <a:ln w="12700">
            <a:solidFill>
              <a:srgbClr val="60A5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PO re-orders the Product Backlog every Sprint</a:t>
            </a:r>
            <a:endParaRPr lang="en-US" sz="1250" dirty="0"/>
          </a:p>
        </p:txBody>
      </p:sp>
      <p:sp>
        <p:nvSpPr>
          <p:cNvPr id="110" name="s110"/>
          <p:cNvSpPr/>
          <p:nvPr/>
        </p:nvSpPr>
        <p:spPr>
          <a:xfrm>
            <a:off x="10579608" y="3300984"/>
            <a:ext cx="1051560" cy="283464"/>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950" b="1" dirty="0">
                <a:solidFill>
                  <a:srgbClr val="FBBF24"/>
                </a:solidFill>
                <a:latin typeface="Segoe UI"/>
                <a:ea typeface="Segoe UI"/>
                <a:cs typeface="Segoe UI"/>
              </a:rPr>
              <a:t>ARTIFACT</a:t>
            </a:r>
            <a:endParaRPr lang="en-US" sz="950" dirty="0"/>
          </a:p>
        </p:txBody>
      </p:sp>
      <p:sp>
        <p:nvSpPr>
          <p:cNvPr id="111" name="s111"/>
          <p:cNvSpPr/>
          <p:nvPr/>
        </p:nvSpPr>
        <p:spPr>
          <a:xfrm>
            <a:off x="543154" y="3703320"/>
            <a:ext cx="5406847" cy="393192"/>
          </a:xfrm>
          <a:prstGeom prst="roundRect">
            <a:avLst>
              <a:gd name="adj" fmla="val 20000"/>
            </a:avLst>
          </a:prstGeom>
          <a:solidFill>
            <a:srgbClr val="111B2E"/>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0" dirty="0">
                <a:solidFill>
                  <a:srgbClr val="FFFFFF"/>
                </a:solidFill>
                <a:latin typeface="Segoe UI"/>
                <a:ea typeface="Segoe UI"/>
                <a:cs typeface="Segoe UI"/>
              </a:rPr>
              <a:t>Business + developers work together</a:t>
            </a:r>
            <a:endParaRPr lang="en-US" sz="1250" dirty="0"/>
          </a:p>
        </p:txBody>
      </p:sp>
      <p:sp>
        <p:nvSpPr>
          <p:cNvPr id="112" name="s112"/>
          <p:cNvSpPr txBox="1"/>
          <p:nvPr/>
        </p:nvSpPr>
        <p:spPr>
          <a:xfrm>
            <a:off x="5968289" y="3703320"/>
            <a:ext cx="237744" cy="393192"/>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400" b="1" dirty="0">
                <a:solidFill>
                  <a:srgbClr val="94A3B8"/>
                </a:solidFill>
                <a:latin typeface="Segoe UI"/>
                <a:ea typeface="Segoe UI"/>
                <a:cs typeface="Segoe UI"/>
              </a:rPr>
              <a:t>→</a:t>
            </a:r>
            <a:endParaRPr lang="en-US" sz="1400" dirty="0"/>
          </a:p>
        </p:txBody>
      </p:sp>
      <p:sp>
        <p:nvSpPr>
          <p:cNvPr id="113" name="s113"/>
          <p:cNvSpPr/>
          <p:nvPr/>
        </p:nvSpPr>
        <p:spPr>
          <a:xfrm>
            <a:off x="6224321" y="3703320"/>
            <a:ext cx="4263847" cy="393192"/>
          </a:xfrm>
          <a:prstGeom prst="roundRect">
            <a:avLst>
              <a:gd name="adj" fmla="val 20000"/>
            </a:avLst>
          </a:prstGeom>
          <a:solidFill>
            <a:srgbClr val="111B2E"/>
          </a:solidFill>
          <a:ln w="12700">
            <a:solidFill>
              <a:srgbClr val="60A5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Product Owner + Sprint Review with stakeholders</a:t>
            </a:r>
            <a:endParaRPr lang="en-US" sz="1250" dirty="0"/>
          </a:p>
        </p:txBody>
      </p:sp>
      <p:sp>
        <p:nvSpPr>
          <p:cNvPr id="114" name="s114"/>
          <p:cNvSpPr/>
          <p:nvPr/>
        </p:nvSpPr>
        <p:spPr>
          <a:xfrm>
            <a:off x="10579608" y="3758184"/>
            <a:ext cx="1051560" cy="283464"/>
          </a:xfrm>
          <a:prstGeom prst="roundRect">
            <a:avLst>
              <a:gd name="adj" fmla="val 50000"/>
            </a:avLst>
          </a:prstGeom>
          <a:solidFill>
            <a:srgbClr val="F472B6">
              <a:alpha val="18000"/>
            </a:srgbClr>
          </a:solidFill>
          <a:ln w="12700">
            <a:solidFill>
              <a:srgbClr val="F472B6"/>
            </a:solidFill>
            <a:prstDash val="solid"/>
          </a:ln>
        </p:spPr>
        <p:txBody>
          <a:bodyPr wrap="square" lIns="36576" tIns="0" rIns="36576" bIns="0" rtlCol="0" anchor="ctr">
            <a:noAutofit/>
          </a:bodyPr>
          <a:lstStyle/>
          <a:p>
            <a:pPr marL="0" indent="0" algn="ctr">
              <a:spcBef>
                <a:spcPts val="0"/>
              </a:spcBef>
              <a:spcAft>
                <a:spcPts val="0"/>
              </a:spcAft>
              <a:buNone/>
            </a:pPr>
            <a:r>
              <a:rPr lang="en-US" sz="950" b="1" dirty="0">
                <a:solidFill>
                  <a:srgbClr val="F472B6"/>
                </a:solidFill>
                <a:latin typeface="Segoe UI"/>
                <a:ea typeface="Segoe UI"/>
                <a:cs typeface="Segoe UI"/>
              </a:rPr>
              <a:t>ROLE</a:t>
            </a:r>
            <a:endParaRPr lang="en-US" sz="950" dirty="0"/>
          </a:p>
        </p:txBody>
      </p:sp>
      <p:sp>
        <p:nvSpPr>
          <p:cNvPr id="115" name="s115"/>
          <p:cNvSpPr/>
          <p:nvPr/>
        </p:nvSpPr>
        <p:spPr>
          <a:xfrm>
            <a:off x="543154" y="4160520"/>
            <a:ext cx="5406847" cy="393192"/>
          </a:xfrm>
          <a:prstGeom prst="roundRect">
            <a:avLst>
              <a:gd name="adj" fmla="val 20000"/>
            </a:avLst>
          </a:prstGeom>
          <a:solidFill>
            <a:srgbClr val="111B2E"/>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0" dirty="0">
                <a:solidFill>
                  <a:srgbClr val="FFFFFF"/>
                </a:solidFill>
                <a:latin typeface="Segoe UI"/>
                <a:ea typeface="Segoe UI"/>
                <a:cs typeface="Segoe UI"/>
              </a:rPr>
              <a:t>Self-organizing teams, face-to-face talk</a:t>
            </a:r>
            <a:endParaRPr lang="en-US" sz="1250" dirty="0"/>
          </a:p>
        </p:txBody>
      </p:sp>
      <p:sp>
        <p:nvSpPr>
          <p:cNvPr id="116" name="s116"/>
          <p:cNvSpPr txBox="1"/>
          <p:nvPr/>
        </p:nvSpPr>
        <p:spPr>
          <a:xfrm>
            <a:off x="5968289" y="4160520"/>
            <a:ext cx="237744" cy="393192"/>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400" b="1" dirty="0">
                <a:solidFill>
                  <a:srgbClr val="94A3B8"/>
                </a:solidFill>
                <a:latin typeface="Segoe UI"/>
                <a:ea typeface="Segoe UI"/>
                <a:cs typeface="Segoe UI"/>
              </a:rPr>
              <a:t>→</a:t>
            </a:r>
            <a:endParaRPr lang="en-US" sz="1400" dirty="0"/>
          </a:p>
        </p:txBody>
      </p:sp>
      <p:sp>
        <p:nvSpPr>
          <p:cNvPr id="117" name="s117"/>
          <p:cNvSpPr/>
          <p:nvPr/>
        </p:nvSpPr>
        <p:spPr>
          <a:xfrm>
            <a:off x="6224321" y="4160520"/>
            <a:ext cx="4263847" cy="393192"/>
          </a:xfrm>
          <a:prstGeom prst="roundRect">
            <a:avLst>
              <a:gd name="adj" fmla="val 20000"/>
            </a:avLst>
          </a:prstGeom>
          <a:solidFill>
            <a:srgbClr val="111B2E"/>
          </a:solidFill>
          <a:ln w="12700">
            <a:solidFill>
              <a:srgbClr val="60A5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Daily Scrum · Developers plan their own work</a:t>
            </a:r>
            <a:endParaRPr lang="en-US" sz="1250" dirty="0"/>
          </a:p>
        </p:txBody>
      </p:sp>
      <p:sp>
        <p:nvSpPr>
          <p:cNvPr id="118" name="s118"/>
          <p:cNvSpPr/>
          <p:nvPr/>
        </p:nvSpPr>
        <p:spPr>
          <a:xfrm>
            <a:off x="10579608" y="4215384"/>
            <a:ext cx="1051560" cy="283464"/>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950" b="1" dirty="0">
                <a:solidFill>
                  <a:srgbClr val="13D0F7"/>
                </a:solidFill>
                <a:latin typeface="Segoe UI"/>
                <a:ea typeface="Segoe UI"/>
                <a:cs typeface="Segoe UI"/>
              </a:rPr>
              <a:t>EVENT</a:t>
            </a:r>
            <a:endParaRPr lang="en-US" sz="950" dirty="0"/>
          </a:p>
        </p:txBody>
      </p:sp>
      <p:sp>
        <p:nvSpPr>
          <p:cNvPr id="119" name="s119"/>
          <p:cNvSpPr/>
          <p:nvPr/>
        </p:nvSpPr>
        <p:spPr>
          <a:xfrm>
            <a:off x="543154" y="4617720"/>
            <a:ext cx="5406847" cy="393192"/>
          </a:xfrm>
          <a:prstGeom prst="roundRect">
            <a:avLst>
              <a:gd name="adj" fmla="val 20000"/>
            </a:avLst>
          </a:prstGeom>
          <a:solidFill>
            <a:srgbClr val="111B2E"/>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0" dirty="0">
                <a:solidFill>
                  <a:srgbClr val="FFFFFF"/>
                </a:solidFill>
                <a:latin typeface="Segoe UI"/>
                <a:ea typeface="Segoe UI"/>
                <a:cs typeface="Segoe UI"/>
              </a:rPr>
              <a:t>Reflect and adjust regularly</a:t>
            </a:r>
            <a:endParaRPr lang="en-US" sz="1250" dirty="0"/>
          </a:p>
        </p:txBody>
      </p:sp>
      <p:sp>
        <p:nvSpPr>
          <p:cNvPr id="120" name="s120"/>
          <p:cNvSpPr txBox="1"/>
          <p:nvPr/>
        </p:nvSpPr>
        <p:spPr>
          <a:xfrm>
            <a:off x="5968289" y="4617720"/>
            <a:ext cx="237744" cy="393192"/>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400" b="1" dirty="0">
                <a:solidFill>
                  <a:srgbClr val="94A3B8"/>
                </a:solidFill>
                <a:latin typeface="Segoe UI"/>
                <a:ea typeface="Segoe UI"/>
                <a:cs typeface="Segoe UI"/>
              </a:rPr>
              <a:t>→</a:t>
            </a:r>
            <a:endParaRPr lang="en-US" sz="1400" dirty="0"/>
          </a:p>
        </p:txBody>
      </p:sp>
      <p:sp>
        <p:nvSpPr>
          <p:cNvPr id="121" name="s121"/>
          <p:cNvSpPr/>
          <p:nvPr/>
        </p:nvSpPr>
        <p:spPr>
          <a:xfrm>
            <a:off x="6224321" y="4617720"/>
            <a:ext cx="4263847" cy="393192"/>
          </a:xfrm>
          <a:prstGeom prst="roundRect">
            <a:avLst>
              <a:gd name="adj" fmla="val 20000"/>
            </a:avLst>
          </a:prstGeom>
          <a:solidFill>
            <a:srgbClr val="111B2E"/>
          </a:solidFill>
          <a:ln w="12700">
            <a:solidFill>
              <a:srgbClr val="60A5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Sprint Retrospective → one real improvement</a:t>
            </a:r>
            <a:endParaRPr lang="en-US" sz="1250" dirty="0"/>
          </a:p>
        </p:txBody>
      </p:sp>
      <p:sp>
        <p:nvSpPr>
          <p:cNvPr id="122" name="s122"/>
          <p:cNvSpPr/>
          <p:nvPr/>
        </p:nvSpPr>
        <p:spPr>
          <a:xfrm>
            <a:off x="10579608" y="4672584"/>
            <a:ext cx="1051560" cy="283464"/>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950" b="1" dirty="0">
                <a:solidFill>
                  <a:srgbClr val="13D0F7"/>
                </a:solidFill>
                <a:latin typeface="Segoe UI"/>
                <a:ea typeface="Segoe UI"/>
                <a:cs typeface="Segoe UI"/>
              </a:rPr>
              <a:t>EVENT</a:t>
            </a:r>
            <a:endParaRPr lang="en-US" sz="950" dirty="0"/>
          </a:p>
        </p:txBody>
      </p:sp>
      <p:sp>
        <p:nvSpPr>
          <p:cNvPr id="123" name="s123"/>
          <p:cNvSpPr/>
          <p:nvPr/>
        </p:nvSpPr>
        <p:spPr>
          <a:xfrm>
            <a:off x="543154" y="5074920"/>
            <a:ext cx="5406847" cy="393192"/>
          </a:xfrm>
          <a:prstGeom prst="roundRect">
            <a:avLst>
              <a:gd name="adj" fmla="val 20000"/>
            </a:avLst>
          </a:prstGeom>
          <a:solidFill>
            <a:srgbClr val="111B2E"/>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0" dirty="0">
                <a:solidFill>
                  <a:srgbClr val="FFFFFF"/>
                </a:solidFill>
                <a:latin typeface="Segoe UI"/>
                <a:ea typeface="Segoe UI"/>
                <a:cs typeface="Segoe UI"/>
              </a:rPr>
              <a:t>Working software = progress</a:t>
            </a:r>
            <a:endParaRPr lang="en-US" sz="1250" dirty="0"/>
          </a:p>
        </p:txBody>
      </p:sp>
      <p:sp>
        <p:nvSpPr>
          <p:cNvPr id="124" name="s124"/>
          <p:cNvSpPr txBox="1"/>
          <p:nvPr/>
        </p:nvSpPr>
        <p:spPr>
          <a:xfrm>
            <a:off x="5968289" y="5074920"/>
            <a:ext cx="237744" cy="393192"/>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400" b="1" dirty="0">
                <a:solidFill>
                  <a:srgbClr val="94A3B8"/>
                </a:solidFill>
                <a:latin typeface="Segoe UI"/>
                <a:ea typeface="Segoe UI"/>
                <a:cs typeface="Segoe UI"/>
              </a:rPr>
              <a:t>→</a:t>
            </a:r>
            <a:endParaRPr lang="en-US" sz="1400" dirty="0"/>
          </a:p>
        </p:txBody>
      </p:sp>
      <p:sp>
        <p:nvSpPr>
          <p:cNvPr id="125" name="s125"/>
          <p:cNvSpPr/>
          <p:nvPr/>
        </p:nvSpPr>
        <p:spPr>
          <a:xfrm>
            <a:off x="6224321" y="5074920"/>
            <a:ext cx="4263847" cy="393192"/>
          </a:xfrm>
          <a:prstGeom prst="roundRect">
            <a:avLst>
              <a:gd name="adj" fmla="val 20000"/>
            </a:avLst>
          </a:prstGeom>
          <a:solidFill>
            <a:srgbClr val="111B2E"/>
          </a:solidFill>
          <a:ln w="12700">
            <a:solidFill>
              <a:srgbClr val="60A5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Definition of Done: done means usable</a:t>
            </a:r>
            <a:endParaRPr lang="en-US" sz="1250" dirty="0"/>
          </a:p>
        </p:txBody>
      </p:sp>
      <p:sp>
        <p:nvSpPr>
          <p:cNvPr id="126" name="s126"/>
          <p:cNvSpPr/>
          <p:nvPr/>
        </p:nvSpPr>
        <p:spPr>
          <a:xfrm>
            <a:off x="10579608" y="5129784"/>
            <a:ext cx="1051560" cy="283464"/>
          </a:xfrm>
          <a:prstGeom prst="roundRect">
            <a:avLst>
              <a:gd name="adj" fmla="val 50000"/>
            </a:avLst>
          </a:prstGeom>
          <a:solidFill>
            <a:srgbClr val="A78BFA">
              <a:alpha val="18000"/>
            </a:srgbClr>
          </a:solidFill>
          <a:ln w="12700">
            <a:solidFill>
              <a:srgbClr val="A78BFA"/>
            </a:solidFill>
            <a:prstDash val="solid"/>
          </a:ln>
        </p:spPr>
        <p:txBody>
          <a:bodyPr wrap="square" lIns="36576" tIns="0" rIns="36576" bIns="0" rtlCol="0" anchor="ctr">
            <a:noAutofit/>
          </a:bodyPr>
          <a:lstStyle/>
          <a:p>
            <a:pPr marL="0" indent="0" algn="ctr">
              <a:spcBef>
                <a:spcPts val="0"/>
              </a:spcBef>
              <a:spcAft>
                <a:spcPts val="0"/>
              </a:spcAft>
              <a:buNone/>
            </a:pPr>
            <a:r>
              <a:rPr lang="en-US" sz="950" b="1" dirty="0">
                <a:solidFill>
                  <a:srgbClr val="A78BFA"/>
                </a:solidFill>
                <a:latin typeface="Segoe UI"/>
                <a:ea typeface="Segoe UI"/>
                <a:cs typeface="Segoe UI"/>
              </a:rPr>
              <a:t>COMMITMENT</a:t>
            </a:r>
            <a:endParaRPr lang="en-US" sz="950" dirty="0"/>
          </a:p>
        </p:txBody>
      </p:sp>
      <p:sp>
        <p:nvSpPr>
          <p:cNvPr id="127" name="s127"/>
          <p:cNvSpPr/>
          <p:nvPr/>
        </p:nvSpPr>
        <p:spPr>
          <a:xfrm>
            <a:off x="543154" y="5623560"/>
            <a:ext cx="11088014" cy="566928"/>
          </a:xfrm>
          <a:prstGeom prst="roundRect">
            <a:avLst>
              <a:gd name="adj" fmla="val 12000"/>
            </a:avLst>
          </a:prstGeom>
          <a:solidFill>
            <a:srgbClr val="111B2E"/>
          </a:solidFill>
          <a:ln w="12700">
            <a:solidFill>
              <a:srgbClr val="60A5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NOTE</a:t>
            </a:r>
            <a:r>
              <a:rPr lang="en-US" sz="1300" b="0" dirty="0">
                <a:solidFill>
                  <a:srgbClr val="E2E8F0"/>
                </a:solidFill>
                <a:latin typeface="Segoe UI"/>
                <a:ea typeface="Segoe UI"/>
                <a:cs typeface="Segoe UI"/>
              </a:rPr>
              <a:t>   Scrum is ONE way to apply Agile (others: Kanban, XP). It is the most common, so we learn it with a real story.</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2"/>
                                        </p:tgtEl>
                                        <p:attrNameLst>
                                          <p:attrName>style.visibility</p:attrName>
                                        </p:attrNameLst>
                                      </p:cBhvr>
                                      <p:to>
                                        <p:strVal val="visible"/>
                                      </p:to>
                                    </p:set>
                                    <p:animEffect transition="in" filter="fade">
                                      <p:cBhvr>
                                        <p:cTn id="13" dur="500"/>
                                        <p:tgtEl>
                                          <p:spTgt spid="102"/>
                                        </p:tgtEl>
                                      </p:cBhvr>
                                    </p:animEffect>
                                    <p:anim calcmode="lin" valueType="num">
                                      <p:cBhvr additive="base">
                                        <p:cTn id="14"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3"/>
                                        </p:tgtEl>
                                        <p:attrNameLst>
                                          <p:attrName>style.visibility</p:attrName>
                                        </p:attrNameLst>
                                      </p:cBhvr>
                                      <p:to>
                                        <p:strVal val="visible"/>
                                      </p:to>
                                    </p:set>
                                    <p:animEffect transition="in" filter="fade">
                                      <p:cBhvr>
                                        <p:cTn id="19" dur="500"/>
                                        <p:tgtEl>
                                          <p:spTgt spid="103"/>
                                        </p:tgtEl>
                                      </p:cBhvr>
                                    </p:animEffect>
                                    <p:anim calcmode="lin" valueType="num">
                                      <p:cBhvr additive="base">
                                        <p:cTn id="20" dur="500" decel="100000" fill="hold"/>
                                        <p:tgtEl>
                                          <p:spTgt spid="103"/>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4"/>
                                        </p:tgtEl>
                                        <p:attrNameLst>
                                          <p:attrName>style.visibility</p:attrName>
                                        </p:attrNameLst>
                                      </p:cBhvr>
                                      <p:to>
                                        <p:strVal val="visible"/>
                                      </p:to>
                                    </p:set>
                                    <p:animEffect transition="in" filter="fade">
                                      <p:cBhvr>
                                        <p:cTn id="23" dur="500"/>
                                        <p:tgtEl>
                                          <p:spTgt spid="104"/>
                                        </p:tgtEl>
                                      </p:cBhvr>
                                    </p:animEffect>
                                    <p:anim calcmode="lin" valueType="num">
                                      <p:cBhvr additive="base">
                                        <p:cTn id="24" dur="500" decel="100000" fill="hold"/>
                                        <p:tgtEl>
                                          <p:spTgt spid="104"/>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anim calcmode="lin" valueType="num">
                                      <p:cBhvr additive="base">
                                        <p:cTn id="28" dur="500" decel="100000" fill="hold"/>
                                        <p:tgtEl>
                                          <p:spTgt spid="105"/>
                                        </p:tgtEl>
                                        <p:attrNameLst>
                                          <p:attrName>ppt_x</p:attrName>
                                        </p:attrNameLst>
                                      </p:cBhvr>
                                      <p:tavLst>
                                        <p:tav tm="0">
                                          <p:val>
                                            <p:strVal val="#ppt_x-0.05"/>
                                          </p:val>
                                        </p:tav>
                                        <p:tav tm="100000">
                                          <p:val>
                                            <p:strVal val="#ppt_x"/>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6"/>
                                        </p:tgtEl>
                                        <p:attrNameLst>
                                          <p:attrName>style.visibility</p:attrName>
                                        </p:attrNameLst>
                                      </p:cBhvr>
                                      <p:to>
                                        <p:strVal val="visible"/>
                                      </p:to>
                                    </p:set>
                                    <p:animEffect transition="in" filter="fade">
                                      <p:cBhvr>
                                        <p:cTn id="31" dur="500"/>
                                        <p:tgtEl>
                                          <p:spTgt spid="106"/>
                                        </p:tgtEl>
                                      </p:cBhvr>
                                    </p:animEffect>
                                    <p:anim calcmode="lin" valueType="num">
                                      <p:cBhvr additive="base">
                                        <p:cTn id="32" dur="500" decel="100000" fill="hold"/>
                                        <p:tgtEl>
                                          <p:spTgt spid="106"/>
                                        </p:tgtEl>
                                        <p:attrNameLst>
                                          <p:attrName>ppt_x</p:attrName>
                                        </p:attrNameLst>
                                      </p:cBhvr>
                                      <p:tavLst>
                                        <p:tav tm="0">
                                          <p:val>
                                            <p:strVal val="#ppt_x-0.05"/>
                                          </p:val>
                                        </p:tav>
                                        <p:tav tm="100000">
                                          <p:val>
                                            <p:strVal val="#ppt_x"/>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fade">
                                      <p:cBhvr>
                                        <p:cTn id="37" dur="500"/>
                                        <p:tgtEl>
                                          <p:spTgt spid="107"/>
                                        </p:tgtEl>
                                      </p:cBhvr>
                                    </p:animEffect>
                                    <p:anim calcmode="lin" valueType="num">
                                      <p:cBhvr additive="base">
                                        <p:cTn id="38" dur="500" decel="100000" fill="hold"/>
                                        <p:tgtEl>
                                          <p:spTgt spid="107"/>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08"/>
                                        </p:tgtEl>
                                        <p:attrNameLst>
                                          <p:attrName>style.visibility</p:attrName>
                                        </p:attrNameLst>
                                      </p:cBhvr>
                                      <p:to>
                                        <p:strVal val="visible"/>
                                      </p:to>
                                    </p:set>
                                    <p:animEffect transition="in" filter="fade">
                                      <p:cBhvr>
                                        <p:cTn id="41" dur="500"/>
                                        <p:tgtEl>
                                          <p:spTgt spid="108"/>
                                        </p:tgtEl>
                                      </p:cBhvr>
                                    </p:animEffect>
                                    <p:anim calcmode="lin" valueType="num">
                                      <p:cBhvr additive="base">
                                        <p:cTn id="42" dur="500" decel="100000" fill="hold"/>
                                        <p:tgtEl>
                                          <p:spTgt spid="108"/>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09"/>
                                        </p:tgtEl>
                                        <p:attrNameLst>
                                          <p:attrName>style.visibility</p:attrName>
                                        </p:attrNameLst>
                                      </p:cBhvr>
                                      <p:to>
                                        <p:strVal val="visible"/>
                                      </p:to>
                                    </p:set>
                                    <p:animEffect transition="in" filter="fade">
                                      <p:cBhvr>
                                        <p:cTn id="45" dur="500"/>
                                        <p:tgtEl>
                                          <p:spTgt spid="109"/>
                                        </p:tgtEl>
                                      </p:cBhvr>
                                    </p:animEffect>
                                    <p:anim calcmode="lin" valueType="num">
                                      <p:cBhvr additive="base">
                                        <p:cTn id="46" dur="500" decel="100000" fill="hold"/>
                                        <p:tgtEl>
                                          <p:spTgt spid="109"/>
                                        </p:tgtEl>
                                        <p:attrNameLst>
                                          <p:attrName>ppt_x</p:attrName>
                                        </p:attrNameLst>
                                      </p:cBhvr>
                                      <p:tavLst>
                                        <p:tav tm="0">
                                          <p:val>
                                            <p:strVal val="#ppt_x-0.05"/>
                                          </p:val>
                                        </p:tav>
                                        <p:tav tm="100000">
                                          <p:val>
                                            <p:strVal val="#ppt_x"/>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110"/>
                                        </p:tgtEl>
                                        <p:attrNameLst>
                                          <p:attrName>style.visibility</p:attrName>
                                        </p:attrNameLst>
                                      </p:cBhvr>
                                      <p:to>
                                        <p:strVal val="visible"/>
                                      </p:to>
                                    </p:set>
                                    <p:animEffect transition="in" filter="fade">
                                      <p:cBhvr>
                                        <p:cTn id="49" dur="500"/>
                                        <p:tgtEl>
                                          <p:spTgt spid="110"/>
                                        </p:tgtEl>
                                      </p:cBhvr>
                                    </p:animEffect>
                                    <p:anim calcmode="lin" valueType="num">
                                      <p:cBhvr additive="base">
                                        <p:cTn id="50" dur="500" decel="100000" fill="hold"/>
                                        <p:tgtEl>
                                          <p:spTgt spid="110"/>
                                        </p:tgtEl>
                                        <p:attrNameLst>
                                          <p:attrName>ppt_x</p:attrName>
                                        </p:attrNameLst>
                                      </p:cBhvr>
                                      <p:tavLst>
                                        <p:tav tm="0">
                                          <p:val>
                                            <p:strVal val="#ppt_x-0.05"/>
                                          </p:val>
                                        </p:tav>
                                        <p:tav tm="100000">
                                          <p:val>
                                            <p:strVal val="#ppt_x"/>
                                          </p:val>
                                        </p:tav>
                                      </p:tavLst>
                                    </p:anim>
                                  </p:childTnLst>
                                </p:cTn>
                              </p:par>
                            </p:childTnLst>
                          </p:cTn>
                        </p:par>
                      </p:childTnLst>
                    </p:cTn>
                  </p:par>
                  <p:par>
                    <p:cTn id="51" fill="hold">
                      <p:stCondLst>
                        <p:cond delay="indefinite"/>
                      </p:stCondLst>
                      <p:childTnLst>
                        <p:par>
                          <p:cTn id="52" fill="hold">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111"/>
                                        </p:tgtEl>
                                        <p:attrNameLst>
                                          <p:attrName>style.visibility</p:attrName>
                                        </p:attrNameLst>
                                      </p:cBhvr>
                                      <p:to>
                                        <p:strVal val="visible"/>
                                      </p:to>
                                    </p:set>
                                    <p:animEffect transition="in" filter="fade">
                                      <p:cBhvr>
                                        <p:cTn id="55" dur="500"/>
                                        <p:tgtEl>
                                          <p:spTgt spid="111"/>
                                        </p:tgtEl>
                                      </p:cBhvr>
                                    </p:animEffect>
                                    <p:anim calcmode="lin" valueType="num">
                                      <p:cBhvr additive="base">
                                        <p:cTn id="56" dur="500" decel="100000" fill="hold"/>
                                        <p:tgtEl>
                                          <p:spTgt spid="111"/>
                                        </p:tgtEl>
                                        <p:attrNameLst>
                                          <p:attrName>ppt_x</p:attrName>
                                        </p:attrNameLst>
                                      </p:cBhvr>
                                      <p:tavLst>
                                        <p:tav tm="0">
                                          <p:val>
                                            <p:strVal val="#ppt_x-0.05"/>
                                          </p:val>
                                        </p:tav>
                                        <p:tav tm="100000">
                                          <p:val>
                                            <p:strVal val="#ppt_x"/>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2"/>
                                        </p:tgtEl>
                                        <p:attrNameLst>
                                          <p:attrName>style.visibility</p:attrName>
                                        </p:attrNameLst>
                                      </p:cBhvr>
                                      <p:to>
                                        <p:strVal val="visible"/>
                                      </p:to>
                                    </p:set>
                                    <p:animEffect transition="in" filter="fade">
                                      <p:cBhvr>
                                        <p:cTn id="59" dur="500"/>
                                        <p:tgtEl>
                                          <p:spTgt spid="112"/>
                                        </p:tgtEl>
                                      </p:cBhvr>
                                    </p:animEffect>
                                    <p:anim calcmode="lin" valueType="num">
                                      <p:cBhvr additive="base">
                                        <p:cTn id="60" dur="500" decel="100000" fill="hold"/>
                                        <p:tgtEl>
                                          <p:spTgt spid="112"/>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3"/>
                                        </p:tgtEl>
                                        <p:attrNameLst>
                                          <p:attrName>style.visibility</p:attrName>
                                        </p:attrNameLst>
                                      </p:cBhvr>
                                      <p:to>
                                        <p:strVal val="visible"/>
                                      </p:to>
                                    </p:set>
                                    <p:animEffect transition="in" filter="fade">
                                      <p:cBhvr>
                                        <p:cTn id="63" dur="500"/>
                                        <p:tgtEl>
                                          <p:spTgt spid="113"/>
                                        </p:tgtEl>
                                      </p:cBhvr>
                                    </p:animEffect>
                                    <p:anim calcmode="lin" valueType="num">
                                      <p:cBhvr additive="base">
                                        <p:cTn id="64" dur="500" decel="100000" fill="hold"/>
                                        <p:tgtEl>
                                          <p:spTgt spid="113"/>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4"/>
                                        </p:tgtEl>
                                        <p:attrNameLst>
                                          <p:attrName>style.visibility</p:attrName>
                                        </p:attrNameLst>
                                      </p:cBhvr>
                                      <p:to>
                                        <p:strVal val="visible"/>
                                      </p:to>
                                    </p:set>
                                    <p:animEffect transition="in" filter="fade">
                                      <p:cBhvr>
                                        <p:cTn id="67" dur="500"/>
                                        <p:tgtEl>
                                          <p:spTgt spid="114"/>
                                        </p:tgtEl>
                                      </p:cBhvr>
                                    </p:animEffect>
                                    <p:anim calcmode="lin" valueType="num">
                                      <p:cBhvr additive="base">
                                        <p:cTn id="68" dur="500" decel="100000" fill="hold"/>
                                        <p:tgtEl>
                                          <p:spTgt spid="114"/>
                                        </p:tgtEl>
                                        <p:attrNameLst>
                                          <p:attrName>ppt_x</p:attrName>
                                        </p:attrNameLst>
                                      </p:cBhvr>
                                      <p:tavLst>
                                        <p:tav tm="0">
                                          <p:val>
                                            <p:strVal val="#ppt_x-0.05"/>
                                          </p:val>
                                        </p:tav>
                                        <p:tav tm="100000">
                                          <p:val>
                                            <p:strVal val="#ppt_x"/>
                                          </p:val>
                                        </p:tav>
                                      </p:tavLst>
                                    </p:anim>
                                  </p:childTnLst>
                                </p:cTn>
                              </p:par>
                            </p:childTnLst>
                          </p:cTn>
                        </p:par>
                      </p:childTnLst>
                    </p:cTn>
                  </p:par>
                  <p:par>
                    <p:cTn id="69" fill="hold">
                      <p:stCondLst>
                        <p:cond delay="indefinite"/>
                      </p:stCondLst>
                      <p:childTnLst>
                        <p:par>
                          <p:cTn id="70" fill="hold">
                            <p:stCondLst>
                              <p:cond delay="0"/>
                            </p:stCondLst>
                            <p:childTnLst>
                              <p:par>
                                <p:cTn id="71" presetID="42" presetClass="entr" presetSubtype="0" fill="hold" grpId="0"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fade">
                                      <p:cBhvr>
                                        <p:cTn id="73" dur="500"/>
                                        <p:tgtEl>
                                          <p:spTgt spid="115"/>
                                        </p:tgtEl>
                                      </p:cBhvr>
                                    </p:animEffect>
                                    <p:anim calcmode="lin" valueType="num">
                                      <p:cBhvr additive="base">
                                        <p:cTn id="74" dur="500" decel="100000" fill="hold"/>
                                        <p:tgtEl>
                                          <p:spTgt spid="115"/>
                                        </p:tgtEl>
                                        <p:attrNameLst>
                                          <p:attrName>ppt_x</p:attrName>
                                        </p:attrNameLst>
                                      </p:cBhvr>
                                      <p:tavLst>
                                        <p:tav tm="0">
                                          <p:val>
                                            <p:strVal val="#ppt_x-0.05"/>
                                          </p:val>
                                        </p:tav>
                                        <p:tav tm="100000">
                                          <p:val>
                                            <p:strVal val="#ppt_x"/>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116"/>
                                        </p:tgtEl>
                                        <p:attrNameLst>
                                          <p:attrName>style.visibility</p:attrName>
                                        </p:attrNameLst>
                                      </p:cBhvr>
                                      <p:to>
                                        <p:strVal val="visible"/>
                                      </p:to>
                                    </p:set>
                                    <p:animEffect transition="in" filter="fade">
                                      <p:cBhvr>
                                        <p:cTn id="77" dur="500"/>
                                        <p:tgtEl>
                                          <p:spTgt spid="116"/>
                                        </p:tgtEl>
                                      </p:cBhvr>
                                    </p:animEffect>
                                    <p:anim calcmode="lin" valueType="num">
                                      <p:cBhvr additive="base">
                                        <p:cTn id="78" dur="500" decel="100000" fill="hold"/>
                                        <p:tgtEl>
                                          <p:spTgt spid="116"/>
                                        </p:tgtEl>
                                        <p:attrNameLst>
                                          <p:attrName>ppt_x</p:attrName>
                                        </p:attrNameLst>
                                      </p:cBhvr>
                                      <p:tavLst>
                                        <p:tav tm="0">
                                          <p:val>
                                            <p:strVal val="#ppt_x-0.05"/>
                                          </p:val>
                                        </p:tav>
                                        <p:tav tm="100000">
                                          <p:val>
                                            <p:strVal val="#ppt_x"/>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17"/>
                                        </p:tgtEl>
                                        <p:attrNameLst>
                                          <p:attrName>style.visibility</p:attrName>
                                        </p:attrNameLst>
                                      </p:cBhvr>
                                      <p:to>
                                        <p:strVal val="visible"/>
                                      </p:to>
                                    </p:set>
                                    <p:animEffect transition="in" filter="fade">
                                      <p:cBhvr>
                                        <p:cTn id="81" dur="500"/>
                                        <p:tgtEl>
                                          <p:spTgt spid="117"/>
                                        </p:tgtEl>
                                      </p:cBhvr>
                                    </p:animEffect>
                                    <p:anim calcmode="lin" valueType="num">
                                      <p:cBhvr additive="base">
                                        <p:cTn id="82" dur="500" decel="100000" fill="hold"/>
                                        <p:tgtEl>
                                          <p:spTgt spid="117"/>
                                        </p:tgtEl>
                                        <p:attrNameLst>
                                          <p:attrName>ppt_x</p:attrName>
                                        </p:attrNameLst>
                                      </p:cBhvr>
                                      <p:tavLst>
                                        <p:tav tm="0">
                                          <p:val>
                                            <p:strVal val="#ppt_x-0.05"/>
                                          </p:val>
                                        </p:tav>
                                        <p:tav tm="100000">
                                          <p:val>
                                            <p:strVal val="#ppt_x"/>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18"/>
                                        </p:tgtEl>
                                        <p:attrNameLst>
                                          <p:attrName>style.visibility</p:attrName>
                                        </p:attrNameLst>
                                      </p:cBhvr>
                                      <p:to>
                                        <p:strVal val="visible"/>
                                      </p:to>
                                    </p:set>
                                    <p:animEffect transition="in" filter="fade">
                                      <p:cBhvr>
                                        <p:cTn id="85" dur="500"/>
                                        <p:tgtEl>
                                          <p:spTgt spid="118"/>
                                        </p:tgtEl>
                                      </p:cBhvr>
                                    </p:animEffect>
                                    <p:anim calcmode="lin" valueType="num">
                                      <p:cBhvr additive="base">
                                        <p:cTn id="86" dur="500" decel="100000" fill="hold"/>
                                        <p:tgtEl>
                                          <p:spTgt spid="118"/>
                                        </p:tgtEl>
                                        <p:attrNameLst>
                                          <p:attrName>ppt_x</p:attrName>
                                        </p:attrNameLst>
                                      </p:cBhvr>
                                      <p:tavLst>
                                        <p:tav tm="0">
                                          <p:val>
                                            <p:strVal val="#ppt_x-0.05"/>
                                          </p:val>
                                        </p:tav>
                                        <p:tav tm="100000">
                                          <p:val>
                                            <p:strVal val="#ppt_x"/>
                                          </p:val>
                                        </p:tav>
                                      </p:tavLst>
                                    </p:anim>
                                  </p:childTnLst>
                                </p:cTn>
                              </p:par>
                            </p:childTnLst>
                          </p:cTn>
                        </p:par>
                      </p:childTnLst>
                    </p:cTn>
                  </p:par>
                  <p:par>
                    <p:cTn id="87" fill="hold">
                      <p:stCondLst>
                        <p:cond delay="indefinite"/>
                      </p:stCondLst>
                      <p:childTnLst>
                        <p:par>
                          <p:cTn id="88" fill="hold">
                            <p:stCondLst>
                              <p:cond delay="0"/>
                            </p:stCondLst>
                            <p:childTnLst>
                              <p:par>
                                <p:cTn id="89" presetID="42" presetClass="entr" presetSubtype="0" fill="hold" grpId="0" nodeType="clickEffect">
                                  <p:stCondLst>
                                    <p:cond delay="0"/>
                                  </p:stCondLst>
                                  <p:childTnLst>
                                    <p:set>
                                      <p:cBhvr>
                                        <p:cTn id="90" dur="1" fill="hold">
                                          <p:stCondLst>
                                            <p:cond delay="0"/>
                                          </p:stCondLst>
                                        </p:cTn>
                                        <p:tgtEl>
                                          <p:spTgt spid="119"/>
                                        </p:tgtEl>
                                        <p:attrNameLst>
                                          <p:attrName>style.visibility</p:attrName>
                                        </p:attrNameLst>
                                      </p:cBhvr>
                                      <p:to>
                                        <p:strVal val="visible"/>
                                      </p:to>
                                    </p:set>
                                    <p:animEffect transition="in" filter="fade">
                                      <p:cBhvr>
                                        <p:cTn id="91" dur="500"/>
                                        <p:tgtEl>
                                          <p:spTgt spid="119"/>
                                        </p:tgtEl>
                                      </p:cBhvr>
                                    </p:animEffect>
                                    <p:anim calcmode="lin" valueType="num">
                                      <p:cBhvr additive="base">
                                        <p:cTn id="92" dur="500" decel="100000" fill="hold"/>
                                        <p:tgtEl>
                                          <p:spTgt spid="119"/>
                                        </p:tgtEl>
                                        <p:attrNameLst>
                                          <p:attrName>ppt_x</p:attrName>
                                        </p:attrNameLst>
                                      </p:cBhvr>
                                      <p:tavLst>
                                        <p:tav tm="0">
                                          <p:val>
                                            <p:strVal val="#ppt_x-0.05"/>
                                          </p:val>
                                        </p:tav>
                                        <p:tav tm="100000">
                                          <p:val>
                                            <p:strVal val="#ppt_x"/>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120"/>
                                        </p:tgtEl>
                                        <p:attrNameLst>
                                          <p:attrName>style.visibility</p:attrName>
                                        </p:attrNameLst>
                                      </p:cBhvr>
                                      <p:to>
                                        <p:strVal val="visible"/>
                                      </p:to>
                                    </p:set>
                                    <p:animEffect transition="in" filter="fade">
                                      <p:cBhvr>
                                        <p:cTn id="95" dur="500"/>
                                        <p:tgtEl>
                                          <p:spTgt spid="120"/>
                                        </p:tgtEl>
                                      </p:cBhvr>
                                    </p:animEffect>
                                    <p:anim calcmode="lin" valueType="num">
                                      <p:cBhvr additive="base">
                                        <p:cTn id="96" dur="500" decel="100000" fill="hold"/>
                                        <p:tgtEl>
                                          <p:spTgt spid="120"/>
                                        </p:tgtEl>
                                        <p:attrNameLst>
                                          <p:attrName>ppt_x</p:attrName>
                                        </p:attrNameLst>
                                      </p:cBhvr>
                                      <p:tavLst>
                                        <p:tav tm="0">
                                          <p:val>
                                            <p:strVal val="#ppt_x-0.05"/>
                                          </p:val>
                                        </p:tav>
                                        <p:tav tm="100000">
                                          <p:val>
                                            <p:strVal val="#ppt_x"/>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1"/>
                                        </p:tgtEl>
                                        <p:attrNameLst>
                                          <p:attrName>style.visibility</p:attrName>
                                        </p:attrNameLst>
                                      </p:cBhvr>
                                      <p:to>
                                        <p:strVal val="visible"/>
                                      </p:to>
                                    </p:set>
                                    <p:animEffect transition="in" filter="fade">
                                      <p:cBhvr>
                                        <p:cTn id="99" dur="500"/>
                                        <p:tgtEl>
                                          <p:spTgt spid="121"/>
                                        </p:tgtEl>
                                      </p:cBhvr>
                                    </p:animEffect>
                                    <p:anim calcmode="lin" valueType="num">
                                      <p:cBhvr additive="base">
                                        <p:cTn id="100" dur="500" decel="100000" fill="hold"/>
                                        <p:tgtEl>
                                          <p:spTgt spid="121"/>
                                        </p:tgtEl>
                                        <p:attrNameLst>
                                          <p:attrName>ppt_x</p:attrName>
                                        </p:attrNameLst>
                                      </p:cBhvr>
                                      <p:tavLst>
                                        <p:tav tm="0">
                                          <p:val>
                                            <p:strVal val="#ppt_x-0.05"/>
                                          </p:val>
                                        </p:tav>
                                        <p:tav tm="100000">
                                          <p:val>
                                            <p:strVal val="#ppt_x"/>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22"/>
                                        </p:tgtEl>
                                        <p:attrNameLst>
                                          <p:attrName>style.visibility</p:attrName>
                                        </p:attrNameLst>
                                      </p:cBhvr>
                                      <p:to>
                                        <p:strVal val="visible"/>
                                      </p:to>
                                    </p:set>
                                    <p:animEffect transition="in" filter="fade">
                                      <p:cBhvr>
                                        <p:cTn id="103" dur="500"/>
                                        <p:tgtEl>
                                          <p:spTgt spid="122"/>
                                        </p:tgtEl>
                                      </p:cBhvr>
                                    </p:animEffect>
                                    <p:anim calcmode="lin" valueType="num">
                                      <p:cBhvr additive="base">
                                        <p:cTn id="104" dur="500" decel="100000" fill="hold"/>
                                        <p:tgtEl>
                                          <p:spTgt spid="122"/>
                                        </p:tgtEl>
                                        <p:attrNameLst>
                                          <p:attrName>ppt_x</p:attrName>
                                        </p:attrNameLst>
                                      </p:cBhvr>
                                      <p:tavLst>
                                        <p:tav tm="0">
                                          <p:val>
                                            <p:strVal val="#ppt_x-0.05"/>
                                          </p:val>
                                        </p:tav>
                                        <p:tav tm="100000">
                                          <p:val>
                                            <p:strVal val="#ppt_x"/>
                                          </p:val>
                                        </p:tav>
                                      </p:tavLst>
                                    </p:anim>
                                  </p:childTnLst>
                                </p:cTn>
                              </p:par>
                            </p:childTnLst>
                          </p:cTn>
                        </p:par>
                      </p:childTnLst>
                    </p:cTn>
                  </p:par>
                  <p:par>
                    <p:cTn id="105" fill="hold">
                      <p:stCondLst>
                        <p:cond delay="indefinite"/>
                      </p:stCondLst>
                      <p:childTnLst>
                        <p:par>
                          <p:cTn id="106" fill="hold">
                            <p:stCondLst>
                              <p:cond delay="0"/>
                            </p:stCondLst>
                            <p:childTnLst>
                              <p:par>
                                <p:cTn id="107" presetID="42" presetClass="entr" presetSubtype="0" fill="hold" grpId="0" nodeType="clickEffect">
                                  <p:stCondLst>
                                    <p:cond delay="0"/>
                                  </p:stCondLst>
                                  <p:childTnLst>
                                    <p:set>
                                      <p:cBhvr>
                                        <p:cTn id="108" dur="1" fill="hold">
                                          <p:stCondLst>
                                            <p:cond delay="0"/>
                                          </p:stCondLst>
                                        </p:cTn>
                                        <p:tgtEl>
                                          <p:spTgt spid="123"/>
                                        </p:tgtEl>
                                        <p:attrNameLst>
                                          <p:attrName>style.visibility</p:attrName>
                                        </p:attrNameLst>
                                      </p:cBhvr>
                                      <p:to>
                                        <p:strVal val="visible"/>
                                      </p:to>
                                    </p:set>
                                    <p:animEffect transition="in" filter="fade">
                                      <p:cBhvr>
                                        <p:cTn id="109" dur="500"/>
                                        <p:tgtEl>
                                          <p:spTgt spid="123"/>
                                        </p:tgtEl>
                                      </p:cBhvr>
                                    </p:animEffect>
                                    <p:anim calcmode="lin" valueType="num">
                                      <p:cBhvr additive="base">
                                        <p:cTn id="110" dur="500" decel="100000" fill="hold"/>
                                        <p:tgtEl>
                                          <p:spTgt spid="123"/>
                                        </p:tgtEl>
                                        <p:attrNameLst>
                                          <p:attrName>ppt_x</p:attrName>
                                        </p:attrNameLst>
                                      </p:cBhvr>
                                      <p:tavLst>
                                        <p:tav tm="0">
                                          <p:val>
                                            <p:strVal val="#ppt_x-0.05"/>
                                          </p:val>
                                        </p:tav>
                                        <p:tav tm="100000">
                                          <p:val>
                                            <p:strVal val="#ppt_x"/>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4"/>
                                        </p:tgtEl>
                                        <p:attrNameLst>
                                          <p:attrName>style.visibility</p:attrName>
                                        </p:attrNameLst>
                                      </p:cBhvr>
                                      <p:to>
                                        <p:strVal val="visible"/>
                                      </p:to>
                                    </p:set>
                                    <p:animEffect transition="in" filter="fade">
                                      <p:cBhvr>
                                        <p:cTn id="113" dur="500"/>
                                        <p:tgtEl>
                                          <p:spTgt spid="124"/>
                                        </p:tgtEl>
                                      </p:cBhvr>
                                    </p:animEffect>
                                    <p:anim calcmode="lin" valueType="num">
                                      <p:cBhvr additive="base">
                                        <p:cTn id="114" dur="500" decel="100000" fill="hold"/>
                                        <p:tgtEl>
                                          <p:spTgt spid="124"/>
                                        </p:tgtEl>
                                        <p:attrNameLst>
                                          <p:attrName>ppt_x</p:attrName>
                                        </p:attrNameLst>
                                      </p:cBhvr>
                                      <p:tavLst>
                                        <p:tav tm="0">
                                          <p:val>
                                            <p:strVal val="#ppt_x-0.05"/>
                                          </p:val>
                                        </p:tav>
                                        <p:tav tm="100000">
                                          <p:val>
                                            <p:strVal val="#ppt_x"/>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5"/>
                                        </p:tgtEl>
                                        <p:attrNameLst>
                                          <p:attrName>style.visibility</p:attrName>
                                        </p:attrNameLst>
                                      </p:cBhvr>
                                      <p:to>
                                        <p:strVal val="visible"/>
                                      </p:to>
                                    </p:set>
                                    <p:animEffect transition="in" filter="fade">
                                      <p:cBhvr>
                                        <p:cTn id="117" dur="500"/>
                                        <p:tgtEl>
                                          <p:spTgt spid="125"/>
                                        </p:tgtEl>
                                      </p:cBhvr>
                                    </p:animEffect>
                                    <p:anim calcmode="lin" valueType="num">
                                      <p:cBhvr additive="base">
                                        <p:cTn id="118" dur="500" decel="100000" fill="hold"/>
                                        <p:tgtEl>
                                          <p:spTgt spid="125"/>
                                        </p:tgtEl>
                                        <p:attrNameLst>
                                          <p:attrName>ppt_x</p:attrName>
                                        </p:attrNameLst>
                                      </p:cBhvr>
                                      <p:tavLst>
                                        <p:tav tm="0">
                                          <p:val>
                                            <p:strVal val="#ppt_x-0.05"/>
                                          </p:val>
                                        </p:tav>
                                        <p:tav tm="100000">
                                          <p:val>
                                            <p:strVal val="#ppt_x"/>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26"/>
                                        </p:tgtEl>
                                        <p:attrNameLst>
                                          <p:attrName>style.visibility</p:attrName>
                                        </p:attrNameLst>
                                      </p:cBhvr>
                                      <p:to>
                                        <p:strVal val="visible"/>
                                      </p:to>
                                    </p:set>
                                    <p:animEffect transition="in" filter="fade">
                                      <p:cBhvr>
                                        <p:cTn id="121" dur="500"/>
                                        <p:tgtEl>
                                          <p:spTgt spid="126"/>
                                        </p:tgtEl>
                                      </p:cBhvr>
                                    </p:animEffect>
                                    <p:anim calcmode="lin" valueType="num">
                                      <p:cBhvr additive="base">
                                        <p:cTn id="122" dur="500" decel="100000" fill="hold"/>
                                        <p:tgtEl>
                                          <p:spTgt spid="126"/>
                                        </p:tgtEl>
                                        <p:attrNameLst>
                                          <p:attrName>ppt_x</p:attrName>
                                        </p:attrNameLst>
                                      </p:cBhvr>
                                      <p:tavLst>
                                        <p:tav tm="0">
                                          <p:val>
                                            <p:strVal val="#ppt_x-0.05"/>
                                          </p:val>
                                        </p:tav>
                                        <p:tav tm="100000">
                                          <p:val>
                                            <p:strVal val="#ppt_x"/>
                                          </p:val>
                                        </p:tav>
                                      </p:tavLst>
                                    </p:anim>
                                  </p:childTnLst>
                                </p:cTn>
                              </p:par>
                            </p:childTnLst>
                          </p:cTn>
                        </p:par>
                      </p:childTnLst>
                    </p:cTn>
                  </p:par>
                  <p:par>
                    <p:cTn id="123" fill="hold">
                      <p:stCondLst>
                        <p:cond delay="indefinite"/>
                      </p:stCondLst>
                      <p:childTnLst>
                        <p:par>
                          <p:cTn id="124" fill="hold">
                            <p:stCondLst>
                              <p:cond delay="0"/>
                            </p:stCondLst>
                            <p:childTnLst>
                              <p:par>
                                <p:cTn id="125" presetID="42" presetClass="entr" presetSubtype="0" fill="hold" grpId="0" nodeType="clickEffect">
                                  <p:stCondLst>
                                    <p:cond delay="0"/>
                                  </p:stCondLst>
                                  <p:childTnLst>
                                    <p:set>
                                      <p:cBhvr>
                                        <p:cTn id="126" dur="1" fill="hold">
                                          <p:stCondLst>
                                            <p:cond delay="0"/>
                                          </p:stCondLst>
                                        </p:cTn>
                                        <p:tgtEl>
                                          <p:spTgt spid="127"/>
                                        </p:tgtEl>
                                        <p:attrNameLst>
                                          <p:attrName>style.visibility</p:attrName>
                                        </p:attrNameLst>
                                      </p:cBhvr>
                                      <p:to>
                                        <p:strVal val="visible"/>
                                      </p:to>
                                    </p:set>
                                    <p:animEffect transition="in" filter="fade">
                                      <p:cBhvr>
                                        <p:cTn id="127" dur="500"/>
                                        <p:tgtEl>
                                          <p:spTgt spid="127"/>
                                        </p:tgtEl>
                                      </p:cBhvr>
                                    </p:animEffect>
                                    <p:anim calcmode="lin" valueType="num">
                                      <p:cBhvr additive="base">
                                        <p:cTn id="128" dur="500" decel="100000" fill="hold"/>
                                        <p:tgtEl>
                                          <p:spTgt spid="127"/>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TEAM</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Meet the Scrum Team</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One team. No sub-teams. Cross-functional. Self-managing.</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229</a:t>
            </a:r>
            <a:endParaRPr lang="en-US" sz="850" dirty="0"/>
          </a:p>
        </p:txBody>
      </p:sp>
      <p:sp>
        <p:nvSpPr>
          <p:cNvPr id="101" name="s101"/>
          <p:cNvSpPr/>
          <p:nvPr/>
        </p:nvSpPr>
        <p:spPr>
          <a:xfrm>
            <a:off x="543154" y="1965960"/>
            <a:ext cx="2743200" cy="2743200"/>
          </a:xfrm>
          <a:prstGeom prst="roundRect">
            <a:avLst>
              <a:gd name="adj" fmla="val 8000"/>
            </a:avLst>
          </a:prstGeom>
          <a:solidFill>
            <a:srgbClr val="111B2E"/>
          </a:solidFill>
          <a:ln w="19050">
            <a:solidFill>
              <a:srgbClr val="FBBF24"/>
            </a:solidFill>
            <a:prstDash val="solid"/>
          </a:ln>
        </p:spPr>
        <p:txBody>
          <a:bodyPr wrap="square" lIns="164592" tIns="109728" rIns="137160" bIns="91440" rtlCol="0" anchor="t">
            <a:noAutofit/>
          </a:bodyPr>
          <a:lstStyle/>
          <a:p>
            <a:endParaRPr lang="en-US"/>
          </a:p>
        </p:txBody>
      </p:sp>
      <p:sp>
        <p:nvSpPr>
          <p:cNvPr id="102" name="s102"/>
          <p:cNvSpPr txBox="1"/>
          <p:nvPr/>
        </p:nvSpPr>
        <p:spPr>
          <a:xfrm>
            <a:off x="543154" y="2103120"/>
            <a:ext cx="2743200"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BBF24"/>
                </a:solidFill>
                <a:latin typeface="Segoe UI"/>
                <a:ea typeface="Segoe UI"/>
                <a:cs typeface="Segoe UI"/>
              </a:rPr>
              <a:t>PRODUCT OWNER</a:t>
            </a:r>
            <a:endParaRPr lang="en-US" sz="1200" dirty="0"/>
          </a:p>
        </p:txBody>
      </p:sp>
      <p:sp>
        <p:nvSpPr>
          <p:cNvPr id="103" name="s103"/>
          <p:cNvSpPr/>
          <p:nvPr/>
        </p:nvSpPr>
        <p:spPr>
          <a:xfrm>
            <a:off x="1590142" y="2606040"/>
            <a:ext cx="658368" cy="658368"/>
          </a:xfrm>
          <a:prstGeom prst="ellipse">
            <a:avLst/>
          </a:prstGeom>
          <a:solidFill>
            <a:srgbClr val="FBBF24">
              <a:alpha val="22000"/>
            </a:srgbClr>
          </a:solidFill>
          <a:ln w="1905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872" b="1" dirty="0">
                <a:solidFill>
                  <a:srgbClr val="FBBF24"/>
                </a:solidFill>
                <a:latin typeface="Segoe UI"/>
                <a:ea typeface="Segoe UI"/>
                <a:cs typeface="Segoe UI"/>
              </a:rPr>
              <a:t>S</a:t>
            </a:r>
            <a:endParaRPr lang="en-US" sz="1872" dirty="0"/>
          </a:p>
        </p:txBody>
      </p:sp>
      <p:sp>
        <p:nvSpPr>
          <p:cNvPr id="104" name="s104"/>
          <p:cNvSpPr txBox="1"/>
          <p:nvPr/>
        </p:nvSpPr>
        <p:spPr>
          <a:xfrm>
            <a:off x="1347826" y="3319272"/>
            <a:ext cx="114300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Sarah</a:t>
            </a:r>
            <a:endParaRPr lang="en-US" sz="1200" dirty="0"/>
          </a:p>
        </p:txBody>
      </p:sp>
      <p:sp>
        <p:nvSpPr>
          <p:cNvPr id="105" name="s105"/>
          <p:cNvSpPr txBox="1"/>
          <p:nvPr/>
        </p:nvSpPr>
        <p:spPr>
          <a:xfrm>
            <a:off x="726034" y="4069080"/>
            <a:ext cx="2377440"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E2E8F0"/>
                </a:solidFill>
                <a:latin typeface="Segoe UI"/>
                <a:ea typeface="Segoe UI"/>
                <a:cs typeface="Segoe UI"/>
              </a:rPr>
              <a:t>Maximizes the value of the product.</a:t>
            </a:r>
            <a:endParaRPr lang="en-US" sz="1300" dirty="0"/>
          </a:p>
        </p:txBody>
      </p:sp>
      <p:sp>
        <p:nvSpPr>
          <p:cNvPr id="106" name="s106"/>
          <p:cNvSpPr/>
          <p:nvPr/>
        </p:nvSpPr>
        <p:spPr>
          <a:xfrm>
            <a:off x="3560674" y="1965960"/>
            <a:ext cx="2743200" cy="2743200"/>
          </a:xfrm>
          <a:prstGeom prst="roundRect">
            <a:avLst>
              <a:gd name="adj" fmla="val 8000"/>
            </a:avLst>
          </a:prstGeom>
          <a:solidFill>
            <a:srgbClr val="111B2E"/>
          </a:solidFill>
          <a:ln w="19050">
            <a:solidFill>
              <a:srgbClr val="A78BFA"/>
            </a:solidFill>
            <a:prstDash val="solid"/>
          </a:ln>
        </p:spPr>
        <p:txBody>
          <a:bodyPr wrap="square" lIns="164592" tIns="109728" rIns="137160" bIns="91440" rtlCol="0" anchor="t">
            <a:noAutofit/>
          </a:bodyPr>
          <a:lstStyle/>
          <a:p>
            <a:endParaRPr lang="en-US"/>
          </a:p>
        </p:txBody>
      </p:sp>
      <p:sp>
        <p:nvSpPr>
          <p:cNvPr id="107" name="s107"/>
          <p:cNvSpPr txBox="1"/>
          <p:nvPr/>
        </p:nvSpPr>
        <p:spPr>
          <a:xfrm>
            <a:off x="3560674" y="2103120"/>
            <a:ext cx="2743200"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A78BFA"/>
                </a:solidFill>
                <a:latin typeface="Segoe UI"/>
                <a:ea typeface="Segoe UI"/>
                <a:cs typeface="Segoe UI"/>
              </a:rPr>
              <a:t>SCRUM MASTER</a:t>
            </a:r>
            <a:endParaRPr lang="en-US" sz="1200" dirty="0"/>
          </a:p>
        </p:txBody>
      </p:sp>
      <p:sp>
        <p:nvSpPr>
          <p:cNvPr id="108" name="s108"/>
          <p:cNvSpPr/>
          <p:nvPr/>
        </p:nvSpPr>
        <p:spPr>
          <a:xfrm>
            <a:off x="4607662" y="2606040"/>
            <a:ext cx="658368" cy="658368"/>
          </a:xfrm>
          <a:prstGeom prst="ellipse">
            <a:avLst/>
          </a:prstGeom>
          <a:solidFill>
            <a:srgbClr val="A78BFA">
              <a:alpha val="22000"/>
            </a:srgbClr>
          </a:solidFill>
          <a:ln w="1905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872" b="1" dirty="0">
                <a:solidFill>
                  <a:srgbClr val="A78BFA"/>
                </a:solidFill>
                <a:latin typeface="Segoe UI"/>
                <a:ea typeface="Segoe UI"/>
                <a:cs typeface="Segoe UI"/>
              </a:rPr>
              <a:t>A</a:t>
            </a:r>
            <a:endParaRPr lang="en-US" sz="1872" dirty="0"/>
          </a:p>
        </p:txBody>
      </p:sp>
      <p:sp>
        <p:nvSpPr>
          <p:cNvPr id="109" name="s109"/>
          <p:cNvSpPr txBox="1"/>
          <p:nvPr/>
        </p:nvSpPr>
        <p:spPr>
          <a:xfrm>
            <a:off x="4365346" y="3319272"/>
            <a:ext cx="114300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Adam</a:t>
            </a:r>
            <a:endParaRPr lang="en-US" sz="1200" dirty="0"/>
          </a:p>
        </p:txBody>
      </p:sp>
      <p:sp>
        <p:nvSpPr>
          <p:cNvPr id="110" name="s110"/>
          <p:cNvSpPr txBox="1"/>
          <p:nvPr/>
        </p:nvSpPr>
        <p:spPr>
          <a:xfrm>
            <a:off x="3743554" y="4069080"/>
            <a:ext cx="2377440"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E2E8F0"/>
                </a:solidFill>
                <a:latin typeface="Segoe UI"/>
                <a:ea typeface="Segoe UI"/>
                <a:cs typeface="Segoe UI"/>
              </a:rPr>
              <a:t>Accountable for the team's effectiveness.</a:t>
            </a:r>
            <a:endParaRPr lang="en-US" sz="1300" dirty="0"/>
          </a:p>
        </p:txBody>
      </p:sp>
      <p:sp>
        <p:nvSpPr>
          <p:cNvPr id="111" name="s111"/>
          <p:cNvSpPr/>
          <p:nvPr/>
        </p:nvSpPr>
        <p:spPr>
          <a:xfrm>
            <a:off x="6578194" y="1965960"/>
            <a:ext cx="5052974" cy="2743200"/>
          </a:xfrm>
          <a:prstGeom prst="roundRect">
            <a:avLst>
              <a:gd name="adj" fmla="val 8000"/>
            </a:avLst>
          </a:prstGeom>
          <a:solidFill>
            <a:srgbClr val="111B2E"/>
          </a:solidFill>
          <a:ln w="19050">
            <a:solidFill>
              <a:srgbClr val="60A5FA"/>
            </a:solidFill>
            <a:prstDash val="solid"/>
          </a:ln>
        </p:spPr>
        <p:txBody>
          <a:bodyPr wrap="square" lIns="164592" tIns="109728" rIns="137160" bIns="91440" rtlCol="0" anchor="t">
            <a:noAutofit/>
          </a:bodyPr>
          <a:lstStyle/>
          <a:p>
            <a:endParaRPr lang="en-US"/>
          </a:p>
        </p:txBody>
      </p:sp>
      <p:sp>
        <p:nvSpPr>
          <p:cNvPr id="112" name="s112"/>
          <p:cNvSpPr txBox="1"/>
          <p:nvPr/>
        </p:nvSpPr>
        <p:spPr>
          <a:xfrm>
            <a:off x="6578194" y="2103120"/>
            <a:ext cx="5052974"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60A5FA"/>
                </a:solidFill>
                <a:latin typeface="Segoe UI"/>
                <a:ea typeface="Segoe UI"/>
                <a:cs typeface="Segoe UI"/>
              </a:rPr>
              <a:t>DEVELOPERS</a:t>
            </a:r>
            <a:endParaRPr lang="en-US" sz="1200" dirty="0"/>
          </a:p>
        </p:txBody>
      </p:sp>
      <p:sp>
        <p:nvSpPr>
          <p:cNvPr id="113" name="s113"/>
          <p:cNvSpPr/>
          <p:nvPr/>
        </p:nvSpPr>
        <p:spPr>
          <a:xfrm>
            <a:off x="7065569" y="2606040"/>
            <a:ext cx="658368" cy="658368"/>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872" b="1" dirty="0">
                <a:solidFill>
                  <a:srgbClr val="13D0F7"/>
                </a:solidFill>
                <a:latin typeface="Segoe UI"/>
                <a:ea typeface="Segoe UI"/>
                <a:cs typeface="Segoe UI"/>
              </a:rPr>
              <a:t>O</a:t>
            </a:r>
            <a:endParaRPr lang="en-US" sz="1872" dirty="0"/>
          </a:p>
        </p:txBody>
      </p:sp>
      <p:sp>
        <p:nvSpPr>
          <p:cNvPr id="114" name="s114"/>
          <p:cNvSpPr txBox="1"/>
          <p:nvPr/>
        </p:nvSpPr>
        <p:spPr>
          <a:xfrm>
            <a:off x="6823253" y="3319272"/>
            <a:ext cx="114300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Omar</a:t>
            </a:r>
            <a:endParaRPr lang="en-US" sz="1200" dirty="0"/>
          </a:p>
        </p:txBody>
      </p:sp>
      <p:sp>
        <p:nvSpPr>
          <p:cNvPr id="115" name="s115"/>
          <p:cNvSpPr txBox="1"/>
          <p:nvPr/>
        </p:nvSpPr>
        <p:spPr>
          <a:xfrm>
            <a:off x="6823253" y="3575304"/>
            <a:ext cx="1143000" cy="25603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0" dirty="0">
                <a:solidFill>
                  <a:srgbClr val="13D0F7"/>
                </a:solidFill>
                <a:latin typeface="Segoe UI"/>
                <a:ea typeface="Segoe UI"/>
                <a:cs typeface="Segoe UI"/>
              </a:rPr>
              <a:t>Backend</a:t>
            </a:r>
            <a:endParaRPr lang="en-US" sz="1050" dirty="0"/>
          </a:p>
        </p:txBody>
      </p:sp>
      <p:sp>
        <p:nvSpPr>
          <p:cNvPr id="116" name="s116"/>
          <p:cNvSpPr/>
          <p:nvPr/>
        </p:nvSpPr>
        <p:spPr>
          <a:xfrm>
            <a:off x="8208569" y="2606040"/>
            <a:ext cx="658368" cy="658368"/>
          </a:xfrm>
          <a:prstGeom prst="ellipse">
            <a:avLst/>
          </a:prstGeom>
          <a:solidFill>
            <a:srgbClr val="F472B6">
              <a:alpha val="22000"/>
            </a:srgbClr>
          </a:solidFill>
          <a:ln w="19050">
            <a:solidFill>
              <a:srgbClr val="F472B6"/>
            </a:solidFill>
            <a:prstDash val="solid"/>
          </a:ln>
        </p:spPr>
        <p:txBody>
          <a:bodyPr wrap="square" lIns="0" tIns="0" rIns="0" bIns="0" rtlCol="0" anchor="ctr">
            <a:noAutofit/>
          </a:bodyPr>
          <a:lstStyle/>
          <a:p>
            <a:pPr marL="0" indent="0" algn="ctr">
              <a:spcBef>
                <a:spcPts val="0"/>
              </a:spcBef>
              <a:spcAft>
                <a:spcPts val="0"/>
              </a:spcAft>
              <a:buNone/>
            </a:pPr>
            <a:r>
              <a:rPr lang="en-US" sz="1872" b="1" dirty="0">
                <a:solidFill>
                  <a:srgbClr val="F472B6"/>
                </a:solidFill>
                <a:latin typeface="Segoe UI"/>
                <a:ea typeface="Segoe UI"/>
                <a:cs typeface="Segoe UI"/>
              </a:rPr>
              <a:t>L</a:t>
            </a:r>
            <a:endParaRPr lang="en-US" sz="1872" dirty="0"/>
          </a:p>
        </p:txBody>
      </p:sp>
      <p:sp>
        <p:nvSpPr>
          <p:cNvPr id="117" name="s117"/>
          <p:cNvSpPr txBox="1"/>
          <p:nvPr/>
        </p:nvSpPr>
        <p:spPr>
          <a:xfrm>
            <a:off x="7966253" y="3319272"/>
            <a:ext cx="114300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Lina</a:t>
            </a:r>
            <a:endParaRPr lang="en-US" sz="1200" dirty="0"/>
          </a:p>
        </p:txBody>
      </p:sp>
      <p:sp>
        <p:nvSpPr>
          <p:cNvPr id="118" name="s118"/>
          <p:cNvSpPr txBox="1"/>
          <p:nvPr/>
        </p:nvSpPr>
        <p:spPr>
          <a:xfrm>
            <a:off x="7966253" y="3575304"/>
            <a:ext cx="1143000" cy="25603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0" dirty="0">
                <a:solidFill>
                  <a:srgbClr val="F472B6"/>
                </a:solidFill>
                <a:latin typeface="Segoe UI"/>
                <a:ea typeface="Segoe UI"/>
                <a:cs typeface="Segoe UI"/>
              </a:rPr>
              <a:t>Frontend</a:t>
            </a:r>
            <a:endParaRPr lang="en-US" sz="1050" dirty="0"/>
          </a:p>
        </p:txBody>
      </p:sp>
      <p:sp>
        <p:nvSpPr>
          <p:cNvPr id="119" name="s119"/>
          <p:cNvSpPr/>
          <p:nvPr/>
        </p:nvSpPr>
        <p:spPr>
          <a:xfrm>
            <a:off x="9351569" y="2606040"/>
            <a:ext cx="658368" cy="658368"/>
          </a:xfrm>
          <a:prstGeom prst="ellipse">
            <a:avLst/>
          </a:prstGeom>
          <a:solidFill>
            <a:srgbClr val="34D399">
              <a:alpha val="22000"/>
            </a:srgbClr>
          </a:solidFill>
          <a:ln w="1905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872" b="1" dirty="0">
                <a:solidFill>
                  <a:srgbClr val="34D399"/>
                </a:solidFill>
                <a:latin typeface="Segoe UI"/>
                <a:ea typeface="Segoe UI"/>
                <a:cs typeface="Segoe UI"/>
              </a:rPr>
              <a:t>M</a:t>
            </a:r>
            <a:endParaRPr lang="en-US" sz="1872" dirty="0"/>
          </a:p>
        </p:txBody>
      </p:sp>
      <p:sp>
        <p:nvSpPr>
          <p:cNvPr id="120" name="s120"/>
          <p:cNvSpPr txBox="1"/>
          <p:nvPr/>
        </p:nvSpPr>
        <p:spPr>
          <a:xfrm>
            <a:off x="9109253" y="3319272"/>
            <a:ext cx="114300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Maya</a:t>
            </a:r>
            <a:endParaRPr lang="en-US" sz="1200" dirty="0"/>
          </a:p>
        </p:txBody>
      </p:sp>
      <p:sp>
        <p:nvSpPr>
          <p:cNvPr id="121" name="s121"/>
          <p:cNvSpPr txBox="1"/>
          <p:nvPr/>
        </p:nvSpPr>
        <p:spPr>
          <a:xfrm>
            <a:off x="9109253" y="3575304"/>
            <a:ext cx="1143000" cy="25603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0" dirty="0">
                <a:solidFill>
                  <a:srgbClr val="34D399"/>
                </a:solidFill>
                <a:latin typeface="Segoe UI"/>
                <a:ea typeface="Segoe UI"/>
                <a:cs typeface="Segoe UI"/>
              </a:rPr>
              <a:t>QA</a:t>
            </a:r>
            <a:endParaRPr lang="en-US" sz="1050" dirty="0"/>
          </a:p>
        </p:txBody>
      </p:sp>
      <p:sp>
        <p:nvSpPr>
          <p:cNvPr id="122" name="s122"/>
          <p:cNvSpPr/>
          <p:nvPr/>
        </p:nvSpPr>
        <p:spPr>
          <a:xfrm>
            <a:off x="10494569" y="2606040"/>
            <a:ext cx="658368" cy="658368"/>
          </a:xfrm>
          <a:prstGeom prst="ellipse">
            <a:avLst/>
          </a:prstGeom>
          <a:solidFill>
            <a:srgbClr val="F0A98B">
              <a:alpha val="22000"/>
            </a:srgbClr>
          </a:solidFill>
          <a:ln w="19050">
            <a:solidFill>
              <a:srgbClr val="F0A98B"/>
            </a:solidFill>
            <a:prstDash val="solid"/>
          </a:ln>
        </p:spPr>
        <p:txBody>
          <a:bodyPr wrap="square" lIns="0" tIns="0" rIns="0" bIns="0" rtlCol="0" anchor="ctr">
            <a:noAutofit/>
          </a:bodyPr>
          <a:lstStyle/>
          <a:p>
            <a:pPr marL="0" indent="0" algn="ctr">
              <a:spcBef>
                <a:spcPts val="0"/>
              </a:spcBef>
              <a:spcAft>
                <a:spcPts val="0"/>
              </a:spcAft>
              <a:buNone/>
            </a:pPr>
            <a:r>
              <a:rPr lang="en-US" sz="1872" b="1" dirty="0">
                <a:solidFill>
                  <a:srgbClr val="F0A98B"/>
                </a:solidFill>
                <a:latin typeface="Segoe UI"/>
                <a:ea typeface="Segoe UI"/>
                <a:cs typeface="Segoe UI"/>
              </a:rPr>
              <a:t>D</a:t>
            </a:r>
            <a:endParaRPr lang="en-US" sz="1872" dirty="0"/>
          </a:p>
        </p:txBody>
      </p:sp>
      <p:sp>
        <p:nvSpPr>
          <p:cNvPr id="123" name="s123"/>
          <p:cNvSpPr txBox="1"/>
          <p:nvPr/>
        </p:nvSpPr>
        <p:spPr>
          <a:xfrm>
            <a:off x="10252253" y="3319272"/>
            <a:ext cx="114300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Daniel</a:t>
            </a:r>
            <a:endParaRPr lang="en-US" sz="1200" dirty="0"/>
          </a:p>
        </p:txBody>
      </p:sp>
      <p:sp>
        <p:nvSpPr>
          <p:cNvPr id="124" name="s124"/>
          <p:cNvSpPr txBox="1"/>
          <p:nvPr/>
        </p:nvSpPr>
        <p:spPr>
          <a:xfrm>
            <a:off x="10252253" y="3575304"/>
            <a:ext cx="1143000" cy="25603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0" dirty="0">
                <a:solidFill>
                  <a:srgbClr val="F0A98B"/>
                </a:solidFill>
                <a:latin typeface="Segoe UI"/>
                <a:ea typeface="Segoe UI"/>
                <a:cs typeface="Segoe UI"/>
              </a:rPr>
              <a:t>UI/UX</a:t>
            </a:r>
            <a:endParaRPr lang="en-US" sz="1050" dirty="0"/>
          </a:p>
        </p:txBody>
      </p:sp>
      <p:sp>
        <p:nvSpPr>
          <p:cNvPr id="125" name="s125"/>
          <p:cNvSpPr txBox="1"/>
          <p:nvPr/>
        </p:nvSpPr>
        <p:spPr>
          <a:xfrm>
            <a:off x="6761074" y="4069080"/>
            <a:ext cx="4687214"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E2E8F0"/>
                </a:solidFill>
                <a:latin typeface="Segoe UI"/>
                <a:ea typeface="Segoe UI"/>
                <a:cs typeface="Segoe UI"/>
              </a:rPr>
              <a:t>Create a usable Increment every Sprint.</a:t>
            </a:r>
            <a:endParaRPr lang="en-US" sz="1300" dirty="0"/>
          </a:p>
        </p:txBody>
      </p:sp>
      <p:sp>
        <p:nvSpPr>
          <p:cNvPr id="126" name="s126"/>
          <p:cNvSpPr/>
          <p:nvPr/>
        </p:nvSpPr>
        <p:spPr>
          <a:xfrm>
            <a:off x="543154" y="4983480"/>
            <a:ext cx="11088014" cy="731520"/>
          </a:xfrm>
          <a:prstGeom prst="roundRect">
            <a:avLst>
              <a:gd name="adj" fmla="val 12000"/>
            </a:avLst>
          </a:prstGeom>
          <a:solidFill>
            <a:srgbClr val="111B2E"/>
          </a:solidFill>
          <a:ln w="12700">
            <a:solidFill>
              <a:srgbClr val="60A5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“Developers” in Scrum </a:t>
            </a:r>
            <a:r>
              <a:rPr lang="en-US" sz="1300" b="0" dirty="0">
                <a:solidFill>
                  <a:srgbClr val="E2E8F0"/>
                </a:solidFill>
                <a:latin typeface="Segoe UI"/>
                <a:ea typeface="Segoe UI"/>
                <a:cs typeface="Segoe UI"/>
              </a:rPr>
              <a:t>= everyone needed to create a usable Increment: programmers, testers, designers and other specialists. Not only coders.</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22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22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22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22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22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44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44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44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44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44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44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44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44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44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440"/>
                                  </p:stCondLst>
                                  <p:childTnLst>
                                    <p:set>
                                      <p:cBhvr>
                                        <p:cTn id="82" dur="1" fill="hold">
                                          <p:stCondLst>
                                            <p:cond delay="0"/>
                                          </p:stCondLst>
                                        </p:cTn>
                                        <p:tgtEl>
                                          <p:spTgt spid="120"/>
                                        </p:tgtEl>
                                        <p:attrNameLst>
                                          <p:attrName>style.visibility</p:attrName>
                                        </p:attrNameLst>
                                      </p:cBhvr>
                                      <p:to>
                                        <p:strVal val="visible"/>
                                      </p:to>
                                    </p:set>
                                    <p:animEffect transition="in" filter="fade">
                                      <p:cBhvr>
                                        <p:cTn id="83" dur="500"/>
                                        <p:tgtEl>
                                          <p:spTgt spid="120"/>
                                        </p:tgtEl>
                                      </p:cBhvr>
                                    </p:animEffect>
                                    <p:anim calcmode="lin" valueType="num">
                                      <p:cBhvr additive="base">
                                        <p:cTn id="84" dur="500" decel="100000" fill="hold"/>
                                        <p:tgtEl>
                                          <p:spTgt spid="120"/>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440"/>
                                  </p:stCondLst>
                                  <p:childTnLst>
                                    <p:set>
                                      <p:cBhvr>
                                        <p:cTn id="86" dur="1" fill="hold">
                                          <p:stCondLst>
                                            <p:cond delay="0"/>
                                          </p:stCondLst>
                                        </p:cTn>
                                        <p:tgtEl>
                                          <p:spTgt spid="121"/>
                                        </p:tgtEl>
                                        <p:attrNameLst>
                                          <p:attrName>style.visibility</p:attrName>
                                        </p:attrNameLst>
                                      </p:cBhvr>
                                      <p:to>
                                        <p:strVal val="visible"/>
                                      </p:to>
                                    </p:set>
                                    <p:animEffect transition="in" filter="fade">
                                      <p:cBhvr>
                                        <p:cTn id="87" dur="500"/>
                                        <p:tgtEl>
                                          <p:spTgt spid="121"/>
                                        </p:tgtEl>
                                      </p:cBhvr>
                                    </p:animEffect>
                                    <p:anim calcmode="lin" valueType="num">
                                      <p:cBhvr additive="base">
                                        <p:cTn id="88" dur="500" decel="100000" fill="hold"/>
                                        <p:tgtEl>
                                          <p:spTgt spid="121"/>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440"/>
                                  </p:stCondLst>
                                  <p:childTnLst>
                                    <p:set>
                                      <p:cBhvr>
                                        <p:cTn id="90" dur="1" fill="hold">
                                          <p:stCondLst>
                                            <p:cond delay="0"/>
                                          </p:stCondLst>
                                        </p:cTn>
                                        <p:tgtEl>
                                          <p:spTgt spid="122"/>
                                        </p:tgtEl>
                                        <p:attrNameLst>
                                          <p:attrName>style.visibility</p:attrName>
                                        </p:attrNameLst>
                                      </p:cBhvr>
                                      <p:to>
                                        <p:strVal val="visible"/>
                                      </p:to>
                                    </p:set>
                                    <p:animEffect transition="in" filter="fade">
                                      <p:cBhvr>
                                        <p:cTn id="91" dur="500"/>
                                        <p:tgtEl>
                                          <p:spTgt spid="122"/>
                                        </p:tgtEl>
                                      </p:cBhvr>
                                    </p:animEffect>
                                    <p:anim calcmode="lin" valueType="num">
                                      <p:cBhvr additive="base">
                                        <p:cTn id="92" dur="500" decel="100000" fill="hold"/>
                                        <p:tgtEl>
                                          <p:spTgt spid="122"/>
                                        </p:tgtEl>
                                        <p:attrNameLst>
                                          <p:attrName>ppt_y</p:attrName>
                                        </p:attrNameLst>
                                      </p:cBhvr>
                                      <p:tavLst>
                                        <p:tav tm="0">
                                          <p:val>
                                            <p:strVal val="#ppt_y+0.06"/>
                                          </p:val>
                                        </p:tav>
                                        <p:tav tm="100000">
                                          <p:val>
                                            <p:strVal val="#ppt_y"/>
                                          </p:val>
                                        </p:tav>
                                      </p:tavLst>
                                    </p:anim>
                                  </p:childTnLst>
                                </p:cTn>
                              </p:par>
                              <p:par>
                                <p:cTn id="93" presetID="42" presetClass="entr" presetSubtype="0" fill="hold" grpId="0" nodeType="withEffect">
                                  <p:stCondLst>
                                    <p:cond delay="440"/>
                                  </p:stCondLst>
                                  <p:childTnLst>
                                    <p:set>
                                      <p:cBhvr>
                                        <p:cTn id="94" dur="1" fill="hold">
                                          <p:stCondLst>
                                            <p:cond delay="0"/>
                                          </p:stCondLst>
                                        </p:cTn>
                                        <p:tgtEl>
                                          <p:spTgt spid="123"/>
                                        </p:tgtEl>
                                        <p:attrNameLst>
                                          <p:attrName>style.visibility</p:attrName>
                                        </p:attrNameLst>
                                      </p:cBhvr>
                                      <p:to>
                                        <p:strVal val="visible"/>
                                      </p:to>
                                    </p:set>
                                    <p:animEffect transition="in" filter="fade">
                                      <p:cBhvr>
                                        <p:cTn id="95" dur="500"/>
                                        <p:tgtEl>
                                          <p:spTgt spid="123"/>
                                        </p:tgtEl>
                                      </p:cBhvr>
                                    </p:animEffect>
                                    <p:anim calcmode="lin" valueType="num">
                                      <p:cBhvr additive="base">
                                        <p:cTn id="96" dur="500" decel="100000" fill="hold"/>
                                        <p:tgtEl>
                                          <p:spTgt spid="123"/>
                                        </p:tgtEl>
                                        <p:attrNameLst>
                                          <p:attrName>ppt_y</p:attrName>
                                        </p:attrNameLst>
                                      </p:cBhvr>
                                      <p:tavLst>
                                        <p:tav tm="0">
                                          <p:val>
                                            <p:strVal val="#ppt_y+0.06"/>
                                          </p:val>
                                        </p:tav>
                                        <p:tav tm="100000">
                                          <p:val>
                                            <p:strVal val="#ppt_y"/>
                                          </p:val>
                                        </p:tav>
                                      </p:tavLst>
                                    </p:anim>
                                  </p:childTnLst>
                                </p:cTn>
                              </p:par>
                              <p:par>
                                <p:cTn id="97" presetID="42" presetClass="entr" presetSubtype="0" fill="hold" grpId="0" nodeType="withEffect">
                                  <p:stCondLst>
                                    <p:cond delay="440"/>
                                  </p:stCondLst>
                                  <p:childTnLst>
                                    <p:set>
                                      <p:cBhvr>
                                        <p:cTn id="98" dur="1" fill="hold">
                                          <p:stCondLst>
                                            <p:cond delay="0"/>
                                          </p:stCondLst>
                                        </p:cTn>
                                        <p:tgtEl>
                                          <p:spTgt spid="124"/>
                                        </p:tgtEl>
                                        <p:attrNameLst>
                                          <p:attrName>style.visibility</p:attrName>
                                        </p:attrNameLst>
                                      </p:cBhvr>
                                      <p:to>
                                        <p:strVal val="visible"/>
                                      </p:to>
                                    </p:set>
                                    <p:animEffect transition="in" filter="fade">
                                      <p:cBhvr>
                                        <p:cTn id="99" dur="500"/>
                                        <p:tgtEl>
                                          <p:spTgt spid="124"/>
                                        </p:tgtEl>
                                      </p:cBhvr>
                                    </p:animEffect>
                                    <p:anim calcmode="lin" valueType="num">
                                      <p:cBhvr additive="base">
                                        <p:cTn id="100" dur="500" decel="100000" fill="hold"/>
                                        <p:tgtEl>
                                          <p:spTgt spid="124"/>
                                        </p:tgtEl>
                                        <p:attrNameLst>
                                          <p:attrName>ppt_y</p:attrName>
                                        </p:attrNameLst>
                                      </p:cBhvr>
                                      <p:tavLst>
                                        <p:tav tm="0">
                                          <p:val>
                                            <p:strVal val="#ppt_y+0.06"/>
                                          </p:val>
                                        </p:tav>
                                        <p:tav tm="100000">
                                          <p:val>
                                            <p:strVal val="#ppt_y"/>
                                          </p:val>
                                        </p:tav>
                                      </p:tavLst>
                                    </p:anim>
                                  </p:childTnLst>
                                </p:cTn>
                              </p:par>
                              <p:par>
                                <p:cTn id="101" presetID="42" presetClass="entr" presetSubtype="0" fill="hold" grpId="0" nodeType="withEffect">
                                  <p:stCondLst>
                                    <p:cond delay="440"/>
                                  </p:stCondLst>
                                  <p:childTnLst>
                                    <p:set>
                                      <p:cBhvr>
                                        <p:cTn id="102" dur="1" fill="hold">
                                          <p:stCondLst>
                                            <p:cond delay="0"/>
                                          </p:stCondLst>
                                        </p:cTn>
                                        <p:tgtEl>
                                          <p:spTgt spid="125"/>
                                        </p:tgtEl>
                                        <p:attrNameLst>
                                          <p:attrName>style.visibility</p:attrName>
                                        </p:attrNameLst>
                                      </p:cBhvr>
                                      <p:to>
                                        <p:strVal val="visible"/>
                                      </p:to>
                                    </p:set>
                                    <p:animEffect transition="in" filter="fade">
                                      <p:cBhvr>
                                        <p:cTn id="103" dur="500"/>
                                        <p:tgtEl>
                                          <p:spTgt spid="125"/>
                                        </p:tgtEl>
                                      </p:cBhvr>
                                    </p:animEffect>
                                    <p:anim calcmode="lin" valueType="num">
                                      <p:cBhvr additive="base">
                                        <p:cTn id="104" dur="500" decel="100000" fill="hold"/>
                                        <p:tgtEl>
                                          <p:spTgt spid="125"/>
                                        </p:tgtEl>
                                        <p:attrNameLst>
                                          <p:attrName>ppt_y</p:attrName>
                                        </p:attrNameLst>
                                      </p:cBhvr>
                                      <p:tavLst>
                                        <p:tav tm="0">
                                          <p:val>
                                            <p:strVal val="#ppt_y+0.06"/>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42" presetClass="entr" presetSubtype="0" fill="hold" grpId="0" nodeType="clickEffect">
                                  <p:stCondLst>
                                    <p:cond delay="0"/>
                                  </p:stCondLst>
                                  <p:childTnLst>
                                    <p:set>
                                      <p:cBhvr>
                                        <p:cTn id="108" dur="1" fill="hold">
                                          <p:stCondLst>
                                            <p:cond delay="0"/>
                                          </p:stCondLst>
                                        </p:cTn>
                                        <p:tgtEl>
                                          <p:spTgt spid="126"/>
                                        </p:tgtEl>
                                        <p:attrNameLst>
                                          <p:attrName>style.visibility</p:attrName>
                                        </p:attrNameLst>
                                      </p:cBhvr>
                                      <p:to>
                                        <p:strVal val="visible"/>
                                      </p:to>
                                    </p:set>
                                    <p:animEffect transition="in" filter="fade">
                                      <p:cBhvr>
                                        <p:cTn id="109" dur="500"/>
                                        <p:tgtEl>
                                          <p:spTgt spid="126"/>
                                        </p:tgtEl>
                                      </p:cBhvr>
                                    </p:animEffect>
                                    <p:anim calcmode="lin" valueType="num">
                                      <p:cBhvr additive="base">
                                        <p:cTn id="110" dur="500" decel="100000" fill="hold"/>
                                        <p:tgtEl>
                                          <p:spTgt spid="126"/>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228954"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PRODUCT OWNER</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Is the Product Owner? And What Does She Do?</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One person accountable for maximizing the value of the product the team builds.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173</a:t>
            </a:r>
            <a:endParaRPr lang="en-US" sz="850" dirty="0"/>
          </a:p>
        </p:txBody>
      </p:sp>
      <p:sp>
        <p:nvSpPr>
          <p:cNvPr id="101" name="s101"/>
          <p:cNvSpPr/>
          <p:nvPr/>
        </p:nvSpPr>
        <p:spPr>
          <a:xfrm>
            <a:off x="1731874" y="2011680"/>
            <a:ext cx="914400" cy="914400"/>
          </a:xfrm>
          <a:prstGeom prst="ellipse">
            <a:avLst/>
          </a:prstGeom>
          <a:solidFill>
            <a:srgbClr val="FBBF24">
              <a:alpha val="22000"/>
            </a:srgbClr>
          </a:solidFill>
          <a:ln w="1905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2600" b="1" dirty="0">
                <a:solidFill>
                  <a:srgbClr val="FBBF24"/>
                </a:solidFill>
                <a:latin typeface="Segoe UI"/>
                <a:ea typeface="Segoe UI"/>
                <a:cs typeface="Segoe UI"/>
              </a:rPr>
              <a:t>S</a:t>
            </a:r>
            <a:endParaRPr lang="en-US" sz="2600" dirty="0"/>
          </a:p>
        </p:txBody>
      </p:sp>
      <p:sp>
        <p:nvSpPr>
          <p:cNvPr id="102" name="s102"/>
          <p:cNvSpPr/>
          <p:nvPr/>
        </p:nvSpPr>
        <p:spPr>
          <a:xfrm>
            <a:off x="543154" y="1828800"/>
            <a:ext cx="3291840" cy="4425696"/>
          </a:xfrm>
          <a:prstGeom prst="roundRect">
            <a:avLst>
              <a:gd name="adj" fmla="val 7000"/>
            </a:avLst>
          </a:prstGeom>
          <a:solidFill>
            <a:srgbClr val="FBBF24">
              <a:alpha val="8000"/>
            </a:srgbClr>
          </a:solidFill>
          <a:ln w="12700">
            <a:solidFill>
              <a:srgbClr val="FBBF24"/>
            </a:solidFill>
            <a:prstDash val="solid"/>
          </a:ln>
        </p:spPr>
        <p:txBody>
          <a:bodyPr wrap="square" lIns="201168" tIns="1234440" rIns="164592" bIns="91440" rtlCol="0" anchor="t">
            <a:noAutofit/>
          </a:bodyPr>
          <a:lstStyle/>
          <a:p>
            <a:pPr marL="0" indent="0" algn="ctr">
              <a:spcBef>
                <a:spcPts val="0"/>
              </a:spcBef>
              <a:spcAft>
                <a:spcPts val="0"/>
              </a:spcAft>
              <a:buNone/>
            </a:pPr>
            <a:r>
              <a:rPr lang="en-US" b="1" dirty="0">
                <a:solidFill>
                  <a:srgbClr val="FFFFFF"/>
                </a:solidFill>
                <a:latin typeface="Segoe UI"/>
                <a:cs typeface="Segoe UI"/>
              </a:rPr>
              <a:t>Khaled</a:t>
            </a:r>
            <a:endParaRPr lang="en-US" sz="1800" dirty="0"/>
          </a:p>
          <a:p>
            <a:pPr marL="0" indent="0" algn="ctr">
              <a:spcBef>
                <a:spcPts val="0"/>
              </a:spcBef>
              <a:spcAft>
                <a:spcPts val="1200"/>
              </a:spcAft>
              <a:buNone/>
            </a:pPr>
            <a:r>
              <a:rPr lang="en-US" sz="1200" b="0" dirty="0">
                <a:solidFill>
                  <a:srgbClr val="FBBF24"/>
                </a:solidFill>
                <a:latin typeface="Segoe UI"/>
                <a:ea typeface="Segoe UI"/>
                <a:cs typeface="Segoe UI"/>
              </a:rPr>
              <a:t>Product Owner</a:t>
            </a:r>
            <a:endParaRPr lang="en-US" sz="1200" dirty="0"/>
          </a:p>
          <a:p>
            <a:pPr marL="0" indent="0" algn="l">
              <a:spcBef>
                <a:spcPts val="0"/>
              </a:spcBef>
              <a:spcAft>
                <a:spcPts val="200"/>
              </a:spcAft>
              <a:buNone/>
            </a:pPr>
            <a:r>
              <a:rPr lang="en-US" sz="1100" b="1" dirty="0">
                <a:solidFill>
                  <a:srgbClr val="FBBF24"/>
                </a:solidFill>
                <a:latin typeface="Segoe UI"/>
                <a:ea typeface="Segoe UI"/>
                <a:cs typeface="Segoe UI"/>
              </a:rPr>
              <a:t>ONE PERSON</a:t>
            </a:r>
            <a:endParaRPr lang="en-US" sz="1100" dirty="0"/>
          </a:p>
          <a:p>
            <a:pPr marL="0" indent="0" algn="l">
              <a:spcBef>
                <a:spcPts val="0"/>
              </a:spcBef>
              <a:spcAft>
                <a:spcPts val="800"/>
              </a:spcAft>
              <a:buNone/>
            </a:pPr>
            <a:r>
              <a:rPr lang="en-US" sz="1250" b="0" dirty="0">
                <a:solidFill>
                  <a:srgbClr val="E2E8F0"/>
                </a:solidFill>
                <a:latin typeface="Segoe UI"/>
                <a:ea typeface="Segoe UI"/>
                <a:cs typeface="Segoe UI"/>
              </a:rPr>
              <a:t>not a committee</a:t>
            </a:r>
            <a:endParaRPr lang="en-US" sz="1250" dirty="0"/>
          </a:p>
          <a:p>
            <a:pPr marL="0" indent="0" algn="l">
              <a:spcBef>
                <a:spcPts val="0"/>
              </a:spcBef>
              <a:spcAft>
                <a:spcPts val="200"/>
              </a:spcAft>
              <a:buNone/>
            </a:pPr>
            <a:r>
              <a:rPr lang="en-US" sz="1100" b="1" dirty="0">
                <a:solidFill>
                  <a:srgbClr val="FBBF24"/>
                </a:solidFill>
                <a:latin typeface="Segoe UI"/>
                <a:ea typeface="Segoe UI"/>
                <a:cs typeface="Segoe UI"/>
              </a:rPr>
              <a:t>THE VOICE OF VALUE</a:t>
            </a:r>
            <a:endParaRPr lang="en-US" sz="1100" dirty="0"/>
          </a:p>
          <a:p>
            <a:pPr marL="0" indent="0" algn="l">
              <a:spcBef>
                <a:spcPts val="0"/>
              </a:spcBef>
              <a:spcAft>
                <a:spcPts val="800"/>
              </a:spcAft>
              <a:buNone/>
            </a:pPr>
            <a:r>
              <a:rPr lang="en-US" sz="1250" b="0" dirty="0">
                <a:solidFill>
                  <a:srgbClr val="E2E8F0"/>
                </a:solidFill>
                <a:latin typeface="Segoe UI"/>
                <a:ea typeface="Segoe UI"/>
                <a:cs typeface="Segoe UI"/>
              </a:rPr>
              <a:t>between the client and the team</a:t>
            </a:r>
            <a:endParaRPr lang="en-US" sz="1250" dirty="0"/>
          </a:p>
          <a:p>
            <a:pPr marL="0" indent="0" algn="l">
              <a:spcBef>
                <a:spcPts val="0"/>
              </a:spcBef>
              <a:spcAft>
                <a:spcPts val="200"/>
              </a:spcAft>
              <a:buNone/>
            </a:pPr>
            <a:r>
              <a:rPr lang="en-US" sz="1100" b="1" dirty="0">
                <a:solidFill>
                  <a:srgbClr val="FBBF24"/>
                </a:solidFill>
                <a:latin typeface="Segoe UI"/>
                <a:ea typeface="Segoe UI"/>
                <a:cs typeface="Segoe UI"/>
              </a:rPr>
              <a:t>HER DECISIONS</a:t>
            </a:r>
            <a:endParaRPr lang="en-US" sz="1100" dirty="0"/>
          </a:p>
          <a:p>
            <a:pPr marL="0" indent="0" algn="l">
              <a:spcBef>
                <a:spcPts val="0"/>
              </a:spcBef>
              <a:spcAft>
                <a:spcPts val="0"/>
              </a:spcAft>
              <a:buNone/>
            </a:pPr>
            <a:r>
              <a:rPr lang="en-US" sz="1250" b="0" dirty="0">
                <a:solidFill>
                  <a:srgbClr val="E2E8F0"/>
                </a:solidFill>
                <a:latin typeface="Segoe UI"/>
                <a:ea typeface="Segoe UI"/>
                <a:cs typeface="Segoe UI"/>
              </a:rPr>
              <a:t>are respected by the whole company</a:t>
            </a:r>
            <a:endParaRPr lang="en-US" sz="1250" dirty="0"/>
          </a:p>
        </p:txBody>
      </p:sp>
      <p:sp>
        <p:nvSpPr>
          <p:cNvPr id="103" name="s103"/>
          <p:cNvSpPr txBox="1"/>
          <p:nvPr/>
        </p:nvSpPr>
        <p:spPr>
          <a:xfrm>
            <a:off x="4063594" y="1828800"/>
            <a:ext cx="420624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FBBF24"/>
                </a:solidFill>
                <a:latin typeface="Segoe UI"/>
                <a:ea typeface="Segoe UI"/>
                <a:cs typeface="Segoe UI"/>
              </a:rPr>
              <a:t>ACCOUNTABLE FOR  (Scrum Guide)</a:t>
            </a:r>
            <a:endParaRPr lang="en-US" sz="1100" dirty="0"/>
          </a:p>
        </p:txBody>
      </p:sp>
      <p:sp>
        <p:nvSpPr>
          <p:cNvPr id="104" name="s104"/>
          <p:cNvSpPr/>
          <p:nvPr/>
        </p:nvSpPr>
        <p:spPr>
          <a:xfrm>
            <a:off x="4063594" y="2148840"/>
            <a:ext cx="4206240" cy="731520"/>
          </a:xfrm>
          <a:prstGeom prst="roundRect">
            <a:avLst>
              <a:gd name="adj" fmla="val 12000"/>
            </a:avLst>
          </a:prstGeom>
          <a:solidFill>
            <a:srgbClr val="111B2E"/>
          </a:solidFill>
          <a:ln w="12700">
            <a:solidFill>
              <a:srgbClr val="FBBF24"/>
            </a:solidFill>
            <a:prstDash val="solid"/>
          </a:ln>
        </p:spPr>
        <p:txBody>
          <a:bodyPr wrap="square" lIns="182880" tIns="36576" rIns="109728" bIns="36576" rtlCol="0" anchor="ctr">
            <a:noAutofit/>
          </a:bodyPr>
          <a:lstStyle/>
          <a:p>
            <a:pPr marL="0" indent="0" algn="l">
              <a:spcBef>
                <a:spcPts val="0"/>
              </a:spcBef>
              <a:spcAft>
                <a:spcPts val="0"/>
              </a:spcAft>
              <a:buNone/>
            </a:pPr>
            <a:r>
              <a:rPr lang="en-US" sz="1500" b="0" dirty="0">
                <a:solidFill>
                  <a:srgbClr val="FBBF24"/>
                </a:solidFill>
                <a:latin typeface="Segoe UI"/>
                <a:ea typeface="Segoe UI"/>
                <a:cs typeface="Segoe UI"/>
              </a:rPr>
              <a:t>🎯  </a:t>
            </a:r>
            <a:r>
              <a:rPr lang="en-US" sz="1500" b="1" dirty="0">
                <a:solidFill>
                  <a:srgbClr val="FFFFFF"/>
                </a:solidFill>
                <a:latin typeface="Segoe UI"/>
                <a:ea typeface="Segoe UI"/>
                <a:cs typeface="Segoe UI"/>
              </a:rPr>
              <a:t>Product Goal</a:t>
            </a:r>
            <a:endParaRPr lang="en-US" sz="1500" dirty="0"/>
          </a:p>
          <a:p>
            <a:pPr marL="0" indent="0" algn="l">
              <a:spcBef>
                <a:spcPts val="200"/>
              </a:spcBef>
              <a:spcAft>
                <a:spcPts val="0"/>
              </a:spcAft>
              <a:buNone/>
            </a:pPr>
            <a:r>
              <a:rPr lang="en-US" sz="1200" b="0" dirty="0">
                <a:solidFill>
                  <a:srgbClr val="94A3B8"/>
                </a:solidFill>
                <a:latin typeface="Segoe UI"/>
                <a:ea typeface="Segoe UI"/>
                <a:cs typeface="Segoe UI"/>
              </a:rPr>
              <a:t>creates it and shares it</a:t>
            </a:r>
            <a:endParaRPr lang="en-US" sz="1200" dirty="0"/>
          </a:p>
        </p:txBody>
      </p:sp>
      <p:sp>
        <p:nvSpPr>
          <p:cNvPr id="105" name="s105"/>
          <p:cNvSpPr/>
          <p:nvPr/>
        </p:nvSpPr>
        <p:spPr>
          <a:xfrm>
            <a:off x="4063594" y="2971800"/>
            <a:ext cx="4206240" cy="731520"/>
          </a:xfrm>
          <a:prstGeom prst="roundRect">
            <a:avLst>
              <a:gd name="adj" fmla="val 12000"/>
            </a:avLst>
          </a:prstGeom>
          <a:solidFill>
            <a:srgbClr val="111B2E"/>
          </a:solidFill>
          <a:ln w="12700">
            <a:solidFill>
              <a:srgbClr val="FBBF24"/>
            </a:solidFill>
            <a:prstDash val="solid"/>
          </a:ln>
        </p:spPr>
        <p:txBody>
          <a:bodyPr wrap="square" lIns="182880" tIns="36576" rIns="109728" bIns="36576" rtlCol="0" anchor="ctr">
            <a:noAutofit/>
          </a:bodyPr>
          <a:lstStyle/>
          <a:p>
            <a:pPr marL="0" indent="0" algn="l">
              <a:spcBef>
                <a:spcPts val="0"/>
              </a:spcBef>
              <a:spcAft>
                <a:spcPts val="0"/>
              </a:spcAft>
              <a:buNone/>
            </a:pPr>
            <a:r>
              <a:rPr lang="en-US" sz="1500" b="0" dirty="0">
                <a:solidFill>
                  <a:srgbClr val="FBBF24"/>
                </a:solidFill>
                <a:latin typeface="Segoe UI"/>
                <a:ea typeface="Segoe UI"/>
                <a:cs typeface="Segoe UI"/>
              </a:rPr>
              <a:t>📝  </a:t>
            </a:r>
            <a:r>
              <a:rPr lang="en-US" sz="1500" b="1" dirty="0">
                <a:solidFill>
                  <a:srgbClr val="FFFFFF"/>
                </a:solidFill>
                <a:latin typeface="Segoe UI"/>
                <a:ea typeface="Segoe UI"/>
                <a:cs typeface="Segoe UI"/>
              </a:rPr>
              <a:t>Backlog items</a:t>
            </a:r>
            <a:endParaRPr lang="en-US" sz="1500" dirty="0"/>
          </a:p>
          <a:p>
            <a:pPr marL="0" indent="0" algn="l">
              <a:spcBef>
                <a:spcPts val="200"/>
              </a:spcBef>
              <a:spcAft>
                <a:spcPts val="0"/>
              </a:spcAft>
              <a:buNone/>
            </a:pPr>
            <a:r>
              <a:rPr lang="en-US" sz="1200" b="0" dirty="0">
                <a:solidFill>
                  <a:srgbClr val="94A3B8"/>
                </a:solidFill>
                <a:latin typeface="Segoe UI"/>
                <a:ea typeface="Segoe UI"/>
                <a:cs typeface="Segoe UI"/>
              </a:rPr>
              <a:t>writes them clearly</a:t>
            </a:r>
            <a:endParaRPr lang="en-US" sz="1200" dirty="0"/>
          </a:p>
        </p:txBody>
      </p:sp>
      <p:sp>
        <p:nvSpPr>
          <p:cNvPr id="106" name="s106"/>
          <p:cNvSpPr/>
          <p:nvPr/>
        </p:nvSpPr>
        <p:spPr>
          <a:xfrm>
            <a:off x="4063594" y="3794760"/>
            <a:ext cx="4206240" cy="731520"/>
          </a:xfrm>
          <a:prstGeom prst="roundRect">
            <a:avLst>
              <a:gd name="adj" fmla="val 12000"/>
            </a:avLst>
          </a:prstGeom>
          <a:solidFill>
            <a:srgbClr val="111B2E"/>
          </a:solidFill>
          <a:ln w="12700">
            <a:solidFill>
              <a:srgbClr val="FBBF24"/>
            </a:solidFill>
            <a:prstDash val="solid"/>
          </a:ln>
        </p:spPr>
        <p:txBody>
          <a:bodyPr wrap="square" lIns="182880" tIns="36576" rIns="109728" bIns="36576" rtlCol="0" anchor="ctr">
            <a:noAutofit/>
          </a:bodyPr>
          <a:lstStyle/>
          <a:p>
            <a:pPr marL="0" indent="0" algn="l">
              <a:spcBef>
                <a:spcPts val="0"/>
              </a:spcBef>
              <a:spcAft>
                <a:spcPts val="0"/>
              </a:spcAft>
              <a:buNone/>
            </a:pPr>
            <a:r>
              <a:rPr lang="en-US" sz="1500" b="0" dirty="0">
                <a:solidFill>
                  <a:srgbClr val="FBBF24"/>
                </a:solidFill>
                <a:latin typeface="Segoe UI"/>
                <a:ea typeface="Segoe UI"/>
                <a:cs typeface="Segoe UI"/>
              </a:rPr>
              <a:t>↕  </a:t>
            </a:r>
            <a:r>
              <a:rPr lang="en-US" sz="1500" b="1" dirty="0">
                <a:solidFill>
                  <a:srgbClr val="FFFFFF"/>
                </a:solidFill>
                <a:latin typeface="Segoe UI"/>
                <a:ea typeface="Segoe UI"/>
                <a:cs typeface="Segoe UI"/>
              </a:rPr>
              <a:t>Order</a:t>
            </a:r>
            <a:endParaRPr lang="en-US" sz="1500" dirty="0"/>
          </a:p>
          <a:p>
            <a:pPr marL="0" indent="0" algn="l">
              <a:spcBef>
                <a:spcPts val="200"/>
              </a:spcBef>
              <a:spcAft>
                <a:spcPts val="0"/>
              </a:spcAft>
              <a:buNone/>
            </a:pPr>
            <a:r>
              <a:rPr lang="en-US" sz="1200" b="0" dirty="0">
                <a:solidFill>
                  <a:srgbClr val="94A3B8"/>
                </a:solidFill>
                <a:latin typeface="Segoe UI"/>
                <a:ea typeface="Segoe UI"/>
                <a:cs typeface="Segoe UI"/>
              </a:rPr>
              <a:t>decides what comes first</a:t>
            </a:r>
            <a:endParaRPr lang="en-US" sz="1200" dirty="0"/>
          </a:p>
        </p:txBody>
      </p:sp>
      <p:sp>
        <p:nvSpPr>
          <p:cNvPr id="107" name="s107"/>
          <p:cNvSpPr/>
          <p:nvPr/>
        </p:nvSpPr>
        <p:spPr>
          <a:xfrm>
            <a:off x="4063594" y="4617720"/>
            <a:ext cx="4206240" cy="731520"/>
          </a:xfrm>
          <a:prstGeom prst="roundRect">
            <a:avLst>
              <a:gd name="adj" fmla="val 12000"/>
            </a:avLst>
          </a:prstGeom>
          <a:solidFill>
            <a:srgbClr val="111B2E"/>
          </a:solidFill>
          <a:ln w="12700">
            <a:solidFill>
              <a:srgbClr val="FBBF24"/>
            </a:solidFill>
            <a:prstDash val="solid"/>
          </a:ln>
        </p:spPr>
        <p:txBody>
          <a:bodyPr wrap="square" lIns="182880" tIns="36576" rIns="109728" bIns="36576" rtlCol="0" anchor="ctr">
            <a:noAutofit/>
          </a:bodyPr>
          <a:lstStyle/>
          <a:p>
            <a:pPr marL="0" indent="0" algn="l">
              <a:spcBef>
                <a:spcPts val="0"/>
              </a:spcBef>
              <a:spcAft>
                <a:spcPts val="0"/>
              </a:spcAft>
              <a:buNone/>
            </a:pPr>
            <a:r>
              <a:rPr lang="en-US" sz="1500" b="0" dirty="0">
                <a:solidFill>
                  <a:srgbClr val="FBBF24"/>
                </a:solidFill>
                <a:latin typeface="Segoe UI"/>
                <a:ea typeface="Segoe UI"/>
                <a:cs typeface="Segoe UI"/>
              </a:rPr>
              <a:t>👁  </a:t>
            </a:r>
            <a:r>
              <a:rPr lang="en-US" sz="1500" b="1" dirty="0">
                <a:solidFill>
                  <a:srgbClr val="FFFFFF"/>
                </a:solidFill>
                <a:latin typeface="Segoe UI"/>
                <a:ea typeface="Segoe UI"/>
                <a:cs typeface="Segoe UI"/>
              </a:rPr>
              <a:t>Transparency</a:t>
            </a:r>
            <a:endParaRPr lang="en-US" sz="1500" dirty="0"/>
          </a:p>
          <a:p>
            <a:pPr marL="0" indent="0" algn="l">
              <a:spcBef>
                <a:spcPts val="200"/>
              </a:spcBef>
              <a:spcAft>
                <a:spcPts val="0"/>
              </a:spcAft>
              <a:buNone/>
            </a:pPr>
            <a:r>
              <a:rPr lang="en-US" sz="1200" b="0" dirty="0">
                <a:solidFill>
                  <a:srgbClr val="94A3B8"/>
                </a:solidFill>
                <a:latin typeface="Segoe UI"/>
                <a:ea typeface="Segoe UI"/>
                <a:cs typeface="Segoe UI"/>
              </a:rPr>
              <a:t>backlog visible + understood</a:t>
            </a:r>
            <a:endParaRPr lang="en-US" sz="1200" dirty="0"/>
          </a:p>
        </p:txBody>
      </p:sp>
      <p:sp>
        <p:nvSpPr>
          <p:cNvPr id="108" name="s108"/>
          <p:cNvSpPr txBox="1"/>
          <p:nvPr/>
        </p:nvSpPr>
        <p:spPr>
          <a:xfrm>
            <a:off x="4063594" y="5486400"/>
            <a:ext cx="4206240"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i="1" dirty="0">
                <a:solidFill>
                  <a:srgbClr val="94A3B8"/>
                </a:solidFill>
                <a:latin typeface="Segoe UI"/>
                <a:ea typeface="Segoe UI"/>
                <a:cs typeface="Segoe UI"/>
              </a:rPr>
              <a:t>may delegate some of this work, but stays accountable</a:t>
            </a:r>
            <a:endParaRPr lang="en-US" sz="1150" dirty="0"/>
          </a:p>
        </p:txBody>
      </p:sp>
      <p:sp>
        <p:nvSpPr>
          <p:cNvPr id="109" name="s109"/>
          <p:cNvSpPr/>
          <p:nvPr/>
        </p:nvSpPr>
        <p:spPr>
          <a:xfrm>
            <a:off x="8498434" y="1828800"/>
            <a:ext cx="3132734" cy="2331720"/>
          </a:xfrm>
          <a:prstGeom prst="roundRect">
            <a:avLst>
              <a:gd name="adj" fmla="val 8000"/>
            </a:avLst>
          </a:prstGeom>
          <a:solidFill>
            <a:srgbClr val="111B2E"/>
          </a:solidFill>
          <a:ln w="12700">
            <a:solidFill>
              <a:srgbClr val="34D399"/>
            </a:solidFill>
            <a:prstDash val="solid"/>
          </a:ln>
        </p:spPr>
        <p:txBody>
          <a:bodyPr wrap="square" lIns="201168" tIns="137160" rIns="137160" bIns="91440" rtlCol="0" anchor="t">
            <a:noAutofit/>
          </a:bodyPr>
          <a:lstStyle/>
          <a:p>
            <a:pPr marL="0" indent="0" algn="l">
              <a:spcBef>
                <a:spcPts val="0"/>
              </a:spcBef>
              <a:spcAft>
                <a:spcPts val="600"/>
              </a:spcAft>
              <a:buNone/>
            </a:pPr>
            <a:r>
              <a:rPr lang="en-US" sz="1100" b="1" dirty="0">
                <a:solidFill>
                  <a:srgbClr val="34D399"/>
                </a:solidFill>
                <a:latin typeface="Segoe UI"/>
                <a:ea typeface="Segoe UI"/>
                <a:cs typeface="Segoe UI"/>
              </a:rPr>
              <a:t>IN A NORMAL SPRINT</a:t>
            </a:r>
            <a:endParaRPr lang="en-US" sz="1100" dirty="0"/>
          </a:p>
          <a:p>
            <a:pPr marL="0" indent="0" algn="l">
              <a:spcBef>
                <a:spcPts val="0"/>
              </a:spcBef>
              <a:spcAft>
                <a:spcPts val="400"/>
              </a:spcAft>
              <a:buNone/>
            </a:pPr>
            <a:r>
              <a:rPr lang="en-US" sz="1250" b="1" dirty="0">
                <a:solidFill>
                  <a:srgbClr val="34D399"/>
                </a:solidFill>
                <a:latin typeface="Segoe UI"/>
                <a:ea typeface="Segoe UI"/>
                <a:cs typeface="Segoe UI"/>
              </a:rPr>
              <a:t>✓  </a:t>
            </a:r>
            <a:r>
              <a:rPr lang="en-US" sz="1250" b="0" dirty="0">
                <a:solidFill>
                  <a:srgbClr val="E2E8F0"/>
                </a:solidFill>
                <a:latin typeface="Segoe UI"/>
                <a:ea typeface="Segoe UI"/>
                <a:cs typeface="Segoe UI"/>
              </a:rPr>
              <a:t>talks to the client + stakeholders</a:t>
            </a:r>
            <a:endParaRPr lang="en-US" sz="1250" dirty="0"/>
          </a:p>
          <a:p>
            <a:pPr marL="0" indent="0" algn="l">
              <a:spcBef>
                <a:spcPts val="0"/>
              </a:spcBef>
              <a:spcAft>
                <a:spcPts val="400"/>
              </a:spcAft>
              <a:buNone/>
            </a:pPr>
            <a:r>
              <a:rPr lang="en-US" sz="1250" b="1" dirty="0">
                <a:solidFill>
                  <a:srgbClr val="34D399"/>
                </a:solidFill>
                <a:latin typeface="Segoe UI"/>
                <a:ea typeface="Segoe UI"/>
                <a:cs typeface="Segoe UI"/>
              </a:rPr>
              <a:t>✓  </a:t>
            </a:r>
            <a:r>
              <a:rPr lang="en-US" sz="1250" b="0" dirty="0">
                <a:solidFill>
                  <a:srgbClr val="E2E8F0"/>
                </a:solidFill>
                <a:latin typeface="Segoe UI"/>
                <a:ea typeface="Segoe UI"/>
                <a:cs typeface="Segoe UI"/>
              </a:rPr>
              <a:t>refines stories with the team</a:t>
            </a:r>
            <a:endParaRPr lang="en-US" sz="1250" dirty="0"/>
          </a:p>
          <a:p>
            <a:pPr marL="0" indent="0" algn="l">
              <a:spcBef>
                <a:spcPts val="0"/>
              </a:spcBef>
              <a:spcAft>
                <a:spcPts val="400"/>
              </a:spcAft>
              <a:buNone/>
            </a:pPr>
            <a:r>
              <a:rPr lang="en-US" sz="1250" b="1" dirty="0">
                <a:solidFill>
                  <a:srgbClr val="34D399"/>
                </a:solidFill>
                <a:latin typeface="Segoe UI"/>
                <a:ea typeface="Segoe UI"/>
                <a:cs typeface="Segoe UI"/>
              </a:rPr>
              <a:t>✓  </a:t>
            </a:r>
            <a:r>
              <a:rPr lang="en-US" sz="1250" b="0" dirty="0">
                <a:solidFill>
                  <a:srgbClr val="E2E8F0"/>
                </a:solidFill>
                <a:latin typeface="Segoe UI"/>
                <a:ea typeface="Segoe UI"/>
                <a:cs typeface="Segoe UI"/>
              </a:rPr>
              <a:t>answers questions quickly</a:t>
            </a:r>
            <a:endParaRPr lang="en-US" sz="1250" dirty="0"/>
          </a:p>
          <a:p>
            <a:pPr marL="0" indent="0" algn="l">
              <a:spcBef>
                <a:spcPts val="0"/>
              </a:spcBef>
              <a:spcAft>
                <a:spcPts val="400"/>
              </a:spcAft>
              <a:buNone/>
            </a:pPr>
            <a:r>
              <a:rPr lang="en-US" sz="1250" b="1" dirty="0">
                <a:solidFill>
                  <a:srgbClr val="34D399"/>
                </a:solidFill>
                <a:latin typeface="Segoe UI"/>
                <a:ea typeface="Segoe UI"/>
                <a:cs typeface="Segoe UI"/>
              </a:rPr>
              <a:t>✓  </a:t>
            </a:r>
            <a:r>
              <a:rPr lang="en-US" sz="1250" b="0" dirty="0">
                <a:solidFill>
                  <a:srgbClr val="E2E8F0"/>
                </a:solidFill>
                <a:latin typeface="Segoe UI"/>
                <a:ea typeface="Segoe UI"/>
                <a:cs typeface="Segoe UI"/>
              </a:rPr>
              <a:t>accepts work, approves releases</a:t>
            </a:r>
            <a:endParaRPr lang="en-US" sz="1250" dirty="0"/>
          </a:p>
          <a:p>
            <a:pPr marL="0" indent="0" algn="l">
              <a:spcBef>
                <a:spcPts val="0"/>
              </a:spcBef>
              <a:spcAft>
                <a:spcPts val="400"/>
              </a:spcAft>
              <a:buNone/>
            </a:pPr>
            <a:r>
              <a:rPr lang="en-US" sz="1250" b="1" dirty="0">
                <a:solidFill>
                  <a:srgbClr val="34D399"/>
                </a:solidFill>
                <a:latin typeface="Segoe UI"/>
                <a:ea typeface="Segoe UI"/>
                <a:cs typeface="Segoe UI"/>
              </a:rPr>
              <a:t>✓  </a:t>
            </a:r>
            <a:r>
              <a:rPr lang="en-US" sz="1250" b="0" dirty="0">
                <a:solidFill>
                  <a:srgbClr val="E2E8F0"/>
                </a:solidFill>
                <a:latin typeface="Segoe UI"/>
                <a:ea typeface="Segoe UI"/>
                <a:cs typeface="Segoe UI"/>
              </a:rPr>
              <a:t>leads "what next?" in the Review</a:t>
            </a:r>
            <a:endParaRPr lang="en-US" sz="1250" dirty="0"/>
          </a:p>
        </p:txBody>
      </p:sp>
      <p:sp>
        <p:nvSpPr>
          <p:cNvPr id="110" name="s110"/>
          <p:cNvSpPr/>
          <p:nvPr/>
        </p:nvSpPr>
        <p:spPr>
          <a:xfrm>
            <a:off x="8498434" y="4297680"/>
            <a:ext cx="3132734" cy="1956816"/>
          </a:xfrm>
          <a:prstGeom prst="roundRect">
            <a:avLst>
              <a:gd name="adj" fmla="val 8000"/>
            </a:avLst>
          </a:prstGeom>
          <a:solidFill>
            <a:srgbClr val="F87171">
              <a:alpha val="8000"/>
            </a:srgbClr>
          </a:solidFill>
          <a:ln w="12700">
            <a:solidFill>
              <a:srgbClr val="F87171"/>
            </a:solidFill>
            <a:prstDash val="solid"/>
          </a:ln>
        </p:spPr>
        <p:txBody>
          <a:bodyPr wrap="square" lIns="201168" tIns="137160" rIns="137160" bIns="91440" rtlCol="0" anchor="t">
            <a:noAutofit/>
          </a:bodyPr>
          <a:lstStyle/>
          <a:p>
            <a:pPr marL="0" indent="0" algn="l">
              <a:spcBef>
                <a:spcPts val="0"/>
              </a:spcBef>
              <a:spcAft>
                <a:spcPts val="600"/>
              </a:spcAft>
              <a:buNone/>
            </a:pPr>
            <a:r>
              <a:rPr lang="en-US" sz="1100" b="1" dirty="0">
                <a:solidFill>
                  <a:srgbClr val="F87171"/>
                </a:solidFill>
                <a:latin typeface="Segoe UI"/>
                <a:ea typeface="Segoe UI"/>
                <a:cs typeface="Segoe UI"/>
              </a:rPr>
              <a:t>SHE DOES NOT</a:t>
            </a:r>
            <a:endParaRPr lang="en-US" sz="1100" dirty="0"/>
          </a:p>
          <a:p>
            <a:pPr marL="0" indent="0" algn="l">
              <a:spcBef>
                <a:spcPts val="0"/>
              </a:spcBef>
              <a:spcAft>
                <a:spcPts val="400"/>
              </a:spcAft>
              <a:buNone/>
            </a:pPr>
            <a:r>
              <a:rPr lang="en-US" sz="1250" b="1" dirty="0">
                <a:solidFill>
                  <a:srgbClr val="F87171"/>
                </a:solidFill>
                <a:latin typeface="Segoe UI"/>
                <a:ea typeface="Segoe UI"/>
                <a:cs typeface="Segoe UI"/>
              </a:rPr>
              <a:t>✗  </a:t>
            </a:r>
            <a:r>
              <a:rPr lang="en-US" sz="1250" b="0" dirty="0">
                <a:solidFill>
                  <a:srgbClr val="E2E8F0"/>
                </a:solidFill>
                <a:latin typeface="Segoe UI"/>
                <a:ea typeface="Segoe UI"/>
                <a:cs typeface="Segoe UI"/>
              </a:rPr>
              <a:t>assign tasks to developers</a:t>
            </a:r>
            <a:endParaRPr lang="en-US" sz="1250" dirty="0"/>
          </a:p>
          <a:p>
            <a:pPr marL="0" indent="0" algn="l">
              <a:spcBef>
                <a:spcPts val="0"/>
              </a:spcBef>
              <a:spcAft>
                <a:spcPts val="400"/>
              </a:spcAft>
              <a:buNone/>
            </a:pPr>
            <a:r>
              <a:rPr lang="en-US" sz="1250" b="1" dirty="0">
                <a:solidFill>
                  <a:srgbClr val="F87171"/>
                </a:solidFill>
                <a:latin typeface="Segoe UI"/>
                <a:ea typeface="Segoe UI"/>
                <a:cs typeface="Segoe UI"/>
              </a:rPr>
              <a:t>✗  </a:t>
            </a:r>
            <a:r>
              <a:rPr lang="en-US" sz="1250" b="0" dirty="0">
                <a:solidFill>
                  <a:srgbClr val="E2E8F0"/>
                </a:solidFill>
                <a:latin typeface="Segoe UI"/>
                <a:ea typeface="Segoe UI"/>
                <a:cs typeface="Segoe UI"/>
              </a:rPr>
              <a:t>decide HOW to build it</a:t>
            </a:r>
            <a:endParaRPr lang="en-US" sz="1250" dirty="0"/>
          </a:p>
          <a:p>
            <a:pPr marL="0" indent="0" algn="l">
              <a:spcBef>
                <a:spcPts val="0"/>
              </a:spcBef>
              <a:spcAft>
                <a:spcPts val="400"/>
              </a:spcAft>
              <a:buNone/>
            </a:pPr>
            <a:r>
              <a:rPr lang="en-US" sz="1250" b="1" dirty="0">
                <a:solidFill>
                  <a:srgbClr val="F87171"/>
                </a:solidFill>
                <a:latin typeface="Segoe UI"/>
                <a:ea typeface="Segoe UI"/>
                <a:cs typeface="Segoe UI"/>
              </a:rPr>
              <a:t>✗  </a:t>
            </a:r>
            <a:r>
              <a:rPr lang="en-US" sz="1250" b="0" dirty="0">
                <a:solidFill>
                  <a:srgbClr val="E2E8F0"/>
                </a:solidFill>
                <a:latin typeface="Segoe UI"/>
                <a:ea typeface="Segoe UI"/>
                <a:cs typeface="Segoe UI"/>
              </a:rPr>
              <a:t>estimate for the Developers</a:t>
            </a:r>
            <a:endParaRPr lang="en-US" sz="1250" dirty="0"/>
          </a:p>
          <a:p>
            <a:pPr marL="0" indent="0" algn="l">
              <a:spcBef>
                <a:spcPts val="0"/>
              </a:spcBef>
              <a:spcAft>
                <a:spcPts val="400"/>
              </a:spcAft>
              <a:buNone/>
            </a:pPr>
            <a:r>
              <a:rPr lang="en-US" sz="1250" b="1" dirty="0">
                <a:solidFill>
                  <a:srgbClr val="F87171"/>
                </a:solidFill>
                <a:latin typeface="Segoe UI"/>
                <a:ea typeface="Segoe UI"/>
                <a:cs typeface="Segoe UI"/>
              </a:rPr>
              <a:t>✗  </a:t>
            </a:r>
            <a:r>
              <a:rPr lang="en-US" sz="1250" b="0" dirty="0">
                <a:solidFill>
                  <a:srgbClr val="E2E8F0"/>
                </a:solidFill>
                <a:latin typeface="Segoe UI"/>
                <a:ea typeface="Segoe UI"/>
                <a:cs typeface="Segoe UI"/>
              </a:rPr>
              <a:t>manage people</a:t>
            </a:r>
            <a:endParaRPr lang="en-US" sz="1250" dirty="0"/>
          </a:p>
        </p:txBody>
      </p:sp>
    </p:spTree>
    <p:extLst>
      <p:ext uri="{BB962C8B-B14F-4D97-AF65-F5344CB8AC3E}">
        <p14:creationId xmlns:p14="http://schemas.microsoft.com/office/powerpoint/2010/main" val="290054112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100"/>
                                  </p:stCondLst>
                                  <p:childTnLst>
                                    <p:set>
                                      <p:cBhvr>
                                        <p:cTn id="10" dur="1" fill="hold">
                                          <p:stCondLst>
                                            <p:cond delay="0"/>
                                          </p:stCondLst>
                                        </p:cTn>
                                        <p:tgtEl>
                                          <p:spTgt spid="101"/>
                                        </p:tgtEl>
                                        <p:attrNameLst>
                                          <p:attrName>style.visibility</p:attrName>
                                        </p:attrNameLst>
                                      </p:cBhvr>
                                      <p:to>
                                        <p:strVal val="visible"/>
                                      </p:to>
                                    </p:set>
                                    <p:animEffect transition="in" filter="fade">
                                      <p:cBhvr>
                                        <p:cTn id="11" dur="500"/>
                                        <p:tgtEl>
                                          <p:spTgt spid="101"/>
                                        </p:tgtEl>
                                      </p:cBhvr>
                                    </p:animEffect>
                                    <p:anim calcmode="lin" valueType="num">
                                      <p:cBhvr additive="base">
                                        <p:cTn id="12" dur="500" decel="100000" fill="hold"/>
                                        <p:tgtEl>
                                          <p:spTgt spid="101"/>
                                        </p:tgtEl>
                                        <p:attrNameLst>
                                          <p:attrName>ppt_y</p:attrName>
                                        </p:attrNameLst>
                                      </p:cBhvr>
                                      <p:tavLst>
                                        <p:tav tm="0">
                                          <p:val>
                                            <p:strVal val="#ppt_y+0.06"/>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anim calcmode="lin" valueType="num">
                                      <p:cBhvr additive="base">
                                        <p:cTn id="18" dur="500" decel="100000" fill="hold"/>
                                        <p:tgtEl>
                                          <p:spTgt spid="103"/>
                                        </p:tgtEl>
                                        <p:attrNameLst>
                                          <p:attrName>ppt_x</p:attrName>
                                        </p:attrNameLst>
                                      </p:cBhvr>
                                      <p:tavLst>
                                        <p:tav tm="0">
                                          <p:val>
                                            <p:strVal val="#ppt_x-0.05"/>
                                          </p:val>
                                        </p:tav>
                                        <p:tav tm="100000">
                                          <p:val>
                                            <p:strVal val="#ppt_x"/>
                                          </p:val>
                                        </p:tav>
                                      </p:tavLst>
                                    </p:anim>
                                  </p:childTnLst>
                                </p:cTn>
                              </p:par>
                              <p:par>
                                <p:cTn id="19" presetID="42" presetClass="entr" presetSubtype="0" fill="hold" grpId="0" nodeType="withEffect">
                                  <p:stCondLst>
                                    <p:cond delay="120"/>
                                  </p:stCondLst>
                                  <p:childTnLst>
                                    <p:set>
                                      <p:cBhvr>
                                        <p:cTn id="20" dur="1" fill="hold">
                                          <p:stCondLst>
                                            <p:cond delay="0"/>
                                          </p:stCondLst>
                                        </p:cTn>
                                        <p:tgtEl>
                                          <p:spTgt spid="104"/>
                                        </p:tgtEl>
                                        <p:attrNameLst>
                                          <p:attrName>style.visibility</p:attrName>
                                        </p:attrNameLst>
                                      </p:cBhvr>
                                      <p:to>
                                        <p:strVal val="visible"/>
                                      </p:to>
                                    </p:set>
                                    <p:animEffect transition="in" filter="fade">
                                      <p:cBhvr>
                                        <p:cTn id="21" dur="500"/>
                                        <p:tgtEl>
                                          <p:spTgt spid="104"/>
                                        </p:tgtEl>
                                      </p:cBhvr>
                                    </p:animEffect>
                                    <p:anim calcmode="lin" valueType="num">
                                      <p:cBhvr additive="base">
                                        <p:cTn id="22" dur="500" decel="100000" fill="hold"/>
                                        <p:tgtEl>
                                          <p:spTgt spid="104"/>
                                        </p:tgtEl>
                                        <p:attrNameLst>
                                          <p:attrName>ppt_x</p:attrName>
                                        </p:attrNameLst>
                                      </p:cBhvr>
                                      <p:tavLst>
                                        <p:tav tm="0">
                                          <p:val>
                                            <p:strVal val="#ppt_x-0.05"/>
                                          </p:val>
                                        </p:tav>
                                        <p:tav tm="100000">
                                          <p:val>
                                            <p:strVal val="#ppt_x"/>
                                          </p:val>
                                        </p:tav>
                                      </p:tavLst>
                                    </p:anim>
                                  </p:childTnLst>
                                </p:cTn>
                              </p:par>
                              <p:par>
                                <p:cTn id="23" presetID="42" presetClass="entr" presetSubtype="0" fill="hold" grpId="0" nodeType="withEffect">
                                  <p:stCondLst>
                                    <p:cond delay="24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ppt_x</p:attrName>
                                        </p:attrNameLst>
                                      </p:cBhvr>
                                      <p:tavLst>
                                        <p:tav tm="0">
                                          <p:val>
                                            <p:strVal val="#ppt_x-0.05"/>
                                          </p:val>
                                        </p:tav>
                                        <p:tav tm="100000">
                                          <p:val>
                                            <p:strVal val="#ppt_x"/>
                                          </p:val>
                                        </p:tav>
                                      </p:tavLst>
                                    </p:anim>
                                  </p:childTnLst>
                                </p:cTn>
                              </p:par>
                              <p:par>
                                <p:cTn id="27" presetID="42" presetClass="entr" presetSubtype="0" fill="hold" grpId="0" nodeType="withEffect">
                                  <p:stCondLst>
                                    <p:cond delay="36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48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ppt_x</p:attrName>
                                        </p:attrNameLst>
                                      </p:cBhvr>
                                      <p:tavLst>
                                        <p:tav tm="0">
                                          <p:val>
                                            <p:strVal val="#ppt_x-0.05"/>
                                          </p:val>
                                        </p:tav>
                                        <p:tav tm="100000">
                                          <p:val>
                                            <p:strVal val="#ppt_x"/>
                                          </p:val>
                                        </p:tav>
                                      </p:tavLst>
                                    </p:anim>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08"/>
                                        </p:tgtEl>
                                        <p:attrNameLst>
                                          <p:attrName>style.visibility</p:attrName>
                                        </p:attrNameLst>
                                      </p:cBhvr>
                                      <p:to>
                                        <p:strVal val="visible"/>
                                      </p:to>
                                    </p:set>
                                    <p:animEffect transition="in" filter="fade">
                                      <p:cBhvr>
                                        <p:cTn id="39" dur="500"/>
                                        <p:tgtEl>
                                          <p:spTgt spid="108"/>
                                        </p:tgtEl>
                                      </p:cBhvr>
                                    </p:animEffect>
                                  </p:childTnLst>
                                </p:cTn>
                              </p:par>
                            </p:childTnLst>
                          </p:cTn>
                        </p:par>
                      </p:childTnLst>
                    </p:cTn>
                  </p:par>
                  <p:par>
                    <p:cTn id="40" fill="hold">
                      <p:stCondLst>
                        <p:cond delay="indefinite"/>
                      </p:stCondLst>
                      <p:childTnLst>
                        <p:par>
                          <p:cTn id="41" fill="hold">
                            <p:stCondLst>
                              <p:cond delay="0"/>
                            </p:stCondLst>
                            <p:childTnLst>
                              <p:par>
                                <p:cTn id="42" presetID="42" presetClass="entr" presetSubtype="0" fill="hold" grpId="0" nodeType="clickEffect">
                                  <p:stCondLst>
                                    <p:cond delay="0"/>
                                  </p:stCondLst>
                                  <p:childTnLst>
                                    <p:set>
                                      <p:cBhvr>
                                        <p:cTn id="43" dur="1" fill="hold">
                                          <p:stCondLst>
                                            <p:cond delay="0"/>
                                          </p:stCondLst>
                                        </p:cTn>
                                        <p:tgtEl>
                                          <p:spTgt spid="109"/>
                                        </p:tgtEl>
                                        <p:attrNameLst>
                                          <p:attrName>style.visibility</p:attrName>
                                        </p:attrNameLst>
                                      </p:cBhvr>
                                      <p:to>
                                        <p:strVal val="visible"/>
                                      </p:to>
                                    </p:set>
                                    <p:animEffect transition="in" filter="fade">
                                      <p:cBhvr>
                                        <p:cTn id="44" dur="500"/>
                                        <p:tgtEl>
                                          <p:spTgt spid="109"/>
                                        </p:tgtEl>
                                      </p:cBhvr>
                                    </p:animEffect>
                                    <p:anim calcmode="lin" valueType="num">
                                      <p:cBhvr additive="base">
                                        <p:cTn id="45" dur="500" decel="100000" fill="hold"/>
                                        <p:tgtEl>
                                          <p:spTgt spid="109"/>
                                        </p:tgtEl>
                                        <p:attrNameLst>
                                          <p:attrName>ppt_y</p:attrName>
                                        </p:attrNameLst>
                                      </p:cBhvr>
                                      <p:tavLst>
                                        <p:tav tm="0">
                                          <p:val>
                                            <p:strVal val="#ppt_y+0.06"/>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110"/>
                                        </p:tgtEl>
                                        <p:attrNameLst>
                                          <p:attrName>style.visibility</p:attrName>
                                        </p:attrNameLst>
                                      </p:cBhvr>
                                      <p:to>
                                        <p:strVal val="visible"/>
                                      </p:to>
                                    </p:set>
                                    <p:animEffect transition="in" filter="fade">
                                      <p:cBhvr>
                                        <p:cTn id="50" dur="500"/>
                                        <p:tgtEl>
                                          <p:spTgt spid="110"/>
                                        </p:tgtEl>
                                      </p:cBhvr>
                                    </p:animEffect>
                                    <p:anim calcmode="lin" valueType="num">
                                      <p:cBhvr additive="base">
                                        <p:cTn id="51"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SCRUM MASTER</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Is the Scrum Master? And What Does He Do?</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Accountable for the Scrum Team's effectiveness: he makes Scrum work, he does not boss the team.</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173</a:t>
            </a:r>
            <a:endParaRPr lang="en-US" sz="850" dirty="0"/>
          </a:p>
        </p:txBody>
      </p:sp>
      <p:sp>
        <p:nvSpPr>
          <p:cNvPr id="101" name="s101"/>
          <p:cNvSpPr/>
          <p:nvPr/>
        </p:nvSpPr>
        <p:spPr>
          <a:xfrm>
            <a:off x="1731874" y="2011680"/>
            <a:ext cx="914400" cy="914400"/>
          </a:xfrm>
          <a:prstGeom prst="ellipse">
            <a:avLst/>
          </a:prstGeom>
          <a:solidFill>
            <a:srgbClr val="A78BFA">
              <a:alpha val="22000"/>
            </a:srgbClr>
          </a:solidFill>
          <a:ln w="1905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2600" b="1" dirty="0">
                <a:solidFill>
                  <a:srgbClr val="A78BFA"/>
                </a:solidFill>
                <a:latin typeface="Segoe UI"/>
                <a:ea typeface="Segoe UI"/>
                <a:cs typeface="Segoe UI"/>
              </a:rPr>
              <a:t>A</a:t>
            </a:r>
            <a:endParaRPr lang="en-US" sz="2600" dirty="0"/>
          </a:p>
        </p:txBody>
      </p:sp>
      <p:sp>
        <p:nvSpPr>
          <p:cNvPr id="102" name="s102"/>
          <p:cNvSpPr/>
          <p:nvPr/>
        </p:nvSpPr>
        <p:spPr>
          <a:xfrm>
            <a:off x="543154" y="1828800"/>
            <a:ext cx="3291840" cy="4425696"/>
          </a:xfrm>
          <a:prstGeom prst="roundRect">
            <a:avLst>
              <a:gd name="adj" fmla="val 7000"/>
            </a:avLst>
          </a:prstGeom>
          <a:solidFill>
            <a:srgbClr val="A78BFA">
              <a:alpha val="8000"/>
            </a:srgbClr>
          </a:solidFill>
          <a:ln w="12700">
            <a:solidFill>
              <a:srgbClr val="A78BFA"/>
            </a:solidFill>
            <a:prstDash val="solid"/>
          </a:ln>
        </p:spPr>
        <p:txBody>
          <a:bodyPr wrap="square" lIns="201168" tIns="1234440" rIns="164592" bIns="91440" rtlCol="0" anchor="t">
            <a:noAutofit/>
          </a:bodyPr>
          <a:lstStyle/>
          <a:p>
            <a:pPr marL="0" indent="0" algn="ctr">
              <a:spcBef>
                <a:spcPts val="0"/>
              </a:spcBef>
              <a:spcAft>
                <a:spcPts val="0"/>
              </a:spcAft>
              <a:buNone/>
            </a:pPr>
            <a:r>
              <a:rPr lang="en-US" b="1" dirty="0">
                <a:solidFill>
                  <a:srgbClr val="FFFFFF"/>
                </a:solidFill>
                <a:latin typeface="Segoe UI"/>
                <a:cs typeface="Segoe UI"/>
              </a:rPr>
              <a:t>Belal</a:t>
            </a:r>
            <a:endParaRPr lang="en-US" sz="1800" dirty="0"/>
          </a:p>
          <a:p>
            <a:pPr marL="0" indent="0" algn="ctr">
              <a:spcBef>
                <a:spcPts val="0"/>
              </a:spcBef>
              <a:spcAft>
                <a:spcPts val="1200"/>
              </a:spcAft>
              <a:buNone/>
            </a:pPr>
            <a:r>
              <a:rPr lang="en-US" sz="1200" b="0" dirty="0">
                <a:solidFill>
                  <a:srgbClr val="A78BFA"/>
                </a:solidFill>
                <a:latin typeface="Segoe UI"/>
                <a:ea typeface="Segoe UI"/>
                <a:cs typeface="Segoe UI"/>
              </a:rPr>
              <a:t>Scrum Master</a:t>
            </a:r>
            <a:endParaRPr lang="en-US" sz="1200" dirty="0"/>
          </a:p>
          <a:p>
            <a:pPr marL="0" indent="0" algn="l">
              <a:spcBef>
                <a:spcPts val="0"/>
              </a:spcBef>
              <a:spcAft>
                <a:spcPts val="200"/>
              </a:spcAft>
              <a:buNone/>
            </a:pPr>
            <a:r>
              <a:rPr lang="en-US" sz="1100" b="1" dirty="0">
                <a:solidFill>
                  <a:srgbClr val="A78BFA"/>
                </a:solidFill>
                <a:latin typeface="Segoe UI"/>
                <a:ea typeface="Segoe UI"/>
                <a:cs typeface="Segoe UI"/>
              </a:rPr>
              <a:t>A SERVANT LEADER</a:t>
            </a:r>
            <a:endParaRPr lang="en-US" sz="1100" dirty="0"/>
          </a:p>
          <a:p>
            <a:pPr marL="0" indent="0" algn="l">
              <a:spcBef>
                <a:spcPts val="0"/>
              </a:spcBef>
              <a:spcAft>
                <a:spcPts val="800"/>
              </a:spcAft>
              <a:buNone/>
            </a:pPr>
            <a:r>
              <a:rPr lang="en-US" sz="1250" b="0" dirty="0">
                <a:solidFill>
                  <a:srgbClr val="E2E8F0"/>
                </a:solidFill>
                <a:latin typeface="Segoe UI"/>
                <a:ea typeface="Segoe UI"/>
                <a:cs typeface="Segoe UI"/>
              </a:rPr>
              <a:t>leads by helping, not by ordering</a:t>
            </a:r>
            <a:endParaRPr lang="en-US" sz="1250" dirty="0"/>
          </a:p>
          <a:p>
            <a:pPr marL="0" indent="0" algn="l">
              <a:spcBef>
                <a:spcPts val="0"/>
              </a:spcBef>
              <a:spcAft>
                <a:spcPts val="200"/>
              </a:spcAft>
              <a:buNone/>
            </a:pPr>
            <a:r>
              <a:rPr lang="en-US" sz="1100" b="1" dirty="0">
                <a:solidFill>
                  <a:srgbClr val="A78BFA"/>
                </a:solidFill>
                <a:latin typeface="Segoe UI"/>
                <a:ea typeface="Segoe UI"/>
                <a:cs typeface="Segoe UI"/>
              </a:rPr>
              <a:t>THE COACH</a:t>
            </a:r>
            <a:endParaRPr lang="en-US" sz="1100" dirty="0"/>
          </a:p>
          <a:p>
            <a:pPr marL="0" indent="0" algn="l">
              <a:spcBef>
                <a:spcPts val="0"/>
              </a:spcBef>
              <a:spcAft>
                <a:spcPts val="800"/>
              </a:spcAft>
              <a:buNone/>
            </a:pPr>
            <a:r>
              <a:rPr lang="en-US" sz="1250" b="0" dirty="0">
                <a:solidFill>
                  <a:srgbClr val="E2E8F0"/>
                </a:solidFill>
                <a:latin typeface="Segoe UI"/>
                <a:ea typeface="Segoe UI"/>
                <a:cs typeface="Segoe UI"/>
              </a:rPr>
              <a:t>teaches Scrum to everyone</a:t>
            </a:r>
            <a:endParaRPr lang="en-US" sz="1250" dirty="0"/>
          </a:p>
          <a:p>
            <a:pPr marL="0" indent="0" algn="l">
              <a:spcBef>
                <a:spcPts val="0"/>
              </a:spcBef>
              <a:spcAft>
                <a:spcPts val="200"/>
              </a:spcAft>
              <a:buNone/>
            </a:pPr>
            <a:r>
              <a:rPr lang="en-US" sz="1100" b="1" dirty="0">
                <a:solidFill>
                  <a:srgbClr val="A78BFA"/>
                </a:solidFill>
                <a:latin typeface="Segoe UI"/>
                <a:ea typeface="Segoe UI"/>
                <a:cs typeface="Segoe UI"/>
              </a:rPr>
              <a:t>THE SHIELD</a:t>
            </a:r>
            <a:endParaRPr lang="en-US" sz="1100" dirty="0"/>
          </a:p>
          <a:p>
            <a:pPr marL="0" indent="0" algn="l">
              <a:spcBef>
                <a:spcPts val="0"/>
              </a:spcBef>
              <a:spcAft>
                <a:spcPts val="0"/>
              </a:spcAft>
              <a:buNone/>
            </a:pPr>
            <a:r>
              <a:rPr lang="en-US" sz="1250" b="0" dirty="0">
                <a:solidFill>
                  <a:srgbClr val="E2E8F0"/>
                </a:solidFill>
                <a:latin typeface="Segoe UI"/>
                <a:ea typeface="Segoe UI"/>
                <a:cs typeface="Segoe UI"/>
              </a:rPr>
              <a:t>protects the team's focus</a:t>
            </a:r>
            <a:endParaRPr lang="en-US" sz="1250" dirty="0"/>
          </a:p>
        </p:txBody>
      </p:sp>
      <p:sp>
        <p:nvSpPr>
          <p:cNvPr id="103" name="s103"/>
          <p:cNvSpPr txBox="1"/>
          <p:nvPr/>
        </p:nvSpPr>
        <p:spPr>
          <a:xfrm>
            <a:off x="4063594" y="1828800"/>
            <a:ext cx="420624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A78BFA"/>
                </a:solidFill>
                <a:latin typeface="Segoe UI"/>
                <a:ea typeface="Segoe UI"/>
                <a:cs typeface="Segoe UI"/>
              </a:rPr>
              <a:t>HE SERVES  (Scrum Guide)</a:t>
            </a:r>
            <a:endParaRPr lang="en-US" sz="1100" dirty="0"/>
          </a:p>
        </p:txBody>
      </p:sp>
      <p:sp>
        <p:nvSpPr>
          <p:cNvPr id="104" name="s104"/>
          <p:cNvSpPr/>
          <p:nvPr/>
        </p:nvSpPr>
        <p:spPr>
          <a:xfrm>
            <a:off x="4063594" y="2148840"/>
            <a:ext cx="4206240" cy="731520"/>
          </a:xfrm>
          <a:prstGeom prst="roundRect">
            <a:avLst>
              <a:gd name="adj" fmla="val 12000"/>
            </a:avLst>
          </a:prstGeom>
          <a:solidFill>
            <a:srgbClr val="111B2E"/>
          </a:solidFill>
          <a:ln w="12700">
            <a:solidFill>
              <a:srgbClr val="A78BFA"/>
            </a:solidFill>
            <a:prstDash val="solid"/>
          </a:ln>
        </p:spPr>
        <p:txBody>
          <a:bodyPr wrap="square" lIns="182880" tIns="36576" rIns="109728" bIns="36576" rtlCol="0" anchor="ctr">
            <a:noAutofit/>
          </a:bodyPr>
          <a:lstStyle/>
          <a:p>
            <a:pPr marL="0" indent="0" algn="l">
              <a:spcBef>
                <a:spcPts val="0"/>
              </a:spcBef>
              <a:spcAft>
                <a:spcPts val="0"/>
              </a:spcAft>
              <a:buNone/>
            </a:pPr>
            <a:r>
              <a:rPr lang="en-US" sz="1500" b="0" dirty="0">
                <a:solidFill>
                  <a:srgbClr val="A78BFA"/>
                </a:solidFill>
                <a:latin typeface="Segoe UI"/>
                <a:ea typeface="Segoe UI"/>
                <a:cs typeface="Segoe UI"/>
              </a:rPr>
              <a:t>👩‍💻  </a:t>
            </a:r>
            <a:r>
              <a:rPr lang="en-US" sz="1500" b="1" dirty="0">
                <a:solidFill>
                  <a:srgbClr val="FFFFFF"/>
                </a:solidFill>
                <a:latin typeface="Segoe UI"/>
                <a:ea typeface="Segoe UI"/>
                <a:cs typeface="Segoe UI"/>
              </a:rPr>
              <a:t>The Developers</a:t>
            </a:r>
            <a:endParaRPr lang="en-US" sz="1500" dirty="0"/>
          </a:p>
          <a:p>
            <a:pPr marL="0" indent="0" algn="l">
              <a:spcBef>
                <a:spcPts val="200"/>
              </a:spcBef>
              <a:spcAft>
                <a:spcPts val="0"/>
              </a:spcAft>
              <a:buNone/>
            </a:pPr>
            <a:r>
              <a:rPr lang="en-US" sz="1200" b="0" dirty="0">
                <a:solidFill>
                  <a:srgbClr val="94A3B8"/>
                </a:solidFill>
                <a:latin typeface="Segoe UI"/>
                <a:ea typeface="Segoe UI"/>
                <a:cs typeface="Segoe UI"/>
              </a:rPr>
              <a:t>coaches self-management · removes impediments</a:t>
            </a:r>
            <a:endParaRPr lang="en-US" sz="1200" dirty="0"/>
          </a:p>
        </p:txBody>
      </p:sp>
      <p:sp>
        <p:nvSpPr>
          <p:cNvPr id="105" name="s105"/>
          <p:cNvSpPr/>
          <p:nvPr/>
        </p:nvSpPr>
        <p:spPr>
          <a:xfrm>
            <a:off x="4063594" y="2971800"/>
            <a:ext cx="4206240" cy="731520"/>
          </a:xfrm>
          <a:prstGeom prst="roundRect">
            <a:avLst>
              <a:gd name="adj" fmla="val 12000"/>
            </a:avLst>
          </a:prstGeom>
          <a:solidFill>
            <a:srgbClr val="111B2E"/>
          </a:solidFill>
          <a:ln w="12700">
            <a:solidFill>
              <a:srgbClr val="A78BFA"/>
            </a:solidFill>
            <a:prstDash val="solid"/>
          </a:ln>
        </p:spPr>
        <p:txBody>
          <a:bodyPr wrap="square" lIns="182880" tIns="36576" rIns="109728" bIns="36576" rtlCol="0" anchor="ctr">
            <a:noAutofit/>
          </a:bodyPr>
          <a:lstStyle/>
          <a:p>
            <a:pPr marL="0" indent="0" algn="l">
              <a:spcBef>
                <a:spcPts val="0"/>
              </a:spcBef>
              <a:spcAft>
                <a:spcPts val="0"/>
              </a:spcAft>
              <a:buNone/>
            </a:pPr>
            <a:r>
              <a:rPr lang="en-US" sz="1500" b="0" dirty="0">
                <a:solidFill>
                  <a:srgbClr val="A78BFA"/>
                </a:solidFill>
                <a:latin typeface="Segoe UI"/>
                <a:ea typeface="Segoe UI"/>
                <a:cs typeface="Segoe UI"/>
              </a:rPr>
              <a:t>📋  </a:t>
            </a:r>
            <a:r>
              <a:rPr lang="en-US" sz="1500" b="1" dirty="0">
                <a:solidFill>
                  <a:srgbClr val="FFFFFF"/>
                </a:solidFill>
                <a:latin typeface="Segoe UI"/>
                <a:ea typeface="Segoe UI"/>
                <a:cs typeface="Segoe UI"/>
              </a:rPr>
              <a:t>The Product Owner</a:t>
            </a:r>
            <a:endParaRPr lang="en-US" sz="1500" dirty="0"/>
          </a:p>
          <a:p>
            <a:pPr marL="0" indent="0" algn="l">
              <a:spcBef>
                <a:spcPts val="200"/>
              </a:spcBef>
              <a:spcAft>
                <a:spcPts val="0"/>
              </a:spcAft>
              <a:buNone/>
            </a:pPr>
            <a:r>
              <a:rPr lang="en-US" sz="1200" b="0" dirty="0">
                <a:solidFill>
                  <a:srgbClr val="94A3B8"/>
                </a:solidFill>
                <a:latin typeface="Segoe UI"/>
                <a:ea typeface="Segoe UI"/>
                <a:cs typeface="Segoe UI"/>
              </a:rPr>
              <a:t>helps with backlog + Product Goal techniques</a:t>
            </a:r>
            <a:endParaRPr lang="en-US" sz="1200" dirty="0"/>
          </a:p>
        </p:txBody>
      </p:sp>
      <p:sp>
        <p:nvSpPr>
          <p:cNvPr id="106" name="s106"/>
          <p:cNvSpPr/>
          <p:nvPr/>
        </p:nvSpPr>
        <p:spPr>
          <a:xfrm>
            <a:off x="4063594" y="3794760"/>
            <a:ext cx="4206240" cy="731520"/>
          </a:xfrm>
          <a:prstGeom prst="roundRect">
            <a:avLst>
              <a:gd name="adj" fmla="val 12000"/>
            </a:avLst>
          </a:prstGeom>
          <a:solidFill>
            <a:srgbClr val="111B2E"/>
          </a:solidFill>
          <a:ln w="12700">
            <a:solidFill>
              <a:srgbClr val="A78BFA"/>
            </a:solidFill>
            <a:prstDash val="solid"/>
          </a:ln>
        </p:spPr>
        <p:txBody>
          <a:bodyPr wrap="square" lIns="182880" tIns="36576" rIns="109728" bIns="36576" rtlCol="0" anchor="ctr">
            <a:noAutofit/>
          </a:bodyPr>
          <a:lstStyle/>
          <a:p>
            <a:pPr marL="0" indent="0" algn="l">
              <a:spcBef>
                <a:spcPts val="0"/>
              </a:spcBef>
              <a:spcAft>
                <a:spcPts val="0"/>
              </a:spcAft>
              <a:buNone/>
            </a:pPr>
            <a:r>
              <a:rPr lang="en-US" sz="1500" b="0" dirty="0">
                <a:solidFill>
                  <a:srgbClr val="A78BFA"/>
                </a:solidFill>
                <a:latin typeface="Segoe UI"/>
                <a:ea typeface="Segoe UI"/>
                <a:cs typeface="Segoe UI"/>
              </a:rPr>
              <a:t>🏢  </a:t>
            </a:r>
            <a:r>
              <a:rPr lang="en-US" sz="1500" b="1" dirty="0">
                <a:solidFill>
                  <a:srgbClr val="FFFFFF"/>
                </a:solidFill>
                <a:latin typeface="Segoe UI"/>
                <a:ea typeface="Segoe UI"/>
                <a:cs typeface="Segoe UI"/>
              </a:rPr>
              <a:t>The Organization</a:t>
            </a:r>
            <a:endParaRPr lang="en-US" sz="1500" dirty="0"/>
          </a:p>
          <a:p>
            <a:pPr marL="0" indent="0" algn="l">
              <a:spcBef>
                <a:spcPts val="200"/>
              </a:spcBef>
              <a:spcAft>
                <a:spcPts val="0"/>
              </a:spcAft>
              <a:buNone/>
            </a:pPr>
            <a:r>
              <a:rPr lang="en-US" sz="1200" b="0" dirty="0">
                <a:solidFill>
                  <a:srgbClr val="94A3B8"/>
                </a:solidFill>
                <a:latin typeface="Segoe UI"/>
                <a:ea typeface="Segoe UI"/>
                <a:cs typeface="Segoe UI"/>
              </a:rPr>
              <a:t>trains Scrum · removes barriers to the team</a:t>
            </a:r>
            <a:endParaRPr lang="en-US" sz="1200" dirty="0"/>
          </a:p>
        </p:txBody>
      </p:sp>
      <p:sp>
        <p:nvSpPr>
          <p:cNvPr id="107" name="s107"/>
          <p:cNvSpPr/>
          <p:nvPr/>
        </p:nvSpPr>
        <p:spPr>
          <a:xfrm>
            <a:off x="4063594" y="4617720"/>
            <a:ext cx="4206240" cy="731520"/>
          </a:xfrm>
          <a:prstGeom prst="roundRect">
            <a:avLst>
              <a:gd name="adj" fmla="val 12000"/>
            </a:avLst>
          </a:prstGeom>
          <a:solidFill>
            <a:srgbClr val="111B2E"/>
          </a:solidFill>
          <a:ln w="12700">
            <a:solidFill>
              <a:srgbClr val="A78BFA"/>
            </a:solidFill>
            <a:prstDash val="solid"/>
          </a:ln>
        </p:spPr>
        <p:txBody>
          <a:bodyPr wrap="square" lIns="182880" tIns="36576" rIns="109728" bIns="36576" rtlCol="0" anchor="ctr">
            <a:noAutofit/>
          </a:bodyPr>
          <a:lstStyle/>
          <a:p>
            <a:pPr marL="0" indent="0" algn="l">
              <a:spcBef>
                <a:spcPts val="0"/>
              </a:spcBef>
              <a:spcAft>
                <a:spcPts val="0"/>
              </a:spcAft>
              <a:buNone/>
            </a:pPr>
            <a:r>
              <a:rPr lang="en-US" sz="1500" b="0" dirty="0">
                <a:solidFill>
                  <a:srgbClr val="A78BFA"/>
                </a:solidFill>
                <a:latin typeface="Segoe UI"/>
                <a:ea typeface="Segoe UI"/>
                <a:cs typeface="Segoe UI"/>
              </a:rPr>
              <a:t>⏱  </a:t>
            </a:r>
            <a:r>
              <a:rPr lang="en-US" sz="1500" b="1" dirty="0">
                <a:solidFill>
                  <a:srgbClr val="FFFFFF"/>
                </a:solidFill>
                <a:latin typeface="Segoe UI"/>
                <a:ea typeface="Segoe UI"/>
                <a:cs typeface="Segoe UI"/>
              </a:rPr>
              <a:t>The Events</a:t>
            </a:r>
            <a:endParaRPr lang="en-US" sz="1500" dirty="0"/>
          </a:p>
          <a:p>
            <a:pPr marL="0" indent="0" algn="l">
              <a:spcBef>
                <a:spcPts val="200"/>
              </a:spcBef>
              <a:spcAft>
                <a:spcPts val="0"/>
              </a:spcAft>
              <a:buNone/>
            </a:pPr>
            <a:r>
              <a:rPr lang="en-US" sz="1200" b="0" dirty="0">
                <a:solidFill>
                  <a:srgbClr val="94A3B8"/>
                </a:solidFill>
                <a:latin typeface="Segoe UI"/>
                <a:ea typeface="Segoe UI"/>
                <a:cs typeface="Segoe UI"/>
              </a:rPr>
              <a:t>they happen, are useful, stay in their timebox</a:t>
            </a:r>
            <a:endParaRPr lang="en-US" sz="1200" dirty="0"/>
          </a:p>
        </p:txBody>
      </p:sp>
      <p:sp>
        <p:nvSpPr>
          <p:cNvPr id="108" name="s108"/>
          <p:cNvSpPr txBox="1"/>
          <p:nvPr/>
        </p:nvSpPr>
        <p:spPr>
          <a:xfrm>
            <a:off x="4063594" y="5486400"/>
            <a:ext cx="4206240"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i="1" dirty="0">
                <a:solidFill>
                  <a:srgbClr val="94A3B8"/>
                </a:solidFill>
                <a:latin typeface="Segoe UI"/>
                <a:ea typeface="Segoe UI"/>
                <a:cs typeface="Segoe UI"/>
              </a:rPr>
              <a:t>accountable for EFFECTIVENESS, not for the code</a:t>
            </a:r>
            <a:endParaRPr lang="en-US" sz="1150" dirty="0"/>
          </a:p>
        </p:txBody>
      </p:sp>
      <p:sp>
        <p:nvSpPr>
          <p:cNvPr id="109" name="s109"/>
          <p:cNvSpPr/>
          <p:nvPr/>
        </p:nvSpPr>
        <p:spPr>
          <a:xfrm>
            <a:off x="8498434" y="1828800"/>
            <a:ext cx="3132734" cy="2331720"/>
          </a:xfrm>
          <a:prstGeom prst="roundRect">
            <a:avLst>
              <a:gd name="adj" fmla="val 8000"/>
            </a:avLst>
          </a:prstGeom>
          <a:solidFill>
            <a:srgbClr val="111B2E"/>
          </a:solidFill>
          <a:ln w="12700">
            <a:solidFill>
              <a:srgbClr val="34D399"/>
            </a:solidFill>
            <a:prstDash val="solid"/>
          </a:ln>
        </p:spPr>
        <p:txBody>
          <a:bodyPr wrap="square" lIns="201168" tIns="137160" rIns="137160" bIns="91440" rtlCol="0" anchor="t">
            <a:noAutofit/>
          </a:bodyPr>
          <a:lstStyle/>
          <a:p>
            <a:pPr marL="0" indent="0" algn="l">
              <a:spcBef>
                <a:spcPts val="0"/>
              </a:spcBef>
              <a:spcAft>
                <a:spcPts val="600"/>
              </a:spcAft>
              <a:buNone/>
            </a:pPr>
            <a:r>
              <a:rPr lang="en-US" sz="1100" b="1" dirty="0">
                <a:solidFill>
                  <a:srgbClr val="34D399"/>
                </a:solidFill>
                <a:latin typeface="Segoe UI"/>
                <a:ea typeface="Segoe UI"/>
                <a:cs typeface="Segoe UI"/>
              </a:rPr>
              <a:t>IN A NORMAL SPRINT</a:t>
            </a:r>
            <a:endParaRPr lang="en-US" sz="1100" dirty="0"/>
          </a:p>
          <a:p>
            <a:pPr marL="0" indent="0" algn="l">
              <a:spcBef>
                <a:spcPts val="0"/>
              </a:spcBef>
              <a:spcAft>
                <a:spcPts val="400"/>
              </a:spcAft>
              <a:buNone/>
            </a:pPr>
            <a:r>
              <a:rPr lang="en-US" sz="1250" b="1" dirty="0">
                <a:solidFill>
                  <a:srgbClr val="34D399"/>
                </a:solidFill>
                <a:latin typeface="Segoe UI"/>
                <a:ea typeface="Segoe UI"/>
                <a:cs typeface="Segoe UI"/>
              </a:rPr>
              <a:t>✓  </a:t>
            </a:r>
            <a:r>
              <a:rPr lang="en-US" sz="1250" b="0" dirty="0">
                <a:solidFill>
                  <a:srgbClr val="E2E8F0"/>
                </a:solidFill>
                <a:latin typeface="Segoe UI"/>
                <a:ea typeface="Segoe UI"/>
                <a:cs typeface="Segoe UI"/>
              </a:rPr>
              <a:t>removes blockers</a:t>
            </a:r>
            <a:endParaRPr lang="en-US" sz="1250" dirty="0"/>
          </a:p>
          <a:p>
            <a:pPr marL="0" indent="0" algn="l">
              <a:spcBef>
                <a:spcPts val="0"/>
              </a:spcBef>
              <a:spcAft>
                <a:spcPts val="400"/>
              </a:spcAft>
              <a:buNone/>
            </a:pPr>
            <a:r>
              <a:rPr lang="en-US" sz="1250" b="1" dirty="0">
                <a:solidFill>
                  <a:srgbClr val="34D399"/>
                </a:solidFill>
                <a:latin typeface="Segoe UI"/>
                <a:ea typeface="Segoe UI"/>
                <a:cs typeface="Segoe UI"/>
              </a:rPr>
              <a:t>✓  </a:t>
            </a:r>
            <a:r>
              <a:rPr lang="en-US" sz="1250" b="0" dirty="0">
                <a:solidFill>
                  <a:srgbClr val="E2E8F0"/>
                </a:solidFill>
                <a:latin typeface="Segoe UI"/>
                <a:ea typeface="Segoe UI"/>
                <a:cs typeface="Segoe UI"/>
              </a:rPr>
              <a:t>shields the team</a:t>
            </a:r>
            <a:endParaRPr lang="en-US" sz="1250" dirty="0"/>
          </a:p>
          <a:p>
            <a:pPr marL="0" indent="0" algn="l">
              <a:spcBef>
                <a:spcPts val="0"/>
              </a:spcBef>
              <a:spcAft>
                <a:spcPts val="400"/>
              </a:spcAft>
              <a:buNone/>
            </a:pPr>
            <a:r>
              <a:rPr lang="en-US" sz="1250" b="1" dirty="0">
                <a:solidFill>
                  <a:srgbClr val="34D399"/>
                </a:solidFill>
                <a:latin typeface="Segoe UI"/>
                <a:ea typeface="Segoe UI"/>
                <a:cs typeface="Segoe UI"/>
              </a:rPr>
              <a:t>✓  </a:t>
            </a:r>
            <a:r>
              <a:rPr lang="en-US" sz="1250" b="0" dirty="0">
                <a:solidFill>
                  <a:srgbClr val="E2E8F0"/>
                </a:solidFill>
                <a:latin typeface="Segoe UI"/>
                <a:ea typeface="Segoe UI"/>
                <a:cs typeface="Segoe UI"/>
              </a:rPr>
              <a:t>keeps the Daily short</a:t>
            </a:r>
            <a:endParaRPr lang="en-US" sz="1250" dirty="0"/>
          </a:p>
          <a:p>
            <a:pPr marL="0" indent="0" algn="l">
              <a:spcBef>
                <a:spcPts val="0"/>
              </a:spcBef>
              <a:spcAft>
                <a:spcPts val="400"/>
              </a:spcAft>
              <a:buNone/>
            </a:pPr>
            <a:r>
              <a:rPr lang="en-US" sz="1250" b="1" dirty="0">
                <a:solidFill>
                  <a:srgbClr val="34D399"/>
                </a:solidFill>
                <a:latin typeface="Segoe UI"/>
                <a:ea typeface="Segoe UI"/>
                <a:cs typeface="Segoe UI"/>
              </a:rPr>
              <a:t>✓  </a:t>
            </a:r>
            <a:r>
              <a:rPr lang="en-US" sz="1250" b="0" dirty="0">
                <a:solidFill>
                  <a:srgbClr val="E2E8F0"/>
                </a:solidFill>
                <a:latin typeface="Segoe UI"/>
                <a:ea typeface="Segoe UI"/>
                <a:cs typeface="Segoe UI"/>
              </a:rPr>
              <a:t>Retro ends with an action</a:t>
            </a:r>
            <a:endParaRPr lang="en-US" sz="1250" dirty="0"/>
          </a:p>
          <a:p>
            <a:pPr marL="0" indent="0" algn="l">
              <a:spcBef>
                <a:spcPts val="0"/>
              </a:spcBef>
              <a:spcAft>
                <a:spcPts val="400"/>
              </a:spcAft>
              <a:buNone/>
            </a:pPr>
            <a:r>
              <a:rPr lang="en-US" sz="1250" b="1" dirty="0">
                <a:solidFill>
                  <a:srgbClr val="34D399"/>
                </a:solidFill>
                <a:latin typeface="Segoe UI"/>
                <a:ea typeface="Segoe UI"/>
                <a:cs typeface="Segoe UI"/>
              </a:rPr>
              <a:t>✓  </a:t>
            </a:r>
            <a:r>
              <a:rPr lang="en-US" sz="1250" b="0" dirty="0">
                <a:solidFill>
                  <a:srgbClr val="E2E8F0"/>
                </a:solidFill>
                <a:latin typeface="Segoe UI"/>
                <a:ea typeface="Segoe UI"/>
                <a:cs typeface="Segoe UI"/>
              </a:rPr>
              <a:t>coaches by asking</a:t>
            </a:r>
            <a:endParaRPr lang="en-US" sz="1250" dirty="0"/>
          </a:p>
        </p:txBody>
      </p:sp>
      <p:sp>
        <p:nvSpPr>
          <p:cNvPr id="110" name="s110"/>
          <p:cNvSpPr/>
          <p:nvPr/>
        </p:nvSpPr>
        <p:spPr>
          <a:xfrm>
            <a:off x="8498434" y="4297680"/>
            <a:ext cx="3132734" cy="1956816"/>
          </a:xfrm>
          <a:prstGeom prst="roundRect">
            <a:avLst>
              <a:gd name="adj" fmla="val 8000"/>
            </a:avLst>
          </a:prstGeom>
          <a:solidFill>
            <a:srgbClr val="F87171">
              <a:alpha val="8000"/>
            </a:srgbClr>
          </a:solidFill>
          <a:ln w="12700">
            <a:solidFill>
              <a:srgbClr val="F87171"/>
            </a:solidFill>
            <a:prstDash val="solid"/>
          </a:ln>
        </p:spPr>
        <p:txBody>
          <a:bodyPr wrap="square" lIns="201168" tIns="137160" rIns="137160" bIns="91440" rtlCol="0" anchor="t">
            <a:noAutofit/>
          </a:bodyPr>
          <a:lstStyle/>
          <a:p>
            <a:pPr marL="0" indent="0" algn="l">
              <a:spcBef>
                <a:spcPts val="0"/>
              </a:spcBef>
              <a:spcAft>
                <a:spcPts val="600"/>
              </a:spcAft>
              <a:buNone/>
            </a:pPr>
            <a:r>
              <a:rPr lang="en-US" sz="1100" b="1" dirty="0">
                <a:solidFill>
                  <a:srgbClr val="F87171"/>
                </a:solidFill>
                <a:latin typeface="Segoe UI"/>
                <a:ea typeface="Segoe UI"/>
                <a:cs typeface="Segoe UI"/>
              </a:rPr>
              <a:t>HE DOES NOT</a:t>
            </a:r>
            <a:endParaRPr lang="en-US" sz="1100" dirty="0"/>
          </a:p>
          <a:p>
            <a:pPr marL="0" indent="0" algn="l">
              <a:spcBef>
                <a:spcPts val="0"/>
              </a:spcBef>
              <a:spcAft>
                <a:spcPts val="400"/>
              </a:spcAft>
              <a:buNone/>
            </a:pPr>
            <a:r>
              <a:rPr lang="en-US" sz="1250" b="1" dirty="0">
                <a:solidFill>
                  <a:srgbClr val="F87171"/>
                </a:solidFill>
                <a:latin typeface="Segoe UI"/>
                <a:ea typeface="Segoe UI"/>
                <a:cs typeface="Segoe UI"/>
              </a:rPr>
              <a:t>✗  </a:t>
            </a:r>
            <a:r>
              <a:rPr lang="en-US" sz="1250" b="0" dirty="0">
                <a:solidFill>
                  <a:srgbClr val="E2E8F0"/>
                </a:solidFill>
                <a:latin typeface="Segoe UI"/>
                <a:ea typeface="Segoe UI"/>
                <a:cs typeface="Segoe UI"/>
              </a:rPr>
              <a:t>assign tasks</a:t>
            </a:r>
            <a:endParaRPr lang="en-US" sz="1250" dirty="0"/>
          </a:p>
          <a:p>
            <a:pPr marL="0" indent="0" algn="l">
              <a:spcBef>
                <a:spcPts val="0"/>
              </a:spcBef>
              <a:spcAft>
                <a:spcPts val="400"/>
              </a:spcAft>
              <a:buNone/>
            </a:pPr>
            <a:r>
              <a:rPr lang="en-US" sz="1250" b="1" dirty="0">
                <a:solidFill>
                  <a:srgbClr val="F87171"/>
                </a:solidFill>
                <a:latin typeface="Segoe UI"/>
                <a:ea typeface="Segoe UI"/>
                <a:cs typeface="Segoe UI"/>
              </a:rPr>
              <a:t>✗  </a:t>
            </a:r>
            <a:r>
              <a:rPr lang="en-US" sz="1250" b="0" dirty="0">
                <a:solidFill>
                  <a:srgbClr val="E2E8F0"/>
                </a:solidFill>
                <a:latin typeface="Segoe UI"/>
                <a:ea typeface="Segoe UI"/>
                <a:cs typeface="Segoe UI"/>
              </a:rPr>
              <a:t>act as the boss</a:t>
            </a:r>
            <a:endParaRPr lang="en-US" sz="1250" dirty="0"/>
          </a:p>
          <a:p>
            <a:pPr marL="0" indent="0" algn="l">
              <a:spcBef>
                <a:spcPts val="0"/>
              </a:spcBef>
              <a:spcAft>
                <a:spcPts val="400"/>
              </a:spcAft>
              <a:buNone/>
            </a:pPr>
            <a:r>
              <a:rPr lang="en-US" sz="1250" b="1" dirty="0">
                <a:solidFill>
                  <a:srgbClr val="F87171"/>
                </a:solidFill>
                <a:latin typeface="Segoe UI"/>
                <a:ea typeface="Segoe UI"/>
                <a:cs typeface="Segoe UI"/>
              </a:rPr>
              <a:t>✗  </a:t>
            </a:r>
            <a:r>
              <a:rPr lang="en-US" sz="1250" b="0" dirty="0">
                <a:solidFill>
                  <a:srgbClr val="E2E8F0"/>
                </a:solidFill>
                <a:latin typeface="Segoe UI"/>
                <a:ea typeface="Segoe UI"/>
                <a:cs typeface="Segoe UI"/>
              </a:rPr>
              <a:t>just take notes</a:t>
            </a:r>
            <a:endParaRPr lang="en-US" sz="1250" dirty="0"/>
          </a:p>
          <a:p>
            <a:pPr marL="0" indent="0" algn="l">
              <a:spcBef>
                <a:spcPts val="0"/>
              </a:spcBef>
              <a:spcAft>
                <a:spcPts val="400"/>
              </a:spcAft>
              <a:buNone/>
            </a:pPr>
            <a:r>
              <a:rPr lang="en-US" sz="1250" b="1" dirty="0">
                <a:solidFill>
                  <a:srgbClr val="F87171"/>
                </a:solidFill>
                <a:latin typeface="Segoe UI"/>
                <a:ea typeface="Segoe UI"/>
                <a:cs typeface="Segoe UI"/>
              </a:rPr>
              <a:t>✗  </a:t>
            </a:r>
            <a:r>
              <a:rPr lang="en-US" sz="1250" b="0" dirty="0">
                <a:solidFill>
                  <a:srgbClr val="E2E8F0"/>
                </a:solidFill>
                <a:latin typeface="Segoe UI"/>
                <a:ea typeface="Segoe UI"/>
                <a:cs typeface="Segoe UI"/>
              </a:rPr>
              <a:t>fix every bug</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100"/>
                                  </p:stCondLst>
                                  <p:childTnLst>
                                    <p:set>
                                      <p:cBhvr>
                                        <p:cTn id="10" dur="1" fill="hold">
                                          <p:stCondLst>
                                            <p:cond delay="0"/>
                                          </p:stCondLst>
                                        </p:cTn>
                                        <p:tgtEl>
                                          <p:spTgt spid="101"/>
                                        </p:tgtEl>
                                        <p:attrNameLst>
                                          <p:attrName>style.visibility</p:attrName>
                                        </p:attrNameLst>
                                      </p:cBhvr>
                                      <p:to>
                                        <p:strVal val="visible"/>
                                      </p:to>
                                    </p:set>
                                    <p:animEffect transition="in" filter="fade">
                                      <p:cBhvr>
                                        <p:cTn id="11" dur="500"/>
                                        <p:tgtEl>
                                          <p:spTgt spid="101"/>
                                        </p:tgtEl>
                                      </p:cBhvr>
                                    </p:animEffect>
                                    <p:anim calcmode="lin" valueType="num">
                                      <p:cBhvr additive="base">
                                        <p:cTn id="12" dur="500" decel="100000" fill="hold"/>
                                        <p:tgtEl>
                                          <p:spTgt spid="101"/>
                                        </p:tgtEl>
                                        <p:attrNameLst>
                                          <p:attrName>ppt_y</p:attrName>
                                        </p:attrNameLst>
                                      </p:cBhvr>
                                      <p:tavLst>
                                        <p:tav tm="0">
                                          <p:val>
                                            <p:strVal val="#ppt_y+0.06"/>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anim calcmode="lin" valueType="num">
                                      <p:cBhvr additive="base">
                                        <p:cTn id="18" dur="500" decel="100000" fill="hold"/>
                                        <p:tgtEl>
                                          <p:spTgt spid="103"/>
                                        </p:tgtEl>
                                        <p:attrNameLst>
                                          <p:attrName>ppt_x</p:attrName>
                                        </p:attrNameLst>
                                      </p:cBhvr>
                                      <p:tavLst>
                                        <p:tav tm="0">
                                          <p:val>
                                            <p:strVal val="#ppt_x-0.05"/>
                                          </p:val>
                                        </p:tav>
                                        <p:tav tm="100000">
                                          <p:val>
                                            <p:strVal val="#ppt_x"/>
                                          </p:val>
                                        </p:tav>
                                      </p:tavLst>
                                    </p:anim>
                                  </p:childTnLst>
                                </p:cTn>
                              </p:par>
                              <p:par>
                                <p:cTn id="19" presetID="42" presetClass="entr" presetSubtype="0" fill="hold" grpId="0" nodeType="withEffect">
                                  <p:stCondLst>
                                    <p:cond delay="120"/>
                                  </p:stCondLst>
                                  <p:childTnLst>
                                    <p:set>
                                      <p:cBhvr>
                                        <p:cTn id="20" dur="1" fill="hold">
                                          <p:stCondLst>
                                            <p:cond delay="0"/>
                                          </p:stCondLst>
                                        </p:cTn>
                                        <p:tgtEl>
                                          <p:spTgt spid="104"/>
                                        </p:tgtEl>
                                        <p:attrNameLst>
                                          <p:attrName>style.visibility</p:attrName>
                                        </p:attrNameLst>
                                      </p:cBhvr>
                                      <p:to>
                                        <p:strVal val="visible"/>
                                      </p:to>
                                    </p:set>
                                    <p:animEffect transition="in" filter="fade">
                                      <p:cBhvr>
                                        <p:cTn id="21" dur="500"/>
                                        <p:tgtEl>
                                          <p:spTgt spid="104"/>
                                        </p:tgtEl>
                                      </p:cBhvr>
                                    </p:animEffect>
                                    <p:anim calcmode="lin" valueType="num">
                                      <p:cBhvr additive="base">
                                        <p:cTn id="22" dur="500" decel="100000" fill="hold"/>
                                        <p:tgtEl>
                                          <p:spTgt spid="104"/>
                                        </p:tgtEl>
                                        <p:attrNameLst>
                                          <p:attrName>ppt_x</p:attrName>
                                        </p:attrNameLst>
                                      </p:cBhvr>
                                      <p:tavLst>
                                        <p:tav tm="0">
                                          <p:val>
                                            <p:strVal val="#ppt_x-0.05"/>
                                          </p:val>
                                        </p:tav>
                                        <p:tav tm="100000">
                                          <p:val>
                                            <p:strVal val="#ppt_x"/>
                                          </p:val>
                                        </p:tav>
                                      </p:tavLst>
                                    </p:anim>
                                  </p:childTnLst>
                                </p:cTn>
                              </p:par>
                              <p:par>
                                <p:cTn id="23" presetID="42" presetClass="entr" presetSubtype="0" fill="hold" grpId="0" nodeType="withEffect">
                                  <p:stCondLst>
                                    <p:cond delay="24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ppt_x</p:attrName>
                                        </p:attrNameLst>
                                      </p:cBhvr>
                                      <p:tavLst>
                                        <p:tav tm="0">
                                          <p:val>
                                            <p:strVal val="#ppt_x-0.05"/>
                                          </p:val>
                                        </p:tav>
                                        <p:tav tm="100000">
                                          <p:val>
                                            <p:strVal val="#ppt_x"/>
                                          </p:val>
                                        </p:tav>
                                      </p:tavLst>
                                    </p:anim>
                                  </p:childTnLst>
                                </p:cTn>
                              </p:par>
                              <p:par>
                                <p:cTn id="27" presetID="42" presetClass="entr" presetSubtype="0" fill="hold" grpId="0" nodeType="withEffect">
                                  <p:stCondLst>
                                    <p:cond delay="36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48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ppt_x</p:attrName>
                                        </p:attrNameLst>
                                      </p:cBhvr>
                                      <p:tavLst>
                                        <p:tav tm="0">
                                          <p:val>
                                            <p:strVal val="#ppt_x-0.05"/>
                                          </p:val>
                                        </p:tav>
                                        <p:tav tm="100000">
                                          <p:val>
                                            <p:strVal val="#ppt_x"/>
                                          </p:val>
                                        </p:tav>
                                      </p:tavLst>
                                    </p:anim>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08"/>
                                        </p:tgtEl>
                                        <p:attrNameLst>
                                          <p:attrName>style.visibility</p:attrName>
                                        </p:attrNameLst>
                                      </p:cBhvr>
                                      <p:to>
                                        <p:strVal val="visible"/>
                                      </p:to>
                                    </p:set>
                                    <p:animEffect transition="in" filter="fade">
                                      <p:cBhvr>
                                        <p:cTn id="39" dur="500"/>
                                        <p:tgtEl>
                                          <p:spTgt spid="108"/>
                                        </p:tgtEl>
                                      </p:cBhvr>
                                    </p:animEffect>
                                  </p:childTnLst>
                                </p:cTn>
                              </p:par>
                            </p:childTnLst>
                          </p:cTn>
                        </p:par>
                      </p:childTnLst>
                    </p:cTn>
                  </p:par>
                  <p:par>
                    <p:cTn id="40" fill="hold">
                      <p:stCondLst>
                        <p:cond delay="indefinite"/>
                      </p:stCondLst>
                      <p:childTnLst>
                        <p:par>
                          <p:cTn id="41" fill="hold">
                            <p:stCondLst>
                              <p:cond delay="0"/>
                            </p:stCondLst>
                            <p:childTnLst>
                              <p:par>
                                <p:cTn id="42" presetID="42" presetClass="entr" presetSubtype="0" fill="hold" grpId="0" nodeType="clickEffect">
                                  <p:stCondLst>
                                    <p:cond delay="0"/>
                                  </p:stCondLst>
                                  <p:childTnLst>
                                    <p:set>
                                      <p:cBhvr>
                                        <p:cTn id="43" dur="1" fill="hold">
                                          <p:stCondLst>
                                            <p:cond delay="0"/>
                                          </p:stCondLst>
                                        </p:cTn>
                                        <p:tgtEl>
                                          <p:spTgt spid="109"/>
                                        </p:tgtEl>
                                        <p:attrNameLst>
                                          <p:attrName>style.visibility</p:attrName>
                                        </p:attrNameLst>
                                      </p:cBhvr>
                                      <p:to>
                                        <p:strVal val="visible"/>
                                      </p:to>
                                    </p:set>
                                    <p:animEffect transition="in" filter="fade">
                                      <p:cBhvr>
                                        <p:cTn id="44" dur="500"/>
                                        <p:tgtEl>
                                          <p:spTgt spid="109"/>
                                        </p:tgtEl>
                                      </p:cBhvr>
                                    </p:animEffect>
                                    <p:anim calcmode="lin" valueType="num">
                                      <p:cBhvr additive="base">
                                        <p:cTn id="45" dur="500" decel="100000" fill="hold"/>
                                        <p:tgtEl>
                                          <p:spTgt spid="109"/>
                                        </p:tgtEl>
                                        <p:attrNameLst>
                                          <p:attrName>ppt_y</p:attrName>
                                        </p:attrNameLst>
                                      </p:cBhvr>
                                      <p:tavLst>
                                        <p:tav tm="0">
                                          <p:val>
                                            <p:strVal val="#ppt_y+0.06"/>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110"/>
                                        </p:tgtEl>
                                        <p:attrNameLst>
                                          <p:attrName>style.visibility</p:attrName>
                                        </p:attrNameLst>
                                      </p:cBhvr>
                                      <p:to>
                                        <p:strVal val="visible"/>
                                      </p:to>
                                    </p:set>
                                    <p:animEffect transition="in" filter="fade">
                                      <p:cBhvr>
                                        <p:cTn id="50" dur="500"/>
                                        <p:tgtEl>
                                          <p:spTgt spid="110"/>
                                        </p:tgtEl>
                                      </p:cBhvr>
                                    </p:animEffect>
                                    <p:anim calcmode="lin" valueType="num">
                                      <p:cBhvr additive="base">
                                        <p:cTn id="51"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SCENE 2</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230</a:t>
            </a:r>
            <a:endParaRPr lang="en-US" sz="850" dirty="0"/>
          </a:p>
        </p:txBody>
      </p:sp>
      <p:sp>
        <p:nvSpPr>
          <p:cNvPr id="101" name="s101"/>
          <p:cNvSpPr txBox="1"/>
          <p:nvPr/>
        </p:nvSpPr>
        <p:spPr>
          <a:xfrm>
            <a:off x="497434" y="1051560"/>
            <a:ext cx="2743200" cy="12801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8800" b="1" dirty="0">
                <a:solidFill>
                  <a:srgbClr val="FBBF24"/>
                </a:solidFill>
                <a:latin typeface="Segoe UI"/>
                <a:ea typeface="Segoe UI"/>
                <a:cs typeface="Segoe UI"/>
              </a:rPr>
              <a:t>02</a:t>
            </a:r>
            <a:endParaRPr lang="en-US" sz="8800" dirty="0"/>
          </a:p>
        </p:txBody>
      </p:sp>
      <p:sp>
        <p:nvSpPr>
          <p:cNvPr id="102" name="s102"/>
          <p:cNvSpPr txBox="1"/>
          <p:nvPr/>
        </p:nvSpPr>
        <p:spPr>
          <a:xfrm>
            <a:off x="543154" y="2331720"/>
            <a:ext cx="11088014" cy="7772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The First Client</a:t>
            </a:r>
            <a:endParaRPr lang="en-US" sz="4000" dirty="0"/>
          </a:p>
        </p:txBody>
      </p:sp>
      <p:sp>
        <p:nvSpPr>
          <p:cNvPr id="103" name="s103"/>
          <p:cNvSpPr txBox="1"/>
          <p:nvPr/>
        </p:nvSpPr>
        <p:spPr>
          <a:xfrm>
            <a:off x="543154" y="3108960"/>
            <a:ext cx="1108801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800" b="0" dirty="0">
                <a:solidFill>
                  <a:srgbClr val="CBD5E1"/>
                </a:solidFill>
                <a:latin typeface="Segoe UI"/>
                <a:ea typeface="Segoe UI"/>
                <a:cs typeface="Segoe UI"/>
              </a:rPr>
              <a:t>Care Hospital arrives with a lot of pain and no clear solution.</a:t>
            </a:r>
            <a:endParaRPr lang="en-US" sz="1800" dirty="0"/>
          </a:p>
        </p:txBody>
      </p:sp>
      <p:sp>
        <p:nvSpPr>
          <p:cNvPr id="104" name="s104"/>
          <p:cNvSpPr txBox="1"/>
          <p:nvPr/>
        </p:nvSpPr>
        <p:spPr>
          <a:xfrm>
            <a:off x="543154" y="393192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IN THIS SCENE</a:t>
            </a:r>
            <a:endParaRPr lang="en-US" sz="1100" dirty="0"/>
          </a:p>
        </p:txBody>
      </p:sp>
      <p:sp>
        <p:nvSpPr>
          <p:cNvPr id="105" name="s105"/>
          <p:cNvSpPr/>
          <p:nvPr/>
        </p:nvSpPr>
        <p:spPr>
          <a:xfrm>
            <a:off x="543154" y="4251960"/>
            <a:ext cx="2651760" cy="548640"/>
          </a:xfrm>
          <a:prstGeom prst="roundRect">
            <a:avLst>
              <a:gd name="adj" fmla="val 20000"/>
            </a:avLst>
          </a:prstGeom>
          <a:solidFill>
            <a:srgbClr val="FBBF24">
              <a:alpha val="14000"/>
            </a:srgbClr>
          </a:solidFill>
          <a:ln w="12700">
            <a:solidFill>
              <a:srgbClr val="FBBF24"/>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before the contract</a:t>
            </a:r>
            <a:endParaRPr lang="en-US" sz="1350" dirty="0"/>
          </a:p>
        </p:txBody>
      </p:sp>
      <p:sp>
        <p:nvSpPr>
          <p:cNvPr id="106" name="s106"/>
          <p:cNvSpPr/>
          <p:nvPr/>
        </p:nvSpPr>
        <p:spPr>
          <a:xfrm>
            <a:off x="3377794" y="4251960"/>
            <a:ext cx="2651760" cy="548640"/>
          </a:xfrm>
          <a:prstGeom prst="roundRect">
            <a:avLst>
              <a:gd name="adj" fmla="val 20000"/>
            </a:avLst>
          </a:prstGeom>
          <a:solidFill>
            <a:srgbClr val="FBBF24">
              <a:alpha val="14000"/>
            </a:srgbClr>
          </a:solidFill>
          <a:ln w="12700">
            <a:solidFill>
              <a:srgbClr val="FBBF24"/>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why Scrum</a:t>
            </a:r>
            <a:endParaRPr lang="en-US" sz="1350" dirty="0"/>
          </a:p>
        </p:txBody>
      </p:sp>
      <p:sp>
        <p:nvSpPr>
          <p:cNvPr id="107" name="s107"/>
          <p:cNvSpPr/>
          <p:nvPr/>
        </p:nvSpPr>
        <p:spPr>
          <a:xfrm>
            <a:off x="6212434" y="4251960"/>
            <a:ext cx="2651760" cy="548640"/>
          </a:xfrm>
          <a:prstGeom prst="roundRect">
            <a:avLst>
              <a:gd name="adj" fmla="val 20000"/>
            </a:avLst>
          </a:prstGeom>
          <a:solidFill>
            <a:srgbClr val="FBBF24">
              <a:alpha val="14000"/>
            </a:srgbClr>
          </a:solidFill>
          <a:ln w="12700">
            <a:solidFill>
              <a:srgbClr val="FBBF24"/>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the Product Owner</a:t>
            </a:r>
            <a:endParaRPr lang="en-US" sz="1350" dirty="0"/>
          </a:p>
        </p:txBody>
      </p:sp>
      <p:sp>
        <p:nvSpPr>
          <p:cNvPr id="108" name="s108"/>
          <p:cNvSpPr/>
          <p:nvPr/>
        </p:nvSpPr>
        <p:spPr>
          <a:xfrm>
            <a:off x="543154"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1</a:t>
            </a:r>
            <a:endParaRPr lang="en-US" sz="1300" dirty="0"/>
          </a:p>
        </p:txBody>
      </p:sp>
      <p:sp>
        <p:nvSpPr>
          <p:cNvPr id="109" name="s109"/>
          <p:cNvSpPr/>
          <p:nvPr/>
        </p:nvSpPr>
        <p:spPr>
          <a:xfrm>
            <a:off x="1659270" y="5669280"/>
            <a:ext cx="1042965" cy="457200"/>
          </a:xfrm>
          <a:prstGeom prst="roundRect">
            <a:avLst>
              <a:gd name="adj" fmla="val 20000"/>
            </a:avLst>
          </a:prstGeom>
          <a:solidFill>
            <a:srgbClr val="FBBF24"/>
          </a:solidFill>
          <a:ln w="19050">
            <a:solidFill>
              <a:srgbClr val="FBBF24"/>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2</a:t>
            </a:r>
            <a:endParaRPr lang="en-US" sz="1300" dirty="0"/>
          </a:p>
        </p:txBody>
      </p:sp>
      <p:sp>
        <p:nvSpPr>
          <p:cNvPr id="110" name="s110"/>
          <p:cNvSpPr/>
          <p:nvPr/>
        </p:nvSpPr>
        <p:spPr>
          <a:xfrm>
            <a:off x="277538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3</a:t>
            </a:r>
            <a:endParaRPr lang="en-US" sz="1300" dirty="0"/>
          </a:p>
        </p:txBody>
      </p:sp>
      <p:sp>
        <p:nvSpPr>
          <p:cNvPr id="111" name="s111"/>
          <p:cNvSpPr/>
          <p:nvPr/>
        </p:nvSpPr>
        <p:spPr>
          <a:xfrm>
            <a:off x="3891504"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4</a:t>
            </a:r>
            <a:endParaRPr lang="en-US" sz="1300" dirty="0"/>
          </a:p>
        </p:txBody>
      </p:sp>
      <p:sp>
        <p:nvSpPr>
          <p:cNvPr id="112" name="s112"/>
          <p:cNvSpPr/>
          <p:nvPr/>
        </p:nvSpPr>
        <p:spPr>
          <a:xfrm>
            <a:off x="5007620"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5</a:t>
            </a:r>
            <a:endParaRPr lang="en-US" sz="1300" dirty="0"/>
          </a:p>
        </p:txBody>
      </p:sp>
      <p:sp>
        <p:nvSpPr>
          <p:cNvPr id="113" name="s113"/>
          <p:cNvSpPr/>
          <p:nvPr/>
        </p:nvSpPr>
        <p:spPr>
          <a:xfrm>
            <a:off x="612373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6</a:t>
            </a:r>
            <a:endParaRPr lang="en-US" sz="1300" dirty="0"/>
          </a:p>
        </p:txBody>
      </p:sp>
      <p:sp>
        <p:nvSpPr>
          <p:cNvPr id="114" name="s114"/>
          <p:cNvSpPr/>
          <p:nvPr/>
        </p:nvSpPr>
        <p:spPr>
          <a:xfrm>
            <a:off x="723985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7</a:t>
            </a:r>
            <a:endParaRPr lang="en-US" sz="1300" dirty="0"/>
          </a:p>
        </p:txBody>
      </p:sp>
      <p:sp>
        <p:nvSpPr>
          <p:cNvPr id="115" name="s115"/>
          <p:cNvSpPr/>
          <p:nvPr/>
        </p:nvSpPr>
        <p:spPr>
          <a:xfrm>
            <a:off x="8355970"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8</a:t>
            </a:r>
            <a:endParaRPr lang="en-US" sz="1300" dirty="0"/>
          </a:p>
        </p:txBody>
      </p:sp>
      <p:sp>
        <p:nvSpPr>
          <p:cNvPr id="116" name="s116"/>
          <p:cNvSpPr/>
          <p:nvPr/>
        </p:nvSpPr>
        <p:spPr>
          <a:xfrm>
            <a:off x="947208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9</a:t>
            </a:r>
            <a:endParaRPr lang="en-US" sz="1300" dirty="0"/>
          </a:p>
        </p:txBody>
      </p:sp>
      <p:sp>
        <p:nvSpPr>
          <p:cNvPr id="117" name="s117"/>
          <p:cNvSpPr/>
          <p:nvPr/>
        </p:nvSpPr>
        <p:spPr>
          <a:xfrm>
            <a:off x="1058820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10</a:t>
            </a:r>
            <a:endParaRPr lang="en-US" sz="13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1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anim calcmode="lin" valueType="num">
                                      <p:cBhvr additive="base">
                                        <p:cTn id="15" dur="5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2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10" presetClass="entr" presetSubtype="0" fill="hold" grpId="0" nodeType="withEffect">
                                  <p:stCondLst>
                                    <p:cond delay="33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childTnLst>
                                </p:cTn>
                              </p:par>
                              <p:par>
                                <p:cTn id="23" presetID="42" presetClass="entr" presetSubtype="0" fill="hold" grpId="0" nodeType="withEffect">
                                  <p:stCondLst>
                                    <p:cond delay="44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55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42" presetClass="entr" presetSubtype="0" fill="hold" grpId="0" nodeType="withEffect">
                                  <p:stCondLst>
                                    <p:cond delay="66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par>
                                <p:cTn id="35" presetID="10" presetClass="entr" presetSubtype="0" fill="hold" grpId="0" nodeType="withEffect">
                                  <p:stCondLst>
                                    <p:cond delay="76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76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76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76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76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par>
                                <p:cTn id="50" presetID="10" presetClass="entr" presetSubtype="0" fill="hold" grpId="0" nodeType="withEffect">
                                  <p:stCondLst>
                                    <p:cond delay="760"/>
                                  </p:stCondLst>
                                  <p:childTnLst>
                                    <p:set>
                                      <p:cBhvr>
                                        <p:cTn id="51" dur="1" fill="hold">
                                          <p:stCondLst>
                                            <p:cond delay="0"/>
                                          </p:stCondLst>
                                        </p:cTn>
                                        <p:tgtEl>
                                          <p:spTgt spid="113"/>
                                        </p:tgtEl>
                                        <p:attrNameLst>
                                          <p:attrName>style.visibility</p:attrName>
                                        </p:attrNameLst>
                                      </p:cBhvr>
                                      <p:to>
                                        <p:strVal val="visible"/>
                                      </p:to>
                                    </p:set>
                                    <p:animEffect transition="in" filter="fade">
                                      <p:cBhvr>
                                        <p:cTn id="52" dur="500"/>
                                        <p:tgtEl>
                                          <p:spTgt spid="113"/>
                                        </p:tgtEl>
                                      </p:cBhvr>
                                    </p:animEffect>
                                  </p:childTnLst>
                                </p:cTn>
                              </p:par>
                              <p:par>
                                <p:cTn id="53" presetID="10" presetClass="entr" presetSubtype="0" fill="hold" grpId="0" nodeType="withEffect">
                                  <p:stCondLst>
                                    <p:cond delay="76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childTnLst>
                                </p:cTn>
                              </p:par>
                              <p:par>
                                <p:cTn id="56" presetID="10" presetClass="entr" presetSubtype="0" fill="hold" grpId="0" nodeType="withEffect">
                                  <p:stCondLst>
                                    <p:cond delay="760"/>
                                  </p:stCondLst>
                                  <p:childTnLst>
                                    <p:set>
                                      <p:cBhvr>
                                        <p:cTn id="57" dur="1" fill="hold">
                                          <p:stCondLst>
                                            <p:cond delay="0"/>
                                          </p:stCondLst>
                                        </p:cTn>
                                        <p:tgtEl>
                                          <p:spTgt spid="115"/>
                                        </p:tgtEl>
                                        <p:attrNameLst>
                                          <p:attrName>style.visibility</p:attrName>
                                        </p:attrNameLst>
                                      </p:cBhvr>
                                      <p:to>
                                        <p:strVal val="visible"/>
                                      </p:to>
                                    </p:set>
                                    <p:animEffect transition="in" filter="fade">
                                      <p:cBhvr>
                                        <p:cTn id="58" dur="500"/>
                                        <p:tgtEl>
                                          <p:spTgt spid="115"/>
                                        </p:tgtEl>
                                      </p:cBhvr>
                                    </p:animEffect>
                                  </p:childTnLst>
                                </p:cTn>
                              </p:par>
                              <p:par>
                                <p:cTn id="59" presetID="10" presetClass="entr" presetSubtype="0" fill="hold" grpId="0" nodeType="withEffect">
                                  <p:stCondLst>
                                    <p:cond delay="760"/>
                                  </p:stCondLst>
                                  <p:childTnLst>
                                    <p:set>
                                      <p:cBhvr>
                                        <p:cTn id="60" dur="1" fill="hold">
                                          <p:stCondLst>
                                            <p:cond delay="0"/>
                                          </p:stCondLst>
                                        </p:cTn>
                                        <p:tgtEl>
                                          <p:spTgt spid="116"/>
                                        </p:tgtEl>
                                        <p:attrNameLst>
                                          <p:attrName>style.visibility</p:attrName>
                                        </p:attrNameLst>
                                      </p:cBhvr>
                                      <p:to>
                                        <p:strVal val="visible"/>
                                      </p:to>
                                    </p:set>
                                    <p:animEffect transition="in" filter="fade">
                                      <p:cBhvr>
                                        <p:cTn id="61" dur="500"/>
                                        <p:tgtEl>
                                          <p:spTgt spid="116"/>
                                        </p:tgtEl>
                                      </p:cBhvr>
                                    </p:animEffect>
                                  </p:childTnLst>
                                </p:cTn>
                              </p:par>
                              <p:par>
                                <p:cTn id="62" presetID="10" presetClass="entr" presetSubtype="0" fill="hold" grpId="0" nodeType="withEffect">
                                  <p:stCondLst>
                                    <p:cond delay="760"/>
                                  </p:stCondLst>
                                  <p:childTnLst>
                                    <p:set>
                                      <p:cBhvr>
                                        <p:cTn id="63" dur="1" fill="hold">
                                          <p:stCondLst>
                                            <p:cond delay="0"/>
                                          </p:stCondLst>
                                        </p:cTn>
                                        <p:tgtEl>
                                          <p:spTgt spid="117"/>
                                        </p:tgtEl>
                                        <p:attrNameLst>
                                          <p:attrName>style.visibility</p:attrName>
                                        </p:attrNameLst>
                                      </p:cBhvr>
                                      <p:to>
                                        <p:strVal val="visible"/>
                                      </p:to>
                                    </p:set>
                                    <p:animEffect transition="in" filter="fade">
                                      <p:cBhvr>
                                        <p:cTn id="64"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KICKOFF</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Customer Arrives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Care Hospital management describes the pain.</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231</a:t>
            </a:r>
            <a:endParaRPr lang="en-US" sz="850" dirty="0"/>
          </a:p>
        </p:txBody>
      </p:sp>
      <p:sp>
        <p:nvSpPr>
          <p:cNvPr id="101" name="s101"/>
          <p:cNvSpPr/>
          <p:nvPr/>
        </p:nvSpPr>
        <p:spPr>
          <a:xfrm>
            <a:off x="543154" y="1965960"/>
            <a:ext cx="11088014" cy="1051560"/>
          </a:xfrm>
          <a:prstGeom prst="roundRect">
            <a:avLst>
              <a:gd name="adj" fmla="val 12000"/>
            </a:avLst>
          </a:prstGeom>
          <a:solidFill>
            <a:srgbClr val="111B2E"/>
          </a:solidFill>
          <a:ln w="12700">
            <a:solidFill>
              <a:srgbClr val="60A5FA"/>
            </a:solidFill>
            <a:prstDash val="solid"/>
          </a:ln>
        </p:spPr>
        <p:txBody>
          <a:bodyPr wrap="square" lIns="960120" tIns="73152" rIns="274320" bIns="73152" rtlCol="0" anchor="ctr">
            <a:noAutofit/>
          </a:bodyPr>
          <a:lstStyle/>
          <a:p>
            <a:pPr marL="0" indent="0" algn="l">
              <a:spcBef>
                <a:spcPts val="0"/>
              </a:spcBef>
              <a:spcAft>
                <a:spcPts val="300"/>
              </a:spcAft>
              <a:buNone/>
            </a:pPr>
            <a:r>
              <a:rPr lang="en-US" sz="1050" b="1" dirty="0">
                <a:solidFill>
                  <a:srgbClr val="60A5FA"/>
                </a:solidFill>
                <a:latin typeface="Segoe UI"/>
                <a:ea typeface="Segoe UI"/>
                <a:cs typeface="Segoe UI"/>
              </a:rPr>
              <a:t>CARE HOSPITAL · MANAGEMENT</a:t>
            </a:r>
            <a:endParaRPr lang="en-US" sz="1050" dirty="0"/>
          </a:p>
          <a:p>
            <a:pPr marL="0" indent="0" algn="l">
              <a:spcBef>
                <a:spcPts val="0"/>
              </a:spcBef>
              <a:spcAft>
                <a:spcPts val="0"/>
              </a:spcAft>
              <a:buNone/>
            </a:pPr>
            <a:r>
              <a:rPr lang="en-US" sz="1500" b="0" i="1" dirty="0">
                <a:solidFill>
                  <a:srgbClr val="FFFFFF"/>
                </a:solidFill>
                <a:latin typeface="Segoe UI"/>
                <a:ea typeface="Segoe UI"/>
                <a:cs typeface="Segoe UI"/>
              </a:rPr>
              <a:t>“We operate several hospitals. Patients book by phone. Receptionists manage schedules in spreadsheets. We need a Hospital Management System.”</a:t>
            </a:r>
            <a:endParaRPr lang="en-US" sz="1500" dirty="0"/>
          </a:p>
        </p:txBody>
      </p:sp>
      <p:sp>
        <p:nvSpPr>
          <p:cNvPr id="102" name="s102"/>
          <p:cNvSpPr/>
          <p:nvPr/>
        </p:nvSpPr>
        <p:spPr>
          <a:xfrm>
            <a:off x="771754" y="2240280"/>
            <a:ext cx="548640" cy="548640"/>
          </a:xfrm>
          <a:prstGeom prst="ellipse">
            <a:avLst/>
          </a:prstGeom>
          <a:solidFill>
            <a:srgbClr val="60A5FA">
              <a:alpha val="16000"/>
            </a:srgbClr>
          </a:solidFill>
          <a:ln w="12700">
            <a:solidFill>
              <a:srgbClr val="60A5FA">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903427" y="2371954"/>
            <a:ext cx="285293" cy="285293"/>
          </a:xfrm>
          <a:prstGeom prst="rect">
            <a:avLst/>
          </a:prstGeom>
        </p:spPr>
      </p:pic>
      <p:sp>
        <p:nvSpPr>
          <p:cNvPr id="104" name="s104"/>
          <p:cNvSpPr/>
          <p:nvPr/>
        </p:nvSpPr>
        <p:spPr>
          <a:xfrm>
            <a:off x="543154" y="3246120"/>
            <a:ext cx="2071299" cy="1234440"/>
          </a:xfrm>
          <a:prstGeom prst="roundRect">
            <a:avLst>
              <a:gd name="adj" fmla="val 10000"/>
            </a:avLst>
          </a:prstGeom>
          <a:solidFill>
            <a:srgbClr val="F87171">
              <a:alpha val="8000"/>
            </a:srgbClr>
          </a:solidFill>
          <a:ln w="12700">
            <a:solidFill>
              <a:srgbClr val="F87171">
                <a:alpha val="70000"/>
              </a:srgbClr>
            </a:solidFill>
            <a:prstDash val="solid"/>
          </a:ln>
        </p:spPr>
        <p:txBody>
          <a:bodyPr wrap="square" lIns="164592" tIns="109728" rIns="137160" bIns="91440" rtlCol="0" anchor="t">
            <a:noAutofit/>
          </a:bodyPr>
          <a:lstStyle/>
          <a:p>
            <a:endParaRPr lang="en-US"/>
          </a:p>
        </p:txBody>
      </p:sp>
      <p:sp>
        <p:nvSpPr>
          <p:cNvPr id="105" name="s105"/>
          <p:cNvSpPr/>
          <p:nvPr/>
        </p:nvSpPr>
        <p:spPr>
          <a:xfrm>
            <a:off x="1331915" y="3383280"/>
            <a:ext cx="493776" cy="493776"/>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6" name="img106"/>
          <p:cNvPicPr>
            <a:picLocks noChangeAspect="1"/>
          </p:cNvPicPr>
          <p:nvPr/>
        </p:nvPicPr>
        <p:blipFill>
          <a:blip r:embed="rId5"/>
          <a:stretch>
            <a:fillRect/>
          </a:stretch>
        </p:blipFill>
        <p:spPr>
          <a:xfrm>
            <a:off x="1450421" y="3501786"/>
            <a:ext cx="256764" cy="256764"/>
          </a:xfrm>
          <a:prstGeom prst="rect">
            <a:avLst/>
          </a:prstGeom>
        </p:spPr>
      </p:pic>
      <p:sp>
        <p:nvSpPr>
          <p:cNvPr id="107" name="s107"/>
          <p:cNvSpPr txBox="1"/>
          <p:nvPr/>
        </p:nvSpPr>
        <p:spPr>
          <a:xfrm>
            <a:off x="634594" y="3950208"/>
            <a:ext cx="1888419" cy="45720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Long waiting times</a:t>
            </a:r>
            <a:endParaRPr lang="en-US" sz="1200" dirty="0"/>
          </a:p>
        </p:txBody>
      </p:sp>
      <p:sp>
        <p:nvSpPr>
          <p:cNvPr id="108" name="s108"/>
          <p:cNvSpPr/>
          <p:nvPr/>
        </p:nvSpPr>
        <p:spPr>
          <a:xfrm>
            <a:off x="2797332" y="3246120"/>
            <a:ext cx="2071299" cy="1234440"/>
          </a:xfrm>
          <a:prstGeom prst="roundRect">
            <a:avLst>
              <a:gd name="adj" fmla="val 10000"/>
            </a:avLst>
          </a:prstGeom>
          <a:solidFill>
            <a:srgbClr val="F87171">
              <a:alpha val="8000"/>
            </a:srgbClr>
          </a:solidFill>
          <a:ln w="12700">
            <a:solidFill>
              <a:srgbClr val="F87171">
                <a:alpha val="70000"/>
              </a:srgbClr>
            </a:solidFill>
            <a:prstDash val="solid"/>
          </a:ln>
        </p:spPr>
        <p:txBody>
          <a:bodyPr wrap="square" lIns="164592" tIns="109728" rIns="137160" bIns="91440" rtlCol="0" anchor="t">
            <a:noAutofit/>
          </a:bodyPr>
          <a:lstStyle/>
          <a:p>
            <a:endParaRPr lang="en-US"/>
          </a:p>
        </p:txBody>
      </p:sp>
      <p:sp>
        <p:nvSpPr>
          <p:cNvPr id="109" name="s109"/>
          <p:cNvSpPr/>
          <p:nvPr/>
        </p:nvSpPr>
        <p:spPr>
          <a:xfrm>
            <a:off x="3586094" y="3383280"/>
            <a:ext cx="493776" cy="493776"/>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10" name="img110"/>
          <p:cNvPicPr>
            <a:picLocks noChangeAspect="1"/>
          </p:cNvPicPr>
          <p:nvPr/>
        </p:nvPicPr>
        <p:blipFill>
          <a:blip r:embed="rId6"/>
          <a:stretch>
            <a:fillRect/>
          </a:stretch>
        </p:blipFill>
        <p:spPr>
          <a:xfrm>
            <a:off x="3704600" y="3501786"/>
            <a:ext cx="256764" cy="256764"/>
          </a:xfrm>
          <a:prstGeom prst="rect">
            <a:avLst/>
          </a:prstGeom>
        </p:spPr>
      </p:pic>
      <p:sp>
        <p:nvSpPr>
          <p:cNvPr id="111" name="s111"/>
          <p:cNvSpPr txBox="1"/>
          <p:nvPr/>
        </p:nvSpPr>
        <p:spPr>
          <a:xfrm>
            <a:off x="2888772" y="3950208"/>
            <a:ext cx="1888419" cy="45720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Double-booked appointments</a:t>
            </a:r>
            <a:endParaRPr lang="en-US" sz="1200" dirty="0"/>
          </a:p>
        </p:txBody>
      </p:sp>
      <p:sp>
        <p:nvSpPr>
          <p:cNvPr id="112" name="s112"/>
          <p:cNvSpPr/>
          <p:nvPr/>
        </p:nvSpPr>
        <p:spPr>
          <a:xfrm>
            <a:off x="5051511" y="3246120"/>
            <a:ext cx="2071299" cy="1234440"/>
          </a:xfrm>
          <a:prstGeom prst="roundRect">
            <a:avLst>
              <a:gd name="adj" fmla="val 10000"/>
            </a:avLst>
          </a:prstGeom>
          <a:solidFill>
            <a:srgbClr val="F87171">
              <a:alpha val="8000"/>
            </a:srgbClr>
          </a:solidFill>
          <a:ln w="12700">
            <a:solidFill>
              <a:srgbClr val="F87171">
                <a:alpha val="70000"/>
              </a:srgbClr>
            </a:solidFill>
            <a:prstDash val="solid"/>
          </a:ln>
        </p:spPr>
        <p:txBody>
          <a:bodyPr wrap="square" lIns="164592" tIns="109728" rIns="137160" bIns="91440" rtlCol="0" anchor="t">
            <a:noAutofit/>
          </a:bodyPr>
          <a:lstStyle/>
          <a:p>
            <a:endParaRPr lang="en-US"/>
          </a:p>
        </p:txBody>
      </p:sp>
      <p:sp>
        <p:nvSpPr>
          <p:cNvPr id="113" name="s113"/>
          <p:cNvSpPr/>
          <p:nvPr/>
        </p:nvSpPr>
        <p:spPr>
          <a:xfrm>
            <a:off x="5840273" y="3383280"/>
            <a:ext cx="493776" cy="493776"/>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14" name="img114"/>
          <p:cNvPicPr>
            <a:picLocks noChangeAspect="1"/>
          </p:cNvPicPr>
          <p:nvPr/>
        </p:nvPicPr>
        <p:blipFill>
          <a:blip r:embed="rId7"/>
          <a:stretch>
            <a:fillRect/>
          </a:stretch>
        </p:blipFill>
        <p:spPr>
          <a:xfrm>
            <a:off x="5958779" y="3501786"/>
            <a:ext cx="256764" cy="256764"/>
          </a:xfrm>
          <a:prstGeom prst="rect">
            <a:avLst/>
          </a:prstGeom>
        </p:spPr>
      </p:pic>
      <p:sp>
        <p:nvSpPr>
          <p:cNvPr id="115" name="s115"/>
          <p:cNvSpPr txBox="1"/>
          <p:nvPr/>
        </p:nvSpPr>
        <p:spPr>
          <a:xfrm>
            <a:off x="5142951" y="3950208"/>
            <a:ext cx="1888419" cy="45720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Lost patient information</a:t>
            </a:r>
            <a:endParaRPr lang="en-US" sz="1200" dirty="0"/>
          </a:p>
        </p:txBody>
      </p:sp>
      <p:sp>
        <p:nvSpPr>
          <p:cNvPr id="116" name="s116"/>
          <p:cNvSpPr/>
          <p:nvPr/>
        </p:nvSpPr>
        <p:spPr>
          <a:xfrm>
            <a:off x="7305690" y="3246120"/>
            <a:ext cx="2071299" cy="1234440"/>
          </a:xfrm>
          <a:prstGeom prst="roundRect">
            <a:avLst>
              <a:gd name="adj" fmla="val 10000"/>
            </a:avLst>
          </a:prstGeom>
          <a:solidFill>
            <a:srgbClr val="F87171">
              <a:alpha val="8000"/>
            </a:srgbClr>
          </a:solidFill>
          <a:ln w="12700">
            <a:solidFill>
              <a:srgbClr val="F87171">
                <a:alpha val="70000"/>
              </a:srgbClr>
            </a:solidFill>
            <a:prstDash val="solid"/>
          </a:ln>
        </p:spPr>
        <p:txBody>
          <a:bodyPr wrap="square" lIns="164592" tIns="109728" rIns="137160" bIns="91440" rtlCol="0" anchor="t">
            <a:noAutofit/>
          </a:bodyPr>
          <a:lstStyle/>
          <a:p>
            <a:endParaRPr lang="en-US"/>
          </a:p>
        </p:txBody>
      </p:sp>
      <p:sp>
        <p:nvSpPr>
          <p:cNvPr id="117" name="s117"/>
          <p:cNvSpPr/>
          <p:nvPr/>
        </p:nvSpPr>
        <p:spPr>
          <a:xfrm>
            <a:off x="8094452" y="3383280"/>
            <a:ext cx="493776" cy="493776"/>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18" name="img118"/>
          <p:cNvPicPr>
            <a:picLocks noChangeAspect="1"/>
          </p:cNvPicPr>
          <p:nvPr/>
        </p:nvPicPr>
        <p:blipFill>
          <a:blip r:embed="rId8"/>
          <a:stretch>
            <a:fillRect/>
          </a:stretch>
        </p:blipFill>
        <p:spPr>
          <a:xfrm>
            <a:off x="8212958" y="3501786"/>
            <a:ext cx="256764" cy="256764"/>
          </a:xfrm>
          <a:prstGeom prst="rect">
            <a:avLst/>
          </a:prstGeom>
        </p:spPr>
      </p:pic>
      <p:sp>
        <p:nvSpPr>
          <p:cNvPr id="119" name="s119"/>
          <p:cNvSpPr txBox="1"/>
          <p:nvPr/>
        </p:nvSpPr>
        <p:spPr>
          <a:xfrm>
            <a:off x="7397130" y="3950208"/>
            <a:ext cx="1888419" cy="45720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No clear doctor schedule</a:t>
            </a:r>
            <a:endParaRPr lang="en-US" sz="1200" dirty="0"/>
          </a:p>
        </p:txBody>
      </p:sp>
      <p:sp>
        <p:nvSpPr>
          <p:cNvPr id="120" name="s120"/>
          <p:cNvSpPr/>
          <p:nvPr/>
        </p:nvSpPr>
        <p:spPr>
          <a:xfrm>
            <a:off x="9559869" y="3246120"/>
            <a:ext cx="2071299" cy="1234440"/>
          </a:xfrm>
          <a:prstGeom prst="roundRect">
            <a:avLst>
              <a:gd name="adj" fmla="val 10000"/>
            </a:avLst>
          </a:prstGeom>
          <a:solidFill>
            <a:srgbClr val="F87171">
              <a:alpha val="8000"/>
            </a:srgbClr>
          </a:solidFill>
          <a:ln w="12700">
            <a:solidFill>
              <a:srgbClr val="F87171">
                <a:alpha val="70000"/>
              </a:srgbClr>
            </a:solidFill>
            <a:prstDash val="solid"/>
          </a:ln>
        </p:spPr>
        <p:txBody>
          <a:bodyPr wrap="square" lIns="164592" tIns="109728" rIns="137160" bIns="91440" rtlCol="0" anchor="t">
            <a:noAutofit/>
          </a:bodyPr>
          <a:lstStyle/>
          <a:p>
            <a:endParaRPr lang="en-US"/>
          </a:p>
        </p:txBody>
      </p:sp>
      <p:sp>
        <p:nvSpPr>
          <p:cNvPr id="121" name="s121"/>
          <p:cNvSpPr/>
          <p:nvPr/>
        </p:nvSpPr>
        <p:spPr>
          <a:xfrm>
            <a:off x="10348631" y="3383280"/>
            <a:ext cx="493776" cy="493776"/>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2" name="img122"/>
          <p:cNvPicPr>
            <a:picLocks noChangeAspect="1"/>
          </p:cNvPicPr>
          <p:nvPr/>
        </p:nvPicPr>
        <p:blipFill>
          <a:blip r:embed="rId9"/>
          <a:stretch>
            <a:fillRect/>
          </a:stretch>
        </p:blipFill>
        <p:spPr>
          <a:xfrm>
            <a:off x="10467137" y="3501786"/>
            <a:ext cx="256764" cy="256764"/>
          </a:xfrm>
          <a:prstGeom prst="rect">
            <a:avLst/>
          </a:prstGeom>
        </p:spPr>
      </p:pic>
      <p:sp>
        <p:nvSpPr>
          <p:cNvPr id="123" name="s123"/>
          <p:cNvSpPr txBox="1"/>
          <p:nvPr/>
        </p:nvSpPr>
        <p:spPr>
          <a:xfrm>
            <a:off x="9651309" y="3950208"/>
            <a:ext cx="1888419" cy="45720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Manual reporting</a:t>
            </a:r>
            <a:endParaRPr lang="en-US" sz="1200" dirty="0"/>
          </a:p>
        </p:txBody>
      </p:sp>
      <p:sp>
        <p:nvSpPr>
          <p:cNvPr id="124" name="s124"/>
          <p:cNvSpPr/>
          <p:nvPr/>
        </p:nvSpPr>
        <p:spPr>
          <a:xfrm>
            <a:off x="543154" y="4709160"/>
            <a:ext cx="11088014" cy="868680"/>
          </a:xfrm>
          <a:prstGeom prst="roundRect">
            <a:avLst>
              <a:gd name="adj" fmla="val 12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25" name="s125"/>
          <p:cNvSpPr txBox="1"/>
          <p:nvPr/>
        </p:nvSpPr>
        <p:spPr>
          <a:xfrm>
            <a:off x="771754" y="4800600"/>
            <a:ext cx="18288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1" dirty="0">
                <a:solidFill>
                  <a:srgbClr val="FBBF24"/>
                </a:solidFill>
                <a:latin typeface="Segoe UI"/>
                <a:ea typeface="Segoe UI"/>
                <a:cs typeface="Segoe UI"/>
              </a:rPr>
              <a:t>ASK THE CLASS</a:t>
            </a:r>
            <a:endParaRPr lang="en-US" sz="1000" dirty="0"/>
          </a:p>
        </p:txBody>
      </p:sp>
      <p:sp>
        <p:nvSpPr>
          <p:cNvPr id="126" name="s126"/>
          <p:cNvSpPr txBox="1"/>
          <p:nvPr/>
        </p:nvSpPr>
        <p:spPr>
          <a:xfrm>
            <a:off x="771754" y="5038344"/>
            <a:ext cx="5322247" cy="4846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FFFFFF"/>
                </a:solidFill>
                <a:latin typeface="Segoe UI"/>
                <a:ea typeface="Segoe UI"/>
                <a:cs typeface="Segoe UI"/>
              </a:rPr>
              <a:t>Should the team start coding now?</a:t>
            </a:r>
            <a:endParaRPr lang="en-US" sz="1400" dirty="0"/>
          </a:p>
        </p:txBody>
      </p:sp>
      <p:sp>
        <p:nvSpPr>
          <p:cNvPr id="127" name="s127"/>
          <p:cNvSpPr txBox="1"/>
          <p:nvPr/>
        </p:nvSpPr>
        <p:spPr>
          <a:xfrm>
            <a:off x="6087161" y="4800600"/>
            <a:ext cx="5322247" cy="6858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  No. First understand the product and the value it should provide.</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04"/>
                                        </p:tgtEl>
                                        <p:attrNameLst>
                                          <p:attrName>style.visibility</p:attrName>
                                        </p:attrNameLst>
                                      </p:cBhvr>
                                      <p:to>
                                        <p:strVal val="visible"/>
                                      </p:to>
                                    </p:set>
                                    <p:anim calcmode="lin" valueType="num">
                                      <p:cBhvr additive="base">
                                        <p:cTn id="21" dur="500" decel="100000" fill="hold"/>
                                        <p:tgtEl>
                                          <p:spTgt spid="104"/>
                                        </p:tgtEl>
                                        <p:attrNameLst>
                                          <p:attrName>ppt_w</p:attrName>
                                        </p:attrNameLst>
                                      </p:cBhvr>
                                      <p:tavLst>
                                        <p:tav tm="0">
                                          <p:val>
                                            <p:strVal val="#ppt_w*0.55"/>
                                          </p:val>
                                        </p:tav>
                                        <p:tav tm="100000">
                                          <p:val>
                                            <p:strVal val="#ppt_w"/>
                                          </p:val>
                                        </p:tav>
                                      </p:tavLst>
                                    </p:anim>
                                    <p:anim calcmode="lin" valueType="num">
                                      <p:cBhvr additive="base">
                                        <p:cTn id="22" dur="500" decel="100000" fill="hold"/>
                                        <p:tgtEl>
                                          <p:spTgt spid="104"/>
                                        </p:tgtEl>
                                        <p:attrNameLst>
                                          <p:attrName>ppt_h</p:attrName>
                                        </p:attrNameLst>
                                      </p:cBhvr>
                                      <p:tavLst>
                                        <p:tav tm="0">
                                          <p:val>
                                            <p:strVal val="#ppt_h*0.55"/>
                                          </p:val>
                                        </p:tav>
                                        <p:tav tm="100000">
                                          <p:val>
                                            <p:strVal val="#ppt_h"/>
                                          </p:val>
                                        </p:tav>
                                      </p:tavLst>
                                    </p:anim>
                                    <p:animEffect transition="in" filter="fade">
                                      <p:cBhvr>
                                        <p:cTn id="23" dur="500"/>
                                        <p:tgtEl>
                                          <p:spTgt spid="104"/>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105"/>
                                        </p:tgtEl>
                                        <p:attrNameLst>
                                          <p:attrName>style.visibility</p:attrName>
                                        </p:attrNameLst>
                                      </p:cBhvr>
                                      <p:to>
                                        <p:strVal val="visible"/>
                                      </p:to>
                                    </p:set>
                                    <p:anim calcmode="lin" valueType="num">
                                      <p:cBhvr additive="base">
                                        <p:cTn id="26" dur="5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27" dur="500" decel="100000" fill="hold"/>
                                        <p:tgtEl>
                                          <p:spTgt spid="105"/>
                                        </p:tgtEl>
                                        <p:attrNameLst>
                                          <p:attrName>ppt_h</p:attrName>
                                        </p:attrNameLst>
                                      </p:cBhvr>
                                      <p:tavLst>
                                        <p:tav tm="0">
                                          <p:val>
                                            <p:strVal val="#ppt_h*0.55"/>
                                          </p:val>
                                        </p:tav>
                                        <p:tav tm="100000">
                                          <p:val>
                                            <p:strVal val="#ppt_h"/>
                                          </p:val>
                                        </p:tav>
                                      </p:tavLst>
                                    </p:anim>
                                    <p:animEffect transition="in" filter="fade">
                                      <p:cBhvr>
                                        <p:cTn id="28" dur="500"/>
                                        <p:tgtEl>
                                          <p:spTgt spid="105"/>
                                        </p:tgtEl>
                                      </p:cBhvr>
                                    </p:animEffect>
                                  </p:childTnLst>
                                </p:cTn>
                              </p:par>
                              <p:par>
                                <p:cTn id="29" presetID="53" presetClass="entr" presetSubtype="16" fill="hold" nodeType="withEffect">
                                  <p:stCondLst>
                                    <p:cond delay="0"/>
                                  </p:stCondLst>
                                  <p:childTnLst>
                                    <p:set>
                                      <p:cBhvr>
                                        <p:cTn id="30" dur="1" fill="hold">
                                          <p:stCondLst>
                                            <p:cond delay="0"/>
                                          </p:stCondLst>
                                        </p:cTn>
                                        <p:tgtEl>
                                          <p:spTgt spid="106"/>
                                        </p:tgtEl>
                                        <p:attrNameLst>
                                          <p:attrName>style.visibility</p:attrName>
                                        </p:attrNameLst>
                                      </p:cBhvr>
                                      <p:to>
                                        <p:strVal val="visible"/>
                                      </p:to>
                                    </p:set>
                                    <p:anim calcmode="lin" valueType="num">
                                      <p:cBhvr additive="base">
                                        <p:cTn id="31"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32" dur="500" decel="100000" fill="hold"/>
                                        <p:tgtEl>
                                          <p:spTgt spid="106"/>
                                        </p:tgtEl>
                                        <p:attrNameLst>
                                          <p:attrName>ppt_h</p:attrName>
                                        </p:attrNameLst>
                                      </p:cBhvr>
                                      <p:tavLst>
                                        <p:tav tm="0">
                                          <p:val>
                                            <p:strVal val="#ppt_h*0.55"/>
                                          </p:val>
                                        </p:tav>
                                        <p:tav tm="100000">
                                          <p:val>
                                            <p:strVal val="#ppt_h"/>
                                          </p:val>
                                        </p:tav>
                                      </p:tavLst>
                                    </p:anim>
                                    <p:animEffect transition="in" filter="fade">
                                      <p:cBhvr>
                                        <p:cTn id="33" dur="500"/>
                                        <p:tgtEl>
                                          <p:spTgt spid="106"/>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107"/>
                                        </p:tgtEl>
                                        <p:attrNameLst>
                                          <p:attrName>style.visibility</p:attrName>
                                        </p:attrNameLst>
                                      </p:cBhvr>
                                      <p:to>
                                        <p:strVal val="visible"/>
                                      </p:to>
                                    </p:set>
                                    <p:anim calcmode="lin" valueType="num">
                                      <p:cBhvr additive="base">
                                        <p:cTn id="36"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7" dur="500" decel="100000" fill="hold"/>
                                        <p:tgtEl>
                                          <p:spTgt spid="107"/>
                                        </p:tgtEl>
                                        <p:attrNameLst>
                                          <p:attrName>ppt_h</p:attrName>
                                        </p:attrNameLst>
                                      </p:cBhvr>
                                      <p:tavLst>
                                        <p:tav tm="0">
                                          <p:val>
                                            <p:strVal val="#ppt_h*0.55"/>
                                          </p:val>
                                        </p:tav>
                                        <p:tav tm="100000">
                                          <p:val>
                                            <p:strVal val="#ppt_h"/>
                                          </p:val>
                                        </p:tav>
                                      </p:tavLst>
                                    </p:anim>
                                    <p:animEffect transition="in" filter="fade">
                                      <p:cBhvr>
                                        <p:cTn id="38" dur="500"/>
                                        <p:tgtEl>
                                          <p:spTgt spid="107"/>
                                        </p:tgtEl>
                                      </p:cBhvr>
                                    </p:animEffect>
                                  </p:childTnLst>
                                </p:cTn>
                              </p:par>
                              <p:par>
                                <p:cTn id="39" presetID="53" presetClass="entr" presetSubtype="16" fill="hold" grpId="0" nodeType="withEffect">
                                  <p:stCondLst>
                                    <p:cond delay="150"/>
                                  </p:stCondLst>
                                  <p:childTnLst>
                                    <p:set>
                                      <p:cBhvr>
                                        <p:cTn id="40" dur="1" fill="hold">
                                          <p:stCondLst>
                                            <p:cond delay="0"/>
                                          </p:stCondLst>
                                        </p:cTn>
                                        <p:tgtEl>
                                          <p:spTgt spid="108"/>
                                        </p:tgtEl>
                                        <p:attrNameLst>
                                          <p:attrName>style.visibility</p:attrName>
                                        </p:attrNameLst>
                                      </p:cBhvr>
                                      <p:to>
                                        <p:strVal val="visible"/>
                                      </p:to>
                                    </p:set>
                                    <p:anim calcmode="lin" valueType="num">
                                      <p:cBhvr additive="base">
                                        <p:cTn id="41"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2" dur="500" decel="100000" fill="hold"/>
                                        <p:tgtEl>
                                          <p:spTgt spid="108"/>
                                        </p:tgtEl>
                                        <p:attrNameLst>
                                          <p:attrName>ppt_h</p:attrName>
                                        </p:attrNameLst>
                                      </p:cBhvr>
                                      <p:tavLst>
                                        <p:tav tm="0">
                                          <p:val>
                                            <p:strVal val="#ppt_h*0.55"/>
                                          </p:val>
                                        </p:tav>
                                        <p:tav tm="100000">
                                          <p:val>
                                            <p:strVal val="#ppt_h"/>
                                          </p:val>
                                        </p:tav>
                                      </p:tavLst>
                                    </p:anim>
                                    <p:animEffect transition="in" filter="fade">
                                      <p:cBhvr>
                                        <p:cTn id="43" dur="500"/>
                                        <p:tgtEl>
                                          <p:spTgt spid="108"/>
                                        </p:tgtEl>
                                      </p:cBhvr>
                                    </p:animEffect>
                                  </p:childTnLst>
                                </p:cTn>
                              </p:par>
                              <p:par>
                                <p:cTn id="44" presetID="53" presetClass="entr" presetSubtype="16" fill="hold" grpId="0" nodeType="withEffect">
                                  <p:stCondLst>
                                    <p:cond delay="150"/>
                                  </p:stCondLst>
                                  <p:childTnLst>
                                    <p:set>
                                      <p:cBhvr>
                                        <p:cTn id="45" dur="1" fill="hold">
                                          <p:stCondLst>
                                            <p:cond delay="0"/>
                                          </p:stCondLst>
                                        </p:cTn>
                                        <p:tgtEl>
                                          <p:spTgt spid="109"/>
                                        </p:tgtEl>
                                        <p:attrNameLst>
                                          <p:attrName>style.visibility</p:attrName>
                                        </p:attrNameLst>
                                      </p:cBhvr>
                                      <p:to>
                                        <p:strVal val="visible"/>
                                      </p:to>
                                    </p:set>
                                    <p:anim calcmode="lin" valueType="num">
                                      <p:cBhvr additive="base">
                                        <p:cTn id="46"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47" dur="500" decel="100000" fill="hold"/>
                                        <p:tgtEl>
                                          <p:spTgt spid="109"/>
                                        </p:tgtEl>
                                        <p:attrNameLst>
                                          <p:attrName>ppt_h</p:attrName>
                                        </p:attrNameLst>
                                      </p:cBhvr>
                                      <p:tavLst>
                                        <p:tav tm="0">
                                          <p:val>
                                            <p:strVal val="#ppt_h*0.55"/>
                                          </p:val>
                                        </p:tav>
                                        <p:tav tm="100000">
                                          <p:val>
                                            <p:strVal val="#ppt_h"/>
                                          </p:val>
                                        </p:tav>
                                      </p:tavLst>
                                    </p:anim>
                                    <p:animEffect transition="in" filter="fade">
                                      <p:cBhvr>
                                        <p:cTn id="48" dur="500"/>
                                        <p:tgtEl>
                                          <p:spTgt spid="109"/>
                                        </p:tgtEl>
                                      </p:cBhvr>
                                    </p:animEffect>
                                  </p:childTnLst>
                                </p:cTn>
                              </p:par>
                              <p:par>
                                <p:cTn id="49" presetID="53" presetClass="entr" presetSubtype="16" fill="hold" nodeType="withEffect">
                                  <p:stCondLst>
                                    <p:cond delay="150"/>
                                  </p:stCondLst>
                                  <p:childTnLst>
                                    <p:set>
                                      <p:cBhvr>
                                        <p:cTn id="50" dur="1" fill="hold">
                                          <p:stCondLst>
                                            <p:cond delay="0"/>
                                          </p:stCondLst>
                                        </p:cTn>
                                        <p:tgtEl>
                                          <p:spTgt spid="110"/>
                                        </p:tgtEl>
                                        <p:attrNameLst>
                                          <p:attrName>style.visibility</p:attrName>
                                        </p:attrNameLst>
                                      </p:cBhvr>
                                      <p:to>
                                        <p:strVal val="visible"/>
                                      </p:to>
                                    </p:set>
                                    <p:anim calcmode="lin" valueType="num">
                                      <p:cBhvr additive="base">
                                        <p:cTn id="51" dur="500" decel="100000" fill="hold"/>
                                        <p:tgtEl>
                                          <p:spTgt spid="110"/>
                                        </p:tgtEl>
                                        <p:attrNameLst>
                                          <p:attrName>ppt_w</p:attrName>
                                        </p:attrNameLst>
                                      </p:cBhvr>
                                      <p:tavLst>
                                        <p:tav tm="0">
                                          <p:val>
                                            <p:strVal val="#ppt_w*0.55"/>
                                          </p:val>
                                        </p:tav>
                                        <p:tav tm="100000">
                                          <p:val>
                                            <p:strVal val="#ppt_w"/>
                                          </p:val>
                                        </p:tav>
                                      </p:tavLst>
                                    </p:anim>
                                    <p:anim calcmode="lin" valueType="num">
                                      <p:cBhvr additive="base">
                                        <p:cTn id="52" dur="500" decel="100000" fill="hold"/>
                                        <p:tgtEl>
                                          <p:spTgt spid="110"/>
                                        </p:tgtEl>
                                        <p:attrNameLst>
                                          <p:attrName>ppt_h</p:attrName>
                                        </p:attrNameLst>
                                      </p:cBhvr>
                                      <p:tavLst>
                                        <p:tav tm="0">
                                          <p:val>
                                            <p:strVal val="#ppt_h*0.55"/>
                                          </p:val>
                                        </p:tav>
                                        <p:tav tm="100000">
                                          <p:val>
                                            <p:strVal val="#ppt_h"/>
                                          </p:val>
                                        </p:tav>
                                      </p:tavLst>
                                    </p:anim>
                                    <p:animEffect transition="in" filter="fade">
                                      <p:cBhvr>
                                        <p:cTn id="53" dur="500"/>
                                        <p:tgtEl>
                                          <p:spTgt spid="110"/>
                                        </p:tgtEl>
                                      </p:cBhvr>
                                    </p:animEffect>
                                  </p:childTnLst>
                                </p:cTn>
                              </p:par>
                              <p:par>
                                <p:cTn id="54" presetID="53" presetClass="entr" presetSubtype="16" fill="hold" grpId="0" nodeType="withEffect">
                                  <p:stCondLst>
                                    <p:cond delay="150"/>
                                  </p:stCondLst>
                                  <p:childTnLst>
                                    <p:set>
                                      <p:cBhvr>
                                        <p:cTn id="55" dur="1" fill="hold">
                                          <p:stCondLst>
                                            <p:cond delay="0"/>
                                          </p:stCondLst>
                                        </p:cTn>
                                        <p:tgtEl>
                                          <p:spTgt spid="111"/>
                                        </p:tgtEl>
                                        <p:attrNameLst>
                                          <p:attrName>style.visibility</p:attrName>
                                        </p:attrNameLst>
                                      </p:cBhvr>
                                      <p:to>
                                        <p:strVal val="visible"/>
                                      </p:to>
                                    </p:set>
                                    <p:anim calcmode="lin" valueType="num">
                                      <p:cBhvr additive="base">
                                        <p:cTn id="56" dur="500" decel="100000" fill="hold"/>
                                        <p:tgtEl>
                                          <p:spTgt spid="111"/>
                                        </p:tgtEl>
                                        <p:attrNameLst>
                                          <p:attrName>ppt_w</p:attrName>
                                        </p:attrNameLst>
                                      </p:cBhvr>
                                      <p:tavLst>
                                        <p:tav tm="0">
                                          <p:val>
                                            <p:strVal val="#ppt_w*0.55"/>
                                          </p:val>
                                        </p:tav>
                                        <p:tav tm="100000">
                                          <p:val>
                                            <p:strVal val="#ppt_w"/>
                                          </p:val>
                                        </p:tav>
                                      </p:tavLst>
                                    </p:anim>
                                    <p:anim calcmode="lin" valueType="num">
                                      <p:cBhvr additive="base">
                                        <p:cTn id="57" dur="500" decel="100000" fill="hold"/>
                                        <p:tgtEl>
                                          <p:spTgt spid="111"/>
                                        </p:tgtEl>
                                        <p:attrNameLst>
                                          <p:attrName>ppt_h</p:attrName>
                                        </p:attrNameLst>
                                      </p:cBhvr>
                                      <p:tavLst>
                                        <p:tav tm="0">
                                          <p:val>
                                            <p:strVal val="#ppt_h*0.55"/>
                                          </p:val>
                                        </p:tav>
                                        <p:tav tm="100000">
                                          <p:val>
                                            <p:strVal val="#ppt_h"/>
                                          </p:val>
                                        </p:tav>
                                      </p:tavLst>
                                    </p:anim>
                                    <p:animEffect transition="in" filter="fade">
                                      <p:cBhvr>
                                        <p:cTn id="58" dur="500"/>
                                        <p:tgtEl>
                                          <p:spTgt spid="111"/>
                                        </p:tgtEl>
                                      </p:cBhvr>
                                    </p:animEffect>
                                  </p:childTnLst>
                                </p:cTn>
                              </p:par>
                              <p:par>
                                <p:cTn id="59" presetID="53" presetClass="entr" presetSubtype="16" fill="hold" grpId="0" nodeType="withEffect">
                                  <p:stCondLst>
                                    <p:cond delay="300"/>
                                  </p:stCondLst>
                                  <p:childTnLst>
                                    <p:set>
                                      <p:cBhvr>
                                        <p:cTn id="60" dur="1" fill="hold">
                                          <p:stCondLst>
                                            <p:cond delay="0"/>
                                          </p:stCondLst>
                                        </p:cTn>
                                        <p:tgtEl>
                                          <p:spTgt spid="112"/>
                                        </p:tgtEl>
                                        <p:attrNameLst>
                                          <p:attrName>style.visibility</p:attrName>
                                        </p:attrNameLst>
                                      </p:cBhvr>
                                      <p:to>
                                        <p:strVal val="visible"/>
                                      </p:to>
                                    </p:set>
                                    <p:anim calcmode="lin" valueType="num">
                                      <p:cBhvr additive="base">
                                        <p:cTn id="61" dur="500" decel="100000" fill="hold"/>
                                        <p:tgtEl>
                                          <p:spTgt spid="112"/>
                                        </p:tgtEl>
                                        <p:attrNameLst>
                                          <p:attrName>ppt_w</p:attrName>
                                        </p:attrNameLst>
                                      </p:cBhvr>
                                      <p:tavLst>
                                        <p:tav tm="0">
                                          <p:val>
                                            <p:strVal val="#ppt_w*0.55"/>
                                          </p:val>
                                        </p:tav>
                                        <p:tav tm="100000">
                                          <p:val>
                                            <p:strVal val="#ppt_w"/>
                                          </p:val>
                                        </p:tav>
                                      </p:tavLst>
                                    </p:anim>
                                    <p:anim calcmode="lin" valueType="num">
                                      <p:cBhvr additive="base">
                                        <p:cTn id="62" dur="500" decel="100000" fill="hold"/>
                                        <p:tgtEl>
                                          <p:spTgt spid="112"/>
                                        </p:tgtEl>
                                        <p:attrNameLst>
                                          <p:attrName>ppt_h</p:attrName>
                                        </p:attrNameLst>
                                      </p:cBhvr>
                                      <p:tavLst>
                                        <p:tav tm="0">
                                          <p:val>
                                            <p:strVal val="#ppt_h*0.55"/>
                                          </p:val>
                                        </p:tav>
                                        <p:tav tm="100000">
                                          <p:val>
                                            <p:strVal val="#ppt_h"/>
                                          </p:val>
                                        </p:tav>
                                      </p:tavLst>
                                    </p:anim>
                                    <p:animEffect transition="in" filter="fade">
                                      <p:cBhvr>
                                        <p:cTn id="63" dur="500"/>
                                        <p:tgtEl>
                                          <p:spTgt spid="112"/>
                                        </p:tgtEl>
                                      </p:cBhvr>
                                    </p:animEffect>
                                  </p:childTnLst>
                                </p:cTn>
                              </p:par>
                              <p:par>
                                <p:cTn id="64" presetID="53" presetClass="entr" presetSubtype="16" fill="hold" grpId="0" nodeType="withEffect">
                                  <p:stCondLst>
                                    <p:cond delay="300"/>
                                  </p:stCondLst>
                                  <p:childTnLst>
                                    <p:set>
                                      <p:cBhvr>
                                        <p:cTn id="65" dur="1" fill="hold">
                                          <p:stCondLst>
                                            <p:cond delay="0"/>
                                          </p:stCondLst>
                                        </p:cTn>
                                        <p:tgtEl>
                                          <p:spTgt spid="113"/>
                                        </p:tgtEl>
                                        <p:attrNameLst>
                                          <p:attrName>style.visibility</p:attrName>
                                        </p:attrNameLst>
                                      </p:cBhvr>
                                      <p:to>
                                        <p:strVal val="visible"/>
                                      </p:to>
                                    </p:set>
                                    <p:anim calcmode="lin" valueType="num">
                                      <p:cBhvr additive="base">
                                        <p:cTn id="66" dur="500" decel="100000" fill="hold"/>
                                        <p:tgtEl>
                                          <p:spTgt spid="113"/>
                                        </p:tgtEl>
                                        <p:attrNameLst>
                                          <p:attrName>ppt_w</p:attrName>
                                        </p:attrNameLst>
                                      </p:cBhvr>
                                      <p:tavLst>
                                        <p:tav tm="0">
                                          <p:val>
                                            <p:strVal val="#ppt_w*0.55"/>
                                          </p:val>
                                        </p:tav>
                                        <p:tav tm="100000">
                                          <p:val>
                                            <p:strVal val="#ppt_w"/>
                                          </p:val>
                                        </p:tav>
                                      </p:tavLst>
                                    </p:anim>
                                    <p:anim calcmode="lin" valueType="num">
                                      <p:cBhvr additive="base">
                                        <p:cTn id="67" dur="500" decel="100000" fill="hold"/>
                                        <p:tgtEl>
                                          <p:spTgt spid="113"/>
                                        </p:tgtEl>
                                        <p:attrNameLst>
                                          <p:attrName>ppt_h</p:attrName>
                                        </p:attrNameLst>
                                      </p:cBhvr>
                                      <p:tavLst>
                                        <p:tav tm="0">
                                          <p:val>
                                            <p:strVal val="#ppt_h*0.55"/>
                                          </p:val>
                                        </p:tav>
                                        <p:tav tm="100000">
                                          <p:val>
                                            <p:strVal val="#ppt_h"/>
                                          </p:val>
                                        </p:tav>
                                      </p:tavLst>
                                    </p:anim>
                                    <p:animEffect transition="in" filter="fade">
                                      <p:cBhvr>
                                        <p:cTn id="68" dur="500"/>
                                        <p:tgtEl>
                                          <p:spTgt spid="113"/>
                                        </p:tgtEl>
                                      </p:cBhvr>
                                    </p:animEffect>
                                  </p:childTnLst>
                                </p:cTn>
                              </p:par>
                              <p:par>
                                <p:cTn id="69" presetID="53" presetClass="entr" presetSubtype="16" fill="hold" nodeType="withEffect">
                                  <p:stCondLst>
                                    <p:cond delay="300"/>
                                  </p:stCondLst>
                                  <p:childTnLst>
                                    <p:set>
                                      <p:cBhvr>
                                        <p:cTn id="70" dur="1" fill="hold">
                                          <p:stCondLst>
                                            <p:cond delay="0"/>
                                          </p:stCondLst>
                                        </p:cTn>
                                        <p:tgtEl>
                                          <p:spTgt spid="114"/>
                                        </p:tgtEl>
                                        <p:attrNameLst>
                                          <p:attrName>style.visibility</p:attrName>
                                        </p:attrNameLst>
                                      </p:cBhvr>
                                      <p:to>
                                        <p:strVal val="visible"/>
                                      </p:to>
                                    </p:set>
                                    <p:anim calcmode="lin" valueType="num">
                                      <p:cBhvr additive="base">
                                        <p:cTn id="71" dur="500" decel="100000" fill="hold"/>
                                        <p:tgtEl>
                                          <p:spTgt spid="114"/>
                                        </p:tgtEl>
                                        <p:attrNameLst>
                                          <p:attrName>ppt_w</p:attrName>
                                        </p:attrNameLst>
                                      </p:cBhvr>
                                      <p:tavLst>
                                        <p:tav tm="0">
                                          <p:val>
                                            <p:strVal val="#ppt_w*0.55"/>
                                          </p:val>
                                        </p:tav>
                                        <p:tav tm="100000">
                                          <p:val>
                                            <p:strVal val="#ppt_w"/>
                                          </p:val>
                                        </p:tav>
                                      </p:tavLst>
                                    </p:anim>
                                    <p:anim calcmode="lin" valueType="num">
                                      <p:cBhvr additive="base">
                                        <p:cTn id="72" dur="500" decel="100000" fill="hold"/>
                                        <p:tgtEl>
                                          <p:spTgt spid="114"/>
                                        </p:tgtEl>
                                        <p:attrNameLst>
                                          <p:attrName>ppt_h</p:attrName>
                                        </p:attrNameLst>
                                      </p:cBhvr>
                                      <p:tavLst>
                                        <p:tav tm="0">
                                          <p:val>
                                            <p:strVal val="#ppt_h*0.55"/>
                                          </p:val>
                                        </p:tav>
                                        <p:tav tm="100000">
                                          <p:val>
                                            <p:strVal val="#ppt_h"/>
                                          </p:val>
                                        </p:tav>
                                      </p:tavLst>
                                    </p:anim>
                                    <p:animEffect transition="in" filter="fade">
                                      <p:cBhvr>
                                        <p:cTn id="73" dur="500"/>
                                        <p:tgtEl>
                                          <p:spTgt spid="114"/>
                                        </p:tgtEl>
                                      </p:cBhvr>
                                    </p:animEffect>
                                  </p:childTnLst>
                                </p:cTn>
                              </p:par>
                              <p:par>
                                <p:cTn id="74" presetID="53" presetClass="entr" presetSubtype="16" fill="hold" grpId="0" nodeType="withEffect">
                                  <p:stCondLst>
                                    <p:cond delay="300"/>
                                  </p:stCondLst>
                                  <p:childTnLst>
                                    <p:set>
                                      <p:cBhvr>
                                        <p:cTn id="75" dur="1" fill="hold">
                                          <p:stCondLst>
                                            <p:cond delay="0"/>
                                          </p:stCondLst>
                                        </p:cTn>
                                        <p:tgtEl>
                                          <p:spTgt spid="115"/>
                                        </p:tgtEl>
                                        <p:attrNameLst>
                                          <p:attrName>style.visibility</p:attrName>
                                        </p:attrNameLst>
                                      </p:cBhvr>
                                      <p:to>
                                        <p:strVal val="visible"/>
                                      </p:to>
                                    </p:set>
                                    <p:anim calcmode="lin" valueType="num">
                                      <p:cBhvr additive="base">
                                        <p:cTn id="76" dur="500" decel="100000" fill="hold"/>
                                        <p:tgtEl>
                                          <p:spTgt spid="115"/>
                                        </p:tgtEl>
                                        <p:attrNameLst>
                                          <p:attrName>ppt_w</p:attrName>
                                        </p:attrNameLst>
                                      </p:cBhvr>
                                      <p:tavLst>
                                        <p:tav tm="0">
                                          <p:val>
                                            <p:strVal val="#ppt_w*0.55"/>
                                          </p:val>
                                        </p:tav>
                                        <p:tav tm="100000">
                                          <p:val>
                                            <p:strVal val="#ppt_w"/>
                                          </p:val>
                                        </p:tav>
                                      </p:tavLst>
                                    </p:anim>
                                    <p:anim calcmode="lin" valueType="num">
                                      <p:cBhvr additive="base">
                                        <p:cTn id="77" dur="500" decel="100000" fill="hold"/>
                                        <p:tgtEl>
                                          <p:spTgt spid="115"/>
                                        </p:tgtEl>
                                        <p:attrNameLst>
                                          <p:attrName>ppt_h</p:attrName>
                                        </p:attrNameLst>
                                      </p:cBhvr>
                                      <p:tavLst>
                                        <p:tav tm="0">
                                          <p:val>
                                            <p:strVal val="#ppt_h*0.55"/>
                                          </p:val>
                                        </p:tav>
                                        <p:tav tm="100000">
                                          <p:val>
                                            <p:strVal val="#ppt_h"/>
                                          </p:val>
                                        </p:tav>
                                      </p:tavLst>
                                    </p:anim>
                                    <p:animEffect transition="in" filter="fade">
                                      <p:cBhvr>
                                        <p:cTn id="78" dur="500"/>
                                        <p:tgtEl>
                                          <p:spTgt spid="115"/>
                                        </p:tgtEl>
                                      </p:cBhvr>
                                    </p:animEffect>
                                  </p:childTnLst>
                                </p:cTn>
                              </p:par>
                              <p:par>
                                <p:cTn id="79" presetID="53" presetClass="entr" presetSubtype="16" fill="hold" grpId="0" nodeType="withEffect">
                                  <p:stCondLst>
                                    <p:cond delay="450"/>
                                  </p:stCondLst>
                                  <p:childTnLst>
                                    <p:set>
                                      <p:cBhvr>
                                        <p:cTn id="80" dur="1" fill="hold">
                                          <p:stCondLst>
                                            <p:cond delay="0"/>
                                          </p:stCondLst>
                                        </p:cTn>
                                        <p:tgtEl>
                                          <p:spTgt spid="116"/>
                                        </p:tgtEl>
                                        <p:attrNameLst>
                                          <p:attrName>style.visibility</p:attrName>
                                        </p:attrNameLst>
                                      </p:cBhvr>
                                      <p:to>
                                        <p:strVal val="visible"/>
                                      </p:to>
                                    </p:set>
                                    <p:anim calcmode="lin" valueType="num">
                                      <p:cBhvr additive="base">
                                        <p:cTn id="81" dur="500" decel="100000" fill="hold"/>
                                        <p:tgtEl>
                                          <p:spTgt spid="116"/>
                                        </p:tgtEl>
                                        <p:attrNameLst>
                                          <p:attrName>ppt_w</p:attrName>
                                        </p:attrNameLst>
                                      </p:cBhvr>
                                      <p:tavLst>
                                        <p:tav tm="0">
                                          <p:val>
                                            <p:strVal val="#ppt_w*0.55"/>
                                          </p:val>
                                        </p:tav>
                                        <p:tav tm="100000">
                                          <p:val>
                                            <p:strVal val="#ppt_w"/>
                                          </p:val>
                                        </p:tav>
                                      </p:tavLst>
                                    </p:anim>
                                    <p:anim calcmode="lin" valueType="num">
                                      <p:cBhvr additive="base">
                                        <p:cTn id="82" dur="500" decel="100000" fill="hold"/>
                                        <p:tgtEl>
                                          <p:spTgt spid="116"/>
                                        </p:tgtEl>
                                        <p:attrNameLst>
                                          <p:attrName>ppt_h</p:attrName>
                                        </p:attrNameLst>
                                      </p:cBhvr>
                                      <p:tavLst>
                                        <p:tav tm="0">
                                          <p:val>
                                            <p:strVal val="#ppt_h*0.55"/>
                                          </p:val>
                                        </p:tav>
                                        <p:tav tm="100000">
                                          <p:val>
                                            <p:strVal val="#ppt_h"/>
                                          </p:val>
                                        </p:tav>
                                      </p:tavLst>
                                    </p:anim>
                                    <p:animEffect transition="in" filter="fade">
                                      <p:cBhvr>
                                        <p:cTn id="83" dur="500"/>
                                        <p:tgtEl>
                                          <p:spTgt spid="116"/>
                                        </p:tgtEl>
                                      </p:cBhvr>
                                    </p:animEffect>
                                  </p:childTnLst>
                                </p:cTn>
                              </p:par>
                              <p:par>
                                <p:cTn id="84" presetID="53" presetClass="entr" presetSubtype="16" fill="hold" grpId="0" nodeType="withEffect">
                                  <p:stCondLst>
                                    <p:cond delay="450"/>
                                  </p:stCondLst>
                                  <p:childTnLst>
                                    <p:set>
                                      <p:cBhvr>
                                        <p:cTn id="85" dur="1" fill="hold">
                                          <p:stCondLst>
                                            <p:cond delay="0"/>
                                          </p:stCondLst>
                                        </p:cTn>
                                        <p:tgtEl>
                                          <p:spTgt spid="117"/>
                                        </p:tgtEl>
                                        <p:attrNameLst>
                                          <p:attrName>style.visibility</p:attrName>
                                        </p:attrNameLst>
                                      </p:cBhvr>
                                      <p:to>
                                        <p:strVal val="visible"/>
                                      </p:to>
                                    </p:set>
                                    <p:anim calcmode="lin" valueType="num">
                                      <p:cBhvr additive="base">
                                        <p:cTn id="86" dur="500" decel="100000" fill="hold"/>
                                        <p:tgtEl>
                                          <p:spTgt spid="117"/>
                                        </p:tgtEl>
                                        <p:attrNameLst>
                                          <p:attrName>ppt_w</p:attrName>
                                        </p:attrNameLst>
                                      </p:cBhvr>
                                      <p:tavLst>
                                        <p:tav tm="0">
                                          <p:val>
                                            <p:strVal val="#ppt_w*0.55"/>
                                          </p:val>
                                        </p:tav>
                                        <p:tav tm="100000">
                                          <p:val>
                                            <p:strVal val="#ppt_w"/>
                                          </p:val>
                                        </p:tav>
                                      </p:tavLst>
                                    </p:anim>
                                    <p:anim calcmode="lin" valueType="num">
                                      <p:cBhvr additive="base">
                                        <p:cTn id="87" dur="500" decel="100000" fill="hold"/>
                                        <p:tgtEl>
                                          <p:spTgt spid="117"/>
                                        </p:tgtEl>
                                        <p:attrNameLst>
                                          <p:attrName>ppt_h</p:attrName>
                                        </p:attrNameLst>
                                      </p:cBhvr>
                                      <p:tavLst>
                                        <p:tav tm="0">
                                          <p:val>
                                            <p:strVal val="#ppt_h*0.55"/>
                                          </p:val>
                                        </p:tav>
                                        <p:tav tm="100000">
                                          <p:val>
                                            <p:strVal val="#ppt_h"/>
                                          </p:val>
                                        </p:tav>
                                      </p:tavLst>
                                    </p:anim>
                                    <p:animEffect transition="in" filter="fade">
                                      <p:cBhvr>
                                        <p:cTn id="88" dur="500"/>
                                        <p:tgtEl>
                                          <p:spTgt spid="117"/>
                                        </p:tgtEl>
                                      </p:cBhvr>
                                    </p:animEffect>
                                  </p:childTnLst>
                                </p:cTn>
                              </p:par>
                              <p:par>
                                <p:cTn id="89" presetID="53" presetClass="entr" presetSubtype="16" fill="hold" nodeType="withEffect">
                                  <p:stCondLst>
                                    <p:cond delay="450"/>
                                  </p:stCondLst>
                                  <p:childTnLst>
                                    <p:set>
                                      <p:cBhvr>
                                        <p:cTn id="90" dur="1" fill="hold">
                                          <p:stCondLst>
                                            <p:cond delay="0"/>
                                          </p:stCondLst>
                                        </p:cTn>
                                        <p:tgtEl>
                                          <p:spTgt spid="118"/>
                                        </p:tgtEl>
                                        <p:attrNameLst>
                                          <p:attrName>style.visibility</p:attrName>
                                        </p:attrNameLst>
                                      </p:cBhvr>
                                      <p:to>
                                        <p:strVal val="visible"/>
                                      </p:to>
                                    </p:set>
                                    <p:anim calcmode="lin" valueType="num">
                                      <p:cBhvr additive="base">
                                        <p:cTn id="91" dur="500" decel="100000" fill="hold"/>
                                        <p:tgtEl>
                                          <p:spTgt spid="118"/>
                                        </p:tgtEl>
                                        <p:attrNameLst>
                                          <p:attrName>ppt_w</p:attrName>
                                        </p:attrNameLst>
                                      </p:cBhvr>
                                      <p:tavLst>
                                        <p:tav tm="0">
                                          <p:val>
                                            <p:strVal val="#ppt_w*0.55"/>
                                          </p:val>
                                        </p:tav>
                                        <p:tav tm="100000">
                                          <p:val>
                                            <p:strVal val="#ppt_w"/>
                                          </p:val>
                                        </p:tav>
                                      </p:tavLst>
                                    </p:anim>
                                    <p:anim calcmode="lin" valueType="num">
                                      <p:cBhvr additive="base">
                                        <p:cTn id="92" dur="500" decel="100000" fill="hold"/>
                                        <p:tgtEl>
                                          <p:spTgt spid="118"/>
                                        </p:tgtEl>
                                        <p:attrNameLst>
                                          <p:attrName>ppt_h</p:attrName>
                                        </p:attrNameLst>
                                      </p:cBhvr>
                                      <p:tavLst>
                                        <p:tav tm="0">
                                          <p:val>
                                            <p:strVal val="#ppt_h*0.55"/>
                                          </p:val>
                                        </p:tav>
                                        <p:tav tm="100000">
                                          <p:val>
                                            <p:strVal val="#ppt_h"/>
                                          </p:val>
                                        </p:tav>
                                      </p:tavLst>
                                    </p:anim>
                                    <p:animEffect transition="in" filter="fade">
                                      <p:cBhvr>
                                        <p:cTn id="93" dur="500"/>
                                        <p:tgtEl>
                                          <p:spTgt spid="118"/>
                                        </p:tgtEl>
                                      </p:cBhvr>
                                    </p:animEffect>
                                  </p:childTnLst>
                                </p:cTn>
                              </p:par>
                              <p:par>
                                <p:cTn id="94" presetID="53" presetClass="entr" presetSubtype="16" fill="hold" grpId="0" nodeType="withEffect">
                                  <p:stCondLst>
                                    <p:cond delay="450"/>
                                  </p:stCondLst>
                                  <p:childTnLst>
                                    <p:set>
                                      <p:cBhvr>
                                        <p:cTn id="95" dur="1" fill="hold">
                                          <p:stCondLst>
                                            <p:cond delay="0"/>
                                          </p:stCondLst>
                                        </p:cTn>
                                        <p:tgtEl>
                                          <p:spTgt spid="119"/>
                                        </p:tgtEl>
                                        <p:attrNameLst>
                                          <p:attrName>style.visibility</p:attrName>
                                        </p:attrNameLst>
                                      </p:cBhvr>
                                      <p:to>
                                        <p:strVal val="visible"/>
                                      </p:to>
                                    </p:set>
                                    <p:anim calcmode="lin" valueType="num">
                                      <p:cBhvr additive="base">
                                        <p:cTn id="96" dur="500" decel="100000" fill="hold"/>
                                        <p:tgtEl>
                                          <p:spTgt spid="119"/>
                                        </p:tgtEl>
                                        <p:attrNameLst>
                                          <p:attrName>ppt_w</p:attrName>
                                        </p:attrNameLst>
                                      </p:cBhvr>
                                      <p:tavLst>
                                        <p:tav tm="0">
                                          <p:val>
                                            <p:strVal val="#ppt_w*0.55"/>
                                          </p:val>
                                        </p:tav>
                                        <p:tav tm="100000">
                                          <p:val>
                                            <p:strVal val="#ppt_w"/>
                                          </p:val>
                                        </p:tav>
                                      </p:tavLst>
                                    </p:anim>
                                    <p:anim calcmode="lin" valueType="num">
                                      <p:cBhvr additive="base">
                                        <p:cTn id="97" dur="500" decel="100000" fill="hold"/>
                                        <p:tgtEl>
                                          <p:spTgt spid="119"/>
                                        </p:tgtEl>
                                        <p:attrNameLst>
                                          <p:attrName>ppt_h</p:attrName>
                                        </p:attrNameLst>
                                      </p:cBhvr>
                                      <p:tavLst>
                                        <p:tav tm="0">
                                          <p:val>
                                            <p:strVal val="#ppt_h*0.55"/>
                                          </p:val>
                                        </p:tav>
                                        <p:tav tm="100000">
                                          <p:val>
                                            <p:strVal val="#ppt_h"/>
                                          </p:val>
                                        </p:tav>
                                      </p:tavLst>
                                    </p:anim>
                                    <p:animEffect transition="in" filter="fade">
                                      <p:cBhvr>
                                        <p:cTn id="98" dur="500"/>
                                        <p:tgtEl>
                                          <p:spTgt spid="119"/>
                                        </p:tgtEl>
                                      </p:cBhvr>
                                    </p:animEffect>
                                  </p:childTnLst>
                                </p:cTn>
                              </p:par>
                              <p:par>
                                <p:cTn id="99" presetID="53" presetClass="entr" presetSubtype="16" fill="hold" grpId="0" nodeType="withEffect">
                                  <p:stCondLst>
                                    <p:cond delay="600"/>
                                  </p:stCondLst>
                                  <p:childTnLst>
                                    <p:set>
                                      <p:cBhvr>
                                        <p:cTn id="100" dur="1" fill="hold">
                                          <p:stCondLst>
                                            <p:cond delay="0"/>
                                          </p:stCondLst>
                                        </p:cTn>
                                        <p:tgtEl>
                                          <p:spTgt spid="120"/>
                                        </p:tgtEl>
                                        <p:attrNameLst>
                                          <p:attrName>style.visibility</p:attrName>
                                        </p:attrNameLst>
                                      </p:cBhvr>
                                      <p:to>
                                        <p:strVal val="visible"/>
                                      </p:to>
                                    </p:set>
                                    <p:anim calcmode="lin" valueType="num">
                                      <p:cBhvr additive="base">
                                        <p:cTn id="101" dur="500" decel="100000" fill="hold"/>
                                        <p:tgtEl>
                                          <p:spTgt spid="120"/>
                                        </p:tgtEl>
                                        <p:attrNameLst>
                                          <p:attrName>ppt_w</p:attrName>
                                        </p:attrNameLst>
                                      </p:cBhvr>
                                      <p:tavLst>
                                        <p:tav tm="0">
                                          <p:val>
                                            <p:strVal val="#ppt_w*0.55"/>
                                          </p:val>
                                        </p:tav>
                                        <p:tav tm="100000">
                                          <p:val>
                                            <p:strVal val="#ppt_w"/>
                                          </p:val>
                                        </p:tav>
                                      </p:tavLst>
                                    </p:anim>
                                    <p:anim calcmode="lin" valueType="num">
                                      <p:cBhvr additive="base">
                                        <p:cTn id="102" dur="500" decel="100000" fill="hold"/>
                                        <p:tgtEl>
                                          <p:spTgt spid="120"/>
                                        </p:tgtEl>
                                        <p:attrNameLst>
                                          <p:attrName>ppt_h</p:attrName>
                                        </p:attrNameLst>
                                      </p:cBhvr>
                                      <p:tavLst>
                                        <p:tav tm="0">
                                          <p:val>
                                            <p:strVal val="#ppt_h*0.55"/>
                                          </p:val>
                                        </p:tav>
                                        <p:tav tm="100000">
                                          <p:val>
                                            <p:strVal val="#ppt_h"/>
                                          </p:val>
                                        </p:tav>
                                      </p:tavLst>
                                    </p:anim>
                                    <p:animEffect transition="in" filter="fade">
                                      <p:cBhvr>
                                        <p:cTn id="103" dur="500"/>
                                        <p:tgtEl>
                                          <p:spTgt spid="120"/>
                                        </p:tgtEl>
                                      </p:cBhvr>
                                    </p:animEffect>
                                  </p:childTnLst>
                                </p:cTn>
                              </p:par>
                              <p:par>
                                <p:cTn id="104" presetID="53" presetClass="entr" presetSubtype="16" fill="hold" grpId="0" nodeType="withEffect">
                                  <p:stCondLst>
                                    <p:cond delay="600"/>
                                  </p:stCondLst>
                                  <p:childTnLst>
                                    <p:set>
                                      <p:cBhvr>
                                        <p:cTn id="105" dur="1" fill="hold">
                                          <p:stCondLst>
                                            <p:cond delay="0"/>
                                          </p:stCondLst>
                                        </p:cTn>
                                        <p:tgtEl>
                                          <p:spTgt spid="121"/>
                                        </p:tgtEl>
                                        <p:attrNameLst>
                                          <p:attrName>style.visibility</p:attrName>
                                        </p:attrNameLst>
                                      </p:cBhvr>
                                      <p:to>
                                        <p:strVal val="visible"/>
                                      </p:to>
                                    </p:set>
                                    <p:anim calcmode="lin" valueType="num">
                                      <p:cBhvr additive="base">
                                        <p:cTn id="106" dur="500" decel="100000" fill="hold"/>
                                        <p:tgtEl>
                                          <p:spTgt spid="121"/>
                                        </p:tgtEl>
                                        <p:attrNameLst>
                                          <p:attrName>ppt_w</p:attrName>
                                        </p:attrNameLst>
                                      </p:cBhvr>
                                      <p:tavLst>
                                        <p:tav tm="0">
                                          <p:val>
                                            <p:strVal val="#ppt_w*0.55"/>
                                          </p:val>
                                        </p:tav>
                                        <p:tav tm="100000">
                                          <p:val>
                                            <p:strVal val="#ppt_w"/>
                                          </p:val>
                                        </p:tav>
                                      </p:tavLst>
                                    </p:anim>
                                    <p:anim calcmode="lin" valueType="num">
                                      <p:cBhvr additive="base">
                                        <p:cTn id="107" dur="500" decel="100000" fill="hold"/>
                                        <p:tgtEl>
                                          <p:spTgt spid="121"/>
                                        </p:tgtEl>
                                        <p:attrNameLst>
                                          <p:attrName>ppt_h</p:attrName>
                                        </p:attrNameLst>
                                      </p:cBhvr>
                                      <p:tavLst>
                                        <p:tav tm="0">
                                          <p:val>
                                            <p:strVal val="#ppt_h*0.55"/>
                                          </p:val>
                                        </p:tav>
                                        <p:tav tm="100000">
                                          <p:val>
                                            <p:strVal val="#ppt_h"/>
                                          </p:val>
                                        </p:tav>
                                      </p:tavLst>
                                    </p:anim>
                                    <p:animEffect transition="in" filter="fade">
                                      <p:cBhvr>
                                        <p:cTn id="108" dur="500"/>
                                        <p:tgtEl>
                                          <p:spTgt spid="121"/>
                                        </p:tgtEl>
                                      </p:cBhvr>
                                    </p:animEffect>
                                  </p:childTnLst>
                                </p:cTn>
                              </p:par>
                              <p:par>
                                <p:cTn id="109" presetID="53" presetClass="entr" presetSubtype="16" fill="hold" nodeType="withEffect">
                                  <p:stCondLst>
                                    <p:cond delay="600"/>
                                  </p:stCondLst>
                                  <p:childTnLst>
                                    <p:set>
                                      <p:cBhvr>
                                        <p:cTn id="110" dur="1" fill="hold">
                                          <p:stCondLst>
                                            <p:cond delay="0"/>
                                          </p:stCondLst>
                                        </p:cTn>
                                        <p:tgtEl>
                                          <p:spTgt spid="122"/>
                                        </p:tgtEl>
                                        <p:attrNameLst>
                                          <p:attrName>style.visibility</p:attrName>
                                        </p:attrNameLst>
                                      </p:cBhvr>
                                      <p:to>
                                        <p:strVal val="visible"/>
                                      </p:to>
                                    </p:set>
                                    <p:anim calcmode="lin" valueType="num">
                                      <p:cBhvr additive="base">
                                        <p:cTn id="111" dur="500" decel="100000" fill="hold"/>
                                        <p:tgtEl>
                                          <p:spTgt spid="122"/>
                                        </p:tgtEl>
                                        <p:attrNameLst>
                                          <p:attrName>ppt_w</p:attrName>
                                        </p:attrNameLst>
                                      </p:cBhvr>
                                      <p:tavLst>
                                        <p:tav tm="0">
                                          <p:val>
                                            <p:strVal val="#ppt_w*0.55"/>
                                          </p:val>
                                        </p:tav>
                                        <p:tav tm="100000">
                                          <p:val>
                                            <p:strVal val="#ppt_w"/>
                                          </p:val>
                                        </p:tav>
                                      </p:tavLst>
                                    </p:anim>
                                    <p:anim calcmode="lin" valueType="num">
                                      <p:cBhvr additive="base">
                                        <p:cTn id="112" dur="500" decel="100000" fill="hold"/>
                                        <p:tgtEl>
                                          <p:spTgt spid="122"/>
                                        </p:tgtEl>
                                        <p:attrNameLst>
                                          <p:attrName>ppt_h</p:attrName>
                                        </p:attrNameLst>
                                      </p:cBhvr>
                                      <p:tavLst>
                                        <p:tav tm="0">
                                          <p:val>
                                            <p:strVal val="#ppt_h*0.55"/>
                                          </p:val>
                                        </p:tav>
                                        <p:tav tm="100000">
                                          <p:val>
                                            <p:strVal val="#ppt_h"/>
                                          </p:val>
                                        </p:tav>
                                      </p:tavLst>
                                    </p:anim>
                                    <p:animEffect transition="in" filter="fade">
                                      <p:cBhvr>
                                        <p:cTn id="113" dur="500"/>
                                        <p:tgtEl>
                                          <p:spTgt spid="122"/>
                                        </p:tgtEl>
                                      </p:cBhvr>
                                    </p:animEffect>
                                  </p:childTnLst>
                                </p:cTn>
                              </p:par>
                              <p:par>
                                <p:cTn id="114" presetID="53" presetClass="entr" presetSubtype="16" fill="hold" grpId="0" nodeType="withEffect">
                                  <p:stCondLst>
                                    <p:cond delay="600"/>
                                  </p:stCondLst>
                                  <p:childTnLst>
                                    <p:set>
                                      <p:cBhvr>
                                        <p:cTn id="115" dur="1" fill="hold">
                                          <p:stCondLst>
                                            <p:cond delay="0"/>
                                          </p:stCondLst>
                                        </p:cTn>
                                        <p:tgtEl>
                                          <p:spTgt spid="123"/>
                                        </p:tgtEl>
                                        <p:attrNameLst>
                                          <p:attrName>style.visibility</p:attrName>
                                        </p:attrNameLst>
                                      </p:cBhvr>
                                      <p:to>
                                        <p:strVal val="visible"/>
                                      </p:to>
                                    </p:set>
                                    <p:anim calcmode="lin" valueType="num">
                                      <p:cBhvr additive="base">
                                        <p:cTn id="116" dur="500" decel="100000" fill="hold"/>
                                        <p:tgtEl>
                                          <p:spTgt spid="123"/>
                                        </p:tgtEl>
                                        <p:attrNameLst>
                                          <p:attrName>ppt_w</p:attrName>
                                        </p:attrNameLst>
                                      </p:cBhvr>
                                      <p:tavLst>
                                        <p:tav tm="0">
                                          <p:val>
                                            <p:strVal val="#ppt_w*0.55"/>
                                          </p:val>
                                        </p:tav>
                                        <p:tav tm="100000">
                                          <p:val>
                                            <p:strVal val="#ppt_w"/>
                                          </p:val>
                                        </p:tav>
                                      </p:tavLst>
                                    </p:anim>
                                    <p:anim calcmode="lin" valueType="num">
                                      <p:cBhvr additive="base">
                                        <p:cTn id="117" dur="500" decel="100000" fill="hold"/>
                                        <p:tgtEl>
                                          <p:spTgt spid="123"/>
                                        </p:tgtEl>
                                        <p:attrNameLst>
                                          <p:attrName>ppt_h</p:attrName>
                                        </p:attrNameLst>
                                      </p:cBhvr>
                                      <p:tavLst>
                                        <p:tav tm="0">
                                          <p:val>
                                            <p:strVal val="#ppt_h*0.55"/>
                                          </p:val>
                                        </p:tav>
                                        <p:tav tm="100000">
                                          <p:val>
                                            <p:strVal val="#ppt_h"/>
                                          </p:val>
                                        </p:tav>
                                      </p:tavLst>
                                    </p:anim>
                                    <p:animEffect transition="in" filter="fade">
                                      <p:cBhvr>
                                        <p:cTn id="118" dur="500"/>
                                        <p:tgtEl>
                                          <p:spTgt spid="123"/>
                                        </p:tgtEl>
                                      </p:cBhvr>
                                    </p:animEffect>
                                  </p:childTnLst>
                                </p:cTn>
                              </p:par>
                            </p:childTnLst>
                          </p:cTn>
                        </p:par>
                      </p:childTnLst>
                    </p:cTn>
                  </p:par>
                  <p:par>
                    <p:cTn id="119" fill="hold">
                      <p:stCondLst>
                        <p:cond delay="indefinite"/>
                      </p:stCondLst>
                      <p:childTnLst>
                        <p:par>
                          <p:cTn id="120" fill="hold">
                            <p:stCondLst>
                              <p:cond delay="0"/>
                            </p:stCondLst>
                            <p:childTnLst>
                              <p:par>
                                <p:cTn id="121" presetID="42" presetClass="entr" presetSubtype="0" fill="hold" grpId="0" nodeType="clickEffect">
                                  <p:stCondLst>
                                    <p:cond delay="0"/>
                                  </p:stCondLst>
                                  <p:childTnLst>
                                    <p:set>
                                      <p:cBhvr>
                                        <p:cTn id="122" dur="1" fill="hold">
                                          <p:stCondLst>
                                            <p:cond delay="0"/>
                                          </p:stCondLst>
                                        </p:cTn>
                                        <p:tgtEl>
                                          <p:spTgt spid="124"/>
                                        </p:tgtEl>
                                        <p:attrNameLst>
                                          <p:attrName>style.visibility</p:attrName>
                                        </p:attrNameLst>
                                      </p:cBhvr>
                                      <p:to>
                                        <p:strVal val="visible"/>
                                      </p:to>
                                    </p:set>
                                    <p:animEffect transition="in" filter="fade">
                                      <p:cBhvr>
                                        <p:cTn id="123" dur="500"/>
                                        <p:tgtEl>
                                          <p:spTgt spid="124"/>
                                        </p:tgtEl>
                                      </p:cBhvr>
                                    </p:animEffect>
                                    <p:anim calcmode="lin" valueType="num">
                                      <p:cBhvr additive="base">
                                        <p:cTn id="124" dur="500" decel="100000" fill="hold"/>
                                        <p:tgtEl>
                                          <p:spTgt spid="124"/>
                                        </p:tgtEl>
                                        <p:attrNameLst>
                                          <p:attrName>ppt_y</p:attrName>
                                        </p:attrNameLst>
                                      </p:cBhvr>
                                      <p:tavLst>
                                        <p:tav tm="0">
                                          <p:val>
                                            <p:strVal val="#ppt_y+0.06"/>
                                          </p:val>
                                        </p:tav>
                                        <p:tav tm="100000">
                                          <p:val>
                                            <p:strVal val="#ppt_y"/>
                                          </p:val>
                                        </p:tav>
                                      </p:tavLst>
                                    </p:anim>
                                  </p:childTnLst>
                                </p:cTn>
                              </p:par>
                              <p:par>
                                <p:cTn id="125" presetID="42" presetClass="entr" presetSubtype="0" fill="hold" grpId="0" nodeType="withEffect">
                                  <p:stCondLst>
                                    <p:cond delay="0"/>
                                  </p:stCondLst>
                                  <p:childTnLst>
                                    <p:set>
                                      <p:cBhvr>
                                        <p:cTn id="126" dur="1" fill="hold">
                                          <p:stCondLst>
                                            <p:cond delay="0"/>
                                          </p:stCondLst>
                                        </p:cTn>
                                        <p:tgtEl>
                                          <p:spTgt spid="125"/>
                                        </p:tgtEl>
                                        <p:attrNameLst>
                                          <p:attrName>style.visibility</p:attrName>
                                        </p:attrNameLst>
                                      </p:cBhvr>
                                      <p:to>
                                        <p:strVal val="visible"/>
                                      </p:to>
                                    </p:set>
                                    <p:animEffect transition="in" filter="fade">
                                      <p:cBhvr>
                                        <p:cTn id="127" dur="500"/>
                                        <p:tgtEl>
                                          <p:spTgt spid="125"/>
                                        </p:tgtEl>
                                      </p:cBhvr>
                                    </p:animEffect>
                                    <p:anim calcmode="lin" valueType="num">
                                      <p:cBhvr additive="base">
                                        <p:cTn id="128" dur="500" decel="100000" fill="hold"/>
                                        <p:tgtEl>
                                          <p:spTgt spid="125"/>
                                        </p:tgtEl>
                                        <p:attrNameLst>
                                          <p:attrName>ppt_y</p:attrName>
                                        </p:attrNameLst>
                                      </p:cBhvr>
                                      <p:tavLst>
                                        <p:tav tm="0">
                                          <p:val>
                                            <p:strVal val="#ppt_y+0.06"/>
                                          </p:val>
                                        </p:tav>
                                        <p:tav tm="100000">
                                          <p:val>
                                            <p:strVal val="#ppt_y"/>
                                          </p:val>
                                        </p:tav>
                                      </p:tavLst>
                                    </p:anim>
                                  </p:childTnLst>
                                </p:cTn>
                              </p:par>
                              <p:par>
                                <p:cTn id="129" presetID="42" presetClass="entr" presetSubtype="0" fill="hold" grpId="0" nodeType="withEffect">
                                  <p:stCondLst>
                                    <p:cond delay="0"/>
                                  </p:stCondLst>
                                  <p:childTnLst>
                                    <p:set>
                                      <p:cBhvr>
                                        <p:cTn id="130" dur="1" fill="hold">
                                          <p:stCondLst>
                                            <p:cond delay="0"/>
                                          </p:stCondLst>
                                        </p:cTn>
                                        <p:tgtEl>
                                          <p:spTgt spid="126"/>
                                        </p:tgtEl>
                                        <p:attrNameLst>
                                          <p:attrName>style.visibility</p:attrName>
                                        </p:attrNameLst>
                                      </p:cBhvr>
                                      <p:to>
                                        <p:strVal val="visible"/>
                                      </p:to>
                                    </p:set>
                                    <p:animEffect transition="in" filter="fade">
                                      <p:cBhvr>
                                        <p:cTn id="131" dur="500"/>
                                        <p:tgtEl>
                                          <p:spTgt spid="126"/>
                                        </p:tgtEl>
                                      </p:cBhvr>
                                    </p:animEffect>
                                    <p:anim calcmode="lin" valueType="num">
                                      <p:cBhvr additive="base">
                                        <p:cTn id="132" dur="500" decel="100000" fill="hold"/>
                                        <p:tgtEl>
                                          <p:spTgt spid="126"/>
                                        </p:tgtEl>
                                        <p:attrNameLst>
                                          <p:attrName>ppt_y</p:attrName>
                                        </p:attrNameLst>
                                      </p:cBhvr>
                                      <p:tavLst>
                                        <p:tav tm="0">
                                          <p:val>
                                            <p:strVal val="#ppt_y+0.06"/>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127"/>
                                        </p:tgtEl>
                                        <p:attrNameLst>
                                          <p:attrName>style.visibility</p:attrName>
                                        </p:attrNameLst>
                                      </p:cBhvr>
                                      <p:to>
                                        <p:strVal val="visible"/>
                                      </p:to>
                                    </p:set>
                                    <p:animEffect transition="in" filter="fade">
                                      <p:cBhvr>
                                        <p:cTn id="137"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7" grpId="0" animBg="1"/>
      <p:bldP spid="108" grpId="0" animBg="1"/>
      <p:bldP spid="109" grpId="0" animBg="1"/>
      <p:bldP spid="111" grpId="0" animBg="1"/>
      <p:bldP spid="112" grpId="0" animBg="1"/>
      <p:bldP spid="113" grpId="0" animBg="1"/>
      <p:bldP spid="115" grpId="0" animBg="1"/>
      <p:bldP spid="116" grpId="0" animBg="1"/>
      <p:bldP spid="117" grpId="0" animBg="1"/>
      <p:bldP spid="119" grpId="0" animBg="1"/>
      <p:bldP spid="120" grpId="0" animBg="1"/>
      <p:bldP spid="121" grpId="0" animBg="1"/>
      <p:bldP spid="123" grpId="0" animBg="1"/>
      <p:bldP spid="124" grpId="0" animBg="1"/>
      <p:bldP spid="125" grpId="0" animBg="1"/>
      <p:bldP spid="126" grpId="0" animBg="1"/>
      <p:bldP spid="127"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711757"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BEFORE THE CONTRACT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Before the Contract: Understand the Business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Scrum starts after the deal. A lot happens before it.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232</a:t>
            </a:r>
            <a:endParaRPr lang="en-US" sz="850" dirty="0"/>
          </a:p>
        </p:txBody>
      </p:sp>
      <p:sp>
        <p:nvSpPr>
          <p:cNvPr id="101" name="s101"/>
          <p:cNvSpPr/>
          <p:nvPr/>
        </p:nvSpPr>
        <p:spPr>
          <a:xfrm>
            <a:off x="543154" y="1828800"/>
            <a:ext cx="2497684" cy="1097280"/>
          </a:xfrm>
          <a:prstGeom prst="roundRect">
            <a:avLst>
              <a:gd name="adj" fmla="val 14000"/>
            </a:avLst>
          </a:prstGeom>
          <a:solidFill>
            <a:srgbClr val="13D0F7">
              <a:alpha val="14000"/>
            </a:srgbClr>
          </a:solidFill>
          <a:ln w="19050">
            <a:solidFill>
              <a:srgbClr val="13D0F7"/>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13D0F7"/>
                </a:solidFill>
                <a:latin typeface="Segoe UI"/>
                <a:ea typeface="Segoe UI"/>
                <a:cs typeface="Segoe UI"/>
              </a:rPr>
              <a:t>1  THE IDEA</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the client has a general plan: the main features</a:t>
            </a:r>
            <a:endParaRPr lang="en-US" sz="1150" dirty="0"/>
          </a:p>
        </p:txBody>
      </p:sp>
      <p:sp>
        <p:nvSpPr>
          <p:cNvPr id="102" name="s102"/>
          <p:cNvSpPr/>
          <p:nvPr/>
        </p:nvSpPr>
        <p:spPr>
          <a:xfrm>
            <a:off x="3406597" y="1828800"/>
            <a:ext cx="2497684" cy="1097280"/>
          </a:xfrm>
          <a:prstGeom prst="roundRect">
            <a:avLst>
              <a:gd name="adj" fmla="val 14000"/>
            </a:avLst>
          </a:prstGeom>
          <a:solidFill>
            <a:srgbClr val="FBBF24">
              <a:alpha val="14000"/>
            </a:srgbClr>
          </a:solidFill>
          <a:ln w="19050">
            <a:solidFill>
              <a:srgbClr val="FBBF24"/>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FBBF24"/>
                </a:solidFill>
                <a:latin typeface="Segoe UI"/>
                <a:ea typeface="Segoe UI"/>
                <a:cs typeface="Segoe UI"/>
              </a:rPr>
              <a:t>2  VISIT</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PO sits with the client's employees to understand</a:t>
            </a:r>
            <a:endParaRPr lang="en-US" sz="1150" dirty="0"/>
          </a:p>
        </p:txBody>
      </p:sp>
      <p:cxnSp>
        <p:nvCxnSpPr>
          <p:cNvPr id="103" name="ln103"/>
          <p:cNvCxnSpPr/>
          <p:nvPr/>
        </p:nvCxnSpPr>
        <p:spPr>
          <a:xfrm>
            <a:off x="3095701" y="2377440"/>
            <a:ext cx="256032" cy="0"/>
          </a:xfrm>
          <a:prstGeom prst="line">
            <a:avLst/>
          </a:prstGeom>
          <a:ln w="22225">
            <a:solidFill>
              <a:srgbClr val="94A3B8"/>
            </a:solidFill>
            <a:tailEnd type="triangle" w="med" len="med"/>
          </a:ln>
        </p:spPr>
      </p:cxnSp>
      <p:sp>
        <p:nvSpPr>
          <p:cNvPr id="104" name="s104"/>
          <p:cNvSpPr/>
          <p:nvPr/>
        </p:nvSpPr>
        <p:spPr>
          <a:xfrm>
            <a:off x="6270041" y="1828800"/>
            <a:ext cx="2497684" cy="1097280"/>
          </a:xfrm>
          <a:prstGeom prst="roundRect">
            <a:avLst>
              <a:gd name="adj" fmla="val 14000"/>
            </a:avLst>
          </a:prstGeom>
          <a:solidFill>
            <a:srgbClr val="34D399">
              <a:alpha val="14000"/>
            </a:srgbClr>
          </a:solidFill>
          <a:ln w="19050">
            <a:solidFill>
              <a:srgbClr val="34D399"/>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34D399"/>
                </a:solidFill>
                <a:latin typeface="Segoe UI"/>
                <a:ea typeface="Segoe UI"/>
                <a:cs typeface="Segoe UI"/>
              </a:rPr>
              <a:t>3  CONTRACT</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we agree: build X, with these details</a:t>
            </a:r>
            <a:endParaRPr lang="en-US" sz="1150" dirty="0"/>
          </a:p>
        </p:txBody>
      </p:sp>
      <p:cxnSp>
        <p:nvCxnSpPr>
          <p:cNvPr id="105" name="ln105"/>
          <p:cNvCxnSpPr/>
          <p:nvPr/>
        </p:nvCxnSpPr>
        <p:spPr>
          <a:xfrm>
            <a:off x="5959145" y="2377440"/>
            <a:ext cx="256032" cy="0"/>
          </a:xfrm>
          <a:prstGeom prst="line">
            <a:avLst/>
          </a:prstGeom>
          <a:ln w="22225">
            <a:solidFill>
              <a:srgbClr val="94A3B8"/>
            </a:solidFill>
            <a:tailEnd type="triangle" w="med" len="med"/>
          </a:ln>
        </p:spPr>
      </p:cxnSp>
      <p:sp>
        <p:nvSpPr>
          <p:cNvPr id="106" name="s106"/>
          <p:cNvSpPr/>
          <p:nvPr/>
        </p:nvSpPr>
        <p:spPr>
          <a:xfrm>
            <a:off x="9133484" y="1828800"/>
            <a:ext cx="2497684" cy="1097280"/>
          </a:xfrm>
          <a:prstGeom prst="roundRect">
            <a:avLst>
              <a:gd name="adj" fmla="val 14000"/>
            </a:avLst>
          </a:prstGeom>
          <a:solidFill>
            <a:srgbClr val="A78BFA">
              <a:alpha val="14000"/>
            </a:srgbClr>
          </a:solidFill>
          <a:ln w="19050">
            <a:solidFill>
              <a:srgbClr val="A78BFA"/>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A78BFA"/>
                </a:solidFill>
                <a:latin typeface="Segoe UI"/>
                <a:ea typeface="Segoe UI"/>
                <a:cs typeface="Segoe UI"/>
              </a:rPr>
              <a:t>4  PRODUCT BACKLOG</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the agreed scope becomes the first backlog</a:t>
            </a:r>
            <a:endParaRPr lang="en-US" sz="1150" dirty="0"/>
          </a:p>
        </p:txBody>
      </p:sp>
      <p:cxnSp>
        <p:nvCxnSpPr>
          <p:cNvPr id="107" name="ln107"/>
          <p:cNvCxnSpPr/>
          <p:nvPr/>
        </p:nvCxnSpPr>
        <p:spPr>
          <a:xfrm>
            <a:off x="8822588" y="2377440"/>
            <a:ext cx="256032" cy="0"/>
          </a:xfrm>
          <a:prstGeom prst="line">
            <a:avLst/>
          </a:prstGeom>
          <a:ln w="22225">
            <a:solidFill>
              <a:srgbClr val="94A3B8"/>
            </a:solidFill>
            <a:tailEnd type="triangle" w="med" len="med"/>
          </a:ln>
        </p:spPr>
      </p:cxnSp>
      <p:sp>
        <p:nvSpPr>
          <p:cNvPr id="108" name="s108"/>
          <p:cNvSpPr/>
          <p:nvPr/>
        </p:nvSpPr>
        <p:spPr>
          <a:xfrm>
            <a:off x="543154" y="3273552"/>
            <a:ext cx="566928" cy="566928"/>
          </a:xfrm>
          <a:prstGeom prst="ellipse">
            <a:avLst/>
          </a:prstGeom>
          <a:solidFill>
            <a:srgbClr val="FBBF24">
              <a:alpha val="22000"/>
            </a:srgbClr>
          </a:solidFill>
          <a:ln w="1905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FBBF24"/>
                </a:solidFill>
                <a:latin typeface="Segoe UI"/>
                <a:ea typeface="Segoe UI"/>
                <a:cs typeface="Segoe UI"/>
              </a:rPr>
              <a:t>S</a:t>
            </a:r>
            <a:endParaRPr lang="en-US" sz="1612" dirty="0"/>
          </a:p>
        </p:txBody>
      </p:sp>
      <p:sp>
        <p:nvSpPr>
          <p:cNvPr id="109" name="s109"/>
          <p:cNvSpPr/>
          <p:nvPr/>
        </p:nvSpPr>
        <p:spPr>
          <a:xfrm>
            <a:off x="1274674" y="3200400"/>
            <a:ext cx="5943600" cy="960120"/>
          </a:xfrm>
          <a:prstGeom prst="roundRect">
            <a:avLst>
              <a:gd name="adj" fmla="val 14000"/>
            </a:avLst>
          </a:prstGeom>
          <a:solidFill>
            <a:srgbClr val="111B2E"/>
          </a:solidFill>
          <a:ln w="12700">
            <a:solidFill>
              <a:srgbClr val="FBBF24"/>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FBBF24"/>
                </a:solidFill>
                <a:latin typeface="Segoe UI"/>
                <a:ea typeface="Segoe UI"/>
                <a:cs typeface="Segoe UI"/>
              </a:rPr>
              <a:t>Sarah</a:t>
            </a:r>
            <a:r>
              <a:rPr lang="en-US" sz="1100" b="0" dirty="0">
                <a:solidFill>
                  <a:srgbClr val="94A3B8"/>
                </a:solidFill>
                <a:latin typeface="Segoe UI"/>
                <a:ea typeface="Segoe UI"/>
                <a:cs typeface="Segoe UI"/>
              </a:rPr>
              <a:t>  ·  Product Owner</a:t>
            </a:r>
            <a:endParaRPr lang="en-US" sz="1100" dirty="0"/>
          </a:p>
          <a:p>
            <a:pPr marL="0" indent="0" algn="l">
              <a:spcBef>
                <a:spcPts val="0"/>
              </a:spcBef>
              <a:spcAft>
                <a:spcPts val="0"/>
              </a:spcAft>
              <a:buNone/>
            </a:pPr>
            <a:r>
              <a:rPr lang="en-US" sz="1350" b="0" dirty="0">
                <a:solidFill>
                  <a:srgbClr val="FFFFFF"/>
                </a:solidFill>
                <a:latin typeface="Segoe UI"/>
                <a:ea typeface="Segoe UI"/>
                <a:cs typeface="Segoe UI"/>
              </a:rPr>
              <a:t>I spent two days at the hospital reception. Phone booking takes 6 minutes per patient. That is our real problem.</a:t>
            </a:r>
            <a:endParaRPr lang="en-US" sz="1350" dirty="0"/>
          </a:p>
        </p:txBody>
      </p:sp>
      <p:sp>
        <p:nvSpPr>
          <p:cNvPr id="110" name="s110"/>
          <p:cNvSpPr/>
          <p:nvPr/>
        </p:nvSpPr>
        <p:spPr>
          <a:xfrm>
            <a:off x="7446874" y="3200400"/>
            <a:ext cx="4184294" cy="1965960"/>
          </a:xfrm>
          <a:prstGeom prst="roundRect">
            <a:avLst>
              <a:gd name="adj" fmla="val 8000"/>
            </a:avLst>
          </a:prstGeom>
          <a:solidFill>
            <a:srgbClr val="111B2E"/>
          </a:solidFill>
          <a:ln w="12700">
            <a:solidFill>
              <a:srgbClr val="FBBF24"/>
            </a:solidFill>
            <a:prstDash val="solid"/>
          </a:ln>
        </p:spPr>
        <p:txBody>
          <a:bodyPr wrap="square" lIns="201168" tIns="137160" rIns="164592" bIns="91440" rtlCol="0" anchor="t">
            <a:noAutofit/>
          </a:bodyPr>
          <a:lstStyle/>
          <a:p>
            <a:pPr marL="0" indent="0" algn="l">
              <a:spcBef>
                <a:spcPts val="0"/>
              </a:spcBef>
              <a:spcAft>
                <a:spcPts val="600"/>
              </a:spcAft>
              <a:buNone/>
            </a:pPr>
            <a:r>
              <a:rPr lang="en-US" sz="1150" b="1" dirty="0">
                <a:solidFill>
                  <a:srgbClr val="FBBF24"/>
                </a:solidFill>
                <a:latin typeface="Segoe UI"/>
                <a:ea typeface="Segoe UI"/>
                <a:cs typeface="Segoe UI"/>
              </a:rPr>
              <a:t>WHY VISIT?</a:t>
            </a:r>
            <a:endParaRPr lang="en-US" sz="1150" dirty="0"/>
          </a:p>
          <a:p>
            <a:pPr marL="0" indent="0" algn="l">
              <a:spcBef>
                <a:spcPts val="0"/>
              </a:spcBef>
              <a:spcAft>
                <a:spcPts val="400"/>
              </a:spcAft>
              <a:buNone/>
            </a:pPr>
            <a:r>
              <a:rPr lang="en-US" sz="1300" b="0" dirty="0">
                <a:solidFill>
                  <a:srgbClr val="FBBF24"/>
                </a:solidFill>
                <a:latin typeface="Segoe UI"/>
                <a:ea typeface="Segoe UI"/>
                <a:cs typeface="Segoe UI"/>
              </a:rPr>
              <a:t>•  </a:t>
            </a:r>
            <a:r>
              <a:rPr lang="en-US" sz="1300" b="0" dirty="0">
                <a:solidFill>
                  <a:srgbClr val="E2E8F0"/>
                </a:solidFill>
                <a:latin typeface="Segoe UI"/>
                <a:ea typeface="Segoe UI"/>
                <a:cs typeface="Segoe UI"/>
              </a:rPr>
              <a:t>see how people REALLY work</a:t>
            </a:r>
            <a:endParaRPr lang="en-US" sz="1300" dirty="0"/>
          </a:p>
          <a:p>
            <a:pPr marL="0" indent="0" algn="l">
              <a:spcBef>
                <a:spcPts val="0"/>
              </a:spcBef>
              <a:spcAft>
                <a:spcPts val="400"/>
              </a:spcAft>
              <a:buNone/>
            </a:pPr>
            <a:r>
              <a:rPr lang="en-US" sz="1300" b="0" dirty="0">
                <a:solidFill>
                  <a:srgbClr val="FBBF24"/>
                </a:solidFill>
                <a:latin typeface="Segoe UI"/>
                <a:ea typeface="Segoe UI"/>
                <a:cs typeface="Segoe UI"/>
              </a:rPr>
              <a:t>•  </a:t>
            </a:r>
            <a:r>
              <a:rPr lang="en-US" sz="1300" b="0" dirty="0">
                <a:solidFill>
                  <a:srgbClr val="E2E8F0"/>
                </a:solidFill>
                <a:latin typeface="Segoe UI"/>
                <a:ea typeface="Segoe UI"/>
                <a:cs typeface="Segoe UI"/>
              </a:rPr>
              <a:t>find the real pain, not the guessed one</a:t>
            </a:r>
            <a:endParaRPr lang="en-US" sz="1300" dirty="0"/>
          </a:p>
          <a:p>
            <a:pPr marL="0" indent="0" algn="l">
              <a:spcBef>
                <a:spcPts val="0"/>
              </a:spcBef>
              <a:spcAft>
                <a:spcPts val="400"/>
              </a:spcAft>
              <a:buNone/>
            </a:pPr>
            <a:r>
              <a:rPr lang="en-US" sz="1300" b="0" dirty="0">
                <a:solidFill>
                  <a:srgbClr val="FBBF24"/>
                </a:solidFill>
                <a:latin typeface="Segoe UI"/>
                <a:ea typeface="Segoe UI"/>
                <a:cs typeface="Segoe UI"/>
              </a:rPr>
              <a:t>•  </a:t>
            </a:r>
            <a:r>
              <a:rPr lang="en-US" sz="1300" b="0" dirty="0">
                <a:solidFill>
                  <a:srgbClr val="E2E8F0"/>
                </a:solidFill>
                <a:latin typeface="Segoe UI"/>
                <a:ea typeface="Segoe UI"/>
                <a:cs typeface="Segoe UI"/>
              </a:rPr>
              <a:t>fewer surprises after the contract</a:t>
            </a:r>
            <a:endParaRPr lang="en-US" sz="1300" dirty="0"/>
          </a:p>
        </p:txBody>
      </p:sp>
      <p:sp>
        <p:nvSpPr>
          <p:cNvPr id="111" name="s111"/>
          <p:cNvSpPr/>
          <p:nvPr/>
        </p:nvSpPr>
        <p:spPr>
          <a:xfrm>
            <a:off x="543154" y="5349240"/>
            <a:ext cx="11088014" cy="548640"/>
          </a:xfrm>
          <a:prstGeom prst="roundRect">
            <a:avLst>
              <a:gd name="adj" fmla="val 12000"/>
            </a:avLst>
          </a:prstGeom>
          <a:solidFill>
            <a:srgbClr val="111B2E"/>
          </a:solidFill>
          <a:ln w="12700">
            <a:solidFill>
              <a:srgbClr val="FBBF24"/>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FBBF24"/>
                </a:solidFill>
                <a:latin typeface="Segoe UI"/>
                <a:ea typeface="Segoe UI"/>
                <a:cs typeface="Segoe UI"/>
              </a:rPr>
              <a:t>KEY</a:t>
            </a:r>
            <a:r>
              <a:rPr lang="en-US" sz="1350" b="0" dirty="0">
                <a:solidFill>
                  <a:srgbClr val="E2E8F0"/>
                </a:solidFill>
                <a:latin typeface="Segoe UI"/>
                <a:ea typeface="Segoe UI"/>
                <a:cs typeface="Segoe UI"/>
              </a:rPr>
              <a:t>   The contract fixes the big scope. The backlog keeps the details flexible inside it.</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anim calcmode="lin" valueType="num">
                                      <p:cBhvr additive="base">
                                        <p:cTn id="14" dur="500" decel="100000" fill="hold"/>
                                        <p:tgtEl>
                                          <p:spTgt spid="103"/>
                                        </p:tgtEl>
                                        <p:attrNameLst>
                                          <p:attrName>ppt_x</p:attrName>
                                        </p:attrNameLst>
                                      </p:cBhvr>
                                      <p:tavLst>
                                        <p:tav tm="0">
                                          <p:val>
                                            <p:strVal val="#ppt_x-0.05"/>
                                          </p:val>
                                        </p:tav>
                                        <p:tav tm="100000">
                                          <p:val>
                                            <p:strVal val="#ppt_x"/>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102"/>
                                        </p:tgtEl>
                                        <p:attrNameLst>
                                          <p:attrName>style.visibility</p:attrName>
                                        </p:attrNameLst>
                                      </p:cBhvr>
                                      <p:to>
                                        <p:strVal val="visible"/>
                                      </p:to>
                                    </p:set>
                                    <p:animEffect transition="in" filter="fade">
                                      <p:cBhvr>
                                        <p:cTn id="17" dur="500"/>
                                        <p:tgtEl>
                                          <p:spTgt spid="102"/>
                                        </p:tgtEl>
                                      </p:cBhvr>
                                    </p:animEffect>
                                    <p:anim calcmode="lin" valueType="num">
                                      <p:cBhvr additive="base">
                                        <p:cTn id="18"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nodeType="click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4"/>
                                        </p:tgtEl>
                                        <p:attrNameLst>
                                          <p:attrName>style.visibility</p:attrName>
                                        </p:attrNameLst>
                                      </p:cBhvr>
                                      <p:to>
                                        <p:strVal val="visible"/>
                                      </p:to>
                                    </p:set>
                                    <p:animEffect transition="in" filter="fade">
                                      <p:cBhvr>
                                        <p:cTn id="27" dur="500"/>
                                        <p:tgtEl>
                                          <p:spTgt spid="104"/>
                                        </p:tgtEl>
                                      </p:cBhvr>
                                    </p:animEffect>
                                    <p:anim calcmode="lin" valueType="num">
                                      <p:cBhvr additive="base">
                                        <p:cTn id="28" dur="500" decel="100000" fill="hold"/>
                                        <p:tgtEl>
                                          <p:spTgt spid="104"/>
                                        </p:tgtEl>
                                        <p:attrNameLst>
                                          <p:attrName>ppt_x</p:attrName>
                                        </p:attrNameLst>
                                      </p:cBhvr>
                                      <p:tavLst>
                                        <p:tav tm="0">
                                          <p:val>
                                            <p:strVal val="#ppt_x-0.05"/>
                                          </p:val>
                                        </p:tav>
                                        <p:tav tm="100000">
                                          <p:val>
                                            <p:strVal val="#ppt_x"/>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ppt_x</p:attrName>
                                        </p:attrNameLst>
                                      </p:cBhvr>
                                      <p:tavLst>
                                        <p:tav tm="0">
                                          <p:val>
                                            <p:strVal val="#ppt_x-0.05"/>
                                          </p:val>
                                        </p:tav>
                                        <p:tav tm="100000">
                                          <p:val>
                                            <p:strVal val="#ppt_x"/>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06"/>
                                        </p:tgtEl>
                                        <p:attrNameLst>
                                          <p:attrName>style.visibility</p:attrName>
                                        </p:attrNameLst>
                                      </p:cBhvr>
                                      <p:to>
                                        <p:strVal val="visible"/>
                                      </p:to>
                                    </p:set>
                                    <p:animEffect transition="in" filter="fade">
                                      <p:cBhvr>
                                        <p:cTn id="37" dur="500"/>
                                        <p:tgtEl>
                                          <p:spTgt spid="106"/>
                                        </p:tgtEl>
                                      </p:cBhvr>
                                    </p:animEffect>
                                    <p:anim calcmode="lin" valueType="num">
                                      <p:cBhvr additive="base">
                                        <p:cTn id="38" dur="500" decel="100000" fill="hold"/>
                                        <p:tgtEl>
                                          <p:spTgt spid="106"/>
                                        </p:tgtEl>
                                        <p:attrNameLst>
                                          <p:attrName>ppt_x</p:attrName>
                                        </p:attrNameLst>
                                      </p:cBhvr>
                                      <p:tavLst>
                                        <p:tav tm="0">
                                          <p:val>
                                            <p:strVal val="#ppt_x-0.05"/>
                                          </p:val>
                                        </p:tav>
                                        <p:tav tm="100000">
                                          <p:val>
                                            <p:strVal val="#ppt_x"/>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108"/>
                                        </p:tgtEl>
                                        <p:attrNameLst>
                                          <p:attrName>style.visibility</p:attrName>
                                        </p:attrNameLst>
                                      </p:cBhvr>
                                      <p:to>
                                        <p:strVal val="visible"/>
                                      </p:to>
                                    </p:set>
                                    <p:animEffect transition="in" filter="fade">
                                      <p:cBhvr>
                                        <p:cTn id="43" dur="500"/>
                                        <p:tgtEl>
                                          <p:spTgt spid="108"/>
                                        </p:tgtEl>
                                      </p:cBhvr>
                                    </p:animEffect>
                                    <p:anim calcmode="lin" valueType="num">
                                      <p:cBhvr additive="base">
                                        <p:cTn id="44" dur="500" decel="100000" fill="hold"/>
                                        <p:tgtEl>
                                          <p:spTgt spid="108"/>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09"/>
                                        </p:tgtEl>
                                        <p:attrNameLst>
                                          <p:attrName>style.visibility</p:attrName>
                                        </p:attrNameLst>
                                      </p:cBhvr>
                                      <p:to>
                                        <p:strVal val="visible"/>
                                      </p:to>
                                    </p:set>
                                    <p:animEffect transition="in" filter="fade">
                                      <p:cBhvr>
                                        <p:cTn id="47" dur="500"/>
                                        <p:tgtEl>
                                          <p:spTgt spid="109"/>
                                        </p:tgtEl>
                                      </p:cBhvr>
                                    </p:animEffect>
                                    <p:anim calcmode="lin" valueType="num">
                                      <p:cBhvr additive="base">
                                        <p:cTn id="48" dur="500" decel="100000" fill="hold"/>
                                        <p:tgtEl>
                                          <p:spTgt spid="109"/>
                                        </p:tgtEl>
                                        <p:attrNameLst>
                                          <p:attrName>ppt_y</p:attrName>
                                        </p:attrNameLst>
                                      </p:cBhvr>
                                      <p:tavLst>
                                        <p:tav tm="0">
                                          <p:val>
                                            <p:strVal val="#ppt_y+0.06"/>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grpId="0" nodeType="clickEffect">
                                  <p:stCondLst>
                                    <p:cond delay="0"/>
                                  </p:stCondLst>
                                  <p:childTnLst>
                                    <p:set>
                                      <p:cBhvr>
                                        <p:cTn id="52" dur="1" fill="hold">
                                          <p:stCondLst>
                                            <p:cond delay="0"/>
                                          </p:stCondLst>
                                        </p:cTn>
                                        <p:tgtEl>
                                          <p:spTgt spid="110"/>
                                        </p:tgtEl>
                                        <p:attrNameLst>
                                          <p:attrName>style.visibility</p:attrName>
                                        </p:attrNameLst>
                                      </p:cBhvr>
                                      <p:to>
                                        <p:strVal val="visible"/>
                                      </p:to>
                                    </p:set>
                                    <p:animEffect transition="in" filter="fade">
                                      <p:cBhvr>
                                        <p:cTn id="53" dur="500"/>
                                        <p:tgtEl>
                                          <p:spTgt spid="110"/>
                                        </p:tgtEl>
                                      </p:cBhvr>
                                    </p:animEffect>
                                    <p:anim calcmode="lin" valueType="num">
                                      <p:cBhvr additive="base">
                                        <p:cTn id="54"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42" presetClass="entr" presetSubtype="0" fill="hold" grpId="0" nodeType="clickEffect">
                                  <p:stCondLst>
                                    <p:cond delay="0"/>
                                  </p:stCondLst>
                                  <p:childTnLst>
                                    <p:set>
                                      <p:cBhvr>
                                        <p:cTn id="58" dur="1" fill="hold">
                                          <p:stCondLst>
                                            <p:cond delay="0"/>
                                          </p:stCondLst>
                                        </p:cTn>
                                        <p:tgtEl>
                                          <p:spTgt spid="111"/>
                                        </p:tgtEl>
                                        <p:attrNameLst>
                                          <p:attrName>style.visibility</p:attrName>
                                        </p:attrNameLst>
                                      </p:cBhvr>
                                      <p:to>
                                        <p:strVal val="visible"/>
                                      </p:to>
                                    </p:set>
                                    <p:animEffect transition="in" filter="fade">
                                      <p:cBhvr>
                                        <p:cTn id="59" dur="500"/>
                                        <p:tgtEl>
                                          <p:spTgt spid="111"/>
                                        </p:tgtEl>
                                      </p:cBhvr>
                                    </p:animEffect>
                                    <p:anim calcmode="lin" valueType="num">
                                      <p:cBhvr additive="base">
                                        <p:cTn id="60" dur="500" decel="100000" fill="hold"/>
                                        <p:tgtEl>
                                          <p:spTgt spid="111"/>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6" grpId="0" animBg="1"/>
      <p:bldP spid="108" grpId="0" animBg="1"/>
      <p:bldP spid="109" grpId="0" animBg="1"/>
      <p:bldP spid="110" grpId="0" animBg="1"/>
      <p:bldP spid="111"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AGILE HERE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Does Agile Mean Here?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The hospital does not know every requirement up front.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233</a:t>
            </a:r>
            <a:endParaRPr lang="en-US" sz="850" dirty="0"/>
          </a:p>
        </p:txBody>
      </p:sp>
      <p:sp>
        <p:nvSpPr>
          <p:cNvPr id="101" name="s101"/>
          <p:cNvSpPr txBox="1"/>
          <p:nvPr/>
        </p:nvSpPr>
        <p:spPr>
          <a:xfrm>
            <a:off x="543154" y="1965960"/>
            <a:ext cx="36576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F87171"/>
                </a:solidFill>
                <a:latin typeface="Segoe UI"/>
                <a:ea typeface="Segoe UI"/>
                <a:cs typeface="Segoe UI"/>
              </a:rPr>
              <a:t>TRADITIONAL ASSUMPTION</a:t>
            </a:r>
            <a:endParaRPr lang="en-US" sz="1100" dirty="0"/>
          </a:p>
        </p:txBody>
      </p:sp>
      <p:sp>
        <p:nvSpPr>
          <p:cNvPr id="102" name="s102"/>
          <p:cNvSpPr/>
          <p:nvPr/>
        </p:nvSpPr>
        <p:spPr>
          <a:xfrm>
            <a:off x="543154" y="2331720"/>
            <a:ext cx="2103120" cy="502920"/>
          </a:xfrm>
          <a:prstGeom prst="roundRect">
            <a:avLst>
              <a:gd name="adj" fmla="val 30000"/>
            </a:avLst>
          </a:prstGeom>
          <a:solidFill>
            <a:srgbClr val="94A3B8">
              <a:alpha val="14000"/>
            </a:srgbClr>
          </a:solidFill>
          <a:ln w="12700">
            <a:solidFill>
              <a:srgbClr val="94A3B8"/>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Plan everything</a:t>
            </a:r>
            <a:endParaRPr lang="en-US" sz="1250" dirty="0"/>
          </a:p>
        </p:txBody>
      </p:sp>
      <p:sp>
        <p:nvSpPr>
          <p:cNvPr id="103" name="s103"/>
          <p:cNvSpPr/>
          <p:nvPr/>
        </p:nvSpPr>
        <p:spPr>
          <a:xfrm>
            <a:off x="3057754" y="2331720"/>
            <a:ext cx="2103120" cy="502920"/>
          </a:xfrm>
          <a:prstGeom prst="roundRect">
            <a:avLst>
              <a:gd name="adj" fmla="val 30000"/>
            </a:avLst>
          </a:prstGeom>
          <a:solidFill>
            <a:srgbClr val="94A3B8">
              <a:alpha val="14000"/>
            </a:srgbClr>
          </a:solidFill>
          <a:ln w="12700">
            <a:solidFill>
              <a:srgbClr val="94A3B8"/>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Build everything</a:t>
            </a:r>
            <a:endParaRPr lang="en-US" sz="1250" dirty="0"/>
          </a:p>
        </p:txBody>
      </p:sp>
      <p:cxnSp>
        <p:nvCxnSpPr>
          <p:cNvPr id="104" name="ln104"/>
          <p:cNvCxnSpPr/>
          <p:nvPr/>
        </p:nvCxnSpPr>
        <p:spPr>
          <a:xfrm>
            <a:off x="2682850" y="2583180"/>
            <a:ext cx="338328" cy="0"/>
          </a:xfrm>
          <a:prstGeom prst="line">
            <a:avLst/>
          </a:prstGeom>
          <a:ln w="19050">
            <a:solidFill>
              <a:srgbClr val="94A3B8"/>
            </a:solidFill>
            <a:tailEnd type="triangle" w="med" len="med"/>
          </a:ln>
        </p:spPr>
      </p:cxnSp>
      <p:sp>
        <p:nvSpPr>
          <p:cNvPr id="105" name="s105"/>
          <p:cNvSpPr/>
          <p:nvPr/>
        </p:nvSpPr>
        <p:spPr>
          <a:xfrm>
            <a:off x="5572354" y="2331720"/>
            <a:ext cx="2103120" cy="502920"/>
          </a:xfrm>
          <a:prstGeom prst="roundRect">
            <a:avLst>
              <a:gd name="adj" fmla="val 30000"/>
            </a:avLst>
          </a:prstGeom>
          <a:solidFill>
            <a:srgbClr val="F87171">
              <a:alpha val="14000"/>
            </a:srgbClr>
          </a:solidFill>
          <a:ln w="12700">
            <a:solidFill>
              <a:srgbClr val="F87171"/>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Deliver after 1 year</a:t>
            </a:r>
            <a:endParaRPr lang="en-US" sz="1250" dirty="0"/>
          </a:p>
        </p:txBody>
      </p:sp>
      <p:cxnSp>
        <p:nvCxnSpPr>
          <p:cNvPr id="106" name="ln106"/>
          <p:cNvCxnSpPr/>
          <p:nvPr/>
        </p:nvCxnSpPr>
        <p:spPr>
          <a:xfrm>
            <a:off x="5197450" y="2583180"/>
            <a:ext cx="338328" cy="0"/>
          </a:xfrm>
          <a:prstGeom prst="line">
            <a:avLst/>
          </a:prstGeom>
          <a:ln w="19050">
            <a:solidFill>
              <a:srgbClr val="F87171"/>
            </a:solidFill>
            <a:tailEnd type="triangle" w="med" len="med"/>
          </a:ln>
        </p:spPr>
      </p:cxnSp>
      <p:sp>
        <p:nvSpPr>
          <p:cNvPr id="107" name="s107"/>
          <p:cNvSpPr/>
          <p:nvPr/>
        </p:nvSpPr>
        <p:spPr>
          <a:xfrm>
            <a:off x="543154" y="3017520"/>
            <a:ext cx="7132320" cy="329184"/>
          </a:xfrm>
          <a:prstGeom prst="rect">
            <a:avLst/>
          </a:prstGeom>
          <a:solidFill>
            <a:srgbClr val="F87171">
              <a:alpha val="10000"/>
            </a:srgbClr>
          </a:solidFill>
          <a:ln>
            <a:noFill/>
          </a:ln>
        </p:spPr>
        <p:txBody>
          <a:bodyPr wrap="square" lIns="164592" tIns="109728" rIns="137160" bIns="91440" rtlCol="0" anchor="ctr">
            <a:noAutofit/>
          </a:bodyPr>
          <a:lstStyle/>
          <a:p>
            <a:pPr marL="0" indent="0" algn="ctr">
              <a:spcBef>
                <a:spcPts val="0"/>
              </a:spcBef>
              <a:spcAft>
                <a:spcPts val="0"/>
              </a:spcAft>
              <a:buNone/>
            </a:pPr>
            <a:r>
              <a:rPr lang="en-US" sz="1100" b="0" dirty="0">
                <a:solidFill>
                  <a:srgbClr val="F87171"/>
                </a:solidFill>
                <a:latin typeface="Segoe UI"/>
                <a:ea typeface="Segoe UI"/>
                <a:cs typeface="Segoe UI"/>
              </a:rPr>
              <a:t>12 months of silence: the hospital sees nothing</a:t>
            </a:r>
            <a:endParaRPr lang="en-US" sz="1100" dirty="0"/>
          </a:p>
        </p:txBody>
      </p:sp>
      <p:sp>
        <p:nvSpPr>
          <p:cNvPr id="108" name="s108"/>
          <p:cNvSpPr txBox="1"/>
          <p:nvPr/>
        </p:nvSpPr>
        <p:spPr>
          <a:xfrm>
            <a:off x="543154" y="3611880"/>
            <a:ext cx="36576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34D399"/>
                </a:solidFill>
                <a:latin typeface="Segoe UI"/>
                <a:ea typeface="Segoe UI"/>
                <a:cs typeface="Segoe UI"/>
              </a:rPr>
              <a:t>AGILE APPROACH · CARE HOSPITAL</a:t>
            </a:r>
            <a:endParaRPr lang="en-US" sz="1100" dirty="0"/>
          </a:p>
        </p:txBody>
      </p:sp>
      <p:sp>
        <p:nvSpPr>
          <p:cNvPr id="109" name="s109"/>
          <p:cNvSpPr/>
          <p:nvPr/>
        </p:nvSpPr>
        <p:spPr>
          <a:xfrm>
            <a:off x="1046074" y="3886200"/>
            <a:ext cx="1554480" cy="1554480"/>
          </a:xfrm>
          <a:prstGeom prst="circularArrow">
            <a:avLst>
              <a:gd name="adj1" fmla="val 9000"/>
              <a:gd name="adj2" fmla="val 1142319"/>
              <a:gd name="adj3" fmla="val 3600000"/>
              <a:gd name="adj4" fmla="val 7200000"/>
              <a:gd name="adj5" fmla="val 11000"/>
            </a:avLst>
          </a:prstGeom>
          <a:solidFill>
            <a:srgbClr val="34D399">
              <a:alpha val="80000"/>
            </a:srgbClr>
          </a:solidFill>
          <a:ln>
            <a:noFill/>
          </a:ln>
        </p:spPr>
        <p:txBody>
          <a:bodyPr wrap="square" lIns="164592" tIns="109728" rIns="137160" bIns="91440" rtlCol="0" anchor="t">
            <a:noAutofit/>
          </a:bodyPr>
          <a:lstStyle/>
          <a:p>
            <a:endParaRPr lang="en-US"/>
          </a:p>
        </p:txBody>
      </p:sp>
      <p:sp>
        <p:nvSpPr>
          <p:cNvPr id="110" name="s110"/>
          <p:cNvSpPr txBox="1"/>
          <p:nvPr/>
        </p:nvSpPr>
        <p:spPr>
          <a:xfrm>
            <a:off x="1046074" y="4389120"/>
            <a:ext cx="1554480" cy="54864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repeat</a:t>
            </a:r>
            <a:endParaRPr lang="en-US" sz="1200" dirty="0"/>
          </a:p>
        </p:txBody>
      </p:sp>
      <p:sp>
        <p:nvSpPr>
          <p:cNvPr id="111" name="s111"/>
          <p:cNvSpPr/>
          <p:nvPr/>
        </p:nvSpPr>
        <p:spPr>
          <a:xfrm>
            <a:off x="2829154" y="4434840"/>
            <a:ext cx="1691640" cy="502920"/>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Build a useful part</a:t>
            </a:r>
            <a:endParaRPr lang="en-US" sz="1200" dirty="0"/>
          </a:p>
        </p:txBody>
      </p:sp>
      <p:sp>
        <p:nvSpPr>
          <p:cNvPr id="112" name="s112"/>
          <p:cNvSpPr/>
          <p:nvPr/>
        </p:nvSpPr>
        <p:spPr>
          <a:xfrm>
            <a:off x="4840834" y="4434840"/>
            <a:ext cx="1691640" cy="502920"/>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Get feedback</a:t>
            </a:r>
            <a:endParaRPr lang="en-US" sz="1200" dirty="0"/>
          </a:p>
        </p:txBody>
      </p:sp>
      <p:cxnSp>
        <p:nvCxnSpPr>
          <p:cNvPr id="113" name="ln113"/>
          <p:cNvCxnSpPr/>
          <p:nvPr/>
        </p:nvCxnSpPr>
        <p:spPr>
          <a:xfrm>
            <a:off x="4557370" y="4686300"/>
            <a:ext cx="246888" cy="0"/>
          </a:xfrm>
          <a:prstGeom prst="line">
            <a:avLst/>
          </a:prstGeom>
          <a:ln w="19050">
            <a:solidFill>
              <a:srgbClr val="34D399"/>
            </a:solidFill>
            <a:tailEnd type="triangle" w="med" len="med"/>
          </a:ln>
        </p:spPr>
      </p:cxnSp>
      <p:sp>
        <p:nvSpPr>
          <p:cNvPr id="114" name="s114"/>
          <p:cNvSpPr/>
          <p:nvPr/>
        </p:nvSpPr>
        <p:spPr>
          <a:xfrm>
            <a:off x="6852514" y="4434840"/>
            <a:ext cx="1691640" cy="502920"/>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Improve</a:t>
            </a:r>
            <a:endParaRPr lang="en-US" sz="1200" dirty="0"/>
          </a:p>
        </p:txBody>
      </p:sp>
      <p:cxnSp>
        <p:nvCxnSpPr>
          <p:cNvPr id="115" name="ln115"/>
          <p:cNvCxnSpPr/>
          <p:nvPr/>
        </p:nvCxnSpPr>
        <p:spPr>
          <a:xfrm>
            <a:off x="6569050" y="4686300"/>
            <a:ext cx="246888" cy="0"/>
          </a:xfrm>
          <a:prstGeom prst="line">
            <a:avLst/>
          </a:prstGeom>
          <a:ln w="19050">
            <a:solidFill>
              <a:srgbClr val="34D399"/>
            </a:solidFill>
            <a:tailEnd type="triangle" w="med" len="med"/>
          </a:ln>
        </p:spPr>
      </p:cxnSp>
      <p:sp>
        <p:nvSpPr>
          <p:cNvPr id="116" name="s116"/>
          <p:cNvSpPr/>
          <p:nvPr/>
        </p:nvSpPr>
        <p:spPr>
          <a:xfrm>
            <a:off x="8635594" y="1965960"/>
            <a:ext cx="2995574" cy="3611880"/>
          </a:xfrm>
          <a:prstGeom prst="roundRect">
            <a:avLst>
              <a:gd name="adj" fmla="val 8000"/>
            </a:avLst>
          </a:prstGeom>
          <a:solidFill>
            <a:srgbClr val="60A5FA">
              <a:alpha val="10000"/>
            </a:srgbClr>
          </a:solidFill>
          <a:ln w="12700">
            <a:solidFill>
              <a:srgbClr val="60A5FA"/>
            </a:solidFill>
            <a:prstDash val="solid"/>
          </a:ln>
        </p:spPr>
        <p:txBody>
          <a:bodyPr wrap="square" lIns="274320" tIns="91440" rIns="274320" bIns="91440" rtlCol="0" anchor="ctr">
            <a:noAutofit/>
          </a:bodyPr>
          <a:lstStyle/>
          <a:p>
            <a:pPr marL="0" indent="0" algn="l">
              <a:spcBef>
                <a:spcPts val="0"/>
              </a:spcBef>
              <a:spcAft>
                <a:spcPts val="800"/>
              </a:spcAft>
              <a:buNone/>
            </a:pPr>
            <a:r>
              <a:rPr lang="en-US" sz="1100" b="1" dirty="0">
                <a:solidFill>
                  <a:srgbClr val="60A5FA"/>
                </a:solidFill>
                <a:latin typeface="Segoe UI"/>
                <a:ea typeface="Segoe UI"/>
                <a:cs typeface="Segoe UI"/>
              </a:rPr>
              <a:t>MAIN IDEA</a:t>
            </a:r>
            <a:endParaRPr lang="en-US" sz="1100" dirty="0"/>
          </a:p>
          <a:p>
            <a:pPr marL="0" indent="0" algn="l">
              <a:spcBef>
                <a:spcPts val="0"/>
              </a:spcBef>
              <a:spcAft>
                <a:spcPts val="0"/>
              </a:spcAft>
              <a:buNone/>
            </a:pPr>
            <a:r>
              <a:rPr lang="en-US" sz="1550" b="1" dirty="0">
                <a:solidFill>
                  <a:srgbClr val="FFFFFF"/>
                </a:solidFill>
                <a:latin typeface="Segoe UI"/>
                <a:ea typeface="Segoe UI"/>
                <a:cs typeface="Segoe UI"/>
              </a:rPr>
              <a:t>Agile helps teams deliver value while learning and adapting, not after a year of silence.</a:t>
            </a:r>
            <a:endParaRPr lang="en-US" sz="15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childTnLst>
                                </p:cTn>
                              </p:par>
                              <p:par>
                                <p:cTn id="8" presetID="42" presetClass="entr" presetSubtype="0" fill="hold" grpId="0" nodeType="withEffect">
                                  <p:stCondLst>
                                    <p:cond delay="220"/>
                                  </p:stCondLst>
                                  <p:childTnLst>
                                    <p:set>
                                      <p:cBhvr>
                                        <p:cTn id="9" dur="1" fill="hold">
                                          <p:stCondLst>
                                            <p:cond delay="0"/>
                                          </p:stCondLst>
                                        </p:cTn>
                                        <p:tgtEl>
                                          <p:spTgt spid="102"/>
                                        </p:tgtEl>
                                        <p:attrNameLst>
                                          <p:attrName>style.visibility</p:attrName>
                                        </p:attrNameLst>
                                      </p:cBhvr>
                                      <p:to>
                                        <p:strVal val="visible"/>
                                      </p:to>
                                    </p:set>
                                    <p:animEffect transition="in" filter="fade">
                                      <p:cBhvr>
                                        <p:cTn id="10" dur="500"/>
                                        <p:tgtEl>
                                          <p:spTgt spid="102"/>
                                        </p:tgtEl>
                                      </p:cBhvr>
                                    </p:animEffect>
                                    <p:anim calcmode="lin" valueType="num">
                                      <p:cBhvr additive="base">
                                        <p:cTn id="11" dur="500" decel="100000" fill="hold"/>
                                        <p:tgtEl>
                                          <p:spTgt spid="102"/>
                                        </p:tgtEl>
                                        <p:attrNameLst>
                                          <p:attrName>ppt_x</p:attrName>
                                        </p:attrNameLst>
                                      </p:cBhvr>
                                      <p:tavLst>
                                        <p:tav tm="0">
                                          <p:val>
                                            <p:strVal val="#ppt_x-0.05"/>
                                          </p:val>
                                        </p:tav>
                                        <p:tav tm="100000">
                                          <p:val>
                                            <p:strVal val="#ppt_x"/>
                                          </p:val>
                                        </p:tav>
                                      </p:tavLst>
                                    </p:anim>
                                  </p:childTnLst>
                                </p:cTn>
                              </p:par>
                              <p:par>
                                <p:cTn id="12" presetID="42" presetClass="entr" presetSubtype="0" fill="hold" nodeType="withEffect">
                                  <p:stCondLst>
                                    <p:cond delay="440"/>
                                  </p:stCondLst>
                                  <p:childTnLst>
                                    <p:set>
                                      <p:cBhvr>
                                        <p:cTn id="13" dur="1" fill="hold">
                                          <p:stCondLst>
                                            <p:cond delay="0"/>
                                          </p:stCondLst>
                                        </p:cTn>
                                        <p:tgtEl>
                                          <p:spTgt spid="104"/>
                                        </p:tgtEl>
                                        <p:attrNameLst>
                                          <p:attrName>style.visibility</p:attrName>
                                        </p:attrNameLst>
                                      </p:cBhvr>
                                      <p:to>
                                        <p:strVal val="visible"/>
                                      </p:to>
                                    </p:set>
                                    <p:animEffect transition="in" filter="fade">
                                      <p:cBhvr>
                                        <p:cTn id="14" dur="500"/>
                                        <p:tgtEl>
                                          <p:spTgt spid="104"/>
                                        </p:tgtEl>
                                      </p:cBhvr>
                                    </p:animEffect>
                                    <p:anim calcmode="lin" valueType="num">
                                      <p:cBhvr additive="base">
                                        <p:cTn id="15" dur="500" decel="100000" fill="hold"/>
                                        <p:tgtEl>
                                          <p:spTgt spid="104"/>
                                        </p:tgtEl>
                                        <p:attrNameLst>
                                          <p:attrName>ppt_x</p:attrName>
                                        </p:attrNameLst>
                                      </p:cBhvr>
                                      <p:tavLst>
                                        <p:tav tm="0">
                                          <p:val>
                                            <p:strVal val="#ppt_x-0.05"/>
                                          </p:val>
                                        </p:tav>
                                        <p:tav tm="100000">
                                          <p:val>
                                            <p:strVal val="#ppt_x"/>
                                          </p:val>
                                        </p:tav>
                                      </p:tavLst>
                                    </p:anim>
                                  </p:childTnLst>
                                </p:cTn>
                              </p:par>
                              <p:par>
                                <p:cTn id="16" presetID="42" presetClass="entr" presetSubtype="0" fill="hold" grpId="0" nodeType="withEffect">
                                  <p:stCondLst>
                                    <p:cond delay="44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ppt_x</p:attrName>
                                        </p:attrNameLst>
                                      </p:cBhvr>
                                      <p:tavLst>
                                        <p:tav tm="0">
                                          <p:val>
                                            <p:strVal val="#ppt_x-0.05"/>
                                          </p:val>
                                        </p:tav>
                                        <p:tav tm="100000">
                                          <p:val>
                                            <p:strVal val="#ppt_x"/>
                                          </p:val>
                                        </p:tav>
                                      </p:tavLst>
                                    </p:anim>
                                  </p:childTnLst>
                                </p:cTn>
                              </p:par>
                              <p:par>
                                <p:cTn id="20" presetID="42" presetClass="entr" presetSubtype="0" fill="hold" nodeType="withEffect">
                                  <p:stCondLst>
                                    <p:cond delay="660"/>
                                  </p:stCondLst>
                                  <p:childTnLst>
                                    <p:set>
                                      <p:cBhvr>
                                        <p:cTn id="21" dur="1" fill="hold">
                                          <p:stCondLst>
                                            <p:cond delay="0"/>
                                          </p:stCondLst>
                                        </p:cTn>
                                        <p:tgtEl>
                                          <p:spTgt spid="106"/>
                                        </p:tgtEl>
                                        <p:attrNameLst>
                                          <p:attrName>style.visibility</p:attrName>
                                        </p:attrNameLst>
                                      </p:cBhvr>
                                      <p:to>
                                        <p:strVal val="visible"/>
                                      </p:to>
                                    </p:set>
                                    <p:animEffect transition="in" filter="fade">
                                      <p:cBhvr>
                                        <p:cTn id="22" dur="500"/>
                                        <p:tgtEl>
                                          <p:spTgt spid="106"/>
                                        </p:tgtEl>
                                      </p:cBhvr>
                                    </p:animEffect>
                                    <p:anim calcmode="lin" valueType="num">
                                      <p:cBhvr additive="base">
                                        <p:cTn id="23" dur="500" decel="100000" fill="hold"/>
                                        <p:tgtEl>
                                          <p:spTgt spid="106"/>
                                        </p:tgtEl>
                                        <p:attrNameLst>
                                          <p:attrName>ppt_x</p:attrName>
                                        </p:attrNameLst>
                                      </p:cBhvr>
                                      <p:tavLst>
                                        <p:tav tm="0">
                                          <p:val>
                                            <p:strVal val="#ppt_x-0.05"/>
                                          </p:val>
                                        </p:tav>
                                        <p:tav tm="100000">
                                          <p:val>
                                            <p:strVal val="#ppt_x"/>
                                          </p:val>
                                        </p:tav>
                                      </p:tavLst>
                                    </p:anim>
                                  </p:childTnLst>
                                </p:cTn>
                              </p:par>
                              <p:par>
                                <p:cTn id="24" presetID="42" presetClass="entr" presetSubtype="0" fill="hold" grpId="0" nodeType="withEffect">
                                  <p:stCondLst>
                                    <p:cond delay="66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00"/>
                                        <p:tgtEl>
                                          <p:spTgt spid="105"/>
                                        </p:tgtEl>
                                      </p:cBhvr>
                                    </p:animEffect>
                                    <p:anim calcmode="lin" valueType="num">
                                      <p:cBhvr additive="base">
                                        <p:cTn id="27" dur="500" decel="100000" fill="hold"/>
                                        <p:tgtEl>
                                          <p:spTgt spid="105"/>
                                        </p:tgtEl>
                                        <p:attrNameLst>
                                          <p:attrName>ppt_x</p:attrName>
                                        </p:attrNameLst>
                                      </p:cBhvr>
                                      <p:tavLst>
                                        <p:tav tm="0">
                                          <p:val>
                                            <p:strVal val="#ppt_x-0.05"/>
                                          </p:val>
                                        </p:tav>
                                        <p:tav tm="100000">
                                          <p:val>
                                            <p:strVal val="#ppt_x"/>
                                          </p:val>
                                        </p:tav>
                                      </p:tavLst>
                                    </p:anim>
                                  </p:childTnLst>
                                </p:cTn>
                              </p:par>
                              <p:par>
                                <p:cTn id="28" presetID="22" presetClass="entr" presetSubtype="8" fill="hold" grpId="0" nodeType="withEffect">
                                  <p:stCondLst>
                                    <p:cond delay="860"/>
                                  </p:stCondLst>
                                  <p:childTnLst>
                                    <p:set>
                                      <p:cBhvr>
                                        <p:cTn id="29" dur="1" fill="hold">
                                          <p:stCondLst>
                                            <p:cond delay="0"/>
                                          </p:stCondLst>
                                        </p:cTn>
                                        <p:tgtEl>
                                          <p:spTgt spid="107"/>
                                        </p:tgtEl>
                                        <p:attrNameLst>
                                          <p:attrName>style.visibility</p:attrName>
                                        </p:attrNameLst>
                                      </p:cBhvr>
                                      <p:to>
                                        <p:strVal val="visible"/>
                                      </p:to>
                                    </p:set>
                                    <p:animEffect transition="in" filter="wipe(left)">
                                      <p:cBhvr>
                                        <p:cTn id="30" dur="900"/>
                                        <p:tgtEl>
                                          <p:spTgt spid="10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childTnLst>
                                </p:cTn>
                              </p:par>
                              <p:par>
                                <p:cTn id="36" presetID="53" presetClass="entr" presetSubtype="16" fill="hold" grpId="0" nodeType="withEffect">
                                  <p:stCondLst>
                                    <p:cond delay="200"/>
                                  </p:stCondLst>
                                  <p:childTnLst>
                                    <p:set>
                                      <p:cBhvr>
                                        <p:cTn id="37" dur="1" fill="hold">
                                          <p:stCondLst>
                                            <p:cond delay="0"/>
                                          </p:stCondLst>
                                        </p:cTn>
                                        <p:tgtEl>
                                          <p:spTgt spid="109"/>
                                        </p:tgtEl>
                                        <p:attrNameLst>
                                          <p:attrName>style.visibility</p:attrName>
                                        </p:attrNameLst>
                                      </p:cBhvr>
                                      <p:to>
                                        <p:strVal val="visible"/>
                                      </p:to>
                                    </p:set>
                                    <p:anim calcmode="lin" valueType="num">
                                      <p:cBhvr additive="base">
                                        <p:cTn id="38"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39" dur="500" decel="100000" fill="hold"/>
                                        <p:tgtEl>
                                          <p:spTgt spid="109"/>
                                        </p:tgtEl>
                                        <p:attrNameLst>
                                          <p:attrName>ppt_h</p:attrName>
                                        </p:attrNameLst>
                                      </p:cBhvr>
                                      <p:tavLst>
                                        <p:tav tm="0">
                                          <p:val>
                                            <p:strVal val="#ppt_h*0.55"/>
                                          </p:val>
                                        </p:tav>
                                        <p:tav tm="100000">
                                          <p:val>
                                            <p:strVal val="#ppt_h"/>
                                          </p:val>
                                        </p:tav>
                                      </p:tavLst>
                                    </p:anim>
                                    <p:animEffect transition="in" filter="fade">
                                      <p:cBhvr>
                                        <p:cTn id="40" dur="500"/>
                                        <p:tgtEl>
                                          <p:spTgt spid="109"/>
                                        </p:tgtEl>
                                      </p:cBhvr>
                                    </p:animEffect>
                                  </p:childTnLst>
                                </p:cTn>
                              </p:par>
                              <p:par>
                                <p:cTn id="41" presetID="10" presetClass="entr" presetSubtype="0" fill="hold" grpId="0" nodeType="withEffect">
                                  <p:stCondLst>
                                    <p:cond delay="40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42" presetClass="entr" presetSubtype="0" fill="hold" grpId="0" nodeType="withEffect">
                                  <p:stCondLst>
                                    <p:cond delay="60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anim calcmode="lin" valueType="num">
                                      <p:cBhvr additive="base">
                                        <p:cTn id="47" dur="500" decel="100000" fill="hold"/>
                                        <p:tgtEl>
                                          <p:spTgt spid="111"/>
                                        </p:tgtEl>
                                        <p:attrNameLst>
                                          <p:attrName>ppt_x</p:attrName>
                                        </p:attrNameLst>
                                      </p:cBhvr>
                                      <p:tavLst>
                                        <p:tav tm="0">
                                          <p:val>
                                            <p:strVal val="#ppt_x-0.05"/>
                                          </p:val>
                                        </p:tav>
                                        <p:tav tm="100000">
                                          <p:val>
                                            <p:strVal val="#ppt_x"/>
                                          </p:val>
                                        </p:tav>
                                      </p:tavLst>
                                    </p:anim>
                                  </p:childTnLst>
                                </p:cTn>
                              </p:par>
                              <p:par>
                                <p:cTn id="48" presetID="42" presetClass="entr" presetSubtype="0" fill="hold" nodeType="withEffect">
                                  <p:stCondLst>
                                    <p:cond delay="800"/>
                                  </p:stCondLst>
                                  <p:childTnLst>
                                    <p:set>
                                      <p:cBhvr>
                                        <p:cTn id="49" dur="1" fill="hold">
                                          <p:stCondLst>
                                            <p:cond delay="0"/>
                                          </p:stCondLst>
                                        </p:cTn>
                                        <p:tgtEl>
                                          <p:spTgt spid="113"/>
                                        </p:tgtEl>
                                        <p:attrNameLst>
                                          <p:attrName>style.visibility</p:attrName>
                                        </p:attrNameLst>
                                      </p:cBhvr>
                                      <p:to>
                                        <p:strVal val="visible"/>
                                      </p:to>
                                    </p:set>
                                    <p:animEffect transition="in" filter="fade">
                                      <p:cBhvr>
                                        <p:cTn id="50" dur="500"/>
                                        <p:tgtEl>
                                          <p:spTgt spid="113"/>
                                        </p:tgtEl>
                                      </p:cBhvr>
                                    </p:animEffect>
                                    <p:anim calcmode="lin" valueType="num">
                                      <p:cBhvr additive="base">
                                        <p:cTn id="51" dur="500" decel="100000" fill="hold"/>
                                        <p:tgtEl>
                                          <p:spTgt spid="113"/>
                                        </p:tgtEl>
                                        <p:attrNameLst>
                                          <p:attrName>ppt_x</p:attrName>
                                        </p:attrNameLst>
                                      </p:cBhvr>
                                      <p:tavLst>
                                        <p:tav tm="0">
                                          <p:val>
                                            <p:strVal val="#ppt_x-0.05"/>
                                          </p:val>
                                        </p:tav>
                                        <p:tav tm="100000">
                                          <p:val>
                                            <p:strVal val="#ppt_x"/>
                                          </p:val>
                                        </p:tav>
                                      </p:tavLst>
                                    </p:anim>
                                  </p:childTnLst>
                                </p:cTn>
                              </p:par>
                              <p:par>
                                <p:cTn id="52" presetID="42" presetClass="entr" presetSubtype="0" fill="hold" grpId="0" nodeType="withEffect">
                                  <p:stCondLst>
                                    <p:cond delay="800"/>
                                  </p:stCondLst>
                                  <p:childTnLst>
                                    <p:set>
                                      <p:cBhvr>
                                        <p:cTn id="53" dur="1" fill="hold">
                                          <p:stCondLst>
                                            <p:cond delay="0"/>
                                          </p:stCondLst>
                                        </p:cTn>
                                        <p:tgtEl>
                                          <p:spTgt spid="112"/>
                                        </p:tgtEl>
                                        <p:attrNameLst>
                                          <p:attrName>style.visibility</p:attrName>
                                        </p:attrNameLst>
                                      </p:cBhvr>
                                      <p:to>
                                        <p:strVal val="visible"/>
                                      </p:to>
                                    </p:set>
                                    <p:animEffect transition="in" filter="fade">
                                      <p:cBhvr>
                                        <p:cTn id="54" dur="500"/>
                                        <p:tgtEl>
                                          <p:spTgt spid="112"/>
                                        </p:tgtEl>
                                      </p:cBhvr>
                                    </p:animEffect>
                                    <p:anim calcmode="lin" valueType="num">
                                      <p:cBhvr additive="base">
                                        <p:cTn id="55" dur="500" decel="100000" fill="hold"/>
                                        <p:tgtEl>
                                          <p:spTgt spid="112"/>
                                        </p:tgtEl>
                                        <p:attrNameLst>
                                          <p:attrName>ppt_x</p:attrName>
                                        </p:attrNameLst>
                                      </p:cBhvr>
                                      <p:tavLst>
                                        <p:tav tm="0">
                                          <p:val>
                                            <p:strVal val="#ppt_x-0.05"/>
                                          </p:val>
                                        </p:tav>
                                        <p:tav tm="100000">
                                          <p:val>
                                            <p:strVal val="#ppt_x"/>
                                          </p:val>
                                        </p:tav>
                                      </p:tavLst>
                                    </p:anim>
                                  </p:childTnLst>
                                </p:cTn>
                              </p:par>
                              <p:par>
                                <p:cTn id="56" presetID="42" presetClass="entr" presetSubtype="0" fill="hold" nodeType="withEffect">
                                  <p:stCondLst>
                                    <p:cond delay="1000"/>
                                  </p:stCondLst>
                                  <p:childTnLst>
                                    <p:set>
                                      <p:cBhvr>
                                        <p:cTn id="57" dur="1" fill="hold">
                                          <p:stCondLst>
                                            <p:cond delay="0"/>
                                          </p:stCondLst>
                                        </p:cTn>
                                        <p:tgtEl>
                                          <p:spTgt spid="115"/>
                                        </p:tgtEl>
                                        <p:attrNameLst>
                                          <p:attrName>style.visibility</p:attrName>
                                        </p:attrNameLst>
                                      </p:cBhvr>
                                      <p:to>
                                        <p:strVal val="visible"/>
                                      </p:to>
                                    </p:set>
                                    <p:animEffect transition="in" filter="fade">
                                      <p:cBhvr>
                                        <p:cTn id="58" dur="500"/>
                                        <p:tgtEl>
                                          <p:spTgt spid="115"/>
                                        </p:tgtEl>
                                      </p:cBhvr>
                                    </p:animEffect>
                                    <p:anim calcmode="lin" valueType="num">
                                      <p:cBhvr additive="base">
                                        <p:cTn id="59" dur="500" decel="100000" fill="hold"/>
                                        <p:tgtEl>
                                          <p:spTgt spid="115"/>
                                        </p:tgtEl>
                                        <p:attrNameLst>
                                          <p:attrName>ppt_x</p:attrName>
                                        </p:attrNameLst>
                                      </p:cBhvr>
                                      <p:tavLst>
                                        <p:tav tm="0">
                                          <p:val>
                                            <p:strVal val="#ppt_x-0.05"/>
                                          </p:val>
                                        </p:tav>
                                        <p:tav tm="100000">
                                          <p:val>
                                            <p:strVal val="#ppt_x"/>
                                          </p:val>
                                        </p:tav>
                                      </p:tavLst>
                                    </p:anim>
                                  </p:childTnLst>
                                </p:cTn>
                              </p:par>
                              <p:par>
                                <p:cTn id="60" presetID="42" presetClass="entr" presetSubtype="0" fill="hold" grpId="0" nodeType="withEffect">
                                  <p:stCondLst>
                                    <p:cond delay="1000"/>
                                  </p:stCondLst>
                                  <p:childTnLst>
                                    <p:set>
                                      <p:cBhvr>
                                        <p:cTn id="61" dur="1" fill="hold">
                                          <p:stCondLst>
                                            <p:cond delay="0"/>
                                          </p:stCondLst>
                                        </p:cTn>
                                        <p:tgtEl>
                                          <p:spTgt spid="114"/>
                                        </p:tgtEl>
                                        <p:attrNameLst>
                                          <p:attrName>style.visibility</p:attrName>
                                        </p:attrNameLst>
                                      </p:cBhvr>
                                      <p:to>
                                        <p:strVal val="visible"/>
                                      </p:to>
                                    </p:set>
                                    <p:animEffect transition="in" filter="fade">
                                      <p:cBhvr>
                                        <p:cTn id="62" dur="500"/>
                                        <p:tgtEl>
                                          <p:spTgt spid="114"/>
                                        </p:tgtEl>
                                      </p:cBhvr>
                                    </p:animEffect>
                                    <p:anim calcmode="lin" valueType="num">
                                      <p:cBhvr additive="base">
                                        <p:cTn id="63" dur="500" decel="100000" fill="hold"/>
                                        <p:tgtEl>
                                          <p:spTgt spid="114"/>
                                        </p:tgtEl>
                                        <p:attrNameLst>
                                          <p:attrName>ppt_x</p:attrName>
                                        </p:attrNameLst>
                                      </p:cBhvr>
                                      <p:tavLst>
                                        <p:tav tm="0">
                                          <p:val>
                                            <p:strVal val="#ppt_x-0.05"/>
                                          </p:val>
                                        </p:tav>
                                        <p:tav tm="100000">
                                          <p:val>
                                            <p:strVal val="#ppt_x"/>
                                          </p:val>
                                        </p:tav>
                                      </p:tavLst>
                                    </p:anim>
                                  </p:childTnLst>
                                </p:cTn>
                              </p:par>
                              <p:par>
                                <p:cTn id="64" presetID="8" presetClass="emph" presetSubtype="0" fill="hold" grpId="1" nodeType="withEffect">
                                  <p:stCondLst>
                                    <p:cond delay="1000"/>
                                  </p:stCondLst>
                                  <p:childTnLst>
                                    <p:animRot by="21600000">
                                      <p:cBhvr>
                                        <p:cTn id="65" dur="1200" decel="60000" fill="hold"/>
                                        <p:tgtEl>
                                          <p:spTgt spid="109"/>
                                        </p:tgtEl>
                                        <p:attrNameLst>
                                          <p:attrName>r</p:attrName>
                                        </p:attrNameLst>
                                      </p:cBhvr>
                                    </p:animRot>
                                  </p:childTnLst>
                                </p:cTn>
                              </p:par>
                            </p:childTnLst>
                          </p:cTn>
                        </p:par>
                      </p:childTnLst>
                    </p:cTn>
                  </p:par>
                  <p:par>
                    <p:cTn id="66" fill="hold">
                      <p:stCondLst>
                        <p:cond delay="indefinite"/>
                      </p:stCondLst>
                      <p:childTnLst>
                        <p:par>
                          <p:cTn id="67" fill="hold">
                            <p:stCondLst>
                              <p:cond delay="0"/>
                            </p:stCondLst>
                            <p:childTnLst>
                              <p:par>
                                <p:cTn id="68" presetID="53" presetClass="entr" presetSubtype="16" fill="hold" grpId="0" nodeType="clickEffect">
                                  <p:stCondLst>
                                    <p:cond delay="0"/>
                                  </p:stCondLst>
                                  <p:childTnLst>
                                    <p:set>
                                      <p:cBhvr>
                                        <p:cTn id="69" dur="1" fill="hold">
                                          <p:stCondLst>
                                            <p:cond delay="0"/>
                                          </p:stCondLst>
                                        </p:cTn>
                                        <p:tgtEl>
                                          <p:spTgt spid="116"/>
                                        </p:tgtEl>
                                        <p:attrNameLst>
                                          <p:attrName>style.visibility</p:attrName>
                                        </p:attrNameLst>
                                      </p:cBhvr>
                                      <p:to>
                                        <p:strVal val="visible"/>
                                      </p:to>
                                    </p:set>
                                    <p:anim calcmode="lin" valueType="num">
                                      <p:cBhvr additive="base">
                                        <p:cTn id="70" dur="500" decel="100000" fill="hold"/>
                                        <p:tgtEl>
                                          <p:spTgt spid="116"/>
                                        </p:tgtEl>
                                        <p:attrNameLst>
                                          <p:attrName>ppt_w</p:attrName>
                                        </p:attrNameLst>
                                      </p:cBhvr>
                                      <p:tavLst>
                                        <p:tav tm="0">
                                          <p:val>
                                            <p:strVal val="#ppt_w*0.55"/>
                                          </p:val>
                                        </p:tav>
                                        <p:tav tm="100000">
                                          <p:val>
                                            <p:strVal val="#ppt_w"/>
                                          </p:val>
                                        </p:tav>
                                      </p:tavLst>
                                    </p:anim>
                                    <p:anim calcmode="lin" valueType="num">
                                      <p:cBhvr additive="base">
                                        <p:cTn id="71" dur="500" decel="100000" fill="hold"/>
                                        <p:tgtEl>
                                          <p:spTgt spid="116"/>
                                        </p:tgtEl>
                                        <p:attrNameLst>
                                          <p:attrName>ppt_h</p:attrName>
                                        </p:attrNameLst>
                                      </p:cBhvr>
                                      <p:tavLst>
                                        <p:tav tm="0">
                                          <p:val>
                                            <p:strVal val="#ppt_h*0.55"/>
                                          </p:val>
                                        </p:tav>
                                        <p:tav tm="100000">
                                          <p:val>
                                            <p:strVal val="#ppt_h"/>
                                          </p:val>
                                        </p:tav>
                                      </p:tavLst>
                                    </p:anim>
                                    <p:animEffect transition="in" filter="fade">
                                      <p:cBhvr>
                                        <p:cTn id="72" dur="5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5" grpId="0" animBg="1"/>
      <p:bldP spid="107" grpId="0" animBg="1"/>
      <p:bldP spid="108" grpId="0" animBg="1"/>
      <p:bldP spid="109" grpId="0" animBg="1"/>
      <p:bldP spid="109" grpId="1" animBg="1"/>
      <p:bldP spid="110" grpId="0" animBg="1"/>
      <p:bldP spid="111" grpId="0" animBg="1"/>
      <p:bldP spid="112" grpId="0" animBg="1"/>
      <p:bldP spid="114" grpId="0" animBg="1"/>
      <p:bldP spid="116"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SCENE 3</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237</a:t>
            </a:r>
            <a:endParaRPr lang="en-US" sz="850" dirty="0"/>
          </a:p>
        </p:txBody>
      </p:sp>
      <p:sp>
        <p:nvSpPr>
          <p:cNvPr id="101" name="s101"/>
          <p:cNvSpPr txBox="1"/>
          <p:nvPr/>
        </p:nvSpPr>
        <p:spPr>
          <a:xfrm>
            <a:off x="497434" y="1051560"/>
            <a:ext cx="2743200" cy="12801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8800" b="1" dirty="0">
                <a:solidFill>
                  <a:srgbClr val="A78BFA"/>
                </a:solidFill>
                <a:latin typeface="Segoe UI"/>
                <a:ea typeface="Segoe UI"/>
                <a:cs typeface="Segoe UI"/>
              </a:rPr>
              <a:t>03</a:t>
            </a:r>
            <a:endParaRPr lang="en-US" sz="8800" dirty="0"/>
          </a:p>
        </p:txBody>
      </p:sp>
      <p:sp>
        <p:nvSpPr>
          <p:cNvPr id="102" name="s102"/>
          <p:cNvSpPr txBox="1"/>
          <p:nvPr/>
        </p:nvSpPr>
        <p:spPr>
          <a:xfrm>
            <a:off x="543154" y="2331720"/>
            <a:ext cx="11088014" cy="7772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From an Idea to a Backlog</a:t>
            </a:r>
            <a:endParaRPr lang="en-US" sz="4000" dirty="0"/>
          </a:p>
        </p:txBody>
      </p:sp>
      <p:sp>
        <p:nvSpPr>
          <p:cNvPr id="103" name="s103"/>
          <p:cNvSpPr txBox="1"/>
          <p:nvPr/>
        </p:nvSpPr>
        <p:spPr>
          <a:xfrm>
            <a:off x="543154" y="3108960"/>
            <a:ext cx="1108801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800" b="0" dirty="0">
                <a:solidFill>
                  <a:srgbClr val="CBD5E1"/>
                </a:solidFill>
                <a:latin typeface="Segoe UI"/>
                <a:ea typeface="Segoe UI"/>
                <a:cs typeface="Segoe UI"/>
              </a:rPr>
              <a:t>Sarah turns the client's pain into an ordered list of work.</a:t>
            </a:r>
            <a:endParaRPr lang="en-US" sz="1800" dirty="0"/>
          </a:p>
        </p:txBody>
      </p:sp>
      <p:sp>
        <p:nvSpPr>
          <p:cNvPr id="104" name="s104"/>
          <p:cNvSpPr txBox="1"/>
          <p:nvPr/>
        </p:nvSpPr>
        <p:spPr>
          <a:xfrm>
            <a:off x="543154" y="393192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IN THIS SCENE</a:t>
            </a:r>
            <a:endParaRPr lang="en-US" sz="1100" dirty="0"/>
          </a:p>
        </p:txBody>
      </p:sp>
      <p:sp>
        <p:nvSpPr>
          <p:cNvPr id="105" name="s105"/>
          <p:cNvSpPr/>
          <p:nvPr/>
        </p:nvSpPr>
        <p:spPr>
          <a:xfrm>
            <a:off x="543154" y="4251960"/>
            <a:ext cx="2634844" cy="548640"/>
          </a:xfrm>
          <a:prstGeom prst="roundRect">
            <a:avLst>
              <a:gd name="adj" fmla="val 20000"/>
            </a:avLst>
          </a:prstGeom>
          <a:solidFill>
            <a:srgbClr val="A78BFA">
              <a:alpha val="14000"/>
            </a:srgbClr>
          </a:solidFill>
          <a:ln w="12700">
            <a:solidFill>
              <a:srgbClr val="A78B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vision</a:t>
            </a:r>
            <a:endParaRPr lang="en-US" sz="1350" dirty="0"/>
          </a:p>
        </p:txBody>
      </p:sp>
      <p:sp>
        <p:nvSpPr>
          <p:cNvPr id="106" name="s106"/>
          <p:cNvSpPr/>
          <p:nvPr/>
        </p:nvSpPr>
        <p:spPr>
          <a:xfrm>
            <a:off x="3360877" y="4251960"/>
            <a:ext cx="2634844" cy="548640"/>
          </a:xfrm>
          <a:prstGeom prst="roundRect">
            <a:avLst>
              <a:gd name="adj" fmla="val 20000"/>
            </a:avLst>
          </a:prstGeom>
          <a:solidFill>
            <a:srgbClr val="A78BFA">
              <a:alpha val="14000"/>
            </a:srgbClr>
          </a:solidFill>
          <a:ln w="12700">
            <a:solidFill>
              <a:srgbClr val="A78B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milestones</a:t>
            </a:r>
            <a:endParaRPr lang="en-US" sz="1350" dirty="0"/>
          </a:p>
        </p:txBody>
      </p:sp>
      <p:sp>
        <p:nvSpPr>
          <p:cNvPr id="107" name="s107"/>
          <p:cNvSpPr/>
          <p:nvPr/>
        </p:nvSpPr>
        <p:spPr>
          <a:xfrm>
            <a:off x="6178601" y="4251960"/>
            <a:ext cx="2634844" cy="548640"/>
          </a:xfrm>
          <a:prstGeom prst="roundRect">
            <a:avLst>
              <a:gd name="adj" fmla="val 20000"/>
            </a:avLst>
          </a:prstGeom>
          <a:solidFill>
            <a:srgbClr val="A78BFA">
              <a:alpha val="14000"/>
            </a:srgbClr>
          </a:solidFill>
          <a:ln w="12700">
            <a:solidFill>
              <a:srgbClr val="A78B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epics and user stories</a:t>
            </a:r>
            <a:endParaRPr lang="en-US" sz="1350" dirty="0"/>
          </a:p>
        </p:txBody>
      </p:sp>
      <p:sp>
        <p:nvSpPr>
          <p:cNvPr id="108" name="s108"/>
          <p:cNvSpPr/>
          <p:nvPr/>
        </p:nvSpPr>
        <p:spPr>
          <a:xfrm>
            <a:off x="8996324" y="4251960"/>
            <a:ext cx="2634844" cy="548640"/>
          </a:xfrm>
          <a:prstGeom prst="roundRect">
            <a:avLst>
              <a:gd name="adj" fmla="val 20000"/>
            </a:avLst>
          </a:prstGeom>
          <a:solidFill>
            <a:srgbClr val="A78BFA">
              <a:alpha val="14000"/>
            </a:srgbClr>
          </a:solidFill>
          <a:ln w="12700">
            <a:solidFill>
              <a:srgbClr val="A78B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Definition of Ready</a:t>
            </a:r>
            <a:endParaRPr lang="en-US" sz="1350" dirty="0"/>
          </a:p>
        </p:txBody>
      </p:sp>
      <p:sp>
        <p:nvSpPr>
          <p:cNvPr id="109" name="s109"/>
          <p:cNvSpPr/>
          <p:nvPr/>
        </p:nvSpPr>
        <p:spPr>
          <a:xfrm>
            <a:off x="543154"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1</a:t>
            </a:r>
            <a:endParaRPr lang="en-US" sz="1300" dirty="0"/>
          </a:p>
        </p:txBody>
      </p:sp>
      <p:sp>
        <p:nvSpPr>
          <p:cNvPr id="110" name="s110"/>
          <p:cNvSpPr/>
          <p:nvPr/>
        </p:nvSpPr>
        <p:spPr>
          <a:xfrm>
            <a:off x="1659270" y="5669280"/>
            <a:ext cx="1042965" cy="457200"/>
          </a:xfrm>
          <a:prstGeom prst="roundRect">
            <a:avLst>
              <a:gd name="adj" fmla="val 20000"/>
            </a:avLst>
          </a:prstGeom>
          <a:solidFill>
            <a:srgbClr val="111B2E"/>
          </a:solidFill>
          <a:ln w="12700">
            <a:solidFill>
              <a:srgbClr val="FBBF24"/>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2</a:t>
            </a:r>
            <a:endParaRPr lang="en-US" sz="1300" dirty="0"/>
          </a:p>
        </p:txBody>
      </p:sp>
      <p:sp>
        <p:nvSpPr>
          <p:cNvPr id="111" name="s111"/>
          <p:cNvSpPr/>
          <p:nvPr/>
        </p:nvSpPr>
        <p:spPr>
          <a:xfrm>
            <a:off x="2775387" y="5669280"/>
            <a:ext cx="1042965" cy="457200"/>
          </a:xfrm>
          <a:prstGeom prst="roundRect">
            <a:avLst>
              <a:gd name="adj" fmla="val 20000"/>
            </a:avLst>
          </a:prstGeom>
          <a:solidFill>
            <a:srgbClr val="A78BFA"/>
          </a:solidFill>
          <a:ln w="19050">
            <a:solidFill>
              <a:srgbClr val="A78B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3</a:t>
            </a:r>
            <a:endParaRPr lang="en-US" sz="1300" dirty="0"/>
          </a:p>
        </p:txBody>
      </p:sp>
      <p:sp>
        <p:nvSpPr>
          <p:cNvPr id="112" name="s112"/>
          <p:cNvSpPr/>
          <p:nvPr/>
        </p:nvSpPr>
        <p:spPr>
          <a:xfrm>
            <a:off x="3891504"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4</a:t>
            </a:r>
            <a:endParaRPr lang="en-US" sz="1300" dirty="0"/>
          </a:p>
        </p:txBody>
      </p:sp>
      <p:sp>
        <p:nvSpPr>
          <p:cNvPr id="113" name="s113"/>
          <p:cNvSpPr/>
          <p:nvPr/>
        </p:nvSpPr>
        <p:spPr>
          <a:xfrm>
            <a:off x="5007620"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5</a:t>
            </a:r>
            <a:endParaRPr lang="en-US" sz="1300" dirty="0"/>
          </a:p>
        </p:txBody>
      </p:sp>
      <p:sp>
        <p:nvSpPr>
          <p:cNvPr id="114" name="s114"/>
          <p:cNvSpPr/>
          <p:nvPr/>
        </p:nvSpPr>
        <p:spPr>
          <a:xfrm>
            <a:off x="612373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6</a:t>
            </a:r>
            <a:endParaRPr lang="en-US" sz="1300" dirty="0"/>
          </a:p>
        </p:txBody>
      </p:sp>
      <p:sp>
        <p:nvSpPr>
          <p:cNvPr id="115" name="s115"/>
          <p:cNvSpPr/>
          <p:nvPr/>
        </p:nvSpPr>
        <p:spPr>
          <a:xfrm>
            <a:off x="723985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7</a:t>
            </a:r>
            <a:endParaRPr lang="en-US" sz="1300" dirty="0"/>
          </a:p>
        </p:txBody>
      </p:sp>
      <p:sp>
        <p:nvSpPr>
          <p:cNvPr id="116" name="s116"/>
          <p:cNvSpPr/>
          <p:nvPr/>
        </p:nvSpPr>
        <p:spPr>
          <a:xfrm>
            <a:off x="8355970"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8</a:t>
            </a:r>
            <a:endParaRPr lang="en-US" sz="1300" dirty="0"/>
          </a:p>
        </p:txBody>
      </p:sp>
      <p:sp>
        <p:nvSpPr>
          <p:cNvPr id="117" name="s117"/>
          <p:cNvSpPr/>
          <p:nvPr/>
        </p:nvSpPr>
        <p:spPr>
          <a:xfrm>
            <a:off x="947208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9</a:t>
            </a:r>
            <a:endParaRPr lang="en-US" sz="1300" dirty="0"/>
          </a:p>
        </p:txBody>
      </p:sp>
      <p:sp>
        <p:nvSpPr>
          <p:cNvPr id="118" name="s118"/>
          <p:cNvSpPr/>
          <p:nvPr/>
        </p:nvSpPr>
        <p:spPr>
          <a:xfrm>
            <a:off x="1058820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10</a:t>
            </a:r>
            <a:endParaRPr lang="en-US" sz="13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1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anim calcmode="lin" valueType="num">
                                      <p:cBhvr additive="base">
                                        <p:cTn id="15" dur="5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2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10" presetClass="entr" presetSubtype="0" fill="hold" grpId="0" nodeType="withEffect">
                                  <p:stCondLst>
                                    <p:cond delay="33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childTnLst>
                                </p:cTn>
                              </p:par>
                              <p:par>
                                <p:cTn id="23" presetID="42" presetClass="entr" presetSubtype="0" fill="hold" grpId="0" nodeType="withEffect">
                                  <p:stCondLst>
                                    <p:cond delay="44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55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42" presetClass="entr" presetSubtype="0" fill="hold" grpId="0" nodeType="withEffect">
                                  <p:stCondLst>
                                    <p:cond delay="66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par>
                                <p:cTn id="35" presetID="42" presetClass="entr" presetSubtype="0" fill="hold" grpId="0" nodeType="withEffect">
                                  <p:stCondLst>
                                    <p:cond delay="77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ppt_y</p:attrName>
                                        </p:attrNameLst>
                                      </p:cBhvr>
                                      <p:tavLst>
                                        <p:tav tm="0">
                                          <p:val>
                                            <p:strVal val="#ppt_y+0.06"/>
                                          </p:val>
                                        </p:tav>
                                        <p:tav tm="100000">
                                          <p:val>
                                            <p:strVal val="#ppt_y"/>
                                          </p:val>
                                        </p:tav>
                                      </p:tavLst>
                                    </p:anim>
                                  </p:childTnLst>
                                </p:cTn>
                              </p:par>
                              <p:par>
                                <p:cTn id="39" presetID="10" presetClass="entr" presetSubtype="0" fill="hold" grpId="0" nodeType="withEffect">
                                  <p:stCondLst>
                                    <p:cond delay="87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childTnLst>
                                </p:cTn>
                              </p:par>
                              <p:par>
                                <p:cTn id="42" presetID="10" presetClass="entr" presetSubtype="0" fill="hold" grpId="0" nodeType="withEffect">
                                  <p:stCondLst>
                                    <p:cond delay="870"/>
                                  </p:stCondLst>
                                  <p:childTnLst>
                                    <p:set>
                                      <p:cBhvr>
                                        <p:cTn id="43" dur="1" fill="hold">
                                          <p:stCondLst>
                                            <p:cond delay="0"/>
                                          </p:stCondLst>
                                        </p:cTn>
                                        <p:tgtEl>
                                          <p:spTgt spid="110"/>
                                        </p:tgtEl>
                                        <p:attrNameLst>
                                          <p:attrName>style.visibility</p:attrName>
                                        </p:attrNameLst>
                                      </p:cBhvr>
                                      <p:to>
                                        <p:strVal val="visible"/>
                                      </p:to>
                                    </p:set>
                                    <p:animEffect transition="in" filter="fade">
                                      <p:cBhvr>
                                        <p:cTn id="44" dur="500"/>
                                        <p:tgtEl>
                                          <p:spTgt spid="110"/>
                                        </p:tgtEl>
                                      </p:cBhvr>
                                    </p:animEffect>
                                  </p:childTnLst>
                                </p:cTn>
                              </p:par>
                              <p:par>
                                <p:cTn id="45" presetID="10" presetClass="entr" presetSubtype="0" fill="hold" grpId="0" nodeType="withEffect">
                                  <p:stCondLst>
                                    <p:cond delay="87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childTnLst>
                                </p:cTn>
                              </p:par>
                              <p:par>
                                <p:cTn id="48" presetID="10" presetClass="entr" presetSubtype="0" fill="hold" grpId="0" nodeType="withEffect">
                                  <p:stCondLst>
                                    <p:cond delay="870"/>
                                  </p:stCondLst>
                                  <p:childTnLst>
                                    <p:set>
                                      <p:cBhvr>
                                        <p:cTn id="49" dur="1" fill="hold">
                                          <p:stCondLst>
                                            <p:cond delay="0"/>
                                          </p:stCondLst>
                                        </p:cTn>
                                        <p:tgtEl>
                                          <p:spTgt spid="112"/>
                                        </p:tgtEl>
                                        <p:attrNameLst>
                                          <p:attrName>style.visibility</p:attrName>
                                        </p:attrNameLst>
                                      </p:cBhvr>
                                      <p:to>
                                        <p:strVal val="visible"/>
                                      </p:to>
                                    </p:set>
                                    <p:animEffect transition="in" filter="fade">
                                      <p:cBhvr>
                                        <p:cTn id="50" dur="500"/>
                                        <p:tgtEl>
                                          <p:spTgt spid="112"/>
                                        </p:tgtEl>
                                      </p:cBhvr>
                                    </p:animEffect>
                                  </p:childTnLst>
                                </p:cTn>
                              </p:par>
                              <p:par>
                                <p:cTn id="51" presetID="10" presetClass="entr" presetSubtype="0" fill="hold" grpId="0" nodeType="withEffect">
                                  <p:stCondLst>
                                    <p:cond delay="870"/>
                                  </p:stCondLst>
                                  <p:childTnLst>
                                    <p:set>
                                      <p:cBhvr>
                                        <p:cTn id="52" dur="1" fill="hold">
                                          <p:stCondLst>
                                            <p:cond delay="0"/>
                                          </p:stCondLst>
                                        </p:cTn>
                                        <p:tgtEl>
                                          <p:spTgt spid="113"/>
                                        </p:tgtEl>
                                        <p:attrNameLst>
                                          <p:attrName>style.visibility</p:attrName>
                                        </p:attrNameLst>
                                      </p:cBhvr>
                                      <p:to>
                                        <p:strVal val="visible"/>
                                      </p:to>
                                    </p:set>
                                    <p:animEffect transition="in" filter="fade">
                                      <p:cBhvr>
                                        <p:cTn id="53" dur="500"/>
                                        <p:tgtEl>
                                          <p:spTgt spid="113"/>
                                        </p:tgtEl>
                                      </p:cBhvr>
                                    </p:animEffect>
                                  </p:childTnLst>
                                </p:cTn>
                              </p:par>
                              <p:par>
                                <p:cTn id="54" presetID="10" presetClass="entr" presetSubtype="0" fill="hold" grpId="0" nodeType="withEffect">
                                  <p:stCondLst>
                                    <p:cond delay="870"/>
                                  </p:stCondLst>
                                  <p:childTnLst>
                                    <p:set>
                                      <p:cBhvr>
                                        <p:cTn id="55" dur="1" fill="hold">
                                          <p:stCondLst>
                                            <p:cond delay="0"/>
                                          </p:stCondLst>
                                        </p:cTn>
                                        <p:tgtEl>
                                          <p:spTgt spid="114"/>
                                        </p:tgtEl>
                                        <p:attrNameLst>
                                          <p:attrName>style.visibility</p:attrName>
                                        </p:attrNameLst>
                                      </p:cBhvr>
                                      <p:to>
                                        <p:strVal val="visible"/>
                                      </p:to>
                                    </p:set>
                                    <p:animEffect transition="in" filter="fade">
                                      <p:cBhvr>
                                        <p:cTn id="56" dur="500"/>
                                        <p:tgtEl>
                                          <p:spTgt spid="114"/>
                                        </p:tgtEl>
                                      </p:cBhvr>
                                    </p:animEffect>
                                  </p:childTnLst>
                                </p:cTn>
                              </p:par>
                              <p:par>
                                <p:cTn id="57" presetID="10" presetClass="entr" presetSubtype="0" fill="hold" grpId="0" nodeType="withEffect">
                                  <p:stCondLst>
                                    <p:cond delay="87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childTnLst>
                                </p:cTn>
                              </p:par>
                              <p:par>
                                <p:cTn id="60" presetID="10" presetClass="entr" presetSubtype="0" fill="hold" grpId="0" nodeType="withEffect">
                                  <p:stCondLst>
                                    <p:cond delay="870"/>
                                  </p:stCondLst>
                                  <p:childTnLst>
                                    <p:set>
                                      <p:cBhvr>
                                        <p:cTn id="61" dur="1" fill="hold">
                                          <p:stCondLst>
                                            <p:cond delay="0"/>
                                          </p:stCondLst>
                                        </p:cTn>
                                        <p:tgtEl>
                                          <p:spTgt spid="116"/>
                                        </p:tgtEl>
                                        <p:attrNameLst>
                                          <p:attrName>style.visibility</p:attrName>
                                        </p:attrNameLst>
                                      </p:cBhvr>
                                      <p:to>
                                        <p:strVal val="visible"/>
                                      </p:to>
                                    </p:set>
                                    <p:animEffect transition="in" filter="fade">
                                      <p:cBhvr>
                                        <p:cTn id="62" dur="500"/>
                                        <p:tgtEl>
                                          <p:spTgt spid="116"/>
                                        </p:tgtEl>
                                      </p:cBhvr>
                                    </p:animEffect>
                                  </p:childTnLst>
                                </p:cTn>
                              </p:par>
                              <p:par>
                                <p:cTn id="63" presetID="10" presetClass="entr" presetSubtype="0" fill="hold" grpId="0" nodeType="withEffect">
                                  <p:stCondLst>
                                    <p:cond delay="870"/>
                                  </p:stCondLst>
                                  <p:childTnLst>
                                    <p:set>
                                      <p:cBhvr>
                                        <p:cTn id="64" dur="1" fill="hold">
                                          <p:stCondLst>
                                            <p:cond delay="0"/>
                                          </p:stCondLst>
                                        </p:cTn>
                                        <p:tgtEl>
                                          <p:spTgt spid="117"/>
                                        </p:tgtEl>
                                        <p:attrNameLst>
                                          <p:attrName>style.visibility</p:attrName>
                                        </p:attrNameLst>
                                      </p:cBhvr>
                                      <p:to>
                                        <p:strVal val="visible"/>
                                      </p:to>
                                    </p:set>
                                    <p:animEffect transition="in" filter="fade">
                                      <p:cBhvr>
                                        <p:cTn id="65" dur="500"/>
                                        <p:tgtEl>
                                          <p:spTgt spid="117"/>
                                        </p:tgtEl>
                                      </p:cBhvr>
                                    </p:animEffect>
                                  </p:childTnLst>
                                </p:cTn>
                              </p:par>
                              <p:par>
                                <p:cTn id="66" presetID="10" presetClass="entr" presetSubtype="0" fill="hold" grpId="0" nodeType="withEffect">
                                  <p:stCondLst>
                                    <p:cond delay="870"/>
                                  </p:stCondLst>
                                  <p:childTnLst>
                                    <p:set>
                                      <p:cBhvr>
                                        <p:cTn id="67" dur="1" fill="hold">
                                          <p:stCondLst>
                                            <p:cond delay="0"/>
                                          </p:stCondLst>
                                        </p:cTn>
                                        <p:tgtEl>
                                          <p:spTgt spid="118"/>
                                        </p:tgtEl>
                                        <p:attrNameLst>
                                          <p:attrName>style.visibility</p:attrName>
                                        </p:attrNameLst>
                                      </p:cBhvr>
                                      <p:to>
                                        <p:strVal val="visible"/>
                                      </p:to>
                                    </p:set>
                                    <p:animEffect transition="in" filter="fade">
                                      <p:cBhvr>
                                        <p:cTn id="68" dur="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VISION</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Product Vision</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Direction and value, not a feature shopping list.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238</a:t>
            </a:r>
            <a:endParaRPr lang="en-US" sz="850" dirty="0"/>
          </a:p>
        </p:txBody>
      </p:sp>
      <p:sp>
        <p:nvSpPr>
          <p:cNvPr id="101" name="s101"/>
          <p:cNvSpPr/>
          <p:nvPr/>
        </p:nvSpPr>
        <p:spPr>
          <a:xfrm>
            <a:off x="543154" y="1965960"/>
            <a:ext cx="11088014" cy="1463040"/>
          </a:xfrm>
          <a:prstGeom prst="roundRect">
            <a:avLst>
              <a:gd name="adj" fmla="val 10000"/>
            </a:avLst>
          </a:prstGeom>
          <a:solidFill>
            <a:srgbClr val="FBBF24">
              <a:alpha val="10000"/>
            </a:srgbClr>
          </a:solidFill>
          <a:ln w="22225">
            <a:solidFill>
              <a:srgbClr val="FBBF24"/>
            </a:solidFill>
            <a:prstDash val="solid"/>
          </a:ln>
        </p:spPr>
        <p:txBody>
          <a:bodyPr wrap="square" lIns="1280160" tIns="91440" rIns="365760" bIns="91440" rtlCol="0" anchor="ctr">
            <a:noAutofit/>
          </a:bodyPr>
          <a:lstStyle/>
          <a:p>
            <a:pPr marL="0" indent="0" algn="l">
              <a:spcBef>
                <a:spcPts val="0"/>
              </a:spcBef>
              <a:spcAft>
                <a:spcPts val="600"/>
              </a:spcAft>
              <a:buNone/>
            </a:pPr>
            <a:r>
              <a:rPr lang="en-US" sz="1100" b="1" dirty="0">
                <a:solidFill>
                  <a:srgbClr val="FBBF24"/>
                </a:solidFill>
                <a:latin typeface="Segoe UI"/>
                <a:ea typeface="Segoe UI"/>
                <a:cs typeface="Segoe UI"/>
              </a:rPr>
              <a:t>CARE HOSPITAL PRODUCT VISION</a:t>
            </a:r>
            <a:endParaRPr lang="en-US" sz="1100" dirty="0"/>
          </a:p>
          <a:p>
            <a:pPr marL="0" indent="0" algn="l">
              <a:spcBef>
                <a:spcPts val="0"/>
              </a:spcBef>
              <a:spcAft>
                <a:spcPts val="0"/>
              </a:spcAft>
              <a:buNone/>
            </a:pPr>
            <a:r>
              <a:rPr lang="en-US" sz="2000" b="1" dirty="0">
                <a:solidFill>
                  <a:srgbClr val="FFFFFF"/>
                </a:solidFill>
                <a:latin typeface="Segoe UI"/>
                <a:ea typeface="Segoe UI"/>
                <a:cs typeface="Segoe UI"/>
              </a:rPr>
              <a:t>To reduce patient waiting time and help receptionists manage reliable doctor appointments from one system.</a:t>
            </a:r>
            <a:endParaRPr lang="en-US" sz="2000" dirty="0"/>
          </a:p>
        </p:txBody>
      </p:sp>
      <p:sp>
        <p:nvSpPr>
          <p:cNvPr id="102" name="s102"/>
          <p:cNvSpPr/>
          <p:nvPr/>
        </p:nvSpPr>
        <p:spPr>
          <a:xfrm>
            <a:off x="863194" y="2331720"/>
            <a:ext cx="731520" cy="73152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1038758" y="2507285"/>
            <a:ext cx="380390" cy="380390"/>
          </a:xfrm>
          <a:prstGeom prst="rect">
            <a:avLst/>
          </a:prstGeom>
        </p:spPr>
      </p:pic>
      <p:sp>
        <p:nvSpPr>
          <p:cNvPr id="104" name="s104"/>
          <p:cNvSpPr/>
          <p:nvPr/>
        </p:nvSpPr>
        <p:spPr>
          <a:xfrm>
            <a:off x="543154" y="3703320"/>
            <a:ext cx="5406847" cy="1874520"/>
          </a:xfrm>
          <a:prstGeom prst="roundRect">
            <a:avLst>
              <a:gd name="adj" fmla="val 10000"/>
            </a:avLst>
          </a:prstGeom>
          <a:solidFill>
            <a:srgbClr val="111B2E"/>
          </a:solidFill>
          <a:ln w="15875">
            <a:solidFill>
              <a:srgbClr val="F87171"/>
            </a:solidFill>
            <a:prstDash val="solid"/>
          </a:ln>
        </p:spPr>
        <p:txBody>
          <a:bodyPr wrap="square" lIns="182880" tIns="146304" rIns="164592" bIns="109728" rtlCol="0" anchor="t">
            <a:noAutofit/>
          </a:bodyPr>
          <a:lstStyle/>
          <a:p>
            <a:endParaRPr lang="en-US"/>
          </a:p>
        </p:txBody>
      </p:sp>
      <p:sp>
        <p:nvSpPr>
          <p:cNvPr id="105" name="s105"/>
          <p:cNvSpPr/>
          <p:nvPr/>
        </p:nvSpPr>
        <p:spPr>
          <a:xfrm>
            <a:off x="744322" y="3886200"/>
            <a:ext cx="420624" cy="420624"/>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6" name="img106"/>
          <p:cNvPicPr>
            <a:picLocks noChangeAspect="1"/>
          </p:cNvPicPr>
          <p:nvPr/>
        </p:nvPicPr>
        <p:blipFill>
          <a:blip r:embed="rId5"/>
          <a:stretch>
            <a:fillRect/>
          </a:stretch>
        </p:blipFill>
        <p:spPr>
          <a:xfrm>
            <a:off x="845271" y="3987150"/>
            <a:ext cx="218724" cy="218724"/>
          </a:xfrm>
          <a:prstGeom prst="rect">
            <a:avLst/>
          </a:prstGeom>
        </p:spPr>
      </p:pic>
      <p:sp>
        <p:nvSpPr>
          <p:cNvPr id="107" name="s107"/>
          <p:cNvSpPr txBox="1"/>
          <p:nvPr/>
        </p:nvSpPr>
        <p:spPr>
          <a:xfrm>
            <a:off x="1292962" y="3904488"/>
            <a:ext cx="4492447"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87171"/>
                </a:solidFill>
                <a:latin typeface="Segoe UI"/>
                <a:ea typeface="Segoe UI"/>
                <a:cs typeface="Segoe UI"/>
              </a:rPr>
              <a:t>FEATURE LIST (NOT A VISION)</a:t>
            </a:r>
            <a:endParaRPr lang="en-US" sz="1300" dirty="0"/>
          </a:p>
        </p:txBody>
      </p:sp>
      <p:sp>
        <p:nvSpPr>
          <p:cNvPr id="108" name="s108"/>
          <p:cNvSpPr txBox="1"/>
          <p:nvPr/>
        </p:nvSpPr>
        <p:spPr>
          <a:xfrm>
            <a:off x="771754" y="4480560"/>
            <a:ext cx="4949647" cy="96012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400" b="0" dirty="0">
                <a:solidFill>
                  <a:srgbClr val="E2E8F0"/>
                </a:solidFill>
                <a:latin typeface="Segoe UI"/>
                <a:ea typeface="Segoe UI"/>
                <a:cs typeface="Segoe UI"/>
              </a:rPr>
              <a:t>Appointments, invoices, pharmacy, laboratory…</a:t>
            </a:r>
            <a:endParaRPr lang="en-US" sz="1400" dirty="0"/>
          </a:p>
          <a:p>
            <a:pPr marL="0" indent="0" algn="l">
              <a:spcBef>
                <a:spcPts val="0"/>
              </a:spcBef>
              <a:spcAft>
                <a:spcPts val="500"/>
              </a:spcAft>
              <a:buNone/>
            </a:pPr>
            <a:r>
              <a:rPr lang="en-US" sz="1400" b="0" dirty="0">
                <a:solidFill>
                  <a:srgbClr val="E2E8F0"/>
                </a:solidFill>
                <a:latin typeface="Segoe UI"/>
                <a:ea typeface="Segoe UI"/>
                <a:cs typeface="Segoe UI"/>
              </a:rPr>
              <a:t>Tells us WHAT to build, not WHY or WHAT FIRST.</a:t>
            </a:r>
            <a:endParaRPr lang="en-US" sz="1400" dirty="0"/>
          </a:p>
        </p:txBody>
      </p:sp>
      <p:sp>
        <p:nvSpPr>
          <p:cNvPr id="109" name="s109"/>
          <p:cNvSpPr/>
          <p:nvPr/>
        </p:nvSpPr>
        <p:spPr>
          <a:xfrm>
            <a:off x="6224321" y="3703320"/>
            <a:ext cx="5406847" cy="1874520"/>
          </a:xfrm>
          <a:prstGeom prst="roundRect">
            <a:avLst>
              <a:gd name="adj" fmla="val 10000"/>
            </a:avLst>
          </a:prstGeom>
          <a:solidFill>
            <a:srgbClr val="111B2E"/>
          </a:solidFill>
          <a:ln w="15875">
            <a:solidFill>
              <a:srgbClr val="34D399"/>
            </a:solidFill>
            <a:prstDash val="solid"/>
          </a:ln>
        </p:spPr>
        <p:txBody>
          <a:bodyPr wrap="square" lIns="182880" tIns="146304" rIns="164592" bIns="109728" rtlCol="0" anchor="t">
            <a:noAutofit/>
          </a:bodyPr>
          <a:lstStyle/>
          <a:p>
            <a:endParaRPr lang="en-US"/>
          </a:p>
        </p:txBody>
      </p:sp>
      <p:sp>
        <p:nvSpPr>
          <p:cNvPr id="110" name="s110"/>
          <p:cNvSpPr/>
          <p:nvPr/>
        </p:nvSpPr>
        <p:spPr>
          <a:xfrm>
            <a:off x="6425489" y="3886200"/>
            <a:ext cx="420624" cy="420624"/>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11" name="img111"/>
          <p:cNvPicPr>
            <a:picLocks noChangeAspect="1"/>
          </p:cNvPicPr>
          <p:nvPr/>
        </p:nvPicPr>
        <p:blipFill>
          <a:blip r:embed="rId6"/>
          <a:stretch>
            <a:fillRect/>
          </a:stretch>
        </p:blipFill>
        <p:spPr>
          <a:xfrm>
            <a:off x="6526439" y="3987150"/>
            <a:ext cx="218724" cy="218724"/>
          </a:xfrm>
          <a:prstGeom prst="rect">
            <a:avLst/>
          </a:prstGeom>
        </p:spPr>
      </p:pic>
      <p:sp>
        <p:nvSpPr>
          <p:cNvPr id="112" name="s112"/>
          <p:cNvSpPr txBox="1"/>
          <p:nvPr/>
        </p:nvSpPr>
        <p:spPr>
          <a:xfrm>
            <a:off x="6974129" y="3904488"/>
            <a:ext cx="4492447"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VISION (DESIRED VALUE)</a:t>
            </a:r>
            <a:endParaRPr lang="en-US" sz="1300" dirty="0"/>
          </a:p>
        </p:txBody>
      </p:sp>
      <p:sp>
        <p:nvSpPr>
          <p:cNvPr id="113" name="s113"/>
          <p:cNvSpPr txBox="1"/>
          <p:nvPr/>
        </p:nvSpPr>
        <p:spPr>
          <a:xfrm>
            <a:off x="6452921" y="4480560"/>
            <a:ext cx="4949647" cy="96012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400" b="0" dirty="0">
                <a:solidFill>
                  <a:srgbClr val="E2E8F0"/>
                </a:solidFill>
                <a:latin typeface="Segoe UI"/>
                <a:ea typeface="Segoe UI"/>
                <a:cs typeface="Segoe UI"/>
              </a:rPr>
              <a:t>Improve the booking experience and reduce scheduling errors.</a:t>
            </a:r>
            <a:endParaRPr lang="en-US" sz="1400" dirty="0"/>
          </a:p>
          <a:p>
            <a:pPr marL="0" indent="0" algn="l">
              <a:spcBef>
                <a:spcPts val="0"/>
              </a:spcBef>
              <a:spcAft>
                <a:spcPts val="500"/>
              </a:spcAft>
              <a:buNone/>
            </a:pPr>
            <a:r>
              <a:rPr lang="en-US" sz="1400" b="0" dirty="0">
                <a:solidFill>
                  <a:srgbClr val="E2E8F0"/>
                </a:solidFill>
                <a:latin typeface="Segoe UI"/>
                <a:ea typeface="Segoe UI"/>
                <a:cs typeface="Segoe UI"/>
              </a:rPr>
              <a:t>Every backlog item can be judged against it.</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3" dur="500" decel="100000" fill="hold"/>
                                        <p:tgtEl>
                                          <p:spTgt spid="102"/>
                                        </p:tgtEl>
                                        <p:attrNameLst>
                                          <p:attrName>ppt_h</p:attrName>
                                        </p:attrNameLst>
                                      </p:cBhvr>
                                      <p:tavLst>
                                        <p:tav tm="0">
                                          <p:val>
                                            <p:strVal val="#ppt_h*0.55"/>
                                          </p:val>
                                        </p:tav>
                                        <p:tav tm="100000">
                                          <p:val>
                                            <p:strVal val="#ppt_h"/>
                                          </p:val>
                                        </p:tav>
                                      </p:tavLst>
                                    </p:anim>
                                    <p:animEffect transition="in" filter="fade">
                                      <p:cBhvr>
                                        <p:cTn id="14" dur="500"/>
                                        <p:tgtEl>
                                          <p:spTgt spid="102"/>
                                        </p:tgtEl>
                                      </p:cBhvr>
                                    </p:animEffect>
                                  </p:childTnLst>
                                </p:cTn>
                              </p:par>
                              <p:par>
                                <p:cTn id="15" presetID="53" presetClass="entr" presetSubtype="16" fill="hold" nodeType="withEffect">
                                  <p:stCondLst>
                                    <p:cond delay="0"/>
                                  </p:stCondLst>
                                  <p:childTnLst>
                                    <p:set>
                                      <p:cBhvr>
                                        <p:cTn id="16" dur="1" fill="hold">
                                          <p:stCondLst>
                                            <p:cond delay="0"/>
                                          </p:stCondLst>
                                        </p:cTn>
                                        <p:tgtEl>
                                          <p:spTgt spid="103"/>
                                        </p:tgtEl>
                                        <p:attrNameLst>
                                          <p:attrName>style.visibility</p:attrName>
                                        </p:attrNameLst>
                                      </p:cBhvr>
                                      <p:to>
                                        <p:strVal val="visible"/>
                                      </p:to>
                                    </p:set>
                                    <p:anim calcmode="lin" valueType="num">
                                      <p:cBhvr additive="base">
                                        <p:cTn id="17"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8" dur="500" decel="100000" fill="hold"/>
                                        <p:tgtEl>
                                          <p:spTgt spid="103"/>
                                        </p:tgtEl>
                                        <p:attrNameLst>
                                          <p:attrName>ppt_h</p:attrName>
                                        </p:attrNameLst>
                                      </p:cBhvr>
                                      <p:tavLst>
                                        <p:tav tm="0">
                                          <p:val>
                                            <p:strVal val="#ppt_h*0.55"/>
                                          </p:val>
                                        </p:tav>
                                        <p:tav tm="100000">
                                          <p:val>
                                            <p:strVal val="#ppt_h"/>
                                          </p:val>
                                        </p:tav>
                                      </p:tavLst>
                                    </p:anim>
                                    <p:animEffect transition="in" filter="fade">
                                      <p:cBhvr>
                                        <p:cTn id="19" dur="500"/>
                                        <p:tgtEl>
                                          <p:spTgt spid="103"/>
                                        </p:tgtEl>
                                      </p:cBhvr>
                                    </p:animEffect>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104"/>
                                        </p:tgtEl>
                                        <p:attrNameLst>
                                          <p:attrName>style.visibility</p:attrName>
                                        </p:attrNameLst>
                                      </p:cBhvr>
                                      <p:to>
                                        <p:strVal val="visible"/>
                                      </p:to>
                                    </p:set>
                                    <p:animEffect transition="in" filter="fade">
                                      <p:cBhvr>
                                        <p:cTn id="24" dur="500"/>
                                        <p:tgtEl>
                                          <p:spTgt spid="104"/>
                                        </p:tgtEl>
                                      </p:cBhvr>
                                    </p:animEffect>
                                    <p:anim calcmode="lin" valueType="num">
                                      <p:cBhvr additive="base">
                                        <p:cTn id="25" dur="500" decel="100000" fill="hold"/>
                                        <p:tgtEl>
                                          <p:spTgt spid="104"/>
                                        </p:tgtEl>
                                        <p:attrNameLst>
                                          <p:attrName>ppt_x</p:attrName>
                                        </p:attrNameLst>
                                      </p:cBhvr>
                                      <p:tavLst>
                                        <p:tav tm="0">
                                          <p:val>
                                            <p:strVal val="#ppt_x-0.05"/>
                                          </p:val>
                                        </p:tav>
                                        <p:tav tm="100000">
                                          <p:val>
                                            <p:strVal val="#ppt_x"/>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fade">
                                      <p:cBhvr>
                                        <p:cTn id="28" dur="500"/>
                                        <p:tgtEl>
                                          <p:spTgt spid="105"/>
                                        </p:tgtEl>
                                      </p:cBhvr>
                                    </p:animEffect>
                                    <p:anim calcmode="lin" valueType="num">
                                      <p:cBhvr additive="base">
                                        <p:cTn id="29" dur="500" decel="100000" fill="hold"/>
                                        <p:tgtEl>
                                          <p:spTgt spid="105"/>
                                        </p:tgtEl>
                                        <p:attrNameLst>
                                          <p:attrName>ppt_x</p:attrName>
                                        </p:attrNameLst>
                                      </p:cBhvr>
                                      <p:tavLst>
                                        <p:tav tm="0">
                                          <p:val>
                                            <p:strVal val="#ppt_x-0.05"/>
                                          </p:val>
                                        </p:tav>
                                        <p:tav tm="100000">
                                          <p:val>
                                            <p:strVal val="#ppt_x"/>
                                          </p:val>
                                        </p:tav>
                                      </p:tavLst>
                                    </p:anim>
                                  </p:childTnLst>
                                </p:cTn>
                              </p:par>
                              <p:par>
                                <p:cTn id="30" presetID="42" presetClass="entr" presetSubtype="0" fill="hold" nodeType="withEffect">
                                  <p:stCondLst>
                                    <p:cond delay="0"/>
                                  </p:stCondLst>
                                  <p:childTnLst>
                                    <p:set>
                                      <p:cBhvr>
                                        <p:cTn id="31" dur="1" fill="hold">
                                          <p:stCondLst>
                                            <p:cond delay="0"/>
                                          </p:stCondLst>
                                        </p:cTn>
                                        <p:tgtEl>
                                          <p:spTgt spid="106"/>
                                        </p:tgtEl>
                                        <p:attrNameLst>
                                          <p:attrName>style.visibility</p:attrName>
                                        </p:attrNameLst>
                                      </p:cBhvr>
                                      <p:to>
                                        <p:strVal val="visible"/>
                                      </p:to>
                                    </p:set>
                                    <p:animEffect transition="in" filter="fade">
                                      <p:cBhvr>
                                        <p:cTn id="32" dur="500"/>
                                        <p:tgtEl>
                                          <p:spTgt spid="106"/>
                                        </p:tgtEl>
                                      </p:cBhvr>
                                    </p:animEffect>
                                    <p:anim calcmode="lin" valueType="num">
                                      <p:cBhvr additive="base">
                                        <p:cTn id="33" dur="500" decel="100000" fill="hold"/>
                                        <p:tgtEl>
                                          <p:spTgt spid="106"/>
                                        </p:tgtEl>
                                        <p:attrNameLst>
                                          <p:attrName>ppt_x</p:attrName>
                                        </p:attrNameLst>
                                      </p:cBhvr>
                                      <p:tavLst>
                                        <p:tav tm="0">
                                          <p:val>
                                            <p:strVal val="#ppt_x-0.05"/>
                                          </p:val>
                                        </p:tav>
                                        <p:tav tm="100000">
                                          <p:val>
                                            <p:strVal val="#ppt_x"/>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07"/>
                                        </p:tgtEl>
                                        <p:attrNameLst>
                                          <p:attrName>style.visibility</p:attrName>
                                        </p:attrNameLst>
                                      </p:cBhvr>
                                      <p:to>
                                        <p:strVal val="visible"/>
                                      </p:to>
                                    </p:set>
                                    <p:animEffect transition="in" filter="fade">
                                      <p:cBhvr>
                                        <p:cTn id="36" dur="500"/>
                                        <p:tgtEl>
                                          <p:spTgt spid="107"/>
                                        </p:tgtEl>
                                      </p:cBhvr>
                                    </p:animEffect>
                                    <p:anim calcmode="lin" valueType="num">
                                      <p:cBhvr additive="base">
                                        <p:cTn id="37" dur="500" decel="100000" fill="hold"/>
                                        <p:tgtEl>
                                          <p:spTgt spid="107"/>
                                        </p:tgtEl>
                                        <p:attrNameLst>
                                          <p:attrName>ppt_x</p:attrName>
                                        </p:attrNameLst>
                                      </p:cBhvr>
                                      <p:tavLst>
                                        <p:tav tm="0">
                                          <p:val>
                                            <p:strVal val="#ppt_x-0.05"/>
                                          </p:val>
                                        </p:tav>
                                        <p:tav tm="100000">
                                          <p:val>
                                            <p:strVal val="#ppt_x"/>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108"/>
                                        </p:tgtEl>
                                        <p:attrNameLst>
                                          <p:attrName>style.visibility</p:attrName>
                                        </p:attrNameLst>
                                      </p:cBhvr>
                                      <p:to>
                                        <p:strVal val="visible"/>
                                      </p:to>
                                    </p:set>
                                    <p:animEffect transition="in" filter="fade">
                                      <p:cBhvr>
                                        <p:cTn id="40" dur="500"/>
                                        <p:tgtEl>
                                          <p:spTgt spid="108"/>
                                        </p:tgtEl>
                                      </p:cBhvr>
                                    </p:animEffect>
                                    <p:anim calcmode="lin" valueType="num">
                                      <p:cBhvr additive="base">
                                        <p:cTn id="41" dur="500" decel="100000" fill="hold"/>
                                        <p:tgtEl>
                                          <p:spTgt spid="108"/>
                                        </p:tgtEl>
                                        <p:attrNameLst>
                                          <p:attrName>ppt_x</p:attrName>
                                        </p:attrNameLst>
                                      </p:cBhvr>
                                      <p:tavLst>
                                        <p:tav tm="0">
                                          <p:val>
                                            <p:strVal val="#ppt_x-0.05"/>
                                          </p:val>
                                        </p:tav>
                                        <p:tav tm="100000">
                                          <p:val>
                                            <p:strVal val="#ppt_x"/>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grpId="0" nodeType="clickEffect">
                                  <p:stCondLst>
                                    <p:cond delay="0"/>
                                  </p:stCondLst>
                                  <p:childTnLst>
                                    <p:set>
                                      <p:cBhvr>
                                        <p:cTn id="45" dur="1" fill="hold">
                                          <p:stCondLst>
                                            <p:cond delay="0"/>
                                          </p:stCondLst>
                                        </p:cTn>
                                        <p:tgtEl>
                                          <p:spTgt spid="109"/>
                                        </p:tgtEl>
                                        <p:attrNameLst>
                                          <p:attrName>style.visibility</p:attrName>
                                        </p:attrNameLst>
                                      </p:cBhvr>
                                      <p:to>
                                        <p:strVal val="visible"/>
                                      </p:to>
                                    </p:set>
                                    <p:animEffect transition="in" filter="fade">
                                      <p:cBhvr>
                                        <p:cTn id="46" dur="500"/>
                                        <p:tgtEl>
                                          <p:spTgt spid="109"/>
                                        </p:tgtEl>
                                      </p:cBhvr>
                                    </p:animEffect>
                                    <p:anim calcmode="lin" valueType="num">
                                      <p:cBhvr additive="base">
                                        <p:cTn id="47" dur="500" decel="100000" fill="hold"/>
                                        <p:tgtEl>
                                          <p:spTgt spid="109"/>
                                        </p:tgtEl>
                                        <p:attrNameLst>
                                          <p:attrName>ppt_x</p:attrName>
                                        </p:attrNameLst>
                                      </p:cBhvr>
                                      <p:tavLst>
                                        <p:tav tm="0">
                                          <p:val>
                                            <p:strVal val="#ppt_x+0.05"/>
                                          </p:val>
                                        </p:tav>
                                        <p:tav tm="100000">
                                          <p:val>
                                            <p:strVal val="#ppt_x"/>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110"/>
                                        </p:tgtEl>
                                        <p:attrNameLst>
                                          <p:attrName>style.visibility</p:attrName>
                                        </p:attrNameLst>
                                      </p:cBhvr>
                                      <p:to>
                                        <p:strVal val="visible"/>
                                      </p:to>
                                    </p:set>
                                    <p:animEffect transition="in" filter="fade">
                                      <p:cBhvr>
                                        <p:cTn id="50" dur="500"/>
                                        <p:tgtEl>
                                          <p:spTgt spid="110"/>
                                        </p:tgtEl>
                                      </p:cBhvr>
                                    </p:animEffect>
                                    <p:anim calcmode="lin" valueType="num">
                                      <p:cBhvr additive="base">
                                        <p:cTn id="51" dur="500" decel="100000" fill="hold"/>
                                        <p:tgtEl>
                                          <p:spTgt spid="110"/>
                                        </p:tgtEl>
                                        <p:attrNameLst>
                                          <p:attrName>ppt_x</p:attrName>
                                        </p:attrNameLst>
                                      </p:cBhvr>
                                      <p:tavLst>
                                        <p:tav tm="0">
                                          <p:val>
                                            <p:strVal val="#ppt_x+0.05"/>
                                          </p:val>
                                        </p:tav>
                                        <p:tav tm="100000">
                                          <p:val>
                                            <p:strVal val="#ppt_x"/>
                                          </p:val>
                                        </p:tav>
                                      </p:tavLst>
                                    </p:anim>
                                  </p:childTnLst>
                                </p:cTn>
                              </p:par>
                              <p:par>
                                <p:cTn id="52" presetID="42" presetClass="entr" presetSubtype="0" fill="hold" nodeType="withEffect">
                                  <p:stCondLst>
                                    <p:cond delay="0"/>
                                  </p:stCondLst>
                                  <p:childTnLst>
                                    <p:set>
                                      <p:cBhvr>
                                        <p:cTn id="53" dur="1" fill="hold">
                                          <p:stCondLst>
                                            <p:cond delay="0"/>
                                          </p:stCondLst>
                                        </p:cTn>
                                        <p:tgtEl>
                                          <p:spTgt spid="111"/>
                                        </p:tgtEl>
                                        <p:attrNameLst>
                                          <p:attrName>style.visibility</p:attrName>
                                        </p:attrNameLst>
                                      </p:cBhvr>
                                      <p:to>
                                        <p:strVal val="visible"/>
                                      </p:to>
                                    </p:set>
                                    <p:animEffect transition="in" filter="fade">
                                      <p:cBhvr>
                                        <p:cTn id="54" dur="500"/>
                                        <p:tgtEl>
                                          <p:spTgt spid="111"/>
                                        </p:tgtEl>
                                      </p:cBhvr>
                                    </p:animEffect>
                                    <p:anim calcmode="lin" valueType="num">
                                      <p:cBhvr additive="base">
                                        <p:cTn id="55" dur="500" decel="100000" fill="hold"/>
                                        <p:tgtEl>
                                          <p:spTgt spid="111"/>
                                        </p:tgtEl>
                                        <p:attrNameLst>
                                          <p:attrName>ppt_x</p:attrName>
                                        </p:attrNameLst>
                                      </p:cBhvr>
                                      <p:tavLst>
                                        <p:tav tm="0">
                                          <p:val>
                                            <p:strVal val="#ppt_x+0.05"/>
                                          </p:val>
                                        </p:tav>
                                        <p:tav tm="100000">
                                          <p:val>
                                            <p:strVal val="#ppt_x"/>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112"/>
                                        </p:tgtEl>
                                        <p:attrNameLst>
                                          <p:attrName>style.visibility</p:attrName>
                                        </p:attrNameLst>
                                      </p:cBhvr>
                                      <p:to>
                                        <p:strVal val="visible"/>
                                      </p:to>
                                    </p:set>
                                    <p:animEffect transition="in" filter="fade">
                                      <p:cBhvr>
                                        <p:cTn id="58" dur="500"/>
                                        <p:tgtEl>
                                          <p:spTgt spid="112"/>
                                        </p:tgtEl>
                                      </p:cBhvr>
                                    </p:animEffect>
                                    <p:anim calcmode="lin" valueType="num">
                                      <p:cBhvr additive="base">
                                        <p:cTn id="59" dur="500" decel="100000" fill="hold"/>
                                        <p:tgtEl>
                                          <p:spTgt spid="112"/>
                                        </p:tgtEl>
                                        <p:attrNameLst>
                                          <p:attrName>ppt_x</p:attrName>
                                        </p:attrNameLst>
                                      </p:cBhvr>
                                      <p:tavLst>
                                        <p:tav tm="0">
                                          <p:val>
                                            <p:strVal val="#ppt_x+0.05"/>
                                          </p:val>
                                        </p:tav>
                                        <p:tav tm="100000">
                                          <p:val>
                                            <p:strVal val="#ppt_x"/>
                                          </p:val>
                                        </p:tav>
                                      </p:tavLst>
                                    </p:anim>
                                  </p:childTnLst>
                                </p:cTn>
                              </p:par>
                              <p:par>
                                <p:cTn id="60" presetID="42" presetClass="entr" presetSubtype="0" fill="hold" grpId="0" nodeType="withEffect">
                                  <p:stCondLst>
                                    <p:cond delay="0"/>
                                  </p:stCondLst>
                                  <p:childTnLst>
                                    <p:set>
                                      <p:cBhvr>
                                        <p:cTn id="61" dur="1" fill="hold">
                                          <p:stCondLst>
                                            <p:cond delay="0"/>
                                          </p:stCondLst>
                                        </p:cTn>
                                        <p:tgtEl>
                                          <p:spTgt spid="113"/>
                                        </p:tgtEl>
                                        <p:attrNameLst>
                                          <p:attrName>style.visibility</p:attrName>
                                        </p:attrNameLst>
                                      </p:cBhvr>
                                      <p:to>
                                        <p:strVal val="visible"/>
                                      </p:to>
                                    </p:set>
                                    <p:animEffect transition="in" filter="fade">
                                      <p:cBhvr>
                                        <p:cTn id="62" dur="500"/>
                                        <p:tgtEl>
                                          <p:spTgt spid="113"/>
                                        </p:tgtEl>
                                      </p:cBhvr>
                                    </p:animEffect>
                                    <p:anim calcmode="lin" valueType="num">
                                      <p:cBhvr additive="base">
                                        <p:cTn id="63" dur="500" decel="100000" fill="hold"/>
                                        <p:tgtEl>
                                          <p:spTgt spid="113"/>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7" grpId="0" animBg="1"/>
      <p:bldP spid="108" grpId="0" animBg="1"/>
      <p:bldP spid="109" grpId="0" animBg="1"/>
      <p:bldP spid="110" grpId="0" animBg="1"/>
      <p:bldP spid="112" grpId="0" animBg="1"/>
      <p:bldP spid="113"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NEEDS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First List of Product Needs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Sticky notes become an ordered, evolving list.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239</a:t>
            </a:r>
            <a:endParaRPr lang="en-US" sz="850" dirty="0"/>
          </a:p>
        </p:txBody>
      </p:sp>
      <p:sp>
        <p:nvSpPr>
          <p:cNvPr id="101" name="s101"/>
          <p:cNvSpPr/>
          <p:nvPr/>
        </p:nvSpPr>
        <p:spPr>
          <a:xfrm>
            <a:off x="7360920" y="1920240"/>
            <a:ext cx="4270248" cy="3840480"/>
          </a:xfrm>
          <a:prstGeom prst="roundRect">
            <a:avLst>
              <a:gd name="adj" fmla="val 6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02" name="s102"/>
          <p:cNvSpPr txBox="1"/>
          <p:nvPr/>
        </p:nvSpPr>
        <p:spPr>
          <a:xfrm>
            <a:off x="7543800" y="1965960"/>
            <a:ext cx="27432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BBF24"/>
                </a:solidFill>
                <a:latin typeface="Segoe UI"/>
                <a:ea typeface="Segoe UI"/>
                <a:cs typeface="Segoe UI"/>
              </a:rPr>
              <a:t>PRODUCT BACKLOG · ordered</a:t>
            </a:r>
            <a:endParaRPr lang="en-US" sz="1050" dirty="0"/>
          </a:p>
        </p:txBody>
      </p:sp>
      <p:sp>
        <p:nvSpPr>
          <p:cNvPr id="103" name="s103"/>
          <p:cNvSpPr/>
          <p:nvPr/>
        </p:nvSpPr>
        <p:spPr>
          <a:xfrm rot="21360000">
            <a:off x="680314" y="2011680"/>
            <a:ext cx="1298448" cy="786384"/>
          </a:xfrm>
          <a:prstGeom prst="roundRect">
            <a:avLst>
              <a:gd name="adj" fmla="val 6000"/>
            </a:avLst>
          </a:prstGeom>
          <a:solidFill>
            <a:srgbClr val="FBBF24">
              <a:alpha val="22000"/>
            </a:srgbClr>
          </a:solidFill>
          <a:ln w="12700">
            <a:solidFill>
              <a:srgbClr val="FBBF24">
                <a:alpha val="70000"/>
              </a:srgbClr>
            </a:solidFill>
            <a:prstDash val="solid"/>
          </a:ln>
          <a:effectLst>
            <a:outerShdw blurRad="190500" dist="38100" dir="5400000" algn="t" rotWithShape="0">
              <a:srgbClr val="000000">
                <a:alpha val="45000"/>
              </a:srgbClr>
            </a:outerShdw>
          </a:effectLst>
        </p:spPr>
        <p:txBody>
          <a:bodyPr wrap="square" lIns="54864" tIns="36576" rIns="54864" bIns="36576"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Patient registration</a:t>
            </a:r>
            <a:endParaRPr lang="en-US" sz="1150" dirty="0"/>
          </a:p>
        </p:txBody>
      </p:sp>
      <p:sp>
        <p:nvSpPr>
          <p:cNvPr id="104" name="s104"/>
          <p:cNvSpPr/>
          <p:nvPr/>
        </p:nvSpPr>
        <p:spPr>
          <a:xfrm rot="180000">
            <a:off x="2161642" y="2121408"/>
            <a:ext cx="1298448" cy="786384"/>
          </a:xfrm>
          <a:prstGeom prst="roundRect">
            <a:avLst>
              <a:gd name="adj" fmla="val 6000"/>
            </a:avLst>
          </a:prstGeom>
          <a:solidFill>
            <a:srgbClr val="F472B6">
              <a:alpha val="22000"/>
            </a:srgbClr>
          </a:solidFill>
          <a:ln w="12700">
            <a:solidFill>
              <a:srgbClr val="F472B6">
                <a:alpha val="70000"/>
              </a:srgbClr>
            </a:solidFill>
            <a:prstDash val="solid"/>
          </a:ln>
          <a:effectLst>
            <a:outerShdw blurRad="190500" dist="38100" dir="5400000" algn="t" rotWithShape="0">
              <a:srgbClr val="000000">
                <a:alpha val="45000"/>
              </a:srgbClr>
            </a:outerShdw>
          </a:effectLst>
        </p:spPr>
        <p:txBody>
          <a:bodyPr wrap="square" lIns="54864" tIns="36576" rIns="54864" bIns="36576"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Doctor schedules</a:t>
            </a:r>
            <a:endParaRPr lang="en-US" sz="1150" dirty="0"/>
          </a:p>
        </p:txBody>
      </p:sp>
      <p:sp>
        <p:nvSpPr>
          <p:cNvPr id="105" name="s105"/>
          <p:cNvSpPr/>
          <p:nvPr/>
        </p:nvSpPr>
        <p:spPr>
          <a:xfrm rot="21480000">
            <a:off x="3642970" y="2011680"/>
            <a:ext cx="1298448" cy="786384"/>
          </a:xfrm>
          <a:prstGeom prst="roundRect">
            <a:avLst>
              <a:gd name="adj" fmla="val 6000"/>
            </a:avLst>
          </a:prstGeom>
          <a:solidFill>
            <a:srgbClr val="13D0F7">
              <a:alpha val="22000"/>
            </a:srgbClr>
          </a:solidFill>
          <a:ln w="12700">
            <a:solidFill>
              <a:srgbClr val="13D0F7">
                <a:alpha val="70000"/>
              </a:srgbClr>
            </a:solidFill>
            <a:prstDash val="solid"/>
          </a:ln>
          <a:effectLst>
            <a:outerShdw blurRad="190500" dist="38100" dir="5400000" algn="t" rotWithShape="0">
              <a:srgbClr val="000000">
                <a:alpha val="45000"/>
              </a:srgbClr>
            </a:outerShdw>
          </a:effectLst>
        </p:spPr>
        <p:txBody>
          <a:bodyPr wrap="square" lIns="54864" tIns="36576" rIns="54864" bIns="36576"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Book appointments</a:t>
            </a:r>
            <a:endParaRPr lang="en-US" sz="1150" dirty="0"/>
          </a:p>
        </p:txBody>
      </p:sp>
      <p:sp>
        <p:nvSpPr>
          <p:cNvPr id="106" name="s106"/>
          <p:cNvSpPr/>
          <p:nvPr/>
        </p:nvSpPr>
        <p:spPr>
          <a:xfrm rot="300000">
            <a:off x="5124298" y="2121408"/>
            <a:ext cx="1298448" cy="786384"/>
          </a:xfrm>
          <a:prstGeom prst="roundRect">
            <a:avLst>
              <a:gd name="adj" fmla="val 6000"/>
            </a:avLst>
          </a:prstGeom>
          <a:solidFill>
            <a:srgbClr val="34D399">
              <a:alpha val="22000"/>
            </a:srgbClr>
          </a:solidFill>
          <a:ln w="12700">
            <a:solidFill>
              <a:srgbClr val="34D399">
                <a:alpha val="70000"/>
              </a:srgbClr>
            </a:solidFill>
            <a:prstDash val="solid"/>
          </a:ln>
          <a:effectLst>
            <a:outerShdw blurRad="190500" dist="38100" dir="5400000" algn="t" rotWithShape="0">
              <a:srgbClr val="000000">
                <a:alpha val="45000"/>
              </a:srgbClr>
            </a:outerShdw>
          </a:effectLst>
        </p:spPr>
        <p:txBody>
          <a:bodyPr wrap="square" lIns="54864" tIns="36576" rIns="54864" bIns="36576"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Cancel</a:t>
            </a:r>
            <a:endParaRPr lang="en-US" sz="1150" dirty="0"/>
          </a:p>
        </p:txBody>
      </p:sp>
      <p:sp>
        <p:nvSpPr>
          <p:cNvPr id="107" name="s107"/>
          <p:cNvSpPr/>
          <p:nvPr/>
        </p:nvSpPr>
        <p:spPr>
          <a:xfrm rot="21420000">
            <a:off x="908914" y="3090672"/>
            <a:ext cx="1298448" cy="786384"/>
          </a:xfrm>
          <a:prstGeom prst="roundRect">
            <a:avLst>
              <a:gd name="adj" fmla="val 6000"/>
            </a:avLst>
          </a:prstGeom>
          <a:solidFill>
            <a:srgbClr val="A78BFA">
              <a:alpha val="22000"/>
            </a:srgbClr>
          </a:solidFill>
          <a:ln w="12700">
            <a:solidFill>
              <a:srgbClr val="A78BFA">
                <a:alpha val="70000"/>
              </a:srgbClr>
            </a:solidFill>
            <a:prstDash val="solid"/>
          </a:ln>
          <a:effectLst>
            <a:outerShdw blurRad="190500" dist="38100" dir="5400000" algn="t" rotWithShape="0">
              <a:srgbClr val="000000">
                <a:alpha val="45000"/>
              </a:srgbClr>
            </a:outerShdw>
          </a:effectLst>
        </p:spPr>
        <p:txBody>
          <a:bodyPr wrap="square" lIns="54864" tIns="36576" rIns="54864" bIns="36576"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Reschedule</a:t>
            </a:r>
            <a:endParaRPr lang="en-US" sz="1150" dirty="0"/>
          </a:p>
        </p:txBody>
      </p:sp>
      <p:sp>
        <p:nvSpPr>
          <p:cNvPr id="108" name="s108"/>
          <p:cNvSpPr/>
          <p:nvPr/>
        </p:nvSpPr>
        <p:spPr>
          <a:xfrm rot="120000">
            <a:off x="2390242" y="3200400"/>
            <a:ext cx="1298448" cy="786384"/>
          </a:xfrm>
          <a:prstGeom prst="roundRect">
            <a:avLst>
              <a:gd name="adj" fmla="val 6000"/>
            </a:avLst>
          </a:prstGeom>
          <a:solidFill>
            <a:srgbClr val="F0A98B">
              <a:alpha val="22000"/>
            </a:srgbClr>
          </a:solidFill>
          <a:ln w="12700">
            <a:solidFill>
              <a:srgbClr val="F0A98B">
                <a:alpha val="70000"/>
              </a:srgbClr>
            </a:solidFill>
            <a:prstDash val="solid"/>
          </a:ln>
          <a:effectLst>
            <a:outerShdw blurRad="190500" dist="38100" dir="5400000" algn="t" rotWithShape="0">
              <a:srgbClr val="000000">
                <a:alpha val="45000"/>
              </a:srgbClr>
            </a:outerShdw>
          </a:effectLst>
        </p:spPr>
        <p:txBody>
          <a:bodyPr wrap="square" lIns="54864" tIns="36576" rIns="54864" bIns="36576"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Medical records</a:t>
            </a:r>
            <a:endParaRPr lang="en-US" sz="1150" dirty="0"/>
          </a:p>
        </p:txBody>
      </p:sp>
      <p:sp>
        <p:nvSpPr>
          <p:cNvPr id="109" name="s109"/>
          <p:cNvSpPr/>
          <p:nvPr/>
        </p:nvSpPr>
        <p:spPr>
          <a:xfrm rot="240000">
            <a:off x="3871570" y="3090672"/>
            <a:ext cx="1298448" cy="786384"/>
          </a:xfrm>
          <a:prstGeom prst="roundRect">
            <a:avLst>
              <a:gd name="adj" fmla="val 6000"/>
            </a:avLst>
          </a:prstGeom>
          <a:solidFill>
            <a:srgbClr val="FBBF24">
              <a:alpha val="22000"/>
            </a:srgbClr>
          </a:solidFill>
          <a:ln w="12700">
            <a:solidFill>
              <a:srgbClr val="FBBF24">
                <a:alpha val="70000"/>
              </a:srgbClr>
            </a:solidFill>
            <a:prstDash val="solid"/>
          </a:ln>
          <a:effectLst>
            <a:outerShdw blurRad="190500" dist="38100" dir="5400000" algn="t" rotWithShape="0">
              <a:srgbClr val="000000">
                <a:alpha val="45000"/>
              </a:srgbClr>
            </a:outerShdw>
          </a:effectLst>
        </p:spPr>
        <p:txBody>
          <a:bodyPr wrap="square" lIns="54864" tIns="36576" rIns="54864" bIns="36576"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Billing</a:t>
            </a:r>
            <a:endParaRPr lang="en-US" sz="1150" dirty="0"/>
          </a:p>
        </p:txBody>
      </p:sp>
      <p:sp>
        <p:nvSpPr>
          <p:cNvPr id="110" name="s110"/>
          <p:cNvSpPr/>
          <p:nvPr/>
        </p:nvSpPr>
        <p:spPr>
          <a:xfrm rot="21300000">
            <a:off x="5352898" y="3200400"/>
            <a:ext cx="1298448" cy="786384"/>
          </a:xfrm>
          <a:prstGeom prst="roundRect">
            <a:avLst>
              <a:gd name="adj" fmla="val 6000"/>
            </a:avLst>
          </a:prstGeom>
          <a:solidFill>
            <a:srgbClr val="F472B6">
              <a:alpha val="22000"/>
            </a:srgbClr>
          </a:solidFill>
          <a:ln w="12700">
            <a:solidFill>
              <a:srgbClr val="F472B6">
                <a:alpha val="70000"/>
              </a:srgbClr>
            </a:solidFill>
            <a:prstDash val="solid"/>
          </a:ln>
          <a:effectLst>
            <a:outerShdw blurRad="190500" dist="38100" dir="5400000" algn="t" rotWithShape="0">
              <a:srgbClr val="000000">
                <a:alpha val="45000"/>
              </a:srgbClr>
            </a:outerShdw>
          </a:effectLst>
        </p:spPr>
        <p:txBody>
          <a:bodyPr wrap="square" lIns="54864" tIns="36576" rIns="54864" bIns="36576"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Pharmacy</a:t>
            </a:r>
            <a:endParaRPr lang="en-US" sz="1150" dirty="0"/>
          </a:p>
        </p:txBody>
      </p:sp>
      <p:sp>
        <p:nvSpPr>
          <p:cNvPr id="111" name="s111"/>
          <p:cNvSpPr/>
          <p:nvPr/>
        </p:nvSpPr>
        <p:spPr>
          <a:xfrm rot="120000">
            <a:off x="680314" y="4169664"/>
            <a:ext cx="1298448" cy="786384"/>
          </a:xfrm>
          <a:prstGeom prst="roundRect">
            <a:avLst>
              <a:gd name="adj" fmla="val 6000"/>
            </a:avLst>
          </a:prstGeom>
          <a:solidFill>
            <a:srgbClr val="13D0F7">
              <a:alpha val="22000"/>
            </a:srgbClr>
          </a:solidFill>
          <a:ln w="12700">
            <a:solidFill>
              <a:srgbClr val="13D0F7">
                <a:alpha val="70000"/>
              </a:srgbClr>
            </a:solidFill>
            <a:prstDash val="solid"/>
          </a:ln>
          <a:effectLst>
            <a:outerShdw blurRad="190500" dist="38100" dir="5400000" algn="t" rotWithShape="0">
              <a:srgbClr val="000000">
                <a:alpha val="45000"/>
              </a:srgbClr>
            </a:outerShdw>
          </a:effectLst>
        </p:spPr>
        <p:txBody>
          <a:bodyPr wrap="square" lIns="54864" tIns="36576" rIns="54864" bIns="36576"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Laboratory</a:t>
            </a:r>
            <a:endParaRPr lang="en-US" sz="1150" dirty="0"/>
          </a:p>
        </p:txBody>
      </p:sp>
      <p:sp>
        <p:nvSpPr>
          <p:cNvPr id="112" name="s112"/>
          <p:cNvSpPr/>
          <p:nvPr/>
        </p:nvSpPr>
        <p:spPr>
          <a:xfrm rot="21480000">
            <a:off x="2161642" y="4279392"/>
            <a:ext cx="1298448" cy="786384"/>
          </a:xfrm>
          <a:prstGeom prst="roundRect">
            <a:avLst>
              <a:gd name="adj" fmla="val 6000"/>
            </a:avLst>
          </a:prstGeom>
          <a:solidFill>
            <a:srgbClr val="34D399">
              <a:alpha val="22000"/>
            </a:srgbClr>
          </a:solidFill>
          <a:ln w="12700">
            <a:solidFill>
              <a:srgbClr val="34D399">
                <a:alpha val="70000"/>
              </a:srgbClr>
            </a:solidFill>
            <a:prstDash val="solid"/>
          </a:ln>
          <a:effectLst>
            <a:outerShdw blurRad="190500" dist="38100" dir="5400000" algn="t" rotWithShape="0">
              <a:srgbClr val="000000">
                <a:alpha val="45000"/>
              </a:srgbClr>
            </a:outerShdw>
          </a:effectLst>
        </p:spPr>
        <p:txBody>
          <a:bodyPr wrap="square" lIns="54864" tIns="36576" rIns="54864" bIns="36576"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Reports</a:t>
            </a:r>
            <a:endParaRPr lang="en-US" sz="1150" dirty="0"/>
          </a:p>
        </p:txBody>
      </p:sp>
      <p:sp>
        <p:nvSpPr>
          <p:cNvPr id="113" name="s113"/>
          <p:cNvSpPr/>
          <p:nvPr/>
        </p:nvSpPr>
        <p:spPr>
          <a:xfrm rot="180000">
            <a:off x="3642970" y="4169664"/>
            <a:ext cx="1298448" cy="786384"/>
          </a:xfrm>
          <a:prstGeom prst="roundRect">
            <a:avLst>
              <a:gd name="adj" fmla="val 6000"/>
            </a:avLst>
          </a:prstGeom>
          <a:solidFill>
            <a:srgbClr val="A78BFA">
              <a:alpha val="22000"/>
            </a:srgbClr>
          </a:solidFill>
          <a:ln w="12700">
            <a:solidFill>
              <a:srgbClr val="A78BFA">
                <a:alpha val="70000"/>
              </a:srgbClr>
            </a:solidFill>
            <a:prstDash val="solid"/>
          </a:ln>
          <a:effectLst>
            <a:outerShdw blurRad="190500" dist="38100" dir="5400000" algn="t" rotWithShape="0">
              <a:srgbClr val="000000">
                <a:alpha val="45000"/>
              </a:srgbClr>
            </a:outerShdw>
          </a:effectLst>
        </p:spPr>
        <p:txBody>
          <a:bodyPr wrap="square" lIns="54864" tIns="36576" rIns="54864" bIns="36576"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Permissions</a:t>
            </a:r>
            <a:endParaRPr lang="en-US" sz="1150" dirty="0"/>
          </a:p>
        </p:txBody>
      </p:sp>
      <p:sp>
        <p:nvSpPr>
          <p:cNvPr id="114" name="s114"/>
          <p:cNvSpPr/>
          <p:nvPr/>
        </p:nvSpPr>
        <p:spPr>
          <a:xfrm rot="21360000">
            <a:off x="5124298" y="4279392"/>
            <a:ext cx="1298448" cy="786384"/>
          </a:xfrm>
          <a:prstGeom prst="roundRect">
            <a:avLst>
              <a:gd name="adj" fmla="val 6000"/>
            </a:avLst>
          </a:prstGeom>
          <a:solidFill>
            <a:srgbClr val="F0A98B">
              <a:alpha val="22000"/>
            </a:srgbClr>
          </a:solidFill>
          <a:ln w="12700">
            <a:solidFill>
              <a:srgbClr val="F0A98B">
                <a:alpha val="70000"/>
              </a:srgbClr>
            </a:solidFill>
            <a:prstDash val="solid"/>
          </a:ln>
          <a:effectLst>
            <a:outerShdw blurRad="190500" dist="38100" dir="5400000" algn="t" rotWithShape="0">
              <a:srgbClr val="000000">
                <a:alpha val="45000"/>
              </a:srgbClr>
            </a:outerShdw>
          </a:effectLst>
        </p:spPr>
        <p:txBody>
          <a:bodyPr wrap="square" lIns="54864" tIns="36576" rIns="54864" bIns="36576"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SMS reminders</a:t>
            </a:r>
            <a:endParaRPr lang="en-US" sz="1150" dirty="0"/>
          </a:p>
        </p:txBody>
      </p:sp>
      <p:sp>
        <p:nvSpPr>
          <p:cNvPr id="115" name="s115"/>
          <p:cNvSpPr/>
          <p:nvPr/>
        </p:nvSpPr>
        <p:spPr>
          <a:xfrm>
            <a:off x="543154" y="5394960"/>
            <a:ext cx="6720840" cy="685800"/>
          </a:xfrm>
          <a:prstGeom prst="roundRect">
            <a:avLst>
              <a:gd name="adj" fmla="val 12000"/>
            </a:avLst>
          </a:prstGeom>
          <a:solidFill>
            <a:srgbClr val="111B2E"/>
          </a:solidFill>
          <a:ln w="12700">
            <a:solidFill>
              <a:srgbClr val="FBBF24"/>
            </a:solidFill>
            <a:prstDash val="solid"/>
          </a:ln>
        </p:spPr>
        <p:txBody>
          <a:bodyPr wrap="square" lIns="228600" tIns="36576" rIns="182880" bIns="36576" rtlCol="0" anchor="ctr">
            <a:noAutofit/>
          </a:bodyPr>
          <a:lstStyle/>
          <a:p>
            <a:pPr marL="0" indent="0" algn="l">
              <a:spcBef>
                <a:spcPts val="0"/>
              </a:spcBef>
              <a:spcAft>
                <a:spcPts val="0"/>
              </a:spcAft>
              <a:buNone/>
            </a:pPr>
            <a:r>
              <a:rPr lang="en-US" sz="1150" b="1" dirty="0">
                <a:solidFill>
                  <a:srgbClr val="FBBF24"/>
                </a:solidFill>
                <a:latin typeface="Segoe UI"/>
                <a:ea typeface="Segoe UI"/>
                <a:cs typeface="Segoe UI"/>
              </a:rPr>
              <a:t>Product Backlog  </a:t>
            </a:r>
            <a:r>
              <a:rPr lang="en-US" sz="1150" b="0" dirty="0">
                <a:solidFill>
                  <a:srgbClr val="E2E8F0"/>
                </a:solidFill>
                <a:latin typeface="Segoe UI"/>
                <a:ea typeface="Segoe UI"/>
                <a:cs typeface="Segoe UI"/>
              </a:rPr>
              <a:t>an ordered, evolving list of everything that may be needed: features, bugs, improvements, tech work, security, debt, research. Not a fixed contract.</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3"/>
                                        </p:tgtEl>
                                        <p:attrNameLst>
                                          <p:attrName>style.visibility</p:attrName>
                                        </p:attrNameLst>
                                      </p:cBhvr>
                                      <p:to>
                                        <p:strVal val="visible"/>
                                      </p:to>
                                    </p:set>
                                    <p:anim calcmode="lin" valueType="num">
                                      <p:cBhvr additive="base">
                                        <p:cTn id="7" dur="350" decel="100000" fill="hold"/>
                                        <p:tgtEl>
                                          <p:spTgt spid="103"/>
                                        </p:tgtEl>
                                        <p:attrNameLst>
                                          <p:attrName>ppt_w</p:attrName>
                                        </p:attrNameLst>
                                      </p:cBhvr>
                                      <p:tavLst>
                                        <p:tav tm="0">
                                          <p:val>
                                            <p:strVal val="#ppt_w*0.3"/>
                                          </p:val>
                                        </p:tav>
                                        <p:tav tm="100000">
                                          <p:val>
                                            <p:strVal val="#ppt_w*1.08"/>
                                          </p:val>
                                        </p:tav>
                                      </p:tavLst>
                                    </p:anim>
                                    <p:anim calcmode="lin" valueType="num">
                                      <p:cBhvr additive="base">
                                        <p:cTn id="8" dur="350" decel="100000" fill="hold"/>
                                        <p:tgtEl>
                                          <p:spTgt spid="103"/>
                                        </p:tgtEl>
                                        <p:attrNameLst>
                                          <p:attrName>ppt_h</p:attrName>
                                        </p:attrNameLst>
                                      </p:cBhvr>
                                      <p:tavLst>
                                        <p:tav tm="0">
                                          <p:val>
                                            <p:strVal val="#ppt_h*0.3"/>
                                          </p:val>
                                        </p:tav>
                                        <p:tav tm="100000">
                                          <p:val>
                                            <p:strVal val="#ppt_h*1.08"/>
                                          </p:val>
                                        </p:tav>
                                      </p:tavLst>
                                    </p:anim>
                                    <p:animEffect transition="in" filter="fade">
                                      <p:cBhvr>
                                        <p:cTn id="9" dur="175"/>
                                        <p:tgtEl>
                                          <p:spTgt spid="103"/>
                                        </p:tgtEl>
                                      </p:cBhvr>
                                    </p:animEffect>
                                    <p:anim calcmode="lin" valueType="num">
                                      <p:cBhvr additive="base">
                                        <p:cTn id="10" dur="160" fill="hold">
                                          <p:stCondLst>
                                            <p:cond delay="350"/>
                                          </p:stCondLst>
                                        </p:cTn>
                                        <p:tgtEl>
                                          <p:spTgt spid="103"/>
                                        </p:tgtEl>
                                        <p:attrNameLst>
                                          <p:attrName>ppt_w</p:attrName>
                                        </p:attrNameLst>
                                      </p:cBhvr>
                                      <p:tavLst>
                                        <p:tav tm="0">
                                          <p:val>
                                            <p:strVal val="#ppt_w*1.08"/>
                                          </p:val>
                                        </p:tav>
                                        <p:tav tm="100000">
                                          <p:val>
                                            <p:strVal val="#ppt_w"/>
                                          </p:val>
                                        </p:tav>
                                      </p:tavLst>
                                    </p:anim>
                                    <p:anim calcmode="lin" valueType="num">
                                      <p:cBhvr additive="base">
                                        <p:cTn id="11" dur="160" fill="hold">
                                          <p:stCondLst>
                                            <p:cond delay="350"/>
                                          </p:stCondLst>
                                        </p:cTn>
                                        <p:tgtEl>
                                          <p:spTgt spid="103"/>
                                        </p:tgtEl>
                                        <p:attrNameLst>
                                          <p:attrName>ppt_h</p:attrName>
                                        </p:attrNameLst>
                                      </p:cBhvr>
                                      <p:tavLst>
                                        <p:tav tm="0">
                                          <p:val>
                                            <p:strVal val="#ppt_h*1.08"/>
                                          </p:val>
                                        </p:tav>
                                        <p:tav tm="100000">
                                          <p:val>
                                            <p:strVal val="#ppt_h"/>
                                          </p:val>
                                        </p:tav>
                                      </p:tavLst>
                                    </p:anim>
                                  </p:childTnLst>
                                </p:cTn>
                              </p:par>
                              <p:par>
                                <p:cTn id="12" presetID="53" presetClass="entr" presetSubtype="16" fill="hold" grpId="0" nodeType="withEffect">
                                  <p:stCondLst>
                                    <p:cond delay="70"/>
                                  </p:stCondLst>
                                  <p:childTnLst>
                                    <p:set>
                                      <p:cBhvr>
                                        <p:cTn id="13" dur="1" fill="hold">
                                          <p:stCondLst>
                                            <p:cond delay="0"/>
                                          </p:stCondLst>
                                        </p:cTn>
                                        <p:tgtEl>
                                          <p:spTgt spid="104"/>
                                        </p:tgtEl>
                                        <p:attrNameLst>
                                          <p:attrName>style.visibility</p:attrName>
                                        </p:attrNameLst>
                                      </p:cBhvr>
                                      <p:to>
                                        <p:strVal val="visible"/>
                                      </p:to>
                                    </p:set>
                                    <p:anim calcmode="lin" valueType="num">
                                      <p:cBhvr additive="base">
                                        <p:cTn id="14" dur="35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15" dur="350" decel="100000" fill="hold"/>
                                        <p:tgtEl>
                                          <p:spTgt spid="104"/>
                                        </p:tgtEl>
                                        <p:attrNameLst>
                                          <p:attrName>ppt_h</p:attrName>
                                        </p:attrNameLst>
                                      </p:cBhvr>
                                      <p:tavLst>
                                        <p:tav tm="0">
                                          <p:val>
                                            <p:strVal val="#ppt_h*0.3"/>
                                          </p:val>
                                        </p:tav>
                                        <p:tav tm="100000">
                                          <p:val>
                                            <p:strVal val="#ppt_h*1.08"/>
                                          </p:val>
                                        </p:tav>
                                      </p:tavLst>
                                    </p:anim>
                                    <p:animEffect transition="in" filter="fade">
                                      <p:cBhvr>
                                        <p:cTn id="16" dur="175"/>
                                        <p:tgtEl>
                                          <p:spTgt spid="104"/>
                                        </p:tgtEl>
                                      </p:cBhvr>
                                    </p:animEffect>
                                    <p:anim calcmode="lin" valueType="num">
                                      <p:cBhvr additive="base">
                                        <p:cTn id="17" dur="160" fill="hold">
                                          <p:stCondLst>
                                            <p:cond delay="350"/>
                                          </p:stCondLst>
                                        </p:cTn>
                                        <p:tgtEl>
                                          <p:spTgt spid="104"/>
                                        </p:tgtEl>
                                        <p:attrNameLst>
                                          <p:attrName>ppt_w</p:attrName>
                                        </p:attrNameLst>
                                      </p:cBhvr>
                                      <p:tavLst>
                                        <p:tav tm="0">
                                          <p:val>
                                            <p:strVal val="#ppt_w*1.08"/>
                                          </p:val>
                                        </p:tav>
                                        <p:tav tm="100000">
                                          <p:val>
                                            <p:strVal val="#ppt_w"/>
                                          </p:val>
                                        </p:tav>
                                      </p:tavLst>
                                    </p:anim>
                                    <p:anim calcmode="lin" valueType="num">
                                      <p:cBhvr additive="base">
                                        <p:cTn id="18" dur="160" fill="hold">
                                          <p:stCondLst>
                                            <p:cond delay="350"/>
                                          </p:stCondLst>
                                        </p:cTn>
                                        <p:tgtEl>
                                          <p:spTgt spid="104"/>
                                        </p:tgtEl>
                                        <p:attrNameLst>
                                          <p:attrName>ppt_h</p:attrName>
                                        </p:attrNameLst>
                                      </p:cBhvr>
                                      <p:tavLst>
                                        <p:tav tm="0">
                                          <p:val>
                                            <p:strVal val="#ppt_h*1.08"/>
                                          </p:val>
                                        </p:tav>
                                        <p:tav tm="100000">
                                          <p:val>
                                            <p:strVal val="#ppt_h"/>
                                          </p:val>
                                        </p:tav>
                                      </p:tavLst>
                                    </p:anim>
                                  </p:childTnLst>
                                </p:cTn>
                              </p:par>
                              <p:par>
                                <p:cTn id="19" presetID="53" presetClass="entr" presetSubtype="16" fill="hold" grpId="0" nodeType="withEffect">
                                  <p:stCondLst>
                                    <p:cond delay="140"/>
                                  </p:stCondLst>
                                  <p:childTnLst>
                                    <p:set>
                                      <p:cBhvr>
                                        <p:cTn id="20" dur="1" fill="hold">
                                          <p:stCondLst>
                                            <p:cond delay="0"/>
                                          </p:stCondLst>
                                        </p:cTn>
                                        <p:tgtEl>
                                          <p:spTgt spid="105"/>
                                        </p:tgtEl>
                                        <p:attrNameLst>
                                          <p:attrName>style.visibility</p:attrName>
                                        </p:attrNameLst>
                                      </p:cBhvr>
                                      <p:to>
                                        <p:strVal val="visible"/>
                                      </p:to>
                                    </p:set>
                                    <p:anim calcmode="lin" valueType="num">
                                      <p:cBhvr additive="base">
                                        <p:cTn id="21" dur="350" decel="100000" fill="hold"/>
                                        <p:tgtEl>
                                          <p:spTgt spid="105"/>
                                        </p:tgtEl>
                                        <p:attrNameLst>
                                          <p:attrName>ppt_w</p:attrName>
                                        </p:attrNameLst>
                                      </p:cBhvr>
                                      <p:tavLst>
                                        <p:tav tm="0">
                                          <p:val>
                                            <p:strVal val="#ppt_w*0.3"/>
                                          </p:val>
                                        </p:tav>
                                        <p:tav tm="100000">
                                          <p:val>
                                            <p:strVal val="#ppt_w*1.08"/>
                                          </p:val>
                                        </p:tav>
                                      </p:tavLst>
                                    </p:anim>
                                    <p:anim calcmode="lin" valueType="num">
                                      <p:cBhvr additive="base">
                                        <p:cTn id="22" dur="350" decel="100000" fill="hold"/>
                                        <p:tgtEl>
                                          <p:spTgt spid="105"/>
                                        </p:tgtEl>
                                        <p:attrNameLst>
                                          <p:attrName>ppt_h</p:attrName>
                                        </p:attrNameLst>
                                      </p:cBhvr>
                                      <p:tavLst>
                                        <p:tav tm="0">
                                          <p:val>
                                            <p:strVal val="#ppt_h*0.3"/>
                                          </p:val>
                                        </p:tav>
                                        <p:tav tm="100000">
                                          <p:val>
                                            <p:strVal val="#ppt_h*1.08"/>
                                          </p:val>
                                        </p:tav>
                                      </p:tavLst>
                                    </p:anim>
                                    <p:animEffect transition="in" filter="fade">
                                      <p:cBhvr>
                                        <p:cTn id="23" dur="175"/>
                                        <p:tgtEl>
                                          <p:spTgt spid="105"/>
                                        </p:tgtEl>
                                      </p:cBhvr>
                                    </p:animEffect>
                                    <p:anim calcmode="lin" valueType="num">
                                      <p:cBhvr additive="base">
                                        <p:cTn id="24" dur="160" fill="hold">
                                          <p:stCondLst>
                                            <p:cond delay="350"/>
                                          </p:stCondLst>
                                        </p:cTn>
                                        <p:tgtEl>
                                          <p:spTgt spid="105"/>
                                        </p:tgtEl>
                                        <p:attrNameLst>
                                          <p:attrName>ppt_w</p:attrName>
                                        </p:attrNameLst>
                                      </p:cBhvr>
                                      <p:tavLst>
                                        <p:tav tm="0">
                                          <p:val>
                                            <p:strVal val="#ppt_w*1.08"/>
                                          </p:val>
                                        </p:tav>
                                        <p:tav tm="100000">
                                          <p:val>
                                            <p:strVal val="#ppt_w"/>
                                          </p:val>
                                        </p:tav>
                                      </p:tavLst>
                                    </p:anim>
                                    <p:anim calcmode="lin" valueType="num">
                                      <p:cBhvr additive="base">
                                        <p:cTn id="25" dur="160" fill="hold">
                                          <p:stCondLst>
                                            <p:cond delay="350"/>
                                          </p:stCondLst>
                                        </p:cTn>
                                        <p:tgtEl>
                                          <p:spTgt spid="105"/>
                                        </p:tgtEl>
                                        <p:attrNameLst>
                                          <p:attrName>ppt_h</p:attrName>
                                        </p:attrNameLst>
                                      </p:cBhvr>
                                      <p:tavLst>
                                        <p:tav tm="0">
                                          <p:val>
                                            <p:strVal val="#ppt_h*1.08"/>
                                          </p:val>
                                        </p:tav>
                                        <p:tav tm="100000">
                                          <p:val>
                                            <p:strVal val="#ppt_h"/>
                                          </p:val>
                                        </p:tav>
                                      </p:tavLst>
                                    </p:anim>
                                  </p:childTnLst>
                                </p:cTn>
                              </p:par>
                              <p:par>
                                <p:cTn id="26" presetID="53" presetClass="entr" presetSubtype="16" fill="hold" grpId="0" nodeType="withEffect">
                                  <p:stCondLst>
                                    <p:cond delay="210"/>
                                  </p:stCondLst>
                                  <p:childTnLst>
                                    <p:set>
                                      <p:cBhvr>
                                        <p:cTn id="27" dur="1" fill="hold">
                                          <p:stCondLst>
                                            <p:cond delay="0"/>
                                          </p:stCondLst>
                                        </p:cTn>
                                        <p:tgtEl>
                                          <p:spTgt spid="106"/>
                                        </p:tgtEl>
                                        <p:attrNameLst>
                                          <p:attrName>style.visibility</p:attrName>
                                        </p:attrNameLst>
                                      </p:cBhvr>
                                      <p:to>
                                        <p:strVal val="visible"/>
                                      </p:to>
                                    </p:set>
                                    <p:anim calcmode="lin" valueType="num">
                                      <p:cBhvr additive="base">
                                        <p:cTn id="28" dur="35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29" dur="350" decel="100000" fill="hold"/>
                                        <p:tgtEl>
                                          <p:spTgt spid="106"/>
                                        </p:tgtEl>
                                        <p:attrNameLst>
                                          <p:attrName>ppt_h</p:attrName>
                                        </p:attrNameLst>
                                      </p:cBhvr>
                                      <p:tavLst>
                                        <p:tav tm="0">
                                          <p:val>
                                            <p:strVal val="#ppt_h*0.3"/>
                                          </p:val>
                                        </p:tav>
                                        <p:tav tm="100000">
                                          <p:val>
                                            <p:strVal val="#ppt_h*1.08"/>
                                          </p:val>
                                        </p:tav>
                                      </p:tavLst>
                                    </p:anim>
                                    <p:animEffect transition="in" filter="fade">
                                      <p:cBhvr>
                                        <p:cTn id="30" dur="175"/>
                                        <p:tgtEl>
                                          <p:spTgt spid="106"/>
                                        </p:tgtEl>
                                      </p:cBhvr>
                                    </p:animEffect>
                                    <p:anim calcmode="lin" valueType="num">
                                      <p:cBhvr additive="base">
                                        <p:cTn id="31" dur="160" fill="hold">
                                          <p:stCondLst>
                                            <p:cond delay="350"/>
                                          </p:stCondLst>
                                        </p:cTn>
                                        <p:tgtEl>
                                          <p:spTgt spid="106"/>
                                        </p:tgtEl>
                                        <p:attrNameLst>
                                          <p:attrName>ppt_w</p:attrName>
                                        </p:attrNameLst>
                                      </p:cBhvr>
                                      <p:tavLst>
                                        <p:tav tm="0">
                                          <p:val>
                                            <p:strVal val="#ppt_w*1.08"/>
                                          </p:val>
                                        </p:tav>
                                        <p:tav tm="100000">
                                          <p:val>
                                            <p:strVal val="#ppt_w"/>
                                          </p:val>
                                        </p:tav>
                                      </p:tavLst>
                                    </p:anim>
                                    <p:anim calcmode="lin" valueType="num">
                                      <p:cBhvr additive="base">
                                        <p:cTn id="32" dur="160" fill="hold">
                                          <p:stCondLst>
                                            <p:cond delay="350"/>
                                          </p:stCondLst>
                                        </p:cTn>
                                        <p:tgtEl>
                                          <p:spTgt spid="106"/>
                                        </p:tgtEl>
                                        <p:attrNameLst>
                                          <p:attrName>ppt_h</p:attrName>
                                        </p:attrNameLst>
                                      </p:cBhvr>
                                      <p:tavLst>
                                        <p:tav tm="0">
                                          <p:val>
                                            <p:strVal val="#ppt_h*1.08"/>
                                          </p:val>
                                        </p:tav>
                                        <p:tav tm="100000">
                                          <p:val>
                                            <p:strVal val="#ppt_h"/>
                                          </p:val>
                                        </p:tav>
                                      </p:tavLst>
                                    </p:anim>
                                  </p:childTnLst>
                                </p:cTn>
                              </p:par>
                              <p:par>
                                <p:cTn id="33" presetID="53" presetClass="entr" presetSubtype="16" fill="hold" grpId="0" nodeType="withEffect">
                                  <p:stCondLst>
                                    <p:cond delay="280"/>
                                  </p:stCondLst>
                                  <p:childTnLst>
                                    <p:set>
                                      <p:cBhvr>
                                        <p:cTn id="34" dur="1" fill="hold">
                                          <p:stCondLst>
                                            <p:cond delay="0"/>
                                          </p:stCondLst>
                                        </p:cTn>
                                        <p:tgtEl>
                                          <p:spTgt spid="107"/>
                                        </p:tgtEl>
                                        <p:attrNameLst>
                                          <p:attrName>style.visibility</p:attrName>
                                        </p:attrNameLst>
                                      </p:cBhvr>
                                      <p:to>
                                        <p:strVal val="visible"/>
                                      </p:to>
                                    </p:set>
                                    <p:anim calcmode="lin" valueType="num">
                                      <p:cBhvr additive="base">
                                        <p:cTn id="35" dur="35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36" dur="350" decel="100000" fill="hold"/>
                                        <p:tgtEl>
                                          <p:spTgt spid="107"/>
                                        </p:tgtEl>
                                        <p:attrNameLst>
                                          <p:attrName>ppt_h</p:attrName>
                                        </p:attrNameLst>
                                      </p:cBhvr>
                                      <p:tavLst>
                                        <p:tav tm="0">
                                          <p:val>
                                            <p:strVal val="#ppt_h*0.3"/>
                                          </p:val>
                                        </p:tav>
                                        <p:tav tm="100000">
                                          <p:val>
                                            <p:strVal val="#ppt_h*1.08"/>
                                          </p:val>
                                        </p:tav>
                                      </p:tavLst>
                                    </p:anim>
                                    <p:animEffect transition="in" filter="fade">
                                      <p:cBhvr>
                                        <p:cTn id="37" dur="175"/>
                                        <p:tgtEl>
                                          <p:spTgt spid="107"/>
                                        </p:tgtEl>
                                      </p:cBhvr>
                                    </p:animEffect>
                                    <p:anim calcmode="lin" valueType="num">
                                      <p:cBhvr additive="base">
                                        <p:cTn id="38" dur="160" fill="hold">
                                          <p:stCondLst>
                                            <p:cond delay="350"/>
                                          </p:stCondLst>
                                        </p:cTn>
                                        <p:tgtEl>
                                          <p:spTgt spid="107"/>
                                        </p:tgtEl>
                                        <p:attrNameLst>
                                          <p:attrName>ppt_w</p:attrName>
                                        </p:attrNameLst>
                                      </p:cBhvr>
                                      <p:tavLst>
                                        <p:tav tm="0">
                                          <p:val>
                                            <p:strVal val="#ppt_w*1.08"/>
                                          </p:val>
                                        </p:tav>
                                        <p:tav tm="100000">
                                          <p:val>
                                            <p:strVal val="#ppt_w"/>
                                          </p:val>
                                        </p:tav>
                                      </p:tavLst>
                                    </p:anim>
                                    <p:anim calcmode="lin" valueType="num">
                                      <p:cBhvr additive="base">
                                        <p:cTn id="39" dur="160" fill="hold">
                                          <p:stCondLst>
                                            <p:cond delay="350"/>
                                          </p:stCondLst>
                                        </p:cTn>
                                        <p:tgtEl>
                                          <p:spTgt spid="107"/>
                                        </p:tgtEl>
                                        <p:attrNameLst>
                                          <p:attrName>ppt_h</p:attrName>
                                        </p:attrNameLst>
                                      </p:cBhvr>
                                      <p:tavLst>
                                        <p:tav tm="0">
                                          <p:val>
                                            <p:strVal val="#ppt_h*1.08"/>
                                          </p:val>
                                        </p:tav>
                                        <p:tav tm="100000">
                                          <p:val>
                                            <p:strVal val="#ppt_h"/>
                                          </p:val>
                                        </p:tav>
                                      </p:tavLst>
                                    </p:anim>
                                  </p:childTnLst>
                                </p:cTn>
                              </p:par>
                              <p:par>
                                <p:cTn id="40" presetID="53" presetClass="entr" presetSubtype="16" fill="hold" grpId="0" nodeType="withEffect">
                                  <p:stCondLst>
                                    <p:cond delay="350"/>
                                  </p:stCondLst>
                                  <p:childTnLst>
                                    <p:set>
                                      <p:cBhvr>
                                        <p:cTn id="41" dur="1" fill="hold">
                                          <p:stCondLst>
                                            <p:cond delay="0"/>
                                          </p:stCondLst>
                                        </p:cTn>
                                        <p:tgtEl>
                                          <p:spTgt spid="108"/>
                                        </p:tgtEl>
                                        <p:attrNameLst>
                                          <p:attrName>style.visibility</p:attrName>
                                        </p:attrNameLst>
                                      </p:cBhvr>
                                      <p:to>
                                        <p:strVal val="visible"/>
                                      </p:to>
                                    </p:set>
                                    <p:anim calcmode="lin" valueType="num">
                                      <p:cBhvr additive="base">
                                        <p:cTn id="42" dur="35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43" dur="350" decel="100000" fill="hold"/>
                                        <p:tgtEl>
                                          <p:spTgt spid="108"/>
                                        </p:tgtEl>
                                        <p:attrNameLst>
                                          <p:attrName>ppt_h</p:attrName>
                                        </p:attrNameLst>
                                      </p:cBhvr>
                                      <p:tavLst>
                                        <p:tav tm="0">
                                          <p:val>
                                            <p:strVal val="#ppt_h*0.3"/>
                                          </p:val>
                                        </p:tav>
                                        <p:tav tm="100000">
                                          <p:val>
                                            <p:strVal val="#ppt_h*1.08"/>
                                          </p:val>
                                        </p:tav>
                                      </p:tavLst>
                                    </p:anim>
                                    <p:animEffect transition="in" filter="fade">
                                      <p:cBhvr>
                                        <p:cTn id="44" dur="175"/>
                                        <p:tgtEl>
                                          <p:spTgt spid="108"/>
                                        </p:tgtEl>
                                      </p:cBhvr>
                                    </p:animEffect>
                                    <p:anim calcmode="lin" valueType="num">
                                      <p:cBhvr additive="base">
                                        <p:cTn id="45" dur="160" fill="hold">
                                          <p:stCondLst>
                                            <p:cond delay="350"/>
                                          </p:stCondLst>
                                        </p:cTn>
                                        <p:tgtEl>
                                          <p:spTgt spid="108"/>
                                        </p:tgtEl>
                                        <p:attrNameLst>
                                          <p:attrName>ppt_w</p:attrName>
                                        </p:attrNameLst>
                                      </p:cBhvr>
                                      <p:tavLst>
                                        <p:tav tm="0">
                                          <p:val>
                                            <p:strVal val="#ppt_w*1.08"/>
                                          </p:val>
                                        </p:tav>
                                        <p:tav tm="100000">
                                          <p:val>
                                            <p:strVal val="#ppt_w"/>
                                          </p:val>
                                        </p:tav>
                                      </p:tavLst>
                                    </p:anim>
                                    <p:anim calcmode="lin" valueType="num">
                                      <p:cBhvr additive="base">
                                        <p:cTn id="46" dur="160" fill="hold">
                                          <p:stCondLst>
                                            <p:cond delay="350"/>
                                          </p:stCondLst>
                                        </p:cTn>
                                        <p:tgtEl>
                                          <p:spTgt spid="108"/>
                                        </p:tgtEl>
                                        <p:attrNameLst>
                                          <p:attrName>ppt_h</p:attrName>
                                        </p:attrNameLst>
                                      </p:cBhvr>
                                      <p:tavLst>
                                        <p:tav tm="0">
                                          <p:val>
                                            <p:strVal val="#ppt_h*1.08"/>
                                          </p:val>
                                        </p:tav>
                                        <p:tav tm="100000">
                                          <p:val>
                                            <p:strVal val="#ppt_h"/>
                                          </p:val>
                                        </p:tav>
                                      </p:tavLst>
                                    </p:anim>
                                  </p:childTnLst>
                                </p:cTn>
                              </p:par>
                              <p:par>
                                <p:cTn id="47" presetID="53" presetClass="entr" presetSubtype="16" fill="hold" grpId="0" nodeType="withEffect">
                                  <p:stCondLst>
                                    <p:cond delay="420"/>
                                  </p:stCondLst>
                                  <p:childTnLst>
                                    <p:set>
                                      <p:cBhvr>
                                        <p:cTn id="48" dur="1" fill="hold">
                                          <p:stCondLst>
                                            <p:cond delay="0"/>
                                          </p:stCondLst>
                                        </p:cTn>
                                        <p:tgtEl>
                                          <p:spTgt spid="109"/>
                                        </p:tgtEl>
                                        <p:attrNameLst>
                                          <p:attrName>style.visibility</p:attrName>
                                        </p:attrNameLst>
                                      </p:cBhvr>
                                      <p:to>
                                        <p:strVal val="visible"/>
                                      </p:to>
                                    </p:set>
                                    <p:anim calcmode="lin" valueType="num">
                                      <p:cBhvr additive="base">
                                        <p:cTn id="49" dur="35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50" dur="350" decel="100000" fill="hold"/>
                                        <p:tgtEl>
                                          <p:spTgt spid="109"/>
                                        </p:tgtEl>
                                        <p:attrNameLst>
                                          <p:attrName>ppt_h</p:attrName>
                                        </p:attrNameLst>
                                      </p:cBhvr>
                                      <p:tavLst>
                                        <p:tav tm="0">
                                          <p:val>
                                            <p:strVal val="#ppt_h*0.3"/>
                                          </p:val>
                                        </p:tav>
                                        <p:tav tm="100000">
                                          <p:val>
                                            <p:strVal val="#ppt_h*1.08"/>
                                          </p:val>
                                        </p:tav>
                                      </p:tavLst>
                                    </p:anim>
                                    <p:animEffect transition="in" filter="fade">
                                      <p:cBhvr>
                                        <p:cTn id="51" dur="175"/>
                                        <p:tgtEl>
                                          <p:spTgt spid="109"/>
                                        </p:tgtEl>
                                      </p:cBhvr>
                                    </p:animEffect>
                                    <p:anim calcmode="lin" valueType="num">
                                      <p:cBhvr additive="base">
                                        <p:cTn id="52" dur="160" fill="hold">
                                          <p:stCondLst>
                                            <p:cond delay="350"/>
                                          </p:stCondLst>
                                        </p:cTn>
                                        <p:tgtEl>
                                          <p:spTgt spid="109"/>
                                        </p:tgtEl>
                                        <p:attrNameLst>
                                          <p:attrName>ppt_w</p:attrName>
                                        </p:attrNameLst>
                                      </p:cBhvr>
                                      <p:tavLst>
                                        <p:tav tm="0">
                                          <p:val>
                                            <p:strVal val="#ppt_w*1.08"/>
                                          </p:val>
                                        </p:tav>
                                        <p:tav tm="100000">
                                          <p:val>
                                            <p:strVal val="#ppt_w"/>
                                          </p:val>
                                        </p:tav>
                                      </p:tavLst>
                                    </p:anim>
                                    <p:anim calcmode="lin" valueType="num">
                                      <p:cBhvr additive="base">
                                        <p:cTn id="53" dur="160" fill="hold">
                                          <p:stCondLst>
                                            <p:cond delay="350"/>
                                          </p:stCondLst>
                                        </p:cTn>
                                        <p:tgtEl>
                                          <p:spTgt spid="109"/>
                                        </p:tgtEl>
                                        <p:attrNameLst>
                                          <p:attrName>ppt_h</p:attrName>
                                        </p:attrNameLst>
                                      </p:cBhvr>
                                      <p:tavLst>
                                        <p:tav tm="0">
                                          <p:val>
                                            <p:strVal val="#ppt_h*1.08"/>
                                          </p:val>
                                        </p:tav>
                                        <p:tav tm="100000">
                                          <p:val>
                                            <p:strVal val="#ppt_h"/>
                                          </p:val>
                                        </p:tav>
                                      </p:tavLst>
                                    </p:anim>
                                  </p:childTnLst>
                                </p:cTn>
                              </p:par>
                              <p:par>
                                <p:cTn id="54" presetID="53" presetClass="entr" presetSubtype="16" fill="hold" grpId="0" nodeType="withEffect">
                                  <p:stCondLst>
                                    <p:cond delay="490"/>
                                  </p:stCondLst>
                                  <p:childTnLst>
                                    <p:set>
                                      <p:cBhvr>
                                        <p:cTn id="55" dur="1" fill="hold">
                                          <p:stCondLst>
                                            <p:cond delay="0"/>
                                          </p:stCondLst>
                                        </p:cTn>
                                        <p:tgtEl>
                                          <p:spTgt spid="110"/>
                                        </p:tgtEl>
                                        <p:attrNameLst>
                                          <p:attrName>style.visibility</p:attrName>
                                        </p:attrNameLst>
                                      </p:cBhvr>
                                      <p:to>
                                        <p:strVal val="visible"/>
                                      </p:to>
                                    </p:set>
                                    <p:anim calcmode="lin" valueType="num">
                                      <p:cBhvr additive="base">
                                        <p:cTn id="56" dur="350" decel="100000" fill="hold"/>
                                        <p:tgtEl>
                                          <p:spTgt spid="110"/>
                                        </p:tgtEl>
                                        <p:attrNameLst>
                                          <p:attrName>ppt_w</p:attrName>
                                        </p:attrNameLst>
                                      </p:cBhvr>
                                      <p:tavLst>
                                        <p:tav tm="0">
                                          <p:val>
                                            <p:strVal val="#ppt_w*0.3"/>
                                          </p:val>
                                        </p:tav>
                                        <p:tav tm="100000">
                                          <p:val>
                                            <p:strVal val="#ppt_w*1.08"/>
                                          </p:val>
                                        </p:tav>
                                      </p:tavLst>
                                    </p:anim>
                                    <p:anim calcmode="lin" valueType="num">
                                      <p:cBhvr additive="base">
                                        <p:cTn id="57" dur="350" decel="100000" fill="hold"/>
                                        <p:tgtEl>
                                          <p:spTgt spid="110"/>
                                        </p:tgtEl>
                                        <p:attrNameLst>
                                          <p:attrName>ppt_h</p:attrName>
                                        </p:attrNameLst>
                                      </p:cBhvr>
                                      <p:tavLst>
                                        <p:tav tm="0">
                                          <p:val>
                                            <p:strVal val="#ppt_h*0.3"/>
                                          </p:val>
                                        </p:tav>
                                        <p:tav tm="100000">
                                          <p:val>
                                            <p:strVal val="#ppt_h*1.08"/>
                                          </p:val>
                                        </p:tav>
                                      </p:tavLst>
                                    </p:anim>
                                    <p:animEffect transition="in" filter="fade">
                                      <p:cBhvr>
                                        <p:cTn id="58" dur="175"/>
                                        <p:tgtEl>
                                          <p:spTgt spid="110"/>
                                        </p:tgtEl>
                                      </p:cBhvr>
                                    </p:animEffect>
                                    <p:anim calcmode="lin" valueType="num">
                                      <p:cBhvr additive="base">
                                        <p:cTn id="59" dur="160" fill="hold">
                                          <p:stCondLst>
                                            <p:cond delay="350"/>
                                          </p:stCondLst>
                                        </p:cTn>
                                        <p:tgtEl>
                                          <p:spTgt spid="110"/>
                                        </p:tgtEl>
                                        <p:attrNameLst>
                                          <p:attrName>ppt_w</p:attrName>
                                        </p:attrNameLst>
                                      </p:cBhvr>
                                      <p:tavLst>
                                        <p:tav tm="0">
                                          <p:val>
                                            <p:strVal val="#ppt_w*1.08"/>
                                          </p:val>
                                        </p:tav>
                                        <p:tav tm="100000">
                                          <p:val>
                                            <p:strVal val="#ppt_w"/>
                                          </p:val>
                                        </p:tav>
                                      </p:tavLst>
                                    </p:anim>
                                    <p:anim calcmode="lin" valueType="num">
                                      <p:cBhvr additive="base">
                                        <p:cTn id="60" dur="160" fill="hold">
                                          <p:stCondLst>
                                            <p:cond delay="350"/>
                                          </p:stCondLst>
                                        </p:cTn>
                                        <p:tgtEl>
                                          <p:spTgt spid="110"/>
                                        </p:tgtEl>
                                        <p:attrNameLst>
                                          <p:attrName>ppt_h</p:attrName>
                                        </p:attrNameLst>
                                      </p:cBhvr>
                                      <p:tavLst>
                                        <p:tav tm="0">
                                          <p:val>
                                            <p:strVal val="#ppt_h*1.08"/>
                                          </p:val>
                                        </p:tav>
                                        <p:tav tm="100000">
                                          <p:val>
                                            <p:strVal val="#ppt_h"/>
                                          </p:val>
                                        </p:tav>
                                      </p:tavLst>
                                    </p:anim>
                                  </p:childTnLst>
                                </p:cTn>
                              </p:par>
                              <p:par>
                                <p:cTn id="61" presetID="53" presetClass="entr" presetSubtype="16" fill="hold" grpId="0" nodeType="withEffect">
                                  <p:stCondLst>
                                    <p:cond delay="560"/>
                                  </p:stCondLst>
                                  <p:childTnLst>
                                    <p:set>
                                      <p:cBhvr>
                                        <p:cTn id="62" dur="1" fill="hold">
                                          <p:stCondLst>
                                            <p:cond delay="0"/>
                                          </p:stCondLst>
                                        </p:cTn>
                                        <p:tgtEl>
                                          <p:spTgt spid="111"/>
                                        </p:tgtEl>
                                        <p:attrNameLst>
                                          <p:attrName>style.visibility</p:attrName>
                                        </p:attrNameLst>
                                      </p:cBhvr>
                                      <p:to>
                                        <p:strVal val="visible"/>
                                      </p:to>
                                    </p:set>
                                    <p:anim calcmode="lin" valueType="num">
                                      <p:cBhvr additive="base">
                                        <p:cTn id="63" dur="350" decel="100000" fill="hold"/>
                                        <p:tgtEl>
                                          <p:spTgt spid="111"/>
                                        </p:tgtEl>
                                        <p:attrNameLst>
                                          <p:attrName>ppt_w</p:attrName>
                                        </p:attrNameLst>
                                      </p:cBhvr>
                                      <p:tavLst>
                                        <p:tav tm="0">
                                          <p:val>
                                            <p:strVal val="#ppt_w*0.3"/>
                                          </p:val>
                                        </p:tav>
                                        <p:tav tm="100000">
                                          <p:val>
                                            <p:strVal val="#ppt_w*1.08"/>
                                          </p:val>
                                        </p:tav>
                                      </p:tavLst>
                                    </p:anim>
                                    <p:anim calcmode="lin" valueType="num">
                                      <p:cBhvr additive="base">
                                        <p:cTn id="64" dur="350" decel="100000" fill="hold"/>
                                        <p:tgtEl>
                                          <p:spTgt spid="111"/>
                                        </p:tgtEl>
                                        <p:attrNameLst>
                                          <p:attrName>ppt_h</p:attrName>
                                        </p:attrNameLst>
                                      </p:cBhvr>
                                      <p:tavLst>
                                        <p:tav tm="0">
                                          <p:val>
                                            <p:strVal val="#ppt_h*0.3"/>
                                          </p:val>
                                        </p:tav>
                                        <p:tav tm="100000">
                                          <p:val>
                                            <p:strVal val="#ppt_h*1.08"/>
                                          </p:val>
                                        </p:tav>
                                      </p:tavLst>
                                    </p:anim>
                                    <p:animEffect transition="in" filter="fade">
                                      <p:cBhvr>
                                        <p:cTn id="65" dur="175"/>
                                        <p:tgtEl>
                                          <p:spTgt spid="111"/>
                                        </p:tgtEl>
                                      </p:cBhvr>
                                    </p:animEffect>
                                    <p:anim calcmode="lin" valueType="num">
                                      <p:cBhvr additive="base">
                                        <p:cTn id="66" dur="160" fill="hold">
                                          <p:stCondLst>
                                            <p:cond delay="350"/>
                                          </p:stCondLst>
                                        </p:cTn>
                                        <p:tgtEl>
                                          <p:spTgt spid="111"/>
                                        </p:tgtEl>
                                        <p:attrNameLst>
                                          <p:attrName>ppt_w</p:attrName>
                                        </p:attrNameLst>
                                      </p:cBhvr>
                                      <p:tavLst>
                                        <p:tav tm="0">
                                          <p:val>
                                            <p:strVal val="#ppt_w*1.08"/>
                                          </p:val>
                                        </p:tav>
                                        <p:tav tm="100000">
                                          <p:val>
                                            <p:strVal val="#ppt_w"/>
                                          </p:val>
                                        </p:tav>
                                      </p:tavLst>
                                    </p:anim>
                                    <p:anim calcmode="lin" valueType="num">
                                      <p:cBhvr additive="base">
                                        <p:cTn id="67" dur="160" fill="hold">
                                          <p:stCondLst>
                                            <p:cond delay="350"/>
                                          </p:stCondLst>
                                        </p:cTn>
                                        <p:tgtEl>
                                          <p:spTgt spid="111"/>
                                        </p:tgtEl>
                                        <p:attrNameLst>
                                          <p:attrName>ppt_h</p:attrName>
                                        </p:attrNameLst>
                                      </p:cBhvr>
                                      <p:tavLst>
                                        <p:tav tm="0">
                                          <p:val>
                                            <p:strVal val="#ppt_h*1.08"/>
                                          </p:val>
                                        </p:tav>
                                        <p:tav tm="100000">
                                          <p:val>
                                            <p:strVal val="#ppt_h"/>
                                          </p:val>
                                        </p:tav>
                                      </p:tavLst>
                                    </p:anim>
                                  </p:childTnLst>
                                </p:cTn>
                              </p:par>
                              <p:par>
                                <p:cTn id="68" presetID="53" presetClass="entr" presetSubtype="16" fill="hold" grpId="0" nodeType="withEffect">
                                  <p:stCondLst>
                                    <p:cond delay="630"/>
                                  </p:stCondLst>
                                  <p:childTnLst>
                                    <p:set>
                                      <p:cBhvr>
                                        <p:cTn id="69" dur="1" fill="hold">
                                          <p:stCondLst>
                                            <p:cond delay="0"/>
                                          </p:stCondLst>
                                        </p:cTn>
                                        <p:tgtEl>
                                          <p:spTgt spid="112"/>
                                        </p:tgtEl>
                                        <p:attrNameLst>
                                          <p:attrName>style.visibility</p:attrName>
                                        </p:attrNameLst>
                                      </p:cBhvr>
                                      <p:to>
                                        <p:strVal val="visible"/>
                                      </p:to>
                                    </p:set>
                                    <p:anim calcmode="lin" valueType="num">
                                      <p:cBhvr additive="base">
                                        <p:cTn id="70" dur="350" decel="100000" fill="hold"/>
                                        <p:tgtEl>
                                          <p:spTgt spid="112"/>
                                        </p:tgtEl>
                                        <p:attrNameLst>
                                          <p:attrName>ppt_w</p:attrName>
                                        </p:attrNameLst>
                                      </p:cBhvr>
                                      <p:tavLst>
                                        <p:tav tm="0">
                                          <p:val>
                                            <p:strVal val="#ppt_w*0.3"/>
                                          </p:val>
                                        </p:tav>
                                        <p:tav tm="100000">
                                          <p:val>
                                            <p:strVal val="#ppt_w*1.08"/>
                                          </p:val>
                                        </p:tav>
                                      </p:tavLst>
                                    </p:anim>
                                    <p:anim calcmode="lin" valueType="num">
                                      <p:cBhvr additive="base">
                                        <p:cTn id="71" dur="350" decel="100000" fill="hold"/>
                                        <p:tgtEl>
                                          <p:spTgt spid="112"/>
                                        </p:tgtEl>
                                        <p:attrNameLst>
                                          <p:attrName>ppt_h</p:attrName>
                                        </p:attrNameLst>
                                      </p:cBhvr>
                                      <p:tavLst>
                                        <p:tav tm="0">
                                          <p:val>
                                            <p:strVal val="#ppt_h*0.3"/>
                                          </p:val>
                                        </p:tav>
                                        <p:tav tm="100000">
                                          <p:val>
                                            <p:strVal val="#ppt_h*1.08"/>
                                          </p:val>
                                        </p:tav>
                                      </p:tavLst>
                                    </p:anim>
                                    <p:animEffect transition="in" filter="fade">
                                      <p:cBhvr>
                                        <p:cTn id="72" dur="175"/>
                                        <p:tgtEl>
                                          <p:spTgt spid="112"/>
                                        </p:tgtEl>
                                      </p:cBhvr>
                                    </p:animEffect>
                                    <p:anim calcmode="lin" valueType="num">
                                      <p:cBhvr additive="base">
                                        <p:cTn id="73" dur="160" fill="hold">
                                          <p:stCondLst>
                                            <p:cond delay="350"/>
                                          </p:stCondLst>
                                        </p:cTn>
                                        <p:tgtEl>
                                          <p:spTgt spid="112"/>
                                        </p:tgtEl>
                                        <p:attrNameLst>
                                          <p:attrName>ppt_w</p:attrName>
                                        </p:attrNameLst>
                                      </p:cBhvr>
                                      <p:tavLst>
                                        <p:tav tm="0">
                                          <p:val>
                                            <p:strVal val="#ppt_w*1.08"/>
                                          </p:val>
                                        </p:tav>
                                        <p:tav tm="100000">
                                          <p:val>
                                            <p:strVal val="#ppt_w"/>
                                          </p:val>
                                        </p:tav>
                                      </p:tavLst>
                                    </p:anim>
                                    <p:anim calcmode="lin" valueType="num">
                                      <p:cBhvr additive="base">
                                        <p:cTn id="74" dur="160" fill="hold">
                                          <p:stCondLst>
                                            <p:cond delay="350"/>
                                          </p:stCondLst>
                                        </p:cTn>
                                        <p:tgtEl>
                                          <p:spTgt spid="112"/>
                                        </p:tgtEl>
                                        <p:attrNameLst>
                                          <p:attrName>ppt_h</p:attrName>
                                        </p:attrNameLst>
                                      </p:cBhvr>
                                      <p:tavLst>
                                        <p:tav tm="0">
                                          <p:val>
                                            <p:strVal val="#ppt_h*1.08"/>
                                          </p:val>
                                        </p:tav>
                                        <p:tav tm="100000">
                                          <p:val>
                                            <p:strVal val="#ppt_h"/>
                                          </p:val>
                                        </p:tav>
                                      </p:tavLst>
                                    </p:anim>
                                  </p:childTnLst>
                                </p:cTn>
                              </p:par>
                              <p:par>
                                <p:cTn id="75" presetID="53" presetClass="entr" presetSubtype="16" fill="hold" grpId="0" nodeType="withEffect">
                                  <p:stCondLst>
                                    <p:cond delay="700"/>
                                  </p:stCondLst>
                                  <p:childTnLst>
                                    <p:set>
                                      <p:cBhvr>
                                        <p:cTn id="76" dur="1" fill="hold">
                                          <p:stCondLst>
                                            <p:cond delay="0"/>
                                          </p:stCondLst>
                                        </p:cTn>
                                        <p:tgtEl>
                                          <p:spTgt spid="113"/>
                                        </p:tgtEl>
                                        <p:attrNameLst>
                                          <p:attrName>style.visibility</p:attrName>
                                        </p:attrNameLst>
                                      </p:cBhvr>
                                      <p:to>
                                        <p:strVal val="visible"/>
                                      </p:to>
                                    </p:set>
                                    <p:anim calcmode="lin" valueType="num">
                                      <p:cBhvr additive="base">
                                        <p:cTn id="77" dur="350" decel="100000" fill="hold"/>
                                        <p:tgtEl>
                                          <p:spTgt spid="113"/>
                                        </p:tgtEl>
                                        <p:attrNameLst>
                                          <p:attrName>ppt_w</p:attrName>
                                        </p:attrNameLst>
                                      </p:cBhvr>
                                      <p:tavLst>
                                        <p:tav tm="0">
                                          <p:val>
                                            <p:strVal val="#ppt_w*0.3"/>
                                          </p:val>
                                        </p:tav>
                                        <p:tav tm="100000">
                                          <p:val>
                                            <p:strVal val="#ppt_w*1.08"/>
                                          </p:val>
                                        </p:tav>
                                      </p:tavLst>
                                    </p:anim>
                                    <p:anim calcmode="lin" valueType="num">
                                      <p:cBhvr additive="base">
                                        <p:cTn id="78" dur="350" decel="100000" fill="hold"/>
                                        <p:tgtEl>
                                          <p:spTgt spid="113"/>
                                        </p:tgtEl>
                                        <p:attrNameLst>
                                          <p:attrName>ppt_h</p:attrName>
                                        </p:attrNameLst>
                                      </p:cBhvr>
                                      <p:tavLst>
                                        <p:tav tm="0">
                                          <p:val>
                                            <p:strVal val="#ppt_h*0.3"/>
                                          </p:val>
                                        </p:tav>
                                        <p:tav tm="100000">
                                          <p:val>
                                            <p:strVal val="#ppt_h*1.08"/>
                                          </p:val>
                                        </p:tav>
                                      </p:tavLst>
                                    </p:anim>
                                    <p:animEffect transition="in" filter="fade">
                                      <p:cBhvr>
                                        <p:cTn id="79" dur="175"/>
                                        <p:tgtEl>
                                          <p:spTgt spid="113"/>
                                        </p:tgtEl>
                                      </p:cBhvr>
                                    </p:animEffect>
                                    <p:anim calcmode="lin" valueType="num">
                                      <p:cBhvr additive="base">
                                        <p:cTn id="80" dur="160" fill="hold">
                                          <p:stCondLst>
                                            <p:cond delay="350"/>
                                          </p:stCondLst>
                                        </p:cTn>
                                        <p:tgtEl>
                                          <p:spTgt spid="113"/>
                                        </p:tgtEl>
                                        <p:attrNameLst>
                                          <p:attrName>ppt_w</p:attrName>
                                        </p:attrNameLst>
                                      </p:cBhvr>
                                      <p:tavLst>
                                        <p:tav tm="0">
                                          <p:val>
                                            <p:strVal val="#ppt_w*1.08"/>
                                          </p:val>
                                        </p:tav>
                                        <p:tav tm="100000">
                                          <p:val>
                                            <p:strVal val="#ppt_w"/>
                                          </p:val>
                                        </p:tav>
                                      </p:tavLst>
                                    </p:anim>
                                    <p:anim calcmode="lin" valueType="num">
                                      <p:cBhvr additive="base">
                                        <p:cTn id="81" dur="160" fill="hold">
                                          <p:stCondLst>
                                            <p:cond delay="350"/>
                                          </p:stCondLst>
                                        </p:cTn>
                                        <p:tgtEl>
                                          <p:spTgt spid="113"/>
                                        </p:tgtEl>
                                        <p:attrNameLst>
                                          <p:attrName>ppt_h</p:attrName>
                                        </p:attrNameLst>
                                      </p:cBhvr>
                                      <p:tavLst>
                                        <p:tav tm="0">
                                          <p:val>
                                            <p:strVal val="#ppt_h*1.08"/>
                                          </p:val>
                                        </p:tav>
                                        <p:tav tm="100000">
                                          <p:val>
                                            <p:strVal val="#ppt_h"/>
                                          </p:val>
                                        </p:tav>
                                      </p:tavLst>
                                    </p:anim>
                                  </p:childTnLst>
                                </p:cTn>
                              </p:par>
                              <p:par>
                                <p:cTn id="82" presetID="53" presetClass="entr" presetSubtype="16" fill="hold" grpId="0" nodeType="withEffect">
                                  <p:stCondLst>
                                    <p:cond delay="770"/>
                                  </p:stCondLst>
                                  <p:childTnLst>
                                    <p:set>
                                      <p:cBhvr>
                                        <p:cTn id="83" dur="1" fill="hold">
                                          <p:stCondLst>
                                            <p:cond delay="0"/>
                                          </p:stCondLst>
                                        </p:cTn>
                                        <p:tgtEl>
                                          <p:spTgt spid="114"/>
                                        </p:tgtEl>
                                        <p:attrNameLst>
                                          <p:attrName>style.visibility</p:attrName>
                                        </p:attrNameLst>
                                      </p:cBhvr>
                                      <p:to>
                                        <p:strVal val="visible"/>
                                      </p:to>
                                    </p:set>
                                    <p:anim calcmode="lin" valueType="num">
                                      <p:cBhvr additive="base">
                                        <p:cTn id="84" dur="350" decel="100000" fill="hold"/>
                                        <p:tgtEl>
                                          <p:spTgt spid="114"/>
                                        </p:tgtEl>
                                        <p:attrNameLst>
                                          <p:attrName>ppt_w</p:attrName>
                                        </p:attrNameLst>
                                      </p:cBhvr>
                                      <p:tavLst>
                                        <p:tav tm="0">
                                          <p:val>
                                            <p:strVal val="#ppt_w*0.3"/>
                                          </p:val>
                                        </p:tav>
                                        <p:tav tm="100000">
                                          <p:val>
                                            <p:strVal val="#ppt_w*1.08"/>
                                          </p:val>
                                        </p:tav>
                                      </p:tavLst>
                                    </p:anim>
                                    <p:anim calcmode="lin" valueType="num">
                                      <p:cBhvr additive="base">
                                        <p:cTn id="85" dur="350" decel="100000" fill="hold"/>
                                        <p:tgtEl>
                                          <p:spTgt spid="114"/>
                                        </p:tgtEl>
                                        <p:attrNameLst>
                                          <p:attrName>ppt_h</p:attrName>
                                        </p:attrNameLst>
                                      </p:cBhvr>
                                      <p:tavLst>
                                        <p:tav tm="0">
                                          <p:val>
                                            <p:strVal val="#ppt_h*0.3"/>
                                          </p:val>
                                        </p:tav>
                                        <p:tav tm="100000">
                                          <p:val>
                                            <p:strVal val="#ppt_h*1.08"/>
                                          </p:val>
                                        </p:tav>
                                      </p:tavLst>
                                    </p:anim>
                                    <p:animEffect transition="in" filter="fade">
                                      <p:cBhvr>
                                        <p:cTn id="86" dur="175"/>
                                        <p:tgtEl>
                                          <p:spTgt spid="114"/>
                                        </p:tgtEl>
                                      </p:cBhvr>
                                    </p:animEffect>
                                    <p:anim calcmode="lin" valueType="num">
                                      <p:cBhvr additive="base">
                                        <p:cTn id="87" dur="160" fill="hold">
                                          <p:stCondLst>
                                            <p:cond delay="350"/>
                                          </p:stCondLst>
                                        </p:cTn>
                                        <p:tgtEl>
                                          <p:spTgt spid="114"/>
                                        </p:tgtEl>
                                        <p:attrNameLst>
                                          <p:attrName>ppt_w</p:attrName>
                                        </p:attrNameLst>
                                      </p:cBhvr>
                                      <p:tavLst>
                                        <p:tav tm="0">
                                          <p:val>
                                            <p:strVal val="#ppt_w*1.08"/>
                                          </p:val>
                                        </p:tav>
                                        <p:tav tm="100000">
                                          <p:val>
                                            <p:strVal val="#ppt_w"/>
                                          </p:val>
                                        </p:tav>
                                      </p:tavLst>
                                    </p:anim>
                                    <p:anim calcmode="lin" valueType="num">
                                      <p:cBhvr additive="base">
                                        <p:cTn id="88" dur="160" fill="hold">
                                          <p:stCondLst>
                                            <p:cond delay="350"/>
                                          </p:stCondLst>
                                        </p:cTn>
                                        <p:tgtEl>
                                          <p:spTgt spid="114"/>
                                        </p:tgtEl>
                                        <p:attrNameLst>
                                          <p:attrName>ppt_h</p:attrName>
                                        </p:attrNameLst>
                                      </p:cBhvr>
                                      <p:tavLst>
                                        <p:tav tm="0">
                                          <p:val>
                                            <p:strVal val="#ppt_h*1.08"/>
                                          </p:val>
                                        </p:tav>
                                        <p:tav tm="100000">
                                          <p:val>
                                            <p:strVal val="#ppt_h"/>
                                          </p:val>
                                        </p:tav>
                                      </p:tavLst>
                                    </p:anim>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101"/>
                                        </p:tgtEl>
                                        <p:attrNameLst>
                                          <p:attrName>style.visibility</p:attrName>
                                        </p:attrNameLst>
                                      </p:cBhvr>
                                      <p:to>
                                        <p:strVal val="visible"/>
                                      </p:to>
                                    </p:set>
                                    <p:animEffect transition="in" filter="fade">
                                      <p:cBhvr>
                                        <p:cTn id="93" dur="900"/>
                                        <p:tgtEl>
                                          <p:spTgt spid="101"/>
                                        </p:tgtEl>
                                      </p:cBhvr>
                                    </p:animEffect>
                                  </p:childTnLst>
                                </p:cTn>
                              </p:par>
                              <p:par>
                                <p:cTn id="94" presetID="10" presetClass="entr" presetSubtype="0" fill="hold" grpId="0" nodeType="withEffect">
                                  <p:stCondLst>
                                    <p:cond delay="60"/>
                                  </p:stCondLst>
                                  <p:childTnLst>
                                    <p:set>
                                      <p:cBhvr>
                                        <p:cTn id="95" dur="1" fill="hold">
                                          <p:stCondLst>
                                            <p:cond delay="0"/>
                                          </p:stCondLst>
                                        </p:cTn>
                                        <p:tgtEl>
                                          <p:spTgt spid="102"/>
                                        </p:tgtEl>
                                        <p:attrNameLst>
                                          <p:attrName>style.visibility</p:attrName>
                                        </p:attrNameLst>
                                      </p:cBhvr>
                                      <p:to>
                                        <p:strVal val="visible"/>
                                      </p:to>
                                    </p:set>
                                    <p:animEffect transition="in" filter="fade">
                                      <p:cBhvr>
                                        <p:cTn id="96" dur="900"/>
                                        <p:tgtEl>
                                          <p:spTgt spid="102"/>
                                        </p:tgtEl>
                                      </p:cBhvr>
                                    </p:animEffect>
                                  </p:childTnLst>
                                </p:cTn>
                              </p:par>
                              <p:par>
                                <p:cTn id="97" presetID="0" presetClass="path" presetSubtype="0" fill="hold" grpId="2" nodeType="withEffect">
                                  <p:stCondLst>
                                    <p:cond delay="120"/>
                                  </p:stCondLst>
                                  <p:childTnLst>
                                    <p:animMotion origin="layout" path="M 0 0 L 0.5630 0.0467 E" pathEditMode="relative" ptsTypes="AA">
                                      <p:cBhvr>
                                        <p:cTn id="98" dur="900" accel="20000" decel="60000" fill="hold"/>
                                        <p:tgtEl>
                                          <p:spTgt spid="103"/>
                                        </p:tgtEl>
                                        <p:attrNameLst>
                                          <p:attrName>ppt_x</p:attrName>
                                          <p:attrName>ppt_y</p:attrName>
                                        </p:attrNameLst>
                                      </p:cBhvr>
                                    </p:animMotion>
                                    <p:animRot by="240000">
                                      <p:cBhvr>
                                        <p:cTn id="99" dur="900" fill="hold"/>
                                        <p:tgtEl>
                                          <p:spTgt spid="103"/>
                                        </p:tgtEl>
                                        <p:attrNameLst>
                                          <p:attrName>r</p:attrName>
                                        </p:attrNameLst>
                                      </p:cBhvr>
                                    </p:animRot>
                                  </p:childTnLst>
                                </p:cTn>
                              </p:par>
                              <p:par>
                                <p:cTn id="100" presetID="0" presetClass="path" presetSubtype="0" fill="hold" grpId="2" nodeType="withEffect">
                                  <p:stCondLst>
                                    <p:cond delay="180"/>
                                  </p:stCondLst>
                                  <p:childTnLst>
                                    <p:animMotion origin="layout" path="M 0 0 L 0.6065 0.0307 E" pathEditMode="relative" ptsTypes="AA">
                                      <p:cBhvr>
                                        <p:cTn id="101" dur="900" accel="20000" decel="60000" fill="hold"/>
                                        <p:tgtEl>
                                          <p:spTgt spid="104"/>
                                        </p:tgtEl>
                                        <p:attrNameLst>
                                          <p:attrName>ppt_x</p:attrName>
                                          <p:attrName>ppt_y</p:attrName>
                                        </p:attrNameLst>
                                      </p:cBhvr>
                                    </p:animMotion>
                                    <p:animRot by="-180000">
                                      <p:cBhvr>
                                        <p:cTn id="102" dur="900" fill="hold"/>
                                        <p:tgtEl>
                                          <p:spTgt spid="104"/>
                                        </p:tgtEl>
                                        <p:attrNameLst>
                                          <p:attrName>r</p:attrName>
                                        </p:attrNameLst>
                                      </p:cBhvr>
                                    </p:animRot>
                                  </p:childTnLst>
                                </p:cTn>
                              </p:par>
                              <p:par>
                                <p:cTn id="103" presetID="0" presetClass="path" presetSubtype="0" fill="hold" grpId="2" nodeType="withEffect">
                                  <p:stCondLst>
                                    <p:cond delay="240"/>
                                  </p:stCondLst>
                                  <p:childTnLst>
                                    <p:animMotion origin="layout" path="M 0 0 L 0.3200 0.1293 E" pathEditMode="relative" ptsTypes="AA">
                                      <p:cBhvr>
                                        <p:cTn id="104" dur="900" accel="20000" decel="60000" fill="hold"/>
                                        <p:tgtEl>
                                          <p:spTgt spid="105"/>
                                        </p:tgtEl>
                                        <p:attrNameLst>
                                          <p:attrName>ppt_x</p:attrName>
                                          <p:attrName>ppt_y</p:attrName>
                                        </p:attrNameLst>
                                      </p:cBhvr>
                                    </p:animMotion>
                                    <p:animRot by="120000">
                                      <p:cBhvr>
                                        <p:cTn id="105" dur="900" fill="hold"/>
                                        <p:tgtEl>
                                          <p:spTgt spid="105"/>
                                        </p:tgtEl>
                                        <p:attrNameLst>
                                          <p:attrName>r</p:attrName>
                                        </p:attrNameLst>
                                      </p:cBhvr>
                                    </p:animRot>
                                  </p:childTnLst>
                                </p:cTn>
                              </p:par>
                              <p:par>
                                <p:cTn id="106" presetID="0" presetClass="path" presetSubtype="0" fill="hold" grpId="2" nodeType="withEffect">
                                  <p:stCondLst>
                                    <p:cond delay="300"/>
                                  </p:stCondLst>
                                  <p:childTnLst>
                                    <p:animMotion origin="layout" path="M 0 0 L 0.3635 0.1133 E" pathEditMode="relative" ptsTypes="AA">
                                      <p:cBhvr>
                                        <p:cTn id="107" dur="900" accel="20000" decel="60000" fill="hold"/>
                                        <p:tgtEl>
                                          <p:spTgt spid="106"/>
                                        </p:tgtEl>
                                        <p:attrNameLst>
                                          <p:attrName>ppt_x</p:attrName>
                                          <p:attrName>ppt_y</p:attrName>
                                        </p:attrNameLst>
                                      </p:cBhvr>
                                    </p:animMotion>
                                    <p:animRot by="-300000">
                                      <p:cBhvr>
                                        <p:cTn id="108" dur="900" fill="hold"/>
                                        <p:tgtEl>
                                          <p:spTgt spid="106"/>
                                        </p:tgtEl>
                                        <p:attrNameLst>
                                          <p:attrName>r</p:attrName>
                                        </p:attrNameLst>
                                      </p:cBhvr>
                                    </p:animRot>
                                  </p:childTnLst>
                                </p:cTn>
                              </p:par>
                              <p:par>
                                <p:cTn id="109" presetID="0" presetClass="path" presetSubtype="0" fill="hold" grpId="2" nodeType="withEffect">
                                  <p:stCondLst>
                                    <p:cond delay="360"/>
                                  </p:stCondLst>
                                  <p:childTnLst>
                                    <p:animMotion origin="layout" path="M 0 0 L 0.5442 0.0547 E" pathEditMode="relative" ptsTypes="AA">
                                      <p:cBhvr>
                                        <p:cTn id="110" dur="900" accel="20000" decel="60000" fill="hold"/>
                                        <p:tgtEl>
                                          <p:spTgt spid="107"/>
                                        </p:tgtEl>
                                        <p:attrNameLst>
                                          <p:attrName>ppt_x</p:attrName>
                                          <p:attrName>ppt_y</p:attrName>
                                        </p:attrNameLst>
                                      </p:cBhvr>
                                    </p:animMotion>
                                    <p:animRot by="180000">
                                      <p:cBhvr>
                                        <p:cTn id="111" dur="900" fill="hold"/>
                                        <p:tgtEl>
                                          <p:spTgt spid="107"/>
                                        </p:tgtEl>
                                        <p:attrNameLst>
                                          <p:attrName>r</p:attrName>
                                        </p:attrNameLst>
                                      </p:cBhvr>
                                    </p:animRot>
                                  </p:childTnLst>
                                </p:cTn>
                              </p:par>
                              <p:par>
                                <p:cTn id="112" presetID="0" presetClass="path" presetSubtype="0" fill="hold" grpId="2" nodeType="withEffect">
                                  <p:stCondLst>
                                    <p:cond delay="420"/>
                                  </p:stCondLst>
                                  <p:childTnLst>
                                    <p:animMotion origin="layout" path="M 0 0 L 0.5877 0.0387 E" pathEditMode="relative" ptsTypes="AA">
                                      <p:cBhvr>
                                        <p:cTn id="113" dur="900" accel="20000" decel="60000" fill="hold"/>
                                        <p:tgtEl>
                                          <p:spTgt spid="108"/>
                                        </p:tgtEl>
                                        <p:attrNameLst>
                                          <p:attrName>ppt_x</p:attrName>
                                          <p:attrName>ppt_y</p:attrName>
                                        </p:attrNameLst>
                                      </p:cBhvr>
                                    </p:animMotion>
                                    <p:animRot by="-120000">
                                      <p:cBhvr>
                                        <p:cTn id="114" dur="900" fill="hold"/>
                                        <p:tgtEl>
                                          <p:spTgt spid="108"/>
                                        </p:tgtEl>
                                        <p:attrNameLst>
                                          <p:attrName>r</p:attrName>
                                        </p:attrNameLst>
                                      </p:cBhvr>
                                    </p:animRot>
                                  </p:childTnLst>
                                </p:cTn>
                              </p:par>
                              <p:par>
                                <p:cTn id="115" presetID="0" presetClass="path" presetSubtype="0" fill="hold" grpId="2" nodeType="withEffect">
                                  <p:stCondLst>
                                    <p:cond delay="480"/>
                                  </p:stCondLst>
                                  <p:childTnLst>
                                    <p:animMotion origin="layout" path="M 0 0 L 0.3012 0.1373 E" pathEditMode="relative" ptsTypes="AA">
                                      <p:cBhvr>
                                        <p:cTn id="116" dur="900" accel="20000" decel="60000" fill="hold"/>
                                        <p:tgtEl>
                                          <p:spTgt spid="109"/>
                                        </p:tgtEl>
                                        <p:attrNameLst>
                                          <p:attrName>ppt_x</p:attrName>
                                          <p:attrName>ppt_y</p:attrName>
                                        </p:attrNameLst>
                                      </p:cBhvr>
                                    </p:animMotion>
                                    <p:animRot by="-240000">
                                      <p:cBhvr>
                                        <p:cTn id="117" dur="900" fill="hold"/>
                                        <p:tgtEl>
                                          <p:spTgt spid="109"/>
                                        </p:tgtEl>
                                        <p:attrNameLst>
                                          <p:attrName>r</p:attrName>
                                        </p:attrNameLst>
                                      </p:cBhvr>
                                    </p:animRot>
                                  </p:childTnLst>
                                </p:cTn>
                              </p:par>
                              <p:par>
                                <p:cTn id="118" presetID="0" presetClass="path" presetSubtype="0" fill="hold" grpId="2" nodeType="withEffect">
                                  <p:stCondLst>
                                    <p:cond delay="540"/>
                                  </p:stCondLst>
                                  <p:childTnLst>
                                    <p:animMotion origin="layout" path="M 0 0 L 0.3447 0.1213 E" pathEditMode="relative" ptsTypes="AA">
                                      <p:cBhvr>
                                        <p:cTn id="119" dur="900" accel="20000" decel="60000" fill="hold"/>
                                        <p:tgtEl>
                                          <p:spTgt spid="110"/>
                                        </p:tgtEl>
                                        <p:attrNameLst>
                                          <p:attrName>ppt_x</p:attrName>
                                          <p:attrName>ppt_y</p:attrName>
                                        </p:attrNameLst>
                                      </p:cBhvr>
                                    </p:animMotion>
                                    <p:animRot by="300000">
                                      <p:cBhvr>
                                        <p:cTn id="120" dur="900" fill="hold"/>
                                        <p:tgtEl>
                                          <p:spTgt spid="110"/>
                                        </p:tgtEl>
                                        <p:attrNameLst>
                                          <p:attrName>r</p:attrName>
                                        </p:attrNameLst>
                                      </p:cBhvr>
                                    </p:animRot>
                                  </p:childTnLst>
                                </p:cTn>
                              </p:par>
                              <p:par>
                                <p:cTn id="121" presetID="0" presetClass="path" presetSubtype="0" fill="hold" grpId="2" nodeType="withEffect">
                                  <p:stCondLst>
                                    <p:cond delay="600"/>
                                  </p:stCondLst>
                                  <p:childTnLst>
                                    <p:animMotion origin="layout" path="M 0 0 L 0.5630 0.0627 E" pathEditMode="relative" ptsTypes="AA">
                                      <p:cBhvr>
                                        <p:cTn id="122" dur="900" accel="20000" decel="60000" fill="hold"/>
                                        <p:tgtEl>
                                          <p:spTgt spid="111"/>
                                        </p:tgtEl>
                                        <p:attrNameLst>
                                          <p:attrName>ppt_x</p:attrName>
                                          <p:attrName>ppt_y</p:attrName>
                                        </p:attrNameLst>
                                      </p:cBhvr>
                                    </p:animMotion>
                                    <p:animRot by="-120000">
                                      <p:cBhvr>
                                        <p:cTn id="123" dur="900" fill="hold"/>
                                        <p:tgtEl>
                                          <p:spTgt spid="111"/>
                                        </p:tgtEl>
                                        <p:attrNameLst>
                                          <p:attrName>r</p:attrName>
                                        </p:attrNameLst>
                                      </p:cBhvr>
                                    </p:animRot>
                                  </p:childTnLst>
                                </p:cTn>
                              </p:par>
                              <p:par>
                                <p:cTn id="124" presetID="0" presetClass="path" presetSubtype="0" fill="hold" grpId="2" nodeType="withEffect">
                                  <p:stCondLst>
                                    <p:cond delay="660"/>
                                  </p:stCondLst>
                                  <p:childTnLst>
                                    <p:animMotion origin="layout" path="M 0 0 L 0.6065 0.0467 E" pathEditMode="relative" ptsTypes="AA">
                                      <p:cBhvr>
                                        <p:cTn id="125" dur="900" accel="20000" decel="60000" fill="hold"/>
                                        <p:tgtEl>
                                          <p:spTgt spid="112"/>
                                        </p:tgtEl>
                                        <p:attrNameLst>
                                          <p:attrName>ppt_x</p:attrName>
                                          <p:attrName>ppt_y</p:attrName>
                                        </p:attrNameLst>
                                      </p:cBhvr>
                                    </p:animMotion>
                                    <p:animRot by="120000">
                                      <p:cBhvr>
                                        <p:cTn id="126" dur="900" fill="hold"/>
                                        <p:tgtEl>
                                          <p:spTgt spid="112"/>
                                        </p:tgtEl>
                                        <p:attrNameLst>
                                          <p:attrName>r</p:attrName>
                                        </p:attrNameLst>
                                      </p:cBhvr>
                                    </p:animRot>
                                  </p:childTnLst>
                                </p:cTn>
                              </p:par>
                              <p:par>
                                <p:cTn id="127" presetID="0" presetClass="path" presetSubtype="0" fill="hold" grpId="2" nodeType="withEffect">
                                  <p:stCondLst>
                                    <p:cond delay="720"/>
                                  </p:stCondLst>
                                  <p:childTnLst>
                                    <p:animMotion origin="layout" path="M 0 0 L 0.3200 0.1453 E" pathEditMode="relative" ptsTypes="AA">
                                      <p:cBhvr>
                                        <p:cTn id="128" dur="900" accel="20000" decel="60000" fill="hold"/>
                                        <p:tgtEl>
                                          <p:spTgt spid="113"/>
                                        </p:tgtEl>
                                        <p:attrNameLst>
                                          <p:attrName>ppt_x</p:attrName>
                                          <p:attrName>ppt_y</p:attrName>
                                        </p:attrNameLst>
                                      </p:cBhvr>
                                    </p:animMotion>
                                    <p:animRot by="-180000">
                                      <p:cBhvr>
                                        <p:cTn id="129" dur="900" fill="hold"/>
                                        <p:tgtEl>
                                          <p:spTgt spid="113"/>
                                        </p:tgtEl>
                                        <p:attrNameLst>
                                          <p:attrName>r</p:attrName>
                                        </p:attrNameLst>
                                      </p:cBhvr>
                                    </p:animRot>
                                  </p:childTnLst>
                                </p:cTn>
                              </p:par>
                              <p:par>
                                <p:cTn id="130" presetID="0" presetClass="path" presetSubtype="0" fill="hold" grpId="2" nodeType="withEffect">
                                  <p:stCondLst>
                                    <p:cond delay="780"/>
                                  </p:stCondLst>
                                  <p:childTnLst>
                                    <p:animMotion origin="layout" path="M 0 0 L 0.3635 0.1293 E" pathEditMode="relative" ptsTypes="AA">
                                      <p:cBhvr>
                                        <p:cTn id="131" dur="900" accel="20000" decel="60000" fill="hold"/>
                                        <p:tgtEl>
                                          <p:spTgt spid="114"/>
                                        </p:tgtEl>
                                        <p:attrNameLst>
                                          <p:attrName>ppt_x</p:attrName>
                                          <p:attrName>ppt_y</p:attrName>
                                        </p:attrNameLst>
                                      </p:cBhvr>
                                    </p:animMotion>
                                    <p:animRot by="240000">
                                      <p:cBhvr>
                                        <p:cTn id="132" dur="900" fill="hold"/>
                                        <p:tgtEl>
                                          <p:spTgt spid="114"/>
                                        </p:tgtEl>
                                        <p:attrNameLst>
                                          <p:attrName>r</p:attrName>
                                        </p:attrNameLst>
                                      </p:cBhvr>
                                    </p:animRot>
                                  </p:childTnLst>
                                </p:cTn>
                              </p:par>
                            </p:childTnLst>
                          </p:cTn>
                        </p:par>
                      </p:childTnLst>
                    </p:cTn>
                  </p:par>
                  <p:par>
                    <p:cTn id="133" fill="hold">
                      <p:stCondLst>
                        <p:cond delay="indefinite"/>
                      </p:stCondLst>
                      <p:childTnLst>
                        <p:par>
                          <p:cTn id="134" fill="hold">
                            <p:stCondLst>
                              <p:cond delay="0"/>
                            </p:stCondLst>
                            <p:childTnLst>
                              <p:par>
                                <p:cTn id="135" presetID="42" presetClass="entr" presetSubtype="0" fill="hold" grpId="0" nodeType="clickEffect">
                                  <p:stCondLst>
                                    <p:cond delay="0"/>
                                  </p:stCondLst>
                                  <p:childTnLst>
                                    <p:set>
                                      <p:cBhvr>
                                        <p:cTn id="136" dur="1" fill="hold">
                                          <p:stCondLst>
                                            <p:cond delay="0"/>
                                          </p:stCondLst>
                                        </p:cTn>
                                        <p:tgtEl>
                                          <p:spTgt spid="115"/>
                                        </p:tgtEl>
                                        <p:attrNameLst>
                                          <p:attrName>style.visibility</p:attrName>
                                        </p:attrNameLst>
                                      </p:cBhvr>
                                      <p:to>
                                        <p:strVal val="visible"/>
                                      </p:to>
                                    </p:set>
                                    <p:animEffect transition="in" filter="fade">
                                      <p:cBhvr>
                                        <p:cTn id="137" dur="500"/>
                                        <p:tgtEl>
                                          <p:spTgt spid="115"/>
                                        </p:tgtEl>
                                      </p:cBhvr>
                                    </p:animEffect>
                                    <p:anim calcmode="lin" valueType="num">
                                      <p:cBhvr additive="base">
                                        <p:cTn id="138" dur="500" decel="100000" fill="hold"/>
                                        <p:tgtEl>
                                          <p:spTgt spid="115"/>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3" grpId="2" animBg="1"/>
      <p:bldP spid="104" grpId="0" animBg="1"/>
      <p:bldP spid="104" grpId="2" animBg="1"/>
      <p:bldP spid="105" grpId="0" animBg="1"/>
      <p:bldP spid="105" grpId="2" animBg="1"/>
      <p:bldP spid="106" grpId="0" animBg="1"/>
      <p:bldP spid="106" grpId="2" animBg="1"/>
      <p:bldP spid="107" grpId="0" animBg="1"/>
      <p:bldP spid="107" grpId="2" animBg="1"/>
      <p:bldP spid="108" grpId="0" animBg="1"/>
      <p:bldP spid="108" grpId="2" animBg="1"/>
      <p:bldP spid="109" grpId="0" animBg="1"/>
      <p:bldP spid="109" grpId="2" animBg="1"/>
      <p:bldP spid="110" grpId="0" animBg="1"/>
      <p:bldP spid="110" grpId="2" animBg="1"/>
      <p:bldP spid="111" grpId="0" animBg="1"/>
      <p:bldP spid="111" grpId="2" animBg="1"/>
      <p:bldP spid="112" grpId="0" animBg="1"/>
      <p:bldP spid="112" grpId="2" animBg="1"/>
      <p:bldP spid="113" grpId="0" animBg="1"/>
      <p:bldP spid="113" grpId="2" animBg="1"/>
      <p:bldP spid="114" grpId="0" animBg="1"/>
      <p:bldP spid="114" grpId="2" animBg="1"/>
      <p:bldP spid="115"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PRIORITY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We Cannot Build Everything First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Sarah asks: what should create value first?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240</a:t>
            </a:r>
            <a:endParaRPr lang="en-US" sz="850" dirty="0"/>
          </a:p>
        </p:txBody>
      </p:sp>
      <p:sp>
        <p:nvSpPr>
          <p:cNvPr id="101" name="s101"/>
          <p:cNvSpPr/>
          <p:nvPr/>
        </p:nvSpPr>
        <p:spPr>
          <a:xfrm>
            <a:off x="543154" y="1993392"/>
            <a:ext cx="566928" cy="566928"/>
          </a:xfrm>
          <a:prstGeom prst="ellipse">
            <a:avLst/>
          </a:prstGeom>
          <a:solidFill>
            <a:srgbClr val="FBBF24">
              <a:alpha val="22000"/>
            </a:srgbClr>
          </a:solidFill>
          <a:ln w="1905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FBBF24"/>
                </a:solidFill>
                <a:latin typeface="Segoe UI"/>
                <a:ea typeface="Segoe UI"/>
                <a:cs typeface="Segoe UI"/>
              </a:rPr>
              <a:t>S</a:t>
            </a:r>
            <a:endParaRPr lang="en-US" sz="1612" dirty="0"/>
          </a:p>
        </p:txBody>
      </p:sp>
      <p:sp>
        <p:nvSpPr>
          <p:cNvPr id="102" name="s102"/>
          <p:cNvSpPr/>
          <p:nvPr/>
        </p:nvSpPr>
        <p:spPr>
          <a:xfrm>
            <a:off x="1274674" y="1920240"/>
            <a:ext cx="10356494" cy="777240"/>
          </a:xfrm>
          <a:prstGeom prst="roundRect">
            <a:avLst>
              <a:gd name="adj" fmla="val 14000"/>
            </a:avLst>
          </a:prstGeom>
          <a:solidFill>
            <a:srgbClr val="111B2E"/>
          </a:solidFill>
          <a:ln w="12700">
            <a:solidFill>
              <a:srgbClr val="FBBF24"/>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FBBF24"/>
                </a:solidFill>
                <a:latin typeface="Segoe UI"/>
                <a:ea typeface="Segoe UI"/>
                <a:cs typeface="Segoe UI"/>
              </a:rPr>
              <a:t>Sarah</a:t>
            </a:r>
            <a:r>
              <a:rPr lang="en-US" sz="1100" b="0" dirty="0">
                <a:solidFill>
                  <a:srgbClr val="94A3B8"/>
                </a:solidFill>
                <a:latin typeface="Segoe UI"/>
                <a:ea typeface="Segoe UI"/>
                <a:cs typeface="Segoe UI"/>
              </a:rPr>
              <a:t>  ·  Product Owner</a:t>
            </a:r>
            <a:endParaRPr lang="en-US" sz="1100" dirty="0"/>
          </a:p>
          <a:p>
            <a:pPr marL="0" indent="0" algn="l">
              <a:spcBef>
                <a:spcPts val="0"/>
              </a:spcBef>
              <a:spcAft>
                <a:spcPts val="0"/>
              </a:spcAft>
              <a:buNone/>
            </a:pPr>
            <a:r>
              <a:rPr lang="en-US" sz="1500" b="0" dirty="0">
                <a:solidFill>
                  <a:srgbClr val="FFFFFF"/>
                </a:solidFill>
                <a:latin typeface="Segoe UI"/>
                <a:ea typeface="Segoe UI"/>
                <a:cs typeface="Segoe UI"/>
              </a:rPr>
              <a:t>What should create value first for receptionists and patients?</a:t>
            </a:r>
            <a:endParaRPr lang="en-US" sz="1500" dirty="0"/>
          </a:p>
        </p:txBody>
      </p:sp>
      <p:sp>
        <p:nvSpPr>
          <p:cNvPr id="103" name="s103"/>
          <p:cNvSpPr txBox="1"/>
          <p:nvPr/>
        </p:nvSpPr>
        <p:spPr>
          <a:xfrm>
            <a:off x="543154" y="2926080"/>
            <a:ext cx="36576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34D399"/>
                </a:solidFill>
                <a:latin typeface="Segoe UI"/>
                <a:ea typeface="Segoe UI"/>
                <a:cs typeface="Segoe UI"/>
              </a:rPr>
              <a:t>FIRST-RELEASE FOCUS</a:t>
            </a:r>
            <a:endParaRPr lang="en-US" sz="1100" dirty="0"/>
          </a:p>
        </p:txBody>
      </p:sp>
      <p:sp>
        <p:nvSpPr>
          <p:cNvPr id="104" name="s104"/>
          <p:cNvSpPr/>
          <p:nvPr/>
        </p:nvSpPr>
        <p:spPr>
          <a:xfrm>
            <a:off x="543154" y="3246120"/>
            <a:ext cx="5852160" cy="384048"/>
          </a:xfrm>
          <a:prstGeom prst="roundRect">
            <a:avLst>
              <a:gd name="adj" fmla="val 20000"/>
            </a:avLst>
          </a:prstGeom>
          <a:solidFill>
            <a:srgbClr val="34D399">
              <a:alpha val="26000"/>
            </a:srgbClr>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1   </a:t>
            </a:r>
            <a:r>
              <a:rPr lang="en-US" sz="1300" b="1" dirty="0">
                <a:solidFill>
                  <a:srgbClr val="FFFFFF"/>
                </a:solidFill>
                <a:latin typeface="Segoe UI"/>
                <a:ea typeface="Segoe UI"/>
                <a:cs typeface="Segoe UI"/>
              </a:rPr>
              <a:t>Register patient</a:t>
            </a:r>
            <a:endParaRPr lang="en-US" sz="1300" dirty="0"/>
          </a:p>
        </p:txBody>
      </p:sp>
      <p:sp>
        <p:nvSpPr>
          <p:cNvPr id="105" name="s105"/>
          <p:cNvSpPr/>
          <p:nvPr/>
        </p:nvSpPr>
        <p:spPr>
          <a:xfrm>
            <a:off x="543154" y="3703320"/>
            <a:ext cx="5852160" cy="384048"/>
          </a:xfrm>
          <a:prstGeom prst="roundRect">
            <a:avLst>
              <a:gd name="adj" fmla="val 20000"/>
            </a:avLst>
          </a:prstGeom>
          <a:solidFill>
            <a:srgbClr val="34D399">
              <a:alpha val="22000"/>
            </a:srgbClr>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2   </a:t>
            </a:r>
            <a:r>
              <a:rPr lang="en-US" sz="1300" b="1" dirty="0">
                <a:solidFill>
                  <a:srgbClr val="FFFFFF"/>
                </a:solidFill>
                <a:latin typeface="Segoe UI"/>
                <a:ea typeface="Segoe UI"/>
                <a:cs typeface="Segoe UI"/>
              </a:rPr>
              <a:t>View doctor availability</a:t>
            </a:r>
            <a:endParaRPr lang="en-US" sz="1300" dirty="0"/>
          </a:p>
        </p:txBody>
      </p:sp>
      <p:sp>
        <p:nvSpPr>
          <p:cNvPr id="106" name="s106"/>
          <p:cNvSpPr/>
          <p:nvPr/>
        </p:nvSpPr>
        <p:spPr>
          <a:xfrm>
            <a:off x="543154" y="4160520"/>
            <a:ext cx="5852160" cy="384048"/>
          </a:xfrm>
          <a:prstGeom prst="roundRect">
            <a:avLst>
              <a:gd name="adj" fmla="val 20000"/>
            </a:avLst>
          </a:prstGeom>
          <a:solidFill>
            <a:srgbClr val="34D399">
              <a:alpha val="18000"/>
            </a:srgbClr>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3   </a:t>
            </a:r>
            <a:r>
              <a:rPr lang="en-US" sz="1300" b="1" dirty="0">
                <a:solidFill>
                  <a:srgbClr val="FFFFFF"/>
                </a:solidFill>
                <a:latin typeface="Segoe UI"/>
                <a:ea typeface="Segoe UI"/>
                <a:cs typeface="Segoe UI"/>
              </a:rPr>
              <a:t>Book appointment</a:t>
            </a:r>
            <a:endParaRPr lang="en-US" sz="1300" dirty="0"/>
          </a:p>
        </p:txBody>
      </p:sp>
      <p:sp>
        <p:nvSpPr>
          <p:cNvPr id="107" name="s107"/>
          <p:cNvSpPr/>
          <p:nvPr/>
        </p:nvSpPr>
        <p:spPr>
          <a:xfrm>
            <a:off x="543154" y="4617720"/>
            <a:ext cx="5852160" cy="384048"/>
          </a:xfrm>
          <a:prstGeom prst="roundRect">
            <a:avLst>
              <a:gd name="adj" fmla="val 20000"/>
            </a:avLst>
          </a:prstGeom>
          <a:solidFill>
            <a:srgbClr val="34D399">
              <a:alpha val="14000"/>
            </a:srgbClr>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4   </a:t>
            </a:r>
            <a:r>
              <a:rPr lang="en-US" sz="1300" b="1" dirty="0">
                <a:solidFill>
                  <a:srgbClr val="FFFFFF"/>
                </a:solidFill>
                <a:latin typeface="Segoe UI"/>
                <a:ea typeface="Segoe UI"/>
                <a:cs typeface="Segoe UI"/>
              </a:rPr>
              <a:t>Cancel appointment</a:t>
            </a:r>
            <a:endParaRPr lang="en-US" sz="1300" dirty="0"/>
          </a:p>
        </p:txBody>
      </p:sp>
      <p:sp>
        <p:nvSpPr>
          <p:cNvPr id="108" name="s108"/>
          <p:cNvSpPr/>
          <p:nvPr/>
        </p:nvSpPr>
        <p:spPr>
          <a:xfrm>
            <a:off x="543154" y="5074920"/>
            <a:ext cx="5852160" cy="384048"/>
          </a:xfrm>
          <a:prstGeom prst="roundRect">
            <a:avLst>
              <a:gd name="adj" fmla="val 20000"/>
            </a:avLst>
          </a:prstGeom>
          <a:solidFill>
            <a:srgbClr val="34D399">
              <a:alpha val="10000"/>
            </a:srgbClr>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5   </a:t>
            </a:r>
            <a:r>
              <a:rPr lang="en-US" sz="1300" b="1" dirty="0">
                <a:solidFill>
                  <a:srgbClr val="FFFFFF"/>
                </a:solidFill>
                <a:latin typeface="Segoe UI"/>
                <a:ea typeface="Segoe UI"/>
                <a:cs typeface="Segoe UI"/>
              </a:rPr>
              <a:t>Confirmation</a:t>
            </a:r>
            <a:endParaRPr lang="en-US" sz="1300" dirty="0"/>
          </a:p>
        </p:txBody>
      </p:sp>
      <p:sp>
        <p:nvSpPr>
          <p:cNvPr id="109" name="s109"/>
          <p:cNvSpPr txBox="1"/>
          <p:nvPr/>
        </p:nvSpPr>
        <p:spPr>
          <a:xfrm>
            <a:off x="6761074" y="2926080"/>
            <a:ext cx="27432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LATER</a:t>
            </a:r>
            <a:endParaRPr lang="en-US" sz="1100" dirty="0"/>
          </a:p>
        </p:txBody>
      </p:sp>
      <p:sp>
        <p:nvSpPr>
          <p:cNvPr id="110" name="s110"/>
          <p:cNvSpPr/>
          <p:nvPr/>
        </p:nvSpPr>
        <p:spPr>
          <a:xfrm>
            <a:off x="6761074" y="3246120"/>
            <a:ext cx="4870094" cy="384048"/>
          </a:xfrm>
          <a:prstGeom prst="roundRect">
            <a:avLst>
              <a:gd name="adj" fmla="val 20000"/>
            </a:avLst>
          </a:prstGeom>
          <a:solidFill>
            <a:srgbClr val="111B2E"/>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300" b="0" dirty="0">
                <a:solidFill>
                  <a:srgbClr val="94A3B8"/>
                </a:solidFill>
                <a:latin typeface="Segoe UI"/>
                <a:ea typeface="Segoe UI"/>
                <a:cs typeface="Segoe UI"/>
              </a:rPr>
              <a:t>Pharmacy inventory</a:t>
            </a:r>
            <a:endParaRPr lang="en-US" sz="1300" dirty="0"/>
          </a:p>
        </p:txBody>
      </p:sp>
      <p:sp>
        <p:nvSpPr>
          <p:cNvPr id="111" name="s111"/>
          <p:cNvSpPr/>
          <p:nvPr/>
        </p:nvSpPr>
        <p:spPr>
          <a:xfrm>
            <a:off x="6761074" y="3703320"/>
            <a:ext cx="4870094" cy="384048"/>
          </a:xfrm>
          <a:prstGeom prst="roundRect">
            <a:avLst>
              <a:gd name="adj" fmla="val 20000"/>
            </a:avLst>
          </a:prstGeom>
          <a:solidFill>
            <a:srgbClr val="111B2E"/>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300" b="0" dirty="0">
                <a:solidFill>
                  <a:srgbClr val="94A3B8"/>
                </a:solidFill>
                <a:latin typeface="Segoe UI"/>
                <a:ea typeface="Segoe UI"/>
                <a:cs typeface="Segoe UI"/>
              </a:rPr>
              <a:t>Advanced reports</a:t>
            </a:r>
            <a:endParaRPr lang="en-US" sz="1300" dirty="0"/>
          </a:p>
        </p:txBody>
      </p:sp>
      <p:sp>
        <p:nvSpPr>
          <p:cNvPr id="112" name="s112"/>
          <p:cNvSpPr/>
          <p:nvPr/>
        </p:nvSpPr>
        <p:spPr>
          <a:xfrm>
            <a:off x="6761074" y="4160520"/>
            <a:ext cx="4870094" cy="384048"/>
          </a:xfrm>
          <a:prstGeom prst="roundRect">
            <a:avLst>
              <a:gd name="adj" fmla="val 20000"/>
            </a:avLst>
          </a:prstGeom>
          <a:solidFill>
            <a:srgbClr val="111B2E"/>
          </a:solidFill>
          <a:ln w="12700">
            <a:solidFill>
              <a:srgbClr val="1E3A5F"/>
            </a:solidFill>
            <a:prstDash val="solid"/>
          </a:ln>
        </p:spPr>
        <p:txBody>
          <a:bodyPr wrap="square" lIns="182880" tIns="0" rIns="91440" bIns="0" rtlCol="0" anchor="ctr">
            <a:noAutofit/>
          </a:bodyPr>
          <a:lstStyle/>
          <a:p>
            <a:pPr marL="0" indent="0" algn="l">
              <a:spcBef>
                <a:spcPts val="0"/>
              </a:spcBef>
              <a:spcAft>
                <a:spcPts val="0"/>
              </a:spcAft>
              <a:buNone/>
            </a:pPr>
            <a:r>
              <a:rPr lang="en-US" sz="1300" b="0" dirty="0">
                <a:solidFill>
                  <a:srgbClr val="94A3B8"/>
                </a:solidFill>
                <a:latin typeface="Segoe UI"/>
                <a:ea typeface="Segoe UI"/>
                <a:cs typeface="Segoe UI"/>
              </a:rPr>
              <a:t>Insurance integration</a:t>
            </a:r>
            <a:endParaRPr lang="en-US" sz="1300" dirty="0"/>
          </a:p>
        </p:txBody>
      </p:sp>
      <p:sp>
        <p:nvSpPr>
          <p:cNvPr id="113" name="s113"/>
          <p:cNvSpPr/>
          <p:nvPr/>
        </p:nvSpPr>
        <p:spPr>
          <a:xfrm>
            <a:off x="6761074" y="4709160"/>
            <a:ext cx="1124712" cy="329184"/>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050" b="1" dirty="0">
                <a:solidFill>
                  <a:srgbClr val="F87171"/>
                </a:solidFill>
                <a:latin typeface="Segoe UI"/>
                <a:ea typeface="Segoe UI"/>
                <a:cs typeface="Segoe UI"/>
              </a:rPr>
              <a:t>Must</a:t>
            </a:r>
            <a:endParaRPr lang="en-US" sz="1050" dirty="0"/>
          </a:p>
        </p:txBody>
      </p:sp>
      <p:sp>
        <p:nvSpPr>
          <p:cNvPr id="114" name="s114"/>
          <p:cNvSpPr/>
          <p:nvPr/>
        </p:nvSpPr>
        <p:spPr>
          <a:xfrm>
            <a:off x="7977226" y="4709160"/>
            <a:ext cx="1124712" cy="329184"/>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50" b="1" dirty="0">
                <a:solidFill>
                  <a:srgbClr val="FBBF24"/>
                </a:solidFill>
                <a:latin typeface="Segoe UI"/>
                <a:ea typeface="Segoe UI"/>
                <a:cs typeface="Segoe UI"/>
              </a:rPr>
              <a:t>Should</a:t>
            </a:r>
            <a:endParaRPr lang="en-US" sz="1050" dirty="0"/>
          </a:p>
        </p:txBody>
      </p:sp>
      <p:sp>
        <p:nvSpPr>
          <p:cNvPr id="115" name="s115"/>
          <p:cNvSpPr/>
          <p:nvPr/>
        </p:nvSpPr>
        <p:spPr>
          <a:xfrm>
            <a:off x="9193378" y="4709160"/>
            <a:ext cx="1124712" cy="329184"/>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50" b="1" dirty="0">
                <a:solidFill>
                  <a:srgbClr val="13D0F7"/>
                </a:solidFill>
                <a:latin typeface="Segoe UI"/>
                <a:ea typeface="Segoe UI"/>
                <a:cs typeface="Segoe UI"/>
              </a:rPr>
              <a:t>Could</a:t>
            </a:r>
            <a:endParaRPr lang="en-US" sz="1050" dirty="0"/>
          </a:p>
        </p:txBody>
      </p:sp>
      <p:sp>
        <p:nvSpPr>
          <p:cNvPr id="116" name="s116"/>
          <p:cNvSpPr/>
          <p:nvPr/>
        </p:nvSpPr>
        <p:spPr>
          <a:xfrm>
            <a:off x="10409530" y="4709160"/>
            <a:ext cx="1124712" cy="329184"/>
          </a:xfrm>
          <a:prstGeom prst="roundRect">
            <a:avLst>
              <a:gd name="adj" fmla="val 50000"/>
            </a:avLst>
          </a:prstGeom>
          <a:solidFill>
            <a:srgbClr val="94A3B8">
              <a:alpha val="18000"/>
            </a:srgbClr>
          </a:solidFill>
          <a:ln w="12700">
            <a:solidFill>
              <a:srgbClr val="94A3B8"/>
            </a:solidFill>
            <a:prstDash val="solid"/>
          </a:ln>
        </p:spPr>
        <p:txBody>
          <a:bodyPr wrap="square" lIns="36576" tIns="0" rIns="36576" bIns="0" rtlCol="0" anchor="ctr">
            <a:noAutofit/>
          </a:bodyPr>
          <a:lstStyle/>
          <a:p>
            <a:pPr marL="0" indent="0" algn="ctr">
              <a:spcBef>
                <a:spcPts val="0"/>
              </a:spcBef>
              <a:spcAft>
                <a:spcPts val="0"/>
              </a:spcAft>
              <a:buNone/>
            </a:pPr>
            <a:r>
              <a:rPr lang="en-US" sz="1050" b="1" dirty="0">
                <a:solidFill>
                  <a:srgbClr val="94A3B8"/>
                </a:solidFill>
                <a:latin typeface="Segoe UI"/>
                <a:ea typeface="Segoe UI"/>
                <a:cs typeface="Segoe UI"/>
              </a:rPr>
              <a:t>Won't (now)</a:t>
            </a:r>
            <a:endParaRPr lang="en-US" sz="1050" dirty="0"/>
          </a:p>
        </p:txBody>
      </p:sp>
      <p:sp>
        <p:nvSpPr>
          <p:cNvPr id="117" name="s117"/>
          <p:cNvSpPr txBox="1"/>
          <p:nvPr/>
        </p:nvSpPr>
        <p:spPr>
          <a:xfrm>
            <a:off x="6761074" y="5120640"/>
            <a:ext cx="4870094" cy="5029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0" dirty="0">
                <a:solidFill>
                  <a:srgbClr val="94A3B8"/>
                </a:solidFill>
                <a:latin typeface="Segoe UI"/>
                <a:ea typeface="Segoe UI"/>
                <a:cs typeface="Segoe UI"/>
              </a:rPr>
              <a:t>MoSCoW helps the discussion. Sarah remains accountable for the order.</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childTnLst>
                                </p:cTn>
                              </p:par>
                              <p:par>
                                <p:cTn id="18" presetID="42" presetClass="entr" presetSubtype="0" fill="hold" grpId="0" nodeType="withEffect">
                                  <p:stCondLst>
                                    <p:cond delay="150"/>
                                  </p:stCondLst>
                                  <p:childTnLst>
                                    <p:set>
                                      <p:cBhvr>
                                        <p:cTn id="19" dur="1" fill="hold">
                                          <p:stCondLst>
                                            <p:cond delay="0"/>
                                          </p:stCondLst>
                                        </p:cTn>
                                        <p:tgtEl>
                                          <p:spTgt spid="104"/>
                                        </p:tgtEl>
                                        <p:attrNameLst>
                                          <p:attrName>style.visibility</p:attrName>
                                        </p:attrNameLst>
                                      </p:cBhvr>
                                      <p:to>
                                        <p:strVal val="visible"/>
                                      </p:to>
                                    </p:set>
                                    <p:animEffect transition="in" filter="fade">
                                      <p:cBhvr>
                                        <p:cTn id="20" dur="500"/>
                                        <p:tgtEl>
                                          <p:spTgt spid="104"/>
                                        </p:tgtEl>
                                      </p:cBhvr>
                                    </p:animEffect>
                                    <p:anim calcmode="lin" valueType="num">
                                      <p:cBhvr additive="base">
                                        <p:cTn id="21" dur="500" decel="100000" fill="hold"/>
                                        <p:tgtEl>
                                          <p:spTgt spid="104"/>
                                        </p:tgtEl>
                                        <p:attrNameLst>
                                          <p:attrName>ppt_x</p:attrName>
                                        </p:attrNameLst>
                                      </p:cBhvr>
                                      <p:tavLst>
                                        <p:tav tm="0">
                                          <p:val>
                                            <p:strVal val="#ppt_x-0.05"/>
                                          </p:val>
                                        </p:tav>
                                        <p:tav tm="100000">
                                          <p:val>
                                            <p:strVal val="#ppt_x"/>
                                          </p:val>
                                        </p:tav>
                                      </p:tavLst>
                                    </p:anim>
                                  </p:childTnLst>
                                </p:cTn>
                              </p:par>
                              <p:par>
                                <p:cTn id="22" presetID="42" presetClass="entr" presetSubtype="0" fill="hold" grpId="0" nodeType="withEffect">
                                  <p:stCondLst>
                                    <p:cond delay="300"/>
                                  </p:stCondLst>
                                  <p:childTnLst>
                                    <p:set>
                                      <p:cBhvr>
                                        <p:cTn id="23" dur="1" fill="hold">
                                          <p:stCondLst>
                                            <p:cond delay="0"/>
                                          </p:stCondLst>
                                        </p:cTn>
                                        <p:tgtEl>
                                          <p:spTgt spid="105"/>
                                        </p:tgtEl>
                                        <p:attrNameLst>
                                          <p:attrName>style.visibility</p:attrName>
                                        </p:attrNameLst>
                                      </p:cBhvr>
                                      <p:to>
                                        <p:strVal val="visible"/>
                                      </p:to>
                                    </p:set>
                                    <p:animEffect transition="in" filter="fade">
                                      <p:cBhvr>
                                        <p:cTn id="24" dur="500"/>
                                        <p:tgtEl>
                                          <p:spTgt spid="105"/>
                                        </p:tgtEl>
                                      </p:cBhvr>
                                    </p:animEffect>
                                    <p:anim calcmode="lin" valueType="num">
                                      <p:cBhvr additive="base">
                                        <p:cTn id="25" dur="500" decel="100000" fill="hold"/>
                                        <p:tgtEl>
                                          <p:spTgt spid="105"/>
                                        </p:tgtEl>
                                        <p:attrNameLst>
                                          <p:attrName>ppt_x</p:attrName>
                                        </p:attrNameLst>
                                      </p:cBhvr>
                                      <p:tavLst>
                                        <p:tav tm="0">
                                          <p:val>
                                            <p:strVal val="#ppt_x-0.05"/>
                                          </p:val>
                                        </p:tav>
                                        <p:tav tm="100000">
                                          <p:val>
                                            <p:strVal val="#ppt_x"/>
                                          </p:val>
                                        </p:tav>
                                      </p:tavLst>
                                    </p:anim>
                                  </p:childTnLst>
                                </p:cTn>
                              </p:par>
                              <p:par>
                                <p:cTn id="26" presetID="42" presetClass="entr" presetSubtype="0" fill="hold" grpId="0" nodeType="withEffect">
                                  <p:stCondLst>
                                    <p:cond delay="450"/>
                                  </p:stCondLst>
                                  <p:childTnLst>
                                    <p:set>
                                      <p:cBhvr>
                                        <p:cTn id="27" dur="1" fill="hold">
                                          <p:stCondLst>
                                            <p:cond delay="0"/>
                                          </p:stCondLst>
                                        </p:cTn>
                                        <p:tgtEl>
                                          <p:spTgt spid="106"/>
                                        </p:tgtEl>
                                        <p:attrNameLst>
                                          <p:attrName>style.visibility</p:attrName>
                                        </p:attrNameLst>
                                      </p:cBhvr>
                                      <p:to>
                                        <p:strVal val="visible"/>
                                      </p:to>
                                    </p:set>
                                    <p:animEffect transition="in" filter="fade">
                                      <p:cBhvr>
                                        <p:cTn id="28" dur="500"/>
                                        <p:tgtEl>
                                          <p:spTgt spid="106"/>
                                        </p:tgtEl>
                                      </p:cBhvr>
                                    </p:animEffect>
                                    <p:anim calcmode="lin" valueType="num">
                                      <p:cBhvr additive="base">
                                        <p:cTn id="29" dur="500" decel="100000" fill="hold"/>
                                        <p:tgtEl>
                                          <p:spTgt spid="106"/>
                                        </p:tgtEl>
                                        <p:attrNameLst>
                                          <p:attrName>ppt_x</p:attrName>
                                        </p:attrNameLst>
                                      </p:cBhvr>
                                      <p:tavLst>
                                        <p:tav tm="0">
                                          <p:val>
                                            <p:strVal val="#ppt_x-0.05"/>
                                          </p:val>
                                        </p:tav>
                                        <p:tav tm="100000">
                                          <p:val>
                                            <p:strVal val="#ppt_x"/>
                                          </p:val>
                                        </p:tav>
                                      </p:tavLst>
                                    </p:anim>
                                  </p:childTnLst>
                                </p:cTn>
                              </p:par>
                              <p:par>
                                <p:cTn id="30" presetID="42" presetClass="entr" presetSubtype="0" fill="hold" grpId="0" nodeType="withEffect">
                                  <p:stCondLst>
                                    <p:cond delay="600"/>
                                  </p:stCondLst>
                                  <p:childTnLst>
                                    <p:set>
                                      <p:cBhvr>
                                        <p:cTn id="31" dur="1" fill="hold">
                                          <p:stCondLst>
                                            <p:cond delay="0"/>
                                          </p:stCondLst>
                                        </p:cTn>
                                        <p:tgtEl>
                                          <p:spTgt spid="107"/>
                                        </p:tgtEl>
                                        <p:attrNameLst>
                                          <p:attrName>style.visibility</p:attrName>
                                        </p:attrNameLst>
                                      </p:cBhvr>
                                      <p:to>
                                        <p:strVal val="visible"/>
                                      </p:to>
                                    </p:set>
                                    <p:animEffect transition="in" filter="fade">
                                      <p:cBhvr>
                                        <p:cTn id="32" dur="500"/>
                                        <p:tgtEl>
                                          <p:spTgt spid="107"/>
                                        </p:tgtEl>
                                      </p:cBhvr>
                                    </p:animEffect>
                                    <p:anim calcmode="lin" valueType="num">
                                      <p:cBhvr additive="base">
                                        <p:cTn id="33" dur="500" decel="100000" fill="hold"/>
                                        <p:tgtEl>
                                          <p:spTgt spid="107"/>
                                        </p:tgtEl>
                                        <p:attrNameLst>
                                          <p:attrName>ppt_x</p:attrName>
                                        </p:attrNameLst>
                                      </p:cBhvr>
                                      <p:tavLst>
                                        <p:tav tm="0">
                                          <p:val>
                                            <p:strVal val="#ppt_x-0.05"/>
                                          </p:val>
                                        </p:tav>
                                        <p:tav tm="100000">
                                          <p:val>
                                            <p:strVal val="#ppt_x"/>
                                          </p:val>
                                        </p:tav>
                                      </p:tavLst>
                                    </p:anim>
                                  </p:childTnLst>
                                </p:cTn>
                              </p:par>
                              <p:par>
                                <p:cTn id="34" presetID="42" presetClass="entr" presetSubtype="0" fill="hold" grpId="0" nodeType="withEffect">
                                  <p:stCondLst>
                                    <p:cond delay="750"/>
                                  </p:stCondLst>
                                  <p:childTnLst>
                                    <p:set>
                                      <p:cBhvr>
                                        <p:cTn id="35" dur="1" fill="hold">
                                          <p:stCondLst>
                                            <p:cond delay="0"/>
                                          </p:stCondLst>
                                        </p:cTn>
                                        <p:tgtEl>
                                          <p:spTgt spid="108"/>
                                        </p:tgtEl>
                                        <p:attrNameLst>
                                          <p:attrName>style.visibility</p:attrName>
                                        </p:attrNameLst>
                                      </p:cBhvr>
                                      <p:to>
                                        <p:strVal val="visible"/>
                                      </p:to>
                                    </p:set>
                                    <p:animEffect transition="in" filter="fade">
                                      <p:cBhvr>
                                        <p:cTn id="36" dur="500"/>
                                        <p:tgtEl>
                                          <p:spTgt spid="108"/>
                                        </p:tgtEl>
                                      </p:cBhvr>
                                    </p:animEffect>
                                    <p:anim calcmode="lin" valueType="num">
                                      <p:cBhvr additive="base">
                                        <p:cTn id="37" dur="500" decel="100000" fill="hold"/>
                                        <p:tgtEl>
                                          <p:spTgt spid="108"/>
                                        </p:tgtEl>
                                        <p:attrNameLst>
                                          <p:attrName>ppt_x</p:attrName>
                                        </p:attrNameLst>
                                      </p:cBhvr>
                                      <p:tavLst>
                                        <p:tav tm="0">
                                          <p:val>
                                            <p:strVal val="#ppt_x-0.05"/>
                                          </p:val>
                                        </p:tav>
                                        <p:tav tm="100000">
                                          <p:val>
                                            <p:strVal val="#ppt_x"/>
                                          </p:val>
                                        </p:tav>
                                      </p:tavLst>
                                    </p:anim>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09"/>
                                        </p:tgtEl>
                                        <p:attrNameLst>
                                          <p:attrName>style.visibility</p:attrName>
                                        </p:attrNameLst>
                                      </p:cBhvr>
                                      <p:to>
                                        <p:strVal val="visible"/>
                                      </p:to>
                                    </p:set>
                                    <p:animEffect transition="in" filter="fade">
                                      <p:cBhvr>
                                        <p:cTn id="42" dur="500"/>
                                        <p:tgtEl>
                                          <p:spTgt spid="109"/>
                                        </p:tgtEl>
                                      </p:cBhvr>
                                    </p:animEffect>
                                  </p:childTnLst>
                                </p:cTn>
                              </p:par>
                              <p:par>
                                <p:cTn id="43" presetID="42" presetClass="entr" presetSubtype="0" fill="hold" grpId="0" nodeType="withEffect">
                                  <p:stCondLst>
                                    <p:cond delay="12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ppt_x</p:attrName>
                                        </p:attrNameLst>
                                      </p:cBhvr>
                                      <p:tavLst>
                                        <p:tav tm="0">
                                          <p:val>
                                            <p:strVal val="#ppt_x+0.05"/>
                                          </p:val>
                                        </p:tav>
                                        <p:tav tm="100000">
                                          <p:val>
                                            <p:strVal val="#ppt_x"/>
                                          </p:val>
                                        </p:tav>
                                      </p:tavLst>
                                    </p:anim>
                                  </p:childTnLst>
                                </p:cTn>
                              </p:par>
                              <p:par>
                                <p:cTn id="47" presetID="42" presetClass="entr" presetSubtype="0" fill="hold" grpId="0" nodeType="withEffect">
                                  <p:stCondLst>
                                    <p:cond delay="240"/>
                                  </p:stCondLst>
                                  <p:childTnLst>
                                    <p:set>
                                      <p:cBhvr>
                                        <p:cTn id="48" dur="1" fill="hold">
                                          <p:stCondLst>
                                            <p:cond delay="0"/>
                                          </p:stCondLst>
                                        </p:cTn>
                                        <p:tgtEl>
                                          <p:spTgt spid="111"/>
                                        </p:tgtEl>
                                        <p:attrNameLst>
                                          <p:attrName>style.visibility</p:attrName>
                                        </p:attrNameLst>
                                      </p:cBhvr>
                                      <p:to>
                                        <p:strVal val="visible"/>
                                      </p:to>
                                    </p:set>
                                    <p:animEffect transition="in" filter="fade">
                                      <p:cBhvr>
                                        <p:cTn id="49" dur="500"/>
                                        <p:tgtEl>
                                          <p:spTgt spid="111"/>
                                        </p:tgtEl>
                                      </p:cBhvr>
                                    </p:animEffect>
                                    <p:anim calcmode="lin" valueType="num">
                                      <p:cBhvr additive="base">
                                        <p:cTn id="50" dur="500" decel="100000" fill="hold"/>
                                        <p:tgtEl>
                                          <p:spTgt spid="111"/>
                                        </p:tgtEl>
                                        <p:attrNameLst>
                                          <p:attrName>ppt_x</p:attrName>
                                        </p:attrNameLst>
                                      </p:cBhvr>
                                      <p:tavLst>
                                        <p:tav tm="0">
                                          <p:val>
                                            <p:strVal val="#ppt_x+0.05"/>
                                          </p:val>
                                        </p:tav>
                                        <p:tav tm="100000">
                                          <p:val>
                                            <p:strVal val="#ppt_x"/>
                                          </p:val>
                                        </p:tav>
                                      </p:tavLst>
                                    </p:anim>
                                  </p:childTnLst>
                                </p:cTn>
                              </p:par>
                              <p:par>
                                <p:cTn id="51" presetID="42" presetClass="entr" presetSubtype="0" fill="hold" grpId="0" nodeType="withEffect">
                                  <p:stCondLst>
                                    <p:cond delay="360"/>
                                  </p:stCondLst>
                                  <p:childTnLst>
                                    <p:set>
                                      <p:cBhvr>
                                        <p:cTn id="52" dur="1" fill="hold">
                                          <p:stCondLst>
                                            <p:cond delay="0"/>
                                          </p:stCondLst>
                                        </p:cTn>
                                        <p:tgtEl>
                                          <p:spTgt spid="112"/>
                                        </p:tgtEl>
                                        <p:attrNameLst>
                                          <p:attrName>style.visibility</p:attrName>
                                        </p:attrNameLst>
                                      </p:cBhvr>
                                      <p:to>
                                        <p:strVal val="visible"/>
                                      </p:to>
                                    </p:set>
                                    <p:animEffect transition="in" filter="fade">
                                      <p:cBhvr>
                                        <p:cTn id="53" dur="500"/>
                                        <p:tgtEl>
                                          <p:spTgt spid="112"/>
                                        </p:tgtEl>
                                      </p:cBhvr>
                                    </p:animEffect>
                                    <p:anim calcmode="lin" valueType="num">
                                      <p:cBhvr additive="base">
                                        <p:cTn id="54" dur="500" decel="100000" fill="hold"/>
                                        <p:tgtEl>
                                          <p:spTgt spid="112"/>
                                        </p:tgtEl>
                                        <p:attrNameLst>
                                          <p:attrName>ppt_x</p:attrName>
                                        </p:attrNameLst>
                                      </p:cBhvr>
                                      <p:tavLst>
                                        <p:tav tm="0">
                                          <p:val>
                                            <p:strVal val="#ppt_x+0.05"/>
                                          </p:val>
                                        </p:tav>
                                        <p:tav tm="100000">
                                          <p:val>
                                            <p:strVal val="#ppt_x"/>
                                          </p:val>
                                        </p:tav>
                                      </p:tavLst>
                                    </p:anim>
                                  </p:childTnLst>
                                </p:cTn>
                              </p:par>
                            </p:childTnLst>
                          </p:cTn>
                        </p:par>
                      </p:childTnLst>
                    </p:cTn>
                  </p:par>
                  <p:par>
                    <p:cTn id="55" fill="hold">
                      <p:stCondLst>
                        <p:cond delay="indefinite"/>
                      </p:stCondLst>
                      <p:childTnLst>
                        <p:par>
                          <p:cTn id="56" fill="hold">
                            <p:stCondLst>
                              <p:cond delay="0"/>
                            </p:stCondLst>
                            <p:childTnLst>
                              <p:par>
                                <p:cTn id="57" presetID="53" presetClass="entr" presetSubtype="16" fill="hold" grpId="0" nodeType="clickEffect">
                                  <p:stCondLst>
                                    <p:cond delay="0"/>
                                  </p:stCondLst>
                                  <p:childTnLst>
                                    <p:set>
                                      <p:cBhvr>
                                        <p:cTn id="58" dur="1" fill="hold">
                                          <p:stCondLst>
                                            <p:cond delay="0"/>
                                          </p:stCondLst>
                                        </p:cTn>
                                        <p:tgtEl>
                                          <p:spTgt spid="113"/>
                                        </p:tgtEl>
                                        <p:attrNameLst>
                                          <p:attrName>style.visibility</p:attrName>
                                        </p:attrNameLst>
                                      </p:cBhvr>
                                      <p:to>
                                        <p:strVal val="visible"/>
                                      </p:to>
                                    </p:set>
                                    <p:anim calcmode="lin" valueType="num">
                                      <p:cBhvr additive="base">
                                        <p:cTn id="59" dur="500" decel="100000" fill="hold"/>
                                        <p:tgtEl>
                                          <p:spTgt spid="113"/>
                                        </p:tgtEl>
                                        <p:attrNameLst>
                                          <p:attrName>ppt_w</p:attrName>
                                        </p:attrNameLst>
                                      </p:cBhvr>
                                      <p:tavLst>
                                        <p:tav tm="0">
                                          <p:val>
                                            <p:strVal val="#ppt_w*0.3"/>
                                          </p:val>
                                        </p:tav>
                                        <p:tav tm="100000">
                                          <p:val>
                                            <p:strVal val="#ppt_w*1.08"/>
                                          </p:val>
                                        </p:tav>
                                      </p:tavLst>
                                    </p:anim>
                                    <p:anim calcmode="lin" valueType="num">
                                      <p:cBhvr additive="base">
                                        <p:cTn id="60" dur="500" decel="100000" fill="hold"/>
                                        <p:tgtEl>
                                          <p:spTgt spid="113"/>
                                        </p:tgtEl>
                                        <p:attrNameLst>
                                          <p:attrName>ppt_h</p:attrName>
                                        </p:attrNameLst>
                                      </p:cBhvr>
                                      <p:tavLst>
                                        <p:tav tm="0">
                                          <p:val>
                                            <p:strVal val="#ppt_h*0.3"/>
                                          </p:val>
                                        </p:tav>
                                        <p:tav tm="100000">
                                          <p:val>
                                            <p:strVal val="#ppt_h*1.08"/>
                                          </p:val>
                                        </p:tav>
                                      </p:tavLst>
                                    </p:anim>
                                    <p:animEffect transition="in" filter="fade">
                                      <p:cBhvr>
                                        <p:cTn id="61" dur="250"/>
                                        <p:tgtEl>
                                          <p:spTgt spid="113"/>
                                        </p:tgtEl>
                                      </p:cBhvr>
                                    </p:animEffect>
                                    <p:anim calcmode="lin" valueType="num">
                                      <p:cBhvr additive="base">
                                        <p:cTn id="62" dur="160" fill="hold">
                                          <p:stCondLst>
                                            <p:cond delay="500"/>
                                          </p:stCondLst>
                                        </p:cTn>
                                        <p:tgtEl>
                                          <p:spTgt spid="113"/>
                                        </p:tgtEl>
                                        <p:attrNameLst>
                                          <p:attrName>ppt_w</p:attrName>
                                        </p:attrNameLst>
                                      </p:cBhvr>
                                      <p:tavLst>
                                        <p:tav tm="0">
                                          <p:val>
                                            <p:strVal val="#ppt_w*1.08"/>
                                          </p:val>
                                        </p:tav>
                                        <p:tav tm="100000">
                                          <p:val>
                                            <p:strVal val="#ppt_w"/>
                                          </p:val>
                                        </p:tav>
                                      </p:tavLst>
                                    </p:anim>
                                    <p:anim calcmode="lin" valueType="num">
                                      <p:cBhvr additive="base">
                                        <p:cTn id="63" dur="160" fill="hold">
                                          <p:stCondLst>
                                            <p:cond delay="500"/>
                                          </p:stCondLst>
                                        </p:cTn>
                                        <p:tgtEl>
                                          <p:spTgt spid="113"/>
                                        </p:tgtEl>
                                        <p:attrNameLst>
                                          <p:attrName>ppt_h</p:attrName>
                                        </p:attrNameLst>
                                      </p:cBhvr>
                                      <p:tavLst>
                                        <p:tav tm="0">
                                          <p:val>
                                            <p:strVal val="#ppt_h*1.08"/>
                                          </p:val>
                                        </p:tav>
                                        <p:tav tm="100000">
                                          <p:val>
                                            <p:strVal val="#ppt_h"/>
                                          </p:val>
                                        </p:tav>
                                      </p:tavLst>
                                    </p:anim>
                                  </p:childTnLst>
                                </p:cTn>
                              </p:par>
                              <p:par>
                                <p:cTn id="64" presetID="53" presetClass="entr" presetSubtype="16" fill="hold" grpId="0" nodeType="withEffect">
                                  <p:stCondLst>
                                    <p:cond delay="100"/>
                                  </p:stCondLst>
                                  <p:childTnLst>
                                    <p:set>
                                      <p:cBhvr>
                                        <p:cTn id="65" dur="1" fill="hold">
                                          <p:stCondLst>
                                            <p:cond delay="0"/>
                                          </p:stCondLst>
                                        </p:cTn>
                                        <p:tgtEl>
                                          <p:spTgt spid="114"/>
                                        </p:tgtEl>
                                        <p:attrNameLst>
                                          <p:attrName>style.visibility</p:attrName>
                                        </p:attrNameLst>
                                      </p:cBhvr>
                                      <p:to>
                                        <p:strVal val="visible"/>
                                      </p:to>
                                    </p:set>
                                    <p:anim calcmode="lin" valueType="num">
                                      <p:cBhvr additive="base">
                                        <p:cTn id="66" dur="500" decel="100000" fill="hold"/>
                                        <p:tgtEl>
                                          <p:spTgt spid="114"/>
                                        </p:tgtEl>
                                        <p:attrNameLst>
                                          <p:attrName>ppt_w</p:attrName>
                                        </p:attrNameLst>
                                      </p:cBhvr>
                                      <p:tavLst>
                                        <p:tav tm="0">
                                          <p:val>
                                            <p:strVal val="#ppt_w*0.3"/>
                                          </p:val>
                                        </p:tav>
                                        <p:tav tm="100000">
                                          <p:val>
                                            <p:strVal val="#ppt_w*1.08"/>
                                          </p:val>
                                        </p:tav>
                                      </p:tavLst>
                                    </p:anim>
                                    <p:anim calcmode="lin" valueType="num">
                                      <p:cBhvr additive="base">
                                        <p:cTn id="67" dur="500" decel="100000" fill="hold"/>
                                        <p:tgtEl>
                                          <p:spTgt spid="114"/>
                                        </p:tgtEl>
                                        <p:attrNameLst>
                                          <p:attrName>ppt_h</p:attrName>
                                        </p:attrNameLst>
                                      </p:cBhvr>
                                      <p:tavLst>
                                        <p:tav tm="0">
                                          <p:val>
                                            <p:strVal val="#ppt_h*0.3"/>
                                          </p:val>
                                        </p:tav>
                                        <p:tav tm="100000">
                                          <p:val>
                                            <p:strVal val="#ppt_h*1.08"/>
                                          </p:val>
                                        </p:tav>
                                      </p:tavLst>
                                    </p:anim>
                                    <p:animEffect transition="in" filter="fade">
                                      <p:cBhvr>
                                        <p:cTn id="68" dur="250"/>
                                        <p:tgtEl>
                                          <p:spTgt spid="114"/>
                                        </p:tgtEl>
                                      </p:cBhvr>
                                    </p:animEffect>
                                    <p:anim calcmode="lin" valueType="num">
                                      <p:cBhvr additive="base">
                                        <p:cTn id="69" dur="160" fill="hold">
                                          <p:stCondLst>
                                            <p:cond delay="500"/>
                                          </p:stCondLst>
                                        </p:cTn>
                                        <p:tgtEl>
                                          <p:spTgt spid="114"/>
                                        </p:tgtEl>
                                        <p:attrNameLst>
                                          <p:attrName>ppt_w</p:attrName>
                                        </p:attrNameLst>
                                      </p:cBhvr>
                                      <p:tavLst>
                                        <p:tav tm="0">
                                          <p:val>
                                            <p:strVal val="#ppt_w*1.08"/>
                                          </p:val>
                                        </p:tav>
                                        <p:tav tm="100000">
                                          <p:val>
                                            <p:strVal val="#ppt_w"/>
                                          </p:val>
                                        </p:tav>
                                      </p:tavLst>
                                    </p:anim>
                                    <p:anim calcmode="lin" valueType="num">
                                      <p:cBhvr additive="base">
                                        <p:cTn id="70" dur="160" fill="hold">
                                          <p:stCondLst>
                                            <p:cond delay="500"/>
                                          </p:stCondLst>
                                        </p:cTn>
                                        <p:tgtEl>
                                          <p:spTgt spid="114"/>
                                        </p:tgtEl>
                                        <p:attrNameLst>
                                          <p:attrName>ppt_h</p:attrName>
                                        </p:attrNameLst>
                                      </p:cBhvr>
                                      <p:tavLst>
                                        <p:tav tm="0">
                                          <p:val>
                                            <p:strVal val="#ppt_h*1.08"/>
                                          </p:val>
                                        </p:tav>
                                        <p:tav tm="100000">
                                          <p:val>
                                            <p:strVal val="#ppt_h"/>
                                          </p:val>
                                        </p:tav>
                                      </p:tavLst>
                                    </p:anim>
                                  </p:childTnLst>
                                </p:cTn>
                              </p:par>
                              <p:par>
                                <p:cTn id="71" presetID="53" presetClass="entr" presetSubtype="16" fill="hold" grpId="0" nodeType="withEffect">
                                  <p:stCondLst>
                                    <p:cond delay="200"/>
                                  </p:stCondLst>
                                  <p:childTnLst>
                                    <p:set>
                                      <p:cBhvr>
                                        <p:cTn id="72" dur="1" fill="hold">
                                          <p:stCondLst>
                                            <p:cond delay="0"/>
                                          </p:stCondLst>
                                        </p:cTn>
                                        <p:tgtEl>
                                          <p:spTgt spid="115"/>
                                        </p:tgtEl>
                                        <p:attrNameLst>
                                          <p:attrName>style.visibility</p:attrName>
                                        </p:attrNameLst>
                                      </p:cBhvr>
                                      <p:to>
                                        <p:strVal val="visible"/>
                                      </p:to>
                                    </p:set>
                                    <p:anim calcmode="lin" valueType="num">
                                      <p:cBhvr additive="base">
                                        <p:cTn id="73" dur="5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74" dur="500" decel="100000" fill="hold"/>
                                        <p:tgtEl>
                                          <p:spTgt spid="115"/>
                                        </p:tgtEl>
                                        <p:attrNameLst>
                                          <p:attrName>ppt_h</p:attrName>
                                        </p:attrNameLst>
                                      </p:cBhvr>
                                      <p:tavLst>
                                        <p:tav tm="0">
                                          <p:val>
                                            <p:strVal val="#ppt_h*0.3"/>
                                          </p:val>
                                        </p:tav>
                                        <p:tav tm="100000">
                                          <p:val>
                                            <p:strVal val="#ppt_h*1.08"/>
                                          </p:val>
                                        </p:tav>
                                      </p:tavLst>
                                    </p:anim>
                                    <p:animEffect transition="in" filter="fade">
                                      <p:cBhvr>
                                        <p:cTn id="75" dur="250"/>
                                        <p:tgtEl>
                                          <p:spTgt spid="115"/>
                                        </p:tgtEl>
                                      </p:cBhvr>
                                    </p:animEffect>
                                    <p:anim calcmode="lin" valueType="num">
                                      <p:cBhvr additive="base">
                                        <p:cTn id="76" dur="160" fill="hold">
                                          <p:stCondLst>
                                            <p:cond delay="500"/>
                                          </p:stCondLst>
                                        </p:cTn>
                                        <p:tgtEl>
                                          <p:spTgt spid="115"/>
                                        </p:tgtEl>
                                        <p:attrNameLst>
                                          <p:attrName>ppt_w</p:attrName>
                                        </p:attrNameLst>
                                      </p:cBhvr>
                                      <p:tavLst>
                                        <p:tav tm="0">
                                          <p:val>
                                            <p:strVal val="#ppt_w*1.08"/>
                                          </p:val>
                                        </p:tav>
                                        <p:tav tm="100000">
                                          <p:val>
                                            <p:strVal val="#ppt_w"/>
                                          </p:val>
                                        </p:tav>
                                      </p:tavLst>
                                    </p:anim>
                                    <p:anim calcmode="lin" valueType="num">
                                      <p:cBhvr additive="base">
                                        <p:cTn id="77" dur="160" fill="hold">
                                          <p:stCondLst>
                                            <p:cond delay="500"/>
                                          </p:stCondLst>
                                        </p:cTn>
                                        <p:tgtEl>
                                          <p:spTgt spid="115"/>
                                        </p:tgtEl>
                                        <p:attrNameLst>
                                          <p:attrName>ppt_h</p:attrName>
                                        </p:attrNameLst>
                                      </p:cBhvr>
                                      <p:tavLst>
                                        <p:tav tm="0">
                                          <p:val>
                                            <p:strVal val="#ppt_h*1.08"/>
                                          </p:val>
                                        </p:tav>
                                        <p:tav tm="100000">
                                          <p:val>
                                            <p:strVal val="#ppt_h"/>
                                          </p:val>
                                        </p:tav>
                                      </p:tavLst>
                                    </p:anim>
                                  </p:childTnLst>
                                </p:cTn>
                              </p:par>
                              <p:par>
                                <p:cTn id="78" presetID="53" presetClass="entr" presetSubtype="16" fill="hold" grpId="0" nodeType="withEffect">
                                  <p:stCondLst>
                                    <p:cond delay="300"/>
                                  </p:stCondLst>
                                  <p:childTnLst>
                                    <p:set>
                                      <p:cBhvr>
                                        <p:cTn id="79" dur="1" fill="hold">
                                          <p:stCondLst>
                                            <p:cond delay="0"/>
                                          </p:stCondLst>
                                        </p:cTn>
                                        <p:tgtEl>
                                          <p:spTgt spid="116"/>
                                        </p:tgtEl>
                                        <p:attrNameLst>
                                          <p:attrName>style.visibility</p:attrName>
                                        </p:attrNameLst>
                                      </p:cBhvr>
                                      <p:to>
                                        <p:strVal val="visible"/>
                                      </p:to>
                                    </p:set>
                                    <p:anim calcmode="lin" valueType="num">
                                      <p:cBhvr additive="base">
                                        <p:cTn id="80" dur="500" decel="100000" fill="hold"/>
                                        <p:tgtEl>
                                          <p:spTgt spid="116"/>
                                        </p:tgtEl>
                                        <p:attrNameLst>
                                          <p:attrName>ppt_w</p:attrName>
                                        </p:attrNameLst>
                                      </p:cBhvr>
                                      <p:tavLst>
                                        <p:tav tm="0">
                                          <p:val>
                                            <p:strVal val="#ppt_w*0.3"/>
                                          </p:val>
                                        </p:tav>
                                        <p:tav tm="100000">
                                          <p:val>
                                            <p:strVal val="#ppt_w*1.08"/>
                                          </p:val>
                                        </p:tav>
                                      </p:tavLst>
                                    </p:anim>
                                    <p:anim calcmode="lin" valueType="num">
                                      <p:cBhvr additive="base">
                                        <p:cTn id="81" dur="500" decel="100000" fill="hold"/>
                                        <p:tgtEl>
                                          <p:spTgt spid="116"/>
                                        </p:tgtEl>
                                        <p:attrNameLst>
                                          <p:attrName>ppt_h</p:attrName>
                                        </p:attrNameLst>
                                      </p:cBhvr>
                                      <p:tavLst>
                                        <p:tav tm="0">
                                          <p:val>
                                            <p:strVal val="#ppt_h*0.3"/>
                                          </p:val>
                                        </p:tav>
                                        <p:tav tm="100000">
                                          <p:val>
                                            <p:strVal val="#ppt_h*1.08"/>
                                          </p:val>
                                        </p:tav>
                                      </p:tavLst>
                                    </p:anim>
                                    <p:animEffect transition="in" filter="fade">
                                      <p:cBhvr>
                                        <p:cTn id="82" dur="250"/>
                                        <p:tgtEl>
                                          <p:spTgt spid="116"/>
                                        </p:tgtEl>
                                      </p:cBhvr>
                                    </p:animEffect>
                                    <p:anim calcmode="lin" valueType="num">
                                      <p:cBhvr additive="base">
                                        <p:cTn id="83" dur="160" fill="hold">
                                          <p:stCondLst>
                                            <p:cond delay="500"/>
                                          </p:stCondLst>
                                        </p:cTn>
                                        <p:tgtEl>
                                          <p:spTgt spid="116"/>
                                        </p:tgtEl>
                                        <p:attrNameLst>
                                          <p:attrName>ppt_w</p:attrName>
                                        </p:attrNameLst>
                                      </p:cBhvr>
                                      <p:tavLst>
                                        <p:tav tm="0">
                                          <p:val>
                                            <p:strVal val="#ppt_w*1.08"/>
                                          </p:val>
                                        </p:tav>
                                        <p:tav tm="100000">
                                          <p:val>
                                            <p:strVal val="#ppt_w"/>
                                          </p:val>
                                        </p:tav>
                                      </p:tavLst>
                                    </p:anim>
                                    <p:anim calcmode="lin" valueType="num">
                                      <p:cBhvr additive="base">
                                        <p:cTn id="84" dur="160" fill="hold">
                                          <p:stCondLst>
                                            <p:cond delay="500"/>
                                          </p:stCondLst>
                                        </p:cTn>
                                        <p:tgtEl>
                                          <p:spTgt spid="116"/>
                                        </p:tgtEl>
                                        <p:attrNameLst>
                                          <p:attrName>ppt_h</p:attrName>
                                        </p:attrNameLst>
                                      </p:cBhvr>
                                      <p:tavLst>
                                        <p:tav tm="0">
                                          <p:val>
                                            <p:strVal val="#ppt_h*1.08"/>
                                          </p:val>
                                        </p:tav>
                                        <p:tav tm="100000">
                                          <p:val>
                                            <p:strVal val="#ppt_h"/>
                                          </p:val>
                                        </p:tav>
                                      </p:tavLst>
                                    </p:anim>
                                  </p:childTnLst>
                                </p:cTn>
                              </p:par>
                              <p:par>
                                <p:cTn id="85" presetID="10" presetClass="entr" presetSubtype="0" fill="hold" grpId="0" nodeType="withEffect">
                                  <p:stCondLst>
                                    <p:cond delay="400"/>
                                  </p:stCondLst>
                                  <p:childTnLst>
                                    <p:set>
                                      <p:cBhvr>
                                        <p:cTn id="86" dur="1" fill="hold">
                                          <p:stCondLst>
                                            <p:cond delay="0"/>
                                          </p:stCondLst>
                                        </p:cTn>
                                        <p:tgtEl>
                                          <p:spTgt spid="117"/>
                                        </p:tgtEl>
                                        <p:attrNameLst>
                                          <p:attrName>style.visibility</p:attrName>
                                        </p:attrNameLst>
                                      </p:cBhvr>
                                      <p:to>
                                        <p:strVal val="visible"/>
                                      </p:to>
                                    </p:set>
                                    <p:animEffect transition="in" filter="fade">
                                      <p:cBhvr>
                                        <p:cTn id="8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LAUNCH</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Launch Meeting: From Backlog to Milestones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The PO presents and refines the Product Backlog, then it is split into milestones.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241</a:t>
            </a:r>
            <a:endParaRPr lang="en-US" sz="850" dirty="0"/>
          </a:p>
        </p:txBody>
      </p:sp>
      <p:sp>
        <p:nvSpPr>
          <p:cNvPr id="101" name="s101"/>
          <p:cNvSpPr/>
          <p:nvPr/>
        </p:nvSpPr>
        <p:spPr>
          <a:xfrm>
            <a:off x="543154" y="1828800"/>
            <a:ext cx="2497684" cy="1005840"/>
          </a:xfrm>
          <a:prstGeom prst="roundRect">
            <a:avLst>
              <a:gd name="adj" fmla="val 14000"/>
            </a:avLst>
          </a:prstGeom>
          <a:solidFill>
            <a:srgbClr val="FBBF24">
              <a:alpha val="14000"/>
            </a:srgbClr>
          </a:solidFill>
          <a:ln w="19050">
            <a:solidFill>
              <a:srgbClr val="FBBF24"/>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FBBF24"/>
                </a:solidFill>
                <a:latin typeface="Segoe UI"/>
                <a:ea typeface="Segoe UI"/>
                <a:cs typeface="Segoe UI"/>
              </a:rPr>
              <a:t>PRODUCT BACKLOG</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written by the PO from the contract</a:t>
            </a:r>
            <a:endParaRPr lang="en-US" sz="1150" dirty="0"/>
          </a:p>
        </p:txBody>
      </p:sp>
      <p:sp>
        <p:nvSpPr>
          <p:cNvPr id="102" name="s102"/>
          <p:cNvSpPr/>
          <p:nvPr/>
        </p:nvSpPr>
        <p:spPr>
          <a:xfrm>
            <a:off x="3406597" y="1828800"/>
            <a:ext cx="2497684" cy="1005840"/>
          </a:xfrm>
          <a:prstGeom prst="roundRect">
            <a:avLst>
              <a:gd name="adj" fmla="val 14000"/>
            </a:avLst>
          </a:prstGeom>
          <a:solidFill>
            <a:srgbClr val="13D0F7">
              <a:alpha val="14000"/>
            </a:srgbClr>
          </a:solidFill>
          <a:ln w="19050">
            <a:solidFill>
              <a:srgbClr val="13D0F7"/>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13D0F7"/>
                </a:solidFill>
                <a:latin typeface="Segoe UI"/>
                <a:ea typeface="Segoe UI"/>
                <a:cs typeface="Segoe UI"/>
              </a:rPr>
              <a:t>LAUNCH MEETING</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PO presents it, the team asks</a:t>
            </a:r>
            <a:endParaRPr lang="en-US" sz="1150" dirty="0"/>
          </a:p>
        </p:txBody>
      </p:sp>
      <p:cxnSp>
        <p:nvCxnSpPr>
          <p:cNvPr id="103" name="ln103"/>
          <p:cNvCxnSpPr/>
          <p:nvPr/>
        </p:nvCxnSpPr>
        <p:spPr>
          <a:xfrm>
            <a:off x="3095701" y="2331720"/>
            <a:ext cx="256032" cy="0"/>
          </a:xfrm>
          <a:prstGeom prst="line">
            <a:avLst/>
          </a:prstGeom>
          <a:ln w="22225">
            <a:solidFill>
              <a:srgbClr val="94A3B8"/>
            </a:solidFill>
            <a:tailEnd type="triangle" w="med" len="med"/>
          </a:ln>
        </p:spPr>
      </p:cxnSp>
      <p:sp>
        <p:nvSpPr>
          <p:cNvPr id="104" name="s104"/>
          <p:cNvSpPr/>
          <p:nvPr/>
        </p:nvSpPr>
        <p:spPr>
          <a:xfrm>
            <a:off x="6270041" y="1828800"/>
            <a:ext cx="2497684" cy="1005840"/>
          </a:xfrm>
          <a:prstGeom prst="roundRect">
            <a:avLst>
              <a:gd name="adj" fmla="val 14000"/>
            </a:avLst>
          </a:prstGeom>
          <a:solidFill>
            <a:srgbClr val="A78BFA">
              <a:alpha val="14000"/>
            </a:srgbClr>
          </a:solidFill>
          <a:ln w="19050">
            <a:solidFill>
              <a:srgbClr val="A78BFA"/>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A78BFA"/>
                </a:solidFill>
                <a:latin typeface="Segoe UI"/>
                <a:ea typeface="Segoe UI"/>
                <a:cs typeface="Segoe UI"/>
              </a:rPr>
              <a:t>REFINE</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clarify, split, order the items</a:t>
            </a:r>
            <a:endParaRPr lang="en-US" sz="1150" dirty="0"/>
          </a:p>
        </p:txBody>
      </p:sp>
      <p:cxnSp>
        <p:nvCxnSpPr>
          <p:cNvPr id="105" name="ln105"/>
          <p:cNvCxnSpPr/>
          <p:nvPr/>
        </p:nvCxnSpPr>
        <p:spPr>
          <a:xfrm>
            <a:off x="5959145" y="2331720"/>
            <a:ext cx="256032" cy="0"/>
          </a:xfrm>
          <a:prstGeom prst="line">
            <a:avLst/>
          </a:prstGeom>
          <a:ln w="22225">
            <a:solidFill>
              <a:srgbClr val="94A3B8"/>
            </a:solidFill>
            <a:tailEnd type="triangle" w="med" len="med"/>
          </a:ln>
        </p:spPr>
      </p:cxnSp>
      <p:sp>
        <p:nvSpPr>
          <p:cNvPr id="106" name="s106"/>
          <p:cNvSpPr/>
          <p:nvPr/>
        </p:nvSpPr>
        <p:spPr>
          <a:xfrm>
            <a:off x="9133484" y="1828800"/>
            <a:ext cx="2497684" cy="1005840"/>
          </a:xfrm>
          <a:prstGeom prst="roundRect">
            <a:avLst>
              <a:gd name="adj" fmla="val 14000"/>
            </a:avLst>
          </a:prstGeom>
          <a:solidFill>
            <a:srgbClr val="34D399">
              <a:alpha val="14000"/>
            </a:srgbClr>
          </a:solidFill>
          <a:ln w="19050">
            <a:solidFill>
              <a:srgbClr val="34D399"/>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34D399"/>
                </a:solidFill>
                <a:latin typeface="Segoe UI"/>
                <a:ea typeface="Segoe UI"/>
                <a:cs typeface="Segoe UI"/>
              </a:rPr>
              <a:t>MILESTONES</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big deliverables with target dates</a:t>
            </a:r>
            <a:endParaRPr lang="en-US" sz="1150" dirty="0"/>
          </a:p>
        </p:txBody>
      </p:sp>
      <p:cxnSp>
        <p:nvCxnSpPr>
          <p:cNvPr id="107" name="ln107"/>
          <p:cNvCxnSpPr/>
          <p:nvPr/>
        </p:nvCxnSpPr>
        <p:spPr>
          <a:xfrm>
            <a:off x="8822588" y="2331720"/>
            <a:ext cx="256032" cy="0"/>
          </a:xfrm>
          <a:prstGeom prst="line">
            <a:avLst/>
          </a:prstGeom>
          <a:ln w="22225">
            <a:solidFill>
              <a:srgbClr val="94A3B8"/>
            </a:solidFill>
            <a:tailEnd type="triangle" w="med" len="med"/>
          </a:ln>
        </p:spPr>
      </p:cxnSp>
      <p:sp>
        <p:nvSpPr>
          <p:cNvPr id="108" name="s108"/>
          <p:cNvSpPr/>
          <p:nvPr/>
        </p:nvSpPr>
        <p:spPr>
          <a:xfrm>
            <a:off x="543154" y="3108960"/>
            <a:ext cx="5406847" cy="1325880"/>
          </a:xfrm>
          <a:prstGeom prst="roundRect">
            <a:avLst>
              <a:gd name="adj" fmla="val 8000"/>
            </a:avLst>
          </a:prstGeom>
          <a:solidFill>
            <a:srgbClr val="111B2E"/>
          </a:solidFill>
          <a:ln w="12700">
            <a:solidFill>
              <a:srgbClr val="13D0F7"/>
            </a:solidFill>
            <a:prstDash val="solid"/>
          </a:ln>
        </p:spPr>
        <p:txBody>
          <a:bodyPr wrap="square" lIns="201168" tIns="137160" rIns="164592" bIns="91440" rtlCol="0" anchor="t">
            <a:noAutofit/>
          </a:bodyPr>
          <a:lstStyle/>
          <a:p>
            <a:pPr marL="0" indent="0" algn="l">
              <a:spcBef>
                <a:spcPts val="0"/>
              </a:spcBef>
              <a:spcAft>
                <a:spcPts val="600"/>
              </a:spcAft>
              <a:buNone/>
            </a:pPr>
            <a:r>
              <a:rPr lang="en-US" sz="1150" b="1" dirty="0">
                <a:solidFill>
                  <a:srgbClr val="13D0F7"/>
                </a:solidFill>
                <a:latin typeface="Segoe UI"/>
                <a:ea typeface="Segoe UI"/>
                <a:cs typeface="Segoe UI"/>
              </a:rPr>
              <a:t>WHO ATTENDS?</a:t>
            </a:r>
            <a:endParaRPr lang="en-US" sz="1150" dirty="0"/>
          </a:p>
          <a:p>
            <a:pPr marL="0" indent="0" algn="l">
              <a:spcBef>
                <a:spcPts val="0"/>
              </a:spcBef>
              <a:spcAft>
                <a:spcPts val="400"/>
              </a:spcAft>
              <a:buNone/>
            </a:pPr>
            <a:r>
              <a:rPr lang="en-US" sz="1250" b="0" dirty="0">
                <a:solidFill>
                  <a:srgbClr val="13D0F7"/>
                </a:solidFill>
                <a:latin typeface="Segoe UI"/>
                <a:ea typeface="Segoe UI"/>
                <a:cs typeface="Segoe UI"/>
              </a:rPr>
              <a:t>•  </a:t>
            </a:r>
            <a:r>
              <a:rPr lang="en-US" sz="1250" b="0" dirty="0">
                <a:solidFill>
                  <a:srgbClr val="E2E8F0"/>
                </a:solidFill>
                <a:latin typeface="Segoe UI"/>
                <a:ea typeface="Segoe UI"/>
                <a:cs typeface="Segoe UI"/>
              </a:rPr>
              <a:t>some companies: the team leads first, they explain to their teams</a:t>
            </a:r>
            <a:endParaRPr lang="en-US" sz="1250" dirty="0"/>
          </a:p>
          <a:p>
            <a:pPr marL="0" indent="0" algn="l">
              <a:spcBef>
                <a:spcPts val="0"/>
              </a:spcBef>
              <a:spcAft>
                <a:spcPts val="400"/>
              </a:spcAft>
              <a:buNone/>
            </a:pPr>
            <a:r>
              <a:rPr lang="en-US" sz="1250" b="0" dirty="0">
                <a:solidFill>
                  <a:srgbClr val="13D0F7"/>
                </a:solidFill>
                <a:latin typeface="Segoe UI"/>
                <a:ea typeface="Segoe UI"/>
                <a:cs typeface="Segoe UI"/>
              </a:rPr>
              <a:t>•  </a:t>
            </a:r>
            <a:r>
              <a:rPr lang="en-US" sz="1250" b="0" dirty="0">
                <a:solidFill>
                  <a:srgbClr val="E2E8F0"/>
                </a:solidFill>
                <a:latin typeface="Segoe UI"/>
                <a:ea typeface="Segoe UI"/>
                <a:cs typeface="Segoe UI"/>
              </a:rPr>
              <a:t>others: one meeting for the whole company</a:t>
            </a:r>
            <a:endParaRPr lang="en-US" sz="1250" dirty="0"/>
          </a:p>
        </p:txBody>
      </p:sp>
      <p:sp>
        <p:nvSpPr>
          <p:cNvPr id="109" name="s109"/>
          <p:cNvSpPr txBox="1"/>
          <p:nvPr/>
        </p:nvSpPr>
        <p:spPr>
          <a:xfrm>
            <a:off x="6224321" y="3108960"/>
            <a:ext cx="5406847"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34D399"/>
                </a:solidFill>
                <a:latin typeface="Segoe UI"/>
                <a:ea typeface="Segoe UI"/>
                <a:cs typeface="Segoe UI"/>
              </a:rPr>
              <a:t>CARE HOSPITAL MILESTONES</a:t>
            </a:r>
            <a:endParaRPr lang="en-US" sz="1100" dirty="0"/>
          </a:p>
        </p:txBody>
      </p:sp>
      <p:sp>
        <p:nvSpPr>
          <p:cNvPr id="110" name="s110"/>
          <p:cNvSpPr/>
          <p:nvPr/>
        </p:nvSpPr>
        <p:spPr>
          <a:xfrm>
            <a:off x="6224321" y="3429000"/>
            <a:ext cx="5406847" cy="301752"/>
          </a:xfrm>
          <a:prstGeom prst="roundRect">
            <a:avLst>
              <a:gd name="adj" fmla="val 20000"/>
            </a:avLst>
          </a:prstGeom>
          <a:solidFill>
            <a:srgbClr val="34D399">
              <a:alpha val="10000"/>
            </a:srgbClr>
          </a:solidFill>
          <a:ln w="12700">
            <a:solidFill>
              <a:srgbClr val="34D399"/>
            </a:solidFill>
            <a:prstDash val="solid"/>
          </a:ln>
        </p:spPr>
        <p:txBody>
          <a:bodyPr wrap="square" lIns="137160" tIns="0" rIns="137160" bIns="0" rtlCol="0" anchor="ctr">
            <a:noAutofit/>
          </a:bodyPr>
          <a:lstStyle/>
          <a:p>
            <a:pPr marL="0" indent="0" algn="l">
              <a:spcBef>
                <a:spcPts val="0"/>
              </a:spcBef>
              <a:spcAft>
                <a:spcPts val="0"/>
              </a:spcAft>
              <a:buNone/>
            </a:pPr>
            <a:r>
              <a:rPr lang="en-US" sz="1200" b="1" dirty="0">
                <a:solidFill>
                  <a:srgbClr val="34D399"/>
                </a:solidFill>
                <a:latin typeface="Consolas"/>
                <a:ea typeface="Consolas"/>
                <a:cs typeface="Consolas"/>
              </a:rPr>
              <a:t>M1   </a:t>
            </a:r>
            <a:r>
              <a:rPr lang="en-US" sz="1200" b="0" dirty="0">
                <a:solidFill>
                  <a:srgbClr val="FFFFFF"/>
                </a:solidFill>
                <a:latin typeface="Segoe UI"/>
                <a:ea typeface="Segoe UI"/>
                <a:cs typeface="Segoe UI"/>
              </a:rPr>
              <a:t>Booking + reminders</a:t>
            </a:r>
            <a:r>
              <a:rPr lang="en-US" sz="1200" b="0" dirty="0">
                <a:solidFill>
                  <a:srgbClr val="94A3B8"/>
                </a:solidFill>
                <a:latin typeface="Segoe UI"/>
                <a:ea typeface="Segoe UI"/>
                <a:cs typeface="Segoe UI"/>
              </a:rPr>
              <a:t>   → May</a:t>
            </a:r>
            <a:endParaRPr lang="en-US" sz="1200" dirty="0"/>
          </a:p>
        </p:txBody>
      </p:sp>
      <p:sp>
        <p:nvSpPr>
          <p:cNvPr id="111" name="s111"/>
          <p:cNvSpPr/>
          <p:nvPr/>
        </p:nvSpPr>
        <p:spPr>
          <a:xfrm>
            <a:off x="6224321" y="3776472"/>
            <a:ext cx="5406847" cy="301752"/>
          </a:xfrm>
          <a:prstGeom prst="roundRect">
            <a:avLst>
              <a:gd name="adj" fmla="val 20000"/>
            </a:avLst>
          </a:prstGeom>
          <a:solidFill>
            <a:srgbClr val="34D399">
              <a:alpha val="18000"/>
            </a:srgbClr>
          </a:solidFill>
          <a:ln w="12700">
            <a:solidFill>
              <a:srgbClr val="34D399"/>
            </a:solidFill>
            <a:prstDash val="solid"/>
          </a:ln>
        </p:spPr>
        <p:txBody>
          <a:bodyPr wrap="square" lIns="137160" tIns="0" rIns="137160" bIns="0" rtlCol="0" anchor="ctr">
            <a:noAutofit/>
          </a:bodyPr>
          <a:lstStyle/>
          <a:p>
            <a:pPr marL="0" indent="0" algn="l">
              <a:spcBef>
                <a:spcPts val="0"/>
              </a:spcBef>
              <a:spcAft>
                <a:spcPts val="0"/>
              </a:spcAft>
              <a:buNone/>
            </a:pPr>
            <a:r>
              <a:rPr lang="en-US" sz="1200" b="1" dirty="0">
                <a:solidFill>
                  <a:srgbClr val="34D399"/>
                </a:solidFill>
                <a:latin typeface="Consolas"/>
                <a:ea typeface="Consolas"/>
                <a:cs typeface="Consolas"/>
              </a:rPr>
              <a:t>M2   </a:t>
            </a:r>
            <a:r>
              <a:rPr lang="en-US" sz="1200" b="0" dirty="0">
                <a:solidFill>
                  <a:srgbClr val="FFFFFF"/>
                </a:solidFill>
                <a:latin typeface="Segoe UI"/>
                <a:ea typeface="Segoe UI"/>
                <a:cs typeface="Segoe UI"/>
              </a:rPr>
              <a:t>Doctor schedules</a:t>
            </a:r>
            <a:r>
              <a:rPr lang="en-US" sz="1200" b="0" dirty="0">
                <a:solidFill>
                  <a:srgbClr val="94A3B8"/>
                </a:solidFill>
                <a:latin typeface="Segoe UI"/>
                <a:ea typeface="Segoe UI"/>
                <a:cs typeface="Segoe UI"/>
              </a:rPr>
              <a:t>   → June</a:t>
            </a:r>
            <a:endParaRPr lang="en-US" sz="1200" dirty="0"/>
          </a:p>
        </p:txBody>
      </p:sp>
      <p:sp>
        <p:nvSpPr>
          <p:cNvPr id="112" name="s112"/>
          <p:cNvSpPr/>
          <p:nvPr/>
        </p:nvSpPr>
        <p:spPr>
          <a:xfrm>
            <a:off x="6224321" y="4123944"/>
            <a:ext cx="5406847" cy="301752"/>
          </a:xfrm>
          <a:prstGeom prst="roundRect">
            <a:avLst>
              <a:gd name="adj" fmla="val 20000"/>
            </a:avLst>
          </a:prstGeom>
          <a:solidFill>
            <a:srgbClr val="34D399">
              <a:alpha val="26000"/>
            </a:srgbClr>
          </a:solidFill>
          <a:ln w="12700">
            <a:solidFill>
              <a:srgbClr val="34D399"/>
            </a:solidFill>
            <a:prstDash val="solid"/>
          </a:ln>
        </p:spPr>
        <p:txBody>
          <a:bodyPr wrap="square" lIns="137160" tIns="0" rIns="137160" bIns="0" rtlCol="0" anchor="ctr">
            <a:noAutofit/>
          </a:bodyPr>
          <a:lstStyle/>
          <a:p>
            <a:pPr marL="0" indent="0" algn="l">
              <a:spcBef>
                <a:spcPts val="0"/>
              </a:spcBef>
              <a:spcAft>
                <a:spcPts val="0"/>
              </a:spcAft>
              <a:buNone/>
            </a:pPr>
            <a:r>
              <a:rPr lang="en-US" sz="1200" b="1" dirty="0">
                <a:solidFill>
                  <a:srgbClr val="34D399"/>
                </a:solidFill>
                <a:latin typeface="Consolas"/>
                <a:ea typeface="Consolas"/>
                <a:cs typeface="Consolas"/>
              </a:rPr>
              <a:t>M3   </a:t>
            </a:r>
            <a:r>
              <a:rPr lang="en-US" sz="1200" b="0" dirty="0">
                <a:solidFill>
                  <a:srgbClr val="FFFFFF"/>
                </a:solidFill>
                <a:latin typeface="Segoe UI"/>
                <a:ea typeface="Segoe UI"/>
                <a:cs typeface="Segoe UI"/>
              </a:rPr>
              <a:t>Payments + reports</a:t>
            </a:r>
            <a:r>
              <a:rPr lang="en-US" sz="1200" b="0" dirty="0">
                <a:solidFill>
                  <a:srgbClr val="94A3B8"/>
                </a:solidFill>
                <a:latin typeface="Segoe UI"/>
                <a:ea typeface="Segoe UI"/>
                <a:cs typeface="Segoe UI"/>
              </a:rPr>
              <a:t>   → July</a:t>
            </a:r>
            <a:endParaRPr lang="en-US" sz="1200" dirty="0"/>
          </a:p>
        </p:txBody>
      </p:sp>
      <p:sp>
        <p:nvSpPr>
          <p:cNvPr id="113" name="s113"/>
          <p:cNvSpPr/>
          <p:nvPr/>
        </p:nvSpPr>
        <p:spPr>
          <a:xfrm>
            <a:off x="543154" y="4663440"/>
            <a:ext cx="11088014" cy="548640"/>
          </a:xfrm>
          <a:prstGeom prst="roundRect">
            <a:avLst>
              <a:gd name="adj" fmla="val 12000"/>
            </a:avLst>
          </a:prstGeom>
          <a:solidFill>
            <a:srgbClr val="111B2E"/>
          </a:solidFill>
          <a:ln w="12700">
            <a:solidFill>
              <a:srgbClr val="13D0F7"/>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13D0F7"/>
                </a:solidFill>
                <a:latin typeface="Segoe UI"/>
                <a:ea typeface="Segoe UI"/>
                <a:cs typeface="Segoe UI"/>
              </a:rPr>
              <a:t>THEN</a:t>
            </a:r>
            <a:r>
              <a:rPr lang="en-US" sz="1350" b="0" dirty="0">
                <a:solidFill>
                  <a:srgbClr val="E2E8F0"/>
                </a:solidFill>
                <a:latin typeface="Segoe UI"/>
                <a:ea typeface="Segoe UI"/>
                <a:cs typeface="Segoe UI"/>
              </a:rPr>
              <a:t>   each milestone is reached through several Sprints.  Sometimes the first one is a "Sprint 0".</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anim calcmode="lin" valueType="num">
                                      <p:cBhvr additive="base">
                                        <p:cTn id="14" dur="500" decel="100000" fill="hold"/>
                                        <p:tgtEl>
                                          <p:spTgt spid="103"/>
                                        </p:tgtEl>
                                        <p:attrNameLst>
                                          <p:attrName>ppt_x</p:attrName>
                                        </p:attrNameLst>
                                      </p:cBhvr>
                                      <p:tavLst>
                                        <p:tav tm="0">
                                          <p:val>
                                            <p:strVal val="#ppt_x-0.05"/>
                                          </p:val>
                                        </p:tav>
                                        <p:tav tm="100000">
                                          <p:val>
                                            <p:strVal val="#ppt_x"/>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102"/>
                                        </p:tgtEl>
                                        <p:attrNameLst>
                                          <p:attrName>style.visibility</p:attrName>
                                        </p:attrNameLst>
                                      </p:cBhvr>
                                      <p:to>
                                        <p:strVal val="visible"/>
                                      </p:to>
                                    </p:set>
                                    <p:animEffect transition="in" filter="fade">
                                      <p:cBhvr>
                                        <p:cTn id="17" dur="500"/>
                                        <p:tgtEl>
                                          <p:spTgt spid="102"/>
                                        </p:tgtEl>
                                      </p:cBhvr>
                                    </p:animEffect>
                                    <p:anim calcmode="lin" valueType="num">
                                      <p:cBhvr additive="base">
                                        <p:cTn id="18"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nodeType="click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4"/>
                                        </p:tgtEl>
                                        <p:attrNameLst>
                                          <p:attrName>style.visibility</p:attrName>
                                        </p:attrNameLst>
                                      </p:cBhvr>
                                      <p:to>
                                        <p:strVal val="visible"/>
                                      </p:to>
                                    </p:set>
                                    <p:animEffect transition="in" filter="fade">
                                      <p:cBhvr>
                                        <p:cTn id="27" dur="500"/>
                                        <p:tgtEl>
                                          <p:spTgt spid="104"/>
                                        </p:tgtEl>
                                      </p:cBhvr>
                                    </p:animEffect>
                                    <p:anim calcmode="lin" valueType="num">
                                      <p:cBhvr additive="base">
                                        <p:cTn id="28" dur="500" decel="100000" fill="hold"/>
                                        <p:tgtEl>
                                          <p:spTgt spid="104"/>
                                        </p:tgtEl>
                                        <p:attrNameLst>
                                          <p:attrName>ppt_x</p:attrName>
                                        </p:attrNameLst>
                                      </p:cBhvr>
                                      <p:tavLst>
                                        <p:tav tm="0">
                                          <p:val>
                                            <p:strVal val="#ppt_x-0.05"/>
                                          </p:val>
                                        </p:tav>
                                        <p:tav tm="100000">
                                          <p:val>
                                            <p:strVal val="#ppt_x"/>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ppt_x</p:attrName>
                                        </p:attrNameLst>
                                      </p:cBhvr>
                                      <p:tavLst>
                                        <p:tav tm="0">
                                          <p:val>
                                            <p:strVal val="#ppt_x-0.05"/>
                                          </p:val>
                                        </p:tav>
                                        <p:tav tm="100000">
                                          <p:val>
                                            <p:strVal val="#ppt_x"/>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06"/>
                                        </p:tgtEl>
                                        <p:attrNameLst>
                                          <p:attrName>style.visibility</p:attrName>
                                        </p:attrNameLst>
                                      </p:cBhvr>
                                      <p:to>
                                        <p:strVal val="visible"/>
                                      </p:to>
                                    </p:set>
                                    <p:animEffect transition="in" filter="fade">
                                      <p:cBhvr>
                                        <p:cTn id="37" dur="500"/>
                                        <p:tgtEl>
                                          <p:spTgt spid="106"/>
                                        </p:tgtEl>
                                      </p:cBhvr>
                                    </p:animEffect>
                                    <p:anim calcmode="lin" valueType="num">
                                      <p:cBhvr additive="base">
                                        <p:cTn id="38" dur="500" decel="100000" fill="hold"/>
                                        <p:tgtEl>
                                          <p:spTgt spid="106"/>
                                        </p:tgtEl>
                                        <p:attrNameLst>
                                          <p:attrName>ppt_x</p:attrName>
                                        </p:attrNameLst>
                                      </p:cBhvr>
                                      <p:tavLst>
                                        <p:tav tm="0">
                                          <p:val>
                                            <p:strVal val="#ppt_x-0.05"/>
                                          </p:val>
                                        </p:tav>
                                        <p:tav tm="100000">
                                          <p:val>
                                            <p:strVal val="#ppt_x"/>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108"/>
                                        </p:tgtEl>
                                        <p:attrNameLst>
                                          <p:attrName>style.visibility</p:attrName>
                                        </p:attrNameLst>
                                      </p:cBhvr>
                                      <p:to>
                                        <p:strVal val="visible"/>
                                      </p:to>
                                    </p:set>
                                    <p:animEffect transition="in" filter="fade">
                                      <p:cBhvr>
                                        <p:cTn id="43" dur="500"/>
                                        <p:tgtEl>
                                          <p:spTgt spid="108"/>
                                        </p:tgtEl>
                                      </p:cBhvr>
                                    </p:animEffect>
                                    <p:anim calcmode="lin" valueType="num">
                                      <p:cBhvr additive="base">
                                        <p:cTn id="44" dur="500" decel="100000" fill="hold"/>
                                        <p:tgtEl>
                                          <p:spTgt spid="108"/>
                                        </p:tgtEl>
                                        <p:attrNameLst>
                                          <p:attrName>ppt_y</p:attrName>
                                        </p:attrNameLst>
                                      </p:cBhvr>
                                      <p:tavLst>
                                        <p:tav tm="0">
                                          <p:val>
                                            <p:strVal val="#ppt_y+0.06"/>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109"/>
                                        </p:tgtEl>
                                        <p:attrNameLst>
                                          <p:attrName>style.visibility</p:attrName>
                                        </p:attrNameLst>
                                      </p:cBhvr>
                                      <p:to>
                                        <p:strVal val="visible"/>
                                      </p:to>
                                    </p:set>
                                    <p:animEffect transition="in" filter="fade">
                                      <p:cBhvr>
                                        <p:cTn id="49" dur="500"/>
                                        <p:tgtEl>
                                          <p:spTgt spid="109"/>
                                        </p:tgtEl>
                                      </p:cBhvr>
                                    </p:animEffect>
                                    <p:anim calcmode="lin" valueType="num">
                                      <p:cBhvr additive="base">
                                        <p:cTn id="50" dur="500" decel="100000" fill="hold"/>
                                        <p:tgtEl>
                                          <p:spTgt spid="109"/>
                                        </p:tgtEl>
                                        <p:attrNameLst>
                                          <p:attrName>ppt_x</p:attrName>
                                        </p:attrNameLst>
                                      </p:cBhvr>
                                      <p:tavLst>
                                        <p:tav tm="0">
                                          <p:val>
                                            <p:strVal val="#ppt_x-0.05"/>
                                          </p:val>
                                        </p:tav>
                                        <p:tav tm="100000">
                                          <p:val>
                                            <p:strVal val="#ppt_x"/>
                                          </p:val>
                                        </p:tav>
                                      </p:tavLst>
                                    </p:anim>
                                  </p:childTnLst>
                                </p:cTn>
                              </p:par>
                              <p:par>
                                <p:cTn id="51" presetID="42" presetClass="entr" presetSubtype="0" fill="hold" grpId="0" nodeType="withEffect">
                                  <p:stCondLst>
                                    <p:cond delay="120"/>
                                  </p:stCondLst>
                                  <p:childTnLst>
                                    <p:set>
                                      <p:cBhvr>
                                        <p:cTn id="52" dur="1" fill="hold">
                                          <p:stCondLst>
                                            <p:cond delay="0"/>
                                          </p:stCondLst>
                                        </p:cTn>
                                        <p:tgtEl>
                                          <p:spTgt spid="110"/>
                                        </p:tgtEl>
                                        <p:attrNameLst>
                                          <p:attrName>style.visibility</p:attrName>
                                        </p:attrNameLst>
                                      </p:cBhvr>
                                      <p:to>
                                        <p:strVal val="visible"/>
                                      </p:to>
                                    </p:set>
                                    <p:animEffect transition="in" filter="fade">
                                      <p:cBhvr>
                                        <p:cTn id="53" dur="500"/>
                                        <p:tgtEl>
                                          <p:spTgt spid="110"/>
                                        </p:tgtEl>
                                      </p:cBhvr>
                                    </p:animEffect>
                                    <p:anim calcmode="lin" valueType="num">
                                      <p:cBhvr additive="base">
                                        <p:cTn id="54" dur="500" decel="100000" fill="hold"/>
                                        <p:tgtEl>
                                          <p:spTgt spid="110"/>
                                        </p:tgtEl>
                                        <p:attrNameLst>
                                          <p:attrName>ppt_x</p:attrName>
                                        </p:attrNameLst>
                                      </p:cBhvr>
                                      <p:tavLst>
                                        <p:tav tm="0">
                                          <p:val>
                                            <p:strVal val="#ppt_x-0.05"/>
                                          </p:val>
                                        </p:tav>
                                        <p:tav tm="100000">
                                          <p:val>
                                            <p:strVal val="#ppt_x"/>
                                          </p:val>
                                        </p:tav>
                                      </p:tavLst>
                                    </p:anim>
                                  </p:childTnLst>
                                </p:cTn>
                              </p:par>
                              <p:par>
                                <p:cTn id="55" presetID="42" presetClass="entr" presetSubtype="0" fill="hold" grpId="0" nodeType="withEffect">
                                  <p:stCondLst>
                                    <p:cond delay="120"/>
                                  </p:stCondLst>
                                  <p:childTnLst>
                                    <p:set>
                                      <p:cBhvr>
                                        <p:cTn id="56" dur="1" fill="hold">
                                          <p:stCondLst>
                                            <p:cond delay="0"/>
                                          </p:stCondLst>
                                        </p:cTn>
                                        <p:tgtEl>
                                          <p:spTgt spid="111"/>
                                        </p:tgtEl>
                                        <p:attrNameLst>
                                          <p:attrName>style.visibility</p:attrName>
                                        </p:attrNameLst>
                                      </p:cBhvr>
                                      <p:to>
                                        <p:strVal val="visible"/>
                                      </p:to>
                                    </p:set>
                                    <p:animEffect transition="in" filter="fade">
                                      <p:cBhvr>
                                        <p:cTn id="57" dur="500"/>
                                        <p:tgtEl>
                                          <p:spTgt spid="111"/>
                                        </p:tgtEl>
                                      </p:cBhvr>
                                    </p:animEffect>
                                    <p:anim calcmode="lin" valueType="num">
                                      <p:cBhvr additive="base">
                                        <p:cTn id="58" dur="500" decel="100000" fill="hold"/>
                                        <p:tgtEl>
                                          <p:spTgt spid="111"/>
                                        </p:tgtEl>
                                        <p:attrNameLst>
                                          <p:attrName>ppt_x</p:attrName>
                                        </p:attrNameLst>
                                      </p:cBhvr>
                                      <p:tavLst>
                                        <p:tav tm="0">
                                          <p:val>
                                            <p:strVal val="#ppt_x-0.05"/>
                                          </p:val>
                                        </p:tav>
                                        <p:tav tm="100000">
                                          <p:val>
                                            <p:strVal val="#ppt_x"/>
                                          </p:val>
                                        </p:tav>
                                      </p:tavLst>
                                    </p:anim>
                                  </p:childTnLst>
                                </p:cTn>
                              </p:par>
                              <p:par>
                                <p:cTn id="59" presetID="42" presetClass="entr" presetSubtype="0" fill="hold" grpId="0" nodeType="withEffect">
                                  <p:stCondLst>
                                    <p:cond delay="120"/>
                                  </p:stCondLst>
                                  <p:childTnLst>
                                    <p:set>
                                      <p:cBhvr>
                                        <p:cTn id="60" dur="1" fill="hold">
                                          <p:stCondLst>
                                            <p:cond delay="0"/>
                                          </p:stCondLst>
                                        </p:cTn>
                                        <p:tgtEl>
                                          <p:spTgt spid="112"/>
                                        </p:tgtEl>
                                        <p:attrNameLst>
                                          <p:attrName>style.visibility</p:attrName>
                                        </p:attrNameLst>
                                      </p:cBhvr>
                                      <p:to>
                                        <p:strVal val="visible"/>
                                      </p:to>
                                    </p:set>
                                    <p:animEffect transition="in" filter="fade">
                                      <p:cBhvr>
                                        <p:cTn id="61" dur="500"/>
                                        <p:tgtEl>
                                          <p:spTgt spid="112"/>
                                        </p:tgtEl>
                                      </p:cBhvr>
                                    </p:animEffect>
                                    <p:anim calcmode="lin" valueType="num">
                                      <p:cBhvr additive="base">
                                        <p:cTn id="62" dur="500" decel="100000" fill="hold"/>
                                        <p:tgtEl>
                                          <p:spTgt spid="112"/>
                                        </p:tgtEl>
                                        <p:attrNameLst>
                                          <p:attrName>ppt_x</p:attrName>
                                        </p:attrNameLst>
                                      </p:cBhvr>
                                      <p:tavLst>
                                        <p:tav tm="0">
                                          <p:val>
                                            <p:strVal val="#ppt_x-0.05"/>
                                          </p:val>
                                        </p:tav>
                                        <p:tav tm="100000">
                                          <p:val>
                                            <p:strVal val="#ppt_x"/>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113"/>
                                        </p:tgtEl>
                                        <p:attrNameLst>
                                          <p:attrName>style.visibility</p:attrName>
                                        </p:attrNameLst>
                                      </p:cBhvr>
                                      <p:to>
                                        <p:strVal val="visible"/>
                                      </p:to>
                                    </p:set>
                                    <p:animEffect transition="in" filter="fade">
                                      <p:cBhvr>
                                        <p:cTn id="67" dur="500"/>
                                        <p:tgtEl>
                                          <p:spTgt spid="113"/>
                                        </p:tgtEl>
                                      </p:cBhvr>
                                    </p:animEffect>
                                    <p:anim calcmode="lin" valueType="num">
                                      <p:cBhvr additive="base">
                                        <p:cTn id="68" dur="500" decel="100000" fill="hold"/>
                                        <p:tgtEl>
                                          <p:spTgt spid="113"/>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6" grpId="0" animBg="1"/>
      <p:bldP spid="108" grpId="0" animBg="1"/>
      <p:bldP spid="109" grpId="0" animBg="1"/>
      <p:bldP spid="110" grpId="0" animBg="1"/>
      <p:bldP spid="111" grpId="0" animBg="1"/>
      <p:bldP spid="112" grpId="0" animBg="1"/>
      <p:bldP spid="113"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0A98B">
              <a:alpha val="18000"/>
            </a:srgbClr>
          </a:solidFill>
          <a:ln w="12700">
            <a:solidFill>
              <a:srgbClr val="F0A98B"/>
            </a:solidFill>
          </a:ln>
        </p:spPr>
        <p:txBody>
          <a:bodyPr wrap="square" lIns="0" tIns="0" rIns="0" bIns="0" rtlCol="0" anchor="ctr">
            <a:noAutofit/>
          </a:bodyPr>
          <a:lstStyle/>
          <a:p>
            <a:pPr marL="0" indent="0" algn="ctr">
              <a:spcBef>
                <a:spcPts val="0"/>
              </a:spcBef>
              <a:spcAft>
                <a:spcPts val="0"/>
              </a:spcAft>
              <a:buNone/>
            </a:pPr>
            <a:r>
              <a:rPr lang="en-US" sz="1000" b="1" dirty="0">
                <a:solidFill>
                  <a:srgbClr val="F0A98B"/>
                </a:solidFill>
                <a:latin typeface="Segoe UI"/>
                <a:ea typeface="Segoe UI"/>
                <a:cs typeface="Segoe UI"/>
              </a:rPr>
              <a:t>EPIC</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“Appointment Management” Is Too Large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An Epic is large product work that must be broken down.</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242</a:t>
            </a:r>
            <a:endParaRPr lang="en-US" sz="850" dirty="0"/>
          </a:p>
        </p:txBody>
      </p:sp>
      <p:sp>
        <p:nvSpPr>
          <p:cNvPr id="101" name="s101"/>
          <p:cNvSpPr/>
          <p:nvPr/>
        </p:nvSpPr>
        <p:spPr>
          <a:xfrm>
            <a:off x="543154" y="2103120"/>
            <a:ext cx="3474720" cy="3017520"/>
          </a:xfrm>
          <a:prstGeom prst="roundRect">
            <a:avLst>
              <a:gd name="adj" fmla="val 8000"/>
            </a:avLst>
          </a:prstGeom>
          <a:solidFill>
            <a:srgbClr val="F0A98B">
              <a:alpha val="14000"/>
            </a:srgbClr>
          </a:solidFill>
          <a:ln w="25400">
            <a:solidFill>
              <a:srgbClr val="F0A98B"/>
            </a:solidFill>
            <a:prstDash val="solid"/>
          </a:ln>
        </p:spPr>
        <p:txBody>
          <a:bodyPr wrap="square" lIns="320040" tIns="91440" rIns="274320" bIns="91440" rtlCol="0" anchor="ctr">
            <a:noAutofit/>
          </a:bodyPr>
          <a:lstStyle/>
          <a:p>
            <a:pPr marL="0" indent="0" algn="l">
              <a:spcBef>
                <a:spcPts val="0"/>
              </a:spcBef>
              <a:spcAft>
                <a:spcPts val="600"/>
              </a:spcAft>
              <a:buNone/>
            </a:pPr>
            <a:r>
              <a:rPr lang="en-US" sz="1200" b="1" dirty="0">
                <a:solidFill>
                  <a:srgbClr val="F0A98B"/>
                </a:solidFill>
                <a:latin typeface="Segoe UI"/>
                <a:ea typeface="Segoe UI"/>
                <a:cs typeface="Segoe UI"/>
              </a:rPr>
              <a:t>EPIC</a:t>
            </a:r>
            <a:endParaRPr lang="en-US" sz="1200" dirty="0"/>
          </a:p>
          <a:p>
            <a:pPr marL="0" indent="0" algn="l">
              <a:spcBef>
                <a:spcPts val="0"/>
              </a:spcBef>
              <a:spcAft>
                <a:spcPts val="1000"/>
              </a:spcAft>
              <a:buNone/>
            </a:pPr>
            <a:r>
              <a:rPr lang="en-US" sz="2400" b="1" dirty="0">
                <a:solidFill>
                  <a:srgbClr val="FFFFFF"/>
                </a:solidFill>
                <a:latin typeface="Segoe UI"/>
                <a:ea typeface="Segoe UI"/>
                <a:cs typeface="Segoe UI"/>
              </a:rPr>
              <a:t>Appointment Management</a:t>
            </a:r>
            <a:endParaRPr lang="en-US" sz="2400" dirty="0"/>
          </a:p>
          <a:p>
            <a:pPr marL="0" indent="0" algn="l">
              <a:spcBef>
                <a:spcPts val="0"/>
              </a:spcBef>
              <a:spcAft>
                <a:spcPts val="0"/>
              </a:spcAft>
              <a:buNone/>
            </a:pPr>
            <a:r>
              <a:rPr lang="en-US" sz="1200" b="0" dirty="0">
                <a:solidFill>
                  <a:srgbClr val="94A3B8"/>
                </a:solidFill>
                <a:latin typeface="Segoe UI"/>
                <a:ea typeface="Segoe UI"/>
                <a:cs typeface="Segoe UI"/>
              </a:rPr>
              <a:t>Too big for one item</a:t>
            </a:r>
            <a:endParaRPr lang="en-US" sz="1200" dirty="0"/>
          </a:p>
        </p:txBody>
      </p:sp>
      <p:cxnSp>
        <p:nvCxnSpPr>
          <p:cNvPr id="102" name="ln102"/>
          <p:cNvCxnSpPr/>
          <p:nvPr/>
        </p:nvCxnSpPr>
        <p:spPr>
          <a:xfrm flipV="1">
            <a:off x="4063594" y="2514600"/>
            <a:ext cx="1057046" cy="1097280"/>
          </a:xfrm>
          <a:prstGeom prst="line">
            <a:avLst/>
          </a:prstGeom>
          <a:ln w="15875">
            <a:solidFill>
              <a:srgbClr val="F0A98B">
                <a:alpha val="55000"/>
              </a:srgbClr>
            </a:solidFill>
          </a:ln>
        </p:spPr>
      </p:cxnSp>
      <p:sp>
        <p:nvSpPr>
          <p:cNvPr id="103" name="s103"/>
          <p:cNvSpPr/>
          <p:nvPr/>
        </p:nvSpPr>
        <p:spPr>
          <a:xfrm>
            <a:off x="5166360" y="2103120"/>
            <a:ext cx="3017520" cy="822960"/>
          </a:xfrm>
          <a:prstGeom prst="roundRect">
            <a:avLst>
              <a:gd name="adj" fmla="val 12000"/>
            </a:avLst>
          </a:prstGeom>
          <a:solidFill>
            <a:srgbClr val="111B2E"/>
          </a:solidFill>
          <a:ln w="12700">
            <a:solidFill>
              <a:srgbClr val="F0A98B"/>
            </a:solidFill>
            <a:prstDash val="solid"/>
          </a:ln>
        </p:spPr>
        <p:txBody>
          <a:bodyPr wrap="square" lIns="201168" tIns="36576" rIns="91440" bIns="36576" rtlCol="0" anchor="ctr">
            <a:noAutofit/>
          </a:bodyPr>
          <a:lstStyle/>
          <a:p>
            <a:pPr marL="0" indent="0" algn="l">
              <a:spcBef>
                <a:spcPts val="0"/>
              </a:spcBef>
              <a:spcAft>
                <a:spcPts val="0"/>
              </a:spcAft>
              <a:buNone/>
            </a:pPr>
            <a:r>
              <a:rPr lang="en-US" sz="900" b="1" dirty="0">
                <a:solidFill>
                  <a:srgbClr val="F0A98B"/>
                </a:solidFill>
                <a:latin typeface="Segoe UI"/>
                <a:ea typeface="Segoe UI"/>
                <a:cs typeface="Segoe UI"/>
              </a:rPr>
              <a:t>STORY</a:t>
            </a:r>
            <a:endParaRPr lang="en-US" sz="900" dirty="0"/>
          </a:p>
          <a:p>
            <a:pPr marL="0" indent="0" algn="l">
              <a:spcBef>
                <a:spcPts val="0"/>
              </a:spcBef>
              <a:spcAft>
                <a:spcPts val="0"/>
              </a:spcAft>
              <a:buNone/>
            </a:pPr>
            <a:r>
              <a:rPr lang="en-US" sz="1400" b="1" dirty="0">
                <a:solidFill>
                  <a:srgbClr val="FFFFFF"/>
                </a:solidFill>
                <a:latin typeface="Segoe UI"/>
                <a:ea typeface="Segoe UI"/>
                <a:cs typeface="Segoe UI"/>
              </a:rPr>
              <a:t>View available doctors</a:t>
            </a:r>
            <a:endParaRPr lang="en-US" sz="1400" dirty="0"/>
          </a:p>
        </p:txBody>
      </p:sp>
      <p:cxnSp>
        <p:nvCxnSpPr>
          <p:cNvPr id="104" name="ln104"/>
          <p:cNvCxnSpPr/>
          <p:nvPr/>
        </p:nvCxnSpPr>
        <p:spPr>
          <a:xfrm flipV="1">
            <a:off x="4063594" y="3566160"/>
            <a:ext cx="1057046" cy="45720"/>
          </a:xfrm>
          <a:prstGeom prst="line">
            <a:avLst/>
          </a:prstGeom>
          <a:ln w="15875">
            <a:solidFill>
              <a:srgbClr val="F0A98B">
                <a:alpha val="55000"/>
              </a:srgbClr>
            </a:solidFill>
          </a:ln>
        </p:spPr>
      </p:cxnSp>
      <p:sp>
        <p:nvSpPr>
          <p:cNvPr id="105" name="s105"/>
          <p:cNvSpPr/>
          <p:nvPr/>
        </p:nvSpPr>
        <p:spPr>
          <a:xfrm>
            <a:off x="5166360" y="3154680"/>
            <a:ext cx="3017520" cy="822960"/>
          </a:xfrm>
          <a:prstGeom prst="roundRect">
            <a:avLst>
              <a:gd name="adj" fmla="val 12000"/>
            </a:avLst>
          </a:prstGeom>
          <a:solidFill>
            <a:srgbClr val="111B2E"/>
          </a:solidFill>
          <a:ln w="12700">
            <a:solidFill>
              <a:srgbClr val="F0A98B"/>
            </a:solidFill>
            <a:prstDash val="solid"/>
          </a:ln>
        </p:spPr>
        <p:txBody>
          <a:bodyPr wrap="square" lIns="201168" tIns="36576" rIns="91440" bIns="36576" rtlCol="0" anchor="ctr">
            <a:noAutofit/>
          </a:bodyPr>
          <a:lstStyle/>
          <a:p>
            <a:pPr marL="0" indent="0" algn="l">
              <a:spcBef>
                <a:spcPts val="0"/>
              </a:spcBef>
              <a:spcAft>
                <a:spcPts val="0"/>
              </a:spcAft>
              <a:buNone/>
            </a:pPr>
            <a:r>
              <a:rPr lang="en-US" sz="900" b="1" dirty="0">
                <a:solidFill>
                  <a:srgbClr val="F0A98B"/>
                </a:solidFill>
                <a:latin typeface="Segoe UI"/>
                <a:ea typeface="Segoe UI"/>
                <a:cs typeface="Segoe UI"/>
              </a:rPr>
              <a:t>STORY</a:t>
            </a:r>
            <a:endParaRPr lang="en-US" sz="900" dirty="0"/>
          </a:p>
          <a:p>
            <a:pPr marL="0" indent="0" algn="l">
              <a:spcBef>
                <a:spcPts val="0"/>
              </a:spcBef>
              <a:spcAft>
                <a:spcPts val="0"/>
              </a:spcAft>
              <a:buNone/>
            </a:pPr>
            <a:r>
              <a:rPr lang="en-US" sz="1400" b="1" dirty="0">
                <a:solidFill>
                  <a:srgbClr val="FFFFFF"/>
                </a:solidFill>
                <a:latin typeface="Segoe UI"/>
                <a:ea typeface="Segoe UI"/>
                <a:cs typeface="Segoe UI"/>
              </a:rPr>
              <a:t>Book an appointment</a:t>
            </a:r>
            <a:endParaRPr lang="en-US" sz="1400" dirty="0"/>
          </a:p>
        </p:txBody>
      </p:sp>
      <p:cxnSp>
        <p:nvCxnSpPr>
          <p:cNvPr id="106" name="ln106"/>
          <p:cNvCxnSpPr/>
          <p:nvPr/>
        </p:nvCxnSpPr>
        <p:spPr>
          <a:xfrm>
            <a:off x="4063594" y="3611880"/>
            <a:ext cx="1057046" cy="1005840"/>
          </a:xfrm>
          <a:prstGeom prst="line">
            <a:avLst/>
          </a:prstGeom>
          <a:ln w="15875">
            <a:solidFill>
              <a:srgbClr val="F0A98B">
                <a:alpha val="55000"/>
              </a:srgbClr>
            </a:solidFill>
          </a:ln>
        </p:spPr>
      </p:cxnSp>
      <p:sp>
        <p:nvSpPr>
          <p:cNvPr id="107" name="s107"/>
          <p:cNvSpPr/>
          <p:nvPr/>
        </p:nvSpPr>
        <p:spPr>
          <a:xfrm>
            <a:off x="5166360" y="4206240"/>
            <a:ext cx="3017520" cy="822960"/>
          </a:xfrm>
          <a:prstGeom prst="roundRect">
            <a:avLst>
              <a:gd name="adj" fmla="val 12000"/>
            </a:avLst>
          </a:prstGeom>
          <a:solidFill>
            <a:srgbClr val="111B2E"/>
          </a:solidFill>
          <a:ln w="12700">
            <a:solidFill>
              <a:srgbClr val="F0A98B"/>
            </a:solidFill>
            <a:prstDash val="solid"/>
          </a:ln>
        </p:spPr>
        <p:txBody>
          <a:bodyPr wrap="square" lIns="201168" tIns="36576" rIns="91440" bIns="36576" rtlCol="0" anchor="ctr">
            <a:noAutofit/>
          </a:bodyPr>
          <a:lstStyle/>
          <a:p>
            <a:pPr marL="0" indent="0" algn="l">
              <a:spcBef>
                <a:spcPts val="0"/>
              </a:spcBef>
              <a:spcAft>
                <a:spcPts val="0"/>
              </a:spcAft>
              <a:buNone/>
            </a:pPr>
            <a:r>
              <a:rPr lang="en-US" sz="900" b="1" dirty="0">
                <a:solidFill>
                  <a:srgbClr val="F0A98B"/>
                </a:solidFill>
                <a:latin typeface="Segoe UI"/>
                <a:ea typeface="Segoe UI"/>
                <a:cs typeface="Segoe UI"/>
              </a:rPr>
              <a:t>STORY</a:t>
            </a:r>
            <a:endParaRPr lang="en-US" sz="900" dirty="0"/>
          </a:p>
          <a:p>
            <a:pPr marL="0" indent="0" algn="l">
              <a:spcBef>
                <a:spcPts val="0"/>
              </a:spcBef>
              <a:spcAft>
                <a:spcPts val="0"/>
              </a:spcAft>
              <a:buNone/>
            </a:pPr>
            <a:r>
              <a:rPr lang="en-US" sz="1400" b="1" dirty="0">
                <a:solidFill>
                  <a:srgbClr val="FFFFFF"/>
                </a:solidFill>
                <a:latin typeface="Segoe UI"/>
                <a:ea typeface="Segoe UI"/>
                <a:cs typeface="Segoe UI"/>
              </a:rPr>
              <a:t>Cancel appointment</a:t>
            </a:r>
            <a:endParaRPr lang="en-US" sz="1400" dirty="0"/>
          </a:p>
        </p:txBody>
      </p:sp>
      <p:cxnSp>
        <p:nvCxnSpPr>
          <p:cNvPr id="108" name="ln108"/>
          <p:cNvCxnSpPr/>
          <p:nvPr/>
        </p:nvCxnSpPr>
        <p:spPr>
          <a:xfrm flipV="1">
            <a:off x="4063594" y="2514600"/>
            <a:ext cx="4348886" cy="1097280"/>
          </a:xfrm>
          <a:prstGeom prst="line">
            <a:avLst/>
          </a:prstGeom>
          <a:ln w="15875">
            <a:solidFill>
              <a:srgbClr val="F0A98B">
                <a:alpha val="55000"/>
              </a:srgbClr>
            </a:solidFill>
          </a:ln>
        </p:spPr>
      </p:cxnSp>
      <p:sp>
        <p:nvSpPr>
          <p:cNvPr id="109" name="s109"/>
          <p:cNvSpPr/>
          <p:nvPr/>
        </p:nvSpPr>
        <p:spPr>
          <a:xfrm>
            <a:off x="8458200" y="2103120"/>
            <a:ext cx="3017520" cy="822960"/>
          </a:xfrm>
          <a:prstGeom prst="roundRect">
            <a:avLst>
              <a:gd name="adj" fmla="val 12000"/>
            </a:avLst>
          </a:prstGeom>
          <a:solidFill>
            <a:srgbClr val="111B2E"/>
          </a:solidFill>
          <a:ln w="12700">
            <a:solidFill>
              <a:srgbClr val="F0A98B"/>
            </a:solidFill>
            <a:prstDash val="solid"/>
          </a:ln>
        </p:spPr>
        <p:txBody>
          <a:bodyPr wrap="square" lIns="201168" tIns="36576" rIns="91440" bIns="36576" rtlCol="0" anchor="ctr">
            <a:noAutofit/>
          </a:bodyPr>
          <a:lstStyle/>
          <a:p>
            <a:pPr marL="0" indent="0" algn="l">
              <a:spcBef>
                <a:spcPts val="0"/>
              </a:spcBef>
              <a:spcAft>
                <a:spcPts val="0"/>
              </a:spcAft>
              <a:buNone/>
            </a:pPr>
            <a:r>
              <a:rPr lang="en-US" sz="900" b="1" dirty="0">
                <a:solidFill>
                  <a:srgbClr val="F0A98B"/>
                </a:solidFill>
                <a:latin typeface="Segoe UI"/>
                <a:ea typeface="Segoe UI"/>
                <a:cs typeface="Segoe UI"/>
              </a:rPr>
              <a:t>STORY</a:t>
            </a:r>
            <a:endParaRPr lang="en-US" sz="900" dirty="0"/>
          </a:p>
          <a:p>
            <a:pPr marL="0" indent="0" algn="l">
              <a:spcBef>
                <a:spcPts val="0"/>
              </a:spcBef>
              <a:spcAft>
                <a:spcPts val="0"/>
              </a:spcAft>
              <a:buNone/>
            </a:pPr>
            <a:r>
              <a:rPr lang="en-US" sz="1400" b="1" dirty="0">
                <a:solidFill>
                  <a:srgbClr val="FFFFFF"/>
                </a:solidFill>
                <a:latin typeface="Segoe UI"/>
                <a:ea typeface="Segoe UI"/>
                <a:cs typeface="Segoe UI"/>
              </a:rPr>
              <a:t>Reschedule</a:t>
            </a:r>
            <a:endParaRPr lang="en-US" sz="1400" dirty="0"/>
          </a:p>
        </p:txBody>
      </p:sp>
      <p:cxnSp>
        <p:nvCxnSpPr>
          <p:cNvPr id="110" name="ln110"/>
          <p:cNvCxnSpPr/>
          <p:nvPr/>
        </p:nvCxnSpPr>
        <p:spPr>
          <a:xfrm flipV="1">
            <a:off x="4063594" y="3566160"/>
            <a:ext cx="4348886" cy="45720"/>
          </a:xfrm>
          <a:prstGeom prst="line">
            <a:avLst/>
          </a:prstGeom>
          <a:ln w="15875">
            <a:solidFill>
              <a:srgbClr val="F0A98B">
                <a:alpha val="55000"/>
              </a:srgbClr>
            </a:solidFill>
          </a:ln>
        </p:spPr>
      </p:cxnSp>
      <p:sp>
        <p:nvSpPr>
          <p:cNvPr id="111" name="s111"/>
          <p:cNvSpPr/>
          <p:nvPr/>
        </p:nvSpPr>
        <p:spPr>
          <a:xfrm>
            <a:off x="8458200" y="3154680"/>
            <a:ext cx="3017520" cy="822960"/>
          </a:xfrm>
          <a:prstGeom prst="roundRect">
            <a:avLst>
              <a:gd name="adj" fmla="val 12000"/>
            </a:avLst>
          </a:prstGeom>
          <a:solidFill>
            <a:srgbClr val="111B2E"/>
          </a:solidFill>
          <a:ln w="12700">
            <a:solidFill>
              <a:srgbClr val="F0A98B"/>
            </a:solidFill>
            <a:prstDash val="solid"/>
          </a:ln>
        </p:spPr>
        <p:txBody>
          <a:bodyPr wrap="square" lIns="201168" tIns="36576" rIns="91440" bIns="36576" rtlCol="0" anchor="ctr">
            <a:noAutofit/>
          </a:bodyPr>
          <a:lstStyle/>
          <a:p>
            <a:pPr marL="0" indent="0" algn="l">
              <a:spcBef>
                <a:spcPts val="0"/>
              </a:spcBef>
              <a:spcAft>
                <a:spcPts val="0"/>
              </a:spcAft>
              <a:buNone/>
            </a:pPr>
            <a:r>
              <a:rPr lang="en-US" sz="900" b="1" dirty="0">
                <a:solidFill>
                  <a:srgbClr val="F0A98B"/>
                </a:solidFill>
                <a:latin typeface="Segoe UI"/>
                <a:ea typeface="Segoe UI"/>
                <a:cs typeface="Segoe UI"/>
              </a:rPr>
              <a:t>STORY</a:t>
            </a:r>
            <a:endParaRPr lang="en-US" sz="900" dirty="0"/>
          </a:p>
          <a:p>
            <a:pPr marL="0" indent="0" algn="l">
              <a:spcBef>
                <a:spcPts val="0"/>
              </a:spcBef>
              <a:spcAft>
                <a:spcPts val="0"/>
              </a:spcAft>
              <a:buNone/>
            </a:pPr>
            <a:r>
              <a:rPr lang="en-US" sz="1400" b="1" dirty="0">
                <a:solidFill>
                  <a:srgbClr val="FFFFFF"/>
                </a:solidFill>
                <a:latin typeface="Segoe UI"/>
                <a:ea typeface="Segoe UI"/>
                <a:cs typeface="Segoe UI"/>
              </a:rPr>
              <a:t>View details</a:t>
            </a:r>
            <a:endParaRPr lang="en-US" sz="1400" dirty="0"/>
          </a:p>
        </p:txBody>
      </p:sp>
      <p:cxnSp>
        <p:nvCxnSpPr>
          <p:cNvPr id="112" name="ln112"/>
          <p:cNvCxnSpPr/>
          <p:nvPr/>
        </p:nvCxnSpPr>
        <p:spPr>
          <a:xfrm>
            <a:off x="4063594" y="3611880"/>
            <a:ext cx="4348886" cy="1005840"/>
          </a:xfrm>
          <a:prstGeom prst="line">
            <a:avLst/>
          </a:prstGeom>
          <a:ln w="15875">
            <a:solidFill>
              <a:srgbClr val="F0A98B">
                <a:alpha val="55000"/>
              </a:srgbClr>
            </a:solidFill>
          </a:ln>
        </p:spPr>
      </p:cxnSp>
      <p:sp>
        <p:nvSpPr>
          <p:cNvPr id="113" name="s113"/>
          <p:cNvSpPr/>
          <p:nvPr/>
        </p:nvSpPr>
        <p:spPr>
          <a:xfrm>
            <a:off x="8458200" y="4206240"/>
            <a:ext cx="3017520" cy="822960"/>
          </a:xfrm>
          <a:prstGeom prst="roundRect">
            <a:avLst>
              <a:gd name="adj" fmla="val 12000"/>
            </a:avLst>
          </a:prstGeom>
          <a:solidFill>
            <a:srgbClr val="111B2E"/>
          </a:solidFill>
          <a:ln w="12700">
            <a:solidFill>
              <a:srgbClr val="F0A98B"/>
            </a:solidFill>
            <a:prstDash val="solid"/>
          </a:ln>
        </p:spPr>
        <p:txBody>
          <a:bodyPr wrap="square" lIns="201168" tIns="36576" rIns="91440" bIns="36576" rtlCol="0" anchor="ctr">
            <a:noAutofit/>
          </a:bodyPr>
          <a:lstStyle/>
          <a:p>
            <a:pPr marL="0" indent="0" algn="l">
              <a:spcBef>
                <a:spcPts val="0"/>
              </a:spcBef>
              <a:spcAft>
                <a:spcPts val="0"/>
              </a:spcAft>
              <a:buNone/>
            </a:pPr>
            <a:r>
              <a:rPr lang="en-US" sz="900" b="1" dirty="0">
                <a:solidFill>
                  <a:srgbClr val="F0A98B"/>
                </a:solidFill>
                <a:latin typeface="Segoe UI"/>
                <a:ea typeface="Segoe UI"/>
                <a:cs typeface="Segoe UI"/>
              </a:rPr>
              <a:t>STORY</a:t>
            </a:r>
            <a:endParaRPr lang="en-US" sz="900" dirty="0"/>
          </a:p>
          <a:p>
            <a:pPr marL="0" indent="0" algn="l">
              <a:spcBef>
                <a:spcPts val="0"/>
              </a:spcBef>
              <a:spcAft>
                <a:spcPts val="0"/>
              </a:spcAft>
              <a:buNone/>
            </a:pPr>
            <a:r>
              <a:rPr lang="en-US" sz="1400" b="1" dirty="0">
                <a:solidFill>
                  <a:srgbClr val="FFFFFF"/>
                </a:solidFill>
                <a:latin typeface="Segoe UI"/>
                <a:ea typeface="Segoe UI"/>
                <a:cs typeface="Segoe UI"/>
              </a:rPr>
              <a:t>Send confirmation</a:t>
            </a:r>
            <a:endParaRPr lang="en-US" sz="1400" dirty="0"/>
          </a:p>
        </p:txBody>
      </p:sp>
      <p:sp>
        <p:nvSpPr>
          <p:cNvPr id="114" name="s114"/>
          <p:cNvSpPr txBox="1"/>
          <p:nvPr/>
        </p:nvSpPr>
        <p:spPr>
          <a:xfrm>
            <a:off x="543154" y="5440680"/>
            <a:ext cx="11088014"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0" dirty="0">
                <a:solidFill>
                  <a:srgbClr val="F0A98B"/>
                </a:solidFill>
                <a:latin typeface="Segoe UI"/>
                <a:ea typeface="Segoe UI"/>
                <a:cs typeface="Segoe UI"/>
              </a:rPr>
              <a:t>Note: “Epic” is widely used in tools, but it is not an official Scrum artifact.</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6" presetClass="emph" presetSubtype="0" fill="hold" grpId="1" nodeType="withEffect">
                                  <p:stCondLst>
                                    <p:cond delay="200"/>
                                  </p:stCondLst>
                                  <p:childTnLst>
                                    <p:animScale>
                                      <p:cBhvr>
                                        <p:cTn id="13" dur="300" autoRev="1" fill="hold"/>
                                        <p:tgtEl>
                                          <p:spTgt spid="101"/>
                                        </p:tgtEl>
                                      </p:cBhvr>
                                      <p:by x="112000" y="112000"/>
                                    </p:animScale>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nodeType="clickEffect">
                                  <p:stCondLst>
                                    <p:cond delay="0"/>
                                  </p:stCondLst>
                                  <p:childTnLst>
                                    <p:set>
                                      <p:cBhvr>
                                        <p:cTn id="17" dur="1" fill="hold">
                                          <p:stCondLst>
                                            <p:cond delay="0"/>
                                          </p:stCondLst>
                                        </p:cTn>
                                        <p:tgtEl>
                                          <p:spTgt spid="102"/>
                                        </p:tgtEl>
                                        <p:attrNameLst>
                                          <p:attrName>style.visibility</p:attrName>
                                        </p:attrNameLst>
                                      </p:cBhvr>
                                      <p:to>
                                        <p:strVal val="visible"/>
                                      </p:to>
                                    </p:set>
                                    <p:animEffect transition="in" filter="wipe(left)">
                                      <p:cBhvr>
                                        <p:cTn id="18" dur="500"/>
                                        <p:tgtEl>
                                          <p:spTgt spid="102"/>
                                        </p:tgtEl>
                                      </p:cBhvr>
                                    </p:animEffect>
                                  </p:childTnLst>
                                </p:cTn>
                              </p:par>
                              <p:par>
                                <p:cTn id="19" presetID="53" presetClass="entr" presetSubtype="16" fill="hold" grpId="0" nodeType="withEffect">
                                  <p:stCondLst>
                                    <p:cond delay="150"/>
                                  </p:stCondLst>
                                  <p:childTnLst>
                                    <p:set>
                                      <p:cBhvr>
                                        <p:cTn id="20" dur="1" fill="hold">
                                          <p:stCondLst>
                                            <p:cond delay="0"/>
                                          </p:stCondLst>
                                        </p:cTn>
                                        <p:tgtEl>
                                          <p:spTgt spid="103"/>
                                        </p:tgtEl>
                                        <p:attrNameLst>
                                          <p:attrName>style.visibility</p:attrName>
                                        </p:attrNameLst>
                                      </p:cBhvr>
                                      <p:to>
                                        <p:strVal val="visible"/>
                                      </p:to>
                                    </p:set>
                                    <p:anim calcmode="lin" valueType="num">
                                      <p:cBhvr additive="base">
                                        <p:cTn id="21"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22" dur="500" decel="100000" fill="hold"/>
                                        <p:tgtEl>
                                          <p:spTgt spid="103"/>
                                        </p:tgtEl>
                                        <p:attrNameLst>
                                          <p:attrName>ppt_h</p:attrName>
                                        </p:attrNameLst>
                                      </p:cBhvr>
                                      <p:tavLst>
                                        <p:tav tm="0">
                                          <p:val>
                                            <p:strVal val="#ppt_h*0.55"/>
                                          </p:val>
                                        </p:tav>
                                        <p:tav tm="100000">
                                          <p:val>
                                            <p:strVal val="#ppt_h"/>
                                          </p:val>
                                        </p:tav>
                                      </p:tavLst>
                                    </p:anim>
                                    <p:animEffect transition="in" filter="fade">
                                      <p:cBhvr>
                                        <p:cTn id="23" dur="500"/>
                                        <p:tgtEl>
                                          <p:spTgt spid="103"/>
                                        </p:tgtEl>
                                      </p:cBhvr>
                                    </p:animEffect>
                                  </p:childTnLst>
                                </p:cTn>
                              </p:par>
                              <p:par>
                                <p:cTn id="24" presetID="22" presetClass="entr" presetSubtype="8" fill="hold" nodeType="withEffect">
                                  <p:stCondLst>
                                    <p:cond delay="270"/>
                                  </p:stCondLst>
                                  <p:childTnLst>
                                    <p:set>
                                      <p:cBhvr>
                                        <p:cTn id="25" dur="1" fill="hold">
                                          <p:stCondLst>
                                            <p:cond delay="0"/>
                                          </p:stCondLst>
                                        </p:cTn>
                                        <p:tgtEl>
                                          <p:spTgt spid="104"/>
                                        </p:tgtEl>
                                        <p:attrNameLst>
                                          <p:attrName>style.visibility</p:attrName>
                                        </p:attrNameLst>
                                      </p:cBhvr>
                                      <p:to>
                                        <p:strVal val="visible"/>
                                      </p:to>
                                    </p:set>
                                    <p:animEffect transition="in" filter="wipe(left)">
                                      <p:cBhvr>
                                        <p:cTn id="26" dur="500"/>
                                        <p:tgtEl>
                                          <p:spTgt spid="104"/>
                                        </p:tgtEl>
                                      </p:cBhvr>
                                    </p:animEffect>
                                  </p:childTnLst>
                                </p:cTn>
                              </p:par>
                              <p:par>
                                <p:cTn id="27" presetID="53" presetClass="entr" presetSubtype="16" fill="hold" grpId="0" nodeType="withEffect">
                                  <p:stCondLst>
                                    <p:cond delay="420"/>
                                  </p:stCondLst>
                                  <p:childTnLst>
                                    <p:set>
                                      <p:cBhvr>
                                        <p:cTn id="28" dur="1" fill="hold">
                                          <p:stCondLst>
                                            <p:cond delay="0"/>
                                          </p:stCondLst>
                                        </p:cTn>
                                        <p:tgtEl>
                                          <p:spTgt spid="105"/>
                                        </p:tgtEl>
                                        <p:attrNameLst>
                                          <p:attrName>style.visibility</p:attrName>
                                        </p:attrNameLst>
                                      </p:cBhvr>
                                      <p:to>
                                        <p:strVal val="visible"/>
                                      </p:to>
                                    </p:set>
                                    <p:anim calcmode="lin" valueType="num">
                                      <p:cBhvr additive="base">
                                        <p:cTn id="29" dur="5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30" dur="500" decel="100000" fill="hold"/>
                                        <p:tgtEl>
                                          <p:spTgt spid="105"/>
                                        </p:tgtEl>
                                        <p:attrNameLst>
                                          <p:attrName>ppt_h</p:attrName>
                                        </p:attrNameLst>
                                      </p:cBhvr>
                                      <p:tavLst>
                                        <p:tav tm="0">
                                          <p:val>
                                            <p:strVal val="#ppt_h*0.55"/>
                                          </p:val>
                                        </p:tav>
                                        <p:tav tm="100000">
                                          <p:val>
                                            <p:strVal val="#ppt_h"/>
                                          </p:val>
                                        </p:tav>
                                      </p:tavLst>
                                    </p:anim>
                                    <p:animEffect transition="in" filter="fade">
                                      <p:cBhvr>
                                        <p:cTn id="31" dur="500"/>
                                        <p:tgtEl>
                                          <p:spTgt spid="105"/>
                                        </p:tgtEl>
                                      </p:cBhvr>
                                    </p:animEffect>
                                  </p:childTnLst>
                                </p:cTn>
                              </p:par>
                              <p:par>
                                <p:cTn id="32" presetID="22" presetClass="entr" presetSubtype="8" fill="hold" nodeType="withEffect">
                                  <p:stCondLst>
                                    <p:cond delay="540"/>
                                  </p:stCondLst>
                                  <p:childTnLst>
                                    <p:set>
                                      <p:cBhvr>
                                        <p:cTn id="33" dur="1" fill="hold">
                                          <p:stCondLst>
                                            <p:cond delay="0"/>
                                          </p:stCondLst>
                                        </p:cTn>
                                        <p:tgtEl>
                                          <p:spTgt spid="106"/>
                                        </p:tgtEl>
                                        <p:attrNameLst>
                                          <p:attrName>style.visibility</p:attrName>
                                        </p:attrNameLst>
                                      </p:cBhvr>
                                      <p:to>
                                        <p:strVal val="visible"/>
                                      </p:to>
                                    </p:set>
                                    <p:animEffect transition="in" filter="wipe(left)">
                                      <p:cBhvr>
                                        <p:cTn id="34" dur="500"/>
                                        <p:tgtEl>
                                          <p:spTgt spid="106"/>
                                        </p:tgtEl>
                                      </p:cBhvr>
                                    </p:animEffect>
                                  </p:childTnLst>
                                </p:cTn>
                              </p:par>
                              <p:par>
                                <p:cTn id="35" presetID="53" presetClass="entr" presetSubtype="16" fill="hold" grpId="0" nodeType="withEffect">
                                  <p:stCondLst>
                                    <p:cond delay="690"/>
                                  </p:stCondLst>
                                  <p:childTnLst>
                                    <p:set>
                                      <p:cBhvr>
                                        <p:cTn id="36" dur="1" fill="hold">
                                          <p:stCondLst>
                                            <p:cond delay="0"/>
                                          </p:stCondLst>
                                        </p:cTn>
                                        <p:tgtEl>
                                          <p:spTgt spid="107"/>
                                        </p:tgtEl>
                                        <p:attrNameLst>
                                          <p:attrName>style.visibility</p:attrName>
                                        </p:attrNameLst>
                                      </p:cBhvr>
                                      <p:to>
                                        <p:strVal val="visible"/>
                                      </p:to>
                                    </p:set>
                                    <p:anim calcmode="lin" valueType="num">
                                      <p:cBhvr additive="base">
                                        <p:cTn id="37"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8" dur="500" decel="100000" fill="hold"/>
                                        <p:tgtEl>
                                          <p:spTgt spid="107"/>
                                        </p:tgtEl>
                                        <p:attrNameLst>
                                          <p:attrName>ppt_h</p:attrName>
                                        </p:attrNameLst>
                                      </p:cBhvr>
                                      <p:tavLst>
                                        <p:tav tm="0">
                                          <p:val>
                                            <p:strVal val="#ppt_h*0.55"/>
                                          </p:val>
                                        </p:tav>
                                        <p:tav tm="100000">
                                          <p:val>
                                            <p:strVal val="#ppt_h"/>
                                          </p:val>
                                        </p:tav>
                                      </p:tavLst>
                                    </p:anim>
                                    <p:animEffect transition="in" filter="fade">
                                      <p:cBhvr>
                                        <p:cTn id="39" dur="500"/>
                                        <p:tgtEl>
                                          <p:spTgt spid="107"/>
                                        </p:tgtEl>
                                      </p:cBhvr>
                                    </p:animEffect>
                                  </p:childTnLst>
                                </p:cTn>
                              </p:par>
                              <p:par>
                                <p:cTn id="40" presetID="22" presetClass="entr" presetSubtype="8" fill="hold" nodeType="withEffect">
                                  <p:stCondLst>
                                    <p:cond delay="810"/>
                                  </p:stCondLst>
                                  <p:childTnLst>
                                    <p:set>
                                      <p:cBhvr>
                                        <p:cTn id="41" dur="1" fill="hold">
                                          <p:stCondLst>
                                            <p:cond delay="0"/>
                                          </p:stCondLst>
                                        </p:cTn>
                                        <p:tgtEl>
                                          <p:spTgt spid="108"/>
                                        </p:tgtEl>
                                        <p:attrNameLst>
                                          <p:attrName>style.visibility</p:attrName>
                                        </p:attrNameLst>
                                      </p:cBhvr>
                                      <p:to>
                                        <p:strVal val="visible"/>
                                      </p:to>
                                    </p:set>
                                    <p:animEffect transition="in" filter="wipe(left)">
                                      <p:cBhvr>
                                        <p:cTn id="42" dur="500"/>
                                        <p:tgtEl>
                                          <p:spTgt spid="108"/>
                                        </p:tgtEl>
                                      </p:cBhvr>
                                    </p:animEffect>
                                  </p:childTnLst>
                                </p:cTn>
                              </p:par>
                              <p:par>
                                <p:cTn id="43" presetID="53" presetClass="entr" presetSubtype="16" fill="hold" grpId="0" nodeType="withEffect">
                                  <p:stCondLst>
                                    <p:cond delay="960"/>
                                  </p:stCondLst>
                                  <p:childTnLst>
                                    <p:set>
                                      <p:cBhvr>
                                        <p:cTn id="44" dur="1" fill="hold">
                                          <p:stCondLst>
                                            <p:cond delay="0"/>
                                          </p:stCondLst>
                                        </p:cTn>
                                        <p:tgtEl>
                                          <p:spTgt spid="109"/>
                                        </p:tgtEl>
                                        <p:attrNameLst>
                                          <p:attrName>style.visibility</p:attrName>
                                        </p:attrNameLst>
                                      </p:cBhvr>
                                      <p:to>
                                        <p:strVal val="visible"/>
                                      </p:to>
                                    </p:set>
                                    <p:anim calcmode="lin" valueType="num">
                                      <p:cBhvr additive="base">
                                        <p:cTn id="45"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46" dur="500" decel="100000" fill="hold"/>
                                        <p:tgtEl>
                                          <p:spTgt spid="109"/>
                                        </p:tgtEl>
                                        <p:attrNameLst>
                                          <p:attrName>ppt_h</p:attrName>
                                        </p:attrNameLst>
                                      </p:cBhvr>
                                      <p:tavLst>
                                        <p:tav tm="0">
                                          <p:val>
                                            <p:strVal val="#ppt_h*0.55"/>
                                          </p:val>
                                        </p:tav>
                                        <p:tav tm="100000">
                                          <p:val>
                                            <p:strVal val="#ppt_h"/>
                                          </p:val>
                                        </p:tav>
                                      </p:tavLst>
                                    </p:anim>
                                    <p:animEffect transition="in" filter="fade">
                                      <p:cBhvr>
                                        <p:cTn id="47" dur="500"/>
                                        <p:tgtEl>
                                          <p:spTgt spid="109"/>
                                        </p:tgtEl>
                                      </p:cBhvr>
                                    </p:animEffect>
                                  </p:childTnLst>
                                </p:cTn>
                              </p:par>
                              <p:par>
                                <p:cTn id="48" presetID="22" presetClass="entr" presetSubtype="8" fill="hold" nodeType="withEffect">
                                  <p:stCondLst>
                                    <p:cond delay="1080"/>
                                  </p:stCondLst>
                                  <p:childTnLst>
                                    <p:set>
                                      <p:cBhvr>
                                        <p:cTn id="49" dur="1" fill="hold">
                                          <p:stCondLst>
                                            <p:cond delay="0"/>
                                          </p:stCondLst>
                                        </p:cTn>
                                        <p:tgtEl>
                                          <p:spTgt spid="110"/>
                                        </p:tgtEl>
                                        <p:attrNameLst>
                                          <p:attrName>style.visibility</p:attrName>
                                        </p:attrNameLst>
                                      </p:cBhvr>
                                      <p:to>
                                        <p:strVal val="visible"/>
                                      </p:to>
                                    </p:set>
                                    <p:animEffect transition="in" filter="wipe(left)">
                                      <p:cBhvr>
                                        <p:cTn id="50" dur="500"/>
                                        <p:tgtEl>
                                          <p:spTgt spid="110"/>
                                        </p:tgtEl>
                                      </p:cBhvr>
                                    </p:animEffect>
                                  </p:childTnLst>
                                </p:cTn>
                              </p:par>
                              <p:par>
                                <p:cTn id="51" presetID="53" presetClass="entr" presetSubtype="16" fill="hold" grpId="0" nodeType="withEffect">
                                  <p:stCondLst>
                                    <p:cond delay="1230"/>
                                  </p:stCondLst>
                                  <p:childTnLst>
                                    <p:set>
                                      <p:cBhvr>
                                        <p:cTn id="52" dur="1" fill="hold">
                                          <p:stCondLst>
                                            <p:cond delay="0"/>
                                          </p:stCondLst>
                                        </p:cTn>
                                        <p:tgtEl>
                                          <p:spTgt spid="111"/>
                                        </p:tgtEl>
                                        <p:attrNameLst>
                                          <p:attrName>style.visibility</p:attrName>
                                        </p:attrNameLst>
                                      </p:cBhvr>
                                      <p:to>
                                        <p:strVal val="visible"/>
                                      </p:to>
                                    </p:set>
                                    <p:anim calcmode="lin" valueType="num">
                                      <p:cBhvr additive="base">
                                        <p:cTn id="53" dur="500" decel="100000" fill="hold"/>
                                        <p:tgtEl>
                                          <p:spTgt spid="111"/>
                                        </p:tgtEl>
                                        <p:attrNameLst>
                                          <p:attrName>ppt_w</p:attrName>
                                        </p:attrNameLst>
                                      </p:cBhvr>
                                      <p:tavLst>
                                        <p:tav tm="0">
                                          <p:val>
                                            <p:strVal val="#ppt_w*0.55"/>
                                          </p:val>
                                        </p:tav>
                                        <p:tav tm="100000">
                                          <p:val>
                                            <p:strVal val="#ppt_w"/>
                                          </p:val>
                                        </p:tav>
                                      </p:tavLst>
                                    </p:anim>
                                    <p:anim calcmode="lin" valueType="num">
                                      <p:cBhvr additive="base">
                                        <p:cTn id="54" dur="500" decel="100000" fill="hold"/>
                                        <p:tgtEl>
                                          <p:spTgt spid="111"/>
                                        </p:tgtEl>
                                        <p:attrNameLst>
                                          <p:attrName>ppt_h</p:attrName>
                                        </p:attrNameLst>
                                      </p:cBhvr>
                                      <p:tavLst>
                                        <p:tav tm="0">
                                          <p:val>
                                            <p:strVal val="#ppt_h*0.55"/>
                                          </p:val>
                                        </p:tav>
                                        <p:tav tm="100000">
                                          <p:val>
                                            <p:strVal val="#ppt_h"/>
                                          </p:val>
                                        </p:tav>
                                      </p:tavLst>
                                    </p:anim>
                                    <p:animEffect transition="in" filter="fade">
                                      <p:cBhvr>
                                        <p:cTn id="55" dur="500"/>
                                        <p:tgtEl>
                                          <p:spTgt spid="111"/>
                                        </p:tgtEl>
                                      </p:cBhvr>
                                    </p:animEffect>
                                  </p:childTnLst>
                                </p:cTn>
                              </p:par>
                              <p:par>
                                <p:cTn id="56" presetID="22" presetClass="entr" presetSubtype="8" fill="hold" nodeType="withEffect">
                                  <p:stCondLst>
                                    <p:cond delay="1350"/>
                                  </p:stCondLst>
                                  <p:childTnLst>
                                    <p:set>
                                      <p:cBhvr>
                                        <p:cTn id="57" dur="1" fill="hold">
                                          <p:stCondLst>
                                            <p:cond delay="0"/>
                                          </p:stCondLst>
                                        </p:cTn>
                                        <p:tgtEl>
                                          <p:spTgt spid="112"/>
                                        </p:tgtEl>
                                        <p:attrNameLst>
                                          <p:attrName>style.visibility</p:attrName>
                                        </p:attrNameLst>
                                      </p:cBhvr>
                                      <p:to>
                                        <p:strVal val="visible"/>
                                      </p:to>
                                    </p:set>
                                    <p:animEffect transition="in" filter="wipe(left)">
                                      <p:cBhvr>
                                        <p:cTn id="58" dur="500"/>
                                        <p:tgtEl>
                                          <p:spTgt spid="112"/>
                                        </p:tgtEl>
                                      </p:cBhvr>
                                    </p:animEffect>
                                  </p:childTnLst>
                                </p:cTn>
                              </p:par>
                              <p:par>
                                <p:cTn id="59" presetID="53" presetClass="entr" presetSubtype="16" fill="hold" grpId="0" nodeType="withEffect">
                                  <p:stCondLst>
                                    <p:cond delay="1500"/>
                                  </p:stCondLst>
                                  <p:childTnLst>
                                    <p:set>
                                      <p:cBhvr>
                                        <p:cTn id="60" dur="1" fill="hold">
                                          <p:stCondLst>
                                            <p:cond delay="0"/>
                                          </p:stCondLst>
                                        </p:cTn>
                                        <p:tgtEl>
                                          <p:spTgt spid="113"/>
                                        </p:tgtEl>
                                        <p:attrNameLst>
                                          <p:attrName>style.visibility</p:attrName>
                                        </p:attrNameLst>
                                      </p:cBhvr>
                                      <p:to>
                                        <p:strVal val="visible"/>
                                      </p:to>
                                    </p:set>
                                    <p:anim calcmode="lin" valueType="num">
                                      <p:cBhvr additive="base">
                                        <p:cTn id="61" dur="500" decel="100000" fill="hold"/>
                                        <p:tgtEl>
                                          <p:spTgt spid="113"/>
                                        </p:tgtEl>
                                        <p:attrNameLst>
                                          <p:attrName>ppt_w</p:attrName>
                                        </p:attrNameLst>
                                      </p:cBhvr>
                                      <p:tavLst>
                                        <p:tav tm="0">
                                          <p:val>
                                            <p:strVal val="#ppt_w*0.55"/>
                                          </p:val>
                                        </p:tav>
                                        <p:tav tm="100000">
                                          <p:val>
                                            <p:strVal val="#ppt_w"/>
                                          </p:val>
                                        </p:tav>
                                      </p:tavLst>
                                    </p:anim>
                                    <p:anim calcmode="lin" valueType="num">
                                      <p:cBhvr additive="base">
                                        <p:cTn id="62" dur="500" decel="100000" fill="hold"/>
                                        <p:tgtEl>
                                          <p:spTgt spid="113"/>
                                        </p:tgtEl>
                                        <p:attrNameLst>
                                          <p:attrName>ppt_h</p:attrName>
                                        </p:attrNameLst>
                                      </p:cBhvr>
                                      <p:tavLst>
                                        <p:tav tm="0">
                                          <p:val>
                                            <p:strVal val="#ppt_h*0.55"/>
                                          </p:val>
                                        </p:tav>
                                        <p:tav tm="100000">
                                          <p:val>
                                            <p:strVal val="#ppt_h"/>
                                          </p:val>
                                        </p:tav>
                                      </p:tavLst>
                                    </p:anim>
                                    <p:animEffect transition="in" filter="fade">
                                      <p:cBhvr>
                                        <p:cTn id="63" dur="500"/>
                                        <p:tgtEl>
                                          <p:spTgt spid="113"/>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114"/>
                                        </p:tgtEl>
                                        <p:attrNameLst>
                                          <p:attrName>style.visibility</p:attrName>
                                        </p:attrNameLst>
                                      </p:cBhvr>
                                      <p:to>
                                        <p:strVal val="visible"/>
                                      </p:to>
                                    </p:set>
                                    <p:animEffect transition="in" filter="fade">
                                      <p:cBhvr>
                                        <p:cTn id="68"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1" grpId="1" animBg="1"/>
      <p:bldP spid="103" grpId="0" animBg="1"/>
      <p:bldP spid="105" grpId="0" animBg="1"/>
      <p:bldP spid="107" grpId="0" animBg="1"/>
      <p:bldP spid="109" grpId="0" animBg="1"/>
      <p:bldP spid="111" grpId="0" animBg="1"/>
      <p:bldP spid="113" grpId="0" animBg="1"/>
      <p:bldP spid="114"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USER STORY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Writing the First User Story</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 User Story describes a user need and its value, not a full tech spec.</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243</a:t>
            </a:r>
            <a:endParaRPr lang="en-US" sz="850" dirty="0"/>
          </a:p>
        </p:txBody>
      </p:sp>
      <p:sp>
        <p:nvSpPr>
          <p:cNvPr id="101" name="s101"/>
          <p:cNvSpPr/>
          <p:nvPr/>
        </p:nvSpPr>
        <p:spPr>
          <a:xfrm>
            <a:off x="1091794" y="1965960"/>
            <a:ext cx="9990734" cy="2011680"/>
          </a:xfrm>
          <a:prstGeom prst="roundRect">
            <a:avLst>
              <a:gd name="adj" fmla="val 5000"/>
            </a:avLst>
          </a:prstGeom>
          <a:solidFill>
            <a:srgbClr val="060D18"/>
          </a:solidFill>
          <a:ln w="12700">
            <a:solidFill>
              <a:srgbClr val="1E3A5F"/>
            </a:solidFill>
            <a:prstDash val="solid"/>
          </a:ln>
          <a:effectLst>
            <a:outerShdw blurRad="190500" dist="38100" dir="5400000" algn="t" rotWithShape="0">
              <a:srgbClr val="000000">
                <a:alpha val="45000"/>
              </a:srgbClr>
            </a:outerShdw>
          </a:effectLst>
        </p:spPr>
        <p:txBody>
          <a:bodyPr wrap="square" lIns="164592" tIns="109728" rIns="137160" bIns="91440" rtlCol="0" anchor="t">
            <a:noAutofit/>
          </a:bodyPr>
          <a:lstStyle/>
          <a:p>
            <a:endParaRPr lang="en-US"/>
          </a:p>
        </p:txBody>
      </p:sp>
      <p:sp>
        <p:nvSpPr>
          <p:cNvPr id="102" name="s102"/>
          <p:cNvSpPr txBox="1"/>
          <p:nvPr/>
        </p:nvSpPr>
        <p:spPr>
          <a:xfrm>
            <a:off x="1457554" y="2148840"/>
            <a:ext cx="9259214"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2200" b="1" dirty="0">
                <a:solidFill>
                  <a:srgbClr val="13D0F7"/>
                </a:solidFill>
                <a:latin typeface="Segoe UI"/>
                <a:ea typeface="Segoe UI"/>
                <a:cs typeface="Segoe UI"/>
              </a:rPr>
              <a:t>As a receptionist,</a:t>
            </a:r>
            <a:endParaRPr lang="en-US" sz="2200" dirty="0"/>
          </a:p>
        </p:txBody>
      </p:sp>
      <p:sp>
        <p:nvSpPr>
          <p:cNvPr id="103" name="s103"/>
          <p:cNvSpPr txBox="1"/>
          <p:nvPr/>
        </p:nvSpPr>
        <p:spPr>
          <a:xfrm>
            <a:off x="1457554" y="2679192"/>
            <a:ext cx="9259214"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2200" b="1" dirty="0">
                <a:solidFill>
                  <a:srgbClr val="FBBF24"/>
                </a:solidFill>
                <a:latin typeface="Segoe UI"/>
                <a:ea typeface="Segoe UI"/>
                <a:cs typeface="Segoe UI"/>
              </a:rPr>
              <a:t>I want to book an available appointment for a patient,</a:t>
            </a:r>
            <a:endParaRPr lang="en-US" sz="2200" dirty="0"/>
          </a:p>
        </p:txBody>
      </p:sp>
      <p:sp>
        <p:nvSpPr>
          <p:cNvPr id="104" name="s104"/>
          <p:cNvSpPr txBox="1"/>
          <p:nvPr/>
        </p:nvSpPr>
        <p:spPr>
          <a:xfrm>
            <a:off x="1457554" y="3209544"/>
            <a:ext cx="9259214" cy="5943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2200" b="1" dirty="0">
                <a:solidFill>
                  <a:srgbClr val="34D399"/>
                </a:solidFill>
                <a:latin typeface="Segoe UI"/>
                <a:ea typeface="Segoe UI"/>
                <a:cs typeface="Segoe UI"/>
              </a:rPr>
              <a:t>so that the patient can visit the correct doctor at a confirmed time.</a:t>
            </a:r>
            <a:endParaRPr lang="en-US" sz="2200" dirty="0"/>
          </a:p>
        </p:txBody>
      </p:sp>
      <p:sp>
        <p:nvSpPr>
          <p:cNvPr id="105" name="s105"/>
          <p:cNvSpPr/>
          <p:nvPr/>
        </p:nvSpPr>
        <p:spPr>
          <a:xfrm>
            <a:off x="543154" y="4251960"/>
            <a:ext cx="3543605" cy="1371600"/>
          </a:xfrm>
          <a:prstGeom prst="roundRect">
            <a:avLst>
              <a:gd name="adj" fmla="val 10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06" name="s106"/>
          <p:cNvSpPr/>
          <p:nvPr/>
        </p:nvSpPr>
        <p:spPr>
          <a:xfrm>
            <a:off x="744322" y="4453128"/>
            <a:ext cx="502920" cy="50292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07" name="img107"/>
          <p:cNvPicPr>
            <a:picLocks noChangeAspect="1"/>
          </p:cNvPicPr>
          <p:nvPr/>
        </p:nvPicPr>
        <p:blipFill>
          <a:blip r:embed="rId4"/>
          <a:stretch>
            <a:fillRect/>
          </a:stretch>
        </p:blipFill>
        <p:spPr>
          <a:xfrm>
            <a:off x="865022" y="4573829"/>
            <a:ext cx="261518" cy="261518"/>
          </a:xfrm>
          <a:prstGeom prst="rect">
            <a:avLst/>
          </a:prstGeom>
        </p:spPr>
      </p:pic>
      <p:sp>
        <p:nvSpPr>
          <p:cNvPr id="108" name="s108"/>
          <p:cNvSpPr txBox="1"/>
          <p:nvPr/>
        </p:nvSpPr>
        <p:spPr>
          <a:xfrm>
            <a:off x="1366114" y="4453128"/>
            <a:ext cx="2537765"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13D0F7"/>
                </a:solidFill>
                <a:latin typeface="Segoe UI"/>
                <a:ea typeface="Segoe UI"/>
                <a:cs typeface="Segoe UI"/>
              </a:rPr>
              <a:t>As a receptionist</a:t>
            </a:r>
            <a:endParaRPr lang="en-US" sz="1400" dirty="0"/>
          </a:p>
        </p:txBody>
      </p:sp>
      <p:sp>
        <p:nvSpPr>
          <p:cNvPr id="109" name="s109"/>
          <p:cNvSpPr txBox="1"/>
          <p:nvPr/>
        </p:nvSpPr>
        <p:spPr>
          <a:xfrm>
            <a:off x="771754" y="5102352"/>
            <a:ext cx="3132125" cy="4114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0" dirty="0">
                <a:solidFill>
                  <a:srgbClr val="E2E8F0"/>
                </a:solidFill>
                <a:latin typeface="Segoe UI"/>
                <a:ea typeface="Segoe UI"/>
                <a:cs typeface="Segoe UI"/>
              </a:rPr>
              <a:t>WHO needs the value?</a:t>
            </a:r>
            <a:endParaRPr lang="en-US" sz="1400" dirty="0"/>
          </a:p>
        </p:txBody>
      </p:sp>
      <p:sp>
        <p:nvSpPr>
          <p:cNvPr id="110" name="s110"/>
          <p:cNvSpPr/>
          <p:nvPr/>
        </p:nvSpPr>
        <p:spPr>
          <a:xfrm>
            <a:off x="4315358" y="4251960"/>
            <a:ext cx="3543605" cy="1371600"/>
          </a:xfrm>
          <a:prstGeom prst="roundRect">
            <a:avLst>
              <a:gd name="adj" fmla="val 10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11" name="s111"/>
          <p:cNvSpPr/>
          <p:nvPr/>
        </p:nvSpPr>
        <p:spPr>
          <a:xfrm>
            <a:off x="4516526" y="4453128"/>
            <a:ext cx="502920" cy="50292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2" name="img112"/>
          <p:cNvPicPr>
            <a:picLocks noChangeAspect="1"/>
          </p:cNvPicPr>
          <p:nvPr/>
        </p:nvPicPr>
        <p:blipFill>
          <a:blip r:embed="rId5"/>
          <a:stretch>
            <a:fillRect/>
          </a:stretch>
        </p:blipFill>
        <p:spPr>
          <a:xfrm>
            <a:off x="4637227" y="4573829"/>
            <a:ext cx="261518" cy="261518"/>
          </a:xfrm>
          <a:prstGeom prst="rect">
            <a:avLst/>
          </a:prstGeom>
        </p:spPr>
      </p:pic>
      <p:sp>
        <p:nvSpPr>
          <p:cNvPr id="113" name="s113"/>
          <p:cNvSpPr txBox="1"/>
          <p:nvPr/>
        </p:nvSpPr>
        <p:spPr>
          <a:xfrm>
            <a:off x="5138318" y="4453128"/>
            <a:ext cx="2537765"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BBF24"/>
                </a:solidFill>
                <a:latin typeface="Segoe UI"/>
                <a:ea typeface="Segoe UI"/>
                <a:cs typeface="Segoe UI"/>
              </a:rPr>
              <a:t>I want to book…</a:t>
            </a:r>
            <a:endParaRPr lang="en-US" sz="1400" dirty="0"/>
          </a:p>
        </p:txBody>
      </p:sp>
      <p:sp>
        <p:nvSpPr>
          <p:cNvPr id="114" name="s114"/>
          <p:cNvSpPr txBox="1"/>
          <p:nvPr/>
        </p:nvSpPr>
        <p:spPr>
          <a:xfrm>
            <a:off x="4543958" y="5102352"/>
            <a:ext cx="3132125" cy="4114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0" dirty="0">
                <a:solidFill>
                  <a:srgbClr val="E2E8F0"/>
                </a:solidFill>
                <a:latin typeface="Segoe UI"/>
                <a:ea typeface="Segoe UI"/>
                <a:cs typeface="Segoe UI"/>
              </a:rPr>
              <a:t>WHAT do they need?</a:t>
            </a:r>
            <a:endParaRPr lang="en-US" sz="1400" dirty="0"/>
          </a:p>
        </p:txBody>
      </p:sp>
      <p:sp>
        <p:nvSpPr>
          <p:cNvPr id="115" name="s115"/>
          <p:cNvSpPr/>
          <p:nvPr/>
        </p:nvSpPr>
        <p:spPr>
          <a:xfrm>
            <a:off x="8087563" y="4251960"/>
            <a:ext cx="3543605" cy="1371600"/>
          </a:xfrm>
          <a:prstGeom prst="roundRect">
            <a:avLst>
              <a:gd name="adj" fmla="val 10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16" name="s116"/>
          <p:cNvSpPr/>
          <p:nvPr/>
        </p:nvSpPr>
        <p:spPr>
          <a:xfrm>
            <a:off x="8288731" y="4453128"/>
            <a:ext cx="502920" cy="50292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17" name="img117"/>
          <p:cNvPicPr>
            <a:picLocks noChangeAspect="1"/>
          </p:cNvPicPr>
          <p:nvPr/>
        </p:nvPicPr>
        <p:blipFill>
          <a:blip r:embed="rId6"/>
          <a:stretch>
            <a:fillRect/>
          </a:stretch>
        </p:blipFill>
        <p:spPr>
          <a:xfrm>
            <a:off x="8409432" y="4573829"/>
            <a:ext cx="261518" cy="261518"/>
          </a:xfrm>
          <a:prstGeom prst="rect">
            <a:avLst/>
          </a:prstGeom>
        </p:spPr>
      </p:pic>
      <p:sp>
        <p:nvSpPr>
          <p:cNvPr id="118" name="s118"/>
          <p:cNvSpPr txBox="1"/>
          <p:nvPr/>
        </p:nvSpPr>
        <p:spPr>
          <a:xfrm>
            <a:off x="8910523" y="4453128"/>
            <a:ext cx="2537765"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34D399"/>
                </a:solidFill>
                <a:latin typeface="Segoe UI"/>
                <a:ea typeface="Segoe UI"/>
                <a:cs typeface="Segoe UI"/>
              </a:rPr>
              <a:t>So that…</a:t>
            </a:r>
            <a:endParaRPr lang="en-US" sz="1400" dirty="0"/>
          </a:p>
        </p:txBody>
      </p:sp>
      <p:sp>
        <p:nvSpPr>
          <p:cNvPr id="119" name="s119"/>
          <p:cNvSpPr txBox="1"/>
          <p:nvPr/>
        </p:nvSpPr>
        <p:spPr>
          <a:xfrm>
            <a:off x="8316163" y="5102352"/>
            <a:ext cx="3132125" cy="41148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0" dirty="0">
                <a:solidFill>
                  <a:srgbClr val="E2E8F0"/>
                </a:solidFill>
                <a:latin typeface="Segoe UI"/>
                <a:ea typeface="Segoe UI"/>
                <a:cs typeface="Segoe UI"/>
              </a:rPr>
              <a:t>WHY does it matter?</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grpId="0" nodeType="clickEffect">
                                  <p:stCondLst>
                                    <p:cond delay="0"/>
                                  </p:stCondLst>
                                  <p:childTnLst>
                                    <p:set>
                                      <p:cBhvr>
                                        <p:cTn id="13" dur="1" fill="hold">
                                          <p:stCondLst>
                                            <p:cond delay="0"/>
                                          </p:stCondLst>
                                        </p:cTn>
                                        <p:tgtEl>
                                          <p:spTgt spid="102"/>
                                        </p:tgtEl>
                                        <p:attrNameLst>
                                          <p:attrName>style.visibility</p:attrName>
                                        </p:attrNameLst>
                                      </p:cBhvr>
                                      <p:to>
                                        <p:strVal val="visible"/>
                                      </p:to>
                                    </p:set>
                                    <p:animEffect transition="in" filter="wipe(left)">
                                      <p:cBhvr>
                                        <p:cTn id="14" dur="600"/>
                                        <p:tgtEl>
                                          <p:spTgt spid="102"/>
                                        </p:tgtEl>
                                      </p:cBhvr>
                                    </p:animEffect>
                                  </p:childTnLst>
                                </p:cTn>
                              </p:par>
                              <p:par>
                                <p:cTn id="15" presetID="42" presetClass="entr" presetSubtype="0" fill="hold" grpId="0" nodeType="withEffect">
                                  <p:stCondLst>
                                    <p:cond delay="250"/>
                                  </p:stCondLst>
                                  <p:childTnLst>
                                    <p:set>
                                      <p:cBhvr>
                                        <p:cTn id="16" dur="1" fill="hold">
                                          <p:stCondLst>
                                            <p:cond delay="0"/>
                                          </p:stCondLst>
                                        </p:cTn>
                                        <p:tgtEl>
                                          <p:spTgt spid="105"/>
                                        </p:tgtEl>
                                        <p:attrNameLst>
                                          <p:attrName>style.visibility</p:attrName>
                                        </p:attrNameLst>
                                      </p:cBhvr>
                                      <p:to>
                                        <p:strVal val="visible"/>
                                      </p:to>
                                    </p:set>
                                    <p:animEffect transition="in" filter="fade">
                                      <p:cBhvr>
                                        <p:cTn id="17" dur="600"/>
                                        <p:tgtEl>
                                          <p:spTgt spid="105"/>
                                        </p:tgtEl>
                                      </p:cBhvr>
                                    </p:animEffect>
                                    <p:anim calcmode="lin" valueType="num">
                                      <p:cBhvr additive="base">
                                        <p:cTn id="18" dur="600" decel="100000" fill="hold"/>
                                        <p:tgtEl>
                                          <p:spTgt spid="105"/>
                                        </p:tgtEl>
                                        <p:attrNameLst>
                                          <p:attrName>ppt_y</p:attrName>
                                        </p:attrNameLst>
                                      </p:cBhvr>
                                      <p:tavLst>
                                        <p:tav tm="0">
                                          <p:val>
                                            <p:strVal val="#ppt_y+0.06"/>
                                          </p:val>
                                        </p:tav>
                                        <p:tav tm="100000">
                                          <p:val>
                                            <p:strVal val="#ppt_y"/>
                                          </p:val>
                                        </p:tav>
                                      </p:tavLst>
                                    </p:anim>
                                  </p:childTnLst>
                                </p:cTn>
                              </p:par>
                              <p:par>
                                <p:cTn id="19" presetID="42" presetClass="entr" presetSubtype="0" fill="hold" grpId="0" nodeType="withEffect">
                                  <p:stCondLst>
                                    <p:cond delay="250"/>
                                  </p:stCondLst>
                                  <p:childTnLst>
                                    <p:set>
                                      <p:cBhvr>
                                        <p:cTn id="20" dur="1" fill="hold">
                                          <p:stCondLst>
                                            <p:cond delay="0"/>
                                          </p:stCondLst>
                                        </p:cTn>
                                        <p:tgtEl>
                                          <p:spTgt spid="106"/>
                                        </p:tgtEl>
                                        <p:attrNameLst>
                                          <p:attrName>style.visibility</p:attrName>
                                        </p:attrNameLst>
                                      </p:cBhvr>
                                      <p:to>
                                        <p:strVal val="visible"/>
                                      </p:to>
                                    </p:set>
                                    <p:animEffect transition="in" filter="fade">
                                      <p:cBhvr>
                                        <p:cTn id="21" dur="600"/>
                                        <p:tgtEl>
                                          <p:spTgt spid="106"/>
                                        </p:tgtEl>
                                      </p:cBhvr>
                                    </p:animEffect>
                                    <p:anim calcmode="lin" valueType="num">
                                      <p:cBhvr additive="base">
                                        <p:cTn id="22" dur="600" decel="100000" fill="hold"/>
                                        <p:tgtEl>
                                          <p:spTgt spid="106"/>
                                        </p:tgtEl>
                                        <p:attrNameLst>
                                          <p:attrName>ppt_y</p:attrName>
                                        </p:attrNameLst>
                                      </p:cBhvr>
                                      <p:tavLst>
                                        <p:tav tm="0">
                                          <p:val>
                                            <p:strVal val="#ppt_y+0.06"/>
                                          </p:val>
                                        </p:tav>
                                        <p:tav tm="100000">
                                          <p:val>
                                            <p:strVal val="#ppt_y"/>
                                          </p:val>
                                        </p:tav>
                                      </p:tavLst>
                                    </p:anim>
                                  </p:childTnLst>
                                </p:cTn>
                              </p:par>
                              <p:par>
                                <p:cTn id="23" presetID="42" presetClass="entr" presetSubtype="0" fill="hold" nodeType="withEffect">
                                  <p:stCondLst>
                                    <p:cond delay="250"/>
                                  </p:stCondLst>
                                  <p:childTnLst>
                                    <p:set>
                                      <p:cBhvr>
                                        <p:cTn id="24" dur="1" fill="hold">
                                          <p:stCondLst>
                                            <p:cond delay="0"/>
                                          </p:stCondLst>
                                        </p:cTn>
                                        <p:tgtEl>
                                          <p:spTgt spid="107"/>
                                        </p:tgtEl>
                                        <p:attrNameLst>
                                          <p:attrName>style.visibility</p:attrName>
                                        </p:attrNameLst>
                                      </p:cBhvr>
                                      <p:to>
                                        <p:strVal val="visible"/>
                                      </p:to>
                                    </p:set>
                                    <p:animEffect transition="in" filter="fade">
                                      <p:cBhvr>
                                        <p:cTn id="25" dur="600"/>
                                        <p:tgtEl>
                                          <p:spTgt spid="107"/>
                                        </p:tgtEl>
                                      </p:cBhvr>
                                    </p:animEffect>
                                    <p:anim calcmode="lin" valueType="num">
                                      <p:cBhvr additive="base">
                                        <p:cTn id="26" dur="600" decel="100000" fill="hold"/>
                                        <p:tgtEl>
                                          <p:spTgt spid="107"/>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250"/>
                                  </p:stCondLst>
                                  <p:childTnLst>
                                    <p:set>
                                      <p:cBhvr>
                                        <p:cTn id="28" dur="1" fill="hold">
                                          <p:stCondLst>
                                            <p:cond delay="0"/>
                                          </p:stCondLst>
                                        </p:cTn>
                                        <p:tgtEl>
                                          <p:spTgt spid="108"/>
                                        </p:tgtEl>
                                        <p:attrNameLst>
                                          <p:attrName>style.visibility</p:attrName>
                                        </p:attrNameLst>
                                      </p:cBhvr>
                                      <p:to>
                                        <p:strVal val="visible"/>
                                      </p:to>
                                    </p:set>
                                    <p:animEffect transition="in" filter="fade">
                                      <p:cBhvr>
                                        <p:cTn id="29" dur="600"/>
                                        <p:tgtEl>
                                          <p:spTgt spid="108"/>
                                        </p:tgtEl>
                                      </p:cBhvr>
                                    </p:animEffect>
                                    <p:anim calcmode="lin" valueType="num">
                                      <p:cBhvr additive="base">
                                        <p:cTn id="30" dur="600" decel="100000" fill="hold"/>
                                        <p:tgtEl>
                                          <p:spTgt spid="108"/>
                                        </p:tgtEl>
                                        <p:attrNameLst>
                                          <p:attrName>ppt_y</p:attrName>
                                        </p:attrNameLst>
                                      </p:cBhvr>
                                      <p:tavLst>
                                        <p:tav tm="0">
                                          <p:val>
                                            <p:strVal val="#ppt_y+0.06"/>
                                          </p:val>
                                        </p:tav>
                                        <p:tav tm="100000">
                                          <p:val>
                                            <p:strVal val="#ppt_y"/>
                                          </p:val>
                                        </p:tav>
                                      </p:tavLst>
                                    </p:anim>
                                  </p:childTnLst>
                                </p:cTn>
                              </p:par>
                              <p:par>
                                <p:cTn id="31" presetID="42" presetClass="entr" presetSubtype="0" fill="hold" grpId="0" nodeType="withEffect">
                                  <p:stCondLst>
                                    <p:cond delay="250"/>
                                  </p:stCondLst>
                                  <p:childTnLst>
                                    <p:set>
                                      <p:cBhvr>
                                        <p:cTn id="32" dur="1" fill="hold">
                                          <p:stCondLst>
                                            <p:cond delay="0"/>
                                          </p:stCondLst>
                                        </p:cTn>
                                        <p:tgtEl>
                                          <p:spTgt spid="109"/>
                                        </p:tgtEl>
                                        <p:attrNameLst>
                                          <p:attrName>style.visibility</p:attrName>
                                        </p:attrNameLst>
                                      </p:cBhvr>
                                      <p:to>
                                        <p:strVal val="visible"/>
                                      </p:to>
                                    </p:set>
                                    <p:animEffect transition="in" filter="fade">
                                      <p:cBhvr>
                                        <p:cTn id="33" dur="600"/>
                                        <p:tgtEl>
                                          <p:spTgt spid="109"/>
                                        </p:tgtEl>
                                      </p:cBhvr>
                                    </p:animEffect>
                                    <p:anim calcmode="lin" valueType="num">
                                      <p:cBhvr additive="base">
                                        <p:cTn id="34" dur="600" decel="100000" fill="hold"/>
                                        <p:tgtEl>
                                          <p:spTgt spid="109"/>
                                        </p:tgtEl>
                                        <p:attrNameLst>
                                          <p:attrName>ppt_y</p:attrName>
                                        </p:attrNameLst>
                                      </p:cBhvr>
                                      <p:tavLst>
                                        <p:tav tm="0">
                                          <p:val>
                                            <p:strVal val="#ppt_y+0.06"/>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103"/>
                                        </p:tgtEl>
                                        <p:attrNameLst>
                                          <p:attrName>style.visibility</p:attrName>
                                        </p:attrNameLst>
                                      </p:cBhvr>
                                      <p:to>
                                        <p:strVal val="visible"/>
                                      </p:to>
                                    </p:set>
                                    <p:animEffect transition="in" filter="wipe(left)">
                                      <p:cBhvr>
                                        <p:cTn id="39" dur="600"/>
                                        <p:tgtEl>
                                          <p:spTgt spid="103"/>
                                        </p:tgtEl>
                                      </p:cBhvr>
                                    </p:animEffect>
                                  </p:childTnLst>
                                </p:cTn>
                              </p:par>
                              <p:par>
                                <p:cTn id="40" presetID="42" presetClass="entr" presetSubtype="0" fill="hold" grpId="0" nodeType="withEffect">
                                  <p:stCondLst>
                                    <p:cond delay="250"/>
                                  </p:stCondLst>
                                  <p:childTnLst>
                                    <p:set>
                                      <p:cBhvr>
                                        <p:cTn id="41" dur="1" fill="hold">
                                          <p:stCondLst>
                                            <p:cond delay="0"/>
                                          </p:stCondLst>
                                        </p:cTn>
                                        <p:tgtEl>
                                          <p:spTgt spid="110"/>
                                        </p:tgtEl>
                                        <p:attrNameLst>
                                          <p:attrName>style.visibility</p:attrName>
                                        </p:attrNameLst>
                                      </p:cBhvr>
                                      <p:to>
                                        <p:strVal val="visible"/>
                                      </p:to>
                                    </p:set>
                                    <p:animEffect transition="in" filter="fade">
                                      <p:cBhvr>
                                        <p:cTn id="42" dur="600"/>
                                        <p:tgtEl>
                                          <p:spTgt spid="110"/>
                                        </p:tgtEl>
                                      </p:cBhvr>
                                    </p:animEffect>
                                    <p:anim calcmode="lin" valueType="num">
                                      <p:cBhvr additive="base">
                                        <p:cTn id="43" dur="600" decel="100000" fill="hold"/>
                                        <p:tgtEl>
                                          <p:spTgt spid="110"/>
                                        </p:tgtEl>
                                        <p:attrNameLst>
                                          <p:attrName>ppt_y</p:attrName>
                                        </p:attrNameLst>
                                      </p:cBhvr>
                                      <p:tavLst>
                                        <p:tav tm="0">
                                          <p:val>
                                            <p:strVal val="#ppt_y+0.06"/>
                                          </p:val>
                                        </p:tav>
                                        <p:tav tm="100000">
                                          <p:val>
                                            <p:strVal val="#ppt_y"/>
                                          </p:val>
                                        </p:tav>
                                      </p:tavLst>
                                    </p:anim>
                                  </p:childTnLst>
                                </p:cTn>
                              </p:par>
                              <p:par>
                                <p:cTn id="44" presetID="42" presetClass="entr" presetSubtype="0" fill="hold" grpId="0" nodeType="withEffect">
                                  <p:stCondLst>
                                    <p:cond delay="25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600"/>
                                        <p:tgtEl>
                                          <p:spTgt spid="111"/>
                                        </p:tgtEl>
                                      </p:cBhvr>
                                    </p:animEffect>
                                    <p:anim calcmode="lin" valueType="num">
                                      <p:cBhvr additive="base">
                                        <p:cTn id="47" dur="600" decel="100000" fill="hold"/>
                                        <p:tgtEl>
                                          <p:spTgt spid="111"/>
                                        </p:tgtEl>
                                        <p:attrNameLst>
                                          <p:attrName>ppt_y</p:attrName>
                                        </p:attrNameLst>
                                      </p:cBhvr>
                                      <p:tavLst>
                                        <p:tav tm="0">
                                          <p:val>
                                            <p:strVal val="#ppt_y+0.06"/>
                                          </p:val>
                                        </p:tav>
                                        <p:tav tm="100000">
                                          <p:val>
                                            <p:strVal val="#ppt_y"/>
                                          </p:val>
                                        </p:tav>
                                      </p:tavLst>
                                    </p:anim>
                                  </p:childTnLst>
                                </p:cTn>
                              </p:par>
                              <p:par>
                                <p:cTn id="48" presetID="42" presetClass="entr" presetSubtype="0" fill="hold" nodeType="withEffect">
                                  <p:stCondLst>
                                    <p:cond delay="250"/>
                                  </p:stCondLst>
                                  <p:childTnLst>
                                    <p:set>
                                      <p:cBhvr>
                                        <p:cTn id="49" dur="1" fill="hold">
                                          <p:stCondLst>
                                            <p:cond delay="0"/>
                                          </p:stCondLst>
                                        </p:cTn>
                                        <p:tgtEl>
                                          <p:spTgt spid="112"/>
                                        </p:tgtEl>
                                        <p:attrNameLst>
                                          <p:attrName>style.visibility</p:attrName>
                                        </p:attrNameLst>
                                      </p:cBhvr>
                                      <p:to>
                                        <p:strVal val="visible"/>
                                      </p:to>
                                    </p:set>
                                    <p:animEffect transition="in" filter="fade">
                                      <p:cBhvr>
                                        <p:cTn id="50" dur="600"/>
                                        <p:tgtEl>
                                          <p:spTgt spid="112"/>
                                        </p:tgtEl>
                                      </p:cBhvr>
                                    </p:animEffect>
                                    <p:anim calcmode="lin" valueType="num">
                                      <p:cBhvr additive="base">
                                        <p:cTn id="51" dur="600" decel="100000" fill="hold"/>
                                        <p:tgtEl>
                                          <p:spTgt spid="112"/>
                                        </p:tgtEl>
                                        <p:attrNameLst>
                                          <p:attrName>ppt_y</p:attrName>
                                        </p:attrNameLst>
                                      </p:cBhvr>
                                      <p:tavLst>
                                        <p:tav tm="0">
                                          <p:val>
                                            <p:strVal val="#ppt_y+0.06"/>
                                          </p:val>
                                        </p:tav>
                                        <p:tav tm="100000">
                                          <p:val>
                                            <p:strVal val="#ppt_y"/>
                                          </p:val>
                                        </p:tav>
                                      </p:tavLst>
                                    </p:anim>
                                  </p:childTnLst>
                                </p:cTn>
                              </p:par>
                              <p:par>
                                <p:cTn id="52" presetID="42" presetClass="entr" presetSubtype="0" fill="hold" grpId="0" nodeType="withEffect">
                                  <p:stCondLst>
                                    <p:cond delay="250"/>
                                  </p:stCondLst>
                                  <p:childTnLst>
                                    <p:set>
                                      <p:cBhvr>
                                        <p:cTn id="53" dur="1" fill="hold">
                                          <p:stCondLst>
                                            <p:cond delay="0"/>
                                          </p:stCondLst>
                                        </p:cTn>
                                        <p:tgtEl>
                                          <p:spTgt spid="113"/>
                                        </p:tgtEl>
                                        <p:attrNameLst>
                                          <p:attrName>style.visibility</p:attrName>
                                        </p:attrNameLst>
                                      </p:cBhvr>
                                      <p:to>
                                        <p:strVal val="visible"/>
                                      </p:to>
                                    </p:set>
                                    <p:animEffect transition="in" filter="fade">
                                      <p:cBhvr>
                                        <p:cTn id="54" dur="600"/>
                                        <p:tgtEl>
                                          <p:spTgt spid="113"/>
                                        </p:tgtEl>
                                      </p:cBhvr>
                                    </p:animEffect>
                                    <p:anim calcmode="lin" valueType="num">
                                      <p:cBhvr additive="base">
                                        <p:cTn id="55" dur="600" decel="100000" fill="hold"/>
                                        <p:tgtEl>
                                          <p:spTgt spid="113"/>
                                        </p:tgtEl>
                                        <p:attrNameLst>
                                          <p:attrName>ppt_y</p:attrName>
                                        </p:attrNameLst>
                                      </p:cBhvr>
                                      <p:tavLst>
                                        <p:tav tm="0">
                                          <p:val>
                                            <p:strVal val="#ppt_y+0.06"/>
                                          </p:val>
                                        </p:tav>
                                        <p:tav tm="100000">
                                          <p:val>
                                            <p:strVal val="#ppt_y"/>
                                          </p:val>
                                        </p:tav>
                                      </p:tavLst>
                                    </p:anim>
                                  </p:childTnLst>
                                </p:cTn>
                              </p:par>
                              <p:par>
                                <p:cTn id="56" presetID="42" presetClass="entr" presetSubtype="0" fill="hold" grpId="0" nodeType="withEffect">
                                  <p:stCondLst>
                                    <p:cond delay="250"/>
                                  </p:stCondLst>
                                  <p:childTnLst>
                                    <p:set>
                                      <p:cBhvr>
                                        <p:cTn id="57" dur="1" fill="hold">
                                          <p:stCondLst>
                                            <p:cond delay="0"/>
                                          </p:stCondLst>
                                        </p:cTn>
                                        <p:tgtEl>
                                          <p:spTgt spid="114"/>
                                        </p:tgtEl>
                                        <p:attrNameLst>
                                          <p:attrName>style.visibility</p:attrName>
                                        </p:attrNameLst>
                                      </p:cBhvr>
                                      <p:to>
                                        <p:strVal val="visible"/>
                                      </p:to>
                                    </p:set>
                                    <p:animEffect transition="in" filter="fade">
                                      <p:cBhvr>
                                        <p:cTn id="58" dur="600"/>
                                        <p:tgtEl>
                                          <p:spTgt spid="114"/>
                                        </p:tgtEl>
                                      </p:cBhvr>
                                    </p:animEffect>
                                    <p:anim calcmode="lin" valueType="num">
                                      <p:cBhvr additive="base">
                                        <p:cTn id="59" dur="6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grpId="0" nodeType="clickEffect">
                                  <p:stCondLst>
                                    <p:cond delay="0"/>
                                  </p:stCondLst>
                                  <p:childTnLst>
                                    <p:set>
                                      <p:cBhvr>
                                        <p:cTn id="63" dur="1" fill="hold">
                                          <p:stCondLst>
                                            <p:cond delay="0"/>
                                          </p:stCondLst>
                                        </p:cTn>
                                        <p:tgtEl>
                                          <p:spTgt spid="104"/>
                                        </p:tgtEl>
                                        <p:attrNameLst>
                                          <p:attrName>style.visibility</p:attrName>
                                        </p:attrNameLst>
                                      </p:cBhvr>
                                      <p:to>
                                        <p:strVal val="visible"/>
                                      </p:to>
                                    </p:set>
                                    <p:animEffect transition="in" filter="wipe(left)">
                                      <p:cBhvr>
                                        <p:cTn id="64" dur="600"/>
                                        <p:tgtEl>
                                          <p:spTgt spid="104"/>
                                        </p:tgtEl>
                                      </p:cBhvr>
                                    </p:animEffect>
                                  </p:childTnLst>
                                </p:cTn>
                              </p:par>
                              <p:par>
                                <p:cTn id="65" presetID="42" presetClass="entr" presetSubtype="0" fill="hold" grpId="0" nodeType="withEffect">
                                  <p:stCondLst>
                                    <p:cond delay="250"/>
                                  </p:stCondLst>
                                  <p:childTnLst>
                                    <p:set>
                                      <p:cBhvr>
                                        <p:cTn id="66" dur="1" fill="hold">
                                          <p:stCondLst>
                                            <p:cond delay="0"/>
                                          </p:stCondLst>
                                        </p:cTn>
                                        <p:tgtEl>
                                          <p:spTgt spid="115"/>
                                        </p:tgtEl>
                                        <p:attrNameLst>
                                          <p:attrName>style.visibility</p:attrName>
                                        </p:attrNameLst>
                                      </p:cBhvr>
                                      <p:to>
                                        <p:strVal val="visible"/>
                                      </p:to>
                                    </p:set>
                                    <p:animEffect transition="in" filter="fade">
                                      <p:cBhvr>
                                        <p:cTn id="67" dur="600"/>
                                        <p:tgtEl>
                                          <p:spTgt spid="115"/>
                                        </p:tgtEl>
                                      </p:cBhvr>
                                    </p:animEffect>
                                    <p:anim calcmode="lin" valueType="num">
                                      <p:cBhvr additive="base">
                                        <p:cTn id="68" dur="600" decel="100000" fill="hold"/>
                                        <p:tgtEl>
                                          <p:spTgt spid="115"/>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250"/>
                                  </p:stCondLst>
                                  <p:childTnLst>
                                    <p:set>
                                      <p:cBhvr>
                                        <p:cTn id="70" dur="1" fill="hold">
                                          <p:stCondLst>
                                            <p:cond delay="0"/>
                                          </p:stCondLst>
                                        </p:cTn>
                                        <p:tgtEl>
                                          <p:spTgt spid="116"/>
                                        </p:tgtEl>
                                        <p:attrNameLst>
                                          <p:attrName>style.visibility</p:attrName>
                                        </p:attrNameLst>
                                      </p:cBhvr>
                                      <p:to>
                                        <p:strVal val="visible"/>
                                      </p:to>
                                    </p:set>
                                    <p:animEffect transition="in" filter="fade">
                                      <p:cBhvr>
                                        <p:cTn id="71" dur="600"/>
                                        <p:tgtEl>
                                          <p:spTgt spid="116"/>
                                        </p:tgtEl>
                                      </p:cBhvr>
                                    </p:animEffect>
                                    <p:anim calcmode="lin" valueType="num">
                                      <p:cBhvr additive="base">
                                        <p:cTn id="72" dur="600" decel="100000" fill="hold"/>
                                        <p:tgtEl>
                                          <p:spTgt spid="116"/>
                                        </p:tgtEl>
                                        <p:attrNameLst>
                                          <p:attrName>ppt_y</p:attrName>
                                        </p:attrNameLst>
                                      </p:cBhvr>
                                      <p:tavLst>
                                        <p:tav tm="0">
                                          <p:val>
                                            <p:strVal val="#ppt_y+0.06"/>
                                          </p:val>
                                        </p:tav>
                                        <p:tav tm="100000">
                                          <p:val>
                                            <p:strVal val="#ppt_y"/>
                                          </p:val>
                                        </p:tav>
                                      </p:tavLst>
                                    </p:anim>
                                  </p:childTnLst>
                                </p:cTn>
                              </p:par>
                              <p:par>
                                <p:cTn id="73" presetID="42" presetClass="entr" presetSubtype="0" fill="hold" nodeType="withEffect">
                                  <p:stCondLst>
                                    <p:cond delay="250"/>
                                  </p:stCondLst>
                                  <p:childTnLst>
                                    <p:set>
                                      <p:cBhvr>
                                        <p:cTn id="74" dur="1" fill="hold">
                                          <p:stCondLst>
                                            <p:cond delay="0"/>
                                          </p:stCondLst>
                                        </p:cTn>
                                        <p:tgtEl>
                                          <p:spTgt spid="117"/>
                                        </p:tgtEl>
                                        <p:attrNameLst>
                                          <p:attrName>style.visibility</p:attrName>
                                        </p:attrNameLst>
                                      </p:cBhvr>
                                      <p:to>
                                        <p:strVal val="visible"/>
                                      </p:to>
                                    </p:set>
                                    <p:animEffect transition="in" filter="fade">
                                      <p:cBhvr>
                                        <p:cTn id="75" dur="600"/>
                                        <p:tgtEl>
                                          <p:spTgt spid="117"/>
                                        </p:tgtEl>
                                      </p:cBhvr>
                                    </p:animEffect>
                                    <p:anim calcmode="lin" valueType="num">
                                      <p:cBhvr additive="base">
                                        <p:cTn id="76" dur="600" decel="100000" fill="hold"/>
                                        <p:tgtEl>
                                          <p:spTgt spid="117"/>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250"/>
                                  </p:stCondLst>
                                  <p:childTnLst>
                                    <p:set>
                                      <p:cBhvr>
                                        <p:cTn id="78" dur="1" fill="hold">
                                          <p:stCondLst>
                                            <p:cond delay="0"/>
                                          </p:stCondLst>
                                        </p:cTn>
                                        <p:tgtEl>
                                          <p:spTgt spid="118"/>
                                        </p:tgtEl>
                                        <p:attrNameLst>
                                          <p:attrName>style.visibility</p:attrName>
                                        </p:attrNameLst>
                                      </p:cBhvr>
                                      <p:to>
                                        <p:strVal val="visible"/>
                                      </p:to>
                                    </p:set>
                                    <p:animEffect transition="in" filter="fade">
                                      <p:cBhvr>
                                        <p:cTn id="79" dur="600"/>
                                        <p:tgtEl>
                                          <p:spTgt spid="118"/>
                                        </p:tgtEl>
                                      </p:cBhvr>
                                    </p:animEffect>
                                    <p:anim calcmode="lin" valueType="num">
                                      <p:cBhvr additive="base">
                                        <p:cTn id="80" dur="600" decel="100000" fill="hold"/>
                                        <p:tgtEl>
                                          <p:spTgt spid="118"/>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250"/>
                                  </p:stCondLst>
                                  <p:childTnLst>
                                    <p:set>
                                      <p:cBhvr>
                                        <p:cTn id="82" dur="1" fill="hold">
                                          <p:stCondLst>
                                            <p:cond delay="0"/>
                                          </p:stCondLst>
                                        </p:cTn>
                                        <p:tgtEl>
                                          <p:spTgt spid="119"/>
                                        </p:tgtEl>
                                        <p:attrNameLst>
                                          <p:attrName>style.visibility</p:attrName>
                                        </p:attrNameLst>
                                      </p:cBhvr>
                                      <p:to>
                                        <p:strVal val="visible"/>
                                      </p:to>
                                    </p:set>
                                    <p:animEffect transition="in" filter="fade">
                                      <p:cBhvr>
                                        <p:cTn id="83" dur="600"/>
                                        <p:tgtEl>
                                          <p:spTgt spid="119"/>
                                        </p:tgtEl>
                                      </p:cBhvr>
                                    </p:animEffect>
                                    <p:anim calcmode="lin" valueType="num">
                                      <p:cBhvr additive="base">
                                        <p:cTn id="84" dur="6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8" grpId="0" animBg="1"/>
      <p:bldP spid="109" grpId="0" animBg="1"/>
      <p:bldP spid="110" grpId="0" animBg="1"/>
      <p:bldP spid="111" grpId="0" animBg="1"/>
      <p:bldP spid="113" grpId="0" animBg="1"/>
      <p:bldP spid="114" grpId="0" animBg="1"/>
      <p:bldP spid="115" grpId="0" animBg="1"/>
      <p:bldP spid="116" grpId="0" animBg="1"/>
      <p:bldP spid="118" grpId="0" animBg="1"/>
      <p:bldP spid="119"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068019"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NEED VS HOW</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Why Does the Story Not Mention the Database?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Need and value first. HOW comes later, with the Developers.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244</a:t>
            </a:r>
            <a:endParaRPr lang="en-US" sz="850" dirty="0"/>
          </a:p>
        </p:txBody>
      </p:sp>
      <p:sp>
        <p:nvSpPr>
          <p:cNvPr id="101" name="s101"/>
          <p:cNvSpPr/>
          <p:nvPr/>
        </p:nvSpPr>
        <p:spPr>
          <a:xfrm>
            <a:off x="543154" y="1965960"/>
            <a:ext cx="5406847" cy="2377440"/>
          </a:xfrm>
          <a:prstGeom prst="roundRect">
            <a:avLst>
              <a:gd name="adj" fmla="val 10000"/>
            </a:avLst>
          </a:prstGeom>
          <a:solidFill>
            <a:srgbClr val="111B2E"/>
          </a:solidFill>
          <a:ln w="15875">
            <a:solidFill>
              <a:srgbClr val="34D399"/>
            </a:solidFill>
            <a:prstDash val="solid"/>
          </a:ln>
        </p:spPr>
        <p:txBody>
          <a:bodyPr wrap="square" lIns="182880" tIns="146304" rIns="164592" bIns="109728" rtlCol="0" anchor="t">
            <a:noAutofit/>
          </a:bodyPr>
          <a:lstStyle/>
          <a:p>
            <a:endParaRPr lang="en-US"/>
          </a:p>
        </p:txBody>
      </p:sp>
      <p:sp>
        <p:nvSpPr>
          <p:cNvPr id="102" name="s102"/>
          <p:cNvSpPr/>
          <p:nvPr/>
        </p:nvSpPr>
        <p:spPr>
          <a:xfrm>
            <a:off x="744322" y="2148840"/>
            <a:ext cx="420624" cy="420624"/>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845271" y="2249790"/>
            <a:ext cx="218724" cy="218724"/>
          </a:xfrm>
          <a:prstGeom prst="rect">
            <a:avLst/>
          </a:prstGeom>
        </p:spPr>
      </p:pic>
      <p:sp>
        <p:nvSpPr>
          <p:cNvPr id="104" name="s104"/>
          <p:cNvSpPr txBox="1"/>
          <p:nvPr/>
        </p:nvSpPr>
        <p:spPr>
          <a:xfrm>
            <a:off x="1292962" y="2167128"/>
            <a:ext cx="4492447"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BUSINESS-FOCUSED (GOOD)</a:t>
            </a:r>
            <a:endParaRPr lang="en-US" sz="1300" dirty="0"/>
          </a:p>
        </p:txBody>
      </p:sp>
      <p:sp>
        <p:nvSpPr>
          <p:cNvPr id="105" name="s105"/>
          <p:cNvSpPr txBox="1"/>
          <p:nvPr/>
        </p:nvSpPr>
        <p:spPr>
          <a:xfrm>
            <a:off x="771754" y="2743200"/>
            <a:ext cx="4949647" cy="146304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500" b="0" dirty="0">
                <a:solidFill>
                  <a:srgbClr val="E2E8F0"/>
                </a:solidFill>
                <a:latin typeface="Segoe UI"/>
                <a:ea typeface="Segoe UI"/>
                <a:cs typeface="Segoe UI"/>
              </a:rPr>
              <a:t>As a receptionist, I want to book an available appointment so that the patient receives a confirmed visit.</a:t>
            </a:r>
            <a:endParaRPr lang="en-US" sz="1500" dirty="0"/>
          </a:p>
        </p:txBody>
      </p:sp>
      <p:sp>
        <p:nvSpPr>
          <p:cNvPr id="106" name="s106"/>
          <p:cNvSpPr/>
          <p:nvPr/>
        </p:nvSpPr>
        <p:spPr>
          <a:xfrm>
            <a:off x="6224321" y="1965960"/>
            <a:ext cx="5406847" cy="2377440"/>
          </a:xfrm>
          <a:prstGeom prst="roundRect">
            <a:avLst>
              <a:gd name="adj" fmla="val 10000"/>
            </a:avLst>
          </a:prstGeom>
          <a:solidFill>
            <a:srgbClr val="111B2E"/>
          </a:solidFill>
          <a:ln w="15875">
            <a:solidFill>
              <a:srgbClr val="F87171"/>
            </a:solidFill>
            <a:prstDash val="solid"/>
          </a:ln>
        </p:spPr>
        <p:txBody>
          <a:bodyPr wrap="square" lIns="182880" tIns="146304" rIns="164592" bIns="109728" rtlCol="0" anchor="t">
            <a:noAutofit/>
          </a:bodyPr>
          <a:lstStyle/>
          <a:p>
            <a:endParaRPr lang="en-US"/>
          </a:p>
        </p:txBody>
      </p:sp>
      <p:sp>
        <p:nvSpPr>
          <p:cNvPr id="107" name="s107"/>
          <p:cNvSpPr/>
          <p:nvPr/>
        </p:nvSpPr>
        <p:spPr>
          <a:xfrm>
            <a:off x="6425489" y="2148840"/>
            <a:ext cx="420624" cy="420624"/>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8" name="img108"/>
          <p:cNvPicPr>
            <a:picLocks noChangeAspect="1"/>
          </p:cNvPicPr>
          <p:nvPr/>
        </p:nvPicPr>
        <p:blipFill>
          <a:blip r:embed="rId5"/>
          <a:stretch>
            <a:fillRect/>
          </a:stretch>
        </p:blipFill>
        <p:spPr>
          <a:xfrm>
            <a:off x="6526439" y="2249790"/>
            <a:ext cx="218724" cy="218724"/>
          </a:xfrm>
          <a:prstGeom prst="rect">
            <a:avLst/>
          </a:prstGeom>
        </p:spPr>
      </p:pic>
      <p:sp>
        <p:nvSpPr>
          <p:cNvPr id="109" name="s109"/>
          <p:cNvSpPr txBox="1"/>
          <p:nvPr/>
        </p:nvSpPr>
        <p:spPr>
          <a:xfrm>
            <a:off x="6974129" y="2167128"/>
            <a:ext cx="4492447"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87171"/>
                </a:solidFill>
                <a:latin typeface="Segoe UI"/>
                <a:ea typeface="Segoe UI"/>
                <a:cs typeface="Segoe UI"/>
              </a:rPr>
              <a:t>MIXED WITH IMPLEMENTATION (BAD)</a:t>
            </a:r>
            <a:endParaRPr lang="en-US" sz="1300" dirty="0"/>
          </a:p>
        </p:txBody>
      </p:sp>
      <p:sp>
        <p:nvSpPr>
          <p:cNvPr id="110" name="s110"/>
          <p:cNvSpPr txBox="1"/>
          <p:nvPr/>
        </p:nvSpPr>
        <p:spPr>
          <a:xfrm>
            <a:off x="6452921" y="2743200"/>
            <a:ext cx="4949647" cy="146304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500" b="0" dirty="0">
                <a:solidFill>
                  <a:srgbClr val="E2E8F0"/>
                </a:solidFill>
                <a:latin typeface="Segoe UI"/>
                <a:ea typeface="Segoe UI"/>
                <a:cs typeface="Segoe UI"/>
              </a:rPr>
              <a:t>As a receptionist, I want AppointmentController to insert PatientId, DoctorId… into the SQL Appointments table.</a:t>
            </a:r>
            <a:endParaRPr lang="en-US" sz="1500" dirty="0"/>
          </a:p>
        </p:txBody>
      </p:sp>
      <p:sp>
        <p:nvSpPr>
          <p:cNvPr id="111" name="s111"/>
          <p:cNvSpPr/>
          <p:nvPr/>
        </p:nvSpPr>
        <p:spPr>
          <a:xfrm>
            <a:off x="6441034" y="3931920"/>
            <a:ext cx="1554480" cy="292608"/>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87171"/>
                </a:solidFill>
                <a:latin typeface="Consolas"/>
                <a:ea typeface="Consolas"/>
                <a:cs typeface="Consolas"/>
              </a:rPr>
              <a:t>Controller</a:t>
            </a:r>
            <a:endParaRPr lang="en-US" sz="1000" dirty="0"/>
          </a:p>
        </p:txBody>
      </p:sp>
      <p:sp>
        <p:nvSpPr>
          <p:cNvPr id="112" name="s112"/>
          <p:cNvSpPr/>
          <p:nvPr/>
        </p:nvSpPr>
        <p:spPr>
          <a:xfrm>
            <a:off x="8132674" y="3931920"/>
            <a:ext cx="1554480" cy="292608"/>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87171"/>
                </a:solidFill>
                <a:latin typeface="Consolas"/>
                <a:ea typeface="Consolas"/>
                <a:cs typeface="Consolas"/>
              </a:rPr>
              <a:t>PatientId</a:t>
            </a:r>
            <a:endParaRPr lang="en-US" sz="1000" dirty="0"/>
          </a:p>
        </p:txBody>
      </p:sp>
      <p:sp>
        <p:nvSpPr>
          <p:cNvPr id="113" name="s113"/>
          <p:cNvSpPr/>
          <p:nvPr/>
        </p:nvSpPr>
        <p:spPr>
          <a:xfrm>
            <a:off x="9824314" y="3931920"/>
            <a:ext cx="1554480" cy="292608"/>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87171"/>
                </a:solidFill>
                <a:latin typeface="Consolas"/>
                <a:ea typeface="Consolas"/>
                <a:cs typeface="Consolas"/>
              </a:rPr>
              <a:t>SQL table</a:t>
            </a:r>
            <a:endParaRPr lang="en-US" sz="1000" dirty="0"/>
          </a:p>
        </p:txBody>
      </p:sp>
      <p:sp>
        <p:nvSpPr>
          <p:cNvPr id="114" name="s114"/>
          <p:cNvSpPr/>
          <p:nvPr/>
        </p:nvSpPr>
        <p:spPr>
          <a:xfrm>
            <a:off x="543154" y="4663440"/>
            <a:ext cx="11088014" cy="777240"/>
          </a:xfrm>
          <a:prstGeom prst="roundRect">
            <a:avLst>
              <a:gd name="adj" fmla="val 12000"/>
            </a:avLst>
          </a:prstGeom>
          <a:solidFill>
            <a:srgbClr val="111B2E"/>
          </a:solidFill>
          <a:ln w="12700">
            <a:solidFill>
              <a:srgbClr val="13D0F7"/>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13D0F7"/>
                </a:solidFill>
                <a:latin typeface="Segoe UI"/>
                <a:ea typeface="Segoe UI"/>
                <a:cs typeface="Segoe UI"/>
              </a:rPr>
              <a:t>Main idea: </a:t>
            </a:r>
            <a:r>
              <a:rPr lang="en-US" sz="1350" b="0" dirty="0">
                <a:solidFill>
                  <a:srgbClr val="E2E8F0"/>
                </a:solidFill>
                <a:latin typeface="Segoe UI"/>
                <a:ea typeface="Segoe UI"/>
                <a:cs typeface="Segoe UI"/>
              </a:rPr>
              <a:t>the User Story explains the need and the value. The team later decides HOW: tasks, design, APIs, DB, docs.</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ppt_x</p:attrName>
                                        </p:attrNameLst>
                                      </p:cBhvr>
                                      <p:tavLst>
                                        <p:tav tm="0">
                                          <p:val>
                                            <p:strVal val="#ppt_x-0.05"/>
                                          </p:val>
                                        </p:tav>
                                        <p:tav tm="100000">
                                          <p:val>
                                            <p:strVal val="#ppt_x"/>
                                          </p:val>
                                        </p:tav>
                                      </p:tavLst>
                                    </p:anim>
                                  </p:childTnLst>
                                </p:cTn>
                              </p:par>
                              <p:par>
                                <p:cTn id="13" presetID="42" presetClass="entr" presetSubtype="0"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ppt_x</p:attrName>
                                        </p:attrNameLst>
                                      </p:cBhvr>
                                      <p:tavLst>
                                        <p:tav tm="0">
                                          <p:val>
                                            <p:strVal val="#ppt_x-0.05"/>
                                          </p:val>
                                        </p:tav>
                                        <p:tav tm="100000">
                                          <p:val>
                                            <p:strVal val="#ppt_x"/>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ppt_x</p:attrName>
                                        </p:attrNameLst>
                                      </p:cBhvr>
                                      <p:tavLst>
                                        <p:tav tm="0">
                                          <p:val>
                                            <p:strVal val="#ppt_x+0.05"/>
                                          </p:val>
                                        </p:tav>
                                        <p:tav tm="100000">
                                          <p:val>
                                            <p:strVal val="#ppt_x"/>
                                          </p:val>
                                        </p:tav>
                                      </p:tavLst>
                                    </p:anim>
                                  </p:childTnLst>
                                </p:cTn>
                              </p:par>
                              <p:par>
                                <p:cTn id="47" presetID="53" presetClass="entr" presetSubtype="16" fill="hold" grpId="0" nodeType="withEffect">
                                  <p:stCondLst>
                                    <p:cond delay="200"/>
                                  </p:stCondLst>
                                  <p:childTnLst>
                                    <p:set>
                                      <p:cBhvr>
                                        <p:cTn id="48" dur="1" fill="hold">
                                          <p:stCondLst>
                                            <p:cond delay="0"/>
                                          </p:stCondLst>
                                        </p:cTn>
                                        <p:tgtEl>
                                          <p:spTgt spid="111"/>
                                        </p:tgtEl>
                                        <p:attrNameLst>
                                          <p:attrName>style.visibility</p:attrName>
                                        </p:attrNameLst>
                                      </p:cBhvr>
                                      <p:to>
                                        <p:strVal val="visible"/>
                                      </p:to>
                                    </p:set>
                                    <p:anim calcmode="lin" valueType="num">
                                      <p:cBhvr additive="base">
                                        <p:cTn id="49" dur="500" decel="100000" fill="hold"/>
                                        <p:tgtEl>
                                          <p:spTgt spid="111"/>
                                        </p:tgtEl>
                                        <p:attrNameLst>
                                          <p:attrName>ppt_w</p:attrName>
                                        </p:attrNameLst>
                                      </p:cBhvr>
                                      <p:tavLst>
                                        <p:tav tm="0">
                                          <p:val>
                                            <p:strVal val="#ppt_w*0.3"/>
                                          </p:val>
                                        </p:tav>
                                        <p:tav tm="100000">
                                          <p:val>
                                            <p:strVal val="#ppt_w*1.08"/>
                                          </p:val>
                                        </p:tav>
                                      </p:tavLst>
                                    </p:anim>
                                    <p:anim calcmode="lin" valueType="num">
                                      <p:cBhvr additive="base">
                                        <p:cTn id="50" dur="500" decel="100000" fill="hold"/>
                                        <p:tgtEl>
                                          <p:spTgt spid="111"/>
                                        </p:tgtEl>
                                        <p:attrNameLst>
                                          <p:attrName>ppt_h</p:attrName>
                                        </p:attrNameLst>
                                      </p:cBhvr>
                                      <p:tavLst>
                                        <p:tav tm="0">
                                          <p:val>
                                            <p:strVal val="#ppt_h*0.3"/>
                                          </p:val>
                                        </p:tav>
                                        <p:tav tm="100000">
                                          <p:val>
                                            <p:strVal val="#ppt_h*1.08"/>
                                          </p:val>
                                        </p:tav>
                                      </p:tavLst>
                                    </p:anim>
                                    <p:animEffect transition="in" filter="fade">
                                      <p:cBhvr>
                                        <p:cTn id="51" dur="250"/>
                                        <p:tgtEl>
                                          <p:spTgt spid="111"/>
                                        </p:tgtEl>
                                      </p:cBhvr>
                                    </p:animEffect>
                                    <p:anim calcmode="lin" valueType="num">
                                      <p:cBhvr additive="base">
                                        <p:cTn id="52" dur="160" fill="hold">
                                          <p:stCondLst>
                                            <p:cond delay="500"/>
                                          </p:stCondLst>
                                        </p:cTn>
                                        <p:tgtEl>
                                          <p:spTgt spid="111"/>
                                        </p:tgtEl>
                                        <p:attrNameLst>
                                          <p:attrName>ppt_w</p:attrName>
                                        </p:attrNameLst>
                                      </p:cBhvr>
                                      <p:tavLst>
                                        <p:tav tm="0">
                                          <p:val>
                                            <p:strVal val="#ppt_w*1.08"/>
                                          </p:val>
                                        </p:tav>
                                        <p:tav tm="100000">
                                          <p:val>
                                            <p:strVal val="#ppt_w"/>
                                          </p:val>
                                        </p:tav>
                                      </p:tavLst>
                                    </p:anim>
                                    <p:anim calcmode="lin" valueType="num">
                                      <p:cBhvr additive="base">
                                        <p:cTn id="53" dur="160" fill="hold">
                                          <p:stCondLst>
                                            <p:cond delay="500"/>
                                          </p:stCondLst>
                                        </p:cTn>
                                        <p:tgtEl>
                                          <p:spTgt spid="111"/>
                                        </p:tgtEl>
                                        <p:attrNameLst>
                                          <p:attrName>ppt_h</p:attrName>
                                        </p:attrNameLst>
                                      </p:cBhvr>
                                      <p:tavLst>
                                        <p:tav tm="0">
                                          <p:val>
                                            <p:strVal val="#ppt_h*1.08"/>
                                          </p:val>
                                        </p:tav>
                                        <p:tav tm="100000">
                                          <p:val>
                                            <p:strVal val="#ppt_h"/>
                                          </p:val>
                                        </p:tav>
                                      </p:tavLst>
                                    </p:anim>
                                  </p:childTnLst>
                                </p:cTn>
                              </p:par>
                              <p:par>
                                <p:cTn id="54" presetID="53" presetClass="entr" presetSubtype="16" fill="hold" grpId="0" nodeType="withEffect">
                                  <p:stCondLst>
                                    <p:cond delay="320"/>
                                  </p:stCondLst>
                                  <p:childTnLst>
                                    <p:set>
                                      <p:cBhvr>
                                        <p:cTn id="55" dur="1" fill="hold">
                                          <p:stCondLst>
                                            <p:cond delay="0"/>
                                          </p:stCondLst>
                                        </p:cTn>
                                        <p:tgtEl>
                                          <p:spTgt spid="112"/>
                                        </p:tgtEl>
                                        <p:attrNameLst>
                                          <p:attrName>style.visibility</p:attrName>
                                        </p:attrNameLst>
                                      </p:cBhvr>
                                      <p:to>
                                        <p:strVal val="visible"/>
                                      </p:to>
                                    </p:set>
                                    <p:anim calcmode="lin" valueType="num">
                                      <p:cBhvr additive="base">
                                        <p:cTn id="56" dur="500" decel="100000" fill="hold"/>
                                        <p:tgtEl>
                                          <p:spTgt spid="112"/>
                                        </p:tgtEl>
                                        <p:attrNameLst>
                                          <p:attrName>ppt_w</p:attrName>
                                        </p:attrNameLst>
                                      </p:cBhvr>
                                      <p:tavLst>
                                        <p:tav tm="0">
                                          <p:val>
                                            <p:strVal val="#ppt_w*0.3"/>
                                          </p:val>
                                        </p:tav>
                                        <p:tav tm="100000">
                                          <p:val>
                                            <p:strVal val="#ppt_w*1.08"/>
                                          </p:val>
                                        </p:tav>
                                      </p:tavLst>
                                    </p:anim>
                                    <p:anim calcmode="lin" valueType="num">
                                      <p:cBhvr additive="base">
                                        <p:cTn id="57" dur="500" decel="100000" fill="hold"/>
                                        <p:tgtEl>
                                          <p:spTgt spid="112"/>
                                        </p:tgtEl>
                                        <p:attrNameLst>
                                          <p:attrName>ppt_h</p:attrName>
                                        </p:attrNameLst>
                                      </p:cBhvr>
                                      <p:tavLst>
                                        <p:tav tm="0">
                                          <p:val>
                                            <p:strVal val="#ppt_h*0.3"/>
                                          </p:val>
                                        </p:tav>
                                        <p:tav tm="100000">
                                          <p:val>
                                            <p:strVal val="#ppt_h*1.08"/>
                                          </p:val>
                                        </p:tav>
                                      </p:tavLst>
                                    </p:anim>
                                    <p:animEffect transition="in" filter="fade">
                                      <p:cBhvr>
                                        <p:cTn id="58" dur="250"/>
                                        <p:tgtEl>
                                          <p:spTgt spid="112"/>
                                        </p:tgtEl>
                                      </p:cBhvr>
                                    </p:animEffect>
                                    <p:anim calcmode="lin" valueType="num">
                                      <p:cBhvr additive="base">
                                        <p:cTn id="59" dur="160" fill="hold">
                                          <p:stCondLst>
                                            <p:cond delay="500"/>
                                          </p:stCondLst>
                                        </p:cTn>
                                        <p:tgtEl>
                                          <p:spTgt spid="112"/>
                                        </p:tgtEl>
                                        <p:attrNameLst>
                                          <p:attrName>ppt_w</p:attrName>
                                        </p:attrNameLst>
                                      </p:cBhvr>
                                      <p:tavLst>
                                        <p:tav tm="0">
                                          <p:val>
                                            <p:strVal val="#ppt_w*1.08"/>
                                          </p:val>
                                        </p:tav>
                                        <p:tav tm="100000">
                                          <p:val>
                                            <p:strVal val="#ppt_w"/>
                                          </p:val>
                                        </p:tav>
                                      </p:tavLst>
                                    </p:anim>
                                    <p:anim calcmode="lin" valueType="num">
                                      <p:cBhvr additive="base">
                                        <p:cTn id="60" dur="160" fill="hold">
                                          <p:stCondLst>
                                            <p:cond delay="500"/>
                                          </p:stCondLst>
                                        </p:cTn>
                                        <p:tgtEl>
                                          <p:spTgt spid="112"/>
                                        </p:tgtEl>
                                        <p:attrNameLst>
                                          <p:attrName>ppt_h</p:attrName>
                                        </p:attrNameLst>
                                      </p:cBhvr>
                                      <p:tavLst>
                                        <p:tav tm="0">
                                          <p:val>
                                            <p:strVal val="#ppt_h*1.08"/>
                                          </p:val>
                                        </p:tav>
                                        <p:tav tm="100000">
                                          <p:val>
                                            <p:strVal val="#ppt_h"/>
                                          </p:val>
                                        </p:tav>
                                      </p:tavLst>
                                    </p:anim>
                                  </p:childTnLst>
                                </p:cTn>
                              </p:par>
                              <p:par>
                                <p:cTn id="61" presetID="53" presetClass="entr" presetSubtype="16" fill="hold" grpId="0" nodeType="withEffect">
                                  <p:stCondLst>
                                    <p:cond delay="440"/>
                                  </p:stCondLst>
                                  <p:childTnLst>
                                    <p:set>
                                      <p:cBhvr>
                                        <p:cTn id="62" dur="1" fill="hold">
                                          <p:stCondLst>
                                            <p:cond delay="0"/>
                                          </p:stCondLst>
                                        </p:cTn>
                                        <p:tgtEl>
                                          <p:spTgt spid="113"/>
                                        </p:tgtEl>
                                        <p:attrNameLst>
                                          <p:attrName>style.visibility</p:attrName>
                                        </p:attrNameLst>
                                      </p:cBhvr>
                                      <p:to>
                                        <p:strVal val="visible"/>
                                      </p:to>
                                    </p:set>
                                    <p:anim calcmode="lin" valueType="num">
                                      <p:cBhvr additive="base">
                                        <p:cTn id="63" dur="500" decel="100000" fill="hold"/>
                                        <p:tgtEl>
                                          <p:spTgt spid="113"/>
                                        </p:tgtEl>
                                        <p:attrNameLst>
                                          <p:attrName>ppt_w</p:attrName>
                                        </p:attrNameLst>
                                      </p:cBhvr>
                                      <p:tavLst>
                                        <p:tav tm="0">
                                          <p:val>
                                            <p:strVal val="#ppt_w*0.3"/>
                                          </p:val>
                                        </p:tav>
                                        <p:tav tm="100000">
                                          <p:val>
                                            <p:strVal val="#ppt_w*1.08"/>
                                          </p:val>
                                        </p:tav>
                                      </p:tavLst>
                                    </p:anim>
                                    <p:anim calcmode="lin" valueType="num">
                                      <p:cBhvr additive="base">
                                        <p:cTn id="64" dur="500" decel="100000" fill="hold"/>
                                        <p:tgtEl>
                                          <p:spTgt spid="113"/>
                                        </p:tgtEl>
                                        <p:attrNameLst>
                                          <p:attrName>ppt_h</p:attrName>
                                        </p:attrNameLst>
                                      </p:cBhvr>
                                      <p:tavLst>
                                        <p:tav tm="0">
                                          <p:val>
                                            <p:strVal val="#ppt_h*0.3"/>
                                          </p:val>
                                        </p:tav>
                                        <p:tav tm="100000">
                                          <p:val>
                                            <p:strVal val="#ppt_h*1.08"/>
                                          </p:val>
                                        </p:tav>
                                      </p:tavLst>
                                    </p:anim>
                                    <p:animEffect transition="in" filter="fade">
                                      <p:cBhvr>
                                        <p:cTn id="65" dur="250"/>
                                        <p:tgtEl>
                                          <p:spTgt spid="113"/>
                                        </p:tgtEl>
                                      </p:cBhvr>
                                    </p:animEffect>
                                    <p:anim calcmode="lin" valueType="num">
                                      <p:cBhvr additive="base">
                                        <p:cTn id="66" dur="160" fill="hold">
                                          <p:stCondLst>
                                            <p:cond delay="500"/>
                                          </p:stCondLst>
                                        </p:cTn>
                                        <p:tgtEl>
                                          <p:spTgt spid="113"/>
                                        </p:tgtEl>
                                        <p:attrNameLst>
                                          <p:attrName>ppt_w</p:attrName>
                                        </p:attrNameLst>
                                      </p:cBhvr>
                                      <p:tavLst>
                                        <p:tav tm="0">
                                          <p:val>
                                            <p:strVal val="#ppt_w*1.08"/>
                                          </p:val>
                                        </p:tav>
                                        <p:tav tm="100000">
                                          <p:val>
                                            <p:strVal val="#ppt_w"/>
                                          </p:val>
                                        </p:tav>
                                      </p:tavLst>
                                    </p:anim>
                                    <p:anim calcmode="lin" valueType="num">
                                      <p:cBhvr additive="base">
                                        <p:cTn id="67" dur="160" fill="hold">
                                          <p:stCondLst>
                                            <p:cond delay="500"/>
                                          </p:stCondLst>
                                        </p:cTn>
                                        <p:tgtEl>
                                          <p:spTgt spid="113"/>
                                        </p:tgtEl>
                                        <p:attrNameLst>
                                          <p:attrName>ppt_h</p:attrName>
                                        </p:attrNameLst>
                                      </p:cBhvr>
                                      <p:tavLst>
                                        <p:tav tm="0">
                                          <p:val>
                                            <p:strVal val="#ppt_h*1.08"/>
                                          </p:val>
                                        </p:tav>
                                        <p:tav tm="100000">
                                          <p:val>
                                            <p:strVal val="#ppt_h"/>
                                          </p:val>
                                        </p:tav>
                                      </p:tavLst>
                                    </p:anim>
                                  </p:childTnLst>
                                </p:cTn>
                              </p:par>
                            </p:childTnLst>
                          </p:cTn>
                        </p:par>
                      </p:childTnLst>
                    </p:cTn>
                  </p:par>
                  <p:par>
                    <p:cTn id="68" fill="hold">
                      <p:stCondLst>
                        <p:cond delay="indefinite"/>
                      </p:stCondLst>
                      <p:childTnLst>
                        <p:par>
                          <p:cTn id="69" fill="hold">
                            <p:stCondLst>
                              <p:cond delay="0"/>
                            </p:stCondLst>
                            <p:childTnLst>
                              <p:par>
                                <p:cTn id="70" presetID="42" presetClass="entr" presetSubtype="0" fill="hold" grpId="0" nodeType="clickEffect">
                                  <p:stCondLst>
                                    <p:cond delay="0"/>
                                  </p:stCondLst>
                                  <p:childTnLst>
                                    <p:set>
                                      <p:cBhvr>
                                        <p:cTn id="71" dur="1" fill="hold">
                                          <p:stCondLst>
                                            <p:cond delay="0"/>
                                          </p:stCondLst>
                                        </p:cTn>
                                        <p:tgtEl>
                                          <p:spTgt spid="114"/>
                                        </p:tgtEl>
                                        <p:attrNameLst>
                                          <p:attrName>style.visibility</p:attrName>
                                        </p:attrNameLst>
                                      </p:cBhvr>
                                      <p:to>
                                        <p:strVal val="visible"/>
                                      </p:to>
                                    </p:set>
                                    <p:animEffect transition="in" filter="fade">
                                      <p:cBhvr>
                                        <p:cTn id="72" dur="500"/>
                                        <p:tgtEl>
                                          <p:spTgt spid="114"/>
                                        </p:tgtEl>
                                      </p:cBhvr>
                                    </p:animEffect>
                                    <p:anim calcmode="lin" valueType="num">
                                      <p:cBhvr additive="base">
                                        <p:cTn id="73"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9" grpId="0" animBg="1"/>
      <p:bldP spid="110" grpId="0" animBg="1"/>
      <p:bldP spid="111" grpId="0" animBg="1"/>
      <p:bldP spid="112" grpId="0" animBg="1"/>
      <p:bldP spid="113" grpId="0" animBg="1"/>
      <p:bldP spid="114"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VERIFY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QA Asks: “How Do I Know It Works?”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Maya creates the need for Acceptance Criteria.</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245</a:t>
            </a:r>
            <a:endParaRPr lang="en-US" sz="850" dirty="0"/>
          </a:p>
        </p:txBody>
      </p:sp>
      <p:sp>
        <p:nvSpPr>
          <p:cNvPr id="101" name="s101"/>
          <p:cNvSpPr/>
          <p:nvPr/>
        </p:nvSpPr>
        <p:spPr>
          <a:xfrm>
            <a:off x="543154" y="1993392"/>
            <a:ext cx="566928" cy="566928"/>
          </a:xfrm>
          <a:prstGeom prst="ellipse">
            <a:avLst/>
          </a:prstGeom>
          <a:solidFill>
            <a:srgbClr val="34D399">
              <a:alpha val="22000"/>
            </a:srgbClr>
          </a:solidFill>
          <a:ln w="1905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34D399"/>
                </a:solidFill>
                <a:latin typeface="Segoe UI"/>
                <a:ea typeface="Segoe UI"/>
                <a:cs typeface="Segoe UI"/>
              </a:rPr>
              <a:t>M</a:t>
            </a:r>
            <a:endParaRPr lang="en-US" sz="1612" dirty="0"/>
          </a:p>
        </p:txBody>
      </p:sp>
      <p:sp>
        <p:nvSpPr>
          <p:cNvPr id="102" name="s102"/>
          <p:cNvSpPr/>
          <p:nvPr/>
        </p:nvSpPr>
        <p:spPr>
          <a:xfrm>
            <a:off x="1274674" y="1920240"/>
            <a:ext cx="10356494" cy="777240"/>
          </a:xfrm>
          <a:prstGeom prst="roundRect">
            <a:avLst>
              <a:gd name="adj" fmla="val 14000"/>
            </a:avLst>
          </a:prstGeom>
          <a:solidFill>
            <a:srgbClr val="111B2E"/>
          </a:solidFill>
          <a:ln w="12700">
            <a:solidFill>
              <a:srgbClr val="34D399"/>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34D399"/>
                </a:solidFill>
                <a:latin typeface="Segoe UI"/>
                <a:ea typeface="Segoe UI"/>
                <a:cs typeface="Segoe UI"/>
              </a:rPr>
              <a:t>Maya</a:t>
            </a:r>
            <a:r>
              <a:rPr lang="en-US" sz="1100" b="0" dirty="0">
                <a:solidFill>
                  <a:srgbClr val="94A3B8"/>
                </a:solidFill>
                <a:latin typeface="Segoe UI"/>
                <a:ea typeface="Segoe UI"/>
                <a:cs typeface="Segoe UI"/>
              </a:rPr>
              <a:t>  ·  QA</a:t>
            </a:r>
            <a:endParaRPr lang="en-US" sz="1100" dirty="0"/>
          </a:p>
          <a:p>
            <a:pPr marL="0" indent="0" algn="l">
              <a:spcBef>
                <a:spcPts val="0"/>
              </a:spcBef>
              <a:spcAft>
                <a:spcPts val="0"/>
              </a:spcAft>
              <a:buNone/>
            </a:pPr>
            <a:r>
              <a:rPr lang="en-US" sz="1600" b="0" dirty="0">
                <a:solidFill>
                  <a:srgbClr val="FFFFFF"/>
                </a:solidFill>
                <a:latin typeface="Segoe UI"/>
                <a:ea typeface="Segoe UI"/>
                <a:cs typeface="Segoe UI"/>
              </a:rPr>
              <a:t>When should I consider appointment booking correct?</a:t>
            </a:r>
            <a:endParaRPr lang="en-US" sz="1600" dirty="0"/>
          </a:p>
        </p:txBody>
      </p:sp>
      <p:sp>
        <p:nvSpPr>
          <p:cNvPr id="103" name="s103"/>
          <p:cNvSpPr/>
          <p:nvPr/>
        </p:nvSpPr>
        <p:spPr>
          <a:xfrm>
            <a:off x="543154" y="2971800"/>
            <a:ext cx="540684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04" name="img104"/>
          <p:cNvPicPr>
            <a:picLocks noChangeAspect="1"/>
          </p:cNvPicPr>
          <p:nvPr/>
        </p:nvPicPr>
        <p:blipFill>
          <a:blip r:embed="rId4"/>
          <a:stretch>
            <a:fillRect/>
          </a:stretch>
        </p:blipFill>
        <p:spPr>
          <a:xfrm>
            <a:off x="698602" y="3063240"/>
            <a:ext cx="365760" cy="365760"/>
          </a:xfrm>
          <a:prstGeom prst="rect">
            <a:avLst/>
          </a:prstGeom>
        </p:spPr>
      </p:pic>
      <p:sp>
        <p:nvSpPr>
          <p:cNvPr id="105" name="s105"/>
          <p:cNvSpPr txBox="1"/>
          <p:nvPr/>
        </p:nvSpPr>
        <p:spPr>
          <a:xfrm>
            <a:off x="1228954" y="2971800"/>
            <a:ext cx="45838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Select a registered patient</a:t>
            </a:r>
            <a:endParaRPr lang="en-US" sz="1400" dirty="0"/>
          </a:p>
        </p:txBody>
      </p:sp>
      <p:sp>
        <p:nvSpPr>
          <p:cNvPr id="106" name="s106"/>
          <p:cNvSpPr/>
          <p:nvPr/>
        </p:nvSpPr>
        <p:spPr>
          <a:xfrm>
            <a:off x="6224321" y="2971800"/>
            <a:ext cx="540684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07" name="img107"/>
          <p:cNvPicPr>
            <a:picLocks noChangeAspect="1"/>
          </p:cNvPicPr>
          <p:nvPr/>
        </p:nvPicPr>
        <p:blipFill>
          <a:blip r:embed="rId4"/>
          <a:stretch>
            <a:fillRect/>
          </a:stretch>
        </p:blipFill>
        <p:spPr>
          <a:xfrm>
            <a:off x="6379769" y="3063240"/>
            <a:ext cx="365760" cy="365760"/>
          </a:xfrm>
          <a:prstGeom prst="rect">
            <a:avLst/>
          </a:prstGeom>
        </p:spPr>
      </p:pic>
      <p:sp>
        <p:nvSpPr>
          <p:cNvPr id="108" name="s108"/>
          <p:cNvSpPr txBox="1"/>
          <p:nvPr/>
        </p:nvSpPr>
        <p:spPr>
          <a:xfrm>
            <a:off x="6910121" y="2971800"/>
            <a:ext cx="45838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Only available slots shown</a:t>
            </a:r>
            <a:endParaRPr lang="en-US" sz="1400" dirty="0"/>
          </a:p>
        </p:txBody>
      </p:sp>
      <p:sp>
        <p:nvSpPr>
          <p:cNvPr id="109" name="s109"/>
          <p:cNvSpPr/>
          <p:nvPr/>
        </p:nvSpPr>
        <p:spPr>
          <a:xfrm>
            <a:off x="543154" y="3630168"/>
            <a:ext cx="540684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10" name="img110"/>
          <p:cNvPicPr>
            <a:picLocks noChangeAspect="1"/>
          </p:cNvPicPr>
          <p:nvPr/>
        </p:nvPicPr>
        <p:blipFill>
          <a:blip r:embed="rId4"/>
          <a:stretch>
            <a:fillRect/>
          </a:stretch>
        </p:blipFill>
        <p:spPr>
          <a:xfrm>
            <a:off x="698602" y="3721608"/>
            <a:ext cx="365760" cy="365760"/>
          </a:xfrm>
          <a:prstGeom prst="rect">
            <a:avLst/>
          </a:prstGeom>
        </p:spPr>
      </p:pic>
      <p:sp>
        <p:nvSpPr>
          <p:cNvPr id="111" name="s111"/>
          <p:cNvSpPr txBox="1"/>
          <p:nvPr/>
        </p:nvSpPr>
        <p:spPr>
          <a:xfrm>
            <a:off x="1228954" y="3630168"/>
            <a:ext cx="45838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No overlapping doctor appointments</a:t>
            </a:r>
            <a:endParaRPr lang="en-US" sz="1400" dirty="0"/>
          </a:p>
        </p:txBody>
      </p:sp>
      <p:sp>
        <p:nvSpPr>
          <p:cNvPr id="112" name="s112"/>
          <p:cNvSpPr/>
          <p:nvPr/>
        </p:nvSpPr>
        <p:spPr>
          <a:xfrm>
            <a:off x="6224321" y="3630168"/>
            <a:ext cx="540684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13" name="img113"/>
          <p:cNvPicPr>
            <a:picLocks noChangeAspect="1"/>
          </p:cNvPicPr>
          <p:nvPr/>
        </p:nvPicPr>
        <p:blipFill>
          <a:blip r:embed="rId4"/>
          <a:stretch>
            <a:fillRect/>
          </a:stretch>
        </p:blipFill>
        <p:spPr>
          <a:xfrm>
            <a:off x="6379769" y="3721608"/>
            <a:ext cx="365760" cy="365760"/>
          </a:xfrm>
          <a:prstGeom prst="rect">
            <a:avLst/>
          </a:prstGeom>
        </p:spPr>
      </p:pic>
      <p:sp>
        <p:nvSpPr>
          <p:cNvPr id="114" name="s114"/>
          <p:cNvSpPr txBox="1"/>
          <p:nvPr/>
        </p:nvSpPr>
        <p:spPr>
          <a:xfrm>
            <a:off x="6910121" y="3630168"/>
            <a:ext cx="45838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Required fields validated</a:t>
            </a:r>
            <a:endParaRPr lang="en-US" sz="1400" dirty="0"/>
          </a:p>
        </p:txBody>
      </p:sp>
      <p:sp>
        <p:nvSpPr>
          <p:cNvPr id="115" name="s115"/>
          <p:cNvSpPr/>
          <p:nvPr/>
        </p:nvSpPr>
        <p:spPr>
          <a:xfrm>
            <a:off x="543154" y="4288536"/>
            <a:ext cx="540684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16" name="img116"/>
          <p:cNvPicPr>
            <a:picLocks noChangeAspect="1"/>
          </p:cNvPicPr>
          <p:nvPr/>
        </p:nvPicPr>
        <p:blipFill>
          <a:blip r:embed="rId4"/>
          <a:stretch>
            <a:fillRect/>
          </a:stretch>
        </p:blipFill>
        <p:spPr>
          <a:xfrm>
            <a:off x="698602" y="4379976"/>
            <a:ext cx="365760" cy="365760"/>
          </a:xfrm>
          <a:prstGeom prst="rect">
            <a:avLst/>
          </a:prstGeom>
        </p:spPr>
      </p:pic>
      <p:sp>
        <p:nvSpPr>
          <p:cNvPr id="117" name="s117"/>
          <p:cNvSpPr txBox="1"/>
          <p:nvPr/>
        </p:nvSpPr>
        <p:spPr>
          <a:xfrm>
            <a:off x="1228954" y="4288536"/>
            <a:ext cx="45838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Unique appointment number</a:t>
            </a:r>
            <a:endParaRPr lang="en-US" sz="1400" dirty="0"/>
          </a:p>
        </p:txBody>
      </p:sp>
      <p:sp>
        <p:nvSpPr>
          <p:cNvPr id="118" name="s118"/>
          <p:cNvSpPr/>
          <p:nvPr/>
        </p:nvSpPr>
        <p:spPr>
          <a:xfrm>
            <a:off x="6224321" y="4288536"/>
            <a:ext cx="540684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19" name="img119"/>
          <p:cNvPicPr>
            <a:picLocks noChangeAspect="1"/>
          </p:cNvPicPr>
          <p:nvPr/>
        </p:nvPicPr>
        <p:blipFill>
          <a:blip r:embed="rId4"/>
          <a:stretch>
            <a:fillRect/>
          </a:stretch>
        </p:blipFill>
        <p:spPr>
          <a:xfrm>
            <a:off x="6379769" y="4379976"/>
            <a:ext cx="365760" cy="365760"/>
          </a:xfrm>
          <a:prstGeom prst="rect">
            <a:avLst/>
          </a:prstGeom>
        </p:spPr>
      </p:pic>
      <p:sp>
        <p:nvSpPr>
          <p:cNvPr id="120" name="s120"/>
          <p:cNvSpPr txBox="1"/>
          <p:nvPr/>
        </p:nvSpPr>
        <p:spPr>
          <a:xfrm>
            <a:off x="6910121" y="4288536"/>
            <a:ext cx="45838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Appears on the doctor schedule</a:t>
            </a:r>
            <a:endParaRPr lang="en-US" sz="1400" dirty="0"/>
          </a:p>
        </p:txBody>
      </p:sp>
      <p:sp>
        <p:nvSpPr>
          <p:cNvPr id="121" name="s121"/>
          <p:cNvSpPr/>
          <p:nvPr/>
        </p:nvSpPr>
        <p:spPr>
          <a:xfrm>
            <a:off x="543154" y="4946904"/>
            <a:ext cx="540684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22" name="img122"/>
          <p:cNvPicPr>
            <a:picLocks noChangeAspect="1"/>
          </p:cNvPicPr>
          <p:nvPr/>
        </p:nvPicPr>
        <p:blipFill>
          <a:blip r:embed="rId4"/>
          <a:stretch>
            <a:fillRect/>
          </a:stretch>
        </p:blipFill>
        <p:spPr>
          <a:xfrm>
            <a:off x="698602" y="5038344"/>
            <a:ext cx="365760" cy="365760"/>
          </a:xfrm>
          <a:prstGeom prst="rect">
            <a:avLst/>
          </a:prstGeom>
        </p:spPr>
      </p:pic>
      <p:sp>
        <p:nvSpPr>
          <p:cNvPr id="123" name="s123"/>
          <p:cNvSpPr txBox="1"/>
          <p:nvPr/>
        </p:nvSpPr>
        <p:spPr>
          <a:xfrm>
            <a:off x="1228954" y="4946904"/>
            <a:ext cx="45838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Confirmation message shown</a:t>
            </a:r>
            <a:endParaRPr lang="en-US" sz="1400" dirty="0"/>
          </a:p>
        </p:txBody>
      </p:sp>
      <p:sp>
        <p:nvSpPr>
          <p:cNvPr id="124" name="s124"/>
          <p:cNvSpPr/>
          <p:nvPr/>
        </p:nvSpPr>
        <p:spPr>
          <a:xfrm>
            <a:off x="6224321" y="4946904"/>
            <a:ext cx="540684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25" name="img125"/>
          <p:cNvPicPr>
            <a:picLocks noChangeAspect="1"/>
          </p:cNvPicPr>
          <p:nvPr/>
        </p:nvPicPr>
        <p:blipFill>
          <a:blip r:embed="rId4"/>
          <a:stretch>
            <a:fillRect/>
          </a:stretch>
        </p:blipFill>
        <p:spPr>
          <a:xfrm>
            <a:off x="6379769" y="5038344"/>
            <a:ext cx="365760" cy="365760"/>
          </a:xfrm>
          <a:prstGeom prst="rect">
            <a:avLst/>
          </a:prstGeom>
        </p:spPr>
      </p:pic>
      <p:sp>
        <p:nvSpPr>
          <p:cNvPr id="126" name="s126"/>
          <p:cNvSpPr txBox="1"/>
          <p:nvPr/>
        </p:nvSpPr>
        <p:spPr>
          <a:xfrm>
            <a:off x="6910121" y="4946904"/>
            <a:ext cx="45838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Unauthorized users blocked</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anim calcmode="lin" valueType="num">
                                      <p:cBhvr additive="base">
                                        <p:cTn id="18" dur="500" decel="100000" fill="hold"/>
                                        <p:tgtEl>
                                          <p:spTgt spid="103"/>
                                        </p:tgtEl>
                                        <p:attrNameLst>
                                          <p:attrName>ppt_y</p:attrName>
                                        </p:attrNameLst>
                                      </p:cBhvr>
                                      <p:tavLst>
                                        <p:tav tm="0">
                                          <p:val>
                                            <p:strVal val="#ppt_y+0.06"/>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05"/>
                                        </p:tgtEl>
                                        <p:attrNameLst>
                                          <p:attrName>style.visibility</p:attrName>
                                        </p:attrNameLst>
                                      </p:cBhvr>
                                      <p:to>
                                        <p:strVal val="visible"/>
                                      </p:to>
                                    </p:set>
                                    <p:animEffect transition="in" filter="fade">
                                      <p:cBhvr>
                                        <p:cTn id="21" dur="500"/>
                                        <p:tgtEl>
                                          <p:spTgt spid="105"/>
                                        </p:tgtEl>
                                      </p:cBhvr>
                                    </p:animEffect>
                                    <p:anim calcmode="lin" valueType="num">
                                      <p:cBhvr additive="base">
                                        <p:cTn id="22" dur="500" decel="100000" fill="hold"/>
                                        <p:tgtEl>
                                          <p:spTgt spid="105"/>
                                        </p:tgtEl>
                                        <p:attrNameLst>
                                          <p:attrName>ppt_y</p:attrName>
                                        </p:attrNameLst>
                                      </p:cBhvr>
                                      <p:tavLst>
                                        <p:tav tm="0">
                                          <p:val>
                                            <p:strVal val="#ppt_y+0.06"/>
                                          </p:val>
                                        </p:tav>
                                        <p:tav tm="100000">
                                          <p:val>
                                            <p:strVal val="#ppt_y"/>
                                          </p:val>
                                        </p:tav>
                                      </p:tavLst>
                                    </p:anim>
                                  </p:childTnLst>
                                </p:cTn>
                              </p:par>
                              <p:par>
                                <p:cTn id="23" presetID="53" presetClass="entr" presetSubtype="16" fill="hold" nodeType="withEffect">
                                  <p:stCondLst>
                                    <p:cond delay="120"/>
                                  </p:stCondLst>
                                  <p:childTnLst>
                                    <p:set>
                                      <p:cBhvr>
                                        <p:cTn id="24" dur="1" fill="hold">
                                          <p:stCondLst>
                                            <p:cond delay="0"/>
                                          </p:stCondLst>
                                        </p:cTn>
                                        <p:tgtEl>
                                          <p:spTgt spid="104"/>
                                        </p:tgtEl>
                                        <p:attrNameLst>
                                          <p:attrName>style.visibility</p:attrName>
                                        </p:attrNameLst>
                                      </p:cBhvr>
                                      <p:to>
                                        <p:strVal val="visible"/>
                                      </p:to>
                                    </p:set>
                                    <p:anim calcmode="lin" valueType="num">
                                      <p:cBhvr additive="base">
                                        <p:cTn id="25"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26" dur="500" decel="100000" fill="hold"/>
                                        <p:tgtEl>
                                          <p:spTgt spid="104"/>
                                        </p:tgtEl>
                                        <p:attrNameLst>
                                          <p:attrName>ppt_h</p:attrName>
                                        </p:attrNameLst>
                                      </p:cBhvr>
                                      <p:tavLst>
                                        <p:tav tm="0">
                                          <p:val>
                                            <p:strVal val="#ppt_h*0.3"/>
                                          </p:val>
                                        </p:tav>
                                        <p:tav tm="100000">
                                          <p:val>
                                            <p:strVal val="#ppt_h*1.08"/>
                                          </p:val>
                                        </p:tav>
                                      </p:tavLst>
                                    </p:anim>
                                    <p:animEffect transition="in" filter="fade">
                                      <p:cBhvr>
                                        <p:cTn id="27" dur="250"/>
                                        <p:tgtEl>
                                          <p:spTgt spid="104"/>
                                        </p:tgtEl>
                                      </p:cBhvr>
                                    </p:animEffect>
                                    <p:anim calcmode="lin" valueType="num">
                                      <p:cBhvr additive="base">
                                        <p:cTn id="28"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29"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par>
                                <p:cTn id="30" presetID="42" presetClass="entr" presetSubtype="0" fill="hold" grpId="0" nodeType="withEffect">
                                  <p:stCondLst>
                                    <p:cond delay="180"/>
                                  </p:stCondLst>
                                  <p:childTnLst>
                                    <p:set>
                                      <p:cBhvr>
                                        <p:cTn id="31" dur="1" fill="hold">
                                          <p:stCondLst>
                                            <p:cond delay="0"/>
                                          </p:stCondLst>
                                        </p:cTn>
                                        <p:tgtEl>
                                          <p:spTgt spid="106"/>
                                        </p:tgtEl>
                                        <p:attrNameLst>
                                          <p:attrName>style.visibility</p:attrName>
                                        </p:attrNameLst>
                                      </p:cBhvr>
                                      <p:to>
                                        <p:strVal val="visible"/>
                                      </p:to>
                                    </p:set>
                                    <p:animEffect transition="in" filter="fade">
                                      <p:cBhvr>
                                        <p:cTn id="32" dur="500"/>
                                        <p:tgtEl>
                                          <p:spTgt spid="106"/>
                                        </p:tgtEl>
                                      </p:cBhvr>
                                    </p:animEffect>
                                    <p:anim calcmode="lin" valueType="num">
                                      <p:cBhvr additive="base">
                                        <p:cTn id="33" dur="500" decel="100000" fill="hold"/>
                                        <p:tgtEl>
                                          <p:spTgt spid="106"/>
                                        </p:tgtEl>
                                        <p:attrNameLst>
                                          <p:attrName>ppt_y</p:attrName>
                                        </p:attrNameLst>
                                      </p:cBhvr>
                                      <p:tavLst>
                                        <p:tav tm="0">
                                          <p:val>
                                            <p:strVal val="#ppt_y+0.06"/>
                                          </p:val>
                                        </p:tav>
                                        <p:tav tm="100000">
                                          <p:val>
                                            <p:strVal val="#ppt_y"/>
                                          </p:val>
                                        </p:tav>
                                      </p:tavLst>
                                    </p:anim>
                                  </p:childTnLst>
                                </p:cTn>
                              </p:par>
                              <p:par>
                                <p:cTn id="34" presetID="42" presetClass="entr" presetSubtype="0" fill="hold" grpId="0" nodeType="withEffect">
                                  <p:stCondLst>
                                    <p:cond delay="180"/>
                                  </p:stCondLst>
                                  <p:childTnLst>
                                    <p:set>
                                      <p:cBhvr>
                                        <p:cTn id="35" dur="1" fill="hold">
                                          <p:stCondLst>
                                            <p:cond delay="0"/>
                                          </p:stCondLst>
                                        </p:cTn>
                                        <p:tgtEl>
                                          <p:spTgt spid="108"/>
                                        </p:tgtEl>
                                        <p:attrNameLst>
                                          <p:attrName>style.visibility</p:attrName>
                                        </p:attrNameLst>
                                      </p:cBhvr>
                                      <p:to>
                                        <p:strVal val="visible"/>
                                      </p:to>
                                    </p:set>
                                    <p:animEffect transition="in" filter="fade">
                                      <p:cBhvr>
                                        <p:cTn id="36" dur="500"/>
                                        <p:tgtEl>
                                          <p:spTgt spid="108"/>
                                        </p:tgtEl>
                                      </p:cBhvr>
                                    </p:animEffect>
                                    <p:anim calcmode="lin" valueType="num">
                                      <p:cBhvr additive="base">
                                        <p:cTn id="37" dur="500" decel="100000" fill="hold"/>
                                        <p:tgtEl>
                                          <p:spTgt spid="108"/>
                                        </p:tgtEl>
                                        <p:attrNameLst>
                                          <p:attrName>ppt_y</p:attrName>
                                        </p:attrNameLst>
                                      </p:cBhvr>
                                      <p:tavLst>
                                        <p:tav tm="0">
                                          <p:val>
                                            <p:strVal val="#ppt_y+0.06"/>
                                          </p:val>
                                        </p:tav>
                                        <p:tav tm="100000">
                                          <p:val>
                                            <p:strVal val="#ppt_y"/>
                                          </p:val>
                                        </p:tav>
                                      </p:tavLst>
                                    </p:anim>
                                  </p:childTnLst>
                                </p:cTn>
                              </p:par>
                              <p:par>
                                <p:cTn id="38" presetID="53" presetClass="entr" presetSubtype="16" fill="hold" nodeType="withEffect">
                                  <p:stCondLst>
                                    <p:cond delay="300"/>
                                  </p:stCondLst>
                                  <p:childTnLst>
                                    <p:set>
                                      <p:cBhvr>
                                        <p:cTn id="39" dur="1" fill="hold">
                                          <p:stCondLst>
                                            <p:cond delay="0"/>
                                          </p:stCondLst>
                                        </p:cTn>
                                        <p:tgtEl>
                                          <p:spTgt spid="107"/>
                                        </p:tgtEl>
                                        <p:attrNameLst>
                                          <p:attrName>style.visibility</p:attrName>
                                        </p:attrNameLst>
                                      </p:cBhvr>
                                      <p:to>
                                        <p:strVal val="visible"/>
                                      </p:to>
                                    </p:set>
                                    <p:anim calcmode="lin" valueType="num">
                                      <p:cBhvr additive="base">
                                        <p:cTn id="40" dur="50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41" dur="500" decel="100000" fill="hold"/>
                                        <p:tgtEl>
                                          <p:spTgt spid="107"/>
                                        </p:tgtEl>
                                        <p:attrNameLst>
                                          <p:attrName>ppt_h</p:attrName>
                                        </p:attrNameLst>
                                      </p:cBhvr>
                                      <p:tavLst>
                                        <p:tav tm="0">
                                          <p:val>
                                            <p:strVal val="#ppt_h*0.3"/>
                                          </p:val>
                                        </p:tav>
                                        <p:tav tm="100000">
                                          <p:val>
                                            <p:strVal val="#ppt_h*1.08"/>
                                          </p:val>
                                        </p:tav>
                                      </p:tavLst>
                                    </p:anim>
                                    <p:animEffect transition="in" filter="fade">
                                      <p:cBhvr>
                                        <p:cTn id="42" dur="250"/>
                                        <p:tgtEl>
                                          <p:spTgt spid="107"/>
                                        </p:tgtEl>
                                      </p:cBhvr>
                                    </p:animEffect>
                                    <p:anim calcmode="lin" valueType="num">
                                      <p:cBhvr additive="base">
                                        <p:cTn id="43" dur="160" fill="hold">
                                          <p:stCondLst>
                                            <p:cond delay="500"/>
                                          </p:stCondLst>
                                        </p:cTn>
                                        <p:tgtEl>
                                          <p:spTgt spid="107"/>
                                        </p:tgtEl>
                                        <p:attrNameLst>
                                          <p:attrName>ppt_w</p:attrName>
                                        </p:attrNameLst>
                                      </p:cBhvr>
                                      <p:tavLst>
                                        <p:tav tm="0">
                                          <p:val>
                                            <p:strVal val="#ppt_w*1.08"/>
                                          </p:val>
                                        </p:tav>
                                        <p:tav tm="100000">
                                          <p:val>
                                            <p:strVal val="#ppt_w"/>
                                          </p:val>
                                        </p:tav>
                                      </p:tavLst>
                                    </p:anim>
                                    <p:anim calcmode="lin" valueType="num">
                                      <p:cBhvr additive="base">
                                        <p:cTn id="44" dur="160" fill="hold">
                                          <p:stCondLst>
                                            <p:cond delay="500"/>
                                          </p:stCondLst>
                                        </p:cTn>
                                        <p:tgtEl>
                                          <p:spTgt spid="107"/>
                                        </p:tgtEl>
                                        <p:attrNameLst>
                                          <p:attrName>ppt_h</p:attrName>
                                        </p:attrNameLst>
                                      </p:cBhvr>
                                      <p:tavLst>
                                        <p:tav tm="0">
                                          <p:val>
                                            <p:strVal val="#ppt_h*1.08"/>
                                          </p:val>
                                        </p:tav>
                                        <p:tav tm="100000">
                                          <p:val>
                                            <p:strVal val="#ppt_h"/>
                                          </p:val>
                                        </p:tav>
                                      </p:tavLst>
                                    </p:anim>
                                  </p:childTnLst>
                                </p:cTn>
                              </p:par>
                              <p:par>
                                <p:cTn id="45" presetID="42" presetClass="entr" presetSubtype="0" fill="hold" grpId="0" nodeType="withEffect">
                                  <p:stCondLst>
                                    <p:cond delay="360"/>
                                  </p:stCondLst>
                                  <p:childTnLst>
                                    <p:set>
                                      <p:cBhvr>
                                        <p:cTn id="46" dur="1" fill="hold">
                                          <p:stCondLst>
                                            <p:cond delay="0"/>
                                          </p:stCondLst>
                                        </p:cTn>
                                        <p:tgtEl>
                                          <p:spTgt spid="109"/>
                                        </p:tgtEl>
                                        <p:attrNameLst>
                                          <p:attrName>style.visibility</p:attrName>
                                        </p:attrNameLst>
                                      </p:cBhvr>
                                      <p:to>
                                        <p:strVal val="visible"/>
                                      </p:to>
                                    </p:set>
                                    <p:animEffect transition="in" filter="fade">
                                      <p:cBhvr>
                                        <p:cTn id="47" dur="500"/>
                                        <p:tgtEl>
                                          <p:spTgt spid="109"/>
                                        </p:tgtEl>
                                      </p:cBhvr>
                                    </p:animEffect>
                                    <p:anim calcmode="lin" valueType="num">
                                      <p:cBhvr additive="base">
                                        <p:cTn id="48" dur="500" decel="100000" fill="hold"/>
                                        <p:tgtEl>
                                          <p:spTgt spid="109"/>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360"/>
                                  </p:stCondLst>
                                  <p:childTnLst>
                                    <p:set>
                                      <p:cBhvr>
                                        <p:cTn id="50" dur="1" fill="hold">
                                          <p:stCondLst>
                                            <p:cond delay="0"/>
                                          </p:stCondLst>
                                        </p:cTn>
                                        <p:tgtEl>
                                          <p:spTgt spid="111"/>
                                        </p:tgtEl>
                                        <p:attrNameLst>
                                          <p:attrName>style.visibility</p:attrName>
                                        </p:attrNameLst>
                                      </p:cBhvr>
                                      <p:to>
                                        <p:strVal val="visible"/>
                                      </p:to>
                                    </p:set>
                                    <p:animEffect transition="in" filter="fade">
                                      <p:cBhvr>
                                        <p:cTn id="51" dur="500"/>
                                        <p:tgtEl>
                                          <p:spTgt spid="111"/>
                                        </p:tgtEl>
                                      </p:cBhvr>
                                    </p:animEffect>
                                    <p:anim calcmode="lin" valueType="num">
                                      <p:cBhvr additive="base">
                                        <p:cTn id="52" dur="500" decel="100000" fill="hold"/>
                                        <p:tgtEl>
                                          <p:spTgt spid="111"/>
                                        </p:tgtEl>
                                        <p:attrNameLst>
                                          <p:attrName>ppt_y</p:attrName>
                                        </p:attrNameLst>
                                      </p:cBhvr>
                                      <p:tavLst>
                                        <p:tav tm="0">
                                          <p:val>
                                            <p:strVal val="#ppt_y+0.06"/>
                                          </p:val>
                                        </p:tav>
                                        <p:tav tm="100000">
                                          <p:val>
                                            <p:strVal val="#ppt_y"/>
                                          </p:val>
                                        </p:tav>
                                      </p:tavLst>
                                    </p:anim>
                                  </p:childTnLst>
                                </p:cTn>
                              </p:par>
                              <p:par>
                                <p:cTn id="53" presetID="53" presetClass="entr" presetSubtype="16" fill="hold" nodeType="withEffect">
                                  <p:stCondLst>
                                    <p:cond delay="480"/>
                                  </p:stCondLst>
                                  <p:childTnLst>
                                    <p:set>
                                      <p:cBhvr>
                                        <p:cTn id="54" dur="1" fill="hold">
                                          <p:stCondLst>
                                            <p:cond delay="0"/>
                                          </p:stCondLst>
                                        </p:cTn>
                                        <p:tgtEl>
                                          <p:spTgt spid="110"/>
                                        </p:tgtEl>
                                        <p:attrNameLst>
                                          <p:attrName>style.visibility</p:attrName>
                                        </p:attrNameLst>
                                      </p:cBhvr>
                                      <p:to>
                                        <p:strVal val="visible"/>
                                      </p:to>
                                    </p:set>
                                    <p:anim calcmode="lin" valueType="num">
                                      <p:cBhvr additive="base">
                                        <p:cTn id="55" dur="500" decel="100000" fill="hold"/>
                                        <p:tgtEl>
                                          <p:spTgt spid="110"/>
                                        </p:tgtEl>
                                        <p:attrNameLst>
                                          <p:attrName>ppt_w</p:attrName>
                                        </p:attrNameLst>
                                      </p:cBhvr>
                                      <p:tavLst>
                                        <p:tav tm="0">
                                          <p:val>
                                            <p:strVal val="#ppt_w*0.3"/>
                                          </p:val>
                                        </p:tav>
                                        <p:tav tm="100000">
                                          <p:val>
                                            <p:strVal val="#ppt_w*1.08"/>
                                          </p:val>
                                        </p:tav>
                                      </p:tavLst>
                                    </p:anim>
                                    <p:anim calcmode="lin" valueType="num">
                                      <p:cBhvr additive="base">
                                        <p:cTn id="56" dur="500" decel="100000" fill="hold"/>
                                        <p:tgtEl>
                                          <p:spTgt spid="110"/>
                                        </p:tgtEl>
                                        <p:attrNameLst>
                                          <p:attrName>ppt_h</p:attrName>
                                        </p:attrNameLst>
                                      </p:cBhvr>
                                      <p:tavLst>
                                        <p:tav tm="0">
                                          <p:val>
                                            <p:strVal val="#ppt_h*0.3"/>
                                          </p:val>
                                        </p:tav>
                                        <p:tav tm="100000">
                                          <p:val>
                                            <p:strVal val="#ppt_h*1.08"/>
                                          </p:val>
                                        </p:tav>
                                      </p:tavLst>
                                    </p:anim>
                                    <p:animEffect transition="in" filter="fade">
                                      <p:cBhvr>
                                        <p:cTn id="57" dur="250"/>
                                        <p:tgtEl>
                                          <p:spTgt spid="110"/>
                                        </p:tgtEl>
                                      </p:cBhvr>
                                    </p:animEffect>
                                    <p:anim calcmode="lin" valueType="num">
                                      <p:cBhvr additive="base">
                                        <p:cTn id="58" dur="160" fill="hold">
                                          <p:stCondLst>
                                            <p:cond delay="500"/>
                                          </p:stCondLst>
                                        </p:cTn>
                                        <p:tgtEl>
                                          <p:spTgt spid="110"/>
                                        </p:tgtEl>
                                        <p:attrNameLst>
                                          <p:attrName>ppt_w</p:attrName>
                                        </p:attrNameLst>
                                      </p:cBhvr>
                                      <p:tavLst>
                                        <p:tav tm="0">
                                          <p:val>
                                            <p:strVal val="#ppt_w*1.08"/>
                                          </p:val>
                                        </p:tav>
                                        <p:tav tm="100000">
                                          <p:val>
                                            <p:strVal val="#ppt_w"/>
                                          </p:val>
                                        </p:tav>
                                      </p:tavLst>
                                    </p:anim>
                                    <p:anim calcmode="lin" valueType="num">
                                      <p:cBhvr additive="base">
                                        <p:cTn id="59" dur="160" fill="hold">
                                          <p:stCondLst>
                                            <p:cond delay="500"/>
                                          </p:stCondLst>
                                        </p:cTn>
                                        <p:tgtEl>
                                          <p:spTgt spid="110"/>
                                        </p:tgtEl>
                                        <p:attrNameLst>
                                          <p:attrName>ppt_h</p:attrName>
                                        </p:attrNameLst>
                                      </p:cBhvr>
                                      <p:tavLst>
                                        <p:tav tm="0">
                                          <p:val>
                                            <p:strVal val="#ppt_h*1.08"/>
                                          </p:val>
                                        </p:tav>
                                        <p:tav tm="100000">
                                          <p:val>
                                            <p:strVal val="#ppt_h"/>
                                          </p:val>
                                        </p:tav>
                                      </p:tavLst>
                                    </p:anim>
                                  </p:childTnLst>
                                </p:cTn>
                              </p:par>
                              <p:par>
                                <p:cTn id="60" presetID="42" presetClass="entr" presetSubtype="0" fill="hold" grpId="0" nodeType="withEffect">
                                  <p:stCondLst>
                                    <p:cond delay="540"/>
                                  </p:stCondLst>
                                  <p:childTnLst>
                                    <p:set>
                                      <p:cBhvr>
                                        <p:cTn id="61" dur="1" fill="hold">
                                          <p:stCondLst>
                                            <p:cond delay="0"/>
                                          </p:stCondLst>
                                        </p:cTn>
                                        <p:tgtEl>
                                          <p:spTgt spid="112"/>
                                        </p:tgtEl>
                                        <p:attrNameLst>
                                          <p:attrName>style.visibility</p:attrName>
                                        </p:attrNameLst>
                                      </p:cBhvr>
                                      <p:to>
                                        <p:strVal val="visible"/>
                                      </p:to>
                                    </p:set>
                                    <p:animEffect transition="in" filter="fade">
                                      <p:cBhvr>
                                        <p:cTn id="62" dur="500"/>
                                        <p:tgtEl>
                                          <p:spTgt spid="112"/>
                                        </p:tgtEl>
                                      </p:cBhvr>
                                    </p:animEffect>
                                    <p:anim calcmode="lin" valueType="num">
                                      <p:cBhvr additive="base">
                                        <p:cTn id="63" dur="500" decel="100000" fill="hold"/>
                                        <p:tgtEl>
                                          <p:spTgt spid="112"/>
                                        </p:tgtEl>
                                        <p:attrNameLst>
                                          <p:attrName>ppt_y</p:attrName>
                                        </p:attrNameLst>
                                      </p:cBhvr>
                                      <p:tavLst>
                                        <p:tav tm="0">
                                          <p:val>
                                            <p:strVal val="#ppt_y+0.06"/>
                                          </p:val>
                                        </p:tav>
                                        <p:tav tm="100000">
                                          <p:val>
                                            <p:strVal val="#ppt_y"/>
                                          </p:val>
                                        </p:tav>
                                      </p:tavLst>
                                    </p:anim>
                                  </p:childTnLst>
                                </p:cTn>
                              </p:par>
                              <p:par>
                                <p:cTn id="64" presetID="42" presetClass="entr" presetSubtype="0" fill="hold" grpId="0" nodeType="withEffect">
                                  <p:stCondLst>
                                    <p:cond delay="540"/>
                                  </p:stCondLst>
                                  <p:childTnLst>
                                    <p:set>
                                      <p:cBhvr>
                                        <p:cTn id="65" dur="1" fill="hold">
                                          <p:stCondLst>
                                            <p:cond delay="0"/>
                                          </p:stCondLst>
                                        </p:cTn>
                                        <p:tgtEl>
                                          <p:spTgt spid="114"/>
                                        </p:tgtEl>
                                        <p:attrNameLst>
                                          <p:attrName>style.visibility</p:attrName>
                                        </p:attrNameLst>
                                      </p:cBhvr>
                                      <p:to>
                                        <p:strVal val="visible"/>
                                      </p:to>
                                    </p:set>
                                    <p:animEffect transition="in" filter="fade">
                                      <p:cBhvr>
                                        <p:cTn id="66" dur="500"/>
                                        <p:tgtEl>
                                          <p:spTgt spid="114"/>
                                        </p:tgtEl>
                                      </p:cBhvr>
                                    </p:animEffect>
                                    <p:anim calcmode="lin" valueType="num">
                                      <p:cBhvr additive="base">
                                        <p:cTn id="67" dur="500" decel="100000" fill="hold"/>
                                        <p:tgtEl>
                                          <p:spTgt spid="114"/>
                                        </p:tgtEl>
                                        <p:attrNameLst>
                                          <p:attrName>ppt_y</p:attrName>
                                        </p:attrNameLst>
                                      </p:cBhvr>
                                      <p:tavLst>
                                        <p:tav tm="0">
                                          <p:val>
                                            <p:strVal val="#ppt_y+0.06"/>
                                          </p:val>
                                        </p:tav>
                                        <p:tav tm="100000">
                                          <p:val>
                                            <p:strVal val="#ppt_y"/>
                                          </p:val>
                                        </p:tav>
                                      </p:tavLst>
                                    </p:anim>
                                  </p:childTnLst>
                                </p:cTn>
                              </p:par>
                              <p:par>
                                <p:cTn id="68" presetID="53" presetClass="entr" presetSubtype="16" fill="hold" nodeType="withEffect">
                                  <p:stCondLst>
                                    <p:cond delay="660"/>
                                  </p:stCondLst>
                                  <p:childTnLst>
                                    <p:set>
                                      <p:cBhvr>
                                        <p:cTn id="69" dur="1" fill="hold">
                                          <p:stCondLst>
                                            <p:cond delay="0"/>
                                          </p:stCondLst>
                                        </p:cTn>
                                        <p:tgtEl>
                                          <p:spTgt spid="113"/>
                                        </p:tgtEl>
                                        <p:attrNameLst>
                                          <p:attrName>style.visibility</p:attrName>
                                        </p:attrNameLst>
                                      </p:cBhvr>
                                      <p:to>
                                        <p:strVal val="visible"/>
                                      </p:to>
                                    </p:set>
                                    <p:anim calcmode="lin" valueType="num">
                                      <p:cBhvr additive="base">
                                        <p:cTn id="70" dur="500" decel="100000" fill="hold"/>
                                        <p:tgtEl>
                                          <p:spTgt spid="113"/>
                                        </p:tgtEl>
                                        <p:attrNameLst>
                                          <p:attrName>ppt_w</p:attrName>
                                        </p:attrNameLst>
                                      </p:cBhvr>
                                      <p:tavLst>
                                        <p:tav tm="0">
                                          <p:val>
                                            <p:strVal val="#ppt_w*0.3"/>
                                          </p:val>
                                        </p:tav>
                                        <p:tav tm="100000">
                                          <p:val>
                                            <p:strVal val="#ppt_w*1.08"/>
                                          </p:val>
                                        </p:tav>
                                      </p:tavLst>
                                    </p:anim>
                                    <p:anim calcmode="lin" valueType="num">
                                      <p:cBhvr additive="base">
                                        <p:cTn id="71" dur="500" decel="100000" fill="hold"/>
                                        <p:tgtEl>
                                          <p:spTgt spid="113"/>
                                        </p:tgtEl>
                                        <p:attrNameLst>
                                          <p:attrName>ppt_h</p:attrName>
                                        </p:attrNameLst>
                                      </p:cBhvr>
                                      <p:tavLst>
                                        <p:tav tm="0">
                                          <p:val>
                                            <p:strVal val="#ppt_h*0.3"/>
                                          </p:val>
                                        </p:tav>
                                        <p:tav tm="100000">
                                          <p:val>
                                            <p:strVal val="#ppt_h*1.08"/>
                                          </p:val>
                                        </p:tav>
                                      </p:tavLst>
                                    </p:anim>
                                    <p:animEffect transition="in" filter="fade">
                                      <p:cBhvr>
                                        <p:cTn id="72" dur="250"/>
                                        <p:tgtEl>
                                          <p:spTgt spid="113"/>
                                        </p:tgtEl>
                                      </p:cBhvr>
                                    </p:animEffect>
                                    <p:anim calcmode="lin" valueType="num">
                                      <p:cBhvr additive="base">
                                        <p:cTn id="73" dur="160" fill="hold">
                                          <p:stCondLst>
                                            <p:cond delay="500"/>
                                          </p:stCondLst>
                                        </p:cTn>
                                        <p:tgtEl>
                                          <p:spTgt spid="113"/>
                                        </p:tgtEl>
                                        <p:attrNameLst>
                                          <p:attrName>ppt_w</p:attrName>
                                        </p:attrNameLst>
                                      </p:cBhvr>
                                      <p:tavLst>
                                        <p:tav tm="0">
                                          <p:val>
                                            <p:strVal val="#ppt_w*1.08"/>
                                          </p:val>
                                        </p:tav>
                                        <p:tav tm="100000">
                                          <p:val>
                                            <p:strVal val="#ppt_w"/>
                                          </p:val>
                                        </p:tav>
                                      </p:tavLst>
                                    </p:anim>
                                    <p:anim calcmode="lin" valueType="num">
                                      <p:cBhvr additive="base">
                                        <p:cTn id="74" dur="160" fill="hold">
                                          <p:stCondLst>
                                            <p:cond delay="500"/>
                                          </p:stCondLst>
                                        </p:cTn>
                                        <p:tgtEl>
                                          <p:spTgt spid="113"/>
                                        </p:tgtEl>
                                        <p:attrNameLst>
                                          <p:attrName>ppt_h</p:attrName>
                                        </p:attrNameLst>
                                      </p:cBhvr>
                                      <p:tavLst>
                                        <p:tav tm="0">
                                          <p:val>
                                            <p:strVal val="#ppt_h*1.08"/>
                                          </p:val>
                                        </p:tav>
                                        <p:tav tm="100000">
                                          <p:val>
                                            <p:strVal val="#ppt_h"/>
                                          </p:val>
                                        </p:tav>
                                      </p:tavLst>
                                    </p:anim>
                                  </p:childTnLst>
                                </p:cTn>
                              </p:par>
                              <p:par>
                                <p:cTn id="75" presetID="42" presetClass="entr" presetSubtype="0" fill="hold" grpId="0" nodeType="withEffect">
                                  <p:stCondLst>
                                    <p:cond delay="720"/>
                                  </p:stCondLst>
                                  <p:childTnLst>
                                    <p:set>
                                      <p:cBhvr>
                                        <p:cTn id="76" dur="1" fill="hold">
                                          <p:stCondLst>
                                            <p:cond delay="0"/>
                                          </p:stCondLst>
                                        </p:cTn>
                                        <p:tgtEl>
                                          <p:spTgt spid="115"/>
                                        </p:tgtEl>
                                        <p:attrNameLst>
                                          <p:attrName>style.visibility</p:attrName>
                                        </p:attrNameLst>
                                      </p:cBhvr>
                                      <p:to>
                                        <p:strVal val="visible"/>
                                      </p:to>
                                    </p:set>
                                    <p:animEffect transition="in" filter="fade">
                                      <p:cBhvr>
                                        <p:cTn id="77" dur="500"/>
                                        <p:tgtEl>
                                          <p:spTgt spid="115"/>
                                        </p:tgtEl>
                                      </p:cBhvr>
                                    </p:animEffect>
                                    <p:anim calcmode="lin" valueType="num">
                                      <p:cBhvr additive="base">
                                        <p:cTn id="78" dur="500" decel="100000" fill="hold"/>
                                        <p:tgtEl>
                                          <p:spTgt spid="115"/>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720"/>
                                  </p:stCondLst>
                                  <p:childTnLst>
                                    <p:set>
                                      <p:cBhvr>
                                        <p:cTn id="80" dur="1" fill="hold">
                                          <p:stCondLst>
                                            <p:cond delay="0"/>
                                          </p:stCondLst>
                                        </p:cTn>
                                        <p:tgtEl>
                                          <p:spTgt spid="117"/>
                                        </p:tgtEl>
                                        <p:attrNameLst>
                                          <p:attrName>style.visibility</p:attrName>
                                        </p:attrNameLst>
                                      </p:cBhvr>
                                      <p:to>
                                        <p:strVal val="visible"/>
                                      </p:to>
                                    </p:set>
                                    <p:animEffect transition="in" filter="fade">
                                      <p:cBhvr>
                                        <p:cTn id="81" dur="500"/>
                                        <p:tgtEl>
                                          <p:spTgt spid="117"/>
                                        </p:tgtEl>
                                      </p:cBhvr>
                                    </p:animEffect>
                                    <p:anim calcmode="lin" valueType="num">
                                      <p:cBhvr additive="base">
                                        <p:cTn id="82" dur="500" decel="100000" fill="hold"/>
                                        <p:tgtEl>
                                          <p:spTgt spid="117"/>
                                        </p:tgtEl>
                                        <p:attrNameLst>
                                          <p:attrName>ppt_y</p:attrName>
                                        </p:attrNameLst>
                                      </p:cBhvr>
                                      <p:tavLst>
                                        <p:tav tm="0">
                                          <p:val>
                                            <p:strVal val="#ppt_y+0.06"/>
                                          </p:val>
                                        </p:tav>
                                        <p:tav tm="100000">
                                          <p:val>
                                            <p:strVal val="#ppt_y"/>
                                          </p:val>
                                        </p:tav>
                                      </p:tavLst>
                                    </p:anim>
                                  </p:childTnLst>
                                </p:cTn>
                              </p:par>
                              <p:par>
                                <p:cTn id="83" presetID="53" presetClass="entr" presetSubtype="16" fill="hold" nodeType="withEffect">
                                  <p:stCondLst>
                                    <p:cond delay="840"/>
                                  </p:stCondLst>
                                  <p:childTnLst>
                                    <p:set>
                                      <p:cBhvr>
                                        <p:cTn id="84" dur="1" fill="hold">
                                          <p:stCondLst>
                                            <p:cond delay="0"/>
                                          </p:stCondLst>
                                        </p:cTn>
                                        <p:tgtEl>
                                          <p:spTgt spid="116"/>
                                        </p:tgtEl>
                                        <p:attrNameLst>
                                          <p:attrName>style.visibility</p:attrName>
                                        </p:attrNameLst>
                                      </p:cBhvr>
                                      <p:to>
                                        <p:strVal val="visible"/>
                                      </p:to>
                                    </p:set>
                                    <p:anim calcmode="lin" valueType="num">
                                      <p:cBhvr additive="base">
                                        <p:cTn id="85" dur="500" decel="100000" fill="hold"/>
                                        <p:tgtEl>
                                          <p:spTgt spid="116"/>
                                        </p:tgtEl>
                                        <p:attrNameLst>
                                          <p:attrName>ppt_w</p:attrName>
                                        </p:attrNameLst>
                                      </p:cBhvr>
                                      <p:tavLst>
                                        <p:tav tm="0">
                                          <p:val>
                                            <p:strVal val="#ppt_w*0.3"/>
                                          </p:val>
                                        </p:tav>
                                        <p:tav tm="100000">
                                          <p:val>
                                            <p:strVal val="#ppt_w*1.08"/>
                                          </p:val>
                                        </p:tav>
                                      </p:tavLst>
                                    </p:anim>
                                    <p:anim calcmode="lin" valueType="num">
                                      <p:cBhvr additive="base">
                                        <p:cTn id="86" dur="500" decel="100000" fill="hold"/>
                                        <p:tgtEl>
                                          <p:spTgt spid="116"/>
                                        </p:tgtEl>
                                        <p:attrNameLst>
                                          <p:attrName>ppt_h</p:attrName>
                                        </p:attrNameLst>
                                      </p:cBhvr>
                                      <p:tavLst>
                                        <p:tav tm="0">
                                          <p:val>
                                            <p:strVal val="#ppt_h*0.3"/>
                                          </p:val>
                                        </p:tav>
                                        <p:tav tm="100000">
                                          <p:val>
                                            <p:strVal val="#ppt_h*1.08"/>
                                          </p:val>
                                        </p:tav>
                                      </p:tavLst>
                                    </p:anim>
                                    <p:animEffect transition="in" filter="fade">
                                      <p:cBhvr>
                                        <p:cTn id="87" dur="250"/>
                                        <p:tgtEl>
                                          <p:spTgt spid="116"/>
                                        </p:tgtEl>
                                      </p:cBhvr>
                                    </p:animEffect>
                                    <p:anim calcmode="lin" valueType="num">
                                      <p:cBhvr additive="base">
                                        <p:cTn id="88" dur="160" fill="hold">
                                          <p:stCondLst>
                                            <p:cond delay="500"/>
                                          </p:stCondLst>
                                        </p:cTn>
                                        <p:tgtEl>
                                          <p:spTgt spid="116"/>
                                        </p:tgtEl>
                                        <p:attrNameLst>
                                          <p:attrName>ppt_w</p:attrName>
                                        </p:attrNameLst>
                                      </p:cBhvr>
                                      <p:tavLst>
                                        <p:tav tm="0">
                                          <p:val>
                                            <p:strVal val="#ppt_w*1.08"/>
                                          </p:val>
                                        </p:tav>
                                        <p:tav tm="100000">
                                          <p:val>
                                            <p:strVal val="#ppt_w"/>
                                          </p:val>
                                        </p:tav>
                                      </p:tavLst>
                                    </p:anim>
                                    <p:anim calcmode="lin" valueType="num">
                                      <p:cBhvr additive="base">
                                        <p:cTn id="89" dur="160" fill="hold">
                                          <p:stCondLst>
                                            <p:cond delay="500"/>
                                          </p:stCondLst>
                                        </p:cTn>
                                        <p:tgtEl>
                                          <p:spTgt spid="116"/>
                                        </p:tgtEl>
                                        <p:attrNameLst>
                                          <p:attrName>ppt_h</p:attrName>
                                        </p:attrNameLst>
                                      </p:cBhvr>
                                      <p:tavLst>
                                        <p:tav tm="0">
                                          <p:val>
                                            <p:strVal val="#ppt_h*1.08"/>
                                          </p:val>
                                        </p:tav>
                                        <p:tav tm="100000">
                                          <p:val>
                                            <p:strVal val="#ppt_h"/>
                                          </p:val>
                                        </p:tav>
                                      </p:tavLst>
                                    </p:anim>
                                  </p:childTnLst>
                                </p:cTn>
                              </p:par>
                              <p:par>
                                <p:cTn id="90" presetID="42" presetClass="entr" presetSubtype="0" fill="hold" grpId="0" nodeType="withEffect">
                                  <p:stCondLst>
                                    <p:cond delay="900"/>
                                  </p:stCondLst>
                                  <p:childTnLst>
                                    <p:set>
                                      <p:cBhvr>
                                        <p:cTn id="91" dur="1" fill="hold">
                                          <p:stCondLst>
                                            <p:cond delay="0"/>
                                          </p:stCondLst>
                                        </p:cTn>
                                        <p:tgtEl>
                                          <p:spTgt spid="118"/>
                                        </p:tgtEl>
                                        <p:attrNameLst>
                                          <p:attrName>style.visibility</p:attrName>
                                        </p:attrNameLst>
                                      </p:cBhvr>
                                      <p:to>
                                        <p:strVal val="visible"/>
                                      </p:to>
                                    </p:set>
                                    <p:animEffect transition="in" filter="fade">
                                      <p:cBhvr>
                                        <p:cTn id="92" dur="500"/>
                                        <p:tgtEl>
                                          <p:spTgt spid="118"/>
                                        </p:tgtEl>
                                      </p:cBhvr>
                                    </p:animEffect>
                                    <p:anim calcmode="lin" valueType="num">
                                      <p:cBhvr additive="base">
                                        <p:cTn id="93" dur="500" decel="100000" fill="hold"/>
                                        <p:tgtEl>
                                          <p:spTgt spid="118"/>
                                        </p:tgtEl>
                                        <p:attrNameLst>
                                          <p:attrName>ppt_y</p:attrName>
                                        </p:attrNameLst>
                                      </p:cBhvr>
                                      <p:tavLst>
                                        <p:tav tm="0">
                                          <p:val>
                                            <p:strVal val="#ppt_y+0.06"/>
                                          </p:val>
                                        </p:tav>
                                        <p:tav tm="100000">
                                          <p:val>
                                            <p:strVal val="#ppt_y"/>
                                          </p:val>
                                        </p:tav>
                                      </p:tavLst>
                                    </p:anim>
                                  </p:childTnLst>
                                </p:cTn>
                              </p:par>
                              <p:par>
                                <p:cTn id="94" presetID="42" presetClass="entr" presetSubtype="0" fill="hold" grpId="0" nodeType="withEffect">
                                  <p:stCondLst>
                                    <p:cond delay="900"/>
                                  </p:stCondLst>
                                  <p:childTnLst>
                                    <p:set>
                                      <p:cBhvr>
                                        <p:cTn id="95" dur="1" fill="hold">
                                          <p:stCondLst>
                                            <p:cond delay="0"/>
                                          </p:stCondLst>
                                        </p:cTn>
                                        <p:tgtEl>
                                          <p:spTgt spid="120"/>
                                        </p:tgtEl>
                                        <p:attrNameLst>
                                          <p:attrName>style.visibility</p:attrName>
                                        </p:attrNameLst>
                                      </p:cBhvr>
                                      <p:to>
                                        <p:strVal val="visible"/>
                                      </p:to>
                                    </p:set>
                                    <p:animEffect transition="in" filter="fade">
                                      <p:cBhvr>
                                        <p:cTn id="96" dur="500"/>
                                        <p:tgtEl>
                                          <p:spTgt spid="120"/>
                                        </p:tgtEl>
                                      </p:cBhvr>
                                    </p:animEffect>
                                    <p:anim calcmode="lin" valueType="num">
                                      <p:cBhvr additive="base">
                                        <p:cTn id="97" dur="500" decel="100000" fill="hold"/>
                                        <p:tgtEl>
                                          <p:spTgt spid="120"/>
                                        </p:tgtEl>
                                        <p:attrNameLst>
                                          <p:attrName>ppt_y</p:attrName>
                                        </p:attrNameLst>
                                      </p:cBhvr>
                                      <p:tavLst>
                                        <p:tav tm="0">
                                          <p:val>
                                            <p:strVal val="#ppt_y+0.06"/>
                                          </p:val>
                                        </p:tav>
                                        <p:tav tm="100000">
                                          <p:val>
                                            <p:strVal val="#ppt_y"/>
                                          </p:val>
                                        </p:tav>
                                      </p:tavLst>
                                    </p:anim>
                                  </p:childTnLst>
                                </p:cTn>
                              </p:par>
                              <p:par>
                                <p:cTn id="98" presetID="53" presetClass="entr" presetSubtype="16" fill="hold" nodeType="withEffect">
                                  <p:stCondLst>
                                    <p:cond delay="1020"/>
                                  </p:stCondLst>
                                  <p:childTnLst>
                                    <p:set>
                                      <p:cBhvr>
                                        <p:cTn id="99" dur="1" fill="hold">
                                          <p:stCondLst>
                                            <p:cond delay="0"/>
                                          </p:stCondLst>
                                        </p:cTn>
                                        <p:tgtEl>
                                          <p:spTgt spid="119"/>
                                        </p:tgtEl>
                                        <p:attrNameLst>
                                          <p:attrName>style.visibility</p:attrName>
                                        </p:attrNameLst>
                                      </p:cBhvr>
                                      <p:to>
                                        <p:strVal val="visible"/>
                                      </p:to>
                                    </p:set>
                                    <p:anim calcmode="lin" valueType="num">
                                      <p:cBhvr additive="base">
                                        <p:cTn id="100" dur="500" decel="100000" fill="hold"/>
                                        <p:tgtEl>
                                          <p:spTgt spid="119"/>
                                        </p:tgtEl>
                                        <p:attrNameLst>
                                          <p:attrName>ppt_w</p:attrName>
                                        </p:attrNameLst>
                                      </p:cBhvr>
                                      <p:tavLst>
                                        <p:tav tm="0">
                                          <p:val>
                                            <p:strVal val="#ppt_w*0.3"/>
                                          </p:val>
                                        </p:tav>
                                        <p:tav tm="100000">
                                          <p:val>
                                            <p:strVal val="#ppt_w*1.08"/>
                                          </p:val>
                                        </p:tav>
                                      </p:tavLst>
                                    </p:anim>
                                    <p:anim calcmode="lin" valueType="num">
                                      <p:cBhvr additive="base">
                                        <p:cTn id="101" dur="500" decel="100000" fill="hold"/>
                                        <p:tgtEl>
                                          <p:spTgt spid="119"/>
                                        </p:tgtEl>
                                        <p:attrNameLst>
                                          <p:attrName>ppt_h</p:attrName>
                                        </p:attrNameLst>
                                      </p:cBhvr>
                                      <p:tavLst>
                                        <p:tav tm="0">
                                          <p:val>
                                            <p:strVal val="#ppt_h*0.3"/>
                                          </p:val>
                                        </p:tav>
                                        <p:tav tm="100000">
                                          <p:val>
                                            <p:strVal val="#ppt_h*1.08"/>
                                          </p:val>
                                        </p:tav>
                                      </p:tavLst>
                                    </p:anim>
                                    <p:animEffect transition="in" filter="fade">
                                      <p:cBhvr>
                                        <p:cTn id="102" dur="250"/>
                                        <p:tgtEl>
                                          <p:spTgt spid="119"/>
                                        </p:tgtEl>
                                      </p:cBhvr>
                                    </p:animEffect>
                                    <p:anim calcmode="lin" valueType="num">
                                      <p:cBhvr additive="base">
                                        <p:cTn id="103" dur="160" fill="hold">
                                          <p:stCondLst>
                                            <p:cond delay="500"/>
                                          </p:stCondLst>
                                        </p:cTn>
                                        <p:tgtEl>
                                          <p:spTgt spid="119"/>
                                        </p:tgtEl>
                                        <p:attrNameLst>
                                          <p:attrName>ppt_w</p:attrName>
                                        </p:attrNameLst>
                                      </p:cBhvr>
                                      <p:tavLst>
                                        <p:tav tm="0">
                                          <p:val>
                                            <p:strVal val="#ppt_w*1.08"/>
                                          </p:val>
                                        </p:tav>
                                        <p:tav tm="100000">
                                          <p:val>
                                            <p:strVal val="#ppt_w"/>
                                          </p:val>
                                        </p:tav>
                                      </p:tavLst>
                                    </p:anim>
                                    <p:anim calcmode="lin" valueType="num">
                                      <p:cBhvr additive="base">
                                        <p:cTn id="104" dur="160" fill="hold">
                                          <p:stCondLst>
                                            <p:cond delay="500"/>
                                          </p:stCondLst>
                                        </p:cTn>
                                        <p:tgtEl>
                                          <p:spTgt spid="119"/>
                                        </p:tgtEl>
                                        <p:attrNameLst>
                                          <p:attrName>ppt_h</p:attrName>
                                        </p:attrNameLst>
                                      </p:cBhvr>
                                      <p:tavLst>
                                        <p:tav tm="0">
                                          <p:val>
                                            <p:strVal val="#ppt_h*1.08"/>
                                          </p:val>
                                        </p:tav>
                                        <p:tav tm="100000">
                                          <p:val>
                                            <p:strVal val="#ppt_h"/>
                                          </p:val>
                                        </p:tav>
                                      </p:tavLst>
                                    </p:anim>
                                  </p:childTnLst>
                                </p:cTn>
                              </p:par>
                              <p:par>
                                <p:cTn id="105" presetID="42" presetClass="entr" presetSubtype="0" fill="hold" grpId="0" nodeType="withEffect">
                                  <p:stCondLst>
                                    <p:cond delay="1080"/>
                                  </p:stCondLst>
                                  <p:childTnLst>
                                    <p:set>
                                      <p:cBhvr>
                                        <p:cTn id="106" dur="1" fill="hold">
                                          <p:stCondLst>
                                            <p:cond delay="0"/>
                                          </p:stCondLst>
                                        </p:cTn>
                                        <p:tgtEl>
                                          <p:spTgt spid="121"/>
                                        </p:tgtEl>
                                        <p:attrNameLst>
                                          <p:attrName>style.visibility</p:attrName>
                                        </p:attrNameLst>
                                      </p:cBhvr>
                                      <p:to>
                                        <p:strVal val="visible"/>
                                      </p:to>
                                    </p:set>
                                    <p:animEffect transition="in" filter="fade">
                                      <p:cBhvr>
                                        <p:cTn id="107" dur="500"/>
                                        <p:tgtEl>
                                          <p:spTgt spid="121"/>
                                        </p:tgtEl>
                                      </p:cBhvr>
                                    </p:animEffect>
                                    <p:anim calcmode="lin" valueType="num">
                                      <p:cBhvr additive="base">
                                        <p:cTn id="108" dur="500" decel="100000" fill="hold"/>
                                        <p:tgtEl>
                                          <p:spTgt spid="121"/>
                                        </p:tgtEl>
                                        <p:attrNameLst>
                                          <p:attrName>ppt_y</p:attrName>
                                        </p:attrNameLst>
                                      </p:cBhvr>
                                      <p:tavLst>
                                        <p:tav tm="0">
                                          <p:val>
                                            <p:strVal val="#ppt_y+0.06"/>
                                          </p:val>
                                        </p:tav>
                                        <p:tav tm="100000">
                                          <p:val>
                                            <p:strVal val="#ppt_y"/>
                                          </p:val>
                                        </p:tav>
                                      </p:tavLst>
                                    </p:anim>
                                  </p:childTnLst>
                                </p:cTn>
                              </p:par>
                              <p:par>
                                <p:cTn id="109" presetID="42" presetClass="entr" presetSubtype="0" fill="hold" grpId="0" nodeType="withEffect">
                                  <p:stCondLst>
                                    <p:cond delay="1080"/>
                                  </p:stCondLst>
                                  <p:childTnLst>
                                    <p:set>
                                      <p:cBhvr>
                                        <p:cTn id="110" dur="1" fill="hold">
                                          <p:stCondLst>
                                            <p:cond delay="0"/>
                                          </p:stCondLst>
                                        </p:cTn>
                                        <p:tgtEl>
                                          <p:spTgt spid="123"/>
                                        </p:tgtEl>
                                        <p:attrNameLst>
                                          <p:attrName>style.visibility</p:attrName>
                                        </p:attrNameLst>
                                      </p:cBhvr>
                                      <p:to>
                                        <p:strVal val="visible"/>
                                      </p:to>
                                    </p:set>
                                    <p:animEffect transition="in" filter="fade">
                                      <p:cBhvr>
                                        <p:cTn id="111" dur="500"/>
                                        <p:tgtEl>
                                          <p:spTgt spid="123"/>
                                        </p:tgtEl>
                                      </p:cBhvr>
                                    </p:animEffect>
                                    <p:anim calcmode="lin" valueType="num">
                                      <p:cBhvr additive="base">
                                        <p:cTn id="112" dur="500" decel="100000" fill="hold"/>
                                        <p:tgtEl>
                                          <p:spTgt spid="123"/>
                                        </p:tgtEl>
                                        <p:attrNameLst>
                                          <p:attrName>ppt_y</p:attrName>
                                        </p:attrNameLst>
                                      </p:cBhvr>
                                      <p:tavLst>
                                        <p:tav tm="0">
                                          <p:val>
                                            <p:strVal val="#ppt_y+0.06"/>
                                          </p:val>
                                        </p:tav>
                                        <p:tav tm="100000">
                                          <p:val>
                                            <p:strVal val="#ppt_y"/>
                                          </p:val>
                                        </p:tav>
                                      </p:tavLst>
                                    </p:anim>
                                  </p:childTnLst>
                                </p:cTn>
                              </p:par>
                              <p:par>
                                <p:cTn id="113" presetID="53" presetClass="entr" presetSubtype="16" fill="hold" nodeType="withEffect">
                                  <p:stCondLst>
                                    <p:cond delay="1200"/>
                                  </p:stCondLst>
                                  <p:childTnLst>
                                    <p:set>
                                      <p:cBhvr>
                                        <p:cTn id="114" dur="1" fill="hold">
                                          <p:stCondLst>
                                            <p:cond delay="0"/>
                                          </p:stCondLst>
                                        </p:cTn>
                                        <p:tgtEl>
                                          <p:spTgt spid="122"/>
                                        </p:tgtEl>
                                        <p:attrNameLst>
                                          <p:attrName>style.visibility</p:attrName>
                                        </p:attrNameLst>
                                      </p:cBhvr>
                                      <p:to>
                                        <p:strVal val="visible"/>
                                      </p:to>
                                    </p:set>
                                    <p:anim calcmode="lin" valueType="num">
                                      <p:cBhvr additive="base">
                                        <p:cTn id="115" dur="500" decel="100000" fill="hold"/>
                                        <p:tgtEl>
                                          <p:spTgt spid="122"/>
                                        </p:tgtEl>
                                        <p:attrNameLst>
                                          <p:attrName>ppt_w</p:attrName>
                                        </p:attrNameLst>
                                      </p:cBhvr>
                                      <p:tavLst>
                                        <p:tav tm="0">
                                          <p:val>
                                            <p:strVal val="#ppt_w*0.3"/>
                                          </p:val>
                                        </p:tav>
                                        <p:tav tm="100000">
                                          <p:val>
                                            <p:strVal val="#ppt_w*1.08"/>
                                          </p:val>
                                        </p:tav>
                                      </p:tavLst>
                                    </p:anim>
                                    <p:anim calcmode="lin" valueType="num">
                                      <p:cBhvr additive="base">
                                        <p:cTn id="116" dur="500" decel="100000" fill="hold"/>
                                        <p:tgtEl>
                                          <p:spTgt spid="122"/>
                                        </p:tgtEl>
                                        <p:attrNameLst>
                                          <p:attrName>ppt_h</p:attrName>
                                        </p:attrNameLst>
                                      </p:cBhvr>
                                      <p:tavLst>
                                        <p:tav tm="0">
                                          <p:val>
                                            <p:strVal val="#ppt_h*0.3"/>
                                          </p:val>
                                        </p:tav>
                                        <p:tav tm="100000">
                                          <p:val>
                                            <p:strVal val="#ppt_h*1.08"/>
                                          </p:val>
                                        </p:tav>
                                      </p:tavLst>
                                    </p:anim>
                                    <p:animEffect transition="in" filter="fade">
                                      <p:cBhvr>
                                        <p:cTn id="117" dur="250"/>
                                        <p:tgtEl>
                                          <p:spTgt spid="122"/>
                                        </p:tgtEl>
                                      </p:cBhvr>
                                    </p:animEffect>
                                    <p:anim calcmode="lin" valueType="num">
                                      <p:cBhvr additive="base">
                                        <p:cTn id="118" dur="160" fill="hold">
                                          <p:stCondLst>
                                            <p:cond delay="500"/>
                                          </p:stCondLst>
                                        </p:cTn>
                                        <p:tgtEl>
                                          <p:spTgt spid="122"/>
                                        </p:tgtEl>
                                        <p:attrNameLst>
                                          <p:attrName>ppt_w</p:attrName>
                                        </p:attrNameLst>
                                      </p:cBhvr>
                                      <p:tavLst>
                                        <p:tav tm="0">
                                          <p:val>
                                            <p:strVal val="#ppt_w*1.08"/>
                                          </p:val>
                                        </p:tav>
                                        <p:tav tm="100000">
                                          <p:val>
                                            <p:strVal val="#ppt_w"/>
                                          </p:val>
                                        </p:tav>
                                      </p:tavLst>
                                    </p:anim>
                                    <p:anim calcmode="lin" valueType="num">
                                      <p:cBhvr additive="base">
                                        <p:cTn id="119" dur="160" fill="hold">
                                          <p:stCondLst>
                                            <p:cond delay="500"/>
                                          </p:stCondLst>
                                        </p:cTn>
                                        <p:tgtEl>
                                          <p:spTgt spid="122"/>
                                        </p:tgtEl>
                                        <p:attrNameLst>
                                          <p:attrName>ppt_h</p:attrName>
                                        </p:attrNameLst>
                                      </p:cBhvr>
                                      <p:tavLst>
                                        <p:tav tm="0">
                                          <p:val>
                                            <p:strVal val="#ppt_h*1.08"/>
                                          </p:val>
                                        </p:tav>
                                        <p:tav tm="100000">
                                          <p:val>
                                            <p:strVal val="#ppt_h"/>
                                          </p:val>
                                        </p:tav>
                                      </p:tavLst>
                                    </p:anim>
                                  </p:childTnLst>
                                </p:cTn>
                              </p:par>
                              <p:par>
                                <p:cTn id="120" presetID="42" presetClass="entr" presetSubtype="0" fill="hold" grpId="0" nodeType="withEffect">
                                  <p:stCondLst>
                                    <p:cond delay="1260"/>
                                  </p:stCondLst>
                                  <p:childTnLst>
                                    <p:set>
                                      <p:cBhvr>
                                        <p:cTn id="121" dur="1" fill="hold">
                                          <p:stCondLst>
                                            <p:cond delay="0"/>
                                          </p:stCondLst>
                                        </p:cTn>
                                        <p:tgtEl>
                                          <p:spTgt spid="124"/>
                                        </p:tgtEl>
                                        <p:attrNameLst>
                                          <p:attrName>style.visibility</p:attrName>
                                        </p:attrNameLst>
                                      </p:cBhvr>
                                      <p:to>
                                        <p:strVal val="visible"/>
                                      </p:to>
                                    </p:set>
                                    <p:animEffect transition="in" filter="fade">
                                      <p:cBhvr>
                                        <p:cTn id="122" dur="500"/>
                                        <p:tgtEl>
                                          <p:spTgt spid="124"/>
                                        </p:tgtEl>
                                      </p:cBhvr>
                                    </p:animEffect>
                                    <p:anim calcmode="lin" valueType="num">
                                      <p:cBhvr additive="base">
                                        <p:cTn id="123" dur="500" decel="100000" fill="hold"/>
                                        <p:tgtEl>
                                          <p:spTgt spid="124"/>
                                        </p:tgtEl>
                                        <p:attrNameLst>
                                          <p:attrName>ppt_y</p:attrName>
                                        </p:attrNameLst>
                                      </p:cBhvr>
                                      <p:tavLst>
                                        <p:tav tm="0">
                                          <p:val>
                                            <p:strVal val="#ppt_y+0.06"/>
                                          </p:val>
                                        </p:tav>
                                        <p:tav tm="100000">
                                          <p:val>
                                            <p:strVal val="#ppt_y"/>
                                          </p:val>
                                        </p:tav>
                                      </p:tavLst>
                                    </p:anim>
                                  </p:childTnLst>
                                </p:cTn>
                              </p:par>
                              <p:par>
                                <p:cTn id="124" presetID="42" presetClass="entr" presetSubtype="0" fill="hold" grpId="0" nodeType="withEffect">
                                  <p:stCondLst>
                                    <p:cond delay="1260"/>
                                  </p:stCondLst>
                                  <p:childTnLst>
                                    <p:set>
                                      <p:cBhvr>
                                        <p:cTn id="125" dur="1" fill="hold">
                                          <p:stCondLst>
                                            <p:cond delay="0"/>
                                          </p:stCondLst>
                                        </p:cTn>
                                        <p:tgtEl>
                                          <p:spTgt spid="126"/>
                                        </p:tgtEl>
                                        <p:attrNameLst>
                                          <p:attrName>style.visibility</p:attrName>
                                        </p:attrNameLst>
                                      </p:cBhvr>
                                      <p:to>
                                        <p:strVal val="visible"/>
                                      </p:to>
                                    </p:set>
                                    <p:animEffect transition="in" filter="fade">
                                      <p:cBhvr>
                                        <p:cTn id="126" dur="500"/>
                                        <p:tgtEl>
                                          <p:spTgt spid="126"/>
                                        </p:tgtEl>
                                      </p:cBhvr>
                                    </p:animEffect>
                                    <p:anim calcmode="lin" valueType="num">
                                      <p:cBhvr additive="base">
                                        <p:cTn id="127" dur="500" decel="100000" fill="hold"/>
                                        <p:tgtEl>
                                          <p:spTgt spid="126"/>
                                        </p:tgtEl>
                                        <p:attrNameLst>
                                          <p:attrName>ppt_y</p:attrName>
                                        </p:attrNameLst>
                                      </p:cBhvr>
                                      <p:tavLst>
                                        <p:tav tm="0">
                                          <p:val>
                                            <p:strVal val="#ppt_y+0.06"/>
                                          </p:val>
                                        </p:tav>
                                        <p:tav tm="100000">
                                          <p:val>
                                            <p:strVal val="#ppt_y"/>
                                          </p:val>
                                        </p:tav>
                                      </p:tavLst>
                                    </p:anim>
                                  </p:childTnLst>
                                </p:cTn>
                              </p:par>
                              <p:par>
                                <p:cTn id="128" presetID="53" presetClass="entr" presetSubtype="16" fill="hold" nodeType="withEffect">
                                  <p:stCondLst>
                                    <p:cond delay="1380"/>
                                  </p:stCondLst>
                                  <p:childTnLst>
                                    <p:set>
                                      <p:cBhvr>
                                        <p:cTn id="129" dur="1" fill="hold">
                                          <p:stCondLst>
                                            <p:cond delay="0"/>
                                          </p:stCondLst>
                                        </p:cTn>
                                        <p:tgtEl>
                                          <p:spTgt spid="125"/>
                                        </p:tgtEl>
                                        <p:attrNameLst>
                                          <p:attrName>style.visibility</p:attrName>
                                        </p:attrNameLst>
                                      </p:cBhvr>
                                      <p:to>
                                        <p:strVal val="visible"/>
                                      </p:to>
                                    </p:set>
                                    <p:anim calcmode="lin" valueType="num">
                                      <p:cBhvr additive="base">
                                        <p:cTn id="130" dur="500" decel="100000" fill="hold"/>
                                        <p:tgtEl>
                                          <p:spTgt spid="125"/>
                                        </p:tgtEl>
                                        <p:attrNameLst>
                                          <p:attrName>ppt_w</p:attrName>
                                        </p:attrNameLst>
                                      </p:cBhvr>
                                      <p:tavLst>
                                        <p:tav tm="0">
                                          <p:val>
                                            <p:strVal val="#ppt_w*0.3"/>
                                          </p:val>
                                        </p:tav>
                                        <p:tav tm="100000">
                                          <p:val>
                                            <p:strVal val="#ppt_w*1.08"/>
                                          </p:val>
                                        </p:tav>
                                      </p:tavLst>
                                    </p:anim>
                                    <p:anim calcmode="lin" valueType="num">
                                      <p:cBhvr additive="base">
                                        <p:cTn id="131" dur="500" decel="100000" fill="hold"/>
                                        <p:tgtEl>
                                          <p:spTgt spid="125"/>
                                        </p:tgtEl>
                                        <p:attrNameLst>
                                          <p:attrName>ppt_h</p:attrName>
                                        </p:attrNameLst>
                                      </p:cBhvr>
                                      <p:tavLst>
                                        <p:tav tm="0">
                                          <p:val>
                                            <p:strVal val="#ppt_h*0.3"/>
                                          </p:val>
                                        </p:tav>
                                        <p:tav tm="100000">
                                          <p:val>
                                            <p:strVal val="#ppt_h*1.08"/>
                                          </p:val>
                                        </p:tav>
                                      </p:tavLst>
                                    </p:anim>
                                    <p:animEffect transition="in" filter="fade">
                                      <p:cBhvr>
                                        <p:cTn id="132" dur="250"/>
                                        <p:tgtEl>
                                          <p:spTgt spid="125"/>
                                        </p:tgtEl>
                                      </p:cBhvr>
                                    </p:animEffect>
                                    <p:anim calcmode="lin" valueType="num">
                                      <p:cBhvr additive="base">
                                        <p:cTn id="133" dur="160" fill="hold">
                                          <p:stCondLst>
                                            <p:cond delay="500"/>
                                          </p:stCondLst>
                                        </p:cTn>
                                        <p:tgtEl>
                                          <p:spTgt spid="125"/>
                                        </p:tgtEl>
                                        <p:attrNameLst>
                                          <p:attrName>ppt_w</p:attrName>
                                        </p:attrNameLst>
                                      </p:cBhvr>
                                      <p:tavLst>
                                        <p:tav tm="0">
                                          <p:val>
                                            <p:strVal val="#ppt_w*1.08"/>
                                          </p:val>
                                        </p:tav>
                                        <p:tav tm="100000">
                                          <p:val>
                                            <p:strVal val="#ppt_w"/>
                                          </p:val>
                                        </p:tav>
                                      </p:tavLst>
                                    </p:anim>
                                    <p:anim calcmode="lin" valueType="num">
                                      <p:cBhvr additive="base">
                                        <p:cTn id="134" dur="160" fill="hold">
                                          <p:stCondLst>
                                            <p:cond delay="500"/>
                                          </p:stCondLst>
                                        </p:cTn>
                                        <p:tgtEl>
                                          <p:spTgt spid="125"/>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5" grpId="0" animBg="1"/>
      <p:bldP spid="106" grpId="0" animBg="1"/>
      <p:bldP spid="108" grpId="0" animBg="1"/>
      <p:bldP spid="109" grpId="0" animBg="1"/>
      <p:bldP spid="111" grpId="0" animBg="1"/>
      <p:bldP spid="112" grpId="0" animBg="1"/>
      <p:bldP spid="114" grpId="0" animBg="1"/>
      <p:bldP spid="115" grpId="0" animBg="1"/>
      <p:bldP spid="117" grpId="0" animBg="1"/>
      <p:bldP spid="118" grpId="0" animBg="1"/>
      <p:bldP spid="120" grpId="0" animBg="1"/>
      <p:bldP spid="121" grpId="0" animBg="1"/>
      <p:bldP spid="123" grpId="0" animBg="1"/>
      <p:bldP spid="124" grpId="0" animBg="1"/>
      <p:bldP spid="126"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COMPARE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User Story vs Acceptance Criteria vs Tasks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Three different questions about the same item.</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246</a:t>
            </a:r>
            <a:endParaRPr lang="en-US" sz="850" dirty="0"/>
          </a:p>
        </p:txBody>
      </p:sp>
      <p:sp>
        <p:nvSpPr>
          <p:cNvPr id="101" name="s101"/>
          <p:cNvSpPr/>
          <p:nvPr/>
        </p:nvSpPr>
        <p:spPr>
          <a:xfrm>
            <a:off x="543154" y="1965960"/>
            <a:ext cx="3513125" cy="3337560"/>
          </a:xfrm>
          <a:prstGeom prst="roundRect">
            <a:avLst>
              <a:gd name="adj" fmla="val 8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02" name="s102"/>
          <p:cNvSpPr txBox="1"/>
          <p:nvPr/>
        </p:nvSpPr>
        <p:spPr>
          <a:xfrm>
            <a:off x="771754" y="2103120"/>
            <a:ext cx="3055925" cy="5943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13D0F7"/>
                </a:solidFill>
                <a:latin typeface="Segoe UI"/>
                <a:ea typeface="Segoe UI"/>
                <a:cs typeface="Segoe UI"/>
              </a:rPr>
              <a:t>USER STORY</a:t>
            </a:r>
            <a:endParaRPr lang="en-US" sz="1300" dirty="0"/>
          </a:p>
          <a:p>
            <a:pPr marL="0" indent="0" algn="l">
              <a:spcBef>
                <a:spcPts val="0"/>
              </a:spcBef>
              <a:spcAft>
                <a:spcPts val="0"/>
              </a:spcAft>
              <a:buNone/>
            </a:pPr>
            <a:r>
              <a:rPr lang="en-US" sz="1200" b="0" dirty="0">
                <a:solidFill>
                  <a:srgbClr val="94A3B8"/>
                </a:solidFill>
                <a:latin typeface="Segoe UI"/>
                <a:ea typeface="Segoe UI"/>
                <a:cs typeface="Segoe UI"/>
              </a:rPr>
              <a:t>What the user needs, and why</a:t>
            </a:r>
            <a:endParaRPr lang="en-US" sz="1200" dirty="0"/>
          </a:p>
        </p:txBody>
      </p:sp>
      <p:sp>
        <p:nvSpPr>
          <p:cNvPr id="103" name="s103"/>
          <p:cNvSpPr/>
          <p:nvPr/>
        </p:nvSpPr>
        <p:spPr>
          <a:xfrm>
            <a:off x="771754" y="2880360"/>
            <a:ext cx="3055925" cy="868680"/>
          </a:xfrm>
          <a:prstGeom prst="roundRect">
            <a:avLst>
              <a:gd name="adj" fmla="val 12000"/>
            </a:avLst>
          </a:prstGeom>
          <a:solidFill>
            <a:srgbClr val="13D0F7">
              <a:alpha val="14000"/>
            </a:srgbClr>
          </a:solidFill>
          <a:ln w="12700">
            <a:solidFill>
              <a:srgbClr val="13D0F7">
                <a:alpha val="50000"/>
              </a:srgbClr>
            </a:solidFill>
            <a:prstDash val="solid"/>
          </a:ln>
        </p:spPr>
        <p:txBody>
          <a:bodyPr wrap="square" lIns="91440" tIns="0" rIns="91440" bIns="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Book an available appointment for a patient</a:t>
            </a:r>
            <a:endParaRPr lang="en-US" sz="1400" dirty="0"/>
          </a:p>
        </p:txBody>
      </p:sp>
      <p:sp>
        <p:nvSpPr>
          <p:cNvPr id="104" name="s104"/>
          <p:cNvSpPr txBox="1"/>
          <p:nvPr/>
        </p:nvSpPr>
        <p:spPr>
          <a:xfrm>
            <a:off x="771754" y="4846320"/>
            <a:ext cx="3055925" cy="320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OWNED BY  </a:t>
            </a:r>
            <a:r>
              <a:rPr lang="en-US" sz="1100" b="1" dirty="0">
                <a:solidFill>
                  <a:srgbClr val="13D0F7"/>
                </a:solidFill>
                <a:latin typeface="Segoe UI"/>
                <a:ea typeface="Segoe UI"/>
                <a:cs typeface="Segoe UI"/>
              </a:rPr>
              <a:t>PO + team</a:t>
            </a:r>
            <a:endParaRPr lang="en-US" sz="1100" dirty="0"/>
          </a:p>
        </p:txBody>
      </p:sp>
      <p:sp>
        <p:nvSpPr>
          <p:cNvPr id="105" name="s105"/>
          <p:cNvSpPr/>
          <p:nvPr/>
        </p:nvSpPr>
        <p:spPr>
          <a:xfrm>
            <a:off x="4330598" y="1965960"/>
            <a:ext cx="3513125" cy="3337560"/>
          </a:xfrm>
          <a:prstGeom prst="roundRect">
            <a:avLst>
              <a:gd name="adj" fmla="val 8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06" name="s106"/>
          <p:cNvSpPr txBox="1"/>
          <p:nvPr/>
        </p:nvSpPr>
        <p:spPr>
          <a:xfrm>
            <a:off x="4559198" y="2103120"/>
            <a:ext cx="3055925" cy="5943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34D399"/>
                </a:solidFill>
                <a:latin typeface="Segoe UI"/>
                <a:ea typeface="Segoe UI"/>
                <a:cs typeface="Segoe UI"/>
              </a:rPr>
              <a:t>ACCEPTANCE CRITERIA</a:t>
            </a:r>
            <a:endParaRPr lang="en-US" sz="1300" dirty="0"/>
          </a:p>
          <a:p>
            <a:pPr marL="0" indent="0" algn="l">
              <a:spcBef>
                <a:spcPts val="0"/>
              </a:spcBef>
              <a:spcAft>
                <a:spcPts val="0"/>
              </a:spcAft>
              <a:buNone/>
            </a:pPr>
            <a:r>
              <a:rPr lang="en-US" sz="1200" b="0" dirty="0">
                <a:solidFill>
                  <a:srgbClr val="94A3B8"/>
                </a:solidFill>
                <a:latin typeface="Segoe UI"/>
                <a:ea typeface="Segoe UI"/>
                <a:cs typeface="Segoe UI"/>
              </a:rPr>
              <a:t>How we verify the behavior</a:t>
            </a:r>
            <a:endParaRPr lang="en-US" sz="1200" dirty="0"/>
          </a:p>
        </p:txBody>
      </p:sp>
      <p:sp>
        <p:nvSpPr>
          <p:cNvPr id="107" name="s107"/>
          <p:cNvSpPr/>
          <p:nvPr/>
        </p:nvSpPr>
        <p:spPr>
          <a:xfrm>
            <a:off x="4559198" y="2880360"/>
            <a:ext cx="3055925" cy="411480"/>
          </a:xfrm>
          <a:prstGeom prst="roundRect">
            <a:avLst>
              <a:gd name="adj" fmla="val 20000"/>
            </a:avLst>
          </a:prstGeom>
          <a:solidFill>
            <a:srgbClr val="34D399">
              <a:alpha val="14000"/>
            </a:srgbClr>
          </a:solidFill>
          <a:ln w="12700">
            <a:solidFill>
              <a:srgbClr val="34D399">
                <a:alpha val="50000"/>
              </a:srgbClr>
            </a:solidFill>
            <a:prstDash val="solid"/>
          </a:ln>
        </p:spPr>
        <p:txBody>
          <a:bodyPr wrap="square" lIns="91440" tIns="0" rIns="9144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No overlaps</a:t>
            </a:r>
            <a:endParaRPr lang="en-US" sz="1250" dirty="0"/>
          </a:p>
        </p:txBody>
      </p:sp>
      <p:sp>
        <p:nvSpPr>
          <p:cNvPr id="108" name="s108"/>
          <p:cNvSpPr/>
          <p:nvPr/>
        </p:nvSpPr>
        <p:spPr>
          <a:xfrm>
            <a:off x="4559198" y="3383280"/>
            <a:ext cx="3055925" cy="411480"/>
          </a:xfrm>
          <a:prstGeom prst="roundRect">
            <a:avLst>
              <a:gd name="adj" fmla="val 20000"/>
            </a:avLst>
          </a:prstGeom>
          <a:solidFill>
            <a:srgbClr val="34D399">
              <a:alpha val="14000"/>
            </a:srgbClr>
          </a:solidFill>
          <a:ln w="12700">
            <a:solidFill>
              <a:srgbClr val="34D399">
                <a:alpha val="50000"/>
              </a:srgbClr>
            </a:solidFill>
            <a:prstDash val="solid"/>
          </a:ln>
        </p:spPr>
        <p:txBody>
          <a:bodyPr wrap="square" lIns="91440" tIns="0" rIns="9144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Unique number</a:t>
            </a:r>
            <a:endParaRPr lang="en-US" sz="1250" dirty="0"/>
          </a:p>
        </p:txBody>
      </p:sp>
      <p:sp>
        <p:nvSpPr>
          <p:cNvPr id="109" name="s109"/>
          <p:cNvSpPr/>
          <p:nvPr/>
        </p:nvSpPr>
        <p:spPr>
          <a:xfrm>
            <a:off x="4559198" y="3886200"/>
            <a:ext cx="3055925" cy="411480"/>
          </a:xfrm>
          <a:prstGeom prst="roundRect">
            <a:avLst>
              <a:gd name="adj" fmla="val 20000"/>
            </a:avLst>
          </a:prstGeom>
          <a:solidFill>
            <a:srgbClr val="34D399">
              <a:alpha val="14000"/>
            </a:srgbClr>
          </a:solidFill>
          <a:ln w="12700">
            <a:solidFill>
              <a:srgbClr val="34D399">
                <a:alpha val="50000"/>
              </a:srgbClr>
            </a:solidFill>
            <a:prstDash val="solid"/>
          </a:ln>
        </p:spPr>
        <p:txBody>
          <a:bodyPr wrap="square" lIns="91440" tIns="0" rIns="9144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Confirmation shown</a:t>
            </a:r>
            <a:endParaRPr lang="en-US" sz="1250" dirty="0"/>
          </a:p>
        </p:txBody>
      </p:sp>
      <p:sp>
        <p:nvSpPr>
          <p:cNvPr id="110" name="s110"/>
          <p:cNvSpPr txBox="1"/>
          <p:nvPr/>
        </p:nvSpPr>
        <p:spPr>
          <a:xfrm>
            <a:off x="4559198" y="4846320"/>
            <a:ext cx="3055925" cy="320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OWNED BY  </a:t>
            </a:r>
            <a:r>
              <a:rPr lang="en-US" sz="1100" b="1" dirty="0">
                <a:solidFill>
                  <a:srgbClr val="34D399"/>
                </a:solidFill>
                <a:latin typeface="Segoe UI"/>
                <a:ea typeface="Segoe UI"/>
                <a:cs typeface="Segoe UI"/>
              </a:rPr>
              <a:t>Whole team</a:t>
            </a:r>
            <a:endParaRPr lang="en-US" sz="1100" dirty="0"/>
          </a:p>
        </p:txBody>
      </p:sp>
      <p:sp>
        <p:nvSpPr>
          <p:cNvPr id="111" name="s111"/>
          <p:cNvSpPr/>
          <p:nvPr/>
        </p:nvSpPr>
        <p:spPr>
          <a:xfrm>
            <a:off x="8118043" y="1965960"/>
            <a:ext cx="3513125" cy="3337560"/>
          </a:xfrm>
          <a:prstGeom prst="roundRect">
            <a:avLst>
              <a:gd name="adj" fmla="val 8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12" name="s112"/>
          <p:cNvSpPr txBox="1"/>
          <p:nvPr/>
        </p:nvSpPr>
        <p:spPr>
          <a:xfrm>
            <a:off x="8346643" y="2103120"/>
            <a:ext cx="3055925" cy="5943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00" b="1" dirty="0">
                <a:solidFill>
                  <a:srgbClr val="A78BFA"/>
                </a:solidFill>
                <a:latin typeface="Segoe UI"/>
                <a:ea typeface="Segoe UI"/>
                <a:cs typeface="Segoe UI"/>
              </a:rPr>
              <a:t>TASKS</a:t>
            </a:r>
            <a:endParaRPr lang="en-US" sz="1300" dirty="0"/>
          </a:p>
          <a:p>
            <a:pPr marL="0" indent="0" algn="l">
              <a:spcBef>
                <a:spcPts val="0"/>
              </a:spcBef>
              <a:spcAft>
                <a:spcPts val="0"/>
              </a:spcAft>
              <a:buNone/>
            </a:pPr>
            <a:r>
              <a:rPr lang="en-US" sz="1200" b="0" dirty="0">
                <a:solidFill>
                  <a:srgbClr val="94A3B8"/>
                </a:solidFill>
                <a:latin typeface="Segoe UI"/>
                <a:ea typeface="Segoe UI"/>
                <a:cs typeface="Segoe UI"/>
              </a:rPr>
              <a:t>How Developers plan to build it</a:t>
            </a:r>
            <a:endParaRPr lang="en-US" sz="1200" dirty="0"/>
          </a:p>
        </p:txBody>
      </p:sp>
      <p:sp>
        <p:nvSpPr>
          <p:cNvPr id="113" name="s113"/>
          <p:cNvSpPr/>
          <p:nvPr/>
        </p:nvSpPr>
        <p:spPr>
          <a:xfrm>
            <a:off x="8346643" y="2880360"/>
            <a:ext cx="1482242" cy="411480"/>
          </a:xfrm>
          <a:prstGeom prst="roundRect">
            <a:avLst>
              <a:gd name="adj" fmla="val 20000"/>
            </a:avLst>
          </a:prstGeom>
          <a:solidFill>
            <a:srgbClr val="A78BFA">
              <a:alpha val="14000"/>
            </a:srgbClr>
          </a:solidFill>
          <a:ln w="12700">
            <a:solidFill>
              <a:srgbClr val="A78BFA">
                <a:alpha val="50000"/>
              </a:srgbClr>
            </a:solidFill>
            <a:prstDash val="solid"/>
          </a:ln>
        </p:spPr>
        <p:txBody>
          <a:bodyPr wrap="square" lIns="91440" tIns="0" rIns="9144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API</a:t>
            </a:r>
            <a:endParaRPr lang="en-US" sz="1250" dirty="0"/>
          </a:p>
        </p:txBody>
      </p:sp>
      <p:sp>
        <p:nvSpPr>
          <p:cNvPr id="114" name="s114"/>
          <p:cNvSpPr/>
          <p:nvPr/>
        </p:nvSpPr>
        <p:spPr>
          <a:xfrm>
            <a:off x="9920326" y="2880360"/>
            <a:ext cx="1482242" cy="411480"/>
          </a:xfrm>
          <a:prstGeom prst="roundRect">
            <a:avLst>
              <a:gd name="adj" fmla="val 20000"/>
            </a:avLst>
          </a:prstGeom>
          <a:solidFill>
            <a:srgbClr val="A78BFA">
              <a:alpha val="14000"/>
            </a:srgbClr>
          </a:solidFill>
          <a:ln w="12700">
            <a:solidFill>
              <a:srgbClr val="A78BFA">
                <a:alpha val="50000"/>
              </a:srgbClr>
            </a:solidFill>
            <a:prstDash val="solid"/>
          </a:ln>
        </p:spPr>
        <p:txBody>
          <a:bodyPr wrap="square" lIns="91440" tIns="0" rIns="9144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UI</a:t>
            </a:r>
            <a:endParaRPr lang="en-US" sz="1250" dirty="0"/>
          </a:p>
        </p:txBody>
      </p:sp>
      <p:sp>
        <p:nvSpPr>
          <p:cNvPr id="115" name="s115"/>
          <p:cNvSpPr/>
          <p:nvPr/>
        </p:nvSpPr>
        <p:spPr>
          <a:xfrm>
            <a:off x="8346643" y="3383280"/>
            <a:ext cx="1482242" cy="411480"/>
          </a:xfrm>
          <a:prstGeom prst="roundRect">
            <a:avLst>
              <a:gd name="adj" fmla="val 20000"/>
            </a:avLst>
          </a:prstGeom>
          <a:solidFill>
            <a:srgbClr val="A78BFA">
              <a:alpha val="14000"/>
            </a:srgbClr>
          </a:solidFill>
          <a:ln w="12700">
            <a:solidFill>
              <a:srgbClr val="A78BFA">
                <a:alpha val="50000"/>
              </a:srgbClr>
            </a:solidFill>
            <a:prstDash val="solid"/>
          </a:ln>
        </p:spPr>
        <p:txBody>
          <a:bodyPr wrap="square" lIns="91440" tIns="0" rIns="9144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Migration</a:t>
            </a:r>
            <a:endParaRPr lang="en-US" sz="1250" dirty="0"/>
          </a:p>
        </p:txBody>
      </p:sp>
      <p:sp>
        <p:nvSpPr>
          <p:cNvPr id="116" name="s116"/>
          <p:cNvSpPr/>
          <p:nvPr/>
        </p:nvSpPr>
        <p:spPr>
          <a:xfrm>
            <a:off x="9920326" y="3383280"/>
            <a:ext cx="1482242" cy="411480"/>
          </a:xfrm>
          <a:prstGeom prst="roundRect">
            <a:avLst>
              <a:gd name="adj" fmla="val 20000"/>
            </a:avLst>
          </a:prstGeom>
          <a:solidFill>
            <a:srgbClr val="A78BFA">
              <a:alpha val="14000"/>
            </a:srgbClr>
          </a:solidFill>
          <a:ln w="12700">
            <a:solidFill>
              <a:srgbClr val="A78BFA">
                <a:alpha val="50000"/>
              </a:srgbClr>
            </a:solidFill>
            <a:prstDash val="solid"/>
          </a:ln>
        </p:spPr>
        <p:txBody>
          <a:bodyPr wrap="square" lIns="91440" tIns="0" rIns="9144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Tests</a:t>
            </a:r>
            <a:endParaRPr lang="en-US" sz="1250" dirty="0"/>
          </a:p>
        </p:txBody>
      </p:sp>
      <p:sp>
        <p:nvSpPr>
          <p:cNvPr id="117" name="s117"/>
          <p:cNvSpPr/>
          <p:nvPr/>
        </p:nvSpPr>
        <p:spPr>
          <a:xfrm>
            <a:off x="8346643" y="3886200"/>
            <a:ext cx="1482242" cy="411480"/>
          </a:xfrm>
          <a:prstGeom prst="roundRect">
            <a:avLst>
              <a:gd name="adj" fmla="val 20000"/>
            </a:avLst>
          </a:prstGeom>
          <a:solidFill>
            <a:srgbClr val="A78BFA">
              <a:alpha val="14000"/>
            </a:srgbClr>
          </a:solidFill>
          <a:ln w="12700">
            <a:solidFill>
              <a:srgbClr val="A78BFA">
                <a:alpha val="50000"/>
              </a:srgbClr>
            </a:solidFill>
            <a:prstDash val="solid"/>
          </a:ln>
        </p:spPr>
        <p:txBody>
          <a:bodyPr wrap="square" lIns="91440" tIns="0" rIns="9144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Exploratory QA</a:t>
            </a:r>
            <a:endParaRPr lang="en-US" sz="1250" dirty="0"/>
          </a:p>
        </p:txBody>
      </p:sp>
      <p:sp>
        <p:nvSpPr>
          <p:cNvPr id="118" name="s118"/>
          <p:cNvSpPr txBox="1"/>
          <p:nvPr/>
        </p:nvSpPr>
        <p:spPr>
          <a:xfrm>
            <a:off x="8346643" y="4846320"/>
            <a:ext cx="3055925" cy="320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OWNED BY  </a:t>
            </a:r>
            <a:r>
              <a:rPr lang="en-US" sz="1100" b="1" dirty="0">
                <a:solidFill>
                  <a:srgbClr val="A78BFA"/>
                </a:solidFill>
                <a:latin typeface="Segoe UI"/>
                <a:ea typeface="Segoe UI"/>
                <a:cs typeface="Segoe UI"/>
              </a:rPr>
              <a:t>Developers</a:t>
            </a:r>
            <a:endParaRPr lang="en-US" sz="1100" dirty="0"/>
          </a:p>
        </p:txBody>
      </p:sp>
      <p:sp>
        <p:nvSpPr>
          <p:cNvPr id="119" name="s119"/>
          <p:cNvSpPr txBox="1"/>
          <p:nvPr/>
        </p:nvSpPr>
        <p:spPr>
          <a:xfrm>
            <a:off x="543154" y="5486400"/>
            <a:ext cx="11088014"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94A3B8"/>
                </a:solidFill>
                <a:latin typeface="Segoe UI"/>
                <a:ea typeface="Segoe UI"/>
                <a:cs typeface="Segoe UI"/>
              </a:rPr>
              <a:t>Tasks may change during the Sprint. Developers own the technical plan.</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53" presetClass="entr" presetSubtype="16" fill="hold" grpId="0" nodeType="withEffect">
                                  <p:stCondLst>
                                    <p:cond delay="90"/>
                                  </p:stCondLst>
                                  <p:childTnLst>
                                    <p:set>
                                      <p:cBhvr>
                                        <p:cTn id="18" dur="1" fill="hold">
                                          <p:stCondLst>
                                            <p:cond delay="0"/>
                                          </p:stCondLst>
                                        </p:cTn>
                                        <p:tgtEl>
                                          <p:spTgt spid="103"/>
                                        </p:tgtEl>
                                        <p:attrNameLst>
                                          <p:attrName>style.visibility</p:attrName>
                                        </p:attrNameLst>
                                      </p:cBhvr>
                                      <p:to>
                                        <p:strVal val="visible"/>
                                      </p:to>
                                    </p:set>
                                    <p:anim calcmode="lin" valueType="num">
                                      <p:cBhvr additive="base">
                                        <p:cTn id="19"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20" dur="500" decel="100000" fill="hold"/>
                                        <p:tgtEl>
                                          <p:spTgt spid="103"/>
                                        </p:tgtEl>
                                        <p:attrNameLst>
                                          <p:attrName>ppt_h</p:attrName>
                                        </p:attrNameLst>
                                      </p:cBhvr>
                                      <p:tavLst>
                                        <p:tav tm="0">
                                          <p:val>
                                            <p:strVal val="#ppt_h*0.55"/>
                                          </p:val>
                                        </p:tav>
                                        <p:tav tm="100000">
                                          <p:val>
                                            <p:strVal val="#ppt_h"/>
                                          </p:val>
                                        </p:tav>
                                      </p:tavLst>
                                    </p:anim>
                                    <p:animEffect transition="in" filter="fade">
                                      <p:cBhvr>
                                        <p:cTn id="21" dur="500"/>
                                        <p:tgtEl>
                                          <p:spTgt spid="103"/>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00"/>
                                        <p:tgtEl>
                                          <p:spTgt spid="105"/>
                                        </p:tgtEl>
                                      </p:cBhvr>
                                    </p:animEffect>
                                    <p:anim calcmode="lin" valueType="num">
                                      <p:cBhvr additive="base">
                                        <p:cTn id="27" dur="50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00"/>
                                        <p:tgtEl>
                                          <p:spTgt spid="106"/>
                                        </p:tgtEl>
                                      </p:cBhvr>
                                    </p:animEffect>
                                    <p:anim calcmode="lin" valueType="num">
                                      <p:cBhvr additive="base">
                                        <p:cTn id="31" dur="500" decel="100000" fill="hold"/>
                                        <p:tgtEl>
                                          <p:spTgt spid="106"/>
                                        </p:tgtEl>
                                        <p:attrNameLst>
                                          <p:attrName>ppt_y</p:attrName>
                                        </p:attrNameLst>
                                      </p:cBhvr>
                                      <p:tavLst>
                                        <p:tav tm="0">
                                          <p:val>
                                            <p:strVal val="#ppt_y+0.06"/>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110"/>
                                        </p:tgtEl>
                                        <p:attrNameLst>
                                          <p:attrName>style.visibility</p:attrName>
                                        </p:attrNameLst>
                                      </p:cBhvr>
                                      <p:to>
                                        <p:strVal val="visible"/>
                                      </p:to>
                                    </p:set>
                                    <p:animEffect transition="in" filter="fade">
                                      <p:cBhvr>
                                        <p:cTn id="34" dur="500"/>
                                        <p:tgtEl>
                                          <p:spTgt spid="110"/>
                                        </p:tgtEl>
                                      </p:cBhvr>
                                    </p:animEffect>
                                    <p:anim calcmode="lin" valueType="num">
                                      <p:cBhvr additive="base">
                                        <p:cTn id="35" dur="500" decel="100000" fill="hold"/>
                                        <p:tgtEl>
                                          <p:spTgt spid="110"/>
                                        </p:tgtEl>
                                        <p:attrNameLst>
                                          <p:attrName>ppt_y</p:attrName>
                                        </p:attrNameLst>
                                      </p:cBhvr>
                                      <p:tavLst>
                                        <p:tav tm="0">
                                          <p:val>
                                            <p:strVal val="#ppt_y+0.06"/>
                                          </p:val>
                                        </p:tav>
                                        <p:tav tm="100000">
                                          <p:val>
                                            <p:strVal val="#ppt_y"/>
                                          </p:val>
                                        </p:tav>
                                      </p:tavLst>
                                    </p:anim>
                                  </p:childTnLst>
                                </p:cTn>
                              </p:par>
                              <p:par>
                                <p:cTn id="36" presetID="53" presetClass="entr" presetSubtype="16" fill="hold" grpId="0" nodeType="withEffect">
                                  <p:stCondLst>
                                    <p:cond delay="90"/>
                                  </p:stCondLst>
                                  <p:childTnLst>
                                    <p:set>
                                      <p:cBhvr>
                                        <p:cTn id="37" dur="1" fill="hold">
                                          <p:stCondLst>
                                            <p:cond delay="0"/>
                                          </p:stCondLst>
                                        </p:cTn>
                                        <p:tgtEl>
                                          <p:spTgt spid="107"/>
                                        </p:tgtEl>
                                        <p:attrNameLst>
                                          <p:attrName>style.visibility</p:attrName>
                                        </p:attrNameLst>
                                      </p:cBhvr>
                                      <p:to>
                                        <p:strVal val="visible"/>
                                      </p:to>
                                    </p:set>
                                    <p:anim calcmode="lin" valueType="num">
                                      <p:cBhvr additive="base">
                                        <p:cTn id="38"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9" dur="500" decel="100000" fill="hold"/>
                                        <p:tgtEl>
                                          <p:spTgt spid="107"/>
                                        </p:tgtEl>
                                        <p:attrNameLst>
                                          <p:attrName>ppt_h</p:attrName>
                                        </p:attrNameLst>
                                      </p:cBhvr>
                                      <p:tavLst>
                                        <p:tav tm="0">
                                          <p:val>
                                            <p:strVal val="#ppt_h*0.55"/>
                                          </p:val>
                                        </p:tav>
                                        <p:tav tm="100000">
                                          <p:val>
                                            <p:strVal val="#ppt_h"/>
                                          </p:val>
                                        </p:tav>
                                      </p:tavLst>
                                    </p:anim>
                                    <p:animEffect transition="in" filter="fade">
                                      <p:cBhvr>
                                        <p:cTn id="40" dur="500"/>
                                        <p:tgtEl>
                                          <p:spTgt spid="107"/>
                                        </p:tgtEl>
                                      </p:cBhvr>
                                    </p:animEffect>
                                  </p:childTnLst>
                                </p:cTn>
                              </p:par>
                              <p:par>
                                <p:cTn id="41" presetID="53" presetClass="entr" presetSubtype="16" fill="hold" grpId="0" nodeType="withEffect">
                                  <p:stCondLst>
                                    <p:cond delay="180"/>
                                  </p:stCondLst>
                                  <p:childTnLst>
                                    <p:set>
                                      <p:cBhvr>
                                        <p:cTn id="42" dur="1" fill="hold">
                                          <p:stCondLst>
                                            <p:cond delay="0"/>
                                          </p:stCondLst>
                                        </p:cTn>
                                        <p:tgtEl>
                                          <p:spTgt spid="108"/>
                                        </p:tgtEl>
                                        <p:attrNameLst>
                                          <p:attrName>style.visibility</p:attrName>
                                        </p:attrNameLst>
                                      </p:cBhvr>
                                      <p:to>
                                        <p:strVal val="visible"/>
                                      </p:to>
                                    </p:set>
                                    <p:anim calcmode="lin" valueType="num">
                                      <p:cBhvr additive="base">
                                        <p:cTn id="43"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4" dur="500" decel="100000" fill="hold"/>
                                        <p:tgtEl>
                                          <p:spTgt spid="108"/>
                                        </p:tgtEl>
                                        <p:attrNameLst>
                                          <p:attrName>ppt_h</p:attrName>
                                        </p:attrNameLst>
                                      </p:cBhvr>
                                      <p:tavLst>
                                        <p:tav tm="0">
                                          <p:val>
                                            <p:strVal val="#ppt_h*0.55"/>
                                          </p:val>
                                        </p:tav>
                                        <p:tav tm="100000">
                                          <p:val>
                                            <p:strVal val="#ppt_h"/>
                                          </p:val>
                                        </p:tav>
                                      </p:tavLst>
                                    </p:anim>
                                    <p:animEffect transition="in" filter="fade">
                                      <p:cBhvr>
                                        <p:cTn id="45" dur="500"/>
                                        <p:tgtEl>
                                          <p:spTgt spid="108"/>
                                        </p:tgtEl>
                                      </p:cBhvr>
                                    </p:animEffect>
                                  </p:childTnLst>
                                </p:cTn>
                              </p:par>
                              <p:par>
                                <p:cTn id="46" presetID="53" presetClass="entr" presetSubtype="16" fill="hold" grpId="0" nodeType="withEffect">
                                  <p:stCondLst>
                                    <p:cond delay="270"/>
                                  </p:stCondLst>
                                  <p:childTnLst>
                                    <p:set>
                                      <p:cBhvr>
                                        <p:cTn id="47" dur="1" fill="hold">
                                          <p:stCondLst>
                                            <p:cond delay="0"/>
                                          </p:stCondLst>
                                        </p:cTn>
                                        <p:tgtEl>
                                          <p:spTgt spid="109"/>
                                        </p:tgtEl>
                                        <p:attrNameLst>
                                          <p:attrName>style.visibility</p:attrName>
                                        </p:attrNameLst>
                                      </p:cBhvr>
                                      <p:to>
                                        <p:strVal val="visible"/>
                                      </p:to>
                                    </p:set>
                                    <p:anim calcmode="lin" valueType="num">
                                      <p:cBhvr additive="base">
                                        <p:cTn id="48"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49" dur="500" decel="100000" fill="hold"/>
                                        <p:tgtEl>
                                          <p:spTgt spid="109"/>
                                        </p:tgtEl>
                                        <p:attrNameLst>
                                          <p:attrName>ppt_h</p:attrName>
                                        </p:attrNameLst>
                                      </p:cBhvr>
                                      <p:tavLst>
                                        <p:tav tm="0">
                                          <p:val>
                                            <p:strVal val="#ppt_h*0.55"/>
                                          </p:val>
                                        </p:tav>
                                        <p:tav tm="100000">
                                          <p:val>
                                            <p:strVal val="#ppt_h"/>
                                          </p:val>
                                        </p:tav>
                                      </p:tavLst>
                                    </p:anim>
                                    <p:animEffect transition="in" filter="fade">
                                      <p:cBhvr>
                                        <p:cTn id="50" dur="500"/>
                                        <p:tgtEl>
                                          <p:spTgt spid="109"/>
                                        </p:tgtEl>
                                      </p:cBhvr>
                                    </p:animEffect>
                                  </p:childTnLst>
                                </p:cTn>
                              </p:par>
                            </p:childTnLst>
                          </p:cTn>
                        </p:par>
                      </p:childTnLst>
                    </p:cTn>
                  </p:par>
                  <p:par>
                    <p:cTn id="51" fill="hold">
                      <p:stCondLst>
                        <p:cond delay="indefinite"/>
                      </p:stCondLst>
                      <p:childTnLst>
                        <p:par>
                          <p:cTn id="52" fill="hold">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111"/>
                                        </p:tgtEl>
                                        <p:attrNameLst>
                                          <p:attrName>style.visibility</p:attrName>
                                        </p:attrNameLst>
                                      </p:cBhvr>
                                      <p:to>
                                        <p:strVal val="visible"/>
                                      </p:to>
                                    </p:set>
                                    <p:animEffect transition="in" filter="fade">
                                      <p:cBhvr>
                                        <p:cTn id="55" dur="500"/>
                                        <p:tgtEl>
                                          <p:spTgt spid="111"/>
                                        </p:tgtEl>
                                      </p:cBhvr>
                                    </p:animEffect>
                                    <p:anim calcmode="lin" valueType="num">
                                      <p:cBhvr additive="base">
                                        <p:cTn id="56" dur="500" decel="100000" fill="hold"/>
                                        <p:tgtEl>
                                          <p:spTgt spid="111"/>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2"/>
                                        </p:tgtEl>
                                        <p:attrNameLst>
                                          <p:attrName>style.visibility</p:attrName>
                                        </p:attrNameLst>
                                      </p:cBhvr>
                                      <p:to>
                                        <p:strVal val="visible"/>
                                      </p:to>
                                    </p:set>
                                    <p:animEffect transition="in" filter="fade">
                                      <p:cBhvr>
                                        <p:cTn id="59" dur="500"/>
                                        <p:tgtEl>
                                          <p:spTgt spid="112"/>
                                        </p:tgtEl>
                                      </p:cBhvr>
                                    </p:animEffect>
                                    <p:anim calcmode="lin" valueType="num">
                                      <p:cBhvr additive="base">
                                        <p:cTn id="60" dur="500" decel="100000" fill="hold"/>
                                        <p:tgtEl>
                                          <p:spTgt spid="112"/>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8"/>
                                        </p:tgtEl>
                                        <p:attrNameLst>
                                          <p:attrName>style.visibility</p:attrName>
                                        </p:attrNameLst>
                                      </p:cBhvr>
                                      <p:to>
                                        <p:strVal val="visible"/>
                                      </p:to>
                                    </p:set>
                                    <p:animEffect transition="in" filter="fade">
                                      <p:cBhvr>
                                        <p:cTn id="63" dur="500"/>
                                        <p:tgtEl>
                                          <p:spTgt spid="118"/>
                                        </p:tgtEl>
                                      </p:cBhvr>
                                    </p:animEffect>
                                    <p:anim calcmode="lin" valueType="num">
                                      <p:cBhvr additive="base">
                                        <p:cTn id="64" dur="500" decel="100000" fill="hold"/>
                                        <p:tgtEl>
                                          <p:spTgt spid="118"/>
                                        </p:tgtEl>
                                        <p:attrNameLst>
                                          <p:attrName>ppt_y</p:attrName>
                                        </p:attrNameLst>
                                      </p:cBhvr>
                                      <p:tavLst>
                                        <p:tav tm="0">
                                          <p:val>
                                            <p:strVal val="#ppt_y+0.06"/>
                                          </p:val>
                                        </p:tav>
                                        <p:tav tm="100000">
                                          <p:val>
                                            <p:strVal val="#ppt_y"/>
                                          </p:val>
                                        </p:tav>
                                      </p:tavLst>
                                    </p:anim>
                                  </p:childTnLst>
                                </p:cTn>
                              </p:par>
                              <p:par>
                                <p:cTn id="65" presetID="53" presetClass="entr" presetSubtype="16" fill="hold" grpId="0" nodeType="withEffect">
                                  <p:stCondLst>
                                    <p:cond delay="90"/>
                                  </p:stCondLst>
                                  <p:childTnLst>
                                    <p:set>
                                      <p:cBhvr>
                                        <p:cTn id="66" dur="1" fill="hold">
                                          <p:stCondLst>
                                            <p:cond delay="0"/>
                                          </p:stCondLst>
                                        </p:cTn>
                                        <p:tgtEl>
                                          <p:spTgt spid="113"/>
                                        </p:tgtEl>
                                        <p:attrNameLst>
                                          <p:attrName>style.visibility</p:attrName>
                                        </p:attrNameLst>
                                      </p:cBhvr>
                                      <p:to>
                                        <p:strVal val="visible"/>
                                      </p:to>
                                    </p:set>
                                    <p:anim calcmode="lin" valueType="num">
                                      <p:cBhvr additive="base">
                                        <p:cTn id="67" dur="500" decel="100000" fill="hold"/>
                                        <p:tgtEl>
                                          <p:spTgt spid="113"/>
                                        </p:tgtEl>
                                        <p:attrNameLst>
                                          <p:attrName>ppt_w</p:attrName>
                                        </p:attrNameLst>
                                      </p:cBhvr>
                                      <p:tavLst>
                                        <p:tav tm="0">
                                          <p:val>
                                            <p:strVal val="#ppt_w*0.55"/>
                                          </p:val>
                                        </p:tav>
                                        <p:tav tm="100000">
                                          <p:val>
                                            <p:strVal val="#ppt_w"/>
                                          </p:val>
                                        </p:tav>
                                      </p:tavLst>
                                    </p:anim>
                                    <p:anim calcmode="lin" valueType="num">
                                      <p:cBhvr additive="base">
                                        <p:cTn id="68" dur="500" decel="100000" fill="hold"/>
                                        <p:tgtEl>
                                          <p:spTgt spid="113"/>
                                        </p:tgtEl>
                                        <p:attrNameLst>
                                          <p:attrName>ppt_h</p:attrName>
                                        </p:attrNameLst>
                                      </p:cBhvr>
                                      <p:tavLst>
                                        <p:tav tm="0">
                                          <p:val>
                                            <p:strVal val="#ppt_h*0.55"/>
                                          </p:val>
                                        </p:tav>
                                        <p:tav tm="100000">
                                          <p:val>
                                            <p:strVal val="#ppt_h"/>
                                          </p:val>
                                        </p:tav>
                                      </p:tavLst>
                                    </p:anim>
                                    <p:animEffect transition="in" filter="fade">
                                      <p:cBhvr>
                                        <p:cTn id="69" dur="500"/>
                                        <p:tgtEl>
                                          <p:spTgt spid="113"/>
                                        </p:tgtEl>
                                      </p:cBhvr>
                                    </p:animEffect>
                                  </p:childTnLst>
                                </p:cTn>
                              </p:par>
                              <p:par>
                                <p:cTn id="70" presetID="53" presetClass="entr" presetSubtype="16" fill="hold" grpId="0" nodeType="withEffect">
                                  <p:stCondLst>
                                    <p:cond delay="180"/>
                                  </p:stCondLst>
                                  <p:childTnLst>
                                    <p:set>
                                      <p:cBhvr>
                                        <p:cTn id="71" dur="1" fill="hold">
                                          <p:stCondLst>
                                            <p:cond delay="0"/>
                                          </p:stCondLst>
                                        </p:cTn>
                                        <p:tgtEl>
                                          <p:spTgt spid="114"/>
                                        </p:tgtEl>
                                        <p:attrNameLst>
                                          <p:attrName>style.visibility</p:attrName>
                                        </p:attrNameLst>
                                      </p:cBhvr>
                                      <p:to>
                                        <p:strVal val="visible"/>
                                      </p:to>
                                    </p:set>
                                    <p:anim calcmode="lin" valueType="num">
                                      <p:cBhvr additive="base">
                                        <p:cTn id="72" dur="500" decel="100000" fill="hold"/>
                                        <p:tgtEl>
                                          <p:spTgt spid="114"/>
                                        </p:tgtEl>
                                        <p:attrNameLst>
                                          <p:attrName>ppt_w</p:attrName>
                                        </p:attrNameLst>
                                      </p:cBhvr>
                                      <p:tavLst>
                                        <p:tav tm="0">
                                          <p:val>
                                            <p:strVal val="#ppt_w*0.55"/>
                                          </p:val>
                                        </p:tav>
                                        <p:tav tm="100000">
                                          <p:val>
                                            <p:strVal val="#ppt_w"/>
                                          </p:val>
                                        </p:tav>
                                      </p:tavLst>
                                    </p:anim>
                                    <p:anim calcmode="lin" valueType="num">
                                      <p:cBhvr additive="base">
                                        <p:cTn id="73" dur="500" decel="100000" fill="hold"/>
                                        <p:tgtEl>
                                          <p:spTgt spid="114"/>
                                        </p:tgtEl>
                                        <p:attrNameLst>
                                          <p:attrName>ppt_h</p:attrName>
                                        </p:attrNameLst>
                                      </p:cBhvr>
                                      <p:tavLst>
                                        <p:tav tm="0">
                                          <p:val>
                                            <p:strVal val="#ppt_h*0.55"/>
                                          </p:val>
                                        </p:tav>
                                        <p:tav tm="100000">
                                          <p:val>
                                            <p:strVal val="#ppt_h"/>
                                          </p:val>
                                        </p:tav>
                                      </p:tavLst>
                                    </p:anim>
                                    <p:animEffect transition="in" filter="fade">
                                      <p:cBhvr>
                                        <p:cTn id="74" dur="500"/>
                                        <p:tgtEl>
                                          <p:spTgt spid="114"/>
                                        </p:tgtEl>
                                      </p:cBhvr>
                                    </p:animEffect>
                                  </p:childTnLst>
                                </p:cTn>
                              </p:par>
                              <p:par>
                                <p:cTn id="75" presetID="53" presetClass="entr" presetSubtype="16" fill="hold" grpId="0" nodeType="withEffect">
                                  <p:stCondLst>
                                    <p:cond delay="270"/>
                                  </p:stCondLst>
                                  <p:childTnLst>
                                    <p:set>
                                      <p:cBhvr>
                                        <p:cTn id="76" dur="1" fill="hold">
                                          <p:stCondLst>
                                            <p:cond delay="0"/>
                                          </p:stCondLst>
                                        </p:cTn>
                                        <p:tgtEl>
                                          <p:spTgt spid="115"/>
                                        </p:tgtEl>
                                        <p:attrNameLst>
                                          <p:attrName>style.visibility</p:attrName>
                                        </p:attrNameLst>
                                      </p:cBhvr>
                                      <p:to>
                                        <p:strVal val="visible"/>
                                      </p:to>
                                    </p:set>
                                    <p:anim calcmode="lin" valueType="num">
                                      <p:cBhvr additive="base">
                                        <p:cTn id="77" dur="500" decel="100000" fill="hold"/>
                                        <p:tgtEl>
                                          <p:spTgt spid="115"/>
                                        </p:tgtEl>
                                        <p:attrNameLst>
                                          <p:attrName>ppt_w</p:attrName>
                                        </p:attrNameLst>
                                      </p:cBhvr>
                                      <p:tavLst>
                                        <p:tav tm="0">
                                          <p:val>
                                            <p:strVal val="#ppt_w*0.55"/>
                                          </p:val>
                                        </p:tav>
                                        <p:tav tm="100000">
                                          <p:val>
                                            <p:strVal val="#ppt_w"/>
                                          </p:val>
                                        </p:tav>
                                      </p:tavLst>
                                    </p:anim>
                                    <p:anim calcmode="lin" valueType="num">
                                      <p:cBhvr additive="base">
                                        <p:cTn id="78" dur="500" decel="100000" fill="hold"/>
                                        <p:tgtEl>
                                          <p:spTgt spid="115"/>
                                        </p:tgtEl>
                                        <p:attrNameLst>
                                          <p:attrName>ppt_h</p:attrName>
                                        </p:attrNameLst>
                                      </p:cBhvr>
                                      <p:tavLst>
                                        <p:tav tm="0">
                                          <p:val>
                                            <p:strVal val="#ppt_h*0.55"/>
                                          </p:val>
                                        </p:tav>
                                        <p:tav tm="100000">
                                          <p:val>
                                            <p:strVal val="#ppt_h"/>
                                          </p:val>
                                        </p:tav>
                                      </p:tavLst>
                                    </p:anim>
                                    <p:animEffect transition="in" filter="fade">
                                      <p:cBhvr>
                                        <p:cTn id="79" dur="500"/>
                                        <p:tgtEl>
                                          <p:spTgt spid="115"/>
                                        </p:tgtEl>
                                      </p:cBhvr>
                                    </p:animEffect>
                                  </p:childTnLst>
                                </p:cTn>
                              </p:par>
                              <p:par>
                                <p:cTn id="80" presetID="53" presetClass="entr" presetSubtype="16" fill="hold" grpId="0" nodeType="withEffect">
                                  <p:stCondLst>
                                    <p:cond delay="360"/>
                                  </p:stCondLst>
                                  <p:childTnLst>
                                    <p:set>
                                      <p:cBhvr>
                                        <p:cTn id="81" dur="1" fill="hold">
                                          <p:stCondLst>
                                            <p:cond delay="0"/>
                                          </p:stCondLst>
                                        </p:cTn>
                                        <p:tgtEl>
                                          <p:spTgt spid="116"/>
                                        </p:tgtEl>
                                        <p:attrNameLst>
                                          <p:attrName>style.visibility</p:attrName>
                                        </p:attrNameLst>
                                      </p:cBhvr>
                                      <p:to>
                                        <p:strVal val="visible"/>
                                      </p:to>
                                    </p:set>
                                    <p:anim calcmode="lin" valueType="num">
                                      <p:cBhvr additive="base">
                                        <p:cTn id="82" dur="500" decel="100000" fill="hold"/>
                                        <p:tgtEl>
                                          <p:spTgt spid="116"/>
                                        </p:tgtEl>
                                        <p:attrNameLst>
                                          <p:attrName>ppt_w</p:attrName>
                                        </p:attrNameLst>
                                      </p:cBhvr>
                                      <p:tavLst>
                                        <p:tav tm="0">
                                          <p:val>
                                            <p:strVal val="#ppt_w*0.55"/>
                                          </p:val>
                                        </p:tav>
                                        <p:tav tm="100000">
                                          <p:val>
                                            <p:strVal val="#ppt_w"/>
                                          </p:val>
                                        </p:tav>
                                      </p:tavLst>
                                    </p:anim>
                                    <p:anim calcmode="lin" valueType="num">
                                      <p:cBhvr additive="base">
                                        <p:cTn id="83" dur="500" decel="100000" fill="hold"/>
                                        <p:tgtEl>
                                          <p:spTgt spid="116"/>
                                        </p:tgtEl>
                                        <p:attrNameLst>
                                          <p:attrName>ppt_h</p:attrName>
                                        </p:attrNameLst>
                                      </p:cBhvr>
                                      <p:tavLst>
                                        <p:tav tm="0">
                                          <p:val>
                                            <p:strVal val="#ppt_h*0.55"/>
                                          </p:val>
                                        </p:tav>
                                        <p:tav tm="100000">
                                          <p:val>
                                            <p:strVal val="#ppt_h"/>
                                          </p:val>
                                        </p:tav>
                                      </p:tavLst>
                                    </p:anim>
                                    <p:animEffect transition="in" filter="fade">
                                      <p:cBhvr>
                                        <p:cTn id="84" dur="500"/>
                                        <p:tgtEl>
                                          <p:spTgt spid="116"/>
                                        </p:tgtEl>
                                      </p:cBhvr>
                                    </p:animEffect>
                                  </p:childTnLst>
                                </p:cTn>
                              </p:par>
                              <p:par>
                                <p:cTn id="85" presetID="53" presetClass="entr" presetSubtype="16" fill="hold" grpId="0" nodeType="withEffect">
                                  <p:stCondLst>
                                    <p:cond delay="450"/>
                                  </p:stCondLst>
                                  <p:childTnLst>
                                    <p:set>
                                      <p:cBhvr>
                                        <p:cTn id="86" dur="1" fill="hold">
                                          <p:stCondLst>
                                            <p:cond delay="0"/>
                                          </p:stCondLst>
                                        </p:cTn>
                                        <p:tgtEl>
                                          <p:spTgt spid="117"/>
                                        </p:tgtEl>
                                        <p:attrNameLst>
                                          <p:attrName>style.visibility</p:attrName>
                                        </p:attrNameLst>
                                      </p:cBhvr>
                                      <p:to>
                                        <p:strVal val="visible"/>
                                      </p:to>
                                    </p:set>
                                    <p:anim calcmode="lin" valueType="num">
                                      <p:cBhvr additive="base">
                                        <p:cTn id="87" dur="500" decel="100000" fill="hold"/>
                                        <p:tgtEl>
                                          <p:spTgt spid="117"/>
                                        </p:tgtEl>
                                        <p:attrNameLst>
                                          <p:attrName>ppt_w</p:attrName>
                                        </p:attrNameLst>
                                      </p:cBhvr>
                                      <p:tavLst>
                                        <p:tav tm="0">
                                          <p:val>
                                            <p:strVal val="#ppt_w*0.55"/>
                                          </p:val>
                                        </p:tav>
                                        <p:tav tm="100000">
                                          <p:val>
                                            <p:strVal val="#ppt_w"/>
                                          </p:val>
                                        </p:tav>
                                      </p:tavLst>
                                    </p:anim>
                                    <p:anim calcmode="lin" valueType="num">
                                      <p:cBhvr additive="base">
                                        <p:cTn id="88" dur="500" decel="100000" fill="hold"/>
                                        <p:tgtEl>
                                          <p:spTgt spid="117"/>
                                        </p:tgtEl>
                                        <p:attrNameLst>
                                          <p:attrName>ppt_h</p:attrName>
                                        </p:attrNameLst>
                                      </p:cBhvr>
                                      <p:tavLst>
                                        <p:tav tm="0">
                                          <p:val>
                                            <p:strVal val="#ppt_h*0.55"/>
                                          </p:val>
                                        </p:tav>
                                        <p:tav tm="100000">
                                          <p:val>
                                            <p:strVal val="#ppt_h"/>
                                          </p:val>
                                        </p:tav>
                                      </p:tavLst>
                                    </p:anim>
                                    <p:animEffect transition="in" filter="fade">
                                      <p:cBhvr>
                                        <p:cTn id="89" dur="500"/>
                                        <p:tgtEl>
                                          <p:spTgt spid="117"/>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119"/>
                                        </p:tgtEl>
                                        <p:attrNameLst>
                                          <p:attrName>style.visibility</p:attrName>
                                        </p:attrNameLst>
                                      </p:cBhvr>
                                      <p:to>
                                        <p:strVal val="visible"/>
                                      </p:to>
                                    </p:set>
                                    <p:animEffect transition="in" filter="fade">
                                      <p:cBhvr>
                                        <p:cTn id="94" dur="5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UNCLEAR</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Can We Start This Story?</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“Improve doctor appointments.” The team cannot estimate it confidently.</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247</a:t>
            </a:r>
            <a:endParaRPr lang="en-US" sz="850" dirty="0"/>
          </a:p>
        </p:txBody>
      </p:sp>
      <p:sp>
        <p:nvSpPr>
          <p:cNvPr id="101" name="s101"/>
          <p:cNvSpPr/>
          <p:nvPr/>
        </p:nvSpPr>
        <p:spPr>
          <a:xfrm>
            <a:off x="543154" y="1965960"/>
            <a:ext cx="4023360" cy="2788920"/>
          </a:xfrm>
          <a:prstGeom prst="roundRect">
            <a:avLst>
              <a:gd name="adj" fmla="val 8000"/>
            </a:avLst>
          </a:prstGeom>
          <a:solidFill>
            <a:srgbClr val="111B2E"/>
          </a:solidFill>
          <a:ln w="19050">
            <a:solidFill>
              <a:srgbClr val="94A3B8"/>
            </a:solidFill>
            <a:prstDash val="dash"/>
          </a:ln>
        </p:spPr>
        <p:txBody>
          <a:bodyPr wrap="square" lIns="274320" tIns="457200" rIns="274320" bIns="91440" rtlCol="0" anchor="ctr">
            <a:noAutofit/>
          </a:bodyPr>
          <a:lstStyle/>
          <a:p>
            <a:pPr marL="0" indent="0" algn="ctr">
              <a:spcBef>
                <a:spcPts val="0"/>
              </a:spcBef>
              <a:spcAft>
                <a:spcPts val="1000"/>
              </a:spcAft>
              <a:buNone/>
            </a:pPr>
            <a:r>
              <a:rPr lang="en-US" sz="1100" b="1" dirty="0">
                <a:solidFill>
                  <a:srgbClr val="F87171"/>
                </a:solidFill>
                <a:latin typeface="Segoe UI"/>
                <a:ea typeface="Segoe UI"/>
                <a:cs typeface="Segoe UI"/>
              </a:rPr>
              <a:t>UNCLEAR PBI</a:t>
            </a:r>
            <a:endParaRPr lang="en-US" sz="1100" dirty="0"/>
          </a:p>
          <a:p>
            <a:pPr marL="0" indent="0" algn="ctr">
              <a:spcBef>
                <a:spcPts val="0"/>
              </a:spcBef>
              <a:spcAft>
                <a:spcPts val="0"/>
              </a:spcAft>
              <a:buNone/>
            </a:pPr>
            <a:r>
              <a:rPr lang="en-US" sz="2100" b="1" dirty="0">
                <a:solidFill>
                  <a:srgbClr val="94A3B8"/>
                </a:solidFill>
                <a:latin typeface="Segoe UI"/>
                <a:ea typeface="Segoe UI"/>
                <a:cs typeface="Segoe UI"/>
              </a:rPr>
              <a:t>“Improve doctor appointments.”</a:t>
            </a:r>
            <a:endParaRPr lang="en-US" sz="2100" dirty="0"/>
          </a:p>
        </p:txBody>
      </p:sp>
      <p:pic>
        <p:nvPicPr>
          <p:cNvPr id="102" name="img102"/>
          <p:cNvPicPr>
            <a:picLocks noChangeAspect="1"/>
          </p:cNvPicPr>
          <p:nvPr/>
        </p:nvPicPr>
        <p:blipFill>
          <a:blip r:embed="rId4"/>
          <a:stretch>
            <a:fillRect/>
          </a:stretch>
        </p:blipFill>
        <p:spPr>
          <a:xfrm>
            <a:off x="2234794" y="2194560"/>
            <a:ext cx="640080" cy="640080"/>
          </a:xfrm>
          <a:prstGeom prst="rect">
            <a:avLst/>
          </a:prstGeom>
        </p:spPr>
      </p:pic>
      <p:sp>
        <p:nvSpPr>
          <p:cNvPr id="103" name="s103"/>
          <p:cNvSpPr txBox="1"/>
          <p:nvPr/>
        </p:nvSpPr>
        <p:spPr>
          <a:xfrm>
            <a:off x="4886554" y="1965960"/>
            <a:ext cx="36576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13D0F7"/>
                </a:solidFill>
                <a:latin typeface="Segoe UI"/>
                <a:ea typeface="Segoe UI"/>
                <a:cs typeface="Segoe UI"/>
              </a:rPr>
              <a:t>DEVELOPERS ASK…</a:t>
            </a:r>
            <a:endParaRPr lang="en-US" sz="1100" dirty="0"/>
          </a:p>
        </p:txBody>
      </p:sp>
      <p:sp>
        <p:nvSpPr>
          <p:cNvPr id="104" name="s104"/>
          <p:cNvSpPr/>
          <p:nvPr/>
        </p:nvSpPr>
        <p:spPr>
          <a:xfrm>
            <a:off x="4886554" y="2331720"/>
            <a:ext cx="3258007" cy="65836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13D0F7"/>
                </a:solidFill>
                <a:latin typeface="Segoe UI"/>
                <a:ea typeface="Segoe UI"/>
                <a:cs typeface="Segoe UI"/>
              </a:rPr>
              <a:t>?  </a:t>
            </a:r>
            <a:r>
              <a:rPr lang="en-US" sz="1350" b="1" dirty="0">
                <a:solidFill>
                  <a:srgbClr val="FFFFFF"/>
                </a:solidFill>
                <a:latin typeface="Segoe UI"/>
                <a:ea typeface="Segoe UI"/>
                <a:cs typeface="Segoe UI"/>
              </a:rPr>
              <a:t>Which user?</a:t>
            </a:r>
            <a:endParaRPr lang="en-US" sz="1350" dirty="0"/>
          </a:p>
        </p:txBody>
      </p:sp>
      <p:sp>
        <p:nvSpPr>
          <p:cNvPr id="105" name="s105"/>
          <p:cNvSpPr/>
          <p:nvPr/>
        </p:nvSpPr>
        <p:spPr>
          <a:xfrm>
            <a:off x="8373161" y="2331720"/>
            <a:ext cx="3258007" cy="65836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13D0F7"/>
                </a:solidFill>
                <a:latin typeface="Segoe UI"/>
                <a:ea typeface="Segoe UI"/>
                <a:cs typeface="Segoe UI"/>
              </a:rPr>
              <a:t>?  </a:t>
            </a:r>
            <a:r>
              <a:rPr lang="en-US" sz="1350" b="1" dirty="0">
                <a:solidFill>
                  <a:srgbClr val="FFFFFF"/>
                </a:solidFill>
                <a:latin typeface="Segoe UI"/>
                <a:ea typeface="Segoe UI"/>
                <a:cs typeface="Segoe UI"/>
              </a:rPr>
              <a:t>What does “improve” mean?</a:t>
            </a:r>
            <a:endParaRPr lang="en-US" sz="1350" dirty="0"/>
          </a:p>
        </p:txBody>
      </p:sp>
      <p:sp>
        <p:nvSpPr>
          <p:cNvPr id="106" name="s106"/>
          <p:cNvSpPr/>
          <p:nvPr/>
        </p:nvSpPr>
        <p:spPr>
          <a:xfrm>
            <a:off x="4886554" y="3136392"/>
            <a:ext cx="3258007" cy="65836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13D0F7"/>
                </a:solidFill>
                <a:latin typeface="Segoe UI"/>
                <a:ea typeface="Segoe UI"/>
                <a:cs typeface="Segoe UI"/>
              </a:rPr>
              <a:t>?  </a:t>
            </a:r>
            <a:r>
              <a:rPr lang="en-US" sz="1350" b="1" dirty="0">
                <a:solidFill>
                  <a:srgbClr val="FFFFFF"/>
                </a:solidFill>
                <a:latin typeface="Segoe UI"/>
                <a:ea typeface="Segoe UI"/>
                <a:cs typeface="Segoe UI"/>
              </a:rPr>
              <a:t>Can appointments overlap?</a:t>
            </a:r>
            <a:endParaRPr lang="en-US" sz="1350" dirty="0"/>
          </a:p>
        </p:txBody>
      </p:sp>
      <p:sp>
        <p:nvSpPr>
          <p:cNvPr id="107" name="s107"/>
          <p:cNvSpPr/>
          <p:nvPr/>
        </p:nvSpPr>
        <p:spPr>
          <a:xfrm>
            <a:off x="8373161" y="3136392"/>
            <a:ext cx="3258007" cy="65836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13D0F7"/>
                </a:solidFill>
                <a:latin typeface="Segoe UI"/>
                <a:ea typeface="Segoe UI"/>
                <a:cs typeface="Segoe UI"/>
              </a:rPr>
              <a:t>?  </a:t>
            </a:r>
            <a:r>
              <a:rPr lang="en-US" sz="1350" b="1" dirty="0">
                <a:solidFill>
                  <a:srgbClr val="FFFFFF"/>
                </a:solidFill>
                <a:latin typeface="Segoe UI"/>
                <a:ea typeface="Segoe UI"/>
                <a:cs typeface="Segoe UI"/>
              </a:rPr>
              <a:t>Is cancellation included?</a:t>
            </a:r>
            <a:endParaRPr lang="en-US" sz="1350" dirty="0"/>
          </a:p>
        </p:txBody>
      </p:sp>
      <p:sp>
        <p:nvSpPr>
          <p:cNvPr id="108" name="s108"/>
          <p:cNvSpPr/>
          <p:nvPr/>
        </p:nvSpPr>
        <p:spPr>
          <a:xfrm>
            <a:off x="4886554" y="3941064"/>
            <a:ext cx="3258007" cy="65836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13D0F7"/>
                </a:solidFill>
                <a:latin typeface="Segoe UI"/>
                <a:ea typeface="Segoe UI"/>
                <a:cs typeface="Segoe UI"/>
              </a:rPr>
              <a:t>?  </a:t>
            </a:r>
            <a:r>
              <a:rPr lang="en-US" sz="1350" b="1" dirty="0">
                <a:solidFill>
                  <a:srgbClr val="FFFFFF"/>
                </a:solidFill>
                <a:latin typeface="Segoe UI"/>
                <a:ea typeface="Segoe UI"/>
                <a:cs typeface="Segoe UI"/>
              </a:rPr>
              <a:t>Same schedule for all hospitals?</a:t>
            </a:r>
            <a:endParaRPr lang="en-US" sz="1350" dirty="0"/>
          </a:p>
        </p:txBody>
      </p:sp>
      <p:sp>
        <p:nvSpPr>
          <p:cNvPr id="109" name="s109"/>
          <p:cNvSpPr/>
          <p:nvPr/>
        </p:nvSpPr>
        <p:spPr>
          <a:xfrm>
            <a:off x="8373161" y="3941064"/>
            <a:ext cx="3258007" cy="658368"/>
          </a:xfrm>
          <a:prstGeom prst="roundRect">
            <a:avLst>
              <a:gd name="adj" fmla="val 15000"/>
            </a:avLst>
          </a:prstGeom>
          <a:solidFill>
            <a:srgbClr val="13D0F7">
              <a:alpha val="8000"/>
            </a:srgbClr>
          </a:solidFill>
          <a:ln w="12700">
            <a:solidFill>
              <a:srgbClr val="13D0F7">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13D0F7"/>
                </a:solidFill>
                <a:latin typeface="Segoe UI"/>
                <a:ea typeface="Segoe UI"/>
                <a:cs typeface="Segoe UI"/>
              </a:rPr>
              <a:t>?  </a:t>
            </a:r>
            <a:r>
              <a:rPr lang="en-US" sz="1350" b="1" dirty="0">
                <a:solidFill>
                  <a:srgbClr val="FFFFFF"/>
                </a:solidFill>
                <a:latin typeface="Segoe UI"/>
                <a:ea typeface="Segoe UI"/>
                <a:cs typeface="Segoe UI"/>
              </a:rPr>
              <a:t>What permissions?</a:t>
            </a:r>
            <a:endParaRPr lang="en-US" sz="1350" dirty="0"/>
          </a:p>
        </p:txBody>
      </p:sp>
      <p:sp>
        <p:nvSpPr>
          <p:cNvPr id="110" name="s110"/>
          <p:cNvSpPr/>
          <p:nvPr/>
        </p:nvSpPr>
        <p:spPr>
          <a:xfrm>
            <a:off x="543154" y="4983480"/>
            <a:ext cx="11088014" cy="777240"/>
          </a:xfrm>
          <a:prstGeom prst="roundRect">
            <a:avLst>
              <a:gd name="adj" fmla="val 12000"/>
            </a:avLst>
          </a:prstGeom>
          <a:solidFill>
            <a:srgbClr val="111B2E"/>
          </a:solidFill>
          <a:ln w="12700">
            <a:solidFill>
              <a:srgbClr val="34D399"/>
            </a:solidFill>
            <a:prstDash val="solid"/>
          </a:ln>
        </p:spPr>
        <p:txBody>
          <a:bodyPr wrap="square" lIns="274320" tIns="45720" rIns="274320" bIns="4572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Product Backlog Refinement  </a:t>
            </a:r>
            <a:r>
              <a:rPr lang="en-US" sz="1300" b="0" dirty="0">
                <a:solidFill>
                  <a:srgbClr val="E2E8F0"/>
                </a:solidFill>
                <a:latin typeface="Segoe UI"/>
                <a:ea typeface="Segoe UI"/>
                <a:cs typeface="Segoe UI"/>
              </a:rPr>
              <a:t>clarify · split · add AC · find dependencies · estimate · prepare for Planning. An ongoing activity, not an official Scrum event.</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900"/>
                                        <p:tgtEl>
                                          <p:spTgt spid="101"/>
                                        </p:tgtEl>
                                      </p:cBhvr>
                                    </p:animEffect>
                                  </p:childTnLst>
                                </p:cTn>
                              </p:par>
                              <p:par>
                                <p:cTn id="8" presetID="10" presetClass="entr" presetSubtype="0" fill="hold" nodeType="withEffect">
                                  <p:stCondLst>
                                    <p:cond delay="0"/>
                                  </p:stCondLst>
                                  <p:childTnLst>
                                    <p:set>
                                      <p:cBhvr>
                                        <p:cTn id="9" dur="1" fill="hold">
                                          <p:stCondLst>
                                            <p:cond delay="0"/>
                                          </p:stCondLst>
                                        </p:cTn>
                                        <p:tgtEl>
                                          <p:spTgt spid="102"/>
                                        </p:tgtEl>
                                        <p:attrNameLst>
                                          <p:attrName>style.visibility</p:attrName>
                                        </p:attrNameLst>
                                      </p:cBhvr>
                                      <p:to>
                                        <p:strVal val="visible"/>
                                      </p:to>
                                    </p:set>
                                    <p:animEffect transition="in" filter="fade">
                                      <p:cBhvr>
                                        <p:cTn id="10" dur="900"/>
                                        <p:tgtEl>
                                          <p:spTgt spid="102"/>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childTnLst>
                                </p:cTn>
                              </p:par>
                              <p:par>
                                <p:cTn id="16" presetID="53" presetClass="entr" presetSubtype="16" fill="hold" grpId="0" nodeType="withEffect">
                                  <p:stCondLst>
                                    <p:cond delay="130"/>
                                  </p:stCondLst>
                                  <p:childTnLst>
                                    <p:set>
                                      <p:cBhvr>
                                        <p:cTn id="17" dur="1" fill="hold">
                                          <p:stCondLst>
                                            <p:cond delay="0"/>
                                          </p:stCondLst>
                                        </p:cTn>
                                        <p:tgtEl>
                                          <p:spTgt spid="104"/>
                                        </p:tgtEl>
                                        <p:attrNameLst>
                                          <p:attrName>style.visibility</p:attrName>
                                        </p:attrNameLst>
                                      </p:cBhvr>
                                      <p:to>
                                        <p:strVal val="visible"/>
                                      </p:to>
                                    </p:set>
                                    <p:anim calcmode="lin" valueType="num">
                                      <p:cBhvr additive="base">
                                        <p:cTn id="18"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19" dur="500" decel="100000" fill="hold"/>
                                        <p:tgtEl>
                                          <p:spTgt spid="104"/>
                                        </p:tgtEl>
                                        <p:attrNameLst>
                                          <p:attrName>ppt_h</p:attrName>
                                        </p:attrNameLst>
                                      </p:cBhvr>
                                      <p:tavLst>
                                        <p:tav tm="0">
                                          <p:val>
                                            <p:strVal val="#ppt_h*0.3"/>
                                          </p:val>
                                        </p:tav>
                                        <p:tav tm="100000">
                                          <p:val>
                                            <p:strVal val="#ppt_h*1.08"/>
                                          </p:val>
                                        </p:tav>
                                      </p:tavLst>
                                    </p:anim>
                                    <p:animEffect transition="in" filter="fade">
                                      <p:cBhvr>
                                        <p:cTn id="20" dur="250"/>
                                        <p:tgtEl>
                                          <p:spTgt spid="104"/>
                                        </p:tgtEl>
                                      </p:cBhvr>
                                    </p:animEffect>
                                    <p:anim calcmode="lin" valueType="num">
                                      <p:cBhvr additive="base">
                                        <p:cTn id="21"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22"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par>
                                <p:cTn id="23" presetID="53" presetClass="entr" presetSubtype="16" fill="hold" grpId="0" nodeType="withEffect">
                                  <p:stCondLst>
                                    <p:cond delay="260"/>
                                  </p:stCondLst>
                                  <p:childTnLst>
                                    <p:set>
                                      <p:cBhvr>
                                        <p:cTn id="24" dur="1" fill="hold">
                                          <p:stCondLst>
                                            <p:cond delay="0"/>
                                          </p:stCondLst>
                                        </p:cTn>
                                        <p:tgtEl>
                                          <p:spTgt spid="105"/>
                                        </p:tgtEl>
                                        <p:attrNameLst>
                                          <p:attrName>style.visibility</p:attrName>
                                        </p:attrNameLst>
                                      </p:cBhvr>
                                      <p:to>
                                        <p:strVal val="visible"/>
                                      </p:to>
                                    </p:set>
                                    <p:anim calcmode="lin" valueType="num">
                                      <p:cBhvr additive="base">
                                        <p:cTn id="25" dur="500" decel="100000" fill="hold"/>
                                        <p:tgtEl>
                                          <p:spTgt spid="105"/>
                                        </p:tgtEl>
                                        <p:attrNameLst>
                                          <p:attrName>ppt_w</p:attrName>
                                        </p:attrNameLst>
                                      </p:cBhvr>
                                      <p:tavLst>
                                        <p:tav tm="0">
                                          <p:val>
                                            <p:strVal val="#ppt_w*0.3"/>
                                          </p:val>
                                        </p:tav>
                                        <p:tav tm="100000">
                                          <p:val>
                                            <p:strVal val="#ppt_w*1.08"/>
                                          </p:val>
                                        </p:tav>
                                      </p:tavLst>
                                    </p:anim>
                                    <p:anim calcmode="lin" valueType="num">
                                      <p:cBhvr additive="base">
                                        <p:cTn id="26" dur="500" decel="100000" fill="hold"/>
                                        <p:tgtEl>
                                          <p:spTgt spid="105"/>
                                        </p:tgtEl>
                                        <p:attrNameLst>
                                          <p:attrName>ppt_h</p:attrName>
                                        </p:attrNameLst>
                                      </p:cBhvr>
                                      <p:tavLst>
                                        <p:tav tm="0">
                                          <p:val>
                                            <p:strVal val="#ppt_h*0.3"/>
                                          </p:val>
                                        </p:tav>
                                        <p:tav tm="100000">
                                          <p:val>
                                            <p:strVal val="#ppt_h*1.08"/>
                                          </p:val>
                                        </p:tav>
                                      </p:tavLst>
                                    </p:anim>
                                    <p:animEffect transition="in" filter="fade">
                                      <p:cBhvr>
                                        <p:cTn id="27" dur="250"/>
                                        <p:tgtEl>
                                          <p:spTgt spid="105"/>
                                        </p:tgtEl>
                                      </p:cBhvr>
                                    </p:animEffect>
                                    <p:anim calcmode="lin" valueType="num">
                                      <p:cBhvr additive="base">
                                        <p:cTn id="28" dur="160" fill="hold">
                                          <p:stCondLst>
                                            <p:cond delay="500"/>
                                          </p:stCondLst>
                                        </p:cTn>
                                        <p:tgtEl>
                                          <p:spTgt spid="105"/>
                                        </p:tgtEl>
                                        <p:attrNameLst>
                                          <p:attrName>ppt_w</p:attrName>
                                        </p:attrNameLst>
                                      </p:cBhvr>
                                      <p:tavLst>
                                        <p:tav tm="0">
                                          <p:val>
                                            <p:strVal val="#ppt_w*1.08"/>
                                          </p:val>
                                        </p:tav>
                                        <p:tav tm="100000">
                                          <p:val>
                                            <p:strVal val="#ppt_w"/>
                                          </p:val>
                                        </p:tav>
                                      </p:tavLst>
                                    </p:anim>
                                    <p:anim calcmode="lin" valueType="num">
                                      <p:cBhvr additive="base">
                                        <p:cTn id="29" dur="160" fill="hold">
                                          <p:stCondLst>
                                            <p:cond delay="500"/>
                                          </p:stCondLst>
                                        </p:cTn>
                                        <p:tgtEl>
                                          <p:spTgt spid="105"/>
                                        </p:tgtEl>
                                        <p:attrNameLst>
                                          <p:attrName>ppt_h</p:attrName>
                                        </p:attrNameLst>
                                      </p:cBhvr>
                                      <p:tavLst>
                                        <p:tav tm="0">
                                          <p:val>
                                            <p:strVal val="#ppt_h*1.08"/>
                                          </p:val>
                                        </p:tav>
                                        <p:tav tm="100000">
                                          <p:val>
                                            <p:strVal val="#ppt_h"/>
                                          </p:val>
                                        </p:tav>
                                      </p:tavLst>
                                    </p:anim>
                                  </p:childTnLst>
                                </p:cTn>
                              </p:par>
                              <p:par>
                                <p:cTn id="30" presetID="53" presetClass="entr" presetSubtype="16" fill="hold" grpId="0" nodeType="withEffect">
                                  <p:stCondLst>
                                    <p:cond delay="390"/>
                                  </p:stCondLst>
                                  <p:childTnLst>
                                    <p:set>
                                      <p:cBhvr>
                                        <p:cTn id="31" dur="1" fill="hold">
                                          <p:stCondLst>
                                            <p:cond delay="0"/>
                                          </p:stCondLst>
                                        </p:cTn>
                                        <p:tgtEl>
                                          <p:spTgt spid="106"/>
                                        </p:tgtEl>
                                        <p:attrNameLst>
                                          <p:attrName>style.visibility</p:attrName>
                                        </p:attrNameLst>
                                      </p:cBhvr>
                                      <p:to>
                                        <p:strVal val="visible"/>
                                      </p:to>
                                    </p:set>
                                    <p:anim calcmode="lin" valueType="num">
                                      <p:cBhvr additive="base">
                                        <p:cTn id="32"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33" dur="500" decel="100000" fill="hold"/>
                                        <p:tgtEl>
                                          <p:spTgt spid="106"/>
                                        </p:tgtEl>
                                        <p:attrNameLst>
                                          <p:attrName>ppt_h</p:attrName>
                                        </p:attrNameLst>
                                      </p:cBhvr>
                                      <p:tavLst>
                                        <p:tav tm="0">
                                          <p:val>
                                            <p:strVal val="#ppt_h*0.3"/>
                                          </p:val>
                                        </p:tav>
                                        <p:tav tm="100000">
                                          <p:val>
                                            <p:strVal val="#ppt_h*1.08"/>
                                          </p:val>
                                        </p:tav>
                                      </p:tavLst>
                                    </p:anim>
                                    <p:animEffect transition="in" filter="fade">
                                      <p:cBhvr>
                                        <p:cTn id="34" dur="250"/>
                                        <p:tgtEl>
                                          <p:spTgt spid="106"/>
                                        </p:tgtEl>
                                      </p:cBhvr>
                                    </p:animEffect>
                                    <p:anim calcmode="lin" valueType="num">
                                      <p:cBhvr additive="base">
                                        <p:cTn id="35"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36"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par>
                                <p:cTn id="37" presetID="53" presetClass="entr" presetSubtype="16" fill="hold" grpId="0" nodeType="withEffect">
                                  <p:stCondLst>
                                    <p:cond delay="520"/>
                                  </p:stCondLst>
                                  <p:childTnLst>
                                    <p:set>
                                      <p:cBhvr>
                                        <p:cTn id="38" dur="1" fill="hold">
                                          <p:stCondLst>
                                            <p:cond delay="0"/>
                                          </p:stCondLst>
                                        </p:cTn>
                                        <p:tgtEl>
                                          <p:spTgt spid="107"/>
                                        </p:tgtEl>
                                        <p:attrNameLst>
                                          <p:attrName>style.visibility</p:attrName>
                                        </p:attrNameLst>
                                      </p:cBhvr>
                                      <p:to>
                                        <p:strVal val="visible"/>
                                      </p:to>
                                    </p:set>
                                    <p:anim calcmode="lin" valueType="num">
                                      <p:cBhvr additive="base">
                                        <p:cTn id="39" dur="50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40" dur="500" decel="100000" fill="hold"/>
                                        <p:tgtEl>
                                          <p:spTgt spid="107"/>
                                        </p:tgtEl>
                                        <p:attrNameLst>
                                          <p:attrName>ppt_h</p:attrName>
                                        </p:attrNameLst>
                                      </p:cBhvr>
                                      <p:tavLst>
                                        <p:tav tm="0">
                                          <p:val>
                                            <p:strVal val="#ppt_h*0.3"/>
                                          </p:val>
                                        </p:tav>
                                        <p:tav tm="100000">
                                          <p:val>
                                            <p:strVal val="#ppt_h*1.08"/>
                                          </p:val>
                                        </p:tav>
                                      </p:tavLst>
                                    </p:anim>
                                    <p:animEffect transition="in" filter="fade">
                                      <p:cBhvr>
                                        <p:cTn id="41" dur="250"/>
                                        <p:tgtEl>
                                          <p:spTgt spid="107"/>
                                        </p:tgtEl>
                                      </p:cBhvr>
                                    </p:animEffect>
                                    <p:anim calcmode="lin" valueType="num">
                                      <p:cBhvr additive="base">
                                        <p:cTn id="42" dur="160" fill="hold">
                                          <p:stCondLst>
                                            <p:cond delay="500"/>
                                          </p:stCondLst>
                                        </p:cTn>
                                        <p:tgtEl>
                                          <p:spTgt spid="107"/>
                                        </p:tgtEl>
                                        <p:attrNameLst>
                                          <p:attrName>ppt_w</p:attrName>
                                        </p:attrNameLst>
                                      </p:cBhvr>
                                      <p:tavLst>
                                        <p:tav tm="0">
                                          <p:val>
                                            <p:strVal val="#ppt_w*1.08"/>
                                          </p:val>
                                        </p:tav>
                                        <p:tav tm="100000">
                                          <p:val>
                                            <p:strVal val="#ppt_w"/>
                                          </p:val>
                                        </p:tav>
                                      </p:tavLst>
                                    </p:anim>
                                    <p:anim calcmode="lin" valueType="num">
                                      <p:cBhvr additive="base">
                                        <p:cTn id="43" dur="160" fill="hold">
                                          <p:stCondLst>
                                            <p:cond delay="500"/>
                                          </p:stCondLst>
                                        </p:cTn>
                                        <p:tgtEl>
                                          <p:spTgt spid="107"/>
                                        </p:tgtEl>
                                        <p:attrNameLst>
                                          <p:attrName>ppt_h</p:attrName>
                                        </p:attrNameLst>
                                      </p:cBhvr>
                                      <p:tavLst>
                                        <p:tav tm="0">
                                          <p:val>
                                            <p:strVal val="#ppt_h*1.08"/>
                                          </p:val>
                                        </p:tav>
                                        <p:tav tm="100000">
                                          <p:val>
                                            <p:strVal val="#ppt_h"/>
                                          </p:val>
                                        </p:tav>
                                      </p:tavLst>
                                    </p:anim>
                                  </p:childTnLst>
                                </p:cTn>
                              </p:par>
                              <p:par>
                                <p:cTn id="44" presetID="53" presetClass="entr" presetSubtype="16" fill="hold" grpId="0" nodeType="withEffect">
                                  <p:stCondLst>
                                    <p:cond delay="650"/>
                                  </p:stCondLst>
                                  <p:childTnLst>
                                    <p:set>
                                      <p:cBhvr>
                                        <p:cTn id="45" dur="1" fill="hold">
                                          <p:stCondLst>
                                            <p:cond delay="0"/>
                                          </p:stCondLst>
                                        </p:cTn>
                                        <p:tgtEl>
                                          <p:spTgt spid="108"/>
                                        </p:tgtEl>
                                        <p:attrNameLst>
                                          <p:attrName>style.visibility</p:attrName>
                                        </p:attrNameLst>
                                      </p:cBhvr>
                                      <p:to>
                                        <p:strVal val="visible"/>
                                      </p:to>
                                    </p:set>
                                    <p:anim calcmode="lin" valueType="num">
                                      <p:cBhvr additive="base">
                                        <p:cTn id="46" dur="50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47" dur="500" decel="100000" fill="hold"/>
                                        <p:tgtEl>
                                          <p:spTgt spid="108"/>
                                        </p:tgtEl>
                                        <p:attrNameLst>
                                          <p:attrName>ppt_h</p:attrName>
                                        </p:attrNameLst>
                                      </p:cBhvr>
                                      <p:tavLst>
                                        <p:tav tm="0">
                                          <p:val>
                                            <p:strVal val="#ppt_h*0.3"/>
                                          </p:val>
                                        </p:tav>
                                        <p:tav tm="100000">
                                          <p:val>
                                            <p:strVal val="#ppt_h*1.08"/>
                                          </p:val>
                                        </p:tav>
                                      </p:tavLst>
                                    </p:anim>
                                    <p:animEffect transition="in" filter="fade">
                                      <p:cBhvr>
                                        <p:cTn id="48" dur="250"/>
                                        <p:tgtEl>
                                          <p:spTgt spid="108"/>
                                        </p:tgtEl>
                                      </p:cBhvr>
                                    </p:animEffect>
                                    <p:anim calcmode="lin" valueType="num">
                                      <p:cBhvr additive="base">
                                        <p:cTn id="49" dur="160" fill="hold">
                                          <p:stCondLst>
                                            <p:cond delay="500"/>
                                          </p:stCondLst>
                                        </p:cTn>
                                        <p:tgtEl>
                                          <p:spTgt spid="108"/>
                                        </p:tgtEl>
                                        <p:attrNameLst>
                                          <p:attrName>ppt_w</p:attrName>
                                        </p:attrNameLst>
                                      </p:cBhvr>
                                      <p:tavLst>
                                        <p:tav tm="0">
                                          <p:val>
                                            <p:strVal val="#ppt_w*1.08"/>
                                          </p:val>
                                        </p:tav>
                                        <p:tav tm="100000">
                                          <p:val>
                                            <p:strVal val="#ppt_w"/>
                                          </p:val>
                                        </p:tav>
                                      </p:tavLst>
                                    </p:anim>
                                    <p:anim calcmode="lin" valueType="num">
                                      <p:cBhvr additive="base">
                                        <p:cTn id="50" dur="160" fill="hold">
                                          <p:stCondLst>
                                            <p:cond delay="500"/>
                                          </p:stCondLst>
                                        </p:cTn>
                                        <p:tgtEl>
                                          <p:spTgt spid="108"/>
                                        </p:tgtEl>
                                        <p:attrNameLst>
                                          <p:attrName>ppt_h</p:attrName>
                                        </p:attrNameLst>
                                      </p:cBhvr>
                                      <p:tavLst>
                                        <p:tav tm="0">
                                          <p:val>
                                            <p:strVal val="#ppt_h*1.08"/>
                                          </p:val>
                                        </p:tav>
                                        <p:tav tm="100000">
                                          <p:val>
                                            <p:strVal val="#ppt_h"/>
                                          </p:val>
                                        </p:tav>
                                      </p:tavLst>
                                    </p:anim>
                                  </p:childTnLst>
                                </p:cTn>
                              </p:par>
                              <p:par>
                                <p:cTn id="51" presetID="53" presetClass="entr" presetSubtype="16" fill="hold" grpId="0" nodeType="withEffect">
                                  <p:stCondLst>
                                    <p:cond delay="780"/>
                                  </p:stCondLst>
                                  <p:childTnLst>
                                    <p:set>
                                      <p:cBhvr>
                                        <p:cTn id="52" dur="1" fill="hold">
                                          <p:stCondLst>
                                            <p:cond delay="0"/>
                                          </p:stCondLst>
                                        </p:cTn>
                                        <p:tgtEl>
                                          <p:spTgt spid="109"/>
                                        </p:tgtEl>
                                        <p:attrNameLst>
                                          <p:attrName>style.visibility</p:attrName>
                                        </p:attrNameLst>
                                      </p:cBhvr>
                                      <p:to>
                                        <p:strVal val="visible"/>
                                      </p:to>
                                    </p:set>
                                    <p:anim calcmode="lin" valueType="num">
                                      <p:cBhvr additive="base">
                                        <p:cTn id="53" dur="50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54" dur="500" decel="100000" fill="hold"/>
                                        <p:tgtEl>
                                          <p:spTgt spid="109"/>
                                        </p:tgtEl>
                                        <p:attrNameLst>
                                          <p:attrName>ppt_h</p:attrName>
                                        </p:attrNameLst>
                                      </p:cBhvr>
                                      <p:tavLst>
                                        <p:tav tm="0">
                                          <p:val>
                                            <p:strVal val="#ppt_h*0.3"/>
                                          </p:val>
                                        </p:tav>
                                        <p:tav tm="100000">
                                          <p:val>
                                            <p:strVal val="#ppt_h*1.08"/>
                                          </p:val>
                                        </p:tav>
                                      </p:tavLst>
                                    </p:anim>
                                    <p:animEffect transition="in" filter="fade">
                                      <p:cBhvr>
                                        <p:cTn id="55" dur="250"/>
                                        <p:tgtEl>
                                          <p:spTgt spid="109"/>
                                        </p:tgtEl>
                                      </p:cBhvr>
                                    </p:animEffect>
                                    <p:anim calcmode="lin" valueType="num">
                                      <p:cBhvr additive="base">
                                        <p:cTn id="56" dur="160" fill="hold">
                                          <p:stCondLst>
                                            <p:cond delay="500"/>
                                          </p:stCondLst>
                                        </p:cTn>
                                        <p:tgtEl>
                                          <p:spTgt spid="109"/>
                                        </p:tgtEl>
                                        <p:attrNameLst>
                                          <p:attrName>ppt_w</p:attrName>
                                        </p:attrNameLst>
                                      </p:cBhvr>
                                      <p:tavLst>
                                        <p:tav tm="0">
                                          <p:val>
                                            <p:strVal val="#ppt_w*1.08"/>
                                          </p:val>
                                        </p:tav>
                                        <p:tav tm="100000">
                                          <p:val>
                                            <p:strVal val="#ppt_w"/>
                                          </p:val>
                                        </p:tav>
                                      </p:tavLst>
                                    </p:anim>
                                    <p:anim calcmode="lin" valueType="num">
                                      <p:cBhvr additive="base">
                                        <p:cTn id="57" dur="160" fill="hold">
                                          <p:stCondLst>
                                            <p:cond delay="500"/>
                                          </p:stCondLst>
                                        </p:cTn>
                                        <p:tgtEl>
                                          <p:spTgt spid="109"/>
                                        </p:tgtEl>
                                        <p:attrNameLst>
                                          <p:attrName>ppt_h</p:attrName>
                                        </p:attrNameLst>
                                      </p:cBhvr>
                                      <p:tavLst>
                                        <p:tav tm="0">
                                          <p:val>
                                            <p:strVal val="#ppt_h*1.08"/>
                                          </p:val>
                                        </p:tav>
                                        <p:tav tm="100000">
                                          <p:val>
                                            <p:strVal val="#ppt_h"/>
                                          </p:val>
                                        </p:tav>
                                      </p:tavLst>
                                    </p:anim>
                                  </p:childTnLst>
                                </p:cTn>
                              </p:par>
                            </p:childTnLst>
                          </p:cTn>
                        </p:par>
                      </p:childTnLst>
                    </p:cTn>
                  </p:par>
                  <p:par>
                    <p:cTn id="58" fill="hold">
                      <p:stCondLst>
                        <p:cond delay="indefinite"/>
                      </p:stCondLst>
                      <p:childTnLst>
                        <p:par>
                          <p:cTn id="59" fill="hold">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110"/>
                                        </p:tgtEl>
                                        <p:attrNameLst>
                                          <p:attrName>style.visibility</p:attrName>
                                        </p:attrNameLst>
                                      </p:cBhvr>
                                      <p:to>
                                        <p:strVal val="visible"/>
                                      </p:to>
                                    </p:set>
                                    <p:animEffect transition="in" filter="fade">
                                      <p:cBhvr>
                                        <p:cTn id="62" dur="500"/>
                                        <p:tgtEl>
                                          <p:spTgt spid="110"/>
                                        </p:tgtEl>
                                      </p:cBhvr>
                                    </p:animEffect>
                                    <p:anim calcmode="lin" valueType="num">
                                      <p:cBhvr additive="base">
                                        <p:cTn id="63"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3" grpId="0" animBg="1"/>
      <p:bldP spid="104" grpId="0" animBg="1"/>
      <p:bldP spid="105" grpId="0" animBg="1"/>
      <p:bldP spid="106" grpId="0" animBg="1"/>
      <p:bldP spid="107" grpId="0" animBg="1"/>
      <p:bldP spid="108" grpId="0" animBg="1"/>
      <p:bldP spid="109" grpId="0" animBg="1"/>
      <p:bldP spid="110"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READY?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Definition of Ready</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An optional team checklist, not an official Scrum commitment.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248</a:t>
            </a:r>
            <a:endParaRPr lang="en-US" sz="850" dirty="0"/>
          </a:p>
        </p:txBody>
      </p:sp>
      <p:sp>
        <p:nvSpPr>
          <p:cNvPr id="101" name="s101"/>
          <p:cNvSpPr/>
          <p:nvPr/>
        </p:nvSpPr>
        <p:spPr>
          <a:xfrm>
            <a:off x="543154" y="1965960"/>
            <a:ext cx="5406847" cy="713232"/>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44322" y="2148840"/>
            <a:ext cx="347472" cy="347472"/>
          </a:xfrm>
          <a:prstGeom prst="roundRect">
            <a:avLst>
              <a:gd name="adj" fmla="val 15000"/>
            </a:avLst>
          </a:prstGeom>
          <a:noFill/>
          <a:ln w="19050">
            <a:solidFill>
              <a:srgbClr val="94A3B8"/>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726034" y="2112264"/>
            <a:ext cx="402336" cy="402336"/>
          </a:xfrm>
          <a:prstGeom prst="rect">
            <a:avLst/>
          </a:prstGeom>
        </p:spPr>
      </p:pic>
      <p:sp>
        <p:nvSpPr>
          <p:cNvPr id="104" name="s104"/>
          <p:cNvSpPr txBox="1"/>
          <p:nvPr/>
        </p:nvSpPr>
        <p:spPr>
          <a:xfrm>
            <a:off x="1320394" y="1965960"/>
            <a:ext cx="4492447" cy="71323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User and value are clear</a:t>
            </a:r>
            <a:endParaRPr lang="en-US" sz="1500" dirty="0"/>
          </a:p>
        </p:txBody>
      </p:sp>
      <p:sp>
        <p:nvSpPr>
          <p:cNvPr id="105" name="s105"/>
          <p:cNvSpPr/>
          <p:nvPr/>
        </p:nvSpPr>
        <p:spPr>
          <a:xfrm>
            <a:off x="6224321" y="1965960"/>
            <a:ext cx="5406847" cy="713232"/>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6" name="s106"/>
          <p:cNvSpPr/>
          <p:nvPr/>
        </p:nvSpPr>
        <p:spPr>
          <a:xfrm>
            <a:off x="6425489" y="2148840"/>
            <a:ext cx="347472" cy="347472"/>
          </a:xfrm>
          <a:prstGeom prst="roundRect">
            <a:avLst>
              <a:gd name="adj" fmla="val 15000"/>
            </a:avLst>
          </a:prstGeom>
          <a:noFill/>
          <a:ln w="19050">
            <a:solidFill>
              <a:srgbClr val="94A3B8"/>
            </a:solidFill>
            <a:prstDash val="solid"/>
          </a:ln>
        </p:spPr>
        <p:txBody>
          <a:bodyPr wrap="square" lIns="164592" tIns="109728" rIns="137160" bIns="91440" rtlCol="0" anchor="t">
            <a:noAutofit/>
          </a:bodyPr>
          <a:lstStyle/>
          <a:p>
            <a:endParaRPr lang="en-US"/>
          </a:p>
        </p:txBody>
      </p:sp>
      <p:pic>
        <p:nvPicPr>
          <p:cNvPr id="107" name="img107"/>
          <p:cNvPicPr>
            <a:picLocks noChangeAspect="1"/>
          </p:cNvPicPr>
          <p:nvPr/>
        </p:nvPicPr>
        <p:blipFill>
          <a:blip r:embed="rId4"/>
          <a:stretch>
            <a:fillRect/>
          </a:stretch>
        </p:blipFill>
        <p:spPr>
          <a:xfrm>
            <a:off x="6407201" y="2112264"/>
            <a:ext cx="402336" cy="402336"/>
          </a:xfrm>
          <a:prstGeom prst="rect">
            <a:avLst/>
          </a:prstGeom>
        </p:spPr>
      </p:pic>
      <p:sp>
        <p:nvSpPr>
          <p:cNvPr id="108" name="s108"/>
          <p:cNvSpPr txBox="1"/>
          <p:nvPr/>
        </p:nvSpPr>
        <p:spPr>
          <a:xfrm>
            <a:off x="7001561" y="1965960"/>
            <a:ext cx="4492447" cy="71323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Acceptance Criteria understandable</a:t>
            </a:r>
            <a:endParaRPr lang="en-US" sz="1500" dirty="0"/>
          </a:p>
        </p:txBody>
      </p:sp>
      <p:sp>
        <p:nvSpPr>
          <p:cNvPr id="109" name="s109"/>
          <p:cNvSpPr/>
          <p:nvPr/>
        </p:nvSpPr>
        <p:spPr>
          <a:xfrm>
            <a:off x="543154" y="2834640"/>
            <a:ext cx="5406847" cy="713232"/>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0" name="s110"/>
          <p:cNvSpPr/>
          <p:nvPr/>
        </p:nvSpPr>
        <p:spPr>
          <a:xfrm>
            <a:off x="744322" y="3017520"/>
            <a:ext cx="347472" cy="347472"/>
          </a:xfrm>
          <a:prstGeom prst="roundRect">
            <a:avLst>
              <a:gd name="adj" fmla="val 15000"/>
            </a:avLst>
          </a:prstGeom>
          <a:noFill/>
          <a:ln w="19050">
            <a:solidFill>
              <a:srgbClr val="94A3B8"/>
            </a:solidFill>
            <a:prstDash val="solid"/>
          </a:ln>
        </p:spPr>
        <p:txBody>
          <a:bodyPr wrap="square" lIns="164592" tIns="109728" rIns="137160" bIns="91440" rtlCol="0" anchor="t">
            <a:noAutofit/>
          </a:bodyPr>
          <a:lstStyle/>
          <a:p>
            <a:endParaRPr lang="en-US"/>
          </a:p>
        </p:txBody>
      </p:sp>
      <p:pic>
        <p:nvPicPr>
          <p:cNvPr id="111" name="img111"/>
          <p:cNvPicPr>
            <a:picLocks noChangeAspect="1"/>
          </p:cNvPicPr>
          <p:nvPr/>
        </p:nvPicPr>
        <p:blipFill>
          <a:blip r:embed="rId4"/>
          <a:stretch>
            <a:fillRect/>
          </a:stretch>
        </p:blipFill>
        <p:spPr>
          <a:xfrm>
            <a:off x="726034" y="2980944"/>
            <a:ext cx="402336" cy="402336"/>
          </a:xfrm>
          <a:prstGeom prst="rect">
            <a:avLst/>
          </a:prstGeom>
        </p:spPr>
      </p:pic>
      <p:sp>
        <p:nvSpPr>
          <p:cNvPr id="112" name="s112"/>
          <p:cNvSpPr txBox="1"/>
          <p:nvPr/>
        </p:nvSpPr>
        <p:spPr>
          <a:xfrm>
            <a:off x="1320394" y="2834640"/>
            <a:ext cx="4492447" cy="71323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Item small enough</a:t>
            </a:r>
            <a:endParaRPr lang="en-US" sz="1500" dirty="0"/>
          </a:p>
        </p:txBody>
      </p:sp>
      <p:sp>
        <p:nvSpPr>
          <p:cNvPr id="113" name="s113"/>
          <p:cNvSpPr/>
          <p:nvPr/>
        </p:nvSpPr>
        <p:spPr>
          <a:xfrm>
            <a:off x="6224321" y="2834640"/>
            <a:ext cx="5406847" cy="713232"/>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4" name="s114"/>
          <p:cNvSpPr/>
          <p:nvPr/>
        </p:nvSpPr>
        <p:spPr>
          <a:xfrm>
            <a:off x="6425489" y="3017520"/>
            <a:ext cx="347472" cy="347472"/>
          </a:xfrm>
          <a:prstGeom prst="roundRect">
            <a:avLst>
              <a:gd name="adj" fmla="val 15000"/>
            </a:avLst>
          </a:prstGeom>
          <a:noFill/>
          <a:ln w="19050">
            <a:solidFill>
              <a:srgbClr val="94A3B8"/>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4"/>
          <a:stretch>
            <a:fillRect/>
          </a:stretch>
        </p:blipFill>
        <p:spPr>
          <a:xfrm>
            <a:off x="6407201" y="2980944"/>
            <a:ext cx="402336" cy="402336"/>
          </a:xfrm>
          <a:prstGeom prst="rect">
            <a:avLst/>
          </a:prstGeom>
        </p:spPr>
      </p:pic>
      <p:sp>
        <p:nvSpPr>
          <p:cNvPr id="116" name="s116"/>
          <p:cNvSpPr txBox="1"/>
          <p:nvPr/>
        </p:nvSpPr>
        <p:spPr>
          <a:xfrm>
            <a:off x="7001561" y="2834640"/>
            <a:ext cx="4492447" cy="71323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Major dependencies known</a:t>
            </a:r>
            <a:endParaRPr lang="en-US" sz="1500" dirty="0"/>
          </a:p>
        </p:txBody>
      </p:sp>
      <p:sp>
        <p:nvSpPr>
          <p:cNvPr id="117" name="s117"/>
          <p:cNvSpPr/>
          <p:nvPr/>
        </p:nvSpPr>
        <p:spPr>
          <a:xfrm>
            <a:off x="543154" y="3703320"/>
            <a:ext cx="5406847" cy="713232"/>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8" name="s118"/>
          <p:cNvSpPr/>
          <p:nvPr/>
        </p:nvSpPr>
        <p:spPr>
          <a:xfrm>
            <a:off x="744322" y="3886200"/>
            <a:ext cx="347472" cy="347472"/>
          </a:xfrm>
          <a:prstGeom prst="roundRect">
            <a:avLst>
              <a:gd name="adj" fmla="val 15000"/>
            </a:avLst>
          </a:prstGeom>
          <a:noFill/>
          <a:ln w="19050">
            <a:solidFill>
              <a:srgbClr val="94A3B8"/>
            </a:solidFill>
            <a:prstDash val="solid"/>
          </a:ln>
        </p:spPr>
        <p:txBody>
          <a:bodyPr wrap="square" lIns="164592" tIns="109728" rIns="137160" bIns="91440" rtlCol="0" anchor="t">
            <a:noAutofit/>
          </a:bodyPr>
          <a:lstStyle/>
          <a:p>
            <a:endParaRPr lang="en-US"/>
          </a:p>
        </p:txBody>
      </p:sp>
      <p:pic>
        <p:nvPicPr>
          <p:cNvPr id="119" name="img119"/>
          <p:cNvPicPr>
            <a:picLocks noChangeAspect="1"/>
          </p:cNvPicPr>
          <p:nvPr/>
        </p:nvPicPr>
        <p:blipFill>
          <a:blip r:embed="rId4"/>
          <a:stretch>
            <a:fillRect/>
          </a:stretch>
        </p:blipFill>
        <p:spPr>
          <a:xfrm>
            <a:off x="726034" y="3849624"/>
            <a:ext cx="402336" cy="402336"/>
          </a:xfrm>
          <a:prstGeom prst="rect">
            <a:avLst/>
          </a:prstGeom>
        </p:spPr>
      </p:pic>
      <p:sp>
        <p:nvSpPr>
          <p:cNvPr id="120" name="s120"/>
          <p:cNvSpPr txBox="1"/>
          <p:nvPr/>
        </p:nvSpPr>
        <p:spPr>
          <a:xfrm>
            <a:off x="1320394" y="3703320"/>
            <a:ext cx="4492447" cy="71323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Team can estimate it</a:t>
            </a:r>
            <a:endParaRPr lang="en-US" sz="1500" dirty="0"/>
          </a:p>
        </p:txBody>
      </p:sp>
      <p:sp>
        <p:nvSpPr>
          <p:cNvPr id="121" name="s121"/>
          <p:cNvSpPr/>
          <p:nvPr/>
        </p:nvSpPr>
        <p:spPr>
          <a:xfrm>
            <a:off x="6224321" y="3703320"/>
            <a:ext cx="5406847" cy="713232"/>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2" name="s122"/>
          <p:cNvSpPr/>
          <p:nvPr/>
        </p:nvSpPr>
        <p:spPr>
          <a:xfrm>
            <a:off x="6425489" y="3886200"/>
            <a:ext cx="347472" cy="347472"/>
          </a:xfrm>
          <a:prstGeom prst="roundRect">
            <a:avLst>
              <a:gd name="adj" fmla="val 15000"/>
            </a:avLst>
          </a:prstGeom>
          <a:noFill/>
          <a:ln w="19050">
            <a:solidFill>
              <a:srgbClr val="94A3B8"/>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4"/>
          <a:stretch>
            <a:fillRect/>
          </a:stretch>
        </p:blipFill>
        <p:spPr>
          <a:xfrm>
            <a:off x="6407201" y="3849624"/>
            <a:ext cx="402336" cy="402336"/>
          </a:xfrm>
          <a:prstGeom prst="rect">
            <a:avLst/>
          </a:prstGeom>
        </p:spPr>
      </p:pic>
      <p:sp>
        <p:nvSpPr>
          <p:cNvPr id="124" name="s124"/>
          <p:cNvSpPr txBox="1"/>
          <p:nvPr/>
        </p:nvSpPr>
        <p:spPr>
          <a:xfrm>
            <a:off x="7001561" y="3703320"/>
            <a:ext cx="4492447" cy="71323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Important questions answered</a:t>
            </a:r>
            <a:endParaRPr lang="en-US" sz="1500" dirty="0"/>
          </a:p>
        </p:txBody>
      </p:sp>
      <p:sp>
        <p:nvSpPr>
          <p:cNvPr id="125" name="s125"/>
          <p:cNvSpPr/>
          <p:nvPr/>
        </p:nvSpPr>
        <p:spPr>
          <a:xfrm>
            <a:off x="543154" y="4754880"/>
            <a:ext cx="11088014" cy="685800"/>
          </a:xfrm>
          <a:prstGeom prst="roundRect">
            <a:avLst>
              <a:gd name="adj" fmla="val 12000"/>
            </a:avLst>
          </a:prstGeom>
          <a:solidFill>
            <a:srgbClr val="111B2E"/>
          </a:solidFill>
          <a:ln w="12700">
            <a:solidFill>
              <a:srgbClr val="FBBF24"/>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FBBF24"/>
                </a:solidFill>
                <a:latin typeface="Segoe UI"/>
                <a:ea typeface="Segoe UI"/>
                <a:cs typeface="Segoe UI"/>
              </a:rPr>
              <a:t>Warning: </a:t>
            </a:r>
            <a:r>
              <a:rPr lang="en-US" sz="1350" b="0" dirty="0">
                <a:solidFill>
                  <a:srgbClr val="E2E8F0"/>
                </a:solidFill>
                <a:latin typeface="Segoe UI"/>
                <a:ea typeface="Segoe UI"/>
                <a:cs typeface="Segoe UI"/>
              </a:rPr>
              <a:t>Ready should help collaboration, not become a bureaucratic gate that blocks conversation.</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anim calcmode="lin" valueType="num">
                                      <p:cBhvr additive="base">
                                        <p:cTn id="16" dur="500" decel="100000" fill="hold"/>
                                        <p:tgtEl>
                                          <p:spTgt spid="104"/>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100"/>
                                  </p:stCondLst>
                                  <p:childTnLst>
                                    <p:set>
                                      <p:cBhvr>
                                        <p:cTn id="18" dur="1" fill="hold">
                                          <p:stCondLst>
                                            <p:cond delay="0"/>
                                          </p:stCondLst>
                                        </p:cTn>
                                        <p:tgtEl>
                                          <p:spTgt spid="105"/>
                                        </p:tgtEl>
                                        <p:attrNameLst>
                                          <p:attrName>style.visibility</p:attrName>
                                        </p:attrNameLst>
                                      </p:cBhvr>
                                      <p:to>
                                        <p:strVal val="visible"/>
                                      </p:to>
                                    </p:set>
                                    <p:animEffect transition="in" filter="fade">
                                      <p:cBhvr>
                                        <p:cTn id="19" dur="500"/>
                                        <p:tgtEl>
                                          <p:spTgt spid="105"/>
                                        </p:tgtEl>
                                      </p:cBhvr>
                                    </p:animEffect>
                                    <p:anim calcmode="lin" valueType="num">
                                      <p:cBhvr additive="base">
                                        <p:cTn id="20" dur="500" decel="100000" fill="hold"/>
                                        <p:tgtEl>
                                          <p:spTgt spid="105"/>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10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100"/>
                                  </p:stCondLst>
                                  <p:childTnLst>
                                    <p:set>
                                      <p:cBhvr>
                                        <p:cTn id="26" dur="1" fill="hold">
                                          <p:stCondLst>
                                            <p:cond delay="0"/>
                                          </p:stCondLst>
                                        </p:cTn>
                                        <p:tgtEl>
                                          <p:spTgt spid="108"/>
                                        </p:tgtEl>
                                        <p:attrNameLst>
                                          <p:attrName>style.visibility</p:attrName>
                                        </p:attrNameLst>
                                      </p:cBhvr>
                                      <p:to>
                                        <p:strVal val="visible"/>
                                      </p:to>
                                    </p:set>
                                    <p:animEffect transition="in" filter="fade">
                                      <p:cBhvr>
                                        <p:cTn id="27" dur="500"/>
                                        <p:tgtEl>
                                          <p:spTgt spid="108"/>
                                        </p:tgtEl>
                                      </p:cBhvr>
                                    </p:animEffect>
                                    <p:anim calcmode="lin" valueType="num">
                                      <p:cBhvr additive="base">
                                        <p:cTn id="28" dur="500" decel="100000" fill="hold"/>
                                        <p:tgtEl>
                                          <p:spTgt spid="108"/>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200"/>
                                  </p:stCondLst>
                                  <p:childTnLst>
                                    <p:set>
                                      <p:cBhvr>
                                        <p:cTn id="30" dur="1" fill="hold">
                                          <p:stCondLst>
                                            <p:cond delay="0"/>
                                          </p:stCondLst>
                                        </p:cTn>
                                        <p:tgtEl>
                                          <p:spTgt spid="109"/>
                                        </p:tgtEl>
                                        <p:attrNameLst>
                                          <p:attrName>style.visibility</p:attrName>
                                        </p:attrNameLst>
                                      </p:cBhvr>
                                      <p:to>
                                        <p:strVal val="visible"/>
                                      </p:to>
                                    </p:set>
                                    <p:animEffect transition="in" filter="fade">
                                      <p:cBhvr>
                                        <p:cTn id="31" dur="500"/>
                                        <p:tgtEl>
                                          <p:spTgt spid="109"/>
                                        </p:tgtEl>
                                      </p:cBhvr>
                                    </p:animEffect>
                                    <p:anim calcmode="lin" valueType="num">
                                      <p:cBhvr additive="base">
                                        <p:cTn id="32" dur="500" decel="100000" fill="hold"/>
                                        <p:tgtEl>
                                          <p:spTgt spid="109"/>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200"/>
                                  </p:stCondLst>
                                  <p:childTnLst>
                                    <p:set>
                                      <p:cBhvr>
                                        <p:cTn id="34" dur="1" fill="hold">
                                          <p:stCondLst>
                                            <p:cond delay="0"/>
                                          </p:stCondLst>
                                        </p:cTn>
                                        <p:tgtEl>
                                          <p:spTgt spid="110"/>
                                        </p:tgtEl>
                                        <p:attrNameLst>
                                          <p:attrName>style.visibility</p:attrName>
                                        </p:attrNameLst>
                                      </p:cBhvr>
                                      <p:to>
                                        <p:strVal val="visible"/>
                                      </p:to>
                                    </p:set>
                                    <p:animEffect transition="in" filter="fade">
                                      <p:cBhvr>
                                        <p:cTn id="35" dur="500"/>
                                        <p:tgtEl>
                                          <p:spTgt spid="110"/>
                                        </p:tgtEl>
                                      </p:cBhvr>
                                    </p:animEffect>
                                    <p:anim calcmode="lin" valueType="num">
                                      <p:cBhvr additive="base">
                                        <p:cTn id="36" dur="500" decel="100000" fill="hold"/>
                                        <p:tgtEl>
                                          <p:spTgt spid="110"/>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200"/>
                                  </p:stCondLst>
                                  <p:childTnLst>
                                    <p:set>
                                      <p:cBhvr>
                                        <p:cTn id="38" dur="1" fill="hold">
                                          <p:stCondLst>
                                            <p:cond delay="0"/>
                                          </p:stCondLst>
                                        </p:cTn>
                                        <p:tgtEl>
                                          <p:spTgt spid="112"/>
                                        </p:tgtEl>
                                        <p:attrNameLst>
                                          <p:attrName>style.visibility</p:attrName>
                                        </p:attrNameLst>
                                      </p:cBhvr>
                                      <p:to>
                                        <p:strVal val="visible"/>
                                      </p:to>
                                    </p:set>
                                    <p:animEffect transition="in" filter="fade">
                                      <p:cBhvr>
                                        <p:cTn id="39" dur="500"/>
                                        <p:tgtEl>
                                          <p:spTgt spid="112"/>
                                        </p:tgtEl>
                                      </p:cBhvr>
                                    </p:animEffect>
                                    <p:anim calcmode="lin" valueType="num">
                                      <p:cBhvr additive="base">
                                        <p:cTn id="40" dur="500" decel="100000" fill="hold"/>
                                        <p:tgtEl>
                                          <p:spTgt spid="112"/>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300"/>
                                  </p:stCondLst>
                                  <p:childTnLst>
                                    <p:set>
                                      <p:cBhvr>
                                        <p:cTn id="42" dur="1" fill="hold">
                                          <p:stCondLst>
                                            <p:cond delay="0"/>
                                          </p:stCondLst>
                                        </p:cTn>
                                        <p:tgtEl>
                                          <p:spTgt spid="113"/>
                                        </p:tgtEl>
                                        <p:attrNameLst>
                                          <p:attrName>style.visibility</p:attrName>
                                        </p:attrNameLst>
                                      </p:cBhvr>
                                      <p:to>
                                        <p:strVal val="visible"/>
                                      </p:to>
                                    </p:set>
                                    <p:animEffect transition="in" filter="fade">
                                      <p:cBhvr>
                                        <p:cTn id="43" dur="500"/>
                                        <p:tgtEl>
                                          <p:spTgt spid="113"/>
                                        </p:tgtEl>
                                      </p:cBhvr>
                                    </p:animEffect>
                                    <p:anim calcmode="lin" valueType="num">
                                      <p:cBhvr additive="base">
                                        <p:cTn id="44" dur="500" decel="100000" fill="hold"/>
                                        <p:tgtEl>
                                          <p:spTgt spid="113"/>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300"/>
                                  </p:stCondLst>
                                  <p:childTnLst>
                                    <p:set>
                                      <p:cBhvr>
                                        <p:cTn id="46" dur="1" fill="hold">
                                          <p:stCondLst>
                                            <p:cond delay="0"/>
                                          </p:stCondLst>
                                        </p:cTn>
                                        <p:tgtEl>
                                          <p:spTgt spid="114"/>
                                        </p:tgtEl>
                                        <p:attrNameLst>
                                          <p:attrName>style.visibility</p:attrName>
                                        </p:attrNameLst>
                                      </p:cBhvr>
                                      <p:to>
                                        <p:strVal val="visible"/>
                                      </p:to>
                                    </p:set>
                                    <p:animEffect transition="in" filter="fade">
                                      <p:cBhvr>
                                        <p:cTn id="47" dur="500"/>
                                        <p:tgtEl>
                                          <p:spTgt spid="114"/>
                                        </p:tgtEl>
                                      </p:cBhvr>
                                    </p:animEffect>
                                    <p:anim calcmode="lin" valueType="num">
                                      <p:cBhvr additive="base">
                                        <p:cTn id="48" dur="500" decel="100000" fill="hold"/>
                                        <p:tgtEl>
                                          <p:spTgt spid="114"/>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300"/>
                                  </p:stCondLst>
                                  <p:childTnLst>
                                    <p:set>
                                      <p:cBhvr>
                                        <p:cTn id="50" dur="1" fill="hold">
                                          <p:stCondLst>
                                            <p:cond delay="0"/>
                                          </p:stCondLst>
                                        </p:cTn>
                                        <p:tgtEl>
                                          <p:spTgt spid="116"/>
                                        </p:tgtEl>
                                        <p:attrNameLst>
                                          <p:attrName>style.visibility</p:attrName>
                                        </p:attrNameLst>
                                      </p:cBhvr>
                                      <p:to>
                                        <p:strVal val="visible"/>
                                      </p:to>
                                    </p:set>
                                    <p:animEffect transition="in" filter="fade">
                                      <p:cBhvr>
                                        <p:cTn id="51" dur="500"/>
                                        <p:tgtEl>
                                          <p:spTgt spid="116"/>
                                        </p:tgtEl>
                                      </p:cBhvr>
                                    </p:animEffect>
                                    <p:anim calcmode="lin" valueType="num">
                                      <p:cBhvr additive="base">
                                        <p:cTn id="52" dur="500" decel="100000" fill="hold"/>
                                        <p:tgtEl>
                                          <p:spTgt spid="116"/>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400"/>
                                  </p:stCondLst>
                                  <p:childTnLst>
                                    <p:set>
                                      <p:cBhvr>
                                        <p:cTn id="54" dur="1" fill="hold">
                                          <p:stCondLst>
                                            <p:cond delay="0"/>
                                          </p:stCondLst>
                                        </p:cTn>
                                        <p:tgtEl>
                                          <p:spTgt spid="117"/>
                                        </p:tgtEl>
                                        <p:attrNameLst>
                                          <p:attrName>style.visibility</p:attrName>
                                        </p:attrNameLst>
                                      </p:cBhvr>
                                      <p:to>
                                        <p:strVal val="visible"/>
                                      </p:to>
                                    </p:set>
                                    <p:animEffect transition="in" filter="fade">
                                      <p:cBhvr>
                                        <p:cTn id="55" dur="500"/>
                                        <p:tgtEl>
                                          <p:spTgt spid="117"/>
                                        </p:tgtEl>
                                      </p:cBhvr>
                                    </p:animEffect>
                                    <p:anim calcmode="lin" valueType="num">
                                      <p:cBhvr additive="base">
                                        <p:cTn id="56" dur="500" decel="100000" fill="hold"/>
                                        <p:tgtEl>
                                          <p:spTgt spid="117"/>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400"/>
                                  </p:stCondLst>
                                  <p:childTnLst>
                                    <p:set>
                                      <p:cBhvr>
                                        <p:cTn id="58" dur="1" fill="hold">
                                          <p:stCondLst>
                                            <p:cond delay="0"/>
                                          </p:stCondLst>
                                        </p:cTn>
                                        <p:tgtEl>
                                          <p:spTgt spid="118"/>
                                        </p:tgtEl>
                                        <p:attrNameLst>
                                          <p:attrName>style.visibility</p:attrName>
                                        </p:attrNameLst>
                                      </p:cBhvr>
                                      <p:to>
                                        <p:strVal val="visible"/>
                                      </p:to>
                                    </p:set>
                                    <p:animEffect transition="in" filter="fade">
                                      <p:cBhvr>
                                        <p:cTn id="59" dur="500"/>
                                        <p:tgtEl>
                                          <p:spTgt spid="118"/>
                                        </p:tgtEl>
                                      </p:cBhvr>
                                    </p:animEffect>
                                    <p:anim calcmode="lin" valueType="num">
                                      <p:cBhvr additive="base">
                                        <p:cTn id="60" dur="500" decel="100000" fill="hold"/>
                                        <p:tgtEl>
                                          <p:spTgt spid="118"/>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400"/>
                                  </p:stCondLst>
                                  <p:childTnLst>
                                    <p:set>
                                      <p:cBhvr>
                                        <p:cTn id="62" dur="1" fill="hold">
                                          <p:stCondLst>
                                            <p:cond delay="0"/>
                                          </p:stCondLst>
                                        </p:cTn>
                                        <p:tgtEl>
                                          <p:spTgt spid="120"/>
                                        </p:tgtEl>
                                        <p:attrNameLst>
                                          <p:attrName>style.visibility</p:attrName>
                                        </p:attrNameLst>
                                      </p:cBhvr>
                                      <p:to>
                                        <p:strVal val="visible"/>
                                      </p:to>
                                    </p:set>
                                    <p:animEffect transition="in" filter="fade">
                                      <p:cBhvr>
                                        <p:cTn id="63" dur="500"/>
                                        <p:tgtEl>
                                          <p:spTgt spid="120"/>
                                        </p:tgtEl>
                                      </p:cBhvr>
                                    </p:animEffect>
                                    <p:anim calcmode="lin" valueType="num">
                                      <p:cBhvr additive="base">
                                        <p:cTn id="64" dur="500" decel="100000" fill="hold"/>
                                        <p:tgtEl>
                                          <p:spTgt spid="120"/>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500"/>
                                  </p:stCondLst>
                                  <p:childTnLst>
                                    <p:set>
                                      <p:cBhvr>
                                        <p:cTn id="66" dur="1" fill="hold">
                                          <p:stCondLst>
                                            <p:cond delay="0"/>
                                          </p:stCondLst>
                                        </p:cTn>
                                        <p:tgtEl>
                                          <p:spTgt spid="121"/>
                                        </p:tgtEl>
                                        <p:attrNameLst>
                                          <p:attrName>style.visibility</p:attrName>
                                        </p:attrNameLst>
                                      </p:cBhvr>
                                      <p:to>
                                        <p:strVal val="visible"/>
                                      </p:to>
                                    </p:set>
                                    <p:animEffect transition="in" filter="fade">
                                      <p:cBhvr>
                                        <p:cTn id="67" dur="500"/>
                                        <p:tgtEl>
                                          <p:spTgt spid="121"/>
                                        </p:tgtEl>
                                      </p:cBhvr>
                                    </p:animEffect>
                                    <p:anim calcmode="lin" valueType="num">
                                      <p:cBhvr additive="base">
                                        <p:cTn id="68" dur="500" decel="100000" fill="hold"/>
                                        <p:tgtEl>
                                          <p:spTgt spid="121"/>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500"/>
                                  </p:stCondLst>
                                  <p:childTnLst>
                                    <p:set>
                                      <p:cBhvr>
                                        <p:cTn id="70" dur="1" fill="hold">
                                          <p:stCondLst>
                                            <p:cond delay="0"/>
                                          </p:stCondLst>
                                        </p:cTn>
                                        <p:tgtEl>
                                          <p:spTgt spid="122"/>
                                        </p:tgtEl>
                                        <p:attrNameLst>
                                          <p:attrName>style.visibility</p:attrName>
                                        </p:attrNameLst>
                                      </p:cBhvr>
                                      <p:to>
                                        <p:strVal val="visible"/>
                                      </p:to>
                                    </p:set>
                                    <p:animEffect transition="in" filter="fade">
                                      <p:cBhvr>
                                        <p:cTn id="71" dur="500"/>
                                        <p:tgtEl>
                                          <p:spTgt spid="122"/>
                                        </p:tgtEl>
                                      </p:cBhvr>
                                    </p:animEffect>
                                    <p:anim calcmode="lin" valueType="num">
                                      <p:cBhvr additive="base">
                                        <p:cTn id="72" dur="500" decel="100000" fill="hold"/>
                                        <p:tgtEl>
                                          <p:spTgt spid="122"/>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500"/>
                                  </p:stCondLst>
                                  <p:childTnLst>
                                    <p:set>
                                      <p:cBhvr>
                                        <p:cTn id="74" dur="1" fill="hold">
                                          <p:stCondLst>
                                            <p:cond delay="0"/>
                                          </p:stCondLst>
                                        </p:cTn>
                                        <p:tgtEl>
                                          <p:spTgt spid="124"/>
                                        </p:tgtEl>
                                        <p:attrNameLst>
                                          <p:attrName>style.visibility</p:attrName>
                                        </p:attrNameLst>
                                      </p:cBhvr>
                                      <p:to>
                                        <p:strVal val="visible"/>
                                      </p:to>
                                    </p:set>
                                    <p:animEffect transition="in" filter="fade">
                                      <p:cBhvr>
                                        <p:cTn id="75" dur="500"/>
                                        <p:tgtEl>
                                          <p:spTgt spid="124"/>
                                        </p:tgtEl>
                                      </p:cBhvr>
                                    </p:animEffect>
                                    <p:anim calcmode="lin" valueType="num">
                                      <p:cBhvr additive="base">
                                        <p:cTn id="76" dur="500" decel="100000" fill="hold"/>
                                        <p:tgtEl>
                                          <p:spTgt spid="124"/>
                                        </p:tgtEl>
                                        <p:attrNameLst>
                                          <p:attrName>ppt_y</p:attrName>
                                        </p:attrNameLst>
                                      </p:cBhvr>
                                      <p:tavLst>
                                        <p:tav tm="0">
                                          <p:val>
                                            <p:strVal val="#ppt_y+0.06"/>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53" presetClass="entr" presetSubtype="16" fill="hold" nodeType="clickEffect">
                                  <p:stCondLst>
                                    <p:cond delay="0"/>
                                  </p:stCondLst>
                                  <p:childTnLst>
                                    <p:set>
                                      <p:cBhvr>
                                        <p:cTn id="80" dur="1" fill="hold">
                                          <p:stCondLst>
                                            <p:cond delay="0"/>
                                          </p:stCondLst>
                                        </p:cTn>
                                        <p:tgtEl>
                                          <p:spTgt spid="103"/>
                                        </p:tgtEl>
                                        <p:attrNameLst>
                                          <p:attrName>style.visibility</p:attrName>
                                        </p:attrNameLst>
                                      </p:cBhvr>
                                      <p:to>
                                        <p:strVal val="visible"/>
                                      </p:to>
                                    </p:set>
                                    <p:anim calcmode="lin" valueType="num">
                                      <p:cBhvr additive="base">
                                        <p:cTn id="81" dur="500" decel="100000" fill="hold"/>
                                        <p:tgtEl>
                                          <p:spTgt spid="103"/>
                                        </p:tgtEl>
                                        <p:attrNameLst>
                                          <p:attrName>ppt_w</p:attrName>
                                        </p:attrNameLst>
                                      </p:cBhvr>
                                      <p:tavLst>
                                        <p:tav tm="0">
                                          <p:val>
                                            <p:strVal val="#ppt_w*0.3"/>
                                          </p:val>
                                        </p:tav>
                                        <p:tav tm="100000">
                                          <p:val>
                                            <p:strVal val="#ppt_w*1.08"/>
                                          </p:val>
                                        </p:tav>
                                      </p:tavLst>
                                    </p:anim>
                                    <p:anim calcmode="lin" valueType="num">
                                      <p:cBhvr additive="base">
                                        <p:cTn id="82" dur="500" decel="100000" fill="hold"/>
                                        <p:tgtEl>
                                          <p:spTgt spid="103"/>
                                        </p:tgtEl>
                                        <p:attrNameLst>
                                          <p:attrName>ppt_h</p:attrName>
                                        </p:attrNameLst>
                                      </p:cBhvr>
                                      <p:tavLst>
                                        <p:tav tm="0">
                                          <p:val>
                                            <p:strVal val="#ppt_h*0.3"/>
                                          </p:val>
                                        </p:tav>
                                        <p:tav tm="100000">
                                          <p:val>
                                            <p:strVal val="#ppt_h*1.08"/>
                                          </p:val>
                                        </p:tav>
                                      </p:tavLst>
                                    </p:anim>
                                    <p:animEffect transition="in" filter="fade">
                                      <p:cBhvr>
                                        <p:cTn id="83" dur="250"/>
                                        <p:tgtEl>
                                          <p:spTgt spid="103"/>
                                        </p:tgtEl>
                                      </p:cBhvr>
                                    </p:animEffect>
                                    <p:anim calcmode="lin" valueType="num">
                                      <p:cBhvr additive="base">
                                        <p:cTn id="84" dur="160" fill="hold">
                                          <p:stCondLst>
                                            <p:cond delay="500"/>
                                          </p:stCondLst>
                                        </p:cTn>
                                        <p:tgtEl>
                                          <p:spTgt spid="103"/>
                                        </p:tgtEl>
                                        <p:attrNameLst>
                                          <p:attrName>ppt_w</p:attrName>
                                        </p:attrNameLst>
                                      </p:cBhvr>
                                      <p:tavLst>
                                        <p:tav tm="0">
                                          <p:val>
                                            <p:strVal val="#ppt_w*1.08"/>
                                          </p:val>
                                        </p:tav>
                                        <p:tav tm="100000">
                                          <p:val>
                                            <p:strVal val="#ppt_w"/>
                                          </p:val>
                                        </p:tav>
                                      </p:tavLst>
                                    </p:anim>
                                    <p:anim calcmode="lin" valueType="num">
                                      <p:cBhvr additive="base">
                                        <p:cTn id="85" dur="160" fill="hold">
                                          <p:stCondLst>
                                            <p:cond delay="500"/>
                                          </p:stCondLst>
                                        </p:cTn>
                                        <p:tgtEl>
                                          <p:spTgt spid="103"/>
                                        </p:tgtEl>
                                        <p:attrNameLst>
                                          <p:attrName>ppt_h</p:attrName>
                                        </p:attrNameLst>
                                      </p:cBhvr>
                                      <p:tavLst>
                                        <p:tav tm="0">
                                          <p:val>
                                            <p:strVal val="#ppt_h*1.08"/>
                                          </p:val>
                                        </p:tav>
                                        <p:tav tm="100000">
                                          <p:val>
                                            <p:strVal val="#ppt_h"/>
                                          </p:val>
                                        </p:tav>
                                      </p:tavLst>
                                    </p:anim>
                                  </p:childTnLst>
                                </p:cTn>
                              </p:par>
                              <p:par>
                                <p:cTn id="86" presetID="53" presetClass="entr" presetSubtype="16" fill="hold" nodeType="withEffect">
                                  <p:stCondLst>
                                    <p:cond delay="180"/>
                                  </p:stCondLst>
                                  <p:childTnLst>
                                    <p:set>
                                      <p:cBhvr>
                                        <p:cTn id="87" dur="1" fill="hold">
                                          <p:stCondLst>
                                            <p:cond delay="0"/>
                                          </p:stCondLst>
                                        </p:cTn>
                                        <p:tgtEl>
                                          <p:spTgt spid="107"/>
                                        </p:tgtEl>
                                        <p:attrNameLst>
                                          <p:attrName>style.visibility</p:attrName>
                                        </p:attrNameLst>
                                      </p:cBhvr>
                                      <p:to>
                                        <p:strVal val="visible"/>
                                      </p:to>
                                    </p:set>
                                    <p:anim calcmode="lin" valueType="num">
                                      <p:cBhvr additive="base">
                                        <p:cTn id="88" dur="50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89" dur="500" decel="100000" fill="hold"/>
                                        <p:tgtEl>
                                          <p:spTgt spid="107"/>
                                        </p:tgtEl>
                                        <p:attrNameLst>
                                          <p:attrName>ppt_h</p:attrName>
                                        </p:attrNameLst>
                                      </p:cBhvr>
                                      <p:tavLst>
                                        <p:tav tm="0">
                                          <p:val>
                                            <p:strVal val="#ppt_h*0.3"/>
                                          </p:val>
                                        </p:tav>
                                        <p:tav tm="100000">
                                          <p:val>
                                            <p:strVal val="#ppt_h*1.08"/>
                                          </p:val>
                                        </p:tav>
                                      </p:tavLst>
                                    </p:anim>
                                    <p:animEffect transition="in" filter="fade">
                                      <p:cBhvr>
                                        <p:cTn id="90" dur="250"/>
                                        <p:tgtEl>
                                          <p:spTgt spid="107"/>
                                        </p:tgtEl>
                                      </p:cBhvr>
                                    </p:animEffect>
                                    <p:anim calcmode="lin" valueType="num">
                                      <p:cBhvr additive="base">
                                        <p:cTn id="91" dur="160" fill="hold">
                                          <p:stCondLst>
                                            <p:cond delay="500"/>
                                          </p:stCondLst>
                                        </p:cTn>
                                        <p:tgtEl>
                                          <p:spTgt spid="107"/>
                                        </p:tgtEl>
                                        <p:attrNameLst>
                                          <p:attrName>ppt_w</p:attrName>
                                        </p:attrNameLst>
                                      </p:cBhvr>
                                      <p:tavLst>
                                        <p:tav tm="0">
                                          <p:val>
                                            <p:strVal val="#ppt_w*1.08"/>
                                          </p:val>
                                        </p:tav>
                                        <p:tav tm="100000">
                                          <p:val>
                                            <p:strVal val="#ppt_w"/>
                                          </p:val>
                                        </p:tav>
                                      </p:tavLst>
                                    </p:anim>
                                    <p:anim calcmode="lin" valueType="num">
                                      <p:cBhvr additive="base">
                                        <p:cTn id="92" dur="160" fill="hold">
                                          <p:stCondLst>
                                            <p:cond delay="500"/>
                                          </p:stCondLst>
                                        </p:cTn>
                                        <p:tgtEl>
                                          <p:spTgt spid="107"/>
                                        </p:tgtEl>
                                        <p:attrNameLst>
                                          <p:attrName>ppt_h</p:attrName>
                                        </p:attrNameLst>
                                      </p:cBhvr>
                                      <p:tavLst>
                                        <p:tav tm="0">
                                          <p:val>
                                            <p:strVal val="#ppt_h*1.08"/>
                                          </p:val>
                                        </p:tav>
                                        <p:tav tm="100000">
                                          <p:val>
                                            <p:strVal val="#ppt_h"/>
                                          </p:val>
                                        </p:tav>
                                      </p:tavLst>
                                    </p:anim>
                                  </p:childTnLst>
                                </p:cTn>
                              </p:par>
                              <p:par>
                                <p:cTn id="93" presetID="53" presetClass="entr" presetSubtype="16" fill="hold" nodeType="withEffect">
                                  <p:stCondLst>
                                    <p:cond delay="360"/>
                                  </p:stCondLst>
                                  <p:childTnLst>
                                    <p:set>
                                      <p:cBhvr>
                                        <p:cTn id="94" dur="1" fill="hold">
                                          <p:stCondLst>
                                            <p:cond delay="0"/>
                                          </p:stCondLst>
                                        </p:cTn>
                                        <p:tgtEl>
                                          <p:spTgt spid="111"/>
                                        </p:tgtEl>
                                        <p:attrNameLst>
                                          <p:attrName>style.visibility</p:attrName>
                                        </p:attrNameLst>
                                      </p:cBhvr>
                                      <p:to>
                                        <p:strVal val="visible"/>
                                      </p:to>
                                    </p:set>
                                    <p:anim calcmode="lin" valueType="num">
                                      <p:cBhvr additive="base">
                                        <p:cTn id="95" dur="500" decel="100000" fill="hold"/>
                                        <p:tgtEl>
                                          <p:spTgt spid="111"/>
                                        </p:tgtEl>
                                        <p:attrNameLst>
                                          <p:attrName>ppt_w</p:attrName>
                                        </p:attrNameLst>
                                      </p:cBhvr>
                                      <p:tavLst>
                                        <p:tav tm="0">
                                          <p:val>
                                            <p:strVal val="#ppt_w*0.3"/>
                                          </p:val>
                                        </p:tav>
                                        <p:tav tm="100000">
                                          <p:val>
                                            <p:strVal val="#ppt_w*1.08"/>
                                          </p:val>
                                        </p:tav>
                                      </p:tavLst>
                                    </p:anim>
                                    <p:anim calcmode="lin" valueType="num">
                                      <p:cBhvr additive="base">
                                        <p:cTn id="96" dur="500" decel="100000" fill="hold"/>
                                        <p:tgtEl>
                                          <p:spTgt spid="111"/>
                                        </p:tgtEl>
                                        <p:attrNameLst>
                                          <p:attrName>ppt_h</p:attrName>
                                        </p:attrNameLst>
                                      </p:cBhvr>
                                      <p:tavLst>
                                        <p:tav tm="0">
                                          <p:val>
                                            <p:strVal val="#ppt_h*0.3"/>
                                          </p:val>
                                        </p:tav>
                                        <p:tav tm="100000">
                                          <p:val>
                                            <p:strVal val="#ppt_h*1.08"/>
                                          </p:val>
                                        </p:tav>
                                      </p:tavLst>
                                    </p:anim>
                                    <p:animEffect transition="in" filter="fade">
                                      <p:cBhvr>
                                        <p:cTn id="97" dur="250"/>
                                        <p:tgtEl>
                                          <p:spTgt spid="111"/>
                                        </p:tgtEl>
                                      </p:cBhvr>
                                    </p:animEffect>
                                    <p:anim calcmode="lin" valueType="num">
                                      <p:cBhvr additive="base">
                                        <p:cTn id="98" dur="160" fill="hold">
                                          <p:stCondLst>
                                            <p:cond delay="500"/>
                                          </p:stCondLst>
                                        </p:cTn>
                                        <p:tgtEl>
                                          <p:spTgt spid="111"/>
                                        </p:tgtEl>
                                        <p:attrNameLst>
                                          <p:attrName>ppt_w</p:attrName>
                                        </p:attrNameLst>
                                      </p:cBhvr>
                                      <p:tavLst>
                                        <p:tav tm="0">
                                          <p:val>
                                            <p:strVal val="#ppt_w*1.08"/>
                                          </p:val>
                                        </p:tav>
                                        <p:tav tm="100000">
                                          <p:val>
                                            <p:strVal val="#ppt_w"/>
                                          </p:val>
                                        </p:tav>
                                      </p:tavLst>
                                    </p:anim>
                                    <p:anim calcmode="lin" valueType="num">
                                      <p:cBhvr additive="base">
                                        <p:cTn id="99" dur="160" fill="hold">
                                          <p:stCondLst>
                                            <p:cond delay="500"/>
                                          </p:stCondLst>
                                        </p:cTn>
                                        <p:tgtEl>
                                          <p:spTgt spid="111"/>
                                        </p:tgtEl>
                                        <p:attrNameLst>
                                          <p:attrName>ppt_h</p:attrName>
                                        </p:attrNameLst>
                                      </p:cBhvr>
                                      <p:tavLst>
                                        <p:tav tm="0">
                                          <p:val>
                                            <p:strVal val="#ppt_h*1.08"/>
                                          </p:val>
                                        </p:tav>
                                        <p:tav tm="100000">
                                          <p:val>
                                            <p:strVal val="#ppt_h"/>
                                          </p:val>
                                        </p:tav>
                                      </p:tavLst>
                                    </p:anim>
                                  </p:childTnLst>
                                </p:cTn>
                              </p:par>
                              <p:par>
                                <p:cTn id="100" presetID="53" presetClass="entr" presetSubtype="16" fill="hold" nodeType="withEffect">
                                  <p:stCondLst>
                                    <p:cond delay="540"/>
                                  </p:stCondLst>
                                  <p:childTnLst>
                                    <p:set>
                                      <p:cBhvr>
                                        <p:cTn id="101" dur="1" fill="hold">
                                          <p:stCondLst>
                                            <p:cond delay="0"/>
                                          </p:stCondLst>
                                        </p:cTn>
                                        <p:tgtEl>
                                          <p:spTgt spid="115"/>
                                        </p:tgtEl>
                                        <p:attrNameLst>
                                          <p:attrName>style.visibility</p:attrName>
                                        </p:attrNameLst>
                                      </p:cBhvr>
                                      <p:to>
                                        <p:strVal val="visible"/>
                                      </p:to>
                                    </p:set>
                                    <p:anim calcmode="lin" valueType="num">
                                      <p:cBhvr additive="base">
                                        <p:cTn id="102" dur="5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103" dur="500" decel="100000" fill="hold"/>
                                        <p:tgtEl>
                                          <p:spTgt spid="115"/>
                                        </p:tgtEl>
                                        <p:attrNameLst>
                                          <p:attrName>ppt_h</p:attrName>
                                        </p:attrNameLst>
                                      </p:cBhvr>
                                      <p:tavLst>
                                        <p:tav tm="0">
                                          <p:val>
                                            <p:strVal val="#ppt_h*0.3"/>
                                          </p:val>
                                        </p:tav>
                                        <p:tav tm="100000">
                                          <p:val>
                                            <p:strVal val="#ppt_h*1.08"/>
                                          </p:val>
                                        </p:tav>
                                      </p:tavLst>
                                    </p:anim>
                                    <p:animEffect transition="in" filter="fade">
                                      <p:cBhvr>
                                        <p:cTn id="104" dur="250"/>
                                        <p:tgtEl>
                                          <p:spTgt spid="115"/>
                                        </p:tgtEl>
                                      </p:cBhvr>
                                    </p:animEffect>
                                    <p:anim calcmode="lin" valueType="num">
                                      <p:cBhvr additive="base">
                                        <p:cTn id="105" dur="160" fill="hold">
                                          <p:stCondLst>
                                            <p:cond delay="500"/>
                                          </p:stCondLst>
                                        </p:cTn>
                                        <p:tgtEl>
                                          <p:spTgt spid="115"/>
                                        </p:tgtEl>
                                        <p:attrNameLst>
                                          <p:attrName>ppt_w</p:attrName>
                                        </p:attrNameLst>
                                      </p:cBhvr>
                                      <p:tavLst>
                                        <p:tav tm="0">
                                          <p:val>
                                            <p:strVal val="#ppt_w*1.08"/>
                                          </p:val>
                                        </p:tav>
                                        <p:tav tm="100000">
                                          <p:val>
                                            <p:strVal val="#ppt_w"/>
                                          </p:val>
                                        </p:tav>
                                      </p:tavLst>
                                    </p:anim>
                                    <p:anim calcmode="lin" valueType="num">
                                      <p:cBhvr additive="base">
                                        <p:cTn id="106" dur="160" fill="hold">
                                          <p:stCondLst>
                                            <p:cond delay="500"/>
                                          </p:stCondLst>
                                        </p:cTn>
                                        <p:tgtEl>
                                          <p:spTgt spid="115"/>
                                        </p:tgtEl>
                                        <p:attrNameLst>
                                          <p:attrName>ppt_h</p:attrName>
                                        </p:attrNameLst>
                                      </p:cBhvr>
                                      <p:tavLst>
                                        <p:tav tm="0">
                                          <p:val>
                                            <p:strVal val="#ppt_h*1.08"/>
                                          </p:val>
                                        </p:tav>
                                        <p:tav tm="100000">
                                          <p:val>
                                            <p:strVal val="#ppt_h"/>
                                          </p:val>
                                        </p:tav>
                                      </p:tavLst>
                                    </p:anim>
                                  </p:childTnLst>
                                </p:cTn>
                              </p:par>
                              <p:par>
                                <p:cTn id="107" presetID="53" presetClass="entr" presetSubtype="16" fill="hold" nodeType="withEffect">
                                  <p:stCondLst>
                                    <p:cond delay="720"/>
                                  </p:stCondLst>
                                  <p:childTnLst>
                                    <p:set>
                                      <p:cBhvr>
                                        <p:cTn id="108" dur="1" fill="hold">
                                          <p:stCondLst>
                                            <p:cond delay="0"/>
                                          </p:stCondLst>
                                        </p:cTn>
                                        <p:tgtEl>
                                          <p:spTgt spid="119"/>
                                        </p:tgtEl>
                                        <p:attrNameLst>
                                          <p:attrName>style.visibility</p:attrName>
                                        </p:attrNameLst>
                                      </p:cBhvr>
                                      <p:to>
                                        <p:strVal val="visible"/>
                                      </p:to>
                                    </p:set>
                                    <p:anim calcmode="lin" valueType="num">
                                      <p:cBhvr additive="base">
                                        <p:cTn id="109" dur="500" decel="100000" fill="hold"/>
                                        <p:tgtEl>
                                          <p:spTgt spid="119"/>
                                        </p:tgtEl>
                                        <p:attrNameLst>
                                          <p:attrName>ppt_w</p:attrName>
                                        </p:attrNameLst>
                                      </p:cBhvr>
                                      <p:tavLst>
                                        <p:tav tm="0">
                                          <p:val>
                                            <p:strVal val="#ppt_w*0.3"/>
                                          </p:val>
                                        </p:tav>
                                        <p:tav tm="100000">
                                          <p:val>
                                            <p:strVal val="#ppt_w*1.08"/>
                                          </p:val>
                                        </p:tav>
                                      </p:tavLst>
                                    </p:anim>
                                    <p:anim calcmode="lin" valueType="num">
                                      <p:cBhvr additive="base">
                                        <p:cTn id="110" dur="500" decel="100000" fill="hold"/>
                                        <p:tgtEl>
                                          <p:spTgt spid="119"/>
                                        </p:tgtEl>
                                        <p:attrNameLst>
                                          <p:attrName>ppt_h</p:attrName>
                                        </p:attrNameLst>
                                      </p:cBhvr>
                                      <p:tavLst>
                                        <p:tav tm="0">
                                          <p:val>
                                            <p:strVal val="#ppt_h*0.3"/>
                                          </p:val>
                                        </p:tav>
                                        <p:tav tm="100000">
                                          <p:val>
                                            <p:strVal val="#ppt_h*1.08"/>
                                          </p:val>
                                        </p:tav>
                                      </p:tavLst>
                                    </p:anim>
                                    <p:animEffect transition="in" filter="fade">
                                      <p:cBhvr>
                                        <p:cTn id="111" dur="250"/>
                                        <p:tgtEl>
                                          <p:spTgt spid="119"/>
                                        </p:tgtEl>
                                      </p:cBhvr>
                                    </p:animEffect>
                                    <p:anim calcmode="lin" valueType="num">
                                      <p:cBhvr additive="base">
                                        <p:cTn id="112" dur="160" fill="hold">
                                          <p:stCondLst>
                                            <p:cond delay="500"/>
                                          </p:stCondLst>
                                        </p:cTn>
                                        <p:tgtEl>
                                          <p:spTgt spid="119"/>
                                        </p:tgtEl>
                                        <p:attrNameLst>
                                          <p:attrName>ppt_w</p:attrName>
                                        </p:attrNameLst>
                                      </p:cBhvr>
                                      <p:tavLst>
                                        <p:tav tm="0">
                                          <p:val>
                                            <p:strVal val="#ppt_w*1.08"/>
                                          </p:val>
                                        </p:tav>
                                        <p:tav tm="100000">
                                          <p:val>
                                            <p:strVal val="#ppt_w"/>
                                          </p:val>
                                        </p:tav>
                                      </p:tavLst>
                                    </p:anim>
                                    <p:anim calcmode="lin" valueType="num">
                                      <p:cBhvr additive="base">
                                        <p:cTn id="113" dur="160" fill="hold">
                                          <p:stCondLst>
                                            <p:cond delay="500"/>
                                          </p:stCondLst>
                                        </p:cTn>
                                        <p:tgtEl>
                                          <p:spTgt spid="119"/>
                                        </p:tgtEl>
                                        <p:attrNameLst>
                                          <p:attrName>ppt_h</p:attrName>
                                        </p:attrNameLst>
                                      </p:cBhvr>
                                      <p:tavLst>
                                        <p:tav tm="0">
                                          <p:val>
                                            <p:strVal val="#ppt_h*1.08"/>
                                          </p:val>
                                        </p:tav>
                                        <p:tav tm="100000">
                                          <p:val>
                                            <p:strVal val="#ppt_h"/>
                                          </p:val>
                                        </p:tav>
                                      </p:tavLst>
                                    </p:anim>
                                  </p:childTnLst>
                                </p:cTn>
                              </p:par>
                              <p:par>
                                <p:cTn id="114" presetID="53" presetClass="entr" presetSubtype="16" fill="hold" nodeType="withEffect">
                                  <p:stCondLst>
                                    <p:cond delay="900"/>
                                  </p:stCondLst>
                                  <p:childTnLst>
                                    <p:set>
                                      <p:cBhvr>
                                        <p:cTn id="115" dur="1" fill="hold">
                                          <p:stCondLst>
                                            <p:cond delay="0"/>
                                          </p:stCondLst>
                                        </p:cTn>
                                        <p:tgtEl>
                                          <p:spTgt spid="123"/>
                                        </p:tgtEl>
                                        <p:attrNameLst>
                                          <p:attrName>style.visibility</p:attrName>
                                        </p:attrNameLst>
                                      </p:cBhvr>
                                      <p:to>
                                        <p:strVal val="visible"/>
                                      </p:to>
                                    </p:set>
                                    <p:anim calcmode="lin" valueType="num">
                                      <p:cBhvr additive="base">
                                        <p:cTn id="116" dur="500" decel="100000" fill="hold"/>
                                        <p:tgtEl>
                                          <p:spTgt spid="123"/>
                                        </p:tgtEl>
                                        <p:attrNameLst>
                                          <p:attrName>ppt_w</p:attrName>
                                        </p:attrNameLst>
                                      </p:cBhvr>
                                      <p:tavLst>
                                        <p:tav tm="0">
                                          <p:val>
                                            <p:strVal val="#ppt_w*0.3"/>
                                          </p:val>
                                        </p:tav>
                                        <p:tav tm="100000">
                                          <p:val>
                                            <p:strVal val="#ppt_w*1.08"/>
                                          </p:val>
                                        </p:tav>
                                      </p:tavLst>
                                    </p:anim>
                                    <p:anim calcmode="lin" valueType="num">
                                      <p:cBhvr additive="base">
                                        <p:cTn id="117" dur="500" decel="100000" fill="hold"/>
                                        <p:tgtEl>
                                          <p:spTgt spid="123"/>
                                        </p:tgtEl>
                                        <p:attrNameLst>
                                          <p:attrName>ppt_h</p:attrName>
                                        </p:attrNameLst>
                                      </p:cBhvr>
                                      <p:tavLst>
                                        <p:tav tm="0">
                                          <p:val>
                                            <p:strVal val="#ppt_h*0.3"/>
                                          </p:val>
                                        </p:tav>
                                        <p:tav tm="100000">
                                          <p:val>
                                            <p:strVal val="#ppt_h*1.08"/>
                                          </p:val>
                                        </p:tav>
                                      </p:tavLst>
                                    </p:anim>
                                    <p:animEffect transition="in" filter="fade">
                                      <p:cBhvr>
                                        <p:cTn id="118" dur="250"/>
                                        <p:tgtEl>
                                          <p:spTgt spid="123"/>
                                        </p:tgtEl>
                                      </p:cBhvr>
                                    </p:animEffect>
                                    <p:anim calcmode="lin" valueType="num">
                                      <p:cBhvr additive="base">
                                        <p:cTn id="119" dur="160" fill="hold">
                                          <p:stCondLst>
                                            <p:cond delay="500"/>
                                          </p:stCondLst>
                                        </p:cTn>
                                        <p:tgtEl>
                                          <p:spTgt spid="123"/>
                                        </p:tgtEl>
                                        <p:attrNameLst>
                                          <p:attrName>ppt_w</p:attrName>
                                        </p:attrNameLst>
                                      </p:cBhvr>
                                      <p:tavLst>
                                        <p:tav tm="0">
                                          <p:val>
                                            <p:strVal val="#ppt_w*1.08"/>
                                          </p:val>
                                        </p:tav>
                                        <p:tav tm="100000">
                                          <p:val>
                                            <p:strVal val="#ppt_w"/>
                                          </p:val>
                                        </p:tav>
                                      </p:tavLst>
                                    </p:anim>
                                    <p:anim calcmode="lin" valueType="num">
                                      <p:cBhvr additive="base">
                                        <p:cTn id="120" dur="160" fill="hold">
                                          <p:stCondLst>
                                            <p:cond delay="500"/>
                                          </p:stCondLst>
                                        </p:cTn>
                                        <p:tgtEl>
                                          <p:spTgt spid="123"/>
                                        </p:tgtEl>
                                        <p:attrNameLst>
                                          <p:attrName>ppt_h</p:attrName>
                                        </p:attrNameLst>
                                      </p:cBhvr>
                                      <p:tavLst>
                                        <p:tav tm="0">
                                          <p:val>
                                            <p:strVal val="#ppt_h*1.08"/>
                                          </p:val>
                                        </p:tav>
                                        <p:tav tm="100000">
                                          <p:val>
                                            <p:strVal val="#ppt_h"/>
                                          </p:val>
                                        </p:tav>
                                      </p:tavLst>
                                    </p:anim>
                                  </p:childTnLst>
                                </p:cTn>
                              </p:par>
                            </p:childTnLst>
                          </p:cTn>
                        </p:par>
                      </p:childTnLst>
                    </p:cTn>
                  </p:par>
                  <p:par>
                    <p:cTn id="121" fill="hold">
                      <p:stCondLst>
                        <p:cond delay="indefinite"/>
                      </p:stCondLst>
                      <p:childTnLst>
                        <p:par>
                          <p:cTn id="122" fill="hold">
                            <p:stCondLst>
                              <p:cond delay="0"/>
                            </p:stCondLst>
                            <p:childTnLst>
                              <p:par>
                                <p:cTn id="123" presetID="42" presetClass="entr" presetSubtype="0" fill="hold" grpId="0" nodeType="clickEffect">
                                  <p:stCondLst>
                                    <p:cond delay="0"/>
                                  </p:stCondLst>
                                  <p:childTnLst>
                                    <p:set>
                                      <p:cBhvr>
                                        <p:cTn id="124" dur="1" fill="hold">
                                          <p:stCondLst>
                                            <p:cond delay="0"/>
                                          </p:stCondLst>
                                        </p:cTn>
                                        <p:tgtEl>
                                          <p:spTgt spid="125"/>
                                        </p:tgtEl>
                                        <p:attrNameLst>
                                          <p:attrName>style.visibility</p:attrName>
                                        </p:attrNameLst>
                                      </p:cBhvr>
                                      <p:to>
                                        <p:strVal val="visible"/>
                                      </p:to>
                                    </p:set>
                                    <p:animEffect transition="in" filter="fade">
                                      <p:cBhvr>
                                        <p:cTn id="125" dur="500"/>
                                        <p:tgtEl>
                                          <p:spTgt spid="125"/>
                                        </p:tgtEl>
                                      </p:cBhvr>
                                    </p:animEffect>
                                    <p:anim calcmode="lin" valueType="num">
                                      <p:cBhvr additive="base">
                                        <p:cTn id="126" dur="500" decel="100000" fill="hold"/>
                                        <p:tgtEl>
                                          <p:spTgt spid="125"/>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8" grpId="0" animBg="1"/>
      <p:bldP spid="109" grpId="0" animBg="1"/>
      <p:bldP spid="110" grpId="0" animBg="1"/>
      <p:bldP spid="112" grpId="0" animBg="1"/>
      <p:bldP spid="113" grpId="0" animBg="1"/>
      <p:bldP spid="114" grpId="0" animBg="1"/>
      <p:bldP spid="116" grpId="0" animBg="1"/>
      <p:bldP spid="117" grpId="0" animBg="1"/>
      <p:bldP spid="118" grpId="0" animBg="1"/>
      <p:bldP spid="120" grpId="0" animBg="1"/>
      <p:bldP spid="121" grpId="0" animBg="1"/>
      <p:bldP spid="122" grpId="0" animBg="1"/>
      <p:bldP spid="124" grpId="0" animBg="1"/>
      <p:bldP spid="125"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QUALITY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Is This a Good User Story? INVEST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Learn each letter from a bad example, then see a good story.</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249</a:t>
            </a:r>
            <a:endParaRPr lang="en-US" sz="850" dirty="0"/>
          </a:p>
        </p:txBody>
      </p:sp>
      <p:sp>
        <p:nvSpPr>
          <p:cNvPr id="101" name="s101"/>
          <p:cNvSpPr/>
          <p:nvPr/>
        </p:nvSpPr>
        <p:spPr>
          <a:xfrm>
            <a:off x="543154" y="1965960"/>
            <a:ext cx="5406847" cy="77724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652882" y="2075688"/>
            <a:ext cx="566928" cy="566928"/>
          </a:xfrm>
          <a:prstGeom prst="roundRect">
            <a:avLst>
              <a:gd name="adj" fmla="val 20000"/>
            </a:avLst>
          </a:prstGeom>
          <a:solidFill>
            <a:srgbClr val="13D0F7"/>
          </a:solidFill>
          <a:ln>
            <a:noFill/>
          </a:ln>
        </p:spPr>
        <p:txBody>
          <a:bodyPr wrap="square" lIns="0" tIns="0" rIns="0" bIns="0" rtlCol="0" anchor="ctr">
            <a:noAutofit/>
          </a:bodyPr>
          <a:lstStyle/>
          <a:p>
            <a:pPr marL="0" indent="0" algn="ctr">
              <a:spcBef>
                <a:spcPts val="0"/>
              </a:spcBef>
              <a:spcAft>
                <a:spcPts val="0"/>
              </a:spcAft>
              <a:buNone/>
            </a:pPr>
            <a:r>
              <a:rPr lang="en-US" sz="2200" b="1" dirty="0">
                <a:solidFill>
                  <a:srgbClr val="0F172A"/>
                </a:solidFill>
                <a:latin typeface="Segoe UI"/>
                <a:ea typeface="Segoe UI"/>
                <a:cs typeface="Segoe UI"/>
              </a:rPr>
              <a:t>I</a:t>
            </a:r>
            <a:endParaRPr lang="en-US" sz="2200" dirty="0"/>
          </a:p>
        </p:txBody>
      </p:sp>
      <p:sp>
        <p:nvSpPr>
          <p:cNvPr id="103" name="s103"/>
          <p:cNvSpPr txBox="1"/>
          <p:nvPr/>
        </p:nvSpPr>
        <p:spPr>
          <a:xfrm>
            <a:off x="1366114" y="2020824"/>
            <a:ext cx="1828800" cy="329184"/>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13D0F7"/>
                </a:solidFill>
                <a:latin typeface="Segoe UI"/>
                <a:ea typeface="Segoe UI"/>
                <a:cs typeface="Segoe UI"/>
              </a:rPr>
              <a:t>Independent</a:t>
            </a:r>
            <a:endParaRPr lang="en-US" sz="1400" dirty="0"/>
          </a:p>
        </p:txBody>
      </p:sp>
      <p:sp>
        <p:nvSpPr>
          <p:cNvPr id="104" name="s104"/>
          <p:cNvSpPr txBox="1"/>
          <p:nvPr/>
        </p:nvSpPr>
        <p:spPr>
          <a:xfrm>
            <a:off x="1366114" y="2331720"/>
            <a:ext cx="4446727"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F87171"/>
                </a:solidFill>
                <a:latin typeface="Segoe UI"/>
                <a:ea typeface="Segoe UI"/>
                <a:cs typeface="Segoe UI"/>
              </a:rPr>
              <a:t>Bad: </a:t>
            </a:r>
            <a:r>
              <a:rPr lang="en-US" sz="1200" b="0" dirty="0">
                <a:solidFill>
                  <a:srgbClr val="CBD5E1"/>
                </a:solidFill>
                <a:latin typeface="Segoe UI"/>
                <a:ea typeface="Segoe UI"/>
                <a:cs typeface="Segoe UI"/>
              </a:rPr>
              <a:t>Book appointment needs 3 unrelated stories first.</a:t>
            </a:r>
            <a:endParaRPr lang="en-US" sz="1200" dirty="0"/>
          </a:p>
        </p:txBody>
      </p:sp>
      <p:sp>
        <p:nvSpPr>
          <p:cNvPr id="105" name="s105"/>
          <p:cNvSpPr/>
          <p:nvPr/>
        </p:nvSpPr>
        <p:spPr>
          <a:xfrm>
            <a:off x="6224321" y="1965960"/>
            <a:ext cx="5406847" cy="77724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6" name="s106"/>
          <p:cNvSpPr/>
          <p:nvPr/>
        </p:nvSpPr>
        <p:spPr>
          <a:xfrm>
            <a:off x="6334049" y="2075688"/>
            <a:ext cx="566928" cy="566928"/>
          </a:xfrm>
          <a:prstGeom prst="roundRect">
            <a:avLst>
              <a:gd name="adj" fmla="val 20000"/>
            </a:avLst>
          </a:prstGeom>
          <a:solidFill>
            <a:srgbClr val="60A5FA"/>
          </a:solidFill>
          <a:ln>
            <a:noFill/>
          </a:ln>
        </p:spPr>
        <p:txBody>
          <a:bodyPr wrap="square" lIns="0" tIns="0" rIns="0" bIns="0" rtlCol="0" anchor="ctr">
            <a:noAutofit/>
          </a:bodyPr>
          <a:lstStyle/>
          <a:p>
            <a:pPr marL="0" indent="0" algn="ctr">
              <a:spcBef>
                <a:spcPts val="0"/>
              </a:spcBef>
              <a:spcAft>
                <a:spcPts val="0"/>
              </a:spcAft>
              <a:buNone/>
            </a:pPr>
            <a:r>
              <a:rPr lang="en-US" sz="2200" b="1" dirty="0">
                <a:solidFill>
                  <a:srgbClr val="0F172A"/>
                </a:solidFill>
                <a:latin typeface="Segoe UI"/>
                <a:ea typeface="Segoe UI"/>
                <a:cs typeface="Segoe UI"/>
              </a:rPr>
              <a:t>N</a:t>
            </a:r>
            <a:endParaRPr lang="en-US" sz="2200" dirty="0"/>
          </a:p>
        </p:txBody>
      </p:sp>
      <p:sp>
        <p:nvSpPr>
          <p:cNvPr id="107" name="s107"/>
          <p:cNvSpPr txBox="1"/>
          <p:nvPr/>
        </p:nvSpPr>
        <p:spPr>
          <a:xfrm>
            <a:off x="7047281" y="2020824"/>
            <a:ext cx="1828800" cy="329184"/>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60A5FA"/>
                </a:solidFill>
                <a:latin typeface="Segoe UI"/>
                <a:ea typeface="Segoe UI"/>
                <a:cs typeface="Segoe UI"/>
              </a:rPr>
              <a:t>Negotiable</a:t>
            </a:r>
            <a:endParaRPr lang="en-US" sz="1400" dirty="0"/>
          </a:p>
        </p:txBody>
      </p:sp>
      <p:sp>
        <p:nvSpPr>
          <p:cNvPr id="108" name="s108"/>
          <p:cNvSpPr txBox="1"/>
          <p:nvPr/>
        </p:nvSpPr>
        <p:spPr>
          <a:xfrm>
            <a:off x="7047281" y="2331720"/>
            <a:ext cx="4446727"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F87171"/>
                </a:solidFill>
                <a:latin typeface="Segoe UI"/>
                <a:ea typeface="Segoe UI"/>
                <a:cs typeface="Segoe UI"/>
              </a:rPr>
              <a:t>Bad: </a:t>
            </a:r>
            <a:r>
              <a:rPr lang="en-US" sz="1200" b="0" dirty="0">
                <a:solidFill>
                  <a:srgbClr val="CBD5E1"/>
                </a:solidFill>
                <a:latin typeface="Segoe UI"/>
                <a:ea typeface="Segoe UI"/>
                <a:cs typeface="Segoe UI"/>
              </a:rPr>
              <a:t>The story locks the SQL design before any discussion.</a:t>
            </a:r>
            <a:endParaRPr lang="en-US" sz="1200" dirty="0"/>
          </a:p>
        </p:txBody>
      </p:sp>
      <p:sp>
        <p:nvSpPr>
          <p:cNvPr id="109" name="s109"/>
          <p:cNvSpPr/>
          <p:nvPr/>
        </p:nvSpPr>
        <p:spPr>
          <a:xfrm>
            <a:off x="543154" y="2880360"/>
            <a:ext cx="5406847" cy="77724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0" name="s110"/>
          <p:cNvSpPr/>
          <p:nvPr/>
        </p:nvSpPr>
        <p:spPr>
          <a:xfrm>
            <a:off x="652882" y="2990088"/>
            <a:ext cx="566928" cy="566928"/>
          </a:xfrm>
          <a:prstGeom prst="roundRect">
            <a:avLst>
              <a:gd name="adj" fmla="val 20000"/>
            </a:avLst>
          </a:prstGeom>
          <a:solidFill>
            <a:srgbClr val="A78BFA"/>
          </a:solidFill>
          <a:ln>
            <a:noFill/>
          </a:ln>
        </p:spPr>
        <p:txBody>
          <a:bodyPr wrap="square" lIns="0" tIns="0" rIns="0" bIns="0" rtlCol="0" anchor="ctr">
            <a:noAutofit/>
          </a:bodyPr>
          <a:lstStyle/>
          <a:p>
            <a:pPr marL="0" indent="0" algn="ctr">
              <a:spcBef>
                <a:spcPts val="0"/>
              </a:spcBef>
              <a:spcAft>
                <a:spcPts val="0"/>
              </a:spcAft>
              <a:buNone/>
            </a:pPr>
            <a:r>
              <a:rPr lang="en-US" sz="2200" b="1" dirty="0">
                <a:solidFill>
                  <a:srgbClr val="0F172A"/>
                </a:solidFill>
                <a:latin typeface="Segoe UI"/>
                <a:ea typeface="Segoe UI"/>
                <a:cs typeface="Segoe UI"/>
              </a:rPr>
              <a:t>V</a:t>
            </a:r>
            <a:endParaRPr lang="en-US" sz="2200" dirty="0"/>
          </a:p>
        </p:txBody>
      </p:sp>
      <p:sp>
        <p:nvSpPr>
          <p:cNvPr id="111" name="s111"/>
          <p:cNvSpPr txBox="1"/>
          <p:nvPr/>
        </p:nvSpPr>
        <p:spPr>
          <a:xfrm>
            <a:off x="1366114" y="2935224"/>
            <a:ext cx="1828800" cy="329184"/>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A78BFA"/>
                </a:solidFill>
                <a:latin typeface="Segoe UI"/>
                <a:ea typeface="Segoe UI"/>
                <a:cs typeface="Segoe UI"/>
              </a:rPr>
              <a:t>Valuable</a:t>
            </a:r>
            <a:endParaRPr lang="en-US" sz="1400" dirty="0"/>
          </a:p>
        </p:txBody>
      </p:sp>
      <p:sp>
        <p:nvSpPr>
          <p:cNvPr id="112" name="s112"/>
          <p:cNvSpPr txBox="1"/>
          <p:nvPr/>
        </p:nvSpPr>
        <p:spPr>
          <a:xfrm>
            <a:off x="1366114" y="3246120"/>
            <a:ext cx="4446727"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F87171"/>
                </a:solidFill>
                <a:latin typeface="Segoe UI"/>
                <a:ea typeface="Segoe UI"/>
                <a:cs typeface="Segoe UI"/>
              </a:rPr>
              <a:t>Bad: </a:t>
            </a:r>
            <a:r>
              <a:rPr lang="en-US" sz="1200" b="0" dirty="0">
                <a:solidFill>
                  <a:srgbClr val="CBD5E1"/>
                </a:solidFill>
                <a:latin typeface="Segoe UI"/>
                <a:ea typeface="Segoe UI"/>
                <a:cs typeface="Segoe UI"/>
              </a:rPr>
              <a:t>“Create AppointmentRepository class.”</a:t>
            </a:r>
            <a:endParaRPr lang="en-US" sz="1200" dirty="0"/>
          </a:p>
        </p:txBody>
      </p:sp>
      <p:sp>
        <p:nvSpPr>
          <p:cNvPr id="113" name="s113"/>
          <p:cNvSpPr/>
          <p:nvPr/>
        </p:nvSpPr>
        <p:spPr>
          <a:xfrm>
            <a:off x="6224321" y="2880360"/>
            <a:ext cx="5406847" cy="77724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4" name="s114"/>
          <p:cNvSpPr/>
          <p:nvPr/>
        </p:nvSpPr>
        <p:spPr>
          <a:xfrm>
            <a:off x="6334049" y="2990088"/>
            <a:ext cx="566928" cy="566928"/>
          </a:xfrm>
          <a:prstGeom prst="roundRect">
            <a:avLst>
              <a:gd name="adj" fmla="val 20000"/>
            </a:avLst>
          </a:prstGeom>
          <a:solidFill>
            <a:srgbClr val="F472B6"/>
          </a:solidFill>
          <a:ln>
            <a:noFill/>
          </a:ln>
        </p:spPr>
        <p:txBody>
          <a:bodyPr wrap="square" lIns="0" tIns="0" rIns="0" bIns="0" rtlCol="0" anchor="ctr">
            <a:noAutofit/>
          </a:bodyPr>
          <a:lstStyle/>
          <a:p>
            <a:pPr marL="0" indent="0" algn="ctr">
              <a:spcBef>
                <a:spcPts val="0"/>
              </a:spcBef>
              <a:spcAft>
                <a:spcPts val="0"/>
              </a:spcAft>
              <a:buNone/>
            </a:pPr>
            <a:r>
              <a:rPr lang="en-US" sz="2200" b="1" dirty="0">
                <a:solidFill>
                  <a:srgbClr val="0F172A"/>
                </a:solidFill>
                <a:latin typeface="Segoe UI"/>
                <a:ea typeface="Segoe UI"/>
                <a:cs typeface="Segoe UI"/>
              </a:rPr>
              <a:t>E</a:t>
            </a:r>
            <a:endParaRPr lang="en-US" sz="2200" dirty="0"/>
          </a:p>
        </p:txBody>
      </p:sp>
      <p:sp>
        <p:nvSpPr>
          <p:cNvPr id="115" name="s115"/>
          <p:cNvSpPr txBox="1"/>
          <p:nvPr/>
        </p:nvSpPr>
        <p:spPr>
          <a:xfrm>
            <a:off x="7047281" y="2935224"/>
            <a:ext cx="1828800" cy="329184"/>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F472B6"/>
                </a:solidFill>
                <a:latin typeface="Segoe UI"/>
                <a:ea typeface="Segoe UI"/>
                <a:cs typeface="Segoe UI"/>
              </a:rPr>
              <a:t>Estimable</a:t>
            </a:r>
            <a:endParaRPr lang="en-US" sz="1400" dirty="0"/>
          </a:p>
        </p:txBody>
      </p:sp>
      <p:sp>
        <p:nvSpPr>
          <p:cNvPr id="116" name="s116"/>
          <p:cNvSpPr txBox="1"/>
          <p:nvPr/>
        </p:nvSpPr>
        <p:spPr>
          <a:xfrm>
            <a:off x="7047281" y="3246120"/>
            <a:ext cx="4446727"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F87171"/>
                </a:solidFill>
                <a:latin typeface="Segoe UI"/>
                <a:ea typeface="Segoe UI"/>
                <a:cs typeface="Segoe UI"/>
              </a:rPr>
              <a:t>Bad: </a:t>
            </a:r>
            <a:r>
              <a:rPr lang="en-US" sz="1200" b="0" dirty="0">
                <a:solidFill>
                  <a:srgbClr val="CBD5E1"/>
                </a:solidFill>
                <a:latin typeface="Segoe UI"/>
                <a:ea typeface="Segoe UI"/>
                <a:cs typeface="Segoe UI"/>
              </a:rPr>
              <a:t>“Improve the entire hospital workflow.”</a:t>
            </a:r>
            <a:endParaRPr lang="en-US" sz="1200" dirty="0"/>
          </a:p>
        </p:txBody>
      </p:sp>
      <p:sp>
        <p:nvSpPr>
          <p:cNvPr id="117" name="s117"/>
          <p:cNvSpPr/>
          <p:nvPr/>
        </p:nvSpPr>
        <p:spPr>
          <a:xfrm>
            <a:off x="543154" y="3794760"/>
            <a:ext cx="5406847" cy="77724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8" name="s118"/>
          <p:cNvSpPr/>
          <p:nvPr/>
        </p:nvSpPr>
        <p:spPr>
          <a:xfrm>
            <a:off x="652882" y="3904488"/>
            <a:ext cx="566928" cy="566928"/>
          </a:xfrm>
          <a:prstGeom prst="roundRect">
            <a:avLst>
              <a:gd name="adj" fmla="val 20000"/>
            </a:avLst>
          </a:prstGeom>
          <a:solidFill>
            <a:srgbClr val="F0A98B"/>
          </a:solidFill>
          <a:ln>
            <a:noFill/>
          </a:ln>
        </p:spPr>
        <p:txBody>
          <a:bodyPr wrap="square" lIns="0" tIns="0" rIns="0" bIns="0" rtlCol="0" anchor="ctr">
            <a:noAutofit/>
          </a:bodyPr>
          <a:lstStyle/>
          <a:p>
            <a:pPr marL="0" indent="0" algn="ctr">
              <a:spcBef>
                <a:spcPts val="0"/>
              </a:spcBef>
              <a:spcAft>
                <a:spcPts val="0"/>
              </a:spcAft>
              <a:buNone/>
            </a:pPr>
            <a:r>
              <a:rPr lang="en-US" sz="2200" b="1" dirty="0">
                <a:solidFill>
                  <a:srgbClr val="0F172A"/>
                </a:solidFill>
                <a:latin typeface="Segoe UI"/>
                <a:ea typeface="Segoe UI"/>
                <a:cs typeface="Segoe UI"/>
              </a:rPr>
              <a:t>S</a:t>
            </a:r>
            <a:endParaRPr lang="en-US" sz="2200" dirty="0"/>
          </a:p>
        </p:txBody>
      </p:sp>
      <p:sp>
        <p:nvSpPr>
          <p:cNvPr id="119" name="s119"/>
          <p:cNvSpPr txBox="1"/>
          <p:nvPr/>
        </p:nvSpPr>
        <p:spPr>
          <a:xfrm>
            <a:off x="1366114" y="3849624"/>
            <a:ext cx="1828800" cy="329184"/>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F0A98B"/>
                </a:solidFill>
                <a:latin typeface="Segoe UI"/>
                <a:ea typeface="Segoe UI"/>
                <a:cs typeface="Segoe UI"/>
              </a:rPr>
              <a:t>Small</a:t>
            </a:r>
            <a:endParaRPr lang="en-US" sz="1400" dirty="0"/>
          </a:p>
        </p:txBody>
      </p:sp>
      <p:sp>
        <p:nvSpPr>
          <p:cNvPr id="120" name="s120"/>
          <p:cNvSpPr txBox="1"/>
          <p:nvPr/>
        </p:nvSpPr>
        <p:spPr>
          <a:xfrm>
            <a:off x="1366114" y="4160520"/>
            <a:ext cx="4446727"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F87171"/>
                </a:solidFill>
                <a:latin typeface="Segoe UI"/>
                <a:ea typeface="Segoe UI"/>
                <a:cs typeface="Segoe UI"/>
              </a:rPr>
              <a:t>Bad: </a:t>
            </a:r>
            <a:r>
              <a:rPr lang="en-US" sz="1200" b="0" dirty="0">
                <a:solidFill>
                  <a:srgbClr val="CBD5E1"/>
                </a:solidFill>
                <a:latin typeface="Segoe UI"/>
                <a:ea typeface="Segoe UI"/>
                <a:cs typeface="Segoe UI"/>
              </a:rPr>
              <a:t>“Build the complete appointment module.”</a:t>
            </a:r>
            <a:endParaRPr lang="en-US" sz="1200" dirty="0"/>
          </a:p>
        </p:txBody>
      </p:sp>
      <p:sp>
        <p:nvSpPr>
          <p:cNvPr id="121" name="s121"/>
          <p:cNvSpPr/>
          <p:nvPr/>
        </p:nvSpPr>
        <p:spPr>
          <a:xfrm>
            <a:off x="6224321" y="3794760"/>
            <a:ext cx="5406847" cy="77724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2" name="s122"/>
          <p:cNvSpPr/>
          <p:nvPr/>
        </p:nvSpPr>
        <p:spPr>
          <a:xfrm>
            <a:off x="6334049" y="3904488"/>
            <a:ext cx="566928" cy="566928"/>
          </a:xfrm>
          <a:prstGeom prst="roundRect">
            <a:avLst>
              <a:gd name="adj" fmla="val 20000"/>
            </a:avLst>
          </a:prstGeom>
          <a:solidFill>
            <a:srgbClr val="FBBF24"/>
          </a:solidFill>
          <a:ln>
            <a:noFill/>
          </a:ln>
        </p:spPr>
        <p:txBody>
          <a:bodyPr wrap="square" lIns="0" tIns="0" rIns="0" bIns="0" rtlCol="0" anchor="ctr">
            <a:noAutofit/>
          </a:bodyPr>
          <a:lstStyle/>
          <a:p>
            <a:pPr marL="0" indent="0" algn="ctr">
              <a:spcBef>
                <a:spcPts val="0"/>
              </a:spcBef>
              <a:spcAft>
                <a:spcPts val="0"/>
              </a:spcAft>
              <a:buNone/>
            </a:pPr>
            <a:r>
              <a:rPr lang="en-US" sz="2200" b="1" dirty="0">
                <a:solidFill>
                  <a:srgbClr val="0F172A"/>
                </a:solidFill>
                <a:latin typeface="Segoe UI"/>
                <a:ea typeface="Segoe UI"/>
                <a:cs typeface="Segoe UI"/>
              </a:rPr>
              <a:t>T</a:t>
            </a:r>
            <a:endParaRPr lang="en-US" sz="2200" dirty="0"/>
          </a:p>
        </p:txBody>
      </p:sp>
      <p:sp>
        <p:nvSpPr>
          <p:cNvPr id="123" name="s123"/>
          <p:cNvSpPr txBox="1"/>
          <p:nvPr/>
        </p:nvSpPr>
        <p:spPr>
          <a:xfrm>
            <a:off x="7047281" y="3849624"/>
            <a:ext cx="1828800" cy="329184"/>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FBBF24"/>
                </a:solidFill>
                <a:latin typeface="Segoe UI"/>
                <a:ea typeface="Segoe UI"/>
                <a:cs typeface="Segoe UI"/>
              </a:rPr>
              <a:t>Testable</a:t>
            </a:r>
            <a:endParaRPr lang="en-US" sz="1400" dirty="0"/>
          </a:p>
        </p:txBody>
      </p:sp>
      <p:sp>
        <p:nvSpPr>
          <p:cNvPr id="124" name="s124"/>
          <p:cNvSpPr txBox="1"/>
          <p:nvPr/>
        </p:nvSpPr>
        <p:spPr>
          <a:xfrm>
            <a:off x="7047281" y="4160520"/>
            <a:ext cx="4446727"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00" b="1" dirty="0">
                <a:solidFill>
                  <a:srgbClr val="F87171"/>
                </a:solidFill>
                <a:latin typeface="Segoe UI"/>
                <a:ea typeface="Segoe UI"/>
                <a:cs typeface="Segoe UI"/>
              </a:rPr>
              <a:t>Bad: </a:t>
            </a:r>
            <a:r>
              <a:rPr lang="en-US" sz="1200" b="0" dirty="0">
                <a:solidFill>
                  <a:srgbClr val="CBD5E1"/>
                </a:solidFill>
                <a:latin typeface="Segoe UI"/>
                <a:ea typeface="Segoe UI"/>
                <a:cs typeface="Segoe UI"/>
              </a:rPr>
              <a:t>“Make booking better.”</a:t>
            </a:r>
            <a:endParaRPr lang="en-US" sz="1200" dirty="0"/>
          </a:p>
        </p:txBody>
      </p:sp>
      <p:sp>
        <p:nvSpPr>
          <p:cNvPr id="125" name="s125"/>
          <p:cNvSpPr/>
          <p:nvPr/>
        </p:nvSpPr>
        <p:spPr>
          <a:xfrm>
            <a:off x="543154" y="4846320"/>
            <a:ext cx="11088014" cy="731520"/>
          </a:xfrm>
          <a:prstGeom prst="roundRect">
            <a:avLst>
              <a:gd name="adj" fmla="val 12000"/>
            </a:avLst>
          </a:prstGeom>
          <a:solidFill>
            <a:srgbClr val="111B2E"/>
          </a:solidFill>
          <a:ln w="12700">
            <a:solidFill>
              <a:srgbClr val="34D399"/>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34D399"/>
                </a:solidFill>
                <a:latin typeface="Segoe UI"/>
                <a:ea typeface="Segoe UI"/>
                <a:cs typeface="Segoe UI"/>
              </a:rPr>
              <a:t>Improved: </a:t>
            </a:r>
            <a:r>
              <a:rPr lang="en-US" sz="1350" b="0" dirty="0">
                <a:solidFill>
                  <a:srgbClr val="E2E8F0"/>
                </a:solidFill>
                <a:latin typeface="Segoe UI"/>
                <a:ea typeface="Segoe UI"/>
                <a:cs typeface="Segoe UI"/>
              </a:rPr>
              <a:t>receptionist books an available appointment → confirmed visit. Clear, valuable, testable, Sprint-sized.</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 calcmode="lin" valueType="num">
                                      <p:cBhvr additive="base">
                                        <p:cTn id="7" dur="500" decel="100000" fill="hold"/>
                                        <p:tgtEl>
                                          <p:spTgt spid="102"/>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2"/>
                                        </p:tgtEl>
                                        <p:attrNameLst>
                                          <p:attrName>ppt_h</p:attrName>
                                        </p:attrNameLst>
                                      </p:cBhvr>
                                      <p:tavLst>
                                        <p:tav tm="0">
                                          <p:val>
                                            <p:strVal val="#ppt_h*0.3"/>
                                          </p:val>
                                        </p:tav>
                                        <p:tav tm="100000">
                                          <p:val>
                                            <p:strVal val="#ppt_h*1.08"/>
                                          </p:val>
                                        </p:tav>
                                      </p:tavLst>
                                    </p:anim>
                                    <p:animEffect transition="in" filter="fade">
                                      <p:cBhvr>
                                        <p:cTn id="9" dur="250"/>
                                        <p:tgtEl>
                                          <p:spTgt spid="102"/>
                                        </p:tgtEl>
                                      </p:cBhvr>
                                    </p:animEffect>
                                    <p:anim calcmode="lin" valueType="num">
                                      <p:cBhvr additive="base">
                                        <p:cTn id="10" dur="160" fill="hold">
                                          <p:stCondLst>
                                            <p:cond delay="500"/>
                                          </p:stCondLst>
                                        </p:cTn>
                                        <p:tgtEl>
                                          <p:spTgt spid="102"/>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2"/>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00"/>
                                  </p:stCondLst>
                                  <p:childTnLst>
                                    <p:set>
                                      <p:cBhvr>
                                        <p:cTn id="13" dur="1" fill="hold">
                                          <p:stCondLst>
                                            <p:cond delay="0"/>
                                          </p:stCondLst>
                                        </p:cTn>
                                        <p:tgtEl>
                                          <p:spTgt spid="101"/>
                                        </p:tgtEl>
                                        <p:attrNameLst>
                                          <p:attrName>style.visibility</p:attrName>
                                        </p:attrNameLst>
                                      </p:cBhvr>
                                      <p:to>
                                        <p:strVal val="visible"/>
                                      </p:to>
                                    </p:set>
                                    <p:animEffect transition="in" filter="fade">
                                      <p:cBhvr>
                                        <p:cTn id="14" dur="500"/>
                                        <p:tgtEl>
                                          <p:spTgt spid="101"/>
                                        </p:tgtEl>
                                      </p:cBhvr>
                                    </p:animEffect>
                                    <p:anim calcmode="lin" valueType="num">
                                      <p:cBhvr additive="base">
                                        <p:cTn id="15" dur="500" decel="100000" fill="hold"/>
                                        <p:tgtEl>
                                          <p:spTgt spid="101"/>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10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10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anim calcmode="lin" valueType="num">
                                      <p:cBhvr additive="base">
                                        <p:cTn id="23" dur="500" decel="100000" fill="hold"/>
                                        <p:tgtEl>
                                          <p:spTgt spid="104"/>
                                        </p:tgtEl>
                                        <p:attrNameLst>
                                          <p:attrName>ppt_y</p:attrName>
                                        </p:attrNameLst>
                                      </p:cBhvr>
                                      <p:tavLst>
                                        <p:tav tm="0">
                                          <p:val>
                                            <p:strVal val="#ppt_y+0.06"/>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106"/>
                                        </p:tgtEl>
                                        <p:attrNameLst>
                                          <p:attrName>style.visibility</p:attrName>
                                        </p:attrNameLst>
                                      </p:cBhvr>
                                      <p:to>
                                        <p:strVal val="visible"/>
                                      </p:to>
                                    </p:set>
                                    <p:anim calcmode="lin" valueType="num">
                                      <p:cBhvr additive="base">
                                        <p:cTn id="28"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29" dur="500" decel="100000" fill="hold"/>
                                        <p:tgtEl>
                                          <p:spTgt spid="106"/>
                                        </p:tgtEl>
                                        <p:attrNameLst>
                                          <p:attrName>ppt_h</p:attrName>
                                        </p:attrNameLst>
                                      </p:cBhvr>
                                      <p:tavLst>
                                        <p:tav tm="0">
                                          <p:val>
                                            <p:strVal val="#ppt_h*0.3"/>
                                          </p:val>
                                        </p:tav>
                                        <p:tav tm="100000">
                                          <p:val>
                                            <p:strVal val="#ppt_h*1.08"/>
                                          </p:val>
                                        </p:tav>
                                      </p:tavLst>
                                    </p:anim>
                                    <p:animEffect transition="in" filter="fade">
                                      <p:cBhvr>
                                        <p:cTn id="30" dur="250"/>
                                        <p:tgtEl>
                                          <p:spTgt spid="106"/>
                                        </p:tgtEl>
                                      </p:cBhvr>
                                    </p:animEffect>
                                    <p:anim calcmode="lin" valueType="num">
                                      <p:cBhvr additive="base">
                                        <p:cTn id="31"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32"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par>
                                <p:cTn id="33" presetID="42" presetClass="entr" presetSubtype="0" fill="hold" grpId="0" nodeType="withEffect">
                                  <p:stCondLst>
                                    <p:cond delay="100"/>
                                  </p:stCondLst>
                                  <p:childTnLst>
                                    <p:set>
                                      <p:cBhvr>
                                        <p:cTn id="34" dur="1" fill="hold">
                                          <p:stCondLst>
                                            <p:cond delay="0"/>
                                          </p:stCondLst>
                                        </p:cTn>
                                        <p:tgtEl>
                                          <p:spTgt spid="105"/>
                                        </p:tgtEl>
                                        <p:attrNameLst>
                                          <p:attrName>style.visibility</p:attrName>
                                        </p:attrNameLst>
                                      </p:cBhvr>
                                      <p:to>
                                        <p:strVal val="visible"/>
                                      </p:to>
                                    </p:set>
                                    <p:animEffect transition="in" filter="fade">
                                      <p:cBhvr>
                                        <p:cTn id="35" dur="500"/>
                                        <p:tgtEl>
                                          <p:spTgt spid="105"/>
                                        </p:tgtEl>
                                      </p:cBhvr>
                                    </p:animEffect>
                                    <p:anim calcmode="lin" valueType="num">
                                      <p:cBhvr additive="base">
                                        <p:cTn id="36" dur="500" decel="100000" fill="hold"/>
                                        <p:tgtEl>
                                          <p:spTgt spid="105"/>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100"/>
                                  </p:stCondLst>
                                  <p:childTnLst>
                                    <p:set>
                                      <p:cBhvr>
                                        <p:cTn id="38" dur="1" fill="hold">
                                          <p:stCondLst>
                                            <p:cond delay="0"/>
                                          </p:stCondLst>
                                        </p:cTn>
                                        <p:tgtEl>
                                          <p:spTgt spid="107"/>
                                        </p:tgtEl>
                                        <p:attrNameLst>
                                          <p:attrName>style.visibility</p:attrName>
                                        </p:attrNameLst>
                                      </p:cBhvr>
                                      <p:to>
                                        <p:strVal val="visible"/>
                                      </p:to>
                                    </p:set>
                                    <p:animEffect transition="in" filter="fade">
                                      <p:cBhvr>
                                        <p:cTn id="39" dur="500"/>
                                        <p:tgtEl>
                                          <p:spTgt spid="107"/>
                                        </p:tgtEl>
                                      </p:cBhvr>
                                    </p:animEffect>
                                    <p:anim calcmode="lin" valueType="num">
                                      <p:cBhvr additive="base">
                                        <p:cTn id="40" dur="500" decel="100000" fill="hold"/>
                                        <p:tgtEl>
                                          <p:spTgt spid="107"/>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100"/>
                                  </p:stCondLst>
                                  <p:childTnLst>
                                    <p:set>
                                      <p:cBhvr>
                                        <p:cTn id="42" dur="1" fill="hold">
                                          <p:stCondLst>
                                            <p:cond delay="0"/>
                                          </p:stCondLst>
                                        </p:cTn>
                                        <p:tgtEl>
                                          <p:spTgt spid="108"/>
                                        </p:tgtEl>
                                        <p:attrNameLst>
                                          <p:attrName>style.visibility</p:attrName>
                                        </p:attrNameLst>
                                      </p:cBhvr>
                                      <p:to>
                                        <p:strVal val="visible"/>
                                      </p:to>
                                    </p:set>
                                    <p:animEffect transition="in" filter="fade">
                                      <p:cBhvr>
                                        <p:cTn id="43" dur="500"/>
                                        <p:tgtEl>
                                          <p:spTgt spid="108"/>
                                        </p:tgtEl>
                                      </p:cBhvr>
                                    </p:animEffect>
                                    <p:anim calcmode="lin" valueType="num">
                                      <p:cBhvr additive="base">
                                        <p:cTn id="44" dur="500" decel="100000" fill="hold"/>
                                        <p:tgtEl>
                                          <p:spTgt spid="108"/>
                                        </p:tgtEl>
                                        <p:attrNameLst>
                                          <p:attrName>ppt_y</p:attrName>
                                        </p:attrNameLst>
                                      </p:cBhvr>
                                      <p:tavLst>
                                        <p:tav tm="0">
                                          <p:val>
                                            <p:strVal val="#ppt_y+0.06"/>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53" presetClass="entr" presetSubtype="16" fill="hold" grpId="0" nodeType="clickEffect">
                                  <p:stCondLst>
                                    <p:cond delay="0"/>
                                  </p:stCondLst>
                                  <p:childTnLst>
                                    <p:set>
                                      <p:cBhvr>
                                        <p:cTn id="48" dur="1" fill="hold">
                                          <p:stCondLst>
                                            <p:cond delay="0"/>
                                          </p:stCondLst>
                                        </p:cTn>
                                        <p:tgtEl>
                                          <p:spTgt spid="110"/>
                                        </p:tgtEl>
                                        <p:attrNameLst>
                                          <p:attrName>style.visibility</p:attrName>
                                        </p:attrNameLst>
                                      </p:cBhvr>
                                      <p:to>
                                        <p:strVal val="visible"/>
                                      </p:to>
                                    </p:set>
                                    <p:anim calcmode="lin" valueType="num">
                                      <p:cBhvr additive="base">
                                        <p:cTn id="49" dur="500" decel="100000" fill="hold"/>
                                        <p:tgtEl>
                                          <p:spTgt spid="110"/>
                                        </p:tgtEl>
                                        <p:attrNameLst>
                                          <p:attrName>ppt_w</p:attrName>
                                        </p:attrNameLst>
                                      </p:cBhvr>
                                      <p:tavLst>
                                        <p:tav tm="0">
                                          <p:val>
                                            <p:strVal val="#ppt_w*0.3"/>
                                          </p:val>
                                        </p:tav>
                                        <p:tav tm="100000">
                                          <p:val>
                                            <p:strVal val="#ppt_w*1.08"/>
                                          </p:val>
                                        </p:tav>
                                      </p:tavLst>
                                    </p:anim>
                                    <p:anim calcmode="lin" valueType="num">
                                      <p:cBhvr additive="base">
                                        <p:cTn id="50" dur="500" decel="100000" fill="hold"/>
                                        <p:tgtEl>
                                          <p:spTgt spid="110"/>
                                        </p:tgtEl>
                                        <p:attrNameLst>
                                          <p:attrName>ppt_h</p:attrName>
                                        </p:attrNameLst>
                                      </p:cBhvr>
                                      <p:tavLst>
                                        <p:tav tm="0">
                                          <p:val>
                                            <p:strVal val="#ppt_h*0.3"/>
                                          </p:val>
                                        </p:tav>
                                        <p:tav tm="100000">
                                          <p:val>
                                            <p:strVal val="#ppt_h*1.08"/>
                                          </p:val>
                                        </p:tav>
                                      </p:tavLst>
                                    </p:anim>
                                    <p:animEffect transition="in" filter="fade">
                                      <p:cBhvr>
                                        <p:cTn id="51" dur="250"/>
                                        <p:tgtEl>
                                          <p:spTgt spid="110"/>
                                        </p:tgtEl>
                                      </p:cBhvr>
                                    </p:animEffect>
                                    <p:anim calcmode="lin" valueType="num">
                                      <p:cBhvr additive="base">
                                        <p:cTn id="52" dur="160" fill="hold">
                                          <p:stCondLst>
                                            <p:cond delay="500"/>
                                          </p:stCondLst>
                                        </p:cTn>
                                        <p:tgtEl>
                                          <p:spTgt spid="110"/>
                                        </p:tgtEl>
                                        <p:attrNameLst>
                                          <p:attrName>ppt_w</p:attrName>
                                        </p:attrNameLst>
                                      </p:cBhvr>
                                      <p:tavLst>
                                        <p:tav tm="0">
                                          <p:val>
                                            <p:strVal val="#ppt_w*1.08"/>
                                          </p:val>
                                        </p:tav>
                                        <p:tav tm="100000">
                                          <p:val>
                                            <p:strVal val="#ppt_w"/>
                                          </p:val>
                                        </p:tav>
                                      </p:tavLst>
                                    </p:anim>
                                    <p:anim calcmode="lin" valueType="num">
                                      <p:cBhvr additive="base">
                                        <p:cTn id="53" dur="160" fill="hold">
                                          <p:stCondLst>
                                            <p:cond delay="500"/>
                                          </p:stCondLst>
                                        </p:cTn>
                                        <p:tgtEl>
                                          <p:spTgt spid="110"/>
                                        </p:tgtEl>
                                        <p:attrNameLst>
                                          <p:attrName>ppt_h</p:attrName>
                                        </p:attrNameLst>
                                      </p:cBhvr>
                                      <p:tavLst>
                                        <p:tav tm="0">
                                          <p:val>
                                            <p:strVal val="#ppt_h*1.08"/>
                                          </p:val>
                                        </p:tav>
                                        <p:tav tm="100000">
                                          <p:val>
                                            <p:strVal val="#ppt_h"/>
                                          </p:val>
                                        </p:tav>
                                      </p:tavLst>
                                    </p:anim>
                                  </p:childTnLst>
                                </p:cTn>
                              </p:par>
                              <p:par>
                                <p:cTn id="54" presetID="42" presetClass="entr" presetSubtype="0" fill="hold" grpId="0" nodeType="withEffect">
                                  <p:stCondLst>
                                    <p:cond delay="100"/>
                                  </p:stCondLst>
                                  <p:childTnLst>
                                    <p:set>
                                      <p:cBhvr>
                                        <p:cTn id="55" dur="1" fill="hold">
                                          <p:stCondLst>
                                            <p:cond delay="0"/>
                                          </p:stCondLst>
                                        </p:cTn>
                                        <p:tgtEl>
                                          <p:spTgt spid="109"/>
                                        </p:tgtEl>
                                        <p:attrNameLst>
                                          <p:attrName>style.visibility</p:attrName>
                                        </p:attrNameLst>
                                      </p:cBhvr>
                                      <p:to>
                                        <p:strVal val="visible"/>
                                      </p:to>
                                    </p:set>
                                    <p:animEffect transition="in" filter="fade">
                                      <p:cBhvr>
                                        <p:cTn id="56" dur="500"/>
                                        <p:tgtEl>
                                          <p:spTgt spid="109"/>
                                        </p:tgtEl>
                                      </p:cBhvr>
                                    </p:animEffect>
                                    <p:anim calcmode="lin" valueType="num">
                                      <p:cBhvr additive="base">
                                        <p:cTn id="57" dur="500" decel="100000" fill="hold"/>
                                        <p:tgtEl>
                                          <p:spTgt spid="109"/>
                                        </p:tgtEl>
                                        <p:attrNameLst>
                                          <p:attrName>ppt_y</p:attrName>
                                        </p:attrNameLst>
                                      </p:cBhvr>
                                      <p:tavLst>
                                        <p:tav tm="0">
                                          <p:val>
                                            <p:strVal val="#ppt_y+0.06"/>
                                          </p:val>
                                        </p:tav>
                                        <p:tav tm="100000">
                                          <p:val>
                                            <p:strVal val="#ppt_y"/>
                                          </p:val>
                                        </p:tav>
                                      </p:tavLst>
                                    </p:anim>
                                  </p:childTnLst>
                                </p:cTn>
                              </p:par>
                              <p:par>
                                <p:cTn id="58" presetID="42" presetClass="entr" presetSubtype="0" fill="hold" grpId="0" nodeType="withEffect">
                                  <p:stCondLst>
                                    <p:cond delay="100"/>
                                  </p:stCondLst>
                                  <p:childTnLst>
                                    <p:set>
                                      <p:cBhvr>
                                        <p:cTn id="59" dur="1" fill="hold">
                                          <p:stCondLst>
                                            <p:cond delay="0"/>
                                          </p:stCondLst>
                                        </p:cTn>
                                        <p:tgtEl>
                                          <p:spTgt spid="111"/>
                                        </p:tgtEl>
                                        <p:attrNameLst>
                                          <p:attrName>style.visibility</p:attrName>
                                        </p:attrNameLst>
                                      </p:cBhvr>
                                      <p:to>
                                        <p:strVal val="visible"/>
                                      </p:to>
                                    </p:set>
                                    <p:animEffect transition="in" filter="fade">
                                      <p:cBhvr>
                                        <p:cTn id="60" dur="500"/>
                                        <p:tgtEl>
                                          <p:spTgt spid="111"/>
                                        </p:tgtEl>
                                      </p:cBhvr>
                                    </p:animEffect>
                                    <p:anim calcmode="lin" valueType="num">
                                      <p:cBhvr additive="base">
                                        <p:cTn id="61" dur="500" decel="100000" fill="hold"/>
                                        <p:tgtEl>
                                          <p:spTgt spid="111"/>
                                        </p:tgtEl>
                                        <p:attrNameLst>
                                          <p:attrName>ppt_y</p:attrName>
                                        </p:attrNameLst>
                                      </p:cBhvr>
                                      <p:tavLst>
                                        <p:tav tm="0">
                                          <p:val>
                                            <p:strVal val="#ppt_y+0.06"/>
                                          </p:val>
                                        </p:tav>
                                        <p:tav tm="100000">
                                          <p:val>
                                            <p:strVal val="#ppt_y"/>
                                          </p:val>
                                        </p:tav>
                                      </p:tavLst>
                                    </p:anim>
                                  </p:childTnLst>
                                </p:cTn>
                              </p:par>
                              <p:par>
                                <p:cTn id="62" presetID="42" presetClass="entr" presetSubtype="0" fill="hold" grpId="0" nodeType="withEffect">
                                  <p:stCondLst>
                                    <p:cond delay="100"/>
                                  </p:stCondLst>
                                  <p:childTnLst>
                                    <p:set>
                                      <p:cBhvr>
                                        <p:cTn id="63" dur="1" fill="hold">
                                          <p:stCondLst>
                                            <p:cond delay="0"/>
                                          </p:stCondLst>
                                        </p:cTn>
                                        <p:tgtEl>
                                          <p:spTgt spid="112"/>
                                        </p:tgtEl>
                                        <p:attrNameLst>
                                          <p:attrName>style.visibility</p:attrName>
                                        </p:attrNameLst>
                                      </p:cBhvr>
                                      <p:to>
                                        <p:strVal val="visible"/>
                                      </p:to>
                                    </p:set>
                                    <p:animEffect transition="in" filter="fade">
                                      <p:cBhvr>
                                        <p:cTn id="64" dur="500"/>
                                        <p:tgtEl>
                                          <p:spTgt spid="112"/>
                                        </p:tgtEl>
                                      </p:cBhvr>
                                    </p:animEffect>
                                    <p:anim calcmode="lin" valueType="num">
                                      <p:cBhvr additive="base">
                                        <p:cTn id="65" dur="500" decel="100000" fill="hold"/>
                                        <p:tgtEl>
                                          <p:spTgt spid="112"/>
                                        </p:tgtEl>
                                        <p:attrNameLst>
                                          <p:attrName>ppt_y</p:attrName>
                                        </p:attrNameLst>
                                      </p:cBhvr>
                                      <p:tavLst>
                                        <p:tav tm="0">
                                          <p:val>
                                            <p:strVal val="#ppt_y+0.06"/>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53" presetClass="entr" presetSubtype="16" fill="hold" grpId="0" nodeType="clickEffect">
                                  <p:stCondLst>
                                    <p:cond delay="0"/>
                                  </p:stCondLst>
                                  <p:childTnLst>
                                    <p:set>
                                      <p:cBhvr>
                                        <p:cTn id="69" dur="1" fill="hold">
                                          <p:stCondLst>
                                            <p:cond delay="0"/>
                                          </p:stCondLst>
                                        </p:cTn>
                                        <p:tgtEl>
                                          <p:spTgt spid="114"/>
                                        </p:tgtEl>
                                        <p:attrNameLst>
                                          <p:attrName>style.visibility</p:attrName>
                                        </p:attrNameLst>
                                      </p:cBhvr>
                                      <p:to>
                                        <p:strVal val="visible"/>
                                      </p:to>
                                    </p:set>
                                    <p:anim calcmode="lin" valueType="num">
                                      <p:cBhvr additive="base">
                                        <p:cTn id="70" dur="500" decel="100000" fill="hold"/>
                                        <p:tgtEl>
                                          <p:spTgt spid="114"/>
                                        </p:tgtEl>
                                        <p:attrNameLst>
                                          <p:attrName>ppt_w</p:attrName>
                                        </p:attrNameLst>
                                      </p:cBhvr>
                                      <p:tavLst>
                                        <p:tav tm="0">
                                          <p:val>
                                            <p:strVal val="#ppt_w*0.3"/>
                                          </p:val>
                                        </p:tav>
                                        <p:tav tm="100000">
                                          <p:val>
                                            <p:strVal val="#ppt_w*1.08"/>
                                          </p:val>
                                        </p:tav>
                                      </p:tavLst>
                                    </p:anim>
                                    <p:anim calcmode="lin" valueType="num">
                                      <p:cBhvr additive="base">
                                        <p:cTn id="71" dur="500" decel="100000" fill="hold"/>
                                        <p:tgtEl>
                                          <p:spTgt spid="114"/>
                                        </p:tgtEl>
                                        <p:attrNameLst>
                                          <p:attrName>ppt_h</p:attrName>
                                        </p:attrNameLst>
                                      </p:cBhvr>
                                      <p:tavLst>
                                        <p:tav tm="0">
                                          <p:val>
                                            <p:strVal val="#ppt_h*0.3"/>
                                          </p:val>
                                        </p:tav>
                                        <p:tav tm="100000">
                                          <p:val>
                                            <p:strVal val="#ppt_h*1.08"/>
                                          </p:val>
                                        </p:tav>
                                      </p:tavLst>
                                    </p:anim>
                                    <p:animEffect transition="in" filter="fade">
                                      <p:cBhvr>
                                        <p:cTn id="72" dur="250"/>
                                        <p:tgtEl>
                                          <p:spTgt spid="114"/>
                                        </p:tgtEl>
                                      </p:cBhvr>
                                    </p:animEffect>
                                    <p:anim calcmode="lin" valueType="num">
                                      <p:cBhvr additive="base">
                                        <p:cTn id="73" dur="160" fill="hold">
                                          <p:stCondLst>
                                            <p:cond delay="500"/>
                                          </p:stCondLst>
                                        </p:cTn>
                                        <p:tgtEl>
                                          <p:spTgt spid="114"/>
                                        </p:tgtEl>
                                        <p:attrNameLst>
                                          <p:attrName>ppt_w</p:attrName>
                                        </p:attrNameLst>
                                      </p:cBhvr>
                                      <p:tavLst>
                                        <p:tav tm="0">
                                          <p:val>
                                            <p:strVal val="#ppt_w*1.08"/>
                                          </p:val>
                                        </p:tav>
                                        <p:tav tm="100000">
                                          <p:val>
                                            <p:strVal val="#ppt_w"/>
                                          </p:val>
                                        </p:tav>
                                      </p:tavLst>
                                    </p:anim>
                                    <p:anim calcmode="lin" valueType="num">
                                      <p:cBhvr additive="base">
                                        <p:cTn id="74" dur="160" fill="hold">
                                          <p:stCondLst>
                                            <p:cond delay="500"/>
                                          </p:stCondLst>
                                        </p:cTn>
                                        <p:tgtEl>
                                          <p:spTgt spid="114"/>
                                        </p:tgtEl>
                                        <p:attrNameLst>
                                          <p:attrName>ppt_h</p:attrName>
                                        </p:attrNameLst>
                                      </p:cBhvr>
                                      <p:tavLst>
                                        <p:tav tm="0">
                                          <p:val>
                                            <p:strVal val="#ppt_h*1.08"/>
                                          </p:val>
                                        </p:tav>
                                        <p:tav tm="100000">
                                          <p:val>
                                            <p:strVal val="#ppt_h"/>
                                          </p:val>
                                        </p:tav>
                                      </p:tavLst>
                                    </p:anim>
                                  </p:childTnLst>
                                </p:cTn>
                              </p:par>
                              <p:par>
                                <p:cTn id="75" presetID="42" presetClass="entr" presetSubtype="0" fill="hold" grpId="0" nodeType="withEffect">
                                  <p:stCondLst>
                                    <p:cond delay="100"/>
                                  </p:stCondLst>
                                  <p:childTnLst>
                                    <p:set>
                                      <p:cBhvr>
                                        <p:cTn id="76" dur="1" fill="hold">
                                          <p:stCondLst>
                                            <p:cond delay="0"/>
                                          </p:stCondLst>
                                        </p:cTn>
                                        <p:tgtEl>
                                          <p:spTgt spid="113"/>
                                        </p:tgtEl>
                                        <p:attrNameLst>
                                          <p:attrName>style.visibility</p:attrName>
                                        </p:attrNameLst>
                                      </p:cBhvr>
                                      <p:to>
                                        <p:strVal val="visible"/>
                                      </p:to>
                                    </p:set>
                                    <p:animEffect transition="in" filter="fade">
                                      <p:cBhvr>
                                        <p:cTn id="77" dur="500"/>
                                        <p:tgtEl>
                                          <p:spTgt spid="113"/>
                                        </p:tgtEl>
                                      </p:cBhvr>
                                    </p:animEffect>
                                    <p:anim calcmode="lin" valueType="num">
                                      <p:cBhvr additive="base">
                                        <p:cTn id="78" dur="500" decel="100000" fill="hold"/>
                                        <p:tgtEl>
                                          <p:spTgt spid="113"/>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100"/>
                                  </p:stCondLst>
                                  <p:childTnLst>
                                    <p:set>
                                      <p:cBhvr>
                                        <p:cTn id="80" dur="1" fill="hold">
                                          <p:stCondLst>
                                            <p:cond delay="0"/>
                                          </p:stCondLst>
                                        </p:cTn>
                                        <p:tgtEl>
                                          <p:spTgt spid="115"/>
                                        </p:tgtEl>
                                        <p:attrNameLst>
                                          <p:attrName>style.visibility</p:attrName>
                                        </p:attrNameLst>
                                      </p:cBhvr>
                                      <p:to>
                                        <p:strVal val="visible"/>
                                      </p:to>
                                    </p:set>
                                    <p:animEffect transition="in" filter="fade">
                                      <p:cBhvr>
                                        <p:cTn id="81" dur="500"/>
                                        <p:tgtEl>
                                          <p:spTgt spid="115"/>
                                        </p:tgtEl>
                                      </p:cBhvr>
                                    </p:animEffect>
                                    <p:anim calcmode="lin" valueType="num">
                                      <p:cBhvr additive="base">
                                        <p:cTn id="82" dur="500" decel="100000" fill="hold"/>
                                        <p:tgtEl>
                                          <p:spTgt spid="115"/>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100"/>
                                  </p:stCondLst>
                                  <p:childTnLst>
                                    <p:set>
                                      <p:cBhvr>
                                        <p:cTn id="84" dur="1" fill="hold">
                                          <p:stCondLst>
                                            <p:cond delay="0"/>
                                          </p:stCondLst>
                                        </p:cTn>
                                        <p:tgtEl>
                                          <p:spTgt spid="116"/>
                                        </p:tgtEl>
                                        <p:attrNameLst>
                                          <p:attrName>style.visibility</p:attrName>
                                        </p:attrNameLst>
                                      </p:cBhvr>
                                      <p:to>
                                        <p:strVal val="visible"/>
                                      </p:to>
                                    </p:set>
                                    <p:animEffect transition="in" filter="fade">
                                      <p:cBhvr>
                                        <p:cTn id="85" dur="500"/>
                                        <p:tgtEl>
                                          <p:spTgt spid="116"/>
                                        </p:tgtEl>
                                      </p:cBhvr>
                                    </p:animEffect>
                                    <p:anim calcmode="lin" valueType="num">
                                      <p:cBhvr additive="base">
                                        <p:cTn id="86" dur="500" decel="100000" fill="hold"/>
                                        <p:tgtEl>
                                          <p:spTgt spid="116"/>
                                        </p:tgtEl>
                                        <p:attrNameLst>
                                          <p:attrName>ppt_y</p:attrName>
                                        </p:attrNameLst>
                                      </p:cBhvr>
                                      <p:tavLst>
                                        <p:tav tm="0">
                                          <p:val>
                                            <p:strVal val="#ppt_y+0.06"/>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53" presetClass="entr" presetSubtype="16" fill="hold" grpId="0" nodeType="clickEffect">
                                  <p:stCondLst>
                                    <p:cond delay="0"/>
                                  </p:stCondLst>
                                  <p:childTnLst>
                                    <p:set>
                                      <p:cBhvr>
                                        <p:cTn id="90" dur="1" fill="hold">
                                          <p:stCondLst>
                                            <p:cond delay="0"/>
                                          </p:stCondLst>
                                        </p:cTn>
                                        <p:tgtEl>
                                          <p:spTgt spid="118"/>
                                        </p:tgtEl>
                                        <p:attrNameLst>
                                          <p:attrName>style.visibility</p:attrName>
                                        </p:attrNameLst>
                                      </p:cBhvr>
                                      <p:to>
                                        <p:strVal val="visible"/>
                                      </p:to>
                                    </p:set>
                                    <p:anim calcmode="lin" valueType="num">
                                      <p:cBhvr additive="base">
                                        <p:cTn id="91" dur="500" decel="100000" fill="hold"/>
                                        <p:tgtEl>
                                          <p:spTgt spid="118"/>
                                        </p:tgtEl>
                                        <p:attrNameLst>
                                          <p:attrName>ppt_w</p:attrName>
                                        </p:attrNameLst>
                                      </p:cBhvr>
                                      <p:tavLst>
                                        <p:tav tm="0">
                                          <p:val>
                                            <p:strVal val="#ppt_w*0.3"/>
                                          </p:val>
                                        </p:tav>
                                        <p:tav tm="100000">
                                          <p:val>
                                            <p:strVal val="#ppt_w*1.08"/>
                                          </p:val>
                                        </p:tav>
                                      </p:tavLst>
                                    </p:anim>
                                    <p:anim calcmode="lin" valueType="num">
                                      <p:cBhvr additive="base">
                                        <p:cTn id="92" dur="500" decel="100000" fill="hold"/>
                                        <p:tgtEl>
                                          <p:spTgt spid="118"/>
                                        </p:tgtEl>
                                        <p:attrNameLst>
                                          <p:attrName>ppt_h</p:attrName>
                                        </p:attrNameLst>
                                      </p:cBhvr>
                                      <p:tavLst>
                                        <p:tav tm="0">
                                          <p:val>
                                            <p:strVal val="#ppt_h*0.3"/>
                                          </p:val>
                                        </p:tav>
                                        <p:tav tm="100000">
                                          <p:val>
                                            <p:strVal val="#ppt_h*1.08"/>
                                          </p:val>
                                        </p:tav>
                                      </p:tavLst>
                                    </p:anim>
                                    <p:animEffect transition="in" filter="fade">
                                      <p:cBhvr>
                                        <p:cTn id="93" dur="250"/>
                                        <p:tgtEl>
                                          <p:spTgt spid="118"/>
                                        </p:tgtEl>
                                      </p:cBhvr>
                                    </p:animEffect>
                                    <p:anim calcmode="lin" valueType="num">
                                      <p:cBhvr additive="base">
                                        <p:cTn id="94" dur="160" fill="hold">
                                          <p:stCondLst>
                                            <p:cond delay="500"/>
                                          </p:stCondLst>
                                        </p:cTn>
                                        <p:tgtEl>
                                          <p:spTgt spid="118"/>
                                        </p:tgtEl>
                                        <p:attrNameLst>
                                          <p:attrName>ppt_w</p:attrName>
                                        </p:attrNameLst>
                                      </p:cBhvr>
                                      <p:tavLst>
                                        <p:tav tm="0">
                                          <p:val>
                                            <p:strVal val="#ppt_w*1.08"/>
                                          </p:val>
                                        </p:tav>
                                        <p:tav tm="100000">
                                          <p:val>
                                            <p:strVal val="#ppt_w"/>
                                          </p:val>
                                        </p:tav>
                                      </p:tavLst>
                                    </p:anim>
                                    <p:anim calcmode="lin" valueType="num">
                                      <p:cBhvr additive="base">
                                        <p:cTn id="95" dur="160" fill="hold">
                                          <p:stCondLst>
                                            <p:cond delay="500"/>
                                          </p:stCondLst>
                                        </p:cTn>
                                        <p:tgtEl>
                                          <p:spTgt spid="118"/>
                                        </p:tgtEl>
                                        <p:attrNameLst>
                                          <p:attrName>ppt_h</p:attrName>
                                        </p:attrNameLst>
                                      </p:cBhvr>
                                      <p:tavLst>
                                        <p:tav tm="0">
                                          <p:val>
                                            <p:strVal val="#ppt_h*1.08"/>
                                          </p:val>
                                        </p:tav>
                                        <p:tav tm="100000">
                                          <p:val>
                                            <p:strVal val="#ppt_h"/>
                                          </p:val>
                                        </p:tav>
                                      </p:tavLst>
                                    </p:anim>
                                  </p:childTnLst>
                                </p:cTn>
                              </p:par>
                              <p:par>
                                <p:cTn id="96" presetID="42" presetClass="entr" presetSubtype="0" fill="hold" grpId="0" nodeType="withEffect">
                                  <p:stCondLst>
                                    <p:cond delay="100"/>
                                  </p:stCondLst>
                                  <p:childTnLst>
                                    <p:set>
                                      <p:cBhvr>
                                        <p:cTn id="97" dur="1" fill="hold">
                                          <p:stCondLst>
                                            <p:cond delay="0"/>
                                          </p:stCondLst>
                                        </p:cTn>
                                        <p:tgtEl>
                                          <p:spTgt spid="117"/>
                                        </p:tgtEl>
                                        <p:attrNameLst>
                                          <p:attrName>style.visibility</p:attrName>
                                        </p:attrNameLst>
                                      </p:cBhvr>
                                      <p:to>
                                        <p:strVal val="visible"/>
                                      </p:to>
                                    </p:set>
                                    <p:animEffect transition="in" filter="fade">
                                      <p:cBhvr>
                                        <p:cTn id="98" dur="500"/>
                                        <p:tgtEl>
                                          <p:spTgt spid="117"/>
                                        </p:tgtEl>
                                      </p:cBhvr>
                                    </p:animEffect>
                                    <p:anim calcmode="lin" valueType="num">
                                      <p:cBhvr additive="base">
                                        <p:cTn id="99" dur="500" decel="100000" fill="hold"/>
                                        <p:tgtEl>
                                          <p:spTgt spid="117"/>
                                        </p:tgtEl>
                                        <p:attrNameLst>
                                          <p:attrName>ppt_y</p:attrName>
                                        </p:attrNameLst>
                                      </p:cBhvr>
                                      <p:tavLst>
                                        <p:tav tm="0">
                                          <p:val>
                                            <p:strVal val="#ppt_y+0.06"/>
                                          </p:val>
                                        </p:tav>
                                        <p:tav tm="100000">
                                          <p:val>
                                            <p:strVal val="#ppt_y"/>
                                          </p:val>
                                        </p:tav>
                                      </p:tavLst>
                                    </p:anim>
                                  </p:childTnLst>
                                </p:cTn>
                              </p:par>
                              <p:par>
                                <p:cTn id="100" presetID="42" presetClass="entr" presetSubtype="0" fill="hold" grpId="0" nodeType="withEffect">
                                  <p:stCondLst>
                                    <p:cond delay="100"/>
                                  </p:stCondLst>
                                  <p:childTnLst>
                                    <p:set>
                                      <p:cBhvr>
                                        <p:cTn id="101" dur="1" fill="hold">
                                          <p:stCondLst>
                                            <p:cond delay="0"/>
                                          </p:stCondLst>
                                        </p:cTn>
                                        <p:tgtEl>
                                          <p:spTgt spid="119"/>
                                        </p:tgtEl>
                                        <p:attrNameLst>
                                          <p:attrName>style.visibility</p:attrName>
                                        </p:attrNameLst>
                                      </p:cBhvr>
                                      <p:to>
                                        <p:strVal val="visible"/>
                                      </p:to>
                                    </p:set>
                                    <p:animEffect transition="in" filter="fade">
                                      <p:cBhvr>
                                        <p:cTn id="102" dur="500"/>
                                        <p:tgtEl>
                                          <p:spTgt spid="119"/>
                                        </p:tgtEl>
                                      </p:cBhvr>
                                    </p:animEffect>
                                    <p:anim calcmode="lin" valueType="num">
                                      <p:cBhvr additive="base">
                                        <p:cTn id="103" dur="500" decel="100000" fill="hold"/>
                                        <p:tgtEl>
                                          <p:spTgt spid="119"/>
                                        </p:tgtEl>
                                        <p:attrNameLst>
                                          <p:attrName>ppt_y</p:attrName>
                                        </p:attrNameLst>
                                      </p:cBhvr>
                                      <p:tavLst>
                                        <p:tav tm="0">
                                          <p:val>
                                            <p:strVal val="#ppt_y+0.06"/>
                                          </p:val>
                                        </p:tav>
                                        <p:tav tm="100000">
                                          <p:val>
                                            <p:strVal val="#ppt_y"/>
                                          </p:val>
                                        </p:tav>
                                      </p:tavLst>
                                    </p:anim>
                                  </p:childTnLst>
                                </p:cTn>
                              </p:par>
                              <p:par>
                                <p:cTn id="104" presetID="42" presetClass="entr" presetSubtype="0" fill="hold" grpId="0" nodeType="withEffect">
                                  <p:stCondLst>
                                    <p:cond delay="100"/>
                                  </p:stCondLst>
                                  <p:childTnLst>
                                    <p:set>
                                      <p:cBhvr>
                                        <p:cTn id="105" dur="1" fill="hold">
                                          <p:stCondLst>
                                            <p:cond delay="0"/>
                                          </p:stCondLst>
                                        </p:cTn>
                                        <p:tgtEl>
                                          <p:spTgt spid="120"/>
                                        </p:tgtEl>
                                        <p:attrNameLst>
                                          <p:attrName>style.visibility</p:attrName>
                                        </p:attrNameLst>
                                      </p:cBhvr>
                                      <p:to>
                                        <p:strVal val="visible"/>
                                      </p:to>
                                    </p:set>
                                    <p:animEffect transition="in" filter="fade">
                                      <p:cBhvr>
                                        <p:cTn id="106" dur="500"/>
                                        <p:tgtEl>
                                          <p:spTgt spid="120"/>
                                        </p:tgtEl>
                                      </p:cBhvr>
                                    </p:animEffect>
                                    <p:anim calcmode="lin" valueType="num">
                                      <p:cBhvr additive="base">
                                        <p:cTn id="107" dur="500" decel="100000" fill="hold"/>
                                        <p:tgtEl>
                                          <p:spTgt spid="120"/>
                                        </p:tgtEl>
                                        <p:attrNameLst>
                                          <p:attrName>ppt_y</p:attrName>
                                        </p:attrNameLst>
                                      </p:cBhvr>
                                      <p:tavLst>
                                        <p:tav tm="0">
                                          <p:val>
                                            <p:strVal val="#ppt_y+0.06"/>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53" presetClass="entr" presetSubtype="16" fill="hold" grpId="0" nodeType="clickEffect">
                                  <p:stCondLst>
                                    <p:cond delay="0"/>
                                  </p:stCondLst>
                                  <p:childTnLst>
                                    <p:set>
                                      <p:cBhvr>
                                        <p:cTn id="111" dur="1" fill="hold">
                                          <p:stCondLst>
                                            <p:cond delay="0"/>
                                          </p:stCondLst>
                                        </p:cTn>
                                        <p:tgtEl>
                                          <p:spTgt spid="122"/>
                                        </p:tgtEl>
                                        <p:attrNameLst>
                                          <p:attrName>style.visibility</p:attrName>
                                        </p:attrNameLst>
                                      </p:cBhvr>
                                      <p:to>
                                        <p:strVal val="visible"/>
                                      </p:to>
                                    </p:set>
                                    <p:anim calcmode="lin" valueType="num">
                                      <p:cBhvr additive="base">
                                        <p:cTn id="112" dur="500" decel="100000" fill="hold"/>
                                        <p:tgtEl>
                                          <p:spTgt spid="122"/>
                                        </p:tgtEl>
                                        <p:attrNameLst>
                                          <p:attrName>ppt_w</p:attrName>
                                        </p:attrNameLst>
                                      </p:cBhvr>
                                      <p:tavLst>
                                        <p:tav tm="0">
                                          <p:val>
                                            <p:strVal val="#ppt_w*0.3"/>
                                          </p:val>
                                        </p:tav>
                                        <p:tav tm="100000">
                                          <p:val>
                                            <p:strVal val="#ppt_w*1.08"/>
                                          </p:val>
                                        </p:tav>
                                      </p:tavLst>
                                    </p:anim>
                                    <p:anim calcmode="lin" valueType="num">
                                      <p:cBhvr additive="base">
                                        <p:cTn id="113" dur="500" decel="100000" fill="hold"/>
                                        <p:tgtEl>
                                          <p:spTgt spid="122"/>
                                        </p:tgtEl>
                                        <p:attrNameLst>
                                          <p:attrName>ppt_h</p:attrName>
                                        </p:attrNameLst>
                                      </p:cBhvr>
                                      <p:tavLst>
                                        <p:tav tm="0">
                                          <p:val>
                                            <p:strVal val="#ppt_h*0.3"/>
                                          </p:val>
                                        </p:tav>
                                        <p:tav tm="100000">
                                          <p:val>
                                            <p:strVal val="#ppt_h*1.08"/>
                                          </p:val>
                                        </p:tav>
                                      </p:tavLst>
                                    </p:anim>
                                    <p:animEffect transition="in" filter="fade">
                                      <p:cBhvr>
                                        <p:cTn id="114" dur="250"/>
                                        <p:tgtEl>
                                          <p:spTgt spid="122"/>
                                        </p:tgtEl>
                                      </p:cBhvr>
                                    </p:animEffect>
                                    <p:anim calcmode="lin" valueType="num">
                                      <p:cBhvr additive="base">
                                        <p:cTn id="115" dur="160" fill="hold">
                                          <p:stCondLst>
                                            <p:cond delay="500"/>
                                          </p:stCondLst>
                                        </p:cTn>
                                        <p:tgtEl>
                                          <p:spTgt spid="122"/>
                                        </p:tgtEl>
                                        <p:attrNameLst>
                                          <p:attrName>ppt_w</p:attrName>
                                        </p:attrNameLst>
                                      </p:cBhvr>
                                      <p:tavLst>
                                        <p:tav tm="0">
                                          <p:val>
                                            <p:strVal val="#ppt_w*1.08"/>
                                          </p:val>
                                        </p:tav>
                                        <p:tav tm="100000">
                                          <p:val>
                                            <p:strVal val="#ppt_w"/>
                                          </p:val>
                                        </p:tav>
                                      </p:tavLst>
                                    </p:anim>
                                    <p:anim calcmode="lin" valueType="num">
                                      <p:cBhvr additive="base">
                                        <p:cTn id="116" dur="160" fill="hold">
                                          <p:stCondLst>
                                            <p:cond delay="500"/>
                                          </p:stCondLst>
                                        </p:cTn>
                                        <p:tgtEl>
                                          <p:spTgt spid="122"/>
                                        </p:tgtEl>
                                        <p:attrNameLst>
                                          <p:attrName>ppt_h</p:attrName>
                                        </p:attrNameLst>
                                      </p:cBhvr>
                                      <p:tavLst>
                                        <p:tav tm="0">
                                          <p:val>
                                            <p:strVal val="#ppt_h*1.08"/>
                                          </p:val>
                                        </p:tav>
                                        <p:tav tm="100000">
                                          <p:val>
                                            <p:strVal val="#ppt_h"/>
                                          </p:val>
                                        </p:tav>
                                      </p:tavLst>
                                    </p:anim>
                                  </p:childTnLst>
                                </p:cTn>
                              </p:par>
                              <p:par>
                                <p:cTn id="117" presetID="42" presetClass="entr" presetSubtype="0" fill="hold" grpId="0" nodeType="withEffect">
                                  <p:stCondLst>
                                    <p:cond delay="100"/>
                                  </p:stCondLst>
                                  <p:childTnLst>
                                    <p:set>
                                      <p:cBhvr>
                                        <p:cTn id="118" dur="1" fill="hold">
                                          <p:stCondLst>
                                            <p:cond delay="0"/>
                                          </p:stCondLst>
                                        </p:cTn>
                                        <p:tgtEl>
                                          <p:spTgt spid="121"/>
                                        </p:tgtEl>
                                        <p:attrNameLst>
                                          <p:attrName>style.visibility</p:attrName>
                                        </p:attrNameLst>
                                      </p:cBhvr>
                                      <p:to>
                                        <p:strVal val="visible"/>
                                      </p:to>
                                    </p:set>
                                    <p:animEffect transition="in" filter="fade">
                                      <p:cBhvr>
                                        <p:cTn id="119" dur="500"/>
                                        <p:tgtEl>
                                          <p:spTgt spid="121"/>
                                        </p:tgtEl>
                                      </p:cBhvr>
                                    </p:animEffect>
                                    <p:anim calcmode="lin" valueType="num">
                                      <p:cBhvr additive="base">
                                        <p:cTn id="120" dur="500" decel="100000" fill="hold"/>
                                        <p:tgtEl>
                                          <p:spTgt spid="121"/>
                                        </p:tgtEl>
                                        <p:attrNameLst>
                                          <p:attrName>ppt_y</p:attrName>
                                        </p:attrNameLst>
                                      </p:cBhvr>
                                      <p:tavLst>
                                        <p:tav tm="0">
                                          <p:val>
                                            <p:strVal val="#ppt_y+0.06"/>
                                          </p:val>
                                        </p:tav>
                                        <p:tav tm="100000">
                                          <p:val>
                                            <p:strVal val="#ppt_y"/>
                                          </p:val>
                                        </p:tav>
                                      </p:tavLst>
                                    </p:anim>
                                  </p:childTnLst>
                                </p:cTn>
                              </p:par>
                              <p:par>
                                <p:cTn id="121" presetID="42" presetClass="entr" presetSubtype="0" fill="hold" grpId="0" nodeType="withEffect">
                                  <p:stCondLst>
                                    <p:cond delay="100"/>
                                  </p:stCondLst>
                                  <p:childTnLst>
                                    <p:set>
                                      <p:cBhvr>
                                        <p:cTn id="122" dur="1" fill="hold">
                                          <p:stCondLst>
                                            <p:cond delay="0"/>
                                          </p:stCondLst>
                                        </p:cTn>
                                        <p:tgtEl>
                                          <p:spTgt spid="123"/>
                                        </p:tgtEl>
                                        <p:attrNameLst>
                                          <p:attrName>style.visibility</p:attrName>
                                        </p:attrNameLst>
                                      </p:cBhvr>
                                      <p:to>
                                        <p:strVal val="visible"/>
                                      </p:to>
                                    </p:set>
                                    <p:animEffect transition="in" filter="fade">
                                      <p:cBhvr>
                                        <p:cTn id="123" dur="500"/>
                                        <p:tgtEl>
                                          <p:spTgt spid="123"/>
                                        </p:tgtEl>
                                      </p:cBhvr>
                                    </p:animEffect>
                                    <p:anim calcmode="lin" valueType="num">
                                      <p:cBhvr additive="base">
                                        <p:cTn id="124" dur="500" decel="100000" fill="hold"/>
                                        <p:tgtEl>
                                          <p:spTgt spid="123"/>
                                        </p:tgtEl>
                                        <p:attrNameLst>
                                          <p:attrName>ppt_y</p:attrName>
                                        </p:attrNameLst>
                                      </p:cBhvr>
                                      <p:tavLst>
                                        <p:tav tm="0">
                                          <p:val>
                                            <p:strVal val="#ppt_y+0.06"/>
                                          </p:val>
                                        </p:tav>
                                        <p:tav tm="100000">
                                          <p:val>
                                            <p:strVal val="#ppt_y"/>
                                          </p:val>
                                        </p:tav>
                                      </p:tavLst>
                                    </p:anim>
                                  </p:childTnLst>
                                </p:cTn>
                              </p:par>
                              <p:par>
                                <p:cTn id="125" presetID="42" presetClass="entr" presetSubtype="0" fill="hold" grpId="0" nodeType="withEffect">
                                  <p:stCondLst>
                                    <p:cond delay="100"/>
                                  </p:stCondLst>
                                  <p:childTnLst>
                                    <p:set>
                                      <p:cBhvr>
                                        <p:cTn id="126" dur="1" fill="hold">
                                          <p:stCondLst>
                                            <p:cond delay="0"/>
                                          </p:stCondLst>
                                        </p:cTn>
                                        <p:tgtEl>
                                          <p:spTgt spid="124"/>
                                        </p:tgtEl>
                                        <p:attrNameLst>
                                          <p:attrName>style.visibility</p:attrName>
                                        </p:attrNameLst>
                                      </p:cBhvr>
                                      <p:to>
                                        <p:strVal val="visible"/>
                                      </p:to>
                                    </p:set>
                                    <p:animEffect transition="in" filter="fade">
                                      <p:cBhvr>
                                        <p:cTn id="127" dur="500"/>
                                        <p:tgtEl>
                                          <p:spTgt spid="124"/>
                                        </p:tgtEl>
                                      </p:cBhvr>
                                    </p:animEffect>
                                    <p:anim calcmode="lin" valueType="num">
                                      <p:cBhvr additive="base">
                                        <p:cTn id="128" dur="500" decel="100000" fill="hold"/>
                                        <p:tgtEl>
                                          <p:spTgt spid="124"/>
                                        </p:tgtEl>
                                        <p:attrNameLst>
                                          <p:attrName>ppt_y</p:attrName>
                                        </p:attrNameLst>
                                      </p:cBhvr>
                                      <p:tavLst>
                                        <p:tav tm="0">
                                          <p:val>
                                            <p:strVal val="#ppt_y+0.06"/>
                                          </p:val>
                                        </p:tav>
                                        <p:tav tm="100000">
                                          <p:val>
                                            <p:strVal val="#ppt_y"/>
                                          </p:val>
                                        </p:tav>
                                      </p:tavLst>
                                    </p:anim>
                                  </p:childTnLst>
                                </p:cTn>
                              </p:par>
                            </p:childTnLst>
                          </p:cTn>
                        </p:par>
                      </p:childTnLst>
                    </p:cTn>
                  </p:par>
                  <p:par>
                    <p:cTn id="129" fill="hold">
                      <p:stCondLst>
                        <p:cond delay="indefinite"/>
                      </p:stCondLst>
                      <p:childTnLst>
                        <p:par>
                          <p:cTn id="130" fill="hold">
                            <p:stCondLst>
                              <p:cond delay="0"/>
                            </p:stCondLst>
                            <p:childTnLst>
                              <p:par>
                                <p:cTn id="131" presetID="53" presetClass="entr" presetSubtype="16" fill="hold" grpId="0" nodeType="clickEffect">
                                  <p:stCondLst>
                                    <p:cond delay="0"/>
                                  </p:stCondLst>
                                  <p:childTnLst>
                                    <p:set>
                                      <p:cBhvr>
                                        <p:cTn id="132" dur="1" fill="hold">
                                          <p:stCondLst>
                                            <p:cond delay="0"/>
                                          </p:stCondLst>
                                        </p:cTn>
                                        <p:tgtEl>
                                          <p:spTgt spid="125"/>
                                        </p:tgtEl>
                                        <p:attrNameLst>
                                          <p:attrName>style.visibility</p:attrName>
                                        </p:attrNameLst>
                                      </p:cBhvr>
                                      <p:to>
                                        <p:strVal val="visible"/>
                                      </p:to>
                                    </p:set>
                                    <p:anim calcmode="lin" valueType="num">
                                      <p:cBhvr additive="base">
                                        <p:cTn id="133" dur="500" decel="100000" fill="hold"/>
                                        <p:tgtEl>
                                          <p:spTgt spid="125"/>
                                        </p:tgtEl>
                                        <p:attrNameLst>
                                          <p:attrName>ppt_w</p:attrName>
                                        </p:attrNameLst>
                                      </p:cBhvr>
                                      <p:tavLst>
                                        <p:tav tm="0">
                                          <p:val>
                                            <p:strVal val="#ppt_w*0.55"/>
                                          </p:val>
                                        </p:tav>
                                        <p:tav tm="100000">
                                          <p:val>
                                            <p:strVal val="#ppt_w"/>
                                          </p:val>
                                        </p:tav>
                                      </p:tavLst>
                                    </p:anim>
                                    <p:anim calcmode="lin" valueType="num">
                                      <p:cBhvr additive="base">
                                        <p:cTn id="134" dur="500" decel="100000" fill="hold"/>
                                        <p:tgtEl>
                                          <p:spTgt spid="125"/>
                                        </p:tgtEl>
                                        <p:attrNameLst>
                                          <p:attrName>ppt_h</p:attrName>
                                        </p:attrNameLst>
                                      </p:cBhvr>
                                      <p:tavLst>
                                        <p:tav tm="0">
                                          <p:val>
                                            <p:strVal val="#ppt_h*0.55"/>
                                          </p:val>
                                        </p:tav>
                                        <p:tav tm="100000">
                                          <p:val>
                                            <p:strVal val="#ppt_h"/>
                                          </p:val>
                                        </p:tav>
                                      </p:tavLst>
                                    </p:anim>
                                    <p:animEffect transition="in" filter="fade">
                                      <p:cBhvr>
                                        <p:cTn id="135"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SCENE 4</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250</a:t>
            </a:r>
            <a:endParaRPr lang="en-US" sz="850" dirty="0"/>
          </a:p>
        </p:txBody>
      </p:sp>
      <p:sp>
        <p:nvSpPr>
          <p:cNvPr id="101" name="s101"/>
          <p:cNvSpPr txBox="1"/>
          <p:nvPr/>
        </p:nvSpPr>
        <p:spPr>
          <a:xfrm>
            <a:off x="497434" y="1051560"/>
            <a:ext cx="2743200" cy="12801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8800" b="1" dirty="0">
                <a:solidFill>
                  <a:srgbClr val="13D0F7"/>
                </a:solidFill>
                <a:latin typeface="Segoe UI"/>
                <a:ea typeface="Segoe UI"/>
                <a:cs typeface="Segoe UI"/>
              </a:rPr>
              <a:t>04</a:t>
            </a:r>
            <a:endParaRPr lang="en-US" sz="8800" dirty="0"/>
          </a:p>
        </p:txBody>
      </p:sp>
      <p:sp>
        <p:nvSpPr>
          <p:cNvPr id="102" name="s102"/>
          <p:cNvSpPr txBox="1"/>
          <p:nvPr/>
        </p:nvSpPr>
        <p:spPr>
          <a:xfrm>
            <a:off x="543154" y="2331720"/>
            <a:ext cx="11088014" cy="7772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How Big Is the Work?</a:t>
            </a:r>
            <a:endParaRPr lang="en-US" sz="4000" dirty="0"/>
          </a:p>
        </p:txBody>
      </p:sp>
      <p:sp>
        <p:nvSpPr>
          <p:cNvPr id="103" name="s103"/>
          <p:cNvSpPr txBox="1"/>
          <p:nvPr/>
        </p:nvSpPr>
        <p:spPr>
          <a:xfrm>
            <a:off x="543154" y="3108960"/>
            <a:ext cx="1108801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800" b="0" dirty="0">
                <a:solidFill>
                  <a:srgbClr val="CBD5E1"/>
                </a:solidFill>
                <a:latin typeface="Segoe UI"/>
                <a:ea typeface="Segoe UI"/>
                <a:cs typeface="Segoe UI"/>
              </a:rPr>
              <a:t>Before promising anything, the team sizes the stories together.</a:t>
            </a:r>
            <a:endParaRPr lang="en-US" sz="1800" dirty="0"/>
          </a:p>
        </p:txBody>
      </p:sp>
      <p:sp>
        <p:nvSpPr>
          <p:cNvPr id="104" name="s104"/>
          <p:cNvSpPr txBox="1"/>
          <p:nvPr/>
        </p:nvSpPr>
        <p:spPr>
          <a:xfrm>
            <a:off x="543154" y="393192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IN THIS SCENE</a:t>
            </a:r>
            <a:endParaRPr lang="en-US" sz="1100" dirty="0"/>
          </a:p>
        </p:txBody>
      </p:sp>
      <p:sp>
        <p:nvSpPr>
          <p:cNvPr id="105" name="s105"/>
          <p:cNvSpPr/>
          <p:nvPr/>
        </p:nvSpPr>
        <p:spPr>
          <a:xfrm>
            <a:off x="543154" y="4251960"/>
            <a:ext cx="2634844" cy="548640"/>
          </a:xfrm>
          <a:prstGeom prst="roundRect">
            <a:avLst>
              <a:gd name="adj" fmla="val 20000"/>
            </a:avLst>
          </a:prstGeom>
          <a:solidFill>
            <a:srgbClr val="13D0F7">
              <a:alpha val="14000"/>
            </a:srgbClr>
          </a:solidFill>
          <a:ln w="12700">
            <a:solidFill>
              <a:srgbClr val="13D0F7"/>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story points</a:t>
            </a:r>
            <a:endParaRPr lang="en-US" sz="1350" dirty="0"/>
          </a:p>
        </p:txBody>
      </p:sp>
      <p:sp>
        <p:nvSpPr>
          <p:cNvPr id="106" name="s106"/>
          <p:cNvSpPr/>
          <p:nvPr/>
        </p:nvSpPr>
        <p:spPr>
          <a:xfrm>
            <a:off x="3360877" y="4251960"/>
            <a:ext cx="2634844" cy="548640"/>
          </a:xfrm>
          <a:prstGeom prst="roundRect">
            <a:avLst>
              <a:gd name="adj" fmla="val 20000"/>
            </a:avLst>
          </a:prstGeom>
          <a:solidFill>
            <a:srgbClr val="13D0F7">
              <a:alpha val="14000"/>
            </a:srgbClr>
          </a:solidFill>
          <a:ln w="12700">
            <a:solidFill>
              <a:srgbClr val="13D0F7"/>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Fibonacci</a:t>
            </a:r>
            <a:endParaRPr lang="en-US" sz="1350" dirty="0"/>
          </a:p>
        </p:txBody>
      </p:sp>
      <p:sp>
        <p:nvSpPr>
          <p:cNvPr id="107" name="s107"/>
          <p:cNvSpPr/>
          <p:nvPr/>
        </p:nvSpPr>
        <p:spPr>
          <a:xfrm>
            <a:off x="6178601" y="4251960"/>
            <a:ext cx="2634844" cy="548640"/>
          </a:xfrm>
          <a:prstGeom prst="roundRect">
            <a:avLst>
              <a:gd name="adj" fmla="val 20000"/>
            </a:avLst>
          </a:prstGeom>
          <a:solidFill>
            <a:srgbClr val="13D0F7">
              <a:alpha val="14000"/>
            </a:srgbClr>
          </a:solidFill>
          <a:ln w="12700">
            <a:solidFill>
              <a:srgbClr val="13D0F7"/>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planning poker</a:t>
            </a:r>
            <a:endParaRPr lang="en-US" sz="1350" dirty="0"/>
          </a:p>
        </p:txBody>
      </p:sp>
      <p:sp>
        <p:nvSpPr>
          <p:cNvPr id="108" name="s108"/>
          <p:cNvSpPr/>
          <p:nvPr/>
        </p:nvSpPr>
        <p:spPr>
          <a:xfrm>
            <a:off x="8996324" y="4251960"/>
            <a:ext cx="2634844" cy="548640"/>
          </a:xfrm>
          <a:prstGeom prst="roundRect">
            <a:avLst>
              <a:gd name="adj" fmla="val 20000"/>
            </a:avLst>
          </a:prstGeom>
          <a:solidFill>
            <a:srgbClr val="13D0F7">
              <a:alpha val="14000"/>
            </a:srgbClr>
          </a:solidFill>
          <a:ln w="12700">
            <a:solidFill>
              <a:srgbClr val="13D0F7"/>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spikes</a:t>
            </a:r>
            <a:endParaRPr lang="en-US" sz="1350" dirty="0"/>
          </a:p>
        </p:txBody>
      </p:sp>
      <p:sp>
        <p:nvSpPr>
          <p:cNvPr id="109" name="s109"/>
          <p:cNvSpPr/>
          <p:nvPr/>
        </p:nvSpPr>
        <p:spPr>
          <a:xfrm>
            <a:off x="543154"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1</a:t>
            </a:r>
            <a:endParaRPr lang="en-US" sz="1300" dirty="0"/>
          </a:p>
        </p:txBody>
      </p:sp>
      <p:sp>
        <p:nvSpPr>
          <p:cNvPr id="110" name="s110"/>
          <p:cNvSpPr/>
          <p:nvPr/>
        </p:nvSpPr>
        <p:spPr>
          <a:xfrm>
            <a:off x="1659270" y="5669280"/>
            <a:ext cx="1042965" cy="457200"/>
          </a:xfrm>
          <a:prstGeom prst="roundRect">
            <a:avLst>
              <a:gd name="adj" fmla="val 20000"/>
            </a:avLst>
          </a:prstGeom>
          <a:solidFill>
            <a:srgbClr val="111B2E"/>
          </a:solidFill>
          <a:ln w="12700">
            <a:solidFill>
              <a:srgbClr val="FBBF24"/>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2</a:t>
            </a:r>
            <a:endParaRPr lang="en-US" sz="1300" dirty="0"/>
          </a:p>
        </p:txBody>
      </p:sp>
      <p:sp>
        <p:nvSpPr>
          <p:cNvPr id="111" name="s111"/>
          <p:cNvSpPr/>
          <p:nvPr/>
        </p:nvSpPr>
        <p:spPr>
          <a:xfrm>
            <a:off x="2775387" y="5669280"/>
            <a:ext cx="1042965" cy="457200"/>
          </a:xfrm>
          <a:prstGeom prst="roundRect">
            <a:avLst>
              <a:gd name="adj" fmla="val 20000"/>
            </a:avLst>
          </a:prstGeom>
          <a:solidFill>
            <a:srgbClr val="111B2E"/>
          </a:solidFill>
          <a:ln w="12700">
            <a:solidFill>
              <a:srgbClr val="A78B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A78BFA"/>
                </a:solidFill>
                <a:latin typeface="Segoe UI"/>
                <a:ea typeface="Segoe UI"/>
                <a:cs typeface="Segoe UI"/>
              </a:rPr>
              <a:t>3</a:t>
            </a:r>
            <a:endParaRPr lang="en-US" sz="1300" dirty="0"/>
          </a:p>
        </p:txBody>
      </p:sp>
      <p:sp>
        <p:nvSpPr>
          <p:cNvPr id="112" name="s112"/>
          <p:cNvSpPr/>
          <p:nvPr/>
        </p:nvSpPr>
        <p:spPr>
          <a:xfrm>
            <a:off x="3891504" y="5669280"/>
            <a:ext cx="1042965" cy="457200"/>
          </a:xfrm>
          <a:prstGeom prst="roundRect">
            <a:avLst>
              <a:gd name="adj" fmla="val 20000"/>
            </a:avLst>
          </a:prstGeom>
          <a:solidFill>
            <a:srgbClr val="13D0F7"/>
          </a:solidFill>
          <a:ln w="19050">
            <a:solidFill>
              <a:srgbClr val="13D0F7"/>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4</a:t>
            </a:r>
            <a:endParaRPr lang="en-US" sz="1300" dirty="0"/>
          </a:p>
        </p:txBody>
      </p:sp>
      <p:sp>
        <p:nvSpPr>
          <p:cNvPr id="113" name="s113"/>
          <p:cNvSpPr/>
          <p:nvPr/>
        </p:nvSpPr>
        <p:spPr>
          <a:xfrm>
            <a:off x="5007620"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5</a:t>
            </a:r>
            <a:endParaRPr lang="en-US" sz="1300" dirty="0"/>
          </a:p>
        </p:txBody>
      </p:sp>
      <p:sp>
        <p:nvSpPr>
          <p:cNvPr id="114" name="s114"/>
          <p:cNvSpPr/>
          <p:nvPr/>
        </p:nvSpPr>
        <p:spPr>
          <a:xfrm>
            <a:off x="612373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6</a:t>
            </a:r>
            <a:endParaRPr lang="en-US" sz="1300" dirty="0"/>
          </a:p>
        </p:txBody>
      </p:sp>
      <p:sp>
        <p:nvSpPr>
          <p:cNvPr id="115" name="s115"/>
          <p:cNvSpPr/>
          <p:nvPr/>
        </p:nvSpPr>
        <p:spPr>
          <a:xfrm>
            <a:off x="723985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7</a:t>
            </a:r>
            <a:endParaRPr lang="en-US" sz="1300" dirty="0"/>
          </a:p>
        </p:txBody>
      </p:sp>
      <p:sp>
        <p:nvSpPr>
          <p:cNvPr id="116" name="s116"/>
          <p:cNvSpPr/>
          <p:nvPr/>
        </p:nvSpPr>
        <p:spPr>
          <a:xfrm>
            <a:off x="8355970"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8</a:t>
            </a:r>
            <a:endParaRPr lang="en-US" sz="1300" dirty="0"/>
          </a:p>
        </p:txBody>
      </p:sp>
      <p:sp>
        <p:nvSpPr>
          <p:cNvPr id="117" name="s117"/>
          <p:cNvSpPr/>
          <p:nvPr/>
        </p:nvSpPr>
        <p:spPr>
          <a:xfrm>
            <a:off x="947208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9</a:t>
            </a:r>
            <a:endParaRPr lang="en-US" sz="1300" dirty="0"/>
          </a:p>
        </p:txBody>
      </p:sp>
      <p:sp>
        <p:nvSpPr>
          <p:cNvPr id="118" name="s118"/>
          <p:cNvSpPr/>
          <p:nvPr/>
        </p:nvSpPr>
        <p:spPr>
          <a:xfrm>
            <a:off x="1058820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10</a:t>
            </a:r>
            <a:endParaRPr lang="en-US" sz="13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1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anim calcmode="lin" valueType="num">
                                      <p:cBhvr additive="base">
                                        <p:cTn id="15" dur="5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2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10" presetClass="entr" presetSubtype="0" fill="hold" grpId="0" nodeType="withEffect">
                                  <p:stCondLst>
                                    <p:cond delay="33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childTnLst>
                                </p:cTn>
                              </p:par>
                              <p:par>
                                <p:cTn id="23" presetID="42" presetClass="entr" presetSubtype="0" fill="hold" grpId="0" nodeType="withEffect">
                                  <p:stCondLst>
                                    <p:cond delay="44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55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42" presetClass="entr" presetSubtype="0" fill="hold" grpId="0" nodeType="withEffect">
                                  <p:stCondLst>
                                    <p:cond delay="66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par>
                                <p:cTn id="35" presetID="42" presetClass="entr" presetSubtype="0" fill="hold" grpId="0" nodeType="withEffect">
                                  <p:stCondLst>
                                    <p:cond delay="77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ppt_y</p:attrName>
                                        </p:attrNameLst>
                                      </p:cBhvr>
                                      <p:tavLst>
                                        <p:tav tm="0">
                                          <p:val>
                                            <p:strVal val="#ppt_y+0.06"/>
                                          </p:val>
                                        </p:tav>
                                        <p:tav tm="100000">
                                          <p:val>
                                            <p:strVal val="#ppt_y"/>
                                          </p:val>
                                        </p:tav>
                                      </p:tavLst>
                                    </p:anim>
                                  </p:childTnLst>
                                </p:cTn>
                              </p:par>
                              <p:par>
                                <p:cTn id="39" presetID="10" presetClass="entr" presetSubtype="0" fill="hold" grpId="0" nodeType="withEffect">
                                  <p:stCondLst>
                                    <p:cond delay="87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childTnLst>
                                </p:cTn>
                              </p:par>
                              <p:par>
                                <p:cTn id="42" presetID="10" presetClass="entr" presetSubtype="0" fill="hold" grpId="0" nodeType="withEffect">
                                  <p:stCondLst>
                                    <p:cond delay="870"/>
                                  </p:stCondLst>
                                  <p:childTnLst>
                                    <p:set>
                                      <p:cBhvr>
                                        <p:cTn id="43" dur="1" fill="hold">
                                          <p:stCondLst>
                                            <p:cond delay="0"/>
                                          </p:stCondLst>
                                        </p:cTn>
                                        <p:tgtEl>
                                          <p:spTgt spid="110"/>
                                        </p:tgtEl>
                                        <p:attrNameLst>
                                          <p:attrName>style.visibility</p:attrName>
                                        </p:attrNameLst>
                                      </p:cBhvr>
                                      <p:to>
                                        <p:strVal val="visible"/>
                                      </p:to>
                                    </p:set>
                                    <p:animEffect transition="in" filter="fade">
                                      <p:cBhvr>
                                        <p:cTn id="44" dur="500"/>
                                        <p:tgtEl>
                                          <p:spTgt spid="110"/>
                                        </p:tgtEl>
                                      </p:cBhvr>
                                    </p:animEffect>
                                  </p:childTnLst>
                                </p:cTn>
                              </p:par>
                              <p:par>
                                <p:cTn id="45" presetID="10" presetClass="entr" presetSubtype="0" fill="hold" grpId="0" nodeType="withEffect">
                                  <p:stCondLst>
                                    <p:cond delay="87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childTnLst>
                                </p:cTn>
                              </p:par>
                              <p:par>
                                <p:cTn id="48" presetID="10" presetClass="entr" presetSubtype="0" fill="hold" grpId="0" nodeType="withEffect">
                                  <p:stCondLst>
                                    <p:cond delay="870"/>
                                  </p:stCondLst>
                                  <p:childTnLst>
                                    <p:set>
                                      <p:cBhvr>
                                        <p:cTn id="49" dur="1" fill="hold">
                                          <p:stCondLst>
                                            <p:cond delay="0"/>
                                          </p:stCondLst>
                                        </p:cTn>
                                        <p:tgtEl>
                                          <p:spTgt spid="112"/>
                                        </p:tgtEl>
                                        <p:attrNameLst>
                                          <p:attrName>style.visibility</p:attrName>
                                        </p:attrNameLst>
                                      </p:cBhvr>
                                      <p:to>
                                        <p:strVal val="visible"/>
                                      </p:to>
                                    </p:set>
                                    <p:animEffect transition="in" filter="fade">
                                      <p:cBhvr>
                                        <p:cTn id="50" dur="500"/>
                                        <p:tgtEl>
                                          <p:spTgt spid="112"/>
                                        </p:tgtEl>
                                      </p:cBhvr>
                                    </p:animEffect>
                                  </p:childTnLst>
                                </p:cTn>
                              </p:par>
                              <p:par>
                                <p:cTn id="51" presetID="10" presetClass="entr" presetSubtype="0" fill="hold" grpId="0" nodeType="withEffect">
                                  <p:stCondLst>
                                    <p:cond delay="870"/>
                                  </p:stCondLst>
                                  <p:childTnLst>
                                    <p:set>
                                      <p:cBhvr>
                                        <p:cTn id="52" dur="1" fill="hold">
                                          <p:stCondLst>
                                            <p:cond delay="0"/>
                                          </p:stCondLst>
                                        </p:cTn>
                                        <p:tgtEl>
                                          <p:spTgt spid="113"/>
                                        </p:tgtEl>
                                        <p:attrNameLst>
                                          <p:attrName>style.visibility</p:attrName>
                                        </p:attrNameLst>
                                      </p:cBhvr>
                                      <p:to>
                                        <p:strVal val="visible"/>
                                      </p:to>
                                    </p:set>
                                    <p:animEffect transition="in" filter="fade">
                                      <p:cBhvr>
                                        <p:cTn id="53" dur="500"/>
                                        <p:tgtEl>
                                          <p:spTgt spid="113"/>
                                        </p:tgtEl>
                                      </p:cBhvr>
                                    </p:animEffect>
                                  </p:childTnLst>
                                </p:cTn>
                              </p:par>
                              <p:par>
                                <p:cTn id="54" presetID="10" presetClass="entr" presetSubtype="0" fill="hold" grpId="0" nodeType="withEffect">
                                  <p:stCondLst>
                                    <p:cond delay="870"/>
                                  </p:stCondLst>
                                  <p:childTnLst>
                                    <p:set>
                                      <p:cBhvr>
                                        <p:cTn id="55" dur="1" fill="hold">
                                          <p:stCondLst>
                                            <p:cond delay="0"/>
                                          </p:stCondLst>
                                        </p:cTn>
                                        <p:tgtEl>
                                          <p:spTgt spid="114"/>
                                        </p:tgtEl>
                                        <p:attrNameLst>
                                          <p:attrName>style.visibility</p:attrName>
                                        </p:attrNameLst>
                                      </p:cBhvr>
                                      <p:to>
                                        <p:strVal val="visible"/>
                                      </p:to>
                                    </p:set>
                                    <p:animEffect transition="in" filter="fade">
                                      <p:cBhvr>
                                        <p:cTn id="56" dur="500"/>
                                        <p:tgtEl>
                                          <p:spTgt spid="114"/>
                                        </p:tgtEl>
                                      </p:cBhvr>
                                    </p:animEffect>
                                  </p:childTnLst>
                                </p:cTn>
                              </p:par>
                              <p:par>
                                <p:cTn id="57" presetID="10" presetClass="entr" presetSubtype="0" fill="hold" grpId="0" nodeType="withEffect">
                                  <p:stCondLst>
                                    <p:cond delay="87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childTnLst>
                                </p:cTn>
                              </p:par>
                              <p:par>
                                <p:cTn id="60" presetID="10" presetClass="entr" presetSubtype="0" fill="hold" grpId="0" nodeType="withEffect">
                                  <p:stCondLst>
                                    <p:cond delay="870"/>
                                  </p:stCondLst>
                                  <p:childTnLst>
                                    <p:set>
                                      <p:cBhvr>
                                        <p:cTn id="61" dur="1" fill="hold">
                                          <p:stCondLst>
                                            <p:cond delay="0"/>
                                          </p:stCondLst>
                                        </p:cTn>
                                        <p:tgtEl>
                                          <p:spTgt spid="116"/>
                                        </p:tgtEl>
                                        <p:attrNameLst>
                                          <p:attrName>style.visibility</p:attrName>
                                        </p:attrNameLst>
                                      </p:cBhvr>
                                      <p:to>
                                        <p:strVal val="visible"/>
                                      </p:to>
                                    </p:set>
                                    <p:animEffect transition="in" filter="fade">
                                      <p:cBhvr>
                                        <p:cTn id="62" dur="500"/>
                                        <p:tgtEl>
                                          <p:spTgt spid="116"/>
                                        </p:tgtEl>
                                      </p:cBhvr>
                                    </p:animEffect>
                                  </p:childTnLst>
                                </p:cTn>
                              </p:par>
                              <p:par>
                                <p:cTn id="63" presetID="10" presetClass="entr" presetSubtype="0" fill="hold" grpId="0" nodeType="withEffect">
                                  <p:stCondLst>
                                    <p:cond delay="870"/>
                                  </p:stCondLst>
                                  <p:childTnLst>
                                    <p:set>
                                      <p:cBhvr>
                                        <p:cTn id="64" dur="1" fill="hold">
                                          <p:stCondLst>
                                            <p:cond delay="0"/>
                                          </p:stCondLst>
                                        </p:cTn>
                                        <p:tgtEl>
                                          <p:spTgt spid="117"/>
                                        </p:tgtEl>
                                        <p:attrNameLst>
                                          <p:attrName>style.visibility</p:attrName>
                                        </p:attrNameLst>
                                      </p:cBhvr>
                                      <p:to>
                                        <p:strVal val="visible"/>
                                      </p:to>
                                    </p:set>
                                    <p:animEffect transition="in" filter="fade">
                                      <p:cBhvr>
                                        <p:cTn id="65" dur="500"/>
                                        <p:tgtEl>
                                          <p:spTgt spid="117"/>
                                        </p:tgtEl>
                                      </p:cBhvr>
                                    </p:animEffect>
                                  </p:childTnLst>
                                </p:cTn>
                              </p:par>
                              <p:par>
                                <p:cTn id="66" presetID="10" presetClass="entr" presetSubtype="0" fill="hold" grpId="0" nodeType="withEffect">
                                  <p:stCondLst>
                                    <p:cond delay="870"/>
                                  </p:stCondLst>
                                  <p:childTnLst>
                                    <p:set>
                                      <p:cBhvr>
                                        <p:cTn id="67" dur="1" fill="hold">
                                          <p:stCondLst>
                                            <p:cond delay="0"/>
                                          </p:stCondLst>
                                        </p:cTn>
                                        <p:tgtEl>
                                          <p:spTgt spid="118"/>
                                        </p:tgtEl>
                                        <p:attrNameLst>
                                          <p:attrName>style.visibility</p:attrName>
                                        </p:attrNameLst>
                                      </p:cBhvr>
                                      <p:to>
                                        <p:strVal val="visible"/>
                                      </p:to>
                                    </p:set>
                                    <p:animEffect transition="in" filter="fade">
                                      <p:cBhvr>
                                        <p:cTn id="68" dur="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WHO?</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Who Estimates the Work?</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Sarah asks how difficult the story is, but she does not force the number.</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251</a:t>
            </a:r>
            <a:endParaRPr lang="en-US" sz="850" dirty="0"/>
          </a:p>
        </p:txBody>
      </p:sp>
      <p:sp>
        <p:nvSpPr>
          <p:cNvPr id="101" name="s101"/>
          <p:cNvSpPr/>
          <p:nvPr/>
        </p:nvSpPr>
        <p:spPr>
          <a:xfrm>
            <a:off x="543154" y="1993392"/>
            <a:ext cx="566928" cy="566928"/>
          </a:xfrm>
          <a:prstGeom prst="ellipse">
            <a:avLst/>
          </a:prstGeom>
          <a:solidFill>
            <a:srgbClr val="FBBF24">
              <a:alpha val="22000"/>
            </a:srgbClr>
          </a:solidFill>
          <a:ln w="1905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FBBF24"/>
                </a:solidFill>
                <a:latin typeface="Segoe UI"/>
                <a:ea typeface="Segoe UI"/>
                <a:cs typeface="Segoe UI"/>
              </a:rPr>
              <a:t>S</a:t>
            </a:r>
            <a:endParaRPr lang="en-US" sz="1612" dirty="0"/>
          </a:p>
        </p:txBody>
      </p:sp>
      <p:sp>
        <p:nvSpPr>
          <p:cNvPr id="102" name="s102"/>
          <p:cNvSpPr/>
          <p:nvPr/>
        </p:nvSpPr>
        <p:spPr>
          <a:xfrm>
            <a:off x="1274674" y="1920240"/>
            <a:ext cx="10356494" cy="731520"/>
          </a:xfrm>
          <a:prstGeom prst="roundRect">
            <a:avLst>
              <a:gd name="adj" fmla="val 14000"/>
            </a:avLst>
          </a:prstGeom>
          <a:solidFill>
            <a:srgbClr val="111B2E"/>
          </a:solidFill>
          <a:ln w="12700">
            <a:solidFill>
              <a:srgbClr val="FBBF24"/>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FBBF24"/>
                </a:solidFill>
                <a:latin typeface="Segoe UI"/>
                <a:ea typeface="Segoe UI"/>
                <a:cs typeface="Segoe UI"/>
              </a:rPr>
              <a:t>Sarah</a:t>
            </a:r>
            <a:r>
              <a:rPr lang="en-US" sz="1100" b="0" dirty="0">
                <a:solidFill>
                  <a:srgbClr val="94A3B8"/>
                </a:solidFill>
                <a:latin typeface="Segoe UI"/>
                <a:ea typeface="Segoe UI"/>
                <a:cs typeface="Segoe UI"/>
              </a:rPr>
              <a:t>  ·  Product Owner</a:t>
            </a:r>
            <a:endParaRPr lang="en-US" sz="1100" dirty="0"/>
          </a:p>
          <a:p>
            <a:pPr marL="0" indent="0" algn="l">
              <a:spcBef>
                <a:spcPts val="0"/>
              </a:spcBef>
              <a:spcAft>
                <a:spcPts val="0"/>
              </a:spcAft>
              <a:buNone/>
            </a:pPr>
            <a:r>
              <a:rPr lang="en-US" sz="1600" b="0" dirty="0">
                <a:solidFill>
                  <a:srgbClr val="FFFFFF"/>
                </a:solidFill>
                <a:latin typeface="Segoe UI"/>
                <a:ea typeface="Segoe UI"/>
                <a:cs typeface="Segoe UI"/>
              </a:rPr>
              <a:t>How difficult is this story?</a:t>
            </a:r>
            <a:endParaRPr lang="en-US" sz="1600" dirty="0"/>
          </a:p>
        </p:txBody>
      </p:sp>
      <p:sp>
        <p:nvSpPr>
          <p:cNvPr id="103" name="s103"/>
          <p:cNvSpPr/>
          <p:nvPr/>
        </p:nvSpPr>
        <p:spPr>
          <a:xfrm>
            <a:off x="543154" y="2926080"/>
            <a:ext cx="3513125" cy="2697480"/>
          </a:xfrm>
          <a:prstGeom prst="roundRect">
            <a:avLst>
              <a:gd name="adj" fmla="val 8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4" name="s104"/>
          <p:cNvSpPr/>
          <p:nvPr/>
        </p:nvSpPr>
        <p:spPr>
          <a:xfrm>
            <a:off x="817474" y="3154680"/>
            <a:ext cx="685800" cy="685800"/>
          </a:xfrm>
          <a:prstGeom prst="ellipse">
            <a:avLst/>
          </a:prstGeom>
          <a:solidFill>
            <a:srgbClr val="FBBF24">
              <a:alpha val="22000"/>
            </a:srgbClr>
          </a:solidFill>
          <a:ln w="1905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950" b="1" dirty="0">
                <a:solidFill>
                  <a:srgbClr val="FBBF24"/>
                </a:solidFill>
                <a:latin typeface="Segoe UI"/>
                <a:ea typeface="Segoe UI"/>
                <a:cs typeface="Segoe UI"/>
              </a:rPr>
              <a:t>S</a:t>
            </a:r>
            <a:endParaRPr lang="en-US" sz="1950" dirty="0"/>
          </a:p>
        </p:txBody>
      </p:sp>
      <p:sp>
        <p:nvSpPr>
          <p:cNvPr id="105" name="s105"/>
          <p:cNvSpPr txBox="1"/>
          <p:nvPr/>
        </p:nvSpPr>
        <p:spPr>
          <a:xfrm>
            <a:off x="1686154" y="3154680"/>
            <a:ext cx="2232965" cy="6858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Product Owner</a:t>
            </a:r>
            <a:endParaRPr lang="en-US" sz="1500" dirty="0"/>
          </a:p>
          <a:p>
            <a:pPr marL="0" indent="0" algn="l">
              <a:spcBef>
                <a:spcPts val="0"/>
              </a:spcBef>
              <a:spcAft>
                <a:spcPts val="0"/>
              </a:spcAft>
              <a:buNone/>
            </a:pPr>
            <a:r>
              <a:rPr lang="en-US" sz="1100" b="0" dirty="0">
                <a:solidFill>
                  <a:srgbClr val="94A3B8"/>
                </a:solidFill>
                <a:latin typeface="Segoe UI"/>
                <a:ea typeface="Segoe UI"/>
                <a:cs typeface="Segoe UI"/>
              </a:rPr>
              <a:t>Sarah</a:t>
            </a:r>
            <a:endParaRPr lang="en-US" sz="1100" dirty="0"/>
          </a:p>
        </p:txBody>
      </p:sp>
      <p:sp>
        <p:nvSpPr>
          <p:cNvPr id="106" name="s106"/>
          <p:cNvSpPr txBox="1"/>
          <p:nvPr/>
        </p:nvSpPr>
        <p:spPr>
          <a:xfrm>
            <a:off x="817474" y="4023360"/>
            <a:ext cx="2964485" cy="9144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50" b="0" dirty="0">
                <a:solidFill>
                  <a:srgbClr val="E2E8F0"/>
                </a:solidFill>
                <a:latin typeface="Segoe UI"/>
                <a:ea typeface="Segoe UI"/>
                <a:cs typeface="Segoe UI"/>
              </a:rPr>
              <a:t>Value, clarification, trade-offs. Does not force the estimate.</a:t>
            </a:r>
            <a:endParaRPr lang="en-US" sz="1350" dirty="0"/>
          </a:p>
        </p:txBody>
      </p:sp>
      <p:sp>
        <p:nvSpPr>
          <p:cNvPr id="107" name="s107"/>
          <p:cNvSpPr/>
          <p:nvPr/>
        </p:nvSpPr>
        <p:spPr>
          <a:xfrm>
            <a:off x="817474" y="5029200"/>
            <a:ext cx="2964485" cy="384048"/>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F87171"/>
                </a:solidFill>
                <a:latin typeface="Segoe UI"/>
                <a:ea typeface="Segoe UI"/>
                <a:cs typeface="Segoe UI"/>
              </a:rPr>
              <a:t>✗  DOES NOT ESTIMATE</a:t>
            </a:r>
            <a:endParaRPr lang="en-US" sz="1100" dirty="0"/>
          </a:p>
        </p:txBody>
      </p:sp>
      <p:sp>
        <p:nvSpPr>
          <p:cNvPr id="108" name="s108"/>
          <p:cNvSpPr/>
          <p:nvPr/>
        </p:nvSpPr>
        <p:spPr>
          <a:xfrm>
            <a:off x="4330598" y="2926080"/>
            <a:ext cx="3513125" cy="2697480"/>
          </a:xfrm>
          <a:prstGeom prst="roundRect">
            <a:avLst>
              <a:gd name="adj" fmla="val 8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9" name="s109"/>
          <p:cNvSpPr/>
          <p:nvPr/>
        </p:nvSpPr>
        <p:spPr>
          <a:xfrm>
            <a:off x="4604918" y="3154680"/>
            <a:ext cx="685800" cy="685800"/>
          </a:xfrm>
          <a:prstGeom prst="ellipse">
            <a:avLst/>
          </a:prstGeom>
          <a:solidFill>
            <a:srgbClr val="A78BFA">
              <a:alpha val="22000"/>
            </a:srgbClr>
          </a:solidFill>
          <a:ln w="1905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950" b="1" dirty="0">
                <a:solidFill>
                  <a:srgbClr val="A78BFA"/>
                </a:solidFill>
                <a:latin typeface="Segoe UI"/>
                <a:ea typeface="Segoe UI"/>
                <a:cs typeface="Segoe UI"/>
              </a:rPr>
              <a:t>A</a:t>
            </a:r>
            <a:endParaRPr lang="en-US" sz="1950" dirty="0"/>
          </a:p>
        </p:txBody>
      </p:sp>
      <p:sp>
        <p:nvSpPr>
          <p:cNvPr id="110" name="s110"/>
          <p:cNvSpPr txBox="1"/>
          <p:nvPr/>
        </p:nvSpPr>
        <p:spPr>
          <a:xfrm>
            <a:off x="5473598" y="3154680"/>
            <a:ext cx="2232965" cy="6858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Scrum Master</a:t>
            </a:r>
            <a:endParaRPr lang="en-US" sz="1500" dirty="0"/>
          </a:p>
          <a:p>
            <a:pPr marL="0" indent="0" algn="l">
              <a:spcBef>
                <a:spcPts val="0"/>
              </a:spcBef>
              <a:spcAft>
                <a:spcPts val="0"/>
              </a:spcAft>
              <a:buNone/>
            </a:pPr>
            <a:r>
              <a:rPr lang="en-US" sz="1100" b="0" dirty="0">
                <a:solidFill>
                  <a:srgbClr val="94A3B8"/>
                </a:solidFill>
                <a:latin typeface="Segoe UI"/>
                <a:ea typeface="Segoe UI"/>
                <a:cs typeface="Segoe UI"/>
              </a:rPr>
              <a:t>Adam</a:t>
            </a:r>
            <a:endParaRPr lang="en-US" sz="1100" dirty="0"/>
          </a:p>
        </p:txBody>
      </p:sp>
      <p:sp>
        <p:nvSpPr>
          <p:cNvPr id="111" name="s111"/>
          <p:cNvSpPr txBox="1"/>
          <p:nvPr/>
        </p:nvSpPr>
        <p:spPr>
          <a:xfrm>
            <a:off x="4604918" y="4023360"/>
            <a:ext cx="2964485" cy="9144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50" b="0" dirty="0">
                <a:solidFill>
                  <a:srgbClr val="E2E8F0"/>
                </a:solidFill>
                <a:latin typeface="Segoe UI"/>
                <a:ea typeface="Segoe UI"/>
                <a:cs typeface="Segoe UI"/>
              </a:rPr>
              <a:t>Facilitates the conversation. Does not estimate for the Developers.</a:t>
            </a:r>
            <a:endParaRPr lang="en-US" sz="1350" dirty="0"/>
          </a:p>
        </p:txBody>
      </p:sp>
      <p:sp>
        <p:nvSpPr>
          <p:cNvPr id="112" name="s112"/>
          <p:cNvSpPr/>
          <p:nvPr/>
        </p:nvSpPr>
        <p:spPr>
          <a:xfrm>
            <a:off x="4604918" y="5029200"/>
            <a:ext cx="2964485" cy="384048"/>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F87171"/>
                </a:solidFill>
                <a:latin typeface="Segoe UI"/>
                <a:ea typeface="Segoe UI"/>
                <a:cs typeface="Segoe UI"/>
              </a:rPr>
              <a:t>✗  DOES NOT ESTIMATE</a:t>
            </a:r>
            <a:endParaRPr lang="en-US" sz="1100" dirty="0"/>
          </a:p>
        </p:txBody>
      </p:sp>
      <p:sp>
        <p:nvSpPr>
          <p:cNvPr id="113" name="s113"/>
          <p:cNvSpPr/>
          <p:nvPr/>
        </p:nvSpPr>
        <p:spPr>
          <a:xfrm>
            <a:off x="8118043" y="2926080"/>
            <a:ext cx="3513125" cy="2697480"/>
          </a:xfrm>
          <a:prstGeom prst="roundRect">
            <a:avLst>
              <a:gd name="adj" fmla="val 8000"/>
            </a:avLst>
          </a:prstGeom>
          <a:solidFill>
            <a:srgbClr val="34D399">
              <a:alpha val="10000"/>
            </a:srgbClr>
          </a:solidFill>
          <a:ln w="25400">
            <a:solidFill>
              <a:srgbClr val="34D399"/>
            </a:solidFill>
            <a:prstDash val="solid"/>
          </a:ln>
        </p:spPr>
        <p:txBody>
          <a:bodyPr wrap="square" lIns="164592" tIns="109728" rIns="137160" bIns="91440" rtlCol="0" anchor="t">
            <a:noAutofit/>
          </a:bodyPr>
          <a:lstStyle/>
          <a:p>
            <a:endParaRPr lang="en-US"/>
          </a:p>
        </p:txBody>
      </p:sp>
      <p:sp>
        <p:nvSpPr>
          <p:cNvPr id="114" name="s114"/>
          <p:cNvSpPr/>
          <p:nvPr/>
        </p:nvSpPr>
        <p:spPr>
          <a:xfrm>
            <a:off x="8392363" y="3154680"/>
            <a:ext cx="685800" cy="685800"/>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950" b="1" dirty="0">
                <a:solidFill>
                  <a:srgbClr val="13D0F7"/>
                </a:solidFill>
                <a:latin typeface="Segoe UI"/>
                <a:ea typeface="Segoe UI"/>
                <a:cs typeface="Segoe UI"/>
              </a:rPr>
              <a:t>O</a:t>
            </a:r>
            <a:endParaRPr lang="en-US" sz="1950" dirty="0"/>
          </a:p>
        </p:txBody>
      </p:sp>
      <p:sp>
        <p:nvSpPr>
          <p:cNvPr id="115" name="s115"/>
          <p:cNvSpPr txBox="1"/>
          <p:nvPr/>
        </p:nvSpPr>
        <p:spPr>
          <a:xfrm>
            <a:off x="9261043" y="3154680"/>
            <a:ext cx="2232965" cy="6858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Developers</a:t>
            </a:r>
            <a:endParaRPr lang="en-US" sz="1500" dirty="0"/>
          </a:p>
          <a:p>
            <a:pPr marL="0" indent="0" algn="l">
              <a:spcBef>
                <a:spcPts val="0"/>
              </a:spcBef>
              <a:spcAft>
                <a:spcPts val="0"/>
              </a:spcAft>
              <a:buNone/>
            </a:pPr>
            <a:r>
              <a:rPr lang="en-US" sz="1100" b="0" dirty="0">
                <a:solidFill>
                  <a:srgbClr val="94A3B8"/>
                </a:solidFill>
                <a:latin typeface="Segoe UI"/>
                <a:ea typeface="Segoe UI"/>
                <a:cs typeface="Segoe UI"/>
              </a:rPr>
              <a:t>Lina · Maya · Daniel · Omar</a:t>
            </a:r>
            <a:endParaRPr lang="en-US" sz="1100" dirty="0"/>
          </a:p>
        </p:txBody>
      </p:sp>
      <p:sp>
        <p:nvSpPr>
          <p:cNvPr id="116" name="s116"/>
          <p:cNvSpPr txBox="1"/>
          <p:nvPr/>
        </p:nvSpPr>
        <p:spPr>
          <a:xfrm>
            <a:off x="8392363" y="4023360"/>
            <a:ext cx="2964485" cy="9144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350" b="0" dirty="0">
                <a:solidFill>
                  <a:srgbClr val="E2E8F0"/>
                </a:solidFill>
                <a:latin typeface="Segoe UI"/>
                <a:ea typeface="Segoe UI"/>
                <a:cs typeface="Segoe UI"/>
              </a:rPr>
              <a:t>Discuss complexity, risk and uncertainty, then estimate.</a:t>
            </a:r>
            <a:endParaRPr lang="en-US" sz="1350" dirty="0"/>
          </a:p>
        </p:txBody>
      </p:sp>
      <p:sp>
        <p:nvSpPr>
          <p:cNvPr id="117" name="s117"/>
          <p:cNvSpPr/>
          <p:nvPr/>
        </p:nvSpPr>
        <p:spPr>
          <a:xfrm>
            <a:off x="8392363" y="5029200"/>
            <a:ext cx="2964485" cy="384048"/>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  ESTIMATES</a:t>
            </a:r>
            <a:endParaRPr lang="en-US" sz="11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anim calcmode="lin" valueType="num">
                                      <p:cBhvr additive="base">
                                        <p:cTn id="18" dur="500" decel="100000" fill="hold"/>
                                        <p:tgtEl>
                                          <p:spTgt spid="103"/>
                                        </p:tgtEl>
                                        <p:attrNameLst>
                                          <p:attrName>ppt_y</p:attrName>
                                        </p:attrNameLst>
                                      </p:cBhvr>
                                      <p:tavLst>
                                        <p:tav tm="0">
                                          <p:val>
                                            <p:strVal val="#ppt_y+0.06"/>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04"/>
                                        </p:tgtEl>
                                        <p:attrNameLst>
                                          <p:attrName>style.visibility</p:attrName>
                                        </p:attrNameLst>
                                      </p:cBhvr>
                                      <p:to>
                                        <p:strVal val="visible"/>
                                      </p:to>
                                    </p:set>
                                    <p:animEffect transition="in" filter="fade">
                                      <p:cBhvr>
                                        <p:cTn id="21" dur="500"/>
                                        <p:tgtEl>
                                          <p:spTgt spid="104"/>
                                        </p:tgtEl>
                                      </p:cBhvr>
                                    </p:animEffect>
                                    <p:anim calcmode="lin" valueType="num">
                                      <p:cBhvr additive="base">
                                        <p:cTn id="22" dur="500" decel="100000" fill="hold"/>
                                        <p:tgtEl>
                                          <p:spTgt spid="104"/>
                                        </p:tgtEl>
                                        <p:attrNameLst>
                                          <p:attrName>ppt_y</p:attrName>
                                        </p:attrNameLst>
                                      </p:cBhvr>
                                      <p:tavLst>
                                        <p:tav tm="0">
                                          <p:val>
                                            <p:strVal val="#ppt_y+0.06"/>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53" presetClass="entr" presetSubtype="16" fill="hold" grpId="0" nodeType="withEffect">
                                  <p:stCondLst>
                                    <p:cond delay="250"/>
                                  </p:stCondLst>
                                  <p:childTnLst>
                                    <p:set>
                                      <p:cBhvr>
                                        <p:cTn id="32" dur="1" fill="hold">
                                          <p:stCondLst>
                                            <p:cond delay="0"/>
                                          </p:stCondLst>
                                        </p:cTn>
                                        <p:tgtEl>
                                          <p:spTgt spid="107"/>
                                        </p:tgtEl>
                                        <p:attrNameLst>
                                          <p:attrName>style.visibility</p:attrName>
                                        </p:attrNameLst>
                                      </p:cBhvr>
                                      <p:to>
                                        <p:strVal val="visible"/>
                                      </p:to>
                                    </p:set>
                                    <p:anim calcmode="lin" valueType="num">
                                      <p:cBhvr additive="base">
                                        <p:cTn id="33" dur="50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34" dur="500" decel="100000" fill="hold"/>
                                        <p:tgtEl>
                                          <p:spTgt spid="107"/>
                                        </p:tgtEl>
                                        <p:attrNameLst>
                                          <p:attrName>ppt_h</p:attrName>
                                        </p:attrNameLst>
                                      </p:cBhvr>
                                      <p:tavLst>
                                        <p:tav tm="0">
                                          <p:val>
                                            <p:strVal val="#ppt_h*0.3"/>
                                          </p:val>
                                        </p:tav>
                                        <p:tav tm="100000">
                                          <p:val>
                                            <p:strVal val="#ppt_h*1.08"/>
                                          </p:val>
                                        </p:tav>
                                      </p:tavLst>
                                    </p:anim>
                                    <p:animEffect transition="in" filter="fade">
                                      <p:cBhvr>
                                        <p:cTn id="35" dur="250"/>
                                        <p:tgtEl>
                                          <p:spTgt spid="107"/>
                                        </p:tgtEl>
                                      </p:cBhvr>
                                    </p:animEffect>
                                    <p:anim calcmode="lin" valueType="num">
                                      <p:cBhvr additive="base">
                                        <p:cTn id="36" dur="160" fill="hold">
                                          <p:stCondLst>
                                            <p:cond delay="500"/>
                                          </p:stCondLst>
                                        </p:cTn>
                                        <p:tgtEl>
                                          <p:spTgt spid="107"/>
                                        </p:tgtEl>
                                        <p:attrNameLst>
                                          <p:attrName>ppt_w</p:attrName>
                                        </p:attrNameLst>
                                      </p:cBhvr>
                                      <p:tavLst>
                                        <p:tav tm="0">
                                          <p:val>
                                            <p:strVal val="#ppt_w*1.08"/>
                                          </p:val>
                                        </p:tav>
                                        <p:tav tm="100000">
                                          <p:val>
                                            <p:strVal val="#ppt_w"/>
                                          </p:val>
                                        </p:tav>
                                      </p:tavLst>
                                    </p:anim>
                                    <p:anim calcmode="lin" valueType="num">
                                      <p:cBhvr additive="base">
                                        <p:cTn id="37" dur="160" fill="hold">
                                          <p:stCondLst>
                                            <p:cond delay="500"/>
                                          </p:stCondLst>
                                        </p:cTn>
                                        <p:tgtEl>
                                          <p:spTgt spid="107"/>
                                        </p:tgtEl>
                                        <p:attrNameLst>
                                          <p:attrName>ppt_h</p:attrName>
                                        </p:attrNameLst>
                                      </p:cBhvr>
                                      <p:tavLst>
                                        <p:tav tm="0">
                                          <p:val>
                                            <p:strVal val="#ppt_h*1.08"/>
                                          </p:val>
                                        </p:tav>
                                        <p:tav tm="100000">
                                          <p:val>
                                            <p:strVal val="#ppt_h"/>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08"/>
                                        </p:tgtEl>
                                        <p:attrNameLst>
                                          <p:attrName>style.visibility</p:attrName>
                                        </p:attrNameLst>
                                      </p:cBhvr>
                                      <p:to>
                                        <p:strVal val="visible"/>
                                      </p:to>
                                    </p:set>
                                    <p:animEffect transition="in" filter="fade">
                                      <p:cBhvr>
                                        <p:cTn id="42" dur="500"/>
                                        <p:tgtEl>
                                          <p:spTgt spid="108"/>
                                        </p:tgtEl>
                                      </p:cBhvr>
                                    </p:animEffect>
                                    <p:anim calcmode="lin" valueType="num">
                                      <p:cBhvr additive="base">
                                        <p:cTn id="43" dur="500" decel="100000" fill="hold"/>
                                        <p:tgtEl>
                                          <p:spTgt spid="108"/>
                                        </p:tgtEl>
                                        <p:attrNameLst>
                                          <p:attrName>ppt_y</p:attrName>
                                        </p:attrNameLst>
                                      </p:cBhvr>
                                      <p:tavLst>
                                        <p:tav tm="0">
                                          <p:val>
                                            <p:strVal val="#ppt_y+0.06"/>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109"/>
                                        </p:tgtEl>
                                        <p:attrNameLst>
                                          <p:attrName>style.visibility</p:attrName>
                                        </p:attrNameLst>
                                      </p:cBhvr>
                                      <p:to>
                                        <p:strVal val="visible"/>
                                      </p:to>
                                    </p:set>
                                    <p:animEffect transition="in" filter="fade">
                                      <p:cBhvr>
                                        <p:cTn id="46" dur="500"/>
                                        <p:tgtEl>
                                          <p:spTgt spid="109"/>
                                        </p:tgtEl>
                                      </p:cBhvr>
                                    </p:animEffect>
                                    <p:anim calcmode="lin" valueType="num">
                                      <p:cBhvr additive="base">
                                        <p:cTn id="47" dur="500" decel="100000" fill="hold"/>
                                        <p:tgtEl>
                                          <p:spTgt spid="109"/>
                                        </p:tgtEl>
                                        <p:attrNameLst>
                                          <p:attrName>ppt_y</p:attrName>
                                        </p:attrNameLst>
                                      </p:cBhvr>
                                      <p:tavLst>
                                        <p:tav tm="0">
                                          <p:val>
                                            <p:strVal val="#ppt_y+0.06"/>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110"/>
                                        </p:tgtEl>
                                        <p:attrNameLst>
                                          <p:attrName>style.visibility</p:attrName>
                                        </p:attrNameLst>
                                      </p:cBhvr>
                                      <p:to>
                                        <p:strVal val="visible"/>
                                      </p:to>
                                    </p:set>
                                    <p:animEffect transition="in" filter="fade">
                                      <p:cBhvr>
                                        <p:cTn id="50" dur="500"/>
                                        <p:tgtEl>
                                          <p:spTgt spid="110"/>
                                        </p:tgtEl>
                                      </p:cBhvr>
                                    </p:animEffect>
                                    <p:anim calcmode="lin" valueType="num">
                                      <p:cBhvr additive="base">
                                        <p:cTn id="51" dur="500" decel="100000" fill="hold"/>
                                        <p:tgtEl>
                                          <p:spTgt spid="110"/>
                                        </p:tgtEl>
                                        <p:attrNameLst>
                                          <p:attrName>ppt_y</p:attrName>
                                        </p:attrNameLst>
                                      </p:cBhvr>
                                      <p:tavLst>
                                        <p:tav tm="0">
                                          <p:val>
                                            <p:strVal val="#ppt_y+0.06"/>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11"/>
                                        </p:tgtEl>
                                        <p:attrNameLst>
                                          <p:attrName>style.visibility</p:attrName>
                                        </p:attrNameLst>
                                      </p:cBhvr>
                                      <p:to>
                                        <p:strVal val="visible"/>
                                      </p:to>
                                    </p:set>
                                    <p:animEffect transition="in" filter="fade">
                                      <p:cBhvr>
                                        <p:cTn id="54" dur="500"/>
                                        <p:tgtEl>
                                          <p:spTgt spid="111"/>
                                        </p:tgtEl>
                                      </p:cBhvr>
                                    </p:animEffect>
                                    <p:anim calcmode="lin" valueType="num">
                                      <p:cBhvr additive="base">
                                        <p:cTn id="55" dur="500" decel="100000" fill="hold"/>
                                        <p:tgtEl>
                                          <p:spTgt spid="111"/>
                                        </p:tgtEl>
                                        <p:attrNameLst>
                                          <p:attrName>ppt_y</p:attrName>
                                        </p:attrNameLst>
                                      </p:cBhvr>
                                      <p:tavLst>
                                        <p:tav tm="0">
                                          <p:val>
                                            <p:strVal val="#ppt_y+0.06"/>
                                          </p:val>
                                        </p:tav>
                                        <p:tav tm="100000">
                                          <p:val>
                                            <p:strVal val="#ppt_y"/>
                                          </p:val>
                                        </p:tav>
                                      </p:tavLst>
                                    </p:anim>
                                  </p:childTnLst>
                                </p:cTn>
                              </p:par>
                              <p:par>
                                <p:cTn id="56" presetID="53" presetClass="entr" presetSubtype="16" fill="hold" grpId="0" nodeType="withEffect">
                                  <p:stCondLst>
                                    <p:cond delay="250"/>
                                  </p:stCondLst>
                                  <p:childTnLst>
                                    <p:set>
                                      <p:cBhvr>
                                        <p:cTn id="57" dur="1" fill="hold">
                                          <p:stCondLst>
                                            <p:cond delay="0"/>
                                          </p:stCondLst>
                                        </p:cTn>
                                        <p:tgtEl>
                                          <p:spTgt spid="112"/>
                                        </p:tgtEl>
                                        <p:attrNameLst>
                                          <p:attrName>style.visibility</p:attrName>
                                        </p:attrNameLst>
                                      </p:cBhvr>
                                      <p:to>
                                        <p:strVal val="visible"/>
                                      </p:to>
                                    </p:set>
                                    <p:anim calcmode="lin" valueType="num">
                                      <p:cBhvr additive="base">
                                        <p:cTn id="58" dur="500" decel="100000" fill="hold"/>
                                        <p:tgtEl>
                                          <p:spTgt spid="112"/>
                                        </p:tgtEl>
                                        <p:attrNameLst>
                                          <p:attrName>ppt_w</p:attrName>
                                        </p:attrNameLst>
                                      </p:cBhvr>
                                      <p:tavLst>
                                        <p:tav tm="0">
                                          <p:val>
                                            <p:strVal val="#ppt_w*0.3"/>
                                          </p:val>
                                        </p:tav>
                                        <p:tav tm="100000">
                                          <p:val>
                                            <p:strVal val="#ppt_w*1.08"/>
                                          </p:val>
                                        </p:tav>
                                      </p:tavLst>
                                    </p:anim>
                                    <p:anim calcmode="lin" valueType="num">
                                      <p:cBhvr additive="base">
                                        <p:cTn id="59" dur="500" decel="100000" fill="hold"/>
                                        <p:tgtEl>
                                          <p:spTgt spid="112"/>
                                        </p:tgtEl>
                                        <p:attrNameLst>
                                          <p:attrName>ppt_h</p:attrName>
                                        </p:attrNameLst>
                                      </p:cBhvr>
                                      <p:tavLst>
                                        <p:tav tm="0">
                                          <p:val>
                                            <p:strVal val="#ppt_h*0.3"/>
                                          </p:val>
                                        </p:tav>
                                        <p:tav tm="100000">
                                          <p:val>
                                            <p:strVal val="#ppt_h*1.08"/>
                                          </p:val>
                                        </p:tav>
                                      </p:tavLst>
                                    </p:anim>
                                    <p:animEffect transition="in" filter="fade">
                                      <p:cBhvr>
                                        <p:cTn id="60" dur="250"/>
                                        <p:tgtEl>
                                          <p:spTgt spid="112"/>
                                        </p:tgtEl>
                                      </p:cBhvr>
                                    </p:animEffect>
                                    <p:anim calcmode="lin" valueType="num">
                                      <p:cBhvr additive="base">
                                        <p:cTn id="61" dur="160" fill="hold">
                                          <p:stCondLst>
                                            <p:cond delay="500"/>
                                          </p:stCondLst>
                                        </p:cTn>
                                        <p:tgtEl>
                                          <p:spTgt spid="112"/>
                                        </p:tgtEl>
                                        <p:attrNameLst>
                                          <p:attrName>ppt_w</p:attrName>
                                        </p:attrNameLst>
                                      </p:cBhvr>
                                      <p:tavLst>
                                        <p:tav tm="0">
                                          <p:val>
                                            <p:strVal val="#ppt_w*1.08"/>
                                          </p:val>
                                        </p:tav>
                                        <p:tav tm="100000">
                                          <p:val>
                                            <p:strVal val="#ppt_w"/>
                                          </p:val>
                                        </p:tav>
                                      </p:tavLst>
                                    </p:anim>
                                    <p:anim calcmode="lin" valueType="num">
                                      <p:cBhvr additive="base">
                                        <p:cTn id="62" dur="160" fill="hold">
                                          <p:stCondLst>
                                            <p:cond delay="500"/>
                                          </p:stCondLst>
                                        </p:cTn>
                                        <p:tgtEl>
                                          <p:spTgt spid="112"/>
                                        </p:tgtEl>
                                        <p:attrNameLst>
                                          <p:attrName>ppt_h</p:attrName>
                                        </p:attrNameLst>
                                      </p:cBhvr>
                                      <p:tavLst>
                                        <p:tav tm="0">
                                          <p:val>
                                            <p:strVal val="#ppt_h*1.08"/>
                                          </p:val>
                                        </p:tav>
                                        <p:tav tm="100000">
                                          <p:val>
                                            <p:strVal val="#ppt_h"/>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113"/>
                                        </p:tgtEl>
                                        <p:attrNameLst>
                                          <p:attrName>style.visibility</p:attrName>
                                        </p:attrNameLst>
                                      </p:cBhvr>
                                      <p:to>
                                        <p:strVal val="visible"/>
                                      </p:to>
                                    </p:set>
                                    <p:animEffect transition="in" filter="fade">
                                      <p:cBhvr>
                                        <p:cTn id="67" dur="500"/>
                                        <p:tgtEl>
                                          <p:spTgt spid="113"/>
                                        </p:tgtEl>
                                      </p:cBhvr>
                                    </p:animEffect>
                                    <p:anim calcmode="lin" valueType="num">
                                      <p:cBhvr additive="base">
                                        <p:cTn id="68" dur="500" decel="100000" fill="hold"/>
                                        <p:tgtEl>
                                          <p:spTgt spid="113"/>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4"/>
                                        </p:tgtEl>
                                        <p:attrNameLst>
                                          <p:attrName>style.visibility</p:attrName>
                                        </p:attrNameLst>
                                      </p:cBhvr>
                                      <p:to>
                                        <p:strVal val="visible"/>
                                      </p:to>
                                    </p:set>
                                    <p:animEffect transition="in" filter="fade">
                                      <p:cBhvr>
                                        <p:cTn id="71" dur="500"/>
                                        <p:tgtEl>
                                          <p:spTgt spid="114"/>
                                        </p:tgtEl>
                                      </p:cBhvr>
                                    </p:animEffect>
                                    <p:anim calcmode="lin" valueType="num">
                                      <p:cBhvr additive="base">
                                        <p:cTn id="72" dur="500" decel="100000" fill="hold"/>
                                        <p:tgtEl>
                                          <p:spTgt spid="114"/>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5"/>
                                        </p:tgtEl>
                                        <p:attrNameLst>
                                          <p:attrName>style.visibility</p:attrName>
                                        </p:attrNameLst>
                                      </p:cBhvr>
                                      <p:to>
                                        <p:strVal val="visible"/>
                                      </p:to>
                                    </p:set>
                                    <p:animEffect transition="in" filter="fade">
                                      <p:cBhvr>
                                        <p:cTn id="75" dur="500"/>
                                        <p:tgtEl>
                                          <p:spTgt spid="115"/>
                                        </p:tgtEl>
                                      </p:cBhvr>
                                    </p:animEffect>
                                    <p:anim calcmode="lin" valueType="num">
                                      <p:cBhvr additive="base">
                                        <p:cTn id="76" dur="500" decel="100000" fill="hold"/>
                                        <p:tgtEl>
                                          <p:spTgt spid="115"/>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fade">
                                      <p:cBhvr>
                                        <p:cTn id="79" dur="500"/>
                                        <p:tgtEl>
                                          <p:spTgt spid="116"/>
                                        </p:tgtEl>
                                      </p:cBhvr>
                                    </p:animEffect>
                                    <p:anim calcmode="lin" valueType="num">
                                      <p:cBhvr additive="base">
                                        <p:cTn id="80" dur="500" decel="100000" fill="hold"/>
                                        <p:tgtEl>
                                          <p:spTgt spid="116"/>
                                        </p:tgtEl>
                                        <p:attrNameLst>
                                          <p:attrName>ppt_y</p:attrName>
                                        </p:attrNameLst>
                                      </p:cBhvr>
                                      <p:tavLst>
                                        <p:tav tm="0">
                                          <p:val>
                                            <p:strVal val="#ppt_y+0.06"/>
                                          </p:val>
                                        </p:tav>
                                        <p:tav tm="100000">
                                          <p:val>
                                            <p:strVal val="#ppt_y"/>
                                          </p:val>
                                        </p:tav>
                                      </p:tavLst>
                                    </p:anim>
                                  </p:childTnLst>
                                </p:cTn>
                              </p:par>
                              <p:par>
                                <p:cTn id="81" presetID="53" presetClass="entr" presetSubtype="16" fill="hold" grpId="0" nodeType="withEffect">
                                  <p:stCondLst>
                                    <p:cond delay="250"/>
                                  </p:stCondLst>
                                  <p:childTnLst>
                                    <p:set>
                                      <p:cBhvr>
                                        <p:cTn id="82" dur="1" fill="hold">
                                          <p:stCondLst>
                                            <p:cond delay="0"/>
                                          </p:stCondLst>
                                        </p:cTn>
                                        <p:tgtEl>
                                          <p:spTgt spid="117"/>
                                        </p:tgtEl>
                                        <p:attrNameLst>
                                          <p:attrName>style.visibility</p:attrName>
                                        </p:attrNameLst>
                                      </p:cBhvr>
                                      <p:to>
                                        <p:strVal val="visible"/>
                                      </p:to>
                                    </p:set>
                                    <p:anim calcmode="lin" valueType="num">
                                      <p:cBhvr additive="base">
                                        <p:cTn id="83" dur="500" decel="100000" fill="hold"/>
                                        <p:tgtEl>
                                          <p:spTgt spid="117"/>
                                        </p:tgtEl>
                                        <p:attrNameLst>
                                          <p:attrName>ppt_w</p:attrName>
                                        </p:attrNameLst>
                                      </p:cBhvr>
                                      <p:tavLst>
                                        <p:tav tm="0">
                                          <p:val>
                                            <p:strVal val="#ppt_w*0.3"/>
                                          </p:val>
                                        </p:tav>
                                        <p:tav tm="100000">
                                          <p:val>
                                            <p:strVal val="#ppt_w*1.08"/>
                                          </p:val>
                                        </p:tav>
                                      </p:tavLst>
                                    </p:anim>
                                    <p:anim calcmode="lin" valueType="num">
                                      <p:cBhvr additive="base">
                                        <p:cTn id="84" dur="500" decel="100000" fill="hold"/>
                                        <p:tgtEl>
                                          <p:spTgt spid="117"/>
                                        </p:tgtEl>
                                        <p:attrNameLst>
                                          <p:attrName>ppt_h</p:attrName>
                                        </p:attrNameLst>
                                      </p:cBhvr>
                                      <p:tavLst>
                                        <p:tav tm="0">
                                          <p:val>
                                            <p:strVal val="#ppt_h*0.3"/>
                                          </p:val>
                                        </p:tav>
                                        <p:tav tm="100000">
                                          <p:val>
                                            <p:strVal val="#ppt_h*1.08"/>
                                          </p:val>
                                        </p:tav>
                                      </p:tavLst>
                                    </p:anim>
                                    <p:animEffect transition="in" filter="fade">
                                      <p:cBhvr>
                                        <p:cTn id="85" dur="250"/>
                                        <p:tgtEl>
                                          <p:spTgt spid="117"/>
                                        </p:tgtEl>
                                      </p:cBhvr>
                                    </p:animEffect>
                                    <p:anim calcmode="lin" valueType="num">
                                      <p:cBhvr additive="base">
                                        <p:cTn id="86" dur="160" fill="hold">
                                          <p:stCondLst>
                                            <p:cond delay="500"/>
                                          </p:stCondLst>
                                        </p:cTn>
                                        <p:tgtEl>
                                          <p:spTgt spid="117"/>
                                        </p:tgtEl>
                                        <p:attrNameLst>
                                          <p:attrName>ppt_w</p:attrName>
                                        </p:attrNameLst>
                                      </p:cBhvr>
                                      <p:tavLst>
                                        <p:tav tm="0">
                                          <p:val>
                                            <p:strVal val="#ppt_w*1.08"/>
                                          </p:val>
                                        </p:tav>
                                        <p:tav tm="100000">
                                          <p:val>
                                            <p:strVal val="#ppt_w"/>
                                          </p:val>
                                        </p:tav>
                                      </p:tavLst>
                                    </p:anim>
                                    <p:anim calcmode="lin" valueType="num">
                                      <p:cBhvr additive="base">
                                        <p:cTn id="87" dur="160" fill="hold">
                                          <p:stCondLst>
                                            <p:cond delay="500"/>
                                          </p:stCondLst>
                                        </p:cTn>
                                        <p:tgtEl>
                                          <p:spTgt spid="117"/>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309421"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POINTS ≠ HOURS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Story Points Are Not Hours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Same item. Different personal speed. The relative size stays the same.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252</a:t>
            </a:r>
            <a:endParaRPr lang="en-US" sz="850" dirty="0"/>
          </a:p>
        </p:txBody>
      </p:sp>
      <p:sp>
        <p:nvSpPr>
          <p:cNvPr id="101" name="s101"/>
          <p:cNvSpPr/>
          <p:nvPr/>
        </p:nvSpPr>
        <p:spPr>
          <a:xfrm>
            <a:off x="4315968" y="1965960"/>
            <a:ext cx="3566160" cy="1051560"/>
          </a:xfrm>
          <a:prstGeom prst="roundRect">
            <a:avLst>
              <a:gd name="adj" fmla="val 10000"/>
            </a:avLst>
          </a:prstGeom>
          <a:solidFill>
            <a:srgbClr val="A78BFA">
              <a:alpha val="14000"/>
            </a:srgbClr>
          </a:solidFill>
          <a:ln w="25400">
            <a:solidFill>
              <a:srgbClr val="A78BFA"/>
            </a:solidFill>
            <a:prstDash val="solid"/>
          </a:ln>
        </p:spPr>
        <p:txBody>
          <a:bodyPr wrap="square" lIns="164592" tIns="109728" rIns="137160" bIns="91440" rtlCol="0" anchor="ctr">
            <a:noAutofit/>
          </a:bodyPr>
          <a:lstStyle/>
          <a:p>
            <a:pPr marL="0" indent="0" algn="ctr">
              <a:spcBef>
                <a:spcPts val="0"/>
              </a:spcBef>
              <a:spcAft>
                <a:spcPts val="0"/>
              </a:spcAft>
              <a:buNone/>
            </a:pPr>
            <a:r>
              <a:rPr lang="en-US" sz="1600" b="1" dirty="0">
                <a:solidFill>
                  <a:srgbClr val="FFFFFF"/>
                </a:solidFill>
                <a:latin typeface="Segoe UI"/>
                <a:ea typeface="Segoe UI"/>
                <a:cs typeface="Segoe UI"/>
              </a:rPr>
              <a:t>Book appointment</a:t>
            </a:r>
            <a:endParaRPr lang="en-US" sz="1600" dirty="0"/>
          </a:p>
          <a:p>
            <a:pPr marL="0" indent="0" algn="ctr">
              <a:spcBef>
                <a:spcPts val="0"/>
              </a:spcBef>
              <a:spcAft>
                <a:spcPts val="0"/>
              </a:spcAft>
              <a:buNone/>
            </a:pPr>
            <a:r>
              <a:rPr lang="en-US" sz="1300" b="1" dirty="0">
                <a:solidFill>
                  <a:srgbClr val="A78BFA"/>
                </a:solidFill>
                <a:latin typeface="Segoe UI"/>
                <a:ea typeface="Segoe UI"/>
                <a:cs typeface="Segoe UI"/>
              </a:rPr>
              <a:t>8 story points</a:t>
            </a:r>
            <a:endParaRPr lang="en-US" sz="1300" dirty="0"/>
          </a:p>
        </p:txBody>
      </p:sp>
      <p:sp>
        <p:nvSpPr>
          <p:cNvPr id="102" name="s102"/>
          <p:cNvSpPr/>
          <p:nvPr/>
        </p:nvSpPr>
        <p:spPr>
          <a:xfrm>
            <a:off x="543154" y="3429000"/>
            <a:ext cx="640080" cy="640080"/>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820" b="1" dirty="0">
                <a:solidFill>
                  <a:srgbClr val="13D0F7"/>
                </a:solidFill>
                <a:latin typeface="Segoe UI"/>
                <a:ea typeface="Segoe UI"/>
                <a:cs typeface="Segoe UI"/>
              </a:rPr>
              <a:t>O</a:t>
            </a:r>
            <a:endParaRPr lang="en-US" sz="1820" dirty="0"/>
          </a:p>
        </p:txBody>
      </p:sp>
      <p:sp>
        <p:nvSpPr>
          <p:cNvPr id="103" name="s103"/>
          <p:cNvSpPr txBox="1"/>
          <p:nvPr/>
        </p:nvSpPr>
        <p:spPr>
          <a:xfrm>
            <a:off x="1320394" y="3429000"/>
            <a:ext cx="2743200"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Omar (senior)</a:t>
            </a:r>
            <a:endParaRPr lang="en-US" sz="1400" dirty="0"/>
          </a:p>
          <a:p>
            <a:pPr marL="0" indent="0" algn="l">
              <a:spcBef>
                <a:spcPts val="0"/>
              </a:spcBef>
              <a:spcAft>
                <a:spcPts val="0"/>
              </a:spcAft>
              <a:buNone/>
            </a:pPr>
            <a:r>
              <a:rPr lang="en-US" sz="1200" b="0" i="1" dirty="0">
                <a:solidFill>
                  <a:srgbClr val="94A3B8"/>
                </a:solidFill>
                <a:latin typeface="Segoe UI"/>
                <a:ea typeface="Segoe UI"/>
                <a:cs typeface="Segoe UI"/>
              </a:rPr>
              <a:t>“I may finish this in five hours.”</a:t>
            </a:r>
            <a:endParaRPr lang="en-US" sz="1200" dirty="0"/>
          </a:p>
        </p:txBody>
      </p:sp>
      <p:sp>
        <p:nvSpPr>
          <p:cNvPr id="104" name="s104"/>
          <p:cNvSpPr/>
          <p:nvPr/>
        </p:nvSpPr>
        <p:spPr>
          <a:xfrm>
            <a:off x="4749394" y="3566160"/>
            <a:ext cx="1463040" cy="365760"/>
          </a:xfrm>
          <a:prstGeom prst="roundRect">
            <a:avLst>
              <a:gd name="adj" fmla="val 50000"/>
            </a:avLst>
          </a:prstGeom>
          <a:solidFill>
            <a:srgbClr val="13D0F7"/>
          </a:solidFill>
          <a:ln>
            <a:noFill/>
          </a:ln>
        </p:spPr>
        <p:txBody>
          <a:bodyPr wrap="square" lIns="137160" tIns="0" rIns="0" bIns="0" rtlCol="0" anchor="ctr">
            <a:noAutofit/>
          </a:bodyPr>
          <a:lstStyle/>
          <a:p>
            <a:pPr marL="0" indent="0" algn="l">
              <a:spcBef>
                <a:spcPts val="0"/>
              </a:spcBef>
              <a:spcAft>
                <a:spcPts val="0"/>
              </a:spcAft>
              <a:buNone/>
            </a:pPr>
            <a:r>
              <a:rPr lang="en-US" sz="1100" b="1" dirty="0">
                <a:solidFill>
                  <a:srgbClr val="0F172A"/>
                </a:solidFill>
                <a:latin typeface="Segoe UI"/>
                <a:ea typeface="Segoe UI"/>
                <a:cs typeface="Segoe UI"/>
              </a:rPr>
              <a:t>≈ 5 hours</a:t>
            </a:r>
            <a:endParaRPr lang="en-US" sz="1100" dirty="0"/>
          </a:p>
        </p:txBody>
      </p:sp>
      <p:sp>
        <p:nvSpPr>
          <p:cNvPr id="105" name="s105"/>
          <p:cNvSpPr/>
          <p:nvPr/>
        </p:nvSpPr>
        <p:spPr>
          <a:xfrm>
            <a:off x="543154" y="4251960"/>
            <a:ext cx="640080" cy="640080"/>
          </a:xfrm>
          <a:prstGeom prst="ellipse">
            <a:avLst/>
          </a:prstGeom>
          <a:solidFill>
            <a:srgbClr val="60A5FA">
              <a:alpha val="22000"/>
            </a:srgbClr>
          </a:solidFill>
          <a:ln w="1905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800" b="1" dirty="0">
                <a:solidFill>
                  <a:srgbClr val="60A5FA"/>
                </a:solidFill>
                <a:latin typeface="Segoe UI"/>
                <a:ea typeface="Segoe UI"/>
                <a:cs typeface="Segoe UI"/>
              </a:rPr>
              <a:t>N</a:t>
            </a:r>
            <a:endParaRPr lang="en-US" sz="1800" dirty="0"/>
          </a:p>
        </p:txBody>
      </p:sp>
      <p:sp>
        <p:nvSpPr>
          <p:cNvPr id="106" name="s106"/>
          <p:cNvSpPr txBox="1"/>
          <p:nvPr/>
        </p:nvSpPr>
        <p:spPr>
          <a:xfrm>
            <a:off x="1320394" y="4251960"/>
            <a:ext cx="2743200"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New developer</a:t>
            </a:r>
            <a:endParaRPr lang="en-US" sz="1400" dirty="0"/>
          </a:p>
          <a:p>
            <a:pPr marL="0" indent="0" algn="l">
              <a:spcBef>
                <a:spcPts val="0"/>
              </a:spcBef>
              <a:spcAft>
                <a:spcPts val="0"/>
              </a:spcAft>
              <a:buNone/>
            </a:pPr>
            <a:r>
              <a:rPr lang="en-US" sz="1200" b="0" i="1" dirty="0">
                <a:solidFill>
                  <a:srgbClr val="94A3B8"/>
                </a:solidFill>
                <a:latin typeface="Segoe UI"/>
                <a:ea typeface="Segoe UI"/>
                <a:cs typeface="Segoe UI"/>
              </a:rPr>
              <a:t>“I may need two days.”</a:t>
            </a:r>
            <a:endParaRPr lang="en-US" sz="1200" dirty="0"/>
          </a:p>
        </p:txBody>
      </p:sp>
      <p:sp>
        <p:nvSpPr>
          <p:cNvPr id="107" name="s107"/>
          <p:cNvSpPr/>
          <p:nvPr/>
        </p:nvSpPr>
        <p:spPr>
          <a:xfrm>
            <a:off x="4749394" y="4389120"/>
            <a:ext cx="6766560" cy="365760"/>
          </a:xfrm>
          <a:prstGeom prst="roundRect">
            <a:avLst>
              <a:gd name="adj" fmla="val 50000"/>
            </a:avLst>
          </a:prstGeom>
          <a:solidFill>
            <a:srgbClr val="60A5FA"/>
          </a:solidFill>
          <a:ln>
            <a:noFill/>
          </a:ln>
        </p:spPr>
        <p:txBody>
          <a:bodyPr wrap="square" lIns="137160" tIns="0" rIns="0" bIns="0" rtlCol="0" anchor="ctr">
            <a:noAutofit/>
          </a:bodyPr>
          <a:lstStyle/>
          <a:p>
            <a:pPr marL="0" indent="0" algn="l">
              <a:spcBef>
                <a:spcPts val="0"/>
              </a:spcBef>
              <a:spcAft>
                <a:spcPts val="0"/>
              </a:spcAft>
              <a:buNone/>
            </a:pPr>
            <a:r>
              <a:rPr lang="en-US" sz="1100" b="1" dirty="0">
                <a:solidFill>
                  <a:srgbClr val="0F172A"/>
                </a:solidFill>
                <a:latin typeface="Segoe UI"/>
                <a:ea typeface="Segoe UI"/>
                <a:cs typeface="Segoe UI"/>
              </a:rPr>
              <a:t>≈ 2 days</a:t>
            </a:r>
            <a:endParaRPr lang="en-US" sz="1100" dirty="0"/>
          </a:p>
        </p:txBody>
      </p:sp>
      <p:sp>
        <p:nvSpPr>
          <p:cNvPr id="108" name="s108"/>
          <p:cNvSpPr/>
          <p:nvPr/>
        </p:nvSpPr>
        <p:spPr>
          <a:xfrm>
            <a:off x="543154" y="5074920"/>
            <a:ext cx="11088014" cy="777240"/>
          </a:xfrm>
          <a:prstGeom prst="roundRect">
            <a:avLst>
              <a:gd name="adj" fmla="val 12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09" name="s109"/>
          <p:cNvSpPr txBox="1"/>
          <p:nvPr/>
        </p:nvSpPr>
        <p:spPr>
          <a:xfrm>
            <a:off x="771754" y="5166360"/>
            <a:ext cx="18288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1" dirty="0">
                <a:solidFill>
                  <a:srgbClr val="FBBF24"/>
                </a:solidFill>
                <a:latin typeface="Segoe UI"/>
                <a:ea typeface="Segoe UI"/>
                <a:cs typeface="Segoe UI"/>
              </a:rPr>
              <a:t>ASK THE CLASS</a:t>
            </a:r>
            <a:endParaRPr lang="en-US" sz="1000" dirty="0"/>
          </a:p>
        </p:txBody>
      </p:sp>
      <p:sp>
        <p:nvSpPr>
          <p:cNvPr id="110" name="s110"/>
          <p:cNvSpPr txBox="1"/>
          <p:nvPr/>
        </p:nvSpPr>
        <p:spPr>
          <a:xfrm>
            <a:off x="771754" y="5404104"/>
            <a:ext cx="5322247" cy="39319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FFFFFF"/>
                </a:solidFill>
                <a:latin typeface="Segoe UI"/>
                <a:ea typeface="Segoe UI"/>
                <a:cs typeface="Segoe UI"/>
              </a:rPr>
              <a:t>Did the Product Backlog Item change?</a:t>
            </a:r>
            <a:endParaRPr lang="en-US" sz="1400" dirty="0"/>
          </a:p>
        </p:txBody>
      </p:sp>
      <p:sp>
        <p:nvSpPr>
          <p:cNvPr id="111" name="s111"/>
          <p:cNvSpPr txBox="1"/>
          <p:nvPr/>
        </p:nvSpPr>
        <p:spPr>
          <a:xfrm>
            <a:off x="6087161" y="5166360"/>
            <a:ext cx="5322247" cy="5943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  No. Points capture relative size: work, complexity, risk, uncertainty. Not hours.</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02"/>
                                        </p:tgtEl>
                                        <p:attrNameLst>
                                          <p:attrName>style.visibility</p:attrName>
                                        </p:attrNameLst>
                                      </p:cBhvr>
                                      <p:to>
                                        <p:strVal val="visible"/>
                                      </p:to>
                                    </p:set>
                                    <p:animEffect transition="in" filter="fade">
                                      <p:cBhvr>
                                        <p:cTn id="16" dur="500"/>
                                        <p:tgtEl>
                                          <p:spTgt spid="102"/>
                                        </p:tgtEl>
                                      </p:cBhvr>
                                    </p:animEffect>
                                    <p:anim calcmode="lin" valueType="num">
                                      <p:cBhvr additive="base">
                                        <p:cTn id="17" dur="500" decel="100000" fill="hold"/>
                                        <p:tgtEl>
                                          <p:spTgt spid="102"/>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03"/>
                                        </p:tgtEl>
                                        <p:attrNameLst>
                                          <p:attrName>style.visibility</p:attrName>
                                        </p:attrNameLst>
                                      </p:cBhvr>
                                      <p:to>
                                        <p:strVal val="visible"/>
                                      </p:to>
                                    </p:set>
                                    <p:animEffect transition="in" filter="fade">
                                      <p:cBhvr>
                                        <p:cTn id="20" dur="500"/>
                                        <p:tgtEl>
                                          <p:spTgt spid="103"/>
                                        </p:tgtEl>
                                      </p:cBhvr>
                                    </p:animEffect>
                                    <p:anim calcmode="lin" valueType="num">
                                      <p:cBhvr additive="base">
                                        <p:cTn id="21" dur="500" decel="100000" fill="hold"/>
                                        <p:tgtEl>
                                          <p:spTgt spid="103"/>
                                        </p:tgtEl>
                                        <p:attrNameLst>
                                          <p:attrName>ppt_y</p:attrName>
                                        </p:attrNameLst>
                                      </p:cBhvr>
                                      <p:tavLst>
                                        <p:tav tm="0">
                                          <p:val>
                                            <p:strVal val="#ppt_y+0.06"/>
                                          </p:val>
                                        </p:tav>
                                        <p:tav tm="100000">
                                          <p:val>
                                            <p:strVal val="#ppt_y"/>
                                          </p:val>
                                        </p:tav>
                                      </p:tavLst>
                                    </p:anim>
                                  </p:childTnLst>
                                </p:cTn>
                              </p:par>
                              <p:par>
                                <p:cTn id="22" presetID="22" presetClass="entr" presetSubtype="8" fill="hold" grpId="0" nodeType="withEffect">
                                  <p:stCondLst>
                                    <p:cond delay="200"/>
                                  </p:stCondLst>
                                  <p:childTnLst>
                                    <p:set>
                                      <p:cBhvr>
                                        <p:cTn id="23" dur="1" fill="hold">
                                          <p:stCondLst>
                                            <p:cond delay="0"/>
                                          </p:stCondLst>
                                        </p:cTn>
                                        <p:tgtEl>
                                          <p:spTgt spid="104"/>
                                        </p:tgtEl>
                                        <p:attrNameLst>
                                          <p:attrName>style.visibility</p:attrName>
                                        </p:attrNameLst>
                                      </p:cBhvr>
                                      <p:to>
                                        <p:strVal val="visible"/>
                                      </p:to>
                                    </p:set>
                                    <p:animEffect transition="in" filter="wipe(left)">
                                      <p:cBhvr>
                                        <p:cTn id="24" dur="500"/>
                                        <p:tgtEl>
                                          <p:spTgt spid="104"/>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05"/>
                                        </p:tgtEl>
                                        <p:attrNameLst>
                                          <p:attrName>style.visibility</p:attrName>
                                        </p:attrNameLst>
                                      </p:cBhvr>
                                      <p:to>
                                        <p:strVal val="visible"/>
                                      </p:to>
                                    </p:set>
                                    <p:animEffect transition="in" filter="fade">
                                      <p:cBhvr>
                                        <p:cTn id="29" dur="900"/>
                                        <p:tgtEl>
                                          <p:spTgt spid="105"/>
                                        </p:tgtEl>
                                      </p:cBhvr>
                                    </p:animEffect>
                                    <p:anim calcmode="lin" valueType="num">
                                      <p:cBhvr additive="base">
                                        <p:cTn id="30" dur="900" decel="100000" fill="hold"/>
                                        <p:tgtEl>
                                          <p:spTgt spid="105"/>
                                        </p:tgtEl>
                                        <p:attrNameLst>
                                          <p:attrName>ppt_y</p:attrName>
                                        </p:attrNameLst>
                                      </p:cBhvr>
                                      <p:tavLst>
                                        <p:tav tm="0">
                                          <p:val>
                                            <p:strVal val="#ppt_y+0.06"/>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06"/>
                                        </p:tgtEl>
                                        <p:attrNameLst>
                                          <p:attrName>style.visibility</p:attrName>
                                        </p:attrNameLst>
                                      </p:cBhvr>
                                      <p:to>
                                        <p:strVal val="visible"/>
                                      </p:to>
                                    </p:set>
                                    <p:animEffect transition="in" filter="fade">
                                      <p:cBhvr>
                                        <p:cTn id="33" dur="900"/>
                                        <p:tgtEl>
                                          <p:spTgt spid="106"/>
                                        </p:tgtEl>
                                      </p:cBhvr>
                                    </p:animEffect>
                                    <p:anim calcmode="lin" valueType="num">
                                      <p:cBhvr additive="base">
                                        <p:cTn id="34" dur="900" decel="100000" fill="hold"/>
                                        <p:tgtEl>
                                          <p:spTgt spid="106"/>
                                        </p:tgtEl>
                                        <p:attrNameLst>
                                          <p:attrName>ppt_y</p:attrName>
                                        </p:attrNameLst>
                                      </p:cBhvr>
                                      <p:tavLst>
                                        <p:tav tm="0">
                                          <p:val>
                                            <p:strVal val="#ppt_y+0.06"/>
                                          </p:val>
                                        </p:tav>
                                        <p:tav tm="100000">
                                          <p:val>
                                            <p:strVal val="#ppt_y"/>
                                          </p:val>
                                        </p:tav>
                                      </p:tavLst>
                                    </p:anim>
                                  </p:childTnLst>
                                </p:cTn>
                              </p:par>
                              <p:par>
                                <p:cTn id="35" presetID="22" presetClass="entr" presetSubtype="8" fill="hold" grpId="0" nodeType="withEffect">
                                  <p:stCondLst>
                                    <p:cond delay="200"/>
                                  </p:stCondLst>
                                  <p:childTnLst>
                                    <p:set>
                                      <p:cBhvr>
                                        <p:cTn id="36" dur="1" fill="hold">
                                          <p:stCondLst>
                                            <p:cond delay="0"/>
                                          </p:stCondLst>
                                        </p:cTn>
                                        <p:tgtEl>
                                          <p:spTgt spid="107"/>
                                        </p:tgtEl>
                                        <p:attrNameLst>
                                          <p:attrName>style.visibility</p:attrName>
                                        </p:attrNameLst>
                                      </p:cBhvr>
                                      <p:to>
                                        <p:strVal val="visible"/>
                                      </p:to>
                                    </p:set>
                                    <p:animEffect transition="in" filter="wipe(left)">
                                      <p:cBhvr>
                                        <p:cTn id="37" dur="900"/>
                                        <p:tgtEl>
                                          <p:spTgt spid="107"/>
                                        </p:tgtEl>
                                      </p:cBhvr>
                                    </p:animEffect>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08"/>
                                        </p:tgtEl>
                                        <p:attrNameLst>
                                          <p:attrName>style.visibility</p:attrName>
                                        </p:attrNameLst>
                                      </p:cBhvr>
                                      <p:to>
                                        <p:strVal val="visible"/>
                                      </p:to>
                                    </p:set>
                                    <p:animEffect transition="in" filter="fade">
                                      <p:cBhvr>
                                        <p:cTn id="42" dur="500"/>
                                        <p:tgtEl>
                                          <p:spTgt spid="108"/>
                                        </p:tgtEl>
                                      </p:cBhvr>
                                    </p:animEffect>
                                    <p:anim calcmode="lin" valueType="num">
                                      <p:cBhvr additive="base">
                                        <p:cTn id="43" dur="500" decel="100000" fill="hold"/>
                                        <p:tgtEl>
                                          <p:spTgt spid="108"/>
                                        </p:tgtEl>
                                        <p:attrNameLst>
                                          <p:attrName>ppt_y</p:attrName>
                                        </p:attrNameLst>
                                      </p:cBhvr>
                                      <p:tavLst>
                                        <p:tav tm="0">
                                          <p:val>
                                            <p:strVal val="#ppt_y+0.06"/>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109"/>
                                        </p:tgtEl>
                                        <p:attrNameLst>
                                          <p:attrName>style.visibility</p:attrName>
                                        </p:attrNameLst>
                                      </p:cBhvr>
                                      <p:to>
                                        <p:strVal val="visible"/>
                                      </p:to>
                                    </p:set>
                                    <p:animEffect transition="in" filter="fade">
                                      <p:cBhvr>
                                        <p:cTn id="46" dur="500"/>
                                        <p:tgtEl>
                                          <p:spTgt spid="109"/>
                                        </p:tgtEl>
                                      </p:cBhvr>
                                    </p:animEffect>
                                    <p:anim calcmode="lin" valueType="num">
                                      <p:cBhvr additive="base">
                                        <p:cTn id="47" dur="500" decel="100000" fill="hold"/>
                                        <p:tgtEl>
                                          <p:spTgt spid="109"/>
                                        </p:tgtEl>
                                        <p:attrNameLst>
                                          <p:attrName>ppt_y</p:attrName>
                                        </p:attrNameLst>
                                      </p:cBhvr>
                                      <p:tavLst>
                                        <p:tav tm="0">
                                          <p:val>
                                            <p:strVal val="#ppt_y+0.06"/>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110"/>
                                        </p:tgtEl>
                                        <p:attrNameLst>
                                          <p:attrName>style.visibility</p:attrName>
                                        </p:attrNameLst>
                                      </p:cBhvr>
                                      <p:to>
                                        <p:strVal val="visible"/>
                                      </p:to>
                                    </p:set>
                                    <p:animEffect transition="in" filter="fade">
                                      <p:cBhvr>
                                        <p:cTn id="50" dur="500"/>
                                        <p:tgtEl>
                                          <p:spTgt spid="110"/>
                                        </p:tgtEl>
                                      </p:cBhvr>
                                    </p:animEffect>
                                    <p:anim calcmode="lin" valueType="num">
                                      <p:cBhvr additive="base">
                                        <p:cTn id="51"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11"/>
                                        </p:tgtEl>
                                        <p:attrNameLst>
                                          <p:attrName>style.visibility</p:attrName>
                                        </p:attrNameLst>
                                      </p:cBhvr>
                                      <p:to>
                                        <p:strVal val="visible"/>
                                      </p:to>
                                    </p:set>
                                    <p:animEffect transition="in" filter="fade">
                                      <p:cBhvr>
                                        <p:cTn id="56"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07085"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REFERENCE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Start With a Reference Story</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Compare relative size. Do not calculate exact duration.</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253</a:t>
            </a:r>
            <a:endParaRPr lang="en-US" sz="850" dirty="0"/>
          </a:p>
        </p:txBody>
      </p:sp>
      <p:sp>
        <p:nvSpPr>
          <p:cNvPr id="101" name="s101"/>
          <p:cNvSpPr txBox="1"/>
          <p:nvPr/>
        </p:nvSpPr>
        <p:spPr>
          <a:xfrm>
            <a:off x="543154" y="2011680"/>
            <a:ext cx="3657600" cy="7315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View a patient’s basic profile</a:t>
            </a:r>
            <a:endParaRPr lang="en-US" sz="1400" dirty="0"/>
          </a:p>
          <a:p>
            <a:pPr marL="0" indent="0" algn="l">
              <a:spcBef>
                <a:spcPts val="0"/>
              </a:spcBef>
              <a:spcAft>
                <a:spcPts val="0"/>
              </a:spcAft>
              <a:buNone/>
            </a:pPr>
            <a:r>
              <a:rPr lang="en-US" sz="1150" b="0" dirty="0">
                <a:solidFill>
                  <a:srgbClr val="94A3B8"/>
                </a:solidFill>
                <a:latin typeface="Segoe UI"/>
                <a:ea typeface="Segoe UI"/>
                <a:cs typeface="Segoe UI"/>
              </a:rPr>
              <a:t>Reference story</a:t>
            </a:r>
            <a:endParaRPr lang="en-US" sz="1150" dirty="0"/>
          </a:p>
        </p:txBody>
      </p:sp>
      <p:sp>
        <p:nvSpPr>
          <p:cNvPr id="102" name="s102"/>
          <p:cNvSpPr/>
          <p:nvPr/>
        </p:nvSpPr>
        <p:spPr>
          <a:xfrm>
            <a:off x="4383634" y="2148840"/>
            <a:ext cx="1426464" cy="457200"/>
          </a:xfrm>
          <a:prstGeom prst="roundRect">
            <a:avLst>
              <a:gd name="adj" fmla="val 30000"/>
            </a:avLst>
          </a:prstGeom>
          <a:solidFill>
            <a:srgbClr val="13D0F7">
              <a:alpha val="100000"/>
            </a:srgbClr>
          </a:solidFill>
          <a:ln w="12700">
            <a:solidFill>
              <a:srgbClr val="13D0F7"/>
            </a:solidFill>
            <a:prstDash val="solid"/>
          </a:ln>
        </p:spPr>
        <p:txBody>
          <a:bodyPr wrap="square" lIns="164592" tIns="0" rIns="91440" bIns="0" rtlCol="0" anchor="ctr">
            <a:noAutofit/>
          </a:bodyPr>
          <a:lstStyle/>
          <a:p>
            <a:pPr marL="0" indent="0" algn="l">
              <a:spcBef>
                <a:spcPts val="0"/>
              </a:spcBef>
              <a:spcAft>
                <a:spcPts val="0"/>
              </a:spcAft>
              <a:buNone/>
            </a:pPr>
            <a:r>
              <a:rPr lang="en-US" sz="1300" b="1" dirty="0">
                <a:solidFill>
                  <a:srgbClr val="0F172A"/>
                </a:solidFill>
                <a:latin typeface="Segoe UI"/>
                <a:ea typeface="Segoe UI"/>
                <a:cs typeface="Segoe UI"/>
              </a:rPr>
              <a:t>3 pts</a:t>
            </a:r>
            <a:endParaRPr lang="en-US" sz="1300" dirty="0"/>
          </a:p>
        </p:txBody>
      </p:sp>
      <p:sp>
        <p:nvSpPr>
          <p:cNvPr id="103" name="s103"/>
          <p:cNvSpPr txBox="1"/>
          <p:nvPr/>
        </p:nvSpPr>
        <p:spPr>
          <a:xfrm>
            <a:off x="543154" y="2907792"/>
            <a:ext cx="3657600" cy="7315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Register a new patient</a:t>
            </a:r>
            <a:endParaRPr lang="en-US" sz="1400" dirty="0"/>
          </a:p>
          <a:p>
            <a:pPr marL="0" indent="0" algn="l">
              <a:spcBef>
                <a:spcPts val="0"/>
              </a:spcBef>
              <a:spcAft>
                <a:spcPts val="0"/>
              </a:spcAft>
              <a:buNone/>
            </a:pPr>
            <a:r>
              <a:rPr lang="en-US" sz="1150" b="0" dirty="0">
                <a:solidFill>
                  <a:srgbClr val="94A3B8"/>
                </a:solidFill>
                <a:latin typeface="Segoe UI"/>
                <a:ea typeface="Segoe UI"/>
                <a:cs typeface="Segoe UI"/>
              </a:rPr>
              <a:t>Similar + validation</a:t>
            </a:r>
            <a:endParaRPr lang="en-US" sz="1150" dirty="0"/>
          </a:p>
        </p:txBody>
      </p:sp>
      <p:sp>
        <p:nvSpPr>
          <p:cNvPr id="104" name="s104"/>
          <p:cNvSpPr/>
          <p:nvPr/>
        </p:nvSpPr>
        <p:spPr>
          <a:xfrm>
            <a:off x="4383634" y="3044952"/>
            <a:ext cx="2377440" cy="457200"/>
          </a:xfrm>
          <a:prstGeom prst="roundRect">
            <a:avLst>
              <a:gd name="adj" fmla="val 30000"/>
            </a:avLst>
          </a:prstGeom>
          <a:solidFill>
            <a:srgbClr val="60A5FA">
              <a:alpha val="60000"/>
            </a:srgbClr>
          </a:solidFill>
          <a:ln w="12700">
            <a:solidFill>
              <a:srgbClr val="60A5FA"/>
            </a:solidFill>
            <a:prstDash val="solid"/>
          </a:ln>
        </p:spPr>
        <p:txBody>
          <a:bodyPr wrap="square" lIns="164592" tIns="0" rIns="9144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5 pts</a:t>
            </a:r>
            <a:endParaRPr lang="en-US" sz="1300" dirty="0"/>
          </a:p>
        </p:txBody>
      </p:sp>
      <p:sp>
        <p:nvSpPr>
          <p:cNvPr id="105" name="s105"/>
          <p:cNvSpPr txBox="1"/>
          <p:nvPr/>
        </p:nvSpPr>
        <p:spPr>
          <a:xfrm>
            <a:off x="543154" y="3803904"/>
            <a:ext cx="3657600" cy="7315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Book an available appointment</a:t>
            </a:r>
            <a:endParaRPr lang="en-US" sz="1400" dirty="0"/>
          </a:p>
          <a:p>
            <a:pPr marL="0" indent="0" algn="l">
              <a:spcBef>
                <a:spcPts val="0"/>
              </a:spcBef>
              <a:spcAft>
                <a:spcPts val="0"/>
              </a:spcAft>
              <a:buNone/>
            </a:pPr>
            <a:r>
              <a:rPr lang="en-US" sz="1150" b="0" dirty="0">
                <a:solidFill>
                  <a:srgbClr val="94A3B8"/>
                </a:solidFill>
                <a:latin typeface="Segoe UI"/>
                <a:ea typeface="Segoe UI"/>
                <a:cs typeface="Segoe UI"/>
              </a:rPr>
              <a:t>Rules, conflicts, UI, API, tests</a:t>
            </a:r>
            <a:endParaRPr lang="en-US" sz="1150" dirty="0"/>
          </a:p>
        </p:txBody>
      </p:sp>
      <p:sp>
        <p:nvSpPr>
          <p:cNvPr id="106" name="s106"/>
          <p:cNvSpPr/>
          <p:nvPr/>
        </p:nvSpPr>
        <p:spPr>
          <a:xfrm>
            <a:off x="4383634" y="3941064"/>
            <a:ext cx="3803904" cy="457200"/>
          </a:xfrm>
          <a:prstGeom prst="roundRect">
            <a:avLst>
              <a:gd name="adj" fmla="val 30000"/>
            </a:avLst>
          </a:prstGeom>
          <a:solidFill>
            <a:srgbClr val="A78BFA">
              <a:alpha val="60000"/>
            </a:srgbClr>
          </a:solidFill>
          <a:ln w="12700">
            <a:solidFill>
              <a:srgbClr val="A78BFA"/>
            </a:solidFill>
            <a:prstDash val="solid"/>
          </a:ln>
        </p:spPr>
        <p:txBody>
          <a:bodyPr wrap="square" lIns="164592" tIns="0" rIns="9144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8 pts</a:t>
            </a:r>
            <a:endParaRPr lang="en-US" sz="1300" dirty="0"/>
          </a:p>
        </p:txBody>
      </p:sp>
      <p:sp>
        <p:nvSpPr>
          <p:cNvPr id="107" name="s107"/>
          <p:cNvSpPr txBox="1"/>
          <p:nvPr/>
        </p:nvSpPr>
        <p:spPr>
          <a:xfrm>
            <a:off x="543154" y="4700016"/>
            <a:ext cx="3657600" cy="7315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1" dirty="0">
                <a:solidFill>
                  <a:srgbClr val="FFFFFF"/>
                </a:solidFill>
                <a:latin typeface="Segoe UI"/>
                <a:ea typeface="Segoe UI"/>
                <a:cs typeface="Segoe UI"/>
              </a:rPr>
              <a:t>Integrate external insurance</a:t>
            </a:r>
            <a:endParaRPr lang="en-US" sz="1400" dirty="0"/>
          </a:p>
          <a:p>
            <a:pPr marL="0" indent="0" algn="l">
              <a:spcBef>
                <a:spcPts val="0"/>
              </a:spcBef>
              <a:spcAft>
                <a:spcPts val="0"/>
              </a:spcAft>
              <a:buNone/>
            </a:pPr>
            <a:r>
              <a:rPr lang="en-US" sz="1150" b="0" dirty="0">
                <a:solidFill>
                  <a:srgbClr val="94A3B8"/>
                </a:solidFill>
                <a:latin typeface="Segoe UI"/>
                <a:ea typeface="Segoe UI"/>
                <a:cs typeface="Segoe UI"/>
              </a:rPr>
              <a:t>High uncertainty + dependency</a:t>
            </a:r>
            <a:endParaRPr lang="en-US" sz="1150" dirty="0"/>
          </a:p>
        </p:txBody>
      </p:sp>
      <p:sp>
        <p:nvSpPr>
          <p:cNvPr id="108" name="s108"/>
          <p:cNvSpPr/>
          <p:nvPr/>
        </p:nvSpPr>
        <p:spPr>
          <a:xfrm>
            <a:off x="4383634" y="4837176"/>
            <a:ext cx="6181344" cy="457200"/>
          </a:xfrm>
          <a:prstGeom prst="roundRect">
            <a:avLst>
              <a:gd name="adj" fmla="val 30000"/>
            </a:avLst>
          </a:prstGeom>
          <a:solidFill>
            <a:srgbClr val="F472B6">
              <a:alpha val="60000"/>
            </a:srgbClr>
          </a:solidFill>
          <a:ln w="12700">
            <a:solidFill>
              <a:srgbClr val="F472B6"/>
            </a:solidFill>
            <a:prstDash val="solid"/>
          </a:ln>
        </p:spPr>
        <p:txBody>
          <a:bodyPr wrap="square" lIns="164592" tIns="0" rIns="9144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13 pts</a:t>
            </a:r>
            <a:endParaRPr lang="en-US" sz="1300" dirty="0"/>
          </a:p>
        </p:txBody>
      </p:sp>
      <p:sp>
        <p:nvSpPr>
          <p:cNvPr id="109" name="s109"/>
          <p:cNvSpPr/>
          <p:nvPr/>
        </p:nvSpPr>
        <p:spPr>
          <a:xfrm>
            <a:off x="5947258" y="2176272"/>
            <a:ext cx="1737360" cy="310896"/>
          </a:xfrm>
          <a:prstGeom prst="roundRect">
            <a:avLst>
              <a:gd name="adj" fmla="val 50000"/>
            </a:avLst>
          </a:prstGeom>
          <a:solidFill>
            <a:srgbClr val="13D0F7">
              <a:alpha val="18000"/>
            </a:srgbClr>
          </a:solidFill>
          <a:ln w="12700">
            <a:solidFill>
              <a:srgbClr val="13D0F7"/>
            </a:solidFill>
            <a:prstDash val="solid"/>
          </a:ln>
        </p:spPr>
        <p:txBody>
          <a:bodyPr wrap="square" lIns="36576" tIns="0" rIns="36576" bIns="0" rtlCol="0" anchor="ctr">
            <a:noAutofit/>
          </a:bodyPr>
          <a:lstStyle/>
          <a:p>
            <a:pPr marL="0" indent="0" algn="ctr">
              <a:spcBef>
                <a:spcPts val="0"/>
              </a:spcBef>
              <a:spcAft>
                <a:spcPts val="0"/>
              </a:spcAft>
              <a:buNone/>
            </a:pPr>
            <a:r>
              <a:rPr lang="en-US" sz="1050" b="1" dirty="0">
                <a:solidFill>
                  <a:srgbClr val="13D0F7"/>
                </a:solidFill>
                <a:latin typeface="Segoe UI"/>
                <a:ea typeface="Segoe UI"/>
                <a:cs typeface="Segoe UI"/>
              </a:rPr>
              <a:t>◆ anchor: 3 points</a:t>
            </a:r>
            <a:endParaRPr lang="en-US" sz="10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childTnLst>
                                </p:cTn>
                              </p:par>
                              <p:par>
                                <p:cTn id="8" presetID="22" presetClass="entr" presetSubtype="8" fill="hold" grpId="0" nodeType="withEffect">
                                  <p:stCondLst>
                                    <p:cond delay="200"/>
                                  </p:stCondLst>
                                  <p:childTnLst>
                                    <p:set>
                                      <p:cBhvr>
                                        <p:cTn id="9" dur="1" fill="hold">
                                          <p:stCondLst>
                                            <p:cond delay="0"/>
                                          </p:stCondLst>
                                        </p:cTn>
                                        <p:tgtEl>
                                          <p:spTgt spid="102"/>
                                        </p:tgtEl>
                                        <p:attrNameLst>
                                          <p:attrName>style.visibility</p:attrName>
                                        </p:attrNameLst>
                                      </p:cBhvr>
                                      <p:to>
                                        <p:strVal val="visible"/>
                                      </p:to>
                                    </p:set>
                                    <p:animEffect transition="in" filter="wipe(left)">
                                      <p:cBhvr>
                                        <p:cTn id="10" dur="500"/>
                                        <p:tgtEl>
                                          <p:spTgt spid="102"/>
                                        </p:tgtEl>
                                      </p:cBhvr>
                                    </p:animEffect>
                                  </p:childTnLst>
                                </p:cTn>
                              </p:par>
                              <p:par>
                                <p:cTn id="11" presetID="53" presetClass="entr" presetSubtype="16" fill="hold" grpId="0" nodeType="withEffect">
                                  <p:stCondLst>
                                    <p:cond delay="400"/>
                                  </p:stCondLst>
                                  <p:childTnLst>
                                    <p:set>
                                      <p:cBhvr>
                                        <p:cTn id="12" dur="1" fill="hold">
                                          <p:stCondLst>
                                            <p:cond delay="0"/>
                                          </p:stCondLst>
                                        </p:cTn>
                                        <p:tgtEl>
                                          <p:spTgt spid="109"/>
                                        </p:tgtEl>
                                        <p:attrNameLst>
                                          <p:attrName>style.visibility</p:attrName>
                                        </p:attrNameLst>
                                      </p:cBhvr>
                                      <p:to>
                                        <p:strVal val="visible"/>
                                      </p:to>
                                    </p:set>
                                    <p:anim calcmode="lin" valueType="num">
                                      <p:cBhvr additive="base">
                                        <p:cTn id="13" dur="50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14" dur="500" decel="100000" fill="hold"/>
                                        <p:tgtEl>
                                          <p:spTgt spid="109"/>
                                        </p:tgtEl>
                                        <p:attrNameLst>
                                          <p:attrName>ppt_h</p:attrName>
                                        </p:attrNameLst>
                                      </p:cBhvr>
                                      <p:tavLst>
                                        <p:tav tm="0">
                                          <p:val>
                                            <p:strVal val="#ppt_h*0.3"/>
                                          </p:val>
                                        </p:tav>
                                        <p:tav tm="100000">
                                          <p:val>
                                            <p:strVal val="#ppt_h*1.08"/>
                                          </p:val>
                                        </p:tav>
                                      </p:tavLst>
                                    </p:anim>
                                    <p:animEffect transition="in" filter="fade">
                                      <p:cBhvr>
                                        <p:cTn id="15" dur="250"/>
                                        <p:tgtEl>
                                          <p:spTgt spid="109"/>
                                        </p:tgtEl>
                                      </p:cBhvr>
                                    </p:animEffect>
                                    <p:anim calcmode="lin" valueType="num">
                                      <p:cBhvr additive="base">
                                        <p:cTn id="16" dur="160" fill="hold">
                                          <p:stCondLst>
                                            <p:cond delay="500"/>
                                          </p:stCondLst>
                                        </p:cTn>
                                        <p:tgtEl>
                                          <p:spTgt spid="109"/>
                                        </p:tgtEl>
                                        <p:attrNameLst>
                                          <p:attrName>ppt_w</p:attrName>
                                        </p:attrNameLst>
                                      </p:cBhvr>
                                      <p:tavLst>
                                        <p:tav tm="0">
                                          <p:val>
                                            <p:strVal val="#ppt_w*1.08"/>
                                          </p:val>
                                        </p:tav>
                                        <p:tav tm="100000">
                                          <p:val>
                                            <p:strVal val="#ppt_w"/>
                                          </p:val>
                                        </p:tav>
                                      </p:tavLst>
                                    </p:anim>
                                    <p:anim calcmode="lin" valueType="num">
                                      <p:cBhvr additive="base">
                                        <p:cTn id="17" dur="160" fill="hold">
                                          <p:stCondLst>
                                            <p:cond delay="500"/>
                                          </p:stCondLst>
                                        </p:cTn>
                                        <p:tgtEl>
                                          <p:spTgt spid="109"/>
                                        </p:tgtEl>
                                        <p:attrNameLst>
                                          <p:attrName>ppt_h</p:attrName>
                                        </p:attrNameLst>
                                      </p:cBhvr>
                                      <p:tavLst>
                                        <p:tav tm="0">
                                          <p:val>
                                            <p:strVal val="#ppt_h*1.08"/>
                                          </p:val>
                                        </p:tav>
                                        <p:tav tm="100000">
                                          <p:val>
                                            <p:strVal val="#ppt_h"/>
                                          </p:val>
                                        </p:tav>
                                      </p:tavLst>
                                    </p:anim>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3"/>
                                        </p:tgtEl>
                                        <p:attrNameLst>
                                          <p:attrName>style.visibility</p:attrName>
                                        </p:attrNameLst>
                                      </p:cBhvr>
                                      <p:to>
                                        <p:strVal val="visible"/>
                                      </p:to>
                                    </p:set>
                                    <p:animEffect transition="in" filter="fade">
                                      <p:cBhvr>
                                        <p:cTn id="22" dur="700"/>
                                        <p:tgtEl>
                                          <p:spTgt spid="103"/>
                                        </p:tgtEl>
                                      </p:cBhvr>
                                    </p:animEffect>
                                  </p:childTnLst>
                                </p:cTn>
                              </p:par>
                              <p:par>
                                <p:cTn id="23" presetID="22" presetClass="entr" presetSubtype="8" fill="hold" grpId="0" nodeType="withEffect">
                                  <p:stCondLst>
                                    <p:cond delay="150"/>
                                  </p:stCondLst>
                                  <p:childTnLst>
                                    <p:set>
                                      <p:cBhvr>
                                        <p:cTn id="24" dur="1" fill="hold">
                                          <p:stCondLst>
                                            <p:cond delay="0"/>
                                          </p:stCondLst>
                                        </p:cTn>
                                        <p:tgtEl>
                                          <p:spTgt spid="104"/>
                                        </p:tgtEl>
                                        <p:attrNameLst>
                                          <p:attrName>style.visibility</p:attrName>
                                        </p:attrNameLst>
                                      </p:cBhvr>
                                      <p:to>
                                        <p:strVal val="visible"/>
                                      </p:to>
                                    </p:set>
                                    <p:animEffect transition="in" filter="wipe(left)">
                                      <p:cBhvr>
                                        <p:cTn id="25" dur="700"/>
                                        <p:tgtEl>
                                          <p:spTgt spid="10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5"/>
                                        </p:tgtEl>
                                        <p:attrNameLst>
                                          <p:attrName>style.visibility</p:attrName>
                                        </p:attrNameLst>
                                      </p:cBhvr>
                                      <p:to>
                                        <p:strVal val="visible"/>
                                      </p:to>
                                    </p:set>
                                    <p:animEffect transition="in" filter="fade">
                                      <p:cBhvr>
                                        <p:cTn id="30" dur="700"/>
                                        <p:tgtEl>
                                          <p:spTgt spid="105"/>
                                        </p:tgtEl>
                                      </p:cBhvr>
                                    </p:animEffect>
                                  </p:childTnLst>
                                </p:cTn>
                              </p:par>
                              <p:par>
                                <p:cTn id="31" presetID="22" presetClass="entr" presetSubtype="8" fill="hold" grpId="0" nodeType="withEffect">
                                  <p:stCondLst>
                                    <p:cond delay="150"/>
                                  </p:stCondLst>
                                  <p:childTnLst>
                                    <p:set>
                                      <p:cBhvr>
                                        <p:cTn id="32" dur="1" fill="hold">
                                          <p:stCondLst>
                                            <p:cond delay="0"/>
                                          </p:stCondLst>
                                        </p:cTn>
                                        <p:tgtEl>
                                          <p:spTgt spid="106"/>
                                        </p:tgtEl>
                                        <p:attrNameLst>
                                          <p:attrName>style.visibility</p:attrName>
                                        </p:attrNameLst>
                                      </p:cBhvr>
                                      <p:to>
                                        <p:strVal val="visible"/>
                                      </p:to>
                                    </p:set>
                                    <p:animEffect transition="in" filter="wipe(left)">
                                      <p:cBhvr>
                                        <p:cTn id="33" dur="700"/>
                                        <p:tgtEl>
                                          <p:spTgt spid="106"/>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07"/>
                                        </p:tgtEl>
                                        <p:attrNameLst>
                                          <p:attrName>style.visibility</p:attrName>
                                        </p:attrNameLst>
                                      </p:cBhvr>
                                      <p:to>
                                        <p:strVal val="visible"/>
                                      </p:to>
                                    </p:set>
                                    <p:animEffect transition="in" filter="fade">
                                      <p:cBhvr>
                                        <p:cTn id="38" dur="700"/>
                                        <p:tgtEl>
                                          <p:spTgt spid="107"/>
                                        </p:tgtEl>
                                      </p:cBhvr>
                                    </p:animEffect>
                                  </p:childTnLst>
                                </p:cTn>
                              </p:par>
                              <p:par>
                                <p:cTn id="39" presetID="22" presetClass="entr" presetSubtype="8" fill="hold" grpId="0" nodeType="withEffect">
                                  <p:stCondLst>
                                    <p:cond delay="150"/>
                                  </p:stCondLst>
                                  <p:childTnLst>
                                    <p:set>
                                      <p:cBhvr>
                                        <p:cTn id="40" dur="1" fill="hold">
                                          <p:stCondLst>
                                            <p:cond delay="0"/>
                                          </p:stCondLst>
                                        </p:cTn>
                                        <p:tgtEl>
                                          <p:spTgt spid="108"/>
                                        </p:tgtEl>
                                        <p:attrNameLst>
                                          <p:attrName>style.visibility</p:attrName>
                                        </p:attrNameLst>
                                      </p:cBhvr>
                                      <p:to>
                                        <p:strVal val="visible"/>
                                      </p:to>
                                    </p:set>
                                    <p:animEffect transition="in" filter="wipe(left)">
                                      <p:cBhvr>
                                        <p:cTn id="41" dur="7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SCALE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Why Use the Fibonacci Sequence?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Larger work → less accuracy → wider gaps. Scrum does not require Fibonacci.</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254</a:t>
            </a:r>
            <a:endParaRPr lang="en-US" sz="850" dirty="0"/>
          </a:p>
        </p:txBody>
      </p:sp>
      <p:sp>
        <p:nvSpPr>
          <p:cNvPr id="101" name="s101"/>
          <p:cNvSpPr/>
          <p:nvPr/>
        </p:nvSpPr>
        <p:spPr>
          <a:xfrm>
            <a:off x="543154" y="2011680"/>
            <a:ext cx="891623" cy="1417320"/>
          </a:xfrm>
          <a:prstGeom prst="roundRect">
            <a:avLst>
              <a:gd name="adj" fmla="val 12000"/>
            </a:avLst>
          </a:prstGeom>
          <a:solidFill>
            <a:srgbClr val="111B2E"/>
          </a:solidFill>
          <a:ln w="19050">
            <a:solidFill>
              <a:srgbClr val="94A3B8"/>
            </a:solidFill>
            <a:prstDash val="solid"/>
          </a:ln>
          <a:effectLst>
            <a:outerShdw blurRad="190500" dist="38100" dir="5400000" algn="t" rotWithShape="0">
              <a:srgbClr val="000000">
                <a:alpha val="45000"/>
              </a:srgbClr>
            </a:outerShdw>
          </a:effectLst>
        </p:spPr>
        <p:txBody>
          <a:bodyPr wrap="square" lIns="0" tIns="0" rIns="0" bIns="0" rtlCol="0" anchor="ctr">
            <a:noAutofit/>
          </a:bodyPr>
          <a:lstStyle/>
          <a:p>
            <a:pPr marL="0" indent="0" algn="ctr">
              <a:spcBef>
                <a:spcPts val="0"/>
              </a:spcBef>
              <a:spcAft>
                <a:spcPts val="0"/>
              </a:spcAft>
              <a:buNone/>
            </a:pPr>
            <a:r>
              <a:rPr lang="en-US" sz="2600" b="1" dirty="0">
                <a:solidFill>
                  <a:srgbClr val="94A3B8"/>
                </a:solidFill>
                <a:latin typeface="Segoe UI"/>
                <a:ea typeface="Segoe UI"/>
                <a:cs typeface="Segoe UI"/>
              </a:rPr>
              <a:t>0</a:t>
            </a:r>
            <a:endParaRPr lang="en-US" sz="2600" dirty="0"/>
          </a:p>
        </p:txBody>
      </p:sp>
      <p:sp>
        <p:nvSpPr>
          <p:cNvPr id="102" name="s102"/>
          <p:cNvSpPr/>
          <p:nvPr/>
        </p:nvSpPr>
        <p:spPr>
          <a:xfrm>
            <a:off x="1562793" y="2011680"/>
            <a:ext cx="891623" cy="1417320"/>
          </a:xfrm>
          <a:prstGeom prst="roundRect">
            <a:avLst>
              <a:gd name="adj" fmla="val 12000"/>
            </a:avLst>
          </a:prstGeom>
          <a:solidFill>
            <a:srgbClr val="111B2E"/>
          </a:solidFill>
          <a:ln w="19050">
            <a:solidFill>
              <a:srgbClr val="94A3B8"/>
            </a:solidFill>
            <a:prstDash val="solid"/>
          </a:ln>
          <a:effectLst>
            <a:outerShdw blurRad="190500" dist="38100" dir="5400000" algn="t" rotWithShape="0">
              <a:srgbClr val="000000">
                <a:alpha val="45000"/>
              </a:srgbClr>
            </a:outerShdw>
          </a:effectLst>
        </p:spPr>
        <p:txBody>
          <a:bodyPr wrap="square" lIns="0" tIns="0" rIns="0" bIns="0" rtlCol="0" anchor="ctr">
            <a:noAutofit/>
          </a:bodyPr>
          <a:lstStyle/>
          <a:p>
            <a:pPr marL="0" indent="0" algn="ctr">
              <a:spcBef>
                <a:spcPts val="0"/>
              </a:spcBef>
              <a:spcAft>
                <a:spcPts val="0"/>
              </a:spcAft>
              <a:buNone/>
            </a:pPr>
            <a:r>
              <a:rPr lang="en-US" sz="2600" b="1" dirty="0">
                <a:solidFill>
                  <a:srgbClr val="94A3B8"/>
                </a:solidFill>
                <a:latin typeface="Segoe UI"/>
                <a:ea typeface="Segoe UI"/>
                <a:cs typeface="Segoe UI"/>
              </a:rPr>
              <a:t>½</a:t>
            </a:r>
            <a:endParaRPr lang="en-US" sz="2600" dirty="0"/>
          </a:p>
        </p:txBody>
      </p:sp>
      <p:sp>
        <p:nvSpPr>
          <p:cNvPr id="103" name="s103"/>
          <p:cNvSpPr/>
          <p:nvPr/>
        </p:nvSpPr>
        <p:spPr>
          <a:xfrm>
            <a:off x="2582432" y="2011680"/>
            <a:ext cx="891623" cy="1417320"/>
          </a:xfrm>
          <a:prstGeom prst="roundRect">
            <a:avLst>
              <a:gd name="adj" fmla="val 12000"/>
            </a:avLst>
          </a:prstGeom>
          <a:solidFill>
            <a:srgbClr val="111B2E"/>
          </a:solidFill>
          <a:ln w="19050">
            <a:solidFill>
              <a:srgbClr val="A78BFA"/>
            </a:solidFill>
            <a:prstDash val="solid"/>
          </a:ln>
          <a:effectLst>
            <a:outerShdw blurRad="190500" dist="38100" dir="5400000" algn="t" rotWithShape="0">
              <a:srgbClr val="000000">
                <a:alpha val="45000"/>
              </a:srgbClr>
            </a:outerShdw>
          </a:effectLst>
        </p:spPr>
        <p:txBody>
          <a:bodyPr wrap="square" lIns="0" tIns="0" rIns="0" bIns="0" rtlCol="0" anchor="ctr">
            <a:noAutofit/>
          </a:bodyPr>
          <a:lstStyle/>
          <a:p>
            <a:pPr marL="0" indent="0" algn="ctr">
              <a:spcBef>
                <a:spcPts val="0"/>
              </a:spcBef>
              <a:spcAft>
                <a:spcPts val="0"/>
              </a:spcAft>
              <a:buNone/>
            </a:pPr>
            <a:r>
              <a:rPr lang="en-US" sz="2600" b="1" dirty="0">
                <a:solidFill>
                  <a:srgbClr val="FFFFFF"/>
                </a:solidFill>
                <a:latin typeface="Segoe UI"/>
                <a:ea typeface="Segoe UI"/>
                <a:cs typeface="Segoe UI"/>
              </a:rPr>
              <a:t>1</a:t>
            </a:r>
            <a:endParaRPr lang="en-US" sz="2600" dirty="0"/>
          </a:p>
        </p:txBody>
      </p:sp>
      <p:sp>
        <p:nvSpPr>
          <p:cNvPr id="104" name="s104"/>
          <p:cNvSpPr/>
          <p:nvPr/>
        </p:nvSpPr>
        <p:spPr>
          <a:xfrm>
            <a:off x="3602071" y="2011680"/>
            <a:ext cx="891623" cy="1417320"/>
          </a:xfrm>
          <a:prstGeom prst="roundRect">
            <a:avLst>
              <a:gd name="adj" fmla="val 12000"/>
            </a:avLst>
          </a:prstGeom>
          <a:solidFill>
            <a:srgbClr val="111B2E"/>
          </a:solidFill>
          <a:ln w="19050">
            <a:solidFill>
              <a:srgbClr val="A78BFA"/>
            </a:solidFill>
            <a:prstDash val="solid"/>
          </a:ln>
          <a:effectLst>
            <a:outerShdw blurRad="190500" dist="38100" dir="5400000" algn="t" rotWithShape="0">
              <a:srgbClr val="000000">
                <a:alpha val="45000"/>
              </a:srgbClr>
            </a:outerShdw>
          </a:effectLst>
        </p:spPr>
        <p:txBody>
          <a:bodyPr wrap="square" lIns="0" tIns="0" rIns="0" bIns="0" rtlCol="0" anchor="ctr">
            <a:noAutofit/>
          </a:bodyPr>
          <a:lstStyle/>
          <a:p>
            <a:pPr marL="0" indent="0" algn="ctr">
              <a:spcBef>
                <a:spcPts val="0"/>
              </a:spcBef>
              <a:spcAft>
                <a:spcPts val="0"/>
              </a:spcAft>
              <a:buNone/>
            </a:pPr>
            <a:r>
              <a:rPr lang="en-US" sz="2600" b="1" dirty="0">
                <a:solidFill>
                  <a:srgbClr val="FFFFFF"/>
                </a:solidFill>
                <a:latin typeface="Segoe UI"/>
                <a:ea typeface="Segoe UI"/>
                <a:cs typeface="Segoe UI"/>
              </a:rPr>
              <a:t>2</a:t>
            </a:r>
            <a:endParaRPr lang="en-US" sz="2600" dirty="0"/>
          </a:p>
        </p:txBody>
      </p:sp>
      <p:sp>
        <p:nvSpPr>
          <p:cNvPr id="105" name="s105"/>
          <p:cNvSpPr/>
          <p:nvPr/>
        </p:nvSpPr>
        <p:spPr>
          <a:xfrm>
            <a:off x="4621710" y="2011680"/>
            <a:ext cx="891623" cy="1417320"/>
          </a:xfrm>
          <a:prstGeom prst="roundRect">
            <a:avLst>
              <a:gd name="adj" fmla="val 12000"/>
            </a:avLst>
          </a:prstGeom>
          <a:solidFill>
            <a:srgbClr val="111B2E"/>
          </a:solidFill>
          <a:ln w="19050">
            <a:solidFill>
              <a:srgbClr val="A78BFA"/>
            </a:solidFill>
            <a:prstDash val="solid"/>
          </a:ln>
          <a:effectLst>
            <a:outerShdw blurRad="190500" dist="38100" dir="5400000" algn="t" rotWithShape="0">
              <a:srgbClr val="000000">
                <a:alpha val="45000"/>
              </a:srgbClr>
            </a:outerShdw>
          </a:effectLst>
        </p:spPr>
        <p:txBody>
          <a:bodyPr wrap="square" lIns="0" tIns="0" rIns="0" bIns="0" rtlCol="0" anchor="ctr">
            <a:noAutofit/>
          </a:bodyPr>
          <a:lstStyle/>
          <a:p>
            <a:pPr marL="0" indent="0" algn="ctr">
              <a:spcBef>
                <a:spcPts val="0"/>
              </a:spcBef>
              <a:spcAft>
                <a:spcPts val="0"/>
              </a:spcAft>
              <a:buNone/>
            </a:pPr>
            <a:r>
              <a:rPr lang="en-US" sz="2600" b="1" dirty="0">
                <a:solidFill>
                  <a:srgbClr val="FFFFFF"/>
                </a:solidFill>
                <a:latin typeface="Segoe UI"/>
                <a:ea typeface="Segoe UI"/>
                <a:cs typeface="Segoe UI"/>
              </a:rPr>
              <a:t>3</a:t>
            </a:r>
            <a:endParaRPr lang="en-US" sz="2600" dirty="0"/>
          </a:p>
        </p:txBody>
      </p:sp>
      <p:sp>
        <p:nvSpPr>
          <p:cNvPr id="106" name="s106"/>
          <p:cNvSpPr/>
          <p:nvPr/>
        </p:nvSpPr>
        <p:spPr>
          <a:xfrm>
            <a:off x="5641349" y="2011680"/>
            <a:ext cx="891623" cy="1417320"/>
          </a:xfrm>
          <a:prstGeom prst="roundRect">
            <a:avLst>
              <a:gd name="adj" fmla="val 12000"/>
            </a:avLst>
          </a:prstGeom>
          <a:solidFill>
            <a:srgbClr val="111B2E"/>
          </a:solidFill>
          <a:ln w="19050">
            <a:solidFill>
              <a:srgbClr val="A78BFA"/>
            </a:solidFill>
            <a:prstDash val="solid"/>
          </a:ln>
          <a:effectLst>
            <a:outerShdw blurRad="190500" dist="38100" dir="5400000" algn="t" rotWithShape="0">
              <a:srgbClr val="000000">
                <a:alpha val="45000"/>
              </a:srgbClr>
            </a:outerShdw>
          </a:effectLst>
        </p:spPr>
        <p:txBody>
          <a:bodyPr wrap="square" lIns="0" tIns="0" rIns="0" bIns="0" rtlCol="0" anchor="ctr">
            <a:noAutofit/>
          </a:bodyPr>
          <a:lstStyle/>
          <a:p>
            <a:pPr marL="0" indent="0" algn="ctr">
              <a:spcBef>
                <a:spcPts val="0"/>
              </a:spcBef>
              <a:spcAft>
                <a:spcPts val="0"/>
              </a:spcAft>
              <a:buNone/>
            </a:pPr>
            <a:r>
              <a:rPr lang="en-US" sz="2600" b="1" dirty="0">
                <a:solidFill>
                  <a:srgbClr val="FFFFFF"/>
                </a:solidFill>
                <a:latin typeface="Segoe UI"/>
                <a:ea typeface="Segoe UI"/>
                <a:cs typeface="Segoe UI"/>
              </a:rPr>
              <a:t>5</a:t>
            </a:r>
            <a:endParaRPr lang="en-US" sz="2600" dirty="0"/>
          </a:p>
        </p:txBody>
      </p:sp>
      <p:sp>
        <p:nvSpPr>
          <p:cNvPr id="107" name="s107"/>
          <p:cNvSpPr/>
          <p:nvPr/>
        </p:nvSpPr>
        <p:spPr>
          <a:xfrm>
            <a:off x="6660988" y="2011680"/>
            <a:ext cx="891623" cy="1417320"/>
          </a:xfrm>
          <a:prstGeom prst="roundRect">
            <a:avLst>
              <a:gd name="adj" fmla="val 12000"/>
            </a:avLst>
          </a:prstGeom>
          <a:solidFill>
            <a:srgbClr val="111B2E"/>
          </a:solidFill>
          <a:ln w="19050">
            <a:solidFill>
              <a:srgbClr val="A78BFA"/>
            </a:solidFill>
            <a:prstDash val="solid"/>
          </a:ln>
          <a:effectLst>
            <a:outerShdw blurRad="190500" dist="38100" dir="5400000" algn="t" rotWithShape="0">
              <a:srgbClr val="000000">
                <a:alpha val="45000"/>
              </a:srgbClr>
            </a:outerShdw>
          </a:effectLst>
        </p:spPr>
        <p:txBody>
          <a:bodyPr wrap="square" lIns="0" tIns="0" rIns="0" bIns="0" rtlCol="0" anchor="ctr">
            <a:noAutofit/>
          </a:bodyPr>
          <a:lstStyle/>
          <a:p>
            <a:pPr marL="0" indent="0" algn="ctr">
              <a:spcBef>
                <a:spcPts val="0"/>
              </a:spcBef>
              <a:spcAft>
                <a:spcPts val="0"/>
              </a:spcAft>
              <a:buNone/>
            </a:pPr>
            <a:r>
              <a:rPr lang="en-US" sz="2600" b="1" dirty="0">
                <a:solidFill>
                  <a:srgbClr val="FFFFFF"/>
                </a:solidFill>
                <a:latin typeface="Segoe UI"/>
                <a:ea typeface="Segoe UI"/>
                <a:cs typeface="Segoe UI"/>
              </a:rPr>
              <a:t>8</a:t>
            </a:r>
            <a:endParaRPr lang="en-US" sz="2600" dirty="0"/>
          </a:p>
        </p:txBody>
      </p:sp>
      <p:sp>
        <p:nvSpPr>
          <p:cNvPr id="108" name="s108"/>
          <p:cNvSpPr/>
          <p:nvPr/>
        </p:nvSpPr>
        <p:spPr>
          <a:xfrm>
            <a:off x="7680627" y="2011680"/>
            <a:ext cx="891623" cy="1417320"/>
          </a:xfrm>
          <a:prstGeom prst="roundRect">
            <a:avLst>
              <a:gd name="adj" fmla="val 12000"/>
            </a:avLst>
          </a:prstGeom>
          <a:solidFill>
            <a:srgbClr val="111B2E"/>
          </a:solidFill>
          <a:ln w="19050">
            <a:solidFill>
              <a:srgbClr val="A78BFA"/>
            </a:solidFill>
            <a:prstDash val="solid"/>
          </a:ln>
          <a:effectLst>
            <a:outerShdw blurRad="190500" dist="38100" dir="5400000" algn="t" rotWithShape="0">
              <a:srgbClr val="000000">
                <a:alpha val="45000"/>
              </a:srgbClr>
            </a:outerShdw>
          </a:effectLst>
        </p:spPr>
        <p:txBody>
          <a:bodyPr wrap="square" lIns="0" tIns="0" rIns="0" bIns="0" rtlCol="0" anchor="ctr">
            <a:noAutofit/>
          </a:bodyPr>
          <a:lstStyle/>
          <a:p>
            <a:pPr marL="0" indent="0" algn="ctr">
              <a:spcBef>
                <a:spcPts val="0"/>
              </a:spcBef>
              <a:spcAft>
                <a:spcPts val="0"/>
              </a:spcAft>
              <a:buNone/>
            </a:pPr>
            <a:r>
              <a:rPr lang="en-US" sz="2600" b="1" dirty="0">
                <a:solidFill>
                  <a:srgbClr val="FFFFFF"/>
                </a:solidFill>
                <a:latin typeface="Segoe UI"/>
                <a:ea typeface="Segoe UI"/>
                <a:cs typeface="Segoe UI"/>
              </a:rPr>
              <a:t>13</a:t>
            </a:r>
            <a:endParaRPr lang="en-US" sz="2600" dirty="0"/>
          </a:p>
        </p:txBody>
      </p:sp>
      <p:sp>
        <p:nvSpPr>
          <p:cNvPr id="109" name="s109"/>
          <p:cNvSpPr/>
          <p:nvPr/>
        </p:nvSpPr>
        <p:spPr>
          <a:xfrm>
            <a:off x="8700267" y="2011680"/>
            <a:ext cx="891623" cy="1417320"/>
          </a:xfrm>
          <a:prstGeom prst="roundRect">
            <a:avLst>
              <a:gd name="adj" fmla="val 12000"/>
            </a:avLst>
          </a:prstGeom>
          <a:solidFill>
            <a:srgbClr val="111B2E"/>
          </a:solidFill>
          <a:ln w="19050">
            <a:solidFill>
              <a:srgbClr val="A78BFA"/>
            </a:solidFill>
            <a:prstDash val="solid"/>
          </a:ln>
          <a:effectLst>
            <a:outerShdw blurRad="190500" dist="38100" dir="5400000" algn="t" rotWithShape="0">
              <a:srgbClr val="000000">
                <a:alpha val="45000"/>
              </a:srgbClr>
            </a:outerShdw>
          </a:effectLst>
        </p:spPr>
        <p:txBody>
          <a:bodyPr wrap="square" lIns="0" tIns="0" rIns="0" bIns="0" rtlCol="0" anchor="ctr">
            <a:noAutofit/>
          </a:bodyPr>
          <a:lstStyle/>
          <a:p>
            <a:pPr marL="0" indent="0" algn="ctr">
              <a:spcBef>
                <a:spcPts val="0"/>
              </a:spcBef>
              <a:spcAft>
                <a:spcPts val="0"/>
              </a:spcAft>
              <a:buNone/>
            </a:pPr>
            <a:r>
              <a:rPr lang="en-US" sz="2600" b="1" dirty="0">
                <a:solidFill>
                  <a:srgbClr val="FFFFFF"/>
                </a:solidFill>
                <a:latin typeface="Segoe UI"/>
                <a:ea typeface="Segoe UI"/>
                <a:cs typeface="Segoe UI"/>
              </a:rPr>
              <a:t>21</a:t>
            </a:r>
            <a:endParaRPr lang="en-US" sz="2600" dirty="0"/>
          </a:p>
        </p:txBody>
      </p:sp>
      <p:sp>
        <p:nvSpPr>
          <p:cNvPr id="110" name="s110"/>
          <p:cNvSpPr/>
          <p:nvPr/>
        </p:nvSpPr>
        <p:spPr>
          <a:xfrm>
            <a:off x="9719906" y="2011680"/>
            <a:ext cx="891623" cy="1417320"/>
          </a:xfrm>
          <a:prstGeom prst="roundRect">
            <a:avLst>
              <a:gd name="adj" fmla="val 12000"/>
            </a:avLst>
          </a:prstGeom>
          <a:solidFill>
            <a:srgbClr val="111B2E"/>
          </a:solidFill>
          <a:ln w="19050">
            <a:solidFill>
              <a:srgbClr val="94A3B8"/>
            </a:solidFill>
            <a:prstDash val="solid"/>
          </a:ln>
          <a:effectLst>
            <a:outerShdw blurRad="190500" dist="38100" dir="5400000" algn="t" rotWithShape="0">
              <a:srgbClr val="000000">
                <a:alpha val="45000"/>
              </a:srgbClr>
            </a:outerShdw>
          </a:effectLst>
        </p:spPr>
        <p:txBody>
          <a:bodyPr wrap="square" lIns="0" tIns="0" rIns="0" bIns="0" rtlCol="0" anchor="ctr">
            <a:noAutofit/>
          </a:bodyPr>
          <a:lstStyle/>
          <a:p>
            <a:pPr marL="0" indent="0" algn="ctr">
              <a:spcBef>
                <a:spcPts val="0"/>
              </a:spcBef>
              <a:spcAft>
                <a:spcPts val="0"/>
              </a:spcAft>
              <a:buNone/>
            </a:pPr>
            <a:r>
              <a:rPr lang="en-US" sz="2600" b="1" dirty="0">
                <a:solidFill>
                  <a:srgbClr val="94A3B8"/>
                </a:solidFill>
                <a:latin typeface="Segoe UI"/>
                <a:ea typeface="Segoe UI"/>
                <a:cs typeface="Segoe UI"/>
              </a:rPr>
              <a:t>?</a:t>
            </a:r>
            <a:endParaRPr lang="en-US" sz="2600" dirty="0"/>
          </a:p>
        </p:txBody>
      </p:sp>
      <p:sp>
        <p:nvSpPr>
          <p:cNvPr id="111" name="s111"/>
          <p:cNvSpPr/>
          <p:nvPr/>
        </p:nvSpPr>
        <p:spPr>
          <a:xfrm>
            <a:off x="10739545" y="2011680"/>
            <a:ext cx="891623" cy="1417320"/>
          </a:xfrm>
          <a:prstGeom prst="roundRect">
            <a:avLst>
              <a:gd name="adj" fmla="val 12000"/>
            </a:avLst>
          </a:prstGeom>
          <a:solidFill>
            <a:srgbClr val="111B2E"/>
          </a:solidFill>
          <a:ln w="19050">
            <a:solidFill>
              <a:srgbClr val="94A3B8"/>
            </a:solidFill>
            <a:prstDash val="solid"/>
          </a:ln>
          <a:effectLst>
            <a:outerShdw blurRad="190500" dist="38100" dir="5400000" algn="t" rotWithShape="0">
              <a:srgbClr val="000000">
                <a:alpha val="45000"/>
              </a:srgbClr>
            </a:outerShdw>
          </a:effectLst>
        </p:spPr>
        <p:txBody>
          <a:bodyPr wrap="square" lIns="0" tIns="0" rIns="0" bIns="0" rtlCol="0" anchor="ctr">
            <a:noAutofit/>
          </a:bodyPr>
          <a:lstStyle/>
          <a:p>
            <a:pPr marL="0" indent="0" algn="ctr">
              <a:spcBef>
                <a:spcPts val="0"/>
              </a:spcBef>
              <a:spcAft>
                <a:spcPts val="0"/>
              </a:spcAft>
              <a:buNone/>
            </a:pPr>
            <a:r>
              <a:rPr lang="en-US" sz="2600" b="1" dirty="0">
                <a:solidFill>
                  <a:srgbClr val="94A3B8"/>
                </a:solidFill>
                <a:latin typeface="Segoe UI"/>
                <a:ea typeface="Segoe UI"/>
                <a:cs typeface="Segoe UI"/>
              </a:rPr>
              <a:t>∞</a:t>
            </a:r>
            <a:endParaRPr lang="en-US" sz="2600" dirty="0"/>
          </a:p>
        </p:txBody>
      </p:sp>
      <p:sp>
        <p:nvSpPr>
          <p:cNvPr id="112" name="s112"/>
          <p:cNvSpPr/>
          <p:nvPr/>
        </p:nvSpPr>
        <p:spPr>
          <a:xfrm>
            <a:off x="3028243" y="3703320"/>
            <a:ext cx="1019639" cy="150876"/>
          </a:xfrm>
          <a:prstGeom prst="rect">
            <a:avLst/>
          </a:prstGeom>
          <a:solidFill>
            <a:srgbClr val="A78BFA">
              <a:alpha val="45000"/>
            </a:srgbClr>
          </a:solidFill>
          <a:ln>
            <a:noFill/>
          </a:ln>
        </p:spPr>
        <p:txBody>
          <a:bodyPr wrap="square" lIns="164592" tIns="109728" rIns="137160" bIns="91440" rtlCol="0" anchor="t">
            <a:noAutofit/>
          </a:bodyPr>
          <a:lstStyle/>
          <a:p>
            <a:endParaRPr lang="en-US"/>
          </a:p>
        </p:txBody>
      </p:sp>
      <p:sp>
        <p:nvSpPr>
          <p:cNvPr id="113" name="s113"/>
          <p:cNvSpPr/>
          <p:nvPr/>
        </p:nvSpPr>
        <p:spPr>
          <a:xfrm>
            <a:off x="4047883" y="3703320"/>
            <a:ext cx="1019639" cy="150876"/>
          </a:xfrm>
          <a:prstGeom prst="rect">
            <a:avLst/>
          </a:prstGeom>
          <a:solidFill>
            <a:srgbClr val="A78BFA">
              <a:alpha val="45000"/>
            </a:srgbClr>
          </a:solidFill>
          <a:ln>
            <a:noFill/>
          </a:ln>
        </p:spPr>
        <p:txBody>
          <a:bodyPr wrap="square" lIns="164592" tIns="109728" rIns="137160" bIns="91440" rtlCol="0" anchor="t">
            <a:noAutofit/>
          </a:bodyPr>
          <a:lstStyle/>
          <a:p>
            <a:endParaRPr lang="en-US"/>
          </a:p>
        </p:txBody>
      </p:sp>
      <p:sp>
        <p:nvSpPr>
          <p:cNvPr id="114" name="s114"/>
          <p:cNvSpPr/>
          <p:nvPr/>
        </p:nvSpPr>
        <p:spPr>
          <a:xfrm>
            <a:off x="5067522" y="3703320"/>
            <a:ext cx="1019639" cy="192024"/>
          </a:xfrm>
          <a:prstGeom prst="rect">
            <a:avLst/>
          </a:prstGeom>
          <a:solidFill>
            <a:srgbClr val="A78BFA">
              <a:alpha val="45000"/>
            </a:srgbClr>
          </a:solidFill>
          <a:ln>
            <a:noFill/>
          </a:ln>
        </p:spPr>
        <p:txBody>
          <a:bodyPr wrap="square" lIns="164592" tIns="109728" rIns="137160" bIns="91440" rtlCol="0" anchor="t">
            <a:noAutofit/>
          </a:bodyPr>
          <a:lstStyle/>
          <a:p>
            <a:endParaRPr lang="en-US"/>
          </a:p>
        </p:txBody>
      </p:sp>
      <p:sp>
        <p:nvSpPr>
          <p:cNvPr id="115" name="s115"/>
          <p:cNvSpPr/>
          <p:nvPr/>
        </p:nvSpPr>
        <p:spPr>
          <a:xfrm>
            <a:off x="6087161" y="3703320"/>
            <a:ext cx="1019639" cy="233172"/>
          </a:xfrm>
          <a:prstGeom prst="rect">
            <a:avLst/>
          </a:prstGeom>
          <a:solidFill>
            <a:srgbClr val="A78BFA">
              <a:alpha val="45000"/>
            </a:srgbClr>
          </a:solidFill>
          <a:ln>
            <a:noFill/>
          </a:ln>
        </p:spPr>
        <p:txBody>
          <a:bodyPr wrap="square" lIns="164592" tIns="109728" rIns="137160" bIns="91440" rtlCol="0" anchor="t">
            <a:noAutofit/>
          </a:bodyPr>
          <a:lstStyle/>
          <a:p>
            <a:endParaRPr lang="en-US"/>
          </a:p>
        </p:txBody>
      </p:sp>
      <p:sp>
        <p:nvSpPr>
          <p:cNvPr id="116" name="s116"/>
          <p:cNvSpPr/>
          <p:nvPr/>
        </p:nvSpPr>
        <p:spPr>
          <a:xfrm>
            <a:off x="7106800" y="3703320"/>
            <a:ext cx="1019639" cy="315468"/>
          </a:xfrm>
          <a:prstGeom prst="rect">
            <a:avLst/>
          </a:prstGeom>
          <a:solidFill>
            <a:srgbClr val="A78BFA">
              <a:alpha val="45000"/>
            </a:srgbClr>
          </a:solidFill>
          <a:ln>
            <a:noFill/>
          </a:ln>
        </p:spPr>
        <p:txBody>
          <a:bodyPr wrap="square" lIns="164592" tIns="109728" rIns="137160" bIns="91440" rtlCol="0" anchor="t">
            <a:noAutofit/>
          </a:bodyPr>
          <a:lstStyle/>
          <a:p>
            <a:endParaRPr lang="en-US"/>
          </a:p>
        </p:txBody>
      </p:sp>
      <p:sp>
        <p:nvSpPr>
          <p:cNvPr id="117" name="s117"/>
          <p:cNvSpPr/>
          <p:nvPr/>
        </p:nvSpPr>
        <p:spPr>
          <a:xfrm>
            <a:off x="8126439" y="3703320"/>
            <a:ext cx="1019639" cy="438912"/>
          </a:xfrm>
          <a:prstGeom prst="rect">
            <a:avLst/>
          </a:prstGeom>
          <a:solidFill>
            <a:srgbClr val="A78BFA">
              <a:alpha val="45000"/>
            </a:srgbClr>
          </a:solidFill>
          <a:ln>
            <a:noFill/>
          </a:ln>
        </p:spPr>
        <p:txBody>
          <a:bodyPr wrap="square" lIns="164592" tIns="109728" rIns="137160" bIns="91440" rtlCol="0" anchor="t">
            <a:noAutofit/>
          </a:bodyPr>
          <a:lstStyle/>
          <a:p>
            <a:endParaRPr lang="en-US"/>
          </a:p>
        </p:txBody>
      </p:sp>
      <p:sp>
        <p:nvSpPr>
          <p:cNvPr id="118" name="s118"/>
          <p:cNvSpPr txBox="1"/>
          <p:nvPr/>
        </p:nvSpPr>
        <p:spPr>
          <a:xfrm>
            <a:off x="543154" y="3703320"/>
            <a:ext cx="2103120"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A78BFA"/>
                </a:solidFill>
                <a:latin typeface="Segoe UI"/>
                <a:ea typeface="Segoe UI"/>
                <a:cs typeface="Segoe UI"/>
              </a:rPr>
              <a:t>gap grows →</a:t>
            </a:r>
            <a:endParaRPr lang="en-US" sz="1100" dirty="0"/>
          </a:p>
        </p:txBody>
      </p:sp>
      <p:sp>
        <p:nvSpPr>
          <p:cNvPr id="119" name="s119"/>
          <p:cNvSpPr/>
          <p:nvPr/>
        </p:nvSpPr>
        <p:spPr>
          <a:xfrm>
            <a:off x="543154" y="4526280"/>
            <a:ext cx="11088014" cy="548640"/>
          </a:xfrm>
          <a:prstGeom prst="roundRect">
            <a:avLst>
              <a:gd name="adj" fmla="val 12000"/>
            </a:avLst>
          </a:prstGeom>
          <a:solidFill>
            <a:srgbClr val="111B2E"/>
          </a:solidFill>
          <a:ln w="12700">
            <a:solidFill>
              <a:srgbClr val="1E3A5F"/>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0</a:t>
            </a:r>
            <a:r>
              <a:rPr lang="en-US" sz="1300" b="0" dirty="0">
                <a:solidFill>
                  <a:srgbClr val="94A3B8"/>
                </a:solidFill>
                <a:latin typeface="Segoe UI"/>
                <a:ea typeface="Segoe UI"/>
                <a:cs typeface="Segoe UI"/>
              </a:rPr>
              <a:t> no effort   ·   </a:t>
            </a:r>
            <a:r>
              <a:rPr lang="en-US" sz="1300" b="1" dirty="0">
                <a:solidFill>
                  <a:srgbClr val="FFFFFF"/>
                </a:solidFill>
                <a:latin typeface="Segoe UI"/>
                <a:ea typeface="Segoe UI"/>
                <a:cs typeface="Segoe UI"/>
              </a:rPr>
              <a:t>½</a:t>
            </a:r>
            <a:r>
              <a:rPr lang="en-US" sz="1300" b="0" dirty="0">
                <a:solidFill>
                  <a:srgbClr val="94A3B8"/>
                </a:solidFill>
                <a:latin typeface="Segoe UI"/>
                <a:ea typeface="Segoe UI"/>
                <a:cs typeface="Segoe UI"/>
              </a:rPr>
              <a:t> tiny   ·   </a:t>
            </a:r>
            <a:r>
              <a:rPr lang="en-US" sz="1300" b="1" dirty="0">
                <a:solidFill>
                  <a:srgbClr val="FFFFFF"/>
                </a:solidFill>
                <a:latin typeface="Segoe UI"/>
                <a:ea typeface="Segoe UI"/>
                <a:cs typeface="Segoe UI"/>
              </a:rPr>
              <a:t>?</a:t>
            </a:r>
            <a:r>
              <a:rPr lang="en-US" sz="1300" b="0" dirty="0">
                <a:solidFill>
                  <a:srgbClr val="94A3B8"/>
                </a:solidFill>
                <a:latin typeface="Segoe UI"/>
                <a:ea typeface="Segoe UI"/>
                <a:cs typeface="Segoe UI"/>
              </a:rPr>
              <a:t> need info   ·   </a:t>
            </a:r>
            <a:r>
              <a:rPr lang="en-US" sz="1300" b="1" dirty="0">
                <a:solidFill>
                  <a:srgbClr val="FFFFFF"/>
                </a:solidFill>
                <a:latin typeface="Segoe UI"/>
                <a:ea typeface="Segoe UI"/>
                <a:cs typeface="Segoe UI"/>
              </a:rPr>
              <a:t>∞</a:t>
            </a:r>
            <a:r>
              <a:rPr lang="en-US" sz="1300" b="0" dirty="0">
                <a:solidFill>
                  <a:srgbClr val="94A3B8"/>
                </a:solidFill>
                <a:latin typeface="Segoe UI"/>
                <a:ea typeface="Segoe UI"/>
                <a:cs typeface="Segoe UI"/>
              </a:rPr>
              <a:t> too large: split or investigate</a:t>
            </a:r>
            <a:endParaRPr lang="en-US" sz="1300" dirty="0"/>
          </a:p>
        </p:txBody>
      </p:sp>
      <p:sp>
        <p:nvSpPr>
          <p:cNvPr id="120" name="s120"/>
          <p:cNvSpPr/>
          <p:nvPr/>
        </p:nvSpPr>
        <p:spPr>
          <a:xfrm>
            <a:off x="543154" y="5257800"/>
            <a:ext cx="11088014" cy="566928"/>
          </a:xfrm>
          <a:prstGeom prst="roundRect">
            <a:avLst>
              <a:gd name="adj" fmla="val 12000"/>
            </a:avLst>
          </a:prstGeom>
          <a:solidFill>
            <a:srgbClr val="111B2E"/>
          </a:solidFill>
          <a:ln w="12700">
            <a:solidFill>
              <a:srgbClr val="A78B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250" b="1" dirty="0">
                <a:solidFill>
                  <a:srgbClr val="A78BFA"/>
                </a:solidFill>
                <a:latin typeface="Segoe UI"/>
                <a:ea typeface="Segoe UI"/>
                <a:cs typeface="Segoe UI"/>
              </a:rPr>
              <a:t>1 vs 2 matters. 20 vs 21 is false precision.</a:t>
            </a:r>
            <a:r>
              <a:rPr lang="en-US" sz="1250" b="0" dirty="0">
                <a:solidFill>
                  <a:srgbClr val="E2E8F0"/>
                </a:solidFill>
                <a:latin typeface="Segoe UI"/>
                <a:ea typeface="Segoe UI"/>
                <a:cs typeface="Segoe UI"/>
              </a:rPr>
              <a:t>   Also fine: T-shirt sizes, powers of two, custom relative scales.</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4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4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00"/>
                                        <p:tgtEl>
                                          <p:spTgt spid="101"/>
                                        </p:tgtEl>
                                      </p:cBhvr>
                                    </p:animEffect>
                                    <p:anim calcmode="lin" valueType="num">
                                      <p:cBhvr additive="base">
                                        <p:cTn id="10" dur="160" fill="hold">
                                          <p:stCondLst>
                                            <p:cond delay="4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400"/>
                                          </p:stCondLst>
                                        </p:cTn>
                                        <p:tgtEl>
                                          <p:spTgt spid="101"/>
                                        </p:tgtEl>
                                        <p:attrNameLst>
                                          <p:attrName>ppt_h</p:attrName>
                                        </p:attrNameLst>
                                      </p:cBhvr>
                                      <p:tavLst>
                                        <p:tav tm="0">
                                          <p:val>
                                            <p:strVal val="#ppt_h*1.08"/>
                                          </p:val>
                                        </p:tav>
                                        <p:tav tm="100000">
                                          <p:val>
                                            <p:strVal val="#ppt_h"/>
                                          </p:val>
                                        </p:tav>
                                      </p:tavLst>
                                    </p:anim>
                                  </p:childTnLst>
                                </p:cTn>
                              </p:par>
                              <p:par>
                                <p:cTn id="12" presetID="53" presetClass="entr" presetSubtype="16" fill="hold" grpId="0" nodeType="withEffect">
                                  <p:stCondLst>
                                    <p:cond delay="80"/>
                                  </p:stCondLst>
                                  <p:childTnLst>
                                    <p:set>
                                      <p:cBhvr>
                                        <p:cTn id="13" dur="1" fill="hold">
                                          <p:stCondLst>
                                            <p:cond delay="0"/>
                                          </p:stCondLst>
                                        </p:cTn>
                                        <p:tgtEl>
                                          <p:spTgt spid="102"/>
                                        </p:tgtEl>
                                        <p:attrNameLst>
                                          <p:attrName>style.visibility</p:attrName>
                                        </p:attrNameLst>
                                      </p:cBhvr>
                                      <p:to>
                                        <p:strVal val="visible"/>
                                      </p:to>
                                    </p:set>
                                    <p:anim calcmode="lin" valueType="num">
                                      <p:cBhvr additive="base">
                                        <p:cTn id="14" dur="400" decel="100000" fill="hold"/>
                                        <p:tgtEl>
                                          <p:spTgt spid="102"/>
                                        </p:tgtEl>
                                        <p:attrNameLst>
                                          <p:attrName>ppt_w</p:attrName>
                                        </p:attrNameLst>
                                      </p:cBhvr>
                                      <p:tavLst>
                                        <p:tav tm="0">
                                          <p:val>
                                            <p:strVal val="#ppt_w*0.3"/>
                                          </p:val>
                                        </p:tav>
                                        <p:tav tm="100000">
                                          <p:val>
                                            <p:strVal val="#ppt_w*1.08"/>
                                          </p:val>
                                        </p:tav>
                                      </p:tavLst>
                                    </p:anim>
                                    <p:anim calcmode="lin" valueType="num">
                                      <p:cBhvr additive="base">
                                        <p:cTn id="15" dur="400" decel="100000" fill="hold"/>
                                        <p:tgtEl>
                                          <p:spTgt spid="102"/>
                                        </p:tgtEl>
                                        <p:attrNameLst>
                                          <p:attrName>ppt_h</p:attrName>
                                        </p:attrNameLst>
                                      </p:cBhvr>
                                      <p:tavLst>
                                        <p:tav tm="0">
                                          <p:val>
                                            <p:strVal val="#ppt_h*0.3"/>
                                          </p:val>
                                        </p:tav>
                                        <p:tav tm="100000">
                                          <p:val>
                                            <p:strVal val="#ppt_h*1.08"/>
                                          </p:val>
                                        </p:tav>
                                      </p:tavLst>
                                    </p:anim>
                                    <p:animEffect transition="in" filter="fade">
                                      <p:cBhvr>
                                        <p:cTn id="16" dur="200"/>
                                        <p:tgtEl>
                                          <p:spTgt spid="102"/>
                                        </p:tgtEl>
                                      </p:cBhvr>
                                    </p:animEffect>
                                    <p:anim calcmode="lin" valueType="num">
                                      <p:cBhvr additive="base">
                                        <p:cTn id="17" dur="160" fill="hold">
                                          <p:stCondLst>
                                            <p:cond delay="400"/>
                                          </p:stCondLst>
                                        </p:cTn>
                                        <p:tgtEl>
                                          <p:spTgt spid="102"/>
                                        </p:tgtEl>
                                        <p:attrNameLst>
                                          <p:attrName>ppt_w</p:attrName>
                                        </p:attrNameLst>
                                      </p:cBhvr>
                                      <p:tavLst>
                                        <p:tav tm="0">
                                          <p:val>
                                            <p:strVal val="#ppt_w*1.08"/>
                                          </p:val>
                                        </p:tav>
                                        <p:tav tm="100000">
                                          <p:val>
                                            <p:strVal val="#ppt_w"/>
                                          </p:val>
                                        </p:tav>
                                      </p:tavLst>
                                    </p:anim>
                                    <p:anim calcmode="lin" valueType="num">
                                      <p:cBhvr additive="base">
                                        <p:cTn id="18" dur="160" fill="hold">
                                          <p:stCondLst>
                                            <p:cond delay="400"/>
                                          </p:stCondLst>
                                        </p:cTn>
                                        <p:tgtEl>
                                          <p:spTgt spid="102"/>
                                        </p:tgtEl>
                                        <p:attrNameLst>
                                          <p:attrName>ppt_h</p:attrName>
                                        </p:attrNameLst>
                                      </p:cBhvr>
                                      <p:tavLst>
                                        <p:tav tm="0">
                                          <p:val>
                                            <p:strVal val="#ppt_h*1.08"/>
                                          </p:val>
                                        </p:tav>
                                        <p:tav tm="100000">
                                          <p:val>
                                            <p:strVal val="#ppt_h"/>
                                          </p:val>
                                        </p:tav>
                                      </p:tavLst>
                                    </p:anim>
                                  </p:childTnLst>
                                </p:cTn>
                              </p:par>
                              <p:par>
                                <p:cTn id="19" presetID="53" presetClass="entr" presetSubtype="16" fill="hold" grpId="0" nodeType="withEffect">
                                  <p:stCondLst>
                                    <p:cond delay="160"/>
                                  </p:stCondLst>
                                  <p:childTnLst>
                                    <p:set>
                                      <p:cBhvr>
                                        <p:cTn id="20" dur="1" fill="hold">
                                          <p:stCondLst>
                                            <p:cond delay="0"/>
                                          </p:stCondLst>
                                        </p:cTn>
                                        <p:tgtEl>
                                          <p:spTgt spid="103"/>
                                        </p:tgtEl>
                                        <p:attrNameLst>
                                          <p:attrName>style.visibility</p:attrName>
                                        </p:attrNameLst>
                                      </p:cBhvr>
                                      <p:to>
                                        <p:strVal val="visible"/>
                                      </p:to>
                                    </p:set>
                                    <p:anim calcmode="lin" valueType="num">
                                      <p:cBhvr additive="base">
                                        <p:cTn id="21" dur="400" decel="100000" fill="hold"/>
                                        <p:tgtEl>
                                          <p:spTgt spid="103"/>
                                        </p:tgtEl>
                                        <p:attrNameLst>
                                          <p:attrName>ppt_w</p:attrName>
                                        </p:attrNameLst>
                                      </p:cBhvr>
                                      <p:tavLst>
                                        <p:tav tm="0">
                                          <p:val>
                                            <p:strVal val="#ppt_w*0.3"/>
                                          </p:val>
                                        </p:tav>
                                        <p:tav tm="100000">
                                          <p:val>
                                            <p:strVal val="#ppt_w*1.08"/>
                                          </p:val>
                                        </p:tav>
                                      </p:tavLst>
                                    </p:anim>
                                    <p:anim calcmode="lin" valueType="num">
                                      <p:cBhvr additive="base">
                                        <p:cTn id="22" dur="400" decel="100000" fill="hold"/>
                                        <p:tgtEl>
                                          <p:spTgt spid="103"/>
                                        </p:tgtEl>
                                        <p:attrNameLst>
                                          <p:attrName>ppt_h</p:attrName>
                                        </p:attrNameLst>
                                      </p:cBhvr>
                                      <p:tavLst>
                                        <p:tav tm="0">
                                          <p:val>
                                            <p:strVal val="#ppt_h*0.3"/>
                                          </p:val>
                                        </p:tav>
                                        <p:tav tm="100000">
                                          <p:val>
                                            <p:strVal val="#ppt_h*1.08"/>
                                          </p:val>
                                        </p:tav>
                                      </p:tavLst>
                                    </p:anim>
                                    <p:animEffect transition="in" filter="fade">
                                      <p:cBhvr>
                                        <p:cTn id="23" dur="200"/>
                                        <p:tgtEl>
                                          <p:spTgt spid="103"/>
                                        </p:tgtEl>
                                      </p:cBhvr>
                                    </p:animEffect>
                                    <p:anim calcmode="lin" valueType="num">
                                      <p:cBhvr additive="base">
                                        <p:cTn id="24" dur="160" fill="hold">
                                          <p:stCondLst>
                                            <p:cond delay="400"/>
                                          </p:stCondLst>
                                        </p:cTn>
                                        <p:tgtEl>
                                          <p:spTgt spid="103"/>
                                        </p:tgtEl>
                                        <p:attrNameLst>
                                          <p:attrName>ppt_w</p:attrName>
                                        </p:attrNameLst>
                                      </p:cBhvr>
                                      <p:tavLst>
                                        <p:tav tm="0">
                                          <p:val>
                                            <p:strVal val="#ppt_w*1.08"/>
                                          </p:val>
                                        </p:tav>
                                        <p:tav tm="100000">
                                          <p:val>
                                            <p:strVal val="#ppt_w"/>
                                          </p:val>
                                        </p:tav>
                                      </p:tavLst>
                                    </p:anim>
                                    <p:anim calcmode="lin" valueType="num">
                                      <p:cBhvr additive="base">
                                        <p:cTn id="25" dur="160" fill="hold">
                                          <p:stCondLst>
                                            <p:cond delay="400"/>
                                          </p:stCondLst>
                                        </p:cTn>
                                        <p:tgtEl>
                                          <p:spTgt spid="103"/>
                                        </p:tgtEl>
                                        <p:attrNameLst>
                                          <p:attrName>ppt_h</p:attrName>
                                        </p:attrNameLst>
                                      </p:cBhvr>
                                      <p:tavLst>
                                        <p:tav tm="0">
                                          <p:val>
                                            <p:strVal val="#ppt_h*1.08"/>
                                          </p:val>
                                        </p:tav>
                                        <p:tav tm="100000">
                                          <p:val>
                                            <p:strVal val="#ppt_h"/>
                                          </p:val>
                                        </p:tav>
                                      </p:tavLst>
                                    </p:anim>
                                  </p:childTnLst>
                                </p:cTn>
                              </p:par>
                              <p:par>
                                <p:cTn id="26" presetID="53" presetClass="entr" presetSubtype="16" fill="hold" grpId="0" nodeType="withEffect">
                                  <p:stCondLst>
                                    <p:cond delay="240"/>
                                  </p:stCondLst>
                                  <p:childTnLst>
                                    <p:set>
                                      <p:cBhvr>
                                        <p:cTn id="27" dur="1" fill="hold">
                                          <p:stCondLst>
                                            <p:cond delay="0"/>
                                          </p:stCondLst>
                                        </p:cTn>
                                        <p:tgtEl>
                                          <p:spTgt spid="104"/>
                                        </p:tgtEl>
                                        <p:attrNameLst>
                                          <p:attrName>style.visibility</p:attrName>
                                        </p:attrNameLst>
                                      </p:cBhvr>
                                      <p:to>
                                        <p:strVal val="visible"/>
                                      </p:to>
                                    </p:set>
                                    <p:anim calcmode="lin" valueType="num">
                                      <p:cBhvr additive="base">
                                        <p:cTn id="28" dur="4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29" dur="400" decel="100000" fill="hold"/>
                                        <p:tgtEl>
                                          <p:spTgt spid="104"/>
                                        </p:tgtEl>
                                        <p:attrNameLst>
                                          <p:attrName>ppt_h</p:attrName>
                                        </p:attrNameLst>
                                      </p:cBhvr>
                                      <p:tavLst>
                                        <p:tav tm="0">
                                          <p:val>
                                            <p:strVal val="#ppt_h*0.3"/>
                                          </p:val>
                                        </p:tav>
                                        <p:tav tm="100000">
                                          <p:val>
                                            <p:strVal val="#ppt_h*1.08"/>
                                          </p:val>
                                        </p:tav>
                                      </p:tavLst>
                                    </p:anim>
                                    <p:animEffect transition="in" filter="fade">
                                      <p:cBhvr>
                                        <p:cTn id="30" dur="200"/>
                                        <p:tgtEl>
                                          <p:spTgt spid="104"/>
                                        </p:tgtEl>
                                      </p:cBhvr>
                                    </p:animEffect>
                                    <p:anim calcmode="lin" valueType="num">
                                      <p:cBhvr additive="base">
                                        <p:cTn id="31" dur="160" fill="hold">
                                          <p:stCondLst>
                                            <p:cond delay="400"/>
                                          </p:stCondLst>
                                        </p:cTn>
                                        <p:tgtEl>
                                          <p:spTgt spid="104"/>
                                        </p:tgtEl>
                                        <p:attrNameLst>
                                          <p:attrName>ppt_w</p:attrName>
                                        </p:attrNameLst>
                                      </p:cBhvr>
                                      <p:tavLst>
                                        <p:tav tm="0">
                                          <p:val>
                                            <p:strVal val="#ppt_w*1.08"/>
                                          </p:val>
                                        </p:tav>
                                        <p:tav tm="100000">
                                          <p:val>
                                            <p:strVal val="#ppt_w"/>
                                          </p:val>
                                        </p:tav>
                                      </p:tavLst>
                                    </p:anim>
                                    <p:anim calcmode="lin" valueType="num">
                                      <p:cBhvr additive="base">
                                        <p:cTn id="32" dur="160" fill="hold">
                                          <p:stCondLst>
                                            <p:cond delay="400"/>
                                          </p:stCondLst>
                                        </p:cTn>
                                        <p:tgtEl>
                                          <p:spTgt spid="104"/>
                                        </p:tgtEl>
                                        <p:attrNameLst>
                                          <p:attrName>ppt_h</p:attrName>
                                        </p:attrNameLst>
                                      </p:cBhvr>
                                      <p:tavLst>
                                        <p:tav tm="0">
                                          <p:val>
                                            <p:strVal val="#ppt_h*1.08"/>
                                          </p:val>
                                        </p:tav>
                                        <p:tav tm="100000">
                                          <p:val>
                                            <p:strVal val="#ppt_h"/>
                                          </p:val>
                                        </p:tav>
                                      </p:tavLst>
                                    </p:anim>
                                  </p:childTnLst>
                                </p:cTn>
                              </p:par>
                              <p:par>
                                <p:cTn id="33" presetID="53" presetClass="entr" presetSubtype="16" fill="hold" grpId="0" nodeType="withEffect">
                                  <p:stCondLst>
                                    <p:cond delay="320"/>
                                  </p:stCondLst>
                                  <p:childTnLst>
                                    <p:set>
                                      <p:cBhvr>
                                        <p:cTn id="34" dur="1" fill="hold">
                                          <p:stCondLst>
                                            <p:cond delay="0"/>
                                          </p:stCondLst>
                                        </p:cTn>
                                        <p:tgtEl>
                                          <p:spTgt spid="105"/>
                                        </p:tgtEl>
                                        <p:attrNameLst>
                                          <p:attrName>style.visibility</p:attrName>
                                        </p:attrNameLst>
                                      </p:cBhvr>
                                      <p:to>
                                        <p:strVal val="visible"/>
                                      </p:to>
                                    </p:set>
                                    <p:anim calcmode="lin" valueType="num">
                                      <p:cBhvr additive="base">
                                        <p:cTn id="35" dur="400" decel="100000" fill="hold"/>
                                        <p:tgtEl>
                                          <p:spTgt spid="105"/>
                                        </p:tgtEl>
                                        <p:attrNameLst>
                                          <p:attrName>ppt_w</p:attrName>
                                        </p:attrNameLst>
                                      </p:cBhvr>
                                      <p:tavLst>
                                        <p:tav tm="0">
                                          <p:val>
                                            <p:strVal val="#ppt_w*0.3"/>
                                          </p:val>
                                        </p:tav>
                                        <p:tav tm="100000">
                                          <p:val>
                                            <p:strVal val="#ppt_w*1.08"/>
                                          </p:val>
                                        </p:tav>
                                      </p:tavLst>
                                    </p:anim>
                                    <p:anim calcmode="lin" valueType="num">
                                      <p:cBhvr additive="base">
                                        <p:cTn id="36" dur="400" decel="100000" fill="hold"/>
                                        <p:tgtEl>
                                          <p:spTgt spid="105"/>
                                        </p:tgtEl>
                                        <p:attrNameLst>
                                          <p:attrName>ppt_h</p:attrName>
                                        </p:attrNameLst>
                                      </p:cBhvr>
                                      <p:tavLst>
                                        <p:tav tm="0">
                                          <p:val>
                                            <p:strVal val="#ppt_h*0.3"/>
                                          </p:val>
                                        </p:tav>
                                        <p:tav tm="100000">
                                          <p:val>
                                            <p:strVal val="#ppt_h*1.08"/>
                                          </p:val>
                                        </p:tav>
                                      </p:tavLst>
                                    </p:anim>
                                    <p:animEffect transition="in" filter="fade">
                                      <p:cBhvr>
                                        <p:cTn id="37" dur="200"/>
                                        <p:tgtEl>
                                          <p:spTgt spid="105"/>
                                        </p:tgtEl>
                                      </p:cBhvr>
                                    </p:animEffect>
                                    <p:anim calcmode="lin" valueType="num">
                                      <p:cBhvr additive="base">
                                        <p:cTn id="38" dur="160" fill="hold">
                                          <p:stCondLst>
                                            <p:cond delay="400"/>
                                          </p:stCondLst>
                                        </p:cTn>
                                        <p:tgtEl>
                                          <p:spTgt spid="105"/>
                                        </p:tgtEl>
                                        <p:attrNameLst>
                                          <p:attrName>ppt_w</p:attrName>
                                        </p:attrNameLst>
                                      </p:cBhvr>
                                      <p:tavLst>
                                        <p:tav tm="0">
                                          <p:val>
                                            <p:strVal val="#ppt_w*1.08"/>
                                          </p:val>
                                        </p:tav>
                                        <p:tav tm="100000">
                                          <p:val>
                                            <p:strVal val="#ppt_w"/>
                                          </p:val>
                                        </p:tav>
                                      </p:tavLst>
                                    </p:anim>
                                    <p:anim calcmode="lin" valueType="num">
                                      <p:cBhvr additive="base">
                                        <p:cTn id="39" dur="160" fill="hold">
                                          <p:stCondLst>
                                            <p:cond delay="400"/>
                                          </p:stCondLst>
                                        </p:cTn>
                                        <p:tgtEl>
                                          <p:spTgt spid="105"/>
                                        </p:tgtEl>
                                        <p:attrNameLst>
                                          <p:attrName>ppt_h</p:attrName>
                                        </p:attrNameLst>
                                      </p:cBhvr>
                                      <p:tavLst>
                                        <p:tav tm="0">
                                          <p:val>
                                            <p:strVal val="#ppt_h*1.08"/>
                                          </p:val>
                                        </p:tav>
                                        <p:tav tm="100000">
                                          <p:val>
                                            <p:strVal val="#ppt_h"/>
                                          </p:val>
                                        </p:tav>
                                      </p:tavLst>
                                    </p:anim>
                                  </p:childTnLst>
                                </p:cTn>
                              </p:par>
                              <p:par>
                                <p:cTn id="40" presetID="53" presetClass="entr" presetSubtype="16" fill="hold" grpId="0" nodeType="withEffect">
                                  <p:stCondLst>
                                    <p:cond delay="400"/>
                                  </p:stCondLst>
                                  <p:childTnLst>
                                    <p:set>
                                      <p:cBhvr>
                                        <p:cTn id="41" dur="1" fill="hold">
                                          <p:stCondLst>
                                            <p:cond delay="0"/>
                                          </p:stCondLst>
                                        </p:cTn>
                                        <p:tgtEl>
                                          <p:spTgt spid="106"/>
                                        </p:tgtEl>
                                        <p:attrNameLst>
                                          <p:attrName>style.visibility</p:attrName>
                                        </p:attrNameLst>
                                      </p:cBhvr>
                                      <p:to>
                                        <p:strVal val="visible"/>
                                      </p:to>
                                    </p:set>
                                    <p:anim calcmode="lin" valueType="num">
                                      <p:cBhvr additive="base">
                                        <p:cTn id="42" dur="4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43" dur="400" decel="100000" fill="hold"/>
                                        <p:tgtEl>
                                          <p:spTgt spid="106"/>
                                        </p:tgtEl>
                                        <p:attrNameLst>
                                          <p:attrName>ppt_h</p:attrName>
                                        </p:attrNameLst>
                                      </p:cBhvr>
                                      <p:tavLst>
                                        <p:tav tm="0">
                                          <p:val>
                                            <p:strVal val="#ppt_h*0.3"/>
                                          </p:val>
                                        </p:tav>
                                        <p:tav tm="100000">
                                          <p:val>
                                            <p:strVal val="#ppt_h*1.08"/>
                                          </p:val>
                                        </p:tav>
                                      </p:tavLst>
                                    </p:anim>
                                    <p:animEffect transition="in" filter="fade">
                                      <p:cBhvr>
                                        <p:cTn id="44" dur="200"/>
                                        <p:tgtEl>
                                          <p:spTgt spid="106"/>
                                        </p:tgtEl>
                                      </p:cBhvr>
                                    </p:animEffect>
                                    <p:anim calcmode="lin" valueType="num">
                                      <p:cBhvr additive="base">
                                        <p:cTn id="45" dur="160" fill="hold">
                                          <p:stCondLst>
                                            <p:cond delay="400"/>
                                          </p:stCondLst>
                                        </p:cTn>
                                        <p:tgtEl>
                                          <p:spTgt spid="106"/>
                                        </p:tgtEl>
                                        <p:attrNameLst>
                                          <p:attrName>ppt_w</p:attrName>
                                        </p:attrNameLst>
                                      </p:cBhvr>
                                      <p:tavLst>
                                        <p:tav tm="0">
                                          <p:val>
                                            <p:strVal val="#ppt_w*1.08"/>
                                          </p:val>
                                        </p:tav>
                                        <p:tav tm="100000">
                                          <p:val>
                                            <p:strVal val="#ppt_w"/>
                                          </p:val>
                                        </p:tav>
                                      </p:tavLst>
                                    </p:anim>
                                    <p:anim calcmode="lin" valueType="num">
                                      <p:cBhvr additive="base">
                                        <p:cTn id="46" dur="160" fill="hold">
                                          <p:stCondLst>
                                            <p:cond delay="400"/>
                                          </p:stCondLst>
                                        </p:cTn>
                                        <p:tgtEl>
                                          <p:spTgt spid="106"/>
                                        </p:tgtEl>
                                        <p:attrNameLst>
                                          <p:attrName>ppt_h</p:attrName>
                                        </p:attrNameLst>
                                      </p:cBhvr>
                                      <p:tavLst>
                                        <p:tav tm="0">
                                          <p:val>
                                            <p:strVal val="#ppt_h*1.08"/>
                                          </p:val>
                                        </p:tav>
                                        <p:tav tm="100000">
                                          <p:val>
                                            <p:strVal val="#ppt_h"/>
                                          </p:val>
                                        </p:tav>
                                      </p:tavLst>
                                    </p:anim>
                                  </p:childTnLst>
                                </p:cTn>
                              </p:par>
                              <p:par>
                                <p:cTn id="47" presetID="53" presetClass="entr" presetSubtype="16" fill="hold" grpId="0" nodeType="withEffect">
                                  <p:stCondLst>
                                    <p:cond delay="480"/>
                                  </p:stCondLst>
                                  <p:childTnLst>
                                    <p:set>
                                      <p:cBhvr>
                                        <p:cTn id="48" dur="1" fill="hold">
                                          <p:stCondLst>
                                            <p:cond delay="0"/>
                                          </p:stCondLst>
                                        </p:cTn>
                                        <p:tgtEl>
                                          <p:spTgt spid="107"/>
                                        </p:tgtEl>
                                        <p:attrNameLst>
                                          <p:attrName>style.visibility</p:attrName>
                                        </p:attrNameLst>
                                      </p:cBhvr>
                                      <p:to>
                                        <p:strVal val="visible"/>
                                      </p:to>
                                    </p:set>
                                    <p:anim calcmode="lin" valueType="num">
                                      <p:cBhvr additive="base">
                                        <p:cTn id="49" dur="40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50" dur="400" decel="100000" fill="hold"/>
                                        <p:tgtEl>
                                          <p:spTgt spid="107"/>
                                        </p:tgtEl>
                                        <p:attrNameLst>
                                          <p:attrName>ppt_h</p:attrName>
                                        </p:attrNameLst>
                                      </p:cBhvr>
                                      <p:tavLst>
                                        <p:tav tm="0">
                                          <p:val>
                                            <p:strVal val="#ppt_h*0.3"/>
                                          </p:val>
                                        </p:tav>
                                        <p:tav tm="100000">
                                          <p:val>
                                            <p:strVal val="#ppt_h*1.08"/>
                                          </p:val>
                                        </p:tav>
                                      </p:tavLst>
                                    </p:anim>
                                    <p:animEffect transition="in" filter="fade">
                                      <p:cBhvr>
                                        <p:cTn id="51" dur="200"/>
                                        <p:tgtEl>
                                          <p:spTgt spid="107"/>
                                        </p:tgtEl>
                                      </p:cBhvr>
                                    </p:animEffect>
                                    <p:anim calcmode="lin" valueType="num">
                                      <p:cBhvr additive="base">
                                        <p:cTn id="52" dur="160" fill="hold">
                                          <p:stCondLst>
                                            <p:cond delay="400"/>
                                          </p:stCondLst>
                                        </p:cTn>
                                        <p:tgtEl>
                                          <p:spTgt spid="107"/>
                                        </p:tgtEl>
                                        <p:attrNameLst>
                                          <p:attrName>ppt_w</p:attrName>
                                        </p:attrNameLst>
                                      </p:cBhvr>
                                      <p:tavLst>
                                        <p:tav tm="0">
                                          <p:val>
                                            <p:strVal val="#ppt_w*1.08"/>
                                          </p:val>
                                        </p:tav>
                                        <p:tav tm="100000">
                                          <p:val>
                                            <p:strVal val="#ppt_w"/>
                                          </p:val>
                                        </p:tav>
                                      </p:tavLst>
                                    </p:anim>
                                    <p:anim calcmode="lin" valueType="num">
                                      <p:cBhvr additive="base">
                                        <p:cTn id="53" dur="160" fill="hold">
                                          <p:stCondLst>
                                            <p:cond delay="400"/>
                                          </p:stCondLst>
                                        </p:cTn>
                                        <p:tgtEl>
                                          <p:spTgt spid="107"/>
                                        </p:tgtEl>
                                        <p:attrNameLst>
                                          <p:attrName>ppt_h</p:attrName>
                                        </p:attrNameLst>
                                      </p:cBhvr>
                                      <p:tavLst>
                                        <p:tav tm="0">
                                          <p:val>
                                            <p:strVal val="#ppt_h*1.08"/>
                                          </p:val>
                                        </p:tav>
                                        <p:tav tm="100000">
                                          <p:val>
                                            <p:strVal val="#ppt_h"/>
                                          </p:val>
                                        </p:tav>
                                      </p:tavLst>
                                    </p:anim>
                                  </p:childTnLst>
                                </p:cTn>
                              </p:par>
                              <p:par>
                                <p:cTn id="54" presetID="53" presetClass="entr" presetSubtype="16" fill="hold" grpId="0" nodeType="withEffect">
                                  <p:stCondLst>
                                    <p:cond delay="560"/>
                                  </p:stCondLst>
                                  <p:childTnLst>
                                    <p:set>
                                      <p:cBhvr>
                                        <p:cTn id="55" dur="1" fill="hold">
                                          <p:stCondLst>
                                            <p:cond delay="0"/>
                                          </p:stCondLst>
                                        </p:cTn>
                                        <p:tgtEl>
                                          <p:spTgt spid="108"/>
                                        </p:tgtEl>
                                        <p:attrNameLst>
                                          <p:attrName>style.visibility</p:attrName>
                                        </p:attrNameLst>
                                      </p:cBhvr>
                                      <p:to>
                                        <p:strVal val="visible"/>
                                      </p:to>
                                    </p:set>
                                    <p:anim calcmode="lin" valueType="num">
                                      <p:cBhvr additive="base">
                                        <p:cTn id="56" dur="40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57" dur="400" decel="100000" fill="hold"/>
                                        <p:tgtEl>
                                          <p:spTgt spid="108"/>
                                        </p:tgtEl>
                                        <p:attrNameLst>
                                          <p:attrName>ppt_h</p:attrName>
                                        </p:attrNameLst>
                                      </p:cBhvr>
                                      <p:tavLst>
                                        <p:tav tm="0">
                                          <p:val>
                                            <p:strVal val="#ppt_h*0.3"/>
                                          </p:val>
                                        </p:tav>
                                        <p:tav tm="100000">
                                          <p:val>
                                            <p:strVal val="#ppt_h*1.08"/>
                                          </p:val>
                                        </p:tav>
                                      </p:tavLst>
                                    </p:anim>
                                    <p:animEffect transition="in" filter="fade">
                                      <p:cBhvr>
                                        <p:cTn id="58" dur="200"/>
                                        <p:tgtEl>
                                          <p:spTgt spid="108"/>
                                        </p:tgtEl>
                                      </p:cBhvr>
                                    </p:animEffect>
                                    <p:anim calcmode="lin" valueType="num">
                                      <p:cBhvr additive="base">
                                        <p:cTn id="59" dur="160" fill="hold">
                                          <p:stCondLst>
                                            <p:cond delay="400"/>
                                          </p:stCondLst>
                                        </p:cTn>
                                        <p:tgtEl>
                                          <p:spTgt spid="108"/>
                                        </p:tgtEl>
                                        <p:attrNameLst>
                                          <p:attrName>ppt_w</p:attrName>
                                        </p:attrNameLst>
                                      </p:cBhvr>
                                      <p:tavLst>
                                        <p:tav tm="0">
                                          <p:val>
                                            <p:strVal val="#ppt_w*1.08"/>
                                          </p:val>
                                        </p:tav>
                                        <p:tav tm="100000">
                                          <p:val>
                                            <p:strVal val="#ppt_w"/>
                                          </p:val>
                                        </p:tav>
                                      </p:tavLst>
                                    </p:anim>
                                    <p:anim calcmode="lin" valueType="num">
                                      <p:cBhvr additive="base">
                                        <p:cTn id="60" dur="160" fill="hold">
                                          <p:stCondLst>
                                            <p:cond delay="400"/>
                                          </p:stCondLst>
                                        </p:cTn>
                                        <p:tgtEl>
                                          <p:spTgt spid="108"/>
                                        </p:tgtEl>
                                        <p:attrNameLst>
                                          <p:attrName>ppt_h</p:attrName>
                                        </p:attrNameLst>
                                      </p:cBhvr>
                                      <p:tavLst>
                                        <p:tav tm="0">
                                          <p:val>
                                            <p:strVal val="#ppt_h*1.08"/>
                                          </p:val>
                                        </p:tav>
                                        <p:tav tm="100000">
                                          <p:val>
                                            <p:strVal val="#ppt_h"/>
                                          </p:val>
                                        </p:tav>
                                      </p:tavLst>
                                    </p:anim>
                                  </p:childTnLst>
                                </p:cTn>
                              </p:par>
                              <p:par>
                                <p:cTn id="61" presetID="53" presetClass="entr" presetSubtype="16" fill="hold" grpId="0" nodeType="withEffect">
                                  <p:stCondLst>
                                    <p:cond delay="640"/>
                                  </p:stCondLst>
                                  <p:childTnLst>
                                    <p:set>
                                      <p:cBhvr>
                                        <p:cTn id="62" dur="1" fill="hold">
                                          <p:stCondLst>
                                            <p:cond delay="0"/>
                                          </p:stCondLst>
                                        </p:cTn>
                                        <p:tgtEl>
                                          <p:spTgt spid="109"/>
                                        </p:tgtEl>
                                        <p:attrNameLst>
                                          <p:attrName>style.visibility</p:attrName>
                                        </p:attrNameLst>
                                      </p:cBhvr>
                                      <p:to>
                                        <p:strVal val="visible"/>
                                      </p:to>
                                    </p:set>
                                    <p:anim calcmode="lin" valueType="num">
                                      <p:cBhvr additive="base">
                                        <p:cTn id="63" dur="40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64" dur="400" decel="100000" fill="hold"/>
                                        <p:tgtEl>
                                          <p:spTgt spid="109"/>
                                        </p:tgtEl>
                                        <p:attrNameLst>
                                          <p:attrName>ppt_h</p:attrName>
                                        </p:attrNameLst>
                                      </p:cBhvr>
                                      <p:tavLst>
                                        <p:tav tm="0">
                                          <p:val>
                                            <p:strVal val="#ppt_h*0.3"/>
                                          </p:val>
                                        </p:tav>
                                        <p:tav tm="100000">
                                          <p:val>
                                            <p:strVal val="#ppt_h*1.08"/>
                                          </p:val>
                                        </p:tav>
                                      </p:tavLst>
                                    </p:anim>
                                    <p:animEffect transition="in" filter="fade">
                                      <p:cBhvr>
                                        <p:cTn id="65" dur="200"/>
                                        <p:tgtEl>
                                          <p:spTgt spid="109"/>
                                        </p:tgtEl>
                                      </p:cBhvr>
                                    </p:animEffect>
                                    <p:anim calcmode="lin" valueType="num">
                                      <p:cBhvr additive="base">
                                        <p:cTn id="66" dur="160" fill="hold">
                                          <p:stCondLst>
                                            <p:cond delay="400"/>
                                          </p:stCondLst>
                                        </p:cTn>
                                        <p:tgtEl>
                                          <p:spTgt spid="109"/>
                                        </p:tgtEl>
                                        <p:attrNameLst>
                                          <p:attrName>ppt_w</p:attrName>
                                        </p:attrNameLst>
                                      </p:cBhvr>
                                      <p:tavLst>
                                        <p:tav tm="0">
                                          <p:val>
                                            <p:strVal val="#ppt_w*1.08"/>
                                          </p:val>
                                        </p:tav>
                                        <p:tav tm="100000">
                                          <p:val>
                                            <p:strVal val="#ppt_w"/>
                                          </p:val>
                                        </p:tav>
                                      </p:tavLst>
                                    </p:anim>
                                    <p:anim calcmode="lin" valueType="num">
                                      <p:cBhvr additive="base">
                                        <p:cTn id="67" dur="160" fill="hold">
                                          <p:stCondLst>
                                            <p:cond delay="400"/>
                                          </p:stCondLst>
                                        </p:cTn>
                                        <p:tgtEl>
                                          <p:spTgt spid="109"/>
                                        </p:tgtEl>
                                        <p:attrNameLst>
                                          <p:attrName>ppt_h</p:attrName>
                                        </p:attrNameLst>
                                      </p:cBhvr>
                                      <p:tavLst>
                                        <p:tav tm="0">
                                          <p:val>
                                            <p:strVal val="#ppt_h*1.08"/>
                                          </p:val>
                                        </p:tav>
                                        <p:tav tm="100000">
                                          <p:val>
                                            <p:strVal val="#ppt_h"/>
                                          </p:val>
                                        </p:tav>
                                      </p:tavLst>
                                    </p:anim>
                                  </p:childTnLst>
                                </p:cTn>
                              </p:par>
                              <p:par>
                                <p:cTn id="68" presetID="53" presetClass="entr" presetSubtype="16" fill="hold" grpId="0" nodeType="withEffect">
                                  <p:stCondLst>
                                    <p:cond delay="720"/>
                                  </p:stCondLst>
                                  <p:childTnLst>
                                    <p:set>
                                      <p:cBhvr>
                                        <p:cTn id="69" dur="1" fill="hold">
                                          <p:stCondLst>
                                            <p:cond delay="0"/>
                                          </p:stCondLst>
                                        </p:cTn>
                                        <p:tgtEl>
                                          <p:spTgt spid="110"/>
                                        </p:tgtEl>
                                        <p:attrNameLst>
                                          <p:attrName>style.visibility</p:attrName>
                                        </p:attrNameLst>
                                      </p:cBhvr>
                                      <p:to>
                                        <p:strVal val="visible"/>
                                      </p:to>
                                    </p:set>
                                    <p:anim calcmode="lin" valueType="num">
                                      <p:cBhvr additive="base">
                                        <p:cTn id="70" dur="400" decel="100000" fill="hold"/>
                                        <p:tgtEl>
                                          <p:spTgt spid="110"/>
                                        </p:tgtEl>
                                        <p:attrNameLst>
                                          <p:attrName>ppt_w</p:attrName>
                                        </p:attrNameLst>
                                      </p:cBhvr>
                                      <p:tavLst>
                                        <p:tav tm="0">
                                          <p:val>
                                            <p:strVal val="#ppt_w*0.3"/>
                                          </p:val>
                                        </p:tav>
                                        <p:tav tm="100000">
                                          <p:val>
                                            <p:strVal val="#ppt_w*1.08"/>
                                          </p:val>
                                        </p:tav>
                                      </p:tavLst>
                                    </p:anim>
                                    <p:anim calcmode="lin" valueType="num">
                                      <p:cBhvr additive="base">
                                        <p:cTn id="71" dur="400" decel="100000" fill="hold"/>
                                        <p:tgtEl>
                                          <p:spTgt spid="110"/>
                                        </p:tgtEl>
                                        <p:attrNameLst>
                                          <p:attrName>ppt_h</p:attrName>
                                        </p:attrNameLst>
                                      </p:cBhvr>
                                      <p:tavLst>
                                        <p:tav tm="0">
                                          <p:val>
                                            <p:strVal val="#ppt_h*0.3"/>
                                          </p:val>
                                        </p:tav>
                                        <p:tav tm="100000">
                                          <p:val>
                                            <p:strVal val="#ppt_h*1.08"/>
                                          </p:val>
                                        </p:tav>
                                      </p:tavLst>
                                    </p:anim>
                                    <p:animEffect transition="in" filter="fade">
                                      <p:cBhvr>
                                        <p:cTn id="72" dur="200"/>
                                        <p:tgtEl>
                                          <p:spTgt spid="110"/>
                                        </p:tgtEl>
                                      </p:cBhvr>
                                    </p:animEffect>
                                    <p:anim calcmode="lin" valueType="num">
                                      <p:cBhvr additive="base">
                                        <p:cTn id="73" dur="160" fill="hold">
                                          <p:stCondLst>
                                            <p:cond delay="400"/>
                                          </p:stCondLst>
                                        </p:cTn>
                                        <p:tgtEl>
                                          <p:spTgt spid="110"/>
                                        </p:tgtEl>
                                        <p:attrNameLst>
                                          <p:attrName>ppt_w</p:attrName>
                                        </p:attrNameLst>
                                      </p:cBhvr>
                                      <p:tavLst>
                                        <p:tav tm="0">
                                          <p:val>
                                            <p:strVal val="#ppt_w*1.08"/>
                                          </p:val>
                                        </p:tav>
                                        <p:tav tm="100000">
                                          <p:val>
                                            <p:strVal val="#ppt_w"/>
                                          </p:val>
                                        </p:tav>
                                      </p:tavLst>
                                    </p:anim>
                                    <p:anim calcmode="lin" valueType="num">
                                      <p:cBhvr additive="base">
                                        <p:cTn id="74" dur="160" fill="hold">
                                          <p:stCondLst>
                                            <p:cond delay="400"/>
                                          </p:stCondLst>
                                        </p:cTn>
                                        <p:tgtEl>
                                          <p:spTgt spid="110"/>
                                        </p:tgtEl>
                                        <p:attrNameLst>
                                          <p:attrName>ppt_h</p:attrName>
                                        </p:attrNameLst>
                                      </p:cBhvr>
                                      <p:tavLst>
                                        <p:tav tm="0">
                                          <p:val>
                                            <p:strVal val="#ppt_h*1.08"/>
                                          </p:val>
                                        </p:tav>
                                        <p:tav tm="100000">
                                          <p:val>
                                            <p:strVal val="#ppt_h"/>
                                          </p:val>
                                        </p:tav>
                                      </p:tavLst>
                                    </p:anim>
                                  </p:childTnLst>
                                </p:cTn>
                              </p:par>
                              <p:par>
                                <p:cTn id="75" presetID="53" presetClass="entr" presetSubtype="16" fill="hold" grpId="0" nodeType="withEffect">
                                  <p:stCondLst>
                                    <p:cond delay="800"/>
                                  </p:stCondLst>
                                  <p:childTnLst>
                                    <p:set>
                                      <p:cBhvr>
                                        <p:cTn id="76" dur="1" fill="hold">
                                          <p:stCondLst>
                                            <p:cond delay="0"/>
                                          </p:stCondLst>
                                        </p:cTn>
                                        <p:tgtEl>
                                          <p:spTgt spid="111"/>
                                        </p:tgtEl>
                                        <p:attrNameLst>
                                          <p:attrName>style.visibility</p:attrName>
                                        </p:attrNameLst>
                                      </p:cBhvr>
                                      <p:to>
                                        <p:strVal val="visible"/>
                                      </p:to>
                                    </p:set>
                                    <p:anim calcmode="lin" valueType="num">
                                      <p:cBhvr additive="base">
                                        <p:cTn id="77" dur="400" decel="100000" fill="hold"/>
                                        <p:tgtEl>
                                          <p:spTgt spid="111"/>
                                        </p:tgtEl>
                                        <p:attrNameLst>
                                          <p:attrName>ppt_w</p:attrName>
                                        </p:attrNameLst>
                                      </p:cBhvr>
                                      <p:tavLst>
                                        <p:tav tm="0">
                                          <p:val>
                                            <p:strVal val="#ppt_w*0.3"/>
                                          </p:val>
                                        </p:tav>
                                        <p:tav tm="100000">
                                          <p:val>
                                            <p:strVal val="#ppt_w*1.08"/>
                                          </p:val>
                                        </p:tav>
                                      </p:tavLst>
                                    </p:anim>
                                    <p:anim calcmode="lin" valueType="num">
                                      <p:cBhvr additive="base">
                                        <p:cTn id="78" dur="400" decel="100000" fill="hold"/>
                                        <p:tgtEl>
                                          <p:spTgt spid="111"/>
                                        </p:tgtEl>
                                        <p:attrNameLst>
                                          <p:attrName>ppt_h</p:attrName>
                                        </p:attrNameLst>
                                      </p:cBhvr>
                                      <p:tavLst>
                                        <p:tav tm="0">
                                          <p:val>
                                            <p:strVal val="#ppt_h*0.3"/>
                                          </p:val>
                                        </p:tav>
                                        <p:tav tm="100000">
                                          <p:val>
                                            <p:strVal val="#ppt_h*1.08"/>
                                          </p:val>
                                        </p:tav>
                                      </p:tavLst>
                                    </p:anim>
                                    <p:animEffect transition="in" filter="fade">
                                      <p:cBhvr>
                                        <p:cTn id="79" dur="200"/>
                                        <p:tgtEl>
                                          <p:spTgt spid="111"/>
                                        </p:tgtEl>
                                      </p:cBhvr>
                                    </p:animEffect>
                                    <p:anim calcmode="lin" valueType="num">
                                      <p:cBhvr additive="base">
                                        <p:cTn id="80" dur="160" fill="hold">
                                          <p:stCondLst>
                                            <p:cond delay="400"/>
                                          </p:stCondLst>
                                        </p:cTn>
                                        <p:tgtEl>
                                          <p:spTgt spid="111"/>
                                        </p:tgtEl>
                                        <p:attrNameLst>
                                          <p:attrName>ppt_w</p:attrName>
                                        </p:attrNameLst>
                                      </p:cBhvr>
                                      <p:tavLst>
                                        <p:tav tm="0">
                                          <p:val>
                                            <p:strVal val="#ppt_w*1.08"/>
                                          </p:val>
                                        </p:tav>
                                        <p:tav tm="100000">
                                          <p:val>
                                            <p:strVal val="#ppt_w"/>
                                          </p:val>
                                        </p:tav>
                                      </p:tavLst>
                                    </p:anim>
                                    <p:anim calcmode="lin" valueType="num">
                                      <p:cBhvr additive="base">
                                        <p:cTn id="81" dur="160" fill="hold">
                                          <p:stCondLst>
                                            <p:cond delay="400"/>
                                          </p:stCondLst>
                                        </p:cTn>
                                        <p:tgtEl>
                                          <p:spTgt spid="111"/>
                                        </p:tgtEl>
                                        <p:attrNameLst>
                                          <p:attrName>ppt_h</p:attrName>
                                        </p:attrNameLst>
                                      </p:cBhvr>
                                      <p:tavLst>
                                        <p:tav tm="0">
                                          <p:val>
                                            <p:strVal val="#ppt_h*1.08"/>
                                          </p:val>
                                        </p:tav>
                                        <p:tav tm="100000">
                                          <p:val>
                                            <p:strVal val="#ppt_h"/>
                                          </p:val>
                                        </p:tav>
                                      </p:tavLst>
                                    </p:anim>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118"/>
                                        </p:tgtEl>
                                        <p:attrNameLst>
                                          <p:attrName>style.visibility</p:attrName>
                                        </p:attrNameLst>
                                      </p:cBhvr>
                                      <p:to>
                                        <p:strVal val="visible"/>
                                      </p:to>
                                    </p:set>
                                    <p:animEffect transition="in" filter="fade">
                                      <p:cBhvr>
                                        <p:cTn id="86" dur="500"/>
                                        <p:tgtEl>
                                          <p:spTgt spid="118"/>
                                        </p:tgtEl>
                                      </p:cBhvr>
                                    </p:animEffect>
                                  </p:childTnLst>
                                </p:cTn>
                              </p:par>
                              <p:par>
                                <p:cTn id="87" presetID="22" presetClass="entr" presetSubtype="4" fill="hold" grpId="0" nodeType="withEffect">
                                  <p:stCondLst>
                                    <p:cond delay="150"/>
                                  </p:stCondLst>
                                  <p:childTnLst>
                                    <p:set>
                                      <p:cBhvr>
                                        <p:cTn id="88" dur="1" fill="hold">
                                          <p:stCondLst>
                                            <p:cond delay="0"/>
                                          </p:stCondLst>
                                        </p:cTn>
                                        <p:tgtEl>
                                          <p:spTgt spid="112"/>
                                        </p:tgtEl>
                                        <p:attrNameLst>
                                          <p:attrName>style.visibility</p:attrName>
                                        </p:attrNameLst>
                                      </p:cBhvr>
                                      <p:to>
                                        <p:strVal val="visible"/>
                                      </p:to>
                                    </p:set>
                                    <p:animEffect transition="in" filter="wipe(down)">
                                      <p:cBhvr>
                                        <p:cTn id="89" dur="500"/>
                                        <p:tgtEl>
                                          <p:spTgt spid="112"/>
                                        </p:tgtEl>
                                      </p:cBhvr>
                                    </p:animEffect>
                                  </p:childTnLst>
                                </p:cTn>
                              </p:par>
                              <p:par>
                                <p:cTn id="90" presetID="22" presetClass="entr" presetSubtype="4" fill="hold" grpId="0" nodeType="withEffect">
                                  <p:stCondLst>
                                    <p:cond delay="300"/>
                                  </p:stCondLst>
                                  <p:childTnLst>
                                    <p:set>
                                      <p:cBhvr>
                                        <p:cTn id="91" dur="1" fill="hold">
                                          <p:stCondLst>
                                            <p:cond delay="0"/>
                                          </p:stCondLst>
                                        </p:cTn>
                                        <p:tgtEl>
                                          <p:spTgt spid="113"/>
                                        </p:tgtEl>
                                        <p:attrNameLst>
                                          <p:attrName>style.visibility</p:attrName>
                                        </p:attrNameLst>
                                      </p:cBhvr>
                                      <p:to>
                                        <p:strVal val="visible"/>
                                      </p:to>
                                    </p:set>
                                    <p:animEffect transition="in" filter="wipe(down)">
                                      <p:cBhvr>
                                        <p:cTn id="92" dur="500"/>
                                        <p:tgtEl>
                                          <p:spTgt spid="113"/>
                                        </p:tgtEl>
                                      </p:cBhvr>
                                    </p:animEffect>
                                  </p:childTnLst>
                                </p:cTn>
                              </p:par>
                              <p:par>
                                <p:cTn id="93" presetID="22" presetClass="entr" presetSubtype="4" fill="hold" grpId="0" nodeType="withEffect">
                                  <p:stCondLst>
                                    <p:cond delay="450"/>
                                  </p:stCondLst>
                                  <p:childTnLst>
                                    <p:set>
                                      <p:cBhvr>
                                        <p:cTn id="94" dur="1" fill="hold">
                                          <p:stCondLst>
                                            <p:cond delay="0"/>
                                          </p:stCondLst>
                                        </p:cTn>
                                        <p:tgtEl>
                                          <p:spTgt spid="114"/>
                                        </p:tgtEl>
                                        <p:attrNameLst>
                                          <p:attrName>style.visibility</p:attrName>
                                        </p:attrNameLst>
                                      </p:cBhvr>
                                      <p:to>
                                        <p:strVal val="visible"/>
                                      </p:to>
                                    </p:set>
                                    <p:animEffect transition="in" filter="wipe(down)">
                                      <p:cBhvr>
                                        <p:cTn id="95" dur="500"/>
                                        <p:tgtEl>
                                          <p:spTgt spid="114"/>
                                        </p:tgtEl>
                                      </p:cBhvr>
                                    </p:animEffect>
                                  </p:childTnLst>
                                </p:cTn>
                              </p:par>
                              <p:par>
                                <p:cTn id="96" presetID="22" presetClass="entr" presetSubtype="4" fill="hold" grpId="0" nodeType="withEffect">
                                  <p:stCondLst>
                                    <p:cond delay="600"/>
                                  </p:stCondLst>
                                  <p:childTnLst>
                                    <p:set>
                                      <p:cBhvr>
                                        <p:cTn id="97" dur="1" fill="hold">
                                          <p:stCondLst>
                                            <p:cond delay="0"/>
                                          </p:stCondLst>
                                        </p:cTn>
                                        <p:tgtEl>
                                          <p:spTgt spid="115"/>
                                        </p:tgtEl>
                                        <p:attrNameLst>
                                          <p:attrName>style.visibility</p:attrName>
                                        </p:attrNameLst>
                                      </p:cBhvr>
                                      <p:to>
                                        <p:strVal val="visible"/>
                                      </p:to>
                                    </p:set>
                                    <p:animEffect transition="in" filter="wipe(down)">
                                      <p:cBhvr>
                                        <p:cTn id="98" dur="500"/>
                                        <p:tgtEl>
                                          <p:spTgt spid="115"/>
                                        </p:tgtEl>
                                      </p:cBhvr>
                                    </p:animEffect>
                                  </p:childTnLst>
                                </p:cTn>
                              </p:par>
                              <p:par>
                                <p:cTn id="99" presetID="22" presetClass="entr" presetSubtype="4" fill="hold" grpId="0" nodeType="withEffect">
                                  <p:stCondLst>
                                    <p:cond delay="750"/>
                                  </p:stCondLst>
                                  <p:childTnLst>
                                    <p:set>
                                      <p:cBhvr>
                                        <p:cTn id="100" dur="1" fill="hold">
                                          <p:stCondLst>
                                            <p:cond delay="0"/>
                                          </p:stCondLst>
                                        </p:cTn>
                                        <p:tgtEl>
                                          <p:spTgt spid="116"/>
                                        </p:tgtEl>
                                        <p:attrNameLst>
                                          <p:attrName>style.visibility</p:attrName>
                                        </p:attrNameLst>
                                      </p:cBhvr>
                                      <p:to>
                                        <p:strVal val="visible"/>
                                      </p:to>
                                    </p:set>
                                    <p:animEffect transition="in" filter="wipe(down)">
                                      <p:cBhvr>
                                        <p:cTn id="101" dur="500"/>
                                        <p:tgtEl>
                                          <p:spTgt spid="116"/>
                                        </p:tgtEl>
                                      </p:cBhvr>
                                    </p:animEffect>
                                  </p:childTnLst>
                                </p:cTn>
                              </p:par>
                              <p:par>
                                <p:cTn id="102" presetID="22" presetClass="entr" presetSubtype="4" fill="hold" grpId="0" nodeType="withEffect">
                                  <p:stCondLst>
                                    <p:cond delay="900"/>
                                  </p:stCondLst>
                                  <p:childTnLst>
                                    <p:set>
                                      <p:cBhvr>
                                        <p:cTn id="103" dur="1" fill="hold">
                                          <p:stCondLst>
                                            <p:cond delay="0"/>
                                          </p:stCondLst>
                                        </p:cTn>
                                        <p:tgtEl>
                                          <p:spTgt spid="117"/>
                                        </p:tgtEl>
                                        <p:attrNameLst>
                                          <p:attrName>style.visibility</p:attrName>
                                        </p:attrNameLst>
                                      </p:cBhvr>
                                      <p:to>
                                        <p:strVal val="visible"/>
                                      </p:to>
                                    </p:set>
                                    <p:animEffect transition="in" filter="wipe(down)">
                                      <p:cBhvr>
                                        <p:cTn id="104" dur="500"/>
                                        <p:tgtEl>
                                          <p:spTgt spid="117"/>
                                        </p:tgtEl>
                                      </p:cBhvr>
                                    </p:animEffect>
                                  </p:childTnLst>
                                </p:cTn>
                              </p:par>
                            </p:childTnLst>
                          </p:cTn>
                        </p:par>
                      </p:childTnLst>
                    </p:cTn>
                  </p:par>
                  <p:par>
                    <p:cTn id="105" fill="hold">
                      <p:stCondLst>
                        <p:cond delay="indefinite"/>
                      </p:stCondLst>
                      <p:childTnLst>
                        <p:par>
                          <p:cTn id="106" fill="hold">
                            <p:stCondLst>
                              <p:cond delay="0"/>
                            </p:stCondLst>
                            <p:childTnLst>
                              <p:par>
                                <p:cTn id="107" presetID="42" presetClass="entr" presetSubtype="0" fill="hold" grpId="0" nodeType="clickEffect">
                                  <p:stCondLst>
                                    <p:cond delay="0"/>
                                  </p:stCondLst>
                                  <p:childTnLst>
                                    <p:set>
                                      <p:cBhvr>
                                        <p:cTn id="108" dur="1" fill="hold">
                                          <p:stCondLst>
                                            <p:cond delay="0"/>
                                          </p:stCondLst>
                                        </p:cTn>
                                        <p:tgtEl>
                                          <p:spTgt spid="119"/>
                                        </p:tgtEl>
                                        <p:attrNameLst>
                                          <p:attrName>style.visibility</p:attrName>
                                        </p:attrNameLst>
                                      </p:cBhvr>
                                      <p:to>
                                        <p:strVal val="visible"/>
                                      </p:to>
                                    </p:set>
                                    <p:animEffect transition="in" filter="fade">
                                      <p:cBhvr>
                                        <p:cTn id="109" dur="500"/>
                                        <p:tgtEl>
                                          <p:spTgt spid="119"/>
                                        </p:tgtEl>
                                      </p:cBhvr>
                                    </p:animEffect>
                                    <p:anim calcmode="lin" valueType="num">
                                      <p:cBhvr additive="base">
                                        <p:cTn id="110" dur="5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42" presetClass="entr" presetSubtype="0" fill="hold" grpId="0" nodeType="clickEffect">
                                  <p:stCondLst>
                                    <p:cond delay="0"/>
                                  </p:stCondLst>
                                  <p:childTnLst>
                                    <p:set>
                                      <p:cBhvr>
                                        <p:cTn id="114" dur="1" fill="hold">
                                          <p:stCondLst>
                                            <p:cond delay="0"/>
                                          </p:stCondLst>
                                        </p:cTn>
                                        <p:tgtEl>
                                          <p:spTgt spid="120"/>
                                        </p:tgtEl>
                                        <p:attrNameLst>
                                          <p:attrName>style.visibility</p:attrName>
                                        </p:attrNameLst>
                                      </p:cBhvr>
                                      <p:to>
                                        <p:strVal val="visible"/>
                                      </p:to>
                                    </p:set>
                                    <p:animEffect transition="in" filter="fade">
                                      <p:cBhvr>
                                        <p:cTn id="115" dur="500"/>
                                        <p:tgtEl>
                                          <p:spTgt spid="120"/>
                                        </p:tgtEl>
                                      </p:cBhvr>
                                    </p:animEffect>
                                    <p:anim calcmode="lin" valueType="num">
                                      <p:cBhvr additive="base">
                                        <p:cTn id="116" dur="500" decel="100000" fill="hold"/>
                                        <p:tgtEl>
                                          <p:spTgt spid="120"/>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POKER</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Planning Poker in Action</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Book appointment: conversation first, shared estimate second.</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255</a:t>
            </a:r>
            <a:endParaRPr lang="en-US" sz="850" dirty="0"/>
          </a:p>
        </p:txBody>
      </p:sp>
      <p:sp>
        <p:nvSpPr>
          <p:cNvPr id="101" name="s101"/>
          <p:cNvSpPr/>
          <p:nvPr/>
        </p:nvSpPr>
        <p:spPr>
          <a:xfrm>
            <a:off x="543154" y="1965960"/>
            <a:ext cx="11088014" cy="566928"/>
          </a:xfrm>
          <a:prstGeom prst="roundRect">
            <a:avLst>
              <a:gd name="adj" fmla="val 12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A78BFA"/>
                </a:solidFill>
                <a:latin typeface="Segoe UI"/>
                <a:ea typeface="Segoe UI"/>
                <a:cs typeface="Segoe UI"/>
              </a:rPr>
              <a:t>STORY  </a:t>
            </a:r>
            <a:r>
              <a:rPr lang="en-US" sz="1400" b="0" dirty="0">
                <a:solidFill>
                  <a:srgbClr val="FFFFFF"/>
                </a:solidFill>
                <a:latin typeface="Segoe UI"/>
                <a:ea typeface="Segoe UI"/>
                <a:cs typeface="Segoe UI"/>
              </a:rPr>
              <a:t>As a receptionist, I want to book an available appointment…</a:t>
            </a:r>
            <a:endParaRPr lang="en-US" sz="1400" dirty="0"/>
          </a:p>
        </p:txBody>
      </p:sp>
      <p:sp>
        <p:nvSpPr>
          <p:cNvPr id="102" name="s102"/>
          <p:cNvSpPr/>
          <p:nvPr/>
        </p:nvSpPr>
        <p:spPr>
          <a:xfrm>
            <a:off x="1068934" y="2743200"/>
            <a:ext cx="548640" cy="548640"/>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13D0F7"/>
                </a:solidFill>
                <a:latin typeface="Segoe UI"/>
                <a:ea typeface="Segoe UI"/>
                <a:cs typeface="Segoe UI"/>
              </a:rPr>
              <a:t>O</a:t>
            </a:r>
            <a:endParaRPr lang="en-US" sz="1560" dirty="0"/>
          </a:p>
        </p:txBody>
      </p:sp>
      <p:sp>
        <p:nvSpPr>
          <p:cNvPr id="103" name="s103"/>
          <p:cNvSpPr txBox="1"/>
          <p:nvPr/>
        </p:nvSpPr>
        <p:spPr>
          <a:xfrm>
            <a:off x="703174" y="3346704"/>
            <a:ext cx="12801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Omar</a:t>
            </a:r>
            <a:endParaRPr lang="en-US" sz="1200" dirty="0"/>
          </a:p>
        </p:txBody>
      </p:sp>
      <p:sp>
        <p:nvSpPr>
          <p:cNvPr id="104" name="s104"/>
          <p:cNvSpPr/>
          <p:nvPr/>
        </p:nvSpPr>
        <p:spPr>
          <a:xfrm>
            <a:off x="726034" y="3657600"/>
            <a:ext cx="1234440" cy="1600200"/>
          </a:xfrm>
          <a:prstGeom prst="roundRect">
            <a:avLst>
              <a:gd name="adj" fmla="val 12000"/>
            </a:avLst>
          </a:prstGeom>
          <a:solidFill>
            <a:srgbClr val="005EB5">
              <a:alpha val="55000"/>
            </a:srgbClr>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2800" b="1" dirty="0">
                <a:solidFill>
                  <a:srgbClr val="60A5FA"/>
                </a:solidFill>
                <a:latin typeface="Segoe UI"/>
                <a:ea typeface="Segoe UI"/>
                <a:cs typeface="Segoe UI"/>
              </a:rPr>
              <a:t>?</a:t>
            </a:r>
            <a:endParaRPr lang="en-US" sz="2800" dirty="0"/>
          </a:p>
        </p:txBody>
      </p:sp>
      <p:sp>
        <p:nvSpPr>
          <p:cNvPr id="105" name="s105"/>
          <p:cNvSpPr/>
          <p:nvPr/>
        </p:nvSpPr>
        <p:spPr>
          <a:xfrm>
            <a:off x="726034" y="3657600"/>
            <a:ext cx="1234440" cy="1600200"/>
          </a:xfrm>
          <a:prstGeom prst="roundRect">
            <a:avLst>
              <a:gd name="adj" fmla="val 12000"/>
            </a:avLst>
          </a:prstGeom>
          <a:solidFill>
            <a:srgbClr val="111B2E"/>
          </a:solidFill>
          <a:ln w="254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4000" b="1" dirty="0">
                <a:solidFill>
                  <a:srgbClr val="13D0F7"/>
                </a:solidFill>
                <a:latin typeface="Segoe UI"/>
                <a:ea typeface="Segoe UI"/>
                <a:cs typeface="Segoe UI"/>
              </a:rPr>
              <a:t>5</a:t>
            </a:r>
            <a:endParaRPr lang="en-US" sz="4000" dirty="0"/>
          </a:p>
        </p:txBody>
      </p:sp>
      <p:sp>
        <p:nvSpPr>
          <p:cNvPr id="106" name="s106"/>
          <p:cNvSpPr/>
          <p:nvPr/>
        </p:nvSpPr>
        <p:spPr>
          <a:xfrm>
            <a:off x="726034" y="3657600"/>
            <a:ext cx="1234440" cy="1600200"/>
          </a:xfrm>
          <a:prstGeom prst="roundRect">
            <a:avLst>
              <a:gd name="adj" fmla="val 12000"/>
            </a:avLst>
          </a:prstGeom>
          <a:solidFill>
            <a:srgbClr val="123A33"/>
          </a:solidFill>
          <a:ln w="254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4000" b="1" dirty="0">
                <a:solidFill>
                  <a:srgbClr val="34D399"/>
                </a:solidFill>
                <a:latin typeface="Segoe UI"/>
                <a:ea typeface="Segoe UI"/>
                <a:cs typeface="Segoe UI"/>
              </a:rPr>
              <a:t>8</a:t>
            </a:r>
            <a:endParaRPr lang="en-US" sz="4000" dirty="0"/>
          </a:p>
        </p:txBody>
      </p:sp>
      <p:sp>
        <p:nvSpPr>
          <p:cNvPr id="107" name="s107"/>
          <p:cNvSpPr/>
          <p:nvPr/>
        </p:nvSpPr>
        <p:spPr>
          <a:xfrm>
            <a:off x="2669134" y="2743200"/>
            <a:ext cx="548640" cy="548640"/>
          </a:xfrm>
          <a:prstGeom prst="ellipse">
            <a:avLst/>
          </a:prstGeom>
          <a:solidFill>
            <a:srgbClr val="F472B6">
              <a:alpha val="22000"/>
            </a:srgbClr>
          </a:solidFill>
          <a:ln w="19050">
            <a:solidFill>
              <a:srgbClr val="F472B6"/>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F472B6"/>
                </a:solidFill>
                <a:latin typeface="Segoe UI"/>
                <a:ea typeface="Segoe UI"/>
                <a:cs typeface="Segoe UI"/>
              </a:rPr>
              <a:t>L</a:t>
            </a:r>
            <a:endParaRPr lang="en-US" sz="1560" dirty="0"/>
          </a:p>
        </p:txBody>
      </p:sp>
      <p:sp>
        <p:nvSpPr>
          <p:cNvPr id="108" name="s108"/>
          <p:cNvSpPr txBox="1"/>
          <p:nvPr/>
        </p:nvSpPr>
        <p:spPr>
          <a:xfrm>
            <a:off x="2303374" y="3346704"/>
            <a:ext cx="12801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Lina</a:t>
            </a:r>
            <a:endParaRPr lang="en-US" sz="1200" dirty="0"/>
          </a:p>
        </p:txBody>
      </p:sp>
      <p:sp>
        <p:nvSpPr>
          <p:cNvPr id="109" name="s109"/>
          <p:cNvSpPr/>
          <p:nvPr/>
        </p:nvSpPr>
        <p:spPr>
          <a:xfrm>
            <a:off x="2326234" y="3657600"/>
            <a:ext cx="1234440" cy="1600200"/>
          </a:xfrm>
          <a:prstGeom prst="roundRect">
            <a:avLst>
              <a:gd name="adj" fmla="val 12000"/>
            </a:avLst>
          </a:prstGeom>
          <a:solidFill>
            <a:srgbClr val="005EB5">
              <a:alpha val="55000"/>
            </a:srgbClr>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2800" b="1" dirty="0">
                <a:solidFill>
                  <a:srgbClr val="60A5FA"/>
                </a:solidFill>
                <a:latin typeface="Segoe UI"/>
                <a:ea typeface="Segoe UI"/>
                <a:cs typeface="Segoe UI"/>
              </a:rPr>
              <a:t>?</a:t>
            </a:r>
            <a:endParaRPr lang="en-US" sz="2800" dirty="0"/>
          </a:p>
        </p:txBody>
      </p:sp>
      <p:sp>
        <p:nvSpPr>
          <p:cNvPr id="110" name="s110"/>
          <p:cNvSpPr/>
          <p:nvPr/>
        </p:nvSpPr>
        <p:spPr>
          <a:xfrm>
            <a:off x="2326234" y="3657600"/>
            <a:ext cx="1234440" cy="1600200"/>
          </a:xfrm>
          <a:prstGeom prst="roundRect">
            <a:avLst>
              <a:gd name="adj" fmla="val 12000"/>
            </a:avLst>
          </a:prstGeom>
          <a:solidFill>
            <a:srgbClr val="111B2E"/>
          </a:solidFill>
          <a:ln w="2540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4000" b="1" dirty="0">
                <a:solidFill>
                  <a:srgbClr val="A78BFA"/>
                </a:solidFill>
                <a:latin typeface="Segoe UI"/>
                <a:ea typeface="Segoe UI"/>
                <a:cs typeface="Segoe UI"/>
              </a:rPr>
              <a:t>8</a:t>
            </a:r>
            <a:endParaRPr lang="en-US" sz="4000" dirty="0"/>
          </a:p>
        </p:txBody>
      </p:sp>
      <p:sp>
        <p:nvSpPr>
          <p:cNvPr id="111" name="s111"/>
          <p:cNvSpPr/>
          <p:nvPr/>
        </p:nvSpPr>
        <p:spPr>
          <a:xfrm>
            <a:off x="2326234" y="3657600"/>
            <a:ext cx="1234440" cy="1600200"/>
          </a:xfrm>
          <a:prstGeom prst="roundRect">
            <a:avLst>
              <a:gd name="adj" fmla="val 12000"/>
            </a:avLst>
          </a:prstGeom>
          <a:solidFill>
            <a:srgbClr val="123A33"/>
          </a:solidFill>
          <a:ln w="254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4000" b="1" dirty="0">
                <a:solidFill>
                  <a:srgbClr val="34D399"/>
                </a:solidFill>
                <a:latin typeface="Segoe UI"/>
                <a:ea typeface="Segoe UI"/>
                <a:cs typeface="Segoe UI"/>
              </a:rPr>
              <a:t>8</a:t>
            </a:r>
            <a:endParaRPr lang="en-US" sz="4000" dirty="0"/>
          </a:p>
        </p:txBody>
      </p:sp>
      <p:sp>
        <p:nvSpPr>
          <p:cNvPr id="112" name="s112"/>
          <p:cNvSpPr/>
          <p:nvPr/>
        </p:nvSpPr>
        <p:spPr>
          <a:xfrm>
            <a:off x="4269334" y="2743200"/>
            <a:ext cx="548640" cy="548640"/>
          </a:xfrm>
          <a:prstGeom prst="ellipse">
            <a:avLst/>
          </a:prstGeom>
          <a:solidFill>
            <a:srgbClr val="34D399">
              <a:alpha val="22000"/>
            </a:srgbClr>
          </a:solidFill>
          <a:ln w="1905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34D399"/>
                </a:solidFill>
                <a:latin typeface="Segoe UI"/>
                <a:ea typeface="Segoe UI"/>
                <a:cs typeface="Segoe UI"/>
              </a:rPr>
              <a:t>M</a:t>
            </a:r>
            <a:endParaRPr lang="en-US" sz="1560" dirty="0"/>
          </a:p>
        </p:txBody>
      </p:sp>
      <p:sp>
        <p:nvSpPr>
          <p:cNvPr id="113" name="s113"/>
          <p:cNvSpPr txBox="1"/>
          <p:nvPr/>
        </p:nvSpPr>
        <p:spPr>
          <a:xfrm>
            <a:off x="3903574" y="3346704"/>
            <a:ext cx="12801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Maya</a:t>
            </a:r>
            <a:endParaRPr lang="en-US" sz="1200" dirty="0"/>
          </a:p>
        </p:txBody>
      </p:sp>
      <p:sp>
        <p:nvSpPr>
          <p:cNvPr id="114" name="s114"/>
          <p:cNvSpPr/>
          <p:nvPr/>
        </p:nvSpPr>
        <p:spPr>
          <a:xfrm>
            <a:off x="3926434" y="3657600"/>
            <a:ext cx="1234440" cy="1600200"/>
          </a:xfrm>
          <a:prstGeom prst="roundRect">
            <a:avLst>
              <a:gd name="adj" fmla="val 12000"/>
            </a:avLst>
          </a:prstGeom>
          <a:solidFill>
            <a:srgbClr val="005EB5">
              <a:alpha val="55000"/>
            </a:srgbClr>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2800" b="1" dirty="0">
                <a:solidFill>
                  <a:srgbClr val="60A5FA"/>
                </a:solidFill>
                <a:latin typeface="Segoe UI"/>
                <a:ea typeface="Segoe UI"/>
                <a:cs typeface="Segoe UI"/>
              </a:rPr>
              <a:t>?</a:t>
            </a:r>
            <a:endParaRPr lang="en-US" sz="2800" dirty="0"/>
          </a:p>
        </p:txBody>
      </p:sp>
      <p:sp>
        <p:nvSpPr>
          <p:cNvPr id="115" name="s115"/>
          <p:cNvSpPr/>
          <p:nvPr/>
        </p:nvSpPr>
        <p:spPr>
          <a:xfrm>
            <a:off x="3926434" y="3657600"/>
            <a:ext cx="1234440" cy="1600200"/>
          </a:xfrm>
          <a:prstGeom prst="roundRect">
            <a:avLst>
              <a:gd name="adj" fmla="val 12000"/>
            </a:avLst>
          </a:prstGeom>
          <a:solidFill>
            <a:srgbClr val="111B2E"/>
          </a:solidFill>
          <a:ln w="254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4000" b="1" dirty="0">
                <a:solidFill>
                  <a:srgbClr val="F87171"/>
                </a:solidFill>
                <a:latin typeface="Segoe UI"/>
                <a:ea typeface="Segoe UI"/>
                <a:cs typeface="Segoe UI"/>
              </a:rPr>
              <a:t>13</a:t>
            </a:r>
            <a:endParaRPr lang="en-US" sz="4000" dirty="0"/>
          </a:p>
        </p:txBody>
      </p:sp>
      <p:sp>
        <p:nvSpPr>
          <p:cNvPr id="116" name="s116"/>
          <p:cNvSpPr/>
          <p:nvPr/>
        </p:nvSpPr>
        <p:spPr>
          <a:xfrm>
            <a:off x="3926434" y="3657600"/>
            <a:ext cx="1234440" cy="1600200"/>
          </a:xfrm>
          <a:prstGeom prst="roundRect">
            <a:avLst>
              <a:gd name="adj" fmla="val 12000"/>
            </a:avLst>
          </a:prstGeom>
          <a:solidFill>
            <a:srgbClr val="123A33"/>
          </a:solidFill>
          <a:ln w="254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4000" b="1" dirty="0">
                <a:solidFill>
                  <a:srgbClr val="34D399"/>
                </a:solidFill>
                <a:latin typeface="Segoe UI"/>
                <a:ea typeface="Segoe UI"/>
                <a:cs typeface="Segoe UI"/>
              </a:rPr>
              <a:t>8</a:t>
            </a:r>
            <a:endParaRPr lang="en-US" sz="4000" dirty="0"/>
          </a:p>
        </p:txBody>
      </p:sp>
      <p:sp>
        <p:nvSpPr>
          <p:cNvPr id="117" name="s117"/>
          <p:cNvSpPr/>
          <p:nvPr/>
        </p:nvSpPr>
        <p:spPr>
          <a:xfrm>
            <a:off x="5869534" y="2743200"/>
            <a:ext cx="548640" cy="548640"/>
          </a:xfrm>
          <a:prstGeom prst="ellipse">
            <a:avLst/>
          </a:prstGeom>
          <a:solidFill>
            <a:srgbClr val="F0A98B">
              <a:alpha val="22000"/>
            </a:srgbClr>
          </a:solidFill>
          <a:ln w="19050">
            <a:solidFill>
              <a:srgbClr val="F0A98B"/>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F0A98B"/>
                </a:solidFill>
                <a:latin typeface="Segoe UI"/>
                <a:ea typeface="Segoe UI"/>
                <a:cs typeface="Segoe UI"/>
              </a:rPr>
              <a:t>D</a:t>
            </a:r>
            <a:endParaRPr lang="en-US" sz="1560" dirty="0"/>
          </a:p>
        </p:txBody>
      </p:sp>
      <p:sp>
        <p:nvSpPr>
          <p:cNvPr id="118" name="s118"/>
          <p:cNvSpPr txBox="1"/>
          <p:nvPr/>
        </p:nvSpPr>
        <p:spPr>
          <a:xfrm>
            <a:off x="5503774" y="3346704"/>
            <a:ext cx="12801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Daniel</a:t>
            </a:r>
            <a:endParaRPr lang="en-US" sz="1200" dirty="0"/>
          </a:p>
        </p:txBody>
      </p:sp>
      <p:sp>
        <p:nvSpPr>
          <p:cNvPr id="119" name="s119"/>
          <p:cNvSpPr/>
          <p:nvPr/>
        </p:nvSpPr>
        <p:spPr>
          <a:xfrm>
            <a:off x="5526634" y="3657600"/>
            <a:ext cx="1234440" cy="1600200"/>
          </a:xfrm>
          <a:prstGeom prst="roundRect">
            <a:avLst>
              <a:gd name="adj" fmla="val 12000"/>
            </a:avLst>
          </a:prstGeom>
          <a:solidFill>
            <a:srgbClr val="005EB5">
              <a:alpha val="55000"/>
            </a:srgbClr>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2800" b="1" dirty="0">
                <a:solidFill>
                  <a:srgbClr val="60A5FA"/>
                </a:solidFill>
                <a:latin typeface="Segoe UI"/>
                <a:ea typeface="Segoe UI"/>
                <a:cs typeface="Segoe UI"/>
              </a:rPr>
              <a:t>?</a:t>
            </a:r>
            <a:endParaRPr lang="en-US" sz="2800" dirty="0"/>
          </a:p>
        </p:txBody>
      </p:sp>
      <p:sp>
        <p:nvSpPr>
          <p:cNvPr id="120" name="s120"/>
          <p:cNvSpPr/>
          <p:nvPr/>
        </p:nvSpPr>
        <p:spPr>
          <a:xfrm>
            <a:off x="5526634" y="3657600"/>
            <a:ext cx="1234440" cy="1600200"/>
          </a:xfrm>
          <a:prstGeom prst="roundRect">
            <a:avLst>
              <a:gd name="adj" fmla="val 12000"/>
            </a:avLst>
          </a:prstGeom>
          <a:solidFill>
            <a:srgbClr val="111B2E"/>
          </a:solidFill>
          <a:ln w="254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4000" b="1" dirty="0">
                <a:solidFill>
                  <a:srgbClr val="13D0F7"/>
                </a:solidFill>
                <a:latin typeface="Segoe UI"/>
                <a:ea typeface="Segoe UI"/>
                <a:cs typeface="Segoe UI"/>
              </a:rPr>
              <a:t>5</a:t>
            </a:r>
            <a:endParaRPr lang="en-US" sz="4000" dirty="0"/>
          </a:p>
        </p:txBody>
      </p:sp>
      <p:sp>
        <p:nvSpPr>
          <p:cNvPr id="121" name="s121"/>
          <p:cNvSpPr/>
          <p:nvPr/>
        </p:nvSpPr>
        <p:spPr>
          <a:xfrm>
            <a:off x="5526634" y="3657600"/>
            <a:ext cx="1234440" cy="1600200"/>
          </a:xfrm>
          <a:prstGeom prst="roundRect">
            <a:avLst>
              <a:gd name="adj" fmla="val 12000"/>
            </a:avLst>
          </a:prstGeom>
          <a:solidFill>
            <a:srgbClr val="123A33"/>
          </a:solidFill>
          <a:ln w="254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4000" b="1" dirty="0">
                <a:solidFill>
                  <a:srgbClr val="34D399"/>
                </a:solidFill>
                <a:latin typeface="Segoe UI"/>
                <a:ea typeface="Segoe UI"/>
                <a:cs typeface="Segoe UI"/>
              </a:rPr>
              <a:t>8</a:t>
            </a:r>
            <a:endParaRPr lang="en-US" sz="4000" dirty="0"/>
          </a:p>
        </p:txBody>
      </p:sp>
      <p:sp>
        <p:nvSpPr>
          <p:cNvPr id="122" name="s122"/>
          <p:cNvSpPr txBox="1"/>
          <p:nvPr/>
        </p:nvSpPr>
        <p:spPr>
          <a:xfrm>
            <a:off x="7263994" y="2743200"/>
            <a:ext cx="436717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ROUND 1 · REVEAL TOGETHER</a:t>
            </a:r>
            <a:endParaRPr lang="en-US" sz="1050" dirty="0"/>
          </a:p>
        </p:txBody>
      </p:sp>
      <p:sp>
        <p:nvSpPr>
          <p:cNvPr id="123" name="s123"/>
          <p:cNvSpPr/>
          <p:nvPr/>
        </p:nvSpPr>
        <p:spPr>
          <a:xfrm>
            <a:off x="7263994" y="3136392"/>
            <a:ext cx="566928" cy="566928"/>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13D0F7"/>
                </a:solidFill>
                <a:latin typeface="Segoe UI"/>
                <a:ea typeface="Segoe UI"/>
                <a:cs typeface="Segoe UI"/>
              </a:rPr>
              <a:t>O</a:t>
            </a:r>
            <a:endParaRPr lang="en-US" sz="1612" dirty="0"/>
          </a:p>
        </p:txBody>
      </p:sp>
      <p:sp>
        <p:nvSpPr>
          <p:cNvPr id="124" name="s124"/>
          <p:cNvSpPr/>
          <p:nvPr/>
        </p:nvSpPr>
        <p:spPr>
          <a:xfrm>
            <a:off x="7995514" y="3063240"/>
            <a:ext cx="3635654" cy="658368"/>
          </a:xfrm>
          <a:prstGeom prst="roundRect">
            <a:avLst>
              <a:gd name="adj" fmla="val 14000"/>
            </a:avLst>
          </a:prstGeom>
          <a:solidFill>
            <a:srgbClr val="111B2E"/>
          </a:solidFill>
          <a:ln w="12700">
            <a:solidFill>
              <a:srgbClr val="13D0F7"/>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13D0F7"/>
                </a:solidFill>
                <a:latin typeface="Segoe UI"/>
                <a:ea typeface="Segoe UI"/>
                <a:cs typeface="Segoe UI"/>
              </a:rPr>
              <a:t>Omar</a:t>
            </a:r>
            <a:r>
              <a:rPr lang="en-US" sz="1100" b="0" dirty="0">
                <a:solidFill>
                  <a:srgbClr val="94A3B8"/>
                </a:solidFill>
                <a:latin typeface="Segoe UI"/>
                <a:ea typeface="Segoe UI"/>
                <a:cs typeface="Segoe UI"/>
              </a:rPr>
              <a:t>  ·  Backend</a:t>
            </a:r>
            <a:endParaRPr lang="en-US" sz="1100" dirty="0"/>
          </a:p>
          <a:p>
            <a:pPr marL="0" indent="0" algn="l">
              <a:spcBef>
                <a:spcPts val="0"/>
              </a:spcBef>
              <a:spcAft>
                <a:spcPts val="0"/>
              </a:spcAft>
              <a:buNone/>
            </a:pPr>
            <a:r>
              <a:rPr lang="en-US" sz="1300" b="0" dirty="0">
                <a:solidFill>
                  <a:srgbClr val="FFFFFF"/>
                </a:solidFill>
                <a:latin typeface="Segoe UI"/>
                <a:ea typeface="Segoe UI"/>
                <a:cs typeface="Segoe UI"/>
              </a:rPr>
              <a:t>“The API already exists.”</a:t>
            </a:r>
            <a:endParaRPr lang="en-US" sz="1300" dirty="0"/>
          </a:p>
        </p:txBody>
      </p:sp>
      <p:sp>
        <p:nvSpPr>
          <p:cNvPr id="125" name="s125"/>
          <p:cNvSpPr/>
          <p:nvPr/>
        </p:nvSpPr>
        <p:spPr>
          <a:xfrm>
            <a:off x="7263994" y="3886200"/>
            <a:ext cx="566928" cy="566928"/>
          </a:xfrm>
          <a:prstGeom prst="ellipse">
            <a:avLst/>
          </a:prstGeom>
          <a:solidFill>
            <a:srgbClr val="34D399">
              <a:alpha val="22000"/>
            </a:srgbClr>
          </a:solidFill>
          <a:ln w="1905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34D399"/>
                </a:solidFill>
                <a:latin typeface="Segoe UI"/>
                <a:ea typeface="Segoe UI"/>
                <a:cs typeface="Segoe UI"/>
              </a:rPr>
              <a:t>M</a:t>
            </a:r>
            <a:endParaRPr lang="en-US" sz="1612" dirty="0"/>
          </a:p>
        </p:txBody>
      </p:sp>
      <p:sp>
        <p:nvSpPr>
          <p:cNvPr id="126" name="s126"/>
          <p:cNvSpPr/>
          <p:nvPr/>
        </p:nvSpPr>
        <p:spPr>
          <a:xfrm>
            <a:off x="7995514" y="3813048"/>
            <a:ext cx="3635654" cy="658368"/>
          </a:xfrm>
          <a:prstGeom prst="roundRect">
            <a:avLst>
              <a:gd name="adj" fmla="val 14000"/>
            </a:avLst>
          </a:prstGeom>
          <a:solidFill>
            <a:srgbClr val="111B2E"/>
          </a:solidFill>
          <a:ln w="12700">
            <a:solidFill>
              <a:srgbClr val="34D399"/>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34D399"/>
                </a:solidFill>
                <a:latin typeface="Segoe UI"/>
                <a:ea typeface="Segoe UI"/>
                <a:cs typeface="Segoe UI"/>
              </a:rPr>
              <a:t>Maya</a:t>
            </a:r>
            <a:r>
              <a:rPr lang="en-US" sz="1100" b="0" dirty="0">
                <a:solidFill>
                  <a:srgbClr val="94A3B8"/>
                </a:solidFill>
                <a:latin typeface="Segoe UI"/>
                <a:ea typeface="Segoe UI"/>
                <a:cs typeface="Segoe UI"/>
              </a:rPr>
              <a:t>  ·  QA</a:t>
            </a:r>
            <a:endParaRPr lang="en-US" sz="1100" dirty="0"/>
          </a:p>
          <a:p>
            <a:pPr marL="0" indent="0" algn="l">
              <a:spcBef>
                <a:spcPts val="0"/>
              </a:spcBef>
              <a:spcAft>
                <a:spcPts val="0"/>
              </a:spcAft>
              <a:buNone/>
            </a:pPr>
            <a:r>
              <a:rPr lang="en-US" sz="1300" b="0" dirty="0">
                <a:solidFill>
                  <a:srgbClr val="FFFFFF"/>
                </a:solidFill>
                <a:latin typeface="Segoe UI"/>
                <a:ea typeface="Segoe UI"/>
                <a:cs typeface="Segoe UI"/>
              </a:rPr>
              <a:t>“Concurrency + overlap tests.”</a:t>
            </a:r>
            <a:endParaRPr lang="en-US" sz="1300" dirty="0"/>
          </a:p>
        </p:txBody>
      </p:sp>
      <p:sp>
        <p:nvSpPr>
          <p:cNvPr id="127" name="s127"/>
          <p:cNvSpPr txBox="1"/>
          <p:nvPr/>
        </p:nvSpPr>
        <p:spPr>
          <a:xfrm>
            <a:off x="7263994" y="4553712"/>
            <a:ext cx="436717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250" b="1" dirty="0">
                <a:solidFill>
                  <a:srgbClr val="FBBF24"/>
                </a:solidFill>
                <a:latin typeface="Segoe UI"/>
                <a:ea typeface="Segoe UI"/>
                <a:cs typeface="Segoe UI"/>
              </a:rPr>
              <a:t>→ Hidden work discovered.</a:t>
            </a:r>
            <a:endParaRPr lang="en-US" sz="1250" dirty="0"/>
          </a:p>
        </p:txBody>
      </p:sp>
      <p:sp>
        <p:nvSpPr>
          <p:cNvPr id="128" name="s128"/>
          <p:cNvSpPr/>
          <p:nvPr/>
        </p:nvSpPr>
        <p:spPr>
          <a:xfrm>
            <a:off x="7263994" y="4919472"/>
            <a:ext cx="4367174" cy="777240"/>
          </a:xfrm>
          <a:prstGeom prst="roundRect">
            <a:avLst>
              <a:gd name="adj" fmla="val 12000"/>
            </a:avLst>
          </a:prstGeom>
          <a:solidFill>
            <a:srgbClr val="34D399">
              <a:alpha val="12000"/>
            </a:srgbClr>
          </a:solidFill>
          <a:ln w="12700">
            <a:solidFill>
              <a:srgbClr val="34D399"/>
            </a:solidFill>
            <a:prstDash val="solid"/>
          </a:ln>
        </p:spPr>
        <p:txBody>
          <a:bodyPr wrap="square" lIns="228600" tIns="45720" rIns="182880" bIns="45720" rtlCol="0" anchor="ctr">
            <a:noAutofit/>
          </a:bodyPr>
          <a:lstStyle/>
          <a:p>
            <a:pPr marL="0" indent="0" algn="l">
              <a:spcBef>
                <a:spcPts val="0"/>
              </a:spcBef>
              <a:spcAft>
                <a:spcPts val="0"/>
              </a:spcAft>
              <a:buNone/>
            </a:pPr>
            <a:r>
              <a:rPr lang="en-US" sz="1400" b="1" dirty="0">
                <a:solidFill>
                  <a:srgbClr val="34D399"/>
                </a:solidFill>
                <a:latin typeface="Segoe UI"/>
                <a:ea typeface="Segoe UI"/>
                <a:cs typeface="Segoe UI"/>
              </a:rPr>
              <a:t>Round 2: all vote 8  →  Final: 8 points</a:t>
            </a:r>
            <a:endParaRPr lang="en-US" sz="1400" dirty="0"/>
          </a:p>
          <a:p>
            <a:pPr marL="0" indent="0" algn="l">
              <a:spcBef>
                <a:spcPts val="0"/>
              </a:spcBef>
              <a:spcAft>
                <a:spcPts val="0"/>
              </a:spcAft>
              <a:buNone/>
            </a:pPr>
            <a:r>
              <a:rPr lang="en-US" sz="1150" b="0" dirty="0">
                <a:solidFill>
                  <a:srgbClr val="E2E8F0"/>
                </a:solidFill>
                <a:latin typeface="Segoe UI"/>
                <a:ea typeface="Segoe UI"/>
                <a:cs typeface="Segoe UI"/>
              </a:rPr>
              <a:t>Do not average 5 + 8 + 13 + 5.</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childTnLst>
                                </p:cTn>
                              </p:par>
                              <p:par>
                                <p:cTn id="8" presetID="42" presetClass="entr" presetSubtype="0" fill="hold" grpId="0" nodeType="withEffect">
                                  <p:stCondLst>
                                    <p:cond delay="90"/>
                                  </p:stCondLst>
                                  <p:childTnLst>
                                    <p:set>
                                      <p:cBhvr>
                                        <p:cTn id="9" dur="1" fill="hold">
                                          <p:stCondLst>
                                            <p:cond delay="0"/>
                                          </p:stCondLst>
                                        </p:cTn>
                                        <p:tgtEl>
                                          <p:spTgt spid="102"/>
                                        </p:tgtEl>
                                        <p:attrNameLst>
                                          <p:attrName>style.visibility</p:attrName>
                                        </p:attrNameLst>
                                      </p:cBhvr>
                                      <p:to>
                                        <p:strVal val="visible"/>
                                      </p:to>
                                    </p:set>
                                    <p:animEffect transition="in" filter="fade">
                                      <p:cBhvr>
                                        <p:cTn id="10" dur="500"/>
                                        <p:tgtEl>
                                          <p:spTgt spid="102"/>
                                        </p:tgtEl>
                                      </p:cBhvr>
                                    </p:animEffect>
                                    <p:anim calcmode="lin" valueType="num">
                                      <p:cBhvr additive="base">
                                        <p:cTn id="11" dur="500" decel="100000" fill="hold"/>
                                        <p:tgtEl>
                                          <p:spTgt spid="102"/>
                                        </p:tgtEl>
                                        <p:attrNameLst>
                                          <p:attrName>ppt_y</p:attrName>
                                        </p:attrNameLst>
                                      </p:cBhvr>
                                      <p:tavLst>
                                        <p:tav tm="0">
                                          <p:val>
                                            <p:strVal val="#ppt_y+0.06"/>
                                          </p:val>
                                        </p:tav>
                                        <p:tav tm="100000">
                                          <p:val>
                                            <p:strVal val="#ppt_y"/>
                                          </p:val>
                                        </p:tav>
                                      </p:tavLst>
                                    </p:anim>
                                  </p:childTnLst>
                                </p:cTn>
                              </p:par>
                              <p:par>
                                <p:cTn id="12" presetID="42" presetClass="entr" presetSubtype="0" fill="hold" grpId="0" nodeType="withEffect">
                                  <p:stCondLst>
                                    <p:cond delay="90"/>
                                  </p:stCondLst>
                                  <p:childTnLst>
                                    <p:set>
                                      <p:cBhvr>
                                        <p:cTn id="13" dur="1" fill="hold">
                                          <p:stCondLst>
                                            <p:cond delay="0"/>
                                          </p:stCondLst>
                                        </p:cTn>
                                        <p:tgtEl>
                                          <p:spTgt spid="103"/>
                                        </p:tgtEl>
                                        <p:attrNameLst>
                                          <p:attrName>style.visibility</p:attrName>
                                        </p:attrNameLst>
                                      </p:cBhvr>
                                      <p:to>
                                        <p:strVal val="visible"/>
                                      </p:to>
                                    </p:set>
                                    <p:animEffect transition="in" filter="fade">
                                      <p:cBhvr>
                                        <p:cTn id="14" dur="500"/>
                                        <p:tgtEl>
                                          <p:spTgt spid="103"/>
                                        </p:tgtEl>
                                      </p:cBhvr>
                                    </p:animEffect>
                                    <p:anim calcmode="lin" valueType="num">
                                      <p:cBhvr additive="base">
                                        <p:cTn id="15" dur="500" decel="100000" fill="hold"/>
                                        <p:tgtEl>
                                          <p:spTgt spid="103"/>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180"/>
                                  </p:stCondLst>
                                  <p:childTnLst>
                                    <p:set>
                                      <p:cBhvr>
                                        <p:cTn id="17" dur="1" fill="hold">
                                          <p:stCondLst>
                                            <p:cond delay="0"/>
                                          </p:stCondLst>
                                        </p:cTn>
                                        <p:tgtEl>
                                          <p:spTgt spid="107"/>
                                        </p:tgtEl>
                                        <p:attrNameLst>
                                          <p:attrName>style.visibility</p:attrName>
                                        </p:attrNameLst>
                                      </p:cBhvr>
                                      <p:to>
                                        <p:strVal val="visible"/>
                                      </p:to>
                                    </p:set>
                                    <p:animEffect transition="in" filter="fade">
                                      <p:cBhvr>
                                        <p:cTn id="18" dur="500"/>
                                        <p:tgtEl>
                                          <p:spTgt spid="107"/>
                                        </p:tgtEl>
                                      </p:cBhvr>
                                    </p:animEffect>
                                    <p:anim calcmode="lin" valueType="num">
                                      <p:cBhvr additive="base">
                                        <p:cTn id="19" dur="500" decel="100000" fill="hold"/>
                                        <p:tgtEl>
                                          <p:spTgt spid="107"/>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180"/>
                                  </p:stCondLst>
                                  <p:childTnLst>
                                    <p:set>
                                      <p:cBhvr>
                                        <p:cTn id="21" dur="1" fill="hold">
                                          <p:stCondLst>
                                            <p:cond delay="0"/>
                                          </p:stCondLst>
                                        </p:cTn>
                                        <p:tgtEl>
                                          <p:spTgt spid="108"/>
                                        </p:tgtEl>
                                        <p:attrNameLst>
                                          <p:attrName>style.visibility</p:attrName>
                                        </p:attrNameLst>
                                      </p:cBhvr>
                                      <p:to>
                                        <p:strVal val="visible"/>
                                      </p:to>
                                    </p:set>
                                    <p:animEffect transition="in" filter="fade">
                                      <p:cBhvr>
                                        <p:cTn id="22" dur="500"/>
                                        <p:tgtEl>
                                          <p:spTgt spid="108"/>
                                        </p:tgtEl>
                                      </p:cBhvr>
                                    </p:animEffect>
                                    <p:anim calcmode="lin" valueType="num">
                                      <p:cBhvr additive="base">
                                        <p:cTn id="23" dur="500" decel="100000" fill="hold"/>
                                        <p:tgtEl>
                                          <p:spTgt spid="108"/>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270"/>
                                  </p:stCondLst>
                                  <p:childTnLst>
                                    <p:set>
                                      <p:cBhvr>
                                        <p:cTn id="25" dur="1" fill="hold">
                                          <p:stCondLst>
                                            <p:cond delay="0"/>
                                          </p:stCondLst>
                                        </p:cTn>
                                        <p:tgtEl>
                                          <p:spTgt spid="112"/>
                                        </p:tgtEl>
                                        <p:attrNameLst>
                                          <p:attrName>style.visibility</p:attrName>
                                        </p:attrNameLst>
                                      </p:cBhvr>
                                      <p:to>
                                        <p:strVal val="visible"/>
                                      </p:to>
                                    </p:set>
                                    <p:animEffect transition="in" filter="fade">
                                      <p:cBhvr>
                                        <p:cTn id="26" dur="500"/>
                                        <p:tgtEl>
                                          <p:spTgt spid="112"/>
                                        </p:tgtEl>
                                      </p:cBhvr>
                                    </p:animEffect>
                                    <p:anim calcmode="lin" valueType="num">
                                      <p:cBhvr additive="base">
                                        <p:cTn id="27" dur="500" decel="100000" fill="hold"/>
                                        <p:tgtEl>
                                          <p:spTgt spid="112"/>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270"/>
                                  </p:stCondLst>
                                  <p:childTnLst>
                                    <p:set>
                                      <p:cBhvr>
                                        <p:cTn id="29" dur="1" fill="hold">
                                          <p:stCondLst>
                                            <p:cond delay="0"/>
                                          </p:stCondLst>
                                        </p:cTn>
                                        <p:tgtEl>
                                          <p:spTgt spid="113"/>
                                        </p:tgtEl>
                                        <p:attrNameLst>
                                          <p:attrName>style.visibility</p:attrName>
                                        </p:attrNameLst>
                                      </p:cBhvr>
                                      <p:to>
                                        <p:strVal val="visible"/>
                                      </p:to>
                                    </p:set>
                                    <p:animEffect transition="in" filter="fade">
                                      <p:cBhvr>
                                        <p:cTn id="30" dur="500"/>
                                        <p:tgtEl>
                                          <p:spTgt spid="113"/>
                                        </p:tgtEl>
                                      </p:cBhvr>
                                    </p:animEffect>
                                    <p:anim calcmode="lin" valueType="num">
                                      <p:cBhvr additive="base">
                                        <p:cTn id="31" dur="500" decel="100000" fill="hold"/>
                                        <p:tgtEl>
                                          <p:spTgt spid="113"/>
                                        </p:tgtEl>
                                        <p:attrNameLst>
                                          <p:attrName>ppt_y</p:attrName>
                                        </p:attrNameLst>
                                      </p:cBhvr>
                                      <p:tavLst>
                                        <p:tav tm="0">
                                          <p:val>
                                            <p:strVal val="#ppt_y+0.06"/>
                                          </p:val>
                                        </p:tav>
                                        <p:tav tm="100000">
                                          <p:val>
                                            <p:strVal val="#ppt_y"/>
                                          </p:val>
                                        </p:tav>
                                      </p:tavLst>
                                    </p:anim>
                                  </p:childTnLst>
                                </p:cTn>
                              </p:par>
                              <p:par>
                                <p:cTn id="32" presetID="42" presetClass="entr" presetSubtype="0" fill="hold" grpId="0" nodeType="withEffect">
                                  <p:stCondLst>
                                    <p:cond delay="360"/>
                                  </p:stCondLst>
                                  <p:childTnLst>
                                    <p:set>
                                      <p:cBhvr>
                                        <p:cTn id="33" dur="1" fill="hold">
                                          <p:stCondLst>
                                            <p:cond delay="0"/>
                                          </p:stCondLst>
                                        </p:cTn>
                                        <p:tgtEl>
                                          <p:spTgt spid="117"/>
                                        </p:tgtEl>
                                        <p:attrNameLst>
                                          <p:attrName>style.visibility</p:attrName>
                                        </p:attrNameLst>
                                      </p:cBhvr>
                                      <p:to>
                                        <p:strVal val="visible"/>
                                      </p:to>
                                    </p:set>
                                    <p:animEffect transition="in" filter="fade">
                                      <p:cBhvr>
                                        <p:cTn id="34" dur="500"/>
                                        <p:tgtEl>
                                          <p:spTgt spid="117"/>
                                        </p:tgtEl>
                                      </p:cBhvr>
                                    </p:animEffect>
                                    <p:anim calcmode="lin" valueType="num">
                                      <p:cBhvr additive="base">
                                        <p:cTn id="35" dur="500" decel="100000" fill="hold"/>
                                        <p:tgtEl>
                                          <p:spTgt spid="117"/>
                                        </p:tgtEl>
                                        <p:attrNameLst>
                                          <p:attrName>ppt_y</p:attrName>
                                        </p:attrNameLst>
                                      </p:cBhvr>
                                      <p:tavLst>
                                        <p:tav tm="0">
                                          <p:val>
                                            <p:strVal val="#ppt_y+0.06"/>
                                          </p:val>
                                        </p:tav>
                                        <p:tav tm="100000">
                                          <p:val>
                                            <p:strVal val="#ppt_y"/>
                                          </p:val>
                                        </p:tav>
                                      </p:tavLst>
                                    </p:anim>
                                  </p:childTnLst>
                                </p:cTn>
                              </p:par>
                              <p:par>
                                <p:cTn id="36" presetID="42" presetClass="entr" presetSubtype="0" fill="hold" grpId="0" nodeType="withEffect">
                                  <p:stCondLst>
                                    <p:cond delay="360"/>
                                  </p:stCondLst>
                                  <p:childTnLst>
                                    <p:set>
                                      <p:cBhvr>
                                        <p:cTn id="37" dur="1" fill="hold">
                                          <p:stCondLst>
                                            <p:cond delay="0"/>
                                          </p:stCondLst>
                                        </p:cTn>
                                        <p:tgtEl>
                                          <p:spTgt spid="118"/>
                                        </p:tgtEl>
                                        <p:attrNameLst>
                                          <p:attrName>style.visibility</p:attrName>
                                        </p:attrNameLst>
                                      </p:cBhvr>
                                      <p:to>
                                        <p:strVal val="visible"/>
                                      </p:to>
                                    </p:set>
                                    <p:animEffect transition="in" filter="fade">
                                      <p:cBhvr>
                                        <p:cTn id="38" dur="500"/>
                                        <p:tgtEl>
                                          <p:spTgt spid="118"/>
                                        </p:tgtEl>
                                      </p:cBhvr>
                                    </p:animEffect>
                                    <p:anim calcmode="lin" valueType="num">
                                      <p:cBhvr additive="base">
                                        <p:cTn id="39" dur="500" decel="100000" fill="hold"/>
                                        <p:tgtEl>
                                          <p:spTgt spid="118"/>
                                        </p:tgtEl>
                                        <p:attrNameLst>
                                          <p:attrName>ppt_y</p:attrName>
                                        </p:attrNameLst>
                                      </p:cBhvr>
                                      <p:tavLst>
                                        <p:tav tm="0">
                                          <p:val>
                                            <p:strVal val="#ppt_y+0.06"/>
                                          </p:val>
                                        </p:tav>
                                        <p:tav tm="100000">
                                          <p:val>
                                            <p:strVal val="#ppt_y"/>
                                          </p:val>
                                        </p:tav>
                                      </p:tavLst>
                                    </p:anim>
                                  </p:childTnLst>
                                </p:cTn>
                              </p:par>
                              <p:par>
                                <p:cTn id="40" presetID="42" presetClass="entr" presetSubtype="0" fill="hold" grpId="0" nodeType="withEffect">
                                  <p:stCondLst>
                                    <p:cond delay="450"/>
                                  </p:stCondLst>
                                  <p:childTnLst>
                                    <p:set>
                                      <p:cBhvr>
                                        <p:cTn id="41" dur="1" fill="hold">
                                          <p:stCondLst>
                                            <p:cond delay="0"/>
                                          </p:stCondLst>
                                        </p:cTn>
                                        <p:tgtEl>
                                          <p:spTgt spid="104"/>
                                        </p:tgtEl>
                                        <p:attrNameLst>
                                          <p:attrName>style.visibility</p:attrName>
                                        </p:attrNameLst>
                                      </p:cBhvr>
                                      <p:to>
                                        <p:strVal val="visible"/>
                                      </p:to>
                                    </p:set>
                                    <p:animEffect transition="in" filter="fade">
                                      <p:cBhvr>
                                        <p:cTn id="42" dur="500"/>
                                        <p:tgtEl>
                                          <p:spTgt spid="104"/>
                                        </p:tgtEl>
                                      </p:cBhvr>
                                    </p:animEffect>
                                    <p:anim calcmode="lin" valueType="num">
                                      <p:cBhvr additive="base">
                                        <p:cTn id="43" dur="500" decel="100000" fill="hold"/>
                                        <p:tgtEl>
                                          <p:spTgt spid="104"/>
                                        </p:tgtEl>
                                        <p:attrNameLst>
                                          <p:attrName>ppt_y</p:attrName>
                                        </p:attrNameLst>
                                      </p:cBhvr>
                                      <p:tavLst>
                                        <p:tav tm="0">
                                          <p:val>
                                            <p:strVal val="#ppt_y-0.06"/>
                                          </p:val>
                                        </p:tav>
                                        <p:tav tm="100000">
                                          <p:val>
                                            <p:strVal val="#ppt_y"/>
                                          </p:val>
                                        </p:tav>
                                      </p:tavLst>
                                    </p:anim>
                                  </p:childTnLst>
                                </p:cTn>
                              </p:par>
                              <p:par>
                                <p:cTn id="44" presetID="42" presetClass="entr" presetSubtype="0" fill="hold" grpId="0" nodeType="withEffect">
                                  <p:stCondLst>
                                    <p:cond delay="540"/>
                                  </p:stCondLst>
                                  <p:childTnLst>
                                    <p:set>
                                      <p:cBhvr>
                                        <p:cTn id="45" dur="1" fill="hold">
                                          <p:stCondLst>
                                            <p:cond delay="0"/>
                                          </p:stCondLst>
                                        </p:cTn>
                                        <p:tgtEl>
                                          <p:spTgt spid="109"/>
                                        </p:tgtEl>
                                        <p:attrNameLst>
                                          <p:attrName>style.visibility</p:attrName>
                                        </p:attrNameLst>
                                      </p:cBhvr>
                                      <p:to>
                                        <p:strVal val="visible"/>
                                      </p:to>
                                    </p:set>
                                    <p:animEffect transition="in" filter="fade">
                                      <p:cBhvr>
                                        <p:cTn id="46" dur="500"/>
                                        <p:tgtEl>
                                          <p:spTgt spid="109"/>
                                        </p:tgtEl>
                                      </p:cBhvr>
                                    </p:animEffect>
                                    <p:anim calcmode="lin" valueType="num">
                                      <p:cBhvr additive="base">
                                        <p:cTn id="47" dur="500" decel="100000" fill="hold"/>
                                        <p:tgtEl>
                                          <p:spTgt spid="109"/>
                                        </p:tgtEl>
                                        <p:attrNameLst>
                                          <p:attrName>ppt_y</p:attrName>
                                        </p:attrNameLst>
                                      </p:cBhvr>
                                      <p:tavLst>
                                        <p:tav tm="0">
                                          <p:val>
                                            <p:strVal val="#ppt_y-0.06"/>
                                          </p:val>
                                        </p:tav>
                                        <p:tav tm="100000">
                                          <p:val>
                                            <p:strVal val="#ppt_y"/>
                                          </p:val>
                                        </p:tav>
                                      </p:tavLst>
                                    </p:anim>
                                  </p:childTnLst>
                                </p:cTn>
                              </p:par>
                              <p:par>
                                <p:cTn id="48" presetID="42" presetClass="entr" presetSubtype="0" fill="hold" grpId="0" nodeType="withEffect">
                                  <p:stCondLst>
                                    <p:cond delay="630"/>
                                  </p:stCondLst>
                                  <p:childTnLst>
                                    <p:set>
                                      <p:cBhvr>
                                        <p:cTn id="49" dur="1" fill="hold">
                                          <p:stCondLst>
                                            <p:cond delay="0"/>
                                          </p:stCondLst>
                                        </p:cTn>
                                        <p:tgtEl>
                                          <p:spTgt spid="114"/>
                                        </p:tgtEl>
                                        <p:attrNameLst>
                                          <p:attrName>style.visibility</p:attrName>
                                        </p:attrNameLst>
                                      </p:cBhvr>
                                      <p:to>
                                        <p:strVal val="visible"/>
                                      </p:to>
                                    </p:set>
                                    <p:animEffect transition="in" filter="fade">
                                      <p:cBhvr>
                                        <p:cTn id="50" dur="500"/>
                                        <p:tgtEl>
                                          <p:spTgt spid="114"/>
                                        </p:tgtEl>
                                      </p:cBhvr>
                                    </p:animEffect>
                                    <p:anim calcmode="lin" valueType="num">
                                      <p:cBhvr additive="base">
                                        <p:cTn id="51" dur="500" decel="100000" fill="hold"/>
                                        <p:tgtEl>
                                          <p:spTgt spid="114"/>
                                        </p:tgtEl>
                                        <p:attrNameLst>
                                          <p:attrName>ppt_y</p:attrName>
                                        </p:attrNameLst>
                                      </p:cBhvr>
                                      <p:tavLst>
                                        <p:tav tm="0">
                                          <p:val>
                                            <p:strVal val="#ppt_y-0.06"/>
                                          </p:val>
                                        </p:tav>
                                        <p:tav tm="100000">
                                          <p:val>
                                            <p:strVal val="#ppt_y"/>
                                          </p:val>
                                        </p:tav>
                                      </p:tavLst>
                                    </p:anim>
                                  </p:childTnLst>
                                </p:cTn>
                              </p:par>
                              <p:par>
                                <p:cTn id="52" presetID="42" presetClass="entr" presetSubtype="0" fill="hold" grpId="0" nodeType="withEffect">
                                  <p:stCondLst>
                                    <p:cond delay="720"/>
                                  </p:stCondLst>
                                  <p:childTnLst>
                                    <p:set>
                                      <p:cBhvr>
                                        <p:cTn id="53" dur="1" fill="hold">
                                          <p:stCondLst>
                                            <p:cond delay="0"/>
                                          </p:stCondLst>
                                        </p:cTn>
                                        <p:tgtEl>
                                          <p:spTgt spid="119"/>
                                        </p:tgtEl>
                                        <p:attrNameLst>
                                          <p:attrName>style.visibility</p:attrName>
                                        </p:attrNameLst>
                                      </p:cBhvr>
                                      <p:to>
                                        <p:strVal val="visible"/>
                                      </p:to>
                                    </p:set>
                                    <p:animEffect transition="in" filter="fade">
                                      <p:cBhvr>
                                        <p:cTn id="54" dur="500"/>
                                        <p:tgtEl>
                                          <p:spTgt spid="119"/>
                                        </p:tgtEl>
                                      </p:cBhvr>
                                    </p:animEffect>
                                    <p:anim calcmode="lin" valueType="num">
                                      <p:cBhvr additive="base">
                                        <p:cTn id="55" dur="5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53" presetClass="entr" presetSubtype="16" fill="hold" grpId="0" nodeType="clickEffect">
                                  <p:stCondLst>
                                    <p:cond delay="0"/>
                                  </p:stCondLst>
                                  <p:childTnLst>
                                    <p:set>
                                      <p:cBhvr>
                                        <p:cTn id="59" dur="1" fill="hold">
                                          <p:stCondLst>
                                            <p:cond delay="0"/>
                                          </p:stCondLst>
                                        </p:cTn>
                                        <p:tgtEl>
                                          <p:spTgt spid="105"/>
                                        </p:tgtEl>
                                        <p:attrNameLst>
                                          <p:attrName>style.visibility</p:attrName>
                                        </p:attrNameLst>
                                      </p:cBhvr>
                                      <p:to>
                                        <p:strVal val="visible"/>
                                      </p:to>
                                    </p:set>
                                    <p:anim calcmode="lin" valueType="num">
                                      <p:cBhvr additive="base">
                                        <p:cTn id="60" dur="500" decel="100000" fill="hold"/>
                                        <p:tgtEl>
                                          <p:spTgt spid="105"/>
                                        </p:tgtEl>
                                        <p:attrNameLst>
                                          <p:attrName>ppt_w</p:attrName>
                                        </p:attrNameLst>
                                      </p:cBhvr>
                                      <p:tavLst>
                                        <p:tav tm="0">
                                          <p:val>
                                            <p:strVal val="#ppt_w*0.3"/>
                                          </p:val>
                                        </p:tav>
                                        <p:tav tm="100000">
                                          <p:val>
                                            <p:strVal val="#ppt_w*1.08"/>
                                          </p:val>
                                        </p:tav>
                                      </p:tavLst>
                                    </p:anim>
                                    <p:anim calcmode="lin" valueType="num">
                                      <p:cBhvr additive="base">
                                        <p:cTn id="61" dur="500" decel="100000" fill="hold"/>
                                        <p:tgtEl>
                                          <p:spTgt spid="105"/>
                                        </p:tgtEl>
                                        <p:attrNameLst>
                                          <p:attrName>ppt_h</p:attrName>
                                        </p:attrNameLst>
                                      </p:cBhvr>
                                      <p:tavLst>
                                        <p:tav tm="0">
                                          <p:val>
                                            <p:strVal val="#ppt_h*0.3"/>
                                          </p:val>
                                        </p:tav>
                                        <p:tav tm="100000">
                                          <p:val>
                                            <p:strVal val="#ppt_h*1.08"/>
                                          </p:val>
                                        </p:tav>
                                      </p:tavLst>
                                    </p:anim>
                                    <p:animEffect transition="in" filter="fade">
                                      <p:cBhvr>
                                        <p:cTn id="62" dur="250"/>
                                        <p:tgtEl>
                                          <p:spTgt spid="105"/>
                                        </p:tgtEl>
                                      </p:cBhvr>
                                    </p:animEffect>
                                    <p:anim calcmode="lin" valueType="num">
                                      <p:cBhvr additive="base">
                                        <p:cTn id="63" dur="160" fill="hold">
                                          <p:stCondLst>
                                            <p:cond delay="500"/>
                                          </p:stCondLst>
                                        </p:cTn>
                                        <p:tgtEl>
                                          <p:spTgt spid="105"/>
                                        </p:tgtEl>
                                        <p:attrNameLst>
                                          <p:attrName>ppt_w</p:attrName>
                                        </p:attrNameLst>
                                      </p:cBhvr>
                                      <p:tavLst>
                                        <p:tav tm="0">
                                          <p:val>
                                            <p:strVal val="#ppt_w*1.08"/>
                                          </p:val>
                                        </p:tav>
                                        <p:tav tm="100000">
                                          <p:val>
                                            <p:strVal val="#ppt_w"/>
                                          </p:val>
                                        </p:tav>
                                      </p:tavLst>
                                    </p:anim>
                                    <p:anim calcmode="lin" valueType="num">
                                      <p:cBhvr additive="base">
                                        <p:cTn id="64" dur="160" fill="hold">
                                          <p:stCondLst>
                                            <p:cond delay="500"/>
                                          </p:stCondLst>
                                        </p:cTn>
                                        <p:tgtEl>
                                          <p:spTgt spid="105"/>
                                        </p:tgtEl>
                                        <p:attrNameLst>
                                          <p:attrName>ppt_h</p:attrName>
                                        </p:attrNameLst>
                                      </p:cBhvr>
                                      <p:tavLst>
                                        <p:tav tm="0">
                                          <p:val>
                                            <p:strVal val="#ppt_h*1.08"/>
                                          </p:val>
                                        </p:tav>
                                        <p:tav tm="100000">
                                          <p:val>
                                            <p:strVal val="#ppt_h"/>
                                          </p:val>
                                        </p:tav>
                                      </p:tavLst>
                                    </p:anim>
                                  </p:childTnLst>
                                </p:cTn>
                              </p:par>
                              <p:par>
                                <p:cTn id="65" presetID="53" presetClass="entr" presetSubtype="16" fill="hold" grpId="0" nodeType="withEffect">
                                  <p:stCondLst>
                                    <p:cond delay="60"/>
                                  </p:stCondLst>
                                  <p:childTnLst>
                                    <p:set>
                                      <p:cBhvr>
                                        <p:cTn id="66" dur="1" fill="hold">
                                          <p:stCondLst>
                                            <p:cond delay="0"/>
                                          </p:stCondLst>
                                        </p:cTn>
                                        <p:tgtEl>
                                          <p:spTgt spid="110"/>
                                        </p:tgtEl>
                                        <p:attrNameLst>
                                          <p:attrName>style.visibility</p:attrName>
                                        </p:attrNameLst>
                                      </p:cBhvr>
                                      <p:to>
                                        <p:strVal val="visible"/>
                                      </p:to>
                                    </p:set>
                                    <p:anim calcmode="lin" valueType="num">
                                      <p:cBhvr additive="base">
                                        <p:cTn id="67" dur="500" decel="100000" fill="hold"/>
                                        <p:tgtEl>
                                          <p:spTgt spid="110"/>
                                        </p:tgtEl>
                                        <p:attrNameLst>
                                          <p:attrName>ppt_w</p:attrName>
                                        </p:attrNameLst>
                                      </p:cBhvr>
                                      <p:tavLst>
                                        <p:tav tm="0">
                                          <p:val>
                                            <p:strVal val="#ppt_w*0.3"/>
                                          </p:val>
                                        </p:tav>
                                        <p:tav tm="100000">
                                          <p:val>
                                            <p:strVal val="#ppt_w*1.08"/>
                                          </p:val>
                                        </p:tav>
                                      </p:tavLst>
                                    </p:anim>
                                    <p:anim calcmode="lin" valueType="num">
                                      <p:cBhvr additive="base">
                                        <p:cTn id="68" dur="500" decel="100000" fill="hold"/>
                                        <p:tgtEl>
                                          <p:spTgt spid="110"/>
                                        </p:tgtEl>
                                        <p:attrNameLst>
                                          <p:attrName>ppt_h</p:attrName>
                                        </p:attrNameLst>
                                      </p:cBhvr>
                                      <p:tavLst>
                                        <p:tav tm="0">
                                          <p:val>
                                            <p:strVal val="#ppt_h*0.3"/>
                                          </p:val>
                                        </p:tav>
                                        <p:tav tm="100000">
                                          <p:val>
                                            <p:strVal val="#ppt_h*1.08"/>
                                          </p:val>
                                        </p:tav>
                                      </p:tavLst>
                                    </p:anim>
                                    <p:animEffect transition="in" filter="fade">
                                      <p:cBhvr>
                                        <p:cTn id="69" dur="250"/>
                                        <p:tgtEl>
                                          <p:spTgt spid="110"/>
                                        </p:tgtEl>
                                      </p:cBhvr>
                                    </p:animEffect>
                                    <p:anim calcmode="lin" valueType="num">
                                      <p:cBhvr additive="base">
                                        <p:cTn id="70" dur="160" fill="hold">
                                          <p:stCondLst>
                                            <p:cond delay="500"/>
                                          </p:stCondLst>
                                        </p:cTn>
                                        <p:tgtEl>
                                          <p:spTgt spid="110"/>
                                        </p:tgtEl>
                                        <p:attrNameLst>
                                          <p:attrName>ppt_w</p:attrName>
                                        </p:attrNameLst>
                                      </p:cBhvr>
                                      <p:tavLst>
                                        <p:tav tm="0">
                                          <p:val>
                                            <p:strVal val="#ppt_w*1.08"/>
                                          </p:val>
                                        </p:tav>
                                        <p:tav tm="100000">
                                          <p:val>
                                            <p:strVal val="#ppt_w"/>
                                          </p:val>
                                        </p:tav>
                                      </p:tavLst>
                                    </p:anim>
                                    <p:anim calcmode="lin" valueType="num">
                                      <p:cBhvr additive="base">
                                        <p:cTn id="71" dur="160" fill="hold">
                                          <p:stCondLst>
                                            <p:cond delay="500"/>
                                          </p:stCondLst>
                                        </p:cTn>
                                        <p:tgtEl>
                                          <p:spTgt spid="110"/>
                                        </p:tgtEl>
                                        <p:attrNameLst>
                                          <p:attrName>ppt_h</p:attrName>
                                        </p:attrNameLst>
                                      </p:cBhvr>
                                      <p:tavLst>
                                        <p:tav tm="0">
                                          <p:val>
                                            <p:strVal val="#ppt_h*1.08"/>
                                          </p:val>
                                        </p:tav>
                                        <p:tav tm="100000">
                                          <p:val>
                                            <p:strVal val="#ppt_h"/>
                                          </p:val>
                                        </p:tav>
                                      </p:tavLst>
                                    </p:anim>
                                  </p:childTnLst>
                                </p:cTn>
                              </p:par>
                              <p:par>
                                <p:cTn id="72" presetID="53" presetClass="entr" presetSubtype="16" fill="hold" grpId="0" nodeType="withEffect">
                                  <p:stCondLst>
                                    <p:cond delay="120"/>
                                  </p:stCondLst>
                                  <p:childTnLst>
                                    <p:set>
                                      <p:cBhvr>
                                        <p:cTn id="73" dur="1" fill="hold">
                                          <p:stCondLst>
                                            <p:cond delay="0"/>
                                          </p:stCondLst>
                                        </p:cTn>
                                        <p:tgtEl>
                                          <p:spTgt spid="115"/>
                                        </p:tgtEl>
                                        <p:attrNameLst>
                                          <p:attrName>style.visibility</p:attrName>
                                        </p:attrNameLst>
                                      </p:cBhvr>
                                      <p:to>
                                        <p:strVal val="visible"/>
                                      </p:to>
                                    </p:set>
                                    <p:anim calcmode="lin" valueType="num">
                                      <p:cBhvr additive="base">
                                        <p:cTn id="74" dur="5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75" dur="500" decel="100000" fill="hold"/>
                                        <p:tgtEl>
                                          <p:spTgt spid="115"/>
                                        </p:tgtEl>
                                        <p:attrNameLst>
                                          <p:attrName>ppt_h</p:attrName>
                                        </p:attrNameLst>
                                      </p:cBhvr>
                                      <p:tavLst>
                                        <p:tav tm="0">
                                          <p:val>
                                            <p:strVal val="#ppt_h*0.3"/>
                                          </p:val>
                                        </p:tav>
                                        <p:tav tm="100000">
                                          <p:val>
                                            <p:strVal val="#ppt_h*1.08"/>
                                          </p:val>
                                        </p:tav>
                                      </p:tavLst>
                                    </p:anim>
                                    <p:animEffect transition="in" filter="fade">
                                      <p:cBhvr>
                                        <p:cTn id="76" dur="250"/>
                                        <p:tgtEl>
                                          <p:spTgt spid="115"/>
                                        </p:tgtEl>
                                      </p:cBhvr>
                                    </p:animEffect>
                                    <p:anim calcmode="lin" valueType="num">
                                      <p:cBhvr additive="base">
                                        <p:cTn id="77" dur="160" fill="hold">
                                          <p:stCondLst>
                                            <p:cond delay="500"/>
                                          </p:stCondLst>
                                        </p:cTn>
                                        <p:tgtEl>
                                          <p:spTgt spid="115"/>
                                        </p:tgtEl>
                                        <p:attrNameLst>
                                          <p:attrName>ppt_w</p:attrName>
                                        </p:attrNameLst>
                                      </p:cBhvr>
                                      <p:tavLst>
                                        <p:tav tm="0">
                                          <p:val>
                                            <p:strVal val="#ppt_w*1.08"/>
                                          </p:val>
                                        </p:tav>
                                        <p:tav tm="100000">
                                          <p:val>
                                            <p:strVal val="#ppt_w"/>
                                          </p:val>
                                        </p:tav>
                                      </p:tavLst>
                                    </p:anim>
                                    <p:anim calcmode="lin" valueType="num">
                                      <p:cBhvr additive="base">
                                        <p:cTn id="78" dur="160" fill="hold">
                                          <p:stCondLst>
                                            <p:cond delay="500"/>
                                          </p:stCondLst>
                                        </p:cTn>
                                        <p:tgtEl>
                                          <p:spTgt spid="115"/>
                                        </p:tgtEl>
                                        <p:attrNameLst>
                                          <p:attrName>ppt_h</p:attrName>
                                        </p:attrNameLst>
                                      </p:cBhvr>
                                      <p:tavLst>
                                        <p:tav tm="0">
                                          <p:val>
                                            <p:strVal val="#ppt_h*1.08"/>
                                          </p:val>
                                        </p:tav>
                                        <p:tav tm="100000">
                                          <p:val>
                                            <p:strVal val="#ppt_h"/>
                                          </p:val>
                                        </p:tav>
                                      </p:tavLst>
                                    </p:anim>
                                  </p:childTnLst>
                                </p:cTn>
                              </p:par>
                              <p:par>
                                <p:cTn id="79" presetID="53" presetClass="entr" presetSubtype="16" fill="hold" grpId="0" nodeType="withEffect">
                                  <p:stCondLst>
                                    <p:cond delay="180"/>
                                  </p:stCondLst>
                                  <p:childTnLst>
                                    <p:set>
                                      <p:cBhvr>
                                        <p:cTn id="80" dur="1" fill="hold">
                                          <p:stCondLst>
                                            <p:cond delay="0"/>
                                          </p:stCondLst>
                                        </p:cTn>
                                        <p:tgtEl>
                                          <p:spTgt spid="120"/>
                                        </p:tgtEl>
                                        <p:attrNameLst>
                                          <p:attrName>style.visibility</p:attrName>
                                        </p:attrNameLst>
                                      </p:cBhvr>
                                      <p:to>
                                        <p:strVal val="visible"/>
                                      </p:to>
                                    </p:set>
                                    <p:anim calcmode="lin" valueType="num">
                                      <p:cBhvr additive="base">
                                        <p:cTn id="81" dur="500" decel="100000" fill="hold"/>
                                        <p:tgtEl>
                                          <p:spTgt spid="120"/>
                                        </p:tgtEl>
                                        <p:attrNameLst>
                                          <p:attrName>ppt_w</p:attrName>
                                        </p:attrNameLst>
                                      </p:cBhvr>
                                      <p:tavLst>
                                        <p:tav tm="0">
                                          <p:val>
                                            <p:strVal val="#ppt_w*0.3"/>
                                          </p:val>
                                        </p:tav>
                                        <p:tav tm="100000">
                                          <p:val>
                                            <p:strVal val="#ppt_w*1.08"/>
                                          </p:val>
                                        </p:tav>
                                      </p:tavLst>
                                    </p:anim>
                                    <p:anim calcmode="lin" valueType="num">
                                      <p:cBhvr additive="base">
                                        <p:cTn id="82" dur="500" decel="100000" fill="hold"/>
                                        <p:tgtEl>
                                          <p:spTgt spid="120"/>
                                        </p:tgtEl>
                                        <p:attrNameLst>
                                          <p:attrName>ppt_h</p:attrName>
                                        </p:attrNameLst>
                                      </p:cBhvr>
                                      <p:tavLst>
                                        <p:tav tm="0">
                                          <p:val>
                                            <p:strVal val="#ppt_h*0.3"/>
                                          </p:val>
                                        </p:tav>
                                        <p:tav tm="100000">
                                          <p:val>
                                            <p:strVal val="#ppt_h*1.08"/>
                                          </p:val>
                                        </p:tav>
                                      </p:tavLst>
                                    </p:anim>
                                    <p:animEffect transition="in" filter="fade">
                                      <p:cBhvr>
                                        <p:cTn id="83" dur="250"/>
                                        <p:tgtEl>
                                          <p:spTgt spid="120"/>
                                        </p:tgtEl>
                                      </p:cBhvr>
                                    </p:animEffect>
                                    <p:anim calcmode="lin" valueType="num">
                                      <p:cBhvr additive="base">
                                        <p:cTn id="84" dur="160" fill="hold">
                                          <p:stCondLst>
                                            <p:cond delay="500"/>
                                          </p:stCondLst>
                                        </p:cTn>
                                        <p:tgtEl>
                                          <p:spTgt spid="120"/>
                                        </p:tgtEl>
                                        <p:attrNameLst>
                                          <p:attrName>ppt_w</p:attrName>
                                        </p:attrNameLst>
                                      </p:cBhvr>
                                      <p:tavLst>
                                        <p:tav tm="0">
                                          <p:val>
                                            <p:strVal val="#ppt_w*1.08"/>
                                          </p:val>
                                        </p:tav>
                                        <p:tav tm="100000">
                                          <p:val>
                                            <p:strVal val="#ppt_w"/>
                                          </p:val>
                                        </p:tav>
                                      </p:tavLst>
                                    </p:anim>
                                    <p:anim calcmode="lin" valueType="num">
                                      <p:cBhvr additive="base">
                                        <p:cTn id="85" dur="160" fill="hold">
                                          <p:stCondLst>
                                            <p:cond delay="500"/>
                                          </p:stCondLst>
                                        </p:cTn>
                                        <p:tgtEl>
                                          <p:spTgt spid="120"/>
                                        </p:tgtEl>
                                        <p:attrNameLst>
                                          <p:attrName>ppt_h</p:attrName>
                                        </p:attrNameLst>
                                      </p:cBhvr>
                                      <p:tavLst>
                                        <p:tav tm="0">
                                          <p:val>
                                            <p:strVal val="#ppt_h*1.08"/>
                                          </p:val>
                                        </p:tav>
                                        <p:tav tm="100000">
                                          <p:val>
                                            <p:strVal val="#ppt_h"/>
                                          </p:val>
                                        </p:tav>
                                      </p:tavLst>
                                    </p:anim>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122"/>
                                        </p:tgtEl>
                                        <p:attrNameLst>
                                          <p:attrName>style.visibility</p:attrName>
                                        </p:attrNameLst>
                                      </p:cBhvr>
                                      <p:to>
                                        <p:strVal val="visible"/>
                                      </p:to>
                                    </p:set>
                                    <p:animEffect transition="in" filter="fade">
                                      <p:cBhvr>
                                        <p:cTn id="90" dur="500"/>
                                        <p:tgtEl>
                                          <p:spTgt spid="122"/>
                                        </p:tgtEl>
                                      </p:cBhvr>
                                    </p:animEffect>
                                  </p:childTnLst>
                                </p:cTn>
                              </p:par>
                              <p:par>
                                <p:cTn id="91" presetID="42" presetClass="entr" presetSubtype="0" fill="hold" grpId="0" nodeType="withEffect">
                                  <p:stCondLst>
                                    <p:cond delay="250"/>
                                  </p:stCondLst>
                                  <p:childTnLst>
                                    <p:set>
                                      <p:cBhvr>
                                        <p:cTn id="92" dur="1" fill="hold">
                                          <p:stCondLst>
                                            <p:cond delay="0"/>
                                          </p:stCondLst>
                                        </p:cTn>
                                        <p:tgtEl>
                                          <p:spTgt spid="123"/>
                                        </p:tgtEl>
                                        <p:attrNameLst>
                                          <p:attrName>style.visibility</p:attrName>
                                        </p:attrNameLst>
                                      </p:cBhvr>
                                      <p:to>
                                        <p:strVal val="visible"/>
                                      </p:to>
                                    </p:set>
                                    <p:animEffect transition="in" filter="fade">
                                      <p:cBhvr>
                                        <p:cTn id="93" dur="500"/>
                                        <p:tgtEl>
                                          <p:spTgt spid="123"/>
                                        </p:tgtEl>
                                      </p:cBhvr>
                                    </p:animEffect>
                                    <p:anim calcmode="lin" valueType="num">
                                      <p:cBhvr additive="base">
                                        <p:cTn id="94" dur="500" decel="100000" fill="hold"/>
                                        <p:tgtEl>
                                          <p:spTgt spid="123"/>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250"/>
                                  </p:stCondLst>
                                  <p:childTnLst>
                                    <p:set>
                                      <p:cBhvr>
                                        <p:cTn id="96" dur="1" fill="hold">
                                          <p:stCondLst>
                                            <p:cond delay="0"/>
                                          </p:stCondLst>
                                        </p:cTn>
                                        <p:tgtEl>
                                          <p:spTgt spid="124"/>
                                        </p:tgtEl>
                                        <p:attrNameLst>
                                          <p:attrName>style.visibility</p:attrName>
                                        </p:attrNameLst>
                                      </p:cBhvr>
                                      <p:to>
                                        <p:strVal val="visible"/>
                                      </p:to>
                                    </p:set>
                                    <p:animEffect transition="in" filter="fade">
                                      <p:cBhvr>
                                        <p:cTn id="97" dur="500"/>
                                        <p:tgtEl>
                                          <p:spTgt spid="124"/>
                                        </p:tgtEl>
                                      </p:cBhvr>
                                    </p:animEffect>
                                    <p:anim calcmode="lin" valueType="num">
                                      <p:cBhvr additive="base">
                                        <p:cTn id="98" dur="500" decel="100000" fill="hold"/>
                                        <p:tgtEl>
                                          <p:spTgt spid="124"/>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500"/>
                                  </p:stCondLst>
                                  <p:childTnLst>
                                    <p:set>
                                      <p:cBhvr>
                                        <p:cTn id="100" dur="1" fill="hold">
                                          <p:stCondLst>
                                            <p:cond delay="0"/>
                                          </p:stCondLst>
                                        </p:cTn>
                                        <p:tgtEl>
                                          <p:spTgt spid="125"/>
                                        </p:tgtEl>
                                        <p:attrNameLst>
                                          <p:attrName>style.visibility</p:attrName>
                                        </p:attrNameLst>
                                      </p:cBhvr>
                                      <p:to>
                                        <p:strVal val="visible"/>
                                      </p:to>
                                    </p:set>
                                    <p:animEffect transition="in" filter="fade">
                                      <p:cBhvr>
                                        <p:cTn id="101" dur="500"/>
                                        <p:tgtEl>
                                          <p:spTgt spid="125"/>
                                        </p:tgtEl>
                                      </p:cBhvr>
                                    </p:animEffect>
                                    <p:anim calcmode="lin" valueType="num">
                                      <p:cBhvr additive="base">
                                        <p:cTn id="102" dur="500" decel="100000" fill="hold"/>
                                        <p:tgtEl>
                                          <p:spTgt spid="125"/>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500"/>
                                  </p:stCondLst>
                                  <p:childTnLst>
                                    <p:set>
                                      <p:cBhvr>
                                        <p:cTn id="104" dur="1" fill="hold">
                                          <p:stCondLst>
                                            <p:cond delay="0"/>
                                          </p:stCondLst>
                                        </p:cTn>
                                        <p:tgtEl>
                                          <p:spTgt spid="126"/>
                                        </p:tgtEl>
                                        <p:attrNameLst>
                                          <p:attrName>style.visibility</p:attrName>
                                        </p:attrNameLst>
                                      </p:cBhvr>
                                      <p:to>
                                        <p:strVal val="visible"/>
                                      </p:to>
                                    </p:set>
                                    <p:animEffect transition="in" filter="fade">
                                      <p:cBhvr>
                                        <p:cTn id="105" dur="500"/>
                                        <p:tgtEl>
                                          <p:spTgt spid="126"/>
                                        </p:tgtEl>
                                      </p:cBhvr>
                                    </p:animEffect>
                                    <p:anim calcmode="lin" valueType="num">
                                      <p:cBhvr additive="base">
                                        <p:cTn id="106" dur="500" decel="100000" fill="hold"/>
                                        <p:tgtEl>
                                          <p:spTgt spid="126"/>
                                        </p:tgtEl>
                                        <p:attrNameLst>
                                          <p:attrName>ppt_y</p:attrName>
                                        </p:attrNameLst>
                                      </p:cBhvr>
                                      <p:tavLst>
                                        <p:tav tm="0">
                                          <p:val>
                                            <p:strVal val="#ppt_y+0.06"/>
                                          </p:val>
                                        </p:tav>
                                        <p:tav tm="100000">
                                          <p:val>
                                            <p:strVal val="#ppt_y"/>
                                          </p:val>
                                        </p:tav>
                                      </p:tavLst>
                                    </p:anim>
                                  </p:childTnLst>
                                </p:cTn>
                              </p:par>
                              <p:par>
                                <p:cTn id="107" presetID="10" presetClass="entr" presetSubtype="0" fill="hold" grpId="0" nodeType="withEffect">
                                  <p:stCondLst>
                                    <p:cond delay="750"/>
                                  </p:stCondLst>
                                  <p:childTnLst>
                                    <p:set>
                                      <p:cBhvr>
                                        <p:cTn id="108" dur="1" fill="hold">
                                          <p:stCondLst>
                                            <p:cond delay="0"/>
                                          </p:stCondLst>
                                        </p:cTn>
                                        <p:tgtEl>
                                          <p:spTgt spid="127"/>
                                        </p:tgtEl>
                                        <p:attrNameLst>
                                          <p:attrName>style.visibility</p:attrName>
                                        </p:attrNameLst>
                                      </p:cBhvr>
                                      <p:to>
                                        <p:strVal val="visible"/>
                                      </p:to>
                                    </p:set>
                                    <p:animEffect transition="in" filter="fade">
                                      <p:cBhvr>
                                        <p:cTn id="109" dur="500"/>
                                        <p:tgtEl>
                                          <p:spTgt spid="127"/>
                                        </p:tgtEl>
                                      </p:cBhvr>
                                    </p:animEffect>
                                  </p:childTnLst>
                                </p:cTn>
                              </p:par>
                            </p:childTnLst>
                          </p:cTn>
                        </p:par>
                      </p:childTnLst>
                    </p:cTn>
                  </p:par>
                  <p:par>
                    <p:cTn id="110" fill="hold">
                      <p:stCondLst>
                        <p:cond delay="indefinite"/>
                      </p:stCondLst>
                      <p:childTnLst>
                        <p:par>
                          <p:cTn id="111" fill="hold">
                            <p:stCondLst>
                              <p:cond delay="0"/>
                            </p:stCondLst>
                            <p:childTnLst>
                              <p:par>
                                <p:cTn id="112" presetID="53" presetClass="entr" presetSubtype="16" fill="hold" grpId="0" nodeType="clickEffect">
                                  <p:stCondLst>
                                    <p:cond delay="0"/>
                                  </p:stCondLst>
                                  <p:childTnLst>
                                    <p:set>
                                      <p:cBhvr>
                                        <p:cTn id="113" dur="1" fill="hold">
                                          <p:stCondLst>
                                            <p:cond delay="0"/>
                                          </p:stCondLst>
                                        </p:cTn>
                                        <p:tgtEl>
                                          <p:spTgt spid="106"/>
                                        </p:tgtEl>
                                        <p:attrNameLst>
                                          <p:attrName>style.visibility</p:attrName>
                                        </p:attrNameLst>
                                      </p:cBhvr>
                                      <p:to>
                                        <p:strVal val="visible"/>
                                      </p:to>
                                    </p:set>
                                    <p:anim calcmode="lin" valueType="num">
                                      <p:cBhvr additive="base">
                                        <p:cTn id="114"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115" dur="500" decel="100000" fill="hold"/>
                                        <p:tgtEl>
                                          <p:spTgt spid="106"/>
                                        </p:tgtEl>
                                        <p:attrNameLst>
                                          <p:attrName>ppt_h</p:attrName>
                                        </p:attrNameLst>
                                      </p:cBhvr>
                                      <p:tavLst>
                                        <p:tav tm="0">
                                          <p:val>
                                            <p:strVal val="#ppt_h*0.3"/>
                                          </p:val>
                                        </p:tav>
                                        <p:tav tm="100000">
                                          <p:val>
                                            <p:strVal val="#ppt_h*1.08"/>
                                          </p:val>
                                        </p:tav>
                                      </p:tavLst>
                                    </p:anim>
                                    <p:animEffect transition="in" filter="fade">
                                      <p:cBhvr>
                                        <p:cTn id="116" dur="250"/>
                                        <p:tgtEl>
                                          <p:spTgt spid="106"/>
                                        </p:tgtEl>
                                      </p:cBhvr>
                                    </p:animEffect>
                                    <p:anim calcmode="lin" valueType="num">
                                      <p:cBhvr additive="base">
                                        <p:cTn id="117"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118"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par>
                                <p:cTn id="119" presetID="53" presetClass="entr" presetSubtype="16" fill="hold" grpId="0" nodeType="withEffect">
                                  <p:stCondLst>
                                    <p:cond delay="80"/>
                                  </p:stCondLst>
                                  <p:childTnLst>
                                    <p:set>
                                      <p:cBhvr>
                                        <p:cTn id="120" dur="1" fill="hold">
                                          <p:stCondLst>
                                            <p:cond delay="0"/>
                                          </p:stCondLst>
                                        </p:cTn>
                                        <p:tgtEl>
                                          <p:spTgt spid="111"/>
                                        </p:tgtEl>
                                        <p:attrNameLst>
                                          <p:attrName>style.visibility</p:attrName>
                                        </p:attrNameLst>
                                      </p:cBhvr>
                                      <p:to>
                                        <p:strVal val="visible"/>
                                      </p:to>
                                    </p:set>
                                    <p:anim calcmode="lin" valueType="num">
                                      <p:cBhvr additive="base">
                                        <p:cTn id="121" dur="500" decel="100000" fill="hold"/>
                                        <p:tgtEl>
                                          <p:spTgt spid="111"/>
                                        </p:tgtEl>
                                        <p:attrNameLst>
                                          <p:attrName>ppt_w</p:attrName>
                                        </p:attrNameLst>
                                      </p:cBhvr>
                                      <p:tavLst>
                                        <p:tav tm="0">
                                          <p:val>
                                            <p:strVal val="#ppt_w*0.3"/>
                                          </p:val>
                                        </p:tav>
                                        <p:tav tm="100000">
                                          <p:val>
                                            <p:strVal val="#ppt_w*1.08"/>
                                          </p:val>
                                        </p:tav>
                                      </p:tavLst>
                                    </p:anim>
                                    <p:anim calcmode="lin" valueType="num">
                                      <p:cBhvr additive="base">
                                        <p:cTn id="122" dur="500" decel="100000" fill="hold"/>
                                        <p:tgtEl>
                                          <p:spTgt spid="111"/>
                                        </p:tgtEl>
                                        <p:attrNameLst>
                                          <p:attrName>ppt_h</p:attrName>
                                        </p:attrNameLst>
                                      </p:cBhvr>
                                      <p:tavLst>
                                        <p:tav tm="0">
                                          <p:val>
                                            <p:strVal val="#ppt_h*0.3"/>
                                          </p:val>
                                        </p:tav>
                                        <p:tav tm="100000">
                                          <p:val>
                                            <p:strVal val="#ppt_h*1.08"/>
                                          </p:val>
                                        </p:tav>
                                      </p:tavLst>
                                    </p:anim>
                                    <p:animEffect transition="in" filter="fade">
                                      <p:cBhvr>
                                        <p:cTn id="123" dur="250"/>
                                        <p:tgtEl>
                                          <p:spTgt spid="111"/>
                                        </p:tgtEl>
                                      </p:cBhvr>
                                    </p:animEffect>
                                    <p:anim calcmode="lin" valueType="num">
                                      <p:cBhvr additive="base">
                                        <p:cTn id="124" dur="160" fill="hold">
                                          <p:stCondLst>
                                            <p:cond delay="500"/>
                                          </p:stCondLst>
                                        </p:cTn>
                                        <p:tgtEl>
                                          <p:spTgt spid="111"/>
                                        </p:tgtEl>
                                        <p:attrNameLst>
                                          <p:attrName>ppt_w</p:attrName>
                                        </p:attrNameLst>
                                      </p:cBhvr>
                                      <p:tavLst>
                                        <p:tav tm="0">
                                          <p:val>
                                            <p:strVal val="#ppt_w*1.08"/>
                                          </p:val>
                                        </p:tav>
                                        <p:tav tm="100000">
                                          <p:val>
                                            <p:strVal val="#ppt_w"/>
                                          </p:val>
                                        </p:tav>
                                      </p:tavLst>
                                    </p:anim>
                                    <p:anim calcmode="lin" valueType="num">
                                      <p:cBhvr additive="base">
                                        <p:cTn id="125" dur="160" fill="hold">
                                          <p:stCondLst>
                                            <p:cond delay="500"/>
                                          </p:stCondLst>
                                        </p:cTn>
                                        <p:tgtEl>
                                          <p:spTgt spid="111"/>
                                        </p:tgtEl>
                                        <p:attrNameLst>
                                          <p:attrName>ppt_h</p:attrName>
                                        </p:attrNameLst>
                                      </p:cBhvr>
                                      <p:tavLst>
                                        <p:tav tm="0">
                                          <p:val>
                                            <p:strVal val="#ppt_h*1.08"/>
                                          </p:val>
                                        </p:tav>
                                        <p:tav tm="100000">
                                          <p:val>
                                            <p:strVal val="#ppt_h"/>
                                          </p:val>
                                        </p:tav>
                                      </p:tavLst>
                                    </p:anim>
                                  </p:childTnLst>
                                </p:cTn>
                              </p:par>
                              <p:par>
                                <p:cTn id="126" presetID="53" presetClass="entr" presetSubtype="16" fill="hold" grpId="0" nodeType="withEffect">
                                  <p:stCondLst>
                                    <p:cond delay="160"/>
                                  </p:stCondLst>
                                  <p:childTnLst>
                                    <p:set>
                                      <p:cBhvr>
                                        <p:cTn id="127" dur="1" fill="hold">
                                          <p:stCondLst>
                                            <p:cond delay="0"/>
                                          </p:stCondLst>
                                        </p:cTn>
                                        <p:tgtEl>
                                          <p:spTgt spid="116"/>
                                        </p:tgtEl>
                                        <p:attrNameLst>
                                          <p:attrName>style.visibility</p:attrName>
                                        </p:attrNameLst>
                                      </p:cBhvr>
                                      <p:to>
                                        <p:strVal val="visible"/>
                                      </p:to>
                                    </p:set>
                                    <p:anim calcmode="lin" valueType="num">
                                      <p:cBhvr additive="base">
                                        <p:cTn id="128" dur="500" decel="100000" fill="hold"/>
                                        <p:tgtEl>
                                          <p:spTgt spid="116"/>
                                        </p:tgtEl>
                                        <p:attrNameLst>
                                          <p:attrName>ppt_w</p:attrName>
                                        </p:attrNameLst>
                                      </p:cBhvr>
                                      <p:tavLst>
                                        <p:tav tm="0">
                                          <p:val>
                                            <p:strVal val="#ppt_w*0.3"/>
                                          </p:val>
                                        </p:tav>
                                        <p:tav tm="100000">
                                          <p:val>
                                            <p:strVal val="#ppt_w*1.08"/>
                                          </p:val>
                                        </p:tav>
                                      </p:tavLst>
                                    </p:anim>
                                    <p:anim calcmode="lin" valueType="num">
                                      <p:cBhvr additive="base">
                                        <p:cTn id="129" dur="500" decel="100000" fill="hold"/>
                                        <p:tgtEl>
                                          <p:spTgt spid="116"/>
                                        </p:tgtEl>
                                        <p:attrNameLst>
                                          <p:attrName>ppt_h</p:attrName>
                                        </p:attrNameLst>
                                      </p:cBhvr>
                                      <p:tavLst>
                                        <p:tav tm="0">
                                          <p:val>
                                            <p:strVal val="#ppt_h*0.3"/>
                                          </p:val>
                                        </p:tav>
                                        <p:tav tm="100000">
                                          <p:val>
                                            <p:strVal val="#ppt_h*1.08"/>
                                          </p:val>
                                        </p:tav>
                                      </p:tavLst>
                                    </p:anim>
                                    <p:animEffect transition="in" filter="fade">
                                      <p:cBhvr>
                                        <p:cTn id="130" dur="250"/>
                                        <p:tgtEl>
                                          <p:spTgt spid="116"/>
                                        </p:tgtEl>
                                      </p:cBhvr>
                                    </p:animEffect>
                                    <p:anim calcmode="lin" valueType="num">
                                      <p:cBhvr additive="base">
                                        <p:cTn id="131" dur="160" fill="hold">
                                          <p:stCondLst>
                                            <p:cond delay="500"/>
                                          </p:stCondLst>
                                        </p:cTn>
                                        <p:tgtEl>
                                          <p:spTgt spid="116"/>
                                        </p:tgtEl>
                                        <p:attrNameLst>
                                          <p:attrName>ppt_w</p:attrName>
                                        </p:attrNameLst>
                                      </p:cBhvr>
                                      <p:tavLst>
                                        <p:tav tm="0">
                                          <p:val>
                                            <p:strVal val="#ppt_w*1.08"/>
                                          </p:val>
                                        </p:tav>
                                        <p:tav tm="100000">
                                          <p:val>
                                            <p:strVal val="#ppt_w"/>
                                          </p:val>
                                        </p:tav>
                                      </p:tavLst>
                                    </p:anim>
                                    <p:anim calcmode="lin" valueType="num">
                                      <p:cBhvr additive="base">
                                        <p:cTn id="132" dur="160" fill="hold">
                                          <p:stCondLst>
                                            <p:cond delay="500"/>
                                          </p:stCondLst>
                                        </p:cTn>
                                        <p:tgtEl>
                                          <p:spTgt spid="116"/>
                                        </p:tgtEl>
                                        <p:attrNameLst>
                                          <p:attrName>ppt_h</p:attrName>
                                        </p:attrNameLst>
                                      </p:cBhvr>
                                      <p:tavLst>
                                        <p:tav tm="0">
                                          <p:val>
                                            <p:strVal val="#ppt_h*1.08"/>
                                          </p:val>
                                        </p:tav>
                                        <p:tav tm="100000">
                                          <p:val>
                                            <p:strVal val="#ppt_h"/>
                                          </p:val>
                                        </p:tav>
                                      </p:tavLst>
                                    </p:anim>
                                  </p:childTnLst>
                                </p:cTn>
                              </p:par>
                              <p:par>
                                <p:cTn id="133" presetID="53" presetClass="entr" presetSubtype="16" fill="hold" grpId="0" nodeType="withEffect">
                                  <p:stCondLst>
                                    <p:cond delay="240"/>
                                  </p:stCondLst>
                                  <p:childTnLst>
                                    <p:set>
                                      <p:cBhvr>
                                        <p:cTn id="134" dur="1" fill="hold">
                                          <p:stCondLst>
                                            <p:cond delay="0"/>
                                          </p:stCondLst>
                                        </p:cTn>
                                        <p:tgtEl>
                                          <p:spTgt spid="121"/>
                                        </p:tgtEl>
                                        <p:attrNameLst>
                                          <p:attrName>style.visibility</p:attrName>
                                        </p:attrNameLst>
                                      </p:cBhvr>
                                      <p:to>
                                        <p:strVal val="visible"/>
                                      </p:to>
                                    </p:set>
                                    <p:anim calcmode="lin" valueType="num">
                                      <p:cBhvr additive="base">
                                        <p:cTn id="135" dur="500" decel="100000" fill="hold"/>
                                        <p:tgtEl>
                                          <p:spTgt spid="121"/>
                                        </p:tgtEl>
                                        <p:attrNameLst>
                                          <p:attrName>ppt_w</p:attrName>
                                        </p:attrNameLst>
                                      </p:cBhvr>
                                      <p:tavLst>
                                        <p:tav tm="0">
                                          <p:val>
                                            <p:strVal val="#ppt_w*0.3"/>
                                          </p:val>
                                        </p:tav>
                                        <p:tav tm="100000">
                                          <p:val>
                                            <p:strVal val="#ppt_w*1.08"/>
                                          </p:val>
                                        </p:tav>
                                      </p:tavLst>
                                    </p:anim>
                                    <p:anim calcmode="lin" valueType="num">
                                      <p:cBhvr additive="base">
                                        <p:cTn id="136" dur="500" decel="100000" fill="hold"/>
                                        <p:tgtEl>
                                          <p:spTgt spid="121"/>
                                        </p:tgtEl>
                                        <p:attrNameLst>
                                          <p:attrName>ppt_h</p:attrName>
                                        </p:attrNameLst>
                                      </p:cBhvr>
                                      <p:tavLst>
                                        <p:tav tm="0">
                                          <p:val>
                                            <p:strVal val="#ppt_h*0.3"/>
                                          </p:val>
                                        </p:tav>
                                        <p:tav tm="100000">
                                          <p:val>
                                            <p:strVal val="#ppt_h*1.08"/>
                                          </p:val>
                                        </p:tav>
                                      </p:tavLst>
                                    </p:anim>
                                    <p:animEffect transition="in" filter="fade">
                                      <p:cBhvr>
                                        <p:cTn id="137" dur="250"/>
                                        <p:tgtEl>
                                          <p:spTgt spid="121"/>
                                        </p:tgtEl>
                                      </p:cBhvr>
                                    </p:animEffect>
                                    <p:anim calcmode="lin" valueType="num">
                                      <p:cBhvr additive="base">
                                        <p:cTn id="138" dur="160" fill="hold">
                                          <p:stCondLst>
                                            <p:cond delay="500"/>
                                          </p:stCondLst>
                                        </p:cTn>
                                        <p:tgtEl>
                                          <p:spTgt spid="121"/>
                                        </p:tgtEl>
                                        <p:attrNameLst>
                                          <p:attrName>ppt_w</p:attrName>
                                        </p:attrNameLst>
                                      </p:cBhvr>
                                      <p:tavLst>
                                        <p:tav tm="0">
                                          <p:val>
                                            <p:strVal val="#ppt_w*1.08"/>
                                          </p:val>
                                        </p:tav>
                                        <p:tav tm="100000">
                                          <p:val>
                                            <p:strVal val="#ppt_w"/>
                                          </p:val>
                                        </p:tav>
                                      </p:tavLst>
                                    </p:anim>
                                    <p:anim calcmode="lin" valueType="num">
                                      <p:cBhvr additive="base">
                                        <p:cTn id="139" dur="160" fill="hold">
                                          <p:stCondLst>
                                            <p:cond delay="500"/>
                                          </p:stCondLst>
                                        </p:cTn>
                                        <p:tgtEl>
                                          <p:spTgt spid="121"/>
                                        </p:tgtEl>
                                        <p:attrNameLst>
                                          <p:attrName>ppt_h</p:attrName>
                                        </p:attrNameLst>
                                      </p:cBhvr>
                                      <p:tavLst>
                                        <p:tav tm="0">
                                          <p:val>
                                            <p:strVal val="#ppt_h*1.08"/>
                                          </p:val>
                                        </p:tav>
                                        <p:tav tm="100000">
                                          <p:val>
                                            <p:strVal val="#ppt_h"/>
                                          </p:val>
                                        </p:tav>
                                      </p:tavLst>
                                    </p:anim>
                                  </p:childTnLst>
                                </p:cTn>
                              </p:par>
                              <p:par>
                                <p:cTn id="140" presetID="42" presetClass="entr" presetSubtype="0" fill="hold" grpId="0" nodeType="withEffect">
                                  <p:stCondLst>
                                    <p:cond delay="320"/>
                                  </p:stCondLst>
                                  <p:childTnLst>
                                    <p:set>
                                      <p:cBhvr>
                                        <p:cTn id="141" dur="1" fill="hold">
                                          <p:stCondLst>
                                            <p:cond delay="0"/>
                                          </p:stCondLst>
                                        </p:cTn>
                                        <p:tgtEl>
                                          <p:spTgt spid="128"/>
                                        </p:tgtEl>
                                        <p:attrNameLst>
                                          <p:attrName>style.visibility</p:attrName>
                                        </p:attrNameLst>
                                      </p:cBhvr>
                                      <p:to>
                                        <p:strVal val="visible"/>
                                      </p:to>
                                    </p:set>
                                    <p:animEffect transition="in" filter="fade">
                                      <p:cBhvr>
                                        <p:cTn id="142" dur="500"/>
                                        <p:tgtEl>
                                          <p:spTgt spid="128"/>
                                        </p:tgtEl>
                                      </p:cBhvr>
                                    </p:animEffect>
                                    <p:anim calcmode="lin" valueType="num">
                                      <p:cBhvr additive="base">
                                        <p:cTn id="143" dur="500" decel="100000" fill="hold"/>
                                        <p:tgtEl>
                                          <p:spTgt spid="12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SPIKE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Is a Spike?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SMS confirmation is unclear. Research reduces uncertainty.</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256</a:t>
            </a:r>
            <a:endParaRPr lang="en-US" sz="850" dirty="0"/>
          </a:p>
        </p:txBody>
      </p:sp>
      <p:sp>
        <p:nvSpPr>
          <p:cNvPr id="101" name="s101"/>
          <p:cNvSpPr/>
          <p:nvPr/>
        </p:nvSpPr>
        <p:spPr>
          <a:xfrm>
            <a:off x="543154" y="1965960"/>
            <a:ext cx="11088014" cy="777240"/>
          </a:xfrm>
          <a:prstGeom prst="roundRect">
            <a:avLst>
              <a:gd name="adj" fmla="val 12000"/>
            </a:avLst>
          </a:prstGeom>
          <a:solidFill>
            <a:srgbClr val="111B2E"/>
          </a:solidFill>
          <a:ln w="12700">
            <a:solidFill>
              <a:srgbClr val="FBBF24"/>
            </a:solidFill>
            <a:prstDash val="solid"/>
          </a:ln>
        </p:spPr>
        <p:txBody>
          <a:bodyPr wrap="square" lIns="274320" tIns="0" rIns="182880" bIns="0" rtlCol="0" anchor="ctr">
            <a:noAutofit/>
          </a:bodyPr>
          <a:lstStyle/>
          <a:p>
            <a:pPr marL="0" indent="0" algn="l">
              <a:spcBef>
                <a:spcPts val="0"/>
              </a:spcBef>
              <a:spcAft>
                <a:spcPts val="0"/>
              </a:spcAft>
              <a:buNone/>
            </a:pPr>
            <a:r>
              <a:rPr lang="en-US" sz="1500" b="1" dirty="0">
                <a:solidFill>
                  <a:srgbClr val="FBBF24"/>
                </a:solidFill>
                <a:latin typeface="Segoe UI"/>
                <a:ea typeface="Segoe UI"/>
                <a:cs typeface="Segoe UI"/>
              </a:rPr>
              <a:t>UNCLEAR ITEM   </a:t>
            </a:r>
            <a:r>
              <a:rPr lang="en-US" sz="1500" b="1" dirty="0">
                <a:solidFill>
                  <a:srgbClr val="FFFFFF"/>
                </a:solidFill>
                <a:latin typeface="Segoe UI"/>
                <a:ea typeface="Segoe UI"/>
                <a:cs typeface="Segoe UI"/>
              </a:rPr>
              <a:t>Send appointment confirmation through an external SMS provider.</a:t>
            </a:r>
            <a:endParaRPr lang="en-US" sz="1500" dirty="0"/>
          </a:p>
        </p:txBody>
      </p:sp>
      <p:sp>
        <p:nvSpPr>
          <p:cNvPr id="102" name="s102"/>
          <p:cNvSpPr/>
          <p:nvPr/>
        </p:nvSpPr>
        <p:spPr>
          <a:xfrm>
            <a:off x="543154" y="2971800"/>
            <a:ext cx="2071299" cy="548640"/>
          </a:xfrm>
          <a:prstGeom prst="roundRect">
            <a:avLst>
              <a:gd name="adj" fmla="val 20000"/>
            </a:avLst>
          </a:prstGeom>
          <a:solidFill>
            <a:srgbClr val="FBBF24">
              <a:alpha val="10000"/>
            </a:srgbClr>
          </a:solidFill>
          <a:ln w="12700">
            <a:solidFill>
              <a:srgbClr val="FBBF24">
                <a:alpha val="60000"/>
              </a:srgbClr>
            </a:solidFill>
            <a:prstDash val="dash"/>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 Provider limits</a:t>
            </a:r>
            <a:endParaRPr lang="en-US" sz="1300" dirty="0"/>
          </a:p>
        </p:txBody>
      </p:sp>
      <p:sp>
        <p:nvSpPr>
          <p:cNvPr id="103" name="s103"/>
          <p:cNvSpPr/>
          <p:nvPr/>
        </p:nvSpPr>
        <p:spPr>
          <a:xfrm>
            <a:off x="2797332" y="2971800"/>
            <a:ext cx="2071299" cy="548640"/>
          </a:xfrm>
          <a:prstGeom prst="roundRect">
            <a:avLst>
              <a:gd name="adj" fmla="val 20000"/>
            </a:avLst>
          </a:prstGeom>
          <a:solidFill>
            <a:srgbClr val="FBBF24">
              <a:alpha val="10000"/>
            </a:srgbClr>
          </a:solidFill>
          <a:ln w="12700">
            <a:solidFill>
              <a:srgbClr val="FBBF24">
                <a:alpha val="60000"/>
              </a:srgbClr>
            </a:solidFill>
            <a:prstDash val="dash"/>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 Auth method</a:t>
            </a:r>
            <a:endParaRPr lang="en-US" sz="1300" dirty="0"/>
          </a:p>
        </p:txBody>
      </p:sp>
      <p:sp>
        <p:nvSpPr>
          <p:cNvPr id="104" name="s104"/>
          <p:cNvSpPr/>
          <p:nvPr/>
        </p:nvSpPr>
        <p:spPr>
          <a:xfrm>
            <a:off x="5051511" y="2971800"/>
            <a:ext cx="2071299" cy="548640"/>
          </a:xfrm>
          <a:prstGeom prst="roundRect">
            <a:avLst>
              <a:gd name="adj" fmla="val 20000"/>
            </a:avLst>
          </a:prstGeom>
          <a:solidFill>
            <a:srgbClr val="FBBF24">
              <a:alpha val="10000"/>
            </a:srgbClr>
          </a:solidFill>
          <a:ln w="12700">
            <a:solidFill>
              <a:srgbClr val="FBBF24">
                <a:alpha val="60000"/>
              </a:srgbClr>
            </a:solidFill>
            <a:prstDash val="dash"/>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 Delivery callbacks</a:t>
            </a:r>
            <a:endParaRPr lang="en-US" sz="1300" dirty="0"/>
          </a:p>
        </p:txBody>
      </p:sp>
      <p:sp>
        <p:nvSpPr>
          <p:cNvPr id="105" name="s105"/>
          <p:cNvSpPr/>
          <p:nvPr/>
        </p:nvSpPr>
        <p:spPr>
          <a:xfrm>
            <a:off x="7305690" y="2971800"/>
            <a:ext cx="2071299" cy="548640"/>
          </a:xfrm>
          <a:prstGeom prst="roundRect">
            <a:avLst>
              <a:gd name="adj" fmla="val 20000"/>
            </a:avLst>
          </a:prstGeom>
          <a:solidFill>
            <a:srgbClr val="FBBF24">
              <a:alpha val="10000"/>
            </a:srgbClr>
          </a:solidFill>
          <a:ln w="12700">
            <a:solidFill>
              <a:srgbClr val="FBBF24">
                <a:alpha val="60000"/>
              </a:srgbClr>
            </a:solidFill>
            <a:prstDash val="dash"/>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 Retry behavior</a:t>
            </a:r>
            <a:endParaRPr lang="en-US" sz="1300" dirty="0"/>
          </a:p>
        </p:txBody>
      </p:sp>
      <p:sp>
        <p:nvSpPr>
          <p:cNvPr id="106" name="s106"/>
          <p:cNvSpPr/>
          <p:nvPr/>
        </p:nvSpPr>
        <p:spPr>
          <a:xfrm>
            <a:off x="9559869" y="2971800"/>
            <a:ext cx="2071299" cy="548640"/>
          </a:xfrm>
          <a:prstGeom prst="roundRect">
            <a:avLst>
              <a:gd name="adj" fmla="val 20000"/>
            </a:avLst>
          </a:prstGeom>
          <a:solidFill>
            <a:srgbClr val="FBBF24">
              <a:alpha val="10000"/>
            </a:srgbClr>
          </a:solidFill>
          <a:ln w="12700">
            <a:solidFill>
              <a:srgbClr val="FBBF24">
                <a:alpha val="60000"/>
              </a:srgbClr>
            </a:solidFill>
            <a:prstDash val="dash"/>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 Pricing</a:t>
            </a:r>
            <a:endParaRPr lang="en-US" sz="1300" dirty="0"/>
          </a:p>
        </p:txBody>
      </p:sp>
      <p:sp>
        <p:nvSpPr>
          <p:cNvPr id="107" name="s107"/>
          <p:cNvSpPr/>
          <p:nvPr/>
        </p:nvSpPr>
        <p:spPr>
          <a:xfrm>
            <a:off x="543154" y="3794760"/>
            <a:ext cx="11088014" cy="1828800"/>
          </a:xfrm>
          <a:prstGeom prst="roundRect">
            <a:avLst>
              <a:gd name="adj" fmla="val 8000"/>
            </a:avLst>
          </a:prstGeom>
          <a:solidFill>
            <a:srgbClr val="A78BFA">
              <a:alpha val="10000"/>
            </a:srgbClr>
          </a:solidFill>
          <a:ln w="22225">
            <a:solidFill>
              <a:srgbClr val="A78BFA"/>
            </a:solidFill>
            <a:prstDash val="solid"/>
          </a:ln>
        </p:spPr>
        <p:txBody>
          <a:bodyPr wrap="square" lIns="164592" tIns="109728" rIns="137160" bIns="91440" rtlCol="0" anchor="t">
            <a:noAutofit/>
          </a:bodyPr>
          <a:lstStyle/>
          <a:p>
            <a:endParaRPr lang="en-US"/>
          </a:p>
        </p:txBody>
      </p:sp>
      <p:sp>
        <p:nvSpPr>
          <p:cNvPr id="108" name="s108"/>
          <p:cNvSpPr/>
          <p:nvPr/>
        </p:nvSpPr>
        <p:spPr>
          <a:xfrm>
            <a:off x="863194" y="4023360"/>
            <a:ext cx="685800" cy="68580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09" name="img109"/>
          <p:cNvPicPr>
            <a:picLocks noChangeAspect="1"/>
          </p:cNvPicPr>
          <p:nvPr/>
        </p:nvPicPr>
        <p:blipFill>
          <a:blip r:embed="rId4"/>
          <a:stretch>
            <a:fillRect/>
          </a:stretch>
        </p:blipFill>
        <p:spPr>
          <a:xfrm>
            <a:off x="1027786" y="4187952"/>
            <a:ext cx="356616" cy="356616"/>
          </a:xfrm>
          <a:prstGeom prst="rect">
            <a:avLst/>
          </a:prstGeom>
        </p:spPr>
      </p:pic>
      <p:sp>
        <p:nvSpPr>
          <p:cNvPr id="110" name="s110"/>
          <p:cNvSpPr txBox="1"/>
          <p:nvPr/>
        </p:nvSpPr>
        <p:spPr>
          <a:xfrm>
            <a:off x="1777594" y="3977640"/>
            <a:ext cx="9624974" cy="7772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00" b="1" dirty="0">
                <a:solidFill>
                  <a:srgbClr val="A78BFA"/>
                </a:solidFill>
                <a:latin typeface="Segoe UI"/>
                <a:ea typeface="Segoe UI"/>
                <a:cs typeface="Segoe UI"/>
              </a:rPr>
              <a:t>SPIKE (TIME-BOXED)</a:t>
            </a:r>
            <a:endParaRPr lang="en-US" sz="1100" dirty="0"/>
          </a:p>
          <a:p>
            <a:pPr marL="0" indent="0" algn="l">
              <a:spcBef>
                <a:spcPts val="0"/>
              </a:spcBef>
              <a:spcAft>
                <a:spcPts val="0"/>
              </a:spcAft>
              <a:buNone/>
            </a:pPr>
            <a:r>
              <a:rPr lang="en-US" sz="1700" b="1" dirty="0">
                <a:solidFill>
                  <a:srgbClr val="FFFFFF"/>
                </a:solidFill>
                <a:latin typeface="Segoe UI"/>
                <a:ea typeface="Segoe UI"/>
                <a:cs typeface="Segoe UI"/>
              </a:rPr>
              <a:t>Investigate the SMS provider → a technical recommendation.</a:t>
            </a:r>
            <a:endParaRPr lang="en-US" sz="1700" dirty="0"/>
          </a:p>
        </p:txBody>
      </p:sp>
      <p:sp>
        <p:nvSpPr>
          <p:cNvPr id="111" name="s111"/>
          <p:cNvSpPr/>
          <p:nvPr/>
        </p:nvSpPr>
        <p:spPr>
          <a:xfrm>
            <a:off x="1777594" y="4892040"/>
            <a:ext cx="1828800" cy="365760"/>
          </a:xfrm>
          <a:prstGeom prst="roundRect">
            <a:avLst>
              <a:gd name="adj" fmla="val 50000"/>
            </a:avLst>
          </a:prstGeom>
          <a:solidFill>
            <a:srgbClr val="A78BFA">
              <a:alpha val="18000"/>
            </a:srgbClr>
          </a:solidFill>
          <a:ln w="12700">
            <a:solidFill>
              <a:srgbClr val="A78BFA"/>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Clear question</a:t>
            </a:r>
            <a:endParaRPr lang="en-US" sz="1100" dirty="0"/>
          </a:p>
        </p:txBody>
      </p:sp>
      <p:sp>
        <p:nvSpPr>
          <p:cNvPr id="112" name="s112"/>
          <p:cNvSpPr/>
          <p:nvPr/>
        </p:nvSpPr>
        <p:spPr>
          <a:xfrm>
            <a:off x="3743554" y="4892040"/>
            <a:ext cx="1828800" cy="365760"/>
          </a:xfrm>
          <a:prstGeom prst="roundRect">
            <a:avLst>
              <a:gd name="adj" fmla="val 50000"/>
            </a:avLst>
          </a:prstGeom>
          <a:solidFill>
            <a:srgbClr val="A78BFA">
              <a:alpha val="18000"/>
            </a:srgbClr>
          </a:solidFill>
          <a:ln w="12700">
            <a:solidFill>
              <a:srgbClr val="A78BFA"/>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Limited duration</a:t>
            </a:r>
            <a:endParaRPr lang="en-US" sz="1100" dirty="0"/>
          </a:p>
        </p:txBody>
      </p:sp>
      <p:sp>
        <p:nvSpPr>
          <p:cNvPr id="113" name="s113"/>
          <p:cNvSpPr/>
          <p:nvPr/>
        </p:nvSpPr>
        <p:spPr>
          <a:xfrm>
            <a:off x="5709514" y="4892040"/>
            <a:ext cx="1828800" cy="365760"/>
          </a:xfrm>
          <a:prstGeom prst="roundRect">
            <a:avLst>
              <a:gd name="adj" fmla="val 50000"/>
            </a:avLst>
          </a:prstGeom>
          <a:solidFill>
            <a:srgbClr val="A78BFA">
              <a:alpha val="18000"/>
            </a:srgbClr>
          </a:solidFill>
          <a:ln w="12700">
            <a:solidFill>
              <a:srgbClr val="A78BFA"/>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Defined output</a:t>
            </a:r>
            <a:endParaRPr lang="en-US" sz="1100" dirty="0"/>
          </a:p>
        </p:txBody>
      </p:sp>
      <p:sp>
        <p:nvSpPr>
          <p:cNvPr id="114" name="s114"/>
          <p:cNvSpPr/>
          <p:nvPr/>
        </p:nvSpPr>
        <p:spPr>
          <a:xfrm>
            <a:off x="7675474" y="4892040"/>
            <a:ext cx="3566160" cy="365760"/>
          </a:xfrm>
          <a:prstGeom prst="roundRect">
            <a:avLst>
              <a:gd name="adj" fmla="val 50000"/>
            </a:avLst>
          </a:prstGeom>
          <a:solidFill>
            <a:srgbClr val="A78BFA">
              <a:alpha val="18000"/>
            </a:srgbClr>
          </a:solidFill>
          <a:ln w="12700">
            <a:solidFill>
              <a:srgbClr val="A78BFA"/>
            </a:solidFill>
            <a:prstDash val="solid"/>
          </a:ln>
        </p:spPr>
        <p:txBody>
          <a:bodyPr wrap="square" lIns="36576" tIns="0" rIns="36576"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No unnecessary production code</a:t>
            </a:r>
            <a:endParaRPr lang="en-US" sz="1100" dirty="0"/>
          </a:p>
        </p:txBody>
      </p:sp>
      <p:sp>
        <p:nvSpPr>
          <p:cNvPr id="115" name="s115"/>
          <p:cNvSpPr txBox="1"/>
          <p:nvPr/>
        </p:nvSpPr>
        <p:spPr>
          <a:xfrm>
            <a:off x="1777594" y="5303520"/>
            <a:ext cx="962497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0" dirty="0">
                <a:solidFill>
                  <a:srgbClr val="94A3B8"/>
                </a:solidFill>
                <a:latin typeface="Segoe UI"/>
                <a:ea typeface="Segoe UI"/>
                <a:cs typeface="Segoe UI"/>
              </a:rPr>
              <a:t>Common Agile practice, not an official Scrum artifact.</a:t>
            </a:r>
            <a:endParaRPr lang="en-US" sz="11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53" presetClass="entr" presetSubtype="16" fill="hold" grpId="0" nodeType="withEffect">
                                  <p:stCondLst>
                                    <p:cond delay="200"/>
                                  </p:stCondLst>
                                  <p:childTnLst>
                                    <p:set>
                                      <p:cBhvr>
                                        <p:cTn id="10" dur="1" fill="hold">
                                          <p:stCondLst>
                                            <p:cond delay="0"/>
                                          </p:stCondLst>
                                        </p:cTn>
                                        <p:tgtEl>
                                          <p:spTgt spid="102"/>
                                        </p:tgtEl>
                                        <p:attrNameLst>
                                          <p:attrName>style.visibility</p:attrName>
                                        </p:attrNameLst>
                                      </p:cBhvr>
                                      <p:to>
                                        <p:strVal val="visible"/>
                                      </p:to>
                                    </p:set>
                                    <p:anim calcmode="lin" valueType="num">
                                      <p:cBhvr additive="base">
                                        <p:cTn id="11" dur="500" decel="100000" fill="hold"/>
                                        <p:tgtEl>
                                          <p:spTgt spid="102"/>
                                        </p:tgtEl>
                                        <p:attrNameLst>
                                          <p:attrName>ppt_w</p:attrName>
                                        </p:attrNameLst>
                                      </p:cBhvr>
                                      <p:tavLst>
                                        <p:tav tm="0">
                                          <p:val>
                                            <p:strVal val="#ppt_w*0.3"/>
                                          </p:val>
                                        </p:tav>
                                        <p:tav tm="100000">
                                          <p:val>
                                            <p:strVal val="#ppt_w*1.08"/>
                                          </p:val>
                                        </p:tav>
                                      </p:tavLst>
                                    </p:anim>
                                    <p:anim calcmode="lin" valueType="num">
                                      <p:cBhvr additive="base">
                                        <p:cTn id="12" dur="500" decel="100000" fill="hold"/>
                                        <p:tgtEl>
                                          <p:spTgt spid="102"/>
                                        </p:tgtEl>
                                        <p:attrNameLst>
                                          <p:attrName>ppt_h</p:attrName>
                                        </p:attrNameLst>
                                      </p:cBhvr>
                                      <p:tavLst>
                                        <p:tav tm="0">
                                          <p:val>
                                            <p:strVal val="#ppt_h*0.3"/>
                                          </p:val>
                                        </p:tav>
                                        <p:tav tm="100000">
                                          <p:val>
                                            <p:strVal val="#ppt_h*1.08"/>
                                          </p:val>
                                        </p:tav>
                                      </p:tavLst>
                                    </p:anim>
                                    <p:animEffect transition="in" filter="fade">
                                      <p:cBhvr>
                                        <p:cTn id="13" dur="250"/>
                                        <p:tgtEl>
                                          <p:spTgt spid="102"/>
                                        </p:tgtEl>
                                      </p:cBhvr>
                                    </p:animEffect>
                                    <p:anim calcmode="lin" valueType="num">
                                      <p:cBhvr additive="base">
                                        <p:cTn id="14" dur="160" fill="hold">
                                          <p:stCondLst>
                                            <p:cond delay="500"/>
                                          </p:stCondLst>
                                        </p:cTn>
                                        <p:tgtEl>
                                          <p:spTgt spid="102"/>
                                        </p:tgtEl>
                                        <p:attrNameLst>
                                          <p:attrName>ppt_w</p:attrName>
                                        </p:attrNameLst>
                                      </p:cBhvr>
                                      <p:tavLst>
                                        <p:tav tm="0">
                                          <p:val>
                                            <p:strVal val="#ppt_w*1.08"/>
                                          </p:val>
                                        </p:tav>
                                        <p:tav tm="100000">
                                          <p:val>
                                            <p:strVal val="#ppt_w"/>
                                          </p:val>
                                        </p:tav>
                                      </p:tavLst>
                                    </p:anim>
                                    <p:anim calcmode="lin" valueType="num">
                                      <p:cBhvr additive="base">
                                        <p:cTn id="15" dur="160" fill="hold">
                                          <p:stCondLst>
                                            <p:cond delay="500"/>
                                          </p:stCondLst>
                                        </p:cTn>
                                        <p:tgtEl>
                                          <p:spTgt spid="102"/>
                                        </p:tgtEl>
                                        <p:attrNameLst>
                                          <p:attrName>ppt_h</p:attrName>
                                        </p:attrNameLst>
                                      </p:cBhvr>
                                      <p:tavLst>
                                        <p:tav tm="0">
                                          <p:val>
                                            <p:strVal val="#ppt_h*1.08"/>
                                          </p:val>
                                        </p:tav>
                                        <p:tav tm="100000">
                                          <p:val>
                                            <p:strVal val="#ppt_h"/>
                                          </p:val>
                                        </p:tav>
                                      </p:tavLst>
                                    </p:anim>
                                  </p:childTnLst>
                                </p:cTn>
                              </p:par>
                              <p:par>
                                <p:cTn id="16" presetID="53" presetClass="entr" presetSubtype="16" fill="hold" grpId="0" nodeType="withEffect">
                                  <p:stCondLst>
                                    <p:cond delay="310"/>
                                  </p:stCondLst>
                                  <p:childTnLst>
                                    <p:set>
                                      <p:cBhvr>
                                        <p:cTn id="17" dur="1" fill="hold">
                                          <p:stCondLst>
                                            <p:cond delay="0"/>
                                          </p:stCondLst>
                                        </p:cTn>
                                        <p:tgtEl>
                                          <p:spTgt spid="103"/>
                                        </p:tgtEl>
                                        <p:attrNameLst>
                                          <p:attrName>style.visibility</p:attrName>
                                        </p:attrNameLst>
                                      </p:cBhvr>
                                      <p:to>
                                        <p:strVal val="visible"/>
                                      </p:to>
                                    </p:set>
                                    <p:anim calcmode="lin" valueType="num">
                                      <p:cBhvr additive="base">
                                        <p:cTn id="18" dur="500" decel="100000" fill="hold"/>
                                        <p:tgtEl>
                                          <p:spTgt spid="103"/>
                                        </p:tgtEl>
                                        <p:attrNameLst>
                                          <p:attrName>ppt_w</p:attrName>
                                        </p:attrNameLst>
                                      </p:cBhvr>
                                      <p:tavLst>
                                        <p:tav tm="0">
                                          <p:val>
                                            <p:strVal val="#ppt_w*0.3"/>
                                          </p:val>
                                        </p:tav>
                                        <p:tav tm="100000">
                                          <p:val>
                                            <p:strVal val="#ppt_w*1.08"/>
                                          </p:val>
                                        </p:tav>
                                      </p:tavLst>
                                    </p:anim>
                                    <p:anim calcmode="lin" valueType="num">
                                      <p:cBhvr additive="base">
                                        <p:cTn id="19" dur="500" decel="100000" fill="hold"/>
                                        <p:tgtEl>
                                          <p:spTgt spid="103"/>
                                        </p:tgtEl>
                                        <p:attrNameLst>
                                          <p:attrName>ppt_h</p:attrName>
                                        </p:attrNameLst>
                                      </p:cBhvr>
                                      <p:tavLst>
                                        <p:tav tm="0">
                                          <p:val>
                                            <p:strVal val="#ppt_h*0.3"/>
                                          </p:val>
                                        </p:tav>
                                        <p:tav tm="100000">
                                          <p:val>
                                            <p:strVal val="#ppt_h*1.08"/>
                                          </p:val>
                                        </p:tav>
                                      </p:tavLst>
                                    </p:anim>
                                    <p:animEffect transition="in" filter="fade">
                                      <p:cBhvr>
                                        <p:cTn id="20" dur="250"/>
                                        <p:tgtEl>
                                          <p:spTgt spid="103"/>
                                        </p:tgtEl>
                                      </p:cBhvr>
                                    </p:animEffect>
                                    <p:anim calcmode="lin" valueType="num">
                                      <p:cBhvr additive="base">
                                        <p:cTn id="21" dur="160" fill="hold">
                                          <p:stCondLst>
                                            <p:cond delay="500"/>
                                          </p:stCondLst>
                                        </p:cTn>
                                        <p:tgtEl>
                                          <p:spTgt spid="103"/>
                                        </p:tgtEl>
                                        <p:attrNameLst>
                                          <p:attrName>ppt_w</p:attrName>
                                        </p:attrNameLst>
                                      </p:cBhvr>
                                      <p:tavLst>
                                        <p:tav tm="0">
                                          <p:val>
                                            <p:strVal val="#ppt_w*1.08"/>
                                          </p:val>
                                        </p:tav>
                                        <p:tav tm="100000">
                                          <p:val>
                                            <p:strVal val="#ppt_w"/>
                                          </p:val>
                                        </p:tav>
                                      </p:tavLst>
                                    </p:anim>
                                    <p:anim calcmode="lin" valueType="num">
                                      <p:cBhvr additive="base">
                                        <p:cTn id="22" dur="160" fill="hold">
                                          <p:stCondLst>
                                            <p:cond delay="500"/>
                                          </p:stCondLst>
                                        </p:cTn>
                                        <p:tgtEl>
                                          <p:spTgt spid="103"/>
                                        </p:tgtEl>
                                        <p:attrNameLst>
                                          <p:attrName>ppt_h</p:attrName>
                                        </p:attrNameLst>
                                      </p:cBhvr>
                                      <p:tavLst>
                                        <p:tav tm="0">
                                          <p:val>
                                            <p:strVal val="#ppt_h*1.08"/>
                                          </p:val>
                                        </p:tav>
                                        <p:tav tm="100000">
                                          <p:val>
                                            <p:strVal val="#ppt_h"/>
                                          </p:val>
                                        </p:tav>
                                      </p:tavLst>
                                    </p:anim>
                                  </p:childTnLst>
                                </p:cTn>
                              </p:par>
                              <p:par>
                                <p:cTn id="23" presetID="53" presetClass="entr" presetSubtype="16" fill="hold" grpId="0" nodeType="withEffect">
                                  <p:stCondLst>
                                    <p:cond delay="420"/>
                                  </p:stCondLst>
                                  <p:childTnLst>
                                    <p:set>
                                      <p:cBhvr>
                                        <p:cTn id="24" dur="1" fill="hold">
                                          <p:stCondLst>
                                            <p:cond delay="0"/>
                                          </p:stCondLst>
                                        </p:cTn>
                                        <p:tgtEl>
                                          <p:spTgt spid="104"/>
                                        </p:tgtEl>
                                        <p:attrNameLst>
                                          <p:attrName>style.visibility</p:attrName>
                                        </p:attrNameLst>
                                      </p:cBhvr>
                                      <p:to>
                                        <p:strVal val="visible"/>
                                      </p:to>
                                    </p:set>
                                    <p:anim calcmode="lin" valueType="num">
                                      <p:cBhvr additive="base">
                                        <p:cTn id="25"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26" dur="500" decel="100000" fill="hold"/>
                                        <p:tgtEl>
                                          <p:spTgt spid="104"/>
                                        </p:tgtEl>
                                        <p:attrNameLst>
                                          <p:attrName>ppt_h</p:attrName>
                                        </p:attrNameLst>
                                      </p:cBhvr>
                                      <p:tavLst>
                                        <p:tav tm="0">
                                          <p:val>
                                            <p:strVal val="#ppt_h*0.3"/>
                                          </p:val>
                                        </p:tav>
                                        <p:tav tm="100000">
                                          <p:val>
                                            <p:strVal val="#ppt_h*1.08"/>
                                          </p:val>
                                        </p:tav>
                                      </p:tavLst>
                                    </p:anim>
                                    <p:animEffect transition="in" filter="fade">
                                      <p:cBhvr>
                                        <p:cTn id="27" dur="250"/>
                                        <p:tgtEl>
                                          <p:spTgt spid="104"/>
                                        </p:tgtEl>
                                      </p:cBhvr>
                                    </p:animEffect>
                                    <p:anim calcmode="lin" valueType="num">
                                      <p:cBhvr additive="base">
                                        <p:cTn id="28"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29"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par>
                                <p:cTn id="30" presetID="53" presetClass="entr" presetSubtype="16" fill="hold" grpId="0" nodeType="withEffect">
                                  <p:stCondLst>
                                    <p:cond delay="530"/>
                                  </p:stCondLst>
                                  <p:childTnLst>
                                    <p:set>
                                      <p:cBhvr>
                                        <p:cTn id="31" dur="1" fill="hold">
                                          <p:stCondLst>
                                            <p:cond delay="0"/>
                                          </p:stCondLst>
                                        </p:cTn>
                                        <p:tgtEl>
                                          <p:spTgt spid="105"/>
                                        </p:tgtEl>
                                        <p:attrNameLst>
                                          <p:attrName>style.visibility</p:attrName>
                                        </p:attrNameLst>
                                      </p:cBhvr>
                                      <p:to>
                                        <p:strVal val="visible"/>
                                      </p:to>
                                    </p:set>
                                    <p:anim calcmode="lin" valueType="num">
                                      <p:cBhvr additive="base">
                                        <p:cTn id="32" dur="500" decel="100000" fill="hold"/>
                                        <p:tgtEl>
                                          <p:spTgt spid="105"/>
                                        </p:tgtEl>
                                        <p:attrNameLst>
                                          <p:attrName>ppt_w</p:attrName>
                                        </p:attrNameLst>
                                      </p:cBhvr>
                                      <p:tavLst>
                                        <p:tav tm="0">
                                          <p:val>
                                            <p:strVal val="#ppt_w*0.3"/>
                                          </p:val>
                                        </p:tav>
                                        <p:tav tm="100000">
                                          <p:val>
                                            <p:strVal val="#ppt_w*1.08"/>
                                          </p:val>
                                        </p:tav>
                                      </p:tavLst>
                                    </p:anim>
                                    <p:anim calcmode="lin" valueType="num">
                                      <p:cBhvr additive="base">
                                        <p:cTn id="33" dur="500" decel="100000" fill="hold"/>
                                        <p:tgtEl>
                                          <p:spTgt spid="105"/>
                                        </p:tgtEl>
                                        <p:attrNameLst>
                                          <p:attrName>ppt_h</p:attrName>
                                        </p:attrNameLst>
                                      </p:cBhvr>
                                      <p:tavLst>
                                        <p:tav tm="0">
                                          <p:val>
                                            <p:strVal val="#ppt_h*0.3"/>
                                          </p:val>
                                        </p:tav>
                                        <p:tav tm="100000">
                                          <p:val>
                                            <p:strVal val="#ppt_h*1.08"/>
                                          </p:val>
                                        </p:tav>
                                      </p:tavLst>
                                    </p:anim>
                                    <p:animEffect transition="in" filter="fade">
                                      <p:cBhvr>
                                        <p:cTn id="34" dur="250"/>
                                        <p:tgtEl>
                                          <p:spTgt spid="105"/>
                                        </p:tgtEl>
                                      </p:cBhvr>
                                    </p:animEffect>
                                    <p:anim calcmode="lin" valueType="num">
                                      <p:cBhvr additive="base">
                                        <p:cTn id="35" dur="160" fill="hold">
                                          <p:stCondLst>
                                            <p:cond delay="500"/>
                                          </p:stCondLst>
                                        </p:cTn>
                                        <p:tgtEl>
                                          <p:spTgt spid="105"/>
                                        </p:tgtEl>
                                        <p:attrNameLst>
                                          <p:attrName>ppt_w</p:attrName>
                                        </p:attrNameLst>
                                      </p:cBhvr>
                                      <p:tavLst>
                                        <p:tav tm="0">
                                          <p:val>
                                            <p:strVal val="#ppt_w*1.08"/>
                                          </p:val>
                                        </p:tav>
                                        <p:tav tm="100000">
                                          <p:val>
                                            <p:strVal val="#ppt_w"/>
                                          </p:val>
                                        </p:tav>
                                      </p:tavLst>
                                    </p:anim>
                                    <p:anim calcmode="lin" valueType="num">
                                      <p:cBhvr additive="base">
                                        <p:cTn id="36" dur="160" fill="hold">
                                          <p:stCondLst>
                                            <p:cond delay="500"/>
                                          </p:stCondLst>
                                        </p:cTn>
                                        <p:tgtEl>
                                          <p:spTgt spid="105"/>
                                        </p:tgtEl>
                                        <p:attrNameLst>
                                          <p:attrName>ppt_h</p:attrName>
                                        </p:attrNameLst>
                                      </p:cBhvr>
                                      <p:tavLst>
                                        <p:tav tm="0">
                                          <p:val>
                                            <p:strVal val="#ppt_h*1.08"/>
                                          </p:val>
                                        </p:tav>
                                        <p:tav tm="100000">
                                          <p:val>
                                            <p:strVal val="#ppt_h"/>
                                          </p:val>
                                        </p:tav>
                                      </p:tavLst>
                                    </p:anim>
                                  </p:childTnLst>
                                </p:cTn>
                              </p:par>
                              <p:par>
                                <p:cTn id="37" presetID="53" presetClass="entr" presetSubtype="16" fill="hold" grpId="0" nodeType="withEffect">
                                  <p:stCondLst>
                                    <p:cond delay="640"/>
                                  </p:stCondLst>
                                  <p:childTnLst>
                                    <p:set>
                                      <p:cBhvr>
                                        <p:cTn id="38" dur="1" fill="hold">
                                          <p:stCondLst>
                                            <p:cond delay="0"/>
                                          </p:stCondLst>
                                        </p:cTn>
                                        <p:tgtEl>
                                          <p:spTgt spid="106"/>
                                        </p:tgtEl>
                                        <p:attrNameLst>
                                          <p:attrName>style.visibility</p:attrName>
                                        </p:attrNameLst>
                                      </p:cBhvr>
                                      <p:to>
                                        <p:strVal val="visible"/>
                                      </p:to>
                                    </p:set>
                                    <p:anim calcmode="lin" valueType="num">
                                      <p:cBhvr additive="base">
                                        <p:cTn id="39"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40" dur="500" decel="100000" fill="hold"/>
                                        <p:tgtEl>
                                          <p:spTgt spid="106"/>
                                        </p:tgtEl>
                                        <p:attrNameLst>
                                          <p:attrName>ppt_h</p:attrName>
                                        </p:attrNameLst>
                                      </p:cBhvr>
                                      <p:tavLst>
                                        <p:tav tm="0">
                                          <p:val>
                                            <p:strVal val="#ppt_h*0.3"/>
                                          </p:val>
                                        </p:tav>
                                        <p:tav tm="100000">
                                          <p:val>
                                            <p:strVal val="#ppt_h*1.08"/>
                                          </p:val>
                                        </p:tav>
                                      </p:tavLst>
                                    </p:anim>
                                    <p:animEffect transition="in" filter="fade">
                                      <p:cBhvr>
                                        <p:cTn id="41" dur="250"/>
                                        <p:tgtEl>
                                          <p:spTgt spid="106"/>
                                        </p:tgtEl>
                                      </p:cBhvr>
                                    </p:animEffect>
                                    <p:anim calcmode="lin" valueType="num">
                                      <p:cBhvr additive="base">
                                        <p:cTn id="42"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43"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107"/>
                                        </p:tgtEl>
                                        <p:attrNameLst>
                                          <p:attrName>style.visibility</p:attrName>
                                        </p:attrNameLst>
                                      </p:cBhvr>
                                      <p:to>
                                        <p:strVal val="visible"/>
                                      </p:to>
                                    </p:set>
                                    <p:animEffect transition="in" filter="fade">
                                      <p:cBhvr>
                                        <p:cTn id="48" dur="500"/>
                                        <p:tgtEl>
                                          <p:spTgt spid="107"/>
                                        </p:tgtEl>
                                      </p:cBhvr>
                                    </p:animEffect>
                                    <p:anim calcmode="lin" valueType="num">
                                      <p:cBhvr additive="base">
                                        <p:cTn id="49" dur="500" decel="100000" fill="hold"/>
                                        <p:tgtEl>
                                          <p:spTgt spid="107"/>
                                        </p:tgtEl>
                                        <p:attrNameLst>
                                          <p:attrName>ppt_y</p:attrName>
                                        </p:attrNameLst>
                                      </p:cBhvr>
                                      <p:tavLst>
                                        <p:tav tm="0">
                                          <p:val>
                                            <p:strVal val="#ppt_y+0.06"/>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108"/>
                                        </p:tgtEl>
                                        <p:attrNameLst>
                                          <p:attrName>style.visibility</p:attrName>
                                        </p:attrNameLst>
                                      </p:cBhvr>
                                      <p:to>
                                        <p:strVal val="visible"/>
                                      </p:to>
                                    </p:set>
                                    <p:animEffect transition="in" filter="fade">
                                      <p:cBhvr>
                                        <p:cTn id="52" dur="500"/>
                                        <p:tgtEl>
                                          <p:spTgt spid="108"/>
                                        </p:tgtEl>
                                      </p:cBhvr>
                                    </p:animEffect>
                                    <p:anim calcmode="lin" valueType="num">
                                      <p:cBhvr additive="base">
                                        <p:cTn id="53" dur="500" decel="100000" fill="hold"/>
                                        <p:tgtEl>
                                          <p:spTgt spid="108"/>
                                        </p:tgtEl>
                                        <p:attrNameLst>
                                          <p:attrName>ppt_y</p:attrName>
                                        </p:attrNameLst>
                                      </p:cBhvr>
                                      <p:tavLst>
                                        <p:tav tm="0">
                                          <p:val>
                                            <p:strVal val="#ppt_y+0.06"/>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09"/>
                                        </p:tgtEl>
                                        <p:attrNameLst>
                                          <p:attrName>style.visibility</p:attrName>
                                        </p:attrNameLst>
                                      </p:cBhvr>
                                      <p:to>
                                        <p:strVal val="visible"/>
                                      </p:to>
                                    </p:set>
                                    <p:animEffect transition="in" filter="fade">
                                      <p:cBhvr>
                                        <p:cTn id="56" dur="500"/>
                                        <p:tgtEl>
                                          <p:spTgt spid="109"/>
                                        </p:tgtEl>
                                      </p:cBhvr>
                                    </p:animEffect>
                                    <p:anim calcmode="lin" valueType="num">
                                      <p:cBhvr additive="base">
                                        <p:cTn id="57" dur="500" decel="100000" fill="hold"/>
                                        <p:tgtEl>
                                          <p:spTgt spid="109"/>
                                        </p:tgtEl>
                                        <p:attrNameLst>
                                          <p:attrName>ppt_y</p:attrName>
                                        </p:attrNameLst>
                                      </p:cBhvr>
                                      <p:tavLst>
                                        <p:tav tm="0">
                                          <p:val>
                                            <p:strVal val="#ppt_y+0.06"/>
                                          </p:val>
                                        </p:tav>
                                        <p:tav tm="100000">
                                          <p:val>
                                            <p:strVal val="#ppt_y"/>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110"/>
                                        </p:tgtEl>
                                        <p:attrNameLst>
                                          <p:attrName>style.visibility</p:attrName>
                                        </p:attrNameLst>
                                      </p:cBhvr>
                                      <p:to>
                                        <p:strVal val="visible"/>
                                      </p:to>
                                    </p:set>
                                    <p:animEffect transition="in" filter="fade">
                                      <p:cBhvr>
                                        <p:cTn id="60" dur="500"/>
                                        <p:tgtEl>
                                          <p:spTgt spid="110"/>
                                        </p:tgtEl>
                                      </p:cBhvr>
                                    </p:animEffect>
                                    <p:anim calcmode="lin" valueType="num">
                                      <p:cBhvr additive="base">
                                        <p:cTn id="61" dur="500" decel="100000" fill="hold"/>
                                        <p:tgtEl>
                                          <p:spTgt spid="110"/>
                                        </p:tgtEl>
                                        <p:attrNameLst>
                                          <p:attrName>ppt_y</p:attrName>
                                        </p:attrNameLst>
                                      </p:cBhvr>
                                      <p:tavLst>
                                        <p:tav tm="0">
                                          <p:val>
                                            <p:strVal val="#ppt_y+0.06"/>
                                          </p:val>
                                        </p:tav>
                                        <p:tav tm="100000">
                                          <p:val>
                                            <p:strVal val="#ppt_y"/>
                                          </p:val>
                                        </p:tav>
                                      </p:tavLst>
                                    </p:anim>
                                  </p:childTnLst>
                                </p:cTn>
                              </p:par>
                              <p:par>
                                <p:cTn id="62" presetID="53" presetClass="entr" presetSubtype="16" fill="hold" grpId="0" nodeType="withEffect">
                                  <p:stCondLst>
                                    <p:cond delay="120"/>
                                  </p:stCondLst>
                                  <p:childTnLst>
                                    <p:set>
                                      <p:cBhvr>
                                        <p:cTn id="63" dur="1" fill="hold">
                                          <p:stCondLst>
                                            <p:cond delay="0"/>
                                          </p:stCondLst>
                                        </p:cTn>
                                        <p:tgtEl>
                                          <p:spTgt spid="111"/>
                                        </p:tgtEl>
                                        <p:attrNameLst>
                                          <p:attrName>style.visibility</p:attrName>
                                        </p:attrNameLst>
                                      </p:cBhvr>
                                      <p:to>
                                        <p:strVal val="visible"/>
                                      </p:to>
                                    </p:set>
                                    <p:anim calcmode="lin" valueType="num">
                                      <p:cBhvr additive="base">
                                        <p:cTn id="64" dur="500" decel="100000" fill="hold"/>
                                        <p:tgtEl>
                                          <p:spTgt spid="111"/>
                                        </p:tgtEl>
                                        <p:attrNameLst>
                                          <p:attrName>ppt_w</p:attrName>
                                        </p:attrNameLst>
                                      </p:cBhvr>
                                      <p:tavLst>
                                        <p:tav tm="0">
                                          <p:val>
                                            <p:strVal val="#ppt_w*0.55"/>
                                          </p:val>
                                        </p:tav>
                                        <p:tav tm="100000">
                                          <p:val>
                                            <p:strVal val="#ppt_w"/>
                                          </p:val>
                                        </p:tav>
                                      </p:tavLst>
                                    </p:anim>
                                    <p:anim calcmode="lin" valueType="num">
                                      <p:cBhvr additive="base">
                                        <p:cTn id="65" dur="500" decel="100000" fill="hold"/>
                                        <p:tgtEl>
                                          <p:spTgt spid="111"/>
                                        </p:tgtEl>
                                        <p:attrNameLst>
                                          <p:attrName>ppt_h</p:attrName>
                                        </p:attrNameLst>
                                      </p:cBhvr>
                                      <p:tavLst>
                                        <p:tav tm="0">
                                          <p:val>
                                            <p:strVal val="#ppt_h*0.55"/>
                                          </p:val>
                                        </p:tav>
                                        <p:tav tm="100000">
                                          <p:val>
                                            <p:strVal val="#ppt_h"/>
                                          </p:val>
                                        </p:tav>
                                      </p:tavLst>
                                    </p:anim>
                                    <p:animEffect transition="in" filter="fade">
                                      <p:cBhvr>
                                        <p:cTn id="66" dur="500"/>
                                        <p:tgtEl>
                                          <p:spTgt spid="111"/>
                                        </p:tgtEl>
                                      </p:cBhvr>
                                    </p:animEffect>
                                  </p:childTnLst>
                                </p:cTn>
                              </p:par>
                              <p:par>
                                <p:cTn id="67" presetID="53" presetClass="entr" presetSubtype="16" fill="hold" grpId="0" nodeType="withEffect">
                                  <p:stCondLst>
                                    <p:cond delay="240"/>
                                  </p:stCondLst>
                                  <p:childTnLst>
                                    <p:set>
                                      <p:cBhvr>
                                        <p:cTn id="68" dur="1" fill="hold">
                                          <p:stCondLst>
                                            <p:cond delay="0"/>
                                          </p:stCondLst>
                                        </p:cTn>
                                        <p:tgtEl>
                                          <p:spTgt spid="112"/>
                                        </p:tgtEl>
                                        <p:attrNameLst>
                                          <p:attrName>style.visibility</p:attrName>
                                        </p:attrNameLst>
                                      </p:cBhvr>
                                      <p:to>
                                        <p:strVal val="visible"/>
                                      </p:to>
                                    </p:set>
                                    <p:anim calcmode="lin" valueType="num">
                                      <p:cBhvr additive="base">
                                        <p:cTn id="69" dur="500" decel="100000" fill="hold"/>
                                        <p:tgtEl>
                                          <p:spTgt spid="112"/>
                                        </p:tgtEl>
                                        <p:attrNameLst>
                                          <p:attrName>ppt_w</p:attrName>
                                        </p:attrNameLst>
                                      </p:cBhvr>
                                      <p:tavLst>
                                        <p:tav tm="0">
                                          <p:val>
                                            <p:strVal val="#ppt_w*0.55"/>
                                          </p:val>
                                        </p:tav>
                                        <p:tav tm="100000">
                                          <p:val>
                                            <p:strVal val="#ppt_w"/>
                                          </p:val>
                                        </p:tav>
                                      </p:tavLst>
                                    </p:anim>
                                    <p:anim calcmode="lin" valueType="num">
                                      <p:cBhvr additive="base">
                                        <p:cTn id="70" dur="500" decel="100000" fill="hold"/>
                                        <p:tgtEl>
                                          <p:spTgt spid="112"/>
                                        </p:tgtEl>
                                        <p:attrNameLst>
                                          <p:attrName>ppt_h</p:attrName>
                                        </p:attrNameLst>
                                      </p:cBhvr>
                                      <p:tavLst>
                                        <p:tav tm="0">
                                          <p:val>
                                            <p:strVal val="#ppt_h*0.55"/>
                                          </p:val>
                                        </p:tav>
                                        <p:tav tm="100000">
                                          <p:val>
                                            <p:strVal val="#ppt_h"/>
                                          </p:val>
                                        </p:tav>
                                      </p:tavLst>
                                    </p:anim>
                                    <p:animEffect transition="in" filter="fade">
                                      <p:cBhvr>
                                        <p:cTn id="71" dur="500"/>
                                        <p:tgtEl>
                                          <p:spTgt spid="112"/>
                                        </p:tgtEl>
                                      </p:cBhvr>
                                    </p:animEffect>
                                  </p:childTnLst>
                                </p:cTn>
                              </p:par>
                              <p:par>
                                <p:cTn id="72" presetID="53" presetClass="entr" presetSubtype="16" fill="hold" grpId="0" nodeType="withEffect">
                                  <p:stCondLst>
                                    <p:cond delay="360"/>
                                  </p:stCondLst>
                                  <p:childTnLst>
                                    <p:set>
                                      <p:cBhvr>
                                        <p:cTn id="73" dur="1" fill="hold">
                                          <p:stCondLst>
                                            <p:cond delay="0"/>
                                          </p:stCondLst>
                                        </p:cTn>
                                        <p:tgtEl>
                                          <p:spTgt spid="113"/>
                                        </p:tgtEl>
                                        <p:attrNameLst>
                                          <p:attrName>style.visibility</p:attrName>
                                        </p:attrNameLst>
                                      </p:cBhvr>
                                      <p:to>
                                        <p:strVal val="visible"/>
                                      </p:to>
                                    </p:set>
                                    <p:anim calcmode="lin" valueType="num">
                                      <p:cBhvr additive="base">
                                        <p:cTn id="74" dur="500" decel="100000" fill="hold"/>
                                        <p:tgtEl>
                                          <p:spTgt spid="113"/>
                                        </p:tgtEl>
                                        <p:attrNameLst>
                                          <p:attrName>ppt_w</p:attrName>
                                        </p:attrNameLst>
                                      </p:cBhvr>
                                      <p:tavLst>
                                        <p:tav tm="0">
                                          <p:val>
                                            <p:strVal val="#ppt_w*0.55"/>
                                          </p:val>
                                        </p:tav>
                                        <p:tav tm="100000">
                                          <p:val>
                                            <p:strVal val="#ppt_w"/>
                                          </p:val>
                                        </p:tav>
                                      </p:tavLst>
                                    </p:anim>
                                    <p:anim calcmode="lin" valueType="num">
                                      <p:cBhvr additive="base">
                                        <p:cTn id="75" dur="500" decel="100000" fill="hold"/>
                                        <p:tgtEl>
                                          <p:spTgt spid="113"/>
                                        </p:tgtEl>
                                        <p:attrNameLst>
                                          <p:attrName>ppt_h</p:attrName>
                                        </p:attrNameLst>
                                      </p:cBhvr>
                                      <p:tavLst>
                                        <p:tav tm="0">
                                          <p:val>
                                            <p:strVal val="#ppt_h*0.55"/>
                                          </p:val>
                                        </p:tav>
                                        <p:tav tm="100000">
                                          <p:val>
                                            <p:strVal val="#ppt_h"/>
                                          </p:val>
                                        </p:tav>
                                      </p:tavLst>
                                    </p:anim>
                                    <p:animEffect transition="in" filter="fade">
                                      <p:cBhvr>
                                        <p:cTn id="76" dur="500"/>
                                        <p:tgtEl>
                                          <p:spTgt spid="113"/>
                                        </p:tgtEl>
                                      </p:cBhvr>
                                    </p:animEffect>
                                  </p:childTnLst>
                                </p:cTn>
                              </p:par>
                              <p:par>
                                <p:cTn id="77" presetID="53" presetClass="entr" presetSubtype="16" fill="hold" grpId="0" nodeType="withEffect">
                                  <p:stCondLst>
                                    <p:cond delay="480"/>
                                  </p:stCondLst>
                                  <p:childTnLst>
                                    <p:set>
                                      <p:cBhvr>
                                        <p:cTn id="78" dur="1" fill="hold">
                                          <p:stCondLst>
                                            <p:cond delay="0"/>
                                          </p:stCondLst>
                                        </p:cTn>
                                        <p:tgtEl>
                                          <p:spTgt spid="114"/>
                                        </p:tgtEl>
                                        <p:attrNameLst>
                                          <p:attrName>style.visibility</p:attrName>
                                        </p:attrNameLst>
                                      </p:cBhvr>
                                      <p:to>
                                        <p:strVal val="visible"/>
                                      </p:to>
                                    </p:set>
                                    <p:anim calcmode="lin" valueType="num">
                                      <p:cBhvr additive="base">
                                        <p:cTn id="79" dur="500" decel="100000" fill="hold"/>
                                        <p:tgtEl>
                                          <p:spTgt spid="114"/>
                                        </p:tgtEl>
                                        <p:attrNameLst>
                                          <p:attrName>ppt_w</p:attrName>
                                        </p:attrNameLst>
                                      </p:cBhvr>
                                      <p:tavLst>
                                        <p:tav tm="0">
                                          <p:val>
                                            <p:strVal val="#ppt_w*0.55"/>
                                          </p:val>
                                        </p:tav>
                                        <p:tav tm="100000">
                                          <p:val>
                                            <p:strVal val="#ppt_w"/>
                                          </p:val>
                                        </p:tav>
                                      </p:tavLst>
                                    </p:anim>
                                    <p:anim calcmode="lin" valueType="num">
                                      <p:cBhvr additive="base">
                                        <p:cTn id="80" dur="500" decel="100000" fill="hold"/>
                                        <p:tgtEl>
                                          <p:spTgt spid="114"/>
                                        </p:tgtEl>
                                        <p:attrNameLst>
                                          <p:attrName>ppt_h</p:attrName>
                                        </p:attrNameLst>
                                      </p:cBhvr>
                                      <p:tavLst>
                                        <p:tav tm="0">
                                          <p:val>
                                            <p:strVal val="#ppt_h*0.55"/>
                                          </p:val>
                                        </p:tav>
                                        <p:tav tm="100000">
                                          <p:val>
                                            <p:strVal val="#ppt_h"/>
                                          </p:val>
                                        </p:tav>
                                      </p:tavLst>
                                    </p:anim>
                                    <p:animEffect transition="in" filter="fade">
                                      <p:cBhvr>
                                        <p:cTn id="81" dur="500"/>
                                        <p:tgtEl>
                                          <p:spTgt spid="114"/>
                                        </p:tgtEl>
                                      </p:cBhvr>
                                    </p:animEffect>
                                  </p:childTnLst>
                                </p:cTn>
                              </p:par>
                              <p:par>
                                <p:cTn id="82" presetID="10" presetClass="entr" presetSubtype="0" fill="hold" grpId="0" nodeType="withEffect">
                                  <p:stCondLst>
                                    <p:cond delay="600"/>
                                  </p:stCondLst>
                                  <p:childTnLst>
                                    <p:set>
                                      <p:cBhvr>
                                        <p:cTn id="83" dur="1" fill="hold">
                                          <p:stCondLst>
                                            <p:cond delay="0"/>
                                          </p:stCondLst>
                                        </p:cTn>
                                        <p:tgtEl>
                                          <p:spTgt spid="115"/>
                                        </p:tgtEl>
                                        <p:attrNameLst>
                                          <p:attrName>style.visibility</p:attrName>
                                        </p:attrNameLst>
                                      </p:cBhvr>
                                      <p:to>
                                        <p:strVal val="visible"/>
                                      </p:to>
                                    </p:set>
                                    <p:animEffect transition="in" filter="fade">
                                      <p:cBhvr>
                                        <p:cTn id="84"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10" grpId="0" animBg="1"/>
      <p:bldP spid="111" grpId="0" animBg="1"/>
      <p:bldP spid="112" grpId="0" animBg="1"/>
      <p:bldP spid="113" grpId="0" animBg="1"/>
      <p:bldP spid="114" grpId="0" animBg="1"/>
      <p:bldP spid="115"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SCENE 5</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257</a:t>
            </a:r>
            <a:endParaRPr lang="en-US" sz="850" dirty="0"/>
          </a:p>
        </p:txBody>
      </p:sp>
      <p:sp>
        <p:nvSpPr>
          <p:cNvPr id="101" name="s101"/>
          <p:cNvSpPr txBox="1"/>
          <p:nvPr/>
        </p:nvSpPr>
        <p:spPr>
          <a:xfrm>
            <a:off x="497434" y="1051560"/>
            <a:ext cx="2743200" cy="12801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8800" b="1" dirty="0">
                <a:solidFill>
                  <a:srgbClr val="34D399"/>
                </a:solidFill>
                <a:latin typeface="Segoe UI"/>
                <a:ea typeface="Segoe UI"/>
                <a:cs typeface="Segoe UI"/>
              </a:rPr>
              <a:t>05</a:t>
            </a:r>
            <a:endParaRPr lang="en-US" sz="8800" dirty="0"/>
          </a:p>
        </p:txBody>
      </p:sp>
      <p:sp>
        <p:nvSpPr>
          <p:cNvPr id="102" name="s102"/>
          <p:cNvSpPr txBox="1"/>
          <p:nvPr/>
        </p:nvSpPr>
        <p:spPr>
          <a:xfrm>
            <a:off x="543154" y="2331720"/>
            <a:ext cx="11088014" cy="7772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The First Sprint Starts</a:t>
            </a:r>
            <a:endParaRPr lang="en-US" sz="4000" dirty="0"/>
          </a:p>
        </p:txBody>
      </p:sp>
      <p:sp>
        <p:nvSpPr>
          <p:cNvPr id="103" name="s103"/>
          <p:cNvSpPr txBox="1"/>
          <p:nvPr/>
        </p:nvSpPr>
        <p:spPr>
          <a:xfrm>
            <a:off x="543154" y="3108960"/>
            <a:ext cx="1108801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800" b="0" dirty="0">
                <a:solidFill>
                  <a:srgbClr val="CBD5E1"/>
                </a:solidFill>
                <a:latin typeface="Segoe UI"/>
                <a:ea typeface="Segoe UI"/>
                <a:cs typeface="Segoe UI"/>
              </a:rPr>
              <a:t>The team picks a Sprint length, measures itself, and plans.</a:t>
            </a:r>
            <a:endParaRPr lang="en-US" sz="1800" dirty="0"/>
          </a:p>
        </p:txBody>
      </p:sp>
      <p:sp>
        <p:nvSpPr>
          <p:cNvPr id="104" name="s104"/>
          <p:cNvSpPr txBox="1"/>
          <p:nvPr/>
        </p:nvSpPr>
        <p:spPr>
          <a:xfrm>
            <a:off x="543154" y="393192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IN THIS SCENE</a:t>
            </a:r>
            <a:endParaRPr lang="en-US" sz="1100" dirty="0"/>
          </a:p>
        </p:txBody>
      </p:sp>
      <p:sp>
        <p:nvSpPr>
          <p:cNvPr id="105" name="s105"/>
          <p:cNvSpPr/>
          <p:nvPr/>
        </p:nvSpPr>
        <p:spPr>
          <a:xfrm>
            <a:off x="543154" y="4251960"/>
            <a:ext cx="2634844" cy="548640"/>
          </a:xfrm>
          <a:prstGeom prst="roundRect">
            <a:avLst>
              <a:gd name="adj" fmla="val 20000"/>
            </a:avLst>
          </a:prstGeom>
          <a:solidFill>
            <a:srgbClr val="34D399">
              <a:alpha val="14000"/>
            </a:srgbClr>
          </a:solidFill>
          <a:ln w="12700">
            <a:solidFill>
              <a:srgbClr val="34D399"/>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Sprint</a:t>
            </a:r>
            <a:endParaRPr lang="en-US" sz="1350" dirty="0"/>
          </a:p>
        </p:txBody>
      </p:sp>
      <p:sp>
        <p:nvSpPr>
          <p:cNvPr id="106" name="s106"/>
          <p:cNvSpPr/>
          <p:nvPr/>
        </p:nvSpPr>
        <p:spPr>
          <a:xfrm>
            <a:off x="3360877" y="4251960"/>
            <a:ext cx="2634844" cy="548640"/>
          </a:xfrm>
          <a:prstGeom prst="roundRect">
            <a:avLst>
              <a:gd name="adj" fmla="val 20000"/>
            </a:avLst>
          </a:prstGeom>
          <a:solidFill>
            <a:srgbClr val="34D399">
              <a:alpha val="14000"/>
            </a:srgbClr>
          </a:solidFill>
          <a:ln w="12700">
            <a:solidFill>
              <a:srgbClr val="34D399"/>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Sprint 0</a:t>
            </a:r>
            <a:endParaRPr lang="en-US" sz="1350" dirty="0"/>
          </a:p>
        </p:txBody>
      </p:sp>
      <p:sp>
        <p:nvSpPr>
          <p:cNvPr id="107" name="s107"/>
          <p:cNvSpPr/>
          <p:nvPr/>
        </p:nvSpPr>
        <p:spPr>
          <a:xfrm>
            <a:off x="6178601" y="4251960"/>
            <a:ext cx="2634844" cy="548640"/>
          </a:xfrm>
          <a:prstGeom prst="roundRect">
            <a:avLst>
              <a:gd name="adj" fmla="val 20000"/>
            </a:avLst>
          </a:prstGeom>
          <a:solidFill>
            <a:srgbClr val="34D399">
              <a:alpha val="14000"/>
            </a:srgbClr>
          </a:solidFill>
          <a:ln w="12700">
            <a:solidFill>
              <a:srgbClr val="34D399"/>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Sprint Planning</a:t>
            </a:r>
            <a:endParaRPr lang="en-US" sz="1350" dirty="0"/>
          </a:p>
        </p:txBody>
      </p:sp>
      <p:sp>
        <p:nvSpPr>
          <p:cNvPr id="108" name="s108"/>
          <p:cNvSpPr/>
          <p:nvPr/>
        </p:nvSpPr>
        <p:spPr>
          <a:xfrm>
            <a:off x="8996324" y="4251960"/>
            <a:ext cx="2634844" cy="548640"/>
          </a:xfrm>
          <a:prstGeom prst="roundRect">
            <a:avLst>
              <a:gd name="adj" fmla="val 20000"/>
            </a:avLst>
          </a:prstGeom>
          <a:solidFill>
            <a:srgbClr val="34D399">
              <a:alpha val="14000"/>
            </a:srgbClr>
          </a:solidFill>
          <a:ln w="12700">
            <a:solidFill>
              <a:srgbClr val="34D399"/>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Sprint Backlog</a:t>
            </a:r>
            <a:endParaRPr lang="en-US" sz="1350" dirty="0"/>
          </a:p>
        </p:txBody>
      </p:sp>
      <p:sp>
        <p:nvSpPr>
          <p:cNvPr id="109" name="s109"/>
          <p:cNvSpPr/>
          <p:nvPr/>
        </p:nvSpPr>
        <p:spPr>
          <a:xfrm>
            <a:off x="543154"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1</a:t>
            </a:r>
            <a:endParaRPr lang="en-US" sz="1300" dirty="0"/>
          </a:p>
        </p:txBody>
      </p:sp>
      <p:sp>
        <p:nvSpPr>
          <p:cNvPr id="110" name="s110"/>
          <p:cNvSpPr/>
          <p:nvPr/>
        </p:nvSpPr>
        <p:spPr>
          <a:xfrm>
            <a:off x="1659270" y="5669280"/>
            <a:ext cx="1042965" cy="457200"/>
          </a:xfrm>
          <a:prstGeom prst="roundRect">
            <a:avLst>
              <a:gd name="adj" fmla="val 20000"/>
            </a:avLst>
          </a:prstGeom>
          <a:solidFill>
            <a:srgbClr val="111B2E"/>
          </a:solidFill>
          <a:ln w="12700">
            <a:solidFill>
              <a:srgbClr val="FBBF24"/>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2</a:t>
            </a:r>
            <a:endParaRPr lang="en-US" sz="1300" dirty="0"/>
          </a:p>
        </p:txBody>
      </p:sp>
      <p:sp>
        <p:nvSpPr>
          <p:cNvPr id="111" name="s111"/>
          <p:cNvSpPr/>
          <p:nvPr/>
        </p:nvSpPr>
        <p:spPr>
          <a:xfrm>
            <a:off x="2775387" y="5669280"/>
            <a:ext cx="1042965" cy="457200"/>
          </a:xfrm>
          <a:prstGeom prst="roundRect">
            <a:avLst>
              <a:gd name="adj" fmla="val 20000"/>
            </a:avLst>
          </a:prstGeom>
          <a:solidFill>
            <a:srgbClr val="111B2E"/>
          </a:solidFill>
          <a:ln w="12700">
            <a:solidFill>
              <a:srgbClr val="A78B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A78BFA"/>
                </a:solidFill>
                <a:latin typeface="Segoe UI"/>
                <a:ea typeface="Segoe UI"/>
                <a:cs typeface="Segoe UI"/>
              </a:rPr>
              <a:t>3</a:t>
            </a:r>
            <a:endParaRPr lang="en-US" sz="1300" dirty="0"/>
          </a:p>
        </p:txBody>
      </p:sp>
      <p:sp>
        <p:nvSpPr>
          <p:cNvPr id="112" name="s112"/>
          <p:cNvSpPr/>
          <p:nvPr/>
        </p:nvSpPr>
        <p:spPr>
          <a:xfrm>
            <a:off x="3891504" y="5669280"/>
            <a:ext cx="1042965" cy="457200"/>
          </a:xfrm>
          <a:prstGeom prst="roundRect">
            <a:avLst>
              <a:gd name="adj" fmla="val 20000"/>
            </a:avLst>
          </a:prstGeom>
          <a:solidFill>
            <a:srgbClr val="111B2E"/>
          </a:solidFill>
          <a:ln w="12700">
            <a:solidFill>
              <a:srgbClr val="13D0F7"/>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13D0F7"/>
                </a:solidFill>
                <a:latin typeface="Segoe UI"/>
                <a:ea typeface="Segoe UI"/>
                <a:cs typeface="Segoe UI"/>
              </a:rPr>
              <a:t>4</a:t>
            </a:r>
            <a:endParaRPr lang="en-US" sz="1300" dirty="0"/>
          </a:p>
        </p:txBody>
      </p:sp>
      <p:sp>
        <p:nvSpPr>
          <p:cNvPr id="113" name="s113"/>
          <p:cNvSpPr/>
          <p:nvPr/>
        </p:nvSpPr>
        <p:spPr>
          <a:xfrm>
            <a:off x="5007620" y="5669280"/>
            <a:ext cx="1042965" cy="457200"/>
          </a:xfrm>
          <a:prstGeom prst="roundRect">
            <a:avLst>
              <a:gd name="adj" fmla="val 20000"/>
            </a:avLst>
          </a:prstGeom>
          <a:solidFill>
            <a:srgbClr val="34D399"/>
          </a:solidFill>
          <a:ln w="19050">
            <a:solidFill>
              <a:srgbClr val="34D399"/>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5</a:t>
            </a:r>
            <a:endParaRPr lang="en-US" sz="1300" dirty="0"/>
          </a:p>
        </p:txBody>
      </p:sp>
      <p:sp>
        <p:nvSpPr>
          <p:cNvPr id="114" name="s114"/>
          <p:cNvSpPr/>
          <p:nvPr/>
        </p:nvSpPr>
        <p:spPr>
          <a:xfrm>
            <a:off x="612373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6</a:t>
            </a:r>
            <a:endParaRPr lang="en-US" sz="1300" dirty="0"/>
          </a:p>
        </p:txBody>
      </p:sp>
      <p:sp>
        <p:nvSpPr>
          <p:cNvPr id="115" name="s115"/>
          <p:cNvSpPr/>
          <p:nvPr/>
        </p:nvSpPr>
        <p:spPr>
          <a:xfrm>
            <a:off x="723985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7</a:t>
            </a:r>
            <a:endParaRPr lang="en-US" sz="1300" dirty="0"/>
          </a:p>
        </p:txBody>
      </p:sp>
      <p:sp>
        <p:nvSpPr>
          <p:cNvPr id="116" name="s116"/>
          <p:cNvSpPr/>
          <p:nvPr/>
        </p:nvSpPr>
        <p:spPr>
          <a:xfrm>
            <a:off x="8355970"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8</a:t>
            </a:r>
            <a:endParaRPr lang="en-US" sz="1300" dirty="0"/>
          </a:p>
        </p:txBody>
      </p:sp>
      <p:sp>
        <p:nvSpPr>
          <p:cNvPr id="117" name="s117"/>
          <p:cNvSpPr/>
          <p:nvPr/>
        </p:nvSpPr>
        <p:spPr>
          <a:xfrm>
            <a:off x="947208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9</a:t>
            </a:r>
            <a:endParaRPr lang="en-US" sz="1300" dirty="0"/>
          </a:p>
        </p:txBody>
      </p:sp>
      <p:sp>
        <p:nvSpPr>
          <p:cNvPr id="118" name="s118"/>
          <p:cNvSpPr/>
          <p:nvPr/>
        </p:nvSpPr>
        <p:spPr>
          <a:xfrm>
            <a:off x="1058820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10</a:t>
            </a:r>
            <a:endParaRPr lang="en-US" sz="13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1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anim calcmode="lin" valueType="num">
                                      <p:cBhvr additive="base">
                                        <p:cTn id="15" dur="5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2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10" presetClass="entr" presetSubtype="0" fill="hold" grpId="0" nodeType="withEffect">
                                  <p:stCondLst>
                                    <p:cond delay="33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childTnLst>
                                </p:cTn>
                              </p:par>
                              <p:par>
                                <p:cTn id="23" presetID="42" presetClass="entr" presetSubtype="0" fill="hold" grpId="0" nodeType="withEffect">
                                  <p:stCondLst>
                                    <p:cond delay="44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55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42" presetClass="entr" presetSubtype="0" fill="hold" grpId="0" nodeType="withEffect">
                                  <p:stCondLst>
                                    <p:cond delay="66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par>
                                <p:cTn id="35" presetID="42" presetClass="entr" presetSubtype="0" fill="hold" grpId="0" nodeType="withEffect">
                                  <p:stCondLst>
                                    <p:cond delay="77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ppt_y</p:attrName>
                                        </p:attrNameLst>
                                      </p:cBhvr>
                                      <p:tavLst>
                                        <p:tav tm="0">
                                          <p:val>
                                            <p:strVal val="#ppt_y+0.06"/>
                                          </p:val>
                                        </p:tav>
                                        <p:tav tm="100000">
                                          <p:val>
                                            <p:strVal val="#ppt_y"/>
                                          </p:val>
                                        </p:tav>
                                      </p:tavLst>
                                    </p:anim>
                                  </p:childTnLst>
                                </p:cTn>
                              </p:par>
                              <p:par>
                                <p:cTn id="39" presetID="10" presetClass="entr" presetSubtype="0" fill="hold" grpId="0" nodeType="withEffect">
                                  <p:stCondLst>
                                    <p:cond delay="87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childTnLst>
                                </p:cTn>
                              </p:par>
                              <p:par>
                                <p:cTn id="42" presetID="10" presetClass="entr" presetSubtype="0" fill="hold" grpId="0" nodeType="withEffect">
                                  <p:stCondLst>
                                    <p:cond delay="870"/>
                                  </p:stCondLst>
                                  <p:childTnLst>
                                    <p:set>
                                      <p:cBhvr>
                                        <p:cTn id="43" dur="1" fill="hold">
                                          <p:stCondLst>
                                            <p:cond delay="0"/>
                                          </p:stCondLst>
                                        </p:cTn>
                                        <p:tgtEl>
                                          <p:spTgt spid="110"/>
                                        </p:tgtEl>
                                        <p:attrNameLst>
                                          <p:attrName>style.visibility</p:attrName>
                                        </p:attrNameLst>
                                      </p:cBhvr>
                                      <p:to>
                                        <p:strVal val="visible"/>
                                      </p:to>
                                    </p:set>
                                    <p:animEffect transition="in" filter="fade">
                                      <p:cBhvr>
                                        <p:cTn id="44" dur="500"/>
                                        <p:tgtEl>
                                          <p:spTgt spid="110"/>
                                        </p:tgtEl>
                                      </p:cBhvr>
                                    </p:animEffect>
                                  </p:childTnLst>
                                </p:cTn>
                              </p:par>
                              <p:par>
                                <p:cTn id="45" presetID="10" presetClass="entr" presetSubtype="0" fill="hold" grpId="0" nodeType="withEffect">
                                  <p:stCondLst>
                                    <p:cond delay="87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childTnLst>
                                </p:cTn>
                              </p:par>
                              <p:par>
                                <p:cTn id="48" presetID="10" presetClass="entr" presetSubtype="0" fill="hold" grpId="0" nodeType="withEffect">
                                  <p:stCondLst>
                                    <p:cond delay="870"/>
                                  </p:stCondLst>
                                  <p:childTnLst>
                                    <p:set>
                                      <p:cBhvr>
                                        <p:cTn id="49" dur="1" fill="hold">
                                          <p:stCondLst>
                                            <p:cond delay="0"/>
                                          </p:stCondLst>
                                        </p:cTn>
                                        <p:tgtEl>
                                          <p:spTgt spid="112"/>
                                        </p:tgtEl>
                                        <p:attrNameLst>
                                          <p:attrName>style.visibility</p:attrName>
                                        </p:attrNameLst>
                                      </p:cBhvr>
                                      <p:to>
                                        <p:strVal val="visible"/>
                                      </p:to>
                                    </p:set>
                                    <p:animEffect transition="in" filter="fade">
                                      <p:cBhvr>
                                        <p:cTn id="50" dur="500"/>
                                        <p:tgtEl>
                                          <p:spTgt spid="112"/>
                                        </p:tgtEl>
                                      </p:cBhvr>
                                    </p:animEffect>
                                  </p:childTnLst>
                                </p:cTn>
                              </p:par>
                              <p:par>
                                <p:cTn id="51" presetID="10" presetClass="entr" presetSubtype="0" fill="hold" grpId="0" nodeType="withEffect">
                                  <p:stCondLst>
                                    <p:cond delay="870"/>
                                  </p:stCondLst>
                                  <p:childTnLst>
                                    <p:set>
                                      <p:cBhvr>
                                        <p:cTn id="52" dur="1" fill="hold">
                                          <p:stCondLst>
                                            <p:cond delay="0"/>
                                          </p:stCondLst>
                                        </p:cTn>
                                        <p:tgtEl>
                                          <p:spTgt spid="113"/>
                                        </p:tgtEl>
                                        <p:attrNameLst>
                                          <p:attrName>style.visibility</p:attrName>
                                        </p:attrNameLst>
                                      </p:cBhvr>
                                      <p:to>
                                        <p:strVal val="visible"/>
                                      </p:to>
                                    </p:set>
                                    <p:animEffect transition="in" filter="fade">
                                      <p:cBhvr>
                                        <p:cTn id="53" dur="500"/>
                                        <p:tgtEl>
                                          <p:spTgt spid="113"/>
                                        </p:tgtEl>
                                      </p:cBhvr>
                                    </p:animEffect>
                                  </p:childTnLst>
                                </p:cTn>
                              </p:par>
                              <p:par>
                                <p:cTn id="54" presetID="10" presetClass="entr" presetSubtype="0" fill="hold" grpId="0" nodeType="withEffect">
                                  <p:stCondLst>
                                    <p:cond delay="870"/>
                                  </p:stCondLst>
                                  <p:childTnLst>
                                    <p:set>
                                      <p:cBhvr>
                                        <p:cTn id="55" dur="1" fill="hold">
                                          <p:stCondLst>
                                            <p:cond delay="0"/>
                                          </p:stCondLst>
                                        </p:cTn>
                                        <p:tgtEl>
                                          <p:spTgt spid="114"/>
                                        </p:tgtEl>
                                        <p:attrNameLst>
                                          <p:attrName>style.visibility</p:attrName>
                                        </p:attrNameLst>
                                      </p:cBhvr>
                                      <p:to>
                                        <p:strVal val="visible"/>
                                      </p:to>
                                    </p:set>
                                    <p:animEffect transition="in" filter="fade">
                                      <p:cBhvr>
                                        <p:cTn id="56" dur="500"/>
                                        <p:tgtEl>
                                          <p:spTgt spid="114"/>
                                        </p:tgtEl>
                                      </p:cBhvr>
                                    </p:animEffect>
                                  </p:childTnLst>
                                </p:cTn>
                              </p:par>
                              <p:par>
                                <p:cTn id="57" presetID="10" presetClass="entr" presetSubtype="0" fill="hold" grpId="0" nodeType="withEffect">
                                  <p:stCondLst>
                                    <p:cond delay="87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childTnLst>
                                </p:cTn>
                              </p:par>
                              <p:par>
                                <p:cTn id="60" presetID="10" presetClass="entr" presetSubtype="0" fill="hold" grpId="0" nodeType="withEffect">
                                  <p:stCondLst>
                                    <p:cond delay="870"/>
                                  </p:stCondLst>
                                  <p:childTnLst>
                                    <p:set>
                                      <p:cBhvr>
                                        <p:cTn id="61" dur="1" fill="hold">
                                          <p:stCondLst>
                                            <p:cond delay="0"/>
                                          </p:stCondLst>
                                        </p:cTn>
                                        <p:tgtEl>
                                          <p:spTgt spid="116"/>
                                        </p:tgtEl>
                                        <p:attrNameLst>
                                          <p:attrName>style.visibility</p:attrName>
                                        </p:attrNameLst>
                                      </p:cBhvr>
                                      <p:to>
                                        <p:strVal val="visible"/>
                                      </p:to>
                                    </p:set>
                                    <p:animEffect transition="in" filter="fade">
                                      <p:cBhvr>
                                        <p:cTn id="62" dur="500"/>
                                        <p:tgtEl>
                                          <p:spTgt spid="116"/>
                                        </p:tgtEl>
                                      </p:cBhvr>
                                    </p:animEffect>
                                  </p:childTnLst>
                                </p:cTn>
                              </p:par>
                              <p:par>
                                <p:cTn id="63" presetID="10" presetClass="entr" presetSubtype="0" fill="hold" grpId="0" nodeType="withEffect">
                                  <p:stCondLst>
                                    <p:cond delay="870"/>
                                  </p:stCondLst>
                                  <p:childTnLst>
                                    <p:set>
                                      <p:cBhvr>
                                        <p:cTn id="64" dur="1" fill="hold">
                                          <p:stCondLst>
                                            <p:cond delay="0"/>
                                          </p:stCondLst>
                                        </p:cTn>
                                        <p:tgtEl>
                                          <p:spTgt spid="117"/>
                                        </p:tgtEl>
                                        <p:attrNameLst>
                                          <p:attrName>style.visibility</p:attrName>
                                        </p:attrNameLst>
                                      </p:cBhvr>
                                      <p:to>
                                        <p:strVal val="visible"/>
                                      </p:to>
                                    </p:set>
                                    <p:animEffect transition="in" filter="fade">
                                      <p:cBhvr>
                                        <p:cTn id="65" dur="500"/>
                                        <p:tgtEl>
                                          <p:spTgt spid="117"/>
                                        </p:tgtEl>
                                      </p:cBhvr>
                                    </p:animEffect>
                                  </p:childTnLst>
                                </p:cTn>
                              </p:par>
                              <p:par>
                                <p:cTn id="66" presetID="10" presetClass="entr" presetSubtype="0" fill="hold" grpId="0" nodeType="withEffect">
                                  <p:stCondLst>
                                    <p:cond delay="870"/>
                                  </p:stCondLst>
                                  <p:childTnLst>
                                    <p:set>
                                      <p:cBhvr>
                                        <p:cTn id="67" dur="1" fill="hold">
                                          <p:stCondLst>
                                            <p:cond delay="0"/>
                                          </p:stCondLst>
                                        </p:cTn>
                                        <p:tgtEl>
                                          <p:spTgt spid="118"/>
                                        </p:tgtEl>
                                        <p:attrNameLst>
                                          <p:attrName>style.visibility</p:attrName>
                                        </p:attrNameLst>
                                      </p:cBhvr>
                                      <p:to>
                                        <p:strVal val="visible"/>
                                      </p:to>
                                    </p:set>
                                    <p:animEffect transition="in" filter="fade">
                                      <p:cBhvr>
                                        <p:cTn id="68" dur="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SPRINT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Team Is Ready to Plan the First Sprint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 Sprint is a fixed-length period to create a valuable, usable Increment.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258</a:t>
            </a:r>
            <a:endParaRPr lang="en-US" sz="850" dirty="0"/>
          </a:p>
        </p:txBody>
      </p:sp>
      <p:sp>
        <p:nvSpPr>
          <p:cNvPr id="101" name="s101"/>
          <p:cNvSpPr/>
          <p:nvPr/>
        </p:nvSpPr>
        <p:spPr>
          <a:xfrm>
            <a:off x="543154" y="1965960"/>
            <a:ext cx="11088014" cy="640080"/>
          </a:xfrm>
          <a:prstGeom prst="roundRect">
            <a:avLst>
              <a:gd name="adj" fmla="val 12000"/>
            </a:avLst>
          </a:prstGeom>
          <a:solidFill>
            <a:srgbClr val="111B2E"/>
          </a:solidFill>
          <a:ln w="12700">
            <a:solidFill>
              <a:srgbClr val="60A5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600" b="1" dirty="0">
                <a:solidFill>
                  <a:srgbClr val="60A5FA"/>
                </a:solidFill>
                <a:latin typeface="Segoe UI"/>
                <a:ea typeface="Segoe UI"/>
                <a:cs typeface="Segoe UI"/>
              </a:rPr>
              <a:t>Care Hospital Sprint 1: </a:t>
            </a:r>
            <a:r>
              <a:rPr lang="en-US" sz="1600" b="1" dirty="0">
                <a:solidFill>
                  <a:srgbClr val="FFFFFF"/>
                </a:solidFill>
                <a:latin typeface="Segoe UI"/>
                <a:ea typeface="Segoe UI"/>
                <a:cs typeface="Segoe UI"/>
              </a:rPr>
              <a:t>2 weeks</a:t>
            </a:r>
            <a:r>
              <a:rPr lang="en-US" sz="1600" b="0" dirty="0">
                <a:solidFill>
                  <a:srgbClr val="E2E8F0"/>
                </a:solidFill>
                <a:latin typeface="Segoe UI"/>
                <a:ea typeface="Segoe UI"/>
                <a:cs typeface="Segoe UI"/>
              </a:rPr>
              <a:t>   (Scrum allows up to 1 month)</a:t>
            </a:r>
            <a:endParaRPr lang="en-US" sz="1600" dirty="0"/>
          </a:p>
        </p:txBody>
      </p:sp>
      <p:sp>
        <p:nvSpPr>
          <p:cNvPr id="102" name="s102"/>
          <p:cNvSpPr txBox="1"/>
          <p:nvPr/>
        </p:nvSpPr>
        <p:spPr>
          <a:xfrm>
            <a:off x="543154" y="2880360"/>
            <a:ext cx="1280160"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1 week</a:t>
            </a:r>
            <a:endParaRPr lang="en-US" sz="1500" dirty="0"/>
          </a:p>
        </p:txBody>
      </p:sp>
      <p:sp>
        <p:nvSpPr>
          <p:cNvPr id="103" name="s103"/>
          <p:cNvSpPr/>
          <p:nvPr/>
        </p:nvSpPr>
        <p:spPr>
          <a:xfrm>
            <a:off x="1914754" y="2935224"/>
            <a:ext cx="2269084" cy="393192"/>
          </a:xfrm>
          <a:prstGeom prst="roundRect">
            <a:avLst>
              <a:gd name="adj" fmla="val 40000"/>
            </a:avLst>
          </a:prstGeom>
          <a:solidFill>
            <a:srgbClr val="13D0F7">
              <a:alpha val="30000"/>
            </a:srgbClr>
          </a:solidFill>
          <a:ln w="12700">
            <a:solidFill>
              <a:srgbClr val="13D0F7"/>
            </a:solidFill>
            <a:prstDash val="solid"/>
          </a:ln>
        </p:spPr>
        <p:txBody>
          <a:bodyPr wrap="square" lIns="182880"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Faster feedback</a:t>
            </a:r>
            <a:endParaRPr lang="en-US" sz="1200" dirty="0"/>
          </a:p>
        </p:txBody>
      </p:sp>
      <p:sp>
        <p:nvSpPr>
          <p:cNvPr id="104" name="s104"/>
          <p:cNvSpPr txBox="1"/>
          <p:nvPr/>
        </p:nvSpPr>
        <p:spPr>
          <a:xfrm>
            <a:off x="543154" y="3520440"/>
            <a:ext cx="1280160"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34D399"/>
                </a:solidFill>
                <a:latin typeface="Segoe UI"/>
                <a:ea typeface="Segoe UI"/>
                <a:cs typeface="Segoe UI"/>
              </a:rPr>
              <a:t>2 weeks</a:t>
            </a:r>
            <a:endParaRPr lang="en-US" sz="1500" dirty="0"/>
          </a:p>
        </p:txBody>
      </p:sp>
      <p:sp>
        <p:nvSpPr>
          <p:cNvPr id="105" name="s105"/>
          <p:cNvSpPr/>
          <p:nvPr/>
        </p:nvSpPr>
        <p:spPr>
          <a:xfrm>
            <a:off x="1914754" y="3575304"/>
            <a:ext cx="4538167" cy="393192"/>
          </a:xfrm>
          <a:prstGeom prst="roundRect">
            <a:avLst>
              <a:gd name="adj" fmla="val 40000"/>
            </a:avLst>
          </a:prstGeom>
          <a:solidFill>
            <a:srgbClr val="34D399">
              <a:alpha val="70000"/>
            </a:srgbClr>
          </a:solidFill>
          <a:ln w="25400">
            <a:solidFill>
              <a:srgbClr val="34D399"/>
            </a:solidFill>
            <a:prstDash val="solid"/>
          </a:ln>
        </p:spPr>
        <p:txBody>
          <a:bodyPr wrap="square" lIns="182880"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Our choice</a:t>
            </a:r>
            <a:endParaRPr lang="en-US" sz="1200" dirty="0"/>
          </a:p>
        </p:txBody>
      </p:sp>
      <p:sp>
        <p:nvSpPr>
          <p:cNvPr id="106" name="s106"/>
          <p:cNvSpPr txBox="1"/>
          <p:nvPr/>
        </p:nvSpPr>
        <p:spPr>
          <a:xfrm>
            <a:off x="543154" y="4160520"/>
            <a:ext cx="1280160"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3 weeks</a:t>
            </a:r>
            <a:endParaRPr lang="en-US" sz="1500" dirty="0"/>
          </a:p>
        </p:txBody>
      </p:sp>
      <p:sp>
        <p:nvSpPr>
          <p:cNvPr id="107" name="s107"/>
          <p:cNvSpPr/>
          <p:nvPr/>
        </p:nvSpPr>
        <p:spPr>
          <a:xfrm>
            <a:off x="1914754" y="4215384"/>
            <a:ext cx="6807251" cy="393192"/>
          </a:xfrm>
          <a:prstGeom prst="roundRect">
            <a:avLst>
              <a:gd name="adj" fmla="val 40000"/>
            </a:avLst>
          </a:prstGeom>
          <a:solidFill>
            <a:srgbClr val="FBBF24">
              <a:alpha val="30000"/>
            </a:srgbClr>
          </a:solidFill>
          <a:ln w="12700">
            <a:solidFill>
              <a:srgbClr val="FBBF24"/>
            </a:solidFill>
            <a:prstDash val="solid"/>
          </a:ln>
        </p:spPr>
        <p:txBody>
          <a:bodyPr wrap="square" lIns="182880"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More room for work</a:t>
            </a:r>
            <a:endParaRPr lang="en-US" sz="1200" dirty="0"/>
          </a:p>
        </p:txBody>
      </p:sp>
      <p:sp>
        <p:nvSpPr>
          <p:cNvPr id="108" name="s108"/>
          <p:cNvSpPr txBox="1"/>
          <p:nvPr/>
        </p:nvSpPr>
        <p:spPr>
          <a:xfrm>
            <a:off x="543154" y="4800600"/>
            <a:ext cx="1280160"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4 weeks</a:t>
            </a:r>
            <a:endParaRPr lang="en-US" sz="1500" dirty="0"/>
          </a:p>
        </p:txBody>
      </p:sp>
      <p:sp>
        <p:nvSpPr>
          <p:cNvPr id="109" name="s109"/>
          <p:cNvSpPr/>
          <p:nvPr/>
        </p:nvSpPr>
        <p:spPr>
          <a:xfrm>
            <a:off x="1914754" y="4855464"/>
            <a:ext cx="9076334" cy="393192"/>
          </a:xfrm>
          <a:prstGeom prst="roundRect">
            <a:avLst>
              <a:gd name="adj" fmla="val 40000"/>
            </a:avLst>
          </a:prstGeom>
          <a:solidFill>
            <a:srgbClr val="F87171">
              <a:alpha val="30000"/>
            </a:srgbClr>
          </a:solidFill>
          <a:ln w="12700">
            <a:solidFill>
              <a:srgbClr val="F87171"/>
            </a:solidFill>
            <a:prstDash val="solid"/>
          </a:ln>
        </p:spPr>
        <p:txBody>
          <a:bodyPr wrap="square" lIns="182880"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More risk, slower feedback</a:t>
            </a:r>
            <a:endParaRPr lang="en-US" sz="1200" dirty="0"/>
          </a:p>
        </p:txBody>
      </p:sp>
      <p:sp>
        <p:nvSpPr>
          <p:cNvPr id="110" name="s110"/>
          <p:cNvSpPr txBox="1"/>
          <p:nvPr/>
        </p:nvSpPr>
        <p:spPr>
          <a:xfrm>
            <a:off x="543154" y="5486400"/>
            <a:ext cx="11088014"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300" b="0" dirty="0">
                <a:solidFill>
                  <a:srgbClr val="94A3B8"/>
                </a:solidFill>
                <a:latin typeface="Segoe UI"/>
                <a:ea typeface="Segoe UI"/>
                <a:cs typeface="Segoe UI"/>
              </a:rPr>
              <a:t>Keep the duration consistent. Shorter = more frequent events; longer = delayed feedback.</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10" presetClass="entr" presetSubtype="0" fill="hold" grpId="0" nodeType="withEffect">
                                  <p:stCondLst>
                                    <p:cond delay="150"/>
                                  </p:stCondLst>
                                  <p:childTnLst>
                                    <p:set>
                                      <p:cBhvr>
                                        <p:cTn id="11" dur="1" fill="hold">
                                          <p:stCondLst>
                                            <p:cond delay="0"/>
                                          </p:stCondLst>
                                        </p:cTn>
                                        <p:tgtEl>
                                          <p:spTgt spid="102"/>
                                        </p:tgtEl>
                                        <p:attrNameLst>
                                          <p:attrName>style.visibility</p:attrName>
                                        </p:attrNameLst>
                                      </p:cBhvr>
                                      <p:to>
                                        <p:strVal val="visible"/>
                                      </p:to>
                                    </p:set>
                                    <p:animEffect transition="in" filter="fade">
                                      <p:cBhvr>
                                        <p:cTn id="12" dur="600"/>
                                        <p:tgtEl>
                                          <p:spTgt spid="102"/>
                                        </p:tgtEl>
                                      </p:cBhvr>
                                    </p:animEffect>
                                  </p:childTnLst>
                                </p:cTn>
                              </p:par>
                              <p:par>
                                <p:cTn id="13" presetID="22" presetClass="entr" presetSubtype="8" fill="hold" grpId="0" nodeType="withEffect">
                                  <p:stCondLst>
                                    <p:cond delay="300"/>
                                  </p:stCondLst>
                                  <p:childTnLst>
                                    <p:set>
                                      <p:cBhvr>
                                        <p:cTn id="14" dur="1" fill="hold">
                                          <p:stCondLst>
                                            <p:cond delay="0"/>
                                          </p:stCondLst>
                                        </p:cTn>
                                        <p:tgtEl>
                                          <p:spTgt spid="103"/>
                                        </p:tgtEl>
                                        <p:attrNameLst>
                                          <p:attrName>style.visibility</p:attrName>
                                        </p:attrNameLst>
                                      </p:cBhvr>
                                      <p:to>
                                        <p:strVal val="visible"/>
                                      </p:to>
                                    </p:set>
                                    <p:animEffect transition="in" filter="wipe(left)">
                                      <p:cBhvr>
                                        <p:cTn id="15" dur="600"/>
                                        <p:tgtEl>
                                          <p:spTgt spid="103"/>
                                        </p:tgtEl>
                                      </p:cBhvr>
                                    </p:animEffect>
                                  </p:childTnLst>
                                </p:cTn>
                              </p:par>
                              <p:par>
                                <p:cTn id="16" presetID="10" presetClass="entr" presetSubtype="0" fill="hold" grpId="0" nodeType="withEffect">
                                  <p:stCondLst>
                                    <p:cond delay="450"/>
                                  </p:stCondLst>
                                  <p:childTnLst>
                                    <p:set>
                                      <p:cBhvr>
                                        <p:cTn id="17" dur="1" fill="hold">
                                          <p:stCondLst>
                                            <p:cond delay="0"/>
                                          </p:stCondLst>
                                        </p:cTn>
                                        <p:tgtEl>
                                          <p:spTgt spid="104"/>
                                        </p:tgtEl>
                                        <p:attrNameLst>
                                          <p:attrName>style.visibility</p:attrName>
                                        </p:attrNameLst>
                                      </p:cBhvr>
                                      <p:to>
                                        <p:strVal val="visible"/>
                                      </p:to>
                                    </p:set>
                                    <p:animEffect transition="in" filter="fade">
                                      <p:cBhvr>
                                        <p:cTn id="18" dur="600"/>
                                        <p:tgtEl>
                                          <p:spTgt spid="104"/>
                                        </p:tgtEl>
                                      </p:cBhvr>
                                    </p:animEffect>
                                  </p:childTnLst>
                                </p:cTn>
                              </p:par>
                              <p:par>
                                <p:cTn id="19" presetID="22" presetClass="entr" presetSubtype="8" fill="hold" grpId="0" nodeType="withEffect">
                                  <p:stCondLst>
                                    <p:cond delay="600"/>
                                  </p:stCondLst>
                                  <p:childTnLst>
                                    <p:set>
                                      <p:cBhvr>
                                        <p:cTn id="20" dur="1" fill="hold">
                                          <p:stCondLst>
                                            <p:cond delay="0"/>
                                          </p:stCondLst>
                                        </p:cTn>
                                        <p:tgtEl>
                                          <p:spTgt spid="105"/>
                                        </p:tgtEl>
                                        <p:attrNameLst>
                                          <p:attrName>style.visibility</p:attrName>
                                        </p:attrNameLst>
                                      </p:cBhvr>
                                      <p:to>
                                        <p:strVal val="visible"/>
                                      </p:to>
                                    </p:set>
                                    <p:animEffect transition="in" filter="wipe(left)">
                                      <p:cBhvr>
                                        <p:cTn id="21" dur="600"/>
                                        <p:tgtEl>
                                          <p:spTgt spid="105"/>
                                        </p:tgtEl>
                                      </p:cBhvr>
                                    </p:animEffect>
                                  </p:childTnLst>
                                </p:cTn>
                              </p:par>
                              <p:par>
                                <p:cTn id="22" presetID="10" presetClass="entr" presetSubtype="0" fill="hold" grpId="0" nodeType="withEffect">
                                  <p:stCondLst>
                                    <p:cond delay="750"/>
                                  </p:stCondLst>
                                  <p:childTnLst>
                                    <p:set>
                                      <p:cBhvr>
                                        <p:cTn id="23" dur="1" fill="hold">
                                          <p:stCondLst>
                                            <p:cond delay="0"/>
                                          </p:stCondLst>
                                        </p:cTn>
                                        <p:tgtEl>
                                          <p:spTgt spid="106"/>
                                        </p:tgtEl>
                                        <p:attrNameLst>
                                          <p:attrName>style.visibility</p:attrName>
                                        </p:attrNameLst>
                                      </p:cBhvr>
                                      <p:to>
                                        <p:strVal val="visible"/>
                                      </p:to>
                                    </p:set>
                                    <p:animEffect transition="in" filter="fade">
                                      <p:cBhvr>
                                        <p:cTn id="24" dur="600"/>
                                        <p:tgtEl>
                                          <p:spTgt spid="106"/>
                                        </p:tgtEl>
                                      </p:cBhvr>
                                    </p:animEffect>
                                  </p:childTnLst>
                                </p:cTn>
                              </p:par>
                              <p:par>
                                <p:cTn id="25" presetID="22" presetClass="entr" presetSubtype="8" fill="hold" grpId="0" nodeType="withEffect">
                                  <p:stCondLst>
                                    <p:cond delay="900"/>
                                  </p:stCondLst>
                                  <p:childTnLst>
                                    <p:set>
                                      <p:cBhvr>
                                        <p:cTn id="26" dur="1" fill="hold">
                                          <p:stCondLst>
                                            <p:cond delay="0"/>
                                          </p:stCondLst>
                                        </p:cTn>
                                        <p:tgtEl>
                                          <p:spTgt spid="107"/>
                                        </p:tgtEl>
                                        <p:attrNameLst>
                                          <p:attrName>style.visibility</p:attrName>
                                        </p:attrNameLst>
                                      </p:cBhvr>
                                      <p:to>
                                        <p:strVal val="visible"/>
                                      </p:to>
                                    </p:set>
                                    <p:animEffect transition="in" filter="wipe(left)">
                                      <p:cBhvr>
                                        <p:cTn id="27" dur="600"/>
                                        <p:tgtEl>
                                          <p:spTgt spid="107"/>
                                        </p:tgtEl>
                                      </p:cBhvr>
                                    </p:animEffect>
                                  </p:childTnLst>
                                </p:cTn>
                              </p:par>
                              <p:par>
                                <p:cTn id="28" presetID="10" presetClass="entr" presetSubtype="0" fill="hold" grpId="0" nodeType="withEffect">
                                  <p:stCondLst>
                                    <p:cond delay="1050"/>
                                  </p:stCondLst>
                                  <p:childTnLst>
                                    <p:set>
                                      <p:cBhvr>
                                        <p:cTn id="29" dur="1" fill="hold">
                                          <p:stCondLst>
                                            <p:cond delay="0"/>
                                          </p:stCondLst>
                                        </p:cTn>
                                        <p:tgtEl>
                                          <p:spTgt spid="108"/>
                                        </p:tgtEl>
                                        <p:attrNameLst>
                                          <p:attrName>style.visibility</p:attrName>
                                        </p:attrNameLst>
                                      </p:cBhvr>
                                      <p:to>
                                        <p:strVal val="visible"/>
                                      </p:to>
                                    </p:set>
                                    <p:animEffect transition="in" filter="fade">
                                      <p:cBhvr>
                                        <p:cTn id="30" dur="600"/>
                                        <p:tgtEl>
                                          <p:spTgt spid="108"/>
                                        </p:tgtEl>
                                      </p:cBhvr>
                                    </p:animEffect>
                                  </p:childTnLst>
                                </p:cTn>
                              </p:par>
                              <p:par>
                                <p:cTn id="31" presetID="22" presetClass="entr" presetSubtype="8" fill="hold" grpId="0" nodeType="withEffect">
                                  <p:stCondLst>
                                    <p:cond delay="1200"/>
                                  </p:stCondLst>
                                  <p:childTnLst>
                                    <p:set>
                                      <p:cBhvr>
                                        <p:cTn id="32" dur="1" fill="hold">
                                          <p:stCondLst>
                                            <p:cond delay="0"/>
                                          </p:stCondLst>
                                        </p:cTn>
                                        <p:tgtEl>
                                          <p:spTgt spid="109"/>
                                        </p:tgtEl>
                                        <p:attrNameLst>
                                          <p:attrName>style.visibility</p:attrName>
                                        </p:attrNameLst>
                                      </p:cBhvr>
                                      <p:to>
                                        <p:strVal val="visible"/>
                                      </p:to>
                                    </p:set>
                                    <p:animEffect transition="in" filter="wipe(left)">
                                      <p:cBhvr>
                                        <p:cTn id="33" dur="600"/>
                                        <p:tgtEl>
                                          <p:spTgt spid="109"/>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10"/>
                                        </p:tgtEl>
                                        <p:attrNameLst>
                                          <p:attrName>style.visibility</p:attrName>
                                        </p:attrNameLst>
                                      </p:cBhvr>
                                      <p:to>
                                        <p:strVal val="visible"/>
                                      </p:to>
                                    </p:set>
                                    <p:animEffect transition="in" filter="fade">
                                      <p:cBhvr>
                                        <p:cTn id="38" dur="5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SPRINT 0</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Sprint 0: Measure the Team Before You Promise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 new team does not know its speed yet. The first sprint finds it out.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259</a:t>
            </a:r>
            <a:endParaRPr lang="en-US" sz="850" dirty="0"/>
          </a:p>
        </p:txBody>
      </p:sp>
      <p:sp>
        <p:nvSpPr>
          <p:cNvPr id="101" name="s101"/>
          <p:cNvSpPr/>
          <p:nvPr/>
        </p:nvSpPr>
        <p:spPr>
          <a:xfrm>
            <a:off x="8339328" y="457200"/>
            <a:ext cx="3291840" cy="310896"/>
          </a:xfrm>
          <a:prstGeom prst="roundRect">
            <a:avLst>
              <a:gd name="adj" fmla="val 50000"/>
            </a:avLst>
          </a:prstGeom>
          <a:solidFill>
            <a:srgbClr val="F0A98B">
              <a:alpha val="18000"/>
            </a:srgbClr>
          </a:solidFill>
          <a:ln w="12700">
            <a:solidFill>
              <a:srgbClr val="F0A98B"/>
            </a:solidFill>
            <a:prstDash val="solid"/>
          </a:ln>
        </p:spPr>
        <p:txBody>
          <a:bodyPr wrap="square" lIns="36576" tIns="0" rIns="36576" bIns="0" rtlCol="0" anchor="ctr">
            <a:noAutofit/>
          </a:bodyPr>
          <a:lstStyle/>
          <a:p>
            <a:pPr marL="0" indent="0" algn="ctr">
              <a:spcBef>
                <a:spcPts val="0"/>
              </a:spcBef>
              <a:spcAft>
                <a:spcPts val="0"/>
              </a:spcAft>
              <a:buNone/>
            </a:pPr>
            <a:r>
              <a:rPr lang="en-US" sz="1050" b="1" dirty="0">
                <a:solidFill>
                  <a:srgbClr val="F0A98B"/>
                </a:solidFill>
                <a:latin typeface="Segoe UI"/>
                <a:ea typeface="Segoe UI"/>
                <a:cs typeface="Segoe UI"/>
              </a:rPr>
              <a:t>IN COMPANIES  ·  not in the Scrum Guide</a:t>
            </a:r>
            <a:endParaRPr lang="en-US" sz="1050" dirty="0"/>
          </a:p>
        </p:txBody>
      </p:sp>
      <p:sp>
        <p:nvSpPr>
          <p:cNvPr id="102" name="s102"/>
          <p:cNvSpPr/>
          <p:nvPr/>
        </p:nvSpPr>
        <p:spPr>
          <a:xfrm>
            <a:off x="543154" y="1828800"/>
            <a:ext cx="2497684" cy="960120"/>
          </a:xfrm>
          <a:prstGeom prst="roundRect">
            <a:avLst>
              <a:gd name="adj" fmla="val 14000"/>
            </a:avLst>
          </a:prstGeom>
          <a:solidFill>
            <a:srgbClr val="13D0F7">
              <a:alpha val="14000"/>
            </a:srgbClr>
          </a:solidFill>
          <a:ln w="19050">
            <a:solidFill>
              <a:srgbClr val="13D0F7"/>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13D0F7"/>
                </a:solidFill>
                <a:latin typeface="Segoe UI"/>
                <a:ea typeface="Segoe UI"/>
                <a:cs typeface="Segoe UI"/>
              </a:rPr>
              <a:t>FIX THE LENGTH</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e.g. 2 weeks, always the same</a:t>
            </a:r>
            <a:endParaRPr lang="en-US" sz="1150" dirty="0"/>
          </a:p>
        </p:txBody>
      </p:sp>
      <p:sp>
        <p:nvSpPr>
          <p:cNvPr id="103" name="s103"/>
          <p:cNvSpPr/>
          <p:nvPr/>
        </p:nvSpPr>
        <p:spPr>
          <a:xfrm>
            <a:off x="3406597" y="1828800"/>
            <a:ext cx="2497684" cy="960120"/>
          </a:xfrm>
          <a:prstGeom prst="roundRect">
            <a:avLst>
              <a:gd name="adj" fmla="val 14000"/>
            </a:avLst>
          </a:prstGeom>
          <a:solidFill>
            <a:srgbClr val="FBBF24">
              <a:alpha val="14000"/>
            </a:srgbClr>
          </a:solidFill>
          <a:ln w="19050">
            <a:solidFill>
              <a:srgbClr val="FBBF24"/>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FBBF24"/>
                </a:solidFill>
                <a:latin typeface="Segoe UI"/>
                <a:ea typeface="Segoe UI"/>
                <a:cs typeface="Segoe UI"/>
              </a:rPr>
              <a:t>PULL TASKS</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a realistic first set</a:t>
            </a:r>
            <a:endParaRPr lang="en-US" sz="1150" dirty="0"/>
          </a:p>
        </p:txBody>
      </p:sp>
      <p:cxnSp>
        <p:nvCxnSpPr>
          <p:cNvPr id="104" name="ln104"/>
          <p:cNvCxnSpPr/>
          <p:nvPr/>
        </p:nvCxnSpPr>
        <p:spPr>
          <a:xfrm>
            <a:off x="3095701" y="2308860"/>
            <a:ext cx="256032" cy="0"/>
          </a:xfrm>
          <a:prstGeom prst="line">
            <a:avLst/>
          </a:prstGeom>
          <a:ln w="22225">
            <a:solidFill>
              <a:srgbClr val="94A3B8"/>
            </a:solidFill>
            <a:tailEnd type="triangle" w="med" len="med"/>
          </a:ln>
        </p:spPr>
      </p:cxnSp>
      <p:sp>
        <p:nvSpPr>
          <p:cNvPr id="105" name="s105"/>
          <p:cNvSpPr/>
          <p:nvPr/>
        </p:nvSpPr>
        <p:spPr>
          <a:xfrm>
            <a:off x="6270041" y="1828800"/>
            <a:ext cx="2497684" cy="960120"/>
          </a:xfrm>
          <a:prstGeom prst="roundRect">
            <a:avLst>
              <a:gd name="adj" fmla="val 14000"/>
            </a:avLst>
          </a:prstGeom>
          <a:solidFill>
            <a:srgbClr val="A78BFA">
              <a:alpha val="14000"/>
            </a:srgbClr>
          </a:solidFill>
          <a:ln w="19050">
            <a:solidFill>
              <a:srgbClr val="A78BFA"/>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A78BFA"/>
                </a:solidFill>
                <a:latin typeface="Segoe UI"/>
                <a:ea typeface="Segoe UI"/>
                <a:cs typeface="Segoe UI"/>
              </a:rPr>
              <a:t>ESTIMATE</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story points (weighting)</a:t>
            </a:r>
            <a:endParaRPr lang="en-US" sz="1150" dirty="0"/>
          </a:p>
        </p:txBody>
      </p:sp>
      <p:cxnSp>
        <p:nvCxnSpPr>
          <p:cNvPr id="106" name="ln106"/>
          <p:cNvCxnSpPr/>
          <p:nvPr/>
        </p:nvCxnSpPr>
        <p:spPr>
          <a:xfrm>
            <a:off x="5959145" y="2308860"/>
            <a:ext cx="256032" cy="0"/>
          </a:xfrm>
          <a:prstGeom prst="line">
            <a:avLst/>
          </a:prstGeom>
          <a:ln w="22225">
            <a:solidFill>
              <a:srgbClr val="94A3B8"/>
            </a:solidFill>
            <a:tailEnd type="triangle" w="med" len="med"/>
          </a:ln>
        </p:spPr>
      </p:cxnSp>
      <p:sp>
        <p:nvSpPr>
          <p:cNvPr id="107" name="s107"/>
          <p:cNvSpPr/>
          <p:nvPr/>
        </p:nvSpPr>
        <p:spPr>
          <a:xfrm>
            <a:off x="9133484" y="1828800"/>
            <a:ext cx="2497684" cy="960120"/>
          </a:xfrm>
          <a:prstGeom prst="roundRect">
            <a:avLst>
              <a:gd name="adj" fmla="val 14000"/>
            </a:avLst>
          </a:prstGeom>
          <a:solidFill>
            <a:srgbClr val="34D399">
              <a:alpha val="14000"/>
            </a:srgbClr>
          </a:solidFill>
          <a:ln w="19050">
            <a:solidFill>
              <a:srgbClr val="34D399"/>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34D399"/>
                </a:solidFill>
                <a:latin typeface="Segoe UI"/>
                <a:ea typeface="Segoe UI"/>
                <a:cs typeface="Segoe UI"/>
              </a:rPr>
              <a:t>ADD UP DONE</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only finished items count</a:t>
            </a:r>
            <a:endParaRPr lang="en-US" sz="1150" dirty="0"/>
          </a:p>
        </p:txBody>
      </p:sp>
      <p:cxnSp>
        <p:nvCxnSpPr>
          <p:cNvPr id="108" name="ln108"/>
          <p:cNvCxnSpPr/>
          <p:nvPr/>
        </p:nvCxnSpPr>
        <p:spPr>
          <a:xfrm>
            <a:off x="8822588" y="2308860"/>
            <a:ext cx="256032" cy="0"/>
          </a:xfrm>
          <a:prstGeom prst="line">
            <a:avLst/>
          </a:prstGeom>
          <a:ln w="22225">
            <a:solidFill>
              <a:srgbClr val="94A3B8"/>
            </a:solidFill>
            <a:tailEnd type="triangle" w="med" len="med"/>
          </a:ln>
        </p:spPr>
      </p:cxnSp>
      <p:sp>
        <p:nvSpPr>
          <p:cNvPr id="109" name="s109"/>
          <p:cNvSpPr/>
          <p:nvPr/>
        </p:nvSpPr>
        <p:spPr>
          <a:xfrm>
            <a:off x="543154" y="3063240"/>
            <a:ext cx="6035040" cy="2468880"/>
          </a:xfrm>
          <a:prstGeom prst="roundRect">
            <a:avLst>
              <a:gd name="adj" fmla="val 5000"/>
            </a:avLst>
          </a:prstGeom>
          <a:solidFill>
            <a:srgbClr val="0A1220"/>
          </a:solidFill>
          <a:ln w="12700">
            <a:solidFill>
              <a:srgbClr val="1E3A5F"/>
            </a:solidFill>
            <a:prstDash val="solid"/>
          </a:ln>
        </p:spPr>
        <p:txBody>
          <a:bodyPr wrap="square" lIns="164592" tIns="109728" rIns="137160" bIns="91440" rtlCol="0" anchor="t">
            <a:noAutofit/>
          </a:bodyPr>
          <a:lstStyle/>
          <a:p>
            <a:endParaRPr lang="en-US"/>
          </a:p>
        </p:txBody>
      </p:sp>
      <p:sp>
        <p:nvSpPr>
          <p:cNvPr id="110" name="s110"/>
          <p:cNvSpPr/>
          <p:nvPr/>
        </p:nvSpPr>
        <p:spPr>
          <a:xfrm>
            <a:off x="908914" y="3851910"/>
            <a:ext cx="1005840" cy="1405890"/>
          </a:xfrm>
          <a:prstGeom prst="roundRect">
            <a:avLst>
              <a:gd name="adj" fmla="val 8000"/>
            </a:avLst>
          </a:prstGeom>
          <a:solidFill>
            <a:srgbClr val="A78BFA">
              <a:alpha val="40000"/>
            </a:srgbClr>
          </a:solidFill>
          <a:ln w="12700">
            <a:solidFill>
              <a:srgbClr val="A78BFA"/>
            </a:solidFill>
            <a:prstDash val="solid"/>
          </a:ln>
        </p:spPr>
        <p:txBody>
          <a:bodyPr wrap="square" lIns="0" tIns="4572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18</a:t>
            </a:r>
            <a:endParaRPr lang="en-US" sz="1400" dirty="0"/>
          </a:p>
        </p:txBody>
      </p:sp>
      <p:sp>
        <p:nvSpPr>
          <p:cNvPr id="111" name="s111"/>
          <p:cNvSpPr txBox="1"/>
          <p:nvPr/>
        </p:nvSpPr>
        <p:spPr>
          <a:xfrm>
            <a:off x="817474" y="5285232"/>
            <a:ext cx="1188720" cy="22860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1" dirty="0">
                <a:solidFill>
                  <a:srgbClr val="94A3B8"/>
                </a:solidFill>
                <a:latin typeface="Segoe UI"/>
                <a:ea typeface="Segoe UI"/>
                <a:cs typeface="Segoe UI"/>
              </a:rPr>
              <a:t>Sprint 0</a:t>
            </a:r>
            <a:endParaRPr lang="en-US" sz="1050" dirty="0"/>
          </a:p>
        </p:txBody>
      </p:sp>
      <p:sp>
        <p:nvSpPr>
          <p:cNvPr id="112" name="s112"/>
          <p:cNvSpPr/>
          <p:nvPr/>
        </p:nvSpPr>
        <p:spPr>
          <a:xfrm>
            <a:off x="2326234" y="3851910"/>
            <a:ext cx="1005840" cy="1405890"/>
          </a:xfrm>
          <a:prstGeom prst="roundRect">
            <a:avLst>
              <a:gd name="adj" fmla="val 8000"/>
            </a:avLst>
          </a:prstGeom>
          <a:solidFill>
            <a:srgbClr val="13D0F7">
              <a:alpha val="22000"/>
            </a:srgbClr>
          </a:solidFill>
          <a:ln w="12700">
            <a:solidFill>
              <a:srgbClr val="13D0F7"/>
            </a:solidFill>
            <a:prstDash val="solid"/>
          </a:ln>
        </p:spPr>
        <p:txBody>
          <a:bodyPr wrap="square" lIns="0" tIns="4572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18</a:t>
            </a:r>
            <a:endParaRPr lang="en-US" sz="1400" dirty="0"/>
          </a:p>
        </p:txBody>
      </p:sp>
      <p:sp>
        <p:nvSpPr>
          <p:cNvPr id="113" name="s113"/>
          <p:cNvSpPr txBox="1"/>
          <p:nvPr/>
        </p:nvSpPr>
        <p:spPr>
          <a:xfrm>
            <a:off x="2234794" y="5285232"/>
            <a:ext cx="1188720" cy="22860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1" dirty="0">
                <a:solidFill>
                  <a:srgbClr val="94A3B8"/>
                </a:solidFill>
                <a:latin typeface="Segoe UI"/>
                <a:ea typeface="Segoe UI"/>
                <a:cs typeface="Segoe UI"/>
              </a:rPr>
              <a:t>Sprint 1</a:t>
            </a:r>
            <a:endParaRPr lang="en-US" sz="1050" dirty="0"/>
          </a:p>
        </p:txBody>
      </p:sp>
      <p:sp>
        <p:nvSpPr>
          <p:cNvPr id="114" name="s114"/>
          <p:cNvSpPr/>
          <p:nvPr/>
        </p:nvSpPr>
        <p:spPr>
          <a:xfrm>
            <a:off x="3743554" y="3695700"/>
            <a:ext cx="1005840" cy="1562100"/>
          </a:xfrm>
          <a:prstGeom prst="roundRect">
            <a:avLst>
              <a:gd name="adj" fmla="val 8000"/>
            </a:avLst>
          </a:prstGeom>
          <a:solidFill>
            <a:srgbClr val="13D0F7">
              <a:alpha val="22000"/>
            </a:srgbClr>
          </a:solidFill>
          <a:ln w="12700">
            <a:solidFill>
              <a:srgbClr val="13D0F7"/>
            </a:solidFill>
            <a:prstDash val="solid"/>
          </a:ln>
        </p:spPr>
        <p:txBody>
          <a:bodyPr wrap="square" lIns="0" tIns="4572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20</a:t>
            </a:r>
            <a:endParaRPr lang="en-US" sz="1400" dirty="0"/>
          </a:p>
        </p:txBody>
      </p:sp>
      <p:sp>
        <p:nvSpPr>
          <p:cNvPr id="115" name="s115"/>
          <p:cNvSpPr txBox="1"/>
          <p:nvPr/>
        </p:nvSpPr>
        <p:spPr>
          <a:xfrm>
            <a:off x="3652114" y="5285232"/>
            <a:ext cx="1188720" cy="22860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1" dirty="0">
                <a:solidFill>
                  <a:srgbClr val="94A3B8"/>
                </a:solidFill>
                <a:latin typeface="Segoe UI"/>
                <a:ea typeface="Segoe UI"/>
                <a:cs typeface="Segoe UI"/>
              </a:rPr>
              <a:t>Sprint 2</a:t>
            </a:r>
            <a:endParaRPr lang="en-US" sz="1050" dirty="0"/>
          </a:p>
        </p:txBody>
      </p:sp>
      <p:sp>
        <p:nvSpPr>
          <p:cNvPr id="116" name="s116"/>
          <p:cNvSpPr/>
          <p:nvPr/>
        </p:nvSpPr>
        <p:spPr>
          <a:xfrm>
            <a:off x="5160874" y="3617595"/>
            <a:ext cx="1005840" cy="1640205"/>
          </a:xfrm>
          <a:prstGeom prst="roundRect">
            <a:avLst>
              <a:gd name="adj" fmla="val 8000"/>
            </a:avLst>
          </a:prstGeom>
          <a:solidFill>
            <a:srgbClr val="13D0F7">
              <a:alpha val="22000"/>
            </a:srgbClr>
          </a:solidFill>
          <a:ln w="12700">
            <a:solidFill>
              <a:srgbClr val="13D0F7"/>
            </a:solidFill>
            <a:prstDash val="solid"/>
          </a:ln>
        </p:spPr>
        <p:txBody>
          <a:bodyPr wrap="square" lIns="0" tIns="45720" rIns="0" bIns="0" rtlCol="0" anchor="t">
            <a:noAutofit/>
          </a:bodyPr>
          <a:lstStyle/>
          <a:p>
            <a:pPr marL="0" indent="0" algn="ctr">
              <a:spcBef>
                <a:spcPts val="0"/>
              </a:spcBef>
              <a:spcAft>
                <a:spcPts val="0"/>
              </a:spcAft>
              <a:buNone/>
            </a:pPr>
            <a:r>
              <a:rPr lang="en-US" sz="1400" b="1" dirty="0">
                <a:solidFill>
                  <a:srgbClr val="FFFFFF"/>
                </a:solidFill>
                <a:latin typeface="Segoe UI"/>
                <a:ea typeface="Segoe UI"/>
                <a:cs typeface="Segoe UI"/>
              </a:rPr>
              <a:t>21</a:t>
            </a:r>
            <a:endParaRPr lang="en-US" sz="1400" dirty="0"/>
          </a:p>
        </p:txBody>
      </p:sp>
      <p:sp>
        <p:nvSpPr>
          <p:cNvPr id="117" name="s117"/>
          <p:cNvSpPr txBox="1"/>
          <p:nvPr/>
        </p:nvSpPr>
        <p:spPr>
          <a:xfrm>
            <a:off x="5069434" y="5285232"/>
            <a:ext cx="1188720" cy="22860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050" b="1" dirty="0">
                <a:solidFill>
                  <a:srgbClr val="94A3B8"/>
                </a:solidFill>
                <a:latin typeface="Segoe UI"/>
                <a:ea typeface="Segoe UI"/>
                <a:cs typeface="Segoe UI"/>
              </a:rPr>
              <a:t>Sprint 3</a:t>
            </a:r>
            <a:endParaRPr lang="en-US" sz="1050" dirty="0"/>
          </a:p>
        </p:txBody>
      </p:sp>
      <p:cxnSp>
        <p:nvCxnSpPr>
          <p:cNvPr id="118" name="ln118"/>
          <p:cNvCxnSpPr/>
          <p:nvPr/>
        </p:nvCxnSpPr>
        <p:spPr>
          <a:xfrm>
            <a:off x="817474" y="3851910"/>
            <a:ext cx="5577840" cy="0"/>
          </a:xfrm>
          <a:prstGeom prst="line">
            <a:avLst/>
          </a:prstGeom>
          <a:ln w="19050">
            <a:solidFill>
              <a:srgbClr val="A78BFA"/>
            </a:solidFill>
            <a:prstDash val="dash"/>
          </a:ln>
        </p:spPr>
      </p:cxnSp>
      <p:sp>
        <p:nvSpPr>
          <p:cNvPr id="119" name="s119"/>
          <p:cNvSpPr/>
          <p:nvPr/>
        </p:nvSpPr>
        <p:spPr>
          <a:xfrm>
            <a:off x="6806794" y="3063240"/>
            <a:ext cx="4824374" cy="2468880"/>
          </a:xfrm>
          <a:prstGeom prst="roundRect">
            <a:avLst>
              <a:gd name="adj" fmla="val 8000"/>
            </a:avLst>
          </a:prstGeom>
          <a:solidFill>
            <a:srgbClr val="111B2E"/>
          </a:solidFill>
          <a:ln w="12700">
            <a:solidFill>
              <a:srgbClr val="A78BFA"/>
            </a:solidFill>
            <a:prstDash val="solid"/>
          </a:ln>
        </p:spPr>
        <p:txBody>
          <a:bodyPr wrap="square" lIns="201168" tIns="137160" rIns="164592" bIns="91440" rtlCol="0" anchor="t">
            <a:noAutofit/>
          </a:bodyPr>
          <a:lstStyle/>
          <a:p>
            <a:pPr marL="0" indent="0" algn="l">
              <a:spcBef>
                <a:spcPts val="0"/>
              </a:spcBef>
              <a:spcAft>
                <a:spcPts val="600"/>
              </a:spcAft>
              <a:buNone/>
            </a:pPr>
            <a:r>
              <a:rPr lang="en-US" sz="1150" b="1" dirty="0">
                <a:solidFill>
                  <a:srgbClr val="A78BFA"/>
                </a:solidFill>
                <a:latin typeface="Segoe UI"/>
                <a:ea typeface="Segoe UI"/>
                <a:cs typeface="Segoe UI"/>
              </a:rPr>
              <a:t>THE GOAL OF SPRINT 0</a:t>
            </a:r>
            <a:endParaRPr lang="en-US" sz="1150" dirty="0"/>
          </a:p>
          <a:p>
            <a:pPr marL="0" indent="0" algn="l">
              <a:spcBef>
                <a:spcPts val="0"/>
              </a:spcBef>
              <a:spcAft>
                <a:spcPts val="400"/>
              </a:spcAft>
              <a:buNone/>
            </a:pPr>
            <a:r>
              <a:rPr lang="en-US" sz="1250" b="0" dirty="0">
                <a:solidFill>
                  <a:srgbClr val="A78BFA"/>
                </a:solidFill>
                <a:latin typeface="Segoe UI"/>
                <a:ea typeface="Segoe UI"/>
                <a:cs typeface="Segoe UI"/>
              </a:rPr>
              <a:t>•  </a:t>
            </a:r>
            <a:r>
              <a:rPr lang="en-US" sz="1250" b="0" dirty="0">
                <a:solidFill>
                  <a:srgbClr val="E2E8F0"/>
                </a:solidFill>
                <a:latin typeface="Segoe UI"/>
                <a:ea typeface="Segoe UI"/>
                <a:cs typeface="Segoe UI"/>
              </a:rPr>
              <a:t>find the team's baseline ("buffer")</a:t>
            </a:r>
            <a:endParaRPr lang="en-US" sz="1250" dirty="0"/>
          </a:p>
          <a:p>
            <a:pPr marL="0" indent="0" algn="l">
              <a:spcBef>
                <a:spcPts val="0"/>
              </a:spcBef>
              <a:spcAft>
                <a:spcPts val="400"/>
              </a:spcAft>
              <a:buNone/>
            </a:pPr>
            <a:r>
              <a:rPr lang="en-US" sz="1250" b="0" dirty="0">
                <a:solidFill>
                  <a:srgbClr val="A78BFA"/>
                </a:solidFill>
                <a:latin typeface="Segoe UI"/>
                <a:ea typeface="Segoe UI"/>
                <a:cs typeface="Segoe UI"/>
              </a:rPr>
              <a:t>•  </a:t>
            </a:r>
            <a:r>
              <a:rPr lang="en-US" sz="1250" b="0" dirty="0">
                <a:solidFill>
                  <a:srgbClr val="E2E8F0"/>
                </a:solidFill>
                <a:latin typeface="Segoe UI"/>
                <a:ea typeface="Segoe UI"/>
                <a:cs typeface="Segoe UI"/>
              </a:rPr>
              <a:t>next sprints: about the same points, or a bit MORE</a:t>
            </a:r>
            <a:endParaRPr lang="en-US" sz="1250" dirty="0"/>
          </a:p>
          <a:p>
            <a:pPr marL="0" indent="0" algn="l">
              <a:spcBef>
                <a:spcPts val="0"/>
              </a:spcBef>
              <a:spcAft>
                <a:spcPts val="400"/>
              </a:spcAft>
              <a:buNone/>
            </a:pPr>
            <a:r>
              <a:rPr lang="en-US" sz="1250" b="0" dirty="0">
                <a:solidFill>
                  <a:srgbClr val="A78BFA"/>
                </a:solidFill>
                <a:latin typeface="Segoe UI"/>
                <a:ea typeface="Segoe UI"/>
                <a:cs typeface="Segoe UI"/>
              </a:rPr>
              <a:t>•  </a:t>
            </a:r>
            <a:r>
              <a:rPr lang="en-US" sz="1250" b="0" dirty="0">
                <a:solidFill>
                  <a:srgbClr val="E2E8F0"/>
                </a:solidFill>
                <a:latin typeface="Segoe UI"/>
                <a:ea typeface="Segoe UI"/>
                <a:cs typeface="Segoe UI"/>
              </a:rPr>
              <a:t>never plan blindly again</a:t>
            </a:r>
            <a:endParaRPr lang="en-US" sz="1250" dirty="0"/>
          </a:p>
        </p:txBody>
      </p:sp>
      <p:sp>
        <p:nvSpPr>
          <p:cNvPr id="120" name="s120"/>
          <p:cNvSpPr/>
          <p:nvPr/>
        </p:nvSpPr>
        <p:spPr>
          <a:xfrm>
            <a:off x="543154" y="5669280"/>
            <a:ext cx="11088014" cy="548640"/>
          </a:xfrm>
          <a:prstGeom prst="roundRect">
            <a:avLst>
              <a:gd name="adj" fmla="val 12000"/>
            </a:avLst>
          </a:prstGeom>
          <a:solidFill>
            <a:srgbClr val="111B2E"/>
          </a:solidFill>
          <a:ln w="12700">
            <a:solidFill>
              <a:srgbClr val="F0A98B"/>
            </a:solidFill>
            <a:prstDash val="solid"/>
          </a:ln>
        </p:spPr>
        <p:txBody>
          <a:bodyPr wrap="square" lIns="228600" tIns="45720" rIns="228600" bIns="45720" rtlCol="0" anchor="ctr">
            <a:noAutofit/>
          </a:bodyPr>
          <a:lstStyle/>
          <a:p>
            <a:pPr marL="0" indent="0" algn="ctr">
              <a:spcBef>
                <a:spcPts val="0"/>
              </a:spcBef>
              <a:spcAft>
                <a:spcPts val="0"/>
              </a:spcAft>
              <a:buNone/>
            </a:pPr>
            <a:r>
              <a:rPr lang="en-US" sz="1300" b="1" dirty="0">
                <a:solidFill>
                  <a:srgbClr val="F0A98B"/>
                </a:solidFill>
                <a:latin typeface="Segoe UI"/>
                <a:ea typeface="Segoe UI"/>
                <a:cs typeface="Segoe UI"/>
              </a:rPr>
              <a:t>HONEST NOTE</a:t>
            </a:r>
            <a:r>
              <a:rPr lang="en-US" sz="1300" b="0" dirty="0">
                <a:solidFill>
                  <a:srgbClr val="E2E8F0"/>
                </a:solidFill>
                <a:latin typeface="Segoe UI"/>
                <a:ea typeface="Segoe UI"/>
                <a:cs typeface="Segoe UI"/>
              </a:rPr>
              <a:t>   Not in the Scrum Guide. Velocity CAN drop (holidays, hard stories): a guide, not a promise.</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104"/>
                                        </p:tgtEl>
                                        <p:attrNameLst>
                                          <p:attrName>style.visibility</p:attrName>
                                        </p:attrNameLst>
                                      </p:cBhvr>
                                      <p:to>
                                        <p:strVal val="visible"/>
                                      </p:to>
                                    </p:set>
                                    <p:animEffect transition="in" filter="fade">
                                      <p:cBhvr>
                                        <p:cTn id="13" dur="500"/>
                                        <p:tgtEl>
                                          <p:spTgt spid="104"/>
                                        </p:tgtEl>
                                      </p:cBhvr>
                                    </p:animEffect>
                                    <p:anim calcmode="lin" valueType="num">
                                      <p:cBhvr additive="base">
                                        <p:cTn id="14" dur="500" decel="100000" fill="hold"/>
                                        <p:tgtEl>
                                          <p:spTgt spid="104"/>
                                        </p:tgtEl>
                                        <p:attrNameLst>
                                          <p:attrName>ppt_x</p:attrName>
                                        </p:attrNameLst>
                                      </p:cBhvr>
                                      <p:tavLst>
                                        <p:tav tm="0">
                                          <p:val>
                                            <p:strVal val="#ppt_x-0.05"/>
                                          </p:val>
                                        </p:tav>
                                        <p:tav tm="100000">
                                          <p:val>
                                            <p:strVal val="#ppt_x"/>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anim calcmode="lin" valueType="num">
                                      <p:cBhvr additive="base">
                                        <p:cTn id="18" dur="500" decel="100000" fill="hold"/>
                                        <p:tgtEl>
                                          <p:spTgt spid="103"/>
                                        </p:tgtEl>
                                        <p:attrNameLst>
                                          <p:attrName>ppt_x</p:attrName>
                                        </p:attrNameLst>
                                      </p:cBhvr>
                                      <p:tavLst>
                                        <p:tav tm="0">
                                          <p:val>
                                            <p:strVal val="#ppt_x-0.05"/>
                                          </p:val>
                                        </p:tav>
                                        <p:tav tm="100000">
                                          <p:val>
                                            <p:strVal val="#ppt_x"/>
                                          </p:val>
                                        </p:tav>
                                      </p:tavLst>
                                    </p:anim>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nodeType="click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anim calcmode="lin" valueType="num">
                                      <p:cBhvr additive="base">
                                        <p:cTn id="28" dur="500" decel="100000" fill="hold"/>
                                        <p:tgtEl>
                                          <p:spTgt spid="105"/>
                                        </p:tgtEl>
                                        <p:attrNameLst>
                                          <p:attrName>ppt_x</p:attrName>
                                        </p:attrNameLst>
                                      </p:cBhvr>
                                      <p:tavLst>
                                        <p:tav tm="0">
                                          <p:val>
                                            <p:strVal val="#ppt_x-0.05"/>
                                          </p:val>
                                        </p:tav>
                                        <p:tav tm="100000">
                                          <p:val>
                                            <p:strVal val="#ppt_x"/>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108"/>
                                        </p:tgtEl>
                                        <p:attrNameLst>
                                          <p:attrName>style.visibility</p:attrName>
                                        </p:attrNameLst>
                                      </p:cBhvr>
                                      <p:to>
                                        <p:strVal val="visible"/>
                                      </p:to>
                                    </p:set>
                                    <p:animEffect transition="in" filter="fade">
                                      <p:cBhvr>
                                        <p:cTn id="33" dur="500"/>
                                        <p:tgtEl>
                                          <p:spTgt spid="108"/>
                                        </p:tgtEl>
                                      </p:cBhvr>
                                    </p:animEffect>
                                    <p:anim calcmode="lin" valueType="num">
                                      <p:cBhvr additive="base">
                                        <p:cTn id="34" dur="500" decel="100000" fill="hold"/>
                                        <p:tgtEl>
                                          <p:spTgt spid="108"/>
                                        </p:tgtEl>
                                        <p:attrNameLst>
                                          <p:attrName>ppt_x</p:attrName>
                                        </p:attrNameLst>
                                      </p:cBhvr>
                                      <p:tavLst>
                                        <p:tav tm="0">
                                          <p:val>
                                            <p:strVal val="#ppt_x-0.05"/>
                                          </p:val>
                                        </p:tav>
                                        <p:tav tm="100000">
                                          <p:val>
                                            <p:strVal val="#ppt_x"/>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fade">
                                      <p:cBhvr>
                                        <p:cTn id="37" dur="500"/>
                                        <p:tgtEl>
                                          <p:spTgt spid="107"/>
                                        </p:tgtEl>
                                      </p:cBhvr>
                                    </p:animEffect>
                                    <p:anim calcmode="lin" valueType="num">
                                      <p:cBhvr additive="base">
                                        <p:cTn id="38" dur="500" decel="100000" fill="hold"/>
                                        <p:tgtEl>
                                          <p:spTgt spid="107"/>
                                        </p:tgtEl>
                                        <p:attrNameLst>
                                          <p:attrName>ppt_x</p:attrName>
                                        </p:attrNameLst>
                                      </p:cBhvr>
                                      <p:tavLst>
                                        <p:tav tm="0">
                                          <p:val>
                                            <p:strVal val="#ppt_x-0.05"/>
                                          </p:val>
                                        </p:tav>
                                        <p:tav tm="100000">
                                          <p:val>
                                            <p:strVal val="#ppt_x"/>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nodeType="withEffect">
                                  <p:stCondLst>
                                    <p:cond delay="110"/>
                                  </p:stCondLst>
                                  <p:childTnLst>
                                    <p:set>
                                      <p:cBhvr>
                                        <p:cTn id="50" dur="1" fill="hold">
                                          <p:stCondLst>
                                            <p:cond delay="0"/>
                                          </p:stCondLst>
                                        </p:cTn>
                                        <p:tgtEl>
                                          <p:spTgt spid="118"/>
                                        </p:tgtEl>
                                        <p:attrNameLst>
                                          <p:attrName>style.visibility</p:attrName>
                                        </p:attrNameLst>
                                      </p:cBhvr>
                                      <p:to>
                                        <p:strVal val="visible"/>
                                      </p:to>
                                    </p:set>
                                    <p:animEffect transition="in" filter="fade">
                                      <p:cBhvr>
                                        <p:cTn id="51" dur="500"/>
                                        <p:tgtEl>
                                          <p:spTgt spid="118"/>
                                        </p:tgtEl>
                                      </p:cBhvr>
                                    </p:animEffect>
                                    <p:anim calcmode="lin" valueType="num">
                                      <p:cBhvr additive="base">
                                        <p:cTn id="52" dur="500" decel="100000" fill="hold"/>
                                        <p:tgtEl>
                                          <p:spTgt spid="118"/>
                                        </p:tgtEl>
                                        <p:attrNameLst>
                                          <p:attrName>ppt_y</p:attrName>
                                        </p:attrNameLst>
                                      </p:cBhvr>
                                      <p:tavLst>
                                        <p:tav tm="0">
                                          <p:val>
                                            <p:strVal val="#ppt_y+0.06"/>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42" presetClass="entr" presetSubtype="0" fill="hold" grpId="0" nodeType="clickEffect">
                                  <p:stCondLst>
                                    <p:cond delay="0"/>
                                  </p:stCondLst>
                                  <p:childTnLst>
                                    <p:set>
                                      <p:cBhvr>
                                        <p:cTn id="56" dur="1" fill="hold">
                                          <p:stCondLst>
                                            <p:cond delay="0"/>
                                          </p:stCondLst>
                                        </p:cTn>
                                        <p:tgtEl>
                                          <p:spTgt spid="112"/>
                                        </p:tgtEl>
                                        <p:attrNameLst>
                                          <p:attrName>style.visibility</p:attrName>
                                        </p:attrNameLst>
                                      </p:cBhvr>
                                      <p:to>
                                        <p:strVal val="visible"/>
                                      </p:to>
                                    </p:set>
                                    <p:animEffect transition="in" filter="fade">
                                      <p:cBhvr>
                                        <p:cTn id="57" dur="500"/>
                                        <p:tgtEl>
                                          <p:spTgt spid="112"/>
                                        </p:tgtEl>
                                      </p:cBhvr>
                                    </p:animEffect>
                                    <p:anim calcmode="lin" valueType="num">
                                      <p:cBhvr additive="base">
                                        <p:cTn id="58" dur="500" decel="100000" fill="hold"/>
                                        <p:tgtEl>
                                          <p:spTgt spid="112"/>
                                        </p:tgtEl>
                                        <p:attrNameLst>
                                          <p:attrName>ppt_y</p:attrName>
                                        </p:attrNameLst>
                                      </p:cBhvr>
                                      <p:tavLst>
                                        <p:tav tm="0">
                                          <p:val>
                                            <p:strVal val="#ppt_y+0.06"/>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13"/>
                                        </p:tgtEl>
                                        <p:attrNameLst>
                                          <p:attrName>style.visibility</p:attrName>
                                        </p:attrNameLst>
                                      </p:cBhvr>
                                      <p:to>
                                        <p:strVal val="visible"/>
                                      </p:to>
                                    </p:set>
                                    <p:animEffect transition="in" filter="fade">
                                      <p:cBhvr>
                                        <p:cTn id="61" dur="500"/>
                                        <p:tgtEl>
                                          <p:spTgt spid="113"/>
                                        </p:tgtEl>
                                      </p:cBhvr>
                                    </p:animEffect>
                                    <p:anim calcmode="lin" valueType="num">
                                      <p:cBhvr additive="base">
                                        <p:cTn id="62" dur="500" decel="100000" fill="hold"/>
                                        <p:tgtEl>
                                          <p:spTgt spid="113"/>
                                        </p:tgtEl>
                                        <p:attrNameLst>
                                          <p:attrName>ppt_y</p:attrName>
                                        </p:attrNameLst>
                                      </p:cBhvr>
                                      <p:tavLst>
                                        <p:tav tm="0">
                                          <p:val>
                                            <p:strVal val="#ppt_y+0.06"/>
                                          </p:val>
                                        </p:tav>
                                        <p:tav tm="100000">
                                          <p:val>
                                            <p:strVal val="#ppt_y"/>
                                          </p:val>
                                        </p:tav>
                                      </p:tavLst>
                                    </p:anim>
                                  </p:childTnLst>
                                </p:cTn>
                              </p:par>
                              <p:par>
                                <p:cTn id="63" presetID="42" presetClass="entr" presetSubtype="0" fill="hold" grpId="0" nodeType="withEffect">
                                  <p:stCondLst>
                                    <p:cond delay="150"/>
                                  </p:stCondLst>
                                  <p:childTnLst>
                                    <p:set>
                                      <p:cBhvr>
                                        <p:cTn id="64" dur="1" fill="hold">
                                          <p:stCondLst>
                                            <p:cond delay="0"/>
                                          </p:stCondLst>
                                        </p:cTn>
                                        <p:tgtEl>
                                          <p:spTgt spid="114"/>
                                        </p:tgtEl>
                                        <p:attrNameLst>
                                          <p:attrName>style.visibility</p:attrName>
                                        </p:attrNameLst>
                                      </p:cBhvr>
                                      <p:to>
                                        <p:strVal val="visible"/>
                                      </p:to>
                                    </p:set>
                                    <p:animEffect transition="in" filter="fade">
                                      <p:cBhvr>
                                        <p:cTn id="65" dur="500"/>
                                        <p:tgtEl>
                                          <p:spTgt spid="114"/>
                                        </p:tgtEl>
                                      </p:cBhvr>
                                    </p:animEffect>
                                    <p:anim calcmode="lin" valueType="num">
                                      <p:cBhvr additive="base">
                                        <p:cTn id="66" dur="500" decel="100000" fill="hold"/>
                                        <p:tgtEl>
                                          <p:spTgt spid="114"/>
                                        </p:tgtEl>
                                        <p:attrNameLst>
                                          <p:attrName>ppt_y</p:attrName>
                                        </p:attrNameLst>
                                      </p:cBhvr>
                                      <p:tavLst>
                                        <p:tav tm="0">
                                          <p:val>
                                            <p:strVal val="#ppt_y+0.06"/>
                                          </p:val>
                                        </p:tav>
                                        <p:tav tm="100000">
                                          <p:val>
                                            <p:strVal val="#ppt_y"/>
                                          </p:val>
                                        </p:tav>
                                      </p:tavLst>
                                    </p:anim>
                                  </p:childTnLst>
                                </p:cTn>
                              </p:par>
                              <p:par>
                                <p:cTn id="67" presetID="42" presetClass="entr" presetSubtype="0" fill="hold" grpId="0" nodeType="withEffect">
                                  <p:stCondLst>
                                    <p:cond delay="150"/>
                                  </p:stCondLst>
                                  <p:childTnLst>
                                    <p:set>
                                      <p:cBhvr>
                                        <p:cTn id="68" dur="1" fill="hold">
                                          <p:stCondLst>
                                            <p:cond delay="0"/>
                                          </p:stCondLst>
                                        </p:cTn>
                                        <p:tgtEl>
                                          <p:spTgt spid="115"/>
                                        </p:tgtEl>
                                        <p:attrNameLst>
                                          <p:attrName>style.visibility</p:attrName>
                                        </p:attrNameLst>
                                      </p:cBhvr>
                                      <p:to>
                                        <p:strVal val="visible"/>
                                      </p:to>
                                    </p:set>
                                    <p:animEffect transition="in" filter="fade">
                                      <p:cBhvr>
                                        <p:cTn id="69" dur="500"/>
                                        <p:tgtEl>
                                          <p:spTgt spid="115"/>
                                        </p:tgtEl>
                                      </p:cBhvr>
                                    </p:animEffect>
                                    <p:anim calcmode="lin" valueType="num">
                                      <p:cBhvr additive="base">
                                        <p:cTn id="70" dur="500" decel="100000" fill="hold"/>
                                        <p:tgtEl>
                                          <p:spTgt spid="115"/>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300"/>
                                  </p:stCondLst>
                                  <p:childTnLst>
                                    <p:set>
                                      <p:cBhvr>
                                        <p:cTn id="72" dur="1" fill="hold">
                                          <p:stCondLst>
                                            <p:cond delay="0"/>
                                          </p:stCondLst>
                                        </p:cTn>
                                        <p:tgtEl>
                                          <p:spTgt spid="116"/>
                                        </p:tgtEl>
                                        <p:attrNameLst>
                                          <p:attrName>style.visibility</p:attrName>
                                        </p:attrNameLst>
                                      </p:cBhvr>
                                      <p:to>
                                        <p:strVal val="visible"/>
                                      </p:to>
                                    </p:set>
                                    <p:animEffect transition="in" filter="fade">
                                      <p:cBhvr>
                                        <p:cTn id="73" dur="500"/>
                                        <p:tgtEl>
                                          <p:spTgt spid="116"/>
                                        </p:tgtEl>
                                      </p:cBhvr>
                                    </p:animEffect>
                                    <p:anim calcmode="lin" valueType="num">
                                      <p:cBhvr additive="base">
                                        <p:cTn id="74" dur="500" decel="100000" fill="hold"/>
                                        <p:tgtEl>
                                          <p:spTgt spid="116"/>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300"/>
                                  </p:stCondLst>
                                  <p:childTnLst>
                                    <p:set>
                                      <p:cBhvr>
                                        <p:cTn id="76" dur="1" fill="hold">
                                          <p:stCondLst>
                                            <p:cond delay="0"/>
                                          </p:stCondLst>
                                        </p:cTn>
                                        <p:tgtEl>
                                          <p:spTgt spid="117"/>
                                        </p:tgtEl>
                                        <p:attrNameLst>
                                          <p:attrName>style.visibility</p:attrName>
                                        </p:attrNameLst>
                                      </p:cBhvr>
                                      <p:to>
                                        <p:strVal val="visible"/>
                                      </p:to>
                                    </p:set>
                                    <p:animEffect transition="in" filter="fade">
                                      <p:cBhvr>
                                        <p:cTn id="77" dur="500"/>
                                        <p:tgtEl>
                                          <p:spTgt spid="117"/>
                                        </p:tgtEl>
                                      </p:cBhvr>
                                    </p:animEffect>
                                    <p:anim calcmode="lin" valueType="num">
                                      <p:cBhvr additive="base">
                                        <p:cTn id="78" dur="500" decel="100000" fill="hold"/>
                                        <p:tgtEl>
                                          <p:spTgt spid="117"/>
                                        </p:tgtEl>
                                        <p:attrNameLst>
                                          <p:attrName>ppt_y</p:attrName>
                                        </p:attrNameLst>
                                      </p:cBhvr>
                                      <p:tavLst>
                                        <p:tav tm="0">
                                          <p:val>
                                            <p:strVal val="#ppt_y+0.06"/>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42" presetClass="entr" presetSubtype="0" fill="hold" grpId="0" nodeType="clickEffect">
                                  <p:stCondLst>
                                    <p:cond delay="0"/>
                                  </p:stCondLst>
                                  <p:childTnLst>
                                    <p:set>
                                      <p:cBhvr>
                                        <p:cTn id="82" dur="1" fill="hold">
                                          <p:stCondLst>
                                            <p:cond delay="0"/>
                                          </p:stCondLst>
                                        </p:cTn>
                                        <p:tgtEl>
                                          <p:spTgt spid="119"/>
                                        </p:tgtEl>
                                        <p:attrNameLst>
                                          <p:attrName>style.visibility</p:attrName>
                                        </p:attrNameLst>
                                      </p:cBhvr>
                                      <p:to>
                                        <p:strVal val="visible"/>
                                      </p:to>
                                    </p:set>
                                    <p:animEffect transition="in" filter="fade">
                                      <p:cBhvr>
                                        <p:cTn id="83" dur="500"/>
                                        <p:tgtEl>
                                          <p:spTgt spid="119"/>
                                        </p:tgtEl>
                                      </p:cBhvr>
                                    </p:animEffect>
                                    <p:anim calcmode="lin" valueType="num">
                                      <p:cBhvr additive="base">
                                        <p:cTn id="84" dur="5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42" presetClass="entr" presetSubtype="0" fill="hold" grpId="0" nodeType="clickEffect">
                                  <p:stCondLst>
                                    <p:cond delay="0"/>
                                  </p:stCondLst>
                                  <p:childTnLst>
                                    <p:set>
                                      <p:cBhvr>
                                        <p:cTn id="88" dur="1" fill="hold">
                                          <p:stCondLst>
                                            <p:cond delay="0"/>
                                          </p:stCondLst>
                                        </p:cTn>
                                        <p:tgtEl>
                                          <p:spTgt spid="120"/>
                                        </p:tgtEl>
                                        <p:attrNameLst>
                                          <p:attrName>style.visibility</p:attrName>
                                        </p:attrNameLst>
                                      </p:cBhvr>
                                      <p:to>
                                        <p:strVal val="visible"/>
                                      </p:to>
                                    </p:set>
                                    <p:animEffect transition="in" filter="fade">
                                      <p:cBhvr>
                                        <p:cTn id="89" dur="500"/>
                                        <p:tgtEl>
                                          <p:spTgt spid="120"/>
                                        </p:tgtEl>
                                      </p:cBhvr>
                                    </p:animEffect>
                                    <p:anim calcmode="lin" valueType="num">
                                      <p:cBhvr additive="base">
                                        <p:cTn id="90" dur="500" decel="100000" fill="hold"/>
                                        <p:tgtEl>
                                          <p:spTgt spid="120"/>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5" grpId="0" animBg="1"/>
      <p:bldP spid="107" grpId="0" animBg="1"/>
      <p:bldP spid="110" grpId="0" animBg="1"/>
      <p:bldP spid="111" grpId="0" animBg="1"/>
      <p:bldP spid="112" grpId="0" animBg="1"/>
      <p:bldP spid="113" grpId="0" animBg="1"/>
      <p:bldP spid="114" grpId="0" animBg="1"/>
      <p:bldP spid="115" grpId="0" animBg="1"/>
      <p:bldP spid="116" grpId="0" animBg="1"/>
      <p:bldP spid="117" grpId="0" animBg="1"/>
      <p:bldP spid="119" grpId="0" animBg="1"/>
      <p:bldP spid="120"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0A98B">
              <a:alpha val="18000"/>
            </a:srgbClr>
          </a:solidFill>
          <a:ln w="12700">
            <a:solidFill>
              <a:srgbClr val="F0A98B"/>
            </a:solidFill>
          </a:ln>
        </p:spPr>
        <p:txBody>
          <a:bodyPr wrap="square" lIns="0" tIns="0" rIns="0" bIns="0" rtlCol="0" anchor="ctr">
            <a:noAutofit/>
          </a:bodyPr>
          <a:lstStyle/>
          <a:p>
            <a:pPr marL="0" indent="0" algn="ctr">
              <a:spcBef>
                <a:spcPts val="0"/>
              </a:spcBef>
              <a:spcAft>
                <a:spcPts val="0"/>
              </a:spcAft>
              <a:buNone/>
            </a:pPr>
            <a:r>
              <a:rPr lang="en-US" sz="1000" b="1" dirty="0">
                <a:solidFill>
                  <a:srgbClr val="F0A98B"/>
                </a:solidFill>
                <a:latin typeface="Segoe UI"/>
                <a:ea typeface="Segoe UI"/>
                <a:cs typeface="Segoe UI"/>
              </a:rPr>
              <a:t>PRE-PLANNING</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Before Sprint Planning: The PO + SM Prep Meeting</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Sprint Planning is for the whole team. Many companies prepare it first.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260</a:t>
            </a:r>
            <a:endParaRPr lang="en-US" sz="850" dirty="0"/>
          </a:p>
        </p:txBody>
      </p:sp>
      <p:sp>
        <p:nvSpPr>
          <p:cNvPr id="101" name="s101"/>
          <p:cNvSpPr/>
          <p:nvPr/>
        </p:nvSpPr>
        <p:spPr>
          <a:xfrm>
            <a:off x="8339328" y="457200"/>
            <a:ext cx="3291840" cy="310896"/>
          </a:xfrm>
          <a:prstGeom prst="roundRect">
            <a:avLst>
              <a:gd name="adj" fmla="val 50000"/>
            </a:avLst>
          </a:prstGeom>
          <a:solidFill>
            <a:srgbClr val="F0A98B">
              <a:alpha val="18000"/>
            </a:srgbClr>
          </a:solidFill>
          <a:ln w="12700">
            <a:solidFill>
              <a:srgbClr val="F0A98B"/>
            </a:solidFill>
            <a:prstDash val="solid"/>
          </a:ln>
        </p:spPr>
        <p:txBody>
          <a:bodyPr wrap="square" lIns="36576" tIns="0" rIns="36576" bIns="0" rtlCol="0" anchor="ctr">
            <a:noAutofit/>
          </a:bodyPr>
          <a:lstStyle/>
          <a:p>
            <a:pPr marL="0" indent="0" algn="ctr">
              <a:spcBef>
                <a:spcPts val="0"/>
              </a:spcBef>
              <a:spcAft>
                <a:spcPts val="0"/>
              </a:spcAft>
              <a:buNone/>
            </a:pPr>
            <a:r>
              <a:rPr lang="en-US" sz="1050" b="1" dirty="0">
                <a:solidFill>
                  <a:srgbClr val="F0A98B"/>
                </a:solidFill>
                <a:latin typeface="Segoe UI"/>
                <a:ea typeface="Segoe UI"/>
                <a:cs typeface="Segoe UI"/>
              </a:rPr>
              <a:t>IN COMPANIES  ·  not in the Scrum Guide</a:t>
            </a:r>
            <a:endParaRPr lang="en-US" sz="1050" dirty="0"/>
          </a:p>
        </p:txBody>
      </p:sp>
      <p:sp>
        <p:nvSpPr>
          <p:cNvPr id="102" name="s102"/>
          <p:cNvSpPr/>
          <p:nvPr/>
        </p:nvSpPr>
        <p:spPr>
          <a:xfrm>
            <a:off x="543154" y="1828800"/>
            <a:ext cx="3452165" cy="1005840"/>
          </a:xfrm>
          <a:prstGeom prst="roundRect">
            <a:avLst>
              <a:gd name="adj" fmla="val 14000"/>
            </a:avLst>
          </a:prstGeom>
          <a:solidFill>
            <a:srgbClr val="F0A98B">
              <a:alpha val="14000"/>
            </a:srgbClr>
          </a:solidFill>
          <a:ln w="19050">
            <a:solidFill>
              <a:srgbClr val="F0A98B"/>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F0A98B"/>
                </a:solidFill>
                <a:latin typeface="Segoe UI"/>
                <a:ea typeface="Segoe UI"/>
                <a:cs typeface="Segoe UI"/>
              </a:rPr>
              <a:t>PREP MEETING</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PO + Scrum Master (+ leads)</a:t>
            </a:r>
            <a:endParaRPr lang="en-US" sz="1150" dirty="0"/>
          </a:p>
        </p:txBody>
      </p:sp>
      <p:sp>
        <p:nvSpPr>
          <p:cNvPr id="103" name="s103"/>
          <p:cNvSpPr/>
          <p:nvPr/>
        </p:nvSpPr>
        <p:spPr>
          <a:xfrm>
            <a:off x="4361078" y="1828800"/>
            <a:ext cx="3452165" cy="1005840"/>
          </a:xfrm>
          <a:prstGeom prst="roundRect">
            <a:avLst>
              <a:gd name="adj" fmla="val 14000"/>
            </a:avLst>
          </a:prstGeom>
          <a:solidFill>
            <a:srgbClr val="FBBF24">
              <a:alpha val="14000"/>
            </a:srgbClr>
          </a:solidFill>
          <a:ln w="19050">
            <a:solidFill>
              <a:srgbClr val="FBBF24"/>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FBBF24"/>
                </a:solidFill>
                <a:latin typeface="Segoe UI"/>
                <a:ea typeface="Segoe UI"/>
                <a:cs typeface="Segoe UI"/>
              </a:rPr>
              <a:t>TOP ITEMS READY?</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clear stories, order, acceptance criteria</a:t>
            </a:r>
            <a:endParaRPr lang="en-US" sz="1150" dirty="0"/>
          </a:p>
        </p:txBody>
      </p:sp>
      <p:cxnSp>
        <p:nvCxnSpPr>
          <p:cNvPr id="104" name="ln104"/>
          <p:cNvCxnSpPr/>
          <p:nvPr/>
        </p:nvCxnSpPr>
        <p:spPr>
          <a:xfrm>
            <a:off x="4050182" y="2331720"/>
            <a:ext cx="256032" cy="0"/>
          </a:xfrm>
          <a:prstGeom prst="line">
            <a:avLst/>
          </a:prstGeom>
          <a:ln w="22225">
            <a:solidFill>
              <a:srgbClr val="94A3B8"/>
            </a:solidFill>
            <a:tailEnd type="triangle" w="med" len="med"/>
          </a:ln>
        </p:spPr>
      </p:cxnSp>
      <p:sp>
        <p:nvSpPr>
          <p:cNvPr id="105" name="s105"/>
          <p:cNvSpPr/>
          <p:nvPr/>
        </p:nvSpPr>
        <p:spPr>
          <a:xfrm>
            <a:off x="8179003" y="1828800"/>
            <a:ext cx="3452165" cy="1005840"/>
          </a:xfrm>
          <a:prstGeom prst="roundRect">
            <a:avLst>
              <a:gd name="adj" fmla="val 14000"/>
            </a:avLst>
          </a:prstGeom>
          <a:solidFill>
            <a:srgbClr val="13D0F7">
              <a:alpha val="14000"/>
            </a:srgbClr>
          </a:solidFill>
          <a:ln w="19050">
            <a:solidFill>
              <a:srgbClr val="13D0F7"/>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13D0F7"/>
                </a:solidFill>
                <a:latin typeface="Segoe UI"/>
                <a:ea typeface="Segoe UI"/>
                <a:cs typeface="Segoe UI"/>
              </a:rPr>
              <a:t>SPRINT PLANNING</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the WHOLE team: why, what, how</a:t>
            </a:r>
            <a:endParaRPr lang="en-US" sz="1150" dirty="0"/>
          </a:p>
        </p:txBody>
      </p:sp>
      <p:cxnSp>
        <p:nvCxnSpPr>
          <p:cNvPr id="106" name="ln106"/>
          <p:cNvCxnSpPr/>
          <p:nvPr/>
        </p:nvCxnSpPr>
        <p:spPr>
          <a:xfrm>
            <a:off x="7868107" y="2331720"/>
            <a:ext cx="256032" cy="0"/>
          </a:xfrm>
          <a:prstGeom prst="line">
            <a:avLst/>
          </a:prstGeom>
          <a:ln w="22225">
            <a:solidFill>
              <a:srgbClr val="94A3B8"/>
            </a:solidFill>
            <a:tailEnd type="triangle" w="med" len="med"/>
          </a:ln>
        </p:spPr>
      </p:cxnSp>
      <p:sp>
        <p:nvSpPr>
          <p:cNvPr id="107" name="s107"/>
          <p:cNvSpPr/>
          <p:nvPr/>
        </p:nvSpPr>
        <p:spPr>
          <a:xfrm>
            <a:off x="543154" y="3108960"/>
            <a:ext cx="5406847" cy="1920240"/>
          </a:xfrm>
          <a:prstGeom prst="roundRect">
            <a:avLst>
              <a:gd name="adj" fmla="val 8000"/>
            </a:avLst>
          </a:prstGeom>
          <a:solidFill>
            <a:srgbClr val="111B2E"/>
          </a:solidFill>
          <a:ln w="12700">
            <a:solidFill>
              <a:srgbClr val="F0A98B"/>
            </a:solidFill>
            <a:prstDash val="solid"/>
          </a:ln>
        </p:spPr>
        <p:txBody>
          <a:bodyPr wrap="square" lIns="201168" tIns="137160" rIns="164592" bIns="91440" rtlCol="0" anchor="t">
            <a:noAutofit/>
          </a:bodyPr>
          <a:lstStyle/>
          <a:p>
            <a:pPr marL="0" indent="0" algn="l">
              <a:spcBef>
                <a:spcPts val="0"/>
              </a:spcBef>
              <a:spcAft>
                <a:spcPts val="600"/>
              </a:spcAft>
              <a:buNone/>
            </a:pPr>
            <a:r>
              <a:rPr lang="en-US" sz="1150" b="1" dirty="0">
                <a:solidFill>
                  <a:srgbClr val="F0A98B"/>
                </a:solidFill>
                <a:latin typeface="Segoe UI"/>
                <a:ea typeface="Segoe UI"/>
                <a:cs typeface="Segoe UI"/>
              </a:rPr>
              <a:t>WHY COMPANIES DO IT</a:t>
            </a:r>
            <a:endParaRPr lang="en-US" sz="1150" dirty="0"/>
          </a:p>
          <a:p>
            <a:pPr marL="0" indent="0" algn="l">
              <a:spcBef>
                <a:spcPts val="0"/>
              </a:spcBef>
              <a:spcAft>
                <a:spcPts val="400"/>
              </a:spcAft>
              <a:buNone/>
            </a:pPr>
            <a:r>
              <a:rPr lang="en-US" sz="1250" b="0" dirty="0">
                <a:solidFill>
                  <a:srgbClr val="F0A98B"/>
                </a:solidFill>
                <a:latin typeface="Segoe UI"/>
                <a:ea typeface="Segoe UI"/>
                <a:cs typeface="Segoe UI"/>
              </a:rPr>
              <a:t>•  </a:t>
            </a:r>
            <a:r>
              <a:rPr lang="en-US" sz="1250" b="0" dirty="0">
                <a:solidFill>
                  <a:srgbClr val="E2E8F0"/>
                </a:solidFill>
                <a:latin typeface="Segoe UI"/>
                <a:ea typeface="Segoe UI"/>
                <a:cs typeface="Segoe UI"/>
              </a:rPr>
              <a:t>the PO is often weak: unclear stories, no priority</a:t>
            </a:r>
            <a:endParaRPr lang="en-US" sz="1250" dirty="0"/>
          </a:p>
          <a:p>
            <a:pPr marL="0" indent="0" algn="l">
              <a:spcBef>
                <a:spcPts val="0"/>
              </a:spcBef>
              <a:spcAft>
                <a:spcPts val="400"/>
              </a:spcAft>
              <a:buNone/>
            </a:pPr>
            <a:r>
              <a:rPr lang="en-US" sz="1250" b="0" dirty="0">
                <a:solidFill>
                  <a:srgbClr val="F0A98B"/>
                </a:solidFill>
                <a:latin typeface="Segoe UI"/>
                <a:ea typeface="Segoe UI"/>
                <a:cs typeface="Segoe UI"/>
              </a:rPr>
              <a:t>•  </a:t>
            </a:r>
            <a:r>
              <a:rPr lang="en-US" sz="1250" b="0" dirty="0">
                <a:solidFill>
                  <a:srgbClr val="E2E8F0"/>
                </a:solidFill>
                <a:latin typeface="Segoe UI"/>
                <a:ea typeface="Segoe UI"/>
                <a:cs typeface="Segoe UI"/>
              </a:rPr>
              <a:t>saves the whole team's time in planning</a:t>
            </a:r>
            <a:endParaRPr lang="en-US" sz="1250" dirty="0"/>
          </a:p>
          <a:p>
            <a:pPr marL="0" indent="0" algn="l">
              <a:spcBef>
                <a:spcPts val="0"/>
              </a:spcBef>
              <a:spcAft>
                <a:spcPts val="400"/>
              </a:spcAft>
              <a:buNone/>
            </a:pPr>
            <a:r>
              <a:rPr lang="en-US" sz="1250" b="0" dirty="0">
                <a:solidFill>
                  <a:srgbClr val="F0A98B"/>
                </a:solidFill>
                <a:latin typeface="Segoe UI"/>
                <a:ea typeface="Segoe UI"/>
                <a:cs typeface="Segoe UI"/>
              </a:rPr>
              <a:t>•  </a:t>
            </a:r>
            <a:r>
              <a:rPr lang="en-US" sz="1250" b="0" dirty="0">
                <a:solidFill>
                  <a:srgbClr val="E2E8F0"/>
                </a:solidFill>
                <a:latin typeface="Segoe UI"/>
                <a:ea typeface="Segoe UI"/>
                <a:cs typeface="Segoe UI"/>
              </a:rPr>
              <a:t>questions answered BEFORE the big meeting</a:t>
            </a:r>
            <a:endParaRPr lang="en-US" sz="1250" dirty="0"/>
          </a:p>
        </p:txBody>
      </p:sp>
      <p:sp>
        <p:nvSpPr>
          <p:cNvPr id="108" name="s108"/>
          <p:cNvSpPr/>
          <p:nvPr/>
        </p:nvSpPr>
        <p:spPr>
          <a:xfrm>
            <a:off x="6224321" y="3108960"/>
            <a:ext cx="5406847" cy="1920240"/>
          </a:xfrm>
          <a:prstGeom prst="roundRect">
            <a:avLst>
              <a:gd name="adj" fmla="val 8000"/>
            </a:avLst>
          </a:prstGeom>
          <a:solidFill>
            <a:srgbClr val="111B2E"/>
          </a:solidFill>
          <a:ln w="12700">
            <a:solidFill>
              <a:srgbClr val="34D399"/>
            </a:solidFill>
            <a:prstDash val="solid"/>
          </a:ln>
        </p:spPr>
        <p:txBody>
          <a:bodyPr wrap="square" lIns="201168" tIns="137160" rIns="164592" bIns="91440" rtlCol="0" anchor="t">
            <a:noAutofit/>
          </a:bodyPr>
          <a:lstStyle/>
          <a:p>
            <a:pPr marL="0" indent="0" algn="l">
              <a:spcBef>
                <a:spcPts val="0"/>
              </a:spcBef>
              <a:spcAft>
                <a:spcPts val="600"/>
              </a:spcAft>
              <a:buNone/>
            </a:pPr>
            <a:r>
              <a:rPr lang="en-US" sz="1150" b="1" dirty="0">
                <a:solidFill>
                  <a:srgbClr val="34D399"/>
                </a:solidFill>
                <a:latin typeface="Segoe UI"/>
                <a:ea typeface="Segoe UI"/>
                <a:cs typeface="Segoe UI"/>
              </a:rPr>
              <a:t>THE SCRUM WAY</a:t>
            </a:r>
            <a:endParaRPr lang="en-US" sz="1150" dirty="0"/>
          </a:p>
          <a:p>
            <a:pPr marL="0" indent="0" algn="l">
              <a:spcBef>
                <a:spcPts val="0"/>
              </a:spcBef>
              <a:spcAft>
                <a:spcPts val="400"/>
              </a:spcAft>
              <a:buNone/>
            </a:pPr>
            <a:r>
              <a:rPr lang="en-US" sz="1250" b="0" dirty="0">
                <a:solidFill>
                  <a:srgbClr val="34D399"/>
                </a:solidFill>
                <a:latin typeface="Segoe UI"/>
                <a:ea typeface="Segoe UI"/>
                <a:cs typeface="Segoe UI"/>
              </a:rPr>
              <a:t>•  </a:t>
            </a:r>
            <a:r>
              <a:rPr lang="en-US" sz="1250" b="0" dirty="0">
                <a:solidFill>
                  <a:srgbClr val="E2E8F0"/>
                </a:solidFill>
                <a:latin typeface="Segoe UI"/>
                <a:ea typeface="Segoe UI"/>
                <a:cs typeface="Segoe UI"/>
              </a:rPr>
              <a:t>Backlog Refinement: ongoing, with the Developers</a:t>
            </a:r>
            <a:endParaRPr lang="en-US" sz="1250" dirty="0"/>
          </a:p>
          <a:p>
            <a:pPr marL="0" indent="0" algn="l">
              <a:spcBef>
                <a:spcPts val="0"/>
              </a:spcBef>
              <a:spcAft>
                <a:spcPts val="400"/>
              </a:spcAft>
              <a:buNone/>
            </a:pPr>
            <a:r>
              <a:rPr lang="en-US" sz="1250" b="0" dirty="0">
                <a:solidFill>
                  <a:srgbClr val="34D399"/>
                </a:solidFill>
                <a:latin typeface="Segoe UI"/>
                <a:ea typeface="Segoe UI"/>
                <a:cs typeface="Segoe UI"/>
              </a:rPr>
              <a:t>•  </a:t>
            </a:r>
            <a:r>
              <a:rPr lang="en-US" sz="1250" b="0" dirty="0">
                <a:solidFill>
                  <a:srgbClr val="E2E8F0"/>
                </a:solidFill>
                <a:latin typeface="Segoe UI"/>
                <a:ea typeface="Segoe UI"/>
                <a:cs typeface="Segoe UI"/>
              </a:rPr>
              <a:t>a strong PO keeps the top of the backlog ready</a:t>
            </a:r>
            <a:endParaRPr lang="en-US" sz="1250" dirty="0"/>
          </a:p>
          <a:p>
            <a:pPr marL="0" indent="0" algn="l">
              <a:spcBef>
                <a:spcPts val="0"/>
              </a:spcBef>
              <a:spcAft>
                <a:spcPts val="400"/>
              </a:spcAft>
              <a:buNone/>
            </a:pPr>
            <a:r>
              <a:rPr lang="en-US" sz="1250" b="0" dirty="0">
                <a:solidFill>
                  <a:srgbClr val="34D399"/>
                </a:solidFill>
                <a:latin typeface="Segoe UI"/>
                <a:ea typeface="Segoe UI"/>
                <a:cs typeface="Segoe UI"/>
              </a:rPr>
              <a:t>•  </a:t>
            </a:r>
            <a:r>
              <a:rPr lang="en-US" sz="1250" b="0" dirty="0">
                <a:solidFill>
                  <a:srgbClr val="E2E8F0"/>
                </a:solidFill>
                <a:latin typeface="Segoe UI"/>
                <a:ea typeface="Segoe UI"/>
                <a:cs typeface="Segoe UI"/>
              </a:rPr>
              <a:t>the prep meeting is a workaround, not a replacement</a:t>
            </a:r>
            <a:endParaRPr lang="en-US" sz="1250" dirty="0"/>
          </a:p>
        </p:txBody>
      </p:sp>
      <p:sp>
        <p:nvSpPr>
          <p:cNvPr id="109" name="s109"/>
          <p:cNvSpPr/>
          <p:nvPr/>
        </p:nvSpPr>
        <p:spPr>
          <a:xfrm>
            <a:off x="543154" y="5212080"/>
            <a:ext cx="11088014" cy="548640"/>
          </a:xfrm>
          <a:prstGeom prst="roundRect">
            <a:avLst>
              <a:gd name="adj" fmla="val 12000"/>
            </a:avLst>
          </a:prstGeom>
          <a:solidFill>
            <a:srgbClr val="111B2E"/>
          </a:solidFill>
          <a:ln w="12700">
            <a:solidFill>
              <a:srgbClr val="FBBF24"/>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FBBF24"/>
                </a:solidFill>
                <a:latin typeface="Segoe UI"/>
                <a:ea typeface="Segoe UI"/>
                <a:cs typeface="Segoe UI"/>
              </a:rPr>
              <a:t>DISCUSS</a:t>
            </a:r>
            <a:r>
              <a:rPr lang="en-US" sz="1350" b="0" dirty="0">
                <a:solidFill>
                  <a:srgbClr val="E2E8F0"/>
                </a:solidFill>
                <a:latin typeface="Segoe UI"/>
                <a:ea typeface="Segoe UI"/>
                <a:cs typeface="Segoe UI"/>
              </a:rPr>
              <a:t>   Is the prep meeting a fix, or a sign the Product Owner needs help?</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104"/>
                                        </p:tgtEl>
                                        <p:attrNameLst>
                                          <p:attrName>style.visibility</p:attrName>
                                        </p:attrNameLst>
                                      </p:cBhvr>
                                      <p:to>
                                        <p:strVal val="visible"/>
                                      </p:to>
                                    </p:set>
                                    <p:animEffect transition="in" filter="fade">
                                      <p:cBhvr>
                                        <p:cTn id="13" dur="500"/>
                                        <p:tgtEl>
                                          <p:spTgt spid="104"/>
                                        </p:tgtEl>
                                      </p:cBhvr>
                                    </p:animEffect>
                                    <p:anim calcmode="lin" valueType="num">
                                      <p:cBhvr additive="base">
                                        <p:cTn id="14" dur="500" decel="100000" fill="hold"/>
                                        <p:tgtEl>
                                          <p:spTgt spid="104"/>
                                        </p:tgtEl>
                                        <p:attrNameLst>
                                          <p:attrName>ppt_x</p:attrName>
                                        </p:attrNameLst>
                                      </p:cBhvr>
                                      <p:tavLst>
                                        <p:tav tm="0">
                                          <p:val>
                                            <p:strVal val="#ppt_x-0.05"/>
                                          </p:val>
                                        </p:tav>
                                        <p:tav tm="100000">
                                          <p:val>
                                            <p:strVal val="#ppt_x"/>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anim calcmode="lin" valueType="num">
                                      <p:cBhvr additive="base">
                                        <p:cTn id="18" dur="500" decel="100000" fill="hold"/>
                                        <p:tgtEl>
                                          <p:spTgt spid="103"/>
                                        </p:tgtEl>
                                        <p:attrNameLst>
                                          <p:attrName>ppt_x</p:attrName>
                                        </p:attrNameLst>
                                      </p:cBhvr>
                                      <p:tavLst>
                                        <p:tav tm="0">
                                          <p:val>
                                            <p:strVal val="#ppt_x-0.05"/>
                                          </p:val>
                                        </p:tav>
                                        <p:tav tm="100000">
                                          <p:val>
                                            <p:strVal val="#ppt_x"/>
                                          </p:val>
                                        </p:tav>
                                      </p:tavLst>
                                    </p:anim>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nodeType="click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fade">
                                      <p:cBhvr>
                                        <p:cTn id="23" dur="500"/>
                                        <p:tgtEl>
                                          <p:spTgt spid="106"/>
                                        </p:tgtEl>
                                      </p:cBhvr>
                                    </p:animEffect>
                                    <p:anim calcmode="lin" valueType="num">
                                      <p:cBhvr additive="base">
                                        <p:cTn id="24" dur="500" decel="100000" fill="hold"/>
                                        <p:tgtEl>
                                          <p:spTgt spid="106"/>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anim calcmode="lin" valueType="num">
                                      <p:cBhvr additive="base">
                                        <p:cTn id="28" dur="500" decel="100000" fill="hold"/>
                                        <p:tgtEl>
                                          <p:spTgt spid="105"/>
                                        </p:tgtEl>
                                        <p:attrNameLst>
                                          <p:attrName>ppt_x</p:attrName>
                                        </p:attrNameLst>
                                      </p:cBhvr>
                                      <p:tavLst>
                                        <p:tav tm="0">
                                          <p:val>
                                            <p:strVal val="#ppt_x-0.05"/>
                                          </p:val>
                                        </p:tav>
                                        <p:tav tm="100000">
                                          <p:val>
                                            <p:strVal val="#ppt_x"/>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108"/>
                                        </p:tgtEl>
                                        <p:attrNameLst>
                                          <p:attrName>style.visibility</p:attrName>
                                        </p:attrNameLst>
                                      </p:cBhvr>
                                      <p:to>
                                        <p:strVal val="visible"/>
                                      </p:to>
                                    </p:set>
                                    <p:animEffect transition="in" filter="fade">
                                      <p:cBhvr>
                                        <p:cTn id="39" dur="500"/>
                                        <p:tgtEl>
                                          <p:spTgt spid="108"/>
                                        </p:tgtEl>
                                      </p:cBhvr>
                                    </p:animEffect>
                                    <p:anim calcmode="lin" valueType="num">
                                      <p:cBhvr additive="base">
                                        <p:cTn id="40" dur="500" decel="100000" fill="hold"/>
                                        <p:tgtEl>
                                          <p:spTgt spid="108"/>
                                        </p:tgtEl>
                                        <p:attrNameLst>
                                          <p:attrName>ppt_y</p:attrName>
                                        </p:attrNameLst>
                                      </p:cBhvr>
                                      <p:tavLst>
                                        <p:tav tm="0">
                                          <p:val>
                                            <p:strVal val="#ppt_y+0.06"/>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109"/>
                                        </p:tgtEl>
                                        <p:attrNameLst>
                                          <p:attrName>style.visibility</p:attrName>
                                        </p:attrNameLst>
                                      </p:cBhvr>
                                      <p:to>
                                        <p:strVal val="visible"/>
                                      </p:to>
                                    </p:set>
                                    <p:animEffect transition="in" filter="fade">
                                      <p:cBhvr>
                                        <p:cTn id="45" dur="500"/>
                                        <p:tgtEl>
                                          <p:spTgt spid="109"/>
                                        </p:tgtEl>
                                      </p:cBhvr>
                                    </p:animEffect>
                                    <p:anim calcmode="lin" valueType="num">
                                      <p:cBhvr additive="base">
                                        <p:cTn id="46" dur="500" decel="100000" fill="hold"/>
                                        <p:tgtEl>
                                          <p:spTgt spid="109"/>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5" grpId="0" animBg="1"/>
      <p:bldP spid="107" grpId="0" animBg="1"/>
      <p:bldP spid="108" grpId="0" animBg="1"/>
      <p:bldP spid="109"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PLANNING</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Sprint Planning: Why?</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First question: why is this Sprint valuable?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261</a:t>
            </a:r>
            <a:endParaRPr lang="en-US" sz="850" dirty="0"/>
          </a:p>
        </p:txBody>
      </p:sp>
      <p:sp>
        <p:nvSpPr>
          <p:cNvPr id="101" name="!!step0"/>
          <p:cNvSpPr/>
          <p:nvPr/>
        </p:nvSpPr>
        <p:spPr>
          <a:xfrm>
            <a:off x="8001000" y="429768"/>
            <a:ext cx="1115568" cy="329184"/>
          </a:xfrm>
          <a:prstGeom prst="roundRect">
            <a:avLst>
              <a:gd name="adj" fmla="val 50000"/>
            </a:avLst>
          </a:prstGeom>
          <a:solidFill>
            <a:srgbClr val="60A5FA"/>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WHY?</a:t>
            </a:r>
            <a:endParaRPr lang="en-US" sz="1100" dirty="0"/>
          </a:p>
        </p:txBody>
      </p:sp>
      <p:sp>
        <p:nvSpPr>
          <p:cNvPr id="102" name="!!step1"/>
          <p:cNvSpPr/>
          <p:nvPr/>
        </p:nvSpPr>
        <p:spPr>
          <a:xfrm>
            <a:off x="9208008" y="429768"/>
            <a:ext cx="1115568" cy="329184"/>
          </a:xfrm>
          <a:prstGeom prst="roundRect">
            <a:avLst>
              <a:gd name="adj" fmla="val 50000"/>
            </a:avLst>
          </a:prstGeom>
          <a:solidFill>
            <a:srgbClr val="111B2E"/>
          </a:solid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94A3B8"/>
                </a:solidFill>
                <a:latin typeface="Segoe UI"/>
                <a:ea typeface="Segoe UI"/>
                <a:cs typeface="Segoe UI"/>
              </a:rPr>
              <a:t>WHAT?</a:t>
            </a:r>
            <a:endParaRPr lang="en-US" sz="1100" dirty="0"/>
          </a:p>
        </p:txBody>
      </p:sp>
      <p:sp>
        <p:nvSpPr>
          <p:cNvPr id="103" name="!!step2"/>
          <p:cNvSpPr/>
          <p:nvPr/>
        </p:nvSpPr>
        <p:spPr>
          <a:xfrm>
            <a:off x="10415016" y="429768"/>
            <a:ext cx="1115568" cy="329184"/>
          </a:xfrm>
          <a:prstGeom prst="roundRect">
            <a:avLst>
              <a:gd name="adj" fmla="val 50000"/>
            </a:avLst>
          </a:prstGeom>
          <a:solidFill>
            <a:srgbClr val="111B2E"/>
          </a:solid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94A3B8"/>
                </a:solidFill>
                <a:latin typeface="Segoe UI"/>
                <a:ea typeface="Segoe UI"/>
                <a:cs typeface="Segoe UI"/>
              </a:rPr>
              <a:t>HOW?</a:t>
            </a:r>
            <a:endParaRPr lang="en-US" sz="1100" dirty="0"/>
          </a:p>
        </p:txBody>
      </p:sp>
      <p:sp>
        <p:nvSpPr>
          <p:cNvPr id="104" name="!!goal"/>
          <p:cNvSpPr/>
          <p:nvPr/>
        </p:nvSpPr>
        <p:spPr>
          <a:xfrm>
            <a:off x="543154" y="1965960"/>
            <a:ext cx="11088014" cy="1463040"/>
          </a:xfrm>
          <a:prstGeom prst="roundRect">
            <a:avLst>
              <a:gd name="adj" fmla="val 10000"/>
            </a:avLst>
          </a:prstGeom>
          <a:solidFill>
            <a:srgbClr val="60A5FA">
              <a:alpha val="12000"/>
            </a:srgbClr>
          </a:solidFill>
          <a:ln w="25400">
            <a:solidFill>
              <a:srgbClr val="60A5FA"/>
            </a:solidFill>
            <a:prstDash val="solid"/>
          </a:ln>
        </p:spPr>
        <p:txBody>
          <a:bodyPr wrap="square" lIns="1280160" tIns="91440" rIns="365760" bIns="91440" rtlCol="0" anchor="ctr">
            <a:noAutofit/>
          </a:bodyPr>
          <a:lstStyle/>
          <a:p>
            <a:pPr marL="0" indent="0" algn="l">
              <a:spcBef>
                <a:spcPts val="0"/>
              </a:spcBef>
              <a:spcAft>
                <a:spcPts val="600"/>
              </a:spcAft>
              <a:buNone/>
            </a:pPr>
            <a:r>
              <a:rPr lang="en-US" sz="1100" b="1" dirty="0">
                <a:solidFill>
                  <a:srgbClr val="60A5FA"/>
                </a:solidFill>
                <a:latin typeface="Segoe UI"/>
                <a:ea typeface="Segoe UI"/>
                <a:cs typeface="Segoe UI"/>
              </a:rPr>
              <a:t>SPRINT GOAL</a:t>
            </a:r>
            <a:endParaRPr lang="en-US" sz="1100" dirty="0"/>
          </a:p>
          <a:p>
            <a:pPr marL="0" indent="0" algn="l">
              <a:spcBef>
                <a:spcPts val="0"/>
              </a:spcBef>
              <a:spcAft>
                <a:spcPts val="0"/>
              </a:spcAft>
              <a:buNone/>
            </a:pPr>
            <a:r>
              <a:rPr lang="en-US" sz="2100" b="1" dirty="0">
                <a:solidFill>
                  <a:srgbClr val="FFFFFF"/>
                </a:solidFill>
                <a:latin typeface="Segoe UI"/>
                <a:ea typeface="Segoe UI"/>
                <a:cs typeface="Segoe UI"/>
              </a:rPr>
              <a:t>Enable receptionists to register a patient and book a confirmed doctor appointment.</a:t>
            </a:r>
            <a:endParaRPr lang="en-US" sz="2100" dirty="0"/>
          </a:p>
        </p:txBody>
      </p:sp>
      <p:sp>
        <p:nvSpPr>
          <p:cNvPr id="105" name="s105"/>
          <p:cNvSpPr/>
          <p:nvPr/>
        </p:nvSpPr>
        <p:spPr>
          <a:xfrm>
            <a:off x="863194" y="2331720"/>
            <a:ext cx="731520" cy="731520"/>
          </a:xfrm>
          <a:prstGeom prst="ellipse">
            <a:avLst/>
          </a:prstGeom>
          <a:solidFill>
            <a:srgbClr val="60A5FA">
              <a:alpha val="16000"/>
            </a:srgbClr>
          </a:solidFill>
          <a:ln w="12700">
            <a:solidFill>
              <a:srgbClr val="60A5FA">
                <a:alpha val="55000"/>
              </a:srgbClr>
            </a:solidFill>
            <a:prstDash val="solid"/>
          </a:ln>
        </p:spPr>
        <p:txBody>
          <a:bodyPr wrap="square" lIns="164592" tIns="109728" rIns="137160" bIns="91440" rtlCol="0" anchor="t">
            <a:noAutofit/>
          </a:bodyPr>
          <a:lstStyle/>
          <a:p>
            <a:endParaRPr lang="en-US"/>
          </a:p>
        </p:txBody>
      </p:sp>
      <p:pic>
        <p:nvPicPr>
          <p:cNvPr id="106" name="img106"/>
          <p:cNvPicPr>
            <a:picLocks noChangeAspect="1"/>
          </p:cNvPicPr>
          <p:nvPr/>
        </p:nvPicPr>
        <p:blipFill>
          <a:blip r:embed="rId4"/>
          <a:stretch>
            <a:fillRect/>
          </a:stretch>
        </p:blipFill>
        <p:spPr>
          <a:xfrm>
            <a:off x="1038758" y="2507285"/>
            <a:ext cx="380390" cy="380390"/>
          </a:xfrm>
          <a:prstGeom prst="rect">
            <a:avLst/>
          </a:prstGeom>
        </p:spPr>
      </p:pic>
      <p:sp>
        <p:nvSpPr>
          <p:cNvPr id="107" name="s107"/>
          <p:cNvSpPr/>
          <p:nvPr/>
        </p:nvSpPr>
        <p:spPr>
          <a:xfrm>
            <a:off x="543154" y="3703320"/>
            <a:ext cx="5406847" cy="1828800"/>
          </a:xfrm>
          <a:prstGeom prst="roundRect">
            <a:avLst>
              <a:gd name="adj" fmla="val 10000"/>
            </a:avLst>
          </a:prstGeom>
          <a:solidFill>
            <a:srgbClr val="111B2E"/>
          </a:solidFill>
          <a:ln w="15875">
            <a:solidFill>
              <a:srgbClr val="F87171"/>
            </a:solidFill>
            <a:prstDash val="solid"/>
          </a:ln>
        </p:spPr>
        <p:txBody>
          <a:bodyPr wrap="square" lIns="182880" tIns="146304" rIns="164592" bIns="109728" rtlCol="0" anchor="t">
            <a:noAutofit/>
          </a:bodyPr>
          <a:lstStyle/>
          <a:p>
            <a:endParaRPr lang="en-US"/>
          </a:p>
        </p:txBody>
      </p:sp>
      <p:sp>
        <p:nvSpPr>
          <p:cNvPr id="108" name="s108"/>
          <p:cNvSpPr/>
          <p:nvPr/>
        </p:nvSpPr>
        <p:spPr>
          <a:xfrm>
            <a:off x="744322" y="3886200"/>
            <a:ext cx="420624" cy="420624"/>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9" name="img109"/>
          <p:cNvPicPr>
            <a:picLocks noChangeAspect="1"/>
          </p:cNvPicPr>
          <p:nvPr/>
        </p:nvPicPr>
        <p:blipFill>
          <a:blip r:embed="rId5"/>
          <a:stretch>
            <a:fillRect/>
          </a:stretch>
        </p:blipFill>
        <p:spPr>
          <a:xfrm>
            <a:off x="845271" y="3987150"/>
            <a:ext cx="218724" cy="218724"/>
          </a:xfrm>
          <a:prstGeom prst="rect">
            <a:avLst/>
          </a:prstGeom>
        </p:spPr>
      </p:pic>
      <p:sp>
        <p:nvSpPr>
          <p:cNvPr id="110" name="s110"/>
          <p:cNvSpPr txBox="1"/>
          <p:nvPr/>
        </p:nvSpPr>
        <p:spPr>
          <a:xfrm>
            <a:off x="1292962" y="3904488"/>
            <a:ext cx="4492447"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87171"/>
                </a:solidFill>
                <a:latin typeface="Segoe UI"/>
                <a:ea typeface="Segoe UI"/>
                <a:cs typeface="Segoe UI"/>
              </a:rPr>
              <a:t>WEAK GOAL: OUTPUT</a:t>
            </a:r>
            <a:endParaRPr lang="en-US" sz="1300" dirty="0"/>
          </a:p>
        </p:txBody>
      </p:sp>
      <p:sp>
        <p:nvSpPr>
          <p:cNvPr id="111" name="s111"/>
          <p:cNvSpPr txBox="1"/>
          <p:nvPr/>
        </p:nvSpPr>
        <p:spPr>
          <a:xfrm>
            <a:off x="771754" y="4480560"/>
            <a:ext cx="4949647" cy="91440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600" b="0" dirty="0">
                <a:solidFill>
                  <a:srgbClr val="E2E8F0"/>
                </a:solidFill>
                <a:latin typeface="Segoe UI"/>
                <a:ea typeface="Segoe UI"/>
                <a:cs typeface="Segoe UI"/>
              </a:rPr>
              <a:t>“Complete seven User Stories.”</a:t>
            </a:r>
            <a:endParaRPr lang="en-US" sz="1600" dirty="0"/>
          </a:p>
        </p:txBody>
      </p:sp>
      <p:sp>
        <p:nvSpPr>
          <p:cNvPr id="112" name="s112"/>
          <p:cNvSpPr/>
          <p:nvPr/>
        </p:nvSpPr>
        <p:spPr>
          <a:xfrm>
            <a:off x="6224321" y="3703320"/>
            <a:ext cx="5406847" cy="1828800"/>
          </a:xfrm>
          <a:prstGeom prst="roundRect">
            <a:avLst>
              <a:gd name="adj" fmla="val 10000"/>
            </a:avLst>
          </a:prstGeom>
          <a:solidFill>
            <a:srgbClr val="111B2E"/>
          </a:solidFill>
          <a:ln w="15875">
            <a:solidFill>
              <a:srgbClr val="34D399"/>
            </a:solidFill>
            <a:prstDash val="solid"/>
          </a:ln>
        </p:spPr>
        <p:txBody>
          <a:bodyPr wrap="square" lIns="182880" tIns="146304" rIns="164592" bIns="109728" rtlCol="0" anchor="t">
            <a:noAutofit/>
          </a:bodyPr>
          <a:lstStyle/>
          <a:p>
            <a:endParaRPr lang="en-US"/>
          </a:p>
        </p:txBody>
      </p:sp>
      <p:sp>
        <p:nvSpPr>
          <p:cNvPr id="113" name="s113"/>
          <p:cNvSpPr/>
          <p:nvPr/>
        </p:nvSpPr>
        <p:spPr>
          <a:xfrm>
            <a:off x="6425489" y="3886200"/>
            <a:ext cx="420624" cy="420624"/>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14" name="img114"/>
          <p:cNvPicPr>
            <a:picLocks noChangeAspect="1"/>
          </p:cNvPicPr>
          <p:nvPr/>
        </p:nvPicPr>
        <p:blipFill>
          <a:blip r:embed="rId6"/>
          <a:stretch>
            <a:fillRect/>
          </a:stretch>
        </p:blipFill>
        <p:spPr>
          <a:xfrm>
            <a:off x="6526439" y="3987150"/>
            <a:ext cx="218724" cy="218724"/>
          </a:xfrm>
          <a:prstGeom prst="rect">
            <a:avLst/>
          </a:prstGeom>
        </p:spPr>
      </p:pic>
      <p:sp>
        <p:nvSpPr>
          <p:cNvPr id="115" name="s115"/>
          <p:cNvSpPr txBox="1"/>
          <p:nvPr/>
        </p:nvSpPr>
        <p:spPr>
          <a:xfrm>
            <a:off x="6974129" y="3904488"/>
            <a:ext cx="4492447"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STRONG GOAL: OUTCOME</a:t>
            </a:r>
            <a:endParaRPr lang="en-US" sz="1300" dirty="0"/>
          </a:p>
        </p:txBody>
      </p:sp>
      <p:sp>
        <p:nvSpPr>
          <p:cNvPr id="116" name="s116"/>
          <p:cNvSpPr txBox="1"/>
          <p:nvPr/>
        </p:nvSpPr>
        <p:spPr>
          <a:xfrm>
            <a:off x="6452921" y="4480560"/>
            <a:ext cx="4949647" cy="91440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600" b="0" dirty="0">
                <a:solidFill>
                  <a:srgbClr val="E2E8F0"/>
                </a:solidFill>
                <a:latin typeface="Segoe UI"/>
                <a:ea typeface="Segoe UI"/>
                <a:cs typeface="Segoe UI"/>
              </a:rPr>
              <a:t>“Enable the hospital’s first digital appointment booking flow.”</a:t>
            </a:r>
            <a:endParaRPr lang="en-US" sz="16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cBhvr additive="base">
                                        <p:cTn id="7" dur="500" decel="100000" fill="hold"/>
                                        <p:tgtEl>
                                          <p:spTgt spid="104"/>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4"/>
                                        </p:tgtEl>
                                        <p:attrNameLst>
                                          <p:attrName>ppt_h</p:attrName>
                                        </p:attrNameLst>
                                      </p:cBhvr>
                                      <p:tavLst>
                                        <p:tav tm="0">
                                          <p:val>
                                            <p:strVal val="#ppt_h*0.55"/>
                                          </p:val>
                                        </p:tav>
                                        <p:tav tm="100000">
                                          <p:val>
                                            <p:strVal val="#ppt_h"/>
                                          </p:val>
                                        </p:tav>
                                      </p:tavLst>
                                    </p:anim>
                                    <p:animEffect transition="in" filter="fade">
                                      <p:cBhvr>
                                        <p:cTn id="9" dur="500"/>
                                        <p:tgtEl>
                                          <p:spTgt spid="10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5"/>
                                        </p:tgtEl>
                                        <p:attrNameLst>
                                          <p:attrName>style.visibility</p:attrName>
                                        </p:attrNameLst>
                                      </p:cBhvr>
                                      <p:to>
                                        <p:strVal val="visible"/>
                                      </p:to>
                                    </p:set>
                                    <p:anim calcmode="lin" valueType="num">
                                      <p:cBhvr additive="base">
                                        <p:cTn id="12" dur="5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13" dur="500" decel="100000" fill="hold"/>
                                        <p:tgtEl>
                                          <p:spTgt spid="105"/>
                                        </p:tgtEl>
                                        <p:attrNameLst>
                                          <p:attrName>ppt_h</p:attrName>
                                        </p:attrNameLst>
                                      </p:cBhvr>
                                      <p:tavLst>
                                        <p:tav tm="0">
                                          <p:val>
                                            <p:strVal val="#ppt_h*0.55"/>
                                          </p:val>
                                        </p:tav>
                                        <p:tav tm="100000">
                                          <p:val>
                                            <p:strVal val="#ppt_h"/>
                                          </p:val>
                                        </p:tav>
                                      </p:tavLst>
                                    </p:anim>
                                    <p:animEffect transition="in" filter="fade">
                                      <p:cBhvr>
                                        <p:cTn id="14" dur="500"/>
                                        <p:tgtEl>
                                          <p:spTgt spid="105"/>
                                        </p:tgtEl>
                                      </p:cBhvr>
                                    </p:animEffect>
                                  </p:childTnLst>
                                </p:cTn>
                              </p:par>
                              <p:par>
                                <p:cTn id="15" presetID="53" presetClass="entr" presetSubtype="16" fill="hold" nodeType="withEffect">
                                  <p:stCondLst>
                                    <p:cond delay="0"/>
                                  </p:stCondLst>
                                  <p:childTnLst>
                                    <p:set>
                                      <p:cBhvr>
                                        <p:cTn id="16" dur="1" fill="hold">
                                          <p:stCondLst>
                                            <p:cond delay="0"/>
                                          </p:stCondLst>
                                        </p:cTn>
                                        <p:tgtEl>
                                          <p:spTgt spid="106"/>
                                        </p:tgtEl>
                                        <p:attrNameLst>
                                          <p:attrName>style.visibility</p:attrName>
                                        </p:attrNameLst>
                                      </p:cBhvr>
                                      <p:to>
                                        <p:strVal val="visible"/>
                                      </p:to>
                                    </p:set>
                                    <p:anim calcmode="lin" valueType="num">
                                      <p:cBhvr additive="base">
                                        <p:cTn id="17"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18" dur="500" decel="100000" fill="hold"/>
                                        <p:tgtEl>
                                          <p:spTgt spid="106"/>
                                        </p:tgtEl>
                                        <p:attrNameLst>
                                          <p:attrName>ppt_h</p:attrName>
                                        </p:attrNameLst>
                                      </p:cBhvr>
                                      <p:tavLst>
                                        <p:tav tm="0">
                                          <p:val>
                                            <p:strVal val="#ppt_h*0.55"/>
                                          </p:val>
                                        </p:tav>
                                        <p:tav tm="100000">
                                          <p:val>
                                            <p:strVal val="#ppt_h"/>
                                          </p:val>
                                        </p:tav>
                                      </p:tavLst>
                                    </p:anim>
                                    <p:animEffect transition="in" filter="fade">
                                      <p:cBhvr>
                                        <p:cTn id="19" dur="500"/>
                                        <p:tgtEl>
                                          <p:spTgt spid="106"/>
                                        </p:tgtEl>
                                      </p:cBhvr>
                                    </p:animEffect>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107"/>
                                        </p:tgtEl>
                                        <p:attrNameLst>
                                          <p:attrName>style.visibility</p:attrName>
                                        </p:attrNameLst>
                                      </p:cBhvr>
                                      <p:to>
                                        <p:strVal val="visible"/>
                                      </p:to>
                                    </p:set>
                                    <p:animEffect transition="in" filter="fade">
                                      <p:cBhvr>
                                        <p:cTn id="24" dur="500"/>
                                        <p:tgtEl>
                                          <p:spTgt spid="107"/>
                                        </p:tgtEl>
                                      </p:cBhvr>
                                    </p:animEffect>
                                    <p:anim calcmode="lin" valueType="num">
                                      <p:cBhvr additive="base">
                                        <p:cTn id="25" dur="500" decel="100000" fill="hold"/>
                                        <p:tgtEl>
                                          <p:spTgt spid="107"/>
                                        </p:tgtEl>
                                        <p:attrNameLst>
                                          <p:attrName>ppt_x</p:attrName>
                                        </p:attrNameLst>
                                      </p:cBhvr>
                                      <p:tavLst>
                                        <p:tav tm="0">
                                          <p:val>
                                            <p:strVal val="#ppt_x-0.05"/>
                                          </p:val>
                                        </p:tav>
                                        <p:tav tm="100000">
                                          <p:val>
                                            <p:strVal val="#ppt_x"/>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108"/>
                                        </p:tgtEl>
                                        <p:attrNameLst>
                                          <p:attrName>style.visibility</p:attrName>
                                        </p:attrNameLst>
                                      </p:cBhvr>
                                      <p:to>
                                        <p:strVal val="visible"/>
                                      </p:to>
                                    </p:set>
                                    <p:animEffect transition="in" filter="fade">
                                      <p:cBhvr>
                                        <p:cTn id="28" dur="500"/>
                                        <p:tgtEl>
                                          <p:spTgt spid="108"/>
                                        </p:tgtEl>
                                      </p:cBhvr>
                                    </p:animEffect>
                                    <p:anim calcmode="lin" valueType="num">
                                      <p:cBhvr additive="base">
                                        <p:cTn id="29" dur="500" decel="100000" fill="hold"/>
                                        <p:tgtEl>
                                          <p:spTgt spid="108"/>
                                        </p:tgtEl>
                                        <p:attrNameLst>
                                          <p:attrName>ppt_x</p:attrName>
                                        </p:attrNameLst>
                                      </p:cBhvr>
                                      <p:tavLst>
                                        <p:tav tm="0">
                                          <p:val>
                                            <p:strVal val="#ppt_x-0.05"/>
                                          </p:val>
                                        </p:tav>
                                        <p:tav tm="100000">
                                          <p:val>
                                            <p:strVal val="#ppt_x"/>
                                          </p:val>
                                        </p:tav>
                                      </p:tavLst>
                                    </p:anim>
                                  </p:childTnLst>
                                </p:cTn>
                              </p:par>
                              <p:par>
                                <p:cTn id="30" presetID="42" presetClass="entr" presetSubtype="0" fill="hold" nodeType="withEffect">
                                  <p:stCondLst>
                                    <p:cond delay="0"/>
                                  </p:stCondLst>
                                  <p:childTnLst>
                                    <p:set>
                                      <p:cBhvr>
                                        <p:cTn id="31" dur="1" fill="hold">
                                          <p:stCondLst>
                                            <p:cond delay="0"/>
                                          </p:stCondLst>
                                        </p:cTn>
                                        <p:tgtEl>
                                          <p:spTgt spid="109"/>
                                        </p:tgtEl>
                                        <p:attrNameLst>
                                          <p:attrName>style.visibility</p:attrName>
                                        </p:attrNameLst>
                                      </p:cBhvr>
                                      <p:to>
                                        <p:strVal val="visible"/>
                                      </p:to>
                                    </p:set>
                                    <p:animEffect transition="in" filter="fade">
                                      <p:cBhvr>
                                        <p:cTn id="32" dur="500"/>
                                        <p:tgtEl>
                                          <p:spTgt spid="109"/>
                                        </p:tgtEl>
                                      </p:cBhvr>
                                    </p:animEffect>
                                    <p:anim calcmode="lin" valueType="num">
                                      <p:cBhvr additive="base">
                                        <p:cTn id="33" dur="500" decel="100000" fill="hold"/>
                                        <p:tgtEl>
                                          <p:spTgt spid="109"/>
                                        </p:tgtEl>
                                        <p:attrNameLst>
                                          <p:attrName>ppt_x</p:attrName>
                                        </p:attrNameLst>
                                      </p:cBhvr>
                                      <p:tavLst>
                                        <p:tav tm="0">
                                          <p:val>
                                            <p:strVal val="#ppt_x-0.05"/>
                                          </p:val>
                                        </p:tav>
                                        <p:tav tm="100000">
                                          <p:val>
                                            <p:strVal val="#ppt_x"/>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fade">
                                      <p:cBhvr>
                                        <p:cTn id="36" dur="500"/>
                                        <p:tgtEl>
                                          <p:spTgt spid="110"/>
                                        </p:tgtEl>
                                      </p:cBhvr>
                                    </p:animEffect>
                                    <p:anim calcmode="lin" valueType="num">
                                      <p:cBhvr additive="base">
                                        <p:cTn id="37" dur="500" decel="100000" fill="hold"/>
                                        <p:tgtEl>
                                          <p:spTgt spid="110"/>
                                        </p:tgtEl>
                                        <p:attrNameLst>
                                          <p:attrName>ppt_x</p:attrName>
                                        </p:attrNameLst>
                                      </p:cBhvr>
                                      <p:tavLst>
                                        <p:tav tm="0">
                                          <p:val>
                                            <p:strVal val="#ppt_x-0.05"/>
                                          </p:val>
                                        </p:tav>
                                        <p:tav tm="100000">
                                          <p:val>
                                            <p:strVal val="#ppt_x"/>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111"/>
                                        </p:tgtEl>
                                        <p:attrNameLst>
                                          <p:attrName>style.visibility</p:attrName>
                                        </p:attrNameLst>
                                      </p:cBhvr>
                                      <p:to>
                                        <p:strVal val="visible"/>
                                      </p:to>
                                    </p:set>
                                    <p:animEffect transition="in" filter="fade">
                                      <p:cBhvr>
                                        <p:cTn id="40" dur="500"/>
                                        <p:tgtEl>
                                          <p:spTgt spid="111"/>
                                        </p:tgtEl>
                                      </p:cBhvr>
                                    </p:animEffect>
                                    <p:anim calcmode="lin" valueType="num">
                                      <p:cBhvr additive="base">
                                        <p:cTn id="41" dur="500" decel="100000" fill="hold"/>
                                        <p:tgtEl>
                                          <p:spTgt spid="111"/>
                                        </p:tgtEl>
                                        <p:attrNameLst>
                                          <p:attrName>ppt_x</p:attrName>
                                        </p:attrNameLst>
                                      </p:cBhvr>
                                      <p:tavLst>
                                        <p:tav tm="0">
                                          <p:val>
                                            <p:strVal val="#ppt_x-0.05"/>
                                          </p:val>
                                        </p:tav>
                                        <p:tav tm="100000">
                                          <p:val>
                                            <p:strVal val="#ppt_x"/>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grpId="0" nodeType="clickEffect">
                                  <p:stCondLst>
                                    <p:cond delay="0"/>
                                  </p:stCondLst>
                                  <p:childTnLst>
                                    <p:set>
                                      <p:cBhvr>
                                        <p:cTn id="45" dur="1" fill="hold">
                                          <p:stCondLst>
                                            <p:cond delay="0"/>
                                          </p:stCondLst>
                                        </p:cTn>
                                        <p:tgtEl>
                                          <p:spTgt spid="112"/>
                                        </p:tgtEl>
                                        <p:attrNameLst>
                                          <p:attrName>style.visibility</p:attrName>
                                        </p:attrNameLst>
                                      </p:cBhvr>
                                      <p:to>
                                        <p:strVal val="visible"/>
                                      </p:to>
                                    </p:set>
                                    <p:animEffect transition="in" filter="fade">
                                      <p:cBhvr>
                                        <p:cTn id="46" dur="500"/>
                                        <p:tgtEl>
                                          <p:spTgt spid="112"/>
                                        </p:tgtEl>
                                      </p:cBhvr>
                                    </p:animEffect>
                                    <p:anim calcmode="lin" valueType="num">
                                      <p:cBhvr additive="base">
                                        <p:cTn id="47" dur="500" decel="100000" fill="hold"/>
                                        <p:tgtEl>
                                          <p:spTgt spid="112"/>
                                        </p:tgtEl>
                                        <p:attrNameLst>
                                          <p:attrName>ppt_x</p:attrName>
                                        </p:attrNameLst>
                                      </p:cBhvr>
                                      <p:tavLst>
                                        <p:tav tm="0">
                                          <p:val>
                                            <p:strVal val="#ppt_x+0.05"/>
                                          </p:val>
                                        </p:tav>
                                        <p:tav tm="100000">
                                          <p:val>
                                            <p:strVal val="#ppt_x"/>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113"/>
                                        </p:tgtEl>
                                        <p:attrNameLst>
                                          <p:attrName>style.visibility</p:attrName>
                                        </p:attrNameLst>
                                      </p:cBhvr>
                                      <p:to>
                                        <p:strVal val="visible"/>
                                      </p:to>
                                    </p:set>
                                    <p:animEffect transition="in" filter="fade">
                                      <p:cBhvr>
                                        <p:cTn id="50" dur="500"/>
                                        <p:tgtEl>
                                          <p:spTgt spid="113"/>
                                        </p:tgtEl>
                                      </p:cBhvr>
                                    </p:animEffect>
                                    <p:anim calcmode="lin" valueType="num">
                                      <p:cBhvr additive="base">
                                        <p:cTn id="51" dur="500" decel="100000" fill="hold"/>
                                        <p:tgtEl>
                                          <p:spTgt spid="113"/>
                                        </p:tgtEl>
                                        <p:attrNameLst>
                                          <p:attrName>ppt_x</p:attrName>
                                        </p:attrNameLst>
                                      </p:cBhvr>
                                      <p:tavLst>
                                        <p:tav tm="0">
                                          <p:val>
                                            <p:strVal val="#ppt_x+0.05"/>
                                          </p:val>
                                        </p:tav>
                                        <p:tav tm="100000">
                                          <p:val>
                                            <p:strVal val="#ppt_x"/>
                                          </p:val>
                                        </p:tav>
                                      </p:tavLst>
                                    </p:anim>
                                  </p:childTnLst>
                                </p:cTn>
                              </p:par>
                              <p:par>
                                <p:cTn id="52" presetID="42" presetClass="entr" presetSubtype="0" fill="hold" nodeType="withEffect">
                                  <p:stCondLst>
                                    <p:cond delay="0"/>
                                  </p:stCondLst>
                                  <p:childTnLst>
                                    <p:set>
                                      <p:cBhvr>
                                        <p:cTn id="53" dur="1" fill="hold">
                                          <p:stCondLst>
                                            <p:cond delay="0"/>
                                          </p:stCondLst>
                                        </p:cTn>
                                        <p:tgtEl>
                                          <p:spTgt spid="114"/>
                                        </p:tgtEl>
                                        <p:attrNameLst>
                                          <p:attrName>style.visibility</p:attrName>
                                        </p:attrNameLst>
                                      </p:cBhvr>
                                      <p:to>
                                        <p:strVal val="visible"/>
                                      </p:to>
                                    </p:set>
                                    <p:animEffect transition="in" filter="fade">
                                      <p:cBhvr>
                                        <p:cTn id="54" dur="500"/>
                                        <p:tgtEl>
                                          <p:spTgt spid="114"/>
                                        </p:tgtEl>
                                      </p:cBhvr>
                                    </p:animEffect>
                                    <p:anim calcmode="lin" valueType="num">
                                      <p:cBhvr additive="base">
                                        <p:cTn id="55" dur="500" decel="100000" fill="hold"/>
                                        <p:tgtEl>
                                          <p:spTgt spid="114"/>
                                        </p:tgtEl>
                                        <p:attrNameLst>
                                          <p:attrName>ppt_x</p:attrName>
                                        </p:attrNameLst>
                                      </p:cBhvr>
                                      <p:tavLst>
                                        <p:tav tm="0">
                                          <p:val>
                                            <p:strVal val="#ppt_x+0.05"/>
                                          </p:val>
                                        </p:tav>
                                        <p:tav tm="100000">
                                          <p:val>
                                            <p:strVal val="#ppt_x"/>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115"/>
                                        </p:tgtEl>
                                        <p:attrNameLst>
                                          <p:attrName>style.visibility</p:attrName>
                                        </p:attrNameLst>
                                      </p:cBhvr>
                                      <p:to>
                                        <p:strVal val="visible"/>
                                      </p:to>
                                    </p:set>
                                    <p:animEffect transition="in" filter="fade">
                                      <p:cBhvr>
                                        <p:cTn id="58" dur="500"/>
                                        <p:tgtEl>
                                          <p:spTgt spid="115"/>
                                        </p:tgtEl>
                                      </p:cBhvr>
                                    </p:animEffect>
                                    <p:anim calcmode="lin" valueType="num">
                                      <p:cBhvr additive="base">
                                        <p:cTn id="59" dur="500" decel="100000" fill="hold"/>
                                        <p:tgtEl>
                                          <p:spTgt spid="115"/>
                                        </p:tgtEl>
                                        <p:attrNameLst>
                                          <p:attrName>ppt_x</p:attrName>
                                        </p:attrNameLst>
                                      </p:cBhvr>
                                      <p:tavLst>
                                        <p:tav tm="0">
                                          <p:val>
                                            <p:strVal val="#ppt_x+0.05"/>
                                          </p:val>
                                        </p:tav>
                                        <p:tav tm="100000">
                                          <p:val>
                                            <p:strVal val="#ppt_x"/>
                                          </p:val>
                                        </p:tav>
                                      </p:tavLst>
                                    </p:anim>
                                  </p:childTnLst>
                                </p:cTn>
                              </p:par>
                              <p:par>
                                <p:cTn id="60" presetID="42" presetClass="entr" presetSubtype="0" fill="hold" grpId="0" nodeType="withEffect">
                                  <p:stCondLst>
                                    <p:cond delay="0"/>
                                  </p:stCondLst>
                                  <p:childTnLst>
                                    <p:set>
                                      <p:cBhvr>
                                        <p:cTn id="61" dur="1" fill="hold">
                                          <p:stCondLst>
                                            <p:cond delay="0"/>
                                          </p:stCondLst>
                                        </p:cTn>
                                        <p:tgtEl>
                                          <p:spTgt spid="116"/>
                                        </p:tgtEl>
                                        <p:attrNameLst>
                                          <p:attrName>style.visibility</p:attrName>
                                        </p:attrNameLst>
                                      </p:cBhvr>
                                      <p:to>
                                        <p:strVal val="visible"/>
                                      </p:to>
                                    </p:set>
                                    <p:animEffect transition="in" filter="fade">
                                      <p:cBhvr>
                                        <p:cTn id="62" dur="500"/>
                                        <p:tgtEl>
                                          <p:spTgt spid="116"/>
                                        </p:tgtEl>
                                      </p:cBhvr>
                                    </p:animEffect>
                                    <p:anim calcmode="lin" valueType="num">
                                      <p:cBhvr additive="base">
                                        <p:cTn id="63" dur="500" decel="100000" fill="hold"/>
                                        <p:tgtEl>
                                          <p:spTgt spid="116"/>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P spid="105" grpId="0" animBg="1"/>
      <p:bldP spid="107" grpId="0" animBg="1"/>
      <p:bldP spid="108" grpId="0" animBg="1"/>
      <p:bldP spid="110" grpId="0" animBg="1"/>
      <p:bldP spid="111" grpId="0" animBg="1"/>
      <p:bldP spid="112" grpId="0" animBg="1"/>
      <p:bldP spid="113" grpId="0" animBg="1"/>
      <p:bldP spid="115" grpId="0" animBg="1"/>
      <p:bldP spid="116"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PLANNING</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Sprint Planning: What?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Developers forecast what they can complete toward the Sprint Goal.</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262</a:t>
            </a:r>
            <a:endParaRPr lang="en-US" sz="850" dirty="0"/>
          </a:p>
        </p:txBody>
      </p:sp>
      <p:sp>
        <p:nvSpPr>
          <p:cNvPr id="101" name="!!step0"/>
          <p:cNvSpPr/>
          <p:nvPr/>
        </p:nvSpPr>
        <p:spPr>
          <a:xfrm>
            <a:off x="8001000" y="429768"/>
            <a:ext cx="1115568" cy="329184"/>
          </a:xfrm>
          <a:prstGeom prst="roundRect">
            <a:avLst>
              <a:gd name="adj" fmla="val 50000"/>
            </a:avLst>
          </a:prstGeom>
          <a:solidFill>
            <a:srgbClr val="111B2E"/>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WHY?</a:t>
            </a:r>
            <a:endParaRPr lang="en-US" sz="1100" dirty="0"/>
          </a:p>
        </p:txBody>
      </p:sp>
      <p:sp>
        <p:nvSpPr>
          <p:cNvPr id="102" name="!!step1"/>
          <p:cNvSpPr/>
          <p:nvPr/>
        </p:nvSpPr>
        <p:spPr>
          <a:xfrm>
            <a:off x="9208008" y="429768"/>
            <a:ext cx="1115568" cy="329184"/>
          </a:xfrm>
          <a:prstGeom prst="roundRect">
            <a:avLst>
              <a:gd name="adj" fmla="val 50000"/>
            </a:avLst>
          </a:prstGeom>
          <a:solidFill>
            <a:srgbClr val="60A5FA"/>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WHAT?</a:t>
            </a:r>
            <a:endParaRPr lang="en-US" sz="1100" dirty="0"/>
          </a:p>
        </p:txBody>
      </p:sp>
      <p:sp>
        <p:nvSpPr>
          <p:cNvPr id="103" name="!!step2"/>
          <p:cNvSpPr/>
          <p:nvPr/>
        </p:nvSpPr>
        <p:spPr>
          <a:xfrm>
            <a:off x="10415016" y="429768"/>
            <a:ext cx="1115568" cy="329184"/>
          </a:xfrm>
          <a:prstGeom prst="roundRect">
            <a:avLst>
              <a:gd name="adj" fmla="val 50000"/>
            </a:avLst>
          </a:prstGeom>
          <a:solidFill>
            <a:srgbClr val="111B2E"/>
          </a:solidFill>
          <a:ln w="12700">
            <a:solidFill>
              <a:srgbClr val="1E3A5F"/>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94A3B8"/>
                </a:solidFill>
                <a:latin typeface="Segoe UI"/>
                <a:ea typeface="Segoe UI"/>
                <a:cs typeface="Segoe UI"/>
              </a:rPr>
              <a:t>HOW?</a:t>
            </a:r>
            <a:endParaRPr lang="en-US" sz="1100" dirty="0"/>
          </a:p>
        </p:txBody>
      </p:sp>
      <p:sp>
        <p:nvSpPr>
          <p:cNvPr id="104" name="s104"/>
          <p:cNvSpPr/>
          <p:nvPr/>
        </p:nvSpPr>
        <p:spPr>
          <a:xfrm>
            <a:off x="543154" y="2011680"/>
            <a:ext cx="5852160" cy="621792"/>
          </a:xfrm>
          <a:prstGeom prst="roundRect">
            <a:avLst>
              <a:gd name="adj" fmla="val 15000"/>
            </a:avLst>
          </a:prstGeom>
          <a:solidFill>
            <a:srgbClr val="111B2E"/>
          </a:solidFill>
          <a:ln w="12700">
            <a:solidFill>
              <a:srgbClr val="1E3A5F"/>
            </a:solidFill>
            <a:prstDash val="solid"/>
          </a:ln>
        </p:spPr>
        <p:txBody>
          <a:bodyPr wrap="square" lIns="228600" tIns="0" rIns="9144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Register patient</a:t>
            </a:r>
            <a:endParaRPr lang="en-US" sz="1500" dirty="0"/>
          </a:p>
        </p:txBody>
      </p:sp>
      <p:sp>
        <p:nvSpPr>
          <p:cNvPr id="105" name="s105"/>
          <p:cNvSpPr/>
          <p:nvPr/>
        </p:nvSpPr>
        <p:spPr>
          <a:xfrm>
            <a:off x="6578194" y="2121408"/>
            <a:ext cx="557784" cy="402336"/>
          </a:xfrm>
          <a:prstGeom prst="roundRect">
            <a:avLst>
              <a:gd name="adj" fmla="val 20000"/>
            </a:avLst>
          </a:prstGeom>
          <a:solidFill>
            <a:srgbClr val="60A5FA">
              <a:alpha val="40000"/>
            </a:srgbClr>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5</a:t>
            </a:r>
            <a:endParaRPr lang="en-US" sz="1200" dirty="0"/>
          </a:p>
        </p:txBody>
      </p:sp>
      <p:sp>
        <p:nvSpPr>
          <p:cNvPr id="106" name="s106"/>
          <p:cNvSpPr/>
          <p:nvPr/>
        </p:nvSpPr>
        <p:spPr>
          <a:xfrm>
            <a:off x="543154" y="2788920"/>
            <a:ext cx="5852160" cy="621792"/>
          </a:xfrm>
          <a:prstGeom prst="roundRect">
            <a:avLst>
              <a:gd name="adj" fmla="val 15000"/>
            </a:avLst>
          </a:prstGeom>
          <a:solidFill>
            <a:srgbClr val="111B2E"/>
          </a:solidFill>
          <a:ln w="12700">
            <a:solidFill>
              <a:srgbClr val="1E3A5F"/>
            </a:solidFill>
            <a:prstDash val="solid"/>
          </a:ln>
        </p:spPr>
        <p:txBody>
          <a:bodyPr wrap="square" lIns="228600" tIns="0" rIns="9144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View doctor availability</a:t>
            </a:r>
            <a:endParaRPr lang="en-US" sz="1500" dirty="0"/>
          </a:p>
        </p:txBody>
      </p:sp>
      <p:sp>
        <p:nvSpPr>
          <p:cNvPr id="107" name="s107"/>
          <p:cNvSpPr/>
          <p:nvPr/>
        </p:nvSpPr>
        <p:spPr>
          <a:xfrm>
            <a:off x="7172554" y="2898648"/>
            <a:ext cx="557784" cy="402336"/>
          </a:xfrm>
          <a:prstGeom prst="roundRect">
            <a:avLst>
              <a:gd name="adj" fmla="val 20000"/>
            </a:avLst>
          </a:prstGeom>
          <a:solidFill>
            <a:srgbClr val="60A5FA">
              <a:alpha val="55000"/>
            </a:srgbClr>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5</a:t>
            </a:r>
            <a:endParaRPr lang="en-US" sz="1200" dirty="0"/>
          </a:p>
        </p:txBody>
      </p:sp>
      <p:sp>
        <p:nvSpPr>
          <p:cNvPr id="108" name="s108"/>
          <p:cNvSpPr/>
          <p:nvPr/>
        </p:nvSpPr>
        <p:spPr>
          <a:xfrm>
            <a:off x="543154" y="3566160"/>
            <a:ext cx="5852160" cy="621792"/>
          </a:xfrm>
          <a:prstGeom prst="roundRect">
            <a:avLst>
              <a:gd name="adj" fmla="val 15000"/>
            </a:avLst>
          </a:prstGeom>
          <a:solidFill>
            <a:srgbClr val="111B2E"/>
          </a:solidFill>
          <a:ln w="12700">
            <a:solidFill>
              <a:srgbClr val="1E3A5F"/>
            </a:solidFill>
            <a:prstDash val="solid"/>
          </a:ln>
        </p:spPr>
        <p:txBody>
          <a:bodyPr wrap="square" lIns="228600" tIns="0" rIns="9144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Book appointment</a:t>
            </a:r>
            <a:endParaRPr lang="en-US" sz="1500" dirty="0"/>
          </a:p>
        </p:txBody>
      </p:sp>
      <p:sp>
        <p:nvSpPr>
          <p:cNvPr id="109" name="s109"/>
          <p:cNvSpPr/>
          <p:nvPr/>
        </p:nvSpPr>
        <p:spPr>
          <a:xfrm>
            <a:off x="7766914" y="3675888"/>
            <a:ext cx="914400" cy="402336"/>
          </a:xfrm>
          <a:prstGeom prst="roundRect">
            <a:avLst>
              <a:gd name="adj" fmla="val 20000"/>
            </a:avLst>
          </a:prstGeom>
          <a:solidFill>
            <a:srgbClr val="60A5FA">
              <a:alpha val="70000"/>
            </a:srgbClr>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8</a:t>
            </a:r>
            <a:endParaRPr lang="en-US" sz="1200" dirty="0"/>
          </a:p>
        </p:txBody>
      </p:sp>
      <p:sp>
        <p:nvSpPr>
          <p:cNvPr id="110" name="s110"/>
          <p:cNvSpPr/>
          <p:nvPr/>
        </p:nvSpPr>
        <p:spPr>
          <a:xfrm>
            <a:off x="543154" y="4343400"/>
            <a:ext cx="5852160" cy="621792"/>
          </a:xfrm>
          <a:prstGeom prst="roundRect">
            <a:avLst>
              <a:gd name="adj" fmla="val 15000"/>
            </a:avLst>
          </a:prstGeom>
          <a:solidFill>
            <a:srgbClr val="111B2E"/>
          </a:solidFill>
          <a:ln w="12700">
            <a:solidFill>
              <a:srgbClr val="1E3A5F"/>
            </a:solidFill>
            <a:prstDash val="solid"/>
          </a:ln>
        </p:spPr>
        <p:txBody>
          <a:bodyPr wrap="square" lIns="228600" tIns="0" rIns="91440" bIns="0" rtlCol="0" anchor="ctr">
            <a:noAutofit/>
          </a:bodyPr>
          <a:lstStyle/>
          <a:p>
            <a:pPr marL="0" indent="0" algn="l">
              <a:spcBef>
                <a:spcPts val="0"/>
              </a:spcBef>
              <a:spcAft>
                <a:spcPts val="0"/>
              </a:spcAft>
              <a:buNone/>
            </a:pPr>
            <a:r>
              <a:rPr lang="en-US" sz="1500" b="1" dirty="0">
                <a:solidFill>
                  <a:srgbClr val="FFFFFF"/>
                </a:solidFill>
                <a:latin typeface="Segoe UI"/>
                <a:ea typeface="Segoe UI"/>
                <a:cs typeface="Segoe UI"/>
              </a:rPr>
              <a:t>View appointment confirmation</a:t>
            </a:r>
            <a:endParaRPr lang="en-US" sz="1500" dirty="0"/>
          </a:p>
        </p:txBody>
      </p:sp>
      <p:sp>
        <p:nvSpPr>
          <p:cNvPr id="111" name="s111"/>
          <p:cNvSpPr/>
          <p:nvPr/>
        </p:nvSpPr>
        <p:spPr>
          <a:xfrm>
            <a:off x="8717890" y="4453128"/>
            <a:ext cx="320040" cy="402336"/>
          </a:xfrm>
          <a:prstGeom prst="roundRect">
            <a:avLst>
              <a:gd name="adj" fmla="val 20000"/>
            </a:avLst>
          </a:prstGeom>
          <a:solidFill>
            <a:srgbClr val="60A5FA">
              <a:alpha val="85000"/>
            </a:srgbClr>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3</a:t>
            </a:r>
            <a:endParaRPr lang="en-US" sz="1200" dirty="0"/>
          </a:p>
        </p:txBody>
      </p:sp>
      <p:sp>
        <p:nvSpPr>
          <p:cNvPr id="112" name="!!goal"/>
          <p:cNvSpPr/>
          <p:nvPr/>
        </p:nvSpPr>
        <p:spPr>
          <a:xfrm>
            <a:off x="9528048" y="2011680"/>
            <a:ext cx="2103120" cy="2953512"/>
          </a:xfrm>
          <a:prstGeom prst="roundRect">
            <a:avLst>
              <a:gd name="adj" fmla="val 10000"/>
            </a:avLst>
          </a:prstGeom>
          <a:solidFill>
            <a:srgbClr val="60A5FA">
              <a:alpha val="12000"/>
            </a:srgbClr>
          </a:solidFill>
          <a:ln w="25400">
            <a:solidFill>
              <a:srgbClr val="60A5FA"/>
            </a:solidFill>
            <a:prstDash val="solid"/>
          </a:ln>
        </p:spPr>
        <p:txBody>
          <a:bodyPr wrap="square" lIns="164592" tIns="109728" rIns="137160" bIns="9144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FORECAST</a:t>
            </a:r>
            <a:endParaRPr lang="en-US" sz="1100" dirty="0"/>
          </a:p>
          <a:p>
            <a:pPr marL="0" indent="0" algn="ctr">
              <a:spcBef>
                <a:spcPts val="0"/>
              </a:spcBef>
              <a:spcAft>
                <a:spcPts val="0"/>
              </a:spcAft>
              <a:buNone/>
            </a:pPr>
            <a:r>
              <a:rPr lang="en-US" sz="6000" b="1" dirty="0">
                <a:solidFill>
                  <a:srgbClr val="FFFFFF"/>
                </a:solidFill>
                <a:latin typeface="Segoe UI"/>
                <a:ea typeface="Segoe UI"/>
                <a:cs typeface="Segoe UI"/>
              </a:rPr>
              <a:t>21</a:t>
            </a:r>
            <a:endParaRPr lang="en-US" sz="6000" dirty="0"/>
          </a:p>
          <a:p>
            <a:pPr marL="0" indent="0" algn="ctr">
              <a:spcBef>
                <a:spcPts val="0"/>
              </a:spcBef>
              <a:spcAft>
                <a:spcPts val="0"/>
              </a:spcAft>
              <a:buNone/>
            </a:pPr>
            <a:r>
              <a:rPr lang="en-US" sz="1400" b="0" dirty="0">
                <a:solidFill>
                  <a:srgbClr val="94A3B8"/>
                </a:solidFill>
                <a:latin typeface="Segoe UI"/>
                <a:ea typeface="Segoe UI"/>
                <a:cs typeface="Segoe UI"/>
              </a:rPr>
              <a:t>points</a:t>
            </a:r>
            <a:endParaRPr lang="en-US" sz="1400" dirty="0"/>
          </a:p>
        </p:txBody>
      </p:sp>
      <p:sp>
        <p:nvSpPr>
          <p:cNvPr id="113" name="s113"/>
          <p:cNvSpPr/>
          <p:nvPr/>
        </p:nvSpPr>
        <p:spPr>
          <a:xfrm>
            <a:off x="543154" y="5257800"/>
            <a:ext cx="11088014" cy="548640"/>
          </a:xfrm>
          <a:prstGeom prst="roundRect">
            <a:avLst>
              <a:gd name="adj" fmla="val 12000"/>
            </a:avLst>
          </a:prstGeom>
          <a:solidFill>
            <a:srgbClr val="111B2E"/>
          </a:solidFill>
          <a:ln w="12700">
            <a:solidFill>
              <a:srgbClr val="60A5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300" b="0" dirty="0">
                <a:solidFill>
                  <a:srgbClr val="E2E8F0"/>
                </a:solidFill>
                <a:latin typeface="Segoe UI"/>
                <a:ea typeface="Segoe UI"/>
                <a:cs typeface="Segoe UI"/>
              </a:rPr>
              <a:t>The PO does not command a number. Developers consider </a:t>
            </a:r>
            <a:r>
              <a:rPr lang="en-US" sz="1300" b="1" dirty="0">
                <a:solidFill>
                  <a:srgbClr val="60A5FA"/>
                </a:solidFill>
                <a:latin typeface="Segoe UI"/>
                <a:ea typeface="Segoe UI"/>
                <a:cs typeface="Segoe UI"/>
              </a:rPr>
              <a:t>capacity, risks, DoD, holidays</a:t>
            </a:r>
            <a:r>
              <a:rPr lang="en-US" sz="1300" b="0" dirty="0">
                <a:solidFill>
                  <a:srgbClr val="E2E8F0"/>
                </a:solidFill>
                <a:latin typeface="Segoe UI"/>
                <a:ea typeface="Segoe UI"/>
                <a:cs typeface="Segoe UI"/>
              </a:rPr>
              <a:t>.</a:t>
            </a:r>
            <a:endParaRPr lang="en-US" sz="13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fade">
                                      <p:cBhvr>
                                        <p:cTn id="7" dur="500"/>
                                        <p:tgtEl>
                                          <p:spTgt spid="104"/>
                                        </p:tgtEl>
                                      </p:cBhvr>
                                    </p:animEffect>
                                    <p:anim calcmode="lin" valueType="num">
                                      <p:cBhvr additive="base">
                                        <p:cTn id="8" dur="500" decel="100000" fill="hold"/>
                                        <p:tgtEl>
                                          <p:spTgt spid="104"/>
                                        </p:tgtEl>
                                        <p:attrNameLst>
                                          <p:attrName>ppt_x</p:attrName>
                                        </p:attrNameLst>
                                      </p:cBhvr>
                                      <p:tavLst>
                                        <p:tav tm="0">
                                          <p:val>
                                            <p:strVal val="#ppt_x-0.05"/>
                                          </p:val>
                                        </p:tav>
                                        <p:tav tm="100000">
                                          <p:val>
                                            <p:strVal val="#ppt_x"/>
                                          </p:val>
                                        </p:tav>
                                      </p:tavLst>
                                    </p:anim>
                                  </p:childTnLst>
                                </p:cTn>
                              </p:par>
                              <p:par>
                                <p:cTn id="9" presetID="22" presetClass="entr" presetSubtype="8" fill="hold" grpId="0" nodeType="withEffect">
                                  <p:stCondLst>
                                    <p:cond delay="150"/>
                                  </p:stCondLst>
                                  <p:childTnLst>
                                    <p:set>
                                      <p:cBhvr>
                                        <p:cTn id="10" dur="1" fill="hold">
                                          <p:stCondLst>
                                            <p:cond delay="0"/>
                                          </p:stCondLst>
                                        </p:cTn>
                                        <p:tgtEl>
                                          <p:spTgt spid="105"/>
                                        </p:tgtEl>
                                        <p:attrNameLst>
                                          <p:attrName>style.visibility</p:attrName>
                                        </p:attrNameLst>
                                      </p:cBhvr>
                                      <p:to>
                                        <p:strVal val="visible"/>
                                      </p:to>
                                    </p:set>
                                    <p:animEffect transition="in" filter="wipe(left)">
                                      <p:cBhvr>
                                        <p:cTn id="11" dur="500"/>
                                        <p:tgtEl>
                                          <p:spTgt spid="105"/>
                                        </p:tgtEl>
                                      </p:cBhvr>
                                    </p:animEffect>
                                  </p:childTnLst>
                                </p:cTn>
                              </p:par>
                              <p:par>
                                <p:cTn id="12" presetID="42" presetClass="entr" presetSubtype="0" fill="hold" grpId="0" nodeType="withEffect">
                                  <p:stCondLst>
                                    <p:cond delay="350"/>
                                  </p:stCondLst>
                                  <p:childTnLst>
                                    <p:set>
                                      <p:cBhvr>
                                        <p:cTn id="13" dur="1" fill="hold">
                                          <p:stCondLst>
                                            <p:cond delay="0"/>
                                          </p:stCondLst>
                                        </p:cTn>
                                        <p:tgtEl>
                                          <p:spTgt spid="106"/>
                                        </p:tgtEl>
                                        <p:attrNameLst>
                                          <p:attrName>style.visibility</p:attrName>
                                        </p:attrNameLst>
                                      </p:cBhvr>
                                      <p:to>
                                        <p:strVal val="visible"/>
                                      </p:to>
                                    </p:set>
                                    <p:animEffect transition="in" filter="fade">
                                      <p:cBhvr>
                                        <p:cTn id="14" dur="500"/>
                                        <p:tgtEl>
                                          <p:spTgt spid="106"/>
                                        </p:tgtEl>
                                      </p:cBhvr>
                                    </p:animEffect>
                                    <p:anim calcmode="lin" valueType="num">
                                      <p:cBhvr additive="base">
                                        <p:cTn id="15" dur="500" decel="100000" fill="hold"/>
                                        <p:tgtEl>
                                          <p:spTgt spid="106"/>
                                        </p:tgtEl>
                                        <p:attrNameLst>
                                          <p:attrName>ppt_x</p:attrName>
                                        </p:attrNameLst>
                                      </p:cBhvr>
                                      <p:tavLst>
                                        <p:tav tm="0">
                                          <p:val>
                                            <p:strVal val="#ppt_x-0.05"/>
                                          </p:val>
                                        </p:tav>
                                        <p:tav tm="100000">
                                          <p:val>
                                            <p:strVal val="#ppt_x"/>
                                          </p:val>
                                        </p:tav>
                                      </p:tavLst>
                                    </p:anim>
                                  </p:childTnLst>
                                </p:cTn>
                              </p:par>
                              <p:par>
                                <p:cTn id="16" presetID="22" presetClass="entr" presetSubtype="8" fill="hold" grpId="0" nodeType="withEffect">
                                  <p:stCondLst>
                                    <p:cond delay="500"/>
                                  </p:stCondLst>
                                  <p:childTnLst>
                                    <p:set>
                                      <p:cBhvr>
                                        <p:cTn id="17" dur="1" fill="hold">
                                          <p:stCondLst>
                                            <p:cond delay="0"/>
                                          </p:stCondLst>
                                        </p:cTn>
                                        <p:tgtEl>
                                          <p:spTgt spid="107"/>
                                        </p:tgtEl>
                                        <p:attrNameLst>
                                          <p:attrName>style.visibility</p:attrName>
                                        </p:attrNameLst>
                                      </p:cBhvr>
                                      <p:to>
                                        <p:strVal val="visible"/>
                                      </p:to>
                                    </p:set>
                                    <p:animEffect transition="in" filter="wipe(left)">
                                      <p:cBhvr>
                                        <p:cTn id="18" dur="500"/>
                                        <p:tgtEl>
                                          <p:spTgt spid="107"/>
                                        </p:tgtEl>
                                      </p:cBhvr>
                                    </p:animEffect>
                                  </p:childTnLst>
                                </p:cTn>
                              </p:par>
                              <p:par>
                                <p:cTn id="19" presetID="42" presetClass="entr" presetSubtype="0" fill="hold" grpId="0" nodeType="withEffect">
                                  <p:stCondLst>
                                    <p:cond delay="700"/>
                                  </p:stCondLst>
                                  <p:childTnLst>
                                    <p:set>
                                      <p:cBhvr>
                                        <p:cTn id="20" dur="1" fill="hold">
                                          <p:stCondLst>
                                            <p:cond delay="0"/>
                                          </p:stCondLst>
                                        </p:cTn>
                                        <p:tgtEl>
                                          <p:spTgt spid="108"/>
                                        </p:tgtEl>
                                        <p:attrNameLst>
                                          <p:attrName>style.visibility</p:attrName>
                                        </p:attrNameLst>
                                      </p:cBhvr>
                                      <p:to>
                                        <p:strVal val="visible"/>
                                      </p:to>
                                    </p:set>
                                    <p:animEffect transition="in" filter="fade">
                                      <p:cBhvr>
                                        <p:cTn id="21" dur="500"/>
                                        <p:tgtEl>
                                          <p:spTgt spid="108"/>
                                        </p:tgtEl>
                                      </p:cBhvr>
                                    </p:animEffect>
                                    <p:anim calcmode="lin" valueType="num">
                                      <p:cBhvr additive="base">
                                        <p:cTn id="22" dur="500" decel="100000" fill="hold"/>
                                        <p:tgtEl>
                                          <p:spTgt spid="108"/>
                                        </p:tgtEl>
                                        <p:attrNameLst>
                                          <p:attrName>ppt_x</p:attrName>
                                        </p:attrNameLst>
                                      </p:cBhvr>
                                      <p:tavLst>
                                        <p:tav tm="0">
                                          <p:val>
                                            <p:strVal val="#ppt_x-0.05"/>
                                          </p:val>
                                        </p:tav>
                                        <p:tav tm="100000">
                                          <p:val>
                                            <p:strVal val="#ppt_x"/>
                                          </p:val>
                                        </p:tav>
                                      </p:tavLst>
                                    </p:anim>
                                  </p:childTnLst>
                                </p:cTn>
                              </p:par>
                              <p:par>
                                <p:cTn id="23" presetID="22" presetClass="entr" presetSubtype="8" fill="hold" grpId="0" nodeType="withEffect">
                                  <p:stCondLst>
                                    <p:cond delay="850"/>
                                  </p:stCondLst>
                                  <p:childTnLst>
                                    <p:set>
                                      <p:cBhvr>
                                        <p:cTn id="24" dur="1" fill="hold">
                                          <p:stCondLst>
                                            <p:cond delay="0"/>
                                          </p:stCondLst>
                                        </p:cTn>
                                        <p:tgtEl>
                                          <p:spTgt spid="109"/>
                                        </p:tgtEl>
                                        <p:attrNameLst>
                                          <p:attrName>style.visibility</p:attrName>
                                        </p:attrNameLst>
                                      </p:cBhvr>
                                      <p:to>
                                        <p:strVal val="visible"/>
                                      </p:to>
                                    </p:set>
                                    <p:animEffect transition="in" filter="wipe(left)">
                                      <p:cBhvr>
                                        <p:cTn id="25" dur="500"/>
                                        <p:tgtEl>
                                          <p:spTgt spid="109"/>
                                        </p:tgtEl>
                                      </p:cBhvr>
                                    </p:animEffect>
                                  </p:childTnLst>
                                </p:cTn>
                              </p:par>
                              <p:par>
                                <p:cTn id="26" presetID="42" presetClass="entr" presetSubtype="0" fill="hold" grpId="0" nodeType="withEffect">
                                  <p:stCondLst>
                                    <p:cond delay="1050"/>
                                  </p:stCondLst>
                                  <p:childTnLst>
                                    <p:set>
                                      <p:cBhvr>
                                        <p:cTn id="27" dur="1" fill="hold">
                                          <p:stCondLst>
                                            <p:cond delay="0"/>
                                          </p:stCondLst>
                                        </p:cTn>
                                        <p:tgtEl>
                                          <p:spTgt spid="110"/>
                                        </p:tgtEl>
                                        <p:attrNameLst>
                                          <p:attrName>style.visibility</p:attrName>
                                        </p:attrNameLst>
                                      </p:cBhvr>
                                      <p:to>
                                        <p:strVal val="visible"/>
                                      </p:to>
                                    </p:set>
                                    <p:animEffect transition="in" filter="fade">
                                      <p:cBhvr>
                                        <p:cTn id="28" dur="500"/>
                                        <p:tgtEl>
                                          <p:spTgt spid="110"/>
                                        </p:tgtEl>
                                      </p:cBhvr>
                                    </p:animEffect>
                                    <p:anim calcmode="lin" valueType="num">
                                      <p:cBhvr additive="base">
                                        <p:cTn id="29" dur="500" decel="100000" fill="hold"/>
                                        <p:tgtEl>
                                          <p:spTgt spid="110"/>
                                        </p:tgtEl>
                                        <p:attrNameLst>
                                          <p:attrName>ppt_x</p:attrName>
                                        </p:attrNameLst>
                                      </p:cBhvr>
                                      <p:tavLst>
                                        <p:tav tm="0">
                                          <p:val>
                                            <p:strVal val="#ppt_x-0.05"/>
                                          </p:val>
                                        </p:tav>
                                        <p:tav tm="100000">
                                          <p:val>
                                            <p:strVal val="#ppt_x"/>
                                          </p:val>
                                        </p:tav>
                                      </p:tavLst>
                                    </p:anim>
                                  </p:childTnLst>
                                </p:cTn>
                              </p:par>
                              <p:par>
                                <p:cTn id="30" presetID="22" presetClass="entr" presetSubtype="8" fill="hold" grpId="0" nodeType="withEffect">
                                  <p:stCondLst>
                                    <p:cond delay="1200"/>
                                  </p:stCondLst>
                                  <p:childTnLst>
                                    <p:set>
                                      <p:cBhvr>
                                        <p:cTn id="31" dur="1" fill="hold">
                                          <p:stCondLst>
                                            <p:cond delay="0"/>
                                          </p:stCondLst>
                                        </p:cTn>
                                        <p:tgtEl>
                                          <p:spTgt spid="111"/>
                                        </p:tgtEl>
                                        <p:attrNameLst>
                                          <p:attrName>style.visibility</p:attrName>
                                        </p:attrNameLst>
                                      </p:cBhvr>
                                      <p:to>
                                        <p:strVal val="visible"/>
                                      </p:to>
                                    </p:set>
                                    <p:animEffect transition="in" filter="wipe(left)">
                                      <p:cBhvr>
                                        <p:cTn id="32" dur="500"/>
                                        <p:tgtEl>
                                          <p:spTgt spid="111"/>
                                        </p:tgtEl>
                                      </p:cBhvr>
                                    </p:animEffect>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113"/>
                                        </p:tgtEl>
                                        <p:attrNameLst>
                                          <p:attrName>style.visibility</p:attrName>
                                        </p:attrNameLst>
                                      </p:cBhvr>
                                      <p:to>
                                        <p:strVal val="visible"/>
                                      </p:to>
                                    </p:set>
                                    <p:animEffect transition="in" filter="fade">
                                      <p:cBhvr>
                                        <p:cTn id="37" dur="500"/>
                                        <p:tgtEl>
                                          <p:spTgt spid="113"/>
                                        </p:tgtEl>
                                      </p:cBhvr>
                                    </p:animEffect>
                                    <p:anim calcmode="lin" valueType="num">
                                      <p:cBhvr additive="base">
                                        <p:cTn id="38" dur="500" decel="100000" fill="hold"/>
                                        <p:tgtEl>
                                          <p:spTgt spid="113"/>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P spid="105" grpId="0" animBg="1"/>
      <p:bldP spid="106" grpId="0" animBg="1"/>
      <p:bldP spid="107" grpId="0" animBg="1"/>
      <p:bldP spid="108" grpId="0" animBg="1"/>
      <p:bldP spid="109" grpId="0" animBg="1"/>
      <p:bldP spid="110" grpId="0" animBg="1"/>
      <p:bldP spid="111" grpId="0" animBg="1"/>
      <p:bldP spid="113"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PLANNING</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Sprint Planning: How?</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Developers create an initial plan. It can evolve during the Sprint.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263</a:t>
            </a:r>
            <a:endParaRPr lang="en-US" sz="850" dirty="0"/>
          </a:p>
        </p:txBody>
      </p:sp>
      <p:sp>
        <p:nvSpPr>
          <p:cNvPr id="101" name="!!step0"/>
          <p:cNvSpPr/>
          <p:nvPr/>
        </p:nvSpPr>
        <p:spPr>
          <a:xfrm>
            <a:off x="8001000" y="429768"/>
            <a:ext cx="1115568" cy="329184"/>
          </a:xfrm>
          <a:prstGeom prst="roundRect">
            <a:avLst>
              <a:gd name="adj" fmla="val 50000"/>
            </a:avLst>
          </a:prstGeom>
          <a:solidFill>
            <a:srgbClr val="111B2E"/>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WHY?</a:t>
            </a:r>
            <a:endParaRPr lang="en-US" sz="1100" dirty="0"/>
          </a:p>
        </p:txBody>
      </p:sp>
      <p:sp>
        <p:nvSpPr>
          <p:cNvPr id="102" name="!!step1"/>
          <p:cNvSpPr/>
          <p:nvPr/>
        </p:nvSpPr>
        <p:spPr>
          <a:xfrm>
            <a:off x="9208008" y="429768"/>
            <a:ext cx="1115568" cy="329184"/>
          </a:xfrm>
          <a:prstGeom prst="roundRect">
            <a:avLst>
              <a:gd name="adj" fmla="val 50000"/>
            </a:avLst>
          </a:prstGeom>
          <a:solidFill>
            <a:srgbClr val="111B2E"/>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WHAT?</a:t>
            </a:r>
            <a:endParaRPr lang="en-US" sz="1100" dirty="0"/>
          </a:p>
        </p:txBody>
      </p:sp>
      <p:sp>
        <p:nvSpPr>
          <p:cNvPr id="103" name="!!step2"/>
          <p:cNvSpPr/>
          <p:nvPr/>
        </p:nvSpPr>
        <p:spPr>
          <a:xfrm>
            <a:off x="10415016" y="429768"/>
            <a:ext cx="1115568" cy="329184"/>
          </a:xfrm>
          <a:prstGeom prst="roundRect">
            <a:avLst>
              <a:gd name="adj" fmla="val 50000"/>
            </a:avLst>
          </a:prstGeom>
          <a:solidFill>
            <a:srgbClr val="60A5FA"/>
          </a:solidFill>
          <a:ln w="12700">
            <a:solidFill>
              <a:srgbClr val="60A5FA"/>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HOW?</a:t>
            </a:r>
            <a:endParaRPr lang="en-US" sz="1100" dirty="0"/>
          </a:p>
        </p:txBody>
      </p:sp>
      <p:sp>
        <p:nvSpPr>
          <p:cNvPr id="104" name="s104"/>
          <p:cNvSpPr/>
          <p:nvPr/>
        </p:nvSpPr>
        <p:spPr>
          <a:xfrm>
            <a:off x="543154" y="2011680"/>
            <a:ext cx="3543605" cy="603504"/>
          </a:xfrm>
          <a:prstGeom prst="roundRect">
            <a:avLst>
              <a:gd name="adj" fmla="val 15000"/>
            </a:avLst>
          </a:prstGeom>
          <a:solidFill>
            <a:srgbClr val="111B2E"/>
          </a:solidFill>
          <a:ln w="12700">
            <a:solidFill>
              <a:srgbClr val="F0A98B">
                <a:alpha val="80000"/>
              </a:srgbClr>
            </a:solidFill>
            <a:prstDash val="solid"/>
          </a:ln>
        </p:spPr>
        <p:txBody>
          <a:bodyPr wrap="square" lIns="201168" tIns="0" rIns="91440" bIns="0" rtlCol="0" anchor="ctr">
            <a:noAutofit/>
          </a:bodyPr>
          <a:lstStyle/>
          <a:p>
            <a:pPr marL="0" indent="0" algn="l">
              <a:spcBef>
                <a:spcPts val="0"/>
              </a:spcBef>
              <a:spcAft>
                <a:spcPts val="0"/>
              </a:spcAft>
              <a:buNone/>
            </a:pPr>
            <a:r>
              <a:rPr lang="en-US" sz="1350" b="0" dirty="0">
                <a:solidFill>
                  <a:srgbClr val="F0A98B"/>
                </a:solidFill>
                <a:latin typeface="Segoe UI"/>
                <a:ea typeface="Segoe UI"/>
                <a:cs typeface="Segoe UI"/>
              </a:rPr>
              <a:t>▢  </a:t>
            </a:r>
            <a:r>
              <a:rPr lang="en-US" sz="1350" b="1" dirty="0">
                <a:solidFill>
                  <a:srgbClr val="FFFFFF"/>
                </a:solidFill>
                <a:latin typeface="Segoe UI"/>
                <a:ea typeface="Segoe UI"/>
                <a:cs typeface="Segoe UI"/>
              </a:rPr>
              <a:t>Design booking interaction</a:t>
            </a:r>
            <a:endParaRPr lang="en-US" sz="1350" dirty="0"/>
          </a:p>
        </p:txBody>
      </p:sp>
      <p:sp>
        <p:nvSpPr>
          <p:cNvPr id="105" name="s105"/>
          <p:cNvSpPr/>
          <p:nvPr/>
        </p:nvSpPr>
        <p:spPr>
          <a:xfrm>
            <a:off x="4315358" y="2011680"/>
            <a:ext cx="3543605" cy="603504"/>
          </a:xfrm>
          <a:prstGeom prst="roundRect">
            <a:avLst>
              <a:gd name="adj" fmla="val 15000"/>
            </a:avLst>
          </a:prstGeom>
          <a:solidFill>
            <a:srgbClr val="111B2E"/>
          </a:solidFill>
          <a:ln w="12700">
            <a:solidFill>
              <a:srgbClr val="13D0F7">
                <a:alpha val="80000"/>
              </a:srgbClr>
            </a:solidFill>
            <a:prstDash val="solid"/>
          </a:ln>
        </p:spPr>
        <p:txBody>
          <a:bodyPr wrap="square" lIns="201168" tIns="0" rIns="91440" bIns="0" rtlCol="0" anchor="ctr">
            <a:noAutofit/>
          </a:bodyPr>
          <a:lstStyle/>
          <a:p>
            <a:pPr marL="0" indent="0" algn="l">
              <a:spcBef>
                <a:spcPts val="0"/>
              </a:spcBef>
              <a:spcAft>
                <a:spcPts val="0"/>
              </a:spcAft>
              <a:buNone/>
            </a:pPr>
            <a:r>
              <a:rPr lang="en-US" sz="1350" b="0" dirty="0">
                <a:solidFill>
                  <a:srgbClr val="13D0F7"/>
                </a:solidFill>
                <a:latin typeface="Segoe UI"/>
                <a:ea typeface="Segoe UI"/>
                <a:cs typeface="Segoe UI"/>
              </a:rPr>
              <a:t>▢  </a:t>
            </a:r>
            <a:r>
              <a:rPr lang="en-US" sz="1350" b="1" dirty="0">
                <a:solidFill>
                  <a:srgbClr val="FFFFFF"/>
                </a:solidFill>
                <a:latin typeface="Segoe UI"/>
                <a:ea typeface="Segoe UI"/>
                <a:cs typeface="Segoe UI"/>
              </a:rPr>
              <a:t>Create API contract</a:t>
            </a:r>
            <a:endParaRPr lang="en-US" sz="1350" dirty="0"/>
          </a:p>
        </p:txBody>
      </p:sp>
      <p:sp>
        <p:nvSpPr>
          <p:cNvPr id="106" name="s106"/>
          <p:cNvSpPr/>
          <p:nvPr/>
        </p:nvSpPr>
        <p:spPr>
          <a:xfrm>
            <a:off x="8087563" y="2011680"/>
            <a:ext cx="3543605" cy="603504"/>
          </a:xfrm>
          <a:prstGeom prst="roundRect">
            <a:avLst>
              <a:gd name="adj" fmla="val 15000"/>
            </a:avLst>
          </a:prstGeom>
          <a:solidFill>
            <a:srgbClr val="111B2E"/>
          </a:solidFill>
          <a:ln w="12700">
            <a:solidFill>
              <a:srgbClr val="13D0F7">
                <a:alpha val="80000"/>
              </a:srgbClr>
            </a:solidFill>
            <a:prstDash val="solid"/>
          </a:ln>
        </p:spPr>
        <p:txBody>
          <a:bodyPr wrap="square" lIns="201168" tIns="0" rIns="91440" bIns="0" rtlCol="0" anchor="ctr">
            <a:noAutofit/>
          </a:bodyPr>
          <a:lstStyle/>
          <a:p>
            <a:pPr marL="0" indent="0" algn="l">
              <a:spcBef>
                <a:spcPts val="0"/>
              </a:spcBef>
              <a:spcAft>
                <a:spcPts val="0"/>
              </a:spcAft>
              <a:buNone/>
            </a:pPr>
            <a:r>
              <a:rPr lang="en-US" sz="1350" b="0" dirty="0">
                <a:solidFill>
                  <a:srgbClr val="13D0F7"/>
                </a:solidFill>
                <a:latin typeface="Segoe UI"/>
                <a:ea typeface="Segoe UI"/>
                <a:cs typeface="Segoe UI"/>
              </a:rPr>
              <a:t>▢  </a:t>
            </a:r>
            <a:r>
              <a:rPr lang="en-US" sz="1350" b="1" dirty="0">
                <a:solidFill>
                  <a:srgbClr val="FFFFFF"/>
                </a:solidFill>
                <a:latin typeface="Segoe UI"/>
                <a:ea typeface="Segoe UI"/>
                <a:cs typeface="Segoe UI"/>
              </a:rPr>
              <a:t>Entity + migration</a:t>
            </a:r>
            <a:endParaRPr lang="en-US" sz="1350" dirty="0"/>
          </a:p>
        </p:txBody>
      </p:sp>
      <p:sp>
        <p:nvSpPr>
          <p:cNvPr id="107" name="s107"/>
          <p:cNvSpPr/>
          <p:nvPr/>
        </p:nvSpPr>
        <p:spPr>
          <a:xfrm>
            <a:off x="543154" y="2761488"/>
            <a:ext cx="3543605" cy="603504"/>
          </a:xfrm>
          <a:prstGeom prst="roundRect">
            <a:avLst>
              <a:gd name="adj" fmla="val 15000"/>
            </a:avLst>
          </a:prstGeom>
          <a:solidFill>
            <a:srgbClr val="111B2E"/>
          </a:solidFill>
          <a:ln w="12700">
            <a:solidFill>
              <a:srgbClr val="13D0F7">
                <a:alpha val="80000"/>
              </a:srgbClr>
            </a:solidFill>
            <a:prstDash val="solid"/>
          </a:ln>
        </p:spPr>
        <p:txBody>
          <a:bodyPr wrap="square" lIns="201168" tIns="0" rIns="91440" bIns="0" rtlCol="0" anchor="ctr">
            <a:noAutofit/>
          </a:bodyPr>
          <a:lstStyle/>
          <a:p>
            <a:pPr marL="0" indent="0" algn="l">
              <a:spcBef>
                <a:spcPts val="0"/>
              </a:spcBef>
              <a:spcAft>
                <a:spcPts val="0"/>
              </a:spcAft>
              <a:buNone/>
            </a:pPr>
            <a:r>
              <a:rPr lang="en-US" sz="1350" b="0" dirty="0">
                <a:solidFill>
                  <a:srgbClr val="13D0F7"/>
                </a:solidFill>
                <a:latin typeface="Segoe UI"/>
                <a:ea typeface="Segoe UI"/>
                <a:cs typeface="Segoe UI"/>
              </a:rPr>
              <a:t>▢  </a:t>
            </a:r>
            <a:r>
              <a:rPr lang="en-US" sz="1350" b="1" dirty="0">
                <a:solidFill>
                  <a:srgbClr val="FFFFFF"/>
                </a:solidFill>
                <a:latin typeface="Segoe UI"/>
                <a:ea typeface="Segoe UI"/>
                <a:cs typeface="Segoe UI"/>
              </a:rPr>
              <a:t>Availability validation</a:t>
            </a:r>
            <a:endParaRPr lang="en-US" sz="1350" dirty="0"/>
          </a:p>
        </p:txBody>
      </p:sp>
      <p:sp>
        <p:nvSpPr>
          <p:cNvPr id="108" name="s108"/>
          <p:cNvSpPr/>
          <p:nvPr/>
        </p:nvSpPr>
        <p:spPr>
          <a:xfrm>
            <a:off x="4315358" y="2761488"/>
            <a:ext cx="3543605" cy="603504"/>
          </a:xfrm>
          <a:prstGeom prst="roundRect">
            <a:avLst>
              <a:gd name="adj" fmla="val 15000"/>
            </a:avLst>
          </a:prstGeom>
          <a:solidFill>
            <a:srgbClr val="111B2E"/>
          </a:solidFill>
          <a:ln w="12700">
            <a:solidFill>
              <a:srgbClr val="F87171">
                <a:alpha val="80000"/>
              </a:srgbClr>
            </a:solidFill>
            <a:prstDash val="solid"/>
          </a:ln>
        </p:spPr>
        <p:txBody>
          <a:bodyPr wrap="square" lIns="201168" tIns="0" rIns="91440" bIns="0" rtlCol="0" anchor="ctr">
            <a:noAutofit/>
          </a:bodyPr>
          <a:lstStyle/>
          <a:p>
            <a:pPr marL="0" indent="0" algn="l">
              <a:spcBef>
                <a:spcPts val="0"/>
              </a:spcBef>
              <a:spcAft>
                <a:spcPts val="0"/>
              </a:spcAft>
              <a:buNone/>
            </a:pPr>
            <a:r>
              <a:rPr lang="en-US" sz="1350" b="0" dirty="0">
                <a:solidFill>
                  <a:srgbClr val="F87171"/>
                </a:solidFill>
                <a:latin typeface="Segoe UI"/>
                <a:ea typeface="Segoe UI"/>
                <a:cs typeface="Segoe UI"/>
              </a:rPr>
              <a:t>▢  </a:t>
            </a:r>
            <a:r>
              <a:rPr lang="en-US" sz="1350" b="1" dirty="0">
                <a:solidFill>
                  <a:srgbClr val="FFFFFF"/>
                </a:solidFill>
                <a:latin typeface="Segoe UI"/>
                <a:ea typeface="Segoe UI"/>
                <a:cs typeface="Segoe UI"/>
              </a:rPr>
              <a:t>Concurrent booking conflict</a:t>
            </a:r>
            <a:endParaRPr lang="en-US" sz="1350" dirty="0"/>
          </a:p>
        </p:txBody>
      </p:sp>
      <p:sp>
        <p:nvSpPr>
          <p:cNvPr id="109" name="s109"/>
          <p:cNvSpPr/>
          <p:nvPr/>
        </p:nvSpPr>
        <p:spPr>
          <a:xfrm>
            <a:off x="8087563" y="2761488"/>
            <a:ext cx="3543605" cy="603504"/>
          </a:xfrm>
          <a:prstGeom prst="roundRect">
            <a:avLst>
              <a:gd name="adj" fmla="val 15000"/>
            </a:avLst>
          </a:prstGeom>
          <a:solidFill>
            <a:srgbClr val="111B2E"/>
          </a:solidFill>
          <a:ln w="12700">
            <a:solidFill>
              <a:srgbClr val="F472B6">
                <a:alpha val="80000"/>
              </a:srgbClr>
            </a:solidFill>
            <a:prstDash val="solid"/>
          </a:ln>
        </p:spPr>
        <p:txBody>
          <a:bodyPr wrap="square" lIns="201168" tIns="0" rIns="91440" bIns="0" rtlCol="0" anchor="ctr">
            <a:noAutofit/>
          </a:bodyPr>
          <a:lstStyle/>
          <a:p>
            <a:pPr marL="0" indent="0" algn="l">
              <a:spcBef>
                <a:spcPts val="0"/>
              </a:spcBef>
              <a:spcAft>
                <a:spcPts val="0"/>
              </a:spcAft>
              <a:buNone/>
            </a:pPr>
            <a:r>
              <a:rPr lang="en-US" sz="1350" b="0" dirty="0">
                <a:solidFill>
                  <a:srgbClr val="F472B6"/>
                </a:solidFill>
                <a:latin typeface="Segoe UI"/>
                <a:ea typeface="Segoe UI"/>
                <a:cs typeface="Segoe UI"/>
              </a:rPr>
              <a:t>▢  </a:t>
            </a:r>
            <a:r>
              <a:rPr lang="en-US" sz="1350" b="1" dirty="0">
                <a:solidFill>
                  <a:srgbClr val="FFFFFF"/>
                </a:solidFill>
                <a:latin typeface="Segoe UI"/>
                <a:ea typeface="Segoe UI"/>
                <a:cs typeface="Segoe UI"/>
              </a:rPr>
              <a:t>Angular booking form</a:t>
            </a:r>
            <a:endParaRPr lang="en-US" sz="1350" dirty="0"/>
          </a:p>
        </p:txBody>
      </p:sp>
      <p:sp>
        <p:nvSpPr>
          <p:cNvPr id="110" name="s110"/>
          <p:cNvSpPr/>
          <p:nvPr/>
        </p:nvSpPr>
        <p:spPr>
          <a:xfrm>
            <a:off x="543154" y="3511296"/>
            <a:ext cx="3543605" cy="603504"/>
          </a:xfrm>
          <a:prstGeom prst="roundRect">
            <a:avLst>
              <a:gd name="adj" fmla="val 15000"/>
            </a:avLst>
          </a:prstGeom>
          <a:solidFill>
            <a:srgbClr val="111B2E"/>
          </a:solidFill>
          <a:ln w="12700">
            <a:solidFill>
              <a:srgbClr val="34D399">
                <a:alpha val="80000"/>
              </a:srgbClr>
            </a:solidFill>
            <a:prstDash val="solid"/>
          </a:ln>
        </p:spPr>
        <p:txBody>
          <a:bodyPr wrap="square" lIns="201168" tIns="0" rIns="91440" bIns="0" rtlCol="0" anchor="ctr">
            <a:noAutofit/>
          </a:bodyPr>
          <a:lstStyle/>
          <a:p>
            <a:pPr marL="0" indent="0" algn="l">
              <a:spcBef>
                <a:spcPts val="0"/>
              </a:spcBef>
              <a:spcAft>
                <a:spcPts val="0"/>
              </a:spcAft>
              <a:buNone/>
            </a:pPr>
            <a:r>
              <a:rPr lang="en-US" sz="1350" b="0" dirty="0">
                <a:solidFill>
                  <a:srgbClr val="34D399"/>
                </a:solidFill>
                <a:latin typeface="Segoe UI"/>
                <a:ea typeface="Segoe UI"/>
                <a:cs typeface="Segoe UI"/>
              </a:rPr>
              <a:t>▢  </a:t>
            </a:r>
            <a:r>
              <a:rPr lang="en-US" sz="1350" b="1" dirty="0">
                <a:solidFill>
                  <a:srgbClr val="FFFFFF"/>
                </a:solidFill>
                <a:latin typeface="Segoe UI"/>
                <a:ea typeface="Segoe UI"/>
                <a:cs typeface="Segoe UI"/>
              </a:rPr>
              <a:t>Unit + integration tests</a:t>
            </a:r>
            <a:endParaRPr lang="en-US" sz="1350" dirty="0"/>
          </a:p>
        </p:txBody>
      </p:sp>
      <p:sp>
        <p:nvSpPr>
          <p:cNvPr id="111" name="s111"/>
          <p:cNvSpPr/>
          <p:nvPr/>
        </p:nvSpPr>
        <p:spPr>
          <a:xfrm>
            <a:off x="4315358" y="3511296"/>
            <a:ext cx="3543605" cy="603504"/>
          </a:xfrm>
          <a:prstGeom prst="roundRect">
            <a:avLst>
              <a:gd name="adj" fmla="val 15000"/>
            </a:avLst>
          </a:prstGeom>
          <a:solidFill>
            <a:srgbClr val="111B2E"/>
          </a:solidFill>
          <a:ln w="12700">
            <a:solidFill>
              <a:srgbClr val="34D399">
                <a:alpha val="80000"/>
              </a:srgbClr>
            </a:solidFill>
            <a:prstDash val="solid"/>
          </a:ln>
        </p:spPr>
        <p:txBody>
          <a:bodyPr wrap="square" lIns="201168" tIns="0" rIns="91440" bIns="0" rtlCol="0" anchor="ctr">
            <a:noAutofit/>
          </a:bodyPr>
          <a:lstStyle/>
          <a:p>
            <a:pPr marL="0" indent="0" algn="l">
              <a:spcBef>
                <a:spcPts val="0"/>
              </a:spcBef>
              <a:spcAft>
                <a:spcPts val="0"/>
              </a:spcAft>
              <a:buNone/>
            </a:pPr>
            <a:r>
              <a:rPr lang="en-US" sz="1350" b="0" dirty="0">
                <a:solidFill>
                  <a:srgbClr val="34D399"/>
                </a:solidFill>
                <a:latin typeface="Segoe UI"/>
                <a:ea typeface="Segoe UI"/>
                <a:cs typeface="Segoe UI"/>
              </a:rPr>
              <a:t>▢  </a:t>
            </a:r>
            <a:r>
              <a:rPr lang="en-US" sz="1350" b="1" dirty="0">
                <a:solidFill>
                  <a:srgbClr val="FFFFFF"/>
                </a:solidFill>
                <a:latin typeface="Segoe UI"/>
                <a:ea typeface="Segoe UI"/>
                <a:cs typeface="Segoe UI"/>
              </a:rPr>
              <a:t>End-to-end test</a:t>
            </a:r>
            <a:endParaRPr lang="en-US" sz="1350" dirty="0"/>
          </a:p>
        </p:txBody>
      </p:sp>
      <p:sp>
        <p:nvSpPr>
          <p:cNvPr id="112" name="s112"/>
          <p:cNvSpPr/>
          <p:nvPr/>
        </p:nvSpPr>
        <p:spPr>
          <a:xfrm>
            <a:off x="8087563" y="3511296"/>
            <a:ext cx="3543605" cy="603504"/>
          </a:xfrm>
          <a:prstGeom prst="roundRect">
            <a:avLst>
              <a:gd name="adj" fmla="val 15000"/>
            </a:avLst>
          </a:prstGeom>
          <a:solidFill>
            <a:srgbClr val="111B2E"/>
          </a:solidFill>
          <a:ln w="12700">
            <a:solidFill>
              <a:srgbClr val="34D399">
                <a:alpha val="80000"/>
              </a:srgbClr>
            </a:solidFill>
            <a:prstDash val="solid"/>
          </a:ln>
        </p:spPr>
        <p:txBody>
          <a:bodyPr wrap="square" lIns="201168" tIns="0" rIns="91440" bIns="0" rtlCol="0" anchor="ctr">
            <a:noAutofit/>
          </a:bodyPr>
          <a:lstStyle/>
          <a:p>
            <a:pPr marL="0" indent="0" algn="l">
              <a:spcBef>
                <a:spcPts val="0"/>
              </a:spcBef>
              <a:spcAft>
                <a:spcPts val="0"/>
              </a:spcAft>
              <a:buNone/>
            </a:pPr>
            <a:r>
              <a:rPr lang="en-US" sz="1350" b="0" dirty="0">
                <a:solidFill>
                  <a:srgbClr val="34D399"/>
                </a:solidFill>
                <a:latin typeface="Segoe UI"/>
                <a:ea typeface="Segoe UI"/>
                <a:cs typeface="Segoe UI"/>
              </a:rPr>
              <a:t>▢  </a:t>
            </a:r>
            <a:r>
              <a:rPr lang="en-US" sz="1350" b="1" dirty="0">
                <a:solidFill>
                  <a:srgbClr val="FFFFFF"/>
                </a:solidFill>
                <a:latin typeface="Segoe UI"/>
                <a:ea typeface="Segoe UI"/>
                <a:cs typeface="Segoe UI"/>
              </a:rPr>
              <a:t>QA testing</a:t>
            </a:r>
            <a:endParaRPr lang="en-US" sz="1350" dirty="0"/>
          </a:p>
        </p:txBody>
      </p:sp>
      <p:sp>
        <p:nvSpPr>
          <p:cNvPr id="113" name="s113"/>
          <p:cNvSpPr/>
          <p:nvPr/>
        </p:nvSpPr>
        <p:spPr>
          <a:xfrm>
            <a:off x="543154" y="4261104"/>
            <a:ext cx="3543605" cy="603504"/>
          </a:xfrm>
          <a:prstGeom prst="roundRect">
            <a:avLst>
              <a:gd name="adj" fmla="val 15000"/>
            </a:avLst>
          </a:prstGeom>
          <a:solidFill>
            <a:srgbClr val="111B2E"/>
          </a:solidFill>
          <a:ln w="12700">
            <a:solidFill>
              <a:srgbClr val="A78BFA">
                <a:alpha val="80000"/>
              </a:srgbClr>
            </a:solidFill>
            <a:prstDash val="solid"/>
          </a:ln>
        </p:spPr>
        <p:txBody>
          <a:bodyPr wrap="square" lIns="201168" tIns="0" rIns="91440" bIns="0" rtlCol="0" anchor="ctr">
            <a:noAutofit/>
          </a:bodyPr>
          <a:lstStyle/>
          <a:p>
            <a:pPr marL="0" indent="0" algn="l">
              <a:spcBef>
                <a:spcPts val="0"/>
              </a:spcBef>
              <a:spcAft>
                <a:spcPts val="0"/>
              </a:spcAft>
              <a:buNone/>
            </a:pPr>
            <a:r>
              <a:rPr lang="en-US" sz="1350" b="0" dirty="0">
                <a:solidFill>
                  <a:srgbClr val="A78BFA"/>
                </a:solidFill>
                <a:latin typeface="Segoe UI"/>
                <a:ea typeface="Segoe UI"/>
                <a:cs typeface="Segoe UI"/>
              </a:rPr>
              <a:t>▢  </a:t>
            </a:r>
            <a:r>
              <a:rPr lang="en-US" sz="1350" b="1" dirty="0">
                <a:solidFill>
                  <a:srgbClr val="FFFFFF"/>
                </a:solidFill>
                <a:latin typeface="Segoe UI"/>
                <a:ea typeface="Segoe UI"/>
                <a:cs typeface="Segoe UI"/>
              </a:rPr>
              <a:t>Deployment config</a:t>
            </a:r>
            <a:endParaRPr lang="en-US" sz="1350" dirty="0"/>
          </a:p>
        </p:txBody>
      </p:sp>
      <p:sp>
        <p:nvSpPr>
          <p:cNvPr id="114" name="s114"/>
          <p:cNvSpPr txBox="1"/>
          <p:nvPr/>
        </p:nvSpPr>
        <p:spPr>
          <a:xfrm>
            <a:off x="4315358" y="4261104"/>
            <a:ext cx="7315810" cy="603504"/>
          </a:xfrm>
          <a:prstGeom prst="rect">
            <a:avLst/>
          </a:prstGeom>
          <a:noFill/>
          <a:ln>
            <a:noFill/>
          </a:ln>
        </p:spPr>
        <p:txBody>
          <a:bodyPr wrap="square" lIns="274320" tIns="0" rIns="0" bIns="0" rtlCol="0" anchor="ctr">
            <a:noAutofit/>
          </a:bodyPr>
          <a:lstStyle/>
          <a:p>
            <a:pPr marL="0" indent="0" algn="l">
              <a:spcBef>
                <a:spcPts val="0"/>
              </a:spcBef>
              <a:spcAft>
                <a:spcPts val="0"/>
              </a:spcAft>
              <a:buNone/>
            </a:pPr>
            <a:r>
              <a:rPr lang="en-US" sz="1150" b="0" dirty="0">
                <a:solidFill>
                  <a:srgbClr val="13D0F7"/>
                </a:solidFill>
                <a:latin typeface="Segoe UI"/>
                <a:ea typeface="Segoe UI"/>
                <a:cs typeface="Segoe UI"/>
              </a:rPr>
              <a:t>■ </a:t>
            </a:r>
            <a:r>
              <a:rPr lang="en-US" sz="1150" b="0" dirty="0">
                <a:solidFill>
                  <a:srgbClr val="94A3B8"/>
                </a:solidFill>
                <a:latin typeface="Segoe UI"/>
                <a:ea typeface="Segoe UI"/>
                <a:cs typeface="Segoe UI"/>
              </a:rPr>
              <a:t>backend   </a:t>
            </a:r>
            <a:r>
              <a:rPr lang="en-US" sz="1150" b="0" dirty="0">
                <a:solidFill>
                  <a:srgbClr val="F472B6"/>
                </a:solidFill>
                <a:latin typeface="Segoe UI"/>
                <a:ea typeface="Segoe UI"/>
                <a:cs typeface="Segoe UI"/>
              </a:rPr>
              <a:t>■ </a:t>
            </a:r>
            <a:r>
              <a:rPr lang="en-US" sz="1150" b="0" dirty="0">
                <a:solidFill>
                  <a:srgbClr val="94A3B8"/>
                </a:solidFill>
                <a:latin typeface="Segoe UI"/>
                <a:ea typeface="Segoe UI"/>
                <a:cs typeface="Segoe UI"/>
              </a:rPr>
              <a:t>frontend   </a:t>
            </a:r>
            <a:r>
              <a:rPr lang="en-US" sz="1150" b="0" dirty="0">
                <a:solidFill>
                  <a:srgbClr val="34D399"/>
                </a:solidFill>
                <a:latin typeface="Segoe UI"/>
                <a:ea typeface="Segoe UI"/>
                <a:cs typeface="Segoe UI"/>
              </a:rPr>
              <a:t>■ </a:t>
            </a:r>
            <a:r>
              <a:rPr lang="en-US" sz="1150" b="0" dirty="0">
                <a:solidFill>
                  <a:srgbClr val="94A3B8"/>
                </a:solidFill>
                <a:latin typeface="Segoe UI"/>
                <a:ea typeface="Segoe UI"/>
                <a:cs typeface="Segoe UI"/>
              </a:rPr>
              <a:t>quality   </a:t>
            </a:r>
            <a:r>
              <a:rPr lang="en-US" sz="1150" b="0" dirty="0">
                <a:solidFill>
                  <a:srgbClr val="F87171"/>
                </a:solidFill>
                <a:latin typeface="Segoe UI"/>
                <a:ea typeface="Segoe UI"/>
                <a:cs typeface="Segoe UI"/>
              </a:rPr>
              <a:t>■ </a:t>
            </a:r>
            <a:r>
              <a:rPr lang="en-US" sz="1150" b="0" dirty="0">
                <a:solidFill>
                  <a:srgbClr val="94A3B8"/>
                </a:solidFill>
                <a:latin typeface="Segoe UI"/>
                <a:ea typeface="Segoe UI"/>
                <a:cs typeface="Segoe UI"/>
              </a:rPr>
              <a:t>risk</a:t>
            </a:r>
            <a:endParaRPr lang="en-US" sz="1150" dirty="0"/>
          </a:p>
        </p:txBody>
      </p:sp>
      <p:sp>
        <p:nvSpPr>
          <p:cNvPr id="115" name="s115"/>
          <p:cNvSpPr/>
          <p:nvPr/>
        </p:nvSpPr>
        <p:spPr>
          <a:xfrm>
            <a:off x="543154" y="5257800"/>
            <a:ext cx="11088014" cy="548640"/>
          </a:xfrm>
          <a:prstGeom prst="roundRect">
            <a:avLst>
              <a:gd name="adj" fmla="val 12000"/>
            </a:avLst>
          </a:prstGeom>
          <a:solidFill>
            <a:srgbClr val="111B2E"/>
          </a:solidFill>
          <a:ln w="12700">
            <a:solidFill>
              <a:srgbClr val="60A5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Owned by the Developers. </a:t>
            </a:r>
            <a:r>
              <a:rPr lang="en-US" sz="1300" b="0" dirty="0">
                <a:solidFill>
                  <a:srgbClr val="E2E8F0"/>
                </a:solidFill>
                <a:latin typeface="Segoe UI"/>
                <a:ea typeface="Segoe UI"/>
                <a:cs typeface="Segoe UI"/>
              </a:rPr>
              <a:t>New tasks appear as the team learns; that is expected, not failure.</a:t>
            </a:r>
            <a:endParaRPr lang="en-US" sz="1300" dirty="0"/>
          </a:p>
        </p:txBody>
      </p:sp>
    </p:spTree>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cBhvr additive="base">
                                        <p:cTn id="7" dur="38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8" dur="380" decel="100000" fill="hold"/>
                                        <p:tgtEl>
                                          <p:spTgt spid="104"/>
                                        </p:tgtEl>
                                        <p:attrNameLst>
                                          <p:attrName>ppt_h</p:attrName>
                                        </p:attrNameLst>
                                      </p:cBhvr>
                                      <p:tavLst>
                                        <p:tav tm="0">
                                          <p:val>
                                            <p:strVal val="#ppt_h*0.3"/>
                                          </p:val>
                                        </p:tav>
                                        <p:tav tm="100000">
                                          <p:val>
                                            <p:strVal val="#ppt_h*1.08"/>
                                          </p:val>
                                        </p:tav>
                                      </p:tavLst>
                                    </p:anim>
                                    <p:animEffect transition="in" filter="fade">
                                      <p:cBhvr>
                                        <p:cTn id="9" dur="190"/>
                                        <p:tgtEl>
                                          <p:spTgt spid="104"/>
                                        </p:tgtEl>
                                      </p:cBhvr>
                                    </p:animEffect>
                                    <p:anim calcmode="lin" valueType="num">
                                      <p:cBhvr additive="base">
                                        <p:cTn id="10" dur="160" fill="hold">
                                          <p:stCondLst>
                                            <p:cond delay="380"/>
                                          </p:stCondLst>
                                        </p:cTn>
                                        <p:tgtEl>
                                          <p:spTgt spid="104"/>
                                        </p:tgtEl>
                                        <p:attrNameLst>
                                          <p:attrName>ppt_w</p:attrName>
                                        </p:attrNameLst>
                                      </p:cBhvr>
                                      <p:tavLst>
                                        <p:tav tm="0">
                                          <p:val>
                                            <p:strVal val="#ppt_w*1.08"/>
                                          </p:val>
                                        </p:tav>
                                        <p:tav tm="100000">
                                          <p:val>
                                            <p:strVal val="#ppt_w"/>
                                          </p:val>
                                        </p:tav>
                                      </p:tavLst>
                                    </p:anim>
                                    <p:anim calcmode="lin" valueType="num">
                                      <p:cBhvr additive="base">
                                        <p:cTn id="11" dur="160" fill="hold">
                                          <p:stCondLst>
                                            <p:cond delay="380"/>
                                          </p:stCondLst>
                                        </p:cTn>
                                        <p:tgtEl>
                                          <p:spTgt spid="104"/>
                                        </p:tgtEl>
                                        <p:attrNameLst>
                                          <p:attrName>ppt_h</p:attrName>
                                        </p:attrNameLst>
                                      </p:cBhvr>
                                      <p:tavLst>
                                        <p:tav tm="0">
                                          <p:val>
                                            <p:strVal val="#ppt_h*1.08"/>
                                          </p:val>
                                        </p:tav>
                                        <p:tav tm="100000">
                                          <p:val>
                                            <p:strVal val="#ppt_h"/>
                                          </p:val>
                                        </p:tav>
                                      </p:tavLst>
                                    </p:anim>
                                  </p:childTnLst>
                                </p:cTn>
                              </p:par>
                              <p:par>
                                <p:cTn id="12" presetID="53" presetClass="entr" presetSubtype="16" fill="hold" grpId="0" nodeType="withEffect">
                                  <p:stCondLst>
                                    <p:cond delay="80"/>
                                  </p:stCondLst>
                                  <p:childTnLst>
                                    <p:set>
                                      <p:cBhvr>
                                        <p:cTn id="13" dur="1" fill="hold">
                                          <p:stCondLst>
                                            <p:cond delay="0"/>
                                          </p:stCondLst>
                                        </p:cTn>
                                        <p:tgtEl>
                                          <p:spTgt spid="105"/>
                                        </p:tgtEl>
                                        <p:attrNameLst>
                                          <p:attrName>style.visibility</p:attrName>
                                        </p:attrNameLst>
                                      </p:cBhvr>
                                      <p:to>
                                        <p:strVal val="visible"/>
                                      </p:to>
                                    </p:set>
                                    <p:anim calcmode="lin" valueType="num">
                                      <p:cBhvr additive="base">
                                        <p:cTn id="14" dur="380" decel="100000" fill="hold"/>
                                        <p:tgtEl>
                                          <p:spTgt spid="105"/>
                                        </p:tgtEl>
                                        <p:attrNameLst>
                                          <p:attrName>ppt_w</p:attrName>
                                        </p:attrNameLst>
                                      </p:cBhvr>
                                      <p:tavLst>
                                        <p:tav tm="0">
                                          <p:val>
                                            <p:strVal val="#ppt_w*0.3"/>
                                          </p:val>
                                        </p:tav>
                                        <p:tav tm="100000">
                                          <p:val>
                                            <p:strVal val="#ppt_w*1.08"/>
                                          </p:val>
                                        </p:tav>
                                      </p:tavLst>
                                    </p:anim>
                                    <p:anim calcmode="lin" valueType="num">
                                      <p:cBhvr additive="base">
                                        <p:cTn id="15" dur="380" decel="100000" fill="hold"/>
                                        <p:tgtEl>
                                          <p:spTgt spid="105"/>
                                        </p:tgtEl>
                                        <p:attrNameLst>
                                          <p:attrName>ppt_h</p:attrName>
                                        </p:attrNameLst>
                                      </p:cBhvr>
                                      <p:tavLst>
                                        <p:tav tm="0">
                                          <p:val>
                                            <p:strVal val="#ppt_h*0.3"/>
                                          </p:val>
                                        </p:tav>
                                        <p:tav tm="100000">
                                          <p:val>
                                            <p:strVal val="#ppt_h*1.08"/>
                                          </p:val>
                                        </p:tav>
                                      </p:tavLst>
                                    </p:anim>
                                    <p:animEffect transition="in" filter="fade">
                                      <p:cBhvr>
                                        <p:cTn id="16" dur="190"/>
                                        <p:tgtEl>
                                          <p:spTgt spid="105"/>
                                        </p:tgtEl>
                                      </p:cBhvr>
                                    </p:animEffect>
                                    <p:anim calcmode="lin" valueType="num">
                                      <p:cBhvr additive="base">
                                        <p:cTn id="17" dur="160" fill="hold">
                                          <p:stCondLst>
                                            <p:cond delay="380"/>
                                          </p:stCondLst>
                                        </p:cTn>
                                        <p:tgtEl>
                                          <p:spTgt spid="105"/>
                                        </p:tgtEl>
                                        <p:attrNameLst>
                                          <p:attrName>ppt_w</p:attrName>
                                        </p:attrNameLst>
                                      </p:cBhvr>
                                      <p:tavLst>
                                        <p:tav tm="0">
                                          <p:val>
                                            <p:strVal val="#ppt_w*1.08"/>
                                          </p:val>
                                        </p:tav>
                                        <p:tav tm="100000">
                                          <p:val>
                                            <p:strVal val="#ppt_w"/>
                                          </p:val>
                                        </p:tav>
                                      </p:tavLst>
                                    </p:anim>
                                    <p:anim calcmode="lin" valueType="num">
                                      <p:cBhvr additive="base">
                                        <p:cTn id="18" dur="160" fill="hold">
                                          <p:stCondLst>
                                            <p:cond delay="380"/>
                                          </p:stCondLst>
                                        </p:cTn>
                                        <p:tgtEl>
                                          <p:spTgt spid="105"/>
                                        </p:tgtEl>
                                        <p:attrNameLst>
                                          <p:attrName>ppt_h</p:attrName>
                                        </p:attrNameLst>
                                      </p:cBhvr>
                                      <p:tavLst>
                                        <p:tav tm="0">
                                          <p:val>
                                            <p:strVal val="#ppt_h*1.08"/>
                                          </p:val>
                                        </p:tav>
                                        <p:tav tm="100000">
                                          <p:val>
                                            <p:strVal val="#ppt_h"/>
                                          </p:val>
                                        </p:tav>
                                      </p:tavLst>
                                    </p:anim>
                                  </p:childTnLst>
                                </p:cTn>
                              </p:par>
                              <p:par>
                                <p:cTn id="19" presetID="53" presetClass="entr" presetSubtype="16" fill="hold" grpId="0" nodeType="withEffect">
                                  <p:stCondLst>
                                    <p:cond delay="160"/>
                                  </p:stCondLst>
                                  <p:childTnLst>
                                    <p:set>
                                      <p:cBhvr>
                                        <p:cTn id="20" dur="1" fill="hold">
                                          <p:stCondLst>
                                            <p:cond delay="0"/>
                                          </p:stCondLst>
                                        </p:cTn>
                                        <p:tgtEl>
                                          <p:spTgt spid="106"/>
                                        </p:tgtEl>
                                        <p:attrNameLst>
                                          <p:attrName>style.visibility</p:attrName>
                                        </p:attrNameLst>
                                      </p:cBhvr>
                                      <p:to>
                                        <p:strVal val="visible"/>
                                      </p:to>
                                    </p:set>
                                    <p:anim calcmode="lin" valueType="num">
                                      <p:cBhvr additive="base">
                                        <p:cTn id="21" dur="38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22" dur="380" decel="100000" fill="hold"/>
                                        <p:tgtEl>
                                          <p:spTgt spid="106"/>
                                        </p:tgtEl>
                                        <p:attrNameLst>
                                          <p:attrName>ppt_h</p:attrName>
                                        </p:attrNameLst>
                                      </p:cBhvr>
                                      <p:tavLst>
                                        <p:tav tm="0">
                                          <p:val>
                                            <p:strVal val="#ppt_h*0.3"/>
                                          </p:val>
                                        </p:tav>
                                        <p:tav tm="100000">
                                          <p:val>
                                            <p:strVal val="#ppt_h*1.08"/>
                                          </p:val>
                                        </p:tav>
                                      </p:tavLst>
                                    </p:anim>
                                    <p:animEffect transition="in" filter="fade">
                                      <p:cBhvr>
                                        <p:cTn id="23" dur="190"/>
                                        <p:tgtEl>
                                          <p:spTgt spid="106"/>
                                        </p:tgtEl>
                                      </p:cBhvr>
                                    </p:animEffect>
                                    <p:anim calcmode="lin" valueType="num">
                                      <p:cBhvr additive="base">
                                        <p:cTn id="24" dur="160" fill="hold">
                                          <p:stCondLst>
                                            <p:cond delay="380"/>
                                          </p:stCondLst>
                                        </p:cTn>
                                        <p:tgtEl>
                                          <p:spTgt spid="106"/>
                                        </p:tgtEl>
                                        <p:attrNameLst>
                                          <p:attrName>ppt_w</p:attrName>
                                        </p:attrNameLst>
                                      </p:cBhvr>
                                      <p:tavLst>
                                        <p:tav tm="0">
                                          <p:val>
                                            <p:strVal val="#ppt_w*1.08"/>
                                          </p:val>
                                        </p:tav>
                                        <p:tav tm="100000">
                                          <p:val>
                                            <p:strVal val="#ppt_w"/>
                                          </p:val>
                                        </p:tav>
                                      </p:tavLst>
                                    </p:anim>
                                    <p:anim calcmode="lin" valueType="num">
                                      <p:cBhvr additive="base">
                                        <p:cTn id="25" dur="160" fill="hold">
                                          <p:stCondLst>
                                            <p:cond delay="380"/>
                                          </p:stCondLst>
                                        </p:cTn>
                                        <p:tgtEl>
                                          <p:spTgt spid="106"/>
                                        </p:tgtEl>
                                        <p:attrNameLst>
                                          <p:attrName>ppt_h</p:attrName>
                                        </p:attrNameLst>
                                      </p:cBhvr>
                                      <p:tavLst>
                                        <p:tav tm="0">
                                          <p:val>
                                            <p:strVal val="#ppt_h*1.08"/>
                                          </p:val>
                                        </p:tav>
                                        <p:tav tm="100000">
                                          <p:val>
                                            <p:strVal val="#ppt_h"/>
                                          </p:val>
                                        </p:tav>
                                      </p:tavLst>
                                    </p:anim>
                                  </p:childTnLst>
                                </p:cTn>
                              </p:par>
                              <p:par>
                                <p:cTn id="26" presetID="53" presetClass="entr" presetSubtype="16" fill="hold" grpId="0" nodeType="withEffect">
                                  <p:stCondLst>
                                    <p:cond delay="240"/>
                                  </p:stCondLst>
                                  <p:childTnLst>
                                    <p:set>
                                      <p:cBhvr>
                                        <p:cTn id="27" dur="1" fill="hold">
                                          <p:stCondLst>
                                            <p:cond delay="0"/>
                                          </p:stCondLst>
                                        </p:cTn>
                                        <p:tgtEl>
                                          <p:spTgt spid="107"/>
                                        </p:tgtEl>
                                        <p:attrNameLst>
                                          <p:attrName>style.visibility</p:attrName>
                                        </p:attrNameLst>
                                      </p:cBhvr>
                                      <p:to>
                                        <p:strVal val="visible"/>
                                      </p:to>
                                    </p:set>
                                    <p:anim calcmode="lin" valueType="num">
                                      <p:cBhvr additive="base">
                                        <p:cTn id="28" dur="38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29" dur="380" decel="100000" fill="hold"/>
                                        <p:tgtEl>
                                          <p:spTgt spid="107"/>
                                        </p:tgtEl>
                                        <p:attrNameLst>
                                          <p:attrName>ppt_h</p:attrName>
                                        </p:attrNameLst>
                                      </p:cBhvr>
                                      <p:tavLst>
                                        <p:tav tm="0">
                                          <p:val>
                                            <p:strVal val="#ppt_h*0.3"/>
                                          </p:val>
                                        </p:tav>
                                        <p:tav tm="100000">
                                          <p:val>
                                            <p:strVal val="#ppt_h*1.08"/>
                                          </p:val>
                                        </p:tav>
                                      </p:tavLst>
                                    </p:anim>
                                    <p:animEffect transition="in" filter="fade">
                                      <p:cBhvr>
                                        <p:cTn id="30" dur="190"/>
                                        <p:tgtEl>
                                          <p:spTgt spid="107"/>
                                        </p:tgtEl>
                                      </p:cBhvr>
                                    </p:animEffect>
                                    <p:anim calcmode="lin" valueType="num">
                                      <p:cBhvr additive="base">
                                        <p:cTn id="31" dur="160" fill="hold">
                                          <p:stCondLst>
                                            <p:cond delay="380"/>
                                          </p:stCondLst>
                                        </p:cTn>
                                        <p:tgtEl>
                                          <p:spTgt spid="107"/>
                                        </p:tgtEl>
                                        <p:attrNameLst>
                                          <p:attrName>ppt_w</p:attrName>
                                        </p:attrNameLst>
                                      </p:cBhvr>
                                      <p:tavLst>
                                        <p:tav tm="0">
                                          <p:val>
                                            <p:strVal val="#ppt_w*1.08"/>
                                          </p:val>
                                        </p:tav>
                                        <p:tav tm="100000">
                                          <p:val>
                                            <p:strVal val="#ppt_w"/>
                                          </p:val>
                                        </p:tav>
                                      </p:tavLst>
                                    </p:anim>
                                    <p:anim calcmode="lin" valueType="num">
                                      <p:cBhvr additive="base">
                                        <p:cTn id="32" dur="160" fill="hold">
                                          <p:stCondLst>
                                            <p:cond delay="380"/>
                                          </p:stCondLst>
                                        </p:cTn>
                                        <p:tgtEl>
                                          <p:spTgt spid="107"/>
                                        </p:tgtEl>
                                        <p:attrNameLst>
                                          <p:attrName>ppt_h</p:attrName>
                                        </p:attrNameLst>
                                      </p:cBhvr>
                                      <p:tavLst>
                                        <p:tav tm="0">
                                          <p:val>
                                            <p:strVal val="#ppt_h*1.08"/>
                                          </p:val>
                                        </p:tav>
                                        <p:tav tm="100000">
                                          <p:val>
                                            <p:strVal val="#ppt_h"/>
                                          </p:val>
                                        </p:tav>
                                      </p:tavLst>
                                    </p:anim>
                                  </p:childTnLst>
                                </p:cTn>
                              </p:par>
                              <p:par>
                                <p:cTn id="33" presetID="53" presetClass="entr" presetSubtype="16" fill="hold" grpId="0" nodeType="withEffect">
                                  <p:stCondLst>
                                    <p:cond delay="320"/>
                                  </p:stCondLst>
                                  <p:childTnLst>
                                    <p:set>
                                      <p:cBhvr>
                                        <p:cTn id="34" dur="1" fill="hold">
                                          <p:stCondLst>
                                            <p:cond delay="0"/>
                                          </p:stCondLst>
                                        </p:cTn>
                                        <p:tgtEl>
                                          <p:spTgt spid="108"/>
                                        </p:tgtEl>
                                        <p:attrNameLst>
                                          <p:attrName>style.visibility</p:attrName>
                                        </p:attrNameLst>
                                      </p:cBhvr>
                                      <p:to>
                                        <p:strVal val="visible"/>
                                      </p:to>
                                    </p:set>
                                    <p:anim calcmode="lin" valueType="num">
                                      <p:cBhvr additive="base">
                                        <p:cTn id="35" dur="38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36" dur="380" decel="100000" fill="hold"/>
                                        <p:tgtEl>
                                          <p:spTgt spid="108"/>
                                        </p:tgtEl>
                                        <p:attrNameLst>
                                          <p:attrName>ppt_h</p:attrName>
                                        </p:attrNameLst>
                                      </p:cBhvr>
                                      <p:tavLst>
                                        <p:tav tm="0">
                                          <p:val>
                                            <p:strVal val="#ppt_h*0.3"/>
                                          </p:val>
                                        </p:tav>
                                        <p:tav tm="100000">
                                          <p:val>
                                            <p:strVal val="#ppt_h*1.08"/>
                                          </p:val>
                                        </p:tav>
                                      </p:tavLst>
                                    </p:anim>
                                    <p:animEffect transition="in" filter="fade">
                                      <p:cBhvr>
                                        <p:cTn id="37" dur="190"/>
                                        <p:tgtEl>
                                          <p:spTgt spid="108"/>
                                        </p:tgtEl>
                                      </p:cBhvr>
                                    </p:animEffect>
                                    <p:anim calcmode="lin" valueType="num">
                                      <p:cBhvr additive="base">
                                        <p:cTn id="38" dur="160" fill="hold">
                                          <p:stCondLst>
                                            <p:cond delay="380"/>
                                          </p:stCondLst>
                                        </p:cTn>
                                        <p:tgtEl>
                                          <p:spTgt spid="108"/>
                                        </p:tgtEl>
                                        <p:attrNameLst>
                                          <p:attrName>ppt_w</p:attrName>
                                        </p:attrNameLst>
                                      </p:cBhvr>
                                      <p:tavLst>
                                        <p:tav tm="0">
                                          <p:val>
                                            <p:strVal val="#ppt_w*1.08"/>
                                          </p:val>
                                        </p:tav>
                                        <p:tav tm="100000">
                                          <p:val>
                                            <p:strVal val="#ppt_w"/>
                                          </p:val>
                                        </p:tav>
                                      </p:tavLst>
                                    </p:anim>
                                    <p:anim calcmode="lin" valueType="num">
                                      <p:cBhvr additive="base">
                                        <p:cTn id="39" dur="160" fill="hold">
                                          <p:stCondLst>
                                            <p:cond delay="380"/>
                                          </p:stCondLst>
                                        </p:cTn>
                                        <p:tgtEl>
                                          <p:spTgt spid="108"/>
                                        </p:tgtEl>
                                        <p:attrNameLst>
                                          <p:attrName>ppt_h</p:attrName>
                                        </p:attrNameLst>
                                      </p:cBhvr>
                                      <p:tavLst>
                                        <p:tav tm="0">
                                          <p:val>
                                            <p:strVal val="#ppt_h*1.08"/>
                                          </p:val>
                                        </p:tav>
                                        <p:tav tm="100000">
                                          <p:val>
                                            <p:strVal val="#ppt_h"/>
                                          </p:val>
                                        </p:tav>
                                      </p:tavLst>
                                    </p:anim>
                                  </p:childTnLst>
                                </p:cTn>
                              </p:par>
                              <p:par>
                                <p:cTn id="40" presetID="53" presetClass="entr" presetSubtype="16" fill="hold" grpId="0" nodeType="withEffect">
                                  <p:stCondLst>
                                    <p:cond delay="400"/>
                                  </p:stCondLst>
                                  <p:childTnLst>
                                    <p:set>
                                      <p:cBhvr>
                                        <p:cTn id="41" dur="1" fill="hold">
                                          <p:stCondLst>
                                            <p:cond delay="0"/>
                                          </p:stCondLst>
                                        </p:cTn>
                                        <p:tgtEl>
                                          <p:spTgt spid="109"/>
                                        </p:tgtEl>
                                        <p:attrNameLst>
                                          <p:attrName>style.visibility</p:attrName>
                                        </p:attrNameLst>
                                      </p:cBhvr>
                                      <p:to>
                                        <p:strVal val="visible"/>
                                      </p:to>
                                    </p:set>
                                    <p:anim calcmode="lin" valueType="num">
                                      <p:cBhvr additive="base">
                                        <p:cTn id="42" dur="38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43" dur="380" decel="100000" fill="hold"/>
                                        <p:tgtEl>
                                          <p:spTgt spid="109"/>
                                        </p:tgtEl>
                                        <p:attrNameLst>
                                          <p:attrName>ppt_h</p:attrName>
                                        </p:attrNameLst>
                                      </p:cBhvr>
                                      <p:tavLst>
                                        <p:tav tm="0">
                                          <p:val>
                                            <p:strVal val="#ppt_h*0.3"/>
                                          </p:val>
                                        </p:tav>
                                        <p:tav tm="100000">
                                          <p:val>
                                            <p:strVal val="#ppt_h*1.08"/>
                                          </p:val>
                                        </p:tav>
                                      </p:tavLst>
                                    </p:anim>
                                    <p:animEffect transition="in" filter="fade">
                                      <p:cBhvr>
                                        <p:cTn id="44" dur="190"/>
                                        <p:tgtEl>
                                          <p:spTgt spid="109"/>
                                        </p:tgtEl>
                                      </p:cBhvr>
                                    </p:animEffect>
                                    <p:anim calcmode="lin" valueType="num">
                                      <p:cBhvr additive="base">
                                        <p:cTn id="45" dur="160" fill="hold">
                                          <p:stCondLst>
                                            <p:cond delay="380"/>
                                          </p:stCondLst>
                                        </p:cTn>
                                        <p:tgtEl>
                                          <p:spTgt spid="109"/>
                                        </p:tgtEl>
                                        <p:attrNameLst>
                                          <p:attrName>ppt_w</p:attrName>
                                        </p:attrNameLst>
                                      </p:cBhvr>
                                      <p:tavLst>
                                        <p:tav tm="0">
                                          <p:val>
                                            <p:strVal val="#ppt_w*1.08"/>
                                          </p:val>
                                        </p:tav>
                                        <p:tav tm="100000">
                                          <p:val>
                                            <p:strVal val="#ppt_w"/>
                                          </p:val>
                                        </p:tav>
                                      </p:tavLst>
                                    </p:anim>
                                    <p:anim calcmode="lin" valueType="num">
                                      <p:cBhvr additive="base">
                                        <p:cTn id="46" dur="160" fill="hold">
                                          <p:stCondLst>
                                            <p:cond delay="380"/>
                                          </p:stCondLst>
                                        </p:cTn>
                                        <p:tgtEl>
                                          <p:spTgt spid="109"/>
                                        </p:tgtEl>
                                        <p:attrNameLst>
                                          <p:attrName>ppt_h</p:attrName>
                                        </p:attrNameLst>
                                      </p:cBhvr>
                                      <p:tavLst>
                                        <p:tav tm="0">
                                          <p:val>
                                            <p:strVal val="#ppt_h*1.08"/>
                                          </p:val>
                                        </p:tav>
                                        <p:tav tm="100000">
                                          <p:val>
                                            <p:strVal val="#ppt_h"/>
                                          </p:val>
                                        </p:tav>
                                      </p:tavLst>
                                    </p:anim>
                                  </p:childTnLst>
                                </p:cTn>
                              </p:par>
                              <p:par>
                                <p:cTn id="47" presetID="53" presetClass="entr" presetSubtype="16" fill="hold" grpId="0" nodeType="withEffect">
                                  <p:stCondLst>
                                    <p:cond delay="480"/>
                                  </p:stCondLst>
                                  <p:childTnLst>
                                    <p:set>
                                      <p:cBhvr>
                                        <p:cTn id="48" dur="1" fill="hold">
                                          <p:stCondLst>
                                            <p:cond delay="0"/>
                                          </p:stCondLst>
                                        </p:cTn>
                                        <p:tgtEl>
                                          <p:spTgt spid="110"/>
                                        </p:tgtEl>
                                        <p:attrNameLst>
                                          <p:attrName>style.visibility</p:attrName>
                                        </p:attrNameLst>
                                      </p:cBhvr>
                                      <p:to>
                                        <p:strVal val="visible"/>
                                      </p:to>
                                    </p:set>
                                    <p:anim calcmode="lin" valueType="num">
                                      <p:cBhvr additive="base">
                                        <p:cTn id="49" dur="380" decel="100000" fill="hold"/>
                                        <p:tgtEl>
                                          <p:spTgt spid="110"/>
                                        </p:tgtEl>
                                        <p:attrNameLst>
                                          <p:attrName>ppt_w</p:attrName>
                                        </p:attrNameLst>
                                      </p:cBhvr>
                                      <p:tavLst>
                                        <p:tav tm="0">
                                          <p:val>
                                            <p:strVal val="#ppt_w*0.3"/>
                                          </p:val>
                                        </p:tav>
                                        <p:tav tm="100000">
                                          <p:val>
                                            <p:strVal val="#ppt_w*1.08"/>
                                          </p:val>
                                        </p:tav>
                                      </p:tavLst>
                                    </p:anim>
                                    <p:anim calcmode="lin" valueType="num">
                                      <p:cBhvr additive="base">
                                        <p:cTn id="50" dur="380" decel="100000" fill="hold"/>
                                        <p:tgtEl>
                                          <p:spTgt spid="110"/>
                                        </p:tgtEl>
                                        <p:attrNameLst>
                                          <p:attrName>ppt_h</p:attrName>
                                        </p:attrNameLst>
                                      </p:cBhvr>
                                      <p:tavLst>
                                        <p:tav tm="0">
                                          <p:val>
                                            <p:strVal val="#ppt_h*0.3"/>
                                          </p:val>
                                        </p:tav>
                                        <p:tav tm="100000">
                                          <p:val>
                                            <p:strVal val="#ppt_h*1.08"/>
                                          </p:val>
                                        </p:tav>
                                      </p:tavLst>
                                    </p:anim>
                                    <p:animEffect transition="in" filter="fade">
                                      <p:cBhvr>
                                        <p:cTn id="51" dur="190"/>
                                        <p:tgtEl>
                                          <p:spTgt spid="110"/>
                                        </p:tgtEl>
                                      </p:cBhvr>
                                    </p:animEffect>
                                    <p:anim calcmode="lin" valueType="num">
                                      <p:cBhvr additive="base">
                                        <p:cTn id="52" dur="160" fill="hold">
                                          <p:stCondLst>
                                            <p:cond delay="380"/>
                                          </p:stCondLst>
                                        </p:cTn>
                                        <p:tgtEl>
                                          <p:spTgt spid="110"/>
                                        </p:tgtEl>
                                        <p:attrNameLst>
                                          <p:attrName>ppt_w</p:attrName>
                                        </p:attrNameLst>
                                      </p:cBhvr>
                                      <p:tavLst>
                                        <p:tav tm="0">
                                          <p:val>
                                            <p:strVal val="#ppt_w*1.08"/>
                                          </p:val>
                                        </p:tav>
                                        <p:tav tm="100000">
                                          <p:val>
                                            <p:strVal val="#ppt_w"/>
                                          </p:val>
                                        </p:tav>
                                      </p:tavLst>
                                    </p:anim>
                                    <p:anim calcmode="lin" valueType="num">
                                      <p:cBhvr additive="base">
                                        <p:cTn id="53" dur="160" fill="hold">
                                          <p:stCondLst>
                                            <p:cond delay="380"/>
                                          </p:stCondLst>
                                        </p:cTn>
                                        <p:tgtEl>
                                          <p:spTgt spid="110"/>
                                        </p:tgtEl>
                                        <p:attrNameLst>
                                          <p:attrName>ppt_h</p:attrName>
                                        </p:attrNameLst>
                                      </p:cBhvr>
                                      <p:tavLst>
                                        <p:tav tm="0">
                                          <p:val>
                                            <p:strVal val="#ppt_h*1.08"/>
                                          </p:val>
                                        </p:tav>
                                        <p:tav tm="100000">
                                          <p:val>
                                            <p:strVal val="#ppt_h"/>
                                          </p:val>
                                        </p:tav>
                                      </p:tavLst>
                                    </p:anim>
                                  </p:childTnLst>
                                </p:cTn>
                              </p:par>
                              <p:par>
                                <p:cTn id="54" presetID="53" presetClass="entr" presetSubtype="16" fill="hold" grpId="0" nodeType="withEffect">
                                  <p:stCondLst>
                                    <p:cond delay="560"/>
                                  </p:stCondLst>
                                  <p:childTnLst>
                                    <p:set>
                                      <p:cBhvr>
                                        <p:cTn id="55" dur="1" fill="hold">
                                          <p:stCondLst>
                                            <p:cond delay="0"/>
                                          </p:stCondLst>
                                        </p:cTn>
                                        <p:tgtEl>
                                          <p:spTgt spid="111"/>
                                        </p:tgtEl>
                                        <p:attrNameLst>
                                          <p:attrName>style.visibility</p:attrName>
                                        </p:attrNameLst>
                                      </p:cBhvr>
                                      <p:to>
                                        <p:strVal val="visible"/>
                                      </p:to>
                                    </p:set>
                                    <p:anim calcmode="lin" valueType="num">
                                      <p:cBhvr additive="base">
                                        <p:cTn id="56" dur="380" decel="100000" fill="hold"/>
                                        <p:tgtEl>
                                          <p:spTgt spid="111"/>
                                        </p:tgtEl>
                                        <p:attrNameLst>
                                          <p:attrName>ppt_w</p:attrName>
                                        </p:attrNameLst>
                                      </p:cBhvr>
                                      <p:tavLst>
                                        <p:tav tm="0">
                                          <p:val>
                                            <p:strVal val="#ppt_w*0.3"/>
                                          </p:val>
                                        </p:tav>
                                        <p:tav tm="100000">
                                          <p:val>
                                            <p:strVal val="#ppt_w*1.08"/>
                                          </p:val>
                                        </p:tav>
                                      </p:tavLst>
                                    </p:anim>
                                    <p:anim calcmode="lin" valueType="num">
                                      <p:cBhvr additive="base">
                                        <p:cTn id="57" dur="380" decel="100000" fill="hold"/>
                                        <p:tgtEl>
                                          <p:spTgt spid="111"/>
                                        </p:tgtEl>
                                        <p:attrNameLst>
                                          <p:attrName>ppt_h</p:attrName>
                                        </p:attrNameLst>
                                      </p:cBhvr>
                                      <p:tavLst>
                                        <p:tav tm="0">
                                          <p:val>
                                            <p:strVal val="#ppt_h*0.3"/>
                                          </p:val>
                                        </p:tav>
                                        <p:tav tm="100000">
                                          <p:val>
                                            <p:strVal val="#ppt_h*1.08"/>
                                          </p:val>
                                        </p:tav>
                                      </p:tavLst>
                                    </p:anim>
                                    <p:animEffect transition="in" filter="fade">
                                      <p:cBhvr>
                                        <p:cTn id="58" dur="190"/>
                                        <p:tgtEl>
                                          <p:spTgt spid="111"/>
                                        </p:tgtEl>
                                      </p:cBhvr>
                                    </p:animEffect>
                                    <p:anim calcmode="lin" valueType="num">
                                      <p:cBhvr additive="base">
                                        <p:cTn id="59" dur="160" fill="hold">
                                          <p:stCondLst>
                                            <p:cond delay="380"/>
                                          </p:stCondLst>
                                        </p:cTn>
                                        <p:tgtEl>
                                          <p:spTgt spid="111"/>
                                        </p:tgtEl>
                                        <p:attrNameLst>
                                          <p:attrName>ppt_w</p:attrName>
                                        </p:attrNameLst>
                                      </p:cBhvr>
                                      <p:tavLst>
                                        <p:tav tm="0">
                                          <p:val>
                                            <p:strVal val="#ppt_w*1.08"/>
                                          </p:val>
                                        </p:tav>
                                        <p:tav tm="100000">
                                          <p:val>
                                            <p:strVal val="#ppt_w"/>
                                          </p:val>
                                        </p:tav>
                                      </p:tavLst>
                                    </p:anim>
                                    <p:anim calcmode="lin" valueType="num">
                                      <p:cBhvr additive="base">
                                        <p:cTn id="60" dur="160" fill="hold">
                                          <p:stCondLst>
                                            <p:cond delay="380"/>
                                          </p:stCondLst>
                                        </p:cTn>
                                        <p:tgtEl>
                                          <p:spTgt spid="111"/>
                                        </p:tgtEl>
                                        <p:attrNameLst>
                                          <p:attrName>ppt_h</p:attrName>
                                        </p:attrNameLst>
                                      </p:cBhvr>
                                      <p:tavLst>
                                        <p:tav tm="0">
                                          <p:val>
                                            <p:strVal val="#ppt_h*1.08"/>
                                          </p:val>
                                        </p:tav>
                                        <p:tav tm="100000">
                                          <p:val>
                                            <p:strVal val="#ppt_h"/>
                                          </p:val>
                                        </p:tav>
                                      </p:tavLst>
                                    </p:anim>
                                  </p:childTnLst>
                                </p:cTn>
                              </p:par>
                              <p:par>
                                <p:cTn id="61" presetID="53" presetClass="entr" presetSubtype="16" fill="hold" grpId="0" nodeType="withEffect">
                                  <p:stCondLst>
                                    <p:cond delay="640"/>
                                  </p:stCondLst>
                                  <p:childTnLst>
                                    <p:set>
                                      <p:cBhvr>
                                        <p:cTn id="62" dur="1" fill="hold">
                                          <p:stCondLst>
                                            <p:cond delay="0"/>
                                          </p:stCondLst>
                                        </p:cTn>
                                        <p:tgtEl>
                                          <p:spTgt spid="112"/>
                                        </p:tgtEl>
                                        <p:attrNameLst>
                                          <p:attrName>style.visibility</p:attrName>
                                        </p:attrNameLst>
                                      </p:cBhvr>
                                      <p:to>
                                        <p:strVal val="visible"/>
                                      </p:to>
                                    </p:set>
                                    <p:anim calcmode="lin" valueType="num">
                                      <p:cBhvr additive="base">
                                        <p:cTn id="63" dur="380" decel="100000" fill="hold"/>
                                        <p:tgtEl>
                                          <p:spTgt spid="112"/>
                                        </p:tgtEl>
                                        <p:attrNameLst>
                                          <p:attrName>ppt_w</p:attrName>
                                        </p:attrNameLst>
                                      </p:cBhvr>
                                      <p:tavLst>
                                        <p:tav tm="0">
                                          <p:val>
                                            <p:strVal val="#ppt_w*0.3"/>
                                          </p:val>
                                        </p:tav>
                                        <p:tav tm="100000">
                                          <p:val>
                                            <p:strVal val="#ppt_w*1.08"/>
                                          </p:val>
                                        </p:tav>
                                      </p:tavLst>
                                    </p:anim>
                                    <p:anim calcmode="lin" valueType="num">
                                      <p:cBhvr additive="base">
                                        <p:cTn id="64" dur="380" decel="100000" fill="hold"/>
                                        <p:tgtEl>
                                          <p:spTgt spid="112"/>
                                        </p:tgtEl>
                                        <p:attrNameLst>
                                          <p:attrName>ppt_h</p:attrName>
                                        </p:attrNameLst>
                                      </p:cBhvr>
                                      <p:tavLst>
                                        <p:tav tm="0">
                                          <p:val>
                                            <p:strVal val="#ppt_h*0.3"/>
                                          </p:val>
                                        </p:tav>
                                        <p:tav tm="100000">
                                          <p:val>
                                            <p:strVal val="#ppt_h*1.08"/>
                                          </p:val>
                                        </p:tav>
                                      </p:tavLst>
                                    </p:anim>
                                    <p:animEffect transition="in" filter="fade">
                                      <p:cBhvr>
                                        <p:cTn id="65" dur="190"/>
                                        <p:tgtEl>
                                          <p:spTgt spid="112"/>
                                        </p:tgtEl>
                                      </p:cBhvr>
                                    </p:animEffect>
                                    <p:anim calcmode="lin" valueType="num">
                                      <p:cBhvr additive="base">
                                        <p:cTn id="66" dur="160" fill="hold">
                                          <p:stCondLst>
                                            <p:cond delay="380"/>
                                          </p:stCondLst>
                                        </p:cTn>
                                        <p:tgtEl>
                                          <p:spTgt spid="112"/>
                                        </p:tgtEl>
                                        <p:attrNameLst>
                                          <p:attrName>ppt_w</p:attrName>
                                        </p:attrNameLst>
                                      </p:cBhvr>
                                      <p:tavLst>
                                        <p:tav tm="0">
                                          <p:val>
                                            <p:strVal val="#ppt_w*1.08"/>
                                          </p:val>
                                        </p:tav>
                                        <p:tav tm="100000">
                                          <p:val>
                                            <p:strVal val="#ppt_w"/>
                                          </p:val>
                                        </p:tav>
                                      </p:tavLst>
                                    </p:anim>
                                    <p:anim calcmode="lin" valueType="num">
                                      <p:cBhvr additive="base">
                                        <p:cTn id="67" dur="160" fill="hold">
                                          <p:stCondLst>
                                            <p:cond delay="380"/>
                                          </p:stCondLst>
                                        </p:cTn>
                                        <p:tgtEl>
                                          <p:spTgt spid="112"/>
                                        </p:tgtEl>
                                        <p:attrNameLst>
                                          <p:attrName>ppt_h</p:attrName>
                                        </p:attrNameLst>
                                      </p:cBhvr>
                                      <p:tavLst>
                                        <p:tav tm="0">
                                          <p:val>
                                            <p:strVal val="#ppt_h*1.08"/>
                                          </p:val>
                                        </p:tav>
                                        <p:tav tm="100000">
                                          <p:val>
                                            <p:strVal val="#ppt_h"/>
                                          </p:val>
                                        </p:tav>
                                      </p:tavLst>
                                    </p:anim>
                                  </p:childTnLst>
                                </p:cTn>
                              </p:par>
                              <p:par>
                                <p:cTn id="68" presetID="53" presetClass="entr" presetSubtype="16" fill="hold" grpId="0" nodeType="withEffect">
                                  <p:stCondLst>
                                    <p:cond delay="720"/>
                                  </p:stCondLst>
                                  <p:childTnLst>
                                    <p:set>
                                      <p:cBhvr>
                                        <p:cTn id="69" dur="1" fill="hold">
                                          <p:stCondLst>
                                            <p:cond delay="0"/>
                                          </p:stCondLst>
                                        </p:cTn>
                                        <p:tgtEl>
                                          <p:spTgt spid="113"/>
                                        </p:tgtEl>
                                        <p:attrNameLst>
                                          <p:attrName>style.visibility</p:attrName>
                                        </p:attrNameLst>
                                      </p:cBhvr>
                                      <p:to>
                                        <p:strVal val="visible"/>
                                      </p:to>
                                    </p:set>
                                    <p:anim calcmode="lin" valueType="num">
                                      <p:cBhvr additive="base">
                                        <p:cTn id="70" dur="380" decel="100000" fill="hold"/>
                                        <p:tgtEl>
                                          <p:spTgt spid="113"/>
                                        </p:tgtEl>
                                        <p:attrNameLst>
                                          <p:attrName>ppt_w</p:attrName>
                                        </p:attrNameLst>
                                      </p:cBhvr>
                                      <p:tavLst>
                                        <p:tav tm="0">
                                          <p:val>
                                            <p:strVal val="#ppt_w*0.3"/>
                                          </p:val>
                                        </p:tav>
                                        <p:tav tm="100000">
                                          <p:val>
                                            <p:strVal val="#ppt_w*1.08"/>
                                          </p:val>
                                        </p:tav>
                                      </p:tavLst>
                                    </p:anim>
                                    <p:anim calcmode="lin" valueType="num">
                                      <p:cBhvr additive="base">
                                        <p:cTn id="71" dur="380" decel="100000" fill="hold"/>
                                        <p:tgtEl>
                                          <p:spTgt spid="113"/>
                                        </p:tgtEl>
                                        <p:attrNameLst>
                                          <p:attrName>ppt_h</p:attrName>
                                        </p:attrNameLst>
                                      </p:cBhvr>
                                      <p:tavLst>
                                        <p:tav tm="0">
                                          <p:val>
                                            <p:strVal val="#ppt_h*0.3"/>
                                          </p:val>
                                        </p:tav>
                                        <p:tav tm="100000">
                                          <p:val>
                                            <p:strVal val="#ppt_h*1.08"/>
                                          </p:val>
                                        </p:tav>
                                      </p:tavLst>
                                    </p:anim>
                                    <p:animEffect transition="in" filter="fade">
                                      <p:cBhvr>
                                        <p:cTn id="72" dur="190"/>
                                        <p:tgtEl>
                                          <p:spTgt spid="113"/>
                                        </p:tgtEl>
                                      </p:cBhvr>
                                    </p:animEffect>
                                    <p:anim calcmode="lin" valueType="num">
                                      <p:cBhvr additive="base">
                                        <p:cTn id="73" dur="160" fill="hold">
                                          <p:stCondLst>
                                            <p:cond delay="380"/>
                                          </p:stCondLst>
                                        </p:cTn>
                                        <p:tgtEl>
                                          <p:spTgt spid="113"/>
                                        </p:tgtEl>
                                        <p:attrNameLst>
                                          <p:attrName>ppt_w</p:attrName>
                                        </p:attrNameLst>
                                      </p:cBhvr>
                                      <p:tavLst>
                                        <p:tav tm="0">
                                          <p:val>
                                            <p:strVal val="#ppt_w*1.08"/>
                                          </p:val>
                                        </p:tav>
                                        <p:tav tm="100000">
                                          <p:val>
                                            <p:strVal val="#ppt_w"/>
                                          </p:val>
                                        </p:tav>
                                      </p:tavLst>
                                    </p:anim>
                                    <p:anim calcmode="lin" valueType="num">
                                      <p:cBhvr additive="base">
                                        <p:cTn id="74" dur="160" fill="hold">
                                          <p:stCondLst>
                                            <p:cond delay="380"/>
                                          </p:stCondLst>
                                        </p:cTn>
                                        <p:tgtEl>
                                          <p:spTgt spid="113"/>
                                        </p:tgtEl>
                                        <p:attrNameLst>
                                          <p:attrName>ppt_h</p:attrName>
                                        </p:attrNameLst>
                                      </p:cBhvr>
                                      <p:tavLst>
                                        <p:tav tm="0">
                                          <p:val>
                                            <p:strVal val="#ppt_h*1.08"/>
                                          </p:val>
                                        </p:tav>
                                        <p:tav tm="100000">
                                          <p:val>
                                            <p:strVal val="#ppt_h"/>
                                          </p:val>
                                        </p:tav>
                                      </p:tavLst>
                                    </p:anim>
                                  </p:childTnLst>
                                </p:cTn>
                              </p:par>
                              <p:par>
                                <p:cTn id="75" presetID="10" presetClass="entr" presetSubtype="0" fill="hold" grpId="0" nodeType="withEffect">
                                  <p:stCondLst>
                                    <p:cond delay="820"/>
                                  </p:stCondLst>
                                  <p:childTnLst>
                                    <p:set>
                                      <p:cBhvr>
                                        <p:cTn id="76" dur="1" fill="hold">
                                          <p:stCondLst>
                                            <p:cond delay="0"/>
                                          </p:stCondLst>
                                        </p:cTn>
                                        <p:tgtEl>
                                          <p:spTgt spid="114"/>
                                        </p:tgtEl>
                                        <p:attrNameLst>
                                          <p:attrName>style.visibility</p:attrName>
                                        </p:attrNameLst>
                                      </p:cBhvr>
                                      <p:to>
                                        <p:strVal val="visible"/>
                                      </p:to>
                                    </p:set>
                                    <p:animEffect transition="in" filter="fade">
                                      <p:cBhvr>
                                        <p:cTn id="77" dur="500"/>
                                        <p:tgtEl>
                                          <p:spTgt spid="114"/>
                                        </p:tgtEl>
                                      </p:cBhvr>
                                    </p:animEffect>
                                  </p:childTnLst>
                                </p:cTn>
                              </p:par>
                            </p:childTnLst>
                          </p:cTn>
                        </p:par>
                      </p:childTnLst>
                    </p:cTn>
                  </p:par>
                  <p:par>
                    <p:cTn id="78" fill="hold">
                      <p:stCondLst>
                        <p:cond delay="indefinite"/>
                      </p:stCondLst>
                      <p:childTnLst>
                        <p:par>
                          <p:cTn id="79" fill="hold">
                            <p:stCondLst>
                              <p:cond delay="0"/>
                            </p:stCondLst>
                            <p:childTnLst>
                              <p:par>
                                <p:cTn id="80" presetID="42" presetClass="entr" presetSubtype="0" fill="hold" grpId="0" nodeType="clickEffect">
                                  <p:stCondLst>
                                    <p:cond delay="0"/>
                                  </p:stCondLst>
                                  <p:childTnLst>
                                    <p:set>
                                      <p:cBhvr>
                                        <p:cTn id="81" dur="1" fill="hold">
                                          <p:stCondLst>
                                            <p:cond delay="0"/>
                                          </p:stCondLst>
                                        </p:cTn>
                                        <p:tgtEl>
                                          <p:spTgt spid="115"/>
                                        </p:tgtEl>
                                        <p:attrNameLst>
                                          <p:attrName>style.visibility</p:attrName>
                                        </p:attrNameLst>
                                      </p:cBhvr>
                                      <p:to>
                                        <p:strVal val="visible"/>
                                      </p:to>
                                    </p:set>
                                    <p:animEffect transition="in" filter="fade">
                                      <p:cBhvr>
                                        <p:cTn id="82" dur="500"/>
                                        <p:tgtEl>
                                          <p:spTgt spid="115"/>
                                        </p:tgtEl>
                                      </p:cBhvr>
                                    </p:animEffect>
                                    <p:anim calcmode="lin" valueType="num">
                                      <p:cBhvr additive="base">
                                        <p:cTn id="83" dur="500" decel="100000" fill="hold"/>
                                        <p:tgtEl>
                                          <p:spTgt spid="115"/>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ARTIFACT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Sprint Backlog</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Sprint Goal + selected PBIs + an actionable plan, owned by the Developers.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264</a:t>
            </a:r>
            <a:endParaRPr lang="en-US" sz="850" dirty="0"/>
          </a:p>
        </p:txBody>
      </p:sp>
      <p:sp>
        <p:nvSpPr>
          <p:cNvPr id="101" name="s101"/>
          <p:cNvSpPr/>
          <p:nvPr/>
        </p:nvSpPr>
        <p:spPr>
          <a:xfrm>
            <a:off x="543154" y="2057400"/>
            <a:ext cx="2788920" cy="2148840"/>
          </a:xfrm>
          <a:prstGeom prst="roundRect">
            <a:avLst>
              <a:gd name="adj" fmla="val 10000"/>
            </a:avLst>
          </a:prstGeom>
          <a:solidFill>
            <a:srgbClr val="111B2E"/>
          </a:solidFill>
          <a:ln w="19050">
            <a:solidFill>
              <a:srgbClr val="60A5FA"/>
            </a:solidFill>
            <a:prstDash val="solid"/>
          </a:ln>
        </p:spPr>
        <p:txBody>
          <a:bodyPr wrap="square" lIns="164592" tIns="109728" rIns="137160" bIns="91440" rtlCol="0" anchor="t">
            <a:noAutofit/>
          </a:bodyPr>
          <a:lstStyle/>
          <a:p>
            <a:endParaRPr lang="en-US"/>
          </a:p>
        </p:txBody>
      </p:sp>
      <p:sp>
        <p:nvSpPr>
          <p:cNvPr id="102" name="s102"/>
          <p:cNvSpPr/>
          <p:nvPr/>
        </p:nvSpPr>
        <p:spPr>
          <a:xfrm>
            <a:off x="1617574" y="2240280"/>
            <a:ext cx="640080" cy="640080"/>
          </a:xfrm>
          <a:prstGeom prst="ellipse">
            <a:avLst/>
          </a:prstGeom>
          <a:solidFill>
            <a:srgbClr val="60A5FA">
              <a:alpha val="16000"/>
            </a:srgbClr>
          </a:solidFill>
          <a:ln w="12700">
            <a:solidFill>
              <a:srgbClr val="60A5FA">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1771193" y="2393899"/>
            <a:ext cx="332842" cy="332842"/>
          </a:xfrm>
          <a:prstGeom prst="rect">
            <a:avLst/>
          </a:prstGeom>
        </p:spPr>
      </p:pic>
      <p:sp>
        <p:nvSpPr>
          <p:cNvPr id="104" name="s104"/>
          <p:cNvSpPr txBox="1"/>
          <p:nvPr/>
        </p:nvSpPr>
        <p:spPr>
          <a:xfrm>
            <a:off x="543154" y="2971800"/>
            <a:ext cx="2788920"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60A5FA"/>
                </a:solidFill>
                <a:latin typeface="Segoe UI"/>
                <a:ea typeface="Segoe UI"/>
                <a:cs typeface="Segoe UI"/>
              </a:rPr>
              <a:t>Sprint Goal</a:t>
            </a:r>
            <a:endParaRPr lang="en-US" sz="1600" dirty="0"/>
          </a:p>
        </p:txBody>
      </p:sp>
      <p:sp>
        <p:nvSpPr>
          <p:cNvPr id="105" name="s105"/>
          <p:cNvSpPr txBox="1"/>
          <p:nvPr/>
        </p:nvSpPr>
        <p:spPr>
          <a:xfrm>
            <a:off x="726034" y="3383280"/>
            <a:ext cx="2423160" cy="7315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50" b="0" dirty="0">
                <a:solidFill>
                  <a:srgbClr val="E2E8F0"/>
                </a:solidFill>
                <a:latin typeface="Segoe UI"/>
                <a:ea typeface="Segoe UI"/>
                <a:cs typeface="Segoe UI"/>
              </a:rPr>
              <a:t>Enable register + book a confirmed appointment</a:t>
            </a:r>
            <a:endParaRPr lang="en-US" sz="1250" dirty="0"/>
          </a:p>
        </p:txBody>
      </p:sp>
      <p:sp>
        <p:nvSpPr>
          <p:cNvPr id="106" name="s106"/>
          <p:cNvSpPr txBox="1"/>
          <p:nvPr/>
        </p:nvSpPr>
        <p:spPr>
          <a:xfrm>
            <a:off x="3332074" y="2743200"/>
            <a:ext cx="384048" cy="73152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3400" b="1" dirty="0">
                <a:solidFill>
                  <a:srgbClr val="94A3B8"/>
                </a:solidFill>
                <a:latin typeface="Segoe UI"/>
                <a:ea typeface="Segoe UI"/>
                <a:cs typeface="Segoe UI"/>
              </a:rPr>
              <a:t>+</a:t>
            </a:r>
            <a:endParaRPr lang="en-US" sz="3400" dirty="0"/>
          </a:p>
        </p:txBody>
      </p:sp>
      <p:sp>
        <p:nvSpPr>
          <p:cNvPr id="107" name="s107"/>
          <p:cNvSpPr/>
          <p:nvPr/>
        </p:nvSpPr>
        <p:spPr>
          <a:xfrm>
            <a:off x="3716122" y="2057400"/>
            <a:ext cx="2788920" cy="2148840"/>
          </a:xfrm>
          <a:prstGeom prst="roundRect">
            <a:avLst>
              <a:gd name="adj" fmla="val 10000"/>
            </a:avLst>
          </a:prstGeom>
          <a:solidFill>
            <a:srgbClr val="111B2E"/>
          </a:solidFill>
          <a:ln w="19050">
            <a:solidFill>
              <a:srgbClr val="34D399"/>
            </a:solidFill>
            <a:prstDash val="solid"/>
          </a:ln>
        </p:spPr>
        <p:txBody>
          <a:bodyPr wrap="square" lIns="164592" tIns="109728" rIns="137160" bIns="91440" rtlCol="0" anchor="t">
            <a:noAutofit/>
          </a:bodyPr>
          <a:lstStyle/>
          <a:p>
            <a:endParaRPr lang="en-US"/>
          </a:p>
        </p:txBody>
      </p:sp>
      <p:sp>
        <p:nvSpPr>
          <p:cNvPr id="108" name="s108"/>
          <p:cNvSpPr/>
          <p:nvPr/>
        </p:nvSpPr>
        <p:spPr>
          <a:xfrm>
            <a:off x="4790542" y="2240280"/>
            <a:ext cx="640080" cy="64008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09" name="img109"/>
          <p:cNvPicPr>
            <a:picLocks noChangeAspect="1"/>
          </p:cNvPicPr>
          <p:nvPr/>
        </p:nvPicPr>
        <p:blipFill>
          <a:blip r:embed="rId5"/>
          <a:stretch>
            <a:fillRect/>
          </a:stretch>
        </p:blipFill>
        <p:spPr>
          <a:xfrm>
            <a:off x="4944161" y="2393899"/>
            <a:ext cx="332842" cy="332842"/>
          </a:xfrm>
          <a:prstGeom prst="rect">
            <a:avLst/>
          </a:prstGeom>
        </p:spPr>
      </p:pic>
      <p:sp>
        <p:nvSpPr>
          <p:cNvPr id="110" name="s110"/>
          <p:cNvSpPr txBox="1"/>
          <p:nvPr/>
        </p:nvSpPr>
        <p:spPr>
          <a:xfrm>
            <a:off x="3716122" y="2971800"/>
            <a:ext cx="2788920"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34D399"/>
                </a:solidFill>
                <a:latin typeface="Segoe UI"/>
                <a:ea typeface="Segoe UI"/>
                <a:cs typeface="Segoe UI"/>
              </a:rPr>
              <a:t>Selected PBIs</a:t>
            </a:r>
            <a:endParaRPr lang="en-US" sz="1600" dirty="0"/>
          </a:p>
        </p:txBody>
      </p:sp>
      <p:sp>
        <p:nvSpPr>
          <p:cNvPr id="111" name="s111"/>
          <p:cNvSpPr txBox="1"/>
          <p:nvPr/>
        </p:nvSpPr>
        <p:spPr>
          <a:xfrm>
            <a:off x="3899002" y="3383280"/>
            <a:ext cx="2423160" cy="7315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50" b="0" dirty="0">
                <a:solidFill>
                  <a:srgbClr val="E2E8F0"/>
                </a:solidFill>
                <a:latin typeface="Segoe UI"/>
                <a:ea typeface="Segoe UI"/>
                <a:cs typeface="Segoe UI"/>
              </a:rPr>
              <a:t>Register · Availability · Book · Confirm</a:t>
            </a:r>
            <a:endParaRPr lang="en-US" sz="1250" dirty="0"/>
          </a:p>
        </p:txBody>
      </p:sp>
      <p:sp>
        <p:nvSpPr>
          <p:cNvPr id="112" name="s112"/>
          <p:cNvSpPr txBox="1"/>
          <p:nvPr/>
        </p:nvSpPr>
        <p:spPr>
          <a:xfrm>
            <a:off x="6505042" y="2743200"/>
            <a:ext cx="384048" cy="73152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3400" b="1" dirty="0">
                <a:solidFill>
                  <a:srgbClr val="94A3B8"/>
                </a:solidFill>
                <a:latin typeface="Segoe UI"/>
                <a:ea typeface="Segoe UI"/>
                <a:cs typeface="Segoe UI"/>
              </a:rPr>
              <a:t>+</a:t>
            </a:r>
            <a:endParaRPr lang="en-US" sz="3400" dirty="0"/>
          </a:p>
        </p:txBody>
      </p:sp>
      <p:sp>
        <p:nvSpPr>
          <p:cNvPr id="113" name="s113"/>
          <p:cNvSpPr/>
          <p:nvPr/>
        </p:nvSpPr>
        <p:spPr>
          <a:xfrm>
            <a:off x="6889090" y="2057400"/>
            <a:ext cx="2788920" cy="2148840"/>
          </a:xfrm>
          <a:prstGeom prst="roundRect">
            <a:avLst>
              <a:gd name="adj" fmla="val 10000"/>
            </a:avLst>
          </a:prstGeom>
          <a:solidFill>
            <a:srgbClr val="111B2E"/>
          </a:solidFill>
          <a:ln w="19050">
            <a:solidFill>
              <a:srgbClr val="F0A98B"/>
            </a:solidFill>
            <a:prstDash val="solid"/>
          </a:ln>
        </p:spPr>
        <p:txBody>
          <a:bodyPr wrap="square" lIns="164592" tIns="109728" rIns="137160" bIns="91440" rtlCol="0" anchor="t">
            <a:noAutofit/>
          </a:bodyPr>
          <a:lstStyle/>
          <a:p>
            <a:endParaRPr lang="en-US"/>
          </a:p>
        </p:txBody>
      </p:sp>
      <p:sp>
        <p:nvSpPr>
          <p:cNvPr id="114" name="s114"/>
          <p:cNvSpPr/>
          <p:nvPr/>
        </p:nvSpPr>
        <p:spPr>
          <a:xfrm>
            <a:off x="7963510" y="2240280"/>
            <a:ext cx="640080" cy="640080"/>
          </a:xfrm>
          <a:prstGeom prst="ellipse">
            <a:avLst/>
          </a:prstGeom>
          <a:solidFill>
            <a:srgbClr val="F0A98B">
              <a:alpha val="16000"/>
            </a:srgbClr>
          </a:solidFill>
          <a:ln w="12700">
            <a:solidFill>
              <a:srgbClr val="F0A98B">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6"/>
          <a:stretch>
            <a:fillRect/>
          </a:stretch>
        </p:blipFill>
        <p:spPr>
          <a:xfrm>
            <a:off x="8117129" y="2393899"/>
            <a:ext cx="332842" cy="332842"/>
          </a:xfrm>
          <a:prstGeom prst="rect">
            <a:avLst/>
          </a:prstGeom>
        </p:spPr>
      </p:pic>
      <p:sp>
        <p:nvSpPr>
          <p:cNvPr id="116" name="s116"/>
          <p:cNvSpPr txBox="1"/>
          <p:nvPr/>
        </p:nvSpPr>
        <p:spPr>
          <a:xfrm>
            <a:off x="6889090" y="2971800"/>
            <a:ext cx="2788920" cy="36576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F0A98B"/>
                </a:solidFill>
                <a:latin typeface="Segoe UI"/>
                <a:ea typeface="Segoe UI"/>
                <a:cs typeface="Segoe UI"/>
              </a:rPr>
              <a:t>Plan</a:t>
            </a:r>
            <a:endParaRPr lang="en-US" sz="1600" dirty="0"/>
          </a:p>
        </p:txBody>
      </p:sp>
      <p:sp>
        <p:nvSpPr>
          <p:cNvPr id="117" name="s117"/>
          <p:cNvSpPr txBox="1"/>
          <p:nvPr/>
        </p:nvSpPr>
        <p:spPr>
          <a:xfrm>
            <a:off x="7071970" y="3383280"/>
            <a:ext cx="2423160" cy="7315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50" b="0" dirty="0">
                <a:solidFill>
                  <a:srgbClr val="E2E8F0"/>
                </a:solidFill>
                <a:latin typeface="Segoe UI"/>
                <a:ea typeface="Segoe UI"/>
                <a:cs typeface="Segoe UI"/>
              </a:rPr>
              <a:t>Tasks that evolve as the team learns</a:t>
            </a:r>
            <a:endParaRPr lang="en-US" sz="1250" dirty="0"/>
          </a:p>
        </p:txBody>
      </p:sp>
      <p:sp>
        <p:nvSpPr>
          <p:cNvPr id="118" name="s118"/>
          <p:cNvSpPr txBox="1"/>
          <p:nvPr/>
        </p:nvSpPr>
        <p:spPr>
          <a:xfrm>
            <a:off x="9678010" y="2743200"/>
            <a:ext cx="411480" cy="73152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3400" b="1" dirty="0">
                <a:solidFill>
                  <a:srgbClr val="94A3B8"/>
                </a:solidFill>
                <a:latin typeface="Segoe UI"/>
                <a:ea typeface="Segoe UI"/>
                <a:cs typeface="Segoe UI"/>
              </a:rPr>
              <a:t>=</a:t>
            </a:r>
            <a:endParaRPr lang="en-US" sz="3400" dirty="0"/>
          </a:p>
        </p:txBody>
      </p:sp>
      <p:sp>
        <p:nvSpPr>
          <p:cNvPr id="119" name="s119"/>
          <p:cNvSpPr/>
          <p:nvPr/>
        </p:nvSpPr>
        <p:spPr>
          <a:xfrm>
            <a:off x="10089490" y="2057400"/>
            <a:ext cx="1541678" cy="2148840"/>
          </a:xfrm>
          <a:prstGeom prst="roundRect">
            <a:avLst>
              <a:gd name="adj" fmla="val 10000"/>
            </a:avLst>
          </a:prstGeom>
          <a:solidFill>
            <a:srgbClr val="60A5FA">
              <a:alpha val="14000"/>
            </a:srgbClr>
          </a:solidFill>
          <a:ln w="31750">
            <a:solidFill>
              <a:srgbClr val="60A5FA"/>
            </a:solidFill>
            <a:prstDash val="solid"/>
          </a:ln>
        </p:spPr>
        <p:txBody>
          <a:bodyPr wrap="square" lIns="45720" tIns="0" rIns="45720" bIns="0" rtlCol="0" anchor="ctr">
            <a:noAutofit/>
          </a:bodyPr>
          <a:lstStyle/>
          <a:p>
            <a:pPr marL="0" indent="0" algn="ctr">
              <a:spcBef>
                <a:spcPts val="0"/>
              </a:spcBef>
              <a:spcAft>
                <a:spcPts val="0"/>
              </a:spcAft>
              <a:buNone/>
            </a:pPr>
            <a:r>
              <a:rPr lang="en-US" sz="1500" b="1" dirty="0">
                <a:solidFill>
                  <a:srgbClr val="FFFFFF"/>
                </a:solidFill>
                <a:latin typeface="Segoe UI"/>
                <a:ea typeface="Segoe UI"/>
                <a:cs typeface="Segoe UI"/>
              </a:rPr>
              <a:t>SPRINT</a:t>
            </a:r>
            <a:endParaRPr lang="en-US" sz="1500" dirty="0"/>
          </a:p>
          <a:p>
            <a:pPr marL="0" indent="0" algn="ctr">
              <a:spcBef>
                <a:spcPts val="0"/>
              </a:spcBef>
              <a:spcAft>
                <a:spcPts val="0"/>
              </a:spcAft>
              <a:buNone/>
            </a:pPr>
            <a:r>
              <a:rPr lang="en-US" sz="1500" b="1" dirty="0">
                <a:solidFill>
                  <a:srgbClr val="FFFFFF"/>
                </a:solidFill>
                <a:latin typeface="Segoe UI"/>
                <a:ea typeface="Segoe UI"/>
                <a:cs typeface="Segoe UI"/>
              </a:rPr>
              <a:t>BACKLOG</a:t>
            </a:r>
            <a:endParaRPr lang="en-US" sz="1500" dirty="0"/>
          </a:p>
          <a:p>
            <a:pPr marL="0" indent="0" algn="ctr">
              <a:spcBef>
                <a:spcPts val="600"/>
              </a:spcBef>
              <a:spcAft>
                <a:spcPts val="0"/>
              </a:spcAft>
              <a:buNone/>
            </a:pPr>
            <a:r>
              <a:rPr lang="en-US" sz="1100" b="0" dirty="0">
                <a:solidFill>
                  <a:srgbClr val="60A5FA"/>
                </a:solidFill>
                <a:latin typeface="Segoe UI"/>
                <a:ea typeface="Segoe UI"/>
                <a:cs typeface="Segoe UI"/>
              </a:rPr>
              <a:t>owned by Developers</a:t>
            </a:r>
            <a:endParaRPr lang="en-US" sz="1100" dirty="0"/>
          </a:p>
        </p:txBody>
      </p:sp>
      <p:sp>
        <p:nvSpPr>
          <p:cNvPr id="120" name="s120"/>
          <p:cNvSpPr/>
          <p:nvPr/>
        </p:nvSpPr>
        <p:spPr>
          <a:xfrm>
            <a:off x="543154" y="4572000"/>
            <a:ext cx="11088014" cy="777240"/>
          </a:xfrm>
          <a:prstGeom prst="roundRect">
            <a:avLst>
              <a:gd name="adj" fmla="val 12000"/>
            </a:avLst>
          </a:prstGeom>
          <a:solidFill>
            <a:srgbClr val="111B2E"/>
          </a:solidFill>
          <a:ln w="12700">
            <a:solidFill>
              <a:srgbClr val="60A5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60A5FA"/>
                </a:solidFill>
                <a:latin typeface="Segoe UI"/>
                <a:ea typeface="Segoe UI"/>
                <a:cs typeface="Segoe UI"/>
              </a:rPr>
              <a:t>Definition: </a:t>
            </a:r>
            <a:r>
              <a:rPr lang="en-US" sz="1350" b="0" dirty="0">
                <a:solidFill>
                  <a:srgbClr val="E2E8F0"/>
                </a:solidFill>
                <a:latin typeface="Segoe UI"/>
                <a:ea typeface="Segoe UI"/>
                <a:cs typeface="Segoe UI"/>
              </a:rPr>
              <a:t>the Sprint Backlog is the Sprint Goal, the selected Product Backlog Items, and the plan for delivering them.</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grpId="0" nodeType="clickEffect">
                                  <p:stCondLst>
                                    <p:cond delay="0"/>
                                  </p:stCondLst>
                                  <p:childTnLst>
                                    <p:set>
                                      <p:cBhvr>
                                        <p:cTn id="28" dur="1" fill="hold">
                                          <p:stCondLst>
                                            <p:cond delay="0"/>
                                          </p:stCondLst>
                                        </p:cTn>
                                        <p:tgtEl>
                                          <p:spTgt spid="106"/>
                                        </p:tgtEl>
                                        <p:attrNameLst>
                                          <p:attrName>style.visibility</p:attrName>
                                        </p:attrNameLst>
                                      </p:cBhvr>
                                      <p:to>
                                        <p:strVal val="visible"/>
                                      </p:to>
                                    </p:set>
                                    <p:anim calcmode="lin" valueType="num">
                                      <p:cBhvr additive="base">
                                        <p:cTn id="29"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30" dur="500" decel="100000" fill="hold"/>
                                        <p:tgtEl>
                                          <p:spTgt spid="106"/>
                                        </p:tgtEl>
                                        <p:attrNameLst>
                                          <p:attrName>ppt_h</p:attrName>
                                        </p:attrNameLst>
                                      </p:cBhvr>
                                      <p:tavLst>
                                        <p:tav tm="0">
                                          <p:val>
                                            <p:strVal val="#ppt_h*0.55"/>
                                          </p:val>
                                        </p:tav>
                                        <p:tav tm="100000">
                                          <p:val>
                                            <p:strVal val="#ppt_h"/>
                                          </p:val>
                                        </p:tav>
                                      </p:tavLst>
                                    </p:anim>
                                    <p:animEffect transition="in" filter="fade">
                                      <p:cBhvr>
                                        <p:cTn id="31" dur="500"/>
                                        <p:tgtEl>
                                          <p:spTgt spid="106"/>
                                        </p:tgtEl>
                                      </p:cBhvr>
                                    </p:animEffect>
                                  </p:childTnLst>
                                </p:cTn>
                              </p:par>
                              <p:par>
                                <p:cTn id="32" presetID="53" presetClass="entr" presetSubtype="16" fill="hold" grpId="0" nodeType="withEffect">
                                  <p:stCondLst>
                                    <p:cond delay="150"/>
                                  </p:stCondLst>
                                  <p:childTnLst>
                                    <p:set>
                                      <p:cBhvr>
                                        <p:cTn id="33" dur="1" fill="hold">
                                          <p:stCondLst>
                                            <p:cond delay="0"/>
                                          </p:stCondLst>
                                        </p:cTn>
                                        <p:tgtEl>
                                          <p:spTgt spid="107"/>
                                        </p:tgtEl>
                                        <p:attrNameLst>
                                          <p:attrName>style.visibility</p:attrName>
                                        </p:attrNameLst>
                                      </p:cBhvr>
                                      <p:to>
                                        <p:strVal val="visible"/>
                                      </p:to>
                                    </p:set>
                                    <p:anim calcmode="lin" valueType="num">
                                      <p:cBhvr additive="base">
                                        <p:cTn id="34"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5" dur="500" decel="100000" fill="hold"/>
                                        <p:tgtEl>
                                          <p:spTgt spid="107"/>
                                        </p:tgtEl>
                                        <p:attrNameLst>
                                          <p:attrName>ppt_h</p:attrName>
                                        </p:attrNameLst>
                                      </p:cBhvr>
                                      <p:tavLst>
                                        <p:tav tm="0">
                                          <p:val>
                                            <p:strVal val="#ppt_h*0.55"/>
                                          </p:val>
                                        </p:tav>
                                        <p:tav tm="100000">
                                          <p:val>
                                            <p:strVal val="#ppt_h"/>
                                          </p:val>
                                        </p:tav>
                                      </p:tavLst>
                                    </p:anim>
                                    <p:animEffect transition="in" filter="fade">
                                      <p:cBhvr>
                                        <p:cTn id="36" dur="500"/>
                                        <p:tgtEl>
                                          <p:spTgt spid="107"/>
                                        </p:tgtEl>
                                      </p:cBhvr>
                                    </p:animEffect>
                                  </p:childTnLst>
                                </p:cTn>
                              </p:par>
                              <p:par>
                                <p:cTn id="37" presetID="53" presetClass="entr" presetSubtype="16" fill="hold" grpId="0" nodeType="withEffect">
                                  <p:stCondLst>
                                    <p:cond delay="150"/>
                                  </p:stCondLst>
                                  <p:childTnLst>
                                    <p:set>
                                      <p:cBhvr>
                                        <p:cTn id="38" dur="1" fill="hold">
                                          <p:stCondLst>
                                            <p:cond delay="0"/>
                                          </p:stCondLst>
                                        </p:cTn>
                                        <p:tgtEl>
                                          <p:spTgt spid="108"/>
                                        </p:tgtEl>
                                        <p:attrNameLst>
                                          <p:attrName>style.visibility</p:attrName>
                                        </p:attrNameLst>
                                      </p:cBhvr>
                                      <p:to>
                                        <p:strVal val="visible"/>
                                      </p:to>
                                    </p:set>
                                    <p:anim calcmode="lin" valueType="num">
                                      <p:cBhvr additive="base">
                                        <p:cTn id="39"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0" dur="500" decel="100000" fill="hold"/>
                                        <p:tgtEl>
                                          <p:spTgt spid="108"/>
                                        </p:tgtEl>
                                        <p:attrNameLst>
                                          <p:attrName>ppt_h</p:attrName>
                                        </p:attrNameLst>
                                      </p:cBhvr>
                                      <p:tavLst>
                                        <p:tav tm="0">
                                          <p:val>
                                            <p:strVal val="#ppt_h*0.55"/>
                                          </p:val>
                                        </p:tav>
                                        <p:tav tm="100000">
                                          <p:val>
                                            <p:strVal val="#ppt_h"/>
                                          </p:val>
                                        </p:tav>
                                      </p:tavLst>
                                    </p:anim>
                                    <p:animEffect transition="in" filter="fade">
                                      <p:cBhvr>
                                        <p:cTn id="41" dur="500"/>
                                        <p:tgtEl>
                                          <p:spTgt spid="108"/>
                                        </p:tgtEl>
                                      </p:cBhvr>
                                    </p:animEffect>
                                  </p:childTnLst>
                                </p:cTn>
                              </p:par>
                              <p:par>
                                <p:cTn id="42" presetID="53" presetClass="entr" presetSubtype="16" fill="hold" nodeType="withEffect">
                                  <p:stCondLst>
                                    <p:cond delay="150"/>
                                  </p:stCondLst>
                                  <p:childTnLst>
                                    <p:set>
                                      <p:cBhvr>
                                        <p:cTn id="43" dur="1" fill="hold">
                                          <p:stCondLst>
                                            <p:cond delay="0"/>
                                          </p:stCondLst>
                                        </p:cTn>
                                        <p:tgtEl>
                                          <p:spTgt spid="109"/>
                                        </p:tgtEl>
                                        <p:attrNameLst>
                                          <p:attrName>style.visibility</p:attrName>
                                        </p:attrNameLst>
                                      </p:cBhvr>
                                      <p:to>
                                        <p:strVal val="visible"/>
                                      </p:to>
                                    </p:set>
                                    <p:anim calcmode="lin" valueType="num">
                                      <p:cBhvr additive="base">
                                        <p:cTn id="44"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45" dur="500" decel="100000" fill="hold"/>
                                        <p:tgtEl>
                                          <p:spTgt spid="109"/>
                                        </p:tgtEl>
                                        <p:attrNameLst>
                                          <p:attrName>ppt_h</p:attrName>
                                        </p:attrNameLst>
                                      </p:cBhvr>
                                      <p:tavLst>
                                        <p:tav tm="0">
                                          <p:val>
                                            <p:strVal val="#ppt_h*0.55"/>
                                          </p:val>
                                        </p:tav>
                                        <p:tav tm="100000">
                                          <p:val>
                                            <p:strVal val="#ppt_h"/>
                                          </p:val>
                                        </p:tav>
                                      </p:tavLst>
                                    </p:anim>
                                    <p:animEffect transition="in" filter="fade">
                                      <p:cBhvr>
                                        <p:cTn id="46" dur="500"/>
                                        <p:tgtEl>
                                          <p:spTgt spid="109"/>
                                        </p:tgtEl>
                                      </p:cBhvr>
                                    </p:animEffect>
                                  </p:childTnLst>
                                </p:cTn>
                              </p:par>
                              <p:par>
                                <p:cTn id="47" presetID="53" presetClass="entr" presetSubtype="16" fill="hold" grpId="0" nodeType="withEffect">
                                  <p:stCondLst>
                                    <p:cond delay="150"/>
                                  </p:stCondLst>
                                  <p:childTnLst>
                                    <p:set>
                                      <p:cBhvr>
                                        <p:cTn id="48" dur="1" fill="hold">
                                          <p:stCondLst>
                                            <p:cond delay="0"/>
                                          </p:stCondLst>
                                        </p:cTn>
                                        <p:tgtEl>
                                          <p:spTgt spid="110"/>
                                        </p:tgtEl>
                                        <p:attrNameLst>
                                          <p:attrName>style.visibility</p:attrName>
                                        </p:attrNameLst>
                                      </p:cBhvr>
                                      <p:to>
                                        <p:strVal val="visible"/>
                                      </p:to>
                                    </p:set>
                                    <p:anim calcmode="lin" valueType="num">
                                      <p:cBhvr additive="base">
                                        <p:cTn id="49" dur="500" decel="100000" fill="hold"/>
                                        <p:tgtEl>
                                          <p:spTgt spid="110"/>
                                        </p:tgtEl>
                                        <p:attrNameLst>
                                          <p:attrName>ppt_w</p:attrName>
                                        </p:attrNameLst>
                                      </p:cBhvr>
                                      <p:tavLst>
                                        <p:tav tm="0">
                                          <p:val>
                                            <p:strVal val="#ppt_w*0.55"/>
                                          </p:val>
                                        </p:tav>
                                        <p:tav tm="100000">
                                          <p:val>
                                            <p:strVal val="#ppt_w"/>
                                          </p:val>
                                        </p:tav>
                                      </p:tavLst>
                                    </p:anim>
                                    <p:anim calcmode="lin" valueType="num">
                                      <p:cBhvr additive="base">
                                        <p:cTn id="50" dur="500" decel="100000" fill="hold"/>
                                        <p:tgtEl>
                                          <p:spTgt spid="110"/>
                                        </p:tgtEl>
                                        <p:attrNameLst>
                                          <p:attrName>ppt_h</p:attrName>
                                        </p:attrNameLst>
                                      </p:cBhvr>
                                      <p:tavLst>
                                        <p:tav tm="0">
                                          <p:val>
                                            <p:strVal val="#ppt_h*0.55"/>
                                          </p:val>
                                        </p:tav>
                                        <p:tav tm="100000">
                                          <p:val>
                                            <p:strVal val="#ppt_h"/>
                                          </p:val>
                                        </p:tav>
                                      </p:tavLst>
                                    </p:anim>
                                    <p:animEffect transition="in" filter="fade">
                                      <p:cBhvr>
                                        <p:cTn id="51" dur="500"/>
                                        <p:tgtEl>
                                          <p:spTgt spid="110"/>
                                        </p:tgtEl>
                                      </p:cBhvr>
                                    </p:animEffect>
                                  </p:childTnLst>
                                </p:cTn>
                              </p:par>
                              <p:par>
                                <p:cTn id="52" presetID="53" presetClass="entr" presetSubtype="16" fill="hold" grpId="0" nodeType="withEffect">
                                  <p:stCondLst>
                                    <p:cond delay="150"/>
                                  </p:stCondLst>
                                  <p:childTnLst>
                                    <p:set>
                                      <p:cBhvr>
                                        <p:cTn id="53" dur="1" fill="hold">
                                          <p:stCondLst>
                                            <p:cond delay="0"/>
                                          </p:stCondLst>
                                        </p:cTn>
                                        <p:tgtEl>
                                          <p:spTgt spid="111"/>
                                        </p:tgtEl>
                                        <p:attrNameLst>
                                          <p:attrName>style.visibility</p:attrName>
                                        </p:attrNameLst>
                                      </p:cBhvr>
                                      <p:to>
                                        <p:strVal val="visible"/>
                                      </p:to>
                                    </p:set>
                                    <p:anim calcmode="lin" valueType="num">
                                      <p:cBhvr additive="base">
                                        <p:cTn id="54" dur="500" decel="100000" fill="hold"/>
                                        <p:tgtEl>
                                          <p:spTgt spid="111"/>
                                        </p:tgtEl>
                                        <p:attrNameLst>
                                          <p:attrName>ppt_w</p:attrName>
                                        </p:attrNameLst>
                                      </p:cBhvr>
                                      <p:tavLst>
                                        <p:tav tm="0">
                                          <p:val>
                                            <p:strVal val="#ppt_w*0.55"/>
                                          </p:val>
                                        </p:tav>
                                        <p:tav tm="100000">
                                          <p:val>
                                            <p:strVal val="#ppt_w"/>
                                          </p:val>
                                        </p:tav>
                                      </p:tavLst>
                                    </p:anim>
                                    <p:anim calcmode="lin" valueType="num">
                                      <p:cBhvr additive="base">
                                        <p:cTn id="55" dur="500" decel="100000" fill="hold"/>
                                        <p:tgtEl>
                                          <p:spTgt spid="111"/>
                                        </p:tgtEl>
                                        <p:attrNameLst>
                                          <p:attrName>ppt_h</p:attrName>
                                        </p:attrNameLst>
                                      </p:cBhvr>
                                      <p:tavLst>
                                        <p:tav tm="0">
                                          <p:val>
                                            <p:strVal val="#ppt_h*0.55"/>
                                          </p:val>
                                        </p:tav>
                                        <p:tav tm="100000">
                                          <p:val>
                                            <p:strVal val="#ppt_h"/>
                                          </p:val>
                                        </p:tav>
                                      </p:tavLst>
                                    </p:anim>
                                    <p:animEffect transition="in" filter="fade">
                                      <p:cBhvr>
                                        <p:cTn id="56" dur="500"/>
                                        <p:tgtEl>
                                          <p:spTgt spid="111"/>
                                        </p:tgtEl>
                                      </p:cBhvr>
                                    </p:animEffect>
                                  </p:childTnLst>
                                </p:cTn>
                              </p:par>
                            </p:childTnLst>
                          </p:cTn>
                        </p:par>
                      </p:childTnLst>
                    </p:cTn>
                  </p:par>
                  <p:par>
                    <p:cTn id="57" fill="hold">
                      <p:stCondLst>
                        <p:cond delay="indefinite"/>
                      </p:stCondLst>
                      <p:childTnLst>
                        <p:par>
                          <p:cTn id="58" fill="hold">
                            <p:stCondLst>
                              <p:cond delay="0"/>
                            </p:stCondLst>
                            <p:childTnLst>
                              <p:par>
                                <p:cTn id="59" presetID="53" presetClass="entr" presetSubtype="16" fill="hold" grpId="0" nodeType="clickEffect">
                                  <p:stCondLst>
                                    <p:cond delay="0"/>
                                  </p:stCondLst>
                                  <p:childTnLst>
                                    <p:set>
                                      <p:cBhvr>
                                        <p:cTn id="60" dur="1" fill="hold">
                                          <p:stCondLst>
                                            <p:cond delay="0"/>
                                          </p:stCondLst>
                                        </p:cTn>
                                        <p:tgtEl>
                                          <p:spTgt spid="112"/>
                                        </p:tgtEl>
                                        <p:attrNameLst>
                                          <p:attrName>style.visibility</p:attrName>
                                        </p:attrNameLst>
                                      </p:cBhvr>
                                      <p:to>
                                        <p:strVal val="visible"/>
                                      </p:to>
                                    </p:set>
                                    <p:anim calcmode="lin" valueType="num">
                                      <p:cBhvr additive="base">
                                        <p:cTn id="61" dur="500" decel="100000" fill="hold"/>
                                        <p:tgtEl>
                                          <p:spTgt spid="112"/>
                                        </p:tgtEl>
                                        <p:attrNameLst>
                                          <p:attrName>ppt_w</p:attrName>
                                        </p:attrNameLst>
                                      </p:cBhvr>
                                      <p:tavLst>
                                        <p:tav tm="0">
                                          <p:val>
                                            <p:strVal val="#ppt_w*0.55"/>
                                          </p:val>
                                        </p:tav>
                                        <p:tav tm="100000">
                                          <p:val>
                                            <p:strVal val="#ppt_w"/>
                                          </p:val>
                                        </p:tav>
                                      </p:tavLst>
                                    </p:anim>
                                    <p:anim calcmode="lin" valueType="num">
                                      <p:cBhvr additive="base">
                                        <p:cTn id="62" dur="500" decel="100000" fill="hold"/>
                                        <p:tgtEl>
                                          <p:spTgt spid="112"/>
                                        </p:tgtEl>
                                        <p:attrNameLst>
                                          <p:attrName>ppt_h</p:attrName>
                                        </p:attrNameLst>
                                      </p:cBhvr>
                                      <p:tavLst>
                                        <p:tav tm="0">
                                          <p:val>
                                            <p:strVal val="#ppt_h*0.55"/>
                                          </p:val>
                                        </p:tav>
                                        <p:tav tm="100000">
                                          <p:val>
                                            <p:strVal val="#ppt_h"/>
                                          </p:val>
                                        </p:tav>
                                      </p:tavLst>
                                    </p:anim>
                                    <p:animEffect transition="in" filter="fade">
                                      <p:cBhvr>
                                        <p:cTn id="63" dur="500"/>
                                        <p:tgtEl>
                                          <p:spTgt spid="112"/>
                                        </p:tgtEl>
                                      </p:cBhvr>
                                    </p:animEffect>
                                  </p:childTnLst>
                                </p:cTn>
                              </p:par>
                              <p:par>
                                <p:cTn id="64" presetID="53" presetClass="entr" presetSubtype="16" fill="hold" grpId="0" nodeType="withEffect">
                                  <p:stCondLst>
                                    <p:cond delay="150"/>
                                  </p:stCondLst>
                                  <p:childTnLst>
                                    <p:set>
                                      <p:cBhvr>
                                        <p:cTn id="65" dur="1" fill="hold">
                                          <p:stCondLst>
                                            <p:cond delay="0"/>
                                          </p:stCondLst>
                                        </p:cTn>
                                        <p:tgtEl>
                                          <p:spTgt spid="113"/>
                                        </p:tgtEl>
                                        <p:attrNameLst>
                                          <p:attrName>style.visibility</p:attrName>
                                        </p:attrNameLst>
                                      </p:cBhvr>
                                      <p:to>
                                        <p:strVal val="visible"/>
                                      </p:to>
                                    </p:set>
                                    <p:anim calcmode="lin" valueType="num">
                                      <p:cBhvr additive="base">
                                        <p:cTn id="66" dur="500" decel="100000" fill="hold"/>
                                        <p:tgtEl>
                                          <p:spTgt spid="113"/>
                                        </p:tgtEl>
                                        <p:attrNameLst>
                                          <p:attrName>ppt_w</p:attrName>
                                        </p:attrNameLst>
                                      </p:cBhvr>
                                      <p:tavLst>
                                        <p:tav tm="0">
                                          <p:val>
                                            <p:strVal val="#ppt_w*0.55"/>
                                          </p:val>
                                        </p:tav>
                                        <p:tav tm="100000">
                                          <p:val>
                                            <p:strVal val="#ppt_w"/>
                                          </p:val>
                                        </p:tav>
                                      </p:tavLst>
                                    </p:anim>
                                    <p:anim calcmode="lin" valueType="num">
                                      <p:cBhvr additive="base">
                                        <p:cTn id="67" dur="500" decel="100000" fill="hold"/>
                                        <p:tgtEl>
                                          <p:spTgt spid="113"/>
                                        </p:tgtEl>
                                        <p:attrNameLst>
                                          <p:attrName>ppt_h</p:attrName>
                                        </p:attrNameLst>
                                      </p:cBhvr>
                                      <p:tavLst>
                                        <p:tav tm="0">
                                          <p:val>
                                            <p:strVal val="#ppt_h*0.55"/>
                                          </p:val>
                                        </p:tav>
                                        <p:tav tm="100000">
                                          <p:val>
                                            <p:strVal val="#ppt_h"/>
                                          </p:val>
                                        </p:tav>
                                      </p:tavLst>
                                    </p:anim>
                                    <p:animEffect transition="in" filter="fade">
                                      <p:cBhvr>
                                        <p:cTn id="68" dur="500"/>
                                        <p:tgtEl>
                                          <p:spTgt spid="113"/>
                                        </p:tgtEl>
                                      </p:cBhvr>
                                    </p:animEffect>
                                  </p:childTnLst>
                                </p:cTn>
                              </p:par>
                              <p:par>
                                <p:cTn id="69" presetID="53" presetClass="entr" presetSubtype="16" fill="hold" grpId="0" nodeType="withEffect">
                                  <p:stCondLst>
                                    <p:cond delay="150"/>
                                  </p:stCondLst>
                                  <p:childTnLst>
                                    <p:set>
                                      <p:cBhvr>
                                        <p:cTn id="70" dur="1" fill="hold">
                                          <p:stCondLst>
                                            <p:cond delay="0"/>
                                          </p:stCondLst>
                                        </p:cTn>
                                        <p:tgtEl>
                                          <p:spTgt spid="114"/>
                                        </p:tgtEl>
                                        <p:attrNameLst>
                                          <p:attrName>style.visibility</p:attrName>
                                        </p:attrNameLst>
                                      </p:cBhvr>
                                      <p:to>
                                        <p:strVal val="visible"/>
                                      </p:to>
                                    </p:set>
                                    <p:anim calcmode="lin" valueType="num">
                                      <p:cBhvr additive="base">
                                        <p:cTn id="71" dur="500" decel="100000" fill="hold"/>
                                        <p:tgtEl>
                                          <p:spTgt spid="114"/>
                                        </p:tgtEl>
                                        <p:attrNameLst>
                                          <p:attrName>ppt_w</p:attrName>
                                        </p:attrNameLst>
                                      </p:cBhvr>
                                      <p:tavLst>
                                        <p:tav tm="0">
                                          <p:val>
                                            <p:strVal val="#ppt_w*0.55"/>
                                          </p:val>
                                        </p:tav>
                                        <p:tav tm="100000">
                                          <p:val>
                                            <p:strVal val="#ppt_w"/>
                                          </p:val>
                                        </p:tav>
                                      </p:tavLst>
                                    </p:anim>
                                    <p:anim calcmode="lin" valueType="num">
                                      <p:cBhvr additive="base">
                                        <p:cTn id="72" dur="500" decel="100000" fill="hold"/>
                                        <p:tgtEl>
                                          <p:spTgt spid="114"/>
                                        </p:tgtEl>
                                        <p:attrNameLst>
                                          <p:attrName>ppt_h</p:attrName>
                                        </p:attrNameLst>
                                      </p:cBhvr>
                                      <p:tavLst>
                                        <p:tav tm="0">
                                          <p:val>
                                            <p:strVal val="#ppt_h*0.55"/>
                                          </p:val>
                                        </p:tav>
                                        <p:tav tm="100000">
                                          <p:val>
                                            <p:strVal val="#ppt_h"/>
                                          </p:val>
                                        </p:tav>
                                      </p:tavLst>
                                    </p:anim>
                                    <p:animEffect transition="in" filter="fade">
                                      <p:cBhvr>
                                        <p:cTn id="73" dur="500"/>
                                        <p:tgtEl>
                                          <p:spTgt spid="114"/>
                                        </p:tgtEl>
                                      </p:cBhvr>
                                    </p:animEffect>
                                  </p:childTnLst>
                                </p:cTn>
                              </p:par>
                              <p:par>
                                <p:cTn id="74" presetID="53" presetClass="entr" presetSubtype="16" fill="hold" nodeType="withEffect">
                                  <p:stCondLst>
                                    <p:cond delay="150"/>
                                  </p:stCondLst>
                                  <p:childTnLst>
                                    <p:set>
                                      <p:cBhvr>
                                        <p:cTn id="75" dur="1" fill="hold">
                                          <p:stCondLst>
                                            <p:cond delay="0"/>
                                          </p:stCondLst>
                                        </p:cTn>
                                        <p:tgtEl>
                                          <p:spTgt spid="115"/>
                                        </p:tgtEl>
                                        <p:attrNameLst>
                                          <p:attrName>style.visibility</p:attrName>
                                        </p:attrNameLst>
                                      </p:cBhvr>
                                      <p:to>
                                        <p:strVal val="visible"/>
                                      </p:to>
                                    </p:set>
                                    <p:anim calcmode="lin" valueType="num">
                                      <p:cBhvr additive="base">
                                        <p:cTn id="76" dur="500" decel="100000" fill="hold"/>
                                        <p:tgtEl>
                                          <p:spTgt spid="115"/>
                                        </p:tgtEl>
                                        <p:attrNameLst>
                                          <p:attrName>ppt_w</p:attrName>
                                        </p:attrNameLst>
                                      </p:cBhvr>
                                      <p:tavLst>
                                        <p:tav tm="0">
                                          <p:val>
                                            <p:strVal val="#ppt_w*0.55"/>
                                          </p:val>
                                        </p:tav>
                                        <p:tav tm="100000">
                                          <p:val>
                                            <p:strVal val="#ppt_w"/>
                                          </p:val>
                                        </p:tav>
                                      </p:tavLst>
                                    </p:anim>
                                    <p:anim calcmode="lin" valueType="num">
                                      <p:cBhvr additive="base">
                                        <p:cTn id="77" dur="500" decel="100000" fill="hold"/>
                                        <p:tgtEl>
                                          <p:spTgt spid="115"/>
                                        </p:tgtEl>
                                        <p:attrNameLst>
                                          <p:attrName>ppt_h</p:attrName>
                                        </p:attrNameLst>
                                      </p:cBhvr>
                                      <p:tavLst>
                                        <p:tav tm="0">
                                          <p:val>
                                            <p:strVal val="#ppt_h*0.55"/>
                                          </p:val>
                                        </p:tav>
                                        <p:tav tm="100000">
                                          <p:val>
                                            <p:strVal val="#ppt_h"/>
                                          </p:val>
                                        </p:tav>
                                      </p:tavLst>
                                    </p:anim>
                                    <p:animEffect transition="in" filter="fade">
                                      <p:cBhvr>
                                        <p:cTn id="78" dur="500"/>
                                        <p:tgtEl>
                                          <p:spTgt spid="115"/>
                                        </p:tgtEl>
                                      </p:cBhvr>
                                    </p:animEffect>
                                  </p:childTnLst>
                                </p:cTn>
                              </p:par>
                              <p:par>
                                <p:cTn id="79" presetID="53" presetClass="entr" presetSubtype="16" fill="hold" grpId="0" nodeType="withEffect">
                                  <p:stCondLst>
                                    <p:cond delay="150"/>
                                  </p:stCondLst>
                                  <p:childTnLst>
                                    <p:set>
                                      <p:cBhvr>
                                        <p:cTn id="80" dur="1" fill="hold">
                                          <p:stCondLst>
                                            <p:cond delay="0"/>
                                          </p:stCondLst>
                                        </p:cTn>
                                        <p:tgtEl>
                                          <p:spTgt spid="116"/>
                                        </p:tgtEl>
                                        <p:attrNameLst>
                                          <p:attrName>style.visibility</p:attrName>
                                        </p:attrNameLst>
                                      </p:cBhvr>
                                      <p:to>
                                        <p:strVal val="visible"/>
                                      </p:to>
                                    </p:set>
                                    <p:anim calcmode="lin" valueType="num">
                                      <p:cBhvr additive="base">
                                        <p:cTn id="81" dur="500" decel="100000" fill="hold"/>
                                        <p:tgtEl>
                                          <p:spTgt spid="116"/>
                                        </p:tgtEl>
                                        <p:attrNameLst>
                                          <p:attrName>ppt_w</p:attrName>
                                        </p:attrNameLst>
                                      </p:cBhvr>
                                      <p:tavLst>
                                        <p:tav tm="0">
                                          <p:val>
                                            <p:strVal val="#ppt_w*0.55"/>
                                          </p:val>
                                        </p:tav>
                                        <p:tav tm="100000">
                                          <p:val>
                                            <p:strVal val="#ppt_w"/>
                                          </p:val>
                                        </p:tav>
                                      </p:tavLst>
                                    </p:anim>
                                    <p:anim calcmode="lin" valueType="num">
                                      <p:cBhvr additive="base">
                                        <p:cTn id="82" dur="500" decel="100000" fill="hold"/>
                                        <p:tgtEl>
                                          <p:spTgt spid="116"/>
                                        </p:tgtEl>
                                        <p:attrNameLst>
                                          <p:attrName>ppt_h</p:attrName>
                                        </p:attrNameLst>
                                      </p:cBhvr>
                                      <p:tavLst>
                                        <p:tav tm="0">
                                          <p:val>
                                            <p:strVal val="#ppt_h*0.55"/>
                                          </p:val>
                                        </p:tav>
                                        <p:tav tm="100000">
                                          <p:val>
                                            <p:strVal val="#ppt_h"/>
                                          </p:val>
                                        </p:tav>
                                      </p:tavLst>
                                    </p:anim>
                                    <p:animEffect transition="in" filter="fade">
                                      <p:cBhvr>
                                        <p:cTn id="83" dur="500"/>
                                        <p:tgtEl>
                                          <p:spTgt spid="116"/>
                                        </p:tgtEl>
                                      </p:cBhvr>
                                    </p:animEffect>
                                  </p:childTnLst>
                                </p:cTn>
                              </p:par>
                              <p:par>
                                <p:cTn id="84" presetID="53" presetClass="entr" presetSubtype="16" fill="hold" grpId="0" nodeType="withEffect">
                                  <p:stCondLst>
                                    <p:cond delay="150"/>
                                  </p:stCondLst>
                                  <p:childTnLst>
                                    <p:set>
                                      <p:cBhvr>
                                        <p:cTn id="85" dur="1" fill="hold">
                                          <p:stCondLst>
                                            <p:cond delay="0"/>
                                          </p:stCondLst>
                                        </p:cTn>
                                        <p:tgtEl>
                                          <p:spTgt spid="117"/>
                                        </p:tgtEl>
                                        <p:attrNameLst>
                                          <p:attrName>style.visibility</p:attrName>
                                        </p:attrNameLst>
                                      </p:cBhvr>
                                      <p:to>
                                        <p:strVal val="visible"/>
                                      </p:to>
                                    </p:set>
                                    <p:anim calcmode="lin" valueType="num">
                                      <p:cBhvr additive="base">
                                        <p:cTn id="86" dur="500" decel="100000" fill="hold"/>
                                        <p:tgtEl>
                                          <p:spTgt spid="117"/>
                                        </p:tgtEl>
                                        <p:attrNameLst>
                                          <p:attrName>ppt_w</p:attrName>
                                        </p:attrNameLst>
                                      </p:cBhvr>
                                      <p:tavLst>
                                        <p:tav tm="0">
                                          <p:val>
                                            <p:strVal val="#ppt_w*0.55"/>
                                          </p:val>
                                        </p:tav>
                                        <p:tav tm="100000">
                                          <p:val>
                                            <p:strVal val="#ppt_w"/>
                                          </p:val>
                                        </p:tav>
                                      </p:tavLst>
                                    </p:anim>
                                    <p:anim calcmode="lin" valueType="num">
                                      <p:cBhvr additive="base">
                                        <p:cTn id="87" dur="500" decel="100000" fill="hold"/>
                                        <p:tgtEl>
                                          <p:spTgt spid="117"/>
                                        </p:tgtEl>
                                        <p:attrNameLst>
                                          <p:attrName>ppt_h</p:attrName>
                                        </p:attrNameLst>
                                      </p:cBhvr>
                                      <p:tavLst>
                                        <p:tav tm="0">
                                          <p:val>
                                            <p:strVal val="#ppt_h*0.55"/>
                                          </p:val>
                                        </p:tav>
                                        <p:tav tm="100000">
                                          <p:val>
                                            <p:strVal val="#ppt_h"/>
                                          </p:val>
                                        </p:tav>
                                      </p:tavLst>
                                    </p:anim>
                                    <p:animEffect transition="in" filter="fade">
                                      <p:cBhvr>
                                        <p:cTn id="88" dur="500"/>
                                        <p:tgtEl>
                                          <p:spTgt spid="117"/>
                                        </p:tgtEl>
                                      </p:cBhvr>
                                    </p:animEffect>
                                  </p:childTnLst>
                                </p:cTn>
                              </p:par>
                            </p:childTnLst>
                          </p:cTn>
                        </p:par>
                      </p:childTnLst>
                    </p:cTn>
                  </p:par>
                  <p:par>
                    <p:cTn id="89" fill="hold">
                      <p:stCondLst>
                        <p:cond delay="indefinite"/>
                      </p:stCondLst>
                      <p:childTnLst>
                        <p:par>
                          <p:cTn id="90" fill="hold">
                            <p:stCondLst>
                              <p:cond delay="0"/>
                            </p:stCondLst>
                            <p:childTnLst>
                              <p:par>
                                <p:cTn id="91" presetID="53" presetClass="entr" presetSubtype="16" fill="hold" grpId="0" nodeType="clickEffect">
                                  <p:stCondLst>
                                    <p:cond delay="0"/>
                                  </p:stCondLst>
                                  <p:childTnLst>
                                    <p:set>
                                      <p:cBhvr>
                                        <p:cTn id="92" dur="1" fill="hold">
                                          <p:stCondLst>
                                            <p:cond delay="0"/>
                                          </p:stCondLst>
                                        </p:cTn>
                                        <p:tgtEl>
                                          <p:spTgt spid="118"/>
                                        </p:tgtEl>
                                        <p:attrNameLst>
                                          <p:attrName>style.visibility</p:attrName>
                                        </p:attrNameLst>
                                      </p:cBhvr>
                                      <p:to>
                                        <p:strVal val="visible"/>
                                      </p:to>
                                    </p:set>
                                    <p:anim calcmode="lin" valueType="num">
                                      <p:cBhvr additive="base">
                                        <p:cTn id="93" dur="500" decel="100000" fill="hold"/>
                                        <p:tgtEl>
                                          <p:spTgt spid="118"/>
                                        </p:tgtEl>
                                        <p:attrNameLst>
                                          <p:attrName>ppt_w</p:attrName>
                                        </p:attrNameLst>
                                      </p:cBhvr>
                                      <p:tavLst>
                                        <p:tav tm="0">
                                          <p:val>
                                            <p:strVal val="#ppt_w*0.55"/>
                                          </p:val>
                                        </p:tav>
                                        <p:tav tm="100000">
                                          <p:val>
                                            <p:strVal val="#ppt_w"/>
                                          </p:val>
                                        </p:tav>
                                      </p:tavLst>
                                    </p:anim>
                                    <p:anim calcmode="lin" valueType="num">
                                      <p:cBhvr additive="base">
                                        <p:cTn id="94" dur="500" decel="100000" fill="hold"/>
                                        <p:tgtEl>
                                          <p:spTgt spid="118"/>
                                        </p:tgtEl>
                                        <p:attrNameLst>
                                          <p:attrName>ppt_h</p:attrName>
                                        </p:attrNameLst>
                                      </p:cBhvr>
                                      <p:tavLst>
                                        <p:tav tm="0">
                                          <p:val>
                                            <p:strVal val="#ppt_h*0.55"/>
                                          </p:val>
                                        </p:tav>
                                        <p:tav tm="100000">
                                          <p:val>
                                            <p:strVal val="#ppt_h"/>
                                          </p:val>
                                        </p:tav>
                                      </p:tavLst>
                                    </p:anim>
                                    <p:animEffect transition="in" filter="fade">
                                      <p:cBhvr>
                                        <p:cTn id="95" dur="500"/>
                                        <p:tgtEl>
                                          <p:spTgt spid="118"/>
                                        </p:tgtEl>
                                      </p:cBhvr>
                                    </p:animEffect>
                                  </p:childTnLst>
                                </p:cTn>
                              </p:par>
                              <p:par>
                                <p:cTn id="96" presetID="53" presetClass="entr" presetSubtype="16" fill="hold" grpId="0" nodeType="withEffect">
                                  <p:stCondLst>
                                    <p:cond delay="200"/>
                                  </p:stCondLst>
                                  <p:childTnLst>
                                    <p:set>
                                      <p:cBhvr>
                                        <p:cTn id="97" dur="1" fill="hold">
                                          <p:stCondLst>
                                            <p:cond delay="0"/>
                                          </p:stCondLst>
                                        </p:cTn>
                                        <p:tgtEl>
                                          <p:spTgt spid="119"/>
                                        </p:tgtEl>
                                        <p:attrNameLst>
                                          <p:attrName>style.visibility</p:attrName>
                                        </p:attrNameLst>
                                      </p:cBhvr>
                                      <p:to>
                                        <p:strVal val="visible"/>
                                      </p:to>
                                    </p:set>
                                    <p:anim calcmode="lin" valueType="num">
                                      <p:cBhvr additive="base">
                                        <p:cTn id="98" dur="500" decel="100000" fill="hold"/>
                                        <p:tgtEl>
                                          <p:spTgt spid="119"/>
                                        </p:tgtEl>
                                        <p:attrNameLst>
                                          <p:attrName>ppt_w</p:attrName>
                                        </p:attrNameLst>
                                      </p:cBhvr>
                                      <p:tavLst>
                                        <p:tav tm="0">
                                          <p:val>
                                            <p:strVal val="#ppt_w*0.3"/>
                                          </p:val>
                                        </p:tav>
                                        <p:tav tm="100000">
                                          <p:val>
                                            <p:strVal val="#ppt_w*1.08"/>
                                          </p:val>
                                        </p:tav>
                                      </p:tavLst>
                                    </p:anim>
                                    <p:anim calcmode="lin" valueType="num">
                                      <p:cBhvr additive="base">
                                        <p:cTn id="99" dur="500" decel="100000" fill="hold"/>
                                        <p:tgtEl>
                                          <p:spTgt spid="119"/>
                                        </p:tgtEl>
                                        <p:attrNameLst>
                                          <p:attrName>ppt_h</p:attrName>
                                        </p:attrNameLst>
                                      </p:cBhvr>
                                      <p:tavLst>
                                        <p:tav tm="0">
                                          <p:val>
                                            <p:strVal val="#ppt_h*0.3"/>
                                          </p:val>
                                        </p:tav>
                                        <p:tav tm="100000">
                                          <p:val>
                                            <p:strVal val="#ppt_h*1.08"/>
                                          </p:val>
                                        </p:tav>
                                      </p:tavLst>
                                    </p:anim>
                                    <p:animEffect transition="in" filter="fade">
                                      <p:cBhvr>
                                        <p:cTn id="100" dur="250"/>
                                        <p:tgtEl>
                                          <p:spTgt spid="119"/>
                                        </p:tgtEl>
                                      </p:cBhvr>
                                    </p:animEffect>
                                    <p:anim calcmode="lin" valueType="num">
                                      <p:cBhvr additive="base">
                                        <p:cTn id="101" dur="160" fill="hold">
                                          <p:stCondLst>
                                            <p:cond delay="500"/>
                                          </p:stCondLst>
                                        </p:cTn>
                                        <p:tgtEl>
                                          <p:spTgt spid="119"/>
                                        </p:tgtEl>
                                        <p:attrNameLst>
                                          <p:attrName>ppt_w</p:attrName>
                                        </p:attrNameLst>
                                      </p:cBhvr>
                                      <p:tavLst>
                                        <p:tav tm="0">
                                          <p:val>
                                            <p:strVal val="#ppt_w*1.08"/>
                                          </p:val>
                                        </p:tav>
                                        <p:tav tm="100000">
                                          <p:val>
                                            <p:strVal val="#ppt_w"/>
                                          </p:val>
                                        </p:tav>
                                      </p:tavLst>
                                    </p:anim>
                                    <p:anim calcmode="lin" valueType="num">
                                      <p:cBhvr additive="base">
                                        <p:cTn id="102" dur="160" fill="hold">
                                          <p:stCondLst>
                                            <p:cond delay="500"/>
                                          </p:stCondLst>
                                        </p:cTn>
                                        <p:tgtEl>
                                          <p:spTgt spid="119"/>
                                        </p:tgtEl>
                                        <p:attrNameLst>
                                          <p:attrName>ppt_h</p:attrName>
                                        </p:attrNameLst>
                                      </p:cBhvr>
                                      <p:tavLst>
                                        <p:tav tm="0">
                                          <p:val>
                                            <p:strVal val="#ppt_h*1.08"/>
                                          </p:val>
                                        </p:tav>
                                        <p:tav tm="100000">
                                          <p:val>
                                            <p:strVal val="#ppt_h"/>
                                          </p:val>
                                        </p:tav>
                                      </p:tavLst>
                                    </p:anim>
                                  </p:childTnLst>
                                </p:cTn>
                              </p:par>
                            </p:childTnLst>
                          </p:cTn>
                        </p:par>
                      </p:childTnLst>
                    </p:cTn>
                  </p:par>
                  <p:par>
                    <p:cTn id="103" fill="hold">
                      <p:stCondLst>
                        <p:cond delay="indefinite"/>
                      </p:stCondLst>
                      <p:childTnLst>
                        <p:par>
                          <p:cTn id="104" fill="hold">
                            <p:stCondLst>
                              <p:cond delay="0"/>
                            </p:stCondLst>
                            <p:childTnLst>
                              <p:par>
                                <p:cTn id="105" presetID="42" presetClass="entr" presetSubtype="0" fill="hold" grpId="0" nodeType="clickEffect">
                                  <p:stCondLst>
                                    <p:cond delay="0"/>
                                  </p:stCondLst>
                                  <p:childTnLst>
                                    <p:set>
                                      <p:cBhvr>
                                        <p:cTn id="106" dur="1" fill="hold">
                                          <p:stCondLst>
                                            <p:cond delay="0"/>
                                          </p:stCondLst>
                                        </p:cTn>
                                        <p:tgtEl>
                                          <p:spTgt spid="120"/>
                                        </p:tgtEl>
                                        <p:attrNameLst>
                                          <p:attrName>style.visibility</p:attrName>
                                        </p:attrNameLst>
                                      </p:cBhvr>
                                      <p:to>
                                        <p:strVal val="visible"/>
                                      </p:to>
                                    </p:set>
                                    <p:animEffect transition="in" filter="fade">
                                      <p:cBhvr>
                                        <p:cTn id="107" dur="500"/>
                                        <p:tgtEl>
                                          <p:spTgt spid="120"/>
                                        </p:tgtEl>
                                      </p:cBhvr>
                                    </p:animEffect>
                                    <p:anim calcmode="lin" valueType="num">
                                      <p:cBhvr additive="base">
                                        <p:cTn id="108" dur="500" decel="100000" fill="hold"/>
                                        <p:tgtEl>
                                          <p:spTgt spid="120"/>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8" grpId="0" animBg="1"/>
      <p:bldP spid="110" grpId="0" animBg="1"/>
      <p:bldP spid="111" grpId="0" animBg="1"/>
      <p:bldP spid="112" grpId="0" animBg="1"/>
      <p:bldP spid="113" grpId="0" animBg="1"/>
      <p:bldP spid="114" grpId="0" animBg="1"/>
      <p:bldP spid="116" grpId="0" animBg="1"/>
      <p:bldP spid="117" grpId="0" animBg="1"/>
      <p:bldP spid="118" grpId="0" animBg="1"/>
      <p:bldP spid="119" grpId="0" animBg="1"/>
      <p:bldP spid="120"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472B6">
              <a:alpha val="18000"/>
            </a:srgbClr>
          </a:solidFill>
          <a:ln w="12700">
            <a:solidFill>
              <a:srgbClr val="F472B6"/>
            </a:solidFill>
          </a:ln>
        </p:spPr>
        <p:txBody>
          <a:bodyPr wrap="square" lIns="0" tIns="0" rIns="0" bIns="0" rtlCol="0" anchor="ctr">
            <a:noAutofit/>
          </a:bodyPr>
          <a:lstStyle/>
          <a:p>
            <a:pPr marL="0" indent="0" algn="ctr">
              <a:spcBef>
                <a:spcPts val="0"/>
              </a:spcBef>
              <a:spcAft>
                <a:spcPts val="0"/>
              </a:spcAft>
              <a:buNone/>
            </a:pPr>
            <a:r>
              <a:rPr lang="en-US" sz="1000" b="1" dirty="0">
                <a:solidFill>
                  <a:srgbClr val="F472B6"/>
                </a:solidFill>
                <a:latin typeface="Segoe UI"/>
                <a:ea typeface="Segoe UI"/>
                <a:cs typeface="Segoe UI"/>
              </a:rPr>
              <a:t>WHO DECIDES?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Pigs, Chickens, and Whose Word Counts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An old Scrum story about commitment, and who decides what, when.</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265</a:t>
            </a:r>
            <a:endParaRPr lang="en-US" sz="850" dirty="0"/>
          </a:p>
        </p:txBody>
      </p:sp>
      <p:sp>
        <p:nvSpPr>
          <p:cNvPr id="101" name="s101"/>
          <p:cNvSpPr/>
          <p:nvPr/>
        </p:nvSpPr>
        <p:spPr>
          <a:xfrm>
            <a:off x="543154" y="1828800"/>
            <a:ext cx="5406847" cy="1600200"/>
          </a:xfrm>
          <a:prstGeom prst="roundRect">
            <a:avLst>
              <a:gd name="adj" fmla="val 8000"/>
            </a:avLst>
          </a:prstGeom>
          <a:solidFill>
            <a:srgbClr val="111B2E"/>
          </a:solidFill>
          <a:ln w="12700">
            <a:solidFill>
              <a:srgbClr val="F472B6"/>
            </a:solidFill>
            <a:prstDash val="solid"/>
          </a:ln>
        </p:spPr>
        <p:txBody>
          <a:bodyPr wrap="square" lIns="201168" tIns="137160" rIns="164592" bIns="91440" rtlCol="0" anchor="t">
            <a:noAutofit/>
          </a:bodyPr>
          <a:lstStyle/>
          <a:p>
            <a:pPr marL="0" indent="0" algn="l">
              <a:spcBef>
                <a:spcPts val="0"/>
              </a:spcBef>
              <a:spcAft>
                <a:spcPts val="600"/>
              </a:spcAft>
              <a:buNone/>
            </a:pPr>
            <a:r>
              <a:rPr lang="en-US" sz="1150" b="1" dirty="0">
                <a:solidFill>
                  <a:srgbClr val="F472B6"/>
                </a:solidFill>
                <a:latin typeface="Segoe UI"/>
                <a:ea typeface="Segoe UI"/>
                <a:cs typeface="Segoe UI"/>
              </a:rPr>
              <a:t>🐷  PIGS  ·  COMMITTED</a:t>
            </a:r>
            <a:endParaRPr lang="en-US" sz="1150" dirty="0"/>
          </a:p>
          <a:p>
            <a:pPr marL="0" indent="0" algn="l">
              <a:spcBef>
                <a:spcPts val="0"/>
              </a:spcBef>
              <a:spcAft>
                <a:spcPts val="400"/>
              </a:spcAft>
              <a:buNone/>
            </a:pPr>
            <a:r>
              <a:rPr lang="en-US" sz="1300" b="0" dirty="0">
                <a:solidFill>
                  <a:srgbClr val="F472B6"/>
                </a:solidFill>
                <a:latin typeface="Segoe UI"/>
                <a:ea typeface="Segoe UI"/>
                <a:cs typeface="Segoe UI"/>
              </a:rPr>
              <a:t>•  </a:t>
            </a:r>
            <a:r>
              <a:rPr lang="en-US" sz="1300" b="0" dirty="0">
                <a:solidFill>
                  <a:srgbClr val="E2E8F0"/>
                </a:solidFill>
                <a:latin typeface="Segoe UI"/>
                <a:ea typeface="Segoe UI"/>
                <a:cs typeface="Segoe UI"/>
              </a:rPr>
              <a:t>the Scrum Team: they do the work</a:t>
            </a:r>
            <a:endParaRPr lang="en-US" sz="1300" dirty="0"/>
          </a:p>
          <a:p>
            <a:pPr marL="0" indent="0" algn="l">
              <a:spcBef>
                <a:spcPts val="0"/>
              </a:spcBef>
              <a:spcAft>
                <a:spcPts val="400"/>
              </a:spcAft>
              <a:buNone/>
            </a:pPr>
            <a:r>
              <a:rPr lang="en-US" sz="1300" b="0" dirty="0">
                <a:solidFill>
                  <a:srgbClr val="F472B6"/>
                </a:solidFill>
                <a:latin typeface="Segoe UI"/>
                <a:ea typeface="Segoe UI"/>
                <a:cs typeface="Segoe UI"/>
              </a:rPr>
              <a:t>•  </a:t>
            </a:r>
            <a:r>
              <a:rPr lang="en-US" sz="1300" b="0" dirty="0">
                <a:solidFill>
                  <a:srgbClr val="E2E8F0"/>
                </a:solidFill>
                <a:latin typeface="Segoe UI"/>
                <a:ea typeface="Segoe UI"/>
                <a:cs typeface="Segoe UI"/>
              </a:rPr>
              <a:t>they own the result</a:t>
            </a:r>
            <a:endParaRPr lang="en-US" sz="1300" dirty="0"/>
          </a:p>
          <a:p>
            <a:pPr marL="0" indent="0" algn="l">
              <a:spcBef>
                <a:spcPts val="0"/>
              </a:spcBef>
              <a:spcAft>
                <a:spcPts val="400"/>
              </a:spcAft>
              <a:buNone/>
            </a:pPr>
            <a:r>
              <a:rPr lang="en-US" sz="1300" b="0" dirty="0">
                <a:solidFill>
                  <a:srgbClr val="F472B6"/>
                </a:solidFill>
                <a:latin typeface="Segoe UI"/>
                <a:ea typeface="Segoe UI"/>
                <a:cs typeface="Segoe UI"/>
              </a:rPr>
              <a:t>•  </a:t>
            </a:r>
            <a:r>
              <a:rPr lang="en-US" sz="1300" b="0" dirty="0">
                <a:solidFill>
                  <a:srgbClr val="E2E8F0"/>
                </a:solidFill>
                <a:latin typeface="Segoe UI"/>
                <a:ea typeface="Segoe UI"/>
                <a:cs typeface="Segoe UI"/>
              </a:rPr>
              <a:t>they speak in the Daily Scrum</a:t>
            </a:r>
            <a:endParaRPr lang="en-US" sz="1300" dirty="0"/>
          </a:p>
        </p:txBody>
      </p:sp>
      <p:sp>
        <p:nvSpPr>
          <p:cNvPr id="102" name="s102"/>
          <p:cNvSpPr/>
          <p:nvPr/>
        </p:nvSpPr>
        <p:spPr>
          <a:xfrm>
            <a:off x="6224321" y="1828800"/>
            <a:ext cx="5406847" cy="1600200"/>
          </a:xfrm>
          <a:prstGeom prst="roundRect">
            <a:avLst>
              <a:gd name="adj" fmla="val 8000"/>
            </a:avLst>
          </a:prstGeom>
          <a:solidFill>
            <a:srgbClr val="111B2E"/>
          </a:solidFill>
          <a:ln w="12700">
            <a:solidFill>
              <a:srgbClr val="FBBF24"/>
            </a:solidFill>
            <a:prstDash val="solid"/>
          </a:ln>
        </p:spPr>
        <p:txBody>
          <a:bodyPr wrap="square" lIns="201168" tIns="137160" rIns="164592" bIns="91440" rtlCol="0" anchor="t">
            <a:noAutofit/>
          </a:bodyPr>
          <a:lstStyle/>
          <a:p>
            <a:pPr marL="0" indent="0" algn="l">
              <a:spcBef>
                <a:spcPts val="0"/>
              </a:spcBef>
              <a:spcAft>
                <a:spcPts val="600"/>
              </a:spcAft>
              <a:buNone/>
            </a:pPr>
            <a:r>
              <a:rPr lang="en-US" sz="1150" b="1" dirty="0">
                <a:solidFill>
                  <a:srgbClr val="FBBF24"/>
                </a:solidFill>
                <a:latin typeface="Segoe UI"/>
                <a:ea typeface="Segoe UI"/>
                <a:cs typeface="Segoe UI"/>
              </a:rPr>
              <a:t>🐔  CHICKENS  ·  INVOLVED</a:t>
            </a:r>
            <a:endParaRPr lang="en-US" sz="1150" dirty="0"/>
          </a:p>
          <a:p>
            <a:pPr marL="0" indent="0" algn="l">
              <a:spcBef>
                <a:spcPts val="0"/>
              </a:spcBef>
              <a:spcAft>
                <a:spcPts val="400"/>
              </a:spcAft>
              <a:buNone/>
            </a:pPr>
            <a:r>
              <a:rPr lang="en-US" sz="1300" b="0" dirty="0">
                <a:solidFill>
                  <a:srgbClr val="FBBF24"/>
                </a:solidFill>
                <a:latin typeface="Segoe UI"/>
                <a:ea typeface="Segoe UI"/>
                <a:cs typeface="Segoe UI"/>
              </a:rPr>
              <a:t>•  </a:t>
            </a:r>
            <a:r>
              <a:rPr lang="en-US" sz="1300" b="0" dirty="0">
                <a:solidFill>
                  <a:srgbClr val="E2E8F0"/>
                </a:solidFill>
                <a:latin typeface="Segoe UI"/>
                <a:ea typeface="Segoe UI"/>
                <a:cs typeface="Segoe UI"/>
              </a:rPr>
              <a:t>managers, other teams, the client</a:t>
            </a:r>
            <a:endParaRPr lang="en-US" sz="1300" dirty="0"/>
          </a:p>
          <a:p>
            <a:pPr marL="0" indent="0" algn="l">
              <a:spcBef>
                <a:spcPts val="0"/>
              </a:spcBef>
              <a:spcAft>
                <a:spcPts val="400"/>
              </a:spcAft>
              <a:buNone/>
            </a:pPr>
            <a:r>
              <a:rPr lang="en-US" sz="1300" b="0" dirty="0">
                <a:solidFill>
                  <a:srgbClr val="FBBF24"/>
                </a:solidFill>
                <a:latin typeface="Segoe UI"/>
                <a:ea typeface="Segoe UI"/>
                <a:cs typeface="Segoe UI"/>
              </a:rPr>
              <a:t>•  </a:t>
            </a:r>
            <a:r>
              <a:rPr lang="en-US" sz="1300" b="0" dirty="0">
                <a:solidFill>
                  <a:srgbClr val="E2E8F0"/>
                </a:solidFill>
                <a:latin typeface="Segoe UI"/>
                <a:ea typeface="Segoe UI"/>
                <a:cs typeface="Segoe UI"/>
              </a:rPr>
              <a:t>interested, but not doing the work</a:t>
            </a:r>
            <a:endParaRPr lang="en-US" sz="1300" dirty="0"/>
          </a:p>
          <a:p>
            <a:pPr marL="0" indent="0" algn="l">
              <a:spcBef>
                <a:spcPts val="0"/>
              </a:spcBef>
              <a:spcAft>
                <a:spcPts val="400"/>
              </a:spcAft>
              <a:buNone/>
            </a:pPr>
            <a:r>
              <a:rPr lang="en-US" sz="1300" b="0" dirty="0">
                <a:solidFill>
                  <a:srgbClr val="FBBF24"/>
                </a:solidFill>
                <a:latin typeface="Segoe UI"/>
                <a:ea typeface="Segoe UI"/>
                <a:cs typeface="Segoe UI"/>
              </a:rPr>
              <a:t>•  </a:t>
            </a:r>
            <a:r>
              <a:rPr lang="en-US" sz="1300" b="0" dirty="0">
                <a:solidFill>
                  <a:srgbClr val="E2E8F0"/>
                </a:solidFill>
                <a:latin typeface="Segoe UI"/>
                <a:ea typeface="Segoe UI"/>
                <a:cs typeface="Segoe UI"/>
              </a:rPr>
              <a:t>may listen, do not interrupt</a:t>
            </a:r>
            <a:endParaRPr lang="en-US" sz="1300" dirty="0"/>
          </a:p>
        </p:txBody>
      </p:sp>
      <p:sp>
        <p:nvSpPr>
          <p:cNvPr id="103" name="s103"/>
          <p:cNvSpPr txBox="1"/>
          <p:nvPr/>
        </p:nvSpPr>
        <p:spPr>
          <a:xfrm>
            <a:off x="543154" y="361188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WHOSE WORD COUNTS?  (common company practice)</a:t>
            </a:r>
            <a:endParaRPr lang="en-US" sz="1100" dirty="0"/>
          </a:p>
        </p:txBody>
      </p:sp>
      <p:sp>
        <p:nvSpPr>
          <p:cNvPr id="104" name="s104"/>
          <p:cNvSpPr/>
          <p:nvPr/>
        </p:nvSpPr>
        <p:spPr>
          <a:xfrm>
            <a:off x="543154" y="3931920"/>
            <a:ext cx="3635045" cy="1188720"/>
          </a:xfrm>
          <a:prstGeom prst="roundRect">
            <a:avLst>
              <a:gd name="adj" fmla="val 10000"/>
            </a:avLst>
          </a:prstGeom>
          <a:solidFill>
            <a:srgbClr val="FBBF24">
              <a:alpha val="14000"/>
            </a:srgbClr>
          </a:solidFill>
          <a:ln w="19050">
            <a:solidFill>
              <a:srgbClr val="FBBF24"/>
            </a:solidFill>
            <a:prstDash val="solid"/>
          </a:ln>
        </p:spPr>
        <p:txBody>
          <a:bodyPr wrap="square" lIns="137160" tIns="45720" rIns="137160" bIns="45720" rtlCol="0" anchor="ctr">
            <a:noAutofit/>
          </a:bodyPr>
          <a:lstStyle/>
          <a:p>
            <a:pPr marL="0" indent="0" algn="ctr">
              <a:spcBef>
                <a:spcPts val="0"/>
              </a:spcBef>
              <a:spcAft>
                <a:spcPts val="300"/>
              </a:spcAft>
              <a:buNone/>
            </a:pPr>
            <a:r>
              <a:rPr lang="en-US" sz="1100" b="1" dirty="0">
                <a:solidFill>
                  <a:srgbClr val="94A3B8"/>
                </a:solidFill>
                <a:latin typeface="Segoe UI"/>
                <a:ea typeface="Segoe UI"/>
                <a:cs typeface="Segoe UI"/>
              </a:rPr>
              <a:t>BEFORE THE SPRINT</a:t>
            </a:r>
            <a:endParaRPr lang="en-US" sz="1100" dirty="0"/>
          </a:p>
          <a:p>
            <a:pPr marL="0" indent="0" algn="ctr">
              <a:spcBef>
                <a:spcPts val="0"/>
              </a:spcBef>
              <a:spcAft>
                <a:spcPts val="300"/>
              </a:spcAft>
              <a:buNone/>
            </a:pPr>
            <a:r>
              <a:rPr lang="en-US" sz="1600" b="1" dirty="0">
                <a:solidFill>
                  <a:srgbClr val="FBBF24"/>
                </a:solidFill>
                <a:latin typeface="Segoe UI"/>
                <a:ea typeface="Segoe UI"/>
                <a:cs typeface="Segoe UI"/>
              </a:rPr>
              <a:t>Product Owner</a:t>
            </a:r>
            <a:endParaRPr lang="en-US" sz="1600" dirty="0"/>
          </a:p>
          <a:p>
            <a:pPr marL="0" indent="0" algn="ctr">
              <a:spcBef>
                <a:spcPts val="0"/>
              </a:spcBef>
              <a:spcAft>
                <a:spcPts val="0"/>
              </a:spcAft>
              <a:buNone/>
            </a:pPr>
            <a:r>
              <a:rPr lang="en-US" sz="1200" b="0" dirty="0">
                <a:solidFill>
                  <a:srgbClr val="E2E8F0"/>
                </a:solidFill>
                <a:latin typeface="Segoe UI"/>
                <a:ea typeface="Segoe UI"/>
                <a:cs typeface="Segoe UI"/>
              </a:rPr>
              <a:t>decides WHAT comes next</a:t>
            </a:r>
            <a:endParaRPr lang="en-US" sz="1200" dirty="0"/>
          </a:p>
        </p:txBody>
      </p:sp>
      <p:sp>
        <p:nvSpPr>
          <p:cNvPr id="105" name="s105"/>
          <p:cNvSpPr/>
          <p:nvPr/>
        </p:nvSpPr>
        <p:spPr>
          <a:xfrm>
            <a:off x="4269638" y="3931920"/>
            <a:ext cx="3635045" cy="1188720"/>
          </a:xfrm>
          <a:prstGeom prst="roundRect">
            <a:avLst>
              <a:gd name="adj" fmla="val 10000"/>
            </a:avLst>
          </a:prstGeom>
          <a:solidFill>
            <a:srgbClr val="A78BFA">
              <a:alpha val="14000"/>
            </a:srgbClr>
          </a:solidFill>
          <a:ln w="19050">
            <a:solidFill>
              <a:srgbClr val="A78BFA"/>
            </a:solidFill>
            <a:prstDash val="solid"/>
          </a:ln>
        </p:spPr>
        <p:txBody>
          <a:bodyPr wrap="square" lIns="137160" tIns="45720" rIns="137160" bIns="45720" rtlCol="0" anchor="ctr">
            <a:noAutofit/>
          </a:bodyPr>
          <a:lstStyle/>
          <a:p>
            <a:pPr marL="0" indent="0" algn="ctr">
              <a:spcBef>
                <a:spcPts val="0"/>
              </a:spcBef>
              <a:spcAft>
                <a:spcPts val="300"/>
              </a:spcAft>
              <a:buNone/>
            </a:pPr>
            <a:r>
              <a:rPr lang="en-US" sz="1100" b="1" dirty="0">
                <a:solidFill>
                  <a:srgbClr val="94A3B8"/>
                </a:solidFill>
                <a:latin typeface="Segoe UI"/>
                <a:ea typeface="Segoe UI"/>
                <a:cs typeface="Segoe UI"/>
              </a:rPr>
              <a:t>DURING THE SPRINT</a:t>
            </a:r>
            <a:endParaRPr lang="en-US" sz="1100" dirty="0"/>
          </a:p>
          <a:p>
            <a:pPr marL="0" indent="0" algn="ctr">
              <a:spcBef>
                <a:spcPts val="0"/>
              </a:spcBef>
              <a:spcAft>
                <a:spcPts val="300"/>
              </a:spcAft>
              <a:buNone/>
            </a:pPr>
            <a:r>
              <a:rPr lang="en-US" sz="1600" b="1" dirty="0">
                <a:solidFill>
                  <a:srgbClr val="A78BFA"/>
                </a:solidFill>
                <a:latin typeface="Segoe UI"/>
                <a:ea typeface="Segoe UI"/>
                <a:cs typeface="Segoe UI"/>
              </a:rPr>
              <a:t>Scrum Master</a:t>
            </a:r>
            <a:endParaRPr lang="en-US" sz="1600" dirty="0"/>
          </a:p>
          <a:p>
            <a:pPr marL="0" indent="0" algn="ctr">
              <a:spcBef>
                <a:spcPts val="0"/>
              </a:spcBef>
              <a:spcAft>
                <a:spcPts val="0"/>
              </a:spcAft>
              <a:buNone/>
            </a:pPr>
            <a:r>
              <a:rPr lang="en-US" sz="1200" b="0" dirty="0">
                <a:solidFill>
                  <a:srgbClr val="E2E8F0"/>
                </a:solidFill>
                <a:latin typeface="Segoe UI"/>
                <a:ea typeface="Segoe UI"/>
                <a:cs typeface="Segoe UI"/>
              </a:rPr>
              <a:t>protects the team: no new work pushed in</a:t>
            </a:r>
            <a:endParaRPr lang="en-US" sz="1200" dirty="0"/>
          </a:p>
        </p:txBody>
      </p:sp>
      <p:sp>
        <p:nvSpPr>
          <p:cNvPr id="106" name="s106"/>
          <p:cNvSpPr/>
          <p:nvPr/>
        </p:nvSpPr>
        <p:spPr>
          <a:xfrm>
            <a:off x="7996123" y="3931920"/>
            <a:ext cx="3635045" cy="1188720"/>
          </a:xfrm>
          <a:prstGeom prst="roundRect">
            <a:avLst>
              <a:gd name="adj" fmla="val 10000"/>
            </a:avLst>
          </a:prstGeom>
          <a:solidFill>
            <a:srgbClr val="FBBF24">
              <a:alpha val="14000"/>
            </a:srgbClr>
          </a:solidFill>
          <a:ln w="19050">
            <a:solidFill>
              <a:srgbClr val="FBBF24"/>
            </a:solidFill>
            <a:prstDash val="solid"/>
          </a:ln>
        </p:spPr>
        <p:txBody>
          <a:bodyPr wrap="square" lIns="137160" tIns="45720" rIns="137160" bIns="45720" rtlCol="0" anchor="ctr">
            <a:noAutofit/>
          </a:bodyPr>
          <a:lstStyle/>
          <a:p>
            <a:pPr marL="0" indent="0" algn="ctr">
              <a:spcBef>
                <a:spcPts val="0"/>
              </a:spcBef>
              <a:spcAft>
                <a:spcPts val="300"/>
              </a:spcAft>
              <a:buNone/>
            </a:pPr>
            <a:r>
              <a:rPr lang="en-US" sz="1100" b="1" dirty="0">
                <a:solidFill>
                  <a:srgbClr val="94A3B8"/>
                </a:solidFill>
                <a:latin typeface="Segoe UI"/>
                <a:ea typeface="Segoe UI"/>
                <a:cs typeface="Segoe UI"/>
              </a:rPr>
              <a:t>AFTER THE SPRINT</a:t>
            </a:r>
            <a:endParaRPr lang="en-US" sz="1100" dirty="0"/>
          </a:p>
          <a:p>
            <a:pPr marL="0" indent="0" algn="ctr">
              <a:spcBef>
                <a:spcPts val="0"/>
              </a:spcBef>
              <a:spcAft>
                <a:spcPts val="300"/>
              </a:spcAft>
              <a:buNone/>
            </a:pPr>
            <a:r>
              <a:rPr lang="en-US" sz="1600" b="1" dirty="0">
                <a:solidFill>
                  <a:srgbClr val="FBBF24"/>
                </a:solidFill>
                <a:latin typeface="Segoe UI"/>
                <a:ea typeface="Segoe UI"/>
                <a:cs typeface="Segoe UI"/>
              </a:rPr>
              <a:t>Product Owner</a:t>
            </a:r>
            <a:endParaRPr lang="en-US" sz="1600" dirty="0"/>
          </a:p>
          <a:p>
            <a:pPr marL="0" indent="0" algn="ctr">
              <a:spcBef>
                <a:spcPts val="0"/>
              </a:spcBef>
              <a:spcAft>
                <a:spcPts val="0"/>
              </a:spcAft>
              <a:buNone/>
            </a:pPr>
            <a:r>
              <a:rPr lang="en-US" sz="1200" b="0" dirty="0">
                <a:solidFill>
                  <a:srgbClr val="E2E8F0"/>
                </a:solidFill>
                <a:latin typeface="Segoe UI"/>
                <a:ea typeface="Segoe UI"/>
                <a:cs typeface="Segoe UI"/>
              </a:rPr>
              <a:t>accepts, re-orders, decides the next step</a:t>
            </a:r>
            <a:endParaRPr lang="en-US" sz="1200" dirty="0"/>
          </a:p>
        </p:txBody>
      </p:sp>
      <p:sp>
        <p:nvSpPr>
          <p:cNvPr id="107" name="s107"/>
          <p:cNvSpPr/>
          <p:nvPr/>
        </p:nvSpPr>
        <p:spPr>
          <a:xfrm>
            <a:off x="543154" y="5303520"/>
            <a:ext cx="11088014" cy="685800"/>
          </a:xfrm>
          <a:prstGeom prst="roundRect">
            <a:avLst>
              <a:gd name="adj" fmla="val 12000"/>
            </a:avLst>
          </a:prstGeom>
          <a:solidFill>
            <a:srgbClr val="111B2E"/>
          </a:solidFill>
          <a:ln w="12700">
            <a:solidFill>
              <a:srgbClr val="34D399"/>
            </a:solidFill>
            <a:prstDash val="solid"/>
          </a:ln>
        </p:spPr>
        <p:txBody>
          <a:bodyPr wrap="square" lIns="228600" tIns="45720" rIns="228600" bIns="45720" rtlCol="0" anchor="ctr">
            <a:noAutofit/>
          </a:bodyPr>
          <a:lstStyle/>
          <a:p>
            <a:pPr marL="0" indent="0" algn="ctr">
              <a:spcBef>
                <a:spcPts val="0"/>
              </a:spcBef>
              <a:spcAft>
                <a:spcPts val="0"/>
              </a:spcAft>
              <a:buNone/>
            </a:pPr>
            <a:r>
              <a:rPr lang="en-US" sz="1250" b="1" dirty="0">
                <a:solidFill>
                  <a:srgbClr val="34D399"/>
                </a:solidFill>
                <a:latin typeface="Segoe UI"/>
                <a:ea typeface="Segoe UI"/>
                <a:cs typeface="Segoe UI"/>
              </a:rPr>
              <a:t>PRECISE</a:t>
            </a:r>
            <a:r>
              <a:rPr lang="en-US" sz="1250" b="0" dirty="0">
                <a:solidFill>
                  <a:srgbClr val="E2E8F0"/>
                </a:solidFill>
                <a:latin typeface="Segoe UI"/>
                <a:ea typeface="Segoe UI"/>
                <a:cs typeface="Segoe UI"/>
              </a:rPr>
              <a:t>   PO owns the Product Backlog · Developers own the Sprint Backlog · SM protects the process.  </a:t>
            </a:r>
            <a:r>
              <a:rPr lang="en-US" sz="1250" b="0" dirty="0">
                <a:solidFill>
                  <a:srgbClr val="94A3B8"/>
                </a:solidFill>
                <a:latin typeface="Segoe UI"/>
                <a:ea typeface="Segoe UI"/>
                <a:cs typeface="Segoe UI"/>
              </a:rPr>
              <a:t>Pig/chicken left the Scrum Guide in 2011.</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2"/>
                                        </p:tgtEl>
                                        <p:attrNameLst>
                                          <p:attrName>style.visibility</p:attrName>
                                        </p:attrNameLst>
                                      </p:cBhvr>
                                      <p:to>
                                        <p:strVal val="visible"/>
                                      </p:to>
                                    </p:set>
                                    <p:animEffect transition="in" filter="fade">
                                      <p:cBhvr>
                                        <p:cTn id="13" dur="500"/>
                                        <p:tgtEl>
                                          <p:spTgt spid="102"/>
                                        </p:tgtEl>
                                      </p:cBhvr>
                                    </p:animEffect>
                                    <p:anim calcmode="lin" valueType="num">
                                      <p:cBhvr additive="base">
                                        <p:cTn id="14"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3"/>
                                        </p:tgtEl>
                                        <p:attrNameLst>
                                          <p:attrName>style.visibility</p:attrName>
                                        </p:attrNameLst>
                                      </p:cBhvr>
                                      <p:to>
                                        <p:strVal val="visible"/>
                                      </p:to>
                                    </p:set>
                                    <p:animEffect transition="in" filter="fade">
                                      <p:cBhvr>
                                        <p:cTn id="19" dur="500"/>
                                        <p:tgtEl>
                                          <p:spTgt spid="103"/>
                                        </p:tgtEl>
                                      </p:cBhvr>
                                    </p:animEffect>
                                    <p:anim calcmode="lin" valueType="num">
                                      <p:cBhvr additive="base">
                                        <p:cTn id="20" dur="500" decel="100000" fill="hold"/>
                                        <p:tgtEl>
                                          <p:spTgt spid="103"/>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150"/>
                                  </p:stCondLst>
                                  <p:childTnLst>
                                    <p:set>
                                      <p:cBhvr>
                                        <p:cTn id="22" dur="1" fill="hold">
                                          <p:stCondLst>
                                            <p:cond delay="0"/>
                                          </p:stCondLst>
                                        </p:cTn>
                                        <p:tgtEl>
                                          <p:spTgt spid="104"/>
                                        </p:tgtEl>
                                        <p:attrNameLst>
                                          <p:attrName>style.visibility</p:attrName>
                                        </p:attrNameLst>
                                      </p:cBhvr>
                                      <p:to>
                                        <p:strVal val="visible"/>
                                      </p:to>
                                    </p:set>
                                    <p:animEffect transition="in" filter="fade">
                                      <p:cBhvr>
                                        <p:cTn id="23" dur="500"/>
                                        <p:tgtEl>
                                          <p:spTgt spid="104"/>
                                        </p:tgtEl>
                                      </p:cBhvr>
                                    </p:animEffect>
                                    <p:anim calcmode="lin" valueType="num">
                                      <p:cBhvr additive="base">
                                        <p:cTn id="24" dur="500" decel="100000" fill="hold"/>
                                        <p:tgtEl>
                                          <p:spTgt spid="104"/>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30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anim calcmode="lin" valueType="num">
                                      <p:cBhvr additive="base">
                                        <p:cTn id="28" dur="500" decel="100000" fill="hold"/>
                                        <p:tgtEl>
                                          <p:spTgt spid="105"/>
                                        </p:tgtEl>
                                        <p:attrNameLst>
                                          <p:attrName>ppt_x</p:attrName>
                                        </p:attrNameLst>
                                      </p:cBhvr>
                                      <p:tavLst>
                                        <p:tav tm="0">
                                          <p:val>
                                            <p:strVal val="#ppt_x-0.05"/>
                                          </p:val>
                                        </p:tav>
                                        <p:tav tm="100000">
                                          <p:val>
                                            <p:strVal val="#ppt_x"/>
                                          </p:val>
                                        </p:tav>
                                      </p:tavLst>
                                    </p:anim>
                                  </p:childTnLst>
                                </p:cTn>
                              </p:par>
                              <p:par>
                                <p:cTn id="29" presetID="42" presetClass="entr" presetSubtype="0" fill="hold" grpId="0" nodeType="withEffect">
                                  <p:stCondLst>
                                    <p:cond delay="450"/>
                                  </p:stCondLst>
                                  <p:childTnLst>
                                    <p:set>
                                      <p:cBhvr>
                                        <p:cTn id="30" dur="1" fill="hold">
                                          <p:stCondLst>
                                            <p:cond delay="0"/>
                                          </p:stCondLst>
                                        </p:cTn>
                                        <p:tgtEl>
                                          <p:spTgt spid="106"/>
                                        </p:tgtEl>
                                        <p:attrNameLst>
                                          <p:attrName>style.visibility</p:attrName>
                                        </p:attrNameLst>
                                      </p:cBhvr>
                                      <p:to>
                                        <p:strVal val="visible"/>
                                      </p:to>
                                    </p:set>
                                    <p:animEffect transition="in" filter="fade">
                                      <p:cBhvr>
                                        <p:cTn id="31" dur="500"/>
                                        <p:tgtEl>
                                          <p:spTgt spid="106"/>
                                        </p:tgtEl>
                                      </p:cBhvr>
                                    </p:animEffect>
                                    <p:anim calcmode="lin" valueType="num">
                                      <p:cBhvr additive="base">
                                        <p:cTn id="32" dur="500" decel="100000" fill="hold"/>
                                        <p:tgtEl>
                                          <p:spTgt spid="106"/>
                                        </p:tgtEl>
                                        <p:attrNameLst>
                                          <p:attrName>ppt_x</p:attrName>
                                        </p:attrNameLst>
                                      </p:cBhvr>
                                      <p:tavLst>
                                        <p:tav tm="0">
                                          <p:val>
                                            <p:strVal val="#ppt_x-0.05"/>
                                          </p:val>
                                        </p:tav>
                                        <p:tav tm="100000">
                                          <p:val>
                                            <p:strVal val="#ppt_x"/>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fade">
                                      <p:cBhvr>
                                        <p:cTn id="37" dur="500"/>
                                        <p:tgtEl>
                                          <p:spTgt spid="107"/>
                                        </p:tgtEl>
                                      </p:cBhvr>
                                    </p:animEffect>
                                    <p:anim calcmode="lin" valueType="num">
                                      <p:cBhvr additive="base">
                                        <p:cTn id="38" dur="500" decel="100000" fill="hold"/>
                                        <p:tgtEl>
                                          <p:spTgt spid="107"/>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SCENE 6</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266</a:t>
            </a:r>
            <a:endParaRPr lang="en-US" sz="850" dirty="0"/>
          </a:p>
        </p:txBody>
      </p:sp>
      <p:sp>
        <p:nvSpPr>
          <p:cNvPr id="101" name="s101"/>
          <p:cNvSpPr txBox="1"/>
          <p:nvPr/>
        </p:nvSpPr>
        <p:spPr>
          <a:xfrm>
            <a:off x="497434" y="1051560"/>
            <a:ext cx="2743200" cy="12801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8800" b="1" dirty="0">
                <a:solidFill>
                  <a:srgbClr val="60A5FA"/>
                </a:solidFill>
                <a:latin typeface="Segoe UI"/>
                <a:ea typeface="Segoe UI"/>
                <a:cs typeface="Segoe UI"/>
              </a:rPr>
              <a:t>06</a:t>
            </a:r>
            <a:endParaRPr lang="en-US" sz="8800" dirty="0"/>
          </a:p>
        </p:txBody>
      </p:sp>
      <p:sp>
        <p:nvSpPr>
          <p:cNvPr id="102" name="s102"/>
          <p:cNvSpPr txBox="1"/>
          <p:nvPr/>
        </p:nvSpPr>
        <p:spPr>
          <a:xfrm>
            <a:off x="543154" y="2331720"/>
            <a:ext cx="11088014" cy="7772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Inside the Sprint</a:t>
            </a:r>
            <a:endParaRPr lang="en-US" sz="4000" dirty="0"/>
          </a:p>
        </p:txBody>
      </p:sp>
      <p:sp>
        <p:nvSpPr>
          <p:cNvPr id="103" name="s103"/>
          <p:cNvSpPr txBox="1"/>
          <p:nvPr/>
        </p:nvSpPr>
        <p:spPr>
          <a:xfrm>
            <a:off x="543154" y="3108960"/>
            <a:ext cx="1108801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800" b="0" dirty="0">
                <a:solidFill>
                  <a:srgbClr val="CBD5E1"/>
                </a:solidFill>
                <a:latin typeface="Segoe UI"/>
                <a:ea typeface="Segoe UI"/>
                <a:cs typeface="Segoe UI"/>
              </a:rPr>
              <a:t>Two weeks of real work: dailies, blockers, surprises.</a:t>
            </a:r>
            <a:endParaRPr lang="en-US" sz="1800" dirty="0"/>
          </a:p>
        </p:txBody>
      </p:sp>
      <p:sp>
        <p:nvSpPr>
          <p:cNvPr id="104" name="s104"/>
          <p:cNvSpPr txBox="1"/>
          <p:nvPr/>
        </p:nvSpPr>
        <p:spPr>
          <a:xfrm>
            <a:off x="543154" y="393192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IN THIS SCENE</a:t>
            </a:r>
            <a:endParaRPr lang="en-US" sz="1100" dirty="0"/>
          </a:p>
        </p:txBody>
      </p:sp>
      <p:sp>
        <p:nvSpPr>
          <p:cNvPr id="105" name="s105"/>
          <p:cNvSpPr/>
          <p:nvPr/>
        </p:nvSpPr>
        <p:spPr>
          <a:xfrm>
            <a:off x="543154" y="4251960"/>
            <a:ext cx="2634844" cy="548640"/>
          </a:xfrm>
          <a:prstGeom prst="roundRect">
            <a:avLst>
              <a:gd name="adj" fmla="val 20000"/>
            </a:avLst>
          </a:prstGeom>
          <a:solidFill>
            <a:srgbClr val="60A5FA">
              <a:alpha val="14000"/>
            </a:srgbClr>
          </a:solidFill>
          <a:ln w="12700">
            <a:solidFill>
              <a:srgbClr val="60A5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self-management</a:t>
            </a:r>
            <a:endParaRPr lang="en-US" sz="1350" dirty="0"/>
          </a:p>
        </p:txBody>
      </p:sp>
      <p:sp>
        <p:nvSpPr>
          <p:cNvPr id="106" name="s106"/>
          <p:cNvSpPr/>
          <p:nvPr/>
        </p:nvSpPr>
        <p:spPr>
          <a:xfrm>
            <a:off x="3360877" y="4251960"/>
            <a:ext cx="2634844" cy="548640"/>
          </a:xfrm>
          <a:prstGeom prst="roundRect">
            <a:avLst>
              <a:gd name="adj" fmla="val 20000"/>
            </a:avLst>
          </a:prstGeom>
          <a:solidFill>
            <a:srgbClr val="60A5FA">
              <a:alpha val="14000"/>
            </a:srgbClr>
          </a:solidFill>
          <a:ln w="12700">
            <a:solidFill>
              <a:srgbClr val="60A5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Daily Scrum</a:t>
            </a:r>
            <a:endParaRPr lang="en-US" sz="1350" dirty="0"/>
          </a:p>
        </p:txBody>
      </p:sp>
      <p:sp>
        <p:nvSpPr>
          <p:cNvPr id="107" name="s107"/>
          <p:cNvSpPr/>
          <p:nvPr/>
        </p:nvSpPr>
        <p:spPr>
          <a:xfrm>
            <a:off x="6178601" y="4251960"/>
            <a:ext cx="2634844" cy="548640"/>
          </a:xfrm>
          <a:prstGeom prst="roundRect">
            <a:avLst>
              <a:gd name="adj" fmla="val 20000"/>
            </a:avLst>
          </a:prstGeom>
          <a:solidFill>
            <a:srgbClr val="60A5FA">
              <a:alpha val="14000"/>
            </a:srgbClr>
          </a:solidFill>
          <a:ln w="12700">
            <a:solidFill>
              <a:srgbClr val="60A5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Scrum Master</a:t>
            </a:r>
            <a:endParaRPr lang="en-US" sz="1350" dirty="0"/>
          </a:p>
        </p:txBody>
      </p:sp>
      <p:sp>
        <p:nvSpPr>
          <p:cNvPr id="108" name="s108"/>
          <p:cNvSpPr/>
          <p:nvPr/>
        </p:nvSpPr>
        <p:spPr>
          <a:xfrm>
            <a:off x="8996324" y="4251960"/>
            <a:ext cx="2634844" cy="548640"/>
          </a:xfrm>
          <a:prstGeom prst="roundRect">
            <a:avLst>
              <a:gd name="adj" fmla="val 20000"/>
            </a:avLst>
          </a:prstGeom>
          <a:solidFill>
            <a:srgbClr val="60A5FA">
              <a:alpha val="14000"/>
            </a:srgbClr>
          </a:solidFill>
          <a:ln w="12700">
            <a:solidFill>
              <a:srgbClr val="60A5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change requests</a:t>
            </a:r>
            <a:endParaRPr lang="en-US" sz="1350" dirty="0"/>
          </a:p>
        </p:txBody>
      </p:sp>
      <p:sp>
        <p:nvSpPr>
          <p:cNvPr id="109" name="s109"/>
          <p:cNvSpPr/>
          <p:nvPr/>
        </p:nvSpPr>
        <p:spPr>
          <a:xfrm>
            <a:off x="543154"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1</a:t>
            </a:r>
            <a:endParaRPr lang="en-US" sz="1300" dirty="0"/>
          </a:p>
        </p:txBody>
      </p:sp>
      <p:sp>
        <p:nvSpPr>
          <p:cNvPr id="110" name="s110"/>
          <p:cNvSpPr/>
          <p:nvPr/>
        </p:nvSpPr>
        <p:spPr>
          <a:xfrm>
            <a:off x="1659270" y="5669280"/>
            <a:ext cx="1042965" cy="457200"/>
          </a:xfrm>
          <a:prstGeom prst="roundRect">
            <a:avLst>
              <a:gd name="adj" fmla="val 20000"/>
            </a:avLst>
          </a:prstGeom>
          <a:solidFill>
            <a:srgbClr val="111B2E"/>
          </a:solidFill>
          <a:ln w="12700">
            <a:solidFill>
              <a:srgbClr val="FBBF24"/>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2</a:t>
            </a:r>
            <a:endParaRPr lang="en-US" sz="1300" dirty="0"/>
          </a:p>
        </p:txBody>
      </p:sp>
      <p:sp>
        <p:nvSpPr>
          <p:cNvPr id="111" name="s111"/>
          <p:cNvSpPr/>
          <p:nvPr/>
        </p:nvSpPr>
        <p:spPr>
          <a:xfrm>
            <a:off x="2775387" y="5669280"/>
            <a:ext cx="1042965" cy="457200"/>
          </a:xfrm>
          <a:prstGeom prst="roundRect">
            <a:avLst>
              <a:gd name="adj" fmla="val 20000"/>
            </a:avLst>
          </a:prstGeom>
          <a:solidFill>
            <a:srgbClr val="111B2E"/>
          </a:solidFill>
          <a:ln w="12700">
            <a:solidFill>
              <a:srgbClr val="A78B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A78BFA"/>
                </a:solidFill>
                <a:latin typeface="Segoe UI"/>
                <a:ea typeface="Segoe UI"/>
                <a:cs typeface="Segoe UI"/>
              </a:rPr>
              <a:t>3</a:t>
            </a:r>
            <a:endParaRPr lang="en-US" sz="1300" dirty="0"/>
          </a:p>
        </p:txBody>
      </p:sp>
      <p:sp>
        <p:nvSpPr>
          <p:cNvPr id="112" name="s112"/>
          <p:cNvSpPr/>
          <p:nvPr/>
        </p:nvSpPr>
        <p:spPr>
          <a:xfrm>
            <a:off x="3891504" y="5669280"/>
            <a:ext cx="1042965" cy="457200"/>
          </a:xfrm>
          <a:prstGeom prst="roundRect">
            <a:avLst>
              <a:gd name="adj" fmla="val 20000"/>
            </a:avLst>
          </a:prstGeom>
          <a:solidFill>
            <a:srgbClr val="111B2E"/>
          </a:solidFill>
          <a:ln w="12700">
            <a:solidFill>
              <a:srgbClr val="13D0F7"/>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13D0F7"/>
                </a:solidFill>
                <a:latin typeface="Segoe UI"/>
                <a:ea typeface="Segoe UI"/>
                <a:cs typeface="Segoe UI"/>
              </a:rPr>
              <a:t>4</a:t>
            </a:r>
            <a:endParaRPr lang="en-US" sz="1300" dirty="0"/>
          </a:p>
        </p:txBody>
      </p:sp>
      <p:sp>
        <p:nvSpPr>
          <p:cNvPr id="113" name="s113"/>
          <p:cNvSpPr/>
          <p:nvPr/>
        </p:nvSpPr>
        <p:spPr>
          <a:xfrm>
            <a:off x="5007620" y="5669280"/>
            <a:ext cx="1042965" cy="457200"/>
          </a:xfrm>
          <a:prstGeom prst="roundRect">
            <a:avLst>
              <a:gd name="adj" fmla="val 20000"/>
            </a:avLst>
          </a:prstGeom>
          <a:solidFill>
            <a:srgbClr val="111B2E"/>
          </a:solidFill>
          <a:ln w="12700">
            <a:solidFill>
              <a:srgbClr val="34D399"/>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34D399"/>
                </a:solidFill>
                <a:latin typeface="Segoe UI"/>
                <a:ea typeface="Segoe UI"/>
                <a:cs typeface="Segoe UI"/>
              </a:rPr>
              <a:t>5</a:t>
            </a:r>
            <a:endParaRPr lang="en-US" sz="1300" dirty="0"/>
          </a:p>
        </p:txBody>
      </p:sp>
      <p:sp>
        <p:nvSpPr>
          <p:cNvPr id="114" name="s114"/>
          <p:cNvSpPr/>
          <p:nvPr/>
        </p:nvSpPr>
        <p:spPr>
          <a:xfrm>
            <a:off x="6123737" y="5669280"/>
            <a:ext cx="1042965" cy="457200"/>
          </a:xfrm>
          <a:prstGeom prst="roundRect">
            <a:avLst>
              <a:gd name="adj" fmla="val 20000"/>
            </a:avLst>
          </a:prstGeom>
          <a:solidFill>
            <a:srgbClr val="60A5FA"/>
          </a:solidFill>
          <a:ln w="1905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6</a:t>
            </a:r>
            <a:endParaRPr lang="en-US" sz="1300" dirty="0"/>
          </a:p>
        </p:txBody>
      </p:sp>
      <p:sp>
        <p:nvSpPr>
          <p:cNvPr id="115" name="s115"/>
          <p:cNvSpPr/>
          <p:nvPr/>
        </p:nvSpPr>
        <p:spPr>
          <a:xfrm>
            <a:off x="723985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7</a:t>
            </a:r>
            <a:endParaRPr lang="en-US" sz="1300" dirty="0"/>
          </a:p>
        </p:txBody>
      </p:sp>
      <p:sp>
        <p:nvSpPr>
          <p:cNvPr id="116" name="s116"/>
          <p:cNvSpPr/>
          <p:nvPr/>
        </p:nvSpPr>
        <p:spPr>
          <a:xfrm>
            <a:off x="8355970"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8</a:t>
            </a:r>
            <a:endParaRPr lang="en-US" sz="1300" dirty="0"/>
          </a:p>
        </p:txBody>
      </p:sp>
      <p:sp>
        <p:nvSpPr>
          <p:cNvPr id="117" name="s117"/>
          <p:cNvSpPr/>
          <p:nvPr/>
        </p:nvSpPr>
        <p:spPr>
          <a:xfrm>
            <a:off x="947208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9</a:t>
            </a:r>
            <a:endParaRPr lang="en-US" sz="1300" dirty="0"/>
          </a:p>
        </p:txBody>
      </p:sp>
      <p:sp>
        <p:nvSpPr>
          <p:cNvPr id="118" name="s118"/>
          <p:cNvSpPr/>
          <p:nvPr/>
        </p:nvSpPr>
        <p:spPr>
          <a:xfrm>
            <a:off x="1058820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10</a:t>
            </a:r>
            <a:endParaRPr lang="en-US" sz="13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1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anim calcmode="lin" valueType="num">
                                      <p:cBhvr additive="base">
                                        <p:cTn id="15" dur="5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2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10" presetClass="entr" presetSubtype="0" fill="hold" grpId="0" nodeType="withEffect">
                                  <p:stCondLst>
                                    <p:cond delay="33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childTnLst>
                                </p:cTn>
                              </p:par>
                              <p:par>
                                <p:cTn id="23" presetID="42" presetClass="entr" presetSubtype="0" fill="hold" grpId="0" nodeType="withEffect">
                                  <p:stCondLst>
                                    <p:cond delay="44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55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42" presetClass="entr" presetSubtype="0" fill="hold" grpId="0" nodeType="withEffect">
                                  <p:stCondLst>
                                    <p:cond delay="66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par>
                                <p:cTn id="35" presetID="42" presetClass="entr" presetSubtype="0" fill="hold" grpId="0" nodeType="withEffect">
                                  <p:stCondLst>
                                    <p:cond delay="77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ppt_y</p:attrName>
                                        </p:attrNameLst>
                                      </p:cBhvr>
                                      <p:tavLst>
                                        <p:tav tm="0">
                                          <p:val>
                                            <p:strVal val="#ppt_y+0.06"/>
                                          </p:val>
                                        </p:tav>
                                        <p:tav tm="100000">
                                          <p:val>
                                            <p:strVal val="#ppt_y"/>
                                          </p:val>
                                        </p:tav>
                                      </p:tavLst>
                                    </p:anim>
                                  </p:childTnLst>
                                </p:cTn>
                              </p:par>
                              <p:par>
                                <p:cTn id="39" presetID="10" presetClass="entr" presetSubtype="0" fill="hold" grpId="0" nodeType="withEffect">
                                  <p:stCondLst>
                                    <p:cond delay="87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childTnLst>
                                </p:cTn>
                              </p:par>
                              <p:par>
                                <p:cTn id="42" presetID="10" presetClass="entr" presetSubtype="0" fill="hold" grpId="0" nodeType="withEffect">
                                  <p:stCondLst>
                                    <p:cond delay="870"/>
                                  </p:stCondLst>
                                  <p:childTnLst>
                                    <p:set>
                                      <p:cBhvr>
                                        <p:cTn id="43" dur="1" fill="hold">
                                          <p:stCondLst>
                                            <p:cond delay="0"/>
                                          </p:stCondLst>
                                        </p:cTn>
                                        <p:tgtEl>
                                          <p:spTgt spid="110"/>
                                        </p:tgtEl>
                                        <p:attrNameLst>
                                          <p:attrName>style.visibility</p:attrName>
                                        </p:attrNameLst>
                                      </p:cBhvr>
                                      <p:to>
                                        <p:strVal val="visible"/>
                                      </p:to>
                                    </p:set>
                                    <p:animEffect transition="in" filter="fade">
                                      <p:cBhvr>
                                        <p:cTn id="44" dur="500"/>
                                        <p:tgtEl>
                                          <p:spTgt spid="110"/>
                                        </p:tgtEl>
                                      </p:cBhvr>
                                    </p:animEffect>
                                  </p:childTnLst>
                                </p:cTn>
                              </p:par>
                              <p:par>
                                <p:cTn id="45" presetID="10" presetClass="entr" presetSubtype="0" fill="hold" grpId="0" nodeType="withEffect">
                                  <p:stCondLst>
                                    <p:cond delay="87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childTnLst>
                                </p:cTn>
                              </p:par>
                              <p:par>
                                <p:cTn id="48" presetID="10" presetClass="entr" presetSubtype="0" fill="hold" grpId="0" nodeType="withEffect">
                                  <p:stCondLst>
                                    <p:cond delay="870"/>
                                  </p:stCondLst>
                                  <p:childTnLst>
                                    <p:set>
                                      <p:cBhvr>
                                        <p:cTn id="49" dur="1" fill="hold">
                                          <p:stCondLst>
                                            <p:cond delay="0"/>
                                          </p:stCondLst>
                                        </p:cTn>
                                        <p:tgtEl>
                                          <p:spTgt spid="112"/>
                                        </p:tgtEl>
                                        <p:attrNameLst>
                                          <p:attrName>style.visibility</p:attrName>
                                        </p:attrNameLst>
                                      </p:cBhvr>
                                      <p:to>
                                        <p:strVal val="visible"/>
                                      </p:to>
                                    </p:set>
                                    <p:animEffect transition="in" filter="fade">
                                      <p:cBhvr>
                                        <p:cTn id="50" dur="500"/>
                                        <p:tgtEl>
                                          <p:spTgt spid="112"/>
                                        </p:tgtEl>
                                      </p:cBhvr>
                                    </p:animEffect>
                                  </p:childTnLst>
                                </p:cTn>
                              </p:par>
                              <p:par>
                                <p:cTn id="51" presetID="10" presetClass="entr" presetSubtype="0" fill="hold" grpId="0" nodeType="withEffect">
                                  <p:stCondLst>
                                    <p:cond delay="870"/>
                                  </p:stCondLst>
                                  <p:childTnLst>
                                    <p:set>
                                      <p:cBhvr>
                                        <p:cTn id="52" dur="1" fill="hold">
                                          <p:stCondLst>
                                            <p:cond delay="0"/>
                                          </p:stCondLst>
                                        </p:cTn>
                                        <p:tgtEl>
                                          <p:spTgt spid="113"/>
                                        </p:tgtEl>
                                        <p:attrNameLst>
                                          <p:attrName>style.visibility</p:attrName>
                                        </p:attrNameLst>
                                      </p:cBhvr>
                                      <p:to>
                                        <p:strVal val="visible"/>
                                      </p:to>
                                    </p:set>
                                    <p:animEffect transition="in" filter="fade">
                                      <p:cBhvr>
                                        <p:cTn id="53" dur="500"/>
                                        <p:tgtEl>
                                          <p:spTgt spid="113"/>
                                        </p:tgtEl>
                                      </p:cBhvr>
                                    </p:animEffect>
                                  </p:childTnLst>
                                </p:cTn>
                              </p:par>
                              <p:par>
                                <p:cTn id="54" presetID="10" presetClass="entr" presetSubtype="0" fill="hold" grpId="0" nodeType="withEffect">
                                  <p:stCondLst>
                                    <p:cond delay="870"/>
                                  </p:stCondLst>
                                  <p:childTnLst>
                                    <p:set>
                                      <p:cBhvr>
                                        <p:cTn id="55" dur="1" fill="hold">
                                          <p:stCondLst>
                                            <p:cond delay="0"/>
                                          </p:stCondLst>
                                        </p:cTn>
                                        <p:tgtEl>
                                          <p:spTgt spid="114"/>
                                        </p:tgtEl>
                                        <p:attrNameLst>
                                          <p:attrName>style.visibility</p:attrName>
                                        </p:attrNameLst>
                                      </p:cBhvr>
                                      <p:to>
                                        <p:strVal val="visible"/>
                                      </p:to>
                                    </p:set>
                                    <p:animEffect transition="in" filter="fade">
                                      <p:cBhvr>
                                        <p:cTn id="56" dur="500"/>
                                        <p:tgtEl>
                                          <p:spTgt spid="114"/>
                                        </p:tgtEl>
                                      </p:cBhvr>
                                    </p:animEffect>
                                  </p:childTnLst>
                                </p:cTn>
                              </p:par>
                              <p:par>
                                <p:cTn id="57" presetID="10" presetClass="entr" presetSubtype="0" fill="hold" grpId="0" nodeType="withEffect">
                                  <p:stCondLst>
                                    <p:cond delay="87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childTnLst>
                                </p:cTn>
                              </p:par>
                              <p:par>
                                <p:cTn id="60" presetID="10" presetClass="entr" presetSubtype="0" fill="hold" grpId="0" nodeType="withEffect">
                                  <p:stCondLst>
                                    <p:cond delay="870"/>
                                  </p:stCondLst>
                                  <p:childTnLst>
                                    <p:set>
                                      <p:cBhvr>
                                        <p:cTn id="61" dur="1" fill="hold">
                                          <p:stCondLst>
                                            <p:cond delay="0"/>
                                          </p:stCondLst>
                                        </p:cTn>
                                        <p:tgtEl>
                                          <p:spTgt spid="116"/>
                                        </p:tgtEl>
                                        <p:attrNameLst>
                                          <p:attrName>style.visibility</p:attrName>
                                        </p:attrNameLst>
                                      </p:cBhvr>
                                      <p:to>
                                        <p:strVal val="visible"/>
                                      </p:to>
                                    </p:set>
                                    <p:animEffect transition="in" filter="fade">
                                      <p:cBhvr>
                                        <p:cTn id="62" dur="500"/>
                                        <p:tgtEl>
                                          <p:spTgt spid="116"/>
                                        </p:tgtEl>
                                      </p:cBhvr>
                                    </p:animEffect>
                                  </p:childTnLst>
                                </p:cTn>
                              </p:par>
                              <p:par>
                                <p:cTn id="63" presetID="10" presetClass="entr" presetSubtype="0" fill="hold" grpId="0" nodeType="withEffect">
                                  <p:stCondLst>
                                    <p:cond delay="870"/>
                                  </p:stCondLst>
                                  <p:childTnLst>
                                    <p:set>
                                      <p:cBhvr>
                                        <p:cTn id="64" dur="1" fill="hold">
                                          <p:stCondLst>
                                            <p:cond delay="0"/>
                                          </p:stCondLst>
                                        </p:cTn>
                                        <p:tgtEl>
                                          <p:spTgt spid="117"/>
                                        </p:tgtEl>
                                        <p:attrNameLst>
                                          <p:attrName>style.visibility</p:attrName>
                                        </p:attrNameLst>
                                      </p:cBhvr>
                                      <p:to>
                                        <p:strVal val="visible"/>
                                      </p:to>
                                    </p:set>
                                    <p:animEffect transition="in" filter="fade">
                                      <p:cBhvr>
                                        <p:cTn id="65" dur="500"/>
                                        <p:tgtEl>
                                          <p:spTgt spid="117"/>
                                        </p:tgtEl>
                                      </p:cBhvr>
                                    </p:animEffect>
                                  </p:childTnLst>
                                </p:cTn>
                              </p:par>
                              <p:par>
                                <p:cTn id="66" presetID="10" presetClass="entr" presetSubtype="0" fill="hold" grpId="0" nodeType="withEffect">
                                  <p:stCondLst>
                                    <p:cond delay="870"/>
                                  </p:stCondLst>
                                  <p:childTnLst>
                                    <p:set>
                                      <p:cBhvr>
                                        <p:cTn id="67" dur="1" fill="hold">
                                          <p:stCondLst>
                                            <p:cond delay="0"/>
                                          </p:stCondLst>
                                        </p:cTn>
                                        <p:tgtEl>
                                          <p:spTgt spid="118"/>
                                        </p:tgtEl>
                                        <p:attrNameLst>
                                          <p:attrName>style.visibility</p:attrName>
                                        </p:attrNameLst>
                                      </p:cBhvr>
                                      <p:to>
                                        <p:strVal val="visible"/>
                                      </p:to>
                                    </p:set>
                                    <p:animEffect transition="in" filter="fade">
                                      <p:cBhvr>
                                        <p:cTn id="68" dur="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DAY 1</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Day 1 of the Sprint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Prefer vertical slices: avoid a designer → backend → frontend → QA waterfall.</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267</a:t>
            </a:r>
            <a:endParaRPr lang="en-US" sz="850" dirty="0"/>
          </a:p>
        </p:txBody>
      </p:sp>
      <p:sp>
        <p:nvSpPr>
          <p:cNvPr id="101" name="s101"/>
          <p:cNvSpPr/>
          <p:nvPr/>
        </p:nvSpPr>
        <p:spPr>
          <a:xfrm>
            <a:off x="543154" y="1965960"/>
            <a:ext cx="2071299" cy="324612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txBox="1"/>
          <p:nvPr/>
        </p:nvSpPr>
        <p:spPr>
          <a:xfrm>
            <a:off x="543154" y="2029968"/>
            <a:ext cx="2071299"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1" dirty="0">
                <a:solidFill>
                  <a:srgbClr val="94A3B8"/>
                </a:solidFill>
                <a:latin typeface="Segoe UI"/>
                <a:ea typeface="Segoe UI"/>
                <a:cs typeface="Segoe UI"/>
              </a:rPr>
              <a:t>TO DO</a:t>
            </a:r>
            <a:endParaRPr lang="en-US" sz="1100" dirty="0"/>
          </a:p>
        </p:txBody>
      </p:sp>
      <p:sp>
        <p:nvSpPr>
          <p:cNvPr id="103" name="s103"/>
          <p:cNvSpPr/>
          <p:nvPr/>
        </p:nvSpPr>
        <p:spPr>
          <a:xfrm>
            <a:off x="2797332" y="1965960"/>
            <a:ext cx="2071299" cy="324612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4" name="s104"/>
          <p:cNvSpPr txBox="1"/>
          <p:nvPr/>
        </p:nvSpPr>
        <p:spPr>
          <a:xfrm>
            <a:off x="2797332" y="2029968"/>
            <a:ext cx="2071299"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1" dirty="0">
                <a:solidFill>
                  <a:srgbClr val="60A5FA"/>
                </a:solidFill>
                <a:latin typeface="Segoe UI"/>
                <a:ea typeface="Segoe UI"/>
                <a:cs typeface="Segoe UI"/>
              </a:rPr>
              <a:t>IN PROGRESS</a:t>
            </a:r>
            <a:endParaRPr lang="en-US" sz="1100" dirty="0"/>
          </a:p>
        </p:txBody>
      </p:sp>
      <p:sp>
        <p:nvSpPr>
          <p:cNvPr id="105" name="s105"/>
          <p:cNvSpPr/>
          <p:nvPr/>
        </p:nvSpPr>
        <p:spPr>
          <a:xfrm>
            <a:off x="5051511" y="1965960"/>
            <a:ext cx="2071299" cy="324612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6" name="s106"/>
          <p:cNvSpPr txBox="1"/>
          <p:nvPr/>
        </p:nvSpPr>
        <p:spPr>
          <a:xfrm>
            <a:off x="5051511" y="2029968"/>
            <a:ext cx="2071299"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1" dirty="0">
                <a:solidFill>
                  <a:srgbClr val="60A5FA"/>
                </a:solidFill>
                <a:latin typeface="Segoe UI"/>
                <a:ea typeface="Segoe UI"/>
                <a:cs typeface="Segoe UI"/>
              </a:rPr>
              <a:t>REVIEW</a:t>
            </a:r>
            <a:endParaRPr lang="en-US" sz="1100" dirty="0"/>
          </a:p>
        </p:txBody>
      </p:sp>
      <p:sp>
        <p:nvSpPr>
          <p:cNvPr id="107" name="s107"/>
          <p:cNvSpPr/>
          <p:nvPr/>
        </p:nvSpPr>
        <p:spPr>
          <a:xfrm>
            <a:off x="7305690" y="1965960"/>
            <a:ext cx="2071299" cy="324612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8" name="s108"/>
          <p:cNvSpPr txBox="1"/>
          <p:nvPr/>
        </p:nvSpPr>
        <p:spPr>
          <a:xfrm>
            <a:off x="7305690" y="2029968"/>
            <a:ext cx="2071299"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1" dirty="0">
                <a:solidFill>
                  <a:srgbClr val="60A5FA"/>
                </a:solidFill>
                <a:latin typeface="Segoe UI"/>
                <a:ea typeface="Segoe UI"/>
                <a:cs typeface="Segoe UI"/>
              </a:rPr>
              <a:t>TESTING</a:t>
            </a:r>
            <a:endParaRPr lang="en-US" sz="1100" dirty="0"/>
          </a:p>
        </p:txBody>
      </p:sp>
      <p:sp>
        <p:nvSpPr>
          <p:cNvPr id="109" name="s109"/>
          <p:cNvSpPr/>
          <p:nvPr/>
        </p:nvSpPr>
        <p:spPr>
          <a:xfrm>
            <a:off x="9559869" y="1965960"/>
            <a:ext cx="2071299" cy="324612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0" name="s110"/>
          <p:cNvSpPr txBox="1"/>
          <p:nvPr/>
        </p:nvSpPr>
        <p:spPr>
          <a:xfrm>
            <a:off x="9559869" y="2029968"/>
            <a:ext cx="2071299"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1" dirty="0">
                <a:solidFill>
                  <a:srgbClr val="60A5FA"/>
                </a:solidFill>
                <a:latin typeface="Segoe UI"/>
                <a:ea typeface="Segoe UI"/>
                <a:cs typeface="Segoe UI"/>
              </a:rPr>
              <a:t>DONE</a:t>
            </a:r>
            <a:endParaRPr lang="en-US" sz="1100" dirty="0"/>
          </a:p>
        </p:txBody>
      </p:sp>
      <p:sp>
        <p:nvSpPr>
          <p:cNvPr id="111" name="s111"/>
          <p:cNvSpPr/>
          <p:nvPr/>
        </p:nvSpPr>
        <p:spPr>
          <a:xfrm>
            <a:off x="680314" y="2468880"/>
            <a:ext cx="1796979" cy="530352"/>
          </a:xfrm>
          <a:prstGeom prst="roundRect">
            <a:avLst>
              <a:gd name="adj" fmla="val 12000"/>
            </a:avLst>
          </a:prstGeom>
          <a:solidFill>
            <a:srgbClr val="152238"/>
          </a:solidFill>
          <a:ln w="12700">
            <a:solidFill>
              <a:srgbClr val="60A5FA">
                <a:alpha val="60000"/>
              </a:srgbClr>
            </a:solidFill>
            <a:prstDash val="solid"/>
          </a:ln>
          <a:effectLst>
            <a:outerShdw blurRad="190500" dist="38100" dir="5400000" algn="t" rotWithShape="0">
              <a:srgbClr val="000000">
                <a:alpha val="45000"/>
              </a:srgbClr>
            </a:outerShdw>
          </a:effectLst>
        </p:spPr>
        <p:txBody>
          <a:bodyPr wrap="square" lIns="164592" tIns="0" rIns="9144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Register</a:t>
            </a:r>
            <a:endParaRPr lang="en-US" sz="1300" dirty="0"/>
          </a:p>
        </p:txBody>
      </p:sp>
      <p:sp>
        <p:nvSpPr>
          <p:cNvPr id="112" name="s112"/>
          <p:cNvSpPr/>
          <p:nvPr/>
        </p:nvSpPr>
        <p:spPr>
          <a:xfrm>
            <a:off x="680314" y="3127248"/>
            <a:ext cx="1796979" cy="530352"/>
          </a:xfrm>
          <a:prstGeom prst="roundRect">
            <a:avLst>
              <a:gd name="adj" fmla="val 12000"/>
            </a:avLst>
          </a:prstGeom>
          <a:solidFill>
            <a:srgbClr val="152238"/>
          </a:solidFill>
          <a:ln w="12700">
            <a:solidFill>
              <a:srgbClr val="60A5FA">
                <a:alpha val="60000"/>
              </a:srgbClr>
            </a:solidFill>
            <a:prstDash val="solid"/>
          </a:ln>
          <a:effectLst>
            <a:outerShdw blurRad="190500" dist="38100" dir="5400000" algn="t" rotWithShape="0">
              <a:srgbClr val="000000">
                <a:alpha val="45000"/>
              </a:srgbClr>
            </a:outerShdw>
          </a:effectLst>
        </p:spPr>
        <p:txBody>
          <a:bodyPr wrap="square" lIns="164592" tIns="0" rIns="9144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Availability</a:t>
            </a:r>
            <a:endParaRPr lang="en-US" sz="1300" dirty="0"/>
          </a:p>
        </p:txBody>
      </p:sp>
      <p:sp>
        <p:nvSpPr>
          <p:cNvPr id="113" name="s113"/>
          <p:cNvSpPr/>
          <p:nvPr/>
        </p:nvSpPr>
        <p:spPr>
          <a:xfrm>
            <a:off x="680314" y="3785616"/>
            <a:ext cx="1796979" cy="530352"/>
          </a:xfrm>
          <a:prstGeom prst="roundRect">
            <a:avLst>
              <a:gd name="adj" fmla="val 12000"/>
            </a:avLst>
          </a:prstGeom>
          <a:solidFill>
            <a:srgbClr val="152238"/>
          </a:solidFill>
          <a:ln w="12700">
            <a:solidFill>
              <a:srgbClr val="60A5FA">
                <a:alpha val="60000"/>
              </a:srgbClr>
            </a:solidFill>
            <a:prstDash val="solid"/>
          </a:ln>
          <a:effectLst>
            <a:outerShdw blurRad="190500" dist="38100" dir="5400000" algn="t" rotWithShape="0">
              <a:srgbClr val="000000">
                <a:alpha val="45000"/>
              </a:srgbClr>
            </a:outerShdw>
          </a:effectLst>
        </p:spPr>
        <p:txBody>
          <a:bodyPr wrap="square" lIns="164592" tIns="0" rIns="9144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Book</a:t>
            </a:r>
            <a:endParaRPr lang="en-US" sz="1300" dirty="0"/>
          </a:p>
        </p:txBody>
      </p:sp>
      <p:sp>
        <p:nvSpPr>
          <p:cNvPr id="114" name="s114"/>
          <p:cNvSpPr/>
          <p:nvPr/>
        </p:nvSpPr>
        <p:spPr>
          <a:xfrm>
            <a:off x="680314" y="4443984"/>
            <a:ext cx="1796979" cy="530352"/>
          </a:xfrm>
          <a:prstGeom prst="roundRect">
            <a:avLst>
              <a:gd name="adj" fmla="val 12000"/>
            </a:avLst>
          </a:prstGeom>
          <a:solidFill>
            <a:srgbClr val="152238"/>
          </a:solidFill>
          <a:ln w="12700">
            <a:solidFill>
              <a:srgbClr val="60A5FA">
                <a:alpha val="60000"/>
              </a:srgbClr>
            </a:solidFill>
            <a:prstDash val="solid"/>
          </a:ln>
          <a:effectLst>
            <a:outerShdw blurRad="190500" dist="38100" dir="5400000" algn="t" rotWithShape="0">
              <a:srgbClr val="000000">
                <a:alpha val="45000"/>
              </a:srgbClr>
            </a:outerShdw>
          </a:effectLst>
        </p:spPr>
        <p:txBody>
          <a:bodyPr wrap="square" lIns="164592" tIns="0" rIns="9144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Confirm</a:t>
            </a:r>
            <a:endParaRPr lang="en-US" sz="1300" dirty="0"/>
          </a:p>
        </p:txBody>
      </p:sp>
      <p:sp>
        <p:nvSpPr>
          <p:cNvPr id="115" name="s115"/>
          <p:cNvSpPr/>
          <p:nvPr/>
        </p:nvSpPr>
        <p:spPr>
          <a:xfrm>
            <a:off x="2980212" y="3063240"/>
            <a:ext cx="365760" cy="365760"/>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O</a:t>
            </a:r>
            <a:endParaRPr lang="en-US" sz="1100" dirty="0"/>
          </a:p>
        </p:txBody>
      </p:sp>
      <p:sp>
        <p:nvSpPr>
          <p:cNvPr id="116" name="s116"/>
          <p:cNvSpPr/>
          <p:nvPr/>
        </p:nvSpPr>
        <p:spPr>
          <a:xfrm>
            <a:off x="3391692" y="3063240"/>
            <a:ext cx="365760" cy="365760"/>
          </a:xfrm>
          <a:prstGeom prst="ellipse">
            <a:avLst/>
          </a:prstGeom>
          <a:solidFill>
            <a:srgbClr val="34D399">
              <a:alpha val="22000"/>
            </a:srgbClr>
          </a:solidFill>
          <a:ln w="1905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M</a:t>
            </a:r>
            <a:endParaRPr lang="en-US" sz="1100" dirty="0"/>
          </a:p>
        </p:txBody>
      </p:sp>
      <p:sp>
        <p:nvSpPr>
          <p:cNvPr id="117" name="s117"/>
          <p:cNvSpPr/>
          <p:nvPr/>
        </p:nvSpPr>
        <p:spPr>
          <a:xfrm>
            <a:off x="3803172" y="3063240"/>
            <a:ext cx="365760" cy="365760"/>
          </a:xfrm>
          <a:prstGeom prst="ellipse">
            <a:avLst/>
          </a:prstGeom>
          <a:solidFill>
            <a:srgbClr val="F472B6">
              <a:alpha val="22000"/>
            </a:srgbClr>
          </a:solidFill>
          <a:ln w="19050">
            <a:solidFill>
              <a:srgbClr val="F472B6"/>
            </a:solidFill>
            <a:prstDash val="solid"/>
          </a:ln>
        </p:spPr>
        <p:txBody>
          <a:bodyPr wrap="square" lIns="0" tIns="0" rIns="0" bIns="0" rtlCol="0" anchor="ctr">
            <a:noAutofit/>
          </a:bodyPr>
          <a:lstStyle/>
          <a:p>
            <a:pPr marL="0" indent="0" algn="ctr">
              <a:spcBef>
                <a:spcPts val="0"/>
              </a:spcBef>
              <a:spcAft>
                <a:spcPts val="0"/>
              </a:spcAft>
              <a:buNone/>
            </a:pPr>
            <a:r>
              <a:rPr lang="en-US" sz="1100" b="1" dirty="0">
                <a:solidFill>
                  <a:srgbClr val="F472B6"/>
                </a:solidFill>
                <a:latin typeface="Segoe UI"/>
                <a:ea typeface="Segoe UI"/>
                <a:cs typeface="Segoe UI"/>
              </a:rPr>
              <a:t>L</a:t>
            </a:r>
            <a:endParaRPr lang="en-US" sz="1100" dirty="0"/>
          </a:p>
        </p:txBody>
      </p:sp>
      <p:sp>
        <p:nvSpPr>
          <p:cNvPr id="118" name="s118"/>
          <p:cNvSpPr/>
          <p:nvPr/>
        </p:nvSpPr>
        <p:spPr>
          <a:xfrm>
            <a:off x="4260372" y="3090672"/>
            <a:ext cx="685800" cy="292608"/>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pair</a:t>
            </a:r>
            <a:endParaRPr lang="en-US" sz="1000" dirty="0"/>
          </a:p>
        </p:txBody>
      </p:sp>
      <p:sp>
        <p:nvSpPr>
          <p:cNvPr id="119" name="s119"/>
          <p:cNvSpPr/>
          <p:nvPr/>
        </p:nvSpPr>
        <p:spPr>
          <a:xfrm>
            <a:off x="543154" y="5394960"/>
            <a:ext cx="11088014" cy="548640"/>
          </a:xfrm>
          <a:prstGeom prst="roundRect">
            <a:avLst>
              <a:gd name="adj" fmla="val 12000"/>
            </a:avLst>
          </a:prstGeom>
          <a:solidFill>
            <a:srgbClr val="111B2E"/>
          </a:solidFill>
          <a:ln w="12700">
            <a:solidFill>
              <a:srgbClr val="60A5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60A5FA"/>
                </a:solidFill>
                <a:latin typeface="Segoe UI"/>
                <a:ea typeface="Segoe UI"/>
                <a:cs typeface="Segoe UI"/>
              </a:rPr>
              <a:t>Multiple specialties collaborate on the same PBI. </a:t>
            </a:r>
            <a:r>
              <a:rPr lang="en-US" sz="1350" b="0" dirty="0">
                <a:solidFill>
                  <a:srgbClr val="E2E8F0"/>
                </a:solidFill>
                <a:latin typeface="Segoe UI"/>
                <a:ea typeface="Segoe UI"/>
                <a:cs typeface="Segoe UI"/>
              </a:rPr>
              <a:t>Deliver thin, usable slices.</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9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9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18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18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27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27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36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36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46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ppt_x</p:attrName>
                                        </p:attrNameLst>
                                      </p:cBhvr>
                                      <p:tavLst>
                                        <p:tav tm="0">
                                          <p:val>
                                            <p:strVal val="#ppt_x-0.05"/>
                                          </p:val>
                                        </p:tav>
                                        <p:tav tm="100000">
                                          <p:val>
                                            <p:strVal val="#ppt_x"/>
                                          </p:val>
                                        </p:tav>
                                      </p:tavLst>
                                    </p:anim>
                                  </p:childTnLst>
                                </p:cTn>
                              </p:par>
                              <p:par>
                                <p:cTn id="49" presetID="42" presetClass="entr" presetSubtype="0" fill="hold" grpId="0" nodeType="withEffect">
                                  <p:stCondLst>
                                    <p:cond delay="57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68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ppt_x</p:attrName>
                                        </p:attrNameLst>
                                      </p:cBhvr>
                                      <p:tavLst>
                                        <p:tav tm="0">
                                          <p:val>
                                            <p:strVal val="#ppt_x-0.05"/>
                                          </p:val>
                                        </p:tav>
                                        <p:tav tm="100000">
                                          <p:val>
                                            <p:strVal val="#ppt_x"/>
                                          </p:val>
                                        </p:tav>
                                      </p:tavLst>
                                    </p:anim>
                                  </p:childTnLst>
                                </p:cTn>
                              </p:par>
                              <p:par>
                                <p:cTn id="57" presetID="42" presetClass="entr" presetSubtype="0" fill="hold" grpId="0" nodeType="withEffect">
                                  <p:stCondLst>
                                    <p:cond delay="79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ppt_x</p:attrName>
                                        </p:attrNameLst>
                                      </p:cBhvr>
                                      <p:tavLst>
                                        <p:tav tm="0">
                                          <p:val>
                                            <p:strVal val="#ppt_x-0.05"/>
                                          </p:val>
                                        </p:tav>
                                        <p:tav tm="100000">
                                          <p:val>
                                            <p:strVal val="#ppt_x"/>
                                          </p:val>
                                        </p:tav>
                                      </p:tavLst>
                                    </p:anim>
                                  </p:childTnLst>
                                </p:cTn>
                              </p:par>
                            </p:childTnLst>
                          </p:cTn>
                        </p:par>
                      </p:childTnLst>
                    </p:cTn>
                  </p:par>
                  <p:par>
                    <p:cTn id="61" fill="hold">
                      <p:stCondLst>
                        <p:cond delay="indefinite"/>
                      </p:stCondLst>
                      <p:childTnLst>
                        <p:par>
                          <p:cTn id="62" fill="hold">
                            <p:stCondLst>
                              <p:cond delay="0"/>
                            </p:stCondLst>
                            <p:childTnLst>
                              <p:par>
                                <p:cTn id="63" presetID="0" presetClass="path" presetSubtype="0" fill="hold" grpId="2" nodeType="clickEffect">
                                  <p:stCondLst>
                                    <p:cond delay="0"/>
                                  </p:stCondLst>
                                  <p:childTnLst>
                                    <p:animMotion origin="layout" path="M 0 0 L 0.1849 0.0000 E" pathEditMode="relative" ptsTypes="AA">
                                      <p:cBhvr>
                                        <p:cTn id="64" dur="900" accel="20000" decel="60000" fill="hold"/>
                                        <p:tgtEl>
                                          <p:spTgt spid="111"/>
                                        </p:tgtEl>
                                        <p:attrNameLst>
                                          <p:attrName>ppt_x</p:attrName>
                                          <p:attrName>ppt_y</p:attrName>
                                        </p:attrNameLst>
                                      </p:cBhvr>
                                    </p:animMotion>
                                  </p:childTnLst>
                                </p:cTn>
                              </p:par>
                              <p:par>
                                <p:cTn id="65" presetID="53" presetClass="entr" presetSubtype="16" fill="hold" grpId="0" nodeType="withEffect">
                                  <p:stCondLst>
                                    <p:cond delay="200"/>
                                  </p:stCondLst>
                                  <p:childTnLst>
                                    <p:set>
                                      <p:cBhvr>
                                        <p:cTn id="66" dur="1" fill="hold">
                                          <p:stCondLst>
                                            <p:cond delay="0"/>
                                          </p:stCondLst>
                                        </p:cTn>
                                        <p:tgtEl>
                                          <p:spTgt spid="115"/>
                                        </p:tgtEl>
                                        <p:attrNameLst>
                                          <p:attrName>style.visibility</p:attrName>
                                        </p:attrNameLst>
                                      </p:cBhvr>
                                      <p:to>
                                        <p:strVal val="visible"/>
                                      </p:to>
                                    </p:set>
                                    <p:anim calcmode="lin" valueType="num">
                                      <p:cBhvr additive="base">
                                        <p:cTn id="67" dur="5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68" dur="500" decel="100000" fill="hold"/>
                                        <p:tgtEl>
                                          <p:spTgt spid="115"/>
                                        </p:tgtEl>
                                        <p:attrNameLst>
                                          <p:attrName>ppt_h</p:attrName>
                                        </p:attrNameLst>
                                      </p:cBhvr>
                                      <p:tavLst>
                                        <p:tav tm="0">
                                          <p:val>
                                            <p:strVal val="#ppt_h*0.3"/>
                                          </p:val>
                                        </p:tav>
                                        <p:tav tm="100000">
                                          <p:val>
                                            <p:strVal val="#ppt_h*1.08"/>
                                          </p:val>
                                        </p:tav>
                                      </p:tavLst>
                                    </p:anim>
                                    <p:animEffect transition="in" filter="fade">
                                      <p:cBhvr>
                                        <p:cTn id="69" dur="250"/>
                                        <p:tgtEl>
                                          <p:spTgt spid="115"/>
                                        </p:tgtEl>
                                      </p:cBhvr>
                                    </p:animEffect>
                                    <p:anim calcmode="lin" valueType="num">
                                      <p:cBhvr additive="base">
                                        <p:cTn id="70" dur="160" fill="hold">
                                          <p:stCondLst>
                                            <p:cond delay="500"/>
                                          </p:stCondLst>
                                        </p:cTn>
                                        <p:tgtEl>
                                          <p:spTgt spid="115"/>
                                        </p:tgtEl>
                                        <p:attrNameLst>
                                          <p:attrName>ppt_w</p:attrName>
                                        </p:attrNameLst>
                                      </p:cBhvr>
                                      <p:tavLst>
                                        <p:tav tm="0">
                                          <p:val>
                                            <p:strVal val="#ppt_w*1.08"/>
                                          </p:val>
                                        </p:tav>
                                        <p:tav tm="100000">
                                          <p:val>
                                            <p:strVal val="#ppt_w"/>
                                          </p:val>
                                        </p:tav>
                                      </p:tavLst>
                                    </p:anim>
                                    <p:anim calcmode="lin" valueType="num">
                                      <p:cBhvr additive="base">
                                        <p:cTn id="71" dur="160" fill="hold">
                                          <p:stCondLst>
                                            <p:cond delay="500"/>
                                          </p:stCondLst>
                                        </p:cTn>
                                        <p:tgtEl>
                                          <p:spTgt spid="115"/>
                                        </p:tgtEl>
                                        <p:attrNameLst>
                                          <p:attrName>ppt_h</p:attrName>
                                        </p:attrNameLst>
                                      </p:cBhvr>
                                      <p:tavLst>
                                        <p:tav tm="0">
                                          <p:val>
                                            <p:strVal val="#ppt_h*1.08"/>
                                          </p:val>
                                        </p:tav>
                                        <p:tav tm="100000">
                                          <p:val>
                                            <p:strVal val="#ppt_h"/>
                                          </p:val>
                                        </p:tav>
                                      </p:tavLst>
                                    </p:anim>
                                  </p:childTnLst>
                                </p:cTn>
                              </p:par>
                              <p:par>
                                <p:cTn id="72" presetID="53" presetClass="entr" presetSubtype="16" fill="hold" grpId="0" nodeType="withEffect">
                                  <p:stCondLst>
                                    <p:cond delay="320"/>
                                  </p:stCondLst>
                                  <p:childTnLst>
                                    <p:set>
                                      <p:cBhvr>
                                        <p:cTn id="73" dur="1" fill="hold">
                                          <p:stCondLst>
                                            <p:cond delay="0"/>
                                          </p:stCondLst>
                                        </p:cTn>
                                        <p:tgtEl>
                                          <p:spTgt spid="116"/>
                                        </p:tgtEl>
                                        <p:attrNameLst>
                                          <p:attrName>style.visibility</p:attrName>
                                        </p:attrNameLst>
                                      </p:cBhvr>
                                      <p:to>
                                        <p:strVal val="visible"/>
                                      </p:to>
                                    </p:set>
                                    <p:anim calcmode="lin" valueType="num">
                                      <p:cBhvr additive="base">
                                        <p:cTn id="74" dur="500" decel="100000" fill="hold"/>
                                        <p:tgtEl>
                                          <p:spTgt spid="116"/>
                                        </p:tgtEl>
                                        <p:attrNameLst>
                                          <p:attrName>ppt_w</p:attrName>
                                        </p:attrNameLst>
                                      </p:cBhvr>
                                      <p:tavLst>
                                        <p:tav tm="0">
                                          <p:val>
                                            <p:strVal val="#ppt_w*0.3"/>
                                          </p:val>
                                        </p:tav>
                                        <p:tav tm="100000">
                                          <p:val>
                                            <p:strVal val="#ppt_w*1.08"/>
                                          </p:val>
                                        </p:tav>
                                      </p:tavLst>
                                    </p:anim>
                                    <p:anim calcmode="lin" valueType="num">
                                      <p:cBhvr additive="base">
                                        <p:cTn id="75" dur="500" decel="100000" fill="hold"/>
                                        <p:tgtEl>
                                          <p:spTgt spid="116"/>
                                        </p:tgtEl>
                                        <p:attrNameLst>
                                          <p:attrName>ppt_h</p:attrName>
                                        </p:attrNameLst>
                                      </p:cBhvr>
                                      <p:tavLst>
                                        <p:tav tm="0">
                                          <p:val>
                                            <p:strVal val="#ppt_h*0.3"/>
                                          </p:val>
                                        </p:tav>
                                        <p:tav tm="100000">
                                          <p:val>
                                            <p:strVal val="#ppt_h*1.08"/>
                                          </p:val>
                                        </p:tav>
                                      </p:tavLst>
                                    </p:anim>
                                    <p:animEffect transition="in" filter="fade">
                                      <p:cBhvr>
                                        <p:cTn id="76" dur="250"/>
                                        <p:tgtEl>
                                          <p:spTgt spid="116"/>
                                        </p:tgtEl>
                                      </p:cBhvr>
                                    </p:animEffect>
                                    <p:anim calcmode="lin" valueType="num">
                                      <p:cBhvr additive="base">
                                        <p:cTn id="77" dur="160" fill="hold">
                                          <p:stCondLst>
                                            <p:cond delay="500"/>
                                          </p:stCondLst>
                                        </p:cTn>
                                        <p:tgtEl>
                                          <p:spTgt spid="116"/>
                                        </p:tgtEl>
                                        <p:attrNameLst>
                                          <p:attrName>ppt_w</p:attrName>
                                        </p:attrNameLst>
                                      </p:cBhvr>
                                      <p:tavLst>
                                        <p:tav tm="0">
                                          <p:val>
                                            <p:strVal val="#ppt_w*1.08"/>
                                          </p:val>
                                        </p:tav>
                                        <p:tav tm="100000">
                                          <p:val>
                                            <p:strVal val="#ppt_w"/>
                                          </p:val>
                                        </p:tav>
                                      </p:tavLst>
                                    </p:anim>
                                    <p:anim calcmode="lin" valueType="num">
                                      <p:cBhvr additive="base">
                                        <p:cTn id="78" dur="160" fill="hold">
                                          <p:stCondLst>
                                            <p:cond delay="500"/>
                                          </p:stCondLst>
                                        </p:cTn>
                                        <p:tgtEl>
                                          <p:spTgt spid="116"/>
                                        </p:tgtEl>
                                        <p:attrNameLst>
                                          <p:attrName>ppt_h</p:attrName>
                                        </p:attrNameLst>
                                      </p:cBhvr>
                                      <p:tavLst>
                                        <p:tav tm="0">
                                          <p:val>
                                            <p:strVal val="#ppt_h*1.08"/>
                                          </p:val>
                                        </p:tav>
                                        <p:tav tm="100000">
                                          <p:val>
                                            <p:strVal val="#ppt_h"/>
                                          </p:val>
                                        </p:tav>
                                      </p:tavLst>
                                    </p:anim>
                                  </p:childTnLst>
                                </p:cTn>
                              </p:par>
                              <p:par>
                                <p:cTn id="79" presetID="53" presetClass="entr" presetSubtype="16" fill="hold" grpId="0" nodeType="withEffect">
                                  <p:stCondLst>
                                    <p:cond delay="440"/>
                                  </p:stCondLst>
                                  <p:childTnLst>
                                    <p:set>
                                      <p:cBhvr>
                                        <p:cTn id="80" dur="1" fill="hold">
                                          <p:stCondLst>
                                            <p:cond delay="0"/>
                                          </p:stCondLst>
                                        </p:cTn>
                                        <p:tgtEl>
                                          <p:spTgt spid="117"/>
                                        </p:tgtEl>
                                        <p:attrNameLst>
                                          <p:attrName>style.visibility</p:attrName>
                                        </p:attrNameLst>
                                      </p:cBhvr>
                                      <p:to>
                                        <p:strVal val="visible"/>
                                      </p:to>
                                    </p:set>
                                    <p:anim calcmode="lin" valueType="num">
                                      <p:cBhvr additive="base">
                                        <p:cTn id="81" dur="500" decel="100000" fill="hold"/>
                                        <p:tgtEl>
                                          <p:spTgt spid="117"/>
                                        </p:tgtEl>
                                        <p:attrNameLst>
                                          <p:attrName>ppt_w</p:attrName>
                                        </p:attrNameLst>
                                      </p:cBhvr>
                                      <p:tavLst>
                                        <p:tav tm="0">
                                          <p:val>
                                            <p:strVal val="#ppt_w*0.3"/>
                                          </p:val>
                                        </p:tav>
                                        <p:tav tm="100000">
                                          <p:val>
                                            <p:strVal val="#ppt_w*1.08"/>
                                          </p:val>
                                        </p:tav>
                                      </p:tavLst>
                                    </p:anim>
                                    <p:anim calcmode="lin" valueType="num">
                                      <p:cBhvr additive="base">
                                        <p:cTn id="82" dur="500" decel="100000" fill="hold"/>
                                        <p:tgtEl>
                                          <p:spTgt spid="117"/>
                                        </p:tgtEl>
                                        <p:attrNameLst>
                                          <p:attrName>ppt_h</p:attrName>
                                        </p:attrNameLst>
                                      </p:cBhvr>
                                      <p:tavLst>
                                        <p:tav tm="0">
                                          <p:val>
                                            <p:strVal val="#ppt_h*0.3"/>
                                          </p:val>
                                        </p:tav>
                                        <p:tav tm="100000">
                                          <p:val>
                                            <p:strVal val="#ppt_h*1.08"/>
                                          </p:val>
                                        </p:tav>
                                      </p:tavLst>
                                    </p:anim>
                                    <p:animEffect transition="in" filter="fade">
                                      <p:cBhvr>
                                        <p:cTn id="83" dur="250"/>
                                        <p:tgtEl>
                                          <p:spTgt spid="117"/>
                                        </p:tgtEl>
                                      </p:cBhvr>
                                    </p:animEffect>
                                    <p:anim calcmode="lin" valueType="num">
                                      <p:cBhvr additive="base">
                                        <p:cTn id="84" dur="160" fill="hold">
                                          <p:stCondLst>
                                            <p:cond delay="500"/>
                                          </p:stCondLst>
                                        </p:cTn>
                                        <p:tgtEl>
                                          <p:spTgt spid="117"/>
                                        </p:tgtEl>
                                        <p:attrNameLst>
                                          <p:attrName>ppt_w</p:attrName>
                                        </p:attrNameLst>
                                      </p:cBhvr>
                                      <p:tavLst>
                                        <p:tav tm="0">
                                          <p:val>
                                            <p:strVal val="#ppt_w*1.08"/>
                                          </p:val>
                                        </p:tav>
                                        <p:tav tm="100000">
                                          <p:val>
                                            <p:strVal val="#ppt_w"/>
                                          </p:val>
                                        </p:tav>
                                      </p:tavLst>
                                    </p:anim>
                                    <p:anim calcmode="lin" valueType="num">
                                      <p:cBhvr additive="base">
                                        <p:cTn id="85" dur="160" fill="hold">
                                          <p:stCondLst>
                                            <p:cond delay="500"/>
                                          </p:stCondLst>
                                        </p:cTn>
                                        <p:tgtEl>
                                          <p:spTgt spid="117"/>
                                        </p:tgtEl>
                                        <p:attrNameLst>
                                          <p:attrName>ppt_h</p:attrName>
                                        </p:attrNameLst>
                                      </p:cBhvr>
                                      <p:tavLst>
                                        <p:tav tm="0">
                                          <p:val>
                                            <p:strVal val="#ppt_h*1.08"/>
                                          </p:val>
                                        </p:tav>
                                        <p:tav tm="100000">
                                          <p:val>
                                            <p:strVal val="#ppt_h"/>
                                          </p:val>
                                        </p:tav>
                                      </p:tavLst>
                                    </p:anim>
                                  </p:childTnLst>
                                </p:cTn>
                              </p:par>
                              <p:par>
                                <p:cTn id="86" presetID="53" presetClass="entr" presetSubtype="16" fill="hold" grpId="0" nodeType="withEffect">
                                  <p:stCondLst>
                                    <p:cond delay="560"/>
                                  </p:stCondLst>
                                  <p:childTnLst>
                                    <p:set>
                                      <p:cBhvr>
                                        <p:cTn id="87" dur="1" fill="hold">
                                          <p:stCondLst>
                                            <p:cond delay="0"/>
                                          </p:stCondLst>
                                        </p:cTn>
                                        <p:tgtEl>
                                          <p:spTgt spid="118"/>
                                        </p:tgtEl>
                                        <p:attrNameLst>
                                          <p:attrName>style.visibility</p:attrName>
                                        </p:attrNameLst>
                                      </p:cBhvr>
                                      <p:to>
                                        <p:strVal val="visible"/>
                                      </p:to>
                                    </p:set>
                                    <p:anim calcmode="lin" valueType="num">
                                      <p:cBhvr additive="base">
                                        <p:cTn id="88" dur="500" decel="100000" fill="hold"/>
                                        <p:tgtEl>
                                          <p:spTgt spid="118"/>
                                        </p:tgtEl>
                                        <p:attrNameLst>
                                          <p:attrName>ppt_w</p:attrName>
                                        </p:attrNameLst>
                                      </p:cBhvr>
                                      <p:tavLst>
                                        <p:tav tm="0">
                                          <p:val>
                                            <p:strVal val="#ppt_w*0.3"/>
                                          </p:val>
                                        </p:tav>
                                        <p:tav tm="100000">
                                          <p:val>
                                            <p:strVal val="#ppt_w*1.08"/>
                                          </p:val>
                                        </p:tav>
                                      </p:tavLst>
                                    </p:anim>
                                    <p:anim calcmode="lin" valueType="num">
                                      <p:cBhvr additive="base">
                                        <p:cTn id="89" dur="500" decel="100000" fill="hold"/>
                                        <p:tgtEl>
                                          <p:spTgt spid="118"/>
                                        </p:tgtEl>
                                        <p:attrNameLst>
                                          <p:attrName>ppt_h</p:attrName>
                                        </p:attrNameLst>
                                      </p:cBhvr>
                                      <p:tavLst>
                                        <p:tav tm="0">
                                          <p:val>
                                            <p:strVal val="#ppt_h*0.3"/>
                                          </p:val>
                                        </p:tav>
                                        <p:tav tm="100000">
                                          <p:val>
                                            <p:strVal val="#ppt_h*1.08"/>
                                          </p:val>
                                        </p:tav>
                                      </p:tavLst>
                                    </p:anim>
                                    <p:animEffect transition="in" filter="fade">
                                      <p:cBhvr>
                                        <p:cTn id="90" dur="250"/>
                                        <p:tgtEl>
                                          <p:spTgt spid="118"/>
                                        </p:tgtEl>
                                      </p:cBhvr>
                                    </p:animEffect>
                                    <p:anim calcmode="lin" valueType="num">
                                      <p:cBhvr additive="base">
                                        <p:cTn id="91" dur="160" fill="hold">
                                          <p:stCondLst>
                                            <p:cond delay="500"/>
                                          </p:stCondLst>
                                        </p:cTn>
                                        <p:tgtEl>
                                          <p:spTgt spid="118"/>
                                        </p:tgtEl>
                                        <p:attrNameLst>
                                          <p:attrName>ppt_w</p:attrName>
                                        </p:attrNameLst>
                                      </p:cBhvr>
                                      <p:tavLst>
                                        <p:tav tm="0">
                                          <p:val>
                                            <p:strVal val="#ppt_w*1.08"/>
                                          </p:val>
                                        </p:tav>
                                        <p:tav tm="100000">
                                          <p:val>
                                            <p:strVal val="#ppt_w"/>
                                          </p:val>
                                        </p:tav>
                                      </p:tavLst>
                                    </p:anim>
                                    <p:anim calcmode="lin" valueType="num">
                                      <p:cBhvr additive="base">
                                        <p:cTn id="92" dur="160" fill="hold">
                                          <p:stCondLst>
                                            <p:cond delay="500"/>
                                          </p:stCondLst>
                                        </p:cTn>
                                        <p:tgtEl>
                                          <p:spTgt spid="118"/>
                                        </p:tgtEl>
                                        <p:attrNameLst>
                                          <p:attrName>ppt_h</p:attrName>
                                        </p:attrNameLst>
                                      </p:cBhvr>
                                      <p:tavLst>
                                        <p:tav tm="0">
                                          <p:val>
                                            <p:strVal val="#ppt_h*1.08"/>
                                          </p:val>
                                        </p:tav>
                                        <p:tav tm="100000">
                                          <p:val>
                                            <p:strVal val="#ppt_h"/>
                                          </p:val>
                                        </p:tav>
                                      </p:tavLst>
                                    </p:anim>
                                  </p:childTnLst>
                                </p:cTn>
                              </p:par>
                            </p:childTnLst>
                          </p:cTn>
                        </p:par>
                      </p:childTnLst>
                    </p:cTn>
                  </p:par>
                  <p:par>
                    <p:cTn id="93" fill="hold">
                      <p:stCondLst>
                        <p:cond delay="indefinite"/>
                      </p:stCondLst>
                      <p:childTnLst>
                        <p:par>
                          <p:cTn id="94" fill="hold">
                            <p:stCondLst>
                              <p:cond delay="0"/>
                            </p:stCondLst>
                            <p:childTnLst>
                              <p:par>
                                <p:cTn id="95" presetID="42" presetClass="entr" presetSubtype="0" fill="hold" grpId="0" nodeType="clickEffect">
                                  <p:stCondLst>
                                    <p:cond delay="0"/>
                                  </p:stCondLst>
                                  <p:childTnLst>
                                    <p:set>
                                      <p:cBhvr>
                                        <p:cTn id="96" dur="1" fill="hold">
                                          <p:stCondLst>
                                            <p:cond delay="0"/>
                                          </p:stCondLst>
                                        </p:cTn>
                                        <p:tgtEl>
                                          <p:spTgt spid="119"/>
                                        </p:tgtEl>
                                        <p:attrNameLst>
                                          <p:attrName>style.visibility</p:attrName>
                                        </p:attrNameLst>
                                      </p:cBhvr>
                                      <p:to>
                                        <p:strVal val="visible"/>
                                      </p:to>
                                    </p:set>
                                    <p:animEffect transition="in" filter="fade">
                                      <p:cBhvr>
                                        <p:cTn id="97" dur="500"/>
                                        <p:tgtEl>
                                          <p:spTgt spid="119"/>
                                        </p:tgtEl>
                                      </p:cBhvr>
                                    </p:animEffect>
                                    <p:anim calcmode="lin" valueType="num">
                                      <p:cBhvr additive="base">
                                        <p:cTn id="98" dur="5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1" grpId="2" animBg="1"/>
      <p:bldP spid="112" grpId="0" animBg="1"/>
      <p:bldP spid="113" grpId="0" animBg="1"/>
      <p:bldP spid="114" grpId="0" animBg="1"/>
      <p:bldP spid="115" grpId="0" animBg="1"/>
      <p:bldP spid="116" grpId="0" animBg="1"/>
      <p:bldP spid="117" grpId="0" animBg="1"/>
      <p:bldP spid="118" grpId="0" animBg="1"/>
      <p:bldP spid="119"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068019"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SELF-MANAGE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Developers Are Not Assigned Individual Work</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Managers assign tasks vs. Developers organize together.</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268</a:t>
            </a:r>
            <a:endParaRPr lang="en-US" sz="850" dirty="0"/>
          </a:p>
        </p:txBody>
      </p:sp>
      <p:sp>
        <p:nvSpPr>
          <p:cNvPr id="101" name="s101"/>
          <p:cNvSpPr/>
          <p:nvPr/>
        </p:nvSpPr>
        <p:spPr>
          <a:xfrm>
            <a:off x="543154" y="1965960"/>
            <a:ext cx="5406847" cy="2651760"/>
          </a:xfrm>
          <a:prstGeom prst="roundRect">
            <a:avLst>
              <a:gd name="adj" fmla="val 10000"/>
            </a:avLst>
          </a:prstGeom>
          <a:solidFill>
            <a:srgbClr val="111B2E"/>
          </a:solidFill>
          <a:ln w="15875">
            <a:solidFill>
              <a:srgbClr val="F87171"/>
            </a:solidFill>
            <a:prstDash val="solid"/>
          </a:ln>
        </p:spPr>
        <p:txBody>
          <a:bodyPr wrap="square" lIns="182880" tIns="146304" rIns="164592" bIns="109728" rtlCol="0" anchor="t">
            <a:noAutofit/>
          </a:bodyPr>
          <a:lstStyle/>
          <a:p>
            <a:endParaRPr lang="en-US"/>
          </a:p>
        </p:txBody>
      </p:sp>
      <p:sp>
        <p:nvSpPr>
          <p:cNvPr id="102" name="s102"/>
          <p:cNvSpPr/>
          <p:nvPr/>
        </p:nvSpPr>
        <p:spPr>
          <a:xfrm>
            <a:off x="744322" y="2148840"/>
            <a:ext cx="420624" cy="420624"/>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845271" y="2249790"/>
            <a:ext cx="218724" cy="218724"/>
          </a:xfrm>
          <a:prstGeom prst="rect">
            <a:avLst/>
          </a:prstGeom>
        </p:spPr>
      </p:pic>
      <p:sp>
        <p:nvSpPr>
          <p:cNvPr id="104" name="s104"/>
          <p:cNvSpPr txBox="1"/>
          <p:nvPr/>
        </p:nvSpPr>
        <p:spPr>
          <a:xfrm>
            <a:off x="1292962" y="2167128"/>
            <a:ext cx="4492447"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87171"/>
                </a:solidFill>
                <a:latin typeface="Segoe UI"/>
                <a:ea typeface="Segoe UI"/>
                <a:cs typeface="Segoe UI"/>
              </a:rPr>
              <a:t>BAD: MANAGER STYLE</a:t>
            </a:r>
            <a:endParaRPr lang="en-US" sz="1300" dirty="0"/>
          </a:p>
        </p:txBody>
      </p:sp>
      <p:sp>
        <p:nvSpPr>
          <p:cNvPr id="105" name="s105"/>
          <p:cNvSpPr txBox="1"/>
          <p:nvPr/>
        </p:nvSpPr>
        <p:spPr>
          <a:xfrm>
            <a:off x="771754" y="2743200"/>
            <a:ext cx="4949647" cy="173736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600" b="0" dirty="0">
                <a:solidFill>
                  <a:srgbClr val="E2E8F0"/>
                </a:solidFill>
                <a:latin typeface="Segoe UI"/>
                <a:ea typeface="Segoe UI"/>
                <a:cs typeface="Segoe UI"/>
              </a:rPr>
              <a:t>“Omar, take the API.”</a:t>
            </a:r>
            <a:endParaRPr lang="en-US" sz="1600" dirty="0"/>
          </a:p>
          <a:p>
            <a:pPr marL="0" indent="0" algn="l">
              <a:spcBef>
                <a:spcPts val="0"/>
              </a:spcBef>
              <a:spcAft>
                <a:spcPts val="500"/>
              </a:spcAft>
              <a:buNone/>
            </a:pPr>
            <a:r>
              <a:rPr lang="en-US" sz="1600" b="0" dirty="0">
                <a:solidFill>
                  <a:srgbClr val="E2E8F0"/>
                </a:solidFill>
                <a:latin typeface="Segoe UI"/>
                <a:ea typeface="Segoe UI"/>
                <a:cs typeface="Segoe UI"/>
              </a:rPr>
              <a:t>“Lina, take the UI.”</a:t>
            </a:r>
            <a:endParaRPr lang="en-US" sz="1600" dirty="0"/>
          </a:p>
          <a:p>
            <a:pPr marL="0" indent="0" algn="l">
              <a:spcBef>
                <a:spcPts val="0"/>
              </a:spcBef>
              <a:spcAft>
                <a:spcPts val="500"/>
              </a:spcAft>
              <a:buNone/>
            </a:pPr>
            <a:r>
              <a:rPr lang="en-US" sz="1600" b="0" dirty="0">
                <a:solidFill>
                  <a:srgbClr val="E2E8F0"/>
                </a:solidFill>
                <a:latin typeface="Segoe UI"/>
                <a:ea typeface="Segoe UI"/>
                <a:cs typeface="Segoe UI"/>
              </a:rPr>
              <a:t>“Maya, wait until coding is done.”</a:t>
            </a:r>
            <a:endParaRPr lang="en-US" sz="1600" dirty="0"/>
          </a:p>
        </p:txBody>
      </p:sp>
      <p:sp>
        <p:nvSpPr>
          <p:cNvPr id="106" name="s106"/>
          <p:cNvSpPr/>
          <p:nvPr/>
        </p:nvSpPr>
        <p:spPr>
          <a:xfrm>
            <a:off x="6224321" y="1965960"/>
            <a:ext cx="5406847" cy="2651760"/>
          </a:xfrm>
          <a:prstGeom prst="roundRect">
            <a:avLst>
              <a:gd name="adj" fmla="val 10000"/>
            </a:avLst>
          </a:prstGeom>
          <a:solidFill>
            <a:srgbClr val="111B2E"/>
          </a:solidFill>
          <a:ln w="15875">
            <a:solidFill>
              <a:srgbClr val="34D399"/>
            </a:solidFill>
            <a:prstDash val="solid"/>
          </a:ln>
        </p:spPr>
        <p:txBody>
          <a:bodyPr wrap="square" lIns="182880" tIns="146304" rIns="164592" bIns="109728" rtlCol="0" anchor="t">
            <a:noAutofit/>
          </a:bodyPr>
          <a:lstStyle/>
          <a:p>
            <a:endParaRPr lang="en-US"/>
          </a:p>
        </p:txBody>
      </p:sp>
      <p:sp>
        <p:nvSpPr>
          <p:cNvPr id="107" name="s107"/>
          <p:cNvSpPr/>
          <p:nvPr/>
        </p:nvSpPr>
        <p:spPr>
          <a:xfrm>
            <a:off x="6425489" y="2148840"/>
            <a:ext cx="420624" cy="420624"/>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08" name="img108"/>
          <p:cNvPicPr>
            <a:picLocks noChangeAspect="1"/>
          </p:cNvPicPr>
          <p:nvPr/>
        </p:nvPicPr>
        <p:blipFill>
          <a:blip r:embed="rId5"/>
          <a:stretch>
            <a:fillRect/>
          </a:stretch>
        </p:blipFill>
        <p:spPr>
          <a:xfrm>
            <a:off x="6526439" y="2249790"/>
            <a:ext cx="218724" cy="218724"/>
          </a:xfrm>
          <a:prstGeom prst="rect">
            <a:avLst/>
          </a:prstGeom>
        </p:spPr>
      </p:pic>
      <p:sp>
        <p:nvSpPr>
          <p:cNvPr id="109" name="s109"/>
          <p:cNvSpPr txBox="1"/>
          <p:nvPr/>
        </p:nvSpPr>
        <p:spPr>
          <a:xfrm>
            <a:off x="6974129" y="2167128"/>
            <a:ext cx="4492447"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SCRUM APPROACH</a:t>
            </a:r>
            <a:endParaRPr lang="en-US" sz="1300" dirty="0"/>
          </a:p>
        </p:txBody>
      </p:sp>
      <p:sp>
        <p:nvSpPr>
          <p:cNvPr id="110" name="s110"/>
          <p:cNvSpPr txBox="1"/>
          <p:nvPr/>
        </p:nvSpPr>
        <p:spPr>
          <a:xfrm>
            <a:off x="6452921" y="2743200"/>
            <a:ext cx="4949647" cy="173736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600" b="0" dirty="0">
                <a:solidFill>
                  <a:srgbClr val="E2E8F0"/>
                </a:solidFill>
                <a:latin typeface="Segoe UI"/>
                <a:ea typeface="Segoe UI"/>
                <a:cs typeface="Segoe UI"/>
              </a:rPr>
              <a:t>Developers decide who starts,</a:t>
            </a:r>
            <a:endParaRPr lang="en-US" sz="1600" dirty="0"/>
          </a:p>
          <a:p>
            <a:pPr marL="0" indent="0" algn="l">
              <a:spcBef>
                <a:spcPts val="0"/>
              </a:spcBef>
              <a:spcAft>
                <a:spcPts val="500"/>
              </a:spcAft>
              <a:buNone/>
            </a:pPr>
            <a:r>
              <a:rPr lang="en-US" sz="1600" b="0" dirty="0">
                <a:solidFill>
                  <a:srgbClr val="E2E8F0"/>
                </a:solidFill>
                <a:latin typeface="Segoe UI"/>
                <a:ea typeface="Segoe UI"/>
                <a:cs typeface="Segoe UI"/>
              </a:rPr>
              <a:t>when to pair, when testing begins,</a:t>
            </a:r>
            <a:endParaRPr lang="en-US" sz="1600" dirty="0"/>
          </a:p>
          <a:p>
            <a:pPr marL="0" indent="0" algn="l">
              <a:spcBef>
                <a:spcPts val="0"/>
              </a:spcBef>
              <a:spcAft>
                <a:spcPts val="500"/>
              </a:spcAft>
              <a:buNone/>
            </a:pPr>
            <a:r>
              <a:rPr lang="en-US" sz="1600" b="0" dirty="0">
                <a:solidFill>
                  <a:srgbClr val="E2E8F0"/>
                </a:solidFill>
                <a:latin typeface="Segoe UI"/>
                <a:ea typeface="Segoe UI"/>
                <a:cs typeface="Segoe UI"/>
              </a:rPr>
              <a:t>and how to adapt the plan.</a:t>
            </a:r>
            <a:endParaRPr lang="en-US" sz="1600" dirty="0"/>
          </a:p>
        </p:txBody>
      </p:sp>
      <p:sp>
        <p:nvSpPr>
          <p:cNvPr id="111" name="s111"/>
          <p:cNvSpPr/>
          <p:nvPr/>
        </p:nvSpPr>
        <p:spPr>
          <a:xfrm>
            <a:off x="543154" y="4937760"/>
            <a:ext cx="11088014" cy="640080"/>
          </a:xfrm>
          <a:prstGeom prst="roundRect">
            <a:avLst>
              <a:gd name="adj" fmla="val 12000"/>
            </a:avLst>
          </a:prstGeom>
          <a:solidFill>
            <a:srgbClr val="111B2E"/>
          </a:solidFill>
          <a:ln w="12700">
            <a:solidFill>
              <a:srgbClr val="60A5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400" b="1" dirty="0">
                <a:solidFill>
                  <a:srgbClr val="60A5FA"/>
                </a:solidFill>
                <a:latin typeface="Segoe UI"/>
                <a:ea typeface="Segoe UI"/>
                <a:cs typeface="Segoe UI"/>
              </a:rPr>
              <a:t>Self-managing ≠ no accountability. </a:t>
            </a:r>
            <a:r>
              <a:rPr lang="en-US" sz="1400" b="0" dirty="0">
                <a:solidFill>
                  <a:srgbClr val="E2E8F0"/>
                </a:solidFill>
                <a:latin typeface="Segoe UI"/>
                <a:ea typeface="Segoe UI"/>
                <a:cs typeface="Segoe UI"/>
              </a:rPr>
              <a:t>The team decides who, when and how, internally.</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ppt_x</p:attrName>
                                        </p:attrNameLst>
                                      </p:cBhvr>
                                      <p:tavLst>
                                        <p:tav tm="0">
                                          <p:val>
                                            <p:strVal val="#ppt_x-0.05"/>
                                          </p:val>
                                        </p:tav>
                                        <p:tav tm="100000">
                                          <p:val>
                                            <p:strVal val="#ppt_x"/>
                                          </p:val>
                                        </p:tav>
                                      </p:tavLst>
                                    </p:anim>
                                  </p:childTnLst>
                                </p:cTn>
                              </p:par>
                              <p:par>
                                <p:cTn id="13" presetID="42" presetClass="entr" presetSubtype="0"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ppt_x</p:attrName>
                                        </p:attrNameLst>
                                      </p:cBhvr>
                                      <p:tavLst>
                                        <p:tav tm="0">
                                          <p:val>
                                            <p:strVal val="#ppt_x-0.05"/>
                                          </p:val>
                                        </p:tav>
                                        <p:tav tm="100000">
                                          <p:val>
                                            <p:strVal val="#ppt_x"/>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ppt_x</p:attrName>
                                        </p:attrNameLst>
                                      </p:cBhvr>
                                      <p:tavLst>
                                        <p:tav tm="0">
                                          <p:val>
                                            <p:strVal val="#ppt_x+0.05"/>
                                          </p:val>
                                        </p:tav>
                                        <p:tav tm="100000">
                                          <p:val>
                                            <p:strVal val="#ppt_x"/>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11"/>
                                        </p:tgtEl>
                                        <p:attrNameLst>
                                          <p:attrName>style.visibility</p:attrName>
                                        </p:attrNameLst>
                                      </p:cBhvr>
                                      <p:to>
                                        <p:strVal val="visible"/>
                                      </p:to>
                                    </p:set>
                                    <p:animEffect transition="in" filter="fade">
                                      <p:cBhvr>
                                        <p:cTn id="51" dur="500"/>
                                        <p:tgtEl>
                                          <p:spTgt spid="111"/>
                                        </p:tgtEl>
                                      </p:cBhvr>
                                    </p:animEffect>
                                    <p:anim calcmode="lin" valueType="num">
                                      <p:cBhvr additive="base">
                                        <p:cTn id="52" dur="500" decel="100000" fill="hold"/>
                                        <p:tgtEl>
                                          <p:spTgt spid="111"/>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9" grpId="0" animBg="1"/>
      <p:bldP spid="110" grpId="0" animBg="1"/>
      <p:bldP spid="111"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DAILY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Daily Scrum</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15 minutes for Developers: inspect progress toward the Sprint Goal and adapt.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269</a:t>
            </a:r>
            <a:endParaRPr lang="en-US" sz="850" dirty="0"/>
          </a:p>
        </p:txBody>
      </p:sp>
      <p:sp>
        <p:nvSpPr>
          <p:cNvPr id="101" name="s101"/>
          <p:cNvSpPr/>
          <p:nvPr/>
        </p:nvSpPr>
        <p:spPr>
          <a:xfrm>
            <a:off x="726034" y="2057400"/>
            <a:ext cx="2560320" cy="2560320"/>
          </a:xfrm>
          <a:prstGeom prst="ellipse">
            <a:avLst/>
          </a:prstGeom>
          <a:noFill/>
          <a:ln w="762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726034" y="2057400"/>
            <a:ext cx="2560320" cy="2560320"/>
          </a:xfrm>
          <a:prstGeom prst="blockArc">
            <a:avLst>
              <a:gd name="adj1" fmla="val 16200000"/>
              <a:gd name="adj2" fmla="val 0"/>
              <a:gd name="adj3" fmla="val 7000"/>
            </a:avLst>
          </a:prstGeom>
          <a:solidFill>
            <a:srgbClr val="60A5FA"/>
          </a:solidFill>
          <a:ln>
            <a:noFill/>
          </a:ln>
        </p:spPr>
        <p:txBody>
          <a:bodyPr wrap="square" lIns="164592" tIns="109728" rIns="137160" bIns="91440" rtlCol="0" anchor="t">
            <a:noAutofit/>
          </a:bodyPr>
          <a:lstStyle/>
          <a:p>
            <a:endParaRPr lang="en-US"/>
          </a:p>
        </p:txBody>
      </p:sp>
      <p:sp>
        <p:nvSpPr>
          <p:cNvPr id="103" name="s103"/>
          <p:cNvSpPr txBox="1"/>
          <p:nvPr/>
        </p:nvSpPr>
        <p:spPr>
          <a:xfrm>
            <a:off x="1091794" y="2880360"/>
            <a:ext cx="1828800" cy="91440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4000" b="1" dirty="0">
                <a:solidFill>
                  <a:srgbClr val="FFFFFF"/>
                </a:solidFill>
                <a:latin typeface="Segoe UI"/>
                <a:ea typeface="Segoe UI"/>
                <a:cs typeface="Segoe UI"/>
              </a:rPr>
              <a:t>15</a:t>
            </a:r>
            <a:endParaRPr lang="en-US" sz="4000" dirty="0"/>
          </a:p>
          <a:p>
            <a:pPr marL="0" indent="0" algn="ctr">
              <a:spcBef>
                <a:spcPts val="0"/>
              </a:spcBef>
              <a:spcAft>
                <a:spcPts val="0"/>
              </a:spcAft>
              <a:buNone/>
            </a:pPr>
            <a:r>
              <a:rPr lang="en-US" sz="1200" b="0" dirty="0">
                <a:solidFill>
                  <a:srgbClr val="94A3B8"/>
                </a:solidFill>
                <a:latin typeface="Segoe UI"/>
                <a:ea typeface="Segoe UI"/>
                <a:cs typeface="Segoe UI"/>
              </a:rPr>
              <a:t>minutes</a:t>
            </a:r>
            <a:endParaRPr lang="en-US" sz="1200" dirty="0"/>
          </a:p>
        </p:txBody>
      </p:sp>
      <p:sp>
        <p:nvSpPr>
          <p:cNvPr id="104" name="s104"/>
          <p:cNvSpPr/>
          <p:nvPr/>
        </p:nvSpPr>
        <p:spPr>
          <a:xfrm>
            <a:off x="3834994" y="1965960"/>
            <a:ext cx="3840480" cy="2743200"/>
          </a:xfrm>
          <a:prstGeom prst="roundRect">
            <a:avLst>
              <a:gd name="adj" fmla="val 8000"/>
            </a:avLst>
          </a:prstGeom>
          <a:solidFill>
            <a:srgbClr val="60A5FA">
              <a:alpha val="10000"/>
            </a:srgbClr>
          </a:solidFill>
          <a:ln w="12700">
            <a:solidFill>
              <a:srgbClr val="60A5FA"/>
            </a:solidFill>
            <a:prstDash val="solid"/>
          </a:ln>
        </p:spPr>
        <p:txBody>
          <a:bodyPr wrap="square" lIns="274320" tIns="91440" rIns="274320" bIns="91440" rtlCol="0" anchor="ctr">
            <a:noAutofit/>
          </a:bodyPr>
          <a:lstStyle/>
          <a:p>
            <a:pPr marL="0" indent="0" algn="l">
              <a:spcBef>
                <a:spcPts val="0"/>
              </a:spcBef>
              <a:spcAft>
                <a:spcPts val="800"/>
              </a:spcAft>
              <a:buNone/>
            </a:pPr>
            <a:r>
              <a:rPr lang="en-US" sz="1100" b="1" dirty="0">
                <a:solidFill>
                  <a:srgbClr val="60A5FA"/>
                </a:solidFill>
                <a:latin typeface="Segoe UI"/>
                <a:ea typeface="Segoe UI"/>
                <a:cs typeface="Segoe UI"/>
              </a:rPr>
              <a:t>PURPOSE</a:t>
            </a:r>
            <a:endParaRPr lang="en-US" sz="1100" dirty="0"/>
          </a:p>
          <a:p>
            <a:pPr marL="0" indent="0" algn="l">
              <a:spcBef>
                <a:spcPts val="0"/>
              </a:spcBef>
              <a:spcAft>
                <a:spcPts val="0"/>
              </a:spcAft>
              <a:buNone/>
            </a:pPr>
            <a:r>
              <a:rPr lang="en-US" sz="1700" b="1" dirty="0">
                <a:solidFill>
                  <a:srgbClr val="FFFFFF"/>
                </a:solidFill>
                <a:latin typeface="Segoe UI"/>
                <a:ea typeface="Segoe UI"/>
                <a:cs typeface="Segoe UI"/>
              </a:rPr>
              <a:t>Inspect progress toward the Sprint Goal and adapt the plan for the next day.</a:t>
            </a:r>
            <a:endParaRPr lang="en-US" sz="1700" dirty="0"/>
          </a:p>
        </p:txBody>
      </p:sp>
      <p:sp>
        <p:nvSpPr>
          <p:cNvPr id="105" name="s105"/>
          <p:cNvSpPr txBox="1"/>
          <p:nvPr/>
        </p:nvSpPr>
        <p:spPr>
          <a:xfrm>
            <a:off x="7904074" y="1965960"/>
            <a:ext cx="372709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34D399"/>
                </a:solidFill>
                <a:latin typeface="Segoe UI"/>
                <a:ea typeface="Segoe UI"/>
                <a:cs typeface="Segoe UI"/>
              </a:rPr>
              <a:t>BETTER FOCUS</a:t>
            </a:r>
            <a:endParaRPr lang="en-US" sz="1100" dirty="0"/>
          </a:p>
        </p:txBody>
      </p:sp>
      <p:sp>
        <p:nvSpPr>
          <p:cNvPr id="106" name="s106"/>
          <p:cNvSpPr/>
          <p:nvPr/>
        </p:nvSpPr>
        <p:spPr>
          <a:xfrm>
            <a:off x="7904074" y="2331720"/>
            <a:ext cx="3727094" cy="548640"/>
          </a:xfrm>
          <a:prstGeom prst="roundRect">
            <a:avLst>
              <a:gd name="adj" fmla="val 15000"/>
            </a:avLst>
          </a:prstGeom>
          <a:solidFill>
            <a:srgbClr val="111B2E"/>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Are we moving toward the Goal?</a:t>
            </a:r>
            <a:endParaRPr lang="en-US" sz="1350" dirty="0"/>
          </a:p>
        </p:txBody>
      </p:sp>
      <p:sp>
        <p:nvSpPr>
          <p:cNvPr id="107" name="s107"/>
          <p:cNvSpPr/>
          <p:nvPr/>
        </p:nvSpPr>
        <p:spPr>
          <a:xfrm>
            <a:off x="7904074" y="3017520"/>
            <a:ext cx="3727094" cy="548640"/>
          </a:xfrm>
          <a:prstGeom prst="roundRect">
            <a:avLst>
              <a:gd name="adj" fmla="val 15000"/>
            </a:avLst>
          </a:prstGeom>
          <a:solidFill>
            <a:srgbClr val="111B2E"/>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What changed?</a:t>
            </a:r>
            <a:endParaRPr lang="en-US" sz="1350" dirty="0"/>
          </a:p>
        </p:txBody>
      </p:sp>
      <p:sp>
        <p:nvSpPr>
          <p:cNvPr id="108" name="s108"/>
          <p:cNvSpPr/>
          <p:nvPr/>
        </p:nvSpPr>
        <p:spPr>
          <a:xfrm>
            <a:off x="7904074" y="3703320"/>
            <a:ext cx="3727094" cy="548640"/>
          </a:xfrm>
          <a:prstGeom prst="roundRect">
            <a:avLst>
              <a:gd name="adj" fmla="val 15000"/>
            </a:avLst>
          </a:prstGeom>
          <a:solidFill>
            <a:srgbClr val="111B2E"/>
          </a:solidFill>
          <a:ln w="12700">
            <a:solidFill>
              <a:srgbClr val="34D399">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What do we adapt today?</a:t>
            </a:r>
            <a:endParaRPr lang="en-US" sz="1350" dirty="0"/>
          </a:p>
        </p:txBody>
      </p:sp>
      <p:sp>
        <p:nvSpPr>
          <p:cNvPr id="109" name="s109"/>
          <p:cNvSpPr txBox="1"/>
          <p:nvPr/>
        </p:nvSpPr>
        <p:spPr>
          <a:xfrm>
            <a:off x="7904074" y="4389120"/>
            <a:ext cx="3727094" cy="3657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0" dirty="0">
                <a:solidFill>
                  <a:srgbClr val="94A3B8"/>
                </a:solidFill>
                <a:latin typeface="Segoe UI"/>
                <a:ea typeface="Segoe UI"/>
                <a:cs typeface="Segoe UI"/>
              </a:rPr>
              <a:t>The three classic questions are optional: one format only.</a:t>
            </a:r>
            <a:endParaRPr lang="en-US" sz="1100" dirty="0"/>
          </a:p>
        </p:txBody>
      </p:sp>
      <p:sp>
        <p:nvSpPr>
          <p:cNvPr id="110" name="s110"/>
          <p:cNvSpPr/>
          <p:nvPr/>
        </p:nvSpPr>
        <p:spPr>
          <a:xfrm>
            <a:off x="543154" y="5029200"/>
            <a:ext cx="11088014" cy="594360"/>
          </a:xfrm>
          <a:prstGeom prst="roundRect">
            <a:avLst>
              <a:gd name="adj" fmla="val 12000"/>
            </a:avLst>
          </a:prstGeom>
          <a:solidFill>
            <a:srgbClr val="111B2E"/>
          </a:solidFill>
          <a:ln w="12700">
            <a:solidFill>
              <a:srgbClr val="60A5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60A5FA"/>
                </a:solidFill>
                <a:latin typeface="Segoe UI"/>
                <a:ea typeface="Segoe UI"/>
                <a:cs typeface="Segoe UI"/>
              </a:rPr>
              <a:t>For Developers. </a:t>
            </a:r>
            <a:r>
              <a:rPr lang="en-US" sz="1350" b="0" dirty="0">
                <a:solidFill>
                  <a:srgbClr val="E2E8F0"/>
                </a:solidFill>
                <a:latin typeface="Segoe UI"/>
                <a:ea typeface="Segoe UI"/>
                <a:cs typeface="Segoe UI"/>
              </a:rPr>
              <a:t>PO and SM may attend when useful. Not a management status meeting.</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700"/>
                                        <p:tgtEl>
                                          <p:spTgt spid="101"/>
                                        </p:tgtEl>
                                      </p:cBhvr>
                                    </p:animEffect>
                                  </p:childTnLst>
                                </p:cTn>
                              </p:par>
                              <p:par>
                                <p:cTn id="8" presetID="22" presetClass="entr" presetSubtype="2" fill="hold" grpId="0" nodeType="withEffect">
                                  <p:stCondLst>
                                    <p:cond delay="200"/>
                                  </p:stCondLst>
                                  <p:childTnLst>
                                    <p:set>
                                      <p:cBhvr>
                                        <p:cTn id="9" dur="1" fill="hold">
                                          <p:stCondLst>
                                            <p:cond delay="0"/>
                                          </p:stCondLst>
                                        </p:cTn>
                                        <p:tgtEl>
                                          <p:spTgt spid="102"/>
                                        </p:tgtEl>
                                        <p:attrNameLst>
                                          <p:attrName>style.visibility</p:attrName>
                                        </p:attrNameLst>
                                      </p:cBhvr>
                                      <p:to>
                                        <p:strVal val="visible"/>
                                      </p:to>
                                    </p:set>
                                    <p:animEffect transition="in" filter="wipe(right)">
                                      <p:cBhvr>
                                        <p:cTn id="10" dur="700"/>
                                        <p:tgtEl>
                                          <p:spTgt spid="102"/>
                                        </p:tgtEl>
                                      </p:cBhvr>
                                    </p:animEffect>
                                  </p:childTnLst>
                                </p:cTn>
                              </p:par>
                              <p:par>
                                <p:cTn id="11" presetID="53" presetClass="entr" presetSubtype="16" fill="hold" grpId="0" nodeType="withEffect">
                                  <p:stCondLst>
                                    <p:cond delay="400"/>
                                  </p:stCondLst>
                                  <p:childTnLst>
                                    <p:set>
                                      <p:cBhvr>
                                        <p:cTn id="12" dur="1" fill="hold">
                                          <p:stCondLst>
                                            <p:cond delay="0"/>
                                          </p:stCondLst>
                                        </p:cTn>
                                        <p:tgtEl>
                                          <p:spTgt spid="103"/>
                                        </p:tgtEl>
                                        <p:attrNameLst>
                                          <p:attrName>style.visibility</p:attrName>
                                        </p:attrNameLst>
                                      </p:cBhvr>
                                      <p:to>
                                        <p:strVal val="visible"/>
                                      </p:to>
                                    </p:set>
                                    <p:anim calcmode="lin" valueType="num">
                                      <p:cBhvr additive="base">
                                        <p:cTn id="13" dur="7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4" dur="700" decel="100000" fill="hold"/>
                                        <p:tgtEl>
                                          <p:spTgt spid="103"/>
                                        </p:tgtEl>
                                        <p:attrNameLst>
                                          <p:attrName>ppt_h</p:attrName>
                                        </p:attrNameLst>
                                      </p:cBhvr>
                                      <p:tavLst>
                                        <p:tav tm="0">
                                          <p:val>
                                            <p:strVal val="#ppt_h*0.55"/>
                                          </p:val>
                                        </p:tav>
                                        <p:tav tm="100000">
                                          <p:val>
                                            <p:strVal val="#ppt_h"/>
                                          </p:val>
                                        </p:tav>
                                      </p:tavLst>
                                    </p:anim>
                                    <p:animEffect transition="in" filter="fade">
                                      <p:cBhvr>
                                        <p:cTn id="15" dur="700"/>
                                        <p:tgtEl>
                                          <p:spTgt spid="103"/>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104"/>
                                        </p:tgtEl>
                                        <p:attrNameLst>
                                          <p:attrName>style.visibility</p:attrName>
                                        </p:attrNameLst>
                                      </p:cBhvr>
                                      <p:to>
                                        <p:strVal val="visible"/>
                                      </p:to>
                                    </p:set>
                                    <p:anim calcmode="lin" valueType="num">
                                      <p:cBhvr additive="base">
                                        <p:cTn id="20" dur="500" decel="100000" fill="hold"/>
                                        <p:tgtEl>
                                          <p:spTgt spid="104"/>
                                        </p:tgtEl>
                                        <p:attrNameLst>
                                          <p:attrName>ppt_w</p:attrName>
                                        </p:attrNameLst>
                                      </p:cBhvr>
                                      <p:tavLst>
                                        <p:tav tm="0">
                                          <p:val>
                                            <p:strVal val="#ppt_w*0.55"/>
                                          </p:val>
                                        </p:tav>
                                        <p:tav tm="100000">
                                          <p:val>
                                            <p:strVal val="#ppt_w"/>
                                          </p:val>
                                        </p:tav>
                                      </p:tavLst>
                                    </p:anim>
                                    <p:anim calcmode="lin" valueType="num">
                                      <p:cBhvr additive="base">
                                        <p:cTn id="21" dur="500" decel="100000" fill="hold"/>
                                        <p:tgtEl>
                                          <p:spTgt spid="104"/>
                                        </p:tgtEl>
                                        <p:attrNameLst>
                                          <p:attrName>ppt_h</p:attrName>
                                        </p:attrNameLst>
                                      </p:cBhvr>
                                      <p:tavLst>
                                        <p:tav tm="0">
                                          <p:val>
                                            <p:strVal val="#ppt_h*0.55"/>
                                          </p:val>
                                        </p:tav>
                                        <p:tav tm="100000">
                                          <p:val>
                                            <p:strVal val="#ppt_h"/>
                                          </p:val>
                                        </p:tav>
                                      </p:tavLst>
                                    </p:anim>
                                    <p:animEffect transition="in" filter="fade">
                                      <p:cBhvr>
                                        <p:cTn id="22" dur="500"/>
                                        <p:tgtEl>
                                          <p:spTgt spid="10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childTnLst>
                                </p:cTn>
                              </p:par>
                              <p:par>
                                <p:cTn id="28" presetID="42" presetClass="entr" presetSubtype="0" fill="hold" grpId="0" nodeType="withEffect">
                                  <p:stCondLst>
                                    <p:cond delay="15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00"/>
                                        <p:tgtEl>
                                          <p:spTgt spid="106"/>
                                        </p:tgtEl>
                                      </p:cBhvr>
                                    </p:animEffect>
                                    <p:anim calcmode="lin" valueType="num">
                                      <p:cBhvr additive="base">
                                        <p:cTn id="31" dur="500" decel="100000" fill="hold"/>
                                        <p:tgtEl>
                                          <p:spTgt spid="106"/>
                                        </p:tgtEl>
                                        <p:attrNameLst>
                                          <p:attrName>ppt_x</p:attrName>
                                        </p:attrNameLst>
                                      </p:cBhvr>
                                      <p:tavLst>
                                        <p:tav tm="0">
                                          <p:val>
                                            <p:strVal val="#ppt_x-0.05"/>
                                          </p:val>
                                        </p:tav>
                                        <p:tav tm="100000">
                                          <p:val>
                                            <p:strVal val="#ppt_x"/>
                                          </p:val>
                                        </p:tav>
                                      </p:tavLst>
                                    </p:anim>
                                  </p:childTnLst>
                                </p:cTn>
                              </p:par>
                              <p:par>
                                <p:cTn id="32" presetID="42" presetClass="entr" presetSubtype="0" fill="hold" grpId="0" nodeType="withEffect">
                                  <p:stCondLst>
                                    <p:cond delay="30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anim calcmode="lin" valueType="num">
                                      <p:cBhvr additive="base">
                                        <p:cTn id="35" dur="500" decel="100000" fill="hold"/>
                                        <p:tgtEl>
                                          <p:spTgt spid="107"/>
                                        </p:tgtEl>
                                        <p:attrNameLst>
                                          <p:attrName>ppt_x</p:attrName>
                                        </p:attrNameLst>
                                      </p:cBhvr>
                                      <p:tavLst>
                                        <p:tav tm="0">
                                          <p:val>
                                            <p:strVal val="#ppt_x-0.05"/>
                                          </p:val>
                                        </p:tav>
                                        <p:tav tm="100000">
                                          <p:val>
                                            <p:strVal val="#ppt_x"/>
                                          </p:val>
                                        </p:tav>
                                      </p:tavLst>
                                    </p:anim>
                                  </p:childTnLst>
                                </p:cTn>
                              </p:par>
                              <p:par>
                                <p:cTn id="36" presetID="42" presetClass="entr" presetSubtype="0" fill="hold" grpId="0" nodeType="withEffect">
                                  <p:stCondLst>
                                    <p:cond delay="450"/>
                                  </p:stCondLst>
                                  <p:childTnLst>
                                    <p:set>
                                      <p:cBhvr>
                                        <p:cTn id="37" dur="1" fill="hold">
                                          <p:stCondLst>
                                            <p:cond delay="0"/>
                                          </p:stCondLst>
                                        </p:cTn>
                                        <p:tgtEl>
                                          <p:spTgt spid="108"/>
                                        </p:tgtEl>
                                        <p:attrNameLst>
                                          <p:attrName>style.visibility</p:attrName>
                                        </p:attrNameLst>
                                      </p:cBhvr>
                                      <p:to>
                                        <p:strVal val="visible"/>
                                      </p:to>
                                    </p:set>
                                    <p:animEffect transition="in" filter="fade">
                                      <p:cBhvr>
                                        <p:cTn id="38" dur="500"/>
                                        <p:tgtEl>
                                          <p:spTgt spid="108"/>
                                        </p:tgtEl>
                                      </p:cBhvr>
                                    </p:animEffect>
                                    <p:anim calcmode="lin" valueType="num">
                                      <p:cBhvr additive="base">
                                        <p:cTn id="39" dur="500" decel="100000" fill="hold"/>
                                        <p:tgtEl>
                                          <p:spTgt spid="108"/>
                                        </p:tgtEl>
                                        <p:attrNameLst>
                                          <p:attrName>ppt_x</p:attrName>
                                        </p:attrNameLst>
                                      </p:cBhvr>
                                      <p:tavLst>
                                        <p:tav tm="0">
                                          <p:val>
                                            <p:strVal val="#ppt_x-0.05"/>
                                          </p:val>
                                        </p:tav>
                                        <p:tav tm="100000">
                                          <p:val>
                                            <p:strVal val="#ppt_x"/>
                                          </p:val>
                                        </p:tav>
                                      </p:tavLst>
                                    </p:anim>
                                  </p:childTnLst>
                                </p:cTn>
                              </p:par>
                              <p:par>
                                <p:cTn id="40" presetID="10" presetClass="entr" presetSubtype="0" fill="hold" grpId="0" nodeType="withEffect">
                                  <p:stCondLst>
                                    <p:cond delay="600"/>
                                  </p:stCondLst>
                                  <p:childTnLst>
                                    <p:set>
                                      <p:cBhvr>
                                        <p:cTn id="41" dur="1" fill="hold">
                                          <p:stCondLst>
                                            <p:cond delay="0"/>
                                          </p:stCondLst>
                                        </p:cTn>
                                        <p:tgtEl>
                                          <p:spTgt spid="109"/>
                                        </p:tgtEl>
                                        <p:attrNameLst>
                                          <p:attrName>style.visibility</p:attrName>
                                        </p:attrNameLst>
                                      </p:cBhvr>
                                      <p:to>
                                        <p:strVal val="visible"/>
                                      </p:to>
                                    </p:set>
                                    <p:animEffect transition="in" filter="fade">
                                      <p:cBhvr>
                                        <p:cTn id="42" dur="500"/>
                                        <p:tgtEl>
                                          <p:spTgt spid="109"/>
                                        </p:tgtEl>
                                      </p:cBhvr>
                                    </p:animEffect>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110"/>
                                        </p:tgtEl>
                                        <p:attrNameLst>
                                          <p:attrName>style.visibility</p:attrName>
                                        </p:attrNameLst>
                                      </p:cBhvr>
                                      <p:to>
                                        <p:strVal val="visible"/>
                                      </p:to>
                                    </p:set>
                                    <p:animEffect transition="in" filter="fade">
                                      <p:cBhvr>
                                        <p:cTn id="47" dur="500"/>
                                        <p:tgtEl>
                                          <p:spTgt spid="110"/>
                                        </p:tgtEl>
                                      </p:cBhvr>
                                    </p:animEffect>
                                    <p:anim calcmode="lin" valueType="num">
                                      <p:cBhvr additive="base">
                                        <p:cTn id="48"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DIALOGUE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A Real Daily Scrum Conversation</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 concurrency risk appears: the plan changes, the Goal stays.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270</a:t>
            </a:r>
            <a:endParaRPr lang="en-US" sz="850" dirty="0"/>
          </a:p>
        </p:txBody>
      </p:sp>
      <p:sp>
        <p:nvSpPr>
          <p:cNvPr id="101" name="s101"/>
          <p:cNvSpPr/>
          <p:nvPr/>
        </p:nvSpPr>
        <p:spPr>
          <a:xfrm>
            <a:off x="543154" y="1993392"/>
            <a:ext cx="566928" cy="566928"/>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13D0F7"/>
                </a:solidFill>
                <a:latin typeface="Segoe UI"/>
                <a:ea typeface="Segoe UI"/>
                <a:cs typeface="Segoe UI"/>
              </a:rPr>
              <a:t>O</a:t>
            </a:r>
            <a:endParaRPr lang="en-US" sz="1612" dirty="0"/>
          </a:p>
        </p:txBody>
      </p:sp>
      <p:sp>
        <p:nvSpPr>
          <p:cNvPr id="102" name="s102"/>
          <p:cNvSpPr/>
          <p:nvPr/>
        </p:nvSpPr>
        <p:spPr>
          <a:xfrm>
            <a:off x="1274674" y="1920240"/>
            <a:ext cx="7979054" cy="658368"/>
          </a:xfrm>
          <a:prstGeom prst="roundRect">
            <a:avLst>
              <a:gd name="adj" fmla="val 14000"/>
            </a:avLst>
          </a:prstGeom>
          <a:solidFill>
            <a:srgbClr val="111B2E"/>
          </a:solidFill>
          <a:ln w="12700">
            <a:solidFill>
              <a:srgbClr val="13D0F7"/>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13D0F7"/>
                </a:solidFill>
                <a:latin typeface="Segoe UI"/>
                <a:ea typeface="Segoe UI"/>
                <a:cs typeface="Segoe UI"/>
              </a:rPr>
              <a:t>Omar</a:t>
            </a:r>
            <a:r>
              <a:rPr lang="en-US" sz="1100" b="0" dirty="0">
                <a:solidFill>
                  <a:srgbClr val="94A3B8"/>
                </a:solidFill>
                <a:latin typeface="Segoe UI"/>
                <a:ea typeface="Segoe UI"/>
                <a:cs typeface="Segoe UI"/>
              </a:rPr>
              <a:t>  ·  Backend</a:t>
            </a:r>
            <a:endParaRPr lang="en-US" sz="1100" dirty="0"/>
          </a:p>
          <a:p>
            <a:pPr marL="0" indent="0" algn="l">
              <a:spcBef>
                <a:spcPts val="0"/>
              </a:spcBef>
              <a:spcAft>
                <a:spcPts val="0"/>
              </a:spcAft>
              <a:buNone/>
            </a:pPr>
            <a:r>
              <a:rPr lang="en-US" sz="1400" b="0" dirty="0">
                <a:solidFill>
                  <a:srgbClr val="FFFFFF"/>
                </a:solidFill>
                <a:latin typeface="Segoe UI"/>
                <a:ea typeface="Segoe UI"/>
                <a:cs typeface="Segoe UI"/>
              </a:rPr>
              <a:t>API ready, but two requests can reserve the same slot.</a:t>
            </a:r>
            <a:endParaRPr lang="en-US" sz="1400" dirty="0"/>
          </a:p>
        </p:txBody>
      </p:sp>
      <p:sp>
        <p:nvSpPr>
          <p:cNvPr id="103" name="s103"/>
          <p:cNvSpPr/>
          <p:nvPr/>
        </p:nvSpPr>
        <p:spPr>
          <a:xfrm>
            <a:off x="2920594" y="2770632"/>
            <a:ext cx="566928" cy="566928"/>
          </a:xfrm>
          <a:prstGeom prst="ellipse">
            <a:avLst/>
          </a:prstGeom>
          <a:solidFill>
            <a:srgbClr val="34D399">
              <a:alpha val="22000"/>
            </a:srgbClr>
          </a:solidFill>
          <a:ln w="1905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34D399"/>
                </a:solidFill>
                <a:latin typeface="Segoe UI"/>
                <a:ea typeface="Segoe UI"/>
                <a:cs typeface="Segoe UI"/>
              </a:rPr>
              <a:t>M</a:t>
            </a:r>
            <a:endParaRPr lang="en-US" sz="1612" dirty="0"/>
          </a:p>
        </p:txBody>
      </p:sp>
      <p:sp>
        <p:nvSpPr>
          <p:cNvPr id="104" name="s104"/>
          <p:cNvSpPr/>
          <p:nvPr/>
        </p:nvSpPr>
        <p:spPr>
          <a:xfrm>
            <a:off x="3652114" y="2697480"/>
            <a:ext cx="7979054" cy="658368"/>
          </a:xfrm>
          <a:prstGeom prst="roundRect">
            <a:avLst>
              <a:gd name="adj" fmla="val 14000"/>
            </a:avLst>
          </a:prstGeom>
          <a:solidFill>
            <a:srgbClr val="111B2E"/>
          </a:solidFill>
          <a:ln w="12700">
            <a:solidFill>
              <a:srgbClr val="34D399"/>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34D399"/>
                </a:solidFill>
                <a:latin typeface="Segoe UI"/>
                <a:ea typeface="Segoe UI"/>
                <a:cs typeface="Segoe UI"/>
              </a:rPr>
              <a:t>Maya</a:t>
            </a:r>
            <a:r>
              <a:rPr lang="en-US" sz="1100" b="0" dirty="0">
                <a:solidFill>
                  <a:srgbClr val="94A3B8"/>
                </a:solidFill>
                <a:latin typeface="Segoe UI"/>
                <a:ea typeface="Segoe UI"/>
                <a:cs typeface="Segoe UI"/>
              </a:rPr>
              <a:t>  ·  QA</a:t>
            </a:r>
            <a:endParaRPr lang="en-US" sz="1100" dirty="0"/>
          </a:p>
          <a:p>
            <a:pPr marL="0" indent="0" algn="l">
              <a:spcBef>
                <a:spcPts val="0"/>
              </a:spcBef>
              <a:spcAft>
                <a:spcPts val="0"/>
              </a:spcAft>
              <a:buNone/>
            </a:pPr>
            <a:r>
              <a:rPr lang="en-US" sz="1400" b="0" dirty="0">
                <a:solidFill>
                  <a:srgbClr val="FFFFFF"/>
                </a:solidFill>
                <a:latin typeface="Segoe UI"/>
                <a:ea typeface="Segoe UI"/>
                <a:cs typeface="Segoe UI"/>
              </a:rPr>
              <a:t>I will pair with Omar on a concurrency test.</a:t>
            </a:r>
            <a:endParaRPr lang="en-US" sz="1400" dirty="0"/>
          </a:p>
        </p:txBody>
      </p:sp>
      <p:sp>
        <p:nvSpPr>
          <p:cNvPr id="105" name="s105"/>
          <p:cNvSpPr/>
          <p:nvPr/>
        </p:nvSpPr>
        <p:spPr>
          <a:xfrm>
            <a:off x="543154" y="3547872"/>
            <a:ext cx="566928" cy="566928"/>
          </a:xfrm>
          <a:prstGeom prst="ellipse">
            <a:avLst/>
          </a:prstGeom>
          <a:solidFill>
            <a:srgbClr val="F472B6">
              <a:alpha val="22000"/>
            </a:srgbClr>
          </a:solidFill>
          <a:ln w="19050">
            <a:solidFill>
              <a:srgbClr val="F472B6"/>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F472B6"/>
                </a:solidFill>
                <a:latin typeface="Segoe UI"/>
                <a:ea typeface="Segoe UI"/>
                <a:cs typeface="Segoe UI"/>
              </a:rPr>
              <a:t>L</a:t>
            </a:r>
            <a:endParaRPr lang="en-US" sz="1612" dirty="0"/>
          </a:p>
        </p:txBody>
      </p:sp>
      <p:sp>
        <p:nvSpPr>
          <p:cNvPr id="106" name="s106"/>
          <p:cNvSpPr/>
          <p:nvPr/>
        </p:nvSpPr>
        <p:spPr>
          <a:xfrm>
            <a:off x="1274674" y="3474720"/>
            <a:ext cx="7979054" cy="658368"/>
          </a:xfrm>
          <a:prstGeom prst="roundRect">
            <a:avLst>
              <a:gd name="adj" fmla="val 14000"/>
            </a:avLst>
          </a:prstGeom>
          <a:solidFill>
            <a:srgbClr val="111B2E"/>
          </a:solidFill>
          <a:ln w="12700">
            <a:solidFill>
              <a:srgbClr val="F472B6"/>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F472B6"/>
                </a:solidFill>
                <a:latin typeface="Segoe UI"/>
                <a:ea typeface="Segoe UI"/>
                <a:cs typeface="Segoe UI"/>
              </a:rPr>
              <a:t>Lina</a:t>
            </a:r>
            <a:r>
              <a:rPr lang="en-US" sz="1100" b="0" dirty="0">
                <a:solidFill>
                  <a:srgbClr val="94A3B8"/>
                </a:solidFill>
                <a:latin typeface="Segoe UI"/>
                <a:ea typeface="Segoe UI"/>
                <a:cs typeface="Segoe UI"/>
              </a:rPr>
              <a:t>  ·  Frontend</a:t>
            </a:r>
            <a:endParaRPr lang="en-US" sz="1100" dirty="0"/>
          </a:p>
          <a:p>
            <a:pPr marL="0" indent="0" algn="l">
              <a:spcBef>
                <a:spcPts val="0"/>
              </a:spcBef>
              <a:spcAft>
                <a:spcPts val="0"/>
              </a:spcAft>
              <a:buNone/>
            </a:pPr>
            <a:r>
              <a:rPr lang="en-US" sz="1400" b="0" dirty="0">
                <a:solidFill>
                  <a:srgbClr val="FFFFFF"/>
                </a:solidFill>
                <a:latin typeface="Segoe UI"/>
                <a:ea typeface="Segoe UI"/>
                <a:cs typeface="Segoe UI"/>
              </a:rPr>
              <a:t>I can use mocked data so the form keeps moving.</a:t>
            </a:r>
            <a:endParaRPr lang="en-US" sz="1400" dirty="0"/>
          </a:p>
        </p:txBody>
      </p:sp>
      <p:sp>
        <p:nvSpPr>
          <p:cNvPr id="107" name="s107"/>
          <p:cNvSpPr/>
          <p:nvPr/>
        </p:nvSpPr>
        <p:spPr>
          <a:xfrm>
            <a:off x="2920594" y="4325112"/>
            <a:ext cx="566928" cy="566928"/>
          </a:xfrm>
          <a:prstGeom prst="ellipse">
            <a:avLst/>
          </a:prstGeom>
          <a:solidFill>
            <a:srgbClr val="F0A98B">
              <a:alpha val="22000"/>
            </a:srgbClr>
          </a:solidFill>
          <a:ln w="19050">
            <a:solidFill>
              <a:srgbClr val="F0A98B"/>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F0A98B"/>
                </a:solidFill>
                <a:latin typeface="Segoe UI"/>
                <a:ea typeface="Segoe UI"/>
                <a:cs typeface="Segoe UI"/>
              </a:rPr>
              <a:t>D</a:t>
            </a:r>
            <a:endParaRPr lang="en-US" sz="1612" dirty="0"/>
          </a:p>
        </p:txBody>
      </p:sp>
      <p:sp>
        <p:nvSpPr>
          <p:cNvPr id="108" name="s108"/>
          <p:cNvSpPr/>
          <p:nvPr/>
        </p:nvSpPr>
        <p:spPr>
          <a:xfrm>
            <a:off x="3652114" y="4251960"/>
            <a:ext cx="7979054" cy="658368"/>
          </a:xfrm>
          <a:prstGeom prst="roundRect">
            <a:avLst>
              <a:gd name="adj" fmla="val 14000"/>
            </a:avLst>
          </a:prstGeom>
          <a:solidFill>
            <a:srgbClr val="111B2E"/>
          </a:solidFill>
          <a:ln w="12700">
            <a:solidFill>
              <a:srgbClr val="F0A98B"/>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F0A98B"/>
                </a:solidFill>
                <a:latin typeface="Segoe UI"/>
                <a:ea typeface="Segoe UI"/>
                <a:cs typeface="Segoe UI"/>
              </a:rPr>
              <a:t>Daniel</a:t>
            </a:r>
            <a:r>
              <a:rPr lang="en-US" sz="1100" b="0" dirty="0">
                <a:solidFill>
                  <a:srgbClr val="94A3B8"/>
                </a:solidFill>
                <a:latin typeface="Segoe UI"/>
                <a:ea typeface="Segoe UI"/>
                <a:cs typeface="Segoe UI"/>
              </a:rPr>
              <a:t>  ·  UI/UX</a:t>
            </a:r>
            <a:endParaRPr lang="en-US" sz="1100" dirty="0"/>
          </a:p>
          <a:p>
            <a:pPr marL="0" indent="0" algn="l">
              <a:spcBef>
                <a:spcPts val="0"/>
              </a:spcBef>
              <a:spcAft>
                <a:spcPts val="0"/>
              </a:spcAft>
              <a:buNone/>
            </a:pPr>
            <a:r>
              <a:rPr lang="en-US" sz="1400" b="0" dirty="0">
                <a:solidFill>
                  <a:srgbClr val="FFFFFF"/>
                </a:solidFill>
                <a:latin typeface="Segoe UI"/>
                <a:ea typeface="Segoe UI"/>
                <a:cs typeface="Segoe UI"/>
              </a:rPr>
              <a:t>Empty-state design ready. I will review it with Lina after.</a:t>
            </a:r>
            <a:endParaRPr lang="en-US" sz="1400" dirty="0"/>
          </a:p>
        </p:txBody>
      </p:sp>
      <p:sp>
        <p:nvSpPr>
          <p:cNvPr id="109" name="s109"/>
          <p:cNvSpPr/>
          <p:nvPr/>
        </p:nvSpPr>
        <p:spPr>
          <a:xfrm>
            <a:off x="543154" y="5166360"/>
            <a:ext cx="11088014" cy="640080"/>
          </a:xfrm>
          <a:prstGeom prst="roundRect">
            <a:avLst>
              <a:gd name="adj" fmla="val 12000"/>
            </a:avLst>
          </a:prstGeom>
          <a:solidFill>
            <a:srgbClr val="34D399">
              <a:alpha val="10000"/>
            </a:srgbClr>
          </a:solidFill>
          <a:ln w="12700">
            <a:solidFill>
              <a:srgbClr val="34D399"/>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50" b="1" dirty="0">
                <a:solidFill>
                  <a:srgbClr val="34D399"/>
                </a:solidFill>
                <a:latin typeface="Segoe UI"/>
                <a:ea typeface="Segoe UI"/>
                <a:cs typeface="Segoe UI"/>
              </a:rPr>
              <a:t>DECISION   </a:t>
            </a:r>
            <a:r>
              <a:rPr lang="en-US" sz="1350" b="0" dirty="0">
                <a:solidFill>
                  <a:srgbClr val="FFFFFF"/>
                </a:solidFill>
                <a:latin typeface="Segoe UI"/>
                <a:ea typeface="Segoe UI"/>
                <a:cs typeface="Segoe UI"/>
              </a:rPr>
              <a:t>pair Omar + Maya  ·  Lina continues  ·  update the Sprint Backlog  ·  </a:t>
            </a:r>
            <a:r>
              <a:rPr lang="en-US" sz="1350" b="1" dirty="0">
                <a:solidFill>
                  <a:srgbClr val="34D399"/>
                </a:solidFill>
                <a:latin typeface="Segoe UI"/>
                <a:ea typeface="Segoe UI"/>
                <a:cs typeface="Segoe UI"/>
              </a:rPr>
              <a:t>Sprint Goal unchanged</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anim calcmode="lin" valueType="num">
                                      <p:cBhvr additive="base">
                                        <p:cTn id="18" dur="500" decel="100000" fill="hold"/>
                                        <p:tgtEl>
                                          <p:spTgt spid="103"/>
                                        </p:tgtEl>
                                        <p:attrNameLst>
                                          <p:attrName>ppt_x</p:attrName>
                                        </p:attrNameLst>
                                      </p:cBhvr>
                                      <p:tavLst>
                                        <p:tav tm="0">
                                          <p:val>
                                            <p:strVal val="#ppt_x+0.05"/>
                                          </p:val>
                                        </p:tav>
                                        <p:tav tm="100000">
                                          <p:val>
                                            <p:strVal val="#ppt_x"/>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04"/>
                                        </p:tgtEl>
                                        <p:attrNameLst>
                                          <p:attrName>style.visibility</p:attrName>
                                        </p:attrNameLst>
                                      </p:cBhvr>
                                      <p:to>
                                        <p:strVal val="visible"/>
                                      </p:to>
                                    </p:set>
                                    <p:animEffect transition="in" filter="fade">
                                      <p:cBhvr>
                                        <p:cTn id="21" dur="500"/>
                                        <p:tgtEl>
                                          <p:spTgt spid="104"/>
                                        </p:tgtEl>
                                      </p:cBhvr>
                                    </p:animEffect>
                                    <p:anim calcmode="lin" valueType="num">
                                      <p:cBhvr additive="base">
                                        <p:cTn id="22" dur="500" decel="100000" fill="hold"/>
                                        <p:tgtEl>
                                          <p:spTgt spid="104"/>
                                        </p:tgtEl>
                                        <p:attrNameLst>
                                          <p:attrName>ppt_x</p:attrName>
                                        </p:attrNameLst>
                                      </p:cBhvr>
                                      <p:tavLst>
                                        <p:tav tm="0">
                                          <p:val>
                                            <p:strVal val="#ppt_x+0.05"/>
                                          </p:val>
                                        </p:tav>
                                        <p:tav tm="100000">
                                          <p:val>
                                            <p:strVal val="#ppt_x"/>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anim calcmode="lin" valueType="num">
                                      <p:cBhvr additive="base">
                                        <p:cTn id="28" dur="500" decel="100000" fill="hold"/>
                                        <p:tgtEl>
                                          <p:spTgt spid="105"/>
                                        </p:tgtEl>
                                        <p:attrNameLst>
                                          <p:attrName>ppt_x</p:attrName>
                                        </p:attrNameLst>
                                      </p:cBhvr>
                                      <p:tavLst>
                                        <p:tav tm="0">
                                          <p:val>
                                            <p:strVal val="#ppt_x-0.05"/>
                                          </p:val>
                                        </p:tav>
                                        <p:tav tm="100000">
                                          <p:val>
                                            <p:strVal val="#ppt_x"/>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6"/>
                                        </p:tgtEl>
                                        <p:attrNameLst>
                                          <p:attrName>style.visibility</p:attrName>
                                        </p:attrNameLst>
                                      </p:cBhvr>
                                      <p:to>
                                        <p:strVal val="visible"/>
                                      </p:to>
                                    </p:set>
                                    <p:animEffect transition="in" filter="fade">
                                      <p:cBhvr>
                                        <p:cTn id="31" dur="500"/>
                                        <p:tgtEl>
                                          <p:spTgt spid="106"/>
                                        </p:tgtEl>
                                      </p:cBhvr>
                                    </p:animEffect>
                                    <p:anim calcmode="lin" valueType="num">
                                      <p:cBhvr additive="base">
                                        <p:cTn id="32" dur="500" decel="100000" fill="hold"/>
                                        <p:tgtEl>
                                          <p:spTgt spid="106"/>
                                        </p:tgtEl>
                                        <p:attrNameLst>
                                          <p:attrName>ppt_x</p:attrName>
                                        </p:attrNameLst>
                                      </p:cBhvr>
                                      <p:tavLst>
                                        <p:tav tm="0">
                                          <p:val>
                                            <p:strVal val="#ppt_x-0.05"/>
                                          </p:val>
                                        </p:tav>
                                        <p:tav tm="100000">
                                          <p:val>
                                            <p:strVal val="#ppt_x"/>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fade">
                                      <p:cBhvr>
                                        <p:cTn id="37" dur="500"/>
                                        <p:tgtEl>
                                          <p:spTgt spid="107"/>
                                        </p:tgtEl>
                                      </p:cBhvr>
                                    </p:animEffect>
                                    <p:anim calcmode="lin" valueType="num">
                                      <p:cBhvr additive="base">
                                        <p:cTn id="38" dur="500" decel="100000" fill="hold"/>
                                        <p:tgtEl>
                                          <p:spTgt spid="107"/>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08"/>
                                        </p:tgtEl>
                                        <p:attrNameLst>
                                          <p:attrName>style.visibility</p:attrName>
                                        </p:attrNameLst>
                                      </p:cBhvr>
                                      <p:to>
                                        <p:strVal val="visible"/>
                                      </p:to>
                                    </p:set>
                                    <p:animEffect transition="in" filter="fade">
                                      <p:cBhvr>
                                        <p:cTn id="41" dur="500"/>
                                        <p:tgtEl>
                                          <p:spTgt spid="108"/>
                                        </p:tgtEl>
                                      </p:cBhvr>
                                    </p:animEffect>
                                    <p:anim calcmode="lin" valueType="num">
                                      <p:cBhvr additive="base">
                                        <p:cTn id="42" dur="500" decel="100000" fill="hold"/>
                                        <p:tgtEl>
                                          <p:spTgt spid="108"/>
                                        </p:tgtEl>
                                        <p:attrNameLst>
                                          <p:attrName>ppt_x</p:attrName>
                                        </p:attrNameLst>
                                      </p:cBhvr>
                                      <p:tavLst>
                                        <p:tav tm="0">
                                          <p:val>
                                            <p:strVal val="#ppt_x+0.05"/>
                                          </p:val>
                                        </p:tav>
                                        <p:tav tm="100000">
                                          <p:val>
                                            <p:strVal val="#ppt_x"/>
                                          </p:val>
                                        </p:tav>
                                      </p:tavLst>
                                    </p:anim>
                                  </p:childTnLst>
                                </p:cTn>
                              </p:par>
                            </p:childTnLst>
                          </p:cTn>
                        </p:par>
                      </p:childTnLst>
                    </p:cTn>
                  </p:par>
                  <p:par>
                    <p:cTn id="43" fill="hold">
                      <p:stCondLst>
                        <p:cond delay="indefinite"/>
                      </p:stCondLst>
                      <p:childTnLst>
                        <p:par>
                          <p:cTn id="44" fill="hold">
                            <p:stCondLst>
                              <p:cond delay="0"/>
                            </p:stCondLst>
                            <p:childTnLst>
                              <p:par>
                                <p:cTn id="45" presetID="53" presetClass="entr" presetSubtype="16" fill="hold" grpId="0" nodeType="clickEffect">
                                  <p:stCondLst>
                                    <p:cond delay="0"/>
                                  </p:stCondLst>
                                  <p:childTnLst>
                                    <p:set>
                                      <p:cBhvr>
                                        <p:cTn id="46" dur="1" fill="hold">
                                          <p:stCondLst>
                                            <p:cond delay="0"/>
                                          </p:stCondLst>
                                        </p:cTn>
                                        <p:tgtEl>
                                          <p:spTgt spid="109"/>
                                        </p:tgtEl>
                                        <p:attrNameLst>
                                          <p:attrName>style.visibility</p:attrName>
                                        </p:attrNameLst>
                                      </p:cBhvr>
                                      <p:to>
                                        <p:strVal val="visible"/>
                                      </p:to>
                                    </p:set>
                                    <p:anim calcmode="lin" valueType="num">
                                      <p:cBhvr additive="base">
                                        <p:cTn id="47"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48" dur="500" decel="100000" fill="hold"/>
                                        <p:tgtEl>
                                          <p:spTgt spid="109"/>
                                        </p:tgtEl>
                                        <p:attrNameLst>
                                          <p:attrName>ppt_h</p:attrName>
                                        </p:attrNameLst>
                                      </p:cBhvr>
                                      <p:tavLst>
                                        <p:tav tm="0">
                                          <p:val>
                                            <p:strVal val="#ppt_h*0.55"/>
                                          </p:val>
                                        </p:tav>
                                        <p:tav tm="100000">
                                          <p:val>
                                            <p:strVal val="#ppt_h"/>
                                          </p:val>
                                        </p:tav>
                                      </p:tavLst>
                                    </p:anim>
                                    <p:animEffect transition="in" filter="fade">
                                      <p:cBhvr>
                                        <p:cTn id="49"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550822"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DAILY IN PRACTICE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Daily Stand-up in Real Companies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Same time every day, 15 minutes, standing. The questions depend on WHEN you hold it.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271</a:t>
            </a:r>
            <a:endParaRPr lang="en-US" sz="850" dirty="0"/>
          </a:p>
        </p:txBody>
      </p:sp>
      <p:sp>
        <p:nvSpPr>
          <p:cNvPr id="101" name="s101"/>
          <p:cNvSpPr/>
          <p:nvPr/>
        </p:nvSpPr>
        <p:spPr>
          <a:xfrm>
            <a:off x="8339328" y="457200"/>
            <a:ext cx="3291840" cy="310896"/>
          </a:xfrm>
          <a:prstGeom prst="roundRect">
            <a:avLst>
              <a:gd name="adj" fmla="val 50000"/>
            </a:avLst>
          </a:prstGeom>
          <a:solidFill>
            <a:srgbClr val="F0A98B">
              <a:alpha val="18000"/>
            </a:srgbClr>
          </a:solidFill>
          <a:ln w="12700">
            <a:solidFill>
              <a:srgbClr val="F0A98B"/>
            </a:solidFill>
            <a:prstDash val="solid"/>
          </a:ln>
        </p:spPr>
        <p:txBody>
          <a:bodyPr wrap="square" lIns="36576" tIns="0" rIns="36576" bIns="0" rtlCol="0" anchor="ctr">
            <a:noAutofit/>
          </a:bodyPr>
          <a:lstStyle/>
          <a:p>
            <a:pPr marL="0" indent="0" algn="ctr">
              <a:spcBef>
                <a:spcPts val="0"/>
              </a:spcBef>
              <a:spcAft>
                <a:spcPts val="0"/>
              </a:spcAft>
              <a:buNone/>
            </a:pPr>
            <a:r>
              <a:rPr lang="en-US" sz="1050" b="1" dirty="0">
                <a:solidFill>
                  <a:srgbClr val="F0A98B"/>
                </a:solidFill>
                <a:latin typeface="Segoe UI"/>
                <a:ea typeface="Segoe UI"/>
                <a:cs typeface="Segoe UI"/>
              </a:rPr>
              <a:t>IN COMPANIES  ·  a common format</a:t>
            </a:r>
            <a:endParaRPr lang="en-US" sz="1050" dirty="0"/>
          </a:p>
        </p:txBody>
      </p:sp>
      <p:sp>
        <p:nvSpPr>
          <p:cNvPr id="102" name="s102"/>
          <p:cNvSpPr/>
          <p:nvPr/>
        </p:nvSpPr>
        <p:spPr>
          <a:xfrm>
            <a:off x="543154" y="1828800"/>
            <a:ext cx="5406847" cy="960120"/>
          </a:xfrm>
          <a:prstGeom prst="roundRect">
            <a:avLst>
              <a:gd name="adj" fmla="val 12000"/>
            </a:avLst>
          </a:prstGeom>
          <a:solidFill>
            <a:srgbClr val="FBBF24">
              <a:alpha val="12000"/>
            </a:srgbClr>
          </a:solidFill>
          <a:ln w="12700">
            <a:solidFill>
              <a:srgbClr val="FBBF24"/>
            </a:solidFill>
            <a:prstDash val="solid"/>
          </a:ln>
        </p:spPr>
        <p:txBody>
          <a:bodyPr wrap="square" lIns="228600" tIns="45720" rIns="182880" bIns="45720" rtlCol="0" anchor="ctr">
            <a:noAutofit/>
          </a:bodyPr>
          <a:lstStyle/>
          <a:p>
            <a:pPr marL="0" indent="0" algn="l">
              <a:spcBef>
                <a:spcPts val="0"/>
              </a:spcBef>
              <a:spcAft>
                <a:spcPts val="300"/>
              </a:spcAft>
              <a:buNone/>
            </a:pPr>
            <a:r>
              <a:rPr lang="en-US" sz="1200" b="1" dirty="0">
                <a:solidFill>
                  <a:srgbClr val="FBBF24"/>
                </a:solidFill>
                <a:latin typeface="Segoe UI"/>
                <a:ea typeface="Segoe UI"/>
                <a:cs typeface="Segoe UI"/>
              </a:rPr>
              <a:t>☀  MORNING STAND-UP</a:t>
            </a:r>
            <a:endParaRPr lang="en-US" sz="1200" dirty="0"/>
          </a:p>
          <a:p>
            <a:pPr marL="0" indent="0" algn="l">
              <a:spcBef>
                <a:spcPts val="0"/>
              </a:spcBef>
              <a:spcAft>
                <a:spcPts val="0"/>
              </a:spcAft>
              <a:buNone/>
            </a:pPr>
            <a:r>
              <a:rPr lang="en-US" sz="1600" b="1" dirty="0">
                <a:solidFill>
                  <a:srgbClr val="FFFFFF"/>
                </a:solidFill>
                <a:latin typeface="Segoe UI"/>
                <a:ea typeface="Segoe UI"/>
                <a:cs typeface="Segoe UI"/>
              </a:rPr>
              <a:t>"What did you do YESTERDAY?"</a:t>
            </a:r>
            <a:endParaRPr lang="en-US" sz="1600" dirty="0"/>
          </a:p>
        </p:txBody>
      </p:sp>
      <p:sp>
        <p:nvSpPr>
          <p:cNvPr id="103" name="s103"/>
          <p:cNvSpPr/>
          <p:nvPr/>
        </p:nvSpPr>
        <p:spPr>
          <a:xfrm>
            <a:off x="6224321" y="1828800"/>
            <a:ext cx="5406847" cy="960120"/>
          </a:xfrm>
          <a:prstGeom prst="roundRect">
            <a:avLst>
              <a:gd name="adj" fmla="val 12000"/>
            </a:avLst>
          </a:prstGeom>
          <a:solidFill>
            <a:srgbClr val="A78BFA">
              <a:alpha val="12000"/>
            </a:srgbClr>
          </a:solidFill>
          <a:ln w="12700">
            <a:solidFill>
              <a:srgbClr val="A78BFA"/>
            </a:solidFill>
            <a:prstDash val="solid"/>
          </a:ln>
        </p:spPr>
        <p:txBody>
          <a:bodyPr wrap="square" lIns="228600" tIns="45720" rIns="182880" bIns="45720" rtlCol="0" anchor="ctr">
            <a:noAutofit/>
          </a:bodyPr>
          <a:lstStyle/>
          <a:p>
            <a:pPr marL="0" indent="0" algn="l">
              <a:spcBef>
                <a:spcPts val="0"/>
              </a:spcBef>
              <a:spcAft>
                <a:spcPts val="300"/>
              </a:spcAft>
              <a:buNone/>
            </a:pPr>
            <a:r>
              <a:rPr lang="en-US" sz="1200" b="1" dirty="0">
                <a:solidFill>
                  <a:srgbClr val="A78BFA"/>
                </a:solidFill>
                <a:latin typeface="Segoe UI"/>
                <a:ea typeface="Segoe UI"/>
                <a:cs typeface="Segoe UI"/>
              </a:rPr>
              <a:t>☾  END-OF-DAY STAND-UP</a:t>
            </a:r>
            <a:endParaRPr lang="en-US" sz="1200" dirty="0"/>
          </a:p>
          <a:p>
            <a:pPr marL="0" indent="0" algn="l">
              <a:spcBef>
                <a:spcPts val="0"/>
              </a:spcBef>
              <a:spcAft>
                <a:spcPts val="0"/>
              </a:spcAft>
              <a:buNone/>
            </a:pPr>
            <a:r>
              <a:rPr lang="en-US" sz="1600" b="1" dirty="0">
                <a:solidFill>
                  <a:srgbClr val="FFFFFF"/>
                </a:solidFill>
                <a:latin typeface="Segoe UI"/>
                <a:ea typeface="Segoe UI"/>
                <a:cs typeface="Segoe UI"/>
              </a:rPr>
              <a:t>"What did you do TODAY?"</a:t>
            </a:r>
            <a:endParaRPr lang="en-US" sz="1600" dirty="0"/>
          </a:p>
        </p:txBody>
      </p:sp>
      <p:sp>
        <p:nvSpPr>
          <p:cNvPr id="104" name="s104"/>
          <p:cNvSpPr/>
          <p:nvPr/>
        </p:nvSpPr>
        <p:spPr>
          <a:xfrm>
            <a:off x="543154" y="2971800"/>
            <a:ext cx="2634844" cy="777240"/>
          </a:xfrm>
          <a:prstGeom prst="roundRect">
            <a:avLst>
              <a:gd name="adj" fmla="val 12000"/>
            </a:avLst>
          </a:prstGeom>
          <a:solidFill>
            <a:srgbClr val="111B2E"/>
          </a:solidFill>
          <a:ln w="12700">
            <a:solidFill>
              <a:srgbClr val="13D0F7"/>
            </a:solidFill>
            <a:prstDash val="solid"/>
          </a:ln>
        </p:spPr>
        <p:txBody>
          <a:bodyPr wrap="square" lIns="137160" tIns="0" rIns="91440"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What will you do next?</a:t>
            </a:r>
            <a:endParaRPr lang="en-US" sz="1350" dirty="0"/>
          </a:p>
        </p:txBody>
      </p:sp>
      <p:sp>
        <p:nvSpPr>
          <p:cNvPr id="105" name="s105"/>
          <p:cNvSpPr/>
          <p:nvPr/>
        </p:nvSpPr>
        <p:spPr>
          <a:xfrm>
            <a:off x="3360877" y="2971800"/>
            <a:ext cx="2634844" cy="777240"/>
          </a:xfrm>
          <a:prstGeom prst="roundRect">
            <a:avLst>
              <a:gd name="adj" fmla="val 12000"/>
            </a:avLst>
          </a:prstGeom>
          <a:solidFill>
            <a:srgbClr val="111B2E"/>
          </a:solidFill>
          <a:ln w="12700">
            <a:solidFill>
              <a:srgbClr val="F87171"/>
            </a:solidFill>
            <a:prstDash val="solid"/>
          </a:ln>
        </p:spPr>
        <p:txBody>
          <a:bodyPr wrap="square" lIns="137160" tIns="0" rIns="91440"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Is anything blocking you?</a:t>
            </a:r>
            <a:endParaRPr lang="en-US" sz="1350" dirty="0"/>
          </a:p>
        </p:txBody>
      </p:sp>
      <p:sp>
        <p:nvSpPr>
          <p:cNvPr id="106" name="s106"/>
          <p:cNvSpPr/>
          <p:nvPr/>
        </p:nvSpPr>
        <p:spPr>
          <a:xfrm>
            <a:off x="6178601" y="2971800"/>
            <a:ext cx="2634844" cy="777240"/>
          </a:xfrm>
          <a:prstGeom prst="roundRect">
            <a:avLst>
              <a:gd name="adj" fmla="val 12000"/>
            </a:avLst>
          </a:prstGeom>
          <a:solidFill>
            <a:srgbClr val="111B2E"/>
          </a:solidFill>
          <a:ln w="12700">
            <a:solidFill>
              <a:srgbClr val="34D399"/>
            </a:solidFill>
            <a:prstDash val="solid"/>
          </a:ln>
        </p:spPr>
        <p:txBody>
          <a:bodyPr wrap="square" lIns="137160" tIns="0" rIns="91440"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Did you learn something new?</a:t>
            </a:r>
            <a:endParaRPr lang="en-US" sz="1350" dirty="0"/>
          </a:p>
        </p:txBody>
      </p:sp>
      <p:sp>
        <p:nvSpPr>
          <p:cNvPr id="107" name="s107"/>
          <p:cNvSpPr/>
          <p:nvPr/>
        </p:nvSpPr>
        <p:spPr>
          <a:xfrm>
            <a:off x="8996324" y="2971800"/>
            <a:ext cx="2634844" cy="777240"/>
          </a:xfrm>
          <a:prstGeom prst="roundRect">
            <a:avLst>
              <a:gd name="adj" fmla="val 12000"/>
            </a:avLst>
          </a:prstGeom>
          <a:solidFill>
            <a:srgbClr val="111B2E"/>
          </a:solidFill>
          <a:ln w="12700">
            <a:solidFill>
              <a:srgbClr val="60A5FA"/>
            </a:solidFill>
            <a:prstDash val="solid"/>
          </a:ln>
        </p:spPr>
        <p:txBody>
          <a:bodyPr wrap="square" lIns="137160" tIns="0" rIns="91440"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A blocker you solved? Share how.</a:t>
            </a:r>
            <a:endParaRPr lang="en-US" sz="1350" dirty="0"/>
          </a:p>
        </p:txBody>
      </p:sp>
      <p:sp>
        <p:nvSpPr>
          <p:cNvPr id="108" name="s108"/>
          <p:cNvSpPr/>
          <p:nvPr/>
        </p:nvSpPr>
        <p:spPr>
          <a:xfrm>
            <a:off x="543154" y="3931920"/>
            <a:ext cx="3574085" cy="868680"/>
          </a:xfrm>
          <a:prstGeom prst="roundRect">
            <a:avLst>
              <a:gd name="adj" fmla="val 12000"/>
            </a:avLst>
          </a:prstGeom>
          <a:solidFill>
            <a:srgbClr val="60A5FA">
              <a:alpha val="10000"/>
            </a:srgbClr>
          </a:solidFill>
          <a:ln w="12700">
            <a:solidFill>
              <a:srgbClr val="60A5FA"/>
            </a:solidFill>
            <a:prstDash val="solid"/>
          </a:ln>
        </p:spPr>
        <p:txBody>
          <a:bodyPr wrap="square" lIns="137160" tIns="45720" rIns="91440" bIns="45720" rtlCol="0" anchor="ctr">
            <a:noAutofit/>
          </a:bodyPr>
          <a:lstStyle/>
          <a:p>
            <a:pPr marL="0" indent="0" algn="ctr">
              <a:spcBef>
                <a:spcPts val="0"/>
              </a:spcBef>
              <a:spcAft>
                <a:spcPts val="200"/>
              </a:spcAft>
              <a:buNone/>
            </a:pPr>
            <a:r>
              <a:rPr lang="en-US" sz="1350" b="1" dirty="0">
                <a:solidFill>
                  <a:srgbClr val="60A5FA"/>
                </a:solidFill>
                <a:latin typeface="Segoe UI"/>
                <a:ea typeface="Segoe UI"/>
                <a:cs typeface="Segoe UI"/>
              </a:rPr>
              <a:t>⏱  15 MINUTES</a:t>
            </a:r>
            <a:endParaRPr lang="en-US" sz="1350" dirty="0"/>
          </a:p>
          <a:p>
            <a:pPr marL="0" indent="0" algn="ctr">
              <a:spcBef>
                <a:spcPts val="0"/>
              </a:spcBef>
              <a:spcAft>
                <a:spcPts val="0"/>
              </a:spcAft>
              <a:buNone/>
            </a:pPr>
            <a:r>
              <a:rPr lang="en-US" sz="1150" b="0" dirty="0">
                <a:solidFill>
                  <a:srgbClr val="E2E8F0"/>
                </a:solidFill>
                <a:latin typeface="Segoe UI"/>
                <a:ea typeface="Segoe UI"/>
                <a:cs typeface="Segoe UI"/>
              </a:rPr>
              <a:t>longer talks after the stand-up</a:t>
            </a:r>
            <a:endParaRPr lang="en-US" sz="1150" dirty="0"/>
          </a:p>
        </p:txBody>
      </p:sp>
      <p:sp>
        <p:nvSpPr>
          <p:cNvPr id="109" name="s109"/>
          <p:cNvSpPr/>
          <p:nvPr/>
        </p:nvSpPr>
        <p:spPr>
          <a:xfrm>
            <a:off x="4300118" y="3931920"/>
            <a:ext cx="3574085" cy="868680"/>
          </a:xfrm>
          <a:prstGeom prst="roundRect">
            <a:avLst>
              <a:gd name="adj" fmla="val 12000"/>
            </a:avLst>
          </a:prstGeom>
          <a:solidFill>
            <a:srgbClr val="60A5FA">
              <a:alpha val="10000"/>
            </a:srgbClr>
          </a:solidFill>
          <a:ln w="12700">
            <a:solidFill>
              <a:srgbClr val="60A5FA"/>
            </a:solidFill>
            <a:prstDash val="solid"/>
          </a:ln>
        </p:spPr>
        <p:txBody>
          <a:bodyPr wrap="square" lIns="137160" tIns="45720" rIns="91440" bIns="45720" rtlCol="0" anchor="ctr">
            <a:noAutofit/>
          </a:bodyPr>
          <a:lstStyle/>
          <a:p>
            <a:pPr marL="0" indent="0" algn="ctr">
              <a:spcBef>
                <a:spcPts val="0"/>
              </a:spcBef>
              <a:spcAft>
                <a:spcPts val="200"/>
              </a:spcAft>
              <a:buNone/>
            </a:pPr>
            <a:r>
              <a:rPr lang="en-US" sz="1350" b="1" dirty="0">
                <a:solidFill>
                  <a:srgbClr val="60A5FA"/>
                </a:solidFill>
                <a:latin typeface="Segoe UI"/>
                <a:ea typeface="Segoe UI"/>
                <a:cs typeface="Segoe UI"/>
              </a:rPr>
              <a:t>🧍  STANDING</a:t>
            </a:r>
            <a:endParaRPr lang="en-US" sz="1350" dirty="0"/>
          </a:p>
          <a:p>
            <a:pPr marL="0" indent="0" algn="ctr">
              <a:spcBef>
                <a:spcPts val="0"/>
              </a:spcBef>
              <a:spcAft>
                <a:spcPts val="0"/>
              </a:spcAft>
              <a:buNone/>
            </a:pPr>
            <a:r>
              <a:rPr lang="en-US" sz="1150" b="0" dirty="0">
                <a:solidFill>
                  <a:srgbClr val="E2E8F0"/>
                </a:solidFill>
                <a:latin typeface="Segoe UI"/>
                <a:ea typeface="Segoe UI"/>
                <a:cs typeface="Segoe UI"/>
              </a:rPr>
              <a:t>keeps it short (online: sitting is fine)</a:t>
            </a:r>
            <a:endParaRPr lang="en-US" sz="1150" dirty="0"/>
          </a:p>
        </p:txBody>
      </p:sp>
      <p:sp>
        <p:nvSpPr>
          <p:cNvPr id="110" name="s110"/>
          <p:cNvSpPr/>
          <p:nvPr/>
        </p:nvSpPr>
        <p:spPr>
          <a:xfrm>
            <a:off x="8057083" y="3931920"/>
            <a:ext cx="3574085" cy="868680"/>
          </a:xfrm>
          <a:prstGeom prst="roundRect">
            <a:avLst>
              <a:gd name="adj" fmla="val 12000"/>
            </a:avLst>
          </a:prstGeom>
          <a:solidFill>
            <a:srgbClr val="60A5FA">
              <a:alpha val="10000"/>
            </a:srgbClr>
          </a:solidFill>
          <a:ln w="12700">
            <a:solidFill>
              <a:srgbClr val="60A5FA"/>
            </a:solidFill>
            <a:prstDash val="solid"/>
          </a:ln>
        </p:spPr>
        <p:txBody>
          <a:bodyPr wrap="square" lIns="137160" tIns="45720" rIns="91440" bIns="45720" rtlCol="0" anchor="ctr">
            <a:noAutofit/>
          </a:bodyPr>
          <a:lstStyle/>
          <a:p>
            <a:pPr marL="0" indent="0" algn="ctr">
              <a:spcBef>
                <a:spcPts val="0"/>
              </a:spcBef>
              <a:spcAft>
                <a:spcPts val="200"/>
              </a:spcAft>
              <a:buNone/>
            </a:pPr>
            <a:r>
              <a:rPr lang="en-US" sz="1350" b="1" dirty="0">
                <a:solidFill>
                  <a:srgbClr val="60A5FA"/>
                </a:solidFill>
                <a:latin typeface="Segoe UI"/>
                <a:ea typeface="Segoe UI"/>
                <a:cs typeface="Segoe UI"/>
              </a:rPr>
              <a:t>🕘  SAME TIME</a:t>
            </a:r>
            <a:endParaRPr lang="en-US" sz="1350" dirty="0"/>
          </a:p>
          <a:p>
            <a:pPr marL="0" indent="0" algn="ctr">
              <a:spcBef>
                <a:spcPts val="0"/>
              </a:spcBef>
              <a:spcAft>
                <a:spcPts val="0"/>
              </a:spcAft>
              <a:buNone/>
            </a:pPr>
            <a:r>
              <a:rPr lang="en-US" sz="1150" b="0" dirty="0">
                <a:solidFill>
                  <a:srgbClr val="E2E8F0"/>
                </a:solidFill>
                <a:latin typeface="Segoe UI"/>
                <a:ea typeface="Segoe UI"/>
                <a:cs typeface="Segoe UI"/>
              </a:rPr>
              <a:t>every day, no reminders needed</a:t>
            </a:r>
            <a:endParaRPr lang="en-US" sz="1150" dirty="0"/>
          </a:p>
        </p:txBody>
      </p:sp>
      <p:sp>
        <p:nvSpPr>
          <p:cNvPr id="111" name="s111"/>
          <p:cNvSpPr/>
          <p:nvPr/>
        </p:nvSpPr>
        <p:spPr>
          <a:xfrm>
            <a:off x="543154" y="4983480"/>
            <a:ext cx="11088014" cy="548640"/>
          </a:xfrm>
          <a:prstGeom prst="roundRect">
            <a:avLst>
              <a:gd name="adj" fmla="val 12000"/>
            </a:avLst>
          </a:prstGeom>
          <a:solidFill>
            <a:srgbClr val="111B2E"/>
          </a:solidFill>
          <a:ln w="12700">
            <a:solidFill>
              <a:srgbClr val="60A5FA"/>
            </a:solidFill>
            <a:prstDash val="solid"/>
          </a:ln>
        </p:spPr>
        <p:txBody>
          <a:bodyPr wrap="square" lIns="228600" tIns="45720" rIns="228600" bIns="4572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REMEMBER</a:t>
            </a:r>
            <a:r>
              <a:rPr lang="en-US" sz="1300" b="0" dirty="0">
                <a:solidFill>
                  <a:srgbClr val="E2E8F0"/>
                </a:solidFill>
                <a:latin typeface="Segoe UI"/>
                <a:ea typeface="Segoe UI"/>
                <a:cs typeface="Segoe UI"/>
              </a:rPr>
              <a:t>   The questions are a format. The goal: inspect progress toward the Sprint Goal and adapt today's plan.</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additive="base">
                                        <p:cTn id="8"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anim calcmode="lin" valueType="num">
                                      <p:cBhvr additive="base">
                                        <p:cTn id="14" dur="500" decel="100000" fill="hold"/>
                                        <p:tgtEl>
                                          <p:spTgt spid="103"/>
                                        </p:tgtEl>
                                        <p:attrNameLst>
                                          <p:attrName>ppt_x</p:attrName>
                                        </p:attrNameLst>
                                      </p:cBhvr>
                                      <p:tavLst>
                                        <p:tav tm="0">
                                          <p:val>
                                            <p:strVal val="#ppt_x+0.05"/>
                                          </p:val>
                                        </p:tav>
                                        <p:tav tm="100000">
                                          <p:val>
                                            <p:strVal val="#ppt_x"/>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12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24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36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ppt_y</p:attrName>
                                        </p:attrNameLst>
                                      </p:cBhvr>
                                      <p:tavLst>
                                        <p:tav tm="0">
                                          <p:val>
                                            <p:strVal val="#ppt_y+0.06"/>
                                          </p:val>
                                        </p:tav>
                                        <p:tav tm="100000">
                                          <p:val>
                                            <p:strVal val="#ppt_y"/>
                                          </p:val>
                                        </p:tav>
                                      </p:tavLst>
                                    </p:anim>
                                  </p:childTnLst>
                                </p:cTn>
                              </p:par>
                              <p:par>
                                <p:cTn id="39" presetID="42" presetClass="entr" presetSubtype="0" fill="hold" grpId="0" nodeType="withEffect">
                                  <p:stCondLst>
                                    <p:cond delay="12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ppt_y</p:attrName>
                                        </p:attrNameLst>
                                      </p:cBhvr>
                                      <p:tavLst>
                                        <p:tav tm="0">
                                          <p:val>
                                            <p:strVal val="#ppt_y+0.06"/>
                                          </p:val>
                                        </p:tav>
                                        <p:tav tm="100000">
                                          <p:val>
                                            <p:strVal val="#ppt_y"/>
                                          </p:val>
                                        </p:tav>
                                      </p:tavLst>
                                    </p:anim>
                                  </p:childTnLst>
                                </p:cTn>
                              </p:par>
                              <p:par>
                                <p:cTn id="43" presetID="42" presetClass="entr" presetSubtype="0" fill="hold" grpId="0" nodeType="withEffect">
                                  <p:stCondLst>
                                    <p:cond delay="24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11"/>
                                        </p:tgtEl>
                                        <p:attrNameLst>
                                          <p:attrName>style.visibility</p:attrName>
                                        </p:attrNameLst>
                                      </p:cBhvr>
                                      <p:to>
                                        <p:strVal val="visible"/>
                                      </p:to>
                                    </p:set>
                                    <p:animEffect transition="in" filter="fade">
                                      <p:cBhvr>
                                        <p:cTn id="51" dur="500"/>
                                        <p:tgtEl>
                                          <p:spTgt spid="111"/>
                                        </p:tgtEl>
                                      </p:cBhvr>
                                    </p:animEffect>
                                    <p:anim calcmode="lin" valueType="num">
                                      <p:cBhvr additive="base">
                                        <p:cTn id="52" dur="500" decel="100000" fill="hold"/>
                                        <p:tgtEl>
                                          <p:spTgt spid="111"/>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SCRUM MASTER</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Meet the Scrum Master: Adam</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Problems appear. Someone must protect effectiveness, not assign tasks.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272</a:t>
            </a:r>
            <a:endParaRPr lang="en-US" sz="850" dirty="0"/>
          </a:p>
        </p:txBody>
      </p:sp>
      <p:sp>
        <p:nvSpPr>
          <p:cNvPr id="101" name="s101"/>
          <p:cNvSpPr/>
          <p:nvPr/>
        </p:nvSpPr>
        <p:spPr>
          <a:xfrm>
            <a:off x="5596128" y="2148840"/>
            <a:ext cx="1005840" cy="1005840"/>
          </a:xfrm>
          <a:prstGeom prst="ellipse">
            <a:avLst/>
          </a:prstGeom>
          <a:solidFill>
            <a:srgbClr val="A78BFA">
              <a:alpha val="22000"/>
            </a:srgbClr>
          </a:solidFill>
          <a:ln w="1905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2860" b="1" dirty="0">
                <a:solidFill>
                  <a:srgbClr val="A78BFA"/>
                </a:solidFill>
                <a:latin typeface="Segoe UI"/>
                <a:ea typeface="Segoe UI"/>
                <a:cs typeface="Segoe UI"/>
              </a:rPr>
              <a:t>A</a:t>
            </a:r>
            <a:endParaRPr lang="en-US" sz="2860" dirty="0"/>
          </a:p>
        </p:txBody>
      </p:sp>
      <p:sp>
        <p:nvSpPr>
          <p:cNvPr id="102" name="s102"/>
          <p:cNvSpPr txBox="1"/>
          <p:nvPr/>
        </p:nvSpPr>
        <p:spPr>
          <a:xfrm>
            <a:off x="5001768" y="3200400"/>
            <a:ext cx="2194560" cy="5029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500" b="1" dirty="0">
                <a:solidFill>
                  <a:srgbClr val="FFFFFF"/>
                </a:solidFill>
                <a:latin typeface="Segoe UI"/>
                <a:ea typeface="Segoe UI"/>
                <a:cs typeface="Segoe UI"/>
              </a:rPr>
              <a:t>Adam</a:t>
            </a:r>
            <a:endParaRPr lang="en-US" sz="1500" dirty="0"/>
          </a:p>
          <a:p>
            <a:pPr marL="0" indent="0" algn="ctr">
              <a:spcBef>
                <a:spcPts val="0"/>
              </a:spcBef>
              <a:spcAft>
                <a:spcPts val="0"/>
              </a:spcAft>
              <a:buNone/>
            </a:pPr>
            <a:r>
              <a:rPr lang="en-US" sz="1100" b="0" dirty="0">
                <a:solidFill>
                  <a:srgbClr val="A78BFA"/>
                </a:solidFill>
                <a:latin typeface="Segoe UI"/>
                <a:ea typeface="Segoe UI"/>
                <a:cs typeface="Segoe UI"/>
              </a:rPr>
              <a:t>Scrum Master</a:t>
            </a:r>
            <a:endParaRPr lang="en-US" sz="1100" dirty="0"/>
          </a:p>
        </p:txBody>
      </p:sp>
      <p:sp>
        <p:nvSpPr>
          <p:cNvPr id="103" name="s103"/>
          <p:cNvSpPr/>
          <p:nvPr/>
        </p:nvSpPr>
        <p:spPr>
          <a:xfrm>
            <a:off x="1892808" y="2011680"/>
            <a:ext cx="3291840" cy="438912"/>
          </a:xfrm>
          <a:prstGeom prst="roundRect">
            <a:avLst>
              <a:gd name="adj" fmla="val 30000"/>
            </a:avLst>
          </a:prstGeom>
          <a:solidFill>
            <a:srgbClr val="F87171">
              <a:alpha val="10000"/>
            </a:srgbClr>
          </a:solidFill>
          <a:ln w="12700">
            <a:solidFill>
              <a:srgbClr val="F87171">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0" dirty="0">
                <a:solidFill>
                  <a:srgbClr val="F87171"/>
                </a:solidFill>
                <a:latin typeface="Segoe UI"/>
                <a:ea typeface="Segoe UI"/>
                <a:cs typeface="Segoe UI"/>
              </a:rPr>
              <a:t>⚠  </a:t>
            </a:r>
            <a:r>
              <a:rPr lang="en-US" sz="1250" b="1" dirty="0">
                <a:solidFill>
                  <a:srgbClr val="FFFFFF"/>
                </a:solidFill>
                <a:latin typeface="Segoe UI"/>
                <a:ea typeface="Segoe UI"/>
                <a:cs typeface="Segoe UI"/>
              </a:rPr>
              <a:t>Staging environment down</a:t>
            </a:r>
            <a:endParaRPr lang="en-US" sz="1250" dirty="0"/>
          </a:p>
        </p:txBody>
      </p:sp>
      <p:sp>
        <p:nvSpPr>
          <p:cNvPr id="104" name="s104"/>
          <p:cNvSpPr/>
          <p:nvPr/>
        </p:nvSpPr>
        <p:spPr>
          <a:xfrm>
            <a:off x="1892808" y="2578608"/>
            <a:ext cx="3291840" cy="438912"/>
          </a:xfrm>
          <a:prstGeom prst="roundRect">
            <a:avLst>
              <a:gd name="adj" fmla="val 30000"/>
            </a:avLst>
          </a:prstGeom>
          <a:solidFill>
            <a:srgbClr val="F87171">
              <a:alpha val="10000"/>
            </a:srgbClr>
          </a:solidFill>
          <a:ln w="12700">
            <a:solidFill>
              <a:srgbClr val="F87171">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0" dirty="0">
                <a:solidFill>
                  <a:srgbClr val="F87171"/>
                </a:solidFill>
                <a:latin typeface="Segoe UI"/>
                <a:ea typeface="Segoe UI"/>
                <a:cs typeface="Segoe UI"/>
              </a:rPr>
              <a:t>⚠  </a:t>
            </a:r>
            <a:r>
              <a:rPr lang="en-US" sz="1250" b="1" dirty="0">
                <a:solidFill>
                  <a:srgbClr val="FFFFFF"/>
                </a:solidFill>
                <a:latin typeface="Segoe UI"/>
                <a:ea typeface="Segoe UI"/>
                <a:cs typeface="Segoe UI"/>
              </a:rPr>
              <a:t>Stakeholders interrupt Devs</a:t>
            </a:r>
            <a:endParaRPr lang="en-US" sz="1250" dirty="0"/>
          </a:p>
        </p:txBody>
      </p:sp>
      <p:sp>
        <p:nvSpPr>
          <p:cNvPr id="105" name="s105"/>
          <p:cNvSpPr/>
          <p:nvPr/>
        </p:nvSpPr>
        <p:spPr>
          <a:xfrm>
            <a:off x="1892808" y="3145536"/>
            <a:ext cx="3291840" cy="438912"/>
          </a:xfrm>
          <a:prstGeom prst="roundRect">
            <a:avLst>
              <a:gd name="adj" fmla="val 30000"/>
            </a:avLst>
          </a:prstGeom>
          <a:solidFill>
            <a:srgbClr val="F87171">
              <a:alpha val="10000"/>
            </a:srgbClr>
          </a:solidFill>
          <a:ln w="12700">
            <a:solidFill>
              <a:srgbClr val="F87171">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0" dirty="0">
                <a:solidFill>
                  <a:srgbClr val="F87171"/>
                </a:solidFill>
                <a:latin typeface="Segoe UI"/>
                <a:ea typeface="Segoe UI"/>
                <a:cs typeface="Segoe UI"/>
              </a:rPr>
              <a:t>⚠  </a:t>
            </a:r>
            <a:r>
              <a:rPr lang="en-US" sz="1250" b="1" dirty="0">
                <a:solidFill>
                  <a:srgbClr val="FFFFFF"/>
                </a:solidFill>
                <a:latin typeface="Segoe UI"/>
                <a:ea typeface="Segoe UI"/>
                <a:cs typeface="Segoe UI"/>
              </a:rPr>
              <a:t>Daily becomes a status report</a:t>
            </a:r>
            <a:endParaRPr lang="en-US" sz="1250" dirty="0"/>
          </a:p>
        </p:txBody>
      </p:sp>
      <p:sp>
        <p:nvSpPr>
          <p:cNvPr id="106" name="s106"/>
          <p:cNvSpPr/>
          <p:nvPr/>
        </p:nvSpPr>
        <p:spPr>
          <a:xfrm>
            <a:off x="7013448" y="2011680"/>
            <a:ext cx="3291840" cy="438912"/>
          </a:xfrm>
          <a:prstGeom prst="roundRect">
            <a:avLst>
              <a:gd name="adj" fmla="val 30000"/>
            </a:avLst>
          </a:prstGeom>
          <a:solidFill>
            <a:srgbClr val="F87171">
              <a:alpha val="10000"/>
            </a:srgbClr>
          </a:solidFill>
          <a:ln w="12700">
            <a:solidFill>
              <a:srgbClr val="F87171">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0" dirty="0">
                <a:solidFill>
                  <a:srgbClr val="F87171"/>
                </a:solidFill>
                <a:latin typeface="Segoe UI"/>
                <a:ea typeface="Segoe UI"/>
                <a:cs typeface="Segoe UI"/>
              </a:rPr>
              <a:t>⚠  </a:t>
            </a:r>
            <a:r>
              <a:rPr lang="en-US" sz="1250" b="1" dirty="0">
                <a:solidFill>
                  <a:srgbClr val="FFFFFF"/>
                </a:solidFill>
                <a:latin typeface="Segoe UI"/>
                <a:ea typeface="Segoe UI"/>
                <a:cs typeface="Segoe UI"/>
              </a:rPr>
              <a:t>Stories too large again</a:t>
            </a:r>
            <a:endParaRPr lang="en-US" sz="1250" dirty="0"/>
          </a:p>
        </p:txBody>
      </p:sp>
      <p:sp>
        <p:nvSpPr>
          <p:cNvPr id="107" name="s107"/>
          <p:cNvSpPr/>
          <p:nvPr/>
        </p:nvSpPr>
        <p:spPr>
          <a:xfrm>
            <a:off x="7013448" y="2578608"/>
            <a:ext cx="3291840" cy="438912"/>
          </a:xfrm>
          <a:prstGeom prst="roundRect">
            <a:avLst>
              <a:gd name="adj" fmla="val 30000"/>
            </a:avLst>
          </a:prstGeom>
          <a:solidFill>
            <a:srgbClr val="F87171">
              <a:alpha val="10000"/>
            </a:srgbClr>
          </a:solidFill>
          <a:ln w="12700">
            <a:solidFill>
              <a:srgbClr val="F87171">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0" dirty="0">
                <a:solidFill>
                  <a:srgbClr val="F87171"/>
                </a:solidFill>
                <a:latin typeface="Segoe UI"/>
                <a:ea typeface="Segoe UI"/>
                <a:cs typeface="Segoe UI"/>
              </a:rPr>
              <a:t>⚠  </a:t>
            </a:r>
            <a:r>
              <a:rPr lang="en-US" sz="1250" b="1" dirty="0">
                <a:solidFill>
                  <a:srgbClr val="FFFFFF"/>
                </a:solidFill>
                <a:latin typeface="Segoe UI"/>
                <a:ea typeface="Segoe UI"/>
                <a:cs typeface="Segoe UI"/>
              </a:rPr>
              <a:t>PO unavailable</a:t>
            </a:r>
            <a:endParaRPr lang="en-US" sz="1250" dirty="0"/>
          </a:p>
        </p:txBody>
      </p:sp>
      <p:sp>
        <p:nvSpPr>
          <p:cNvPr id="108" name="s108"/>
          <p:cNvSpPr/>
          <p:nvPr/>
        </p:nvSpPr>
        <p:spPr>
          <a:xfrm>
            <a:off x="7013448" y="3145536"/>
            <a:ext cx="3291840" cy="438912"/>
          </a:xfrm>
          <a:prstGeom prst="roundRect">
            <a:avLst>
              <a:gd name="adj" fmla="val 30000"/>
            </a:avLst>
          </a:prstGeom>
          <a:solidFill>
            <a:srgbClr val="F87171">
              <a:alpha val="10000"/>
            </a:srgbClr>
          </a:solidFill>
          <a:ln w="12700">
            <a:solidFill>
              <a:srgbClr val="F87171">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250" b="0" dirty="0">
                <a:solidFill>
                  <a:srgbClr val="F87171"/>
                </a:solidFill>
                <a:latin typeface="Segoe UI"/>
                <a:ea typeface="Segoe UI"/>
                <a:cs typeface="Segoe UI"/>
              </a:rPr>
              <a:t>⚠  </a:t>
            </a:r>
            <a:r>
              <a:rPr lang="en-US" sz="1250" b="1" dirty="0">
                <a:solidFill>
                  <a:srgbClr val="FFFFFF"/>
                </a:solidFill>
                <a:latin typeface="Segoe UI"/>
                <a:ea typeface="Segoe UI"/>
                <a:cs typeface="Segoe UI"/>
              </a:rPr>
              <a:t>Team skips the Retro</a:t>
            </a:r>
            <a:endParaRPr lang="en-US" sz="1250" dirty="0"/>
          </a:p>
        </p:txBody>
      </p:sp>
      <p:sp>
        <p:nvSpPr>
          <p:cNvPr id="109" name="s109"/>
          <p:cNvSpPr/>
          <p:nvPr/>
        </p:nvSpPr>
        <p:spPr>
          <a:xfrm>
            <a:off x="543154" y="3931920"/>
            <a:ext cx="5406847" cy="1691640"/>
          </a:xfrm>
          <a:prstGeom prst="roundRect">
            <a:avLst>
              <a:gd name="adj" fmla="val 10000"/>
            </a:avLst>
          </a:prstGeom>
          <a:solidFill>
            <a:srgbClr val="111B2E"/>
          </a:solidFill>
          <a:ln w="15875">
            <a:solidFill>
              <a:srgbClr val="34D399"/>
            </a:solidFill>
            <a:prstDash val="solid"/>
          </a:ln>
        </p:spPr>
        <p:txBody>
          <a:bodyPr wrap="square" lIns="182880" tIns="146304" rIns="164592" bIns="109728" rtlCol="0" anchor="t">
            <a:noAutofit/>
          </a:bodyPr>
          <a:lstStyle/>
          <a:p>
            <a:endParaRPr lang="en-US"/>
          </a:p>
        </p:txBody>
      </p:sp>
      <p:sp>
        <p:nvSpPr>
          <p:cNvPr id="110" name="s110"/>
          <p:cNvSpPr/>
          <p:nvPr/>
        </p:nvSpPr>
        <p:spPr>
          <a:xfrm>
            <a:off x="744322" y="4114800"/>
            <a:ext cx="420624" cy="420624"/>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11" name="img111"/>
          <p:cNvPicPr>
            <a:picLocks noChangeAspect="1"/>
          </p:cNvPicPr>
          <p:nvPr/>
        </p:nvPicPr>
        <p:blipFill>
          <a:blip r:embed="rId4"/>
          <a:stretch>
            <a:fillRect/>
          </a:stretch>
        </p:blipFill>
        <p:spPr>
          <a:xfrm>
            <a:off x="845271" y="4215750"/>
            <a:ext cx="218724" cy="218724"/>
          </a:xfrm>
          <a:prstGeom prst="rect">
            <a:avLst/>
          </a:prstGeom>
        </p:spPr>
      </p:pic>
      <p:sp>
        <p:nvSpPr>
          <p:cNvPr id="112" name="s112"/>
          <p:cNvSpPr txBox="1"/>
          <p:nvPr/>
        </p:nvSpPr>
        <p:spPr>
          <a:xfrm>
            <a:off x="1292962" y="4133088"/>
            <a:ext cx="4492447"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ADAM HELPS</a:t>
            </a:r>
            <a:endParaRPr lang="en-US" sz="1300" dirty="0"/>
          </a:p>
        </p:txBody>
      </p:sp>
      <p:sp>
        <p:nvSpPr>
          <p:cNvPr id="113" name="s113"/>
          <p:cNvSpPr txBox="1"/>
          <p:nvPr/>
        </p:nvSpPr>
        <p:spPr>
          <a:xfrm>
            <a:off x="771754" y="4709160"/>
            <a:ext cx="4949647" cy="77724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300" b="0" dirty="0">
                <a:solidFill>
                  <a:srgbClr val="E2E8F0"/>
                </a:solidFill>
                <a:latin typeface="Segoe UI"/>
                <a:ea typeface="Segoe UI"/>
                <a:cs typeface="Segoe UI"/>
              </a:rPr>
              <a:t>Understand Scrum · coach self-management · facilitate · remove impediments · improve effectiveness.</a:t>
            </a:r>
            <a:endParaRPr lang="en-US" sz="1300" dirty="0"/>
          </a:p>
        </p:txBody>
      </p:sp>
      <p:sp>
        <p:nvSpPr>
          <p:cNvPr id="114" name="s114"/>
          <p:cNvSpPr/>
          <p:nvPr/>
        </p:nvSpPr>
        <p:spPr>
          <a:xfrm>
            <a:off x="6224321" y="3931920"/>
            <a:ext cx="5406847" cy="1691640"/>
          </a:xfrm>
          <a:prstGeom prst="roundRect">
            <a:avLst>
              <a:gd name="adj" fmla="val 10000"/>
            </a:avLst>
          </a:prstGeom>
          <a:solidFill>
            <a:srgbClr val="111B2E"/>
          </a:solidFill>
          <a:ln w="15875">
            <a:solidFill>
              <a:srgbClr val="F87171"/>
            </a:solidFill>
            <a:prstDash val="solid"/>
          </a:ln>
        </p:spPr>
        <p:txBody>
          <a:bodyPr wrap="square" lIns="182880" tIns="146304" rIns="164592" bIns="109728" rtlCol="0" anchor="t">
            <a:noAutofit/>
          </a:bodyPr>
          <a:lstStyle/>
          <a:p>
            <a:endParaRPr lang="en-US"/>
          </a:p>
        </p:txBody>
      </p:sp>
      <p:sp>
        <p:nvSpPr>
          <p:cNvPr id="115" name="s115"/>
          <p:cNvSpPr/>
          <p:nvPr/>
        </p:nvSpPr>
        <p:spPr>
          <a:xfrm>
            <a:off x="6425489" y="4114800"/>
            <a:ext cx="420624" cy="420624"/>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16" name="img116"/>
          <p:cNvPicPr>
            <a:picLocks noChangeAspect="1"/>
          </p:cNvPicPr>
          <p:nvPr/>
        </p:nvPicPr>
        <p:blipFill>
          <a:blip r:embed="rId5"/>
          <a:stretch>
            <a:fillRect/>
          </a:stretch>
        </p:blipFill>
        <p:spPr>
          <a:xfrm>
            <a:off x="6526439" y="4215750"/>
            <a:ext cx="218724" cy="218724"/>
          </a:xfrm>
          <a:prstGeom prst="rect">
            <a:avLst/>
          </a:prstGeom>
        </p:spPr>
      </p:pic>
      <p:sp>
        <p:nvSpPr>
          <p:cNvPr id="117" name="s117"/>
          <p:cNvSpPr txBox="1"/>
          <p:nvPr/>
        </p:nvSpPr>
        <p:spPr>
          <a:xfrm>
            <a:off x="6974129" y="4133088"/>
            <a:ext cx="4492447"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87171"/>
                </a:solidFill>
                <a:latin typeface="Segoe UI"/>
                <a:ea typeface="Segoe UI"/>
                <a:cs typeface="Segoe UI"/>
              </a:rPr>
              <a:t>ADAM IS NOT</a:t>
            </a:r>
            <a:endParaRPr lang="en-US" sz="1300" dirty="0"/>
          </a:p>
        </p:txBody>
      </p:sp>
      <p:sp>
        <p:nvSpPr>
          <p:cNvPr id="118" name="s118"/>
          <p:cNvSpPr txBox="1"/>
          <p:nvPr/>
        </p:nvSpPr>
        <p:spPr>
          <a:xfrm>
            <a:off x="6452921" y="4709160"/>
            <a:ext cx="4949647" cy="77724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300" b="0" dirty="0">
                <a:solidFill>
                  <a:srgbClr val="E2E8F0"/>
                </a:solidFill>
                <a:latin typeface="Segoe UI"/>
                <a:ea typeface="Segoe UI"/>
                <a:cs typeface="Segoe UI"/>
              </a:rPr>
              <a:t>A project manager assigning tasks · the boss · the meeting secretary · the personal fixer of every bug.</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3" dur="500" decel="100000" fill="hold"/>
                                        <p:tgtEl>
                                          <p:spTgt spid="102"/>
                                        </p:tgtEl>
                                        <p:attrNameLst>
                                          <p:attrName>ppt_h</p:attrName>
                                        </p:attrNameLst>
                                      </p:cBhvr>
                                      <p:tavLst>
                                        <p:tav tm="0">
                                          <p:val>
                                            <p:strVal val="#ppt_h*0.55"/>
                                          </p:val>
                                        </p:tav>
                                        <p:tav tm="100000">
                                          <p:val>
                                            <p:strVal val="#ppt_h"/>
                                          </p:val>
                                        </p:tav>
                                      </p:tavLst>
                                    </p:anim>
                                    <p:animEffect transition="in" filter="fade">
                                      <p:cBhvr>
                                        <p:cTn id="14" dur="500"/>
                                        <p:tgtEl>
                                          <p:spTgt spid="102"/>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103"/>
                                        </p:tgtEl>
                                        <p:attrNameLst>
                                          <p:attrName>style.visibility</p:attrName>
                                        </p:attrNameLst>
                                      </p:cBhvr>
                                      <p:to>
                                        <p:strVal val="visible"/>
                                      </p:to>
                                    </p:set>
                                    <p:anim calcmode="lin" valueType="num">
                                      <p:cBhvr additive="base">
                                        <p:cTn id="19" dur="500" decel="100000" fill="hold"/>
                                        <p:tgtEl>
                                          <p:spTgt spid="103"/>
                                        </p:tgtEl>
                                        <p:attrNameLst>
                                          <p:attrName>ppt_w</p:attrName>
                                        </p:attrNameLst>
                                      </p:cBhvr>
                                      <p:tavLst>
                                        <p:tav tm="0">
                                          <p:val>
                                            <p:strVal val="#ppt_w*0.3"/>
                                          </p:val>
                                        </p:tav>
                                        <p:tav tm="100000">
                                          <p:val>
                                            <p:strVal val="#ppt_w*1.08"/>
                                          </p:val>
                                        </p:tav>
                                      </p:tavLst>
                                    </p:anim>
                                    <p:anim calcmode="lin" valueType="num">
                                      <p:cBhvr additive="base">
                                        <p:cTn id="20" dur="500" decel="100000" fill="hold"/>
                                        <p:tgtEl>
                                          <p:spTgt spid="103"/>
                                        </p:tgtEl>
                                        <p:attrNameLst>
                                          <p:attrName>ppt_h</p:attrName>
                                        </p:attrNameLst>
                                      </p:cBhvr>
                                      <p:tavLst>
                                        <p:tav tm="0">
                                          <p:val>
                                            <p:strVal val="#ppt_h*0.3"/>
                                          </p:val>
                                        </p:tav>
                                        <p:tav tm="100000">
                                          <p:val>
                                            <p:strVal val="#ppt_h*1.08"/>
                                          </p:val>
                                        </p:tav>
                                      </p:tavLst>
                                    </p:anim>
                                    <p:animEffect transition="in" filter="fade">
                                      <p:cBhvr>
                                        <p:cTn id="21" dur="250"/>
                                        <p:tgtEl>
                                          <p:spTgt spid="103"/>
                                        </p:tgtEl>
                                      </p:cBhvr>
                                    </p:animEffect>
                                    <p:anim calcmode="lin" valueType="num">
                                      <p:cBhvr additive="base">
                                        <p:cTn id="22" dur="160" fill="hold">
                                          <p:stCondLst>
                                            <p:cond delay="500"/>
                                          </p:stCondLst>
                                        </p:cTn>
                                        <p:tgtEl>
                                          <p:spTgt spid="103"/>
                                        </p:tgtEl>
                                        <p:attrNameLst>
                                          <p:attrName>ppt_w</p:attrName>
                                        </p:attrNameLst>
                                      </p:cBhvr>
                                      <p:tavLst>
                                        <p:tav tm="0">
                                          <p:val>
                                            <p:strVal val="#ppt_w*1.08"/>
                                          </p:val>
                                        </p:tav>
                                        <p:tav tm="100000">
                                          <p:val>
                                            <p:strVal val="#ppt_w"/>
                                          </p:val>
                                        </p:tav>
                                      </p:tavLst>
                                    </p:anim>
                                    <p:anim calcmode="lin" valueType="num">
                                      <p:cBhvr additive="base">
                                        <p:cTn id="23" dur="160" fill="hold">
                                          <p:stCondLst>
                                            <p:cond delay="500"/>
                                          </p:stCondLst>
                                        </p:cTn>
                                        <p:tgtEl>
                                          <p:spTgt spid="103"/>
                                        </p:tgtEl>
                                        <p:attrNameLst>
                                          <p:attrName>ppt_h</p:attrName>
                                        </p:attrNameLst>
                                      </p:cBhvr>
                                      <p:tavLst>
                                        <p:tav tm="0">
                                          <p:val>
                                            <p:strVal val="#ppt_h*1.08"/>
                                          </p:val>
                                        </p:tav>
                                        <p:tav tm="100000">
                                          <p:val>
                                            <p:strVal val="#ppt_h"/>
                                          </p:val>
                                        </p:tav>
                                      </p:tavLst>
                                    </p:anim>
                                  </p:childTnLst>
                                </p:cTn>
                              </p:par>
                              <p:par>
                                <p:cTn id="24" presetID="53" presetClass="entr" presetSubtype="16" fill="hold" grpId="0" nodeType="withEffect">
                                  <p:stCondLst>
                                    <p:cond delay="140"/>
                                  </p:stCondLst>
                                  <p:childTnLst>
                                    <p:set>
                                      <p:cBhvr>
                                        <p:cTn id="25" dur="1" fill="hold">
                                          <p:stCondLst>
                                            <p:cond delay="0"/>
                                          </p:stCondLst>
                                        </p:cTn>
                                        <p:tgtEl>
                                          <p:spTgt spid="104"/>
                                        </p:tgtEl>
                                        <p:attrNameLst>
                                          <p:attrName>style.visibility</p:attrName>
                                        </p:attrNameLst>
                                      </p:cBhvr>
                                      <p:to>
                                        <p:strVal val="visible"/>
                                      </p:to>
                                    </p:set>
                                    <p:anim calcmode="lin" valueType="num">
                                      <p:cBhvr additive="base">
                                        <p:cTn id="26"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27" dur="500" decel="100000" fill="hold"/>
                                        <p:tgtEl>
                                          <p:spTgt spid="104"/>
                                        </p:tgtEl>
                                        <p:attrNameLst>
                                          <p:attrName>ppt_h</p:attrName>
                                        </p:attrNameLst>
                                      </p:cBhvr>
                                      <p:tavLst>
                                        <p:tav tm="0">
                                          <p:val>
                                            <p:strVal val="#ppt_h*0.3"/>
                                          </p:val>
                                        </p:tav>
                                        <p:tav tm="100000">
                                          <p:val>
                                            <p:strVal val="#ppt_h*1.08"/>
                                          </p:val>
                                        </p:tav>
                                      </p:tavLst>
                                    </p:anim>
                                    <p:animEffect transition="in" filter="fade">
                                      <p:cBhvr>
                                        <p:cTn id="28" dur="250"/>
                                        <p:tgtEl>
                                          <p:spTgt spid="104"/>
                                        </p:tgtEl>
                                      </p:cBhvr>
                                    </p:animEffect>
                                    <p:anim calcmode="lin" valueType="num">
                                      <p:cBhvr additive="base">
                                        <p:cTn id="29"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30"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par>
                                <p:cTn id="31" presetID="53" presetClass="entr" presetSubtype="16" fill="hold" grpId="0" nodeType="withEffect">
                                  <p:stCondLst>
                                    <p:cond delay="280"/>
                                  </p:stCondLst>
                                  <p:childTnLst>
                                    <p:set>
                                      <p:cBhvr>
                                        <p:cTn id="32" dur="1" fill="hold">
                                          <p:stCondLst>
                                            <p:cond delay="0"/>
                                          </p:stCondLst>
                                        </p:cTn>
                                        <p:tgtEl>
                                          <p:spTgt spid="105"/>
                                        </p:tgtEl>
                                        <p:attrNameLst>
                                          <p:attrName>style.visibility</p:attrName>
                                        </p:attrNameLst>
                                      </p:cBhvr>
                                      <p:to>
                                        <p:strVal val="visible"/>
                                      </p:to>
                                    </p:set>
                                    <p:anim calcmode="lin" valueType="num">
                                      <p:cBhvr additive="base">
                                        <p:cTn id="33" dur="500" decel="100000" fill="hold"/>
                                        <p:tgtEl>
                                          <p:spTgt spid="105"/>
                                        </p:tgtEl>
                                        <p:attrNameLst>
                                          <p:attrName>ppt_w</p:attrName>
                                        </p:attrNameLst>
                                      </p:cBhvr>
                                      <p:tavLst>
                                        <p:tav tm="0">
                                          <p:val>
                                            <p:strVal val="#ppt_w*0.3"/>
                                          </p:val>
                                        </p:tav>
                                        <p:tav tm="100000">
                                          <p:val>
                                            <p:strVal val="#ppt_w*1.08"/>
                                          </p:val>
                                        </p:tav>
                                      </p:tavLst>
                                    </p:anim>
                                    <p:anim calcmode="lin" valueType="num">
                                      <p:cBhvr additive="base">
                                        <p:cTn id="34" dur="500" decel="100000" fill="hold"/>
                                        <p:tgtEl>
                                          <p:spTgt spid="105"/>
                                        </p:tgtEl>
                                        <p:attrNameLst>
                                          <p:attrName>ppt_h</p:attrName>
                                        </p:attrNameLst>
                                      </p:cBhvr>
                                      <p:tavLst>
                                        <p:tav tm="0">
                                          <p:val>
                                            <p:strVal val="#ppt_h*0.3"/>
                                          </p:val>
                                        </p:tav>
                                        <p:tav tm="100000">
                                          <p:val>
                                            <p:strVal val="#ppt_h*1.08"/>
                                          </p:val>
                                        </p:tav>
                                      </p:tavLst>
                                    </p:anim>
                                    <p:animEffect transition="in" filter="fade">
                                      <p:cBhvr>
                                        <p:cTn id="35" dur="250"/>
                                        <p:tgtEl>
                                          <p:spTgt spid="105"/>
                                        </p:tgtEl>
                                      </p:cBhvr>
                                    </p:animEffect>
                                    <p:anim calcmode="lin" valueType="num">
                                      <p:cBhvr additive="base">
                                        <p:cTn id="36" dur="160" fill="hold">
                                          <p:stCondLst>
                                            <p:cond delay="500"/>
                                          </p:stCondLst>
                                        </p:cTn>
                                        <p:tgtEl>
                                          <p:spTgt spid="105"/>
                                        </p:tgtEl>
                                        <p:attrNameLst>
                                          <p:attrName>ppt_w</p:attrName>
                                        </p:attrNameLst>
                                      </p:cBhvr>
                                      <p:tavLst>
                                        <p:tav tm="0">
                                          <p:val>
                                            <p:strVal val="#ppt_w*1.08"/>
                                          </p:val>
                                        </p:tav>
                                        <p:tav tm="100000">
                                          <p:val>
                                            <p:strVal val="#ppt_w"/>
                                          </p:val>
                                        </p:tav>
                                      </p:tavLst>
                                    </p:anim>
                                    <p:anim calcmode="lin" valueType="num">
                                      <p:cBhvr additive="base">
                                        <p:cTn id="37" dur="160" fill="hold">
                                          <p:stCondLst>
                                            <p:cond delay="500"/>
                                          </p:stCondLst>
                                        </p:cTn>
                                        <p:tgtEl>
                                          <p:spTgt spid="105"/>
                                        </p:tgtEl>
                                        <p:attrNameLst>
                                          <p:attrName>ppt_h</p:attrName>
                                        </p:attrNameLst>
                                      </p:cBhvr>
                                      <p:tavLst>
                                        <p:tav tm="0">
                                          <p:val>
                                            <p:strVal val="#ppt_h*1.08"/>
                                          </p:val>
                                        </p:tav>
                                        <p:tav tm="100000">
                                          <p:val>
                                            <p:strVal val="#ppt_h"/>
                                          </p:val>
                                        </p:tav>
                                      </p:tavLst>
                                    </p:anim>
                                  </p:childTnLst>
                                </p:cTn>
                              </p:par>
                              <p:par>
                                <p:cTn id="38" presetID="53" presetClass="entr" presetSubtype="16" fill="hold" grpId="0" nodeType="withEffect">
                                  <p:stCondLst>
                                    <p:cond delay="420"/>
                                  </p:stCondLst>
                                  <p:childTnLst>
                                    <p:set>
                                      <p:cBhvr>
                                        <p:cTn id="39" dur="1" fill="hold">
                                          <p:stCondLst>
                                            <p:cond delay="0"/>
                                          </p:stCondLst>
                                        </p:cTn>
                                        <p:tgtEl>
                                          <p:spTgt spid="106"/>
                                        </p:tgtEl>
                                        <p:attrNameLst>
                                          <p:attrName>style.visibility</p:attrName>
                                        </p:attrNameLst>
                                      </p:cBhvr>
                                      <p:to>
                                        <p:strVal val="visible"/>
                                      </p:to>
                                    </p:set>
                                    <p:anim calcmode="lin" valueType="num">
                                      <p:cBhvr additive="base">
                                        <p:cTn id="40"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41" dur="500" decel="100000" fill="hold"/>
                                        <p:tgtEl>
                                          <p:spTgt spid="106"/>
                                        </p:tgtEl>
                                        <p:attrNameLst>
                                          <p:attrName>ppt_h</p:attrName>
                                        </p:attrNameLst>
                                      </p:cBhvr>
                                      <p:tavLst>
                                        <p:tav tm="0">
                                          <p:val>
                                            <p:strVal val="#ppt_h*0.3"/>
                                          </p:val>
                                        </p:tav>
                                        <p:tav tm="100000">
                                          <p:val>
                                            <p:strVal val="#ppt_h*1.08"/>
                                          </p:val>
                                        </p:tav>
                                      </p:tavLst>
                                    </p:anim>
                                    <p:animEffect transition="in" filter="fade">
                                      <p:cBhvr>
                                        <p:cTn id="42" dur="250"/>
                                        <p:tgtEl>
                                          <p:spTgt spid="106"/>
                                        </p:tgtEl>
                                      </p:cBhvr>
                                    </p:animEffect>
                                    <p:anim calcmode="lin" valueType="num">
                                      <p:cBhvr additive="base">
                                        <p:cTn id="43"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44"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par>
                                <p:cTn id="45" presetID="53" presetClass="entr" presetSubtype="16" fill="hold" grpId="0" nodeType="withEffect">
                                  <p:stCondLst>
                                    <p:cond delay="560"/>
                                  </p:stCondLst>
                                  <p:childTnLst>
                                    <p:set>
                                      <p:cBhvr>
                                        <p:cTn id="46" dur="1" fill="hold">
                                          <p:stCondLst>
                                            <p:cond delay="0"/>
                                          </p:stCondLst>
                                        </p:cTn>
                                        <p:tgtEl>
                                          <p:spTgt spid="107"/>
                                        </p:tgtEl>
                                        <p:attrNameLst>
                                          <p:attrName>style.visibility</p:attrName>
                                        </p:attrNameLst>
                                      </p:cBhvr>
                                      <p:to>
                                        <p:strVal val="visible"/>
                                      </p:to>
                                    </p:set>
                                    <p:anim calcmode="lin" valueType="num">
                                      <p:cBhvr additive="base">
                                        <p:cTn id="47" dur="50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48" dur="500" decel="100000" fill="hold"/>
                                        <p:tgtEl>
                                          <p:spTgt spid="107"/>
                                        </p:tgtEl>
                                        <p:attrNameLst>
                                          <p:attrName>ppt_h</p:attrName>
                                        </p:attrNameLst>
                                      </p:cBhvr>
                                      <p:tavLst>
                                        <p:tav tm="0">
                                          <p:val>
                                            <p:strVal val="#ppt_h*0.3"/>
                                          </p:val>
                                        </p:tav>
                                        <p:tav tm="100000">
                                          <p:val>
                                            <p:strVal val="#ppt_h*1.08"/>
                                          </p:val>
                                        </p:tav>
                                      </p:tavLst>
                                    </p:anim>
                                    <p:animEffect transition="in" filter="fade">
                                      <p:cBhvr>
                                        <p:cTn id="49" dur="250"/>
                                        <p:tgtEl>
                                          <p:spTgt spid="107"/>
                                        </p:tgtEl>
                                      </p:cBhvr>
                                    </p:animEffect>
                                    <p:anim calcmode="lin" valueType="num">
                                      <p:cBhvr additive="base">
                                        <p:cTn id="50" dur="160" fill="hold">
                                          <p:stCondLst>
                                            <p:cond delay="500"/>
                                          </p:stCondLst>
                                        </p:cTn>
                                        <p:tgtEl>
                                          <p:spTgt spid="107"/>
                                        </p:tgtEl>
                                        <p:attrNameLst>
                                          <p:attrName>ppt_w</p:attrName>
                                        </p:attrNameLst>
                                      </p:cBhvr>
                                      <p:tavLst>
                                        <p:tav tm="0">
                                          <p:val>
                                            <p:strVal val="#ppt_w*1.08"/>
                                          </p:val>
                                        </p:tav>
                                        <p:tav tm="100000">
                                          <p:val>
                                            <p:strVal val="#ppt_w"/>
                                          </p:val>
                                        </p:tav>
                                      </p:tavLst>
                                    </p:anim>
                                    <p:anim calcmode="lin" valueType="num">
                                      <p:cBhvr additive="base">
                                        <p:cTn id="51" dur="160" fill="hold">
                                          <p:stCondLst>
                                            <p:cond delay="500"/>
                                          </p:stCondLst>
                                        </p:cTn>
                                        <p:tgtEl>
                                          <p:spTgt spid="107"/>
                                        </p:tgtEl>
                                        <p:attrNameLst>
                                          <p:attrName>ppt_h</p:attrName>
                                        </p:attrNameLst>
                                      </p:cBhvr>
                                      <p:tavLst>
                                        <p:tav tm="0">
                                          <p:val>
                                            <p:strVal val="#ppt_h*1.08"/>
                                          </p:val>
                                        </p:tav>
                                        <p:tav tm="100000">
                                          <p:val>
                                            <p:strVal val="#ppt_h"/>
                                          </p:val>
                                        </p:tav>
                                      </p:tavLst>
                                    </p:anim>
                                  </p:childTnLst>
                                </p:cTn>
                              </p:par>
                              <p:par>
                                <p:cTn id="52" presetID="53" presetClass="entr" presetSubtype="16" fill="hold" grpId="0" nodeType="withEffect">
                                  <p:stCondLst>
                                    <p:cond delay="700"/>
                                  </p:stCondLst>
                                  <p:childTnLst>
                                    <p:set>
                                      <p:cBhvr>
                                        <p:cTn id="53" dur="1" fill="hold">
                                          <p:stCondLst>
                                            <p:cond delay="0"/>
                                          </p:stCondLst>
                                        </p:cTn>
                                        <p:tgtEl>
                                          <p:spTgt spid="108"/>
                                        </p:tgtEl>
                                        <p:attrNameLst>
                                          <p:attrName>style.visibility</p:attrName>
                                        </p:attrNameLst>
                                      </p:cBhvr>
                                      <p:to>
                                        <p:strVal val="visible"/>
                                      </p:to>
                                    </p:set>
                                    <p:anim calcmode="lin" valueType="num">
                                      <p:cBhvr additive="base">
                                        <p:cTn id="54" dur="50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55" dur="500" decel="100000" fill="hold"/>
                                        <p:tgtEl>
                                          <p:spTgt spid="108"/>
                                        </p:tgtEl>
                                        <p:attrNameLst>
                                          <p:attrName>ppt_h</p:attrName>
                                        </p:attrNameLst>
                                      </p:cBhvr>
                                      <p:tavLst>
                                        <p:tav tm="0">
                                          <p:val>
                                            <p:strVal val="#ppt_h*0.3"/>
                                          </p:val>
                                        </p:tav>
                                        <p:tav tm="100000">
                                          <p:val>
                                            <p:strVal val="#ppt_h*1.08"/>
                                          </p:val>
                                        </p:tav>
                                      </p:tavLst>
                                    </p:anim>
                                    <p:animEffect transition="in" filter="fade">
                                      <p:cBhvr>
                                        <p:cTn id="56" dur="250"/>
                                        <p:tgtEl>
                                          <p:spTgt spid="108"/>
                                        </p:tgtEl>
                                      </p:cBhvr>
                                    </p:animEffect>
                                    <p:anim calcmode="lin" valueType="num">
                                      <p:cBhvr additive="base">
                                        <p:cTn id="57" dur="160" fill="hold">
                                          <p:stCondLst>
                                            <p:cond delay="500"/>
                                          </p:stCondLst>
                                        </p:cTn>
                                        <p:tgtEl>
                                          <p:spTgt spid="108"/>
                                        </p:tgtEl>
                                        <p:attrNameLst>
                                          <p:attrName>ppt_w</p:attrName>
                                        </p:attrNameLst>
                                      </p:cBhvr>
                                      <p:tavLst>
                                        <p:tav tm="0">
                                          <p:val>
                                            <p:strVal val="#ppt_w*1.08"/>
                                          </p:val>
                                        </p:tav>
                                        <p:tav tm="100000">
                                          <p:val>
                                            <p:strVal val="#ppt_w"/>
                                          </p:val>
                                        </p:tav>
                                      </p:tavLst>
                                    </p:anim>
                                    <p:anim calcmode="lin" valueType="num">
                                      <p:cBhvr additive="base">
                                        <p:cTn id="58" dur="160" fill="hold">
                                          <p:stCondLst>
                                            <p:cond delay="500"/>
                                          </p:stCondLst>
                                        </p:cTn>
                                        <p:tgtEl>
                                          <p:spTgt spid="108"/>
                                        </p:tgtEl>
                                        <p:attrNameLst>
                                          <p:attrName>ppt_h</p:attrName>
                                        </p:attrNameLst>
                                      </p:cBhvr>
                                      <p:tavLst>
                                        <p:tav tm="0">
                                          <p:val>
                                            <p:strVal val="#ppt_h*1.08"/>
                                          </p:val>
                                        </p:tav>
                                        <p:tav tm="100000">
                                          <p:val>
                                            <p:strVal val="#ppt_h"/>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109"/>
                                        </p:tgtEl>
                                        <p:attrNameLst>
                                          <p:attrName>style.visibility</p:attrName>
                                        </p:attrNameLst>
                                      </p:cBhvr>
                                      <p:to>
                                        <p:strVal val="visible"/>
                                      </p:to>
                                    </p:set>
                                    <p:animEffect transition="in" filter="fade">
                                      <p:cBhvr>
                                        <p:cTn id="63" dur="500"/>
                                        <p:tgtEl>
                                          <p:spTgt spid="109"/>
                                        </p:tgtEl>
                                      </p:cBhvr>
                                    </p:animEffect>
                                    <p:anim calcmode="lin" valueType="num">
                                      <p:cBhvr additive="base">
                                        <p:cTn id="64" dur="500" decel="100000" fill="hold"/>
                                        <p:tgtEl>
                                          <p:spTgt spid="109"/>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0"/>
                                        </p:tgtEl>
                                        <p:attrNameLst>
                                          <p:attrName>style.visibility</p:attrName>
                                        </p:attrNameLst>
                                      </p:cBhvr>
                                      <p:to>
                                        <p:strVal val="visible"/>
                                      </p:to>
                                    </p:set>
                                    <p:animEffect transition="in" filter="fade">
                                      <p:cBhvr>
                                        <p:cTn id="67" dur="500"/>
                                        <p:tgtEl>
                                          <p:spTgt spid="110"/>
                                        </p:tgtEl>
                                      </p:cBhvr>
                                    </p:animEffect>
                                    <p:anim calcmode="lin" valueType="num">
                                      <p:cBhvr additive="base">
                                        <p:cTn id="68" dur="500" decel="100000" fill="hold"/>
                                        <p:tgtEl>
                                          <p:spTgt spid="110"/>
                                        </p:tgtEl>
                                        <p:attrNameLst>
                                          <p:attrName>ppt_y</p:attrName>
                                        </p:attrNameLst>
                                      </p:cBhvr>
                                      <p:tavLst>
                                        <p:tav tm="0">
                                          <p:val>
                                            <p:strVal val="#ppt_y+0.06"/>
                                          </p:val>
                                        </p:tav>
                                        <p:tav tm="100000">
                                          <p:val>
                                            <p:strVal val="#ppt_y"/>
                                          </p:val>
                                        </p:tav>
                                      </p:tavLst>
                                    </p:anim>
                                  </p:childTnLst>
                                </p:cTn>
                              </p:par>
                              <p:par>
                                <p:cTn id="69" presetID="42" presetClass="entr" presetSubtype="0" fill="hold" nodeType="withEffect">
                                  <p:stCondLst>
                                    <p:cond delay="0"/>
                                  </p:stCondLst>
                                  <p:childTnLst>
                                    <p:set>
                                      <p:cBhvr>
                                        <p:cTn id="70" dur="1" fill="hold">
                                          <p:stCondLst>
                                            <p:cond delay="0"/>
                                          </p:stCondLst>
                                        </p:cTn>
                                        <p:tgtEl>
                                          <p:spTgt spid="111"/>
                                        </p:tgtEl>
                                        <p:attrNameLst>
                                          <p:attrName>style.visibility</p:attrName>
                                        </p:attrNameLst>
                                      </p:cBhvr>
                                      <p:to>
                                        <p:strVal val="visible"/>
                                      </p:to>
                                    </p:set>
                                    <p:animEffect transition="in" filter="fade">
                                      <p:cBhvr>
                                        <p:cTn id="71" dur="500"/>
                                        <p:tgtEl>
                                          <p:spTgt spid="111"/>
                                        </p:tgtEl>
                                      </p:cBhvr>
                                    </p:animEffect>
                                    <p:anim calcmode="lin" valueType="num">
                                      <p:cBhvr additive="base">
                                        <p:cTn id="72" dur="500" decel="100000" fill="hold"/>
                                        <p:tgtEl>
                                          <p:spTgt spid="111"/>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2"/>
                                        </p:tgtEl>
                                        <p:attrNameLst>
                                          <p:attrName>style.visibility</p:attrName>
                                        </p:attrNameLst>
                                      </p:cBhvr>
                                      <p:to>
                                        <p:strVal val="visible"/>
                                      </p:to>
                                    </p:set>
                                    <p:animEffect transition="in" filter="fade">
                                      <p:cBhvr>
                                        <p:cTn id="75" dur="500"/>
                                        <p:tgtEl>
                                          <p:spTgt spid="112"/>
                                        </p:tgtEl>
                                      </p:cBhvr>
                                    </p:animEffect>
                                    <p:anim calcmode="lin" valueType="num">
                                      <p:cBhvr additive="base">
                                        <p:cTn id="76" dur="500" decel="100000" fill="hold"/>
                                        <p:tgtEl>
                                          <p:spTgt spid="112"/>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113"/>
                                        </p:tgtEl>
                                        <p:attrNameLst>
                                          <p:attrName>style.visibility</p:attrName>
                                        </p:attrNameLst>
                                      </p:cBhvr>
                                      <p:to>
                                        <p:strVal val="visible"/>
                                      </p:to>
                                    </p:set>
                                    <p:animEffect transition="in" filter="fade">
                                      <p:cBhvr>
                                        <p:cTn id="79" dur="500"/>
                                        <p:tgtEl>
                                          <p:spTgt spid="113"/>
                                        </p:tgtEl>
                                      </p:cBhvr>
                                    </p:animEffect>
                                    <p:anim calcmode="lin" valueType="num">
                                      <p:cBhvr additive="base">
                                        <p:cTn id="80" dur="500" decel="100000" fill="hold"/>
                                        <p:tgtEl>
                                          <p:spTgt spid="113"/>
                                        </p:tgtEl>
                                        <p:attrNameLst>
                                          <p:attrName>ppt_y</p:attrName>
                                        </p:attrNameLst>
                                      </p:cBhvr>
                                      <p:tavLst>
                                        <p:tav tm="0">
                                          <p:val>
                                            <p:strVal val="#ppt_y+0.06"/>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42" presetClass="entr" presetSubtype="0" fill="hold" grpId="0" nodeType="clickEffect">
                                  <p:stCondLst>
                                    <p:cond delay="0"/>
                                  </p:stCondLst>
                                  <p:childTnLst>
                                    <p:set>
                                      <p:cBhvr>
                                        <p:cTn id="84" dur="1" fill="hold">
                                          <p:stCondLst>
                                            <p:cond delay="0"/>
                                          </p:stCondLst>
                                        </p:cTn>
                                        <p:tgtEl>
                                          <p:spTgt spid="114"/>
                                        </p:tgtEl>
                                        <p:attrNameLst>
                                          <p:attrName>style.visibility</p:attrName>
                                        </p:attrNameLst>
                                      </p:cBhvr>
                                      <p:to>
                                        <p:strVal val="visible"/>
                                      </p:to>
                                    </p:set>
                                    <p:animEffect transition="in" filter="fade">
                                      <p:cBhvr>
                                        <p:cTn id="85" dur="500"/>
                                        <p:tgtEl>
                                          <p:spTgt spid="114"/>
                                        </p:tgtEl>
                                      </p:cBhvr>
                                    </p:animEffect>
                                    <p:anim calcmode="lin" valueType="num">
                                      <p:cBhvr additive="base">
                                        <p:cTn id="86" dur="500" decel="100000" fill="hold"/>
                                        <p:tgtEl>
                                          <p:spTgt spid="114"/>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15"/>
                                        </p:tgtEl>
                                        <p:attrNameLst>
                                          <p:attrName>style.visibility</p:attrName>
                                        </p:attrNameLst>
                                      </p:cBhvr>
                                      <p:to>
                                        <p:strVal val="visible"/>
                                      </p:to>
                                    </p:set>
                                    <p:animEffect transition="in" filter="fade">
                                      <p:cBhvr>
                                        <p:cTn id="89" dur="500"/>
                                        <p:tgtEl>
                                          <p:spTgt spid="115"/>
                                        </p:tgtEl>
                                      </p:cBhvr>
                                    </p:animEffect>
                                    <p:anim calcmode="lin" valueType="num">
                                      <p:cBhvr additive="base">
                                        <p:cTn id="90" dur="500" decel="100000" fill="hold"/>
                                        <p:tgtEl>
                                          <p:spTgt spid="115"/>
                                        </p:tgtEl>
                                        <p:attrNameLst>
                                          <p:attrName>ppt_y</p:attrName>
                                        </p:attrNameLst>
                                      </p:cBhvr>
                                      <p:tavLst>
                                        <p:tav tm="0">
                                          <p:val>
                                            <p:strVal val="#ppt_y+0.06"/>
                                          </p:val>
                                        </p:tav>
                                        <p:tav tm="100000">
                                          <p:val>
                                            <p:strVal val="#ppt_y"/>
                                          </p:val>
                                        </p:tav>
                                      </p:tavLst>
                                    </p:anim>
                                  </p:childTnLst>
                                </p:cTn>
                              </p:par>
                              <p:par>
                                <p:cTn id="91" presetID="42" presetClass="entr" presetSubtype="0" fill="hold" nodeType="withEffect">
                                  <p:stCondLst>
                                    <p:cond delay="0"/>
                                  </p:stCondLst>
                                  <p:childTnLst>
                                    <p:set>
                                      <p:cBhvr>
                                        <p:cTn id="92" dur="1" fill="hold">
                                          <p:stCondLst>
                                            <p:cond delay="0"/>
                                          </p:stCondLst>
                                        </p:cTn>
                                        <p:tgtEl>
                                          <p:spTgt spid="116"/>
                                        </p:tgtEl>
                                        <p:attrNameLst>
                                          <p:attrName>style.visibility</p:attrName>
                                        </p:attrNameLst>
                                      </p:cBhvr>
                                      <p:to>
                                        <p:strVal val="visible"/>
                                      </p:to>
                                    </p:set>
                                    <p:animEffect transition="in" filter="fade">
                                      <p:cBhvr>
                                        <p:cTn id="93" dur="500"/>
                                        <p:tgtEl>
                                          <p:spTgt spid="116"/>
                                        </p:tgtEl>
                                      </p:cBhvr>
                                    </p:animEffect>
                                    <p:anim calcmode="lin" valueType="num">
                                      <p:cBhvr additive="base">
                                        <p:cTn id="94" dur="500" decel="100000" fill="hold"/>
                                        <p:tgtEl>
                                          <p:spTgt spid="116"/>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117"/>
                                        </p:tgtEl>
                                        <p:attrNameLst>
                                          <p:attrName>style.visibility</p:attrName>
                                        </p:attrNameLst>
                                      </p:cBhvr>
                                      <p:to>
                                        <p:strVal val="visible"/>
                                      </p:to>
                                    </p:set>
                                    <p:animEffect transition="in" filter="fade">
                                      <p:cBhvr>
                                        <p:cTn id="97" dur="500"/>
                                        <p:tgtEl>
                                          <p:spTgt spid="117"/>
                                        </p:tgtEl>
                                      </p:cBhvr>
                                    </p:animEffect>
                                    <p:anim calcmode="lin" valueType="num">
                                      <p:cBhvr additive="base">
                                        <p:cTn id="98" dur="500" decel="100000" fill="hold"/>
                                        <p:tgtEl>
                                          <p:spTgt spid="117"/>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118"/>
                                        </p:tgtEl>
                                        <p:attrNameLst>
                                          <p:attrName>style.visibility</p:attrName>
                                        </p:attrNameLst>
                                      </p:cBhvr>
                                      <p:to>
                                        <p:strVal val="visible"/>
                                      </p:to>
                                    </p:set>
                                    <p:animEffect transition="in" filter="fade">
                                      <p:cBhvr>
                                        <p:cTn id="101" dur="500"/>
                                        <p:tgtEl>
                                          <p:spTgt spid="118"/>
                                        </p:tgtEl>
                                      </p:cBhvr>
                                    </p:animEffect>
                                    <p:anim calcmode="lin" valueType="num">
                                      <p:cBhvr additive="base">
                                        <p:cTn id="102" dur="500" decel="100000" fill="hold"/>
                                        <p:tgtEl>
                                          <p:spTgt spid="11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2" grpId="0" animBg="1"/>
      <p:bldP spid="113" grpId="0" animBg="1"/>
      <p:bldP spid="114" grpId="0" animBg="1"/>
      <p:bldP spid="115" grpId="0" animBg="1"/>
      <p:bldP spid="117" grpId="0" animBg="1"/>
      <p:bldP spid="118"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BLOCKER</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Who Handles a Blocker?</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Omar cannot access staging. The team does not wait passively.</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273</a:t>
            </a:r>
            <a:endParaRPr lang="en-US" sz="850" dirty="0"/>
          </a:p>
        </p:txBody>
      </p:sp>
      <p:sp>
        <p:nvSpPr>
          <p:cNvPr id="101" name="s101"/>
          <p:cNvSpPr/>
          <p:nvPr/>
        </p:nvSpPr>
        <p:spPr>
          <a:xfrm>
            <a:off x="543154" y="1993392"/>
            <a:ext cx="566928" cy="566928"/>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13D0F7"/>
                </a:solidFill>
                <a:latin typeface="Segoe UI"/>
                <a:ea typeface="Segoe UI"/>
                <a:cs typeface="Segoe UI"/>
              </a:rPr>
              <a:t>O</a:t>
            </a:r>
            <a:endParaRPr lang="en-US" sz="1612" dirty="0"/>
          </a:p>
        </p:txBody>
      </p:sp>
      <p:sp>
        <p:nvSpPr>
          <p:cNvPr id="102" name="s102"/>
          <p:cNvSpPr/>
          <p:nvPr/>
        </p:nvSpPr>
        <p:spPr>
          <a:xfrm>
            <a:off x="1274674" y="1920240"/>
            <a:ext cx="10356494" cy="731520"/>
          </a:xfrm>
          <a:prstGeom prst="roundRect">
            <a:avLst>
              <a:gd name="adj" fmla="val 14000"/>
            </a:avLst>
          </a:prstGeom>
          <a:solidFill>
            <a:srgbClr val="111B2E"/>
          </a:solidFill>
          <a:ln w="12700">
            <a:solidFill>
              <a:srgbClr val="13D0F7"/>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13D0F7"/>
                </a:solidFill>
                <a:latin typeface="Segoe UI"/>
                <a:ea typeface="Segoe UI"/>
                <a:cs typeface="Segoe UI"/>
              </a:rPr>
              <a:t>Omar</a:t>
            </a:r>
            <a:r>
              <a:rPr lang="en-US" sz="1100" b="0" dirty="0">
                <a:solidFill>
                  <a:srgbClr val="94A3B8"/>
                </a:solidFill>
                <a:latin typeface="Segoe UI"/>
                <a:ea typeface="Segoe UI"/>
                <a:cs typeface="Segoe UI"/>
              </a:rPr>
              <a:t>  ·  Backend</a:t>
            </a:r>
            <a:endParaRPr lang="en-US" sz="1100" dirty="0"/>
          </a:p>
          <a:p>
            <a:pPr marL="0" indent="0" algn="l">
              <a:spcBef>
                <a:spcPts val="0"/>
              </a:spcBef>
              <a:spcAft>
                <a:spcPts val="0"/>
              </a:spcAft>
              <a:buNone/>
            </a:pPr>
            <a:r>
              <a:rPr lang="en-US" sz="1600" b="0" dirty="0">
                <a:solidFill>
                  <a:srgbClr val="FFFFFF"/>
                </a:solidFill>
                <a:latin typeface="Segoe UI"/>
                <a:ea typeface="Segoe UI"/>
                <a:cs typeface="Segoe UI"/>
              </a:rPr>
              <a:t>I cannot access the staging environment.</a:t>
            </a:r>
            <a:endParaRPr lang="en-US" sz="1600" dirty="0"/>
          </a:p>
        </p:txBody>
      </p:sp>
      <p:sp>
        <p:nvSpPr>
          <p:cNvPr id="103" name="s103"/>
          <p:cNvSpPr/>
          <p:nvPr/>
        </p:nvSpPr>
        <p:spPr>
          <a:xfrm>
            <a:off x="543154" y="2880360"/>
            <a:ext cx="2600554" cy="868680"/>
          </a:xfrm>
          <a:prstGeom prst="roundRect">
            <a:avLst>
              <a:gd name="adj" fmla="val 12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04" name="s104"/>
          <p:cNvSpPr/>
          <p:nvPr/>
        </p:nvSpPr>
        <p:spPr>
          <a:xfrm>
            <a:off x="726034" y="3063240"/>
            <a:ext cx="502920" cy="50292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05" name="img105"/>
          <p:cNvPicPr>
            <a:picLocks noChangeAspect="1"/>
          </p:cNvPicPr>
          <p:nvPr/>
        </p:nvPicPr>
        <p:blipFill>
          <a:blip r:embed="rId4"/>
          <a:stretch>
            <a:fillRect/>
          </a:stretch>
        </p:blipFill>
        <p:spPr>
          <a:xfrm>
            <a:off x="846734" y="3183941"/>
            <a:ext cx="261518" cy="261518"/>
          </a:xfrm>
          <a:prstGeom prst="rect">
            <a:avLst/>
          </a:prstGeom>
        </p:spPr>
      </p:pic>
      <p:sp>
        <p:nvSpPr>
          <p:cNvPr id="106" name="s106"/>
          <p:cNvSpPr txBox="1"/>
          <p:nvPr/>
        </p:nvSpPr>
        <p:spPr>
          <a:xfrm>
            <a:off x="1366114" y="2880360"/>
            <a:ext cx="1686154" cy="8686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13D0F7"/>
                </a:solidFill>
                <a:latin typeface="Segoe UI"/>
                <a:ea typeface="Segoe UI"/>
                <a:cs typeface="Segoe UI"/>
              </a:rPr>
              <a:t>Technical</a:t>
            </a:r>
            <a:endParaRPr lang="en-US" sz="1350" dirty="0"/>
          </a:p>
        </p:txBody>
      </p:sp>
      <p:cxnSp>
        <p:nvCxnSpPr>
          <p:cNvPr id="107" name="ln107"/>
          <p:cNvCxnSpPr/>
          <p:nvPr/>
        </p:nvCxnSpPr>
        <p:spPr>
          <a:xfrm>
            <a:off x="1843430" y="3794760"/>
            <a:ext cx="0" cy="320040"/>
          </a:xfrm>
          <a:prstGeom prst="line">
            <a:avLst/>
          </a:prstGeom>
          <a:ln w="25400">
            <a:solidFill>
              <a:srgbClr val="13D0F7"/>
            </a:solidFill>
            <a:tailEnd type="triangle" w="med" len="med"/>
          </a:ln>
        </p:spPr>
      </p:cxnSp>
      <p:sp>
        <p:nvSpPr>
          <p:cNvPr id="108" name="s108"/>
          <p:cNvSpPr/>
          <p:nvPr/>
        </p:nvSpPr>
        <p:spPr>
          <a:xfrm>
            <a:off x="543154" y="4160520"/>
            <a:ext cx="2600554" cy="548640"/>
          </a:xfrm>
          <a:prstGeom prst="roundRect">
            <a:avLst>
              <a:gd name="adj" fmla="val 30000"/>
            </a:avLst>
          </a:prstGeom>
          <a:solidFill>
            <a:srgbClr val="13D0F7">
              <a:alpha val="14000"/>
            </a:srgbClr>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Developers collaborate</a:t>
            </a:r>
            <a:endParaRPr lang="en-US" sz="1250" dirty="0"/>
          </a:p>
        </p:txBody>
      </p:sp>
      <p:sp>
        <p:nvSpPr>
          <p:cNvPr id="109" name="s109"/>
          <p:cNvSpPr/>
          <p:nvPr/>
        </p:nvSpPr>
        <p:spPr>
          <a:xfrm>
            <a:off x="3372307" y="2880360"/>
            <a:ext cx="2600554" cy="868680"/>
          </a:xfrm>
          <a:prstGeom prst="roundRect">
            <a:avLst>
              <a:gd name="adj" fmla="val 12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10" name="s110"/>
          <p:cNvSpPr/>
          <p:nvPr/>
        </p:nvSpPr>
        <p:spPr>
          <a:xfrm>
            <a:off x="3555187" y="3063240"/>
            <a:ext cx="502920" cy="50292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1" name="img111"/>
          <p:cNvPicPr>
            <a:picLocks noChangeAspect="1"/>
          </p:cNvPicPr>
          <p:nvPr/>
        </p:nvPicPr>
        <p:blipFill>
          <a:blip r:embed="rId5"/>
          <a:stretch>
            <a:fillRect/>
          </a:stretch>
        </p:blipFill>
        <p:spPr>
          <a:xfrm>
            <a:off x="3675888" y="3183941"/>
            <a:ext cx="261518" cy="261518"/>
          </a:xfrm>
          <a:prstGeom prst="rect">
            <a:avLst/>
          </a:prstGeom>
        </p:spPr>
      </p:pic>
      <p:sp>
        <p:nvSpPr>
          <p:cNvPr id="112" name="s112"/>
          <p:cNvSpPr txBox="1"/>
          <p:nvPr/>
        </p:nvSpPr>
        <p:spPr>
          <a:xfrm>
            <a:off x="4195267" y="2880360"/>
            <a:ext cx="1686154" cy="8686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FBBF24"/>
                </a:solidFill>
                <a:latin typeface="Segoe UI"/>
                <a:ea typeface="Segoe UI"/>
                <a:cs typeface="Segoe UI"/>
              </a:rPr>
              <a:t>Product clarification</a:t>
            </a:r>
            <a:endParaRPr lang="en-US" sz="1350" dirty="0"/>
          </a:p>
        </p:txBody>
      </p:sp>
      <p:cxnSp>
        <p:nvCxnSpPr>
          <p:cNvPr id="113" name="ln113"/>
          <p:cNvCxnSpPr/>
          <p:nvPr/>
        </p:nvCxnSpPr>
        <p:spPr>
          <a:xfrm>
            <a:off x="4672584" y="3794760"/>
            <a:ext cx="0" cy="320040"/>
          </a:xfrm>
          <a:prstGeom prst="line">
            <a:avLst/>
          </a:prstGeom>
          <a:ln w="25400">
            <a:solidFill>
              <a:srgbClr val="FBBF24"/>
            </a:solidFill>
            <a:tailEnd type="triangle" w="med" len="med"/>
          </a:ln>
        </p:spPr>
      </p:cxnSp>
      <p:sp>
        <p:nvSpPr>
          <p:cNvPr id="114" name="s114"/>
          <p:cNvSpPr/>
          <p:nvPr/>
        </p:nvSpPr>
        <p:spPr>
          <a:xfrm>
            <a:off x="3372307" y="4160520"/>
            <a:ext cx="2600554" cy="548640"/>
          </a:xfrm>
          <a:prstGeom prst="roundRect">
            <a:avLst>
              <a:gd name="adj" fmla="val 30000"/>
            </a:avLst>
          </a:prstGeom>
          <a:solidFill>
            <a:srgbClr val="FBBF24">
              <a:alpha val="14000"/>
            </a:srgbClr>
          </a:solidFill>
          <a:ln w="12700">
            <a:solidFill>
              <a:srgbClr val="FBBF24"/>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Product Owner responds</a:t>
            </a:r>
            <a:endParaRPr lang="en-US" sz="1250" dirty="0"/>
          </a:p>
        </p:txBody>
      </p:sp>
      <p:sp>
        <p:nvSpPr>
          <p:cNvPr id="115" name="s115"/>
          <p:cNvSpPr/>
          <p:nvPr/>
        </p:nvSpPr>
        <p:spPr>
          <a:xfrm>
            <a:off x="6201461" y="2880360"/>
            <a:ext cx="2600554" cy="868680"/>
          </a:xfrm>
          <a:prstGeom prst="roundRect">
            <a:avLst>
              <a:gd name="adj" fmla="val 12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16" name="s116"/>
          <p:cNvSpPr/>
          <p:nvPr/>
        </p:nvSpPr>
        <p:spPr>
          <a:xfrm>
            <a:off x="6384341" y="3063240"/>
            <a:ext cx="502920" cy="50292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17" name="img117"/>
          <p:cNvPicPr>
            <a:picLocks noChangeAspect="1"/>
          </p:cNvPicPr>
          <p:nvPr/>
        </p:nvPicPr>
        <p:blipFill>
          <a:blip r:embed="rId6"/>
          <a:stretch>
            <a:fillRect/>
          </a:stretch>
        </p:blipFill>
        <p:spPr>
          <a:xfrm>
            <a:off x="6505042" y="3183941"/>
            <a:ext cx="261518" cy="261518"/>
          </a:xfrm>
          <a:prstGeom prst="rect">
            <a:avLst/>
          </a:prstGeom>
        </p:spPr>
      </p:pic>
      <p:sp>
        <p:nvSpPr>
          <p:cNvPr id="118" name="s118"/>
          <p:cNvSpPr txBox="1"/>
          <p:nvPr/>
        </p:nvSpPr>
        <p:spPr>
          <a:xfrm>
            <a:off x="7024421" y="2880360"/>
            <a:ext cx="1686154" cy="8686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A78BFA"/>
                </a:solidFill>
                <a:latin typeface="Segoe UI"/>
                <a:ea typeface="Segoe UI"/>
                <a:cs typeface="Segoe UI"/>
              </a:rPr>
              <a:t>Org / process</a:t>
            </a:r>
            <a:endParaRPr lang="en-US" sz="1350" dirty="0"/>
          </a:p>
        </p:txBody>
      </p:sp>
      <p:cxnSp>
        <p:nvCxnSpPr>
          <p:cNvPr id="119" name="ln119"/>
          <p:cNvCxnSpPr/>
          <p:nvPr/>
        </p:nvCxnSpPr>
        <p:spPr>
          <a:xfrm>
            <a:off x="7501738" y="3794760"/>
            <a:ext cx="0" cy="320040"/>
          </a:xfrm>
          <a:prstGeom prst="line">
            <a:avLst/>
          </a:prstGeom>
          <a:ln w="25400">
            <a:solidFill>
              <a:srgbClr val="A78BFA"/>
            </a:solidFill>
            <a:tailEnd type="triangle" w="med" len="med"/>
          </a:ln>
        </p:spPr>
      </p:cxnSp>
      <p:sp>
        <p:nvSpPr>
          <p:cNvPr id="120" name="s120"/>
          <p:cNvSpPr/>
          <p:nvPr/>
        </p:nvSpPr>
        <p:spPr>
          <a:xfrm>
            <a:off x="6201461" y="4160520"/>
            <a:ext cx="2600554" cy="548640"/>
          </a:xfrm>
          <a:prstGeom prst="roundRect">
            <a:avLst>
              <a:gd name="adj" fmla="val 30000"/>
            </a:avLst>
          </a:prstGeom>
          <a:solidFill>
            <a:srgbClr val="A78BFA">
              <a:alpha val="14000"/>
            </a:srgbClr>
          </a:solidFill>
          <a:ln w="12700">
            <a:solidFill>
              <a:srgbClr val="A78BFA"/>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Scrum Master helps</a:t>
            </a:r>
            <a:endParaRPr lang="en-US" sz="1250" dirty="0"/>
          </a:p>
        </p:txBody>
      </p:sp>
      <p:sp>
        <p:nvSpPr>
          <p:cNvPr id="121" name="s121"/>
          <p:cNvSpPr/>
          <p:nvPr/>
        </p:nvSpPr>
        <p:spPr>
          <a:xfrm>
            <a:off x="9030614" y="2880360"/>
            <a:ext cx="2600554" cy="868680"/>
          </a:xfrm>
          <a:prstGeom prst="roundRect">
            <a:avLst>
              <a:gd name="adj" fmla="val 12000"/>
            </a:avLst>
          </a:prstGeom>
          <a:solidFill>
            <a:srgbClr val="111B2E"/>
          </a:solidFill>
          <a:ln w="12700">
            <a:solidFill>
              <a:srgbClr val="F0A98B"/>
            </a:solidFill>
            <a:prstDash val="solid"/>
          </a:ln>
        </p:spPr>
        <p:txBody>
          <a:bodyPr wrap="square" lIns="164592" tIns="109728" rIns="137160" bIns="91440" rtlCol="0" anchor="t">
            <a:noAutofit/>
          </a:bodyPr>
          <a:lstStyle/>
          <a:p>
            <a:endParaRPr lang="en-US"/>
          </a:p>
        </p:txBody>
      </p:sp>
      <p:sp>
        <p:nvSpPr>
          <p:cNvPr id="122" name="s122"/>
          <p:cNvSpPr/>
          <p:nvPr/>
        </p:nvSpPr>
        <p:spPr>
          <a:xfrm>
            <a:off x="9213494" y="3063240"/>
            <a:ext cx="502920" cy="502920"/>
          </a:xfrm>
          <a:prstGeom prst="ellipse">
            <a:avLst/>
          </a:prstGeom>
          <a:solidFill>
            <a:srgbClr val="F0A98B">
              <a:alpha val="16000"/>
            </a:srgbClr>
          </a:solidFill>
          <a:ln w="12700">
            <a:solidFill>
              <a:srgbClr val="F0A98B">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7"/>
          <a:stretch>
            <a:fillRect/>
          </a:stretch>
        </p:blipFill>
        <p:spPr>
          <a:xfrm>
            <a:off x="9334195" y="3183941"/>
            <a:ext cx="261518" cy="261518"/>
          </a:xfrm>
          <a:prstGeom prst="rect">
            <a:avLst/>
          </a:prstGeom>
        </p:spPr>
      </p:pic>
      <p:sp>
        <p:nvSpPr>
          <p:cNvPr id="124" name="s124"/>
          <p:cNvSpPr txBox="1"/>
          <p:nvPr/>
        </p:nvSpPr>
        <p:spPr>
          <a:xfrm>
            <a:off x="9853574" y="2880360"/>
            <a:ext cx="1686154" cy="8686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1" dirty="0">
                <a:solidFill>
                  <a:srgbClr val="F0A98B"/>
                </a:solidFill>
                <a:latin typeface="Segoe UI"/>
                <a:ea typeface="Segoe UI"/>
                <a:cs typeface="Segoe UI"/>
              </a:rPr>
              <a:t>External vendor</a:t>
            </a:r>
            <a:endParaRPr lang="en-US" sz="1350" dirty="0"/>
          </a:p>
        </p:txBody>
      </p:sp>
      <p:cxnSp>
        <p:nvCxnSpPr>
          <p:cNvPr id="125" name="ln125"/>
          <p:cNvCxnSpPr/>
          <p:nvPr/>
        </p:nvCxnSpPr>
        <p:spPr>
          <a:xfrm>
            <a:off x="10330891" y="3794760"/>
            <a:ext cx="0" cy="320040"/>
          </a:xfrm>
          <a:prstGeom prst="line">
            <a:avLst/>
          </a:prstGeom>
          <a:ln w="25400">
            <a:solidFill>
              <a:srgbClr val="F0A98B"/>
            </a:solidFill>
            <a:tailEnd type="triangle" w="med" len="med"/>
          </a:ln>
        </p:spPr>
      </p:cxnSp>
      <p:sp>
        <p:nvSpPr>
          <p:cNvPr id="126" name="s126"/>
          <p:cNvSpPr/>
          <p:nvPr/>
        </p:nvSpPr>
        <p:spPr>
          <a:xfrm>
            <a:off x="9030614" y="4160520"/>
            <a:ext cx="2600554" cy="548640"/>
          </a:xfrm>
          <a:prstGeom prst="roundRect">
            <a:avLst>
              <a:gd name="adj" fmla="val 30000"/>
            </a:avLst>
          </a:prstGeom>
          <a:solidFill>
            <a:srgbClr val="F0A98B">
              <a:alpha val="14000"/>
            </a:srgbClr>
          </a:solidFill>
          <a:ln w="12700">
            <a:solidFill>
              <a:srgbClr val="F0A98B"/>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PO + SM coordinate</a:t>
            </a:r>
            <a:endParaRPr lang="en-US" sz="1250" dirty="0"/>
          </a:p>
        </p:txBody>
      </p:sp>
      <p:sp>
        <p:nvSpPr>
          <p:cNvPr id="127" name="s127"/>
          <p:cNvSpPr/>
          <p:nvPr/>
        </p:nvSpPr>
        <p:spPr>
          <a:xfrm>
            <a:off x="543154" y="4937760"/>
            <a:ext cx="11088014" cy="777240"/>
          </a:xfrm>
          <a:prstGeom prst="roundRect">
            <a:avLst>
              <a:gd name="adj" fmla="val 12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28" name="s128"/>
          <p:cNvSpPr txBox="1"/>
          <p:nvPr/>
        </p:nvSpPr>
        <p:spPr>
          <a:xfrm>
            <a:off x="771754" y="5029200"/>
            <a:ext cx="18288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1" dirty="0">
                <a:solidFill>
                  <a:srgbClr val="FBBF24"/>
                </a:solidFill>
                <a:latin typeface="Segoe UI"/>
                <a:ea typeface="Segoe UI"/>
                <a:cs typeface="Segoe UI"/>
              </a:rPr>
              <a:t>ASK THE CLASS</a:t>
            </a:r>
            <a:endParaRPr lang="en-US" sz="1000" dirty="0"/>
          </a:p>
        </p:txBody>
      </p:sp>
      <p:sp>
        <p:nvSpPr>
          <p:cNvPr id="129" name="s129"/>
          <p:cNvSpPr txBox="1"/>
          <p:nvPr/>
        </p:nvSpPr>
        <p:spPr>
          <a:xfrm>
            <a:off x="771754" y="5266944"/>
            <a:ext cx="5322247" cy="39319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FFFFFF"/>
                </a:solidFill>
                <a:latin typeface="Segoe UI"/>
                <a:ea typeface="Segoe UI"/>
                <a:cs typeface="Segoe UI"/>
              </a:rPr>
              <a:t>Should the Scrum Master assign the blocker to someone?</a:t>
            </a:r>
            <a:endParaRPr lang="en-US" sz="1400" dirty="0"/>
          </a:p>
        </p:txBody>
      </p:sp>
      <p:sp>
        <p:nvSpPr>
          <p:cNvPr id="130" name="s130"/>
          <p:cNvSpPr txBox="1"/>
          <p:nvPr/>
        </p:nvSpPr>
        <p:spPr>
          <a:xfrm>
            <a:off x="6087161" y="5029200"/>
            <a:ext cx="5322247" cy="5943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  No. Developers act first; Adam helps remove or escalate impediments.</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anim calcmode="lin" valueType="num">
                                      <p:cBhvr additive="base">
                                        <p:cTn id="18" dur="500" decel="100000" fill="hold"/>
                                        <p:tgtEl>
                                          <p:spTgt spid="103"/>
                                        </p:tgtEl>
                                        <p:attrNameLst>
                                          <p:attrName>ppt_y</p:attrName>
                                        </p:attrNameLst>
                                      </p:cBhvr>
                                      <p:tavLst>
                                        <p:tav tm="0">
                                          <p:val>
                                            <p:strVal val="#ppt_y+0.06"/>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04"/>
                                        </p:tgtEl>
                                        <p:attrNameLst>
                                          <p:attrName>style.visibility</p:attrName>
                                        </p:attrNameLst>
                                      </p:cBhvr>
                                      <p:to>
                                        <p:strVal val="visible"/>
                                      </p:to>
                                    </p:set>
                                    <p:animEffect transition="in" filter="fade">
                                      <p:cBhvr>
                                        <p:cTn id="21" dur="500"/>
                                        <p:tgtEl>
                                          <p:spTgt spid="104"/>
                                        </p:tgtEl>
                                      </p:cBhvr>
                                    </p:animEffect>
                                    <p:anim calcmode="lin" valueType="num">
                                      <p:cBhvr additive="base">
                                        <p:cTn id="22" dur="500" decel="100000" fill="hold"/>
                                        <p:tgtEl>
                                          <p:spTgt spid="104"/>
                                        </p:tgtEl>
                                        <p:attrNameLst>
                                          <p:attrName>ppt_y</p:attrName>
                                        </p:attrNameLst>
                                      </p:cBhvr>
                                      <p:tavLst>
                                        <p:tav tm="0">
                                          <p:val>
                                            <p:strVal val="#ppt_y+0.06"/>
                                          </p:val>
                                        </p:tav>
                                        <p:tav tm="100000">
                                          <p:val>
                                            <p:strVal val="#ppt_y"/>
                                          </p:val>
                                        </p:tav>
                                      </p:tavLst>
                                    </p:anim>
                                  </p:childTnLst>
                                </p:cTn>
                              </p:par>
                              <p:par>
                                <p:cTn id="23" presetID="42" presetClass="entr" presetSubtype="0" fill="hold" nodeType="withEffect">
                                  <p:stCondLst>
                                    <p:cond delay="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22" presetClass="entr" presetSubtype="1" fill="hold" nodeType="withEffect">
                                  <p:stCondLst>
                                    <p:cond delay="150"/>
                                  </p:stCondLst>
                                  <p:childTnLst>
                                    <p:set>
                                      <p:cBhvr>
                                        <p:cTn id="32" dur="1" fill="hold">
                                          <p:stCondLst>
                                            <p:cond delay="0"/>
                                          </p:stCondLst>
                                        </p:cTn>
                                        <p:tgtEl>
                                          <p:spTgt spid="107"/>
                                        </p:tgtEl>
                                        <p:attrNameLst>
                                          <p:attrName>style.visibility</p:attrName>
                                        </p:attrNameLst>
                                      </p:cBhvr>
                                      <p:to>
                                        <p:strVal val="visible"/>
                                      </p:to>
                                    </p:set>
                                    <p:animEffect transition="in" filter="wipe(up)">
                                      <p:cBhvr>
                                        <p:cTn id="33" dur="500"/>
                                        <p:tgtEl>
                                          <p:spTgt spid="107"/>
                                        </p:tgtEl>
                                      </p:cBhvr>
                                    </p:animEffect>
                                  </p:childTnLst>
                                </p:cTn>
                              </p:par>
                              <p:par>
                                <p:cTn id="34" presetID="53" presetClass="entr" presetSubtype="16" fill="hold" grpId="0" nodeType="withEffect">
                                  <p:stCondLst>
                                    <p:cond delay="300"/>
                                  </p:stCondLst>
                                  <p:childTnLst>
                                    <p:set>
                                      <p:cBhvr>
                                        <p:cTn id="35" dur="1" fill="hold">
                                          <p:stCondLst>
                                            <p:cond delay="0"/>
                                          </p:stCondLst>
                                        </p:cTn>
                                        <p:tgtEl>
                                          <p:spTgt spid="108"/>
                                        </p:tgtEl>
                                        <p:attrNameLst>
                                          <p:attrName>style.visibility</p:attrName>
                                        </p:attrNameLst>
                                      </p:cBhvr>
                                      <p:to>
                                        <p:strVal val="visible"/>
                                      </p:to>
                                    </p:set>
                                    <p:anim calcmode="lin" valueType="num">
                                      <p:cBhvr additive="base">
                                        <p:cTn id="36"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37" dur="500" decel="100000" fill="hold"/>
                                        <p:tgtEl>
                                          <p:spTgt spid="108"/>
                                        </p:tgtEl>
                                        <p:attrNameLst>
                                          <p:attrName>ppt_h</p:attrName>
                                        </p:attrNameLst>
                                      </p:cBhvr>
                                      <p:tavLst>
                                        <p:tav tm="0">
                                          <p:val>
                                            <p:strVal val="#ppt_h*0.55"/>
                                          </p:val>
                                        </p:tav>
                                        <p:tav tm="100000">
                                          <p:val>
                                            <p:strVal val="#ppt_h"/>
                                          </p:val>
                                        </p:tav>
                                      </p:tavLst>
                                    </p:anim>
                                    <p:animEffect transition="in" filter="fade">
                                      <p:cBhvr>
                                        <p:cTn id="38" dur="500"/>
                                        <p:tgtEl>
                                          <p:spTgt spid="108"/>
                                        </p:tgtEl>
                                      </p:cBhvr>
                                    </p:animEffect>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109"/>
                                        </p:tgtEl>
                                        <p:attrNameLst>
                                          <p:attrName>style.visibility</p:attrName>
                                        </p:attrNameLst>
                                      </p:cBhvr>
                                      <p:to>
                                        <p:strVal val="visible"/>
                                      </p:to>
                                    </p:set>
                                    <p:animEffect transition="in" filter="fade">
                                      <p:cBhvr>
                                        <p:cTn id="43" dur="500"/>
                                        <p:tgtEl>
                                          <p:spTgt spid="109"/>
                                        </p:tgtEl>
                                      </p:cBhvr>
                                    </p:animEffect>
                                    <p:anim calcmode="lin" valueType="num">
                                      <p:cBhvr additive="base">
                                        <p:cTn id="44" dur="500" decel="100000" fill="hold"/>
                                        <p:tgtEl>
                                          <p:spTgt spid="109"/>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0"/>
                                        </p:tgtEl>
                                        <p:attrNameLst>
                                          <p:attrName>style.visibility</p:attrName>
                                        </p:attrNameLst>
                                      </p:cBhvr>
                                      <p:to>
                                        <p:strVal val="visible"/>
                                      </p:to>
                                    </p:set>
                                    <p:animEffect transition="in" filter="fade">
                                      <p:cBhvr>
                                        <p:cTn id="47" dur="500"/>
                                        <p:tgtEl>
                                          <p:spTgt spid="110"/>
                                        </p:tgtEl>
                                      </p:cBhvr>
                                    </p:animEffect>
                                    <p:anim calcmode="lin" valueType="num">
                                      <p:cBhvr additive="base">
                                        <p:cTn id="48" dur="500" decel="100000" fill="hold"/>
                                        <p:tgtEl>
                                          <p:spTgt spid="110"/>
                                        </p:tgtEl>
                                        <p:attrNameLst>
                                          <p:attrName>ppt_y</p:attrName>
                                        </p:attrNameLst>
                                      </p:cBhvr>
                                      <p:tavLst>
                                        <p:tav tm="0">
                                          <p:val>
                                            <p:strVal val="#ppt_y+0.06"/>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11"/>
                                        </p:tgtEl>
                                        <p:attrNameLst>
                                          <p:attrName>style.visibility</p:attrName>
                                        </p:attrNameLst>
                                      </p:cBhvr>
                                      <p:to>
                                        <p:strVal val="visible"/>
                                      </p:to>
                                    </p:set>
                                    <p:animEffect transition="in" filter="fade">
                                      <p:cBhvr>
                                        <p:cTn id="51" dur="500"/>
                                        <p:tgtEl>
                                          <p:spTgt spid="111"/>
                                        </p:tgtEl>
                                      </p:cBhvr>
                                    </p:animEffect>
                                    <p:anim calcmode="lin" valueType="num">
                                      <p:cBhvr additive="base">
                                        <p:cTn id="52" dur="500" decel="100000" fill="hold"/>
                                        <p:tgtEl>
                                          <p:spTgt spid="111"/>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2"/>
                                        </p:tgtEl>
                                        <p:attrNameLst>
                                          <p:attrName>style.visibility</p:attrName>
                                        </p:attrNameLst>
                                      </p:cBhvr>
                                      <p:to>
                                        <p:strVal val="visible"/>
                                      </p:to>
                                    </p:set>
                                    <p:animEffect transition="in" filter="fade">
                                      <p:cBhvr>
                                        <p:cTn id="55" dur="500"/>
                                        <p:tgtEl>
                                          <p:spTgt spid="112"/>
                                        </p:tgtEl>
                                      </p:cBhvr>
                                    </p:animEffect>
                                    <p:anim calcmode="lin" valueType="num">
                                      <p:cBhvr additive="base">
                                        <p:cTn id="56" dur="500" decel="100000" fill="hold"/>
                                        <p:tgtEl>
                                          <p:spTgt spid="112"/>
                                        </p:tgtEl>
                                        <p:attrNameLst>
                                          <p:attrName>ppt_y</p:attrName>
                                        </p:attrNameLst>
                                      </p:cBhvr>
                                      <p:tavLst>
                                        <p:tav tm="0">
                                          <p:val>
                                            <p:strVal val="#ppt_y+0.06"/>
                                          </p:val>
                                        </p:tav>
                                        <p:tav tm="100000">
                                          <p:val>
                                            <p:strVal val="#ppt_y"/>
                                          </p:val>
                                        </p:tav>
                                      </p:tavLst>
                                    </p:anim>
                                  </p:childTnLst>
                                </p:cTn>
                              </p:par>
                              <p:par>
                                <p:cTn id="57" presetID="22" presetClass="entr" presetSubtype="1" fill="hold" nodeType="withEffect">
                                  <p:stCondLst>
                                    <p:cond delay="150"/>
                                  </p:stCondLst>
                                  <p:childTnLst>
                                    <p:set>
                                      <p:cBhvr>
                                        <p:cTn id="58" dur="1" fill="hold">
                                          <p:stCondLst>
                                            <p:cond delay="0"/>
                                          </p:stCondLst>
                                        </p:cTn>
                                        <p:tgtEl>
                                          <p:spTgt spid="113"/>
                                        </p:tgtEl>
                                        <p:attrNameLst>
                                          <p:attrName>style.visibility</p:attrName>
                                        </p:attrNameLst>
                                      </p:cBhvr>
                                      <p:to>
                                        <p:strVal val="visible"/>
                                      </p:to>
                                    </p:set>
                                    <p:animEffect transition="in" filter="wipe(up)">
                                      <p:cBhvr>
                                        <p:cTn id="59" dur="500"/>
                                        <p:tgtEl>
                                          <p:spTgt spid="113"/>
                                        </p:tgtEl>
                                      </p:cBhvr>
                                    </p:animEffect>
                                  </p:childTnLst>
                                </p:cTn>
                              </p:par>
                              <p:par>
                                <p:cTn id="60" presetID="53" presetClass="entr" presetSubtype="16" fill="hold" grpId="0" nodeType="withEffect">
                                  <p:stCondLst>
                                    <p:cond delay="300"/>
                                  </p:stCondLst>
                                  <p:childTnLst>
                                    <p:set>
                                      <p:cBhvr>
                                        <p:cTn id="61" dur="1" fill="hold">
                                          <p:stCondLst>
                                            <p:cond delay="0"/>
                                          </p:stCondLst>
                                        </p:cTn>
                                        <p:tgtEl>
                                          <p:spTgt spid="114"/>
                                        </p:tgtEl>
                                        <p:attrNameLst>
                                          <p:attrName>style.visibility</p:attrName>
                                        </p:attrNameLst>
                                      </p:cBhvr>
                                      <p:to>
                                        <p:strVal val="visible"/>
                                      </p:to>
                                    </p:set>
                                    <p:anim calcmode="lin" valueType="num">
                                      <p:cBhvr additive="base">
                                        <p:cTn id="62" dur="500" decel="100000" fill="hold"/>
                                        <p:tgtEl>
                                          <p:spTgt spid="114"/>
                                        </p:tgtEl>
                                        <p:attrNameLst>
                                          <p:attrName>ppt_w</p:attrName>
                                        </p:attrNameLst>
                                      </p:cBhvr>
                                      <p:tavLst>
                                        <p:tav tm="0">
                                          <p:val>
                                            <p:strVal val="#ppt_w*0.55"/>
                                          </p:val>
                                        </p:tav>
                                        <p:tav tm="100000">
                                          <p:val>
                                            <p:strVal val="#ppt_w"/>
                                          </p:val>
                                        </p:tav>
                                      </p:tavLst>
                                    </p:anim>
                                    <p:anim calcmode="lin" valueType="num">
                                      <p:cBhvr additive="base">
                                        <p:cTn id="63" dur="500" decel="100000" fill="hold"/>
                                        <p:tgtEl>
                                          <p:spTgt spid="114"/>
                                        </p:tgtEl>
                                        <p:attrNameLst>
                                          <p:attrName>ppt_h</p:attrName>
                                        </p:attrNameLst>
                                      </p:cBhvr>
                                      <p:tavLst>
                                        <p:tav tm="0">
                                          <p:val>
                                            <p:strVal val="#ppt_h*0.55"/>
                                          </p:val>
                                        </p:tav>
                                        <p:tav tm="100000">
                                          <p:val>
                                            <p:strVal val="#ppt_h"/>
                                          </p:val>
                                        </p:tav>
                                      </p:tavLst>
                                    </p:anim>
                                    <p:animEffect transition="in" filter="fade">
                                      <p:cBhvr>
                                        <p:cTn id="64" dur="500"/>
                                        <p:tgtEl>
                                          <p:spTgt spid="114"/>
                                        </p:tgtEl>
                                      </p:cBhvr>
                                    </p:animEffect>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15"/>
                                        </p:tgtEl>
                                        <p:attrNameLst>
                                          <p:attrName>style.visibility</p:attrName>
                                        </p:attrNameLst>
                                      </p:cBhvr>
                                      <p:to>
                                        <p:strVal val="visible"/>
                                      </p:to>
                                    </p:set>
                                    <p:animEffect transition="in" filter="fade">
                                      <p:cBhvr>
                                        <p:cTn id="69" dur="500"/>
                                        <p:tgtEl>
                                          <p:spTgt spid="115"/>
                                        </p:tgtEl>
                                      </p:cBhvr>
                                    </p:animEffect>
                                    <p:anim calcmode="lin" valueType="num">
                                      <p:cBhvr additive="base">
                                        <p:cTn id="70" dur="500" decel="100000" fill="hold"/>
                                        <p:tgtEl>
                                          <p:spTgt spid="115"/>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116"/>
                                        </p:tgtEl>
                                        <p:attrNameLst>
                                          <p:attrName>style.visibility</p:attrName>
                                        </p:attrNameLst>
                                      </p:cBhvr>
                                      <p:to>
                                        <p:strVal val="visible"/>
                                      </p:to>
                                    </p:set>
                                    <p:animEffect transition="in" filter="fade">
                                      <p:cBhvr>
                                        <p:cTn id="73" dur="500"/>
                                        <p:tgtEl>
                                          <p:spTgt spid="116"/>
                                        </p:tgtEl>
                                      </p:cBhvr>
                                    </p:animEffect>
                                    <p:anim calcmode="lin" valueType="num">
                                      <p:cBhvr additive="base">
                                        <p:cTn id="74" dur="500" decel="100000" fill="hold"/>
                                        <p:tgtEl>
                                          <p:spTgt spid="116"/>
                                        </p:tgtEl>
                                        <p:attrNameLst>
                                          <p:attrName>ppt_y</p:attrName>
                                        </p:attrNameLst>
                                      </p:cBhvr>
                                      <p:tavLst>
                                        <p:tav tm="0">
                                          <p:val>
                                            <p:strVal val="#ppt_y+0.06"/>
                                          </p:val>
                                        </p:tav>
                                        <p:tav tm="100000">
                                          <p:val>
                                            <p:strVal val="#ppt_y"/>
                                          </p:val>
                                        </p:tav>
                                      </p:tavLst>
                                    </p:anim>
                                  </p:childTnLst>
                                </p:cTn>
                              </p:par>
                              <p:par>
                                <p:cTn id="75" presetID="42" presetClass="entr" presetSubtype="0" fill="hold" nodeType="withEffect">
                                  <p:stCondLst>
                                    <p:cond delay="0"/>
                                  </p:stCondLst>
                                  <p:childTnLst>
                                    <p:set>
                                      <p:cBhvr>
                                        <p:cTn id="76" dur="1" fill="hold">
                                          <p:stCondLst>
                                            <p:cond delay="0"/>
                                          </p:stCondLst>
                                        </p:cTn>
                                        <p:tgtEl>
                                          <p:spTgt spid="117"/>
                                        </p:tgtEl>
                                        <p:attrNameLst>
                                          <p:attrName>style.visibility</p:attrName>
                                        </p:attrNameLst>
                                      </p:cBhvr>
                                      <p:to>
                                        <p:strVal val="visible"/>
                                      </p:to>
                                    </p:set>
                                    <p:animEffect transition="in" filter="fade">
                                      <p:cBhvr>
                                        <p:cTn id="77" dur="500"/>
                                        <p:tgtEl>
                                          <p:spTgt spid="117"/>
                                        </p:tgtEl>
                                      </p:cBhvr>
                                    </p:animEffect>
                                    <p:anim calcmode="lin" valueType="num">
                                      <p:cBhvr additive="base">
                                        <p:cTn id="78" dur="500" decel="100000" fill="hold"/>
                                        <p:tgtEl>
                                          <p:spTgt spid="117"/>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18"/>
                                        </p:tgtEl>
                                        <p:attrNameLst>
                                          <p:attrName>style.visibility</p:attrName>
                                        </p:attrNameLst>
                                      </p:cBhvr>
                                      <p:to>
                                        <p:strVal val="visible"/>
                                      </p:to>
                                    </p:set>
                                    <p:animEffect transition="in" filter="fade">
                                      <p:cBhvr>
                                        <p:cTn id="81" dur="500"/>
                                        <p:tgtEl>
                                          <p:spTgt spid="118"/>
                                        </p:tgtEl>
                                      </p:cBhvr>
                                    </p:animEffect>
                                    <p:anim calcmode="lin" valueType="num">
                                      <p:cBhvr additive="base">
                                        <p:cTn id="82" dur="500" decel="100000" fill="hold"/>
                                        <p:tgtEl>
                                          <p:spTgt spid="118"/>
                                        </p:tgtEl>
                                        <p:attrNameLst>
                                          <p:attrName>ppt_y</p:attrName>
                                        </p:attrNameLst>
                                      </p:cBhvr>
                                      <p:tavLst>
                                        <p:tav tm="0">
                                          <p:val>
                                            <p:strVal val="#ppt_y+0.06"/>
                                          </p:val>
                                        </p:tav>
                                        <p:tav tm="100000">
                                          <p:val>
                                            <p:strVal val="#ppt_y"/>
                                          </p:val>
                                        </p:tav>
                                      </p:tavLst>
                                    </p:anim>
                                  </p:childTnLst>
                                </p:cTn>
                              </p:par>
                              <p:par>
                                <p:cTn id="83" presetID="22" presetClass="entr" presetSubtype="1" fill="hold" nodeType="withEffect">
                                  <p:stCondLst>
                                    <p:cond delay="150"/>
                                  </p:stCondLst>
                                  <p:childTnLst>
                                    <p:set>
                                      <p:cBhvr>
                                        <p:cTn id="84" dur="1" fill="hold">
                                          <p:stCondLst>
                                            <p:cond delay="0"/>
                                          </p:stCondLst>
                                        </p:cTn>
                                        <p:tgtEl>
                                          <p:spTgt spid="119"/>
                                        </p:tgtEl>
                                        <p:attrNameLst>
                                          <p:attrName>style.visibility</p:attrName>
                                        </p:attrNameLst>
                                      </p:cBhvr>
                                      <p:to>
                                        <p:strVal val="visible"/>
                                      </p:to>
                                    </p:set>
                                    <p:animEffect transition="in" filter="wipe(up)">
                                      <p:cBhvr>
                                        <p:cTn id="85" dur="500"/>
                                        <p:tgtEl>
                                          <p:spTgt spid="119"/>
                                        </p:tgtEl>
                                      </p:cBhvr>
                                    </p:animEffect>
                                  </p:childTnLst>
                                </p:cTn>
                              </p:par>
                              <p:par>
                                <p:cTn id="86" presetID="53" presetClass="entr" presetSubtype="16" fill="hold" grpId="0" nodeType="withEffect">
                                  <p:stCondLst>
                                    <p:cond delay="300"/>
                                  </p:stCondLst>
                                  <p:childTnLst>
                                    <p:set>
                                      <p:cBhvr>
                                        <p:cTn id="87" dur="1" fill="hold">
                                          <p:stCondLst>
                                            <p:cond delay="0"/>
                                          </p:stCondLst>
                                        </p:cTn>
                                        <p:tgtEl>
                                          <p:spTgt spid="120"/>
                                        </p:tgtEl>
                                        <p:attrNameLst>
                                          <p:attrName>style.visibility</p:attrName>
                                        </p:attrNameLst>
                                      </p:cBhvr>
                                      <p:to>
                                        <p:strVal val="visible"/>
                                      </p:to>
                                    </p:set>
                                    <p:anim calcmode="lin" valueType="num">
                                      <p:cBhvr additive="base">
                                        <p:cTn id="88" dur="500" decel="100000" fill="hold"/>
                                        <p:tgtEl>
                                          <p:spTgt spid="120"/>
                                        </p:tgtEl>
                                        <p:attrNameLst>
                                          <p:attrName>ppt_w</p:attrName>
                                        </p:attrNameLst>
                                      </p:cBhvr>
                                      <p:tavLst>
                                        <p:tav tm="0">
                                          <p:val>
                                            <p:strVal val="#ppt_w*0.55"/>
                                          </p:val>
                                        </p:tav>
                                        <p:tav tm="100000">
                                          <p:val>
                                            <p:strVal val="#ppt_w"/>
                                          </p:val>
                                        </p:tav>
                                      </p:tavLst>
                                    </p:anim>
                                    <p:anim calcmode="lin" valueType="num">
                                      <p:cBhvr additive="base">
                                        <p:cTn id="89" dur="500" decel="100000" fill="hold"/>
                                        <p:tgtEl>
                                          <p:spTgt spid="120"/>
                                        </p:tgtEl>
                                        <p:attrNameLst>
                                          <p:attrName>ppt_h</p:attrName>
                                        </p:attrNameLst>
                                      </p:cBhvr>
                                      <p:tavLst>
                                        <p:tav tm="0">
                                          <p:val>
                                            <p:strVal val="#ppt_h*0.55"/>
                                          </p:val>
                                        </p:tav>
                                        <p:tav tm="100000">
                                          <p:val>
                                            <p:strVal val="#ppt_h"/>
                                          </p:val>
                                        </p:tav>
                                      </p:tavLst>
                                    </p:anim>
                                    <p:animEffect transition="in" filter="fade">
                                      <p:cBhvr>
                                        <p:cTn id="90" dur="500"/>
                                        <p:tgtEl>
                                          <p:spTgt spid="120"/>
                                        </p:tgtEl>
                                      </p:cBhvr>
                                    </p:animEffect>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grpId="0" nodeType="clickEffect">
                                  <p:stCondLst>
                                    <p:cond delay="0"/>
                                  </p:stCondLst>
                                  <p:childTnLst>
                                    <p:set>
                                      <p:cBhvr>
                                        <p:cTn id="94" dur="1" fill="hold">
                                          <p:stCondLst>
                                            <p:cond delay="0"/>
                                          </p:stCondLst>
                                        </p:cTn>
                                        <p:tgtEl>
                                          <p:spTgt spid="121"/>
                                        </p:tgtEl>
                                        <p:attrNameLst>
                                          <p:attrName>style.visibility</p:attrName>
                                        </p:attrNameLst>
                                      </p:cBhvr>
                                      <p:to>
                                        <p:strVal val="visible"/>
                                      </p:to>
                                    </p:set>
                                    <p:animEffect transition="in" filter="fade">
                                      <p:cBhvr>
                                        <p:cTn id="95" dur="500"/>
                                        <p:tgtEl>
                                          <p:spTgt spid="121"/>
                                        </p:tgtEl>
                                      </p:cBhvr>
                                    </p:animEffect>
                                    <p:anim calcmode="lin" valueType="num">
                                      <p:cBhvr additive="base">
                                        <p:cTn id="96" dur="500" decel="100000" fill="hold"/>
                                        <p:tgtEl>
                                          <p:spTgt spid="121"/>
                                        </p:tgtEl>
                                        <p:attrNameLst>
                                          <p:attrName>ppt_y</p:attrName>
                                        </p:attrNameLst>
                                      </p:cBhvr>
                                      <p:tavLst>
                                        <p:tav tm="0">
                                          <p:val>
                                            <p:strVal val="#ppt_y+0.06"/>
                                          </p:val>
                                        </p:tav>
                                        <p:tav tm="100000">
                                          <p:val>
                                            <p:strVal val="#ppt_y"/>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2"/>
                                        </p:tgtEl>
                                        <p:attrNameLst>
                                          <p:attrName>style.visibility</p:attrName>
                                        </p:attrNameLst>
                                      </p:cBhvr>
                                      <p:to>
                                        <p:strVal val="visible"/>
                                      </p:to>
                                    </p:set>
                                    <p:animEffect transition="in" filter="fade">
                                      <p:cBhvr>
                                        <p:cTn id="99" dur="500"/>
                                        <p:tgtEl>
                                          <p:spTgt spid="122"/>
                                        </p:tgtEl>
                                      </p:cBhvr>
                                    </p:animEffect>
                                    <p:anim calcmode="lin" valueType="num">
                                      <p:cBhvr additive="base">
                                        <p:cTn id="100" dur="500" decel="100000" fill="hold"/>
                                        <p:tgtEl>
                                          <p:spTgt spid="122"/>
                                        </p:tgtEl>
                                        <p:attrNameLst>
                                          <p:attrName>ppt_y</p:attrName>
                                        </p:attrNameLst>
                                      </p:cBhvr>
                                      <p:tavLst>
                                        <p:tav tm="0">
                                          <p:val>
                                            <p:strVal val="#ppt_y+0.06"/>
                                          </p:val>
                                        </p:tav>
                                        <p:tav tm="100000">
                                          <p:val>
                                            <p:strVal val="#ppt_y"/>
                                          </p:val>
                                        </p:tav>
                                      </p:tavLst>
                                    </p:anim>
                                  </p:childTnLst>
                                </p:cTn>
                              </p:par>
                              <p:par>
                                <p:cTn id="101" presetID="42" presetClass="entr" presetSubtype="0" fill="hold" nodeType="withEffect">
                                  <p:stCondLst>
                                    <p:cond delay="0"/>
                                  </p:stCondLst>
                                  <p:childTnLst>
                                    <p:set>
                                      <p:cBhvr>
                                        <p:cTn id="102" dur="1" fill="hold">
                                          <p:stCondLst>
                                            <p:cond delay="0"/>
                                          </p:stCondLst>
                                        </p:cTn>
                                        <p:tgtEl>
                                          <p:spTgt spid="123"/>
                                        </p:tgtEl>
                                        <p:attrNameLst>
                                          <p:attrName>style.visibility</p:attrName>
                                        </p:attrNameLst>
                                      </p:cBhvr>
                                      <p:to>
                                        <p:strVal val="visible"/>
                                      </p:to>
                                    </p:set>
                                    <p:animEffect transition="in" filter="fade">
                                      <p:cBhvr>
                                        <p:cTn id="103" dur="500"/>
                                        <p:tgtEl>
                                          <p:spTgt spid="123"/>
                                        </p:tgtEl>
                                      </p:cBhvr>
                                    </p:animEffect>
                                    <p:anim calcmode="lin" valueType="num">
                                      <p:cBhvr additive="base">
                                        <p:cTn id="104" dur="500" decel="100000" fill="hold"/>
                                        <p:tgtEl>
                                          <p:spTgt spid="123"/>
                                        </p:tgtEl>
                                        <p:attrNameLst>
                                          <p:attrName>ppt_y</p:attrName>
                                        </p:attrNameLst>
                                      </p:cBhvr>
                                      <p:tavLst>
                                        <p:tav tm="0">
                                          <p:val>
                                            <p:strVal val="#ppt_y+0.06"/>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24"/>
                                        </p:tgtEl>
                                        <p:attrNameLst>
                                          <p:attrName>style.visibility</p:attrName>
                                        </p:attrNameLst>
                                      </p:cBhvr>
                                      <p:to>
                                        <p:strVal val="visible"/>
                                      </p:to>
                                    </p:set>
                                    <p:animEffect transition="in" filter="fade">
                                      <p:cBhvr>
                                        <p:cTn id="107" dur="500"/>
                                        <p:tgtEl>
                                          <p:spTgt spid="124"/>
                                        </p:tgtEl>
                                      </p:cBhvr>
                                    </p:animEffect>
                                    <p:anim calcmode="lin" valueType="num">
                                      <p:cBhvr additive="base">
                                        <p:cTn id="108" dur="500" decel="100000" fill="hold"/>
                                        <p:tgtEl>
                                          <p:spTgt spid="124"/>
                                        </p:tgtEl>
                                        <p:attrNameLst>
                                          <p:attrName>ppt_y</p:attrName>
                                        </p:attrNameLst>
                                      </p:cBhvr>
                                      <p:tavLst>
                                        <p:tav tm="0">
                                          <p:val>
                                            <p:strVal val="#ppt_y+0.06"/>
                                          </p:val>
                                        </p:tav>
                                        <p:tav tm="100000">
                                          <p:val>
                                            <p:strVal val="#ppt_y"/>
                                          </p:val>
                                        </p:tav>
                                      </p:tavLst>
                                    </p:anim>
                                  </p:childTnLst>
                                </p:cTn>
                              </p:par>
                              <p:par>
                                <p:cTn id="109" presetID="22" presetClass="entr" presetSubtype="1" fill="hold" nodeType="withEffect">
                                  <p:stCondLst>
                                    <p:cond delay="150"/>
                                  </p:stCondLst>
                                  <p:childTnLst>
                                    <p:set>
                                      <p:cBhvr>
                                        <p:cTn id="110" dur="1" fill="hold">
                                          <p:stCondLst>
                                            <p:cond delay="0"/>
                                          </p:stCondLst>
                                        </p:cTn>
                                        <p:tgtEl>
                                          <p:spTgt spid="125"/>
                                        </p:tgtEl>
                                        <p:attrNameLst>
                                          <p:attrName>style.visibility</p:attrName>
                                        </p:attrNameLst>
                                      </p:cBhvr>
                                      <p:to>
                                        <p:strVal val="visible"/>
                                      </p:to>
                                    </p:set>
                                    <p:animEffect transition="in" filter="wipe(up)">
                                      <p:cBhvr>
                                        <p:cTn id="111" dur="500"/>
                                        <p:tgtEl>
                                          <p:spTgt spid="125"/>
                                        </p:tgtEl>
                                      </p:cBhvr>
                                    </p:animEffect>
                                  </p:childTnLst>
                                </p:cTn>
                              </p:par>
                              <p:par>
                                <p:cTn id="112" presetID="53" presetClass="entr" presetSubtype="16" fill="hold" grpId="0" nodeType="withEffect">
                                  <p:stCondLst>
                                    <p:cond delay="300"/>
                                  </p:stCondLst>
                                  <p:childTnLst>
                                    <p:set>
                                      <p:cBhvr>
                                        <p:cTn id="113" dur="1" fill="hold">
                                          <p:stCondLst>
                                            <p:cond delay="0"/>
                                          </p:stCondLst>
                                        </p:cTn>
                                        <p:tgtEl>
                                          <p:spTgt spid="126"/>
                                        </p:tgtEl>
                                        <p:attrNameLst>
                                          <p:attrName>style.visibility</p:attrName>
                                        </p:attrNameLst>
                                      </p:cBhvr>
                                      <p:to>
                                        <p:strVal val="visible"/>
                                      </p:to>
                                    </p:set>
                                    <p:anim calcmode="lin" valueType="num">
                                      <p:cBhvr additive="base">
                                        <p:cTn id="114" dur="500" decel="100000" fill="hold"/>
                                        <p:tgtEl>
                                          <p:spTgt spid="126"/>
                                        </p:tgtEl>
                                        <p:attrNameLst>
                                          <p:attrName>ppt_w</p:attrName>
                                        </p:attrNameLst>
                                      </p:cBhvr>
                                      <p:tavLst>
                                        <p:tav tm="0">
                                          <p:val>
                                            <p:strVal val="#ppt_w*0.55"/>
                                          </p:val>
                                        </p:tav>
                                        <p:tav tm="100000">
                                          <p:val>
                                            <p:strVal val="#ppt_w"/>
                                          </p:val>
                                        </p:tav>
                                      </p:tavLst>
                                    </p:anim>
                                    <p:anim calcmode="lin" valueType="num">
                                      <p:cBhvr additive="base">
                                        <p:cTn id="115" dur="500" decel="100000" fill="hold"/>
                                        <p:tgtEl>
                                          <p:spTgt spid="126"/>
                                        </p:tgtEl>
                                        <p:attrNameLst>
                                          <p:attrName>ppt_h</p:attrName>
                                        </p:attrNameLst>
                                      </p:cBhvr>
                                      <p:tavLst>
                                        <p:tav tm="0">
                                          <p:val>
                                            <p:strVal val="#ppt_h*0.55"/>
                                          </p:val>
                                        </p:tav>
                                        <p:tav tm="100000">
                                          <p:val>
                                            <p:strVal val="#ppt_h"/>
                                          </p:val>
                                        </p:tav>
                                      </p:tavLst>
                                    </p:anim>
                                    <p:animEffect transition="in" filter="fade">
                                      <p:cBhvr>
                                        <p:cTn id="116" dur="500"/>
                                        <p:tgtEl>
                                          <p:spTgt spid="126"/>
                                        </p:tgtEl>
                                      </p:cBhvr>
                                    </p:animEffect>
                                  </p:childTnLst>
                                </p:cTn>
                              </p:par>
                            </p:childTnLst>
                          </p:cTn>
                        </p:par>
                      </p:childTnLst>
                    </p:cTn>
                  </p:par>
                  <p:par>
                    <p:cTn id="117" fill="hold">
                      <p:stCondLst>
                        <p:cond delay="indefinite"/>
                      </p:stCondLst>
                      <p:childTnLst>
                        <p:par>
                          <p:cTn id="118" fill="hold">
                            <p:stCondLst>
                              <p:cond delay="0"/>
                            </p:stCondLst>
                            <p:childTnLst>
                              <p:par>
                                <p:cTn id="119" presetID="42" presetClass="entr" presetSubtype="0" fill="hold" grpId="0" nodeType="clickEffect">
                                  <p:stCondLst>
                                    <p:cond delay="0"/>
                                  </p:stCondLst>
                                  <p:childTnLst>
                                    <p:set>
                                      <p:cBhvr>
                                        <p:cTn id="120" dur="1" fill="hold">
                                          <p:stCondLst>
                                            <p:cond delay="0"/>
                                          </p:stCondLst>
                                        </p:cTn>
                                        <p:tgtEl>
                                          <p:spTgt spid="127"/>
                                        </p:tgtEl>
                                        <p:attrNameLst>
                                          <p:attrName>style.visibility</p:attrName>
                                        </p:attrNameLst>
                                      </p:cBhvr>
                                      <p:to>
                                        <p:strVal val="visible"/>
                                      </p:to>
                                    </p:set>
                                    <p:animEffect transition="in" filter="fade">
                                      <p:cBhvr>
                                        <p:cTn id="121" dur="500"/>
                                        <p:tgtEl>
                                          <p:spTgt spid="127"/>
                                        </p:tgtEl>
                                      </p:cBhvr>
                                    </p:animEffect>
                                    <p:anim calcmode="lin" valueType="num">
                                      <p:cBhvr additive="base">
                                        <p:cTn id="122" dur="500" decel="100000" fill="hold"/>
                                        <p:tgtEl>
                                          <p:spTgt spid="127"/>
                                        </p:tgtEl>
                                        <p:attrNameLst>
                                          <p:attrName>ppt_y</p:attrName>
                                        </p:attrNameLst>
                                      </p:cBhvr>
                                      <p:tavLst>
                                        <p:tav tm="0">
                                          <p:val>
                                            <p:strVal val="#ppt_y+0.06"/>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128"/>
                                        </p:tgtEl>
                                        <p:attrNameLst>
                                          <p:attrName>style.visibility</p:attrName>
                                        </p:attrNameLst>
                                      </p:cBhvr>
                                      <p:to>
                                        <p:strVal val="visible"/>
                                      </p:to>
                                    </p:set>
                                    <p:animEffect transition="in" filter="fade">
                                      <p:cBhvr>
                                        <p:cTn id="125" dur="500"/>
                                        <p:tgtEl>
                                          <p:spTgt spid="128"/>
                                        </p:tgtEl>
                                      </p:cBhvr>
                                    </p:animEffect>
                                    <p:anim calcmode="lin" valueType="num">
                                      <p:cBhvr additive="base">
                                        <p:cTn id="126" dur="500" decel="100000" fill="hold"/>
                                        <p:tgtEl>
                                          <p:spTgt spid="128"/>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29"/>
                                        </p:tgtEl>
                                        <p:attrNameLst>
                                          <p:attrName>style.visibility</p:attrName>
                                        </p:attrNameLst>
                                      </p:cBhvr>
                                      <p:to>
                                        <p:strVal val="visible"/>
                                      </p:to>
                                    </p:set>
                                    <p:animEffect transition="in" filter="fade">
                                      <p:cBhvr>
                                        <p:cTn id="129" dur="500"/>
                                        <p:tgtEl>
                                          <p:spTgt spid="129"/>
                                        </p:tgtEl>
                                      </p:cBhvr>
                                    </p:animEffect>
                                    <p:anim calcmode="lin" valueType="num">
                                      <p:cBhvr additive="base">
                                        <p:cTn id="130" dur="500" decel="100000" fill="hold"/>
                                        <p:tgtEl>
                                          <p:spTgt spid="129"/>
                                        </p:tgtEl>
                                        <p:attrNameLst>
                                          <p:attrName>ppt_y</p:attrName>
                                        </p:attrNameLst>
                                      </p:cBhvr>
                                      <p:tavLst>
                                        <p:tav tm="0">
                                          <p:val>
                                            <p:strVal val="#ppt_y+0.06"/>
                                          </p:val>
                                        </p:tav>
                                        <p:tav tm="100000">
                                          <p:val>
                                            <p:strVal val="#ppt_y"/>
                                          </p:val>
                                        </p:tav>
                                      </p:tavLst>
                                    </p:anim>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130"/>
                                        </p:tgtEl>
                                        <p:attrNameLst>
                                          <p:attrName>style.visibility</p:attrName>
                                        </p:attrNameLst>
                                      </p:cBhvr>
                                      <p:to>
                                        <p:strVal val="visible"/>
                                      </p:to>
                                    </p:set>
                                    <p:animEffect transition="in" filter="fade">
                                      <p:cBhvr>
                                        <p:cTn id="135" dur="5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6" grpId="0" animBg="1"/>
      <p:bldP spid="108" grpId="0" animBg="1"/>
      <p:bldP spid="109" grpId="0" animBg="1"/>
      <p:bldP spid="110" grpId="0" animBg="1"/>
      <p:bldP spid="112" grpId="0" animBg="1"/>
      <p:bldP spid="114" grpId="0" animBg="1"/>
      <p:bldP spid="115" grpId="0" animBg="1"/>
      <p:bldP spid="116" grpId="0" animBg="1"/>
      <p:bldP spid="118" grpId="0" animBg="1"/>
      <p:bldP spid="120" grpId="0" animBg="1"/>
      <p:bldP spid="121" grpId="0" animBg="1"/>
      <p:bldP spid="122" grpId="0" animBg="1"/>
      <p:bldP spid="124" grpId="0" animBg="1"/>
      <p:bldP spid="126" grpId="0" animBg="1"/>
      <p:bldP spid="127" grpId="0" animBg="1"/>
      <p:bldP spid="128" grpId="0" animBg="1"/>
      <p:bldP spid="129" grpId="0" animBg="1"/>
      <p:bldP spid="130"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CHANGE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A New Request Appears During the Sprint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Hospital manager: “Add insurance approval this week.”</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274</a:t>
            </a:r>
            <a:endParaRPr lang="en-US" sz="850" dirty="0"/>
          </a:p>
        </p:txBody>
      </p:sp>
      <p:sp>
        <p:nvSpPr>
          <p:cNvPr id="101" name="s101"/>
          <p:cNvSpPr/>
          <p:nvPr/>
        </p:nvSpPr>
        <p:spPr>
          <a:xfrm>
            <a:off x="543154" y="1920240"/>
            <a:ext cx="566928" cy="566928"/>
          </a:xfrm>
          <a:prstGeom prst="ellipse">
            <a:avLst/>
          </a:prstGeom>
          <a:solidFill>
            <a:srgbClr val="94A3B8">
              <a:alpha val="22000"/>
            </a:srgbClr>
          </a:solidFill>
          <a:ln w="12700">
            <a:solidFill>
              <a:srgbClr val="94A3B8"/>
            </a:solidFill>
            <a:prstDash val="solid"/>
          </a:ln>
        </p:spPr>
        <p:txBody>
          <a:bodyPr wrap="square" lIns="0" tIns="0" rIns="0" bIns="0" rtlCol="0" anchor="ctr">
            <a:noAutofit/>
          </a:bodyPr>
          <a:lstStyle/>
          <a:p>
            <a:pPr marL="0" indent="0" algn="ctr">
              <a:spcBef>
                <a:spcPts val="0"/>
              </a:spcBef>
              <a:spcAft>
                <a:spcPts val="0"/>
              </a:spcAft>
              <a:buNone/>
            </a:pPr>
            <a:r>
              <a:rPr lang="en-US" sz="1600" b="1" dirty="0">
                <a:solidFill>
                  <a:srgbClr val="94A3B8"/>
                </a:solidFill>
                <a:latin typeface="Segoe UI"/>
                <a:ea typeface="Segoe UI"/>
                <a:cs typeface="Segoe UI"/>
              </a:rPr>
              <a:t>H</a:t>
            </a:r>
            <a:endParaRPr lang="en-US" sz="1600" dirty="0"/>
          </a:p>
        </p:txBody>
      </p:sp>
      <p:sp>
        <p:nvSpPr>
          <p:cNvPr id="102" name="s102"/>
          <p:cNvSpPr/>
          <p:nvPr/>
        </p:nvSpPr>
        <p:spPr>
          <a:xfrm>
            <a:off x="1274674" y="1847088"/>
            <a:ext cx="10356494" cy="731520"/>
          </a:xfrm>
          <a:prstGeom prst="roundRect">
            <a:avLst>
              <a:gd name="adj" fmla="val 14000"/>
            </a:avLst>
          </a:prstGeom>
          <a:solidFill>
            <a:srgbClr val="111B2E"/>
          </a:solidFill>
          <a:ln w="12700">
            <a:solidFill>
              <a:srgbClr val="94A3B8"/>
            </a:solidFill>
            <a:prstDash val="solid"/>
          </a:ln>
        </p:spPr>
        <p:txBody>
          <a:bodyPr wrap="square" lIns="201168" tIns="45720" rIns="182880" bIns="45720" rtlCol="0" anchor="ctr">
            <a:noAutofit/>
          </a:bodyPr>
          <a:lstStyle/>
          <a:p>
            <a:pPr marL="0" indent="0" algn="l">
              <a:spcBef>
                <a:spcPts val="0"/>
              </a:spcBef>
              <a:spcAft>
                <a:spcPts val="200"/>
              </a:spcAft>
              <a:buNone/>
            </a:pPr>
            <a:r>
              <a:rPr lang="en-US" sz="1100" b="1" dirty="0">
                <a:solidFill>
                  <a:srgbClr val="94A3B8"/>
                </a:solidFill>
                <a:latin typeface="Segoe UI"/>
                <a:ea typeface="Segoe UI"/>
                <a:cs typeface="Segoe UI"/>
              </a:rPr>
              <a:t>Hospital manager</a:t>
            </a:r>
            <a:endParaRPr lang="en-US" sz="1100" dirty="0"/>
          </a:p>
          <a:p>
            <a:pPr marL="0" indent="0" algn="l">
              <a:spcBef>
                <a:spcPts val="0"/>
              </a:spcBef>
              <a:spcAft>
                <a:spcPts val="0"/>
              </a:spcAft>
              <a:buNone/>
            </a:pPr>
            <a:r>
              <a:rPr lang="en-US" sz="1600" b="0" dirty="0">
                <a:solidFill>
                  <a:srgbClr val="FFFFFF"/>
                </a:solidFill>
                <a:latin typeface="Segoe UI"/>
                <a:ea typeface="Segoe UI"/>
                <a:cs typeface="Segoe UI"/>
              </a:rPr>
              <a:t>Can you also add insurance approval this week?</a:t>
            </a:r>
            <a:endParaRPr lang="en-US" sz="1600" dirty="0"/>
          </a:p>
        </p:txBody>
      </p:sp>
      <p:sp>
        <p:nvSpPr>
          <p:cNvPr id="103" name="s103"/>
          <p:cNvSpPr/>
          <p:nvPr/>
        </p:nvSpPr>
        <p:spPr>
          <a:xfrm>
            <a:off x="543154" y="2880360"/>
            <a:ext cx="5406847" cy="2697480"/>
          </a:xfrm>
          <a:prstGeom prst="roundRect">
            <a:avLst>
              <a:gd name="adj" fmla="val 8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04" name="s104"/>
          <p:cNvSpPr/>
          <p:nvPr/>
        </p:nvSpPr>
        <p:spPr>
          <a:xfrm>
            <a:off x="771754" y="3063240"/>
            <a:ext cx="502920" cy="50292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5" name="img105"/>
          <p:cNvPicPr>
            <a:picLocks noChangeAspect="1"/>
          </p:cNvPicPr>
          <p:nvPr/>
        </p:nvPicPr>
        <p:blipFill>
          <a:blip r:embed="rId4"/>
          <a:stretch>
            <a:fillRect/>
          </a:stretch>
        </p:blipFill>
        <p:spPr>
          <a:xfrm>
            <a:off x="892454" y="3183941"/>
            <a:ext cx="261518" cy="261518"/>
          </a:xfrm>
          <a:prstGeom prst="rect">
            <a:avLst/>
          </a:prstGeom>
        </p:spPr>
      </p:pic>
      <p:sp>
        <p:nvSpPr>
          <p:cNvPr id="106" name="s106"/>
          <p:cNvSpPr txBox="1"/>
          <p:nvPr/>
        </p:nvSpPr>
        <p:spPr>
          <a:xfrm>
            <a:off x="1457554" y="3063240"/>
            <a:ext cx="4309567"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87171"/>
                </a:solidFill>
                <a:latin typeface="Segoe UI"/>
                <a:ea typeface="Segoe UI"/>
                <a:cs typeface="Segoe UI"/>
              </a:rPr>
              <a:t>WRONG</a:t>
            </a:r>
            <a:endParaRPr lang="en-US" sz="1300" dirty="0"/>
          </a:p>
        </p:txBody>
      </p:sp>
      <p:sp>
        <p:nvSpPr>
          <p:cNvPr id="107" name="s107"/>
          <p:cNvSpPr txBox="1"/>
          <p:nvPr/>
        </p:nvSpPr>
        <p:spPr>
          <a:xfrm>
            <a:off x="817474" y="3749040"/>
            <a:ext cx="4858207" cy="13716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800" b="1" dirty="0">
                <a:solidFill>
                  <a:srgbClr val="FFFFFF"/>
                </a:solidFill>
                <a:latin typeface="Segoe UI"/>
                <a:ea typeface="Segoe UI"/>
                <a:cs typeface="Segoe UI"/>
              </a:rPr>
              <a:t>Immediately add it and interrupt all current work.</a:t>
            </a:r>
            <a:endParaRPr lang="en-US" sz="1800" dirty="0"/>
          </a:p>
        </p:txBody>
      </p:sp>
      <p:sp>
        <p:nvSpPr>
          <p:cNvPr id="108" name="s108"/>
          <p:cNvSpPr/>
          <p:nvPr/>
        </p:nvSpPr>
        <p:spPr>
          <a:xfrm>
            <a:off x="6224321" y="2880360"/>
            <a:ext cx="5406847" cy="2697480"/>
          </a:xfrm>
          <a:prstGeom prst="roundRect">
            <a:avLst>
              <a:gd name="adj" fmla="val 8000"/>
            </a:avLst>
          </a:prstGeom>
          <a:solidFill>
            <a:srgbClr val="34D399">
              <a:alpha val="7000"/>
            </a:srgbClr>
          </a:solidFill>
          <a:ln w="12700">
            <a:solidFill>
              <a:srgbClr val="34D399"/>
            </a:solidFill>
            <a:prstDash val="solid"/>
          </a:ln>
        </p:spPr>
        <p:txBody>
          <a:bodyPr wrap="square" lIns="164592" tIns="109728" rIns="137160" bIns="91440" rtlCol="0" anchor="t">
            <a:noAutofit/>
          </a:bodyPr>
          <a:lstStyle/>
          <a:p>
            <a:endParaRPr lang="en-US"/>
          </a:p>
        </p:txBody>
      </p:sp>
      <p:sp>
        <p:nvSpPr>
          <p:cNvPr id="109" name="s109"/>
          <p:cNvSpPr/>
          <p:nvPr/>
        </p:nvSpPr>
        <p:spPr>
          <a:xfrm>
            <a:off x="6452921" y="3063240"/>
            <a:ext cx="502920" cy="50292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10" name="img110"/>
          <p:cNvPicPr>
            <a:picLocks noChangeAspect="1"/>
          </p:cNvPicPr>
          <p:nvPr/>
        </p:nvPicPr>
        <p:blipFill>
          <a:blip r:embed="rId5"/>
          <a:stretch>
            <a:fillRect/>
          </a:stretch>
        </p:blipFill>
        <p:spPr>
          <a:xfrm>
            <a:off x="6573622" y="3183941"/>
            <a:ext cx="261518" cy="261518"/>
          </a:xfrm>
          <a:prstGeom prst="rect">
            <a:avLst/>
          </a:prstGeom>
        </p:spPr>
      </p:pic>
      <p:sp>
        <p:nvSpPr>
          <p:cNvPr id="111" name="s111"/>
          <p:cNvSpPr txBox="1"/>
          <p:nvPr/>
        </p:nvSpPr>
        <p:spPr>
          <a:xfrm>
            <a:off x="7138721" y="3063240"/>
            <a:ext cx="4309567" cy="5029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PROPER DISCUSSION</a:t>
            </a:r>
            <a:endParaRPr lang="en-US" sz="1300" dirty="0"/>
          </a:p>
        </p:txBody>
      </p:sp>
      <p:sp>
        <p:nvSpPr>
          <p:cNvPr id="112" name="s112"/>
          <p:cNvSpPr/>
          <p:nvPr/>
        </p:nvSpPr>
        <p:spPr>
          <a:xfrm>
            <a:off x="6498641" y="3749040"/>
            <a:ext cx="2468880" cy="384048"/>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34D399"/>
                </a:solidFill>
                <a:latin typeface="Segoe UI"/>
                <a:ea typeface="Segoe UI"/>
                <a:cs typeface="Segoe UI"/>
              </a:rPr>
              <a:t>Supports the Sprint Goal?</a:t>
            </a:r>
            <a:endParaRPr lang="en-US" sz="1150" dirty="0"/>
          </a:p>
        </p:txBody>
      </p:sp>
      <p:sp>
        <p:nvSpPr>
          <p:cNvPr id="113" name="s113"/>
          <p:cNvSpPr/>
          <p:nvPr/>
        </p:nvSpPr>
        <p:spPr>
          <a:xfrm>
            <a:off x="9104681" y="3749040"/>
            <a:ext cx="2468880" cy="384048"/>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34D399"/>
                </a:solidFill>
                <a:latin typeface="Segoe UI"/>
                <a:ea typeface="Segoe UI"/>
                <a:cs typeface="Segoe UI"/>
              </a:rPr>
              <a:t>Urgent?</a:t>
            </a:r>
            <a:endParaRPr lang="en-US" sz="1150" dirty="0"/>
          </a:p>
        </p:txBody>
      </p:sp>
      <p:sp>
        <p:nvSpPr>
          <p:cNvPr id="114" name="s114"/>
          <p:cNvSpPr/>
          <p:nvPr/>
        </p:nvSpPr>
        <p:spPr>
          <a:xfrm>
            <a:off x="6498641" y="4251960"/>
            <a:ext cx="2468880" cy="384048"/>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34D399"/>
                </a:solidFill>
                <a:latin typeface="Segoe UI"/>
                <a:ea typeface="Segoe UI"/>
                <a:cs typeface="Segoe UI"/>
              </a:rPr>
              <a:t>What is affected?</a:t>
            </a:r>
            <a:endParaRPr lang="en-US" sz="1150" dirty="0"/>
          </a:p>
        </p:txBody>
      </p:sp>
      <p:sp>
        <p:nvSpPr>
          <p:cNvPr id="115" name="s115"/>
          <p:cNvSpPr/>
          <p:nvPr/>
        </p:nvSpPr>
        <p:spPr>
          <a:xfrm>
            <a:off x="9104681" y="4251960"/>
            <a:ext cx="2468880" cy="384048"/>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34D399"/>
                </a:solidFill>
                <a:latin typeface="Segoe UI"/>
                <a:ea typeface="Segoe UI"/>
                <a:cs typeface="Segoe UI"/>
              </a:rPr>
              <a:t>Reorder future work?</a:t>
            </a:r>
            <a:endParaRPr lang="en-US" sz="1150" dirty="0"/>
          </a:p>
        </p:txBody>
      </p:sp>
      <p:sp>
        <p:nvSpPr>
          <p:cNvPr id="116" name="s116"/>
          <p:cNvSpPr/>
          <p:nvPr/>
        </p:nvSpPr>
        <p:spPr>
          <a:xfrm>
            <a:off x="6498641" y="4754880"/>
            <a:ext cx="2468880" cy="384048"/>
          </a:xfrm>
          <a:prstGeom prst="roundRect">
            <a:avLst>
              <a:gd name="adj" fmla="val 50000"/>
            </a:avLst>
          </a:prstGeom>
          <a:solidFill>
            <a:srgbClr val="34D399">
              <a:alpha val="18000"/>
            </a:srgbClr>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34D399"/>
                </a:solidFill>
                <a:latin typeface="Segoe UI"/>
                <a:ea typeface="Segoe UI"/>
                <a:cs typeface="Segoe UI"/>
              </a:rPr>
              <a:t>Renegotiate scope?</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anim calcmode="lin" valueType="num">
                                      <p:cBhvr additive="base">
                                        <p:cTn id="18" dur="500" decel="100000" fill="hold"/>
                                        <p:tgtEl>
                                          <p:spTgt spid="103"/>
                                        </p:tgtEl>
                                        <p:attrNameLst>
                                          <p:attrName>ppt_x</p:attrName>
                                        </p:attrNameLst>
                                      </p:cBhvr>
                                      <p:tavLst>
                                        <p:tav tm="0">
                                          <p:val>
                                            <p:strVal val="#ppt_x-0.05"/>
                                          </p:val>
                                        </p:tav>
                                        <p:tav tm="100000">
                                          <p:val>
                                            <p:strVal val="#ppt_x"/>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04"/>
                                        </p:tgtEl>
                                        <p:attrNameLst>
                                          <p:attrName>style.visibility</p:attrName>
                                        </p:attrNameLst>
                                      </p:cBhvr>
                                      <p:to>
                                        <p:strVal val="visible"/>
                                      </p:to>
                                    </p:set>
                                    <p:animEffect transition="in" filter="fade">
                                      <p:cBhvr>
                                        <p:cTn id="21" dur="500"/>
                                        <p:tgtEl>
                                          <p:spTgt spid="104"/>
                                        </p:tgtEl>
                                      </p:cBhvr>
                                    </p:animEffect>
                                    <p:anim calcmode="lin" valueType="num">
                                      <p:cBhvr additive="base">
                                        <p:cTn id="22" dur="500" decel="100000" fill="hold"/>
                                        <p:tgtEl>
                                          <p:spTgt spid="104"/>
                                        </p:tgtEl>
                                        <p:attrNameLst>
                                          <p:attrName>ppt_x</p:attrName>
                                        </p:attrNameLst>
                                      </p:cBhvr>
                                      <p:tavLst>
                                        <p:tav tm="0">
                                          <p:val>
                                            <p:strVal val="#ppt_x-0.05"/>
                                          </p:val>
                                        </p:tav>
                                        <p:tav tm="100000">
                                          <p:val>
                                            <p:strVal val="#ppt_x"/>
                                          </p:val>
                                        </p:tav>
                                      </p:tavLst>
                                    </p:anim>
                                  </p:childTnLst>
                                </p:cTn>
                              </p:par>
                              <p:par>
                                <p:cTn id="23" presetID="42" presetClass="entr" presetSubtype="0" fill="hold" nodeType="withEffect">
                                  <p:stCondLst>
                                    <p:cond delay="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ppt_x</p:attrName>
                                        </p:attrNameLst>
                                      </p:cBhvr>
                                      <p:tavLst>
                                        <p:tav tm="0">
                                          <p:val>
                                            <p:strVal val="#ppt_x-0.05"/>
                                          </p:val>
                                        </p:tav>
                                        <p:tav tm="100000">
                                          <p:val>
                                            <p:strVal val="#ppt_x"/>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ppt_x</p:attrName>
                                        </p:attrNameLst>
                                      </p:cBhvr>
                                      <p:tavLst>
                                        <p:tav tm="0">
                                          <p:val>
                                            <p:strVal val="#ppt_x-0.05"/>
                                          </p:val>
                                        </p:tav>
                                        <p:tav tm="100000">
                                          <p:val>
                                            <p:strVal val="#ppt_x"/>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108"/>
                                        </p:tgtEl>
                                        <p:attrNameLst>
                                          <p:attrName>style.visibility</p:attrName>
                                        </p:attrNameLst>
                                      </p:cBhvr>
                                      <p:to>
                                        <p:strVal val="visible"/>
                                      </p:to>
                                    </p:set>
                                    <p:animEffect transition="in" filter="fade">
                                      <p:cBhvr>
                                        <p:cTn id="39" dur="500"/>
                                        <p:tgtEl>
                                          <p:spTgt spid="108"/>
                                        </p:tgtEl>
                                      </p:cBhvr>
                                    </p:animEffect>
                                    <p:anim calcmode="lin" valueType="num">
                                      <p:cBhvr additive="base">
                                        <p:cTn id="40" dur="500" decel="100000" fill="hold"/>
                                        <p:tgtEl>
                                          <p:spTgt spid="108"/>
                                        </p:tgtEl>
                                        <p:attrNameLst>
                                          <p:attrName>ppt_x</p:attrName>
                                        </p:attrNameLst>
                                      </p:cBhvr>
                                      <p:tavLst>
                                        <p:tav tm="0">
                                          <p:val>
                                            <p:strVal val="#ppt_x+0.05"/>
                                          </p:val>
                                        </p:tav>
                                        <p:tav tm="100000">
                                          <p:val>
                                            <p:strVal val="#ppt_x"/>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09"/>
                                        </p:tgtEl>
                                        <p:attrNameLst>
                                          <p:attrName>style.visibility</p:attrName>
                                        </p:attrNameLst>
                                      </p:cBhvr>
                                      <p:to>
                                        <p:strVal val="visible"/>
                                      </p:to>
                                    </p:set>
                                    <p:animEffect transition="in" filter="fade">
                                      <p:cBhvr>
                                        <p:cTn id="43" dur="500"/>
                                        <p:tgtEl>
                                          <p:spTgt spid="109"/>
                                        </p:tgtEl>
                                      </p:cBhvr>
                                    </p:animEffect>
                                    <p:anim calcmode="lin" valueType="num">
                                      <p:cBhvr additive="base">
                                        <p:cTn id="44" dur="500" decel="100000" fill="hold"/>
                                        <p:tgtEl>
                                          <p:spTgt spid="109"/>
                                        </p:tgtEl>
                                        <p:attrNameLst>
                                          <p:attrName>ppt_x</p:attrName>
                                        </p:attrNameLst>
                                      </p:cBhvr>
                                      <p:tavLst>
                                        <p:tav tm="0">
                                          <p:val>
                                            <p:strVal val="#ppt_x+0.05"/>
                                          </p:val>
                                        </p:tav>
                                        <p:tav tm="100000">
                                          <p:val>
                                            <p:strVal val="#ppt_x"/>
                                          </p:val>
                                        </p:tav>
                                      </p:tavLst>
                                    </p:anim>
                                  </p:childTnLst>
                                </p:cTn>
                              </p:par>
                              <p:par>
                                <p:cTn id="45" presetID="42" presetClass="entr" presetSubtype="0" fill="hold" nodeType="withEffect">
                                  <p:stCondLst>
                                    <p:cond delay="0"/>
                                  </p:stCondLst>
                                  <p:childTnLst>
                                    <p:set>
                                      <p:cBhvr>
                                        <p:cTn id="46" dur="1" fill="hold">
                                          <p:stCondLst>
                                            <p:cond delay="0"/>
                                          </p:stCondLst>
                                        </p:cTn>
                                        <p:tgtEl>
                                          <p:spTgt spid="110"/>
                                        </p:tgtEl>
                                        <p:attrNameLst>
                                          <p:attrName>style.visibility</p:attrName>
                                        </p:attrNameLst>
                                      </p:cBhvr>
                                      <p:to>
                                        <p:strVal val="visible"/>
                                      </p:to>
                                    </p:set>
                                    <p:animEffect transition="in" filter="fade">
                                      <p:cBhvr>
                                        <p:cTn id="47" dur="500"/>
                                        <p:tgtEl>
                                          <p:spTgt spid="110"/>
                                        </p:tgtEl>
                                      </p:cBhvr>
                                    </p:animEffect>
                                    <p:anim calcmode="lin" valueType="num">
                                      <p:cBhvr additive="base">
                                        <p:cTn id="48" dur="500" decel="100000" fill="hold"/>
                                        <p:tgtEl>
                                          <p:spTgt spid="110"/>
                                        </p:tgtEl>
                                        <p:attrNameLst>
                                          <p:attrName>ppt_x</p:attrName>
                                        </p:attrNameLst>
                                      </p:cBhvr>
                                      <p:tavLst>
                                        <p:tav tm="0">
                                          <p:val>
                                            <p:strVal val="#ppt_x+0.05"/>
                                          </p:val>
                                        </p:tav>
                                        <p:tav tm="100000">
                                          <p:val>
                                            <p:strVal val="#ppt_x"/>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1"/>
                                        </p:tgtEl>
                                        <p:attrNameLst>
                                          <p:attrName>style.visibility</p:attrName>
                                        </p:attrNameLst>
                                      </p:cBhvr>
                                      <p:to>
                                        <p:strVal val="visible"/>
                                      </p:to>
                                    </p:set>
                                    <p:animEffect transition="in" filter="fade">
                                      <p:cBhvr>
                                        <p:cTn id="51" dur="500"/>
                                        <p:tgtEl>
                                          <p:spTgt spid="111"/>
                                        </p:tgtEl>
                                      </p:cBhvr>
                                    </p:animEffect>
                                    <p:anim calcmode="lin" valueType="num">
                                      <p:cBhvr additive="base">
                                        <p:cTn id="52" dur="500" decel="100000" fill="hold"/>
                                        <p:tgtEl>
                                          <p:spTgt spid="111"/>
                                        </p:tgtEl>
                                        <p:attrNameLst>
                                          <p:attrName>ppt_x</p:attrName>
                                        </p:attrNameLst>
                                      </p:cBhvr>
                                      <p:tavLst>
                                        <p:tav tm="0">
                                          <p:val>
                                            <p:strVal val="#ppt_x+0.05"/>
                                          </p:val>
                                        </p:tav>
                                        <p:tav tm="100000">
                                          <p:val>
                                            <p:strVal val="#ppt_x"/>
                                          </p:val>
                                        </p:tav>
                                      </p:tavLst>
                                    </p:anim>
                                  </p:childTnLst>
                                </p:cTn>
                              </p:par>
                              <p:par>
                                <p:cTn id="53" presetID="53" presetClass="entr" presetSubtype="16" fill="hold" grpId="0" nodeType="withEffect">
                                  <p:stCondLst>
                                    <p:cond delay="110"/>
                                  </p:stCondLst>
                                  <p:childTnLst>
                                    <p:set>
                                      <p:cBhvr>
                                        <p:cTn id="54" dur="1" fill="hold">
                                          <p:stCondLst>
                                            <p:cond delay="0"/>
                                          </p:stCondLst>
                                        </p:cTn>
                                        <p:tgtEl>
                                          <p:spTgt spid="112"/>
                                        </p:tgtEl>
                                        <p:attrNameLst>
                                          <p:attrName>style.visibility</p:attrName>
                                        </p:attrNameLst>
                                      </p:cBhvr>
                                      <p:to>
                                        <p:strVal val="visible"/>
                                      </p:to>
                                    </p:set>
                                    <p:anim calcmode="lin" valueType="num">
                                      <p:cBhvr additive="base">
                                        <p:cTn id="55" dur="500" decel="100000" fill="hold"/>
                                        <p:tgtEl>
                                          <p:spTgt spid="112"/>
                                        </p:tgtEl>
                                        <p:attrNameLst>
                                          <p:attrName>ppt_w</p:attrName>
                                        </p:attrNameLst>
                                      </p:cBhvr>
                                      <p:tavLst>
                                        <p:tav tm="0">
                                          <p:val>
                                            <p:strVal val="#ppt_w*0.3"/>
                                          </p:val>
                                        </p:tav>
                                        <p:tav tm="100000">
                                          <p:val>
                                            <p:strVal val="#ppt_w*1.08"/>
                                          </p:val>
                                        </p:tav>
                                      </p:tavLst>
                                    </p:anim>
                                    <p:anim calcmode="lin" valueType="num">
                                      <p:cBhvr additive="base">
                                        <p:cTn id="56" dur="500" decel="100000" fill="hold"/>
                                        <p:tgtEl>
                                          <p:spTgt spid="112"/>
                                        </p:tgtEl>
                                        <p:attrNameLst>
                                          <p:attrName>ppt_h</p:attrName>
                                        </p:attrNameLst>
                                      </p:cBhvr>
                                      <p:tavLst>
                                        <p:tav tm="0">
                                          <p:val>
                                            <p:strVal val="#ppt_h*0.3"/>
                                          </p:val>
                                        </p:tav>
                                        <p:tav tm="100000">
                                          <p:val>
                                            <p:strVal val="#ppt_h*1.08"/>
                                          </p:val>
                                        </p:tav>
                                      </p:tavLst>
                                    </p:anim>
                                    <p:animEffect transition="in" filter="fade">
                                      <p:cBhvr>
                                        <p:cTn id="57" dur="250"/>
                                        <p:tgtEl>
                                          <p:spTgt spid="112"/>
                                        </p:tgtEl>
                                      </p:cBhvr>
                                    </p:animEffect>
                                    <p:anim calcmode="lin" valueType="num">
                                      <p:cBhvr additive="base">
                                        <p:cTn id="58" dur="160" fill="hold">
                                          <p:stCondLst>
                                            <p:cond delay="500"/>
                                          </p:stCondLst>
                                        </p:cTn>
                                        <p:tgtEl>
                                          <p:spTgt spid="112"/>
                                        </p:tgtEl>
                                        <p:attrNameLst>
                                          <p:attrName>ppt_w</p:attrName>
                                        </p:attrNameLst>
                                      </p:cBhvr>
                                      <p:tavLst>
                                        <p:tav tm="0">
                                          <p:val>
                                            <p:strVal val="#ppt_w*1.08"/>
                                          </p:val>
                                        </p:tav>
                                        <p:tav tm="100000">
                                          <p:val>
                                            <p:strVal val="#ppt_w"/>
                                          </p:val>
                                        </p:tav>
                                      </p:tavLst>
                                    </p:anim>
                                    <p:anim calcmode="lin" valueType="num">
                                      <p:cBhvr additive="base">
                                        <p:cTn id="59" dur="160" fill="hold">
                                          <p:stCondLst>
                                            <p:cond delay="500"/>
                                          </p:stCondLst>
                                        </p:cTn>
                                        <p:tgtEl>
                                          <p:spTgt spid="112"/>
                                        </p:tgtEl>
                                        <p:attrNameLst>
                                          <p:attrName>ppt_h</p:attrName>
                                        </p:attrNameLst>
                                      </p:cBhvr>
                                      <p:tavLst>
                                        <p:tav tm="0">
                                          <p:val>
                                            <p:strVal val="#ppt_h*1.08"/>
                                          </p:val>
                                        </p:tav>
                                        <p:tav tm="100000">
                                          <p:val>
                                            <p:strVal val="#ppt_h"/>
                                          </p:val>
                                        </p:tav>
                                      </p:tavLst>
                                    </p:anim>
                                  </p:childTnLst>
                                </p:cTn>
                              </p:par>
                              <p:par>
                                <p:cTn id="60" presetID="53" presetClass="entr" presetSubtype="16" fill="hold" grpId="0" nodeType="withEffect">
                                  <p:stCondLst>
                                    <p:cond delay="220"/>
                                  </p:stCondLst>
                                  <p:childTnLst>
                                    <p:set>
                                      <p:cBhvr>
                                        <p:cTn id="61" dur="1" fill="hold">
                                          <p:stCondLst>
                                            <p:cond delay="0"/>
                                          </p:stCondLst>
                                        </p:cTn>
                                        <p:tgtEl>
                                          <p:spTgt spid="113"/>
                                        </p:tgtEl>
                                        <p:attrNameLst>
                                          <p:attrName>style.visibility</p:attrName>
                                        </p:attrNameLst>
                                      </p:cBhvr>
                                      <p:to>
                                        <p:strVal val="visible"/>
                                      </p:to>
                                    </p:set>
                                    <p:anim calcmode="lin" valueType="num">
                                      <p:cBhvr additive="base">
                                        <p:cTn id="62" dur="500" decel="100000" fill="hold"/>
                                        <p:tgtEl>
                                          <p:spTgt spid="113"/>
                                        </p:tgtEl>
                                        <p:attrNameLst>
                                          <p:attrName>ppt_w</p:attrName>
                                        </p:attrNameLst>
                                      </p:cBhvr>
                                      <p:tavLst>
                                        <p:tav tm="0">
                                          <p:val>
                                            <p:strVal val="#ppt_w*0.3"/>
                                          </p:val>
                                        </p:tav>
                                        <p:tav tm="100000">
                                          <p:val>
                                            <p:strVal val="#ppt_w*1.08"/>
                                          </p:val>
                                        </p:tav>
                                      </p:tavLst>
                                    </p:anim>
                                    <p:anim calcmode="lin" valueType="num">
                                      <p:cBhvr additive="base">
                                        <p:cTn id="63" dur="500" decel="100000" fill="hold"/>
                                        <p:tgtEl>
                                          <p:spTgt spid="113"/>
                                        </p:tgtEl>
                                        <p:attrNameLst>
                                          <p:attrName>ppt_h</p:attrName>
                                        </p:attrNameLst>
                                      </p:cBhvr>
                                      <p:tavLst>
                                        <p:tav tm="0">
                                          <p:val>
                                            <p:strVal val="#ppt_h*0.3"/>
                                          </p:val>
                                        </p:tav>
                                        <p:tav tm="100000">
                                          <p:val>
                                            <p:strVal val="#ppt_h*1.08"/>
                                          </p:val>
                                        </p:tav>
                                      </p:tavLst>
                                    </p:anim>
                                    <p:animEffect transition="in" filter="fade">
                                      <p:cBhvr>
                                        <p:cTn id="64" dur="250"/>
                                        <p:tgtEl>
                                          <p:spTgt spid="113"/>
                                        </p:tgtEl>
                                      </p:cBhvr>
                                    </p:animEffect>
                                    <p:anim calcmode="lin" valueType="num">
                                      <p:cBhvr additive="base">
                                        <p:cTn id="65" dur="160" fill="hold">
                                          <p:stCondLst>
                                            <p:cond delay="500"/>
                                          </p:stCondLst>
                                        </p:cTn>
                                        <p:tgtEl>
                                          <p:spTgt spid="113"/>
                                        </p:tgtEl>
                                        <p:attrNameLst>
                                          <p:attrName>ppt_w</p:attrName>
                                        </p:attrNameLst>
                                      </p:cBhvr>
                                      <p:tavLst>
                                        <p:tav tm="0">
                                          <p:val>
                                            <p:strVal val="#ppt_w*1.08"/>
                                          </p:val>
                                        </p:tav>
                                        <p:tav tm="100000">
                                          <p:val>
                                            <p:strVal val="#ppt_w"/>
                                          </p:val>
                                        </p:tav>
                                      </p:tavLst>
                                    </p:anim>
                                    <p:anim calcmode="lin" valueType="num">
                                      <p:cBhvr additive="base">
                                        <p:cTn id="66" dur="160" fill="hold">
                                          <p:stCondLst>
                                            <p:cond delay="500"/>
                                          </p:stCondLst>
                                        </p:cTn>
                                        <p:tgtEl>
                                          <p:spTgt spid="113"/>
                                        </p:tgtEl>
                                        <p:attrNameLst>
                                          <p:attrName>ppt_h</p:attrName>
                                        </p:attrNameLst>
                                      </p:cBhvr>
                                      <p:tavLst>
                                        <p:tav tm="0">
                                          <p:val>
                                            <p:strVal val="#ppt_h*1.08"/>
                                          </p:val>
                                        </p:tav>
                                        <p:tav tm="100000">
                                          <p:val>
                                            <p:strVal val="#ppt_h"/>
                                          </p:val>
                                        </p:tav>
                                      </p:tavLst>
                                    </p:anim>
                                  </p:childTnLst>
                                </p:cTn>
                              </p:par>
                              <p:par>
                                <p:cTn id="67" presetID="53" presetClass="entr" presetSubtype="16" fill="hold" grpId="0" nodeType="withEffect">
                                  <p:stCondLst>
                                    <p:cond delay="330"/>
                                  </p:stCondLst>
                                  <p:childTnLst>
                                    <p:set>
                                      <p:cBhvr>
                                        <p:cTn id="68" dur="1" fill="hold">
                                          <p:stCondLst>
                                            <p:cond delay="0"/>
                                          </p:stCondLst>
                                        </p:cTn>
                                        <p:tgtEl>
                                          <p:spTgt spid="114"/>
                                        </p:tgtEl>
                                        <p:attrNameLst>
                                          <p:attrName>style.visibility</p:attrName>
                                        </p:attrNameLst>
                                      </p:cBhvr>
                                      <p:to>
                                        <p:strVal val="visible"/>
                                      </p:to>
                                    </p:set>
                                    <p:anim calcmode="lin" valueType="num">
                                      <p:cBhvr additive="base">
                                        <p:cTn id="69" dur="500" decel="100000" fill="hold"/>
                                        <p:tgtEl>
                                          <p:spTgt spid="114"/>
                                        </p:tgtEl>
                                        <p:attrNameLst>
                                          <p:attrName>ppt_w</p:attrName>
                                        </p:attrNameLst>
                                      </p:cBhvr>
                                      <p:tavLst>
                                        <p:tav tm="0">
                                          <p:val>
                                            <p:strVal val="#ppt_w*0.3"/>
                                          </p:val>
                                        </p:tav>
                                        <p:tav tm="100000">
                                          <p:val>
                                            <p:strVal val="#ppt_w*1.08"/>
                                          </p:val>
                                        </p:tav>
                                      </p:tavLst>
                                    </p:anim>
                                    <p:anim calcmode="lin" valueType="num">
                                      <p:cBhvr additive="base">
                                        <p:cTn id="70" dur="500" decel="100000" fill="hold"/>
                                        <p:tgtEl>
                                          <p:spTgt spid="114"/>
                                        </p:tgtEl>
                                        <p:attrNameLst>
                                          <p:attrName>ppt_h</p:attrName>
                                        </p:attrNameLst>
                                      </p:cBhvr>
                                      <p:tavLst>
                                        <p:tav tm="0">
                                          <p:val>
                                            <p:strVal val="#ppt_h*0.3"/>
                                          </p:val>
                                        </p:tav>
                                        <p:tav tm="100000">
                                          <p:val>
                                            <p:strVal val="#ppt_h*1.08"/>
                                          </p:val>
                                        </p:tav>
                                      </p:tavLst>
                                    </p:anim>
                                    <p:animEffect transition="in" filter="fade">
                                      <p:cBhvr>
                                        <p:cTn id="71" dur="250"/>
                                        <p:tgtEl>
                                          <p:spTgt spid="114"/>
                                        </p:tgtEl>
                                      </p:cBhvr>
                                    </p:animEffect>
                                    <p:anim calcmode="lin" valueType="num">
                                      <p:cBhvr additive="base">
                                        <p:cTn id="72" dur="160" fill="hold">
                                          <p:stCondLst>
                                            <p:cond delay="500"/>
                                          </p:stCondLst>
                                        </p:cTn>
                                        <p:tgtEl>
                                          <p:spTgt spid="114"/>
                                        </p:tgtEl>
                                        <p:attrNameLst>
                                          <p:attrName>ppt_w</p:attrName>
                                        </p:attrNameLst>
                                      </p:cBhvr>
                                      <p:tavLst>
                                        <p:tav tm="0">
                                          <p:val>
                                            <p:strVal val="#ppt_w*1.08"/>
                                          </p:val>
                                        </p:tav>
                                        <p:tav tm="100000">
                                          <p:val>
                                            <p:strVal val="#ppt_w"/>
                                          </p:val>
                                        </p:tav>
                                      </p:tavLst>
                                    </p:anim>
                                    <p:anim calcmode="lin" valueType="num">
                                      <p:cBhvr additive="base">
                                        <p:cTn id="73" dur="160" fill="hold">
                                          <p:stCondLst>
                                            <p:cond delay="500"/>
                                          </p:stCondLst>
                                        </p:cTn>
                                        <p:tgtEl>
                                          <p:spTgt spid="114"/>
                                        </p:tgtEl>
                                        <p:attrNameLst>
                                          <p:attrName>ppt_h</p:attrName>
                                        </p:attrNameLst>
                                      </p:cBhvr>
                                      <p:tavLst>
                                        <p:tav tm="0">
                                          <p:val>
                                            <p:strVal val="#ppt_h*1.08"/>
                                          </p:val>
                                        </p:tav>
                                        <p:tav tm="100000">
                                          <p:val>
                                            <p:strVal val="#ppt_h"/>
                                          </p:val>
                                        </p:tav>
                                      </p:tavLst>
                                    </p:anim>
                                  </p:childTnLst>
                                </p:cTn>
                              </p:par>
                              <p:par>
                                <p:cTn id="74" presetID="53" presetClass="entr" presetSubtype="16" fill="hold" grpId="0" nodeType="withEffect">
                                  <p:stCondLst>
                                    <p:cond delay="440"/>
                                  </p:stCondLst>
                                  <p:childTnLst>
                                    <p:set>
                                      <p:cBhvr>
                                        <p:cTn id="75" dur="1" fill="hold">
                                          <p:stCondLst>
                                            <p:cond delay="0"/>
                                          </p:stCondLst>
                                        </p:cTn>
                                        <p:tgtEl>
                                          <p:spTgt spid="115"/>
                                        </p:tgtEl>
                                        <p:attrNameLst>
                                          <p:attrName>style.visibility</p:attrName>
                                        </p:attrNameLst>
                                      </p:cBhvr>
                                      <p:to>
                                        <p:strVal val="visible"/>
                                      </p:to>
                                    </p:set>
                                    <p:anim calcmode="lin" valueType="num">
                                      <p:cBhvr additive="base">
                                        <p:cTn id="76" dur="5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77" dur="500" decel="100000" fill="hold"/>
                                        <p:tgtEl>
                                          <p:spTgt spid="115"/>
                                        </p:tgtEl>
                                        <p:attrNameLst>
                                          <p:attrName>ppt_h</p:attrName>
                                        </p:attrNameLst>
                                      </p:cBhvr>
                                      <p:tavLst>
                                        <p:tav tm="0">
                                          <p:val>
                                            <p:strVal val="#ppt_h*0.3"/>
                                          </p:val>
                                        </p:tav>
                                        <p:tav tm="100000">
                                          <p:val>
                                            <p:strVal val="#ppt_h*1.08"/>
                                          </p:val>
                                        </p:tav>
                                      </p:tavLst>
                                    </p:anim>
                                    <p:animEffect transition="in" filter="fade">
                                      <p:cBhvr>
                                        <p:cTn id="78" dur="250"/>
                                        <p:tgtEl>
                                          <p:spTgt spid="115"/>
                                        </p:tgtEl>
                                      </p:cBhvr>
                                    </p:animEffect>
                                    <p:anim calcmode="lin" valueType="num">
                                      <p:cBhvr additive="base">
                                        <p:cTn id="79" dur="160" fill="hold">
                                          <p:stCondLst>
                                            <p:cond delay="500"/>
                                          </p:stCondLst>
                                        </p:cTn>
                                        <p:tgtEl>
                                          <p:spTgt spid="115"/>
                                        </p:tgtEl>
                                        <p:attrNameLst>
                                          <p:attrName>ppt_w</p:attrName>
                                        </p:attrNameLst>
                                      </p:cBhvr>
                                      <p:tavLst>
                                        <p:tav tm="0">
                                          <p:val>
                                            <p:strVal val="#ppt_w*1.08"/>
                                          </p:val>
                                        </p:tav>
                                        <p:tav tm="100000">
                                          <p:val>
                                            <p:strVal val="#ppt_w"/>
                                          </p:val>
                                        </p:tav>
                                      </p:tavLst>
                                    </p:anim>
                                    <p:anim calcmode="lin" valueType="num">
                                      <p:cBhvr additive="base">
                                        <p:cTn id="80" dur="160" fill="hold">
                                          <p:stCondLst>
                                            <p:cond delay="500"/>
                                          </p:stCondLst>
                                        </p:cTn>
                                        <p:tgtEl>
                                          <p:spTgt spid="115"/>
                                        </p:tgtEl>
                                        <p:attrNameLst>
                                          <p:attrName>ppt_h</p:attrName>
                                        </p:attrNameLst>
                                      </p:cBhvr>
                                      <p:tavLst>
                                        <p:tav tm="0">
                                          <p:val>
                                            <p:strVal val="#ppt_h*1.08"/>
                                          </p:val>
                                        </p:tav>
                                        <p:tav tm="100000">
                                          <p:val>
                                            <p:strVal val="#ppt_h"/>
                                          </p:val>
                                        </p:tav>
                                      </p:tavLst>
                                    </p:anim>
                                  </p:childTnLst>
                                </p:cTn>
                              </p:par>
                              <p:par>
                                <p:cTn id="81" presetID="53" presetClass="entr" presetSubtype="16" fill="hold" grpId="0" nodeType="withEffect">
                                  <p:stCondLst>
                                    <p:cond delay="550"/>
                                  </p:stCondLst>
                                  <p:childTnLst>
                                    <p:set>
                                      <p:cBhvr>
                                        <p:cTn id="82" dur="1" fill="hold">
                                          <p:stCondLst>
                                            <p:cond delay="0"/>
                                          </p:stCondLst>
                                        </p:cTn>
                                        <p:tgtEl>
                                          <p:spTgt spid="116"/>
                                        </p:tgtEl>
                                        <p:attrNameLst>
                                          <p:attrName>style.visibility</p:attrName>
                                        </p:attrNameLst>
                                      </p:cBhvr>
                                      <p:to>
                                        <p:strVal val="visible"/>
                                      </p:to>
                                    </p:set>
                                    <p:anim calcmode="lin" valueType="num">
                                      <p:cBhvr additive="base">
                                        <p:cTn id="83" dur="500" decel="100000" fill="hold"/>
                                        <p:tgtEl>
                                          <p:spTgt spid="116"/>
                                        </p:tgtEl>
                                        <p:attrNameLst>
                                          <p:attrName>ppt_w</p:attrName>
                                        </p:attrNameLst>
                                      </p:cBhvr>
                                      <p:tavLst>
                                        <p:tav tm="0">
                                          <p:val>
                                            <p:strVal val="#ppt_w*0.3"/>
                                          </p:val>
                                        </p:tav>
                                        <p:tav tm="100000">
                                          <p:val>
                                            <p:strVal val="#ppt_w*1.08"/>
                                          </p:val>
                                        </p:tav>
                                      </p:tavLst>
                                    </p:anim>
                                    <p:anim calcmode="lin" valueType="num">
                                      <p:cBhvr additive="base">
                                        <p:cTn id="84" dur="500" decel="100000" fill="hold"/>
                                        <p:tgtEl>
                                          <p:spTgt spid="116"/>
                                        </p:tgtEl>
                                        <p:attrNameLst>
                                          <p:attrName>ppt_h</p:attrName>
                                        </p:attrNameLst>
                                      </p:cBhvr>
                                      <p:tavLst>
                                        <p:tav tm="0">
                                          <p:val>
                                            <p:strVal val="#ppt_h*0.3"/>
                                          </p:val>
                                        </p:tav>
                                        <p:tav tm="100000">
                                          <p:val>
                                            <p:strVal val="#ppt_h*1.08"/>
                                          </p:val>
                                        </p:tav>
                                      </p:tavLst>
                                    </p:anim>
                                    <p:animEffect transition="in" filter="fade">
                                      <p:cBhvr>
                                        <p:cTn id="85" dur="250"/>
                                        <p:tgtEl>
                                          <p:spTgt spid="116"/>
                                        </p:tgtEl>
                                      </p:cBhvr>
                                    </p:animEffect>
                                    <p:anim calcmode="lin" valueType="num">
                                      <p:cBhvr additive="base">
                                        <p:cTn id="86" dur="160" fill="hold">
                                          <p:stCondLst>
                                            <p:cond delay="500"/>
                                          </p:stCondLst>
                                        </p:cTn>
                                        <p:tgtEl>
                                          <p:spTgt spid="116"/>
                                        </p:tgtEl>
                                        <p:attrNameLst>
                                          <p:attrName>ppt_w</p:attrName>
                                        </p:attrNameLst>
                                      </p:cBhvr>
                                      <p:tavLst>
                                        <p:tav tm="0">
                                          <p:val>
                                            <p:strVal val="#ppt_w*1.08"/>
                                          </p:val>
                                        </p:tav>
                                        <p:tav tm="100000">
                                          <p:val>
                                            <p:strVal val="#ppt_w"/>
                                          </p:val>
                                        </p:tav>
                                      </p:tavLst>
                                    </p:anim>
                                    <p:anim calcmode="lin" valueType="num">
                                      <p:cBhvr additive="base">
                                        <p:cTn id="87" dur="160" fill="hold">
                                          <p:stCondLst>
                                            <p:cond delay="500"/>
                                          </p:stCondLst>
                                        </p:cTn>
                                        <p:tgtEl>
                                          <p:spTgt spid="116"/>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6" grpId="0" animBg="1"/>
      <p:bldP spid="107" grpId="0" animBg="1"/>
      <p:bldP spid="108" grpId="0" animBg="1"/>
      <p:bldP spid="109" grpId="0" animBg="1"/>
      <p:bldP spid="111" grpId="0" animBg="1"/>
      <p:bldP spid="112" grpId="0" animBg="1"/>
      <p:bldP spid="113" grpId="0" animBg="1"/>
      <p:bldP spid="114" grpId="0" animBg="1"/>
      <p:bldP spid="115" grpId="0" animBg="1"/>
      <p:bldP spid="116"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NOT DONE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If the Team Will Not Finish Everything?</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Two Done · one in testing · one partial. Honesty over theater.</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275</a:t>
            </a:r>
            <a:endParaRPr lang="en-US" sz="850" dirty="0"/>
          </a:p>
        </p:txBody>
      </p:sp>
      <p:sp>
        <p:nvSpPr>
          <p:cNvPr id="101" name="s101"/>
          <p:cNvSpPr/>
          <p:nvPr/>
        </p:nvSpPr>
        <p:spPr>
          <a:xfrm>
            <a:off x="543154" y="1965960"/>
            <a:ext cx="2600554" cy="1417320"/>
          </a:xfrm>
          <a:prstGeom prst="roundRect">
            <a:avLst>
              <a:gd name="adj" fmla="val 10000"/>
            </a:avLst>
          </a:prstGeom>
          <a:solidFill>
            <a:srgbClr val="111B2E"/>
          </a:solidFill>
          <a:ln w="12700">
            <a:solidFill>
              <a:srgbClr val="34D399"/>
            </a:solidFill>
            <a:prstDash val="solid"/>
          </a:ln>
        </p:spPr>
        <p:txBody>
          <a:bodyPr wrap="square" lIns="137160" tIns="274320" rIns="137160" bIns="0" rtlCol="0" anchor="t">
            <a:noAutofit/>
          </a:bodyPr>
          <a:lstStyle/>
          <a:p>
            <a:pPr marL="0" indent="0" algn="ctr">
              <a:spcBef>
                <a:spcPts val="0"/>
              </a:spcBef>
              <a:spcAft>
                <a:spcPts val="0"/>
              </a:spcAft>
              <a:buNone/>
            </a:pPr>
            <a:r>
              <a:rPr lang="en-US" sz="1500" b="1" dirty="0">
                <a:solidFill>
                  <a:srgbClr val="FFFFFF"/>
                </a:solidFill>
                <a:latin typeface="Segoe UI"/>
                <a:ea typeface="Segoe UI"/>
                <a:cs typeface="Segoe UI"/>
              </a:rPr>
              <a:t>Register patient</a:t>
            </a:r>
            <a:endParaRPr lang="en-US" sz="1500" dirty="0"/>
          </a:p>
        </p:txBody>
      </p:sp>
      <p:sp>
        <p:nvSpPr>
          <p:cNvPr id="102" name="s102"/>
          <p:cNvSpPr/>
          <p:nvPr/>
        </p:nvSpPr>
        <p:spPr>
          <a:xfrm>
            <a:off x="817474" y="2788920"/>
            <a:ext cx="2051914" cy="384048"/>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0F172A"/>
                </a:solidFill>
                <a:latin typeface="Segoe UI"/>
                <a:ea typeface="Segoe UI"/>
                <a:cs typeface="Segoe UI"/>
              </a:rPr>
              <a:t>DONE</a:t>
            </a:r>
            <a:endParaRPr lang="en-US" sz="1150" dirty="0"/>
          </a:p>
        </p:txBody>
      </p:sp>
      <p:sp>
        <p:nvSpPr>
          <p:cNvPr id="103" name="s103"/>
          <p:cNvSpPr/>
          <p:nvPr/>
        </p:nvSpPr>
        <p:spPr>
          <a:xfrm>
            <a:off x="3372307" y="1965960"/>
            <a:ext cx="2600554" cy="1417320"/>
          </a:xfrm>
          <a:prstGeom prst="roundRect">
            <a:avLst>
              <a:gd name="adj" fmla="val 10000"/>
            </a:avLst>
          </a:prstGeom>
          <a:solidFill>
            <a:srgbClr val="111B2E"/>
          </a:solidFill>
          <a:ln w="12700">
            <a:solidFill>
              <a:srgbClr val="34D399"/>
            </a:solidFill>
            <a:prstDash val="solid"/>
          </a:ln>
        </p:spPr>
        <p:txBody>
          <a:bodyPr wrap="square" lIns="137160" tIns="274320" rIns="137160" bIns="0" rtlCol="0" anchor="t">
            <a:noAutofit/>
          </a:bodyPr>
          <a:lstStyle/>
          <a:p>
            <a:pPr marL="0" indent="0" algn="ctr">
              <a:spcBef>
                <a:spcPts val="0"/>
              </a:spcBef>
              <a:spcAft>
                <a:spcPts val="0"/>
              </a:spcAft>
              <a:buNone/>
            </a:pPr>
            <a:r>
              <a:rPr lang="en-US" sz="1500" b="1" dirty="0">
                <a:solidFill>
                  <a:srgbClr val="FFFFFF"/>
                </a:solidFill>
                <a:latin typeface="Segoe UI"/>
                <a:ea typeface="Segoe UI"/>
                <a:cs typeface="Segoe UI"/>
              </a:rPr>
              <a:t>View availability</a:t>
            </a:r>
            <a:endParaRPr lang="en-US" sz="1500" dirty="0"/>
          </a:p>
        </p:txBody>
      </p:sp>
      <p:sp>
        <p:nvSpPr>
          <p:cNvPr id="104" name="s104"/>
          <p:cNvSpPr/>
          <p:nvPr/>
        </p:nvSpPr>
        <p:spPr>
          <a:xfrm>
            <a:off x="3646627" y="2788920"/>
            <a:ext cx="2051914" cy="384048"/>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0F172A"/>
                </a:solidFill>
                <a:latin typeface="Segoe UI"/>
                <a:ea typeface="Segoe UI"/>
                <a:cs typeface="Segoe UI"/>
              </a:rPr>
              <a:t>DONE</a:t>
            </a:r>
            <a:endParaRPr lang="en-US" sz="1150" dirty="0"/>
          </a:p>
        </p:txBody>
      </p:sp>
      <p:sp>
        <p:nvSpPr>
          <p:cNvPr id="105" name="s105"/>
          <p:cNvSpPr/>
          <p:nvPr/>
        </p:nvSpPr>
        <p:spPr>
          <a:xfrm>
            <a:off x="6201461" y="1965960"/>
            <a:ext cx="2600554" cy="1417320"/>
          </a:xfrm>
          <a:prstGeom prst="roundRect">
            <a:avLst>
              <a:gd name="adj" fmla="val 10000"/>
            </a:avLst>
          </a:prstGeom>
          <a:solidFill>
            <a:srgbClr val="111B2E"/>
          </a:solidFill>
          <a:ln w="12700">
            <a:solidFill>
              <a:srgbClr val="FBBF24"/>
            </a:solidFill>
            <a:prstDash val="solid"/>
          </a:ln>
        </p:spPr>
        <p:txBody>
          <a:bodyPr wrap="square" lIns="137160" tIns="274320" rIns="137160" bIns="0" rtlCol="0" anchor="t">
            <a:noAutofit/>
          </a:bodyPr>
          <a:lstStyle/>
          <a:p>
            <a:pPr marL="0" indent="0" algn="ctr">
              <a:spcBef>
                <a:spcPts val="0"/>
              </a:spcBef>
              <a:spcAft>
                <a:spcPts val="0"/>
              </a:spcAft>
              <a:buNone/>
            </a:pPr>
            <a:r>
              <a:rPr lang="en-US" sz="1500" b="1" dirty="0">
                <a:solidFill>
                  <a:srgbClr val="FFFFFF"/>
                </a:solidFill>
                <a:latin typeface="Segoe UI"/>
                <a:ea typeface="Segoe UI"/>
                <a:cs typeface="Segoe UI"/>
              </a:rPr>
              <a:t>Book appointment</a:t>
            </a:r>
            <a:endParaRPr lang="en-US" sz="1500" dirty="0"/>
          </a:p>
        </p:txBody>
      </p:sp>
      <p:sp>
        <p:nvSpPr>
          <p:cNvPr id="106" name="s106"/>
          <p:cNvSpPr/>
          <p:nvPr/>
        </p:nvSpPr>
        <p:spPr>
          <a:xfrm>
            <a:off x="6475781" y="2788920"/>
            <a:ext cx="2051914" cy="38404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FBBF24"/>
                </a:solidFill>
                <a:latin typeface="Segoe UI"/>
                <a:ea typeface="Segoe UI"/>
                <a:cs typeface="Segoe UI"/>
              </a:rPr>
              <a:t>IN TESTING</a:t>
            </a:r>
            <a:endParaRPr lang="en-US" sz="1150" dirty="0"/>
          </a:p>
        </p:txBody>
      </p:sp>
      <p:sp>
        <p:nvSpPr>
          <p:cNvPr id="107" name="s107"/>
          <p:cNvSpPr/>
          <p:nvPr/>
        </p:nvSpPr>
        <p:spPr>
          <a:xfrm>
            <a:off x="9030614" y="1965960"/>
            <a:ext cx="2600554" cy="1417320"/>
          </a:xfrm>
          <a:prstGeom prst="roundRect">
            <a:avLst>
              <a:gd name="adj" fmla="val 10000"/>
            </a:avLst>
          </a:prstGeom>
          <a:solidFill>
            <a:srgbClr val="111B2E"/>
          </a:solidFill>
          <a:ln w="12700">
            <a:solidFill>
              <a:srgbClr val="F87171"/>
            </a:solidFill>
            <a:prstDash val="solid"/>
          </a:ln>
        </p:spPr>
        <p:txBody>
          <a:bodyPr wrap="square" lIns="137160" tIns="274320" rIns="137160" bIns="0" rtlCol="0" anchor="t">
            <a:noAutofit/>
          </a:bodyPr>
          <a:lstStyle/>
          <a:p>
            <a:pPr marL="0" indent="0" algn="ctr">
              <a:spcBef>
                <a:spcPts val="0"/>
              </a:spcBef>
              <a:spcAft>
                <a:spcPts val="0"/>
              </a:spcAft>
              <a:buNone/>
            </a:pPr>
            <a:r>
              <a:rPr lang="en-US" sz="1500" b="1" dirty="0">
                <a:solidFill>
                  <a:srgbClr val="FFFFFF"/>
                </a:solidFill>
                <a:latin typeface="Segoe UI"/>
                <a:ea typeface="Segoe UI"/>
                <a:cs typeface="Segoe UI"/>
              </a:rPr>
              <a:t>Confirmation</a:t>
            </a:r>
            <a:endParaRPr lang="en-US" sz="1500" dirty="0"/>
          </a:p>
        </p:txBody>
      </p:sp>
      <p:sp>
        <p:nvSpPr>
          <p:cNvPr id="108" name="s108"/>
          <p:cNvSpPr/>
          <p:nvPr/>
        </p:nvSpPr>
        <p:spPr>
          <a:xfrm>
            <a:off x="9304934" y="2788920"/>
            <a:ext cx="2051914" cy="384048"/>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F87171"/>
                </a:solidFill>
                <a:latin typeface="Segoe UI"/>
                <a:ea typeface="Segoe UI"/>
                <a:cs typeface="Segoe UI"/>
              </a:rPr>
              <a:t>PARTIAL</a:t>
            </a:r>
            <a:endParaRPr lang="en-US" sz="1150" dirty="0"/>
          </a:p>
        </p:txBody>
      </p:sp>
      <p:sp>
        <p:nvSpPr>
          <p:cNvPr id="109" name="s109"/>
          <p:cNvSpPr/>
          <p:nvPr/>
        </p:nvSpPr>
        <p:spPr>
          <a:xfrm>
            <a:off x="543154" y="3657600"/>
            <a:ext cx="542970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10" name="img110"/>
          <p:cNvPicPr>
            <a:picLocks noChangeAspect="1"/>
          </p:cNvPicPr>
          <p:nvPr/>
        </p:nvPicPr>
        <p:blipFill>
          <a:blip r:embed="rId4"/>
          <a:stretch>
            <a:fillRect/>
          </a:stretch>
        </p:blipFill>
        <p:spPr>
          <a:xfrm>
            <a:off x="680314" y="3749040"/>
            <a:ext cx="365760" cy="365760"/>
          </a:xfrm>
          <a:prstGeom prst="rect">
            <a:avLst/>
          </a:prstGeom>
        </p:spPr>
      </p:pic>
      <p:sp>
        <p:nvSpPr>
          <p:cNvPr id="111" name="s111"/>
          <p:cNvSpPr txBox="1"/>
          <p:nvPr/>
        </p:nvSpPr>
        <p:spPr>
          <a:xfrm>
            <a:off x="1183234" y="3657600"/>
            <a:ext cx="46981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FFFFFF"/>
                </a:solidFill>
                <a:latin typeface="Segoe UI"/>
                <a:ea typeface="Segoe UI"/>
                <a:cs typeface="Segoe UI"/>
              </a:rPr>
              <a:t>Do not mark incomplete work as Done</a:t>
            </a:r>
            <a:endParaRPr lang="en-US" sz="1350" dirty="0"/>
          </a:p>
        </p:txBody>
      </p:sp>
      <p:sp>
        <p:nvSpPr>
          <p:cNvPr id="112" name="s112"/>
          <p:cNvSpPr/>
          <p:nvPr/>
        </p:nvSpPr>
        <p:spPr>
          <a:xfrm>
            <a:off x="6201461" y="3657600"/>
            <a:ext cx="542970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13" name="img113"/>
          <p:cNvPicPr>
            <a:picLocks noChangeAspect="1"/>
          </p:cNvPicPr>
          <p:nvPr/>
        </p:nvPicPr>
        <p:blipFill>
          <a:blip r:embed="rId4"/>
          <a:stretch>
            <a:fillRect/>
          </a:stretch>
        </p:blipFill>
        <p:spPr>
          <a:xfrm>
            <a:off x="6338621" y="3749040"/>
            <a:ext cx="365760" cy="365760"/>
          </a:xfrm>
          <a:prstGeom prst="rect">
            <a:avLst/>
          </a:prstGeom>
        </p:spPr>
      </p:pic>
      <p:sp>
        <p:nvSpPr>
          <p:cNvPr id="114" name="s114"/>
          <p:cNvSpPr txBox="1"/>
          <p:nvPr/>
        </p:nvSpPr>
        <p:spPr>
          <a:xfrm>
            <a:off x="6841541" y="3657600"/>
            <a:ext cx="46981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FFFFFF"/>
                </a:solidFill>
                <a:latin typeface="Segoe UI"/>
                <a:ea typeface="Segoe UI"/>
                <a:cs typeface="Segoe UI"/>
              </a:rPr>
              <a:t>No partial Story Point credit</a:t>
            </a:r>
            <a:endParaRPr lang="en-US" sz="1350" dirty="0"/>
          </a:p>
        </p:txBody>
      </p:sp>
      <p:sp>
        <p:nvSpPr>
          <p:cNvPr id="115" name="s115"/>
          <p:cNvSpPr/>
          <p:nvPr/>
        </p:nvSpPr>
        <p:spPr>
          <a:xfrm>
            <a:off x="543154" y="4315968"/>
            <a:ext cx="542970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16" name="img116"/>
          <p:cNvPicPr>
            <a:picLocks noChangeAspect="1"/>
          </p:cNvPicPr>
          <p:nvPr/>
        </p:nvPicPr>
        <p:blipFill>
          <a:blip r:embed="rId5"/>
          <a:stretch>
            <a:fillRect/>
          </a:stretch>
        </p:blipFill>
        <p:spPr>
          <a:xfrm>
            <a:off x="680314" y="4407408"/>
            <a:ext cx="365760" cy="365760"/>
          </a:xfrm>
          <a:prstGeom prst="rect">
            <a:avLst/>
          </a:prstGeom>
        </p:spPr>
      </p:pic>
      <p:sp>
        <p:nvSpPr>
          <p:cNvPr id="117" name="s117"/>
          <p:cNvSpPr txBox="1"/>
          <p:nvPr/>
        </p:nvSpPr>
        <p:spPr>
          <a:xfrm>
            <a:off x="1183234" y="4315968"/>
            <a:ext cx="46981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FFFFFF"/>
                </a:solidFill>
                <a:latin typeface="Segoe UI"/>
                <a:ea typeface="Segoe UI"/>
                <a:cs typeface="Segoe UI"/>
              </a:rPr>
              <a:t>Return unfinished PBIs to the Product Backlog</a:t>
            </a:r>
            <a:endParaRPr lang="en-US" sz="1350" dirty="0"/>
          </a:p>
        </p:txBody>
      </p:sp>
      <p:sp>
        <p:nvSpPr>
          <p:cNvPr id="118" name="s118"/>
          <p:cNvSpPr/>
          <p:nvPr/>
        </p:nvSpPr>
        <p:spPr>
          <a:xfrm>
            <a:off x="6201461" y="4315968"/>
            <a:ext cx="542970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19" name="img119"/>
          <p:cNvPicPr>
            <a:picLocks noChangeAspect="1"/>
          </p:cNvPicPr>
          <p:nvPr/>
        </p:nvPicPr>
        <p:blipFill>
          <a:blip r:embed="rId6"/>
          <a:stretch>
            <a:fillRect/>
          </a:stretch>
        </p:blipFill>
        <p:spPr>
          <a:xfrm>
            <a:off x="6338621" y="4407408"/>
            <a:ext cx="365760" cy="365760"/>
          </a:xfrm>
          <a:prstGeom prst="rect">
            <a:avLst/>
          </a:prstGeom>
        </p:spPr>
      </p:pic>
      <p:sp>
        <p:nvSpPr>
          <p:cNvPr id="120" name="s120"/>
          <p:cNvSpPr txBox="1"/>
          <p:nvPr/>
        </p:nvSpPr>
        <p:spPr>
          <a:xfrm>
            <a:off x="6841541" y="4315968"/>
            <a:ext cx="46981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FFFFFF"/>
                </a:solidFill>
                <a:latin typeface="Segoe UI"/>
                <a:ea typeface="Segoe UI"/>
                <a:cs typeface="Segoe UI"/>
              </a:rPr>
              <a:t>Re-estimate only if the remaining size changed</a:t>
            </a:r>
            <a:endParaRPr lang="en-US" sz="1350" dirty="0"/>
          </a:p>
        </p:txBody>
      </p:sp>
      <p:sp>
        <p:nvSpPr>
          <p:cNvPr id="121" name="s121"/>
          <p:cNvSpPr/>
          <p:nvPr/>
        </p:nvSpPr>
        <p:spPr>
          <a:xfrm>
            <a:off x="543154" y="4974336"/>
            <a:ext cx="542970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22" name="img122"/>
          <p:cNvPicPr>
            <a:picLocks noChangeAspect="1"/>
          </p:cNvPicPr>
          <p:nvPr/>
        </p:nvPicPr>
        <p:blipFill>
          <a:blip r:embed="rId7"/>
          <a:stretch>
            <a:fillRect/>
          </a:stretch>
        </p:blipFill>
        <p:spPr>
          <a:xfrm>
            <a:off x="680314" y="5065776"/>
            <a:ext cx="365760" cy="365760"/>
          </a:xfrm>
          <a:prstGeom prst="rect">
            <a:avLst/>
          </a:prstGeom>
        </p:spPr>
      </p:pic>
      <p:sp>
        <p:nvSpPr>
          <p:cNvPr id="123" name="s123"/>
          <p:cNvSpPr txBox="1"/>
          <p:nvPr/>
        </p:nvSpPr>
        <p:spPr>
          <a:xfrm>
            <a:off x="1183234" y="4974336"/>
            <a:ext cx="46981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FFFFFF"/>
                </a:solidFill>
                <a:latin typeface="Segoe UI"/>
                <a:ea typeface="Segoe UI"/>
                <a:cs typeface="Segoe UI"/>
              </a:rPr>
              <a:t>Discuss it in the Retro</a:t>
            </a:r>
            <a:endParaRPr lang="en-US" sz="1350" dirty="0"/>
          </a:p>
        </p:txBody>
      </p:sp>
      <p:sp>
        <p:nvSpPr>
          <p:cNvPr id="124" name="s124"/>
          <p:cNvSpPr/>
          <p:nvPr/>
        </p:nvSpPr>
        <p:spPr>
          <a:xfrm>
            <a:off x="6201461" y="4974336"/>
            <a:ext cx="5429707" cy="54864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pic>
        <p:nvPicPr>
          <p:cNvPr id="125" name="img125"/>
          <p:cNvPicPr>
            <a:picLocks noChangeAspect="1"/>
          </p:cNvPicPr>
          <p:nvPr/>
        </p:nvPicPr>
        <p:blipFill>
          <a:blip r:embed="rId4"/>
          <a:stretch>
            <a:fillRect/>
          </a:stretch>
        </p:blipFill>
        <p:spPr>
          <a:xfrm>
            <a:off x="6338621" y="5065776"/>
            <a:ext cx="365760" cy="365760"/>
          </a:xfrm>
          <a:prstGeom prst="rect">
            <a:avLst/>
          </a:prstGeom>
        </p:spPr>
      </p:pic>
      <p:sp>
        <p:nvSpPr>
          <p:cNvPr id="126" name="s126"/>
          <p:cNvSpPr txBox="1"/>
          <p:nvPr/>
        </p:nvSpPr>
        <p:spPr>
          <a:xfrm>
            <a:off x="6841541" y="4974336"/>
            <a:ext cx="4698187" cy="54864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FFFFFF"/>
                </a:solidFill>
                <a:latin typeface="Segoe UI"/>
                <a:ea typeface="Segoe UI"/>
                <a:cs typeface="Segoe UI"/>
              </a:rPr>
              <a:t>Do not extend the Sprint</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53" presetClass="entr" presetSubtype="16" fill="hold" grpId="0" nodeType="withEffect">
                                  <p:stCondLst>
                                    <p:cond delay="150"/>
                                  </p:stCondLst>
                                  <p:childTnLst>
                                    <p:set>
                                      <p:cBhvr>
                                        <p:cTn id="10" dur="1" fill="hold">
                                          <p:stCondLst>
                                            <p:cond delay="0"/>
                                          </p:stCondLst>
                                        </p:cTn>
                                        <p:tgtEl>
                                          <p:spTgt spid="102"/>
                                        </p:tgtEl>
                                        <p:attrNameLst>
                                          <p:attrName>style.visibility</p:attrName>
                                        </p:attrNameLst>
                                      </p:cBhvr>
                                      <p:to>
                                        <p:strVal val="visible"/>
                                      </p:to>
                                    </p:set>
                                    <p:anim calcmode="lin" valueType="num">
                                      <p:cBhvr additive="base">
                                        <p:cTn id="11" dur="500" decel="100000" fill="hold"/>
                                        <p:tgtEl>
                                          <p:spTgt spid="102"/>
                                        </p:tgtEl>
                                        <p:attrNameLst>
                                          <p:attrName>ppt_w</p:attrName>
                                        </p:attrNameLst>
                                      </p:cBhvr>
                                      <p:tavLst>
                                        <p:tav tm="0">
                                          <p:val>
                                            <p:strVal val="#ppt_w*0.3"/>
                                          </p:val>
                                        </p:tav>
                                        <p:tav tm="100000">
                                          <p:val>
                                            <p:strVal val="#ppt_w*1.08"/>
                                          </p:val>
                                        </p:tav>
                                      </p:tavLst>
                                    </p:anim>
                                    <p:anim calcmode="lin" valueType="num">
                                      <p:cBhvr additive="base">
                                        <p:cTn id="12" dur="500" decel="100000" fill="hold"/>
                                        <p:tgtEl>
                                          <p:spTgt spid="102"/>
                                        </p:tgtEl>
                                        <p:attrNameLst>
                                          <p:attrName>ppt_h</p:attrName>
                                        </p:attrNameLst>
                                      </p:cBhvr>
                                      <p:tavLst>
                                        <p:tav tm="0">
                                          <p:val>
                                            <p:strVal val="#ppt_h*0.3"/>
                                          </p:val>
                                        </p:tav>
                                        <p:tav tm="100000">
                                          <p:val>
                                            <p:strVal val="#ppt_h*1.08"/>
                                          </p:val>
                                        </p:tav>
                                      </p:tavLst>
                                    </p:anim>
                                    <p:animEffect transition="in" filter="fade">
                                      <p:cBhvr>
                                        <p:cTn id="13" dur="250"/>
                                        <p:tgtEl>
                                          <p:spTgt spid="102"/>
                                        </p:tgtEl>
                                      </p:cBhvr>
                                    </p:animEffect>
                                    <p:anim calcmode="lin" valueType="num">
                                      <p:cBhvr additive="base">
                                        <p:cTn id="14" dur="160" fill="hold">
                                          <p:stCondLst>
                                            <p:cond delay="500"/>
                                          </p:stCondLst>
                                        </p:cTn>
                                        <p:tgtEl>
                                          <p:spTgt spid="102"/>
                                        </p:tgtEl>
                                        <p:attrNameLst>
                                          <p:attrName>ppt_w</p:attrName>
                                        </p:attrNameLst>
                                      </p:cBhvr>
                                      <p:tavLst>
                                        <p:tav tm="0">
                                          <p:val>
                                            <p:strVal val="#ppt_w*1.08"/>
                                          </p:val>
                                        </p:tav>
                                        <p:tav tm="100000">
                                          <p:val>
                                            <p:strVal val="#ppt_w"/>
                                          </p:val>
                                        </p:tav>
                                      </p:tavLst>
                                    </p:anim>
                                    <p:anim calcmode="lin" valueType="num">
                                      <p:cBhvr additive="base">
                                        <p:cTn id="15" dur="160" fill="hold">
                                          <p:stCondLst>
                                            <p:cond delay="500"/>
                                          </p:stCondLst>
                                        </p:cTn>
                                        <p:tgtEl>
                                          <p:spTgt spid="102"/>
                                        </p:tgtEl>
                                        <p:attrNameLst>
                                          <p:attrName>ppt_h</p:attrName>
                                        </p:attrNameLst>
                                      </p:cBhvr>
                                      <p:tavLst>
                                        <p:tav tm="0">
                                          <p:val>
                                            <p:strVal val="#ppt_h*1.08"/>
                                          </p:val>
                                        </p:tav>
                                        <p:tav tm="100000">
                                          <p:val>
                                            <p:strVal val="#ppt_h"/>
                                          </p:val>
                                        </p:tav>
                                      </p:tavLst>
                                    </p:anim>
                                  </p:childTnLst>
                                </p:cTn>
                              </p:par>
                              <p:par>
                                <p:cTn id="16" presetID="42" presetClass="entr" presetSubtype="0" fill="hold" grpId="0" nodeType="withEffect">
                                  <p:stCondLst>
                                    <p:cond delay="27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53" presetClass="entr" presetSubtype="16" fill="hold" grpId="0" nodeType="withEffect">
                                  <p:stCondLst>
                                    <p:cond delay="420"/>
                                  </p:stCondLst>
                                  <p:childTnLst>
                                    <p:set>
                                      <p:cBhvr>
                                        <p:cTn id="21" dur="1" fill="hold">
                                          <p:stCondLst>
                                            <p:cond delay="0"/>
                                          </p:stCondLst>
                                        </p:cTn>
                                        <p:tgtEl>
                                          <p:spTgt spid="104"/>
                                        </p:tgtEl>
                                        <p:attrNameLst>
                                          <p:attrName>style.visibility</p:attrName>
                                        </p:attrNameLst>
                                      </p:cBhvr>
                                      <p:to>
                                        <p:strVal val="visible"/>
                                      </p:to>
                                    </p:set>
                                    <p:anim calcmode="lin" valueType="num">
                                      <p:cBhvr additive="base">
                                        <p:cTn id="22"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23" dur="500" decel="100000" fill="hold"/>
                                        <p:tgtEl>
                                          <p:spTgt spid="104"/>
                                        </p:tgtEl>
                                        <p:attrNameLst>
                                          <p:attrName>ppt_h</p:attrName>
                                        </p:attrNameLst>
                                      </p:cBhvr>
                                      <p:tavLst>
                                        <p:tav tm="0">
                                          <p:val>
                                            <p:strVal val="#ppt_h*0.3"/>
                                          </p:val>
                                        </p:tav>
                                        <p:tav tm="100000">
                                          <p:val>
                                            <p:strVal val="#ppt_h*1.08"/>
                                          </p:val>
                                        </p:tav>
                                      </p:tavLst>
                                    </p:anim>
                                    <p:animEffect transition="in" filter="fade">
                                      <p:cBhvr>
                                        <p:cTn id="24" dur="250"/>
                                        <p:tgtEl>
                                          <p:spTgt spid="104"/>
                                        </p:tgtEl>
                                      </p:cBhvr>
                                    </p:animEffect>
                                    <p:anim calcmode="lin" valueType="num">
                                      <p:cBhvr additive="base">
                                        <p:cTn id="25"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26"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par>
                                <p:cTn id="27" presetID="42" presetClass="entr" presetSubtype="0" fill="hold" grpId="0" nodeType="withEffect">
                                  <p:stCondLst>
                                    <p:cond delay="540"/>
                                  </p:stCondLst>
                                  <p:childTnLst>
                                    <p:set>
                                      <p:cBhvr>
                                        <p:cTn id="28" dur="1" fill="hold">
                                          <p:stCondLst>
                                            <p:cond delay="0"/>
                                          </p:stCondLst>
                                        </p:cTn>
                                        <p:tgtEl>
                                          <p:spTgt spid="105"/>
                                        </p:tgtEl>
                                        <p:attrNameLst>
                                          <p:attrName>style.visibility</p:attrName>
                                        </p:attrNameLst>
                                      </p:cBhvr>
                                      <p:to>
                                        <p:strVal val="visible"/>
                                      </p:to>
                                    </p:set>
                                    <p:animEffect transition="in" filter="fade">
                                      <p:cBhvr>
                                        <p:cTn id="29" dur="500"/>
                                        <p:tgtEl>
                                          <p:spTgt spid="105"/>
                                        </p:tgtEl>
                                      </p:cBhvr>
                                    </p:animEffect>
                                    <p:anim calcmode="lin" valueType="num">
                                      <p:cBhvr additive="base">
                                        <p:cTn id="30" dur="500" decel="100000" fill="hold"/>
                                        <p:tgtEl>
                                          <p:spTgt spid="105"/>
                                        </p:tgtEl>
                                        <p:attrNameLst>
                                          <p:attrName>ppt_y</p:attrName>
                                        </p:attrNameLst>
                                      </p:cBhvr>
                                      <p:tavLst>
                                        <p:tav tm="0">
                                          <p:val>
                                            <p:strVal val="#ppt_y+0.06"/>
                                          </p:val>
                                        </p:tav>
                                        <p:tav tm="100000">
                                          <p:val>
                                            <p:strVal val="#ppt_y"/>
                                          </p:val>
                                        </p:tav>
                                      </p:tavLst>
                                    </p:anim>
                                  </p:childTnLst>
                                </p:cTn>
                              </p:par>
                              <p:par>
                                <p:cTn id="31" presetID="53" presetClass="entr" presetSubtype="16" fill="hold" grpId="0" nodeType="withEffect">
                                  <p:stCondLst>
                                    <p:cond delay="690"/>
                                  </p:stCondLst>
                                  <p:childTnLst>
                                    <p:set>
                                      <p:cBhvr>
                                        <p:cTn id="32" dur="1" fill="hold">
                                          <p:stCondLst>
                                            <p:cond delay="0"/>
                                          </p:stCondLst>
                                        </p:cTn>
                                        <p:tgtEl>
                                          <p:spTgt spid="106"/>
                                        </p:tgtEl>
                                        <p:attrNameLst>
                                          <p:attrName>style.visibility</p:attrName>
                                        </p:attrNameLst>
                                      </p:cBhvr>
                                      <p:to>
                                        <p:strVal val="visible"/>
                                      </p:to>
                                    </p:set>
                                    <p:anim calcmode="lin" valueType="num">
                                      <p:cBhvr additive="base">
                                        <p:cTn id="33"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34" dur="500" decel="100000" fill="hold"/>
                                        <p:tgtEl>
                                          <p:spTgt spid="106"/>
                                        </p:tgtEl>
                                        <p:attrNameLst>
                                          <p:attrName>ppt_h</p:attrName>
                                        </p:attrNameLst>
                                      </p:cBhvr>
                                      <p:tavLst>
                                        <p:tav tm="0">
                                          <p:val>
                                            <p:strVal val="#ppt_h*0.3"/>
                                          </p:val>
                                        </p:tav>
                                        <p:tav tm="100000">
                                          <p:val>
                                            <p:strVal val="#ppt_h*1.08"/>
                                          </p:val>
                                        </p:tav>
                                      </p:tavLst>
                                    </p:anim>
                                    <p:animEffect transition="in" filter="fade">
                                      <p:cBhvr>
                                        <p:cTn id="35" dur="250"/>
                                        <p:tgtEl>
                                          <p:spTgt spid="106"/>
                                        </p:tgtEl>
                                      </p:cBhvr>
                                    </p:animEffect>
                                    <p:anim calcmode="lin" valueType="num">
                                      <p:cBhvr additive="base">
                                        <p:cTn id="36"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37"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par>
                                <p:cTn id="38" presetID="42" presetClass="entr" presetSubtype="0" fill="hold" grpId="0" nodeType="withEffect">
                                  <p:stCondLst>
                                    <p:cond delay="810"/>
                                  </p:stCondLst>
                                  <p:childTnLst>
                                    <p:set>
                                      <p:cBhvr>
                                        <p:cTn id="39" dur="1" fill="hold">
                                          <p:stCondLst>
                                            <p:cond delay="0"/>
                                          </p:stCondLst>
                                        </p:cTn>
                                        <p:tgtEl>
                                          <p:spTgt spid="107"/>
                                        </p:tgtEl>
                                        <p:attrNameLst>
                                          <p:attrName>style.visibility</p:attrName>
                                        </p:attrNameLst>
                                      </p:cBhvr>
                                      <p:to>
                                        <p:strVal val="visible"/>
                                      </p:to>
                                    </p:set>
                                    <p:animEffect transition="in" filter="fade">
                                      <p:cBhvr>
                                        <p:cTn id="40" dur="500"/>
                                        <p:tgtEl>
                                          <p:spTgt spid="107"/>
                                        </p:tgtEl>
                                      </p:cBhvr>
                                    </p:animEffect>
                                    <p:anim calcmode="lin" valueType="num">
                                      <p:cBhvr additive="base">
                                        <p:cTn id="41" dur="500" decel="100000" fill="hold"/>
                                        <p:tgtEl>
                                          <p:spTgt spid="107"/>
                                        </p:tgtEl>
                                        <p:attrNameLst>
                                          <p:attrName>ppt_y</p:attrName>
                                        </p:attrNameLst>
                                      </p:cBhvr>
                                      <p:tavLst>
                                        <p:tav tm="0">
                                          <p:val>
                                            <p:strVal val="#ppt_y+0.06"/>
                                          </p:val>
                                        </p:tav>
                                        <p:tav tm="100000">
                                          <p:val>
                                            <p:strVal val="#ppt_y"/>
                                          </p:val>
                                        </p:tav>
                                      </p:tavLst>
                                    </p:anim>
                                  </p:childTnLst>
                                </p:cTn>
                              </p:par>
                              <p:par>
                                <p:cTn id="42" presetID="53" presetClass="entr" presetSubtype="16" fill="hold" grpId="0" nodeType="withEffect">
                                  <p:stCondLst>
                                    <p:cond delay="960"/>
                                  </p:stCondLst>
                                  <p:childTnLst>
                                    <p:set>
                                      <p:cBhvr>
                                        <p:cTn id="43" dur="1" fill="hold">
                                          <p:stCondLst>
                                            <p:cond delay="0"/>
                                          </p:stCondLst>
                                        </p:cTn>
                                        <p:tgtEl>
                                          <p:spTgt spid="108"/>
                                        </p:tgtEl>
                                        <p:attrNameLst>
                                          <p:attrName>style.visibility</p:attrName>
                                        </p:attrNameLst>
                                      </p:cBhvr>
                                      <p:to>
                                        <p:strVal val="visible"/>
                                      </p:to>
                                    </p:set>
                                    <p:anim calcmode="lin" valueType="num">
                                      <p:cBhvr additive="base">
                                        <p:cTn id="44" dur="50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45" dur="500" decel="100000" fill="hold"/>
                                        <p:tgtEl>
                                          <p:spTgt spid="108"/>
                                        </p:tgtEl>
                                        <p:attrNameLst>
                                          <p:attrName>ppt_h</p:attrName>
                                        </p:attrNameLst>
                                      </p:cBhvr>
                                      <p:tavLst>
                                        <p:tav tm="0">
                                          <p:val>
                                            <p:strVal val="#ppt_h*0.3"/>
                                          </p:val>
                                        </p:tav>
                                        <p:tav tm="100000">
                                          <p:val>
                                            <p:strVal val="#ppt_h*1.08"/>
                                          </p:val>
                                        </p:tav>
                                      </p:tavLst>
                                    </p:anim>
                                    <p:animEffect transition="in" filter="fade">
                                      <p:cBhvr>
                                        <p:cTn id="46" dur="250"/>
                                        <p:tgtEl>
                                          <p:spTgt spid="108"/>
                                        </p:tgtEl>
                                      </p:cBhvr>
                                    </p:animEffect>
                                    <p:anim calcmode="lin" valueType="num">
                                      <p:cBhvr additive="base">
                                        <p:cTn id="47" dur="160" fill="hold">
                                          <p:stCondLst>
                                            <p:cond delay="500"/>
                                          </p:stCondLst>
                                        </p:cTn>
                                        <p:tgtEl>
                                          <p:spTgt spid="108"/>
                                        </p:tgtEl>
                                        <p:attrNameLst>
                                          <p:attrName>ppt_w</p:attrName>
                                        </p:attrNameLst>
                                      </p:cBhvr>
                                      <p:tavLst>
                                        <p:tav tm="0">
                                          <p:val>
                                            <p:strVal val="#ppt_w*1.08"/>
                                          </p:val>
                                        </p:tav>
                                        <p:tav tm="100000">
                                          <p:val>
                                            <p:strVal val="#ppt_w"/>
                                          </p:val>
                                        </p:tav>
                                      </p:tavLst>
                                    </p:anim>
                                    <p:anim calcmode="lin" valueType="num">
                                      <p:cBhvr additive="base">
                                        <p:cTn id="48" dur="160" fill="hold">
                                          <p:stCondLst>
                                            <p:cond delay="500"/>
                                          </p:stCondLst>
                                        </p:cTn>
                                        <p:tgtEl>
                                          <p:spTgt spid="108"/>
                                        </p:tgtEl>
                                        <p:attrNameLst>
                                          <p:attrName>ppt_h</p:attrName>
                                        </p:attrNameLst>
                                      </p:cBhvr>
                                      <p:tavLst>
                                        <p:tav tm="0">
                                          <p:val>
                                            <p:strVal val="#ppt_h*1.08"/>
                                          </p:val>
                                        </p:tav>
                                        <p:tav tm="100000">
                                          <p:val>
                                            <p:strVal val="#ppt_h"/>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grpId="0" nodeType="clickEffect">
                                  <p:stCondLst>
                                    <p:cond delay="0"/>
                                  </p:stCondLst>
                                  <p:childTnLst>
                                    <p:set>
                                      <p:cBhvr>
                                        <p:cTn id="52" dur="1" fill="hold">
                                          <p:stCondLst>
                                            <p:cond delay="0"/>
                                          </p:stCondLst>
                                        </p:cTn>
                                        <p:tgtEl>
                                          <p:spTgt spid="109"/>
                                        </p:tgtEl>
                                        <p:attrNameLst>
                                          <p:attrName>style.visibility</p:attrName>
                                        </p:attrNameLst>
                                      </p:cBhvr>
                                      <p:to>
                                        <p:strVal val="visible"/>
                                      </p:to>
                                    </p:set>
                                    <p:animEffect transition="in" filter="fade">
                                      <p:cBhvr>
                                        <p:cTn id="53" dur="500"/>
                                        <p:tgtEl>
                                          <p:spTgt spid="109"/>
                                        </p:tgtEl>
                                      </p:cBhvr>
                                    </p:animEffect>
                                    <p:anim calcmode="lin" valueType="num">
                                      <p:cBhvr additive="base">
                                        <p:cTn id="54" dur="500" decel="100000" fill="hold"/>
                                        <p:tgtEl>
                                          <p:spTgt spid="109"/>
                                        </p:tgtEl>
                                        <p:attrNameLst>
                                          <p:attrName>ppt_y</p:attrName>
                                        </p:attrNameLst>
                                      </p:cBhvr>
                                      <p:tavLst>
                                        <p:tav tm="0">
                                          <p:val>
                                            <p:strVal val="#ppt_y+0.06"/>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10"/>
                                        </p:tgtEl>
                                        <p:attrNameLst>
                                          <p:attrName>style.visibility</p:attrName>
                                        </p:attrNameLst>
                                      </p:cBhvr>
                                      <p:to>
                                        <p:strVal val="visible"/>
                                      </p:to>
                                    </p:set>
                                    <p:animEffect transition="in" filter="fade">
                                      <p:cBhvr>
                                        <p:cTn id="57" dur="500"/>
                                        <p:tgtEl>
                                          <p:spTgt spid="110"/>
                                        </p:tgtEl>
                                      </p:cBhvr>
                                    </p:animEffect>
                                    <p:anim calcmode="lin" valueType="num">
                                      <p:cBhvr additive="base">
                                        <p:cTn id="58" dur="500" decel="100000" fill="hold"/>
                                        <p:tgtEl>
                                          <p:spTgt spid="110"/>
                                        </p:tgtEl>
                                        <p:attrNameLst>
                                          <p:attrName>ppt_y</p:attrName>
                                        </p:attrNameLst>
                                      </p:cBhvr>
                                      <p:tavLst>
                                        <p:tav tm="0">
                                          <p:val>
                                            <p:strVal val="#ppt_y+0.06"/>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11"/>
                                        </p:tgtEl>
                                        <p:attrNameLst>
                                          <p:attrName>style.visibility</p:attrName>
                                        </p:attrNameLst>
                                      </p:cBhvr>
                                      <p:to>
                                        <p:strVal val="visible"/>
                                      </p:to>
                                    </p:set>
                                    <p:animEffect transition="in" filter="fade">
                                      <p:cBhvr>
                                        <p:cTn id="61" dur="500"/>
                                        <p:tgtEl>
                                          <p:spTgt spid="111"/>
                                        </p:tgtEl>
                                      </p:cBhvr>
                                    </p:animEffect>
                                    <p:anim calcmode="lin" valueType="num">
                                      <p:cBhvr additive="base">
                                        <p:cTn id="62" dur="500" decel="100000" fill="hold"/>
                                        <p:tgtEl>
                                          <p:spTgt spid="111"/>
                                        </p:tgtEl>
                                        <p:attrNameLst>
                                          <p:attrName>ppt_y</p:attrName>
                                        </p:attrNameLst>
                                      </p:cBhvr>
                                      <p:tavLst>
                                        <p:tav tm="0">
                                          <p:val>
                                            <p:strVal val="#ppt_y+0.06"/>
                                          </p:val>
                                        </p:tav>
                                        <p:tav tm="100000">
                                          <p:val>
                                            <p:strVal val="#ppt_y"/>
                                          </p:val>
                                        </p:tav>
                                      </p:tavLst>
                                    </p:anim>
                                  </p:childTnLst>
                                </p:cTn>
                              </p:par>
                              <p:par>
                                <p:cTn id="63" presetID="42" presetClass="entr" presetSubtype="0" fill="hold" grpId="0" nodeType="withEffect">
                                  <p:stCondLst>
                                    <p:cond delay="120"/>
                                  </p:stCondLst>
                                  <p:childTnLst>
                                    <p:set>
                                      <p:cBhvr>
                                        <p:cTn id="64" dur="1" fill="hold">
                                          <p:stCondLst>
                                            <p:cond delay="0"/>
                                          </p:stCondLst>
                                        </p:cTn>
                                        <p:tgtEl>
                                          <p:spTgt spid="112"/>
                                        </p:tgtEl>
                                        <p:attrNameLst>
                                          <p:attrName>style.visibility</p:attrName>
                                        </p:attrNameLst>
                                      </p:cBhvr>
                                      <p:to>
                                        <p:strVal val="visible"/>
                                      </p:to>
                                    </p:set>
                                    <p:animEffect transition="in" filter="fade">
                                      <p:cBhvr>
                                        <p:cTn id="65" dur="500"/>
                                        <p:tgtEl>
                                          <p:spTgt spid="112"/>
                                        </p:tgtEl>
                                      </p:cBhvr>
                                    </p:animEffect>
                                    <p:anim calcmode="lin" valueType="num">
                                      <p:cBhvr additive="base">
                                        <p:cTn id="66" dur="500" decel="100000" fill="hold"/>
                                        <p:tgtEl>
                                          <p:spTgt spid="112"/>
                                        </p:tgtEl>
                                        <p:attrNameLst>
                                          <p:attrName>ppt_y</p:attrName>
                                        </p:attrNameLst>
                                      </p:cBhvr>
                                      <p:tavLst>
                                        <p:tav tm="0">
                                          <p:val>
                                            <p:strVal val="#ppt_y+0.06"/>
                                          </p:val>
                                        </p:tav>
                                        <p:tav tm="100000">
                                          <p:val>
                                            <p:strVal val="#ppt_y"/>
                                          </p:val>
                                        </p:tav>
                                      </p:tavLst>
                                    </p:anim>
                                  </p:childTnLst>
                                </p:cTn>
                              </p:par>
                              <p:par>
                                <p:cTn id="67" presetID="42" presetClass="entr" presetSubtype="0" fill="hold" nodeType="withEffect">
                                  <p:stCondLst>
                                    <p:cond delay="120"/>
                                  </p:stCondLst>
                                  <p:childTnLst>
                                    <p:set>
                                      <p:cBhvr>
                                        <p:cTn id="68" dur="1" fill="hold">
                                          <p:stCondLst>
                                            <p:cond delay="0"/>
                                          </p:stCondLst>
                                        </p:cTn>
                                        <p:tgtEl>
                                          <p:spTgt spid="113"/>
                                        </p:tgtEl>
                                        <p:attrNameLst>
                                          <p:attrName>style.visibility</p:attrName>
                                        </p:attrNameLst>
                                      </p:cBhvr>
                                      <p:to>
                                        <p:strVal val="visible"/>
                                      </p:to>
                                    </p:set>
                                    <p:animEffect transition="in" filter="fade">
                                      <p:cBhvr>
                                        <p:cTn id="69" dur="500"/>
                                        <p:tgtEl>
                                          <p:spTgt spid="113"/>
                                        </p:tgtEl>
                                      </p:cBhvr>
                                    </p:animEffect>
                                    <p:anim calcmode="lin" valueType="num">
                                      <p:cBhvr additive="base">
                                        <p:cTn id="70" dur="500" decel="100000" fill="hold"/>
                                        <p:tgtEl>
                                          <p:spTgt spid="113"/>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120"/>
                                  </p:stCondLst>
                                  <p:childTnLst>
                                    <p:set>
                                      <p:cBhvr>
                                        <p:cTn id="72" dur="1" fill="hold">
                                          <p:stCondLst>
                                            <p:cond delay="0"/>
                                          </p:stCondLst>
                                        </p:cTn>
                                        <p:tgtEl>
                                          <p:spTgt spid="114"/>
                                        </p:tgtEl>
                                        <p:attrNameLst>
                                          <p:attrName>style.visibility</p:attrName>
                                        </p:attrNameLst>
                                      </p:cBhvr>
                                      <p:to>
                                        <p:strVal val="visible"/>
                                      </p:to>
                                    </p:set>
                                    <p:animEffect transition="in" filter="fade">
                                      <p:cBhvr>
                                        <p:cTn id="73" dur="500"/>
                                        <p:tgtEl>
                                          <p:spTgt spid="114"/>
                                        </p:tgtEl>
                                      </p:cBhvr>
                                    </p:animEffect>
                                    <p:anim calcmode="lin" valueType="num">
                                      <p:cBhvr additive="base">
                                        <p:cTn id="74" dur="500" decel="100000" fill="hold"/>
                                        <p:tgtEl>
                                          <p:spTgt spid="114"/>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240"/>
                                  </p:stCondLst>
                                  <p:childTnLst>
                                    <p:set>
                                      <p:cBhvr>
                                        <p:cTn id="76" dur="1" fill="hold">
                                          <p:stCondLst>
                                            <p:cond delay="0"/>
                                          </p:stCondLst>
                                        </p:cTn>
                                        <p:tgtEl>
                                          <p:spTgt spid="115"/>
                                        </p:tgtEl>
                                        <p:attrNameLst>
                                          <p:attrName>style.visibility</p:attrName>
                                        </p:attrNameLst>
                                      </p:cBhvr>
                                      <p:to>
                                        <p:strVal val="visible"/>
                                      </p:to>
                                    </p:set>
                                    <p:animEffect transition="in" filter="fade">
                                      <p:cBhvr>
                                        <p:cTn id="77" dur="500"/>
                                        <p:tgtEl>
                                          <p:spTgt spid="115"/>
                                        </p:tgtEl>
                                      </p:cBhvr>
                                    </p:animEffect>
                                    <p:anim calcmode="lin" valueType="num">
                                      <p:cBhvr additive="base">
                                        <p:cTn id="78" dur="500" decel="100000" fill="hold"/>
                                        <p:tgtEl>
                                          <p:spTgt spid="115"/>
                                        </p:tgtEl>
                                        <p:attrNameLst>
                                          <p:attrName>ppt_y</p:attrName>
                                        </p:attrNameLst>
                                      </p:cBhvr>
                                      <p:tavLst>
                                        <p:tav tm="0">
                                          <p:val>
                                            <p:strVal val="#ppt_y+0.06"/>
                                          </p:val>
                                        </p:tav>
                                        <p:tav tm="100000">
                                          <p:val>
                                            <p:strVal val="#ppt_y"/>
                                          </p:val>
                                        </p:tav>
                                      </p:tavLst>
                                    </p:anim>
                                  </p:childTnLst>
                                </p:cTn>
                              </p:par>
                              <p:par>
                                <p:cTn id="79" presetID="42" presetClass="entr" presetSubtype="0" fill="hold" nodeType="withEffect">
                                  <p:stCondLst>
                                    <p:cond delay="240"/>
                                  </p:stCondLst>
                                  <p:childTnLst>
                                    <p:set>
                                      <p:cBhvr>
                                        <p:cTn id="80" dur="1" fill="hold">
                                          <p:stCondLst>
                                            <p:cond delay="0"/>
                                          </p:stCondLst>
                                        </p:cTn>
                                        <p:tgtEl>
                                          <p:spTgt spid="116"/>
                                        </p:tgtEl>
                                        <p:attrNameLst>
                                          <p:attrName>style.visibility</p:attrName>
                                        </p:attrNameLst>
                                      </p:cBhvr>
                                      <p:to>
                                        <p:strVal val="visible"/>
                                      </p:to>
                                    </p:set>
                                    <p:animEffect transition="in" filter="fade">
                                      <p:cBhvr>
                                        <p:cTn id="81" dur="500"/>
                                        <p:tgtEl>
                                          <p:spTgt spid="116"/>
                                        </p:tgtEl>
                                      </p:cBhvr>
                                    </p:animEffect>
                                    <p:anim calcmode="lin" valueType="num">
                                      <p:cBhvr additive="base">
                                        <p:cTn id="82" dur="500" decel="100000" fill="hold"/>
                                        <p:tgtEl>
                                          <p:spTgt spid="116"/>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240"/>
                                  </p:stCondLst>
                                  <p:childTnLst>
                                    <p:set>
                                      <p:cBhvr>
                                        <p:cTn id="84" dur="1" fill="hold">
                                          <p:stCondLst>
                                            <p:cond delay="0"/>
                                          </p:stCondLst>
                                        </p:cTn>
                                        <p:tgtEl>
                                          <p:spTgt spid="117"/>
                                        </p:tgtEl>
                                        <p:attrNameLst>
                                          <p:attrName>style.visibility</p:attrName>
                                        </p:attrNameLst>
                                      </p:cBhvr>
                                      <p:to>
                                        <p:strVal val="visible"/>
                                      </p:to>
                                    </p:set>
                                    <p:animEffect transition="in" filter="fade">
                                      <p:cBhvr>
                                        <p:cTn id="85" dur="500"/>
                                        <p:tgtEl>
                                          <p:spTgt spid="117"/>
                                        </p:tgtEl>
                                      </p:cBhvr>
                                    </p:animEffect>
                                    <p:anim calcmode="lin" valueType="num">
                                      <p:cBhvr additive="base">
                                        <p:cTn id="86" dur="500" decel="100000" fill="hold"/>
                                        <p:tgtEl>
                                          <p:spTgt spid="117"/>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360"/>
                                  </p:stCondLst>
                                  <p:childTnLst>
                                    <p:set>
                                      <p:cBhvr>
                                        <p:cTn id="88" dur="1" fill="hold">
                                          <p:stCondLst>
                                            <p:cond delay="0"/>
                                          </p:stCondLst>
                                        </p:cTn>
                                        <p:tgtEl>
                                          <p:spTgt spid="118"/>
                                        </p:tgtEl>
                                        <p:attrNameLst>
                                          <p:attrName>style.visibility</p:attrName>
                                        </p:attrNameLst>
                                      </p:cBhvr>
                                      <p:to>
                                        <p:strVal val="visible"/>
                                      </p:to>
                                    </p:set>
                                    <p:animEffect transition="in" filter="fade">
                                      <p:cBhvr>
                                        <p:cTn id="89" dur="500"/>
                                        <p:tgtEl>
                                          <p:spTgt spid="118"/>
                                        </p:tgtEl>
                                      </p:cBhvr>
                                    </p:animEffect>
                                    <p:anim calcmode="lin" valueType="num">
                                      <p:cBhvr additive="base">
                                        <p:cTn id="90" dur="500" decel="100000" fill="hold"/>
                                        <p:tgtEl>
                                          <p:spTgt spid="118"/>
                                        </p:tgtEl>
                                        <p:attrNameLst>
                                          <p:attrName>ppt_y</p:attrName>
                                        </p:attrNameLst>
                                      </p:cBhvr>
                                      <p:tavLst>
                                        <p:tav tm="0">
                                          <p:val>
                                            <p:strVal val="#ppt_y+0.06"/>
                                          </p:val>
                                        </p:tav>
                                        <p:tav tm="100000">
                                          <p:val>
                                            <p:strVal val="#ppt_y"/>
                                          </p:val>
                                        </p:tav>
                                      </p:tavLst>
                                    </p:anim>
                                  </p:childTnLst>
                                </p:cTn>
                              </p:par>
                              <p:par>
                                <p:cTn id="91" presetID="42" presetClass="entr" presetSubtype="0" fill="hold" nodeType="withEffect">
                                  <p:stCondLst>
                                    <p:cond delay="360"/>
                                  </p:stCondLst>
                                  <p:childTnLst>
                                    <p:set>
                                      <p:cBhvr>
                                        <p:cTn id="92" dur="1" fill="hold">
                                          <p:stCondLst>
                                            <p:cond delay="0"/>
                                          </p:stCondLst>
                                        </p:cTn>
                                        <p:tgtEl>
                                          <p:spTgt spid="119"/>
                                        </p:tgtEl>
                                        <p:attrNameLst>
                                          <p:attrName>style.visibility</p:attrName>
                                        </p:attrNameLst>
                                      </p:cBhvr>
                                      <p:to>
                                        <p:strVal val="visible"/>
                                      </p:to>
                                    </p:set>
                                    <p:animEffect transition="in" filter="fade">
                                      <p:cBhvr>
                                        <p:cTn id="93" dur="500"/>
                                        <p:tgtEl>
                                          <p:spTgt spid="119"/>
                                        </p:tgtEl>
                                      </p:cBhvr>
                                    </p:animEffect>
                                    <p:anim calcmode="lin" valueType="num">
                                      <p:cBhvr additive="base">
                                        <p:cTn id="94" dur="500" decel="100000" fill="hold"/>
                                        <p:tgtEl>
                                          <p:spTgt spid="119"/>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360"/>
                                  </p:stCondLst>
                                  <p:childTnLst>
                                    <p:set>
                                      <p:cBhvr>
                                        <p:cTn id="96" dur="1" fill="hold">
                                          <p:stCondLst>
                                            <p:cond delay="0"/>
                                          </p:stCondLst>
                                        </p:cTn>
                                        <p:tgtEl>
                                          <p:spTgt spid="120"/>
                                        </p:tgtEl>
                                        <p:attrNameLst>
                                          <p:attrName>style.visibility</p:attrName>
                                        </p:attrNameLst>
                                      </p:cBhvr>
                                      <p:to>
                                        <p:strVal val="visible"/>
                                      </p:to>
                                    </p:set>
                                    <p:animEffect transition="in" filter="fade">
                                      <p:cBhvr>
                                        <p:cTn id="97" dur="500"/>
                                        <p:tgtEl>
                                          <p:spTgt spid="120"/>
                                        </p:tgtEl>
                                      </p:cBhvr>
                                    </p:animEffect>
                                    <p:anim calcmode="lin" valueType="num">
                                      <p:cBhvr additive="base">
                                        <p:cTn id="98" dur="500" decel="100000" fill="hold"/>
                                        <p:tgtEl>
                                          <p:spTgt spid="120"/>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480"/>
                                  </p:stCondLst>
                                  <p:childTnLst>
                                    <p:set>
                                      <p:cBhvr>
                                        <p:cTn id="100" dur="1" fill="hold">
                                          <p:stCondLst>
                                            <p:cond delay="0"/>
                                          </p:stCondLst>
                                        </p:cTn>
                                        <p:tgtEl>
                                          <p:spTgt spid="121"/>
                                        </p:tgtEl>
                                        <p:attrNameLst>
                                          <p:attrName>style.visibility</p:attrName>
                                        </p:attrNameLst>
                                      </p:cBhvr>
                                      <p:to>
                                        <p:strVal val="visible"/>
                                      </p:to>
                                    </p:set>
                                    <p:animEffect transition="in" filter="fade">
                                      <p:cBhvr>
                                        <p:cTn id="101" dur="500"/>
                                        <p:tgtEl>
                                          <p:spTgt spid="121"/>
                                        </p:tgtEl>
                                      </p:cBhvr>
                                    </p:animEffect>
                                    <p:anim calcmode="lin" valueType="num">
                                      <p:cBhvr additive="base">
                                        <p:cTn id="102" dur="500" decel="100000" fill="hold"/>
                                        <p:tgtEl>
                                          <p:spTgt spid="121"/>
                                        </p:tgtEl>
                                        <p:attrNameLst>
                                          <p:attrName>ppt_y</p:attrName>
                                        </p:attrNameLst>
                                      </p:cBhvr>
                                      <p:tavLst>
                                        <p:tav tm="0">
                                          <p:val>
                                            <p:strVal val="#ppt_y+0.06"/>
                                          </p:val>
                                        </p:tav>
                                        <p:tav tm="100000">
                                          <p:val>
                                            <p:strVal val="#ppt_y"/>
                                          </p:val>
                                        </p:tav>
                                      </p:tavLst>
                                    </p:anim>
                                  </p:childTnLst>
                                </p:cTn>
                              </p:par>
                              <p:par>
                                <p:cTn id="103" presetID="42" presetClass="entr" presetSubtype="0" fill="hold" nodeType="withEffect">
                                  <p:stCondLst>
                                    <p:cond delay="480"/>
                                  </p:stCondLst>
                                  <p:childTnLst>
                                    <p:set>
                                      <p:cBhvr>
                                        <p:cTn id="104" dur="1" fill="hold">
                                          <p:stCondLst>
                                            <p:cond delay="0"/>
                                          </p:stCondLst>
                                        </p:cTn>
                                        <p:tgtEl>
                                          <p:spTgt spid="122"/>
                                        </p:tgtEl>
                                        <p:attrNameLst>
                                          <p:attrName>style.visibility</p:attrName>
                                        </p:attrNameLst>
                                      </p:cBhvr>
                                      <p:to>
                                        <p:strVal val="visible"/>
                                      </p:to>
                                    </p:set>
                                    <p:animEffect transition="in" filter="fade">
                                      <p:cBhvr>
                                        <p:cTn id="105" dur="500"/>
                                        <p:tgtEl>
                                          <p:spTgt spid="122"/>
                                        </p:tgtEl>
                                      </p:cBhvr>
                                    </p:animEffect>
                                    <p:anim calcmode="lin" valueType="num">
                                      <p:cBhvr additive="base">
                                        <p:cTn id="106" dur="500" decel="100000" fill="hold"/>
                                        <p:tgtEl>
                                          <p:spTgt spid="122"/>
                                        </p:tgtEl>
                                        <p:attrNameLst>
                                          <p:attrName>ppt_y</p:attrName>
                                        </p:attrNameLst>
                                      </p:cBhvr>
                                      <p:tavLst>
                                        <p:tav tm="0">
                                          <p:val>
                                            <p:strVal val="#ppt_y+0.06"/>
                                          </p:val>
                                        </p:tav>
                                        <p:tav tm="100000">
                                          <p:val>
                                            <p:strVal val="#ppt_y"/>
                                          </p:val>
                                        </p:tav>
                                      </p:tavLst>
                                    </p:anim>
                                  </p:childTnLst>
                                </p:cTn>
                              </p:par>
                              <p:par>
                                <p:cTn id="107" presetID="42" presetClass="entr" presetSubtype="0" fill="hold" grpId="0" nodeType="withEffect">
                                  <p:stCondLst>
                                    <p:cond delay="480"/>
                                  </p:stCondLst>
                                  <p:childTnLst>
                                    <p:set>
                                      <p:cBhvr>
                                        <p:cTn id="108" dur="1" fill="hold">
                                          <p:stCondLst>
                                            <p:cond delay="0"/>
                                          </p:stCondLst>
                                        </p:cTn>
                                        <p:tgtEl>
                                          <p:spTgt spid="123"/>
                                        </p:tgtEl>
                                        <p:attrNameLst>
                                          <p:attrName>style.visibility</p:attrName>
                                        </p:attrNameLst>
                                      </p:cBhvr>
                                      <p:to>
                                        <p:strVal val="visible"/>
                                      </p:to>
                                    </p:set>
                                    <p:animEffect transition="in" filter="fade">
                                      <p:cBhvr>
                                        <p:cTn id="109" dur="500"/>
                                        <p:tgtEl>
                                          <p:spTgt spid="123"/>
                                        </p:tgtEl>
                                      </p:cBhvr>
                                    </p:animEffect>
                                    <p:anim calcmode="lin" valueType="num">
                                      <p:cBhvr additive="base">
                                        <p:cTn id="110" dur="500" decel="100000" fill="hold"/>
                                        <p:tgtEl>
                                          <p:spTgt spid="123"/>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600"/>
                                  </p:stCondLst>
                                  <p:childTnLst>
                                    <p:set>
                                      <p:cBhvr>
                                        <p:cTn id="112" dur="1" fill="hold">
                                          <p:stCondLst>
                                            <p:cond delay="0"/>
                                          </p:stCondLst>
                                        </p:cTn>
                                        <p:tgtEl>
                                          <p:spTgt spid="124"/>
                                        </p:tgtEl>
                                        <p:attrNameLst>
                                          <p:attrName>style.visibility</p:attrName>
                                        </p:attrNameLst>
                                      </p:cBhvr>
                                      <p:to>
                                        <p:strVal val="visible"/>
                                      </p:to>
                                    </p:set>
                                    <p:animEffect transition="in" filter="fade">
                                      <p:cBhvr>
                                        <p:cTn id="113" dur="500"/>
                                        <p:tgtEl>
                                          <p:spTgt spid="124"/>
                                        </p:tgtEl>
                                      </p:cBhvr>
                                    </p:animEffect>
                                    <p:anim calcmode="lin" valueType="num">
                                      <p:cBhvr additive="base">
                                        <p:cTn id="114" dur="500" decel="100000" fill="hold"/>
                                        <p:tgtEl>
                                          <p:spTgt spid="124"/>
                                        </p:tgtEl>
                                        <p:attrNameLst>
                                          <p:attrName>ppt_y</p:attrName>
                                        </p:attrNameLst>
                                      </p:cBhvr>
                                      <p:tavLst>
                                        <p:tav tm="0">
                                          <p:val>
                                            <p:strVal val="#ppt_y+0.06"/>
                                          </p:val>
                                        </p:tav>
                                        <p:tav tm="100000">
                                          <p:val>
                                            <p:strVal val="#ppt_y"/>
                                          </p:val>
                                        </p:tav>
                                      </p:tavLst>
                                    </p:anim>
                                  </p:childTnLst>
                                </p:cTn>
                              </p:par>
                              <p:par>
                                <p:cTn id="115" presetID="42" presetClass="entr" presetSubtype="0" fill="hold" nodeType="withEffect">
                                  <p:stCondLst>
                                    <p:cond delay="600"/>
                                  </p:stCondLst>
                                  <p:childTnLst>
                                    <p:set>
                                      <p:cBhvr>
                                        <p:cTn id="116" dur="1" fill="hold">
                                          <p:stCondLst>
                                            <p:cond delay="0"/>
                                          </p:stCondLst>
                                        </p:cTn>
                                        <p:tgtEl>
                                          <p:spTgt spid="125"/>
                                        </p:tgtEl>
                                        <p:attrNameLst>
                                          <p:attrName>style.visibility</p:attrName>
                                        </p:attrNameLst>
                                      </p:cBhvr>
                                      <p:to>
                                        <p:strVal val="visible"/>
                                      </p:to>
                                    </p:set>
                                    <p:animEffect transition="in" filter="fade">
                                      <p:cBhvr>
                                        <p:cTn id="117" dur="500"/>
                                        <p:tgtEl>
                                          <p:spTgt spid="125"/>
                                        </p:tgtEl>
                                      </p:cBhvr>
                                    </p:animEffect>
                                    <p:anim calcmode="lin" valueType="num">
                                      <p:cBhvr additive="base">
                                        <p:cTn id="118" dur="500" decel="100000" fill="hold"/>
                                        <p:tgtEl>
                                          <p:spTgt spid="125"/>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600"/>
                                  </p:stCondLst>
                                  <p:childTnLst>
                                    <p:set>
                                      <p:cBhvr>
                                        <p:cTn id="120" dur="1" fill="hold">
                                          <p:stCondLst>
                                            <p:cond delay="0"/>
                                          </p:stCondLst>
                                        </p:cTn>
                                        <p:tgtEl>
                                          <p:spTgt spid="126"/>
                                        </p:tgtEl>
                                        <p:attrNameLst>
                                          <p:attrName>style.visibility</p:attrName>
                                        </p:attrNameLst>
                                      </p:cBhvr>
                                      <p:to>
                                        <p:strVal val="visible"/>
                                      </p:to>
                                    </p:set>
                                    <p:animEffect transition="in" filter="fade">
                                      <p:cBhvr>
                                        <p:cTn id="121" dur="500"/>
                                        <p:tgtEl>
                                          <p:spTgt spid="126"/>
                                        </p:tgtEl>
                                      </p:cBhvr>
                                    </p:animEffect>
                                    <p:anim calcmode="lin" valueType="num">
                                      <p:cBhvr additive="base">
                                        <p:cTn id="122" dur="500" decel="100000" fill="hold"/>
                                        <p:tgtEl>
                                          <p:spTgt spid="126"/>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1" grpId="0" animBg="1"/>
      <p:bldP spid="112" grpId="0" animBg="1"/>
      <p:bldP spid="114" grpId="0" animBg="1"/>
      <p:bldP spid="115" grpId="0" animBg="1"/>
      <p:bldP spid="117" grpId="0" animBg="1"/>
      <p:bldP spid="118" grpId="0" animBg="1"/>
      <p:bldP spid="120" grpId="0" animBg="1"/>
      <p:bldP spid="121" grpId="0" animBg="1"/>
      <p:bldP spid="123" grpId="0" animBg="1"/>
      <p:bldP spid="124" grpId="0" animBg="1"/>
      <p:bldP spid="126"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SCENE 7</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276</a:t>
            </a:r>
            <a:endParaRPr lang="en-US" sz="850" dirty="0"/>
          </a:p>
        </p:txBody>
      </p:sp>
      <p:sp>
        <p:nvSpPr>
          <p:cNvPr id="101" name="s101"/>
          <p:cNvSpPr txBox="1"/>
          <p:nvPr/>
        </p:nvSpPr>
        <p:spPr>
          <a:xfrm>
            <a:off x="497434" y="1051560"/>
            <a:ext cx="2743200" cy="12801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8800" b="1" dirty="0">
                <a:solidFill>
                  <a:srgbClr val="F87171"/>
                </a:solidFill>
                <a:latin typeface="Segoe UI"/>
                <a:ea typeface="Segoe UI"/>
                <a:cs typeface="Segoe UI"/>
              </a:rPr>
              <a:t>07</a:t>
            </a:r>
            <a:endParaRPr lang="en-US" sz="8800" dirty="0"/>
          </a:p>
        </p:txBody>
      </p:sp>
      <p:sp>
        <p:nvSpPr>
          <p:cNvPr id="102" name="s102"/>
          <p:cNvSpPr txBox="1"/>
          <p:nvPr/>
        </p:nvSpPr>
        <p:spPr>
          <a:xfrm>
            <a:off x="543154" y="2331720"/>
            <a:ext cx="11088014" cy="7772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Is It Really Done?</a:t>
            </a:r>
            <a:endParaRPr lang="en-US" sz="4000" dirty="0"/>
          </a:p>
        </p:txBody>
      </p:sp>
      <p:sp>
        <p:nvSpPr>
          <p:cNvPr id="103" name="s103"/>
          <p:cNvSpPr txBox="1"/>
          <p:nvPr/>
        </p:nvSpPr>
        <p:spPr>
          <a:xfrm>
            <a:off x="543154" y="3108960"/>
            <a:ext cx="1108801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800" b="0" dirty="0">
                <a:solidFill>
                  <a:srgbClr val="CBD5E1"/>
                </a:solidFill>
                <a:latin typeface="Segoe UI"/>
                <a:ea typeface="Segoe UI"/>
                <a:cs typeface="Segoe UI"/>
              </a:rPr>
              <a:t>"The code is finished" is not the same as done.</a:t>
            </a:r>
            <a:endParaRPr lang="en-US" sz="1800" dirty="0"/>
          </a:p>
        </p:txBody>
      </p:sp>
      <p:sp>
        <p:nvSpPr>
          <p:cNvPr id="104" name="s104"/>
          <p:cNvSpPr txBox="1"/>
          <p:nvPr/>
        </p:nvSpPr>
        <p:spPr>
          <a:xfrm>
            <a:off x="543154" y="393192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IN THIS SCENE</a:t>
            </a:r>
            <a:endParaRPr lang="en-US" sz="1100" dirty="0"/>
          </a:p>
        </p:txBody>
      </p:sp>
      <p:sp>
        <p:nvSpPr>
          <p:cNvPr id="105" name="s105"/>
          <p:cNvSpPr/>
          <p:nvPr/>
        </p:nvSpPr>
        <p:spPr>
          <a:xfrm>
            <a:off x="543154" y="4251960"/>
            <a:ext cx="2651760" cy="548640"/>
          </a:xfrm>
          <a:prstGeom prst="roundRect">
            <a:avLst>
              <a:gd name="adj" fmla="val 20000"/>
            </a:avLst>
          </a:prstGeom>
          <a:solidFill>
            <a:srgbClr val="F87171">
              <a:alpha val="14000"/>
            </a:srgbClr>
          </a:solidFill>
          <a:ln w="12700">
            <a:solidFill>
              <a:srgbClr val="F87171"/>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Definition of Done</a:t>
            </a:r>
            <a:endParaRPr lang="en-US" sz="1350" dirty="0"/>
          </a:p>
        </p:txBody>
      </p:sp>
      <p:sp>
        <p:nvSpPr>
          <p:cNvPr id="106" name="s106"/>
          <p:cNvSpPr/>
          <p:nvPr/>
        </p:nvSpPr>
        <p:spPr>
          <a:xfrm>
            <a:off x="3377794" y="4251960"/>
            <a:ext cx="2651760" cy="548640"/>
          </a:xfrm>
          <a:prstGeom prst="roundRect">
            <a:avLst>
              <a:gd name="adj" fmla="val 20000"/>
            </a:avLst>
          </a:prstGeom>
          <a:solidFill>
            <a:srgbClr val="F87171">
              <a:alpha val="14000"/>
            </a:srgbClr>
          </a:solidFill>
          <a:ln w="12700">
            <a:solidFill>
              <a:srgbClr val="F87171"/>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Increment</a:t>
            </a:r>
            <a:endParaRPr lang="en-US" sz="1350" dirty="0"/>
          </a:p>
        </p:txBody>
      </p:sp>
      <p:sp>
        <p:nvSpPr>
          <p:cNvPr id="107" name="s107"/>
          <p:cNvSpPr/>
          <p:nvPr/>
        </p:nvSpPr>
        <p:spPr>
          <a:xfrm>
            <a:off x="6212434" y="4251960"/>
            <a:ext cx="2651760" cy="548640"/>
          </a:xfrm>
          <a:prstGeom prst="roundRect">
            <a:avLst>
              <a:gd name="adj" fmla="val 20000"/>
            </a:avLst>
          </a:prstGeom>
          <a:solidFill>
            <a:srgbClr val="F87171">
              <a:alpha val="14000"/>
            </a:srgbClr>
          </a:solidFill>
          <a:ln w="12700">
            <a:solidFill>
              <a:srgbClr val="F87171"/>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release approval</a:t>
            </a:r>
            <a:endParaRPr lang="en-US" sz="1350" dirty="0"/>
          </a:p>
        </p:txBody>
      </p:sp>
      <p:sp>
        <p:nvSpPr>
          <p:cNvPr id="108" name="s108"/>
          <p:cNvSpPr/>
          <p:nvPr/>
        </p:nvSpPr>
        <p:spPr>
          <a:xfrm>
            <a:off x="543154"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1</a:t>
            </a:r>
            <a:endParaRPr lang="en-US" sz="1300" dirty="0"/>
          </a:p>
        </p:txBody>
      </p:sp>
      <p:sp>
        <p:nvSpPr>
          <p:cNvPr id="109" name="s109"/>
          <p:cNvSpPr/>
          <p:nvPr/>
        </p:nvSpPr>
        <p:spPr>
          <a:xfrm>
            <a:off x="1659270" y="5669280"/>
            <a:ext cx="1042965" cy="457200"/>
          </a:xfrm>
          <a:prstGeom prst="roundRect">
            <a:avLst>
              <a:gd name="adj" fmla="val 20000"/>
            </a:avLst>
          </a:prstGeom>
          <a:solidFill>
            <a:srgbClr val="111B2E"/>
          </a:solidFill>
          <a:ln w="12700">
            <a:solidFill>
              <a:srgbClr val="FBBF24"/>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2</a:t>
            </a:r>
            <a:endParaRPr lang="en-US" sz="1300" dirty="0"/>
          </a:p>
        </p:txBody>
      </p:sp>
      <p:sp>
        <p:nvSpPr>
          <p:cNvPr id="110" name="s110"/>
          <p:cNvSpPr/>
          <p:nvPr/>
        </p:nvSpPr>
        <p:spPr>
          <a:xfrm>
            <a:off x="2775387" y="5669280"/>
            <a:ext cx="1042965" cy="457200"/>
          </a:xfrm>
          <a:prstGeom prst="roundRect">
            <a:avLst>
              <a:gd name="adj" fmla="val 20000"/>
            </a:avLst>
          </a:prstGeom>
          <a:solidFill>
            <a:srgbClr val="111B2E"/>
          </a:solidFill>
          <a:ln w="12700">
            <a:solidFill>
              <a:srgbClr val="A78B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A78BFA"/>
                </a:solidFill>
                <a:latin typeface="Segoe UI"/>
                <a:ea typeface="Segoe UI"/>
                <a:cs typeface="Segoe UI"/>
              </a:rPr>
              <a:t>3</a:t>
            </a:r>
            <a:endParaRPr lang="en-US" sz="1300" dirty="0"/>
          </a:p>
        </p:txBody>
      </p:sp>
      <p:sp>
        <p:nvSpPr>
          <p:cNvPr id="111" name="s111"/>
          <p:cNvSpPr/>
          <p:nvPr/>
        </p:nvSpPr>
        <p:spPr>
          <a:xfrm>
            <a:off x="3891504" y="5669280"/>
            <a:ext cx="1042965" cy="457200"/>
          </a:xfrm>
          <a:prstGeom prst="roundRect">
            <a:avLst>
              <a:gd name="adj" fmla="val 20000"/>
            </a:avLst>
          </a:prstGeom>
          <a:solidFill>
            <a:srgbClr val="111B2E"/>
          </a:solidFill>
          <a:ln w="12700">
            <a:solidFill>
              <a:srgbClr val="13D0F7"/>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13D0F7"/>
                </a:solidFill>
                <a:latin typeface="Segoe UI"/>
                <a:ea typeface="Segoe UI"/>
                <a:cs typeface="Segoe UI"/>
              </a:rPr>
              <a:t>4</a:t>
            </a:r>
            <a:endParaRPr lang="en-US" sz="1300" dirty="0"/>
          </a:p>
        </p:txBody>
      </p:sp>
      <p:sp>
        <p:nvSpPr>
          <p:cNvPr id="112" name="s112"/>
          <p:cNvSpPr/>
          <p:nvPr/>
        </p:nvSpPr>
        <p:spPr>
          <a:xfrm>
            <a:off x="5007620" y="5669280"/>
            <a:ext cx="1042965" cy="457200"/>
          </a:xfrm>
          <a:prstGeom prst="roundRect">
            <a:avLst>
              <a:gd name="adj" fmla="val 20000"/>
            </a:avLst>
          </a:prstGeom>
          <a:solidFill>
            <a:srgbClr val="111B2E"/>
          </a:solidFill>
          <a:ln w="12700">
            <a:solidFill>
              <a:srgbClr val="34D399"/>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34D399"/>
                </a:solidFill>
                <a:latin typeface="Segoe UI"/>
                <a:ea typeface="Segoe UI"/>
                <a:cs typeface="Segoe UI"/>
              </a:rPr>
              <a:t>5</a:t>
            </a:r>
            <a:endParaRPr lang="en-US" sz="1300" dirty="0"/>
          </a:p>
        </p:txBody>
      </p:sp>
      <p:sp>
        <p:nvSpPr>
          <p:cNvPr id="113" name="s113"/>
          <p:cNvSpPr/>
          <p:nvPr/>
        </p:nvSpPr>
        <p:spPr>
          <a:xfrm>
            <a:off x="6123737"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6</a:t>
            </a:r>
            <a:endParaRPr lang="en-US" sz="1300" dirty="0"/>
          </a:p>
        </p:txBody>
      </p:sp>
      <p:sp>
        <p:nvSpPr>
          <p:cNvPr id="114" name="s114"/>
          <p:cNvSpPr/>
          <p:nvPr/>
        </p:nvSpPr>
        <p:spPr>
          <a:xfrm>
            <a:off x="7239853" y="5669280"/>
            <a:ext cx="1042965" cy="457200"/>
          </a:xfrm>
          <a:prstGeom prst="roundRect">
            <a:avLst>
              <a:gd name="adj" fmla="val 20000"/>
            </a:avLst>
          </a:prstGeom>
          <a:solidFill>
            <a:srgbClr val="F87171"/>
          </a:solidFill>
          <a:ln w="19050">
            <a:solidFill>
              <a:srgbClr val="F87171"/>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7</a:t>
            </a:r>
            <a:endParaRPr lang="en-US" sz="1300" dirty="0"/>
          </a:p>
        </p:txBody>
      </p:sp>
      <p:sp>
        <p:nvSpPr>
          <p:cNvPr id="115" name="s115"/>
          <p:cNvSpPr/>
          <p:nvPr/>
        </p:nvSpPr>
        <p:spPr>
          <a:xfrm>
            <a:off x="8355970"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8</a:t>
            </a:r>
            <a:endParaRPr lang="en-US" sz="1300" dirty="0"/>
          </a:p>
        </p:txBody>
      </p:sp>
      <p:sp>
        <p:nvSpPr>
          <p:cNvPr id="116" name="s116"/>
          <p:cNvSpPr/>
          <p:nvPr/>
        </p:nvSpPr>
        <p:spPr>
          <a:xfrm>
            <a:off x="947208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9</a:t>
            </a:r>
            <a:endParaRPr lang="en-US" sz="1300" dirty="0"/>
          </a:p>
        </p:txBody>
      </p:sp>
      <p:sp>
        <p:nvSpPr>
          <p:cNvPr id="117" name="s117"/>
          <p:cNvSpPr/>
          <p:nvPr/>
        </p:nvSpPr>
        <p:spPr>
          <a:xfrm>
            <a:off x="1058820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10</a:t>
            </a:r>
            <a:endParaRPr lang="en-US" sz="13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1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anim calcmode="lin" valueType="num">
                                      <p:cBhvr additive="base">
                                        <p:cTn id="15" dur="5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2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10" presetClass="entr" presetSubtype="0" fill="hold" grpId="0" nodeType="withEffect">
                                  <p:stCondLst>
                                    <p:cond delay="33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childTnLst>
                                </p:cTn>
                              </p:par>
                              <p:par>
                                <p:cTn id="23" presetID="42" presetClass="entr" presetSubtype="0" fill="hold" grpId="0" nodeType="withEffect">
                                  <p:stCondLst>
                                    <p:cond delay="44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55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42" presetClass="entr" presetSubtype="0" fill="hold" grpId="0" nodeType="withEffect">
                                  <p:stCondLst>
                                    <p:cond delay="66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par>
                                <p:cTn id="35" presetID="10" presetClass="entr" presetSubtype="0" fill="hold" grpId="0" nodeType="withEffect">
                                  <p:stCondLst>
                                    <p:cond delay="76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76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76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76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76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par>
                                <p:cTn id="50" presetID="10" presetClass="entr" presetSubtype="0" fill="hold" grpId="0" nodeType="withEffect">
                                  <p:stCondLst>
                                    <p:cond delay="760"/>
                                  </p:stCondLst>
                                  <p:childTnLst>
                                    <p:set>
                                      <p:cBhvr>
                                        <p:cTn id="51" dur="1" fill="hold">
                                          <p:stCondLst>
                                            <p:cond delay="0"/>
                                          </p:stCondLst>
                                        </p:cTn>
                                        <p:tgtEl>
                                          <p:spTgt spid="113"/>
                                        </p:tgtEl>
                                        <p:attrNameLst>
                                          <p:attrName>style.visibility</p:attrName>
                                        </p:attrNameLst>
                                      </p:cBhvr>
                                      <p:to>
                                        <p:strVal val="visible"/>
                                      </p:to>
                                    </p:set>
                                    <p:animEffect transition="in" filter="fade">
                                      <p:cBhvr>
                                        <p:cTn id="52" dur="500"/>
                                        <p:tgtEl>
                                          <p:spTgt spid="113"/>
                                        </p:tgtEl>
                                      </p:cBhvr>
                                    </p:animEffect>
                                  </p:childTnLst>
                                </p:cTn>
                              </p:par>
                              <p:par>
                                <p:cTn id="53" presetID="10" presetClass="entr" presetSubtype="0" fill="hold" grpId="0" nodeType="withEffect">
                                  <p:stCondLst>
                                    <p:cond delay="76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childTnLst>
                                </p:cTn>
                              </p:par>
                              <p:par>
                                <p:cTn id="56" presetID="10" presetClass="entr" presetSubtype="0" fill="hold" grpId="0" nodeType="withEffect">
                                  <p:stCondLst>
                                    <p:cond delay="760"/>
                                  </p:stCondLst>
                                  <p:childTnLst>
                                    <p:set>
                                      <p:cBhvr>
                                        <p:cTn id="57" dur="1" fill="hold">
                                          <p:stCondLst>
                                            <p:cond delay="0"/>
                                          </p:stCondLst>
                                        </p:cTn>
                                        <p:tgtEl>
                                          <p:spTgt spid="115"/>
                                        </p:tgtEl>
                                        <p:attrNameLst>
                                          <p:attrName>style.visibility</p:attrName>
                                        </p:attrNameLst>
                                      </p:cBhvr>
                                      <p:to>
                                        <p:strVal val="visible"/>
                                      </p:to>
                                    </p:set>
                                    <p:animEffect transition="in" filter="fade">
                                      <p:cBhvr>
                                        <p:cTn id="58" dur="500"/>
                                        <p:tgtEl>
                                          <p:spTgt spid="115"/>
                                        </p:tgtEl>
                                      </p:cBhvr>
                                    </p:animEffect>
                                  </p:childTnLst>
                                </p:cTn>
                              </p:par>
                              <p:par>
                                <p:cTn id="59" presetID="10" presetClass="entr" presetSubtype="0" fill="hold" grpId="0" nodeType="withEffect">
                                  <p:stCondLst>
                                    <p:cond delay="760"/>
                                  </p:stCondLst>
                                  <p:childTnLst>
                                    <p:set>
                                      <p:cBhvr>
                                        <p:cTn id="60" dur="1" fill="hold">
                                          <p:stCondLst>
                                            <p:cond delay="0"/>
                                          </p:stCondLst>
                                        </p:cTn>
                                        <p:tgtEl>
                                          <p:spTgt spid="116"/>
                                        </p:tgtEl>
                                        <p:attrNameLst>
                                          <p:attrName>style.visibility</p:attrName>
                                        </p:attrNameLst>
                                      </p:cBhvr>
                                      <p:to>
                                        <p:strVal val="visible"/>
                                      </p:to>
                                    </p:set>
                                    <p:animEffect transition="in" filter="fade">
                                      <p:cBhvr>
                                        <p:cTn id="61" dur="500"/>
                                        <p:tgtEl>
                                          <p:spTgt spid="116"/>
                                        </p:tgtEl>
                                      </p:cBhvr>
                                    </p:animEffect>
                                  </p:childTnLst>
                                </p:cTn>
                              </p:par>
                              <p:par>
                                <p:cTn id="62" presetID="10" presetClass="entr" presetSubtype="0" fill="hold" grpId="0" nodeType="withEffect">
                                  <p:stCondLst>
                                    <p:cond delay="760"/>
                                  </p:stCondLst>
                                  <p:childTnLst>
                                    <p:set>
                                      <p:cBhvr>
                                        <p:cTn id="63" dur="1" fill="hold">
                                          <p:stCondLst>
                                            <p:cond delay="0"/>
                                          </p:stCondLst>
                                        </p:cTn>
                                        <p:tgtEl>
                                          <p:spTgt spid="117"/>
                                        </p:tgtEl>
                                        <p:attrNameLst>
                                          <p:attrName>style.visibility</p:attrName>
                                        </p:attrNameLst>
                                      </p:cBhvr>
                                      <p:to>
                                        <p:strVal val="visible"/>
                                      </p:to>
                                    </p:set>
                                    <p:animEffect transition="in" filter="fade">
                                      <p:cBhvr>
                                        <p:cTn id="64"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NOT YET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Code Is Finished”</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Omar says the booking API is done. Maya asks the hard questions.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DONE</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277</a:t>
            </a:r>
            <a:endParaRPr lang="en-US" sz="850" dirty="0"/>
          </a:p>
        </p:txBody>
      </p:sp>
      <p:sp>
        <p:nvSpPr>
          <p:cNvPr id="101" name="s101"/>
          <p:cNvSpPr/>
          <p:nvPr/>
        </p:nvSpPr>
        <p:spPr>
          <a:xfrm>
            <a:off x="543154" y="1993392"/>
            <a:ext cx="566928" cy="566928"/>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13D0F7"/>
                </a:solidFill>
                <a:latin typeface="Segoe UI"/>
                <a:ea typeface="Segoe UI"/>
                <a:cs typeface="Segoe UI"/>
              </a:rPr>
              <a:t>O</a:t>
            </a:r>
            <a:endParaRPr lang="en-US" sz="1612" dirty="0"/>
          </a:p>
        </p:txBody>
      </p:sp>
      <p:sp>
        <p:nvSpPr>
          <p:cNvPr id="102" name="s102"/>
          <p:cNvSpPr/>
          <p:nvPr/>
        </p:nvSpPr>
        <p:spPr>
          <a:xfrm>
            <a:off x="1274674" y="1920240"/>
            <a:ext cx="4754880" cy="731520"/>
          </a:xfrm>
          <a:prstGeom prst="roundRect">
            <a:avLst>
              <a:gd name="adj" fmla="val 14000"/>
            </a:avLst>
          </a:prstGeom>
          <a:solidFill>
            <a:srgbClr val="111B2E"/>
          </a:solidFill>
          <a:ln w="12700">
            <a:solidFill>
              <a:srgbClr val="13D0F7"/>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13D0F7"/>
                </a:solidFill>
                <a:latin typeface="Segoe UI"/>
                <a:ea typeface="Segoe UI"/>
                <a:cs typeface="Segoe UI"/>
              </a:rPr>
              <a:t>Omar</a:t>
            </a:r>
            <a:r>
              <a:rPr lang="en-US" sz="1100" b="0" dirty="0">
                <a:solidFill>
                  <a:srgbClr val="94A3B8"/>
                </a:solidFill>
                <a:latin typeface="Segoe UI"/>
                <a:ea typeface="Segoe UI"/>
                <a:cs typeface="Segoe UI"/>
              </a:rPr>
              <a:t>  ·  Backend</a:t>
            </a:r>
            <a:endParaRPr lang="en-US" sz="1100" dirty="0"/>
          </a:p>
          <a:p>
            <a:pPr marL="0" indent="0" algn="l">
              <a:spcBef>
                <a:spcPts val="0"/>
              </a:spcBef>
              <a:spcAft>
                <a:spcPts val="0"/>
              </a:spcAft>
              <a:buNone/>
            </a:pPr>
            <a:r>
              <a:rPr lang="en-US" sz="1600" b="0" dirty="0">
                <a:solidFill>
                  <a:srgbClr val="FFFFFF"/>
                </a:solidFill>
                <a:latin typeface="Segoe UI"/>
                <a:ea typeface="Segoe UI"/>
                <a:cs typeface="Segoe UI"/>
              </a:rPr>
              <a:t>The booking API is done.</a:t>
            </a:r>
            <a:endParaRPr lang="en-US" sz="1600" dirty="0"/>
          </a:p>
        </p:txBody>
      </p:sp>
      <p:sp>
        <p:nvSpPr>
          <p:cNvPr id="103" name="s103"/>
          <p:cNvSpPr/>
          <p:nvPr/>
        </p:nvSpPr>
        <p:spPr>
          <a:xfrm>
            <a:off x="6395314" y="1993392"/>
            <a:ext cx="566928" cy="566928"/>
          </a:xfrm>
          <a:prstGeom prst="ellipse">
            <a:avLst/>
          </a:prstGeom>
          <a:solidFill>
            <a:srgbClr val="34D399">
              <a:alpha val="22000"/>
            </a:srgbClr>
          </a:solidFill>
          <a:ln w="1905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34D399"/>
                </a:solidFill>
                <a:latin typeface="Segoe UI"/>
                <a:ea typeface="Segoe UI"/>
                <a:cs typeface="Segoe UI"/>
              </a:rPr>
              <a:t>M</a:t>
            </a:r>
            <a:endParaRPr lang="en-US" sz="1612" dirty="0"/>
          </a:p>
        </p:txBody>
      </p:sp>
      <p:sp>
        <p:nvSpPr>
          <p:cNvPr id="104" name="s104"/>
          <p:cNvSpPr/>
          <p:nvPr/>
        </p:nvSpPr>
        <p:spPr>
          <a:xfrm>
            <a:off x="7126834" y="1920240"/>
            <a:ext cx="4504334" cy="731520"/>
          </a:xfrm>
          <a:prstGeom prst="roundRect">
            <a:avLst>
              <a:gd name="adj" fmla="val 14000"/>
            </a:avLst>
          </a:prstGeom>
          <a:solidFill>
            <a:srgbClr val="111B2E"/>
          </a:solidFill>
          <a:ln w="12700">
            <a:solidFill>
              <a:srgbClr val="34D399"/>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34D399"/>
                </a:solidFill>
                <a:latin typeface="Segoe UI"/>
                <a:ea typeface="Segoe UI"/>
                <a:cs typeface="Segoe UI"/>
              </a:rPr>
              <a:t>Maya</a:t>
            </a:r>
            <a:r>
              <a:rPr lang="en-US" sz="1100" b="0" dirty="0">
                <a:solidFill>
                  <a:srgbClr val="94A3B8"/>
                </a:solidFill>
                <a:latin typeface="Segoe UI"/>
                <a:ea typeface="Segoe UI"/>
                <a:cs typeface="Segoe UI"/>
              </a:rPr>
              <a:t>  ·  QA</a:t>
            </a:r>
            <a:endParaRPr lang="en-US" sz="1100" dirty="0"/>
          </a:p>
          <a:p>
            <a:pPr marL="0" indent="0" algn="l">
              <a:spcBef>
                <a:spcPts val="0"/>
              </a:spcBef>
              <a:spcAft>
                <a:spcPts val="0"/>
              </a:spcAft>
              <a:buNone/>
            </a:pPr>
            <a:r>
              <a:rPr lang="en-US" sz="1600" b="0" dirty="0">
                <a:solidFill>
                  <a:srgbClr val="FFFFFF"/>
                </a:solidFill>
                <a:latin typeface="Segoe UI"/>
                <a:ea typeface="Segoe UI"/>
                <a:cs typeface="Segoe UI"/>
              </a:rPr>
              <a:t>Is it, though?</a:t>
            </a:r>
            <a:endParaRPr lang="en-US" sz="1600" dirty="0"/>
          </a:p>
        </p:txBody>
      </p:sp>
      <p:sp>
        <p:nvSpPr>
          <p:cNvPr id="105" name="s105"/>
          <p:cNvSpPr/>
          <p:nvPr/>
        </p:nvSpPr>
        <p:spPr>
          <a:xfrm>
            <a:off x="543154" y="2926080"/>
            <a:ext cx="2634844" cy="548640"/>
          </a:xfrm>
          <a:prstGeom prst="roundRect">
            <a:avLst>
              <a:gd name="adj" fmla="val 15000"/>
            </a:avLst>
          </a:prstGeom>
          <a:solidFill>
            <a:srgbClr val="111B2E"/>
          </a:solidFill>
          <a:ln w="12700">
            <a:solidFill>
              <a:srgbClr val="FBBF24">
                <a:alpha val="70000"/>
              </a:srgbClr>
            </a:solidFill>
            <a:prstDash val="solid"/>
          </a:ln>
        </p:spPr>
        <p:txBody>
          <a:bodyPr wrap="square" lIns="164592" tIns="109728" rIns="137160" bIns="9144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Reviewed?</a:t>
            </a:r>
            <a:endParaRPr lang="en-US" sz="1400" dirty="0"/>
          </a:p>
        </p:txBody>
      </p:sp>
      <p:pic>
        <p:nvPicPr>
          <p:cNvPr id="106" name="img106"/>
          <p:cNvPicPr>
            <a:picLocks noChangeAspect="1"/>
          </p:cNvPicPr>
          <p:nvPr/>
        </p:nvPicPr>
        <p:blipFill>
          <a:blip r:embed="rId4"/>
          <a:stretch>
            <a:fillRect/>
          </a:stretch>
        </p:blipFill>
        <p:spPr>
          <a:xfrm>
            <a:off x="2720797" y="3035808"/>
            <a:ext cx="329184" cy="329184"/>
          </a:xfrm>
          <a:prstGeom prst="rect">
            <a:avLst/>
          </a:prstGeom>
        </p:spPr>
      </p:pic>
      <p:sp>
        <p:nvSpPr>
          <p:cNvPr id="107" name="s107"/>
          <p:cNvSpPr/>
          <p:nvPr/>
        </p:nvSpPr>
        <p:spPr>
          <a:xfrm>
            <a:off x="3360877" y="2926080"/>
            <a:ext cx="2634844" cy="548640"/>
          </a:xfrm>
          <a:prstGeom prst="roundRect">
            <a:avLst>
              <a:gd name="adj" fmla="val 15000"/>
            </a:avLst>
          </a:prstGeom>
          <a:solidFill>
            <a:srgbClr val="111B2E"/>
          </a:solidFill>
          <a:ln w="12700">
            <a:solidFill>
              <a:srgbClr val="FBBF24">
                <a:alpha val="70000"/>
              </a:srgbClr>
            </a:solidFill>
            <a:prstDash val="solid"/>
          </a:ln>
        </p:spPr>
        <p:txBody>
          <a:bodyPr wrap="square" lIns="164592" tIns="109728" rIns="137160" bIns="9144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Tests added?</a:t>
            </a:r>
            <a:endParaRPr lang="en-US" sz="1400" dirty="0"/>
          </a:p>
        </p:txBody>
      </p:sp>
      <p:pic>
        <p:nvPicPr>
          <p:cNvPr id="108" name="img108"/>
          <p:cNvPicPr>
            <a:picLocks noChangeAspect="1"/>
          </p:cNvPicPr>
          <p:nvPr/>
        </p:nvPicPr>
        <p:blipFill>
          <a:blip r:embed="rId4"/>
          <a:stretch>
            <a:fillRect/>
          </a:stretch>
        </p:blipFill>
        <p:spPr>
          <a:xfrm>
            <a:off x="5538521" y="3035808"/>
            <a:ext cx="329184" cy="329184"/>
          </a:xfrm>
          <a:prstGeom prst="rect">
            <a:avLst/>
          </a:prstGeom>
        </p:spPr>
      </p:pic>
      <p:sp>
        <p:nvSpPr>
          <p:cNvPr id="109" name="s109"/>
          <p:cNvSpPr/>
          <p:nvPr/>
        </p:nvSpPr>
        <p:spPr>
          <a:xfrm>
            <a:off x="6178601" y="2926080"/>
            <a:ext cx="2634844" cy="548640"/>
          </a:xfrm>
          <a:prstGeom prst="roundRect">
            <a:avLst>
              <a:gd name="adj" fmla="val 15000"/>
            </a:avLst>
          </a:prstGeom>
          <a:solidFill>
            <a:srgbClr val="111B2E"/>
          </a:solidFill>
          <a:ln w="12700">
            <a:solidFill>
              <a:srgbClr val="FBBF24">
                <a:alpha val="70000"/>
              </a:srgbClr>
            </a:solidFill>
            <a:prstDash val="solid"/>
          </a:ln>
        </p:spPr>
        <p:txBody>
          <a:bodyPr wrap="square" lIns="164592" tIns="109728" rIns="137160" bIns="9144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Integrated with UI?</a:t>
            </a:r>
            <a:endParaRPr lang="en-US" sz="1400" dirty="0"/>
          </a:p>
        </p:txBody>
      </p:sp>
      <p:pic>
        <p:nvPicPr>
          <p:cNvPr id="110" name="img110"/>
          <p:cNvPicPr>
            <a:picLocks noChangeAspect="1"/>
          </p:cNvPicPr>
          <p:nvPr/>
        </p:nvPicPr>
        <p:blipFill>
          <a:blip r:embed="rId4"/>
          <a:stretch>
            <a:fillRect/>
          </a:stretch>
        </p:blipFill>
        <p:spPr>
          <a:xfrm>
            <a:off x="8356244" y="3035808"/>
            <a:ext cx="329184" cy="329184"/>
          </a:xfrm>
          <a:prstGeom prst="rect">
            <a:avLst/>
          </a:prstGeom>
        </p:spPr>
      </p:pic>
      <p:sp>
        <p:nvSpPr>
          <p:cNvPr id="111" name="s111"/>
          <p:cNvSpPr/>
          <p:nvPr/>
        </p:nvSpPr>
        <p:spPr>
          <a:xfrm>
            <a:off x="8996324" y="2926080"/>
            <a:ext cx="2634844" cy="548640"/>
          </a:xfrm>
          <a:prstGeom prst="roundRect">
            <a:avLst>
              <a:gd name="adj" fmla="val 15000"/>
            </a:avLst>
          </a:prstGeom>
          <a:solidFill>
            <a:srgbClr val="111B2E"/>
          </a:solidFill>
          <a:ln w="12700">
            <a:solidFill>
              <a:srgbClr val="FBBF24">
                <a:alpha val="70000"/>
              </a:srgbClr>
            </a:solidFill>
            <a:prstDash val="solid"/>
          </a:ln>
        </p:spPr>
        <p:txBody>
          <a:bodyPr wrap="square" lIns="164592" tIns="109728" rIns="137160" bIns="9144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Staging tested?</a:t>
            </a:r>
            <a:endParaRPr lang="en-US" sz="1400" dirty="0"/>
          </a:p>
        </p:txBody>
      </p:sp>
      <p:pic>
        <p:nvPicPr>
          <p:cNvPr id="112" name="img112"/>
          <p:cNvPicPr>
            <a:picLocks noChangeAspect="1"/>
          </p:cNvPicPr>
          <p:nvPr/>
        </p:nvPicPr>
        <p:blipFill>
          <a:blip r:embed="rId4"/>
          <a:stretch>
            <a:fillRect/>
          </a:stretch>
        </p:blipFill>
        <p:spPr>
          <a:xfrm>
            <a:off x="11173968" y="3035808"/>
            <a:ext cx="329184" cy="329184"/>
          </a:xfrm>
          <a:prstGeom prst="rect">
            <a:avLst/>
          </a:prstGeom>
        </p:spPr>
      </p:pic>
      <p:sp>
        <p:nvSpPr>
          <p:cNvPr id="113" name="s113"/>
          <p:cNvSpPr/>
          <p:nvPr/>
        </p:nvSpPr>
        <p:spPr>
          <a:xfrm>
            <a:off x="543154" y="3611880"/>
            <a:ext cx="2634844" cy="548640"/>
          </a:xfrm>
          <a:prstGeom prst="roundRect">
            <a:avLst>
              <a:gd name="adj" fmla="val 15000"/>
            </a:avLst>
          </a:prstGeom>
          <a:solidFill>
            <a:srgbClr val="111B2E"/>
          </a:solidFill>
          <a:ln w="12700">
            <a:solidFill>
              <a:srgbClr val="FBBF24">
                <a:alpha val="70000"/>
              </a:srgbClr>
            </a:solidFill>
            <a:prstDash val="solid"/>
          </a:ln>
        </p:spPr>
        <p:txBody>
          <a:bodyPr wrap="square" lIns="164592" tIns="109728" rIns="137160" bIns="9144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AC met?</a:t>
            </a:r>
            <a:endParaRPr lang="en-US" sz="1400" dirty="0"/>
          </a:p>
        </p:txBody>
      </p:sp>
      <p:pic>
        <p:nvPicPr>
          <p:cNvPr id="114" name="img114"/>
          <p:cNvPicPr>
            <a:picLocks noChangeAspect="1"/>
          </p:cNvPicPr>
          <p:nvPr/>
        </p:nvPicPr>
        <p:blipFill>
          <a:blip r:embed="rId4"/>
          <a:stretch>
            <a:fillRect/>
          </a:stretch>
        </p:blipFill>
        <p:spPr>
          <a:xfrm>
            <a:off x="2720797" y="3721608"/>
            <a:ext cx="329184" cy="329184"/>
          </a:xfrm>
          <a:prstGeom prst="rect">
            <a:avLst/>
          </a:prstGeom>
        </p:spPr>
      </p:pic>
      <p:sp>
        <p:nvSpPr>
          <p:cNvPr id="115" name="s115"/>
          <p:cNvSpPr/>
          <p:nvPr/>
        </p:nvSpPr>
        <p:spPr>
          <a:xfrm>
            <a:off x="3360877" y="3611880"/>
            <a:ext cx="2634844" cy="548640"/>
          </a:xfrm>
          <a:prstGeom prst="roundRect">
            <a:avLst>
              <a:gd name="adj" fmla="val 15000"/>
            </a:avLst>
          </a:prstGeom>
          <a:solidFill>
            <a:srgbClr val="111B2E"/>
          </a:solidFill>
          <a:ln w="12700">
            <a:solidFill>
              <a:srgbClr val="FBBF24">
                <a:alpha val="70000"/>
              </a:srgbClr>
            </a:solidFill>
            <a:prstDash val="solid"/>
          </a:ln>
        </p:spPr>
        <p:txBody>
          <a:bodyPr wrap="square" lIns="164592" tIns="109728" rIns="137160" bIns="9144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Monitoring?</a:t>
            </a:r>
            <a:endParaRPr lang="en-US" sz="1400" dirty="0"/>
          </a:p>
        </p:txBody>
      </p:sp>
      <p:pic>
        <p:nvPicPr>
          <p:cNvPr id="116" name="img116"/>
          <p:cNvPicPr>
            <a:picLocks noChangeAspect="1"/>
          </p:cNvPicPr>
          <p:nvPr/>
        </p:nvPicPr>
        <p:blipFill>
          <a:blip r:embed="rId4"/>
          <a:stretch>
            <a:fillRect/>
          </a:stretch>
        </p:blipFill>
        <p:spPr>
          <a:xfrm>
            <a:off x="5538521" y="3721608"/>
            <a:ext cx="329184" cy="329184"/>
          </a:xfrm>
          <a:prstGeom prst="rect">
            <a:avLst/>
          </a:prstGeom>
        </p:spPr>
      </p:pic>
      <p:sp>
        <p:nvSpPr>
          <p:cNvPr id="117" name="s117"/>
          <p:cNvSpPr/>
          <p:nvPr/>
        </p:nvSpPr>
        <p:spPr>
          <a:xfrm>
            <a:off x="6178601" y="3611880"/>
            <a:ext cx="2634844" cy="548640"/>
          </a:xfrm>
          <a:prstGeom prst="roundRect">
            <a:avLst>
              <a:gd name="adj" fmla="val 15000"/>
            </a:avLst>
          </a:prstGeom>
          <a:solidFill>
            <a:srgbClr val="111B2E"/>
          </a:solidFill>
          <a:ln w="12700">
            <a:solidFill>
              <a:srgbClr val="FBBF24">
                <a:alpha val="70000"/>
              </a:srgbClr>
            </a:solidFill>
            <a:prstDash val="solid"/>
          </a:ln>
        </p:spPr>
        <p:txBody>
          <a:bodyPr wrap="square" lIns="164592" tIns="109728" rIns="137160" bIns="9144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Secure?</a:t>
            </a:r>
            <a:endParaRPr lang="en-US" sz="1400" dirty="0"/>
          </a:p>
        </p:txBody>
      </p:sp>
      <p:pic>
        <p:nvPicPr>
          <p:cNvPr id="118" name="img118"/>
          <p:cNvPicPr>
            <a:picLocks noChangeAspect="1"/>
          </p:cNvPicPr>
          <p:nvPr/>
        </p:nvPicPr>
        <p:blipFill>
          <a:blip r:embed="rId4"/>
          <a:stretch>
            <a:fillRect/>
          </a:stretch>
        </p:blipFill>
        <p:spPr>
          <a:xfrm>
            <a:off x="8356244" y="3721608"/>
            <a:ext cx="329184" cy="329184"/>
          </a:xfrm>
          <a:prstGeom prst="rect">
            <a:avLst/>
          </a:prstGeom>
        </p:spPr>
      </p:pic>
      <p:sp>
        <p:nvSpPr>
          <p:cNvPr id="119" name="s119"/>
          <p:cNvSpPr/>
          <p:nvPr/>
        </p:nvSpPr>
        <p:spPr>
          <a:xfrm>
            <a:off x="8996324" y="3611880"/>
            <a:ext cx="2634844" cy="548640"/>
          </a:xfrm>
          <a:prstGeom prst="roundRect">
            <a:avLst>
              <a:gd name="adj" fmla="val 15000"/>
            </a:avLst>
          </a:prstGeom>
          <a:solidFill>
            <a:srgbClr val="111B2E"/>
          </a:solidFill>
          <a:ln w="12700">
            <a:solidFill>
              <a:srgbClr val="FBBF24">
                <a:alpha val="70000"/>
              </a:srgbClr>
            </a:solidFill>
            <a:prstDash val="solid"/>
          </a:ln>
        </p:spPr>
        <p:txBody>
          <a:bodyPr wrap="square" lIns="164592" tIns="109728" rIns="137160" bIns="9144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Deployable?</a:t>
            </a:r>
            <a:endParaRPr lang="en-US" sz="1400" dirty="0"/>
          </a:p>
        </p:txBody>
      </p:sp>
      <p:pic>
        <p:nvPicPr>
          <p:cNvPr id="120" name="img120"/>
          <p:cNvPicPr>
            <a:picLocks noChangeAspect="1"/>
          </p:cNvPicPr>
          <p:nvPr/>
        </p:nvPicPr>
        <p:blipFill>
          <a:blip r:embed="rId4"/>
          <a:stretch>
            <a:fillRect/>
          </a:stretch>
        </p:blipFill>
        <p:spPr>
          <a:xfrm>
            <a:off x="11173968" y="3721608"/>
            <a:ext cx="329184" cy="329184"/>
          </a:xfrm>
          <a:prstGeom prst="rect">
            <a:avLst/>
          </a:prstGeom>
        </p:spPr>
      </p:pic>
      <p:sp>
        <p:nvSpPr>
          <p:cNvPr id="121" name="s121"/>
          <p:cNvSpPr/>
          <p:nvPr/>
        </p:nvSpPr>
        <p:spPr>
          <a:xfrm>
            <a:off x="543154" y="4526280"/>
            <a:ext cx="11088014" cy="822960"/>
          </a:xfrm>
          <a:prstGeom prst="roundRect">
            <a:avLst>
              <a:gd name="adj" fmla="val 12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22" name="s122"/>
          <p:cNvSpPr txBox="1"/>
          <p:nvPr/>
        </p:nvSpPr>
        <p:spPr>
          <a:xfrm>
            <a:off x="771754" y="4617720"/>
            <a:ext cx="1828800" cy="25603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00" b="1" dirty="0">
                <a:solidFill>
                  <a:srgbClr val="FBBF24"/>
                </a:solidFill>
                <a:latin typeface="Segoe UI"/>
                <a:ea typeface="Segoe UI"/>
                <a:cs typeface="Segoe UI"/>
              </a:rPr>
              <a:t>ASK THE CLASS</a:t>
            </a:r>
            <a:endParaRPr lang="en-US" sz="1000" dirty="0"/>
          </a:p>
        </p:txBody>
      </p:sp>
      <p:sp>
        <p:nvSpPr>
          <p:cNvPr id="123" name="s123"/>
          <p:cNvSpPr txBox="1"/>
          <p:nvPr/>
        </p:nvSpPr>
        <p:spPr>
          <a:xfrm>
            <a:off x="771754" y="4855464"/>
            <a:ext cx="5322247" cy="438912"/>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FFFFFF"/>
                </a:solidFill>
                <a:latin typeface="Segoe UI"/>
                <a:ea typeface="Segoe UI"/>
                <a:cs typeface="Segoe UI"/>
              </a:rPr>
              <a:t>Is this item Done because the API works?</a:t>
            </a:r>
            <a:endParaRPr lang="en-US" sz="1400" dirty="0"/>
          </a:p>
        </p:txBody>
      </p:sp>
      <p:sp>
        <p:nvSpPr>
          <p:cNvPr id="124" name="s124"/>
          <p:cNvSpPr txBox="1"/>
          <p:nvPr/>
        </p:nvSpPr>
        <p:spPr>
          <a:xfrm>
            <a:off x="6087161" y="4617720"/>
            <a:ext cx="5322247"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  No. Until the Definition of Done is satisfied, it is not Done.</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anim calcmode="lin" valueType="num">
                                      <p:cBhvr additive="base">
                                        <p:cTn id="18" dur="500" decel="100000" fill="hold"/>
                                        <p:tgtEl>
                                          <p:spTgt spid="103"/>
                                        </p:tgtEl>
                                        <p:attrNameLst>
                                          <p:attrName>ppt_y</p:attrName>
                                        </p:attrNameLst>
                                      </p:cBhvr>
                                      <p:tavLst>
                                        <p:tav tm="0">
                                          <p:val>
                                            <p:strVal val="#ppt_y+0.06"/>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04"/>
                                        </p:tgtEl>
                                        <p:attrNameLst>
                                          <p:attrName>style.visibility</p:attrName>
                                        </p:attrNameLst>
                                      </p:cBhvr>
                                      <p:to>
                                        <p:strVal val="visible"/>
                                      </p:to>
                                    </p:set>
                                    <p:animEffect transition="in" filter="fade">
                                      <p:cBhvr>
                                        <p:cTn id="21" dur="500"/>
                                        <p:tgtEl>
                                          <p:spTgt spid="104"/>
                                        </p:tgtEl>
                                      </p:cBhvr>
                                    </p:animEffect>
                                    <p:anim calcmode="lin" valueType="num">
                                      <p:cBhvr additive="base">
                                        <p:cTn id="22" dur="500" decel="100000" fill="hold"/>
                                        <p:tgtEl>
                                          <p:spTgt spid="104"/>
                                        </p:tgtEl>
                                        <p:attrNameLst>
                                          <p:attrName>ppt_y</p:attrName>
                                        </p:attrNameLst>
                                      </p:cBhvr>
                                      <p:tavLst>
                                        <p:tav tm="0">
                                          <p:val>
                                            <p:strVal val="#ppt_y+0.06"/>
                                          </p:val>
                                        </p:tav>
                                        <p:tav tm="100000">
                                          <p:val>
                                            <p:strVal val="#ppt_y"/>
                                          </p:val>
                                        </p:tav>
                                      </p:tavLst>
                                    </p:anim>
                                  </p:childTnLst>
                                </p:cTn>
                              </p:par>
                              <p:par>
                                <p:cTn id="23" presetID="53" presetClass="entr" presetSubtype="16" fill="hold" grpId="0" nodeType="withEffect">
                                  <p:stCondLst>
                                    <p:cond delay="90"/>
                                  </p:stCondLst>
                                  <p:childTnLst>
                                    <p:set>
                                      <p:cBhvr>
                                        <p:cTn id="24" dur="1" fill="hold">
                                          <p:stCondLst>
                                            <p:cond delay="0"/>
                                          </p:stCondLst>
                                        </p:cTn>
                                        <p:tgtEl>
                                          <p:spTgt spid="105"/>
                                        </p:tgtEl>
                                        <p:attrNameLst>
                                          <p:attrName>style.visibility</p:attrName>
                                        </p:attrNameLst>
                                      </p:cBhvr>
                                      <p:to>
                                        <p:strVal val="visible"/>
                                      </p:to>
                                    </p:set>
                                    <p:anim calcmode="lin" valueType="num">
                                      <p:cBhvr additive="base">
                                        <p:cTn id="25" dur="500" decel="100000" fill="hold"/>
                                        <p:tgtEl>
                                          <p:spTgt spid="105"/>
                                        </p:tgtEl>
                                        <p:attrNameLst>
                                          <p:attrName>ppt_w</p:attrName>
                                        </p:attrNameLst>
                                      </p:cBhvr>
                                      <p:tavLst>
                                        <p:tav tm="0">
                                          <p:val>
                                            <p:strVal val="#ppt_w*0.3"/>
                                          </p:val>
                                        </p:tav>
                                        <p:tav tm="100000">
                                          <p:val>
                                            <p:strVal val="#ppt_w*1.08"/>
                                          </p:val>
                                        </p:tav>
                                      </p:tavLst>
                                    </p:anim>
                                    <p:anim calcmode="lin" valueType="num">
                                      <p:cBhvr additive="base">
                                        <p:cTn id="26" dur="500" decel="100000" fill="hold"/>
                                        <p:tgtEl>
                                          <p:spTgt spid="105"/>
                                        </p:tgtEl>
                                        <p:attrNameLst>
                                          <p:attrName>ppt_h</p:attrName>
                                        </p:attrNameLst>
                                      </p:cBhvr>
                                      <p:tavLst>
                                        <p:tav tm="0">
                                          <p:val>
                                            <p:strVal val="#ppt_h*0.3"/>
                                          </p:val>
                                        </p:tav>
                                        <p:tav tm="100000">
                                          <p:val>
                                            <p:strVal val="#ppt_h*1.08"/>
                                          </p:val>
                                        </p:tav>
                                      </p:tavLst>
                                    </p:anim>
                                    <p:animEffect transition="in" filter="fade">
                                      <p:cBhvr>
                                        <p:cTn id="27" dur="250"/>
                                        <p:tgtEl>
                                          <p:spTgt spid="105"/>
                                        </p:tgtEl>
                                      </p:cBhvr>
                                    </p:animEffect>
                                    <p:anim calcmode="lin" valueType="num">
                                      <p:cBhvr additive="base">
                                        <p:cTn id="28" dur="160" fill="hold">
                                          <p:stCondLst>
                                            <p:cond delay="500"/>
                                          </p:stCondLst>
                                        </p:cTn>
                                        <p:tgtEl>
                                          <p:spTgt spid="105"/>
                                        </p:tgtEl>
                                        <p:attrNameLst>
                                          <p:attrName>ppt_w</p:attrName>
                                        </p:attrNameLst>
                                      </p:cBhvr>
                                      <p:tavLst>
                                        <p:tav tm="0">
                                          <p:val>
                                            <p:strVal val="#ppt_w*1.08"/>
                                          </p:val>
                                        </p:tav>
                                        <p:tav tm="100000">
                                          <p:val>
                                            <p:strVal val="#ppt_w"/>
                                          </p:val>
                                        </p:tav>
                                      </p:tavLst>
                                    </p:anim>
                                    <p:anim calcmode="lin" valueType="num">
                                      <p:cBhvr additive="base">
                                        <p:cTn id="29" dur="160" fill="hold">
                                          <p:stCondLst>
                                            <p:cond delay="500"/>
                                          </p:stCondLst>
                                        </p:cTn>
                                        <p:tgtEl>
                                          <p:spTgt spid="105"/>
                                        </p:tgtEl>
                                        <p:attrNameLst>
                                          <p:attrName>ppt_h</p:attrName>
                                        </p:attrNameLst>
                                      </p:cBhvr>
                                      <p:tavLst>
                                        <p:tav tm="0">
                                          <p:val>
                                            <p:strVal val="#ppt_h*1.08"/>
                                          </p:val>
                                        </p:tav>
                                        <p:tav tm="100000">
                                          <p:val>
                                            <p:strVal val="#ppt_h"/>
                                          </p:val>
                                        </p:tav>
                                      </p:tavLst>
                                    </p:anim>
                                  </p:childTnLst>
                                </p:cTn>
                              </p:par>
                              <p:par>
                                <p:cTn id="30" presetID="53" presetClass="entr" presetSubtype="16" fill="hold" grpId="0" nodeType="withEffect">
                                  <p:stCondLst>
                                    <p:cond delay="180"/>
                                  </p:stCondLst>
                                  <p:childTnLst>
                                    <p:set>
                                      <p:cBhvr>
                                        <p:cTn id="31" dur="1" fill="hold">
                                          <p:stCondLst>
                                            <p:cond delay="0"/>
                                          </p:stCondLst>
                                        </p:cTn>
                                        <p:tgtEl>
                                          <p:spTgt spid="107"/>
                                        </p:tgtEl>
                                        <p:attrNameLst>
                                          <p:attrName>style.visibility</p:attrName>
                                        </p:attrNameLst>
                                      </p:cBhvr>
                                      <p:to>
                                        <p:strVal val="visible"/>
                                      </p:to>
                                    </p:set>
                                    <p:anim calcmode="lin" valueType="num">
                                      <p:cBhvr additive="base">
                                        <p:cTn id="32" dur="50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33" dur="500" decel="100000" fill="hold"/>
                                        <p:tgtEl>
                                          <p:spTgt spid="107"/>
                                        </p:tgtEl>
                                        <p:attrNameLst>
                                          <p:attrName>ppt_h</p:attrName>
                                        </p:attrNameLst>
                                      </p:cBhvr>
                                      <p:tavLst>
                                        <p:tav tm="0">
                                          <p:val>
                                            <p:strVal val="#ppt_h*0.3"/>
                                          </p:val>
                                        </p:tav>
                                        <p:tav tm="100000">
                                          <p:val>
                                            <p:strVal val="#ppt_h*1.08"/>
                                          </p:val>
                                        </p:tav>
                                      </p:tavLst>
                                    </p:anim>
                                    <p:animEffect transition="in" filter="fade">
                                      <p:cBhvr>
                                        <p:cTn id="34" dur="250"/>
                                        <p:tgtEl>
                                          <p:spTgt spid="107"/>
                                        </p:tgtEl>
                                      </p:cBhvr>
                                    </p:animEffect>
                                    <p:anim calcmode="lin" valueType="num">
                                      <p:cBhvr additive="base">
                                        <p:cTn id="35" dur="160" fill="hold">
                                          <p:stCondLst>
                                            <p:cond delay="500"/>
                                          </p:stCondLst>
                                        </p:cTn>
                                        <p:tgtEl>
                                          <p:spTgt spid="107"/>
                                        </p:tgtEl>
                                        <p:attrNameLst>
                                          <p:attrName>ppt_w</p:attrName>
                                        </p:attrNameLst>
                                      </p:cBhvr>
                                      <p:tavLst>
                                        <p:tav tm="0">
                                          <p:val>
                                            <p:strVal val="#ppt_w*1.08"/>
                                          </p:val>
                                        </p:tav>
                                        <p:tav tm="100000">
                                          <p:val>
                                            <p:strVal val="#ppt_w"/>
                                          </p:val>
                                        </p:tav>
                                      </p:tavLst>
                                    </p:anim>
                                    <p:anim calcmode="lin" valueType="num">
                                      <p:cBhvr additive="base">
                                        <p:cTn id="36" dur="160" fill="hold">
                                          <p:stCondLst>
                                            <p:cond delay="500"/>
                                          </p:stCondLst>
                                        </p:cTn>
                                        <p:tgtEl>
                                          <p:spTgt spid="107"/>
                                        </p:tgtEl>
                                        <p:attrNameLst>
                                          <p:attrName>ppt_h</p:attrName>
                                        </p:attrNameLst>
                                      </p:cBhvr>
                                      <p:tavLst>
                                        <p:tav tm="0">
                                          <p:val>
                                            <p:strVal val="#ppt_h*1.08"/>
                                          </p:val>
                                        </p:tav>
                                        <p:tav tm="100000">
                                          <p:val>
                                            <p:strVal val="#ppt_h"/>
                                          </p:val>
                                        </p:tav>
                                      </p:tavLst>
                                    </p:anim>
                                  </p:childTnLst>
                                </p:cTn>
                              </p:par>
                              <p:par>
                                <p:cTn id="37" presetID="53" presetClass="entr" presetSubtype="16" fill="hold" grpId="0" nodeType="withEffect">
                                  <p:stCondLst>
                                    <p:cond delay="270"/>
                                  </p:stCondLst>
                                  <p:childTnLst>
                                    <p:set>
                                      <p:cBhvr>
                                        <p:cTn id="38" dur="1" fill="hold">
                                          <p:stCondLst>
                                            <p:cond delay="0"/>
                                          </p:stCondLst>
                                        </p:cTn>
                                        <p:tgtEl>
                                          <p:spTgt spid="109"/>
                                        </p:tgtEl>
                                        <p:attrNameLst>
                                          <p:attrName>style.visibility</p:attrName>
                                        </p:attrNameLst>
                                      </p:cBhvr>
                                      <p:to>
                                        <p:strVal val="visible"/>
                                      </p:to>
                                    </p:set>
                                    <p:anim calcmode="lin" valueType="num">
                                      <p:cBhvr additive="base">
                                        <p:cTn id="39" dur="50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40" dur="500" decel="100000" fill="hold"/>
                                        <p:tgtEl>
                                          <p:spTgt spid="109"/>
                                        </p:tgtEl>
                                        <p:attrNameLst>
                                          <p:attrName>ppt_h</p:attrName>
                                        </p:attrNameLst>
                                      </p:cBhvr>
                                      <p:tavLst>
                                        <p:tav tm="0">
                                          <p:val>
                                            <p:strVal val="#ppt_h*0.3"/>
                                          </p:val>
                                        </p:tav>
                                        <p:tav tm="100000">
                                          <p:val>
                                            <p:strVal val="#ppt_h*1.08"/>
                                          </p:val>
                                        </p:tav>
                                      </p:tavLst>
                                    </p:anim>
                                    <p:animEffect transition="in" filter="fade">
                                      <p:cBhvr>
                                        <p:cTn id="41" dur="250"/>
                                        <p:tgtEl>
                                          <p:spTgt spid="109"/>
                                        </p:tgtEl>
                                      </p:cBhvr>
                                    </p:animEffect>
                                    <p:anim calcmode="lin" valueType="num">
                                      <p:cBhvr additive="base">
                                        <p:cTn id="42" dur="160" fill="hold">
                                          <p:stCondLst>
                                            <p:cond delay="500"/>
                                          </p:stCondLst>
                                        </p:cTn>
                                        <p:tgtEl>
                                          <p:spTgt spid="109"/>
                                        </p:tgtEl>
                                        <p:attrNameLst>
                                          <p:attrName>ppt_w</p:attrName>
                                        </p:attrNameLst>
                                      </p:cBhvr>
                                      <p:tavLst>
                                        <p:tav tm="0">
                                          <p:val>
                                            <p:strVal val="#ppt_w*1.08"/>
                                          </p:val>
                                        </p:tav>
                                        <p:tav tm="100000">
                                          <p:val>
                                            <p:strVal val="#ppt_w"/>
                                          </p:val>
                                        </p:tav>
                                      </p:tavLst>
                                    </p:anim>
                                    <p:anim calcmode="lin" valueType="num">
                                      <p:cBhvr additive="base">
                                        <p:cTn id="43" dur="160" fill="hold">
                                          <p:stCondLst>
                                            <p:cond delay="500"/>
                                          </p:stCondLst>
                                        </p:cTn>
                                        <p:tgtEl>
                                          <p:spTgt spid="109"/>
                                        </p:tgtEl>
                                        <p:attrNameLst>
                                          <p:attrName>ppt_h</p:attrName>
                                        </p:attrNameLst>
                                      </p:cBhvr>
                                      <p:tavLst>
                                        <p:tav tm="0">
                                          <p:val>
                                            <p:strVal val="#ppt_h*1.08"/>
                                          </p:val>
                                        </p:tav>
                                        <p:tav tm="100000">
                                          <p:val>
                                            <p:strVal val="#ppt_h"/>
                                          </p:val>
                                        </p:tav>
                                      </p:tavLst>
                                    </p:anim>
                                  </p:childTnLst>
                                </p:cTn>
                              </p:par>
                              <p:par>
                                <p:cTn id="44" presetID="53" presetClass="entr" presetSubtype="16" fill="hold" grpId="0" nodeType="withEffect">
                                  <p:stCondLst>
                                    <p:cond delay="360"/>
                                  </p:stCondLst>
                                  <p:childTnLst>
                                    <p:set>
                                      <p:cBhvr>
                                        <p:cTn id="45" dur="1" fill="hold">
                                          <p:stCondLst>
                                            <p:cond delay="0"/>
                                          </p:stCondLst>
                                        </p:cTn>
                                        <p:tgtEl>
                                          <p:spTgt spid="111"/>
                                        </p:tgtEl>
                                        <p:attrNameLst>
                                          <p:attrName>style.visibility</p:attrName>
                                        </p:attrNameLst>
                                      </p:cBhvr>
                                      <p:to>
                                        <p:strVal val="visible"/>
                                      </p:to>
                                    </p:set>
                                    <p:anim calcmode="lin" valueType="num">
                                      <p:cBhvr additive="base">
                                        <p:cTn id="46" dur="500" decel="100000" fill="hold"/>
                                        <p:tgtEl>
                                          <p:spTgt spid="111"/>
                                        </p:tgtEl>
                                        <p:attrNameLst>
                                          <p:attrName>ppt_w</p:attrName>
                                        </p:attrNameLst>
                                      </p:cBhvr>
                                      <p:tavLst>
                                        <p:tav tm="0">
                                          <p:val>
                                            <p:strVal val="#ppt_w*0.3"/>
                                          </p:val>
                                        </p:tav>
                                        <p:tav tm="100000">
                                          <p:val>
                                            <p:strVal val="#ppt_w*1.08"/>
                                          </p:val>
                                        </p:tav>
                                      </p:tavLst>
                                    </p:anim>
                                    <p:anim calcmode="lin" valueType="num">
                                      <p:cBhvr additive="base">
                                        <p:cTn id="47" dur="500" decel="100000" fill="hold"/>
                                        <p:tgtEl>
                                          <p:spTgt spid="111"/>
                                        </p:tgtEl>
                                        <p:attrNameLst>
                                          <p:attrName>ppt_h</p:attrName>
                                        </p:attrNameLst>
                                      </p:cBhvr>
                                      <p:tavLst>
                                        <p:tav tm="0">
                                          <p:val>
                                            <p:strVal val="#ppt_h*0.3"/>
                                          </p:val>
                                        </p:tav>
                                        <p:tav tm="100000">
                                          <p:val>
                                            <p:strVal val="#ppt_h*1.08"/>
                                          </p:val>
                                        </p:tav>
                                      </p:tavLst>
                                    </p:anim>
                                    <p:animEffect transition="in" filter="fade">
                                      <p:cBhvr>
                                        <p:cTn id="48" dur="250"/>
                                        <p:tgtEl>
                                          <p:spTgt spid="111"/>
                                        </p:tgtEl>
                                      </p:cBhvr>
                                    </p:animEffect>
                                    <p:anim calcmode="lin" valueType="num">
                                      <p:cBhvr additive="base">
                                        <p:cTn id="49" dur="160" fill="hold">
                                          <p:stCondLst>
                                            <p:cond delay="500"/>
                                          </p:stCondLst>
                                        </p:cTn>
                                        <p:tgtEl>
                                          <p:spTgt spid="111"/>
                                        </p:tgtEl>
                                        <p:attrNameLst>
                                          <p:attrName>ppt_w</p:attrName>
                                        </p:attrNameLst>
                                      </p:cBhvr>
                                      <p:tavLst>
                                        <p:tav tm="0">
                                          <p:val>
                                            <p:strVal val="#ppt_w*1.08"/>
                                          </p:val>
                                        </p:tav>
                                        <p:tav tm="100000">
                                          <p:val>
                                            <p:strVal val="#ppt_w"/>
                                          </p:val>
                                        </p:tav>
                                      </p:tavLst>
                                    </p:anim>
                                    <p:anim calcmode="lin" valueType="num">
                                      <p:cBhvr additive="base">
                                        <p:cTn id="50" dur="160" fill="hold">
                                          <p:stCondLst>
                                            <p:cond delay="500"/>
                                          </p:stCondLst>
                                        </p:cTn>
                                        <p:tgtEl>
                                          <p:spTgt spid="111"/>
                                        </p:tgtEl>
                                        <p:attrNameLst>
                                          <p:attrName>ppt_h</p:attrName>
                                        </p:attrNameLst>
                                      </p:cBhvr>
                                      <p:tavLst>
                                        <p:tav tm="0">
                                          <p:val>
                                            <p:strVal val="#ppt_h*1.08"/>
                                          </p:val>
                                        </p:tav>
                                        <p:tav tm="100000">
                                          <p:val>
                                            <p:strVal val="#ppt_h"/>
                                          </p:val>
                                        </p:tav>
                                      </p:tavLst>
                                    </p:anim>
                                  </p:childTnLst>
                                </p:cTn>
                              </p:par>
                              <p:par>
                                <p:cTn id="51" presetID="53" presetClass="entr" presetSubtype="16" fill="hold" grpId="0" nodeType="withEffect">
                                  <p:stCondLst>
                                    <p:cond delay="450"/>
                                  </p:stCondLst>
                                  <p:childTnLst>
                                    <p:set>
                                      <p:cBhvr>
                                        <p:cTn id="52" dur="1" fill="hold">
                                          <p:stCondLst>
                                            <p:cond delay="0"/>
                                          </p:stCondLst>
                                        </p:cTn>
                                        <p:tgtEl>
                                          <p:spTgt spid="113"/>
                                        </p:tgtEl>
                                        <p:attrNameLst>
                                          <p:attrName>style.visibility</p:attrName>
                                        </p:attrNameLst>
                                      </p:cBhvr>
                                      <p:to>
                                        <p:strVal val="visible"/>
                                      </p:to>
                                    </p:set>
                                    <p:anim calcmode="lin" valueType="num">
                                      <p:cBhvr additive="base">
                                        <p:cTn id="53" dur="500" decel="100000" fill="hold"/>
                                        <p:tgtEl>
                                          <p:spTgt spid="113"/>
                                        </p:tgtEl>
                                        <p:attrNameLst>
                                          <p:attrName>ppt_w</p:attrName>
                                        </p:attrNameLst>
                                      </p:cBhvr>
                                      <p:tavLst>
                                        <p:tav tm="0">
                                          <p:val>
                                            <p:strVal val="#ppt_w*0.3"/>
                                          </p:val>
                                        </p:tav>
                                        <p:tav tm="100000">
                                          <p:val>
                                            <p:strVal val="#ppt_w*1.08"/>
                                          </p:val>
                                        </p:tav>
                                      </p:tavLst>
                                    </p:anim>
                                    <p:anim calcmode="lin" valueType="num">
                                      <p:cBhvr additive="base">
                                        <p:cTn id="54" dur="500" decel="100000" fill="hold"/>
                                        <p:tgtEl>
                                          <p:spTgt spid="113"/>
                                        </p:tgtEl>
                                        <p:attrNameLst>
                                          <p:attrName>ppt_h</p:attrName>
                                        </p:attrNameLst>
                                      </p:cBhvr>
                                      <p:tavLst>
                                        <p:tav tm="0">
                                          <p:val>
                                            <p:strVal val="#ppt_h*0.3"/>
                                          </p:val>
                                        </p:tav>
                                        <p:tav tm="100000">
                                          <p:val>
                                            <p:strVal val="#ppt_h*1.08"/>
                                          </p:val>
                                        </p:tav>
                                      </p:tavLst>
                                    </p:anim>
                                    <p:animEffect transition="in" filter="fade">
                                      <p:cBhvr>
                                        <p:cTn id="55" dur="250"/>
                                        <p:tgtEl>
                                          <p:spTgt spid="113"/>
                                        </p:tgtEl>
                                      </p:cBhvr>
                                    </p:animEffect>
                                    <p:anim calcmode="lin" valueType="num">
                                      <p:cBhvr additive="base">
                                        <p:cTn id="56" dur="160" fill="hold">
                                          <p:stCondLst>
                                            <p:cond delay="500"/>
                                          </p:stCondLst>
                                        </p:cTn>
                                        <p:tgtEl>
                                          <p:spTgt spid="113"/>
                                        </p:tgtEl>
                                        <p:attrNameLst>
                                          <p:attrName>ppt_w</p:attrName>
                                        </p:attrNameLst>
                                      </p:cBhvr>
                                      <p:tavLst>
                                        <p:tav tm="0">
                                          <p:val>
                                            <p:strVal val="#ppt_w*1.08"/>
                                          </p:val>
                                        </p:tav>
                                        <p:tav tm="100000">
                                          <p:val>
                                            <p:strVal val="#ppt_w"/>
                                          </p:val>
                                        </p:tav>
                                      </p:tavLst>
                                    </p:anim>
                                    <p:anim calcmode="lin" valueType="num">
                                      <p:cBhvr additive="base">
                                        <p:cTn id="57" dur="160" fill="hold">
                                          <p:stCondLst>
                                            <p:cond delay="500"/>
                                          </p:stCondLst>
                                        </p:cTn>
                                        <p:tgtEl>
                                          <p:spTgt spid="113"/>
                                        </p:tgtEl>
                                        <p:attrNameLst>
                                          <p:attrName>ppt_h</p:attrName>
                                        </p:attrNameLst>
                                      </p:cBhvr>
                                      <p:tavLst>
                                        <p:tav tm="0">
                                          <p:val>
                                            <p:strVal val="#ppt_h*1.08"/>
                                          </p:val>
                                        </p:tav>
                                        <p:tav tm="100000">
                                          <p:val>
                                            <p:strVal val="#ppt_h"/>
                                          </p:val>
                                        </p:tav>
                                      </p:tavLst>
                                    </p:anim>
                                  </p:childTnLst>
                                </p:cTn>
                              </p:par>
                              <p:par>
                                <p:cTn id="58" presetID="53" presetClass="entr" presetSubtype="16" fill="hold" grpId="0" nodeType="withEffect">
                                  <p:stCondLst>
                                    <p:cond delay="540"/>
                                  </p:stCondLst>
                                  <p:childTnLst>
                                    <p:set>
                                      <p:cBhvr>
                                        <p:cTn id="59" dur="1" fill="hold">
                                          <p:stCondLst>
                                            <p:cond delay="0"/>
                                          </p:stCondLst>
                                        </p:cTn>
                                        <p:tgtEl>
                                          <p:spTgt spid="115"/>
                                        </p:tgtEl>
                                        <p:attrNameLst>
                                          <p:attrName>style.visibility</p:attrName>
                                        </p:attrNameLst>
                                      </p:cBhvr>
                                      <p:to>
                                        <p:strVal val="visible"/>
                                      </p:to>
                                    </p:set>
                                    <p:anim calcmode="lin" valueType="num">
                                      <p:cBhvr additive="base">
                                        <p:cTn id="60" dur="5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61" dur="500" decel="100000" fill="hold"/>
                                        <p:tgtEl>
                                          <p:spTgt spid="115"/>
                                        </p:tgtEl>
                                        <p:attrNameLst>
                                          <p:attrName>ppt_h</p:attrName>
                                        </p:attrNameLst>
                                      </p:cBhvr>
                                      <p:tavLst>
                                        <p:tav tm="0">
                                          <p:val>
                                            <p:strVal val="#ppt_h*0.3"/>
                                          </p:val>
                                        </p:tav>
                                        <p:tav tm="100000">
                                          <p:val>
                                            <p:strVal val="#ppt_h*1.08"/>
                                          </p:val>
                                        </p:tav>
                                      </p:tavLst>
                                    </p:anim>
                                    <p:animEffect transition="in" filter="fade">
                                      <p:cBhvr>
                                        <p:cTn id="62" dur="250"/>
                                        <p:tgtEl>
                                          <p:spTgt spid="115"/>
                                        </p:tgtEl>
                                      </p:cBhvr>
                                    </p:animEffect>
                                    <p:anim calcmode="lin" valueType="num">
                                      <p:cBhvr additive="base">
                                        <p:cTn id="63" dur="160" fill="hold">
                                          <p:stCondLst>
                                            <p:cond delay="500"/>
                                          </p:stCondLst>
                                        </p:cTn>
                                        <p:tgtEl>
                                          <p:spTgt spid="115"/>
                                        </p:tgtEl>
                                        <p:attrNameLst>
                                          <p:attrName>ppt_w</p:attrName>
                                        </p:attrNameLst>
                                      </p:cBhvr>
                                      <p:tavLst>
                                        <p:tav tm="0">
                                          <p:val>
                                            <p:strVal val="#ppt_w*1.08"/>
                                          </p:val>
                                        </p:tav>
                                        <p:tav tm="100000">
                                          <p:val>
                                            <p:strVal val="#ppt_w"/>
                                          </p:val>
                                        </p:tav>
                                      </p:tavLst>
                                    </p:anim>
                                    <p:anim calcmode="lin" valueType="num">
                                      <p:cBhvr additive="base">
                                        <p:cTn id="64" dur="160" fill="hold">
                                          <p:stCondLst>
                                            <p:cond delay="500"/>
                                          </p:stCondLst>
                                        </p:cTn>
                                        <p:tgtEl>
                                          <p:spTgt spid="115"/>
                                        </p:tgtEl>
                                        <p:attrNameLst>
                                          <p:attrName>ppt_h</p:attrName>
                                        </p:attrNameLst>
                                      </p:cBhvr>
                                      <p:tavLst>
                                        <p:tav tm="0">
                                          <p:val>
                                            <p:strVal val="#ppt_h*1.08"/>
                                          </p:val>
                                        </p:tav>
                                        <p:tav tm="100000">
                                          <p:val>
                                            <p:strVal val="#ppt_h"/>
                                          </p:val>
                                        </p:tav>
                                      </p:tavLst>
                                    </p:anim>
                                  </p:childTnLst>
                                </p:cTn>
                              </p:par>
                              <p:par>
                                <p:cTn id="65" presetID="53" presetClass="entr" presetSubtype="16" fill="hold" grpId="0" nodeType="withEffect">
                                  <p:stCondLst>
                                    <p:cond delay="630"/>
                                  </p:stCondLst>
                                  <p:childTnLst>
                                    <p:set>
                                      <p:cBhvr>
                                        <p:cTn id="66" dur="1" fill="hold">
                                          <p:stCondLst>
                                            <p:cond delay="0"/>
                                          </p:stCondLst>
                                        </p:cTn>
                                        <p:tgtEl>
                                          <p:spTgt spid="117"/>
                                        </p:tgtEl>
                                        <p:attrNameLst>
                                          <p:attrName>style.visibility</p:attrName>
                                        </p:attrNameLst>
                                      </p:cBhvr>
                                      <p:to>
                                        <p:strVal val="visible"/>
                                      </p:to>
                                    </p:set>
                                    <p:anim calcmode="lin" valueType="num">
                                      <p:cBhvr additive="base">
                                        <p:cTn id="67" dur="500" decel="100000" fill="hold"/>
                                        <p:tgtEl>
                                          <p:spTgt spid="117"/>
                                        </p:tgtEl>
                                        <p:attrNameLst>
                                          <p:attrName>ppt_w</p:attrName>
                                        </p:attrNameLst>
                                      </p:cBhvr>
                                      <p:tavLst>
                                        <p:tav tm="0">
                                          <p:val>
                                            <p:strVal val="#ppt_w*0.3"/>
                                          </p:val>
                                        </p:tav>
                                        <p:tav tm="100000">
                                          <p:val>
                                            <p:strVal val="#ppt_w*1.08"/>
                                          </p:val>
                                        </p:tav>
                                      </p:tavLst>
                                    </p:anim>
                                    <p:anim calcmode="lin" valueType="num">
                                      <p:cBhvr additive="base">
                                        <p:cTn id="68" dur="500" decel="100000" fill="hold"/>
                                        <p:tgtEl>
                                          <p:spTgt spid="117"/>
                                        </p:tgtEl>
                                        <p:attrNameLst>
                                          <p:attrName>ppt_h</p:attrName>
                                        </p:attrNameLst>
                                      </p:cBhvr>
                                      <p:tavLst>
                                        <p:tav tm="0">
                                          <p:val>
                                            <p:strVal val="#ppt_h*0.3"/>
                                          </p:val>
                                        </p:tav>
                                        <p:tav tm="100000">
                                          <p:val>
                                            <p:strVal val="#ppt_h*1.08"/>
                                          </p:val>
                                        </p:tav>
                                      </p:tavLst>
                                    </p:anim>
                                    <p:animEffect transition="in" filter="fade">
                                      <p:cBhvr>
                                        <p:cTn id="69" dur="250"/>
                                        <p:tgtEl>
                                          <p:spTgt spid="117"/>
                                        </p:tgtEl>
                                      </p:cBhvr>
                                    </p:animEffect>
                                    <p:anim calcmode="lin" valueType="num">
                                      <p:cBhvr additive="base">
                                        <p:cTn id="70" dur="160" fill="hold">
                                          <p:stCondLst>
                                            <p:cond delay="500"/>
                                          </p:stCondLst>
                                        </p:cTn>
                                        <p:tgtEl>
                                          <p:spTgt spid="117"/>
                                        </p:tgtEl>
                                        <p:attrNameLst>
                                          <p:attrName>ppt_w</p:attrName>
                                        </p:attrNameLst>
                                      </p:cBhvr>
                                      <p:tavLst>
                                        <p:tav tm="0">
                                          <p:val>
                                            <p:strVal val="#ppt_w*1.08"/>
                                          </p:val>
                                        </p:tav>
                                        <p:tav tm="100000">
                                          <p:val>
                                            <p:strVal val="#ppt_w"/>
                                          </p:val>
                                        </p:tav>
                                      </p:tavLst>
                                    </p:anim>
                                    <p:anim calcmode="lin" valueType="num">
                                      <p:cBhvr additive="base">
                                        <p:cTn id="71" dur="160" fill="hold">
                                          <p:stCondLst>
                                            <p:cond delay="500"/>
                                          </p:stCondLst>
                                        </p:cTn>
                                        <p:tgtEl>
                                          <p:spTgt spid="117"/>
                                        </p:tgtEl>
                                        <p:attrNameLst>
                                          <p:attrName>ppt_h</p:attrName>
                                        </p:attrNameLst>
                                      </p:cBhvr>
                                      <p:tavLst>
                                        <p:tav tm="0">
                                          <p:val>
                                            <p:strVal val="#ppt_h*1.08"/>
                                          </p:val>
                                        </p:tav>
                                        <p:tav tm="100000">
                                          <p:val>
                                            <p:strVal val="#ppt_h"/>
                                          </p:val>
                                        </p:tav>
                                      </p:tavLst>
                                    </p:anim>
                                  </p:childTnLst>
                                </p:cTn>
                              </p:par>
                              <p:par>
                                <p:cTn id="72" presetID="53" presetClass="entr" presetSubtype="16" fill="hold" grpId="0" nodeType="withEffect">
                                  <p:stCondLst>
                                    <p:cond delay="720"/>
                                  </p:stCondLst>
                                  <p:childTnLst>
                                    <p:set>
                                      <p:cBhvr>
                                        <p:cTn id="73" dur="1" fill="hold">
                                          <p:stCondLst>
                                            <p:cond delay="0"/>
                                          </p:stCondLst>
                                        </p:cTn>
                                        <p:tgtEl>
                                          <p:spTgt spid="119"/>
                                        </p:tgtEl>
                                        <p:attrNameLst>
                                          <p:attrName>style.visibility</p:attrName>
                                        </p:attrNameLst>
                                      </p:cBhvr>
                                      <p:to>
                                        <p:strVal val="visible"/>
                                      </p:to>
                                    </p:set>
                                    <p:anim calcmode="lin" valueType="num">
                                      <p:cBhvr additive="base">
                                        <p:cTn id="74" dur="500" decel="100000" fill="hold"/>
                                        <p:tgtEl>
                                          <p:spTgt spid="119"/>
                                        </p:tgtEl>
                                        <p:attrNameLst>
                                          <p:attrName>ppt_w</p:attrName>
                                        </p:attrNameLst>
                                      </p:cBhvr>
                                      <p:tavLst>
                                        <p:tav tm="0">
                                          <p:val>
                                            <p:strVal val="#ppt_w*0.3"/>
                                          </p:val>
                                        </p:tav>
                                        <p:tav tm="100000">
                                          <p:val>
                                            <p:strVal val="#ppt_w*1.08"/>
                                          </p:val>
                                        </p:tav>
                                      </p:tavLst>
                                    </p:anim>
                                    <p:anim calcmode="lin" valueType="num">
                                      <p:cBhvr additive="base">
                                        <p:cTn id="75" dur="500" decel="100000" fill="hold"/>
                                        <p:tgtEl>
                                          <p:spTgt spid="119"/>
                                        </p:tgtEl>
                                        <p:attrNameLst>
                                          <p:attrName>ppt_h</p:attrName>
                                        </p:attrNameLst>
                                      </p:cBhvr>
                                      <p:tavLst>
                                        <p:tav tm="0">
                                          <p:val>
                                            <p:strVal val="#ppt_h*0.3"/>
                                          </p:val>
                                        </p:tav>
                                        <p:tav tm="100000">
                                          <p:val>
                                            <p:strVal val="#ppt_h*1.08"/>
                                          </p:val>
                                        </p:tav>
                                      </p:tavLst>
                                    </p:anim>
                                    <p:animEffect transition="in" filter="fade">
                                      <p:cBhvr>
                                        <p:cTn id="76" dur="250"/>
                                        <p:tgtEl>
                                          <p:spTgt spid="119"/>
                                        </p:tgtEl>
                                      </p:cBhvr>
                                    </p:animEffect>
                                    <p:anim calcmode="lin" valueType="num">
                                      <p:cBhvr additive="base">
                                        <p:cTn id="77" dur="160" fill="hold">
                                          <p:stCondLst>
                                            <p:cond delay="500"/>
                                          </p:stCondLst>
                                        </p:cTn>
                                        <p:tgtEl>
                                          <p:spTgt spid="119"/>
                                        </p:tgtEl>
                                        <p:attrNameLst>
                                          <p:attrName>ppt_w</p:attrName>
                                        </p:attrNameLst>
                                      </p:cBhvr>
                                      <p:tavLst>
                                        <p:tav tm="0">
                                          <p:val>
                                            <p:strVal val="#ppt_w*1.08"/>
                                          </p:val>
                                        </p:tav>
                                        <p:tav tm="100000">
                                          <p:val>
                                            <p:strVal val="#ppt_w"/>
                                          </p:val>
                                        </p:tav>
                                      </p:tavLst>
                                    </p:anim>
                                    <p:anim calcmode="lin" valueType="num">
                                      <p:cBhvr additive="base">
                                        <p:cTn id="78" dur="160" fill="hold">
                                          <p:stCondLst>
                                            <p:cond delay="500"/>
                                          </p:stCondLst>
                                        </p:cTn>
                                        <p:tgtEl>
                                          <p:spTgt spid="119"/>
                                        </p:tgtEl>
                                        <p:attrNameLst>
                                          <p:attrName>ppt_h</p:attrName>
                                        </p:attrNameLst>
                                      </p:cBhvr>
                                      <p:tavLst>
                                        <p:tav tm="0">
                                          <p:val>
                                            <p:strVal val="#ppt_h*1.08"/>
                                          </p:val>
                                        </p:tav>
                                        <p:tav tm="100000">
                                          <p:val>
                                            <p:strVal val="#ppt_h"/>
                                          </p:val>
                                        </p:tav>
                                      </p:tavLst>
                                    </p:anim>
                                  </p:childTnLst>
                                </p:cTn>
                              </p:par>
                            </p:childTnLst>
                          </p:cTn>
                        </p:par>
                      </p:childTnLst>
                    </p:cTn>
                  </p:par>
                  <p:par>
                    <p:cTn id="79" fill="hold">
                      <p:stCondLst>
                        <p:cond delay="indefinite"/>
                      </p:stCondLst>
                      <p:childTnLst>
                        <p:par>
                          <p:cTn id="80" fill="hold">
                            <p:stCondLst>
                              <p:cond delay="0"/>
                            </p:stCondLst>
                            <p:childTnLst>
                              <p:par>
                                <p:cTn id="81" presetID="53" presetClass="entr" presetSubtype="16" fill="hold" nodeType="clickEffect">
                                  <p:stCondLst>
                                    <p:cond delay="0"/>
                                  </p:stCondLst>
                                  <p:childTnLst>
                                    <p:set>
                                      <p:cBhvr>
                                        <p:cTn id="82" dur="1" fill="hold">
                                          <p:stCondLst>
                                            <p:cond delay="0"/>
                                          </p:stCondLst>
                                        </p:cTn>
                                        <p:tgtEl>
                                          <p:spTgt spid="106"/>
                                        </p:tgtEl>
                                        <p:attrNameLst>
                                          <p:attrName>style.visibility</p:attrName>
                                        </p:attrNameLst>
                                      </p:cBhvr>
                                      <p:to>
                                        <p:strVal val="visible"/>
                                      </p:to>
                                    </p:set>
                                    <p:anim calcmode="lin" valueType="num">
                                      <p:cBhvr additive="base">
                                        <p:cTn id="83"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84" dur="500" decel="100000" fill="hold"/>
                                        <p:tgtEl>
                                          <p:spTgt spid="106"/>
                                        </p:tgtEl>
                                        <p:attrNameLst>
                                          <p:attrName>ppt_h</p:attrName>
                                        </p:attrNameLst>
                                      </p:cBhvr>
                                      <p:tavLst>
                                        <p:tav tm="0">
                                          <p:val>
                                            <p:strVal val="#ppt_h*0.55"/>
                                          </p:val>
                                        </p:tav>
                                        <p:tav tm="100000">
                                          <p:val>
                                            <p:strVal val="#ppt_h"/>
                                          </p:val>
                                        </p:tav>
                                      </p:tavLst>
                                    </p:anim>
                                    <p:animEffect transition="in" filter="fade">
                                      <p:cBhvr>
                                        <p:cTn id="85" dur="500"/>
                                        <p:tgtEl>
                                          <p:spTgt spid="106"/>
                                        </p:tgtEl>
                                      </p:cBhvr>
                                    </p:animEffect>
                                  </p:childTnLst>
                                </p:cTn>
                              </p:par>
                              <p:par>
                                <p:cTn id="86" presetID="53" presetClass="entr" presetSubtype="16" fill="hold" nodeType="withEffect">
                                  <p:stCondLst>
                                    <p:cond delay="90"/>
                                  </p:stCondLst>
                                  <p:childTnLst>
                                    <p:set>
                                      <p:cBhvr>
                                        <p:cTn id="87" dur="1" fill="hold">
                                          <p:stCondLst>
                                            <p:cond delay="0"/>
                                          </p:stCondLst>
                                        </p:cTn>
                                        <p:tgtEl>
                                          <p:spTgt spid="108"/>
                                        </p:tgtEl>
                                        <p:attrNameLst>
                                          <p:attrName>style.visibility</p:attrName>
                                        </p:attrNameLst>
                                      </p:cBhvr>
                                      <p:to>
                                        <p:strVal val="visible"/>
                                      </p:to>
                                    </p:set>
                                    <p:anim calcmode="lin" valueType="num">
                                      <p:cBhvr additive="base">
                                        <p:cTn id="88"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89" dur="500" decel="100000" fill="hold"/>
                                        <p:tgtEl>
                                          <p:spTgt spid="108"/>
                                        </p:tgtEl>
                                        <p:attrNameLst>
                                          <p:attrName>ppt_h</p:attrName>
                                        </p:attrNameLst>
                                      </p:cBhvr>
                                      <p:tavLst>
                                        <p:tav tm="0">
                                          <p:val>
                                            <p:strVal val="#ppt_h*0.55"/>
                                          </p:val>
                                        </p:tav>
                                        <p:tav tm="100000">
                                          <p:val>
                                            <p:strVal val="#ppt_h"/>
                                          </p:val>
                                        </p:tav>
                                      </p:tavLst>
                                    </p:anim>
                                    <p:animEffect transition="in" filter="fade">
                                      <p:cBhvr>
                                        <p:cTn id="90" dur="500"/>
                                        <p:tgtEl>
                                          <p:spTgt spid="108"/>
                                        </p:tgtEl>
                                      </p:cBhvr>
                                    </p:animEffect>
                                  </p:childTnLst>
                                </p:cTn>
                              </p:par>
                              <p:par>
                                <p:cTn id="91" presetID="53" presetClass="entr" presetSubtype="16" fill="hold" nodeType="withEffect">
                                  <p:stCondLst>
                                    <p:cond delay="180"/>
                                  </p:stCondLst>
                                  <p:childTnLst>
                                    <p:set>
                                      <p:cBhvr>
                                        <p:cTn id="92" dur="1" fill="hold">
                                          <p:stCondLst>
                                            <p:cond delay="0"/>
                                          </p:stCondLst>
                                        </p:cTn>
                                        <p:tgtEl>
                                          <p:spTgt spid="110"/>
                                        </p:tgtEl>
                                        <p:attrNameLst>
                                          <p:attrName>style.visibility</p:attrName>
                                        </p:attrNameLst>
                                      </p:cBhvr>
                                      <p:to>
                                        <p:strVal val="visible"/>
                                      </p:to>
                                    </p:set>
                                    <p:anim calcmode="lin" valueType="num">
                                      <p:cBhvr additive="base">
                                        <p:cTn id="93" dur="500" decel="100000" fill="hold"/>
                                        <p:tgtEl>
                                          <p:spTgt spid="110"/>
                                        </p:tgtEl>
                                        <p:attrNameLst>
                                          <p:attrName>ppt_w</p:attrName>
                                        </p:attrNameLst>
                                      </p:cBhvr>
                                      <p:tavLst>
                                        <p:tav tm="0">
                                          <p:val>
                                            <p:strVal val="#ppt_w*0.55"/>
                                          </p:val>
                                        </p:tav>
                                        <p:tav tm="100000">
                                          <p:val>
                                            <p:strVal val="#ppt_w"/>
                                          </p:val>
                                        </p:tav>
                                      </p:tavLst>
                                    </p:anim>
                                    <p:anim calcmode="lin" valueType="num">
                                      <p:cBhvr additive="base">
                                        <p:cTn id="94" dur="500" decel="100000" fill="hold"/>
                                        <p:tgtEl>
                                          <p:spTgt spid="110"/>
                                        </p:tgtEl>
                                        <p:attrNameLst>
                                          <p:attrName>ppt_h</p:attrName>
                                        </p:attrNameLst>
                                      </p:cBhvr>
                                      <p:tavLst>
                                        <p:tav tm="0">
                                          <p:val>
                                            <p:strVal val="#ppt_h*0.55"/>
                                          </p:val>
                                        </p:tav>
                                        <p:tav tm="100000">
                                          <p:val>
                                            <p:strVal val="#ppt_h"/>
                                          </p:val>
                                        </p:tav>
                                      </p:tavLst>
                                    </p:anim>
                                    <p:animEffect transition="in" filter="fade">
                                      <p:cBhvr>
                                        <p:cTn id="95" dur="500"/>
                                        <p:tgtEl>
                                          <p:spTgt spid="110"/>
                                        </p:tgtEl>
                                      </p:cBhvr>
                                    </p:animEffect>
                                  </p:childTnLst>
                                </p:cTn>
                              </p:par>
                              <p:par>
                                <p:cTn id="96" presetID="53" presetClass="entr" presetSubtype="16" fill="hold" nodeType="withEffect">
                                  <p:stCondLst>
                                    <p:cond delay="270"/>
                                  </p:stCondLst>
                                  <p:childTnLst>
                                    <p:set>
                                      <p:cBhvr>
                                        <p:cTn id="97" dur="1" fill="hold">
                                          <p:stCondLst>
                                            <p:cond delay="0"/>
                                          </p:stCondLst>
                                        </p:cTn>
                                        <p:tgtEl>
                                          <p:spTgt spid="112"/>
                                        </p:tgtEl>
                                        <p:attrNameLst>
                                          <p:attrName>style.visibility</p:attrName>
                                        </p:attrNameLst>
                                      </p:cBhvr>
                                      <p:to>
                                        <p:strVal val="visible"/>
                                      </p:to>
                                    </p:set>
                                    <p:anim calcmode="lin" valueType="num">
                                      <p:cBhvr additive="base">
                                        <p:cTn id="98" dur="500" decel="100000" fill="hold"/>
                                        <p:tgtEl>
                                          <p:spTgt spid="112"/>
                                        </p:tgtEl>
                                        <p:attrNameLst>
                                          <p:attrName>ppt_w</p:attrName>
                                        </p:attrNameLst>
                                      </p:cBhvr>
                                      <p:tavLst>
                                        <p:tav tm="0">
                                          <p:val>
                                            <p:strVal val="#ppt_w*0.55"/>
                                          </p:val>
                                        </p:tav>
                                        <p:tav tm="100000">
                                          <p:val>
                                            <p:strVal val="#ppt_w"/>
                                          </p:val>
                                        </p:tav>
                                      </p:tavLst>
                                    </p:anim>
                                    <p:anim calcmode="lin" valueType="num">
                                      <p:cBhvr additive="base">
                                        <p:cTn id="99" dur="500" decel="100000" fill="hold"/>
                                        <p:tgtEl>
                                          <p:spTgt spid="112"/>
                                        </p:tgtEl>
                                        <p:attrNameLst>
                                          <p:attrName>ppt_h</p:attrName>
                                        </p:attrNameLst>
                                      </p:cBhvr>
                                      <p:tavLst>
                                        <p:tav tm="0">
                                          <p:val>
                                            <p:strVal val="#ppt_h*0.55"/>
                                          </p:val>
                                        </p:tav>
                                        <p:tav tm="100000">
                                          <p:val>
                                            <p:strVal val="#ppt_h"/>
                                          </p:val>
                                        </p:tav>
                                      </p:tavLst>
                                    </p:anim>
                                    <p:animEffect transition="in" filter="fade">
                                      <p:cBhvr>
                                        <p:cTn id="100" dur="500"/>
                                        <p:tgtEl>
                                          <p:spTgt spid="112"/>
                                        </p:tgtEl>
                                      </p:cBhvr>
                                    </p:animEffect>
                                  </p:childTnLst>
                                </p:cTn>
                              </p:par>
                              <p:par>
                                <p:cTn id="101" presetID="53" presetClass="entr" presetSubtype="16" fill="hold" nodeType="withEffect">
                                  <p:stCondLst>
                                    <p:cond delay="360"/>
                                  </p:stCondLst>
                                  <p:childTnLst>
                                    <p:set>
                                      <p:cBhvr>
                                        <p:cTn id="102" dur="1" fill="hold">
                                          <p:stCondLst>
                                            <p:cond delay="0"/>
                                          </p:stCondLst>
                                        </p:cTn>
                                        <p:tgtEl>
                                          <p:spTgt spid="114"/>
                                        </p:tgtEl>
                                        <p:attrNameLst>
                                          <p:attrName>style.visibility</p:attrName>
                                        </p:attrNameLst>
                                      </p:cBhvr>
                                      <p:to>
                                        <p:strVal val="visible"/>
                                      </p:to>
                                    </p:set>
                                    <p:anim calcmode="lin" valueType="num">
                                      <p:cBhvr additive="base">
                                        <p:cTn id="103" dur="500" decel="100000" fill="hold"/>
                                        <p:tgtEl>
                                          <p:spTgt spid="114"/>
                                        </p:tgtEl>
                                        <p:attrNameLst>
                                          <p:attrName>ppt_w</p:attrName>
                                        </p:attrNameLst>
                                      </p:cBhvr>
                                      <p:tavLst>
                                        <p:tav tm="0">
                                          <p:val>
                                            <p:strVal val="#ppt_w*0.55"/>
                                          </p:val>
                                        </p:tav>
                                        <p:tav tm="100000">
                                          <p:val>
                                            <p:strVal val="#ppt_w"/>
                                          </p:val>
                                        </p:tav>
                                      </p:tavLst>
                                    </p:anim>
                                    <p:anim calcmode="lin" valueType="num">
                                      <p:cBhvr additive="base">
                                        <p:cTn id="104" dur="500" decel="100000" fill="hold"/>
                                        <p:tgtEl>
                                          <p:spTgt spid="114"/>
                                        </p:tgtEl>
                                        <p:attrNameLst>
                                          <p:attrName>ppt_h</p:attrName>
                                        </p:attrNameLst>
                                      </p:cBhvr>
                                      <p:tavLst>
                                        <p:tav tm="0">
                                          <p:val>
                                            <p:strVal val="#ppt_h*0.55"/>
                                          </p:val>
                                        </p:tav>
                                        <p:tav tm="100000">
                                          <p:val>
                                            <p:strVal val="#ppt_h"/>
                                          </p:val>
                                        </p:tav>
                                      </p:tavLst>
                                    </p:anim>
                                    <p:animEffect transition="in" filter="fade">
                                      <p:cBhvr>
                                        <p:cTn id="105" dur="500"/>
                                        <p:tgtEl>
                                          <p:spTgt spid="114"/>
                                        </p:tgtEl>
                                      </p:cBhvr>
                                    </p:animEffect>
                                  </p:childTnLst>
                                </p:cTn>
                              </p:par>
                              <p:par>
                                <p:cTn id="106" presetID="53" presetClass="entr" presetSubtype="16" fill="hold" nodeType="withEffect">
                                  <p:stCondLst>
                                    <p:cond delay="450"/>
                                  </p:stCondLst>
                                  <p:childTnLst>
                                    <p:set>
                                      <p:cBhvr>
                                        <p:cTn id="107" dur="1" fill="hold">
                                          <p:stCondLst>
                                            <p:cond delay="0"/>
                                          </p:stCondLst>
                                        </p:cTn>
                                        <p:tgtEl>
                                          <p:spTgt spid="116"/>
                                        </p:tgtEl>
                                        <p:attrNameLst>
                                          <p:attrName>style.visibility</p:attrName>
                                        </p:attrNameLst>
                                      </p:cBhvr>
                                      <p:to>
                                        <p:strVal val="visible"/>
                                      </p:to>
                                    </p:set>
                                    <p:anim calcmode="lin" valueType="num">
                                      <p:cBhvr additive="base">
                                        <p:cTn id="108" dur="500" decel="100000" fill="hold"/>
                                        <p:tgtEl>
                                          <p:spTgt spid="116"/>
                                        </p:tgtEl>
                                        <p:attrNameLst>
                                          <p:attrName>ppt_w</p:attrName>
                                        </p:attrNameLst>
                                      </p:cBhvr>
                                      <p:tavLst>
                                        <p:tav tm="0">
                                          <p:val>
                                            <p:strVal val="#ppt_w*0.55"/>
                                          </p:val>
                                        </p:tav>
                                        <p:tav tm="100000">
                                          <p:val>
                                            <p:strVal val="#ppt_w"/>
                                          </p:val>
                                        </p:tav>
                                      </p:tavLst>
                                    </p:anim>
                                    <p:anim calcmode="lin" valueType="num">
                                      <p:cBhvr additive="base">
                                        <p:cTn id="109" dur="500" decel="100000" fill="hold"/>
                                        <p:tgtEl>
                                          <p:spTgt spid="116"/>
                                        </p:tgtEl>
                                        <p:attrNameLst>
                                          <p:attrName>ppt_h</p:attrName>
                                        </p:attrNameLst>
                                      </p:cBhvr>
                                      <p:tavLst>
                                        <p:tav tm="0">
                                          <p:val>
                                            <p:strVal val="#ppt_h*0.55"/>
                                          </p:val>
                                        </p:tav>
                                        <p:tav tm="100000">
                                          <p:val>
                                            <p:strVal val="#ppt_h"/>
                                          </p:val>
                                        </p:tav>
                                      </p:tavLst>
                                    </p:anim>
                                    <p:animEffect transition="in" filter="fade">
                                      <p:cBhvr>
                                        <p:cTn id="110" dur="500"/>
                                        <p:tgtEl>
                                          <p:spTgt spid="116"/>
                                        </p:tgtEl>
                                      </p:cBhvr>
                                    </p:animEffect>
                                  </p:childTnLst>
                                </p:cTn>
                              </p:par>
                              <p:par>
                                <p:cTn id="111" presetID="53" presetClass="entr" presetSubtype="16" fill="hold" nodeType="withEffect">
                                  <p:stCondLst>
                                    <p:cond delay="540"/>
                                  </p:stCondLst>
                                  <p:childTnLst>
                                    <p:set>
                                      <p:cBhvr>
                                        <p:cTn id="112" dur="1" fill="hold">
                                          <p:stCondLst>
                                            <p:cond delay="0"/>
                                          </p:stCondLst>
                                        </p:cTn>
                                        <p:tgtEl>
                                          <p:spTgt spid="118"/>
                                        </p:tgtEl>
                                        <p:attrNameLst>
                                          <p:attrName>style.visibility</p:attrName>
                                        </p:attrNameLst>
                                      </p:cBhvr>
                                      <p:to>
                                        <p:strVal val="visible"/>
                                      </p:to>
                                    </p:set>
                                    <p:anim calcmode="lin" valueType="num">
                                      <p:cBhvr additive="base">
                                        <p:cTn id="113" dur="500" decel="100000" fill="hold"/>
                                        <p:tgtEl>
                                          <p:spTgt spid="118"/>
                                        </p:tgtEl>
                                        <p:attrNameLst>
                                          <p:attrName>ppt_w</p:attrName>
                                        </p:attrNameLst>
                                      </p:cBhvr>
                                      <p:tavLst>
                                        <p:tav tm="0">
                                          <p:val>
                                            <p:strVal val="#ppt_w*0.55"/>
                                          </p:val>
                                        </p:tav>
                                        <p:tav tm="100000">
                                          <p:val>
                                            <p:strVal val="#ppt_w"/>
                                          </p:val>
                                        </p:tav>
                                      </p:tavLst>
                                    </p:anim>
                                    <p:anim calcmode="lin" valueType="num">
                                      <p:cBhvr additive="base">
                                        <p:cTn id="114" dur="500" decel="100000" fill="hold"/>
                                        <p:tgtEl>
                                          <p:spTgt spid="118"/>
                                        </p:tgtEl>
                                        <p:attrNameLst>
                                          <p:attrName>ppt_h</p:attrName>
                                        </p:attrNameLst>
                                      </p:cBhvr>
                                      <p:tavLst>
                                        <p:tav tm="0">
                                          <p:val>
                                            <p:strVal val="#ppt_h*0.55"/>
                                          </p:val>
                                        </p:tav>
                                        <p:tav tm="100000">
                                          <p:val>
                                            <p:strVal val="#ppt_h"/>
                                          </p:val>
                                        </p:tav>
                                      </p:tavLst>
                                    </p:anim>
                                    <p:animEffect transition="in" filter="fade">
                                      <p:cBhvr>
                                        <p:cTn id="115" dur="500"/>
                                        <p:tgtEl>
                                          <p:spTgt spid="118"/>
                                        </p:tgtEl>
                                      </p:cBhvr>
                                    </p:animEffect>
                                  </p:childTnLst>
                                </p:cTn>
                              </p:par>
                              <p:par>
                                <p:cTn id="116" presetID="53" presetClass="entr" presetSubtype="16" fill="hold" nodeType="withEffect">
                                  <p:stCondLst>
                                    <p:cond delay="630"/>
                                  </p:stCondLst>
                                  <p:childTnLst>
                                    <p:set>
                                      <p:cBhvr>
                                        <p:cTn id="117" dur="1" fill="hold">
                                          <p:stCondLst>
                                            <p:cond delay="0"/>
                                          </p:stCondLst>
                                        </p:cTn>
                                        <p:tgtEl>
                                          <p:spTgt spid="120"/>
                                        </p:tgtEl>
                                        <p:attrNameLst>
                                          <p:attrName>style.visibility</p:attrName>
                                        </p:attrNameLst>
                                      </p:cBhvr>
                                      <p:to>
                                        <p:strVal val="visible"/>
                                      </p:to>
                                    </p:set>
                                    <p:anim calcmode="lin" valueType="num">
                                      <p:cBhvr additive="base">
                                        <p:cTn id="118" dur="500" decel="100000" fill="hold"/>
                                        <p:tgtEl>
                                          <p:spTgt spid="120"/>
                                        </p:tgtEl>
                                        <p:attrNameLst>
                                          <p:attrName>ppt_w</p:attrName>
                                        </p:attrNameLst>
                                      </p:cBhvr>
                                      <p:tavLst>
                                        <p:tav tm="0">
                                          <p:val>
                                            <p:strVal val="#ppt_w*0.55"/>
                                          </p:val>
                                        </p:tav>
                                        <p:tav tm="100000">
                                          <p:val>
                                            <p:strVal val="#ppt_w"/>
                                          </p:val>
                                        </p:tav>
                                      </p:tavLst>
                                    </p:anim>
                                    <p:anim calcmode="lin" valueType="num">
                                      <p:cBhvr additive="base">
                                        <p:cTn id="119" dur="500" decel="100000" fill="hold"/>
                                        <p:tgtEl>
                                          <p:spTgt spid="120"/>
                                        </p:tgtEl>
                                        <p:attrNameLst>
                                          <p:attrName>ppt_h</p:attrName>
                                        </p:attrNameLst>
                                      </p:cBhvr>
                                      <p:tavLst>
                                        <p:tav tm="0">
                                          <p:val>
                                            <p:strVal val="#ppt_h*0.55"/>
                                          </p:val>
                                        </p:tav>
                                        <p:tav tm="100000">
                                          <p:val>
                                            <p:strVal val="#ppt_h"/>
                                          </p:val>
                                        </p:tav>
                                      </p:tavLst>
                                    </p:anim>
                                    <p:animEffect transition="in" filter="fade">
                                      <p:cBhvr>
                                        <p:cTn id="120" dur="500"/>
                                        <p:tgtEl>
                                          <p:spTgt spid="120"/>
                                        </p:tgtEl>
                                      </p:cBhvr>
                                    </p:animEffect>
                                  </p:childTnLst>
                                </p:cTn>
                              </p:par>
                            </p:childTnLst>
                          </p:cTn>
                        </p:par>
                      </p:childTnLst>
                    </p:cTn>
                  </p:par>
                  <p:par>
                    <p:cTn id="121" fill="hold">
                      <p:stCondLst>
                        <p:cond delay="indefinite"/>
                      </p:stCondLst>
                      <p:childTnLst>
                        <p:par>
                          <p:cTn id="122" fill="hold">
                            <p:stCondLst>
                              <p:cond delay="0"/>
                            </p:stCondLst>
                            <p:childTnLst>
                              <p:par>
                                <p:cTn id="123" presetID="42" presetClass="entr" presetSubtype="0" fill="hold" grpId="0" nodeType="clickEffect">
                                  <p:stCondLst>
                                    <p:cond delay="0"/>
                                  </p:stCondLst>
                                  <p:childTnLst>
                                    <p:set>
                                      <p:cBhvr>
                                        <p:cTn id="124" dur="1" fill="hold">
                                          <p:stCondLst>
                                            <p:cond delay="0"/>
                                          </p:stCondLst>
                                        </p:cTn>
                                        <p:tgtEl>
                                          <p:spTgt spid="121"/>
                                        </p:tgtEl>
                                        <p:attrNameLst>
                                          <p:attrName>style.visibility</p:attrName>
                                        </p:attrNameLst>
                                      </p:cBhvr>
                                      <p:to>
                                        <p:strVal val="visible"/>
                                      </p:to>
                                    </p:set>
                                    <p:animEffect transition="in" filter="fade">
                                      <p:cBhvr>
                                        <p:cTn id="125" dur="500"/>
                                        <p:tgtEl>
                                          <p:spTgt spid="121"/>
                                        </p:tgtEl>
                                      </p:cBhvr>
                                    </p:animEffect>
                                    <p:anim calcmode="lin" valueType="num">
                                      <p:cBhvr additive="base">
                                        <p:cTn id="126" dur="500" decel="100000" fill="hold"/>
                                        <p:tgtEl>
                                          <p:spTgt spid="121"/>
                                        </p:tgtEl>
                                        <p:attrNameLst>
                                          <p:attrName>ppt_y</p:attrName>
                                        </p:attrNameLst>
                                      </p:cBhvr>
                                      <p:tavLst>
                                        <p:tav tm="0">
                                          <p:val>
                                            <p:strVal val="#ppt_y+0.06"/>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122"/>
                                        </p:tgtEl>
                                        <p:attrNameLst>
                                          <p:attrName>style.visibility</p:attrName>
                                        </p:attrNameLst>
                                      </p:cBhvr>
                                      <p:to>
                                        <p:strVal val="visible"/>
                                      </p:to>
                                    </p:set>
                                    <p:animEffect transition="in" filter="fade">
                                      <p:cBhvr>
                                        <p:cTn id="129" dur="500"/>
                                        <p:tgtEl>
                                          <p:spTgt spid="122"/>
                                        </p:tgtEl>
                                      </p:cBhvr>
                                    </p:animEffect>
                                    <p:anim calcmode="lin" valueType="num">
                                      <p:cBhvr additive="base">
                                        <p:cTn id="130" dur="500" decel="100000" fill="hold"/>
                                        <p:tgtEl>
                                          <p:spTgt spid="122"/>
                                        </p:tgtEl>
                                        <p:attrNameLst>
                                          <p:attrName>ppt_y</p:attrName>
                                        </p:attrNameLst>
                                      </p:cBhvr>
                                      <p:tavLst>
                                        <p:tav tm="0">
                                          <p:val>
                                            <p:strVal val="#ppt_y+0.06"/>
                                          </p:val>
                                        </p:tav>
                                        <p:tav tm="100000">
                                          <p:val>
                                            <p:strVal val="#ppt_y"/>
                                          </p:val>
                                        </p:tav>
                                      </p:tavLst>
                                    </p:anim>
                                  </p:childTnLst>
                                </p:cTn>
                              </p:par>
                              <p:par>
                                <p:cTn id="131" presetID="42" presetClass="entr" presetSubtype="0" fill="hold" grpId="0" nodeType="withEffect">
                                  <p:stCondLst>
                                    <p:cond delay="0"/>
                                  </p:stCondLst>
                                  <p:childTnLst>
                                    <p:set>
                                      <p:cBhvr>
                                        <p:cTn id="132" dur="1" fill="hold">
                                          <p:stCondLst>
                                            <p:cond delay="0"/>
                                          </p:stCondLst>
                                        </p:cTn>
                                        <p:tgtEl>
                                          <p:spTgt spid="123"/>
                                        </p:tgtEl>
                                        <p:attrNameLst>
                                          <p:attrName>style.visibility</p:attrName>
                                        </p:attrNameLst>
                                      </p:cBhvr>
                                      <p:to>
                                        <p:strVal val="visible"/>
                                      </p:to>
                                    </p:set>
                                    <p:animEffect transition="in" filter="fade">
                                      <p:cBhvr>
                                        <p:cTn id="133" dur="500"/>
                                        <p:tgtEl>
                                          <p:spTgt spid="123"/>
                                        </p:tgtEl>
                                      </p:cBhvr>
                                    </p:animEffect>
                                    <p:anim calcmode="lin" valueType="num">
                                      <p:cBhvr additive="base">
                                        <p:cTn id="134" dur="500" decel="100000" fill="hold"/>
                                        <p:tgtEl>
                                          <p:spTgt spid="123"/>
                                        </p:tgtEl>
                                        <p:attrNameLst>
                                          <p:attrName>ppt_y</p:attrName>
                                        </p:attrNameLst>
                                      </p:cBhvr>
                                      <p:tavLst>
                                        <p:tav tm="0">
                                          <p:val>
                                            <p:strVal val="#ppt_y+0.06"/>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10" presetClass="entr" presetSubtype="0" fill="hold" grpId="0" nodeType="clickEffect">
                                  <p:stCondLst>
                                    <p:cond delay="0"/>
                                  </p:stCondLst>
                                  <p:childTnLst>
                                    <p:set>
                                      <p:cBhvr>
                                        <p:cTn id="138" dur="1" fill="hold">
                                          <p:stCondLst>
                                            <p:cond delay="0"/>
                                          </p:stCondLst>
                                        </p:cTn>
                                        <p:tgtEl>
                                          <p:spTgt spid="124"/>
                                        </p:tgtEl>
                                        <p:attrNameLst>
                                          <p:attrName>style.visibility</p:attrName>
                                        </p:attrNameLst>
                                      </p:cBhvr>
                                      <p:to>
                                        <p:strVal val="visible"/>
                                      </p:to>
                                    </p:set>
                                    <p:animEffect transition="in" filter="fade">
                                      <p:cBhvr>
                                        <p:cTn id="139" dur="500"/>
                                        <p:tgtEl>
                                          <p:spTgt spid="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9" grpId="0" animBg="1"/>
      <p:bldP spid="111" grpId="0" animBg="1"/>
      <p:bldP spid="113" grpId="0" animBg="1"/>
      <p:bldP spid="115" grpId="0" animBg="1"/>
      <p:bldP spid="117" grpId="0" animBg="1"/>
      <p:bldP spid="119" grpId="0" animBg="1"/>
      <p:bldP spid="121" grpId="0" animBg="1"/>
      <p:bldP spid="122" grpId="0" animBg="1"/>
      <p:bldP spid="123" grpId="0" animBg="1"/>
      <p:bldP spid="124"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068019"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QUALITY BAR</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Definition of Done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 shared quality bar for the Increment, not per-story preferences.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DONE</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278</a:t>
            </a:r>
            <a:endParaRPr lang="en-US" sz="850" dirty="0"/>
          </a:p>
        </p:txBody>
      </p:sp>
      <p:sp>
        <p:nvSpPr>
          <p:cNvPr id="101" name="s101"/>
          <p:cNvSpPr/>
          <p:nvPr/>
        </p:nvSpPr>
        <p:spPr>
          <a:xfrm>
            <a:off x="543154" y="1965960"/>
            <a:ext cx="3543605" cy="493776"/>
          </a:xfrm>
          <a:prstGeom prst="roundRect">
            <a:avLst>
              <a:gd name="adj" fmla="val 15000"/>
            </a:avLst>
          </a:prstGeom>
          <a:solidFill>
            <a:srgbClr val="111B2E"/>
          </a:solidFill>
          <a:ln w="12700">
            <a:solidFill>
              <a:srgbClr val="1E3A5F"/>
            </a:solidFill>
            <a:prstDash val="solid"/>
          </a:ln>
        </p:spPr>
        <p:txBody>
          <a:bodyPr wrap="square" lIns="59436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AC satisfied</a:t>
            </a:r>
            <a:endParaRPr lang="en-US" sz="1350" dirty="0"/>
          </a:p>
        </p:txBody>
      </p:sp>
      <p:sp>
        <p:nvSpPr>
          <p:cNvPr id="102" name="s102"/>
          <p:cNvSpPr/>
          <p:nvPr/>
        </p:nvSpPr>
        <p:spPr>
          <a:xfrm>
            <a:off x="671170" y="2057400"/>
            <a:ext cx="310896" cy="310896"/>
          </a:xfrm>
          <a:prstGeom prst="roundRect">
            <a:avLst>
              <a:gd name="adj" fmla="val 20000"/>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a:t>
            </a:r>
            <a:endParaRPr lang="en-US" sz="1300" dirty="0"/>
          </a:p>
        </p:txBody>
      </p:sp>
      <p:sp>
        <p:nvSpPr>
          <p:cNvPr id="103" name="s103"/>
          <p:cNvSpPr/>
          <p:nvPr/>
        </p:nvSpPr>
        <p:spPr>
          <a:xfrm>
            <a:off x="4315358" y="1965960"/>
            <a:ext cx="3543605" cy="493776"/>
          </a:xfrm>
          <a:prstGeom prst="roundRect">
            <a:avLst>
              <a:gd name="adj" fmla="val 15000"/>
            </a:avLst>
          </a:prstGeom>
          <a:solidFill>
            <a:srgbClr val="111B2E"/>
          </a:solidFill>
          <a:ln w="12700">
            <a:solidFill>
              <a:srgbClr val="1E3A5F"/>
            </a:solidFill>
            <a:prstDash val="solid"/>
          </a:ln>
        </p:spPr>
        <p:txBody>
          <a:bodyPr wrap="square" lIns="59436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Code reviewed</a:t>
            </a:r>
            <a:endParaRPr lang="en-US" sz="1350" dirty="0"/>
          </a:p>
        </p:txBody>
      </p:sp>
      <p:sp>
        <p:nvSpPr>
          <p:cNvPr id="104" name="s104"/>
          <p:cNvSpPr/>
          <p:nvPr/>
        </p:nvSpPr>
        <p:spPr>
          <a:xfrm>
            <a:off x="4443374" y="2057400"/>
            <a:ext cx="310896" cy="310896"/>
          </a:xfrm>
          <a:prstGeom prst="roundRect">
            <a:avLst>
              <a:gd name="adj" fmla="val 20000"/>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a:t>
            </a:r>
            <a:endParaRPr lang="en-US" sz="1300" dirty="0"/>
          </a:p>
        </p:txBody>
      </p:sp>
      <p:sp>
        <p:nvSpPr>
          <p:cNvPr id="105" name="s105"/>
          <p:cNvSpPr/>
          <p:nvPr/>
        </p:nvSpPr>
        <p:spPr>
          <a:xfrm>
            <a:off x="8087563" y="1965960"/>
            <a:ext cx="3543605" cy="493776"/>
          </a:xfrm>
          <a:prstGeom prst="roundRect">
            <a:avLst>
              <a:gd name="adj" fmla="val 15000"/>
            </a:avLst>
          </a:prstGeom>
          <a:solidFill>
            <a:srgbClr val="111B2E"/>
          </a:solidFill>
          <a:ln w="12700">
            <a:solidFill>
              <a:srgbClr val="1E3A5F"/>
            </a:solidFill>
            <a:prstDash val="solid"/>
          </a:ln>
        </p:spPr>
        <p:txBody>
          <a:bodyPr wrap="square" lIns="59436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Unit tests pass</a:t>
            </a:r>
            <a:endParaRPr lang="en-US" sz="1350" dirty="0"/>
          </a:p>
        </p:txBody>
      </p:sp>
      <p:sp>
        <p:nvSpPr>
          <p:cNvPr id="106" name="s106"/>
          <p:cNvSpPr/>
          <p:nvPr/>
        </p:nvSpPr>
        <p:spPr>
          <a:xfrm>
            <a:off x="8215579" y="2057400"/>
            <a:ext cx="310896" cy="310896"/>
          </a:xfrm>
          <a:prstGeom prst="roundRect">
            <a:avLst>
              <a:gd name="adj" fmla="val 20000"/>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a:t>
            </a:r>
            <a:endParaRPr lang="en-US" sz="1300" dirty="0"/>
          </a:p>
        </p:txBody>
      </p:sp>
      <p:sp>
        <p:nvSpPr>
          <p:cNvPr id="107" name="s107"/>
          <p:cNvSpPr/>
          <p:nvPr/>
        </p:nvSpPr>
        <p:spPr>
          <a:xfrm>
            <a:off x="543154" y="2569464"/>
            <a:ext cx="3543605" cy="493776"/>
          </a:xfrm>
          <a:prstGeom prst="roundRect">
            <a:avLst>
              <a:gd name="adj" fmla="val 15000"/>
            </a:avLst>
          </a:prstGeom>
          <a:solidFill>
            <a:srgbClr val="111B2E"/>
          </a:solidFill>
          <a:ln w="12700">
            <a:solidFill>
              <a:srgbClr val="1E3A5F"/>
            </a:solidFill>
            <a:prstDash val="solid"/>
          </a:ln>
        </p:spPr>
        <p:txBody>
          <a:bodyPr wrap="square" lIns="59436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Integration tests pass</a:t>
            </a:r>
            <a:endParaRPr lang="en-US" sz="1350" dirty="0"/>
          </a:p>
        </p:txBody>
      </p:sp>
      <p:sp>
        <p:nvSpPr>
          <p:cNvPr id="108" name="s108"/>
          <p:cNvSpPr/>
          <p:nvPr/>
        </p:nvSpPr>
        <p:spPr>
          <a:xfrm>
            <a:off x="671170" y="2660904"/>
            <a:ext cx="310896" cy="310896"/>
          </a:xfrm>
          <a:prstGeom prst="roundRect">
            <a:avLst>
              <a:gd name="adj" fmla="val 20000"/>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a:t>
            </a:r>
            <a:endParaRPr lang="en-US" sz="1300" dirty="0"/>
          </a:p>
        </p:txBody>
      </p:sp>
      <p:sp>
        <p:nvSpPr>
          <p:cNvPr id="109" name="s109"/>
          <p:cNvSpPr/>
          <p:nvPr/>
        </p:nvSpPr>
        <p:spPr>
          <a:xfrm>
            <a:off x="4315358" y="2569464"/>
            <a:ext cx="3543605" cy="493776"/>
          </a:xfrm>
          <a:prstGeom prst="roundRect">
            <a:avLst>
              <a:gd name="adj" fmla="val 15000"/>
            </a:avLst>
          </a:prstGeom>
          <a:solidFill>
            <a:srgbClr val="111B2E"/>
          </a:solidFill>
          <a:ln w="12700">
            <a:solidFill>
              <a:srgbClr val="1E3A5F"/>
            </a:solidFill>
            <a:prstDash val="solid"/>
          </a:ln>
        </p:spPr>
        <p:txBody>
          <a:bodyPr wrap="square" lIns="59436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UI tests as required</a:t>
            </a:r>
            <a:endParaRPr lang="en-US" sz="1350" dirty="0"/>
          </a:p>
        </p:txBody>
      </p:sp>
      <p:sp>
        <p:nvSpPr>
          <p:cNvPr id="110" name="s110"/>
          <p:cNvSpPr/>
          <p:nvPr/>
        </p:nvSpPr>
        <p:spPr>
          <a:xfrm>
            <a:off x="4443374" y="2660904"/>
            <a:ext cx="310896" cy="310896"/>
          </a:xfrm>
          <a:prstGeom prst="roundRect">
            <a:avLst>
              <a:gd name="adj" fmla="val 20000"/>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a:t>
            </a:r>
            <a:endParaRPr lang="en-US" sz="1300" dirty="0"/>
          </a:p>
        </p:txBody>
      </p:sp>
      <p:sp>
        <p:nvSpPr>
          <p:cNvPr id="111" name="s111"/>
          <p:cNvSpPr/>
          <p:nvPr/>
        </p:nvSpPr>
        <p:spPr>
          <a:xfrm>
            <a:off x="8087563" y="2569464"/>
            <a:ext cx="3543605" cy="493776"/>
          </a:xfrm>
          <a:prstGeom prst="roundRect">
            <a:avLst>
              <a:gd name="adj" fmla="val 15000"/>
            </a:avLst>
          </a:prstGeom>
          <a:solidFill>
            <a:srgbClr val="111B2E"/>
          </a:solidFill>
          <a:ln w="12700">
            <a:solidFill>
              <a:srgbClr val="1E3A5F"/>
            </a:solidFill>
            <a:prstDash val="solid"/>
          </a:ln>
        </p:spPr>
        <p:txBody>
          <a:bodyPr wrap="square" lIns="59436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Security checks</a:t>
            </a:r>
            <a:endParaRPr lang="en-US" sz="1350" dirty="0"/>
          </a:p>
        </p:txBody>
      </p:sp>
      <p:sp>
        <p:nvSpPr>
          <p:cNvPr id="112" name="s112"/>
          <p:cNvSpPr/>
          <p:nvPr/>
        </p:nvSpPr>
        <p:spPr>
          <a:xfrm>
            <a:off x="8215579" y="2660904"/>
            <a:ext cx="310896" cy="310896"/>
          </a:xfrm>
          <a:prstGeom prst="roundRect">
            <a:avLst>
              <a:gd name="adj" fmla="val 20000"/>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a:t>
            </a:r>
            <a:endParaRPr lang="en-US" sz="1300" dirty="0"/>
          </a:p>
        </p:txBody>
      </p:sp>
      <p:sp>
        <p:nvSpPr>
          <p:cNvPr id="113" name="s113"/>
          <p:cNvSpPr/>
          <p:nvPr/>
        </p:nvSpPr>
        <p:spPr>
          <a:xfrm>
            <a:off x="543154" y="3172968"/>
            <a:ext cx="3543605" cy="493776"/>
          </a:xfrm>
          <a:prstGeom prst="roundRect">
            <a:avLst>
              <a:gd name="adj" fmla="val 15000"/>
            </a:avLst>
          </a:prstGeom>
          <a:solidFill>
            <a:srgbClr val="111B2E"/>
          </a:solidFill>
          <a:ln w="12700">
            <a:solidFill>
              <a:srgbClr val="1E3A5F"/>
            </a:solidFill>
            <a:prstDash val="solid"/>
          </a:ln>
        </p:spPr>
        <p:txBody>
          <a:bodyPr wrap="square" lIns="59436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No critical defects</a:t>
            </a:r>
            <a:endParaRPr lang="en-US" sz="1350" dirty="0"/>
          </a:p>
        </p:txBody>
      </p:sp>
      <p:sp>
        <p:nvSpPr>
          <p:cNvPr id="114" name="s114"/>
          <p:cNvSpPr/>
          <p:nvPr/>
        </p:nvSpPr>
        <p:spPr>
          <a:xfrm>
            <a:off x="671170" y="3264408"/>
            <a:ext cx="310896" cy="310896"/>
          </a:xfrm>
          <a:prstGeom prst="roundRect">
            <a:avLst>
              <a:gd name="adj" fmla="val 20000"/>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a:t>
            </a:r>
            <a:endParaRPr lang="en-US" sz="1300" dirty="0"/>
          </a:p>
        </p:txBody>
      </p:sp>
      <p:sp>
        <p:nvSpPr>
          <p:cNvPr id="115" name="s115"/>
          <p:cNvSpPr/>
          <p:nvPr/>
        </p:nvSpPr>
        <p:spPr>
          <a:xfrm>
            <a:off x="4315358" y="3172968"/>
            <a:ext cx="3543605" cy="493776"/>
          </a:xfrm>
          <a:prstGeom prst="roundRect">
            <a:avLst>
              <a:gd name="adj" fmla="val 15000"/>
            </a:avLst>
          </a:prstGeom>
          <a:solidFill>
            <a:srgbClr val="111B2E"/>
          </a:solidFill>
          <a:ln w="12700">
            <a:solidFill>
              <a:srgbClr val="1E3A5F"/>
            </a:solidFill>
            <a:prstDash val="solid"/>
          </a:ln>
        </p:spPr>
        <p:txBody>
          <a:bodyPr wrap="square" lIns="59436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Merged to main</a:t>
            </a:r>
            <a:endParaRPr lang="en-US" sz="1350" dirty="0"/>
          </a:p>
        </p:txBody>
      </p:sp>
      <p:sp>
        <p:nvSpPr>
          <p:cNvPr id="116" name="s116"/>
          <p:cNvSpPr/>
          <p:nvPr/>
        </p:nvSpPr>
        <p:spPr>
          <a:xfrm>
            <a:off x="4443374" y="3264408"/>
            <a:ext cx="310896" cy="310896"/>
          </a:xfrm>
          <a:prstGeom prst="roundRect">
            <a:avLst>
              <a:gd name="adj" fmla="val 20000"/>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a:t>
            </a:r>
            <a:endParaRPr lang="en-US" sz="1300" dirty="0"/>
          </a:p>
        </p:txBody>
      </p:sp>
      <p:sp>
        <p:nvSpPr>
          <p:cNvPr id="117" name="s117"/>
          <p:cNvSpPr/>
          <p:nvPr/>
        </p:nvSpPr>
        <p:spPr>
          <a:xfrm>
            <a:off x="8087563" y="3172968"/>
            <a:ext cx="3543605" cy="493776"/>
          </a:xfrm>
          <a:prstGeom prst="roundRect">
            <a:avLst>
              <a:gd name="adj" fmla="val 15000"/>
            </a:avLst>
          </a:prstGeom>
          <a:solidFill>
            <a:srgbClr val="111B2E"/>
          </a:solidFill>
          <a:ln w="12700">
            <a:solidFill>
              <a:srgbClr val="1E3A5F"/>
            </a:solidFill>
            <a:prstDash val="solid"/>
          </a:ln>
        </p:spPr>
        <p:txBody>
          <a:bodyPr wrap="square" lIns="59436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Deployed to staging</a:t>
            </a:r>
            <a:endParaRPr lang="en-US" sz="1350" dirty="0"/>
          </a:p>
        </p:txBody>
      </p:sp>
      <p:sp>
        <p:nvSpPr>
          <p:cNvPr id="118" name="s118"/>
          <p:cNvSpPr/>
          <p:nvPr/>
        </p:nvSpPr>
        <p:spPr>
          <a:xfrm>
            <a:off x="8215579" y="3264408"/>
            <a:ext cx="310896" cy="310896"/>
          </a:xfrm>
          <a:prstGeom prst="roundRect">
            <a:avLst>
              <a:gd name="adj" fmla="val 20000"/>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a:t>
            </a:r>
            <a:endParaRPr lang="en-US" sz="1300" dirty="0"/>
          </a:p>
        </p:txBody>
      </p:sp>
      <p:sp>
        <p:nvSpPr>
          <p:cNvPr id="119" name="s119"/>
          <p:cNvSpPr/>
          <p:nvPr/>
        </p:nvSpPr>
        <p:spPr>
          <a:xfrm>
            <a:off x="543154" y="3776472"/>
            <a:ext cx="3543605" cy="493776"/>
          </a:xfrm>
          <a:prstGeom prst="roundRect">
            <a:avLst>
              <a:gd name="adj" fmla="val 15000"/>
            </a:avLst>
          </a:prstGeom>
          <a:solidFill>
            <a:srgbClr val="111B2E"/>
          </a:solidFill>
          <a:ln w="12700">
            <a:solidFill>
              <a:srgbClr val="1E3A5F"/>
            </a:solidFill>
            <a:prstDash val="solid"/>
          </a:ln>
        </p:spPr>
        <p:txBody>
          <a:bodyPr wrap="square" lIns="59436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Docs updated if needed</a:t>
            </a:r>
            <a:endParaRPr lang="en-US" sz="1350" dirty="0"/>
          </a:p>
        </p:txBody>
      </p:sp>
      <p:sp>
        <p:nvSpPr>
          <p:cNvPr id="120" name="s120"/>
          <p:cNvSpPr/>
          <p:nvPr/>
        </p:nvSpPr>
        <p:spPr>
          <a:xfrm>
            <a:off x="671170" y="3867912"/>
            <a:ext cx="310896" cy="310896"/>
          </a:xfrm>
          <a:prstGeom prst="roundRect">
            <a:avLst>
              <a:gd name="adj" fmla="val 20000"/>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a:t>
            </a:r>
            <a:endParaRPr lang="en-US" sz="1300" dirty="0"/>
          </a:p>
        </p:txBody>
      </p:sp>
      <p:sp>
        <p:nvSpPr>
          <p:cNvPr id="121" name="s121"/>
          <p:cNvSpPr/>
          <p:nvPr/>
        </p:nvSpPr>
        <p:spPr>
          <a:xfrm>
            <a:off x="4315358" y="3776472"/>
            <a:ext cx="3543605" cy="493776"/>
          </a:xfrm>
          <a:prstGeom prst="roundRect">
            <a:avLst>
              <a:gd name="adj" fmla="val 15000"/>
            </a:avLst>
          </a:prstGeom>
          <a:solidFill>
            <a:srgbClr val="111B2E"/>
          </a:solidFill>
          <a:ln w="12700">
            <a:solidFill>
              <a:srgbClr val="1E3A5F"/>
            </a:solidFill>
            <a:prstDash val="solid"/>
          </a:ln>
        </p:spPr>
        <p:txBody>
          <a:bodyPr wrap="square" lIns="59436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Behavior reviewable</a:t>
            </a:r>
            <a:endParaRPr lang="en-US" sz="1350" dirty="0"/>
          </a:p>
        </p:txBody>
      </p:sp>
      <p:sp>
        <p:nvSpPr>
          <p:cNvPr id="122" name="s122"/>
          <p:cNvSpPr/>
          <p:nvPr/>
        </p:nvSpPr>
        <p:spPr>
          <a:xfrm>
            <a:off x="4443374" y="3867912"/>
            <a:ext cx="310896" cy="310896"/>
          </a:xfrm>
          <a:prstGeom prst="roundRect">
            <a:avLst>
              <a:gd name="adj" fmla="val 20000"/>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a:t>
            </a:r>
            <a:endParaRPr lang="en-US" sz="1300" dirty="0"/>
          </a:p>
        </p:txBody>
      </p:sp>
      <p:sp>
        <p:nvSpPr>
          <p:cNvPr id="123" name="s123"/>
          <p:cNvSpPr/>
          <p:nvPr/>
        </p:nvSpPr>
        <p:spPr>
          <a:xfrm>
            <a:off x="8087563" y="3776472"/>
            <a:ext cx="3543605" cy="493776"/>
          </a:xfrm>
          <a:prstGeom prst="roundRect">
            <a:avLst>
              <a:gd name="adj" fmla="val 15000"/>
            </a:avLst>
          </a:prstGeom>
          <a:solidFill>
            <a:srgbClr val="111B2E"/>
          </a:solidFill>
          <a:ln w="12700">
            <a:solidFill>
              <a:srgbClr val="1E3A5F"/>
            </a:solidFill>
            <a:prstDash val="solid"/>
          </a:ln>
        </p:spPr>
        <p:txBody>
          <a:bodyPr wrap="square" lIns="594360" tIns="0" rIns="91440" bIns="0" rtlCol="0" anchor="ctr">
            <a:noAutofit/>
          </a:bodyPr>
          <a:lstStyle/>
          <a:p>
            <a:pPr marL="0" indent="0" algn="l">
              <a:spcBef>
                <a:spcPts val="0"/>
              </a:spcBef>
              <a:spcAft>
                <a:spcPts val="0"/>
              </a:spcAft>
              <a:buNone/>
            </a:pPr>
            <a:r>
              <a:rPr lang="en-US" sz="1350" b="1" dirty="0">
                <a:solidFill>
                  <a:srgbClr val="FFFFFF"/>
                </a:solidFill>
                <a:latin typeface="Segoe UI"/>
                <a:ea typeface="Segoe UI"/>
                <a:cs typeface="Segoe UI"/>
              </a:rPr>
              <a:t>Logging / monitoring</a:t>
            </a:r>
            <a:endParaRPr lang="en-US" sz="1350" dirty="0"/>
          </a:p>
        </p:txBody>
      </p:sp>
      <p:sp>
        <p:nvSpPr>
          <p:cNvPr id="124" name="s124"/>
          <p:cNvSpPr/>
          <p:nvPr/>
        </p:nvSpPr>
        <p:spPr>
          <a:xfrm>
            <a:off x="8215579" y="3867912"/>
            <a:ext cx="310896" cy="310896"/>
          </a:xfrm>
          <a:prstGeom prst="roundRect">
            <a:avLst>
              <a:gd name="adj" fmla="val 20000"/>
            </a:avLst>
          </a:prstGeom>
          <a:solidFill>
            <a:srgbClr val="34D399"/>
          </a:solidFill>
          <a:ln>
            <a:noFill/>
          </a:ln>
        </p:spPr>
        <p:txBody>
          <a:bodyPr wrap="square" lIns="0" tIns="0" rIns="0"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a:t>
            </a:r>
            <a:endParaRPr lang="en-US" sz="1300" dirty="0"/>
          </a:p>
        </p:txBody>
      </p:sp>
      <p:sp>
        <p:nvSpPr>
          <p:cNvPr id="125" name="s125"/>
          <p:cNvSpPr/>
          <p:nvPr/>
        </p:nvSpPr>
        <p:spPr>
          <a:xfrm>
            <a:off x="543154" y="4480560"/>
            <a:ext cx="5406847" cy="1188720"/>
          </a:xfrm>
          <a:prstGeom prst="roundRect">
            <a:avLst>
              <a:gd name="adj" fmla="val 10000"/>
            </a:avLst>
          </a:prstGeom>
          <a:solidFill>
            <a:srgbClr val="34D399">
              <a:alpha val="10000"/>
            </a:srgbClr>
          </a:solidFill>
          <a:ln w="12700">
            <a:solidFill>
              <a:srgbClr val="34D399"/>
            </a:solidFill>
            <a:prstDash val="solid"/>
          </a:ln>
        </p:spPr>
        <p:txBody>
          <a:bodyPr wrap="square" lIns="228600" tIns="73152" rIns="182880" bIns="73152" rtlCol="0" anchor="ctr">
            <a:noAutofit/>
          </a:bodyPr>
          <a:lstStyle/>
          <a:p>
            <a:pPr marL="0" indent="0" algn="l">
              <a:spcBef>
                <a:spcPts val="0"/>
              </a:spcBef>
              <a:spcAft>
                <a:spcPts val="400"/>
              </a:spcAft>
              <a:buNone/>
            </a:pPr>
            <a:r>
              <a:rPr lang="en-US" sz="1100" b="1" dirty="0">
                <a:solidFill>
                  <a:srgbClr val="34D399"/>
                </a:solidFill>
                <a:latin typeface="Segoe UI"/>
                <a:ea typeface="Segoe UI"/>
                <a:cs typeface="Segoe UI"/>
              </a:rPr>
              <a:t>DEFINITION OF DONE</a:t>
            </a:r>
            <a:endParaRPr lang="en-US" sz="1100" dirty="0"/>
          </a:p>
          <a:p>
            <a:pPr marL="0" indent="0" algn="l">
              <a:spcBef>
                <a:spcPts val="0"/>
              </a:spcBef>
              <a:spcAft>
                <a:spcPts val="0"/>
              </a:spcAft>
              <a:buNone/>
            </a:pPr>
            <a:r>
              <a:rPr lang="en-US" sz="1300" b="0" dirty="0">
                <a:solidFill>
                  <a:srgbClr val="FFFFFF"/>
                </a:solidFill>
                <a:latin typeface="Segoe UI"/>
                <a:ea typeface="Segoe UI"/>
                <a:cs typeface="Segoe UI"/>
              </a:rPr>
              <a:t>The formal description of the quality state required for an Increment. Applies to ALL completed work.</a:t>
            </a:r>
            <a:endParaRPr lang="en-US" sz="1300" dirty="0"/>
          </a:p>
        </p:txBody>
      </p:sp>
      <p:sp>
        <p:nvSpPr>
          <p:cNvPr id="126" name="s126"/>
          <p:cNvSpPr/>
          <p:nvPr/>
        </p:nvSpPr>
        <p:spPr>
          <a:xfrm>
            <a:off x="6224321" y="4480560"/>
            <a:ext cx="5406847" cy="1188720"/>
          </a:xfrm>
          <a:prstGeom prst="roundRect">
            <a:avLst>
              <a:gd name="adj" fmla="val 10000"/>
            </a:avLst>
          </a:prstGeom>
          <a:solidFill>
            <a:srgbClr val="111B2E"/>
          </a:solidFill>
          <a:ln w="12700">
            <a:solidFill>
              <a:srgbClr val="13D0F7"/>
            </a:solidFill>
            <a:prstDash val="solid"/>
          </a:ln>
        </p:spPr>
        <p:txBody>
          <a:bodyPr wrap="square" lIns="228600" tIns="73152" rIns="182880" bIns="73152" rtlCol="0" anchor="ctr">
            <a:noAutofit/>
          </a:bodyPr>
          <a:lstStyle/>
          <a:p>
            <a:pPr marL="0" indent="0" algn="l">
              <a:spcBef>
                <a:spcPts val="0"/>
              </a:spcBef>
              <a:spcAft>
                <a:spcPts val="400"/>
              </a:spcAft>
              <a:buNone/>
            </a:pPr>
            <a:r>
              <a:rPr lang="en-US" sz="1100" b="1" dirty="0">
                <a:solidFill>
                  <a:srgbClr val="13D0F7"/>
                </a:solidFill>
                <a:latin typeface="Segoe UI"/>
                <a:ea typeface="Segoe UI"/>
                <a:cs typeface="Segoe UI"/>
              </a:rPr>
              <a:t>ACCEPTANCE CRITERIA</a:t>
            </a:r>
            <a:endParaRPr lang="en-US" sz="1100" dirty="0"/>
          </a:p>
          <a:p>
            <a:pPr marL="0" indent="0" algn="l">
              <a:spcBef>
                <a:spcPts val="0"/>
              </a:spcBef>
              <a:spcAft>
                <a:spcPts val="0"/>
              </a:spcAft>
              <a:buNone/>
            </a:pPr>
            <a:r>
              <a:rPr lang="en-US" sz="1300" b="0" dirty="0">
                <a:solidFill>
                  <a:srgbClr val="FFFFFF"/>
                </a:solidFill>
                <a:latin typeface="Segoe UI"/>
                <a:ea typeface="Segoe UI"/>
                <a:cs typeface="Segoe UI"/>
              </a:rPr>
              <a:t>Specific to ONE Product Backlog Item: the expected business behavior.</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300"/>
                                        <p:tgtEl>
                                          <p:spTgt spid="101"/>
                                        </p:tgtEl>
                                      </p:cBhvr>
                                    </p:animEffect>
                                  </p:childTnLst>
                                </p:cTn>
                              </p:par>
                              <p:par>
                                <p:cTn id="8" presetID="10" presetClass="entr" presetSubtype="0" fill="hold" grpId="0" nodeType="withEffect">
                                  <p:stCondLst>
                                    <p:cond delay="50"/>
                                  </p:stCondLst>
                                  <p:childTnLst>
                                    <p:set>
                                      <p:cBhvr>
                                        <p:cTn id="9" dur="1" fill="hold">
                                          <p:stCondLst>
                                            <p:cond delay="0"/>
                                          </p:stCondLst>
                                        </p:cTn>
                                        <p:tgtEl>
                                          <p:spTgt spid="103"/>
                                        </p:tgtEl>
                                        <p:attrNameLst>
                                          <p:attrName>style.visibility</p:attrName>
                                        </p:attrNameLst>
                                      </p:cBhvr>
                                      <p:to>
                                        <p:strVal val="visible"/>
                                      </p:to>
                                    </p:set>
                                    <p:animEffect transition="in" filter="fade">
                                      <p:cBhvr>
                                        <p:cTn id="10" dur="300"/>
                                        <p:tgtEl>
                                          <p:spTgt spid="103"/>
                                        </p:tgtEl>
                                      </p:cBhvr>
                                    </p:animEffect>
                                  </p:childTnLst>
                                </p:cTn>
                              </p:par>
                              <p:par>
                                <p:cTn id="11" presetID="10" presetClass="entr" presetSubtype="0" fill="hold" grpId="0" nodeType="withEffect">
                                  <p:stCondLst>
                                    <p:cond delay="100"/>
                                  </p:stCondLst>
                                  <p:childTnLst>
                                    <p:set>
                                      <p:cBhvr>
                                        <p:cTn id="12" dur="1" fill="hold">
                                          <p:stCondLst>
                                            <p:cond delay="0"/>
                                          </p:stCondLst>
                                        </p:cTn>
                                        <p:tgtEl>
                                          <p:spTgt spid="105"/>
                                        </p:tgtEl>
                                        <p:attrNameLst>
                                          <p:attrName>style.visibility</p:attrName>
                                        </p:attrNameLst>
                                      </p:cBhvr>
                                      <p:to>
                                        <p:strVal val="visible"/>
                                      </p:to>
                                    </p:set>
                                    <p:animEffect transition="in" filter="fade">
                                      <p:cBhvr>
                                        <p:cTn id="13" dur="300"/>
                                        <p:tgtEl>
                                          <p:spTgt spid="105"/>
                                        </p:tgtEl>
                                      </p:cBhvr>
                                    </p:animEffect>
                                  </p:childTnLst>
                                </p:cTn>
                              </p:par>
                              <p:par>
                                <p:cTn id="14" presetID="10" presetClass="entr" presetSubtype="0" fill="hold" grpId="0" nodeType="withEffect">
                                  <p:stCondLst>
                                    <p:cond delay="150"/>
                                  </p:stCondLst>
                                  <p:childTnLst>
                                    <p:set>
                                      <p:cBhvr>
                                        <p:cTn id="15" dur="1" fill="hold">
                                          <p:stCondLst>
                                            <p:cond delay="0"/>
                                          </p:stCondLst>
                                        </p:cTn>
                                        <p:tgtEl>
                                          <p:spTgt spid="107"/>
                                        </p:tgtEl>
                                        <p:attrNameLst>
                                          <p:attrName>style.visibility</p:attrName>
                                        </p:attrNameLst>
                                      </p:cBhvr>
                                      <p:to>
                                        <p:strVal val="visible"/>
                                      </p:to>
                                    </p:set>
                                    <p:animEffect transition="in" filter="fade">
                                      <p:cBhvr>
                                        <p:cTn id="16" dur="300"/>
                                        <p:tgtEl>
                                          <p:spTgt spid="107"/>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109"/>
                                        </p:tgtEl>
                                        <p:attrNameLst>
                                          <p:attrName>style.visibility</p:attrName>
                                        </p:attrNameLst>
                                      </p:cBhvr>
                                      <p:to>
                                        <p:strVal val="visible"/>
                                      </p:to>
                                    </p:set>
                                    <p:animEffect transition="in" filter="fade">
                                      <p:cBhvr>
                                        <p:cTn id="19" dur="300"/>
                                        <p:tgtEl>
                                          <p:spTgt spid="109"/>
                                        </p:tgtEl>
                                      </p:cBhvr>
                                    </p:animEffect>
                                  </p:childTnLst>
                                </p:cTn>
                              </p:par>
                              <p:par>
                                <p:cTn id="20" presetID="10" presetClass="entr" presetSubtype="0" fill="hold" grpId="0" nodeType="withEffect">
                                  <p:stCondLst>
                                    <p:cond delay="250"/>
                                  </p:stCondLst>
                                  <p:childTnLst>
                                    <p:set>
                                      <p:cBhvr>
                                        <p:cTn id="21" dur="1" fill="hold">
                                          <p:stCondLst>
                                            <p:cond delay="0"/>
                                          </p:stCondLst>
                                        </p:cTn>
                                        <p:tgtEl>
                                          <p:spTgt spid="111"/>
                                        </p:tgtEl>
                                        <p:attrNameLst>
                                          <p:attrName>style.visibility</p:attrName>
                                        </p:attrNameLst>
                                      </p:cBhvr>
                                      <p:to>
                                        <p:strVal val="visible"/>
                                      </p:to>
                                    </p:set>
                                    <p:animEffect transition="in" filter="fade">
                                      <p:cBhvr>
                                        <p:cTn id="22" dur="300"/>
                                        <p:tgtEl>
                                          <p:spTgt spid="111"/>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113"/>
                                        </p:tgtEl>
                                        <p:attrNameLst>
                                          <p:attrName>style.visibility</p:attrName>
                                        </p:attrNameLst>
                                      </p:cBhvr>
                                      <p:to>
                                        <p:strVal val="visible"/>
                                      </p:to>
                                    </p:set>
                                    <p:animEffect transition="in" filter="fade">
                                      <p:cBhvr>
                                        <p:cTn id="25" dur="300"/>
                                        <p:tgtEl>
                                          <p:spTgt spid="113"/>
                                        </p:tgtEl>
                                      </p:cBhvr>
                                    </p:animEffect>
                                  </p:childTnLst>
                                </p:cTn>
                              </p:par>
                              <p:par>
                                <p:cTn id="26" presetID="10" presetClass="entr" presetSubtype="0" fill="hold" grpId="0" nodeType="withEffect">
                                  <p:stCondLst>
                                    <p:cond delay="350"/>
                                  </p:stCondLst>
                                  <p:childTnLst>
                                    <p:set>
                                      <p:cBhvr>
                                        <p:cTn id="27" dur="1" fill="hold">
                                          <p:stCondLst>
                                            <p:cond delay="0"/>
                                          </p:stCondLst>
                                        </p:cTn>
                                        <p:tgtEl>
                                          <p:spTgt spid="115"/>
                                        </p:tgtEl>
                                        <p:attrNameLst>
                                          <p:attrName>style.visibility</p:attrName>
                                        </p:attrNameLst>
                                      </p:cBhvr>
                                      <p:to>
                                        <p:strVal val="visible"/>
                                      </p:to>
                                    </p:set>
                                    <p:animEffect transition="in" filter="fade">
                                      <p:cBhvr>
                                        <p:cTn id="28" dur="300"/>
                                        <p:tgtEl>
                                          <p:spTgt spid="115"/>
                                        </p:tgtEl>
                                      </p:cBhvr>
                                    </p:animEffect>
                                  </p:childTnLst>
                                </p:cTn>
                              </p:par>
                              <p:par>
                                <p:cTn id="29" presetID="10" presetClass="entr" presetSubtype="0" fill="hold" grpId="0" nodeType="withEffect">
                                  <p:stCondLst>
                                    <p:cond delay="400"/>
                                  </p:stCondLst>
                                  <p:childTnLst>
                                    <p:set>
                                      <p:cBhvr>
                                        <p:cTn id="30" dur="1" fill="hold">
                                          <p:stCondLst>
                                            <p:cond delay="0"/>
                                          </p:stCondLst>
                                        </p:cTn>
                                        <p:tgtEl>
                                          <p:spTgt spid="117"/>
                                        </p:tgtEl>
                                        <p:attrNameLst>
                                          <p:attrName>style.visibility</p:attrName>
                                        </p:attrNameLst>
                                      </p:cBhvr>
                                      <p:to>
                                        <p:strVal val="visible"/>
                                      </p:to>
                                    </p:set>
                                    <p:animEffect transition="in" filter="fade">
                                      <p:cBhvr>
                                        <p:cTn id="31" dur="300"/>
                                        <p:tgtEl>
                                          <p:spTgt spid="117"/>
                                        </p:tgtEl>
                                      </p:cBhvr>
                                    </p:animEffect>
                                  </p:childTnLst>
                                </p:cTn>
                              </p:par>
                              <p:par>
                                <p:cTn id="32" presetID="10" presetClass="entr" presetSubtype="0" fill="hold" grpId="0" nodeType="withEffect">
                                  <p:stCondLst>
                                    <p:cond delay="450"/>
                                  </p:stCondLst>
                                  <p:childTnLst>
                                    <p:set>
                                      <p:cBhvr>
                                        <p:cTn id="33" dur="1" fill="hold">
                                          <p:stCondLst>
                                            <p:cond delay="0"/>
                                          </p:stCondLst>
                                        </p:cTn>
                                        <p:tgtEl>
                                          <p:spTgt spid="119"/>
                                        </p:tgtEl>
                                        <p:attrNameLst>
                                          <p:attrName>style.visibility</p:attrName>
                                        </p:attrNameLst>
                                      </p:cBhvr>
                                      <p:to>
                                        <p:strVal val="visible"/>
                                      </p:to>
                                    </p:set>
                                    <p:animEffect transition="in" filter="fade">
                                      <p:cBhvr>
                                        <p:cTn id="34" dur="300"/>
                                        <p:tgtEl>
                                          <p:spTgt spid="119"/>
                                        </p:tgtEl>
                                      </p:cBhvr>
                                    </p:animEffect>
                                  </p:childTnLst>
                                </p:cTn>
                              </p:par>
                              <p:par>
                                <p:cTn id="35" presetID="10" presetClass="entr" presetSubtype="0" fill="hold" grpId="0" nodeType="withEffect">
                                  <p:stCondLst>
                                    <p:cond delay="500"/>
                                  </p:stCondLst>
                                  <p:childTnLst>
                                    <p:set>
                                      <p:cBhvr>
                                        <p:cTn id="36" dur="1" fill="hold">
                                          <p:stCondLst>
                                            <p:cond delay="0"/>
                                          </p:stCondLst>
                                        </p:cTn>
                                        <p:tgtEl>
                                          <p:spTgt spid="121"/>
                                        </p:tgtEl>
                                        <p:attrNameLst>
                                          <p:attrName>style.visibility</p:attrName>
                                        </p:attrNameLst>
                                      </p:cBhvr>
                                      <p:to>
                                        <p:strVal val="visible"/>
                                      </p:to>
                                    </p:set>
                                    <p:animEffect transition="in" filter="fade">
                                      <p:cBhvr>
                                        <p:cTn id="37" dur="300"/>
                                        <p:tgtEl>
                                          <p:spTgt spid="121"/>
                                        </p:tgtEl>
                                      </p:cBhvr>
                                    </p:animEffect>
                                  </p:childTnLst>
                                </p:cTn>
                              </p:par>
                              <p:par>
                                <p:cTn id="38" presetID="10" presetClass="entr" presetSubtype="0" fill="hold" grpId="0" nodeType="withEffect">
                                  <p:stCondLst>
                                    <p:cond delay="550"/>
                                  </p:stCondLst>
                                  <p:childTnLst>
                                    <p:set>
                                      <p:cBhvr>
                                        <p:cTn id="39" dur="1" fill="hold">
                                          <p:stCondLst>
                                            <p:cond delay="0"/>
                                          </p:stCondLst>
                                        </p:cTn>
                                        <p:tgtEl>
                                          <p:spTgt spid="123"/>
                                        </p:tgtEl>
                                        <p:attrNameLst>
                                          <p:attrName>style.visibility</p:attrName>
                                        </p:attrNameLst>
                                      </p:cBhvr>
                                      <p:to>
                                        <p:strVal val="visible"/>
                                      </p:to>
                                    </p:set>
                                    <p:animEffect transition="in" filter="fade">
                                      <p:cBhvr>
                                        <p:cTn id="40" dur="300"/>
                                        <p:tgtEl>
                                          <p:spTgt spid="123"/>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102"/>
                                        </p:tgtEl>
                                        <p:attrNameLst>
                                          <p:attrName>style.visibility</p:attrName>
                                        </p:attrNameLst>
                                      </p:cBhvr>
                                      <p:to>
                                        <p:strVal val="visible"/>
                                      </p:to>
                                    </p:set>
                                    <p:anim calcmode="lin" valueType="num">
                                      <p:cBhvr additive="base">
                                        <p:cTn id="45" dur="350" decel="100000" fill="hold"/>
                                        <p:tgtEl>
                                          <p:spTgt spid="102"/>
                                        </p:tgtEl>
                                        <p:attrNameLst>
                                          <p:attrName>ppt_w</p:attrName>
                                        </p:attrNameLst>
                                      </p:cBhvr>
                                      <p:tavLst>
                                        <p:tav tm="0">
                                          <p:val>
                                            <p:strVal val="#ppt_w*0.3"/>
                                          </p:val>
                                        </p:tav>
                                        <p:tav tm="100000">
                                          <p:val>
                                            <p:strVal val="#ppt_w*1.08"/>
                                          </p:val>
                                        </p:tav>
                                      </p:tavLst>
                                    </p:anim>
                                    <p:anim calcmode="lin" valueType="num">
                                      <p:cBhvr additive="base">
                                        <p:cTn id="46" dur="350" decel="100000" fill="hold"/>
                                        <p:tgtEl>
                                          <p:spTgt spid="102"/>
                                        </p:tgtEl>
                                        <p:attrNameLst>
                                          <p:attrName>ppt_h</p:attrName>
                                        </p:attrNameLst>
                                      </p:cBhvr>
                                      <p:tavLst>
                                        <p:tav tm="0">
                                          <p:val>
                                            <p:strVal val="#ppt_h*0.3"/>
                                          </p:val>
                                        </p:tav>
                                        <p:tav tm="100000">
                                          <p:val>
                                            <p:strVal val="#ppt_h*1.08"/>
                                          </p:val>
                                        </p:tav>
                                      </p:tavLst>
                                    </p:anim>
                                    <p:animEffect transition="in" filter="fade">
                                      <p:cBhvr>
                                        <p:cTn id="47" dur="175"/>
                                        <p:tgtEl>
                                          <p:spTgt spid="102"/>
                                        </p:tgtEl>
                                      </p:cBhvr>
                                    </p:animEffect>
                                    <p:anim calcmode="lin" valueType="num">
                                      <p:cBhvr additive="base">
                                        <p:cTn id="48" dur="160" fill="hold">
                                          <p:stCondLst>
                                            <p:cond delay="350"/>
                                          </p:stCondLst>
                                        </p:cTn>
                                        <p:tgtEl>
                                          <p:spTgt spid="102"/>
                                        </p:tgtEl>
                                        <p:attrNameLst>
                                          <p:attrName>ppt_w</p:attrName>
                                        </p:attrNameLst>
                                      </p:cBhvr>
                                      <p:tavLst>
                                        <p:tav tm="0">
                                          <p:val>
                                            <p:strVal val="#ppt_w*1.08"/>
                                          </p:val>
                                        </p:tav>
                                        <p:tav tm="100000">
                                          <p:val>
                                            <p:strVal val="#ppt_w"/>
                                          </p:val>
                                        </p:tav>
                                      </p:tavLst>
                                    </p:anim>
                                    <p:anim calcmode="lin" valueType="num">
                                      <p:cBhvr additive="base">
                                        <p:cTn id="49" dur="160" fill="hold">
                                          <p:stCondLst>
                                            <p:cond delay="350"/>
                                          </p:stCondLst>
                                        </p:cTn>
                                        <p:tgtEl>
                                          <p:spTgt spid="102"/>
                                        </p:tgtEl>
                                        <p:attrNameLst>
                                          <p:attrName>ppt_h</p:attrName>
                                        </p:attrNameLst>
                                      </p:cBhvr>
                                      <p:tavLst>
                                        <p:tav tm="0">
                                          <p:val>
                                            <p:strVal val="#ppt_h*1.08"/>
                                          </p:val>
                                        </p:tav>
                                        <p:tav tm="100000">
                                          <p:val>
                                            <p:strVal val="#ppt_h"/>
                                          </p:val>
                                        </p:tav>
                                      </p:tavLst>
                                    </p:anim>
                                  </p:childTnLst>
                                </p:cTn>
                              </p:par>
                              <p:par>
                                <p:cTn id="50" presetID="53" presetClass="entr" presetSubtype="16" fill="hold" grpId="0" nodeType="withEffect">
                                  <p:stCondLst>
                                    <p:cond delay="110"/>
                                  </p:stCondLst>
                                  <p:childTnLst>
                                    <p:set>
                                      <p:cBhvr>
                                        <p:cTn id="51" dur="1" fill="hold">
                                          <p:stCondLst>
                                            <p:cond delay="0"/>
                                          </p:stCondLst>
                                        </p:cTn>
                                        <p:tgtEl>
                                          <p:spTgt spid="104"/>
                                        </p:tgtEl>
                                        <p:attrNameLst>
                                          <p:attrName>style.visibility</p:attrName>
                                        </p:attrNameLst>
                                      </p:cBhvr>
                                      <p:to>
                                        <p:strVal val="visible"/>
                                      </p:to>
                                    </p:set>
                                    <p:anim calcmode="lin" valueType="num">
                                      <p:cBhvr additive="base">
                                        <p:cTn id="52" dur="35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53" dur="350" decel="100000" fill="hold"/>
                                        <p:tgtEl>
                                          <p:spTgt spid="104"/>
                                        </p:tgtEl>
                                        <p:attrNameLst>
                                          <p:attrName>ppt_h</p:attrName>
                                        </p:attrNameLst>
                                      </p:cBhvr>
                                      <p:tavLst>
                                        <p:tav tm="0">
                                          <p:val>
                                            <p:strVal val="#ppt_h*0.3"/>
                                          </p:val>
                                        </p:tav>
                                        <p:tav tm="100000">
                                          <p:val>
                                            <p:strVal val="#ppt_h*1.08"/>
                                          </p:val>
                                        </p:tav>
                                      </p:tavLst>
                                    </p:anim>
                                    <p:animEffect transition="in" filter="fade">
                                      <p:cBhvr>
                                        <p:cTn id="54" dur="175"/>
                                        <p:tgtEl>
                                          <p:spTgt spid="104"/>
                                        </p:tgtEl>
                                      </p:cBhvr>
                                    </p:animEffect>
                                    <p:anim calcmode="lin" valueType="num">
                                      <p:cBhvr additive="base">
                                        <p:cTn id="55" dur="160" fill="hold">
                                          <p:stCondLst>
                                            <p:cond delay="350"/>
                                          </p:stCondLst>
                                        </p:cTn>
                                        <p:tgtEl>
                                          <p:spTgt spid="104"/>
                                        </p:tgtEl>
                                        <p:attrNameLst>
                                          <p:attrName>ppt_w</p:attrName>
                                        </p:attrNameLst>
                                      </p:cBhvr>
                                      <p:tavLst>
                                        <p:tav tm="0">
                                          <p:val>
                                            <p:strVal val="#ppt_w*1.08"/>
                                          </p:val>
                                        </p:tav>
                                        <p:tav tm="100000">
                                          <p:val>
                                            <p:strVal val="#ppt_w"/>
                                          </p:val>
                                        </p:tav>
                                      </p:tavLst>
                                    </p:anim>
                                    <p:anim calcmode="lin" valueType="num">
                                      <p:cBhvr additive="base">
                                        <p:cTn id="56" dur="160" fill="hold">
                                          <p:stCondLst>
                                            <p:cond delay="350"/>
                                          </p:stCondLst>
                                        </p:cTn>
                                        <p:tgtEl>
                                          <p:spTgt spid="104"/>
                                        </p:tgtEl>
                                        <p:attrNameLst>
                                          <p:attrName>ppt_h</p:attrName>
                                        </p:attrNameLst>
                                      </p:cBhvr>
                                      <p:tavLst>
                                        <p:tav tm="0">
                                          <p:val>
                                            <p:strVal val="#ppt_h*1.08"/>
                                          </p:val>
                                        </p:tav>
                                        <p:tav tm="100000">
                                          <p:val>
                                            <p:strVal val="#ppt_h"/>
                                          </p:val>
                                        </p:tav>
                                      </p:tavLst>
                                    </p:anim>
                                  </p:childTnLst>
                                </p:cTn>
                              </p:par>
                              <p:par>
                                <p:cTn id="57" presetID="53" presetClass="entr" presetSubtype="16" fill="hold" grpId="0" nodeType="withEffect">
                                  <p:stCondLst>
                                    <p:cond delay="220"/>
                                  </p:stCondLst>
                                  <p:childTnLst>
                                    <p:set>
                                      <p:cBhvr>
                                        <p:cTn id="58" dur="1" fill="hold">
                                          <p:stCondLst>
                                            <p:cond delay="0"/>
                                          </p:stCondLst>
                                        </p:cTn>
                                        <p:tgtEl>
                                          <p:spTgt spid="106"/>
                                        </p:tgtEl>
                                        <p:attrNameLst>
                                          <p:attrName>style.visibility</p:attrName>
                                        </p:attrNameLst>
                                      </p:cBhvr>
                                      <p:to>
                                        <p:strVal val="visible"/>
                                      </p:to>
                                    </p:set>
                                    <p:anim calcmode="lin" valueType="num">
                                      <p:cBhvr additive="base">
                                        <p:cTn id="59" dur="35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60" dur="350" decel="100000" fill="hold"/>
                                        <p:tgtEl>
                                          <p:spTgt spid="106"/>
                                        </p:tgtEl>
                                        <p:attrNameLst>
                                          <p:attrName>ppt_h</p:attrName>
                                        </p:attrNameLst>
                                      </p:cBhvr>
                                      <p:tavLst>
                                        <p:tav tm="0">
                                          <p:val>
                                            <p:strVal val="#ppt_h*0.3"/>
                                          </p:val>
                                        </p:tav>
                                        <p:tav tm="100000">
                                          <p:val>
                                            <p:strVal val="#ppt_h*1.08"/>
                                          </p:val>
                                        </p:tav>
                                      </p:tavLst>
                                    </p:anim>
                                    <p:animEffect transition="in" filter="fade">
                                      <p:cBhvr>
                                        <p:cTn id="61" dur="175"/>
                                        <p:tgtEl>
                                          <p:spTgt spid="106"/>
                                        </p:tgtEl>
                                      </p:cBhvr>
                                    </p:animEffect>
                                    <p:anim calcmode="lin" valueType="num">
                                      <p:cBhvr additive="base">
                                        <p:cTn id="62" dur="160" fill="hold">
                                          <p:stCondLst>
                                            <p:cond delay="350"/>
                                          </p:stCondLst>
                                        </p:cTn>
                                        <p:tgtEl>
                                          <p:spTgt spid="106"/>
                                        </p:tgtEl>
                                        <p:attrNameLst>
                                          <p:attrName>ppt_w</p:attrName>
                                        </p:attrNameLst>
                                      </p:cBhvr>
                                      <p:tavLst>
                                        <p:tav tm="0">
                                          <p:val>
                                            <p:strVal val="#ppt_w*1.08"/>
                                          </p:val>
                                        </p:tav>
                                        <p:tav tm="100000">
                                          <p:val>
                                            <p:strVal val="#ppt_w"/>
                                          </p:val>
                                        </p:tav>
                                      </p:tavLst>
                                    </p:anim>
                                    <p:anim calcmode="lin" valueType="num">
                                      <p:cBhvr additive="base">
                                        <p:cTn id="63" dur="160" fill="hold">
                                          <p:stCondLst>
                                            <p:cond delay="350"/>
                                          </p:stCondLst>
                                        </p:cTn>
                                        <p:tgtEl>
                                          <p:spTgt spid="106"/>
                                        </p:tgtEl>
                                        <p:attrNameLst>
                                          <p:attrName>ppt_h</p:attrName>
                                        </p:attrNameLst>
                                      </p:cBhvr>
                                      <p:tavLst>
                                        <p:tav tm="0">
                                          <p:val>
                                            <p:strVal val="#ppt_h*1.08"/>
                                          </p:val>
                                        </p:tav>
                                        <p:tav tm="100000">
                                          <p:val>
                                            <p:strVal val="#ppt_h"/>
                                          </p:val>
                                        </p:tav>
                                      </p:tavLst>
                                    </p:anim>
                                  </p:childTnLst>
                                </p:cTn>
                              </p:par>
                              <p:par>
                                <p:cTn id="64" presetID="53" presetClass="entr" presetSubtype="16" fill="hold" grpId="0" nodeType="withEffect">
                                  <p:stCondLst>
                                    <p:cond delay="330"/>
                                  </p:stCondLst>
                                  <p:childTnLst>
                                    <p:set>
                                      <p:cBhvr>
                                        <p:cTn id="65" dur="1" fill="hold">
                                          <p:stCondLst>
                                            <p:cond delay="0"/>
                                          </p:stCondLst>
                                        </p:cTn>
                                        <p:tgtEl>
                                          <p:spTgt spid="108"/>
                                        </p:tgtEl>
                                        <p:attrNameLst>
                                          <p:attrName>style.visibility</p:attrName>
                                        </p:attrNameLst>
                                      </p:cBhvr>
                                      <p:to>
                                        <p:strVal val="visible"/>
                                      </p:to>
                                    </p:set>
                                    <p:anim calcmode="lin" valueType="num">
                                      <p:cBhvr additive="base">
                                        <p:cTn id="66" dur="35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67" dur="350" decel="100000" fill="hold"/>
                                        <p:tgtEl>
                                          <p:spTgt spid="108"/>
                                        </p:tgtEl>
                                        <p:attrNameLst>
                                          <p:attrName>ppt_h</p:attrName>
                                        </p:attrNameLst>
                                      </p:cBhvr>
                                      <p:tavLst>
                                        <p:tav tm="0">
                                          <p:val>
                                            <p:strVal val="#ppt_h*0.3"/>
                                          </p:val>
                                        </p:tav>
                                        <p:tav tm="100000">
                                          <p:val>
                                            <p:strVal val="#ppt_h*1.08"/>
                                          </p:val>
                                        </p:tav>
                                      </p:tavLst>
                                    </p:anim>
                                    <p:animEffect transition="in" filter="fade">
                                      <p:cBhvr>
                                        <p:cTn id="68" dur="175"/>
                                        <p:tgtEl>
                                          <p:spTgt spid="108"/>
                                        </p:tgtEl>
                                      </p:cBhvr>
                                    </p:animEffect>
                                    <p:anim calcmode="lin" valueType="num">
                                      <p:cBhvr additive="base">
                                        <p:cTn id="69" dur="160" fill="hold">
                                          <p:stCondLst>
                                            <p:cond delay="350"/>
                                          </p:stCondLst>
                                        </p:cTn>
                                        <p:tgtEl>
                                          <p:spTgt spid="108"/>
                                        </p:tgtEl>
                                        <p:attrNameLst>
                                          <p:attrName>ppt_w</p:attrName>
                                        </p:attrNameLst>
                                      </p:cBhvr>
                                      <p:tavLst>
                                        <p:tav tm="0">
                                          <p:val>
                                            <p:strVal val="#ppt_w*1.08"/>
                                          </p:val>
                                        </p:tav>
                                        <p:tav tm="100000">
                                          <p:val>
                                            <p:strVal val="#ppt_w"/>
                                          </p:val>
                                        </p:tav>
                                      </p:tavLst>
                                    </p:anim>
                                    <p:anim calcmode="lin" valueType="num">
                                      <p:cBhvr additive="base">
                                        <p:cTn id="70" dur="160" fill="hold">
                                          <p:stCondLst>
                                            <p:cond delay="350"/>
                                          </p:stCondLst>
                                        </p:cTn>
                                        <p:tgtEl>
                                          <p:spTgt spid="108"/>
                                        </p:tgtEl>
                                        <p:attrNameLst>
                                          <p:attrName>ppt_h</p:attrName>
                                        </p:attrNameLst>
                                      </p:cBhvr>
                                      <p:tavLst>
                                        <p:tav tm="0">
                                          <p:val>
                                            <p:strVal val="#ppt_h*1.08"/>
                                          </p:val>
                                        </p:tav>
                                        <p:tav tm="100000">
                                          <p:val>
                                            <p:strVal val="#ppt_h"/>
                                          </p:val>
                                        </p:tav>
                                      </p:tavLst>
                                    </p:anim>
                                  </p:childTnLst>
                                </p:cTn>
                              </p:par>
                              <p:par>
                                <p:cTn id="71" presetID="53" presetClass="entr" presetSubtype="16" fill="hold" grpId="0" nodeType="withEffect">
                                  <p:stCondLst>
                                    <p:cond delay="440"/>
                                  </p:stCondLst>
                                  <p:childTnLst>
                                    <p:set>
                                      <p:cBhvr>
                                        <p:cTn id="72" dur="1" fill="hold">
                                          <p:stCondLst>
                                            <p:cond delay="0"/>
                                          </p:stCondLst>
                                        </p:cTn>
                                        <p:tgtEl>
                                          <p:spTgt spid="110"/>
                                        </p:tgtEl>
                                        <p:attrNameLst>
                                          <p:attrName>style.visibility</p:attrName>
                                        </p:attrNameLst>
                                      </p:cBhvr>
                                      <p:to>
                                        <p:strVal val="visible"/>
                                      </p:to>
                                    </p:set>
                                    <p:anim calcmode="lin" valueType="num">
                                      <p:cBhvr additive="base">
                                        <p:cTn id="73" dur="350" decel="100000" fill="hold"/>
                                        <p:tgtEl>
                                          <p:spTgt spid="110"/>
                                        </p:tgtEl>
                                        <p:attrNameLst>
                                          <p:attrName>ppt_w</p:attrName>
                                        </p:attrNameLst>
                                      </p:cBhvr>
                                      <p:tavLst>
                                        <p:tav tm="0">
                                          <p:val>
                                            <p:strVal val="#ppt_w*0.3"/>
                                          </p:val>
                                        </p:tav>
                                        <p:tav tm="100000">
                                          <p:val>
                                            <p:strVal val="#ppt_w*1.08"/>
                                          </p:val>
                                        </p:tav>
                                      </p:tavLst>
                                    </p:anim>
                                    <p:anim calcmode="lin" valueType="num">
                                      <p:cBhvr additive="base">
                                        <p:cTn id="74" dur="350" decel="100000" fill="hold"/>
                                        <p:tgtEl>
                                          <p:spTgt spid="110"/>
                                        </p:tgtEl>
                                        <p:attrNameLst>
                                          <p:attrName>ppt_h</p:attrName>
                                        </p:attrNameLst>
                                      </p:cBhvr>
                                      <p:tavLst>
                                        <p:tav tm="0">
                                          <p:val>
                                            <p:strVal val="#ppt_h*0.3"/>
                                          </p:val>
                                        </p:tav>
                                        <p:tav tm="100000">
                                          <p:val>
                                            <p:strVal val="#ppt_h*1.08"/>
                                          </p:val>
                                        </p:tav>
                                      </p:tavLst>
                                    </p:anim>
                                    <p:animEffect transition="in" filter="fade">
                                      <p:cBhvr>
                                        <p:cTn id="75" dur="175"/>
                                        <p:tgtEl>
                                          <p:spTgt spid="110"/>
                                        </p:tgtEl>
                                      </p:cBhvr>
                                    </p:animEffect>
                                    <p:anim calcmode="lin" valueType="num">
                                      <p:cBhvr additive="base">
                                        <p:cTn id="76" dur="160" fill="hold">
                                          <p:stCondLst>
                                            <p:cond delay="350"/>
                                          </p:stCondLst>
                                        </p:cTn>
                                        <p:tgtEl>
                                          <p:spTgt spid="110"/>
                                        </p:tgtEl>
                                        <p:attrNameLst>
                                          <p:attrName>ppt_w</p:attrName>
                                        </p:attrNameLst>
                                      </p:cBhvr>
                                      <p:tavLst>
                                        <p:tav tm="0">
                                          <p:val>
                                            <p:strVal val="#ppt_w*1.08"/>
                                          </p:val>
                                        </p:tav>
                                        <p:tav tm="100000">
                                          <p:val>
                                            <p:strVal val="#ppt_w"/>
                                          </p:val>
                                        </p:tav>
                                      </p:tavLst>
                                    </p:anim>
                                    <p:anim calcmode="lin" valueType="num">
                                      <p:cBhvr additive="base">
                                        <p:cTn id="77" dur="160" fill="hold">
                                          <p:stCondLst>
                                            <p:cond delay="350"/>
                                          </p:stCondLst>
                                        </p:cTn>
                                        <p:tgtEl>
                                          <p:spTgt spid="110"/>
                                        </p:tgtEl>
                                        <p:attrNameLst>
                                          <p:attrName>ppt_h</p:attrName>
                                        </p:attrNameLst>
                                      </p:cBhvr>
                                      <p:tavLst>
                                        <p:tav tm="0">
                                          <p:val>
                                            <p:strVal val="#ppt_h*1.08"/>
                                          </p:val>
                                        </p:tav>
                                        <p:tav tm="100000">
                                          <p:val>
                                            <p:strVal val="#ppt_h"/>
                                          </p:val>
                                        </p:tav>
                                      </p:tavLst>
                                    </p:anim>
                                  </p:childTnLst>
                                </p:cTn>
                              </p:par>
                              <p:par>
                                <p:cTn id="78" presetID="53" presetClass="entr" presetSubtype="16" fill="hold" grpId="0" nodeType="withEffect">
                                  <p:stCondLst>
                                    <p:cond delay="550"/>
                                  </p:stCondLst>
                                  <p:childTnLst>
                                    <p:set>
                                      <p:cBhvr>
                                        <p:cTn id="79" dur="1" fill="hold">
                                          <p:stCondLst>
                                            <p:cond delay="0"/>
                                          </p:stCondLst>
                                        </p:cTn>
                                        <p:tgtEl>
                                          <p:spTgt spid="112"/>
                                        </p:tgtEl>
                                        <p:attrNameLst>
                                          <p:attrName>style.visibility</p:attrName>
                                        </p:attrNameLst>
                                      </p:cBhvr>
                                      <p:to>
                                        <p:strVal val="visible"/>
                                      </p:to>
                                    </p:set>
                                    <p:anim calcmode="lin" valueType="num">
                                      <p:cBhvr additive="base">
                                        <p:cTn id="80" dur="350" decel="100000" fill="hold"/>
                                        <p:tgtEl>
                                          <p:spTgt spid="112"/>
                                        </p:tgtEl>
                                        <p:attrNameLst>
                                          <p:attrName>ppt_w</p:attrName>
                                        </p:attrNameLst>
                                      </p:cBhvr>
                                      <p:tavLst>
                                        <p:tav tm="0">
                                          <p:val>
                                            <p:strVal val="#ppt_w*0.3"/>
                                          </p:val>
                                        </p:tav>
                                        <p:tav tm="100000">
                                          <p:val>
                                            <p:strVal val="#ppt_w*1.08"/>
                                          </p:val>
                                        </p:tav>
                                      </p:tavLst>
                                    </p:anim>
                                    <p:anim calcmode="lin" valueType="num">
                                      <p:cBhvr additive="base">
                                        <p:cTn id="81" dur="350" decel="100000" fill="hold"/>
                                        <p:tgtEl>
                                          <p:spTgt spid="112"/>
                                        </p:tgtEl>
                                        <p:attrNameLst>
                                          <p:attrName>ppt_h</p:attrName>
                                        </p:attrNameLst>
                                      </p:cBhvr>
                                      <p:tavLst>
                                        <p:tav tm="0">
                                          <p:val>
                                            <p:strVal val="#ppt_h*0.3"/>
                                          </p:val>
                                        </p:tav>
                                        <p:tav tm="100000">
                                          <p:val>
                                            <p:strVal val="#ppt_h*1.08"/>
                                          </p:val>
                                        </p:tav>
                                      </p:tavLst>
                                    </p:anim>
                                    <p:animEffect transition="in" filter="fade">
                                      <p:cBhvr>
                                        <p:cTn id="82" dur="175"/>
                                        <p:tgtEl>
                                          <p:spTgt spid="112"/>
                                        </p:tgtEl>
                                      </p:cBhvr>
                                    </p:animEffect>
                                    <p:anim calcmode="lin" valueType="num">
                                      <p:cBhvr additive="base">
                                        <p:cTn id="83" dur="160" fill="hold">
                                          <p:stCondLst>
                                            <p:cond delay="350"/>
                                          </p:stCondLst>
                                        </p:cTn>
                                        <p:tgtEl>
                                          <p:spTgt spid="112"/>
                                        </p:tgtEl>
                                        <p:attrNameLst>
                                          <p:attrName>ppt_w</p:attrName>
                                        </p:attrNameLst>
                                      </p:cBhvr>
                                      <p:tavLst>
                                        <p:tav tm="0">
                                          <p:val>
                                            <p:strVal val="#ppt_w*1.08"/>
                                          </p:val>
                                        </p:tav>
                                        <p:tav tm="100000">
                                          <p:val>
                                            <p:strVal val="#ppt_w"/>
                                          </p:val>
                                        </p:tav>
                                      </p:tavLst>
                                    </p:anim>
                                    <p:anim calcmode="lin" valueType="num">
                                      <p:cBhvr additive="base">
                                        <p:cTn id="84" dur="160" fill="hold">
                                          <p:stCondLst>
                                            <p:cond delay="350"/>
                                          </p:stCondLst>
                                        </p:cTn>
                                        <p:tgtEl>
                                          <p:spTgt spid="112"/>
                                        </p:tgtEl>
                                        <p:attrNameLst>
                                          <p:attrName>ppt_h</p:attrName>
                                        </p:attrNameLst>
                                      </p:cBhvr>
                                      <p:tavLst>
                                        <p:tav tm="0">
                                          <p:val>
                                            <p:strVal val="#ppt_h*1.08"/>
                                          </p:val>
                                        </p:tav>
                                        <p:tav tm="100000">
                                          <p:val>
                                            <p:strVal val="#ppt_h"/>
                                          </p:val>
                                        </p:tav>
                                      </p:tavLst>
                                    </p:anim>
                                  </p:childTnLst>
                                </p:cTn>
                              </p:par>
                              <p:par>
                                <p:cTn id="85" presetID="53" presetClass="entr" presetSubtype="16" fill="hold" grpId="0" nodeType="withEffect">
                                  <p:stCondLst>
                                    <p:cond delay="660"/>
                                  </p:stCondLst>
                                  <p:childTnLst>
                                    <p:set>
                                      <p:cBhvr>
                                        <p:cTn id="86" dur="1" fill="hold">
                                          <p:stCondLst>
                                            <p:cond delay="0"/>
                                          </p:stCondLst>
                                        </p:cTn>
                                        <p:tgtEl>
                                          <p:spTgt spid="114"/>
                                        </p:tgtEl>
                                        <p:attrNameLst>
                                          <p:attrName>style.visibility</p:attrName>
                                        </p:attrNameLst>
                                      </p:cBhvr>
                                      <p:to>
                                        <p:strVal val="visible"/>
                                      </p:to>
                                    </p:set>
                                    <p:anim calcmode="lin" valueType="num">
                                      <p:cBhvr additive="base">
                                        <p:cTn id="87" dur="350" decel="100000" fill="hold"/>
                                        <p:tgtEl>
                                          <p:spTgt spid="114"/>
                                        </p:tgtEl>
                                        <p:attrNameLst>
                                          <p:attrName>ppt_w</p:attrName>
                                        </p:attrNameLst>
                                      </p:cBhvr>
                                      <p:tavLst>
                                        <p:tav tm="0">
                                          <p:val>
                                            <p:strVal val="#ppt_w*0.3"/>
                                          </p:val>
                                        </p:tav>
                                        <p:tav tm="100000">
                                          <p:val>
                                            <p:strVal val="#ppt_w*1.08"/>
                                          </p:val>
                                        </p:tav>
                                      </p:tavLst>
                                    </p:anim>
                                    <p:anim calcmode="lin" valueType="num">
                                      <p:cBhvr additive="base">
                                        <p:cTn id="88" dur="350" decel="100000" fill="hold"/>
                                        <p:tgtEl>
                                          <p:spTgt spid="114"/>
                                        </p:tgtEl>
                                        <p:attrNameLst>
                                          <p:attrName>ppt_h</p:attrName>
                                        </p:attrNameLst>
                                      </p:cBhvr>
                                      <p:tavLst>
                                        <p:tav tm="0">
                                          <p:val>
                                            <p:strVal val="#ppt_h*0.3"/>
                                          </p:val>
                                        </p:tav>
                                        <p:tav tm="100000">
                                          <p:val>
                                            <p:strVal val="#ppt_h*1.08"/>
                                          </p:val>
                                        </p:tav>
                                      </p:tavLst>
                                    </p:anim>
                                    <p:animEffect transition="in" filter="fade">
                                      <p:cBhvr>
                                        <p:cTn id="89" dur="175"/>
                                        <p:tgtEl>
                                          <p:spTgt spid="114"/>
                                        </p:tgtEl>
                                      </p:cBhvr>
                                    </p:animEffect>
                                    <p:anim calcmode="lin" valueType="num">
                                      <p:cBhvr additive="base">
                                        <p:cTn id="90" dur="160" fill="hold">
                                          <p:stCondLst>
                                            <p:cond delay="350"/>
                                          </p:stCondLst>
                                        </p:cTn>
                                        <p:tgtEl>
                                          <p:spTgt spid="114"/>
                                        </p:tgtEl>
                                        <p:attrNameLst>
                                          <p:attrName>ppt_w</p:attrName>
                                        </p:attrNameLst>
                                      </p:cBhvr>
                                      <p:tavLst>
                                        <p:tav tm="0">
                                          <p:val>
                                            <p:strVal val="#ppt_w*1.08"/>
                                          </p:val>
                                        </p:tav>
                                        <p:tav tm="100000">
                                          <p:val>
                                            <p:strVal val="#ppt_w"/>
                                          </p:val>
                                        </p:tav>
                                      </p:tavLst>
                                    </p:anim>
                                    <p:anim calcmode="lin" valueType="num">
                                      <p:cBhvr additive="base">
                                        <p:cTn id="91" dur="160" fill="hold">
                                          <p:stCondLst>
                                            <p:cond delay="350"/>
                                          </p:stCondLst>
                                        </p:cTn>
                                        <p:tgtEl>
                                          <p:spTgt spid="114"/>
                                        </p:tgtEl>
                                        <p:attrNameLst>
                                          <p:attrName>ppt_h</p:attrName>
                                        </p:attrNameLst>
                                      </p:cBhvr>
                                      <p:tavLst>
                                        <p:tav tm="0">
                                          <p:val>
                                            <p:strVal val="#ppt_h*1.08"/>
                                          </p:val>
                                        </p:tav>
                                        <p:tav tm="100000">
                                          <p:val>
                                            <p:strVal val="#ppt_h"/>
                                          </p:val>
                                        </p:tav>
                                      </p:tavLst>
                                    </p:anim>
                                  </p:childTnLst>
                                </p:cTn>
                              </p:par>
                              <p:par>
                                <p:cTn id="92" presetID="53" presetClass="entr" presetSubtype="16" fill="hold" grpId="0" nodeType="withEffect">
                                  <p:stCondLst>
                                    <p:cond delay="770"/>
                                  </p:stCondLst>
                                  <p:childTnLst>
                                    <p:set>
                                      <p:cBhvr>
                                        <p:cTn id="93" dur="1" fill="hold">
                                          <p:stCondLst>
                                            <p:cond delay="0"/>
                                          </p:stCondLst>
                                        </p:cTn>
                                        <p:tgtEl>
                                          <p:spTgt spid="116"/>
                                        </p:tgtEl>
                                        <p:attrNameLst>
                                          <p:attrName>style.visibility</p:attrName>
                                        </p:attrNameLst>
                                      </p:cBhvr>
                                      <p:to>
                                        <p:strVal val="visible"/>
                                      </p:to>
                                    </p:set>
                                    <p:anim calcmode="lin" valueType="num">
                                      <p:cBhvr additive="base">
                                        <p:cTn id="94" dur="350" decel="100000" fill="hold"/>
                                        <p:tgtEl>
                                          <p:spTgt spid="116"/>
                                        </p:tgtEl>
                                        <p:attrNameLst>
                                          <p:attrName>ppt_w</p:attrName>
                                        </p:attrNameLst>
                                      </p:cBhvr>
                                      <p:tavLst>
                                        <p:tav tm="0">
                                          <p:val>
                                            <p:strVal val="#ppt_w*0.3"/>
                                          </p:val>
                                        </p:tav>
                                        <p:tav tm="100000">
                                          <p:val>
                                            <p:strVal val="#ppt_w*1.08"/>
                                          </p:val>
                                        </p:tav>
                                      </p:tavLst>
                                    </p:anim>
                                    <p:anim calcmode="lin" valueType="num">
                                      <p:cBhvr additive="base">
                                        <p:cTn id="95" dur="350" decel="100000" fill="hold"/>
                                        <p:tgtEl>
                                          <p:spTgt spid="116"/>
                                        </p:tgtEl>
                                        <p:attrNameLst>
                                          <p:attrName>ppt_h</p:attrName>
                                        </p:attrNameLst>
                                      </p:cBhvr>
                                      <p:tavLst>
                                        <p:tav tm="0">
                                          <p:val>
                                            <p:strVal val="#ppt_h*0.3"/>
                                          </p:val>
                                        </p:tav>
                                        <p:tav tm="100000">
                                          <p:val>
                                            <p:strVal val="#ppt_h*1.08"/>
                                          </p:val>
                                        </p:tav>
                                      </p:tavLst>
                                    </p:anim>
                                    <p:animEffect transition="in" filter="fade">
                                      <p:cBhvr>
                                        <p:cTn id="96" dur="175"/>
                                        <p:tgtEl>
                                          <p:spTgt spid="116"/>
                                        </p:tgtEl>
                                      </p:cBhvr>
                                    </p:animEffect>
                                    <p:anim calcmode="lin" valueType="num">
                                      <p:cBhvr additive="base">
                                        <p:cTn id="97" dur="160" fill="hold">
                                          <p:stCondLst>
                                            <p:cond delay="350"/>
                                          </p:stCondLst>
                                        </p:cTn>
                                        <p:tgtEl>
                                          <p:spTgt spid="116"/>
                                        </p:tgtEl>
                                        <p:attrNameLst>
                                          <p:attrName>ppt_w</p:attrName>
                                        </p:attrNameLst>
                                      </p:cBhvr>
                                      <p:tavLst>
                                        <p:tav tm="0">
                                          <p:val>
                                            <p:strVal val="#ppt_w*1.08"/>
                                          </p:val>
                                        </p:tav>
                                        <p:tav tm="100000">
                                          <p:val>
                                            <p:strVal val="#ppt_w"/>
                                          </p:val>
                                        </p:tav>
                                      </p:tavLst>
                                    </p:anim>
                                    <p:anim calcmode="lin" valueType="num">
                                      <p:cBhvr additive="base">
                                        <p:cTn id="98" dur="160" fill="hold">
                                          <p:stCondLst>
                                            <p:cond delay="350"/>
                                          </p:stCondLst>
                                        </p:cTn>
                                        <p:tgtEl>
                                          <p:spTgt spid="116"/>
                                        </p:tgtEl>
                                        <p:attrNameLst>
                                          <p:attrName>ppt_h</p:attrName>
                                        </p:attrNameLst>
                                      </p:cBhvr>
                                      <p:tavLst>
                                        <p:tav tm="0">
                                          <p:val>
                                            <p:strVal val="#ppt_h*1.08"/>
                                          </p:val>
                                        </p:tav>
                                        <p:tav tm="100000">
                                          <p:val>
                                            <p:strVal val="#ppt_h"/>
                                          </p:val>
                                        </p:tav>
                                      </p:tavLst>
                                    </p:anim>
                                  </p:childTnLst>
                                </p:cTn>
                              </p:par>
                              <p:par>
                                <p:cTn id="99" presetID="53" presetClass="entr" presetSubtype="16" fill="hold" grpId="0" nodeType="withEffect">
                                  <p:stCondLst>
                                    <p:cond delay="880"/>
                                  </p:stCondLst>
                                  <p:childTnLst>
                                    <p:set>
                                      <p:cBhvr>
                                        <p:cTn id="100" dur="1" fill="hold">
                                          <p:stCondLst>
                                            <p:cond delay="0"/>
                                          </p:stCondLst>
                                        </p:cTn>
                                        <p:tgtEl>
                                          <p:spTgt spid="118"/>
                                        </p:tgtEl>
                                        <p:attrNameLst>
                                          <p:attrName>style.visibility</p:attrName>
                                        </p:attrNameLst>
                                      </p:cBhvr>
                                      <p:to>
                                        <p:strVal val="visible"/>
                                      </p:to>
                                    </p:set>
                                    <p:anim calcmode="lin" valueType="num">
                                      <p:cBhvr additive="base">
                                        <p:cTn id="101" dur="350" decel="100000" fill="hold"/>
                                        <p:tgtEl>
                                          <p:spTgt spid="118"/>
                                        </p:tgtEl>
                                        <p:attrNameLst>
                                          <p:attrName>ppt_w</p:attrName>
                                        </p:attrNameLst>
                                      </p:cBhvr>
                                      <p:tavLst>
                                        <p:tav tm="0">
                                          <p:val>
                                            <p:strVal val="#ppt_w*0.3"/>
                                          </p:val>
                                        </p:tav>
                                        <p:tav tm="100000">
                                          <p:val>
                                            <p:strVal val="#ppt_w*1.08"/>
                                          </p:val>
                                        </p:tav>
                                      </p:tavLst>
                                    </p:anim>
                                    <p:anim calcmode="lin" valueType="num">
                                      <p:cBhvr additive="base">
                                        <p:cTn id="102" dur="350" decel="100000" fill="hold"/>
                                        <p:tgtEl>
                                          <p:spTgt spid="118"/>
                                        </p:tgtEl>
                                        <p:attrNameLst>
                                          <p:attrName>ppt_h</p:attrName>
                                        </p:attrNameLst>
                                      </p:cBhvr>
                                      <p:tavLst>
                                        <p:tav tm="0">
                                          <p:val>
                                            <p:strVal val="#ppt_h*0.3"/>
                                          </p:val>
                                        </p:tav>
                                        <p:tav tm="100000">
                                          <p:val>
                                            <p:strVal val="#ppt_h*1.08"/>
                                          </p:val>
                                        </p:tav>
                                      </p:tavLst>
                                    </p:anim>
                                    <p:animEffect transition="in" filter="fade">
                                      <p:cBhvr>
                                        <p:cTn id="103" dur="175"/>
                                        <p:tgtEl>
                                          <p:spTgt spid="118"/>
                                        </p:tgtEl>
                                      </p:cBhvr>
                                    </p:animEffect>
                                    <p:anim calcmode="lin" valueType="num">
                                      <p:cBhvr additive="base">
                                        <p:cTn id="104" dur="160" fill="hold">
                                          <p:stCondLst>
                                            <p:cond delay="350"/>
                                          </p:stCondLst>
                                        </p:cTn>
                                        <p:tgtEl>
                                          <p:spTgt spid="118"/>
                                        </p:tgtEl>
                                        <p:attrNameLst>
                                          <p:attrName>ppt_w</p:attrName>
                                        </p:attrNameLst>
                                      </p:cBhvr>
                                      <p:tavLst>
                                        <p:tav tm="0">
                                          <p:val>
                                            <p:strVal val="#ppt_w*1.08"/>
                                          </p:val>
                                        </p:tav>
                                        <p:tav tm="100000">
                                          <p:val>
                                            <p:strVal val="#ppt_w"/>
                                          </p:val>
                                        </p:tav>
                                      </p:tavLst>
                                    </p:anim>
                                    <p:anim calcmode="lin" valueType="num">
                                      <p:cBhvr additive="base">
                                        <p:cTn id="105" dur="160" fill="hold">
                                          <p:stCondLst>
                                            <p:cond delay="350"/>
                                          </p:stCondLst>
                                        </p:cTn>
                                        <p:tgtEl>
                                          <p:spTgt spid="118"/>
                                        </p:tgtEl>
                                        <p:attrNameLst>
                                          <p:attrName>ppt_h</p:attrName>
                                        </p:attrNameLst>
                                      </p:cBhvr>
                                      <p:tavLst>
                                        <p:tav tm="0">
                                          <p:val>
                                            <p:strVal val="#ppt_h*1.08"/>
                                          </p:val>
                                        </p:tav>
                                        <p:tav tm="100000">
                                          <p:val>
                                            <p:strVal val="#ppt_h"/>
                                          </p:val>
                                        </p:tav>
                                      </p:tavLst>
                                    </p:anim>
                                  </p:childTnLst>
                                </p:cTn>
                              </p:par>
                              <p:par>
                                <p:cTn id="106" presetID="53" presetClass="entr" presetSubtype="16" fill="hold" grpId="0" nodeType="withEffect">
                                  <p:stCondLst>
                                    <p:cond delay="990"/>
                                  </p:stCondLst>
                                  <p:childTnLst>
                                    <p:set>
                                      <p:cBhvr>
                                        <p:cTn id="107" dur="1" fill="hold">
                                          <p:stCondLst>
                                            <p:cond delay="0"/>
                                          </p:stCondLst>
                                        </p:cTn>
                                        <p:tgtEl>
                                          <p:spTgt spid="120"/>
                                        </p:tgtEl>
                                        <p:attrNameLst>
                                          <p:attrName>style.visibility</p:attrName>
                                        </p:attrNameLst>
                                      </p:cBhvr>
                                      <p:to>
                                        <p:strVal val="visible"/>
                                      </p:to>
                                    </p:set>
                                    <p:anim calcmode="lin" valueType="num">
                                      <p:cBhvr additive="base">
                                        <p:cTn id="108" dur="350" decel="100000" fill="hold"/>
                                        <p:tgtEl>
                                          <p:spTgt spid="120"/>
                                        </p:tgtEl>
                                        <p:attrNameLst>
                                          <p:attrName>ppt_w</p:attrName>
                                        </p:attrNameLst>
                                      </p:cBhvr>
                                      <p:tavLst>
                                        <p:tav tm="0">
                                          <p:val>
                                            <p:strVal val="#ppt_w*0.3"/>
                                          </p:val>
                                        </p:tav>
                                        <p:tav tm="100000">
                                          <p:val>
                                            <p:strVal val="#ppt_w*1.08"/>
                                          </p:val>
                                        </p:tav>
                                      </p:tavLst>
                                    </p:anim>
                                    <p:anim calcmode="lin" valueType="num">
                                      <p:cBhvr additive="base">
                                        <p:cTn id="109" dur="350" decel="100000" fill="hold"/>
                                        <p:tgtEl>
                                          <p:spTgt spid="120"/>
                                        </p:tgtEl>
                                        <p:attrNameLst>
                                          <p:attrName>ppt_h</p:attrName>
                                        </p:attrNameLst>
                                      </p:cBhvr>
                                      <p:tavLst>
                                        <p:tav tm="0">
                                          <p:val>
                                            <p:strVal val="#ppt_h*0.3"/>
                                          </p:val>
                                        </p:tav>
                                        <p:tav tm="100000">
                                          <p:val>
                                            <p:strVal val="#ppt_h*1.08"/>
                                          </p:val>
                                        </p:tav>
                                      </p:tavLst>
                                    </p:anim>
                                    <p:animEffect transition="in" filter="fade">
                                      <p:cBhvr>
                                        <p:cTn id="110" dur="175"/>
                                        <p:tgtEl>
                                          <p:spTgt spid="120"/>
                                        </p:tgtEl>
                                      </p:cBhvr>
                                    </p:animEffect>
                                    <p:anim calcmode="lin" valueType="num">
                                      <p:cBhvr additive="base">
                                        <p:cTn id="111" dur="160" fill="hold">
                                          <p:stCondLst>
                                            <p:cond delay="350"/>
                                          </p:stCondLst>
                                        </p:cTn>
                                        <p:tgtEl>
                                          <p:spTgt spid="120"/>
                                        </p:tgtEl>
                                        <p:attrNameLst>
                                          <p:attrName>ppt_w</p:attrName>
                                        </p:attrNameLst>
                                      </p:cBhvr>
                                      <p:tavLst>
                                        <p:tav tm="0">
                                          <p:val>
                                            <p:strVal val="#ppt_w*1.08"/>
                                          </p:val>
                                        </p:tav>
                                        <p:tav tm="100000">
                                          <p:val>
                                            <p:strVal val="#ppt_w"/>
                                          </p:val>
                                        </p:tav>
                                      </p:tavLst>
                                    </p:anim>
                                    <p:anim calcmode="lin" valueType="num">
                                      <p:cBhvr additive="base">
                                        <p:cTn id="112" dur="160" fill="hold">
                                          <p:stCondLst>
                                            <p:cond delay="350"/>
                                          </p:stCondLst>
                                        </p:cTn>
                                        <p:tgtEl>
                                          <p:spTgt spid="120"/>
                                        </p:tgtEl>
                                        <p:attrNameLst>
                                          <p:attrName>ppt_h</p:attrName>
                                        </p:attrNameLst>
                                      </p:cBhvr>
                                      <p:tavLst>
                                        <p:tav tm="0">
                                          <p:val>
                                            <p:strVal val="#ppt_h*1.08"/>
                                          </p:val>
                                        </p:tav>
                                        <p:tav tm="100000">
                                          <p:val>
                                            <p:strVal val="#ppt_h"/>
                                          </p:val>
                                        </p:tav>
                                      </p:tavLst>
                                    </p:anim>
                                  </p:childTnLst>
                                </p:cTn>
                              </p:par>
                              <p:par>
                                <p:cTn id="113" presetID="53" presetClass="entr" presetSubtype="16" fill="hold" grpId="0" nodeType="withEffect">
                                  <p:stCondLst>
                                    <p:cond delay="1100"/>
                                  </p:stCondLst>
                                  <p:childTnLst>
                                    <p:set>
                                      <p:cBhvr>
                                        <p:cTn id="114" dur="1" fill="hold">
                                          <p:stCondLst>
                                            <p:cond delay="0"/>
                                          </p:stCondLst>
                                        </p:cTn>
                                        <p:tgtEl>
                                          <p:spTgt spid="122"/>
                                        </p:tgtEl>
                                        <p:attrNameLst>
                                          <p:attrName>style.visibility</p:attrName>
                                        </p:attrNameLst>
                                      </p:cBhvr>
                                      <p:to>
                                        <p:strVal val="visible"/>
                                      </p:to>
                                    </p:set>
                                    <p:anim calcmode="lin" valueType="num">
                                      <p:cBhvr additive="base">
                                        <p:cTn id="115" dur="350" decel="100000" fill="hold"/>
                                        <p:tgtEl>
                                          <p:spTgt spid="122"/>
                                        </p:tgtEl>
                                        <p:attrNameLst>
                                          <p:attrName>ppt_w</p:attrName>
                                        </p:attrNameLst>
                                      </p:cBhvr>
                                      <p:tavLst>
                                        <p:tav tm="0">
                                          <p:val>
                                            <p:strVal val="#ppt_w*0.3"/>
                                          </p:val>
                                        </p:tav>
                                        <p:tav tm="100000">
                                          <p:val>
                                            <p:strVal val="#ppt_w*1.08"/>
                                          </p:val>
                                        </p:tav>
                                      </p:tavLst>
                                    </p:anim>
                                    <p:anim calcmode="lin" valueType="num">
                                      <p:cBhvr additive="base">
                                        <p:cTn id="116" dur="350" decel="100000" fill="hold"/>
                                        <p:tgtEl>
                                          <p:spTgt spid="122"/>
                                        </p:tgtEl>
                                        <p:attrNameLst>
                                          <p:attrName>ppt_h</p:attrName>
                                        </p:attrNameLst>
                                      </p:cBhvr>
                                      <p:tavLst>
                                        <p:tav tm="0">
                                          <p:val>
                                            <p:strVal val="#ppt_h*0.3"/>
                                          </p:val>
                                        </p:tav>
                                        <p:tav tm="100000">
                                          <p:val>
                                            <p:strVal val="#ppt_h*1.08"/>
                                          </p:val>
                                        </p:tav>
                                      </p:tavLst>
                                    </p:anim>
                                    <p:animEffect transition="in" filter="fade">
                                      <p:cBhvr>
                                        <p:cTn id="117" dur="175"/>
                                        <p:tgtEl>
                                          <p:spTgt spid="122"/>
                                        </p:tgtEl>
                                      </p:cBhvr>
                                    </p:animEffect>
                                    <p:anim calcmode="lin" valueType="num">
                                      <p:cBhvr additive="base">
                                        <p:cTn id="118" dur="160" fill="hold">
                                          <p:stCondLst>
                                            <p:cond delay="350"/>
                                          </p:stCondLst>
                                        </p:cTn>
                                        <p:tgtEl>
                                          <p:spTgt spid="122"/>
                                        </p:tgtEl>
                                        <p:attrNameLst>
                                          <p:attrName>ppt_w</p:attrName>
                                        </p:attrNameLst>
                                      </p:cBhvr>
                                      <p:tavLst>
                                        <p:tav tm="0">
                                          <p:val>
                                            <p:strVal val="#ppt_w*1.08"/>
                                          </p:val>
                                        </p:tav>
                                        <p:tav tm="100000">
                                          <p:val>
                                            <p:strVal val="#ppt_w"/>
                                          </p:val>
                                        </p:tav>
                                      </p:tavLst>
                                    </p:anim>
                                    <p:anim calcmode="lin" valueType="num">
                                      <p:cBhvr additive="base">
                                        <p:cTn id="119" dur="160" fill="hold">
                                          <p:stCondLst>
                                            <p:cond delay="350"/>
                                          </p:stCondLst>
                                        </p:cTn>
                                        <p:tgtEl>
                                          <p:spTgt spid="122"/>
                                        </p:tgtEl>
                                        <p:attrNameLst>
                                          <p:attrName>ppt_h</p:attrName>
                                        </p:attrNameLst>
                                      </p:cBhvr>
                                      <p:tavLst>
                                        <p:tav tm="0">
                                          <p:val>
                                            <p:strVal val="#ppt_h*1.08"/>
                                          </p:val>
                                        </p:tav>
                                        <p:tav tm="100000">
                                          <p:val>
                                            <p:strVal val="#ppt_h"/>
                                          </p:val>
                                        </p:tav>
                                      </p:tavLst>
                                    </p:anim>
                                  </p:childTnLst>
                                </p:cTn>
                              </p:par>
                              <p:par>
                                <p:cTn id="120" presetID="53" presetClass="entr" presetSubtype="16" fill="hold" grpId="0" nodeType="withEffect">
                                  <p:stCondLst>
                                    <p:cond delay="1210"/>
                                  </p:stCondLst>
                                  <p:childTnLst>
                                    <p:set>
                                      <p:cBhvr>
                                        <p:cTn id="121" dur="1" fill="hold">
                                          <p:stCondLst>
                                            <p:cond delay="0"/>
                                          </p:stCondLst>
                                        </p:cTn>
                                        <p:tgtEl>
                                          <p:spTgt spid="124"/>
                                        </p:tgtEl>
                                        <p:attrNameLst>
                                          <p:attrName>style.visibility</p:attrName>
                                        </p:attrNameLst>
                                      </p:cBhvr>
                                      <p:to>
                                        <p:strVal val="visible"/>
                                      </p:to>
                                    </p:set>
                                    <p:anim calcmode="lin" valueType="num">
                                      <p:cBhvr additive="base">
                                        <p:cTn id="122" dur="350" decel="100000" fill="hold"/>
                                        <p:tgtEl>
                                          <p:spTgt spid="124"/>
                                        </p:tgtEl>
                                        <p:attrNameLst>
                                          <p:attrName>ppt_w</p:attrName>
                                        </p:attrNameLst>
                                      </p:cBhvr>
                                      <p:tavLst>
                                        <p:tav tm="0">
                                          <p:val>
                                            <p:strVal val="#ppt_w*0.3"/>
                                          </p:val>
                                        </p:tav>
                                        <p:tav tm="100000">
                                          <p:val>
                                            <p:strVal val="#ppt_w*1.08"/>
                                          </p:val>
                                        </p:tav>
                                      </p:tavLst>
                                    </p:anim>
                                    <p:anim calcmode="lin" valueType="num">
                                      <p:cBhvr additive="base">
                                        <p:cTn id="123" dur="350" decel="100000" fill="hold"/>
                                        <p:tgtEl>
                                          <p:spTgt spid="124"/>
                                        </p:tgtEl>
                                        <p:attrNameLst>
                                          <p:attrName>ppt_h</p:attrName>
                                        </p:attrNameLst>
                                      </p:cBhvr>
                                      <p:tavLst>
                                        <p:tav tm="0">
                                          <p:val>
                                            <p:strVal val="#ppt_h*0.3"/>
                                          </p:val>
                                        </p:tav>
                                        <p:tav tm="100000">
                                          <p:val>
                                            <p:strVal val="#ppt_h*1.08"/>
                                          </p:val>
                                        </p:tav>
                                      </p:tavLst>
                                    </p:anim>
                                    <p:animEffect transition="in" filter="fade">
                                      <p:cBhvr>
                                        <p:cTn id="124" dur="175"/>
                                        <p:tgtEl>
                                          <p:spTgt spid="124"/>
                                        </p:tgtEl>
                                      </p:cBhvr>
                                    </p:animEffect>
                                    <p:anim calcmode="lin" valueType="num">
                                      <p:cBhvr additive="base">
                                        <p:cTn id="125" dur="160" fill="hold">
                                          <p:stCondLst>
                                            <p:cond delay="350"/>
                                          </p:stCondLst>
                                        </p:cTn>
                                        <p:tgtEl>
                                          <p:spTgt spid="124"/>
                                        </p:tgtEl>
                                        <p:attrNameLst>
                                          <p:attrName>ppt_w</p:attrName>
                                        </p:attrNameLst>
                                      </p:cBhvr>
                                      <p:tavLst>
                                        <p:tav tm="0">
                                          <p:val>
                                            <p:strVal val="#ppt_w*1.08"/>
                                          </p:val>
                                        </p:tav>
                                        <p:tav tm="100000">
                                          <p:val>
                                            <p:strVal val="#ppt_w"/>
                                          </p:val>
                                        </p:tav>
                                      </p:tavLst>
                                    </p:anim>
                                    <p:anim calcmode="lin" valueType="num">
                                      <p:cBhvr additive="base">
                                        <p:cTn id="126" dur="160" fill="hold">
                                          <p:stCondLst>
                                            <p:cond delay="350"/>
                                          </p:stCondLst>
                                        </p:cTn>
                                        <p:tgtEl>
                                          <p:spTgt spid="124"/>
                                        </p:tgtEl>
                                        <p:attrNameLst>
                                          <p:attrName>ppt_h</p:attrName>
                                        </p:attrNameLst>
                                      </p:cBhvr>
                                      <p:tavLst>
                                        <p:tav tm="0">
                                          <p:val>
                                            <p:strVal val="#ppt_h*1.08"/>
                                          </p:val>
                                        </p:tav>
                                        <p:tav tm="100000">
                                          <p:val>
                                            <p:strVal val="#ppt_h"/>
                                          </p:val>
                                        </p:tav>
                                      </p:tavLst>
                                    </p:anim>
                                  </p:childTnLst>
                                </p:cTn>
                              </p:par>
                            </p:childTnLst>
                          </p:cTn>
                        </p:par>
                      </p:childTnLst>
                    </p:cTn>
                  </p:par>
                  <p:par>
                    <p:cTn id="127" fill="hold">
                      <p:stCondLst>
                        <p:cond delay="indefinite"/>
                      </p:stCondLst>
                      <p:childTnLst>
                        <p:par>
                          <p:cTn id="128" fill="hold">
                            <p:stCondLst>
                              <p:cond delay="0"/>
                            </p:stCondLst>
                            <p:childTnLst>
                              <p:par>
                                <p:cTn id="129" presetID="42" presetClass="entr" presetSubtype="0" fill="hold" grpId="0" nodeType="clickEffect">
                                  <p:stCondLst>
                                    <p:cond delay="0"/>
                                  </p:stCondLst>
                                  <p:childTnLst>
                                    <p:set>
                                      <p:cBhvr>
                                        <p:cTn id="130" dur="1" fill="hold">
                                          <p:stCondLst>
                                            <p:cond delay="0"/>
                                          </p:stCondLst>
                                        </p:cTn>
                                        <p:tgtEl>
                                          <p:spTgt spid="125"/>
                                        </p:tgtEl>
                                        <p:attrNameLst>
                                          <p:attrName>style.visibility</p:attrName>
                                        </p:attrNameLst>
                                      </p:cBhvr>
                                      <p:to>
                                        <p:strVal val="visible"/>
                                      </p:to>
                                    </p:set>
                                    <p:animEffect transition="in" filter="fade">
                                      <p:cBhvr>
                                        <p:cTn id="131" dur="500"/>
                                        <p:tgtEl>
                                          <p:spTgt spid="125"/>
                                        </p:tgtEl>
                                      </p:cBhvr>
                                    </p:animEffect>
                                    <p:anim calcmode="lin" valueType="num">
                                      <p:cBhvr additive="base">
                                        <p:cTn id="132" dur="500" decel="100000" fill="hold"/>
                                        <p:tgtEl>
                                          <p:spTgt spid="125"/>
                                        </p:tgtEl>
                                        <p:attrNameLst>
                                          <p:attrName>ppt_x</p:attrName>
                                        </p:attrNameLst>
                                      </p:cBhvr>
                                      <p:tavLst>
                                        <p:tav tm="0">
                                          <p:val>
                                            <p:strVal val="#ppt_x-0.05"/>
                                          </p:val>
                                        </p:tav>
                                        <p:tav tm="100000">
                                          <p:val>
                                            <p:strVal val="#ppt_x"/>
                                          </p:val>
                                        </p:tav>
                                      </p:tavLst>
                                    </p:anim>
                                  </p:childTnLst>
                                </p:cTn>
                              </p:par>
                              <p:par>
                                <p:cTn id="133" presetID="42" presetClass="entr" presetSubtype="0" fill="hold" grpId="0" nodeType="withEffect">
                                  <p:stCondLst>
                                    <p:cond delay="200"/>
                                  </p:stCondLst>
                                  <p:childTnLst>
                                    <p:set>
                                      <p:cBhvr>
                                        <p:cTn id="134" dur="1" fill="hold">
                                          <p:stCondLst>
                                            <p:cond delay="0"/>
                                          </p:stCondLst>
                                        </p:cTn>
                                        <p:tgtEl>
                                          <p:spTgt spid="126"/>
                                        </p:tgtEl>
                                        <p:attrNameLst>
                                          <p:attrName>style.visibility</p:attrName>
                                        </p:attrNameLst>
                                      </p:cBhvr>
                                      <p:to>
                                        <p:strVal val="visible"/>
                                      </p:to>
                                    </p:set>
                                    <p:animEffect transition="in" filter="fade">
                                      <p:cBhvr>
                                        <p:cTn id="135" dur="500"/>
                                        <p:tgtEl>
                                          <p:spTgt spid="126"/>
                                        </p:tgtEl>
                                      </p:cBhvr>
                                    </p:animEffect>
                                    <p:anim calcmode="lin" valueType="num">
                                      <p:cBhvr additive="base">
                                        <p:cTn id="136" dur="500" decel="100000" fill="hold"/>
                                        <p:tgtEl>
                                          <p:spTgt spid="126"/>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07085"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INCREMENT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Increment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Registration + availability + booking + confirmation work together.</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INCREMENT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279</a:t>
            </a:r>
            <a:endParaRPr lang="en-US" sz="850" dirty="0"/>
          </a:p>
        </p:txBody>
      </p:sp>
      <p:sp>
        <p:nvSpPr>
          <p:cNvPr id="101" name="s101"/>
          <p:cNvSpPr/>
          <p:nvPr/>
        </p:nvSpPr>
        <p:spPr>
          <a:xfrm rot="21240000">
            <a:off x="634594" y="2057400"/>
            <a:ext cx="2468880" cy="731520"/>
          </a:xfrm>
          <a:prstGeom prst="roundRect">
            <a:avLst>
              <a:gd name="adj" fmla="val 12000"/>
            </a:avLst>
          </a:prstGeom>
          <a:solidFill>
            <a:srgbClr val="13D0F7">
              <a:alpha val="22000"/>
            </a:srgbClr>
          </a:solidFill>
          <a:ln w="12700">
            <a:solidFill>
              <a:srgbClr val="13D0F7"/>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Patient registration</a:t>
            </a:r>
            <a:endParaRPr lang="en-US" sz="1350" dirty="0"/>
          </a:p>
        </p:txBody>
      </p:sp>
      <p:sp>
        <p:nvSpPr>
          <p:cNvPr id="102" name="s102"/>
          <p:cNvSpPr/>
          <p:nvPr/>
        </p:nvSpPr>
        <p:spPr>
          <a:xfrm rot="300000">
            <a:off x="3560674" y="2377440"/>
            <a:ext cx="2468880" cy="731520"/>
          </a:xfrm>
          <a:prstGeom prst="roundRect">
            <a:avLst>
              <a:gd name="adj" fmla="val 12000"/>
            </a:avLst>
          </a:prstGeom>
          <a:solidFill>
            <a:srgbClr val="60A5FA">
              <a:alpha val="22000"/>
            </a:srgbClr>
          </a:solidFill>
          <a:ln w="12700">
            <a:solidFill>
              <a:srgbClr val="60A5FA"/>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Doctor availability</a:t>
            </a:r>
            <a:endParaRPr lang="en-US" sz="1350" dirty="0"/>
          </a:p>
        </p:txBody>
      </p:sp>
      <p:sp>
        <p:nvSpPr>
          <p:cNvPr id="103" name="s103"/>
          <p:cNvSpPr/>
          <p:nvPr/>
        </p:nvSpPr>
        <p:spPr>
          <a:xfrm rot="21360000">
            <a:off x="6395314" y="2011680"/>
            <a:ext cx="2468880" cy="731520"/>
          </a:xfrm>
          <a:prstGeom prst="roundRect">
            <a:avLst>
              <a:gd name="adj" fmla="val 12000"/>
            </a:avLst>
          </a:prstGeom>
          <a:solidFill>
            <a:srgbClr val="A78BFA">
              <a:alpha val="22000"/>
            </a:srgbClr>
          </a:solidFill>
          <a:ln w="12700">
            <a:solidFill>
              <a:srgbClr val="A78BFA"/>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Appointment booking</a:t>
            </a:r>
            <a:endParaRPr lang="en-US" sz="1350" dirty="0"/>
          </a:p>
        </p:txBody>
      </p:sp>
      <p:sp>
        <p:nvSpPr>
          <p:cNvPr id="104" name="s104"/>
          <p:cNvSpPr/>
          <p:nvPr/>
        </p:nvSpPr>
        <p:spPr>
          <a:xfrm rot="360000">
            <a:off x="9138514" y="2331720"/>
            <a:ext cx="2468880" cy="731520"/>
          </a:xfrm>
          <a:prstGeom prst="roundRect">
            <a:avLst>
              <a:gd name="adj" fmla="val 12000"/>
            </a:avLst>
          </a:prstGeom>
          <a:solidFill>
            <a:srgbClr val="34D399">
              <a:alpha val="22000"/>
            </a:srgbClr>
          </a:solidFill>
          <a:ln w="12700">
            <a:solidFill>
              <a:srgbClr val="34D399"/>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Booking confirmation</a:t>
            </a:r>
            <a:endParaRPr lang="en-US" sz="1350" dirty="0"/>
          </a:p>
        </p:txBody>
      </p:sp>
      <p:sp>
        <p:nvSpPr>
          <p:cNvPr id="105" name="s105"/>
          <p:cNvSpPr/>
          <p:nvPr/>
        </p:nvSpPr>
        <p:spPr>
          <a:xfrm>
            <a:off x="497434" y="2651760"/>
            <a:ext cx="11179454" cy="1371600"/>
          </a:xfrm>
          <a:prstGeom prst="roundRect">
            <a:avLst>
              <a:gd name="adj" fmla="val 10000"/>
            </a:avLst>
          </a:prstGeom>
          <a:solidFill>
            <a:srgbClr val="34D399">
              <a:alpha val="8000"/>
            </a:srgbClr>
          </a:solidFill>
          <a:ln w="31750">
            <a:solidFill>
              <a:srgbClr val="34D399"/>
            </a:solidFill>
            <a:prstDash val="solid"/>
          </a:ln>
        </p:spPr>
        <p:txBody>
          <a:bodyPr wrap="square" lIns="164592" tIns="109728" rIns="137160" bIns="91440" rtlCol="0" anchor="t">
            <a:noAutofit/>
          </a:bodyPr>
          <a:lstStyle/>
          <a:p>
            <a:endParaRPr lang="en-US"/>
          </a:p>
        </p:txBody>
      </p:sp>
      <p:sp>
        <p:nvSpPr>
          <p:cNvPr id="106" name="s106"/>
          <p:cNvSpPr/>
          <p:nvPr/>
        </p:nvSpPr>
        <p:spPr>
          <a:xfrm>
            <a:off x="4624121" y="3813048"/>
            <a:ext cx="2926080" cy="384048"/>
          </a:xfrm>
          <a:prstGeom prst="roundRect">
            <a:avLst>
              <a:gd name="adj" fmla="val 50000"/>
            </a:avLst>
          </a:prstGeom>
          <a:solidFill>
            <a:srgbClr val="34D399"/>
          </a:solidFill>
          <a:ln w="12700">
            <a:solidFill>
              <a:srgbClr val="34D399"/>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0F172A"/>
                </a:solidFill>
                <a:latin typeface="Segoe UI"/>
                <a:ea typeface="Segoe UI"/>
                <a:cs typeface="Segoe UI"/>
              </a:rPr>
              <a:t>ONE USABLE INCREMENT</a:t>
            </a:r>
            <a:endParaRPr lang="en-US" sz="1200" dirty="0"/>
          </a:p>
        </p:txBody>
      </p:sp>
      <p:sp>
        <p:nvSpPr>
          <p:cNvPr id="107" name="s107"/>
          <p:cNvSpPr/>
          <p:nvPr/>
        </p:nvSpPr>
        <p:spPr>
          <a:xfrm>
            <a:off x="543154" y="4572000"/>
            <a:ext cx="11088014" cy="548640"/>
          </a:xfrm>
          <a:prstGeom prst="roundRect">
            <a:avLst>
              <a:gd name="adj" fmla="val 12000"/>
            </a:avLst>
          </a:prstGeom>
          <a:solidFill>
            <a:srgbClr val="111B2E"/>
          </a:solidFill>
          <a:ln w="12700">
            <a:solidFill>
              <a:srgbClr val="34D399"/>
            </a:solidFill>
            <a:prstDash val="solid"/>
          </a:ln>
        </p:spPr>
        <p:txBody>
          <a:bodyPr wrap="square" lIns="228600" tIns="45720" rIns="228600" bIns="45720" rtlCol="0" anchor="ctr">
            <a:noAutofit/>
          </a:bodyPr>
          <a:lstStyle/>
          <a:p>
            <a:pPr marL="0" indent="0" algn="ctr">
              <a:spcBef>
                <a:spcPts val="0"/>
              </a:spcBef>
              <a:spcAft>
                <a:spcPts val="0"/>
              </a:spcAft>
              <a:buNone/>
            </a:pPr>
            <a:r>
              <a:rPr lang="en-US" sz="1400" b="1" dirty="0">
                <a:solidFill>
                  <a:srgbClr val="34D399"/>
                </a:solidFill>
                <a:latin typeface="Segoe UI"/>
                <a:ea typeface="Segoe UI"/>
                <a:cs typeface="Segoe UI"/>
              </a:rPr>
              <a:t>Increment </a:t>
            </a:r>
            <a:r>
              <a:rPr lang="en-US" sz="1400" b="0" dirty="0">
                <a:solidFill>
                  <a:srgbClr val="E2E8F0"/>
                </a:solidFill>
                <a:latin typeface="Segoe UI"/>
                <a:ea typeface="Segoe UI"/>
                <a:cs typeface="Segoe UI"/>
              </a:rPr>
              <a:t>= a concrete step toward the Product Goal. Usable. Meets the DoD.</a:t>
            </a:r>
            <a:endParaRPr lang="en-US" sz="1400" dirty="0"/>
          </a:p>
        </p:txBody>
      </p:sp>
      <p:sp>
        <p:nvSpPr>
          <p:cNvPr id="108" name="s108"/>
          <p:cNvSpPr/>
          <p:nvPr/>
        </p:nvSpPr>
        <p:spPr>
          <a:xfrm>
            <a:off x="543154" y="5257800"/>
            <a:ext cx="2634844" cy="548640"/>
          </a:xfrm>
          <a:prstGeom prst="roundRect">
            <a:avLst>
              <a:gd name="adj" fmla="val 15000"/>
            </a:avLst>
          </a:prstGeom>
          <a:solidFill>
            <a:srgbClr val="111B2E"/>
          </a:solidFill>
          <a:ln w="12700">
            <a:solidFill>
              <a:srgbClr val="1E3A5F"/>
            </a:solidFill>
            <a:prstDash val="solid"/>
          </a:ln>
        </p:spPr>
        <p:txBody>
          <a:bodyPr wrap="square" lIns="91440" tIns="0" rIns="91440" bIns="0" rtlCol="0" anchor="ctr">
            <a:noAutofit/>
          </a:bodyPr>
          <a:lstStyle/>
          <a:p>
            <a:pPr marL="0" indent="0" algn="ctr">
              <a:spcBef>
                <a:spcPts val="0"/>
              </a:spcBef>
              <a:spcAft>
                <a:spcPts val="0"/>
              </a:spcAft>
              <a:buNone/>
            </a:pPr>
            <a:r>
              <a:rPr lang="en-US" sz="1150" b="1" dirty="0">
                <a:solidFill>
                  <a:srgbClr val="E2E8F0"/>
                </a:solidFill>
                <a:latin typeface="Segoe UI"/>
                <a:ea typeface="Segoe UI"/>
                <a:cs typeface="Segoe UI"/>
              </a:rPr>
              <a:t>Several Increments per Sprint are possible</a:t>
            </a:r>
            <a:endParaRPr lang="en-US" sz="1150" dirty="0"/>
          </a:p>
        </p:txBody>
      </p:sp>
      <p:sp>
        <p:nvSpPr>
          <p:cNvPr id="109" name="s109"/>
          <p:cNvSpPr/>
          <p:nvPr/>
        </p:nvSpPr>
        <p:spPr>
          <a:xfrm>
            <a:off x="3360877" y="5257800"/>
            <a:ext cx="2634844" cy="548640"/>
          </a:xfrm>
          <a:prstGeom prst="roundRect">
            <a:avLst>
              <a:gd name="adj" fmla="val 15000"/>
            </a:avLst>
          </a:prstGeom>
          <a:solidFill>
            <a:srgbClr val="111B2E"/>
          </a:solidFill>
          <a:ln w="12700">
            <a:solidFill>
              <a:srgbClr val="1E3A5F"/>
            </a:solidFill>
            <a:prstDash val="solid"/>
          </a:ln>
        </p:spPr>
        <p:txBody>
          <a:bodyPr wrap="square" lIns="91440" tIns="0" rIns="91440" bIns="0" rtlCol="0" anchor="ctr">
            <a:noAutofit/>
          </a:bodyPr>
          <a:lstStyle/>
          <a:p>
            <a:pPr marL="0" indent="0" algn="ctr">
              <a:spcBef>
                <a:spcPts val="0"/>
              </a:spcBef>
              <a:spcAft>
                <a:spcPts val="0"/>
              </a:spcAft>
              <a:buNone/>
            </a:pPr>
            <a:r>
              <a:rPr lang="en-US" sz="1150" b="1" dirty="0">
                <a:solidFill>
                  <a:srgbClr val="E2E8F0"/>
                </a:solidFill>
                <a:latin typeface="Segoe UI"/>
                <a:ea typeface="Segoe UI"/>
                <a:cs typeface="Segoe UI"/>
              </a:rPr>
              <a:t>May be released before the Sprint ends</a:t>
            </a:r>
            <a:endParaRPr lang="en-US" sz="1150" dirty="0"/>
          </a:p>
        </p:txBody>
      </p:sp>
      <p:sp>
        <p:nvSpPr>
          <p:cNvPr id="110" name="s110"/>
          <p:cNvSpPr/>
          <p:nvPr/>
        </p:nvSpPr>
        <p:spPr>
          <a:xfrm>
            <a:off x="6178601" y="5257800"/>
            <a:ext cx="2634844" cy="548640"/>
          </a:xfrm>
          <a:prstGeom prst="roundRect">
            <a:avLst>
              <a:gd name="adj" fmla="val 15000"/>
            </a:avLst>
          </a:prstGeom>
          <a:solidFill>
            <a:srgbClr val="111B2E"/>
          </a:solidFill>
          <a:ln w="12700">
            <a:solidFill>
              <a:srgbClr val="1E3A5F"/>
            </a:solidFill>
            <a:prstDash val="solid"/>
          </a:ln>
        </p:spPr>
        <p:txBody>
          <a:bodyPr wrap="square" lIns="91440" tIns="0" rIns="91440" bIns="0" rtlCol="0" anchor="ctr">
            <a:noAutofit/>
          </a:bodyPr>
          <a:lstStyle/>
          <a:p>
            <a:pPr marL="0" indent="0" algn="ctr">
              <a:spcBef>
                <a:spcPts val="0"/>
              </a:spcBef>
              <a:spcAft>
                <a:spcPts val="0"/>
              </a:spcAft>
              <a:buNone/>
            </a:pPr>
            <a:r>
              <a:rPr lang="en-US" sz="1150" b="1" dirty="0">
                <a:solidFill>
                  <a:srgbClr val="E2E8F0"/>
                </a:solidFill>
                <a:latin typeface="Segoe UI"/>
                <a:ea typeface="Segoe UI"/>
                <a:cs typeface="Segoe UI"/>
              </a:rPr>
              <a:t>The Review is not a release gate</a:t>
            </a:r>
            <a:endParaRPr lang="en-US" sz="1150" dirty="0"/>
          </a:p>
        </p:txBody>
      </p:sp>
      <p:sp>
        <p:nvSpPr>
          <p:cNvPr id="111" name="s111"/>
          <p:cNvSpPr/>
          <p:nvPr/>
        </p:nvSpPr>
        <p:spPr>
          <a:xfrm>
            <a:off x="8996324" y="5257800"/>
            <a:ext cx="2634844" cy="548640"/>
          </a:xfrm>
          <a:prstGeom prst="roundRect">
            <a:avLst>
              <a:gd name="adj" fmla="val 15000"/>
            </a:avLst>
          </a:prstGeom>
          <a:solidFill>
            <a:srgbClr val="111B2E"/>
          </a:solidFill>
          <a:ln w="12700">
            <a:solidFill>
              <a:srgbClr val="1E3A5F"/>
            </a:solidFill>
            <a:prstDash val="solid"/>
          </a:ln>
        </p:spPr>
        <p:txBody>
          <a:bodyPr wrap="square" lIns="91440" tIns="0" rIns="91440" bIns="0" rtlCol="0" anchor="ctr">
            <a:noAutofit/>
          </a:bodyPr>
          <a:lstStyle/>
          <a:p>
            <a:pPr marL="0" indent="0" algn="ctr">
              <a:spcBef>
                <a:spcPts val="0"/>
              </a:spcBef>
              <a:spcAft>
                <a:spcPts val="0"/>
              </a:spcAft>
              <a:buNone/>
            </a:pPr>
            <a:r>
              <a:rPr lang="en-US" sz="1150" b="1" dirty="0">
                <a:solidFill>
                  <a:srgbClr val="E2E8F0"/>
                </a:solidFill>
                <a:latin typeface="Segoe UI"/>
                <a:ea typeface="Segoe UI"/>
                <a:cs typeface="Segoe UI"/>
              </a:rPr>
              <a:t>Unfinished features ≠ Increment</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53" presetClass="entr" presetSubtype="16" fill="hold" grpId="0" nodeType="withEffect">
                                  <p:stCondLst>
                                    <p:cond delay="130"/>
                                  </p:stCondLst>
                                  <p:childTnLst>
                                    <p:set>
                                      <p:cBhvr>
                                        <p:cTn id="13" dur="1" fill="hold">
                                          <p:stCondLst>
                                            <p:cond delay="0"/>
                                          </p:stCondLst>
                                        </p:cTn>
                                        <p:tgtEl>
                                          <p:spTgt spid="102"/>
                                        </p:tgtEl>
                                        <p:attrNameLst>
                                          <p:attrName>style.visibility</p:attrName>
                                        </p:attrNameLst>
                                      </p:cBhvr>
                                      <p:to>
                                        <p:strVal val="visible"/>
                                      </p:to>
                                    </p:set>
                                    <p:anim calcmode="lin" valueType="num">
                                      <p:cBhvr additive="base">
                                        <p:cTn id="14" dur="500" decel="100000" fill="hold"/>
                                        <p:tgtEl>
                                          <p:spTgt spid="102"/>
                                        </p:tgtEl>
                                        <p:attrNameLst>
                                          <p:attrName>ppt_w</p:attrName>
                                        </p:attrNameLst>
                                      </p:cBhvr>
                                      <p:tavLst>
                                        <p:tav tm="0">
                                          <p:val>
                                            <p:strVal val="#ppt_w*0.3"/>
                                          </p:val>
                                        </p:tav>
                                        <p:tav tm="100000">
                                          <p:val>
                                            <p:strVal val="#ppt_w*1.08"/>
                                          </p:val>
                                        </p:tav>
                                      </p:tavLst>
                                    </p:anim>
                                    <p:anim calcmode="lin" valueType="num">
                                      <p:cBhvr additive="base">
                                        <p:cTn id="15" dur="500" decel="100000" fill="hold"/>
                                        <p:tgtEl>
                                          <p:spTgt spid="102"/>
                                        </p:tgtEl>
                                        <p:attrNameLst>
                                          <p:attrName>ppt_h</p:attrName>
                                        </p:attrNameLst>
                                      </p:cBhvr>
                                      <p:tavLst>
                                        <p:tav tm="0">
                                          <p:val>
                                            <p:strVal val="#ppt_h*0.3"/>
                                          </p:val>
                                        </p:tav>
                                        <p:tav tm="100000">
                                          <p:val>
                                            <p:strVal val="#ppt_h*1.08"/>
                                          </p:val>
                                        </p:tav>
                                      </p:tavLst>
                                    </p:anim>
                                    <p:animEffect transition="in" filter="fade">
                                      <p:cBhvr>
                                        <p:cTn id="16" dur="250"/>
                                        <p:tgtEl>
                                          <p:spTgt spid="102"/>
                                        </p:tgtEl>
                                      </p:cBhvr>
                                    </p:animEffect>
                                    <p:anim calcmode="lin" valueType="num">
                                      <p:cBhvr additive="base">
                                        <p:cTn id="17" dur="160" fill="hold">
                                          <p:stCondLst>
                                            <p:cond delay="500"/>
                                          </p:stCondLst>
                                        </p:cTn>
                                        <p:tgtEl>
                                          <p:spTgt spid="102"/>
                                        </p:tgtEl>
                                        <p:attrNameLst>
                                          <p:attrName>ppt_w</p:attrName>
                                        </p:attrNameLst>
                                      </p:cBhvr>
                                      <p:tavLst>
                                        <p:tav tm="0">
                                          <p:val>
                                            <p:strVal val="#ppt_w*1.08"/>
                                          </p:val>
                                        </p:tav>
                                        <p:tav tm="100000">
                                          <p:val>
                                            <p:strVal val="#ppt_w"/>
                                          </p:val>
                                        </p:tav>
                                      </p:tavLst>
                                    </p:anim>
                                    <p:anim calcmode="lin" valueType="num">
                                      <p:cBhvr additive="base">
                                        <p:cTn id="18" dur="160" fill="hold">
                                          <p:stCondLst>
                                            <p:cond delay="500"/>
                                          </p:stCondLst>
                                        </p:cTn>
                                        <p:tgtEl>
                                          <p:spTgt spid="102"/>
                                        </p:tgtEl>
                                        <p:attrNameLst>
                                          <p:attrName>ppt_h</p:attrName>
                                        </p:attrNameLst>
                                      </p:cBhvr>
                                      <p:tavLst>
                                        <p:tav tm="0">
                                          <p:val>
                                            <p:strVal val="#ppt_h*1.08"/>
                                          </p:val>
                                        </p:tav>
                                        <p:tav tm="100000">
                                          <p:val>
                                            <p:strVal val="#ppt_h"/>
                                          </p:val>
                                        </p:tav>
                                      </p:tavLst>
                                    </p:anim>
                                  </p:childTnLst>
                                </p:cTn>
                              </p:par>
                              <p:par>
                                <p:cTn id="19" presetID="53" presetClass="entr" presetSubtype="16" fill="hold" grpId="0" nodeType="withEffect">
                                  <p:stCondLst>
                                    <p:cond delay="260"/>
                                  </p:stCondLst>
                                  <p:childTnLst>
                                    <p:set>
                                      <p:cBhvr>
                                        <p:cTn id="20" dur="1" fill="hold">
                                          <p:stCondLst>
                                            <p:cond delay="0"/>
                                          </p:stCondLst>
                                        </p:cTn>
                                        <p:tgtEl>
                                          <p:spTgt spid="103"/>
                                        </p:tgtEl>
                                        <p:attrNameLst>
                                          <p:attrName>style.visibility</p:attrName>
                                        </p:attrNameLst>
                                      </p:cBhvr>
                                      <p:to>
                                        <p:strVal val="visible"/>
                                      </p:to>
                                    </p:set>
                                    <p:anim calcmode="lin" valueType="num">
                                      <p:cBhvr additive="base">
                                        <p:cTn id="21" dur="500" decel="100000" fill="hold"/>
                                        <p:tgtEl>
                                          <p:spTgt spid="103"/>
                                        </p:tgtEl>
                                        <p:attrNameLst>
                                          <p:attrName>ppt_w</p:attrName>
                                        </p:attrNameLst>
                                      </p:cBhvr>
                                      <p:tavLst>
                                        <p:tav tm="0">
                                          <p:val>
                                            <p:strVal val="#ppt_w*0.3"/>
                                          </p:val>
                                        </p:tav>
                                        <p:tav tm="100000">
                                          <p:val>
                                            <p:strVal val="#ppt_w*1.08"/>
                                          </p:val>
                                        </p:tav>
                                      </p:tavLst>
                                    </p:anim>
                                    <p:anim calcmode="lin" valueType="num">
                                      <p:cBhvr additive="base">
                                        <p:cTn id="22" dur="500" decel="100000" fill="hold"/>
                                        <p:tgtEl>
                                          <p:spTgt spid="103"/>
                                        </p:tgtEl>
                                        <p:attrNameLst>
                                          <p:attrName>ppt_h</p:attrName>
                                        </p:attrNameLst>
                                      </p:cBhvr>
                                      <p:tavLst>
                                        <p:tav tm="0">
                                          <p:val>
                                            <p:strVal val="#ppt_h*0.3"/>
                                          </p:val>
                                        </p:tav>
                                        <p:tav tm="100000">
                                          <p:val>
                                            <p:strVal val="#ppt_h*1.08"/>
                                          </p:val>
                                        </p:tav>
                                      </p:tavLst>
                                    </p:anim>
                                    <p:animEffect transition="in" filter="fade">
                                      <p:cBhvr>
                                        <p:cTn id="23" dur="250"/>
                                        <p:tgtEl>
                                          <p:spTgt spid="103"/>
                                        </p:tgtEl>
                                      </p:cBhvr>
                                    </p:animEffect>
                                    <p:anim calcmode="lin" valueType="num">
                                      <p:cBhvr additive="base">
                                        <p:cTn id="24" dur="160" fill="hold">
                                          <p:stCondLst>
                                            <p:cond delay="500"/>
                                          </p:stCondLst>
                                        </p:cTn>
                                        <p:tgtEl>
                                          <p:spTgt spid="103"/>
                                        </p:tgtEl>
                                        <p:attrNameLst>
                                          <p:attrName>ppt_w</p:attrName>
                                        </p:attrNameLst>
                                      </p:cBhvr>
                                      <p:tavLst>
                                        <p:tav tm="0">
                                          <p:val>
                                            <p:strVal val="#ppt_w*1.08"/>
                                          </p:val>
                                        </p:tav>
                                        <p:tav tm="100000">
                                          <p:val>
                                            <p:strVal val="#ppt_w"/>
                                          </p:val>
                                        </p:tav>
                                      </p:tavLst>
                                    </p:anim>
                                    <p:anim calcmode="lin" valueType="num">
                                      <p:cBhvr additive="base">
                                        <p:cTn id="25" dur="160" fill="hold">
                                          <p:stCondLst>
                                            <p:cond delay="500"/>
                                          </p:stCondLst>
                                        </p:cTn>
                                        <p:tgtEl>
                                          <p:spTgt spid="103"/>
                                        </p:tgtEl>
                                        <p:attrNameLst>
                                          <p:attrName>ppt_h</p:attrName>
                                        </p:attrNameLst>
                                      </p:cBhvr>
                                      <p:tavLst>
                                        <p:tav tm="0">
                                          <p:val>
                                            <p:strVal val="#ppt_h*1.08"/>
                                          </p:val>
                                        </p:tav>
                                        <p:tav tm="100000">
                                          <p:val>
                                            <p:strVal val="#ppt_h"/>
                                          </p:val>
                                        </p:tav>
                                      </p:tavLst>
                                    </p:anim>
                                  </p:childTnLst>
                                </p:cTn>
                              </p:par>
                              <p:par>
                                <p:cTn id="26" presetID="53" presetClass="entr" presetSubtype="16" fill="hold" grpId="0" nodeType="withEffect">
                                  <p:stCondLst>
                                    <p:cond delay="390"/>
                                  </p:stCondLst>
                                  <p:childTnLst>
                                    <p:set>
                                      <p:cBhvr>
                                        <p:cTn id="27" dur="1" fill="hold">
                                          <p:stCondLst>
                                            <p:cond delay="0"/>
                                          </p:stCondLst>
                                        </p:cTn>
                                        <p:tgtEl>
                                          <p:spTgt spid="104"/>
                                        </p:tgtEl>
                                        <p:attrNameLst>
                                          <p:attrName>style.visibility</p:attrName>
                                        </p:attrNameLst>
                                      </p:cBhvr>
                                      <p:to>
                                        <p:strVal val="visible"/>
                                      </p:to>
                                    </p:set>
                                    <p:anim calcmode="lin" valueType="num">
                                      <p:cBhvr additive="base">
                                        <p:cTn id="28"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29" dur="500" decel="100000" fill="hold"/>
                                        <p:tgtEl>
                                          <p:spTgt spid="104"/>
                                        </p:tgtEl>
                                        <p:attrNameLst>
                                          <p:attrName>ppt_h</p:attrName>
                                        </p:attrNameLst>
                                      </p:cBhvr>
                                      <p:tavLst>
                                        <p:tav tm="0">
                                          <p:val>
                                            <p:strVal val="#ppt_h*0.3"/>
                                          </p:val>
                                        </p:tav>
                                        <p:tav tm="100000">
                                          <p:val>
                                            <p:strVal val="#ppt_h*1.08"/>
                                          </p:val>
                                        </p:tav>
                                      </p:tavLst>
                                    </p:anim>
                                    <p:animEffect transition="in" filter="fade">
                                      <p:cBhvr>
                                        <p:cTn id="30" dur="250"/>
                                        <p:tgtEl>
                                          <p:spTgt spid="104"/>
                                        </p:tgtEl>
                                      </p:cBhvr>
                                    </p:animEffect>
                                    <p:anim calcmode="lin" valueType="num">
                                      <p:cBhvr additive="base">
                                        <p:cTn id="31"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32"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childTnLst>
                          </p:cTn>
                        </p:par>
                      </p:childTnLst>
                    </p:cTn>
                  </p:par>
                  <p:par>
                    <p:cTn id="33" fill="hold">
                      <p:stCondLst>
                        <p:cond delay="indefinite"/>
                      </p:stCondLst>
                      <p:childTnLst>
                        <p:par>
                          <p:cTn id="34" fill="hold">
                            <p:stCondLst>
                              <p:cond delay="0"/>
                            </p:stCondLst>
                            <p:childTnLst>
                              <p:par>
                                <p:cTn id="35" presetID="0" presetClass="path" presetSubtype="0" fill="hold" grpId="2" nodeType="clickEffect">
                                  <p:stCondLst>
                                    <p:cond delay="0"/>
                                  </p:stCondLst>
                                  <p:childTnLst>
                                    <p:animMotion origin="layout" path="M 0 0 L 0.0050 0.1333 E" pathEditMode="relative" ptsTypes="AA">
                                      <p:cBhvr>
                                        <p:cTn id="36" dur="900" accel="20000" decel="60000" fill="hold"/>
                                        <p:tgtEl>
                                          <p:spTgt spid="101"/>
                                        </p:tgtEl>
                                        <p:attrNameLst>
                                          <p:attrName>ppt_x</p:attrName>
                                          <p:attrName>ppt_y</p:attrName>
                                        </p:attrNameLst>
                                      </p:cBhvr>
                                    </p:animMotion>
                                    <p:animRot by="360000">
                                      <p:cBhvr>
                                        <p:cTn id="37" dur="900" fill="hold"/>
                                        <p:tgtEl>
                                          <p:spTgt spid="101"/>
                                        </p:tgtEl>
                                        <p:attrNameLst>
                                          <p:attrName>r</p:attrName>
                                        </p:attrNameLst>
                                      </p:cBhvr>
                                    </p:animRot>
                                  </p:childTnLst>
                                </p:cTn>
                              </p:par>
                              <p:par>
                                <p:cTn id="38" presetID="0" presetClass="path" presetSubtype="0" fill="hold" grpId="2" nodeType="withEffect">
                                  <p:stCondLst>
                                    <p:cond delay="80"/>
                                  </p:stCondLst>
                                  <p:childTnLst>
                                    <p:animMotion origin="layout" path="M 0 0 L -0.0077 0.0867 E" pathEditMode="relative" ptsTypes="AA">
                                      <p:cBhvr>
                                        <p:cTn id="39" dur="900" accel="20000" decel="60000" fill="hold"/>
                                        <p:tgtEl>
                                          <p:spTgt spid="102"/>
                                        </p:tgtEl>
                                        <p:attrNameLst>
                                          <p:attrName>ppt_x</p:attrName>
                                          <p:attrName>ppt_y</p:attrName>
                                        </p:attrNameLst>
                                      </p:cBhvr>
                                    </p:animMotion>
                                    <p:animRot by="-300000">
                                      <p:cBhvr>
                                        <p:cTn id="40" dur="900" fill="hold"/>
                                        <p:tgtEl>
                                          <p:spTgt spid="102"/>
                                        </p:tgtEl>
                                        <p:attrNameLst>
                                          <p:attrName>r</p:attrName>
                                        </p:attrNameLst>
                                      </p:cBhvr>
                                    </p:animRot>
                                  </p:childTnLst>
                                </p:cTn>
                              </p:par>
                              <p:par>
                                <p:cTn id="41" presetID="0" presetClass="path" presetSubtype="0" fill="hold" grpId="2" nodeType="withEffect">
                                  <p:stCondLst>
                                    <p:cond delay="160"/>
                                  </p:stCondLst>
                                  <p:childTnLst>
                                    <p:animMotion origin="layout" path="M 0 0 L -0.0128 0.1400 E" pathEditMode="relative" ptsTypes="AA">
                                      <p:cBhvr>
                                        <p:cTn id="42" dur="900" accel="20000" decel="60000" fill="hold"/>
                                        <p:tgtEl>
                                          <p:spTgt spid="103"/>
                                        </p:tgtEl>
                                        <p:attrNameLst>
                                          <p:attrName>ppt_x</p:attrName>
                                          <p:attrName>ppt_y</p:attrName>
                                        </p:attrNameLst>
                                      </p:cBhvr>
                                    </p:animMotion>
                                    <p:animRot by="240000">
                                      <p:cBhvr>
                                        <p:cTn id="43" dur="900" fill="hold"/>
                                        <p:tgtEl>
                                          <p:spTgt spid="103"/>
                                        </p:tgtEl>
                                        <p:attrNameLst>
                                          <p:attrName>r</p:attrName>
                                        </p:attrNameLst>
                                      </p:cBhvr>
                                    </p:animRot>
                                  </p:childTnLst>
                                </p:cTn>
                              </p:par>
                              <p:par>
                                <p:cTn id="44" presetID="0" presetClass="path" presetSubtype="0" fill="hold" grpId="2" nodeType="withEffect">
                                  <p:stCondLst>
                                    <p:cond delay="240"/>
                                  </p:stCondLst>
                                  <p:childTnLst>
                                    <p:animMotion origin="layout" path="M 0 0 L -0.0105 0.0933 E" pathEditMode="relative" ptsTypes="AA">
                                      <p:cBhvr>
                                        <p:cTn id="45" dur="900" accel="20000" decel="60000" fill="hold"/>
                                        <p:tgtEl>
                                          <p:spTgt spid="104"/>
                                        </p:tgtEl>
                                        <p:attrNameLst>
                                          <p:attrName>ppt_x</p:attrName>
                                          <p:attrName>ppt_y</p:attrName>
                                        </p:attrNameLst>
                                      </p:cBhvr>
                                    </p:animMotion>
                                    <p:animRot by="-360000">
                                      <p:cBhvr>
                                        <p:cTn id="46" dur="900" fill="hold"/>
                                        <p:tgtEl>
                                          <p:spTgt spid="104"/>
                                        </p:tgtEl>
                                        <p:attrNameLst>
                                          <p:attrName>r</p:attrName>
                                        </p:attrNameLst>
                                      </p:cBhvr>
                                    </p:animRot>
                                  </p:childTnLst>
                                </p:cTn>
                              </p:par>
                              <p:par>
                                <p:cTn id="47" presetID="53" presetClass="entr" presetSubtype="16" fill="hold" grpId="0" nodeType="withEffect">
                                  <p:stCondLst>
                                    <p:cond delay="740"/>
                                  </p:stCondLst>
                                  <p:childTnLst>
                                    <p:set>
                                      <p:cBhvr>
                                        <p:cTn id="48" dur="1" fill="hold">
                                          <p:stCondLst>
                                            <p:cond delay="0"/>
                                          </p:stCondLst>
                                        </p:cTn>
                                        <p:tgtEl>
                                          <p:spTgt spid="105"/>
                                        </p:tgtEl>
                                        <p:attrNameLst>
                                          <p:attrName>style.visibility</p:attrName>
                                        </p:attrNameLst>
                                      </p:cBhvr>
                                      <p:to>
                                        <p:strVal val="visible"/>
                                      </p:to>
                                    </p:set>
                                    <p:anim calcmode="lin" valueType="num">
                                      <p:cBhvr additive="base">
                                        <p:cTn id="49" dur="5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50" dur="500" decel="100000" fill="hold"/>
                                        <p:tgtEl>
                                          <p:spTgt spid="105"/>
                                        </p:tgtEl>
                                        <p:attrNameLst>
                                          <p:attrName>ppt_h</p:attrName>
                                        </p:attrNameLst>
                                      </p:cBhvr>
                                      <p:tavLst>
                                        <p:tav tm="0">
                                          <p:val>
                                            <p:strVal val="#ppt_h*0.55"/>
                                          </p:val>
                                        </p:tav>
                                        <p:tav tm="100000">
                                          <p:val>
                                            <p:strVal val="#ppt_h"/>
                                          </p:val>
                                        </p:tav>
                                      </p:tavLst>
                                    </p:anim>
                                    <p:animEffect transition="in" filter="fade">
                                      <p:cBhvr>
                                        <p:cTn id="51" dur="500"/>
                                        <p:tgtEl>
                                          <p:spTgt spid="105"/>
                                        </p:tgtEl>
                                      </p:cBhvr>
                                    </p:animEffect>
                                  </p:childTnLst>
                                </p:cTn>
                              </p:par>
                              <p:par>
                                <p:cTn id="52" presetID="53" presetClass="entr" presetSubtype="16" fill="hold" grpId="0" nodeType="withEffect">
                                  <p:stCondLst>
                                    <p:cond delay="890"/>
                                  </p:stCondLst>
                                  <p:childTnLst>
                                    <p:set>
                                      <p:cBhvr>
                                        <p:cTn id="53" dur="1" fill="hold">
                                          <p:stCondLst>
                                            <p:cond delay="0"/>
                                          </p:stCondLst>
                                        </p:cTn>
                                        <p:tgtEl>
                                          <p:spTgt spid="106"/>
                                        </p:tgtEl>
                                        <p:attrNameLst>
                                          <p:attrName>style.visibility</p:attrName>
                                        </p:attrNameLst>
                                      </p:cBhvr>
                                      <p:to>
                                        <p:strVal val="visible"/>
                                      </p:to>
                                    </p:set>
                                    <p:anim calcmode="lin" valueType="num">
                                      <p:cBhvr additive="base">
                                        <p:cTn id="54"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55" dur="500" decel="100000" fill="hold"/>
                                        <p:tgtEl>
                                          <p:spTgt spid="106"/>
                                        </p:tgtEl>
                                        <p:attrNameLst>
                                          <p:attrName>ppt_h</p:attrName>
                                        </p:attrNameLst>
                                      </p:cBhvr>
                                      <p:tavLst>
                                        <p:tav tm="0">
                                          <p:val>
                                            <p:strVal val="#ppt_h*0.3"/>
                                          </p:val>
                                        </p:tav>
                                        <p:tav tm="100000">
                                          <p:val>
                                            <p:strVal val="#ppt_h*1.08"/>
                                          </p:val>
                                        </p:tav>
                                      </p:tavLst>
                                    </p:anim>
                                    <p:animEffect transition="in" filter="fade">
                                      <p:cBhvr>
                                        <p:cTn id="56" dur="250"/>
                                        <p:tgtEl>
                                          <p:spTgt spid="106"/>
                                        </p:tgtEl>
                                      </p:cBhvr>
                                    </p:animEffect>
                                    <p:anim calcmode="lin" valueType="num">
                                      <p:cBhvr additive="base">
                                        <p:cTn id="57"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58"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107"/>
                                        </p:tgtEl>
                                        <p:attrNameLst>
                                          <p:attrName>style.visibility</p:attrName>
                                        </p:attrNameLst>
                                      </p:cBhvr>
                                      <p:to>
                                        <p:strVal val="visible"/>
                                      </p:to>
                                    </p:set>
                                    <p:animEffect transition="in" filter="fade">
                                      <p:cBhvr>
                                        <p:cTn id="63" dur="500"/>
                                        <p:tgtEl>
                                          <p:spTgt spid="107"/>
                                        </p:tgtEl>
                                      </p:cBhvr>
                                    </p:animEffect>
                                    <p:anim calcmode="lin" valueType="num">
                                      <p:cBhvr additive="base">
                                        <p:cTn id="64" dur="500" decel="100000" fill="hold"/>
                                        <p:tgtEl>
                                          <p:spTgt spid="107"/>
                                        </p:tgtEl>
                                        <p:attrNameLst>
                                          <p:attrName>ppt_y</p:attrName>
                                        </p:attrNameLst>
                                      </p:cBhvr>
                                      <p:tavLst>
                                        <p:tav tm="0">
                                          <p:val>
                                            <p:strVal val="#ppt_y+0.06"/>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08"/>
                                        </p:tgtEl>
                                        <p:attrNameLst>
                                          <p:attrName>style.visibility</p:attrName>
                                        </p:attrNameLst>
                                      </p:cBhvr>
                                      <p:to>
                                        <p:strVal val="visible"/>
                                      </p:to>
                                    </p:set>
                                    <p:animEffect transition="in" filter="fade">
                                      <p:cBhvr>
                                        <p:cTn id="69" dur="500"/>
                                        <p:tgtEl>
                                          <p:spTgt spid="108"/>
                                        </p:tgtEl>
                                      </p:cBhvr>
                                    </p:animEffect>
                                    <p:anim calcmode="lin" valueType="num">
                                      <p:cBhvr additive="base">
                                        <p:cTn id="70" dur="500" decel="100000" fill="hold"/>
                                        <p:tgtEl>
                                          <p:spTgt spid="108"/>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100"/>
                                  </p:stCondLst>
                                  <p:childTnLst>
                                    <p:set>
                                      <p:cBhvr>
                                        <p:cTn id="72" dur="1" fill="hold">
                                          <p:stCondLst>
                                            <p:cond delay="0"/>
                                          </p:stCondLst>
                                        </p:cTn>
                                        <p:tgtEl>
                                          <p:spTgt spid="109"/>
                                        </p:tgtEl>
                                        <p:attrNameLst>
                                          <p:attrName>style.visibility</p:attrName>
                                        </p:attrNameLst>
                                      </p:cBhvr>
                                      <p:to>
                                        <p:strVal val="visible"/>
                                      </p:to>
                                    </p:set>
                                    <p:animEffect transition="in" filter="fade">
                                      <p:cBhvr>
                                        <p:cTn id="73" dur="500"/>
                                        <p:tgtEl>
                                          <p:spTgt spid="109"/>
                                        </p:tgtEl>
                                      </p:cBhvr>
                                    </p:animEffect>
                                    <p:anim calcmode="lin" valueType="num">
                                      <p:cBhvr additive="base">
                                        <p:cTn id="74" dur="500" decel="100000" fill="hold"/>
                                        <p:tgtEl>
                                          <p:spTgt spid="109"/>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200"/>
                                  </p:stCondLst>
                                  <p:childTnLst>
                                    <p:set>
                                      <p:cBhvr>
                                        <p:cTn id="76" dur="1" fill="hold">
                                          <p:stCondLst>
                                            <p:cond delay="0"/>
                                          </p:stCondLst>
                                        </p:cTn>
                                        <p:tgtEl>
                                          <p:spTgt spid="110"/>
                                        </p:tgtEl>
                                        <p:attrNameLst>
                                          <p:attrName>style.visibility</p:attrName>
                                        </p:attrNameLst>
                                      </p:cBhvr>
                                      <p:to>
                                        <p:strVal val="visible"/>
                                      </p:to>
                                    </p:set>
                                    <p:animEffect transition="in" filter="fade">
                                      <p:cBhvr>
                                        <p:cTn id="77" dur="500"/>
                                        <p:tgtEl>
                                          <p:spTgt spid="110"/>
                                        </p:tgtEl>
                                      </p:cBhvr>
                                    </p:animEffect>
                                    <p:anim calcmode="lin" valueType="num">
                                      <p:cBhvr additive="base">
                                        <p:cTn id="78" dur="500" decel="100000" fill="hold"/>
                                        <p:tgtEl>
                                          <p:spTgt spid="110"/>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300"/>
                                  </p:stCondLst>
                                  <p:childTnLst>
                                    <p:set>
                                      <p:cBhvr>
                                        <p:cTn id="80" dur="1" fill="hold">
                                          <p:stCondLst>
                                            <p:cond delay="0"/>
                                          </p:stCondLst>
                                        </p:cTn>
                                        <p:tgtEl>
                                          <p:spTgt spid="111"/>
                                        </p:tgtEl>
                                        <p:attrNameLst>
                                          <p:attrName>style.visibility</p:attrName>
                                        </p:attrNameLst>
                                      </p:cBhvr>
                                      <p:to>
                                        <p:strVal val="visible"/>
                                      </p:to>
                                    </p:set>
                                    <p:animEffect transition="in" filter="fade">
                                      <p:cBhvr>
                                        <p:cTn id="81" dur="500"/>
                                        <p:tgtEl>
                                          <p:spTgt spid="111"/>
                                        </p:tgtEl>
                                      </p:cBhvr>
                                    </p:animEffect>
                                    <p:anim calcmode="lin" valueType="num">
                                      <p:cBhvr additive="base">
                                        <p:cTn id="82" dur="500" decel="100000" fill="hold"/>
                                        <p:tgtEl>
                                          <p:spTgt spid="111"/>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1" grpId="2" animBg="1"/>
      <p:bldP spid="102" grpId="0" animBg="1"/>
      <p:bldP spid="102" grpId="2" animBg="1"/>
      <p:bldP spid="103" grpId="0" animBg="1"/>
      <p:bldP spid="103" grpId="2" animBg="1"/>
      <p:bldP spid="104" grpId="0" animBg="1"/>
      <p:bldP spid="104" grpId="2" animBg="1"/>
      <p:bldP spid="105" grpId="0" animBg="1"/>
      <p:bldP spid="106" grpId="0" animBg="1"/>
      <p:bldP spid="107" grpId="0" animBg="1"/>
      <p:bldP spid="108" grpId="0" animBg="1"/>
      <p:bldP spid="109" grpId="0" animBg="1"/>
      <p:bldP spid="110" grpId="0" animBg="1"/>
      <p:bldP spid="111"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RELEASE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Can It Go Live? QA Reports, the PO Decides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Tested is not released. The Product Owner gives the final yes or no.</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280</a:t>
            </a:r>
            <a:endParaRPr lang="en-US" sz="850" dirty="0"/>
          </a:p>
        </p:txBody>
      </p:sp>
      <p:sp>
        <p:nvSpPr>
          <p:cNvPr id="101" name="s101"/>
          <p:cNvSpPr/>
          <p:nvPr/>
        </p:nvSpPr>
        <p:spPr>
          <a:xfrm>
            <a:off x="543154" y="1828800"/>
            <a:ext cx="2497684" cy="1005840"/>
          </a:xfrm>
          <a:prstGeom prst="roundRect">
            <a:avLst>
              <a:gd name="adj" fmla="val 14000"/>
            </a:avLst>
          </a:prstGeom>
          <a:solidFill>
            <a:srgbClr val="13D0F7">
              <a:alpha val="14000"/>
            </a:srgbClr>
          </a:solidFill>
          <a:ln w="19050">
            <a:solidFill>
              <a:srgbClr val="13D0F7"/>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13D0F7"/>
                </a:solidFill>
                <a:latin typeface="Segoe UI"/>
                <a:ea typeface="Segoe UI"/>
                <a:cs typeface="Segoe UI"/>
              </a:rPr>
              <a:t>DEVELOPERS</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finish items (Definition of Done)</a:t>
            </a:r>
            <a:endParaRPr lang="en-US" sz="1150" dirty="0"/>
          </a:p>
        </p:txBody>
      </p:sp>
      <p:sp>
        <p:nvSpPr>
          <p:cNvPr id="102" name="s102"/>
          <p:cNvSpPr/>
          <p:nvPr/>
        </p:nvSpPr>
        <p:spPr>
          <a:xfrm>
            <a:off x="3406597" y="1828800"/>
            <a:ext cx="2497684" cy="1005840"/>
          </a:xfrm>
          <a:prstGeom prst="roundRect">
            <a:avLst>
              <a:gd name="adj" fmla="val 14000"/>
            </a:avLst>
          </a:prstGeom>
          <a:solidFill>
            <a:srgbClr val="34D399">
              <a:alpha val="14000"/>
            </a:srgbClr>
          </a:solidFill>
          <a:ln w="19050">
            <a:solidFill>
              <a:srgbClr val="34D399"/>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34D399"/>
                </a:solidFill>
                <a:latin typeface="Segoe UI"/>
                <a:ea typeface="Segoe UI"/>
                <a:cs typeface="Segoe UI"/>
              </a:rPr>
              <a:t>QA TESTS</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checks against acceptance criteria</a:t>
            </a:r>
            <a:endParaRPr lang="en-US" sz="1150" dirty="0"/>
          </a:p>
        </p:txBody>
      </p:sp>
      <p:cxnSp>
        <p:nvCxnSpPr>
          <p:cNvPr id="103" name="ln103"/>
          <p:cNvCxnSpPr/>
          <p:nvPr/>
        </p:nvCxnSpPr>
        <p:spPr>
          <a:xfrm>
            <a:off x="3095701" y="2331720"/>
            <a:ext cx="256032" cy="0"/>
          </a:xfrm>
          <a:prstGeom prst="line">
            <a:avLst/>
          </a:prstGeom>
          <a:ln w="22225">
            <a:solidFill>
              <a:srgbClr val="94A3B8"/>
            </a:solidFill>
            <a:tailEnd type="triangle" w="med" len="med"/>
          </a:ln>
        </p:spPr>
      </p:cxnSp>
      <p:sp>
        <p:nvSpPr>
          <p:cNvPr id="104" name="s104"/>
          <p:cNvSpPr/>
          <p:nvPr/>
        </p:nvSpPr>
        <p:spPr>
          <a:xfrm>
            <a:off x="6270041" y="1828800"/>
            <a:ext cx="2497684" cy="1005840"/>
          </a:xfrm>
          <a:prstGeom prst="roundRect">
            <a:avLst>
              <a:gd name="adj" fmla="val 14000"/>
            </a:avLst>
          </a:prstGeom>
          <a:solidFill>
            <a:srgbClr val="FBBF24">
              <a:alpha val="14000"/>
            </a:srgbClr>
          </a:solidFill>
          <a:ln w="19050">
            <a:solidFill>
              <a:srgbClr val="FBBF24"/>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FBBF24"/>
                </a:solidFill>
                <a:latin typeface="Segoe UI"/>
                <a:ea typeface="Segoe UI"/>
                <a:cs typeface="Segoe UI"/>
              </a:rPr>
              <a:t>REPORT</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pass ✓ / fail ✗ per item</a:t>
            </a:r>
            <a:endParaRPr lang="en-US" sz="1150" dirty="0"/>
          </a:p>
        </p:txBody>
      </p:sp>
      <p:cxnSp>
        <p:nvCxnSpPr>
          <p:cNvPr id="105" name="ln105"/>
          <p:cNvCxnSpPr/>
          <p:nvPr/>
        </p:nvCxnSpPr>
        <p:spPr>
          <a:xfrm>
            <a:off x="5959145" y="2331720"/>
            <a:ext cx="256032" cy="0"/>
          </a:xfrm>
          <a:prstGeom prst="line">
            <a:avLst/>
          </a:prstGeom>
          <a:ln w="22225">
            <a:solidFill>
              <a:srgbClr val="94A3B8"/>
            </a:solidFill>
            <a:tailEnd type="triangle" w="med" len="med"/>
          </a:ln>
        </p:spPr>
      </p:cxnSp>
      <p:sp>
        <p:nvSpPr>
          <p:cNvPr id="106" name="s106"/>
          <p:cNvSpPr/>
          <p:nvPr/>
        </p:nvSpPr>
        <p:spPr>
          <a:xfrm>
            <a:off x="9133484" y="1828800"/>
            <a:ext cx="2497684" cy="1005840"/>
          </a:xfrm>
          <a:prstGeom prst="roundRect">
            <a:avLst>
              <a:gd name="adj" fmla="val 14000"/>
            </a:avLst>
          </a:prstGeom>
          <a:solidFill>
            <a:srgbClr val="F472B6">
              <a:alpha val="14000"/>
            </a:srgbClr>
          </a:solidFill>
          <a:ln w="19050">
            <a:solidFill>
              <a:srgbClr val="F472B6"/>
            </a:solidFill>
            <a:prstDash val="solid"/>
          </a:ln>
        </p:spPr>
        <p:txBody>
          <a:bodyPr wrap="square" lIns="91440" tIns="36576" rIns="91440" bIns="36576" rtlCol="0" anchor="ctr">
            <a:noAutofit/>
          </a:bodyPr>
          <a:lstStyle/>
          <a:p>
            <a:pPr marL="0" indent="0" algn="ctr">
              <a:spcBef>
                <a:spcPts val="0"/>
              </a:spcBef>
              <a:spcAft>
                <a:spcPts val="200"/>
              </a:spcAft>
              <a:buNone/>
            </a:pPr>
            <a:r>
              <a:rPr lang="en-US" sz="1300" b="1" dirty="0">
                <a:solidFill>
                  <a:srgbClr val="F472B6"/>
                </a:solidFill>
                <a:latin typeface="Segoe UI"/>
                <a:ea typeface="Segoe UI"/>
                <a:cs typeface="Segoe UI"/>
              </a:rPr>
              <a:t>PO DECIDES</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release now, or hold</a:t>
            </a:r>
            <a:endParaRPr lang="en-US" sz="1150" dirty="0"/>
          </a:p>
        </p:txBody>
      </p:sp>
      <p:cxnSp>
        <p:nvCxnSpPr>
          <p:cNvPr id="107" name="ln107"/>
          <p:cNvCxnSpPr/>
          <p:nvPr/>
        </p:nvCxnSpPr>
        <p:spPr>
          <a:xfrm>
            <a:off x="8822588" y="2331720"/>
            <a:ext cx="256032" cy="0"/>
          </a:xfrm>
          <a:prstGeom prst="line">
            <a:avLst/>
          </a:prstGeom>
          <a:ln w="22225">
            <a:solidFill>
              <a:srgbClr val="94A3B8"/>
            </a:solidFill>
            <a:tailEnd type="triangle" w="med" len="med"/>
          </a:ln>
        </p:spPr>
      </p:cxnSp>
      <p:sp>
        <p:nvSpPr>
          <p:cNvPr id="108" name="s108"/>
          <p:cNvSpPr txBox="1"/>
          <p:nvPr/>
        </p:nvSpPr>
        <p:spPr>
          <a:xfrm>
            <a:off x="543154" y="3063240"/>
            <a:ext cx="59436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MAYA'S REPORT TO SARAH</a:t>
            </a:r>
            <a:endParaRPr lang="en-US" sz="1100" dirty="0"/>
          </a:p>
        </p:txBody>
      </p:sp>
      <p:sp>
        <p:nvSpPr>
          <p:cNvPr id="109" name="s109"/>
          <p:cNvSpPr/>
          <p:nvPr/>
        </p:nvSpPr>
        <p:spPr>
          <a:xfrm>
            <a:off x="543154" y="3383280"/>
            <a:ext cx="5943600" cy="402336"/>
          </a:xfrm>
          <a:prstGeom prst="roundRect">
            <a:avLst>
              <a:gd name="adj" fmla="val 20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10" name="s110"/>
          <p:cNvSpPr txBox="1"/>
          <p:nvPr/>
        </p:nvSpPr>
        <p:spPr>
          <a:xfrm>
            <a:off x="726034" y="3383280"/>
            <a:ext cx="4114800"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0" dirty="0">
                <a:solidFill>
                  <a:srgbClr val="FFFFFF"/>
                </a:solidFill>
                <a:latin typeface="Segoe UI"/>
                <a:ea typeface="Segoe UI"/>
                <a:cs typeface="Segoe UI"/>
              </a:rPr>
              <a:t>Book an appointment</a:t>
            </a:r>
            <a:endParaRPr lang="en-US" sz="1300" dirty="0"/>
          </a:p>
        </p:txBody>
      </p:sp>
      <p:sp>
        <p:nvSpPr>
          <p:cNvPr id="111" name="s111"/>
          <p:cNvSpPr txBox="1"/>
          <p:nvPr/>
        </p:nvSpPr>
        <p:spPr>
          <a:xfrm>
            <a:off x="4749394" y="3383280"/>
            <a:ext cx="1600200" cy="402336"/>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1300" b="1" dirty="0">
                <a:solidFill>
                  <a:srgbClr val="34D399"/>
                </a:solidFill>
                <a:latin typeface="Segoe UI"/>
                <a:ea typeface="Segoe UI"/>
                <a:cs typeface="Segoe UI"/>
              </a:rPr>
              <a:t>✓ pass</a:t>
            </a:r>
            <a:endParaRPr lang="en-US" sz="1300" dirty="0"/>
          </a:p>
        </p:txBody>
      </p:sp>
      <p:sp>
        <p:nvSpPr>
          <p:cNvPr id="112" name="s112"/>
          <p:cNvSpPr/>
          <p:nvPr/>
        </p:nvSpPr>
        <p:spPr>
          <a:xfrm>
            <a:off x="543154" y="3858768"/>
            <a:ext cx="5943600" cy="402336"/>
          </a:xfrm>
          <a:prstGeom prst="roundRect">
            <a:avLst>
              <a:gd name="adj" fmla="val 20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13" name="s113"/>
          <p:cNvSpPr txBox="1"/>
          <p:nvPr/>
        </p:nvSpPr>
        <p:spPr>
          <a:xfrm>
            <a:off x="726034" y="3858768"/>
            <a:ext cx="4114800"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0" dirty="0">
                <a:solidFill>
                  <a:srgbClr val="FFFFFF"/>
                </a:solidFill>
                <a:latin typeface="Segoe UI"/>
                <a:ea typeface="Segoe UI"/>
                <a:cs typeface="Segoe UI"/>
              </a:rPr>
              <a:t>Cancel an appointment</a:t>
            </a:r>
            <a:endParaRPr lang="en-US" sz="1300" dirty="0"/>
          </a:p>
        </p:txBody>
      </p:sp>
      <p:sp>
        <p:nvSpPr>
          <p:cNvPr id="114" name="s114"/>
          <p:cNvSpPr txBox="1"/>
          <p:nvPr/>
        </p:nvSpPr>
        <p:spPr>
          <a:xfrm>
            <a:off x="4749394" y="3858768"/>
            <a:ext cx="1600200" cy="402336"/>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1300" b="1" dirty="0">
                <a:solidFill>
                  <a:srgbClr val="34D399"/>
                </a:solidFill>
                <a:latin typeface="Segoe UI"/>
                <a:ea typeface="Segoe UI"/>
                <a:cs typeface="Segoe UI"/>
              </a:rPr>
              <a:t>✓ pass</a:t>
            </a:r>
            <a:endParaRPr lang="en-US" sz="1300" dirty="0"/>
          </a:p>
        </p:txBody>
      </p:sp>
      <p:sp>
        <p:nvSpPr>
          <p:cNvPr id="115" name="s115"/>
          <p:cNvSpPr/>
          <p:nvPr/>
        </p:nvSpPr>
        <p:spPr>
          <a:xfrm>
            <a:off x="543154" y="4334256"/>
            <a:ext cx="5943600" cy="402336"/>
          </a:xfrm>
          <a:prstGeom prst="roundRect">
            <a:avLst>
              <a:gd name="adj" fmla="val 20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16" name="s116"/>
          <p:cNvSpPr txBox="1"/>
          <p:nvPr/>
        </p:nvSpPr>
        <p:spPr>
          <a:xfrm>
            <a:off x="726034" y="4334256"/>
            <a:ext cx="4114800" cy="402336"/>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0" dirty="0">
                <a:solidFill>
                  <a:srgbClr val="FFFFFF"/>
                </a:solidFill>
                <a:latin typeface="Segoe UI"/>
                <a:ea typeface="Segoe UI"/>
                <a:cs typeface="Segoe UI"/>
              </a:rPr>
              <a:t>SMS reminder (Arabic names)</a:t>
            </a:r>
            <a:endParaRPr lang="en-US" sz="1300" dirty="0"/>
          </a:p>
        </p:txBody>
      </p:sp>
      <p:sp>
        <p:nvSpPr>
          <p:cNvPr id="117" name="s117"/>
          <p:cNvSpPr txBox="1"/>
          <p:nvPr/>
        </p:nvSpPr>
        <p:spPr>
          <a:xfrm>
            <a:off x="4749394" y="4334256"/>
            <a:ext cx="1600200" cy="402336"/>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1300" b="1" dirty="0">
                <a:solidFill>
                  <a:srgbClr val="F87171"/>
                </a:solidFill>
                <a:latin typeface="Segoe UI"/>
                <a:ea typeface="Segoe UI"/>
                <a:cs typeface="Segoe UI"/>
              </a:rPr>
              <a:t>✗ bug</a:t>
            </a:r>
            <a:endParaRPr lang="en-US" sz="1300" dirty="0"/>
          </a:p>
        </p:txBody>
      </p:sp>
      <p:sp>
        <p:nvSpPr>
          <p:cNvPr id="118" name="s118"/>
          <p:cNvSpPr/>
          <p:nvPr/>
        </p:nvSpPr>
        <p:spPr>
          <a:xfrm>
            <a:off x="6761074" y="3136392"/>
            <a:ext cx="566928" cy="566928"/>
          </a:xfrm>
          <a:prstGeom prst="ellipse">
            <a:avLst/>
          </a:prstGeom>
          <a:solidFill>
            <a:srgbClr val="FBBF24">
              <a:alpha val="22000"/>
            </a:srgbClr>
          </a:solidFill>
          <a:ln w="1905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FBBF24"/>
                </a:solidFill>
                <a:latin typeface="Segoe UI"/>
                <a:ea typeface="Segoe UI"/>
                <a:cs typeface="Segoe UI"/>
              </a:rPr>
              <a:t>S</a:t>
            </a:r>
            <a:endParaRPr lang="en-US" sz="1612" dirty="0"/>
          </a:p>
        </p:txBody>
      </p:sp>
      <p:sp>
        <p:nvSpPr>
          <p:cNvPr id="119" name="s119"/>
          <p:cNvSpPr/>
          <p:nvPr/>
        </p:nvSpPr>
        <p:spPr>
          <a:xfrm>
            <a:off x="7492594" y="3063240"/>
            <a:ext cx="4138574" cy="1097280"/>
          </a:xfrm>
          <a:prstGeom prst="roundRect">
            <a:avLst>
              <a:gd name="adj" fmla="val 14000"/>
            </a:avLst>
          </a:prstGeom>
          <a:solidFill>
            <a:srgbClr val="111B2E"/>
          </a:solidFill>
          <a:ln w="12700">
            <a:solidFill>
              <a:srgbClr val="FBBF24"/>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FBBF24"/>
                </a:solidFill>
                <a:latin typeface="Segoe UI"/>
                <a:ea typeface="Segoe UI"/>
                <a:cs typeface="Segoe UI"/>
              </a:rPr>
              <a:t>Sarah</a:t>
            </a:r>
            <a:r>
              <a:rPr lang="en-US" sz="1100" b="0" dirty="0">
                <a:solidFill>
                  <a:srgbClr val="94A3B8"/>
                </a:solidFill>
                <a:latin typeface="Segoe UI"/>
                <a:ea typeface="Segoe UI"/>
                <a:cs typeface="Segoe UI"/>
              </a:rPr>
              <a:t>  ·  Product Owner</a:t>
            </a:r>
            <a:endParaRPr lang="en-US" sz="1100" dirty="0"/>
          </a:p>
          <a:p>
            <a:pPr marL="0" indent="0" algn="l">
              <a:spcBef>
                <a:spcPts val="0"/>
              </a:spcBef>
              <a:spcAft>
                <a:spcPts val="0"/>
              </a:spcAft>
              <a:buNone/>
            </a:pPr>
            <a:r>
              <a:rPr lang="en-US" sz="1400" b="0" dirty="0">
                <a:solidFill>
                  <a:srgbClr val="FFFFFF"/>
                </a:solidFill>
                <a:latin typeface="Segoe UI"/>
                <a:ea typeface="Segoe UI"/>
                <a:cs typeface="Segoe UI"/>
              </a:rPr>
              <a:t>Release booking and cancel today. Hold the SMS reminder: fix it next sprint.</a:t>
            </a:r>
            <a:endParaRPr lang="en-US" sz="1400" dirty="0"/>
          </a:p>
        </p:txBody>
      </p:sp>
      <p:sp>
        <p:nvSpPr>
          <p:cNvPr id="120" name="s120"/>
          <p:cNvSpPr/>
          <p:nvPr/>
        </p:nvSpPr>
        <p:spPr>
          <a:xfrm>
            <a:off x="543154" y="4983480"/>
            <a:ext cx="11088014" cy="548640"/>
          </a:xfrm>
          <a:prstGeom prst="roundRect">
            <a:avLst>
              <a:gd name="adj" fmla="val 12000"/>
            </a:avLst>
          </a:prstGeom>
          <a:solidFill>
            <a:srgbClr val="111B2E"/>
          </a:solidFill>
          <a:ln w="12700">
            <a:solidFill>
              <a:srgbClr val="F472B6"/>
            </a:solidFill>
            <a:prstDash val="solid"/>
          </a:ln>
        </p:spPr>
        <p:txBody>
          <a:bodyPr wrap="square" lIns="228600" tIns="45720" rIns="228600" bIns="45720" rtlCol="0" anchor="ctr">
            <a:noAutofit/>
          </a:bodyPr>
          <a:lstStyle/>
          <a:p>
            <a:pPr marL="0" indent="0" algn="ctr">
              <a:spcBef>
                <a:spcPts val="0"/>
              </a:spcBef>
              <a:spcAft>
                <a:spcPts val="0"/>
              </a:spcAft>
              <a:buNone/>
            </a:pPr>
            <a:r>
              <a:rPr lang="en-US" sz="1400" b="1" dirty="0">
                <a:solidFill>
                  <a:srgbClr val="F472B6"/>
                </a:solidFill>
                <a:latin typeface="Segoe UI"/>
                <a:ea typeface="Segoe UI"/>
                <a:cs typeface="Segoe UI"/>
              </a:rPr>
              <a:t>RULE</a:t>
            </a:r>
            <a:r>
              <a:rPr lang="en-US" sz="1400" b="0" dirty="0">
                <a:solidFill>
                  <a:srgbClr val="E2E8F0"/>
                </a:solidFill>
                <a:latin typeface="Segoe UI"/>
                <a:ea typeface="Segoe UI"/>
                <a:cs typeface="Segoe UI"/>
              </a:rPr>
              <a:t>   QA says what WORKS.  The Product Owner decides what GOES LIVE.</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anim calcmode="lin" valueType="num">
                                      <p:cBhvr additive="base">
                                        <p:cTn id="14" dur="500" decel="100000" fill="hold"/>
                                        <p:tgtEl>
                                          <p:spTgt spid="103"/>
                                        </p:tgtEl>
                                        <p:attrNameLst>
                                          <p:attrName>ppt_x</p:attrName>
                                        </p:attrNameLst>
                                      </p:cBhvr>
                                      <p:tavLst>
                                        <p:tav tm="0">
                                          <p:val>
                                            <p:strVal val="#ppt_x-0.05"/>
                                          </p:val>
                                        </p:tav>
                                        <p:tav tm="100000">
                                          <p:val>
                                            <p:strVal val="#ppt_x"/>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102"/>
                                        </p:tgtEl>
                                        <p:attrNameLst>
                                          <p:attrName>style.visibility</p:attrName>
                                        </p:attrNameLst>
                                      </p:cBhvr>
                                      <p:to>
                                        <p:strVal val="visible"/>
                                      </p:to>
                                    </p:set>
                                    <p:animEffect transition="in" filter="fade">
                                      <p:cBhvr>
                                        <p:cTn id="17" dur="500"/>
                                        <p:tgtEl>
                                          <p:spTgt spid="102"/>
                                        </p:tgtEl>
                                      </p:cBhvr>
                                    </p:animEffect>
                                    <p:anim calcmode="lin" valueType="num">
                                      <p:cBhvr additive="base">
                                        <p:cTn id="18"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nodeType="click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4"/>
                                        </p:tgtEl>
                                        <p:attrNameLst>
                                          <p:attrName>style.visibility</p:attrName>
                                        </p:attrNameLst>
                                      </p:cBhvr>
                                      <p:to>
                                        <p:strVal val="visible"/>
                                      </p:to>
                                    </p:set>
                                    <p:animEffect transition="in" filter="fade">
                                      <p:cBhvr>
                                        <p:cTn id="27" dur="500"/>
                                        <p:tgtEl>
                                          <p:spTgt spid="104"/>
                                        </p:tgtEl>
                                      </p:cBhvr>
                                    </p:animEffect>
                                    <p:anim calcmode="lin" valueType="num">
                                      <p:cBhvr additive="base">
                                        <p:cTn id="28" dur="500" decel="100000" fill="hold"/>
                                        <p:tgtEl>
                                          <p:spTgt spid="104"/>
                                        </p:tgtEl>
                                        <p:attrNameLst>
                                          <p:attrName>ppt_x</p:attrName>
                                        </p:attrNameLst>
                                      </p:cBhvr>
                                      <p:tavLst>
                                        <p:tav tm="0">
                                          <p:val>
                                            <p:strVal val="#ppt_x-0.05"/>
                                          </p:val>
                                        </p:tav>
                                        <p:tav tm="100000">
                                          <p:val>
                                            <p:strVal val="#ppt_x"/>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ppt_x</p:attrName>
                                        </p:attrNameLst>
                                      </p:cBhvr>
                                      <p:tavLst>
                                        <p:tav tm="0">
                                          <p:val>
                                            <p:strVal val="#ppt_x-0.05"/>
                                          </p:val>
                                        </p:tav>
                                        <p:tav tm="100000">
                                          <p:val>
                                            <p:strVal val="#ppt_x"/>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06"/>
                                        </p:tgtEl>
                                        <p:attrNameLst>
                                          <p:attrName>style.visibility</p:attrName>
                                        </p:attrNameLst>
                                      </p:cBhvr>
                                      <p:to>
                                        <p:strVal val="visible"/>
                                      </p:to>
                                    </p:set>
                                    <p:animEffect transition="in" filter="fade">
                                      <p:cBhvr>
                                        <p:cTn id="37" dur="500"/>
                                        <p:tgtEl>
                                          <p:spTgt spid="106"/>
                                        </p:tgtEl>
                                      </p:cBhvr>
                                    </p:animEffect>
                                    <p:anim calcmode="lin" valueType="num">
                                      <p:cBhvr additive="base">
                                        <p:cTn id="38" dur="500" decel="100000" fill="hold"/>
                                        <p:tgtEl>
                                          <p:spTgt spid="106"/>
                                        </p:tgtEl>
                                        <p:attrNameLst>
                                          <p:attrName>ppt_x</p:attrName>
                                        </p:attrNameLst>
                                      </p:cBhvr>
                                      <p:tavLst>
                                        <p:tav tm="0">
                                          <p:val>
                                            <p:strVal val="#ppt_x-0.05"/>
                                          </p:val>
                                        </p:tav>
                                        <p:tav tm="100000">
                                          <p:val>
                                            <p:strVal val="#ppt_x"/>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108"/>
                                        </p:tgtEl>
                                        <p:attrNameLst>
                                          <p:attrName>style.visibility</p:attrName>
                                        </p:attrNameLst>
                                      </p:cBhvr>
                                      <p:to>
                                        <p:strVal val="visible"/>
                                      </p:to>
                                    </p:set>
                                    <p:animEffect transition="in" filter="fade">
                                      <p:cBhvr>
                                        <p:cTn id="43" dur="500"/>
                                        <p:tgtEl>
                                          <p:spTgt spid="108"/>
                                        </p:tgtEl>
                                      </p:cBhvr>
                                    </p:animEffect>
                                    <p:anim calcmode="lin" valueType="num">
                                      <p:cBhvr additive="base">
                                        <p:cTn id="44" dur="500" decel="100000" fill="hold"/>
                                        <p:tgtEl>
                                          <p:spTgt spid="108"/>
                                        </p:tgtEl>
                                        <p:attrNameLst>
                                          <p:attrName>ppt_x</p:attrName>
                                        </p:attrNameLst>
                                      </p:cBhvr>
                                      <p:tavLst>
                                        <p:tav tm="0">
                                          <p:val>
                                            <p:strVal val="#ppt_x-0.05"/>
                                          </p:val>
                                        </p:tav>
                                        <p:tav tm="100000">
                                          <p:val>
                                            <p:strVal val="#ppt_x"/>
                                          </p:val>
                                        </p:tav>
                                      </p:tavLst>
                                    </p:anim>
                                  </p:childTnLst>
                                </p:cTn>
                              </p:par>
                              <p:par>
                                <p:cTn id="45" presetID="42" presetClass="entr" presetSubtype="0" fill="hold" grpId="0" nodeType="withEffect">
                                  <p:stCondLst>
                                    <p:cond delay="120"/>
                                  </p:stCondLst>
                                  <p:childTnLst>
                                    <p:set>
                                      <p:cBhvr>
                                        <p:cTn id="46" dur="1" fill="hold">
                                          <p:stCondLst>
                                            <p:cond delay="0"/>
                                          </p:stCondLst>
                                        </p:cTn>
                                        <p:tgtEl>
                                          <p:spTgt spid="109"/>
                                        </p:tgtEl>
                                        <p:attrNameLst>
                                          <p:attrName>style.visibility</p:attrName>
                                        </p:attrNameLst>
                                      </p:cBhvr>
                                      <p:to>
                                        <p:strVal val="visible"/>
                                      </p:to>
                                    </p:set>
                                    <p:animEffect transition="in" filter="fade">
                                      <p:cBhvr>
                                        <p:cTn id="47" dur="500"/>
                                        <p:tgtEl>
                                          <p:spTgt spid="109"/>
                                        </p:tgtEl>
                                      </p:cBhvr>
                                    </p:animEffect>
                                    <p:anim calcmode="lin" valueType="num">
                                      <p:cBhvr additive="base">
                                        <p:cTn id="48" dur="500" decel="100000" fill="hold"/>
                                        <p:tgtEl>
                                          <p:spTgt spid="109"/>
                                        </p:tgtEl>
                                        <p:attrNameLst>
                                          <p:attrName>ppt_x</p:attrName>
                                        </p:attrNameLst>
                                      </p:cBhvr>
                                      <p:tavLst>
                                        <p:tav tm="0">
                                          <p:val>
                                            <p:strVal val="#ppt_x-0.05"/>
                                          </p:val>
                                        </p:tav>
                                        <p:tav tm="100000">
                                          <p:val>
                                            <p:strVal val="#ppt_x"/>
                                          </p:val>
                                        </p:tav>
                                      </p:tavLst>
                                    </p:anim>
                                  </p:childTnLst>
                                </p:cTn>
                              </p:par>
                              <p:par>
                                <p:cTn id="49" presetID="42" presetClass="entr" presetSubtype="0" fill="hold" grpId="0" nodeType="withEffect">
                                  <p:stCondLst>
                                    <p:cond delay="120"/>
                                  </p:stCondLst>
                                  <p:childTnLst>
                                    <p:set>
                                      <p:cBhvr>
                                        <p:cTn id="50" dur="1" fill="hold">
                                          <p:stCondLst>
                                            <p:cond delay="0"/>
                                          </p:stCondLst>
                                        </p:cTn>
                                        <p:tgtEl>
                                          <p:spTgt spid="110"/>
                                        </p:tgtEl>
                                        <p:attrNameLst>
                                          <p:attrName>style.visibility</p:attrName>
                                        </p:attrNameLst>
                                      </p:cBhvr>
                                      <p:to>
                                        <p:strVal val="visible"/>
                                      </p:to>
                                    </p:set>
                                    <p:animEffect transition="in" filter="fade">
                                      <p:cBhvr>
                                        <p:cTn id="51" dur="500"/>
                                        <p:tgtEl>
                                          <p:spTgt spid="110"/>
                                        </p:tgtEl>
                                      </p:cBhvr>
                                    </p:animEffect>
                                    <p:anim calcmode="lin" valueType="num">
                                      <p:cBhvr additive="base">
                                        <p:cTn id="52" dur="500" decel="100000" fill="hold"/>
                                        <p:tgtEl>
                                          <p:spTgt spid="110"/>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120"/>
                                  </p:stCondLst>
                                  <p:childTnLst>
                                    <p:set>
                                      <p:cBhvr>
                                        <p:cTn id="54" dur="1" fill="hold">
                                          <p:stCondLst>
                                            <p:cond delay="0"/>
                                          </p:stCondLst>
                                        </p:cTn>
                                        <p:tgtEl>
                                          <p:spTgt spid="111"/>
                                        </p:tgtEl>
                                        <p:attrNameLst>
                                          <p:attrName>style.visibility</p:attrName>
                                        </p:attrNameLst>
                                      </p:cBhvr>
                                      <p:to>
                                        <p:strVal val="visible"/>
                                      </p:to>
                                    </p:set>
                                    <p:animEffect transition="in" filter="fade">
                                      <p:cBhvr>
                                        <p:cTn id="55" dur="500"/>
                                        <p:tgtEl>
                                          <p:spTgt spid="111"/>
                                        </p:tgtEl>
                                      </p:cBhvr>
                                    </p:animEffect>
                                    <p:anim calcmode="lin" valueType="num">
                                      <p:cBhvr additive="base">
                                        <p:cTn id="56" dur="500" decel="100000" fill="hold"/>
                                        <p:tgtEl>
                                          <p:spTgt spid="111"/>
                                        </p:tgtEl>
                                        <p:attrNameLst>
                                          <p:attrName>ppt_x</p:attrName>
                                        </p:attrNameLst>
                                      </p:cBhvr>
                                      <p:tavLst>
                                        <p:tav tm="0">
                                          <p:val>
                                            <p:strVal val="#ppt_x-0.05"/>
                                          </p:val>
                                        </p:tav>
                                        <p:tav tm="100000">
                                          <p:val>
                                            <p:strVal val="#ppt_x"/>
                                          </p:val>
                                        </p:tav>
                                      </p:tavLst>
                                    </p:anim>
                                  </p:childTnLst>
                                </p:cTn>
                              </p:par>
                              <p:par>
                                <p:cTn id="57" presetID="42" presetClass="entr" presetSubtype="0" fill="hold" grpId="0" nodeType="withEffect">
                                  <p:stCondLst>
                                    <p:cond delay="120"/>
                                  </p:stCondLst>
                                  <p:childTnLst>
                                    <p:set>
                                      <p:cBhvr>
                                        <p:cTn id="58" dur="1" fill="hold">
                                          <p:stCondLst>
                                            <p:cond delay="0"/>
                                          </p:stCondLst>
                                        </p:cTn>
                                        <p:tgtEl>
                                          <p:spTgt spid="112"/>
                                        </p:tgtEl>
                                        <p:attrNameLst>
                                          <p:attrName>style.visibility</p:attrName>
                                        </p:attrNameLst>
                                      </p:cBhvr>
                                      <p:to>
                                        <p:strVal val="visible"/>
                                      </p:to>
                                    </p:set>
                                    <p:animEffect transition="in" filter="fade">
                                      <p:cBhvr>
                                        <p:cTn id="59" dur="500"/>
                                        <p:tgtEl>
                                          <p:spTgt spid="112"/>
                                        </p:tgtEl>
                                      </p:cBhvr>
                                    </p:animEffect>
                                    <p:anim calcmode="lin" valueType="num">
                                      <p:cBhvr additive="base">
                                        <p:cTn id="60" dur="500" decel="100000" fill="hold"/>
                                        <p:tgtEl>
                                          <p:spTgt spid="112"/>
                                        </p:tgtEl>
                                        <p:attrNameLst>
                                          <p:attrName>ppt_x</p:attrName>
                                        </p:attrNameLst>
                                      </p:cBhvr>
                                      <p:tavLst>
                                        <p:tav tm="0">
                                          <p:val>
                                            <p:strVal val="#ppt_x-0.05"/>
                                          </p:val>
                                        </p:tav>
                                        <p:tav tm="100000">
                                          <p:val>
                                            <p:strVal val="#ppt_x"/>
                                          </p:val>
                                        </p:tav>
                                      </p:tavLst>
                                    </p:anim>
                                  </p:childTnLst>
                                </p:cTn>
                              </p:par>
                              <p:par>
                                <p:cTn id="61" presetID="42" presetClass="entr" presetSubtype="0" fill="hold" grpId="0" nodeType="withEffect">
                                  <p:stCondLst>
                                    <p:cond delay="120"/>
                                  </p:stCondLst>
                                  <p:childTnLst>
                                    <p:set>
                                      <p:cBhvr>
                                        <p:cTn id="62" dur="1" fill="hold">
                                          <p:stCondLst>
                                            <p:cond delay="0"/>
                                          </p:stCondLst>
                                        </p:cTn>
                                        <p:tgtEl>
                                          <p:spTgt spid="113"/>
                                        </p:tgtEl>
                                        <p:attrNameLst>
                                          <p:attrName>style.visibility</p:attrName>
                                        </p:attrNameLst>
                                      </p:cBhvr>
                                      <p:to>
                                        <p:strVal val="visible"/>
                                      </p:to>
                                    </p:set>
                                    <p:animEffect transition="in" filter="fade">
                                      <p:cBhvr>
                                        <p:cTn id="63" dur="500"/>
                                        <p:tgtEl>
                                          <p:spTgt spid="113"/>
                                        </p:tgtEl>
                                      </p:cBhvr>
                                    </p:animEffect>
                                    <p:anim calcmode="lin" valueType="num">
                                      <p:cBhvr additive="base">
                                        <p:cTn id="64" dur="500" decel="100000" fill="hold"/>
                                        <p:tgtEl>
                                          <p:spTgt spid="113"/>
                                        </p:tgtEl>
                                        <p:attrNameLst>
                                          <p:attrName>ppt_x</p:attrName>
                                        </p:attrNameLst>
                                      </p:cBhvr>
                                      <p:tavLst>
                                        <p:tav tm="0">
                                          <p:val>
                                            <p:strVal val="#ppt_x-0.05"/>
                                          </p:val>
                                        </p:tav>
                                        <p:tav tm="100000">
                                          <p:val>
                                            <p:strVal val="#ppt_x"/>
                                          </p:val>
                                        </p:tav>
                                      </p:tavLst>
                                    </p:anim>
                                  </p:childTnLst>
                                </p:cTn>
                              </p:par>
                              <p:par>
                                <p:cTn id="65" presetID="42" presetClass="entr" presetSubtype="0" fill="hold" grpId="0" nodeType="withEffect">
                                  <p:stCondLst>
                                    <p:cond delay="120"/>
                                  </p:stCondLst>
                                  <p:childTnLst>
                                    <p:set>
                                      <p:cBhvr>
                                        <p:cTn id="66" dur="1" fill="hold">
                                          <p:stCondLst>
                                            <p:cond delay="0"/>
                                          </p:stCondLst>
                                        </p:cTn>
                                        <p:tgtEl>
                                          <p:spTgt spid="114"/>
                                        </p:tgtEl>
                                        <p:attrNameLst>
                                          <p:attrName>style.visibility</p:attrName>
                                        </p:attrNameLst>
                                      </p:cBhvr>
                                      <p:to>
                                        <p:strVal val="visible"/>
                                      </p:to>
                                    </p:set>
                                    <p:animEffect transition="in" filter="fade">
                                      <p:cBhvr>
                                        <p:cTn id="67" dur="500"/>
                                        <p:tgtEl>
                                          <p:spTgt spid="114"/>
                                        </p:tgtEl>
                                      </p:cBhvr>
                                    </p:animEffect>
                                    <p:anim calcmode="lin" valueType="num">
                                      <p:cBhvr additive="base">
                                        <p:cTn id="68" dur="500" decel="100000" fill="hold"/>
                                        <p:tgtEl>
                                          <p:spTgt spid="114"/>
                                        </p:tgtEl>
                                        <p:attrNameLst>
                                          <p:attrName>ppt_x</p:attrName>
                                        </p:attrNameLst>
                                      </p:cBhvr>
                                      <p:tavLst>
                                        <p:tav tm="0">
                                          <p:val>
                                            <p:strVal val="#ppt_x-0.05"/>
                                          </p:val>
                                        </p:tav>
                                        <p:tav tm="100000">
                                          <p:val>
                                            <p:strVal val="#ppt_x"/>
                                          </p:val>
                                        </p:tav>
                                      </p:tavLst>
                                    </p:anim>
                                  </p:childTnLst>
                                </p:cTn>
                              </p:par>
                              <p:par>
                                <p:cTn id="69" presetID="42" presetClass="entr" presetSubtype="0" fill="hold" grpId="0" nodeType="withEffect">
                                  <p:stCondLst>
                                    <p:cond delay="120"/>
                                  </p:stCondLst>
                                  <p:childTnLst>
                                    <p:set>
                                      <p:cBhvr>
                                        <p:cTn id="70" dur="1" fill="hold">
                                          <p:stCondLst>
                                            <p:cond delay="0"/>
                                          </p:stCondLst>
                                        </p:cTn>
                                        <p:tgtEl>
                                          <p:spTgt spid="115"/>
                                        </p:tgtEl>
                                        <p:attrNameLst>
                                          <p:attrName>style.visibility</p:attrName>
                                        </p:attrNameLst>
                                      </p:cBhvr>
                                      <p:to>
                                        <p:strVal val="visible"/>
                                      </p:to>
                                    </p:set>
                                    <p:animEffect transition="in" filter="fade">
                                      <p:cBhvr>
                                        <p:cTn id="71" dur="500"/>
                                        <p:tgtEl>
                                          <p:spTgt spid="115"/>
                                        </p:tgtEl>
                                      </p:cBhvr>
                                    </p:animEffect>
                                    <p:anim calcmode="lin" valueType="num">
                                      <p:cBhvr additive="base">
                                        <p:cTn id="72" dur="500" decel="100000" fill="hold"/>
                                        <p:tgtEl>
                                          <p:spTgt spid="115"/>
                                        </p:tgtEl>
                                        <p:attrNameLst>
                                          <p:attrName>ppt_x</p:attrName>
                                        </p:attrNameLst>
                                      </p:cBhvr>
                                      <p:tavLst>
                                        <p:tav tm="0">
                                          <p:val>
                                            <p:strVal val="#ppt_x-0.05"/>
                                          </p:val>
                                        </p:tav>
                                        <p:tav tm="100000">
                                          <p:val>
                                            <p:strVal val="#ppt_x"/>
                                          </p:val>
                                        </p:tav>
                                      </p:tavLst>
                                    </p:anim>
                                  </p:childTnLst>
                                </p:cTn>
                              </p:par>
                              <p:par>
                                <p:cTn id="73" presetID="42" presetClass="entr" presetSubtype="0" fill="hold" grpId="0" nodeType="withEffect">
                                  <p:stCondLst>
                                    <p:cond delay="120"/>
                                  </p:stCondLst>
                                  <p:childTnLst>
                                    <p:set>
                                      <p:cBhvr>
                                        <p:cTn id="74" dur="1" fill="hold">
                                          <p:stCondLst>
                                            <p:cond delay="0"/>
                                          </p:stCondLst>
                                        </p:cTn>
                                        <p:tgtEl>
                                          <p:spTgt spid="116"/>
                                        </p:tgtEl>
                                        <p:attrNameLst>
                                          <p:attrName>style.visibility</p:attrName>
                                        </p:attrNameLst>
                                      </p:cBhvr>
                                      <p:to>
                                        <p:strVal val="visible"/>
                                      </p:to>
                                    </p:set>
                                    <p:animEffect transition="in" filter="fade">
                                      <p:cBhvr>
                                        <p:cTn id="75" dur="500"/>
                                        <p:tgtEl>
                                          <p:spTgt spid="116"/>
                                        </p:tgtEl>
                                      </p:cBhvr>
                                    </p:animEffect>
                                    <p:anim calcmode="lin" valueType="num">
                                      <p:cBhvr additive="base">
                                        <p:cTn id="76" dur="500" decel="100000" fill="hold"/>
                                        <p:tgtEl>
                                          <p:spTgt spid="116"/>
                                        </p:tgtEl>
                                        <p:attrNameLst>
                                          <p:attrName>ppt_x</p:attrName>
                                        </p:attrNameLst>
                                      </p:cBhvr>
                                      <p:tavLst>
                                        <p:tav tm="0">
                                          <p:val>
                                            <p:strVal val="#ppt_x-0.05"/>
                                          </p:val>
                                        </p:tav>
                                        <p:tav tm="100000">
                                          <p:val>
                                            <p:strVal val="#ppt_x"/>
                                          </p:val>
                                        </p:tav>
                                      </p:tavLst>
                                    </p:anim>
                                  </p:childTnLst>
                                </p:cTn>
                              </p:par>
                              <p:par>
                                <p:cTn id="77" presetID="42" presetClass="entr" presetSubtype="0" fill="hold" grpId="0" nodeType="withEffect">
                                  <p:stCondLst>
                                    <p:cond delay="120"/>
                                  </p:stCondLst>
                                  <p:childTnLst>
                                    <p:set>
                                      <p:cBhvr>
                                        <p:cTn id="78" dur="1" fill="hold">
                                          <p:stCondLst>
                                            <p:cond delay="0"/>
                                          </p:stCondLst>
                                        </p:cTn>
                                        <p:tgtEl>
                                          <p:spTgt spid="117"/>
                                        </p:tgtEl>
                                        <p:attrNameLst>
                                          <p:attrName>style.visibility</p:attrName>
                                        </p:attrNameLst>
                                      </p:cBhvr>
                                      <p:to>
                                        <p:strVal val="visible"/>
                                      </p:to>
                                    </p:set>
                                    <p:animEffect transition="in" filter="fade">
                                      <p:cBhvr>
                                        <p:cTn id="79" dur="500"/>
                                        <p:tgtEl>
                                          <p:spTgt spid="117"/>
                                        </p:tgtEl>
                                      </p:cBhvr>
                                    </p:animEffect>
                                    <p:anim calcmode="lin" valueType="num">
                                      <p:cBhvr additive="base">
                                        <p:cTn id="80" dur="500" decel="100000" fill="hold"/>
                                        <p:tgtEl>
                                          <p:spTgt spid="117"/>
                                        </p:tgtEl>
                                        <p:attrNameLst>
                                          <p:attrName>ppt_x</p:attrName>
                                        </p:attrNameLst>
                                      </p:cBhvr>
                                      <p:tavLst>
                                        <p:tav tm="0">
                                          <p:val>
                                            <p:strVal val="#ppt_x-0.05"/>
                                          </p:val>
                                        </p:tav>
                                        <p:tav tm="100000">
                                          <p:val>
                                            <p:strVal val="#ppt_x"/>
                                          </p:val>
                                        </p:tav>
                                      </p:tavLst>
                                    </p:anim>
                                  </p:childTnLst>
                                </p:cTn>
                              </p:par>
                            </p:childTnLst>
                          </p:cTn>
                        </p:par>
                      </p:childTnLst>
                    </p:cTn>
                  </p:par>
                  <p:par>
                    <p:cTn id="81" fill="hold">
                      <p:stCondLst>
                        <p:cond delay="indefinite"/>
                      </p:stCondLst>
                      <p:childTnLst>
                        <p:par>
                          <p:cTn id="82" fill="hold">
                            <p:stCondLst>
                              <p:cond delay="0"/>
                            </p:stCondLst>
                            <p:childTnLst>
                              <p:par>
                                <p:cTn id="83" presetID="42" presetClass="entr" presetSubtype="0" fill="hold" grpId="0" nodeType="clickEffect">
                                  <p:stCondLst>
                                    <p:cond delay="0"/>
                                  </p:stCondLst>
                                  <p:childTnLst>
                                    <p:set>
                                      <p:cBhvr>
                                        <p:cTn id="84" dur="1" fill="hold">
                                          <p:stCondLst>
                                            <p:cond delay="0"/>
                                          </p:stCondLst>
                                        </p:cTn>
                                        <p:tgtEl>
                                          <p:spTgt spid="118"/>
                                        </p:tgtEl>
                                        <p:attrNameLst>
                                          <p:attrName>style.visibility</p:attrName>
                                        </p:attrNameLst>
                                      </p:cBhvr>
                                      <p:to>
                                        <p:strVal val="visible"/>
                                      </p:to>
                                    </p:set>
                                    <p:animEffect transition="in" filter="fade">
                                      <p:cBhvr>
                                        <p:cTn id="85" dur="500"/>
                                        <p:tgtEl>
                                          <p:spTgt spid="118"/>
                                        </p:tgtEl>
                                      </p:cBhvr>
                                    </p:animEffect>
                                    <p:anim calcmode="lin" valueType="num">
                                      <p:cBhvr additive="base">
                                        <p:cTn id="86" dur="500" decel="100000" fill="hold"/>
                                        <p:tgtEl>
                                          <p:spTgt spid="118"/>
                                        </p:tgtEl>
                                        <p:attrNameLst>
                                          <p:attrName>ppt_y</p:attrName>
                                        </p:attrNameLst>
                                      </p:cBhvr>
                                      <p:tavLst>
                                        <p:tav tm="0">
                                          <p:val>
                                            <p:strVal val="#ppt_y+0.06"/>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119"/>
                                        </p:tgtEl>
                                        <p:attrNameLst>
                                          <p:attrName>style.visibility</p:attrName>
                                        </p:attrNameLst>
                                      </p:cBhvr>
                                      <p:to>
                                        <p:strVal val="visible"/>
                                      </p:to>
                                    </p:set>
                                    <p:animEffect transition="in" filter="fade">
                                      <p:cBhvr>
                                        <p:cTn id="89" dur="500"/>
                                        <p:tgtEl>
                                          <p:spTgt spid="119"/>
                                        </p:tgtEl>
                                      </p:cBhvr>
                                    </p:animEffect>
                                    <p:anim calcmode="lin" valueType="num">
                                      <p:cBhvr additive="base">
                                        <p:cTn id="90" dur="5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grpId="0" nodeType="clickEffect">
                                  <p:stCondLst>
                                    <p:cond delay="0"/>
                                  </p:stCondLst>
                                  <p:childTnLst>
                                    <p:set>
                                      <p:cBhvr>
                                        <p:cTn id="94" dur="1" fill="hold">
                                          <p:stCondLst>
                                            <p:cond delay="0"/>
                                          </p:stCondLst>
                                        </p:cTn>
                                        <p:tgtEl>
                                          <p:spTgt spid="120"/>
                                        </p:tgtEl>
                                        <p:attrNameLst>
                                          <p:attrName>style.visibility</p:attrName>
                                        </p:attrNameLst>
                                      </p:cBhvr>
                                      <p:to>
                                        <p:strVal val="visible"/>
                                      </p:to>
                                    </p:set>
                                    <p:animEffect transition="in" filter="fade">
                                      <p:cBhvr>
                                        <p:cTn id="95" dur="500"/>
                                        <p:tgtEl>
                                          <p:spTgt spid="120"/>
                                        </p:tgtEl>
                                      </p:cBhvr>
                                    </p:animEffect>
                                    <p:anim calcmode="lin" valueType="num">
                                      <p:cBhvr additive="base">
                                        <p:cTn id="96" dur="500" decel="100000" fill="hold"/>
                                        <p:tgtEl>
                                          <p:spTgt spid="120"/>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6"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SCENE 8</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281</a:t>
            </a:r>
            <a:endParaRPr lang="en-US" sz="850" dirty="0"/>
          </a:p>
        </p:txBody>
      </p:sp>
      <p:sp>
        <p:nvSpPr>
          <p:cNvPr id="101" name="s101"/>
          <p:cNvSpPr txBox="1"/>
          <p:nvPr/>
        </p:nvSpPr>
        <p:spPr>
          <a:xfrm>
            <a:off x="497434" y="1051560"/>
            <a:ext cx="2743200" cy="12801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8800" b="1" dirty="0">
                <a:solidFill>
                  <a:srgbClr val="FBBF24"/>
                </a:solidFill>
                <a:latin typeface="Segoe UI"/>
                <a:ea typeface="Segoe UI"/>
                <a:cs typeface="Segoe UI"/>
              </a:rPr>
              <a:t>08</a:t>
            </a:r>
            <a:endParaRPr lang="en-US" sz="8800" dirty="0"/>
          </a:p>
        </p:txBody>
      </p:sp>
      <p:sp>
        <p:nvSpPr>
          <p:cNvPr id="102" name="s102"/>
          <p:cNvSpPr txBox="1"/>
          <p:nvPr/>
        </p:nvSpPr>
        <p:spPr>
          <a:xfrm>
            <a:off x="543154" y="2331720"/>
            <a:ext cx="11088014" cy="7772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The Sprint Ends</a:t>
            </a:r>
            <a:endParaRPr lang="en-US" sz="4000" dirty="0"/>
          </a:p>
        </p:txBody>
      </p:sp>
      <p:sp>
        <p:nvSpPr>
          <p:cNvPr id="103" name="s103"/>
          <p:cNvSpPr txBox="1"/>
          <p:nvPr/>
        </p:nvSpPr>
        <p:spPr>
          <a:xfrm>
            <a:off x="543154" y="3108960"/>
            <a:ext cx="1108801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800" b="0" dirty="0">
                <a:solidFill>
                  <a:srgbClr val="CBD5E1"/>
                </a:solidFill>
                <a:latin typeface="Segoe UI"/>
                <a:ea typeface="Segoe UI"/>
                <a:cs typeface="Segoe UI"/>
              </a:rPr>
              <a:t>Show the work to the client, then improve the way we work.</a:t>
            </a:r>
            <a:endParaRPr lang="en-US" sz="1800" dirty="0"/>
          </a:p>
        </p:txBody>
      </p:sp>
      <p:sp>
        <p:nvSpPr>
          <p:cNvPr id="104" name="s104"/>
          <p:cNvSpPr txBox="1"/>
          <p:nvPr/>
        </p:nvSpPr>
        <p:spPr>
          <a:xfrm>
            <a:off x="543154" y="393192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IN THIS SCENE</a:t>
            </a:r>
            <a:endParaRPr lang="en-US" sz="1100" dirty="0"/>
          </a:p>
        </p:txBody>
      </p:sp>
      <p:sp>
        <p:nvSpPr>
          <p:cNvPr id="105" name="s105"/>
          <p:cNvSpPr/>
          <p:nvPr/>
        </p:nvSpPr>
        <p:spPr>
          <a:xfrm>
            <a:off x="543154" y="4251960"/>
            <a:ext cx="2651760" cy="548640"/>
          </a:xfrm>
          <a:prstGeom prst="roundRect">
            <a:avLst>
              <a:gd name="adj" fmla="val 20000"/>
            </a:avLst>
          </a:prstGeom>
          <a:solidFill>
            <a:srgbClr val="FBBF24">
              <a:alpha val="14000"/>
            </a:srgbClr>
          </a:solidFill>
          <a:ln w="12700">
            <a:solidFill>
              <a:srgbClr val="FBBF24"/>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Sprint Review</a:t>
            </a:r>
            <a:endParaRPr lang="en-US" sz="1350" dirty="0"/>
          </a:p>
        </p:txBody>
      </p:sp>
      <p:sp>
        <p:nvSpPr>
          <p:cNvPr id="106" name="s106"/>
          <p:cNvSpPr/>
          <p:nvPr/>
        </p:nvSpPr>
        <p:spPr>
          <a:xfrm>
            <a:off x="3377794" y="4251960"/>
            <a:ext cx="2651760" cy="548640"/>
          </a:xfrm>
          <a:prstGeom prst="roundRect">
            <a:avLst>
              <a:gd name="adj" fmla="val 20000"/>
            </a:avLst>
          </a:prstGeom>
          <a:solidFill>
            <a:srgbClr val="FBBF24">
              <a:alpha val="14000"/>
            </a:srgbClr>
          </a:solidFill>
          <a:ln w="12700">
            <a:solidFill>
              <a:srgbClr val="FBBF24"/>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Retrospective</a:t>
            </a:r>
            <a:endParaRPr lang="en-US" sz="1350" dirty="0"/>
          </a:p>
        </p:txBody>
      </p:sp>
      <p:sp>
        <p:nvSpPr>
          <p:cNvPr id="107" name="s107"/>
          <p:cNvSpPr/>
          <p:nvPr/>
        </p:nvSpPr>
        <p:spPr>
          <a:xfrm>
            <a:off x="543154"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1</a:t>
            </a:r>
            <a:endParaRPr lang="en-US" sz="1300" dirty="0"/>
          </a:p>
        </p:txBody>
      </p:sp>
      <p:sp>
        <p:nvSpPr>
          <p:cNvPr id="108" name="s108"/>
          <p:cNvSpPr/>
          <p:nvPr/>
        </p:nvSpPr>
        <p:spPr>
          <a:xfrm>
            <a:off x="1659270" y="5669280"/>
            <a:ext cx="1042965" cy="457200"/>
          </a:xfrm>
          <a:prstGeom prst="roundRect">
            <a:avLst>
              <a:gd name="adj" fmla="val 20000"/>
            </a:avLst>
          </a:prstGeom>
          <a:solidFill>
            <a:srgbClr val="111B2E"/>
          </a:solidFill>
          <a:ln w="12700">
            <a:solidFill>
              <a:srgbClr val="FBBF24"/>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2</a:t>
            </a:r>
            <a:endParaRPr lang="en-US" sz="1300" dirty="0"/>
          </a:p>
        </p:txBody>
      </p:sp>
      <p:sp>
        <p:nvSpPr>
          <p:cNvPr id="109" name="s109"/>
          <p:cNvSpPr/>
          <p:nvPr/>
        </p:nvSpPr>
        <p:spPr>
          <a:xfrm>
            <a:off x="2775387" y="5669280"/>
            <a:ext cx="1042965" cy="457200"/>
          </a:xfrm>
          <a:prstGeom prst="roundRect">
            <a:avLst>
              <a:gd name="adj" fmla="val 20000"/>
            </a:avLst>
          </a:prstGeom>
          <a:solidFill>
            <a:srgbClr val="111B2E"/>
          </a:solidFill>
          <a:ln w="12700">
            <a:solidFill>
              <a:srgbClr val="A78B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A78BFA"/>
                </a:solidFill>
                <a:latin typeface="Segoe UI"/>
                <a:ea typeface="Segoe UI"/>
                <a:cs typeface="Segoe UI"/>
              </a:rPr>
              <a:t>3</a:t>
            </a:r>
            <a:endParaRPr lang="en-US" sz="1300" dirty="0"/>
          </a:p>
        </p:txBody>
      </p:sp>
      <p:sp>
        <p:nvSpPr>
          <p:cNvPr id="110" name="s110"/>
          <p:cNvSpPr/>
          <p:nvPr/>
        </p:nvSpPr>
        <p:spPr>
          <a:xfrm>
            <a:off x="3891504" y="5669280"/>
            <a:ext cx="1042965" cy="457200"/>
          </a:xfrm>
          <a:prstGeom prst="roundRect">
            <a:avLst>
              <a:gd name="adj" fmla="val 20000"/>
            </a:avLst>
          </a:prstGeom>
          <a:solidFill>
            <a:srgbClr val="111B2E"/>
          </a:solidFill>
          <a:ln w="12700">
            <a:solidFill>
              <a:srgbClr val="13D0F7"/>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13D0F7"/>
                </a:solidFill>
                <a:latin typeface="Segoe UI"/>
                <a:ea typeface="Segoe UI"/>
                <a:cs typeface="Segoe UI"/>
              </a:rPr>
              <a:t>4</a:t>
            </a:r>
            <a:endParaRPr lang="en-US" sz="1300" dirty="0"/>
          </a:p>
        </p:txBody>
      </p:sp>
      <p:sp>
        <p:nvSpPr>
          <p:cNvPr id="111" name="s111"/>
          <p:cNvSpPr/>
          <p:nvPr/>
        </p:nvSpPr>
        <p:spPr>
          <a:xfrm>
            <a:off x="5007620" y="5669280"/>
            <a:ext cx="1042965" cy="457200"/>
          </a:xfrm>
          <a:prstGeom prst="roundRect">
            <a:avLst>
              <a:gd name="adj" fmla="val 20000"/>
            </a:avLst>
          </a:prstGeom>
          <a:solidFill>
            <a:srgbClr val="111B2E"/>
          </a:solidFill>
          <a:ln w="12700">
            <a:solidFill>
              <a:srgbClr val="34D399"/>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34D399"/>
                </a:solidFill>
                <a:latin typeface="Segoe UI"/>
                <a:ea typeface="Segoe UI"/>
                <a:cs typeface="Segoe UI"/>
              </a:rPr>
              <a:t>5</a:t>
            </a:r>
            <a:endParaRPr lang="en-US" sz="1300" dirty="0"/>
          </a:p>
        </p:txBody>
      </p:sp>
      <p:sp>
        <p:nvSpPr>
          <p:cNvPr id="112" name="s112"/>
          <p:cNvSpPr/>
          <p:nvPr/>
        </p:nvSpPr>
        <p:spPr>
          <a:xfrm>
            <a:off x="6123737"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6</a:t>
            </a:r>
            <a:endParaRPr lang="en-US" sz="1300" dirty="0"/>
          </a:p>
        </p:txBody>
      </p:sp>
      <p:sp>
        <p:nvSpPr>
          <p:cNvPr id="113" name="s113"/>
          <p:cNvSpPr/>
          <p:nvPr/>
        </p:nvSpPr>
        <p:spPr>
          <a:xfrm>
            <a:off x="7239853" y="5669280"/>
            <a:ext cx="1042965" cy="457200"/>
          </a:xfrm>
          <a:prstGeom prst="roundRect">
            <a:avLst>
              <a:gd name="adj" fmla="val 20000"/>
            </a:avLst>
          </a:prstGeom>
          <a:solidFill>
            <a:srgbClr val="111B2E"/>
          </a:solidFill>
          <a:ln w="12700">
            <a:solidFill>
              <a:srgbClr val="F87171"/>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87171"/>
                </a:solidFill>
                <a:latin typeface="Segoe UI"/>
                <a:ea typeface="Segoe UI"/>
                <a:cs typeface="Segoe UI"/>
              </a:rPr>
              <a:t>7</a:t>
            </a:r>
            <a:endParaRPr lang="en-US" sz="1300" dirty="0"/>
          </a:p>
        </p:txBody>
      </p:sp>
      <p:sp>
        <p:nvSpPr>
          <p:cNvPr id="114" name="s114"/>
          <p:cNvSpPr/>
          <p:nvPr/>
        </p:nvSpPr>
        <p:spPr>
          <a:xfrm>
            <a:off x="8355970" y="5669280"/>
            <a:ext cx="1042965" cy="457200"/>
          </a:xfrm>
          <a:prstGeom prst="roundRect">
            <a:avLst>
              <a:gd name="adj" fmla="val 20000"/>
            </a:avLst>
          </a:prstGeom>
          <a:solidFill>
            <a:srgbClr val="FBBF24"/>
          </a:solidFill>
          <a:ln w="19050">
            <a:solidFill>
              <a:srgbClr val="FBBF24"/>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8</a:t>
            </a:r>
            <a:endParaRPr lang="en-US" sz="1300" dirty="0"/>
          </a:p>
        </p:txBody>
      </p:sp>
      <p:sp>
        <p:nvSpPr>
          <p:cNvPr id="115" name="s115"/>
          <p:cNvSpPr/>
          <p:nvPr/>
        </p:nvSpPr>
        <p:spPr>
          <a:xfrm>
            <a:off x="9472087"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9</a:t>
            </a:r>
            <a:endParaRPr lang="en-US" sz="1300" dirty="0"/>
          </a:p>
        </p:txBody>
      </p:sp>
      <p:sp>
        <p:nvSpPr>
          <p:cNvPr id="116" name="s116"/>
          <p:cNvSpPr/>
          <p:nvPr/>
        </p:nvSpPr>
        <p:spPr>
          <a:xfrm>
            <a:off x="1058820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10</a:t>
            </a:r>
            <a:endParaRPr lang="en-US" sz="13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1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anim calcmode="lin" valueType="num">
                                      <p:cBhvr additive="base">
                                        <p:cTn id="15" dur="5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2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10" presetClass="entr" presetSubtype="0" fill="hold" grpId="0" nodeType="withEffect">
                                  <p:stCondLst>
                                    <p:cond delay="33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childTnLst>
                                </p:cTn>
                              </p:par>
                              <p:par>
                                <p:cTn id="23" presetID="42" presetClass="entr" presetSubtype="0" fill="hold" grpId="0" nodeType="withEffect">
                                  <p:stCondLst>
                                    <p:cond delay="44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55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10" presetClass="entr" presetSubtype="0" fill="hold" grpId="0" nodeType="withEffect">
                                  <p:stCondLst>
                                    <p:cond delay="65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childTnLst>
                                </p:cTn>
                              </p:par>
                              <p:par>
                                <p:cTn id="34" presetID="10" presetClass="entr" presetSubtype="0" fill="hold" grpId="0" nodeType="withEffect">
                                  <p:stCondLst>
                                    <p:cond delay="650"/>
                                  </p:stCondLst>
                                  <p:childTnLst>
                                    <p:set>
                                      <p:cBhvr>
                                        <p:cTn id="35" dur="1" fill="hold">
                                          <p:stCondLst>
                                            <p:cond delay="0"/>
                                          </p:stCondLst>
                                        </p:cTn>
                                        <p:tgtEl>
                                          <p:spTgt spid="108"/>
                                        </p:tgtEl>
                                        <p:attrNameLst>
                                          <p:attrName>style.visibility</p:attrName>
                                        </p:attrNameLst>
                                      </p:cBhvr>
                                      <p:to>
                                        <p:strVal val="visible"/>
                                      </p:to>
                                    </p:set>
                                    <p:animEffect transition="in" filter="fade">
                                      <p:cBhvr>
                                        <p:cTn id="36" dur="500"/>
                                        <p:tgtEl>
                                          <p:spTgt spid="108"/>
                                        </p:tgtEl>
                                      </p:cBhvr>
                                    </p:animEffect>
                                  </p:childTnLst>
                                </p:cTn>
                              </p:par>
                              <p:par>
                                <p:cTn id="37" presetID="10" presetClass="entr" presetSubtype="0" fill="hold" grpId="0" nodeType="withEffect">
                                  <p:stCondLst>
                                    <p:cond delay="65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childTnLst>
                                </p:cTn>
                              </p:par>
                              <p:par>
                                <p:cTn id="40" presetID="10" presetClass="entr" presetSubtype="0" fill="hold" grpId="0" nodeType="withEffect">
                                  <p:stCondLst>
                                    <p:cond delay="650"/>
                                  </p:stCondLst>
                                  <p:childTnLst>
                                    <p:set>
                                      <p:cBhvr>
                                        <p:cTn id="41" dur="1" fill="hold">
                                          <p:stCondLst>
                                            <p:cond delay="0"/>
                                          </p:stCondLst>
                                        </p:cTn>
                                        <p:tgtEl>
                                          <p:spTgt spid="110"/>
                                        </p:tgtEl>
                                        <p:attrNameLst>
                                          <p:attrName>style.visibility</p:attrName>
                                        </p:attrNameLst>
                                      </p:cBhvr>
                                      <p:to>
                                        <p:strVal val="visible"/>
                                      </p:to>
                                    </p:set>
                                    <p:animEffect transition="in" filter="fade">
                                      <p:cBhvr>
                                        <p:cTn id="42" dur="500"/>
                                        <p:tgtEl>
                                          <p:spTgt spid="110"/>
                                        </p:tgtEl>
                                      </p:cBhvr>
                                    </p:animEffect>
                                  </p:childTnLst>
                                </p:cTn>
                              </p:par>
                              <p:par>
                                <p:cTn id="43" presetID="10" presetClass="entr" presetSubtype="0" fill="hold" grpId="0" nodeType="withEffect">
                                  <p:stCondLst>
                                    <p:cond delay="650"/>
                                  </p:stCondLst>
                                  <p:childTnLst>
                                    <p:set>
                                      <p:cBhvr>
                                        <p:cTn id="44" dur="1" fill="hold">
                                          <p:stCondLst>
                                            <p:cond delay="0"/>
                                          </p:stCondLst>
                                        </p:cTn>
                                        <p:tgtEl>
                                          <p:spTgt spid="111"/>
                                        </p:tgtEl>
                                        <p:attrNameLst>
                                          <p:attrName>style.visibility</p:attrName>
                                        </p:attrNameLst>
                                      </p:cBhvr>
                                      <p:to>
                                        <p:strVal val="visible"/>
                                      </p:to>
                                    </p:set>
                                    <p:animEffect transition="in" filter="fade">
                                      <p:cBhvr>
                                        <p:cTn id="45" dur="500"/>
                                        <p:tgtEl>
                                          <p:spTgt spid="111"/>
                                        </p:tgtEl>
                                      </p:cBhvr>
                                    </p:animEffect>
                                  </p:childTnLst>
                                </p:cTn>
                              </p:par>
                              <p:par>
                                <p:cTn id="46" presetID="10" presetClass="entr" presetSubtype="0" fill="hold" grpId="0" nodeType="withEffect">
                                  <p:stCondLst>
                                    <p:cond delay="650"/>
                                  </p:stCondLst>
                                  <p:childTnLst>
                                    <p:set>
                                      <p:cBhvr>
                                        <p:cTn id="47" dur="1" fill="hold">
                                          <p:stCondLst>
                                            <p:cond delay="0"/>
                                          </p:stCondLst>
                                        </p:cTn>
                                        <p:tgtEl>
                                          <p:spTgt spid="112"/>
                                        </p:tgtEl>
                                        <p:attrNameLst>
                                          <p:attrName>style.visibility</p:attrName>
                                        </p:attrNameLst>
                                      </p:cBhvr>
                                      <p:to>
                                        <p:strVal val="visible"/>
                                      </p:to>
                                    </p:set>
                                    <p:animEffect transition="in" filter="fade">
                                      <p:cBhvr>
                                        <p:cTn id="48" dur="500"/>
                                        <p:tgtEl>
                                          <p:spTgt spid="112"/>
                                        </p:tgtEl>
                                      </p:cBhvr>
                                    </p:animEffect>
                                  </p:childTnLst>
                                </p:cTn>
                              </p:par>
                              <p:par>
                                <p:cTn id="49" presetID="10" presetClass="entr" presetSubtype="0" fill="hold" grpId="0" nodeType="withEffect">
                                  <p:stCondLst>
                                    <p:cond delay="65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500"/>
                                        <p:tgtEl>
                                          <p:spTgt spid="113"/>
                                        </p:tgtEl>
                                      </p:cBhvr>
                                    </p:animEffect>
                                  </p:childTnLst>
                                </p:cTn>
                              </p:par>
                              <p:par>
                                <p:cTn id="52" presetID="10" presetClass="entr" presetSubtype="0" fill="hold" grpId="0" nodeType="withEffect">
                                  <p:stCondLst>
                                    <p:cond delay="650"/>
                                  </p:stCondLst>
                                  <p:childTnLst>
                                    <p:set>
                                      <p:cBhvr>
                                        <p:cTn id="53" dur="1" fill="hold">
                                          <p:stCondLst>
                                            <p:cond delay="0"/>
                                          </p:stCondLst>
                                        </p:cTn>
                                        <p:tgtEl>
                                          <p:spTgt spid="114"/>
                                        </p:tgtEl>
                                        <p:attrNameLst>
                                          <p:attrName>style.visibility</p:attrName>
                                        </p:attrNameLst>
                                      </p:cBhvr>
                                      <p:to>
                                        <p:strVal val="visible"/>
                                      </p:to>
                                    </p:set>
                                    <p:animEffect transition="in" filter="fade">
                                      <p:cBhvr>
                                        <p:cTn id="54" dur="500"/>
                                        <p:tgtEl>
                                          <p:spTgt spid="114"/>
                                        </p:tgtEl>
                                      </p:cBhvr>
                                    </p:animEffect>
                                  </p:childTnLst>
                                </p:cTn>
                              </p:par>
                              <p:par>
                                <p:cTn id="55" presetID="10" presetClass="entr" presetSubtype="0" fill="hold" grpId="0" nodeType="withEffect">
                                  <p:stCondLst>
                                    <p:cond delay="650"/>
                                  </p:stCondLst>
                                  <p:childTnLst>
                                    <p:set>
                                      <p:cBhvr>
                                        <p:cTn id="56" dur="1" fill="hold">
                                          <p:stCondLst>
                                            <p:cond delay="0"/>
                                          </p:stCondLst>
                                        </p:cTn>
                                        <p:tgtEl>
                                          <p:spTgt spid="115"/>
                                        </p:tgtEl>
                                        <p:attrNameLst>
                                          <p:attrName>style.visibility</p:attrName>
                                        </p:attrNameLst>
                                      </p:cBhvr>
                                      <p:to>
                                        <p:strVal val="visible"/>
                                      </p:to>
                                    </p:set>
                                    <p:animEffect transition="in" filter="fade">
                                      <p:cBhvr>
                                        <p:cTn id="57" dur="500"/>
                                        <p:tgtEl>
                                          <p:spTgt spid="115"/>
                                        </p:tgtEl>
                                      </p:cBhvr>
                                    </p:animEffect>
                                  </p:childTnLst>
                                </p:cTn>
                              </p:par>
                              <p:par>
                                <p:cTn id="58" presetID="10" presetClass="entr" presetSubtype="0" fill="hold" grpId="0" nodeType="withEffect">
                                  <p:stCondLst>
                                    <p:cond delay="650"/>
                                  </p:stCondLst>
                                  <p:childTnLst>
                                    <p:set>
                                      <p:cBhvr>
                                        <p:cTn id="59" dur="1" fill="hold">
                                          <p:stCondLst>
                                            <p:cond delay="0"/>
                                          </p:stCondLst>
                                        </p:cTn>
                                        <p:tgtEl>
                                          <p:spTgt spid="116"/>
                                        </p:tgtEl>
                                        <p:attrNameLst>
                                          <p:attrName>style.visibility</p:attrName>
                                        </p:attrNameLst>
                                      </p:cBhvr>
                                      <p:to>
                                        <p:strVal val="visible"/>
                                      </p:to>
                                    </p:set>
                                    <p:animEffect transition="in" filter="fade">
                                      <p:cBhvr>
                                        <p:cTn id="60" dur="5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INVITE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Sprint Is Ending: Sprint Review</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Inspect the outcome with stakeholders. Not only a demo.</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REVIEW</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282</a:t>
            </a:r>
            <a:endParaRPr lang="en-US" sz="850" dirty="0"/>
          </a:p>
        </p:txBody>
      </p:sp>
      <p:sp>
        <p:nvSpPr>
          <p:cNvPr id="101" name="s101"/>
          <p:cNvSpPr/>
          <p:nvPr/>
        </p:nvSpPr>
        <p:spPr>
          <a:xfrm>
            <a:off x="543154" y="1965960"/>
            <a:ext cx="5086807" cy="2377440"/>
          </a:xfrm>
          <a:prstGeom prst="roundRect">
            <a:avLst>
              <a:gd name="adj" fmla="val 8000"/>
            </a:avLst>
          </a:prstGeom>
          <a:solidFill>
            <a:srgbClr val="111B2E"/>
          </a:solidFill>
          <a:ln w="12700">
            <a:solidFill>
              <a:srgbClr val="60A5FA"/>
            </a:solidFill>
            <a:prstDash val="solid"/>
          </a:ln>
        </p:spPr>
        <p:txBody>
          <a:bodyPr wrap="square" lIns="164592" tIns="109728" rIns="137160" bIns="91440" rtlCol="0" anchor="t">
            <a:noAutofit/>
          </a:bodyPr>
          <a:lstStyle/>
          <a:p>
            <a:endParaRPr lang="en-US"/>
          </a:p>
        </p:txBody>
      </p:sp>
      <p:sp>
        <p:nvSpPr>
          <p:cNvPr id="102" name="s102"/>
          <p:cNvSpPr txBox="1"/>
          <p:nvPr/>
        </p:nvSpPr>
        <p:spPr>
          <a:xfrm>
            <a:off x="543154" y="2103120"/>
            <a:ext cx="5086807"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60A5FA"/>
                </a:solidFill>
                <a:latin typeface="Segoe UI"/>
                <a:ea typeface="Segoe UI"/>
                <a:cs typeface="Segoe UI"/>
              </a:rPr>
              <a:t>SCRUM TEAM</a:t>
            </a:r>
            <a:endParaRPr lang="en-US" sz="1200" dirty="0"/>
          </a:p>
        </p:txBody>
      </p:sp>
      <p:sp>
        <p:nvSpPr>
          <p:cNvPr id="103" name="s103"/>
          <p:cNvSpPr/>
          <p:nvPr/>
        </p:nvSpPr>
        <p:spPr>
          <a:xfrm>
            <a:off x="921334" y="2651760"/>
            <a:ext cx="548640" cy="548640"/>
          </a:xfrm>
          <a:prstGeom prst="ellipse">
            <a:avLst/>
          </a:prstGeom>
          <a:solidFill>
            <a:srgbClr val="FBBF24">
              <a:alpha val="22000"/>
            </a:srgbClr>
          </a:solidFill>
          <a:ln w="1905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FBBF24"/>
                </a:solidFill>
                <a:latin typeface="Segoe UI"/>
                <a:ea typeface="Segoe UI"/>
                <a:cs typeface="Segoe UI"/>
              </a:rPr>
              <a:t>S</a:t>
            </a:r>
            <a:endParaRPr lang="en-US" sz="1560" dirty="0"/>
          </a:p>
        </p:txBody>
      </p:sp>
      <p:sp>
        <p:nvSpPr>
          <p:cNvPr id="104" name="s104"/>
          <p:cNvSpPr txBox="1"/>
          <p:nvPr/>
        </p:nvSpPr>
        <p:spPr>
          <a:xfrm>
            <a:off x="817474" y="3255264"/>
            <a:ext cx="756361"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Sarah</a:t>
            </a:r>
            <a:endParaRPr lang="en-US" sz="1200" dirty="0"/>
          </a:p>
        </p:txBody>
      </p:sp>
      <p:sp>
        <p:nvSpPr>
          <p:cNvPr id="105" name="s105"/>
          <p:cNvSpPr/>
          <p:nvPr/>
        </p:nvSpPr>
        <p:spPr>
          <a:xfrm>
            <a:off x="1677695" y="2651760"/>
            <a:ext cx="548640" cy="548640"/>
          </a:xfrm>
          <a:prstGeom prst="ellipse">
            <a:avLst/>
          </a:prstGeom>
          <a:solidFill>
            <a:srgbClr val="A78BFA">
              <a:alpha val="22000"/>
            </a:srgbClr>
          </a:solidFill>
          <a:ln w="1905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A78BFA"/>
                </a:solidFill>
                <a:latin typeface="Segoe UI"/>
                <a:ea typeface="Segoe UI"/>
                <a:cs typeface="Segoe UI"/>
              </a:rPr>
              <a:t>A</a:t>
            </a:r>
            <a:endParaRPr lang="en-US" sz="1560" dirty="0"/>
          </a:p>
        </p:txBody>
      </p:sp>
      <p:sp>
        <p:nvSpPr>
          <p:cNvPr id="106" name="s106"/>
          <p:cNvSpPr txBox="1"/>
          <p:nvPr/>
        </p:nvSpPr>
        <p:spPr>
          <a:xfrm>
            <a:off x="1573835" y="3255264"/>
            <a:ext cx="756361"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Adam</a:t>
            </a:r>
            <a:endParaRPr lang="en-US" sz="1200" dirty="0"/>
          </a:p>
        </p:txBody>
      </p:sp>
      <p:sp>
        <p:nvSpPr>
          <p:cNvPr id="107" name="s107"/>
          <p:cNvSpPr/>
          <p:nvPr/>
        </p:nvSpPr>
        <p:spPr>
          <a:xfrm>
            <a:off x="2434057" y="2651760"/>
            <a:ext cx="548640" cy="548640"/>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13D0F7"/>
                </a:solidFill>
                <a:latin typeface="Segoe UI"/>
                <a:ea typeface="Segoe UI"/>
                <a:cs typeface="Segoe UI"/>
              </a:rPr>
              <a:t>O</a:t>
            </a:r>
            <a:endParaRPr lang="en-US" sz="1560" dirty="0"/>
          </a:p>
        </p:txBody>
      </p:sp>
      <p:sp>
        <p:nvSpPr>
          <p:cNvPr id="108" name="s108"/>
          <p:cNvSpPr txBox="1"/>
          <p:nvPr/>
        </p:nvSpPr>
        <p:spPr>
          <a:xfrm>
            <a:off x="2330196" y="3255264"/>
            <a:ext cx="756361"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Omar</a:t>
            </a:r>
            <a:endParaRPr lang="en-US" sz="1200" dirty="0"/>
          </a:p>
        </p:txBody>
      </p:sp>
      <p:sp>
        <p:nvSpPr>
          <p:cNvPr id="109" name="s109"/>
          <p:cNvSpPr/>
          <p:nvPr/>
        </p:nvSpPr>
        <p:spPr>
          <a:xfrm>
            <a:off x="3190418" y="2651760"/>
            <a:ext cx="548640" cy="548640"/>
          </a:xfrm>
          <a:prstGeom prst="ellipse">
            <a:avLst/>
          </a:prstGeom>
          <a:solidFill>
            <a:srgbClr val="F472B6">
              <a:alpha val="22000"/>
            </a:srgbClr>
          </a:solidFill>
          <a:ln w="19050">
            <a:solidFill>
              <a:srgbClr val="F472B6"/>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F472B6"/>
                </a:solidFill>
                <a:latin typeface="Segoe UI"/>
                <a:ea typeface="Segoe UI"/>
                <a:cs typeface="Segoe UI"/>
              </a:rPr>
              <a:t>L</a:t>
            </a:r>
            <a:endParaRPr lang="en-US" sz="1560" dirty="0"/>
          </a:p>
        </p:txBody>
      </p:sp>
      <p:sp>
        <p:nvSpPr>
          <p:cNvPr id="110" name="s110"/>
          <p:cNvSpPr txBox="1"/>
          <p:nvPr/>
        </p:nvSpPr>
        <p:spPr>
          <a:xfrm>
            <a:off x="3086557" y="3255264"/>
            <a:ext cx="756361"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Lina</a:t>
            </a:r>
            <a:endParaRPr lang="en-US" sz="1200" dirty="0"/>
          </a:p>
        </p:txBody>
      </p:sp>
      <p:sp>
        <p:nvSpPr>
          <p:cNvPr id="111" name="s111"/>
          <p:cNvSpPr/>
          <p:nvPr/>
        </p:nvSpPr>
        <p:spPr>
          <a:xfrm>
            <a:off x="3946779" y="2651760"/>
            <a:ext cx="548640" cy="548640"/>
          </a:xfrm>
          <a:prstGeom prst="ellipse">
            <a:avLst/>
          </a:prstGeom>
          <a:solidFill>
            <a:srgbClr val="34D399">
              <a:alpha val="22000"/>
            </a:srgbClr>
          </a:solidFill>
          <a:ln w="1905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34D399"/>
                </a:solidFill>
                <a:latin typeface="Segoe UI"/>
                <a:ea typeface="Segoe UI"/>
                <a:cs typeface="Segoe UI"/>
              </a:rPr>
              <a:t>M</a:t>
            </a:r>
            <a:endParaRPr lang="en-US" sz="1560" dirty="0"/>
          </a:p>
        </p:txBody>
      </p:sp>
      <p:sp>
        <p:nvSpPr>
          <p:cNvPr id="112" name="s112"/>
          <p:cNvSpPr txBox="1"/>
          <p:nvPr/>
        </p:nvSpPr>
        <p:spPr>
          <a:xfrm>
            <a:off x="3842918" y="3255264"/>
            <a:ext cx="756361"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Maya</a:t>
            </a:r>
            <a:endParaRPr lang="en-US" sz="1200" dirty="0"/>
          </a:p>
        </p:txBody>
      </p:sp>
      <p:sp>
        <p:nvSpPr>
          <p:cNvPr id="113" name="s113"/>
          <p:cNvSpPr/>
          <p:nvPr/>
        </p:nvSpPr>
        <p:spPr>
          <a:xfrm>
            <a:off x="4703140" y="2651760"/>
            <a:ext cx="548640" cy="548640"/>
          </a:xfrm>
          <a:prstGeom prst="ellipse">
            <a:avLst/>
          </a:prstGeom>
          <a:solidFill>
            <a:srgbClr val="F0A98B">
              <a:alpha val="22000"/>
            </a:srgbClr>
          </a:solidFill>
          <a:ln w="19050">
            <a:solidFill>
              <a:srgbClr val="F0A98B"/>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F0A98B"/>
                </a:solidFill>
                <a:latin typeface="Segoe UI"/>
                <a:ea typeface="Segoe UI"/>
                <a:cs typeface="Segoe UI"/>
              </a:rPr>
              <a:t>D</a:t>
            </a:r>
            <a:endParaRPr lang="en-US" sz="1560" dirty="0"/>
          </a:p>
        </p:txBody>
      </p:sp>
      <p:sp>
        <p:nvSpPr>
          <p:cNvPr id="114" name="s114"/>
          <p:cNvSpPr txBox="1"/>
          <p:nvPr/>
        </p:nvSpPr>
        <p:spPr>
          <a:xfrm>
            <a:off x="4599280" y="3255264"/>
            <a:ext cx="756361"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Daniel</a:t>
            </a:r>
            <a:endParaRPr lang="en-US" sz="1200" dirty="0"/>
          </a:p>
        </p:txBody>
      </p:sp>
      <p:sp>
        <p:nvSpPr>
          <p:cNvPr id="115" name="s115"/>
          <p:cNvSpPr txBox="1"/>
          <p:nvPr/>
        </p:nvSpPr>
        <p:spPr>
          <a:xfrm>
            <a:off x="5629961" y="2743200"/>
            <a:ext cx="914400" cy="82296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4000" b="1" dirty="0">
                <a:solidFill>
                  <a:srgbClr val="94A3B8"/>
                </a:solidFill>
                <a:latin typeface="Segoe UI"/>
                <a:ea typeface="Segoe UI"/>
                <a:cs typeface="Segoe UI"/>
              </a:rPr>
              <a:t>+</a:t>
            </a:r>
            <a:endParaRPr lang="en-US" sz="4000" dirty="0"/>
          </a:p>
        </p:txBody>
      </p:sp>
      <p:sp>
        <p:nvSpPr>
          <p:cNvPr id="116" name="s116"/>
          <p:cNvSpPr/>
          <p:nvPr/>
        </p:nvSpPr>
        <p:spPr>
          <a:xfrm>
            <a:off x="6544361" y="1965960"/>
            <a:ext cx="5086807" cy="2377440"/>
          </a:xfrm>
          <a:prstGeom prst="roundRect">
            <a:avLst>
              <a:gd name="adj" fmla="val 8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17" name="s117"/>
          <p:cNvSpPr txBox="1"/>
          <p:nvPr/>
        </p:nvSpPr>
        <p:spPr>
          <a:xfrm>
            <a:off x="6544361" y="2103120"/>
            <a:ext cx="5086807"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A78BFA"/>
                </a:solidFill>
                <a:latin typeface="Segoe UI"/>
                <a:ea typeface="Segoe UI"/>
                <a:cs typeface="Segoe UI"/>
              </a:rPr>
              <a:t>STAKEHOLDERS</a:t>
            </a:r>
            <a:endParaRPr lang="en-US" sz="1200" dirty="0"/>
          </a:p>
        </p:txBody>
      </p:sp>
      <p:sp>
        <p:nvSpPr>
          <p:cNvPr id="118" name="s118"/>
          <p:cNvSpPr/>
          <p:nvPr/>
        </p:nvSpPr>
        <p:spPr>
          <a:xfrm>
            <a:off x="7239762" y="2651760"/>
            <a:ext cx="548640" cy="54864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19" name="img119"/>
          <p:cNvPicPr>
            <a:picLocks noChangeAspect="1"/>
          </p:cNvPicPr>
          <p:nvPr/>
        </p:nvPicPr>
        <p:blipFill>
          <a:blip r:embed="rId4"/>
          <a:stretch>
            <a:fillRect/>
          </a:stretch>
        </p:blipFill>
        <p:spPr>
          <a:xfrm>
            <a:off x="7371436" y="2783434"/>
            <a:ext cx="285293" cy="285293"/>
          </a:xfrm>
          <a:prstGeom prst="rect">
            <a:avLst/>
          </a:prstGeom>
        </p:spPr>
      </p:pic>
      <p:sp>
        <p:nvSpPr>
          <p:cNvPr id="120" name="s120"/>
          <p:cNvSpPr txBox="1"/>
          <p:nvPr/>
        </p:nvSpPr>
        <p:spPr>
          <a:xfrm>
            <a:off x="6727241" y="3291840"/>
            <a:ext cx="157368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1" dirty="0">
                <a:solidFill>
                  <a:srgbClr val="FFFFFF"/>
                </a:solidFill>
                <a:latin typeface="Segoe UI"/>
                <a:ea typeface="Segoe UI"/>
                <a:cs typeface="Segoe UI"/>
              </a:rPr>
              <a:t>Hospital manager</a:t>
            </a:r>
            <a:endParaRPr lang="en-US" sz="1150" dirty="0"/>
          </a:p>
        </p:txBody>
      </p:sp>
      <p:sp>
        <p:nvSpPr>
          <p:cNvPr id="121" name="s121"/>
          <p:cNvSpPr/>
          <p:nvPr/>
        </p:nvSpPr>
        <p:spPr>
          <a:xfrm>
            <a:off x="8813444" y="2651760"/>
            <a:ext cx="548640" cy="54864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22" name="img122"/>
          <p:cNvPicPr>
            <a:picLocks noChangeAspect="1"/>
          </p:cNvPicPr>
          <p:nvPr/>
        </p:nvPicPr>
        <p:blipFill>
          <a:blip r:embed="rId5"/>
          <a:stretch>
            <a:fillRect/>
          </a:stretch>
        </p:blipFill>
        <p:spPr>
          <a:xfrm>
            <a:off x="8945118" y="2783434"/>
            <a:ext cx="285293" cy="285293"/>
          </a:xfrm>
          <a:prstGeom prst="rect">
            <a:avLst/>
          </a:prstGeom>
        </p:spPr>
      </p:pic>
      <p:sp>
        <p:nvSpPr>
          <p:cNvPr id="123" name="s123"/>
          <p:cNvSpPr txBox="1"/>
          <p:nvPr/>
        </p:nvSpPr>
        <p:spPr>
          <a:xfrm>
            <a:off x="8300923" y="3291840"/>
            <a:ext cx="157368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1" dirty="0">
                <a:solidFill>
                  <a:srgbClr val="FFFFFF"/>
                </a:solidFill>
                <a:latin typeface="Segoe UI"/>
                <a:ea typeface="Segoe UI"/>
                <a:cs typeface="Segoe UI"/>
              </a:rPr>
              <a:t>Receptionist supervisor</a:t>
            </a:r>
            <a:endParaRPr lang="en-US" sz="1150" dirty="0"/>
          </a:p>
        </p:txBody>
      </p:sp>
      <p:sp>
        <p:nvSpPr>
          <p:cNvPr id="124" name="s124"/>
          <p:cNvSpPr/>
          <p:nvPr/>
        </p:nvSpPr>
        <p:spPr>
          <a:xfrm>
            <a:off x="10387127" y="2651760"/>
            <a:ext cx="548640" cy="54864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25" name="img125"/>
          <p:cNvPicPr>
            <a:picLocks noChangeAspect="1"/>
          </p:cNvPicPr>
          <p:nvPr/>
        </p:nvPicPr>
        <p:blipFill>
          <a:blip r:embed="rId6"/>
          <a:stretch>
            <a:fillRect/>
          </a:stretch>
        </p:blipFill>
        <p:spPr>
          <a:xfrm>
            <a:off x="10518800" y="2783434"/>
            <a:ext cx="285293" cy="285293"/>
          </a:xfrm>
          <a:prstGeom prst="rect">
            <a:avLst/>
          </a:prstGeom>
        </p:spPr>
      </p:pic>
      <p:sp>
        <p:nvSpPr>
          <p:cNvPr id="126" name="s126"/>
          <p:cNvSpPr txBox="1"/>
          <p:nvPr/>
        </p:nvSpPr>
        <p:spPr>
          <a:xfrm>
            <a:off x="9874606" y="3291840"/>
            <a:ext cx="1573682" cy="5486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1" dirty="0">
                <a:solidFill>
                  <a:srgbClr val="FFFFFF"/>
                </a:solidFill>
                <a:latin typeface="Segoe UI"/>
                <a:ea typeface="Segoe UI"/>
                <a:cs typeface="Segoe UI"/>
              </a:rPr>
              <a:t>Operations</a:t>
            </a:r>
            <a:endParaRPr lang="en-US" sz="1150" dirty="0"/>
          </a:p>
        </p:txBody>
      </p:sp>
      <p:sp>
        <p:nvSpPr>
          <p:cNvPr id="127" name="s127"/>
          <p:cNvSpPr/>
          <p:nvPr/>
        </p:nvSpPr>
        <p:spPr>
          <a:xfrm>
            <a:off x="543154" y="4572000"/>
            <a:ext cx="11088014" cy="1051560"/>
          </a:xfrm>
          <a:prstGeom prst="roundRect">
            <a:avLst>
              <a:gd name="adj" fmla="val 10000"/>
            </a:avLst>
          </a:prstGeom>
          <a:solidFill>
            <a:srgbClr val="A78BFA">
              <a:alpha val="10000"/>
            </a:srgbClr>
          </a:solidFill>
          <a:ln w="12700">
            <a:solidFill>
              <a:srgbClr val="A78BFA"/>
            </a:solidFill>
            <a:prstDash val="solid"/>
          </a:ln>
        </p:spPr>
        <p:txBody>
          <a:bodyPr wrap="square" lIns="164592" tIns="109728" rIns="137160" bIns="91440" rtlCol="0" anchor="ctr">
            <a:noAutofit/>
          </a:bodyPr>
          <a:lstStyle/>
          <a:p>
            <a:pPr marL="0" indent="0" algn="ctr">
              <a:spcBef>
                <a:spcPts val="0"/>
              </a:spcBef>
              <a:spcAft>
                <a:spcPts val="0"/>
              </a:spcAft>
              <a:buNone/>
            </a:pPr>
            <a:r>
              <a:rPr lang="en-US" sz="1700" b="1" dirty="0">
                <a:solidFill>
                  <a:srgbClr val="A78BFA"/>
                </a:solidFill>
                <a:latin typeface="Segoe UI"/>
                <a:ea typeface="Segoe UI"/>
                <a:cs typeface="Segoe UI"/>
              </a:rPr>
              <a:t>Purpose: </a:t>
            </a:r>
            <a:r>
              <a:rPr lang="en-US" sz="1700" b="1" dirty="0">
                <a:solidFill>
                  <a:srgbClr val="FFFFFF"/>
                </a:solidFill>
                <a:latin typeface="Segoe UI"/>
                <a:ea typeface="Segoe UI"/>
                <a:cs typeface="Segoe UI"/>
              </a:rPr>
              <a:t>inspect the Sprint outcome and determine future adaptations.</a:t>
            </a:r>
            <a:endParaRPr lang="en-US" sz="1700" dirty="0"/>
          </a:p>
          <a:p>
            <a:pPr marL="0" indent="0" algn="ctr">
              <a:spcBef>
                <a:spcPts val="400"/>
              </a:spcBef>
              <a:spcAft>
                <a:spcPts val="0"/>
              </a:spcAft>
              <a:buNone/>
            </a:pPr>
            <a:r>
              <a:rPr lang="en-US" sz="1250" b="0" dirty="0">
                <a:solidFill>
                  <a:srgbClr val="94A3B8"/>
                </a:solidFill>
                <a:latin typeface="Segoe UI"/>
                <a:ea typeface="Segoe UI"/>
                <a:cs typeface="Segoe UI"/>
              </a:rPr>
              <a:t>A working session: Scrum Team + stakeholders.</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115"/>
                                        </p:tgtEl>
                                        <p:attrNameLst>
                                          <p:attrName>style.visibility</p:attrName>
                                        </p:attrNameLst>
                                      </p:cBhvr>
                                      <p:to>
                                        <p:strVal val="visible"/>
                                      </p:to>
                                    </p:set>
                                    <p:anim calcmode="lin" valueType="num">
                                      <p:cBhvr additive="base">
                                        <p:cTn id="65" dur="5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66" dur="500" decel="100000" fill="hold"/>
                                        <p:tgtEl>
                                          <p:spTgt spid="115"/>
                                        </p:tgtEl>
                                        <p:attrNameLst>
                                          <p:attrName>ppt_h</p:attrName>
                                        </p:attrNameLst>
                                      </p:cBhvr>
                                      <p:tavLst>
                                        <p:tav tm="0">
                                          <p:val>
                                            <p:strVal val="#ppt_h*0.3"/>
                                          </p:val>
                                        </p:tav>
                                        <p:tav tm="100000">
                                          <p:val>
                                            <p:strVal val="#ppt_h*1.08"/>
                                          </p:val>
                                        </p:tav>
                                      </p:tavLst>
                                    </p:anim>
                                    <p:animEffect transition="in" filter="fade">
                                      <p:cBhvr>
                                        <p:cTn id="67" dur="250"/>
                                        <p:tgtEl>
                                          <p:spTgt spid="115"/>
                                        </p:tgtEl>
                                      </p:cBhvr>
                                    </p:animEffect>
                                    <p:anim calcmode="lin" valueType="num">
                                      <p:cBhvr additive="base">
                                        <p:cTn id="68" dur="160" fill="hold">
                                          <p:stCondLst>
                                            <p:cond delay="500"/>
                                          </p:stCondLst>
                                        </p:cTn>
                                        <p:tgtEl>
                                          <p:spTgt spid="115"/>
                                        </p:tgtEl>
                                        <p:attrNameLst>
                                          <p:attrName>ppt_w</p:attrName>
                                        </p:attrNameLst>
                                      </p:cBhvr>
                                      <p:tavLst>
                                        <p:tav tm="0">
                                          <p:val>
                                            <p:strVal val="#ppt_w*1.08"/>
                                          </p:val>
                                        </p:tav>
                                        <p:tav tm="100000">
                                          <p:val>
                                            <p:strVal val="#ppt_w"/>
                                          </p:val>
                                        </p:tav>
                                      </p:tavLst>
                                    </p:anim>
                                    <p:anim calcmode="lin" valueType="num">
                                      <p:cBhvr additive="base">
                                        <p:cTn id="69" dur="160" fill="hold">
                                          <p:stCondLst>
                                            <p:cond delay="500"/>
                                          </p:stCondLst>
                                        </p:cTn>
                                        <p:tgtEl>
                                          <p:spTgt spid="115"/>
                                        </p:tgtEl>
                                        <p:attrNameLst>
                                          <p:attrName>ppt_h</p:attrName>
                                        </p:attrNameLst>
                                      </p:cBhvr>
                                      <p:tavLst>
                                        <p:tav tm="0">
                                          <p:val>
                                            <p:strVal val="#ppt_h*1.08"/>
                                          </p:val>
                                        </p:tav>
                                        <p:tav tm="100000">
                                          <p:val>
                                            <p:strVal val="#ppt_h"/>
                                          </p:val>
                                        </p:tav>
                                      </p:tavLst>
                                    </p:anim>
                                  </p:childTnLst>
                                </p:cTn>
                              </p:par>
                              <p:par>
                                <p:cTn id="70" presetID="42" presetClass="entr" presetSubtype="0" fill="hold" grpId="0" nodeType="withEffect">
                                  <p:stCondLst>
                                    <p:cond delay="200"/>
                                  </p:stCondLst>
                                  <p:childTnLst>
                                    <p:set>
                                      <p:cBhvr>
                                        <p:cTn id="71" dur="1" fill="hold">
                                          <p:stCondLst>
                                            <p:cond delay="0"/>
                                          </p:stCondLst>
                                        </p:cTn>
                                        <p:tgtEl>
                                          <p:spTgt spid="116"/>
                                        </p:tgtEl>
                                        <p:attrNameLst>
                                          <p:attrName>style.visibility</p:attrName>
                                        </p:attrNameLst>
                                      </p:cBhvr>
                                      <p:to>
                                        <p:strVal val="visible"/>
                                      </p:to>
                                    </p:set>
                                    <p:animEffect transition="in" filter="fade">
                                      <p:cBhvr>
                                        <p:cTn id="72" dur="500"/>
                                        <p:tgtEl>
                                          <p:spTgt spid="116"/>
                                        </p:tgtEl>
                                      </p:cBhvr>
                                    </p:animEffect>
                                    <p:anim calcmode="lin" valueType="num">
                                      <p:cBhvr additive="base">
                                        <p:cTn id="73" dur="500" decel="100000" fill="hold"/>
                                        <p:tgtEl>
                                          <p:spTgt spid="116"/>
                                        </p:tgtEl>
                                        <p:attrNameLst>
                                          <p:attrName>ppt_y</p:attrName>
                                        </p:attrNameLst>
                                      </p:cBhvr>
                                      <p:tavLst>
                                        <p:tav tm="0">
                                          <p:val>
                                            <p:strVal val="#ppt_y+0.06"/>
                                          </p:val>
                                        </p:tav>
                                        <p:tav tm="100000">
                                          <p:val>
                                            <p:strVal val="#ppt_y"/>
                                          </p:val>
                                        </p:tav>
                                      </p:tavLst>
                                    </p:anim>
                                  </p:childTnLst>
                                </p:cTn>
                              </p:par>
                              <p:par>
                                <p:cTn id="74" presetID="42" presetClass="entr" presetSubtype="0" fill="hold" grpId="0" nodeType="withEffect">
                                  <p:stCondLst>
                                    <p:cond delay="200"/>
                                  </p:stCondLst>
                                  <p:childTnLst>
                                    <p:set>
                                      <p:cBhvr>
                                        <p:cTn id="75" dur="1" fill="hold">
                                          <p:stCondLst>
                                            <p:cond delay="0"/>
                                          </p:stCondLst>
                                        </p:cTn>
                                        <p:tgtEl>
                                          <p:spTgt spid="117"/>
                                        </p:tgtEl>
                                        <p:attrNameLst>
                                          <p:attrName>style.visibility</p:attrName>
                                        </p:attrNameLst>
                                      </p:cBhvr>
                                      <p:to>
                                        <p:strVal val="visible"/>
                                      </p:to>
                                    </p:set>
                                    <p:animEffect transition="in" filter="fade">
                                      <p:cBhvr>
                                        <p:cTn id="76" dur="500"/>
                                        <p:tgtEl>
                                          <p:spTgt spid="117"/>
                                        </p:tgtEl>
                                      </p:cBhvr>
                                    </p:animEffect>
                                    <p:anim calcmode="lin" valueType="num">
                                      <p:cBhvr additive="base">
                                        <p:cTn id="77" dur="500" decel="100000" fill="hold"/>
                                        <p:tgtEl>
                                          <p:spTgt spid="117"/>
                                        </p:tgtEl>
                                        <p:attrNameLst>
                                          <p:attrName>ppt_y</p:attrName>
                                        </p:attrNameLst>
                                      </p:cBhvr>
                                      <p:tavLst>
                                        <p:tav tm="0">
                                          <p:val>
                                            <p:strVal val="#ppt_y+0.06"/>
                                          </p:val>
                                        </p:tav>
                                        <p:tav tm="100000">
                                          <p:val>
                                            <p:strVal val="#ppt_y"/>
                                          </p:val>
                                        </p:tav>
                                      </p:tavLst>
                                    </p:anim>
                                  </p:childTnLst>
                                </p:cTn>
                              </p:par>
                              <p:par>
                                <p:cTn id="78" presetID="42" presetClass="entr" presetSubtype="0" fill="hold" grpId="0" nodeType="withEffect">
                                  <p:stCondLst>
                                    <p:cond delay="200"/>
                                  </p:stCondLst>
                                  <p:childTnLst>
                                    <p:set>
                                      <p:cBhvr>
                                        <p:cTn id="79" dur="1" fill="hold">
                                          <p:stCondLst>
                                            <p:cond delay="0"/>
                                          </p:stCondLst>
                                        </p:cTn>
                                        <p:tgtEl>
                                          <p:spTgt spid="118"/>
                                        </p:tgtEl>
                                        <p:attrNameLst>
                                          <p:attrName>style.visibility</p:attrName>
                                        </p:attrNameLst>
                                      </p:cBhvr>
                                      <p:to>
                                        <p:strVal val="visible"/>
                                      </p:to>
                                    </p:set>
                                    <p:animEffect transition="in" filter="fade">
                                      <p:cBhvr>
                                        <p:cTn id="80" dur="500"/>
                                        <p:tgtEl>
                                          <p:spTgt spid="118"/>
                                        </p:tgtEl>
                                      </p:cBhvr>
                                    </p:animEffect>
                                    <p:anim calcmode="lin" valueType="num">
                                      <p:cBhvr additive="base">
                                        <p:cTn id="81" dur="500" decel="100000" fill="hold"/>
                                        <p:tgtEl>
                                          <p:spTgt spid="118"/>
                                        </p:tgtEl>
                                        <p:attrNameLst>
                                          <p:attrName>ppt_y</p:attrName>
                                        </p:attrNameLst>
                                      </p:cBhvr>
                                      <p:tavLst>
                                        <p:tav tm="0">
                                          <p:val>
                                            <p:strVal val="#ppt_y+0.06"/>
                                          </p:val>
                                        </p:tav>
                                        <p:tav tm="100000">
                                          <p:val>
                                            <p:strVal val="#ppt_y"/>
                                          </p:val>
                                        </p:tav>
                                      </p:tavLst>
                                    </p:anim>
                                  </p:childTnLst>
                                </p:cTn>
                              </p:par>
                              <p:par>
                                <p:cTn id="82" presetID="42" presetClass="entr" presetSubtype="0" fill="hold" nodeType="withEffect">
                                  <p:stCondLst>
                                    <p:cond delay="200"/>
                                  </p:stCondLst>
                                  <p:childTnLst>
                                    <p:set>
                                      <p:cBhvr>
                                        <p:cTn id="83" dur="1" fill="hold">
                                          <p:stCondLst>
                                            <p:cond delay="0"/>
                                          </p:stCondLst>
                                        </p:cTn>
                                        <p:tgtEl>
                                          <p:spTgt spid="119"/>
                                        </p:tgtEl>
                                        <p:attrNameLst>
                                          <p:attrName>style.visibility</p:attrName>
                                        </p:attrNameLst>
                                      </p:cBhvr>
                                      <p:to>
                                        <p:strVal val="visible"/>
                                      </p:to>
                                    </p:set>
                                    <p:animEffect transition="in" filter="fade">
                                      <p:cBhvr>
                                        <p:cTn id="84" dur="500"/>
                                        <p:tgtEl>
                                          <p:spTgt spid="119"/>
                                        </p:tgtEl>
                                      </p:cBhvr>
                                    </p:animEffect>
                                    <p:anim calcmode="lin" valueType="num">
                                      <p:cBhvr additive="base">
                                        <p:cTn id="85" dur="500" decel="100000" fill="hold"/>
                                        <p:tgtEl>
                                          <p:spTgt spid="119"/>
                                        </p:tgtEl>
                                        <p:attrNameLst>
                                          <p:attrName>ppt_y</p:attrName>
                                        </p:attrNameLst>
                                      </p:cBhvr>
                                      <p:tavLst>
                                        <p:tav tm="0">
                                          <p:val>
                                            <p:strVal val="#ppt_y+0.06"/>
                                          </p:val>
                                        </p:tav>
                                        <p:tav tm="100000">
                                          <p:val>
                                            <p:strVal val="#ppt_y"/>
                                          </p:val>
                                        </p:tav>
                                      </p:tavLst>
                                    </p:anim>
                                  </p:childTnLst>
                                </p:cTn>
                              </p:par>
                              <p:par>
                                <p:cTn id="86" presetID="42" presetClass="entr" presetSubtype="0" fill="hold" grpId="0" nodeType="withEffect">
                                  <p:stCondLst>
                                    <p:cond delay="200"/>
                                  </p:stCondLst>
                                  <p:childTnLst>
                                    <p:set>
                                      <p:cBhvr>
                                        <p:cTn id="87" dur="1" fill="hold">
                                          <p:stCondLst>
                                            <p:cond delay="0"/>
                                          </p:stCondLst>
                                        </p:cTn>
                                        <p:tgtEl>
                                          <p:spTgt spid="120"/>
                                        </p:tgtEl>
                                        <p:attrNameLst>
                                          <p:attrName>style.visibility</p:attrName>
                                        </p:attrNameLst>
                                      </p:cBhvr>
                                      <p:to>
                                        <p:strVal val="visible"/>
                                      </p:to>
                                    </p:set>
                                    <p:animEffect transition="in" filter="fade">
                                      <p:cBhvr>
                                        <p:cTn id="88" dur="500"/>
                                        <p:tgtEl>
                                          <p:spTgt spid="120"/>
                                        </p:tgtEl>
                                      </p:cBhvr>
                                    </p:animEffect>
                                    <p:anim calcmode="lin" valueType="num">
                                      <p:cBhvr additive="base">
                                        <p:cTn id="89" dur="500" decel="100000" fill="hold"/>
                                        <p:tgtEl>
                                          <p:spTgt spid="120"/>
                                        </p:tgtEl>
                                        <p:attrNameLst>
                                          <p:attrName>ppt_y</p:attrName>
                                        </p:attrNameLst>
                                      </p:cBhvr>
                                      <p:tavLst>
                                        <p:tav tm="0">
                                          <p:val>
                                            <p:strVal val="#ppt_y+0.06"/>
                                          </p:val>
                                        </p:tav>
                                        <p:tav tm="100000">
                                          <p:val>
                                            <p:strVal val="#ppt_y"/>
                                          </p:val>
                                        </p:tav>
                                      </p:tavLst>
                                    </p:anim>
                                  </p:childTnLst>
                                </p:cTn>
                              </p:par>
                              <p:par>
                                <p:cTn id="90" presetID="42" presetClass="entr" presetSubtype="0" fill="hold" grpId="0" nodeType="withEffect">
                                  <p:stCondLst>
                                    <p:cond delay="200"/>
                                  </p:stCondLst>
                                  <p:childTnLst>
                                    <p:set>
                                      <p:cBhvr>
                                        <p:cTn id="91" dur="1" fill="hold">
                                          <p:stCondLst>
                                            <p:cond delay="0"/>
                                          </p:stCondLst>
                                        </p:cTn>
                                        <p:tgtEl>
                                          <p:spTgt spid="121"/>
                                        </p:tgtEl>
                                        <p:attrNameLst>
                                          <p:attrName>style.visibility</p:attrName>
                                        </p:attrNameLst>
                                      </p:cBhvr>
                                      <p:to>
                                        <p:strVal val="visible"/>
                                      </p:to>
                                    </p:set>
                                    <p:animEffect transition="in" filter="fade">
                                      <p:cBhvr>
                                        <p:cTn id="92" dur="500"/>
                                        <p:tgtEl>
                                          <p:spTgt spid="121"/>
                                        </p:tgtEl>
                                      </p:cBhvr>
                                    </p:animEffect>
                                    <p:anim calcmode="lin" valueType="num">
                                      <p:cBhvr additive="base">
                                        <p:cTn id="93" dur="500" decel="100000" fill="hold"/>
                                        <p:tgtEl>
                                          <p:spTgt spid="121"/>
                                        </p:tgtEl>
                                        <p:attrNameLst>
                                          <p:attrName>ppt_y</p:attrName>
                                        </p:attrNameLst>
                                      </p:cBhvr>
                                      <p:tavLst>
                                        <p:tav tm="0">
                                          <p:val>
                                            <p:strVal val="#ppt_y+0.06"/>
                                          </p:val>
                                        </p:tav>
                                        <p:tav tm="100000">
                                          <p:val>
                                            <p:strVal val="#ppt_y"/>
                                          </p:val>
                                        </p:tav>
                                      </p:tavLst>
                                    </p:anim>
                                  </p:childTnLst>
                                </p:cTn>
                              </p:par>
                              <p:par>
                                <p:cTn id="94" presetID="42" presetClass="entr" presetSubtype="0" fill="hold" nodeType="withEffect">
                                  <p:stCondLst>
                                    <p:cond delay="200"/>
                                  </p:stCondLst>
                                  <p:childTnLst>
                                    <p:set>
                                      <p:cBhvr>
                                        <p:cTn id="95" dur="1" fill="hold">
                                          <p:stCondLst>
                                            <p:cond delay="0"/>
                                          </p:stCondLst>
                                        </p:cTn>
                                        <p:tgtEl>
                                          <p:spTgt spid="122"/>
                                        </p:tgtEl>
                                        <p:attrNameLst>
                                          <p:attrName>style.visibility</p:attrName>
                                        </p:attrNameLst>
                                      </p:cBhvr>
                                      <p:to>
                                        <p:strVal val="visible"/>
                                      </p:to>
                                    </p:set>
                                    <p:animEffect transition="in" filter="fade">
                                      <p:cBhvr>
                                        <p:cTn id="96" dur="500"/>
                                        <p:tgtEl>
                                          <p:spTgt spid="122"/>
                                        </p:tgtEl>
                                      </p:cBhvr>
                                    </p:animEffect>
                                    <p:anim calcmode="lin" valueType="num">
                                      <p:cBhvr additive="base">
                                        <p:cTn id="97" dur="500" decel="100000" fill="hold"/>
                                        <p:tgtEl>
                                          <p:spTgt spid="122"/>
                                        </p:tgtEl>
                                        <p:attrNameLst>
                                          <p:attrName>ppt_y</p:attrName>
                                        </p:attrNameLst>
                                      </p:cBhvr>
                                      <p:tavLst>
                                        <p:tav tm="0">
                                          <p:val>
                                            <p:strVal val="#ppt_y+0.06"/>
                                          </p:val>
                                        </p:tav>
                                        <p:tav tm="100000">
                                          <p:val>
                                            <p:strVal val="#ppt_y"/>
                                          </p:val>
                                        </p:tav>
                                      </p:tavLst>
                                    </p:anim>
                                  </p:childTnLst>
                                </p:cTn>
                              </p:par>
                              <p:par>
                                <p:cTn id="98" presetID="42" presetClass="entr" presetSubtype="0" fill="hold" grpId="0" nodeType="withEffect">
                                  <p:stCondLst>
                                    <p:cond delay="200"/>
                                  </p:stCondLst>
                                  <p:childTnLst>
                                    <p:set>
                                      <p:cBhvr>
                                        <p:cTn id="99" dur="1" fill="hold">
                                          <p:stCondLst>
                                            <p:cond delay="0"/>
                                          </p:stCondLst>
                                        </p:cTn>
                                        <p:tgtEl>
                                          <p:spTgt spid="123"/>
                                        </p:tgtEl>
                                        <p:attrNameLst>
                                          <p:attrName>style.visibility</p:attrName>
                                        </p:attrNameLst>
                                      </p:cBhvr>
                                      <p:to>
                                        <p:strVal val="visible"/>
                                      </p:to>
                                    </p:set>
                                    <p:animEffect transition="in" filter="fade">
                                      <p:cBhvr>
                                        <p:cTn id="100" dur="500"/>
                                        <p:tgtEl>
                                          <p:spTgt spid="123"/>
                                        </p:tgtEl>
                                      </p:cBhvr>
                                    </p:animEffect>
                                    <p:anim calcmode="lin" valueType="num">
                                      <p:cBhvr additive="base">
                                        <p:cTn id="101" dur="500" decel="100000" fill="hold"/>
                                        <p:tgtEl>
                                          <p:spTgt spid="123"/>
                                        </p:tgtEl>
                                        <p:attrNameLst>
                                          <p:attrName>ppt_y</p:attrName>
                                        </p:attrNameLst>
                                      </p:cBhvr>
                                      <p:tavLst>
                                        <p:tav tm="0">
                                          <p:val>
                                            <p:strVal val="#ppt_y+0.06"/>
                                          </p:val>
                                        </p:tav>
                                        <p:tav tm="100000">
                                          <p:val>
                                            <p:strVal val="#ppt_y"/>
                                          </p:val>
                                        </p:tav>
                                      </p:tavLst>
                                    </p:anim>
                                  </p:childTnLst>
                                </p:cTn>
                              </p:par>
                              <p:par>
                                <p:cTn id="102" presetID="42" presetClass="entr" presetSubtype="0" fill="hold" grpId="0" nodeType="withEffect">
                                  <p:stCondLst>
                                    <p:cond delay="200"/>
                                  </p:stCondLst>
                                  <p:childTnLst>
                                    <p:set>
                                      <p:cBhvr>
                                        <p:cTn id="103" dur="1" fill="hold">
                                          <p:stCondLst>
                                            <p:cond delay="0"/>
                                          </p:stCondLst>
                                        </p:cTn>
                                        <p:tgtEl>
                                          <p:spTgt spid="124"/>
                                        </p:tgtEl>
                                        <p:attrNameLst>
                                          <p:attrName>style.visibility</p:attrName>
                                        </p:attrNameLst>
                                      </p:cBhvr>
                                      <p:to>
                                        <p:strVal val="visible"/>
                                      </p:to>
                                    </p:set>
                                    <p:animEffect transition="in" filter="fade">
                                      <p:cBhvr>
                                        <p:cTn id="104" dur="500"/>
                                        <p:tgtEl>
                                          <p:spTgt spid="124"/>
                                        </p:tgtEl>
                                      </p:cBhvr>
                                    </p:animEffect>
                                    <p:anim calcmode="lin" valueType="num">
                                      <p:cBhvr additive="base">
                                        <p:cTn id="105" dur="500" decel="100000" fill="hold"/>
                                        <p:tgtEl>
                                          <p:spTgt spid="124"/>
                                        </p:tgtEl>
                                        <p:attrNameLst>
                                          <p:attrName>ppt_y</p:attrName>
                                        </p:attrNameLst>
                                      </p:cBhvr>
                                      <p:tavLst>
                                        <p:tav tm="0">
                                          <p:val>
                                            <p:strVal val="#ppt_y+0.06"/>
                                          </p:val>
                                        </p:tav>
                                        <p:tav tm="100000">
                                          <p:val>
                                            <p:strVal val="#ppt_y"/>
                                          </p:val>
                                        </p:tav>
                                      </p:tavLst>
                                    </p:anim>
                                  </p:childTnLst>
                                </p:cTn>
                              </p:par>
                              <p:par>
                                <p:cTn id="106" presetID="42" presetClass="entr" presetSubtype="0" fill="hold" nodeType="withEffect">
                                  <p:stCondLst>
                                    <p:cond delay="200"/>
                                  </p:stCondLst>
                                  <p:childTnLst>
                                    <p:set>
                                      <p:cBhvr>
                                        <p:cTn id="107" dur="1" fill="hold">
                                          <p:stCondLst>
                                            <p:cond delay="0"/>
                                          </p:stCondLst>
                                        </p:cTn>
                                        <p:tgtEl>
                                          <p:spTgt spid="125"/>
                                        </p:tgtEl>
                                        <p:attrNameLst>
                                          <p:attrName>style.visibility</p:attrName>
                                        </p:attrNameLst>
                                      </p:cBhvr>
                                      <p:to>
                                        <p:strVal val="visible"/>
                                      </p:to>
                                    </p:set>
                                    <p:animEffect transition="in" filter="fade">
                                      <p:cBhvr>
                                        <p:cTn id="108" dur="500"/>
                                        <p:tgtEl>
                                          <p:spTgt spid="125"/>
                                        </p:tgtEl>
                                      </p:cBhvr>
                                    </p:animEffect>
                                    <p:anim calcmode="lin" valueType="num">
                                      <p:cBhvr additive="base">
                                        <p:cTn id="109" dur="500" decel="100000" fill="hold"/>
                                        <p:tgtEl>
                                          <p:spTgt spid="125"/>
                                        </p:tgtEl>
                                        <p:attrNameLst>
                                          <p:attrName>ppt_y</p:attrName>
                                        </p:attrNameLst>
                                      </p:cBhvr>
                                      <p:tavLst>
                                        <p:tav tm="0">
                                          <p:val>
                                            <p:strVal val="#ppt_y+0.06"/>
                                          </p:val>
                                        </p:tav>
                                        <p:tav tm="100000">
                                          <p:val>
                                            <p:strVal val="#ppt_y"/>
                                          </p:val>
                                        </p:tav>
                                      </p:tavLst>
                                    </p:anim>
                                  </p:childTnLst>
                                </p:cTn>
                              </p:par>
                              <p:par>
                                <p:cTn id="110" presetID="42" presetClass="entr" presetSubtype="0" fill="hold" grpId="0" nodeType="withEffect">
                                  <p:stCondLst>
                                    <p:cond delay="200"/>
                                  </p:stCondLst>
                                  <p:childTnLst>
                                    <p:set>
                                      <p:cBhvr>
                                        <p:cTn id="111" dur="1" fill="hold">
                                          <p:stCondLst>
                                            <p:cond delay="0"/>
                                          </p:stCondLst>
                                        </p:cTn>
                                        <p:tgtEl>
                                          <p:spTgt spid="126"/>
                                        </p:tgtEl>
                                        <p:attrNameLst>
                                          <p:attrName>style.visibility</p:attrName>
                                        </p:attrNameLst>
                                      </p:cBhvr>
                                      <p:to>
                                        <p:strVal val="visible"/>
                                      </p:to>
                                    </p:set>
                                    <p:animEffect transition="in" filter="fade">
                                      <p:cBhvr>
                                        <p:cTn id="112" dur="500"/>
                                        <p:tgtEl>
                                          <p:spTgt spid="126"/>
                                        </p:tgtEl>
                                      </p:cBhvr>
                                    </p:animEffect>
                                    <p:anim calcmode="lin" valueType="num">
                                      <p:cBhvr additive="base">
                                        <p:cTn id="113" dur="500" decel="100000" fill="hold"/>
                                        <p:tgtEl>
                                          <p:spTgt spid="126"/>
                                        </p:tgtEl>
                                        <p:attrNameLst>
                                          <p:attrName>ppt_y</p:attrName>
                                        </p:attrNameLst>
                                      </p:cBhvr>
                                      <p:tavLst>
                                        <p:tav tm="0">
                                          <p:val>
                                            <p:strVal val="#ppt_y+0.06"/>
                                          </p:val>
                                        </p:tav>
                                        <p:tav tm="100000">
                                          <p:val>
                                            <p:strVal val="#ppt_y"/>
                                          </p:val>
                                        </p:tav>
                                      </p:tavLst>
                                    </p:anim>
                                  </p:childTnLst>
                                </p:cTn>
                              </p:par>
                            </p:childTnLst>
                          </p:cTn>
                        </p:par>
                      </p:childTnLst>
                    </p:cTn>
                  </p:par>
                  <p:par>
                    <p:cTn id="114" fill="hold">
                      <p:stCondLst>
                        <p:cond delay="indefinite"/>
                      </p:stCondLst>
                      <p:childTnLst>
                        <p:par>
                          <p:cTn id="115" fill="hold">
                            <p:stCondLst>
                              <p:cond delay="0"/>
                            </p:stCondLst>
                            <p:childTnLst>
                              <p:par>
                                <p:cTn id="116" presetID="53" presetClass="entr" presetSubtype="16" fill="hold" grpId="0" nodeType="clickEffect">
                                  <p:stCondLst>
                                    <p:cond delay="0"/>
                                  </p:stCondLst>
                                  <p:childTnLst>
                                    <p:set>
                                      <p:cBhvr>
                                        <p:cTn id="117" dur="1" fill="hold">
                                          <p:stCondLst>
                                            <p:cond delay="0"/>
                                          </p:stCondLst>
                                        </p:cTn>
                                        <p:tgtEl>
                                          <p:spTgt spid="127"/>
                                        </p:tgtEl>
                                        <p:attrNameLst>
                                          <p:attrName>style.visibility</p:attrName>
                                        </p:attrNameLst>
                                      </p:cBhvr>
                                      <p:to>
                                        <p:strVal val="visible"/>
                                      </p:to>
                                    </p:set>
                                    <p:anim calcmode="lin" valueType="num">
                                      <p:cBhvr additive="base">
                                        <p:cTn id="118" dur="500" decel="100000" fill="hold"/>
                                        <p:tgtEl>
                                          <p:spTgt spid="127"/>
                                        </p:tgtEl>
                                        <p:attrNameLst>
                                          <p:attrName>ppt_w</p:attrName>
                                        </p:attrNameLst>
                                      </p:cBhvr>
                                      <p:tavLst>
                                        <p:tav tm="0">
                                          <p:val>
                                            <p:strVal val="#ppt_w*0.55"/>
                                          </p:val>
                                        </p:tav>
                                        <p:tav tm="100000">
                                          <p:val>
                                            <p:strVal val="#ppt_w"/>
                                          </p:val>
                                        </p:tav>
                                      </p:tavLst>
                                    </p:anim>
                                    <p:anim calcmode="lin" valueType="num">
                                      <p:cBhvr additive="base">
                                        <p:cTn id="119" dur="500" decel="100000" fill="hold"/>
                                        <p:tgtEl>
                                          <p:spTgt spid="127"/>
                                        </p:tgtEl>
                                        <p:attrNameLst>
                                          <p:attrName>ppt_h</p:attrName>
                                        </p:attrNameLst>
                                      </p:cBhvr>
                                      <p:tavLst>
                                        <p:tav tm="0">
                                          <p:val>
                                            <p:strVal val="#ppt_h*0.55"/>
                                          </p:val>
                                        </p:tav>
                                        <p:tav tm="100000">
                                          <p:val>
                                            <p:strVal val="#ppt_h"/>
                                          </p:val>
                                        </p:tav>
                                      </p:tavLst>
                                    </p:anim>
                                    <p:animEffect transition="in" filter="fade">
                                      <p:cBhvr>
                                        <p:cTn id="120"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20" grpId="0" animBg="1"/>
      <p:bldP spid="121" grpId="0" animBg="1"/>
      <p:bldP spid="123" grpId="0" animBg="1"/>
      <p:bldP spid="124" grpId="0" animBg="1"/>
      <p:bldP spid="126" grpId="0" animBg="1"/>
      <p:bldP spid="127"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FLOW</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Happens During the Sprint Review?</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 working session, then a live booking demonstration.</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REVIEW</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283</a:t>
            </a:r>
            <a:endParaRPr lang="en-US" sz="850" dirty="0"/>
          </a:p>
        </p:txBody>
      </p:sp>
      <p:sp>
        <p:nvSpPr>
          <p:cNvPr id="101" name="s101"/>
          <p:cNvSpPr/>
          <p:nvPr/>
        </p:nvSpPr>
        <p:spPr>
          <a:xfrm>
            <a:off x="543154" y="1965960"/>
            <a:ext cx="2634844" cy="713232"/>
          </a:xfrm>
          <a:prstGeom prst="roundRect">
            <a:avLst>
              <a:gd name="adj" fmla="val 12000"/>
            </a:avLst>
          </a:prstGeom>
          <a:solidFill>
            <a:srgbClr val="111B2E"/>
          </a:solidFill>
          <a:ln w="12700">
            <a:solidFill>
              <a:srgbClr val="A78B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A78BFA"/>
                </a:solidFill>
                <a:latin typeface="Segoe UI"/>
                <a:ea typeface="Segoe UI"/>
                <a:cs typeface="Segoe UI"/>
              </a:rPr>
              <a:t>1  </a:t>
            </a:r>
            <a:r>
              <a:rPr lang="en-US" sz="1350" b="1" dirty="0">
                <a:solidFill>
                  <a:srgbClr val="FFFFFF"/>
                </a:solidFill>
                <a:latin typeface="Segoe UI"/>
                <a:ea typeface="Segoe UI"/>
                <a:cs typeface="Segoe UI"/>
              </a:rPr>
              <a:t>Revisit the Goal</a:t>
            </a:r>
            <a:endParaRPr lang="en-US" sz="1350" dirty="0"/>
          </a:p>
        </p:txBody>
      </p:sp>
      <p:sp>
        <p:nvSpPr>
          <p:cNvPr id="102" name="s102"/>
          <p:cNvSpPr/>
          <p:nvPr/>
        </p:nvSpPr>
        <p:spPr>
          <a:xfrm>
            <a:off x="3360877" y="1965960"/>
            <a:ext cx="2634844" cy="713232"/>
          </a:xfrm>
          <a:prstGeom prst="roundRect">
            <a:avLst>
              <a:gd name="adj" fmla="val 12000"/>
            </a:avLst>
          </a:prstGeom>
          <a:solidFill>
            <a:srgbClr val="111B2E"/>
          </a:solidFill>
          <a:ln w="12700">
            <a:solidFill>
              <a:srgbClr val="A78B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A78BFA"/>
                </a:solidFill>
                <a:latin typeface="Segoe UI"/>
                <a:ea typeface="Segoe UI"/>
                <a:cs typeface="Segoe UI"/>
              </a:rPr>
              <a:t>2  </a:t>
            </a:r>
            <a:r>
              <a:rPr lang="en-US" sz="1350" b="1" dirty="0">
                <a:solidFill>
                  <a:srgbClr val="FFFFFF"/>
                </a:solidFill>
                <a:latin typeface="Segoe UI"/>
                <a:ea typeface="Segoe UI"/>
                <a:cs typeface="Segoe UI"/>
              </a:rPr>
              <a:t>Demo the Increment</a:t>
            </a:r>
            <a:endParaRPr lang="en-US" sz="1350" dirty="0"/>
          </a:p>
        </p:txBody>
      </p:sp>
      <p:sp>
        <p:nvSpPr>
          <p:cNvPr id="103" name="s103"/>
          <p:cNvSpPr/>
          <p:nvPr/>
        </p:nvSpPr>
        <p:spPr>
          <a:xfrm>
            <a:off x="6178601" y="1965960"/>
            <a:ext cx="2634844" cy="713232"/>
          </a:xfrm>
          <a:prstGeom prst="roundRect">
            <a:avLst>
              <a:gd name="adj" fmla="val 12000"/>
            </a:avLst>
          </a:prstGeom>
          <a:solidFill>
            <a:srgbClr val="111B2E"/>
          </a:solidFill>
          <a:ln w="12700">
            <a:solidFill>
              <a:srgbClr val="A78B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A78BFA"/>
                </a:solidFill>
                <a:latin typeface="Segoe UI"/>
                <a:ea typeface="Segoe UI"/>
                <a:cs typeface="Segoe UI"/>
              </a:rPr>
              <a:t>3  </a:t>
            </a:r>
            <a:r>
              <a:rPr lang="en-US" sz="1350" b="1" dirty="0">
                <a:solidFill>
                  <a:srgbClr val="FFFFFF"/>
                </a:solidFill>
                <a:latin typeface="Segoe UI"/>
                <a:ea typeface="Segoe UI"/>
                <a:cs typeface="Segoe UI"/>
              </a:rPr>
              <a:t>What was completed</a:t>
            </a:r>
            <a:endParaRPr lang="en-US" sz="1350" dirty="0"/>
          </a:p>
        </p:txBody>
      </p:sp>
      <p:sp>
        <p:nvSpPr>
          <p:cNvPr id="104" name="s104"/>
          <p:cNvSpPr/>
          <p:nvPr/>
        </p:nvSpPr>
        <p:spPr>
          <a:xfrm>
            <a:off x="8996324" y="1965960"/>
            <a:ext cx="2634844" cy="713232"/>
          </a:xfrm>
          <a:prstGeom prst="roundRect">
            <a:avLst>
              <a:gd name="adj" fmla="val 12000"/>
            </a:avLst>
          </a:prstGeom>
          <a:solidFill>
            <a:srgbClr val="111B2E"/>
          </a:solidFill>
          <a:ln w="12700">
            <a:solidFill>
              <a:srgbClr val="A78B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A78BFA"/>
                </a:solidFill>
                <a:latin typeface="Segoe UI"/>
                <a:ea typeface="Segoe UI"/>
                <a:cs typeface="Segoe UI"/>
              </a:rPr>
              <a:t>4  </a:t>
            </a:r>
            <a:r>
              <a:rPr lang="en-US" sz="1350" b="1" dirty="0">
                <a:solidFill>
                  <a:srgbClr val="FFFFFF"/>
                </a:solidFill>
                <a:latin typeface="Segoe UI"/>
                <a:ea typeface="Segoe UI"/>
                <a:cs typeface="Segoe UI"/>
              </a:rPr>
              <a:t>Environment changes</a:t>
            </a:r>
            <a:endParaRPr lang="en-US" sz="1350" dirty="0"/>
          </a:p>
        </p:txBody>
      </p:sp>
      <p:sp>
        <p:nvSpPr>
          <p:cNvPr id="105" name="s105"/>
          <p:cNvSpPr/>
          <p:nvPr/>
        </p:nvSpPr>
        <p:spPr>
          <a:xfrm>
            <a:off x="543154" y="2834640"/>
            <a:ext cx="2634844" cy="713232"/>
          </a:xfrm>
          <a:prstGeom prst="roundRect">
            <a:avLst>
              <a:gd name="adj" fmla="val 12000"/>
            </a:avLst>
          </a:prstGeom>
          <a:solidFill>
            <a:srgbClr val="111B2E"/>
          </a:solidFill>
          <a:ln w="12700">
            <a:solidFill>
              <a:srgbClr val="A78B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A78BFA"/>
                </a:solidFill>
                <a:latin typeface="Segoe UI"/>
                <a:ea typeface="Segoe UI"/>
                <a:cs typeface="Segoe UI"/>
              </a:rPr>
              <a:t>5  </a:t>
            </a:r>
            <a:r>
              <a:rPr lang="en-US" sz="1350" b="1" dirty="0">
                <a:solidFill>
                  <a:srgbClr val="FFFFFF"/>
                </a:solidFill>
                <a:latin typeface="Segoe UI"/>
                <a:ea typeface="Segoe UI"/>
                <a:cs typeface="Segoe UI"/>
              </a:rPr>
              <a:t>Stakeholder feedback</a:t>
            </a:r>
            <a:endParaRPr lang="en-US" sz="1350" dirty="0"/>
          </a:p>
        </p:txBody>
      </p:sp>
      <p:sp>
        <p:nvSpPr>
          <p:cNvPr id="106" name="s106"/>
          <p:cNvSpPr/>
          <p:nvPr/>
        </p:nvSpPr>
        <p:spPr>
          <a:xfrm>
            <a:off x="3360877" y="2834640"/>
            <a:ext cx="2634844" cy="713232"/>
          </a:xfrm>
          <a:prstGeom prst="roundRect">
            <a:avLst>
              <a:gd name="adj" fmla="val 12000"/>
            </a:avLst>
          </a:prstGeom>
          <a:solidFill>
            <a:srgbClr val="111B2E"/>
          </a:solidFill>
          <a:ln w="12700">
            <a:solidFill>
              <a:srgbClr val="A78B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A78BFA"/>
                </a:solidFill>
                <a:latin typeface="Segoe UI"/>
                <a:ea typeface="Segoe UI"/>
                <a:cs typeface="Segoe UI"/>
              </a:rPr>
              <a:t>6  </a:t>
            </a:r>
            <a:r>
              <a:rPr lang="en-US" sz="1350" b="1" dirty="0">
                <a:solidFill>
                  <a:srgbClr val="FFFFFF"/>
                </a:solidFill>
                <a:latin typeface="Segoe UI"/>
                <a:ea typeface="Segoe UI"/>
                <a:cs typeface="Segoe UI"/>
              </a:rPr>
              <a:t>Product Goal progress</a:t>
            </a:r>
            <a:endParaRPr lang="en-US" sz="1350" dirty="0"/>
          </a:p>
        </p:txBody>
      </p:sp>
      <p:sp>
        <p:nvSpPr>
          <p:cNvPr id="107" name="s107"/>
          <p:cNvSpPr/>
          <p:nvPr/>
        </p:nvSpPr>
        <p:spPr>
          <a:xfrm>
            <a:off x="6178601" y="2834640"/>
            <a:ext cx="2634844" cy="713232"/>
          </a:xfrm>
          <a:prstGeom prst="roundRect">
            <a:avLst>
              <a:gd name="adj" fmla="val 12000"/>
            </a:avLst>
          </a:prstGeom>
          <a:solidFill>
            <a:srgbClr val="111B2E"/>
          </a:solidFill>
          <a:ln w="12700">
            <a:solidFill>
              <a:srgbClr val="A78B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A78BFA"/>
                </a:solidFill>
                <a:latin typeface="Segoe UI"/>
                <a:ea typeface="Segoe UI"/>
                <a:cs typeface="Segoe UI"/>
              </a:rPr>
              <a:t>7  </a:t>
            </a:r>
            <a:r>
              <a:rPr lang="en-US" sz="1350" b="1" dirty="0">
                <a:solidFill>
                  <a:srgbClr val="FFFFFF"/>
                </a:solidFill>
                <a:latin typeface="Segoe UI"/>
                <a:ea typeface="Segoe UI"/>
                <a:cs typeface="Segoe UI"/>
              </a:rPr>
              <a:t>Next priorities</a:t>
            </a:r>
            <a:endParaRPr lang="en-US" sz="1350" dirty="0"/>
          </a:p>
        </p:txBody>
      </p:sp>
      <p:sp>
        <p:nvSpPr>
          <p:cNvPr id="108" name="s108"/>
          <p:cNvSpPr/>
          <p:nvPr/>
        </p:nvSpPr>
        <p:spPr>
          <a:xfrm>
            <a:off x="8996324" y="2834640"/>
            <a:ext cx="2634844" cy="713232"/>
          </a:xfrm>
          <a:prstGeom prst="roundRect">
            <a:avLst>
              <a:gd name="adj" fmla="val 12000"/>
            </a:avLst>
          </a:prstGeom>
          <a:solidFill>
            <a:srgbClr val="111B2E"/>
          </a:solidFill>
          <a:ln w="12700">
            <a:solidFill>
              <a:srgbClr val="A78BFA">
                <a:alpha val="60000"/>
              </a:srgbClr>
            </a:solidFill>
            <a:prstDash val="solid"/>
          </a:ln>
        </p:spPr>
        <p:txBody>
          <a:bodyPr wrap="square" lIns="182880" tIns="0" rIns="91440" bIns="0" rtlCol="0" anchor="ctr">
            <a:noAutofit/>
          </a:bodyPr>
          <a:lstStyle/>
          <a:p>
            <a:pPr marL="0" indent="0" algn="l">
              <a:spcBef>
                <a:spcPts val="0"/>
              </a:spcBef>
              <a:spcAft>
                <a:spcPts val="0"/>
              </a:spcAft>
              <a:buNone/>
            </a:pPr>
            <a:r>
              <a:rPr lang="en-US" sz="1350" b="1" dirty="0">
                <a:solidFill>
                  <a:srgbClr val="A78BFA"/>
                </a:solidFill>
                <a:latin typeface="Segoe UI"/>
                <a:ea typeface="Segoe UI"/>
                <a:cs typeface="Segoe UI"/>
              </a:rPr>
              <a:t>8  </a:t>
            </a:r>
            <a:r>
              <a:rPr lang="en-US" sz="1350" b="1" dirty="0">
                <a:solidFill>
                  <a:srgbClr val="FFFFFF"/>
                </a:solidFill>
                <a:latin typeface="Segoe UI"/>
                <a:ea typeface="Segoe UI"/>
                <a:cs typeface="Segoe UI"/>
              </a:rPr>
              <a:t>Adapt the backlog</a:t>
            </a:r>
            <a:endParaRPr lang="en-US" sz="1350" dirty="0"/>
          </a:p>
        </p:txBody>
      </p:sp>
      <p:sp>
        <p:nvSpPr>
          <p:cNvPr id="109" name="s109"/>
          <p:cNvSpPr txBox="1"/>
          <p:nvPr/>
        </p:nvSpPr>
        <p:spPr>
          <a:xfrm>
            <a:off x="543154" y="3931920"/>
            <a:ext cx="45720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34D399"/>
                </a:solidFill>
                <a:latin typeface="Segoe UI"/>
                <a:ea typeface="Segoe UI"/>
                <a:cs typeface="Segoe UI"/>
              </a:rPr>
              <a:t>LIVE DEMO · AS A RECEPTIONIST</a:t>
            </a:r>
            <a:endParaRPr lang="en-US" sz="1100" dirty="0"/>
          </a:p>
        </p:txBody>
      </p:sp>
      <p:sp>
        <p:nvSpPr>
          <p:cNvPr id="110" name="s110"/>
          <p:cNvSpPr/>
          <p:nvPr/>
        </p:nvSpPr>
        <p:spPr>
          <a:xfrm>
            <a:off x="543154" y="4343400"/>
            <a:ext cx="1874520" cy="566928"/>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Register</a:t>
            </a:r>
            <a:endParaRPr lang="en-US" sz="1300" dirty="0"/>
          </a:p>
        </p:txBody>
      </p:sp>
      <p:sp>
        <p:nvSpPr>
          <p:cNvPr id="111" name="s111"/>
          <p:cNvSpPr/>
          <p:nvPr/>
        </p:nvSpPr>
        <p:spPr>
          <a:xfrm>
            <a:off x="2847442" y="4343400"/>
            <a:ext cx="1874520" cy="566928"/>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Select doctor</a:t>
            </a:r>
            <a:endParaRPr lang="en-US" sz="1300" dirty="0"/>
          </a:p>
        </p:txBody>
      </p:sp>
      <p:cxnSp>
        <p:nvCxnSpPr>
          <p:cNvPr id="112" name="ln112"/>
          <p:cNvCxnSpPr/>
          <p:nvPr/>
        </p:nvCxnSpPr>
        <p:spPr>
          <a:xfrm>
            <a:off x="2454250" y="4626864"/>
            <a:ext cx="356616" cy="0"/>
          </a:xfrm>
          <a:prstGeom prst="line">
            <a:avLst/>
          </a:prstGeom>
          <a:ln w="19050">
            <a:solidFill>
              <a:srgbClr val="34D399"/>
            </a:solidFill>
            <a:tailEnd type="triangle" w="med" len="med"/>
          </a:ln>
        </p:spPr>
      </p:cxnSp>
      <p:sp>
        <p:nvSpPr>
          <p:cNvPr id="113" name="s113"/>
          <p:cNvSpPr/>
          <p:nvPr/>
        </p:nvSpPr>
        <p:spPr>
          <a:xfrm>
            <a:off x="5151730" y="4343400"/>
            <a:ext cx="1874520" cy="566928"/>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Pick a time</a:t>
            </a:r>
            <a:endParaRPr lang="en-US" sz="1300" dirty="0"/>
          </a:p>
        </p:txBody>
      </p:sp>
      <p:cxnSp>
        <p:nvCxnSpPr>
          <p:cNvPr id="114" name="ln114"/>
          <p:cNvCxnSpPr/>
          <p:nvPr/>
        </p:nvCxnSpPr>
        <p:spPr>
          <a:xfrm>
            <a:off x="4758538" y="4626864"/>
            <a:ext cx="356616" cy="0"/>
          </a:xfrm>
          <a:prstGeom prst="line">
            <a:avLst/>
          </a:prstGeom>
          <a:ln w="19050">
            <a:solidFill>
              <a:srgbClr val="34D399"/>
            </a:solidFill>
            <a:tailEnd type="triangle" w="med" len="med"/>
          </a:ln>
        </p:spPr>
      </p:cxnSp>
      <p:sp>
        <p:nvSpPr>
          <p:cNvPr id="115" name="s115"/>
          <p:cNvSpPr/>
          <p:nvPr/>
        </p:nvSpPr>
        <p:spPr>
          <a:xfrm>
            <a:off x="7456018" y="4343400"/>
            <a:ext cx="1874520" cy="566928"/>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Confirm</a:t>
            </a:r>
            <a:endParaRPr lang="en-US" sz="1300" dirty="0"/>
          </a:p>
        </p:txBody>
      </p:sp>
      <p:cxnSp>
        <p:nvCxnSpPr>
          <p:cNvPr id="116" name="ln116"/>
          <p:cNvCxnSpPr/>
          <p:nvPr/>
        </p:nvCxnSpPr>
        <p:spPr>
          <a:xfrm>
            <a:off x="7062826" y="4626864"/>
            <a:ext cx="356616" cy="0"/>
          </a:xfrm>
          <a:prstGeom prst="line">
            <a:avLst/>
          </a:prstGeom>
          <a:ln w="19050">
            <a:solidFill>
              <a:srgbClr val="34D399"/>
            </a:solidFill>
            <a:tailEnd type="triangle" w="med" len="med"/>
          </a:ln>
        </p:spPr>
      </p:cxnSp>
      <p:sp>
        <p:nvSpPr>
          <p:cNvPr id="117" name="s117"/>
          <p:cNvSpPr/>
          <p:nvPr/>
        </p:nvSpPr>
        <p:spPr>
          <a:xfrm>
            <a:off x="9760306" y="4343400"/>
            <a:ext cx="1874520" cy="566928"/>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Appt #A-1042</a:t>
            </a:r>
            <a:endParaRPr lang="en-US" sz="1300" dirty="0"/>
          </a:p>
        </p:txBody>
      </p:sp>
      <p:cxnSp>
        <p:nvCxnSpPr>
          <p:cNvPr id="118" name="ln118"/>
          <p:cNvCxnSpPr/>
          <p:nvPr/>
        </p:nvCxnSpPr>
        <p:spPr>
          <a:xfrm>
            <a:off x="9367114" y="4626864"/>
            <a:ext cx="356616" cy="0"/>
          </a:xfrm>
          <a:prstGeom prst="line">
            <a:avLst/>
          </a:prstGeom>
          <a:ln w="19050">
            <a:solidFill>
              <a:srgbClr val="34D399"/>
            </a:solidFill>
            <a:tailEnd type="triangle" w="med" len="med"/>
          </a:ln>
        </p:spPr>
      </p:cxn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53" presetClass="entr" presetSubtype="16" fill="hold" grpId="0" nodeType="withEffect">
                                  <p:stCondLst>
                                    <p:cond delay="10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3" dur="500" decel="100000" fill="hold"/>
                                        <p:tgtEl>
                                          <p:spTgt spid="102"/>
                                        </p:tgtEl>
                                        <p:attrNameLst>
                                          <p:attrName>ppt_h</p:attrName>
                                        </p:attrNameLst>
                                      </p:cBhvr>
                                      <p:tavLst>
                                        <p:tav tm="0">
                                          <p:val>
                                            <p:strVal val="#ppt_h*0.55"/>
                                          </p:val>
                                        </p:tav>
                                        <p:tav tm="100000">
                                          <p:val>
                                            <p:strVal val="#ppt_h"/>
                                          </p:val>
                                        </p:tav>
                                      </p:tavLst>
                                    </p:anim>
                                    <p:animEffect transition="in" filter="fade">
                                      <p:cBhvr>
                                        <p:cTn id="14" dur="500"/>
                                        <p:tgtEl>
                                          <p:spTgt spid="102"/>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103"/>
                                        </p:tgtEl>
                                        <p:attrNameLst>
                                          <p:attrName>style.visibility</p:attrName>
                                        </p:attrNameLst>
                                      </p:cBhvr>
                                      <p:to>
                                        <p:strVal val="visible"/>
                                      </p:to>
                                    </p:set>
                                    <p:anim calcmode="lin" valueType="num">
                                      <p:cBhvr additive="base">
                                        <p:cTn id="17"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8" dur="500" decel="100000" fill="hold"/>
                                        <p:tgtEl>
                                          <p:spTgt spid="103"/>
                                        </p:tgtEl>
                                        <p:attrNameLst>
                                          <p:attrName>ppt_h</p:attrName>
                                        </p:attrNameLst>
                                      </p:cBhvr>
                                      <p:tavLst>
                                        <p:tav tm="0">
                                          <p:val>
                                            <p:strVal val="#ppt_h*0.55"/>
                                          </p:val>
                                        </p:tav>
                                        <p:tav tm="100000">
                                          <p:val>
                                            <p:strVal val="#ppt_h"/>
                                          </p:val>
                                        </p:tav>
                                      </p:tavLst>
                                    </p:anim>
                                    <p:animEffect transition="in" filter="fade">
                                      <p:cBhvr>
                                        <p:cTn id="19" dur="500"/>
                                        <p:tgtEl>
                                          <p:spTgt spid="103"/>
                                        </p:tgtEl>
                                      </p:cBhvr>
                                    </p:animEffect>
                                  </p:childTnLst>
                                </p:cTn>
                              </p:par>
                              <p:par>
                                <p:cTn id="20" presetID="53" presetClass="entr" presetSubtype="16" fill="hold" grpId="0" nodeType="withEffect">
                                  <p:stCondLst>
                                    <p:cond delay="300"/>
                                  </p:stCondLst>
                                  <p:childTnLst>
                                    <p:set>
                                      <p:cBhvr>
                                        <p:cTn id="21" dur="1" fill="hold">
                                          <p:stCondLst>
                                            <p:cond delay="0"/>
                                          </p:stCondLst>
                                        </p:cTn>
                                        <p:tgtEl>
                                          <p:spTgt spid="104"/>
                                        </p:tgtEl>
                                        <p:attrNameLst>
                                          <p:attrName>style.visibility</p:attrName>
                                        </p:attrNameLst>
                                      </p:cBhvr>
                                      <p:to>
                                        <p:strVal val="visible"/>
                                      </p:to>
                                    </p:set>
                                    <p:anim calcmode="lin" valueType="num">
                                      <p:cBhvr additive="base">
                                        <p:cTn id="22" dur="500" decel="100000" fill="hold"/>
                                        <p:tgtEl>
                                          <p:spTgt spid="104"/>
                                        </p:tgtEl>
                                        <p:attrNameLst>
                                          <p:attrName>ppt_w</p:attrName>
                                        </p:attrNameLst>
                                      </p:cBhvr>
                                      <p:tavLst>
                                        <p:tav tm="0">
                                          <p:val>
                                            <p:strVal val="#ppt_w*0.55"/>
                                          </p:val>
                                        </p:tav>
                                        <p:tav tm="100000">
                                          <p:val>
                                            <p:strVal val="#ppt_w"/>
                                          </p:val>
                                        </p:tav>
                                      </p:tavLst>
                                    </p:anim>
                                    <p:anim calcmode="lin" valueType="num">
                                      <p:cBhvr additive="base">
                                        <p:cTn id="23" dur="500" decel="100000" fill="hold"/>
                                        <p:tgtEl>
                                          <p:spTgt spid="104"/>
                                        </p:tgtEl>
                                        <p:attrNameLst>
                                          <p:attrName>ppt_h</p:attrName>
                                        </p:attrNameLst>
                                      </p:cBhvr>
                                      <p:tavLst>
                                        <p:tav tm="0">
                                          <p:val>
                                            <p:strVal val="#ppt_h*0.55"/>
                                          </p:val>
                                        </p:tav>
                                        <p:tav tm="100000">
                                          <p:val>
                                            <p:strVal val="#ppt_h"/>
                                          </p:val>
                                        </p:tav>
                                      </p:tavLst>
                                    </p:anim>
                                    <p:animEffect transition="in" filter="fade">
                                      <p:cBhvr>
                                        <p:cTn id="24" dur="500"/>
                                        <p:tgtEl>
                                          <p:spTgt spid="104"/>
                                        </p:tgtEl>
                                      </p:cBhvr>
                                    </p:animEffect>
                                  </p:childTnLst>
                                </p:cTn>
                              </p:par>
                              <p:par>
                                <p:cTn id="25" presetID="53" presetClass="entr" presetSubtype="16" fill="hold" grpId="0" nodeType="withEffect">
                                  <p:stCondLst>
                                    <p:cond delay="400"/>
                                  </p:stCondLst>
                                  <p:childTnLst>
                                    <p:set>
                                      <p:cBhvr>
                                        <p:cTn id="26" dur="1" fill="hold">
                                          <p:stCondLst>
                                            <p:cond delay="0"/>
                                          </p:stCondLst>
                                        </p:cTn>
                                        <p:tgtEl>
                                          <p:spTgt spid="105"/>
                                        </p:tgtEl>
                                        <p:attrNameLst>
                                          <p:attrName>style.visibility</p:attrName>
                                        </p:attrNameLst>
                                      </p:cBhvr>
                                      <p:to>
                                        <p:strVal val="visible"/>
                                      </p:to>
                                    </p:set>
                                    <p:anim calcmode="lin" valueType="num">
                                      <p:cBhvr additive="base">
                                        <p:cTn id="27" dur="5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28" dur="500" decel="100000" fill="hold"/>
                                        <p:tgtEl>
                                          <p:spTgt spid="105"/>
                                        </p:tgtEl>
                                        <p:attrNameLst>
                                          <p:attrName>ppt_h</p:attrName>
                                        </p:attrNameLst>
                                      </p:cBhvr>
                                      <p:tavLst>
                                        <p:tav tm="0">
                                          <p:val>
                                            <p:strVal val="#ppt_h*0.55"/>
                                          </p:val>
                                        </p:tav>
                                        <p:tav tm="100000">
                                          <p:val>
                                            <p:strVal val="#ppt_h"/>
                                          </p:val>
                                        </p:tav>
                                      </p:tavLst>
                                    </p:anim>
                                    <p:animEffect transition="in" filter="fade">
                                      <p:cBhvr>
                                        <p:cTn id="29" dur="500"/>
                                        <p:tgtEl>
                                          <p:spTgt spid="105"/>
                                        </p:tgtEl>
                                      </p:cBhvr>
                                    </p:animEffect>
                                  </p:childTnLst>
                                </p:cTn>
                              </p:par>
                              <p:par>
                                <p:cTn id="30" presetID="53" presetClass="entr" presetSubtype="16" fill="hold" grpId="0" nodeType="withEffect">
                                  <p:stCondLst>
                                    <p:cond delay="500"/>
                                  </p:stCondLst>
                                  <p:childTnLst>
                                    <p:set>
                                      <p:cBhvr>
                                        <p:cTn id="31" dur="1" fill="hold">
                                          <p:stCondLst>
                                            <p:cond delay="0"/>
                                          </p:stCondLst>
                                        </p:cTn>
                                        <p:tgtEl>
                                          <p:spTgt spid="106"/>
                                        </p:tgtEl>
                                        <p:attrNameLst>
                                          <p:attrName>style.visibility</p:attrName>
                                        </p:attrNameLst>
                                      </p:cBhvr>
                                      <p:to>
                                        <p:strVal val="visible"/>
                                      </p:to>
                                    </p:set>
                                    <p:anim calcmode="lin" valueType="num">
                                      <p:cBhvr additive="base">
                                        <p:cTn id="32"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33" dur="500" decel="100000" fill="hold"/>
                                        <p:tgtEl>
                                          <p:spTgt spid="106"/>
                                        </p:tgtEl>
                                        <p:attrNameLst>
                                          <p:attrName>ppt_h</p:attrName>
                                        </p:attrNameLst>
                                      </p:cBhvr>
                                      <p:tavLst>
                                        <p:tav tm="0">
                                          <p:val>
                                            <p:strVal val="#ppt_h*0.55"/>
                                          </p:val>
                                        </p:tav>
                                        <p:tav tm="100000">
                                          <p:val>
                                            <p:strVal val="#ppt_h"/>
                                          </p:val>
                                        </p:tav>
                                      </p:tavLst>
                                    </p:anim>
                                    <p:animEffect transition="in" filter="fade">
                                      <p:cBhvr>
                                        <p:cTn id="34" dur="500"/>
                                        <p:tgtEl>
                                          <p:spTgt spid="106"/>
                                        </p:tgtEl>
                                      </p:cBhvr>
                                    </p:animEffect>
                                  </p:childTnLst>
                                </p:cTn>
                              </p:par>
                              <p:par>
                                <p:cTn id="35" presetID="53" presetClass="entr" presetSubtype="16" fill="hold" grpId="0" nodeType="withEffect">
                                  <p:stCondLst>
                                    <p:cond delay="600"/>
                                  </p:stCondLst>
                                  <p:childTnLst>
                                    <p:set>
                                      <p:cBhvr>
                                        <p:cTn id="36" dur="1" fill="hold">
                                          <p:stCondLst>
                                            <p:cond delay="0"/>
                                          </p:stCondLst>
                                        </p:cTn>
                                        <p:tgtEl>
                                          <p:spTgt spid="107"/>
                                        </p:tgtEl>
                                        <p:attrNameLst>
                                          <p:attrName>style.visibility</p:attrName>
                                        </p:attrNameLst>
                                      </p:cBhvr>
                                      <p:to>
                                        <p:strVal val="visible"/>
                                      </p:to>
                                    </p:set>
                                    <p:anim calcmode="lin" valueType="num">
                                      <p:cBhvr additive="base">
                                        <p:cTn id="37"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8" dur="500" decel="100000" fill="hold"/>
                                        <p:tgtEl>
                                          <p:spTgt spid="107"/>
                                        </p:tgtEl>
                                        <p:attrNameLst>
                                          <p:attrName>ppt_h</p:attrName>
                                        </p:attrNameLst>
                                      </p:cBhvr>
                                      <p:tavLst>
                                        <p:tav tm="0">
                                          <p:val>
                                            <p:strVal val="#ppt_h*0.55"/>
                                          </p:val>
                                        </p:tav>
                                        <p:tav tm="100000">
                                          <p:val>
                                            <p:strVal val="#ppt_h"/>
                                          </p:val>
                                        </p:tav>
                                      </p:tavLst>
                                    </p:anim>
                                    <p:animEffect transition="in" filter="fade">
                                      <p:cBhvr>
                                        <p:cTn id="39" dur="500"/>
                                        <p:tgtEl>
                                          <p:spTgt spid="107"/>
                                        </p:tgtEl>
                                      </p:cBhvr>
                                    </p:animEffect>
                                  </p:childTnLst>
                                </p:cTn>
                              </p:par>
                              <p:par>
                                <p:cTn id="40" presetID="53" presetClass="entr" presetSubtype="16" fill="hold" grpId="0" nodeType="withEffect">
                                  <p:stCondLst>
                                    <p:cond delay="700"/>
                                  </p:stCondLst>
                                  <p:childTnLst>
                                    <p:set>
                                      <p:cBhvr>
                                        <p:cTn id="41" dur="1" fill="hold">
                                          <p:stCondLst>
                                            <p:cond delay="0"/>
                                          </p:stCondLst>
                                        </p:cTn>
                                        <p:tgtEl>
                                          <p:spTgt spid="108"/>
                                        </p:tgtEl>
                                        <p:attrNameLst>
                                          <p:attrName>style.visibility</p:attrName>
                                        </p:attrNameLst>
                                      </p:cBhvr>
                                      <p:to>
                                        <p:strVal val="visible"/>
                                      </p:to>
                                    </p:set>
                                    <p:anim calcmode="lin" valueType="num">
                                      <p:cBhvr additive="base">
                                        <p:cTn id="42"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3" dur="500" decel="100000" fill="hold"/>
                                        <p:tgtEl>
                                          <p:spTgt spid="108"/>
                                        </p:tgtEl>
                                        <p:attrNameLst>
                                          <p:attrName>ppt_h</p:attrName>
                                        </p:attrNameLst>
                                      </p:cBhvr>
                                      <p:tavLst>
                                        <p:tav tm="0">
                                          <p:val>
                                            <p:strVal val="#ppt_h*0.55"/>
                                          </p:val>
                                        </p:tav>
                                        <p:tav tm="100000">
                                          <p:val>
                                            <p:strVal val="#ppt_h"/>
                                          </p:val>
                                        </p:tav>
                                      </p:tavLst>
                                    </p:anim>
                                    <p:animEffect transition="in" filter="fade">
                                      <p:cBhvr>
                                        <p:cTn id="44" dur="500"/>
                                        <p:tgtEl>
                                          <p:spTgt spid="108"/>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09"/>
                                        </p:tgtEl>
                                        <p:attrNameLst>
                                          <p:attrName>style.visibility</p:attrName>
                                        </p:attrNameLst>
                                      </p:cBhvr>
                                      <p:to>
                                        <p:strVal val="visible"/>
                                      </p:to>
                                    </p:set>
                                    <p:animEffect transition="in" filter="fade">
                                      <p:cBhvr>
                                        <p:cTn id="49" dur="500"/>
                                        <p:tgtEl>
                                          <p:spTgt spid="109"/>
                                        </p:tgtEl>
                                      </p:cBhvr>
                                    </p:animEffect>
                                  </p:childTnLst>
                                </p:cTn>
                              </p:par>
                              <p:par>
                                <p:cTn id="50" presetID="42" presetClass="entr" presetSubtype="0" fill="hold" grpId="0" nodeType="withEffect">
                                  <p:stCondLst>
                                    <p:cond delay="300"/>
                                  </p:stCondLst>
                                  <p:childTnLst>
                                    <p:set>
                                      <p:cBhvr>
                                        <p:cTn id="51" dur="1" fill="hold">
                                          <p:stCondLst>
                                            <p:cond delay="0"/>
                                          </p:stCondLst>
                                        </p:cTn>
                                        <p:tgtEl>
                                          <p:spTgt spid="110"/>
                                        </p:tgtEl>
                                        <p:attrNameLst>
                                          <p:attrName>style.visibility</p:attrName>
                                        </p:attrNameLst>
                                      </p:cBhvr>
                                      <p:to>
                                        <p:strVal val="visible"/>
                                      </p:to>
                                    </p:set>
                                    <p:animEffect transition="in" filter="fade">
                                      <p:cBhvr>
                                        <p:cTn id="52" dur="500"/>
                                        <p:tgtEl>
                                          <p:spTgt spid="110"/>
                                        </p:tgtEl>
                                      </p:cBhvr>
                                    </p:animEffect>
                                    <p:anim calcmode="lin" valueType="num">
                                      <p:cBhvr additive="base">
                                        <p:cTn id="53" dur="500" decel="100000" fill="hold"/>
                                        <p:tgtEl>
                                          <p:spTgt spid="110"/>
                                        </p:tgtEl>
                                        <p:attrNameLst>
                                          <p:attrName>ppt_x</p:attrName>
                                        </p:attrNameLst>
                                      </p:cBhvr>
                                      <p:tavLst>
                                        <p:tav tm="0">
                                          <p:val>
                                            <p:strVal val="#ppt_x-0.05"/>
                                          </p:val>
                                        </p:tav>
                                        <p:tav tm="100000">
                                          <p:val>
                                            <p:strVal val="#ppt_x"/>
                                          </p:val>
                                        </p:tav>
                                      </p:tavLst>
                                    </p:anim>
                                  </p:childTnLst>
                                </p:cTn>
                              </p:par>
                              <p:par>
                                <p:cTn id="54" presetID="42" presetClass="entr" presetSubtype="0" fill="hold" nodeType="withEffect">
                                  <p:stCondLst>
                                    <p:cond delay="600"/>
                                  </p:stCondLst>
                                  <p:childTnLst>
                                    <p:set>
                                      <p:cBhvr>
                                        <p:cTn id="55" dur="1" fill="hold">
                                          <p:stCondLst>
                                            <p:cond delay="0"/>
                                          </p:stCondLst>
                                        </p:cTn>
                                        <p:tgtEl>
                                          <p:spTgt spid="112"/>
                                        </p:tgtEl>
                                        <p:attrNameLst>
                                          <p:attrName>style.visibility</p:attrName>
                                        </p:attrNameLst>
                                      </p:cBhvr>
                                      <p:to>
                                        <p:strVal val="visible"/>
                                      </p:to>
                                    </p:set>
                                    <p:animEffect transition="in" filter="fade">
                                      <p:cBhvr>
                                        <p:cTn id="56" dur="500"/>
                                        <p:tgtEl>
                                          <p:spTgt spid="112"/>
                                        </p:tgtEl>
                                      </p:cBhvr>
                                    </p:animEffect>
                                    <p:anim calcmode="lin" valueType="num">
                                      <p:cBhvr additive="base">
                                        <p:cTn id="57" dur="500" decel="100000" fill="hold"/>
                                        <p:tgtEl>
                                          <p:spTgt spid="112"/>
                                        </p:tgtEl>
                                        <p:attrNameLst>
                                          <p:attrName>ppt_x</p:attrName>
                                        </p:attrNameLst>
                                      </p:cBhvr>
                                      <p:tavLst>
                                        <p:tav tm="0">
                                          <p:val>
                                            <p:strVal val="#ppt_x-0.05"/>
                                          </p:val>
                                        </p:tav>
                                        <p:tav tm="100000">
                                          <p:val>
                                            <p:strVal val="#ppt_x"/>
                                          </p:val>
                                        </p:tav>
                                      </p:tavLst>
                                    </p:anim>
                                  </p:childTnLst>
                                </p:cTn>
                              </p:par>
                              <p:par>
                                <p:cTn id="58" presetID="42" presetClass="entr" presetSubtype="0" fill="hold" grpId="0" nodeType="withEffect">
                                  <p:stCondLst>
                                    <p:cond delay="600"/>
                                  </p:stCondLst>
                                  <p:childTnLst>
                                    <p:set>
                                      <p:cBhvr>
                                        <p:cTn id="59" dur="1" fill="hold">
                                          <p:stCondLst>
                                            <p:cond delay="0"/>
                                          </p:stCondLst>
                                        </p:cTn>
                                        <p:tgtEl>
                                          <p:spTgt spid="111"/>
                                        </p:tgtEl>
                                        <p:attrNameLst>
                                          <p:attrName>style.visibility</p:attrName>
                                        </p:attrNameLst>
                                      </p:cBhvr>
                                      <p:to>
                                        <p:strVal val="visible"/>
                                      </p:to>
                                    </p:set>
                                    <p:animEffect transition="in" filter="fade">
                                      <p:cBhvr>
                                        <p:cTn id="60" dur="500"/>
                                        <p:tgtEl>
                                          <p:spTgt spid="111"/>
                                        </p:tgtEl>
                                      </p:cBhvr>
                                    </p:animEffect>
                                    <p:anim calcmode="lin" valueType="num">
                                      <p:cBhvr additive="base">
                                        <p:cTn id="61" dur="500" decel="100000" fill="hold"/>
                                        <p:tgtEl>
                                          <p:spTgt spid="111"/>
                                        </p:tgtEl>
                                        <p:attrNameLst>
                                          <p:attrName>ppt_x</p:attrName>
                                        </p:attrNameLst>
                                      </p:cBhvr>
                                      <p:tavLst>
                                        <p:tav tm="0">
                                          <p:val>
                                            <p:strVal val="#ppt_x-0.05"/>
                                          </p:val>
                                        </p:tav>
                                        <p:tav tm="100000">
                                          <p:val>
                                            <p:strVal val="#ppt_x"/>
                                          </p:val>
                                        </p:tav>
                                      </p:tavLst>
                                    </p:anim>
                                  </p:childTnLst>
                                </p:cTn>
                              </p:par>
                              <p:par>
                                <p:cTn id="62" presetID="42" presetClass="entr" presetSubtype="0" fill="hold" nodeType="withEffect">
                                  <p:stCondLst>
                                    <p:cond delay="900"/>
                                  </p:stCondLst>
                                  <p:childTnLst>
                                    <p:set>
                                      <p:cBhvr>
                                        <p:cTn id="63" dur="1" fill="hold">
                                          <p:stCondLst>
                                            <p:cond delay="0"/>
                                          </p:stCondLst>
                                        </p:cTn>
                                        <p:tgtEl>
                                          <p:spTgt spid="114"/>
                                        </p:tgtEl>
                                        <p:attrNameLst>
                                          <p:attrName>style.visibility</p:attrName>
                                        </p:attrNameLst>
                                      </p:cBhvr>
                                      <p:to>
                                        <p:strVal val="visible"/>
                                      </p:to>
                                    </p:set>
                                    <p:animEffect transition="in" filter="fade">
                                      <p:cBhvr>
                                        <p:cTn id="64" dur="500"/>
                                        <p:tgtEl>
                                          <p:spTgt spid="114"/>
                                        </p:tgtEl>
                                      </p:cBhvr>
                                    </p:animEffect>
                                    <p:anim calcmode="lin" valueType="num">
                                      <p:cBhvr additive="base">
                                        <p:cTn id="65" dur="500" decel="100000" fill="hold"/>
                                        <p:tgtEl>
                                          <p:spTgt spid="114"/>
                                        </p:tgtEl>
                                        <p:attrNameLst>
                                          <p:attrName>ppt_x</p:attrName>
                                        </p:attrNameLst>
                                      </p:cBhvr>
                                      <p:tavLst>
                                        <p:tav tm="0">
                                          <p:val>
                                            <p:strVal val="#ppt_x-0.05"/>
                                          </p:val>
                                        </p:tav>
                                        <p:tav tm="100000">
                                          <p:val>
                                            <p:strVal val="#ppt_x"/>
                                          </p:val>
                                        </p:tav>
                                      </p:tavLst>
                                    </p:anim>
                                  </p:childTnLst>
                                </p:cTn>
                              </p:par>
                              <p:par>
                                <p:cTn id="66" presetID="42" presetClass="entr" presetSubtype="0" fill="hold" grpId="0" nodeType="withEffect">
                                  <p:stCondLst>
                                    <p:cond delay="900"/>
                                  </p:stCondLst>
                                  <p:childTnLst>
                                    <p:set>
                                      <p:cBhvr>
                                        <p:cTn id="67" dur="1" fill="hold">
                                          <p:stCondLst>
                                            <p:cond delay="0"/>
                                          </p:stCondLst>
                                        </p:cTn>
                                        <p:tgtEl>
                                          <p:spTgt spid="113"/>
                                        </p:tgtEl>
                                        <p:attrNameLst>
                                          <p:attrName>style.visibility</p:attrName>
                                        </p:attrNameLst>
                                      </p:cBhvr>
                                      <p:to>
                                        <p:strVal val="visible"/>
                                      </p:to>
                                    </p:set>
                                    <p:animEffect transition="in" filter="fade">
                                      <p:cBhvr>
                                        <p:cTn id="68" dur="500"/>
                                        <p:tgtEl>
                                          <p:spTgt spid="113"/>
                                        </p:tgtEl>
                                      </p:cBhvr>
                                    </p:animEffect>
                                    <p:anim calcmode="lin" valueType="num">
                                      <p:cBhvr additive="base">
                                        <p:cTn id="69" dur="500" decel="100000" fill="hold"/>
                                        <p:tgtEl>
                                          <p:spTgt spid="113"/>
                                        </p:tgtEl>
                                        <p:attrNameLst>
                                          <p:attrName>ppt_x</p:attrName>
                                        </p:attrNameLst>
                                      </p:cBhvr>
                                      <p:tavLst>
                                        <p:tav tm="0">
                                          <p:val>
                                            <p:strVal val="#ppt_x-0.05"/>
                                          </p:val>
                                        </p:tav>
                                        <p:tav tm="100000">
                                          <p:val>
                                            <p:strVal val="#ppt_x"/>
                                          </p:val>
                                        </p:tav>
                                      </p:tavLst>
                                    </p:anim>
                                  </p:childTnLst>
                                </p:cTn>
                              </p:par>
                              <p:par>
                                <p:cTn id="70" presetID="42" presetClass="entr" presetSubtype="0" fill="hold" nodeType="withEffect">
                                  <p:stCondLst>
                                    <p:cond delay="1200"/>
                                  </p:stCondLst>
                                  <p:childTnLst>
                                    <p:set>
                                      <p:cBhvr>
                                        <p:cTn id="71" dur="1" fill="hold">
                                          <p:stCondLst>
                                            <p:cond delay="0"/>
                                          </p:stCondLst>
                                        </p:cTn>
                                        <p:tgtEl>
                                          <p:spTgt spid="116"/>
                                        </p:tgtEl>
                                        <p:attrNameLst>
                                          <p:attrName>style.visibility</p:attrName>
                                        </p:attrNameLst>
                                      </p:cBhvr>
                                      <p:to>
                                        <p:strVal val="visible"/>
                                      </p:to>
                                    </p:set>
                                    <p:animEffect transition="in" filter="fade">
                                      <p:cBhvr>
                                        <p:cTn id="72" dur="500"/>
                                        <p:tgtEl>
                                          <p:spTgt spid="116"/>
                                        </p:tgtEl>
                                      </p:cBhvr>
                                    </p:animEffect>
                                    <p:anim calcmode="lin" valueType="num">
                                      <p:cBhvr additive="base">
                                        <p:cTn id="73" dur="500" decel="100000" fill="hold"/>
                                        <p:tgtEl>
                                          <p:spTgt spid="116"/>
                                        </p:tgtEl>
                                        <p:attrNameLst>
                                          <p:attrName>ppt_x</p:attrName>
                                        </p:attrNameLst>
                                      </p:cBhvr>
                                      <p:tavLst>
                                        <p:tav tm="0">
                                          <p:val>
                                            <p:strVal val="#ppt_x-0.05"/>
                                          </p:val>
                                        </p:tav>
                                        <p:tav tm="100000">
                                          <p:val>
                                            <p:strVal val="#ppt_x"/>
                                          </p:val>
                                        </p:tav>
                                      </p:tavLst>
                                    </p:anim>
                                  </p:childTnLst>
                                </p:cTn>
                              </p:par>
                              <p:par>
                                <p:cTn id="74" presetID="42" presetClass="entr" presetSubtype="0" fill="hold" grpId="0" nodeType="withEffect">
                                  <p:stCondLst>
                                    <p:cond delay="1200"/>
                                  </p:stCondLst>
                                  <p:childTnLst>
                                    <p:set>
                                      <p:cBhvr>
                                        <p:cTn id="75" dur="1" fill="hold">
                                          <p:stCondLst>
                                            <p:cond delay="0"/>
                                          </p:stCondLst>
                                        </p:cTn>
                                        <p:tgtEl>
                                          <p:spTgt spid="115"/>
                                        </p:tgtEl>
                                        <p:attrNameLst>
                                          <p:attrName>style.visibility</p:attrName>
                                        </p:attrNameLst>
                                      </p:cBhvr>
                                      <p:to>
                                        <p:strVal val="visible"/>
                                      </p:to>
                                    </p:set>
                                    <p:animEffect transition="in" filter="fade">
                                      <p:cBhvr>
                                        <p:cTn id="76" dur="500"/>
                                        <p:tgtEl>
                                          <p:spTgt spid="115"/>
                                        </p:tgtEl>
                                      </p:cBhvr>
                                    </p:animEffect>
                                    <p:anim calcmode="lin" valueType="num">
                                      <p:cBhvr additive="base">
                                        <p:cTn id="77" dur="500" decel="100000" fill="hold"/>
                                        <p:tgtEl>
                                          <p:spTgt spid="115"/>
                                        </p:tgtEl>
                                        <p:attrNameLst>
                                          <p:attrName>ppt_x</p:attrName>
                                        </p:attrNameLst>
                                      </p:cBhvr>
                                      <p:tavLst>
                                        <p:tav tm="0">
                                          <p:val>
                                            <p:strVal val="#ppt_x-0.05"/>
                                          </p:val>
                                        </p:tav>
                                        <p:tav tm="100000">
                                          <p:val>
                                            <p:strVal val="#ppt_x"/>
                                          </p:val>
                                        </p:tav>
                                      </p:tavLst>
                                    </p:anim>
                                  </p:childTnLst>
                                </p:cTn>
                              </p:par>
                              <p:par>
                                <p:cTn id="78" presetID="42" presetClass="entr" presetSubtype="0" fill="hold" nodeType="withEffect">
                                  <p:stCondLst>
                                    <p:cond delay="1500"/>
                                  </p:stCondLst>
                                  <p:childTnLst>
                                    <p:set>
                                      <p:cBhvr>
                                        <p:cTn id="79" dur="1" fill="hold">
                                          <p:stCondLst>
                                            <p:cond delay="0"/>
                                          </p:stCondLst>
                                        </p:cTn>
                                        <p:tgtEl>
                                          <p:spTgt spid="118"/>
                                        </p:tgtEl>
                                        <p:attrNameLst>
                                          <p:attrName>style.visibility</p:attrName>
                                        </p:attrNameLst>
                                      </p:cBhvr>
                                      <p:to>
                                        <p:strVal val="visible"/>
                                      </p:to>
                                    </p:set>
                                    <p:animEffect transition="in" filter="fade">
                                      <p:cBhvr>
                                        <p:cTn id="80" dur="500"/>
                                        <p:tgtEl>
                                          <p:spTgt spid="118"/>
                                        </p:tgtEl>
                                      </p:cBhvr>
                                    </p:animEffect>
                                    <p:anim calcmode="lin" valueType="num">
                                      <p:cBhvr additive="base">
                                        <p:cTn id="81" dur="500" decel="100000" fill="hold"/>
                                        <p:tgtEl>
                                          <p:spTgt spid="118"/>
                                        </p:tgtEl>
                                        <p:attrNameLst>
                                          <p:attrName>ppt_x</p:attrName>
                                        </p:attrNameLst>
                                      </p:cBhvr>
                                      <p:tavLst>
                                        <p:tav tm="0">
                                          <p:val>
                                            <p:strVal val="#ppt_x-0.05"/>
                                          </p:val>
                                        </p:tav>
                                        <p:tav tm="100000">
                                          <p:val>
                                            <p:strVal val="#ppt_x"/>
                                          </p:val>
                                        </p:tav>
                                      </p:tavLst>
                                    </p:anim>
                                  </p:childTnLst>
                                </p:cTn>
                              </p:par>
                              <p:par>
                                <p:cTn id="82" presetID="42" presetClass="entr" presetSubtype="0" fill="hold" grpId="0" nodeType="withEffect">
                                  <p:stCondLst>
                                    <p:cond delay="1500"/>
                                  </p:stCondLst>
                                  <p:childTnLst>
                                    <p:set>
                                      <p:cBhvr>
                                        <p:cTn id="83" dur="1" fill="hold">
                                          <p:stCondLst>
                                            <p:cond delay="0"/>
                                          </p:stCondLst>
                                        </p:cTn>
                                        <p:tgtEl>
                                          <p:spTgt spid="117"/>
                                        </p:tgtEl>
                                        <p:attrNameLst>
                                          <p:attrName>style.visibility</p:attrName>
                                        </p:attrNameLst>
                                      </p:cBhvr>
                                      <p:to>
                                        <p:strVal val="visible"/>
                                      </p:to>
                                    </p:set>
                                    <p:animEffect transition="in" filter="fade">
                                      <p:cBhvr>
                                        <p:cTn id="84" dur="500"/>
                                        <p:tgtEl>
                                          <p:spTgt spid="117"/>
                                        </p:tgtEl>
                                      </p:cBhvr>
                                    </p:animEffect>
                                    <p:anim calcmode="lin" valueType="num">
                                      <p:cBhvr additive="base">
                                        <p:cTn id="85" dur="500" decel="100000" fill="hold"/>
                                        <p:tgtEl>
                                          <p:spTgt spid="117"/>
                                        </p:tgtEl>
                                        <p:attrNameLst>
                                          <p:attrName>ppt_x</p:attrName>
                                        </p:attrNameLst>
                                      </p:cBhvr>
                                      <p:tavLst>
                                        <p:tav tm="0">
                                          <p:val>
                                            <p:strVal val="#ppt_x-0.05"/>
                                          </p:val>
                                        </p:tav>
                                        <p:tav tm="100000">
                                          <p:val>
                                            <p:strVal val="#ppt_x"/>
                                          </p:val>
                                        </p:tav>
                                      </p:tavLst>
                                    </p:anim>
                                  </p:childTnLst>
                                </p:cTn>
                              </p:par>
                              <p:par>
                                <p:cTn id="86" presetID="6" presetClass="emph" presetSubtype="0" fill="hold" grpId="1" nodeType="withEffect">
                                  <p:stCondLst>
                                    <p:cond delay="1700"/>
                                  </p:stCondLst>
                                  <p:childTnLst>
                                    <p:animScale>
                                      <p:cBhvr>
                                        <p:cTn id="87" dur="300" autoRev="1" fill="hold"/>
                                        <p:tgtEl>
                                          <p:spTgt spid="117"/>
                                        </p:tgtEl>
                                      </p:cBhvr>
                                      <p:by x="112000" y="112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3" grpId="0" animBg="1"/>
      <p:bldP spid="115" grpId="0" animBg="1"/>
      <p:bldP spid="117" grpId="0" animBg="1"/>
      <p:bldP spid="117" grpId="1"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FEEDBACK</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Stakeholder Feedback Changes the Plan</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Feedback becomes input for future decisions, not a mid-demo rebuild.</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REVIEW</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284</a:t>
            </a:r>
            <a:endParaRPr lang="en-US" sz="850" dirty="0"/>
          </a:p>
        </p:txBody>
      </p:sp>
      <p:sp>
        <p:nvSpPr>
          <p:cNvPr id="101" name="s101"/>
          <p:cNvSpPr/>
          <p:nvPr/>
        </p:nvSpPr>
        <p:spPr>
          <a:xfrm>
            <a:off x="543154" y="1993392"/>
            <a:ext cx="566928" cy="566928"/>
          </a:xfrm>
          <a:prstGeom prst="ellipse">
            <a:avLst/>
          </a:prstGeom>
          <a:solidFill>
            <a:srgbClr val="A78BFA">
              <a:alpha val="22000"/>
            </a:srgbClr>
          </a:solidFill>
          <a:ln w="1270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600" b="1" dirty="0">
                <a:solidFill>
                  <a:srgbClr val="A78BFA"/>
                </a:solidFill>
                <a:latin typeface="Segoe UI"/>
                <a:ea typeface="Segoe UI"/>
                <a:cs typeface="Segoe UI"/>
              </a:rPr>
              <a:t>R</a:t>
            </a:r>
            <a:endParaRPr lang="en-US" sz="1600" dirty="0"/>
          </a:p>
        </p:txBody>
      </p:sp>
      <p:sp>
        <p:nvSpPr>
          <p:cNvPr id="102" name="s102"/>
          <p:cNvSpPr/>
          <p:nvPr/>
        </p:nvSpPr>
        <p:spPr>
          <a:xfrm>
            <a:off x="1274674" y="1920240"/>
            <a:ext cx="5852160" cy="868680"/>
          </a:xfrm>
          <a:prstGeom prst="roundRect">
            <a:avLst>
              <a:gd name="adj" fmla="val 14000"/>
            </a:avLst>
          </a:prstGeom>
          <a:solidFill>
            <a:srgbClr val="111B2E"/>
          </a:solidFill>
          <a:ln w="12700">
            <a:solidFill>
              <a:srgbClr val="A78BFA"/>
            </a:solidFill>
            <a:prstDash val="solid"/>
          </a:ln>
        </p:spPr>
        <p:txBody>
          <a:bodyPr wrap="square" lIns="201168" tIns="45720" rIns="182880" bIns="45720" rtlCol="0" anchor="ctr">
            <a:noAutofit/>
          </a:bodyPr>
          <a:lstStyle/>
          <a:p>
            <a:pPr marL="0" indent="0" algn="l">
              <a:spcBef>
                <a:spcPts val="0"/>
              </a:spcBef>
              <a:spcAft>
                <a:spcPts val="200"/>
              </a:spcAft>
              <a:buNone/>
            </a:pPr>
            <a:r>
              <a:rPr lang="en-US" sz="1100" b="1" dirty="0">
                <a:solidFill>
                  <a:srgbClr val="A78BFA"/>
                </a:solidFill>
                <a:latin typeface="Segoe UI"/>
                <a:ea typeface="Segoe UI"/>
                <a:cs typeface="Segoe UI"/>
              </a:rPr>
              <a:t>Receptionist supervisor</a:t>
            </a:r>
            <a:endParaRPr lang="en-US" sz="1100" dirty="0"/>
          </a:p>
          <a:p>
            <a:pPr marL="0" indent="0" algn="l">
              <a:spcBef>
                <a:spcPts val="0"/>
              </a:spcBef>
              <a:spcAft>
                <a:spcPts val="0"/>
              </a:spcAft>
              <a:buNone/>
            </a:pPr>
            <a:r>
              <a:rPr lang="en-US" sz="1400" b="0" dirty="0">
                <a:solidFill>
                  <a:srgbClr val="FFFFFF"/>
                </a:solidFill>
                <a:latin typeface="Segoe UI"/>
                <a:ea typeface="Segoe UI"/>
                <a:cs typeface="Segoe UI"/>
              </a:rPr>
              <a:t>We often search for existing patients by phone number, not only by patient ID.</a:t>
            </a:r>
            <a:endParaRPr lang="en-US" sz="1400" dirty="0"/>
          </a:p>
        </p:txBody>
      </p:sp>
      <p:sp>
        <p:nvSpPr>
          <p:cNvPr id="103" name="s103"/>
          <p:cNvSpPr/>
          <p:nvPr/>
        </p:nvSpPr>
        <p:spPr>
          <a:xfrm>
            <a:off x="543154" y="2999232"/>
            <a:ext cx="566928" cy="566928"/>
          </a:xfrm>
          <a:prstGeom prst="ellipse">
            <a:avLst/>
          </a:prstGeom>
          <a:solidFill>
            <a:srgbClr val="A78BFA">
              <a:alpha val="22000"/>
            </a:srgbClr>
          </a:solidFill>
          <a:ln w="1270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600" b="1" dirty="0">
                <a:solidFill>
                  <a:srgbClr val="A78BFA"/>
                </a:solidFill>
                <a:latin typeface="Segoe UI"/>
                <a:ea typeface="Segoe UI"/>
                <a:cs typeface="Segoe UI"/>
              </a:rPr>
              <a:t>O</a:t>
            </a:r>
            <a:endParaRPr lang="en-US" sz="1600" dirty="0"/>
          </a:p>
        </p:txBody>
      </p:sp>
      <p:sp>
        <p:nvSpPr>
          <p:cNvPr id="104" name="s104"/>
          <p:cNvSpPr/>
          <p:nvPr/>
        </p:nvSpPr>
        <p:spPr>
          <a:xfrm>
            <a:off x="1274674" y="2926080"/>
            <a:ext cx="5852160" cy="868680"/>
          </a:xfrm>
          <a:prstGeom prst="roundRect">
            <a:avLst>
              <a:gd name="adj" fmla="val 14000"/>
            </a:avLst>
          </a:prstGeom>
          <a:solidFill>
            <a:srgbClr val="111B2E"/>
          </a:solidFill>
          <a:ln w="12700">
            <a:solidFill>
              <a:srgbClr val="A78BFA"/>
            </a:solidFill>
            <a:prstDash val="solid"/>
          </a:ln>
        </p:spPr>
        <p:txBody>
          <a:bodyPr wrap="square" lIns="201168" tIns="45720" rIns="182880" bIns="45720" rtlCol="0" anchor="ctr">
            <a:noAutofit/>
          </a:bodyPr>
          <a:lstStyle/>
          <a:p>
            <a:pPr marL="0" indent="0" algn="l">
              <a:spcBef>
                <a:spcPts val="0"/>
              </a:spcBef>
              <a:spcAft>
                <a:spcPts val="200"/>
              </a:spcAft>
              <a:buNone/>
            </a:pPr>
            <a:r>
              <a:rPr lang="en-US" sz="1100" b="1" dirty="0">
                <a:solidFill>
                  <a:srgbClr val="A78BFA"/>
                </a:solidFill>
                <a:latin typeface="Segoe UI"/>
                <a:ea typeface="Segoe UI"/>
                <a:cs typeface="Segoe UI"/>
              </a:rPr>
              <a:t>Operations manager</a:t>
            </a:r>
            <a:endParaRPr lang="en-US" sz="1100" dirty="0"/>
          </a:p>
          <a:p>
            <a:pPr marL="0" indent="0" algn="l">
              <a:spcBef>
                <a:spcPts val="0"/>
              </a:spcBef>
              <a:spcAft>
                <a:spcPts val="0"/>
              </a:spcAft>
              <a:buNone/>
            </a:pPr>
            <a:r>
              <a:rPr lang="en-US" sz="1400" b="0" dirty="0">
                <a:solidFill>
                  <a:srgbClr val="FFFFFF"/>
                </a:solidFill>
                <a:latin typeface="Segoe UI"/>
                <a:ea typeface="Segoe UI"/>
                <a:cs typeface="Segoe UI"/>
              </a:rPr>
              <a:t>We need an audit record showing who created an appointment.</a:t>
            </a:r>
            <a:endParaRPr lang="en-US" sz="1400" dirty="0"/>
          </a:p>
        </p:txBody>
      </p:sp>
      <p:sp>
        <p:nvSpPr>
          <p:cNvPr id="105" name="s105"/>
          <p:cNvSpPr/>
          <p:nvPr/>
        </p:nvSpPr>
        <p:spPr>
          <a:xfrm>
            <a:off x="7401154" y="1920240"/>
            <a:ext cx="4230014" cy="3749040"/>
          </a:xfrm>
          <a:prstGeom prst="roundRect">
            <a:avLst>
              <a:gd name="adj" fmla="val 8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06" name="s106"/>
          <p:cNvSpPr txBox="1"/>
          <p:nvPr/>
        </p:nvSpPr>
        <p:spPr>
          <a:xfrm>
            <a:off x="7629754" y="2011680"/>
            <a:ext cx="36576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FBBF24"/>
                </a:solidFill>
                <a:latin typeface="Segoe UI"/>
                <a:ea typeface="Segoe UI"/>
                <a:cs typeface="Segoe UI"/>
              </a:rPr>
              <a:t>PRODUCT BACKLOG</a:t>
            </a:r>
            <a:endParaRPr lang="en-US" sz="1100" dirty="0"/>
          </a:p>
        </p:txBody>
      </p:sp>
      <p:sp>
        <p:nvSpPr>
          <p:cNvPr id="107" name="s107"/>
          <p:cNvSpPr/>
          <p:nvPr/>
        </p:nvSpPr>
        <p:spPr>
          <a:xfrm>
            <a:off x="7629754" y="2423160"/>
            <a:ext cx="3772814" cy="411480"/>
          </a:xfrm>
          <a:prstGeom prst="roundRect">
            <a:avLst>
              <a:gd name="adj" fmla="val 20000"/>
            </a:avLst>
          </a:prstGeom>
          <a:solidFill>
            <a:srgbClr val="152238"/>
          </a:solidFill>
          <a:ln>
            <a:noFill/>
          </a:ln>
        </p:spPr>
        <p:txBody>
          <a:bodyPr wrap="square" lIns="182880" tIns="0" rIns="91440" bIns="0" rtlCol="0" anchor="ctr">
            <a:noAutofit/>
          </a:bodyPr>
          <a:lstStyle/>
          <a:p>
            <a:pPr marL="0" indent="0" algn="l">
              <a:spcBef>
                <a:spcPts val="0"/>
              </a:spcBef>
              <a:spcAft>
                <a:spcPts val="0"/>
              </a:spcAft>
              <a:buNone/>
            </a:pPr>
            <a:r>
              <a:rPr lang="en-US" sz="1200" b="0" dirty="0">
                <a:solidFill>
                  <a:srgbClr val="94A3B8"/>
                </a:solidFill>
                <a:latin typeface="Segoe UI"/>
                <a:ea typeface="Segoe UI"/>
                <a:cs typeface="Segoe UI"/>
              </a:rPr>
              <a:t>Cancel appointment</a:t>
            </a:r>
            <a:endParaRPr lang="en-US" sz="1200" dirty="0"/>
          </a:p>
        </p:txBody>
      </p:sp>
      <p:sp>
        <p:nvSpPr>
          <p:cNvPr id="108" name="s108"/>
          <p:cNvSpPr/>
          <p:nvPr/>
        </p:nvSpPr>
        <p:spPr>
          <a:xfrm>
            <a:off x="7629754" y="2926080"/>
            <a:ext cx="3772814" cy="411480"/>
          </a:xfrm>
          <a:prstGeom prst="roundRect">
            <a:avLst>
              <a:gd name="adj" fmla="val 20000"/>
            </a:avLst>
          </a:prstGeom>
          <a:solidFill>
            <a:srgbClr val="152238"/>
          </a:solidFill>
          <a:ln>
            <a:noFill/>
          </a:ln>
        </p:spPr>
        <p:txBody>
          <a:bodyPr wrap="square" lIns="182880" tIns="0" rIns="91440" bIns="0" rtlCol="0" anchor="ctr">
            <a:noAutofit/>
          </a:bodyPr>
          <a:lstStyle/>
          <a:p>
            <a:pPr marL="0" indent="0" algn="l">
              <a:spcBef>
                <a:spcPts val="0"/>
              </a:spcBef>
              <a:spcAft>
                <a:spcPts val="0"/>
              </a:spcAft>
              <a:buNone/>
            </a:pPr>
            <a:r>
              <a:rPr lang="en-US" sz="1200" b="0" dirty="0">
                <a:solidFill>
                  <a:srgbClr val="94A3B8"/>
                </a:solidFill>
                <a:latin typeface="Segoe UI"/>
                <a:ea typeface="Segoe UI"/>
                <a:cs typeface="Segoe UI"/>
              </a:rPr>
              <a:t>SMS confirmation</a:t>
            </a:r>
            <a:endParaRPr lang="en-US" sz="1200" dirty="0"/>
          </a:p>
        </p:txBody>
      </p:sp>
      <p:sp>
        <p:nvSpPr>
          <p:cNvPr id="109" name="s109"/>
          <p:cNvSpPr/>
          <p:nvPr/>
        </p:nvSpPr>
        <p:spPr>
          <a:xfrm>
            <a:off x="7629754" y="3429000"/>
            <a:ext cx="3772814" cy="411480"/>
          </a:xfrm>
          <a:prstGeom prst="roundRect">
            <a:avLst>
              <a:gd name="adj" fmla="val 20000"/>
            </a:avLst>
          </a:prstGeom>
          <a:solidFill>
            <a:srgbClr val="152238"/>
          </a:solidFill>
          <a:ln>
            <a:noFill/>
          </a:ln>
        </p:spPr>
        <p:txBody>
          <a:bodyPr wrap="square" lIns="182880" tIns="0" rIns="91440" bIns="0" rtlCol="0" anchor="ctr">
            <a:noAutofit/>
          </a:bodyPr>
          <a:lstStyle/>
          <a:p>
            <a:pPr marL="0" indent="0" algn="l">
              <a:spcBef>
                <a:spcPts val="0"/>
              </a:spcBef>
              <a:spcAft>
                <a:spcPts val="0"/>
              </a:spcAft>
              <a:buNone/>
            </a:pPr>
            <a:r>
              <a:rPr lang="en-US" sz="1200" b="0" dirty="0">
                <a:solidFill>
                  <a:srgbClr val="94A3B8"/>
                </a:solidFill>
                <a:latin typeface="Segoe UI"/>
                <a:ea typeface="Segoe UI"/>
                <a:cs typeface="Segoe UI"/>
              </a:rPr>
              <a:t>Concurrency handling</a:t>
            </a:r>
            <a:endParaRPr lang="en-US" sz="1200" dirty="0"/>
          </a:p>
        </p:txBody>
      </p:sp>
      <p:sp>
        <p:nvSpPr>
          <p:cNvPr id="110" name="s110"/>
          <p:cNvSpPr/>
          <p:nvPr/>
        </p:nvSpPr>
        <p:spPr>
          <a:xfrm>
            <a:off x="7629754" y="3977640"/>
            <a:ext cx="3772814" cy="457200"/>
          </a:xfrm>
          <a:prstGeom prst="roundRect">
            <a:avLst>
              <a:gd name="adj" fmla="val 20000"/>
            </a:avLst>
          </a:prstGeom>
          <a:solidFill>
            <a:srgbClr val="FBBF24">
              <a:alpha val="16000"/>
            </a:srgbClr>
          </a:solidFill>
          <a:ln w="12700">
            <a:solidFill>
              <a:srgbClr val="FBBF24"/>
            </a:solidFill>
            <a:prstDash val="solid"/>
          </a:ln>
        </p:spPr>
        <p:txBody>
          <a:bodyPr wrap="square" lIns="182880" tIns="0" rIns="91440" bIns="0" rtlCol="0" anchor="ctr">
            <a:noAutofit/>
          </a:bodyPr>
          <a:lstStyle/>
          <a:p>
            <a:pPr marL="0" indent="0" algn="l">
              <a:spcBef>
                <a:spcPts val="0"/>
              </a:spcBef>
              <a:spcAft>
                <a:spcPts val="0"/>
              </a:spcAft>
              <a:buNone/>
            </a:pPr>
            <a:r>
              <a:rPr lang="en-US" sz="1250" b="1" dirty="0">
                <a:solidFill>
                  <a:srgbClr val="FBBF24"/>
                </a:solidFill>
                <a:latin typeface="Segoe UI"/>
                <a:ea typeface="Segoe UI"/>
                <a:cs typeface="Segoe UI"/>
              </a:rPr>
              <a:t>NEW  </a:t>
            </a:r>
            <a:r>
              <a:rPr lang="en-US" sz="1250" b="1" dirty="0">
                <a:solidFill>
                  <a:srgbClr val="FFFFFF"/>
                </a:solidFill>
                <a:latin typeface="Segoe UI"/>
                <a:ea typeface="Segoe UI"/>
                <a:cs typeface="Segoe UI"/>
              </a:rPr>
              <a:t>Search patients by phone</a:t>
            </a:r>
            <a:endParaRPr lang="en-US" sz="1250" dirty="0"/>
          </a:p>
        </p:txBody>
      </p:sp>
      <p:sp>
        <p:nvSpPr>
          <p:cNvPr id="111" name="s111"/>
          <p:cNvSpPr/>
          <p:nvPr/>
        </p:nvSpPr>
        <p:spPr>
          <a:xfrm>
            <a:off x="7629754" y="4526280"/>
            <a:ext cx="3772814" cy="457200"/>
          </a:xfrm>
          <a:prstGeom prst="roundRect">
            <a:avLst>
              <a:gd name="adj" fmla="val 20000"/>
            </a:avLst>
          </a:prstGeom>
          <a:solidFill>
            <a:srgbClr val="FBBF24">
              <a:alpha val="16000"/>
            </a:srgbClr>
          </a:solidFill>
          <a:ln w="12700">
            <a:solidFill>
              <a:srgbClr val="FBBF24"/>
            </a:solidFill>
            <a:prstDash val="solid"/>
          </a:ln>
        </p:spPr>
        <p:txBody>
          <a:bodyPr wrap="square" lIns="182880" tIns="0" rIns="91440" bIns="0" rtlCol="0" anchor="ctr">
            <a:noAutofit/>
          </a:bodyPr>
          <a:lstStyle/>
          <a:p>
            <a:pPr marL="0" indent="0" algn="l">
              <a:spcBef>
                <a:spcPts val="0"/>
              </a:spcBef>
              <a:spcAft>
                <a:spcPts val="0"/>
              </a:spcAft>
              <a:buNone/>
            </a:pPr>
            <a:r>
              <a:rPr lang="en-US" sz="1250" b="1" dirty="0">
                <a:solidFill>
                  <a:srgbClr val="FBBF24"/>
                </a:solidFill>
                <a:latin typeface="Segoe UI"/>
                <a:ea typeface="Segoe UI"/>
                <a:cs typeface="Segoe UI"/>
              </a:rPr>
              <a:t>NEW  </a:t>
            </a:r>
            <a:r>
              <a:rPr lang="en-US" sz="1250" b="1" dirty="0">
                <a:solidFill>
                  <a:srgbClr val="FFFFFF"/>
                </a:solidFill>
                <a:latin typeface="Segoe UI"/>
                <a:ea typeface="Segoe UI"/>
                <a:cs typeface="Segoe UI"/>
              </a:rPr>
              <a:t>Appointment audit history</a:t>
            </a:r>
            <a:endParaRPr lang="en-US" sz="1250" dirty="0"/>
          </a:p>
        </p:txBody>
      </p:sp>
      <p:sp>
        <p:nvSpPr>
          <p:cNvPr id="112" name="s112"/>
          <p:cNvSpPr/>
          <p:nvPr/>
        </p:nvSpPr>
        <p:spPr>
          <a:xfrm>
            <a:off x="543154" y="4187952"/>
            <a:ext cx="566928" cy="566928"/>
          </a:xfrm>
          <a:prstGeom prst="ellipse">
            <a:avLst/>
          </a:prstGeom>
          <a:solidFill>
            <a:srgbClr val="FBBF24">
              <a:alpha val="22000"/>
            </a:srgbClr>
          </a:solidFill>
          <a:ln w="1905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612" b="1" dirty="0">
                <a:solidFill>
                  <a:srgbClr val="FBBF24"/>
                </a:solidFill>
                <a:latin typeface="Segoe UI"/>
                <a:ea typeface="Segoe UI"/>
                <a:cs typeface="Segoe UI"/>
              </a:rPr>
              <a:t>S</a:t>
            </a:r>
            <a:endParaRPr lang="en-US" sz="1612" dirty="0"/>
          </a:p>
        </p:txBody>
      </p:sp>
      <p:sp>
        <p:nvSpPr>
          <p:cNvPr id="113" name="s113"/>
          <p:cNvSpPr/>
          <p:nvPr/>
        </p:nvSpPr>
        <p:spPr>
          <a:xfrm>
            <a:off x="1274674" y="4114800"/>
            <a:ext cx="5852160" cy="914400"/>
          </a:xfrm>
          <a:prstGeom prst="roundRect">
            <a:avLst>
              <a:gd name="adj" fmla="val 14000"/>
            </a:avLst>
          </a:prstGeom>
          <a:solidFill>
            <a:srgbClr val="111B2E"/>
          </a:solidFill>
          <a:ln w="12700">
            <a:solidFill>
              <a:srgbClr val="FBBF24"/>
            </a:solidFill>
            <a:prstDash val="solid"/>
          </a:ln>
        </p:spPr>
        <p:txBody>
          <a:bodyPr wrap="square" lIns="201168" tIns="54864" rIns="182880" bIns="54864" rtlCol="0" anchor="ctr">
            <a:noAutofit/>
          </a:bodyPr>
          <a:lstStyle/>
          <a:p>
            <a:pPr marL="0" indent="0" algn="l">
              <a:spcBef>
                <a:spcPts val="0"/>
              </a:spcBef>
              <a:spcAft>
                <a:spcPts val="300"/>
              </a:spcAft>
              <a:buNone/>
            </a:pPr>
            <a:r>
              <a:rPr lang="en-US" sz="1100" b="1" dirty="0">
                <a:solidFill>
                  <a:srgbClr val="FBBF24"/>
                </a:solidFill>
                <a:latin typeface="Segoe UI"/>
                <a:ea typeface="Segoe UI"/>
                <a:cs typeface="Segoe UI"/>
              </a:rPr>
              <a:t>Sarah</a:t>
            </a:r>
            <a:r>
              <a:rPr lang="en-US" sz="1100" b="0" dirty="0">
                <a:solidFill>
                  <a:srgbClr val="94A3B8"/>
                </a:solidFill>
                <a:latin typeface="Segoe UI"/>
                <a:ea typeface="Segoe UI"/>
                <a:cs typeface="Segoe UI"/>
              </a:rPr>
              <a:t>  ·  Product Owner</a:t>
            </a:r>
            <a:endParaRPr lang="en-US" sz="1100" dirty="0"/>
          </a:p>
          <a:p>
            <a:pPr marL="0" indent="0" algn="l">
              <a:spcBef>
                <a:spcPts val="0"/>
              </a:spcBef>
              <a:spcAft>
                <a:spcPts val="0"/>
              </a:spcAft>
              <a:buNone/>
            </a:pPr>
            <a:r>
              <a:rPr lang="en-US" sz="1350" b="0" dirty="0">
                <a:solidFill>
                  <a:srgbClr val="FFFFFF"/>
                </a:solidFill>
                <a:latin typeface="Segoe UI"/>
                <a:ea typeface="Segoe UI"/>
                <a:cs typeface="Segoe UI"/>
              </a:rPr>
              <a:t>Thanks. I will add these to the Product Backlog and order them with you in Refinement.</a:t>
            </a:r>
            <a:endParaRPr lang="en-US" sz="1350" dirty="0"/>
          </a:p>
        </p:txBody>
      </p:sp>
      <p:sp>
        <p:nvSpPr>
          <p:cNvPr id="114" name="s114"/>
          <p:cNvSpPr txBox="1"/>
          <p:nvPr/>
        </p:nvSpPr>
        <p:spPr>
          <a:xfrm>
            <a:off x="543154" y="5212080"/>
            <a:ext cx="6583680" cy="5029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50" b="0" dirty="0">
                <a:solidFill>
                  <a:srgbClr val="94A3B8"/>
                </a:solidFill>
                <a:latin typeface="Segoe UI"/>
                <a:ea typeface="Segoe UI"/>
                <a:cs typeface="Segoe UI"/>
              </a:rPr>
              <a:t>Sarah does not break the completed Increment. She adds or updates PBIs, discusses value and reorders priorities.</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500"/>
                                        <p:tgtEl>
                                          <p:spTgt spid="105"/>
                                        </p:tgtEl>
                                      </p:cBhvr>
                                    </p:animEffect>
                                    <p:anim calcmode="lin" valueType="num">
                                      <p:cBhvr additive="base">
                                        <p:cTn id="8" dur="500" decel="100000" fill="hold"/>
                                        <p:tgtEl>
                                          <p:spTgt spid="105"/>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6"/>
                                        </p:tgtEl>
                                        <p:attrNameLst>
                                          <p:attrName>style.visibility</p:attrName>
                                        </p:attrNameLst>
                                      </p:cBhvr>
                                      <p:to>
                                        <p:strVal val="visible"/>
                                      </p:to>
                                    </p:set>
                                    <p:animEffect transition="in" filter="fade">
                                      <p:cBhvr>
                                        <p:cTn id="11" dur="500"/>
                                        <p:tgtEl>
                                          <p:spTgt spid="106"/>
                                        </p:tgtEl>
                                      </p:cBhvr>
                                    </p:animEffect>
                                    <p:anim calcmode="lin" valueType="num">
                                      <p:cBhvr additive="base">
                                        <p:cTn id="12" dur="500" decel="100000" fill="hold"/>
                                        <p:tgtEl>
                                          <p:spTgt spid="106"/>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7"/>
                                        </p:tgtEl>
                                        <p:attrNameLst>
                                          <p:attrName>style.visibility</p:attrName>
                                        </p:attrNameLst>
                                      </p:cBhvr>
                                      <p:to>
                                        <p:strVal val="visible"/>
                                      </p:to>
                                    </p:set>
                                    <p:animEffect transition="in" filter="fade">
                                      <p:cBhvr>
                                        <p:cTn id="15" dur="500"/>
                                        <p:tgtEl>
                                          <p:spTgt spid="107"/>
                                        </p:tgtEl>
                                      </p:cBhvr>
                                    </p:animEffect>
                                    <p:anim calcmode="lin" valueType="num">
                                      <p:cBhvr additive="base">
                                        <p:cTn id="16" dur="500" decel="100000" fill="hold"/>
                                        <p:tgtEl>
                                          <p:spTgt spid="107"/>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8"/>
                                        </p:tgtEl>
                                        <p:attrNameLst>
                                          <p:attrName>style.visibility</p:attrName>
                                        </p:attrNameLst>
                                      </p:cBhvr>
                                      <p:to>
                                        <p:strVal val="visible"/>
                                      </p:to>
                                    </p:set>
                                    <p:animEffect transition="in" filter="fade">
                                      <p:cBhvr>
                                        <p:cTn id="19" dur="500"/>
                                        <p:tgtEl>
                                          <p:spTgt spid="108"/>
                                        </p:tgtEl>
                                      </p:cBhvr>
                                    </p:animEffect>
                                    <p:anim calcmode="lin" valueType="num">
                                      <p:cBhvr additive="base">
                                        <p:cTn id="20" dur="500" decel="100000" fill="hold"/>
                                        <p:tgtEl>
                                          <p:spTgt spid="108"/>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9"/>
                                        </p:tgtEl>
                                        <p:attrNameLst>
                                          <p:attrName>style.visibility</p:attrName>
                                        </p:attrNameLst>
                                      </p:cBhvr>
                                      <p:to>
                                        <p:strVal val="visible"/>
                                      </p:to>
                                    </p:set>
                                    <p:animEffect transition="in" filter="fade">
                                      <p:cBhvr>
                                        <p:cTn id="23" dur="500"/>
                                        <p:tgtEl>
                                          <p:spTgt spid="109"/>
                                        </p:tgtEl>
                                      </p:cBhvr>
                                    </p:animEffect>
                                    <p:anim calcmode="lin" valueType="num">
                                      <p:cBhvr additive="base">
                                        <p:cTn id="24" dur="500" decel="100000" fill="hold"/>
                                        <p:tgtEl>
                                          <p:spTgt spid="109"/>
                                        </p:tgtEl>
                                        <p:attrNameLst>
                                          <p:attrName>ppt_y</p:attrName>
                                        </p:attrNameLst>
                                      </p:cBhvr>
                                      <p:tavLst>
                                        <p:tav tm="0">
                                          <p:val>
                                            <p:strVal val="#ppt_y+0.06"/>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01"/>
                                        </p:tgtEl>
                                        <p:attrNameLst>
                                          <p:attrName>style.visibility</p:attrName>
                                        </p:attrNameLst>
                                      </p:cBhvr>
                                      <p:to>
                                        <p:strVal val="visible"/>
                                      </p:to>
                                    </p:set>
                                    <p:animEffect transition="in" filter="fade">
                                      <p:cBhvr>
                                        <p:cTn id="29" dur="500"/>
                                        <p:tgtEl>
                                          <p:spTgt spid="101"/>
                                        </p:tgtEl>
                                      </p:cBhvr>
                                    </p:animEffect>
                                    <p:anim calcmode="lin" valueType="num">
                                      <p:cBhvr additive="base">
                                        <p:cTn id="30" dur="500" decel="100000" fill="hold"/>
                                        <p:tgtEl>
                                          <p:spTgt spid="101"/>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02"/>
                                        </p:tgtEl>
                                        <p:attrNameLst>
                                          <p:attrName>style.visibility</p:attrName>
                                        </p:attrNameLst>
                                      </p:cBhvr>
                                      <p:to>
                                        <p:strVal val="visible"/>
                                      </p:to>
                                    </p:set>
                                    <p:animEffect transition="in" filter="fade">
                                      <p:cBhvr>
                                        <p:cTn id="33" dur="500"/>
                                        <p:tgtEl>
                                          <p:spTgt spid="102"/>
                                        </p:tgtEl>
                                      </p:cBhvr>
                                    </p:animEffect>
                                    <p:anim calcmode="lin" valueType="num">
                                      <p:cBhvr additive="base">
                                        <p:cTn id="34" dur="500" decel="100000" fill="hold"/>
                                        <p:tgtEl>
                                          <p:spTgt spid="102"/>
                                        </p:tgtEl>
                                        <p:attrNameLst>
                                          <p:attrName>ppt_x</p:attrName>
                                        </p:attrNameLst>
                                      </p:cBhvr>
                                      <p:tavLst>
                                        <p:tav tm="0">
                                          <p:val>
                                            <p:strVal val="#ppt_x-0.05"/>
                                          </p:val>
                                        </p:tav>
                                        <p:tav tm="100000">
                                          <p:val>
                                            <p:strVal val="#ppt_x"/>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103"/>
                                        </p:tgtEl>
                                        <p:attrNameLst>
                                          <p:attrName>style.visibility</p:attrName>
                                        </p:attrNameLst>
                                      </p:cBhvr>
                                      <p:to>
                                        <p:strVal val="visible"/>
                                      </p:to>
                                    </p:set>
                                    <p:animEffect transition="in" filter="fade">
                                      <p:cBhvr>
                                        <p:cTn id="39" dur="500"/>
                                        <p:tgtEl>
                                          <p:spTgt spid="103"/>
                                        </p:tgtEl>
                                      </p:cBhvr>
                                    </p:animEffect>
                                    <p:anim calcmode="lin" valueType="num">
                                      <p:cBhvr additive="base">
                                        <p:cTn id="40" dur="500" decel="100000" fill="hold"/>
                                        <p:tgtEl>
                                          <p:spTgt spid="103"/>
                                        </p:tgtEl>
                                        <p:attrNameLst>
                                          <p:attrName>ppt_x</p:attrName>
                                        </p:attrNameLst>
                                      </p:cBhvr>
                                      <p:tavLst>
                                        <p:tav tm="0">
                                          <p:val>
                                            <p:strVal val="#ppt_x-0.05"/>
                                          </p:val>
                                        </p:tav>
                                        <p:tav tm="100000">
                                          <p:val>
                                            <p:strVal val="#ppt_x"/>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04"/>
                                        </p:tgtEl>
                                        <p:attrNameLst>
                                          <p:attrName>style.visibility</p:attrName>
                                        </p:attrNameLst>
                                      </p:cBhvr>
                                      <p:to>
                                        <p:strVal val="visible"/>
                                      </p:to>
                                    </p:set>
                                    <p:animEffect transition="in" filter="fade">
                                      <p:cBhvr>
                                        <p:cTn id="43" dur="500"/>
                                        <p:tgtEl>
                                          <p:spTgt spid="104"/>
                                        </p:tgtEl>
                                      </p:cBhvr>
                                    </p:animEffect>
                                    <p:anim calcmode="lin" valueType="num">
                                      <p:cBhvr additive="base">
                                        <p:cTn id="44" dur="500" decel="100000" fill="hold"/>
                                        <p:tgtEl>
                                          <p:spTgt spid="104"/>
                                        </p:tgtEl>
                                        <p:attrNameLst>
                                          <p:attrName>ppt_x</p:attrName>
                                        </p:attrNameLst>
                                      </p:cBhvr>
                                      <p:tavLst>
                                        <p:tav tm="0">
                                          <p:val>
                                            <p:strVal val="#ppt_x-0.05"/>
                                          </p:val>
                                        </p:tav>
                                        <p:tav tm="100000">
                                          <p:val>
                                            <p:strVal val="#ppt_x"/>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anim calcmode="lin" valueType="num">
                                      <p:cBhvr additive="base">
                                        <p:cTn id="50" dur="500" decel="100000" fill="hold"/>
                                        <p:tgtEl>
                                          <p:spTgt spid="112"/>
                                        </p:tgtEl>
                                        <p:attrNameLst>
                                          <p:attrName>ppt_y</p:attrName>
                                        </p:attrNameLst>
                                      </p:cBhvr>
                                      <p:tavLst>
                                        <p:tav tm="0">
                                          <p:val>
                                            <p:strVal val="#ppt_y+0.06"/>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113"/>
                                        </p:tgtEl>
                                        <p:attrNameLst>
                                          <p:attrName>style.visibility</p:attrName>
                                        </p:attrNameLst>
                                      </p:cBhvr>
                                      <p:to>
                                        <p:strVal val="visible"/>
                                      </p:to>
                                    </p:set>
                                    <p:animEffect transition="in" filter="fade">
                                      <p:cBhvr>
                                        <p:cTn id="53" dur="500"/>
                                        <p:tgtEl>
                                          <p:spTgt spid="113"/>
                                        </p:tgtEl>
                                      </p:cBhvr>
                                    </p:animEffect>
                                    <p:anim calcmode="lin" valueType="num">
                                      <p:cBhvr additive="base">
                                        <p:cTn id="54" dur="500" decel="100000" fill="hold"/>
                                        <p:tgtEl>
                                          <p:spTgt spid="113"/>
                                        </p:tgtEl>
                                        <p:attrNameLst>
                                          <p:attrName>ppt_y</p:attrName>
                                        </p:attrNameLst>
                                      </p:cBhvr>
                                      <p:tavLst>
                                        <p:tav tm="0">
                                          <p:val>
                                            <p:strVal val="#ppt_y+0.06"/>
                                          </p:val>
                                        </p:tav>
                                        <p:tav tm="100000">
                                          <p:val>
                                            <p:strVal val="#ppt_y"/>
                                          </p:val>
                                        </p:tav>
                                      </p:tavLst>
                                    </p:anim>
                                  </p:childTnLst>
                                </p:cTn>
                              </p:par>
                              <p:par>
                                <p:cTn id="55" presetID="42" presetClass="entr" presetSubtype="0" fill="hold" grpId="0" nodeType="withEffect">
                                  <p:stCondLst>
                                    <p:cond delay="250"/>
                                  </p:stCondLst>
                                  <p:childTnLst>
                                    <p:set>
                                      <p:cBhvr>
                                        <p:cTn id="56" dur="1" fill="hold">
                                          <p:stCondLst>
                                            <p:cond delay="0"/>
                                          </p:stCondLst>
                                        </p:cTn>
                                        <p:tgtEl>
                                          <p:spTgt spid="110"/>
                                        </p:tgtEl>
                                        <p:attrNameLst>
                                          <p:attrName>style.visibility</p:attrName>
                                        </p:attrNameLst>
                                      </p:cBhvr>
                                      <p:to>
                                        <p:strVal val="visible"/>
                                      </p:to>
                                    </p:set>
                                    <p:animEffect transition="in" filter="fade">
                                      <p:cBhvr>
                                        <p:cTn id="57" dur="500"/>
                                        <p:tgtEl>
                                          <p:spTgt spid="110"/>
                                        </p:tgtEl>
                                      </p:cBhvr>
                                    </p:animEffect>
                                    <p:anim calcmode="lin" valueType="num">
                                      <p:cBhvr additive="base">
                                        <p:cTn id="58" dur="500" decel="100000" fill="hold"/>
                                        <p:tgtEl>
                                          <p:spTgt spid="110"/>
                                        </p:tgtEl>
                                        <p:attrNameLst>
                                          <p:attrName>ppt_x</p:attrName>
                                        </p:attrNameLst>
                                      </p:cBhvr>
                                      <p:tavLst>
                                        <p:tav tm="0">
                                          <p:val>
                                            <p:strVal val="#ppt_x+0.05"/>
                                          </p:val>
                                        </p:tav>
                                        <p:tav tm="100000">
                                          <p:val>
                                            <p:strVal val="#ppt_x"/>
                                          </p:val>
                                        </p:tav>
                                      </p:tavLst>
                                    </p:anim>
                                  </p:childTnLst>
                                </p:cTn>
                              </p:par>
                              <p:par>
                                <p:cTn id="59" presetID="42" presetClass="entr" presetSubtype="0" fill="hold" grpId="0" nodeType="withEffect">
                                  <p:stCondLst>
                                    <p:cond delay="500"/>
                                  </p:stCondLst>
                                  <p:childTnLst>
                                    <p:set>
                                      <p:cBhvr>
                                        <p:cTn id="60" dur="1" fill="hold">
                                          <p:stCondLst>
                                            <p:cond delay="0"/>
                                          </p:stCondLst>
                                        </p:cTn>
                                        <p:tgtEl>
                                          <p:spTgt spid="111"/>
                                        </p:tgtEl>
                                        <p:attrNameLst>
                                          <p:attrName>style.visibility</p:attrName>
                                        </p:attrNameLst>
                                      </p:cBhvr>
                                      <p:to>
                                        <p:strVal val="visible"/>
                                      </p:to>
                                    </p:set>
                                    <p:animEffect transition="in" filter="fade">
                                      <p:cBhvr>
                                        <p:cTn id="61" dur="500"/>
                                        <p:tgtEl>
                                          <p:spTgt spid="111"/>
                                        </p:tgtEl>
                                      </p:cBhvr>
                                    </p:animEffect>
                                    <p:anim calcmode="lin" valueType="num">
                                      <p:cBhvr additive="base">
                                        <p:cTn id="62" dur="500" decel="100000" fill="hold"/>
                                        <p:tgtEl>
                                          <p:spTgt spid="111"/>
                                        </p:tgtEl>
                                        <p:attrNameLst>
                                          <p:attrName>ppt_x</p:attrName>
                                        </p:attrNameLst>
                                      </p:cBhvr>
                                      <p:tavLst>
                                        <p:tav tm="0">
                                          <p:val>
                                            <p:strVal val="#ppt_x+0.05"/>
                                          </p:val>
                                        </p:tav>
                                        <p:tav tm="100000">
                                          <p:val>
                                            <p:strVal val="#ppt_x"/>
                                          </p:val>
                                        </p:tav>
                                      </p:tavLst>
                                    </p:anim>
                                  </p:childTnLst>
                                </p:cTn>
                              </p:par>
                              <p:par>
                                <p:cTn id="63" presetID="10" presetClass="entr" presetSubtype="0" fill="hold" grpId="0" nodeType="withEffect">
                                  <p:stCondLst>
                                    <p:cond delay="750"/>
                                  </p:stCondLst>
                                  <p:childTnLst>
                                    <p:set>
                                      <p:cBhvr>
                                        <p:cTn id="64" dur="1" fill="hold">
                                          <p:stCondLst>
                                            <p:cond delay="0"/>
                                          </p:stCondLst>
                                        </p:cTn>
                                        <p:tgtEl>
                                          <p:spTgt spid="114"/>
                                        </p:tgtEl>
                                        <p:attrNameLst>
                                          <p:attrName>style.visibility</p:attrName>
                                        </p:attrNameLst>
                                      </p:cBhvr>
                                      <p:to>
                                        <p:strVal val="visible"/>
                                      </p:to>
                                    </p:set>
                                    <p:animEffect transition="in" filter="fade">
                                      <p:cBhvr>
                                        <p:cTn id="65"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COMPARE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Sprint Review vs Status Meeting</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Which one creates learning?</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REVIEW</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285</a:t>
            </a:r>
            <a:endParaRPr lang="en-US" sz="850" dirty="0"/>
          </a:p>
        </p:txBody>
      </p:sp>
      <p:sp>
        <p:nvSpPr>
          <p:cNvPr id="101" name="s101"/>
          <p:cNvSpPr/>
          <p:nvPr/>
        </p:nvSpPr>
        <p:spPr>
          <a:xfrm>
            <a:off x="543154" y="1965960"/>
            <a:ext cx="5406847" cy="3611880"/>
          </a:xfrm>
          <a:prstGeom prst="roundRect">
            <a:avLst>
              <a:gd name="adj" fmla="val 10000"/>
            </a:avLst>
          </a:prstGeom>
          <a:solidFill>
            <a:srgbClr val="111B2E"/>
          </a:solidFill>
          <a:ln w="15875">
            <a:solidFill>
              <a:srgbClr val="F87171"/>
            </a:solidFill>
            <a:prstDash val="solid"/>
          </a:ln>
        </p:spPr>
        <p:txBody>
          <a:bodyPr wrap="square" lIns="182880" tIns="146304" rIns="164592" bIns="109728" rtlCol="0" anchor="t">
            <a:noAutofit/>
          </a:bodyPr>
          <a:lstStyle/>
          <a:p>
            <a:endParaRPr lang="en-US"/>
          </a:p>
        </p:txBody>
      </p:sp>
      <p:sp>
        <p:nvSpPr>
          <p:cNvPr id="102" name="s102"/>
          <p:cNvSpPr/>
          <p:nvPr/>
        </p:nvSpPr>
        <p:spPr>
          <a:xfrm>
            <a:off x="744322" y="2148840"/>
            <a:ext cx="420624" cy="420624"/>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845271" y="2249790"/>
            <a:ext cx="218724" cy="218724"/>
          </a:xfrm>
          <a:prstGeom prst="rect">
            <a:avLst/>
          </a:prstGeom>
        </p:spPr>
      </p:pic>
      <p:sp>
        <p:nvSpPr>
          <p:cNvPr id="104" name="s104"/>
          <p:cNvSpPr txBox="1"/>
          <p:nvPr/>
        </p:nvSpPr>
        <p:spPr>
          <a:xfrm>
            <a:off x="1292962" y="2167128"/>
            <a:ext cx="4492447"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87171"/>
                </a:solidFill>
                <a:latin typeface="Segoe UI"/>
                <a:ea typeface="Segoe UI"/>
                <a:cs typeface="Segoe UI"/>
              </a:rPr>
              <a:t>BAD SPRINT REVIEW</a:t>
            </a:r>
            <a:endParaRPr lang="en-US" sz="1300" dirty="0"/>
          </a:p>
        </p:txBody>
      </p:sp>
      <p:sp>
        <p:nvSpPr>
          <p:cNvPr id="105" name="s105"/>
          <p:cNvSpPr txBox="1"/>
          <p:nvPr/>
        </p:nvSpPr>
        <p:spPr>
          <a:xfrm>
            <a:off x="771754" y="2743200"/>
            <a:ext cx="4949647" cy="269748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600" b="0" dirty="0">
                <a:solidFill>
                  <a:srgbClr val="E2E8F0"/>
                </a:solidFill>
                <a:latin typeface="Segoe UI"/>
                <a:ea typeface="Segoe UI"/>
                <a:cs typeface="Segoe UI"/>
              </a:rPr>
              <a:t>Read ticket names</a:t>
            </a:r>
            <a:endParaRPr lang="en-US" sz="1600" dirty="0"/>
          </a:p>
          <a:p>
            <a:pPr marL="0" indent="0" algn="l">
              <a:spcBef>
                <a:spcPts val="0"/>
              </a:spcBef>
              <a:spcAft>
                <a:spcPts val="500"/>
              </a:spcAft>
              <a:buNone/>
            </a:pPr>
            <a:r>
              <a:rPr lang="en-US" sz="1600" b="0" dirty="0">
                <a:solidFill>
                  <a:srgbClr val="E2E8F0"/>
                </a:solidFill>
                <a:latin typeface="Segoe UI"/>
                <a:ea typeface="Segoe UI"/>
                <a:cs typeface="Segoe UI"/>
              </a:rPr>
              <a:t>Stakeholders silent</a:t>
            </a:r>
            <a:endParaRPr lang="en-US" sz="1600" dirty="0"/>
          </a:p>
          <a:p>
            <a:pPr marL="0" indent="0" algn="l">
              <a:spcBef>
                <a:spcPts val="0"/>
              </a:spcBef>
              <a:spcAft>
                <a:spcPts val="500"/>
              </a:spcAft>
              <a:buNone/>
            </a:pPr>
            <a:r>
              <a:rPr lang="en-US" sz="1600" b="0" dirty="0">
                <a:solidFill>
                  <a:srgbClr val="E2E8F0"/>
                </a:solidFill>
                <a:latin typeface="Segoe UI"/>
                <a:ea typeface="Segoe UI"/>
                <a:cs typeface="Segoe UI"/>
              </a:rPr>
              <a:t>Slides replace the product</a:t>
            </a:r>
            <a:endParaRPr lang="en-US" sz="1600" dirty="0"/>
          </a:p>
          <a:p>
            <a:pPr marL="0" indent="0" algn="l">
              <a:spcBef>
                <a:spcPts val="0"/>
              </a:spcBef>
              <a:spcAft>
                <a:spcPts val="500"/>
              </a:spcAft>
              <a:buNone/>
            </a:pPr>
            <a:r>
              <a:rPr lang="en-US" sz="1600" b="0" dirty="0">
                <a:solidFill>
                  <a:srgbClr val="E2E8F0"/>
                </a:solidFill>
                <a:latin typeface="Segoe UI"/>
                <a:ea typeface="Segoe UI"/>
                <a:cs typeface="Segoe UI"/>
              </a:rPr>
              <a:t>No decisions</a:t>
            </a:r>
            <a:endParaRPr lang="en-US" sz="1600" dirty="0"/>
          </a:p>
          <a:p>
            <a:pPr marL="0" indent="0" algn="l">
              <a:spcBef>
                <a:spcPts val="0"/>
              </a:spcBef>
              <a:spcAft>
                <a:spcPts val="500"/>
              </a:spcAft>
              <a:buNone/>
            </a:pPr>
            <a:r>
              <a:rPr lang="en-US" sz="1600" b="0" dirty="0">
                <a:solidFill>
                  <a:srgbClr val="E2E8F0"/>
                </a:solidFill>
                <a:latin typeface="Segoe UI"/>
                <a:ea typeface="Segoe UI"/>
                <a:cs typeface="Segoe UI"/>
              </a:rPr>
              <a:t>Feedback postponed</a:t>
            </a:r>
            <a:endParaRPr lang="en-US" sz="1600" dirty="0"/>
          </a:p>
        </p:txBody>
      </p:sp>
      <p:sp>
        <p:nvSpPr>
          <p:cNvPr id="106" name="s106"/>
          <p:cNvSpPr/>
          <p:nvPr/>
        </p:nvSpPr>
        <p:spPr>
          <a:xfrm>
            <a:off x="6224321" y="1965960"/>
            <a:ext cx="5406847" cy="3611880"/>
          </a:xfrm>
          <a:prstGeom prst="roundRect">
            <a:avLst>
              <a:gd name="adj" fmla="val 10000"/>
            </a:avLst>
          </a:prstGeom>
          <a:solidFill>
            <a:srgbClr val="111B2E"/>
          </a:solidFill>
          <a:ln w="15875">
            <a:solidFill>
              <a:srgbClr val="34D399"/>
            </a:solidFill>
            <a:prstDash val="solid"/>
          </a:ln>
        </p:spPr>
        <p:txBody>
          <a:bodyPr wrap="square" lIns="182880" tIns="146304" rIns="164592" bIns="109728" rtlCol="0" anchor="t">
            <a:noAutofit/>
          </a:bodyPr>
          <a:lstStyle/>
          <a:p>
            <a:endParaRPr lang="en-US"/>
          </a:p>
        </p:txBody>
      </p:sp>
      <p:sp>
        <p:nvSpPr>
          <p:cNvPr id="107" name="s107"/>
          <p:cNvSpPr/>
          <p:nvPr/>
        </p:nvSpPr>
        <p:spPr>
          <a:xfrm>
            <a:off x="6425489" y="2148840"/>
            <a:ext cx="420624" cy="420624"/>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08" name="img108"/>
          <p:cNvPicPr>
            <a:picLocks noChangeAspect="1"/>
          </p:cNvPicPr>
          <p:nvPr/>
        </p:nvPicPr>
        <p:blipFill>
          <a:blip r:embed="rId5"/>
          <a:stretch>
            <a:fillRect/>
          </a:stretch>
        </p:blipFill>
        <p:spPr>
          <a:xfrm>
            <a:off x="6526439" y="2249790"/>
            <a:ext cx="218724" cy="218724"/>
          </a:xfrm>
          <a:prstGeom prst="rect">
            <a:avLst/>
          </a:prstGeom>
        </p:spPr>
      </p:pic>
      <p:sp>
        <p:nvSpPr>
          <p:cNvPr id="109" name="s109"/>
          <p:cNvSpPr txBox="1"/>
          <p:nvPr/>
        </p:nvSpPr>
        <p:spPr>
          <a:xfrm>
            <a:off x="6974129" y="2167128"/>
            <a:ext cx="4492447" cy="38404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34D399"/>
                </a:solidFill>
                <a:latin typeface="Segoe UI"/>
                <a:ea typeface="Segoe UI"/>
                <a:cs typeface="Segoe UI"/>
              </a:rPr>
              <a:t>GOOD SPRINT REVIEW</a:t>
            </a:r>
            <a:endParaRPr lang="en-US" sz="1300" dirty="0"/>
          </a:p>
        </p:txBody>
      </p:sp>
      <p:sp>
        <p:nvSpPr>
          <p:cNvPr id="110" name="s110"/>
          <p:cNvSpPr txBox="1"/>
          <p:nvPr/>
        </p:nvSpPr>
        <p:spPr>
          <a:xfrm>
            <a:off x="6452921" y="2743200"/>
            <a:ext cx="4949647" cy="2697480"/>
          </a:xfrm>
          <a:prstGeom prst="rect">
            <a:avLst/>
          </a:prstGeom>
          <a:noFill/>
          <a:ln>
            <a:noFill/>
          </a:ln>
        </p:spPr>
        <p:txBody>
          <a:bodyPr wrap="square" lIns="0" tIns="0" rIns="0" bIns="0" rtlCol="0" anchor="t">
            <a:noAutofit/>
          </a:bodyPr>
          <a:lstStyle/>
          <a:p>
            <a:pPr marL="0" indent="0" algn="l">
              <a:spcBef>
                <a:spcPts val="0"/>
              </a:spcBef>
              <a:spcAft>
                <a:spcPts val="500"/>
              </a:spcAft>
              <a:buNone/>
            </a:pPr>
            <a:r>
              <a:rPr lang="en-US" sz="1600" b="0" dirty="0">
                <a:solidFill>
                  <a:srgbClr val="E2E8F0"/>
                </a:solidFill>
                <a:latin typeface="Segoe UI"/>
                <a:ea typeface="Segoe UI"/>
                <a:cs typeface="Segoe UI"/>
              </a:rPr>
              <a:t>Inspect the working Increment</a:t>
            </a:r>
            <a:endParaRPr lang="en-US" sz="1600" dirty="0"/>
          </a:p>
          <a:p>
            <a:pPr marL="0" indent="0" algn="l">
              <a:spcBef>
                <a:spcPts val="0"/>
              </a:spcBef>
              <a:spcAft>
                <a:spcPts val="500"/>
              </a:spcAft>
              <a:buNone/>
            </a:pPr>
            <a:r>
              <a:rPr lang="en-US" sz="1600" b="0" dirty="0">
                <a:solidFill>
                  <a:srgbClr val="E2E8F0"/>
                </a:solidFill>
                <a:latin typeface="Segoe UI"/>
                <a:ea typeface="Segoe UI"/>
                <a:cs typeface="Segoe UI"/>
              </a:rPr>
              <a:t>Stakeholders interact</a:t>
            </a:r>
            <a:endParaRPr lang="en-US" sz="1600" dirty="0"/>
          </a:p>
          <a:p>
            <a:pPr marL="0" indent="0" algn="l">
              <a:spcBef>
                <a:spcPts val="0"/>
              </a:spcBef>
              <a:spcAft>
                <a:spcPts val="500"/>
              </a:spcAft>
              <a:buNone/>
            </a:pPr>
            <a:r>
              <a:rPr lang="en-US" sz="1600" b="0" dirty="0">
                <a:solidFill>
                  <a:srgbClr val="E2E8F0"/>
                </a:solidFill>
                <a:latin typeface="Segoe UI"/>
                <a:ea typeface="Segoe UI"/>
                <a:cs typeface="Segoe UI"/>
              </a:rPr>
              <a:t>Business context discussed</a:t>
            </a:r>
            <a:endParaRPr lang="en-US" sz="1600" dirty="0"/>
          </a:p>
          <a:p>
            <a:pPr marL="0" indent="0" algn="l">
              <a:spcBef>
                <a:spcPts val="0"/>
              </a:spcBef>
              <a:spcAft>
                <a:spcPts val="500"/>
              </a:spcAft>
              <a:buNone/>
            </a:pPr>
            <a:r>
              <a:rPr lang="en-US" sz="1600" b="0" dirty="0">
                <a:solidFill>
                  <a:srgbClr val="E2E8F0"/>
                </a:solidFill>
                <a:latin typeface="Segoe UI"/>
                <a:ea typeface="Segoe UI"/>
                <a:cs typeface="Segoe UI"/>
              </a:rPr>
              <a:t>Feedback changes plans</a:t>
            </a:r>
            <a:endParaRPr lang="en-US" sz="1600" dirty="0"/>
          </a:p>
          <a:p>
            <a:pPr marL="0" indent="0" algn="l">
              <a:spcBef>
                <a:spcPts val="0"/>
              </a:spcBef>
              <a:spcAft>
                <a:spcPts val="500"/>
              </a:spcAft>
              <a:buNone/>
            </a:pPr>
            <a:r>
              <a:rPr lang="en-US" sz="1600" b="0" dirty="0">
                <a:solidFill>
                  <a:srgbClr val="E2E8F0"/>
                </a:solidFill>
                <a:latin typeface="Segoe UI"/>
                <a:ea typeface="Segoe UI"/>
                <a:cs typeface="Segoe UI"/>
              </a:rPr>
              <a:t>Product Goal progress inspected</a:t>
            </a:r>
            <a:endParaRPr lang="en-US" sz="16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ppt_x</p:attrName>
                                        </p:attrNameLst>
                                      </p:cBhvr>
                                      <p:tavLst>
                                        <p:tav tm="0">
                                          <p:val>
                                            <p:strVal val="#ppt_x-0.05"/>
                                          </p:val>
                                        </p:tav>
                                        <p:tav tm="100000">
                                          <p:val>
                                            <p:strVal val="#ppt_x"/>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ppt_x</p:attrName>
                                        </p:attrNameLst>
                                      </p:cBhvr>
                                      <p:tavLst>
                                        <p:tav tm="0">
                                          <p:val>
                                            <p:strVal val="#ppt_x-0.05"/>
                                          </p:val>
                                        </p:tav>
                                        <p:tav tm="100000">
                                          <p:val>
                                            <p:strVal val="#ppt_x"/>
                                          </p:val>
                                        </p:tav>
                                      </p:tavLst>
                                    </p:anim>
                                  </p:childTnLst>
                                </p:cTn>
                              </p:par>
                              <p:par>
                                <p:cTn id="13" presetID="42" presetClass="entr" presetSubtype="0"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ppt_x</p:attrName>
                                        </p:attrNameLst>
                                      </p:cBhvr>
                                      <p:tavLst>
                                        <p:tav tm="0">
                                          <p:val>
                                            <p:strVal val="#ppt_x-0.05"/>
                                          </p:val>
                                        </p:tav>
                                        <p:tav tm="100000">
                                          <p:val>
                                            <p:strVal val="#ppt_x"/>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ppt_x</p:attrName>
                                        </p:attrNameLst>
                                      </p:cBhvr>
                                      <p:tavLst>
                                        <p:tav tm="0">
                                          <p:val>
                                            <p:strVal val="#ppt_x+0.05"/>
                                          </p:val>
                                        </p:tav>
                                        <p:tav tm="100000">
                                          <p:val>
                                            <p:strVal val="#ppt_x"/>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ppt_x</p:attrName>
                                        </p:attrNameLst>
                                      </p:cBhvr>
                                      <p:tavLst>
                                        <p:tav tm="0">
                                          <p:val>
                                            <p:strVal val="#ppt_x+0.05"/>
                                          </p:val>
                                        </p:tav>
                                        <p:tav tm="100000">
                                          <p:val>
                                            <p:strVal val="#ppt_x"/>
                                          </p:val>
                                        </p:tav>
                                      </p:tavLst>
                                    </p:anim>
                                  </p:childTnLst>
                                </p:cTn>
                              </p:par>
                              <p:par>
                                <p:cTn id="35" presetID="42" presetClass="entr" presetSubtype="0" fill="hold" nodeType="withEffect">
                                  <p:stCondLst>
                                    <p:cond delay="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ppt_x</p:attrName>
                                        </p:attrNameLst>
                                      </p:cBhvr>
                                      <p:tavLst>
                                        <p:tav tm="0">
                                          <p:val>
                                            <p:strVal val="#ppt_x+0.05"/>
                                          </p:val>
                                        </p:tav>
                                        <p:tav tm="100000">
                                          <p:val>
                                            <p:strVal val="#ppt_x"/>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ppt_x</p:attrName>
                                        </p:attrNameLst>
                                      </p:cBhvr>
                                      <p:tavLst>
                                        <p:tav tm="0">
                                          <p:val>
                                            <p:strVal val="#ppt_x+0.05"/>
                                          </p:val>
                                        </p:tav>
                                        <p:tav tm="100000">
                                          <p:val>
                                            <p:strVal val="#ppt_x"/>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9" grpId="0" animBg="1"/>
      <p:bldP spid="110"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472B6">
              <a:alpha val="18000"/>
            </a:srgbClr>
          </a:solidFill>
          <a:ln w="12700">
            <a:solidFill>
              <a:srgbClr val="F472B6"/>
            </a:solidFill>
          </a:ln>
        </p:spPr>
        <p:txBody>
          <a:bodyPr wrap="square" lIns="0" tIns="0" rIns="0" bIns="0" rtlCol="0" anchor="ctr">
            <a:noAutofit/>
          </a:bodyPr>
          <a:lstStyle/>
          <a:p>
            <a:pPr marL="0" indent="0" algn="ctr">
              <a:spcBef>
                <a:spcPts val="0"/>
              </a:spcBef>
              <a:spcAft>
                <a:spcPts val="0"/>
              </a:spcAft>
              <a:buNone/>
            </a:pPr>
            <a:r>
              <a:rPr lang="en-US" sz="1000" b="1" dirty="0">
                <a:solidFill>
                  <a:srgbClr val="F472B6"/>
                </a:solidFill>
                <a:latin typeface="Segoe UI"/>
                <a:ea typeface="Segoe UI"/>
                <a:cs typeface="Segoe UI"/>
              </a:rPr>
              <a:t>INSPECT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Happened During the Sprint?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Helped · Slowed · Will change.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RETRO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286</a:t>
            </a:r>
            <a:endParaRPr lang="en-US" sz="850" dirty="0"/>
          </a:p>
        </p:txBody>
      </p:sp>
      <p:sp>
        <p:nvSpPr>
          <p:cNvPr id="101" name="s101"/>
          <p:cNvSpPr/>
          <p:nvPr/>
        </p:nvSpPr>
        <p:spPr>
          <a:xfrm>
            <a:off x="543154" y="1965960"/>
            <a:ext cx="3543605" cy="457200"/>
          </a:xfrm>
          <a:prstGeom prst="roundRect">
            <a:avLst>
              <a:gd name="adj" fmla="val 20000"/>
            </a:avLst>
          </a:prstGeom>
          <a:solidFill>
            <a:srgbClr val="34D399">
              <a:alpha val="18000"/>
            </a:srgbClr>
          </a:solidFill>
          <a:ln w="12700">
            <a:solidFill>
              <a:srgbClr val="34D399"/>
            </a:solidFill>
            <a:prstDash val="solid"/>
          </a:ln>
        </p:spPr>
        <p:txBody>
          <a:bodyPr wrap="square" lIns="164592" tIns="109728" rIns="137160" bIns="91440" rtlCol="0" anchor="ctr">
            <a:noAutofit/>
          </a:bodyPr>
          <a:lstStyle/>
          <a:p>
            <a:pPr marL="0" indent="0" algn="ctr">
              <a:spcBef>
                <a:spcPts val="0"/>
              </a:spcBef>
              <a:spcAft>
                <a:spcPts val="0"/>
              </a:spcAft>
              <a:buNone/>
            </a:pPr>
            <a:r>
              <a:rPr lang="en-US" sz="1250" b="1" dirty="0">
                <a:solidFill>
                  <a:srgbClr val="34D399"/>
                </a:solidFill>
                <a:latin typeface="Segoe UI"/>
                <a:ea typeface="Segoe UI"/>
                <a:cs typeface="Segoe UI"/>
              </a:rPr>
              <a:t>WHAT HELPED US?</a:t>
            </a:r>
            <a:endParaRPr lang="en-US" sz="1250" dirty="0"/>
          </a:p>
        </p:txBody>
      </p:sp>
      <p:sp>
        <p:nvSpPr>
          <p:cNvPr id="102" name="s102"/>
          <p:cNvSpPr/>
          <p:nvPr/>
        </p:nvSpPr>
        <p:spPr>
          <a:xfrm rot="21480000">
            <a:off x="680314" y="2606040"/>
            <a:ext cx="3177845" cy="640080"/>
          </a:xfrm>
          <a:prstGeom prst="roundRect">
            <a:avLst>
              <a:gd name="adj" fmla="val 6000"/>
            </a:avLst>
          </a:prstGeom>
          <a:solidFill>
            <a:srgbClr val="34D399">
              <a:alpha val="14000"/>
            </a:srgbClr>
          </a:solidFill>
          <a:ln w="12700">
            <a:solidFill>
              <a:srgbClr val="34D399">
                <a:alpha val="55000"/>
              </a:srgbClr>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FE/BE early collaboration</a:t>
            </a:r>
            <a:endParaRPr lang="en-US" sz="1300" dirty="0"/>
          </a:p>
        </p:txBody>
      </p:sp>
      <p:sp>
        <p:nvSpPr>
          <p:cNvPr id="103" name="s103"/>
          <p:cNvSpPr/>
          <p:nvPr/>
        </p:nvSpPr>
        <p:spPr>
          <a:xfrm rot="120000">
            <a:off x="771754" y="3383280"/>
            <a:ext cx="3177845" cy="640080"/>
          </a:xfrm>
          <a:prstGeom prst="roundRect">
            <a:avLst>
              <a:gd name="adj" fmla="val 6000"/>
            </a:avLst>
          </a:prstGeom>
          <a:solidFill>
            <a:srgbClr val="34D399">
              <a:alpha val="14000"/>
            </a:srgbClr>
          </a:solidFill>
          <a:ln w="12700">
            <a:solidFill>
              <a:srgbClr val="34D399">
                <a:alpha val="55000"/>
              </a:srgbClr>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QA before coding finished</a:t>
            </a:r>
            <a:endParaRPr lang="en-US" sz="1300" dirty="0"/>
          </a:p>
        </p:txBody>
      </p:sp>
      <p:sp>
        <p:nvSpPr>
          <p:cNvPr id="104" name="s104"/>
          <p:cNvSpPr/>
          <p:nvPr/>
        </p:nvSpPr>
        <p:spPr>
          <a:xfrm rot="21540000">
            <a:off x="680314" y="4160520"/>
            <a:ext cx="3177845" cy="640080"/>
          </a:xfrm>
          <a:prstGeom prst="roundRect">
            <a:avLst>
              <a:gd name="adj" fmla="val 6000"/>
            </a:avLst>
          </a:prstGeom>
          <a:solidFill>
            <a:srgbClr val="34D399">
              <a:alpha val="14000"/>
            </a:srgbClr>
          </a:solidFill>
          <a:ln w="12700">
            <a:solidFill>
              <a:srgbClr val="34D399">
                <a:alpha val="55000"/>
              </a:srgbClr>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Clear Sprint Goal</a:t>
            </a:r>
            <a:endParaRPr lang="en-US" sz="1300" dirty="0"/>
          </a:p>
        </p:txBody>
      </p:sp>
      <p:sp>
        <p:nvSpPr>
          <p:cNvPr id="105" name="s105"/>
          <p:cNvSpPr/>
          <p:nvPr/>
        </p:nvSpPr>
        <p:spPr>
          <a:xfrm rot="90000">
            <a:off x="771754" y="4937760"/>
            <a:ext cx="3177845" cy="640080"/>
          </a:xfrm>
          <a:prstGeom prst="roundRect">
            <a:avLst>
              <a:gd name="adj" fmla="val 6000"/>
            </a:avLst>
          </a:prstGeom>
          <a:solidFill>
            <a:srgbClr val="34D399">
              <a:alpha val="14000"/>
            </a:srgbClr>
          </a:solidFill>
          <a:ln w="12700">
            <a:solidFill>
              <a:srgbClr val="34D399">
                <a:alpha val="55000"/>
              </a:srgbClr>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Fast PO responses</a:t>
            </a:r>
            <a:endParaRPr lang="en-US" sz="1300" dirty="0"/>
          </a:p>
        </p:txBody>
      </p:sp>
      <p:sp>
        <p:nvSpPr>
          <p:cNvPr id="106" name="s106"/>
          <p:cNvSpPr/>
          <p:nvPr/>
        </p:nvSpPr>
        <p:spPr>
          <a:xfrm>
            <a:off x="4315358" y="1965960"/>
            <a:ext cx="3543605" cy="457200"/>
          </a:xfrm>
          <a:prstGeom prst="roundRect">
            <a:avLst>
              <a:gd name="adj" fmla="val 20000"/>
            </a:avLst>
          </a:prstGeom>
          <a:solidFill>
            <a:srgbClr val="F87171">
              <a:alpha val="18000"/>
            </a:srgbClr>
          </a:solidFill>
          <a:ln w="12700">
            <a:solidFill>
              <a:srgbClr val="F87171"/>
            </a:solidFill>
            <a:prstDash val="solid"/>
          </a:ln>
        </p:spPr>
        <p:txBody>
          <a:bodyPr wrap="square" lIns="164592" tIns="109728" rIns="137160" bIns="91440" rtlCol="0" anchor="ctr">
            <a:noAutofit/>
          </a:bodyPr>
          <a:lstStyle/>
          <a:p>
            <a:pPr marL="0" indent="0" algn="ctr">
              <a:spcBef>
                <a:spcPts val="0"/>
              </a:spcBef>
              <a:spcAft>
                <a:spcPts val="0"/>
              </a:spcAft>
              <a:buNone/>
            </a:pPr>
            <a:r>
              <a:rPr lang="en-US" sz="1250" b="1" dirty="0">
                <a:solidFill>
                  <a:srgbClr val="F87171"/>
                </a:solidFill>
                <a:latin typeface="Segoe UI"/>
                <a:ea typeface="Segoe UI"/>
                <a:cs typeface="Segoe UI"/>
              </a:rPr>
              <a:t>WHAT SLOWED US?</a:t>
            </a:r>
            <a:endParaRPr lang="en-US" sz="1250" dirty="0"/>
          </a:p>
        </p:txBody>
      </p:sp>
      <p:sp>
        <p:nvSpPr>
          <p:cNvPr id="107" name="s107"/>
          <p:cNvSpPr/>
          <p:nvPr/>
        </p:nvSpPr>
        <p:spPr>
          <a:xfrm rot="21480000">
            <a:off x="4452518" y="2606040"/>
            <a:ext cx="3177845" cy="640080"/>
          </a:xfrm>
          <a:prstGeom prst="roundRect">
            <a:avLst>
              <a:gd name="adj" fmla="val 6000"/>
            </a:avLst>
          </a:prstGeom>
          <a:solidFill>
            <a:srgbClr val="F87171">
              <a:alpha val="14000"/>
            </a:srgbClr>
          </a:solidFill>
          <a:ln w="12700">
            <a:solidFill>
              <a:srgbClr val="F87171">
                <a:alpha val="55000"/>
              </a:srgbClr>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Staging down for 1 day</a:t>
            </a:r>
            <a:endParaRPr lang="en-US" sz="1300" dirty="0"/>
          </a:p>
        </p:txBody>
      </p:sp>
      <p:sp>
        <p:nvSpPr>
          <p:cNvPr id="108" name="s108"/>
          <p:cNvSpPr/>
          <p:nvPr/>
        </p:nvSpPr>
        <p:spPr>
          <a:xfrm rot="120000">
            <a:off x="4543958" y="3383280"/>
            <a:ext cx="3177845" cy="640080"/>
          </a:xfrm>
          <a:prstGeom prst="roundRect">
            <a:avLst>
              <a:gd name="adj" fmla="val 6000"/>
            </a:avLst>
          </a:prstGeom>
          <a:solidFill>
            <a:srgbClr val="F87171">
              <a:alpha val="14000"/>
            </a:srgbClr>
          </a:solidFill>
          <a:ln w="12700">
            <a:solidFill>
              <a:srgbClr val="F87171">
                <a:alpha val="55000"/>
              </a:srgbClr>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Booking story too large</a:t>
            </a:r>
            <a:endParaRPr lang="en-US" sz="1300" dirty="0"/>
          </a:p>
        </p:txBody>
      </p:sp>
      <p:sp>
        <p:nvSpPr>
          <p:cNvPr id="109" name="s109"/>
          <p:cNvSpPr/>
          <p:nvPr/>
        </p:nvSpPr>
        <p:spPr>
          <a:xfrm rot="21540000">
            <a:off x="4452518" y="4160520"/>
            <a:ext cx="3177845" cy="640080"/>
          </a:xfrm>
          <a:prstGeom prst="roundRect">
            <a:avLst>
              <a:gd name="adj" fmla="val 6000"/>
            </a:avLst>
          </a:prstGeom>
          <a:solidFill>
            <a:srgbClr val="F87171">
              <a:alpha val="14000"/>
            </a:srgbClr>
          </a:solidFill>
          <a:ln w="12700">
            <a:solidFill>
              <a:srgbClr val="F87171">
                <a:alpha val="55000"/>
              </a:srgbClr>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PR reviews delayed</a:t>
            </a:r>
            <a:endParaRPr lang="en-US" sz="1300" dirty="0"/>
          </a:p>
        </p:txBody>
      </p:sp>
      <p:sp>
        <p:nvSpPr>
          <p:cNvPr id="110" name="s110"/>
          <p:cNvSpPr/>
          <p:nvPr/>
        </p:nvSpPr>
        <p:spPr>
          <a:xfrm rot="90000">
            <a:off x="4543958" y="4937760"/>
            <a:ext cx="3177845" cy="640080"/>
          </a:xfrm>
          <a:prstGeom prst="roundRect">
            <a:avLst>
              <a:gd name="adj" fmla="val 6000"/>
            </a:avLst>
          </a:prstGeom>
          <a:solidFill>
            <a:srgbClr val="F87171">
              <a:alpha val="14000"/>
            </a:srgbClr>
          </a:solidFill>
          <a:ln w="12700">
            <a:solidFill>
              <a:srgbClr val="F87171">
                <a:alpha val="55000"/>
              </a:srgbClr>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Concurrency found late</a:t>
            </a:r>
            <a:endParaRPr lang="en-US" sz="1300" dirty="0"/>
          </a:p>
        </p:txBody>
      </p:sp>
      <p:sp>
        <p:nvSpPr>
          <p:cNvPr id="111" name="s111"/>
          <p:cNvSpPr/>
          <p:nvPr/>
        </p:nvSpPr>
        <p:spPr>
          <a:xfrm>
            <a:off x="8087563" y="1965960"/>
            <a:ext cx="3543605" cy="457200"/>
          </a:xfrm>
          <a:prstGeom prst="roundRect">
            <a:avLst>
              <a:gd name="adj" fmla="val 20000"/>
            </a:avLst>
          </a:prstGeom>
          <a:solidFill>
            <a:srgbClr val="60A5FA">
              <a:alpha val="18000"/>
            </a:srgbClr>
          </a:solidFill>
          <a:ln w="12700">
            <a:solidFill>
              <a:srgbClr val="60A5FA"/>
            </a:solidFill>
            <a:prstDash val="solid"/>
          </a:ln>
        </p:spPr>
        <p:txBody>
          <a:bodyPr wrap="square" lIns="164592" tIns="109728" rIns="137160" bIns="91440" rtlCol="0" anchor="ctr">
            <a:noAutofit/>
          </a:bodyPr>
          <a:lstStyle/>
          <a:p>
            <a:pPr marL="0" indent="0" algn="ctr">
              <a:spcBef>
                <a:spcPts val="0"/>
              </a:spcBef>
              <a:spcAft>
                <a:spcPts val="0"/>
              </a:spcAft>
              <a:buNone/>
            </a:pPr>
            <a:r>
              <a:rPr lang="en-US" sz="1250" b="1" dirty="0">
                <a:solidFill>
                  <a:srgbClr val="60A5FA"/>
                </a:solidFill>
                <a:latin typeface="Segoe UI"/>
                <a:ea typeface="Segoe UI"/>
                <a:cs typeface="Segoe UI"/>
              </a:rPr>
              <a:t>WHAT WILL WE CHANGE?</a:t>
            </a:r>
            <a:endParaRPr lang="en-US" sz="1250" dirty="0"/>
          </a:p>
        </p:txBody>
      </p:sp>
      <p:sp>
        <p:nvSpPr>
          <p:cNvPr id="112" name="s112"/>
          <p:cNvSpPr/>
          <p:nvPr/>
        </p:nvSpPr>
        <p:spPr>
          <a:xfrm rot="21480000">
            <a:off x="8224723" y="2606040"/>
            <a:ext cx="3177845" cy="640080"/>
          </a:xfrm>
          <a:prstGeom prst="roundRect">
            <a:avLst>
              <a:gd name="adj" fmla="val 6000"/>
            </a:avLst>
          </a:prstGeom>
          <a:solidFill>
            <a:srgbClr val="60A5FA">
              <a:alpha val="14000"/>
            </a:srgbClr>
          </a:solidFill>
          <a:ln w="12700">
            <a:solidFill>
              <a:srgbClr val="60A5FA">
                <a:alpha val="55000"/>
              </a:srgbClr>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Concurrency in Refinement</a:t>
            </a:r>
            <a:endParaRPr lang="en-US" sz="1300" dirty="0"/>
          </a:p>
        </p:txBody>
      </p:sp>
      <p:sp>
        <p:nvSpPr>
          <p:cNvPr id="113" name="s113"/>
          <p:cNvSpPr/>
          <p:nvPr/>
        </p:nvSpPr>
        <p:spPr>
          <a:xfrm rot="120000">
            <a:off x="8316163" y="3383280"/>
            <a:ext cx="3177845" cy="640080"/>
          </a:xfrm>
          <a:prstGeom prst="roundRect">
            <a:avLst>
              <a:gd name="adj" fmla="val 6000"/>
            </a:avLst>
          </a:prstGeom>
          <a:solidFill>
            <a:srgbClr val="60A5FA">
              <a:alpha val="14000"/>
            </a:srgbClr>
          </a:solidFill>
          <a:ln w="12700">
            <a:solidFill>
              <a:srgbClr val="60A5FA">
                <a:alpha val="55000"/>
              </a:srgbClr>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Staging health checks</a:t>
            </a:r>
            <a:endParaRPr lang="en-US" sz="1300" dirty="0"/>
          </a:p>
        </p:txBody>
      </p:sp>
      <p:sp>
        <p:nvSpPr>
          <p:cNvPr id="114" name="s114"/>
          <p:cNvSpPr/>
          <p:nvPr/>
        </p:nvSpPr>
        <p:spPr>
          <a:xfrm rot="21540000">
            <a:off x="8224723" y="4160520"/>
            <a:ext cx="3177845" cy="640080"/>
          </a:xfrm>
          <a:prstGeom prst="roundRect">
            <a:avLst>
              <a:gd name="adj" fmla="val 6000"/>
            </a:avLst>
          </a:prstGeom>
          <a:solidFill>
            <a:srgbClr val="60A5FA">
              <a:alpha val="14000"/>
            </a:srgbClr>
          </a:solidFill>
          <a:ln w="12700">
            <a:solidFill>
              <a:srgbClr val="60A5FA">
                <a:alpha val="55000"/>
              </a:srgbClr>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PR reviews 2× daily</a:t>
            </a:r>
            <a:endParaRPr lang="en-US" sz="1300" dirty="0"/>
          </a:p>
        </p:txBody>
      </p:sp>
      <p:sp>
        <p:nvSpPr>
          <p:cNvPr id="115" name="s115"/>
          <p:cNvSpPr/>
          <p:nvPr/>
        </p:nvSpPr>
        <p:spPr>
          <a:xfrm rot="90000">
            <a:off x="8316163" y="4937760"/>
            <a:ext cx="3177845" cy="640080"/>
          </a:xfrm>
          <a:prstGeom prst="roundRect">
            <a:avLst>
              <a:gd name="adj" fmla="val 6000"/>
            </a:avLst>
          </a:prstGeom>
          <a:solidFill>
            <a:srgbClr val="60A5FA">
              <a:alpha val="14000"/>
            </a:srgbClr>
          </a:solidFill>
          <a:ln w="12700">
            <a:solidFill>
              <a:srgbClr val="60A5FA">
                <a:alpha val="55000"/>
              </a:srgbClr>
            </a:solidFill>
            <a:prstDash val="solid"/>
          </a:ln>
          <a:effectLst>
            <a:outerShdw blurRad="190500" dist="38100" dir="5400000" algn="t" rotWithShape="0">
              <a:srgbClr val="000000">
                <a:alpha val="45000"/>
              </a:srgbClr>
            </a:outerShdw>
          </a:effectLst>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Smaller vertical slices</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42" presetClass="entr" presetSubtype="0" fill="hold" grpId="0" nodeType="withEffect">
                                  <p:stCondLst>
                                    <p:cond delay="150"/>
                                  </p:stCondLst>
                                  <p:childTnLst>
                                    <p:set>
                                      <p:cBhvr>
                                        <p:cTn id="11" dur="1" fill="hold">
                                          <p:stCondLst>
                                            <p:cond delay="0"/>
                                          </p:stCondLst>
                                        </p:cTn>
                                        <p:tgtEl>
                                          <p:spTgt spid="102"/>
                                        </p:tgtEl>
                                        <p:attrNameLst>
                                          <p:attrName>style.visibility</p:attrName>
                                        </p:attrNameLst>
                                      </p:cBhvr>
                                      <p:to>
                                        <p:strVal val="visible"/>
                                      </p:to>
                                    </p:set>
                                    <p:animEffect transition="in" filter="fade">
                                      <p:cBhvr>
                                        <p:cTn id="12" dur="500"/>
                                        <p:tgtEl>
                                          <p:spTgt spid="102"/>
                                        </p:tgtEl>
                                      </p:cBhvr>
                                    </p:animEffect>
                                    <p:anim calcmode="lin" valueType="num">
                                      <p:cBhvr additive="base">
                                        <p:cTn id="13" dur="500" decel="100000" fill="hold"/>
                                        <p:tgtEl>
                                          <p:spTgt spid="102"/>
                                        </p:tgtEl>
                                        <p:attrNameLst>
                                          <p:attrName>ppt_y</p:attrName>
                                        </p:attrNameLst>
                                      </p:cBhvr>
                                      <p:tavLst>
                                        <p:tav tm="0">
                                          <p:val>
                                            <p:strVal val="#ppt_y-0.06"/>
                                          </p:val>
                                        </p:tav>
                                        <p:tav tm="100000">
                                          <p:val>
                                            <p:strVal val="#ppt_y"/>
                                          </p:val>
                                        </p:tav>
                                      </p:tavLst>
                                    </p:anim>
                                  </p:childTnLst>
                                </p:cTn>
                              </p:par>
                              <p:par>
                                <p:cTn id="14" presetID="42" presetClass="entr" presetSubtype="0" fill="hold" grpId="0" nodeType="withEffect">
                                  <p:stCondLst>
                                    <p:cond delay="300"/>
                                  </p:stCondLst>
                                  <p:childTnLst>
                                    <p:set>
                                      <p:cBhvr>
                                        <p:cTn id="15" dur="1" fill="hold">
                                          <p:stCondLst>
                                            <p:cond delay="0"/>
                                          </p:stCondLst>
                                        </p:cTn>
                                        <p:tgtEl>
                                          <p:spTgt spid="103"/>
                                        </p:tgtEl>
                                        <p:attrNameLst>
                                          <p:attrName>style.visibility</p:attrName>
                                        </p:attrNameLst>
                                      </p:cBhvr>
                                      <p:to>
                                        <p:strVal val="visible"/>
                                      </p:to>
                                    </p:set>
                                    <p:animEffect transition="in" filter="fade">
                                      <p:cBhvr>
                                        <p:cTn id="16" dur="500"/>
                                        <p:tgtEl>
                                          <p:spTgt spid="103"/>
                                        </p:tgtEl>
                                      </p:cBhvr>
                                    </p:animEffect>
                                    <p:anim calcmode="lin" valueType="num">
                                      <p:cBhvr additive="base">
                                        <p:cTn id="17" dur="500" decel="100000" fill="hold"/>
                                        <p:tgtEl>
                                          <p:spTgt spid="103"/>
                                        </p:tgtEl>
                                        <p:attrNameLst>
                                          <p:attrName>ppt_y</p:attrName>
                                        </p:attrNameLst>
                                      </p:cBhvr>
                                      <p:tavLst>
                                        <p:tav tm="0">
                                          <p:val>
                                            <p:strVal val="#ppt_y-0.06"/>
                                          </p:val>
                                        </p:tav>
                                        <p:tav tm="100000">
                                          <p:val>
                                            <p:strVal val="#ppt_y"/>
                                          </p:val>
                                        </p:tav>
                                      </p:tavLst>
                                    </p:anim>
                                  </p:childTnLst>
                                </p:cTn>
                              </p:par>
                              <p:par>
                                <p:cTn id="18" presetID="42" presetClass="entr" presetSubtype="0" fill="hold" grpId="0" nodeType="withEffect">
                                  <p:stCondLst>
                                    <p:cond delay="450"/>
                                  </p:stCondLst>
                                  <p:childTnLst>
                                    <p:set>
                                      <p:cBhvr>
                                        <p:cTn id="19" dur="1" fill="hold">
                                          <p:stCondLst>
                                            <p:cond delay="0"/>
                                          </p:stCondLst>
                                        </p:cTn>
                                        <p:tgtEl>
                                          <p:spTgt spid="104"/>
                                        </p:tgtEl>
                                        <p:attrNameLst>
                                          <p:attrName>style.visibility</p:attrName>
                                        </p:attrNameLst>
                                      </p:cBhvr>
                                      <p:to>
                                        <p:strVal val="visible"/>
                                      </p:to>
                                    </p:set>
                                    <p:animEffect transition="in" filter="fade">
                                      <p:cBhvr>
                                        <p:cTn id="20" dur="500"/>
                                        <p:tgtEl>
                                          <p:spTgt spid="104"/>
                                        </p:tgtEl>
                                      </p:cBhvr>
                                    </p:animEffect>
                                    <p:anim calcmode="lin" valueType="num">
                                      <p:cBhvr additive="base">
                                        <p:cTn id="21" dur="500" decel="100000" fill="hold"/>
                                        <p:tgtEl>
                                          <p:spTgt spid="104"/>
                                        </p:tgtEl>
                                        <p:attrNameLst>
                                          <p:attrName>ppt_y</p:attrName>
                                        </p:attrNameLst>
                                      </p:cBhvr>
                                      <p:tavLst>
                                        <p:tav tm="0">
                                          <p:val>
                                            <p:strVal val="#ppt_y-0.06"/>
                                          </p:val>
                                        </p:tav>
                                        <p:tav tm="100000">
                                          <p:val>
                                            <p:strVal val="#ppt_y"/>
                                          </p:val>
                                        </p:tav>
                                      </p:tavLst>
                                    </p:anim>
                                  </p:childTnLst>
                                </p:cTn>
                              </p:par>
                              <p:par>
                                <p:cTn id="22" presetID="42" presetClass="entr" presetSubtype="0" fill="hold" grpId="0" nodeType="withEffect">
                                  <p:stCondLst>
                                    <p:cond delay="600"/>
                                  </p:stCondLst>
                                  <p:childTnLst>
                                    <p:set>
                                      <p:cBhvr>
                                        <p:cTn id="23" dur="1" fill="hold">
                                          <p:stCondLst>
                                            <p:cond delay="0"/>
                                          </p:stCondLst>
                                        </p:cTn>
                                        <p:tgtEl>
                                          <p:spTgt spid="105"/>
                                        </p:tgtEl>
                                        <p:attrNameLst>
                                          <p:attrName>style.visibility</p:attrName>
                                        </p:attrNameLst>
                                      </p:cBhvr>
                                      <p:to>
                                        <p:strVal val="visible"/>
                                      </p:to>
                                    </p:set>
                                    <p:animEffect transition="in" filter="fade">
                                      <p:cBhvr>
                                        <p:cTn id="24" dur="500"/>
                                        <p:tgtEl>
                                          <p:spTgt spid="105"/>
                                        </p:tgtEl>
                                      </p:cBhvr>
                                    </p:animEffect>
                                    <p:anim calcmode="lin" valueType="num">
                                      <p:cBhvr additive="base">
                                        <p:cTn id="25" dur="500" decel="100000" fill="hold"/>
                                        <p:tgtEl>
                                          <p:spTgt spid="105"/>
                                        </p:tgtEl>
                                        <p:attrNameLst>
                                          <p:attrName>ppt_y</p:attrName>
                                        </p:attrNameLst>
                                      </p:cBhvr>
                                      <p:tavLst>
                                        <p:tav tm="0">
                                          <p:val>
                                            <p:strVal val="#ppt_y-0.06"/>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53" presetClass="entr" presetSubtype="16" fill="hold" grpId="0" nodeType="clickEffect">
                                  <p:stCondLst>
                                    <p:cond delay="0"/>
                                  </p:stCondLst>
                                  <p:childTnLst>
                                    <p:set>
                                      <p:cBhvr>
                                        <p:cTn id="29" dur="1" fill="hold">
                                          <p:stCondLst>
                                            <p:cond delay="0"/>
                                          </p:stCondLst>
                                        </p:cTn>
                                        <p:tgtEl>
                                          <p:spTgt spid="106"/>
                                        </p:tgtEl>
                                        <p:attrNameLst>
                                          <p:attrName>style.visibility</p:attrName>
                                        </p:attrNameLst>
                                      </p:cBhvr>
                                      <p:to>
                                        <p:strVal val="visible"/>
                                      </p:to>
                                    </p:set>
                                    <p:anim calcmode="lin" valueType="num">
                                      <p:cBhvr additive="base">
                                        <p:cTn id="30"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31" dur="500" decel="100000" fill="hold"/>
                                        <p:tgtEl>
                                          <p:spTgt spid="106"/>
                                        </p:tgtEl>
                                        <p:attrNameLst>
                                          <p:attrName>ppt_h</p:attrName>
                                        </p:attrNameLst>
                                      </p:cBhvr>
                                      <p:tavLst>
                                        <p:tav tm="0">
                                          <p:val>
                                            <p:strVal val="#ppt_h*0.55"/>
                                          </p:val>
                                        </p:tav>
                                        <p:tav tm="100000">
                                          <p:val>
                                            <p:strVal val="#ppt_h"/>
                                          </p:val>
                                        </p:tav>
                                      </p:tavLst>
                                    </p:anim>
                                    <p:animEffect transition="in" filter="fade">
                                      <p:cBhvr>
                                        <p:cTn id="32" dur="500"/>
                                        <p:tgtEl>
                                          <p:spTgt spid="106"/>
                                        </p:tgtEl>
                                      </p:cBhvr>
                                    </p:animEffect>
                                  </p:childTnLst>
                                </p:cTn>
                              </p:par>
                              <p:par>
                                <p:cTn id="33" presetID="42" presetClass="entr" presetSubtype="0" fill="hold" grpId="0" nodeType="withEffect">
                                  <p:stCondLst>
                                    <p:cond delay="150"/>
                                  </p:stCondLst>
                                  <p:childTnLst>
                                    <p:set>
                                      <p:cBhvr>
                                        <p:cTn id="34" dur="1" fill="hold">
                                          <p:stCondLst>
                                            <p:cond delay="0"/>
                                          </p:stCondLst>
                                        </p:cTn>
                                        <p:tgtEl>
                                          <p:spTgt spid="107"/>
                                        </p:tgtEl>
                                        <p:attrNameLst>
                                          <p:attrName>style.visibility</p:attrName>
                                        </p:attrNameLst>
                                      </p:cBhvr>
                                      <p:to>
                                        <p:strVal val="visible"/>
                                      </p:to>
                                    </p:set>
                                    <p:animEffect transition="in" filter="fade">
                                      <p:cBhvr>
                                        <p:cTn id="35" dur="500"/>
                                        <p:tgtEl>
                                          <p:spTgt spid="107"/>
                                        </p:tgtEl>
                                      </p:cBhvr>
                                    </p:animEffect>
                                    <p:anim calcmode="lin" valueType="num">
                                      <p:cBhvr additive="base">
                                        <p:cTn id="36" dur="500" decel="100000" fill="hold"/>
                                        <p:tgtEl>
                                          <p:spTgt spid="107"/>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300"/>
                                  </p:stCondLst>
                                  <p:childTnLst>
                                    <p:set>
                                      <p:cBhvr>
                                        <p:cTn id="38" dur="1" fill="hold">
                                          <p:stCondLst>
                                            <p:cond delay="0"/>
                                          </p:stCondLst>
                                        </p:cTn>
                                        <p:tgtEl>
                                          <p:spTgt spid="108"/>
                                        </p:tgtEl>
                                        <p:attrNameLst>
                                          <p:attrName>style.visibility</p:attrName>
                                        </p:attrNameLst>
                                      </p:cBhvr>
                                      <p:to>
                                        <p:strVal val="visible"/>
                                      </p:to>
                                    </p:set>
                                    <p:animEffect transition="in" filter="fade">
                                      <p:cBhvr>
                                        <p:cTn id="39" dur="500"/>
                                        <p:tgtEl>
                                          <p:spTgt spid="108"/>
                                        </p:tgtEl>
                                      </p:cBhvr>
                                    </p:animEffect>
                                    <p:anim calcmode="lin" valueType="num">
                                      <p:cBhvr additive="base">
                                        <p:cTn id="40" dur="500" decel="100000" fill="hold"/>
                                        <p:tgtEl>
                                          <p:spTgt spid="108"/>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450"/>
                                  </p:stCondLst>
                                  <p:childTnLst>
                                    <p:set>
                                      <p:cBhvr>
                                        <p:cTn id="42" dur="1" fill="hold">
                                          <p:stCondLst>
                                            <p:cond delay="0"/>
                                          </p:stCondLst>
                                        </p:cTn>
                                        <p:tgtEl>
                                          <p:spTgt spid="109"/>
                                        </p:tgtEl>
                                        <p:attrNameLst>
                                          <p:attrName>style.visibility</p:attrName>
                                        </p:attrNameLst>
                                      </p:cBhvr>
                                      <p:to>
                                        <p:strVal val="visible"/>
                                      </p:to>
                                    </p:set>
                                    <p:animEffect transition="in" filter="fade">
                                      <p:cBhvr>
                                        <p:cTn id="43" dur="500"/>
                                        <p:tgtEl>
                                          <p:spTgt spid="109"/>
                                        </p:tgtEl>
                                      </p:cBhvr>
                                    </p:animEffect>
                                    <p:anim calcmode="lin" valueType="num">
                                      <p:cBhvr additive="base">
                                        <p:cTn id="44" dur="500" decel="100000" fill="hold"/>
                                        <p:tgtEl>
                                          <p:spTgt spid="109"/>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600"/>
                                  </p:stCondLst>
                                  <p:childTnLst>
                                    <p:set>
                                      <p:cBhvr>
                                        <p:cTn id="46" dur="1" fill="hold">
                                          <p:stCondLst>
                                            <p:cond delay="0"/>
                                          </p:stCondLst>
                                        </p:cTn>
                                        <p:tgtEl>
                                          <p:spTgt spid="110"/>
                                        </p:tgtEl>
                                        <p:attrNameLst>
                                          <p:attrName>style.visibility</p:attrName>
                                        </p:attrNameLst>
                                      </p:cBhvr>
                                      <p:to>
                                        <p:strVal val="visible"/>
                                      </p:to>
                                    </p:set>
                                    <p:animEffect transition="in" filter="fade">
                                      <p:cBhvr>
                                        <p:cTn id="47" dur="500"/>
                                        <p:tgtEl>
                                          <p:spTgt spid="110"/>
                                        </p:tgtEl>
                                      </p:cBhvr>
                                    </p:animEffect>
                                    <p:anim calcmode="lin" valueType="num">
                                      <p:cBhvr additive="base">
                                        <p:cTn id="48"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53" presetClass="entr" presetSubtype="16" fill="hold" grpId="0" nodeType="clickEffect">
                                  <p:stCondLst>
                                    <p:cond delay="0"/>
                                  </p:stCondLst>
                                  <p:childTnLst>
                                    <p:set>
                                      <p:cBhvr>
                                        <p:cTn id="52" dur="1" fill="hold">
                                          <p:stCondLst>
                                            <p:cond delay="0"/>
                                          </p:stCondLst>
                                        </p:cTn>
                                        <p:tgtEl>
                                          <p:spTgt spid="111"/>
                                        </p:tgtEl>
                                        <p:attrNameLst>
                                          <p:attrName>style.visibility</p:attrName>
                                        </p:attrNameLst>
                                      </p:cBhvr>
                                      <p:to>
                                        <p:strVal val="visible"/>
                                      </p:to>
                                    </p:set>
                                    <p:anim calcmode="lin" valueType="num">
                                      <p:cBhvr additive="base">
                                        <p:cTn id="53" dur="500" decel="100000" fill="hold"/>
                                        <p:tgtEl>
                                          <p:spTgt spid="111"/>
                                        </p:tgtEl>
                                        <p:attrNameLst>
                                          <p:attrName>ppt_w</p:attrName>
                                        </p:attrNameLst>
                                      </p:cBhvr>
                                      <p:tavLst>
                                        <p:tav tm="0">
                                          <p:val>
                                            <p:strVal val="#ppt_w*0.55"/>
                                          </p:val>
                                        </p:tav>
                                        <p:tav tm="100000">
                                          <p:val>
                                            <p:strVal val="#ppt_w"/>
                                          </p:val>
                                        </p:tav>
                                      </p:tavLst>
                                    </p:anim>
                                    <p:anim calcmode="lin" valueType="num">
                                      <p:cBhvr additive="base">
                                        <p:cTn id="54" dur="500" decel="100000" fill="hold"/>
                                        <p:tgtEl>
                                          <p:spTgt spid="111"/>
                                        </p:tgtEl>
                                        <p:attrNameLst>
                                          <p:attrName>ppt_h</p:attrName>
                                        </p:attrNameLst>
                                      </p:cBhvr>
                                      <p:tavLst>
                                        <p:tav tm="0">
                                          <p:val>
                                            <p:strVal val="#ppt_h*0.55"/>
                                          </p:val>
                                        </p:tav>
                                        <p:tav tm="100000">
                                          <p:val>
                                            <p:strVal val="#ppt_h"/>
                                          </p:val>
                                        </p:tav>
                                      </p:tavLst>
                                    </p:anim>
                                    <p:animEffect transition="in" filter="fade">
                                      <p:cBhvr>
                                        <p:cTn id="55" dur="500"/>
                                        <p:tgtEl>
                                          <p:spTgt spid="111"/>
                                        </p:tgtEl>
                                      </p:cBhvr>
                                    </p:animEffect>
                                  </p:childTnLst>
                                </p:cTn>
                              </p:par>
                              <p:par>
                                <p:cTn id="56" presetID="42" presetClass="entr" presetSubtype="0" fill="hold" grpId="0" nodeType="withEffect">
                                  <p:stCondLst>
                                    <p:cond delay="150"/>
                                  </p:stCondLst>
                                  <p:childTnLst>
                                    <p:set>
                                      <p:cBhvr>
                                        <p:cTn id="57" dur="1" fill="hold">
                                          <p:stCondLst>
                                            <p:cond delay="0"/>
                                          </p:stCondLst>
                                        </p:cTn>
                                        <p:tgtEl>
                                          <p:spTgt spid="112"/>
                                        </p:tgtEl>
                                        <p:attrNameLst>
                                          <p:attrName>style.visibility</p:attrName>
                                        </p:attrNameLst>
                                      </p:cBhvr>
                                      <p:to>
                                        <p:strVal val="visible"/>
                                      </p:to>
                                    </p:set>
                                    <p:animEffect transition="in" filter="fade">
                                      <p:cBhvr>
                                        <p:cTn id="58" dur="500"/>
                                        <p:tgtEl>
                                          <p:spTgt spid="112"/>
                                        </p:tgtEl>
                                      </p:cBhvr>
                                    </p:animEffect>
                                    <p:anim calcmode="lin" valueType="num">
                                      <p:cBhvr additive="base">
                                        <p:cTn id="59" dur="500" decel="100000" fill="hold"/>
                                        <p:tgtEl>
                                          <p:spTgt spid="112"/>
                                        </p:tgtEl>
                                        <p:attrNameLst>
                                          <p:attrName>ppt_y</p:attrName>
                                        </p:attrNameLst>
                                      </p:cBhvr>
                                      <p:tavLst>
                                        <p:tav tm="0">
                                          <p:val>
                                            <p:strVal val="#ppt_y-0.06"/>
                                          </p:val>
                                        </p:tav>
                                        <p:tav tm="100000">
                                          <p:val>
                                            <p:strVal val="#ppt_y"/>
                                          </p:val>
                                        </p:tav>
                                      </p:tavLst>
                                    </p:anim>
                                  </p:childTnLst>
                                </p:cTn>
                              </p:par>
                              <p:par>
                                <p:cTn id="60" presetID="42" presetClass="entr" presetSubtype="0" fill="hold" grpId="0" nodeType="withEffect">
                                  <p:stCondLst>
                                    <p:cond delay="300"/>
                                  </p:stCondLst>
                                  <p:childTnLst>
                                    <p:set>
                                      <p:cBhvr>
                                        <p:cTn id="61" dur="1" fill="hold">
                                          <p:stCondLst>
                                            <p:cond delay="0"/>
                                          </p:stCondLst>
                                        </p:cTn>
                                        <p:tgtEl>
                                          <p:spTgt spid="113"/>
                                        </p:tgtEl>
                                        <p:attrNameLst>
                                          <p:attrName>style.visibility</p:attrName>
                                        </p:attrNameLst>
                                      </p:cBhvr>
                                      <p:to>
                                        <p:strVal val="visible"/>
                                      </p:to>
                                    </p:set>
                                    <p:animEffect transition="in" filter="fade">
                                      <p:cBhvr>
                                        <p:cTn id="62" dur="500"/>
                                        <p:tgtEl>
                                          <p:spTgt spid="113"/>
                                        </p:tgtEl>
                                      </p:cBhvr>
                                    </p:animEffect>
                                    <p:anim calcmode="lin" valueType="num">
                                      <p:cBhvr additive="base">
                                        <p:cTn id="63" dur="500" decel="100000" fill="hold"/>
                                        <p:tgtEl>
                                          <p:spTgt spid="113"/>
                                        </p:tgtEl>
                                        <p:attrNameLst>
                                          <p:attrName>ppt_y</p:attrName>
                                        </p:attrNameLst>
                                      </p:cBhvr>
                                      <p:tavLst>
                                        <p:tav tm="0">
                                          <p:val>
                                            <p:strVal val="#ppt_y-0.06"/>
                                          </p:val>
                                        </p:tav>
                                        <p:tav tm="100000">
                                          <p:val>
                                            <p:strVal val="#ppt_y"/>
                                          </p:val>
                                        </p:tav>
                                      </p:tavLst>
                                    </p:anim>
                                  </p:childTnLst>
                                </p:cTn>
                              </p:par>
                              <p:par>
                                <p:cTn id="64" presetID="42" presetClass="entr" presetSubtype="0" fill="hold" grpId="0" nodeType="withEffect">
                                  <p:stCondLst>
                                    <p:cond delay="450"/>
                                  </p:stCondLst>
                                  <p:childTnLst>
                                    <p:set>
                                      <p:cBhvr>
                                        <p:cTn id="65" dur="1" fill="hold">
                                          <p:stCondLst>
                                            <p:cond delay="0"/>
                                          </p:stCondLst>
                                        </p:cTn>
                                        <p:tgtEl>
                                          <p:spTgt spid="114"/>
                                        </p:tgtEl>
                                        <p:attrNameLst>
                                          <p:attrName>style.visibility</p:attrName>
                                        </p:attrNameLst>
                                      </p:cBhvr>
                                      <p:to>
                                        <p:strVal val="visible"/>
                                      </p:to>
                                    </p:set>
                                    <p:animEffect transition="in" filter="fade">
                                      <p:cBhvr>
                                        <p:cTn id="66" dur="500"/>
                                        <p:tgtEl>
                                          <p:spTgt spid="114"/>
                                        </p:tgtEl>
                                      </p:cBhvr>
                                    </p:animEffect>
                                    <p:anim calcmode="lin" valueType="num">
                                      <p:cBhvr additive="base">
                                        <p:cTn id="67" dur="500" decel="100000" fill="hold"/>
                                        <p:tgtEl>
                                          <p:spTgt spid="114"/>
                                        </p:tgtEl>
                                        <p:attrNameLst>
                                          <p:attrName>ppt_y</p:attrName>
                                        </p:attrNameLst>
                                      </p:cBhvr>
                                      <p:tavLst>
                                        <p:tav tm="0">
                                          <p:val>
                                            <p:strVal val="#ppt_y-0.06"/>
                                          </p:val>
                                        </p:tav>
                                        <p:tav tm="100000">
                                          <p:val>
                                            <p:strVal val="#ppt_y"/>
                                          </p:val>
                                        </p:tav>
                                      </p:tavLst>
                                    </p:anim>
                                  </p:childTnLst>
                                </p:cTn>
                              </p:par>
                              <p:par>
                                <p:cTn id="68" presetID="42" presetClass="entr" presetSubtype="0" fill="hold" grpId="0" nodeType="withEffect">
                                  <p:stCondLst>
                                    <p:cond delay="600"/>
                                  </p:stCondLst>
                                  <p:childTnLst>
                                    <p:set>
                                      <p:cBhvr>
                                        <p:cTn id="69" dur="1" fill="hold">
                                          <p:stCondLst>
                                            <p:cond delay="0"/>
                                          </p:stCondLst>
                                        </p:cTn>
                                        <p:tgtEl>
                                          <p:spTgt spid="115"/>
                                        </p:tgtEl>
                                        <p:attrNameLst>
                                          <p:attrName>style.visibility</p:attrName>
                                        </p:attrNameLst>
                                      </p:cBhvr>
                                      <p:to>
                                        <p:strVal val="visible"/>
                                      </p:to>
                                    </p:set>
                                    <p:animEffect transition="in" filter="fade">
                                      <p:cBhvr>
                                        <p:cTn id="70" dur="500"/>
                                        <p:tgtEl>
                                          <p:spTgt spid="115"/>
                                        </p:tgtEl>
                                      </p:cBhvr>
                                    </p:animEffect>
                                    <p:anim calcmode="lin" valueType="num">
                                      <p:cBhvr additive="base">
                                        <p:cTn id="71" dur="500" decel="100000" fill="hold"/>
                                        <p:tgtEl>
                                          <p:spTgt spid="115"/>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472B6">
              <a:alpha val="18000"/>
            </a:srgbClr>
          </a:solidFill>
          <a:ln w="12700">
            <a:solidFill>
              <a:srgbClr val="F472B6"/>
            </a:solidFill>
          </a:ln>
        </p:spPr>
        <p:txBody>
          <a:bodyPr wrap="square" lIns="0" tIns="0" rIns="0" bIns="0" rtlCol="0" anchor="ctr">
            <a:noAutofit/>
          </a:bodyPr>
          <a:lstStyle/>
          <a:p>
            <a:pPr marL="0" indent="0" algn="ctr">
              <a:spcBef>
                <a:spcPts val="0"/>
              </a:spcBef>
              <a:spcAft>
                <a:spcPts val="0"/>
              </a:spcAft>
              <a:buNone/>
            </a:pPr>
            <a:r>
              <a:rPr lang="en-US" sz="1000" b="1" dirty="0">
                <a:solidFill>
                  <a:srgbClr val="F472B6"/>
                </a:solidFill>
                <a:latin typeface="Segoe UI"/>
                <a:ea typeface="Segoe UI"/>
                <a:cs typeface="Segoe UI"/>
              </a:rPr>
              <a:t>ACTION</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Retrospective Must Produce Action</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 complaint session without change is not a Retro.</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RETRO</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287</a:t>
            </a:r>
            <a:endParaRPr lang="en-US" sz="850" dirty="0"/>
          </a:p>
        </p:txBody>
      </p:sp>
      <p:sp>
        <p:nvSpPr>
          <p:cNvPr id="101" name="s101"/>
          <p:cNvSpPr/>
          <p:nvPr/>
        </p:nvSpPr>
        <p:spPr>
          <a:xfrm>
            <a:off x="543154" y="1965960"/>
            <a:ext cx="5406847" cy="2926080"/>
          </a:xfrm>
          <a:prstGeom prst="roundRect">
            <a:avLst>
              <a:gd name="adj" fmla="val 8000"/>
            </a:avLst>
          </a:prstGeom>
          <a:solidFill>
            <a:srgbClr val="111B2E"/>
          </a:solidFill>
          <a:ln w="19050">
            <a:solidFill>
              <a:srgbClr val="F472B6"/>
            </a:solidFill>
            <a:prstDash val="solid"/>
          </a:ln>
        </p:spPr>
        <p:txBody>
          <a:bodyPr wrap="square" lIns="164592" tIns="109728" rIns="137160" bIns="91440" rtlCol="0" anchor="t">
            <a:noAutofit/>
          </a:bodyPr>
          <a:lstStyle/>
          <a:p>
            <a:endParaRPr lang="en-US"/>
          </a:p>
        </p:txBody>
      </p:sp>
      <p:sp>
        <p:nvSpPr>
          <p:cNvPr id="102" name="s102"/>
          <p:cNvSpPr txBox="1"/>
          <p:nvPr/>
        </p:nvSpPr>
        <p:spPr>
          <a:xfrm>
            <a:off x="817474" y="2103120"/>
            <a:ext cx="2286000"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472B6"/>
                </a:solidFill>
                <a:latin typeface="Segoe UI"/>
                <a:ea typeface="Segoe UI"/>
                <a:cs typeface="Segoe UI"/>
              </a:rPr>
              <a:t>ACTION 1</a:t>
            </a:r>
            <a:endParaRPr lang="en-US" sz="1300" dirty="0"/>
          </a:p>
        </p:txBody>
      </p:sp>
      <p:sp>
        <p:nvSpPr>
          <p:cNvPr id="103" name="s103"/>
          <p:cNvSpPr/>
          <p:nvPr/>
        </p:nvSpPr>
        <p:spPr>
          <a:xfrm>
            <a:off x="5081321" y="2103120"/>
            <a:ext cx="548640" cy="548640"/>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13D0F7"/>
                </a:solidFill>
                <a:latin typeface="Segoe UI"/>
                <a:ea typeface="Segoe UI"/>
                <a:cs typeface="Segoe UI"/>
              </a:rPr>
              <a:t>O</a:t>
            </a:r>
            <a:endParaRPr lang="en-US" sz="1560" dirty="0"/>
          </a:p>
        </p:txBody>
      </p:sp>
      <p:sp>
        <p:nvSpPr>
          <p:cNvPr id="104" name="s104"/>
          <p:cNvSpPr txBox="1"/>
          <p:nvPr/>
        </p:nvSpPr>
        <p:spPr>
          <a:xfrm>
            <a:off x="3206801" y="2697480"/>
            <a:ext cx="2514600" cy="274320"/>
          </a:xfrm>
          <a:prstGeom prst="rect">
            <a:avLst/>
          </a:prstGeom>
          <a:noFill/>
          <a:ln>
            <a:noFill/>
          </a:ln>
        </p:spPr>
        <p:txBody>
          <a:bodyPr wrap="square" lIns="0" tIns="0" rIns="0" bIns="0" rtlCol="0" anchor="t">
            <a:noAutofit/>
          </a:bodyPr>
          <a:lstStyle/>
          <a:p>
            <a:pPr marL="0" indent="0" algn="r">
              <a:spcBef>
                <a:spcPts val="0"/>
              </a:spcBef>
              <a:spcAft>
                <a:spcPts val="0"/>
              </a:spcAft>
              <a:buNone/>
            </a:pPr>
            <a:r>
              <a:rPr lang="en-US" sz="1100" b="1" dirty="0">
                <a:solidFill>
                  <a:srgbClr val="94A3B8"/>
                </a:solidFill>
                <a:latin typeface="Segoe UI"/>
                <a:ea typeface="Segoe UI"/>
                <a:cs typeface="Segoe UI"/>
              </a:rPr>
              <a:t>Developers</a:t>
            </a:r>
            <a:endParaRPr lang="en-US" sz="1100" dirty="0"/>
          </a:p>
        </p:txBody>
      </p:sp>
      <p:sp>
        <p:nvSpPr>
          <p:cNvPr id="105" name="s105"/>
          <p:cNvSpPr txBox="1"/>
          <p:nvPr/>
        </p:nvSpPr>
        <p:spPr>
          <a:xfrm>
            <a:off x="817474" y="3063240"/>
            <a:ext cx="4858207" cy="11887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700" b="1" dirty="0">
                <a:solidFill>
                  <a:srgbClr val="FFFFFF"/>
                </a:solidFill>
                <a:latin typeface="Segoe UI"/>
                <a:ea typeface="Segoe UI"/>
                <a:cs typeface="Segoe UI"/>
              </a:rPr>
              <a:t>Every booking-related story must include a concurrency discussion during Refinement.</a:t>
            </a:r>
            <a:endParaRPr lang="en-US" sz="1700" dirty="0"/>
          </a:p>
        </p:txBody>
      </p:sp>
      <p:sp>
        <p:nvSpPr>
          <p:cNvPr id="106" name="s106"/>
          <p:cNvSpPr/>
          <p:nvPr/>
        </p:nvSpPr>
        <p:spPr>
          <a:xfrm>
            <a:off x="817474" y="4343400"/>
            <a:ext cx="2651760" cy="347472"/>
          </a:xfrm>
          <a:prstGeom prst="roundRect">
            <a:avLst>
              <a:gd name="adj" fmla="val 50000"/>
            </a:avLst>
          </a:prstGeom>
          <a:solidFill>
            <a:srgbClr val="F472B6">
              <a:alpha val="18000"/>
            </a:srgbClr>
          </a:solidFill>
          <a:ln w="12700">
            <a:solidFill>
              <a:srgbClr val="F472B6"/>
            </a:solidFill>
            <a:prstDash val="solid"/>
          </a:ln>
        </p:spPr>
        <p:txBody>
          <a:bodyPr wrap="square" lIns="36576" tIns="0" rIns="36576" bIns="0" rtlCol="0" anchor="ctr">
            <a:noAutofit/>
          </a:bodyPr>
          <a:lstStyle/>
          <a:p>
            <a:pPr marL="0" indent="0" algn="ctr">
              <a:spcBef>
                <a:spcPts val="0"/>
              </a:spcBef>
              <a:spcAft>
                <a:spcPts val="0"/>
              </a:spcAft>
              <a:buNone/>
            </a:pPr>
            <a:r>
              <a:rPr lang="en-US" sz="1050" b="1" dirty="0">
                <a:solidFill>
                  <a:srgbClr val="F472B6"/>
                </a:solidFill>
                <a:latin typeface="Segoe UI"/>
                <a:ea typeface="Segoe UI"/>
                <a:cs typeface="Segoe UI"/>
              </a:rPr>
              <a:t>check at the next Retro</a:t>
            </a:r>
            <a:endParaRPr lang="en-US" sz="1050" dirty="0"/>
          </a:p>
        </p:txBody>
      </p:sp>
      <p:sp>
        <p:nvSpPr>
          <p:cNvPr id="107" name="s107"/>
          <p:cNvSpPr/>
          <p:nvPr/>
        </p:nvSpPr>
        <p:spPr>
          <a:xfrm>
            <a:off x="6224321" y="1965960"/>
            <a:ext cx="5406847" cy="2926080"/>
          </a:xfrm>
          <a:prstGeom prst="roundRect">
            <a:avLst>
              <a:gd name="adj" fmla="val 8000"/>
            </a:avLst>
          </a:prstGeom>
          <a:solidFill>
            <a:srgbClr val="111B2E"/>
          </a:solidFill>
          <a:ln w="19050">
            <a:solidFill>
              <a:srgbClr val="F472B6"/>
            </a:solidFill>
            <a:prstDash val="solid"/>
          </a:ln>
        </p:spPr>
        <p:txBody>
          <a:bodyPr wrap="square" lIns="164592" tIns="109728" rIns="137160" bIns="91440" rtlCol="0" anchor="t">
            <a:noAutofit/>
          </a:bodyPr>
          <a:lstStyle/>
          <a:p>
            <a:endParaRPr lang="en-US"/>
          </a:p>
        </p:txBody>
      </p:sp>
      <p:sp>
        <p:nvSpPr>
          <p:cNvPr id="108" name="s108"/>
          <p:cNvSpPr txBox="1"/>
          <p:nvPr/>
        </p:nvSpPr>
        <p:spPr>
          <a:xfrm>
            <a:off x="6498641" y="2103120"/>
            <a:ext cx="2286000" cy="45720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472B6"/>
                </a:solidFill>
                <a:latin typeface="Segoe UI"/>
                <a:ea typeface="Segoe UI"/>
                <a:cs typeface="Segoe UI"/>
              </a:rPr>
              <a:t>ACTION 2</a:t>
            </a:r>
            <a:endParaRPr lang="en-US" sz="1300" dirty="0"/>
          </a:p>
        </p:txBody>
      </p:sp>
      <p:sp>
        <p:nvSpPr>
          <p:cNvPr id="109" name="s109"/>
          <p:cNvSpPr/>
          <p:nvPr/>
        </p:nvSpPr>
        <p:spPr>
          <a:xfrm>
            <a:off x="10762488" y="2103120"/>
            <a:ext cx="548640" cy="548640"/>
          </a:xfrm>
          <a:prstGeom prst="ellipse">
            <a:avLst/>
          </a:prstGeom>
          <a:solidFill>
            <a:srgbClr val="A78BFA">
              <a:alpha val="22000"/>
            </a:srgbClr>
          </a:solidFill>
          <a:ln w="1905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560" b="1" dirty="0">
                <a:solidFill>
                  <a:srgbClr val="A78BFA"/>
                </a:solidFill>
                <a:latin typeface="Segoe UI"/>
                <a:ea typeface="Segoe UI"/>
                <a:cs typeface="Segoe UI"/>
              </a:rPr>
              <a:t>A</a:t>
            </a:r>
            <a:endParaRPr lang="en-US" sz="1560" dirty="0"/>
          </a:p>
        </p:txBody>
      </p:sp>
      <p:sp>
        <p:nvSpPr>
          <p:cNvPr id="110" name="s110"/>
          <p:cNvSpPr txBox="1"/>
          <p:nvPr/>
        </p:nvSpPr>
        <p:spPr>
          <a:xfrm>
            <a:off x="8887968" y="2697480"/>
            <a:ext cx="2514600" cy="274320"/>
          </a:xfrm>
          <a:prstGeom prst="rect">
            <a:avLst/>
          </a:prstGeom>
          <a:noFill/>
          <a:ln>
            <a:noFill/>
          </a:ln>
        </p:spPr>
        <p:txBody>
          <a:bodyPr wrap="square" lIns="0" tIns="0" rIns="0" bIns="0" rtlCol="0" anchor="t">
            <a:noAutofit/>
          </a:bodyPr>
          <a:lstStyle/>
          <a:p>
            <a:pPr marL="0" indent="0" algn="r">
              <a:spcBef>
                <a:spcPts val="0"/>
              </a:spcBef>
              <a:spcAft>
                <a:spcPts val="0"/>
              </a:spcAft>
              <a:buNone/>
            </a:pPr>
            <a:r>
              <a:rPr lang="en-US" sz="1100" b="1" dirty="0">
                <a:solidFill>
                  <a:srgbClr val="94A3B8"/>
                </a:solidFill>
                <a:latin typeface="Segoe UI"/>
                <a:ea typeface="Segoe UI"/>
                <a:cs typeface="Segoe UI"/>
              </a:rPr>
              <a:t>Adam supports</a:t>
            </a:r>
            <a:endParaRPr lang="en-US" sz="1100" dirty="0"/>
          </a:p>
        </p:txBody>
      </p:sp>
      <p:sp>
        <p:nvSpPr>
          <p:cNvPr id="111" name="s111"/>
          <p:cNvSpPr txBox="1"/>
          <p:nvPr/>
        </p:nvSpPr>
        <p:spPr>
          <a:xfrm>
            <a:off x="6498641" y="3063240"/>
            <a:ext cx="4858207" cy="11887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700" b="1" dirty="0">
                <a:solidFill>
                  <a:srgbClr val="FFFFFF"/>
                </a:solidFill>
                <a:latin typeface="Segoe UI"/>
                <a:ea typeface="Segoe UI"/>
                <a:cs typeface="Segoe UI"/>
              </a:rPr>
              <a:t>Coordinate with DevOps for automated staging availability monitoring.</a:t>
            </a:r>
            <a:endParaRPr lang="en-US" sz="1700" dirty="0"/>
          </a:p>
        </p:txBody>
      </p:sp>
      <p:sp>
        <p:nvSpPr>
          <p:cNvPr id="112" name="s112"/>
          <p:cNvSpPr/>
          <p:nvPr/>
        </p:nvSpPr>
        <p:spPr>
          <a:xfrm>
            <a:off x="6498641" y="4343400"/>
            <a:ext cx="2651760" cy="347472"/>
          </a:xfrm>
          <a:prstGeom prst="roundRect">
            <a:avLst>
              <a:gd name="adj" fmla="val 50000"/>
            </a:avLst>
          </a:prstGeom>
          <a:solidFill>
            <a:srgbClr val="F472B6">
              <a:alpha val="18000"/>
            </a:srgbClr>
          </a:solidFill>
          <a:ln w="12700">
            <a:solidFill>
              <a:srgbClr val="F472B6"/>
            </a:solidFill>
            <a:prstDash val="solid"/>
          </a:ln>
        </p:spPr>
        <p:txBody>
          <a:bodyPr wrap="square" lIns="36576" tIns="0" rIns="36576" bIns="0" rtlCol="0" anchor="ctr">
            <a:noAutofit/>
          </a:bodyPr>
          <a:lstStyle/>
          <a:p>
            <a:pPr marL="0" indent="0" algn="ctr">
              <a:spcBef>
                <a:spcPts val="0"/>
              </a:spcBef>
              <a:spcAft>
                <a:spcPts val="0"/>
              </a:spcAft>
              <a:buNone/>
            </a:pPr>
            <a:r>
              <a:rPr lang="en-US" sz="1050" b="1" dirty="0">
                <a:solidFill>
                  <a:srgbClr val="F472B6"/>
                </a:solidFill>
                <a:latin typeface="Segoe UI"/>
                <a:ea typeface="Segoe UI"/>
                <a:cs typeface="Segoe UI"/>
              </a:rPr>
              <a:t>check at the next Retro</a:t>
            </a:r>
            <a:endParaRPr lang="en-US" sz="1050" dirty="0"/>
          </a:p>
        </p:txBody>
      </p:sp>
      <p:sp>
        <p:nvSpPr>
          <p:cNvPr id="113" name="s113"/>
          <p:cNvSpPr/>
          <p:nvPr/>
        </p:nvSpPr>
        <p:spPr>
          <a:xfrm>
            <a:off x="543154" y="5166360"/>
            <a:ext cx="11088014" cy="548640"/>
          </a:xfrm>
          <a:prstGeom prst="roundRect">
            <a:avLst>
              <a:gd name="adj" fmla="val 12000"/>
            </a:avLst>
          </a:prstGeom>
          <a:solidFill>
            <a:srgbClr val="111B2E"/>
          </a:solidFill>
          <a:ln w="12700">
            <a:solidFill>
              <a:srgbClr val="F472B6"/>
            </a:solidFill>
            <a:prstDash val="solid"/>
          </a:ln>
        </p:spPr>
        <p:txBody>
          <a:bodyPr wrap="square" lIns="228600" tIns="45720" rIns="228600" bIns="45720" rtlCol="0" anchor="ctr">
            <a:noAutofit/>
          </a:bodyPr>
          <a:lstStyle/>
          <a:p>
            <a:pPr marL="0" indent="0" algn="ctr">
              <a:spcBef>
                <a:spcPts val="0"/>
              </a:spcBef>
              <a:spcAft>
                <a:spcPts val="0"/>
              </a:spcAft>
              <a:buNone/>
            </a:pPr>
            <a:r>
              <a:rPr lang="en-US" sz="1350" b="1" dirty="0">
                <a:solidFill>
                  <a:srgbClr val="F472B6"/>
                </a:solidFill>
                <a:latin typeface="Segoe UI"/>
                <a:ea typeface="Segoe UI"/>
                <a:cs typeface="Segoe UI"/>
              </a:rPr>
              <a:t>Owner + concrete change + follow-up. </a:t>
            </a:r>
            <a:r>
              <a:rPr lang="en-US" sz="1350" b="0" dirty="0">
                <a:solidFill>
                  <a:srgbClr val="E2E8F0"/>
                </a:solidFill>
                <a:latin typeface="Segoe UI"/>
                <a:ea typeface="Segoe UI"/>
                <a:cs typeface="Segoe UI"/>
              </a:rPr>
              <a:t>Otherwise the same problems come back next Sprint.</a:t>
            </a:r>
            <a:endParaRPr lang="en-US" sz="13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3" dur="500" decel="100000" fill="hold"/>
                                        <p:tgtEl>
                                          <p:spTgt spid="102"/>
                                        </p:tgtEl>
                                        <p:attrNameLst>
                                          <p:attrName>ppt_h</p:attrName>
                                        </p:attrNameLst>
                                      </p:cBhvr>
                                      <p:tavLst>
                                        <p:tav tm="0">
                                          <p:val>
                                            <p:strVal val="#ppt_h*0.55"/>
                                          </p:val>
                                        </p:tav>
                                        <p:tav tm="100000">
                                          <p:val>
                                            <p:strVal val="#ppt_h"/>
                                          </p:val>
                                        </p:tav>
                                      </p:tavLst>
                                    </p:anim>
                                    <p:animEffect transition="in" filter="fade">
                                      <p:cBhvr>
                                        <p:cTn id="14" dur="500"/>
                                        <p:tgtEl>
                                          <p:spTgt spid="10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03"/>
                                        </p:tgtEl>
                                        <p:attrNameLst>
                                          <p:attrName>style.visibility</p:attrName>
                                        </p:attrNameLst>
                                      </p:cBhvr>
                                      <p:to>
                                        <p:strVal val="visible"/>
                                      </p:to>
                                    </p:set>
                                    <p:anim calcmode="lin" valueType="num">
                                      <p:cBhvr additive="base">
                                        <p:cTn id="17"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8" dur="500" decel="100000" fill="hold"/>
                                        <p:tgtEl>
                                          <p:spTgt spid="103"/>
                                        </p:tgtEl>
                                        <p:attrNameLst>
                                          <p:attrName>ppt_h</p:attrName>
                                        </p:attrNameLst>
                                      </p:cBhvr>
                                      <p:tavLst>
                                        <p:tav tm="0">
                                          <p:val>
                                            <p:strVal val="#ppt_h*0.55"/>
                                          </p:val>
                                        </p:tav>
                                        <p:tav tm="100000">
                                          <p:val>
                                            <p:strVal val="#ppt_h"/>
                                          </p:val>
                                        </p:tav>
                                      </p:tavLst>
                                    </p:anim>
                                    <p:animEffect transition="in" filter="fade">
                                      <p:cBhvr>
                                        <p:cTn id="19" dur="500"/>
                                        <p:tgtEl>
                                          <p:spTgt spid="10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04"/>
                                        </p:tgtEl>
                                        <p:attrNameLst>
                                          <p:attrName>style.visibility</p:attrName>
                                        </p:attrNameLst>
                                      </p:cBhvr>
                                      <p:to>
                                        <p:strVal val="visible"/>
                                      </p:to>
                                    </p:set>
                                    <p:anim calcmode="lin" valueType="num">
                                      <p:cBhvr additive="base">
                                        <p:cTn id="22" dur="500" decel="100000" fill="hold"/>
                                        <p:tgtEl>
                                          <p:spTgt spid="104"/>
                                        </p:tgtEl>
                                        <p:attrNameLst>
                                          <p:attrName>ppt_w</p:attrName>
                                        </p:attrNameLst>
                                      </p:cBhvr>
                                      <p:tavLst>
                                        <p:tav tm="0">
                                          <p:val>
                                            <p:strVal val="#ppt_w*0.55"/>
                                          </p:val>
                                        </p:tav>
                                        <p:tav tm="100000">
                                          <p:val>
                                            <p:strVal val="#ppt_w"/>
                                          </p:val>
                                        </p:tav>
                                      </p:tavLst>
                                    </p:anim>
                                    <p:anim calcmode="lin" valueType="num">
                                      <p:cBhvr additive="base">
                                        <p:cTn id="23" dur="500" decel="100000" fill="hold"/>
                                        <p:tgtEl>
                                          <p:spTgt spid="104"/>
                                        </p:tgtEl>
                                        <p:attrNameLst>
                                          <p:attrName>ppt_h</p:attrName>
                                        </p:attrNameLst>
                                      </p:cBhvr>
                                      <p:tavLst>
                                        <p:tav tm="0">
                                          <p:val>
                                            <p:strVal val="#ppt_h*0.55"/>
                                          </p:val>
                                        </p:tav>
                                        <p:tav tm="100000">
                                          <p:val>
                                            <p:strVal val="#ppt_h"/>
                                          </p:val>
                                        </p:tav>
                                      </p:tavLst>
                                    </p:anim>
                                    <p:animEffect transition="in" filter="fade">
                                      <p:cBhvr>
                                        <p:cTn id="24" dur="500"/>
                                        <p:tgtEl>
                                          <p:spTgt spid="104"/>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05"/>
                                        </p:tgtEl>
                                        <p:attrNameLst>
                                          <p:attrName>style.visibility</p:attrName>
                                        </p:attrNameLst>
                                      </p:cBhvr>
                                      <p:to>
                                        <p:strVal val="visible"/>
                                      </p:to>
                                    </p:set>
                                    <p:anim calcmode="lin" valueType="num">
                                      <p:cBhvr additive="base">
                                        <p:cTn id="27" dur="5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28" dur="500" decel="100000" fill="hold"/>
                                        <p:tgtEl>
                                          <p:spTgt spid="105"/>
                                        </p:tgtEl>
                                        <p:attrNameLst>
                                          <p:attrName>ppt_h</p:attrName>
                                        </p:attrNameLst>
                                      </p:cBhvr>
                                      <p:tavLst>
                                        <p:tav tm="0">
                                          <p:val>
                                            <p:strVal val="#ppt_h*0.55"/>
                                          </p:val>
                                        </p:tav>
                                        <p:tav tm="100000">
                                          <p:val>
                                            <p:strVal val="#ppt_h"/>
                                          </p:val>
                                        </p:tav>
                                      </p:tavLst>
                                    </p:anim>
                                    <p:animEffect transition="in" filter="fade">
                                      <p:cBhvr>
                                        <p:cTn id="29" dur="500"/>
                                        <p:tgtEl>
                                          <p:spTgt spid="105"/>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106"/>
                                        </p:tgtEl>
                                        <p:attrNameLst>
                                          <p:attrName>style.visibility</p:attrName>
                                        </p:attrNameLst>
                                      </p:cBhvr>
                                      <p:to>
                                        <p:strVal val="visible"/>
                                      </p:to>
                                    </p:set>
                                    <p:anim calcmode="lin" valueType="num">
                                      <p:cBhvr additive="base">
                                        <p:cTn id="32"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33" dur="500" decel="100000" fill="hold"/>
                                        <p:tgtEl>
                                          <p:spTgt spid="106"/>
                                        </p:tgtEl>
                                        <p:attrNameLst>
                                          <p:attrName>ppt_h</p:attrName>
                                        </p:attrNameLst>
                                      </p:cBhvr>
                                      <p:tavLst>
                                        <p:tav tm="0">
                                          <p:val>
                                            <p:strVal val="#ppt_h*0.55"/>
                                          </p:val>
                                        </p:tav>
                                        <p:tav tm="100000">
                                          <p:val>
                                            <p:strVal val="#ppt_h"/>
                                          </p:val>
                                        </p:tav>
                                      </p:tavLst>
                                    </p:anim>
                                    <p:animEffect transition="in" filter="fade">
                                      <p:cBhvr>
                                        <p:cTn id="34" dur="500"/>
                                        <p:tgtEl>
                                          <p:spTgt spid="106"/>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107"/>
                                        </p:tgtEl>
                                        <p:attrNameLst>
                                          <p:attrName>style.visibility</p:attrName>
                                        </p:attrNameLst>
                                      </p:cBhvr>
                                      <p:to>
                                        <p:strVal val="visible"/>
                                      </p:to>
                                    </p:set>
                                    <p:anim calcmode="lin" valueType="num">
                                      <p:cBhvr additive="base">
                                        <p:cTn id="39"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40" dur="500" decel="100000" fill="hold"/>
                                        <p:tgtEl>
                                          <p:spTgt spid="107"/>
                                        </p:tgtEl>
                                        <p:attrNameLst>
                                          <p:attrName>ppt_h</p:attrName>
                                        </p:attrNameLst>
                                      </p:cBhvr>
                                      <p:tavLst>
                                        <p:tav tm="0">
                                          <p:val>
                                            <p:strVal val="#ppt_h*0.55"/>
                                          </p:val>
                                        </p:tav>
                                        <p:tav tm="100000">
                                          <p:val>
                                            <p:strVal val="#ppt_h"/>
                                          </p:val>
                                        </p:tav>
                                      </p:tavLst>
                                    </p:anim>
                                    <p:animEffect transition="in" filter="fade">
                                      <p:cBhvr>
                                        <p:cTn id="41" dur="500"/>
                                        <p:tgtEl>
                                          <p:spTgt spid="107"/>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08"/>
                                        </p:tgtEl>
                                        <p:attrNameLst>
                                          <p:attrName>style.visibility</p:attrName>
                                        </p:attrNameLst>
                                      </p:cBhvr>
                                      <p:to>
                                        <p:strVal val="visible"/>
                                      </p:to>
                                    </p:set>
                                    <p:anim calcmode="lin" valueType="num">
                                      <p:cBhvr additive="base">
                                        <p:cTn id="44"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5" dur="500" decel="100000" fill="hold"/>
                                        <p:tgtEl>
                                          <p:spTgt spid="108"/>
                                        </p:tgtEl>
                                        <p:attrNameLst>
                                          <p:attrName>ppt_h</p:attrName>
                                        </p:attrNameLst>
                                      </p:cBhvr>
                                      <p:tavLst>
                                        <p:tav tm="0">
                                          <p:val>
                                            <p:strVal val="#ppt_h*0.55"/>
                                          </p:val>
                                        </p:tav>
                                        <p:tav tm="100000">
                                          <p:val>
                                            <p:strVal val="#ppt_h"/>
                                          </p:val>
                                        </p:tav>
                                      </p:tavLst>
                                    </p:anim>
                                    <p:animEffect transition="in" filter="fade">
                                      <p:cBhvr>
                                        <p:cTn id="46" dur="500"/>
                                        <p:tgtEl>
                                          <p:spTgt spid="108"/>
                                        </p:tgtEl>
                                      </p:cBhvr>
                                    </p:animEffect>
                                  </p:childTnLst>
                                </p:cTn>
                              </p:par>
                              <p:par>
                                <p:cTn id="47" presetID="53" presetClass="entr" presetSubtype="16" fill="hold" grpId="0" nodeType="withEffect">
                                  <p:stCondLst>
                                    <p:cond delay="0"/>
                                  </p:stCondLst>
                                  <p:childTnLst>
                                    <p:set>
                                      <p:cBhvr>
                                        <p:cTn id="48" dur="1" fill="hold">
                                          <p:stCondLst>
                                            <p:cond delay="0"/>
                                          </p:stCondLst>
                                        </p:cTn>
                                        <p:tgtEl>
                                          <p:spTgt spid="109"/>
                                        </p:tgtEl>
                                        <p:attrNameLst>
                                          <p:attrName>style.visibility</p:attrName>
                                        </p:attrNameLst>
                                      </p:cBhvr>
                                      <p:to>
                                        <p:strVal val="visible"/>
                                      </p:to>
                                    </p:set>
                                    <p:anim calcmode="lin" valueType="num">
                                      <p:cBhvr additive="base">
                                        <p:cTn id="49"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50" dur="500" decel="100000" fill="hold"/>
                                        <p:tgtEl>
                                          <p:spTgt spid="109"/>
                                        </p:tgtEl>
                                        <p:attrNameLst>
                                          <p:attrName>ppt_h</p:attrName>
                                        </p:attrNameLst>
                                      </p:cBhvr>
                                      <p:tavLst>
                                        <p:tav tm="0">
                                          <p:val>
                                            <p:strVal val="#ppt_h*0.55"/>
                                          </p:val>
                                        </p:tav>
                                        <p:tav tm="100000">
                                          <p:val>
                                            <p:strVal val="#ppt_h"/>
                                          </p:val>
                                        </p:tav>
                                      </p:tavLst>
                                    </p:anim>
                                    <p:animEffect transition="in" filter="fade">
                                      <p:cBhvr>
                                        <p:cTn id="51" dur="500"/>
                                        <p:tgtEl>
                                          <p:spTgt spid="109"/>
                                        </p:tgtEl>
                                      </p:cBhvr>
                                    </p:animEffect>
                                  </p:childTnLst>
                                </p:cTn>
                              </p:par>
                              <p:par>
                                <p:cTn id="52" presetID="53" presetClass="entr" presetSubtype="16" fill="hold" grpId="0" nodeType="withEffect">
                                  <p:stCondLst>
                                    <p:cond delay="0"/>
                                  </p:stCondLst>
                                  <p:childTnLst>
                                    <p:set>
                                      <p:cBhvr>
                                        <p:cTn id="53" dur="1" fill="hold">
                                          <p:stCondLst>
                                            <p:cond delay="0"/>
                                          </p:stCondLst>
                                        </p:cTn>
                                        <p:tgtEl>
                                          <p:spTgt spid="110"/>
                                        </p:tgtEl>
                                        <p:attrNameLst>
                                          <p:attrName>style.visibility</p:attrName>
                                        </p:attrNameLst>
                                      </p:cBhvr>
                                      <p:to>
                                        <p:strVal val="visible"/>
                                      </p:to>
                                    </p:set>
                                    <p:anim calcmode="lin" valueType="num">
                                      <p:cBhvr additive="base">
                                        <p:cTn id="54" dur="500" decel="100000" fill="hold"/>
                                        <p:tgtEl>
                                          <p:spTgt spid="110"/>
                                        </p:tgtEl>
                                        <p:attrNameLst>
                                          <p:attrName>ppt_w</p:attrName>
                                        </p:attrNameLst>
                                      </p:cBhvr>
                                      <p:tavLst>
                                        <p:tav tm="0">
                                          <p:val>
                                            <p:strVal val="#ppt_w*0.55"/>
                                          </p:val>
                                        </p:tav>
                                        <p:tav tm="100000">
                                          <p:val>
                                            <p:strVal val="#ppt_w"/>
                                          </p:val>
                                        </p:tav>
                                      </p:tavLst>
                                    </p:anim>
                                    <p:anim calcmode="lin" valueType="num">
                                      <p:cBhvr additive="base">
                                        <p:cTn id="55" dur="500" decel="100000" fill="hold"/>
                                        <p:tgtEl>
                                          <p:spTgt spid="110"/>
                                        </p:tgtEl>
                                        <p:attrNameLst>
                                          <p:attrName>ppt_h</p:attrName>
                                        </p:attrNameLst>
                                      </p:cBhvr>
                                      <p:tavLst>
                                        <p:tav tm="0">
                                          <p:val>
                                            <p:strVal val="#ppt_h*0.55"/>
                                          </p:val>
                                        </p:tav>
                                        <p:tav tm="100000">
                                          <p:val>
                                            <p:strVal val="#ppt_h"/>
                                          </p:val>
                                        </p:tav>
                                      </p:tavLst>
                                    </p:anim>
                                    <p:animEffect transition="in" filter="fade">
                                      <p:cBhvr>
                                        <p:cTn id="56" dur="500"/>
                                        <p:tgtEl>
                                          <p:spTgt spid="110"/>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111"/>
                                        </p:tgtEl>
                                        <p:attrNameLst>
                                          <p:attrName>style.visibility</p:attrName>
                                        </p:attrNameLst>
                                      </p:cBhvr>
                                      <p:to>
                                        <p:strVal val="visible"/>
                                      </p:to>
                                    </p:set>
                                    <p:anim calcmode="lin" valueType="num">
                                      <p:cBhvr additive="base">
                                        <p:cTn id="59" dur="500" decel="100000" fill="hold"/>
                                        <p:tgtEl>
                                          <p:spTgt spid="111"/>
                                        </p:tgtEl>
                                        <p:attrNameLst>
                                          <p:attrName>ppt_w</p:attrName>
                                        </p:attrNameLst>
                                      </p:cBhvr>
                                      <p:tavLst>
                                        <p:tav tm="0">
                                          <p:val>
                                            <p:strVal val="#ppt_w*0.55"/>
                                          </p:val>
                                        </p:tav>
                                        <p:tav tm="100000">
                                          <p:val>
                                            <p:strVal val="#ppt_w"/>
                                          </p:val>
                                        </p:tav>
                                      </p:tavLst>
                                    </p:anim>
                                    <p:anim calcmode="lin" valueType="num">
                                      <p:cBhvr additive="base">
                                        <p:cTn id="60" dur="500" decel="100000" fill="hold"/>
                                        <p:tgtEl>
                                          <p:spTgt spid="111"/>
                                        </p:tgtEl>
                                        <p:attrNameLst>
                                          <p:attrName>ppt_h</p:attrName>
                                        </p:attrNameLst>
                                      </p:cBhvr>
                                      <p:tavLst>
                                        <p:tav tm="0">
                                          <p:val>
                                            <p:strVal val="#ppt_h*0.55"/>
                                          </p:val>
                                        </p:tav>
                                        <p:tav tm="100000">
                                          <p:val>
                                            <p:strVal val="#ppt_h"/>
                                          </p:val>
                                        </p:tav>
                                      </p:tavLst>
                                    </p:anim>
                                    <p:animEffect transition="in" filter="fade">
                                      <p:cBhvr>
                                        <p:cTn id="61" dur="500"/>
                                        <p:tgtEl>
                                          <p:spTgt spid="111"/>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112"/>
                                        </p:tgtEl>
                                        <p:attrNameLst>
                                          <p:attrName>style.visibility</p:attrName>
                                        </p:attrNameLst>
                                      </p:cBhvr>
                                      <p:to>
                                        <p:strVal val="visible"/>
                                      </p:to>
                                    </p:set>
                                    <p:anim calcmode="lin" valueType="num">
                                      <p:cBhvr additive="base">
                                        <p:cTn id="64" dur="500" decel="100000" fill="hold"/>
                                        <p:tgtEl>
                                          <p:spTgt spid="112"/>
                                        </p:tgtEl>
                                        <p:attrNameLst>
                                          <p:attrName>ppt_w</p:attrName>
                                        </p:attrNameLst>
                                      </p:cBhvr>
                                      <p:tavLst>
                                        <p:tav tm="0">
                                          <p:val>
                                            <p:strVal val="#ppt_w*0.55"/>
                                          </p:val>
                                        </p:tav>
                                        <p:tav tm="100000">
                                          <p:val>
                                            <p:strVal val="#ppt_w"/>
                                          </p:val>
                                        </p:tav>
                                      </p:tavLst>
                                    </p:anim>
                                    <p:anim calcmode="lin" valueType="num">
                                      <p:cBhvr additive="base">
                                        <p:cTn id="65" dur="500" decel="100000" fill="hold"/>
                                        <p:tgtEl>
                                          <p:spTgt spid="112"/>
                                        </p:tgtEl>
                                        <p:attrNameLst>
                                          <p:attrName>ppt_h</p:attrName>
                                        </p:attrNameLst>
                                      </p:cBhvr>
                                      <p:tavLst>
                                        <p:tav tm="0">
                                          <p:val>
                                            <p:strVal val="#ppt_h*0.55"/>
                                          </p:val>
                                        </p:tav>
                                        <p:tav tm="100000">
                                          <p:val>
                                            <p:strVal val="#ppt_h"/>
                                          </p:val>
                                        </p:tav>
                                      </p:tavLst>
                                    </p:anim>
                                    <p:animEffect transition="in" filter="fade">
                                      <p:cBhvr>
                                        <p:cTn id="66" dur="500"/>
                                        <p:tgtEl>
                                          <p:spTgt spid="112"/>
                                        </p:tgtEl>
                                      </p:cBhvr>
                                    </p:animEffect>
                                  </p:childTnLst>
                                </p:cTn>
                              </p:par>
                            </p:childTnLst>
                          </p:cTn>
                        </p:par>
                      </p:childTnLst>
                    </p:cTn>
                  </p:par>
                  <p:par>
                    <p:cTn id="67" fill="hold">
                      <p:stCondLst>
                        <p:cond delay="indefinite"/>
                      </p:stCondLst>
                      <p:childTnLst>
                        <p:par>
                          <p:cTn id="68" fill="hold">
                            <p:stCondLst>
                              <p:cond delay="0"/>
                            </p:stCondLst>
                            <p:childTnLst>
                              <p:par>
                                <p:cTn id="69" presetID="42" presetClass="entr" presetSubtype="0" fill="hold" grpId="0" nodeType="clickEffect">
                                  <p:stCondLst>
                                    <p:cond delay="0"/>
                                  </p:stCondLst>
                                  <p:childTnLst>
                                    <p:set>
                                      <p:cBhvr>
                                        <p:cTn id="70" dur="1" fill="hold">
                                          <p:stCondLst>
                                            <p:cond delay="0"/>
                                          </p:stCondLst>
                                        </p:cTn>
                                        <p:tgtEl>
                                          <p:spTgt spid="113"/>
                                        </p:tgtEl>
                                        <p:attrNameLst>
                                          <p:attrName>style.visibility</p:attrName>
                                        </p:attrNameLst>
                                      </p:cBhvr>
                                      <p:to>
                                        <p:strVal val="visible"/>
                                      </p:to>
                                    </p:set>
                                    <p:animEffect transition="in" filter="fade">
                                      <p:cBhvr>
                                        <p:cTn id="71" dur="500"/>
                                        <p:tgtEl>
                                          <p:spTgt spid="113"/>
                                        </p:tgtEl>
                                      </p:cBhvr>
                                    </p:animEffect>
                                    <p:anim calcmode="lin" valueType="num">
                                      <p:cBhvr additive="base">
                                        <p:cTn id="72" dur="500" decel="100000" fill="hold"/>
                                        <p:tgtEl>
                                          <p:spTgt spid="113"/>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A78BFA">
              <a:alpha val="18000"/>
            </a:srgbClr>
          </a:solidFill>
          <a:ln w="12700">
            <a:solidFill>
              <a:srgbClr val="A78B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A78BFA"/>
                </a:solidFill>
                <a:latin typeface="Segoe UI"/>
                <a:ea typeface="Segoe UI"/>
                <a:cs typeface="Segoe UI"/>
              </a:rPr>
              <a:t>SCENE 9</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288</a:t>
            </a:r>
            <a:endParaRPr lang="en-US" sz="850" dirty="0"/>
          </a:p>
        </p:txBody>
      </p:sp>
      <p:sp>
        <p:nvSpPr>
          <p:cNvPr id="101" name="s101"/>
          <p:cNvSpPr txBox="1"/>
          <p:nvPr/>
        </p:nvSpPr>
        <p:spPr>
          <a:xfrm>
            <a:off x="497434" y="1051560"/>
            <a:ext cx="2743200" cy="12801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8800" b="1" dirty="0">
                <a:solidFill>
                  <a:srgbClr val="A78BFA"/>
                </a:solidFill>
                <a:latin typeface="Segoe UI"/>
                <a:ea typeface="Segoe UI"/>
                <a:cs typeface="Segoe UI"/>
              </a:rPr>
              <a:t>09</a:t>
            </a:r>
            <a:endParaRPr lang="en-US" sz="8800" dirty="0"/>
          </a:p>
        </p:txBody>
      </p:sp>
      <p:sp>
        <p:nvSpPr>
          <p:cNvPr id="102" name="s102"/>
          <p:cNvSpPr txBox="1"/>
          <p:nvPr/>
        </p:nvSpPr>
        <p:spPr>
          <a:xfrm>
            <a:off x="543154" y="2331720"/>
            <a:ext cx="11088014" cy="7772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Looking Back at Sprint 1</a:t>
            </a:r>
            <a:endParaRPr lang="en-US" sz="4000" dirty="0"/>
          </a:p>
        </p:txBody>
      </p:sp>
      <p:sp>
        <p:nvSpPr>
          <p:cNvPr id="103" name="s103"/>
          <p:cNvSpPr txBox="1"/>
          <p:nvPr/>
        </p:nvSpPr>
        <p:spPr>
          <a:xfrm>
            <a:off x="543154" y="3108960"/>
            <a:ext cx="1108801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800" b="0" dirty="0">
                <a:solidFill>
                  <a:srgbClr val="CBD5E1"/>
                </a:solidFill>
                <a:latin typeface="Segoe UI"/>
                <a:ea typeface="Segoe UI"/>
                <a:cs typeface="Segoe UI"/>
              </a:rPr>
              <a:t>What did we already practice, and how fast are we?</a:t>
            </a:r>
            <a:endParaRPr lang="en-US" sz="1800" dirty="0"/>
          </a:p>
        </p:txBody>
      </p:sp>
      <p:sp>
        <p:nvSpPr>
          <p:cNvPr id="104" name="s104"/>
          <p:cNvSpPr txBox="1"/>
          <p:nvPr/>
        </p:nvSpPr>
        <p:spPr>
          <a:xfrm>
            <a:off x="543154" y="393192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IN THIS SCENE</a:t>
            </a:r>
            <a:endParaRPr lang="en-US" sz="1100" dirty="0"/>
          </a:p>
        </p:txBody>
      </p:sp>
      <p:sp>
        <p:nvSpPr>
          <p:cNvPr id="105" name="s105"/>
          <p:cNvSpPr/>
          <p:nvPr/>
        </p:nvSpPr>
        <p:spPr>
          <a:xfrm>
            <a:off x="543154" y="4251960"/>
            <a:ext cx="2651760" cy="548640"/>
          </a:xfrm>
          <a:prstGeom prst="roundRect">
            <a:avLst>
              <a:gd name="adj" fmla="val 20000"/>
            </a:avLst>
          </a:prstGeom>
          <a:solidFill>
            <a:srgbClr val="A78BFA">
              <a:alpha val="14000"/>
            </a:srgbClr>
          </a:solidFill>
          <a:ln w="12700">
            <a:solidFill>
              <a:srgbClr val="A78B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Scrum values &amp; pillars</a:t>
            </a:r>
            <a:endParaRPr lang="en-US" sz="1350" dirty="0"/>
          </a:p>
        </p:txBody>
      </p:sp>
      <p:sp>
        <p:nvSpPr>
          <p:cNvPr id="106" name="s106"/>
          <p:cNvSpPr/>
          <p:nvPr/>
        </p:nvSpPr>
        <p:spPr>
          <a:xfrm>
            <a:off x="3377794" y="4251960"/>
            <a:ext cx="2651760" cy="548640"/>
          </a:xfrm>
          <a:prstGeom prst="roundRect">
            <a:avLst>
              <a:gd name="adj" fmla="val 20000"/>
            </a:avLst>
          </a:prstGeom>
          <a:solidFill>
            <a:srgbClr val="A78BFA">
              <a:alpha val="14000"/>
            </a:srgbClr>
          </a:solidFill>
          <a:ln w="12700">
            <a:solidFill>
              <a:srgbClr val="A78B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velocity</a:t>
            </a:r>
            <a:endParaRPr lang="en-US" sz="1350" dirty="0"/>
          </a:p>
        </p:txBody>
      </p:sp>
      <p:sp>
        <p:nvSpPr>
          <p:cNvPr id="107" name="s107"/>
          <p:cNvSpPr/>
          <p:nvPr/>
        </p:nvSpPr>
        <p:spPr>
          <a:xfrm>
            <a:off x="6212434" y="4251960"/>
            <a:ext cx="2651760" cy="548640"/>
          </a:xfrm>
          <a:prstGeom prst="roundRect">
            <a:avLst>
              <a:gd name="adj" fmla="val 20000"/>
            </a:avLst>
          </a:prstGeom>
          <a:solidFill>
            <a:srgbClr val="A78BFA">
              <a:alpha val="14000"/>
            </a:srgbClr>
          </a:solidFill>
          <a:ln w="12700">
            <a:solidFill>
              <a:srgbClr val="A78BFA"/>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burndown</a:t>
            </a:r>
            <a:endParaRPr lang="en-US" sz="1350" dirty="0"/>
          </a:p>
        </p:txBody>
      </p:sp>
      <p:sp>
        <p:nvSpPr>
          <p:cNvPr id="108" name="s108"/>
          <p:cNvSpPr/>
          <p:nvPr/>
        </p:nvSpPr>
        <p:spPr>
          <a:xfrm>
            <a:off x="543154"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1</a:t>
            </a:r>
            <a:endParaRPr lang="en-US" sz="1300" dirty="0"/>
          </a:p>
        </p:txBody>
      </p:sp>
      <p:sp>
        <p:nvSpPr>
          <p:cNvPr id="109" name="s109"/>
          <p:cNvSpPr/>
          <p:nvPr/>
        </p:nvSpPr>
        <p:spPr>
          <a:xfrm>
            <a:off x="1659270" y="5669280"/>
            <a:ext cx="1042965" cy="457200"/>
          </a:xfrm>
          <a:prstGeom prst="roundRect">
            <a:avLst>
              <a:gd name="adj" fmla="val 20000"/>
            </a:avLst>
          </a:prstGeom>
          <a:solidFill>
            <a:srgbClr val="111B2E"/>
          </a:solidFill>
          <a:ln w="12700">
            <a:solidFill>
              <a:srgbClr val="FBBF24"/>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2</a:t>
            </a:r>
            <a:endParaRPr lang="en-US" sz="1300" dirty="0"/>
          </a:p>
        </p:txBody>
      </p:sp>
      <p:sp>
        <p:nvSpPr>
          <p:cNvPr id="110" name="s110"/>
          <p:cNvSpPr/>
          <p:nvPr/>
        </p:nvSpPr>
        <p:spPr>
          <a:xfrm>
            <a:off x="2775387" y="5669280"/>
            <a:ext cx="1042965" cy="457200"/>
          </a:xfrm>
          <a:prstGeom prst="roundRect">
            <a:avLst>
              <a:gd name="adj" fmla="val 20000"/>
            </a:avLst>
          </a:prstGeom>
          <a:solidFill>
            <a:srgbClr val="111B2E"/>
          </a:solidFill>
          <a:ln w="12700">
            <a:solidFill>
              <a:srgbClr val="A78B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A78BFA"/>
                </a:solidFill>
                <a:latin typeface="Segoe UI"/>
                <a:ea typeface="Segoe UI"/>
                <a:cs typeface="Segoe UI"/>
              </a:rPr>
              <a:t>3</a:t>
            </a:r>
            <a:endParaRPr lang="en-US" sz="1300" dirty="0"/>
          </a:p>
        </p:txBody>
      </p:sp>
      <p:sp>
        <p:nvSpPr>
          <p:cNvPr id="111" name="s111"/>
          <p:cNvSpPr/>
          <p:nvPr/>
        </p:nvSpPr>
        <p:spPr>
          <a:xfrm>
            <a:off x="3891504" y="5669280"/>
            <a:ext cx="1042965" cy="457200"/>
          </a:xfrm>
          <a:prstGeom prst="roundRect">
            <a:avLst>
              <a:gd name="adj" fmla="val 20000"/>
            </a:avLst>
          </a:prstGeom>
          <a:solidFill>
            <a:srgbClr val="111B2E"/>
          </a:solidFill>
          <a:ln w="12700">
            <a:solidFill>
              <a:srgbClr val="13D0F7"/>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13D0F7"/>
                </a:solidFill>
                <a:latin typeface="Segoe UI"/>
                <a:ea typeface="Segoe UI"/>
                <a:cs typeface="Segoe UI"/>
              </a:rPr>
              <a:t>4</a:t>
            </a:r>
            <a:endParaRPr lang="en-US" sz="1300" dirty="0"/>
          </a:p>
        </p:txBody>
      </p:sp>
      <p:sp>
        <p:nvSpPr>
          <p:cNvPr id="112" name="s112"/>
          <p:cNvSpPr/>
          <p:nvPr/>
        </p:nvSpPr>
        <p:spPr>
          <a:xfrm>
            <a:off x="5007620" y="5669280"/>
            <a:ext cx="1042965" cy="457200"/>
          </a:xfrm>
          <a:prstGeom prst="roundRect">
            <a:avLst>
              <a:gd name="adj" fmla="val 20000"/>
            </a:avLst>
          </a:prstGeom>
          <a:solidFill>
            <a:srgbClr val="111B2E"/>
          </a:solidFill>
          <a:ln w="12700">
            <a:solidFill>
              <a:srgbClr val="34D399"/>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34D399"/>
                </a:solidFill>
                <a:latin typeface="Segoe UI"/>
                <a:ea typeface="Segoe UI"/>
                <a:cs typeface="Segoe UI"/>
              </a:rPr>
              <a:t>5</a:t>
            </a:r>
            <a:endParaRPr lang="en-US" sz="1300" dirty="0"/>
          </a:p>
        </p:txBody>
      </p:sp>
      <p:sp>
        <p:nvSpPr>
          <p:cNvPr id="113" name="s113"/>
          <p:cNvSpPr/>
          <p:nvPr/>
        </p:nvSpPr>
        <p:spPr>
          <a:xfrm>
            <a:off x="6123737"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6</a:t>
            </a:r>
            <a:endParaRPr lang="en-US" sz="1300" dirty="0"/>
          </a:p>
        </p:txBody>
      </p:sp>
      <p:sp>
        <p:nvSpPr>
          <p:cNvPr id="114" name="s114"/>
          <p:cNvSpPr/>
          <p:nvPr/>
        </p:nvSpPr>
        <p:spPr>
          <a:xfrm>
            <a:off x="7239853" y="5669280"/>
            <a:ext cx="1042965" cy="457200"/>
          </a:xfrm>
          <a:prstGeom prst="roundRect">
            <a:avLst>
              <a:gd name="adj" fmla="val 20000"/>
            </a:avLst>
          </a:prstGeom>
          <a:solidFill>
            <a:srgbClr val="111B2E"/>
          </a:solidFill>
          <a:ln w="12700">
            <a:solidFill>
              <a:srgbClr val="F87171"/>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87171"/>
                </a:solidFill>
                <a:latin typeface="Segoe UI"/>
                <a:ea typeface="Segoe UI"/>
                <a:cs typeface="Segoe UI"/>
              </a:rPr>
              <a:t>7</a:t>
            </a:r>
            <a:endParaRPr lang="en-US" sz="1300" dirty="0"/>
          </a:p>
        </p:txBody>
      </p:sp>
      <p:sp>
        <p:nvSpPr>
          <p:cNvPr id="115" name="s115"/>
          <p:cNvSpPr/>
          <p:nvPr/>
        </p:nvSpPr>
        <p:spPr>
          <a:xfrm>
            <a:off x="8355970" y="5669280"/>
            <a:ext cx="1042965" cy="457200"/>
          </a:xfrm>
          <a:prstGeom prst="roundRect">
            <a:avLst>
              <a:gd name="adj" fmla="val 20000"/>
            </a:avLst>
          </a:prstGeom>
          <a:solidFill>
            <a:srgbClr val="111B2E"/>
          </a:solidFill>
          <a:ln w="12700">
            <a:solidFill>
              <a:srgbClr val="FBBF24"/>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8</a:t>
            </a:r>
            <a:endParaRPr lang="en-US" sz="1300" dirty="0"/>
          </a:p>
        </p:txBody>
      </p:sp>
      <p:sp>
        <p:nvSpPr>
          <p:cNvPr id="116" name="s116"/>
          <p:cNvSpPr/>
          <p:nvPr/>
        </p:nvSpPr>
        <p:spPr>
          <a:xfrm>
            <a:off x="9472087" y="5669280"/>
            <a:ext cx="1042965" cy="457200"/>
          </a:xfrm>
          <a:prstGeom prst="roundRect">
            <a:avLst>
              <a:gd name="adj" fmla="val 20000"/>
            </a:avLst>
          </a:prstGeom>
          <a:solidFill>
            <a:srgbClr val="A78BFA"/>
          </a:solidFill>
          <a:ln w="19050">
            <a:solidFill>
              <a:srgbClr val="A78B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9</a:t>
            </a:r>
            <a:endParaRPr lang="en-US" sz="1300" dirty="0"/>
          </a:p>
        </p:txBody>
      </p:sp>
      <p:sp>
        <p:nvSpPr>
          <p:cNvPr id="117" name="s117"/>
          <p:cNvSpPr/>
          <p:nvPr/>
        </p:nvSpPr>
        <p:spPr>
          <a:xfrm>
            <a:off x="10588203" y="5669280"/>
            <a:ext cx="1042965" cy="457200"/>
          </a:xfrm>
          <a:prstGeom prst="roundRect">
            <a:avLst>
              <a:gd name="adj" fmla="val 20000"/>
            </a:avLst>
          </a:prstGeom>
          <a:solidFill>
            <a:srgbClr val="111B2E"/>
          </a:solidFill>
          <a:ln w="12700">
            <a:solidFill>
              <a:srgbClr val="1E3A5F"/>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4748B"/>
                </a:solidFill>
                <a:latin typeface="Segoe UI"/>
                <a:ea typeface="Segoe UI"/>
                <a:cs typeface="Segoe UI"/>
              </a:rPr>
              <a:t>10</a:t>
            </a:r>
            <a:endParaRPr lang="en-US" sz="13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1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anim calcmode="lin" valueType="num">
                                      <p:cBhvr additive="base">
                                        <p:cTn id="15" dur="5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2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10" presetClass="entr" presetSubtype="0" fill="hold" grpId="0" nodeType="withEffect">
                                  <p:stCondLst>
                                    <p:cond delay="33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childTnLst>
                                </p:cTn>
                              </p:par>
                              <p:par>
                                <p:cTn id="23" presetID="42" presetClass="entr" presetSubtype="0" fill="hold" grpId="0" nodeType="withEffect">
                                  <p:stCondLst>
                                    <p:cond delay="44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55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42" presetClass="entr" presetSubtype="0" fill="hold" grpId="0" nodeType="withEffect">
                                  <p:stCondLst>
                                    <p:cond delay="66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par>
                                <p:cTn id="35" presetID="10" presetClass="entr" presetSubtype="0" fill="hold" grpId="0" nodeType="withEffect">
                                  <p:stCondLst>
                                    <p:cond delay="76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76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76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76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76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par>
                                <p:cTn id="50" presetID="10" presetClass="entr" presetSubtype="0" fill="hold" grpId="0" nodeType="withEffect">
                                  <p:stCondLst>
                                    <p:cond delay="760"/>
                                  </p:stCondLst>
                                  <p:childTnLst>
                                    <p:set>
                                      <p:cBhvr>
                                        <p:cTn id="51" dur="1" fill="hold">
                                          <p:stCondLst>
                                            <p:cond delay="0"/>
                                          </p:stCondLst>
                                        </p:cTn>
                                        <p:tgtEl>
                                          <p:spTgt spid="113"/>
                                        </p:tgtEl>
                                        <p:attrNameLst>
                                          <p:attrName>style.visibility</p:attrName>
                                        </p:attrNameLst>
                                      </p:cBhvr>
                                      <p:to>
                                        <p:strVal val="visible"/>
                                      </p:to>
                                    </p:set>
                                    <p:animEffect transition="in" filter="fade">
                                      <p:cBhvr>
                                        <p:cTn id="52" dur="500"/>
                                        <p:tgtEl>
                                          <p:spTgt spid="113"/>
                                        </p:tgtEl>
                                      </p:cBhvr>
                                    </p:animEffect>
                                  </p:childTnLst>
                                </p:cTn>
                              </p:par>
                              <p:par>
                                <p:cTn id="53" presetID="10" presetClass="entr" presetSubtype="0" fill="hold" grpId="0" nodeType="withEffect">
                                  <p:stCondLst>
                                    <p:cond delay="760"/>
                                  </p:stCondLst>
                                  <p:childTnLst>
                                    <p:set>
                                      <p:cBhvr>
                                        <p:cTn id="54" dur="1" fill="hold">
                                          <p:stCondLst>
                                            <p:cond delay="0"/>
                                          </p:stCondLst>
                                        </p:cTn>
                                        <p:tgtEl>
                                          <p:spTgt spid="114"/>
                                        </p:tgtEl>
                                        <p:attrNameLst>
                                          <p:attrName>style.visibility</p:attrName>
                                        </p:attrNameLst>
                                      </p:cBhvr>
                                      <p:to>
                                        <p:strVal val="visible"/>
                                      </p:to>
                                    </p:set>
                                    <p:animEffect transition="in" filter="fade">
                                      <p:cBhvr>
                                        <p:cTn id="55" dur="500"/>
                                        <p:tgtEl>
                                          <p:spTgt spid="114"/>
                                        </p:tgtEl>
                                      </p:cBhvr>
                                    </p:animEffect>
                                  </p:childTnLst>
                                </p:cTn>
                              </p:par>
                              <p:par>
                                <p:cTn id="56" presetID="10" presetClass="entr" presetSubtype="0" fill="hold" grpId="0" nodeType="withEffect">
                                  <p:stCondLst>
                                    <p:cond delay="760"/>
                                  </p:stCondLst>
                                  <p:childTnLst>
                                    <p:set>
                                      <p:cBhvr>
                                        <p:cTn id="57" dur="1" fill="hold">
                                          <p:stCondLst>
                                            <p:cond delay="0"/>
                                          </p:stCondLst>
                                        </p:cTn>
                                        <p:tgtEl>
                                          <p:spTgt spid="115"/>
                                        </p:tgtEl>
                                        <p:attrNameLst>
                                          <p:attrName>style.visibility</p:attrName>
                                        </p:attrNameLst>
                                      </p:cBhvr>
                                      <p:to>
                                        <p:strVal val="visible"/>
                                      </p:to>
                                    </p:set>
                                    <p:animEffect transition="in" filter="fade">
                                      <p:cBhvr>
                                        <p:cTn id="58" dur="500"/>
                                        <p:tgtEl>
                                          <p:spTgt spid="115"/>
                                        </p:tgtEl>
                                      </p:cBhvr>
                                    </p:animEffect>
                                  </p:childTnLst>
                                </p:cTn>
                              </p:par>
                              <p:par>
                                <p:cTn id="59" presetID="10" presetClass="entr" presetSubtype="0" fill="hold" grpId="0" nodeType="withEffect">
                                  <p:stCondLst>
                                    <p:cond delay="760"/>
                                  </p:stCondLst>
                                  <p:childTnLst>
                                    <p:set>
                                      <p:cBhvr>
                                        <p:cTn id="60" dur="1" fill="hold">
                                          <p:stCondLst>
                                            <p:cond delay="0"/>
                                          </p:stCondLst>
                                        </p:cTn>
                                        <p:tgtEl>
                                          <p:spTgt spid="116"/>
                                        </p:tgtEl>
                                        <p:attrNameLst>
                                          <p:attrName>style.visibility</p:attrName>
                                        </p:attrNameLst>
                                      </p:cBhvr>
                                      <p:to>
                                        <p:strVal val="visible"/>
                                      </p:to>
                                    </p:set>
                                    <p:animEffect transition="in" filter="fade">
                                      <p:cBhvr>
                                        <p:cTn id="61" dur="500"/>
                                        <p:tgtEl>
                                          <p:spTgt spid="116"/>
                                        </p:tgtEl>
                                      </p:cBhvr>
                                    </p:animEffect>
                                  </p:childTnLst>
                                </p:cTn>
                              </p:par>
                              <p:par>
                                <p:cTn id="62" presetID="10" presetClass="entr" presetSubtype="0" fill="hold" grpId="0" nodeType="withEffect">
                                  <p:stCondLst>
                                    <p:cond delay="760"/>
                                  </p:stCondLst>
                                  <p:childTnLst>
                                    <p:set>
                                      <p:cBhvr>
                                        <p:cTn id="63" dur="1" fill="hold">
                                          <p:stCondLst>
                                            <p:cond delay="0"/>
                                          </p:stCondLst>
                                        </p:cTn>
                                        <p:tgtEl>
                                          <p:spTgt spid="117"/>
                                        </p:tgtEl>
                                        <p:attrNameLst>
                                          <p:attrName>style.visibility</p:attrName>
                                        </p:attrNameLst>
                                      </p:cBhvr>
                                      <p:to>
                                        <p:strVal val="visible"/>
                                      </p:to>
                                    </p:set>
                                    <p:animEffect transition="in" filter="fade">
                                      <p:cBhvr>
                                        <p:cTn id="64"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VALUES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Scrum Values Were Already Happening</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Connect each value to a Care Hospital moment, not to an isolated poster.</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VALUES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289</a:t>
            </a:r>
            <a:endParaRPr lang="en-US" sz="850" dirty="0"/>
          </a:p>
        </p:txBody>
      </p:sp>
      <p:sp>
        <p:nvSpPr>
          <p:cNvPr id="101" name="s101"/>
          <p:cNvSpPr/>
          <p:nvPr/>
        </p:nvSpPr>
        <p:spPr>
          <a:xfrm>
            <a:off x="543154" y="1920240"/>
            <a:ext cx="11088014" cy="64008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2" name="s102"/>
          <p:cNvSpPr/>
          <p:nvPr/>
        </p:nvSpPr>
        <p:spPr>
          <a:xfrm>
            <a:off x="680314" y="2011680"/>
            <a:ext cx="457200" cy="45720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790042" y="2121408"/>
            <a:ext cx="237744" cy="237744"/>
          </a:xfrm>
          <a:prstGeom prst="rect">
            <a:avLst/>
          </a:prstGeom>
        </p:spPr>
      </p:pic>
      <p:sp>
        <p:nvSpPr>
          <p:cNvPr id="104" name="s104"/>
          <p:cNvSpPr txBox="1"/>
          <p:nvPr/>
        </p:nvSpPr>
        <p:spPr>
          <a:xfrm>
            <a:off x="1320394" y="1920240"/>
            <a:ext cx="2194560"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13D0F7"/>
                </a:solidFill>
                <a:latin typeface="Segoe UI"/>
                <a:ea typeface="Segoe UI"/>
                <a:cs typeface="Segoe UI"/>
              </a:rPr>
              <a:t>Commitment</a:t>
            </a:r>
            <a:endParaRPr lang="en-US" sz="1600" dirty="0"/>
          </a:p>
        </p:txBody>
      </p:sp>
      <p:sp>
        <p:nvSpPr>
          <p:cNvPr id="105" name="s105"/>
          <p:cNvSpPr txBox="1"/>
          <p:nvPr/>
        </p:nvSpPr>
        <p:spPr>
          <a:xfrm>
            <a:off x="3560674" y="1920240"/>
            <a:ext cx="7887614"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To the Sprint Goal and to quality.</a:t>
            </a:r>
            <a:endParaRPr lang="en-US" sz="1400" dirty="0"/>
          </a:p>
        </p:txBody>
      </p:sp>
      <p:sp>
        <p:nvSpPr>
          <p:cNvPr id="106" name="s106"/>
          <p:cNvSpPr/>
          <p:nvPr/>
        </p:nvSpPr>
        <p:spPr>
          <a:xfrm>
            <a:off x="543154" y="2670048"/>
            <a:ext cx="11088014" cy="64008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7" name="s107"/>
          <p:cNvSpPr/>
          <p:nvPr/>
        </p:nvSpPr>
        <p:spPr>
          <a:xfrm>
            <a:off x="680314" y="2761488"/>
            <a:ext cx="457200" cy="45720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08" name="img108"/>
          <p:cNvPicPr>
            <a:picLocks noChangeAspect="1"/>
          </p:cNvPicPr>
          <p:nvPr/>
        </p:nvPicPr>
        <p:blipFill>
          <a:blip r:embed="rId5"/>
          <a:stretch>
            <a:fillRect/>
          </a:stretch>
        </p:blipFill>
        <p:spPr>
          <a:xfrm>
            <a:off x="790042" y="2871216"/>
            <a:ext cx="237744" cy="237744"/>
          </a:xfrm>
          <a:prstGeom prst="rect">
            <a:avLst/>
          </a:prstGeom>
        </p:spPr>
      </p:pic>
      <p:sp>
        <p:nvSpPr>
          <p:cNvPr id="109" name="s109"/>
          <p:cNvSpPr txBox="1"/>
          <p:nvPr/>
        </p:nvSpPr>
        <p:spPr>
          <a:xfrm>
            <a:off x="1320394" y="2670048"/>
            <a:ext cx="2194560"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34D399"/>
                </a:solidFill>
                <a:latin typeface="Segoe UI"/>
                <a:ea typeface="Segoe UI"/>
                <a:cs typeface="Segoe UI"/>
              </a:rPr>
              <a:t>Focus</a:t>
            </a:r>
            <a:endParaRPr lang="en-US" sz="1600" dirty="0"/>
          </a:p>
        </p:txBody>
      </p:sp>
      <p:sp>
        <p:nvSpPr>
          <p:cNvPr id="110" name="s110"/>
          <p:cNvSpPr txBox="1"/>
          <p:nvPr/>
        </p:nvSpPr>
        <p:spPr>
          <a:xfrm>
            <a:off x="3560674" y="2670048"/>
            <a:ext cx="7887614"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Protecting the booking goal from side requests.</a:t>
            </a:r>
            <a:endParaRPr lang="en-US" sz="1400" dirty="0"/>
          </a:p>
        </p:txBody>
      </p:sp>
      <p:sp>
        <p:nvSpPr>
          <p:cNvPr id="111" name="s111"/>
          <p:cNvSpPr/>
          <p:nvPr/>
        </p:nvSpPr>
        <p:spPr>
          <a:xfrm>
            <a:off x="543154" y="3419856"/>
            <a:ext cx="11088014" cy="64008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2" name="s112"/>
          <p:cNvSpPr/>
          <p:nvPr/>
        </p:nvSpPr>
        <p:spPr>
          <a:xfrm>
            <a:off x="680314" y="3511296"/>
            <a:ext cx="457200" cy="45720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3" name="img113"/>
          <p:cNvPicPr>
            <a:picLocks noChangeAspect="1"/>
          </p:cNvPicPr>
          <p:nvPr/>
        </p:nvPicPr>
        <p:blipFill>
          <a:blip r:embed="rId6"/>
          <a:stretch>
            <a:fillRect/>
          </a:stretch>
        </p:blipFill>
        <p:spPr>
          <a:xfrm>
            <a:off x="790042" y="3621024"/>
            <a:ext cx="237744" cy="237744"/>
          </a:xfrm>
          <a:prstGeom prst="rect">
            <a:avLst/>
          </a:prstGeom>
        </p:spPr>
      </p:pic>
      <p:sp>
        <p:nvSpPr>
          <p:cNvPr id="114" name="s114"/>
          <p:cNvSpPr txBox="1"/>
          <p:nvPr/>
        </p:nvSpPr>
        <p:spPr>
          <a:xfrm>
            <a:off x="1320394" y="3419856"/>
            <a:ext cx="2194560"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FBBF24"/>
                </a:solidFill>
                <a:latin typeface="Segoe UI"/>
                <a:ea typeface="Segoe UI"/>
                <a:cs typeface="Segoe UI"/>
              </a:rPr>
              <a:t>Openness</a:t>
            </a:r>
            <a:endParaRPr lang="en-US" sz="1600" dirty="0"/>
          </a:p>
        </p:txBody>
      </p:sp>
      <p:sp>
        <p:nvSpPr>
          <p:cNvPr id="115" name="s115"/>
          <p:cNvSpPr txBox="1"/>
          <p:nvPr/>
        </p:nvSpPr>
        <p:spPr>
          <a:xfrm>
            <a:off x="3560674" y="3419856"/>
            <a:ext cx="7887614"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Omar reports the concurrency risk early.</a:t>
            </a:r>
            <a:endParaRPr lang="en-US" sz="1400" dirty="0"/>
          </a:p>
        </p:txBody>
      </p:sp>
      <p:sp>
        <p:nvSpPr>
          <p:cNvPr id="116" name="s116"/>
          <p:cNvSpPr/>
          <p:nvPr/>
        </p:nvSpPr>
        <p:spPr>
          <a:xfrm>
            <a:off x="543154" y="4169664"/>
            <a:ext cx="11088014" cy="64008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7" name="s117"/>
          <p:cNvSpPr/>
          <p:nvPr/>
        </p:nvSpPr>
        <p:spPr>
          <a:xfrm>
            <a:off x="680314" y="4261104"/>
            <a:ext cx="457200" cy="457200"/>
          </a:xfrm>
          <a:prstGeom prst="ellipse">
            <a:avLst/>
          </a:prstGeom>
          <a:solidFill>
            <a:srgbClr val="F472B6">
              <a:alpha val="16000"/>
            </a:srgbClr>
          </a:solidFill>
          <a:ln w="12700">
            <a:solidFill>
              <a:srgbClr val="F472B6">
                <a:alpha val="55000"/>
              </a:srgbClr>
            </a:solidFill>
            <a:prstDash val="solid"/>
          </a:ln>
        </p:spPr>
        <p:txBody>
          <a:bodyPr wrap="square" lIns="164592" tIns="109728" rIns="137160" bIns="91440" rtlCol="0" anchor="t">
            <a:noAutofit/>
          </a:bodyPr>
          <a:lstStyle/>
          <a:p>
            <a:endParaRPr lang="en-US"/>
          </a:p>
        </p:txBody>
      </p:sp>
      <p:pic>
        <p:nvPicPr>
          <p:cNvPr id="118" name="img118"/>
          <p:cNvPicPr>
            <a:picLocks noChangeAspect="1"/>
          </p:cNvPicPr>
          <p:nvPr/>
        </p:nvPicPr>
        <p:blipFill>
          <a:blip r:embed="rId7"/>
          <a:stretch>
            <a:fillRect/>
          </a:stretch>
        </p:blipFill>
        <p:spPr>
          <a:xfrm>
            <a:off x="790042" y="4370832"/>
            <a:ext cx="237744" cy="237744"/>
          </a:xfrm>
          <a:prstGeom prst="rect">
            <a:avLst/>
          </a:prstGeom>
        </p:spPr>
      </p:pic>
      <p:sp>
        <p:nvSpPr>
          <p:cNvPr id="119" name="s119"/>
          <p:cNvSpPr txBox="1"/>
          <p:nvPr/>
        </p:nvSpPr>
        <p:spPr>
          <a:xfrm>
            <a:off x="1320394" y="4169664"/>
            <a:ext cx="2194560"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F472B6"/>
                </a:solidFill>
                <a:latin typeface="Segoe UI"/>
                <a:ea typeface="Segoe UI"/>
                <a:cs typeface="Segoe UI"/>
              </a:rPr>
              <a:t>Respect</a:t>
            </a:r>
            <a:endParaRPr lang="en-US" sz="1600" dirty="0"/>
          </a:p>
        </p:txBody>
      </p:sp>
      <p:sp>
        <p:nvSpPr>
          <p:cNvPr id="120" name="s120"/>
          <p:cNvSpPr txBox="1"/>
          <p:nvPr/>
        </p:nvSpPr>
        <p:spPr>
          <a:xfrm>
            <a:off x="3560674" y="4169664"/>
            <a:ext cx="7887614"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The team listens to Maya’s testing concerns.</a:t>
            </a:r>
            <a:endParaRPr lang="en-US" sz="1400" dirty="0"/>
          </a:p>
        </p:txBody>
      </p:sp>
      <p:sp>
        <p:nvSpPr>
          <p:cNvPr id="121" name="s121"/>
          <p:cNvSpPr/>
          <p:nvPr/>
        </p:nvSpPr>
        <p:spPr>
          <a:xfrm>
            <a:off x="543154" y="4919472"/>
            <a:ext cx="11088014" cy="640080"/>
          </a:xfrm>
          <a:prstGeom prst="roundRect">
            <a:avLst>
              <a:gd name="adj" fmla="val 15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2" name="s122"/>
          <p:cNvSpPr/>
          <p:nvPr/>
        </p:nvSpPr>
        <p:spPr>
          <a:xfrm>
            <a:off x="680314" y="5010912"/>
            <a:ext cx="457200" cy="457200"/>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8"/>
          <a:stretch>
            <a:fillRect/>
          </a:stretch>
        </p:blipFill>
        <p:spPr>
          <a:xfrm>
            <a:off x="790042" y="5120640"/>
            <a:ext cx="237744" cy="237744"/>
          </a:xfrm>
          <a:prstGeom prst="rect">
            <a:avLst/>
          </a:prstGeom>
        </p:spPr>
      </p:pic>
      <p:sp>
        <p:nvSpPr>
          <p:cNvPr id="124" name="s124"/>
          <p:cNvSpPr txBox="1"/>
          <p:nvPr/>
        </p:nvSpPr>
        <p:spPr>
          <a:xfrm>
            <a:off x="1320394" y="4919472"/>
            <a:ext cx="2194560"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600" b="1" dirty="0">
                <a:solidFill>
                  <a:srgbClr val="A78BFA"/>
                </a:solidFill>
                <a:latin typeface="Segoe UI"/>
                <a:ea typeface="Segoe UI"/>
                <a:cs typeface="Segoe UI"/>
              </a:rPr>
              <a:t>Courage</a:t>
            </a:r>
            <a:endParaRPr lang="en-US" sz="1600" dirty="0"/>
          </a:p>
        </p:txBody>
      </p:sp>
      <p:sp>
        <p:nvSpPr>
          <p:cNvPr id="125" name="s125"/>
          <p:cNvSpPr txBox="1"/>
          <p:nvPr/>
        </p:nvSpPr>
        <p:spPr>
          <a:xfrm>
            <a:off x="3560674" y="4919472"/>
            <a:ext cx="7887614"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400" b="0" dirty="0">
                <a:solidFill>
                  <a:srgbClr val="FFFFFF"/>
                </a:solidFill>
                <a:latin typeface="Segoe UI"/>
                <a:ea typeface="Segoe UI"/>
                <a:cs typeface="Segoe UI"/>
              </a:rPr>
              <a:t>Telling the PO that insurance cannot safely fit.</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wipe(left)">
                                      <p:cBhvr>
                                        <p:cTn id="7" dur="550"/>
                                        <p:tgtEl>
                                          <p:spTgt spid="10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02"/>
                                        </p:tgtEl>
                                        <p:attrNameLst>
                                          <p:attrName>style.visibility</p:attrName>
                                        </p:attrNameLst>
                                      </p:cBhvr>
                                      <p:to>
                                        <p:strVal val="visible"/>
                                      </p:to>
                                    </p:set>
                                    <p:animEffect transition="in" filter="wipe(left)">
                                      <p:cBhvr>
                                        <p:cTn id="10" dur="550"/>
                                        <p:tgtEl>
                                          <p:spTgt spid="102"/>
                                        </p:tgtEl>
                                      </p:cBhvr>
                                    </p:animEffect>
                                  </p:childTnLst>
                                </p:cTn>
                              </p:par>
                              <p:par>
                                <p:cTn id="11" presetID="22" presetClass="entr" presetSubtype="8" fill="hold" nodeType="withEffect">
                                  <p:stCondLst>
                                    <p:cond delay="0"/>
                                  </p:stCondLst>
                                  <p:childTnLst>
                                    <p:set>
                                      <p:cBhvr>
                                        <p:cTn id="12" dur="1" fill="hold">
                                          <p:stCondLst>
                                            <p:cond delay="0"/>
                                          </p:stCondLst>
                                        </p:cTn>
                                        <p:tgtEl>
                                          <p:spTgt spid="103"/>
                                        </p:tgtEl>
                                        <p:attrNameLst>
                                          <p:attrName>style.visibility</p:attrName>
                                        </p:attrNameLst>
                                      </p:cBhvr>
                                      <p:to>
                                        <p:strVal val="visible"/>
                                      </p:to>
                                    </p:set>
                                    <p:animEffect transition="in" filter="wipe(left)">
                                      <p:cBhvr>
                                        <p:cTn id="13" dur="550"/>
                                        <p:tgtEl>
                                          <p:spTgt spid="103"/>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04"/>
                                        </p:tgtEl>
                                        <p:attrNameLst>
                                          <p:attrName>style.visibility</p:attrName>
                                        </p:attrNameLst>
                                      </p:cBhvr>
                                      <p:to>
                                        <p:strVal val="visible"/>
                                      </p:to>
                                    </p:set>
                                    <p:animEffect transition="in" filter="wipe(left)">
                                      <p:cBhvr>
                                        <p:cTn id="16" dur="550"/>
                                        <p:tgtEl>
                                          <p:spTgt spid="104"/>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wipe(left)">
                                      <p:cBhvr>
                                        <p:cTn id="19" dur="550"/>
                                        <p:tgtEl>
                                          <p:spTgt spid="105"/>
                                        </p:tgtEl>
                                      </p:cBhvr>
                                    </p:animEffect>
                                  </p:childTnLst>
                                </p:cTn>
                              </p:par>
                              <p:par>
                                <p:cTn id="20" presetID="22" presetClass="entr" presetSubtype="8" fill="hold" grpId="0" nodeType="withEffect">
                                  <p:stCondLst>
                                    <p:cond delay="200"/>
                                  </p:stCondLst>
                                  <p:childTnLst>
                                    <p:set>
                                      <p:cBhvr>
                                        <p:cTn id="21" dur="1" fill="hold">
                                          <p:stCondLst>
                                            <p:cond delay="0"/>
                                          </p:stCondLst>
                                        </p:cTn>
                                        <p:tgtEl>
                                          <p:spTgt spid="106"/>
                                        </p:tgtEl>
                                        <p:attrNameLst>
                                          <p:attrName>style.visibility</p:attrName>
                                        </p:attrNameLst>
                                      </p:cBhvr>
                                      <p:to>
                                        <p:strVal val="visible"/>
                                      </p:to>
                                    </p:set>
                                    <p:animEffect transition="in" filter="wipe(left)">
                                      <p:cBhvr>
                                        <p:cTn id="22" dur="550"/>
                                        <p:tgtEl>
                                          <p:spTgt spid="106"/>
                                        </p:tgtEl>
                                      </p:cBhvr>
                                    </p:animEffect>
                                  </p:childTnLst>
                                </p:cTn>
                              </p:par>
                              <p:par>
                                <p:cTn id="23" presetID="22" presetClass="entr" presetSubtype="8" fill="hold" grpId="0" nodeType="withEffect">
                                  <p:stCondLst>
                                    <p:cond delay="200"/>
                                  </p:stCondLst>
                                  <p:childTnLst>
                                    <p:set>
                                      <p:cBhvr>
                                        <p:cTn id="24" dur="1" fill="hold">
                                          <p:stCondLst>
                                            <p:cond delay="0"/>
                                          </p:stCondLst>
                                        </p:cTn>
                                        <p:tgtEl>
                                          <p:spTgt spid="107"/>
                                        </p:tgtEl>
                                        <p:attrNameLst>
                                          <p:attrName>style.visibility</p:attrName>
                                        </p:attrNameLst>
                                      </p:cBhvr>
                                      <p:to>
                                        <p:strVal val="visible"/>
                                      </p:to>
                                    </p:set>
                                    <p:animEffect transition="in" filter="wipe(left)">
                                      <p:cBhvr>
                                        <p:cTn id="25" dur="550"/>
                                        <p:tgtEl>
                                          <p:spTgt spid="107"/>
                                        </p:tgtEl>
                                      </p:cBhvr>
                                    </p:animEffect>
                                  </p:childTnLst>
                                </p:cTn>
                              </p:par>
                              <p:par>
                                <p:cTn id="26" presetID="22" presetClass="entr" presetSubtype="8" fill="hold" nodeType="withEffect">
                                  <p:stCondLst>
                                    <p:cond delay="200"/>
                                  </p:stCondLst>
                                  <p:childTnLst>
                                    <p:set>
                                      <p:cBhvr>
                                        <p:cTn id="27" dur="1" fill="hold">
                                          <p:stCondLst>
                                            <p:cond delay="0"/>
                                          </p:stCondLst>
                                        </p:cTn>
                                        <p:tgtEl>
                                          <p:spTgt spid="108"/>
                                        </p:tgtEl>
                                        <p:attrNameLst>
                                          <p:attrName>style.visibility</p:attrName>
                                        </p:attrNameLst>
                                      </p:cBhvr>
                                      <p:to>
                                        <p:strVal val="visible"/>
                                      </p:to>
                                    </p:set>
                                    <p:animEffect transition="in" filter="wipe(left)">
                                      <p:cBhvr>
                                        <p:cTn id="28" dur="550"/>
                                        <p:tgtEl>
                                          <p:spTgt spid="108"/>
                                        </p:tgtEl>
                                      </p:cBhvr>
                                    </p:animEffect>
                                  </p:childTnLst>
                                </p:cTn>
                              </p:par>
                              <p:par>
                                <p:cTn id="29" presetID="22" presetClass="entr" presetSubtype="8" fill="hold" grpId="0" nodeType="withEffect">
                                  <p:stCondLst>
                                    <p:cond delay="200"/>
                                  </p:stCondLst>
                                  <p:childTnLst>
                                    <p:set>
                                      <p:cBhvr>
                                        <p:cTn id="30" dur="1" fill="hold">
                                          <p:stCondLst>
                                            <p:cond delay="0"/>
                                          </p:stCondLst>
                                        </p:cTn>
                                        <p:tgtEl>
                                          <p:spTgt spid="109"/>
                                        </p:tgtEl>
                                        <p:attrNameLst>
                                          <p:attrName>style.visibility</p:attrName>
                                        </p:attrNameLst>
                                      </p:cBhvr>
                                      <p:to>
                                        <p:strVal val="visible"/>
                                      </p:to>
                                    </p:set>
                                    <p:animEffect transition="in" filter="wipe(left)">
                                      <p:cBhvr>
                                        <p:cTn id="31" dur="550"/>
                                        <p:tgtEl>
                                          <p:spTgt spid="109"/>
                                        </p:tgtEl>
                                      </p:cBhvr>
                                    </p:animEffect>
                                  </p:childTnLst>
                                </p:cTn>
                              </p:par>
                              <p:par>
                                <p:cTn id="32" presetID="22" presetClass="entr" presetSubtype="8" fill="hold" grpId="0" nodeType="withEffect">
                                  <p:stCondLst>
                                    <p:cond delay="200"/>
                                  </p:stCondLst>
                                  <p:childTnLst>
                                    <p:set>
                                      <p:cBhvr>
                                        <p:cTn id="33" dur="1" fill="hold">
                                          <p:stCondLst>
                                            <p:cond delay="0"/>
                                          </p:stCondLst>
                                        </p:cTn>
                                        <p:tgtEl>
                                          <p:spTgt spid="110"/>
                                        </p:tgtEl>
                                        <p:attrNameLst>
                                          <p:attrName>style.visibility</p:attrName>
                                        </p:attrNameLst>
                                      </p:cBhvr>
                                      <p:to>
                                        <p:strVal val="visible"/>
                                      </p:to>
                                    </p:set>
                                    <p:animEffect transition="in" filter="wipe(left)">
                                      <p:cBhvr>
                                        <p:cTn id="34" dur="550"/>
                                        <p:tgtEl>
                                          <p:spTgt spid="110"/>
                                        </p:tgtEl>
                                      </p:cBhvr>
                                    </p:animEffect>
                                  </p:childTnLst>
                                </p:cTn>
                              </p:par>
                              <p:par>
                                <p:cTn id="35" presetID="22" presetClass="entr" presetSubtype="8" fill="hold" grpId="0" nodeType="withEffect">
                                  <p:stCondLst>
                                    <p:cond delay="400"/>
                                  </p:stCondLst>
                                  <p:childTnLst>
                                    <p:set>
                                      <p:cBhvr>
                                        <p:cTn id="36" dur="1" fill="hold">
                                          <p:stCondLst>
                                            <p:cond delay="0"/>
                                          </p:stCondLst>
                                        </p:cTn>
                                        <p:tgtEl>
                                          <p:spTgt spid="111"/>
                                        </p:tgtEl>
                                        <p:attrNameLst>
                                          <p:attrName>style.visibility</p:attrName>
                                        </p:attrNameLst>
                                      </p:cBhvr>
                                      <p:to>
                                        <p:strVal val="visible"/>
                                      </p:to>
                                    </p:set>
                                    <p:animEffect transition="in" filter="wipe(left)">
                                      <p:cBhvr>
                                        <p:cTn id="37" dur="550"/>
                                        <p:tgtEl>
                                          <p:spTgt spid="111"/>
                                        </p:tgtEl>
                                      </p:cBhvr>
                                    </p:animEffect>
                                  </p:childTnLst>
                                </p:cTn>
                              </p:par>
                              <p:par>
                                <p:cTn id="38" presetID="22" presetClass="entr" presetSubtype="8" fill="hold" grpId="0" nodeType="withEffect">
                                  <p:stCondLst>
                                    <p:cond delay="400"/>
                                  </p:stCondLst>
                                  <p:childTnLst>
                                    <p:set>
                                      <p:cBhvr>
                                        <p:cTn id="39" dur="1" fill="hold">
                                          <p:stCondLst>
                                            <p:cond delay="0"/>
                                          </p:stCondLst>
                                        </p:cTn>
                                        <p:tgtEl>
                                          <p:spTgt spid="112"/>
                                        </p:tgtEl>
                                        <p:attrNameLst>
                                          <p:attrName>style.visibility</p:attrName>
                                        </p:attrNameLst>
                                      </p:cBhvr>
                                      <p:to>
                                        <p:strVal val="visible"/>
                                      </p:to>
                                    </p:set>
                                    <p:animEffect transition="in" filter="wipe(left)">
                                      <p:cBhvr>
                                        <p:cTn id="40" dur="550"/>
                                        <p:tgtEl>
                                          <p:spTgt spid="112"/>
                                        </p:tgtEl>
                                      </p:cBhvr>
                                    </p:animEffect>
                                  </p:childTnLst>
                                </p:cTn>
                              </p:par>
                              <p:par>
                                <p:cTn id="41" presetID="22" presetClass="entr" presetSubtype="8" fill="hold" nodeType="withEffect">
                                  <p:stCondLst>
                                    <p:cond delay="400"/>
                                  </p:stCondLst>
                                  <p:childTnLst>
                                    <p:set>
                                      <p:cBhvr>
                                        <p:cTn id="42" dur="1" fill="hold">
                                          <p:stCondLst>
                                            <p:cond delay="0"/>
                                          </p:stCondLst>
                                        </p:cTn>
                                        <p:tgtEl>
                                          <p:spTgt spid="113"/>
                                        </p:tgtEl>
                                        <p:attrNameLst>
                                          <p:attrName>style.visibility</p:attrName>
                                        </p:attrNameLst>
                                      </p:cBhvr>
                                      <p:to>
                                        <p:strVal val="visible"/>
                                      </p:to>
                                    </p:set>
                                    <p:animEffect transition="in" filter="wipe(left)">
                                      <p:cBhvr>
                                        <p:cTn id="43" dur="550"/>
                                        <p:tgtEl>
                                          <p:spTgt spid="113"/>
                                        </p:tgtEl>
                                      </p:cBhvr>
                                    </p:animEffect>
                                  </p:childTnLst>
                                </p:cTn>
                              </p:par>
                              <p:par>
                                <p:cTn id="44" presetID="22" presetClass="entr" presetSubtype="8" fill="hold" grpId="0" nodeType="withEffect">
                                  <p:stCondLst>
                                    <p:cond delay="400"/>
                                  </p:stCondLst>
                                  <p:childTnLst>
                                    <p:set>
                                      <p:cBhvr>
                                        <p:cTn id="45" dur="1" fill="hold">
                                          <p:stCondLst>
                                            <p:cond delay="0"/>
                                          </p:stCondLst>
                                        </p:cTn>
                                        <p:tgtEl>
                                          <p:spTgt spid="114"/>
                                        </p:tgtEl>
                                        <p:attrNameLst>
                                          <p:attrName>style.visibility</p:attrName>
                                        </p:attrNameLst>
                                      </p:cBhvr>
                                      <p:to>
                                        <p:strVal val="visible"/>
                                      </p:to>
                                    </p:set>
                                    <p:animEffect transition="in" filter="wipe(left)">
                                      <p:cBhvr>
                                        <p:cTn id="46" dur="550"/>
                                        <p:tgtEl>
                                          <p:spTgt spid="114"/>
                                        </p:tgtEl>
                                      </p:cBhvr>
                                    </p:animEffect>
                                  </p:childTnLst>
                                </p:cTn>
                              </p:par>
                              <p:par>
                                <p:cTn id="47" presetID="22" presetClass="entr" presetSubtype="8" fill="hold" grpId="0" nodeType="withEffect">
                                  <p:stCondLst>
                                    <p:cond delay="400"/>
                                  </p:stCondLst>
                                  <p:childTnLst>
                                    <p:set>
                                      <p:cBhvr>
                                        <p:cTn id="48" dur="1" fill="hold">
                                          <p:stCondLst>
                                            <p:cond delay="0"/>
                                          </p:stCondLst>
                                        </p:cTn>
                                        <p:tgtEl>
                                          <p:spTgt spid="115"/>
                                        </p:tgtEl>
                                        <p:attrNameLst>
                                          <p:attrName>style.visibility</p:attrName>
                                        </p:attrNameLst>
                                      </p:cBhvr>
                                      <p:to>
                                        <p:strVal val="visible"/>
                                      </p:to>
                                    </p:set>
                                    <p:animEffect transition="in" filter="wipe(left)">
                                      <p:cBhvr>
                                        <p:cTn id="49" dur="550"/>
                                        <p:tgtEl>
                                          <p:spTgt spid="115"/>
                                        </p:tgtEl>
                                      </p:cBhvr>
                                    </p:animEffect>
                                  </p:childTnLst>
                                </p:cTn>
                              </p:par>
                              <p:par>
                                <p:cTn id="50" presetID="22" presetClass="entr" presetSubtype="8" fill="hold" grpId="0" nodeType="withEffect">
                                  <p:stCondLst>
                                    <p:cond delay="600"/>
                                  </p:stCondLst>
                                  <p:childTnLst>
                                    <p:set>
                                      <p:cBhvr>
                                        <p:cTn id="51" dur="1" fill="hold">
                                          <p:stCondLst>
                                            <p:cond delay="0"/>
                                          </p:stCondLst>
                                        </p:cTn>
                                        <p:tgtEl>
                                          <p:spTgt spid="116"/>
                                        </p:tgtEl>
                                        <p:attrNameLst>
                                          <p:attrName>style.visibility</p:attrName>
                                        </p:attrNameLst>
                                      </p:cBhvr>
                                      <p:to>
                                        <p:strVal val="visible"/>
                                      </p:to>
                                    </p:set>
                                    <p:animEffect transition="in" filter="wipe(left)">
                                      <p:cBhvr>
                                        <p:cTn id="52" dur="550"/>
                                        <p:tgtEl>
                                          <p:spTgt spid="116"/>
                                        </p:tgtEl>
                                      </p:cBhvr>
                                    </p:animEffect>
                                  </p:childTnLst>
                                </p:cTn>
                              </p:par>
                              <p:par>
                                <p:cTn id="53" presetID="22" presetClass="entr" presetSubtype="8" fill="hold" grpId="0" nodeType="withEffect">
                                  <p:stCondLst>
                                    <p:cond delay="600"/>
                                  </p:stCondLst>
                                  <p:childTnLst>
                                    <p:set>
                                      <p:cBhvr>
                                        <p:cTn id="54" dur="1" fill="hold">
                                          <p:stCondLst>
                                            <p:cond delay="0"/>
                                          </p:stCondLst>
                                        </p:cTn>
                                        <p:tgtEl>
                                          <p:spTgt spid="117"/>
                                        </p:tgtEl>
                                        <p:attrNameLst>
                                          <p:attrName>style.visibility</p:attrName>
                                        </p:attrNameLst>
                                      </p:cBhvr>
                                      <p:to>
                                        <p:strVal val="visible"/>
                                      </p:to>
                                    </p:set>
                                    <p:animEffect transition="in" filter="wipe(left)">
                                      <p:cBhvr>
                                        <p:cTn id="55" dur="550"/>
                                        <p:tgtEl>
                                          <p:spTgt spid="117"/>
                                        </p:tgtEl>
                                      </p:cBhvr>
                                    </p:animEffect>
                                  </p:childTnLst>
                                </p:cTn>
                              </p:par>
                              <p:par>
                                <p:cTn id="56" presetID="22" presetClass="entr" presetSubtype="8" fill="hold" nodeType="withEffect">
                                  <p:stCondLst>
                                    <p:cond delay="600"/>
                                  </p:stCondLst>
                                  <p:childTnLst>
                                    <p:set>
                                      <p:cBhvr>
                                        <p:cTn id="57" dur="1" fill="hold">
                                          <p:stCondLst>
                                            <p:cond delay="0"/>
                                          </p:stCondLst>
                                        </p:cTn>
                                        <p:tgtEl>
                                          <p:spTgt spid="118"/>
                                        </p:tgtEl>
                                        <p:attrNameLst>
                                          <p:attrName>style.visibility</p:attrName>
                                        </p:attrNameLst>
                                      </p:cBhvr>
                                      <p:to>
                                        <p:strVal val="visible"/>
                                      </p:to>
                                    </p:set>
                                    <p:animEffect transition="in" filter="wipe(left)">
                                      <p:cBhvr>
                                        <p:cTn id="58" dur="550"/>
                                        <p:tgtEl>
                                          <p:spTgt spid="118"/>
                                        </p:tgtEl>
                                      </p:cBhvr>
                                    </p:animEffect>
                                  </p:childTnLst>
                                </p:cTn>
                              </p:par>
                              <p:par>
                                <p:cTn id="59" presetID="22" presetClass="entr" presetSubtype="8" fill="hold" grpId="0" nodeType="withEffect">
                                  <p:stCondLst>
                                    <p:cond delay="600"/>
                                  </p:stCondLst>
                                  <p:childTnLst>
                                    <p:set>
                                      <p:cBhvr>
                                        <p:cTn id="60" dur="1" fill="hold">
                                          <p:stCondLst>
                                            <p:cond delay="0"/>
                                          </p:stCondLst>
                                        </p:cTn>
                                        <p:tgtEl>
                                          <p:spTgt spid="119"/>
                                        </p:tgtEl>
                                        <p:attrNameLst>
                                          <p:attrName>style.visibility</p:attrName>
                                        </p:attrNameLst>
                                      </p:cBhvr>
                                      <p:to>
                                        <p:strVal val="visible"/>
                                      </p:to>
                                    </p:set>
                                    <p:animEffect transition="in" filter="wipe(left)">
                                      <p:cBhvr>
                                        <p:cTn id="61" dur="550"/>
                                        <p:tgtEl>
                                          <p:spTgt spid="119"/>
                                        </p:tgtEl>
                                      </p:cBhvr>
                                    </p:animEffect>
                                  </p:childTnLst>
                                </p:cTn>
                              </p:par>
                              <p:par>
                                <p:cTn id="62" presetID="22" presetClass="entr" presetSubtype="8" fill="hold" grpId="0" nodeType="withEffect">
                                  <p:stCondLst>
                                    <p:cond delay="600"/>
                                  </p:stCondLst>
                                  <p:childTnLst>
                                    <p:set>
                                      <p:cBhvr>
                                        <p:cTn id="63" dur="1" fill="hold">
                                          <p:stCondLst>
                                            <p:cond delay="0"/>
                                          </p:stCondLst>
                                        </p:cTn>
                                        <p:tgtEl>
                                          <p:spTgt spid="120"/>
                                        </p:tgtEl>
                                        <p:attrNameLst>
                                          <p:attrName>style.visibility</p:attrName>
                                        </p:attrNameLst>
                                      </p:cBhvr>
                                      <p:to>
                                        <p:strVal val="visible"/>
                                      </p:to>
                                    </p:set>
                                    <p:animEffect transition="in" filter="wipe(left)">
                                      <p:cBhvr>
                                        <p:cTn id="64" dur="550"/>
                                        <p:tgtEl>
                                          <p:spTgt spid="120"/>
                                        </p:tgtEl>
                                      </p:cBhvr>
                                    </p:animEffect>
                                  </p:childTnLst>
                                </p:cTn>
                              </p:par>
                              <p:par>
                                <p:cTn id="65" presetID="22" presetClass="entr" presetSubtype="8" fill="hold" grpId="0" nodeType="withEffect">
                                  <p:stCondLst>
                                    <p:cond delay="800"/>
                                  </p:stCondLst>
                                  <p:childTnLst>
                                    <p:set>
                                      <p:cBhvr>
                                        <p:cTn id="66" dur="1" fill="hold">
                                          <p:stCondLst>
                                            <p:cond delay="0"/>
                                          </p:stCondLst>
                                        </p:cTn>
                                        <p:tgtEl>
                                          <p:spTgt spid="121"/>
                                        </p:tgtEl>
                                        <p:attrNameLst>
                                          <p:attrName>style.visibility</p:attrName>
                                        </p:attrNameLst>
                                      </p:cBhvr>
                                      <p:to>
                                        <p:strVal val="visible"/>
                                      </p:to>
                                    </p:set>
                                    <p:animEffect transition="in" filter="wipe(left)">
                                      <p:cBhvr>
                                        <p:cTn id="67" dur="550"/>
                                        <p:tgtEl>
                                          <p:spTgt spid="121"/>
                                        </p:tgtEl>
                                      </p:cBhvr>
                                    </p:animEffect>
                                  </p:childTnLst>
                                </p:cTn>
                              </p:par>
                              <p:par>
                                <p:cTn id="68" presetID="22" presetClass="entr" presetSubtype="8" fill="hold" grpId="0" nodeType="withEffect">
                                  <p:stCondLst>
                                    <p:cond delay="800"/>
                                  </p:stCondLst>
                                  <p:childTnLst>
                                    <p:set>
                                      <p:cBhvr>
                                        <p:cTn id="69" dur="1" fill="hold">
                                          <p:stCondLst>
                                            <p:cond delay="0"/>
                                          </p:stCondLst>
                                        </p:cTn>
                                        <p:tgtEl>
                                          <p:spTgt spid="122"/>
                                        </p:tgtEl>
                                        <p:attrNameLst>
                                          <p:attrName>style.visibility</p:attrName>
                                        </p:attrNameLst>
                                      </p:cBhvr>
                                      <p:to>
                                        <p:strVal val="visible"/>
                                      </p:to>
                                    </p:set>
                                    <p:animEffect transition="in" filter="wipe(left)">
                                      <p:cBhvr>
                                        <p:cTn id="70" dur="550"/>
                                        <p:tgtEl>
                                          <p:spTgt spid="122"/>
                                        </p:tgtEl>
                                      </p:cBhvr>
                                    </p:animEffect>
                                  </p:childTnLst>
                                </p:cTn>
                              </p:par>
                              <p:par>
                                <p:cTn id="71" presetID="22" presetClass="entr" presetSubtype="8" fill="hold" nodeType="withEffect">
                                  <p:stCondLst>
                                    <p:cond delay="800"/>
                                  </p:stCondLst>
                                  <p:childTnLst>
                                    <p:set>
                                      <p:cBhvr>
                                        <p:cTn id="72" dur="1" fill="hold">
                                          <p:stCondLst>
                                            <p:cond delay="0"/>
                                          </p:stCondLst>
                                        </p:cTn>
                                        <p:tgtEl>
                                          <p:spTgt spid="123"/>
                                        </p:tgtEl>
                                        <p:attrNameLst>
                                          <p:attrName>style.visibility</p:attrName>
                                        </p:attrNameLst>
                                      </p:cBhvr>
                                      <p:to>
                                        <p:strVal val="visible"/>
                                      </p:to>
                                    </p:set>
                                    <p:animEffect transition="in" filter="wipe(left)">
                                      <p:cBhvr>
                                        <p:cTn id="73" dur="550"/>
                                        <p:tgtEl>
                                          <p:spTgt spid="123"/>
                                        </p:tgtEl>
                                      </p:cBhvr>
                                    </p:animEffect>
                                  </p:childTnLst>
                                </p:cTn>
                              </p:par>
                              <p:par>
                                <p:cTn id="74" presetID="22" presetClass="entr" presetSubtype="8" fill="hold" grpId="0" nodeType="withEffect">
                                  <p:stCondLst>
                                    <p:cond delay="800"/>
                                  </p:stCondLst>
                                  <p:childTnLst>
                                    <p:set>
                                      <p:cBhvr>
                                        <p:cTn id="75" dur="1" fill="hold">
                                          <p:stCondLst>
                                            <p:cond delay="0"/>
                                          </p:stCondLst>
                                        </p:cTn>
                                        <p:tgtEl>
                                          <p:spTgt spid="124"/>
                                        </p:tgtEl>
                                        <p:attrNameLst>
                                          <p:attrName>style.visibility</p:attrName>
                                        </p:attrNameLst>
                                      </p:cBhvr>
                                      <p:to>
                                        <p:strVal val="visible"/>
                                      </p:to>
                                    </p:set>
                                    <p:animEffect transition="in" filter="wipe(left)">
                                      <p:cBhvr>
                                        <p:cTn id="76" dur="550"/>
                                        <p:tgtEl>
                                          <p:spTgt spid="124"/>
                                        </p:tgtEl>
                                      </p:cBhvr>
                                    </p:animEffect>
                                  </p:childTnLst>
                                </p:cTn>
                              </p:par>
                              <p:par>
                                <p:cTn id="77" presetID="22" presetClass="entr" presetSubtype="8" fill="hold" grpId="0" nodeType="withEffect">
                                  <p:stCondLst>
                                    <p:cond delay="800"/>
                                  </p:stCondLst>
                                  <p:childTnLst>
                                    <p:set>
                                      <p:cBhvr>
                                        <p:cTn id="78" dur="1" fill="hold">
                                          <p:stCondLst>
                                            <p:cond delay="0"/>
                                          </p:stCondLst>
                                        </p:cTn>
                                        <p:tgtEl>
                                          <p:spTgt spid="125"/>
                                        </p:tgtEl>
                                        <p:attrNameLst>
                                          <p:attrName>style.visibility</p:attrName>
                                        </p:attrNameLst>
                                      </p:cBhvr>
                                      <p:to>
                                        <p:strVal val="visible"/>
                                      </p:to>
                                    </p:set>
                                    <p:animEffect transition="in" filter="wipe(left)">
                                      <p:cBhvr>
                                        <p:cTn id="79" dur="55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7" grpId="0" animBg="1"/>
      <p:bldP spid="109" grpId="0" animBg="1"/>
      <p:bldP spid="110" grpId="0" animBg="1"/>
      <p:bldP spid="111" grpId="0" animBg="1"/>
      <p:bldP spid="112" grpId="0" animBg="1"/>
      <p:bldP spid="114" grpId="0" animBg="1"/>
      <p:bldP spid="115" grpId="0" animBg="1"/>
      <p:bldP spid="116" grpId="0" animBg="1"/>
      <p:bldP spid="117" grpId="0" animBg="1"/>
      <p:bldP spid="119" grpId="0" animBg="1"/>
      <p:bldP spid="120" grpId="0" animBg="1"/>
      <p:bldP spid="121" grpId="0" animBg="1"/>
      <p:bldP spid="122" grpId="0" animBg="1"/>
      <p:bldP spid="124" grpId="0" animBg="1"/>
      <p:bldP spid="125"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PILLARS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Scrum Pillars Were Already Happening</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Transparency → Inspection → Adaptation.</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VALUES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290</a:t>
            </a:r>
            <a:endParaRPr lang="en-US" sz="850" dirty="0"/>
          </a:p>
        </p:txBody>
      </p:sp>
      <p:sp>
        <p:nvSpPr>
          <p:cNvPr id="101" name="s101"/>
          <p:cNvSpPr/>
          <p:nvPr/>
        </p:nvSpPr>
        <p:spPr>
          <a:xfrm>
            <a:off x="1457554" y="1874520"/>
            <a:ext cx="9259214" cy="594360"/>
          </a:xfrm>
          <a:prstGeom prst="triangle">
            <a:avLst/>
          </a:prstGeom>
          <a:solidFill>
            <a:srgbClr val="13D0F7">
              <a:alpha val="20000"/>
            </a:srgbClr>
          </a:solidFill>
          <a:ln w="12700">
            <a:solidFill>
              <a:srgbClr val="13D0F7"/>
            </a:solidFill>
            <a:prstDash val="solid"/>
          </a:ln>
        </p:spPr>
        <p:txBody>
          <a:bodyPr wrap="square" lIns="0" tIns="0" rIns="0" bIns="45720" rtlCol="0" anchor="b">
            <a:noAutofit/>
          </a:bodyPr>
          <a:lstStyle/>
          <a:p>
            <a:pPr marL="0" indent="0" algn="ctr">
              <a:spcBef>
                <a:spcPts val="0"/>
              </a:spcBef>
              <a:spcAft>
                <a:spcPts val="0"/>
              </a:spcAft>
              <a:buNone/>
            </a:pPr>
            <a:r>
              <a:rPr lang="en-US" sz="1200" b="1" dirty="0">
                <a:solidFill>
                  <a:srgbClr val="13D0F7"/>
                </a:solidFill>
                <a:latin typeface="Segoe UI"/>
                <a:ea typeface="Segoe UI"/>
                <a:cs typeface="Segoe UI"/>
              </a:rPr>
              <a:t>EMPIRICISM</a:t>
            </a:r>
            <a:endParaRPr lang="en-US" sz="1200" dirty="0"/>
          </a:p>
        </p:txBody>
      </p:sp>
      <p:sp>
        <p:nvSpPr>
          <p:cNvPr id="102" name="s102"/>
          <p:cNvSpPr/>
          <p:nvPr/>
        </p:nvSpPr>
        <p:spPr>
          <a:xfrm>
            <a:off x="1457554" y="2468880"/>
            <a:ext cx="9259214" cy="164592"/>
          </a:xfrm>
          <a:prstGeom prst="rect">
            <a:avLst/>
          </a:prstGeom>
          <a:solidFill>
            <a:srgbClr val="13D0F7">
              <a:alpha val="40000"/>
            </a:srgbClr>
          </a:solidFill>
          <a:ln>
            <a:noFill/>
          </a:ln>
        </p:spPr>
        <p:txBody>
          <a:bodyPr wrap="square" lIns="164592" tIns="109728" rIns="137160" bIns="91440" rtlCol="0" anchor="t">
            <a:noAutofit/>
          </a:bodyPr>
          <a:lstStyle/>
          <a:p>
            <a:endParaRPr lang="en-US"/>
          </a:p>
        </p:txBody>
      </p:sp>
      <p:sp>
        <p:nvSpPr>
          <p:cNvPr id="103" name="s103"/>
          <p:cNvSpPr/>
          <p:nvPr/>
        </p:nvSpPr>
        <p:spPr>
          <a:xfrm>
            <a:off x="1366114" y="2697480"/>
            <a:ext cx="3108960" cy="228600"/>
          </a:xfrm>
          <a:prstGeom prst="rect">
            <a:avLst/>
          </a:prstGeom>
          <a:solidFill>
            <a:srgbClr val="13D0F7">
              <a:alpha val="50000"/>
            </a:srgbClr>
          </a:solidFill>
          <a:ln>
            <a:noFill/>
          </a:ln>
        </p:spPr>
        <p:txBody>
          <a:bodyPr wrap="square" lIns="164592" tIns="109728" rIns="137160" bIns="91440" rtlCol="0" anchor="t">
            <a:noAutofit/>
          </a:bodyPr>
          <a:lstStyle/>
          <a:p>
            <a:endParaRPr lang="en-US"/>
          </a:p>
        </p:txBody>
      </p:sp>
      <p:sp>
        <p:nvSpPr>
          <p:cNvPr id="104" name="s104"/>
          <p:cNvSpPr/>
          <p:nvPr/>
        </p:nvSpPr>
        <p:spPr>
          <a:xfrm>
            <a:off x="1686154" y="2926080"/>
            <a:ext cx="2468880" cy="1874520"/>
          </a:xfrm>
          <a:prstGeom prst="rect">
            <a:avLst/>
          </a:prstGeom>
          <a:solidFill>
            <a:srgbClr val="13D0F7">
              <a:alpha val="10000"/>
            </a:srgbClr>
          </a:solidFill>
          <a:ln w="12700">
            <a:solidFill>
              <a:srgbClr val="13D0F7">
                <a:alpha val="60000"/>
              </a:srgbClr>
            </a:solidFill>
            <a:prstDash val="solid"/>
          </a:ln>
        </p:spPr>
        <p:txBody>
          <a:bodyPr wrap="square" lIns="164592" tIns="109728" rIns="137160" bIns="91440" rtlCol="0" anchor="t">
            <a:noAutofit/>
          </a:bodyPr>
          <a:lstStyle/>
          <a:p>
            <a:endParaRPr lang="en-US"/>
          </a:p>
        </p:txBody>
      </p:sp>
      <p:sp>
        <p:nvSpPr>
          <p:cNvPr id="105" name="s105"/>
          <p:cNvSpPr/>
          <p:nvPr/>
        </p:nvSpPr>
        <p:spPr>
          <a:xfrm>
            <a:off x="2646274" y="3063240"/>
            <a:ext cx="548640" cy="548640"/>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06" name="img106"/>
          <p:cNvPicPr>
            <a:picLocks noChangeAspect="1"/>
          </p:cNvPicPr>
          <p:nvPr/>
        </p:nvPicPr>
        <p:blipFill>
          <a:blip r:embed="rId4"/>
          <a:stretch>
            <a:fillRect/>
          </a:stretch>
        </p:blipFill>
        <p:spPr>
          <a:xfrm>
            <a:off x="2777947" y="3194914"/>
            <a:ext cx="285293" cy="285293"/>
          </a:xfrm>
          <a:prstGeom prst="rect">
            <a:avLst/>
          </a:prstGeom>
        </p:spPr>
      </p:pic>
      <p:sp>
        <p:nvSpPr>
          <p:cNvPr id="107" name="s107"/>
          <p:cNvSpPr txBox="1"/>
          <p:nvPr/>
        </p:nvSpPr>
        <p:spPr>
          <a:xfrm>
            <a:off x="1731874" y="3657600"/>
            <a:ext cx="2377440"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13D0F7"/>
                </a:solidFill>
                <a:latin typeface="Segoe UI"/>
                <a:ea typeface="Segoe UI"/>
                <a:cs typeface="Segoe UI"/>
              </a:rPr>
              <a:t>Transparency</a:t>
            </a:r>
            <a:endParaRPr lang="en-US" sz="1400" dirty="0"/>
          </a:p>
        </p:txBody>
      </p:sp>
      <p:sp>
        <p:nvSpPr>
          <p:cNvPr id="108" name="s108"/>
          <p:cNvSpPr txBox="1"/>
          <p:nvPr/>
        </p:nvSpPr>
        <p:spPr>
          <a:xfrm>
            <a:off x="1777594" y="4005072"/>
            <a:ext cx="2286000" cy="7772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0" dirty="0">
                <a:solidFill>
                  <a:srgbClr val="E2E8F0"/>
                </a:solidFill>
                <a:latin typeface="Segoe UI"/>
                <a:ea typeface="Segoe UI"/>
                <a:cs typeface="Segoe UI"/>
              </a:rPr>
              <a:t>Visible backlog, Goal, DoD, honest progress</a:t>
            </a:r>
            <a:endParaRPr lang="en-US" sz="1150" dirty="0"/>
          </a:p>
        </p:txBody>
      </p:sp>
      <p:sp>
        <p:nvSpPr>
          <p:cNvPr id="109" name="s109"/>
          <p:cNvSpPr/>
          <p:nvPr/>
        </p:nvSpPr>
        <p:spPr>
          <a:xfrm>
            <a:off x="1366114" y="4800600"/>
            <a:ext cx="3108960" cy="201168"/>
          </a:xfrm>
          <a:prstGeom prst="rect">
            <a:avLst/>
          </a:prstGeom>
          <a:solidFill>
            <a:srgbClr val="13D0F7">
              <a:alpha val="50000"/>
            </a:srgbClr>
          </a:solidFill>
          <a:ln>
            <a:noFill/>
          </a:ln>
        </p:spPr>
        <p:txBody>
          <a:bodyPr wrap="square" lIns="164592" tIns="109728" rIns="137160" bIns="91440" rtlCol="0" anchor="t">
            <a:noAutofit/>
          </a:bodyPr>
          <a:lstStyle/>
          <a:p>
            <a:endParaRPr lang="en-US"/>
          </a:p>
        </p:txBody>
      </p:sp>
      <p:sp>
        <p:nvSpPr>
          <p:cNvPr id="110" name="s110"/>
          <p:cNvSpPr/>
          <p:nvPr/>
        </p:nvSpPr>
        <p:spPr>
          <a:xfrm>
            <a:off x="4532681" y="2697480"/>
            <a:ext cx="3108960" cy="228600"/>
          </a:xfrm>
          <a:prstGeom prst="rect">
            <a:avLst/>
          </a:prstGeom>
          <a:solidFill>
            <a:srgbClr val="FBBF24">
              <a:alpha val="50000"/>
            </a:srgbClr>
          </a:solidFill>
          <a:ln>
            <a:noFill/>
          </a:ln>
        </p:spPr>
        <p:txBody>
          <a:bodyPr wrap="square" lIns="164592" tIns="109728" rIns="137160" bIns="91440" rtlCol="0" anchor="t">
            <a:noAutofit/>
          </a:bodyPr>
          <a:lstStyle/>
          <a:p>
            <a:endParaRPr lang="en-US"/>
          </a:p>
        </p:txBody>
      </p:sp>
      <p:sp>
        <p:nvSpPr>
          <p:cNvPr id="111" name="s111"/>
          <p:cNvSpPr/>
          <p:nvPr/>
        </p:nvSpPr>
        <p:spPr>
          <a:xfrm>
            <a:off x="4852721" y="2926080"/>
            <a:ext cx="2468880" cy="1874520"/>
          </a:xfrm>
          <a:prstGeom prst="rect">
            <a:avLst/>
          </a:prstGeom>
          <a:solidFill>
            <a:srgbClr val="FBBF24">
              <a:alpha val="10000"/>
            </a:srgbClr>
          </a:solidFill>
          <a:ln w="12700">
            <a:solidFill>
              <a:srgbClr val="FBBF24">
                <a:alpha val="60000"/>
              </a:srgbClr>
            </a:solidFill>
            <a:prstDash val="solid"/>
          </a:ln>
        </p:spPr>
        <p:txBody>
          <a:bodyPr wrap="square" lIns="164592" tIns="109728" rIns="137160" bIns="91440" rtlCol="0" anchor="t">
            <a:noAutofit/>
          </a:bodyPr>
          <a:lstStyle/>
          <a:p>
            <a:endParaRPr lang="en-US"/>
          </a:p>
        </p:txBody>
      </p:sp>
      <p:sp>
        <p:nvSpPr>
          <p:cNvPr id="112" name="s112"/>
          <p:cNvSpPr/>
          <p:nvPr/>
        </p:nvSpPr>
        <p:spPr>
          <a:xfrm>
            <a:off x="5812841" y="3063240"/>
            <a:ext cx="548640" cy="548640"/>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13" name="img113"/>
          <p:cNvPicPr>
            <a:picLocks noChangeAspect="1"/>
          </p:cNvPicPr>
          <p:nvPr/>
        </p:nvPicPr>
        <p:blipFill>
          <a:blip r:embed="rId5"/>
          <a:stretch>
            <a:fillRect/>
          </a:stretch>
        </p:blipFill>
        <p:spPr>
          <a:xfrm>
            <a:off x="5944514" y="3194914"/>
            <a:ext cx="285293" cy="285293"/>
          </a:xfrm>
          <a:prstGeom prst="rect">
            <a:avLst/>
          </a:prstGeom>
        </p:spPr>
      </p:pic>
      <p:sp>
        <p:nvSpPr>
          <p:cNvPr id="114" name="s114"/>
          <p:cNvSpPr txBox="1"/>
          <p:nvPr/>
        </p:nvSpPr>
        <p:spPr>
          <a:xfrm>
            <a:off x="4898441" y="3657600"/>
            <a:ext cx="2377440"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FBBF24"/>
                </a:solidFill>
                <a:latin typeface="Segoe UI"/>
                <a:ea typeface="Segoe UI"/>
                <a:cs typeface="Segoe UI"/>
              </a:rPr>
              <a:t>Inspection</a:t>
            </a:r>
            <a:endParaRPr lang="en-US" sz="1400" dirty="0"/>
          </a:p>
        </p:txBody>
      </p:sp>
      <p:sp>
        <p:nvSpPr>
          <p:cNvPr id="115" name="s115"/>
          <p:cNvSpPr txBox="1"/>
          <p:nvPr/>
        </p:nvSpPr>
        <p:spPr>
          <a:xfrm>
            <a:off x="4944161" y="4005072"/>
            <a:ext cx="2286000" cy="7772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0" dirty="0">
                <a:solidFill>
                  <a:srgbClr val="E2E8F0"/>
                </a:solidFill>
                <a:latin typeface="Segoe UI"/>
                <a:ea typeface="Segoe UI"/>
                <a:cs typeface="Segoe UI"/>
              </a:rPr>
              <a:t>Daily, Review, Retro, Refinement, Increment checks</a:t>
            </a:r>
            <a:endParaRPr lang="en-US" sz="1150" dirty="0"/>
          </a:p>
        </p:txBody>
      </p:sp>
      <p:sp>
        <p:nvSpPr>
          <p:cNvPr id="116" name="s116"/>
          <p:cNvSpPr/>
          <p:nvPr/>
        </p:nvSpPr>
        <p:spPr>
          <a:xfrm>
            <a:off x="4532681" y="4800600"/>
            <a:ext cx="3108960" cy="201168"/>
          </a:xfrm>
          <a:prstGeom prst="rect">
            <a:avLst/>
          </a:prstGeom>
          <a:solidFill>
            <a:srgbClr val="FBBF24">
              <a:alpha val="50000"/>
            </a:srgbClr>
          </a:solidFill>
          <a:ln>
            <a:noFill/>
          </a:ln>
        </p:spPr>
        <p:txBody>
          <a:bodyPr wrap="square" lIns="164592" tIns="109728" rIns="137160" bIns="91440" rtlCol="0" anchor="t">
            <a:noAutofit/>
          </a:bodyPr>
          <a:lstStyle/>
          <a:p>
            <a:endParaRPr lang="en-US"/>
          </a:p>
        </p:txBody>
      </p:sp>
      <p:sp>
        <p:nvSpPr>
          <p:cNvPr id="117" name="s117"/>
          <p:cNvSpPr/>
          <p:nvPr/>
        </p:nvSpPr>
        <p:spPr>
          <a:xfrm>
            <a:off x="7699248" y="2697480"/>
            <a:ext cx="3108960" cy="228600"/>
          </a:xfrm>
          <a:prstGeom prst="rect">
            <a:avLst/>
          </a:prstGeom>
          <a:solidFill>
            <a:srgbClr val="34D399">
              <a:alpha val="50000"/>
            </a:srgbClr>
          </a:solidFill>
          <a:ln>
            <a:noFill/>
          </a:ln>
        </p:spPr>
        <p:txBody>
          <a:bodyPr wrap="square" lIns="164592" tIns="109728" rIns="137160" bIns="91440" rtlCol="0" anchor="t">
            <a:noAutofit/>
          </a:bodyPr>
          <a:lstStyle/>
          <a:p>
            <a:endParaRPr lang="en-US"/>
          </a:p>
        </p:txBody>
      </p:sp>
      <p:sp>
        <p:nvSpPr>
          <p:cNvPr id="118" name="s118"/>
          <p:cNvSpPr/>
          <p:nvPr/>
        </p:nvSpPr>
        <p:spPr>
          <a:xfrm>
            <a:off x="8019288" y="2926080"/>
            <a:ext cx="2468880" cy="1874520"/>
          </a:xfrm>
          <a:prstGeom prst="rect">
            <a:avLst/>
          </a:prstGeom>
          <a:solidFill>
            <a:srgbClr val="34D399">
              <a:alpha val="10000"/>
            </a:srgbClr>
          </a:solidFill>
          <a:ln w="12700">
            <a:solidFill>
              <a:srgbClr val="34D399">
                <a:alpha val="60000"/>
              </a:srgbClr>
            </a:solidFill>
            <a:prstDash val="solid"/>
          </a:ln>
        </p:spPr>
        <p:txBody>
          <a:bodyPr wrap="square" lIns="164592" tIns="109728" rIns="137160" bIns="91440" rtlCol="0" anchor="t">
            <a:noAutofit/>
          </a:bodyPr>
          <a:lstStyle/>
          <a:p>
            <a:endParaRPr lang="en-US"/>
          </a:p>
        </p:txBody>
      </p:sp>
      <p:sp>
        <p:nvSpPr>
          <p:cNvPr id="119" name="s119"/>
          <p:cNvSpPr/>
          <p:nvPr/>
        </p:nvSpPr>
        <p:spPr>
          <a:xfrm>
            <a:off x="8979408" y="3063240"/>
            <a:ext cx="548640" cy="548640"/>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20" name="img120"/>
          <p:cNvPicPr>
            <a:picLocks noChangeAspect="1"/>
          </p:cNvPicPr>
          <p:nvPr/>
        </p:nvPicPr>
        <p:blipFill>
          <a:blip r:embed="rId6"/>
          <a:stretch>
            <a:fillRect/>
          </a:stretch>
        </p:blipFill>
        <p:spPr>
          <a:xfrm>
            <a:off x="9111082" y="3194914"/>
            <a:ext cx="285293" cy="285293"/>
          </a:xfrm>
          <a:prstGeom prst="rect">
            <a:avLst/>
          </a:prstGeom>
        </p:spPr>
      </p:pic>
      <p:sp>
        <p:nvSpPr>
          <p:cNvPr id="121" name="s121"/>
          <p:cNvSpPr txBox="1"/>
          <p:nvPr/>
        </p:nvSpPr>
        <p:spPr>
          <a:xfrm>
            <a:off x="8065008" y="3657600"/>
            <a:ext cx="2377440"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400" b="1" dirty="0">
                <a:solidFill>
                  <a:srgbClr val="34D399"/>
                </a:solidFill>
                <a:latin typeface="Segoe UI"/>
                <a:ea typeface="Segoe UI"/>
                <a:cs typeface="Segoe UI"/>
              </a:rPr>
              <a:t>Adaptation</a:t>
            </a:r>
            <a:endParaRPr lang="en-US" sz="1400" dirty="0"/>
          </a:p>
        </p:txBody>
      </p:sp>
      <p:sp>
        <p:nvSpPr>
          <p:cNvPr id="122" name="s122"/>
          <p:cNvSpPr txBox="1"/>
          <p:nvPr/>
        </p:nvSpPr>
        <p:spPr>
          <a:xfrm>
            <a:off x="8110728" y="4005072"/>
            <a:ext cx="2286000" cy="7772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0" dirty="0">
                <a:solidFill>
                  <a:srgbClr val="E2E8F0"/>
                </a:solidFill>
                <a:latin typeface="Segoe UI"/>
                <a:ea typeface="Segoe UI"/>
                <a:cs typeface="Segoe UI"/>
              </a:rPr>
              <a:t>Plan changed · backlog updated · process improved</a:t>
            </a:r>
            <a:endParaRPr lang="en-US" sz="1150" dirty="0"/>
          </a:p>
        </p:txBody>
      </p:sp>
      <p:sp>
        <p:nvSpPr>
          <p:cNvPr id="123" name="s123"/>
          <p:cNvSpPr/>
          <p:nvPr/>
        </p:nvSpPr>
        <p:spPr>
          <a:xfrm>
            <a:off x="7699248" y="4800600"/>
            <a:ext cx="3108960" cy="201168"/>
          </a:xfrm>
          <a:prstGeom prst="rect">
            <a:avLst/>
          </a:prstGeom>
          <a:solidFill>
            <a:srgbClr val="34D399">
              <a:alpha val="50000"/>
            </a:srgbClr>
          </a:solidFill>
          <a:ln>
            <a:noFill/>
          </a:ln>
        </p:spPr>
        <p:txBody>
          <a:bodyPr wrap="square" lIns="164592" tIns="109728" rIns="137160" bIns="91440" rtlCol="0" anchor="t">
            <a:noAutofit/>
          </a:bodyPr>
          <a:lstStyle/>
          <a:p>
            <a:endParaRPr lang="en-US"/>
          </a:p>
        </p:txBody>
      </p:sp>
      <p:sp>
        <p:nvSpPr>
          <p:cNvPr id="124" name="s124"/>
          <p:cNvSpPr/>
          <p:nvPr/>
        </p:nvSpPr>
        <p:spPr>
          <a:xfrm>
            <a:off x="543154" y="5212080"/>
            <a:ext cx="11088014" cy="594360"/>
          </a:xfrm>
          <a:prstGeom prst="roundRect">
            <a:avLst>
              <a:gd name="adj" fmla="val 12000"/>
            </a:avLst>
          </a:prstGeom>
          <a:solidFill>
            <a:srgbClr val="111B2E"/>
          </a:solidFill>
          <a:ln w="12700">
            <a:solidFill>
              <a:srgbClr val="13D0F7"/>
            </a:solidFill>
            <a:prstDash val="solid"/>
          </a:ln>
        </p:spPr>
        <p:txBody>
          <a:bodyPr wrap="square" lIns="228600" tIns="45720" rIns="228600" bIns="45720" rtlCol="0" anchor="ctr">
            <a:noAutofit/>
          </a:bodyPr>
          <a:lstStyle/>
          <a:p>
            <a:pPr marL="0" indent="0" algn="ctr">
              <a:spcBef>
                <a:spcPts val="0"/>
              </a:spcBef>
              <a:spcAft>
                <a:spcPts val="0"/>
              </a:spcAft>
              <a:buNone/>
            </a:pPr>
            <a:r>
              <a:rPr lang="en-US" sz="1250" b="0" dirty="0">
                <a:solidFill>
                  <a:srgbClr val="E2E8F0"/>
                </a:solidFill>
                <a:latin typeface="Segoe UI"/>
                <a:ea typeface="Segoe UI"/>
                <a:cs typeface="Segoe UI"/>
              </a:rPr>
              <a:t>Without transparency, inspection misleads. Without inspection, adaptation guesses. Without adaptation, events are empty ceremonies.</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9"/>
                                        </p:tgtEl>
                                        <p:attrNameLst>
                                          <p:attrName>style.visibility</p:attrName>
                                        </p:attrNameLst>
                                      </p:cBhvr>
                                      <p:to>
                                        <p:strVal val="visible"/>
                                      </p:to>
                                    </p:set>
                                    <p:animEffect transition="in" filter="fade">
                                      <p:cBhvr>
                                        <p:cTn id="7" dur="500"/>
                                        <p:tgtEl>
                                          <p:spTgt spid="109"/>
                                        </p:tgtEl>
                                      </p:cBhvr>
                                    </p:animEffect>
                                  </p:childTnLst>
                                </p:cTn>
                              </p:par>
                              <p:par>
                                <p:cTn id="8" presetID="22" presetClass="entr" presetSubtype="4" fill="hold" grpId="0" nodeType="withEffect">
                                  <p:stCondLst>
                                    <p:cond delay="150"/>
                                  </p:stCondLst>
                                  <p:childTnLst>
                                    <p:set>
                                      <p:cBhvr>
                                        <p:cTn id="9" dur="1" fill="hold">
                                          <p:stCondLst>
                                            <p:cond delay="0"/>
                                          </p:stCondLst>
                                        </p:cTn>
                                        <p:tgtEl>
                                          <p:spTgt spid="104"/>
                                        </p:tgtEl>
                                        <p:attrNameLst>
                                          <p:attrName>style.visibility</p:attrName>
                                        </p:attrNameLst>
                                      </p:cBhvr>
                                      <p:to>
                                        <p:strVal val="visible"/>
                                      </p:to>
                                    </p:set>
                                    <p:animEffect transition="in" filter="wipe(down)">
                                      <p:cBhvr>
                                        <p:cTn id="10" dur="500"/>
                                        <p:tgtEl>
                                          <p:spTgt spid="104"/>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childTnLst>
                                </p:cTn>
                              </p:par>
                              <p:par>
                                <p:cTn id="14" presetID="42" presetClass="entr" presetSubtype="0" fill="hold" grpId="0" nodeType="withEffect">
                                  <p:stCondLst>
                                    <p:cond delay="450"/>
                                  </p:stCondLst>
                                  <p:childTnLst>
                                    <p:set>
                                      <p:cBhvr>
                                        <p:cTn id="15" dur="1" fill="hold">
                                          <p:stCondLst>
                                            <p:cond delay="0"/>
                                          </p:stCondLst>
                                        </p:cTn>
                                        <p:tgtEl>
                                          <p:spTgt spid="105"/>
                                        </p:tgtEl>
                                        <p:attrNameLst>
                                          <p:attrName>style.visibility</p:attrName>
                                        </p:attrNameLst>
                                      </p:cBhvr>
                                      <p:to>
                                        <p:strVal val="visible"/>
                                      </p:to>
                                    </p:set>
                                    <p:animEffect transition="in" filter="fade">
                                      <p:cBhvr>
                                        <p:cTn id="16" dur="500"/>
                                        <p:tgtEl>
                                          <p:spTgt spid="105"/>
                                        </p:tgtEl>
                                      </p:cBhvr>
                                    </p:animEffect>
                                    <p:anim calcmode="lin" valueType="num">
                                      <p:cBhvr additive="base">
                                        <p:cTn id="17" dur="500" decel="100000" fill="hold"/>
                                        <p:tgtEl>
                                          <p:spTgt spid="105"/>
                                        </p:tgtEl>
                                        <p:attrNameLst>
                                          <p:attrName>ppt_y</p:attrName>
                                        </p:attrNameLst>
                                      </p:cBhvr>
                                      <p:tavLst>
                                        <p:tav tm="0">
                                          <p:val>
                                            <p:strVal val="#ppt_y+0.06"/>
                                          </p:val>
                                        </p:tav>
                                        <p:tav tm="100000">
                                          <p:val>
                                            <p:strVal val="#ppt_y"/>
                                          </p:val>
                                        </p:tav>
                                      </p:tavLst>
                                    </p:anim>
                                  </p:childTnLst>
                                </p:cTn>
                              </p:par>
                              <p:par>
                                <p:cTn id="18" presetID="42" presetClass="entr" presetSubtype="0" fill="hold" nodeType="withEffect">
                                  <p:stCondLst>
                                    <p:cond delay="450"/>
                                  </p:stCondLst>
                                  <p:childTnLst>
                                    <p:set>
                                      <p:cBhvr>
                                        <p:cTn id="19" dur="1" fill="hold">
                                          <p:stCondLst>
                                            <p:cond delay="0"/>
                                          </p:stCondLst>
                                        </p:cTn>
                                        <p:tgtEl>
                                          <p:spTgt spid="106"/>
                                        </p:tgtEl>
                                        <p:attrNameLst>
                                          <p:attrName>style.visibility</p:attrName>
                                        </p:attrNameLst>
                                      </p:cBhvr>
                                      <p:to>
                                        <p:strVal val="visible"/>
                                      </p:to>
                                    </p:set>
                                    <p:animEffect transition="in" filter="fade">
                                      <p:cBhvr>
                                        <p:cTn id="20" dur="500"/>
                                        <p:tgtEl>
                                          <p:spTgt spid="106"/>
                                        </p:tgtEl>
                                      </p:cBhvr>
                                    </p:animEffect>
                                    <p:anim calcmode="lin" valueType="num">
                                      <p:cBhvr additive="base">
                                        <p:cTn id="21" dur="500" decel="100000" fill="hold"/>
                                        <p:tgtEl>
                                          <p:spTgt spid="106"/>
                                        </p:tgtEl>
                                        <p:attrNameLst>
                                          <p:attrName>ppt_y</p:attrName>
                                        </p:attrNameLst>
                                      </p:cBhvr>
                                      <p:tavLst>
                                        <p:tav tm="0">
                                          <p:val>
                                            <p:strVal val="#ppt_y+0.06"/>
                                          </p:val>
                                        </p:tav>
                                        <p:tav tm="100000">
                                          <p:val>
                                            <p:strVal val="#ppt_y"/>
                                          </p:val>
                                        </p:tav>
                                      </p:tavLst>
                                    </p:anim>
                                  </p:childTnLst>
                                </p:cTn>
                              </p:par>
                              <p:par>
                                <p:cTn id="22" presetID="42" presetClass="entr" presetSubtype="0" fill="hold" grpId="0" nodeType="withEffect">
                                  <p:stCondLst>
                                    <p:cond delay="450"/>
                                  </p:stCondLst>
                                  <p:childTnLst>
                                    <p:set>
                                      <p:cBhvr>
                                        <p:cTn id="23" dur="1" fill="hold">
                                          <p:stCondLst>
                                            <p:cond delay="0"/>
                                          </p:stCondLst>
                                        </p:cTn>
                                        <p:tgtEl>
                                          <p:spTgt spid="107"/>
                                        </p:tgtEl>
                                        <p:attrNameLst>
                                          <p:attrName>style.visibility</p:attrName>
                                        </p:attrNameLst>
                                      </p:cBhvr>
                                      <p:to>
                                        <p:strVal val="visible"/>
                                      </p:to>
                                    </p:set>
                                    <p:animEffect transition="in" filter="fade">
                                      <p:cBhvr>
                                        <p:cTn id="24" dur="500"/>
                                        <p:tgtEl>
                                          <p:spTgt spid="107"/>
                                        </p:tgtEl>
                                      </p:cBhvr>
                                    </p:animEffect>
                                    <p:anim calcmode="lin" valueType="num">
                                      <p:cBhvr additive="base">
                                        <p:cTn id="25" dur="500" decel="100000" fill="hold"/>
                                        <p:tgtEl>
                                          <p:spTgt spid="107"/>
                                        </p:tgtEl>
                                        <p:attrNameLst>
                                          <p:attrName>ppt_y</p:attrName>
                                        </p:attrNameLst>
                                      </p:cBhvr>
                                      <p:tavLst>
                                        <p:tav tm="0">
                                          <p:val>
                                            <p:strVal val="#ppt_y+0.06"/>
                                          </p:val>
                                        </p:tav>
                                        <p:tav tm="100000">
                                          <p:val>
                                            <p:strVal val="#ppt_y"/>
                                          </p:val>
                                        </p:tav>
                                      </p:tavLst>
                                    </p:anim>
                                  </p:childTnLst>
                                </p:cTn>
                              </p:par>
                              <p:par>
                                <p:cTn id="26" presetID="42" presetClass="entr" presetSubtype="0" fill="hold" grpId="0" nodeType="withEffect">
                                  <p:stCondLst>
                                    <p:cond delay="450"/>
                                  </p:stCondLst>
                                  <p:childTnLst>
                                    <p:set>
                                      <p:cBhvr>
                                        <p:cTn id="27" dur="1" fill="hold">
                                          <p:stCondLst>
                                            <p:cond delay="0"/>
                                          </p:stCondLst>
                                        </p:cTn>
                                        <p:tgtEl>
                                          <p:spTgt spid="108"/>
                                        </p:tgtEl>
                                        <p:attrNameLst>
                                          <p:attrName>style.visibility</p:attrName>
                                        </p:attrNameLst>
                                      </p:cBhvr>
                                      <p:to>
                                        <p:strVal val="visible"/>
                                      </p:to>
                                    </p:set>
                                    <p:animEffect transition="in" filter="fade">
                                      <p:cBhvr>
                                        <p:cTn id="28" dur="500"/>
                                        <p:tgtEl>
                                          <p:spTgt spid="108"/>
                                        </p:tgtEl>
                                      </p:cBhvr>
                                    </p:animEffect>
                                    <p:anim calcmode="lin" valueType="num">
                                      <p:cBhvr additive="base">
                                        <p:cTn id="29" dur="500" decel="100000" fill="hold"/>
                                        <p:tgtEl>
                                          <p:spTgt spid="108"/>
                                        </p:tgtEl>
                                        <p:attrNameLst>
                                          <p:attrName>ppt_y</p:attrName>
                                        </p:attrNameLst>
                                      </p:cBhvr>
                                      <p:tavLst>
                                        <p:tav tm="0">
                                          <p:val>
                                            <p:strVal val="#ppt_y+0.06"/>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16"/>
                                        </p:tgtEl>
                                        <p:attrNameLst>
                                          <p:attrName>style.visibility</p:attrName>
                                        </p:attrNameLst>
                                      </p:cBhvr>
                                      <p:to>
                                        <p:strVal val="visible"/>
                                      </p:to>
                                    </p:set>
                                    <p:animEffect transition="in" filter="fade">
                                      <p:cBhvr>
                                        <p:cTn id="34" dur="500"/>
                                        <p:tgtEl>
                                          <p:spTgt spid="116"/>
                                        </p:tgtEl>
                                      </p:cBhvr>
                                    </p:animEffect>
                                  </p:childTnLst>
                                </p:cTn>
                              </p:par>
                              <p:par>
                                <p:cTn id="35" presetID="22" presetClass="entr" presetSubtype="4" fill="hold" grpId="0" nodeType="withEffect">
                                  <p:stCondLst>
                                    <p:cond delay="150"/>
                                  </p:stCondLst>
                                  <p:childTnLst>
                                    <p:set>
                                      <p:cBhvr>
                                        <p:cTn id="36" dur="1" fill="hold">
                                          <p:stCondLst>
                                            <p:cond delay="0"/>
                                          </p:stCondLst>
                                        </p:cTn>
                                        <p:tgtEl>
                                          <p:spTgt spid="111"/>
                                        </p:tgtEl>
                                        <p:attrNameLst>
                                          <p:attrName>style.visibility</p:attrName>
                                        </p:attrNameLst>
                                      </p:cBhvr>
                                      <p:to>
                                        <p:strVal val="visible"/>
                                      </p:to>
                                    </p:set>
                                    <p:animEffect transition="in" filter="wipe(down)">
                                      <p:cBhvr>
                                        <p:cTn id="37" dur="500"/>
                                        <p:tgtEl>
                                          <p:spTgt spid="111"/>
                                        </p:tgtEl>
                                      </p:cBhvr>
                                    </p:animEffect>
                                  </p:childTnLst>
                                </p:cTn>
                              </p:par>
                              <p:par>
                                <p:cTn id="38" presetID="10" presetClass="entr" presetSubtype="0" fill="hold" grpId="0" nodeType="withEffect">
                                  <p:stCondLst>
                                    <p:cond delay="300"/>
                                  </p:stCondLst>
                                  <p:childTnLst>
                                    <p:set>
                                      <p:cBhvr>
                                        <p:cTn id="39" dur="1" fill="hold">
                                          <p:stCondLst>
                                            <p:cond delay="0"/>
                                          </p:stCondLst>
                                        </p:cTn>
                                        <p:tgtEl>
                                          <p:spTgt spid="110"/>
                                        </p:tgtEl>
                                        <p:attrNameLst>
                                          <p:attrName>style.visibility</p:attrName>
                                        </p:attrNameLst>
                                      </p:cBhvr>
                                      <p:to>
                                        <p:strVal val="visible"/>
                                      </p:to>
                                    </p:set>
                                    <p:animEffect transition="in" filter="fade">
                                      <p:cBhvr>
                                        <p:cTn id="40" dur="500"/>
                                        <p:tgtEl>
                                          <p:spTgt spid="110"/>
                                        </p:tgtEl>
                                      </p:cBhvr>
                                    </p:animEffect>
                                  </p:childTnLst>
                                </p:cTn>
                              </p:par>
                              <p:par>
                                <p:cTn id="41" presetID="42" presetClass="entr" presetSubtype="0" fill="hold" grpId="0" nodeType="withEffect">
                                  <p:stCondLst>
                                    <p:cond delay="450"/>
                                  </p:stCondLst>
                                  <p:childTnLst>
                                    <p:set>
                                      <p:cBhvr>
                                        <p:cTn id="42" dur="1" fill="hold">
                                          <p:stCondLst>
                                            <p:cond delay="0"/>
                                          </p:stCondLst>
                                        </p:cTn>
                                        <p:tgtEl>
                                          <p:spTgt spid="112"/>
                                        </p:tgtEl>
                                        <p:attrNameLst>
                                          <p:attrName>style.visibility</p:attrName>
                                        </p:attrNameLst>
                                      </p:cBhvr>
                                      <p:to>
                                        <p:strVal val="visible"/>
                                      </p:to>
                                    </p:set>
                                    <p:animEffect transition="in" filter="fade">
                                      <p:cBhvr>
                                        <p:cTn id="43" dur="500"/>
                                        <p:tgtEl>
                                          <p:spTgt spid="112"/>
                                        </p:tgtEl>
                                      </p:cBhvr>
                                    </p:animEffect>
                                    <p:anim calcmode="lin" valueType="num">
                                      <p:cBhvr additive="base">
                                        <p:cTn id="44" dur="500" decel="100000" fill="hold"/>
                                        <p:tgtEl>
                                          <p:spTgt spid="112"/>
                                        </p:tgtEl>
                                        <p:attrNameLst>
                                          <p:attrName>ppt_y</p:attrName>
                                        </p:attrNameLst>
                                      </p:cBhvr>
                                      <p:tavLst>
                                        <p:tav tm="0">
                                          <p:val>
                                            <p:strVal val="#ppt_y+0.06"/>
                                          </p:val>
                                        </p:tav>
                                        <p:tav tm="100000">
                                          <p:val>
                                            <p:strVal val="#ppt_y"/>
                                          </p:val>
                                        </p:tav>
                                      </p:tavLst>
                                    </p:anim>
                                  </p:childTnLst>
                                </p:cTn>
                              </p:par>
                              <p:par>
                                <p:cTn id="45" presetID="42" presetClass="entr" presetSubtype="0" fill="hold" nodeType="withEffect">
                                  <p:stCondLst>
                                    <p:cond delay="450"/>
                                  </p:stCondLst>
                                  <p:childTnLst>
                                    <p:set>
                                      <p:cBhvr>
                                        <p:cTn id="46" dur="1" fill="hold">
                                          <p:stCondLst>
                                            <p:cond delay="0"/>
                                          </p:stCondLst>
                                        </p:cTn>
                                        <p:tgtEl>
                                          <p:spTgt spid="113"/>
                                        </p:tgtEl>
                                        <p:attrNameLst>
                                          <p:attrName>style.visibility</p:attrName>
                                        </p:attrNameLst>
                                      </p:cBhvr>
                                      <p:to>
                                        <p:strVal val="visible"/>
                                      </p:to>
                                    </p:set>
                                    <p:animEffect transition="in" filter="fade">
                                      <p:cBhvr>
                                        <p:cTn id="47" dur="500"/>
                                        <p:tgtEl>
                                          <p:spTgt spid="113"/>
                                        </p:tgtEl>
                                      </p:cBhvr>
                                    </p:animEffect>
                                    <p:anim calcmode="lin" valueType="num">
                                      <p:cBhvr additive="base">
                                        <p:cTn id="48" dur="500" decel="100000" fill="hold"/>
                                        <p:tgtEl>
                                          <p:spTgt spid="113"/>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450"/>
                                  </p:stCondLst>
                                  <p:childTnLst>
                                    <p:set>
                                      <p:cBhvr>
                                        <p:cTn id="50" dur="1" fill="hold">
                                          <p:stCondLst>
                                            <p:cond delay="0"/>
                                          </p:stCondLst>
                                        </p:cTn>
                                        <p:tgtEl>
                                          <p:spTgt spid="114"/>
                                        </p:tgtEl>
                                        <p:attrNameLst>
                                          <p:attrName>style.visibility</p:attrName>
                                        </p:attrNameLst>
                                      </p:cBhvr>
                                      <p:to>
                                        <p:strVal val="visible"/>
                                      </p:to>
                                    </p:set>
                                    <p:animEffect transition="in" filter="fade">
                                      <p:cBhvr>
                                        <p:cTn id="51" dur="500"/>
                                        <p:tgtEl>
                                          <p:spTgt spid="114"/>
                                        </p:tgtEl>
                                      </p:cBhvr>
                                    </p:animEffect>
                                    <p:anim calcmode="lin" valueType="num">
                                      <p:cBhvr additive="base">
                                        <p:cTn id="52" dur="500" decel="100000" fill="hold"/>
                                        <p:tgtEl>
                                          <p:spTgt spid="114"/>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450"/>
                                  </p:stCondLst>
                                  <p:childTnLst>
                                    <p:set>
                                      <p:cBhvr>
                                        <p:cTn id="54" dur="1" fill="hold">
                                          <p:stCondLst>
                                            <p:cond delay="0"/>
                                          </p:stCondLst>
                                        </p:cTn>
                                        <p:tgtEl>
                                          <p:spTgt spid="115"/>
                                        </p:tgtEl>
                                        <p:attrNameLst>
                                          <p:attrName>style.visibility</p:attrName>
                                        </p:attrNameLst>
                                      </p:cBhvr>
                                      <p:to>
                                        <p:strVal val="visible"/>
                                      </p:to>
                                    </p:set>
                                    <p:animEffect transition="in" filter="fade">
                                      <p:cBhvr>
                                        <p:cTn id="55" dur="500"/>
                                        <p:tgtEl>
                                          <p:spTgt spid="115"/>
                                        </p:tgtEl>
                                      </p:cBhvr>
                                    </p:animEffect>
                                    <p:anim calcmode="lin" valueType="num">
                                      <p:cBhvr additive="base">
                                        <p:cTn id="56" dur="500" decel="100000" fill="hold"/>
                                        <p:tgtEl>
                                          <p:spTgt spid="115"/>
                                        </p:tgtEl>
                                        <p:attrNameLst>
                                          <p:attrName>ppt_y</p:attrName>
                                        </p:attrNameLst>
                                      </p:cBhvr>
                                      <p:tavLst>
                                        <p:tav tm="0">
                                          <p:val>
                                            <p:strVal val="#ppt_y+0.06"/>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23"/>
                                        </p:tgtEl>
                                        <p:attrNameLst>
                                          <p:attrName>style.visibility</p:attrName>
                                        </p:attrNameLst>
                                      </p:cBhvr>
                                      <p:to>
                                        <p:strVal val="visible"/>
                                      </p:to>
                                    </p:set>
                                    <p:animEffect transition="in" filter="fade">
                                      <p:cBhvr>
                                        <p:cTn id="61" dur="500"/>
                                        <p:tgtEl>
                                          <p:spTgt spid="123"/>
                                        </p:tgtEl>
                                      </p:cBhvr>
                                    </p:animEffect>
                                  </p:childTnLst>
                                </p:cTn>
                              </p:par>
                              <p:par>
                                <p:cTn id="62" presetID="22" presetClass="entr" presetSubtype="4" fill="hold" grpId="0" nodeType="withEffect">
                                  <p:stCondLst>
                                    <p:cond delay="150"/>
                                  </p:stCondLst>
                                  <p:childTnLst>
                                    <p:set>
                                      <p:cBhvr>
                                        <p:cTn id="63" dur="1" fill="hold">
                                          <p:stCondLst>
                                            <p:cond delay="0"/>
                                          </p:stCondLst>
                                        </p:cTn>
                                        <p:tgtEl>
                                          <p:spTgt spid="118"/>
                                        </p:tgtEl>
                                        <p:attrNameLst>
                                          <p:attrName>style.visibility</p:attrName>
                                        </p:attrNameLst>
                                      </p:cBhvr>
                                      <p:to>
                                        <p:strVal val="visible"/>
                                      </p:to>
                                    </p:set>
                                    <p:animEffect transition="in" filter="wipe(down)">
                                      <p:cBhvr>
                                        <p:cTn id="64" dur="500"/>
                                        <p:tgtEl>
                                          <p:spTgt spid="118"/>
                                        </p:tgtEl>
                                      </p:cBhvr>
                                    </p:animEffect>
                                  </p:childTnLst>
                                </p:cTn>
                              </p:par>
                              <p:par>
                                <p:cTn id="65" presetID="10" presetClass="entr" presetSubtype="0" fill="hold" grpId="0" nodeType="withEffect">
                                  <p:stCondLst>
                                    <p:cond delay="300"/>
                                  </p:stCondLst>
                                  <p:childTnLst>
                                    <p:set>
                                      <p:cBhvr>
                                        <p:cTn id="66" dur="1" fill="hold">
                                          <p:stCondLst>
                                            <p:cond delay="0"/>
                                          </p:stCondLst>
                                        </p:cTn>
                                        <p:tgtEl>
                                          <p:spTgt spid="117"/>
                                        </p:tgtEl>
                                        <p:attrNameLst>
                                          <p:attrName>style.visibility</p:attrName>
                                        </p:attrNameLst>
                                      </p:cBhvr>
                                      <p:to>
                                        <p:strVal val="visible"/>
                                      </p:to>
                                    </p:set>
                                    <p:animEffect transition="in" filter="fade">
                                      <p:cBhvr>
                                        <p:cTn id="67" dur="500"/>
                                        <p:tgtEl>
                                          <p:spTgt spid="117"/>
                                        </p:tgtEl>
                                      </p:cBhvr>
                                    </p:animEffect>
                                  </p:childTnLst>
                                </p:cTn>
                              </p:par>
                              <p:par>
                                <p:cTn id="68" presetID="42" presetClass="entr" presetSubtype="0" fill="hold" grpId="0" nodeType="withEffect">
                                  <p:stCondLst>
                                    <p:cond delay="450"/>
                                  </p:stCondLst>
                                  <p:childTnLst>
                                    <p:set>
                                      <p:cBhvr>
                                        <p:cTn id="69" dur="1" fill="hold">
                                          <p:stCondLst>
                                            <p:cond delay="0"/>
                                          </p:stCondLst>
                                        </p:cTn>
                                        <p:tgtEl>
                                          <p:spTgt spid="119"/>
                                        </p:tgtEl>
                                        <p:attrNameLst>
                                          <p:attrName>style.visibility</p:attrName>
                                        </p:attrNameLst>
                                      </p:cBhvr>
                                      <p:to>
                                        <p:strVal val="visible"/>
                                      </p:to>
                                    </p:set>
                                    <p:animEffect transition="in" filter="fade">
                                      <p:cBhvr>
                                        <p:cTn id="70" dur="500"/>
                                        <p:tgtEl>
                                          <p:spTgt spid="119"/>
                                        </p:tgtEl>
                                      </p:cBhvr>
                                    </p:animEffect>
                                    <p:anim calcmode="lin" valueType="num">
                                      <p:cBhvr additive="base">
                                        <p:cTn id="71" dur="500" decel="100000" fill="hold"/>
                                        <p:tgtEl>
                                          <p:spTgt spid="119"/>
                                        </p:tgtEl>
                                        <p:attrNameLst>
                                          <p:attrName>ppt_y</p:attrName>
                                        </p:attrNameLst>
                                      </p:cBhvr>
                                      <p:tavLst>
                                        <p:tav tm="0">
                                          <p:val>
                                            <p:strVal val="#ppt_y+0.06"/>
                                          </p:val>
                                        </p:tav>
                                        <p:tav tm="100000">
                                          <p:val>
                                            <p:strVal val="#ppt_y"/>
                                          </p:val>
                                        </p:tav>
                                      </p:tavLst>
                                    </p:anim>
                                  </p:childTnLst>
                                </p:cTn>
                              </p:par>
                              <p:par>
                                <p:cTn id="72" presetID="42" presetClass="entr" presetSubtype="0" fill="hold" nodeType="withEffect">
                                  <p:stCondLst>
                                    <p:cond delay="450"/>
                                  </p:stCondLst>
                                  <p:childTnLst>
                                    <p:set>
                                      <p:cBhvr>
                                        <p:cTn id="73" dur="1" fill="hold">
                                          <p:stCondLst>
                                            <p:cond delay="0"/>
                                          </p:stCondLst>
                                        </p:cTn>
                                        <p:tgtEl>
                                          <p:spTgt spid="120"/>
                                        </p:tgtEl>
                                        <p:attrNameLst>
                                          <p:attrName>style.visibility</p:attrName>
                                        </p:attrNameLst>
                                      </p:cBhvr>
                                      <p:to>
                                        <p:strVal val="visible"/>
                                      </p:to>
                                    </p:set>
                                    <p:animEffect transition="in" filter="fade">
                                      <p:cBhvr>
                                        <p:cTn id="74" dur="500"/>
                                        <p:tgtEl>
                                          <p:spTgt spid="120"/>
                                        </p:tgtEl>
                                      </p:cBhvr>
                                    </p:animEffect>
                                    <p:anim calcmode="lin" valueType="num">
                                      <p:cBhvr additive="base">
                                        <p:cTn id="75" dur="500" decel="100000" fill="hold"/>
                                        <p:tgtEl>
                                          <p:spTgt spid="120"/>
                                        </p:tgtEl>
                                        <p:attrNameLst>
                                          <p:attrName>ppt_y</p:attrName>
                                        </p:attrNameLst>
                                      </p:cBhvr>
                                      <p:tavLst>
                                        <p:tav tm="0">
                                          <p:val>
                                            <p:strVal val="#ppt_y+0.06"/>
                                          </p:val>
                                        </p:tav>
                                        <p:tav tm="100000">
                                          <p:val>
                                            <p:strVal val="#ppt_y"/>
                                          </p:val>
                                        </p:tav>
                                      </p:tavLst>
                                    </p:anim>
                                  </p:childTnLst>
                                </p:cTn>
                              </p:par>
                              <p:par>
                                <p:cTn id="76" presetID="42" presetClass="entr" presetSubtype="0" fill="hold" grpId="0" nodeType="withEffect">
                                  <p:stCondLst>
                                    <p:cond delay="450"/>
                                  </p:stCondLst>
                                  <p:childTnLst>
                                    <p:set>
                                      <p:cBhvr>
                                        <p:cTn id="77" dur="1" fill="hold">
                                          <p:stCondLst>
                                            <p:cond delay="0"/>
                                          </p:stCondLst>
                                        </p:cTn>
                                        <p:tgtEl>
                                          <p:spTgt spid="121"/>
                                        </p:tgtEl>
                                        <p:attrNameLst>
                                          <p:attrName>style.visibility</p:attrName>
                                        </p:attrNameLst>
                                      </p:cBhvr>
                                      <p:to>
                                        <p:strVal val="visible"/>
                                      </p:to>
                                    </p:set>
                                    <p:animEffect transition="in" filter="fade">
                                      <p:cBhvr>
                                        <p:cTn id="78" dur="500"/>
                                        <p:tgtEl>
                                          <p:spTgt spid="121"/>
                                        </p:tgtEl>
                                      </p:cBhvr>
                                    </p:animEffect>
                                    <p:anim calcmode="lin" valueType="num">
                                      <p:cBhvr additive="base">
                                        <p:cTn id="79" dur="500" decel="100000" fill="hold"/>
                                        <p:tgtEl>
                                          <p:spTgt spid="121"/>
                                        </p:tgtEl>
                                        <p:attrNameLst>
                                          <p:attrName>ppt_y</p:attrName>
                                        </p:attrNameLst>
                                      </p:cBhvr>
                                      <p:tavLst>
                                        <p:tav tm="0">
                                          <p:val>
                                            <p:strVal val="#ppt_y+0.06"/>
                                          </p:val>
                                        </p:tav>
                                        <p:tav tm="100000">
                                          <p:val>
                                            <p:strVal val="#ppt_y"/>
                                          </p:val>
                                        </p:tav>
                                      </p:tavLst>
                                    </p:anim>
                                  </p:childTnLst>
                                </p:cTn>
                              </p:par>
                              <p:par>
                                <p:cTn id="80" presetID="42" presetClass="entr" presetSubtype="0" fill="hold" grpId="0" nodeType="withEffect">
                                  <p:stCondLst>
                                    <p:cond delay="450"/>
                                  </p:stCondLst>
                                  <p:childTnLst>
                                    <p:set>
                                      <p:cBhvr>
                                        <p:cTn id="81" dur="1" fill="hold">
                                          <p:stCondLst>
                                            <p:cond delay="0"/>
                                          </p:stCondLst>
                                        </p:cTn>
                                        <p:tgtEl>
                                          <p:spTgt spid="122"/>
                                        </p:tgtEl>
                                        <p:attrNameLst>
                                          <p:attrName>style.visibility</p:attrName>
                                        </p:attrNameLst>
                                      </p:cBhvr>
                                      <p:to>
                                        <p:strVal val="visible"/>
                                      </p:to>
                                    </p:set>
                                    <p:animEffect transition="in" filter="fade">
                                      <p:cBhvr>
                                        <p:cTn id="82" dur="500"/>
                                        <p:tgtEl>
                                          <p:spTgt spid="122"/>
                                        </p:tgtEl>
                                      </p:cBhvr>
                                    </p:animEffect>
                                    <p:anim calcmode="lin" valueType="num">
                                      <p:cBhvr additive="base">
                                        <p:cTn id="83" dur="500" decel="100000" fill="hold"/>
                                        <p:tgtEl>
                                          <p:spTgt spid="122"/>
                                        </p:tgtEl>
                                        <p:attrNameLst>
                                          <p:attrName>ppt_y</p:attrName>
                                        </p:attrNameLst>
                                      </p:cBhvr>
                                      <p:tavLst>
                                        <p:tav tm="0">
                                          <p:val>
                                            <p:strVal val="#ppt_y+0.06"/>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22" presetClass="entr" presetSubtype="8" fill="hold" grpId="0" nodeType="clickEffect">
                                  <p:stCondLst>
                                    <p:cond delay="0"/>
                                  </p:stCondLst>
                                  <p:childTnLst>
                                    <p:set>
                                      <p:cBhvr>
                                        <p:cTn id="87" dur="1" fill="hold">
                                          <p:stCondLst>
                                            <p:cond delay="0"/>
                                          </p:stCondLst>
                                        </p:cTn>
                                        <p:tgtEl>
                                          <p:spTgt spid="102"/>
                                        </p:tgtEl>
                                        <p:attrNameLst>
                                          <p:attrName>style.visibility</p:attrName>
                                        </p:attrNameLst>
                                      </p:cBhvr>
                                      <p:to>
                                        <p:strVal val="visible"/>
                                      </p:to>
                                    </p:set>
                                    <p:animEffect transition="in" filter="wipe(left)">
                                      <p:cBhvr>
                                        <p:cTn id="88" dur="500"/>
                                        <p:tgtEl>
                                          <p:spTgt spid="102"/>
                                        </p:tgtEl>
                                      </p:cBhvr>
                                    </p:animEffect>
                                  </p:childTnLst>
                                </p:cTn>
                              </p:par>
                              <p:par>
                                <p:cTn id="89" presetID="42" presetClass="entr" presetSubtype="0" fill="hold" grpId="0" nodeType="withEffect">
                                  <p:stCondLst>
                                    <p:cond delay="200"/>
                                  </p:stCondLst>
                                  <p:childTnLst>
                                    <p:set>
                                      <p:cBhvr>
                                        <p:cTn id="90" dur="1" fill="hold">
                                          <p:stCondLst>
                                            <p:cond delay="0"/>
                                          </p:stCondLst>
                                        </p:cTn>
                                        <p:tgtEl>
                                          <p:spTgt spid="101"/>
                                        </p:tgtEl>
                                        <p:attrNameLst>
                                          <p:attrName>style.visibility</p:attrName>
                                        </p:attrNameLst>
                                      </p:cBhvr>
                                      <p:to>
                                        <p:strVal val="visible"/>
                                      </p:to>
                                    </p:set>
                                    <p:animEffect transition="in" filter="fade">
                                      <p:cBhvr>
                                        <p:cTn id="91" dur="500"/>
                                        <p:tgtEl>
                                          <p:spTgt spid="101"/>
                                        </p:tgtEl>
                                      </p:cBhvr>
                                    </p:animEffect>
                                    <p:anim calcmode="lin" valueType="num">
                                      <p:cBhvr additive="base">
                                        <p:cTn id="92" dur="500" decel="100000" fill="hold"/>
                                        <p:tgtEl>
                                          <p:spTgt spid="101"/>
                                        </p:tgtEl>
                                        <p:attrNameLst>
                                          <p:attrName>ppt_y</p:attrName>
                                        </p:attrNameLst>
                                      </p:cBhvr>
                                      <p:tavLst>
                                        <p:tav tm="0">
                                          <p:val>
                                            <p:strVal val="#ppt_y-0.06"/>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42" presetClass="entr" presetSubtype="0" fill="hold" grpId="0" nodeType="clickEffect">
                                  <p:stCondLst>
                                    <p:cond delay="0"/>
                                  </p:stCondLst>
                                  <p:childTnLst>
                                    <p:set>
                                      <p:cBhvr>
                                        <p:cTn id="96" dur="1" fill="hold">
                                          <p:stCondLst>
                                            <p:cond delay="0"/>
                                          </p:stCondLst>
                                        </p:cTn>
                                        <p:tgtEl>
                                          <p:spTgt spid="124"/>
                                        </p:tgtEl>
                                        <p:attrNameLst>
                                          <p:attrName>style.visibility</p:attrName>
                                        </p:attrNameLst>
                                      </p:cBhvr>
                                      <p:to>
                                        <p:strVal val="visible"/>
                                      </p:to>
                                    </p:set>
                                    <p:animEffect transition="in" filter="fade">
                                      <p:cBhvr>
                                        <p:cTn id="97" dur="500"/>
                                        <p:tgtEl>
                                          <p:spTgt spid="124"/>
                                        </p:tgtEl>
                                      </p:cBhvr>
                                    </p:animEffect>
                                    <p:anim calcmode="lin" valueType="num">
                                      <p:cBhvr additive="base">
                                        <p:cTn id="98" dur="500" decel="100000" fill="hold"/>
                                        <p:tgtEl>
                                          <p:spTgt spid="124"/>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7" grpId="0" animBg="1"/>
      <p:bldP spid="108" grpId="0" animBg="1"/>
      <p:bldP spid="109" grpId="0" animBg="1"/>
      <p:bldP spid="110" grpId="0" animBg="1"/>
      <p:bldP spid="111" grpId="0" animBg="1"/>
      <p:bldP spid="112" grpId="0" animBg="1"/>
      <p:bldP spid="114" grpId="0" animBg="1"/>
      <p:bldP spid="115" grpId="0" animBg="1"/>
      <p:bldP spid="116" grpId="0" animBg="1"/>
      <p:bldP spid="117" grpId="0" animBg="1"/>
      <p:bldP spid="118" grpId="0" animBg="1"/>
      <p:bldP spid="119" grpId="0" animBg="1"/>
      <p:bldP spid="121" grpId="0" animBg="1"/>
      <p:bldP spid="122" grpId="0" animBg="1"/>
      <p:bldP spid="123" grpId="0" animBg="1"/>
      <p:bldP spid="124"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VELOCITY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Team Completed 18 Story Points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Forecast 21 · Done (per the DoD) 18. Introduce Velocity carefully.</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METRICS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291</a:t>
            </a:r>
            <a:endParaRPr lang="en-US" sz="850" dirty="0"/>
          </a:p>
        </p:txBody>
      </p:sp>
      <p:sp>
        <p:nvSpPr>
          <p:cNvPr id="101" name="s101"/>
          <p:cNvSpPr/>
          <p:nvPr/>
        </p:nvSpPr>
        <p:spPr>
          <a:xfrm>
            <a:off x="543154" y="1965960"/>
            <a:ext cx="2743200" cy="2011680"/>
          </a:xfrm>
          <a:prstGeom prst="roundRect">
            <a:avLst>
              <a:gd name="adj" fmla="val 10000"/>
            </a:avLst>
          </a:prstGeom>
          <a:solidFill>
            <a:srgbClr val="111B2E"/>
          </a:solidFill>
          <a:ln w="12700">
            <a:solidFill>
              <a:srgbClr val="1E3A5F"/>
            </a:solidFill>
            <a:prstDash val="solid"/>
          </a:ln>
        </p:spPr>
        <p:txBody>
          <a:bodyPr wrap="square" lIns="164592" tIns="109728" rIns="137160" bIns="91440" rtlCol="0" anchor="ctr">
            <a:noAutofit/>
          </a:bodyPr>
          <a:lstStyle/>
          <a:p>
            <a:pPr marL="0" indent="0" algn="ctr">
              <a:spcBef>
                <a:spcPts val="0"/>
              </a:spcBef>
              <a:spcAft>
                <a:spcPts val="0"/>
              </a:spcAft>
              <a:buNone/>
            </a:pPr>
            <a:r>
              <a:rPr lang="en-US" sz="1100" b="1" dirty="0">
                <a:solidFill>
                  <a:srgbClr val="94A3B8"/>
                </a:solidFill>
                <a:latin typeface="Segoe UI"/>
                <a:ea typeface="Segoe UI"/>
                <a:cs typeface="Segoe UI"/>
              </a:rPr>
              <a:t>FORECAST</a:t>
            </a:r>
            <a:endParaRPr lang="en-US" sz="1100" dirty="0"/>
          </a:p>
          <a:p>
            <a:pPr marL="0" indent="0" algn="ctr">
              <a:spcBef>
                <a:spcPts val="0"/>
              </a:spcBef>
              <a:spcAft>
                <a:spcPts val="0"/>
              </a:spcAft>
              <a:buNone/>
            </a:pPr>
            <a:r>
              <a:rPr lang="en-US" sz="6600" b="1" dirty="0">
                <a:solidFill>
                  <a:srgbClr val="FFFFFF"/>
                </a:solidFill>
                <a:latin typeface="Segoe UI"/>
                <a:ea typeface="Segoe UI"/>
                <a:cs typeface="Segoe UI"/>
              </a:rPr>
              <a:t>21</a:t>
            </a:r>
            <a:endParaRPr lang="en-US" sz="6600" dirty="0"/>
          </a:p>
        </p:txBody>
      </p:sp>
      <p:sp>
        <p:nvSpPr>
          <p:cNvPr id="102" name="s102"/>
          <p:cNvSpPr/>
          <p:nvPr/>
        </p:nvSpPr>
        <p:spPr>
          <a:xfrm>
            <a:off x="3560674" y="1965960"/>
            <a:ext cx="2743200" cy="2011680"/>
          </a:xfrm>
          <a:prstGeom prst="roundRect">
            <a:avLst>
              <a:gd name="adj" fmla="val 10000"/>
            </a:avLst>
          </a:prstGeom>
          <a:solidFill>
            <a:srgbClr val="34D399">
              <a:alpha val="10000"/>
            </a:srgbClr>
          </a:solidFill>
          <a:ln w="25400">
            <a:solidFill>
              <a:srgbClr val="34D399"/>
            </a:solidFill>
            <a:prstDash val="solid"/>
          </a:ln>
        </p:spPr>
        <p:txBody>
          <a:bodyPr wrap="square" lIns="164592" tIns="109728" rIns="137160" bIns="9144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DONE (DoD)</a:t>
            </a:r>
            <a:endParaRPr lang="en-US" sz="1100" dirty="0"/>
          </a:p>
          <a:p>
            <a:pPr marL="0" indent="0" algn="ctr">
              <a:spcBef>
                <a:spcPts val="0"/>
              </a:spcBef>
              <a:spcAft>
                <a:spcPts val="0"/>
              </a:spcAft>
              <a:buNone/>
            </a:pPr>
            <a:r>
              <a:rPr lang="en-US" sz="6600" b="1" dirty="0">
                <a:solidFill>
                  <a:srgbClr val="34D399"/>
                </a:solidFill>
                <a:latin typeface="Segoe UI"/>
                <a:ea typeface="Segoe UI"/>
                <a:cs typeface="Segoe UI"/>
              </a:rPr>
              <a:t>18</a:t>
            </a:r>
            <a:endParaRPr lang="en-US" sz="6600" dirty="0"/>
          </a:p>
        </p:txBody>
      </p:sp>
      <p:sp>
        <p:nvSpPr>
          <p:cNvPr id="103" name="s103"/>
          <p:cNvSpPr/>
          <p:nvPr/>
        </p:nvSpPr>
        <p:spPr>
          <a:xfrm>
            <a:off x="6578194" y="1965960"/>
            <a:ext cx="5052974" cy="2011680"/>
          </a:xfrm>
          <a:prstGeom prst="roundRect">
            <a:avLst>
              <a:gd name="adj" fmla="val 10000"/>
            </a:avLst>
          </a:prstGeom>
          <a:solidFill>
            <a:srgbClr val="FBBF24">
              <a:alpha val="8000"/>
            </a:srgbClr>
          </a:solidFill>
          <a:ln w="12700">
            <a:solidFill>
              <a:srgbClr val="FBBF24"/>
            </a:solidFill>
            <a:prstDash val="solid"/>
          </a:ln>
        </p:spPr>
        <p:txBody>
          <a:bodyPr wrap="square" lIns="274320" tIns="91440" rIns="274320" bIns="91440" rtlCol="0" anchor="ctr">
            <a:noAutofit/>
          </a:bodyPr>
          <a:lstStyle/>
          <a:p>
            <a:pPr marL="0" indent="0" algn="l">
              <a:spcBef>
                <a:spcPts val="0"/>
              </a:spcBef>
              <a:spcAft>
                <a:spcPts val="600"/>
              </a:spcAft>
              <a:buNone/>
            </a:pPr>
            <a:r>
              <a:rPr lang="en-US" sz="1100" b="1" dirty="0">
                <a:solidFill>
                  <a:srgbClr val="FBBF24"/>
                </a:solidFill>
                <a:latin typeface="Segoe UI"/>
                <a:ea typeface="Segoe UI"/>
                <a:cs typeface="Segoe UI"/>
              </a:rPr>
              <a:t>VELOCITY</a:t>
            </a:r>
            <a:endParaRPr lang="en-US" sz="1100" dirty="0"/>
          </a:p>
          <a:p>
            <a:pPr marL="0" indent="0" algn="l">
              <a:spcBef>
                <a:spcPts val="0"/>
              </a:spcBef>
              <a:spcAft>
                <a:spcPts val="0"/>
              </a:spcAft>
              <a:buNone/>
            </a:pPr>
            <a:r>
              <a:rPr lang="en-US" sz="1600" b="1" dirty="0">
                <a:solidFill>
                  <a:srgbClr val="FFFFFF"/>
                </a:solidFill>
                <a:latin typeface="Segoe UI"/>
                <a:ea typeface="Segoe UI"/>
                <a:cs typeface="Segoe UI"/>
              </a:rPr>
              <a:t>The amount of estimated work completed in a Sprint. It may help the SAME team forecast.</a:t>
            </a:r>
            <a:endParaRPr lang="en-US" sz="1600" dirty="0"/>
          </a:p>
        </p:txBody>
      </p:sp>
      <p:sp>
        <p:nvSpPr>
          <p:cNvPr id="104" name="s104"/>
          <p:cNvSpPr txBox="1"/>
          <p:nvPr/>
        </p:nvSpPr>
        <p:spPr>
          <a:xfrm>
            <a:off x="543154" y="4251960"/>
            <a:ext cx="27432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F87171"/>
                </a:solidFill>
                <a:latin typeface="Segoe UI"/>
                <a:ea typeface="Segoe UI"/>
                <a:cs typeface="Segoe UI"/>
              </a:rPr>
              <a:t>DO NOT</a:t>
            </a:r>
            <a:endParaRPr lang="en-US" sz="1100" dirty="0"/>
          </a:p>
        </p:txBody>
      </p:sp>
      <p:sp>
        <p:nvSpPr>
          <p:cNvPr id="105" name="s105"/>
          <p:cNvSpPr/>
          <p:nvPr/>
        </p:nvSpPr>
        <p:spPr>
          <a:xfrm>
            <a:off x="543154" y="4617720"/>
            <a:ext cx="2071299" cy="502920"/>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F87171"/>
                </a:solidFill>
                <a:latin typeface="Segoe UI"/>
                <a:ea typeface="Segoe UI"/>
                <a:cs typeface="Segoe UI"/>
              </a:rPr>
              <a:t>✗  Compare teams</a:t>
            </a:r>
            <a:endParaRPr lang="en-US" sz="1150" dirty="0"/>
          </a:p>
        </p:txBody>
      </p:sp>
      <p:sp>
        <p:nvSpPr>
          <p:cNvPr id="106" name="s106"/>
          <p:cNvSpPr/>
          <p:nvPr/>
        </p:nvSpPr>
        <p:spPr>
          <a:xfrm>
            <a:off x="2797332" y="4617720"/>
            <a:ext cx="2071299" cy="502920"/>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F87171"/>
                </a:solidFill>
                <a:latin typeface="Segoe UI"/>
                <a:ea typeface="Segoe UI"/>
                <a:cs typeface="Segoe UI"/>
              </a:rPr>
              <a:t>✗  Score individuals</a:t>
            </a:r>
            <a:endParaRPr lang="en-US" sz="1150" dirty="0"/>
          </a:p>
        </p:txBody>
      </p:sp>
      <p:sp>
        <p:nvSpPr>
          <p:cNvPr id="107" name="s107"/>
          <p:cNvSpPr/>
          <p:nvPr/>
        </p:nvSpPr>
        <p:spPr>
          <a:xfrm>
            <a:off x="5051511" y="4617720"/>
            <a:ext cx="2071299" cy="502920"/>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F87171"/>
                </a:solidFill>
                <a:latin typeface="Segoe UI"/>
                <a:ea typeface="Segoe UI"/>
                <a:cs typeface="Segoe UI"/>
              </a:rPr>
              <a:t>✗  Set targets</a:t>
            </a:r>
            <a:endParaRPr lang="en-US" sz="1150" dirty="0"/>
          </a:p>
        </p:txBody>
      </p:sp>
      <p:sp>
        <p:nvSpPr>
          <p:cNvPr id="108" name="s108"/>
          <p:cNvSpPr/>
          <p:nvPr/>
        </p:nvSpPr>
        <p:spPr>
          <a:xfrm>
            <a:off x="7305690" y="4617720"/>
            <a:ext cx="2071299" cy="502920"/>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F87171"/>
                </a:solidFill>
                <a:latin typeface="Segoe UI"/>
                <a:ea typeface="Segoe UI"/>
                <a:cs typeface="Segoe UI"/>
              </a:rPr>
              <a:t>✗  Inflate points</a:t>
            </a:r>
            <a:endParaRPr lang="en-US" sz="1150" dirty="0"/>
          </a:p>
        </p:txBody>
      </p:sp>
      <p:sp>
        <p:nvSpPr>
          <p:cNvPr id="109" name="s109"/>
          <p:cNvSpPr/>
          <p:nvPr/>
        </p:nvSpPr>
        <p:spPr>
          <a:xfrm>
            <a:off x="9559869" y="4617720"/>
            <a:ext cx="2071299" cy="502920"/>
          </a:xfrm>
          <a:prstGeom prst="roundRect">
            <a:avLst>
              <a:gd name="adj" fmla="val 50000"/>
            </a:avLst>
          </a:prstGeom>
          <a:solidFill>
            <a:srgbClr val="F87171">
              <a:alpha val="18000"/>
            </a:srgbClr>
          </a:solidFill>
          <a:ln w="12700">
            <a:solidFill>
              <a:srgbClr val="F87171"/>
            </a:solidFill>
            <a:prstDash val="solid"/>
          </a:ln>
        </p:spPr>
        <p:txBody>
          <a:bodyPr wrap="square" lIns="36576" tIns="0" rIns="36576" bIns="0" rtlCol="0" anchor="ctr">
            <a:noAutofit/>
          </a:bodyPr>
          <a:lstStyle/>
          <a:p>
            <a:pPr marL="0" indent="0" algn="ctr">
              <a:spcBef>
                <a:spcPts val="0"/>
              </a:spcBef>
              <a:spcAft>
                <a:spcPts val="0"/>
              </a:spcAft>
              <a:buNone/>
            </a:pPr>
            <a:r>
              <a:rPr lang="en-US" sz="1150" b="1" dirty="0">
                <a:solidFill>
                  <a:srgbClr val="F87171"/>
                </a:solidFill>
                <a:latin typeface="Segoe UI"/>
                <a:ea typeface="Segoe UI"/>
                <a:cs typeface="Segoe UI"/>
              </a:rPr>
              <a:t>✗  Treat points as business value</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53" presetClass="entr" presetSubtype="16" fill="hold" grpId="0" nodeType="withEffect">
                                  <p:stCondLst>
                                    <p:cond delay="300"/>
                                  </p:stCondLst>
                                  <p:childTnLst>
                                    <p:set>
                                      <p:cBhvr>
                                        <p:cTn id="13" dur="1" fill="hold">
                                          <p:stCondLst>
                                            <p:cond delay="0"/>
                                          </p:stCondLst>
                                        </p:cTn>
                                        <p:tgtEl>
                                          <p:spTgt spid="102"/>
                                        </p:tgtEl>
                                        <p:attrNameLst>
                                          <p:attrName>style.visibility</p:attrName>
                                        </p:attrNameLst>
                                      </p:cBhvr>
                                      <p:to>
                                        <p:strVal val="visible"/>
                                      </p:to>
                                    </p:set>
                                    <p:anim calcmode="lin" valueType="num">
                                      <p:cBhvr additive="base">
                                        <p:cTn id="14" dur="500" decel="100000" fill="hold"/>
                                        <p:tgtEl>
                                          <p:spTgt spid="102"/>
                                        </p:tgtEl>
                                        <p:attrNameLst>
                                          <p:attrName>ppt_w</p:attrName>
                                        </p:attrNameLst>
                                      </p:cBhvr>
                                      <p:tavLst>
                                        <p:tav tm="0">
                                          <p:val>
                                            <p:strVal val="#ppt_w*0.3"/>
                                          </p:val>
                                        </p:tav>
                                        <p:tav tm="100000">
                                          <p:val>
                                            <p:strVal val="#ppt_w*1.08"/>
                                          </p:val>
                                        </p:tav>
                                      </p:tavLst>
                                    </p:anim>
                                    <p:anim calcmode="lin" valueType="num">
                                      <p:cBhvr additive="base">
                                        <p:cTn id="15" dur="500" decel="100000" fill="hold"/>
                                        <p:tgtEl>
                                          <p:spTgt spid="102"/>
                                        </p:tgtEl>
                                        <p:attrNameLst>
                                          <p:attrName>ppt_h</p:attrName>
                                        </p:attrNameLst>
                                      </p:cBhvr>
                                      <p:tavLst>
                                        <p:tav tm="0">
                                          <p:val>
                                            <p:strVal val="#ppt_h*0.3"/>
                                          </p:val>
                                        </p:tav>
                                        <p:tav tm="100000">
                                          <p:val>
                                            <p:strVal val="#ppt_h*1.08"/>
                                          </p:val>
                                        </p:tav>
                                      </p:tavLst>
                                    </p:anim>
                                    <p:animEffect transition="in" filter="fade">
                                      <p:cBhvr>
                                        <p:cTn id="16" dur="250"/>
                                        <p:tgtEl>
                                          <p:spTgt spid="102"/>
                                        </p:tgtEl>
                                      </p:cBhvr>
                                    </p:animEffect>
                                    <p:anim calcmode="lin" valueType="num">
                                      <p:cBhvr additive="base">
                                        <p:cTn id="17" dur="160" fill="hold">
                                          <p:stCondLst>
                                            <p:cond delay="500"/>
                                          </p:stCondLst>
                                        </p:cTn>
                                        <p:tgtEl>
                                          <p:spTgt spid="102"/>
                                        </p:tgtEl>
                                        <p:attrNameLst>
                                          <p:attrName>ppt_w</p:attrName>
                                        </p:attrNameLst>
                                      </p:cBhvr>
                                      <p:tavLst>
                                        <p:tav tm="0">
                                          <p:val>
                                            <p:strVal val="#ppt_w*1.08"/>
                                          </p:val>
                                        </p:tav>
                                        <p:tav tm="100000">
                                          <p:val>
                                            <p:strVal val="#ppt_w"/>
                                          </p:val>
                                        </p:tav>
                                      </p:tavLst>
                                    </p:anim>
                                    <p:anim calcmode="lin" valueType="num">
                                      <p:cBhvr additive="base">
                                        <p:cTn id="18" dur="160" fill="hold">
                                          <p:stCondLst>
                                            <p:cond delay="500"/>
                                          </p:stCondLst>
                                        </p:cTn>
                                        <p:tgtEl>
                                          <p:spTgt spid="102"/>
                                        </p:tgtEl>
                                        <p:attrNameLst>
                                          <p:attrName>ppt_h</p:attrName>
                                        </p:attrNameLst>
                                      </p:cBhvr>
                                      <p:tavLst>
                                        <p:tav tm="0">
                                          <p:val>
                                            <p:strVal val="#ppt_h*1.08"/>
                                          </p:val>
                                        </p:tav>
                                        <p:tav tm="100000">
                                          <p:val>
                                            <p:strVal val="#ppt_h"/>
                                          </p:val>
                                        </p:tav>
                                      </p:tavLst>
                                    </p:anim>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103"/>
                                        </p:tgtEl>
                                        <p:attrNameLst>
                                          <p:attrName>style.visibility</p:attrName>
                                        </p:attrNameLst>
                                      </p:cBhvr>
                                      <p:to>
                                        <p:strVal val="visible"/>
                                      </p:to>
                                    </p:set>
                                    <p:anim calcmode="lin" valueType="num">
                                      <p:cBhvr additive="base">
                                        <p:cTn id="23"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24" dur="500" decel="100000" fill="hold"/>
                                        <p:tgtEl>
                                          <p:spTgt spid="103"/>
                                        </p:tgtEl>
                                        <p:attrNameLst>
                                          <p:attrName>ppt_h</p:attrName>
                                        </p:attrNameLst>
                                      </p:cBhvr>
                                      <p:tavLst>
                                        <p:tav tm="0">
                                          <p:val>
                                            <p:strVal val="#ppt_h*0.55"/>
                                          </p:val>
                                        </p:tav>
                                        <p:tav tm="100000">
                                          <p:val>
                                            <p:strVal val="#ppt_h"/>
                                          </p:val>
                                        </p:tav>
                                      </p:tavLst>
                                    </p:anim>
                                    <p:animEffect transition="in" filter="fade">
                                      <p:cBhvr>
                                        <p:cTn id="25" dur="500"/>
                                        <p:tgtEl>
                                          <p:spTgt spid="103"/>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4"/>
                                        </p:tgtEl>
                                        <p:attrNameLst>
                                          <p:attrName>style.visibility</p:attrName>
                                        </p:attrNameLst>
                                      </p:cBhvr>
                                      <p:to>
                                        <p:strVal val="visible"/>
                                      </p:to>
                                    </p:set>
                                    <p:animEffect transition="in" filter="fade">
                                      <p:cBhvr>
                                        <p:cTn id="30" dur="500"/>
                                        <p:tgtEl>
                                          <p:spTgt spid="104"/>
                                        </p:tgtEl>
                                      </p:cBhvr>
                                    </p:animEffect>
                                  </p:childTnLst>
                                </p:cTn>
                              </p:par>
                              <p:par>
                                <p:cTn id="31" presetID="53" presetClass="entr" presetSubtype="16" fill="hold" grpId="0" nodeType="withEffect">
                                  <p:stCondLst>
                                    <p:cond delay="120"/>
                                  </p:stCondLst>
                                  <p:childTnLst>
                                    <p:set>
                                      <p:cBhvr>
                                        <p:cTn id="32" dur="1" fill="hold">
                                          <p:stCondLst>
                                            <p:cond delay="0"/>
                                          </p:stCondLst>
                                        </p:cTn>
                                        <p:tgtEl>
                                          <p:spTgt spid="105"/>
                                        </p:tgtEl>
                                        <p:attrNameLst>
                                          <p:attrName>style.visibility</p:attrName>
                                        </p:attrNameLst>
                                      </p:cBhvr>
                                      <p:to>
                                        <p:strVal val="visible"/>
                                      </p:to>
                                    </p:set>
                                    <p:anim calcmode="lin" valueType="num">
                                      <p:cBhvr additive="base">
                                        <p:cTn id="33" dur="500" decel="100000" fill="hold"/>
                                        <p:tgtEl>
                                          <p:spTgt spid="105"/>
                                        </p:tgtEl>
                                        <p:attrNameLst>
                                          <p:attrName>ppt_w</p:attrName>
                                        </p:attrNameLst>
                                      </p:cBhvr>
                                      <p:tavLst>
                                        <p:tav tm="0">
                                          <p:val>
                                            <p:strVal val="#ppt_w*0.3"/>
                                          </p:val>
                                        </p:tav>
                                        <p:tav tm="100000">
                                          <p:val>
                                            <p:strVal val="#ppt_w*1.08"/>
                                          </p:val>
                                        </p:tav>
                                      </p:tavLst>
                                    </p:anim>
                                    <p:anim calcmode="lin" valueType="num">
                                      <p:cBhvr additive="base">
                                        <p:cTn id="34" dur="500" decel="100000" fill="hold"/>
                                        <p:tgtEl>
                                          <p:spTgt spid="105"/>
                                        </p:tgtEl>
                                        <p:attrNameLst>
                                          <p:attrName>ppt_h</p:attrName>
                                        </p:attrNameLst>
                                      </p:cBhvr>
                                      <p:tavLst>
                                        <p:tav tm="0">
                                          <p:val>
                                            <p:strVal val="#ppt_h*0.3"/>
                                          </p:val>
                                        </p:tav>
                                        <p:tav tm="100000">
                                          <p:val>
                                            <p:strVal val="#ppt_h*1.08"/>
                                          </p:val>
                                        </p:tav>
                                      </p:tavLst>
                                    </p:anim>
                                    <p:animEffect transition="in" filter="fade">
                                      <p:cBhvr>
                                        <p:cTn id="35" dur="250"/>
                                        <p:tgtEl>
                                          <p:spTgt spid="105"/>
                                        </p:tgtEl>
                                      </p:cBhvr>
                                    </p:animEffect>
                                    <p:anim calcmode="lin" valueType="num">
                                      <p:cBhvr additive="base">
                                        <p:cTn id="36" dur="160" fill="hold">
                                          <p:stCondLst>
                                            <p:cond delay="500"/>
                                          </p:stCondLst>
                                        </p:cTn>
                                        <p:tgtEl>
                                          <p:spTgt spid="105"/>
                                        </p:tgtEl>
                                        <p:attrNameLst>
                                          <p:attrName>ppt_w</p:attrName>
                                        </p:attrNameLst>
                                      </p:cBhvr>
                                      <p:tavLst>
                                        <p:tav tm="0">
                                          <p:val>
                                            <p:strVal val="#ppt_w*1.08"/>
                                          </p:val>
                                        </p:tav>
                                        <p:tav tm="100000">
                                          <p:val>
                                            <p:strVal val="#ppt_w"/>
                                          </p:val>
                                        </p:tav>
                                      </p:tavLst>
                                    </p:anim>
                                    <p:anim calcmode="lin" valueType="num">
                                      <p:cBhvr additive="base">
                                        <p:cTn id="37" dur="160" fill="hold">
                                          <p:stCondLst>
                                            <p:cond delay="500"/>
                                          </p:stCondLst>
                                        </p:cTn>
                                        <p:tgtEl>
                                          <p:spTgt spid="105"/>
                                        </p:tgtEl>
                                        <p:attrNameLst>
                                          <p:attrName>ppt_h</p:attrName>
                                        </p:attrNameLst>
                                      </p:cBhvr>
                                      <p:tavLst>
                                        <p:tav tm="0">
                                          <p:val>
                                            <p:strVal val="#ppt_h*1.08"/>
                                          </p:val>
                                        </p:tav>
                                        <p:tav tm="100000">
                                          <p:val>
                                            <p:strVal val="#ppt_h"/>
                                          </p:val>
                                        </p:tav>
                                      </p:tavLst>
                                    </p:anim>
                                  </p:childTnLst>
                                </p:cTn>
                              </p:par>
                              <p:par>
                                <p:cTn id="38" presetID="53" presetClass="entr" presetSubtype="16" fill="hold" grpId="0" nodeType="withEffect">
                                  <p:stCondLst>
                                    <p:cond delay="240"/>
                                  </p:stCondLst>
                                  <p:childTnLst>
                                    <p:set>
                                      <p:cBhvr>
                                        <p:cTn id="39" dur="1" fill="hold">
                                          <p:stCondLst>
                                            <p:cond delay="0"/>
                                          </p:stCondLst>
                                        </p:cTn>
                                        <p:tgtEl>
                                          <p:spTgt spid="106"/>
                                        </p:tgtEl>
                                        <p:attrNameLst>
                                          <p:attrName>style.visibility</p:attrName>
                                        </p:attrNameLst>
                                      </p:cBhvr>
                                      <p:to>
                                        <p:strVal val="visible"/>
                                      </p:to>
                                    </p:set>
                                    <p:anim calcmode="lin" valueType="num">
                                      <p:cBhvr additive="base">
                                        <p:cTn id="40"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41" dur="500" decel="100000" fill="hold"/>
                                        <p:tgtEl>
                                          <p:spTgt spid="106"/>
                                        </p:tgtEl>
                                        <p:attrNameLst>
                                          <p:attrName>ppt_h</p:attrName>
                                        </p:attrNameLst>
                                      </p:cBhvr>
                                      <p:tavLst>
                                        <p:tav tm="0">
                                          <p:val>
                                            <p:strVal val="#ppt_h*0.3"/>
                                          </p:val>
                                        </p:tav>
                                        <p:tav tm="100000">
                                          <p:val>
                                            <p:strVal val="#ppt_h*1.08"/>
                                          </p:val>
                                        </p:tav>
                                      </p:tavLst>
                                    </p:anim>
                                    <p:animEffect transition="in" filter="fade">
                                      <p:cBhvr>
                                        <p:cTn id="42" dur="250"/>
                                        <p:tgtEl>
                                          <p:spTgt spid="106"/>
                                        </p:tgtEl>
                                      </p:cBhvr>
                                    </p:animEffect>
                                    <p:anim calcmode="lin" valueType="num">
                                      <p:cBhvr additive="base">
                                        <p:cTn id="43"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44"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par>
                                <p:cTn id="45" presetID="53" presetClass="entr" presetSubtype="16" fill="hold" grpId="0" nodeType="withEffect">
                                  <p:stCondLst>
                                    <p:cond delay="360"/>
                                  </p:stCondLst>
                                  <p:childTnLst>
                                    <p:set>
                                      <p:cBhvr>
                                        <p:cTn id="46" dur="1" fill="hold">
                                          <p:stCondLst>
                                            <p:cond delay="0"/>
                                          </p:stCondLst>
                                        </p:cTn>
                                        <p:tgtEl>
                                          <p:spTgt spid="107"/>
                                        </p:tgtEl>
                                        <p:attrNameLst>
                                          <p:attrName>style.visibility</p:attrName>
                                        </p:attrNameLst>
                                      </p:cBhvr>
                                      <p:to>
                                        <p:strVal val="visible"/>
                                      </p:to>
                                    </p:set>
                                    <p:anim calcmode="lin" valueType="num">
                                      <p:cBhvr additive="base">
                                        <p:cTn id="47" dur="50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48" dur="500" decel="100000" fill="hold"/>
                                        <p:tgtEl>
                                          <p:spTgt spid="107"/>
                                        </p:tgtEl>
                                        <p:attrNameLst>
                                          <p:attrName>ppt_h</p:attrName>
                                        </p:attrNameLst>
                                      </p:cBhvr>
                                      <p:tavLst>
                                        <p:tav tm="0">
                                          <p:val>
                                            <p:strVal val="#ppt_h*0.3"/>
                                          </p:val>
                                        </p:tav>
                                        <p:tav tm="100000">
                                          <p:val>
                                            <p:strVal val="#ppt_h*1.08"/>
                                          </p:val>
                                        </p:tav>
                                      </p:tavLst>
                                    </p:anim>
                                    <p:animEffect transition="in" filter="fade">
                                      <p:cBhvr>
                                        <p:cTn id="49" dur="250"/>
                                        <p:tgtEl>
                                          <p:spTgt spid="107"/>
                                        </p:tgtEl>
                                      </p:cBhvr>
                                    </p:animEffect>
                                    <p:anim calcmode="lin" valueType="num">
                                      <p:cBhvr additive="base">
                                        <p:cTn id="50" dur="160" fill="hold">
                                          <p:stCondLst>
                                            <p:cond delay="500"/>
                                          </p:stCondLst>
                                        </p:cTn>
                                        <p:tgtEl>
                                          <p:spTgt spid="107"/>
                                        </p:tgtEl>
                                        <p:attrNameLst>
                                          <p:attrName>ppt_w</p:attrName>
                                        </p:attrNameLst>
                                      </p:cBhvr>
                                      <p:tavLst>
                                        <p:tav tm="0">
                                          <p:val>
                                            <p:strVal val="#ppt_w*1.08"/>
                                          </p:val>
                                        </p:tav>
                                        <p:tav tm="100000">
                                          <p:val>
                                            <p:strVal val="#ppt_w"/>
                                          </p:val>
                                        </p:tav>
                                      </p:tavLst>
                                    </p:anim>
                                    <p:anim calcmode="lin" valueType="num">
                                      <p:cBhvr additive="base">
                                        <p:cTn id="51" dur="160" fill="hold">
                                          <p:stCondLst>
                                            <p:cond delay="500"/>
                                          </p:stCondLst>
                                        </p:cTn>
                                        <p:tgtEl>
                                          <p:spTgt spid="107"/>
                                        </p:tgtEl>
                                        <p:attrNameLst>
                                          <p:attrName>ppt_h</p:attrName>
                                        </p:attrNameLst>
                                      </p:cBhvr>
                                      <p:tavLst>
                                        <p:tav tm="0">
                                          <p:val>
                                            <p:strVal val="#ppt_h*1.08"/>
                                          </p:val>
                                        </p:tav>
                                        <p:tav tm="100000">
                                          <p:val>
                                            <p:strVal val="#ppt_h"/>
                                          </p:val>
                                        </p:tav>
                                      </p:tavLst>
                                    </p:anim>
                                  </p:childTnLst>
                                </p:cTn>
                              </p:par>
                              <p:par>
                                <p:cTn id="52" presetID="53" presetClass="entr" presetSubtype="16" fill="hold" grpId="0" nodeType="withEffect">
                                  <p:stCondLst>
                                    <p:cond delay="480"/>
                                  </p:stCondLst>
                                  <p:childTnLst>
                                    <p:set>
                                      <p:cBhvr>
                                        <p:cTn id="53" dur="1" fill="hold">
                                          <p:stCondLst>
                                            <p:cond delay="0"/>
                                          </p:stCondLst>
                                        </p:cTn>
                                        <p:tgtEl>
                                          <p:spTgt spid="108"/>
                                        </p:tgtEl>
                                        <p:attrNameLst>
                                          <p:attrName>style.visibility</p:attrName>
                                        </p:attrNameLst>
                                      </p:cBhvr>
                                      <p:to>
                                        <p:strVal val="visible"/>
                                      </p:to>
                                    </p:set>
                                    <p:anim calcmode="lin" valueType="num">
                                      <p:cBhvr additive="base">
                                        <p:cTn id="54" dur="50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55" dur="500" decel="100000" fill="hold"/>
                                        <p:tgtEl>
                                          <p:spTgt spid="108"/>
                                        </p:tgtEl>
                                        <p:attrNameLst>
                                          <p:attrName>ppt_h</p:attrName>
                                        </p:attrNameLst>
                                      </p:cBhvr>
                                      <p:tavLst>
                                        <p:tav tm="0">
                                          <p:val>
                                            <p:strVal val="#ppt_h*0.3"/>
                                          </p:val>
                                        </p:tav>
                                        <p:tav tm="100000">
                                          <p:val>
                                            <p:strVal val="#ppt_h*1.08"/>
                                          </p:val>
                                        </p:tav>
                                      </p:tavLst>
                                    </p:anim>
                                    <p:animEffect transition="in" filter="fade">
                                      <p:cBhvr>
                                        <p:cTn id="56" dur="250"/>
                                        <p:tgtEl>
                                          <p:spTgt spid="108"/>
                                        </p:tgtEl>
                                      </p:cBhvr>
                                    </p:animEffect>
                                    <p:anim calcmode="lin" valueType="num">
                                      <p:cBhvr additive="base">
                                        <p:cTn id="57" dur="160" fill="hold">
                                          <p:stCondLst>
                                            <p:cond delay="500"/>
                                          </p:stCondLst>
                                        </p:cTn>
                                        <p:tgtEl>
                                          <p:spTgt spid="108"/>
                                        </p:tgtEl>
                                        <p:attrNameLst>
                                          <p:attrName>ppt_w</p:attrName>
                                        </p:attrNameLst>
                                      </p:cBhvr>
                                      <p:tavLst>
                                        <p:tav tm="0">
                                          <p:val>
                                            <p:strVal val="#ppt_w*1.08"/>
                                          </p:val>
                                        </p:tav>
                                        <p:tav tm="100000">
                                          <p:val>
                                            <p:strVal val="#ppt_w"/>
                                          </p:val>
                                        </p:tav>
                                      </p:tavLst>
                                    </p:anim>
                                    <p:anim calcmode="lin" valueType="num">
                                      <p:cBhvr additive="base">
                                        <p:cTn id="58" dur="160" fill="hold">
                                          <p:stCondLst>
                                            <p:cond delay="500"/>
                                          </p:stCondLst>
                                        </p:cTn>
                                        <p:tgtEl>
                                          <p:spTgt spid="108"/>
                                        </p:tgtEl>
                                        <p:attrNameLst>
                                          <p:attrName>ppt_h</p:attrName>
                                        </p:attrNameLst>
                                      </p:cBhvr>
                                      <p:tavLst>
                                        <p:tav tm="0">
                                          <p:val>
                                            <p:strVal val="#ppt_h*1.08"/>
                                          </p:val>
                                        </p:tav>
                                        <p:tav tm="100000">
                                          <p:val>
                                            <p:strVal val="#ppt_h"/>
                                          </p:val>
                                        </p:tav>
                                      </p:tavLst>
                                    </p:anim>
                                  </p:childTnLst>
                                </p:cTn>
                              </p:par>
                              <p:par>
                                <p:cTn id="59" presetID="53" presetClass="entr" presetSubtype="16" fill="hold" grpId="0" nodeType="withEffect">
                                  <p:stCondLst>
                                    <p:cond delay="600"/>
                                  </p:stCondLst>
                                  <p:childTnLst>
                                    <p:set>
                                      <p:cBhvr>
                                        <p:cTn id="60" dur="1" fill="hold">
                                          <p:stCondLst>
                                            <p:cond delay="0"/>
                                          </p:stCondLst>
                                        </p:cTn>
                                        <p:tgtEl>
                                          <p:spTgt spid="109"/>
                                        </p:tgtEl>
                                        <p:attrNameLst>
                                          <p:attrName>style.visibility</p:attrName>
                                        </p:attrNameLst>
                                      </p:cBhvr>
                                      <p:to>
                                        <p:strVal val="visible"/>
                                      </p:to>
                                    </p:set>
                                    <p:anim calcmode="lin" valueType="num">
                                      <p:cBhvr additive="base">
                                        <p:cTn id="61" dur="500" decel="100000" fill="hold"/>
                                        <p:tgtEl>
                                          <p:spTgt spid="109"/>
                                        </p:tgtEl>
                                        <p:attrNameLst>
                                          <p:attrName>ppt_w</p:attrName>
                                        </p:attrNameLst>
                                      </p:cBhvr>
                                      <p:tavLst>
                                        <p:tav tm="0">
                                          <p:val>
                                            <p:strVal val="#ppt_w*0.3"/>
                                          </p:val>
                                        </p:tav>
                                        <p:tav tm="100000">
                                          <p:val>
                                            <p:strVal val="#ppt_w*1.08"/>
                                          </p:val>
                                        </p:tav>
                                      </p:tavLst>
                                    </p:anim>
                                    <p:anim calcmode="lin" valueType="num">
                                      <p:cBhvr additive="base">
                                        <p:cTn id="62" dur="500" decel="100000" fill="hold"/>
                                        <p:tgtEl>
                                          <p:spTgt spid="109"/>
                                        </p:tgtEl>
                                        <p:attrNameLst>
                                          <p:attrName>ppt_h</p:attrName>
                                        </p:attrNameLst>
                                      </p:cBhvr>
                                      <p:tavLst>
                                        <p:tav tm="0">
                                          <p:val>
                                            <p:strVal val="#ppt_h*0.3"/>
                                          </p:val>
                                        </p:tav>
                                        <p:tav tm="100000">
                                          <p:val>
                                            <p:strVal val="#ppt_h*1.08"/>
                                          </p:val>
                                        </p:tav>
                                      </p:tavLst>
                                    </p:anim>
                                    <p:animEffect transition="in" filter="fade">
                                      <p:cBhvr>
                                        <p:cTn id="63" dur="250"/>
                                        <p:tgtEl>
                                          <p:spTgt spid="109"/>
                                        </p:tgtEl>
                                      </p:cBhvr>
                                    </p:animEffect>
                                    <p:anim calcmode="lin" valueType="num">
                                      <p:cBhvr additive="base">
                                        <p:cTn id="64" dur="160" fill="hold">
                                          <p:stCondLst>
                                            <p:cond delay="500"/>
                                          </p:stCondLst>
                                        </p:cTn>
                                        <p:tgtEl>
                                          <p:spTgt spid="109"/>
                                        </p:tgtEl>
                                        <p:attrNameLst>
                                          <p:attrName>ppt_w</p:attrName>
                                        </p:attrNameLst>
                                      </p:cBhvr>
                                      <p:tavLst>
                                        <p:tav tm="0">
                                          <p:val>
                                            <p:strVal val="#ppt_w*1.08"/>
                                          </p:val>
                                        </p:tav>
                                        <p:tav tm="100000">
                                          <p:val>
                                            <p:strVal val="#ppt_w"/>
                                          </p:val>
                                        </p:tav>
                                      </p:tavLst>
                                    </p:anim>
                                    <p:anim calcmode="lin" valueType="num">
                                      <p:cBhvr additive="base">
                                        <p:cTn id="65" dur="160" fill="hold">
                                          <p:stCondLst>
                                            <p:cond delay="500"/>
                                          </p:stCondLst>
                                        </p:cTn>
                                        <p:tgtEl>
                                          <p:spTgt spid="109"/>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TREND</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Velocity Over Several Sprints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Do not plan from one Sprint. Observe a pattern.</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METRICS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292</a:t>
            </a:r>
            <a:endParaRPr lang="en-US" sz="850" dirty="0"/>
          </a:p>
        </p:txBody>
      </p:sp>
      <p:cxnSp>
        <p:nvCxnSpPr>
          <p:cNvPr id="101" name="ln101"/>
          <p:cNvCxnSpPr/>
          <p:nvPr/>
        </p:nvCxnSpPr>
        <p:spPr>
          <a:xfrm>
            <a:off x="1091794" y="5212080"/>
            <a:ext cx="7589520" cy="0"/>
          </a:xfrm>
          <a:prstGeom prst="line">
            <a:avLst/>
          </a:prstGeom>
          <a:ln w="19050">
            <a:solidFill>
              <a:srgbClr val="1E3A5F"/>
            </a:solidFill>
          </a:ln>
        </p:spPr>
      </p:cxnSp>
      <p:sp>
        <p:nvSpPr>
          <p:cNvPr id="102" name="s102"/>
          <p:cNvSpPr/>
          <p:nvPr/>
        </p:nvSpPr>
        <p:spPr>
          <a:xfrm>
            <a:off x="1411834" y="3879669"/>
            <a:ext cx="1143000" cy="1332411"/>
          </a:xfrm>
          <a:prstGeom prst="rect">
            <a:avLst/>
          </a:prstGeom>
          <a:solidFill>
            <a:srgbClr val="FBBF24">
              <a:alpha val="70000"/>
            </a:srgbClr>
          </a:solidFill>
          <a:ln>
            <a:noFill/>
          </a:ln>
        </p:spPr>
        <p:txBody>
          <a:bodyPr wrap="square" lIns="164592" tIns="109728" rIns="137160" bIns="91440" rtlCol="0" anchor="t">
            <a:noAutofit/>
          </a:bodyPr>
          <a:lstStyle/>
          <a:p>
            <a:endParaRPr lang="en-US"/>
          </a:p>
        </p:txBody>
      </p:sp>
      <p:sp>
        <p:nvSpPr>
          <p:cNvPr id="103" name="s103"/>
          <p:cNvSpPr txBox="1"/>
          <p:nvPr/>
        </p:nvSpPr>
        <p:spPr>
          <a:xfrm>
            <a:off x="1411834" y="3495621"/>
            <a:ext cx="1143000" cy="34747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FFFFFF"/>
                </a:solidFill>
                <a:latin typeface="Segoe UI"/>
                <a:ea typeface="Segoe UI"/>
                <a:cs typeface="Segoe UI"/>
              </a:rPr>
              <a:t>18</a:t>
            </a:r>
            <a:endParaRPr lang="en-US" sz="1600" dirty="0"/>
          </a:p>
        </p:txBody>
      </p:sp>
      <p:sp>
        <p:nvSpPr>
          <p:cNvPr id="104" name="s104"/>
          <p:cNvSpPr txBox="1"/>
          <p:nvPr/>
        </p:nvSpPr>
        <p:spPr>
          <a:xfrm>
            <a:off x="1320394" y="5285232"/>
            <a:ext cx="132588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0" dirty="0">
                <a:solidFill>
                  <a:srgbClr val="94A3B8"/>
                </a:solidFill>
                <a:latin typeface="Segoe UI"/>
                <a:ea typeface="Segoe UI"/>
                <a:cs typeface="Segoe UI"/>
              </a:rPr>
              <a:t>Sprint 1</a:t>
            </a:r>
            <a:endParaRPr lang="en-US" sz="1100" dirty="0"/>
          </a:p>
        </p:txBody>
      </p:sp>
      <p:sp>
        <p:nvSpPr>
          <p:cNvPr id="105" name="s105"/>
          <p:cNvSpPr/>
          <p:nvPr/>
        </p:nvSpPr>
        <p:spPr>
          <a:xfrm>
            <a:off x="2920594" y="3657600"/>
            <a:ext cx="1143000" cy="1554480"/>
          </a:xfrm>
          <a:prstGeom prst="rect">
            <a:avLst/>
          </a:prstGeom>
          <a:solidFill>
            <a:srgbClr val="FBBF24">
              <a:alpha val="70000"/>
            </a:srgbClr>
          </a:solidFill>
          <a:ln>
            <a:noFill/>
          </a:ln>
        </p:spPr>
        <p:txBody>
          <a:bodyPr wrap="square" lIns="164592" tIns="109728" rIns="137160" bIns="91440" rtlCol="0" anchor="t">
            <a:noAutofit/>
          </a:bodyPr>
          <a:lstStyle/>
          <a:p>
            <a:endParaRPr lang="en-US"/>
          </a:p>
        </p:txBody>
      </p:sp>
      <p:sp>
        <p:nvSpPr>
          <p:cNvPr id="106" name="s106"/>
          <p:cNvSpPr txBox="1"/>
          <p:nvPr/>
        </p:nvSpPr>
        <p:spPr>
          <a:xfrm>
            <a:off x="2920594" y="3273552"/>
            <a:ext cx="1143000" cy="34747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FFFFFF"/>
                </a:solidFill>
                <a:latin typeface="Segoe UI"/>
                <a:ea typeface="Segoe UI"/>
                <a:cs typeface="Segoe UI"/>
              </a:rPr>
              <a:t>21</a:t>
            </a:r>
            <a:endParaRPr lang="en-US" sz="1600" dirty="0"/>
          </a:p>
        </p:txBody>
      </p:sp>
      <p:sp>
        <p:nvSpPr>
          <p:cNvPr id="107" name="s107"/>
          <p:cNvSpPr txBox="1"/>
          <p:nvPr/>
        </p:nvSpPr>
        <p:spPr>
          <a:xfrm>
            <a:off x="2829154" y="5285232"/>
            <a:ext cx="132588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0" dirty="0">
                <a:solidFill>
                  <a:srgbClr val="94A3B8"/>
                </a:solidFill>
                <a:latin typeface="Segoe UI"/>
                <a:ea typeface="Segoe UI"/>
                <a:cs typeface="Segoe UI"/>
              </a:rPr>
              <a:t>Sprint 2</a:t>
            </a:r>
            <a:endParaRPr lang="en-US" sz="1100" dirty="0"/>
          </a:p>
        </p:txBody>
      </p:sp>
      <p:sp>
        <p:nvSpPr>
          <p:cNvPr id="108" name="s108"/>
          <p:cNvSpPr/>
          <p:nvPr/>
        </p:nvSpPr>
        <p:spPr>
          <a:xfrm>
            <a:off x="4429354" y="3805646"/>
            <a:ext cx="1143000" cy="1406434"/>
          </a:xfrm>
          <a:prstGeom prst="rect">
            <a:avLst/>
          </a:prstGeom>
          <a:solidFill>
            <a:srgbClr val="FBBF24">
              <a:alpha val="70000"/>
            </a:srgbClr>
          </a:solidFill>
          <a:ln>
            <a:noFill/>
          </a:ln>
        </p:spPr>
        <p:txBody>
          <a:bodyPr wrap="square" lIns="164592" tIns="109728" rIns="137160" bIns="91440" rtlCol="0" anchor="t">
            <a:noAutofit/>
          </a:bodyPr>
          <a:lstStyle/>
          <a:p>
            <a:endParaRPr lang="en-US"/>
          </a:p>
        </p:txBody>
      </p:sp>
      <p:sp>
        <p:nvSpPr>
          <p:cNvPr id="109" name="s109"/>
          <p:cNvSpPr txBox="1"/>
          <p:nvPr/>
        </p:nvSpPr>
        <p:spPr>
          <a:xfrm>
            <a:off x="4429354" y="3421598"/>
            <a:ext cx="1143000" cy="34747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FFFFFF"/>
                </a:solidFill>
                <a:latin typeface="Segoe UI"/>
                <a:ea typeface="Segoe UI"/>
                <a:cs typeface="Segoe UI"/>
              </a:rPr>
              <a:t>19</a:t>
            </a:r>
            <a:endParaRPr lang="en-US" sz="1600" dirty="0"/>
          </a:p>
        </p:txBody>
      </p:sp>
      <p:sp>
        <p:nvSpPr>
          <p:cNvPr id="110" name="s110"/>
          <p:cNvSpPr txBox="1"/>
          <p:nvPr/>
        </p:nvSpPr>
        <p:spPr>
          <a:xfrm>
            <a:off x="4337914" y="5285232"/>
            <a:ext cx="132588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0" dirty="0">
                <a:solidFill>
                  <a:srgbClr val="94A3B8"/>
                </a:solidFill>
                <a:latin typeface="Segoe UI"/>
                <a:ea typeface="Segoe UI"/>
                <a:cs typeface="Segoe UI"/>
              </a:rPr>
              <a:t>Sprint 3</a:t>
            </a:r>
            <a:endParaRPr lang="en-US" sz="1100" dirty="0"/>
          </a:p>
        </p:txBody>
      </p:sp>
      <p:sp>
        <p:nvSpPr>
          <p:cNvPr id="111" name="s111"/>
          <p:cNvSpPr/>
          <p:nvPr/>
        </p:nvSpPr>
        <p:spPr>
          <a:xfrm>
            <a:off x="5938114" y="3583577"/>
            <a:ext cx="1143000" cy="1628503"/>
          </a:xfrm>
          <a:prstGeom prst="rect">
            <a:avLst/>
          </a:prstGeom>
          <a:solidFill>
            <a:srgbClr val="FBBF24">
              <a:alpha val="70000"/>
            </a:srgbClr>
          </a:solidFill>
          <a:ln>
            <a:noFill/>
          </a:ln>
        </p:spPr>
        <p:txBody>
          <a:bodyPr wrap="square" lIns="164592" tIns="109728" rIns="137160" bIns="91440" rtlCol="0" anchor="t">
            <a:noAutofit/>
          </a:bodyPr>
          <a:lstStyle/>
          <a:p>
            <a:endParaRPr lang="en-US"/>
          </a:p>
        </p:txBody>
      </p:sp>
      <p:sp>
        <p:nvSpPr>
          <p:cNvPr id="112" name="s112"/>
          <p:cNvSpPr txBox="1"/>
          <p:nvPr/>
        </p:nvSpPr>
        <p:spPr>
          <a:xfrm>
            <a:off x="5938114" y="3199529"/>
            <a:ext cx="1143000" cy="347472"/>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600" b="1" dirty="0">
                <a:solidFill>
                  <a:srgbClr val="FFFFFF"/>
                </a:solidFill>
                <a:latin typeface="Segoe UI"/>
                <a:ea typeface="Segoe UI"/>
                <a:cs typeface="Segoe UI"/>
              </a:rPr>
              <a:t>22</a:t>
            </a:r>
            <a:endParaRPr lang="en-US" sz="1600" dirty="0"/>
          </a:p>
        </p:txBody>
      </p:sp>
      <p:sp>
        <p:nvSpPr>
          <p:cNvPr id="113" name="s113"/>
          <p:cNvSpPr txBox="1"/>
          <p:nvPr/>
        </p:nvSpPr>
        <p:spPr>
          <a:xfrm>
            <a:off x="5846674" y="5285232"/>
            <a:ext cx="132588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0" dirty="0">
                <a:solidFill>
                  <a:srgbClr val="94A3B8"/>
                </a:solidFill>
                <a:latin typeface="Segoe UI"/>
                <a:ea typeface="Segoe UI"/>
                <a:cs typeface="Segoe UI"/>
              </a:rPr>
              <a:t>Sprint 4</a:t>
            </a:r>
            <a:endParaRPr lang="en-US" sz="1100" dirty="0"/>
          </a:p>
        </p:txBody>
      </p:sp>
      <p:sp>
        <p:nvSpPr>
          <p:cNvPr id="114" name="s114"/>
          <p:cNvSpPr/>
          <p:nvPr/>
        </p:nvSpPr>
        <p:spPr>
          <a:xfrm>
            <a:off x="1091794" y="3657600"/>
            <a:ext cx="7589520" cy="148046"/>
          </a:xfrm>
          <a:prstGeom prst="rect">
            <a:avLst/>
          </a:prstGeom>
          <a:solidFill>
            <a:srgbClr val="34D399">
              <a:alpha val="18000"/>
            </a:srgbClr>
          </a:solidFill>
          <a:ln w="12700">
            <a:solidFill>
              <a:srgbClr val="34D399">
                <a:alpha val="70000"/>
              </a:srgbClr>
            </a:solidFill>
            <a:prstDash val="dash"/>
          </a:ln>
        </p:spPr>
        <p:txBody>
          <a:bodyPr wrap="square" lIns="164592" tIns="109728" rIns="137160" bIns="91440" rtlCol="0" anchor="t">
            <a:noAutofit/>
          </a:bodyPr>
          <a:lstStyle/>
          <a:p>
            <a:endParaRPr lang="en-US"/>
          </a:p>
        </p:txBody>
      </p:sp>
      <p:sp>
        <p:nvSpPr>
          <p:cNvPr id="115" name="s115"/>
          <p:cNvSpPr txBox="1"/>
          <p:nvPr/>
        </p:nvSpPr>
        <p:spPr>
          <a:xfrm>
            <a:off x="1137514" y="3355848"/>
            <a:ext cx="146304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34D399"/>
                </a:solidFill>
                <a:latin typeface="Segoe UI"/>
                <a:ea typeface="Segoe UI"/>
                <a:cs typeface="Segoe UI"/>
              </a:rPr>
              <a:t>19–21 band</a:t>
            </a:r>
            <a:endParaRPr lang="en-US" sz="1050" dirty="0"/>
          </a:p>
        </p:txBody>
      </p:sp>
      <p:sp>
        <p:nvSpPr>
          <p:cNvPr id="116" name="s116"/>
          <p:cNvSpPr/>
          <p:nvPr/>
        </p:nvSpPr>
        <p:spPr>
          <a:xfrm>
            <a:off x="7446874" y="3731623"/>
            <a:ext cx="1143000" cy="1480457"/>
          </a:xfrm>
          <a:prstGeom prst="rect">
            <a:avLst/>
          </a:prstGeom>
          <a:noFill/>
          <a:ln w="19050">
            <a:solidFill>
              <a:srgbClr val="34D399"/>
            </a:solidFill>
            <a:prstDash val="dash"/>
          </a:ln>
        </p:spPr>
        <p:txBody>
          <a:bodyPr wrap="square" lIns="164592" tIns="109728" rIns="137160" bIns="91440" rtlCol="0" anchor="t">
            <a:noAutofit/>
          </a:bodyPr>
          <a:lstStyle/>
          <a:p>
            <a:endParaRPr lang="en-US"/>
          </a:p>
        </p:txBody>
      </p:sp>
      <p:sp>
        <p:nvSpPr>
          <p:cNvPr id="117" name="s117"/>
          <p:cNvSpPr txBox="1"/>
          <p:nvPr/>
        </p:nvSpPr>
        <p:spPr>
          <a:xfrm>
            <a:off x="7309714" y="5285232"/>
            <a:ext cx="141732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00" b="1" dirty="0">
                <a:solidFill>
                  <a:srgbClr val="34D399"/>
                </a:solidFill>
                <a:latin typeface="Segoe UI"/>
                <a:ea typeface="Segoe UI"/>
                <a:cs typeface="Segoe UI"/>
              </a:rPr>
              <a:t>Sprint 5?</a:t>
            </a:r>
            <a:endParaRPr lang="en-US" sz="1100" dirty="0"/>
          </a:p>
        </p:txBody>
      </p:sp>
      <p:sp>
        <p:nvSpPr>
          <p:cNvPr id="118" name="s118"/>
          <p:cNvSpPr/>
          <p:nvPr/>
        </p:nvSpPr>
        <p:spPr>
          <a:xfrm>
            <a:off x="7446874" y="2251166"/>
            <a:ext cx="1143000" cy="1480457"/>
          </a:xfrm>
          <a:prstGeom prst="rect">
            <a:avLst/>
          </a:prstGeom>
          <a:solidFill>
            <a:srgbClr val="F87171">
              <a:alpha val="12000"/>
            </a:srgbClr>
          </a:solidFill>
          <a:ln w="12700">
            <a:solidFill>
              <a:srgbClr val="F87171"/>
            </a:solidFill>
            <a:prstDash val="dash"/>
          </a:ln>
        </p:spPr>
        <p:txBody>
          <a:bodyPr wrap="square" lIns="164592" tIns="109728" rIns="137160" bIns="91440" rtlCol="0" anchor="ctr">
            <a:noAutofit/>
          </a:bodyPr>
          <a:lstStyle/>
          <a:p>
            <a:pPr marL="0" indent="0" algn="ctr">
              <a:spcBef>
                <a:spcPts val="0"/>
              </a:spcBef>
              <a:spcAft>
                <a:spcPts val="0"/>
              </a:spcAft>
              <a:buNone/>
            </a:pPr>
            <a:r>
              <a:rPr lang="en-US" sz="1600" b="1" dirty="0">
                <a:solidFill>
                  <a:srgbClr val="F87171"/>
                </a:solidFill>
                <a:latin typeface="Segoe UI"/>
                <a:ea typeface="Segoe UI"/>
                <a:cs typeface="Segoe UI"/>
              </a:rPr>
              <a:t>40?</a:t>
            </a:r>
            <a:endParaRPr lang="en-US" sz="1600" dirty="0"/>
          </a:p>
        </p:txBody>
      </p:sp>
      <p:cxnSp>
        <p:nvCxnSpPr>
          <p:cNvPr id="119" name="ln119"/>
          <p:cNvCxnSpPr/>
          <p:nvPr/>
        </p:nvCxnSpPr>
        <p:spPr>
          <a:xfrm>
            <a:off x="7355434" y="2251166"/>
            <a:ext cx="1325880" cy="1480457"/>
          </a:xfrm>
          <a:prstGeom prst="line">
            <a:avLst/>
          </a:prstGeom>
          <a:ln w="31750">
            <a:solidFill>
              <a:srgbClr val="F87171"/>
            </a:solidFill>
          </a:ln>
        </p:spPr>
      </p:cxnSp>
      <p:sp>
        <p:nvSpPr>
          <p:cNvPr id="120" name="s120"/>
          <p:cNvSpPr/>
          <p:nvPr/>
        </p:nvSpPr>
        <p:spPr>
          <a:xfrm>
            <a:off x="9138514" y="2103120"/>
            <a:ext cx="2492654" cy="3108960"/>
          </a:xfrm>
          <a:prstGeom prst="roundRect">
            <a:avLst>
              <a:gd name="adj" fmla="val 10000"/>
            </a:avLst>
          </a:prstGeom>
          <a:solidFill>
            <a:srgbClr val="111B2E"/>
          </a:solidFill>
          <a:ln w="12700">
            <a:solidFill>
              <a:srgbClr val="FBBF24"/>
            </a:solidFill>
            <a:prstDash val="solid"/>
          </a:ln>
        </p:spPr>
        <p:txBody>
          <a:bodyPr wrap="square" lIns="228600" tIns="91440" rIns="182880" bIns="91440" rtlCol="0" anchor="ctr">
            <a:noAutofit/>
          </a:bodyPr>
          <a:lstStyle/>
          <a:p>
            <a:pPr marL="0" indent="0" algn="l">
              <a:spcBef>
                <a:spcPts val="0"/>
              </a:spcBef>
              <a:spcAft>
                <a:spcPts val="600"/>
              </a:spcAft>
              <a:buNone/>
            </a:pPr>
            <a:r>
              <a:rPr lang="en-US" sz="1100" b="1" dirty="0">
                <a:solidFill>
                  <a:srgbClr val="FBBF24"/>
                </a:solidFill>
                <a:latin typeface="Segoe UI"/>
                <a:ea typeface="Segoe UI"/>
                <a:cs typeface="Segoe UI"/>
              </a:rPr>
              <a:t>FORECAST</a:t>
            </a:r>
            <a:endParaRPr lang="en-US" sz="1100" dirty="0"/>
          </a:p>
          <a:p>
            <a:pPr marL="0" indent="0" algn="l">
              <a:spcBef>
                <a:spcPts val="0"/>
              </a:spcBef>
              <a:spcAft>
                <a:spcPts val="800"/>
              </a:spcAft>
              <a:buNone/>
            </a:pPr>
            <a:r>
              <a:rPr lang="en-US" sz="2200" b="1" dirty="0">
                <a:solidFill>
                  <a:srgbClr val="FFFFFF"/>
                </a:solidFill>
                <a:latin typeface="Segoe UI"/>
                <a:ea typeface="Segoe UI"/>
                <a:cs typeface="Segoe UI"/>
              </a:rPr>
              <a:t>≈ 19–21 points</a:t>
            </a:r>
            <a:endParaRPr lang="en-US" sz="2200" dirty="0"/>
          </a:p>
          <a:p>
            <a:pPr marL="0" indent="0" algn="l">
              <a:spcBef>
                <a:spcPts val="0"/>
              </a:spcBef>
              <a:spcAft>
                <a:spcPts val="0"/>
              </a:spcAft>
              <a:buNone/>
            </a:pPr>
            <a:r>
              <a:rPr lang="en-US" sz="1250" b="0" dirty="0">
                <a:solidFill>
                  <a:srgbClr val="E2E8F0"/>
                </a:solidFill>
                <a:latin typeface="Segoe UI"/>
                <a:ea typeface="Segoe UI"/>
                <a:cs typeface="Segoe UI"/>
              </a:rPr>
              <a:t>adjusted for capacity. Historical evidence, not a promise.</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wipe(left)">
                                      <p:cBhvr>
                                        <p:cTn id="7" dur="500"/>
                                        <p:tgtEl>
                                          <p:spTgt spid="101"/>
                                        </p:tgtEl>
                                      </p:cBhvr>
                                    </p:animEffect>
                                  </p:childTnLst>
                                </p:cTn>
                              </p:par>
                              <p:par>
                                <p:cTn id="8" presetID="22" presetClass="entr" presetSubtype="4" fill="hold" grpId="0" nodeType="withEffect">
                                  <p:stCondLst>
                                    <p:cond delay="150"/>
                                  </p:stCondLst>
                                  <p:childTnLst>
                                    <p:set>
                                      <p:cBhvr>
                                        <p:cTn id="9" dur="1" fill="hold">
                                          <p:stCondLst>
                                            <p:cond delay="0"/>
                                          </p:stCondLst>
                                        </p:cTn>
                                        <p:tgtEl>
                                          <p:spTgt spid="102"/>
                                        </p:tgtEl>
                                        <p:attrNameLst>
                                          <p:attrName>style.visibility</p:attrName>
                                        </p:attrNameLst>
                                      </p:cBhvr>
                                      <p:to>
                                        <p:strVal val="visible"/>
                                      </p:to>
                                    </p:set>
                                    <p:animEffect transition="in" filter="wipe(down)">
                                      <p:cBhvr>
                                        <p:cTn id="10" dur="600"/>
                                        <p:tgtEl>
                                          <p:spTgt spid="102"/>
                                        </p:tgtEl>
                                      </p:cBhvr>
                                    </p:animEffect>
                                  </p:childTnLst>
                                </p:cTn>
                              </p:par>
                              <p:par>
                                <p:cTn id="11" presetID="10" presetClass="entr" presetSubtype="0" fill="hold" grpId="0" nodeType="withEffect">
                                  <p:stCondLst>
                                    <p:cond delay="25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600"/>
                                        <p:tgtEl>
                                          <p:spTgt spid="103"/>
                                        </p:tgtEl>
                                      </p:cBhvr>
                                    </p:animEffect>
                                  </p:childTnLst>
                                </p:cTn>
                              </p:par>
                              <p:par>
                                <p:cTn id="14" presetID="10" presetClass="entr" presetSubtype="0" fill="hold" grpId="0" nodeType="withEffect">
                                  <p:stCondLst>
                                    <p:cond delay="350"/>
                                  </p:stCondLst>
                                  <p:childTnLst>
                                    <p:set>
                                      <p:cBhvr>
                                        <p:cTn id="15" dur="1" fill="hold">
                                          <p:stCondLst>
                                            <p:cond delay="0"/>
                                          </p:stCondLst>
                                        </p:cTn>
                                        <p:tgtEl>
                                          <p:spTgt spid="104"/>
                                        </p:tgtEl>
                                        <p:attrNameLst>
                                          <p:attrName>style.visibility</p:attrName>
                                        </p:attrNameLst>
                                      </p:cBhvr>
                                      <p:to>
                                        <p:strVal val="visible"/>
                                      </p:to>
                                    </p:set>
                                    <p:animEffect transition="in" filter="fade">
                                      <p:cBhvr>
                                        <p:cTn id="16" dur="600"/>
                                        <p:tgtEl>
                                          <p:spTgt spid="104"/>
                                        </p:tgtEl>
                                      </p:cBhvr>
                                    </p:animEffect>
                                  </p:childTnLst>
                                </p:cTn>
                              </p:par>
                              <p:par>
                                <p:cTn id="17" presetID="22" presetClass="entr" presetSubtype="4" fill="hold" grpId="0" nodeType="withEffect">
                                  <p:stCondLst>
                                    <p:cond delay="500"/>
                                  </p:stCondLst>
                                  <p:childTnLst>
                                    <p:set>
                                      <p:cBhvr>
                                        <p:cTn id="18" dur="1" fill="hold">
                                          <p:stCondLst>
                                            <p:cond delay="0"/>
                                          </p:stCondLst>
                                        </p:cTn>
                                        <p:tgtEl>
                                          <p:spTgt spid="105"/>
                                        </p:tgtEl>
                                        <p:attrNameLst>
                                          <p:attrName>style.visibility</p:attrName>
                                        </p:attrNameLst>
                                      </p:cBhvr>
                                      <p:to>
                                        <p:strVal val="visible"/>
                                      </p:to>
                                    </p:set>
                                    <p:animEffect transition="in" filter="wipe(down)">
                                      <p:cBhvr>
                                        <p:cTn id="19" dur="600"/>
                                        <p:tgtEl>
                                          <p:spTgt spid="105"/>
                                        </p:tgtEl>
                                      </p:cBhvr>
                                    </p:animEffect>
                                  </p:childTnLst>
                                </p:cTn>
                              </p:par>
                              <p:par>
                                <p:cTn id="20" presetID="10" presetClass="entr" presetSubtype="0" fill="hold" grpId="0" nodeType="withEffect">
                                  <p:stCondLst>
                                    <p:cond delay="600"/>
                                  </p:stCondLst>
                                  <p:childTnLst>
                                    <p:set>
                                      <p:cBhvr>
                                        <p:cTn id="21" dur="1" fill="hold">
                                          <p:stCondLst>
                                            <p:cond delay="0"/>
                                          </p:stCondLst>
                                        </p:cTn>
                                        <p:tgtEl>
                                          <p:spTgt spid="106"/>
                                        </p:tgtEl>
                                        <p:attrNameLst>
                                          <p:attrName>style.visibility</p:attrName>
                                        </p:attrNameLst>
                                      </p:cBhvr>
                                      <p:to>
                                        <p:strVal val="visible"/>
                                      </p:to>
                                    </p:set>
                                    <p:animEffect transition="in" filter="fade">
                                      <p:cBhvr>
                                        <p:cTn id="22" dur="600"/>
                                        <p:tgtEl>
                                          <p:spTgt spid="106"/>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107"/>
                                        </p:tgtEl>
                                        <p:attrNameLst>
                                          <p:attrName>style.visibility</p:attrName>
                                        </p:attrNameLst>
                                      </p:cBhvr>
                                      <p:to>
                                        <p:strVal val="visible"/>
                                      </p:to>
                                    </p:set>
                                    <p:animEffect transition="in" filter="fade">
                                      <p:cBhvr>
                                        <p:cTn id="25" dur="600"/>
                                        <p:tgtEl>
                                          <p:spTgt spid="107"/>
                                        </p:tgtEl>
                                      </p:cBhvr>
                                    </p:animEffect>
                                  </p:childTnLst>
                                </p:cTn>
                              </p:par>
                              <p:par>
                                <p:cTn id="26" presetID="22" presetClass="entr" presetSubtype="4" fill="hold" grpId="0" nodeType="withEffect">
                                  <p:stCondLst>
                                    <p:cond delay="850"/>
                                  </p:stCondLst>
                                  <p:childTnLst>
                                    <p:set>
                                      <p:cBhvr>
                                        <p:cTn id="27" dur="1" fill="hold">
                                          <p:stCondLst>
                                            <p:cond delay="0"/>
                                          </p:stCondLst>
                                        </p:cTn>
                                        <p:tgtEl>
                                          <p:spTgt spid="108"/>
                                        </p:tgtEl>
                                        <p:attrNameLst>
                                          <p:attrName>style.visibility</p:attrName>
                                        </p:attrNameLst>
                                      </p:cBhvr>
                                      <p:to>
                                        <p:strVal val="visible"/>
                                      </p:to>
                                    </p:set>
                                    <p:animEffect transition="in" filter="wipe(down)">
                                      <p:cBhvr>
                                        <p:cTn id="28" dur="600"/>
                                        <p:tgtEl>
                                          <p:spTgt spid="108"/>
                                        </p:tgtEl>
                                      </p:cBhvr>
                                    </p:animEffect>
                                  </p:childTnLst>
                                </p:cTn>
                              </p:par>
                              <p:par>
                                <p:cTn id="29" presetID="10" presetClass="entr" presetSubtype="0" fill="hold" grpId="0" nodeType="withEffect">
                                  <p:stCondLst>
                                    <p:cond delay="950"/>
                                  </p:stCondLst>
                                  <p:childTnLst>
                                    <p:set>
                                      <p:cBhvr>
                                        <p:cTn id="30" dur="1" fill="hold">
                                          <p:stCondLst>
                                            <p:cond delay="0"/>
                                          </p:stCondLst>
                                        </p:cTn>
                                        <p:tgtEl>
                                          <p:spTgt spid="109"/>
                                        </p:tgtEl>
                                        <p:attrNameLst>
                                          <p:attrName>style.visibility</p:attrName>
                                        </p:attrNameLst>
                                      </p:cBhvr>
                                      <p:to>
                                        <p:strVal val="visible"/>
                                      </p:to>
                                    </p:set>
                                    <p:animEffect transition="in" filter="fade">
                                      <p:cBhvr>
                                        <p:cTn id="31" dur="600"/>
                                        <p:tgtEl>
                                          <p:spTgt spid="109"/>
                                        </p:tgtEl>
                                      </p:cBhvr>
                                    </p:animEffect>
                                  </p:childTnLst>
                                </p:cTn>
                              </p:par>
                              <p:par>
                                <p:cTn id="32" presetID="10" presetClass="entr" presetSubtype="0" fill="hold" grpId="0" nodeType="withEffect">
                                  <p:stCondLst>
                                    <p:cond delay="1050"/>
                                  </p:stCondLst>
                                  <p:childTnLst>
                                    <p:set>
                                      <p:cBhvr>
                                        <p:cTn id="33" dur="1" fill="hold">
                                          <p:stCondLst>
                                            <p:cond delay="0"/>
                                          </p:stCondLst>
                                        </p:cTn>
                                        <p:tgtEl>
                                          <p:spTgt spid="110"/>
                                        </p:tgtEl>
                                        <p:attrNameLst>
                                          <p:attrName>style.visibility</p:attrName>
                                        </p:attrNameLst>
                                      </p:cBhvr>
                                      <p:to>
                                        <p:strVal val="visible"/>
                                      </p:to>
                                    </p:set>
                                    <p:animEffect transition="in" filter="fade">
                                      <p:cBhvr>
                                        <p:cTn id="34" dur="600"/>
                                        <p:tgtEl>
                                          <p:spTgt spid="110"/>
                                        </p:tgtEl>
                                      </p:cBhvr>
                                    </p:animEffect>
                                  </p:childTnLst>
                                </p:cTn>
                              </p:par>
                              <p:par>
                                <p:cTn id="35" presetID="22" presetClass="entr" presetSubtype="4" fill="hold" grpId="0" nodeType="withEffect">
                                  <p:stCondLst>
                                    <p:cond delay="1200"/>
                                  </p:stCondLst>
                                  <p:childTnLst>
                                    <p:set>
                                      <p:cBhvr>
                                        <p:cTn id="36" dur="1" fill="hold">
                                          <p:stCondLst>
                                            <p:cond delay="0"/>
                                          </p:stCondLst>
                                        </p:cTn>
                                        <p:tgtEl>
                                          <p:spTgt spid="111"/>
                                        </p:tgtEl>
                                        <p:attrNameLst>
                                          <p:attrName>style.visibility</p:attrName>
                                        </p:attrNameLst>
                                      </p:cBhvr>
                                      <p:to>
                                        <p:strVal val="visible"/>
                                      </p:to>
                                    </p:set>
                                    <p:animEffect transition="in" filter="wipe(down)">
                                      <p:cBhvr>
                                        <p:cTn id="37" dur="600"/>
                                        <p:tgtEl>
                                          <p:spTgt spid="111"/>
                                        </p:tgtEl>
                                      </p:cBhvr>
                                    </p:animEffect>
                                  </p:childTnLst>
                                </p:cTn>
                              </p:par>
                              <p:par>
                                <p:cTn id="38" presetID="10" presetClass="entr" presetSubtype="0" fill="hold" grpId="0" nodeType="withEffect">
                                  <p:stCondLst>
                                    <p:cond delay="1300"/>
                                  </p:stCondLst>
                                  <p:childTnLst>
                                    <p:set>
                                      <p:cBhvr>
                                        <p:cTn id="39" dur="1" fill="hold">
                                          <p:stCondLst>
                                            <p:cond delay="0"/>
                                          </p:stCondLst>
                                        </p:cTn>
                                        <p:tgtEl>
                                          <p:spTgt spid="112"/>
                                        </p:tgtEl>
                                        <p:attrNameLst>
                                          <p:attrName>style.visibility</p:attrName>
                                        </p:attrNameLst>
                                      </p:cBhvr>
                                      <p:to>
                                        <p:strVal val="visible"/>
                                      </p:to>
                                    </p:set>
                                    <p:animEffect transition="in" filter="fade">
                                      <p:cBhvr>
                                        <p:cTn id="40" dur="600"/>
                                        <p:tgtEl>
                                          <p:spTgt spid="112"/>
                                        </p:tgtEl>
                                      </p:cBhvr>
                                    </p:animEffect>
                                  </p:childTnLst>
                                </p:cTn>
                              </p:par>
                              <p:par>
                                <p:cTn id="41" presetID="10" presetClass="entr" presetSubtype="0" fill="hold" grpId="0" nodeType="withEffect">
                                  <p:stCondLst>
                                    <p:cond delay="1400"/>
                                  </p:stCondLst>
                                  <p:childTnLst>
                                    <p:set>
                                      <p:cBhvr>
                                        <p:cTn id="42" dur="1" fill="hold">
                                          <p:stCondLst>
                                            <p:cond delay="0"/>
                                          </p:stCondLst>
                                        </p:cTn>
                                        <p:tgtEl>
                                          <p:spTgt spid="113"/>
                                        </p:tgtEl>
                                        <p:attrNameLst>
                                          <p:attrName>style.visibility</p:attrName>
                                        </p:attrNameLst>
                                      </p:cBhvr>
                                      <p:to>
                                        <p:strVal val="visible"/>
                                      </p:to>
                                    </p:set>
                                    <p:animEffect transition="in" filter="fade">
                                      <p:cBhvr>
                                        <p:cTn id="43" dur="600"/>
                                        <p:tgtEl>
                                          <p:spTgt spid="113"/>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114"/>
                                        </p:tgtEl>
                                        <p:attrNameLst>
                                          <p:attrName>style.visibility</p:attrName>
                                        </p:attrNameLst>
                                      </p:cBhvr>
                                      <p:to>
                                        <p:strVal val="visible"/>
                                      </p:to>
                                    </p:set>
                                    <p:animEffect transition="in" filter="wipe(left)">
                                      <p:cBhvr>
                                        <p:cTn id="48" dur="500"/>
                                        <p:tgtEl>
                                          <p:spTgt spid="114"/>
                                        </p:tgtEl>
                                      </p:cBhvr>
                                    </p:animEffect>
                                  </p:childTnLst>
                                </p:cTn>
                              </p:par>
                              <p:par>
                                <p:cTn id="49" presetID="10" presetClass="entr" presetSubtype="0" fill="hold" grpId="0" nodeType="withEffect">
                                  <p:stCondLst>
                                    <p:cond delay="200"/>
                                  </p:stCondLst>
                                  <p:childTnLst>
                                    <p:set>
                                      <p:cBhvr>
                                        <p:cTn id="50" dur="1" fill="hold">
                                          <p:stCondLst>
                                            <p:cond delay="0"/>
                                          </p:stCondLst>
                                        </p:cTn>
                                        <p:tgtEl>
                                          <p:spTgt spid="115"/>
                                        </p:tgtEl>
                                        <p:attrNameLst>
                                          <p:attrName>style.visibility</p:attrName>
                                        </p:attrNameLst>
                                      </p:cBhvr>
                                      <p:to>
                                        <p:strVal val="visible"/>
                                      </p:to>
                                    </p:set>
                                    <p:animEffect transition="in" filter="fade">
                                      <p:cBhvr>
                                        <p:cTn id="51" dur="500"/>
                                        <p:tgtEl>
                                          <p:spTgt spid="115"/>
                                        </p:tgtEl>
                                      </p:cBhvr>
                                    </p:animEffect>
                                  </p:childTnLst>
                                </p:cTn>
                              </p:par>
                              <p:par>
                                <p:cTn id="52" presetID="22" presetClass="entr" presetSubtype="4" fill="hold" grpId="0" nodeType="withEffect">
                                  <p:stCondLst>
                                    <p:cond delay="400"/>
                                  </p:stCondLst>
                                  <p:childTnLst>
                                    <p:set>
                                      <p:cBhvr>
                                        <p:cTn id="53" dur="1" fill="hold">
                                          <p:stCondLst>
                                            <p:cond delay="0"/>
                                          </p:stCondLst>
                                        </p:cTn>
                                        <p:tgtEl>
                                          <p:spTgt spid="116"/>
                                        </p:tgtEl>
                                        <p:attrNameLst>
                                          <p:attrName>style.visibility</p:attrName>
                                        </p:attrNameLst>
                                      </p:cBhvr>
                                      <p:to>
                                        <p:strVal val="visible"/>
                                      </p:to>
                                    </p:set>
                                    <p:animEffect transition="in" filter="wipe(down)">
                                      <p:cBhvr>
                                        <p:cTn id="54" dur="500"/>
                                        <p:tgtEl>
                                          <p:spTgt spid="116"/>
                                        </p:tgtEl>
                                      </p:cBhvr>
                                    </p:animEffect>
                                  </p:childTnLst>
                                </p:cTn>
                              </p:par>
                              <p:par>
                                <p:cTn id="55" presetID="10" presetClass="entr" presetSubtype="0" fill="hold" grpId="0" nodeType="withEffect">
                                  <p:stCondLst>
                                    <p:cond delay="600"/>
                                  </p:stCondLst>
                                  <p:childTnLst>
                                    <p:set>
                                      <p:cBhvr>
                                        <p:cTn id="56" dur="1" fill="hold">
                                          <p:stCondLst>
                                            <p:cond delay="0"/>
                                          </p:stCondLst>
                                        </p:cTn>
                                        <p:tgtEl>
                                          <p:spTgt spid="117"/>
                                        </p:tgtEl>
                                        <p:attrNameLst>
                                          <p:attrName>style.visibility</p:attrName>
                                        </p:attrNameLst>
                                      </p:cBhvr>
                                      <p:to>
                                        <p:strVal val="visible"/>
                                      </p:to>
                                    </p:set>
                                    <p:animEffect transition="in" filter="fade">
                                      <p:cBhvr>
                                        <p:cTn id="57" dur="500"/>
                                        <p:tgtEl>
                                          <p:spTgt spid="117"/>
                                        </p:tgtEl>
                                      </p:cBhvr>
                                    </p:animEffect>
                                  </p:childTnLst>
                                </p:cTn>
                              </p:par>
                            </p:childTnLst>
                          </p:cTn>
                        </p:par>
                      </p:childTnLst>
                    </p:cTn>
                  </p:par>
                  <p:par>
                    <p:cTn id="58" fill="hold">
                      <p:stCondLst>
                        <p:cond delay="indefinite"/>
                      </p:stCondLst>
                      <p:childTnLst>
                        <p:par>
                          <p:cTn id="59" fill="hold">
                            <p:stCondLst>
                              <p:cond delay="0"/>
                            </p:stCondLst>
                            <p:childTnLst>
                              <p:par>
                                <p:cTn id="60" presetID="53" presetClass="entr" presetSubtype="16" fill="hold" grpId="0" nodeType="clickEffect">
                                  <p:stCondLst>
                                    <p:cond delay="0"/>
                                  </p:stCondLst>
                                  <p:childTnLst>
                                    <p:set>
                                      <p:cBhvr>
                                        <p:cTn id="61" dur="1" fill="hold">
                                          <p:stCondLst>
                                            <p:cond delay="0"/>
                                          </p:stCondLst>
                                        </p:cTn>
                                        <p:tgtEl>
                                          <p:spTgt spid="120"/>
                                        </p:tgtEl>
                                        <p:attrNameLst>
                                          <p:attrName>style.visibility</p:attrName>
                                        </p:attrNameLst>
                                      </p:cBhvr>
                                      <p:to>
                                        <p:strVal val="visible"/>
                                      </p:to>
                                    </p:set>
                                    <p:anim calcmode="lin" valueType="num">
                                      <p:cBhvr additive="base">
                                        <p:cTn id="62" dur="500" decel="100000" fill="hold"/>
                                        <p:tgtEl>
                                          <p:spTgt spid="120"/>
                                        </p:tgtEl>
                                        <p:attrNameLst>
                                          <p:attrName>ppt_w</p:attrName>
                                        </p:attrNameLst>
                                      </p:cBhvr>
                                      <p:tavLst>
                                        <p:tav tm="0">
                                          <p:val>
                                            <p:strVal val="#ppt_w*0.55"/>
                                          </p:val>
                                        </p:tav>
                                        <p:tav tm="100000">
                                          <p:val>
                                            <p:strVal val="#ppt_w"/>
                                          </p:val>
                                        </p:tav>
                                      </p:tavLst>
                                    </p:anim>
                                    <p:anim calcmode="lin" valueType="num">
                                      <p:cBhvr additive="base">
                                        <p:cTn id="63" dur="500" decel="100000" fill="hold"/>
                                        <p:tgtEl>
                                          <p:spTgt spid="120"/>
                                        </p:tgtEl>
                                        <p:attrNameLst>
                                          <p:attrName>ppt_h</p:attrName>
                                        </p:attrNameLst>
                                      </p:cBhvr>
                                      <p:tavLst>
                                        <p:tav tm="0">
                                          <p:val>
                                            <p:strVal val="#ppt_h*0.55"/>
                                          </p:val>
                                        </p:tav>
                                        <p:tav tm="100000">
                                          <p:val>
                                            <p:strVal val="#ppt_h"/>
                                          </p:val>
                                        </p:tav>
                                      </p:tavLst>
                                    </p:anim>
                                    <p:animEffect transition="in" filter="fade">
                                      <p:cBhvr>
                                        <p:cTn id="64" dur="500"/>
                                        <p:tgtEl>
                                          <p:spTgt spid="120"/>
                                        </p:tgtEl>
                                      </p:cBhvr>
                                    </p:animEffect>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18"/>
                                        </p:tgtEl>
                                        <p:attrNameLst>
                                          <p:attrName>style.visibility</p:attrName>
                                        </p:attrNameLst>
                                      </p:cBhvr>
                                      <p:to>
                                        <p:strVal val="visible"/>
                                      </p:to>
                                    </p:set>
                                    <p:animEffect transition="in" filter="fade">
                                      <p:cBhvr>
                                        <p:cTn id="69" dur="500"/>
                                        <p:tgtEl>
                                          <p:spTgt spid="118"/>
                                        </p:tgtEl>
                                      </p:cBhvr>
                                    </p:animEffect>
                                    <p:anim calcmode="lin" valueType="num">
                                      <p:cBhvr additive="base">
                                        <p:cTn id="70" dur="500" decel="100000" fill="hold"/>
                                        <p:tgtEl>
                                          <p:spTgt spid="118"/>
                                        </p:tgtEl>
                                        <p:attrNameLst>
                                          <p:attrName>ppt_y</p:attrName>
                                        </p:attrNameLst>
                                      </p:cBhvr>
                                      <p:tavLst>
                                        <p:tav tm="0">
                                          <p:val>
                                            <p:strVal val="#ppt_y-0.06"/>
                                          </p:val>
                                        </p:tav>
                                        <p:tav tm="100000">
                                          <p:val>
                                            <p:strVal val="#ppt_y"/>
                                          </p:val>
                                        </p:tav>
                                      </p:tavLst>
                                    </p:anim>
                                  </p:childTnLst>
                                </p:cTn>
                              </p:par>
                              <p:par>
                                <p:cTn id="71" presetID="22" presetClass="entr" presetSubtype="8" fill="hold" nodeType="withEffect">
                                  <p:stCondLst>
                                    <p:cond delay="400"/>
                                  </p:stCondLst>
                                  <p:childTnLst>
                                    <p:set>
                                      <p:cBhvr>
                                        <p:cTn id="72" dur="1" fill="hold">
                                          <p:stCondLst>
                                            <p:cond delay="0"/>
                                          </p:stCondLst>
                                        </p:cTn>
                                        <p:tgtEl>
                                          <p:spTgt spid="119"/>
                                        </p:tgtEl>
                                        <p:attrNameLst>
                                          <p:attrName>style.visibility</p:attrName>
                                        </p:attrNameLst>
                                      </p:cBhvr>
                                      <p:to>
                                        <p:strVal val="visible"/>
                                      </p:to>
                                    </p:set>
                                    <p:animEffect transition="in" filter="wipe(left)">
                                      <p:cBhvr>
                                        <p:cTn id="73" dur="5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20"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BURNDOWN</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Burndown Chart</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A supporting metric, not required by Scrum. Do not use it to pressure people.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METRICS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293</a:t>
            </a:r>
            <a:endParaRPr lang="en-US" sz="850" dirty="0"/>
          </a:p>
        </p:txBody>
      </p:sp>
      <p:cxnSp>
        <p:nvCxnSpPr>
          <p:cNvPr id="101" name="ln101"/>
          <p:cNvCxnSpPr/>
          <p:nvPr/>
        </p:nvCxnSpPr>
        <p:spPr>
          <a:xfrm>
            <a:off x="1228954" y="2011680"/>
            <a:ext cx="0" cy="3291840"/>
          </a:xfrm>
          <a:prstGeom prst="line">
            <a:avLst/>
          </a:prstGeom>
          <a:ln w="19050">
            <a:solidFill>
              <a:srgbClr val="1E3A5F"/>
            </a:solidFill>
          </a:ln>
        </p:spPr>
      </p:cxnSp>
      <p:cxnSp>
        <p:nvCxnSpPr>
          <p:cNvPr id="102" name="ln102"/>
          <p:cNvCxnSpPr/>
          <p:nvPr/>
        </p:nvCxnSpPr>
        <p:spPr>
          <a:xfrm>
            <a:off x="1228954" y="5303520"/>
            <a:ext cx="6858000" cy="0"/>
          </a:xfrm>
          <a:prstGeom prst="line">
            <a:avLst/>
          </a:prstGeom>
          <a:ln w="19050">
            <a:solidFill>
              <a:srgbClr val="1E3A5F"/>
            </a:solidFill>
          </a:ln>
        </p:spPr>
      </p:cxnSp>
      <p:sp>
        <p:nvSpPr>
          <p:cNvPr id="103" name="s103"/>
          <p:cNvSpPr txBox="1"/>
          <p:nvPr/>
        </p:nvSpPr>
        <p:spPr>
          <a:xfrm>
            <a:off x="451714" y="1965960"/>
            <a:ext cx="731520" cy="274320"/>
          </a:xfrm>
          <a:prstGeom prst="rect">
            <a:avLst/>
          </a:prstGeom>
          <a:noFill/>
          <a:ln>
            <a:noFill/>
          </a:ln>
        </p:spPr>
        <p:txBody>
          <a:bodyPr wrap="square" lIns="0" tIns="0" rIns="0" bIns="0" rtlCol="0" anchor="t">
            <a:noAutofit/>
          </a:bodyPr>
          <a:lstStyle/>
          <a:p>
            <a:pPr marL="0" indent="0" algn="r">
              <a:spcBef>
                <a:spcPts val="0"/>
              </a:spcBef>
              <a:spcAft>
                <a:spcPts val="0"/>
              </a:spcAft>
              <a:buNone/>
            </a:pPr>
            <a:r>
              <a:rPr lang="en-US" sz="1000" b="0" dirty="0">
                <a:solidFill>
                  <a:srgbClr val="94A3B8"/>
                </a:solidFill>
                <a:latin typeface="Segoe UI"/>
                <a:ea typeface="Segoe UI"/>
                <a:cs typeface="Segoe UI"/>
              </a:rPr>
              <a:t>21 pts</a:t>
            </a:r>
            <a:endParaRPr lang="en-US" sz="1000" dirty="0"/>
          </a:p>
        </p:txBody>
      </p:sp>
      <p:sp>
        <p:nvSpPr>
          <p:cNvPr id="104" name="s104"/>
          <p:cNvSpPr txBox="1"/>
          <p:nvPr/>
        </p:nvSpPr>
        <p:spPr>
          <a:xfrm>
            <a:off x="6258154" y="5376672"/>
            <a:ext cx="1828800" cy="274320"/>
          </a:xfrm>
          <a:prstGeom prst="rect">
            <a:avLst/>
          </a:prstGeom>
          <a:noFill/>
          <a:ln>
            <a:noFill/>
          </a:ln>
        </p:spPr>
        <p:txBody>
          <a:bodyPr wrap="square" lIns="0" tIns="0" rIns="0" bIns="0" rtlCol="0" anchor="t">
            <a:noAutofit/>
          </a:bodyPr>
          <a:lstStyle/>
          <a:p>
            <a:pPr marL="0" indent="0" algn="r">
              <a:spcBef>
                <a:spcPts val="0"/>
              </a:spcBef>
              <a:spcAft>
                <a:spcPts val="0"/>
              </a:spcAft>
              <a:buNone/>
            </a:pPr>
            <a:r>
              <a:rPr lang="en-US" sz="1050" b="0" dirty="0">
                <a:solidFill>
                  <a:srgbClr val="94A3B8"/>
                </a:solidFill>
                <a:latin typeface="Segoe UI"/>
                <a:ea typeface="Segoe UI"/>
                <a:cs typeface="Segoe UI"/>
              </a:rPr>
              <a:t>Sprint days →</a:t>
            </a:r>
            <a:endParaRPr lang="en-US" sz="1050" dirty="0"/>
          </a:p>
        </p:txBody>
      </p:sp>
      <p:cxnSp>
        <p:nvCxnSpPr>
          <p:cNvPr id="105" name="ln105"/>
          <p:cNvCxnSpPr/>
          <p:nvPr/>
        </p:nvCxnSpPr>
        <p:spPr>
          <a:xfrm>
            <a:off x="1228954" y="2011680"/>
            <a:ext cx="6858000" cy="3291840"/>
          </a:xfrm>
          <a:prstGeom prst="line">
            <a:avLst/>
          </a:prstGeom>
          <a:ln w="22225">
            <a:solidFill>
              <a:srgbClr val="94A3B8"/>
            </a:solidFill>
            <a:prstDash val="dash"/>
          </a:ln>
        </p:spPr>
      </p:cxnSp>
      <p:sp>
        <p:nvSpPr>
          <p:cNvPr id="106" name="pl106"/>
          <p:cNvSpPr/>
          <p:nvPr/>
        </p:nvSpPr>
        <p:spPr>
          <a:xfrm>
            <a:off x="1228954" y="2011680"/>
            <a:ext cx="6858000" cy="3291840"/>
          </a:xfrm>
          <a:custGeom>
            <a:avLst/>
            <a:gdLst/>
            <a:ahLst/>
            <a:cxnLst/>
            <a:rect l="0" t="0" r="r" b="b"/>
            <a:pathLst>
              <a:path w="6858000" h="3291840">
                <a:moveTo>
                  <a:pt x="0" y="0"/>
                </a:moveTo>
                <a:lnTo>
                  <a:pt x="685800" y="156754"/>
                </a:lnTo>
                <a:lnTo>
                  <a:pt x="1371600" y="470263"/>
                </a:lnTo>
                <a:lnTo>
                  <a:pt x="2057400" y="470263"/>
                </a:lnTo>
                <a:lnTo>
                  <a:pt x="2743200" y="470263"/>
                </a:lnTo>
                <a:lnTo>
                  <a:pt x="3429000" y="783771"/>
                </a:lnTo>
                <a:lnTo>
                  <a:pt x="4114800" y="940526"/>
                </a:lnTo>
                <a:lnTo>
                  <a:pt x="4800600" y="1254034"/>
                </a:lnTo>
                <a:lnTo>
                  <a:pt x="5486400" y="1567543"/>
                </a:lnTo>
                <a:lnTo>
                  <a:pt x="6172200" y="2508069"/>
                </a:lnTo>
                <a:lnTo>
                  <a:pt x="6858000" y="2821577"/>
                </a:lnTo>
              </a:path>
            </a:pathLst>
          </a:custGeom>
          <a:noFill/>
          <a:ln w="38100" cap="rnd">
            <a:solidFill>
              <a:srgbClr val="FBBF24"/>
            </a:solidFill>
            <a:round/>
          </a:ln>
        </p:spPr>
        <p:txBody>
          <a:bodyPr/>
          <a:lstStyle/>
          <a:p>
            <a:endParaRPr lang="en-US"/>
          </a:p>
        </p:txBody>
      </p:sp>
      <p:sp>
        <p:nvSpPr>
          <p:cNvPr id="107" name="s107"/>
          <p:cNvSpPr/>
          <p:nvPr/>
        </p:nvSpPr>
        <p:spPr>
          <a:xfrm>
            <a:off x="2554834" y="1979023"/>
            <a:ext cx="1463040" cy="411480"/>
          </a:xfrm>
          <a:prstGeom prst="roundRect">
            <a:avLst>
              <a:gd name="adj" fmla="val 20000"/>
            </a:avLst>
          </a:prstGeom>
          <a:solidFill>
            <a:srgbClr val="F87171">
              <a:alpha val="14000"/>
            </a:srgbClr>
          </a:solidFill>
          <a:ln w="12700">
            <a:solidFill>
              <a:srgbClr val="F87171"/>
            </a:solidFill>
            <a:prstDash val="solid"/>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flat: staging blocker</a:t>
            </a:r>
            <a:endParaRPr lang="en-US" sz="1000" dirty="0"/>
          </a:p>
        </p:txBody>
      </p:sp>
      <p:sp>
        <p:nvSpPr>
          <p:cNvPr id="108" name="s108"/>
          <p:cNvSpPr/>
          <p:nvPr/>
        </p:nvSpPr>
        <p:spPr>
          <a:xfrm>
            <a:off x="5823814" y="3984171"/>
            <a:ext cx="1737360" cy="411480"/>
          </a:xfrm>
          <a:prstGeom prst="roundRect">
            <a:avLst>
              <a:gd name="adj" fmla="val 20000"/>
            </a:avLst>
          </a:prstGeom>
          <a:solidFill>
            <a:srgbClr val="13D0F7">
              <a:alpha val="14000"/>
            </a:srgbClr>
          </a:solidFill>
          <a:ln w="1270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late drop: items hit DoD</a:t>
            </a:r>
            <a:endParaRPr lang="en-US" sz="1000" dirty="0"/>
          </a:p>
        </p:txBody>
      </p:sp>
      <p:sp>
        <p:nvSpPr>
          <p:cNvPr id="109" name="s109"/>
          <p:cNvSpPr txBox="1"/>
          <p:nvPr/>
        </p:nvSpPr>
        <p:spPr>
          <a:xfrm>
            <a:off x="1411834" y="5376672"/>
            <a:ext cx="365760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0" dirty="0">
                <a:solidFill>
                  <a:srgbClr val="94A3B8"/>
                </a:solidFill>
                <a:latin typeface="Segoe UI"/>
                <a:ea typeface="Segoe UI"/>
                <a:cs typeface="Segoe UI"/>
              </a:rPr>
              <a:t>— — ideal    </a:t>
            </a:r>
            <a:r>
              <a:rPr lang="en-US" sz="1050" b="0" dirty="0">
                <a:solidFill>
                  <a:srgbClr val="FBBF24"/>
                </a:solidFill>
                <a:latin typeface="Segoe UI"/>
                <a:ea typeface="Segoe UI"/>
                <a:cs typeface="Segoe UI"/>
              </a:rPr>
              <a:t>——</a:t>
            </a:r>
            <a:r>
              <a:rPr lang="en-US" sz="1050" b="0" dirty="0">
                <a:solidFill>
                  <a:srgbClr val="94A3B8"/>
                </a:solidFill>
                <a:latin typeface="Segoe UI"/>
                <a:ea typeface="Segoe UI"/>
                <a:cs typeface="Segoe UI"/>
              </a:rPr>
              <a:t> actual</a:t>
            </a:r>
            <a:endParaRPr lang="en-US" sz="1050" dirty="0"/>
          </a:p>
        </p:txBody>
      </p:sp>
      <p:sp>
        <p:nvSpPr>
          <p:cNvPr id="110" name="s110"/>
          <p:cNvSpPr/>
          <p:nvPr/>
        </p:nvSpPr>
        <p:spPr>
          <a:xfrm>
            <a:off x="8727034" y="2011680"/>
            <a:ext cx="2904134" cy="38404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FBBF24"/>
                </a:solidFill>
                <a:latin typeface="Segoe UI"/>
                <a:ea typeface="Segoe UI"/>
                <a:cs typeface="Segoe UI"/>
              </a:rPr>
              <a:t>Optional practice</a:t>
            </a:r>
            <a:endParaRPr lang="en-US" sz="1200" dirty="0"/>
          </a:p>
        </p:txBody>
      </p:sp>
      <p:sp>
        <p:nvSpPr>
          <p:cNvPr id="111" name="s111"/>
          <p:cNvSpPr/>
          <p:nvPr/>
        </p:nvSpPr>
        <p:spPr>
          <a:xfrm>
            <a:off x="8727034" y="2514600"/>
            <a:ext cx="2904134" cy="38404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FBBF24"/>
                </a:solidFill>
                <a:latin typeface="Segoe UI"/>
                <a:ea typeface="Segoe UI"/>
                <a:cs typeface="Segoe UI"/>
              </a:rPr>
              <a:t>Not a weapon</a:t>
            </a:r>
            <a:endParaRPr lang="en-US" sz="1200" dirty="0"/>
          </a:p>
        </p:txBody>
      </p:sp>
      <p:sp>
        <p:nvSpPr>
          <p:cNvPr id="112" name="s112"/>
          <p:cNvSpPr/>
          <p:nvPr/>
        </p:nvSpPr>
        <p:spPr>
          <a:xfrm>
            <a:off x="8727034" y="3017520"/>
            <a:ext cx="2904134" cy="384048"/>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200" b="1" dirty="0">
                <a:solidFill>
                  <a:srgbClr val="FBBF24"/>
                </a:solidFill>
                <a:latin typeface="Segoe UI"/>
                <a:ea typeface="Segoe UI"/>
                <a:cs typeface="Segoe UI"/>
              </a:rPr>
              <a:t>Context required</a:t>
            </a:r>
            <a:endParaRPr lang="en-US" sz="1200" dirty="0"/>
          </a:p>
        </p:txBody>
      </p:sp>
      <p:sp>
        <p:nvSpPr>
          <p:cNvPr id="113" name="s113"/>
          <p:cNvSpPr/>
          <p:nvPr/>
        </p:nvSpPr>
        <p:spPr>
          <a:xfrm>
            <a:off x="8727034" y="3657600"/>
            <a:ext cx="2904134" cy="1645920"/>
          </a:xfrm>
          <a:prstGeom prst="roundRect">
            <a:avLst>
              <a:gd name="adj" fmla="val 10000"/>
            </a:avLst>
          </a:prstGeom>
          <a:solidFill>
            <a:srgbClr val="111B2E"/>
          </a:solidFill>
          <a:ln w="12700">
            <a:solidFill>
              <a:srgbClr val="1E3A5F"/>
            </a:solidFill>
            <a:prstDash val="solid"/>
          </a:ln>
        </p:spPr>
        <p:txBody>
          <a:bodyPr wrap="square" lIns="228600" tIns="137160" rIns="182880" bIns="91440" rtlCol="0" anchor="t">
            <a:noAutofit/>
          </a:bodyPr>
          <a:lstStyle/>
          <a:p>
            <a:pPr marL="0" indent="0" algn="l">
              <a:spcBef>
                <a:spcPts val="0"/>
              </a:spcBef>
              <a:spcAft>
                <a:spcPts val="400"/>
              </a:spcAft>
              <a:buNone/>
            </a:pPr>
            <a:r>
              <a:rPr lang="en-US" sz="1100" b="1" dirty="0">
                <a:solidFill>
                  <a:srgbClr val="94A3B8"/>
                </a:solidFill>
                <a:latin typeface="Segoe UI"/>
                <a:ea typeface="Segoe UI"/>
                <a:cs typeface="Segoe UI"/>
              </a:rPr>
              <a:t>MAY REVEAL</a:t>
            </a:r>
            <a:endParaRPr lang="en-US" sz="1100" dirty="0"/>
          </a:p>
          <a:p>
            <a:pPr marL="0" indent="0" algn="l">
              <a:spcBef>
                <a:spcPts val="0"/>
              </a:spcBef>
              <a:spcAft>
                <a:spcPts val="200"/>
              </a:spcAft>
              <a:buNone/>
            </a:pPr>
            <a:r>
              <a:rPr lang="en-US" sz="1300" b="0" dirty="0">
                <a:solidFill>
                  <a:srgbClr val="FFFFFF"/>
                </a:solidFill>
                <a:latin typeface="Segoe UI"/>
                <a:ea typeface="Segoe UI"/>
                <a:cs typeface="Segoe UI"/>
              </a:rPr>
              <a:t>•  WIP pile-up</a:t>
            </a:r>
            <a:endParaRPr lang="en-US" sz="1300" dirty="0"/>
          </a:p>
          <a:p>
            <a:pPr marL="0" indent="0" algn="l">
              <a:spcBef>
                <a:spcPts val="0"/>
              </a:spcBef>
              <a:spcAft>
                <a:spcPts val="200"/>
              </a:spcAft>
              <a:buNone/>
            </a:pPr>
            <a:r>
              <a:rPr lang="en-US" sz="1300" b="0" dirty="0">
                <a:solidFill>
                  <a:srgbClr val="FFFFFF"/>
                </a:solidFill>
                <a:latin typeface="Segoe UI"/>
                <a:ea typeface="Segoe UI"/>
                <a:cs typeface="Segoe UI"/>
              </a:rPr>
              <a:t>•  Blockers</a:t>
            </a:r>
            <a:endParaRPr lang="en-US" sz="1300" dirty="0"/>
          </a:p>
          <a:p>
            <a:pPr marL="0" indent="0" algn="l">
              <a:spcBef>
                <a:spcPts val="0"/>
              </a:spcBef>
              <a:spcAft>
                <a:spcPts val="200"/>
              </a:spcAft>
              <a:buNone/>
            </a:pPr>
            <a:r>
              <a:rPr lang="en-US" sz="1300" b="0" dirty="0">
                <a:solidFill>
                  <a:srgbClr val="FFFFFF"/>
                </a:solidFill>
                <a:latin typeface="Segoe UI"/>
                <a:ea typeface="Segoe UI"/>
                <a:cs typeface="Segoe UI"/>
              </a:rPr>
              <a:t>•  Late testing</a:t>
            </a:r>
            <a:endParaRPr lang="en-US" sz="1300" dirty="0"/>
          </a:p>
          <a:p>
            <a:pPr marL="0" indent="0" algn="l">
              <a:spcBef>
                <a:spcPts val="0"/>
              </a:spcBef>
              <a:spcAft>
                <a:spcPts val="200"/>
              </a:spcAft>
              <a:buNone/>
            </a:pPr>
            <a:r>
              <a:rPr lang="en-US" sz="1300" b="0" dirty="0">
                <a:solidFill>
                  <a:srgbClr val="FFFFFF"/>
                </a:solidFill>
                <a:latin typeface="Segoe UI"/>
                <a:ea typeface="Segoe UI"/>
                <a:cs typeface="Segoe UI"/>
              </a:rPr>
              <a:t>•  Scope change</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wipe(down)">
                                      <p:cBhvr>
                                        <p:cTn id="7" dur="500"/>
                                        <p:tgtEl>
                                          <p:spTgt spid="101"/>
                                        </p:tgtEl>
                                      </p:cBhvr>
                                    </p:animEffect>
                                  </p:childTnLst>
                                </p:cTn>
                              </p:par>
                              <p:par>
                                <p:cTn id="8" presetID="22" presetClass="entr" presetSubtype="8" fill="hold" nodeType="withEffect">
                                  <p:stCondLst>
                                    <p:cond delay="120"/>
                                  </p:stCondLst>
                                  <p:childTnLst>
                                    <p:set>
                                      <p:cBhvr>
                                        <p:cTn id="9" dur="1" fill="hold">
                                          <p:stCondLst>
                                            <p:cond delay="0"/>
                                          </p:stCondLst>
                                        </p:cTn>
                                        <p:tgtEl>
                                          <p:spTgt spid="102"/>
                                        </p:tgtEl>
                                        <p:attrNameLst>
                                          <p:attrName>style.visibility</p:attrName>
                                        </p:attrNameLst>
                                      </p:cBhvr>
                                      <p:to>
                                        <p:strVal val="visible"/>
                                      </p:to>
                                    </p:set>
                                    <p:animEffect transition="in" filter="wipe(left)">
                                      <p:cBhvr>
                                        <p:cTn id="10" dur="500"/>
                                        <p:tgtEl>
                                          <p:spTgt spid="102"/>
                                        </p:tgtEl>
                                      </p:cBhvr>
                                    </p:animEffect>
                                  </p:childTnLst>
                                </p:cTn>
                              </p:par>
                              <p:par>
                                <p:cTn id="11" presetID="10" presetClass="entr" presetSubtype="0" fill="hold" grpId="0" nodeType="withEffect">
                                  <p:stCondLst>
                                    <p:cond delay="240"/>
                                  </p:stCondLst>
                                  <p:childTnLst>
                                    <p:set>
                                      <p:cBhvr>
                                        <p:cTn id="12" dur="1" fill="hold">
                                          <p:stCondLst>
                                            <p:cond delay="0"/>
                                          </p:stCondLst>
                                        </p:cTn>
                                        <p:tgtEl>
                                          <p:spTgt spid="103"/>
                                        </p:tgtEl>
                                        <p:attrNameLst>
                                          <p:attrName>style.visibility</p:attrName>
                                        </p:attrNameLst>
                                      </p:cBhvr>
                                      <p:to>
                                        <p:strVal val="visible"/>
                                      </p:to>
                                    </p:set>
                                    <p:animEffect transition="in" filter="fade">
                                      <p:cBhvr>
                                        <p:cTn id="13" dur="500"/>
                                        <p:tgtEl>
                                          <p:spTgt spid="103"/>
                                        </p:tgtEl>
                                      </p:cBhvr>
                                    </p:animEffect>
                                  </p:childTnLst>
                                </p:cTn>
                              </p:par>
                              <p:par>
                                <p:cTn id="14" presetID="10" presetClass="entr" presetSubtype="0" fill="hold" grpId="0" nodeType="withEffect">
                                  <p:stCondLst>
                                    <p:cond delay="360"/>
                                  </p:stCondLst>
                                  <p:childTnLst>
                                    <p:set>
                                      <p:cBhvr>
                                        <p:cTn id="15" dur="1" fill="hold">
                                          <p:stCondLst>
                                            <p:cond delay="0"/>
                                          </p:stCondLst>
                                        </p:cTn>
                                        <p:tgtEl>
                                          <p:spTgt spid="104"/>
                                        </p:tgtEl>
                                        <p:attrNameLst>
                                          <p:attrName>style.visibility</p:attrName>
                                        </p:attrNameLst>
                                      </p:cBhvr>
                                      <p:to>
                                        <p:strVal val="visible"/>
                                      </p:to>
                                    </p:set>
                                    <p:animEffect transition="in" filter="fade">
                                      <p:cBhvr>
                                        <p:cTn id="16" dur="500"/>
                                        <p:tgtEl>
                                          <p:spTgt spid="104"/>
                                        </p:tgtEl>
                                      </p:cBhvr>
                                    </p:animEffect>
                                  </p:childTnLst>
                                </p:cTn>
                              </p:par>
                              <p:par>
                                <p:cTn id="17" presetID="10" presetClass="entr" presetSubtype="0" fill="hold" grpId="0" nodeType="withEffect">
                                  <p:stCondLst>
                                    <p:cond delay="480"/>
                                  </p:stCondLst>
                                  <p:childTnLst>
                                    <p:set>
                                      <p:cBhvr>
                                        <p:cTn id="18" dur="1" fill="hold">
                                          <p:stCondLst>
                                            <p:cond delay="0"/>
                                          </p:stCondLst>
                                        </p:cTn>
                                        <p:tgtEl>
                                          <p:spTgt spid="109"/>
                                        </p:tgtEl>
                                        <p:attrNameLst>
                                          <p:attrName>style.visibility</p:attrName>
                                        </p:attrNameLst>
                                      </p:cBhvr>
                                      <p:to>
                                        <p:strVal val="visible"/>
                                      </p:to>
                                    </p:set>
                                    <p:animEffect transition="in" filter="fade">
                                      <p:cBhvr>
                                        <p:cTn id="19" dur="500"/>
                                        <p:tgtEl>
                                          <p:spTgt spid="109"/>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105"/>
                                        </p:tgtEl>
                                        <p:attrNameLst>
                                          <p:attrName>style.visibility</p:attrName>
                                        </p:attrNameLst>
                                      </p:cBhvr>
                                      <p:to>
                                        <p:strVal val="visible"/>
                                      </p:to>
                                    </p:set>
                                    <p:animEffect transition="in" filter="wipe(left)">
                                      <p:cBhvr>
                                        <p:cTn id="24" dur="900"/>
                                        <p:tgtEl>
                                          <p:spTgt spid="105"/>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106"/>
                                        </p:tgtEl>
                                        <p:attrNameLst>
                                          <p:attrName>style.visibility</p:attrName>
                                        </p:attrNameLst>
                                      </p:cBhvr>
                                      <p:to>
                                        <p:strVal val="visible"/>
                                      </p:to>
                                    </p:set>
                                    <p:animEffect transition="in" filter="wipe(left)">
                                      <p:cBhvr>
                                        <p:cTn id="29" dur="2200"/>
                                        <p:tgtEl>
                                          <p:spTgt spid="106"/>
                                        </p:tgtEl>
                                      </p:cBhvr>
                                    </p:animEffect>
                                  </p:childTnLst>
                                </p:cTn>
                              </p:par>
                              <p:par>
                                <p:cTn id="30" presetID="53" presetClass="entr" presetSubtype="16" fill="hold" grpId="0" nodeType="withEffect">
                                  <p:stCondLst>
                                    <p:cond delay="800"/>
                                  </p:stCondLst>
                                  <p:childTnLst>
                                    <p:set>
                                      <p:cBhvr>
                                        <p:cTn id="31" dur="1" fill="hold">
                                          <p:stCondLst>
                                            <p:cond delay="0"/>
                                          </p:stCondLst>
                                        </p:cTn>
                                        <p:tgtEl>
                                          <p:spTgt spid="107"/>
                                        </p:tgtEl>
                                        <p:attrNameLst>
                                          <p:attrName>style.visibility</p:attrName>
                                        </p:attrNameLst>
                                      </p:cBhvr>
                                      <p:to>
                                        <p:strVal val="visible"/>
                                      </p:to>
                                    </p:set>
                                    <p:anim calcmode="lin" valueType="num">
                                      <p:cBhvr additive="base">
                                        <p:cTn id="32" dur="500" decel="100000" fill="hold"/>
                                        <p:tgtEl>
                                          <p:spTgt spid="107"/>
                                        </p:tgtEl>
                                        <p:attrNameLst>
                                          <p:attrName>ppt_w</p:attrName>
                                        </p:attrNameLst>
                                      </p:cBhvr>
                                      <p:tavLst>
                                        <p:tav tm="0">
                                          <p:val>
                                            <p:strVal val="#ppt_w*0.3"/>
                                          </p:val>
                                        </p:tav>
                                        <p:tav tm="100000">
                                          <p:val>
                                            <p:strVal val="#ppt_w*1.08"/>
                                          </p:val>
                                        </p:tav>
                                      </p:tavLst>
                                    </p:anim>
                                    <p:anim calcmode="lin" valueType="num">
                                      <p:cBhvr additive="base">
                                        <p:cTn id="33" dur="500" decel="100000" fill="hold"/>
                                        <p:tgtEl>
                                          <p:spTgt spid="107"/>
                                        </p:tgtEl>
                                        <p:attrNameLst>
                                          <p:attrName>ppt_h</p:attrName>
                                        </p:attrNameLst>
                                      </p:cBhvr>
                                      <p:tavLst>
                                        <p:tav tm="0">
                                          <p:val>
                                            <p:strVal val="#ppt_h*0.3"/>
                                          </p:val>
                                        </p:tav>
                                        <p:tav tm="100000">
                                          <p:val>
                                            <p:strVal val="#ppt_h*1.08"/>
                                          </p:val>
                                        </p:tav>
                                      </p:tavLst>
                                    </p:anim>
                                    <p:animEffect transition="in" filter="fade">
                                      <p:cBhvr>
                                        <p:cTn id="34" dur="250"/>
                                        <p:tgtEl>
                                          <p:spTgt spid="107"/>
                                        </p:tgtEl>
                                      </p:cBhvr>
                                    </p:animEffect>
                                    <p:anim calcmode="lin" valueType="num">
                                      <p:cBhvr additive="base">
                                        <p:cTn id="35" dur="160" fill="hold">
                                          <p:stCondLst>
                                            <p:cond delay="500"/>
                                          </p:stCondLst>
                                        </p:cTn>
                                        <p:tgtEl>
                                          <p:spTgt spid="107"/>
                                        </p:tgtEl>
                                        <p:attrNameLst>
                                          <p:attrName>ppt_w</p:attrName>
                                        </p:attrNameLst>
                                      </p:cBhvr>
                                      <p:tavLst>
                                        <p:tav tm="0">
                                          <p:val>
                                            <p:strVal val="#ppt_w*1.08"/>
                                          </p:val>
                                        </p:tav>
                                        <p:tav tm="100000">
                                          <p:val>
                                            <p:strVal val="#ppt_w"/>
                                          </p:val>
                                        </p:tav>
                                      </p:tavLst>
                                    </p:anim>
                                    <p:anim calcmode="lin" valueType="num">
                                      <p:cBhvr additive="base">
                                        <p:cTn id="36" dur="160" fill="hold">
                                          <p:stCondLst>
                                            <p:cond delay="500"/>
                                          </p:stCondLst>
                                        </p:cTn>
                                        <p:tgtEl>
                                          <p:spTgt spid="107"/>
                                        </p:tgtEl>
                                        <p:attrNameLst>
                                          <p:attrName>ppt_h</p:attrName>
                                        </p:attrNameLst>
                                      </p:cBhvr>
                                      <p:tavLst>
                                        <p:tav tm="0">
                                          <p:val>
                                            <p:strVal val="#ppt_h*1.08"/>
                                          </p:val>
                                        </p:tav>
                                        <p:tav tm="100000">
                                          <p:val>
                                            <p:strVal val="#ppt_h"/>
                                          </p:val>
                                        </p:tav>
                                      </p:tavLst>
                                    </p:anim>
                                  </p:childTnLst>
                                </p:cTn>
                              </p:par>
                              <p:par>
                                <p:cTn id="37" presetID="53" presetClass="entr" presetSubtype="16" fill="hold" grpId="0" nodeType="withEffect">
                                  <p:stCondLst>
                                    <p:cond delay="2100"/>
                                  </p:stCondLst>
                                  <p:childTnLst>
                                    <p:set>
                                      <p:cBhvr>
                                        <p:cTn id="38" dur="1" fill="hold">
                                          <p:stCondLst>
                                            <p:cond delay="0"/>
                                          </p:stCondLst>
                                        </p:cTn>
                                        <p:tgtEl>
                                          <p:spTgt spid="108"/>
                                        </p:tgtEl>
                                        <p:attrNameLst>
                                          <p:attrName>style.visibility</p:attrName>
                                        </p:attrNameLst>
                                      </p:cBhvr>
                                      <p:to>
                                        <p:strVal val="visible"/>
                                      </p:to>
                                    </p:set>
                                    <p:anim calcmode="lin" valueType="num">
                                      <p:cBhvr additive="base">
                                        <p:cTn id="39" dur="500" decel="100000" fill="hold"/>
                                        <p:tgtEl>
                                          <p:spTgt spid="108"/>
                                        </p:tgtEl>
                                        <p:attrNameLst>
                                          <p:attrName>ppt_w</p:attrName>
                                        </p:attrNameLst>
                                      </p:cBhvr>
                                      <p:tavLst>
                                        <p:tav tm="0">
                                          <p:val>
                                            <p:strVal val="#ppt_w*0.3"/>
                                          </p:val>
                                        </p:tav>
                                        <p:tav tm="100000">
                                          <p:val>
                                            <p:strVal val="#ppt_w*1.08"/>
                                          </p:val>
                                        </p:tav>
                                      </p:tavLst>
                                    </p:anim>
                                    <p:anim calcmode="lin" valueType="num">
                                      <p:cBhvr additive="base">
                                        <p:cTn id="40" dur="500" decel="100000" fill="hold"/>
                                        <p:tgtEl>
                                          <p:spTgt spid="108"/>
                                        </p:tgtEl>
                                        <p:attrNameLst>
                                          <p:attrName>ppt_h</p:attrName>
                                        </p:attrNameLst>
                                      </p:cBhvr>
                                      <p:tavLst>
                                        <p:tav tm="0">
                                          <p:val>
                                            <p:strVal val="#ppt_h*0.3"/>
                                          </p:val>
                                        </p:tav>
                                        <p:tav tm="100000">
                                          <p:val>
                                            <p:strVal val="#ppt_h*1.08"/>
                                          </p:val>
                                        </p:tav>
                                      </p:tavLst>
                                    </p:anim>
                                    <p:animEffect transition="in" filter="fade">
                                      <p:cBhvr>
                                        <p:cTn id="41" dur="250"/>
                                        <p:tgtEl>
                                          <p:spTgt spid="108"/>
                                        </p:tgtEl>
                                      </p:cBhvr>
                                    </p:animEffect>
                                    <p:anim calcmode="lin" valueType="num">
                                      <p:cBhvr additive="base">
                                        <p:cTn id="42" dur="160" fill="hold">
                                          <p:stCondLst>
                                            <p:cond delay="500"/>
                                          </p:stCondLst>
                                        </p:cTn>
                                        <p:tgtEl>
                                          <p:spTgt spid="108"/>
                                        </p:tgtEl>
                                        <p:attrNameLst>
                                          <p:attrName>ppt_w</p:attrName>
                                        </p:attrNameLst>
                                      </p:cBhvr>
                                      <p:tavLst>
                                        <p:tav tm="0">
                                          <p:val>
                                            <p:strVal val="#ppt_w*1.08"/>
                                          </p:val>
                                        </p:tav>
                                        <p:tav tm="100000">
                                          <p:val>
                                            <p:strVal val="#ppt_w"/>
                                          </p:val>
                                        </p:tav>
                                      </p:tavLst>
                                    </p:anim>
                                    <p:anim calcmode="lin" valueType="num">
                                      <p:cBhvr additive="base">
                                        <p:cTn id="43" dur="160" fill="hold">
                                          <p:stCondLst>
                                            <p:cond delay="500"/>
                                          </p:stCondLst>
                                        </p:cTn>
                                        <p:tgtEl>
                                          <p:spTgt spid="108"/>
                                        </p:tgtEl>
                                        <p:attrNameLst>
                                          <p:attrName>ppt_h</p:attrName>
                                        </p:attrNameLst>
                                      </p:cBhvr>
                                      <p:tavLst>
                                        <p:tav tm="0">
                                          <p:val>
                                            <p:strVal val="#ppt_h*1.08"/>
                                          </p:val>
                                        </p:tav>
                                        <p:tav tm="100000">
                                          <p:val>
                                            <p:strVal val="#ppt_h"/>
                                          </p:val>
                                        </p:tav>
                                      </p:tavLst>
                                    </p:anim>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110"/>
                                        </p:tgtEl>
                                        <p:attrNameLst>
                                          <p:attrName>style.visibility</p:attrName>
                                        </p:attrNameLst>
                                      </p:cBhvr>
                                      <p:to>
                                        <p:strVal val="visible"/>
                                      </p:to>
                                    </p:set>
                                    <p:animEffect transition="in" filter="fade">
                                      <p:cBhvr>
                                        <p:cTn id="48" dur="500"/>
                                        <p:tgtEl>
                                          <p:spTgt spid="110"/>
                                        </p:tgtEl>
                                      </p:cBhvr>
                                    </p:animEffect>
                                    <p:anim calcmode="lin" valueType="num">
                                      <p:cBhvr additive="base">
                                        <p:cTn id="49" dur="500" decel="100000" fill="hold"/>
                                        <p:tgtEl>
                                          <p:spTgt spid="110"/>
                                        </p:tgtEl>
                                        <p:attrNameLst>
                                          <p:attrName>ppt_x</p:attrName>
                                        </p:attrNameLst>
                                      </p:cBhvr>
                                      <p:tavLst>
                                        <p:tav tm="0">
                                          <p:val>
                                            <p:strVal val="#ppt_x-0.05"/>
                                          </p:val>
                                        </p:tav>
                                        <p:tav tm="100000">
                                          <p:val>
                                            <p:strVal val="#ppt_x"/>
                                          </p:val>
                                        </p:tav>
                                      </p:tavLst>
                                    </p:anim>
                                  </p:childTnLst>
                                </p:cTn>
                              </p:par>
                              <p:par>
                                <p:cTn id="50" presetID="42" presetClass="entr" presetSubtype="0" fill="hold" grpId="0" nodeType="withEffect">
                                  <p:stCondLst>
                                    <p:cond delay="150"/>
                                  </p:stCondLst>
                                  <p:childTnLst>
                                    <p:set>
                                      <p:cBhvr>
                                        <p:cTn id="51" dur="1" fill="hold">
                                          <p:stCondLst>
                                            <p:cond delay="0"/>
                                          </p:stCondLst>
                                        </p:cTn>
                                        <p:tgtEl>
                                          <p:spTgt spid="111"/>
                                        </p:tgtEl>
                                        <p:attrNameLst>
                                          <p:attrName>style.visibility</p:attrName>
                                        </p:attrNameLst>
                                      </p:cBhvr>
                                      <p:to>
                                        <p:strVal val="visible"/>
                                      </p:to>
                                    </p:set>
                                    <p:animEffect transition="in" filter="fade">
                                      <p:cBhvr>
                                        <p:cTn id="52" dur="500"/>
                                        <p:tgtEl>
                                          <p:spTgt spid="111"/>
                                        </p:tgtEl>
                                      </p:cBhvr>
                                    </p:animEffect>
                                    <p:anim calcmode="lin" valueType="num">
                                      <p:cBhvr additive="base">
                                        <p:cTn id="53" dur="500" decel="100000" fill="hold"/>
                                        <p:tgtEl>
                                          <p:spTgt spid="111"/>
                                        </p:tgtEl>
                                        <p:attrNameLst>
                                          <p:attrName>ppt_x</p:attrName>
                                        </p:attrNameLst>
                                      </p:cBhvr>
                                      <p:tavLst>
                                        <p:tav tm="0">
                                          <p:val>
                                            <p:strVal val="#ppt_x-0.05"/>
                                          </p:val>
                                        </p:tav>
                                        <p:tav tm="100000">
                                          <p:val>
                                            <p:strVal val="#ppt_x"/>
                                          </p:val>
                                        </p:tav>
                                      </p:tavLst>
                                    </p:anim>
                                  </p:childTnLst>
                                </p:cTn>
                              </p:par>
                              <p:par>
                                <p:cTn id="54" presetID="42" presetClass="entr" presetSubtype="0" fill="hold" grpId="0" nodeType="withEffect">
                                  <p:stCondLst>
                                    <p:cond delay="300"/>
                                  </p:stCondLst>
                                  <p:childTnLst>
                                    <p:set>
                                      <p:cBhvr>
                                        <p:cTn id="55" dur="1" fill="hold">
                                          <p:stCondLst>
                                            <p:cond delay="0"/>
                                          </p:stCondLst>
                                        </p:cTn>
                                        <p:tgtEl>
                                          <p:spTgt spid="112"/>
                                        </p:tgtEl>
                                        <p:attrNameLst>
                                          <p:attrName>style.visibility</p:attrName>
                                        </p:attrNameLst>
                                      </p:cBhvr>
                                      <p:to>
                                        <p:strVal val="visible"/>
                                      </p:to>
                                    </p:set>
                                    <p:animEffect transition="in" filter="fade">
                                      <p:cBhvr>
                                        <p:cTn id="56" dur="500"/>
                                        <p:tgtEl>
                                          <p:spTgt spid="112"/>
                                        </p:tgtEl>
                                      </p:cBhvr>
                                    </p:animEffect>
                                    <p:anim calcmode="lin" valueType="num">
                                      <p:cBhvr additive="base">
                                        <p:cTn id="57" dur="500" decel="100000" fill="hold"/>
                                        <p:tgtEl>
                                          <p:spTgt spid="112"/>
                                        </p:tgtEl>
                                        <p:attrNameLst>
                                          <p:attrName>ppt_x</p:attrName>
                                        </p:attrNameLst>
                                      </p:cBhvr>
                                      <p:tavLst>
                                        <p:tav tm="0">
                                          <p:val>
                                            <p:strVal val="#ppt_x-0.05"/>
                                          </p:val>
                                        </p:tav>
                                        <p:tav tm="100000">
                                          <p:val>
                                            <p:strVal val="#ppt_x"/>
                                          </p:val>
                                        </p:tav>
                                      </p:tavLst>
                                    </p:anim>
                                  </p:childTnLst>
                                </p:cTn>
                              </p:par>
                              <p:par>
                                <p:cTn id="58" presetID="42" presetClass="entr" presetSubtype="0" fill="hold" grpId="0" nodeType="withEffect">
                                  <p:stCondLst>
                                    <p:cond delay="450"/>
                                  </p:stCondLst>
                                  <p:childTnLst>
                                    <p:set>
                                      <p:cBhvr>
                                        <p:cTn id="59" dur="1" fill="hold">
                                          <p:stCondLst>
                                            <p:cond delay="0"/>
                                          </p:stCondLst>
                                        </p:cTn>
                                        <p:tgtEl>
                                          <p:spTgt spid="113"/>
                                        </p:tgtEl>
                                        <p:attrNameLst>
                                          <p:attrName>style.visibility</p:attrName>
                                        </p:attrNameLst>
                                      </p:cBhvr>
                                      <p:to>
                                        <p:strVal val="visible"/>
                                      </p:to>
                                    </p:set>
                                    <p:animEffect transition="in" filter="fade">
                                      <p:cBhvr>
                                        <p:cTn id="60" dur="500"/>
                                        <p:tgtEl>
                                          <p:spTgt spid="113"/>
                                        </p:tgtEl>
                                      </p:cBhvr>
                                    </p:animEffect>
                                    <p:anim calcmode="lin" valueType="num">
                                      <p:cBhvr additive="base">
                                        <p:cTn id="61" dur="500" decel="100000" fill="hold"/>
                                        <p:tgtEl>
                                          <p:spTgt spid="113"/>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4" grpId="0" animBg="1"/>
      <p:bldP spid="106" grpId="0" animBg="1"/>
      <p:bldP spid="107" grpId="0" animBg="1"/>
      <p:bldP spid="108" grpId="0" animBg="1"/>
      <p:bldP spid="109" grpId="0" animBg="1"/>
      <p:bldP spid="110" grpId="0" animBg="1"/>
      <p:bldP spid="111" grpId="0" animBg="1"/>
      <p:bldP spid="112" grpId="0" animBg="1"/>
      <p:bldP spid="113"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87171">
              <a:alpha val="18000"/>
            </a:srgbClr>
          </a:solidFill>
          <a:ln w="12700">
            <a:solidFill>
              <a:srgbClr val="F87171"/>
            </a:solidFill>
          </a:ln>
        </p:spPr>
        <p:txBody>
          <a:bodyPr wrap="square" lIns="0" tIns="0" rIns="0" bIns="0" rtlCol="0" anchor="ctr">
            <a:noAutofit/>
          </a:bodyPr>
          <a:lstStyle/>
          <a:p>
            <a:pPr marL="0" indent="0" algn="ctr">
              <a:spcBef>
                <a:spcPts val="0"/>
              </a:spcBef>
              <a:spcAft>
                <a:spcPts val="0"/>
              </a:spcAft>
              <a:buNone/>
            </a:pPr>
            <a:r>
              <a:rPr lang="en-US" sz="1000" b="1" dirty="0">
                <a:solidFill>
                  <a:srgbClr val="F87171"/>
                </a:solidFill>
                <a:latin typeface="Segoe UI"/>
                <a:ea typeface="Segoe UI"/>
                <a:cs typeface="Segoe UI"/>
              </a:rPr>
              <a:t>MISUSE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Metrics Can Be Misused</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Never compare teams by Story Points.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METRICS</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294</a:t>
            </a:r>
            <a:endParaRPr lang="en-US" sz="850" dirty="0"/>
          </a:p>
        </p:txBody>
      </p:sp>
      <p:sp>
        <p:nvSpPr>
          <p:cNvPr id="101" name="s101"/>
          <p:cNvSpPr/>
          <p:nvPr/>
        </p:nvSpPr>
        <p:spPr>
          <a:xfrm>
            <a:off x="543154" y="1920240"/>
            <a:ext cx="6400800" cy="1005840"/>
          </a:xfrm>
          <a:prstGeom prst="roundRect">
            <a:avLst>
              <a:gd name="adj" fmla="val 12000"/>
            </a:avLst>
          </a:prstGeom>
          <a:solidFill>
            <a:srgbClr val="F87171">
              <a:alpha val="8000"/>
            </a:srgbClr>
          </a:solidFill>
          <a:ln w="12700">
            <a:solidFill>
              <a:srgbClr val="F87171"/>
            </a:solidFill>
            <a:prstDash val="solid"/>
          </a:ln>
        </p:spPr>
        <p:txBody>
          <a:bodyPr wrap="square" lIns="228600" tIns="45720" rIns="182880" bIns="45720" rtlCol="0" anchor="ctr">
            <a:noAutofit/>
          </a:bodyPr>
          <a:lstStyle/>
          <a:p>
            <a:pPr marL="0" indent="0" algn="l">
              <a:spcBef>
                <a:spcPts val="0"/>
              </a:spcBef>
              <a:spcAft>
                <a:spcPts val="300"/>
              </a:spcAft>
              <a:buNone/>
            </a:pPr>
            <a:r>
              <a:rPr lang="en-US" sz="1050" b="1" dirty="0">
                <a:solidFill>
                  <a:srgbClr val="F87171"/>
                </a:solidFill>
                <a:latin typeface="Segoe UI"/>
                <a:ea typeface="Segoe UI"/>
                <a:cs typeface="Segoe UI"/>
              </a:rPr>
              <a:t>MANAGEMENT (WRONG)</a:t>
            </a:r>
            <a:endParaRPr lang="en-US" sz="1050" dirty="0"/>
          </a:p>
          <a:p>
            <a:pPr marL="0" indent="0" algn="l">
              <a:spcBef>
                <a:spcPts val="0"/>
              </a:spcBef>
              <a:spcAft>
                <a:spcPts val="0"/>
              </a:spcAft>
              <a:buNone/>
            </a:pPr>
            <a:r>
              <a:rPr lang="en-US" sz="1500" b="0" i="1" dirty="0">
                <a:solidFill>
                  <a:srgbClr val="FFFFFF"/>
                </a:solidFill>
                <a:latin typeface="Segoe UI"/>
                <a:ea typeface="Segoe UI"/>
                <a:cs typeface="Segoe UI"/>
              </a:rPr>
              <a:t>“Team A completed 30 points. Team B completed only 18. Team A is better.”</a:t>
            </a:r>
            <a:endParaRPr lang="en-US" sz="1500" dirty="0"/>
          </a:p>
        </p:txBody>
      </p:sp>
      <p:sp>
        <p:nvSpPr>
          <p:cNvPr id="102" name="s102"/>
          <p:cNvSpPr/>
          <p:nvPr/>
        </p:nvSpPr>
        <p:spPr>
          <a:xfrm>
            <a:off x="7584034" y="1965960"/>
            <a:ext cx="1463040" cy="960120"/>
          </a:xfrm>
          <a:prstGeom prst="rect">
            <a:avLst/>
          </a:prstGeom>
          <a:solidFill>
            <a:srgbClr val="94A3B8">
              <a:alpha val="40000"/>
            </a:srgbClr>
          </a:solidFill>
          <a:ln>
            <a:noFill/>
          </a:ln>
        </p:spPr>
        <p:txBody>
          <a:bodyPr wrap="square" lIns="164592" tIns="109728" rIns="137160" bIns="9144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A · 30</a:t>
            </a:r>
            <a:endParaRPr lang="en-US" sz="1200" dirty="0"/>
          </a:p>
        </p:txBody>
      </p:sp>
      <p:sp>
        <p:nvSpPr>
          <p:cNvPr id="103" name="s103"/>
          <p:cNvSpPr/>
          <p:nvPr/>
        </p:nvSpPr>
        <p:spPr>
          <a:xfrm>
            <a:off x="9504274" y="2350008"/>
            <a:ext cx="1463040" cy="576072"/>
          </a:xfrm>
          <a:prstGeom prst="rect">
            <a:avLst/>
          </a:prstGeom>
          <a:solidFill>
            <a:srgbClr val="94A3B8">
              <a:alpha val="40000"/>
            </a:srgbClr>
          </a:solidFill>
          <a:ln>
            <a:noFill/>
          </a:ln>
        </p:spPr>
        <p:txBody>
          <a:bodyPr wrap="square" lIns="164592" tIns="109728" rIns="137160" bIns="9144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B · 18</a:t>
            </a:r>
            <a:endParaRPr lang="en-US" sz="1200" dirty="0"/>
          </a:p>
        </p:txBody>
      </p:sp>
      <p:sp>
        <p:nvSpPr>
          <p:cNvPr id="104" name="s104"/>
          <p:cNvSpPr txBox="1"/>
          <p:nvPr/>
        </p:nvSpPr>
        <p:spPr>
          <a:xfrm>
            <a:off x="9047074" y="2194560"/>
            <a:ext cx="457200" cy="54864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2800" b="1" dirty="0">
                <a:solidFill>
                  <a:srgbClr val="F87171"/>
                </a:solidFill>
                <a:latin typeface="Segoe UI"/>
                <a:ea typeface="Segoe UI"/>
                <a:cs typeface="Segoe UI"/>
              </a:rPr>
              <a:t>≠</a:t>
            </a:r>
            <a:endParaRPr lang="en-US" sz="2800" dirty="0"/>
          </a:p>
        </p:txBody>
      </p:sp>
      <p:sp>
        <p:nvSpPr>
          <p:cNvPr id="105" name="s105"/>
          <p:cNvSpPr/>
          <p:nvPr/>
        </p:nvSpPr>
        <p:spPr>
          <a:xfrm>
            <a:off x="543154" y="3291840"/>
            <a:ext cx="2071299" cy="1325880"/>
          </a:xfrm>
          <a:prstGeom prst="roundRect">
            <a:avLst>
              <a:gd name="adj" fmla="val 10000"/>
            </a:avLst>
          </a:prstGeom>
          <a:solidFill>
            <a:srgbClr val="111B2E"/>
          </a:solidFill>
          <a:ln w="12700">
            <a:solidFill>
              <a:srgbClr val="F87171">
                <a:alpha val="60000"/>
              </a:srgbClr>
            </a:solidFill>
            <a:prstDash val="solid"/>
          </a:ln>
        </p:spPr>
        <p:txBody>
          <a:bodyPr wrap="square" lIns="164592" tIns="109728" rIns="137160" bIns="91440" rtlCol="0" anchor="t">
            <a:noAutofit/>
          </a:bodyPr>
          <a:lstStyle/>
          <a:p>
            <a:endParaRPr lang="en-US"/>
          </a:p>
        </p:txBody>
      </p:sp>
      <p:sp>
        <p:nvSpPr>
          <p:cNvPr id="106" name="s106"/>
          <p:cNvSpPr/>
          <p:nvPr/>
        </p:nvSpPr>
        <p:spPr>
          <a:xfrm>
            <a:off x="1304483" y="3429000"/>
            <a:ext cx="548640" cy="54864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07" name="img107"/>
          <p:cNvPicPr>
            <a:picLocks noChangeAspect="1"/>
          </p:cNvPicPr>
          <p:nvPr/>
        </p:nvPicPr>
        <p:blipFill>
          <a:blip r:embed="rId4"/>
          <a:stretch>
            <a:fillRect/>
          </a:stretch>
        </p:blipFill>
        <p:spPr>
          <a:xfrm>
            <a:off x="1436157" y="3560674"/>
            <a:ext cx="285293" cy="285293"/>
          </a:xfrm>
          <a:prstGeom prst="rect">
            <a:avLst/>
          </a:prstGeom>
        </p:spPr>
      </p:pic>
      <p:sp>
        <p:nvSpPr>
          <p:cNvPr id="108" name="s108"/>
          <p:cNvSpPr txBox="1"/>
          <p:nvPr/>
        </p:nvSpPr>
        <p:spPr>
          <a:xfrm>
            <a:off x="634594" y="4069080"/>
            <a:ext cx="1888419" cy="45720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Different point scales</a:t>
            </a:r>
            <a:endParaRPr lang="en-US" sz="1250" dirty="0"/>
          </a:p>
        </p:txBody>
      </p:sp>
      <p:sp>
        <p:nvSpPr>
          <p:cNvPr id="109" name="s109"/>
          <p:cNvSpPr/>
          <p:nvPr/>
        </p:nvSpPr>
        <p:spPr>
          <a:xfrm>
            <a:off x="2797332" y="3291840"/>
            <a:ext cx="2071299" cy="1325880"/>
          </a:xfrm>
          <a:prstGeom prst="roundRect">
            <a:avLst>
              <a:gd name="adj" fmla="val 10000"/>
            </a:avLst>
          </a:prstGeom>
          <a:solidFill>
            <a:srgbClr val="111B2E"/>
          </a:solidFill>
          <a:ln w="12700">
            <a:solidFill>
              <a:srgbClr val="F87171">
                <a:alpha val="60000"/>
              </a:srgbClr>
            </a:solidFill>
            <a:prstDash val="solid"/>
          </a:ln>
        </p:spPr>
        <p:txBody>
          <a:bodyPr wrap="square" lIns="164592" tIns="109728" rIns="137160" bIns="91440" rtlCol="0" anchor="t">
            <a:noAutofit/>
          </a:bodyPr>
          <a:lstStyle/>
          <a:p>
            <a:endParaRPr lang="en-US"/>
          </a:p>
        </p:txBody>
      </p:sp>
      <p:sp>
        <p:nvSpPr>
          <p:cNvPr id="110" name="s110"/>
          <p:cNvSpPr/>
          <p:nvPr/>
        </p:nvSpPr>
        <p:spPr>
          <a:xfrm>
            <a:off x="3558662" y="3429000"/>
            <a:ext cx="548640" cy="54864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11" name="img111"/>
          <p:cNvPicPr>
            <a:picLocks noChangeAspect="1"/>
          </p:cNvPicPr>
          <p:nvPr/>
        </p:nvPicPr>
        <p:blipFill>
          <a:blip r:embed="rId5"/>
          <a:stretch>
            <a:fillRect/>
          </a:stretch>
        </p:blipFill>
        <p:spPr>
          <a:xfrm>
            <a:off x="3690336" y="3560674"/>
            <a:ext cx="285293" cy="285293"/>
          </a:xfrm>
          <a:prstGeom prst="rect">
            <a:avLst/>
          </a:prstGeom>
        </p:spPr>
      </p:pic>
      <p:sp>
        <p:nvSpPr>
          <p:cNvPr id="112" name="s112"/>
          <p:cNvSpPr txBox="1"/>
          <p:nvPr/>
        </p:nvSpPr>
        <p:spPr>
          <a:xfrm>
            <a:off x="2888772" y="4069080"/>
            <a:ext cx="1888419" cy="45720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Different domains</a:t>
            </a:r>
            <a:endParaRPr lang="en-US" sz="1250" dirty="0"/>
          </a:p>
        </p:txBody>
      </p:sp>
      <p:sp>
        <p:nvSpPr>
          <p:cNvPr id="113" name="s113"/>
          <p:cNvSpPr/>
          <p:nvPr/>
        </p:nvSpPr>
        <p:spPr>
          <a:xfrm>
            <a:off x="5051511" y="3291840"/>
            <a:ext cx="2071299" cy="1325880"/>
          </a:xfrm>
          <a:prstGeom prst="roundRect">
            <a:avLst>
              <a:gd name="adj" fmla="val 10000"/>
            </a:avLst>
          </a:prstGeom>
          <a:solidFill>
            <a:srgbClr val="111B2E"/>
          </a:solidFill>
          <a:ln w="12700">
            <a:solidFill>
              <a:srgbClr val="F87171">
                <a:alpha val="60000"/>
              </a:srgbClr>
            </a:solidFill>
            <a:prstDash val="solid"/>
          </a:ln>
        </p:spPr>
        <p:txBody>
          <a:bodyPr wrap="square" lIns="164592" tIns="109728" rIns="137160" bIns="91440" rtlCol="0" anchor="t">
            <a:noAutofit/>
          </a:bodyPr>
          <a:lstStyle/>
          <a:p>
            <a:endParaRPr lang="en-US"/>
          </a:p>
        </p:txBody>
      </p:sp>
      <p:sp>
        <p:nvSpPr>
          <p:cNvPr id="114" name="s114"/>
          <p:cNvSpPr/>
          <p:nvPr/>
        </p:nvSpPr>
        <p:spPr>
          <a:xfrm>
            <a:off x="5812841" y="3429000"/>
            <a:ext cx="548640" cy="54864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6"/>
          <a:stretch>
            <a:fillRect/>
          </a:stretch>
        </p:blipFill>
        <p:spPr>
          <a:xfrm>
            <a:off x="5944514" y="3560674"/>
            <a:ext cx="285293" cy="285293"/>
          </a:xfrm>
          <a:prstGeom prst="rect">
            <a:avLst/>
          </a:prstGeom>
        </p:spPr>
      </p:pic>
      <p:sp>
        <p:nvSpPr>
          <p:cNvPr id="116" name="s116"/>
          <p:cNvSpPr txBox="1"/>
          <p:nvPr/>
        </p:nvSpPr>
        <p:spPr>
          <a:xfrm>
            <a:off x="5142951" y="4069080"/>
            <a:ext cx="1888419" cy="45720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Different DoD</a:t>
            </a:r>
            <a:endParaRPr lang="en-US" sz="1250" dirty="0"/>
          </a:p>
        </p:txBody>
      </p:sp>
      <p:sp>
        <p:nvSpPr>
          <p:cNvPr id="117" name="s117"/>
          <p:cNvSpPr/>
          <p:nvPr/>
        </p:nvSpPr>
        <p:spPr>
          <a:xfrm>
            <a:off x="7305690" y="3291840"/>
            <a:ext cx="2071299" cy="1325880"/>
          </a:xfrm>
          <a:prstGeom prst="roundRect">
            <a:avLst>
              <a:gd name="adj" fmla="val 10000"/>
            </a:avLst>
          </a:prstGeom>
          <a:solidFill>
            <a:srgbClr val="111B2E"/>
          </a:solidFill>
          <a:ln w="12700">
            <a:solidFill>
              <a:srgbClr val="F87171">
                <a:alpha val="60000"/>
              </a:srgbClr>
            </a:solidFill>
            <a:prstDash val="solid"/>
          </a:ln>
        </p:spPr>
        <p:txBody>
          <a:bodyPr wrap="square" lIns="164592" tIns="109728" rIns="137160" bIns="91440" rtlCol="0" anchor="t">
            <a:noAutofit/>
          </a:bodyPr>
          <a:lstStyle/>
          <a:p>
            <a:endParaRPr lang="en-US"/>
          </a:p>
        </p:txBody>
      </p:sp>
      <p:sp>
        <p:nvSpPr>
          <p:cNvPr id="118" name="s118"/>
          <p:cNvSpPr/>
          <p:nvPr/>
        </p:nvSpPr>
        <p:spPr>
          <a:xfrm>
            <a:off x="8067020" y="3429000"/>
            <a:ext cx="548640" cy="54864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19" name="img119"/>
          <p:cNvPicPr>
            <a:picLocks noChangeAspect="1"/>
          </p:cNvPicPr>
          <p:nvPr/>
        </p:nvPicPr>
        <p:blipFill>
          <a:blip r:embed="rId7"/>
          <a:stretch>
            <a:fillRect/>
          </a:stretch>
        </p:blipFill>
        <p:spPr>
          <a:xfrm>
            <a:off x="8198693" y="3560674"/>
            <a:ext cx="285293" cy="285293"/>
          </a:xfrm>
          <a:prstGeom prst="rect">
            <a:avLst/>
          </a:prstGeom>
        </p:spPr>
      </p:pic>
      <p:sp>
        <p:nvSpPr>
          <p:cNvPr id="120" name="s120"/>
          <p:cNvSpPr txBox="1"/>
          <p:nvPr/>
        </p:nvSpPr>
        <p:spPr>
          <a:xfrm>
            <a:off x="7397130" y="4069080"/>
            <a:ext cx="1888419" cy="45720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Different capacity</a:t>
            </a:r>
            <a:endParaRPr lang="en-US" sz="1250" dirty="0"/>
          </a:p>
        </p:txBody>
      </p:sp>
      <p:sp>
        <p:nvSpPr>
          <p:cNvPr id="121" name="s121"/>
          <p:cNvSpPr/>
          <p:nvPr/>
        </p:nvSpPr>
        <p:spPr>
          <a:xfrm>
            <a:off x="9559869" y="3291840"/>
            <a:ext cx="2071299" cy="1325880"/>
          </a:xfrm>
          <a:prstGeom prst="roundRect">
            <a:avLst>
              <a:gd name="adj" fmla="val 10000"/>
            </a:avLst>
          </a:prstGeom>
          <a:solidFill>
            <a:srgbClr val="111B2E"/>
          </a:solidFill>
          <a:ln w="12700">
            <a:solidFill>
              <a:srgbClr val="F87171">
                <a:alpha val="60000"/>
              </a:srgbClr>
            </a:solidFill>
            <a:prstDash val="solid"/>
          </a:ln>
        </p:spPr>
        <p:txBody>
          <a:bodyPr wrap="square" lIns="164592" tIns="109728" rIns="137160" bIns="91440" rtlCol="0" anchor="t">
            <a:noAutofit/>
          </a:bodyPr>
          <a:lstStyle/>
          <a:p>
            <a:endParaRPr lang="en-US"/>
          </a:p>
        </p:txBody>
      </p:sp>
      <p:sp>
        <p:nvSpPr>
          <p:cNvPr id="122" name="s122"/>
          <p:cNvSpPr/>
          <p:nvPr/>
        </p:nvSpPr>
        <p:spPr>
          <a:xfrm>
            <a:off x="10321199" y="3429000"/>
            <a:ext cx="548640" cy="548640"/>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8"/>
          <a:stretch>
            <a:fillRect/>
          </a:stretch>
        </p:blipFill>
        <p:spPr>
          <a:xfrm>
            <a:off x="10452872" y="3560674"/>
            <a:ext cx="285293" cy="285293"/>
          </a:xfrm>
          <a:prstGeom prst="rect">
            <a:avLst/>
          </a:prstGeom>
        </p:spPr>
      </p:pic>
      <p:sp>
        <p:nvSpPr>
          <p:cNvPr id="124" name="s124"/>
          <p:cNvSpPr txBox="1"/>
          <p:nvPr/>
        </p:nvSpPr>
        <p:spPr>
          <a:xfrm>
            <a:off x="9651309" y="4069080"/>
            <a:ext cx="1888419" cy="45720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Points ≠ output units</a:t>
            </a:r>
            <a:endParaRPr lang="en-US" sz="1250" dirty="0"/>
          </a:p>
        </p:txBody>
      </p:sp>
      <p:sp>
        <p:nvSpPr>
          <p:cNvPr id="125" name="s125"/>
          <p:cNvSpPr/>
          <p:nvPr/>
        </p:nvSpPr>
        <p:spPr>
          <a:xfrm>
            <a:off x="543154" y="4892040"/>
            <a:ext cx="11088014" cy="685800"/>
          </a:xfrm>
          <a:prstGeom prst="roundRect">
            <a:avLst>
              <a:gd name="adj" fmla="val 12000"/>
            </a:avLst>
          </a:prstGeom>
          <a:solidFill>
            <a:srgbClr val="111B2E"/>
          </a:solidFill>
          <a:ln w="12700">
            <a:solidFill>
              <a:srgbClr val="34D399"/>
            </a:solidFill>
            <a:prstDash val="solid"/>
          </a:ln>
        </p:spPr>
        <p:txBody>
          <a:bodyPr wrap="square" lIns="228600" tIns="45720" rIns="228600" bIns="45720" rtlCol="0" anchor="ctr">
            <a:noAutofit/>
          </a:bodyPr>
          <a:lstStyle/>
          <a:p>
            <a:pPr marL="0" indent="0" algn="ctr">
              <a:spcBef>
                <a:spcPts val="0"/>
              </a:spcBef>
              <a:spcAft>
                <a:spcPts val="0"/>
              </a:spcAft>
              <a:buNone/>
            </a:pPr>
            <a:r>
              <a:rPr lang="en-US" sz="1500" b="1" dirty="0">
                <a:solidFill>
                  <a:srgbClr val="34D399"/>
                </a:solidFill>
                <a:latin typeface="Segoe UI"/>
                <a:ea typeface="Segoe UI"/>
                <a:cs typeface="Segoe UI"/>
              </a:rPr>
              <a:t>Use metrics to understand and improve the system, </a:t>
            </a:r>
            <a:r>
              <a:rPr lang="en-US" sz="1500" b="0" dirty="0">
                <a:solidFill>
                  <a:srgbClr val="E2E8F0"/>
                </a:solidFill>
                <a:latin typeface="Segoe UI"/>
                <a:ea typeface="Segoe UI"/>
                <a:cs typeface="Segoe UI"/>
              </a:rPr>
              <a:t>not to judge people.</a:t>
            </a:r>
            <a:endParaRPr lang="en-US" sz="15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22" presetClass="entr" presetSubtype="4" fill="hold" grpId="0" nodeType="withEffect">
                                  <p:stCondLst>
                                    <p:cond delay="150"/>
                                  </p:stCondLst>
                                  <p:childTnLst>
                                    <p:set>
                                      <p:cBhvr>
                                        <p:cTn id="10" dur="1" fill="hold">
                                          <p:stCondLst>
                                            <p:cond delay="0"/>
                                          </p:stCondLst>
                                        </p:cTn>
                                        <p:tgtEl>
                                          <p:spTgt spid="102"/>
                                        </p:tgtEl>
                                        <p:attrNameLst>
                                          <p:attrName>style.visibility</p:attrName>
                                        </p:attrNameLst>
                                      </p:cBhvr>
                                      <p:to>
                                        <p:strVal val="visible"/>
                                      </p:to>
                                    </p:set>
                                    <p:animEffect transition="in" filter="wipe(down)">
                                      <p:cBhvr>
                                        <p:cTn id="11" dur="500"/>
                                        <p:tgtEl>
                                          <p:spTgt spid="102"/>
                                        </p:tgtEl>
                                      </p:cBhvr>
                                    </p:animEffect>
                                  </p:childTnLst>
                                </p:cTn>
                              </p:par>
                              <p:par>
                                <p:cTn id="12" presetID="22" presetClass="entr" presetSubtype="4" fill="hold" grpId="0" nodeType="withEffect">
                                  <p:stCondLst>
                                    <p:cond delay="350"/>
                                  </p:stCondLst>
                                  <p:childTnLst>
                                    <p:set>
                                      <p:cBhvr>
                                        <p:cTn id="13" dur="1" fill="hold">
                                          <p:stCondLst>
                                            <p:cond delay="0"/>
                                          </p:stCondLst>
                                        </p:cTn>
                                        <p:tgtEl>
                                          <p:spTgt spid="103"/>
                                        </p:tgtEl>
                                        <p:attrNameLst>
                                          <p:attrName>style.visibility</p:attrName>
                                        </p:attrNameLst>
                                      </p:cBhvr>
                                      <p:to>
                                        <p:strVal val="visible"/>
                                      </p:to>
                                    </p:set>
                                    <p:animEffect transition="in" filter="wipe(down)">
                                      <p:cBhvr>
                                        <p:cTn id="14" dur="500"/>
                                        <p:tgtEl>
                                          <p:spTgt spid="103"/>
                                        </p:tgtEl>
                                      </p:cBhvr>
                                    </p:animEffect>
                                  </p:childTnLst>
                                </p:cTn>
                              </p:par>
                              <p:par>
                                <p:cTn id="15" presetID="53" presetClass="entr" presetSubtype="16" fill="hold" grpId="0" nodeType="withEffect">
                                  <p:stCondLst>
                                    <p:cond delay="550"/>
                                  </p:stCondLst>
                                  <p:childTnLst>
                                    <p:set>
                                      <p:cBhvr>
                                        <p:cTn id="16" dur="1" fill="hold">
                                          <p:stCondLst>
                                            <p:cond delay="0"/>
                                          </p:stCondLst>
                                        </p:cTn>
                                        <p:tgtEl>
                                          <p:spTgt spid="104"/>
                                        </p:tgtEl>
                                        <p:attrNameLst>
                                          <p:attrName>style.visibility</p:attrName>
                                        </p:attrNameLst>
                                      </p:cBhvr>
                                      <p:to>
                                        <p:strVal val="visible"/>
                                      </p:to>
                                    </p:set>
                                    <p:anim calcmode="lin" valueType="num">
                                      <p:cBhvr additive="base">
                                        <p:cTn id="17" dur="500" decel="100000" fill="hold"/>
                                        <p:tgtEl>
                                          <p:spTgt spid="104"/>
                                        </p:tgtEl>
                                        <p:attrNameLst>
                                          <p:attrName>ppt_w</p:attrName>
                                        </p:attrNameLst>
                                      </p:cBhvr>
                                      <p:tavLst>
                                        <p:tav tm="0">
                                          <p:val>
                                            <p:strVal val="#ppt_w*0.3"/>
                                          </p:val>
                                        </p:tav>
                                        <p:tav tm="100000">
                                          <p:val>
                                            <p:strVal val="#ppt_w*1.08"/>
                                          </p:val>
                                        </p:tav>
                                      </p:tavLst>
                                    </p:anim>
                                    <p:anim calcmode="lin" valueType="num">
                                      <p:cBhvr additive="base">
                                        <p:cTn id="18" dur="500" decel="100000" fill="hold"/>
                                        <p:tgtEl>
                                          <p:spTgt spid="104"/>
                                        </p:tgtEl>
                                        <p:attrNameLst>
                                          <p:attrName>ppt_h</p:attrName>
                                        </p:attrNameLst>
                                      </p:cBhvr>
                                      <p:tavLst>
                                        <p:tav tm="0">
                                          <p:val>
                                            <p:strVal val="#ppt_h*0.3"/>
                                          </p:val>
                                        </p:tav>
                                        <p:tav tm="100000">
                                          <p:val>
                                            <p:strVal val="#ppt_h*1.08"/>
                                          </p:val>
                                        </p:tav>
                                      </p:tavLst>
                                    </p:anim>
                                    <p:animEffect transition="in" filter="fade">
                                      <p:cBhvr>
                                        <p:cTn id="19" dur="250"/>
                                        <p:tgtEl>
                                          <p:spTgt spid="104"/>
                                        </p:tgtEl>
                                      </p:cBhvr>
                                    </p:animEffect>
                                    <p:anim calcmode="lin" valueType="num">
                                      <p:cBhvr additive="base">
                                        <p:cTn id="20" dur="160" fill="hold">
                                          <p:stCondLst>
                                            <p:cond delay="500"/>
                                          </p:stCondLst>
                                        </p:cTn>
                                        <p:tgtEl>
                                          <p:spTgt spid="104"/>
                                        </p:tgtEl>
                                        <p:attrNameLst>
                                          <p:attrName>ppt_w</p:attrName>
                                        </p:attrNameLst>
                                      </p:cBhvr>
                                      <p:tavLst>
                                        <p:tav tm="0">
                                          <p:val>
                                            <p:strVal val="#ppt_w*1.08"/>
                                          </p:val>
                                        </p:tav>
                                        <p:tav tm="100000">
                                          <p:val>
                                            <p:strVal val="#ppt_w"/>
                                          </p:val>
                                        </p:tav>
                                      </p:tavLst>
                                    </p:anim>
                                    <p:anim calcmode="lin" valueType="num">
                                      <p:cBhvr additive="base">
                                        <p:cTn id="21" dur="160" fill="hold">
                                          <p:stCondLst>
                                            <p:cond delay="500"/>
                                          </p:stCondLst>
                                        </p:cTn>
                                        <p:tgtEl>
                                          <p:spTgt spid="104"/>
                                        </p:tgtEl>
                                        <p:attrNameLst>
                                          <p:attrName>ppt_h</p:attrName>
                                        </p:attrNameLst>
                                      </p:cBhvr>
                                      <p:tavLst>
                                        <p:tav tm="0">
                                          <p:val>
                                            <p:strVal val="#ppt_h*1.08"/>
                                          </p:val>
                                        </p:tav>
                                        <p:tav tm="100000">
                                          <p:val>
                                            <p:strVal val="#ppt_h"/>
                                          </p:val>
                                        </p:tav>
                                      </p:tavLst>
                                    </p:anim>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105"/>
                                        </p:tgtEl>
                                        <p:attrNameLst>
                                          <p:attrName>style.visibility</p:attrName>
                                        </p:attrNameLst>
                                      </p:cBhvr>
                                      <p:to>
                                        <p:strVal val="visible"/>
                                      </p:to>
                                    </p:set>
                                    <p:anim calcmode="lin" valueType="num">
                                      <p:cBhvr additive="base">
                                        <p:cTn id="26" dur="5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27" dur="500" decel="100000" fill="hold"/>
                                        <p:tgtEl>
                                          <p:spTgt spid="105"/>
                                        </p:tgtEl>
                                        <p:attrNameLst>
                                          <p:attrName>ppt_h</p:attrName>
                                        </p:attrNameLst>
                                      </p:cBhvr>
                                      <p:tavLst>
                                        <p:tav tm="0">
                                          <p:val>
                                            <p:strVal val="#ppt_h*0.55"/>
                                          </p:val>
                                        </p:tav>
                                        <p:tav tm="100000">
                                          <p:val>
                                            <p:strVal val="#ppt_h"/>
                                          </p:val>
                                        </p:tav>
                                      </p:tavLst>
                                    </p:anim>
                                    <p:animEffect transition="in" filter="fade">
                                      <p:cBhvr>
                                        <p:cTn id="28" dur="500"/>
                                        <p:tgtEl>
                                          <p:spTgt spid="105"/>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106"/>
                                        </p:tgtEl>
                                        <p:attrNameLst>
                                          <p:attrName>style.visibility</p:attrName>
                                        </p:attrNameLst>
                                      </p:cBhvr>
                                      <p:to>
                                        <p:strVal val="visible"/>
                                      </p:to>
                                    </p:set>
                                    <p:anim calcmode="lin" valueType="num">
                                      <p:cBhvr additive="base">
                                        <p:cTn id="31"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32" dur="500" decel="100000" fill="hold"/>
                                        <p:tgtEl>
                                          <p:spTgt spid="106"/>
                                        </p:tgtEl>
                                        <p:attrNameLst>
                                          <p:attrName>ppt_h</p:attrName>
                                        </p:attrNameLst>
                                      </p:cBhvr>
                                      <p:tavLst>
                                        <p:tav tm="0">
                                          <p:val>
                                            <p:strVal val="#ppt_h*0.55"/>
                                          </p:val>
                                        </p:tav>
                                        <p:tav tm="100000">
                                          <p:val>
                                            <p:strVal val="#ppt_h"/>
                                          </p:val>
                                        </p:tav>
                                      </p:tavLst>
                                    </p:anim>
                                    <p:animEffect transition="in" filter="fade">
                                      <p:cBhvr>
                                        <p:cTn id="33" dur="500"/>
                                        <p:tgtEl>
                                          <p:spTgt spid="106"/>
                                        </p:tgtEl>
                                      </p:cBhvr>
                                    </p:animEffect>
                                  </p:childTnLst>
                                </p:cTn>
                              </p:par>
                              <p:par>
                                <p:cTn id="34" presetID="53" presetClass="entr" presetSubtype="16" fill="hold" nodeType="withEffect">
                                  <p:stCondLst>
                                    <p:cond delay="0"/>
                                  </p:stCondLst>
                                  <p:childTnLst>
                                    <p:set>
                                      <p:cBhvr>
                                        <p:cTn id="35" dur="1" fill="hold">
                                          <p:stCondLst>
                                            <p:cond delay="0"/>
                                          </p:stCondLst>
                                        </p:cTn>
                                        <p:tgtEl>
                                          <p:spTgt spid="107"/>
                                        </p:tgtEl>
                                        <p:attrNameLst>
                                          <p:attrName>style.visibility</p:attrName>
                                        </p:attrNameLst>
                                      </p:cBhvr>
                                      <p:to>
                                        <p:strVal val="visible"/>
                                      </p:to>
                                    </p:set>
                                    <p:anim calcmode="lin" valueType="num">
                                      <p:cBhvr additive="base">
                                        <p:cTn id="36"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7" dur="500" decel="100000" fill="hold"/>
                                        <p:tgtEl>
                                          <p:spTgt spid="107"/>
                                        </p:tgtEl>
                                        <p:attrNameLst>
                                          <p:attrName>ppt_h</p:attrName>
                                        </p:attrNameLst>
                                      </p:cBhvr>
                                      <p:tavLst>
                                        <p:tav tm="0">
                                          <p:val>
                                            <p:strVal val="#ppt_h*0.55"/>
                                          </p:val>
                                        </p:tav>
                                        <p:tav tm="100000">
                                          <p:val>
                                            <p:strVal val="#ppt_h"/>
                                          </p:val>
                                        </p:tav>
                                      </p:tavLst>
                                    </p:anim>
                                    <p:animEffect transition="in" filter="fade">
                                      <p:cBhvr>
                                        <p:cTn id="38" dur="500"/>
                                        <p:tgtEl>
                                          <p:spTgt spid="107"/>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108"/>
                                        </p:tgtEl>
                                        <p:attrNameLst>
                                          <p:attrName>style.visibility</p:attrName>
                                        </p:attrNameLst>
                                      </p:cBhvr>
                                      <p:to>
                                        <p:strVal val="visible"/>
                                      </p:to>
                                    </p:set>
                                    <p:anim calcmode="lin" valueType="num">
                                      <p:cBhvr additive="base">
                                        <p:cTn id="41"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2" dur="500" decel="100000" fill="hold"/>
                                        <p:tgtEl>
                                          <p:spTgt spid="108"/>
                                        </p:tgtEl>
                                        <p:attrNameLst>
                                          <p:attrName>ppt_h</p:attrName>
                                        </p:attrNameLst>
                                      </p:cBhvr>
                                      <p:tavLst>
                                        <p:tav tm="0">
                                          <p:val>
                                            <p:strVal val="#ppt_h*0.55"/>
                                          </p:val>
                                        </p:tav>
                                        <p:tav tm="100000">
                                          <p:val>
                                            <p:strVal val="#ppt_h"/>
                                          </p:val>
                                        </p:tav>
                                      </p:tavLst>
                                    </p:anim>
                                    <p:animEffect transition="in" filter="fade">
                                      <p:cBhvr>
                                        <p:cTn id="43" dur="500"/>
                                        <p:tgtEl>
                                          <p:spTgt spid="108"/>
                                        </p:tgtEl>
                                      </p:cBhvr>
                                    </p:animEffect>
                                  </p:childTnLst>
                                </p:cTn>
                              </p:par>
                              <p:par>
                                <p:cTn id="44" presetID="53" presetClass="entr" presetSubtype="16" fill="hold" grpId="0" nodeType="withEffect">
                                  <p:stCondLst>
                                    <p:cond delay="130"/>
                                  </p:stCondLst>
                                  <p:childTnLst>
                                    <p:set>
                                      <p:cBhvr>
                                        <p:cTn id="45" dur="1" fill="hold">
                                          <p:stCondLst>
                                            <p:cond delay="0"/>
                                          </p:stCondLst>
                                        </p:cTn>
                                        <p:tgtEl>
                                          <p:spTgt spid="109"/>
                                        </p:tgtEl>
                                        <p:attrNameLst>
                                          <p:attrName>style.visibility</p:attrName>
                                        </p:attrNameLst>
                                      </p:cBhvr>
                                      <p:to>
                                        <p:strVal val="visible"/>
                                      </p:to>
                                    </p:set>
                                    <p:anim calcmode="lin" valueType="num">
                                      <p:cBhvr additive="base">
                                        <p:cTn id="46"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47" dur="500" decel="100000" fill="hold"/>
                                        <p:tgtEl>
                                          <p:spTgt spid="109"/>
                                        </p:tgtEl>
                                        <p:attrNameLst>
                                          <p:attrName>ppt_h</p:attrName>
                                        </p:attrNameLst>
                                      </p:cBhvr>
                                      <p:tavLst>
                                        <p:tav tm="0">
                                          <p:val>
                                            <p:strVal val="#ppt_h*0.55"/>
                                          </p:val>
                                        </p:tav>
                                        <p:tav tm="100000">
                                          <p:val>
                                            <p:strVal val="#ppt_h"/>
                                          </p:val>
                                        </p:tav>
                                      </p:tavLst>
                                    </p:anim>
                                    <p:animEffect transition="in" filter="fade">
                                      <p:cBhvr>
                                        <p:cTn id="48" dur="500"/>
                                        <p:tgtEl>
                                          <p:spTgt spid="109"/>
                                        </p:tgtEl>
                                      </p:cBhvr>
                                    </p:animEffect>
                                  </p:childTnLst>
                                </p:cTn>
                              </p:par>
                              <p:par>
                                <p:cTn id="49" presetID="53" presetClass="entr" presetSubtype="16" fill="hold" grpId="0" nodeType="withEffect">
                                  <p:stCondLst>
                                    <p:cond delay="130"/>
                                  </p:stCondLst>
                                  <p:childTnLst>
                                    <p:set>
                                      <p:cBhvr>
                                        <p:cTn id="50" dur="1" fill="hold">
                                          <p:stCondLst>
                                            <p:cond delay="0"/>
                                          </p:stCondLst>
                                        </p:cTn>
                                        <p:tgtEl>
                                          <p:spTgt spid="110"/>
                                        </p:tgtEl>
                                        <p:attrNameLst>
                                          <p:attrName>style.visibility</p:attrName>
                                        </p:attrNameLst>
                                      </p:cBhvr>
                                      <p:to>
                                        <p:strVal val="visible"/>
                                      </p:to>
                                    </p:set>
                                    <p:anim calcmode="lin" valueType="num">
                                      <p:cBhvr additive="base">
                                        <p:cTn id="51" dur="500" decel="100000" fill="hold"/>
                                        <p:tgtEl>
                                          <p:spTgt spid="110"/>
                                        </p:tgtEl>
                                        <p:attrNameLst>
                                          <p:attrName>ppt_w</p:attrName>
                                        </p:attrNameLst>
                                      </p:cBhvr>
                                      <p:tavLst>
                                        <p:tav tm="0">
                                          <p:val>
                                            <p:strVal val="#ppt_w*0.55"/>
                                          </p:val>
                                        </p:tav>
                                        <p:tav tm="100000">
                                          <p:val>
                                            <p:strVal val="#ppt_w"/>
                                          </p:val>
                                        </p:tav>
                                      </p:tavLst>
                                    </p:anim>
                                    <p:anim calcmode="lin" valueType="num">
                                      <p:cBhvr additive="base">
                                        <p:cTn id="52" dur="500" decel="100000" fill="hold"/>
                                        <p:tgtEl>
                                          <p:spTgt spid="110"/>
                                        </p:tgtEl>
                                        <p:attrNameLst>
                                          <p:attrName>ppt_h</p:attrName>
                                        </p:attrNameLst>
                                      </p:cBhvr>
                                      <p:tavLst>
                                        <p:tav tm="0">
                                          <p:val>
                                            <p:strVal val="#ppt_h*0.55"/>
                                          </p:val>
                                        </p:tav>
                                        <p:tav tm="100000">
                                          <p:val>
                                            <p:strVal val="#ppt_h"/>
                                          </p:val>
                                        </p:tav>
                                      </p:tavLst>
                                    </p:anim>
                                    <p:animEffect transition="in" filter="fade">
                                      <p:cBhvr>
                                        <p:cTn id="53" dur="500"/>
                                        <p:tgtEl>
                                          <p:spTgt spid="110"/>
                                        </p:tgtEl>
                                      </p:cBhvr>
                                    </p:animEffect>
                                  </p:childTnLst>
                                </p:cTn>
                              </p:par>
                              <p:par>
                                <p:cTn id="54" presetID="53" presetClass="entr" presetSubtype="16" fill="hold" nodeType="withEffect">
                                  <p:stCondLst>
                                    <p:cond delay="130"/>
                                  </p:stCondLst>
                                  <p:childTnLst>
                                    <p:set>
                                      <p:cBhvr>
                                        <p:cTn id="55" dur="1" fill="hold">
                                          <p:stCondLst>
                                            <p:cond delay="0"/>
                                          </p:stCondLst>
                                        </p:cTn>
                                        <p:tgtEl>
                                          <p:spTgt spid="111"/>
                                        </p:tgtEl>
                                        <p:attrNameLst>
                                          <p:attrName>style.visibility</p:attrName>
                                        </p:attrNameLst>
                                      </p:cBhvr>
                                      <p:to>
                                        <p:strVal val="visible"/>
                                      </p:to>
                                    </p:set>
                                    <p:anim calcmode="lin" valueType="num">
                                      <p:cBhvr additive="base">
                                        <p:cTn id="56" dur="500" decel="100000" fill="hold"/>
                                        <p:tgtEl>
                                          <p:spTgt spid="111"/>
                                        </p:tgtEl>
                                        <p:attrNameLst>
                                          <p:attrName>ppt_w</p:attrName>
                                        </p:attrNameLst>
                                      </p:cBhvr>
                                      <p:tavLst>
                                        <p:tav tm="0">
                                          <p:val>
                                            <p:strVal val="#ppt_w*0.55"/>
                                          </p:val>
                                        </p:tav>
                                        <p:tav tm="100000">
                                          <p:val>
                                            <p:strVal val="#ppt_w"/>
                                          </p:val>
                                        </p:tav>
                                      </p:tavLst>
                                    </p:anim>
                                    <p:anim calcmode="lin" valueType="num">
                                      <p:cBhvr additive="base">
                                        <p:cTn id="57" dur="500" decel="100000" fill="hold"/>
                                        <p:tgtEl>
                                          <p:spTgt spid="111"/>
                                        </p:tgtEl>
                                        <p:attrNameLst>
                                          <p:attrName>ppt_h</p:attrName>
                                        </p:attrNameLst>
                                      </p:cBhvr>
                                      <p:tavLst>
                                        <p:tav tm="0">
                                          <p:val>
                                            <p:strVal val="#ppt_h*0.55"/>
                                          </p:val>
                                        </p:tav>
                                        <p:tav tm="100000">
                                          <p:val>
                                            <p:strVal val="#ppt_h"/>
                                          </p:val>
                                        </p:tav>
                                      </p:tavLst>
                                    </p:anim>
                                    <p:animEffect transition="in" filter="fade">
                                      <p:cBhvr>
                                        <p:cTn id="58" dur="500"/>
                                        <p:tgtEl>
                                          <p:spTgt spid="111"/>
                                        </p:tgtEl>
                                      </p:cBhvr>
                                    </p:animEffect>
                                  </p:childTnLst>
                                </p:cTn>
                              </p:par>
                              <p:par>
                                <p:cTn id="59" presetID="53" presetClass="entr" presetSubtype="16" fill="hold" grpId="0" nodeType="withEffect">
                                  <p:stCondLst>
                                    <p:cond delay="130"/>
                                  </p:stCondLst>
                                  <p:childTnLst>
                                    <p:set>
                                      <p:cBhvr>
                                        <p:cTn id="60" dur="1" fill="hold">
                                          <p:stCondLst>
                                            <p:cond delay="0"/>
                                          </p:stCondLst>
                                        </p:cTn>
                                        <p:tgtEl>
                                          <p:spTgt spid="112"/>
                                        </p:tgtEl>
                                        <p:attrNameLst>
                                          <p:attrName>style.visibility</p:attrName>
                                        </p:attrNameLst>
                                      </p:cBhvr>
                                      <p:to>
                                        <p:strVal val="visible"/>
                                      </p:to>
                                    </p:set>
                                    <p:anim calcmode="lin" valueType="num">
                                      <p:cBhvr additive="base">
                                        <p:cTn id="61" dur="500" decel="100000" fill="hold"/>
                                        <p:tgtEl>
                                          <p:spTgt spid="112"/>
                                        </p:tgtEl>
                                        <p:attrNameLst>
                                          <p:attrName>ppt_w</p:attrName>
                                        </p:attrNameLst>
                                      </p:cBhvr>
                                      <p:tavLst>
                                        <p:tav tm="0">
                                          <p:val>
                                            <p:strVal val="#ppt_w*0.55"/>
                                          </p:val>
                                        </p:tav>
                                        <p:tav tm="100000">
                                          <p:val>
                                            <p:strVal val="#ppt_w"/>
                                          </p:val>
                                        </p:tav>
                                      </p:tavLst>
                                    </p:anim>
                                    <p:anim calcmode="lin" valueType="num">
                                      <p:cBhvr additive="base">
                                        <p:cTn id="62" dur="500" decel="100000" fill="hold"/>
                                        <p:tgtEl>
                                          <p:spTgt spid="112"/>
                                        </p:tgtEl>
                                        <p:attrNameLst>
                                          <p:attrName>ppt_h</p:attrName>
                                        </p:attrNameLst>
                                      </p:cBhvr>
                                      <p:tavLst>
                                        <p:tav tm="0">
                                          <p:val>
                                            <p:strVal val="#ppt_h*0.55"/>
                                          </p:val>
                                        </p:tav>
                                        <p:tav tm="100000">
                                          <p:val>
                                            <p:strVal val="#ppt_h"/>
                                          </p:val>
                                        </p:tav>
                                      </p:tavLst>
                                    </p:anim>
                                    <p:animEffect transition="in" filter="fade">
                                      <p:cBhvr>
                                        <p:cTn id="63" dur="500"/>
                                        <p:tgtEl>
                                          <p:spTgt spid="112"/>
                                        </p:tgtEl>
                                      </p:cBhvr>
                                    </p:animEffect>
                                  </p:childTnLst>
                                </p:cTn>
                              </p:par>
                              <p:par>
                                <p:cTn id="64" presetID="53" presetClass="entr" presetSubtype="16" fill="hold" grpId="0" nodeType="withEffect">
                                  <p:stCondLst>
                                    <p:cond delay="260"/>
                                  </p:stCondLst>
                                  <p:childTnLst>
                                    <p:set>
                                      <p:cBhvr>
                                        <p:cTn id="65" dur="1" fill="hold">
                                          <p:stCondLst>
                                            <p:cond delay="0"/>
                                          </p:stCondLst>
                                        </p:cTn>
                                        <p:tgtEl>
                                          <p:spTgt spid="113"/>
                                        </p:tgtEl>
                                        <p:attrNameLst>
                                          <p:attrName>style.visibility</p:attrName>
                                        </p:attrNameLst>
                                      </p:cBhvr>
                                      <p:to>
                                        <p:strVal val="visible"/>
                                      </p:to>
                                    </p:set>
                                    <p:anim calcmode="lin" valueType="num">
                                      <p:cBhvr additive="base">
                                        <p:cTn id="66" dur="500" decel="100000" fill="hold"/>
                                        <p:tgtEl>
                                          <p:spTgt spid="113"/>
                                        </p:tgtEl>
                                        <p:attrNameLst>
                                          <p:attrName>ppt_w</p:attrName>
                                        </p:attrNameLst>
                                      </p:cBhvr>
                                      <p:tavLst>
                                        <p:tav tm="0">
                                          <p:val>
                                            <p:strVal val="#ppt_w*0.55"/>
                                          </p:val>
                                        </p:tav>
                                        <p:tav tm="100000">
                                          <p:val>
                                            <p:strVal val="#ppt_w"/>
                                          </p:val>
                                        </p:tav>
                                      </p:tavLst>
                                    </p:anim>
                                    <p:anim calcmode="lin" valueType="num">
                                      <p:cBhvr additive="base">
                                        <p:cTn id="67" dur="500" decel="100000" fill="hold"/>
                                        <p:tgtEl>
                                          <p:spTgt spid="113"/>
                                        </p:tgtEl>
                                        <p:attrNameLst>
                                          <p:attrName>ppt_h</p:attrName>
                                        </p:attrNameLst>
                                      </p:cBhvr>
                                      <p:tavLst>
                                        <p:tav tm="0">
                                          <p:val>
                                            <p:strVal val="#ppt_h*0.55"/>
                                          </p:val>
                                        </p:tav>
                                        <p:tav tm="100000">
                                          <p:val>
                                            <p:strVal val="#ppt_h"/>
                                          </p:val>
                                        </p:tav>
                                      </p:tavLst>
                                    </p:anim>
                                    <p:animEffect transition="in" filter="fade">
                                      <p:cBhvr>
                                        <p:cTn id="68" dur="500"/>
                                        <p:tgtEl>
                                          <p:spTgt spid="113"/>
                                        </p:tgtEl>
                                      </p:cBhvr>
                                    </p:animEffect>
                                  </p:childTnLst>
                                </p:cTn>
                              </p:par>
                              <p:par>
                                <p:cTn id="69" presetID="53" presetClass="entr" presetSubtype="16" fill="hold" grpId="0" nodeType="withEffect">
                                  <p:stCondLst>
                                    <p:cond delay="260"/>
                                  </p:stCondLst>
                                  <p:childTnLst>
                                    <p:set>
                                      <p:cBhvr>
                                        <p:cTn id="70" dur="1" fill="hold">
                                          <p:stCondLst>
                                            <p:cond delay="0"/>
                                          </p:stCondLst>
                                        </p:cTn>
                                        <p:tgtEl>
                                          <p:spTgt spid="114"/>
                                        </p:tgtEl>
                                        <p:attrNameLst>
                                          <p:attrName>style.visibility</p:attrName>
                                        </p:attrNameLst>
                                      </p:cBhvr>
                                      <p:to>
                                        <p:strVal val="visible"/>
                                      </p:to>
                                    </p:set>
                                    <p:anim calcmode="lin" valueType="num">
                                      <p:cBhvr additive="base">
                                        <p:cTn id="71" dur="500" decel="100000" fill="hold"/>
                                        <p:tgtEl>
                                          <p:spTgt spid="114"/>
                                        </p:tgtEl>
                                        <p:attrNameLst>
                                          <p:attrName>ppt_w</p:attrName>
                                        </p:attrNameLst>
                                      </p:cBhvr>
                                      <p:tavLst>
                                        <p:tav tm="0">
                                          <p:val>
                                            <p:strVal val="#ppt_w*0.55"/>
                                          </p:val>
                                        </p:tav>
                                        <p:tav tm="100000">
                                          <p:val>
                                            <p:strVal val="#ppt_w"/>
                                          </p:val>
                                        </p:tav>
                                      </p:tavLst>
                                    </p:anim>
                                    <p:anim calcmode="lin" valueType="num">
                                      <p:cBhvr additive="base">
                                        <p:cTn id="72" dur="500" decel="100000" fill="hold"/>
                                        <p:tgtEl>
                                          <p:spTgt spid="114"/>
                                        </p:tgtEl>
                                        <p:attrNameLst>
                                          <p:attrName>ppt_h</p:attrName>
                                        </p:attrNameLst>
                                      </p:cBhvr>
                                      <p:tavLst>
                                        <p:tav tm="0">
                                          <p:val>
                                            <p:strVal val="#ppt_h*0.55"/>
                                          </p:val>
                                        </p:tav>
                                        <p:tav tm="100000">
                                          <p:val>
                                            <p:strVal val="#ppt_h"/>
                                          </p:val>
                                        </p:tav>
                                      </p:tavLst>
                                    </p:anim>
                                    <p:animEffect transition="in" filter="fade">
                                      <p:cBhvr>
                                        <p:cTn id="73" dur="500"/>
                                        <p:tgtEl>
                                          <p:spTgt spid="114"/>
                                        </p:tgtEl>
                                      </p:cBhvr>
                                    </p:animEffect>
                                  </p:childTnLst>
                                </p:cTn>
                              </p:par>
                              <p:par>
                                <p:cTn id="74" presetID="53" presetClass="entr" presetSubtype="16" fill="hold" nodeType="withEffect">
                                  <p:stCondLst>
                                    <p:cond delay="260"/>
                                  </p:stCondLst>
                                  <p:childTnLst>
                                    <p:set>
                                      <p:cBhvr>
                                        <p:cTn id="75" dur="1" fill="hold">
                                          <p:stCondLst>
                                            <p:cond delay="0"/>
                                          </p:stCondLst>
                                        </p:cTn>
                                        <p:tgtEl>
                                          <p:spTgt spid="115"/>
                                        </p:tgtEl>
                                        <p:attrNameLst>
                                          <p:attrName>style.visibility</p:attrName>
                                        </p:attrNameLst>
                                      </p:cBhvr>
                                      <p:to>
                                        <p:strVal val="visible"/>
                                      </p:to>
                                    </p:set>
                                    <p:anim calcmode="lin" valueType="num">
                                      <p:cBhvr additive="base">
                                        <p:cTn id="76" dur="500" decel="100000" fill="hold"/>
                                        <p:tgtEl>
                                          <p:spTgt spid="115"/>
                                        </p:tgtEl>
                                        <p:attrNameLst>
                                          <p:attrName>ppt_w</p:attrName>
                                        </p:attrNameLst>
                                      </p:cBhvr>
                                      <p:tavLst>
                                        <p:tav tm="0">
                                          <p:val>
                                            <p:strVal val="#ppt_w*0.55"/>
                                          </p:val>
                                        </p:tav>
                                        <p:tav tm="100000">
                                          <p:val>
                                            <p:strVal val="#ppt_w"/>
                                          </p:val>
                                        </p:tav>
                                      </p:tavLst>
                                    </p:anim>
                                    <p:anim calcmode="lin" valueType="num">
                                      <p:cBhvr additive="base">
                                        <p:cTn id="77" dur="500" decel="100000" fill="hold"/>
                                        <p:tgtEl>
                                          <p:spTgt spid="115"/>
                                        </p:tgtEl>
                                        <p:attrNameLst>
                                          <p:attrName>ppt_h</p:attrName>
                                        </p:attrNameLst>
                                      </p:cBhvr>
                                      <p:tavLst>
                                        <p:tav tm="0">
                                          <p:val>
                                            <p:strVal val="#ppt_h*0.55"/>
                                          </p:val>
                                        </p:tav>
                                        <p:tav tm="100000">
                                          <p:val>
                                            <p:strVal val="#ppt_h"/>
                                          </p:val>
                                        </p:tav>
                                      </p:tavLst>
                                    </p:anim>
                                    <p:animEffect transition="in" filter="fade">
                                      <p:cBhvr>
                                        <p:cTn id="78" dur="500"/>
                                        <p:tgtEl>
                                          <p:spTgt spid="115"/>
                                        </p:tgtEl>
                                      </p:cBhvr>
                                    </p:animEffect>
                                  </p:childTnLst>
                                </p:cTn>
                              </p:par>
                              <p:par>
                                <p:cTn id="79" presetID="53" presetClass="entr" presetSubtype="16" fill="hold" grpId="0" nodeType="withEffect">
                                  <p:stCondLst>
                                    <p:cond delay="260"/>
                                  </p:stCondLst>
                                  <p:childTnLst>
                                    <p:set>
                                      <p:cBhvr>
                                        <p:cTn id="80" dur="1" fill="hold">
                                          <p:stCondLst>
                                            <p:cond delay="0"/>
                                          </p:stCondLst>
                                        </p:cTn>
                                        <p:tgtEl>
                                          <p:spTgt spid="116"/>
                                        </p:tgtEl>
                                        <p:attrNameLst>
                                          <p:attrName>style.visibility</p:attrName>
                                        </p:attrNameLst>
                                      </p:cBhvr>
                                      <p:to>
                                        <p:strVal val="visible"/>
                                      </p:to>
                                    </p:set>
                                    <p:anim calcmode="lin" valueType="num">
                                      <p:cBhvr additive="base">
                                        <p:cTn id="81" dur="500" decel="100000" fill="hold"/>
                                        <p:tgtEl>
                                          <p:spTgt spid="116"/>
                                        </p:tgtEl>
                                        <p:attrNameLst>
                                          <p:attrName>ppt_w</p:attrName>
                                        </p:attrNameLst>
                                      </p:cBhvr>
                                      <p:tavLst>
                                        <p:tav tm="0">
                                          <p:val>
                                            <p:strVal val="#ppt_w*0.55"/>
                                          </p:val>
                                        </p:tav>
                                        <p:tav tm="100000">
                                          <p:val>
                                            <p:strVal val="#ppt_w"/>
                                          </p:val>
                                        </p:tav>
                                      </p:tavLst>
                                    </p:anim>
                                    <p:anim calcmode="lin" valueType="num">
                                      <p:cBhvr additive="base">
                                        <p:cTn id="82" dur="500" decel="100000" fill="hold"/>
                                        <p:tgtEl>
                                          <p:spTgt spid="116"/>
                                        </p:tgtEl>
                                        <p:attrNameLst>
                                          <p:attrName>ppt_h</p:attrName>
                                        </p:attrNameLst>
                                      </p:cBhvr>
                                      <p:tavLst>
                                        <p:tav tm="0">
                                          <p:val>
                                            <p:strVal val="#ppt_h*0.55"/>
                                          </p:val>
                                        </p:tav>
                                        <p:tav tm="100000">
                                          <p:val>
                                            <p:strVal val="#ppt_h"/>
                                          </p:val>
                                        </p:tav>
                                      </p:tavLst>
                                    </p:anim>
                                    <p:animEffect transition="in" filter="fade">
                                      <p:cBhvr>
                                        <p:cTn id="83" dur="500"/>
                                        <p:tgtEl>
                                          <p:spTgt spid="116"/>
                                        </p:tgtEl>
                                      </p:cBhvr>
                                    </p:animEffect>
                                  </p:childTnLst>
                                </p:cTn>
                              </p:par>
                              <p:par>
                                <p:cTn id="84" presetID="53" presetClass="entr" presetSubtype="16" fill="hold" grpId="0" nodeType="withEffect">
                                  <p:stCondLst>
                                    <p:cond delay="390"/>
                                  </p:stCondLst>
                                  <p:childTnLst>
                                    <p:set>
                                      <p:cBhvr>
                                        <p:cTn id="85" dur="1" fill="hold">
                                          <p:stCondLst>
                                            <p:cond delay="0"/>
                                          </p:stCondLst>
                                        </p:cTn>
                                        <p:tgtEl>
                                          <p:spTgt spid="117"/>
                                        </p:tgtEl>
                                        <p:attrNameLst>
                                          <p:attrName>style.visibility</p:attrName>
                                        </p:attrNameLst>
                                      </p:cBhvr>
                                      <p:to>
                                        <p:strVal val="visible"/>
                                      </p:to>
                                    </p:set>
                                    <p:anim calcmode="lin" valueType="num">
                                      <p:cBhvr additive="base">
                                        <p:cTn id="86" dur="500" decel="100000" fill="hold"/>
                                        <p:tgtEl>
                                          <p:spTgt spid="117"/>
                                        </p:tgtEl>
                                        <p:attrNameLst>
                                          <p:attrName>ppt_w</p:attrName>
                                        </p:attrNameLst>
                                      </p:cBhvr>
                                      <p:tavLst>
                                        <p:tav tm="0">
                                          <p:val>
                                            <p:strVal val="#ppt_w*0.55"/>
                                          </p:val>
                                        </p:tav>
                                        <p:tav tm="100000">
                                          <p:val>
                                            <p:strVal val="#ppt_w"/>
                                          </p:val>
                                        </p:tav>
                                      </p:tavLst>
                                    </p:anim>
                                    <p:anim calcmode="lin" valueType="num">
                                      <p:cBhvr additive="base">
                                        <p:cTn id="87" dur="500" decel="100000" fill="hold"/>
                                        <p:tgtEl>
                                          <p:spTgt spid="117"/>
                                        </p:tgtEl>
                                        <p:attrNameLst>
                                          <p:attrName>ppt_h</p:attrName>
                                        </p:attrNameLst>
                                      </p:cBhvr>
                                      <p:tavLst>
                                        <p:tav tm="0">
                                          <p:val>
                                            <p:strVal val="#ppt_h*0.55"/>
                                          </p:val>
                                        </p:tav>
                                        <p:tav tm="100000">
                                          <p:val>
                                            <p:strVal val="#ppt_h"/>
                                          </p:val>
                                        </p:tav>
                                      </p:tavLst>
                                    </p:anim>
                                    <p:animEffect transition="in" filter="fade">
                                      <p:cBhvr>
                                        <p:cTn id="88" dur="500"/>
                                        <p:tgtEl>
                                          <p:spTgt spid="117"/>
                                        </p:tgtEl>
                                      </p:cBhvr>
                                    </p:animEffect>
                                  </p:childTnLst>
                                </p:cTn>
                              </p:par>
                              <p:par>
                                <p:cTn id="89" presetID="53" presetClass="entr" presetSubtype="16" fill="hold" grpId="0" nodeType="withEffect">
                                  <p:stCondLst>
                                    <p:cond delay="390"/>
                                  </p:stCondLst>
                                  <p:childTnLst>
                                    <p:set>
                                      <p:cBhvr>
                                        <p:cTn id="90" dur="1" fill="hold">
                                          <p:stCondLst>
                                            <p:cond delay="0"/>
                                          </p:stCondLst>
                                        </p:cTn>
                                        <p:tgtEl>
                                          <p:spTgt spid="118"/>
                                        </p:tgtEl>
                                        <p:attrNameLst>
                                          <p:attrName>style.visibility</p:attrName>
                                        </p:attrNameLst>
                                      </p:cBhvr>
                                      <p:to>
                                        <p:strVal val="visible"/>
                                      </p:to>
                                    </p:set>
                                    <p:anim calcmode="lin" valueType="num">
                                      <p:cBhvr additive="base">
                                        <p:cTn id="91" dur="500" decel="100000" fill="hold"/>
                                        <p:tgtEl>
                                          <p:spTgt spid="118"/>
                                        </p:tgtEl>
                                        <p:attrNameLst>
                                          <p:attrName>ppt_w</p:attrName>
                                        </p:attrNameLst>
                                      </p:cBhvr>
                                      <p:tavLst>
                                        <p:tav tm="0">
                                          <p:val>
                                            <p:strVal val="#ppt_w*0.55"/>
                                          </p:val>
                                        </p:tav>
                                        <p:tav tm="100000">
                                          <p:val>
                                            <p:strVal val="#ppt_w"/>
                                          </p:val>
                                        </p:tav>
                                      </p:tavLst>
                                    </p:anim>
                                    <p:anim calcmode="lin" valueType="num">
                                      <p:cBhvr additive="base">
                                        <p:cTn id="92" dur="500" decel="100000" fill="hold"/>
                                        <p:tgtEl>
                                          <p:spTgt spid="118"/>
                                        </p:tgtEl>
                                        <p:attrNameLst>
                                          <p:attrName>ppt_h</p:attrName>
                                        </p:attrNameLst>
                                      </p:cBhvr>
                                      <p:tavLst>
                                        <p:tav tm="0">
                                          <p:val>
                                            <p:strVal val="#ppt_h*0.55"/>
                                          </p:val>
                                        </p:tav>
                                        <p:tav tm="100000">
                                          <p:val>
                                            <p:strVal val="#ppt_h"/>
                                          </p:val>
                                        </p:tav>
                                      </p:tavLst>
                                    </p:anim>
                                    <p:animEffect transition="in" filter="fade">
                                      <p:cBhvr>
                                        <p:cTn id="93" dur="500"/>
                                        <p:tgtEl>
                                          <p:spTgt spid="118"/>
                                        </p:tgtEl>
                                      </p:cBhvr>
                                    </p:animEffect>
                                  </p:childTnLst>
                                </p:cTn>
                              </p:par>
                              <p:par>
                                <p:cTn id="94" presetID="53" presetClass="entr" presetSubtype="16" fill="hold" nodeType="withEffect">
                                  <p:stCondLst>
                                    <p:cond delay="390"/>
                                  </p:stCondLst>
                                  <p:childTnLst>
                                    <p:set>
                                      <p:cBhvr>
                                        <p:cTn id="95" dur="1" fill="hold">
                                          <p:stCondLst>
                                            <p:cond delay="0"/>
                                          </p:stCondLst>
                                        </p:cTn>
                                        <p:tgtEl>
                                          <p:spTgt spid="119"/>
                                        </p:tgtEl>
                                        <p:attrNameLst>
                                          <p:attrName>style.visibility</p:attrName>
                                        </p:attrNameLst>
                                      </p:cBhvr>
                                      <p:to>
                                        <p:strVal val="visible"/>
                                      </p:to>
                                    </p:set>
                                    <p:anim calcmode="lin" valueType="num">
                                      <p:cBhvr additive="base">
                                        <p:cTn id="96" dur="500" decel="100000" fill="hold"/>
                                        <p:tgtEl>
                                          <p:spTgt spid="119"/>
                                        </p:tgtEl>
                                        <p:attrNameLst>
                                          <p:attrName>ppt_w</p:attrName>
                                        </p:attrNameLst>
                                      </p:cBhvr>
                                      <p:tavLst>
                                        <p:tav tm="0">
                                          <p:val>
                                            <p:strVal val="#ppt_w*0.55"/>
                                          </p:val>
                                        </p:tav>
                                        <p:tav tm="100000">
                                          <p:val>
                                            <p:strVal val="#ppt_w"/>
                                          </p:val>
                                        </p:tav>
                                      </p:tavLst>
                                    </p:anim>
                                    <p:anim calcmode="lin" valueType="num">
                                      <p:cBhvr additive="base">
                                        <p:cTn id="97" dur="500" decel="100000" fill="hold"/>
                                        <p:tgtEl>
                                          <p:spTgt spid="119"/>
                                        </p:tgtEl>
                                        <p:attrNameLst>
                                          <p:attrName>ppt_h</p:attrName>
                                        </p:attrNameLst>
                                      </p:cBhvr>
                                      <p:tavLst>
                                        <p:tav tm="0">
                                          <p:val>
                                            <p:strVal val="#ppt_h*0.55"/>
                                          </p:val>
                                        </p:tav>
                                        <p:tav tm="100000">
                                          <p:val>
                                            <p:strVal val="#ppt_h"/>
                                          </p:val>
                                        </p:tav>
                                      </p:tavLst>
                                    </p:anim>
                                    <p:animEffect transition="in" filter="fade">
                                      <p:cBhvr>
                                        <p:cTn id="98" dur="500"/>
                                        <p:tgtEl>
                                          <p:spTgt spid="119"/>
                                        </p:tgtEl>
                                      </p:cBhvr>
                                    </p:animEffect>
                                  </p:childTnLst>
                                </p:cTn>
                              </p:par>
                              <p:par>
                                <p:cTn id="99" presetID="53" presetClass="entr" presetSubtype="16" fill="hold" grpId="0" nodeType="withEffect">
                                  <p:stCondLst>
                                    <p:cond delay="390"/>
                                  </p:stCondLst>
                                  <p:childTnLst>
                                    <p:set>
                                      <p:cBhvr>
                                        <p:cTn id="100" dur="1" fill="hold">
                                          <p:stCondLst>
                                            <p:cond delay="0"/>
                                          </p:stCondLst>
                                        </p:cTn>
                                        <p:tgtEl>
                                          <p:spTgt spid="120"/>
                                        </p:tgtEl>
                                        <p:attrNameLst>
                                          <p:attrName>style.visibility</p:attrName>
                                        </p:attrNameLst>
                                      </p:cBhvr>
                                      <p:to>
                                        <p:strVal val="visible"/>
                                      </p:to>
                                    </p:set>
                                    <p:anim calcmode="lin" valueType="num">
                                      <p:cBhvr additive="base">
                                        <p:cTn id="101" dur="500" decel="100000" fill="hold"/>
                                        <p:tgtEl>
                                          <p:spTgt spid="120"/>
                                        </p:tgtEl>
                                        <p:attrNameLst>
                                          <p:attrName>ppt_w</p:attrName>
                                        </p:attrNameLst>
                                      </p:cBhvr>
                                      <p:tavLst>
                                        <p:tav tm="0">
                                          <p:val>
                                            <p:strVal val="#ppt_w*0.55"/>
                                          </p:val>
                                        </p:tav>
                                        <p:tav tm="100000">
                                          <p:val>
                                            <p:strVal val="#ppt_w"/>
                                          </p:val>
                                        </p:tav>
                                      </p:tavLst>
                                    </p:anim>
                                    <p:anim calcmode="lin" valueType="num">
                                      <p:cBhvr additive="base">
                                        <p:cTn id="102" dur="500" decel="100000" fill="hold"/>
                                        <p:tgtEl>
                                          <p:spTgt spid="120"/>
                                        </p:tgtEl>
                                        <p:attrNameLst>
                                          <p:attrName>ppt_h</p:attrName>
                                        </p:attrNameLst>
                                      </p:cBhvr>
                                      <p:tavLst>
                                        <p:tav tm="0">
                                          <p:val>
                                            <p:strVal val="#ppt_h*0.55"/>
                                          </p:val>
                                        </p:tav>
                                        <p:tav tm="100000">
                                          <p:val>
                                            <p:strVal val="#ppt_h"/>
                                          </p:val>
                                        </p:tav>
                                      </p:tavLst>
                                    </p:anim>
                                    <p:animEffect transition="in" filter="fade">
                                      <p:cBhvr>
                                        <p:cTn id="103" dur="500"/>
                                        <p:tgtEl>
                                          <p:spTgt spid="120"/>
                                        </p:tgtEl>
                                      </p:cBhvr>
                                    </p:animEffect>
                                  </p:childTnLst>
                                </p:cTn>
                              </p:par>
                              <p:par>
                                <p:cTn id="104" presetID="53" presetClass="entr" presetSubtype="16" fill="hold" grpId="0" nodeType="withEffect">
                                  <p:stCondLst>
                                    <p:cond delay="520"/>
                                  </p:stCondLst>
                                  <p:childTnLst>
                                    <p:set>
                                      <p:cBhvr>
                                        <p:cTn id="105" dur="1" fill="hold">
                                          <p:stCondLst>
                                            <p:cond delay="0"/>
                                          </p:stCondLst>
                                        </p:cTn>
                                        <p:tgtEl>
                                          <p:spTgt spid="121"/>
                                        </p:tgtEl>
                                        <p:attrNameLst>
                                          <p:attrName>style.visibility</p:attrName>
                                        </p:attrNameLst>
                                      </p:cBhvr>
                                      <p:to>
                                        <p:strVal val="visible"/>
                                      </p:to>
                                    </p:set>
                                    <p:anim calcmode="lin" valueType="num">
                                      <p:cBhvr additive="base">
                                        <p:cTn id="106" dur="500" decel="100000" fill="hold"/>
                                        <p:tgtEl>
                                          <p:spTgt spid="121"/>
                                        </p:tgtEl>
                                        <p:attrNameLst>
                                          <p:attrName>ppt_w</p:attrName>
                                        </p:attrNameLst>
                                      </p:cBhvr>
                                      <p:tavLst>
                                        <p:tav tm="0">
                                          <p:val>
                                            <p:strVal val="#ppt_w*0.55"/>
                                          </p:val>
                                        </p:tav>
                                        <p:tav tm="100000">
                                          <p:val>
                                            <p:strVal val="#ppt_w"/>
                                          </p:val>
                                        </p:tav>
                                      </p:tavLst>
                                    </p:anim>
                                    <p:anim calcmode="lin" valueType="num">
                                      <p:cBhvr additive="base">
                                        <p:cTn id="107" dur="500" decel="100000" fill="hold"/>
                                        <p:tgtEl>
                                          <p:spTgt spid="121"/>
                                        </p:tgtEl>
                                        <p:attrNameLst>
                                          <p:attrName>ppt_h</p:attrName>
                                        </p:attrNameLst>
                                      </p:cBhvr>
                                      <p:tavLst>
                                        <p:tav tm="0">
                                          <p:val>
                                            <p:strVal val="#ppt_h*0.55"/>
                                          </p:val>
                                        </p:tav>
                                        <p:tav tm="100000">
                                          <p:val>
                                            <p:strVal val="#ppt_h"/>
                                          </p:val>
                                        </p:tav>
                                      </p:tavLst>
                                    </p:anim>
                                    <p:animEffect transition="in" filter="fade">
                                      <p:cBhvr>
                                        <p:cTn id="108" dur="500"/>
                                        <p:tgtEl>
                                          <p:spTgt spid="121"/>
                                        </p:tgtEl>
                                      </p:cBhvr>
                                    </p:animEffect>
                                  </p:childTnLst>
                                </p:cTn>
                              </p:par>
                              <p:par>
                                <p:cTn id="109" presetID="53" presetClass="entr" presetSubtype="16" fill="hold" grpId="0" nodeType="withEffect">
                                  <p:stCondLst>
                                    <p:cond delay="520"/>
                                  </p:stCondLst>
                                  <p:childTnLst>
                                    <p:set>
                                      <p:cBhvr>
                                        <p:cTn id="110" dur="1" fill="hold">
                                          <p:stCondLst>
                                            <p:cond delay="0"/>
                                          </p:stCondLst>
                                        </p:cTn>
                                        <p:tgtEl>
                                          <p:spTgt spid="122"/>
                                        </p:tgtEl>
                                        <p:attrNameLst>
                                          <p:attrName>style.visibility</p:attrName>
                                        </p:attrNameLst>
                                      </p:cBhvr>
                                      <p:to>
                                        <p:strVal val="visible"/>
                                      </p:to>
                                    </p:set>
                                    <p:anim calcmode="lin" valueType="num">
                                      <p:cBhvr additive="base">
                                        <p:cTn id="111" dur="500" decel="100000" fill="hold"/>
                                        <p:tgtEl>
                                          <p:spTgt spid="122"/>
                                        </p:tgtEl>
                                        <p:attrNameLst>
                                          <p:attrName>ppt_w</p:attrName>
                                        </p:attrNameLst>
                                      </p:cBhvr>
                                      <p:tavLst>
                                        <p:tav tm="0">
                                          <p:val>
                                            <p:strVal val="#ppt_w*0.55"/>
                                          </p:val>
                                        </p:tav>
                                        <p:tav tm="100000">
                                          <p:val>
                                            <p:strVal val="#ppt_w"/>
                                          </p:val>
                                        </p:tav>
                                      </p:tavLst>
                                    </p:anim>
                                    <p:anim calcmode="lin" valueType="num">
                                      <p:cBhvr additive="base">
                                        <p:cTn id="112" dur="500" decel="100000" fill="hold"/>
                                        <p:tgtEl>
                                          <p:spTgt spid="122"/>
                                        </p:tgtEl>
                                        <p:attrNameLst>
                                          <p:attrName>ppt_h</p:attrName>
                                        </p:attrNameLst>
                                      </p:cBhvr>
                                      <p:tavLst>
                                        <p:tav tm="0">
                                          <p:val>
                                            <p:strVal val="#ppt_h*0.55"/>
                                          </p:val>
                                        </p:tav>
                                        <p:tav tm="100000">
                                          <p:val>
                                            <p:strVal val="#ppt_h"/>
                                          </p:val>
                                        </p:tav>
                                      </p:tavLst>
                                    </p:anim>
                                    <p:animEffect transition="in" filter="fade">
                                      <p:cBhvr>
                                        <p:cTn id="113" dur="500"/>
                                        <p:tgtEl>
                                          <p:spTgt spid="122"/>
                                        </p:tgtEl>
                                      </p:cBhvr>
                                    </p:animEffect>
                                  </p:childTnLst>
                                </p:cTn>
                              </p:par>
                              <p:par>
                                <p:cTn id="114" presetID="53" presetClass="entr" presetSubtype="16" fill="hold" nodeType="withEffect">
                                  <p:stCondLst>
                                    <p:cond delay="520"/>
                                  </p:stCondLst>
                                  <p:childTnLst>
                                    <p:set>
                                      <p:cBhvr>
                                        <p:cTn id="115" dur="1" fill="hold">
                                          <p:stCondLst>
                                            <p:cond delay="0"/>
                                          </p:stCondLst>
                                        </p:cTn>
                                        <p:tgtEl>
                                          <p:spTgt spid="123"/>
                                        </p:tgtEl>
                                        <p:attrNameLst>
                                          <p:attrName>style.visibility</p:attrName>
                                        </p:attrNameLst>
                                      </p:cBhvr>
                                      <p:to>
                                        <p:strVal val="visible"/>
                                      </p:to>
                                    </p:set>
                                    <p:anim calcmode="lin" valueType="num">
                                      <p:cBhvr additive="base">
                                        <p:cTn id="116" dur="500" decel="100000" fill="hold"/>
                                        <p:tgtEl>
                                          <p:spTgt spid="123"/>
                                        </p:tgtEl>
                                        <p:attrNameLst>
                                          <p:attrName>ppt_w</p:attrName>
                                        </p:attrNameLst>
                                      </p:cBhvr>
                                      <p:tavLst>
                                        <p:tav tm="0">
                                          <p:val>
                                            <p:strVal val="#ppt_w*0.55"/>
                                          </p:val>
                                        </p:tav>
                                        <p:tav tm="100000">
                                          <p:val>
                                            <p:strVal val="#ppt_w"/>
                                          </p:val>
                                        </p:tav>
                                      </p:tavLst>
                                    </p:anim>
                                    <p:anim calcmode="lin" valueType="num">
                                      <p:cBhvr additive="base">
                                        <p:cTn id="117" dur="500" decel="100000" fill="hold"/>
                                        <p:tgtEl>
                                          <p:spTgt spid="123"/>
                                        </p:tgtEl>
                                        <p:attrNameLst>
                                          <p:attrName>ppt_h</p:attrName>
                                        </p:attrNameLst>
                                      </p:cBhvr>
                                      <p:tavLst>
                                        <p:tav tm="0">
                                          <p:val>
                                            <p:strVal val="#ppt_h*0.55"/>
                                          </p:val>
                                        </p:tav>
                                        <p:tav tm="100000">
                                          <p:val>
                                            <p:strVal val="#ppt_h"/>
                                          </p:val>
                                        </p:tav>
                                      </p:tavLst>
                                    </p:anim>
                                    <p:animEffect transition="in" filter="fade">
                                      <p:cBhvr>
                                        <p:cTn id="118" dur="500"/>
                                        <p:tgtEl>
                                          <p:spTgt spid="123"/>
                                        </p:tgtEl>
                                      </p:cBhvr>
                                    </p:animEffect>
                                  </p:childTnLst>
                                </p:cTn>
                              </p:par>
                              <p:par>
                                <p:cTn id="119" presetID="53" presetClass="entr" presetSubtype="16" fill="hold" grpId="0" nodeType="withEffect">
                                  <p:stCondLst>
                                    <p:cond delay="520"/>
                                  </p:stCondLst>
                                  <p:childTnLst>
                                    <p:set>
                                      <p:cBhvr>
                                        <p:cTn id="120" dur="1" fill="hold">
                                          <p:stCondLst>
                                            <p:cond delay="0"/>
                                          </p:stCondLst>
                                        </p:cTn>
                                        <p:tgtEl>
                                          <p:spTgt spid="124"/>
                                        </p:tgtEl>
                                        <p:attrNameLst>
                                          <p:attrName>style.visibility</p:attrName>
                                        </p:attrNameLst>
                                      </p:cBhvr>
                                      <p:to>
                                        <p:strVal val="visible"/>
                                      </p:to>
                                    </p:set>
                                    <p:anim calcmode="lin" valueType="num">
                                      <p:cBhvr additive="base">
                                        <p:cTn id="121" dur="500" decel="100000" fill="hold"/>
                                        <p:tgtEl>
                                          <p:spTgt spid="124"/>
                                        </p:tgtEl>
                                        <p:attrNameLst>
                                          <p:attrName>ppt_w</p:attrName>
                                        </p:attrNameLst>
                                      </p:cBhvr>
                                      <p:tavLst>
                                        <p:tav tm="0">
                                          <p:val>
                                            <p:strVal val="#ppt_w*0.55"/>
                                          </p:val>
                                        </p:tav>
                                        <p:tav tm="100000">
                                          <p:val>
                                            <p:strVal val="#ppt_w"/>
                                          </p:val>
                                        </p:tav>
                                      </p:tavLst>
                                    </p:anim>
                                    <p:anim calcmode="lin" valueType="num">
                                      <p:cBhvr additive="base">
                                        <p:cTn id="122" dur="500" decel="100000" fill="hold"/>
                                        <p:tgtEl>
                                          <p:spTgt spid="124"/>
                                        </p:tgtEl>
                                        <p:attrNameLst>
                                          <p:attrName>ppt_h</p:attrName>
                                        </p:attrNameLst>
                                      </p:cBhvr>
                                      <p:tavLst>
                                        <p:tav tm="0">
                                          <p:val>
                                            <p:strVal val="#ppt_h*0.55"/>
                                          </p:val>
                                        </p:tav>
                                        <p:tav tm="100000">
                                          <p:val>
                                            <p:strVal val="#ppt_h"/>
                                          </p:val>
                                        </p:tav>
                                      </p:tavLst>
                                    </p:anim>
                                    <p:animEffect transition="in" filter="fade">
                                      <p:cBhvr>
                                        <p:cTn id="123" dur="500"/>
                                        <p:tgtEl>
                                          <p:spTgt spid="124"/>
                                        </p:tgtEl>
                                      </p:cBhvr>
                                    </p:animEffect>
                                  </p:childTnLst>
                                </p:cTn>
                              </p:par>
                            </p:childTnLst>
                          </p:cTn>
                        </p:par>
                      </p:childTnLst>
                    </p:cTn>
                  </p:par>
                  <p:par>
                    <p:cTn id="124" fill="hold">
                      <p:stCondLst>
                        <p:cond delay="indefinite"/>
                      </p:stCondLst>
                      <p:childTnLst>
                        <p:par>
                          <p:cTn id="125" fill="hold">
                            <p:stCondLst>
                              <p:cond delay="0"/>
                            </p:stCondLst>
                            <p:childTnLst>
                              <p:par>
                                <p:cTn id="126" presetID="42" presetClass="entr" presetSubtype="0" fill="hold" grpId="0" nodeType="clickEffect">
                                  <p:stCondLst>
                                    <p:cond delay="0"/>
                                  </p:stCondLst>
                                  <p:childTnLst>
                                    <p:set>
                                      <p:cBhvr>
                                        <p:cTn id="127" dur="1" fill="hold">
                                          <p:stCondLst>
                                            <p:cond delay="0"/>
                                          </p:stCondLst>
                                        </p:cTn>
                                        <p:tgtEl>
                                          <p:spTgt spid="125"/>
                                        </p:tgtEl>
                                        <p:attrNameLst>
                                          <p:attrName>style.visibility</p:attrName>
                                        </p:attrNameLst>
                                      </p:cBhvr>
                                      <p:to>
                                        <p:strVal val="visible"/>
                                      </p:to>
                                    </p:set>
                                    <p:animEffect transition="in" filter="fade">
                                      <p:cBhvr>
                                        <p:cTn id="128" dur="500"/>
                                        <p:tgtEl>
                                          <p:spTgt spid="125"/>
                                        </p:tgtEl>
                                      </p:cBhvr>
                                    </p:animEffect>
                                    <p:anim calcmode="lin" valueType="num">
                                      <p:cBhvr additive="base">
                                        <p:cTn id="129" dur="500" decel="100000" fill="hold"/>
                                        <p:tgtEl>
                                          <p:spTgt spid="125"/>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8" grpId="0" animBg="1"/>
      <p:bldP spid="109" grpId="0" animBg="1"/>
      <p:bldP spid="110" grpId="0" animBg="1"/>
      <p:bldP spid="112" grpId="0" animBg="1"/>
      <p:bldP spid="113" grpId="0" animBg="1"/>
      <p:bldP spid="114" grpId="0" animBg="1"/>
      <p:bldP spid="116" grpId="0" animBg="1"/>
      <p:bldP spid="117" grpId="0" animBg="1"/>
      <p:bldP spid="118" grpId="0" animBg="1"/>
      <p:bldP spid="120" grpId="0" animBg="1"/>
      <p:bldP spid="121" grpId="0" animBg="1"/>
      <p:bldP spid="122" grpId="0" animBg="1"/>
      <p:bldP spid="124" grpId="0" animBg="1"/>
      <p:bldP spid="125"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34D399">
              <a:alpha val="18000"/>
            </a:srgbClr>
          </a:solidFill>
          <a:ln w="12700">
            <a:solidFill>
              <a:srgbClr val="34D399"/>
            </a:solidFill>
          </a:ln>
        </p:spPr>
        <p:txBody>
          <a:bodyPr wrap="square" lIns="0" tIns="0" rIns="0" bIns="0" rtlCol="0" anchor="ctr">
            <a:noAutofit/>
          </a:bodyPr>
          <a:lstStyle/>
          <a:p>
            <a:pPr marL="0" indent="0" algn="ctr">
              <a:spcBef>
                <a:spcPts val="0"/>
              </a:spcBef>
              <a:spcAft>
                <a:spcPts val="0"/>
              </a:spcAft>
              <a:buNone/>
            </a:pPr>
            <a:r>
              <a:rPr lang="en-US" sz="1000" b="1" dirty="0">
                <a:solidFill>
                  <a:srgbClr val="34D399"/>
                </a:solidFill>
                <a:latin typeface="Segoe UI"/>
                <a:ea typeface="Segoe UI"/>
                <a:cs typeface="Segoe UI"/>
              </a:rPr>
              <a:t>SCENE 10</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295</a:t>
            </a:r>
            <a:endParaRPr lang="en-US" sz="850" dirty="0"/>
          </a:p>
        </p:txBody>
      </p:sp>
      <p:sp>
        <p:nvSpPr>
          <p:cNvPr id="101" name="s101"/>
          <p:cNvSpPr txBox="1"/>
          <p:nvPr/>
        </p:nvSpPr>
        <p:spPr>
          <a:xfrm>
            <a:off x="497434" y="1051560"/>
            <a:ext cx="2743200" cy="12801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8800" b="1" dirty="0">
                <a:solidFill>
                  <a:srgbClr val="34D399"/>
                </a:solidFill>
                <a:latin typeface="Segoe UI"/>
                <a:ea typeface="Segoe UI"/>
                <a:cs typeface="Segoe UI"/>
              </a:rPr>
              <a:t>10</a:t>
            </a:r>
            <a:endParaRPr lang="en-US" sz="8800" dirty="0"/>
          </a:p>
        </p:txBody>
      </p:sp>
      <p:sp>
        <p:nvSpPr>
          <p:cNvPr id="102" name="s102"/>
          <p:cNvSpPr txBox="1"/>
          <p:nvPr/>
        </p:nvSpPr>
        <p:spPr>
          <a:xfrm>
            <a:off x="543154" y="2331720"/>
            <a:ext cx="11088014" cy="7772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Sprint 2 and the Big Picture</a:t>
            </a:r>
            <a:endParaRPr lang="en-US" sz="4000" dirty="0"/>
          </a:p>
        </p:txBody>
      </p:sp>
      <p:sp>
        <p:nvSpPr>
          <p:cNvPr id="103" name="s103"/>
          <p:cNvSpPr txBox="1"/>
          <p:nvPr/>
        </p:nvSpPr>
        <p:spPr>
          <a:xfrm>
            <a:off x="543154" y="3108960"/>
            <a:ext cx="11088014"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800" b="0" dirty="0">
                <a:solidFill>
                  <a:srgbClr val="CBD5E1"/>
                </a:solidFill>
                <a:latin typeface="Segoe UI"/>
                <a:ea typeface="Segoe UI"/>
                <a:cs typeface="Segoe UI"/>
              </a:rPr>
              <a:t>The loop starts again. Now see all of Scrum on one page.</a:t>
            </a:r>
            <a:endParaRPr lang="en-US" sz="1800" dirty="0"/>
          </a:p>
        </p:txBody>
      </p:sp>
      <p:sp>
        <p:nvSpPr>
          <p:cNvPr id="104" name="s104"/>
          <p:cNvSpPr txBox="1"/>
          <p:nvPr/>
        </p:nvSpPr>
        <p:spPr>
          <a:xfrm>
            <a:off x="543154" y="3931920"/>
            <a:ext cx="1108801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94A3B8"/>
                </a:solidFill>
                <a:latin typeface="Segoe UI"/>
                <a:ea typeface="Segoe UI"/>
                <a:cs typeface="Segoe UI"/>
              </a:rPr>
              <a:t>IN THIS SCENE</a:t>
            </a:r>
            <a:endParaRPr lang="en-US" sz="1100" dirty="0"/>
          </a:p>
        </p:txBody>
      </p:sp>
      <p:sp>
        <p:nvSpPr>
          <p:cNvPr id="105" name="s105"/>
          <p:cNvSpPr/>
          <p:nvPr/>
        </p:nvSpPr>
        <p:spPr>
          <a:xfrm>
            <a:off x="543154" y="4251960"/>
            <a:ext cx="2634844" cy="548640"/>
          </a:xfrm>
          <a:prstGeom prst="roundRect">
            <a:avLst>
              <a:gd name="adj" fmla="val 20000"/>
            </a:avLst>
          </a:prstGeom>
          <a:solidFill>
            <a:srgbClr val="34D399">
              <a:alpha val="14000"/>
            </a:srgbClr>
          </a:solidFill>
          <a:ln w="12700">
            <a:solidFill>
              <a:srgbClr val="34D399"/>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Sprint 2</a:t>
            </a:r>
            <a:endParaRPr lang="en-US" sz="1350" dirty="0"/>
          </a:p>
        </p:txBody>
      </p:sp>
      <p:sp>
        <p:nvSpPr>
          <p:cNvPr id="106" name="s106"/>
          <p:cNvSpPr/>
          <p:nvPr/>
        </p:nvSpPr>
        <p:spPr>
          <a:xfrm>
            <a:off x="3360877" y="4251960"/>
            <a:ext cx="2634844" cy="548640"/>
          </a:xfrm>
          <a:prstGeom prst="roundRect">
            <a:avLst>
              <a:gd name="adj" fmla="val 20000"/>
            </a:avLst>
          </a:prstGeom>
          <a:solidFill>
            <a:srgbClr val="34D399">
              <a:alpha val="14000"/>
            </a:srgbClr>
          </a:solidFill>
          <a:ln w="12700">
            <a:solidFill>
              <a:srgbClr val="34D399"/>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3 · 5 · 3</a:t>
            </a:r>
            <a:endParaRPr lang="en-US" sz="1350" dirty="0"/>
          </a:p>
        </p:txBody>
      </p:sp>
      <p:sp>
        <p:nvSpPr>
          <p:cNvPr id="107" name="s107"/>
          <p:cNvSpPr/>
          <p:nvPr/>
        </p:nvSpPr>
        <p:spPr>
          <a:xfrm>
            <a:off x="6178601" y="4251960"/>
            <a:ext cx="2634844" cy="548640"/>
          </a:xfrm>
          <a:prstGeom prst="roundRect">
            <a:avLst>
              <a:gd name="adj" fmla="val 20000"/>
            </a:avLst>
          </a:prstGeom>
          <a:solidFill>
            <a:srgbClr val="34D399">
              <a:alpha val="14000"/>
            </a:srgbClr>
          </a:solidFill>
          <a:ln w="12700">
            <a:solidFill>
              <a:srgbClr val="34D399"/>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Scrum vs Kanban</a:t>
            </a:r>
            <a:endParaRPr lang="en-US" sz="1350" dirty="0"/>
          </a:p>
        </p:txBody>
      </p:sp>
      <p:sp>
        <p:nvSpPr>
          <p:cNvPr id="108" name="s108"/>
          <p:cNvSpPr/>
          <p:nvPr/>
        </p:nvSpPr>
        <p:spPr>
          <a:xfrm>
            <a:off x="8996324" y="4251960"/>
            <a:ext cx="2634844" cy="548640"/>
          </a:xfrm>
          <a:prstGeom prst="roundRect">
            <a:avLst>
              <a:gd name="adj" fmla="val 20000"/>
            </a:avLst>
          </a:prstGeom>
          <a:solidFill>
            <a:srgbClr val="34D399">
              <a:alpha val="14000"/>
            </a:srgbClr>
          </a:solidFill>
          <a:ln w="12700">
            <a:solidFill>
              <a:srgbClr val="34D399"/>
            </a:solidFill>
            <a:prstDash val="solid"/>
          </a:ln>
        </p:spPr>
        <p:txBody>
          <a:bodyPr wrap="square" lIns="73152" tIns="0" rIns="73152" bIns="0" rtlCol="0" anchor="ctr">
            <a:noAutofit/>
          </a:bodyPr>
          <a:lstStyle/>
          <a:p>
            <a:pPr marL="0" indent="0" algn="ctr">
              <a:spcBef>
                <a:spcPts val="0"/>
              </a:spcBef>
              <a:spcAft>
                <a:spcPts val="0"/>
              </a:spcAft>
              <a:buNone/>
            </a:pPr>
            <a:r>
              <a:rPr lang="en-US" sz="1350" b="1" dirty="0">
                <a:solidFill>
                  <a:srgbClr val="FFFFFF"/>
                </a:solidFill>
                <a:latin typeface="Segoe UI"/>
                <a:ea typeface="Segoe UI"/>
                <a:cs typeface="Segoe UI"/>
              </a:rPr>
              <a:t>quizzes</a:t>
            </a:r>
            <a:endParaRPr lang="en-US" sz="1350" dirty="0"/>
          </a:p>
        </p:txBody>
      </p:sp>
      <p:sp>
        <p:nvSpPr>
          <p:cNvPr id="109" name="s109"/>
          <p:cNvSpPr/>
          <p:nvPr/>
        </p:nvSpPr>
        <p:spPr>
          <a:xfrm>
            <a:off x="543154"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1</a:t>
            </a:r>
            <a:endParaRPr lang="en-US" sz="1300" dirty="0"/>
          </a:p>
        </p:txBody>
      </p:sp>
      <p:sp>
        <p:nvSpPr>
          <p:cNvPr id="110" name="s110"/>
          <p:cNvSpPr/>
          <p:nvPr/>
        </p:nvSpPr>
        <p:spPr>
          <a:xfrm>
            <a:off x="1659270" y="5669280"/>
            <a:ext cx="1042965" cy="457200"/>
          </a:xfrm>
          <a:prstGeom prst="roundRect">
            <a:avLst>
              <a:gd name="adj" fmla="val 20000"/>
            </a:avLst>
          </a:prstGeom>
          <a:solidFill>
            <a:srgbClr val="111B2E"/>
          </a:solidFill>
          <a:ln w="12700">
            <a:solidFill>
              <a:srgbClr val="FBBF24"/>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2</a:t>
            </a:r>
            <a:endParaRPr lang="en-US" sz="1300" dirty="0"/>
          </a:p>
        </p:txBody>
      </p:sp>
      <p:sp>
        <p:nvSpPr>
          <p:cNvPr id="111" name="s111"/>
          <p:cNvSpPr/>
          <p:nvPr/>
        </p:nvSpPr>
        <p:spPr>
          <a:xfrm>
            <a:off x="2775387" y="5669280"/>
            <a:ext cx="1042965" cy="457200"/>
          </a:xfrm>
          <a:prstGeom prst="roundRect">
            <a:avLst>
              <a:gd name="adj" fmla="val 20000"/>
            </a:avLst>
          </a:prstGeom>
          <a:solidFill>
            <a:srgbClr val="111B2E"/>
          </a:solidFill>
          <a:ln w="12700">
            <a:solidFill>
              <a:srgbClr val="A78B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A78BFA"/>
                </a:solidFill>
                <a:latin typeface="Segoe UI"/>
                <a:ea typeface="Segoe UI"/>
                <a:cs typeface="Segoe UI"/>
              </a:rPr>
              <a:t>3</a:t>
            </a:r>
            <a:endParaRPr lang="en-US" sz="1300" dirty="0"/>
          </a:p>
        </p:txBody>
      </p:sp>
      <p:sp>
        <p:nvSpPr>
          <p:cNvPr id="112" name="s112"/>
          <p:cNvSpPr/>
          <p:nvPr/>
        </p:nvSpPr>
        <p:spPr>
          <a:xfrm>
            <a:off x="3891504" y="5669280"/>
            <a:ext cx="1042965" cy="457200"/>
          </a:xfrm>
          <a:prstGeom prst="roundRect">
            <a:avLst>
              <a:gd name="adj" fmla="val 20000"/>
            </a:avLst>
          </a:prstGeom>
          <a:solidFill>
            <a:srgbClr val="111B2E"/>
          </a:solidFill>
          <a:ln w="12700">
            <a:solidFill>
              <a:srgbClr val="13D0F7"/>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13D0F7"/>
                </a:solidFill>
                <a:latin typeface="Segoe UI"/>
                <a:ea typeface="Segoe UI"/>
                <a:cs typeface="Segoe UI"/>
              </a:rPr>
              <a:t>4</a:t>
            </a:r>
            <a:endParaRPr lang="en-US" sz="1300" dirty="0"/>
          </a:p>
        </p:txBody>
      </p:sp>
      <p:sp>
        <p:nvSpPr>
          <p:cNvPr id="113" name="s113"/>
          <p:cNvSpPr/>
          <p:nvPr/>
        </p:nvSpPr>
        <p:spPr>
          <a:xfrm>
            <a:off x="5007620" y="5669280"/>
            <a:ext cx="1042965" cy="457200"/>
          </a:xfrm>
          <a:prstGeom prst="roundRect">
            <a:avLst>
              <a:gd name="adj" fmla="val 20000"/>
            </a:avLst>
          </a:prstGeom>
          <a:solidFill>
            <a:srgbClr val="111B2E"/>
          </a:solidFill>
          <a:ln w="12700">
            <a:solidFill>
              <a:srgbClr val="34D399"/>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34D399"/>
                </a:solidFill>
                <a:latin typeface="Segoe UI"/>
                <a:ea typeface="Segoe UI"/>
                <a:cs typeface="Segoe UI"/>
              </a:rPr>
              <a:t>5</a:t>
            </a:r>
            <a:endParaRPr lang="en-US" sz="1300" dirty="0"/>
          </a:p>
        </p:txBody>
      </p:sp>
      <p:sp>
        <p:nvSpPr>
          <p:cNvPr id="114" name="s114"/>
          <p:cNvSpPr/>
          <p:nvPr/>
        </p:nvSpPr>
        <p:spPr>
          <a:xfrm>
            <a:off x="6123737" y="5669280"/>
            <a:ext cx="1042965" cy="457200"/>
          </a:xfrm>
          <a:prstGeom prst="roundRect">
            <a:avLst>
              <a:gd name="adj" fmla="val 20000"/>
            </a:avLst>
          </a:prstGeom>
          <a:solidFill>
            <a:srgbClr val="111B2E"/>
          </a:solidFill>
          <a:ln w="12700">
            <a:solidFill>
              <a:srgbClr val="60A5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6</a:t>
            </a:r>
            <a:endParaRPr lang="en-US" sz="1300" dirty="0"/>
          </a:p>
        </p:txBody>
      </p:sp>
      <p:sp>
        <p:nvSpPr>
          <p:cNvPr id="115" name="s115"/>
          <p:cNvSpPr/>
          <p:nvPr/>
        </p:nvSpPr>
        <p:spPr>
          <a:xfrm>
            <a:off x="7239853" y="5669280"/>
            <a:ext cx="1042965" cy="457200"/>
          </a:xfrm>
          <a:prstGeom prst="roundRect">
            <a:avLst>
              <a:gd name="adj" fmla="val 20000"/>
            </a:avLst>
          </a:prstGeom>
          <a:solidFill>
            <a:srgbClr val="111B2E"/>
          </a:solidFill>
          <a:ln w="12700">
            <a:solidFill>
              <a:srgbClr val="F87171"/>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87171"/>
                </a:solidFill>
                <a:latin typeface="Segoe UI"/>
                <a:ea typeface="Segoe UI"/>
                <a:cs typeface="Segoe UI"/>
              </a:rPr>
              <a:t>7</a:t>
            </a:r>
            <a:endParaRPr lang="en-US" sz="1300" dirty="0"/>
          </a:p>
        </p:txBody>
      </p:sp>
      <p:sp>
        <p:nvSpPr>
          <p:cNvPr id="116" name="s116"/>
          <p:cNvSpPr/>
          <p:nvPr/>
        </p:nvSpPr>
        <p:spPr>
          <a:xfrm>
            <a:off x="8355970" y="5669280"/>
            <a:ext cx="1042965" cy="457200"/>
          </a:xfrm>
          <a:prstGeom prst="roundRect">
            <a:avLst>
              <a:gd name="adj" fmla="val 20000"/>
            </a:avLst>
          </a:prstGeom>
          <a:solidFill>
            <a:srgbClr val="111B2E"/>
          </a:solidFill>
          <a:ln w="12700">
            <a:solidFill>
              <a:srgbClr val="FBBF24"/>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8</a:t>
            </a:r>
            <a:endParaRPr lang="en-US" sz="1300" dirty="0"/>
          </a:p>
        </p:txBody>
      </p:sp>
      <p:sp>
        <p:nvSpPr>
          <p:cNvPr id="117" name="s117"/>
          <p:cNvSpPr/>
          <p:nvPr/>
        </p:nvSpPr>
        <p:spPr>
          <a:xfrm>
            <a:off x="9472087" y="5669280"/>
            <a:ext cx="1042965" cy="457200"/>
          </a:xfrm>
          <a:prstGeom prst="roundRect">
            <a:avLst>
              <a:gd name="adj" fmla="val 20000"/>
            </a:avLst>
          </a:prstGeom>
          <a:solidFill>
            <a:srgbClr val="111B2E"/>
          </a:solidFill>
          <a:ln w="12700">
            <a:solidFill>
              <a:srgbClr val="A78BFA"/>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A78BFA"/>
                </a:solidFill>
                <a:latin typeface="Segoe UI"/>
                <a:ea typeface="Segoe UI"/>
                <a:cs typeface="Segoe UI"/>
              </a:rPr>
              <a:t>9</a:t>
            </a:r>
            <a:endParaRPr lang="en-US" sz="1300" dirty="0"/>
          </a:p>
        </p:txBody>
      </p:sp>
      <p:sp>
        <p:nvSpPr>
          <p:cNvPr id="118" name="s118"/>
          <p:cNvSpPr/>
          <p:nvPr/>
        </p:nvSpPr>
        <p:spPr>
          <a:xfrm>
            <a:off x="10588203" y="5669280"/>
            <a:ext cx="1042965" cy="457200"/>
          </a:xfrm>
          <a:prstGeom prst="roundRect">
            <a:avLst>
              <a:gd name="adj" fmla="val 20000"/>
            </a:avLst>
          </a:prstGeom>
          <a:solidFill>
            <a:srgbClr val="34D399"/>
          </a:solidFill>
          <a:ln w="19050">
            <a:solidFill>
              <a:srgbClr val="34D399"/>
            </a:solidFill>
            <a:prstDash val="solid"/>
          </a:ln>
        </p:spPr>
        <p:txBody>
          <a:bodyPr wrap="square" lIns="27432" tIns="0" rIns="27432" bIns="0" rtlCol="0" anchor="ctr">
            <a:noAutofit/>
          </a:bodyPr>
          <a:lstStyle/>
          <a:p>
            <a:pPr marL="0" indent="0" algn="ctr">
              <a:spcBef>
                <a:spcPts val="0"/>
              </a:spcBef>
              <a:spcAft>
                <a:spcPts val="0"/>
              </a:spcAft>
              <a:buNone/>
            </a:pPr>
            <a:r>
              <a:rPr lang="en-US" sz="1300" b="1" dirty="0">
                <a:solidFill>
                  <a:srgbClr val="0F172A"/>
                </a:solidFill>
                <a:latin typeface="Segoe UI"/>
                <a:ea typeface="Segoe UI"/>
                <a:cs typeface="Segoe UI"/>
              </a:rPr>
              <a:t>10</a:t>
            </a:r>
            <a:endParaRPr lang="en-US" sz="13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00" decel="100000" fill="hold"/>
                                        <p:tgtEl>
                                          <p:spTgt spid="101"/>
                                        </p:tgtEl>
                                        <p:attrNameLst>
                                          <p:attrName>ppt_h</p:attrName>
                                        </p:attrNameLst>
                                      </p:cBhvr>
                                      <p:tavLst>
                                        <p:tav tm="0">
                                          <p:val>
                                            <p:strVal val="#ppt_h*0.3"/>
                                          </p:val>
                                        </p:tav>
                                        <p:tav tm="100000">
                                          <p:val>
                                            <p:strVal val="#ppt_h*1.08"/>
                                          </p:val>
                                        </p:tav>
                                      </p:tavLst>
                                    </p:anim>
                                    <p:animEffect transition="in" filter="fade">
                                      <p:cBhvr>
                                        <p:cTn id="9" dur="250"/>
                                        <p:tgtEl>
                                          <p:spTgt spid="101"/>
                                        </p:tgtEl>
                                      </p:cBhvr>
                                    </p:animEffect>
                                    <p:anim calcmode="lin" valueType="num">
                                      <p:cBhvr additive="base">
                                        <p:cTn id="10" dur="160" fill="hold">
                                          <p:stCondLst>
                                            <p:cond delay="50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0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1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anim calcmode="lin" valueType="num">
                                      <p:cBhvr additive="base">
                                        <p:cTn id="15" dur="50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2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00"/>
                                        <p:tgtEl>
                                          <p:spTgt spid="103"/>
                                        </p:tgtEl>
                                      </p:cBhvr>
                                    </p:animEffect>
                                    <p:anim calcmode="lin" valueType="num">
                                      <p:cBhvr additive="base">
                                        <p:cTn id="19" dur="500" decel="100000" fill="hold"/>
                                        <p:tgtEl>
                                          <p:spTgt spid="103"/>
                                        </p:tgtEl>
                                        <p:attrNameLst>
                                          <p:attrName>ppt_y</p:attrName>
                                        </p:attrNameLst>
                                      </p:cBhvr>
                                      <p:tavLst>
                                        <p:tav tm="0">
                                          <p:val>
                                            <p:strVal val="#ppt_y+0.06"/>
                                          </p:val>
                                        </p:tav>
                                        <p:tav tm="100000">
                                          <p:val>
                                            <p:strVal val="#ppt_y"/>
                                          </p:val>
                                        </p:tav>
                                      </p:tavLst>
                                    </p:anim>
                                  </p:childTnLst>
                                </p:cTn>
                              </p:par>
                              <p:par>
                                <p:cTn id="20" presetID="10" presetClass="entr" presetSubtype="0" fill="hold" grpId="0" nodeType="withEffect">
                                  <p:stCondLst>
                                    <p:cond delay="33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00"/>
                                        <p:tgtEl>
                                          <p:spTgt spid="104"/>
                                        </p:tgtEl>
                                      </p:cBhvr>
                                    </p:animEffect>
                                  </p:childTnLst>
                                </p:cTn>
                              </p:par>
                              <p:par>
                                <p:cTn id="23" presetID="42" presetClass="entr" presetSubtype="0" fill="hold" grpId="0" nodeType="withEffect">
                                  <p:stCondLst>
                                    <p:cond delay="44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55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42" presetClass="entr" presetSubtype="0" fill="hold" grpId="0" nodeType="withEffect">
                                  <p:stCondLst>
                                    <p:cond delay="66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par>
                                <p:cTn id="35" presetID="42" presetClass="entr" presetSubtype="0" fill="hold" grpId="0" nodeType="withEffect">
                                  <p:stCondLst>
                                    <p:cond delay="77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ppt_y</p:attrName>
                                        </p:attrNameLst>
                                      </p:cBhvr>
                                      <p:tavLst>
                                        <p:tav tm="0">
                                          <p:val>
                                            <p:strVal val="#ppt_y+0.06"/>
                                          </p:val>
                                        </p:tav>
                                        <p:tav tm="100000">
                                          <p:val>
                                            <p:strVal val="#ppt_y"/>
                                          </p:val>
                                        </p:tav>
                                      </p:tavLst>
                                    </p:anim>
                                  </p:childTnLst>
                                </p:cTn>
                              </p:par>
                              <p:par>
                                <p:cTn id="39" presetID="10" presetClass="entr" presetSubtype="0" fill="hold" grpId="0" nodeType="withEffect">
                                  <p:stCondLst>
                                    <p:cond delay="87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childTnLst>
                                </p:cTn>
                              </p:par>
                              <p:par>
                                <p:cTn id="42" presetID="10" presetClass="entr" presetSubtype="0" fill="hold" grpId="0" nodeType="withEffect">
                                  <p:stCondLst>
                                    <p:cond delay="870"/>
                                  </p:stCondLst>
                                  <p:childTnLst>
                                    <p:set>
                                      <p:cBhvr>
                                        <p:cTn id="43" dur="1" fill="hold">
                                          <p:stCondLst>
                                            <p:cond delay="0"/>
                                          </p:stCondLst>
                                        </p:cTn>
                                        <p:tgtEl>
                                          <p:spTgt spid="110"/>
                                        </p:tgtEl>
                                        <p:attrNameLst>
                                          <p:attrName>style.visibility</p:attrName>
                                        </p:attrNameLst>
                                      </p:cBhvr>
                                      <p:to>
                                        <p:strVal val="visible"/>
                                      </p:to>
                                    </p:set>
                                    <p:animEffect transition="in" filter="fade">
                                      <p:cBhvr>
                                        <p:cTn id="44" dur="500"/>
                                        <p:tgtEl>
                                          <p:spTgt spid="110"/>
                                        </p:tgtEl>
                                      </p:cBhvr>
                                    </p:animEffect>
                                  </p:childTnLst>
                                </p:cTn>
                              </p:par>
                              <p:par>
                                <p:cTn id="45" presetID="10" presetClass="entr" presetSubtype="0" fill="hold" grpId="0" nodeType="withEffect">
                                  <p:stCondLst>
                                    <p:cond delay="87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childTnLst>
                                </p:cTn>
                              </p:par>
                              <p:par>
                                <p:cTn id="48" presetID="10" presetClass="entr" presetSubtype="0" fill="hold" grpId="0" nodeType="withEffect">
                                  <p:stCondLst>
                                    <p:cond delay="870"/>
                                  </p:stCondLst>
                                  <p:childTnLst>
                                    <p:set>
                                      <p:cBhvr>
                                        <p:cTn id="49" dur="1" fill="hold">
                                          <p:stCondLst>
                                            <p:cond delay="0"/>
                                          </p:stCondLst>
                                        </p:cTn>
                                        <p:tgtEl>
                                          <p:spTgt spid="112"/>
                                        </p:tgtEl>
                                        <p:attrNameLst>
                                          <p:attrName>style.visibility</p:attrName>
                                        </p:attrNameLst>
                                      </p:cBhvr>
                                      <p:to>
                                        <p:strVal val="visible"/>
                                      </p:to>
                                    </p:set>
                                    <p:animEffect transition="in" filter="fade">
                                      <p:cBhvr>
                                        <p:cTn id="50" dur="500"/>
                                        <p:tgtEl>
                                          <p:spTgt spid="112"/>
                                        </p:tgtEl>
                                      </p:cBhvr>
                                    </p:animEffect>
                                  </p:childTnLst>
                                </p:cTn>
                              </p:par>
                              <p:par>
                                <p:cTn id="51" presetID="10" presetClass="entr" presetSubtype="0" fill="hold" grpId="0" nodeType="withEffect">
                                  <p:stCondLst>
                                    <p:cond delay="870"/>
                                  </p:stCondLst>
                                  <p:childTnLst>
                                    <p:set>
                                      <p:cBhvr>
                                        <p:cTn id="52" dur="1" fill="hold">
                                          <p:stCondLst>
                                            <p:cond delay="0"/>
                                          </p:stCondLst>
                                        </p:cTn>
                                        <p:tgtEl>
                                          <p:spTgt spid="113"/>
                                        </p:tgtEl>
                                        <p:attrNameLst>
                                          <p:attrName>style.visibility</p:attrName>
                                        </p:attrNameLst>
                                      </p:cBhvr>
                                      <p:to>
                                        <p:strVal val="visible"/>
                                      </p:to>
                                    </p:set>
                                    <p:animEffect transition="in" filter="fade">
                                      <p:cBhvr>
                                        <p:cTn id="53" dur="500"/>
                                        <p:tgtEl>
                                          <p:spTgt spid="113"/>
                                        </p:tgtEl>
                                      </p:cBhvr>
                                    </p:animEffect>
                                  </p:childTnLst>
                                </p:cTn>
                              </p:par>
                              <p:par>
                                <p:cTn id="54" presetID="10" presetClass="entr" presetSubtype="0" fill="hold" grpId="0" nodeType="withEffect">
                                  <p:stCondLst>
                                    <p:cond delay="870"/>
                                  </p:stCondLst>
                                  <p:childTnLst>
                                    <p:set>
                                      <p:cBhvr>
                                        <p:cTn id="55" dur="1" fill="hold">
                                          <p:stCondLst>
                                            <p:cond delay="0"/>
                                          </p:stCondLst>
                                        </p:cTn>
                                        <p:tgtEl>
                                          <p:spTgt spid="114"/>
                                        </p:tgtEl>
                                        <p:attrNameLst>
                                          <p:attrName>style.visibility</p:attrName>
                                        </p:attrNameLst>
                                      </p:cBhvr>
                                      <p:to>
                                        <p:strVal val="visible"/>
                                      </p:to>
                                    </p:set>
                                    <p:animEffect transition="in" filter="fade">
                                      <p:cBhvr>
                                        <p:cTn id="56" dur="500"/>
                                        <p:tgtEl>
                                          <p:spTgt spid="114"/>
                                        </p:tgtEl>
                                      </p:cBhvr>
                                    </p:animEffect>
                                  </p:childTnLst>
                                </p:cTn>
                              </p:par>
                              <p:par>
                                <p:cTn id="57" presetID="10" presetClass="entr" presetSubtype="0" fill="hold" grpId="0" nodeType="withEffect">
                                  <p:stCondLst>
                                    <p:cond delay="870"/>
                                  </p:stCondLst>
                                  <p:childTnLst>
                                    <p:set>
                                      <p:cBhvr>
                                        <p:cTn id="58" dur="1" fill="hold">
                                          <p:stCondLst>
                                            <p:cond delay="0"/>
                                          </p:stCondLst>
                                        </p:cTn>
                                        <p:tgtEl>
                                          <p:spTgt spid="115"/>
                                        </p:tgtEl>
                                        <p:attrNameLst>
                                          <p:attrName>style.visibility</p:attrName>
                                        </p:attrNameLst>
                                      </p:cBhvr>
                                      <p:to>
                                        <p:strVal val="visible"/>
                                      </p:to>
                                    </p:set>
                                    <p:animEffect transition="in" filter="fade">
                                      <p:cBhvr>
                                        <p:cTn id="59" dur="500"/>
                                        <p:tgtEl>
                                          <p:spTgt spid="115"/>
                                        </p:tgtEl>
                                      </p:cBhvr>
                                    </p:animEffect>
                                  </p:childTnLst>
                                </p:cTn>
                              </p:par>
                              <p:par>
                                <p:cTn id="60" presetID="10" presetClass="entr" presetSubtype="0" fill="hold" grpId="0" nodeType="withEffect">
                                  <p:stCondLst>
                                    <p:cond delay="870"/>
                                  </p:stCondLst>
                                  <p:childTnLst>
                                    <p:set>
                                      <p:cBhvr>
                                        <p:cTn id="61" dur="1" fill="hold">
                                          <p:stCondLst>
                                            <p:cond delay="0"/>
                                          </p:stCondLst>
                                        </p:cTn>
                                        <p:tgtEl>
                                          <p:spTgt spid="116"/>
                                        </p:tgtEl>
                                        <p:attrNameLst>
                                          <p:attrName>style.visibility</p:attrName>
                                        </p:attrNameLst>
                                      </p:cBhvr>
                                      <p:to>
                                        <p:strVal val="visible"/>
                                      </p:to>
                                    </p:set>
                                    <p:animEffect transition="in" filter="fade">
                                      <p:cBhvr>
                                        <p:cTn id="62" dur="500"/>
                                        <p:tgtEl>
                                          <p:spTgt spid="116"/>
                                        </p:tgtEl>
                                      </p:cBhvr>
                                    </p:animEffect>
                                  </p:childTnLst>
                                </p:cTn>
                              </p:par>
                              <p:par>
                                <p:cTn id="63" presetID="10" presetClass="entr" presetSubtype="0" fill="hold" grpId="0" nodeType="withEffect">
                                  <p:stCondLst>
                                    <p:cond delay="870"/>
                                  </p:stCondLst>
                                  <p:childTnLst>
                                    <p:set>
                                      <p:cBhvr>
                                        <p:cTn id="64" dur="1" fill="hold">
                                          <p:stCondLst>
                                            <p:cond delay="0"/>
                                          </p:stCondLst>
                                        </p:cTn>
                                        <p:tgtEl>
                                          <p:spTgt spid="117"/>
                                        </p:tgtEl>
                                        <p:attrNameLst>
                                          <p:attrName>style.visibility</p:attrName>
                                        </p:attrNameLst>
                                      </p:cBhvr>
                                      <p:to>
                                        <p:strVal val="visible"/>
                                      </p:to>
                                    </p:set>
                                    <p:animEffect transition="in" filter="fade">
                                      <p:cBhvr>
                                        <p:cTn id="65" dur="500"/>
                                        <p:tgtEl>
                                          <p:spTgt spid="117"/>
                                        </p:tgtEl>
                                      </p:cBhvr>
                                    </p:animEffect>
                                  </p:childTnLst>
                                </p:cTn>
                              </p:par>
                              <p:par>
                                <p:cTn id="66" presetID="10" presetClass="entr" presetSubtype="0" fill="hold" grpId="0" nodeType="withEffect">
                                  <p:stCondLst>
                                    <p:cond delay="870"/>
                                  </p:stCondLst>
                                  <p:childTnLst>
                                    <p:set>
                                      <p:cBhvr>
                                        <p:cTn id="67" dur="1" fill="hold">
                                          <p:stCondLst>
                                            <p:cond delay="0"/>
                                          </p:stCondLst>
                                        </p:cTn>
                                        <p:tgtEl>
                                          <p:spTgt spid="118"/>
                                        </p:tgtEl>
                                        <p:attrNameLst>
                                          <p:attrName>style.visibility</p:attrName>
                                        </p:attrNameLst>
                                      </p:cBhvr>
                                      <p:to>
                                        <p:strVal val="visible"/>
                                      </p:to>
                                    </p:set>
                                    <p:animEffect transition="in" filter="fade">
                                      <p:cBhvr>
                                        <p:cTn id="68" dur="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826618"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SPRINT 2</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Sprint 2 Begins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Feedback from Sprint 1 becomes the next priorities.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NEXT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296</a:t>
            </a:r>
            <a:endParaRPr lang="en-US" sz="850" dirty="0"/>
          </a:p>
        </p:txBody>
      </p:sp>
      <p:sp>
        <p:nvSpPr>
          <p:cNvPr id="101" name="s101"/>
          <p:cNvSpPr/>
          <p:nvPr/>
        </p:nvSpPr>
        <p:spPr>
          <a:xfrm>
            <a:off x="543154" y="1965960"/>
            <a:ext cx="5406847" cy="603504"/>
          </a:xfrm>
          <a:prstGeom prst="roundRect">
            <a:avLst>
              <a:gd name="adj" fmla="val 15000"/>
            </a:avLst>
          </a:prstGeom>
          <a:solidFill>
            <a:srgbClr val="111B2E"/>
          </a:solidFill>
          <a:ln w="12700">
            <a:solidFill>
              <a:srgbClr val="FBBF24"/>
            </a:solidFill>
            <a:prstDash val="solid"/>
          </a:ln>
        </p:spPr>
        <p:txBody>
          <a:bodyPr wrap="square" lIns="228600" tIns="0" rIns="91440" bIns="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Search patients by phone</a:t>
            </a:r>
            <a:endParaRPr lang="en-US" sz="1450" dirty="0"/>
          </a:p>
        </p:txBody>
      </p:sp>
      <p:sp>
        <p:nvSpPr>
          <p:cNvPr id="102" name="s102"/>
          <p:cNvSpPr/>
          <p:nvPr/>
        </p:nvSpPr>
        <p:spPr>
          <a:xfrm>
            <a:off x="3984041" y="2103120"/>
            <a:ext cx="1828800" cy="329184"/>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from Review feedback</a:t>
            </a:r>
            <a:endParaRPr lang="en-US" sz="1000" dirty="0"/>
          </a:p>
        </p:txBody>
      </p:sp>
      <p:sp>
        <p:nvSpPr>
          <p:cNvPr id="103" name="s103"/>
          <p:cNvSpPr/>
          <p:nvPr/>
        </p:nvSpPr>
        <p:spPr>
          <a:xfrm>
            <a:off x="6224321" y="1965960"/>
            <a:ext cx="5406847" cy="603504"/>
          </a:xfrm>
          <a:prstGeom prst="roundRect">
            <a:avLst>
              <a:gd name="adj" fmla="val 15000"/>
            </a:avLst>
          </a:prstGeom>
          <a:solidFill>
            <a:srgbClr val="111B2E"/>
          </a:solidFill>
          <a:ln w="12700">
            <a:solidFill>
              <a:srgbClr val="FBBF24"/>
            </a:solidFill>
            <a:prstDash val="solid"/>
          </a:ln>
        </p:spPr>
        <p:txBody>
          <a:bodyPr wrap="square" lIns="228600" tIns="0" rIns="91440" bIns="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Appointment audit history</a:t>
            </a:r>
            <a:endParaRPr lang="en-US" sz="1450" dirty="0"/>
          </a:p>
        </p:txBody>
      </p:sp>
      <p:sp>
        <p:nvSpPr>
          <p:cNvPr id="104" name="s104"/>
          <p:cNvSpPr/>
          <p:nvPr/>
        </p:nvSpPr>
        <p:spPr>
          <a:xfrm>
            <a:off x="9665208" y="2103120"/>
            <a:ext cx="1828800" cy="329184"/>
          </a:xfrm>
          <a:prstGeom prst="roundRect">
            <a:avLst>
              <a:gd name="adj" fmla="val 50000"/>
            </a:avLst>
          </a:prstGeom>
          <a:solidFill>
            <a:srgbClr val="FBBF24">
              <a:alpha val="18000"/>
            </a:srgbClr>
          </a:solidFill>
          <a:ln w="12700">
            <a:solidFill>
              <a:srgbClr val="FBBF24"/>
            </a:solidFill>
            <a:prstDash val="solid"/>
          </a:ln>
        </p:spPr>
        <p:txBody>
          <a:bodyPr wrap="square" lIns="36576" tIns="0" rIns="36576"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from Review feedback</a:t>
            </a:r>
            <a:endParaRPr lang="en-US" sz="1000" dirty="0"/>
          </a:p>
        </p:txBody>
      </p:sp>
      <p:sp>
        <p:nvSpPr>
          <p:cNvPr id="105" name="s105"/>
          <p:cNvSpPr/>
          <p:nvPr/>
        </p:nvSpPr>
        <p:spPr>
          <a:xfrm>
            <a:off x="543154" y="2715768"/>
            <a:ext cx="5406847" cy="603504"/>
          </a:xfrm>
          <a:prstGeom prst="roundRect">
            <a:avLst>
              <a:gd name="adj" fmla="val 15000"/>
            </a:avLst>
          </a:prstGeom>
          <a:solidFill>
            <a:srgbClr val="111B2E"/>
          </a:solidFill>
          <a:ln w="12700">
            <a:solidFill>
              <a:srgbClr val="1E3A5F"/>
            </a:solidFill>
            <a:prstDash val="solid"/>
          </a:ln>
        </p:spPr>
        <p:txBody>
          <a:bodyPr wrap="square" lIns="228600" tIns="0" rIns="91440" bIns="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Cancel an appointment</a:t>
            </a:r>
            <a:endParaRPr lang="en-US" sz="1450" dirty="0"/>
          </a:p>
        </p:txBody>
      </p:sp>
      <p:sp>
        <p:nvSpPr>
          <p:cNvPr id="106" name="s106"/>
          <p:cNvSpPr/>
          <p:nvPr/>
        </p:nvSpPr>
        <p:spPr>
          <a:xfrm>
            <a:off x="6224321" y="2715768"/>
            <a:ext cx="5406847" cy="603504"/>
          </a:xfrm>
          <a:prstGeom prst="roundRect">
            <a:avLst>
              <a:gd name="adj" fmla="val 15000"/>
            </a:avLst>
          </a:prstGeom>
          <a:solidFill>
            <a:srgbClr val="111B2E"/>
          </a:solidFill>
          <a:ln w="12700">
            <a:solidFill>
              <a:srgbClr val="1E3A5F"/>
            </a:solidFill>
            <a:prstDash val="solid"/>
          </a:ln>
        </p:spPr>
        <p:txBody>
          <a:bodyPr wrap="square" lIns="228600" tIns="0" rIns="91440" bIns="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Send SMS confirmation</a:t>
            </a:r>
            <a:endParaRPr lang="en-US" sz="1450" dirty="0"/>
          </a:p>
        </p:txBody>
      </p:sp>
      <p:sp>
        <p:nvSpPr>
          <p:cNvPr id="107" name="s107"/>
          <p:cNvSpPr/>
          <p:nvPr/>
        </p:nvSpPr>
        <p:spPr>
          <a:xfrm>
            <a:off x="543154" y="3465576"/>
            <a:ext cx="5406847" cy="603504"/>
          </a:xfrm>
          <a:prstGeom prst="roundRect">
            <a:avLst>
              <a:gd name="adj" fmla="val 15000"/>
            </a:avLst>
          </a:prstGeom>
          <a:solidFill>
            <a:srgbClr val="111B2E"/>
          </a:solidFill>
          <a:ln w="12700">
            <a:solidFill>
              <a:srgbClr val="1E3A5F"/>
            </a:solidFill>
            <a:prstDash val="solid"/>
          </a:ln>
        </p:spPr>
        <p:txBody>
          <a:bodyPr wrap="square" lIns="228600" tIns="0" rIns="91440" bIns="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Improve concurrency handling</a:t>
            </a:r>
            <a:endParaRPr lang="en-US" sz="1450" dirty="0"/>
          </a:p>
        </p:txBody>
      </p:sp>
      <p:sp>
        <p:nvSpPr>
          <p:cNvPr id="108" name="s108"/>
          <p:cNvSpPr/>
          <p:nvPr/>
        </p:nvSpPr>
        <p:spPr>
          <a:xfrm>
            <a:off x="6224321" y="3465576"/>
            <a:ext cx="5406847" cy="603504"/>
          </a:xfrm>
          <a:prstGeom prst="roundRect">
            <a:avLst>
              <a:gd name="adj" fmla="val 15000"/>
            </a:avLst>
          </a:prstGeom>
          <a:solidFill>
            <a:srgbClr val="111B2E"/>
          </a:solidFill>
          <a:ln w="12700">
            <a:solidFill>
              <a:srgbClr val="1E3A5F"/>
            </a:solidFill>
            <a:prstDash val="solid"/>
          </a:ln>
        </p:spPr>
        <p:txBody>
          <a:bodyPr wrap="square" lIns="228600" tIns="0" rIns="91440" bIns="0" rtlCol="0" anchor="ctr">
            <a:noAutofit/>
          </a:bodyPr>
          <a:lstStyle/>
          <a:p>
            <a:pPr marL="0" indent="0" algn="l">
              <a:spcBef>
                <a:spcPts val="0"/>
              </a:spcBef>
              <a:spcAft>
                <a:spcPts val="0"/>
              </a:spcAft>
              <a:buNone/>
            </a:pPr>
            <a:r>
              <a:rPr lang="en-US" sz="1450" b="1" dirty="0">
                <a:solidFill>
                  <a:srgbClr val="FFFFFF"/>
                </a:solidFill>
                <a:latin typeface="Segoe UI"/>
                <a:ea typeface="Segoe UI"/>
                <a:cs typeface="Segoe UI"/>
              </a:rPr>
              <a:t>Operational monitoring</a:t>
            </a:r>
            <a:endParaRPr lang="en-US" sz="1450" dirty="0"/>
          </a:p>
        </p:txBody>
      </p:sp>
      <p:sp>
        <p:nvSpPr>
          <p:cNvPr id="109" name="s109"/>
          <p:cNvSpPr/>
          <p:nvPr/>
        </p:nvSpPr>
        <p:spPr>
          <a:xfrm>
            <a:off x="543154" y="4434840"/>
            <a:ext cx="1572768" cy="548640"/>
          </a:xfrm>
          <a:prstGeom prst="roundRect">
            <a:avLst>
              <a:gd name="adj" fmla="val 30000"/>
            </a:avLst>
          </a:prstGeom>
          <a:solidFill>
            <a:srgbClr val="60A5FA">
              <a:alpha val="14000"/>
            </a:srgbClr>
          </a:solidFill>
          <a:ln w="12700">
            <a:solidFill>
              <a:srgbClr val="60A5FA"/>
            </a:solidFill>
            <a:prstDash val="solid"/>
          </a:ln>
        </p:spPr>
        <p:txBody>
          <a:bodyPr wrap="square" lIns="45720" tIns="0" rIns="45720" bIns="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Refine</a:t>
            </a:r>
            <a:endParaRPr lang="en-US" sz="1300" dirty="0"/>
          </a:p>
        </p:txBody>
      </p:sp>
      <p:sp>
        <p:nvSpPr>
          <p:cNvPr id="110" name="s110"/>
          <p:cNvSpPr/>
          <p:nvPr/>
        </p:nvSpPr>
        <p:spPr>
          <a:xfrm>
            <a:off x="2454250" y="4434840"/>
            <a:ext cx="1572768" cy="548640"/>
          </a:xfrm>
          <a:prstGeom prst="roundRect">
            <a:avLst>
              <a:gd name="adj" fmla="val 30000"/>
            </a:avLst>
          </a:prstGeom>
          <a:solidFill>
            <a:srgbClr val="60A5FA">
              <a:alpha val="14000"/>
            </a:srgbClr>
          </a:solidFill>
          <a:ln w="12700">
            <a:solidFill>
              <a:srgbClr val="60A5FA"/>
            </a:solidFill>
            <a:prstDash val="solid"/>
          </a:ln>
        </p:spPr>
        <p:txBody>
          <a:bodyPr wrap="square" lIns="45720" tIns="0" rIns="45720" bIns="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Plan</a:t>
            </a:r>
            <a:endParaRPr lang="en-US" sz="1300" dirty="0"/>
          </a:p>
        </p:txBody>
      </p:sp>
      <p:cxnSp>
        <p:nvCxnSpPr>
          <p:cNvPr id="111" name="ln111"/>
          <p:cNvCxnSpPr/>
          <p:nvPr/>
        </p:nvCxnSpPr>
        <p:spPr>
          <a:xfrm>
            <a:off x="2152498" y="4709160"/>
            <a:ext cx="265176" cy="0"/>
          </a:xfrm>
          <a:prstGeom prst="line">
            <a:avLst/>
          </a:prstGeom>
          <a:ln w="19050">
            <a:solidFill>
              <a:srgbClr val="60A5FA"/>
            </a:solidFill>
            <a:tailEnd type="triangle" w="med" len="med"/>
          </a:ln>
        </p:spPr>
      </p:cxnSp>
      <p:sp>
        <p:nvSpPr>
          <p:cNvPr id="112" name="s112"/>
          <p:cNvSpPr/>
          <p:nvPr/>
        </p:nvSpPr>
        <p:spPr>
          <a:xfrm>
            <a:off x="4365346" y="4434840"/>
            <a:ext cx="1572768" cy="548640"/>
          </a:xfrm>
          <a:prstGeom prst="roundRect">
            <a:avLst>
              <a:gd name="adj" fmla="val 30000"/>
            </a:avLst>
          </a:prstGeom>
          <a:solidFill>
            <a:srgbClr val="60A5FA">
              <a:alpha val="14000"/>
            </a:srgbClr>
          </a:solidFill>
          <a:ln w="12700">
            <a:solidFill>
              <a:srgbClr val="60A5FA"/>
            </a:solidFill>
            <a:prstDash val="solid"/>
          </a:ln>
        </p:spPr>
        <p:txBody>
          <a:bodyPr wrap="square" lIns="45720" tIns="0" rIns="45720" bIns="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Build</a:t>
            </a:r>
            <a:endParaRPr lang="en-US" sz="1300" dirty="0"/>
          </a:p>
        </p:txBody>
      </p:sp>
      <p:cxnSp>
        <p:nvCxnSpPr>
          <p:cNvPr id="113" name="ln113"/>
          <p:cNvCxnSpPr/>
          <p:nvPr/>
        </p:nvCxnSpPr>
        <p:spPr>
          <a:xfrm>
            <a:off x="4063594" y="4709160"/>
            <a:ext cx="265176" cy="0"/>
          </a:xfrm>
          <a:prstGeom prst="line">
            <a:avLst/>
          </a:prstGeom>
          <a:ln w="19050">
            <a:solidFill>
              <a:srgbClr val="60A5FA"/>
            </a:solidFill>
            <a:tailEnd type="triangle" w="med" len="med"/>
          </a:ln>
        </p:spPr>
      </p:cxnSp>
      <p:sp>
        <p:nvSpPr>
          <p:cNvPr id="114" name="s114"/>
          <p:cNvSpPr/>
          <p:nvPr/>
        </p:nvSpPr>
        <p:spPr>
          <a:xfrm>
            <a:off x="6276442" y="4434840"/>
            <a:ext cx="1572768" cy="548640"/>
          </a:xfrm>
          <a:prstGeom prst="roundRect">
            <a:avLst>
              <a:gd name="adj" fmla="val 30000"/>
            </a:avLst>
          </a:prstGeom>
          <a:solidFill>
            <a:srgbClr val="60A5FA">
              <a:alpha val="14000"/>
            </a:srgbClr>
          </a:solidFill>
          <a:ln w="12700">
            <a:solidFill>
              <a:srgbClr val="60A5FA"/>
            </a:solidFill>
            <a:prstDash val="solid"/>
          </a:ln>
        </p:spPr>
        <p:txBody>
          <a:bodyPr wrap="square" lIns="45720" tIns="0" rIns="45720" bIns="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Inspect</a:t>
            </a:r>
            <a:endParaRPr lang="en-US" sz="1300" dirty="0"/>
          </a:p>
        </p:txBody>
      </p:sp>
      <p:cxnSp>
        <p:nvCxnSpPr>
          <p:cNvPr id="115" name="ln115"/>
          <p:cNvCxnSpPr/>
          <p:nvPr/>
        </p:nvCxnSpPr>
        <p:spPr>
          <a:xfrm>
            <a:off x="5974690" y="4709160"/>
            <a:ext cx="265176" cy="0"/>
          </a:xfrm>
          <a:prstGeom prst="line">
            <a:avLst/>
          </a:prstGeom>
          <a:ln w="19050">
            <a:solidFill>
              <a:srgbClr val="60A5FA"/>
            </a:solidFill>
            <a:tailEnd type="triangle" w="med" len="med"/>
          </a:ln>
        </p:spPr>
      </p:cxnSp>
      <p:sp>
        <p:nvSpPr>
          <p:cNvPr id="116" name="s116"/>
          <p:cNvSpPr/>
          <p:nvPr/>
        </p:nvSpPr>
        <p:spPr>
          <a:xfrm>
            <a:off x="8187538" y="4434840"/>
            <a:ext cx="1572768" cy="548640"/>
          </a:xfrm>
          <a:prstGeom prst="roundRect">
            <a:avLst>
              <a:gd name="adj" fmla="val 30000"/>
            </a:avLst>
          </a:prstGeom>
          <a:solidFill>
            <a:srgbClr val="60A5FA">
              <a:alpha val="14000"/>
            </a:srgbClr>
          </a:solidFill>
          <a:ln w="12700">
            <a:solidFill>
              <a:srgbClr val="60A5FA"/>
            </a:solidFill>
            <a:prstDash val="solid"/>
          </a:ln>
        </p:spPr>
        <p:txBody>
          <a:bodyPr wrap="square" lIns="45720" tIns="0" rIns="45720" bIns="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Adapt</a:t>
            </a:r>
            <a:endParaRPr lang="en-US" sz="1300" dirty="0"/>
          </a:p>
        </p:txBody>
      </p:sp>
      <p:cxnSp>
        <p:nvCxnSpPr>
          <p:cNvPr id="117" name="ln117"/>
          <p:cNvCxnSpPr/>
          <p:nvPr/>
        </p:nvCxnSpPr>
        <p:spPr>
          <a:xfrm>
            <a:off x="7885786" y="4709160"/>
            <a:ext cx="265176" cy="0"/>
          </a:xfrm>
          <a:prstGeom prst="line">
            <a:avLst/>
          </a:prstGeom>
          <a:ln w="19050">
            <a:solidFill>
              <a:srgbClr val="60A5FA"/>
            </a:solidFill>
            <a:tailEnd type="triangle" w="med" len="med"/>
          </a:ln>
        </p:spPr>
      </p:cxnSp>
      <p:sp>
        <p:nvSpPr>
          <p:cNvPr id="118" name="s118"/>
          <p:cNvSpPr/>
          <p:nvPr/>
        </p:nvSpPr>
        <p:spPr>
          <a:xfrm>
            <a:off x="10098634" y="4434840"/>
            <a:ext cx="1572768" cy="548640"/>
          </a:xfrm>
          <a:prstGeom prst="roundRect">
            <a:avLst>
              <a:gd name="adj" fmla="val 30000"/>
            </a:avLst>
          </a:prstGeom>
          <a:solidFill>
            <a:srgbClr val="60A5FA">
              <a:alpha val="14000"/>
            </a:srgbClr>
          </a:solidFill>
          <a:ln w="12700">
            <a:solidFill>
              <a:srgbClr val="60A5FA"/>
            </a:solidFill>
            <a:prstDash val="solid"/>
          </a:ln>
        </p:spPr>
        <p:txBody>
          <a:bodyPr wrap="square" lIns="45720" tIns="0" rIns="45720" bIns="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Repeat</a:t>
            </a:r>
            <a:endParaRPr lang="en-US" sz="1300" dirty="0"/>
          </a:p>
        </p:txBody>
      </p:sp>
      <p:cxnSp>
        <p:nvCxnSpPr>
          <p:cNvPr id="119" name="ln119"/>
          <p:cNvCxnSpPr/>
          <p:nvPr/>
        </p:nvCxnSpPr>
        <p:spPr>
          <a:xfrm>
            <a:off x="9796882" y="4709160"/>
            <a:ext cx="265176" cy="0"/>
          </a:xfrm>
          <a:prstGeom prst="line">
            <a:avLst/>
          </a:prstGeom>
          <a:ln w="19050">
            <a:solidFill>
              <a:srgbClr val="60A5FA"/>
            </a:solidFill>
            <a:tailEnd type="triangle" w="med" len="med"/>
          </a:ln>
        </p:spPr>
      </p:cxn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11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11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22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33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44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55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ppt_x</p:attrName>
                                        </p:attrNameLst>
                                      </p:cBhvr>
                                      <p:tavLst>
                                        <p:tav tm="0">
                                          <p:val>
                                            <p:strVal val="#ppt_x-0.05"/>
                                          </p:val>
                                        </p:tav>
                                        <p:tav tm="100000">
                                          <p:val>
                                            <p:strVal val="#ppt_x"/>
                                          </p:val>
                                        </p:tav>
                                      </p:tavLst>
                                    </p:anim>
                                  </p:childTnLst>
                                </p:cTn>
                              </p:par>
                              <p:par>
                                <p:cTn id="43" presetID="42" presetClass="entr" presetSubtype="0" fill="hold" nodeType="withEffect">
                                  <p:stCondLst>
                                    <p:cond delay="180"/>
                                  </p:stCondLst>
                                  <p:childTnLst>
                                    <p:set>
                                      <p:cBhvr>
                                        <p:cTn id="44" dur="1" fill="hold">
                                          <p:stCondLst>
                                            <p:cond delay="0"/>
                                          </p:stCondLst>
                                        </p:cTn>
                                        <p:tgtEl>
                                          <p:spTgt spid="111"/>
                                        </p:tgtEl>
                                        <p:attrNameLst>
                                          <p:attrName>style.visibility</p:attrName>
                                        </p:attrNameLst>
                                      </p:cBhvr>
                                      <p:to>
                                        <p:strVal val="visible"/>
                                      </p:to>
                                    </p:set>
                                    <p:animEffect transition="in" filter="fade">
                                      <p:cBhvr>
                                        <p:cTn id="45" dur="500"/>
                                        <p:tgtEl>
                                          <p:spTgt spid="111"/>
                                        </p:tgtEl>
                                      </p:cBhvr>
                                    </p:animEffect>
                                    <p:anim calcmode="lin" valueType="num">
                                      <p:cBhvr additive="base">
                                        <p:cTn id="46" dur="500" decel="100000" fill="hold"/>
                                        <p:tgtEl>
                                          <p:spTgt spid="111"/>
                                        </p:tgtEl>
                                        <p:attrNameLst>
                                          <p:attrName>ppt_x</p:attrName>
                                        </p:attrNameLst>
                                      </p:cBhvr>
                                      <p:tavLst>
                                        <p:tav tm="0">
                                          <p:val>
                                            <p:strVal val="#ppt_x-0.05"/>
                                          </p:val>
                                        </p:tav>
                                        <p:tav tm="100000">
                                          <p:val>
                                            <p:strVal val="#ppt_x"/>
                                          </p:val>
                                        </p:tav>
                                      </p:tavLst>
                                    </p:anim>
                                  </p:childTnLst>
                                </p:cTn>
                              </p:par>
                              <p:par>
                                <p:cTn id="47" presetID="42" presetClass="entr" presetSubtype="0" fill="hold" grpId="0" nodeType="withEffect">
                                  <p:stCondLst>
                                    <p:cond delay="180"/>
                                  </p:stCondLst>
                                  <p:childTnLst>
                                    <p:set>
                                      <p:cBhvr>
                                        <p:cTn id="48" dur="1" fill="hold">
                                          <p:stCondLst>
                                            <p:cond delay="0"/>
                                          </p:stCondLst>
                                        </p:cTn>
                                        <p:tgtEl>
                                          <p:spTgt spid="110"/>
                                        </p:tgtEl>
                                        <p:attrNameLst>
                                          <p:attrName>style.visibility</p:attrName>
                                        </p:attrNameLst>
                                      </p:cBhvr>
                                      <p:to>
                                        <p:strVal val="visible"/>
                                      </p:to>
                                    </p:set>
                                    <p:animEffect transition="in" filter="fade">
                                      <p:cBhvr>
                                        <p:cTn id="49" dur="500"/>
                                        <p:tgtEl>
                                          <p:spTgt spid="110"/>
                                        </p:tgtEl>
                                      </p:cBhvr>
                                    </p:animEffect>
                                    <p:anim calcmode="lin" valueType="num">
                                      <p:cBhvr additive="base">
                                        <p:cTn id="50" dur="500" decel="100000" fill="hold"/>
                                        <p:tgtEl>
                                          <p:spTgt spid="110"/>
                                        </p:tgtEl>
                                        <p:attrNameLst>
                                          <p:attrName>ppt_x</p:attrName>
                                        </p:attrNameLst>
                                      </p:cBhvr>
                                      <p:tavLst>
                                        <p:tav tm="0">
                                          <p:val>
                                            <p:strVal val="#ppt_x-0.05"/>
                                          </p:val>
                                        </p:tav>
                                        <p:tav tm="100000">
                                          <p:val>
                                            <p:strVal val="#ppt_x"/>
                                          </p:val>
                                        </p:tav>
                                      </p:tavLst>
                                    </p:anim>
                                  </p:childTnLst>
                                </p:cTn>
                              </p:par>
                              <p:par>
                                <p:cTn id="51" presetID="42" presetClass="entr" presetSubtype="0" fill="hold" nodeType="withEffect">
                                  <p:stCondLst>
                                    <p:cond delay="360"/>
                                  </p:stCondLst>
                                  <p:childTnLst>
                                    <p:set>
                                      <p:cBhvr>
                                        <p:cTn id="52" dur="1" fill="hold">
                                          <p:stCondLst>
                                            <p:cond delay="0"/>
                                          </p:stCondLst>
                                        </p:cTn>
                                        <p:tgtEl>
                                          <p:spTgt spid="113"/>
                                        </p:tgtEl>
                                        <p:attrNameLst>
                                          <p:attrName>style.visibility</p:attrName>
                                        </p:attrNameLst>
                                      </p:cBhvr>
                                      <p:to>
                                        <p:strVal val="visible"/>
                                      </p:to>
                                    </p:set>
                                    <p:animEffect transition="in" filter="fade">
                                      <p:cBhvr>
                                        <p:cTn id="53" dur="500"/>
                                        <p:tgtEl>
                                          <p:spTgt spid="113"/>
                                        </p:tgtEl>
                                      </p:cBhvr>
                                    </p:animEffect>
                                    <p:anim calcmode="lin" valueType="num">
                                      <p:cBhvr additive="base">
                                        <p:cTn id="54" dur="500" decel="100000" fill="hold"/>
                                        <p:tgtEl>
                                          <p:spTgt spid="113"/>
                                        </p:tgtEl>
                                        <p:attrNameLst>
                                          <p:attrName>ppt_x</p:attrName>
                                        </p:attrNameLst>
                                      </p:cBhvr>
                                      <p:tavLst>
                                        <p:tav tm="0">
                                          <p:val>
                                            <p:strVal val="#ppt_x-0.05"/>
                                          </p:val>
                                        </p:tav>
                                        <p:tav tm="100000">
                                          <p:val>
                                            <p:strVal val="#ppt_x"/>
                                          </p:val>
                                        </p:tav>
                                      </p:tavLst>
                                    </p:anim>
                                  </p:childTnLst>
                                </p:cTn>
                              </p:par>
                              <p:par>
                                <p:cTn id="55" presetID="42" presetClass="entr" presetSubtype="0" fill="hold" grpId="0" nodeType="withEffect">
                                  <p:stCondLst>
                                    <p:cond delay="360"/>
                                  </p:stCondLst>
                                  <p:childTnLst>
                                    <p:set>
                                      <p:cBhvr>
                                        <p:cTn id="56" dur="1" fill="hold">
                                          <p:stCondLst>
                                            <p:cond delay="0"/>
                                          </p:stCondLst>
                                        </p:cTn>
                                        <p:tgtEl>
                                          <p:spTgt spid="112"/>
                                        </p:tgtEl>
                                        <p:attrNameLst>
                                          <p:attrName>style.visibility</p:attrName>
                                        </p:attrNameLst>
                                      </p:cBhvr>
                                      <p:to>
                                        <p:strVal val="visible"/>
                                      </p:to>
                                    </p:set>
                                    <p:animEffect transition="in" filter="fade">
                                      <p:cBhvr>
                                        <p:cTn id="57" dur="500"/>
                                        <p:tgtEl>
                                          <p:spTgt spid="112"/>
                                        </p:tgtEl>
                                      </p:cBhvr>
                                    </p:animEffect>
                                    <p:anim calcmode="lin" valueType="num">
                                      <p:cBhvr additive="base">
                                        <p:cTn id="58" dur="500" decel="100000" fill="hold"/>
                                        <p:tgtEl>
                                          <p:spTgt spid="112"/>
                                        </p:tgtEl>
                                        <p:attrNameLst>
                                          <p:attrName>ppt_x</p:attrName>
                                        </p:attrNameLst>
                                      </p:cBhvr>
                                      <p:tavLst>
                                        <p:tav tm="0">
                                          <p:val>
                                            <p:strVal val="#ppt_x-0.05"/>
                                          </p:val>
                                        </p:tav>
                                        <p:tav tm="100000">
                                          <p:val>
                                            <p:strVal val="#ppt_x"/>
                                          </p:val>
                                        </p:tav>
                                      </p:tavLst>
                                    </p:anim>
                                  </p:childTnLst>
                                </p:cTn>
                              </p:par>
                              <p:par>
                                <p:cTn id="59" presetID="42" presetClass="entr" presetSubtype="0" fill="hold" nodeType="withEffect">
                                  <p:stCondLst>
                                    <p:cond delay="540"/>
                                  </p:stCondLst>
                                  <p:childTnLst>
                                    <p:set>
                                      <p:cBhvr>
                                        <p:cTn id="60" dur="1" fill="hold">
                                          <p:stCondLst>
                                            <p:cond delay="0"/>
                                          </p:stCondLst>
                                        </p:cTn>
                                        <p:tgtEl>
                                          <p:spTgt spid="115"/>
                                        </p:tgtEl>
                                        <p:attrNameLst>
                                          <p:attrName>style.visibility</p:attrName>
                                        </p:attrNameLst>
                                      </p:cBhvr>
                                      <p:to>
                                        <p:strVal val="visible"/>
                                      </p:to>
                                    </p:set>
                                    <p:animEffect transition="in" filter="fade">
                                      <p:cBhvr>
                                        <p:cTn id="61" dur="500"/>
                                        <p:tgtEl>
                                          <p:spTgt spid="115"/>
                                        </p:tgtEl>
                                      </p:cBhvr>
                                    </p:animEffect>
                                    <p:anim calcmode="lin" valueType="num">
                                      <p:cBhvr additive="base">
                                        <p:cTn id="62" dur="500" decel="100000" fill="hold"/>
                                        <p:tgtEl>
                                          <p:spTgt spid="115"/>
                                        </p:tgtEl>
                                        <p:attrNameLst>
                                          <p:attrName>ppt_x</p:attrName>
                                        </p:attrNameLst>
                                      </p:cBhvr>
                                      <p:tavLst>
                                        <p:tav tm="0">
                                          <p:val>
                                            <p:strVal val="#ppt_x-0.05"/>
                                          </p:val>
                                        </p:tav>
                                        <p:tav tm="100000">
                                          <p:val>
                                            <p:strVal val="#ppt_x"/>
                                          </p:val>
                                        </p:tav>
                                      </p:tavLst>
                                    </p:anim>
                                  </p:childTnLst>
                                </p:cTn>
                              </p:par>
                              <p:par>
                                <p:cTn id="63" presetID="42" presetClass="entr" presetSubtype="0" fill="hold" grpId="0" nodeType="withEffect">
                                  <p:stCondLst>
                                    <p:cond delay="540"/>
                                  </p:stCondLst>
                                  <p:childTnLst>
                                    <p:set>
                                      <p:cBhvr>
                                        <p:cTn id="64" dur="1" fill="hold">
                                          <p:stCondLst>
                                            <p:cond delay="0"/>
                                          </p:stCondLst>
                                        </p:cTn>
                                        <p:tgtEl>
                                          <p:spTgt spid="114"/>
                                        </p:tgtEl>
                                        <p:attrNameLst>
                                          <p:attrName>style.visibility</p:attrName>
                                        </p:attrNameLst>
                                      </p:cBhvr>
                                      <p:to>
                                        <p:strVal val="visible"/>
                                      </p:to>
                                    </p:set>
                                    <p:animEffect transition="in" filter="fade">
                                      <p:cBhvr>
                                        <p:cTn id="65" dur="500"/>
                                        <p:tgtEl>
                                          <p:spTgt spid="114"/>
                                        </p:tgtEl>
                                      </p:cBhvr>
                                    </p:animEffect>
                                    <p:anim calcmode="lin" valueType="num">
                                      <p:cBhvr additive="base">
                                        <p:cTn id="66" dur="500" decel="100000" fill="hold"/>
                                        <p:tgtEl>
                                          <p:spTgt spid="114"/>
                                        </p:tgtEl>
                                        <p:attrNameLst>
                                          <p:attrName>ppt_x</p:attrName>
                                        </p:attrNameLst>
                                      </p:cBhvr>
                                      <p:tavLst>
                                        <p:tav tm="0">
                                          <p:val>
                                            <p:strVal val="#ppt_x-0.05"/>
                                          </p:val>
                                        </p:tav>
                                        <p:tav tm="100000">
                                          <p:val>
                                            <p:strVal val="#ppt_x"/>
                                          </p:val>
                                        </p:tav>
                                      </p:tavLst>
                                    </p:anim>
                                  </p:childTnLst>
                                </p:cTn>
                              </p:par>
                              <p:par>
                                <p:cTn id="67" presetID="42" presetClass="entr" presetSubtype="0" fill="hold" nodeType="withEffect">
                                  <p:stCondLst>
                                    <p:cond delay="720"/>
                                  </p:stCondLst>
                                  <p:childTnLst>
                                    <p:set>
                                      <p:cBhvr>
                                        <p:cTn id="68" dur="1" fill="hold">
                                          <p:stCondLst>
                                            <p:cond delay="0"/>
                                          </p:stCondLst>
                                        </p:cTn>
                                        <p:tgtEl>
                                          <p:spTgt spid="117"/>
                                        </p:tgtEl>
                                        <p:attrNameLst>
                                          <p:attrName>style.visibility</p:attrName>
                                        </p:attrNameLst>
                                      </p:cBhvr>
                                      <p:to>
                                        <p:strVal val="visible"/>
                                      </p:to>
                                    </p:set>
                                    <p:animEffect transition="in" filter="fade">
                                      <p:cBhvr>
                                        <p:cTn id="69" dur="500"/>
                                        <p:tgtEl>
                                          <p:spTgt spid="117"/>
                                        </p:tgtEl>
                                      </p:cBhvr>
                                    </p:animEffect>
                                    <p:anim calcmode="lin" valueType="num">
                                      <p:cBhvr additive="base">
                                        <p:cTn id="70" dur="500" decel="100000" fill="hold"/>
                                        <p:tgtEl>
                                          <p:spTgt spid="117"/>
                                        </p:tgtEl>
                                        <p:attrNameLst>
                                          <p:attrName>ppt_x</p:attrName>
                                        </p:attrNameLst>
                                      </p:cBhvr>
                                      <p:tavLst>
                                        <p:tav tm="0">
                                          <p:val>
                                            <p:strVal val="#ppt_x-0.05"/>
                                          </p:val>
                                        </p:tav>
                                        <p:tav tm="100000">
                                          <p:val>
                                            <p:strVal val="#ppt_x"/>
                                          </p:val>
                                        </p:tav>
                                      </p:tavLst>
                                    </p:anim>
                                  </p:childTnLst>
                                </p:cTn>
                              </p:par>
                              <p:par>
                                <p:cTn id="71" presetID="42" presetClass="entr" presetSubtype="0" fill="hold" grpId="0" nodeType="withEffect">
                                  <p:stCondLst>
                                    <p:cond delay="720"/>
                                  </p:stCondLst>
                                  <p:childTnLst>
                                    <p:set>
                                      <p:cBhvr>
                                        <p:cTn id="72" dur="1" fill="hold">
                                          <p:stCondLst>
                                            <p:cond delay="0"/>
                                          </p:stCondLst>
                                        </p:cTn>
                                        <p:tgtEl>
                                          <p:spTgt spid="116"/>
                                        </p:tgtEl>
                                        <p:attrNameLst>
                                          <p:attrName>style.visibility</p:attrName>
                                        </p:attrNameLst>
                                      </p:cBhvr>
                                      <p:to>
                                        <p:strVal val="visible"/>
                                      </p:to>
                                    </p:set>
                                    <p:animEffect transition="in" filter="fade">
                                      <p:cBhvr>
                                        <p:cTn id="73" dur="500"/>
                                        <p:tgtEl>
                                          <p:spTgt spid="116"/>
                                        </p:tgtEl>
                                      </p:cBhvr>
                                    </p:animEffect>
                                    <p:anim calcmode="lin" valueType="num">
                                      <p:cBhvr additive="base">
                                        <p:cTn id="74" dur="500" decel="100000" fill="hold"/>
                                        <p:tgtEl>
                                          <p:spTgt spid="116"/>
                                        </p:tgtEl>
                                        <p:attrNameLst>
                                          <p:attrName>ppt_x</p:attrName>
                                        </p:attrNameLst>
                                      </p:cBhvr>
                                      <p:tavLst>
                                        <p:tav tm="0">
                                          <p:val>
                                            <p:strVal val="#ppt_x-0.05"/>
                                          </p:val>
                                        </p:tav>
                                        <p:tav tm="100000">
                                          <p:val>
                                            <p:strVal val="#ppt_x"/>
                                          </p:val>
                                        </p:tav>
                                      </p:tavLst>
                                    </p:anim>
                                  </p:childTnLst>
                                </p:cTn>
                              </p:par>
                              <p:par>
                                <p:cTn id="75" presetID="42" presetClass="entr" presetSubtype="0" fill="hold" nodeType="withEffect">
                                  <p:stCondLst>
                                    <p:cond delay="900"/>
                                  </p:stCondLst>
                                  <p:childTnLst>
                                    <p:set>
                                      <p:cBhvr>
                                        <p:cTn id="76" dur="1" fill="hold">
                                          <p:stCondLst>
                                            <p:cond delay="0"/>
                                          </p:stCondLst>
                                        </p:cTn>
                                        <p:tgtEl>
                                          <p:spTgt spid="119"/>
                                        </p:tgtEl>
                                        <p:attrNameLst>
                                          <p:attrName>style.visibility</p:attrName>
                                        </p:attrNameLst>
                                      </p:cBhvr>
                                      <p:to>
                                        <p:strVal val="visible"/>
                                      </p:to>
                                    </p:set>
                                    <p:animEffect transition="in" filter="fade">
                                      <p:cBhvr>
                                        <p:cTn id="77" dur="500"/>
                                        <p:tgtEl>
                                          <p:spTgt spid="119"/>
                                        </p:tgtEl>
                                      </p:cBhvr>
                                    </p:animEffect>
                                    <p:anim calcmode="lin" valueType="num">
                                      <p:cBhvr additive="base">
                                        <p:cTn id="78" dur="500" decel="100000" fill="hold"/>
                                        <p:tgtEl>
                                          <p:spTgt spid="119"/>
                                        </p:tgtEl>
                                        <p:attrNameLst>
                                          <p:attrName>ppt_x</p:attrName>
                                        </p:attrNameLst>
                                      </p:cBhvr>
                                      <p:tavLst>
                                        <p:tav tm="0">
                                          <p:val>
                                            <p:strVal val="#ppt_x-0.05"/>
                                          </p:val>
                                        </p:tav>
                                        <p:tav tm="100000">
                                          <p:val>
                                            <p:strVal val="#ppt_x"/>
                                          </p:val>
                                        </p:tav>
                                      </p:tavLst>
                                    </p:anim>
                                  </p:childTnLst>
                                </p:cTn>
                              </p:par>
                              <p:par>
                                <p:cTn id="79" presetID="42" presetClass="entr" presetSubtype="0" fill="hold" grpId="0" nodeType="withEffect">
                                  <p:stCondLst>
                                    <p:cond delay="900"/>
                                  </p:stCondLst>
                                  <p:childTnLst>
                                    <p:set>
                                      <p:cBhvr>
                                        <p:cTn id="80" dur="1" fill="hold">
                                          <p:stCondLst>
                                            <p:cond delay="0"/>
                                          </p:stCondLst>
                                        </p:cTn>
                                        <p:tgtEl>
                                          <p:spTgt spid="118"/>
                                        </p:tgtEl>
                                        <p:attrNameLst>
                                          <p:attrName>style.visibility</p:attrName>
                                        </p:attrNameLst>
                                      </p:cBhvr>
                                      <p:to>
                                        <p:strVal val="visible"/>
                                      </p:to>
                                    </p:set>
                                    <p:animEffect transition="in" filter="fade">
                                      <p:cBhvr>
                                        <p:cTn id="81" dur="500"/>
                                        <p:tgtEl>
                                          <p:spTgt spid="118"/>
                                        </p:tgtEl>
                                      </p:cBhvr>
                                    </p:animEffect>
                                    <p:anim calcmode="lin" valueType="num">
                                      <p:cBhvr additive="base">
                                        <p:cTn id="82" dur="500" decel="100000" fill="hold"/>
                                        <p:tgtEl>
                                          <p:spTgt spid="118"/>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2" grpId="0" animBg="1"/>
      <p:bldP spid="114" grpId="0" animBg="1"/>
      <p:bldP spid="116" grpId="0" animBg="1"/>
      <p:bldP spid="118"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RECAP</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Scrum at a Glance: 3 · 5 · 3</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Everything we lived in one Sprint, in the Scrum Guide’s own words.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RECAP</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297</a:t>
            </a:r>
            <a:endParaRPr lang="en-US" sz="850" dirty="0"/>
          </a:p>
        </p:txBody>
      </p:sp>
      <p:sp>
        <p:nvSpPr>
          <p:cNvPr id="101" name="s101"/>
          <p:cNvSpPr/>
          <p:nvPr/>
        </p:nvSpPr>
        <p:spPr>
          <a:xfrm>
            <a:off x="543154" y="1920240"/>
            <a:ext cx="3543605" cy="3246120"/>
          </a:xfrm>
          <a:prstGeom prst="roundRect">
            <a:avLst>
              <a:gd name="adj" fmla="val 8000"/>
            </a:avLst>
          </a:prstGeom>
          <a:solidFill>
            <a:srgbClr val="111B2E"/>
          </a:solidFill>
          <a:ln w="19050">
            <a:solidFill>
              <a:srgbClr val="13D0F7"/>
            </a:solidFill>
            <a:prstDash val="solid"/>
          </a:ln>
        </p:spPr>
        <p:txBody>
          <a:bodyPr wrap="square" lIns="164592" tIns="109728" rIns="137160" bIns="91440" rtlCol="0" anchor="t">
            <a:noAutofit/>
          </a:bodyPr>
          <a:lstStyle/>
          <a:p>
            <a:endParaRPr lang="en-US"/>
          </a:p>
        </p:txBody>
      </p:sp>
      <p:sp>
        <p:nvSpPr>
          <p:cNvPr id="102" name="s102"/>
          <p:cNvSpPr txBox="1"/>
          <p:nvPr/>
        </p:nvSpPr>
        <p:spPr>
          <a:xfrm>
            <a:off x="771754" y="1965960"/>
            <a:ext cx="914400" cy="7315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4000" b="1" dirty="0">
                <a:solidFill>
                  <a:srgbClr val="13D0F7"/>
                </a:solidFill>
                <a:latin typeface="Segoe UI"/>
                <a:ea typeface="Segoe UI"/>
                <a:cs typeface="Segoe UI"/>
              </a:rPr>
              <a:t>3</a:t>
            </a:r>
            <a:endParaRPr lang="en-US" sz="4000" dirty="0"/>
          </a:p>
        </p:txBody>
      </p:sp>
      <p:sp>
        <p:nvSpPr>
          <p:cNvPr id="103" name="s103"/>
          <p:cNvSpPr txBox="1"/>
          <p:nvPr/>
        </p:nvSpPr>
        <p:spPr>
          <a:xfrm>
            <a:off x="1503274" y="2011680"/>
            <a:ext cx="2446325"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ACCOUNTABILITIES</a:t>
            </a:r>
            <a:endParaRPr lang="en-US" sz="1250" dirty="0"/>
          </a:p>
        </p:txBody>
      </p:sp>
      <p:sp>
        <p:nvSpPr>
          <p:cNvPr id="104" name="s104"/>
          <p:cNvSpPr/>
          <p:nvPr/>
        </p:nvSpPr>
        <p:spPr>
          <a:xfrm>
            <a:off x="726034" y="2743200"/>
            <a:ext cx="3177845" cy="713232"/>
          </a:xfrm>
          <a:prstGeom prst="roundRect">
            <a:avLst>
              <a:gd name="adj" fmla="val 20000"/>
            </a:avLst>
          </a:prstGeom>
          <a:solidFill>
            <a:srgbClr val="13D0F7">
              <a:alpha val="10000"/>
            </a:srgbClr>
          </a:solidFill>
          <a:ln>
            <a:noFill/>
          </a:ln>
        </p:spPr>
        <p:txBody>
          <a:bodyPr wrap="square" lIns="164592"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Product Owner</a:t>
            </a:r>
            <a:r>
              <a:rPr lang="en-US" sz="1200" b="0" dirty="0">
                <a:solidFill>
                  <a:srgbClr val="94A3B8"/>
                </a:solidFill>
                <a:latin typeface="Segoe UI"/>
                <a:ea typeface="Segoe UI"/>
                <a:cs typeface="Segoe UI"/>
              </a:rPr>
              <a:t>   Sarah</a:t>
            </a:r>
            <a:endParaRPr lang="en-US" sz="1200" dirty="0"/>
          </a:p>
        </p:txBody>
      </p:sp>
      <p:sp>
        <p:nvSpPr>
          <p:cNvPr id="105" name="s105"/>
          <p:cNvSpPr/>
          <p:nvPr/>
        </p:nvSpPr>
        <p:spPr>
          <a:xfrm>
            <a:off x="726034" y="3511296"/>
            <a:ext cx="3177845" cy="713232"/>
          </a:xfrm>
          <a:prstGeom prst="roundRect">
            <a:avLst>
              <a:gd name="adj" fmla="val 20000"/>
            </a:avLst>
          </a:prstGeom>
          <a:solidFill>
            <a:srgbClr val="13D0F7">
              <a:alpha val="10000"/>
            </a:srgbClr>
          </a:solidFill>
          <a:ln>
            <a:noFill/>
          </a:ln>
        </p:spPr>
        <p:txBody>
          <a:bodyPr wrap="square" lIns="164592"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Scrum Master</a:t>
            </a:r>
            <a:r>
              <a:rPr lang="en-US" sz="1200" b="0" dirty="0">
                <a:solidFill>
                  <a:srgbClr val="94A3B8"/>
                </a:solidFill>
                <a:latin typeface="Segoe UI"/>
                <a:ea typeface="Segoe UI"/>
                <a:cs typeface="Segoe UI"/>
              </a:rPr>
              <a:t>   Adam</a:t>
            </a:r>
            <a:endParaRPr lang="en-US" sz="1200" dirty="0"/>
          </a:p>
        </p:txBody>
      </p:sp>
      <p:sp>
        <p:nvSpPr>
          <p:cNvPr id="106" name="s106"/>
          <p:cNvSpPr/>
          <p:nvPr/>
        </p:nvSpPr>
        <p:spPr>
          <a:xfrm>
            <a:off x="726034" y="4279392"/>
            <a:ext cx="3177845" cy="713232"/>
          </a:xfrm>
          <a:prstGeom prst="roundRect">
            <a:avLst>
              <a:gd name="adj" fmla="val 20000"/>
            </a:avLst>
          </a:prstGeom>
          <a:solidFill>
            <a:srgbClr val="13D0F7">
              <a:alpha val="10000"/>
            </a:srgbClr>
          </a:solidFill>
          <a:ln>
            <a:noFill/>
          </a:ln>
        </p:spPr>
        <p:txBody>
          <a:bodyPr wrap="square" lIns="164592"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Developers</a:t>
            </a:r>
            <a:r>
              <a:rPr lang="en-US" sz="1200" b="0" dirty="0">
                <a:solidFill>
                  <a:srgbClr val="94A3B8"/>
                </a:solidFill>
                <a:latin typeface="Segoe UI"/>
                <a:ea typeface="Segoe UI"/>
                <a:cs typeface="Segoe UI"/>
              </a:rPr>
              <a:t>   Omar · Lina · Maya · Daniel</a:t>
            </a:r>
            <a:endParaRPr lang="en-US" sz="1200" dirty="0"/>
          </a:p>
        </p:txBody>
      </p:sp>
      <p:sp>
        <p:nvSpPr>
          <p:cNvPr id="107" name="s107"/>
          <p:cNvSpPr/>
          <p:nvPr/>
        </p:nvSpPr>
        <p:spPr>
          <a:xfrm>
            <a:off x="4315358" y="1920240"/>
            <a:ext cx="3543605" cy="3246120"/>
          </a:xfrm>
          <a:prstGeom prst="roundRect">
            <a:avLst>
              <a:gd name="adj" fmla="val 8000"/>
            </a:avLst>
          </a:prstGeom>
          <a:solidFill>
            <a:srgbClr val="111B2E"/>
          </a:solidFill>
          <a:ln w="19050">
            <a:solidFill>
              <a:srgbClr val="FBBF24"/>
            </a:solidFill>
            <a:prstDash val="solid"/>
          </a:ln>
        </p:spPr>
        <p:txBody>
          <a:bodyPr wrap="square" lIns="164592" tIns="109728" rIns="137160" bIns="91440" rtlCol="0" anchor="t">
            <a:noAutofit/>
          </a:bodyPr>
          <a:lstStyle/>
          <a:p>
            <a:endParaRPr lang="en-US"/>
          </a:p>
        </p:txBody>
      </p:sp>
      <p:sp>
        <p:nvSpPr>
          <p:cNvPr id="108" name="s108"/>
          <p:cNvSpPr txBox="1"/>
          <p:nvPr/>
        </p:nvSpPr>
        <p:spPr>
          <a:xfrm>
            <a:off x="4543958" y="1965960"/>
            <a:ext cx="914400" cy="7315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4000" b="1" dirty="0">
                <a:solidFill>
                  <a:srgbClr val="FBBF24"/>
                </a:solidFill>
                <a:latin typeface="Segoe UI"/>
                <a:ea typeface="Segoe UI"/>
                <a:cs typeface="Segoe UI"/>
              </a:rPr>
              <a:t>5</a:t>
            </a:r>
            <a:endParaRPr lang="en-US" sz="4000" dirty="0"/>
          </a:p>
        </p:txBody>
      </p:sp>
      <p:sp>
        <p:nvSpPr>
          <p:cNvPr id="109" name="s109"/>
          <p:cNvSpPr txBox="1"/>
          <p:nvPr/>
        </p:nvSpPr>
        <p:spPr>
          <a:xfrm>
            <a:off x="5275478" y="2011680"/>
            <a:ext cx="2446325"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EVENTS</a:t>
            </a:r>
            <a:endParaRPr lang="en-US" sz="1250" dirty="0"/>
          </a:p>
        </p:txBody>
      </p:sp>
      <p:sp>
        <p:nvSpPr>
          <p:cNvPr id="110" name="s110"/>
          <p:cNvSpPr/>
          <p:nvPr/>
        </p:nvSpPr>
        <p:spPr>
          <a:xfrm>
            <a:off x="4498238" y="2743200"/>
            <a:ext cx="3177845" cy="420624"/>
          </a:xfrm>
          <a:prstGeom prst="roundRect">
            <a:avLst>
              <a:gd name="adj" fmla="val 20000"/>
            </a:avLst>
          </a:prstGeom>
          <a:solidFill>
            <a:srgbClr val="FBBF24">
              <a:alpha val="10000"/>
            </a:srgbClr>
          </a:solidFill>
          <a:ln>
            <a:noFill/>
          </a:ln>
        </p:spPr>
        <p:txBody>
          <a:bodyPr wrap="square" lIns="164592"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The Sprint</a:t>
            </a:r>
            <a:r>
              <a:rPr lang="en-US" sz="1200" b="0" dirty="0">
                <a:solidFill>
                  <a:srgbClr val="94A3B8"/>
                </a:solidFill>
                <a:latin typeface="Segoe UI"/>
                <a:ea typeface="Segoe UI"/>
                <a:cs typeface="Segoe UI"/>
              </a:rPr>
              <a:t>   the container</a:t>
            </a:r>
            <a:endParaRPr lang="en-US" sz="1200" dirty="0"/>
          </a:p>
        </p:txBody>
      </p:sp>
      <p:sp>
        <p:nvSpPr>
          <p:cNvPr id="111" name="s111"/>
          <p:cNvSpPr/>
          <p:nvPr/>
        </p:nvSpPr>
        <p:spPr>
          <a:xfrm>
            <a:off x="4498238" y="3218688"/>
            <a:ext cx="3177845" cy="420624"/>
          </a:xfrm>
          <a:prstGeom prst="roundRect">
            <a:avLst>
              <a:gd name="adj" fmla="val 20000"/>
            </a:avLst>
          </a:prstGeom>
          <a:solidFill>
            <a:srgbClr val="FBBF24">
              <a:alpha val="10000"/>
            </a:srgbClr>
          </a:solidFill>
          <a:ln>
            <a:noFill/>
          </a:ln>
        </p:spPr>
        <p:txBody>
          <a:bodyPr wrap="square" lIns="164592"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Sprint Planning</a:t>
            </a:r>
            <a:r>
              <a:rPr lang="en-US" sz="1200" b="0" dirty="0">
                <a:solidFill>
                  <a:srgbClr val="94A3B8"/>
                </a:solidFill>
                <a:latin typeface="Segoe UI"/>
                <a:ea typeface="Segoe UI"/>
                <a:cs typeface="Segoe UI"/>
              </a:rPr>
              <a:t>   why · what · how</a:t>
            </a:r>
            <a:endParaRPr lang="en-US" sz="1200" dirty="0"/>
          </a:p>
        </p:txBody>
      </p:sp>
      <p:sp>
        <p:nvSpPr>
          <p:cNvPr id="112" name="s112"/>
          <p:cNvSpPr/>
          <p:nvPr/>
        </p:nvSpPr>
        <p:spPr>
          <a:xfrm>
            <a:off x="4498238" y="3694176"/>
            <a:ext cx="3177845" cy="420624"/>
          </a:xfrm>
          <a:prstGeom prst="roundRect">
            <a:avLst>
              <a:gd name="adj" fmla="val 20000"/>
            </a:avLst>
          </a:prstGeom>
          <a:solidFill>
            <a:srgbClr val="FBBF24">
              <a:alpha val="10000"/>
            </a:srgbClr>
          </a:solidFill>
          <a:ln>
            <a:noFill/>
          </a:ln>
        </p:spPr>
        <p:txBody>
          <a:bodyPr wrap="square" lIns="164592"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Daily Scrum</a:t>
            </a:r>
            <a:r>
              <a:rPr lang="en-US" sz="1200" b="0" dirty="0">
                <a:solidFill>
                  <a:srgbClr val="94A3B8"/>
                </a:solidFill>
                <a:latin typeface="Segoe UI"/>
                <a:ea typeface="Segoe UI"/>
                <a:cs typeface="Segoe UI"/>
              </a:rPr>
              <a:t>   15 minutes</a:t>
            </a:r>
            <a:endParaRPr lang="en-US" sz="1200" dirty="0"/>
          </a:p>
        </p:txBody>
      </p:sp>
      <p:sp>
        <p:nvSpPr>
          <p:cNvPr id="113" name="s113"/>
          <p:cNvSpPr/>
          <p:nvPr/>
        </p:nvSpPr>
        <p:spPr>
          <a:xfrm>
            <a:off x="4498238" y="4169664"/>
            <a:ext cx="3177845" cy="420624"/>
          </a:xfrm>
          <a:prstGeom prst="roundRect">
            <a:avLst>
              <a:gd name="adj" fmla="val 20000"/>
            </a:avLst>
          </a:prstGeom>
          <a:solidFill>
            <a:srgbClr val="FBBF24">
              <a:alpha val="10000"/>
            </a:srgbClr>
          </a:solidFill>
          <a:ln>
            <a:noFill/>
          </a:ln>
        </p:spPr>
        <p:txBody>
          <a:bodyPr wrap="square" lIns="164592"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Sprint Review</a:t>
            </a:r>
            <a:r>
              <a:rPr lang="en-US" sz="1200" b="0" dirty="0">
                <a:solidFill>
                  <a:srgbClr val="94A3B8"/>
                </a:solidFill>
                <a:latin typeface="Segoe UI"/>
                <a:ea typeface="Segoe UI"/>
                <a:cs typeface="Segoe UI"/>
              </a:rPr>
              <a:t>   with stakeholders</a:t>
            </a:r>
            <a:endParaRPr lang="en-US" sz="1200" dirty="0"/>
          </a:p>
        </p:txBody>
      </p:sp>
      <p:sp>
        <p:nvSpPr>
          <p:cNvPr id="114" name="s114"/>
          <p:cNvSpPr/>
          <p:nvPr/>
        </p:nvSpPr>
        <p:spPr>
          <a:xfrm>
            <a:off x="4498238" y="4645152"/>
            <a:ext cx="3177845" cy="420624"/>
          </a:xfrm>
          <a:prstGeom prst="roundRect">
            <a:avLst>
              <a:gd name="adj" fmla="val 20000"/>
            </a:avLst>
          </a:prstGeom>
          <a:solidFill>
            <a:srgbClr val="FBBF24">
              <a:alpha val="10000"/>
            </a:srgbClr>
          </a:solidFill>
          <a:ln>
            <a:noFill/>
          </a:ln>
        </p:spPr>
        <p:txBody>
          <a:bodyPr wrap="square" lIns="164592"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Sprint Retrospective</a:t>
            </a:r>
            <a:r>
              <a:rPr lang="en-US" sz="1200" b="0" dirty="0">
                <a:solidFill>
                  <a:srgbClr val="94A3B8"/>
                </a:solidFill>
                <a:latin typeface="Segoe UI"/>
                <a:ea typeface="Segoe UI"/>
                <a:cs typeface="Segoe UI"/>
              </a:rPr>
              <a:t>   team only</a:t>
            </a:r>
            <a:endParaRPr lang="en-US" sz="1200" dirty="0"/>
          </a:p>
        </p:txBody>
      </p:sp>
      <p:sp>
        <p:nvSpPr>
          <p:cNvPr id="115" name="s115"/>
          <p:cNvSpPr/>
          <p:nvPr/>
        </p:nvSpPr>
        <p:spPr>
          <a:xfrm>
            <a:off x="8087563" y="1920240"/>
            <a:ext cx="3543605" cy="3246120"/>
          </a:xfrm>
          <a:prstGeom prst="roundRect">
            <a:avLst>
              <a:gd name="adj" fmla="val 8000"/>
            </a:avLst>
          </a:prstGeom>
          <a:solidFill>
            <a:srgbClr val="111B2E"/>
          </a:solidFill>
          <a:ln w="19050">
            <a:solidFill>
              <a:srgbClr val="34D399"/>
            </a:solidFill>
            <a:prstDash val="solid"/>
          </a:ln>
        </p:spPr>
        <p:txBody>
          <a:bodyPr wrap="square" lIns="164592" tIns="109728" rIns="137160" bIns="91440" rtlCol="0" anchor="t">
            <a:noAutofit/>
          </a:bodyPr>
          <a:lstStyle/>
          <a:p>
            <a:endParaRPr lang="en-US"/>
          </a:p>
        </p:txBody>
      </p:sp>
      <p:sp>
        <p:nvSpPr>
          <p:cNvPr id="116" name="s116"/>
          <p:cNvSpPr txBox="1"/>
          <p:nvPr/>
        </p:nvSpPr>
        <p:spPr>
          <a:xfrm>
            <a:off x="8316163" y="1965960"/>
            <a:ext cx="914400" cy="73152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4000" b="1" dirty="0">
                <a:solidFill>
                  <a:srgbClr val="34D399"/>
                </a:solidFill>
                <a:latin typeface="Segoe UI"/>
                <a:ea typeface="Segoe UI"/>
                <a:cs typeface="Segoe UI"/>
              </a:rPr>
              <a:t>3</a:t>
            </a:r>
            <a:endParaRPr lang="en-US" sz="4000" dirty="0"/>
          </a:p>
        </p:txBody>
      </p:sp>
      <p:sp>
        <p:nvSpPr>
          <p:cNvPr id="117" name="s117"/>
          <p:cNvSpPr txBox="1"/>
          <p:nvPr/>
        </p:nvSpPr>
        <p:spPr>
          <a:xfrm>
            <a:off x="9047683" y="2011680"/>
            <a:ext cx="2446325" cy="6400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ARTIFACTS → COMMITMENT</a:t>
            </a:r>
            <a:endParaRPr lang="en-US" sz="1250" dirty="0"/>
          </a:p>
        </p:txBody>
      </p:sp>
      <p:sp>
        <p:nvSpPr>
          <p:cNvPr id="118" name="s118"/>
          <p:cNvSpPr/>
          <p:nvPr/>
        </p:nvSpPr>
        <p:spPr>
          <a:xfrm>
            <a:off x="8270443" y="2743200"/>
            <a:ext cx="3177845" cy="713232"/>
          </a:xfrm>
          <a:prstGeom prst="roundRect">
            <a:avLst>
              <a:gd name="adj" fmla="val 20000"/>
            </a:avLst>
          </a:prstGeom>
          <a:solidFill>
            <a:srgbClr val="34D399">
              <a:alpha val="10000"/>
            </a:srgbClr>
          </a:solidFill>
          <a:ln>
            <a:noFill/>
          </a:ln>
        </p:spPr>
        <p:txBody>
          <a:bodyPr wrap="square" lIns="164592"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Product Backlog</a:t>
            </a:r>
            <a:r>
              <a:rPr lang="en-US" sz="1200" b="0" dirty="0">
                <a:solidFill>
                  <a:srgbClr val="94A3B8"/>
                </a:solidFill>
                <a:latin typeface="Segoe UI"/>
                <a:ea typeface="Segoe UI"/>
                <a:cs typeface="Segoe UI"/>
              </a:rPr>
              <a:t>   → Product Goal</a:t>
            </a:r>
            <a:endParaRPr lang="en-US" sz="1200" dirty="0"/>
          </a:p>
        </p:txBody>
      </p:sp>
      <p:sp>
        <p:nvSpPr>
          <p:cNvPr id="119" name="s119"/>
          <p:cNvSpPr/>
          <p:nvPr/>
        </p:nvSpPr>
        <p:spPr>
          <a:xfrm>
            <a:off x="8270443" y="3511296"/>
            <a:ext cx="3177845" cy="713232"/>
          </a:xfrm>
          <a:prstGeom prst="roundRect">
            <a:avLst>
              <a:gd name="adj" fmla="val 20000"/>
            </a:avLst>
          </a:prstGeom>
          <a:solidFill>
            <a:srgbClr val="34D399">
              <a:alpha val="10000"/>
            </a:srgbClr>
          </a:solidFill>
          <a:ln>
            <a:noFill/>
          </a:ln>
        </p:spPr>
        <p:txBody>
          <a:bodyPr wrap="square" lIns="164592"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Sprint Backlog</a:t>
            </a:r>
            <a:r>
              <a:rPr lang="en-US" sz="1200" b="0" dirty="0">
                <a:solidFill>
                  <a:srgbClr val="94A3B8"/>
                </a:solidFill>
                <a:latin typeface="Segoe UI"/>
                <a:ea typeface="Segoe UI"/>
                <a:cs typeface="Segoe UI"/>
              </a:rPr>
              <a:t>   → Sprint Goal</a:t>
            </a:r>
            <a:endParaRPr lang="en-US" sz="1200" dirty="0"/>
          </a:p>
        </p:txBody>
      </p:sp>
      <p:sp>
        <p:nvSpPr>
          <p:cNvPr id="120" name="s120"/>
          <p:cNvSpPr/>
          <p:nvPr/>
        </p:nvSpPr>
        <p:spPr>
          <a:xfrm>
            <a:off x="8270443" y="4279392"/>
            <a:ext cx="3177845" cy="713232"/>
          </a:xfrm>
          <a:prstGeom prst="roundRect">
            <a:avLst>
              <a:gd name="adj" fmla="val 20000"/>
            </a:avLst>
          </a:prstGeom>
          <a:solidFill>
            <a:srgbClr val="34D399">
              <a:alpha val="10000"/>
            </a:srgbClr>
          </a:solidFill>
          <a:ln>
            <a:noFill/>
          </a:ln>
        </p:spPr>
        <p:txBody>
          <a:bodyPr wrap="square" lIns="164592" tIns="0" rIns="91440" bIns="0" rtlCol="0" anchor="ctr">
            <a:noAutofit/>
          </a:bodyPr>
          <a:lstStyle/>
          <a:p>
            <a:pPr marL="0" indent="0" algn="l">
              <a:spcBef>
                <a:spcPts val="0"/>
              </a:spcBef>
              <a:spcAft>
                <a:spcPts val="0"/>
              </a:spcAft>
              <a:buNone/>
            </a:pPr>
            <a:r>
              <a:rPr lang="en-US" sz="1200" b="1" dirty="0">
                <a:solidFill>
                  <a:srgbClr val="FFFFFF"/>
                </a:solidFill>
                <a:latin typeface="Segoe UI"/>
                <a:ea typeface="Segoe UI"/>
                <a:cs typeface="Segoe UI"/>
              </a:rPr>
              <a:t>Increment</a:t>
            </a:r>
            <a:r>
              <a:rPr lang="en-US" sz="1200" b="0" dirty="0">
                <a:solidFill>
                  <a:srgbClr val="94A3B8"/>
                </a:solidFill>
                <a:latin typeface="Segoe UI"/>
                <a:ea typeface="Segoe UI"/>
                <a:cs typeface="Segoe UI"/>
              </a:rPr>
              <a:t>   → Definition of Done</a:t>
            </a:r>
            <a:endParaRPr lang="en-US" sz="1200" dirty="0"/>
          </a:p>
        </p:txBody>
      </p:sp>
      <p:sp>
        <p:nvSpPr>
          <p:cNvPr id="121" name="s121"/>
          <p:cNvSpPr/>
          <p:nvPr/>
        </p:nvSpPr>
        <p:spPr>
          <a:xfrm>
            <a:off x="543154" y="5349240"/>
            <a:ext cx="11088014" cy="502920"/>
          </a:xfrm>
          <a:prstGeom prst="roundRect">
            <a:avLst>
              <a:gd name="adj" fmla="val 20000"/>
            </a:avLst>
          </a:prstGeom>
          <a:noFill/>
          <a:ln w="12700">
            <a:solidFill>
              <a:srgbClr val="1E3A5F"/>
            </a:solidFill>
            <a:prstDash val="dash"/>
          </a:ln>
        </p:spPr>
        <p:txBody>
          <a:bodyPr wrap="square" lIns="164592" tIns="109728" rIns="137160" bIns="91440" rtlCol="0" anchor="ctr">
            <a:noAutofit/>
          </a:bodyPr>
          <a:lstStyle/>
          <a:p>
            <a:pPr marL="0" indent="0" algn="ctr">
              <a:spcBef>
                <a:spcPts val="0"/>
              </a:spcBef>
              <a:spcAft>
                <a:spcPts val="0"/>
              </a:spcAft>
              <a:buNone/>
            </a:pPr>
            <a:r>
              <a:rPr lang="en-US" sz="1100" b="1" dirty="0">
                <a:solidFill>
                  <a:srgbClr val="94A3B8"/>
                </a:solidFill>
                <a:latin typeface="Segoe UI"/>
                <a:ea typeface="Segoe UI"/>
                <a:cs typeface="Segoe UI"/>
              </a:rPr>
              <a:t>Common practices, NOT in the Scrum Guide:  </a:t>
            </a:r>
            <a:r>
              <a:rPr lang="en-US" sz="1100" b="0" dirty="0">
                <a:solidFill>
                  <a:srgbClr val="CBD5E1"/>
                </a:solidFill>
                <a:latin typeface="Segoe UI"/>
                <a:ea typeface="Segoe UI"/>
                <a:cs typeface="Segoe UI"/>
              </a:rPr>
              <a:t>User Stories · Story Points · Planning Poker · Epics · Definition of Ready · Burndown</a:t>
            </a:r>
            <a:endParaRPr lang="en-US" sz="11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9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18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ppt_x</p:attrName>
                                        </p:attrNameLst>
                                      </p:cBhvr>
                                      <p:tavLst>
                                        <p:tav tm="0">
                                          <p:val>
                                            <p:strVal val="#ppt_x-0.05"/>
                                          </p:val>
                                        </p:tav>
                                        <p:tav tm="100000">
                                          <p:val>
                                            <p:strVal val="#ppt_x"/>
                                          </p:val>
                                        </p:tav>
                                      </p:tavLst>
                                    </p:anim>
                                  </p:childTnLst>
                                </p:cTn>
                              </p:par>
                              <p:par>
                                <p:cTn id="25" presetID="42" presetClass="entr" presetSubtype="0" fill="hold" grpId="0" nodeType="withEffect">
                                  <p:stCondLst>
                                    <p:cond delay="27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ppt_x</p:attrName>
                                        </p:attrNameLst>
                                      </p:cBhvr>
                                      <p:tavLst>
                                        <p:tav tm="0">
                                          <p:val>
                                            <p:strVal val="#ppt_x-0.05"/>
                                          </p:val>
                                        </p:tav>
                                        <p:tav tm="100000">
                                          <p:val>
                                            <p:strVal val="#ppt_x"/>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ppt_y</p:attrName>
                                        </p:attrNameLst>
                                      </p:cBhvr>
                                      <p:tavLst>
                                        <p:tav tm="0">
                                          <p:val>
                                            <p:strVal val="#ppt_y+0.06"/>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ppt_y</p:attrName>
                                        </p:attrNameLst>
                                      </p:cBhvr>
                                      <p:tavLst>
                                        <p:tav tm="0">
                                          <p:val>
                                            <p:strVal val="#ppt_y+0.06"/>
                                          </p:val>
                                        </p:tav>
                                        <p:tav tm="100000">
                                          <p:val>
                                            <p:strVal val="#ppt_y"/>
                                          </p:val>
                                        </p:tav>
                                      </p:tavLst>
                                    </p:anim>
                                  </p:childTnLst>
                                </p:cTn>
                              </p:par>
                              <p:par>
                                <p:cTn id="43" presetID="42" presetClass="entr" presetSubtype="0" fill="hold" grpId="0" nodeType="withEffect">
                                  <p:stCondLst>
                                    <p:cond delay="9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ppt_x</p:attrName>
                                        </p:attrNameLst>
                                      </p:cBhvr>
                                      <p:tavLst>
                                        <p:tav tm="0">
                                          <p:val>
                                            <p:strVal val="#ppt_x-0.05"/>
                                          </p:val>
                                        </p:tav>
                                        <p:tav tm="100000">
                                          <p:val>
                                            <p:strVal val="#ppt_x"/>
                                          </p:val>
                                        </p:tav>
                                      </p:tavLst>
                                    </p:anim>
                                  </p:childTnLst>
                                </p:cTn>
                              </p:par>
                              <p:par>
                                <p:cTn id="47" presetID="42" presetClass="entr" presetSubtype="0" fill="hold" grpId="0" nodeType="withEffect">
                                  <p:stCondLst>
                                    <p:cond delay="180"/>
                                  </p:stCondLst>
                                  <p:childTnLst>
                                    <p:set>
                                      <p:cBhvr>
                                        <p:cTn id="48" dur="1" fill="hold">
                                          <p:stCondLst>
                                            <p:cond delay="0"/>
                                          </p:stCondLst>
                                        </p:cTn>
                                        <p:tgtEl>
                                          <p:spTgt spid="111"/>
                                        </p:tgtEl>
                                        <p:attrNameLst>
                                          <p:attrName>style.visibility</p:attrName>
                                        </p:attrNameLst>
                                      </p:cBhvr>
                                      <p:to>
                                        <p:strVal val="visible"/>
                                      </p:to>
                                    </p:set>
                                    <p:animEffect transition="in" filter="fade">
                                      <p:cBhvr>
                                        <p:cTn id="49" dur="500"/>
                                        <p:tgtEl>
                                          <p:spTgt spid="111"/>
                                        </p:tgtEl>
                                      </p:cBhvr>
                                    </p:animEffect>
                                    <p:anim calcmode="lin" valueType="num">
                                      <p:cBhvr additive="base">
                                        <p:cTn id="50" dur="500" decel="100000" fill="hold"/>
                                        <p:tgtEl>
                                          <p:spTgt spid="111"/>
                                        </p:tgtEl>
                                        <p:attrNameLst>
                                          <p:attrName>ppt_x</p:attrName>
                                        </p:attrNameLst>
                                      </p:cBhvr>
                                      <p:tavLst>
                                        <p:tav tm="0">
                                          <p:val>
                                            <p:strVal val="#ppt_x-0.05"/>
                                          </p:val>
                                        </p:tav>
                                        <p:tav tm="100000">
                                          <p:val>
                                            <p:strVal val="#ppt_x"/>
                                          </p:val>
                                        </p:tav>
                                      </p:tavLst>
                                    </p:anim>
                                  </p:childTnLst>
                                </p:cTn>
                              </p:par>
                              <p:par>
                                <p:cTn id="51" presetID="42" presetClass="entr" presetSubtype="0" fill="hold" grpId="0" nodeType="withEffect">
                                  <p:stCondLst>
                                    <p:cond delay="270"/>
                                  </p:stCondLst>
                                  <p:childTnLst>
                                    <p:set>
                                      <p:cBhvr>
                                        <p:cTn id="52" dur="1" fill="hold">
                                          <p:stCondLst>
                                            <p:cond delay="0"/>
                                          </p:stCondLst>
                                        </p:cTn>
                                        <p:tgtEl>
                                          <p:spTgt spid="112"/>
                                        </p:tgtEl>
                                        <p:attrNameLst>
                                          <p:attrName>style.visibility</p:attrName>
                                        </p:attrNameLst>
                                      </p:cBhvr>
                                      <p:to>
                                        <p:strVal val="visible"/>
                                      </p:to>
                                    </p:set>
                                    <p:animEffect transition="in" filter="fade">
                                      <p:cBhvr>
                                        <p:cTn id="53" dur="500"/>
                                        <p:tgtEl>
                                          <p:spTgt spid="112"/>
                                        </p:tgtEl>
                                      </p:cBhvr>
                                    </p:animEffect>
                                    <p:anim calcmode="lin" valueType="num">
                                      <p:cBhvr additive="base">
                                        <p:cTn id="54" dur="500" decel="100000" fill="hold"/>
                                        <p:tgtEl>
                                          <p:spTgt spid="112"/>
                                        </p:tgtEl>
                                        <p:attrNameLst>
                                          <p:attrName>ppt_x</p:attrName>
                                        </p:attrNameLst>
                                      </p:cBhvr>
                                      <p:tavLst>
                                        <p:tav tm="0">
                                          <p:val>
                                            <p:strVal val="#ppt_x-0.05"/>
                                          </p:val>
                                        </p:tav>
                                        <p:tav tm="100000">
                                          <p:val>
                                            <p:strVal val="#ppt_x"/>
                                          </p:val>
                                        </p:tav>
                                      </p:tavLst>
                                    </p:anim>
                                  </p:childTnLst>
                                </p:cTn>
                              </p:par>
                              <p:par>
                                <p:cTn id="55" presetID="42" presetClass="entr" presetSubtype="0" fill="hold" grpId="0" nodeType="withEffect">
                                  <p:stCondLst>
                                    <p:cond delay="360"/>
                                  </p:stCondLst>
                                  <p:childTnLst>
                                    <p:set>
                                      <p:cBhvr>
                                        <p:cTn id="56" dur="1" fill="hold">
                                          <p:stCondLst>
                                            <p:cond delay="0"/>
                                          </p:stCondLst>
                                        </p:cTn>
                                        <p:tgtEl>
                                          <p:spTgt spid="113"/>
                                        </p:tgtEl>
                                        <p:attrNameLst>
                                          <p:attrName>style.visibility</p:attrName>
                                        </p:attrNameLst>
                                      </p:cBhvr>
                                      <p:to>
                                        <p:strVal val="visible"/>
                                      </p:to>
                                    </p:set>
                                    <p:animEffect transition="in" filter="fade">
                                      <p:cBhvr>
                                        <p:cTn id="57" dur="500"/>
                                        <p:tgtEl>
                                          <p:spTgt spid="113"/>
                                        </p:tgtEl>
                                      </p:cBhvr>
                                    </p:animEffect>
                                    <p:anim calcmode="lin" valueType="num">
                                      <p:cBhvr additive="base">
                                        <p:cTn id="58" dur="500" decel="100000" fill="hold"/>
                                        <p:tgtEl>
                                          <p:spTgt spid="113"/>
                                        </p:tgtEl>
                                        <p:attrNameLst>
                                          <p:attrName>ppt_x</p:attrName>
                                        </p:attrNameLst>
                                      </p:cBhvr>
                                      <p:tavLst>
                                        <p:tav tm="0">
                                          <p:val>
                                            <p:strVal val="#ppt_x-0.05"/>
                                          </p:val>
                                        </p:tav>
                                        <p:tav tm="100000">
                                          <p:val>
                                            <p:strVal val="#ppt_x"/>
                                          </p:val>
                                        </p:tav>
                                      </p:tavLst>
                                    </p:anim>
                                  </p:childTnLst>
                                </p:cTn>
                              </p:par>
                              <p:par>
                                <p:cTn id="59" presetID="42" presetClass="entr" presetSubtype="0" fill="hold" grpId="0" nodeType="withEffect">
                                  <p:stCondLst>
                                    <p:cond delay="450"/>
                                  </p:stCondLst>
                                  <p:childTnLst>
                                    <p:set>
                                      <p:cBhvr>
                                        <p:cTn id="60" dur="1" fill="hold">
                                          <p:stCondLst>
                                            <p:cond delay="0"/>
                                          </p:stCondLst>
                                        </p:cTn>
                                        <p:tgtEl>
                                          <p:spTgt spid="114"/>
                                        </p:tgtEl>
                                        <p:attrNameLst>
                                          <p:attrName>style.visibility</p:attrName>
                                        </p:attrNameLst>
                                      </p:cBhvr>
                                      <p:to>
                                        <p:strVal val="visible"/>
                                      </p:to>
                                    </p:set>
                                    <p:animEffect transition="in" filter="fade">
                                      <p:cBhvr>
                                        <p:cTn id="61" dur="500"/>
                                        <p:tgtEl>
                                          <p:spTgt spid="114"/>
                                        </p:tgtEl>
                                      </p:cBhvr>
                                    </p:animEffect>
                                    <p:anim calcmode="lin" valueType="num">
                                      <p:cBhvr additive="base">
                                        <p:cTn id="62" dur="500" decel="100000" fill="hold"/>
                                        <p:tgtEl>
                                          <p:spTgt spid="114"/>
                                        </p:tgtEl>
                                        <p:attrNameLst>
                                          <p:attrName>ppt_x</p:attrName>
                                        </p:attrNameLst>
                                      </p:cBhvr>
                                      <p:tavLst>
                                        <p:tav tm="0">
                                          <p:val>
                                            <p:strVal val="#ppt_x-0.05"/>
                                          </p:val>
                                        </p:tav>
                                        <p:tav tm="100000">
                                          <p:val>
                                            <p:strVal val="#ppt_x"/>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115"/>
                                        </p:tgtEl>
                                        <p:attrNameLst>
                                          <p:attrName>style.visibility</p:attrName>
                                        </p:attrNameLst>
                                      </p:cBhvr>
                                      <p:to>
                                        <p:strVal val="visible"/>
                                      </p:to>
                                    </p:set>
                                    <p:animEffect transition="in" filter="fade">
                                      <p:cBhvr>
                                        <p:cTn id="67" dur="500"/>
                                        <p:tgtEl>
                                          <p:spTgt spid="115"/>
                                        </p:tgtEl>
                                      </p:cBhvr>
                                    </p:animEffect>
                                    <p:anim calcmode="lin" valueType="num">
                                      <p:cBhvr additive="base">
                                        <p:cTn id="68" dur="500" decel="100000" fill="hold"/>
                                        <p:tgtEl>
                                          <p:spTgt spid="115"/>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6"/>
                                        </p:tgtEl>
                                        <p:attrNameLst>
                                          <p:attrName>style.visibility</p:attrName>
                                        </p:attrNameLst>
                                      </p:cBhvr>
                                      <p:to>
                                        <p:strVal val="visible"/>
                                      </p:to>
                                    </p:set>
                                    <p:animEffect transition="in" filter="fade">
                                      <p:cBhvr>
                                        <p:cTn id="71" dur="500"/>
                                        <p:tgtEl>
                                          <p:spTgt spid="116"/>
                                        </p:tgtEl>
                                      </p:cBhvr>
                                    </p:animEffect>
                                    <p:anim calcmode="lin" valueType="num">
                                      <p:cBhvr additive="base">
                                        <p:cTn id="72" dur="500" decel="100000" fill="hold"/>
                                        <p:tgtEl>
                                          <p:spTgt spid="116"/>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7"/>
                                        </p:tgtEl>
                                        <p:attrNameLst>
                                          <p:attrName>style.visibility</p:attrName>
                                        </p:attrNameLst>
                                      </p:cBhvr>
                                      <p:to>
                                        <p:strVal val="visible"/>
                                      </p:to>
                                    </p:set>
                                    <p:animEffect transition="in" filter="fade">
                                      <p:cBhvr>
                                        <p:cTn id="75" dur="500"/>
                                        <p:tgtEl>
                                          <p:spTgt spid="117"/>
                                        </p:tgtEl>
                                      </p:cBhvr>
                                    </p:animEffect>
                                    <p:anim calcmode="lin" valueType="num">
                                      <p:cBhvr additive="base">
                                        <p:cTn id="76" dur="500" decel="100000" fill="hold"/>
                                        <p:tgtEl>
                                          <p:spTgt spid="117"/>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90"/>
                                  </p:stCondLst>
                                  <p:childTnLst>
                                    <p:set>
                                      <p:cBhvr>
                                        <p:cTn id="78" dur="1" fill="hold">
                                          <p:stCondLst>
                                            <p:cond delay="0"/>
                                          </p:stCondLst>
                                        </p:cTn>
                                        <p:tgtEl>
                                          <p:spTgt spid="118"/>
                                        </p:tgtEl>
                                        <p:attrNameLst>
                                          <p:attrName>style.visibility</p:attrName>
                                        </p:attrNameLst>
                                      </p:cBhvr>
                                      <p:to>
                                        <p:strVal val="visible"/>
                                      </p:to>
                                    </p:set>
                                    <p:animEffect transition="in" filter="fade">
                                      <p:cBhvr>
                                        <p:cTn id="79" dur="500"/>
                                        <p:tgtEl>
                                          <p:spTgt spid="118"/>
                                        </p:tgtEl>
                                      </p:cBhvr>
                                    </p:animEffect>
                                    <p:anim calcmode="lin" valueType="num">
                                      <p:cBhvr additive="base">
                                        <p:cTn id="80" dur="500" decel="100000" fill="hold"/>
                                        <p:tgtEl>
                                          <p:spTgt spid="118"/>
                                        </p:tgtEl>
                                        <p:attrNameLst>
                                          <p:attrName>ppt_x</p:attrName>
                                        </p:attrNameLst>
                                      </p:cBhvr>
                                      <p:tavLst>
                                        <p:tav tm="0">
                                          <p:val>
                                            <p:strVal val="#ppt_x-0.05"/>
                                          </p:val>
                                        </p:tav>
                                        <p:tav tm="100000">
                                          <p:val>
                                            <p:strVal val="#ppt_x"/>
                                          </p:val>
                                        </p:tav>
                                      </p:tavLst>
                                    </p:anim>
                                  </p:childTnLst>
                                </p:cTn>
                              </p:par>
                              <p:par>
                                <p:cTn id="81" presetID="42" presetClass="entr" presetSubtype="0" fill="hold" grpId="0" nodeType="withEffect">
                                  <p:stCondLst>
                                    <p:cond delay="180"/>
                                  </p:stCondLst>
                                  <p:childTnLst>
                                    <p:set>
                                      <p:cBhvr>
                                        <p:cTn id="82" dur="1" fill="hold">
                                          <p:stCondLst>
                                            <p:cond delay="0"/>
                                          </p:stCondLst>
                                        </p:cTn>
                                        <p:tgtEl>
                                          <p:spTgt spid="119"/>
                                        </p:tgtEl>
                                        <p:attrNameLst>
                                          <p:attrName>style.visibility</p:attrName>
                                        </p:attrNameLst>
                                      </p:cBhvr>
                                      <p:to>
                                        <p:strVal val="visible"/>
                                      </p:to>
                                    </p:set>
                                    <p:animEffect transition="in" filter="fade">
                                      <p:cBhvr>
                                        <p:cTn id="83" dur="500"/>
                                        <p:tgtEl>
                                          <p:spTgt spid="119"/>
                                        </p:tgtEl>
                                      </p:cBhvr>
                                    </p:animEffect>
                                    <p:anim calcmode="lin" valueType="num">
                                      <p:cBhvr additive="base">
                                        <p:cTn id="84" dur="500" decel="100000" fill="hold"/>
                                        <p:tgtEl>
                                          <p:spTgt spid="119"/>
                                        </p:tgtEl>
                                        <p:attrNameLst>
                                          <p:attrName>ppt_x</p:attrName>
                                        </p:attrNameLst>
                                      </p:cBhvr>
                                      <p:tavLst>
                                        <p:tav tm="0">
                                          <p:val>
                                            <p:strVal val="#ppt_x-0.05"/>
                                          </p:val>
                                        </p:tav>
                                        <p:tav tm="100000">
                                          <p:val>
                                            <p:strVal val="#ppt_x"/>
                                          </p:val>
                                        </p:tav>
                                      </p:tavLst>
                                    </p:anim>
                                  </p:childTnLst>
                                </p:cTn>
                              </p:par>
                              <p:par>
                                <p:cTn id="85" presetID="42" presetClass="entr" presetSubtype="0" fill="hold" grpId="0" nodeType="withEffect">
                                  <p:stCondLst>
                                    <p:cond delay="270"/>
                                  </p:stCondLst>
                                  <p:childTnLst>
                                    <p:set>
                                      <p:cBhvr>
                                        <p:cTn id="86" dur="1" fill="hold">
                                          <p:stCondLst>
                                            <p:cond delay="0"/>
                                          </p:stCondLst>
                                        </p:cTn>
                                        <p:tgtEl>
                                          <p:spTgt spid="120"/>
                                        </p:tgtEl>
                                        <p:attrNameLst>
                                          <p:attrName>style.visibility</p:attrName>
                                        </p:attrNameLst>
                                      </p:cBhvr>
                                      <p:to>
                                        <p:strVal val="visible"/>
                                      </p:to>
                                    </p:set>
                                    <p:animEffect transition="in" filter="fade">
                                      <p:cBhvr>
                                        <p:cTn id="87" dur="500"/>
                                        <p:tgtEl>
                                          <p:spTgt spid="120"/>
                                        </p:tgtEl>
                                      </p:cBhvr>
                                    </p:animEffect>
                                    <p:anim calcmode="lin" valueType="num">
                                      <p:cBhvr additive="base">
                                        <p:cTn id="88" dur="500" decel="100000" fill="hold"/>
                                        <p:tgtEl>
                                          <p:spTgt spid="120"/>
                                        </p:tgtEl>
                                        <p:attrNameLst>
                                          <p:attrName>ppt_x</p:attrName>
                                        </p:attrNameLst>
                                      </p:cBhvr>
                                      <p:tavLst>
                                        <p:tav tm="0">
                                          <p:val>
                                            <p:strVal val="#ppt_x-0.05"/>
                                          </p:val>
                                        </p:tav>
                                        <p:tav tm="100000">
                                          <p:val>
                                            <p:strVal val="#ppt_x"/>
                                          </p:val>
                                        </p:tav>
                                      </p:tavLst>
                                    </p:anim>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121"/>
                                        </p:tgtEl>
                                        <p:attrNameLst>
                                          <p:attrName>style.visibility</p:attrName>
                                        </p:attrNameLst>
                                      </p:cBhvr>
                                      <p:to>
                                        <p:strVal val="visible"/>
                                      </p:to>
                                    </p:set>
                                    <p:animEffect transition="in" filter="fade">
                                      <p:cBhvr>
                                        <p:cTn id="93"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07085"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TIMEBOXES</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Scrum Events on One Timeline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Maximum timeboxes for a one-month Sprint. Shorter Sprints usually use less.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RECAP</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298</a:t>
            </a:r>
            <a:endParaRPr lang="en-US" sz="850" dirty="0"/>
          </a:p>
        </p:txBody>
      </p:sp>
      <p:sp>
        <p:nvSpPr>
          <p:cNvPr id="101" name="s101"/>
          <p:cNvSpPr/>
          <p:nvPr/>
        </p:nvSpPr>
        <p:spPr>
          <a:xfrm>
            <a:off x="726034" y="2834640"/>
            <a:ext cx="10722254" cy="640080"/>
          </a:xfrm>
          <a:prstGeom prst="roundRect">
            <a:avLst>
              <a:gd name="adj" fmla="val 20000"/>
            </a:avLst>
          </a:prstGeom>
          <a:solidFill>
            <a:srgbClr val="60A5FA">
              <a:alpha val="14000"/>
            </a:srgbClr>
          </a:solidFill>
          <a:ln w="12700">
            <a:solidFill>
              <a:srgbClr val="60A5FA"/>
            </a:solidFill>
            <a:prstDash val="solid"/>
          </a:ln>
        </p:spPr>
        <p:txBody>
          <a:bodyPr wrap="square" lIns="228600" tIns="0" rIns="91440" bIns="0" rtlCol="0" anchor="ctr">
            <a:noAutofit/>
          </a:bodyPr>
          <a:lstStyle/>
          <a:p>
            <a:pPr marL="0" indent="0" algn="l">
              <a:spcBef>
                <a:spcPts val="0"/>
              </a:spcBef>
              <a:spcAft>
                <a:spcPts val="0"/>
              </a:spcAft>
              <a:buNone/>
            </a:pPr>
            <a:r>
              <a:rPr lang="en-US" sz="1200" b="1" dirty="0">
                <a:solidFill>
                  <a:srgbClr val="60A5FA"/>
                </a:solidFill>
                <a:latin typeface="Segoe UI"/>
                <a:ea typeface="Segoe UI"/>
                <a:cs typeface="Segoe UI"/>
              </a:rPr>
              <a:t>THE SPRINT  ≤ 1 month</a:t>
            </a:r>
            <a:endParaRPr lang="en-US" sz="1200" dirty="0"/>
          </a:p>
        </p:txBody>
      </p:sp>
      <p:sp>
        <p:nvSpPr>
          <p:cNvPr id="102" name="s102"/>
          <p:cNvSpPr/>
          <p:nvPr/>
        </p:nvSpPr>
        <p:spPr>
          <a:xfrm>
            <a:off x="726034" y="2057400"/>
            <a:ext cx="1828800" cy="594360"/>
          </a:xfrm>
          <a:prstGeom prst="roundRect">
            <a:avLst>
              <a:gd name="adj" fmla="val 15000"/>
            </a:avLst>
          </a:prstGeom>
          <a:solidFill>
            <a:srgbClr val="FBBF24">
              <a:alpha val="16000"/>
            </a:srgbClr>
          </a:solidFill>
          <a:ln w="1270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Sprint Planning</a:t>
            </a:r>
            <a:endParaRPr lang="en-US" sz="1200" dirty="0"/>
          </a:p>
          <a:p>
            <a:pPr marL="0" indent="0" algn="ctr">
              <a:spcBef>
                <a:spcPts val="0"/>
              </a:spcBef>
              <a:spcAft>
                <a:spcPts val="0"/>
              </a:spcAft>
              <a:buNone/>
            </a:pPr>
            <a:r>
              <a:rPr lang="en-US" sz="1100" b="1" dirty="0">
                <a:solidFill>
                  <a:srgbClr val="FBBF24"/>
                </a:solidFill>
                <a:latin typeface="Segoe UI"/>
                <a:ea typeface="Segoe UI"/>
                <a:cs typeface="Segoe UI"/>
              </a:rPr>
              <a:t>≤ 8 h</a:t>
            </a:r>
            <a:endParaRPr lang="en-US" sz="1100" dirty="0"/>
          </a:p>
        </p:txBody>
      </p:sp>
      <p:sp>
        <p:nvSpPr>
          <p:cNvPr id="103" name="s103"/>
          <p:cNvSpPr/>
          <p:nvPr/>
        </p:nvSpPr>
        <p:spPr>
          <a:xfrm>
            <a:off x="2783434"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04" name="s104"/>
          <p:cNvSpPr/>
          <p:nvPr/>
        </p:nvSpPr>
        <p:spPr>
          <a:xfrm>
            <a:off x="3145213"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05" name="s105"/>
          <p:cNvSpPr/>
          <p:nvPr/>
        </p:nvSpPr>
        <p:spPr>
          <a:xfrm>
            <a:off x="3506993"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06" name="s106"/>
          <p:cNvSpPr/>
          <p:nvPr/>
        </p:nvSpPr>
        <p:spPr>
          <a:xfrm>
            <a:off x="3868773"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07" name="s107"/>
          <p:cNvSpPr/>
          <p:nvPr/>
        </p:nvSpPr>
        <p:spPr>
          <a:xfrm>
            <a:off x="4230552"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08" name="s108"/>
          <p:cNvSpPr/>
          <p:nvPr/>
        </p:nvSpPr>
        <p:spPr>
          <a:xfrm>
            <a:off x="4592332"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09" name="s109"/>
          <p:cNvSpPr/>
          <p:nvPr/>
        </p:nvSpPr>
        <p:spPr>
          <a:xfrm>
            <a:off x="4954112"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10" name="s110"/>
          <p:cNvSpPr/>
          <p:nvPr/>
        </p:nvSpPr>
        <p:spPr>
          <a:xfrm>
            <a:off x="5315891"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11" name="s111"/>
          <p:cNvSpPr/>
          <p:nvPr/>
        </p:nvSpPr>
        <p:spPr>
          <a:xfrm>
            <a:off x="5677671"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12" name="s112"/>
          <p:cNvSpPr/>
          <p:nvPr/>
        </p:nvSpPr>
        <p:spPr>
          <a:xfrm>
            <a:off x="6039451"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13" name="s113"/>
          <p:cNvSpPr/>
          <p:nvPr/>
        </p:nvSpPr>
        <p:spPr>
          <a:xfrm>
            <a:off x="6401230"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14" name="s114"/>
          <p:cNvSpPr/>
          <p:nvPr/>
        </p:nvSpPr>
        <p:spPr>
          <a:xfrm>
            <a:off x="6763010"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15" name="s115"/>
          <p:cNvSpPr/>
          <p:nvPr/>
        </p:nvSpPr>
        <p:spPr>
          <a:xfrm>
            <a:off x="7124790"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16" name="s116"/>
          <p:cNvSpPr/>
          <p:nvPr/>
        </p:nvSpPr>
        <p:spPr>
          <a:xfrm>
            <a:off x="7486569"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17" name="s117"/>
          <p:cNvSpPr/>
          <p:nvPr/>
        </p:nvSpPr>
        <p:spPr>
          <a:xfrm>
            <a:off x="7848349"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18" name="s118"/>
          <p:cNvSpPr/>
          <p:nvPr/>
        </p:nvSpPr>
        <p:spPr>
          <a:xfrm>
            <a:off x="8210129"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19" name="s119"/>
          <p:cNvSpPr/>
          <p:nvPr/>
        </p:nvSpPr>
        <p:spPr>
          <a:xfrm>
            <a:off x="8571908"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20" name="s120"/>
          <p:cNvSpPr/>
          <p:nvPr/>
        </p:nvSpPr>
        <p:spPr>
          <a:xfrm>
            <a:off x="8933688" y="2944368"/>
            <a:ext cx="91440" cy="420624"/>
          </a:xfrm>
          <a:prstGeom prst="rect">
            <a:avLst/>
          </a:prstGeom>
          <a:solidFill>
            <a:srgbClr val="34D399"/>
          </a:solidFill>
          <a:ln>
            <a:noFill/>
          </a:ln>
        </p:spPr>
        <p:txBody>
          <a:bodyPr wrap="square" lIns="164592" tIns="109728" rIns="137160" bIns="91440" rtlCol="0" anchor="t">
            <a:noAutofit/>
          </a:bodyPr>
          <a:lstStyle/>
          <a:p>
            <a:endParaRPr lang="en-US"/>
          </a:p>
        </p:txBody>
      </p:sp>
      <p:sp>
        <p:nvSpPr>
          <p:cNvPr id="121" name="s121"/>
          <p:cNvSpPr/>
          <p:nvPr/>
        </p:nvSpPr>
        <p:spPr>
          <a:xfrm>
            <a:off x="4989881" y="3611880"/>
            <a:ext cx="2194560" cy="594360"/>
          </a:xfrm>
          <a:prstGeom prst="roundRect">
            <a:avLst>
              <a:gd name="adj" fmla="val 15000"/>
            </a:avLst>
          </a:prstGeom>
          <a:solidFill>
            <a:srgbClr val="34D399">
              <a:alpha val="16000"/>
            </a:srgbClr>
          </a:solidFill>
          <a:ln w="1270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Daily Scrum</a:t>
            </a:r>
            <a:endParaRPr lang="en-US" sz="1200" dirty="0"/>
          </a:p>
          <a:p>
            <a:pPr marL="0" indent="0" algn="ctr">
              <a:spcBef>
                <a:spcPts val="0"/>
              </a:spcBef>
              <a:spcAft>
                <a:spcPts val="0"/>
              </a:spcAft>
              <a:buNone/>
            </a:pPr>
            <a:r>
              <a:rPr lang="en-US" sz="1100" b="1" dirty="0">
                <a:solidFill>
                  <a:srgbClr val="34D399"/>
                </a:solidFill>
                <a:latin typeface="Segoe UI"/>
                <a:ea typeface="Segoe UI"/>
                <a:cs typeface="Segoe UI"/>
              </a:rPr>
              <a:t>15 min, every day</a:t>
            </a:r>
            <a:endParaRPr lang="en-US" sz="1100" dirty="0"/>
          </a:p>
        </p:txBody>
      </p:sp>
      <p:sp>
        <p:nvSpPr>
          <p:cNvPr id="122" name="s122"/>
          <p:cNvSpPr/>
          <p:nvPr/>
        </p:nvSpPr>
        <p:spPr>
          <a:xfrm>
            <a:off x="9436608" y="2057400"/>
            <a:ext cx="960120" cy="594360"/>
          </a:xfrm>
          <a:prstGeom prst="roundRect">
            <a:avLst>
              <a:gd name="adj" fmla="val 15000"/>
            </a:avLst>
          </a:prstGeom>
          <a:solidFill>
            <a:srgbClr val="A78BFA">
              <a:alpha val="16000"/>
            </a:srgbClr>
          </a:solidFill>
          <a:ln w="1270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Review</a:t>
            </a:r>
            <a:endParaRPr lang="en-US" sz="1150" dirty="0"/>
          </a:p>
          <a:p>
            <a:pPr marL="0" indent="0" algn="ctr">
              <a:spcBef>
                <a:spcPts val="0"/>
              </a:spcBef>
              <a:spcAft>
                <a:spcPts val="0"/>
              </a:spcAft>
              <a:buNone/>
            </a:pPr>
            <a:r>
              <a:rPr lang="en-US" sz="1100" b="1" dirty="0">
                <a:solidFill>
                  <a:srgbClr val="A78BFA"/>
                </a:solidFill>
                <a:latin typeface="Segoe UI"/>
                <a:ea typeface="Segoe UI"/>
                <a:cs typeface="Segoe UI"/>
              </a:rPr>
              <a:t>≤ 4 h</a:t>
            </a:r>
            <a:endParaRPr lang="en-US" sz="1100" dirty="0"/>
          </a:p>
        </p:txBody>
      </p:sp>
      <p:sp>
        <p:nvSpPr>
          <p:cNvPr id="123" name="s123"/>
          <p:cNvSpPr/>
          <p:nvPr/>
        </p:nvSpPr>
        <p:spPr>
          <a:xfrm>
            <a:off x="10488168" y="2057400"/>
            <a:ext cx="960120" cy="594360"/>
          </a:xfrm>
          <a:prstGeom prst="roundRect">
            <a:avLst>
              <a:gd name="adj" fmla="val 15000"/>
            </a:avLst>
          </a:prstGeom>
          <a:solidFill>
            <a:srgbClr val="F472B6">
              <a:alpha val="16000"/>
            </a:srgbClr>
          </a:solidFill>
          <a:ln w="12700">
            <a:solidFill>
              <a:srgbClr val="F472B6"/>
            </a:solidFill>
            <a:prstDash val="solid"/>
          </a:ln>
        </p:spPr>
        <p:txBody>
          <a:bodyPr wrap="square" lIns="0" tIns="0" rIns="0" bIns="0" rtlCol="0" anchor="ctr">
            <a:noAutofit/>
          </a:bodyPr>
          <a:lstStyle/>
          <a:p>
            <a:pPr marL="0" indent="0" algn="ctr">
              <a:spcBef>
                <a:spcPts val="0"/>
              </a:spcBef>
              <a:spcAft>
                <a:spcPts val="0"/>
              </a:spcAft>
              <a:buNone/>
            </a:pPr>
            <a:r>
              <a:rPr lang="en-US" sz="1150" b="1" dirty="0">
                <a:solidFill>
                  <a:srgbClr val="FFFFFF"/>
                </a:solidFill>
                <a:latin typeface="Segoe UI"/>
                <a:ea typeface="Segoe UI"/>
                <a:cs typeface="Segoe UI"/>
              </a:rPr>
              <a:t>Retro</a:t>
            </a:r>
            <a:endParaRPr lang="en-US" sz="1150" dirty="0"/>
          </a:p>
          <a:p>
            <a:pPr marL="0" indent="0" algn="ctr">
              <a:spcBef>
                <a:spcPts val="0"/>
              </a:spcBef>
              <a:spcAft>
                <a:spcPts val="0"/>
              </a:spcAft>
              <a:buNone/>
            </a:pPr>
            <a:r>
              <a:rPr lang="en-US" sz="1100" b="1" dirty="0">
                <a:solidFill>
                  <a:srgbClr val="F472B6"/>
                </a:solidFill>
                <a:latin typeface="Segoe UI"/>
                <a:ea typeface="Segoe UI"/>
                <a:cs typeface="Segoe UI"/>
              </a:rPr>
              <a:t>≤ 3 h</a:t>
            </a:r>
            <a:endParaRPr lang="en-US" sz="1100" dirty="0"/>
          </a:p>
        </p:txBody>
      </p:sp>
      <p:sp>
        <p:nvSpPr>
          <p:cNvPr id="124" name="s124"/>
          <p:cNvSpPr/>
          <p:nvPr/>
        </p:nvSpPr>
        <p:spPr>
          <a:xfrm>
            <a:off x="2829154" y="4434840"/>
            <a:ext cx="6516014" cy="384048"/>
          </a:xfrm>
          <a:prstGeom prst="roundRect">
            <a:avLst>
              <a:gd name="adj" fmla="val 30000"/>
            </a:avLst>
          </a:prstGeom>
          <a:noFill/>
          <a:ln w="12700">
            <a:solidFill>
              <a:srgbClr val="94A3B8"/>
            </a:solidFill>
            <a:prstDash val="dash"/>
          </a:ln>
        </p:spPr>
        <p:txBody>
          <a:bodyPr wrap="square" lIns="164592" tIns="109728" rIns="137160" bIns="91440" rtlCol="0" anchor="ctr">
            <a:noAutofit/>
          </a:bodyPr>
          <a:lstStyle/>
          <a:p>
            <a:pPr marL="0" indent="0" algn="ctr">
              <a:spcBef>
                <a:spcPts val="0"/>
              </a:spcBef>
              <a:spcAft>
                <a:spcPts val="0"/>
              </a:spcAft>
              <a:buNone/>
            </a:pPr>
            <a:r>
              <a:rPr lang="en-US" sz="1100" b="0" dirty="0">
                <a:solidFill>
                  <a:srgbClr val="94A3B8"/>
                </a:solidFill>
                <a:latin typeface="Segoe UI"/>
                <a:ea typeface="Segoe UI"/>
                <a:cs typeface="Segoe UI"/>
              </a:rPr>
              <a:t>Refinement: ongoing activity, not an event</a:t>
            </a:r>
            <a:endParaRPr lang="en-US" sz="1100" dirty="0"/>
          </a:p>
        </p:txBody>
      </p:sp>
      <p:sp>
        <p:nvSpPr>
          <p:cNvPr id="125" name="s125"/>
          <p:cNvSpPr/>
          <p:nvPr/>
        </p:nvSpPr>
        <p:spPr>
          <a:xfrm>
            <a:off x="543154" y="5120640"/>
            <a:ext cx="2634844" cy="594360"/>
          </a:xfrm>
          <a:prstGeom prst="roundRect">
            <a:avLst>
              <a:gd name="adj" fmla="val 15000"/>
            </a:avLst>
          </a:prstGeom>
          <a:solidFill>
            <a:srgbClr val="111B2E"/>
          </a:solidFill>
          <a:ln w="12700">
            <a:solidFill>
              <a:srgbClr val="FBBF24"/>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Sprint Planning   </a:t>
            </a:r>
            <a:r>
              <a:rPr lang="en-US" sz="1300" b="1" dirty="0">
                <a:solidFill>
                  <a:srgbClr val="FBBF24"/>
                </a:solidFill>
                <a:latin typeface="Segoe UI"/>
                <a:ea typeface="Segoe UI"/>
                <a:cs typeface="Segoe UI"/>
              </a:rPr>
              <a:t>≤ 8 h</a:t>
            </a:r>
            <a:endParaRPr lang="en-US" sz="1300" dirty="0"/>
          </a:p>
        </p:txBody>
      </p:sp>
      <p:sp>
        <p:nvSpPr>
          <p:cNvPr id="126" name="s126"/>
          <p:cNvSpPr/>
          <p:nvPr/>
        </p:nvSpPr>
        <p:spPr>
          <a:xfrm>
            <a:off x="3360877" y="5120640"/>
            <a:ext cx="2634844" cy="594360"/>
          </a:xfrm>
          <a:prstGeom prst="roundRect">
            <a:avLst>
              <a:gd name="adj" fmla="val 15000"/>
            </a:avLst>
          </a:prstGeom>
          <a:solidFill>
            <a:srgbClr val="111B2E"/>
          </a:solidFill>
          <a:ln w="12700">
            <a:solidFill>
              <a:srgbClr val="34D399"/>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Daily Scrum   </a:t>
            </a:r>
            <a:r>
              <a:rPr lang="en-US" sz="1300" b="1" dirty="0">
                <a:solidFill>
                  <a:srgbClr val="34D399"/>
                </a:solidFill>
                <a:latin typeface="Segoe UI"/>
                <a:ea typeface="Segoe UI"/>
                <a:cs typeface="Segoe UI"/>
              </a:rPr>
              <a:t>15 min</a:t>
            </a:r>
            <a:endParaRPr lang="en-US" sz="1300" dirty="0"/>
          </a:p>
        </p:txBody>
      </p:sp>
      <p:sp>
        <p:nvSpPr>
          <p:cNvPr id="127" name="s127"/>
          <p:cNvSpPr/>
          <p:nvPr/>
        </p:nvSpPr>
        <p:spPr>
          <a:xfrm>
            <a:off x="6178601" y="5120640"/>
            <a:ext cx="2634844" cy="594360"/>
          </a:xfrm>
          <a:prstGeom prst="roundRect">
            <a:avLst>
              <a:gd name="adj" fmla="val 15000"/>
            </a:avLst>
          </a:prstGeom>
          <a:solidFill>
            <a:srgbClr val="111B2E"/>
          </a:solidFill>
          <a:ln w="12700">
            <a:solidFill>
              <a:srgbClr val="A78BFA"/>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Sprint Review   </a:t>
            </a:r>
            <a:r>
              <a:rPr lang="en-US" sz="1300" b="1" dirty="0">
                <a:solidFill>
                  <a:srgbClr val="A78BFA"/>
                </a:solidFill>
                <a:latin typeface="Segoe UI"/>
                <a:ea typeface="Segoe UI"/>
                <a:cs typeface="Segoe UI"/>
              </a:rPr>
              <a:t>≤ 4 h</a:t>
            </a:r>
            <a:endParaRPr lang="en-US" sz="1300" dirty="0"/>
          </a:p>
        </p:txBody>
      </p:sp>
      <p:sp>
        <p:nvSpPr>
          <p:cNvPr id="128" name="s128"/>
          <p:cNvSpPr/>
          <p:nvPr/>
        </p:nvSpPr>
        <p:spPr>
          <a:xfrm>
            <a:off x="8996324" y="5120640"/>
            <a:ext cx="2634844" cy="594360"/>
          </a:xfrm>
          <a:prstGeom prst="roundRect">
            <a:avLst>
              <a:gd name="adj" fmla="val 15000"/>
            </a:avLst>
          </a:prstGeom>
          <a:solidFill>
            <a:srgbClr val="111B2E"/>
          </a:solidFill>
          <a:ln w="12700">
            <a:solidFill>
              <a:srgbClr val="F472B6"/>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FFFFF"/>
                </a:solidFill>
                <a:latin typeface="Segoe UI"/>
                <a:ea typeface="Segoe UI"/>
                <a:cs typeface="Segoe UI"/>
              </a:rPr>
              <a:t>Retrospective   </a:t>
            </a:r>
            <a:r>
              <a:rPr lang="en-US" sz="1300" b="1" dirty="0">
                <a:solidFill>
                  <a:srgbClr val="F472B6"/>
                </a:solidFill>
                <a:latin typeface="Segoe UI"/>
                <a:ea typeface="Segoe UI"/>
                <a:cs typeface="Segoe UI"/>
              </a:rPr>
              <a:t>≤ 3 h</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wipe(left)">
                                      <p:cBhvr>
                                        <p:cTn id="7" dur="900"/>
                                        <p:tgtEl>
                                          <p:spTgt spid="101"/>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102"/>
                                        </p:tgtEl>
                                        <p:attrNameLst>
                                          <p:attrName>style.visibility</p:attrName>
                                        </p:attrNameLst>
                                      </p:cBhvr>
                                      <p:to>
                                        <p:strVal val="visible"/>
                                      </p:to>
                                    </p:set>
                                    <p:animEffect transition="in" filter="fade">
                                      <p:cBhvr>
                                        <p:cTn id="12" dur="500"/>
                                        <p:tgtEl>
                                          <p:spTgt spid="102"/>
                                        </p:tgtEl>
                                      </p:cBhvr>
                                    </p:animEffect>
                                    <p:anim calcmode="lin" valueType="num">
                                      <p:cBhvr additive="base">
                                        <p:cTn id="13" dur="500" decel="100000" fill="hold"/>
                                        <p:tgtEl>
                                          <p:spTgt spid="102"/>
                                        </p:tgtEl>
                                        <p:attrNameLst>
                                          <p:attrName>ppt_y</p:attrName>
                                        </p:attrNameLst>
                                      </p:cBhvr>
                                      <p:tavLst>
                                        <p:tav tm="0">
                                          <p:val>
                                            <p:strVal val="#ppt_y-0.06"/>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250"/>
                                        <p:tgtEl>
                                          <p:spTgt spid="103"/>
                                        </p:tgtEl>
                                      </p:cBhvr>
                                    </p:animEffect>
                                  </p:childTnLst>
                                </p:cTn>
                              </p:par>
                              <p:par>
                                <p:cTn id="19" presetID="10" presetClass="entr" presetSubtype="0" fill="hold" grpId="0" nodeType="withEffect">
                                  <p:stCondLst>
                                    <p:cond delay="40"/>
                                  </p:stCondLst>
                                  <p:childTnLst>
                                    <p:set>
                                      <p:cBhvr>
                                        <p:cTn id="20" dur="1" fill="hold">
                                          <p:stCondLst>
                                            <p:cond delay="0"/>
                                          </p:stCondLst>
                                        </p:cTn>
                                        <p:tgtEl>
                                          <p:spTgt spid="104"/>
                                        </p:tgtEl>
                                        <p:attrNameLst>
                                          <p:attrName>style.visibility</p:attrName>
                                        </p:attrNameLst>
                                      </p:cBhvr>
                                      <p:to>
                                        <p:strVal val="visible"/>
                                      </p:to>
                                    </p:set>
                                    <p:animEffect transition="in" filter="fade">
                                      <p:cBhvr>
                                        <p:cTn id="21" dur="250"/>
                                        <p:tgtEl>
                                          <p:spTgt spid="104"/>
                                        </p:tgtEl>
                                      </p:cBhvr>
                                    </p:animEffect>
                                  </p:childTnLst>
                                </p:cTn>
                              </p:par>
                              <p:par>
                                <p:cTn id="22" presetID="10" presetClass="entr" presetSubtype="0" fill="hold" grpId="0" nodeType="withEffect">
                                  <p:stCondLst>
                                    <p:cond delay="80"/>
                                  </p:stCondLst>
                                  <p:childTnLst>
                                    <p:set>
                                      <p:cBhvr>
                                        <p:cTn id="23" dur="1" fill="hold">
                                          <p:stCondLst>
                                            <p:cond delay="0"/>
                                          </p:stCondLst>
                                        </p:cTn>
                                        <p:tgtEl>
                                          <p:spTgt spid="105"/>
                                        </p:tgtEl>
                                        <p:attrNameLst>
                                          <p:attrName>style.visibility</p:attrName>
                                        </p:attrNameLst>
                                      </p:cBhvr>
                                      <p:to>
                                        <p:strVal val="visible"/>
                                      </p:to>
                                    </p:set>
                                    <p:animEffect transition="in" filter="fade">
                                      <p:cBhvr>
                                        <p:cTn id="24" dur="250"/>
                                        <p:tgtEl>
                                          <p:spTgt spid="105"/>
                                        </p:tgtEl>
                                      </p:cBhvr>
                                    </p:animEffect>
                                  </p:childTnLst>
                                </p:cTn>
                              </p:par>
                              <p:par>
                                <p:cTn id="25" presetID="10" presetClass="entr" presetSubtype="0" fill="hold" grpId="0" nodeType="withEffect">
                                  <p:stCondLst>
                                    <p:cond delay="12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250"/>
                                        <p:tgtEl>
                                          <p:spTgt spid="106"/>
                                        </p:tgtEl>
                                      </p:cBhvr>
                                    </p:animEffect>
                                  </p:childTnLst>
                                </p:cTn>
                              </p:par>
                              <p:par>
                                <p:cTn id="28" presetID="10" presetClass="entr" presetSubtype="0" fill="hold" grpId="0" nodeType="withEffect">
                                  <p:stCondLst>
                                    <p:cond delay="160"/>
                                  </p:stCondLst>
                                  <p:childTnLst>
                                    <p:set>
                                      <p:cBhvr>
                                        <p:cTn id="29" dur="1" fill="hold">
                                          <p:stCondLst>
                                            <p:cond delay="0"/>
                                          </p:stCondLst>
                                        </p:cTn>
                                        <p:tgtEl>
                                          <p:spTgt spid="107"/>
                                        </p:tgtEl>
                                        <p:attrNameLst>
                                          <p:attrName>style.visibility</p:attrName>
                                        </p:attrNameLst>
                                      </p:cBhvr>
                                      <p:to>
                                        <p:strVal val="visible"/>
                                      </p:to>
                                    </p:set>
                                    <p:animEffect transition="in" filter="fade">
                                      <p:cBhvr>
                                        <p:cTn id="30" dur="250"/>
                                        <p:tgtEl>
                                          <p:spTgt spid="107"/>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108"/>
                                        </p:tgtEl>
                                        <p:attrNameLst>
                                          <p:attrName>style.visibility</p:attrName>
                                        </p:attrNameLst>
                                      </p:cBhvr>
                                      <p:to>
                                        <p:strVal val="visible"/>
                                      </p:to>
                                    </p:set>
                                    <p:animEffect transition="in" filter="fade">
                                      <p:cBhvr>
                                        <p:cTn id="33" dur="250"/>
                                        <p:tgtEl>
                                          <p:spTgt spid="108"/>
                                        </p:tgtEl>
                                      </p:cBhvr>
                                    </p:animEffect>
                                  </p:childTnLst>
                                </p:cTn>
                              </p:par>
                              <p:par>
                                <p:cTn id="34" presetID="10" presetClass="entr" presetSubtype="0" fill="hold" grpId="0" nodeType="withEffect">
                                  <p:stCondLst>
                                    <p:cond delay="240"/>
                                  </p:stCondLst>
                                  <p:childTnLst>
                                    <p:set>
                                      <p:cBhvr>
                                        <p:cTn id="35" dur="1" fill="hold">
                                          <p:stCondLst>
                                            <p:cond delay="0"/>
                                          </p:stCondLst>
                                        </p:cTn>
                                        <p:tgtEl>
                                          <p:spTgt spid="109"/>
                                        </p:tgtEl>
                                        <p:attrNameLst>
                                          <p:attrName>style.visibility</p:attrName>
                                        </p:attrNameLst>
                                      </p:cBhvr>
                                      <p:to>
                                        <p:strVal val="visible"/>
                                      </p:to>
                                    </p:set>
                                    <p:animEffect transition="in" filter="fade">
                                      <p:cBhvr>
                                        <p:cTn id="36" dur="250"/>
                                        <p:tgtEl>
                                          <p:spTgt spid="109"/>
                                        </p:tgtEl>
                                      </p:cBhvr>
                                    </p:animEffect>
                                  </p:childTnLst>
                                </p:cTn>
                              </p:par>
                              <p:par>
                                <p:cTn id="37" presetID="10" presetClass="entr" presetSubtype="0" fill="hold" grpId="0" nodeType="withEffect">
                                  <p:stCondLst>
                                    <p:cond delay="280"/>
                                  </p:stCondLst>
                                  <p:childTnLst>
                                    <p:set>
                                      <p:cBhvr>
                                        <p:cTn id="38" dur="1" fill="hold">
                                          <p:stCondLst>
                                            <p:cond delay="0"/>
                                          </p:stCondLst>
                                        </p:cTn>
                                        <p:tgtEl>
                                          <p:spTgt spid="110"/>
                                        </p:tgtEl>
                                        <p:attrNameLst>
                                          <p:attrName>style.visibility</p:attrName>
                                        </p:attrNameLst>
                                      </p:cBhvr>
                                      <p:to>
                                        <p:strVal val="visible"/>
                                      </p:to>
                                    </p:set>
                                    <p:animEffect transition="in" filter="fade">
                                      <p:cBhvr>
                                        <p:cTn id="39" dur="250"/>
                                        <p:tgtEl>
                                          <p:spTgt spid="110"/>
                                        </p:tgtEl>
                                      </p:cBhvr>
                                    </p:animEffect>
                                  </p:childTnLst>
                                </p:cTn>
                              </p:par>
                              <p:par>
                                <p:cTn id="40" presetID="10" presetClass="entr" presetSubtype="0" fill="hold" grpId="0" nodeType="withEffect">
                                  <p:stCondLst>
                                    <p:cond delay="320"/>
                                  </p:stCondLst>
                                  <p:childTnLst>
                                    <p:set>
                                      <p:cBhvr>
                                        <p:cTn id="41" dur="1" fill="hold">
                                          <p:stCondLst>
                                            <p:cond delay="0"/>
                                          </p:stCondLst>
                                        </p:cTn>
                                        <p:tgtEl>
                                          <p:spTgt spid="111"/>
                                        </p:tgtEl>
                                        <p:attrNameLst>
                                          <p:attrName>style.visibility</p:attrName>
                                        </p:attrNameLst>
                                      </p:cBhvr>
                                      <p:to>
                                        <p:strVal val="visible"/>
                                      </p:to>
                                    </p:set>
                                    <p:animEffect transition="in" filter="fade">
                                      <p:cBhvr>
                                        <p:cTn id="42" dur="250"/>
                                        <p:tgtEl>
                                          <p:spTgt spid="111"/>
                                        </p:tgtEl>
                                      </p:cBhvr>
                                    </p:animEffect>
                                  </p:childTnLst>
                                </p:cTn>
                              </p:par>
                              <p:par>
                                <p:cTn id="43" presetID="10" presetClass="entr" presetSubtype="0" fill="hold" grpId="0" nodeType="withEffect">
                                  <p:stCondLst>
                                    <p:cond delay="360"/>
                                  </p:stCondLst>
                                  <p:childTnLst>
                                    <p:set>
                                      <p:cBhvr>
                                        <p:cTn id="44" dur="1" fill="hold">
                                          <p:stCondLst>
                                            <p:cond delay="0"/>
                                          </p:stCondLst>
                                        </p:cTn>
                                        <p:tgtEl>
                                          <p:spTgt spid="112"/>
                                        </p:tgtEl>
                                        <p:attrNameLst>
                                          <p:attrName>style.visibility</p:attrName>
                                        </p:attrNameLst>
                                      </p:cBhvr>
                                      <p:to>
                                        <p:strVal val="visible"/>
                                      </p:to>
                                    </p:set>
                                    <p:animEffect transition="in" filter="fade">
                                      <p:cBhvr>
                                        <p:cTn id="45" dur="250"/>
                                        <p:tgtEl>
                                          <p:spTgt spid="112"/>
                                        </p:tgtEl>
                                      </p:cBhvr>
                                    </p:animEffect>
                                  </p:childTnLst>
                                </p:cTn>
                              </p:par>
                              <p:par>
                                <p:cTn id="46" presetID="10" presetClass="entr" presetSubtype="0" fill="hold" grpId="0" nodeType="withEffect">
                                  <p:stCondLst>
                                    <p:cond delay="400"/>
                                  </p:stCondLst>
                                  <p:childTnLst>
                                    <p:set>
                                      <p:cBhvr>
                                        <p:cTn id="47" dur="1" fill="hold">
                                          <p:stCondLst>
                                            <p:cond delay="0"/>
                                          </p:stCondLst>
                                        </p:cTn>
                                        <p:tgtEl>
                                          <p:spTgt spid="113"/>
                                        </p:tgtEl>
                                        <p:attrNameLst>
                                          <p:attrName>style.visibility</p:attrName>
                                        </p:attrNameLst>
                                      </p:cBhvr>
                                      <p:to>
                                        <p:strVal val="visible"/>
                                      </p:to>
                                    </p:set>
                                    <p:animEffect transition="in" filter="fade">
                                      <p:cBhvr>
                                        <p:cTn id="48" dur="250"/>
                                        <p:tgtEl>
                                          <p:spTgt spid="113"/>
                                        </p:tgtEl>
                                      </p:cBhvr>
                                    </p:animEffect>
                                  </p:childTnLst>
                                </p:cTn>
                              </p:par>
                              <p:par>
                                <p:cTn id="49" presetID="10" presetClass="entr" presetSubtype="0" fill="hold" grpId="0" nodeType="withEffect">
                                  <p:stCondLst>
                                    <p:cond delay="440"/>
                                  </p:stCondLst>
                                  <p:childTnLst>
                                    <p:set>
                                      <p:cBhvr>
                                        <p:cTn id="50" dur="1" fill="hold">
                                          <p:stCondLst>
                                            <p:cond delay="0"/>
                                          </p:stCondLst>
                                        </p:cTn>
                                        <p:tgtEl>
                                          <p:spTgt spid="114"/>
                                        </p:tgtEl>
                                        <p:attrNameLst>
                                          <p:attrName>style.visibility</p:attrName>
                                        </p:attrNameLst>
                                      </p:cBhvr>
                                      <p:to>
                                        <p:strVal val="visible"/>
                                      </p:to>
                                    </p:set>
                                    <p:animEffect transition="in" filter="fade">
                                      <p:cBhvr>
                                        <p:cTn id="51" dur="250"/>
                                        <p:tgtEl>
                                          <p:spTgt spid="114"/>
                                        </p:tgtEl>
                                      </p:cBhvr>
                                    </p:animEffect>
                                  </p:childTnLst>
                                </p:cTn>
                              </p:par>
                              <p:par>
                                <p:cTn id="52" presetID="10" presetClass="entr" presetSubtype="0" fill="hold" grpId="0" nodeType="withEffect">
                                  <p:stCondLst>
                                    <p:cond delay="480"/>
                                  </p:stCondLst>
                                  <p:childTnLst>
                                    <p:set>
                                      <p:cBhvr>
                                        <p:cTn id="53" dur="1" fill="hold">
                                          <p:stCondLst>
                                            <p:cond delay="0"/>
                                          </p:stCondLst>
                                        </p:cTn>
                                        <p:tgtEl>
                                          <p:spTgt spid="115"/>
                                        </p:tgtEl>
                                        <p:attrNameLst>
                                          <p:attrName>style.visibility</p:attrName>
                                        </p:attrNameLst>
                                      </p:cBhvr>
                                      <p:to>
                                        <p:strVal val="visible"/>
                                      </p:to>
                                    </p:set>
                                    <p:animEffect transition="in" filter="fade">
                                      <p:cBhvr>
                                        <p:cTn id="54" dur="250"/>
                                        <p:tgtEl>
                                          <p:spTgt spid="115"/>
                                        </p:tgtEl>
                                      </p:cBhvr>
                                    </p:animEffect>
                                  </p:childTnLst>
                                </p:cTn>
                              </p:par>
                              <p:par>
                                <p:cTn id="55" presetID="10" presetClass="entr" presetSubtype="0" fill="hold" grpId="0" nodeType="withEffect">
                                  <p:stCondLst>
                                    <p:cond delay="520"/>
                                  </p:stCondLst>
                                  <p:childTnLst>
                                    <p:set>
                                      <p:cBhvr>
                                        <p:cTn id="56" dur="1" fill="hold">
                                          <p:stCondLst>
                                            <p:cond delay="0"/>
                                          </p:stCondLst>
                                        </p:cTn>
                                        <p:tgtEl>
                                          <p:spTgt spid="116"/>
                                        </p:tgtEl>
                                        <p:attrNameLst>
                                          <p:attrName>style.visibility</p:attrName>
                                        </p:attrNameLst>
                                      </p:cBhvr>
                                      <p:to>
                                        <p:strVal val="visible"/>
                                      </p:to>
                                    </p:set>
                                    <p:animEffect transition="in" filter="fade">
                                      <p:cBhvr>
                                        <p:cTn id="57" dur="250"/>
                                        <p:tgtEl>
                                          <p:spTgt spid="116"/>
                                        </p:tgtEl>
                                      </p:cBhvr>
                                    </p:animEffect>
                                  </p:childTnLst>
                                </p:cTn>
                              </p:par>
                              <p:par>
                                <p:cTn id="58" presetID="10" presetClass="entr" presetSubtype="0" fill="hold" grpId="0" nodeType="withEffect">
                                  <p:stCondLst>
                                    <p:cond delay="560"/>
                                  </p:stCondLst>
                                  <p:childTnLst>
                                    <p:set>
                                      <p:cBhvr>
                                        <p:cTn id="59" dur="1" fill="hold">
                                          <p:stCondLst>
                                            <p:cond delay="0"/>
                                          </p:stCondLst>
                                        </p:cTn>
                                        <p:tgtEl>
                                          <p:spTgt spid="117"/>
                                        </p:tgtEl>
                                        <p:attrNameLst>
                                          <p:attrName>style.visibility</p:attrName>
                                        </p:attrNameLst>
                                      </p:cBhvr>
                                      <p:to>
                                        <p:strVal val="visible"/>
                                      </p:to>
                                    </p:set>
                                    <p:animEffect transition="in" filter="fade">
                                      <p:cBhvr>
                                        <p:cTn id="60" dur="250"/>
                                        <p:tgtEl>
                                          <p:spTgt spid="117"/>
                                        </p:tgtEl>
                                      </p:cBhvr>
                                    </p:animEffect>
                                  </p:childTnLst>
                                </p:cTn>
                              </p:par>
                              <p:par>
                                <p:cTn id="61" presetID="10" presetClass="entr" presetSubtype="0" fill="hold" grpId="0" nodeType="withEffect">
                                  <p:stCondLst>
                                    <p:cond delay="600"/>
                                  </p:stCondLst>
                                  <p:childTnLst>
                                    <p:set>
                                      <p:cBhvr>
                                        <p:cTn id="62" dur="1" fill="hold">
                                          <p:stCondLst>
                                            <p:cond delay="0"/>
                                          </p:stCondLst>
                                        </p:cTn>
                                        <p:tgtEl>
                                          <p:spTgt spid="118"/>
                                        </p:tgtEl>
                                        <p:attrNameLst>
                                          <p:attrName>style.visibility</p:attrName>
                                        </p:attrNameLst>
                                      </p:cBhvr>
                                      <p:to>
                                        <p:strVal val="visible"/>
                                      </p:to>
                                    </p:set>
                                    <p:animEffect transition="in" filter="fade">
                                      <p:cBhvr>
                                        <p:cTn id="63" dur="250"/>
                                        <p:tgtEl>
                                          <p:spTgt spid="118"/>
                                        </p:tgtEl>
                                      </p:cBhvr>
                                    </p:animEffect>
                                  </p:childTnLst>
                                </p:cTn>
                              </p:par>
                              <p:par>
                                <p:cTn id="64" presetID="10" presetClass="entr" presetSubtype="0" fill="hold" grpId="0" nodeType="withEffect">
                                  <p:stCondLst>
                                    <p:cond delay="640"/>
                                  </p:stCondLst>
                                  <p:childTnLst>
                                    <p:set>
                                      <p:cBhvr>
                                        <p:cTn id="65" dur="1" fill="hold">
                                          <p:stCondLst>
                                            <p:cond delay="0"/>
                                          </p:stCondLst>
                                        </p:cTn>
                                        <p:tgtEl>
                                          <p:spTgt spid="119"/>
                                        </p:tgtEl>
                                        <p:attrNameLst>
                                          <p:attrName>style.visibility</p:attrName>
                                        </p:attrNameLst>
                                      </p:cBhvr>
                                      <p:to>
                                        <p:strVal val="visible"/>
                                      </p:to>
                                    </p:set>
                                    <p:animEffect transition="in" filter="fade">
                                      <p:cBhvr>
                                        <p:cTn id="66" dur="250"/>
                                        <p:tgtEl>
                                          <p:spTgt spid="119"/>
                                        </p:tgtEl>
                                      </p:cBhvr>
                                    </p:animEffect>
                                  </p:childTnLst>
                                </p:cTn>
                              </p:par>
                              <p:par>
                                <p:cTn id="67" presetID="10" presetClass="entr" presetSubtype="0" fill="hold" grpId="0" nodeType="withEffect">
                                  <p:stCondLst>
                                    <p:cond delay="680"/>
                                  </p:stCondLst>
                                  <p:childTnLst>
                                    <p:set>
                                      <p:cBhvr>
                                        <p:cTn id="68" dur="1" fill="hold">
                                          <p:stCondLst>
                                            <p:cond delay="0"/>
                                          </p:stCondLst>
                                        </p:cTn>
                                        <p:tgtEl>
                                          <p:spTgt spid="120"/>
                                        </p:tgtEl>
                                        <p:attrNameLst>
                                          <p:attrName>style.visibility</p:attrName>
                                        </p:attrNameLst>
                                      </p:cBhvr>
                                      <p:to>
                                        <p:strVal val="visible"/>
                                      </p:to>
                                    </p:set>
                                    <p:animEffect transition="in" filter="fade">
                                      <p:cBhvr>
                                        <p:cTn id="69" dur="250"/>
                                        <p:tgtEl>
                                          <p:spTgt spid="120"/>
                                        </p:tgtEl>
                                      </p:cBhvr>
                                    </p:animEffect>
                                  </p:childTnLst>
                                </p:cTn>
                              </p:par>
                              <p:par>
                                <p:cTn id="70" presetID="42" presetClass="entr" presetSubtype="0" fill="hold" grpId="0" nodeType="withEffect">
                                  <p:stCondLst>
                                    <p:cond delay="720"/>
                                  </p:stCondLst>
                                  <p:childTnLst>
                                    <p:set>
                                      <p:cBhvr>
                                        <p:cTn id="71" dur="1" fill="hold">
                                          <p:stCondLst>
                                            <p:cond delay="0"/>
                                          </p:stCondLst>
                                        </p:cTn>
                                        <p:tgtEl>
                                          <p:spTgt spid="121"/>
                                        </p:tgtEl>
                                        <p:attrNameLst>
                                          <p:attrName>style.visibility</p:attrName>
                                        </p:attrNameLst>
                                      </p:cBhvr>
                                      <p:to>
                                        <p:strVal val="visible"/>
                                      </p:to>
                                    </p:set>
                                    <p:animEffect transition="in" filter="fade">
                                      <p:cBhvr>
                                        <p:cTn id="72" dur="250"/>
                                        <p:tgtEl>
                                          <p:spTgt spid="121"/>
                                        </p:tgtEl>
                                      </p:cBhvr>
                                    </p:animEffect>
                                    <p:anim calcmode="lin" valueType="num">
                                      <p:cBhvr additive="base">
                                        <p:cTn id="73" dur="250" decel="100000" fill="hold"/>
                                        <p:tgtEl>
                                          <p:spTgt spid="121"/>
                                        </p:tgtEl>
                                        <p:attrNameLst>
                                          <p:attrName>ppt_y</p:attrName>
                                        </p:attrNameLst>
                                      </p:cBhvr>
                                      <p:tavLst>
                                        <p:tav tm="0">
                                          <p:val>
                                            <p:strVal val="#ppt_y+0.06"/>
                                          </p:val>
                                        </p:tav>
                                        <p:tav tm="100000">
                                          <p:val>
                                            <p:strVal val="#ppt_y"/>
                                          </p:val>
                                        </p:tav>
                                      </p:tavLst>
                                    </p:anim>
                                  </p:childTnLst>
                                </p:cTn>
                              </p:par>
                            </p:childTnLst>
                          </p:cTn>
                        </p:par>
                      </p:childTnLst>
                    </p:cTn>
                  </p:par>
                  <p:par>
                    <p:cTn id="74" fill="hold">
                      <p:stCondLst>
                        <p:cond delay="indefinite"/>
                      </p:stCondLst>
                      <p:childTnLst>
                        <p:par>
                          <p:cTn id="75" fill="hold">
                            <p:stCondLst>
                              <p:cond delay="0"/>
                            </p:stCondLst>
                            <p:childTnLst>
                              <p:par>
                                <p:cTn id="76" presetID="42" presetClass="entr" presetSubtype="0" fill="hold" grpId="0" nodeType="clickEffect">
                                  <p:stCondLst>
                                    <p:cond delay="0"/>
                                  </p:stCondLst>
                                  <p:childTnLst>
                                    <p:set>
                                      <p:cBhvr>
                                        <p:cTn id="77" dur="1" fill="hold">
                                          <p:stCondLst>
                                            <p:cond delay="0"/>
                                          </p:stCondLst>
                                        </p:cTn>
                                        <p:tgtEl>
                                          <p:spTgt spid="122"/>
                                        </p:tgtEl>
                                        <p:attrNameLst>
                                          <p:attrName>style.visibility</p:attrName>
                                        </p:attrNameLst>
                                      </p:cBhvr>
                                      <p:to>
                                        <p:strVal val="visible"/>
                                      </p:to>
                                    </p:set>
                                    <p:animEffect transition="in" filter="fade">
                                      <p:cBhvr>
                                        <p:cTn id="78" dur="500"/>
                                        <p:tgtEl>
                                          <p:spTgt spid="122"/>
                                        </p:tgtEl>
                                      </p:cBhvr>
                                    </p:animEffect>
                                    <p:anim calcmode="lin" valueType="num">
                                      <p:cBhvr additive="base">
                                        <p:cTn id="79" dur="500" decel="100000" fill="hold"/>
                                        <p:tgtEl>
                                          <p:spTgt spid="122"/>
                                        </p:tgtEl>
                                        <p:attrNameLst>
                                          <p:attrName>ppt_y</p:attrName>
                                        </p:attrNameLst>
                                      </p:cBhvr>
                                      <p:tavLst>
                                        <p:tav tm="0">
                                          <p:val>
                                            <p:strVal val="#ppt_y-0.06"/>
                                          </p:val>
                                        </p:tav>
                                        <p:tav tm="100000">
                                          <p:val>
                                            <p:strVal val="#ppt_y"/>
                                          </p:val>
                                        </p:tav>
                                      </p:tavLst>
                                    </p:anim>
                                  </p:childTnLst>
                                </p:cTn>
                              </p:par>
                              <p:par>
                                <p:cTn id="80" presetID="42" presetClass="entr" presetSubtype="0" fill="hold" grpId="0" nodeType="withEffect">
                                  <p:stCondLst>
                                    <p:cond delay="250"/>
                                  </p:stCondLst>
                                  <p:childTnLst>
                                    <p:set>
                                      <p:cBhvr>
                                        <p:cTn id="81" dur="1" fill="hold">
                                          <p:stCondLst>
                                            <p:cond delay="0"/>
                                          </p:stCondLst>
                                        </p:cTn>
                                        <p:tgtEl>
                                          <p:spTgt spid="123"/>
                                        </p:tgtEl>
                                        <p:attrNameLst>
                                          <p:attrName>style.visibility</p:attrName>
                                        </p:attrNameLst>
                                      </p:cBhvr>
                                      <p:to>
                                        <p:strVal val="visible"/>
                                      </p:to>
                                    </p:set>
                                    <p:animEffect transition="in" filter="fade">
                                      <p:cBhvr>
                                        <p:cTn id="82" dur="500"/>
                                        <p:tgtEl>
                                          <p:spTgt spid="123"/>
                                        </p:tgtEl>
                                      </p:cBhvr>
                                    </p:animEffect>
                                    <p:anim calcmode="lin" valueType="num">
                                      <p:cBhvr additive="base">
                                        <p:cTn id="83" dur="500" decel="100000" fill="hold"/>
                                        <p:tgtEl>
                                          <p:spTgt spid="123"/>
                                        </p:tgtEl>
                                        <p:attrNameLst>
                                          <p:attrName>ppt_y</p:attrName>
                                        </p:attrNameLst>
                                      </p:cBhvr>
                                      <p:tavLst>
                                        <p:tav tm="0">
                                          <p:val>
                                            <p:strVal val="#ppt_y-0.06"/>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124"/>
                                        </p:tgtEl>
                                        <p:attrNameLst>
                                          <p:attrName>style.visibility</p:attrName>
                                        </p:attrNameLst>
                                      </p:cBhvr>
                                      <p:to>
                                        <p:strVal val="visible"/>
                                      </p:to>
                                    </p:set>
                                    <p:animEffect transition="in" filter="fade">
                                      <p:cBhvr>
                                        <p:cTn id="88" dur="500"/>
                                        <p:tgtEl>
                                          <p:spTgt spid="124"/>
                                        </p:tgtEl>
                                      </p:cBhvr>
                                    </p:animEffect>
                                  </p:childTnLst>
                                </p:cTn>
                              </p:par>
                            </p:childTnLst>
                          </p:cTn>
                        </p:par>
                      </p:childTnLst>
                    </p:cTn>
                  </p:par>
                  <p:par>
                    <p:cTn id="89" fill="hold">
                      <p:stCondLst>
                        <p:cond delay="indefinite"/>
                      </p:stCondLst>
                      <p:childTnLst>
                        <p:par>
                          <p:cTn id="90" fill="hold">
                            <p:stCondLst>
                              <p:cond delay="0"/>
                            </p:stCondLst>
                            <p:childTnLst>
                              <p:par>
                                <p:cTn id="91" presetID="42" presetClass="entr" presetSubtype="0" fill="hold" grpId="0" nodeType="clickEffect">
                                  <p:stCondLst>
                                    <p:cond delay="0"/>
                                  </p:stCondLst>
                                  <p:childTnLst>
                                    <p:set>
                                      <p:cBhvr>
                                        <p:cTn id="92" dur="1" fill="hold">
                                          <p:stCondLst>
                                            <p:cond delay="0"/>
                                          </p:stCondLst>
                                        </p:cTn>
                                        <p:tgtEl>
                                          <p:spTgt spid="125"/>
                                        </p:tgtEl>
                                        <p:attrNameLst>
                                          <p:attrName>style.visibility</p:attrName>
                                        </p:attrNameLst>
                                      </p:cBhvr>
                                      <p:to>
                                        <p:strVal val="visible"/>
                                      </p:to>
                                    </p:set>
                                    <p:animEffect transition="in" filter="fade">
                                      <p:cBhvr>
                                        <p:cTn id="93" dur="500"/>
                                        <p:tgtEl>
                                          <p:spTgt spid="125"/>
                                        </p:tgtEl>
                                      </p:cBhvr>
                                    </p:animEffect>
                                    <p:anim calcmode="lin" valueType="num">
                                      <p:cBhvr additive="base">
                                        <p:cTn id="94" dur="500" decel="100000" fill="hold"/>
                                        <p:tgtEl>
                                          <p:spTgt spid="125"/>
                                        </p:tgtEl>
                                        <p:attrNameLst>
                                          <p:attrName>ppt_y</p:attrName>
                                        </p:attrNameLst>
                                      </p:cBhvr>
                                      <p:tavLst>
                                        <p:tav tm="0">
                                          <p:val>
                                            <p:strVal val="#ppt_y+0.06"/>
                                          </p:val>
                                        </p:tav>
                                        <p:tav tm="100000">
                                          <p:val>
                                            <p:strVal val="#ppt_y"/>
                                          </p:val>
                                        </p:tav>
                                      </p:tavLst>
                                    </p:anim>
                                  </p:childTnLst>
                                </p:cTn>
                              </p:par>
                              <p:par>
                                <p:cTn id="95" presetID="42" presetClass="entr" presetSubtype="0" fill="hold" grpId="0" nodeType="withEffect">
                                  <p:stCondLst>
                                    <p:cond delay="100"/>
                                  </p:stCondLst>
                                  <p:childTnLst>
                                    <p:set>
                                      <p:cBhvr>
                                        <p:cTn id="96" dur="1" fill="hold">
                                          <p:stCondLst>
                                            <p:cond delay="0"/>
                                          </p:stCondLst>
                                        </p:cTn>
                                        <p:tgtEl>
                                          <p:spTgt spid="126"/>
                                        </p:tgtEl>
                                        <p:attrNameLst>
                                          <p:attrName>style.visibility</p:attrName>
                                        </p:attrNameLst>
                                      </p:cBhvr>
                                      <p:to>
                                        <p:strVal val="visible"/>
                                      </p:to>
                                    </p:set>
                                    <p:animEffect transition="in" filter="fade">
                                      <p:cBhvr>
                                        <p:cTn id="97" dur="500"/>
                                        <p:tgtEl>
                                          <p:spTgt spid="126"/>
                                        </p:tgtEl>
                                      </p:cBhvr>
                                    </p:animEffect>
                                    <p:anim calcmode="lin" valueType="num">
                                      <p:cBhvr additive="base">
                                        <p:cTn id="98" dur="500" decel="100000" fill="hold"/>
                                        <p:tgtEl>
                                          <p:spTgt spid="126"/>
                                        </p:tgtEl>
                                        <p:attrNameLst>
                                          <p:attrName>ppt_y</p:attrName>
                                        </p:attrNameLst>
                                      </p:cBhvr>
                                      <p:tavLst>
                                        <p:tav tm="0">
                                          <p:val>
                                            <p:strVal val="#ppt_y+0.06"/>
                                          </p:val>
                                        </p:tav>
                                        <p:tav tm="100000">
                                          <p:val>
                                            <p:strVal val="#ppt_y"/>
                                          </p:val>
                                        </p:tav>
                                      </p:tavLst>
                                    </p:anim>
                                  </p:childTnLst>
                                </p:cTn>
                              </p:par>
                              <p:par>
                                <p:cTn id="99" presetID="42" presetClass="entr" presetSubtype="0" fill="hold" grpId="0" nodeType="withEffect">
                                  <p:stCondLst>
                                    <p:cond delay="200"/>
                                  </p:stCondLst>
                                  <p:childTnLst>
                                    <p:set>
                                      <p:cBhvr>
                                        <p:cTn id="100" dur="1" fill="hold">
                                          <p:stCondLst>
                                            <p:cond delay="0"/>
                                          </p:stCondLst>
                                        </p:cTn>
                                        <p:tgtEl>
                                          <p:spTgt spid="127"/>
                                        </p:tgtEl>
                                        <p:attrNameLst>
                                          <p:attrName>style.visibility</p:attrName>
                                        </p:attrNameLst>
                                      </p:cBhvr>
                                      <p:to>
                                        <p:strVal val="visible"/>
                                      </p:to>
                                    </p:set>
                                    <p:animEffect transition="in" filter="fade">
                                      <p:cBhvr>
                                        <p:cTn id="101" dur="500"/>
                                        <p:tgtEl>
                                          <p:spTgt spid="127"/>
                                        </p:tgtEl>
                                      </p:cBhvr>
                                    </p:animEffect>
                                    <p:anim calcmode="lin" valueType="num">
                                      <p:cBhvr additive="base">
                                        <p:cTn id="102" dur="500" decel="100000" fill="hold"/>
                                        <p:tgtEl>
                                          <p:spTgt spid="127"/>
                                        </p:tgtEl>
                                        <p:attrNameLst>
                                          <p:attrName>ppt_y</p:attrName>
                                        </p:attrNameLst>
                                      </p:cBhvr>
                                      <p:tavLst>
                                        <p:tav tm="0">
                                          <p:val>
                                            <p:strVal val="#ppt_y+0.06"/>
                                          </p:val>
                                        </p:tav>
                                        <p:tav tm="100000">
                                          <p:val>
                                            <p:strVal val="#ppt_y"/>
                                          </p:val>
                                        </p:tav>
                                      </p:tavLst>
                                    </p:anim>
                                  </p:childTnLst>
                                </p:cTn>
                              </p:par>
                              <p:par>
                                <p:cTn id="103" presetID="42" presetClass="entr" presetSubtype="0" fill="hold" grpId="0" nodeType="withEffect">
                                  <p:stCondLst>
                                    <p:cond delay="300"/>
                                  </p:stCondLst>
                                  <p:childTnLst>
                                    <p:set>
                                      <p:cBhvr>
                                        <p:cTn id="104" dur="1" fill="hold">
                                          <p:stCondLst>
                                            <p:cond delay="0"/>
                                          </p:stCondLst>
                                        </p:cTn>
                                        <p:tgtEl>
                                          <p:spTgt spid="128"/>
                                        </p:tgtEl>
                                        <p:attrNameLst>
                                          <p:attrName>style.visibility</p:attrName>
                                        </p:attrNameLst>
                                      </p:cBhvr>
                                      <p:to>
                                        <p:strVal val="visible"/>
                                      </p:to>
                                    </p:set>
                                    <p:animEffect transition="in" filter="fade">
                                      <p:cBhvr>
                                        <p:cTn id="105" dur="500"/>
                                        <p:tgtEl>
                                          <p:spTgt spid="128"/>
                                        </p:tgtEl>
                                      </p:cBhvr>
                                    </p:animEffect>
                                    <p:anim calcmode="lin" valueType="num">
                                      <p:cBhvr additive="base">
                                        <p:cTn id="106" dur="500" decel="100000" fill="hold"/>
                                        <p:tgtEl>
                                          <p:spTgt spid="12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60A5FA">
              <a:alpha val="18000"/>
            </a:srgbClr>
          </a:solidFill>
          <a:ln w="12700">
            <a:solidFill>
              <a:srgbClr val="60A5FA"/>
            </a:solidFill>
          </a:ln>
        </p:spPr>
        <p:txBody>
          <a:bodyPr wrap="square" lIns="0" tIns="0" rIns="0" bIns="0" rtlCol="0" anchor="ctr">
            <a:noAutofit/>
          </a:bodyPr>
          <a:lstStyle/>
          <a:p>
            <a:pPr marL="0" indent="0" algn="ctr">
              <a:spcBef>
                <a:spcPts val="0"/>
              </a:spcBef>
              <a:spcAft>
                <a:spcPts val="0"/>
              </a:spcAft>
              <a:buNone/>
            </a:pPr>
            <a:r>
              <a:rPr lang="en-US" sz="1000" b="1" dirty="0">
                <a:solidFill>
                  <a:srgbClr val="60A5FA"/>
                </a:solidFill>
                <a:latin typeface="Segoe UI"/>
                <a:ea typeface="Segoe UI"/>
                <a:cs typeface="Segoe UI"/>
              </a:rPr>
              <a:t>IN A COMPANY</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A Real 2-Week Sprint in a Software House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One common way teams place the events on the calendar. Your company may differ; the rhythm stays.</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299</a:t>
            </a:r>
            <a:endParaRPr lang="en-US" sz="850" dirty="0"/>
          </a:p>
        </p:txBody>
      </p:sp>
      <p:sp>
        <p:nvSpPr>
          <p:cNvPr id="101" name="s101"/>
          <p:cNvSpPr/>
          <p:nvPr/>
        </p:nvSpPr>
        <p:spPr>
          <a:xfrm>
            <a:off x="543154" y="1920240"/>
            <a:ext cx="1026505" cy="365760"/>
          </a:xfrm>
          <a:prstGeom prst="roundRect">
            <a:avLst>
              <a:gd name="adj" fmla="val 15000"/>
            </a:avLst>
          </a:prstGeom>
          <a:solidFill>
            <a:srgbClr val="152238"/>
          </a:solidFill>
          <a:ln>
            <a:noFill/>
          </a:ln>
        </p:spPr>
        <p:txBody>
          <a:bodyPr wrap="square" lIns="164592" tIns="109728" rIns="137160" bIns="91440" rtlCol="0" anchor="ctr">
            <a:noAutofit/>
          </a:bodyPr>
          <a:lstStyle/>
          <a:p>
            <a:pPr marL="0" indent="0" algn="ctr">
              <a:spcBef>
                <a:spcPts val="0"/>
              </a:spcBef>
              <a:spcAft>
                <a:spcPts val="0"/>
              </a:spcAft>
              <a:buNone/>
            </a:pPr>
            <a:r>
              <a:rPr lang="en-US" sz="1050" b="1" dirty="0">
                <a:solidFill>
                  <a:srgbClr val="94A3B8"/>
                </a:solidFill>
                <a:latin typeface="Segoe UI"/>
                <a:ea typeface="Segoe UI"/>
                <a:cs typeface="Segoe UI"/>
              </a:rPr>
              <a:t>Sun  W1</a:t>
            </a:r>
            <a:endParaRPr lang="en-US" sz="1050" dirty="0"/>
          </a:p>
        </p:txBody>
      </p:sp>
      <p:sp>
        <p:nvSpPr>
          <p:cNvPr id="102" name="s102"/>
          <p:cNvSpPr/>
          <p:nvPr/>
        </p:nvSpPr>
        <p:spPr>
          <a:xfrm>
            <a:off x="543154" y="2377440"/>
            <a:ext cx="1026505" cy="288036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3" name="s103"/>
          <p:cNvSpPr/>
          <p:nvPr/>
        </p:nvSpPr>
        <p:spPr>
          <a:xfrm>
            <a:off x="598018" y="2468880"/>
            <a:ext cx="916777" cy="731520"/>
          </a:xfrm>
          <a:prstGeom prst="roundRect">
            <a:avLst>
              <a:gd name="adj" fmla="val 12000"/>
            </a:avLst>
          </a:prstGeom>
          <a:solidFill>
            <a:srgbClr val="FBBF24">
              <a:alpha val="18000"/>
            </a:srgbClr>
          </a:solidFill>
          <a:ln w="12700">
            <a:solidFill>
              <a:srgbClr val="FBBF24">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Sprint Planning</a:t>
            </a:r>
            <a:endParaRPr lang="en-US" sz="950" dirty="0"/>
          </a:p>
        </p:txBody>
      </p:sp>
      <p:sp>
        <p:nvSpPr>
          <p:cNvPr id="104" name="s104"/>
          <p:cNvSpPr/>
          <p:nvPr/>
        </p:nvSpPr>
        <p:spPr>
          <a:xfrm>
            <a:off x="598018" y="3291840"/>
            <a:ext cx="916777" cy="384048"/>
          </a:xfrm>
          <a:prstGeom prst="roundRect">
            <a:avLst>
              <a:gd name="adj" fmla="val 12000"/>
            </a:avLst>
          </a:prstGeom>
          <a:solidFill>
            <a:srgbClr val="34D399">
              <a:alpha val="18000"/>
            </a:srgbClr>
          </a:solidFill>
          <a:ln w="12700">
            <a:solidFill>
              <a:srgbClr val="34D399">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Daily 10:00</a:t>
            </a:r>
            <a:endParaRPr lang="en-US" sz="950" dirty="0"/>
          </a:p>
        </p:txBody>
      </p:sp>
      <p:sp>
        <p:nvSpPr>
          <p:cNvPr id="105" name="s105"/>
          <p:cNvSpPr/>
          <p:nvPr/>
        </p:nvSpPr>
        <p:spPr>
          <a:xfrm>
            <a:off x="598018" y="3794760"/>
            <a:ext cx="916777" cy="1280160"/>
          </a:xfrm>
          <a:prstGeom prst="roundRect">
            <a:avLst>
              <a:gd name="adj" fmla="val 12000"/>
            </a:avLst>
          </a:prstGeom>
          <a:solidFill>
            <a:srgbClr val="60A5FA">
              <a:alpha val="8000"/>
            </a:srgbClr>
          </a:solidFill>
          <a:ln w="12700">
            <a:solidFill>
              <a:srgbClr val="60A5FA">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94A3B8"/>
                </a:solidFill>
                <a:latin typeface="Segoe UI"/>
                <a:ea typeface="Segoe UI"/>
                <a:cs typeface="Segoe UI"/>
              </a:rPr>
              <a:t>start the first slice</a:t>
            </a:r>
            <a:endParaRPr lang="en-US" sz="950" dirty="0"/>
          </a:p>
        </p:txBody>
      </p:sp>
      <p:sp>
        <p:nvSpPr>
          <p:cNvPr id="106" name="s106"/>
          <p:cNvSpPr/>
          <p:nvPr/>
        </p:nvSpPr>
        <p:spPr>
          <a:xfrm>
            <a:off x="1661099" y="1920240"/>
            <a:ext cx="1026505" cy="365760"/>
          </a:xfrm>
          <a:prstGeom prst="roundRect">
            <a:avLst>
              <a:gd name="adj" fmla="val 15000"/>
            </a:avLst>
          </a:prstGeom>
          <a:solidFill>
            <a:srgbClr val="152238"/>
          </a:solidFill>
          <a:ln>
            <a:noFill/>
          </a:ln>
        </p:spPr>
        <p:txBody>
          <a:bodyPr wrap="square" lIns="164592" tIns="109728" rIns="137160" bIns="91440" rtlCol="0" anchor="ctr">
            <a:noAutofit/>
          </a:bodyPr>
          <a:lstStyle/>
          <a:p>
            <a:pPr marL="0" indent="0" algn="ctr">
              <a:spcBef>
                <a:spcPts val="0"/>
              </a:spcBef>
              <a:spcAft>
                <a:spcPts val="0"/>
              </a:spcAft>
              <a:buNone/>
            </a:pPr>
            <a:r>
              <a:rPr lang="en-US" sz="1050" b="1" dirty="0">
                <a:solidFill>
                  <a:srgbClr val="94A3B8"/>
                </a:solidFill>
                <a:latin typeface="Segoe UI"/>
                <a:ea typeface="Segoe UI"/>
                <a:cs typeface="Segoe UI"/>
              </a:rPr>
              <a:t>Mon  W1</a:t>
            </a:r>
            <a:endParaRPr lang="en-US" sz="1050" dirty="0"/>
          </a:p>
        </p:txBody>
      </p:sp>
      <p:sp>
        <p:nvSpPr>
          <p:cNvPr id="107" name="s107"/>
          <p:cNvSpPr/>
          <p:nvPr/>
        </p:nvSpPr>
        <p:spPr>
          <a:xfrm>
            <a:off x="1661099" y="2377440"/>
            <a:ext cx="1026505" cy="288036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8" name="s108"/>
          <p:cNvSpPr/>
          <p:nvPr/>
        </p:nvSpPr>
        <p:spPr>
          <a:xfrm>
            <a:off x="1715963" y="2514600"/>
            <a:ext cx="916777" cy="384048"/>
          </a:xfrm>
          <a:prstGeom prst="roundRect">
            <a:avLst>
              <a:gd name="adj" fmla="val 12000"/>
            </a:avLst>
          </a:prstGeom>
          <a:solidFill>
            <a:srgbClr val="34D399">
              <a:alpha val="18000"/>
            </a:srgbClr>
          </a:solidFill>
          <a:ln w="12700">
            <a:solidFill>
              <a:srgbClr val="34D399">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Daily 10:00</a:t>
            </a:r>
            <a:endParaRPr lang="en-US" sz="950" dirty="0"/>
          </a:p>
        </p:txBody>
      </p:sp>
      <p:sp>
        <p:nvSpPr>
          <p:cNvPr id="109" name="s109"/>
          <p:cNvSpPr/>
          <p:nvPr/>
        </p:nvSpPr>
        <p:spPr>
          <a:xfrm>
            <a:off x="1715963" y="3017520"/>
            <a:ext cx="916777" cy="2011680"/>
          </a:xfrm>
          <a:prstGeom prst="roundRect">
            <a:avLst>
              <a:gd name="adj" fmla="val 12000"/>
            </a:avLst>
          </a:prstGeom>
          <a:solidFill>
            <a:srgbClr val="60A5FA">
              <a:alpha val="8000"/>
            </a:srgbClr>
          </a:solidFill>
          <a:ln w="12700">
            <a:solidFill>
              <a:srgbClr val="60A5FA">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94A3B8"/>
                </a:solidFill>
                <a:latin typeface="Segoe UI"/>
                <a:ea typeface="Segoe UI"/>
                <a:cs typeface="Segoe UI"/>
              </a:rPr>
              <a:t>build · test · pair · review PRs</a:t>
            </a:r>
            <a:endParaRPr lang="en-US" sz="950" dirty="0"/>
          </a:p>
        </p:txBody>
      </p:sp>
      <p:sp>
        <p:nvSpPr>
          <p:cNvPr id="110" name="s110"/>
          <p:cNvSpPr/>
          <p:nvPr/>
        </p:nvSpPr>
        <p:spPr>
          <a:xfrm>
            <a:off x="2779044" y="1920240"/>
            <a:ext cx="1026505" cy="365760"/>
          </a:xfrm>
          <a:prstGeom prst="roundRect">
            <a:avLst>
              <a:gd name="adj" fmla="val 15000"/>
            </a:avLst>
          </a:prstGeom>
          <a:solidFill>
            <a:srgbClr val="152238"/>
          </a:solidFill>
          <a:ln>
            <a:noFill/>
          </a:ln>
        </p:spPr>
        <p:txBody>
          <a:bodyPr wrap="square" lIns="164592" tIns="109728" rIns="137160" bIns="91440" rtlCol="0" anchor="ctr">
            <a:noAutofit/>
          </a:bodyPr>
          <a:lstStyle/>
          <a:p>
            <a:pPr marL="0" indent="0" algn="ctr">
              <a:spcBef>
                <a:spcPts val="0"/>
              </a:spcBef>
              <a:spcAft>
                <a:spcPts val="0"/>
              </a:spcAft>
              <a:buNone/>
            </a:pPr>
            <a:r>
              <a:rPr lang="en-US" sz="1050" b="1" dirty="0">
                <a:solidFill>
                  <a:srgbClr val="94A3B8"/>
                </a:solidFill>
                <a:latin typeface="Segoe UI"/>
                <a:ea typeface="Segoe UI"/>
                <a:cs typeface="Segoe UI"/>
              </a:rPr>
              <a:t>Tue  W1</a:t>
            </a:r>
            <a:endParaRPr lang="en-US" sz="1050" dirty="0"/>
          </a:p>
        </p:txBody>
      </p:sp>
      <p:sp>
        <p:nvSpPr>
          <p:cNvPr id="111" name="s111"/>
          <p:cNvSpPr/>
          <p:nvPr/>
        </p:nvSpPr>
        <p:spPr>
          <a:xfrm>
            <a:off x="2779044" y="2377440"/>
            <a:ext cx="1026505" cy="288036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2" name="s112"/>
          <p:cNvSpPr/>
          <p:nvPr/>
        </p:nvSpPr>
        <p:spPr>
          <a:xfrm>
            <a:off x="2833908" y="2514600"/>
            <a:ext cx="916777" cy="384048"/>
          </a:xfrm>
          <a:prstGeom prst="roundRect">
            <a:avLst>
              <a:gd name="adj" fmla="val 12000"/>
            </a:avLst>
          </a:prstGeom>
          <a:solidFill>
            <a:srgbClr val="34D399">
              <a:alpha val="18000"/>
            </a:srgbClr>
          </a:solidFill>
          <a:ln w="12700">
            <a:solidFill>
              <a:srgbClr val="34D399">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Daily 10:00</a:t>
            </a:r>
            <a:endParaRPr lang="en-US" sz="950" dirty="0"/>
          </a:p>
        </p:txBody>
      </p:sp>
      <p:sp>
        <p:nvSpPr>
          <p:cNvPr id="113" name="s113"/>
          <p:cNvSpPr/>
          <p:nvPr/>
        </p:nvSpPr>
        <p:spPr>
          <a:xfrm>
            <a:off x="2833908" y="3017520"/>
            <a:ext cx="916777" cy="2011680"/>
          </a:xfrm>
          <a:prstGeom prst="roundRect">
            <a:avLst>
              <a:gd name="adj" fmla="val 12000"/>
            </a:avLst>
          </a:prstGeom>
          <a:solidFill>
            <a:srgbClr val="60A5FA">
              <a:alpha val="8000"/>
            </a:srgbClr>
          </a:solidFill>
          <a:ln w="12700">
            <a:solidFill>
              <a:srgbClr val="60A5FA">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94A3B8"/>
                </a:solidFill>
                <a:latin typeface="Segoe UI"/>
                <a:ea typeface="Segoe UI"/>
                <a:cs typeface="Segoe UI"/>
              </a:rPr>
              <a:t>build · test · pair · review PRs</a:t>
            </a:r>
            <a:endParaRPr lang="en-US" sz="950" dirty="0"/>
          </a:p>
        </p:txBody>
      </p:sp>
      <p:sp>
        <p:nvSpPr>
          <p:cNvPr id="114" name="s114"/>
          <p:cNvSpPr/>
          <p:nvPr/>
        </p:nvSpPr>
        <p:spPr>
          <a:xfrm>
            <a:off x="3896990" y="1920240"/>
            <a:ext cx="1026505" cy="365760"/>
          </a:xfrm>
          <a:prstGeom prst="roundRect">
            <a:avLst>
              <a:gd name="adj" fmla="val 15000"/>
            </a:avLst>
          </a:prstGeom>
          <a:solidFill>
            <a:srgbClr val="152238"/>
          </a:solidFill>
          <a:ln>
            <a:noFill/>
          </a:ln>
        </p:spPr>
        <p:txBody>
          <a:bodyPr wrap="square" lIns="164592" tIns="109728" rIns="137160" bIns="91440" rtlCol="0" anchor="ctr">
            <a:noAutofit/>
          </a:bodyPr>
          <a:lstStyle/>
          <a:p>
            <a:pPr marL="0" indent="0" algn="ctr">
              <a:spcBef>
                <a:spcPts val="0"/>
              </a:spcBef>
              <a:spcAft>
                <a:spcPts val="0"/>
              </a:spcAft>
              <a:buNone/>
            </a:pPr>
            <a:r>
              <a:rPr lang="en-US" sz="1050" b="1" dirty="0">
                <a:solidFill>
                  <a:srgbClr val="94A3B8"/>
                </a:solidFill>
                <a:latin typeface="Segoe UI"/>
                <a:ea typeface="Segoe UI"/>
                <a:cs typeface="Segoe UI"/>
              </a:rPr>
              <a:t>Wed  W1</a:t>
            </a:r>
            <a:endParaRPr lang="en-US" sz="1050" dirty="0"/>
          </a:p>
        </p:txBody>
      </p:sp>
      <p:sp>
        <p:nvSpPr>
          <p:cNvPr id="115" name="s115"/>
          <p:cNvSpPr/>
          <p:nvPr/>
        </p:nvSpPr>
        <p:spPr>
          <a:xfrm>
            <a:off x="3896990" y="2377440"/>
            <a:ext cx="1026505" cy="288036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16" name="s116"/>
          <p:cNvSpPr/>
          <p:nvPr/>
        </p:nvSpPr>
        <p:spPr>
          <a:xfrm>
            <a:off x="3951854" y="2514600"/>
            <a:ext cx="916777" cy="384048"/>
          </a:xfrm>
          <a:prstGeom prst="roundRect">
            <a:avLst>
              <a:gd name="adj" fmla="val 12000"/>
            </a:avLst>
          </a:prstGeom>
          <a:solidFill>
            <a:srgbClr val="34D399">
              <a:alpha val="18000"/>
            </a:srgbClr>
          </a:solidFill>
          <a:ln w="12700">
            <a:solidFill>
              <a:srgbClr val="34D399">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Daily 10:00</a:t>
            </a:r>
            <a:endParaRPr lang="en-US" sz="950" dirty="0"/>
          </a:p>
        </p:txBody>
      </p:sp>
      <p:sp>
        <p:nvSpPr>
          <p:cNvPr id="117" name="s117"/>
          <p:cNvSpPr/>
          <p:nvPr/>
        </p:nvSpPr>
        <p:spPr>
          <a:xfrm>
            <a:off x="3951854" y="3017520"/>
            <a:ext cx="916777" cy="548640"/>
          </a:xfrm>
          <a:prstGeom prst="roundRect">
            <a:avLst>
              <a:gd name="adj" fmla="val 12000"/>
            </a:avLst>
          </a:prstGeom>
          <a:solidFill>
            <a:srgbClr val="A78BFA">
              <a:alpha val="18000"/>
            </a:srgbClr>
          </a:solidFill>
          <a:ln w="12700">
            <a:solidFill>
              <a:srgbClr val="A78BFA">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Refinement</a:t>
            </a:r>
            <a:endParaRPr lang="en-US" sz="950" dirty="0"/>
          </a:p>
        </p:txBody>
      </p:sp>
      <p:sp>
        <p:nvSpPr>
          <p:cNvPr id="118" name="s118"/>
          <p:cNvSpPr/>
          <p:nvPr/>
        </p:nvSpPr>
        <p:spPr>
          <a:xfrm>
            <a:off x="3951854" y="3657600"/>
            <a:ext cx="916777" cy="1371600"/>
          </a:xfrm>
          <a:prstGeom prst="roundRect">
            <a:avLst>
              <a:gd name="adj" fmla="val 12000"/>
            </a:avLst>
          </a:prstGeom>
          <a:solidFill>
            <a:srgbClr val="60A5FA">
              <a:alpha val="8000"/>
            </a:srgbClr>
          </a:solidFill>
          <a:ln w="12700">
            <a:solidFill>
              <a:srgbClr val="60A5FA">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94A3B8"/>
                </a:solidFill>
                <a:latin typeface="Segoe UI"/>
                <a:ea typeface="Segoe UI"/>
                <a:cs typeface="Segoe UI"/>
              </a:rPr>
              <a:t>build · test</a:t>
            </a:r>
            <a:endParaRPr lang="en-US" sz="950" dirty="0"/>
          </a:p>
        </p:txBody>
      </p:sp>
      <p:sp>
        <p:nvSpPr>
          <p:cNvPr id="119" name="s119"/>
          <p:cNvSpPr/>
          <p:nvPr/>
        </p:nvSpPr>
        <p:spPr>
          <a:xfrm>
            <a:off x="5014935" y="1920240"/>
            <a:ext cx="1026505" cy="365760"/>
          </a:xfrm>
          <a:prstGeom prst="roundRect">
            <a:avLst>
              <a:gd name="adj" fmla="val 15000"/>
            </a:avLst>
          </a:prstGeom>
          <a:solidFill>
            <a:srgbClr val="152238"/>
          </a:solidFill>
          <a:ln>
            <a:noFill/>
          </a:ln>
        </p:spPr>
        <p:txBody>
          <a:bodyPr wrap="square" lIns="164592" tIns="109728" rIns="137160" bIns="91440" rtlCol="0" anchor="ctr">
            <a:noAutofit/>
          </a:bodyPr>
          <a:lstStyle/>
          <a:p>
            <a:pPr marL="0" indent="0" algn="ctr">
              <a:spcBef>
                <a:spcPts val="0"/>
              </a:spcBef>
              <a:spcAft>
                <a:spcPts val="0"/>
              </a:spcAft>
              <a:buNone/>
            </a:pPr>
            <a:r>
              <a:rPr lang="en-US" sz="1050" b="1" dirty="0">
                <a:solidFill>
                  <a:srgbClr val="94A3B8"/>
                </a:solidFill>
                <a:latin typeface="Segoe UI"/>
                <a:ea typeface="Segoe UI"/>
                <a:cs typeface="Segoe UI"/>
              </a:rPr>
              <a:t>Thu  W1</a:t>
            </a:r>
            <a:endParaRPr lang="en-US" sz="1050" dirty="0"/>
          </a:p>
        </p:txBody>
      </p:sp>
      <p:sp>
        <p:nvSpPr>
          <p:cNvPr id="120" name="s120"/>
          <p:cNvSpPr/>
          <p:nvPr/>
        </p:nvSpPr>
        <p:spPr>
          <a:xfrm>
            <a:off x="5014935" y="2377440"/>
            <a:ext cx="1026505" cy="288036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1" name="s121"/>
          <p:cNvSpPr/>
          <p:nvPr/>
        </p:nvSpPr>
        <p:spPr>
          <a:xfrm>
            <a:off x="5069799" y="2514600"/>
            <a:ext cx="916777" cy="384048"/>
          </a:xfrm>
          <a:prstGeom prst="roundRect">
            <a:avLst>
              <a:gd name="adj" fmla="val 12000"/>
            </a:avLst>
          </a:prstGeom>
          <a:solidFill>
            <a:srgbClr val="34D399">
              <a:alpha val="18000"/>
            </a:srgbClr>
          </a:solidFill>
          <a:ln w="12700">
            <a:solidFill>
              <a:srgbClr val="34D399">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Daily 10:00</a:t>
            </a:r>
            <a:endParaRPr lang="en-US" sz="950" dirty="0"/>
          </a:p>
        </p:txBody>
      </p:sp>
      <p:sp>
        <p:nvSpPr>
          <p:cNvPr id="122" name="s122"/>
          <p:cNvSpPr/>
          <p:nvPr/>
        </p:nvSpPr>
        <p:spPr>
          <a:xfrm>
            <a:off x="5069799" y="3017520"/>
            <a:ext cx="916777" cy="2011680"/>
          </a:xfrm>
          <a:prstGeom prst="roundRect">
            <a:avLst>
              <a:gd name="adj" fmla="val 12000"/>
            </a:avLst>
          </a:prstGeom>
          <a:solidFill>
            <a:srgbClr val="60A5FA">
              <a:alpha val="8000"/>
            </a:srgbClr>
          </a:solidFill>
          <a:ln w="12700">
            <a:solidFill>
              <a:srgbClr val="60A5FA">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94A3B8"/>
                </a:solidFill>
                <a:latin typeface="Segoe UI"/>
                <a:ea typeface="Segoe UI"/>
                <a:cs typeface="Segoe UI"/>
              </a:rPr>
              <a:t>build · test · pair · review PRs</a:t>
            </a:r>
            <a:endParaRPr lang="en-US" sz="950" dirty="0"/>
          </a:p>
        </p:txBody>
      </p:sp>
      <p:sp>
        <p:nvSpPr>
          <p:cNvPr id="123" name="s123"/>
          <p:cNvSpPr/>
          <p:nvPr/>
        </p:nvSpPr>
        <p:spPr>
          <a:xfrm>
            <a:off x="6132881" y="1920240"/>
            <a:ext cx="1026505" cy="365760"/>
          </a:xfrm>
          <a:prstGeom prst="roundRect">
            <a:avLst>
              <a:gd name="adj" fmla="val 15000"/>
            </a:avLst>
          </a:prstGeom>
          <a:solidFill>
            <a:srgbClr val="152238"/>
          </a:solidFill>
          <a:ln>
            <a:noFill/>
          </a:ln>
        </p:spPr>
        <p:txBody>
          <a:bodyPr wrap="square" lIns="164592" tIns="109728" rIns="137160" bIns="91440" rtlCol="0" anchor="ctr">
            <a:noAutofit/>
          </a:bodyPr>
          <a:lstStyle/>
          <a:p>
            <a:pPr marL="0" indent="0" algn="ctr">
              <a:spcBef>
                <a:spcPts val="0"/>
              </a:spcBef>
              <a:spcAft>
                <a:spcPts val="0"/>
              </a:spcAft>
              <a:buNone/>
            </a:pPr>
            <a:r>
              <a:rPr lang="en-US" sz="1050" b="1" dirty="0">
                <a:solidFill>
                  <a:srgbClr val="94A3B8"/>
                </a:solidFill>
                <a:latin typeface="Segoe UI"/>
                <a:ea typeface="Segoe UI"/>
                <a:cs typeface="Segoe UI"/>
              </a:rPr>
              <a:t>Sun  W2</a:t>
            </a:r>
            <a:endParaRPr lang="en-US" sz="1050" dirty="0"/>
          </a:p>
        </p:txBody>
      </p:sp>
      <p:sp>
        <p:nvSpPr>
          <p:cNvPr id="124" name="s124"/>
          <p:cNvSpPr/>
          <p:nvPr/>
        </p:nvSpPr>
        <p:spPr>
          <a:xfrm>
            <a:off x="6132881" y="2377440"/>
            <a:ext cx="1026505" cy="288036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5" name="s125"/>
          <p:cNvSpPr/>
          <p:nvPr/>
        </p:nvSpPr>
        <p:spPr>
          <a:xfrm>
            <a:off x="6187745" y="2514600"/>
            <a:ext cx="916777" cy="384048"/>
          </a:xfrm>
          <a:prstGeom prst="roundRect">
            <a:avLst>
              <a:gd name="adj" fmla="val 12000"/>
            </a:avLst>
          </a:prstGeom>
          <a:solidFill>
            <a:srgbClr val="34D399">
              <a:alpha val="18000"/>
            </a:srgbClr>
          </a:solidFill>
          <a:ln w="12700">
            <a:solidFill>
              <a:srgbClr val="34D399">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Daily 10:00</a:t>
            </a:r>
            <a:endParaRPr lang="en-US" sz="950" dirty="0"/>
          </a:p>
        </p:txBody>
      </p:sp>
      <p:sp>
        <p:nvSpPr>
          <p:cNvPr id="126" name="s126"/>
          <p:cNvSpPr/>
          <p:nvPr/>
        </p:nvSpPr>
        <p:spPr>
          <a:xfrm>
            <a:off x="6187745" y="3017520"/>
            <a:ext cx="916777" cy="2011680"/>
          </a:xfrm>
          <a:prstGeom prst="roundRect">
            <a:avLst>
              <a:gd name="adj" fmla="val 12000"/>
            </a:avLst>
          </a:prstGeom>
          <a:solidFill>
            <a:srgbClr val="60A5FA">
              <a:alpha val="8000"/>
            </a:srgbClr>
          </a:solidFill>
          <a:ln w="12700">
            <a:solidFill>
              <a:srgbClr val="60A5FA">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94A3B8"/>
                </a:solidFill>
                <a:latin typeface="Segoe UI"/>
                <a:ea typeface="Segoe UI"/>
                <a:cs typeface="Segoe UI"/>
              </a:rPr>
              <a:t>build · test · pair · review PRs</a:t>
            </a:r>
            <a:endParaRPr lang="en-US" sz="950" dirty="0"/>
          </a:p>
        </p:txBody>
      </p:sp>
      <p:sp>
        <p:nvSpPr>
          <p:cNvPr id="127" name="s127"/>
          <p:cNvSpPr/>
          <p:nvPr/>
        </p:nvSpPr>
        <p:spPr>
          <a:xfrm>
            <a:off x="7250826" y="1920240"/>
            <a:ext cx="1026505" cy="365760"/>
          </a:xfrm>
          <a:prstGeom prst="roundRect">
            <a:avLst>
              <a:gd name="adj" fmla="val 15000"/>
            </a:avLst>
          </a:prstGeom>
          <a:solidFill>
            <a:srgbClr val="152238"/>
          </a:solidFill>
          <a:ln>
            <a:noFill/>
          </a:ln>
        </p:spPr>
        <p:txBody>
          <a:bodyPr wrap="square" lIns="164592" tIns="109728" rIns="137160" bIns="91440" rtlCol="0" anchor="ctr">
            <a:noAutofit/>
          </a:bodyPr>
          <a:lstStyle/>
          <a:p>
            <a:pPr marL="0" indent="0" algn="ctr">
              <a:spcBef>
                <a:spcPts val="0"/>
              </a:spcBef>
              <a:spcAft>
                <a:spcPts val="0"/>
              </a:spcAft>
              <a:buNone/>
            </a:pPr>
            <a:r>
              <a:rPr lang="en-US" sz="1050" b="1" dirty="0">
                <a:solidFill>
                  <a:srgbClr val="94A3B8"/>
                </a:solidFill>
                <a:latin typeface="Segoe UI"/>
                <a:ea typeface="Segoe UI"/>
                <a:cs typeface="Segoe UI"/>
              </a:rPr>
              <a:t>Mon  W2</a:t>
            </a:r>
            <a:endParaRPr lang="en-US" sz="1050" dirty="0"/>
          </a:p>
        </p:txBody>
      </p:sp>
      <p:sp>
        <p:nvSpPr>
          <p:cNvPr id="128" name="s128"/>
          <p:cNvSpPr/>
          <p:nvPr/>
        </p:nvSpPr>
        <p:spPr>
          <a:xfrm>
            <a:off x="7250826" y="2377440"/>
            <a:ext cx="1026505" cy="288036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29" name="s129"/>
          <p:cNvSpPr/>
          <p:nvPr/>
        </p:nvSpPr>
        <p:spPr>
          <a:xfrm>
            <a:off x="7305690" y="2514600"/>
            <a:ext cx="916777" cy="384048"/>
          </a:xfrm>
          <a:prstGeom prst="roundRect">
            <a:avLst>
              <a:gd name="adj" fmla="val 12000"/>
            </a:avLst>
          </a:prstGeom>
          <a:solidFill>
            <a:srgbClr val="34D399">
              <a:alpha val="18000"/>
            </a:srgbClr>
          </a:solidFill>
          <a:ln w="12700">
            <a:solidFill>
              <a:srgbClr val="34D399">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Daily 10:00</a:t>
            </a:r>
            <a:endParaRPr lang="en-US" sz="950" dirty="0"/>
          </a:p>
        </p:txBody>
      </p:sp>
      <p:sp>
        <p:nvSpPr>
          <p:cNvPr id="130" name="s130"/>
          <p:cNvSpPr/>
          <p:nvPr/>
        </p:nvSpPr>
        <p:spPr>
          <a:xfrm>
            <a:off x="7305690" y="3017520"/>
            <a:ext cx="916777" cy="2011680"/>
          </a:xfrm>
          <a:prstGeom prst="roundRect">
            <a:avLst>
              <a:gd name="adj" fmla="val 12000"/>
            </a:avLst>
          </a:prstGeom>
          <a:solidFill>
            <a:srgbClr val="60A5FA">
              <a:alpha val="8000"/>
            </a:srgbClr>
          </a:solidFill>
          <a:ln w="12700">
            <a:solidFill>
              <a:srgbClr val="60A5FA">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94A3B8"/>
                </a:solidFill>
                <a:latin typeface="Segoe UI"/>
                <a:ea typeface="Segoe UI"/>
                <a:cs typeface="Segoe UI"/>
              </a:rPr>
              <a:t>build · test · pair · review PRs</a:t>
            </a:r>
            <a:endParaRPr lang="en-US" sz="950" dirty="0"/>
          </a:p>
        </p:txBody>
      </p:sp>
      <p:sp>
        <p:nvSpPr>
          <p:cNvPr id="131" name="s131"/>
          <p:cNvSpPr/>
          <p:nvPr/>
        </p:nvSpPr>
        <p:spPr>
          <a:xfrm>
            <a:off x="8368772" y="1920240"/>
            <a:ext cx="1026505" cy="365760"/>
          </a:xfrm>
          <a:prstGeom prst="roundRect">
            <a:avLst>
              <a:gd name="adj" fmla="val 15000"/>
            </a:avLst>
          </a:prstGeom>
          <a:solidFill>
            <a:srgbClr val="152238"/>
          </a:solidFill>
          <a:ln>
            <a:noFill/>
          </a:ln>
        </p:spPr>
        <p:txBody>
          <a:bodyPr wrap="square" lIns="164592" tIns="109728" rIns="137160" bIns="91440" rtlCol="0" anchor="ctr">
            <a:noAutofit/>
          </a:bodyPr>
          <a:lstStyle/>
          <a:p>
            <a:pPr marL="0" indent="0" algn="ctr">
              <a:spcBef>
                <a:spcPts val="0"/>
              </a:spcBef>
              <a:spcAft>
                <a:spcPts val="0"/>
              </a:spcAft>
              <a:buNone/>
            </a:pPr>
            <a:r>
              <a:rPr lang="en-US" sz="1050" b="1" dirty="0">
                <a:solidFill>
                  <a:srgbClr val="94A3B8"/>
                </a:solidFill>
                <a:latin typeface="Segoe UI"/>
                <a:ea typeface="Segoe UI"/>
                <a:cs typeface="Segoe UI"/>
              </a:rPr>
              <a:t>Tue  W2</a:t>
            </a:r>
            <a:endParaRPr lang="en-US" sz="1050" dirty="0"/>
          </a:p>
        </p:txBody>
      </p:sp>
      <p:sp>
        <p:nvSpPr>
          <p:cNvPr id="132" name="s132"/>
          <p:cNvSpPr/>
          <p:nvPr/>
        </p:nvSpPr>
        <p:spPr>
          <a:xfrm>
            <a:off x="8368772" y="2377440"/>
            <a:ext cx="1026505" cy="288036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3" name="s133"/>
          <p:cNvSpPr/>
          <p:nvPr/>
        </p:nvSpPr>
        <p:spPr>
          <a:xfrm>
            <a:off x="8423636" y="2514600"/>
            <a:ext cx="916777" cy="384048"/>
          </a:xfrm>
          <a:prstGeom prst="roundRect">
            <a:avLst>
              <a:gd name="adj" fmla="val 12000"/>
            </a:avLst>
          </a:prstGeom>
          <a:solidFill>
            <a:srgbClr val="34D399">
              <a:alpha val="18000"/>
            </a:srgbClr>
          </a:solidFill>
          <a:ln w="12700">
            <a:solidFill>
              <a:srgbClr val="34D399">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Daily 10:00</a:t>
            </a:r>
            <a:endParaRPr lang="en-US" sz="950" dirty="0"/>
          </a:p>
        </p:txBody>
      </p:sp>
      <p:sp>
        <p:nvSpPr>
          <p:cNvPr id="134" name="s134"/>
          <p:cNvSpPr/>
          <p:nvPr/>
        </p:nvSpPr>
        <p:spPr>
          <a:xfrm>
            <a:off x="8423636" y="3017520"/>
            <a:ext cx="916777" cy="548640"/>
          </a:xfrm>
          <a:prstGeom prst="roundRect">
            <a:avLst>
              <a:gd name="adj" fmla="val 12000"/>
            </a:avLst>
          </a:prstGeom>
          <a:solidFill>
            <a:srgbClr val="A78BFA">
              <a:alpha val="18000"/>
            </a:srgbClr>
          </a:solidFill>
          <a:ln w="12700">
            <a:solidFill>
              <a:srgbClr val="A78BFA">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Refinement</a:t>
            </a:r>
            <a:endParaRPr lang="en-US" sz="950" dirty="0"/>
          </a:p>
        </p:txBody>
      </p:sp>
      <p:sp>
        <p:nvSpPr>
          <p:cNvPr id="135" name="s135"/>
          <p:cNvSpPr/>
          <p:nvPr/>
        </p:nvSpPr>
        <p:spPr>
          <a:xfrm>
            <a:off x="8423636" y="3657600"/>
            <a:ext cx="916777" cy="1371600"/>
          </a:xfrm>
          <a:prstGeom prst="roundRect">
            <a:avLst>
              <a:gd name="adj" fmla="val 12000"/>
            </a:avLst>
          </a:prstGeom>
          <a:solidFill>
            <a:srgbClr val="60A5FA">
              <a:alpha val="8000"/>
            </a:srgbClr>
          </a:solidFill>
          <a:ln w="12700">
            <a:solidFill>
              <a:srgbClr val="60A5FA">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94A3B8"/>
                </a:solidFill>
                <a:latin typeface="Segoe UI"/>
                <a:ea typeface="Segoe UI"/>
                <a:cs typeface="Segoe UI"/>
              </a:rPr>
              <a:t>build · test</a:t>
            </a:r>
            <a:endParaRPr lang="en-US" sz="950" dirty="0"/>
          </a:p>
        </p:txBody>
      </p:sp>
      <p:sp>
        <p:nvSpPr>
          <p:cNvPr id="136" name="s136"/>
          <p:cNvSpPr/>
          <p:nvPr/>
        </p:nvSpPr>
        <p:spPr>
          <a:xfrm>
            <a:off x="9486717" y="1920240"/>
            <a:ext cx="1026505" cy="365760"/>
          </a:xfrm>
          <a:prstGeom prst="roundRect">
            <a:avLst>
              <a:gd name="adj" fmla="val 15000"/>
            </a:avLst>
          </a:prstGeom>
          <a:solidFill>
            <a:srgbClr val="152238"/>
          </a:solidFill>
          <a:ln>
            <a:noFill/>
          </a:ln>
        </p:spPr>
        <p:txBody>
          <a:bodyPr wrap="square" lIns="164592" tIns="109728" rIns="137160" bIns="91440" rtlCol="0" anchor="ctr">
            <a:noAutofit/>
          </a:bodyPr>
          <a:lstStyle/>
          <a:p>
            <a:pPr marL="0" indent="0" algn="ctr">
              <a:spcBef>
                <a:spcPts val="0"/>
              </a:spcBef>
              <a:spcAft>
                <a:spcPts val="0"/>
              </a:spcAft>
              <a:buNone/>
            </a:pPr>
            <a:r>
              <a:rPr lang="en-US" sz="1050" b="1" dirty="0">
                <a:solidFill>
                  <a:srgbClr val="94A3B8"/>
                </a:solidFill>
                <a:latin typeface="Segoe UI"/>
                <a:ea typeface="Segoe UI"/>
                <a:cs typeface="Segoe UI"/>
              </a:rPr>
              <a:t>Wed  W2</a:t>
            </a:r>
            <a:endParaRPr lang="en-US" sz="1050" dirty="0"/>
          </a:p>
        </p:txBody>
      </p:sp>
      <p:sp>
        <p:nvSpPr>
          <p:cNvPr id="137" name="s137"/>
          <p:cNvSpPr/>
          <p:nvPr/>
        </p:nvSpPr>
        <p:spPr>
          <a:xfrm>
            <a:off x="9486717" y="2377440"/>
            <a:ext cx="1026505" cy="288036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38" name="s138"/>
          <p:cNvSpPr/>
          <p:nvPr/>
        </p:nvSpPr>
        <p:spPr>
          <a:xfrm>
            <a:off x="9541581" y="2514600"/>
            <a:ext cx="916777" cy="384048"/>
          </a:xfrm>
          <a:prstGeom prst="roundRect">
            <a:avLst>
              <a:gd name="adj" fmla="val 12000"/>
            </a:avLst>
          </a:prstGeom>
          <a:solidFill>
            <a:srgbClr val="34D399">
              <a:alpha val="18000"/>
            </a:srgbClr>
          </a:solidFill>
          <a:ln w="12700">
            <a:solidFill>
              <a:srgbClr val="34D399">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Daily 10:00</a:t>
            </a:r>
            <a:endParaRPr lang="en-US" sz="950" dirty="0"/>
          </a:p>
        </p:txBody>
      </p:sp>
      <p:sp>
        <p:nvSpPr>
          <p:cNvPr id="139" name="s139"/>
          <p:cNvSpPr/>
          <p:nvPr/>
        </p:nvSpPr>
        <p:spPr>
          <a:xfrm>
            <a:off x="9541581" y="3017520"/>
            <a:ext cx="916777" cy="2011680"/>
          </a:xfrm>
          <a:prstGeom prst="roundRect">
            <a:avLst>
              <a:gd name="adj" fmla="val 12000"/>
            </a:avLst>
          </a:prstGeom>
          <a:solidFill>
            <a:srgbClr val="60A5FA">
              <a:alpha val="8000"/>
            </a:srgbClr>
          </a:solidFill>
          <a:ln w="12700">
            <a:solidFill>
              <a:srgbClr val="60A5FA">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94A3B8"/>
                </a:solidFill>
                <a:latin typeface="Segoe UI"/>
                <a:ea typeface="Segoe UI"/>
                <a:cs typeface="Segoe UI"/>
              </a:rPr>
              <a:t>build · test · pair · review PRs</a:t>
            </a:r>
            <a:endParaRPr lang="en-US" sz="950" dirty="0"/>
          </a:p>
        </p:txBody>
      </p:sp>
      <p:sp>
        <p:nvSpPr>
          <p:cNvPr id="140" name="s140"/>
          <p:cNvSpPr/>
          <p:nvPr/>
        </p:nvSpPr>
        <p:spPr>
          <a:xfrm>
            <a:off x="10604663" y="1920240"/>
            <a:ext cx="1026505" cy="365760"/>
          </a:xfrm>
          <a:prstGeom prst="roundRect">
            <a:avLst>
              <a:gd name="adj" fmla="val 15000"/>
            </a:avLst>
          </a:prstGeom>
          <a:solidFill>
            <a:srgbClr val="152238"/>
          </a:solidFill>
          <a:ln>
            <a:noFill/>
          </a:ln>
        </p:spPr>
        <p:txBody>
          <a:bodyPr wrap="square" lIns="164592" tIns="109728" rIns="137160" bIns="91440" rtlCol="0" anchor="ctr">
            <a:noAutofit/>
          </a:bodyPr>
          <a:lstStyle/>
          <a:p>
            <a:pPr marL="0" indent="0" algn="ctr">
              <a:spcBef>
                <a:spcPts val="0"/>
              </a:spcBef>
              <a:spcAft>
                <a:spcPts val="0"/>
              </a:spcAft>
              <a:buNone/>
            </a:pPr>
            <a:r>
              <a:rPr lang="en-US" sz="1050" b="1" dirty="0">
                <a:solidFill>
                  <a:srgbClr val="94A3B8"/>
                </a:solidFill>
                <a:latin typeface="Segoe UI"/>
                <a:ea typeface="Segoe UI"/>
                <a:cs typeface="Segoe UI"/>
              </a:rPr>
              <a:t>Thu  W2</a:t>
            </a:r>
            <a:endParaRPr lang="en-US" sz="1050" dirty="0"/>
          </a:p>
        </p:txBody>
      </p:sp>
      <p:sp>
        <p:nvSpPr>
          <p:cNvPr id="141" name="s141"/>
          <p:cNvSpPr/>
          <p:nvPr/>
        </p:nvSpPr>
        <p:spPr>
          <a:xfrm>
            <a:off x="10604663" y="2377440"/>
            <a:ext cx="1026505" cy="2880360"/>
          </a:xfrm>
          <a:prstGeom prst="roundRect">
            <a:avLst>
              <a:gd name="adj" fmla="val 6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42" name="s142"/>
          <p:cNvSpPr/>
          <p:nvPr/>
        </p:nvSpPr>
        <p:spPr>
          <a:xfrm>
            <a:off x="10659527" y="2514600"/>
            <a:ext cx="916777" cy="384048"/>
          </a:xfrm>
          <a:prstGeom prst="roundRect">
            <a:avLst>
              <a:gd name="adj" fmla="val 12000"/>
            </a:avLst>
          </a:prstGeom>
          <a:solidFill>
            <a:srgbClr val="34D399">
              <a:alpha val="18000"/>
            </a:srgbClr>
          </a:solidFill>
          <a:ln w="12700">
            <a:solidFill>
              <a:srgbClr val="34D399">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Daily 10:00</a:t>
            </a:r>
            <a:endParaRPr lang="en-US" sz="950" dirty="0"/>
          </a:p>
        </p:txBody>
      </p:sp>
      <p:sp>
        <p:nvSpPr>
          <p:cNvPr id="143" name="s143"/>
          <p:cNvSpPr/>
          <p:nvPr/>
        </p:nvSpPr>
        <p:spPr>
          <a:xfrm>
            <a:off x="10659527" y="3017520"/>
            <a:ext cx="916777" cy="640080"/>
          </a:xfrm>
          <a:prstGeom prst="roundRect">
            <a:avLst>
              <a:gd name="adj" fmla="val 12000"/>
            </a:avLst>
          </a:prstGeom>
          <a:solidFill>
            <a:srgbClr val="13D0F7">
              <a:alpha val="18000"/>
            </a:srgbClr>
          </a:solidFill>
          <a:ln w="12700">
            <a:solidFill>
              <a:srgbClr val="13D0F7">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Sprint Review</a:t>
            </a:r>
            <a:endParaRPr lang="en-US" sz="950" dirty="0"/>
          </a:p>
        </p:txBody>
      </p:sp>
      <p:sp>
        <p:nvSpPr>
          <p:cNvPr id="144" name="s144"/>
          <p:cNvSpPr/>
          <p:nvPr/>
        </p:nvSpPr>
        <p:spPr>
          <a:xfrm>
            <a:off x="10659527" y="3749040"/>
            <a:ext cx="916777" cy="594360"/>
          </a:xfrm>
          <a:prstGeom prst="roundRect">
            <a:avLst>
              <a:gd name="adj" fmla="val 12000"/>
            </a:avLst>
          </a:prstGeom>
          <a:solidFill>
            <a:srgbClr val="F472B6">
              <a:alpha val="18000"/>
            </a:srgbClr>
          </a:solidFill>
          <a:ln w="12700">
            <a:solidFill>
              <a:srgbClr val="F472B6">
                <a:alpha val="70000"/>
              </a:srgbClr>
            </a:solidFill>
            <a:prstDash val="solid"/>
          </a:ln>
        </p:spPr>
        <p:txBody>
          <a:bodyPr wrap="square" lIns="27432" tIns="18288" rIns="27432" bIns="18288" rtlCol="0" anchor="ctr">
            <a:noAutofit/>
          </a:bodyPr>
          <a:lstStyle/>
          <a:p>
            <a:pPr marL="0" indent="0" algn="ctr">
              <a:spcBef>
                <a:spcPts val="0"/>
              </a:spcBef>
              <a:spcAft>
                <a:spcPts val="0"/>
              </a:spcAft>
              <a:buNone/>
            </a:pPr>
            <a:r>
              <a:rPr lang="en-US" sz="950" b="1" dirty="0">
                <a:solidFill>
                  <a:srgbClr val="FFFFFF"/>
                </a:solidFill>
                <a:latin typeface="Segoe UI"/>
                <a:ea typeface="Segoe UI"/>
                <a:cs typeface="Segoe UI"/>
              </a:rPr>
              <a:t>Retro</a:t>
            </a:r>
            <a:endParaRPr lang="en-US" sz="950" dirty="0"/>
          </a:p>
        </p:txBody>
      </p:sp>
      <p:sp>
        <p:nvSpPr>
          <p:cNvPr id="145" name="s145"/>
          <p:cNvSpPr txBox="1"/>
          <p:nvPr/>
        </p:nvSpPr>
        <p:spPr>
          <a:xfrm>
            <a:off x="543154" y="5440680"/>
            <a:ext cx="11088014" cy="32004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150" b="0" dirty="0">
                <a:solidFill>
                  <a:srgbClr val="94A3B8"/>
                </a:solidFill>
                <a:latin typeface="Segoe UI"/>
                <a:ea typeface="Segoe UI"/>
                <a:cs typeface="Segoe UI"/>
              </a:rPr>
              <a:t>Typical timeboxes for 2 weeks: Planning ≈ 4 h · Daily 15 min · Review ≈ 2 h · Retro ≈ 1.5 h · Refinement ≈ 1–2 h per week</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90"/>
                                  </p:stCondLst>
                                  <p:childTnLst>
                                    <p:set>
                                      <p:cBhvr>
                                        <p:cTn id="26" dur="1" fill="hold">
                                          <p:stCondLst>
                                            <p:cond delay="0"/>
                                          </p:stCondLst>
                                        </p:cTn>
                                        <p:tgtEl>
                                          <p:spTgt spid="106"/>
                                        </p:tgtEl>
                                        <p:attrNameLst>
                                          <p:attrName>style.visibility</p:attrName>
                                        </p:attrNameLst>
                                      </p:cBhvr>
                                      <p:to>
                                        <p:strVal val="visible"/>
                                      </p:to>
                                    </p:set>
                                    <p:animEffect transition="in" filter="fade">
                                      <p:cBhvr>
                                        <p:cTn id="27" dur="500"/>
                                        <p:tgtEl>
                                          <p:spTgt spid="106"/>
                                        </p:tgtEl>
                                      </p:cBhvr>
                                    </p:animEffect>
                                    <p:anim calcmode="lin" valueType="num">
                                      <p:cBhvr additive="base">
                                        <p:cTn id="28" dur="500" decel="100000" fill="hold"/>
                                        <p:tgtEl>
                                          <p:spTgt spid="106"/>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90"/>
                                  </p:stCondLst>
                                  <p:childTnLst>
                                    <p:set>
                                      <p:cBhvr>
                                        <p:cTn id="30" dur="1" fill="hold">
                                          <p:stCondLst>
                                            <p:cond delay="0"/>
                                          </p:stCondLst>
                                        </p:cTn>
                                        <p:tgtEl>
                                          <p:spTgt spid="107"/>
                                        </p:tgtEl>
                                        <p:attrNameLst>
                                          <p:attrName>style.visibility</p:attrName>
                                        </p:attrNameLst>
                                      </p:cBhvr>
                                      <p:to>
                                        <p:strVal val="visible"/>
                                      </p:to>
                                    </p:set>
                                    <p:animEffect transition="in" filter="fade">
                                      <p:cBhvr>
                                        <p:cTn id="31" dur="500"/>
                                        <p:tgtEl>
                                          <p:spTgt spid="107"/>
                                        </p:tgtEl>
                                      </p:cBhvr>
                                    </p:animEffect>
                                    <p:anim calcmode="lin" valueType="num">
                                      <p:cBhvr additive="base">
                                        <p:cTn id="32" dur="500" decel="100000" fill="hold"/>
                                        <p:tgtEl>
                                          <p:spTgt spid="107"/>
                                        </p:tgtEl>
                                        <p:attrNameLst>
                                          <p:attrName>ppt_y</p:attrName>
                                        </p:attrNameLst>
                                      </p:cBhvr>
                                      <p:tavLst>
                                        <p:tav tm="0">
                                          <p:val>
                                            <p:strVal val="#ppt_y+0.06"/>
                                          </p:val>
                                        </p:tav>
                                        <p:tav tm="100000">
                                          <p:val>
                                            <p:strVal val="#ppt_y"/>
                                          </p:val>
                                        </p:tav>
                                      </p:tavLst>
                                    </p:anim>
                                  </p:childTnLst>
                                </p:cTn>
                              </p:par>
                              <p:par>
                                <p:cTn id="33" presetID="42" presetClass="entr" presetSubtype="0" fill="hold" grpId="0" nodeType="withEffect">
                                  <p:stCondLst>
                                    <p:cond delay="90"/>
                                  </p:stCondLst>
                                  <p:childTnLst>
                                    <p:set>
                                      <p:cBhvr>
                                        <p:cTn id="34" dur="1" fill="hold">
                                          <p:stCondLst>
                                            <p:cond delay="0"/>
                                          </p:stCondLst>
                                        </p:cTn>
                                        <p:tgtEl>
                                          <p:spTgt spid="108"/>
                                        </p:tgtEl>
                                        <p:attrNameLst>
                                          <p:attrName>style.visibility</p:attrName>
                                        </p:attrNameLst>
                                      </p:cBhvr>
                                      <p:to>
                                        <p:strVal val="visible"/>
                                      </p:to>
                                    </p:set>
                                    <p:animEffect transition="in" filter="fade">
                                      <p:cBhvr>
                                        <p:cTn id="35" dur="500"/>
                                        <p:tgtEl>
                                          <p:spTgt spid="108"/>
                                        </p:tgtEl>
                                      </p:cBhvr>
                                    </p:animEffect>
                                    <p:anim calcmode="lin" valueType="num">
                                      <p:cBhvr additive="base">
                                        <p:cTn id="36" dur="500" decel="100000" fill="hold"/>
                                        <p:tgtEl>
                                          <p:spTgt spid="108"/>
                                        </p:tgtEl>
                                        <p:attrNameLst>
                                          <p:attrName>ppt_y</p:attrName>
                                        </p:attrNameLst>
                                      </p:cBhvr>
                                      <p:tavLst>
                                        <p:tav tm="0">
                                          <p:val>
                                            <p:strVal val="#ppt_y+0.06"/>
                                          </p:val>
                                        </p:tav>
                                        <p:tav tm="100000">
                                          <p:val>
                                            <p:strVal val="#ppt_y"/>
                                          </p:val>
                                        </p:tav>
                                      </p:tavLst>
                                    </p:anim>
                                  </p:childTnLst>
                                </p:cTn>
                              </p:par>
                              <p:par>
                                <p:cTn id="37" presetID="42" presetClass="entr" presetSubtype="0" fill="hold" grpId="0" nodeType="withEffect">
                                  <p:stCondLst>
                                    <p:cond delay="90"/>
                                  </p:stCondLst>
                                  <p:childTnLst>
                                    <p:set>
                                      <p:cBhvr>
                                        <p:cTn id="38" dur="1" fill="hold">
                                          <p:stCondLst>
                                            <p:cond delay="0"/>
                                          </p:stCondLst>
                                        </p:cTn>
                                        <p:tgtEl>
                                          <p:spTgt spid="109"/>
                                        </p:tgtEl>
                                        <p:attrNameLst>
                                          <p:attrName>style.visibility</p:attrName>
                                        </p:attrNameLst>
                                      </p:cBhvr>
                                      <p:to>
                                        <p:strVal val="visible"/>
                                      </p:to>
                                    </p:set>
                                    <p:animEffect transition="in" filter="fade">
                                      <p:cBhvr>
                                        <p:cTn id="39" dur="500"/>
                                        <p:tgtEl>
                                          <p:spTgt spid="109"/>
                                        </p:tgtEl>
                                      </p:cBhvr>
                                    </p:animEffect>
                                    <p:anim calcmode="lin" valueType="num">
                                      <p:cBhvr additive="base">
                                        <p:cTn id="40" dur="500" decel="100000" fill="hold"/>
                                        <p:tgtEl>
                                          <p:spTgt spid="109"/>
                                        </p:tgtEl>
                                        <p:attrNameLst>
                                          <p:attrName>ppt_y</p:attrName>
                                        </p:attrNameLst>
                                      </p:cBhvr>
                                      <p:tavLst>
                                        <p:tav tm="0">
                                          <p:val>
                                            <p:strVal val="#ppt_y+0.06"/>
                                          </p:val>
                                        </p:tav>
                                        <p:tav tm="100000">
                                          <p:val>
                                            <p:strVal val="#ppt_y"/>
                                          </p:val>
                                        </p:tav>
                                      </p:tavLst>
                                    </p:anim>
                                  </p:childTnLst>
                                </p:cTn>
                              </p:par>
                              <p:par>
                                <p:cTn id="41" presetID="42" presetClass="entr" presetSubtype="0" fill="hold" grpId="0" nodeType="withEffect">
                                  <p:stCondLst>
                                    <p:cond delay="18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anim calcmode="lin" valueType="num">
                                      <p:cBhvr additive="base">
                                        <p:cTn id="44" dur="500" decel="100000" fill="hold"/>
                                        <p:tgtEl>
                                          <p:spTgt spid="110"/>
                                        </p:tgtEl>
                                        <p:attrNameLst>
                                          <p:attrName>ppt_y</p:attrName>
                                        </p:attrNameLst>
                                      </p:cBhvr>
                                      <p:tavLst>
                                        <p:tav tm="0">
                                          <p:val>
                                            <p:strVal val="#ppt_y+0.06"/>
                                          </p:val>
                                        </p:tav>
                                        <p:tav tm="100000">
                                          <p:val>
                                            <p:strVal val="#ppt_y"/>
                                          </p:val>
                                        </p:tav>
                                      </p:tavLst>
                                    </p:anim>
                                  </p:childTnLst>
                                </p:cTn>
                              </p:par>
                              <p:par>
                                <p:cTn id="45" presetID="42" presetClass="entr" presetSubtype="0" fill="hold" grpId="0" nodeType="withEffect">
                                  <p:stCondLst>
                                    <p:cond delay="180"/>
                                  </p:stCondLst>
                                  <p:childTnLst>
                                    <p:set>
                                      <p:cBhvr>
                                        <p:cTn id="46" dur="1" fill="hold">
                                          <p:stCondLst>
                                            <p:cond delay="0"/>
                                          </p:stCondLst>
                                        </p:cTn>
                                        <p:tgtEl>
                                          <p:spTgt spid="111"/>
                                        </p:tgtEl>
                                        <p:attrNameLst>
                                          <p:attrName>style.visibility</p:attrName>
                                        </p:attrNameLst>
                                      </p:cBhvr>
                                      <p:to>
                                        <p:strVal val="visible"/>
                                      </p:to>
                                    </p:set>
                                    <p:animEffect transition="in" filter="fade">
                                      <p:cBhvr>
                                        <p:cTn id="47" dur="500"/>
                                        <p:tgtEl>
                                          <p:spTgt spid="111"/>
                                        </p:tgtEl>
                                      </p:cBhvr>
                                    </p:animEffect>
                                    <p:anim calcmode="lin" valueType="num">
                                      <p:cBhvr additive="base">
                                        <p:cTn id="48" dur="500" decel="100000" fill="hold"/>
                                        <p:tgtEl>
                                          <p:spTgt spid="111"/>
                                        </p:tgtEl>
                                        <p:attrNameLst>
                                          <p:attrName>ppt_y</p:attrName>
                                        </p:attrNameLst>
                                      </p:cBhvr>
                                      <p:tavLst>
                                        <p:tav tm="0">
                                          <p:val>
                                            <p:strVal val="#ppt_y+0.06"/>
                                          </p:val>
                                        </p:tav>
                                        <p:tav tm="100000">
                                          <p:val>
                                            <p:strVal val="#ppt_y"/>
                                          </p:val>
                                        </p:tav>
                                      </p:tavLst>
                                    </p:anim>
                                  </p:childTnLst>
                                </p:cTn>
                              </p:par>
                              <p:par>
                                <p:cTn id="49" presetID="42" presetClass="entr" presetSubtype="0" fill="hold" grpId="0" nodeType="withEffect">
                                  <p:stCondLst>
                                    <p:cond delay="18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additive="base">
                                        <p:cTn id="52" dur="500" decel="100000" fill="hold"/>
                                        <p:tgtEl>
                                          <p:spTgt spid="112"/>
                                        </p:tgtEl>
                                        <p:attrNameLst>
                                          <p:attrName>ppt_y</p:attrName>
                                        </p:attrNameLst>
                                      </p:cBhvr>
                                      <p:tavLst>
                                        <p:tav tm="0">
                                          <p:val>
                                            <p:strVal val="#ppt_y+0.06"/>
                                          </p:val>
                                        </p:tav>
                                        <p:tav tm="100000">
                                          <p:val>
                                            <p:strVal val="#ppt_y"/>
                                          </p:val>
                                        </p:tav>
                                      </p:tavLst>
                                    </p:anim>
                                  </p:childTnLst>
                                </p:cTn>
                              </p:par>
                              <p:par>
                                <p:cTn id="53" presetID="42" presetClass="entr" presetSubtype="0" fill="hold" grpId="0" nodeType="withEffect">
                                  <p:stCondLst>
                                    <p:cond delay="180"/>
                                  </p:stCondLst>
                                  <p:childTnLst>
                                    <p:set>
                                      <p:cBhvr>
                                        <p:cTn id="54" dur="1" fill="hold">
                                          <p:stCondLst>
                                            <p:cond delay="0"/>
                                          </p:stCondLst>
                                        </p:cTn>
                                        <p:tgtEl>
                                          <p:spTgt spid="113"/>
                                        </p:tgtEl>
                                        <p:attrNameLst>
                                          <p:attrName>style.visibility</p:attrName>
                                        </p:attrNameLst>
                                      </p:cBhvr>
                                      <p:to>
                                        <p:strVal val="visible"/>
                                      </p:to>
                                    </p:set>
                                    <p:animEffect transition="in" filter="fade">
                                      <p:cBhvr>
                                        <p:cTn id="55" dur="500"/>
                                        <p:tgtEl>
                                          <p:spTgt spid="113"/>
                                        </p:tgtEl>
                                      </p:cBhvr>
                                    </p:animEffect>
                                    <p:anim calcmode="lin" valueType="num">
                                      <p:cBhvr additive="base">
                                        <p:cTn id="56" dur="500" decel="100000" fill="hold"/>
                                        <p:tgtEl>
                                          <p:spTgt spid="113"/>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270"/>
                                  </p:stCondLst>
                                  <p:childTnLst>
                                    <p:set>
                                      <p:cBhvr>
                                        <p:cTn id="58" dur="1" fill="hold">
                                          <p:stCondLst>
                                            <p:cond delay="0"/>
                                          </p:stCondLst>
                                        </p:cTn>
                                        <p:tgtEl>
                                          <p:spTgt spid="114"/>
                                        </p:tgtEl>
                                        <p:attrNameLst>
                                          <p:attrName>style.visibility</p:attrName>
                                        </p:attrNameLst>
                                      </p:cBhvr>
                                      <p:to>
                                        <p:strVal val="visible"/>
                                      </p:to>
                                    </p:set>
                                    <p:animEffect transition="in" filter="fade">
                                      <p:cBhvr>
                                        <p:cTn id="59" dur="500"/>
                                        <p:tgtEl>
                                          <p:spTgt spid="114"/>
                                        </p:tgtEl>
                                      </p:cBhvr>
                                    </p:animEffect>
                                    <p:anim calcmode="lin" valueType="num">
                                      <p:cBhvr additive="base">
                                        <p:cTn id="60" dur="500" decel="100000" fill="hold"/>
                                        <p:tgtEl>
                                          <p:spTgt spid="114"/>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270"/>
                                  </p:stCondLst>
                                  <p:childTnLst>
                                    <p:set>
                                      <p:cBhvr>
                                        <p:cTn id="62" dur="1" fill="hold">
                                          <p:stCondLst>
                                            <p:cond delay="0"/>
                                          </p:stCondLst>
                                        </p:cTn>
                                        <p:tgtEl>
                                          <p:spTgt spid="115"/>
                                        </p:tgtEl>
                                        <p:attrNameLst>
                                          <p:attrName>style.visibility</p:attrName>
                                        </p:attrNameLst>
                                      </p:cBhvr>
                                      <p:to>
                                        <p:strVal val="visible"/>
                                      </p:to>
                                    </p:set>
                                    <p:animEffect transition="in" filter="fade">
                                      <p:cBhvr>
                                        <p:cTn id="63" dur="500"/>
                                        <p:tgtEl>
                                          <p:spTgt spid="115"/>
                                        </p:tgtEl>
                                      </p:cBhvr>
                                    </p:animEffect>
                                    <p:anim calcmode="lin" valueType="num">
                                      <p:cBhvr additive="base">
                                        <p:cTn id="64" dur="500" decel="100000" fill="hold"/>
                                        <p:tgtEl>
                                          <p:spTgt spid="115"/>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270"/>
                                  </p:stCondLst>
                                  <p:childTnLst>
                                    <p:set>
                                      <p:cBhvr>
                                        <p:cTn id="66" dur="1" fill="hold">
                                          <p:stCondLst>
                                            <p:cond delay="0"/>
                                          </p:stCondLst>
                                        </p:cTn>
                                        <p:tgtEl>
                                          <p:spTgt spid="116"/>
                                        </p:tgtEl>
                                        <p:attrNameLst>
                                          <p:attrName>style.visibility</p:attrName>
                                        </p:attrNameLst>
                                      </p:cBhvr>
                                      <p:to>
                                        <p:strVal val="visible"/>
                                      </p:to>
                                    </p:set>
                                    <p:animEffect transition="in" filter="fade">
                                      <p:cBhvr>
                                        <p:cTn id="67" dur="500"/>
                                        <p:tgtEl>
                                          <p:spTgt spid="116"/>
                                        </p:tgtEl>
                                      </p:cBhvr>
                                    </p:animEffect>
                                    <p:anim calcmode="lin" valueType="num">
                                      <p:cBhvr additive="base">
                                        <p:cTn id="68" dur="500" decel="100000" fill="hold"/>
                                        <p:tgtEl>
                                          <p:spTgt spid="116"/>
                                        </p:tgtEl>
                                        <p:attrNameLst>
                                          <p:attrName>ppt_y</p:attrName>
                                        </p:attrNameLst>
                                      </p:cBhvr>
                                      <p:tavLst>
                                        <p:tav tm="0">
                                          <p:val>
                                            <p:strVal val="#ppt_y+0.06"/>
                                          </p:val>
                                        </p:tav>
                                        <p:tav tm="100000">
                                          <p:val>
                                            <p:strVal val="#ppt_y"/>
                                          </p:val>
                                        </p:tav>
                                      </p:tavLst>
                                    </p:anim>
                                  </p:childTnLst>
                                </p:cTn>
                              </p:par>
                              <p:par>
                                <p:cTn id="69" presetID="42" presetClass="entr" presetSubtype="0" fill="hold" grpId="0" nodeType="withEffect">
                                  <p:stCondLst>
                                    <p:cond delay="270"/>
                                  </p:stCondLst>
                                  <p:childTnLst>
                                    <p:set>
                                      <p:cBhvr>
                                        <p:cTn id="70" dur="1" fill="hold">
                                          <p:stCondLst>
                                            <p:cond delay="0"/>
                                          </p:stCondLst>
                                        </p:cTn>
                                        <p:tgtEl>
                                          <p:spTgt spid="117"/>
                                        </p:tgtEl>
                                        <p:attrNameLst>
                                          <p:attrName>style.visibility</p:attrName>
                                        </p:attrNameLst>
                                      </p:cBhvr>
                                      <p:to>
                                        <p:strVal val="visible"/>
                                      </p:to>
                                    </p:set>
                                    <p:animEffect transition="in" filter="fade">
                                      <p:cBhvr>
                                        <p:cTn id="71" dur="500"/>
                                        <p:tgtEl>
                                          <p:spTgt spid="117"/>
                                        </p:tgtEl>
                                      </p:cBhvr>
                                    </p:animEffect>
                                    <p:anim calcmode="lin" valueType="num">
                                      <p:cBhvr additive="base">
                                        <p:cTn id="72" dur="500" decel="100000" fill="hold"/>
                                        <p:tgtEl>
                                          <p:spTgt spid="117"/>
                                        </p:tgtEl>
                                        <p:attrNameLst>
                                          <p:attrName>ppt_y</p:attrName>
                                        </p:attrNameLst>
                                      </p:cBhvr>
                                      <p:tavLst>
                                        <p:tav tm="0">
                                          <p:val>
                                            <p:strVal val="#ppt_y+0.06"/>
                                          </p:val>
                                        </p:tav>
                                        <p:tav tm="100000">
                                          <p:val>
                                            <p:strVal val="#ppt_y"/>
                                          </p:val>
                                        </p:tav>
                                      </p:tavLst>
                                    </p:anim>
                                  </p:childTnLst>
                                </p:cTn>
                              </p:par>
                              <p:par>
                                <p:cTn id="73" presetID="42" presetClass="entr" presetSubtype="0" fill="hold" grpId="0" nodeType="withEffect">
                                  <p:stCondLst>
                                    <p:cond delay="270"/>
                                  </p:stCondLst>
                                  <p:childTnLst>
                                    <p:set>
                                      <p:cBhvr>
                                        <p:cTn id="74" dur="1" fill="hold">
                                          <p:stCondLst>
                                            <p:cond delay="0"/>
                                          </p:stCondLst>
                                        </p:cTn>
                                        <p:tgtEl>
                                          <p:spTgt spid="118"/>
                                        </p:tgtEl>
                                        <p:attrNameLst>
                                          <p:attrName>style.visibility</p:attrName>
                                        </p:attrNameLst>
                                      </p:cBhvr>
                                      <p:to>
                                        <p:strVal val="visible"/>
                                      </p:to>
                                    </p:set>
                                    <p:animEffect transition="in" filter="fade">
                                      <p:cBhvr>
                                        <p:cTn id="75" dur="500"/>
                                        <p:tgtEl>
                                          <p:spTgt spid="118"/>
                                        </p:tgtEl>
                                      </p:cBhvr>
                                    </p:animEffect>
                                    <p:anim calcmode="lin" valueType="num">
                                      <p:cBhvr additive="base">
                                        <p:cTn id="76" dur="500" decel="100000" fill="hold"/>
                                        <p:tgtEl>
                                          <p:spTgt spid="118"/>
                                        </p:tgtEl>
                                        <p:attrNameLst>
                                          <p:attrName>ppt_y</p:attrName>
                                        </p:attrNameLst>
                                      </p:cBhvr>
                                      <p:tavLst>
                                        <p:tav tm="0">
                                          <p:val>
                                            <p:strVal val="#ppt_y+0.06"/>
                                          </p:val>
                                        </p:tav>
                                        <p:tav tm="100000">
                                          <p:val>
                                            <p:strVal val="#ppt_y"/>
                                          </p:val>
                                        </p:tav>
                                      </p:tavLst>
                                    </p:anim>
                                  </p:childTnLst>
                                </p:cTn>
                              </p:par>
                              <p:par>
                                <p:cTn id="77" presetID="42" presetClass="entr" presetSubtype="0" fill="hold" grpId="0" nodeType="withEffect">
                                  <p:stCondLst>
                                    <p:cond delay="360"/>
                                  </p:stCondLst>
                                  <p:childTnLst>
                                    <p:set>
                                      <p:cBhvr>
                                        <p:cTn id="78" dur="1" fill="hold">
                                          <p:stCondLst>
                                            <p:cond delay="0"/>
                                          </p:stCondLst>
                                        </p:cTn>
                                        <p:tgtEl>
                                          <p:spTgt spid="119"/>
                                        </p:tgtEl>
                                        <p:attrNameLst>
                                          <p:attrName>style.visibility</p:attrName>
                                        </p:attrNameLst>
                                      </p:cBhvr>
                                      <p:to>
                                        <p:strVal val="visible"/>
                                      </p:to>
                                    </p:set>
                                    <p:animEffect transition="in" filter="fade">
                                      <p:cBhvr>
                                        <p:cTn id="79" dur="500"/>
                                        <p:tgtEl>
                                          <p:spTgt spid="119"/>
                                        </p:tgtEl>
                                      </p:cBhvr>
                                    </p:animEffect>
                                    <p:anim calcmode="lin" valueType="num">
                                      <p:cBhvr additive="base">
                                        <p:cTn id="80" dur="500" decel="100000" fill="hold"/>
                                        <p:tgtEl>
                                          <p:spTgt spid="119"/>
                                        </p:tgtEl>
                                        <p:attrNameLst>
                                          <p:attrName>ppt_y</p:attrName>
                                        </p:attrNameLst>
                                      </p:cBhvr>
                                      <p:tavLst>
                                        <p:tav tm="0">
                                          <p:val>
                                            <p:strVal val="#ppt_y+0.06"/>
                                          </p:val>
                                        </p:tav>
                                        <p:tav tm="100000">
                                          <p:val>
                                            <p:strVal val="#ppt_y"/>
                                          </p:val>
                                        </p:tav>
                                      </p:tavLst>
                                    </p:anim>
                                  </p:childTnLst>
                                </p:cTn>
                              </p:par>
                              <p:par>
                                <p:cTn id="81" presetID="42" presetClass="entr" presetSubtype="0" fill="hold" grpId="0" nodeType="withEffect">
                                  <p:stCondLst>
                                    <p:cond delay="360"/>
                                  </p:stCondLst>
                                  <p:childTnLst>
                                    <p:set>
                                      <p:cBhvr>
                                        <p:cTn id="82" dur="1" fill="hold">
                                          <p:stCondLst>
                                            <p:cond delay="0"/>
                                          </p:stCondLst>
                                        </p:cTn>
                                        <p:tgtEl>
                                          <p:spTgt spid="120"/>
                                        </p:tgtEl>
                                        <p:attrNameLst>
                                          <p:attrName>style.visibility</p:attrName>
                                        </p:attrNameLst>
                                      </p:cBhvr>
                                      <p:to>
                                        <p:strVal val="visible"/>
                                      </p:to>
                                    </p:set>
                                    <p:animEffect transition="in" filter="fade">
                                      <p:cBhvr>
                                        <p:cTn id="83" dur="500"/>
                                        <p:tgtEl>
                                          <p:spTgt spid="120"/>
                                        </p:tgtEl>
                                      </p:cBhvr>
                                    </p:animEffect>
                                    <p:anim calcmode="lin" valueType="num">
                                      <p:cBhvr additive="base">
                                        <p:cTn id="84" dur="500" decel="100000" fill="hold"/>
                                        <p:tgtEl>
                                          <p:spTgt spid="120"/>
                                        </p:tgtEl>
                                        <p:attrNameLst>
                                          <p:attrName>ppt_y</p:attrName>
                                        </p:attrNameLst>
                                      </p:cBhvr>
                                      <p:tavLst>
                                        <p:tav tm="0">
                                          <p:val>
                                            <p:strVal val="#ppt_y+0.06"/>
                                          </p:val>
                                        </p:tav>
                                        <p:tav tm="100000">
                                          <p:val>
                                            <p:strVal val="#ppt_y"/>
                                          </p:val>
                                        </p:tav>
                                      </p:tavLst>
                                    </p:anim>
                                  </p:childTnLst>
                                </p:cTn>
                              </p:par>
                              <p:par>
                                <p:cTn id="85" presetID="42" presetClass="entr" presetSubtype="0" fill="hold" grpId="0" nodeType="withEffect">
                                  <p:stCondLst>
                                    <p:cond delay="360"/>
                                  </p:stCondLst>
                                  <p:childTnLst>
                                    <p:set>
                                      <p:cBhvr>
                                        <p:cTn id="86" dur="1" fill="hold">
                                          <p:stCondLst>
                                            <p:cond delay="0"/>
                                          </p:stCondLst>
                                        </p:cTn>
                                        <p:tgtEl>
                                          <p:spTgt spid="121"/>
                                        </p:tgtEl>
                                        <p:attrNameLst>
                                          <p:attrName>style.visibility</p:attrName>
                                        </p:attrNameLst>
                                      </p:cBhvr>
                                      <p:to>
                                        <p:strVal val="visible"/>
                                      </p:to>
                                    </p:set>
                                    <p:animEffect transition="in" filter="fade">
                                      <p:cBhvr>
                                        <p:cTn id="87" dur="500"/>
                                        <p:tgtEl>
                                          <p:spTgt spid="121"/>
                                        </p:tgtEl>
                                      </p:cBhvr>
                                    </p:animEffect>
                                    <p:anim calcmode="lin" valueType="num">
                                      <p:cBhvr additive="base">
                                        <p:cTn id="88" dur="500" decel="100000" fill="hold"/>
                                        <p:tgtEl>
                                          <p:spTgt spid="121"/>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360"/>
                                  </p:stCondLst>
                                  <p:childTnLst>
                                    <p:set>
                                      <p:cBhvr>
                                        <p:cTn id="90" dur="1" fill="hold">
                                          <p:stCondLst>
                                            <p:cond delay="0"/>
                                          </p:stCondLst>
                                        </p:cTn>
                                        <p:tgtEl>
                                          <p:spTgt spid="122"/>
                                        </p:tgtEl>
                                        <p:attrNameLst>
                                          <p:attrName>style.visibility</p:attrName>
                                        </p:attrNameLst>
                                      </p:cBhvr>
                                      <p:to>
                                        <p:strVal val="visible"/>
                                      </p:to>
                                    </p:set>
                                    <p:animEffect transition="in" filter="fade">
                                      <p:cBhvr>
                                        <p:cTn id="91" dur="500"/>
                                        <p:tgtEl>
                                          <p:spTgt spid="122"/>
                                        </p:tgtEl>
                                      </p:cBhvr>
                                    </p:animEffect>
                                    <p:anim calcmode="lin" valueType="num">
                                      <p:cBhvr additive="base">
                                        <p:cTn id="92" dur="500" decel="100000" fill="hold"/>
                                        <p:tgtEl>
                                          <p:spTgt spid="122"/>
                                        </p:tgtEl>
                                        <p:attrNameLst>
                                          <p:attrName>ppt_y</p:attrName>
                                        </p:attrNameLst>
                                      </p:cBhvr>
                                      <p:tavLst>
                                        <p:tav tm="0">
                                          <p:val>
                                            <p:strVal val="#ppt_y+0.06"/>
                                          </p:val>
                                        </p:tav>
                                        <p:tav tm="100000">
                                          <p:val>
                                            <p:strVal val="#ppt_y"/>
                                          </p:val>
                                        </p:tav>
                                      </p:tavLst>
                                    </p:anim>
                                  </p:childTnLst>
                                </p:cTn>
                              </p:par>
                              <p:par>
                                <p:cTn id="93" presetID="42" presetClass="entr" presetSubtype="0" fill="hold" grpId="0" nodeType="withEffect">
                                  <p:stCondLst>
                                    <p:cond delay="450"/>
                                  </p:stCondLst>
                                  <p:childTnLst>
                                    <p:set>
                                      <p:cBhvr>
                                        <p:cTn id="94" dur="1" fill="hold">
                                          <p:stCondLst>
                                            <p:cond delay="0"/>
                                          </p:stCondLst>
                                        </p:cTn>
                                        <p:tgtEl>
                                          <p:spTgt spid="123"/>
                                        </p:tgtEl>
                                        <p:attrNameLst>
                                          <p:attrName>style.visibility</p:attrName>
                                        </p:attrNameLst>
                                      </p:cBhvr>
                                      <p:to>
                                        <p:strVal val="visible"/>
                                      </p:to>
                                    </p:set>
                                    <p:animEffect transition="in" filter="fade">
                                      <p:cBhvr>
                                        <p:cTn id="95" dur="500"/>
                                        <p:tgtEl>
                                          <p:spTgt spid="123"/>
                                        </p:tgtEl>
                                      </p:cBhvr>
                                    </p:animEffect>
                                    <p:anim calcmode="lin" valueType="num">
                                      <p:cBhvr additive="base">
                                        <p:cTn id="96" dur="500" decel="100000" fill="hold"/>
                                        <p:tgtEl>
                                          <p:spTgt spid="123"/>
                                        </p:tgtEl>
                                        <p:attrNameLst>
                                          <p:attrName>ppt_y</p:attrName>
                                        </p:attrNameLst>
                                      </p:cBhvr>
                                      <p:tavLst>
                                        <p:tav tm="0">
                                          <p:val>
                                            <p:strVal val="#ppt_y+0.06"/>
                                          </p:val>
                                        </p:tav>
                                        <p:tav tm="100000">
                                          <p:val>
                                            <p:strVal val="#ppt_y"/>
                                          </p:val>
                                        </p:tav>
                                      </p:tavLst>
                                    </p:anim>
                                  </p:childTnLst>
                                </p:cTn>
                              </p:par>
                              <p:par>
                                <p:cTn id="97" presetID="42" presetClass="entr" presetSubtype="0" fill="hold" grpId="0" nodeType="withEffect">
                                  <p:stCondLst>
                                    <p:cond delay="450"/>
                                  </p:stCondLst>
                                  <p:childTnLst>
                                    <p:set>
                                      <p:cBhvr>
                                        <p:cTn id="98" dur="1" fill="hold">
                                          <p:stCondLst>
                                            <p:cond delay="0"/>
                                          </p:stCondLst>
                                        </p:cTn>
                                        <p:tgtEl>
                                          <p:spTgt spid="124"/>
                                        </p:tgtEl>
                                        <p:attrNameLst>
                                          <p:attrName>style.visibility</p:attrName>
                                        </p:attrNameLst>
                                      </p:cBhvr>
                                      <p:to>
                                        <p:strVal val="visible"/>
                                      </p:to>
                                    </p:set>
                                    <p:animEffect transition="in" filter="fade">
                                      <p:cBhvr>
                                        <p:cTn id="99" dur="500"/>
                                        <p:tgtEl>
                                          <p:spTgt spid="124"/>
                                        </p:tgtEl>
                                      </p:cBhvr>
                                    </p:animEffect>
                                    <p:anim calcmode="lin" valueType="num">
                                      <p:cBhvr additive="base">
                                        <p:cTn id="100" dur="500" decel="100000" fill="hold"/>
                                        <p:tgtEl>
                                          <p:spTgt spid="124"/>
                                        </p:tgtEl>
                                        <p:attrNameLst>
                                          <p:attrName>ppt_y</p:attrName>
                                        </p:attrNameLst>
                                      </p:cBhvr>
                                      <p:tavLst>
                                        <p:tav tm="0">
                                          <p:val>
                                            <p:strVal val="#ppt_y+0.06"/>
                                          </p:val>
                                        </p:tav>
                                        <p:tav tm="100000">
                                          <p:val>
                                            <p:strVal val="#ppt_y"/>
                                          </p:val>
                                        </p:tav>
                                      </p:tavLst>
                                    </p:anim>
                                  </p:childTnLst>
                                </p:cTn>
                              </p:par>
                              <p:par>
                                <p:cTn id="101" presetID="42" presetClass="entr" presetSubtype="0" fill="hold" grpId="0" nodeType="withEffect">
                                  <p:stCondLst>
                                    <p:cond delay="450"/>
                                  </p:stCondLst>
                                  <p:childTnLst>
                                    <p:set>
                                      <p:cBhvr>
                                        <p:cTn id="102" dur="1" fill="hold">
                                          <p:stCondLst>
                                            <p:cond delay="0"/>
                                          </p:stCondLst>
                                        </p:cTn>
                                        <p:tgtEl>
                                          <p:spTgt spid="125"/>
                                        </p:tgtEl>
                                        <p:attrNameLst>
                                          <p:attrName>style.visibility</p:attrName>
                                        </p:attrNameLst>
                                      </p:cBhvr>
                                      <p:to>
                                        <p:strVal val="visible"/>
                                      </p:to>
                                    </p:set>
                                    <p:animEffect transition="in" filter="fade">
                                      <p:cBhvr>
                                        <p:cTn id="103" dur="500"/>
                                        <p:tgtEl>
                                          <p:spTgt spid="125"/>
                                        </p:tgtEl>
                                      </p:cBhvr>
                                    </p:animEffect>
                                    <p:anim calcmode="lin" valueType="num">
                                      <p:cBhvr additive="base">
                                        <p:cTn id="104" dur="500" decel="100000" fill="hold"/>
                                        <p:tgtEl>
                                          <p:spTgt spid="125"/>
                                        </p:tgtEl>
                                        <p:attrNameLst>
                                          <p:attrName>ppt_y</p:attrName>
                                        </p:attrNameLst>
                                      </p:cBhvr>
                                      <p:tavLst>
                                        <p:tav tm="0">
                                          <p:val>
                                            <p:strVal val="#ppt_y+0.06"/>
                                          </p:val>
                                        </p:tav>
                                        <p:tav tm="100000">
                                          <p:val>
                                            <p:strVal val="#ppt_y"/>
                                          </p:val>
                                        </p:tav>
                                      </p:tavLst>
                                    </p:anim>
                                  </p:childTnLst>
                                </p:cTn>
                              </p:par>
                              <p:par>
                                <p:cTn id="105" presetID="42" presetClass="entr" presetSubtype="0" fill="hold" grpId="0" nodeType="withEffect">
                                  <p:stCondLst>
                                    <p:cond delay="450"/>
                                  </p:stCondLst>
                                  <p:childTnLst>
                                    <p:set>
                                      <p:cBhvr>
                                        <p:cTn id="106" dur="1" fill="hold">
                                          <p:stCondLst>
                                            <p:cond delay="0"/>
                                          </p:stCondLst>
                                        </p:cTn>
                                        <p:tgtEl>
                                          <p:spTgt spid="126"/>
                                        </p:tgtEl>
                                        <p:attrNameLst>
                                          <p:attrName>style.visibility</p:attrName>
                                        </p:attrNameLst>
                                      </p:cBhvr>
                                      <p:to>
                                        <p:strVal val="visible"/>
                                      </p:to>
                                    </p:set>
                                    <p:animEffect transition="in" filter="fade">
                                      <p:cBhvr>
                                        <p:cTn id="107" dur="500"/>
                                        <p:tgtEl>
                                          <p:spTgt spid="126"/>
                                        </p:tgtEl>
                                      </p:cBhvr>
                                    </p:animEffect>
                                    <p:anim calcmode="lin" valueType="num">
                                      <p:cBhvr additive="base">
                                        <p:cTn id="108" dur="500" decel="100000" fill="hold"/>
                                        <p:tgtEl>
                                          <p:spTgt spid="126"/>
                                        </p:tgtEl>
                                        <p:attrNameLst>
                                          <p:attrName>ppt_y</p:attrName>
                                        </p:attrNameLst>
                                      </p:cBhvr>
                                      <p:tavLst>
                                        <p:tav tm="0">
                                          <p:val>
                                            <p:strVal val="#ppt_y+0.06"/>
                                          </p:val>
                                        </p:tav>
                                        <p:tav tm="100000">
                                          <p:val>
                                            <p:strVal val="#ppt_y"/>
                                          </p:val>
                                        </p:tav>
                                      </p:tavLst>
                                    </p:anim>
                                  </p:childTnLst>
                                </p:cTn>
                              </p:par>
                              <p:par>
                                <p:cTn id="109" presetID="42" presetClass="entr" presetSubtype="0" fill="hold" grpId="0" nodeType="withEffect">
                                  <p:stCondLst>
                                    <p:cond delay="540"/>
                                  </p:stCondLst>
                                  <p:childTnLst>
                                    <p:set>
                                      <p:cBhvr>
                                        <p:cTn id="110" dur="1" fill="hold">
                                          <p:stCondLst>
                                            <p:cond delay="0"/>
                                          </p:stCondLst>
                                        </p:cTn>
                                        <p:tgtEl>
                                          <p:spTgt spid="127"/>
                                        </p:tgtEl>
                                        <p:attrNameLst>
                                          <p:attrName>style.visibility</p:attrName>
                                        </p:attrNameLst>
                                      </p:cBhvr>
                                      <p:to>
                                        <p:strVal val="visible"/>
                                      </p:to>
                                    </p:set>
                                    <p:animEffect transition="in" filter="fade">
                                      <p:cBhvr>
                                        <p:cTn id="111" dur="500"/>
                                        <p:tgtEl>
                                          <p:spTgt spid="127"/>
                                        </p:tgtEl>
                                      </p:cBhvr>
                                    </p:animEffect>
                                    <p:anim calcmode="lin" valueType="num">
                                      <p:cBhvr additive="base">
                                        <p:cTn id="112" dur="500" decel="100000" fill="hold"/>
                                        <p:tgtEl>
                                          <p:spTgt spid="127"/>
                                        </p:tgtEl>
                                        <p:attrNameLst>
                                          <p:attrName>ppt_y</p:attrName>
                                        </p:attrNameLst>
                                      </p:cBhvr>
                                      <p:tavLst>
                                        <p:tav tm="0">
                                          <p:val>
                                            <p:strVal val="#ppt_y+0.06"/>
                                          </p:val>
                                        </p:tav>
                                        <p:tav tm="100000">
                                          <p:val>
                                            <p:strVal val="#ppt_y"/>
                                          </p:val>
                                        </p:tav>
                                      </p:tavLst>
                                    </p:anim>
                                  </p:childTnLst>
                                </p:cTn>
                              </p:par>
                              <p:par>
                                <p:cTn id="113" presetID="42" presetClass="entr" presetSubtype="0" fill="hold" grpId="0" nodeType="withEffect">
                                  <p:stCondLst>
                                    <p:cond delay="540"/>
                                  </p:stCondLst>
                                  <p:childTnLst>
                                    <p:set>
                                      <p:cBhvr>
                                        <p:cTn id="114" dur="1" fill="hold">
                                          <p:stCondLst>
                                            <p:cond delay="0"/>
                                          </p:stCondLst>
                                        </p:cTn>
                                        <p:tgtEl>
                                          <p:spTgt spid="128"/>
                                        </p:tgtEl>
                                        <p:attrNameLst>
                                          <p:attrName>style.visibility</p:attrName>
                                        </p:attrNameLst>
                                      </p:cBhvr>
                                      <p:to>
                                        <p:strVal val="visible"/>
                                      </p:to>
                                    </p:set>
                                    <p:animEffect transition="in" filter="fade">
                                      <p:cBhvr>
                                        <p:cTn id="115" dur="500"/>
                                        <p:tgtEl>
                                          <p:spTgt spid="128"/>
                                        </p:tgtEl>
                                      </p:cBhvr>
                                    </p:animEffect>
                                    <p:anim calcmode="lin" valueType="num">
                                      <p:cBhvr additive="base">
                                        <p:cTn id="116" dur="500" decel="100000" fill="hold"/>
                                        <p:tgtEl>
                                          <p:spTgt spid="128"/>
                                        </p:tgtEl>
                                        <p:attrNameLst>
                                          <p:attrName>ppt_y</p:attrName>
                                        </p:attrNameLst>
                                      </p:cBhvr>
                                      <p:tavLst>
                                        <p:tav tm="0">
                                          <p:val>
                                            <p:strVal val="#ppt_y+0.06"/>
                                          </p:val>
                                        </p:tav>
                                        <p:tav tm="100000">
                                          <p:val>
                                            <p:strVal val="#ppt_y"/>
                                          </p:val>
                                        </p:tav>
                                      </p:tavLst>
                                    </p:anim>
                                  </p:childTnLst>
                                </p:cTn>
                              </p:par>
                              <p:par>
                                <p:cTn id="117" presetID="42" presetClass="entr" presetSubtype="0" fill="hold" grpId="0" nodeType="withEffect">
                                  <p:stCondLst>
                                    <p:cond delay="540"/>
                                  </p:stCondLst>
                                  <p:childTnLst>
                                    <p:set>
                                      <p:cBhvr>
                                        <p:cTn id="118" dur="1" fill="hold">
                                          <p:stCondLst>
                                            <p:cond delay="0"/>
                                          </p:stCondLst>
                                        </p:cTn>
                                        <p:tgtEl>
                                          <p:spTgt spid="129"/>
                                        </p:tgtEl>
                                        <p:attrNameLst>
                                          <p:attrName>style.visibility</p:attrName>
                                        </p:attrNameLst>
                                      </p:cBhvr>
                                      <p:to>
                                        <p:strVal val="visible"/>
                                      </p:to>
                                    </p:set>
                                    <p:animEffect transition="in" filter="fade">
                                      <p:cBhvr>
                                        <p:cTn id="119" dur="500"/>
                                        <p:tgtEl>
                                          <p:spTgt spid="129"/>
                                        </p:tgtEl>
                                      </p:cBhvr>
                                    </p:animEffect>
                                    <p:anim calcmode="lin" valueType="num">
                                      <p:cBhvr additive="base">
                                        <p:cTn id="120" dur="500" decel="100000" fill="hold"/>
                                        <p:tgtEl>
                                          <p:spTgt spid="129"/>
                                        </p:tgtEl>
                                        <p:attrNameLst>
                                          <p:attrName>ppt_y</p:attrName>
                                        </p:attrNameLst>
                                      </p:cBhvr>
                                      <p:tavLst>
                                        <p:tav tm="0">
                                          <p:val>
                                            <p:strVal val="#ppt_y+0.06"/>
                                          </p:val>
                                        </p:tav>
                                        <p:tav tm="100000">
                                          <p:val>
                                            <p:strVal val="#ppt_y"/>
                                          </p:val>
                                        </p:tav>
                                      </p:tavLst>
                                    </p:anim>
                                  </p:childTnLst>
                                </p:cTn>
                              </p:par>
                              <p:par>
                                <p:cTn id="121" presetID="42" presetClass="entr" presetSubtype="0" fill="hold" grpId="0" nodeType="withEffect">
                                  <p:stCondLst>
                                    <p:cond delay="540"/>
                                  </p:stCondLst>
                                  <p:childTnLst>
                                    <p:set>
                                      <p:cBhvr>
                                        <p:cTn id="122" dur="1" fill="hold">
                                          <p:stCondLst>
                                            <p:cond delay="0"/>
                                          </p:stCondLst>
                                        </p:cTn>
                                        <p:tgtEl>
                                          <p:spTgt spid="130"/>
                                        </p:tgtEl>
                                        <p:attrNameLst>
                                          <p:attrName>style.visibility</p:attrName>
                                        </p:attrNameLst>
                                      </p:cBhvr>
                                      <p:to>
                                        <p:strVal val="visible"/>
                                      </p:to>
                                    </p:set>
                                    <p:animEffect transition="in" filter="fade">
                                      <p:cBhvr>
                                        <p:cTn id="123" dur="500"/>
                                        <p:tgtEl>
                                          <p:spTgt spid="130"/>
                                        </p:tgtEl>
                                      </p:cBhvr>
                                    </p:animEffect>
                                    <p:anim calcmode="lin" valueType="num">
                                      <p:cBhvr additive="base">
                                        <p:cTn id="124" dur="500" decel="100000" fill="hold"/>
                                        <p:tgtEl>
                                          <p:spTgt spid="130"/>
                                        </p:tgtEl>
                                        <p:attrNameLst>
                                          <p:attrName>ppt_y</p:attrName>
                                        </p:attrNameLst>
                                      </p:cBhvr>
                                      <p:tavLst>
                                        <p:tav tm="0">
                                          <p:val>
                                            <p:strVal val="#ppt_y+0.06"/>
                                          </p:val>
                                        </p:tav>
                                        <p:tav tm="100000">
                                          <p:val>
                                            <p:strVal val="#ppt_y"/>
                                          </p:val>
                                        </p:tav>
                                      </p:tavLst>
                                    </p:anim>
                                  </p:childTnLst>
                                </p:cTn>
                              </p:par>
                              <p:par>
                                <p:cTn id="125" presetID="42" presetClass="entr" presetSubtype="0" fill="hold" grpId="0" nodeType="withEffect">
                                  <p:stCondLst>
                                    <p:cond delay="630"/>
                                  </p:stCondLst>
                                  <p:childTnLst>
                                    <p:set>
                                      <p:cBhvr>
                                        <p:cTn id="126" dur="1" fill="hold">
                                          <p:stCondLst>
                                            <p:cond delay="0"/>
                                          </p:stCondLst>
                                        </p:cTn>
                                        <p:tgtEl>
                                          <p:spTgt spid="131"/>
                                        </p:tgtEl>
                                        <p:attrNameLst>
                                          <p:attrName>style.visibility</p:attrName>
                                        </p:attrNameLst>
                                      </p:cBhvr>
                                      <p:to>
                                        <p:strVal val="visible"/>
                                      </p:to>
                                    </p:set>
                                    <p:animEffect transition="in" filter="fade">
                                      <p:cBhvr>
                                        <p:cTn id="127" dur="500"/>
                                        <p:tgtEl>
                                          <p:spTgt spid="131"/>
                                        </p:tgtEl>
                                      </p:cBhvr>
                                    </p:animEffect>
                                    <p:anim calcmode="lin" valueType="num">
                                      <p:cBhvr additive="base">
                                        <p:cTn id="128" dur="500" decel="100000" fill="hold"/>
                                        <p:tgtEl>
                                          <p:spTgt spid="131"/>
                                        </p:tgtEl>
                                        <p:attrNameLst>
                                          <p:attrName>ppt_y</p:attrName>
                                        </p:attrNameLst>
                                      </p:cBhvr>
                                      <p:tavLst>
                                        <p:tav tm="0">
                                          <p:val>
                                            <p:strVal val="#ppt_y+0.06"/>
                                          </p:val>
                                        </p:tav>
                                        <p:tav tm="100000">
                                          <p:val>
                                            <p:strVal val="#ppt_y"/>
                                          </p:val>
                                        </p:tav>
                                      </p:tavLst>
                                    </p:anim>
                                  </p:childTnLst>
                                </p:cTn>
                              </p:par>
                              <p:par>
                                <p:cTn id="129" presetID="42" presetClass="entr" presetSubtype="0" fill="hold" grpId="0" nodeType="withEffect">
                                  <p:stCondLst>
                                    <p:cond delay="630"/>
                                  </p:stCondLst>
                                  <p:childTnLst>
                                    <p:set>
                                      <p:cBhvr>
                                        <p:cTn id="130" dur="1" fill="hold">
                                          <p:stCondLst>
                                            <p:cond delay="0"/>
                                          </p:stCondLst>
                                        </p:cTn>
                                        <p:tgtEl>
                                          <p:spTgt spid="132"/>
                                        </p:tgtEl>
                                        <p:attrNameLst>
                                          <p:attrName>style.visibility</p:attrName>
                                        </p:attrNameLst>
                                      </p:cBhvr>
                                      <p:to>
                                        <p:strVal val="visible"/>
                                      </p:to>
                                    </p:set>
                                    <p:animEffect transition="in" filter="fade">
                                      <p:cBhvr>
                                        <p:cTn id="131" dur="500"/>
                                        <p:tgtEl>
                                          <p:spTgt spid="132"/>
                                        </p:tgtEl>
                                      </p:cBhvr>
                                    </p:animEffect>
                                    <p:anim calcmode="lin" valueType="num">
                                      <p:cBhvr additive="base">
                                        <p:cTn id="132" dur="500" decel="100000" fill="hold"/>
                                        <p:tgtEl>
                                          <p:spTgt spid="132"/>
                                        </p:tgtEl>
                                        <p:attrNameLst>
                                          <p:attrName>ppt_y</p:attrName>
                                        </p:attrNameLst>
                                      </p:cBhvr>
                                      <p:tavLst>
                                        <p:tav tm="0">
                                          <p:val>
                                            <p:strVal val="#ppt_y+0.06"/>
                                          </p:val>
                                        </p:tav>
                                        <p:tav tm="100000">
                                          <p:val>
                                            <p:strVal val="#ppt_y"/>
                                          </p:val>
                                        </p:tav>
                                      </p:tavLst>
                                    </p:anim>
                                  </p:childTnLst>
                                </p:cTn>
                              </p:par>
                              <p:par>
                                <p:cTn id="133" presetID="42" presetClass="entr" presetSubtype="0" fill="hold" grpId="0" nodeType="withEffect">
                                  <p:stCondLst>
                                    <p:cond delay="630"/>
                                  </p:stCondLst>
                                  <p:childTnLst>
                                    <p:set>
                                      <p:cBhvr>
                                        <p:cTn id="134" dur="1" fill="hold">
                                          <p:stCondLst>
                                            <p:cond delay="0"/>
                                          </p:stCondLst>
                                        </p:cTn>
                                        <p:tgtEl>
                                          <p:spTgt spid="133"/>
                                        </p:tgtEl>
                                        <p:attrNameLst>
                                          <p:attrName>style.visibility</p:attrName>
                                        </p:attrNameLst>
                                      </p:cBhvr>
                                      <p:to>
                                        <p:strVal val="visible"/>
                                      </p:to>
                                    </p:set>
                                    <p:animEffect transition="in" filter="fade">
                                      <p:cBhvr>
                                        <p:cTn id="135" dur="500"/>
                                        <p:tgtEl>
                                          <p:spTgt spid="133"/>
                                        </p:tgtEl>
                                      </p:cBhvr>
                                    </p:animEffect>
                                    <p:anim calcmode="lin" valueType="num">
                                      <p:cBhvr additive="base">
                                        <p:cTn id="136" dur="500" decel="100000" fill="hold"/>
                                        <p:tgtEl>
                                          <p:spTgt spid="133"/>
                                        </p:tgtEl>
                                        <p:attrNameLst>
                                          <p:attrName>ppt_y</p:attrName>
                                        </p:attrNameLst>
                                      </p:cBhvr>
                                      <p:tavLst>
                                        <p:tav tm="0">
                                          <p:val>
                                            <p:strVal val="#ppt_y+0.06"/>
                                          </p:val>
                                        </p:tav>
                                        <p:tav tm="100000">
                                          <p:val>
                                            <p:strVal val="#ppt_y"/>
                                          </p:val>
                                        </p:tav>
                                      </p:tavLst>
                                    </p:anim>
                                  </p:childTnLst>
                                </p:cTn>
                              </p:par>
                              <p:par>
                                <p:cTn id="137" presetID="42" presetClass="entr" presetSubtype="0" fill="hold" grpId="0" nodeType="withEffect">
                                  <p:stCondLst>
                                    <p:cond delay="630"/>
                                  </p:stCondLst>
                                  <p:childTnLst>
                                    <p:set>
                                      <p:cBhvr>
                                        <p:cTn id="138" dur="1" fill="hold">
                                          <p:stCondLst>
                                            <p:cond delay="0"/>
                                          </p:stCondLst>
                                        </p:cTn>
                                        <p:tgtEl>
                                          <p:spTgt spid="134"/>
                                        </p:tgtEl>
                                        <p:attrNameLst>
                                          <p:attrName>style.visibility</p:attrName>
                                        </p:attrNameLst>
                                      </p:cBhvr>
                                      <p:to>
                                        <p:strVal val="visible"/>
                                      </p:to>
                                    </p:set>
                                    <p:animEffect transition="in" filter="fade">
                                      <p:cBhvr>
                                        <p:cTn id="139" dur="500"/>
                                        <p:tgtEl>
                                          <p:spTgt spid="134"/>
                                        </p:tgtEl>
                                      </p:cBhvr>
                                    </p:animEffect>
                                    <p:anim calcmode="lin" valueType="num">
                                      <p:cBhvr additive="base">
                                        <p:cTn id="140" dur="500" decel="100000" fill="hold"/>
                                        <p:tgtEl>
                                          <p:spTgt spid="134"/>
                                        </p:tgtEl>
                                        <p:attrNameLst>
                                          <p:attrName>ppt_y</p:attrName>
                                        </p:attrNameLst>
                                      </p:cBhvr>
                                      <p:tavLst>
                                        <p:tav tm="0">
                                          <p:val>
                                            <p:strVal val="#ppt_y+0.06"/>
                                          </p:val>
                                        </p:tav>
                                        <p:tav tm="100000">
                                          <p:val>
                                            <p:strVal val="#ppt_y"/>
                                          </p:val>
                                        </p:tav>
                                      </p:tavLst>
                                    </p:anim>
                                  </p:childTnLst>
                                </p:cTn>
                              </p:par>
                              <p:par>
                                <p:cTn id="141" presetID="42" presetClass="entr" presetSubtype="0" fill="hold" grpId="0" nodeType="withEffect">
                                  <p:stCondLst>
                                    <p:cond delay="630"/>
                                  </p:stCondLst>
                                  <p:childTnLst>
                                    <p:set>
                                      <p:cBhvr>
                                        <p:cTn id="142" dur="1" fill="hold">
                                          <p:stCondLst>
                                            <p:cond delay="0"/>
                                          </p:stCondLst>
                                        </p:cTn>
                                        <p:tgtEl>
                                          <p:spTgt spid="135"/>
                                        </p:tgtEl>
                                        <p:attrNameLst>
                                          <p:attrName>style.visibility</p:attrName>
                                        </p:attrNameLst>
                                      </p:cBhvr>
                                      <p:to>
                                        <p:strVal val="visible"/>
                                      </p:to>
                                    </p:set>
                                    <p:animEffect transition="in" filter="fade">
                                      <p:cBhvr>
                                        <p:cTn id="143" dur="500"/>
                                        <p:tgtEl>
                                          <p:spTgt spid="135"/>
                                        </p:tgtEl>
                                      </p:cBhvr>
                                    </p:animEffect>
                                    <p:anim calcmode="lin" valueType="num">
                                      <p:cBhvr additive="base">
                                        <p:cTn id="144" dur="500" decel="100000" fill="hold"/>
                                        <p:tgtEl>
                                          <p:spTgt spid="135"/>
                                        </p:tgtEl>
                                        <p:attrNameLst>
                                          <p:attrName>ppt_y</p:attrName>
                                        </p:attrNameLst>
                                      </p:cBhvr>
                                      <p:tavLst>
                                        <p:tav tm="0">
                                          <p:val>
                                            <p:strVal val="#ppt_y+0.06"/>
                                          </p:val>
                                        </p:tav>
                                        <p:tav tm="100000">
                                          <p:val>
                                            <p:strVal val="#ppt_y"/>
                                          </p:val>
                                        </p:tav>
                                      </p:tavLst>
                                    </p:anim>
                                  </p:childTnLst>
                                </p:cTn>
                              </p:par>
                              <p:par>
                                <p:cTn id="145" presetID="42" presetClass="entr" presetSubtype="0" fill="hold" grpId="0" nodeType="withEffect">
                                  <p:stCondLst>
                                    <p:cond delay="720"/>
                                  </p:stCondLst>
                                  <p:childTnLst>
                                    <p:set>
                                      <p:cBhvr>
                                        <p:cTn id="146" dur="1" fill="hold">
                                          <p:stCondLst>
                                            <p:cond delay="0"/>
                                          </p:stCondLst>
                                        </p:cTn>
                                        <p:tgtEl>
                                          <p:spTgt spid="136"/>
                                        </p:tgtEl>
                                        <p:attrNameLst>
                                          <p:attrName>style.visibility</p:attrName>
                                        </p:attrNameLst>
                                      </p:cBhvr>
                                      <p:to>
                                        <p:strVal val="visible"/>
                                      </p:to>
                                    </p:set>
                                    <p:animEffect transition="in" filter="fade">
                                      <p:cBhvr>
                                        <p:cTn id="147" dur="500"/>
                                        <p:tgtEl>
                                          <p:spTgt spid="136"/>
                                        </p:tgtEl>
                                      </p:cBhvr>
                                    </p:animEffect>
                                    <p:anim calcmode="lin" valueType="num">
                                      <p:cBhvr additive="base">
                                        <p:cTn id="148" dur="500" decel="100000" fill="hold"/>
                                        <p:tgtEl>
                                          <p:spTgt spid="136"/>
                                        </p:tgtEl>
                                        <p:attrNameLst>
                                          <p:attrName>ppt_y</p:attrName>
                                        </p:attrNameLst>
                                      </p:cBhvr>
                                      <p:tavLst>
                                        <p:tav tm="0">
                                          <p:val>
                                            <p:strVal val="#ppt_y+0.06"/>
                                          </p:val>
                                        </p:tav>
                                        <p:tav tm="100000">
                                          <p:val>
                                            <p:strVal val="#ppt_y"/>
                                          </p:val>
                                        </p:tav>
                                      </p:tavLst>
                                    </p:anim>
                                  </p:childTnLst>
                                </p:cTn>
                              </p:par>
                              <p:par>
                                <p:cTn id="149" presetID="42" presetClass="entr" presetSubtype="0" fill="hold" grpId="0" nodeType="withEffect">
                                  <p:stCondLst>
                                    <p:cond delay="720"/>
                                  </p:stCondLst>
                                  <p:childTnLst>
                                    <p:set>
                                      <p:cBhvr>
                                        <p:cTn id="150" dur="1" fill="hold">
                                          <p:stCondLst>
                                            <p:cond delay="0"/>
                                          </p:stCondLst>
                                        </p:cTn>
                                        <p:tgtEl>
                                          <p:spTgt spid="137"/>
                                        </p:tgtEl>
                                        <p:attrNameLst>
                                          <p:attrName>style.visibility</p:attrName>
                                        </p:attrNameLst>
                                      </p:cBhvr>
                                      <p:to>
                                        <p:strVal val="visible"/>
                                      </p:to>
                                    </p:set>
                                    <p:animEffect transition="in" filter="fade">
                                      <p:cBhvr>
                                        <p:cTn id="151" dur="500"/>
                                        <p:tgtEl>
                                          <p:spTgt spid="137"/>
                                        </p:tgtEl>
                                      </p:cBhvr>
                                    </p:animEffect>
                                    <p:anim calcmode="lin" valueType="num">
                                      <p:cBhvr additive="base">
                                        <p:cTn id="152" dur="500" decel="100000" fill="hold"/>
                                        <p:tgtEl>
                                          <p:spTgt spid="137"/>
                                        </p:tgtEl>
                                        <p:attrNameLst>
                                          <p:attrName>ppt_y</p:attrName>
                                        </p:attrNameLst>
                                      </p:cBhvr>
                                      <p:tavLst>
                                        <p:tav tm="0">
                                          <p:val>
                                            <p:strVal val="#ppt_y+0.06"/>
                                          </p:val>
                                        </p:tav>
                                        <p:tav tm="100000">
                                          <p:val>
                                            <p:strVal val="#ppt_y"/>
                                          </p:val>
                                        </p:tav>
                                      </p:tavLst>
                                    </p:anim>
                                  </p:childTnLst>
                                </p:cTn>
                              </p:par>
                              <p:par>
                                <p:cTn id="153" presetID="42" presetClass="entr" presetSubtype="0" fill="hold" grpId="0" nodeType="withEffect">
                                  <p:stCondLst>
                                    <p:cond delay="720"/>
                                  </p:stCondLst>
                                  <p:childTnLst>
                                    <p:set>
                                      <p:cBhvr>
                                        <p:cTn id="154" dur="1" fill="hold">
                                          <p:stCondLst>
                                            <p:cond delay="0"/>
                                          </p:stCondLst>
                                        </p:cTn>
                                        <p:tgtEl>
                                          <p:spTgt spid="138"/>
                                        </p:tgtEl>
                                        <p:attrNameLst>
                                          <p:attrName>style.visibility</p:attrName>
                                        </p:attrNameLst>
                                      </p:cBhvr>
                                      <p:to>
                                        <p:strVal val="visible"/>
                                      </p:to>
                                    </p:set>
                                    <p:animEffect transition="in" filter="fade">
                                      <p:cBhvr>
                                        <p:cTn id="155" dur="500"/>
                                        <p:tgtEl>
                                          <p:spTgt spid="138"/>
                                        </p:tgtEl>
                                      </p:cBhvr>
                                    </p:animEffect>
                                    <p:anim calcmode="lin" valueType="num">
                                      <p:cBhvr additive="base">
                                        <p:cTn id="156" dur="500" decel="100000" fill="hold"/>
                                        <p:tgtEl>
                                          <p:spTgt spid="138"/>
                                        </p:tgtEl>
                                        <p:attrNameLst>
                                          <p:attrName>ppt_y</p:attrName>
                                        </p:attrNameLst>
                                      </p:cBhvr>
                                      <p:tavLst>
                                        <p:tav tm="0">
                                          <p:val>
                                            <p:strVal val="#ppt_y+0.06"/>
                                          </p:val>
                                        </p:tav>
                                        <p:tav tm="100000">
                                          <p:val>
                                            <p:strVal val="#ppt_y"/>
                                          </p:val>
                                        </p:tav>
                                      </p:tavLst>
                                    </p:anim>
                                  </p:childTnLst>
                                </p:cTn>
                              </p:par>
                              <p:par>
                                <p:cTn id="157" presetID="42" presetClass="entr" presetSubtype="0" fill="hold" grpId="0" nodeType="withEffect">
                                  <p:stCondLst>
                                    <p:cond delay="720"/>
                                  </p:stCondLst>
                                  <p:childTnLst>
                                    <p:set>
                                      <p:cBhvr>
                                        <p:cTn id="158" dur="1" fill="hold">
                                          <p:stCondLst>
                                            <p:cond delay="0"/>
                                          </p:stCondLst>
                                        </p:cTn>
                                        <p:tgtEl>
                                          <p:spTgt spid="139"/>
                                        </p:tgtEl>
                                        <p:attrNameLst>
                                          <p:attrName>style.visibility</p:attrName>
                                        </p:attrNameLst>
                                      </p:cBhvr>
                                      <p:to>
                                        <p:strVal val="visible"/>
                                      </p:to>
                                    </p:set>
                                    <p:animEffect transition="in" filter="fade">
                                      <p:cBhvr>
                                        <p:cTn id="159" dur="500"/>
                                        <p:tgtEl>
                                          <p:spTgt spid="139"/>
                                        </p:tgtEl>
                                      </p:cBhvr>
                                    </p:animEffect>
                                    <p:anim calcmode="lin" valueType="num">
                                      <p:cBhvr additive="base">
                                        <p:cTn id="160" dur="500" decel="100000" fill="hold"/>
                                        <p:tgtEl>
                                          <p:spTgt spid="139"/>
                                        </p:tgtEl>
                                        <p:attrNameLst>
                                          <p:attrName>ppt_y</p:attrName>
                                        </p:attrNameLst>
                                      </p:cBhvr>
                                      <p:tavLst>
                                        <p:tav tm="0">
                                          <p:val>
                                            <p:strVal val="#ppt_y+0.06"/>
                                          </p:val>
                                        </p:tav>
                                        <p:tav tm="100000">
                                          <p:val>
                                            <p:strVal val="#ppt_y"/>
                                          </p:val>
                                        </p:tav>
                                      </p:tavLst>
                                    </p:anim>
                                  </p:childTnLst>
                                </p:cTn>
                              </p:par>
                              <p:par>
                                <p:cTn id="161" presetID="42" presetClass="entr" presetSubtype="0" fill="hold" grpId="0" nodeType="withEffect">
                                  <p:stCondLst>
                                    <p:cond delay="810"/>
                                  </p:stCondLst>
                                  <p:childTnLst>
                                    <p:set>
                                      <p:cBhvr>
                                        <p:cTn id="162" dur="1" fill="hold">
                                          <p:stCondLst>
                                            <p:cond delay="0"/>
                                          </p:stCondLst>
                                        </p:cTn>
                                        <p:tgtEl>
                                          <p:spTgt spid="140"/>
                                        </p:tgtEl>
                                        <p:attrNameLst>
                                          <p:attrName>style.visibility</p:attrName>
                                        </p:attrNameLst>
                                      </p:cBhvr>
                                      <p:to>
                                        <p:strVal val="visible"/>
                                      </p:to>
                                    </p:set>
                                    <p:animEffect transition="in" filter="fade">
                                      <p:cBhvr>
                                        <p:cTn id="163" dur="500"/>
                                        <p:tgtEl>
                                          <p:spTgt spid="140"/>
                                        </p:tgtEl>
                                      </p:cBhvr>
                                    </p:animEffect>
                                    <p:anim calcmode="lin" valueType="num">
                                      <p:cBhvr additive="base">
                                        <p:cTn id="164" dur="500" decel="100000" fill="hold"/>
                                        <p:tgtEl>
                                          <p:spTgt spid="140"/>
                                        </p:tgtEl>
                                        <p:attrNameLst>
                                          <p:attrName>ppt_y</p:attrName>
                                        </p:attrNameLst>
                                      </p:cBhvr>
                                      <p:tavLst>
                                        <p:tav tm="0">
                                          <p:val>
                                            <p:strVal val="#ppt_y+0.06"/>
                                          </p:val>
                                        </p:tav>
                                        <p:tav tm="100000">
                                          <p:val>
                                            <p:strVal val="#ppt_y"/>
                                          </p:val>
                                        </p:tav>
                                      </p:tavLst>
                                    </p:anim>
                                  </p:childTnLst>
                                </p:cTn>
                              </p:par>
                              <p:par>
                                <p:cTn id="165" presetID="42" presetClass="entr" presetSubtype="0" fill="hold" grpId="0" nodeType="withEffect">
                                  <p:stCondLst>
                                    <p:cond delay="810"/>
                                  </p:stCondLst>
                                  <p:childTnLst>
                                    <p:set>
                                      <p:cBhvr>
                                        <p:cTn id="166" dur="1" fill="hold">
                                          <p:stCondLst>
                                            <p:cond delay="0"/>
                                          </p:stCondLst>
                                        </p:cTn>
                                        <p:tgtEl>
                                          <p:spTgt spid="141"/>
                                        </p:tgtEl>
                                        <p:attrNameLst>
                                          <p:attrName>style.visibility</p:attrName>
                                        </p:attrNameLst>
                                      </p:cBhvr>
                                      <p:to>
                                        <p:strVal val="visible"/>
                                      </p:to>
                                    </p:set>
                                    <p:animEffect transition="in" filter="fade">
                                      <p:cBhvr>
                                        <p:cTn id="167" dur="500"/>
                                        <p:tgtEl>
                                          <p:spTgt spid="141"/>
                                        </p:tgtEl>
                                      </p:cBhvr>
                                    </p:animEffect>
                                    <p:anim calcmode="lin" valueType="num">
                                      <p:cBhvr additive="base">
                                        <p:cTn id="168" dur="500" decel="100000" fill="hold"/>
                                        <p:tgtEl>
                                          <p:spTgt spid="141"/>
                                        </p:tgtEl>
                                        <p:attrNameLst>
                                          <p:attrName>ppt_y</p:attrName>
                                        </p:attrNameLst>
                                      </p:cBhvr>
                                      <p:tavLst>
                                        <p:tav tm="0">
                                          <p:val>
                                            <p:strVal val="#ppt_y+0.06"/>
                                          </p:val>
                                        </p:tav>
                                        <p:tav tm="100000">
                                          <p:val>
                                            <p:strVal val="#ppt_y"/>
                                          </p:val>
                                        </p:tav>
                                      </p:tavLst>
                                    </p:anim>
                                  </p:childTnLst>
                                </p:cTn>
                              </p:par>
                              <p:par>
                                <p:cTn id="169" presetID="42" presetClass="entr" presetSubtype="0" fill="hold" grpId="0" nodeType="withEffect">
                                  <p:stCondLst>
                                    <p:cond delay="810"/>
                                  </p:stCondLst>
                                  <p:childTnLst>
                                    <p:set>
                                      <p:cBhvr>
                                        <p:cTn id="170" dur="1" fill="hold">
                                          <p:stCondLst>
                                            <p:cond delay="0"/>
                                          </p:stCondLst>
                                        </p:cTn>
                                        <p:tgtEl>
                                          <p:spTgt spid="142"/>
                                        </p:tgtEl>
                                        <p:attrNameLst>
                                          <p:attrName>style.visibility</p:attrName>
                                        </p:attrNameLst>
                                      </p:cBhvr>
                                      <p:to>
                                        <p:strVal val="visible"/>
                                      </p:to>
                                    </p:set>
                                    <p:animEffect transition="in" filter="fade">
                                      <p:cBhvr>
                                        <p:cTn id="171" dur="500"/>
                                        <p:tgtEl>
                                          <p:spTgt spid="142"/>
                                        </p:tgtEl>
                                      </p:cBhvr>
                                    </p:animEffect>
                                    <p:anim calcmode="lin" valueType="num">
                                      <p:cBhvr additive="base">
                                        <p:cTn id="172" dur="500" decel="100000" fill="hold"/>
                                        <p:tgtEl>
                                          <p:spTgt spid="142"/>
                                        </p:tgtEl>
                                        <p:attrNameLst>
                                          <p:attrName>ppt_y</p:attrName>
                                        </p:attrNameLst>
                                      </p:cBhvr>
                                      <p:tavLst>
                                        <p:tav tm="0">
                                          <p:val>
                                            <p:strVal val="#ppt_y+0.06"/>
                                          </p:val>
                                        </p:tav>
                                        <p:tav tm="100000">
                                          <p:val>
                                            <p:strVal val="#ppt_y"/>
                                          </p:val>
                                        </p:tav>
                                      </p:tavLst>
                                    </p:anim>
                                  </p:childTnLst>
                                </p:cTn>
                              </p:par>
                              <p:par>
                                <p:cTn id="173" presetID="42" presetClass="entr" presetSubtype="0" fill="hold" grpId="0" nodeType="withEffect">
                                  <p:stCondLst>
                                    <p:cond delay="810"/>
                                  </p:stCondLst>
                                  <p:childTnLst>
                                    <p:set>
                                      <p:cBhvr>
                                        <p:cTn id="174" dur="1" fill="hold">
                                          <p:stCondLst>
                                            <p:cond delay="0"/>
                                          </p:stCondLst>
                                        </p:cTn>
                                        <p:tgtEl>
                                          <p:spTgt spid="143"/>
                                        </p:tgtEl>
                                        <p:attrNameLst>
                                          <p:attrName>style.visibility</p:attrName>
                                        </p:attrNameLst>
                                      </p:cBhvr>
                                      <p:to>
                                        <p:strVal val="visible"/>
                                      </p:to>
                                    </p:set>
                                    <p:animEffect transition="in" filter="fade">
                                      <p:cBhvr>
                                        <p:cTn id="175" dur="500"/>
                                        <p:tgtEl>
                                          <p:spTgt spid="143"/>
                                        </p:tgtEl>
                                      </p:cBhvr>
                                    </p:animEffect>
                                    <p:anim calcmode="lin" valueType="num">
                                      <p:cBhvr additive="base">
                                        <p:cTn id="176" dur="500" decel="100000" fill="hold"/>
                                        <p:tgtEl>
                                          <p:spTgt spid="143"/>
                                        </p:tgtEl>
                                        <p:attrNameLst>
                                          <p:attrName>ppt_y</p:attrName>
                                        </p:attrNameLst>
                                      </p:cBhvr>
                                      <p:tavLst>
                                        <p:tav tm="0">
                                          <p:val>
                                            <p:strVal val="#ppt_y+0.06"/>
                                          </p:val>
                                        </p:tav>
                                        <p:tav tm="100000">
                                          <p:val>
                                            <p:strVal val="#ppt_y"/>
                                          </p:val>
                                        </p:tav>
                                      </p:tavLst>
                                    </p:anim>
                                  </p:childTnLst>
                                </p:cTn>
                              </p:par>
                              <p:par>
                                <p:cTn id="177" presetID="42" presetClass="entr" presetSubtype="0" fill="hold" grpId="0" nodeType="withEffect">
                                  <p:stCondLst>
                                    <p:cond delay="810"/>
                                  </p:stCondLst>
                                  <p:childTnLst>
                                    <p:set>
                                      <p:cBhvr>
                                        <p:cTn id="178" dur="1" fill="hold">
                                          <p:stCondLst>
                                            <p:cond delay="0"/>
                                          </p:stCondLst>
                                        </p:cTn>
                                        <p:tgtEl>
                                          <p:spTgt spid="144"/>
                                        </p:tgtEl>
                                        <p:attrNameLst>
                                          <p:attrName>style.visibility</p:attrName>
                                        </p:attrNameLst>
                                      </p:cBhvr>
                                      <p:to>
                                        <p:strVal val="visible"/>
                                      </p:to>
                                    </p:set>
                                    <p:animEffect transition="in" filter="fade">
                                      <p:cBhvr>
                                        <p:cTn id="179" dur="500"/>
                                        <p:tgtEl>
                                          <p:spTgt spid="144"/>
                                        </p:tgtEl>
                                      </p:cBhvr>
                                    </p:animEffect>
                                    <p:anim calcmode="lin" valueType="num">
                                      <p:cBhvr additive="base">
                                        <p:cTn id="180" dur="500" decel="100000" fill="hold"/>
                                        <p:tgtEl>
                                          <p:spTgt spid="144"/>
                                        </p:tgtEl>
                                        <p:attrNameLst>
                                          <p:attrName>ppt_y</p:attrName>
                                        </p:attrNameLst>
                                      </p:cBhvr>
                                      <p:tavLst>
                                        <p:tav tm="0">
                                          <p:val>
                                            <p:strVal val="#ppt_y+0.06"/>
                                          </p:val>
                                        </p:tav>
                                        <p:tav tm="100000">
                                          <p:val>
                                            <p:strVal val="#ppt_y"/>
                                          </p:val>
                                        </p:tav>
                                      </p:tavLst>
                                    </p:anim>
                                  </p:childTnLst>
                                </p:cTn>
                              </p:par>
                              <p:par>
                                <p:cTn id="181" presetID="10" presetClass="entr" presetSubtype="0" fill="hold" grpId="0" nodeType="withEffect">
                                  <p:stCondLst>
                                    <p:cond delay="1010"/>
                                  </p:stCondLst>
                                  <p:childTnLst>
                                    <p:set>
                                      <p:cBhvr>
                                        <p:cTn id="182" dur="1" fill="hold">
                                          <p:stCondLst>
                                            <p:cond delay="0"/>
                                          </p:stCondLst>
                                        </p:cTn>
                                        <p:tgtEl>
                                          <p:spTgt spid="145"/>
                                        </p:tgtEl>
                                        <p:attrNameLst>
                                          <p:attrName>style.visibility</p:attrName>
                                        </p:attrNameLst>
                                      </p:cBhvr>
                                      <p:to>
                                        <p:strVal val="visible"/>
                                      </p:to>
                                    </p:set>
                                    <p:animEffect transition="in" filter="fade">
                                      <p:cBhvr>
                                        <p:cTn id="183" dur="5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FLOW</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The Complete Scrum Flow</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One timeline, with the accountabilities around the loop.</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NEXT</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300</a:t>
            </a:r>
            <a:endParaRPr lang="en-US" sz="850" dirty="0"/>
          </a:p>
        </p:txBody>
      </p:sp>
      <p:sp>
        <p:nvSpPr>
          <p:cNvPr id="101" name="s101"/>
          <p:cNvSpPr/>
          <p:nvPr/>
        </p:nvSpPr>
        <p:spPr>
          <a:xfrm>
            <a:off x="771754" y="1965960"/>
            <a:ext cx="2148840" cy="502920"/>
          </a:xfrm>
          <a:prstGeom prst="roundRect">
            <a:avLst>
              <a:gd name="adj" fmla="val 30000"/>
            </a:avLst>
          </a:prstGeom>
          <a:solidFill>
            <a:srgbClr val="FBBF24">
              <a:alpha val="14000"/>
            </a:srgbClr>
          </a:solidFill>
          <a:ln w="12700">
            <a:solidFill>
              <a:srgbClr val="FBBF24"/>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Product Goal</a:t>
            </a:r>
            <a:endParaRPr lang="en-US" sz="1250" dirty="0"/>
          </a:p>
        </p:txBody>
      </p:sp>
      <p:sp>
        <p:nvSpPr>
          <p:cNvPr id="102" name="s102"/>
          <p:cNvSpPr/>
          <p:nvPr/>
        </p:nvSpPr>
        <p:spPr>
          <a:xfrm>
            <a:off x="3599078" y="1965960"/>
            <a:ext cx="2148840" cy="502920"/>
          </a:xfrm>
          <a:prstGeom prst="roundRect">
            <a:avLst>
              <a:gd name="adj" fmla="val 30000"/>
            </a:avLst>
          </a:prstGeom>
          <a:solidFill>
            <a:srgbClr val="FBBF24">
              <a:alpha val="14000"/>
            </a:srgbClr>
          </a:solidFill>
          <a:ln w="12700">
            <a:solidFill>
              <a:srgbClr val="FBBF24"/>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Product Backlog</a:t>
            </a:r>
            <a:endParaRPr lang="en-US" sz="1250" dirty="0"/>
          </a:p>
        </p:txBody>
      </p:sp>
      <p:sp>
        <p:nvSpPr>
          <p:cNvPr id="103" name="s103"/>
          <p:cNvSpPr/>
          <p:nvPr/>
        </p:nvSpPr>
        <p:spPr>
          <a:xfrm>
            <a:off x="6426403" y="1965960"/>
            <a:ext cx="2148840" cy="502920"/>
          </a:xfrm>
          <a:prstGeom prst="roundRect">
            <a:avLst>
              <a:gd name="adj" fmla="val 30000"/>
            </a:avLst>
          </a:prstGeom>
          <a:solidFill>
            <a:srgbClr val="FBBF24">
              <a:alpha val="14000"/>
            </a:srgbClr>
          </a:solidFill>
          <a:ln w="12700">
            <a:solidFill>
              <a:srgbClr val="FBBF24"/>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Refinement</a:t>
            </a:r>
            <a:endParaRPr lang="en-US" sz="1250" dirty="0"/>
          </a:p>
        </p:txBody>
      </p:sp>
      <p:sp>
        <p:nvSpPr>
          <p:cNvPr id="104" name="s104"/>
          <p:cNvSpPr/>
          <p:nvPr/>
        </p:nvSpPr>
        <p:spPr>
          <a:xfrm>
            <a:off x="9253728" y="1965960"/>
            <a:ext cx="2148840" cy="502920"/>
          </a:xfrm>
          <a:prstGeom prst="roundRect">
            <a:avLst>
              <a:gd name="adj" fmla="val 30000"/>
            </a:avLst>
          </a:prstGeom>
          <a:solidFill>
            <a:srgbClr val="60A5FA">
              <a:alpha val="14000"/>
            </a:srgbClr>
          </a:solidFill>
          <a:ln w="12700">
            <a:solidFill>
              <a:srgbClr val="60A5FA"/>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Sprint Planning</a:t>
            </a:r>
            <a:endParaRPr lang="en-US" sz="1250" dirty="0"/>
          </a:p>
        </p:txBody>
      </p:sp>
      <p:sp>
        <p:nvSpPr>
          <p:cNvPr id="105" name="s105"/>
          <p:cNvSpPr/>
          <p:nvPr/>
        </p:nvSpPr>
        <p:spPr>
          <a:xfrm>
            <a:off x="771754" y="2880360"/>
            <a:ext cx="2148840" cy="502920"/>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Daily Scrum</a:t>
            </a:r>
            <a:endParaRPr lang="en-US" sz="1250" dirty="0"/>
          </a:p>
        </p:txBody>
      </p:sp>
      <p:sp>
        <p:nvSpPr>
          <p:cNvPr id="106" name="s106"/>
          <p:cNvSpPr/>
          <p:nvPr/>
        </p:nvSpPr>
        <p:spPr>
          <a:xfrm>
            <a:off x="3599078" y="2880360"/>
            <a:ext cx="2148840" cy="502920"/>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Build</a:t>
            </a:r>
            <a:endParaRPr lang="en-US" sz="1250" dirty="0"/>
          </a:p>
        </p:txBody>
      </p:sp>
      <p:sp>
        <p:nvSpPr>
          <p:cNvPr id="107" name="s107"/>
          <p:cNvSpPr/>
          <p:nvPr/>
        </p:nvSpPr>
        <p:spPr>
          <a:xfrm>
            <a:off x="6426403" y="2880360"/>
            <a:ext cx="2148840" cy="502920"/>
          </a:xfrm>
          <a:prstGeom prst="roundRect">
            <a:avLst>
              <a:gd name="adj" fmla="val 30000"/>
            </a:avLst>
          </a:prstGeom>
          <a:solidFill>
            <a:srgbClr val="60A5FA">
              <a:alpha val="14000"/>
            </a:srgbClr>
          </a:solidFill>
          <a:ln w="12700">
            <a:solidFill>
              <a:srgbClr val="60A5FA"/>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Sprint Backlog</a:t>
            </a:r>
            <a:endParaRPr lang="en-US" sz="1250" dirty="0"/>
          </a:p>
        </p:txBody>
      </p:sp>
      <p:sp>
        <p:nvSpPr>
          <p:cNvPr id="108" name="s108"/>
          <p:cNvSpPr/>
          <p:nvPr/>
        </p:nvSpPr>
        <p:spPr>
          <a:xfrm>
            <a:off x="9253728" y="2880360"/>
            <a:ext cx="2148840" cy="502920"/>
          </a:xfrm>
          <a:prstGeom prst="roundRect">
            <a:avLst>
              <a:gd name="adj" fmla="val 30000"/>
            </a:avLst>
          </a:prstGeom>
          <a:solidFill>
            <a:srgbClr val="60A5FA">
              <a:alpha val="14000"/>
            </a:srgbClr>
          </a:solidFill>
          <a:ln w="12700">
            <a:solidFill>
              <a:srgbClr val="60A5FA"/>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Sprint Goal</a:t>
            </a:r>
            <a:endParaRPr lang="en-US" sz="1250" dirty="0"/>
          </a:p>
        </p:txBody>
      </p:sp>
      <p:sp>
        <p:nvSpPr>
          <p:cNvPr id="109" name="s109"/>
          <p:cNvSpPr/>
          <p:nvPr/>
        </p:nvSpPr>
        <p:spPr>
          <a:xfrm>
            <a:off x="771754" y="3794760"/>
            <a:ext cx="2148840" cy="502920"/>
          </a:xfrm>
          <a:prstGeom prst="roundRect">
            <a:avLst>
              <a:gd name="adj" fmla="val 30000"/>
            </a:avLst>
          </a:prstGeom>
          <a:solidFill>
            <a:srgbClr val="34D399">
              <a:alpha val="14000"/>
            </a:srgbClr>
          </a:solidFill>
          <a:ln w="12700">
            <a:solidFill>
              <a:srgbClr val="34D399"/>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Done Increment</a:t>
            </a:r>
            <a:endParaRPr lang="en-US" sz="1250" dirty="0"/>
          </a:p>
        </p:txBody>
      </p:sp>
      <p:sp>
        <p:nvSpPr>
          <p:cNvPr id="110" name="s110"/>
          <p:cNvSpPr/>
          <p:nvPr/>
        </p:nvSpPr>
        <p:spPr>
          <a:xfrm>
            <a:off x="3599078" y="3794760"/>
            <a:ext cx="2148840" cy="502920"/>
          </a:xfrm>
          <a:prstGeom prst="roundRect">
            <a:avLst>
              <a:gd name="adj" fmla="val 30000"/>
            </a:avLst>
          </a:prstGeom>
          <a:solidFill>
            <a:srgbClr val="A78BFA">
              <a:alpha val="14000"/>
            </a:srgbClr>
          </a:solidFill>
          <a:ln w="12700">
            <a:solidFill>
              <a:srgbClr val="A78BFA"/>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Review</a:t>
            </a:r>
            <a:endParaRPr lang="en-US" sz="1250" dirty="0"/>
          </a:p>
        </p:txBody>
      </p:sp>
      <p:sp>
        <p:nvSpPr>
          <p:cNvPr id="111" name="s111"/>
          <p:cNvSpPr/>
          <p:nvPr/>
        </p:nvSpPr>
        <p:spPr>
          <a:xfrm>
            <a:off x="6426403" y="3794760"/>
            <a:ext cx="2148840" cy="502920"/>
          </a:xfrm>
          <a:prstGeom prst="roundRect">
            <a:avLst>
              <a:gd name="adj" fmla="val 30000"/>
            </a:avLst>
          </a:prstGeom>
          <a:solidFill>
            <a:srgbClr val="F472B6">
              <a:alpha val="14000"/>
            </a:srgbClr>
          </a:solidFill>
          <a:ln w="12700">
            <a:solidFill>
              <a:srgbClr val="F472B6"/>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Retro</a:t>
            </a:r>
            <a:endParaRPr lang="en-US" sz="1250" dirty="0"/>
          </a:p>
        </p:txBody>
      </p:sp>
      <p:sp>
        <p:nvSpPr>
          <p:cNvPr id="112" name="s112"/>
          <p:cNvSpPr/>
          <p:nvPr/>
        </p:nvSpPr>
        <p:spPr>
          <a:xfrm>
            <a:off x="9253728" y="3794760"/>
            <a:ext cx="2148840" cy="502920"/>
          </a:xfrm>
          <a:prstGeom prst="roundRect">
            <a:avLst>
              <a:gd name="adj" fmla="val 30000"/>
            </a:avLst>
          </a:prstGeom>
          <a:solidFill>
            <a:srgbClr val="13D0F7">
              <a:alpha val="14000"/>
            </a:srgbClr>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250" b="1" dirty="0">
                <a:solidFill>
                  <a:srgbClr val="FFFFFF"/>
                </a:solidFill>
                <a:latin typeface="Segoe UI"/>
                <a:ea typeface="Segoe UI"/>
                <a:cs typeface="Segoe UI"/>
              </a:rPr>
              <a:t>Next Sprint</a:t>
            </a:r>
            <a:endParaRPr lang="en-US" sz="1250" dirty="0"/>
          </a:p>
        </p:txBody>
      </p:sp>
      <p:cxnSp>
        <p:nvCxnSpPr>
          <p:cNvPr id="113" name="ln113"/>
          <p:cNvCxnSpPr/>
          <p:nvPr/>
        </p:nvCxnSpPr>
        <p:spPr>
          <a:xfrm>
            <a:off x="2966314" y="2217420"/>
            <a:ext cx="587045" cy="0"/>
          </a:xfrm>
          <a:prstGeom prst="line">
            <a:avLst/>
          </a:prstGeom>
          <a:ln w="19050">
            <a:solidFill>
              <a:srgbClr val="94A3B8"/>
            </a:solidFill>
            <a:tailEnd type="triangle" w="med" len="med"/>
          </a:ln>
        </p:spPr>
      </p:cxnSp>
      <p:cxnSp>
        <p:nvCxnSpPr>
          <p:cNvPr id="114" name="ln114"/>
          <p:cNvCxnSpPr/>
          <p:nvPr/>
        </p:nvCxnSpPr>
        <p:spPr>
          <a:xfrm>
            <a:off x="5793638" y="2217420"/>
            <a:ext cx="587045" cy="0"/>
          </a:xfrm>
          <a:prstGeom prst="line">
            <a:avLst/>
          </a:prstGeom>
          <a:ln w="19050">
            <a:solidFill>
              <a:srgbClr val="94A3B8"/>
            </a:solidFill>
            <a:tailEnd type="triangle" w="med" len="med"/>
          </a:ln>
        </p:spPr>
      </p:cxnSp>
      <p:cxnSp>
        <p:nvCxnSpPr>
          <p:cNvPr id="115" name="ln115"/>
          <p:cNvCxnSpPr/>
          <p:nvPr/>
        </p:nvCxnSpPr>
        <p:spPr>
          <a:xfrm>
            <a:off x="8620963" y="2217420"/>
            <a:ext cx="587045" cy="0"/>
          </a:xfrm>
          <a:prstGeom prst="line">
            <a:avLst/>
          </a:prstGeom>
          <a:ln w="19050">
            <a:solidFill>
              <a:srgbClr val="94A3B8"/>
            </a:solidFill>
            <a:tailEnd type="triangle" w="med" len="med"/>
          </a:ln>
        </p:spPr>
      </p:cxnSp>
      <p:cxnSp>
        <p:nvCxnSpPr>
          <p:cNvPr id="116" name="ln116"/>
          <p:cNvCxnSpPr/>
          <p:nvPr/>
        </p:nvCxnSpPr>
        <p:spPr>
          <a:xfrm>
            <a:off x="10328148" y="2496312"/>
            <a:ext cx="0" cy="356616"/>
          </a:xfrm>
          <a:prstGeom prst="line">
            <a:avLst/>
          </a:prstGeom>
          <a:ln w="19050">
            <a:solidFill>
              <a:srgbClr val="94A3B8"/>
            </a:solidFill>
            <a:tailEnd type="triangle" w="med" len="med"/>
          </a:ln>
        </p:spPr>
      </p:cxnSp>
      <p:cxnSp>
        <p:nvCxnSpPr>
          <p:cNvPr id="117" name="ln117"/>
          <p:cNvCxnSpPr/>
          <p:nvPr/>
        </p:nvCxnSpPr>
        <p:spPr>
          <a:xfrm flipH="1">
            <a:off x="8620963" y="3131820"/>
            <a:ext cx="587045" cy="0"/>
          </a:xfrm>
          <a:prstGeom prst="line">
            <a:avLst/>
          </a:prstGeom>
          <a:ln w="19050">
            <a:solidFill>
              <a:srgbClr val="94A3B8"/>
            </a:solidFill>
            <a:tailEnd type="triangle" w="med" len="med"/>
          </a:ln>
        </p:spPr>
      </p:cxnSp>
      <p:cxnSp>
        <p:nvCxnSpPr>
          <p:cNvPr id="118" name="ln118"/>
          <p:cNvCxnSpPr/>
          <p:nvPr/>
        </p:nvCxnSpPr>
        <p:spPr>
          <a:xfrm flipH="1">
            <a:off x="5793638" y="3131820"/>
            <a:ext cx="587045" cy="0"/>
          </a:xfrm>
          <a:prstGeom prst="line">
            <a:avLst/>
          </a:prstGeom>
          <a:ln w="19050">
            <a:solidFill>
              <a:srgbClr val="94A3B8"/>
            </a:solidFill>
            <a:tailEnd type="triangle" w="med" len="med"/>
          </a:ln>
        </p:spPr>
      </p:cxnSp>
      <p:cxnSp>
        <p:nvCxnSpPr>
          <p:cNvPr id="119" name="ln119"/>
          <p:cNvCxnSpPr/>
          <p:nvPr/>
        </p:nvCxnSpPr>
        <p:spPr>
          <a:xfrm flipH="1">
            <a:off x="2966314" y="3131820"/>
            <a:ext cx="587045" cy="0"/>
          </a:xfrm>
          <a:prstGeom prst="line">
            <a:avLst/>
          </a:prstGeom>
          <a:ln w="19050">
            <a:solidFill>
              <a:srgbClr val="94A3B8"/>
            </a:solidFill>
            <a:tailEnd type="triangle" w="med" len="med"/>
          </a:ln>
        </p:spPr>
      </p:cxnSp>
      <p:cxnSp>
        <p:nvCxnSpPr>
          <p:cNvPr id="120" name="ln120"/>
          <p:cNvCxnSpPr/>
          <p:nvPr/>
        </p:nvCxnSpPr>
        <p:spPr>
          <a:xfrm>
            <a:off x="1846174" y="3410712"/>
            <a:ext cx="0" cy="356616"/>
          </a:xfrm>
          <a:prstGeom prst="line">
            <a:avLst/>
          </a:prstGeom>
          <a:ln w="19050">
            <a:solidFill>
              <a:srgbClr val="94A3B8"/>
            </a:solidFill>
            <a:tailEnd type="triangle" w="med" len="med"/>
          </a:ln>
        </p:spPr>
      </p:cxnSp>
      <p:cxnSp>
        <p:nvCxnSpPr>
          <p:cNvPr id="121" name="ln121"/>
          <p:cNvCxnSpPr/>
          <p:nvPr/>
        </p:nvCxnSpPr>
        <p:spPr>
          <a:xfrm>
            <a:off x="2966314" y="4046220"/>
            <a:ext cx="587045" cy="0"/>
          </a:xfrm>
          <a:prstGeom prst="line">
            <a:avLst/>
          </a:prstGeom>
          <a:ln w="19050">
            <a:solidFill>
              <a:srgbClr val="94A3B8"/>
            </a:solidFill>
            <a:tailEnd type="triangle" w="med" len="med"/>
          </a:ln>
        </p:spPr>
      </p:cxnSp>
      <p:cxnSp>
        <p:nvCxnSpPr>
          <p:cNvPr id="122" name="ln122"/>
          <p:cNvCxnSpPr/>
          <p:nvPr/>
        </p:nvCxnSpPr>
        <p:spPr>
          <a:xfrm>
            <a:off x="5793638" y="4046220"/>
            <a:ext cx="587045" cy="0"/>
          </a:xfrm>
          <a:prstGeom prst="line">
            <a:avLst/>
          </a:prstGeom>
          <a:ln w="19050">
            <a:solidFill>
              <a:srgbClr val="94A3B8"/>
            </a:solidFill>
            <a:tailEnd type="triangle" w="med" len="med"/>
          </a:ln>
        </p:spPr>
      </p:cxnSp>
      <p:cxnSp>
        <p:nvCxnSpPr>
          <p:cNvPr id="123" name="ln123"/>
          <p:cNvCxnSpPr/>
          <p:nvPr/>
        </p:nvCxnSpPr>
        <p:spPr>
          <a:xfrm>
            <a:off x="8620963" y="4046220"/>
            <a:ext cx="587045" cy="0"/>
          </a:xfrm>
          <a:prstGeom prst="line">
            <a:avLst/>
          </a:prstGeom>
          <a:ln w="19050">
            <a:solidFill>
              <a:srgbClr val="94A3B8"/>
            </a:solidFill>
            <a:tailEnd type="triangle" w="med" len="med"/>
          </a:ln>
        </p:spPr>
      </p:cxnSp>
      <p:cxnSp>
        <p:nvCxnSpPr>
          <p:cNvPr id="124" name="ln124"/>
          <p:cNvCxnSpPr/>
          <p:nvPr/>
        </p:nvCxnSpPr>
        <p:spPr>
          <a:xfrm>
            <a:off x="11430000" y="4046220"/>
            <a:ext cx="182880" cy="0"/>
          </a:xfrm>
          <a:prstGeom prst="line">
            <a:avLst/>
          </a:prstGeom>
          <a:ln w="22225">
            <a:solidFill>
              <a:srgbClr val="13D0F7"/>
            </a:solidFill>
            <a:prstDash val="dash"/>
          </a:ln>
        </p:spPr>
      </p:cxnSp>
      <p:cxnSp>
        <p:nvCxnSpPr>
          <p:cNvPr id="125" name="ln125"/>
          <p:cNvCxnSpPr/>
          <p:nvPr/>
        </p:nvCxnSpPr>
        <p:spPr>
          <a:xfrm flipV="1">
            <a:off x="11612880" y="2217420"/>
            <a:ext cx="0" cy="1828800"/>
          </a:xfrm>
          <a:prstGeom prst="line">
            <a:avLst/>
          </a:prstGeom>
          <a:ln w="22225">
            <a:solidFill>
              <a:srgbClr val="13D0F7"/>
            </a:solidFill>
            <a:prstDash val="dash"/>
          </a:ln>
        </p:spPr>
      </p:cxnSp>
      <p:cxnSp>
        <p:nvCxnSpPr>
          <p:cNvPr id="126" name="ln126"/>
          <p:cNvCxnSpPr/>
          <p:nvPr/>
        </p:nvCxnSpPr>
        <p:spPr>
          <a:xfrm flipH="1">
            <a:off x="11430000" y="2217420"/>
            <a:ext cx="182880" cy="0"/>
          </a:xfrm>
          <a:prstGeom prst="line">
            <a:avLst/>
          </a:prstGeom>
          <a:ln w="22225">
            <a:solidFill>
              <a:srgbClr val="13D0F7"/>
            </a:solidFill>
            <a:prstDash val="dash"/>
            <a:tailEnd type="triangle" w="med" len="med"/>
          </a:ln>
        </p:spPr>
      </p:cxnSp>
      <p:sp>
        <p:nvSpPr>
          <p:cNvPr id="127" name="s127"/>
          <p:cNvSpPr/>
          <p:nvPr/>
        </p:nvSpPr>
        <p:spPr>
          <a:xfrm>
            <a:off x="543154" y="4892040"/>
            <a:ext cx="3543605" cy="777240"/>
          </a:xfrm>
          <a:prstGeom prst="roundRect">
            <a:avLst>
              <a:gd name="adj" fmla="val 12000"/>
            </a:avLst>
          </a:prstGeom>
          <a:solidFill>
            <a:srgbClr val="111B2E"/>
          </a:solidFill>
          <a:ln w="12700">
            <a:solidFill>
              <a:srgbClr val="FBBF24"/>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Product Owner</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Value and order</a:t>
            </a:r>
            <a:endParaRPr lang="en-US" sz="1150" dirty="0"/>
          </a:p>
        </p:txBody>
      </p:sp>
      <p:sp>
        <p:nvSpPr>
          <p:cNvPr id="128" name="s128"/>
          <p:cNvSpPr/>
          <p:nvPr/>
        </p:nvSpPr>
        <p:spPr>
          <a:xfrm>
            <a:off x="4315358" y="4892040"/>
            <a:ext cx="3543605" cy="777240"/>
          </a:xfrm>
          <a:prstGeom prst="roundRect">
            <a:avLst>
              <a:gd name="adj" fmla="val 12000"/>
            </a:avLst>
          </a:prstGeom>
          <a:solidFill>
            <a:srgbClr val="111B2E"/>
          </a:solidFill>
          <a:ln w="12700">
            <a:solidFill>
              <a:srgbClr val="60A5FA"/>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Developers</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Plan, build, quality, estimate</a:t>
            </a:r>
            <a:endParaRPr lang="en-US" sz="1150" dirty="0"/>
          </a:p>
        </p:txBody>
      </p:sp>
      <p:sp>
        <p:nvSpPr>
          <p:cNvPr id="129" name="s129"/>
          <p:cNvSpPr/>
          <p:nvPr/>
        </p:nvSpPr>
        <p:spPr>
          <a:xfrm>
            <a:off x="8087563" y="4892040"/>
            <a:ext cx="3543605" cy="777240"/>
          </a:xfrm>
          <a:prstGeom prst="roundRect">
            <a:avLst>
              <a:gd name="adj" fmla="val 12000"/>
            </a:avLst>
          </a:prstGeom>
          <a:solidFill>
            <a:srgbClr val="111B2E"/>
          </a:solidFill>
          <a:ln w="12700">
            <a:solidFill>
              <a:srgbClr val="A78BFA"/>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A78BFA"/>
                </a:solidFill>
                <a:latin typeface="Segoe UI"/>
                <a:ea typeface="Segoe UI"/>
                <a:cs typeface="Segoe UI"/>
              </a:rPr>
              <a:t>Scrum Master</a:t>
            </a:r>
            <a:endParaRPr lang="en-US" sz="1300" dirty="0"/>
          </a:p>
          <a:p>
            <a:pPr marL="0" indent="0" algn="ctr">
              <a:spcBef>
                <a:spcPts val="0"/>
              </a:spcBef>
              <a:spcAft>
                <a:spcPts val="0"/>
              </a:spcAft>
              <a:buNone/>
            </a:pPr>
            <a:r>
              <a:rPr lang="en-US" sz="1150" b="0" dirty="0">
                <a:solidFill>
                  <a:srgbClr val="E2E8F0"/>
                </a:solidFill>
                <a:latin typeface="Segoe UI"/>
                <a:ea typeface="Segoe UI"/>
                <a:cs typeface="Segoe UI"/>
              </a:rPr>
              <a:t>Effectiveness + impediments</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38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380" decel="100000" fill="hold"/>
                                        <p:tgtEl>
                                          <p:spTgt spid="101"/>
                                        </p:tgtEl>
                                        <p:attrNameLst>
                                          <p:attrName>ppt_h</p:attrName>
                                        </p:attrNameLst>
                                      </p:cBhvr>
                                      <p:tavLst>
                                        <p:tav tm="0">
                                          <p:val>
                                            <p:strVal val="#ppt_h*0.55"/>
                                          </p:val>
                                        </p:tav>
                                        <p:tav tm="100000">
                                          <p:val>
                                            <p:strVal val="#ppt_h"/>
                                          </p:val>
                                        </p:tav>
                                      </p:tavLst>
                                    </p:anim>
                                    <p:animEffect transition="in" filter="fade">
                                      <p:cBhvr>
                                        <p:cTn id="9" dur="380"/>
                                        <p:tgtEl>
                                          <p:spTgt spid="101"/>
                                        </p:tgtEl>
                                      </p:cBhvr>
                                    </p:animEffect>
                                  </p:childTnLst>
                                </p:cTn>
                              </p:par>
                              <p:par>
                                <p:cTn id="10" presetID="10" presetClass="entr" presetSubtype="0" fill="hold" nodeType="withEffect">
                                  <p:stCondLst>
                                    <p:cond delay="140"/>
                                  </p:stCondLst>
                                  <p:childTnLst>
                                    <p:set>
                                      <p:cBhvr>
                                        <p:cTn id="11" dur="1" fill="hold">
                                          <p:stCondLst>
                                            <p:cond delay="0"/>
                                          </p:stCondLst>
                                        </p:cTn>
                                        <p:tgtEl>
                                          <p:spTgt spid="113"/>
                                        </p:tgtEl>
                                        <p:attrNameLst>
                                          <p:attrName>style.visibility</p:attrName>
                                        </p:attrNameLst>
                                      </p:cBhvr>
                                      <p:to>
                                        <p:strVal val="visible"/>
                                      </p:to>
                                    </p:set>
                                    <p:animEffect transition="in" filter="fade">
                                      <p:cBhvr>
                                        <p:cTn id="12" dur="380"/>
                                        <p:tgtEl>
                                          <p:spTgt spid="113"/>
                                        </p:tgtEl>
                                      </p:cBhvr>
                                    </p:animEffect>
                                  </p:childTnLst>
                                </p:cTn>
                              </p:par>
                              <p:par>
                                <p:cTn id="13" presetID="53" presetClass="entr" presetSubtype="16" fill="hold" grpId="0" nodeType="withEffect">
                                  <p:stCondLst>
                                    <p:cond delay="280"/>
                                  </p:stCondLst>
                                  <p:childTnLst>
                                    <p:set>
                                      <p:cBhvr>
                                        <p:cTn id="14" dur="1" fill="hold">
                                          <p:stCondLst>
                                            <p:cond delay="0"/>
                                          </p:stCondLst>
                                        </p:cTn>
                                        <p:tgtEl>
                                          <p:spTgt spid="102"/>
                                        </p:tgtEl>
                                        <p:attrNameLst>
                                          <p:attrName>style.visibility</p:attrName>
                                        </p:attrNameLst>
                                      </p:cBhvr>
                                      <p:to>
                                        <p:strVal val="visible"/>
                                      </p:to>
                                    </p:set>
                                    <p:anim calcmode="lin" valueType="num">
                                      <p:cBhvr additive="base">
                                        <p:cTn id="15" dur="38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6" dur="380" decel="100000" fill="hold"/>
                                        <p:tgtEl>
                                          <p:spTgt spid="102"/>
                                        </p:tgtEl>
                                        <p:attrNameLst>
                                          <p:attrName>ppt_h</p:attrName>
                                        </p:attrNameLst>
                                      </p:cBhvr>
                                      <p:tavLst>
                                        <p:tav tm="0">
                                          <p:val>
                                            <p:strVal val="#ppt_h*0.55"/>
                                          </p:val>
                                        </p:tav>
                                        <p:tav tm="100000">
                                          <p:val>
                                            <p:strVal val="#ppt_h"/>
                                          </p:val>
                                        </p:tav>
                                      </p:tavLst>
                                    </p:anim>
                                    <p:animEffect transition="in" filter="fade">
                                      <p:cBhvr>
                                        <p:cTn id="17" dur="380"/>
                                        <p:tgtEl>
                                          <p:spTgt spid="102"/>
                                        </p:tgtEl>
                                      </p:cBhvr>
                                    </p:animEffect>
                                  </p:childTnLst>
                                </p:cTn>
                              </p:par>
                              <p:par>
                                <p:cTn id="18" presetID="10" presetClass="entr" presetSubtype="0" fill="hold" nodeType="withEffect">
                                  <p:stCondLst>
                                    <p:cond delay="420"/>
                                  </p:stCondLst>
                                  <p:childTnLst>
                                    <p:set>
                                      <p:cBhvr>
                                        <p:cTn id="19" dur="1" fill="hold">
                                          <p:stCondLst>
                                            <p:cond delay="0"/>
                                          </p:stCondLst>
                                        </p:cTn>
                                        <p:tgtEl>
                                          <p:spTgt spid="114"/>
                                        </p:tgtEl>
                                        <p:attrNameLst>
                                          <p:attrName>style.visibility</p:attrName>
                                        </p:attrNameLst>
                                      </p:cBhvr>
                                      <p:to>
                                        <p:strVal val="visible"/>
                                      </p:to>
                                    </p:set>
                                    <p:animEffect transition="in" filter="fade">
                                      <p:cBhvr>
                                        <p:cTn id="20" dur="380"/>
                                        <p:tgtEl>
                                          <p:spTgt spid="114"/>
                                        </p:tgtEl>
                                      </p:cBhvr>
                                    </p:animEffect>
                                  </p:childTnLst>
                                </p:cTn>
                              </p:par>
                              <p:par>
                                <p:cTn id="21" presetID="53" presetClass="entr" presetSubtype="16" fill="hold" grpId="0" nodeType="withEffect">
                                  <p:stCondLst>
                                    <p:cond delay="560"/>
                                  </p:stCondLst>
                                  <p:childTnLst>
                                    <p:set>
                                      <p:cBhvr>
                                        <p:cTn id="22" dur="1" fill="hold">
                                          <p:stCondLst>
                                            <p:cond delay="0"/>
                                          </p:stCondLst>
                                        </p:cTn>
                                        <p:tgtEl>
                                          <p:spTgt spid="103"/>
                                        </p:tgtEl>
                                        <p:attrNameLst>
                                          <p:attrName>style.visibility</p:attrName>
                                        </p:attrNameLst>
                                      </p:cBhvr>
                                      <p:to>
                                        <p:strVal val="visible"/>
                                      </p:to>
                                    </p:set>
                                    <p:anim calcmode="lin" valueType="num">
                                      <p:cBhvr additive="base">
                                        <p:cTn id="23" dur="380" decel="100000" fill="hold"/>
                                        <p:tgtEl>
                                          <p:spTgt spid="103"/>
                                        </p:tgtEl>
                                        <p:attrNameLst>
                                          <p:attrName>ppt_w</p:attrName>
                                        </p:attrNameLst>
                                      </p:cBhvr>
                                      <p:tavLst>
                                        <p:tav tm="0">
                                          <p:val>
                                            <p:strVal val="#ppt_w*0.55"/>
                                          </p:val>
                                        </p:tav>
                                        <p:tav tm="100000">
                                          <p:val>
                                            <p:strVal val="#ppt_w"/>
                                          </p:val>
                                        </p:tav>
                                      </p:tavLst>
                                    </p:anim>
                                    <p:anim calcmode="lin" valueType="num">
                                      <p:cBhvr additive="base">
                                        <p:cTn id="24" dur="380" decel="100000" fill="hold"/>
                                        <p:tgtEl>
                                          <p:spTgt spid="103"/>
                                        </p:tgtEl>
                                        <p:attrNameLst>
                                          <p:attrName>ppt_h</p:attrName>
                                        </p:attrNameLst>
                                      </p:cBhvr>
                                      <p:tavLst>
                                        <p:tav tm="0">
                                          <p:val>
                                            <p:strVal val="#ppt_h*0.55"/>
                                          </p:val>
                                        </p:tav>
                                        <p:tav tm="100000">
                                          <p:val>
                                            <p:strVal val="#ppt_h"/>
                                          </p:val>
                                        </p:tav>
                                      </p:tavLst>
                                    </p:anim>
                                    <p:animEffect transition="in" filter="fade">
                                      <p:cBhvr>
                                        <p:cTn id="25" dur="380"/>
                                        <p:tgtEl>
                                          <p:spTgt spid="103"/>
                                        </p:tgtEl>
                                      </p:cBhvr>
                                    </p:animEffect>
                                  </p:childTnLst>
                                </p:cTn>
                              </p:par>
                              <p:par>
                                <p:cTn id="26" presetID="10" presetClass="entr" presetSubtype="0" fill="hold" nodeType="withEffect">
                                  <p:stCondLst>
                                    <p:cond delay="700"/>
                                  </p:stCondLst>
                                  <p:childTnLst>
                                    <p:set>
                                      <p:cBhvr>
                                        <p:cTn id="27" dur="1" fill="hold">
                                          <p:stCondLst>
                                            <p:cond delay="0"/>
                                          </p:stCondLst>
                                        </p:cTn>
                                        <p:tgtEl>
                                          <p:spTgt spid="115"/>
                                        </p:tgtEl>
                                        <p:attrNameLst>
                                          <p:attrName>style.visibility</p:attrName>
                                        </p:attrNameLst>
                                      </p:cBhvr>
                                      <p:to>
                                        <p:strVal val="visible"/>
                                      </p:to>
                                    </p:set>
                                    <p:animEffect transition="in" filter="fade">
                                      <p:cBhvr>
                                        <p:cTn id="28" dur="380"/>
                                        <p:tgtEl>
                                          <p:spTgt spid="115"/>
                                        </p:tgtEl>
                                      </p:cBhvr>
                                    </p:animEffect>
                                  </p:childTnLst>
                                </p:cTn>
                              </p:par>
                              <p:par>
                                <p:cTn id="29" presetID="53" presetClass="entr" presetSubtype="16" fill="hold" grpId="0" nodeType="withEffect">
                                  <p:stCondLst>
                                    <p:cond delay="840"/>
                                  </p:stCondLst>
                                  <p:childTnLst>
                                    <p:set>
                                      <p:cBhvr>
                                        <p:cTn id="30" dur="1" fill="hold">
                                          <p:stCondLst>
                                            <p:cond delay="0"/>
                                          </p:stCondLst>
                                        </p:cTn>
                                        <p:tgtEl>
                                          <p:spTgt spid="104"/>
                                        </p:tgtEl>
                                        <p:attrNameLst>
                                          <p:attrName>style.visibility</p:attrName>
                                        </p:attrNameLst>
                                      </p:cBhvr>
                                      <p:to>
                                        <p:strVal val="visible"/>
                                      </p:to>
                                    </p:set>
                                    <p:anim calcmode="lin" valueType="num">
                                      <p:cBhvr additive="base">
                                        <p:cTn id="31" dur="380" decel="100000" fill="hold"/>
                                        <p:tgtEl>
                                          <p:spTgt spid="104"/>
                                        </p:tgtEl>
                                        <p:attrNameLst>
                                          <p:attrName>ppt_w</p:attrName>
                                        </p:attrNameLst>
                                      </p:cBhvr>
                                      <p:tavLst>
                                        <p:tav tm="0">
                                          <p:val>
                                            <p:strVal val="#ppt_w*0.55"/>
                                          </p:val>
                                        </p:tav>
                                        <p:tav tm="100000">
                                          <p:val>
                                            <p:strVal val="#ppt_w"/>
                                          </p:val>
                                        </p:tav>
                                      </p:tavLst>
                                    </p:anim>
                                    <p:anim calcmode="lin" valueType="num">
                                      <p:cBhvr additive="base">
                                        <p:cTn id="32" dur="380" decel="100000" fill="hold"/>
                                        <p:tgtEl>
                                          <p:spTgt spid="104"/>
                                        </p:tgtEl>
                                        <p:attrNameLst>
                                          <p:attrName>ppt_h</p:attrName>
                                        </p:attrNameLst>
                                      </p:cBhvr>
                                      <p:tavLst>
                                        <p:tav tm="0">
                                          <p:val>
                                            <p:strVal val="#ppt_h*0.55"/>
                                          </p:val>
                                        </p:tav>
                                        <p:tav tm="100000">
                                          <p:val>
                                            <p:strVal val="#ppt_h"/>
                                          </p:val>
                                        </p:tav>
                                      </p:tavLst>
                                    </p:anim>
                                    <p:animEffect transition="in" filter="fade">
                                      <p:cBhvr>
                                        <p:cTn id="33" dur="380"/>
                                        <p:tgtEl>
                                          <p:spTgt spid="104"/>
                                        </p:tgtEl>
                                      </p:cBhvr>
                                    </p:animEffect>
                                  </p:childTnLst>
                                </p:cTn>
                              </p:par>
                              <p:par>
                                <p:cTn id="34" presetID="10" presetClass="entr" presetSubtype="0" fill="hold" nodeType="withEffect">
                                  <p:stCondLst>
                                    <p:cond delay="980"/>
                                  </p:stCondLst>
                                  <p:childTnLst>
                                    <p:set>
                                      <p:cBhvr>
                                        <p:cTn id="35" dur="1" fill="hold">
                                          <p:stCondLst>
                                            <p:cond delay="0"/>
                                          </p:stCondLst>
                                        </p:cTn>
                                        <p:tgtEl>
                                          <p:spTgt spid="116"/>
                                        </p:tgtEl>
                                        <p:attrNameLst>
                                          <p:attrName>style.visibility</p:attrName>
                                        </p:attrNameLst>
                                      </p:cBhvr>
                                      <p:to>
                                        <p:strVal val="visible"/>
                                      </p:to>
                                    </p:set>
                                    <p:animEffect transition="in" filter="fade">
                                      <p:cBhvr>
                                        <p:cTn id="36" dur="380"/>
                                        <p:tgtEl>
                                          <p:spTgt spid="116"/>
                                        </p:tgtEl>
                                      </p:cBhvr>
                                    </p:animEffect>
                                  </p:childTnLst>
                                </p:cTn>
                              </p:par>
                              <p:par>
                                <p:cTn id="37" presetID="53" presetClass="entr" presetSubtype="16" fill="hold" grpId="0" nodeType="withEffect">
                                  <p:stCondLst>
                                    <p:cond delay="1120"/>
                                  </p:stCondLst>
                                  <p:childTnLst>
                                    <p:set>
                                      <p:cBhvr>
                                        <p:cTn id="38" dur="1" fill="hold">
                                          <p:stCondLst>
                                            <p:cond delay="0"/>
                                          </p:stCondLst>
                                        </p:cTn>
                                        <p:tgtEl>
                                          <p:spTgt spid="108"/>
                                        </p:tgtEl>
                                        <p:attrNameLst>
                                          <p:attrName>style.visibility</p:attrName>
                                        </p:attrNameLst>
                                      </p:cBhvr>
                                      <p:to>
                                        <p:strVal val="visible"/>
                                      </p:to>
                                    </p:set>
                                    <p:anim calcmode="lin" valueType="num">
                                      <p:cBhvr additive="base">
                                        <p:cTn id="39" dur="38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0" dur="380" decel="100000" fill="hold"/>
                                        <p:tgtEl>
                                          <p:spTgt spid="108"/>
                                        </p:tgtEl>
                                        <p:attrNameLst>
                                          <p:attrName>ppt_h</p:attrName>
                                        </p:attrNameLst>
                                      </p:cBhvr>
                                      <p:tavLst>
                                        <p:tav tm="0">
                                          <p:val>
                                            <p:strVal val="#ppt_h*0.55"/>
                                          </p:val>
                                        </p:tav>
                                        <p:tav tm="100000">
                                          <p:val>
                                            <p:strVal val="#ppt_h"/>
                                          </p:val>
                                        </p:tav>
                                      </p:tavLst>
                                    </p:anim>
                                    <p:animEffect transition="in" filter="fade">
                                      <p:cBhvr>
                                        <p:cTn id="41" dur="380"/>
                                        <p:tgtEl>
                                          <p:spTgt spid="108"/>
                                        </p:tgtEl>
                                      </p:cBhvr>
                                    </p:animEffect>
                                  </p:childTnLst>
                                </p:cTn>
                              </p:par>
                              <p:par>
                                <p:cTn id="42" presetID="10" presetClass="entr" presetSubtype="0" fill="hold" nodeType="withEffect">
                                  <p:stCondLst>
                                    <p:cond delay="1260"/>
                                  </p:stCondLst>
                                  <p:childTnLst>
                                    <p:set>
                                      <p:cBhvr>
                                        <p:cTn id="43" dur="1" fill="hold">
                                          <p:stCondLst>
                                            <p:cond delay="0"/>
                                          </p:stCondLst>
                                        </p:cTn>
                                        <p:tgtEl>
                                          <p:spTgt spid="117"/>
                                        </p:tgtEl>
                                        <p:attrNameLst>
                                          <p:attrName>style.visibility</p:attrName>
                                        </p:attrNameLst>
                                      </p:cBhvr>
                                      <p:to>
                                        <p:strVal val="visible"/>
                                      </p:to>
                                    </p:set>
                                    <p:animEffect transition="in" filter="fade">
                                      <p:cBhvr>
                                        <p:cTn id="44" dur="380"/>
                                        <p:tgtEl>
                                          <p:spTgt spid="117"/>
                                        </p:tgtEl>
                                      </p:cBhvr>
                                    </p:animEffect>
                                  </p:childTnLst>
                                </p:cTn>
                              </p:par>
                              <p:par>
                                <p:cTn id="45" presetID="53" presetClass="entr" presetSubtype="16" fill="hold" grpId="0" nodeType="withEffect">
                                  <p:stCondLst>
                                    <p:cond delay="1400"/>
                                  </p:stCondLst>
                                  <p:childTnLst>
                                    <p:set>
                                      <p:cBhvr>
                                        <p:cTn id="46" dur="1" fill="hold">
                                          <p:stCondLst>
                                            <p:cond delay="0"/>
                                          </p:stCondLst>
                                        </p:cTn>
                                        <p:tgtEl>
                                          <p:spTgt spid="107"/>
                                        </p:tgtEl>
                                        <p:attrNameLst>
                                          <p:attrName>style.visibility</p:attrName>
                                        </p:attrNameLst>
                                      </p:cBhvr>
                                      <p:to>
                                        <p:strVal val="visible"/>
                                      </p:to>
                                    </p:set>
                                    <p:anim calcmode="lin" valueType="num">
                                      <p:cBhvr additive="base">
                                        <p:cTn id="47" dur="380" decel="100000" fill="hold"/>
                                        <p:tgtEl>
                                          <p:spTgt spid="107"/>
                                        </p:tgtEl>
                                        <p:attrNameLst>
                                          <p:attrName>ppt_w</p:attrName>
                                        </p:attrNameLst>
                                      </p:cBhvr>
                                      <p:tavLst>
                                        <p:tav tm="0">
                                          <p:val>
                                            <p:strVal val="#ppt_w*0.55"/>
                                          </p:val>
                                        </p:tav>
                                        <p:tav tm="100000">
                                          <p:val>
                                            <p:strVal val="#ppt_w"/>
                                          </p:val>
                                        </p:tav>
                                      </p:tavLst>
                                    </p:anim>
                                    <p:anim calcmode="lin" valueType="num">
                                      <p:cBhvr additive="base">
                                        <p:cTn id="48" dur="380" decel="100000" fill="hold"/>
                                        <p:tgtEl>
                                          <p:spTgt spid="107"/>
                                        </p:tgtEl>
                                        <p:attrNameLst>
                                          <p:attrName>ppt_h</p:attrName>
                                        </p:attrNameLst>
                                      </p:cBhvr>
                                      <p:tavLst>
                                        <p:tav tm="0">
                                          <p:val>
                                            <p:strVal val="#ppt_h*0.55"/>
                                          </p:val>
                                        </p:tav>
                                        <p:tav tm="100000">
                                          <p:val>
                                            <p:strVal val="#ppt_h"/>
                                          </p:val>
                                        </p:tav>
                                      </p:tavLst>
                                    </p:anim>
                                    <p:animEffect transition="in" filter="fade">
                                      <p:cBhvr>
                                        <p:cTn id="49" dur="380"/>
                                        <p:tgtEl>
                                          <p:spTgt spid="107"/>
                                        </p:tgtEl>
                                      </p:cBhvr>
                                    </p:animEffect>
                                  </p:childTnLst>
                                </p:cTn>
                              </p:par>
                              <p:par>
                                <p:cTn id="50" presetID="10" presetClass="entr" presetSubtype="0" fill="hold" nodeType="withEffect">
                                  <p:stCondLst>
                                    <p:cond delay="1540"/>
                                  </p:stCondLst>
                                  <p:childTnLst>
                                    <p:set>
                                      <p:cBhvr>
                                        <p:cTn id="51" dur="1" fill="hold">
                                          <p:stCondLst>
                                            <p:cond delay="0"/>
                                          </p:stCondLst>
                                        </p:cTn>
                                        <p:tgtEl>
                                          <p:spTgt spid="118"/>
                                        </p:tgtEl>
                                        <p:attrNameLst>
                                          <p:attrName>style.visibility</p:attrName>
                                        </p:attrNameLst>
                                      </p:cBhvr>
                                      <p:to>
                                        <p:strVal val="visible"/>
                                      </p:to>
                                    </p:set>
                                    <p:animEffect transition="in" filter="fade">
                                      <p:cBhvr>
                                        <p:cTn id="52" dur="380"/>
                                        <p:tgtEl>
                                          <p:spTgt spid="118"/>
                                        </p:tgtEl>
                                      </p:cBhvr>
                                    </p:animEffect>
                                  </p:childTnLst>
                                </p:cTn>
                              </p:par>
                              <p:par>
                                <p:cTn id="53" presetID="53" presetClass="entr" presetSubtype="16" fill="hold" grpId="0" nodeType="withEffect">
                                  <p:stCondLst>
                                    <p:cond delay="1680"/>
                                  </p:stCondLst>
                                  <p:childTnLst>
                                    <p:set>
                                      <p:cBhvr>
                                        <p:cTn id="54" dur="1" fill="hold">
                                          <p:stCondLst>
                                            <p:cond delay="0"/>
                                          </p:stCondLst>
                                        </p:cTn>
                                        <p:tgtEl>
                                          <p:spTgt spid="106"/>
                                        </p:tgtEl>
                                        <p:attrNameLst>
                                          <p:attrName>style.visibility</p:attrName>
                                        </p:attrNameLst>
                                      </p:cBhvr>
                                      <p:to>
                                        <p:strVal val="visible"/>
                                      </p:to>
                                    </p:set>
                                    <p:anim calcmode="lin" valueType="num">
                                      <p:cBhvr additive="base">
                                        <p:cTn id="55" dur="380" decel="100000" fill="hold"/>
                                        <p:tgtEl>
                                          <p:spTgt spid="106"/>
                                        </p:tgtEl>
                                        <p:attrNameLst>
                                          <p:attrName>ppt_w</p:attrName>
                                        </p:attrNameLst>
                                      </p:cBhvr>
                                      <p:tavLst>
                                        <p:tav tm="0">
                                          <p:val>
                                            <p:strVal val="#ppt_w*0.55"/>
                                          </p:val>
                                        </p:tav>
                                        <p:tav tm="100000">
                                          <p:val>
                                            <p:strVal val="#ppt_w"/>
                                          </p:val>
                                        </p:tav>
                                      </p:tavLst>
                                    </p:anim>
                                    <p:anim calcmode="lin" valueType="num">
                                      <p:cBhvr additive="base">
                                        <p:cTn id="56" dur="380" decel="100000" fill="hold"/>
                                        <p:tgtEl>
                                          <p:spTgt spid="106"/>
                                        </p:tgtEl>
                                        <p:attrNameLst>
                                          <p:attrName>ppt_h</p:attrName>
                                        </p:attrNameLst>
                                      </p:cBhvr>
                                      <p:tavLst>
                                        <p:tav tm="0">
                                          <p:val>
                                            <p:strVal val="#ppt_h*0.55"/>
                                          </p:val>
                                        </p:tav>
                                        <p:tav tm="100000">
                                          <p:val>
                                            <p:strVal val="#ppt_h"/>
                                          </p:val>
                                        </p:tav>
                                      </p:tavLst>
                                    </p:anim>
                                    <p:animEffect transition="in" filter="fade">
                                      <p:cBhvr>
                                        <p:cTn id="57" dur="380"/>
                                        <p:tgtEl>
                                          <p:spTgt spid="106"/>
                                        </p:tgtEl>
                                      </p:cBhvr>
                                    </p:animEffect>
                                  </p:childTnLst>
                                </p:cTn>
                              </p:par>
                              <p:par>
                                <p:cTn id="58" presetID="10" presetClass="entr" presetSubtype="0" fill="hold" nodeType="withEffect">
                                  <p:stCondLst>
                                    <p:cond delay="1820"/>
                                  </p:stCondLst>
                                  <p:childTnLst>
                                    <p:set>
                                      <p:cBhvr>
                                        <p:cTn id="59" dur="1" fill="hold">
                                          <p:stCondLst>
                                            <p:cond delay="0"/>
                                          </p:stCondLst>
                                        </p:cTn>
                                        <p:tgtEl>
                                          <p:spTgt spid="119"/>
                                        </p:tgtEl>
                                        <p:attrNameLst>
                                          <p:attrName>style.visibility</p:attrName>
                                        </p:attrNameLst>
                                      </p:cBhvr>
                                      <p:to>
                                        <p:strVal val="visible"/>
                                      </p:to>
                                    </p:set>
                                    <p:animEffect transition="in" filter="fade">
                                      <p:cBhvr>
                                        <p:cTn id="60" dur="380"/>
                                        <p:tgtEl>
                                          <p:spTgt spid="119"/>
                                        </p:tgtEl>
                                      </p:cBhvr>
                                    </p:animEffect>
                                  </p:childTnLst>
                                </p:cTn>
                              </p:par>
                              <p:par>
                                <p:cTn id="61" presetID="53" presetClass="entr" presetSubtype="16" fill="hold" grpId="0" nodeType="withEffect">
                                  <p:stCondLst>
                                    <p:cond delay="1960"/>
                                  </p:stCondLst>
                                  <p:childTnLst>
                                    <p:set>
                                      <p:cBhvr>
                                        <p:cTn id="62" dur="1" fill="hold">
                                          <p:stCondLst>
                                            <p:cond delay="0"/>
                                          </p:stCondLst>
                                        </p:cTn>
                                        <p:tgtEl>
                                          <p:spTgt spid="105"/>
                                        </p:tgtEl>
                                        <p:attrNameLst>
                                          <p:attrName>style.visibility</p:attrName>
                                        </p:attrNameLst>
                                      </p:cBhvr>
                                      <p:to>
                                        <p:strVal val="visible"/>
                                      </p:to>
                                    </p:set>
                                    <p:anim calcmode="lin" valueType="num">
                                      <p:cBhvr additive="base">
                                        <p:cTn id="63" dur="380" decel="100000" fill="hold"/>
                                        <p:tgtEl>
                                          <p:spTgt spid="105"/>
                                        </p:tgtEl>
                                        <p:attrNameLst>
                                          <p:attrName>ppt_w</p:attrName>
                                        </p:attrNameLst>
                                      </p:cBhvr>
                                      <p:tavLst>
                                        <p:tav tm="0">
                                          <p:val>
                                            <p:strVal val="#ppt_w*0.55"/>
                                          </p:val>
                                        </p:tav>
                                        <p:tav tm="100000">
                                          <p:val>
                                            <p:strVal val="#ppt_w"/>
                                          </p:val>
                                        </p:tav>
                                      </p:tavLst>
                                    </p:anim>
                                    <p:anim calcmode="lin" valueType="num">
                                      <p:cBhvr additive="base">
                                        <p:cTn id="64" dur="380" decel="100000" fill="hold"/>
                                        <p:tgtEl>
                                          <p:spTgt spid="105"/>
                                        </p:tgtEl>
                                        <p:attrNameLst>
                                          <p:attrName>ppt_h</p:attrName>
                                        </p:attrNameLst>
                                      </p:cBhvr>
                                      <p:tavLst>
                                        <p:tav tm="0">
                                          <p:val>
                                            <p:strVal val="#ppt_h*0.55"/>
                                          </p:val>
                                        </p:tav>
                                        <p:tav tm="100000">
                                          <p:val>
                                            <p:strVal val="#ppt_h"/>
                                          </p:val>
                                        </p:tav>
                                      </p:tavLst>
                                    </p:anim>
                                    <p:animEffect transition="in" filter="fade">
                                      <p:cBhvr>
                                        <p:cTn id="65" dur="380"/>
                                        <p:tgtEl>
                                          <p:spTgt spid="105"/>
                                        </p:tgtEl>
                                      </p:cBhvr>
                                    </p:animEffect>
                                  </p:childTnLst>
                                </p:cTn>
                              </p:par>
                              <p:par>
                                <p:cTn id="66" presetID="10" presetClass="entr" presetSubtype="0" fill="hold" nodeType="withEffect">
                                  <p:stCondLst>
                                    <p:cond delay="2100"/>
                                  </p:stCondLst>
                                  <p:childTnLst>
                                    <p:set>
                                      <p:cBhvr>
                                        <p:cTn id="67" dur="1" fill="hold">
                                          <p:stCondLst>
                                            <p:cond delay="0"/>
                                          </p:stCondLst>
                                        </p:cTn>
                                        <p:tgtEl>
                                          <p:spTgt spid="120"/>
                                        </p:tgtEl>
                                        <p:attrNameLst>
                                          <p:attrName>style.visibility</p:attrName>
                                        </p:attrNameLst>
                                      </p:cBhvr>
                                      <p:to>
                                        <p:strVal val="visible"/>
                                      </p:to>
                                    </p:set>
                                    <p:animEffect transition="in" filter="fade">
                                      <p:cBhvr>
                                        <p:cTn id="68" dur="380"/>
                                        <p:tgtEl>
                                          <p:spTgt spid="120"/>
                                        </p:tgtEl>
                                      </p:cBhvr>
                                    </p:animEffect>
                                  </p:childTnLst>
                                </p:cTn>
                              </p:par>
                              <p:par>
                                <p:cTn id="69" presetID="53" presetClass="entr" presetSubtype="16" fill="hold" grpId="0" nodeType="withEffect">
                                  <p:stCondLst>
                                    <p:cond delay="2240"/>
                                  </p:stCondLst>
                                  <p:childTnLst>
                                    <p:set>
                                      <p:cBhvr>
                                        <p:cTn id="70" dur="1" fill="hold">
                                          <p:stCondLst>
                                            <p:cond delay="0"/>
                                          </p:stCondLst>
                                        </p:cTn>
                                        <p:tgtEl>
                                          <p:spTgt spid="109"/>
                                        </p:tgtEl>
                                        <p:attrNameLst>
                                          <p:attrName>style.visibility</p:attrName>
                                        </p:attrNameLst>
                                      </p:cBhvr>
                                      <p:to>
                                        <p:strVal val="visible"/>
                                      </p:to>
                                    </p:set>
                                    <p:anim calcmode="lin" valueType="num">
                                      <p:cBhvr additive="base">
                                        <p:cTn id="71" dur="380" decel="100000" fill="hold"/>
                                        <p:tgtEl>
                                          <p:spTgt spid="109"/>
                                        </p:tgtEl>
                                        <p:attrNameLst>
                                          <p:attrName>ppt_w</p:attrName>
                                        </p:attrNameLst>
                                      </p:cBhvr>
                                      <p:tavLst>
                                        <p:tav tm="0">
                                          <p:val>
                                            <p:strVal val="#ppt_w*0.55"/>
                                          </p:val>
                                        </p:tav>
                                        <p:tav tm="100000">
                                          <p:val>
                                            <p:strVal val="#ppt_w"/>
                                          </p:val>
                                        </p:tav>
                                      </p:tavLst>
                                    </p:anim>
                                    <p:anim calcmode="lin" valueType="num">
                                      <p:cBhvr additive="base">
                                        <p:cTn id="72" dur="380" decel="100000" fill="hold"/>
                                        <p:tgtEl>
                                          <p:spTgt spid="109"/>
                                        </p:tgtEl>
                                        <p:attrNameLst>
                                          <p:attrName>ppt_h</p:attrName>
                                        </p:attrNameLst>
                                      </p:cBhvr>
                                      <p:tavLst>
                                        <p:tav tm="0">
                                          <p:val>
                                            <p:strVal val="#ppt_h*0.55"/>
                                          </p:val>
                                        </p:tav>
                                        <p:tav tm="100000">
                                          <p:val>
                                            <p:strVal val="#ppt_h"/>
                                          </p:val>
                                        </p:tav>
                                      </p:tavLst>
                                    </p:anim>
                                    <p:animEffect transition="in" filter="fade">
                                      <p:cBhvr>
                                        <p:cTn id="73" dur="380"/>
                                        <p:tgtEl>
                                          <p:spTgt spid="109"/>
                                        </p:tgtEl>
                                      </p:cBhvr>
                                    </p:animEffect>
                                  </p:childTnLst>
                                </p:cTn>
                              </p:par>
                              <p:par>
                                <p:cTn id="74" presetID="10" presetClass="entr" presetSubtype="0" fill="hold" nodeType="withEffect">
                                  <p:stCondLst>
                                    <p:cond delay="2380"/>
                                  </p:stCondLst>
                                  <p:childTnLst>
                                    <p:set>
                                      <p:cBhvr>
                                        <p:cTn id="75" dur="1" fill="hold">
                                          <p:stCondLst>
                                            <p:cond delay="0"/>
                                          </p:stCondLst>
                                        </p:cTn>
                                        <p:tgtEl>
                                          <p:spTgt spid="121"/>
                                        </p:tgtEl>
                                        <p:attrNameLst>
                                          <p:attrName>style.visibility</p:attrName>
                                        </p:attrNameLst>
                                      </p:cBhvr>
                                      <p:to>
                                        <p:strVal val="visible"/>
                                      </p:to>
                                    </p:set>
                                    <p:animEffect transition="in" filter="fade">
                                      <p:cBhvr>
                                        <p:cTn id="76" dur="380"/>
                                        <p:tgtEl>
                                          <p:spTgt spid="121"/>
                                        </p:tgtEl>
                                      </p:cBhvr>
                                    </p:animEffect>
                                  </p:childTnLst>
                                </p:cTn>
                              </p:par>
                              <p:par>
                                <p:cTn id="77" presetID="53" presetClass="entr" presetSubtype="16" fill="hold" grpId="0" nodeType="withEffect">
                                  <p:stCondLst>
                                    <p:cond delay="2520"/>
                                  </p:stCondLst>
                                  <p:childTnLst>
                                    <p:set>
                                      <p:cBhvr>
                                        <p:cTn id="78" dur="1" fill="hold">
                                          <p:stCondLst>
                                            <p:cond delay="0"/>
                                          </p:stCondLst>
                                        </p:cTn>
                                        <p:tgtEl>
                                          <p:spTgt spid="110"/>
                                        </p:tgtEl>
                                        <p:attrNameLst>
                                          <p:attrName>style.visibility</p:attrName>
                                        </p:attrNameLst>
                                      </p:cBhvr>
                                      <p:to>
                                        <p:strVal val="visible"/>
                                      </p:to>
                                    </p:set>
                                    <p:anim calcmode="lin" valueType="num">
                                      <p:cBhvr additive="base">
                                        <p:cTn id="79" dur="380" decel="100000" fill="hold"/>
                                        <p:tgtEl>
                                          <p:spTgt spid="110"/>
                                        </p:tgtEl>
                                        <p:attrNameLst>
                                          <p:attrName>ppt_w</p:attrName>
                                        </p:attrNameLst>
                                      </p:cBhvr>
                                      <p:tavLst>
                                        <p:tav tm="0">
                                          <p:val>
                                            <p:strVal val="#ppt_w*0.55"/>
                                          </p:val>
                                        </p:tav>
                                        <p:tav tm="100000">
                                          <p:val>
                                            <p:strVal val="#ppt_w"/>
                                          </p:val>
                                        </p:tav>
                                      </p:tavLst>
                                    </p:anim>
                                    <p:anim calcmode="lin" valueType="num">
                                      <p:cBhvr additive="base">
                                        <p:cTn id="80" dur="380" decel="100000" fill="hold"/>
                                        <p:tgtEl>
                                          <p:spTgt spid="110"/>
                                        </p:tgtEl>
                                        <p:attrNameLst>
                                          <p:attrName>ppt_h</p:attrName>
                                        </p:attrNameLst>
                                      </p:cBhvr>
                                      <p:tavLst>
                                        <p:tav tm="0">
                                          <p:val>
                                            <p:strVal val="#ppt_h*0.55"/>
                                          </p:val>
                                        </p:tav>
                                        <p:tav tm="100000">
                                          <p:val>
                                            <p:strVal val="#ppt_h"/>
                                          </p:val>
                                        </p:tav>
                                      </p:tavLst>
                                    </p:anim>
                                    <p:animEffect transition="in" filter="fade">
                                      <p:cBhvr>
                                        <p:cTn id="81" dur="380"/>
                                        <p:tgtEl>
                                          <p:spTgt spid="110"/>
                                        </p:tgtEl>
                                      </p:cBhvr>
                                    </p:animEffect>
                                  </p:childTnLst>
                                </p:cTn>
                              </p:par>
                              <p:par>
                                <p:cTn id="82" presetID="10" presetClass="entr" presetSubtype="0" fill="hold" nodeType="withEffect">
                                  <p:stCondLst>
                                    <p:cond delay="2660"/>
                                  </p:stCondLst>
                                  <p:childTnLst>
                                    <p:set>
                                      <p:cBhvr>
                                        <p:cTn id="83" dur="1" fill="hold">
                                          <p:stCondLst>
                                            <p:cond delay="0"/>
                                          </p:stCondLst>
                                        </p:cTn>
                                        <p:tgtEl>
                                          <p:spTgt spid="122"/>
                                        </p:tgtEl>
                                        <p:attrNameLst>
                                          <p:attrName>style.visibility</p:attrName>
                                        </p:attrNameLst>
                                      </p:cBhvr>
                                      <p:to>
                                        <p:strVal val="visible"/>
                                      </p:to>
                                    </p:set>
                                    <p:animEffect transition="in" filter="fade">
                                      <p:cBhvr>
                                        <p:cTn id="84" dur="380"/>
                                        <p:tgtEl>
                                          <p:spTgt spid="122"/>
                                        </p:tgtEl>
                                      </p:cBhvr>
                                    </p:animEffect>
                                  </p:childTnLst>
                                </p:cTn>
                              </p:par>
                              <p:par>
                                <p:cTn id="85" presetID="53" presetClass="entr" presetSubtype="16" fill="hold" grpId="0" nodeType="withEffect">
                                  <p:stCondLst>
                                    <p:cond delay="2800"/>
                                  </p:stCondLst>
                                  <p:childTnLst>
                                    <p:set>
                                      <p:cBhvr>
                                        <p:cTn id="86" dur="1" fill="hold">
                                          <p:stCondLst>
                                            <p:cond delay="0"/>
                                          </p:stCondLst>
                                        </p:cTn>
                                        <p:tgtEl>
                                          <p:spTgt spid="111"/>
                                        </p:tgtEl>
                                        <p:attrNameLst>
                                          <p:attrName>style.visibility</p:attrName>
                                        </p:attrNameLst>
                                      </p:cBhvr>
                                      <p:to>
                                        <p:strVal val="visible"/>
                                      </p:to>
                                    </p:set>
                                    <p:anim calcmode="lin" valueType="num">
                                      <p:cBhvr additive="base">
                                        <p:cTn id="87" dur="380" decel="100000" fill="hold"/>
                                        <p:tgtEl>
                                          <p:spTgt spid="111"/>
                                        </p:tgtEl>
                                        <p:attrNameLst>
                                          <p:attrName>ppt_w</p:attrName>
                                        </p:attrNameLst>
                                      </p:cBhvr>
                                      <p:tavLst>
                                        <p:tav tm="0">
                                          <p:val>
                                            <p:strVal val="#ppt_w*0.55"/>
                                          </p:val>
                                        </p:tav>
                                        <p:tav tm="100000">
                                          <p:val>
                                            <p:strVal val="#ppt_w"/>
                                          </p:val>
                                        </p:tav>
                                      </p:tavLst>
                                    </p:anim>
                                    <p:anim calcmode="lin" valueType="num">
                                      <p:cBhvr additive="base">
                                        <p:cTn id="88" dur="380" decel="100000" fill="hold"/>
                                        <p:tgtEl>
                                          <p:spTgt spid="111"/>
                                        </p:tgtEl>
                                        <p:attrNameLst>
                                          <p:attrName>ppt_h</p:attrName>
                                        </p:attrNameLst>
                                      </p:cBhvr>
                                      <p:tavLst>
                                        <p:tav tm="0">
                                          <p:val>
                                            <p:strVal val="#ppt_h*0.55"/>
                                          </p:val>
                                        </p:tav>
                                        <p:tav tm="100000">
                                          <p:val>
                                            <p:strVal val="#ppt_h"/>
                                          </p:val>
                                        </p:tav>
                                      </p:tavLst>
                                    </p:anim>
                                    <p:animEffect transition="in" filter="fade">
                                      <p:cBhvr>
                                        <p:cTn id="89" dur="380"/>
                                        <p:tgtEl>
                                          <p:spTgt spid="111"/>
                                        </p:tgtEl>
                                      </p:cBhvr>
                                    </p:animEffect>
                                  </p:childTnLst>
                                </p:cTn>
                              </p:par>
                              <p:par>
                                <p:cTn id="90" presetID="10" presetClass="entr" presetSubtype="0" fill="hold" nodeType="withEffect">
                                  <p:stCondLst>
                                    <p:cond delay="2940"/>
                                  </p:stCondLst>
                                  <p:childTnLst>
                                    <p:set>
                                      <p:cBhvr>
                                        <p:cTn id="91" dur="1" fill="hold">
                                          <p:stCondLst>
                                            <p:cond delay="0"/>
                                          </p:stCondLst>
                                        </p:cTn>
                                        <p:tgtEl>
                                          <p:spTgt spid="123"/>
                                        </p:tgtEl>
                                        <p:attrNameLst>
                                          <p:attrName>style.visibility</p:attrName>
                                        </p:attrNameLst>
                                      </p:cBhvr>
                                      <p:to>
                                        <p:strVal val="visible"/>
                                      </p:to>
                                    </p:set>
                                    <p:animEffect transition="in" filter="fade">
                                      <p:cBhvr>
                                        <p:cTn id="92" dur="380"/>
                                        <p:tgtEl>
                                          <p:spTgt spid="123"/>
                                        </p:tgtEl>
                                      </p:cBhvr>
                                    </p:animEffect>
                                  </p:childTnLst>
                                </p:cTn>
                              </p:par>
                              <p:par>
                                <p:cTn id="93" presetID="53" presetClass="entr" presetSubtype="16" fill="hold" grpId="0" nodeType="withEffect">
                                  <p:stCondLst>
                                    <p:cond delay="3080"/>
                                  </p:stCondLst>
                                  <p:childTnLst>
                                    <p:set>
                                      <p:cBhvr>
                                        <p:cTn id="94" dur="1" fill="hold">
                                          <p:stCondLst>
                                            <p:cond delay="0"/>
                                          </p:stCondLst>
                                        </p:cTn>
                                        <p:tgtEl>
                                          <p:spTgt spid="112"/>
                                        </p:tgtEl>
                                        <p:attrNameLst>
                                          <p:attrName>style.visibility</p:attrName>
                                        </p:attrNameLst>
                                      </p:cBhvr>
                                      <p:to>
                                        <p:strVal val="visible"/>
                                      </p:to>
                                    </p:set>
                                    <p:anim calcmode="lin" valueType="num">
                                      <p:cBhvr additive="base">
                                        <p:cTn id="95" dur="380" decel="100000" fill="hold"/>
                                        <p:tgtEl>
                                          <p:spTgt spid="112"/>
                                        </p:tgtEl>
                                        <p:attrNameLst>
                                          <p:attrName>ppt_w</p:attrName>
                                        </p:attrNameLst>
                                      </p:cBhvr>
                                      <p:tavLst>
                                        <p:tav tm="0">
                                          <p:val>
                                            <p:strVal val="#ppt_w*0.55"/>
                                          </p:val>
                                        </p:tav>
                                        <p:tav tm="100000">
                                          <p:val>
                                            <p:strVal val="#ppt_w"/>
                                          </p:val>
                                        </p:tav>
                                      </p:tavLst>
                                    </p:anim>
                                    <p:anim calcmode="lin" valueType="num">
                                      <p:cBhvr additive="base">
                                        <p:cTn id="96" dur="380" decel="100000" fill="hold"/>
                                        <p:tgtEl>
                                          <p:spTgt spid="112"/>
                                        </p:tgtEl>
                                        <p:attrNameLst>
                                          <p:attrName>ppt_h</p:attrName>
                                        </p:attrNameLst>
                                      </p:cBhvr>
                                      <p:tavLst>
                                        <p:tav tm="0">
                                          <p:val>
                                            <p:strVal val="#ppt_h*0.55"/>
                                          </p:val>
                                        </p:tav>
                                        <p:tav tm="100000">
                                          <p:val>
                                            <p:strVal val="#ppt_h"/>
                                          </p:val>
                                        </p:tav>
                                      </p:tavLst>
                                    </p:anim>
                                    <p:animEffect transition="in" filter="fade">
                                      <p:cBhvr>
                                        <p:cTn id="97" dur="380"/>
                                        <p:tgtEl>
                                          <p:spTgt spid="112"/>
                                        </p:tgtEl>
                                      </p:cBhvr>
                                    </p:animEffect>
                                  </p:childTnLst>
                                </p:cTn>
                              </p:par>
                              <p:par>
                                <p:cTn id="98" presetID="22" presetClass="entr" presetSubtype="8" fill="hold" nodeType="withEffect">
                                  <p:stCondLst>
                                    <p:cond delay="3220"/>
                                  </p:stCondLst>
                                  <p:childTnLst>
                                    <p:set>
                                      <p:cBhvr>
                                        <p:cTn id="99" dur="1" fill="hold">
                                          <p:stCondLst>
                                            <p:cond delay="0"/>
                                          </p:stCondLst>
                                        </p:cTn>
                                        <p:tgtEl>
                                          <p:spTgt spid="124"/>
                                        </p:tgtEl>
                                        <p:attrNameLst>
                                          <p:attrName>style.visibility</p:attrName>
                                        </p:attrNameLst>
                                      </p:cBhvr>
                                      <p:to>
                                        <p:strVal val="visible"/>
                                      </p:to>
                                    </p:set>
                                    <p:animEffect transition="in" filter="wipe(left)">
                                      <p:cBhvr>
                                        <p:cTn id="100" dur="380"/>
                                        <p:tgtEl>
                                          <p:spTgt spid="124"/>
                                        </p:tgtEl>
                                      </p:cBhvr>
                                    </p:animEffect>
                                  </p:childTnLst>
                                </p:cTn>
                              </p:par>
                              <p:par>
                                <p:cTn id="101" presetID="22" presetClass="entr" presetSubtype="4" fill="hold" nodeType="withEffect">
                                  <p:stCondLst>
                                    <p:cond delay="3360"/>
                                  </p:stCondLst>
                                  <p:childTnLst>
                                    <p:set>
                                      <p:cBhvr>
                                        <p:cTn id="102" dur="1" fill="hold">
                                          <p:stCondLst>
                                            <p:cond delay="0"/>
                                          </p:stCondLst>
                                        </p:cTn>
                                        <p:tgtEl>
                                          <p:spTgt spid="125"/>
                                        </p:tgtEl>
                                        <p:attrNameLst>
                                          <p:attrName>style.visibility</p:attrName>
                                        </p:attrNameLst>
                                      </p:cBhvr>
                                      <p:to>
                                        <p:strVal val="visible"/>
                                      </p:to>
                                    </p:set>
                                    <p:animEffect transition="in" filter="wipe(down)">
                                      <p:cBhvr>
                                        <p:cTn id="103" dur="380"/>
                                        <p:tgtEl>
                                          <p:spTgt spid="125"/>
                                        </p:tgtEl>
                                      </p:cBhvr>
                                    </p:animEffect>
                                  </p:childTnLst>
                                </p:cTn>
                              </p:par>
                              <p:par>
                                <p:cTn id="104" presetID="22" presetClass="entr" presetSubtype="2" fill="hold" nodeType="withEffect">
                                  <p:stCondLst>
                                    <p:cond delay="3500"/>
                                  </p:stCondLst>
                                  <p:childTnLst>
                                    <p:set>
                                      <p:cBhvr>
                                        <p:cTn id="105" dur="1" fill="hold">
                                          <p:stCondLst>
                                            <p:cond delay="0"/>
                                          </p:stCondLst>
                                        </p:cTn>
                                        <p:tgtEl>
                                          <p:spTgt spid="126"/>
                                        </p:tgtEl>
                                        <p:attrNameLst>
                                          <p:attrName>style.visibility</p:attrName>
                                        </p:attrNameLst>
                                      </p:cBhvr>
                                      <p:to>
                                        <p:strVal val="visible"/>
                                      </p:to>
                                    </p:set>
                                    <p:animEffect transition="in" filter="wipe(right)">
                                      <p:cBhvr>
                                        <p:cTn id="106" dur="380"/>
                                        <p:tgtEl>
                                          <p:spTgt spid="126"/>
                                        </p:tgtEl>
                                      </p:cBhvr>
                                    </p:animEffect>
                                  </p:childTnLst>
                                </p:cTn>
                              </p:par>
                            </p:childTnLst>
                          </p:cTn>
                        </p:par>
                      </p:childTnLst>
                    </p:cTn>
                  </p:par>
                  <p:par>
                    <p:cTn id="107" fill="hold">
                      <p:stCondLst>
                        <p:cond delay="indefinite"/>
                      </p:stCondLst>
                      <p:childTnLst>
                        <p:par>
                          <p:cTn id="108" fill="hold">
                            <p:stCondLst>
                              <p:cond delay="0"/>
                            </p:stCondLst>
                            <p:childTnLst>
                              <p:par>
                                <p:cTn id="109" presetID="42" presetClass="entr" presetSubtype="0" fill="hold" grpId="0" nodeType="clickEffect">
                                  <p:stCondLst>
                                    <p:cond delay="0"/>
                                  </p:stCondLst>
                                  <p:childTnLst>
                                    <p:set>
                                      <p:cBhvr>
                                        <p:cTn id="110" dur="1" fill="hold">
                                          <p:stCondLst>
                                            <p:cond delay="0"/>
                                          </p:stCondLst>
                                        </p:cTn>
                                        <p:tgtEl>
                                          <p:spTgt spid="127"/>
                                        </p:tgtEl>
                                        <p:attrNameLst>
                                          <p:attrName>style.visibility</p:attrName>
                                        </p:attrNameLst>
                                      </p:cBhvr>
                                      <p:to>
                                        <p:strVal val="visible"/>
                                      </p:to>
                                    </p:set>
                                    <p:animEffect transition="in" filter="fade">
                                      <p:cBhvr>
                                        <p:cTn id="111" dur="500"/>
                                        <p:tgtEl>
                                          <p:spTgt spid="127"/>
                                        </p:tgtEl>
                                      </p:cBhvr>
                                    </p:animEffect>
                                    <p:anim calcmode="lin" valueType="num">
                                      <p:cBhvr additive="base">
                                        <p:cTn id="112" dur="500" decel="100000" fill="hold"/>
                                        <p:tgtEl>
                                          <p:spTgt spid="127"/>
                                        </p:tgtEl>
                                        <p:attrNameLst>
                                          <p:attrName>ppt_y</p:attrName>
                                        </p:attrNameLst>
                                      </p:cBhvr>
                                      <p:tavLst>
                                        <p:tav tm="0">
                                          <p:val>
                                            <p:strVal val="#ppt_y+0.06"/>
                                          </p:val>
                                        </p:tav>
                                        <p:tav tm="100000">
                                          <p:val>
                                            <p:strVal val="#ppt_y"/>
                                          </p:val>
                                        </p:tav>
                                      </p:tavLst>
                                    </p:anim>
                                  </p:childTnLst>
                                </p:cTn>
                              </p:par>
                              <p:par>
                                <p:cTn id="113" presetID="42" presetClass="entr" presetSubtype="0" fill="hold" grpId="0" nodeType="withEffect">
                                  <p:stCondLst>
                                    <p:cond delay="150"/>
                                  </p:stCondLst>
                                  <p:childTnLst>
                                    <p:set>
                                      <p:cBhvr>
                                        <p:cTn id="114" dur="1" fill="hold">
                                          <p:stCondLst>
                                            <p:cond delay="0"/>
                                          </p:stCondLst>
                                        </p:cTn>
                                        <p:tgtEl>
                                          <p:spTgt spid="128"/>
                                        </p:tgtEl>
                                        <p:attrNameLst>
                                          <p:attrName>style.visibility</p:attrName>
                                        </p:attrNameLst>
                                      </p:cBhvr>
                                      <p:to>
                                        <p:strVal val="visible"/>
                                      </p:to>
                                    </p:set>
                                    <p:animEffect transition="in" filter="fade">
                                      <p:cBhvr>
                                        <p:cTn id="115" dur="500"/>
                                        <p:tgtEl>
                                          <p:spTgt spid="128"/>
                                        </p:tgtEl>
                                      </p:cBhvr>
                                    </p:animEffect>
                                    <p:anim calcmode="lin" valueType="num">
                                      <p:cBhvr additive="base">
                                        <p:cTn id="116" dur="500" decel="100000" fill="hold"/>
                                        <p:tgtEl>
                                          <p:spTgt spid="128"/>
                                        </p:tgtEl>
                                        <p:attrNameLst>
                                          <p:attrName>ppt_y</p:attrName>
                                        </p:attrNameLst>
                                      </p:cBhvr>
                                      <p:tavLst>
                                        <p:tav tm="0">
                                          <p:val>
                                            <p:strVal val="#ppt_y+0.06"/>
                                          </p:val>
                                        </p:tav>
                                        <p:tav tm="100000">
                                          <p:val>
                                            <p:strVal val="#ppt_y"/>
                                          </p:val>
                                        </p:tav>
                                      </p:tavLst>
                                    </p:anim>
                                  </p:childTnLst>
                                </p:cTn>
                              </p:par>
                              <p:par>
                                <p:cTn id="117" presetID="42" presetClass="entr" presetSubtype="0" fill="hold" grpId="0" nodeType="withEffect">
                                  <p:stCondLst>
                                    <p:cond delay="300"/>
                                  </p:stCondLst>
                                  <p:childTnLst>
                                    <p:set>
                                      <p:cBhvr>
                                        <p:cTn id="118" dur="1" fill="hold">
                                          <p:stCondLst>
                                            <p:cond delay="0"/>
                                          </p:stCondLst>
                                        </p:cTn>
                                        <p:tgtEl>
                                          <p:spTgt spid="129"/>
                                        </p:tgtEl>
                                        <p:attrNameLst>
                                          <p:attrName>style.visibility</p:attrName>
                                        </p:attrNameLst>
                                      </p:cBhvr>
                                      <p:to>
                                        <p:strVal val="visible"/>
                                      </p:to>
                                    </p:set>
                                    <p:animEffect transition="in" filter="fade">
                                      <p:cBhvr>
                                        <p:cTn id="119" dur="500"/>
                                        <p:tgtEl>
                                          <p:spTgt spid="129"/>
                                        </p:tgtEl>
                                      </p:cBhvr>
                                    </p:animEffect>
                                    <p:anim calcmode="lin" valueType="num">
                                      <p:cBhvr additive="base">
                                        <p:cTn id="120" dur="500" decel="100000" fill="hold"/>
                                        <p:tgtEl>
                                          <p:spTgt spid="129"/>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27" grpId="0" animBg="1"/>
      <p:bldP spid="128" grpId="0" animBg="1"/>
      <p:bldP spid="129"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COMPARE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Scrum vs Kanban</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Two frameworks, one Agile mindset. Pick by the shape of your work.</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RECAP</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301</a:t>
            </a:r>
            <a:endParaRPr lang="en-US" sz="850" dirty="0"/>
          </a:p>
        </p:txBody>
      </p:sp>
      <p:sp>
        <p:nvSpPr>
          <p:cNvPr id="101" name="s101"/>
          <p:cNvSpPr/>
          <p:nvPr/>
        </p:nvSpPr>
        <p:spPr>
          <a:xfrm>
            <a:off x="2783434" y="1920240"/>
            <a:ext cx="4343400" cy="457200"/>
          </a:xfrm>
          <a:prstGeom prst="roundRect">
            <a:avLst>
              <a:gd name="adj" fmla="val 30000"/>
            </a:avLst>
          </a:prstGeom>
          <a:solidFill>
            <a:srgbClr val="60A5FA">
              <a:alpha val="16000"/>
            </a:srgbClr>
          </a:solidFill>
          <a:ln w="12700">
            <a:solidFill>
              <a:srgbClr val="60A5FA"/>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60A5FA"/>
                </a:solidFill>
                <a:latin typeface="Segoe UI"/>
                <a:ea typeface="Segoe UI"/>
                <a:cs typeface="Segoe UI"/>
              </a:rPr>
              <a:t>SCRUM</a:t>
            </a:r>
            <a:endParaRPr lang="en-US" sz="1300" dirty="0"/>
          </a:p>
        </p:txBody>
      </p:sp>
      <p:sp>
        <p:nvSpPr>
          <p:cNvPr id="102" name="s102"/>
          <p:cNvSpPr/>
          <p:nvPr/>
        </p:nvSpPr>
        <p:spPr>
          <a:xfrm>
            <a:off x="7218274" y="1920240"/>
            <a:ext cx="4412894" cy="457200"/>
          </a:xfrm>
          <a:prstGeom prst="roundRect">
            <a:avLst>
              <a:gd name="adj" fmla="val 30000"/>
            </a:avLst>
          </a:prstGeom>
          <a:solidFill>
            <a:srgbClr val="34D399">
              <a:alpha val="16000"/>
            </a:srgbClr>
          </a:solidFill>
          <a:ln w="12700">
            <a:solidFill>
              <a:srgbClr val="34D399"/>
            </a:solidFill>
            <a:prstDash val="solid"/>
          </a:ln>
        </p:spPr>
        <p:txBody>
          <a:bodyPr wrap="square" lIns="164592" tIns="109728" rIns="137160" bIns="91440" rtlCol="0" anchor="ctr">
            <a:noAutofit/>
          </a:bodyPr>
          <a:lstStyle/>
          <a:p>
            <a:pPr marL="0" indent="0" algn="ctr">
              <a:spcBef>
                <a:spcPts val="0"/>
              </a:spcBef>
              <a:spcAft>
                <a:spcPts val="0"/>
              </a:spcAft>
              <a:buNone/>
            </a:pPr>
            <a:r>
              <a:rPr lang="en-US" sz="1300" b="1" dirty="0">
                <a:solidFill>
                  <a:srgbClr val="34D399"/>
                </a:solidFill>
                <a:latin typeface="Segoe UI"/>
                <a:ea typeface="Segoe UI"/>
                <a:cs typeface="Segoe UI"/>
              </a:rPr>
              <a:t>KANBAN</a:t>
            </a:r>
            <a:endParaRPr lang="en-US" sz="1300" dirty="0"/>
          </a:p>
        </p:txBody>
      </p:sp>
      <p:sp>
        <p:nvSpPr>
          <p:cNvPr id="103" name="s103"/>
          <p:cNvSpPr/>
          <p:nvPr/>
        </p:nvSpPr>
        <p:spPr>
          <a:xfrm>
            <a:off x="543154" y="2514600"/>
            <a:ext cx="11088014" cy="475488"/>
          </a:xfrm>
          <a:prstGeom prst="rect">
            <a:avLst/>
          </a:prstGeom>
          <a:solidFill>
            <a:srgbClr val="111B2E"/>
          </a:solidFill>
          <a:ln>
            <a:noFill/>
          </a:ln>
        </p:spPr>
        <p:txBody>
          <a:bodyPr wrap="square" lIns="164592" tIns="109728" rIns="137160" bIns="91440" rtlCol="0" anchor="t">
            <a:noAutofit/>
          </a:bodyPr>
          <a:lstStyle/>
          <a:p>
            <a:endParaRPr lang="en-US"/>
          </a:p>
        </p:txBody>
      </p:sp>
      <p:sp>
        <p:nvSpPr>
          <p:cNvPr id="104" name="s104"/>
          <p:cNvSpPr txBox="1"/>
          <p:nvPr/>
        </p:nvSpPr>
        <p:spPr>
          <a:xfrm>
            <a:off x="726034" y="2514600"/>
            <a:ext cx="2148840"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Cadence</a:t>
            </a:r>
            <a:endParaRPr lang="en-US" sz="1300" dirty="0"/>
          </a:p>
        </p:txBody>
      </p:sp>
      <p:sp>
        <p:nvSpPr>
          <p:cNvPr id="105" name="s105"/>
          <p:cNvSpPr txBox="1"/>
          <p:nvPr/>
        </p:nvSpPr>
        <p:spPr>
          <a:xfrm>
            <a:off x="2920594" y="2514600"/>
            <a:ext cx="4160520"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Fixed-length Sprints</a:t>
            </a:r>
            <a:endParaRPr lang="en-US" sz="1250" dirty="0"/>
          </a:p>
        </p:txBody>
      </p:sp>
      <p:sp>
        <p:nvSpPr>
          <p:cNvPr id="106" name="s106"/>
          <p:cNvSpPr txBox="1"/>
          <p:nvPr/>
        </p:nvSpPr>
        <p:spPr>
          <a:xfrm>
            <a:off x="7355434" y="2514600"/>
            <a:ext cx="4230014"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Continuous flow</a:t>
            </a:r>
            <a:endParaRPr lang="en-US" sz="1250" dirty="0"/>
          </a:p>
        </p:txBody>
      </p:sp>
      <p:sp>
        <p:nvSpPr>
          <p:cNvPr id="107" name="s107"/>
          <p:cNvSpPr/>
          <p:nvPr/>
        </p:nvSpPr>
        <p:spPr>
          <a:xfrm>
            <a:off x="543154" y="3063240"/>
            <a:ext cx="11088014" cy="475488"/>
          </a:xfrm>
          <a:prstGeom prst="rect">
            <a:avLst/>
          </a:prstGeom>
          <a:solidFill>
            <a:srgbClr val="0F172A"/>
          </a:solidFill>
          <a:ln>
            <a:noFill/>
          </a:ln>
        </p:spPr>
        <p:txBody>
          <a:bodyPr wrap="square" lIns="164592" tIns="109728" rIns="137160" bIns="91440" rtlCol="0" anchor="t">
            <a:noAutofit/>
          </a:bodyPr>
          <a:lstStyle/>
          <a:p>
            <a:endParaRPr lang="en-US"/>
          </a:p>
        </p:txBody>
      </p:sp>
      <p:sp>
        <p:nvSpPr>
          <p:cNvPr id="108" name="s108"/>
          <p:cNvSpPr txBox="1"/>
          <p:nvPr/>
        </p:nvSpPr>
        <p:spPr>
          <a:xfrm>
            <a:off x="726034" y="3063240"/>
            <a:ext cx="2148840"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Roles</a:t>
            </a:r>
            <a:endParaRPr lang="en-US" sz="1300" dirty="0"/>
          </a:p>
        </p:txBody>
      </p:sp>
      <p:sp>
        <p:nvSpPr>
          <p:cNvPr id="109" name="s109"/>
          <p:cNvSpPr txBox="1"/>
          <p:nvPr/>
        </p:nvSpPr>
        <p:spPr>
          <a:xfrm>
            <a:off x="2920594" y="3063240"/>
            <a:ext cx="4160520"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PO · Scrum Master · Developers</a:t>
            </a:r>
            <a:endParaRPr lang="en-US" sz="1250" dirty="0"/>
          </a:p>
        </p:txBody>
      </p:sp>
      <p:sp>
        <p:nvSpPr>
          <p:cNvPr id="110" name="s110"/>
          <p:cNvSpPr txBox="1"/>
          <p:nvPr/>
        </p:nvSpPr>
        <p:spPr>
          <a:xfrm>
            <a:off x="7355434" y="3063240"/>
            <a:ext cx="4230014"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No required roles</a:t>
            </a:r>
            <a:endParaRPr lang="en-US" sz="1250" dirty="0"/>
          </a:p>
        </p:txBody>
      </p:sp>
      <p:sp>
        <p:nvSpPr>
          <p:cNvPr id="111" name="s111"/>
          <p:cNvSpPr/>
          <p:nvPr/>
        </p:nvSpPr>
        <p:spPr>
          <a:xfrm>
            <a:off x="543154" y="3611880"/>
            <a:ext cx="11088014" cy="475488"/>
          </a:xfrm>
          <a:prstGeom prst="rect">
            <a:avLst/>
          </a:prstGeom>
          <a:solidFill>
            <a:srgbClr val="111B2E"/>
          </a:solidFill>
          <a:ln>
            <a:noFill/>
          </a:ln>
        </p:spPr>
        <p:txBody>
          <a:bodyPr wrap="square" lIns="164592" tIns="109728" rIns="137160" bIns="91440" rtlCol="0" anchor="t">
            <a:noAutofit/>
          </a:bodyPr>
          <a:lstStyle/>
          <a:p>
            <a:endParaRPr lang="en-US"/>
          </a:p>
        </p:txBody>
      </p:sp>
      <p:sp>
        <p:nvSpPr>
          <p:cNvPr id="112" name="s112"/>
          <p:cNvSpPr txBox="1"/>
          <p:nvPr/>
        </p:nvSpPr>
        <p:spPr>
          <a:xfrm>
            <a:off x="726034" y="3611880"/>
            <a:ext cx="2148840"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Change</a:t>
            </a:r>
            <a:endParaRPr lang="en-US" sz="1300" dirty="0"/>
          </a:p>
        </p:txBody>
      </p:sp>
      <p:sp>
        <p:nvSpPr>
          <p:cNvPr id="113" name="s113"/>
          <p:cNvSpPr txBox="1"/>
          <p:nvPr/>
        </p:nvSpPr>
        <p:spPr>
          <a:xfrm>
            <a:off x="2920594" y="3611880"/>
            <a:ext cx="4160520"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Sprint Goal protected; backlog changes any time</a:t>
            </a:r>
            <a:endParaRPr lang="en-US" sz="1250" dirty="0"/>
          </a:p>
        </p:txBody>
      </p:sp>
      <p:sp>
        <p:nvSpPr>
          <p:cNvPr id="114" name="s114"/>
          <p:cNvSpPr txBox="1"/>
          <p:nvPr/>
        </p:nvSpPr>
        <p:spPr>
          <a:xfrm>
            <a:off x="7355434" y="3611880"/>
            <a:ext cx="4230014"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Any time, as capacity frees up</a:t>
            </a:r>
            <a:endParaRPr lang="en-US" sz="1250" dirty="0"/>
          </a:p>
        </p:txBody>
      </p:sp>
      <p:sp>
        <p:nvSpPr>
          <p:cNvPr id="115" name="s115"/>
          <p:cNvSpPr/>
          <p:nvPr/>
        </p:nvSpPr>
        <p:spPr>
          <a:xfrm>
            <a:off x="543154" y="4160520"/>
            <a:ext cx="11088014" cy="475488"/>
          </a:xfrm>
          <a:prstGeom prst="rect">
            <a:avLst/>
          </a:prstGeom>
          <a:solidFill>
            <a:srgbClr val="0F172A"/>
          </a:solidFill>
          <a:ln>
            <a:noFill/>
          </a:ln>
        </p:spPr>
        <p:txBody>
          <a:bodyPr wrap="square" lIns="164592" tIns="109728" rIns="137160" bIns="91440" rtlCol="0" anchor="t">
            <a:noAutofit/>
          </a:bodyPr>
          <a:lstStyle/>
          <a:p>
            <a:endParaRPr lang="en-US"/>
          </a:p>
        </p:txBody>
      </p:sp>
      <p:sp>
        <p:nvSpPr>
          <p:cNvPr id="116" name="s116"/>
          <p:cNvSpPr txBox="1"/>
          <p:nvPr/>
        </p:nvSpPr>
        <p:spPr>
          <a:xfrm>
            <a:off x="726034" y="4160520"/>
            <a:ext cx="2148840"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Limit</a:t>
            </a:r>
            <a:endParaRPr lang="en-US" sz="1300" dirty="0"/>
          </a:p>
        </p:txBody>
      </p:sp>
      <p:sp>
        <p:nvSpPr>
          <p:cNvPr id="117" name="s117"/>
          <p:cNvSpPr txBox="1"/>
          <p:nvPr/>
        </p:nvSpPr>
        <p:spPr>
          <a:xfrm>
            <a:off x="2920594" y="4160520"/>
            <a:ext cx="4160520"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Scope per Sprint</a:t>
            </a:r>
            <a:endParaRPr lang="en-US" sz="1250" dirty="0"/>
          </a:p>
        </p:txBody>
      </p:sp>
      <p:sp>
        <p:nvSpPr>
          <p:cNvPr id="118" name="s118"/>
          <p:cNvSpPr txBox="1"/>
          <p:nvPr/>
        </p:nvSpPr>
        <p:spPr>
          <a:xfrm>
            <a:off x="7355434" y="4160520"/>
            <a:ext cx="4230014"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WIP limit per column</a:t>
            </a:r>
            <a:endParaRPr lang="en-US" sz="1250" dirty="0"/>
          </a:p>
        </p:txBody>
      </p:sp>
      <p:sp>
        <p:nvSpPr>
          <p:cNvPr id="119" name="s119"/>
          <p:cNvSpPr/>
          <p:nvPr/>
        </p:nvSpPr>
        <p:spPr>
          <a:xfrm>
            <a:off x="543154" y="4709160"/>
            <a:ext cx="11088014" cy="475488"/>
          </a:xfrm>
          <a:prstGeom prst="rect">
            <a:avLst/>
          </a:prstGeom>
          <a:solidFill>
            <a:srgbClr val="111B2E"/>
          </a:solidFill>
          <a:ln>
            <a:noFill/>
          </a:ln>
        </p:spPr>
        <p:txBody>
          <a:bodyPr wrap="square" lIns="164592" tIns="109728" rIns="137160" bIns="91440" rtlCol="0" anchor="t">
            <a:noAutofit/>
          </a:bodyPr>
          <a:lstStyle/>
          <a:p>
            <a:endParaRPr lang="en-US"/>
          </a:p>
        </p:txBody>
      </p:sp>
      <p:sp>
        <p:nvSpPr>
          <p:cNvPr id="120" name="s120"/>
          <p:cNvSpPr txBox="1"/>
          <p:nvPr/>
        </p:nvSpPr>
        <p:spPr>
          <a:xfrm>
            <a:off x="726034" y="4709160"/>
            <a:ext cx="2148840"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Key metrics</a:t>
            </a:r>
            <a:endParaRPr lang="en-US" sz="1300" dirty="0"/>
          </a:p>
        </p:txBody>
      </p:sp>
      <p:sp>
        <p:nvSpPr>
          <p:cNvPr id="121" name="s121"/>
          <p:cNvSpPr txBox="1"/>
          <p:nvPr/>
        </p:nvSpPr>
        <p:spPr>
          <a:xfrm>
            <a:off x="2920594" y="4709160"/>
            <a:ext cx="4160520"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Sprint Goal met · velocity</a:t>
            </a:r>
            <a:endParaRPr lang="en-US" sz="1250" dirty="0"/>
          </a:p>
        </p:txBody>
      </p:sp>
      <p:sp>
        <p:nvSpPr>
          <p:cNvPr id="122" name="s122"/>
          <p:cNvSpPr txBox="1"/>
          <p:nvPr/>
        </p:nvSpPr>
        <p:spPr>
          <a:xfrm>
            <a:off x="7355434" y="4709160"/>
            <a:ext cx="4230014"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Cycle time · throughput</a:t>
            </a:r>
            <a:endParaRPr lang="en-US" sz="1250" dirty="0"/>
          </a:p>
        </p:txBody>
      </p:sp>
      <p:sp>
        <p:nvSpPr>
          <p:cNvPr id="123" name="s123"/>
          <p:cNvSpPr/>
          <p:nvPr/>
        </p:nvSpPr>
        <p:spPr>
          <a:xfrm>
            <a:off x="543154" y="5257800"/>
            <a:ext cx="11088014" cy="475488"/>
          </a:xfrm>
          <a:prstGeom prst="rect">
            <a:avLst/>
          </a:prstGeom>
          <a:solidFill>
            <a:srgbClr val="0F172A"/>
          </a:solidFill>
          <a:ln>
            <a:noFill/>
          </a:ln>
        </p:spPr>
        <p:txBody>
          <a:bodyPr wrap="square" lIns="164592" tIns="109728" rIns="137160" bIns="91440" rtlCol="0" anchor="t">
            <a:noAutofit/>
          </a:bodyPr>
          <a:lstStyle/>
          <a:p>
            <a:endParaRPr lang="en-US"/>
          </a:p>
        </p:txBody>
      </p:sp>
      <p:sp>
        <p:nvSpPr>
          <p:cNvPr id="124" name="s124"/>
          <p:cNvSpPr txBox="1"/>
          <p:nvPr/>
        </p:nvSpPr>
        <p:spPr>
          <a:xfrm>
            <a:off x="726034" y="5257800"/>
            <a:ext cx="2148840"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FFFFF"/>
                </a:solidFill>
                <a:latin typeface="Segoe UI"/>
                <a:ea typeface="Segoe UI"/>
                <a:cs typeface="Segoe UI"/>
              </a:rPr>
              <a:t>Best for</a:t>
            </a:r>
            <a:endParaRPr lang="en-US" sz="1300" dirty="0"/>
          </a:p>
        </p:txBody>
      </p:sp>
      <p:sp>
        <p:nvSpPr>
          <p:cNvPr id="125" name="s125"/>
          <p:cNvSpPr txBox="1"/>
          <p:nvPr/>
        </p:nvSpPr>
        <p:spPr>
          <a:xfrm>
            <a:off x="2920594" y="5257800"/>
            <a:ext cx="4160520"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Product development with regular feedback</a:t>
            </a:r>
            <a:endParaRPr lang="en-US" sz="1250" dirty="0"/>
          </a:p>
        </p:txBody>
      </p:sp>
      <p:sp>
        <p:nvSpPr>
          <p:cNvPr id="126" name="s126"/>
          <p:cNvSpPr txBox="1"/>
          <p:nvPr/>
        </p:nvSpPr>
        <p:spPr>
          <a:xfrm>
            <a:off x="7355434" y="5257800"/>
            <a:ext cx="4230014" cy="475488"/>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Support, operations, steady incoming work</a:t>
            </a:r>
            <a:endParaRPr lang="en-US" sz="1250" dirty="0"/>
          </a:p>
        </p:txBody>
      </p:sp>
      <p:sp>
        <p:nvSpPr>
          <p:cNvPr id="127" name="s127"/>
          <p:cNvSpPr txBox="1"/>
          <p:nvPr/>
        </p:nvSpPr>
        <p:spPr>
          <a:xfrm>
            <a:off x="543154" y="5806440"/>
            <a:ext cx="11088014"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0" dirty="0">
                <a:solidFill>
                  <a:srgbClr val="94A3B8"/>
                </a:solidFill>
                <a:latin typeface="Segoe UI"/>
                <a:ea typeface="Segoe UI"/>
                <a:cs typeface="Segoe UI"/>
              </a:rPr>
              <a:t>Many teams combine them (“Scrumban”). The values and principles stay the same.</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53" presetClass="entr" presetSubtype="16" fill="hold" grpId="0" nodeType="withEffect">
                                  <p:stCondLst>
                                    <p:cond delay="15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3" dur="500" decel="100000" fill="hold"/>
                                        <p:tgtEl>
                                          <p:spTgt spid="102"/>
                                        </p:tgtEl>
                                        <p:attrNameLst>
                                          <p:attrName>ppt_h</p:attrName>
                                        </p:attrNameLst>
                                      </p:cBhvr>
                                      <p:tavLst>
                                        <p:tav tm="0">
                                          <p:val>
                                            <p:strVal val="#ppt_h*0.55"/>
                                          </p:val>
                                        </p:tav>
                                        <p:tav tm="100000">
                                          <p:val>
                                            <p:strVal val="#ppt_h"/>
                                          </p:val>
                                        </p:tav>
                                      </p:tavLst>
                                    </p:anim>
                                    <p:animEffect transition="in" filter="fade">
                                      <p:cBhvr>
                                        <p:cTn id="14" dur="500"/>
                                        <p:tgtEl>
                                          <p:spTgt spid="102"/>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3"/>
                                        </p:tgtEl>
                                        <p:attrNameLst>
                                          <p:attrName>style.visibility</p:attrName>
                                        </p:attrNameLst>
                                      </p:cBhvr>
                                      <p:to>
                                        <p:strVal val="visible"/>
                                      </p:to>
                                    </p:set>
                                    <p:animEffect transition="in" filter="fade">
                                      <p:cBhvr>
                                        <p:cTn id="19" dur="500"/>
                                        <p:tgtEl>
                                          <p:spTgt spid="103"/>
                                        </p:tgtEl>
                                      </p:cBhvr>
                                    </p:animEffect>
                                    <p:anim calcmode="lin" valueType="num">
                                      <p:cBhvr additive="base">
                                        <p:cTn id="20" dur="500" decel="100000" fill="hold"/>
                                        <p:tgtEl>
                                          <p:spTgt spid="103"/>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4"/>
                                        </p:tgtEl>
                                        <p:attrNameLst>
                                          <p:attrName>style.visibility</p:attrName>
                                        </p:attrNameLst>
                                      </p:cBhvr>
                                      <p:to>
                                        <p:strVal val="visible"/>
                                      </p:to>
                                    </p:set>
                                    <p:animEffect transition="in" filter="fade">
                                      <p:cBhvr>
                                        <p:cTn id="23" dur="500"/>
                                        <p:tgtEl>
                                          <p:spTgt spid="104"/>
                                        </p:tgtEl>
                                      </p:cBhvr>
                                    </p:animEffect>
                                    <p:anim calcmode="lin" valueType="num">
                                      <p:cBhvr additive="base">
                                        <p:cTn id="24" dur="500" decel="100000" fill="hold"/>
                                        <p:tgtEl>
                                          <p:spTgt spid="104"/>
                                        </p:tgtEl>
                                        <p:attrNameLst>
                                          <p:attrName>ppt_y</p:attrName>
                                        </p:attrNameLst>
                                      </p:cBhvr>
                                      <p:tavLst>
                                        <p:tav tm="0">
                                          <p:val>
                                            <p:strVal val="#ppt_y+0.06"/>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anim calcmode="lin" valueType="num">
                                      <p:cBhvr additive="base">
                                        <p:cTn id="28" dur="500" decel="100000" fill="hold"/>
                                        <p:tgtEl>
                                          <p:spTgt spid="105"/>
                                        </p:tgtEl>
                                        <p:attrNameLst>
                                          <p:attrName>ppt_y</p:attrName>
                                        </p:attrNameLst>
                                      </p:cBhvr>
                                      <p:tavLst>
                                        <p:tav tm="0">
                                          <p:val>
                                            <p:strVal val="#ppt_y+0.06"/>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6"/>
                                        </p:tgtEl>
                                        <p:attrNameLst>
                                          <p:attrName>style.visibility</p:attrName>
                                        </p:attrNameLst>
                                      </p:cBhvr>
                                      <p:to>
                                        <p:strVal val="visible"/>
                                      </p:to>
                                    </p:set>
                                    <p:animEffect transition="in" filter="fade">
                                      <p:cBhvr>
                                        <p:cTn id="31" dur="500"/>
                                        <p:tgtEl>
                                          <p:spTgt spid="106"/>
                                        </p:tgtEl>
                                      </p:cBhvr>
                                    </p:animEffect>
                                    <p:anim calcmode="lin" valueType="num">
                                      <p:cBhvr additive="base">
                                        <p:cTn id="32" dur="500" decel="100000" fill="hold"/>
                                        <p:tgtEl>
                                          <p:spTgt spid="106"/>
                                        </p:tgtEl>
                                        <p:attrNameLst>
                                          <p:attrName>ppt_y</p:attrName>
                                        </p:attrNameLst>
                                      </p:cBhvr>
                                      <p:tavLst>
                                        <p:tav tm="0">
                                          <p:val>
                                            <p:strVal val="#ppt_y+0.06"/>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fade">
                                      <p:cBhvr>
                                        <p:cTn id="37" dur="500"/>
                                        <p:tgtEl>
                                          <p:spTgt spid="107"/>
                                        </p:tgtEl>
                                      </p:cBhvr>
                                    </p:animEffect>
                                    <p:anim calcmode="lin" valueType="num">
                                      <p:cBhvr additive="base">
                                        <p:cTn id="38" dur="500" decel="100000" fill="hold"/>
                                        <p:tgtEl>
                                          <p:spTgt spid="107"/>
                                        </p:tgtEl>
                                        <p:attrNameLst>
                                          <p:attrName>ppt_y</p:attrName>
                                        </p:attrNameLst>
                                      </p:cBhvr>
                                      <p:tavLst>
                                        <p:tav tm="0">
                                          <p:val>
                                            <p:strVal val="#ppt_y+0.06"/>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08"/>
                                        </p:tgtEl>
                                        <p:attrNameLst>
                                          <p:attrName>style.visibility</p:attrName>
                                        </p:attrNameLst>
                                      </p:cBhvr>
                                      <p:to>
                                        <p:strVal val="visible"/>
                                      </p:to>
                                    </p:set>
                                    <p:animEffect transition="in" filter="fade">
                                      <p:cBhvr>
                                        <p:cTn id="41" dur="500"/>
                                        <p:tgtEl>
                                          <p:spTgt spid="108"/>
                                        </p:tgtEl>
                                      </p:cBhvr>
                                    </p:animEffect>
                                    <p:anim calcmode="lin" valueType="num">
                                      <p:cBhvr additive="base">
                                        <p:cTn id="42" dur="500" decel="100000" fill="hold"/>
                                        <p:tgtEl>
                                          <p:spTgt spid="108"/>
                                        </p:tgtEl>
                                        <p:attrNameLst>
                                          <p:attrName>ppt_y</p:attrName>
                                        </p:attrNameLst>
                                      </p:cBhvr>
                                      <p:tavLst>
                                        <p:tav tm="0">
                                          <p:val>
                                            <p:strVal val="#ppt_y+0.06"/>
                                          </p:val>
                                        </p:tav>
                                        <p:tav tm="100000">
                                          <p:val>
                                            <p:strVal val="#ppt_y"/>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09"/>
                                        </p:tgtEl>
                                        <p:attrNameLst>
                                          <p:attrName>style.visibility</p:attrName>
                                        </p:attrNameLst>
                                      </p:cBhvr>
                                      <p:to>
                                        <p:strVal val="visible"/>
                                      </p:to>
                                    </p:set>
                                    <p:animEffect transition="in" filter="fade">
                                      <p:cBhvr>
                                        <p:cTn id="45" dur="500"/>
                                        <p:tgtEl>
                                          <p:spTgt spid="109"/>
                                        </p:tgtEl>
                                      </p:cBhvr>
                                    </p:animEffect>
                                    <p:anim calcmode="lin" valueType="num">
                                      <p:cBhvr additive="base">
                                        <p:cTn id="46" dur="500" decel="100000" fill="hold"/>
                                        <p:tgtEl>
                                          <p:spTgt spid="109"/>
                                        </p:tgtEl>
                                        <p:attrNameLst>
                                          <p:attrName>ppt_y</p:attrName>
                                        </p:attrNameLst>
                                      </p:cBhvr>
                                      <p:tavLst>
                                        <p:tav tm="0">
                                          <p:val>
                                            <p:strVal val="#ppt_y+0.06"/>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110"/>
                                        </p:tgtEl>
                                        <p:attrNameLst>
                                          <p:attrName>style.visibility</p:attrName>
                                        </p:attrNameLst>
                                      </p:cBhvr>
                                      <p:to>
                                        <p:strVal val="visible"/>
                                      </p:to>
                                    </p:set>
                                    <p:animEffect transition="in" filter="fade">
                                      <p:cBhvr>
                                        <p:cTn id="49" dur="500"/>
                                        <p:tgtEl>
                                          <p:spTgt spid="110"/>
                                        </p:tgtEl>
                                      </p:cBhvr>
                                    </p:animEffect>
                                    <p:anim calcmode="lin" valueType="num">
                                      <p:cBhvr additive="base">
                                        <p:cTn id="50" dur="500" decel="100000" fill="hold"/>
                                        <p:tgtEl>
                                          <p:spTgt spid="110"/>
                                        </p:tgtEl>
                                        <p:attrNameLst>
                                          <p:attrName>ppt_y</p:attrName>
                                        </p:attrNameLst>
                                      </p:cBhvr>
                                      <p:tavLst>
                                        <p:tav tm="0">
                                          <p:val>
                                            <p:strVal val="#ppt_y+0.06"/>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111"/>
                                        </p:tgtEl>
                                        <p:attrNameLst>
                                          <p:attrName>style.visibility</p:attrName>
                                        </p:attrNameLst>
                                      </p:cBhvr>
                                      <p:to>
                                        <p:strVal val="visible"/>
                                      </p:to>
                                    </p:set>
                                    <p:animEffect transition="in" filter="fade">
                                      <p:cBhvr>
                                        <p:cTn id="55" dur="500"/>
                                        <p:tgtEl>
                                          <p:spTgt spid="111"/>
                                        </p:tgtEl>
                                      </p:cBhvr>
                                    </p:animEffect>
                                    <p:anim calcmode="lin" valueType="num">
                                      <p:cBhvr additive="base">
                                        <p:cTn id="56" dur="500" decel="100000" fill="hold"/>
                                        <p:tgtEl>
                                          <p:spTgt spid="111"/>
                                        </p:tgtEl>
                                        <p:attrNameLst>
                                          <p:attrName>ppt_y</p:attrName>
                                        </p:attrNameLst>
                                      </p:cBhvr>
                                      <p:tavLst>
                                        <p:tav tm="0">
                                          <p:val>
                                            <p:strVal val="#ppt_y+0.06"/>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12"/>
                                        </p:tgtEl>
                                        <p:attrNameLst>
                                          <p:attrName>style.visibility</p:attrName>
                                        </p:attrNameLst>
                                      </p:cBhvr>
                                      <p:to>
                                        <p:strVal val="visible"/>
                                      </p:to>
                                    </p:set>
                                    <p:animEffect transition="in" filter="fade">
                                      <p:cBhvr>
                                        <p:cTn id="59" dur="500"/>
                                        <p:tgtEl>
                                          <p:spTgt spid="112"/>
                                        </p:tgtEl>
                                      </p:cBhvr>
                                    </p:animEffect>
                                    <p:anim calcmode="lin" valueType="num">
                                      <p:cBhvr additive="base">
                                        <p:cTn id="60" dur="500" decel="100000" fill="hold"/>
                                        <p:tgtEl>
                                          <p:spTgt spid="112"/>
                                        </p:tgtEl>
                                        <p:attrNameLst>
                                          <p:attrName>ppt_y</p:attrName>
                                        </p:attrNameLst>
                                      </p:cBhvr>
                                      <p:tavLst>
                                        <p:tav tm="0">
                                          <p:val>
                                            <p:strVal val="#ppt_y+0.06"/>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113"/>
                                        </p:tgtEl>
                                        <p:attrNameLst>
                                          <p:attrName>style.visibility</p:attrName>
                                        </p:attrNameLst>
                                      </p:cBhvr>
                                      <p:to>
                                        <p:strVal val="visible"/>
                                      </p:to>
                                    </p:set>
                                    <p:animEffect transition="in" filter="fade">
                                      <p:cBhvr>
                                        <p:cTn id="63" dur="500"/>
                                        <p:tgtEl>
                                          <p:spTgt spid="113"/>
                                        </p:tgtEl>
                                      </p:cBhvr>
                                    </p:animEffect>
                                    <p:anim calcmode="lin" valueType="num">
                                      <p:cBhvr additive="base">
                                        <p:cTn id="64" dur="500" decel="100000" fill="hold"/>
                                        <p:tgtEl>
                                          <p:spTgt spid="113"/>
                                        </p:tgtEl>
                                        <p:attrNameLst>
                                          <p:attrName>ppt_y</p:attrName>
                                        </p:attrNameLst>
                                      </p:cBhvr>
                                      <p:tavLst>
                                        <p:tav tm="0">
                                          <p:val>
                                            <p:strVal val="#ppt_y+0.06"/>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114"/>
                                        </p:tgtEl>
                                        <p:attrNameLst>
                                          <p:attrName>style.visibility</p:attrName>
                                        </p:attrNameLst>
                                      </p:cBhvr>
                                      <p:to>
                                        <p:strVal val="visible"/>
                                      </p:to>
                                    </p:set>
                                    <p:animEffect transition="in" filter="fade">
                                      <p:cBhvr>
                                        <p:cTn id="67" dur="500"/>
                                        <p:tgtEl>
                                          <p:spTgt spid="114"/>
                                        </p:tgtEl>
                                      </p:cBhvr>
                                    </p:animEffect>
                                    <p:anim calcmode="lin" valueType="num">
                                      <p:cBhvr additive="base">
                                        <p:cTn id="68" dur="500" decel="100000" fill="hold"/>
                                        <p:tgtEl>
                                          <p:spTgt spid="114"/>
                                        </p:tgtEl>
                                        <p:attrNameLst>
                                          <p:attrName>ppt_y</p:attrName>
                                        </p:attrNameLst>
                                      </p:cBhvr>
                                      <p:tavLst>
                                        <p:tav tm="0">
                                          <p:val>
                                            <p:strVal val="#ppt_y+0.06"/>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42" presetClass="entr" presetSubtype="0" fill="hold" grpId="0"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fade">
                                      <p:cBhvr>
                                        <p:cTn id="73" dur="500"/>
                                        <p:tgtEl>
                                          <p:spTgt spid="115"/>
                                        </p:tgtEl>
                                      </p:cBhvr>
                                    </p:animEffect>
                                    <p:anim calcmode="lin" valueType="num">
                                      <p:cBhvr additive="base">
                                        <p:cTn id="74" dur="500" decel="100000" fill="hold"/>
                                        <p:tgtEl>
                                          <p:spTgt spid="115"/>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116"/>
                                        </p:tgtEl>
                                        <p:attrNameLst>
                                          <p:attrName>style.visibility</p:attrName>
                                        </p:attrNameLst>
                                      </p:cBhvr>
                                      <p:to>
                                        <p:strVal val="visible"/>
                                      </p:to>
                                    </p:set>
                                    <p:animEffect transition="in" filter="fade">
                                      <p:cBhvr>
                                        <p:cTn id="77" dur="500"/>
                                        <p:tgtEl>
                                          <p:spTgt spid="116"/>
                                        </p:tgtEl>
                                      </p:cBhvr>
                                    </p:animEffect>
                                    <p:anim calcmode="lin" valueType="num">
                                      <p:cBhvr additive="base">
                                        <p:cTn id="78" dur="500" decel="100000" fill="hold"/>
                                        <p:tgtEl>
                                          <p:spTgt spid="116"/>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17"/>
                                        </p:tgtEl>
                                        <p:attrNameLst>
                                          <p:attrName>style.visibility</p:attrName>
                                        </p:attrNameLst>
                                      </p:cBhvr>
                                      <p:to>
                                        <p:strVal val="visible"/>
                                      </p:to>
                                    </p:set>
                                    <p:animEffect transition="in" filter="fade">
                                      <p:cBhvr>
                                        <p:cTn id="81" dur="500"/>
                                        <p:tgtEl>
                                          <p:spTgt spid="117"/>
                                        </p:tgtEl>
                                      </p:cBhvr>
                                    </p:animEffect>
                                    <p:anim calcmode="lin" valueType="num">
                                      <p:cBhvr additive="base">
                                        <p:cTn id="82" dur="500" decel="100000" fill="hold"/>
                                        <p:tgtEl>
                                          <p:spTgt spid="117"/>
                                        </p:tgtEl>
                                        <p:attrNameLst>
                                          <p:attrName>ppt_y</p:attrName>
                                        </p:attrNameLst>
                                      </p:cBhvr>
                                      <p:tavLst>
                                        <p:tav tm="0">
                                          <p:val>
                                            <p:strVal val="#ppt_y+0.06"/>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18"/>
                                        </p:tgtEl>
                                        <p:attrNameLst>
                                          <p:attrName>style.visibility</p:attrName>
                                        </p:attrNameLst>
                                      </p:cBhvr>
                                      <p:to>
                                        <p:strVal val="visible"/>
                                      </p:to>
                                    </p:set>
                                    <p:animEffect transition="in" filter="fade">
                                      <p:cBhvr>
                                        <p:cTn id="85" dur="500"/>
                                        <p:tgtEl>
                                          <p:spTgt spid="118"/>
                                        </p:tgtEl>
                                      </p:cBhvr>
                                    </p:animEffect>
                                    <p:anim calcmode="lin" valueType="num">
                                      <p:cBhvr additive="base">
                                        <p:cTn id="86" dur="500" decel="100000" fill="hold"/>
                                        <p:tgtEl>
                                          <p:spTgt spid="118"/>
                                        </p:tgtEl>
                                        <p:attrNameLst>
                                          <p:attrName>ppt_y</p:attrName>
                                        </p:attrNameLst>
                                      </p:cBhvr>
                                      <p:tavLst>
                                        <p:tav tm="0">
                                          <p:val>
                                            <p:strVal val="#ppt_y+0.06"/>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42" presetClass="entr" presetSubtype="0" fill="hold" grpId="0" nodeType="clickEffect">
                                  <p:stCondLst>
                                    <p:cond delay="0"/>
                                  </p:stCondLst>
                                  <p:childTnLst>
                                    <p:set>
                                      <p:cBhvr>
                                        <p:cTn id="90" dur="1" fill="hold">
                                          <p:stCondLst>
                                            <p:cond delay="0"/>
                                          </p:stCondLst>
                                        </p:cTn>
                                        <p:tgtEl>
                                          <p:spTgt spid="119"/>
                                        </p:tgtEl>
                                        <p:attrNameLst>
                                          <p:attrName>style.visibility</p:attrName>
                                        </p:attrNameLst>
                                      </p:cBhvr>
                                      <p:to>
                                        <p:strVal val="visible"/>
                                      </p:to>
                                    </p:set>
                                    <p:animEffect transition="in" filter="fade">
                                      <p:cBhvr>
                                        <p:cTn id="91" dur="500"/>
                                        <p:tgtEl>
                                          <p:spTgt spid="119"/>
                                        </p:tgtEl>
                                      </p:cBhvr>
                                    </p:animEffect>
                                    <p:anim calcmode="lin" valueType="num">
                                      <p:cBhvr additive="base">
                                        <p:cTn id="92" dur="500" decel="100000" fill="hold"/>
                                        <p:tgtEl>
                                          <p:spTgt spid="119"/>
                                        </p:tgtEl>
                                        <p:attrNameLst>
                                          <p:attrName>ppt_y</p:attrName>
                                        </p:attrNameLst>
                                      </p:cBhvr>
                                      <p:tavLst>
                                        <p:tav tm="0">
                                          <p:val>
                                            <p:strVal val="#ppt_y+0.06"/>
                                          </p:val>
                                        </p:tav>
                                        <p:tav tm="100000">
                                          <p:val>
                                            <p:strVal val="#ppt_y"/>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120"/>
                                        </p:tgtEl>
                                        <p:attrNameLst>
                                          <p:attrName>style.visibility</p:attrName>
                                        </p:attrNameLst>
                                      </p:cBhvr>
                                      <p:to>
                                        <p:strVal val="visible"/>
                                      </p:to>
                                    </p:set>
                                    <p:animEffect transition="in" filter="fade">
                                      <p:cBhvr>
                                        <p:cTn id="95" dur="500"/>
                                        <p:tgtEl>
                                          <p:spTgt spid="120"/>
                                        </p:tgtEl>
                                      </p:cBhvr>
                                    </p:animEffect>
                                    <p:anim calcmode="lin" valueType="num">
                                      <p:cBhvr additive="base">
                                        <p:cTn id="96" dur="500" decel="100000" fill="hold"/>
                                        <p:tgtEl>
                                          <p:spTgt spid="120"/>
                                        </p:tgtEl>
                                        <p:attrNameLst>
                                          <p:attrName>ppt_y</p:attrName>
                                        </p:attrNameLst>
                                      </p:cBhvr>
                                      <p:tavLst>
                                        <p:tav tm="0">
                                          <p:val>
                                            <p:strVal val="#ppt_y+0.06"/>
                                          </p:val>
                                        </p:tav>
                                        <p:tav tm="100000">
                                          <p:val>
                                            <p:strVal val="#ppt_y"/>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1"/>
                                        </p:tgtEl>
                                        <p:attrNameLst>
                                          <p:attrName>style.visibility</p:attrName>
                                        </p:attrNameLst>
                                      </p:cBhvr>
                                      <p:to>
                                        <p:strVal val="visible"/>
                                      </p:to>
                                    </p:set>
                                    <p:animEffect transition="in" filter="fade">
                                      <p:cBhvr>
                                        <p:cTn id="99" dur="500"/>
                                        <p:tgtEl>
                                          <p:spTgt spid="121"/>
                                        </p:tgtEl>
                                      </p:cBhvr>
                                    </p:animEffect>
                                    <p:anim calcmode="lin" valueType="num">
                                      <p:cBhvr additive="base">
                                        <p:cTn id="100" dur="500" decel="100000" fill="hold"/>
                                        <p:tgtEl>
                                          <p:spTgt spid="121"/>
                                        </p:tgtEl>
                                        <p:attrNameLst>
                                          <p:attrName>ppt_y</p:attrName>
                                        </p:attrNameLst>
                                      </p:cBhvr>
                                      <p:tavLst>
                                        <p:tav tm="0">
                                          <p:val>
                                            <p:strVal val="#ppt_y+0.06"/>
                                          </p:val>
                                        </p:tav>
                                        <p:tav tm="100000">
                                          <p:val>
                                            <p:strVal val="#ppt_y"/>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22"/>
                                        </p:tgtEl>
                                        <p:attrNameLst>
                                          <p:attrName>style.visibility</p:attrName>
                                        </p:attrNameLst>
                                      </p:cBhvr>
                                      <p:to>
                                        <p:strVal val="visible"/>
                                      </p:to>
                                    </p:set>
                                    <p:animEffect transition="in" filter="fade">
                                      <p:cBhvr>
                                        <p:cTn id="103" dur="500"/>
                                        <p:tgtEl>
                                          <p:spTgt spid="122"/>
                                        </p:tgtEl>
                                      </p:cBhvr>
                                    </p:animEffect>
                                    <p:anim calcmode="lin" valueType="num">
                                      <p:cBhvr additive="base">
                                        <p:cTn id="104" dur="500" decel="100000" fill="hold"/>
                                        <p:tgtEl>
                                          <p:spTgt spid="122"/>
                                        </p:tgtEl>
                                        <p:attrNameLst>
                                          <p:attrName>ppt_y</p:attrName>
                                        </p:attrNameLst>
                                      </p:cBhvr>
                                      <p:tavLst>
                                        <p:tav tm="0">
                                          <p:val>
                                            <p:strVal val="#ppt_y+0.06"/>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42" presetClass="entr" presetSubtype="0" fill="hold" grpId="0" nodeType="clickEffect">
                                  <p:stCondLst>
                                    <p:cond delay="0"/>
                                  </p:stCondLst>
                                  <p:childTnLst>
                                    <p:set>
                                      <p:cBhvr>
                                        <p:cTn id="108" dur="1" fill="hold">
                                          <p:stCondLst>
                                            <p:cond delay="0"/>
                                          </p:stCondLst>
                                        </p:cTn>
                                        <p:tgtEl>
                                          <p:spTgt spid="123"/>
                                        </p:tgtEl>
                                        <p:attrNameLst>
                                          <p:attrName>style.visibility</p:attrName>
                                        </p:attrNameLst>
                                      </p:cBhvr>
                                      <p:to>
                                        <p:strVal val="visible"/>
                                      </p:to>
                                    </p:set>
                                    <p:animEffect transition="in" filter="fade">
                                      <p:cBhvr>
                                        <p:cTn id="109" dur="500"/>
                                        <p:tgtEl>
                                          <p:spTgt spid="123"/>
                                        </p:tgtEl>
                                      </p:cBhvr>
                                    </p:animEffect>
                                    <p:anim calcmode="lin" valueType="num">
                                      <p:cBhvr additive="base">
                                        <p:cTn id="110" dur="500" decel="100000" fill="hold"/>
                                        <p:tgtEl>
                                          <p:spTgt spid="123"/>
                                        </p:tgtEl>
                                        <p:attrNameLst>
                                          <p:attrName>ppt_y</p:attrName>
                                        </p:attrNameLst>
                                      </p:cBhvr>
                                      <p:tavLst>
                                        <p:tav tm="0">
                                          <p:val>
                                            <p:strVal val="#ppt_y+0.06"/>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4"/>
                                        </p:tgtEl>
                                        <p:attrNameLst>
                                          <p:attrName>style.visibility</p:attrName>
                                        </p:attrNameLst>
                                      </p:cBhvr>
                                      <p:to>
                                        <p:strVal val="visible"/>
                                      </p:to>
                                    </p:set>
                                    <p:animEffect transition="in" filter="fade">
                                      <p:cBhvr>
                                        <p:cTn id="113" dur="500"/>
                                        <p:tgtEl>
                                          <p:spTgt spid="124"/>
                                        </p:tgtEl>
                                      </p:cBhvr>
                                    </p:animEffect>
                                    <p:anim calcmode="lin" valueType="num">
                                      <p:cBhvr additive="base">
                                        <p:cTn id="114" dur="500" decel="100000" fill="hold"/>
                                        <p:tgtEl>
                                          <p:spTgt spid="124"/>
                                        </p:tgtEl>
                                        <p:attrNameLst>
                                          <p:attrName>ppt_y</p:attrName>
                                        </p:attrNameLst>
                                      </p:cBhvr>
                                      <p:tavLst>
                                        <p:tav tm="0">
                                          <p:val>
                                            <p:strVal val="#ppt_y+0.06"/>
                                          </p:val>
                                        </p:tav>
                                        <p:tav tm="100000">
                                          <p:val>
                                            <p:strVal val="#ppt_y"/>
                                          </p:val>
                                        </p:tav>
                                      </p:tavLst>
                                    </p:anim>
                                  </p:childTnLst>
                                </p:cTn>
                              </p:par>
                              <p:par>
                                <p:cTn id="115" presetID="42" presetClass="entr" presetSubtype="0" fill="hold" grpId="0" nodeType="withEffect">
                                  <p:stCondLst>
                                    <p:cond delay="0"/>
                                  </p:stCondLst>
                                  <p:childTnLst>
                                    <p:set>
                                      <p:cBhvr>
                                        <p:cTn id="116" dur="1" fill="hold">
                                          <p:stCondLst>
                                            <p:cond delay="0"/>
                                          </p:stCondLst>
                                        </p:cTn>
                                        <p:tgtEl>
                                          <p:spTgt spid="125"/>
                                        </p:tgtEl>
                                        <p:attrNameLst>
                                          <p:attrName>style.visibility</p:attrName>
                                        </p:attrNameLst>
                                      </p:cBhvr>
                                      <p:to>
                                        <p:strVal val="visible"/>
                                      </p:to>
                                    </p:set>
                                    <p:animEffect transition="in" filter="fade">
                                      <p:cBhvr>
                                        <p:cTn id="117" dur="500"/>
                                        <p:tgtEl>
                                          <p:spTgt spid="125"/>
                                        </p:tgtEl>
                                      </p:cBhvr>
                                    </p:animEffect>
                                    <p:anim calcmode="lin" valueType="num">
                                      <p:cBhvr additive="base">
                                        <p:cTn id="118" dur="500" decel="100000" fill="hold"/>
                                        <p:tgtEl>
                                          <p:spTgt spid="125"/>
                                        </p:tgtEl>
                                        <p:attrNameLst>
                                          <p:attrName>ppt_y</p:attrName>
                                        </p:attrNameLst>
                                      </p:cBhvr>
                                      <p:tavLst>
                                        <p:tav tm="0">
                                          <p:val>
                                            <p:strVal val="#ppt_y+0.06"/>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126"/>
                                        </p:tgtEl>
                                        <p:attrNameLst>
                                          <p:attrName>style.visibility</p:attrName>
                                        </p:attrNameLst>
                                      </p:cBhvr>
                                      <p:to>
                                        <p:strVal val="visible"/>
                                      </p:to>
                                    </p:set>
                                    <p:animEffect transition="in" filter="fade">
                                      <p:cBhvr>
                                        <p:cTn id="121" dur="500"/>
                                        <p:tgtEl>
                                          <p:spTgt spid="126"/>
                                        </p:tgtEl>
                                      </p:cBhvr>
                                    </p:animEffect>
                                    <p:anim calcmode="lin" valueType="num">
                                      <p:cBhvr additive="base">
                                        <p:cTn id="122" dur="500" decel="100000" fill="hold"/>
                                        <p:tgtEl>
                                          <p:spTgt spid="126"/>
                                        </p:tgtEl>
                                        <p:attrNameLst>
                                          <p:attrName>ppt_y</p:attrName>
                                        </p:attrNameLst>
                                      </p:cBhvr>
                                      <p:tavLst>
                                        <p:tav tm="0">
                                          <p:val>
                                            <p:strVal val="#ppt_y+0.06"/>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127"/>
                                        </p:tgtEl>
                                        <p:attrNameLst>
                                          <p:attrName>style.visibility</p:attrName>
                                        </p:attrNameLst>
                                      </p:cBhvr>
                                      <p:to>
                                        <p:strVal val="visible"/>
                                      </p:to>
                                    </p:set>
                                    <p:animEffect transition="in" filter="fade">
                                      <p:cBhvr>
                                        <p:cTn id="127"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ONE SENTENCE</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Scrum in One Sentence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Build value → Inspect reality → Learn → Adapt → Repeat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CLOSE</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302</a:t>
            </a:r>
            <a:endParaRPr lang="en-US" sz="850" dirty="0"/>
          </a:p>
        </p:txBody>
      </p:sp>
      <p:sp>
        <p:nvSpPr>
          <p:cNvPr id="101" name="s101"/>
          <p:cNvSpPr/>
          <p:nvPr/>
        </p:nvSpPr>
        <p:spPr>
          <a:xfrm>
            <a:off x="543154" y="1965960"/>
            <a:ext cx="11088014" cy="1600200"/>
          </a:xfrm>
          <a:prstGeom prst="roundRect">
            <a:avLst>
              <a:gd name="adj" fmla="val 10000"/>
            </a:avLst>
          </a:prstGeom>
          <a:solidFill>
            <a:srgbClr val="13D0F7">
              <a:alpha val="8000"/>
            </a:srgbClr>
          </a:solidFill>
          <a:ln w="22225">
            <a:solidFill>
              <a:srgbClr val="13D0F7"/>
            </a:solidFill>
            <a:prstDash val="solid"/>
          </a:ln>
        </p:spPr>
        <p:txBody>
          <a:bodyPr wrap="square" lIns="365760" tIns="91440" rIns="365760" bIns="91440" rtlCol="0" anchor="ctr">
            <a:noAutofit/>
          </a:bodyPr>
          <a:lstStyle/>
          <a:p>
            <a:pPr marL="0" indent="0" algn="l">
              <a:spcBef>
                <a:spcPts val="0"/>
              </a:spcBef>
              <a:spcAft>
                <a:spcPts val="0"/>
              </a:spcAft>
              <a:buNone/>
            </a:pPr>
            <a:r>
              <a:rPr lang="en-US" sz="1800" b="0" dirty="0">
                <a:solidFill>
                  <a:srgbClr val="E2E8F0"/>
                </a:solidFill>
                <a:latin typeface="Segoe UI"/>
                <a:ea typeface="Segoe UI"/>
                <a:cs typeface="Segoe UI"/>
              </a:rPr>
              <a:t>Scrum is a way for a </a:t>
            </a:r>
            <a:r>
              <a:rPr lang="en-US" sz="1800" b="1" dirty="0">
                <a:solidFill>
                  <a:srgbClr val="FFFFFF"/>
                </a:solidFill>
                <a:latin typeface="Segoe UI"/>
                <a:ea typeface="Segoe UI"/>
                <a:cs typeface="Segoe UI"/>
              </a:rPr>
              <a:t>small, cross-functional, self-managing team</a:t>
            </a:r>
            <a:r>
              <a:rPr lang="en-US" sz="1800" b="0" dirty="0">
                <a:solidFill>
                  <a:srgbClr val="E2E8F0"/>
                </a:solidFill>
                <a:latin typeface="Segoe UI"/>
                <a:ea typeface="Segoe UI"/>
                <a:cs typeface="Segoe UI"/>
              </a:rPr>
              <a:t> to deliver a </a:t>
            </a:r>
            <a:r>
              <a:rPr lang="en-US" sz="1800" b="1" dirty="0">
                <a:solidFill>
                  <a:srgbClr val="FFFFFF"/>
                </a:solidFill>
                <a:latin typeface="Segoe UI"/>
                <a:ea typeface="Segoe UI"/>
                <a:cs typeface="Segoe UI"/>
              </a:rPr>
              <a:t>usable product Increment</a:t>
            </a:r>
            <a:r>
              <a:rPr lang="en-US" sz="1800" b="0" dirty="0">
                <a:solidFill>
                  <a:srgbClr val="E2E8F0"/>
                </a:solidFill>
                <a:latin typeface="Segoe UI"/>
                <a:ea typeface="Segoe UI"/>
                <a:cs typeface="Segoe UI"/>
              </a:rPr>
              <a:t> in short cycles, inspect the results, collect feedback, and </a:t>
            </a:r>
            <a:r>
              <a:rPr lang="en-US" sz="1800" b="1" dirty="0">
                <a:solidFill>
                  <a:srgbClr val="13D0F7"/>
                </a:solidFill>
                <a:latin typeface="Segoe UI"/>
                <a:ea typeface="Segoe UI"/>
                <a:cs typeface="Segoe UI"/>
              </a:rPr>
              <a:t>adapt both the product and the way the team works.</a:t>
            </a:r>
            <a:endParaRPr lang="en-US" sz="1800" dirty="0"/>
          </a:p>
        </p:txBody>
      </p:sp>
      <p:sp>
        <p:nvSpPr>
          <p:cNvPr id="102" name="s102"/>
          <p:cNvSpPr/>
          <p:nvPr/>
        </p:nvSpPr>
        <p:spPr>
          <a:xfrm>
            <a:off x="1091794" y="3840480"/>
            <a:ext cx="1783080" cy="594360"/>
          </a:xfrm>
          <a:prstGeom prst="roundRect">
            <a:avLst>
              <a:gd name="adj" fmla="val 30000"/>
            </a:avLst>
          </a:prstGeom>
          <a:solidFill>
            <a:srgbClr val="13D0F7">
              <a:alpha val="14000"/>
            </a:srgbClr>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Build value</a:t>
            </a:r>
            <a:endParaRPr lang="en-US" sz="1400" dirty="0"/>
          </a:p>
        </p:txBody>
      </p:sp>
      <p:sp>
        <p:nvSpPr>
          <p:cNvPr id="103" name="s103"/>
          <p:cNvSpPr/>
          <p:nvPr/>
        </p:nvSpPr>
        <p:spPr>
          <a:xfrm>
            <a:off x="3304642" y="3840480"/>
            <a:ext cx="1783080" cy="594360"/>
          </a:xfrm>
          <a:prstGeom prst="roundRect">
            <a:avLst>
              <a:gd name="adj" fmla="val 30000"/>
            </a:avLst>
          </a:prstGeom>
          <a:solidFill>
            <a:srgbClr val="13D0F7">
              <a:alpha val="14000"/>
            </a:srgbClr>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Inspect</a:t>
            </a:r>
            <a:endParaRPr lang="en-US" sz="1400" dirty="0"/>
          </a:p>
        </p:txBody>
      </p:sp>
      <p:cxnSp>
        <p:nvCxnSpPr>
          <p:cNvPr id="104" name="ln104"/>
          <p:cNvCxnSpPr/>
          <p:nvPr/>
        </p:nvCxnSpPr>
        <p:spPr>
          <a:xfrm>
            <a:off x="2911450" y="4137660"/>
            <a:ext cx="356616" cy="0"/>
          </a:xfrm>
          <a:prstGeom prst="line">
            <a:avLst/>
          </a:prstGeom>
          <a:ln w="19050">
            <a:solidFill>
              <a:srgbClr val="13D0F7"/>
            </a:solidFill>
            <a:tailEnd type="triangle" w="med" len="med"/>
          </a:ln>
        </p:spPr>
      </p:cxnSp>
      <p:sp>
        <p:nvSpPr>
          <p:cNvPr id="105" name="s105"/>
          <p:cNvSpPr/>
          <p:nvPr/>
        </p:nvSpPr>
        <p:spPr>
          <a:xfrm>
            <a:off x="5517490" y="3840480"/>
            <a:ext cx="1783080" cy="594360"/>
          </a:xfrm>
          <a:prstGeom prst="roundRect">
            <a:avLst>
              <a:gd name="adj" fmla="val 30000"/>
            </a:avLst>
          </a:prstGeom>
          <a:solidFill>
            <a:srgbClr val="13D0F7">
              <a:alpha val="14000"/>
            </a:srgbClr>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Learn</a:t>
            </a:r>
            <a:endParaRPr lang="en-US" sz="1400" dirty="0"/>
          </a:p>
        </p:txBody>
      </p:sp>
      <p:cxnSp>
        <p:nvCxnSpPr>
          <p:cNvPr id="106" name="ln106"/>
          <p:cNvCxnSpPr/>
          <p:nvPr/>
        </p:nvCxnSpPr>
        <p:spPr>
          <a:xfrm>
            <a:off x="5124298" y="4137660"/>
            <a:ext cx="356616" cy="0"/>
          </a:xfrm>
          <a:prstGeom prst="line">
            <a:avLst/>
          </a:prstGeom>
          <a:ln w="19050">
            <a:solidFill>
              <a:srgbClr val="13D0F7"/>
            </a:solidFill>
            <a:tailEnd type="triangle" w="med" len="med"/>
          </a:ln>
        </p:spPr>
      </p:cxnSp>
      <p:sp>
        <p:nvSpPr>
          <p:cNvPr id="107" name="s107"/>
          <p:cNvSpPr/>
          <p:nvPr/>
        </p:nvSpPr>
        <p:spPr>
          <a:xfrm>
            <a:off x="7730338" y="3840480"/>
            <a:ext cx="1783080" cy="594360"/>
          </a:xfrm>
          <a:prstGeom prst="roundRect">
            <a:avLst>
              <a:gd name="adj" fmla="val 30000"/>
            </a:avLst>
          </a:prstGeom>
          <a:solidFill>
            <a:srgbClr val="13D0F7">
              <a:alpha val="14000"/>
            </a:srgbClr>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Adapt</a:t>
            </a:r>
            <a:endParaRPr lang="en-US" sz="1400" dirty="0"/>
          </a:p>
        </p:txBody>
      </p:sp>
      <p:cxnSp>
        <p:nvCxnSpPr>
          <p:cNvPr id="108" name="ln108"/>
          <p:cNvCxnSpPr/>
          <p:nvPr/>
        </p:nvCxnSpPr>
        <p:spPr>
          <a:xfrm>
            <a:off x="7337146" y="4137660"/>
            <a:ext cx="356616" cy="0"/>
          </a:xfrm>
          <a:prstGeom prst="line">
            <a:avLst/>
          </a:prstGeom>
          <a:ln w="19050">
            <a:solidFill>
              <a:srgbClr val="13D0F7"/>
            </a:solidFill>
            <a:tailEnd type="triangle" w="med" len="med"/>
          </a:ln>
        </p:spPr>
      </p:cxnSp>
      <p:sp>
        <p:nvSpPr>
          <p:cNvPr id="109" name="s109"/>
          <p:cNvSpPr/>
          <p:nvPr/>
        </p:nvSpPr>
        <p:spPr>
          <a:xfrm>
            <a:off x="9943186" y="3840480"/>
            <a:ext cx="1783080" cy="594360"/>
          </a:xfrm>
          <a:prstGeom prst="roundRect">
            <a:avLst>
              <a:gd name="adj" fmla="val 30000"/>
            </a:avLst>
          </a:prstGeom>
          <a:solidFill>
            <a:srgbClr val="13D0F7">
              <a:alpha val="14000"/>
            </a:srgbClr>
          </a:solidFill>
          <a:ln w="12700">
            <a:solidFill>
              <a:srgbClr val="13D0F7"/>
            </a:solidFill>
            <a:prstDash val="solid"/>
          </a:ln>
        </p:spPr>
        <p:txBody>
          <a:bodyPr wrap="square" lIns="45720" tIns="0" rIns="45720" bIns="0" rtlCol="0" anchor="ctr">
            <a:noAutofit/>
          </a:bodyPr>
          <a:lstStyle/>
          <a:p>
            <a:pPr marL="0" indent="0" algn="ctr">
              <a:spcBef>
                <a:spcPts val="0"/>
              </a:spcBef>
              <a:spcAft>
                <a:spcPts val="0"/>
              </a:spcAft>
              <a:buNone/>
            </a:pPr>
            <a:r>
              <a:rPr lang="en-US" sz="1400" b="1" dirty="0">
                <a:solidFill>
                  <a:srgbClr val="FFFFFF"/>
                </a:solidFill>
                <a:latin typeface="Segoe UI"/>
                <a:ea typeface="Segoe UI"/>
                <a:cs typeface="Segoe UI"/>
              </a:rPr>
              <a:t>Repeat</a:t>
            </a:r>
            <a:endParaRPr lang="en-US" sz="1400" dirty="0"/>
          </a:p>
        </p:txBody>
      </p:sp>
      <p:cxnSp>
        <p:nvCxnSpPr>
          <p:cNvPr id="110" name="ln110"/>
          <p:cNvCxnSpPr/>
          <p:nvPr/>
        </p:nvCxnSpPr>
        <p:spPr>
          <a:xfrm>
            <a:off x="9549994" y="4137660"/>
            <a:ext cx="356616" cy="0"/>
          </a:xfrm>
          <a:prstGeom prst="line">
            <a:avLst/>
          </a:prstGeom>
          <a:ln w="19050">
            <a:solidFill>
              <a:srgbClr val="13D0F7"/>
            </a:solidFill>
            <a:tailEnd type="triangle" w="med" len="med"/>
          </a:ln>
        </p:spPr>
      </p:cxnSp>
      <p:sp>
        <p:nvSpPr>
          <p:cNvPr id="111" name="s111"/>
          <p:cNvSpPr/>
          <p:nvPr/>
        </p:nvSpPr>
        <p:spPr>
          <a:xfrm>
            <a:off x="1914754" y="4754880"/>
            <a:ext cx="457200" cy="457200"/>
          </a:xfrm>
          <a:prstGeom prst="ellipse">
            <a:avLst/>
          </a:prstGeom>
          <a:solidFill>
            <a:srgbClr val="FBBF24">
              <a:alpha val="22000"/>
            </a:srgbClr>
          </a:solidFill>
          <a:ln w="19050">
            <a:solidFill>
              <a:srgbClr val="FBBF24"/>
            </a:solidFill>
            <a:prstDash val="solid"/>
          </a:ln>
        </p:spPr>
        <p:txBody>
          <a:bodyPr wrap="square" lIns="0" tIns="0" rIns="0" bIns="0" rtlCol="0" anchor="ctr">
            <a:noAutofit/>
          </a:bodyPr>
          <a:lstStyle/>
          <a:p>
            <a:pPr marL="0" indent="0" algn="ctr">
              <a:spcBef>
                <a:spcPts val="0"/>
              </a:spcBef>
              <a:spcAft>
                <a:spcPts val="0"/>
              </a:spcAft>
              <a:buNone/>
            </a:pPr>
            <a:r>
              <a:rPr lang="en-US" sz="1300" b="1" dirty="0">
                <a:solidFill>
                  <a:srgbClr val="FBBF24"/>
                </a:solidFill>
                <a:latin typeface="Segoe UI"/>
                <a:ea typeface="Segoe UI"/>
                <a:cs typeface="Segoe UI"/>
              </a:rPr>
              <a:t>S</a:t>
            </a:r>
            <a:endParaRPr lang="en-US" sz="1300" dirty="0"/>
          </a:p>
        </p:txBody>
      </p:sp>
      <p:sp>
        <p:nvSpPr>
          <p:cNvPr id="112" name="s112"/>
          <p:cNvSpPr txBox="1"/>
          <p:nvPr/>
        </p:nvSpPr>
        <p:spPr>
          <a:xfrm>
            <a:off x="1503274" y="5266944"/>
            <a:ext cx="12801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Sarah</a:t>
            </a:r>
            <a:endParaRPr lang="en-US" sz="1200" dirty="0"/>
          </a:p>
        </p:txBody>
      </p:sp>
      <p:sp>
        <p:nvSpPr>
          <p:cNvPr id="113" name="s113"/>
          <p:cNvSpPr/>
          <p:nvPr/>
        </p:nvSpPr>
        <p:spPr>
          <a:xfrm>
            <a:off x="3377794" y="4754880"/>
            <a:ext cx="457200" cy="457200"/>
          </a:xfrm>
          <a:prstGeom prst="ellipse">
            <a:avLst/>
          </a:prstGeom>
          <a:solidFill>
            <a:srgbClr val="A78BFA">
              <a:alpha val="22000"/>
            </a:srgbClr>
          </a:solidFill>
          <a:ln w="19050">
            <a:solidFill>
              <a:srgbClr val="A78BFA"/>
            </a:solidFill>
            <a:prstDash val="solid"/>
          </a:ln>
        </p:spPr>
        <p:txBody>
          <a:bodyPr wrap="square" lIns="0" tIns="0" rIns="0" bIns="0" rtlCol="0" anchor="ctr">
            <a:noAutofit/>
          </a:bodyPr>
          <a:lstStyle/>
          <a:p>
            <a:pPr marL="0" indent="0" algn="ctr">
              <a:spcBef>
                <a:spcPts val="0"/>
              </a:spcBef>
              <a:spcAft>
                <a:spcPts val="0"/>
              </a:spcAft>
              <a:buNone/>
            </a:pPr>
            <a:r>
              <a:rPr lang="en-US" sz="1300" b="1" dirty="0">
                <a:solidFill>
                  <a:srgbClr val="A78BFA"/>
                </a:solidFill>
                <a:latin typeface="Segoe UI"/>
                <a:ea typeface="Segoe UI"/>
                <a:cs typeface="Segoe UI"/>
              </a:rPr>
              <a:t>A</a:t>
            </a:r>
            <a:endParaRPr lang="en-US" sz="1300" dirty="0"/>
          </a:p>
        </p:txBody>
      </p:sp>
      <p:sp>
        <p:nvSpPr>
          <p:cNvPr id="114" name="s114"/>
          <p:cNvSpPr txBox="1"/>
          <p:nvPr/>
        </p:nvSpPr>
        <p:spPr>
          <a:xfrm>
            <a:off x="2966314" y="5266944"/>
            <a:ext cx="12801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Adam</a:t>
            </a:r>
            <a:endParaRPr lang="en-US" sz="1200" dirty="0"/>
          </a:p>
        </p:txBody>
      </p:sp>
      <p:sp>
        <p:nvSpPr>
          <p:cNvPr id="115" name="s115"/>
          <p:cNvSpPr/>
          <p:nvPr/>
        </p:nvSpPr>
        <p:spPr>
          <a:xfrm>
            <a:off x="4840834" y="4754880"/>
            <a:ext cx="457200" cy="457200"/>
          </a:xfrm>
          <a:prstGeom prst="ellipse">
            <a:avLst/>
          </a:prstGeom>
          <a:solidFill>
            <a:srgbClr val="13D0F7">
              <a:alpha val="22000"/>
            </a:srgbClr>
          </a:solidFill>
          <a:ln w="19050">
            <a:solidFill>
              <a:srgbClr val="13D0F7"/>
            </a:solidFill>
            <a:prstDash val="solid"/>
          </a:ln>
        </p:spPr>
        <p:txBody>
          <a:bodyPr wrap="square" lIns="0" tIns="0" rIns="0" bIns="0" rtlCol="0" anchor="ctr">
            <a:noAutofit/>
          </a:bodyPr>
          <a:lstStyle/>
          <a:p>
            <a:pPr marL="0" indent="0" algn="ctr">
              <a:spcBef>
                <a:spcPts val="0"/>
              </a:spcBef>
              <a:spcAft>
                <a:spcPts val="0"/>
              </a:spcAft>
              <a:buNone/>
            </a:pPr>
            <a:r>
              <a:rPr lang="en-US" sz="1300" b="1" dirty="0">
                <a:solidFill>
                  <a:srgbClr val="13D0F7"/>
                </a:solidFill>
                <a:latin typeface="Segoe UI"/>
                <a:ea typeface="Segoe UI"/>
                <a:cs typeface="Segoe UI"/>
              </a:rPr>
              <a:t>O</a:t>
            </a:r>
            <a:endParaRPr lang="en-US" sz="1300" dirty="0"/>
          </a:p>
        </p:txBody>
      </p:sp>
      <p:sp>
        <p:nvSpPr>
          <p:cNvPr id="116" name="s116"/>
          <p:cNvSpPr txBox="1"/>
          <p:nvPr/>
        </p:nvSpPr>
        <p:spPr>
          <a:xfrm>
            <a:off x="4429354" y="5266944"/>
            <a:ext cx="12801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Omar</a:t>
            </a:r>
            <a:endParaRPr lang="en-US" sz="1200" dirty="0"/>
          </a:p>
        </p:txBody>
      </p:sp>
      <p:sp>
        <p:nvSpPr>
          <p:cNvPr id="117" name="s117"/>
          <p:cNvSpPr/>
          <p:nvPr/>
        </p:nvSpPr>
        <p:spPr>
          <a:xfrm>
            <a:off x="6303874" y="4754880"/>
            <a:ext cx="457200" cy="457200"/>
          </a:xfrm>
          <a:prstGeom prst="ellipse">
            <a:avLst/>
          </a:prstGeom>
          <a:solidFill>
            <a:srgbClr val="F472B6">
              <a:alpha val="22000"/>
            </a:srgbClr>
          </a:solidFill>
          <a:ln w="19050">
            <a:solidFill>
              <a:srgbClr val="F472B6"/>
            </a:solidFill>
            <a:prstDash val="solid"/>
          </a:ln>
        </p:spPr>
        <p:txBody>
          <a:bodyPr wrap="square" lIns="0" tIns="0" rIns="0" bIns="0" rtlCol="0" anchor="ctr">
            <a:noAutofit/>
          </a:bodyPr>
          <a:lstStyle/>
          <a:p>
            <a:pPr marL="0" indent="0" algn="ctr">
              <a:spcBef>
                <a:spcPts val="0"/>
              </a:spcBef>
              <a:spcAft>
                <a:spcPts val="0"/>
              </a:spcAft>
              <a:buNone/>
            </a:pPr>
            <a:r>
              <a:rPr lang="en-US" sz="1300" b="1" dirty="0">
                <a:solidFill>
                  <a:srgbClr val="F472B6"/>
                </a:solidFill>
                <a:latin typeface="Segoe UI"/>
                <a:ea typeface="Segoe UI"/>
                <a:cs typeface="Segoe UI"/>
              </a:rPr>
              <a:t>L</a:t>
            </a:r>
            <a:endParaRPr lang="en-US" sz="1300" dirty="0"/>
          </a:p>
        </p:txBody>
      </p:sp>
      <p:sp>
        <p:nvSpPr>
          <p:cNvPr id="118" name="s118"/>
          <p:cNvSpPr txBox="1"/>
          <p:nvPr/>
        </p:nvSpPr>
        <p:spPr>
          <a:xfrm>
            <a:off x="5892394" y="5266944"/>
            <a:ext cx="12801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Lina</a:t>
            </a:r>
            <a:endParaRPr lang="en-US" sz="1200" dirty="0"/>
          </a:p>
        </p:txBody>
      </p:sp>
      <p:sp>
        <p:nvSpPr>
          <p:cNvPr id="119" name="s119"/>
          <p:cNvSpPr/>
          <p:nvPr/>
        </p:nvSpPr>
        <p:spPr>
          <a:xfrm>
            <a:off x="7766914" y="4754880"/>
            <a:ext cx="457200" cy="457200"/>
          </a:xfrm>
          <a:prstGeom prst="ellipse">
            <a:avLst/>
          </a:prstGeom>
          <a:solidFill>
            <a:srgbClr val="34D399">
              <a:alpha val="22000"/>
            </a:srgbClr>
          </a:solidFill>
          <a:ln w="19050">
            <a:solidFill>
              <a:srgbClr val="34D399"/>
            </a:solidFill>
            <a:prstDash val="solid"/>
          </a:ln>
        </p:spPr>
        <p:txBody>
          <a:bodyPr wrap="square" lIns="0" tIns="0" rIns="0" bIns="0" rtlCol="0" anchor="ctr">
            <a:noAutofit/>
          </a:bodyPr>
          <a:lstStyle/>
          <a:p>
            <a:pPr marL="0" indent="0" algn="ctr">
              <a:spcBef>
                <a:spcPts val="0"/>
              </a:spcBef>
              <a:spcAft>
                <a:spcPts val="0"/>
              </a:spcAft>
              <a:buNone/>
            </a:pPr>
            <a:r>
              <a:rPr lang="en-US" sz="1300" b="1" dirty="0">
                <a:solidFill>
                  <a:srgbClr val="34D399"/>
                </a:solidFill>
                <a:latin typeface="Segoe UI"/>
                <a:ea typeface="Segoe UI"/>
                <a:cs typeface="Segoe UI"/>
              </a:rPr>
              <a:t>M</a:t>
            </a:r>
            <a:endParaRPr lang="en-US" sz="1300" dirty="0"/>
          </a:p>
        </p:txBody>
      </p:sp>
      <p:sp>
        <p:nvSpPr>
          <p:cNvPr id="120" name="s120"/>
          <p:cNvSpPr txBox="1"/>
          <p:nvPr/>
        </p:nvSpPr>
        <p:spPr>
          <a:xfrm>
            <a:off x="7355434" y="5266944"/>
            <a:ext cx="12801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Maya</a:t>
            </a:r>
            <a:endParaRPr lang="en-US" sz="1200" dirty="0"/>
          </a:p>
        </p:txBody>
      </p:sp>
      <p:sp>
        <p:nvSpPr>
          <p:cNvPr id="121" name="s121"/>
          <p:cNvSpPr/>
          <p:nvPr/>
        </p:nvSpPr>
        <p:spPr>
          <a:xfrm>
            <a:off x="9229954" y="4754880"/>
            <a:ext cx="457200" cy="457200"/>
          </a:xfrm>
          <a:prstGeom prst="ellipse">
            <a:avLst/>
          </a:prstGeom>
          <a:solidFill>
            <a:srgbClr val="F0A98B">
              <a:alpha val="22000"/>
            </a:srgbClr>
          </a:solidFill>
          <a:ln w="19050">
            <a:solidFill>
              <a:srgbClr val="F0A98B"/>
            </a:solidFill>
            <a:prstDash val="solid"/>
          </a:ln>
        </p:spPr>
        <p:txBody>
          <a:bodyPr wrap="square" lIns="0" tIns="0" rIns="0" bIns="0" rtlCol="0" anchor="ctr">
            <a:noAutofit/>
          </a:bodyPr>
          <a:lstStyle/>
          <a:p>
            <a:pPr marL="0" indent="0" algn="ctr">
              <a:spcBef>
                <a:spcPts val="0"/>
              </a:spcBef>
              <a:spcAft>
                <a:spcPts val="0"/>
              </a:spcAft>
              <a:buNone/>
            </a:pPr>
            <a:r>
              <a:rPr lang="en-US" sz="1300" b="1" dirty="0">
                <a:solidFill>
                  <a:srgbClr val="F0A98B"/>
                </a:solidFill>
                <a:latin typeface="Segoe UI"/>
                <a:ea typeface="Segoe UI"/>
                <a:cs typeface="Segoe UI"/>
              </a:rPr>
              <a:t>D</a:t>
            </a:r>
            <a:endParaRPr lang="en-US" sz="1300" dirty="0"/>
          </a:p>
        </p:txBody>
      </p:sp>
      <p:sp>
        <p:nvSpPr>
          <p:cNvPr id="122" name="s122"/>
          <p:cNvSpPr txBox="1"/>
          <p:nvPr/>
        </p:nvSpPr>
        <p:spPr>
          <a:xfrm>
            <a:off x="8818474" y="5266944"/>
            <a:ext cx="1280160" cy="274320"/>
          </a:xfrm>
          <a:prstGeom prst="rect">
            <a:avLst/>
          </a:prstGeom>
          <a:noFill/>
          <a:ln>
            <a:noFill/>
          </a:ln>
        </p:spPr>
        <p:txBody>
          <a:bodyPr wrap="square" lIns="0" tIns="0" rIns="0" bIns="0" rtlCol="0" anchor="t">
            <a:noAutofit/>
          </a:bodyPr>
          <a:lstStyle/>
          <a:p>
            <a:pPr marL="0" indent="0" algn="ctr">
              <a:spcBef>
                <a:spcPts val="0"/>
              </a:spcBef>
              <a:spcAft>
                <a:spcPts val="0"/>
              </a:spcAft>
              <a:buNone/>
            </a:pPr>
            <a:r>
              <a:rPr lang="en-US" sz="1200" b="1" dirty="0">
                <a:solidFill>
                  <a:srgbClr val="FFFFFF"/>
                </a:solidFill>
                <a:latin typeface="Segoe UI"/>
                <a:ea typeface="Segoe UI"/>
                <a:cs typeface="Segoe UI"/>
              </a:rPr>
              <a:t>Daniel</a:t>
            </a:r>
            <a:endParaRPr lang="en-US" sz="12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7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700" decel="100000" fill="hold"/>
                                        <p:tgtEl>
                                          <p:spTgt spid="101"/>
                                        </p:tgtEl>
                                        <p:attrNameLst>
                                          <p:attrName>ppt_h</p:attrName>
                                        </p:attrNameLst>
                                      </p:cBhvr>
                                      <p:tavLst>
                                        <p:tav tm="0">
                                          <p:val>
                                            <p:strVal val="#ppt_h*0.55"/>
                                          </p:val>
                                        </p:tav>
                                        <p:tav tm="100000">
                                          <p:val>
                                            <p:strVal val="#ppt_h"/>
                                          </p:val>
                                        </p:tav>
                                      </p:tavLst>
                                    </p:anim>
                                    <p:animEffect transition="in" filter="fade">
                                      <p:cBhvr>
                                        <p:cTn id="9" dur="700"/>
                                        <p:tgtEl>
                                          <p:spTgt spid="101"/>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anim calcmode="lin" valueType="num">
                                      <p:cBhvr additive="base">
                                        <p:cTn id="15" dur="500" decel="100000" fill="hold"/>
                                        <p:tgtEl>
                                          <p:spTgt spid="102"/>
                                        </p:tgtEl>
                                        <p:attrNameLst>
                                          <p:attrName>ppt_x</p:attrName>
                                        </p:attrNameLst>
                                      </p:cBhvr>
                                      <p:tavLst>
                                        <p:tav tm="0">
                                          <p:val>
                                            <p:strVal val="#ppt_x-0.05"/>
                                          </p:val>
                                        </p:tav>
                                        <p:tav tm="100000">
                                          <p:val>
                                            <p:strVal val="#ppt_x"/>
                                          </p:val>
                                        </p:tav>
                                      </p:tavLst>
                                    </p:anim>
                                  </p:childTnLst>
                                </p:cTn>
                              </p:par>
                              <p:par>
                                <p:cTn id="16" presetID="42" presetClass="entr" presetSubtype="0" fill="hold" nodeType="withEffect">
                                  <p:stCondLst>
                                    <p:cond delay="200"/>
                                  </p:stCondLst>
                                  <p:childTnLst>
                                    <p:set>
                                      <p:cBhvr>
                                        <p:cTn id="17" dur="1" fill="hold">
                                          <p:stCondLst>
                                            <p:cond delay="0"/>
                                          </p:stCondLst>
                                        </p:cTn>
                                        <p:tgtEl>
                                          <p:spTgt spid="104"/>
                                        </p:tgtEl>
                                        <p:attrNameLst>
                                          <p:attrName>style.visibility</p:attrName>
                                        </p:attrNameLst>
                                      </p:cBhvr>
                                      <p:to>
                                        <p:strVal val="visible"/>
                                      </p:to>
                                    </p:set>
                                    <p:animEffect transition="in" filter="fade">
                                      <p:cBhvr>
                                        <p:cTn id="18" dur="500"/>
                                        <p:tgtEl>
                                          <p:spTgt spid="104"/>
                                        </p:tgtEl>
                                      </p:cBhvr>
                                    </p:animEffect>
                                    <p:anim calcmode="lin" valueType="num">
                                      <p:cBhvr additive="base">
                                        <p:cTn id="19" dur="500" decel="100000" fill="hold"/>
                                        <p:tgtEl>
                                          <p:spTgt spid="104"/>
                                        </p:tgtEl>
                                        <p:attrNameLst>
                                          <p:attrName>ppt_x</p:attrName>
                                        </p:attrNameLst>
                                      </p:cBhvr>
                                      <p:tavLst>
                                        <p:tav tm="0">
                                          <p:val>
                                            <p:strVal val="#ppt_x-0.05"/>
                                          </p:val>
                                        </p:tav>
                                        <p:tav tm="100000">
                                          <p:val>
                                            <p:strVal val="#ppt_x"/>
                                          </p:val>
                                        </p:tav>
                                      </p:tavLst>
                                    </p:anim>
                                  </p:childTnLst>
                                </p:cTn>
                              </p:par>
                              <p:par>
                                <p:cTn id="20" presetID="42" presetClass="entr" presetSubtype="0" fill="hold" grpId="0" nodeType="withEffect">
                                  <p:stCondLst>
                                    <p:cond delay="200"/>
                                  </p:stCondLst>
                                  <p:childTnLst>
                                    <p:set>
                                      <p:cBhvr>
                                        <p:cTn id="21" dur="1" fill="hold">
                                          <p:stCondLst>
                                            <p:cond delay="0"/>
                                          </p:stCondLst>
                                        </p:cTn>
                                        <p:tgtEl>
                                          <p:spTgt spid="103"/>
                                        </p:tgtEl>
                                        <p:attrNameLst>
                                          <p:attrName>style.visibility</p:attrName>
                                        </p:attrNameLst>
                                      </p:cBhvr>
                                      <p:to>
                                        <p:strVal val="visible"/>
                                      </p:to>
                                    </p:set>
                                    <p:animEffect transition="in" filter="fade">
                                      <p:cBhvr>
                                        <p:cTn id="22" dur="500"/>
                                        <p:tgtEl>
                                          <p:spTgt spid="103"/>
                                        </p:tgtEl>
                                      </p:cBhvr>
                                    </p:animEffect>
                                    <p:anim calcmode="lin" valueType="num">
                                      <p:cBhvr additive="base">
                                        <p:cTn id="23" dur="500" decel="100000" fill="hold"/>
                                        <p:tgtEl>
                                          <p:spTgt spid="103"/>
                                        </p:tgtEl>
                                        <p:attrNameLst>
                                          <p:attrName>ppt_x</p:attrName>
                                        </p:attrNameLst>
                                      </p:cBhvr>
                                      <p:tavLst>
                                        <p:tav tm="0">
                                          <p:val>
                                            <p:strVal val="#ppt_x-0.05"/>
                                          </p:val>
                                        </p:tav>
                                        <p:tav tm="100000">
                                          <p:val>
                                            <p:strVal val="#ppt_x"/>
                                          </p:val>
                                        </p:tav>
                                      </p:tavLst>
                                    </p:anim>
                                  </p:childTnLst>
                                </p:cTn>
                              </p:par>
                              <p:par>
                                <p:cTn id="24" presetID="42" presetClass="entr" presetSubtype="0" fill="hold" nodeType="withEffect">
                                  <p:stCondLst>
                                    <p:cond delay="400"/>
                                  </p:stCondLst>
                                  <p:childTnLst>
                                    <p:set>
                                      <p:cBhvr>
                                        <p:cTn id="25" dur="1" fill="hold">
                                          <p:stCondLst>
                                            <p:cond delay="0"/>
                                          </p:stCondLst>
                                        </p:cTn>
                                        <p:tgtEl>
                                          <p:spTgt spid="106"/>
                                        </p:tgtEl>
                                        <p:attrNameLst>
                                          <p:attrName>style.visibility</p:attrName>
                                        </p:attrNameLst>
                                      </p:cBhvr>
                                      <p:to>
                                        <p:strVal val="visible"/>
                                      </p:to>
                                    </p:set>
                                    <p:animEffect transition="in" filter="fade">
                                      <p:cBhvr>
                                        <p:cTn id="26" dur="500"/>
                                        <p:tgtEl>
                                          <p:spTgt spid="106"/>
                                        </p:tgtEl>
                                      </p:cBhvr>
                                    </p:animEffect>
                                    <p:anim calcmode="lin" valueType="num">
                                      <p:cBhvr additive="base">
                                        <p:cTn id="27" dur="500" decel="100000" fill="hold"/>
                                        <p:tgtEl>
                                          <p:spTgt spid="106"/>
                                        </p:tgtEl>
                                        <p:attrNameLst>
                                          <p:attrName>ppt_x</p:attrName>
                                        </p:attrNameLst>
                                      </p:cBhvr>
                                      <p:tavLst>
                                        <p:tav tm="0">
                                          <p:val>
                                            <p:strVal val="#ppt_x-0.05"/>
                                          </p:val>
                                        </p:tav>
                                        <p:tav tm="100000">
                                          <p:val>
                                            <p:strVal val="#ppt_x"/>
                                          </p:val>
                                        </p:tav>
                                      </p:tavLst>
                                    </p:anim>
                                  </p:childTnLst>
                                </p:cTn>
                              </p:par>
                              <p:par>
                                <p:cTn id="28" presetID="42" presetClass="entr" presetSubtype="0" fill="hold" grpId="0" nodeType="withEffect">
                                  <p:stCondLst>
                                    <p:cond delay="400"/>
                                  </p:stCondLst>
                                  <p:childTnLst>
                                    <p:set>
                                      <p:cBhvr>
                                        <p:cTn id="29" dur="1" fill="hold">
                                          <p:stCondLst>
                                            <p:cond delay="0"/>
                                          </p:stCondLst>
                                        </p:cTn>
                                        <p:tgtEl>
                                          <p:spTgt spid="105"/>
                                        </p:tgtEl>
                                        <p:attrNameLst>
                                          <p:attrName>style.visibility</p:attrName>
                                        </p:attrNameLst>
                                      </p:cBhvr>
                                      <p:to>
                                        <p:strVal val="visible"/>
                                      </p:to>
                                    </p:set>
                                    <p:animEffect transition="in" filter="fade">
                                      <p:cBhvr>
                                        <p:cTn id="30" dur="500"/>
                                        <p:tgtEl>
                                          <p:spTgt spid="105"/>
                                        </p:tgtEl>
                                      </p:cBhvr>
                                    </p:animEffect>
                                    <p:anim calcmode="lin" valueType="num">
                                      <p:cBhvr additive="base">
                                        <p:cTn id="31" dur="500" decel="100000" fill="hold"/>
                                        <p:tgtEl>
                                          <p:spTgt spid="105"/>
                                        </p:tgtEl>
                                        <p:attrNameLst>
                                          <p:attrName>ppt_x</p:attrName>
                                        </p:attrNameLst>
                                      </p:cBhvr>
                                      <p:tavLst>
                                        <p:tav tm="0">
                                          <p:val>
                                            <p:strVal val="#ppt_x-0.05"/>
                                          </p:val>
                                        </p:tav>
                                        <p:tav tm="100000">
                                          <p:val>
                                            <p:strVal val="#ppt_x"/>
                                          </p:val>
                                        </p:tav>
                                      </p:tavLst>
                                    </p:anim>
                                  </p:childTnLst>
                                </p:cTn>
                              </p:par>
                              <p:par>
                                <p:cTn id="32" presetID="42" presetClass="entr" presetSubtype="0" fill="hold" nodeType="withEffect">
                                  <p:stCondLst>
                                    <p:cond delay="600"/>
                                  </p:stCondLst>
                                  <p:childTnLst>
                                    <p:set>
                                      <p:cBhvr>
                                        <p:cTn id="33" dur="1" fill="hold">
                                          <p:stCondLst>
                                            <p:cond delay="0"/>
                                          </p:stCondLst>
                                        </p:cTn>
                                        <p:tgtEl>
                                          <p:spTgt spid="108"/>
                                        </p:tgtEl>
                                        <p:attrNameLst>
                                          <p:attrName>style.visibility</p:attrName>
                                        </p:attrNameLst>
                                      </p:cBhvr>
                                      <p:to>
                                        <p:strVal val="visible"/>
                                      </p:to>
                                    </p:set>
                                    <p:animEffect transition="in" filter="fade">
                                      <p:cBhvr>
                                        <p:cTn id="34" dur="500"/>
                                        <p:tgtEl>
                                          <p:spTgt spid="108"/>
                                        </p:tgtEl>
                                      </p:cBhvr>
                                    </p:animEffect>
                                    <p:anim calcmode="lin" valueType="num">
                                      <p:cBhvr additive="base">
                                        <p:cTn id="35" dur="500" decel="100000" fill="hold"/>
                                        <p:tgtEl>
                                          <p:spTgt spid="108"/>
                                        </p:tgtEl>
                                        <p:attrNameLst>
                                          <p:attrName>ppt_x</p:attrName>
                                        </p:attrNameLst>
                                      </p:cBhvr>
                                      <p:tavLst>
                                        <p:tav tm="0">
                                          <p:val>
                                            <p:strVal val="#ppt_x-0.05"/>
                                          </p:val>
                                        </p:tav>
                                        <p:tav tm="100000">
                                          <p:val>
                                            <p:strVal val="#ppt_x"/>
                                          </p:val>
                                        </p:tav>
                                      </p:tavLst>
                                    </p:anim>
                                  </p:childTnLst>
                                </p:cTn>
                              </p:par>
                              <p:par>
                                <p:cTn id="36" presetID="42" presetClass="entr" presetSubtype="0" fill="hold" grpId="0" nodeType="withEffect">
                                  <p:stCondLst>
                                    <p:cond delay="600"/>
                                  </p:stCondLst>
                                  <p:childTnLst>
                                    <p:set>
                                      <p:cBhvr>
                                        <p:cTn id="37" dur="1" fill="hold">
                                          <p:stCondLst>
                                            <p:cond delay="0"/>
                                          </p:stCondLst>
                                        </p:cTn>
                                        <p:tgtEl>
                                          <p:spTgt spid="107"/>
                                        </p:tgtEl>
                                        <p:attrNameLst>
                                          <p:attrName>style.visibility</p:attrName>
                                        </p:attrNameLst>
                                      </p:cBhvr>
                                      <p:to>
                                        <p:strVal val="visible"/>
                                      </p:to>
                                    </p:set>
                                    <p:animEffect transition="in" filter="fade">
                                      <p:cBhvr>
                                        <p:cTn id="38" dur="500"/>
                                        <p:tgtEl>
                                          <p:spTgt spid="107"/>
                                        </p:tgtEl>
                                      </p:cBhvr>
                                    </p:animEffect>
                                    <p:anim calcmode="lin" valueType="num">
                                      <p:cBhvr additive="base">
                                        <p:cTn id="39" dur="500" decel="100000" fill="hold"/>
                                        <p:tgtEl>
                                          <p:spTgt spid="107"/>
                                        </p:tgtEl>
                                        <p:attrNameLst>
                                          <p:attrName>ppt_x</p:attrName>
                                        </p:attrNameLst>
                                      </p:cBhvr>
                                      <p:tavLst>
                                        <p:tav tm="0">
                                          <p:val>
                                            <p:strVal val="#ppt_x-0.05"/>
                                          </p:val>
                                        </p:tav>
                                        <p:tav tm="100000">
                                          <p:val>
                                            <p:strVal val="#ppt_x"/>
                                          </p:val>
                                        </p:tav>
                                      </p:tavLst>
                                    </p:anim>
                                  </p:childTnLst>
                                </p:cTn>
                              </p:par>
                              <p:par>
                                <p:cTn id="40" presetID="42" presetClass="entr" presetSubtype="0" fill="hold" nodeType="withEffect">
                                  <p:stCondLst>
                                    <p:cond delay="800"/>
                                  </p:stCondLst>
                                  <p:childTnLst>
                                    <p:set>
                                      <p:cBhvr>
                                        <p:cTn id="41" dur="1" fill="hold">
                                          <p:stCondLst>
                                            <p:cond delay="0"/>
                                          </p:stCondLst>
                                        </p:cTn>
                                        <p:tgtEl>
                                          <p:spTgt spid="110"/>
                                        </p:tgtEl>
                                        <p:attrNameLst>
                                          <p:attrName>style.visibility</p:attrName>
                                        </p:attrNameLst>
                                      </p:cBhvr>
                                      <p:to>
                                        <p:strVal val="visible"/>
                                      </p:to>
                                    </p:set>
                                    <p:animEffect transition="in" filter="fade">
                                      <p:cBhvr>
                                        <p:cTn id="42" dur="500"/>
                                        <p:tgtEl>
                                          <p:spTgt spid="110"/>
                                        </p:tgtEl>
                                      </p:cBhvr>
                                    </p:animEffect>
                                    <p:anim calcmode="lin" valueType="num">
                                      <p:cBhvr additive="base">
                                        <p:cTn id="43" dur="500" decel="100000" fill="hold"/>
                                        <p:tgtEl>
                                          <p:spTgt spid="110"/>
                                        </p:tgtEl>
                                        <p:attrNameLst>
                                          <p:attrName>ppt_x</p:attrName>
                                        </p:attrNameLst>
                                      </p:cBhvr>
                                      <p:tavLst>
                                        <p:tav tm="0">
                                          <p:val>
                                            <p:strVal val="#ppt_x-0.05"/>
                                          </p:val>
                                        </p:tav>
                                        <p:tav tm="100000">
                                          <p:val>
                                            <p:strVal val="#ppt_x"/>
                                          </p:val>
                                        </p:tav>
                                      </p:tavLst>
                                    </p:anim>
                                  </p:childTnLst>
                                </p:cTn>
                              </p:par>
                              <p:par>
                                <p:cTn id="44" presetID="42" presetClass="entr" presetSubtype="0" fill="hold" grpId="0" nodeType="withEffect">
                                  <p:stCondLst>
                                    <p:cond delay="800"/>
                                  </p:stCondLst>
                                  <p:childTnLst>
                                    <p:set>
                                      <p:cBhvr>
                                        <p:cTn id="45" dur="1" fill="hold">
                                          <p:stCondLst>
                                            <p:cond delay="0"/>
                                          </p:stCondLst>
                                        </p:cTn>
                                        <p:tgtEl>
                                          <p:spTgt spid="109"/>
                                        </p:tgtEl>
                                        <p:attrNameLst>
                                          <p:attrName>style.visibility</p:attrName>
                                        </p:attrNameLst>
                                      </p:cBhvr>
                                      <p:to>
                                        <p:strVal val="visible"/>
                                      </p:to>
                                    </p:set>
                                    <p:animEffect transition="in" filter="fade">
                                      <p:cBhvr>
                                        <p:cTn id="46" dur="500"/>
                                        <p:tgtEl>
                                          <p:spTgt spid="109"/>
                                        </p:tgtEl>
                                      </p:cBhvr>
                                    </p:animEffect>
                                    <p:anim calcmode="lin" valueType="num">
                                      <p:cBhvr additive="base">
                                        <p:cTn id="47" dur="500" decel="100000" fill="hold"/>
                                        <p:tgtEl>
                                          <p:spTgt spid="109"/>
                                        </p:tgtEl>
                                        <p:attrNameLst>
                                          <p:attrName>ppt_x</p:attrName>
                                        </p:attrNameLst>
                                      </p:cBhvr>
                                      <p:tavLst>
                                        <p:tav tm="0">
                                          <p:val>
                                            <p:strVal val="#ppt_x-0.05"/>
                                          </p:val>
                                        </p:tav>
                                        <p:tav tm="100000">
                                          <p:val>
                                            <p:strVal val="#ppt_x"/>
                                          </p:val>
                                        </p:tav>
                                      </p:tavLst>
                                    </p:anim>
                                  </p:childTnLst>
                                </p:cTn>
                              </p:par>
                            </p:childTnLst>
                          </p:cTn>
                        </p:par>
                      </p:childTnLst>
                    </p:cTn>
                  </p:par>
                  <p:par>
                    <p:cTn id="48" fill="hold">
                      <p:stCondLst>
                        <p:cond delay="indefinite"/>
                      </p:stCondLst>
                      <p:childTnLst>
                        <p:par>
                          <p:cTn id="49" fill="hold">
                            <p:stCondLst>
                              <p:cond delay="0"/>
                            </p:stCondLst>
                            <p:childTnLst>
                              <p:par>
                                <p:cTn id="50" presetID="53" presetClass="entr" presetSubtype="16" fill="hold" grpId="0" nodeType="clickEffect">
                                  <p:stCondLst>
                                    <p:cond delay="0"/>
                                  </p:stCondLst>
                                  <p:childTnLst>
                                    <p:set>
                                      <p:cBhvr>
                                        <p:cTn id="51" dur="1" fill="hold">
                                          <p:stCondLst>
                                            <p:cond delay="0"/>
                                          </p:stCondLst>
                                        </p:cTn>
                                        <p:tgtEl>
                                          <p:spTgt spid="111"/>
                                        </p:tgtEl>
                                        <p:attrNameLst>
                                          <p:attrName>style.visibility</p:attrName>
                                        </p:attrNameLst>
                                      </p:cBhvr>
                                      <p:to>
                                        <p:strVal val="visible"/>
                                      </p:to>
                                    </p:set>
                                    <p:anim calcmode="lin" valueType="num">
                                      <p:cBhvr additive="base">
                                        <p:cTn id="52" dur="500" decel="100000" fill="hold"/>
                                        <p:tgtEl>
                                          <p:spTgt spid="111"/>
                                        </p:tgtEl>
                                        <p:attrNameLst>
                                          <p:attrName>ppt_w</p:attrName>
                                        </p:attrNameLst>
                                      </p:cBhvr>
                                      <p:tavLst>
                                        <p:tav tm="0">
                                          <p:val>
                                            <p:strVal val="#ppt_w*0.3"/>
                                          </p:val>
                                        </p:tav>
                                        <p:tav tm="100000">
                                          <p:val>
                                            <p:strVal val="#ppt_w*1.08"/>
                                          </p:val>
                                        </p:tav>
                                      </p:tavLst>
                                    </p:anim>
                                    <p:anim calcmode="lin" valueType="num">
                                      <p:cBhvr additive="base">
                                        <p:cTn id="53" dur="500" decel="100000" fill="hold"/>
                                        <p:tgtEl>
                                          <p:spTgt spid="111"/>
                                        </p:tgtEl>
                                        <p:attrNameLst>
                                          <p:attrName>ppt_h</p:attrName>
                                        </p:attrNameLst>
                                      </p:cBhvr>
                                      <p:tavLst>
                                        <p:tav tm="0">
                                          <p:val>
                                            <p:strVal val="#ppt_h*0.3"/>
                                          </p:val>
                                        </p:tav>
                                        <p:tav tm="100000">
                                          <p:val>
                                            <p:strVal val="#ppt_h*1.08"/>
                                          </p:val>
                                        </p:tav>
                                      </p:tavLst>
                                    </p:anim>
                                    <p:animEffect transition="in" filter="fade">
                                      <p:cBhvr>
                                        <p:cTn id="54" dur="250"/>
                                        <p:tgtEl>
                                          <p:spTgt spid="111"/>
                                        </p:tgtEl>
                                      </p:cBhvr>
                                    </p:animEffect>
                                    <p:anim calcmode="lin" valueType="num">
                                      <p:cBhvr additive="base">
                                        <p:cTn id="55" dur="160" fill="hold">
                                          <p:stCondLst>
                                            <p:cond delay="500"/>
                                          </p:stCondLst>
                                        </p:cTn>
                                        <p:tgtEl>
                                          <p:spTgt spid="111"/>
                                        </p:tgtEl>
                                        <p:attrNameLst>
                                          <p:attrName>ppt_w</p:attrName>
                                        </p:attrNameLst>
                                      </p:cBhvr>
                                      <p:tavLst>
                                        <p:tav tm="0">
                                          <p:val>
                                            <p:strVal val="#ppt_w*1.08"/>
                                          </p:val>
                                        </p:tav>
                                        <p:tav tm="100000">
                                          <p:val>
                                            <p:strVal val="#ppt_w"/>
                                          </p:val>
                                        </p:tav>
                                      </p:tavLst>
                                    </p:anim>
                                    <p:anim calcmode="lin" valueType="num">
                                      <p:cBhvr additive="base">
                                        <p:cTn id="56" dur="160" fill="hold">
                                          <p:stCondLst>
                                            <p:cond delay="500"/>
                                          </p:stCondLst>
                                        </p:cTn>
                                        <p:tgtEl>
                                          <p:spTgt spid="111"/>
                                        </p:tgtEl>
                                        <p:attrNameLst>
                                          <p:attrName>ppt_h</p:attrName>
                                        </p:attrNameLst>
                                      </p:cBhvr>
                                      <p:tavLst>
                                        <p:tav tm="0">
                                          <p:val>
                                            <p:strVal val="#ppt_h*1.08"/>
                                          </p:val>
                                        </p:tav>
                                        <p:tav tm="100000">
                                          <p:val>
                                            <p:strVal val="#ppt_h"/>
                                          </p:val>
                                        </p:tav>
                                      </p:tavLst>
                                    </p:anim>
                                  </p:childTnLst>
                                </p:cTn>
                              </p:par>
                              <p:par>
                                <p:cTn id="57" presetID="53" presetClass="entr" presetSubtype="16" fill="hold" grpId="0" nodeType="withEffect">
                                  <p:stCondLst>
                                    <p:cond delay="0"/>
                                  </p:stCondLst>
                                  <p:childTnLst>
                                    <p:set>
                                      <p:cBhvr>
                                        <p:cTn id="58" dur="1" fill="hold">
                                          <p:stCondLst>
                                            <p:cond delay="0"/>
                                          </p:stCondLst>
                                        </p:cTn>
                                        <p:tgtEl>
                                          <p:spTgt spid="112"/>
                                        </p:tgtEl>
                                        <p:attrNameLst>
                                          <p:attrName>style.visibility</p:attrName>
                                        </p:attrNameLst>
                                      </p:cBhvr>
                                      <p:to>
                                        <p:strVal val="visible"/>
                                      </p:to>
                                    </p:set>
                                    <p:anim calcmode="lin" valueType="num">
                                      <p:cBhvr additive="base">
                                        <p:cTn id="59" dur="500" decel="100000" fill="hold"/>
                                        <p:tgtEl>
                                          <p:spTgt spid="112"/>
                                        </p:tgtEl>
                                        <p:attrNameLst>
                                          <p:attrName>ppt_w</p:attrName>
                                        </p:attrNameLst>
                                      </p:cBhvr>
                                      <p:tavLst>
                                        <p:tav tm="0">
                                          <p:val>
                                            <p:strVal val="#ppt_w*0.3"/>
                                          </p:val>
                                        </p:tav>
                                        <p:tav tm="100000">
                                          <p:val>
                                            <p:strVal val="#ppt_w*1.08"/>
                                          </p:val>
                                        </p:tav>
                                      </p:tavLst>
                                    </p:anim>
                                    <p:anim calcmode="lin" valueType="num">
                                      <p:cBhvr additive="base">
                                        <p:cTn id="60" dur="500" decel="100000" fill="hold"/>
                                        <p:tgtEl>
                                          <p:spTgt spid="112"/>
                                        </p:tgtEl>
                                        <p:attrNameLst>
                                          <p:attrName>ppt_h</p:attrName>
                                        </p:attrNameLst>
                                      </p:cBhvr>
                                      <p:tavLst>
                                        <p:tav tm="0">
                                          <p:val>
                                            <p:strVal val="#ppt_h*0.3"/>
                                          </p:val>
                                        </p:tav>
                                        <p:tav tm="100000">
                                          <p:val>
                                            <p:strVal val="#ppt_h*1.08"/>
                                          </p:val>
                                        </p:tav>
                                      </p:tavLst>
                                    </p:anim>
                                    <p:animEffect transition="in" filter="fade">
                                      <p:cBhvr>
                                        <p:cTn id="61" dur="250"/>
                                        <p:tgtEl>
                                          <p:spTgt spid="112"/>
                                        </p:tgtEl>
                                      </p:cBhvr>
                                    </p:animEffect>
                                    <p:anim calcmode="lin" valueType="num">
                                      <p:cBhvr additive="base">
                                        <p:cTn id="62" dur="160" fill="hold">
                                          <p:stCondLst>
                                            <p:cond delay="500"/>
                                          </p:stCondLst>
                                        </p:cTn>
                                        <p:tgtEl>
                                          <p:spTgt spid="112"/>
                                        </p:tgtEl>
                                        <p:attrNameLst>
                                          <p:attrName>ppt_w</p:attrName>
                                        </p:attrNameLst>
                                      </p:cBhvr>
                                      <p:tavLst>
                                        <p:tav tm="0">
                                          <p:val>
                                            <p:strVal val="#ppt_w*1.08"/>
                                          </p:val>
                                        </p:tav>
                                        <p:tav tm="100000">
                                          <p:val>
                                            <p:strVal val="#ppt_w"/>
                                          </p:val>
                                        </p:tav>
                                      </p:tavLst>
                                    </p:anim>
                                    <p:anim calcmode="lin" valueType="num">
                                      <p:cBhvr additive="base">
                                        <p:cTn id="63" dur="160" fill="hold">
                                          <p:stCondLst>
                                            <p:cond delay="500"/>
                                          </p:stCondLst>
                                        </p:cTn>
                                        <p:tgtEl>
                                          <p:spTgt spid="112"/>
                                        </p:tgtEl>
                                        <p:attrNameLst>
                                          <p:attrName>ppt_h</p:attrName>
                                        </p:attrNameLst>
                                      </p:cBhvr>
                                      <p:tavLst>
                                        <p:tav tm="0">
                                          <p:val>
                                            <p:strVal val="#ppt_h*1.08"/>
                                          </p:val>
                                        </p:tav>
                                        <p:tav tm="100000">
                                          <p:val>
                                            <p:strVal val="#ppt_h"/>
                                          </p:val>
                                        </p:tav>
                                      </p:tavLst>
                                    </p:anim>
                                  </p:childTnLst>
                                </p:cTn>
                              </p:par>
                              <p:par>
                                <p:cTn id="64" presetID="53" presetClass="entr" presetSubtype="16" fill="hold" grpId="0" nodeType="withEffect">
                                  <p:stCondLst>
                                    <p:cond delay="100"/>
                                  </p:stCondLst>
                                  <p:childTnLst>
                                    <p:set>
                                      <p:cBhvr>
                                        <p:cTn id="65" dur="1" fill="hold">
                                          <p:stCondLst>
                                            <p:cond delay="0"/>
                                          </p:stCondLst>
                                        </p:cTn>
                                        <p:tgtEl>
                                          <p:spTgt spid="113"/>
                                        </p:tgtEl>
                                        <p:attrNameLst>
                                          <p:attrName>style.visibility</p:attrName>
                                        </p:attrNameLst>
                                      </p:cBhvr>
                                      <p:to>
                                        <p:strVal val="visible"/>
                                      </p:to>
                                    </p:set>
                                    <p:anim calcmode="lin" valueType="num">
                                      <p:cBhvr additive="base">
                                        <p:cTn id="66" dur="500" decel="100000" fill="hold"/>
                                        <p:tgtEl>
                                          <p:spTgt spid="113"/>
                                        </p:tgtEl>
                                        <p:attrNameLst>
                                          <p:attrName>ppt_w</p:attrName>
                                        </p:attrNameLst>
                                      </p:cBhvr>
                                      <p:tavLst>
                                        <p:tav tm="0">
                                          <p:val>
                                            <p:strVal val="#ppt_w*0.3"/>
                                          </p:val>
                                        </p:tav>
                                        <p:tav tm="100000">
                                          <p:val>
                                            <p:strVal val="#ppt_w*1.08"/>
                                          </p:val>
                                        </p:tav>
                                      </p:tavLst>
                                    </p:anim>
                                    <p:anim calcmode="lin" valueType="num">
                                      <p:cBhvr additive="base">
                                        <p:cTn id="67" dur="500" decel="100000" fill="hold"/>
                                        <p:tgtEl>
                                          <p:spTgt spid="113"/>
                                        </p:tgtEl>
                                        <p:attrNameLst>
                                          <p:attrName>ppt_h</p:attrName>
                                        </p:attrNameLst>
                                      </p:cBhvr>
                                      <p:tavLst>
                                        <p:tav tm="0">
                                          <p:val>
                                            <p:strVal val="#ppt_h*0.3"/>
                                          </p:val>
                                        </p:tav>
                                        <p:tav tm="100000">
                                          <p:val>
                                            <p:strVal val="#ppt_h*1.08"/>
                                          </p:val>
                                        </p:tav>
                                      </p:tavLst>
                                    </p:anim>
                                    <p:animEffect transition="in" filter="fade">
                                      <p:cBhvr>
                                        <p:cTn id="68" dur="250"/>
                                        <p:tgtEl>
                                          <p:spTgt spid="113"/>
                                        </p:tgtEl>
                                      </p:cBhvr>
                                    </p:animEffect>
                                    <p:anim calcmode="lin" valueType="num">
                                      <p:cBhvr additive="base">
                                        <p:cTn id="69" dur="160" fill="hold">
                                          <p:stCondLst>
                                            <p:cond delay="500"/>
                                          </p:stCondLst>
                                        </p:cTn>
                                        <p:tgtEl>
                                          <p:spTgt spid="113"/>
                                        </p:tgtEl>
                                        <p:attrNameLst>
                                          <p:attrName>ppt_w</p:attrName>
                                        </p:attrNameLst>
                                      </p:cBhvr>
                                      <p:tavLst>
                                        <p:tav tm="0">
                                          <p:val>
                                            <p:strVal val="#ppt_w*1.08"/>
                                          </p:val>
                                        </p:tav>
                                        <p:tav tm="100000">
                                          <p:val>
                                            <p:strVal val="#ppt_w"/>
                                          </p:val>
                                        </p:tav>
                                      </p:tavLst>
                                    </p:anim>
                                    <p:anim calcmode="lin" valueType="num">
                                      <p:cBhvr additive="base">
                                        <p:cTn id="70" dur="160" fill="hold">
                                          <p:stCondLst>
                                            <p:cond delay="500"/>
                                          </p:stCondLst>
                                        </p:cTn>
                                        <p:tgtEl>
                                          <p:spTgt spid="113"/>
                                        </p:tgtEl>
                                        <p:attrNameLst>
                                          <p:attrName>ppt_h</p:attrName>
                                        </p:attrNameLst>
                                      </p:cBhvr>
                                      <p:tavLst>
                                        <p:tav tm="0">
                                          <p:val>
                                            <p:strVal val="#ppt_h*1.08"/>
                                          </p:val>
                                        </p:tav>
                                        <p:tav tm="100000">
                                          <p:val>
                                            <p:strVal val="#ppt_h"/>
                                          </p:val>
                                        </p:tav>
                                      </p:tavLst>
                                    </p:anim>
                                  </p:childTnLst>
                                </p:cTn>
                              </p:par>
                              <p:par>
                                <p:cTn id="71" presetID="53" presetClass="entr" presetSubtype="16" fill="hold" grpId="0" nodeType="withEffect">
                                  <p:stCondLst>
                                    <p:cond delay="100"/>
                                  </p:stCondLst>
                                  <p:childTnLst>
                                    <p:set>
                                      <p:cBhvr>
                                        <p:cTn id="72" dur="1" fill="hold">
                                          <p:stCondLst>
                                            <p:cond delay="0"/>
                                          </p:stCondLst>
                                        </p:cTn>
                                        <p:tgtEl>
                                          <p:spTgt spid="114"/>
                                        </p:tgtEl>
                                        <p:attrNameLst>
                                          <p:attrName>style.visibility</p:attrName>
                                        </p:attrNameLst>
                                      </p:cBhvr>
                                      <p:to>
                                        <p:strVal val="visible"/>
                                      </p:to>
                                    </p:set>
                                    <p:anim calcmode="lin" valueType="num">
                                      <p:cBhvr additive="base">
                                        <p:cTn id="73" dur="500" decel="100000" fill="hold"/>
                                        <p:tgtEl>
                                          <p:spTgt spid="114"/>
                                        </p:tgtEl>
                                        <p:attrNameLst>
                                          <p:attrName>ppt_w</p:attrName>
                                        </p:attrNameLst>
                                      </p:cBhvr>
                                      <p:tavLst>
                                        <p:tav tm="0">
                                          <p:val>
                                            <p:strVal val="#ppt_w*0.3"/>
                                          </p:val>
                                        </p:tav>
                                        <p:tav tm="100000">
                                          <p:val>
                                            <p:strVal val="#ppt_w*1.08"/>
                                          </p:val>
                                        </p:tav>
                                      </p:tavLst>
                                    </p:anim>
                                    <p:anim calcmode="lin" valueType="num">
                                      <p:cBhvr additive="base">
                                        <p:cTn id="74" dur="500" decel="100000" fill="hold"/>
                                        <p:tgtEl>
                                          <p:spTgt spid="114"/>
                                        </p:tgtEl>
                                        <p:attrNameLst>
                                          <p:attrName>ppt_h</p:attrName>
                                        </p:attrNameLst>
                                      </p:cBhvr>
                                      <p:tavLst>
                                        <p:tav tm="0">
                                          <p:val>
                                            <p:strVal val="#ppt_h*0.3"/>
                                          </p:val>
                                        </p:tav>
                                        <p:tav tm="100000">
                                          <p:val>
                                            <p:strVal val="#ppt_h*1.08"/>
                                          </p:val>
                                        </p:tav>
                                      </p:tavLst>
                                    </p:anim>
                                    <p:animEffect transition="in" filter="fade">
                                      <p:cBhvr>
                                        <p:cTn id="75" dur="250"/>
                                        <p:tgtEl>
                                          <p:spTgt spid="114"/>
                                        </p:tgtEl>
                                      </p:cBhvr>
                                    </p:animEffect>
                                    <p:anim calcmode="lin" valueType="num">
                                      <p:cBhvr additive="base">
                                        <p:cTn id="76" dur="160" fill="hold">
                                          <p:stCondLst>
                                            <p:cond delay="500"/>
                                          </p:stCondLst>
                                        </p:cTn>
                                        <p:tgtEl>
                                          <p:spTgt spid="114"/>
                                        </p:tgtEl>
                                        <p:attrNameLst>
                                          <p:attrName>ppt_w</p:attrName>
                                        </p:attrNameLst>
                                      </p:cBhvr>
                                      <p:tavLst>
                                        <p:tav tm="0">
                                          <p:val>
                                            <p:strVal val="#ppt_w*1.08"/>
                                          </p:val>
                                        </p:tav>
                                        <p:tav tm="100000">
                                          <p:val>
                                            <p:strVal val="#ppt_w"/>
                                          </p:val>
                                        </p:tav>
                                      </p:tavLst>
                                    </p:anim>
                                    <p:anim calcmode="lin" valueType="num">
                                      <p:cBhvr additive="base">
                                        <p:cTn id="77" dur="160" fill="hold">
                                          <p:stCondLst>
                                            <p:cond delay="500"/>
                                          </p:stCondLst>
                                        </p:cTn>
                                        <p:tgtEl>
                                          <p:spTgt spid="114"/>
                                        </p:tgtEl>
                                        <p:attrNameLst>
                                          <p:attrName>ppt_h</p:attrName>
                                        </p:attrNameLst>
                                      </p:cBhvr>
                                      <p:tavLst>
                                        <p:tav tm="0">
                                          <p:val>
                                            <p:strVal val="#ppt_h*1.08"/>
                                          </p:val>
                                        </p:tav>
                                        <p:tav tm="100000">
                                          <p:val>
                                            <p:strVal val="#ppt_h"/>
                                          </p:val>
                                        </p:tav>
                                      </p:tavLst>
                                    </p:anim>
                                  </p:childTnLst>
                                </p:cTn>
                              </p:par>
                              <p:par>
                                <p:cTn id="78" presetID="53" presetClass="entr" presetSubtype="16" fill="hold" grpId="0" nodeType="withEffect">
                                  <p:stCondLst>
                                    <p:cond delay="200"/>
                                  </p:stCondLst>
                                  <p:childTnLst>
                                    <p:set>
                                      <p:cBhvr>
                                        <p:cTn id="79" dur="1" fill="hold">
                                          <p:stCondLst>
                                            <p:cond delay="0"/>
                                          </p:stCondLst>
                                        </p:cTn>
                                        <p:tgtEl>
                                          <p:spTgt spid="115"/>
                                        </p:tgtEl>
                                        <p:attrNameLst>
                                          <p:attrName>style.visibility</p:attrName>
                                        </p:attrNameLst>
                                      </p:cBhvr>
                                      <p:to>
                                        <p:strVal val="visible"/>
                                      </p:to>
                                    </p:set>
                                    <p:anim calcmode="lin" valueType="num">
                                      <p:cBhvr additive="base">
                                        <p:cTn id="80" dur="500" decel="100000" fill="hold"/>
                                        <p:tgtEl>
                                          <p:spTgt spid="115"/>
                                        </p:tgtEl>
                                        <p:attrNameLst>
                                          <p:attrName>ppt_w</p:attrName>
                                        </p:attrNameLst>
                                      </p:cBhvr>
                                      <p:tavLst>
                                        <p:tav tm="0">
                                          <p:val>
                                            <p:strVal val="#ppt_w*0.3"/>
                                          </p:val>
                                        </p:tav>
                                        <p:tav tm="100000">
                                          <p:val>
                                            <p:strVal val="#ppt_w*1.08"/>
                                          </p:val>
                                        </p:tav>
                                      </p:tavLst>
                                    </p:anim>
                                    <p:anim calcmode="lin" valueType="num">
                                      <p:cBhvr additive="base">
                                        <p:cTn id="81" dur="500" decel="100000" fill="hold"/>
                                        <p:tgtEl>
                                          <p:spTgt spid="115"/>
                                        </p:tgtEl>
                                        <p:attrNameLst>
                                          <p:attrName>ppt_h</p:attrName>
                                        </p:attrNameLst>
                                      </p:cBhvr>
                                      <p:tavLst>
                                        <p:tav tm="0">
                                          <p:val>
                                            <p:strVal val="#ppt_h*0.3"/>
                                          </p:val>
                                        </p:tav>
                                        <p:tav tm="100000">
                                          <p:val>
                                            <p:strVal val="#ppt_h*1.08"/>
                                          </p:val>
                                        </p:tav>
                                      </p:tavLst>
                                    </p:anim>
                                    <p:animEffect transition="in" filter="fade">
                                      <p:cBhvr>
                                        <p:cTn id="82" dur="250"/>
                                        <p:tgtEl>
                                          <p:spTgt spid="115"/>
                                        </p:tgtEl>
                                      </p:cBhvr>
                                    </p:animEffect>
                                    <p:anim calcmode="lin" valueType="num">
                                      <p:cBhvr additive="base">
                                        <p:cTn id="83" dur="160" fill="hold">
                                          <p:stCondLst>
                                            <p:cond delay="500"/>
                                          </p:stCondLst>
                                        </p:cTn>
                                        <p:tgtEl>
                                          <p:spTgt spid="115"/>
                                        </p:tgtEl>
                                        <p:attrNameLst>
                                          <p:attrName>ppt_w</p:attrName>
                                        </p:attrNameLst>
                                      </p:cBhvr>
                                      <p:tavLst>
                                        <p:tav tm="0">
                                          <p:val>
                                            <p:strVal val="#ppt_w*1.08"/>
                                          </p:val>
                                        </p:tav>
                                        <p:tav tm="100000">
                                          <p:val>
                                            <p:strVal val="#ppt_w"/>
                                          </p:val>
                                        </p:tav>
                                      </p:tavLst>
                                    </p:anim>
                                    <p:anim calcmode="lin" valueType="num">
                                      <p:cBhvr additive="base">
                                        <p:cTn id="84" dur="160" fill="hold">
                                          <p:stCondLst>
                                            <p:cond delay="500"/>
                                          </p:stCondLst>
                                        </p:cTn>
                                        <p:tgtEl>
                                          <p:spTgt spid="115"/>
                                        </p:tgtEl>
                                        <p:attrNameLst>
                                          <p:attrName>ppt_h</p:attrName>
                                        </p:attrNameLst>
                                      </p:cBhvr>
                                      <p:tavLst>
                                        <p:tav tm="0">
                                          <p:val>
                                            <p:strVal val="#ppt_h*1.08"/>
                                          </p:val>
                                        </p:tav>
                                        <p:tav tm="100000">
                                          <p:val>
                                            <p:strVal val="#ppt_h"/>
                                          </p:val>
                                        </p:tav>
                                      </p:tavLst>
                                    </p:anim>
                                  </p:childTnLst>
                                </p:cTn>
                              </p:par>
                              <p:par>
                                <p:cTn id="85" presetID="53" presetClass="entr" presetSubtype="16" fill="hold" grpId="0" nodeType="withEffect">
                                  <p:stCondLst>
                                    <p:cond delay="200"/>
                                  </p:stCondLst>
                                  <p:childTnLst>
                                    <p:set>
                                      <p:cBhvr>
                                        <p:cTn id="86" dur="1" fill="hold">
                                          <p:stCondLst>
                                            <p:cond delay="0"/>
                                          </p:stCondLst>
                                        </p:cTn>
                                        <p:tgtEl>
                                          <p:spTgt spid="116"/>
                                        </p:tgtEl>
                                        <p:attrNameLst>
                                          <p:attrName>style.visibility</p:attrName>
                                        </p:attrNameLst>
                                      </p:cBhvr>
                                      <p:to>
                                        <p:strVal val="visible"/>
                                      </p:to>
                                    </p:set>
                                    <p:anim calcmode="lin" valueType="num">
                                      <p:cBhvr additive="base">
                                        <p:cTn id="87" dur="500" decel="100000" fill="hold"/>
                                        <p:tgtEl>
                                          <p:spTgt spid="116"/>
                                        </p:tgtEl>
                                        <p:attrNameLst>
                                          <p:attrName>ppt_w</p:attrName>
                                        </p:attrNameLst>
                                      </p:cBhvr>
                                      <p:tavLst>
                                        <p:tav tm="0">
                                          <p:val>
                                            <p:strVal val="#ppt_w*0.3"/>
                                          </p:val>
                                        </p:tav>
                                        <p:tav tm="100000">
                                          <p:val>
                                            <p:strVal val="#ppt_w*1.08"/>
                                          </p:val>
                                        </p:tav>
                                      </p:tavLst>
                                    </p:anim>
                                    <p:anim calcmode="lin" valueType="num">
                                      <p:cBhvr additive="base">
                                        <p:cTn id="88" dur="500" decel="100000" fill="hold"/>
                                        <p:tgtEl>
                                          <p:spTgt spid="116"/>
                                        </p:tgtEl>
                                        <p:attrNameLst>
                                          <p:attrName>ppt_h</p:attrName>
                                        </p:attrNameLst>
                                      </p:cBhvr>
                                      <p:tavLst>
                                        <p:tav tm="0">
                                          <p:val>
                                            <p:strVal val="#ppt_h*0.3"/>
                                          </p:val>
                                        </p:tav>
                                        <p:tav tm="100000">
                                          <p:val>
                                            <p:strVal val="#ppt_h*1.08"/>
                                          </p:val>
                                        </p:tav>
                                      </p:tavLst>
                                    </p:anim>
                                    <p:animEffect transition="in" filter="fade">
                                      <p:cBhvr>
                                        <p:cTn id="89" dur="250"/>
                                        <p:tgtEl>
                                          <p:spTgt spid="116"/>
                                        </p:tgtEl>
                                      </p:cBhvr>
                                    </p:animEffect>
                                    <p:anim calcmode="lin" valueType="num">
                                      <p:cBhvr additive="base">
                                        <p:cTn id="90" dur="160" fill="hold">
                                          <p:stCondLst>
                                            <p:cond delay="500"/>
                                          </p:stCondLst>
                                        </p:cTn>
                                        <p:tgtEl>
                                          <p:spTgt spid="116"/>
                                        </p:tgtEl>
                                        <p:attrNameLst>
                                          <p:attrName>ppt_w</p:attrName>
                                        </p:attrNameLst>
                                      </p:cBhvr>
                                      <p:tavLst>
                                        <p:tav tm="0">
                                          <p:val>
                                            <p:strVal val="#ppt_w*1.08"/>
                                          </p:val>
                                        </p:tav>
                                        <p:tav tm="100000">
                                          <p:val>
                                            <p:strVal val="#ppt_w"/>
                                          </p:val>
                                        </p:tav>
                                      </p:tavLst>
                                    </p:anim>
                                    <p:anim calcmode="lin" valueType="num">
                                      <p:cBhvr additive="base">
                                        <p:cTn id="91" dur="160" fill="hold">
                                          <p:stCondLst>
                                            <p:cond delay="500"/>
                                          </p:stCondLst>
                                        </p:cTn>
                                        <p:tgtEl>
                                          <p:spTgt spid="116"/>
                                        </p:tgtEl>
                                        <p:attrNameLst>
                                          <p:attrName>ppt_h</p:attrName>
                                        </p:attrNameLst>
                                      </p:cBhvr>
                                      <p:tavLst>
                                        <p:tav tm="0">
                                          <p:val>
                                            <p:strVal val="#ppt_h*1.08"/>
                                          </p:val>
                                        </p:tav>
                                        <p:tav tm="100000">
                                          <p:val>
                                            <p:strVal val="#ppt_h"/>
                                          </p:val>
                                        </p:tav>
                                      </p:tavLst>
                                    </p:anim>
                                  </p:childTnLst>
                                </p:cTn>
                              </p:par>
                              <p:par>
                                <p:cTn id="92" presetID="53" presetClass="entr" presetSubtype="16" fill="hold" grpId="0" nodeType="withEffect">
                                  <p:stCondLst>
                                    <p:cond delay="300"/>
                                  </p:stCondLst>
                                  <p:childTnLst>
                                    <p:set>
                                      <p:cBhvr>
                                        <p:cTn id="93" dur="1" fill="hold">
                                          <p:stCondLst>
                                            <p:cond delay="0"/>
                                          </p:stCondLst>
                                        </p:cTn>
                                        <p:tgtEl>
                                          <p:spTgt spid="117"/>
                                        </p:tgtEl>
                                        <p:attrNameLst>
                                          <p:attrName>style.visibility</p:attrName>
                                        </p:attrNameLst>
                                      </p:cBhvr>
                                      <p:to>
                                        <p:strVal val="visible"/>
                                      </p:to>
                                    </p:set>
                                    <p:anim calcmode="lin" valueType="num">
                                      <p:cBhvr additive="base">
                                        <p:cTn id="94" dur="500" decel="100000" fill="hold"/>
                                        <p:tgtEl>
                                          <p:spTgt spid="117"/>
                                        </p:tgtEl>
                                        <p:attrNameLst>
                                          <p:attrName>ppt_w</p:attrName>
                                        </p:attrNameLst>
                                      </p:cBhvr>
                                      <p:tavLst>
                                        <p:tav tm="0">
                                          <p:val>
                                            <p:strVal val="#ppt_w*0.3"/>
                                          </p:val>
                                        </p:tav>
                                        <p:tav tm="100000">
                                          <p:val>
                                            <p:strVal val="#ppt_w*1.08"/>
                                          </p:val>
                                        </p:tav>
                                      </p:tavLst>
                                    </p:anim>
                                    <p:anim calcmode="lin" valueType="num">
                                      <p:cBhvr additive="base">
                                        <p:cTn id="95" dur="500" decel="100000" fill="hold"/>
                                        <p:tgtEl>
                                          <p:spTgt spid="117"/>
                                        </p:tgtEl>
                                        <p:attrNameLst>
                                          <p:attrName>ppt_h</p:attrName>
                                        </p:attrNameLst>
                                      </p:cBhvr>
                                      <p:tavLst>
                                        <p:tav tm="0">
                                          <p:val>
                                            <p:strVal val="#ppt_h*0.3"/>
                                          </p:val>
                                        </p:tav>
                                        <p:tav tm="100000">
                                          <p:val>
                                            <p:strVal val="#ppt_h*1.08"/>
                                          </p:val>
                                        </p:tav>
                                      </p:tavLst>
                                    </p:anim>
                                    <p:animEffect transition="in" filter="fade">
                                      <p:cBhvr>
                                        <p:cTn id="96" dur="250"/>
                                        <p:tgtEl>
                                          <p:spTgt spid="117"/>
                                        </p:tgtEl>
                                      </p:cBhvr>
                                    </p:animEffect>
                                    <p:anim calcmode="lin" valueType="num">
                                      <p:cBhvr additive="base">
                                        <p:cTn id="97" dur="160" fill="hold">
                                          <p:stCondLst>
                                            <p:cond delay="500"/>
                                          </p:stCondLst>
                                        </p:cTn>
                                        <p:tgtEl>
                                          <p:spTgt spid="117"/>
                                        </p:tgtEl>
                                        <p:attrNameLst>
                                          <p:attrName>ppt_w</p:attrName>
                                        </p:attrNameLst>
                                      </p:cBhvr>
                                      <p:tavLst>
                                        <p:tav tm="0">
                                          <p:val>
                                            <p:strVal val="#ppt_w*1.08"/>
                                          </p:val>
                                        </p:tav>
                                        <p:tav tm="100000">
                                          <p:val>
                                            <p:strVal val="#ppt_w"/>
                                          </p:val>
                                        </p:tav>
                                      </p:tavLst>
                                    </p:anim>
                                    <p:anim calcmode="lin" valueType="num">
                                      <p:cBhvr additive="base">
                                        <p:cTn id="98" dur="160" fill="hold">
                                          <p:stCondLst>
                                            <p:cond delay="500"/>
                                          </p:stCondLst>
                                        </p:cTn>
                                        <p:tgtEl>
                                          <p:spTgt spid="117"/>
                                        </p:tgtEl>
                                        <p:attrNameLst>
                                          <p:attrName>ppt_h</p:attrName>
                                        </p:attrNameLst>
                                      </p:cBhvr>
                                      <p:tavLst>
                                        <p:tav tm="0">
                                          <p:val>
                                            <p:strVal val="#ppt_h*1.08"/>
                                          </p:val>
                                        </p:tav>
                                        <p:tav tm="100000">
                                          <p:val>
                                            <p:strVal val="#ppt_h"/>
                                          </p:val>
                                        </p:tav>
                                      </p:tavLst>
                                    </p:anim>
                                  </p:childTnLst>
                                </p:cTn>
                              </p:par>
                              <p:par>
                                <p:cTn id="99" presetID="53" presetClass="entr" presetSubtype="16" fill="hold" grpId="0" nodeType="withEffect">
                                  <p:stCondLst>
                                    <p:cond delay="300"/>
                                  </p:stCondLst>
                                  <p:childTnLst>
                                    <p:set>
                                      <p:cBhvr>
                                        <p:cTn id="100" dur="1" fill="hold">
                                          <p:stCondLst>
                                            <p:cond delay="0"/>
                                          </p:stCondLst>
                                        </p:cTn>
                                        <p:tgtEl>
                                          <p:spTgt spid="118"/>
                                        </p:tgtEl>
                                        <p:attrNameLst>
                                          <p:attrName>style.visibility</p:attrName>
                                        </p:attrNameLst>
                                      </p:cBhvr>
                                      <p:to>
                                        <p:strVal val="visible"/>
                                      </p:to>
                                    </p:set>
                                    <p:anim calcmode="lin" valueType="num">
                                      <p:cBhvr additive="base">
                                        <p:cTn id="101" dur="500" decel="100000" fill="hold"/>
                                        <p:tgtEl>
                                          <p:spTgt spid="118"/>
                                        </p:tgtEl>
                                        <p:attrNameLst>
                                          <p:attrName>ppt_w</p:attrName>
                                        </p:attrNameLst>
                                      </p:cBhvr>
                                      <p:tavLst>
                                        <p:tav tm="0">
                                          <p:val>
                                            <p:strVal val="#ppt_w*0.3"/>
                                          </p:val>
                                        </p:tav>
                                        <p:tav tm="100000">
                                          <p:val>
                                            <p:strVal val="#ppt_w*1.08"/>
                                          </p:val>
                                        </p:tav>
                                      </p:tavLst>
                                    </p:anim>
                                    <p:anim calcmode="lin" valueType="num">
                                      <p:cBhvr additive="base">
                                        <p:cTn id="102" dur="500" decel="100000" fill="hold"/>
                                        <p:tgtEl>
                                          <p:spTgt spid="118"/>
                                        </p:tgtEl>
                                        <p:attrNameLst>
                                          <p:attrName>ppt_h</p:attrName>
                                        </p:attrNameLst>
                                      </p:cBhvr>
                                      <p:tavLst>
                                        <p:tav tm="0">
                                          <p:val>
                                            <p:strVal val="#ppt_h*0.3"/>
                                          </p:val>
                                        </p:tav>
                                        <p:tav tm="100000">
                                          <p:val>
                                            <p:strVal val="#ppt_h*1.08"/>
                                          </p:val>
                                        </p:tav>
                                      </p:tavLst>
                                    </p:anim>
                                    <p:animEffect transition="in" filter="fade">
                                      <p:cBhvr>
                                        <p:cTn id="103" dur="250"/>
                                        <p:tgtEl>
                                          <p:spTgt spid="118"/>
                                        </p:tgtEl>
                                      </p:cBhvr>
                                    </p:animEffect>
                                    <p:anim calcmode="lin" valueType="num">
                                      <p:cBhvr additive="base">
                                        <p:cTn id="104" dur="160" fill="hold">
                                          <p:stCondLst>
                                            <p:cond delay="500"/>
                                          </p:stCondLst>
                                        </p:cTn>
                                        <p:tgtEl>
                                          <p:spTgt spid="118"/>
                                        </p:tgtEl>
                                        <p:attrNameLst>
                                          <p:attrName>ppt_w</p:attrName>
                                        </p:attrNameLst>
                                      </p:cBhvr>
                                      <p:tavLst>
                                        <p:tav tm="0">
                                          <p:val>
                                            <p:strVal val="#ppt_w*1.08"/>
                                          </p:val>
                                        </p:tav>
                                        <p:tav tm="100000">
                                          <p:val>
                                            <p:strVal val="#ppt_w"/>
                                          </p:val>
                                        </p:tav>
                                      </p:tavLst>
                                    </p:anim>
                                    <p:anim calcmode="lin" valueType="num">
                                      <p:cBhvr additive="base">
                                        <p:cTn id="105" dur="160" fill="hold">
                                          <p:stCondLst>
                                            <p:cond delay="500"/>
                                          </p:stCondLst>
                                        </p:cTn>
                                        <p:tgtEl>
                                          <p:spTgt spid="118"/>
                                        </p:tgtEl>
                                        <p:attrNameLst>
                                          <p:attrName>ppt_h</p:attrName>
                                        </p:attrNameLst>
                                      </p:cBhvr>
                                      <p:tavLst>
                                        <p:tav tm="0">
                                          <p:val>
                                            <p:strVal val="#ppt_h*1.08"/>
                                          </p:val>
                                        </p:tav>
                                        <p:tav tm="100000">
                                          <p:val>
                                            <p:strVal val="#ppt_h"/>
                                          </p:val>
                                        </p:tav>
                                      </p:tavLst>
                                    </p:anim>
                                  </p:childTnLst>
                                </p:cTn>
                              </p:par>
                              <p:par>
                                <p:cTn id="106" presetID="53" presetClass="entr" presetSubtype="16" fill="hold" grpId="0" nodeType="withEffect">
                                  <p:stCondLst>
                                    <p:cond delay="400"/>
                                  </p:stCondLst>
                                  <p:childTnLst>
                                    <p:set>
                                      <p:cBhvr>
                                        <p:cTn id="107" dur="1" fill="hold">
                                          <p:stCondLst>
                                            <p:cond delay="0"/>
                                          </p:stCondLst>
                                        </p:cTn>
                                        <p:tgtEl>
                                          <p:spTgt spid="119"/>
                                        </p:tgtEl>
                                        <p:attrNameLst>
                                          <p:attrName>style.visibility</p:attrName>
                                        </p:attrNameLst>
                                      </p:cBhvr>
                                      <p:to>
                                        <p:strVal val="visible"/>
                                      </p:to>
                                    </p:set>
                                    <p:anim calcmode="lin" valueType="num">
                                      <p:cBhvr additive="base">
                                        <p:cTn id="108" dur="500" decel="100000" fill="hold"/>
                                        <p:tgtEl>
                                          <p:spTgt spid="119"/>
                                        </p:tgtEl>
                                        <p:attrNameLst>
                                          <p:attrName>ppt_w</p:attrName>
                                        </p:attrNameLst>
                                      </p:cBhvr>
                                      <p:tavLst>
                                        <p:tav tm="0">
                                          <p:val>
                                            <p:strVal val="#ppt_w*0.3"/>
                                          </p:val>
                                        </p:tav>
                                        <p:tav tm="100000">
                                          <p:val>
                                            <p:strVal val="#ppt_w*1.08"/>
                                          </p:val>
                                        </p:tav>
                                      </p:tavLst>
                                    </p:anim>
                                    <p:anim calcmode="lin" valueType="num">
                                      <p:cBhvr additive="base">
                                        <p:cTn id="109" dur="500" decel="100000" fill="hold"/>
                                        <p:tgtEl>
                                          <p:spTgt spid="119"/>
                                        </p:tgtEl>
                                        <p:attrNameLst>
                                          <p:attrName>ppt_h</p:attrName>
                                        </p:attrNameLst>
                                      </p:cBhvr>
                                      <p:tavLst>
                                        <p:tav tm="0">
                                          <p:val>
                                            <p:strVal val="#ppt_h*0.3"/>
                                          </p:val>
                                        </p:tav>
                                        <p:tav tm="100000">
                                          <p:val>
                                            <p:strVal val="#ppt_h*1.08"/>
                                          </p:val>
                                        </p:tav>
                                      </p:tavLst>
                                    </p:anim>
                                    <p:animEffect transition="in" filter="fade">
                                      <p:cBhvr>
                                        <p:cTn id="110" dur="250"/>
                                        <p:tgtEl>
                                          <p:spTgt spid="119"/>
                                        </p:tgtEl>
                                      </p:cBhvr>
                                    </p:animEffect>
                                    <p:anim calcmode="lin" valueType="num">
                                      <p:cBhvr additive="base">
                                        <p:cTn id="111" dur="160" fill="hold">
                                          <p:stCondLst>
                                            <p:cond delay="500"/>
                                          </p:stCondLst>
                                        </p:cTn>
                                        <p:tgtEl>
                                          <p:spTgt spid="119"/>
                                        </p:tgtEl>
                                        <p:attrNameLst>
                                          <p:attrName>ppt_w</p:attrName>
                                        </p:attrNameLst>
                                      </p:cBhvr>
                                      <p:tavLst>
                                        <p:tav tm="0">
                                          <p:val>
                                            <p:strVal val="#ppt_w*1.08"/>
                                          </p:val>
                                        </p:tav>
                                        <p:tav tm="100000">
                                          <p:val>
                                            <p:strVal val="#ppt_w"/>
                                          </p:val>
                                        </p:tav>
                                      </p:tavLst>
                                    </p:anim>
                                    <p:anim calcmode="lin" valueType="num">
                                      <p:cBhvr additive="base">
                                        <p:cTn id="112" dur="160" fill="hold">
                                          <p:stCondLst>
                                            <p:cond delay="500"/>
                                          </p:stCondLst>
                                        </p:cTn>
                                        <p:tgtEl>
                                          <p:spTgt spid="119"/>
                                        </p:tgtEl>
                                        <p:attrNameLst>
                                          <p:attrName>ppt_h</p:attrName>
                                        </p:attrNameLst>
                                      </p:cBhvr>
                                      <p:tavLst>
                                        <p:tav tm="0">
                                          <p:val>
                                            <p:strVal val="#ppt_h*1.08"/>
                                          </p:val>
                                        </p:tav>
                                        <p:tav tm="100000">
                                          <p:val>
                                            <p:strVal val="#ppt_h"/>
                                          </p:val>
                                        </p:tav>
                                      </p:tavLst>
                                    </p:anim>
                                  </p:childTnLst>
                                </p:cTn>
                              </p:par>
                              <p:par>
                                <p:cTn id="113" presetID="53" presetClass="entr" presetSubtype="16" fill="hold" grpId="0" nodeType="withEffect">
                                  <p:stCondLst>
                                    <p:cond delay="400"/>
                                  </p:stCondLst>
                                  <p:childTnLst>
                                    <p:set>
                                      <p:cBhvr>
                                        <p:cTn id="114" dur="1" fill="hold">
                                          <p:stCondLst>
                                            <p:cond delay="0"/>
                                          </p:stCondLst>
                                        </p:cTn>
                                        <p:tgtEl>
                                          <p:spTgt spid="120"/>
                                        </p:tgtEl>
                                        <p:attrNameLst>
                                          <p:attrName>style.visibility</p:attrName>
                                        </p:attrNameLst>
                                      </p:cBhvr>
                                      <p:to>
                                        <p:strVal val="visible"/>
                                      </p:to>
                                    </p:set>
                                    <p:anim calcmode="lin" valueType="num">
                                      <p:cBhvr additive="base">
                                        <p:cTn id="115" dur="500" decel="100000" fill="hold"/>
                                        <p:tgtEl>
                                          <p:spTgt spid="120"/>
                                        </p:tgtEl>
                                        <p:attrNameLst>
                                          <p:attrName>ppt_w</p:attrName>
                                        </p:attrNameLst>
                                      </p:cBhvr>
                                      <p:tavLst>
                                        <p:tav tm="0">
                                          <p:val>
                                            <p:strVal val="#ppt_w*0.3"/>
                                          </p:val>
                                        </p:tav>
                                        <p:tav tm="100000">
                                          <p:val>
                                            <p:strVal val="#ppt_w*1.08"/>
                                          </p:val>
                                        </p:tav>
                                      </p:tavLst>
                                    </p:anim>
                                    <p:anim calcmode="lin" valueType="num">
                                      <p:cBhvr additive="base">
                                        <p:cTn id="116" dur="500" decel="100000" fill="hold"/>
                                        <p:tgtEl>
                                          <p:spTgt spid="120"/>
                                        </p:tgtEl>
                                        <p:attrNameLst>
                                          <p:attrName>ppt_h</p:attrName>
                                        </p:attrNameLst>
                                      </p:cBhvr>
                                      <p:tavLst>
                                        <p:tav tm="0">
                                          <p:val>
                                            <p:strVal val="#ppt_h*0.3"/>
                                          </p:val>
                                        </p:tav>
                                        <p:tav tm="100000">
                                          <p:val>
                                            <p:strVal val="#ppt_h*1.08"/>
                                          </p:val>
                                        </p:tav>
                                      </p:tavLst>
                                    </p:anim>
                                    <p:animEffect transition="in" filter="fade">
                                      <p:cBhvr>
                                        <p:cTn id="117" dur="250"/>
                                        <p:tgtEl>
                                          <p:spTgt spid="120"/>
                                        </p:tgtEl>
                                      </p:cBhvr>
                                    </p:animEffect>
                                    <p:anim calcmode="lin" valueType="num">
                                      <p:cBhvr additive="base">
                                        <p:cTn id="118" dur="160" fill="hold">
                                          <p:stCondLst>
                                            <p:cond delay="500"/>
                                          </p:stCondLst>
                                        </p:cTn>
                                        <p:tgtEl>
                                          <p:spTgt spid="120"/>
                                        </p:tgtEl>
                                        <p:attrNameLst>
                                          <p:attrName>ppt_w</p:attrName>
                                        </p:attrNameLst>
                                      </p:cBhvr>
                                      <p:tavLst>
                                        <p:tav tm="0">
                                          <p:val>
                                            <p:strVal val="#ppt_w*1.08"/>
                                          </p:val>
                                        </p:tav>
                                        <p:tav tm="100000">
                                          <p:val>
                                            <p:strVal val="#ppt_w"/>
                                          </p:val>
                                        </p:tav>
                                      </p:tavLst>
                                    </p:anim>
                                    <p:anim calcmode="lin" valueType="num">
                                      <p:cBhvr additive="base">
                                        <p:cTn id="119" dur="160" fill="hold">
                                          <p:stCondLst>
                                            <p:cond delay="500"/>
                                          </p:stCondLst>
                                        </p:cTn>
                                        <p:tgtEl>
                                          <p:spTgt spid="120"/>
                                        </p:tgtEl>
                                        <p:attrNameLst>
                                          <p:attrName>ppt_h</p:attrName>
                                        </p:attrNameLst>
                                      </p:cBhvr>
                                      <p:tavLst>
                                        <p:tav tm="0">
                                          <p:val>
                                            <p:strVal val="#ppt_h*1.08"/>
                                          </p:val>
                                        </p:tav>
                                        <p:tav tm="100000">
                                          <p:val>
                                            <p:strVal val="#ppt_h"/>
                                          </p:val>
                                        </p:tav>
                                      </p:tavLst>
                                    </p:anim>
                                  </p:childTnLst>
                                </p:cTn>
                              </p:par>
                              <p:par>
                                <p:cTn id="120" presetID="53" presetClass="entr" presetSubtype="16" fill="hold" grpId="0" nodeType="withEffect">
                                  <p:stCondLst>
                                    <p:cond delay="500"/>
                                  </p:stCondLst>
                                  <p:childTnLst>
                                    <p:set>
                                      <p:cBhvr>
                                        <p:cTn id="121" dur="1" fill="hold">
                                          <p:stCondLst>
                                            <p:cond delay="0"/>
                                          </p:stCondLst>
                                        </p:cTn>
                                        <p:tgtEl>
                                          <p:spTgt spid="121"/>
                                        </p:tgtEl>
                                        <p:attrNameLst>
                                          <p:attrName>style.visibility</p:attrName>
                                        </p:attrNameLst>
                                      </p:cBhvr>
                                      <p:to>
                                        <p:strVal val="visible"/>
                                      </p:to>
                                    </p:set>
                                    <p:anim calcmode="lin" valueType="num">
                                      <p:cBhvr additive="base">
                                        <p:cTn id="122" dur="500" decel="100000" fill="hold"/>
                                        <p:tgtEl>
                                          <p:spTgt spid="121"/>
                                        </p:tgtEl>
                                        <p:attrNameLst>
                                          <p:attrName>ppt_w</p:attrName>
                                        </p:attrNameLst>
                                      </p:cBhvr>
                                      <p:tavLst>
                                        <p:tav tm="0">
                                          <p:val>
                                            <p:strVal val="#ppt_w*0.3"/>
                                          </p:val>
                                        </p:tav>
                                        <p:tav tm="100000">
                                          <p:val>
                                            <p:strVal val="#ppt_w*1.08"/>
                                          </p:val>
                                        </p:tav>
                                      </p:tavLst>
                                    </p:anim>
                                    <p:anim calcmode="lin" valueType="num">
                                      <p:cBhvr additive="base">
                                        <p:cTn id="123" dur="500" decel="100000" fill="hold"/>
                                        <p:tgtEl>
                                          <p:spTgt spid="121"/>
                                        </p:tgtEl>
                                        <p:attrNameLst>
                                          <p:attrName>ppt_h</p:attrName>
                                        </p:attrNameLst>
                                      </p:cBhvr>
                                      <p:tavLst>
                                        <p:tav tm="0">
                                          <p:val>
                                            <p:strVal val="#ppt_h*0.3"/>
                                          </p:val>
                                        </p:tav>
                                        <p:tav tm="100000">
                                          <p:val>
                                            <p:strVal val="#ppt_h*1.08"/>
                                          </p:val>
                                        </p:tav>
                                      </p:tavLst>
                                    </p:anim>
                                    <p:animEffect transition="in" filter="fade">
                                      <p:cBhvr>
                                        <p:cTn id="124" dur="250"/>
                                        <p:tgtEl>
                                          <p:spTgt spid="121"/>
                                        </p:tgtEl>
                                      </p:cBhvr>
                                    </p:animEffect>
                                    <p:anim calcmode="lin" valueType="num">
                                      <p:cBhvr additive="base">
                                        <p:cTn id="125" dur="160" fill="hold">
                                          <p:stCondLst>
                                            <p:cond delay="500"/>
                                          </p:stCondLst>
                                        </p:cTn>
                                        <p:tgtEl>
                                          <p:spTgt spid="121"/>
                                        </p:tgtEl>
                                        <p:attrNameLst>
                                          <p:attrName>ppt_w</p:attrName>
                                        </p:attrNameLst>
                                      </p:cBhvr>
                                      <p:tavLst>
                                        <p:tav tm="0">
                                          <p:val>
                                            <p:strVal val="#ppt_w*1.08"/>
                                          </p:val>
                                        </p:tav>
                                        <p:tav tm="100000">
                                          <p:val>
                                            <p:strVal val="#ppt_w"/>
                                          </p:val>
                                        </p:tav>
                                      </p:tavLst>
                                    </p:anim>
                                    <p:anim calcmode="lin" valueType="num">
                                      <p:cBhvr additive="base">
                                        <p:cTn id="126" dur="160" fill="hold">
                                          <p:stCondLst>
                                            <p:cond delay="500"/>
                                          </p:stCondLst>
                                        </p:cTn>
                                        <p:tgtEl>
                                          <p:spTgt spid="121"/>
                                        </p:tgtEl>
                                        <p:attrNameLst>
                                          <p:attrName>ppt_h</p:attrName>
                                        </p:attrNameLst>
                                      </p:cBhvr>
                                      <p:tavLst>
                                        <p:tav tm="0">
                                          <p:val>
                                            <p:strVal val="#ppt_h*1.08"/>
                                          </p:val>
                                        </p:tav>
                                        <p:tav tm="100000">
                                          <p:val>
                                            <p:strVal val="#ppt_h"/>
                                          </p:val>
                                        </p:tav>
                                      </p:tavLst>
                                    </p:anim>
                                  </p:childTnLst>
                                </p:cTn>
                              </p:par>
                              <p:par>
                                <p:cTn id="127" presetID="53" presetClass="entr" presetSubtype="16" fill="hold" grpId="0" nodeType="withEffect">
                                  <p:stCondLst>
                                    <p:cond delay="500"/>
                                  </p:stCondLst>
                                  <p:childTnLst>
                                    <p:set>
                                      <p:cBhvr>
                                        <p:cTn id="128" dur="1" fill="hold">
                                          <p:stCondLst>
                                            <p:cond delay="0"/>
                                          </p:stCondLst>
                                        </p:cTn>
                                        <p:tgtEl>
                                          <p:spTgt spid="122"/>
                                        </p:tgtEl>
                                        <p:attrNameLst>
                                          <p:attrName>style.visibility</p:attrName>
                                        </p:attrNameLst>
                                      </p:cBhvr>
                                      <p:to>
                                        <p:strVal val="visible"/>
                                      </p:to>
                                    </p:set>
                                    <p:anim calcmode="lin" valueType="num">
                                      <p:cBhvr additive="base">
                                        <p:cTn id="129" dur="500" decel="100000" fill="hold"/>
                                        <p:tgtEl>
                                          <p:spTgt spid="122"/>
                                        </p:tgtEl>
                                        <p:attrNameLst>
                                          <p:attrName>ppt_w</p:attrName>
                                        </p:attrNameLst>
                                      </p:cBhvr>
                                      <p:tavLst>
                                        <p:tav tm="0">
                                          <p:val>
                                            <p:strVal val="#ppt_w*0.3"/>
                                          </p:val>
                                        </p:tav>
                                        <p:tav tm="100000">
                                          <p:val>
                                            <p:strVal val="#ppt_w*1.08"/>
                                          </p:val>
                                        </p:tav>
                                      </p:tavLst>
                                    </p:anim>
                                    <p:anim calcmode="lin" valueType="num">
                                      <p:cBhvr additive="base">
                                        <p:cTn id="130" dur="500" decel="100000" fill="hold"/>
                                        <p:tgtEl>
                                          <p:spTgt spid="122"/>
                                        </p:tgtEl>
                                        <p:attrNameLst>
                                          <p:attrName>ppt_h</p:attrName>
                                        </p:attrNameLst>
                                      </p:cBhvr>
                                      <p:tavLst>
                                        <p:tav tm="0">
                                          <p:val>
                                            <p:strVal val="#ppt_h*0.3"/>
                                          </p:val>
                                        </p:tav>
                                        <p:tav tm="100000">
                                          <p:val>
                                            <p:strVal val="#ppt_h*1.08"/>
                                          </p:val>
                                        </p:tav>
                                      </p:tavLst>
                                    </p:anim>
                                    <p:animEffect transition="in" filter="fade">
                                      <p:cBhvr>
                                        <p:cTn id="131" dur="250"/>
                                        <p:tgtEl>
                                          <p:spTgt spid="122"/>
                                        </p:tgtEl>
                                      </p:cBhvr>
                                    </p:animEffect>
                                    <p:anim calcmode="lin" valueType="num">
                                      <p:cBhvr additive="base">
                                        <p:cTn id="132" dur="160" fill="hold">
                                          <p:stCondLst>
                                            <p:cond delay="500"/>
                                          </p:stCondLst>
                                        </p:cTn>
                                        <p:tgtEl>
                                          <p:spTgt spid="122"/>
                                        </p:tgtEl>
                                        <p:attrNameLst>
                                          <p:attrName>ppt_w</p:attrName>
                                        </p:attrNameLst>
                                      </p:cBhvr>
                                      <p:tavLst>
                                        <p:tav tm="0">
                                          <p:val>
                                            <p:strVal val="#ppt_w*1.08"/>
                                          </p:val>
                                        </p:tav>
                                        <p:tav tm="100000">
                                          <p:val>
                                            <p:strVal val="#ppt_w"/>
                                          </p:val>
                                        </p:tav>
                                      </p:tavLst>
                                    </p:anim>
                                    <p:anim calcmode="lin" valueType="num">
                                      <p:cBhvr additive="base">
                                        <p:cTn id="133" dur="160" fill="hold">
                                          <p:stCondLst>
                                            <p:cond delay="500"/>
                                          </p:stCondLst>
                                        </p:cTn>
                                        <p:tgtEl>
                                          <p:spTgt spid="122"/>
                                        </p:tgtEl>
                                        <p:attrNameLst>
                                          <p:attrName>ppt_h</p:attrName>
                                        </p:attrNameLst>
                                      </p:cBhvr>
                                      <p:tavLst>
                                        <p:tav tm="0">
                                          <p:val>
                                            <p:strVal val="#ppt_h*1.08"/>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5" grpId="0" animBg="1"/>
      <p:bldP spid="107" grpId="0" animBg="1"/>
      <p:bldP spid="109"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STOP &amp; ASK</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Quiz: Who Sets the Number?</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Sarah needs the booking story to fit the Sprint.</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303</a:t>
            </a:r>
            <a:endParaRPr lang="en-US" sz="850" dirty="0"/>
          </a:p>
        </p:txBody>
      </p:sp>
      <p:sp>
        <p:nvSpPr>
          <p:cNvPr id="101" name="s101"/>
          <p:cNvSpPr/>
          <p:nvPr/>
        </p:nvSpPr>
        <p:spPr>
          <a:xfrm>
            <a:off x="543154" y="1920240"/>
            <a:ext cx="5486400" cy="3017520"/>
          </a:xfrm>
          <a:prstGeom prst="roundRect">
            <a:avLst>
              <a:gd name="adj" fmla="val 4000"/>
            </a:avLst>
          </a:prstGeom>
          <a:solidFill>
            <a:srgbClr val="060D18"/>
          </a:solidFill>
          <a:ln w="12700">
            <a:solidFill>
              <a:srgbClr val="1E3A5F"/>
            </a:solidFill>
            <a:prstDash val="solid"/>
          </a:ln>
        </p:spPr>
        <p:txBody>
          <a:bodyPr wrap="square" lIns="274320" tIns="228600" rIns="274320" bIns="182880" rtlCol="0" anchor="t">
            <a:noAutofit/>
          </a:bodyPr>
          <a:lstStyle/>
          <a:p>
            <a:pPr marL="0" indent="0" algn="l">
              <a:spcBef>
                <a:spcPts val="0"/>
              </a:spcBef>
              <a:spcAft>
                <a:spcPts val="800"/>
              </a:spcAft>
              <a:buNone/>
            </a:pPr>
            <a:r>
              <a:rPr lang="en-US" sz="1000" b="1" dirty="0">
                <a:solidFill>
                  <a:srgbClr val="FBBF24"/>
                </a:solidFill>
                <a:latin typeface="Segoe UI"/>
                <a:ea typeface="Segoe UI"/>
                <a:cs typeface="Segoe UI"/>
              </a:rPr>
              <a:t>SCENARIO</a:t>
            </a:r>
            <a:endParaRPr lang="en-US" sz="1000" dirty="0"/>
          </a:p>
          <a:p>
            <a:pPr marL="0" indent="0" algn="l">
              <a:spcBef>
                <a:spcPts val="0"/>
              </a:spcBef>
              <a:spcAft>
                <a:spcPts val="800"/>
              </a:spcAft>
              <a:buNone/>
            </a:pPr>
            <a:r>
              <a:rPr lang="en-US" sz="1400" b="0" dirty="0">
                <a:solidFill>
                  <a:srgbClr val="E2E8F0"/>
                </a:solidFill>
                <a:latin typeface="Segoe UI"/>
                <a:ea typeface="Segoe UI"/>
                <a:cs typeface="Segoe UI"/>
              </a:rPr>
              <a:t>Sarah: “Can we call it 3 points? Then it fits.”</a:t>
            </a:r>
            <a:endParaRPr lang="en-US" sz="1400" dirty="0"/>
          </a:p>
          <a:p>
            <a:pPr marL="0" indent="0" algn="l">
              <a:spcBef>
                <a:spcPts val="0"/>
              </a:spcBef>
              <a:spcAft>
                <a:spcPts val="800"/>
              </a:spcAft>
              <a:buNone/>
            </a:pPr>
            <a:r>
              <a:rPr lang="en-US" sz="1400" b="0" dirty="0">
                <a:solidFill>
                  <a:srgbClr val="E2E8F0"/>
                </a:solidFill>
                <a:latin typeface="Segoe UI"/>
                <a:ea typeface="Segoe UI"/>
                <a:cs typeface="Segoe UI"/>
              </a:rPr>
              <a:t>Omar, Lina and Maya think it is 8 because of concurrency and overlap tests.</a:t>
            </a:r>
            <a:endParaRPr lang="en-US" sz="1400" dirty="0"/>
          </a:p>
        </p:txBody>
      </p:sp>
      <p:sp>
        <p:nvSpPr>
          <p:cNvPr id="102" name="s102"/>
          <p:cNvSpPr/>
          <p:nvPr/>
        </p:nvSpPr>
        <p:spPr>
          <a:xfrm>
            <a:off x="6303874" y="1920240"/>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A   </a:t>
            </a:r>
            <a:r>
              <a:rPr lang="en-US" sz="1400" b="0" dirty="0">
                <a:solidFill>
                  <a:srgbClr val="E2E8F0"/>
                </a:solidFill>
                <a:latin typeface="Segoe UI"/>
                <a:ea typeface="Segoe UI"/>
                <a:cs typeface="Segoe UI"/>
              </a:rPr>
              <a:t>The Product Owner, because she owns the backlog</a:t>
            </a:r>
            <a:endParaRPr lang="en-US" sz="1400" dirty="0"/>
          </a:p>
        </p:txBody>
      </p:sp>
      <p:sp>
        <p:nvSpPr>
          <p:cNvPr id="103" name="s103"/>
          <p:cNvSpPr/>
          <p:nvPr/>
        </p:nvSpPr>
        <p:spPr>
          <a:xfrm>
            <a:off x="6303874" y="2706624"/>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B   </a:t>
            </a:r>
            <a:r>
              <a:rPr lang="en-US" sz="1400" b="0" dirty="0">
                <a:solidFill>
                  <a:srgbClr val="E2E8F0"/>
                </a:solidFill>
                <a:latin typeface="Segoe UI"/>
                <a:ea typeface="Segoe UI"/>
                <a:cs typeface="Segoe UI"/>
              </a:rPr>
              <a:t>The Scrum Master, to keep it fair</a:t>
            </a:r>
            <a:endParaRPr lang="en-US" sz="1400" dirty="0"/>
          </a:p>
        </p:txBody>
      </p:sp>
      <p:sp>
        <p:nvSpPr>
          <p:cNvPr id="104" name="s104"/>
          <p:cNvSpPr/>
          <p:nvPr/>
        </p:nvSpPr>
        <p:spPr>
          <a:xfrm>
            <a:off x="6303874" y="3493008"/>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C   </a:t>
            </a:r>
            <a:r>
              <a:rPr lang="en-US" sz="1400" b="0" dirty="0">
                <a:solidFill>
                  <a:srgbClr val="E2E8F0"/>
                </a:solidFill>
                <a:latin typeface="Segoe UI"/>
                <a:ea typeface="Segoe UI"/>
                <a:cs typeface="Segoe UI"/>
              </a:rPr>
              <a:t>The Developers, after discussing it</a:t>
            </a:r>
            <a:endParaRPr lang="en-US" sz="1400" dirty="0"/>
          </a:p>
        </p:txBody>
      </p:sp>
      <p:sp>
        <p:nvSpPr>
          <p:cNvPr id="105" name="s105"/>
          <p:cNvSpPr/>
          <p:nvPr/>
        </p:nvSpPr>
        <p:spPr>
          <a:xfrm>
            <a:off x="6303874" y="4279392"/>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D   </a:t>
            </a:r>
            <a:r>
              <a:rPr lang="en-US" sz="1400" b="0" dirty="0">
                <a:solidFill>
                  <a:srgbClr val="E2E8F0"/>
                </a:solidFill>
                <a:latin typeface="Segoe UI"/>
                <a:ea typeface="Segoe UI"/>
                <a:cs typeface="Segoe UI"/>
              </a:rPr>
              <a:t>The hospital manager, who pays</a:t>
            </a:r>
            <a:endParaRPr lang="en-US" sz="1400" dirty="0"/>
          </a:p>
        </p:txBody>
      </p:sp>
      <p:sp>
        <p:nvSpPr>
          <p:cNvPr id="106" name="s106"/>
          <p:cNvSpPr/>
          <p:nvPr/>
        </p:nvSpPr>
        <p:spPr>
          <a:xfrm>
            <a:off x="6303874" y="3493008"/>
            <a:ext cx="5327294" cy="658368"/>
          </a:xfrm>
          <a:prstGeom prst="roundRect">
            <a:avLst>
              <a:gd name="adj" fmla="val 10000"/>
            </a:avLst>
          </a:prstGeom>
          <a:solidFill>
            <a:srgbClr val="123A33"/>
          </a:solidFill>
          <a:ln w="28575">
            <a:solidFill>
              <a:srgbClr val="34D399"/>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34D399"/>
                </a:solidFill>
                <a:latin typeface="Segoe UI"/>
                <a:ea typeface="Segoe UI"/>
                <a:cs typeface="Segoe UI"/>
              </a:rPr>
              <a:t>C   </a:t>
            </a:r>
            <a:r>
              <a:rPr lang="en-US" sz="1400" b="1" dirty="0">
                <a:solidFill>
                  <a:srgbClr val="FFFFFF"/>
                </a:solidFill>
                <a:latin typeface="Segoe UI"/>
                <a:ea typeface="Segoe UI"/>
                <a:cs typeface="Segoe UI"/>
              </a:rPr>
              <a:t>The Developers, after discussing it</a:t>
            </a:r>
            <a:endParaRPr lang="en-US" sz="1400" dirty="0"/>
          </a:p>
        </p:txBody>
      </p:sp>
      <p:pic>
        <p:nvPicPr>
          <p:cNvPr id="107" name="img107"/>
          <p:cNvPicPr>
            <a:picLocks noChangeAspect="1"/>
          </p:cNvPicPr>
          <p:nvPr/>
        </p:nvPicPr>
        <p:blipFill>
          <a:blip r:embed="rId4"/>
          <a:stretch>
            <a:fillRect/>
          </a:stretch>
        </p:blipFill>
        <p:spPr>
          <a:xfrm>
            <a:off x="11064240" y="3611880"/>
            <a:ext cx="420624" cy="420624"/>
          </a:xfrm>
          <a:prstGeom prst="rect">
            <a:avLst/>
          </a:prstGeom>
        </p:spPr>
      </p:pic>
      <p:sp>
        <p:nvSpPr>
          <p:cNvPr id="108" name="s108"/>
          <p:cNvSpPr/>
          <p:nvPr/>
        </p:nvSpPr>
        <p:spPr>
          <a:xfrm>
            <a:off x="543154" y="5074920"/>
            <a:ext cx="11088014" cy="566928"/>
          </a:xfrm>
          <a:prstGeom prst="roundRect">
            <a:avLst>
              <a:gd name="adj" fmla="val 12000"/>
            </a:avLst>
          </a:prstGeom>
          <a:solidFill>
            <a:srgbClr val="111B2E"/>
          </a:solidFill>
          <a:ln w="12700">
            <a:solidFill>
              <a:srgbClr val="34D399"/>
            </a:solidFill>
            <a:prstDash val="solid"/>
          </a:ln>
        </p:spPr>
        <p:txBody>
          <a:bodyPr wrap="square" lIns="228600" tIns="0" rIns="228600" bIns="0" rtlCol="0" anchor="ctr">
            <a:noAutofit/>
          </a:bodyPr>
          <a:lstStyle/>
          <a:p>
            <a:pPr marL="0" indent="0" algn="ctr">
              <a:spcBef>
                <a:spcPts val="0"/>
              </a:spcBef>
              <a:spcAft>
                <a:spcPts val="0"/>
              </a:spcAft>
              <a:buNone/>
            </a:pPr>
            <a:r>
              <a:rPr lang="en-US" sz="1300" b="1" dirty="0">
                <a:solidFill>
                  <a:srgbClr val="34D399"/>
                </a:solidFill>
                <a:latin typeface="Segoe UI"/>
                <a:ea typeface="Segoe UI"/>
                <a:cs typeface="Segoe UI"/>
              </a:rPr>
              <a:t>ANSWER C   </a:t>
            </a:r>
            <a:r>
              <a:rPr lang="en-US" sz="1300" b="0" dirty="0">
                <a:solidFill>
                  <a:srgbClr val="E2E8F0"/>
                </a:solidFill>
                <a:latin typeface="Segoe UI"/>
                <a:ea typeface="Segoe UI"/>
                <a:cs typeface="Segoe UI"/>
              </a:rPr>
              <a:t>Developers estimate the work they will do. Sarah clarifies value and can split or reorder, but she does not set the number.</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11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22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33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44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grpId="0" nodeType="clickEffect">
                                  <p:stCondLst>
                                    <p:cond delay="0"/>
                                  </p:stCondLst>
                                  <p:childTnLst>
                                    <p:set>
                                      <p:cBhvr>
                                        <p:cTn id="28" dur="1" fill="hold">
                                          <p:stCondLst>
                                            <p:cond delay="0"/>
                                          </p:stCondLst>
                                        </p:cTn>
                                        <p:tgtEl>
                                          <p:spTgt spid="106"/>
                                        </p:tgtEl>
                                        <p:attrNameLst>
                                          <p:attrName>style.visibility</p:attrName>
                                        </p:attrNameLst>
                                      </p:cBhvr>
                                      <p:to>
                                        <p:strVal val="visible"/>
                                      </p:to>
                                    </p:set>
                                    <p:anim calcmode="lin" valueType="num">
                                      <p:cBhvr additive="base">
                                        <p:cTn id="29"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30" dur="500" decel="100000" fill="hold"/>
                                        <p:tgtEl>
                                          <p:spTgt spid="106"/>
                                        </p:tgtEl>
                                        <p:attrNameLst>
                                          <p:attrName>ppt_h</p:attrName>
                                        </p:attrNameLst>
                                      </p:cBhvr>
                                      <p:tavLst>
                                        <p:tav tm="0">
                                          <p:val>
                                            <p:strVal val="#ppt_h*0.3"/>
                                          </p:val>
                                        </p:tav>
                                        <p:tav tm="100000">
                                          <p:val>
                                            <p:strVal val="#ppt_h*1.08"/>
                                          </p:val>
                                        </p:tav>
                                      </p:tavLst>
                                    </p:anim>
                                    <p:animEffect transition="in" filter="fade">
                                      <p:cBhvr>
                                        <p:cTn id="31" dur="250"/>
                                        <p:tgtEl>
                                          <p:spTgt spid="106"/>
                                        </p:tgtEl>
                                      </p:cBhvr>
                                    </p:animEffect>
                                    <p:anim calcmode="lin" valueType="num">
                                      <p:cBhvr additive="base">
                                        <p:cTn id="32"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33"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par>
                                <p:cTn id="34" presetID="53" presetClass="entr" presetSubtype="16" fill="hold" nodeType="withEffect">
                                  <p:stCondLst>
                                    <p:cond delay="200"/>
                                  </p:stCondLst>
                                  <p:childTnLst>
                                    <p:set>
                                      <p:cBhvr>
                                        <p:cTn id="35" dur="1" fill="hold">
                                          <p:stCondLst>
                                            <p:cond delay="0"/>
                                          </p:stCondLst>
                                        </p:cTn>
                                        <p:tgtEl>
                                          <p:spTgt spid="107"/>
                                        </p:tgtEl>
                                        <p:attrNameLst>
                                          <p:attrName>style.visibility</p:attrName>
                                        </p:attrNameLst>
                                      </p:cBhvr>
                                      <p:to>
                                        <p:strVal val="visible"/>
                                      </p:to>
                                    </p:set>
                                    <p:anim calcmode="lin" valueType="num">
                                      <p:cBhvr additive="base">
                                        <p:cTn id="36"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7" dur="500" decel="100000" fill="hold"/>
                                        <p:tgtEl>
                                          <p:spTgt spid="107"/>
                                        </p:tgtEl>
                                        <p:attrNameLst>
                                          <p:attrName>ppt_h</p:attrName>
                                        </p:attrNameLst>
                                      </p:cBhvr>
                                      <p:tavLst>
                                        <p:tav tm="0">
                                          <p:val>
                                            <p:strVal val="#ppt_h*0.55"/>
                                          </p:val>
                                        </p:tav>
                                        <p:tav tm="100000">
                                          <p:val>
                                            <p:strVal val="#ppt_h"/>
                                          </p:val>
                                        </p:tav>
                                      </p:tavLst>
                                    </p:anim>
                                    <p:animEffect transition="in" filter="fade">
                                      <p:cBhvr>
                                        <p:cTn id="38" dur="500"/>
                                        <p:tgtEl>
                                          <p:spTgt spid="107"/>
                                        </p:tgtEl>
                                      </p:cBhvr>
                                    </p:animEffect>
                                  </p:childTnLst>
                                </p:cTn>
                              </p:par>
                              <p:par>
                                <p:cTn id="39" presetID="42" presetClass="entr" presetSubtype="0" fill="hold" grpId="0" nodeType="withEffect">
                                  <p:stCondLst>
                                    <p:cond delay="400"/>
                                  </p:stCondLst>
                                  <p:childTnLst>
                                    <p:set>
                                      <p:cBhvr>
                                        <p:cTn id="40" dur="1" fill="hold">
                                          <p:stCondLst>
                                            <p:cond delay="0"/>
                                          </p:stCondLst>
                                        </p:cTn>
                                        <p:tgtEl>
                                          <p:spTgt spid="108"/>
                                        </p:tgtEl>
                                        <p:attrNameLst>
                                          <p:attrName>style.visibility</p:attrName>
                                        </p:attrNameLst>
                                      </p:cBhvr>
                                      <p:to>
                                        <p:strVal val="visible"/>
                                      </p:to>
                                    </p:set>
                                    <p:animEffect transition="in" filter="fade">
                                      <p:cBhvr>
                                        <p:cTn id="41" dur="500"/>
                                        <p:tgtEl>
                                          <p:spTgt spid="108"/>
                                        </p:tgtEl>
                                      </p:cBhvr>
                                    </p:animEffect>
                                    <p:anim calcmode="lin" valueType="num">
                                      <p:cBhvr additive="base">
                                        <p:cTn id="42" dur="500" decel="100000" fill="hold"/>
                                        <p:tgtEl>
                                          <p:spTgt spid="10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8"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STOP &amp; ASK</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Quiz: Is It Done?</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The API works on Omar's machine.</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304</a:t>
            </a:r>
            <a:endParaRPr lang="en-US" sz="850" dirty="0"/>
          </a:p>
        </p:txBody>
      </p:sp>
      <p:sp>
        <p:nvSpPr>
          <p:cNvPr id="101" name="s101"/>
          <p:cNvSpPr/>
          <p:nvPr/>
        </p:nvSpPr>
        <p:spPr>
          <a:xfrm>
            <a:off x="543154" y="1920240"/>
            <a:ext cx="5486400" cy="3017520"/>
          </a:xfrm>
          <a:prstGeom prst="roundRect">
            <a:avLst>
              <a:gd name="adj" fmla="val 4000"/>
            </a:avLst>
          </a:prstGeom>
          <a:solidFill>
            <a:srgbClr val="060D18"/>
          </a:solidFill>
          <a:ln w="12700">
            <a:solidFill>
              <a:srgbClr val="1E3A5F"/>
            </a:solidFill>
            <a:prstDash val="solid"/>
          </a:ln>
        </p:spPr>
        <p:txBody>
          <a:bodyPr wrap="square" lIns="274320" tIns="228600" rIns="274320" bIns="182880" rtlCol="0" anchor="t">
            <a:noAutofit/>
          </a:bodyPr>
          <a:lstStyle/>
          <a:p>
            <a:pPr marL="0" indent="0" algn="l">
              <a:spcBef>
                <a:spcPts val="0"/>
              </a:spcBef>
              <a:spcAft>
                <a:spcPts val="800"/>
              </a:spcAft>
              <a:buNone/>
            </a:pPr>
            <a:r>
              <a:rPr lang="en-US" sz="1000" b="1" dirty="0">
                <a:solidFill>
                  <a:srgbClr val="FBBF24"/>
                </a:solidFill>
                <a:latin typeface="Segoe UI"/>
                <a:ea typeface="Segoe UI"/>
                <a:cs typeface="Segoe UI"/>
              </a:rPr>
              <a:t>SCENARIO</a:t>
            </a:r>
            <a:endParaRPr lang="en-US" sz="1000" dirty="0"/>
          </a:p>
          <a:p>
            <a:pPr marL="0" indent="0" algn="l">
              <a:spcBef>
                <a:spcPts val="0"/>
              </a:spcBef>
              <a:spcAft>
                <a:spcPts val="800"/>
              </a:spcAft>
              <a:buNone/>
            </a:pPr>
            <a:r>
              <a:rPr lang="en-US" sz="1400" b="0" dirty="0">
                <a:solidFill>
                  <a:srgbClr val="E2E8F0"/>
                </a:solidFill>
                <a:latin typeface="Segoe UI"/>
                <a:ea typeface="Segoe UI"/>
                <a:cs typeface="Segoe UI"/>
              </a:rPr>
              <a:t>Booking API: works locally ✓</a:t>
            </a:r>
            <a:endParaRPr lang="en-US" sz="1400" dirty="0"/>
          </a:p>
          <a:p>
            <a:pPr marL="0" indent="0" algn="l">
              <a:spcBef>
                <a:spcPts val="0"/>
              </a:spcBef>
              <a:spcAft>
                <a:spcPts val="800"/>
              </a:spcAft>
              <a:buNone/>
            </a:pPr>
            <a:r>
              <a:rPr lang="en-US" sz="1400" b="0" dirty="0">
                <a:solidFill>
                  <a:srgbClr val="E2E8F0"/>
                </a:solidFill>
                <a:latin typeface="Segoe UI"/>
                <a:ea typeface="Segoe UI"/>
                <a:cs typeface="Segoe UI"/>
              </a:rPr>
              <a:t>Code reviewed ✓</a:t>
            </a:r>
            <a:endParaRPr lang="en-US" sz="1400" dirty="0"/>
          </a:p>
          <a:p>
            <a:pPr marL="0" indent="0" algn="l">
              <a:spcBef>
                <a:spcPts val="0"/>
              </a:spcBef>
              <a:spcAft>
                <a:spcPts val="800"/>
              </a:spcAft>
              <a:buNone/>
            </a:pPr>
            <a:r>
              <a:rPr lang="en-US" sz="1400" b="0" dirty="0">
                <a:solidFill>
                  <a:srgbClr val="E2E8F0"/>
                </a:solidFill>
                <a:latin typeface="Segoe UI"/>
                <a:ea typeface="Segoe UI"/>
                <a:cs typeface="Segoe UI"/>
              </a:rPr>
              <a:t>Integration tests: not yet</a:t>
            </a:r>
            <a:endParaRPr lang="en-US" sz="1400" dirty="0"/>
          </a:p>
          <a:p>
            <a:pPr marL="0" indent="0" algn="l">
              <a:spcBef>
                <a:spcPts val="0"/>
              </a:spcBef>
              <a:spcAft>
                <a:spcPts val="800"/>
              </a:spcAft>
              <a:buNone/>
            </a:pPr>
            <a:r>
              <a:rPr lang="en-US" sz="1400" b="0" dirty="0">
                <a:solidFill>
                  <a:srgbClr val="E2E8F0"/>
                </a:solidFill>
                <a:latin typeface="Segoe UI"/>
                <a:ea typeface="Segoe UI"/>
                <a:cs typeface="Segoe UI"/>
              </a:rPr>
              <a:t>Deployed to staging: no</a:t>
            </a:r>
            <a:endParaRPr lang="en-US" sz="1400" dirty="0"/>
          </a:p>
        </p:txBody>
      </p:sp>
      <p:sp>
        <p:nvSpPr>
          <p:cNvPr id="102" name="s102"/>
          <p:cNvSpPr/>
          <p:nvPr/>
        </p:nvSpPr>
        <p:spPr>
          <a:xfrm>
            <a:off x="6303874" y="1920240"/>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A   </a:t>
            </a:r>
            <a:r>
              <a:rPr lang="en-US" sz="1400" b="0" dirty="0">
                <a:solidFill>
                  <a:srgbClr val="E2E8F0"/>
                </a:solidFill>
                <a:latin typeface="Segoe UI"/>
                <a:ea typeface="Segoe UI"/>
                <a:cs typeface="Segoe UI"/>
              </a:rPr>
              <a:t>Yes: the API works</a:t>
            </a:r>
            <a:endParaRPr lang="en-US" sz="1400" dirty="0"/>
          </a:p>
        </p:txBody>
      </p:sp>
      <p:sp>
        <p:nvSpPr>
          <p:cNvPr id="103" name="s103"/>
          <p:cNvSpPr/>
          <p:nvPr/>
        </p:nvSpPr>
        <p:spPr>
          <a:xfrm>
            <a:off x="6303874" y="2706624"/>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B   </a:t>
            </a:r>
            <a:r>
              <a:rPr lang="en-US" sz="1400" b="0" dirty="0">
                <a:solidFill>
                  <a:srgbClr val="E2E8F0"/>
                </a:solidFill>
                <a:latin typeface="Segoe UI"/>
                <a:ea typeface="Segoe UI"/>
                <a:cs typeface="Segoe UI"/>
              </a:rPr>
              <a:t>Yes, if Sarah approves it</a:t>
            </a:r>
            <a:endParaRPr lang="en-US" sz="1400" dirty="0"/>
          </a:p>
        </p:txBody>
      </p:sp>
      <p:sp>
        <p:nvSpPr>
          <p:cNvPr id="104" name="s104"/>
          <p:cNvSpPr/>
          <p:nvPr/>
        </p:nvSpPr>
        <p:spPr>
          <a:xfrm>
            <a:off x="6303874" y="3493008"/>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C   </a:t>
            </a:r>
            <a:r>
              <a:rPr lang="en-US" sz="1400" b="0" dirty="0">
                <a:solidFill>
                  <a:srgbClr val="E2E8F0"/>
                </a:solidFill>
                <a:latin typeface="Segoe UI"/>
                <a:ea typeface="Segoe UI"/>
                <a:cs typeface="Segoe UI"/>
              </a:rPr>
              <a:t>No: it does not meet the Definition of Done</a:t>
            </a:r>
            <a:endParaRPr lang="en-US" sz="1400" dirty="0"/>
          </a:p>
        </p:txBody>
      </p:sp>
      <p:sp>
        <p:nvSpPr>
          <p:cNvPr id="105" name="s105"/>
          <p:cNvSpPr/>
          <p:nvPr/>
        </p:nvSpPr>
        <p:spPr>
          <a:xfrm>
            <a:off x="6303874" y="4279392"/>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D   </a:t>
            </a:r>
            <a:r>
              <a:rPr lang="en-US" sz="1400" b="0" dirty="0">
                <a:solidFill>
                  <a:srgbClr val="E2E8F0"/>
                </a:solidFill>
                <a:latin typeface="Segoe UI"/>
                <a:ea typeface="Segoe UI"/>
                <a:cs typeface="Segoe UI"/>
              </a:rPr>
              <a:t>Half: give it 4 of its 8 points</a:t>
            </a:r>
            <a:endParaRPr lang="en-US" sz="1400" dirty="0"/>
          </a:p>
        </p:txBody>
      </p:sp>
      <p:sp>
        <p:nvSpPr>
          <p:cNvPr id="106" name="s106"/>
          <p:cNvSpPr/>
          <p:nvPr/>
        </p:nvSpPr>
        <p:spPr>
          <a:xfrm>
            <a:off x="6303874" y="3493008"/>
            <a:ext cx="5327294" cy="658368"/>
          </a:xfrm>
          <a:prstGeom prst="roundRect">
            <a:avLst>
              <a:gd name="adj" fmla="val 10000"/>
            </a:avLst>
          </a:prstGeom>
          <a:solidFill>
            <a:srgbClr val="123A33"/>
          </a:solidFill>
          <a:ln w="28575">
            <a:solidFill>
              <a:srgbClr val="34D399"/>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34D399"/>
                </a:solidFill>
                <a:latin typeface="Segoe UI"/>
                <a:ea typeface="Segoe UI"/>
                <a:cs typeface="Segoe UI"/>
              </a:rPr>
              <a:t>C   </a:t>
            </a:r>
            <a:r>
              <a:rPr lang="en-US" sz="1400" b="1" dirty="0">
                <a:solidFill>
                  <a:srgbClr val="FFFFFF"/>
                </a:solidFill>
                <a:latin typeface="Segoe UI"/>
                <a:ea typeface="Segoe UI"/>
                <a:cs typeface="Segoe UI"/>
              </a:rPr>
              <a:t>No: it does not meet the Definition of Done</a:t>
            </a:r>
            <a:endParaRPr lang="en-US" sz="1400" dirty="0"/>
          </a:p>
        </p:txBody>
      </p:sp>
      <p:pic>
        <p:nvPicPr>
          <p:cNvPr id="107" name="img107"/>
          <p:cNvPicPr>
            <a:picLocks noChangeAspect="1"/>
          </p:cNvPicPr>
          <p:nvPr/>
        </p:nvPicPr>
        <p:blipFill>
          <a:blip r:embed="rId4"/>
          <a:stretch>
            <a:fillRect/>
          </a:stretch>
        </p:blipFill>
        <p:spPr>
          <a:xfrm>
            <a:off x="11064240" y="3611880"/>
            <a:ext cx="420624" cy="420624"/>
          </a:xfrm>
          <a:prstGeom prst="rect">
            <a:avLst/>
          </a:prstGeom>
        </p:spPr>
      </p:pic>
      <p:sp>
        <p:nvSpPr>
          <p:cNvPr id="108" name="s108"/>
          <p:cNvSpPr/>
          <p:nvPr/>
        </p:nvSpPr>
        <p:spPr>
          <a:xfrm>
            <a:off x="543154" y="5074920"/>
            <a:ext cx="11088014" cy="566928"/>
          </a:xfrm>
          <a:prstGeom prst="roundRect">
            <a:avLst>
              <a:gd name="adj" fmla="val 12000"/>
            </a:avLst>
          </a:prstGeom>
          <a:solidFill>
            <a:srgbClr val="111B2E"/>
          </a:solidFill>
          <a:ln w="12700">
            <a:solidFill>
              <a:srgbClr val="34D399"/>
            </a:solidFill>
            <a:prstDash val="solid"/>
          </a:ln>
        </p:spPr>
        <p:txBody>
          <a:bodyPr wrap="square" lIns="228600" tIns="0" rIns="228600" bIns="0" rtlCol="0" anchor="ctr">
            <a:noAutofit/>
          </a:bodyPr>
          <a:lstStyle/>
          <a:p>
            <a:pPr marL="0" indent="0" algn="ctr">
              <a:spcBef>
                <a:spcPts val="0"/>
              </a:spcBef>
              <a:spcAft>
                <a:spcPts val="0"/>
              </a:spcAft>
              <a:buNone/>
            </a:pPr>
            <a:r>
              <a:rPr lang="en-US" sz="1300" b="1" dirty="0">
                <a:solidFill>
                  <a:srgbClr val="34D399"/>
                </a:solidFill>
                <a:latin typeface="Segoe UI"/>
                <a:ea typeface="Segoe UI"/>
                <a:cs typeface="Segoe UI"/>
              </a:rPr>
              <a:t>ANSWER C   </a:t>
            </a:r>
            <a:r>
              <a:rPr lang="en-US" sz="1300" b="0" dirty="0">
                <a:solidFill>
                  <a:srgbClr val="E2E8F0"/>
                </a:solidFill>
                <a:latin typeface="Segoe UI"/>
                <a:ea typeface="Segoe UI"/>
                <a:cs typeface="Segoe UI"/>
              </a:rPr>
              <a:t>Done means the DoD is met. No partial points; unfinished work returns to the Product Backlog.</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11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22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33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44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grpId="0" nodeType="clickEffect">
                                  <p:stCondLst>
                                    <p:cond delay="0"/>
                                  </p:stCondLst>
                                  <p:childTnLst>
                                    <p:set>
                                      <p:cBhvr>
                                        <p:cTn id="28" dur="1" fill="hold">
                                          <p:stCondLst>
                                            <p:cond delay="0"/>
                                          </p:stCondLst>
                                        </p:cTn>
                                        <p:tgtEl>
                                          <p:spTgt spid="106"/>
                                        </p:tgtEl>
                                        <p:attrNameLst>
                                          <p:attrName>style.visibility</p:attrName>
                                        </p:attrNameLst>
                                      </p:cBhvr>
                                      <p:to>
                                        <p:strVal val="visible"/>
                                      </p:to>
                                    </p:set>
                                    <p:anim calcmode="lin" valueType="num">
                                      <p:cBhvr additive="base">
                                        <p:cTn id="29"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30" dur="500" decel="100000" fill="hold"/>
                                        <p:tgtEl>
                                          <p:spTgt spid="106"/>
                                        </p:tgtEl>
                                        <p:attrNameLst>
                                          <p:attrName>ppt_h</p:attrName>
                                        </p:attrNameLst>
                                      </p:cBhvr>
                                      <p:tavLst>
                                        <p:tav tm="0">
                                          <p:val>
                                            <p:strVal val="#ppt_h*0.3"/>
                                          </p:val>
                                        </p:tav>
                                        <p:tav tm="100000">
                                          <p:val>
                                            <p:strVal val="#ppt_h*1.08"/>
                                          </p:val>
                                        </p:tav>
                                      </p:tavLst>
                                    </p:anim>
                                    <p:animEffect transition="in" filter="fade">
                                      <p:cBhvr>
                                        <p:cTn id="31" dur="250"/>
                                        <p:tgtEl>
                                          <p:spTgt spid="106"/>
                                        </p:tgtEl>
                                      </p:cBhvr>
                                    </p:animEffect>
                                    <p:anim calcmode="lin" valueType="num">
                                      <p:cBhvr additive="base">
                                        <p:cTn id="32"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33"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par>
                                <p:cTn id="34" presetID="53" presetClass="entr" presetSubtype="16" fill="hold" nodeType="withEffect">
                                  <p:stCondLst>
                                    <p:cond delay="200"/>
                                  </p:stCondLst>
                                  <p:childTnLst>
                                    <p:set>
                                      <p:cBhvr>
                                        <p:cTn id="35" dur="1" fill="hold">
                                          <p:stCondLst>
                                            <p:cond delay="0"/>
                                          </p:stCondLst>
                                        </p:cTn>
                                        <p:tgtEl>
                                          <p:spTgt spid="107"/>
                                        </p:tgtEl>
                                        <p:attrNameLst>
                                          <p:attrName>style.visibility</p:attrName>
                                        </p:attrNameLst>
                                      </p:cBhvr>
                                      <p:to>
                                        <p:strVal val="visible"/>
                                      </p:to>
                                    </p:set>
                                    <p:anim calcmode="lin" valueType="num">
                                      <p:cBhvr additive="base">
                                        <p:cTn id="36"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7" dur="500" decel="100000" fill="hold"/>
                                        <p:tgtEl>
                                          <p:spTgt spid="107"/>
                                        </p:tgtEl>
                                        <p:attrNameLst>
                                          <p:attrName>ppt_h</p:attrName>
                                        </p:attrNameLst>
                                      </p:cBhvr>
                                      <p:tavLst>
                                        <p:tav tm="0">
                                          <p:val>
                                            <p:strVal val="#ppt_h*0.55"/>
                                          </p:val>
                                        </p:tav>
                                        <p:tav tm="100000">
                                          <p:val>
                                            <p:strVal val="#ppt_h"/>
                                          </p:val>
                                        </p:tav>
                                      </p:tavLst>
                                    </p:anim>
                                    <p:animEffect transition="in" filter="fade">
                                      <p:cBhvr>
                                        <p:cTn id="38" dur="500"/>
                                        <p:tgtEl>
                                          <p:spTgt spid="107"/>
                                        </p:tgtEl>
                                      </p:cBhvr>
                                    </p:animEffect>
                                  </p:childTnLst>
                                </p:cTn>
                              </p:par>
                              <p:par>
                                <p:cTn id="39" presetID="42" presetClass="entr" presetSubtype="0" fill="hold" grpId="0" nodeType="withEffect">
                                  <p:stCondLst>
                                    <p:cond delay="400"/>
                                  </p:stCondLst>
                                  <p:childTnLst>
                                    <p:set>
                                      <p:cBhvr>
                                        <p:cTn id="40" dur="1" fill="hold">
                                          <p:stCondLst>
                                            <p:cond delay="0"/>
                                          </p:stCondLst>
                                        </p:cTn>
                                        <p:tgtEl>
                                          <p:spTgt spid="108"/>
                                        </p:tgtEl>
                                        <p:attrNameLst>
                                          <p:attrName>style.visibility</p:attrName>
                                        </p:attrNameLst>
                                      </p:cBhvr>
                                      <p:to>
                                        <p:strVal val="visible"/>
                                      </p:to>
                                    </p:set>
                                    <p:animEffect transition="in" filter="fade">
                                      <p:cBhvr>
                                        <p:cTn id="41" dur="500"/>
                                        <p:tgtEl>
                                          <p:spTgt spid="108"/>
                                        </p:tgtEl>
                                      </p:cBhvr>
                                    </p:animEffect>
                                    <p:anim calcmode="lin" valueType="num">
                                      <p:cBhvr additive="base">
                                        <p:cTn id="42" dur="500" decel="100000" fill="hold"/>
                                        <p:tgtEl>
                                          <p:spTgt spid="10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8"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BBF24">
              <a:alpha val="18000"/>
            </a:srgbClr>
          </a:solidFill>
          <a:ln w="12700">
            <a:solidFill>
              <a:srgbClr val="FBBF24"/>
            </a:solidFill>
          </a:ln>
        </p:spPr>
        <p:txBody>
          <a:bodyPr wrap="square" lIns="0" tIns="0" rIns="0" bIns="0" rtlCol="0" anchor="ctr">
            <a:noAutofit/>
          </a:bodyPr>
          <a:lstStyle/>
          <a:p>
            <a:pPr marL="0" indent="0" algn="ctr">
              <a:spcBef>
                <a:spcPts val="0"/>
              </a:spcBef>
              <a:spcAft>
                <a:spcPts val="0"/>
              </a:spcAft>
              <a:buNone/>
            </a:pPr>
            <a:r>
              <a:rPr lang="en-US" sz="1000" b="1" dirty="0">
                <a:solidFill>
                  <a:srgbClr val="FBBF24"/>
                </a:solidFill>
                <a:latin typeface="Segoe UI"/>
                <a:ea typeface="Segoe UI"/>
                <a:cs typeface="Segoe UI"/>
              </a:rPr>
              <a:t>STOP &amp; ASK</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Quiz: A Request on Day 6</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It does not support the Sprint Goal.</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CARE HOSPITAL</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305</a:t>
            </a:r>
            <a:endParaRPr lang="en-US" sz="850" dirty="0"/>
          </a:p>
        </p:txBody>
      </p:sp>
      <p:sp>
        <p:nvSpPr>
          <p:cNvPr id="101" name="s101"/>
          <p:cNvSpPr/>
          <p:nvPr/>
        </p:nvSpPr>
        <p:spPr>
          <a:xfrm>
            <a:off x="543154" y="1920240"/>
            <a:ext cx="5486400" cy="3017520"/>
          </a:xfrm>
          <a:prstGeom prst="roundRect">
            <a:avLst>
              <a:gd name="adj" fmla="val 4000"/>
            </a:avLst>
          </a:prstGeom>
          <a:solidFill>
            <a:srgbClr val="060D18"/>
          </a:solidFill>
          <a:ln w="12700">
            <a:solidFill>
              <a:srgbClr val="1E3A5F"/>
            </a:solidFill>
            <a:prstDash val="solid"/>
          </a:ln>
        </p:spPr>
        <p:txBody>
          <a:bodyPr wrap="square" lIns="274320" tIns="228600" rIns="274320" bIns="182880" rtlCol="0" anchor="t">
            <a:noAutofit/>
          </a:bodyPr>
          <a:lstStyle/>
          <a:p>
            <a:pPr marL="0" indent="0" algn="l">
              <a:spcBef>
                <a:spcPts val="0"/>
              </a:spcBef>
              <a:spcAft>
                <a:spcPts val="800"/>
              </a:spcAft>
              <a:buNone/>
            </a:pPr>
            <a:r>
              <a:rPr lang="en-US" sz="1000" b="1" dirty="0">
                <a:solidFill>
                  <a:srgbClr val="FBBF24"/>
                </a:solidFill>
                <a:latin typeface="Segoe UI"/>
                <a:ea typeface="Segoe UI"/>
                <a:cs typeface="Segoe UI"/>
              </a:rPr>
              <a:t>SCENARIO</a:t>
            </a:r>
            <a:endParaRPr lang="en-US" sz="1000" dirty="0"/>
          </a:p>
          <a:p>
            <a:pPr marL="0" indent="0" algn="l">
              <a:spcBef>
                <a:spcPts val="0"/>
              </a:spcBef>
              <a:spcAft>
                <a:spcPts val="800"/>
              </a:spcAft>
              <a:buNone/>
            </a:pPr>
            <a:r>
              <a:rPr lang="en-US" sz="1400" b="0" dirty="0">
                <a:solidFill>
                  <a:srgbClr val="E2E8F0"/>
                </a:solidFill>
                <a:latin typeface="Segoe UI"/>
                <a:ea typeface="Segoe UI"/>
                <a:cs typeface="Segoe UI"/>
              </a:rPr>
              <a:t>Day 6 of a 10-day Sprint.</a:t>
            </a:r>
            <a:endParaRPr lang="en-US" sz="1400" dirty="0"/>
          </a:p>
          <a:p>
            <a:pPr marL="0" indent="0" algn="l">
              <a:spcBef>
                <a:spcPts val="0"/>
              </a:spcBef>
              <a:spcAft>
                <a:spcPts val="800"/>
              </a:spcAft>
              <a:buNone/>
            </a:pPr>
            <a:r>
              <a:rPr lang="en-US" sz="1400" b="0" dirty="0">
                <a:solidFill>
                  <a:srgbClr val="E2E8F0"/>
                </a:solidFill>
                <a:latin typeface="Segoe UI"/>
                <a:ea typeface="Segoe UI"/>
                <a:cs typeface="Segoe UI"/>
              </a:rPr>
              <a:t>The hospital manager asks for insurance approval this week.</a:t>
            </a:r>
            <a:endParaRPr lang="en-US" sz="1400" dirty="0"/>
          </a:p>
          <a:p>
            <a:pPr marL="0" indent="0" algn="l">
              <a:spcBef>
                <a:spcPts val="0"/>
              </a:spcBef>
              <a:spcAft>
                <a:spcPts val="800"/>
              </a:spcAft>
              <a:buNone/>
            </a:pPr>
            <a:r>
              <a:rPr lang="en-US" sz="1400" b="0" dirty="0">
                <a:solidFill>
                  <a:srgbClr val="E2E8F0"/>
                </a:solidFill>
                <a:latin typeface="Segoe UI"/>
                <a:ea typeface="Segoe UI"/>
                <a:cs typeface="Segoe UI"/>
              </a:rPr>
              <a:t>The Sprint Goal is the booking flow.</a:t>
            </a:r>
            <a:endParaRPr lang="en-US" sz="1400" dirty="0"/>
          </a:p>
        </p:txBody>
      </p:sp>
      <p:sp>
        <p:nvSpPr>
          <p:cNvPr id="102" name="s102"/>
          <p:cNvSpPr/>
          <p:nvPr/>
        </p:nvSpPr>
        <p:spPr>
          <a:xfrm>
            <a:off x="6303874" y="1920240"/>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A   </a:t>
            </a:r>
            <a:r>
              <a:rPr lang="en-US" sz="1400" b="0" dirty="0">
                <a:solidFill>
                  <a:srgbClr val="E2E8F0"/>
                </a:solidFill>
                <a:latin typeface="Segoe UI"/>
                <a:ea typeface="Segoe UI"/>
                <a:cs typeface="Segoe UI"/>
              </a:rPr>
              <a:t>Add it immediately; the customer is always right</a:t>
            </a:r>
            <a:endParaRPr lang="en-US" sz="1400" dirty="0"/>
          </a:p>
        </p:txBody>
      </p:sp>
      <p:sp>
        <p:nvSpPr>
          <p:cNvPr id="103" name="s103"/>
          <p:cNvSpPr/>
          <p:nvPr/>
        </p:nvSpPr>
        <p:spPr>
          <a:xfrm>
            <a:off x="6303874" y="2706624"/>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B   </a:t>
            </a:r>
            <a:r>
              <a:rPr lang="en-US" sz="1400" b="0" dirty="0">
                <a:solidFill>
                  <a:srgbClr val="E2E8F0"/>
                </a:solidFill>
                <a:latin typeface="Segoe UI"/>
                <a:ea typeface="Segoe UI"/>
                <a:cs typeface="Segoe UI"/>
              </a:rPr>
              <a:t>Cancel the Sprint and start again</a:t>
            </a:r>
            <a:endParaRPr lang="en-US" sz="1400" dirty="0"/>
          </a:p>
        </p:txBody>
      </p:sp>
      <p:sp>
        <p:nvSpPr>
          <p:cNvPr id="104" name="s104"/>
          <p:cNvSpPr/>
          <p:nvPr/>
        </p:nvSpPr>
        <p:spPr>
          <a:xfrm>
            <a:off x="6303874" y="3493008"/>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C   </a:t>
            </a:r>
            <a:r>
              <a:rPr lang="en-US" sz="1400" b="0" dirty="0">
                <a:solidFill>
                  <a:srgbClr val="E2E8F0"/>
                </a:solidFill>
                <a:latin typeface="Segoe UI"/>
                <a:ea typeface="Segoe UI"/>
                <a:cs typeface="Segoe UI"/>
              </a:rPr>
              <a:t>Sarah adds it to the Product Backlog</a:t>
            </a:r>
            <a:endParaRPr lang="en-US" sz="1400" dirty="0"/>
          </a:p>
        </p:txBody>
      </p:sp>
      <p:sp>
        <p:nvSpPr>
          <p:cNvPr id="105" name="s105"/>
          <p:cNvSpPr/>
          <p:nvPr/>
        </p:nvSpPr>
        <p:spPr>
          <a:xfrm>
            <a:off x="6303874" y="4279392"/>
            <a:ext cx="5327294" cy="658368"/>
          </a:xfrm>
          <a:prstGeom prst="roundRect">
            <a:avLst>
              <a:gd name="adj" fmla="val 10000"/>
            </a:avLst>
          </a:prstGeom>
          <a:solidFill>
            <a:srgbClr val="111B2E"/>
          </a:solidFill>
          <a:ln w="12700">
            <a:solidFill>
              <a:srgbClr val="1E3A5F"/>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94A3B8"/>
                </a:solidFill>
                <a:latin typeface="Segoe UI"/>
                <a:ea typeface="Segoe UI"/>
                <a:cs typeface="Segoe UI"/>
              </a:rPr>
              <a:t>D   </a:t>
            </a:r>
            <a:r>
              <a:rPr lang="en-US" sz="1400" b="0" dirty="0">
                <a:solidFill>
                  <a:srgbClr val="E2E8F0"/>
                </a:solidFill>
                <a:latin typeface="Segoe UI"/>
                <a:ea typeface="Segoe UI"/>
                <a:cs typeface="Segoe UI"/>
              </a:rPr>
              <a:t>Developers work overtime to fit it in</a:t>
            </a:r>
            <a:endParaRPr lang="en-US" sz="1400" dirty="0"/>
          </a:p>
        </p:txBody>
      </p:sp>
      <p:sp>
        <p:nvSpPr>
          <p:cNvPr id="106" name="s106"/>
          <p:cNvSpPr/>
          <p:nvPr/>
        </p:nvSpPr>
        <p:spPr>
          <a:xfrm>
            <a:off x="6303874" y="3493008"/>
            <a:ext cx="5327294" cy="658368"/>
          </a:xfrm>
          <a:prstGeom prst="roundRect">
            <a:avLst>
              <a:gd name="adj" fmla="val 10000"/>
            </a:avLst>
          </a:prstGeom>
          <a:solidFill>
            <a:srgbClr val="123A33"/>
          </a:solidFill>
          <a:ln w="28575">
            <a:solidFill>
              <a:srgbClr val="34D399"/>
            </a:solidFill>
            <a:prstDash val="solid"/>
          </a:ln>
        </p:spPr>
        <p:txBody>
          <a:bodyPr wrap="square" lIns="228600" tIns="0" rIns="182880" bIns="0" rtlCol="0" anchor="ctr">
            <a:noAutofit/>
          </a:bodyPr>
          <a:lstStyle/>
          <a:p>
            <a:pPr marL="0" indent="0" algn="l">
              <a:spcBef>
                <a:spcPts val="0"/>
              </a:spcBef>
              <a:spcAft>
                <a:spcPts val="0"/>
              </a:spcAft>
              <a:buNone/>
            </a:pPr>
            <a:r>
              <a:rPr lang="en-US" sz="1400" b="1" dirty="0">
                <a:solidFill>
                  <a:srgbClr val="34D399"/>
                </a:solidFill>
                <a:latin typeface="Segoe UI"/>
                <a:ea typeface="Segoe UI"/>
                <a:cs typeface="Segoe UI"/>
              </a:rPr>
              <a:t>C   </a:t>
            </a:r>
            <a:r>
              <a:rPr lang="en-US" sz="1400" b="1" dirty="0">
                <a:solidFill>
                  <a:srgbClr val="FFFFFF"/>
                </a:solidFill>
                <a:latin typeface="Segoe UI"/>
                <a:ea typeface="Segoe UI"/>
                <a:cs typeface="Segoe UI"/>
              </a:rPr>
              <a:t>Sarah adds it to the Product Backlog</a:t>
            </a:r>
            <a:endParaRPr lang="en-US" sz="1400" dirty="0"/>
          </a:p>
        </p:txBody>
      </p:sp>
      <p:pic>
        <p:nvPicPr>
          <p:cNvPr id="107" name="img107"/>
          <p:cNvPicPr>
            <a:picLocks noChangeAspect="1"/>
          </p:cNvPicPr>
          <p:nvPr/>
        </p:nvPicPr>
        <p:blipFill>
          <a:blip r:embed="rId4"/>
          <a:stretch>
            <a:fillRect/>
          </a:stretch>
        </p:blipFill>
        <p:spPr>
          <a:xfrm>
            <a:off x="11064240" y="3611880"/>
            <a:ext cx="420624" cy="420624"/>
          </a:xfrm>
          <a:prstGeom prst="rect">
            <a:avLst/>
          </a:prstGeom>
        </p:spPr>
      </p:pic>
      <p:sp>
        <p:nvSpPr>
          <p:cNvPr id="108" name="s108"/>
          <p:cNvSpPr/>
          <p:nvPr/>
        </p:nvSpPr>
        <p:spPr>
          <a:xfrm>
            <a:off x="543154" y="5074920"/>
            <a:ext cx="11088014" cy="566928"/>
          </a:xfrm>
          <a:prstGeom prst="roundRect">
            <a:avLst>
              <a:gd name="adj" fmla="val 12000"/>
            </a:avLst>
          </a:prstGeom>
          <a:solidFill>
            <a:srgbClr val="111B2E"/>
          </a:solidFill>
          <a:ln w="12700">
            <a:solidFill>
              <a:srgbClr val="34D399"/>
            </a:solidFill>
            <a:prstDash val="solid"/>
          </a:ln>
        </p:spPr>
        <p:txBody>
          <a:bodyPr wrap="square" lIns="228600" tIns="0" rIns="228600" bIns="0" rtlCol="0" anchor="ctr">
            <a:noAutofit/>
          </a:bodyPr>
          <a:lstStyle/>
          <a:p>
            <a:pPr marL="0" indent="0" algn="ctr">
              <a:spcBef>
                <a:spcPts val="0"/>
              </a:spcBef>
              <a:spcAft>
                <a:spcPts val="0"/>
              </a:spcAft>
              <a:buNone/>
            </a:pPr>
            <a:r>
              <a:rPr lang="en-US" sz="1300" b="1" dirty="0">
                <a:solidFill>
                  <a:srgbClr val="34D399"/>
                </a:solidFill>
                <a:latin typeface="Segoe UI"/>
                <a:ea typeface="Segoe UI"/>
                <a:cs typeface="Segoe UI"/>
              </a:rPr>
              <a:t>ANSWER C   </a:t>
            </a:r>
            <a:r>
              <a:rPr lang="en-US" sz="1300" b="0" dirty="0">
                <a:solidFill>
                  <a:srgbClr val="E2E8F0"/>
                </a:solidFill>
                <a:latin typeface="Segoe UI"/>
                <a:ea typeface="Segoe UI"/>
                <a:cs typeface="Segoe UI"/>
              </a:rPr>
              <a:t>Protect the Sprint Goal. The Product Backlog can change any time; the request is ordered for a future Sprint.</a:t>
            </a:r>
            <a:endParaRPr lang="en-US" sz="13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11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22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par>
                                <p:cTn id="17" presetID="42" presetClass="entr" presetSubtype="0" fill="hold" grpId="0" nodeType="withEffect">
                                  <p:stCondLst>
                                    <p:cond delay="330"/>
                                  </p:stCondLst>
                                  <p:childTnLst>
                                    <p:set>
                                      <p:cBhvr>
                                        <p:cTn id="18" dur="1" fill="hold">
                                          <p:stCondLst>
                                            <p:cond delay="0"/>
                                          </p:stCondLst>
                                        </p:cTn>
                                        <p:tgtEl>
                                          <p:spTgt spid="104"/>
                                        </p:tgtEl>
                                        <p:attrNameLst>
                                          <p:attrName>style.visibility</p:attrName>
                                        </p:attrNameLst>
                                      </p:cBhvr>
                                      <p:to>
                                        <p:strVal val="visible"/>
                                      </p:to>
                                    </p:set>
                                    <p:animEffect transition="in" filter="fade">
                                      <p:cBhvr>
                                        <p:cTn id="19" dur="500"/>
                                        <p:tgtEl>
                                          <p:spTgt spid="104"/>
                                        </p:tgtEl>
                                      </p:cBhvr>
                                    </p:animEffect>
                                    <p:anim calcmode="lin" valueType="num">
                                      <p:cBhvr additive="base">
                                        <p:cTn id="20" dur="500" decel="100000" fill="hold"/>
                                        <p:tgtEl>
                                          <p:spTgt spid="104"/>
                                        </p:tgtEl>
                                        <p:attrNameLst>
                                          <p:attrName>ppt_y</p:attrName>
                                        </p:attrNameLst>
                                      </p:cBhvr>
                                      <p:tavLst>
                                        <p:tav tm="0">
                                          <p:val>
                                            <p:strVal val="#ppt_y+0.06"/>
                                          </p:val>
                                        </p:tav>
                                        <p:tav tm="100000">
                                          <p:val>
                                            <p:strVal val="#ppt_y"/>
                                          </p:val>
                                        </p:tav>
                                      </p:tavLst>
                                    </p:anim>
                                  </p:childTnLst>
                                </p:cTn>
                              </p:par>
                              <p:par>
                                <p:cTn id="21" presetID="42" presetClass="entr" presetSubtype="0" fill="hold" grpId="0" nodeType="withEffect">
                                  <p:stCondLst>
                                    <p:cond delay="44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anim calcmode="lin" valueType="num">
                                      <p:cBhvr additive="base">
                                        <p:cTn id="24" dur="500" decel="100000" fill="hold"/>
                                        <p:tgtEl>
                                          <p:spTgt spid="105"/>
                                        </p:tgtEl>
                                        <p:attrNameLst>
                                          <p:attrName>ppt_y</p:attrName>
                                        </p:attrNameLst>
                                      </p:cBhvr>
                                      <p:tavLst>
                                        <p:tav tm="0">
                                          <p:val>
                                            <p:strVal val="#ppt_y+0.06"/>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grpId="0" nodeType="clickEffect">
                                  <p:stCondLst>
                                    <p:cond delay="0"/>
                                  </p:stCondLst>
                                  <p:childTnLst>
                                    <p:set>
                                      <p:cBhvr>
                                        <p:cTn id="28" dur="1" fill="hold">
                                          <p:stCondLst>
                                            <p:cond delay="0"/>
                                          </p:stCondLst>
                                        </p:cTn>
                                        <p:tgtEl>
                                          <p:spTgt spid="106"/>
                                        </p:tgtEl>
                                        <p:attrNameLst>
                                          <p:attrName>style.visibility</p:attrName>
                                        </p:attrNameLst>
                                      </p:cBhvr>
                                      <p:to>
                                        <p:strVal val="visible"/>
                                      </p:to>
                                    </p:set>
                                    <p:anim calcmode="lin" valueType="num">
                                      <p:cBhvr additive="base">
                                        <p:cTn id="29" dur="500" decel="100000" fill="hold"/>
                                        <p:tgtEl>
                                          <p:spTgt spid="106"/>
                                        </p:tgtEl>
                                        <p:attrNameLst>
                                          <p:attrName>ppt_w</p:attrName>
                                        </p:attrNameLst>
                                      </p:cBhvr>
                                      <p:tavLst>
                                        <p:tav tm="0">
                                          <p:val>
                                            <p:strVal val="#ppt_w*0.3"/>
                                          </p:val>
                                        </p:tav>
                                        <p:tav tm="100000">
                                          <p:val>
                                            <p:strVal val="#ppt_w*1.08"/>
                                          </p:val>
                                        </p:tav>
                                      </p:tavLst>
                                    </p:anim>
                                    <p:anim calcmode="lin" valueType="num">
                                      <p:cBhvr additive="base">
                                        <p:cTn id="30" dur="500" decel="100000" fill="hold"/>
                                        <p:tgtEl>
                                          <p:spTgt spid="106"/>
                                        </p:tgtEl>
                                        <p:attrNameLst>
                                          <p:attrName>ppt_h</p:attrName>
                                        </p:attrNameLst>
                                      </p:cBhvr>
                                      <p:tavLst>
                                        <p:tav tm="0">
                                          <p:val>
                                            <p:strVal val="#ppt_h*0.3"/>
                                          </p:val>
                                        </p:tav>
                                        <p:tav tm="100000">
                                          <p:val>
                                            <p:strVal val="#ppt_h*1.08"/>
                                          </p:val>
                                        </p:tav>
                                      </p:tavLst>
                                    </p:anim>
                                    <p:animEffect transition="in" filter="fade">
                                      <p:cBhvr>
                                        <p:cTn id="31" dur="250"/>
                                        <p:tgtEl>
                                          <p:spTgt spid="106"/>
                                        </p:tgtEl>
                                      </p:cBhvr>
                                    </p:animEffect>
                                    <p:anim calcmode="lin" valueType="num">
                                      <p:cBhvr additive="base">
                                        <p:cTn id="32" dur="160" fill="hold">
                                          <p:stCondLst>
                                            <p:cond delay="500"/>
                                          </p:stCondLst>
                                        </p:cTn>
                                        <p:tgtEl>
                                          <p:spTgt spid="106"/>
                                        </p:tgtEl>
                                        <p:attrNameLst>
                                          <p:attrName>ppt_w</p:attrName>
                                        </p:attrNameLst>
                                      </p:cBhvr>
                                      <p:tavLst>
                                        <p:tav tm="0">
                                          <p:val>
                                            <p:strVal val="#ppt_w*1.08"/>
                                          </p:val>
                                        </p:tav>
                                        <p:tav tm="100000">
                                          <p:val>
                                            <p:strVal val="#ppt_w"/>
                                          </p:val>
                                        </p:tav>
                                      </p:tavLst>
                                    </p:anim>
                                    <p:anim calcmode="lin" valueType="num">
                                      <p:cBhvr additive="base">
                                        <p:cTn id="33" dur="160" fill="hold">
                                          <p:stCondLst>
                                            <p:cond delay="500"/>
                                          </p:stCondLst>
                                        </p:cTn>
                                        <p:tgtEl>
                                          <p:spTgt spid="106"/>
                                        </p:tgtEl>
                                        <p:attrNameLst>
                                          <p:attrName>ppt_h</p:attrName>
                                        </p:attrNameLst>
                                      </p:cBhvr>
                                      <p:tavLst>
                                        <p:tav tm="0">
                                          <p:val>
                                            <p:strVal val="#ppt_h*1.08"/>
                                          </p:val>
                                        </p:tav>
                                        <p:tav tm="100000">
                                          <p:val>
                                            <p:strVal val="#ppt_h"/>
                                          </p:val>
                                        </p:tav>
                                      </p:tavLst>
                                    </p:anim>
                                  </p:childTnLst>
                                </p:cTn>
                              </p:par>
                              <p:par>
                                <p:cTn id="34" presetID="53" presetClass="entr" presetSubtype="16" fill="hold" nodeType="withEffect">
                                  <p:stCondLst>
                                    <p:cond delay="200"/>
                                  </p:stCondLst>
                                  <p:childTnLst>
                                    <p:set>
                                      <p:cBhvr>
                                        <p:cTn id="35" dur="1" fill="hold">
                                          <p:stCondLst>
                                            <p:cond delay="0"/>
                                          </p:stCondLst>
                                        </p:cTn>
                                        <p:tgtEl>
                                          <p:spTgt spid="107"/>
                                        </p:tgtEl>
                                        <p:attrNameLst>
                                          <p:attrName>style.visibility</p:attrName>
                                        </p:attrNameLst>
                                      </p:cBhvr>
                                      <p:to>
                                        <p:strVal val="visible"/>
                                      </p:to>
                                    </p:set>
                                    <p:anim calcmode="lin" valueType="num">
                                      <p:cBhvr additive="base">
                                        <p:cTn id="36"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7" dur="500" decel="100000" fill="hold"/>
                                        <p:tgtEl>
                                          <p:spTgt spid="107"/>
                                        </p:tgtEl>
                                        <p:attrNameLst>
                                          <p:attrName>ppt_h</p:attrName>
                                        </p:attrNameLst>
                                      </p:cBhvr>
                                      <p:tavLst>
                                        <p:tav tm="0">
                                          <p:val>
                                            <p:strVal val="#ppt_h*0.55"/>
                                          </p:val>
                                        </p:tav>
                                        <p:tav tm="100000">
                                          <p:val>
                                            <p:strVal val="#ppt_h"/>
                                          </p:val>
                                        </p:tav>
                                      </p:tavLst>
                                    </p:anim>
                                    <p:animEffect transition="in" filter="fade">
                                      <p:cBhvr>
                                        <p:cTn id="38" dur="500"/>
                                        <p:tgtEl>
                                          <p:spTgt spid="107"/>
                                        </p:tgtEl>
                                      </p:cBhvr>
                                    </p:animEffect>
                                  </p:childTnLst>
                                </p:cTn>
                              </p:par>
                              <p:par>
                                <p:cTn id="39" presetID="42" presetClass="entr" presetSubtype="0" fill="hold" grpId="0" nodeType="withEffect">
                                  <p:stCondLst>
                                    <p:cond delay="400"/>
                                  </p:stCondLst>
                                  <p:childTnLst>
                                    <p:set>
                                      <p:cBhvr>
                                        <p:cTn id="40" dur="1" fill="hold">
                                          <p:stCondLst>
                                            <p:cond delay="0"/>
                                          </p:stCondLst>
                                        </p:cTn>
                                        <p:tgtEl>
                                          <p:spTgt spid="108"/>
                                        </p:tgtEl>
                                        <p:attrNameLst>
                                          <p:attrName>style.visibility</p:attrName>
                                        </p:attrNameLst>
                                      </p:cBhvr>
                                      <p:to>
                                        <p:strVal val="visible"/>
                                      </p:to>
                                    </p:set>
                                    <p:animEffect transition="in" filter="fade">
                                      <p:cBhvr>
                                        <p:cTn id="41" dur="500"/>
                                        <p:tgtEl>
                                          <p:spTgt spid="108"/>
                                        </p:tgtEl>
                                      </p:cBhvr>
                                    </p:animEffect>
                                    <p:anim calcmode="lin" valueType="num">
                                      <p:cBhvr additive="base">
                                        <p:cTn id="42" dur="500" decel="100000" fill="hold"/>
                                        <p:tgtEl>
                                          <p:spTgt spid="108"/>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8"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068019" cy="285750"/>
          </a:xfrm>
          <a:prstGeom prst="roundRect">
            <a:avLst>
              <a:gd name="adj" fmla="val 23333"/>
            </a:avLst>
          </a:prstGeom>
          <a:solidFill>
            <a:srgbClr val="13D0F7">
              <a:alpha val="18000"/>
            </a:srgbClr>
          </a:solidFill>
          <a:ln w="12700">
            <a:solidFill>
              <a:srgbClr val="13D0F7"/>
            </a:solidFill>
          </a:ln>
        </p:spPr>
        <p:txBody>
          <a:bodyPr wrap="square" lIns="0" tIns="0" rIns="0" bIns="0" rtlCol="0" anchor="ctr">
            <a:noAutofit/>
          </a:bodyPr>
          <a:lstStyle/>
          <a:p>
            <a:pPr marL="0" indent="0" algn="ctr">
              <a:spcBef>
                <a:spcPts val="0"/>
              </a:spcBef>
              <a:spcAft>
                <a:spcPts val="0"/>
              </a:spcAft>
              <a:buNone/>
            </a:pPr>
            <a:r>
              <a:rPr lang="en-US" sz="1000" b="1" dirty="0">
                <a:solidFill>
                  <a:srgbClr val="13D0F7"/>
                </a:solidFill>
                <a:latin typeface="Segoe UI"/>
                <a:ea typeface="Segoe UI"/>
                <a:cs typeface="Segoe UI"/>
              </a:rPr>
              <a:t>CHEAT SHEET</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to Use When: Agile &amp; Scrum</a:t>
            </a:r>
            <a:endParaRPr lang="en-US" sz="3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AGILE &amp; SCRUM</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306</a:t>
            </a:r>
            <a:endParaRPr lang="en-US" sz="850" dirty="0"/>
          </a:p>
        </p:txBody>
      </p:sp>
      <p:sp>
        <p:nvSpPr>
          <p:cNvPr id="101" name="s101"/>
          <p:cNvSpPr txBox="1"/>
          <p:nvPr/>
        </p:nvSpPr>
        <p:spPr>
          <a:xfrm>
            <a:off x="680314" y="1600200"/>
            <a:ext cx="329184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94A3B8"/>
                </a:solidFill>
                <a:latin typeface="Segoe UI"/>
                <a:ea typeface="Segoe UI"/>
                <a:cs typeface="Segoe UI"/>
              </a:rPr>
              <a:t>SITUATION</a:t>
            </a:r>
            <a:endParaRPr lang="en-US" sz="1050" dirty="0"/>
          </a:p>
        </p:txBody>
      </p:sp>
      <p:sp>
        <p:nvSpPr>
          <p:cNvPr id="102" name="s102"/>
          <p:cNvSpPr txBox="1"/>
          <p:nvPr/>
        </p:nvSpPr>
        <p:spPr>
          <a:xfrm>
            <a:off x="4109314" y="1600200"/>
            <a:ext cx="3749040"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34D399"/>
                </a:solidFill>
                <a:latin typeface="Segoe UI"/>
                <a:ea typeface="Segoe UI"/>
                <a:cs typeface="Segoe UI"/>
              </a:rPr>
              <a:t>✓  USE</a:t>
            </a:r>
            <a:endParaRPr lang="en-US" sz="1050" dirty="0"/>
          </a:p>
        </p:txBody>
      </p:sp>
      <p:sp>
        <p:nvSpPr>
          <p:cNvPr id="103" name="s103"/>
          <p:cNvSpPr txBox="1"/>
          <p:nvPr/>
        </p:nvSpPr>
        <p:spPr>
          <a:xfrm>
            <a:off x="7949794" y="1600200"/>
            <a:ext cx="3818534"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050" b="1" dirty="0">
                <a:solidFill>
                  <a:srgbClr val="F87171"/>
                </a:solidFill>
                <a:latin typeface="Segoe UI"/>
                <a:ea typeface="Segoe UI"/>
                <a:cs typeface="Segoe UI"/>
              </a:rPr>
              <a:t>✗  NOT</a:t>
            </a:r>
            <a:endParaRPr lang="en-US" sz="1050" dirty="0"/>
          </a:p>
        </p:txBody>
      </p:sp>
      <p:sp>
        <p:nvSpPr>
          <p:cNvPr id="104" name="s104"/>
          <p:cNvSpPr/>
          <p:nvPr/>
        </p:nvSpPr>
        <p:spPr>
          <a:xfrm>
            <a:off x="543154" y="1920240"/>
            <a:ext cx="11088014" cy="297180"/>
          </a:xfrm>
          <a:prstGeom prst="rect">
            <a:avLst/>
          </a:prstGeom>
          <a:solidFill>
            <a:srgbClr val="111B2E"/>
          </a:solidFill>
          <a:ln>
            <a:noFill/>
          </a:ln>
        </p:spPr>
        <p:txBody>
          <a:bodyPr wrap="square" lIns="164592" tIns="109728" rIns="137160" bIns="91440" rtlCol="0" anchor="t">
            <a:noAutofit/>
          </a:bodyPr>
          <a:lstStyle/>
          <a:p>
            <a:endParaRPr lang="en-US"/>
          </a:p>
        </p:txBody>
      </p:sp>
      <p:sp>
        <p:nvSpPr>
          <p:cNvPr id="105" name="s105"/>
          <p:cNvSpPr txBox="1"/>
          <p:nvPr/>
        </p:nvSpPr>
        <p:spPr>
          <a:xfrm>
            <a:off x="680314" y="1920240"/>
            <a:ext cx="32918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Customer needs change often</a:t>
            </a:r>
            <a:endParaRPr lang="en-US" sz="1150" dirty="0"/>
          </a:p>
        </p:txBody>
      </p:sp>
      <p:sp>
        <p:nvSpPr>
          <p:cNvPr id="106" name="s106"/>
          <p:cNvSpPr txBox="1"/>
          <p:nvPr/>
        </p:nvSpPr>
        <p:spPr>
          <a:xfrm>
            <a:off x="4109314" y="1920240"/>
            <a:ext cx="37490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Short cycles + frequent feedback</a:t>
            </a:r>
            <a:endParaRPr lang="en-US" sz="1150" dirty="0"/>
          </a:p>
        </p:txBody>
      </p:sp>
      <p:sp>
        <p:nvSpPr>
          <p:cNvPr id="107" name="s107"/>
          <p:cNvSpPr txBox="1"/>
          <p:nvPr/>
        </p:nvSpPr>
        <p:spPr>
          <a:xfrm>
            <a:off x="7949794" y="1920240"/>
            <a:ext cx="3818534"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87171"/>
                </a:solidFill>
                <a:latin typeface="Segoe UI"/>
                <a:ea typeface="Segoe UI"/>
                <a:cs typeface="Segoe UI"/>
              </a:rPr>
              <a:t>A 12-month fixed plan</a:t>
            </a:r>
            <a:endParaRPr lang="en-US" sz="1150" dirty="0"/>
          </a:p>
        </p:txBody>
      </p:sp>
      <p:sp>
        <p:nvSpPr>
          <p:cNvPr id="108" name="s108"/>
          <p:cNvSpPr/>
          <p:nvPr/>
        </p:nvSpPr>
        <p:spPr>
          <a:xfrm>
            <a:off x="543154" y="2244852"/>
            <a:ext cx="11088014" cy="297180"/>
          </a:xfrm>
          <a:prstGeom prst="rect">
            <a:avLst/>
          </a:prstGeom>
          <a:solidFill>
            <a:srgbClr val="0F172A"/>
          </a:solidFill>
          <a:ln>
            <a:noFill/>
          </a:ln>
        </p:spPr>
        <p:txBody>
          <a:bodyPr wrap="square" lIns="164592" tIns="109728" rIns="137160" bIns="91440" rtlCol="0" anchor="t">
            <a:noAutofit/>
          </a:bodyPr>
          <a:lstStyle/>
          <a:p>
            <a:endParaRPr lang="en-US"/>
          </a:p>
        </p:txBody>
      </p:sp>
      <p:sp>
        <p:nvSpPr>
          <p:cNvPr id="109" name="s109"/>
          <p:cNvSpPr txBox="1"/>
          <p:nvPr/>
        </p:nvSpPr>
        <p:spPr>
          <a:xfrm>
            <a:off x="680314" y="2244852"/>
            <a:ext cx="32918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Rules fixed by law, change is rare</a:t>
            </a:r>
            <a:endParaRPr lang="en-US" sz="1150" dirty="0"/>
          </a:p>
        </p:txBody>
      </p:sp>
      <p:sp>
        <p:nvSpPr>
          <p:cNvPr id="110" name="s110"/>
          <p:cNvSpPr txBox="1"/>
          <p:nvPr/>
        </p:nvSpPr>
        <p:spPr>
          <a:xfrm>
            <a:off x="4109314" y="2244852"/>
            <a:ext cx="37490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More up-front design (Waterfall / hybrid)</a:t>
            </a:r>
            <a:endParaRPr lang="en-US" sz="1150" dirty="0"/>
          </a:p>
        </p:txBody>
      </p:sp>
      <p:sp>
        <p:nvSpPr>
          <p:cNvPr id="111" name="s111"/>
          <p:cNvSpPr txBox="1"/>
          <p:nvPr/>
        </p:nvSpPr>
        <p:spPr>
          <a:xfrm>
            <a:off x="7949794" y="2244852"/>
            <a:ext cx="3818534"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87171"/>
                </a:solidFill>
                <a:latin typeface="Segoe UI"/>
                <a:ea typeface="Segoe UI"/>
                <a:cs typeface="Segoe UI"/>
              </a:rPr>
              <a:t>"Pure Agile" for everything</a:t>
            </a:r>
            <a:endParaRPr lang="en-US" sz="1150" dirty="0"/>
          </a:p>
        </p:txBody>
      </p:sp>
      <p:sp>
        <p:nvSpPr>
          <p:cNvPr id="112" name="s112"/>
          <p:cNvSpPr/>
          <p:nvPr/>
        </p:nvSpPr>
        <p:spPr>
          <a:xfrm>
            <a:off x="543154" y="2569464"/>
            <a:ext cx="11088014" cy="297180"/>
          </a:xfrm>
          <a:prstGeom prst="rect">
            <a:avLst/>
          </a:prstGeom>
          <a:solidFill>
            <a:srgbClr val="111B2E"/>
          </a:solidFill>
          <a:ln>
            <a:noFill/>
          </a:ln>
        </p:spPr>
        <p:txBody>
          <a:bodyPr wrap="square" lIns="164592" tIns="109728" rIns="137160" bIns="91440" rtlCol="0" anchor="t">
            <a:noAutofit/>
          </a:bodyPr>
          <a:lstStyle/>
          <a:p>
            <a:endParaRPr lang="en-US"/>
          </a:p>
        </p:txBody>
      </p:sp>
      <p:sp>
        <p:nvSpPr>
          <p:cNvPr id="113" name="s113"/>
          <p:cNvSpPr txBox="1"/>
          <p:nvPr/>
        </p:nvSpPr>
        <p:spPr>
          <a:xfrm>
            <a:off x="680314" y="2569464"/>
            <a:ext cx="32918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Many stakeholders, conflicting asks</a:t>
            </a:r>
            <a:endParaRPr lang="en-US" sz="1150" dirty="0"/>
          </a:p>
        </p:txBody>
      </p:sp>
      <p:sp>
        <p:nvSpPr>
          <p:cNvPr id="114" name="s114"/>
          <p:cNvSpPr txBox="1"/>
          <p:nvPr/>
        </p:nvSpPr>
        <p:spPr>
          <a:xfrm>
            <a:off x="4109314" y="2569464"/>
            <a:ext cx="37490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One Product Owner orders the backlog</a:t>
            </a:r>
            <a:endParaRPr lang="en-US" sz="1150" dirty="0"/>
          </a:p>
        </p:txBody>
      </p:sp>
      <p:sp>
        <p:nvSpPr>
          <p:cNvPr id="115" name="s115"/>
          <p:cNvSpPr txBox="1"/>
          <p:nvPr/>
        </p:nvSpPr>
        <p:spPr>
          <a:xfrm>
            <a:off x="7949794" y="2569464"/>
            <a:ext cx="3818534"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87171"/>
                </a:solidFill>
                <a:latin typeface="Segoe UI"/>
                <a:ea typeface="Segoe UI"/>
                <a:cs typeface="Segoe UI"/>
              </a:rPr>
              <a:t>Everyone messaging developers</a:t>
            </a:r>
            <a:endParaRPr lang="en-US" sz="1150" dirty="0"/>
          </a:p>
        </p:txBody>
      </p:sp>
      <p:sp>
        <p:nvSpPr>
          <p:cNvPr id="116" name="s116"/>
          <p:cNvSpPr/>
          <p:nvPr/>
        </p:nvSpPr>
        <p:spPr>
          <a:xfrm>
            <a:off x="543154" y="2894076"/>
            <a:ext cx="11088014" cy="297180"/>
          </a:xfrm>
          <a:prstGeom prst="rect">
            <a:avLst/>
          </a:prstGeom>
          <a:solidFill>
            <a:srgbClr val="0F172A"/>
          </a:solidFill>
          <a:ln>
            <a:noFill/>
          </a:ln>
        </p:spPr>
        <p:txBody>
          <a:bodyPr wrap="square" lIns="164592" tIns="109728" rIns="137160" bIns="91440" rtlCol="0" anchor="t">
            <a:noAutofit/>
          </a:bodyPr>
          <a:lstStyle/>
          <a:p>
            <a:endParaRPr lang="en-US"/>
          </a:p>
        </p:txBody>
      </p:sp>
      <p:sp>
        <p:nvSpPr>
          <p:cNvPr id="117" name="s117"/>
          <p:cNvSpPr txBox="1"/>
          <p:nvPr/>
        </p:nvSpPr>
        <p:spPr>
          <a:xfrm>
            <a:off x="680314" y="2894076"/>
            <a:ext cx="32918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A big, vague idea</a:t>
            </a:r>
            <a:endParaRPr lang="en-US" sz="1150" dirty="0"/>
          </a:p>
        </p:txBody>
      </p:sp>
      <p:sp>
        <p:nvSpPr>
          <p:cNvPr id="118" name="s118"/>
          <p:cNvSpPr txBox="1"/>
          <p:nvPr/>
        </p:nvSpPr>
        <p:spPr>
          <a:xfrm>
            <a:off x="4109314" y="2894076"/>
            <a:ext cx="37490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Epic → stories + Acceptance Criteria</a:t>
            </a:r>
            <a:endParaRPr lang="en-US" sz="1150" dirty="0"/>
          </a:p>
        </p:txBody>
      </p:sp>
      <p:sp>
        <p:nvSpPr>
          <p:cNvPr id="119" name="s119"/>
          <p:cNvSpPr txBox="1"/>
          <p:nvPr/>
        </p:nvSpPr>
        <p:spPr>
          <a:xfrm>
            <a:off x="7949794" y="2894076"/>
            <a:ext cx="3818534"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87171"/>
                </a:solidFill>
                <a:latin typeface="Segoe UI"/>
                <a:ea typeface="Segoe UI"/>
                <a:cs typeface="Segoe UI"/>
              </a:rPr>
              <a:t>One giant ticket</a:t>
            </a:r>
            <a:endParaRPr lang="en-US" sz="1150" dirty="0"/>
          </a:p>
        </p:txBody>
      </p:sp>
      <p:sp>
        <p:nvSpPr>
          <p:cNvPr id="120" name="s120"/>
          <p:cNvSpPr/>
          <p:nvPr/>
        </p:nvSpPr>
        <p:spPr>
          <a:xfrm>
            <a:off x="543154" y="3218688"/>
            <a:ext cx="11088014" cy="297180"/>
          </a:xfrm>
          <a:prstGeom prst="rect">
            <a:avLst/>
          </a:prstGeom>
          <a:solidFill>
            <a:srgbClr val="111B2E"/>
          </a:solidFill>
          <a:ln>
            <a:noFill/>
          </a:ln>
        </p:spPr>
        <p:txBody>
          <a:bodyPr wrap="square" lIns="164592" tIns="109728" rIns="137160" bIns="91440" rtlCol="0" anchor="t">
            <a:noAutofit/>
          </a:bodyPr>
          <a:lstStyle/>
          <a:p>
            <a:endParaRPr lang="en-US"/>
          </a:p>
        </p:txBody>
      </p:sp>
      <p:sp>
        <p:nvSpPr>
          <p:cNvPr id="121" name="s121"/>
          <p:cNvSpPr txBox="1"/>
          <p:nvPr/>
        </p:nvSpPr>
        <p:spPr>
          <a:xfrm>
            <a:off x="680314" y="3218688"/>
            <a:ext cx="32918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Unclear item before Planning</a:t>
            </a:r>
            <a:endParaRPr lang="en-US" sz="1150" dirty="0"/>
          </a:p>
        </p:txBody>
      </p:sp>
      <p:sp>
        <p:nvSpPr>
          <p:cNvPr id="122" name="s122"/>
          <p:cNvSpPr txBox="1"/>
          <p:nvPr/>
        </p:nvSpPr>
        <p:spPr>
          <a:xfrm>
            <a:off x="4109314" y="3218688"/>
            <a:ext cx="37490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Refinement, or a time-boxed Spike</a:t>
            </a:r>
            <a:endParaRPr lang="en-US" sz="1150" dirty="0"/>
          </a:p>
        </p:txBody>
      </p:sp>
      <p:sp>
        <p:nvSpPr>
          <p:cNvPr id="123" name="s123"/>
          <p:cNvSpPr txBox="1"/>
          <p:nvPr/>
        </p:nvSpPr>
        <p:spPr>
          <a:xfrm>
            <a:off x="7949794" y="3218688"/>
            <a:ext cx="3818534"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87171"/>
                </a:solidFill>
                <a:latin typeface="Segoe UI"/>
                <a:ea typeface="Segoe UI"/>
                <a:cs typeface="Segoe UI"/>
              </a:rPr>
              <a:t>Pulling fog into the Sprint</a:t>
            </a:r>
            <a:endParaRPr lang="en-US" sz="1150" dirty="0"/>
          </a:p>
        </p:txBody>
      </p:sp>
      <p:sp>
        <p:nvSpPr>
          <p:cNvPr id="124" name="s124"/>
          <p:cNvSpPr/>
          <p:nvPr/>
        </p:nvSpPr>
        <p:spPr>
          <a:xfrm>
            <a:off x="543154" y="3543300"/>
            <a:ext cx="11088014" cy="297180"/>
          </a:xfrm>
          <a:prstGeom prst="rect">
            <a:avLst/>
          </a:prstGeom>
          <a:solidFill>
            <a:srgbClr val="0F172A"/>
          </a:solidFill>
          <a:ln>
            <a:noFill/>
          </a:ln>
        </p:spPr>
        <p:txBody>
          <a:bodyPr wrap="square" lIns="164592" tIns="109728" rIns="137160" bIns="91440" rtlCol="0" anchor="t">
            <a:noAutofit/>
          </a:bodyPr>
          <a:lstStyle/>
          <a:p>
            <a:endParaRPr lang="en-US"/>
          </a:p>
        </p:txBody>
      </p:sp>
      <p:sp>
        <p:nvSpPr>
          <p:cNvPr id="125" name="s125"/>
          <p:cNvSpPr txBox="1"/>
          <p:nvPr/>
        </p:nvSpPr>
        <p:spPr>
          <a:xfrm>
            <a:off x="680314" y="3543300"/>
            <a:ext cx="32918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How big is it?</a:t>
            </a:r>
            <a:endParaRPr lang="en-US" sz="1150" dirty="0"/>
          </a:p>
        </p:txBody>
      </p:sp>
      <p:sp>
        <p:nvSpPr>
          <p:cNvPr id="126" name="s126"/>
          <p:cNvSpPr txBox="1"/>
          <p:nvPr/>
        </p:nvSpPr>
        <p:spPr>
          <a:xfrm>
            <a:off x="4109314" y="3543300"/>
            <a:ext cx="37490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Developers estimate in relative points</a:t>
            </a:r>
            <a:endParaRPr lang="en-US" sz="1150" dirty="0"/>
          </a:p>
        </p:txBody>
      </p:sp>
      <p:sp>
        <p:nvSpPr>
          <p:cNvPr id="127" name="s127"/>
          <p:cNvSpPr txBox="1"/>
          <p:nvPr/>
        </p:nvSpPr>
        <p:spPr>
          <a:xfrm>
            <a:off x="7949794" y="3543300"/>
            <a:ext cx="3818534"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87171"/>
                </a:solidFill>
                <a:latin typeface="Segoe UI"/>
                <a:ea typeface="Segoe UI"/>
                <a:cs typeface="Segoe UI"/>
              </a:rPr>
              <a:t>Hours, or the PO's number</a:t>
            </a:r>
            <a:endParaRPr lang="en-US" sz="1150" dirty="0"/>
          </a:p>
        </p:txBody>
      </p:sp>
      <p:sp>
        <p:nvSpPr>
          <p:cNvPr id="128" name="s128"/>
          <p:cNvSpPr/>
          <p:nvPr/>
        </p:nvSpPr>
        <p:spPr>
          <a:xfrm>
            <a:off x="543154" y="3867912"/>
            <a:ext cx="11088014" cy="297180"/>
          </a:xfrm>
          <a:prstGeom prst="rect">
            <a:avLst/>
          </a:prstGeom>
          <a:solidFill>
            <a:srgbClr val="111B2E"/>
          </a:solidFill>
          <a:ln>
            <a:noFill/>
          </a:ln>
        </p:spPr>
        <p:txBody>
          <a:bodyPr wrap="square" lIns="164592" tIns="109728" rIns="137160" bIns="91440" rtlCol="0" anchor="t">
            <a:noAutofit/>
          </a:bodyPr>
          <a:lstStyle/>
          <a:p>
            <a:endParaRPr lang="en-US"/>
          </a:p>
        </p:txBody>
      </p:sp>
      <p:sp>
        <p:nvSpPr>
          <p:cNvPr id="129" name="s129"/>
          <p:cNvSpPr txBox="1"/>
          <p:nvPr/>
        </p:nvSpPr>
        <p:spPr>
          <a:xfrm>
            <a:off x="680314" y="3867912"/>
            <a:ext cx="32918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Estimates disagree</a:t>
            </a:r>
            <a:endParaRPr lang="en-US" sz="1150" dirty="0"/>
          </a:p>
        </p:txBody>
      </p:sp>
      <p:sp>
        <p:nvSpPr>
          <p:cNvPr id="130" name="s130"/>
          <p:cNvSpPr txBox="1"/>
          <p:nvPr/>
        </p:nvSpPr>
        <p:spPr>
          <a:xfrm>
            <a:off x="4109314" y="3867912"/>
            <a:ext cx="37490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Discuss · split · Spike</a:t>
            </a:r>
            <a:endParaRPr lang="en-US" sz="1150" dirty="0"/>
          </a:p>
        </p:txBody>
      </p:sp>
      <p:sp>
        <p:nvSpPr>
          <p:cNvPr id="131" name="s131"/>
          <p:cNvSpPr txBox="1"/>
          <p:nvPr/>
        </p:nvSpPr>
        <p:spPr>
          <a:xfrm>
            <a:off x="7949794" y="3867912"/>
            <a:ext cx="3818534"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87171"/>
                </a:solidFill>
                <a:latin typeface="Segoe UI"/>
                <a:ea typeface="Segoe UI"/>
                <a:cs typeface="Segoe UI"/>
              </a:rPr>
              <a:t>Average the votes</a:t>
            </a:r>
            <a:endParaRPr lang="en-US" sz="1150" dirty="0"/>
          </a:p>
        </p:txBody>
      </p:sp>
      <p:sp>
        <p:nvSpPr>
          <p:cNvPr id="132" name="s132"/>
          <p:cNvSpPr/>
          <p:nvPr/>
        </p:nvSpPr>
        <p:spPr>
          <a:xfrm>
            <a:off x="543154" y="4192524"/>
            <a:ext cx="11088014" cy="297180"/>
          </a:xfrm>
          <a:prstGeom prst="rect">
            <a:avLst/>
          </a:prstGeom>
          <a:solidFill>
            <a:srgbClr val="0F172A"/>
          </a:solidFill>
          <a:ln>
            <a:noFill/>
          </a:ln>
        </p:spPr>
        <p:txBody>
          <a:bodyPr wrap="square" lIns="164592" tIns="109728" rIns="137160" bIns="91440" rtlCol="0" anchor="t">
            <a:noAutofit/>
          </a:bodyPr>
          <a:lstStyle/>
          <a:p>
            <a:endParaRPr lang="en-US"/>
          </a:p>
        </p:txBody>
      </p:sp>
      <p:sp>
        <p:nvSpPr>
          <p:cNvPr id="133" name="s133"/>
          <p:cNvSpPr txBox="1"/>
          <p:nvPr/>
        </p:nvSpPr>
        <p:spPr>
          <a:xfrm>
            <a:off x="680314" y="4192524"/>
            <a:ext cx="32918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Why this Sprint?</a:t>
            </a:r>
            <a:endParaRPr lang="en-US" sz="1150" dirty="0"/>
          </a:p>
        </p:txBody>
      </p:sp>
      <p:sp>
        <p:nvSpPr>
          <p:cNvPr id="134" name="s134"/>
          <p:cNvSpPr txBox="1"/>
          <p:nvPr/>
        </p:nvSpPr>
        <p:spPr>
          <a:xfrm>
            <a:off x="4109314" y="4192524"/>
            <a:ext cx="37490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An outcome Sprint Goal</a:t>
            </a:r>
            <a:endParaRPr lang="en-US" sz="1150" dirty="0"/>
          </a:p>
        </p:txBody>
      </p:sp>
      <p:sp>
        <p:nvSpPr>
          <p:cNvPr id="135" name="s135"/>
          <p:cNvSpPr txBox="1"/>
          <p:nvPr/>
        </p:nvSpPr>
        <p:spPr>
          <a:xfrm>
            <a:off x="7949794" y="4192524"/>
            <a:ext cx="3818534"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87171"/>
                </a:solidFill>
                <a:latin typeface="Segoe UI"/>
                <a:ea typeface="Segoe UI"/>
                <a:cs typeface="Segoe UI"/>
              </a:rPr>
              <a:t>"Finish 7 stories"</a:t>
            </a:r>
            <a:endParaRPr lang="en-US" sz="1150" dirty="0"/>
          </a:p>
        </p:txBody>
      </p:sp>
      <p:sp>
        <p:nvSpPr>
          <p:cNvPr id="136" name="s136"/>
          <p:cNvSpPr/>
          <p:nvPr/>
        </p:nvSpPr>
        <p:spPr>
          <a:xfrm>
            <a:off x="543154" y="4517136"/>
            <a:ext cx="11088014" cy="297180"/>
          </a:xfrm>
          <a:prstGeom prst="rect">
            <a:avLst/>
          </a:prstGeom>
          <a:solidFill>
            <a:srgbClr val="111B2E"/>
          </a:solidFill>
          <a:ln>
            <a:noFill/>
          </a:ln>
        </p:spPr>
        <p:txBody>
          <a:bodyPr wrap="square" lIns="164592" tIns="109728" rIns="137160" bIns="91440" rtlCol="0" anchor="t">
            <a:noAutofit/>
          </a:bodyPr>
          <a:lstStyle/>
          <a:p>
            <a:endParaRPr lang="en-US"/>
          </a:p>
        </p:txBody>
      </p:sp>
      <p:sp>
        <p:nvSpPr>
          <p:cNvPr id="137" name="s137"/>
          <p:cNvSpPr txBox="1"/>
          <p:nvPr/>
        </p:nvSpPr>
        <p:spPr>
          <a:xfrm>
            <a:off x="680314" y="4517136"/>
            <a:ext cx="32918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Is it finished?</a:t>
            </a:r>
            <a:endParaRPr lang="en-US" sz="1150" dirty="0"/>
          </a:p>
        </p:txBody>
      </p:sp>
      <p:sp>
        <p:nvSpPr>
          <p:cNvPr id="138" name="s138"/>
          <p:cNvSpPr txBox="1"/>
          <p:nvPr/>
        </p:nvSpPr>
        <p:spPr>
          <a:xfrm>
            <a:off x="4109314" y="4517136"/>
            <a:ext cx="37490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The Definition of Done</a:t>
            </a:r>
            <a:endParaRPr lang="en-US" sz="1150" dirty="0"/>
          </a:p>
        </p:txBody>
      </p:sp>
      <p:sp>
        <p:nvSpPr>
          <p:cNvPr id="139" name="s139"/>
          <p:cNvSpPr txBox="1"/>
          <p:nvPr/>
        </p:nvSpPr>
        <p:spPr>
          <a:xfrm>
            <a:off x="7949794" y="4517136"/>
            <a:ext cx="3818534"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87171"/>
                </a:solidFill>
                <a:latin typeface="Segoe UI"/>
                <a:ea typeface="Segoe UI"/>
                <a:cs typeface="Segoe UI"/>
              </a:rPr>
              <a:t>"The code is written"</a:t>
            </a:r>
            <a:endParaRPr lang="en-US" sz="1150" dirty="0"/>
          </a:p>
        </p:txBody>
      </p:sp>
      <p:sp>
        <p:nvSpPr>
          <p:cNvPr id="140" name="s140"/>
          <p:cNvSpPr/>
          <p:nvPr/>
        </p:nvSpPr>
        <p:spPr>
          <a:xfrm>
            <a:off x="543154" y="4841748"/>
            <a:ext cx="11088014" cy="297180"/>
          </a:xfrm>
          <a:prstGeom prst="rect">
            <a:avLst/>
          </a:prstGeom>
          <a:solidFill>
            <a:srgbClr val="0F172A"/>
          </a:solidFill>
          <a:ln>
            <a:noFill/>
          </a:ln>
        </p:spPr>
        <p:txBody>
          <a:bodyPr wrap="square" lIns="164592" tIns="109728" rIns="137160" bIns="91440" rtlCol="0" anchor="t">
            <a:noAutofit/>
          </a:bodyPr>
          <a:lstStyle/>
          <a:p>
            <a:endParaRPr lang="en-US"/>
          </a:p>
        </p:txBody>
      </p:sp>
      <p:sp>
        <p:nvSpPr>
          <p:cNvPr id="141" name="s141"/>
          <p:cNvSpPr txBox="1"/>
          <p:nvPr/>
        </p:nvSpPr>
        <p:spPr>
          <a:xfrm>
            <a:off x="680314" y="4841748"/>
            <a:ext cx="32918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Mid-Sprint request</a:t>
            </a:r>
            <a:endParaRPr lang="en-US" sz="1150" dirty="0"/>
          </a:p>
        </p:txBody>
      </p:sp>
      <p:sp>
        <p:nvSpPr>
          <p:cNvPr id="142" name="s142"/>
          <p:cNvSpPr txBox="1"/>
          <p:nvPr/>
        </p:nvSpPr>
        <p:spPr>
          <a:xfrm>
            <a:off x="4109314" y="4841748"/>
            <a:ext cx="37490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PO adds it to the Product Backlog</a:t>
            </a:r>
            <a:endParaRPr lang="en-US" sz="1150" dirty="0"/>
          </a:p>
        </p:txBody>
      </p:sp>
      <p:sp>
        <p:nvSpPr>
          <p:cNvPr id="143" name="s143"/>
          <p:cNvSpPr txBox="1"/>
          <p:nvPr/>
        </p:nvSpPr>
        <p:spPr>
          <a:xfrm>
            <a:off x="7949794" y="4841748"/>
            <a:ext cx="3818534"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87171"/>
                </a:solidFill>
                <a:latin typeface="Segoe UI"/>
                <a:ea typeface="Segoe UI"/>
                <a:cs typeface="Segoe UI"/>
              </a:rPr>
              <a:t>Interrupt all current work</a:t>
            </a:r>
            <a:endParaRPr lang="en-US" sz="1150" dirty="0"/>
          </a:p>
        </p:txBody>
      </p:sp>
      <p:sp>
        <p:nvSpPr>
          <p:cNvPr id="144" name="s144"/>
          <p:cNvSpPr/>
          <p:nvPr/>
        </p:nvSpPr>
        <p:spPr>
          <a:xfrm>
            <a:off x="543154" y="5166360"/>
            <a:ext cx="11088014" cy="297180"/>
          </a:xfrm>
          <a:prstGeom prst="rect">
            <a:avLst/>
          </a:prstGeom>
          <a:solidFill>
            <a:srgbClr val="111B2E"/>
          </a:solidFill>
          <a:ln>
            <a:noFill/>
          </a:ln>
        </p:spPr>
        <p:txBody>
          <a:bodyPr wrap="square" lIns="164592" tIns="109728" rIns="137160" bIns="91440" rtlCol="0" anchor="t">
            <a:noAutofit/>
          </a:bodyPr>
          <a:lstStyle/>
          <a:p>
            <a:endParaRPr lang="en-US"/>
          </a:p>
        </p:txBody>
      </p:sp>
      <p:sp>
        <p:nvSpPr>
          <p:cNvPr id="145" name="s145"/>
          <p:cNvSpPr txBox="1"/>
          <p:nvPr/>
        </p:nvSpPr>
        <p:spPr>
          <a:xfrm>
            <a:off x="680314" y="5166360"/>
            <a:ext cx="32918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Reading progress</a:t>
            </a:r>
            <a:endParaRPr lang="en-US" sz="1150" dirty="0"/>
          </a:p>
        </p:txBody>
      </p:sp>
      <p:sp>
        <p:nvSpPr>
          <p:cNvPr id="146" name="s146"/>
          <p:cNvSpPr txBox="1"/>
          <p:nvPr/>
        </p:nvSpPr>
        <p:spPr>
          <a:xfrm>
            <a:off x="4109314" y="5166360"/>
            <a:ext cx="37490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Velocity for the same team’s forecast</a:t>
            </a:r>
            <a:endParaRPr lang="en-US" sz="1150" dirty="0"/>
          </a:p>
        </p:txBody>
      </p:sp>
      <p:sp>
        <p:nvSpPr>
          <p:cNvPr id="147" name="s147"/>
          <p:cNvSpPr txBox="1"/>
          <p:nvPr/>
        </p:nvSpPr>
        <p:spPr>
          <a:xfrm>
            <a:off x="7949794" y="5166360"/>
            <a:ext cx="3818534"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87171"/>
                </a:solidFill>
                <a:latin typeface="Segoe UI"/>
                <a:ea typeface="Segoe UI"/>
                <a:cs typeface="Segoe UI"/>
              </a:rPr>
              <a:t>Comparing teams or people</a:t>
            </a:r>
            <a:endParaRPr lang="en-US" sz="1150" dirty="0"/>
          </a:p>
        </p:txBody>
      </p:sp>
      <p:sp>
        <p:nvSpPr>
          <p:cNvPr id="148" name="s148"/>
          <p:cNvSpPr/>
          <p:nvPr/>
        </p:nvSpPr>
        <p:spPr>
          <a:xfrm>
            <a:off x="543154" y="5490972"/>
            <a:ext cx="11088014" cy="297180"/>
          </a:xfrm>
          <a:prstGeom prst="rect">
            <a:avLst/>
          </a:prstGeom>
          <a:solidFill>
            <a:srgbClr val="0F172A"/>
          </a:solidFill>
          <a:ln>
            <a:noFill/>
          </a:ln>
        </p:spPr>
        <p:txBody>
          <a:bodyPr wrap="square" lIns="164592" tIns="109728" rIns="137160" bIns="91440" rtlCol="0" anchor="t">
            <a:noAutofit/>
          </a:bodyPr>
          <a:lstStyle/>
          <a:p>
            <a:endParaRPr lang="en-US"/>
          </a:p>
        </p:txBody>
      </p:sp>
      <p:sp>
        <p:nvSpPr>
          <p:cNvPr id="149" name="s149"/>
          <p:cNvSpPr txBox="1"/>
          <p:nvPr/>
        </p:nvSpPr>
        <p:spPr>
          <a:xfrm>
            <a:off x="680314" y="5490972"/>
            <a:ext cx="32918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E2E8F0"/>
                </a:solidFill>
                <a:latin typeface="Segoe UI"/>
                <a:ea typeface="Segoe UI"/>
                <a:cs typeface="Segoe UI"/>
              </a:rPr>
              <a:t>Improving the process</a:t>
            </a:r>
            <a:endParaRPr lang="en-US" sz="1150" dirty="0"/>
          </a:p>
        </p:txBody>
      </p:sp>
      <p:sp>
        <p:nvSpPr>
          <p:cNvPr id="150" name="s150"/>
          <p:cNvSpPr txBox="1"/>
          <p:nvPr/>
        </p:nvSpPr>
        <p:spPr>
          <a:xfrm>
            <a:off x="4109314" y="5490972"/>
            <a:ext cx="3749040"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1" dirty="0">
                <a:solidFill>
                  <a:srgbClr val="34D399"/>
                </a:solidFill>
                <a:latin typeface="Segoe UI"/>
                <a:ea typeface="Segoe UI"/>
                <a:cs typeface="Segoe UI"/>
              </a:rPr>
              <a:t>Retro with 1–2 owned actions</a:t>
            </a:r>
            <a:endParaRPr lang="en-US" sz="1150" dirty="0"/>
          </a:p>
        </p:txBody>
      </p:sp>
      <p:sp>
        <p:nvSpPr>
          <p:cNvPr id="151" name="s151"/>
          <p:cNvSpPr txBox="1"/>
          <p:nvPr/>
        </p:nvSpPr>
        <p:spPr>
          <a:xfrm>
            <a:off x="7949794" y="5490972"/>
            <a:ext cx="3818534" cy="2971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150" b="0" dirty="0">
                <a:solidFill>
                  <a:srgbClr val="F87171"/>
                </a:solidFill>
                <a:latin typeface="Segoe UI"/>
                <a:ea typeface="Segoe UI"/>
                <a:cs typeface="Segoe UI"/>
              </a:rPr>
              <a:t>A complaint session</a:t>
            </a:r>
            <a:endParaRPr lang="en-US" sz="11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fade">
                                      <p:cBhvr>
                                        <p:cTn id="11" dur="500"/>
                                        <p:tgtEl>
                                          <p:spTgt spid="102"/>
                                        </p:tgtEl>
                                      </p:cBhvr>
                                    </p:animEffect>
                                    <p:anim calcmode="lin" valueType="num">
                                      <p:cBhvr additive="base">
                                        <p:cTn id="12" dur="500" decel="100000" fill="hold"/>
                                        <p:tgtEl>
                                          <p:spTgt spid="102"/>
                                        </p:tgtEl>
                                        <p:attrNameLst>
                                          <p:attrName>ppt_y</p:attrName>
                                        </p:attrNameLst>
                                      </p:cBhvr>
                                      <p:tavLst>
                                        <p:tav tm="0">
                                          <p:val>
                                            <p:strVal val="#ppt_y+0.06"/>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500"/>
                                        <p:tgtEl>
                                          <p:spTgt spid="103"/>
                                        </p:tgtEl>
                                      </p:cBhvr>
                                    </p:animEffect>
                                    <p:anim calcmode="lin" valueType="num">
                                      <p:cBhvr additive="base">
                                        <p:cTn id="16" dur="500" decel="100000" fill="hold"/>
                                        <p:tgtEl>
                                          <p:spTgt spid="103"/>
                                        </p:tgtEl>
                                        <p:attrNameLst>
                                          <p:attrName>ppt_y</p:attrName>
                                        </p:attrNameLst>
                                      </p:cBhvr>
                                      <p:tavLst>
                                        <p:tav tm="0">
                                          <p:val>
                                            <p:strVal val="#ppt_y+0.06"/>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04"/>
                                        </p:tgtEl>
                                        <p:attrNameLst>
                                          <p:attrName>style.visibility</p:attrName>
                                        </p:attrNameLst>
                                      </p:cBhvr>
                                      <p:to>
                                        <p:strVal val="visible"/>
                                      </p:to>
                                    </p:set>
                                    <p:animEffect transition="in" filter="fade">
                                      <p:cBhvr>
                                        <p:cTn id="21" dur="500"/>
                                        <p:tgtEl>
                                          <p:spTgt spid="104"/>
                                        </p:tgtEl>
                                      </p:cBhvr>
                                    </p:animEffect>
                                    <p:anim calcmode="lin" valueType="num">
                                      <p:cBhvr additive="base">
                                        <p:cTn id="22" dur="500" decel="100000" fill="hold"/>
                                        <p:tgtEl>
                                          <p:spTgt spid="104"/>
                                        </p:tgtEl>
                                        <p:attrNameLst>
                                          <p:attrName>ppt_y</p:attrName>
                                        </p:attrNameLst>
                                      </p:cBhvr>
                                      <p:tavLst>
                                        <p:tav tm="0">
                                          <p:val>
                                            <p:strVal val="#ppt_y+0.06"/>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anim calcmode="lin" valueType="num">
                                      <p:cBhvr additive="base">
                                        <p:cTn id="26" dur="500" decel="100000" fill="hold"/>
                                        <p:tgtEl>
                                          <p:spTgt spid="105"/>
                                        </p:tgtEl>
                                        <p:attrNameLst>
                                          <p:attrName>ppt_y</p:attrName>
                                        </p:attrNameLst>
                                      </p:cBhvr>
                                      <p:tavLst>
                                        <p:tav tm="0">
                                          <p:val>
                                            <p:strVal val="#ppt_y+0.06"/>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106"/>
                                        </p:tgtEl>
                                        <p:attrNameLst>
                                          <p:attrName>style.visibility</p:attrName>
                                        </p:attrNameLst>
                                      </p:cBhvr>
                                      <p:to>
                                        <p:strVal val="visible"/>
                                      </p:to>
                                    </p:set>
                                    <p:animEffect transition="in" filter="fade">
                                      <p:cBhvr>
                                        <p:cTn id="29" dur="500"/>
                                        <p:tgtEl>
                                          <p:spTgt spid="106"/>
                                        </p:tgtEl>
                                      </p:cBhvr>
                                    </p:animEffect>
                                    <p:anim calcmode="lin" valueType="num">
                                      <p:cBhvr additive="base">
                                        <p:cTn id="30" dur="500" decel="100000" fill="hold"/>
                                        <p:tgtEl>
                                          <p:spTgt spid="106"/>
                                        </p:tgtEl>
                                        <p:attrNameLst>
                                          <p:attrName>ppt_y</p:attrName>
                                        </p:attrNameLst>
                                      </p:cBhvr>
                                      <p:tavLst>
                                        <p:tav tm="0">
                                          <p:val>
                                            <p:strVal val="#ppt_y+0.06"/>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07"/>
                                        </p:tgtEl>
                                        <p:attrNameLst>
                                          <p:attrName>style.visibility</p:attrName>
                                        </p:attrNameLst>
                                      </p:cBhvr>
                                      <p:to>
                                        <p:strVal val="visible"/>
                                      </p:to>
                                    </p:set>
                                    <p:animEffect transition="in" filter="fade">
                                      <p:cBhvr>
                                        <p:cTn id="33" dur="500"/>
                                        <p:tgtEl>
                                          <p:spTgt spid="107"/>
                                        </p:tgtEl>
                                      </p:cBhvr>
                                    </p:animEffect>
                                    <p:anim calcmode="lin" valueType="num">
                                      <p:cBhvr additive="base">
                                        <p:cTn id="34" dur="500" decel="100000" fill="hold"/>
                                        <p:tgtEl>
                                          <p:spTgt spid="107"/>
                                        </p:tgtEl>
                                        <p:attrNameLst>
                                          <p:attrName>ppt_y</p:attrName>
                                        </p:attrNameLst>
                                      </p:cBhvr>
                                      <p:tavLst>
                                        <p:tav tm="0">
                                          <p:val>
                                            <p:strVal val="#ppt_y+0.06"/>
                                          </p:val>
                                        </p:tav>
                                        <p:tav tm="100000">
                                          <p:val>
                                            <p:strVal val="#ppt_y"/>
                                          </p:val>
                                        </p:tav>
                                      </p:tavLst>
                                    </p:anim>
                                  </p:childTnLst>
                                </p:cTn>
                              </p:par>
                              <p:par>
                                <p:cTn id="35" presetID="42" presetClass="entr" presetSubtype="0" fill="hold" grpId="0" nodeType="withEffect">
                                  <p:stCondLst>
                                    <p:cond delay="8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anim calcmode="lin" valueType="num">
                                      <p:cBhvr additive="base">
                                        <p:cTn id="38" dur="500" decel="100000" fill="hold"/>
                                        <p:tgtEl>
                                          <p:spTgt spid="108"/>
                                        </p:tgtEl>
                                        <p:attrNameLst>
                                          <p:attrName>ppt_y</p:attrName>
                                        </p:attrNameLst>
                                      </p:cBhvr>
                                      <p:tavLst>
                                        <p:tav tm="0">
                                          <p:val>
                                            <p:strVal val="#ppt_y+0.06"/>
                                          </p:val>
                                        </p:tav>
                                        <p:tav tm="100000">
                                          <p:val>
                                            <p:strVal val="#ppt_y"/>
                                          </p:val>
                                        </p:tav>
                                      </p:tavLst>
                                    </p:anim>
                                  </p:childTnLst>
                                </p:cTn>
                              </p:par>
                              <p:par>
                                <p:cTn id="39" presetID="42" presetClass="entr" presetSubtype="0" fill="hold" grpId="0" nodeType="withEffect">
                                  <p:stCondLst>
                                    <p:cond delay="80"/>
                                  </p:stCondLst>
                                  <p:childTnLst>
                                    <p:set>
                                      <p:cBhvr>
                                        <p:cTn id="40" dur="1" fill="hold">
                                          <p:stCondLst>
                                            <p:cond delay="0"/>
                                          </p:stCondLst>
                                        </p:cTn>
                                        <p:tgtEl>
                                          <p:spTgt spid="109"/>
                                        </p:tgtEl>
                                        <p:attrNameLst>
                                          <p:attrName>style.visibility</p:attrName>
                                        </p:attrNameLst>
                                      </p:cBhvr>
                                      <p:to>
                                        <p:strVal val="visible"/>
                                      </p:to>
                                    </p:set>
                                    <p:animEffect transition="in" filter="fade">
                                      <p:cBhvr>
                                        <p:cTn id="41" dur="500"/>
                                        <p:tgtEl>
                                          <p:spTgt spid="109"/>
                                        </p:tgtEl>
                                      </p:cBhvr>
                                    </p:animEffect>
                                    <p:anim calcmode="lin" valueType="num">
                                      <p:cBhvr additive="base">
                                        <p:cTn id="42" dur="500" decel="100000" fill="hold"/>
                                        <p:tgtEl>
                                          <p:spTgt spid="109"/>
                                        </p:tgtEl>
                                        <p:attrNameLst>
                                          <p:attrName>ppt_y</p:attrName>
                                        </p:attrNameLst>
                                      </p:cBhvr>
                                      <p:tavLst>
                                        <p:tav tm="0">
                                          <p:val>
                                            <p:strVal val="#ppt_y+0.06"/>
                                          </p:val>
                                        </p:tav>
                                        <p:tav tm="100000">
                                          <p:val>
                                            <p:strVal val="#ppt_y"/>
                                          </p:val>
                                        </p:tav>
                                      </p:tavLst>
                                    </p:anim>
                                  </p:childTnLst>
                                </p:cTn>
                              </p:par>
                              <p:par>
                                <p:cTn id="43" presetID="42" presetClass="entr" presetSubtype="0" fill="hold" grpId="0" nodeType="withEffect">
                                  <p:stCondLst>
                                    <p:cond delay="80"/>
                                  </p:stCondLst>
                                  <p:childTnLst>
                                    <p:set>
                                      <p:cBhvr>
                                        <p:cTn id="44" dur="1" fill="hold">
                                          <p:stCondLst>
                                            <p:cond delay="0"/>
                                          </p:stCondLst>
                                        </p:cTn>
                                        <p:tgtEl>
                                          <p:spTgt spid="110"/>
                                        </p:tgtEl>
                                        <p:attrNameLst>
                                          <p:attrName>style.visibility</p:attrName>
                                        </p:attrNameLst>
                                      </p:cBhvr>
                                      <p:to>
                                        <p:strVal val="visible"/>
                                      </p:to>
                                    </p:set>
                                    <p:animEffect transition="in" filter="fade">
                                      <p:cBhvr>
                                        <p:cTn id="45" dur="500"/>
                                        <p:tgtEl>
                                          <p:spTgt spid="110"/>
                                        </p:tgtEl>
                                      </p:cBhvr>
                                    </p:animEffect>
                                    <p:anim calcmode="lin" valueType="num">
                                      <p:cBhvr additive="base">
                                        <p:cTn id="46" dur="500" decel="100000" fill="hold"/>
                                        <p:tgtEl>
                                          <p:spTgt spid="110"/>
                                        </p:tgtEl>
                                        <p:attrNameLst>
                                          <p:attrName>ppt_y</p:attrName>
                                        </p:attrNameLst>
                                      </p:cBhvr>
                                      <p:tavLst>
                                        <p:tav tm="0">
                                          <p:val>
                                            <p:strVal val="#ppt_y+0.06"/>
                                          </p:val>
                                        </p:tav>
                                        <p:tav tm="100000">
                                          <p:val>
                                            <p:strVal val="#ppt_y"/>
                                          </p:val>
                                        </p:tav>
                                      </p:tavLst>
                                    </p:anim>
                                  </p:childTnLst>
                                </p:cTn>
                              </p:par>
                              <p:par>
                                <p:cTn id="47" presetID="42" presetClass="entr" presetSubtype="0" fill="hold" grpId="0" nodeType="withEffect">
                                  <p:stCondLst>
                                    <p:cond delay="80"/>
                                  </p:stCondLst>
                                  <p:childTnLst>
                                    <p:set>
                                      <p:cBhvr>
                                        <p:cTn id="48" dur="1" fill="hold">
                                          <p:stCondLst>
                                            <p:cond delay="0"/>
                                          </p:stCondLst>
                                        </p:cTn>
                                        <p:tgtEl>
                                          <p:spTgt spid="111"/>
                                        </p:tgtEl>
                                        <p:attrNameLst>
                                          <p:attrName>style.visibility</p:attrName>
                                        </p:attrNameLst>
                                      </p:cBhvr>
                                      <p:to>
                                        <p:strVal val="visible"/>
                                      </p:to>
                                    </p:set>
                                    <p:animEffect transition="in" filter="fade">
                                      <p:cBhvr>
                                        <p:cTn id="49" dur="500"/>
                                        <p:tgtEl>
                                          <p:spTgt spid="111"/>
                                        </p:tgtEl>
                                      </p:cBhvr>
                                    </p:animEffect>
                                    <p:anim calcmode="lin" valueType="num">
                                      <p:cBhvr additive="base">
                                        <p:cTn id="50" dur="500" decel="100000" fill="hold"/>
                                        <p:tgtEl>
                                          <p:spTgt spid="111"/>
                                        </p:tgtEl>
                                        <p:attrNameLst>
                                          <p:attrName>ppt_y</p:attrName>
                                        </p:attrNameLst>
                                      </p:cBhvr>
                                      <p:tavLst>
                                        <p:tav tm="0">
                                          <p:val>
                                            <p:strVal val="#ppt_y+0.06"/>
                                          </p:val>
                                        </p:tav>
                                        <p:tav tm="100000">
                                          <p:val>
                                            <p:strVal val="#ppt_y"/>
                                          </p:val>
                                        </p:tav>
                                      </p:tavLst>
                                    </p:anim>
                                  </p:childTnLst>
                                </p:cTn>
                              </p:par>
                              <p:par>
                                <p:cTn id="51" presetID="42" presetClass="entr" presetSubtype="0" fill="hold" grpId="0" nodeType="withEffect">
                                  <p:stCondLst>
                                    <p:cond delay="160"/>
                                  </p:stCondLst>
                                  <p:childTnLst>
                                    <p:set>
                                      <p:cBhvr>
                                        <p:cTn id="52" dur="1" fill="hold">
                                          <p:stCondLst>
                                            <p:cond delay="0"/>
                                          </p:stCondLst>
                                        </p:cTn>
                                        <p:tgtEl>
                                          <p:spTgt spid="112"/>
                                        </p:tgtEl>
                                        <p:attrNameLst>
                                          <p:attrName>style.visibility</p:attrName>
                                        </p:attrNameLst>
                                      </p:cBhvr>
                                      <p:to>
                                        <p:strVal val="visible"/>
                                      </p:to>
                                    </p:set>
                                    <p:animEffect transition="in" filter="fade">
                                      <p:cBhvr>
                                        <p:cTn id="53" dur="500"/>
                                        <p:tgtEl>
                                          <p:spTgt spid="112"/>
                                        </p:tgtEl>
                                      </p:cBhvr>
                                    </p:animEffect>
                                    <p:anim calcmode="lin" valueType="num">
                                      <p:cBhvr additive="base">
                                        <p:cTn id="54" dur="500" decel="100000" fill="hold"/>
                                        <p:tgtEl>
                                          <p:spTgt spid="112"/>
                                        </p:tgtEl>
                                        <p:attrNameLst>
                                          <p:attrName>ppt_y</p:attrName>
                                        </p:attrNameLst>
                                      </p:cBhvr>
                                      <p:tavLst>
                                        <p:tav tm="0">
                                          <p:val>
                                            <p:strVal val="#ppt_y+0.06"/>
                                          </p:val>
                                        </p:tav>
                                        <p:tav tm="100000">
                                          <p:val>
                                            <p:strVal val="#ppt_y"/>
                                          </p:val>
                                        </p:tav>
                                      </p:tavLst>
                                    </p:anim>
                                  </p:childTnLst>
                                </p:cTn>
                              </p:par>
                              <p:par>
                                <p:cTn id="55" presetID="42" presetClass="entr" presetSubtype="0" fill="hold" grpId="0" nodeType="withEffect">
                                  <p:stCondLst>
                                    <p:cond delay="160"/>
                                  </p:stCondLst>
                                  <p:childTnLst>
                                    <p:set>
                                      <p:cBhvr>
                                        <p:cTn id="56" dur="1" fill="hold">
                                          <p:stCondLst>
                                            <p:cond delay="0"/>
                                          </p:stCondLst>
                                        </p:cTn>
                                        <p:tgtEl>
                                          <p:spTgt spid="113"/>
                                        </p:tgtEl>
                                        <p:attrNameLst>
                                          <p:attrName>style.visibility</p:attrName>
                                        </p:attrNameLst>
                                      </p:cBhvr>
                                      <p:to>
                                        <p:strVal val="visible"/>
                                      </p:to>
                                    </p:set>
                                    <p:animEffect transition="in" filter="fade">
                                      <p:cBhvr>
                                        <p:cTn id="57" dur="500"/>
                                        <p:tgtEl>
                                          <p:spTgt spid="113"/>
                                        </p:tgtEl>
                                      </p:cBhvr>
                                    </p:animEffect>
                                    <p:anim calcmode="lin" valueType="num">
                                      <p:cBhvr additive="base">
                                        <p:cTn id="58" dur="500" decel="100000" fill="hold"/>
                                        <p:tgtEl>
                                          <p:spTgt spid="113"/>
                                        </p:tgtEl>
                                        <p:attrNameLst>
                                          <p:attrName>ppt_y</p:attrName>
                                        </p:attrNameLst>
                                      </p:cBhvr>
                                      <p:tavLst>
                                        <p:tav tm="0">
                                          <p:val>
                                            <p:strVal val="#ppt_y+0.06"/>
                                          </p:val>
                                        </p:tav>
                                        <p:tav tm="100000">
                                          <p:val>
                                            <p:strVal val="#ppt_y"/>
                                          </p:val>
                                        </p:tav>
                                      </p:tavLst>
                                    </p:anim>
                                  </p:childTnLst>
                                </p:cTn>
                              </p:par>
                              <p:par>
                                <p:cTn id="59" presetID="42" presetClass="entr" presetSubtype="0" fill="hold" grpId="0" nodeType="withEffect">
                                  <p:stCondLst>
                                    <p:cond delay="160"/>
                                  </p:stCondLst>
                                  <p:childTnLst>
                                    <p:set>
                                      <p:cBhvr>
                                        <p:cTn id="60" dur="1" fill="hold">
                                          <p:stCondLst>
                                            <p:cond delay="0"/>
                                          </p:stCondLst>
                                        </p:cTn>
                                        <p:tgtEl>
                                          <p:spTgt spid="114"/>
                                        </p:tgtEl>
                                        <p:attrNameLst>
                                          <p:attrName>style.visibility</p:attrName>
                                        </p:attrNameLst>
                                      </p:cBhvr>
                                      <p:to>
                                        <p:strVal val="visible"/>
                                      </p:to>
                                    </p:set>
                                    <p:animEffect transition="in" filter="fade">
                                      <p:cBhvr>
                                        <p:cTn id="61" dur="500"/>
                                        <p:tgtEl>
                                          <p:spTgt spid="114"/>
                                        </p:tgtEl>
                                      </p:cBhvr>
                                    </p:animEffect>
                                    <p:anim calcmode="lin" valueType="num">
                                      <p:cBhvr additive="base">
                                        <p:cTn id="62" dur="500" decel="100000" fill="hold"/>
                                        <p:tgtEl>
                                          <p:spTgt spid="114"/>
                                        </p:tgtEl>
                                        <p:attrNameLst>
                                          <p:attrName>ppt_y</p:attrName>
                                        </p:attrNameLst>
                                      </p:cBhvr>
                                      <p:tavLst>
                                        <p:tav tm="0">
                                          <p:val>
                                            <p:strVal val="#ppt_y+0.06"/>
                                          </p:val>
                                        </p:tav>
                                        <p:tav tm="100000">
                                          <p:val>
                                            <p:strVal val="#ppt_y"/>
                                          </p:val>
                                        </p:tav>
                                      </p:tavLst>
                                    </p:anim>
                                  </p:childTnLst>
                                </p:cTn>
                              </p:par>
                              <p:par>
                                <p:cTn id="63" presetID="42" presetClass="entr" presetSubtype="0" fill="hold" grpId="0" nodeType="withEffect">
                                  <p:stCondLst>
                                    <p:cond delay="160"/>
                                  </p:stCondLst>
                                  <p:childTnLst>
                                    <p:set>
                                      <p:cBhvr>
                                        <p:cTn id="64" dur="1" fill="hold">
                                          <p:stCondLst>
                                            <p:cond delay="0"/>
                                          </p:stCondLst>
                                        </p:cTn>
                                        <p:tgtEl>
                                          <p:spTgt spid="115"/>
                                        </p:tgtEl>
                                        <p:attrNameLst>
                                          <p:attrName>style.visibility</p:attrName>
                                        </p:attrNameLst>
                                      </p:cBhvr>
                                      <p:to>
                                        <p:strVal val="visible"/>
                                      </p:to>
                                    </p:set>
                                    <p:animEffect transition="in" filter="fade">
                                      <p:cBhvr>
                                        <p:cTn id="65" dur="500"/>
                                        <p:tgtEl>
                                          <p:spTgt spid="115"/>
                                        </p:tgtEl>
                                      </p:cBhvr>
                                    </p:animEffect>
                                    <p:anim calcmode="lin" valueType="num">
                                      <p:cBhvr additive="base">
                                        <p:cTn id="66" dur="500" decel="100000" fill="hold"/>
                                        <p:tgtEl>
                                          <p:spTgt spid="115"/>
                                        </p:tgtEl>
                                        <p:attrNameLst>
                                          <p:attrName>ppt_y</p:attrName>
                                        </p:attrNameLst>
                                      </p:cBhvr>
                                      <p:tavLst>
                                        <p:tav tm="0">
                                          <p:val>
                                            <p:strVal val="#ppt_y+0.06"/>
                                          </p:val>
                                        </p:tav>
                                        <p:tav tm="100000">
                                          <p:val>
                                            <p:strVal val="#ppt_y"/>
                                          </p:val>
                                        </p:tav>
                                      </p:tavLst>
                                    </p:anim>
                                  </p:childTnLst>
                                </p:cTn>
                              </p:par>
                              <p:par>
                                <p:cTn id="67" presetID="42" presetClass="entr" presetSubtype="0" fill="hold" grpId="0" nodeType="withEffect">
                                  <p:stCondLst>
                                    <p:cond delay="24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500"/>
                                        <p:tgtEl>
                                          <p:spTgt spid="116"/>
                                        </p:tgtEl>
                                      </p:cBhvr>
                                    </p:animEffect>
                                    <p:anim calcmode="lin" valueType="num">
                                      <p:cBhvr additive="base">
                                        <p:cTn id="70" dur="500" decel="100000" fill="hold"/>
                                        <p:tgtEl>
                                          <p:spTgt spid="116"/>
                                        </p:tgtEl>
                                        <p:attrNameLst>
                                          <p:attrName>ppt_y</p:attrName>
                                        </p:attrNameLst>
                                      </p:cBhvr>
                                      <p:tavLst>
                                        <p:tav tm="0">
                                          <p:val>
                                            <p:strVal val="#ppt_y+0.06"/>
                                          </p:val>
                                        </p:tav>
                                        <p:tav tm="100000">
                                          <p:val>
                                            <p:strVal val="#ppt_y"/>
                                          </p:val>
                                        </p:tav>
                                      </p:tavLst>
                                    </p:anim>
                                  </p:childTnLst>
                                </p:cTn>
                              </p:par>
                              <p:par>
                                <p:cTn id="71" presetID="42" presetClass="entr" presetSubtype="0" fill="hold" grpId="0" nodeType="withEffect">
                                  <p:stCondLst>
                                    <p:cond delay="240"/>
                                  </p:stCondLst>
                                  <p:childTnLst>
                                    <p:set>
                                      <p:cBhvr>
                                        <p:cTn id="72" dur="1" fill="hold">
                                          <p:stCondLst>
                                            <p:cond delay="0"/>
                                          </p:stCondLst>
                                        </p:cTn>
                                        <p:tgtEl>
                                          <p:spTgt spid="117"/>
                                        </p:tgtEl>
                                        <p:attrNameLst>
                                          <p:attrName>style.visibility</p:attrName>
                                        </p:attrNameLst>
                                      </p:cBhvr>
                                      <p:to>
                                        <p:strVal val="visible"/>
                                      </p:to>
                                    </p:set>
                                    <p:animEffect transition="in" filter="fade">
                                      <p:cBhvr>
                                        <p:cTn id="73" dur="500"/>
                                        <p:tgtEl>
                                          <p:spTgt spid="117"/>
                                        </p:tgtEl>
                                      </p:cBhvr>
                                    </p:animEffect>
                                    <p:anim calcmode="lin" valueType="num">
                                      <p:cBhvr additive="base">
                                        <p:cTn id="74" dur="500" decel="100000" fill="hold"/>
                                        <p:tgtEl>
                                          <p:spTgt spid="117"/>
                                        </p:tgtEl>
                                        <p:attrNameLst>
                                          <p:attrName>ppt_y</p:attrName>
                                        </p:attrNameLst>
                                      </p:cBhvr>
                                      <p:tavLst>
                                        <p:tav tm="0">
                                          <p:val>
                                            <p:strVal val="#ppt_y+0.06"/>
                                          </p:val>
                                        </p:tav>
                                        <p:tav tm="100000">
                                          <p:val>
                                            <p:strVal val="#ppt_y"/>
                                          </p:val>
                                        </p:tav>
                                      </p:tavLst>
                                    </p:anim>
                                  </p:childTnLst>
                                </p:cTn>
                              </p:par>
                              <p:par>
                                <p:cTn id="75" presetID="42" presetClass="entr" presetSubtype="0" fill="hold" grpId="0" nodeType="withEffect">
                                  <p:stCondLst>
                                    <p:cond delay="240"/>
                                  </p:stCondLst>
                                  <p:childTnLst>
                                    <p:set>
                                      <p:cBhvr>
                                        <p:cTn id="76" dur="1" fill="hold">
                                          <p:stCondLst>
                                            <p:cond delay="0"/>
                                          </p:stCondLst>
                                        </p:cTn>
                                        <p:tgtEl>
                                          <p:spTgt spid="118"/>
                                        </p:tgtEl>
                                        <p:attrNameLst>
                                          <p:attrName>style.visibility</p:attrName>
                                        </p:attrNameLst>
                                      </p:cBhvr>
                                      <p:to>
                                        <p:strVal val="visible"/>
                                      </p:to>
                                    </p:set>
                                    <p:animEffect transition="in" filter="fade">
                                      <p:cBhvr>
                                        <p:cTn id="77" dur="500"/>
                                        <p:tgtEl>
                                          <p:spTgt spid="118"/>
                                        </p:tgtEl>
                                      </p:cBhvr>
                                    </p:animEffect>
                                    <p:anim calcmode="lin" valueType="num">
                                      <p:cBhvr additive="base">
                                        <p:cTn id="78" dur="500" decel="100000" fill="hold"/>
                                        <p:tgtEl>
                                          <p:spTgt spid="118"/>
                                        </p:tgtEl>
                                        <p:attrNameLst>
                                          <p:attrName>ppt_y</p:attrName>
                                        </p:attrNameLst>
                                      </p:cBhvr>
                                      <p:tavLst>
                                        <p:tav tm="0">
                                          <p:val>
                                            <p:strVal val="#ppt_y+0.06"/>
                                          </p:val>
                                        </p:tav>
                                        <p:tav tm="100000">
                                          <p:val>
                                            <p:strVal val="#ppt_y"/>
                                          </p:val>
                                        </p:tav>
                                      </p:tavLst>
                                    </p:anim>
                                  </p:childTnLst>
                                </p:cTn>
                              </p:par>
                              <p:par>
                                <p:cTn id="79" presetID="42" presetClass="entr" presetSubtype="0" fill="hold" grpId="0" nodeType="withEffect">
                                  <p:stCondLst>
                                    <p:cond delay="240"/>
                                  </p:stCondLst>
                                  <p:childTnLst>
                                    <p:set>
                                      <p:cBhvr>
                                        <p:cTn id="80" dur="1" fill="hold">
                                          <p:stCondLst>
                                            <p:cond delay="0"/>
                                          </p:stCondLst>
                                        </p:cTn>
                                        <p:tgtEl>
                                          <p:spTgt spid="119"/>
                                        </p:tgtEl>
                                        <p:attrNameLst>
                                          <p:attrName>style.visibility</p:attrName>
                                        </p:attrNameLst>
                                      </p:cBhvr>
                                      <p:to>
                                        <p:strVal val="visible"/>
                                      </p:to>
                                    </p:set>
                                    <p:animEffect transition="in" filter="fade">
                                      <p:cBhvr>
                                        <p:cTn id="81" dur="500"/>
                                        <p:tgtEl>
                                          <p:spTgt spid="119"/>
                                        </p:tgtEl>
                                      </p:cBhvr>
                                    </p:animEffect>
                                    <p:anim calcmode="lin" valueType="num">
                                      <p:cBhvr additive="base">
                                        <p:cTn id="82" dur="500" decel="100000" fill="hold"/>
                                        <p:tgtEl>
                                          <p:spTgt spid="119"/>
                                        </p:tgtEl>
                                        <p:attrNameLst>
                                          <p:attrName>ppt_y</p:attrName>
                                        </p:attrNameLst>
                                      </p:cBhvr>
                                      <p:tavLst>
                                        <p:tav tm="0">
                                          <p:val>
                                            <p:strVal val="#ppt_y+0.06"/>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42" presetClass="entr" presetSubtype="0" fill="hold" grpId="0" nodeType="clickEffect">
                                  <p:stCondLst>
                                    <p:cond delay="0"/>
                                  </p:stCondLst>
                                  <p:childTnLst>
                                    <p:set>
                                      <p:cBhvr>
                                        <p:cTn id="86" dur="1" fill="hold">
                                          <p:stCondLst>
                                            <p:cond delay="0"/>
                                          </p:stCondLst>
                                        </p:cTn>
                                        <p:tgtEl>
                                          <p:spTgt spid="120"/>
                                        </p:tgtEl>
                                        <p:attrNameLst>
                                          <p:attrName>style.visibility</p:attrName>
                                        </p:attrNameLst>
                                      </p:cBhvr>
                                      <p:to>
                                        <p:strVal val="visible"/>
                                      </p:to>
                                    </p:set>
                                    <p:animEffect transition="in" filter="fade">
                                      <p:cBhvr>
                                        <p:cTn id="87" dur="500"/>
                                        <p:tgtEl>
                                          <p:spTgt spid="120"/>
                                        </p:tgtEl>
                                      </p:cBhvr>
                                    </p:animEffect>
                                    <p:anim calcmode="lin" valueType="num">
                                      <p:cBhvr additive="base">
                                        <p:cTn id="88" dur="500" decel="100000" fill="hold"/>
                                        <p:tgtEl>
                                          <p:spTgt spid="120"/>
                                        </p:tgtEl>
                                        <p:attrNameLst>
                                          <p:attrName>ppt_y</p:attrName>
                                        </p:attrNameLst>
                                      </p:cBhvr>
                                      <p:tavLst>
                                        <p:tav tm="0">
                                          <p:val>
                                            <p:strVal val="#ppt_y+0.06"/>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121"/>
                                        </p:tgtEl>
                                        <p:attrNameLst>
                                          <p:attrName>style.visibility</p:attrName>
                                        </p:attrNameLst>
                                      </p:cBhvr>
                                      <p:to>
                                        <p:strVal val="visible"/>
                                      </p:to>
                                    </p:set>
                                    <p:animEffect transition="in" filter="fade">
                                      <p:cBhvr>
                                        <p:cTn id="91" dur="500"/>
                                        <p:tgtEl>
                                          <p:spTgt spid="121"/>
                                        </p:tgtEl>
                                      </p:cBhvr>
                                    </p:animEffect>
                                    <p:anim calcmode="lin" valueType="num">
                                      <p:cBhvr additive="base">
                                        <p:cTn id="92" dur="500" decel="100000" fill="hold"/>
                                        <p:tgtEl>
                                          <p:spTgt spid="121"/>
                                        </p:tgtEl>
                                        <p:attrNameLst>
                                          <p:attrName>ppt_y</p:attrName>
                                        </p:attrNameLst>
                                      </p:cBhvr>
                                      <p:tavLst>
                                        <p:tav tm="0">
                                          <p:val>
                                            <p:strVal val="#ppt_y+0.06"/>
                                          </p:val>
                                        </p:tav>
                                        <p:tav tm="100000">
                                          <p:val>
                                            <p:strVal val="#ppt_y"/>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122"/>
                                        </p:tgtEl>
                                        <p:attrNameLst>
                                          <p:attrName>style.visibility</p:attrName>
                                        </p:attrNameLst>
                                      </p:cBhvr>
                                      <p:to>
                                        <p:strVal val="visible"/>
                                      </p:to>
                                    </p:set>
                                    <p:animEffect transition="in" filter="fade">
                                      <p:cBhvr>
                                        <p:cTn id="95" dur="500"/>
                                        <p:tgtEl>
                                          <p:spTgt spid="122"/>
                                        </p:tgtEl>
                                      </p:cBhvr>
                                    </p:animEffect>
                                    <p:anim calcmode="lin" valueType="num">
                                      <p:cBhvr additive="base">
                                        <p:cTn id="96" dur="500" decel="100000" fill="hold"/>
                                        <p:tgtEl>
                                          <p:spTgt spid="122"/>
                                        </p:tgtEl>
                                        <p:attrNameLst>
                                          <p:attrName>ppt_y</p:attrName>
                                        </p:attrNameLst>
                                      </p:cBhvr>
                                      <p:tavLst>
                                        <p:tav tm="0">
                                          <p:val>
                                            <p:strVal val="#ppt_y+0.06"/>
                                          </p:val>
                                        </p:tav>
                                        <p:tav tm="100000">
                                          <p:val>
                                            <p:strVal val="#ppt_y"/>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123"/>
                                        </p:tgtEl>
                                        <p:attrNameLst>
                                          <p:attrName>style.visibility</p:attrName>
                                        </p:attrNameLst>
                                      </p:cBhvr>
                                      <p:to>
                                        <p:strVal val="visible"/>
                                      </p:to>
                                    </p:set>
                                    <p:animEffect transition="in" filter="fade">
                                      <p:cBhvr>
                                        <p:cTn id="99" dur="500"/>
                                        <p:tgtEl>
                                          <p:spTgt spid="123"/>
                                        </p:tgtEl>
                                      </p:cBhvr>
                                    </p:animEffect>
                                    <p:anim calcmode="lin" valueType="num">
                                      <p:cBhvr additive="base">
                                        <p:cTn id="100" dur="500" decel="100000" fill="hold"/>
                                        <p:tgtEl>
                                          <p:spTgt spid="123"/>
                                        </p:tgtEl>
                                        <p:attrNameLst>
                                          <p:attrName>ppt_y</p:attrName>
                                        </p:attrNameLst>
                                      </p:cBhvr>
                                      <p:tavLst>
                                        <p:tav tm="0">
                                          <p:val>
                                            <p:strVal val="#ppt_y+0.06"/>
                                          </p:val>
                                        </p:tav>
                                        <p:tav tm="100000">
                                          <p:val>
                                            <p:strVal val="#ppt_y"/>
                                          </p:val>
                                        </p:tav>
                                      </p:tavLst>
                                    </p:anim>
                                  </p:childTnLst>
                                </p:cTn>
                              </p:par>
                              <p:par>
                                <p:cTn id="101" presetID="42" presetClass="entr" presetSubtype="0" fill="hold" grpId="0" nodeType="withEffect">
                                  <p:stCondLst>
                                    <p:cond delay="80"/>
                                  </p:stCondLst>
                                  <p:childTnLst>
                                    <p:set>
                                      <p:cBhvr>
                                        <p:cTn id="102" dur="1" fill="hold">
                                          <p:stCondLst>
                                            <p:cond delay="0"/>
                                          </p:stCondLst>
                                        </p:cTn>
                                        <p:tgtEl>
                                          <p:spTgt spid="124"/>
                                        </p:tgtEl>
                                        <p:attrNameLst>
                                          <p:attrName>style.visibility</p:attrName>
                                        </p:attrNameLst>
                                      </p:cBhvr>
                                      <p:to>
                                        <p:strVal val="visible"/>
                                      </p:to>
                                    </p:set>
                                    <p:animEffect transition="in" filter="fade">
                                      <p:cBhvr>
                                        <p:cTn id="103" dur="500"/>
                                        <p:tgtEl>
                                          <p:spTgt spid="124"/>
                                        </p:tgtEl>
                                      </p:cBhvr>
                                    </p:animEffect>
                                    <p:anim calcmode="lin" valueType="num">
                                      <p:cBhvr additive="base">
                                        <p:cTn id="104" dur="500" decel="100000" fill="hold"/>
                                        <p:tgtEl>
                                          <p:spTgt spid="124"/>
                                        </p:tgtEl>
                                        <p:attrNameLst>
                                          <p:attrName>ppt_y</p:attrName>
                                        </p:attrNameLst>
                                      </p:cBhvr>
                                      <p:tavLst>
                                        <p:tav tm="0">
                                          <p:val>
                                            <p:strVal val="#ppt_y+0.06"/>
                                          </p:val>
                                        </p:tav>
                                        <p:tav tm="100000">
                                          <p:val>
                                            <p:strVal val="#ppt_y"/>
                                          </p:val>
                                        </p:tav>
                                      </p:tavLst>
                                    </p:anim>
                                  </p:childTnLst>
                                </p:cTn>
                              </p:par>
                              <p:par>
                                <p:cTn id="105" presetID="42" presetClass="entr" presetSubtype="0" fill="hold" grpId="0" nodeType="withEffect">
                                  <p:stCondLst>
                                    <p:cond delay="80"/>
                                  </p:stCondLst>
                                  <p:childTnLst>
                                    <p:set>
                                      <p:cBhvr>
                                        <p:cTn id="106" dur="1" fill="hold">
                                          <p:stCondLst>
                                            <p:cond delay="0"/>
                                          </p:stCondLst>
                                        </p:cTn>
                                        <p:tgtEl>
                                          <p:spTgt spid="125"/>
                                        </p:tgtEl>
                                        <p:attrNameLst>
                                          <p:attrName>style.visibility</p:attrName>
                                        </p:attrNameLst>
                                      </p:cBhvr>
                                      <p:to>
                                        <p:strVal val="visible"/>
                                      </p:to>
                                    </p:set>
                                    <p:animEffect transition="in" filter="fade">
                                      <p:cBhvr>
                                        <p:cTn id="107" dur="500"/>
                                        <p:tgtEl>
                                          <p:spTgt spid="125"/>
                                        </p:tgtEl>
                                      </p:cBhvr>
                                    </p:animEffect>
                                    <p:anim calcmode="lin" valueType="num">
                                      <p:cBhvr additive="base">
                                        <p:cTn id="108" dur="500" decel="100000" fill="hold"/>
                                        <p:tgtEl>
                                          <p:spTgt spid="125"/>
                                        </p:tgtEl>
                                        <p:attrNameLst>
                                          <p:attrName>ppt_y</p:attrName>
                                        </p:attrNameLst>
                                      </p:cBhvr>
                                      <p:tavLst>
                                        <p:tav tm="0">
                                          <p:val>
                                            <p:strVal val="#ppt_y+0.06"/>
                                          </p:val>
                                        </p:tav>
                                        <p:tav tm="100000">
                                          <p:val>
                                            <p:strVal val="#ppt_y"/>
                                          </p:val>
                                        </p:tav>
                                      </p:tavLst>
                                    </p:anim>
                                  </p:childTnLst>
                                </p:cTn>
                              </p:par>
                              <p:par>
                                <p:cTn id="109" presetID="42" presetClass="entr" presetSubtype="0" fill="hold" grpId="0" nodeType="withEffect">
                                  <p:stCondLst>
                                    <p:cond delay="80"/>
                                  </p:stCondLst>
                                  <p:childTnLst>
                                    <p:set>
                                      <p:cBhvr>
                                        <p:cTn id="110" dur="1" fill="hold">
                                          <p:stCondLst>
                                            <p:cond delay="0"/>
                                          </p:stCondLst>
                                        </p:cTn>
                                        <p:tgtEl>
                                          <p:spTgt spid="126"/>
                                        </p:tgtEl>
                                        <p:attrNameLst>
                                          <p:attrName>style.visibility</p:attrName>
                                        </p:attrNameLst>
                                      </p:cBhvr>
                                      <p:to>
                                        <p:strVal val="visible"/>
                                      </p:to>
                                    </p:set>
                                    <p:animEffect transition="in" filter="fade">
                                      <p:cBhvr>
                                        <p:cTn id="111" dur="500"/>
                                        <p:tgtEl>
                                          <p:spTgt spid="126"/>
                                        </p:tgtEl>
                                      </p:cBhvr>
                                    </p:animEffect>
                                    <p:anim calcmode="lin" valueType="num">
                                      <p:cBhvr additive="base">
                                        <p:cTn id="112" dur="500" decel="100000" fill="hold"/>
                                        <p:tgtEl>
                                          <p:spTgt spid="126"/>
                                        </p:tgtEl>
                                        <p:attrNameLst>
                                          <p:attrName>ppt_y</p:attrName>
                                        </p:attrNameLst>
                                      </p:cBhvr>
                                      <p:tavLst>
                                        <p:tav tm="0">
                                          <p:val>
                                            <p:strVal val="#ppt_y+0.06"/>
                                          </p:val>
                                        </p:tav>
                                        <p:tav tm="100000">
                                          <p:val>
                                            <p:strVal val="#ppt_y"/>
                                          </p:val>
                                        </p:tav>
                                      </p:tavLst>
                                    </p:anim>
                                  </p:childTnLst>
                                </p:cTn>
                              </p:par>
                              <p:par>
                                <p:cTn id="113" presetID="42" presetClass="entr" presetSubtype="0" fill="hold" grpId="0" nodeType="withEffect">
                                  <p:stCondLst>
                                    <p:cond delay="80"/>
                                  </p:stCondLst>
                                  <p:childTnLst>
                                    <p:set>
                                      <p:cBhvr>
                                        <p:cTn id="114" dur="1" fill="hold">
                                          <p:stCondLst>
                                            <p:cond delay="0"/>
                                          </p:stCondLst>
                                        </p:cTn>
                                        <p:tgtEl>
                                          <p:spTgt spid="127"/>
                                        </p:tgtEl>
                                        <p:attrNameLst>
                                          <p:attrName>style.visibility</p:attrName>
                                        </p:attrNameLst>
                                      </p:cBhvr>
                                      <p:to>
                                        <p:strVal val="visible"/>
                                      </p:to>
                                    </p:set>
                                    <p:animEffect transition="in" filter="fade">
                                      <p:cBhvr>
                                        <p:cTn id="115" dur="500"/>
                                        <p:tgtEl>
                                          <p:spTgt spid="127"/>
                                        </p:tgtEl>
                                      </p:cBhvr>
                                    </p:animEffect>
                                    <p:anim calcmode="lin" valueType="num">
                                      <p:cBhvr additive="base">
                                        <p:cTn id="116" dur="500" decel="100000" fill="hold"/>
                                        <p:tgtEl>
                                          <p:spTgt spid="127"/>
                                        </p:tgtEl>
                                        <p:attrNameLst>
                                          <p:attrName>ppt_y</p:attrName>
                                        </p:attrNameLst>
                                      </p:cBhvr>
                                      <p:tavLst>
                                        <p:tav tm="0">
                                          <p:val>
                                            <p:strVal val="#ppt_y+0.06"/>
                                          </p:val>
                                        </p:tav>
                                        <p:tav tm="100000">
                                          <p:val>
                                            <p:strVal val="#ppt_y"/>
                                          </p:val>
                                        </p:tav>
                                      </p:tavLst>
                                    </p:anim>
                                  </p:childTnLst>
                                </p:cTn>
                              </p:par>
                              <p:par>
                                <p:cTn id="117" presetID="42" presetClass="entr" presetSubtype="0" fill="hold" grpId="0" nodeType="withEffect">
                                  <p:stCondLst>
                                    <p:cond delay="160"/>
                                  </p:stCondLst>
                                  <p:childTnLst>
                                    <p:set>
                                      <p:cBhvr>
                                        <p:cTn id="118" dur="1" fill="hold">
                                          <p:stCondLst>
                                            <p:cond delay="0"/>
                                          </p:stCondLst>
                                        </p:cTn>
                                        <p:tgtEl>
                                          <p:spTgt spid="128"/>
                                        </p:tgtEl>
                                        <p:attrNameLst>
                                          <p:attrName>style.visibility</p:attrName>
                                        </p:attrNameLst>
                                      </p:cBhvr>
                                      <p:to>
                                        <p:strVal val="visible"/>
                                      </p:to>
                                    </p:set>
                                    <p:animEffect transition="in" filter="fade">
                                      <p:cBhvr>
                                        <p:cTn id="119" dur="500"/>
                                        <p:tgtEl>
                                          <p:spTgt spid="128"/>
                                        </p:tgtEl>
                                      </p:cBhvr>
                                    </p:animEffect>
                                    <p:anim calcmode="lin" valueType="num">
                                      <p:cBhvr additive="base">
                                        <p:cTn id="120" dur="500" decel="100000" fill="hold"/>
                                        <p:tgtEl>
                                          <p:spTgt spid="128"/>
                                        </p:tgtEl>
                                        <p:attrNameLst>
                                          <p:attrName>ppt_y</p:attrName>
                                        </p:attrNameLst>
                                      </p:cBhvr>
                                      <p:tavLst>
                                        <p:tav tm="0">
                                          <p:val>
                                            <p:strVal val="#ppt_y+0.06"/>
                                          </p:val>
                                        </p:tav>
                                        <p:tav tm="100000">
                                          <p:val>
                                            <p:strVal val="#ppt_y"/>
                                          </p:val>
                                        </p:tav>
                                      </p:tavLst>
                                    </p:anim>
                                  </p:childTnLst>
                                </p:cTn>
                              </p:par>
                              <p:par>
                                <p:cTn id="121" presetID="42" presetClass="entr" presetSubtype="0" fill="hold" grpId="0" nodeType="withEffect">
                                  <p:stCondLst>
                                    <p:cond delay="160"/>
                                  </p:stCondLst>
                                  <p:childTnLst>
                                    <p:set>
                                      <p:cBhvr>
                                        <p:cTn id="122" dur="1" fill="hold">
                                          <p:stCondLst>
                                            <p:cond delay="0"/>
                                          </p:stCondLst>
                                        </p:cTn>
                                        <p:tgtEl>
                                          <p:spTgt spid="129"/>
                                        </p:tgtEl>
                                        <p:attrNameLst>
                                          <p:attrName>style.visibility</p:attrName>
                                        </p:attrNameLst>
                                      </p:cBhvr>
                                      <p:to>
                                        <p:strVal val="visible"/>
                                      </p:to>
                                    </p:set>
                                    <p:animEffect transition="in" filter="fade">
                                      <p:cBhvr>
                                        <p:cTn id="123" dur="500"/>
                                        <p:tgtEl>
                                          <p:spTgt spid="129"/>
                                        </p:tgtEl>
                                      </p:cBhvr>
                                    </p:animEffect>
                                    <p:anim calcmode="lin" valueType="num">
                                      <p:cBhvr additive="base">
                                        <p:cTn id="124" dur="500" decel="100000" fill="hold"/>
                                        <p:tgtEl>
                                          <p:spTgt spid="129"/>
                                        </p:tgtEl>
                                        <p:attrNameLst>
                                          <p:attrName>ppt_y</p:attrName>
                                        </p:attrNameLst>
                                      </p:cBhvr>
                                      <p:tavLst>
                                        <p:tav tm="0">
                                          <p:val>
                                            <p:strVal val="#ppt_y+0.06"/>
                                          </p:val>
                                        </p:tav>
                                        <p:tav tm="100000">
                                          <p:val>
                                            <p:strVal val="#ppt_y"/>
                                          </p:val>
                                        </p:tav>
                                      </p:tavLst>
                                    </p:anim>
                                  </p:childTnLst>
                                </p:cTn>
                              </p:par>
                              <p:par>
                                <p:cTn id="125" presetID="42" presetClass="entr" presetSubtype="0" fill="hold" grpId="0" nodeType="withEffect">
                                  <p:stCondLst>
                                    <p:cond delay="160"/>
                                  </p:stCondLst>
                                  <p:childTnLst>
                                    <p:set>
                                      <p:cBhvr>
                                        <p:cTn id="126" dur="1" fill="hold">
                                          <p:stCondLst>
                                            <p:cond delay="0"/>
                                          </p:stCondLst>
                                        </p:cTn>
                                        <p:tgtEl>
                                          <p:spTgt spid="130"/>
                                        </p:tgtEl>
                                        <p:attrNameLst>
                                          <p:attrName>style.visibility</p:attrName>
                                        </p:attrNameLst>
                                      </p:cBhvr>
                                      <p:to>
                                        <p:strVal val="visible"/>
                                      </p:to>
                                    </p:set>
                                    <p:animEffect transition="in" filter="fade">
                                      <p:cBhvr>
                                        <p:cTn id="127" dur="500"/>
                                        <p:tgtEl>
                                          <p:spTgt spid="130"/>
                                        </p:tgtEl>
                                      </p:cBhvr>
                                    </p:animEffect>
                                    <p:anim calcmode="lin" valueType="num">
                                      <p:cBhvr additive="base">
                                        <p:cTn id="128" dur="500" decel="100000" fill="hold"/>
                                        <p:tgtEl>
                                          <p:spTgt spid="130"/>
                                        </p:tgtEl>
                                        <p:attrNameLst>
                                          <p:attrName>ppt_y</p:attrName>
                                        </p:attrNameLst>
                                      </p:cBhvr>
                                      <p:tavLst>
                                        <p:tav tm="0">
                                          <p:val>
                                            <p:strVal val="#ppt_y+0.06"/>
                                          </p:val>
                                        </p:tav>
                                        <p:tav tm="100000">
                                          <p:val>
                                            <p:strVal val="#ppt_y"/>
                                          </p:val>
                                        </p:tav>
                                      </p:tavLst>
                                    </p:anim>
                                  </p:childTnLst>
                                </p:cTn>
                              </p:par>
                              <p:par>
                                <p:cTn id="129" presetID="42" presetClass="entr" presetSubtype="0" fill="hold" grpId="0" nodeType="withEffect">
                                  <p:stCondLst>
                                    <p:cond delay="160"/>
                                  </p:stCondLst>
                                  <p:childTnLst>
                                    <p:set>
                                      <p:cBhvr>
                                        <p:cTn id="130" dur="1" fill="hold">
                                          <p:stCondLst>
                                            <p:cond delay="0"/>
                                          </p:stCondLst>
                                        </p:cTn>
                                        <p:tgtEl>
                                          <p:spTgt spid="131"/>
                                        </p:tgtEl>
                                        <p:attrNameLst>
                                          <p:attrName>style.visibility</p:attrName>
                                        </p:attrNameLst>
                                      </p:cBhvr>
                                      <p:to>
                                        <p:strVal val="visible"/>
                                      </p:to>
                                    </p:set>
                                    <p:animEffect transition="in" filter="fade">
                                      <p:cBhvr>
                                        <p:cTn id="131" dur="500"/>
                                        <p:tgtEl>
                                          <p:spTgt spid="131"/>
                                        </p:tgtEl>
                                      </p:cBhvr>
                                    </p:animEffect>
                                    <p:anim calcmode="lin" valueType="num">
                                      <p:cBhvr additive="base">
                                        <p:cTn id="132" dur="500" decel="100000" fill="hold"/>
                                        <p:tgtEl>
                                          <p:spTgt spid="131"/>
                                        </p:tgtEl>
                                        <p:attrNameLst>
                                          <p:attrName>ppt_y</p:attrName>
                                        </p:attrNameLst>
                                      </p:cBhvr>
                                      <p:tavLst>
                                        <p:tav tm="0">
                                          <p:val>
                                            <p:strVal val="#ppt_y+0.06"/>
                                          </p:val>
                                        </p:tav>
                                        <p:tav tm="100000">
                                          <p:val>
                                            <p:strVal val="#ppt_y"/>
                                          </p:val>
                                        </p:tav>
                                      </p:tavLst>
                                    </p:anim>
                                  </p:childTnLst>
                                </p:cTn>
                              </p:par>
                              <p:par>
                                <p:cTn id="133" presetID="42" presetClass="entr" presetSubtype="0" fill="hold" grpId="0" nodeType="withEffect">
                                  <p:stCondLst>
                                    <p:cond delay="240"/>
                                  </p:stCondLst>
                                  <p:childTnLst>
                                    <p:set>
                                      <p:cBhvr>
                                        <p:cTn id="134" dur="1" fill="hold">
                                          <p:stCondLst>
                                            <p:cond delay="0"/>
                                          </p:stCondLst>
                                        </p:cTn>
                                        <p:tgtEl>
                                          <p:spTgt spid="132"/>
                                        </p:tgtEl>
                                        <p:attrNameLst>
                                          <p:attrName>style.visibility</p:attrName>
                                        </p:attrNameLst>
                                      </p:cBhvr>
                                      <p:to>
                                        <p:strVal val="visible"/>
                                      </p:to>
                                    </p:set>
                                    <p:animEffect transition="in" filter="fade">
                                      <p:cBhvr>
                                        <p:cTn id="135" dur="500"/>
                                        <p:tgtEl>
                                          <p:spTgt spid="132"/>
                                        </p:tgtEl>
                                      </p:cBhvr>
                                    </p:animEffect>
                                    <p:anim calcmode="lin" valueType="num">
                                      <p:cBhvr additive="base">
                                        <p:cTn id="136" dur="500" decel="100000" fill="hold"/>
                                        <p:tgtEl>
                                          <p:spTgt spid="132"/>
                                        </p:tgtEl>
                                        <p:attrNameLst>
                                          <p:attrName>ppt_y</p:attrName>
                                        </p:attrNameLst>
                                      </p:cBhvr>
                                      <p:tavLst>
                                        <p:tav tm="0">
                                          <p:val>
                                            <p:strVal val="#ppt_y+0.06"/>
                                          </p:val>
                                        </p:tav>
                                        <p:tav tm="100000">
                                          <p:val>
                                            <p:strVal val="#ppt_y"/>
                                          </p:val>
                                        </p:tav>
                                      </p:tavLst>
                                    </p:anim>
                                  </p:childTnLst>
                                </p:cTn>
                              </p:par>
                              <p:par>
                                <p:cTn id="137" presetID="42" presetClass="entr" presetSubtype="0" fill="hold" grpId="0" nodeType="withEffect">
                                  <p:stCondLst>
                                    <p:cond delay="240"/>
                                  </p:stCondLst>
                                  <p:childTnLst>
                                    <p:set>
                                      <p:cBhvr>
                                        <p:cTn id="138" dur="1" fill="hold">
                                          <p:stCondLst>
                                            <p:cond delay="0"/>
                                          </p:stCondLst>
                                        </p:cTn>
                                        <p:tgtEl>
                                          <p:spTgt spid="133"/>
                                        </p:tgtEl>
                                        <p:attrNameLst>
                                          <p:attrName>style.visibility</p:attrName>
                                        </p:attrNameLst>
                                      </p:cBhvr>
                                      <p:to>
                                        <p:strVal val="visible"/>
                                      </p:to>
                                    </p:set>
                                    <p:animEffect transition="in" filter="fade">
                                      <p:cBhvr>
                                        <p:cTn id="139" dur="500"/>
                                        <p:tgtEl>
                                          <p:spTgt spid="133"/>
                                        </p:tgtEl>
                                      </p:cBhvr>
                                    </p:animEffect>
                                    <p:anim calcmode="lin" valueType="num">
                                      <p:cBhvr additive="base">
                                        <p:cTn id="140" dur="500" decel="100000" fill="hold"/>
                                        <p:tgtEl>
                                          <p:spTgt spid="133"/>
                                        </p:tgtEl>
                                        <p:attrNameLst>
                                          <p:attrName>ppt_y</p:attrName>
                                        </p:attrNameLst>
                                      </p:cBhvr>
                                      <p:tavLst>
                                        <p:tav tm="0">
                                          <p:val>
                                            <p:strVal val="#ppt_y+0.06"/>
                                          </p:val>
                                        </p:tav>
                                        <p:tav tm="100000">
                                          <p:val>
                                            <p:strVal val="#ppt_y"/>
                                          </p:val>
                                        </p:tav>
                                      </p:tavLst>
                                    </p:anim>
                                  </p:childTnLst>
                                </p:cTn>
                              </p:par>
                              <p:par>
                                <p:cTn id="141" presetID="42" presetClass="entr" presetSubtype="0" fill="hold" grpId="0" nodeType="withEffect">
                                  <p:stCondLst>
                                    <p:cond delay="240"/>
                                  </p:stCondLst>
                                  <p:childTnLst>
                                    <p:set>
                                      <p:cBhvr>
                                        <p:cTn id="142" dur="1" fill="hold">
                                          <p:stCondLst>
                                            <p:cond delay="0"/>
                                          </p:stCondLst>
                                        </p:cTn>
                                        <p:tgtEl>
                                          <p:spTgt spid="134"/>
                                        </p:tgtEl>
                                        <p:attrNameLst>
                                          <p:attrName>style.visibility</p:attrName>
                                        </p:attrNameLst>
                                      </p:cBhvr>
                                      <p:to>
                                        <p:strVal val="visible"/>
                                      </p:to>
                                    </p:set>
                                    <p:animEffect transition="in" filter="fade">
                                      <p:cBhvr>
                                        <p:cTn id="143" dur="500"/>
                                        <p:tgtEl>
                                          <p:spTgt spid="134"/>
                                        </p:tgtEl>
                                      </p:cBhvr>
                                    </p:animEffect>
                                    <p:anim calcmode="lin" valueType="num">
                                      <p:cBhvr additive="base">
                                        <p:cTn id="144" dur="500" decel="100000" fill="hold"/>
                                        <p:tgtEl>
                                          <p:spTgt spid="134"/>
                                        </p:tgtEl>
                                        <p:attrNameLst>
                                          <p:attrName>ppt_y</p:attrName>
                                        </p:attrNameLst>
                                      </p:cBhvr>
                                      <p:tavLst>
                                        <p:tav tm="0">
                                          <p:val>
                                            <p:strVal val="#ppt_y+0.06"/>
                                          </p:val>
                                        </p:tav>
                                        <p:tav tm="100000">
                                          <p:val>
                                            <p:strVal val="#ppt_y"/>
                                          </p:val>
                                        </p:tav>
                                      </p:tavLst>
                                    </p:anim>
                                  </p:childTnLst>
                                </p:cTn>
                              </p:par>
                              <p:par>
                                <p:cTn id="145" presetID="42" presetClass="entr" presetSubtype="0" fill="hold" grpId="0" nodeType="withEffect">
                                  <p:stCondLst>
                                    <p:cond delay="240"/>
                                  </p:stCondLst>
                                  <p:childTnLst>
                                    <p:set>
                                      <p:cBhvr>
                                        <p:cTn id="146" dur="1" fill="hold">
                                          <p:stCondLst>
                                            <p:cond delay="0"/>
                                          </p:stCondLst>
                                        </p:cTn>
                                        <p:tgtEl>
                                          <p:spTgt spid="135"/>
                                        </p:tgtEl>
                                        <p:attrNameLst>
                                          <p:attrName>style.visibility</p:attrName>
                                        </p:attrNameLst>
                                      </p:cBhvr>
                                      <p:to>
                                        <p:strVal val="visible"/>
                                      </p:to>
                                    </p:set>
                                    <p:animEffect transition="in" filter="fade">
                                      <p:cBhvr>
                                        <p:cTn id="147" dur="500"/>
                                        <p:tgtEl>
                                          <p:spTgt spid="135"/>
                                        </p:tgtEl>
                                      </p:cBhvr>
                                    </p:animEffect>
                                    <p:anim calcmode="lin" valueType="num">
                                      <p:cBhvr additive="base">
                                        <p:cTn id="148" dur="500" decel="100000" fill="hold"/>
                                        <p:tgtEl>
                                          <p:spTgt spid="135"/>
                                        </p:tgtEl>
                                        <p:attrNameLst>
                                          <p:attrName>ppt_y</p:attrName>
                                        </p:attrNameLst>
                                      </p:cBhvr>
                                      <p:tavLst>
                                        <p:tav tm="0">
                                          <p:val>
                                            <p:strVal val="#ppt_y+0.06"/>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42" presetClass="entr" presetSubtype="0" fill="hold" grpId="0" nodeType="clickEffect">
                                  <p:stCondLst>
                                    <p:cond delay="0"/>
                                  </p:stCondLst>
                                  <p:childTnLst>
                                    <p:set>
                                      <p:cBhvr>
                                        <p:cTn id="152" dur="1" fill="hold">
                                          <p:stCondLst>
                                            <p:cond delay="0"/>
                                          </p:stCondLst>
                                        </p:cTn>
                                        <p:tgtEl>
                                          <p:spTgt spid="136"/>
                                        </p:tgtEl>
                                        <p:attrNameLst>
                                          <p:attrName>style.visibility</p:attrName>
                                        </p:attrNameLst>
                                      </p:cBhvr>
                                      <p:to>
                                        <p:strVal val="visible"/>
                                      </p:to>
                                    </p:set>
                                    <p:animEffect transition="in" filter="fade">
                                      <p:cBhvr>
                                        <p:cTn id="153" dur="500"/>
                                        <p:tgtEl>
                                          <p:spTgt spid="136"/>
                                        </p:tgtEl>
                                      </p:cBhvr>
                                    </p:animEffect>
                                    <p:anim calcmode="lin" valueType="num">
                                      <p:cBhvr additive="base">
                                        <p:cTn id="154" dur="500" decel="100000" fill="hold"/>
                                        <p:tgtEl>
                                          <p:spTgt spid="136"/>
                                        </p:tgtEl>
                                        <p:attrNameLst>
                                          <p:attrName>ppt_y</p:attrName>
                                        </p:attrNameLst>
                                      </p:cBhvr>
                                      <p:tavLst>
                                        <p:tav tm="0">
                                          <p:val>
                                            <p:strVal val="#ppt_y+0.06"/>
                                          </p:val>
                                        </p:tav>
                                        <p:tav tm="100000">
                                          <p:val>
                                            <p:strVal val="#ppt_y"/>
                                          </p:val>
                                        </p:tav>
                                      </p:tavLst>
                                    </p:anim>
                                  </p:childTnLst>
                                </p:cTn>
                              </p:par>
                              <p:par>
                                <p:cTn id="155" presetID="42" presetClass="entr" presetSubtype="0" fill="hold" grpId="0" nodeType="withEffect">
                                  <p:stCondLst>
                                    <p:cond delay="0"/>
                                  </p:stCondLst>
                                  <p:childTnLst>
                                    <p:set>
                                      <p:cBhvr>
                                        <p:cTn id="156" dur="1" fill="hold">
                                          <p:stCondLst>
                                            <p:cond delay="0"/>
                                          </p:stCondLst>
                                        </p:cTn>
                                        <p:tgtEl>
                                          <p:spTgt spid="137"/>
                                        </p:tgtEl>
                                        <p:attrNameLst>
                                          <p:attrName>style.visibility</p:attrName>
                                        </p:attrNameLst>
                                      </p:cBhvr>
                                      <p:to>
                                        <p:strVal val="visible"/>
                                      </p:to>
                                    </p:set>
                                    <p:animEffect transition="in" filter="fade">
                                      <p:cBhvr>
                                        <p:cTn id="157" dur="500"/>
                                        <p:tgtEl>
                                          <p:spTgt spid="137"/>
                                        </p:tgtEl>
                                      </p:cBhvr>
                                    </p:animEffect>
                                    <p:anim calcmode="lin" valueType="num">
                                      <p:cBhvr additive="base">
                                        <p:cTn id="158" dur="500" decel="100000" fill="hold"/>
                                        <p:tgtEl>
                                          <p:spTgt spid="137"/>
                                        </p:tgtEl>
                                        <p:attrNameLst>
                                          <p:attrName>ppt_y</p:attrName>
                                        </p:attrNameLst>
                                      </p:cBhvr>
                                      <p:tavLst>
                                        <p:tav tm="0">
                                          <p:val>
                                            <p:strVal val="#ppt_y+0.06"/>
                                          </p:val>
                                        </p:tav>
                                        <p:tav tm="100000">
                                          <p:val>
                                            <p:strVal val="#ppt_y"/>
                                          </p:val>
                                        </p:tav>
                                      </p:tavLst>
                                    </p:anim>
                                  </p:childTnLst>
                                </p:cTn>
                              </p:par>
                              <p:par>
                                <p:cTn id="159" presetID="42" presetClass="entr" presetSubtype="0" fill="hold" grpId="0" nodeType="withEffect">
                                  <p:stCondLst>
                                    <p:cond delay="0"/>
                                  </p:stCondLst>
                                  <p:childTnLst>
                                    <p:set>
                                      <p:cBhvr>
                                        <p:cTn id="160" dur="1" fill="hold">
                                          <p:stCondLst>
                                            <p:cond delay="0"/>
                                          </p:stCondLst>
                                        </p:cTn>
                                        <p:tgtEl>
                                          <p:spTgt spid="138"/>
                                        </p:tgtEl>
                                        <p:attrNameLst>
                                          <p:attrName>style.visibility</p:attrName>
                                        </p:attrNameLst>
                                      </p:cBhvr>
                                      <p:to>
                                        <p:strVal val="visible"/>
                                      </p:to>
                                    </p:set>
                                    <p:animEffect transition="in" filter="fade">
                                      <p:cBhvr>
                                        <p:cTn id="161" dur="500"/>
                                        <p:tgtEl>
                                          <p:spTgt spid="138"/>
                                        </p:tgtEl>
                                      </p:cBhvr>
                                    </p:animEffect>
                                    <p:anim calcmode="lin" valueType="num">
                                      <p:cBhvr additive="base">
                                        <p:cTn id="162" dur="500" decel="100000" fill="hold"/>
                                        <p:tgtEl>
                                          <p:spTgt spid="138"/>
                                        </p:tgtEl>
                                        <p:attrNameLst>
                                          <p:attrName>ppt_y</p:attrName>
                                        </p:attrNameLst>
                                      </p:cBhvr>
                                      <p:tavLst>
                                        <p:tav tm="0">
                                          <p:val>
                                            <p:strVal val="#ppt_y+0.06"/>
                                          </p:val>
                                        </p:tav>
                                        <p:tav tm="100000">
                                          <p:val>
                                            <p:strVal val="#ppt_y"/>
                                          </p:val>
                                        </p:tav>
                                      </p:tavLst>
                                    </p:anim>
                                  </p:childTnLst>
                                </p:cTn>
                              </p:par>
                              <p:par>
                                <p:cTn id="163" presetID="42" presetClass="entr" presetSubtype="0" fill="hold" grpId="0" nodeType="withEffect">
                                  <p:stCondLst>
                                    <p:cond delay="0"/>
                                  </p:stCondLst>
                                  <p:childTnLst>
                                    <p:set>
                                      <p:cBhvr>
                                        <p:cTn id="164" dur="1" fill="hold">
                                          <p:stCondLst>
                                            <p:cond delay="0"/>
                                          </p:stCondLst>
                                        </p:cTn>
                                        <p:tgtEl>
                                          <p:spTgt spid="139"/>
                                        </p:tgtEl>
                                        <p:attrNameLst>
                                          <p:attrName>style.visibility</p:attrName>
                                        </p:attrNameLst>
                                      </p:cBhvr>
                                      <p:to>
                                        <p:strVal val="visible"/>
                                      </p:to>
                                    </p:set>
                                    <p:animEffect transition="in" filter="fade">
                                      <p:cBhvr>
                                        <p:cTn id="165" dur="500"/>
                                        <p:tgtEl>
                                          <p:spTgt spid="139"/>
                                        </p:tgtEl>
                                      </p:cBhvr>
                                    </p:animEffect>
                                    <p:anim calcmode="lin" valueType="num">
                                      <p:cBhvr additive="base">
                                        <p:cTn id="166" dur="500" decel="100000" fill="hold"/>
                                        <p:tgtEl>
                                          <p:spTgt spid="139"/>
                                        </p:tgtEl>
                                        <p:attrNameLst>
                                          <p:attrName>ppt_y</p:attrName>
                                        </p:attrNameLst>
                                      </p:cBhvr>
                                      <p:tavLst>
                                        <p:tav tm="0">
                                          <p:val>
                                            <p:strVal val="#ppt_y+0.06"/>
                                          </p:val>
                                        </p:tav>
                                        <p:tav tm="100000">
                                          <p:val>
                                            <p:strVal val="#ppt_y"/>
                                          </p:val>
                                        </p:tav>
                                      </p:tavLst>
                                    </p:anim>
                                  </p:childTnLst>
                                </p:cTn>
                              </p:par>
                              <p:par>
                                <p:cTn id="167" presetID="42" presetClass="entr" presetSubtype="0" fill="hold" grpId="0" nodeType="withEffect">
                                  <p:stCondLst>
                                    <p:cond delay="80"/>
                                  </p:stCondLst>
                                  <p:childTnLst>
                                    <p:set>
                                      <p:cBhvr>
                                        <p:cTn id="168" dur="1" fill="hold">
                                          <p:stCondLst>
                                            <p:cond delay="0"/>
                                          </p:stCondLst>
                                        </p:cTn>
                                        <p:tgtEl>
                                          <p:spTgt spid="140"/>
                                        </p:tgtEl>
                                        <p:attrNameLst>
                                          <p:attrName>style.visibility</p:attrName>
                                        </p:attrNameLst>
                                      </p:cBhvr>
                                      <p:to>
                                        <p:strVal val="visible"/>
                                      </p:to>
                                    </p:set>
                                    <p:animEffect transition="in" filter="fade">
                                      <p:cBhvr>
                                        <p:cTn id="169" dur="500"/>
                                        <p:tgtEl>
                                          <p:spTgt spid="140"/>
                                        </p:tgtEl>
                                      </p:cBhvr>
                                    </p:animEffect>
                                    <p:anim calcmode="lin" valueType="num">
                                      <p:cBhvr additive="base">
                                        <p:cTn id="170" dur="500" decel="100000" fill="hold"/>
                                        <p:tgtEl>
                                          <p:spTgt spid="140"/>
                                        </p:tgtEl>
                                        <p:attrNameLst>
                                          <p:attrName>ppt_y</p:attrName>
                                        </p:attrNameLst>
                                      </p:cBhvr>
                                      <p:tavLst>
                                        <p:tav tm="0">
                                          <p:val>
                                            <p:strVal val="#ppt_y+0.06"/>
                                          </p:val>
                                        </p:tav>
                                        <p:tav tm="100000">
                                          <p:val>
                                            <p:strVal val="#ppt_y"/>
                                          </p:val>
                                        </p:tav>
                                      </p:tavLst>
                                    </p:anim>
                                  </p:childTnLst>
                                </p:cTn>
                              </p:par>
                              <p:par>
                                <p:cTn id="171" presetID="42" presetClass="entr" presetSubtype="0" fill="hold" grpId="0" nodeType="withEffect">
                                  <p:stCondLst>
                                    <p:cond delay="80"/>
                                  </p:stCondLst>
                                  <p:childTnLst>
                                    <p:set>
                                      <p:cBhvr>
                                        <p:cTn id="172" dur="1" fill="hold">
                                          <p:stCondLst>
                                            <p:cond delay="0"/>
                                          </p:stCondLst>
                                        </p:cTn>
                                        <p:tgtEl>
                                          <p:spTgt spid="141"/>
                                        </p:tgtEl>
                                        <p:attrNameLst>
                                          <p:attrName>style.visibility</p:attrName>
                                        </p:attrNameLst>
                                      </p:cBhvr>
                                      <p:to>
                                        <p:strVal val="visible"/>
                                      </p:to>
                                    </p:set>
                                    <p:animEffect transition="in" filter="fade">
                                      <p:cBhvr>
                                        <p:cTn id="173" dur="500"/>
                                        <p:tgtEl>
                                          <p:spTgt spid="141"/>
                                        </p:tgtEl>
                                      </p:cBhvr>
                                    </p:animEffect>
                                    <p:anim calcmode="lin" valueType="num">
                                      <p:cBhvr additive="base">
                                        <p:cTn id="174" dur="500" decel="100000" fill="hold"/>
                                        <p:tgtEl>
                                          <p:spTgt spid="141"/>
                                        </p:tgtEl>
                                        <p:attrNameLst>
                                          <p:attrName>ppt_y</p:attrName>
                                        </p:attrNameLst>
                                      </p:cBhvr>
                                      <p:tavLst>
                                        <p:tav tm="0">
                                          <p:val>
                                            <p:strVal val="#ppt_y+0.06"/>
                                          </p:val>
                                        </p:tav>
                                        <p:tav tm="100000">
                                          <p:val>
                                            <p:strVal val="#ppt_y"/>
                                          </p:val>
                                        </p:tav>
                                      </p:tavLst>
                                    </p:anim>
                                  </p:childTnLst>
                                </p:cTn>
                              </p:par>
                              <p:par>
                                <p:cTn id="175" presetID="42" presetClass="entr" presetSubtype="0" fill="hold" grpId="0" nodeType="withEffect">
                                  <p:stCondLst>
                                    <p:cond delay="80"/>
                                  </p:stCondLst>
                                  <p:childTnLst>
                                    <p:set>
                                      <p:cBhvr>
                                        <p:cTn id="176" dur="1" fill="hold">
                                          <p:stCondLst>
                                            <p:cond delay="0"/>
                                          </p:stCondLst>
                                        </p:cTn>
                                        <p:tgtEl>
                                          <p:spTgt spid="142"/>
                                        </p:tgtEl>
                                        <p:attrNameLst>
                                          <p:attrName>style.visibility</p:attrName>
                                        </p:attrNameLst>
                                      </p:cBhvr>
                                      <p:to>
                                        <p:strVal val="visible"/>
                                      </p:to>
                                    </p:set>
                                    <p:animEffect transition="in" filter="fade">
                                      <p:cBhvr>
                                        <p:cTn id="177" dur="500"/>
                                        <p:tgtEl>
                                          <p:spTgt spid="142"/>
                                        </p:tgtEl>
                                      </p:cBhvr>
                                    </p:animEffect>
                                    <p:anim calcmode="lin" valueType="num">
                                      <p:cBhvr additive="base">
                                        <p:cTn id="178" dur="500" decel="100000" fill="hold"/>
                                        <p:tgtEl>
                                          <p:spTgt spid="142"/>
                                        </p:tgtEl>
                                        <p:attrNameLst>
                                          <p:attrName>ppt_y</p:attrName>
                                        </p:attrNameLst>
                                      </p:cBhvr>
                                      <p:tavLst>
                                        <p:tav tm="0">
                                          <p:val>
                                            <p:strVal val="#ppt_y+0.06"/>
                                          </p:val>
                                        </p:tav>
                                        <p:tav tm="100000">
                                          <p:val>
                                            <p:strVal val="#ppt_y"/>
                                          </p:val>
                                        </p:tav>
                                      </p:tavLst>
                                    </p:anim>
                                  </p:childTnLst>
                                </p:cTn>
                              </p:par>
                              <p:par>
                                <p:cTn id="179" presetID="42" presetClass="entr" presetSubtype="0" fill="hold" grpId="0" nodeType="withEffect">
                                  <p:stCondLst>
                                    <p:cond delay="80"/>
                                  </p:stCondLst>
                                  <p:childTnLst>
                                    <p:set>
                                      <p:cBhvr>
                                        <p:cTn id="180" dur="1" fill="hold">
                                          <p:stCondLst>
                                            <p:cond delay="0"/>
                                          </p:stCondLst>
                                        </p:cTn>
                                        <p:tgtEl>
                                          <p:spTgt spid="143"/>
                                        </p:tgtEl>
                                        <p:attrNameLst>
                                          <p:attrName>style.visibility</p:attrName>
                                        </p:attrNameLst>
                                      </p:cBhvr>
                                      <p:to>
                                        <p:strVal val="visible"/>
                                      </p:to>
                                    </p:set>
                                    <p:animEffect transition="in" filter="fade">
                                      <p:cBhvr>
                                        <p:cTn id="181" dur="500"/>
                                        <p:tgtEl>
                                          <p:spTgt spid="143"/>
                                        </p:tgtEl>
                                      </p:cBhvr>
                                    </p:animEffect>
                                    <p:anim calcmode="lin" valueType="num">
                                      <p:cBhvr additive="base">
                                        <p:cTn id="182" dur="500" decel="100000" fill="hold"/>
                                        <p:tgtEl>
                                          <p:spTgt spid="143"/>
                                        </p:tgtEl>
                                        <p:attrNameLst>
                                          <p:attrName>ppt_y</p:attrName>
                                        </p:attrNameLst>
                                      </p:cBhvr>
                                      <p:tavLst>
                                        <p:tav tm="0">
                                          <p:val>
                                            <p:strVal val="#ppt_y+0.06"/>
                                          </p:val>
                                        </p:tav>
                                        <p:tav tm="100000">
                                          <p:val>
                                            <p:strVal val="#ppt_y"/>
                                          </p:val>
                                        </p:tav>
                                      </p:tavLst>
                                    </p:anim>
                                  </p:childTnLst>
                                </p:cTn>
                              </p:par>
                              <p:par>
                                <p:cTn id="183" presetID="42" presetClass="entr" presetSubtype="0" fill="hold" grpId="0" nodeType="withEffect">
                                  <p:stCondLst>
                                    <p:cond delay="160"/>
                                  </p:stCondLst>
                                  <p:childTnLst>
                                    <p:set>
                                      <p:cBhvr>
                                        <p:cTn id="184" dur="1" fill="hold">
                                          <p:stCondLst>
                                            <p:cond delay="0"/>
                                          </p:stCondLst>
                                        </p:cTn>
                                        <p:tgtEl>
                                          <p:spTgt spid="144"/>
                                        </p:tgtEl>
                                        <p:attrNameLst>
                                          <p:attrName>style.visibility</p:attrName>
                                        </p:attrNameLst>
                                      </p:cBhvr>
                                      <p:to>
                                        <p:strVal val="visible"/>
                                      </p:to>
                                    </p:set>
                                    <p:animEffect transition="in" filter="fade">
                                      <p:cBhvr>
                                        <p:cTn id="185" dur="500"/>
                                        <p:tgtEl>
                                          <p:spTgt spid="144"/>
                                        </p:tgtEl>
                                      </p:cBhvr>
                                    </p:animEffect>
                                    <p:anim calcmode="lin" valueType="num">
                                      <p:cBhvr additive="base">
                                        <p:cTn id="186" dur="500" decel="100000" fill="hold"/>
                                        <p:tgtEl>
                                          <p:spTgt spid="144"/>
                                        </p:tgtEl>
                                        <p:attrNameLst>
                                          <p:attrName>ppt_y</p:attrName>
                                        </p:attrNameLst>
                                      </p:cBhvr>
                                      <p:tavLst>
                                        <p:tav tm="0">
                                          <p:val>
                                            <p:strVal val="#ppt_y+0.06"/>
                                          </p:val>
                                        </p:tav>
                                        <p:tav tm="100000">
                                          <p:val>
                                            <p:strVal val="#ppt_y"/>
                                          </p:val>
                                        </p:tav>
                                      </p:tavLst>
                                    </p:anim>
                                  </p:childTnLst>
                                </p:cTn>
                              </p:par>
                              <p:par>
                                <p:cTn id="187" presetID="42" presetClass="entr" presetSubtype="0" fill="hold" grpId="0" nodeType="withEffect">
                                  <p:stCondLst>
                                    <p:cond delay="160"/>
                                  </p:stCondLst>
                                  <p:childTnLst>
                                    <p:set>
                                      <p:cBhvr>
                                        <p:cTn id="188" dur="1" fill="hold">
                                          <p:stCondLst>
                                            <p:cond delay="0"/>
                                          </p:stCondLst>
                                        </p:cTn>
                                        <p:tgtEl>
                                          <p:spTgt spid="145"/>
                                        </p:tgtEl>
                                        <p:attrNameLst>
                                          <p:attrName>style.visibility</p:attrName>
                                        </p:attrNameLst>
                                      </p:cBhvr>
                                      <p:to>
                                        <p:strVal val="visible"/>
                                      </p:to>
                                    </p:set>
                                    <p:animEffect transition="in" filter="fade">
                                      <p:cBhvr>
                                        <p:cTn id="189" dur="500"/>
                                        <p:tgtEl>
                                          <p:spTgt spid="145"/>
                                        </p:tgtEl>
                                      </p:cBhvr>
                                    </p:animEffect>
                                    <p:anim calcmode="lin" valueType="num">
                                      <p:cBhvr additive="base">
                                        <p:cTn id="190" dur="500" decel="100000" fill="hold"/>
                                        <p:tgtEl>
                                          <p:spTgt spid="145"/>
                                        </p:tgtEl>
                                        <p:attrNameLst>
                                          <p:attrName>ppt_y</p:attrName>
                                        </p:attrNameLst>
                                      </p:cBhvr>
                                      <p:tavLst>
                                        <p:tav tm="0">
                                          <p:val>
                                            <p:strVal val="#ppt_y+0.06"/>
                                          </p:val>
                                        </p:tav>
                                        <p:tav tm="100000">
                                          <p:val>
                                            <p:strVal val="#ppt_y"/>
                                          </p:val>
                                        </p:tav>
                                      </p:tavLst>
                                    </p:anim>
                                  </p:childTnLst>
                                </p:cTn>
                              </p:par>
                              <p:par>
                                <p:cTn id="191" presetID="42" presetClass="entr" presetSubtype="0" fill="hold" grpId="0" nodeType="withEffect">
                                  <p:stCondLst>
                                    <p:cond delay="160"/>
                                  </p:stCondLst>
                                  <p:childTnLst>
                                    <p:set>
                                      <p:cBhvr>
                                        <p:cTn id="192" dur="1" fill="hold">
                                          <p:stCondLst>
                                            <p:cond delay="0"/>
                                          </p:stCondLst>
                                        </p:cTn>
                                        <p:tgtEl>
                                          <p:spTgt spid="146"/>
                                        </p:tgtEl>
                                        <p:attrNameLst>
                                          <p:attrName>style.visibility</p:attrName>
                                        </p:attrNameLst>
                                      </p:cBhvr>
                                      <p:to>
                                        <p:strVal val="visible"/>
                                      </p:to>
                                    </p:set>
                                    <p:animEffect transition="in" filter="fade">
                                      <p:cBhvr>
                                        <p:cTn id="193" dur="500"/>
                                        <p:tgtEl>
                                          <p:spTgt spid="146"/>
                                        </p:tgtEl>
                                      </p:cBhvr>
                                    </p:animEffect>
                                    <p:anim calcmode="lin" valueType="num">
                                      <p:cBhvr additive="base">
                                        <p:cTn id="194" dur="500" decel="100000" fill="hold"/>
                                        <p:tgtEl>
                                          <p:spTgt spid="146"/>
                                        </p:tgtEl>
                                        <p:attrNameLst>
                                          <p:attrName>ppt_y</p:attrName>
                                        </p:attrNameLst>
                                      </p:cBhvr>
                                      <p:tavLst>
                                        <p:tav tm="0">
                                          <p:val>
                                            <p:strVal val="#ppt_y+0.06"/>
                                          </p:val>
                                        </p:tav>
                                        <p:tav tm="100000">
                                          <p:val>
                                            <p:strVal val="#ppt_y"/>
                                          </p:val>
                                        </p:tav>
                                      </p:tavLst>
                                    </p:anim>
                                  </p:childTnLst>
                                </p:cTn>
                              </p:par>
                              <p:par>
                                <p:cTn id="195" presetID="42" presetClass="entr" presetSubtype="0" fill="hold" grpId="0" nodeType="withEffect">
                                  <p:stCondLst>
                                    <p:cond delay="160"/>
                                  </p:stCondLst>
                                  <p:childTnLst>
                                    <p:set>
                                      <p:cBhvr>
                                        <p:cTn id="196" dur="1" fill="hold">
                                          <p:stCondLst>
                                            <p:cond delay="0"/>
                                          </p:stCondLst>
                                        </p:cTn>
                                        <p:tgtEl>
                                          <p:spTgt spid="147"/>
                                        </p:tgtEl>
                                        <p:attrNameLst>
                                          <p:attrName>style.visibility</p:attrName>
                                        </p:attrNameLst>
                                      </p:cBhvr>
                                      <p:to>
                                        <p:strVal val="visible"/>
                                      </p:to>
                                    </p:set>
                                    <p:animEffect transition="in" filter="fade">
                                      <p:cBhvr>
                                        <p:cTn id="197" dur="500"/>
                                        <p:tgtEl>
                                          <p:spTgt spid="147"/>
                                        </p:tgtEl>
                                      </p:cBhvr>
                                    </p:animEffect>
                                    <p:anim calcmode="lin" valueType="num">
                                      <p:cBhvr additive="base">
                                        <p:cTn id="198" dur="500" decel="100000" fill="hold"/>
                                        <p:tgtEl>
                                          <p:spTgt spid="147"/>
                                        </p:tgtEl>
                                        <p:attrNameLst>
                                          <p:attrName>ppt_y</p:attrName>
                                        </p:attrNameLst>
                                      </p:cBhvr>
                                      <p:tavLst>
                                        <p:tav tm="0">
                                          <p:val>
                                            <p:strVal val="#ppt_y+0.06"/>
                                          </p:val>
                                        </p:tav>
                                        <p:tav tm="100000">
                                          <p:val>
                                            <p:strVal val="#ppt_y"/>
                                          </p:val>
                                        </p:tav>
                                      </p:tavLst>
                                    </p:anim>
                                  </p:childTnLst>
                                </p:cTn>
                              </p:par>
                              <p:par>
                                <p:cTn id="199" presetID="42" presetClass="entr" presetSubtype="0" fill="hold" grpId="0" nodeType="withEffect">
                                  <p:stCondLst>
                                    <p:cond delay="240"/>
                                  </p:stCondLst>
                                  <p:childTnLst>
                                    <p:set>
                                      <p:cBhvr>
                                        <p:cTn id="200" dur="1" fill="hold">
                                          <p:stCondLst>
                                            <p:cond delay="0"/>
                                          </p:stCondLst>
                                        </p:cTn>
                                        <p:tgtEl>
                                          <p:spTgt spid="148"/>
                                        </p:tgtEl>
                                        <p:attrNameLst>
                                          <p:attrName>style.visibility</p:attrName>
                                        </p:attrNameLst>
                                      </p:cBhvr>
                                      <p:to>
                                        <p:strVal val="visible"/>
                                      </p:to>
                                    </p:set>
                                    <p:animEffect transition="in" filter="fade">
                                      <p:cBhvr>
                                        <p:cTn id="201" dur="500"/>
                                        <p:tgtEl>
                                          <p:spTgt spid="148"/>
                                        </p:tgtEl>
                                      </p:cBhvr>
                                    </p:animEffect>
                                    <p:anim calcmode="lin" valueType="num">
                                      <p:cBhvr additive="base">
                                        <p:cTn id="202" dur="500" decel="100000" fill="hold"/>
                                        <p:tgtEl>
                                          <p:spTgt spid="148"/>
                                        </p:tgtEl>
                                        <p:attrNameLst>
                                          <p:attrName>ppt_y</p:attrName>
                                        </p:attrNameLst>
                                      </p:cBhvr>
                                      <p:tavLst>
                                        <p:tav tm="0">
                                          <p:val>
                                            <p:strVal val="#ppt_y+0.06"/>
                                          </p:val>
                                        </p:tav>
                                        <p:tav tm="100000">
                                          <p:val>
                                            <p:strVal val="#ppt_y"/>
                                          </p:val>
                                        </p:tav>
                                      </p:tavLst>
                                    </p:anim>
                                  </p:childTnLst>
                                </p:cTn>
                              </p:par>
                              <p:par>
                                <p:cTn id="203" presetID="42" presetClass="entr" presetSubtype="0" fill="hold" grpId="0" nodeType="withEffect">
                                  <p:stCondLst>
                                    <p:cond delay="240"/>
                                  </p:stCondLst>
                                  <p:childTnLst>
                                    <p:set>
                                      <p:cBhvr>
                                        <p:cTn id="204" dur="1" fill="hold">
                                          <p:stCondLst>
                                            <p:cond delay="0"/>
                                          </p:stCondLst>
                                        </p:cTn>
                                        <p:tgtEl>
                                          <p:spTgt spid="149"/>
                                        </p:tgtEl>
                                        <p:attrNameLst>
                                          <p:attrName>style.visibility</p:attrName>
                                        </p:attrNameLst>
                                      </p:cBhvr>
                                      <p:to>
                                        <p:strVal val="visible"/>
                                      </p:to>
                                    </p:set>
                                    <p:animEffect transition="in" filter="fade">
                                      <p:cBhvr>
                                        <p:cTn id="205" dur="500"/>
                                        <p:tgtEl>
                                          <p:spTgt spid="149"/>
                                        </p:tgtEl>
                                      </p:cBhvr>
                                    </p:animEffect>
                                    <p:anim calcmode="lin" valueType="num">
                                      <p:cBhvr additive="base">
                                        <p:cTn id="206" dur="500" decel="100000" fill="hold"/>
                                        <p:tgtEl>
                                          <p:spTgt spid="149"/>
                                        </p:tgtEl>
                                        <p:attrNameLst>
                                          <p:attrName>ppt_y</p:attrName>
                                        </p:attrNameLst>
                                      </p:cBhvr>
                                      <p:tavLst>
                                        <p:tav tm="0">
                                          <p:val>
                                            <p:strVal val="#ppt_y+0.06"/>
                                          </p:val>
                                        </p:tav>
                                        <p:tav tm="100000">
                                          <p:val>
                                            <p:strVal val="#ppt_y"/>
                                          </p:val>
                                        </p:tav>
                                      </p:tavLst>
                                    </p:anim>
                                  </p:childTnLst>
                                </p:cTn>
                              </p:par>
                              <p:par>
                                <p:cTn id="207" presetID="42" presetClass="entr" presetSubtype="0" fill="hold" grpId="0" nodeType="withEffect">
                                  <p:stCondLst>
                                    <p:cond delay="240"/>
                                  </p:stCondLst>
                                  <p:childTnLst>
                                    <p:set>
                                      <p:cBhvr>
                                        <p:cTn id="208" dur="1" fill="hold">
                                          <p:stCondLst>
                                            <p:cond delay="0"/>
                                          </p:stCondLst>
                                        </p:cTn>
                                        <p:tgtEl>
                                          <p:spTgt spid="150"/>
                                        </p:tgtEl>
                                        <p:attrNameLst>
                                          <p:attrName>style.visibility</p:attrName>
                                        </p:attrNameLst>
                                      </p:cBhvr>
                                      <p:to>
                                        <p:strVal val="visible"/>
                                      </p:to>
                                    </p:set>
                                    <p:animEffect transition="in" filter="fade">
                                      <p:cBhvr>
                                        <p:cTn id="209" dur="500"/>
                                        <p:tgtEl>
                                          <p:spTgt spid="150"/>
                                        </p:tgtEl>
                                      </p:cBhvr>
                                    </p:animEffect>
                                    <p:anim calcmode="lin" valueType="num">
                                      <p:cBhvr additive="base">
                                        <p:cTn id="210" dur="500" decel="100000" fill="hold"/>
                                        <p:tgtEl>
                                          <p:spTgt spid="150"/>
                                        </p:tgtEl>
                                        <p:attrNameLst>
                                          <p:attrName>ppt_y</p:attrName>
                                        </p:attrNameLst>
                                      </p:cBhvr>
                                      <p:tavLst>
                                        <p:tav tm="0">
                                          <p:val>
                                            <p:strVal val="#ppt_y+0.06"/>
                                          </p:val>
                                        </p:tav>
                                        <p:tav tm="100000">
                                          <p:val>
                                            <p:strVal val="#ppt_y"/>
                                          </p:val>
                                        </p:tav>
                                      </p:tavLst>
                                    </p:anim>
                                  </p:childTnLst>
                                </p:cTn>
                              </p:par>
                              <p:par>
                                <p:cTn id="211" presetID="42" presetClass="entr" presetSubtype="0" fill="hold" grpId="0" nodeType="withEffect">
                                  <p:stCondLst>
                                    <p:cond delay="240"/>
                                  </p:stCondLst>
                                  <p:childTnLst>
                                    <p:set>
                                      <p:cBhvr>
                                        <p:cTn id="212" dur="1" fill="hold">
                                          <p:stCondLst>
                                            <p:cond delay="0"/>
                                          </p:stCondLst>
                                        </p:cTn>
                                        <p:tgtEl>
                                          <p:spTgt spid="151"/>
                                        </p:tgtEl>
                                        <p:attrNameLst>
                                          <p:attrName>style.visibility</p:attrName>
                                        </p:attrNameLst>
                                      </p:cBhvr>
                                      <p:to>
                                        <p:strVal val="visible"/>
                                      </p:to>
                                    </p:set>
                                    <p:animEffect transition="in" filter="fade">
                                      <p:cBhvr>
                                        <p:cTn id="213" dur="500"/>
                                        <p:tgtEl>
                                          <p:spTgt spid="151"/>
                                        </p:tgtEl>
                                      </p:cBhvr>
                                    </p:animEffect>
                                    <p:anim calcmode="lin" valueType="num">
                                      <p:cBhvr additive="base">
                                        <p:cTn id="214" dur="500" decel="100000" fill="hold"/>
                                        <p:tgtEl>
                                          <p:spTgt spid="151"/>
                                        </p:tgtEl>
                                        <p:attrNameLst>
                                          <p:attrName>ppt_y</p:attrName>
                                        </p:attrNameLst>
                                      </p:cBhvr>
                                      <p:tavLst>
                                        <p:tav tm="0">
                                          <p:val>
                                            <p:strVal val="#ppt_y+0.06"/>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P spid="146" grpId="0" animBg="1"/>
      <p:bldP spid="147" grpId="0" animBg="1"/>
      <p:bldP spid="148" grpId="0" animBg="1"/>
      <p:bldP spid="149" grpId="0" animBg="1"/>
      <p:bldP spid="150" grpId="0" animBg="1"/>
      <p:bldP spid="151"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987552" cy="285750"/>
          </a:xfrm>
          <a:prstGeom prst="roundRect">
            <a:avLst>
              <a:gd name="adj" fmla="val 23333"/>
            </a:avLst>
          </a:prstGeom>
          <a:solidFill>
            <a:srgbClr val="F472B6">
              <a:alpha val="18000"/>
            </a:srgbClr>
          </a:solidFill>
          <a:ln w="12700">
            <a:solidFill>
              <a:srgbClr val="F472B6"/>
            </a:solidFill>
          </a:ln>
        </p:spPr>
        <p:txBody>
          <a:bodyPr wrap="square" lIns="0" tIns="0" rIns="0" bIns="0" rtlCol="0" anchor="ctr">
            <a:noAutofit/>
          </a:bodyPr>
          <a:lstStyle/>
          <a:p>
            <a:pPr marL="0" indent="0" algn="ctr">
              <a:spcBef>
                <a:spcPts val="0"/>
              </a:spcBef>
              <a:spcAft>
                <a:spcPts val="0"/>
              </a:spcAft>
              <a:buNone/>
            </a:pPr>
            <a:r>
              <a:rPr lang="en-US" sz="1000" b="1" dirty="0">
                <a:solidFill>
                  <a:srgbClr val="F472B6"/>
                </a:solidFill>
                <a:latin typeface="Segoe UI"/>
                <a:ea typeface="Segoe UI"/>
                <a:cs typeface="Segoe UI"/>
              </a:rPr>
              <a:t>CHAPTER 06</a:t>
            </a:r>
            <a:endParaRPr lang="en-US" sz="10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PRACTICE LAB</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307</a:t>
            </a:r>
            <a:endParaRPr lang="en-US" sz="850" dirty="0"/>
          </a:p>
        </p:txBody>
      </p:sp>
      <p:sp>
        <p:nvSpPr>
          <p:cNvPr id="101" name="!!bignum"/>
          <p:cNvSpPr txBox="1"/>
          <p:nvPr/>
        </p:nvSpPr>
        <p:spPr>
          <a:xfrm>
            <a:off x="497434" y="960120"/>
            <a:ext cx="2926080" cy="146304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9600" b="1" dirty="0">
                <a:solidFill>
                  <a:srgbClr val="F472B6"/>
                </a:solidFill>
                <a:latin typeface="Segoe UI"/>
                <a:ea typeface="Segoe UI"/>
                <a:cs typeface="Segoe UI"/>
              </a:rPr>
              <a:t>06</a:t>
            </a:r>
            <a:endParaRPr lang="en-US" sz="9600" dirty="0"/>
          </a:p>
        </p:txBody>
      </p:sp>
      <p:sp>
        <p:nvSpPr>
          <p:cNvPr id="102" name="s102"/>
          <p:cNvSpPr txBox="1"/>
          <p:nvPr/>
        </p:nvSpPr>
        <p:spPr>
          <a:xfrm>
            <a:off x="543154" y="2377440"/>
            <a:ext cx="10515600" cy="82296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4000" b="1" dirty="0">
                <a:solidFill>
                  <a:srgbClr val="FFFFFF"/>
                </a:solidFill>
                <a:latin typeface="Segoe UI"/>
                <a:ea typeface="Segoe UI"/>
                <a:cs typeface="Segoe UI"/>
              </a:rPr>
              <a:t>Practice Lab</a:t>
            </a:r>
            <a:endParaRPr lang="en-US" sz="4000" dirty="0"/>
          </a:p>
        </p:txBody>
      </p:sp>
      <p:sp>
        <p:nvSpPr>
          <p:cNvPr id="103" name="s103"/>
          <p:cNvSpPr txBox="1"/>
          <p:nvPr/>
        </p:nvSpPr>
        <p:spPr>
          <a:xfrm>
            <a:off x="543154" y="3154680"/>
            <a:ext cx="10515600" cy="45720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600" b="0" dirty="0">
                <a:solidFill>
                  <a:srgbClr val="CBD5E1"/>
                </a:solidFill>
                <a:latin typeface="Segoe UI"/>
                <a:ea typeface="Segoe UI"/>
                <a:cs typeface="Segoe UI"/>
              </a:rPr>
              <a:t>Same Scrum loop, on a real GitHub backlog.</a:t>
            </a:r>
            <a:endParaRPr lang="en-US" sz="1600" dirty="0"/>
          </a:p>
        </p:txBody>
      </p:sp>
      <p:sp>
        <p:nvSpPr>
          <p:cNvPr id="104" name="s104"/>
          <p:cNvSpPr/>
          <p:nvPr/>
        </p:nvSpPr>
        <p:spPr>
          <a:xfrm>
            <a:off x="543154" y="3840480"/>
            <a:ext cx="3513125" cy="960120"/>
          </a:xfrm>
          <a:prstGeom prst="roundRect">
            <a:avLst>
              <a:gd name="adj" fmla="val 10000"/>
            </a:avLst>
          </a:prstGeom>
          <a:solidFill>
            <a:srgbClr val="111B2E"/>
          </a:solidFill>
          <a:ln w="12700">
            <a:solidFill>
              <a:srgbClr val="F472B6"/>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472B6"/>
                </a:solidFill>
                <a:latin typeface="Segoe UI"/>
                <a:ea typeface="Segoe UI"/>
                <a:cs typeface="Segoe UI"/>
              </a:rPr>
              <a:t>Story → GitHub</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Map every Scrum idea to a GitHub feature.</a:t>
            </a:r>
            <a:endParaRPr lang="en-US" sz="1200" dirty="0"/>
          </a:p>
        </p:txBody>
      </p:sp>
      <p:sp>
        <p:nvSpPr>
          <p:cNvPr id="105" name="s105"/>
          <p:cNvSpPr/>
          <p:nvPr/>
        </p:nvSpPr>
        <p:spPr>
          <a:xfrm>
            <a:off x="4330598" y="3840480"/>
            <a:ext cx="3513125" cy="960120"/>
          </a:xfrm>
          <a:prstGeom prst="roundRect">
            <a:avLst>
              <a:gd name="adj" fmla="val 10000"/>
            </a:avLst>
          </a:prstGeom>
          <a:solidFill>
            <a:srgbClr val="111B2E"/>
          </a:solidFill>
          <a:ln w="12700">
            <a:solidFill>
              <a:srgbClr val="F472B6"/>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472B6"/>
                </a:solidFill>
                <a:latin typeface="Segoe UI"/>
                <a:ea typeface="Segoe UI"/>
                <a:cs typeface="Segoe UI"/>
              </a:rPr>
              <a:t>GitHub Projects</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Backlog, Sprint board, roadmap.</a:t>
            </a:r>
            <a:endParaRPr lang="en-US" sz="1200" dirty="0"/>
          </a:p>
        </p:txBody>
      </p:sp>
      <p:sp>
        <p:nvSpPr>
          <p:cNvPr id="106" name="s106"/>
          <p:cNvSpPr/>
          <p:nvPr/>
        </p:nvSpPr>
        <p:spPr>
          <a:xfrm>
            <a:off x="8118043" y="3840480"/>
            <a:ext cx="3513125" cy="960120"/>
          </a:xfrm>
          <a:prstGeom prst="roundRect">
            <a:avLst>
              <a:gd name="adj" fmla="val 10000"/>
            </a:avLst>
          </a:prstGeom>
          <a:solidFill>
            <a:srgbClr val="111B2E"/>
          </a:solidFill>
          <a:ln w="12700">
            <a:solidFill>
              <a:srgbClr val="F472B6"/>
            </a:solidFill>
            <a:prstDash val="solid"/>
          </a:ln>
        </p:spPr>
        <p:txBody>
          <a:bodyPr wrap="square" lIns="182880" tIns="146304" rIns="164592" bIns="109728" rtlCol="0" anchor="t">
            <a:noAutofit/>
          </a:bodyPr>
          <a:lstStyle/>
          <a:p>
            <a:pPr marL="0" indent="0" algn="l">
              <a:spcBef>
                <a:spcPts val="0"/>
              </a:spcBef>
              <a:spcAft>
                <a:spcPts val="400"/>
              </a:spcAft>
              <a:buNone/>
            </a:pPr>
            <a:r>
              <a:rPr lang="en-US" sz="1200" b="1" dirty="0">
                <a:solidFill>
                  <a:srgbClr val="F472B6"/>
                </a:solidFill>
                <a:latin typeface="Segoe UI"/>
                <a:ea typeface="Segoe UI"/>
                <a:cs typeface="Segoe UI"/>
              </a:rPr>
              <a:t>Training repo</a:t>
            </a:r>
            <a:endParaRPr lang="en-US" sz="1200" dirty="0"/>
          </a:p>
          <a:p>
            <a:pPr marL="0" indent="0" algn="l">
              <a:spcBef>
                <a:spcPts val="0"/>
              </a:spcBef>
              <a:spcAft>
                <a:spcPts val="300"/>
              </a:spcAft>
              <a:buNone/>
            </a:pPr>
            <a:r>
              <a:rPr lang="en-US" sz="1200" b="0" dirty="0">
                <a:solidFill>
                  <a:srgbClr val="CBD5E1"/>
                </a:solidFill>
                <a:latin typeface="Segoe UI"/>
                <a:ea typeface="Segoe UI"/>
                <a:cs typeface="Segoe UI"/>
              </a:rPr>
              <a:t>Sprint 1: sign up and log in.</a:t>
            </a:r>
            <a:endParaRPr lang="en-US" sz="1200" dirty="0"/>
          </a:p>
        </p:txBody>
      </p:sp>
      <p:sp>
        <p:nvSpPr>
          <p:cNvPr id="107" name="!!chap0"/>
          <p:cNvSpPr/>
          <p:nvPr/>
        </p:nvSpPr>
        <p:spPr>
          <a:xfrm>
            <a:off x="54315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13D0F7"/>
                </a:solidFill>
                <a:latin typeface="Segoe UI"/>
                <a:ea typeface="Segoe UI"/>
                <a:cs typeface="Segoe UI"/>
              </a:rPr>
              <a:t>01  </a:t>
            </a:r>
            <a:r>
              <a:rPr lang="en-US" sz="1100" b="0" dirty="0">
                <a:solidFill>
                  <a:srgbClr val="94A3B8"/>
                </a:solidFill>
                <a:latin typeface="Segoe UI"/>
                <a:ea typeface="Segoe UI"/>
                <a:cs typeface="Segoe UI"/>
              </a:rPr>
              <a:t>Methodologies</a:t>
            </a:r>
            <a:endParaRPr lang="en-US" sz="1100" dirty="0"/>
          </a:p>
        </p:txBody>
      </p:sp>
      <p:sp>
        <p:nvSpPr>
          <p:cNvPr id="108" name="!!chap1"/>
          <p:cNvSpPr/>
          <p:nvPr/>
        </p:nvSpPr>
        <p:spPr>
          <a:xfrm>
            <a:off x="240944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34D399"/>
                </a:solidFill>
                <a:latin typeface="Segoe UI"/>
                <a:ea typeface="Segoe UI"/>
                <a:cs typeface="Segoe UI"/>
              </a:rPr>
              <a:t>02  </a:t>
            </a:r>
            <a:r>
              <a:rPr lang="en-US" sz="1100" b="0" dirty="0">
                <a:solidFill>
                  <a:srgbClr val="94A3B8"/>
                </a:solidFill>
                <a:latin typeface="Segoe UI"/>
                <a:ea typeface="Segoe UI"/>
                <a:cs typeface="Segoe UI"/>
              </a:rPr>
              <a:t>Agile mindset</a:t>
            </a:r>
            <a:endParaRPr lang="en-US" sz="1100" dirty="0"/>
          </a:p>
        </p:txBody>
      </p:sp>
      <p:sp>
        <p:nvSpPr>
          <p:cNvPr id="109" name="!!chap2"/>
          <p:cNvSpPr/>
          <p:nvPr/>
        </p:nvSpPr>
        <p:spPr>
          <a:xfrm>
            <a:off x="4275734"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A78BFA"/>
                </a:solidFill>
                <a:latin typeface="Segoe UI"/>
                <a:ea typeface="Segoe UI"/>
                <a:cs typeface="Segoe UI"/>
              </a:rPr>
              <a:t>03  </a:t>
            </a:r>
            <a:r>
              <a:rPr lang="en-US" sz="1100" b="0" dirty="0">
                <a:solidFill>
                  <a:srgbClr val="94A3B8"/>
                </a:solidFill>
                <a:latin typeface="Segoe UI"/>
                <a:ea typeface="Segoe UI"/>
                <a:cs typeface="Segoe UI"/>
              </a:rPr>
              <a:t>Manifesto values</a:t>
            </a:r>
            <a:endParaRPr lang="en-US" sz="1100" dirty="0"/>
          </a:p>
        </p:txBody>
      </p:sp>
      <p:sp>
        <p:nvSpPr>
          <p:cNvPr id="110" name="!!chap3"/>
          <p:cNvSpPr/>
          <p:nvPr/>
        </p:nvSpPr>
        <p:spPr>
          <a:xfrm>
            <a:off x="614202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FBBF24"/>
                </a:solidFill>
                <a:latin typeface="Segoe UI"/>
                <a:ea typeface="Segoe UI"/>
                <a:cs typeface="Segoe UI"/>
              </a:rPr>
              <a:t>04  </a:t>
            </a:r>
            <a:r>
              <a:rPr lang="en-US" sz="1100" b="0" dirty="0">
                <a:solidFill>
                  <a:srgbClr val="94A3B8"/>
                </a:solidFill>
                <a:latin typeface="Segoe UI"/>
                <a:ea typeface="Segoe UI"/>
                <a:cs typeface="Segoe UI"/>
              </a:rPr>
              <a:t>12 principles</a:t>
            </a:r>
            <a:endParaRPr lang="en-US" sz="1100" dirty="0"/>
          </a:p>
        </p:txBody>
      </p:sp>
      <p:sp>
        <p:nvSpPr>
          <p:cNvPr id="111" name="!!chap4"/>
          <p:cNvSpPr/>
          <p:nvPr/>
        </p:nvSpPr>
        <p:spPr>
          <a:xfrm>
            <a:off x="8008315" y="5074920"/>
            <a:ext cx="1756562" cy="457200"/>
          </a:xfrm>
          <a:prstGeom prst="roundRect">
            <a:avLst>
              <a:gd name="adj" fmla="val 50000"/>
            </a:avLst>
          </a:prstGeom>
          <a:solidFill>
            <a:srgbClr val="111B2E"/>
          </a:solidFill>
          <a:ln w="12700">
            <a:solidFill>
              <a:srgbClr val="1E3A5F"/>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60A5FA"/>
                </a:solidFill>
                <a:latin typeface="Segoe UI"/>
                <a:ea typeface="Segoe UI"/>
                <a:cs typeface="Segoe UI"/>
              </a:rPr>
              <a:t>05  </a:t>
            </a:r>
            <a:r>
              <a:rPr lang="en-US" sz="1100" b="0" dirty="0">
                <a:solidFill>
                  <a:srgbClr val="94A3B8"/>
                </a:solidFill>
                <a:latin typeface="Segoe UI"/>
                <a:ea typeface="Segoe UI"/>
                <a:cs typeface="Segoe UI"/>
              </a:rPr>
              <a:t>Scrum: one Sprint</a:t>
            </a:r>
            <a:endParaRPr lang="en-US" sz="1100" dirty="0"/>
          </a:p>
        </p:txBody>
      </p:sp>
      <p:sp>
        <p:nvSpPr>
          <p:cNvPr id="112" name="!!chap5"/>
          <p:cNvSpPr/>
          <p:nvPr/>
        </p:nvSpPr>
        <p:spPr>
          <a:xfrm>
            <a:off x="9874606" y="5074920"/>
            <a:ext cx="1756562" cy="457200"/>
          </a:xfrm>
          <a:prstGeom prst="roundRect">
            <a:avLst>
              <a:gd name="adj" fmla="val 50000"/>
            </a:avLst>
          </a:prstGeom>
          <a:solidFill>
            <a:srgbClr val="F472B6"/>
          </a:solidFill>
          <a:ln w="12700">
            <a:solidFill>
              <a:srgbClr val="F472B6"/>
            </a:solidFill>
            <a:prstDash val="solid"/>
          </a:ln>
        </p:spPr>
        <p:txBody>
          <a:bodyPr wrap="square" lIns="45720" tIns="0" rIns="45720" bIns="0" rtlCol="0" anchor="ctr">
            <a:noAutofit/>
          </a:bodyPr>
          <a:lstStyle/>
          <a:p>
            <a:pPr marL="0" indent="0" algn="ctr">
              <a:spcBef>
                <a:spcPts val="0"/>
              </a:spcBef>
              <a:spcAft>
                <a:spcPts val="0"/>
              </a:spcAft>
              <a:buNone/>
            </a:pPr>
            <a:r>
              <a:rPr lang="en-US" sz="1100" b="1" dirty="0">
                <a:solidFill>
                  <a:srgbClr val="0F172A"/>
                </a:solidFill>
                <a:latin typeface="Segoe UI"/>
                <a:ea typeface="Segoe UI"/>
                <a:cs typeface="Segoe UI"/>
              </a:rPr>
              <a:t>06  Practice lab</a:t>
            </a:r>
            <a:endParaRPr lang="en-US" sz="1100" dirty="0"/>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50" decel="100000" fill="hold"/>
                                        <p:tgtEl>
                                          <p:spTgt spid="101"/>
                                        </p:tgtEl>
                                        <p:attrNameLst>
                                          <p:attrName>ppt_w</p:attrName>
                                        </p:attrNameLst>
                                      </p:cBhvr>
                                      <p:tavLst>
                                        <p:tav tm="0">
                                          <p:val>
                                            <p:strVal val="#ppt_w*0.3"/>
                                          </p:val>
                                        </p:tav>
                                        <p:tav tm="100000">
                                          <p:val>
                                            <p:strVal val="#ppt_w*1.08"/>
                                          </p:val>
                                        </p:tav>
                                      </p:tavLst>
                                    </p:anim>
                                    <p:anim calcmode="lin" valueType="num">
                                      <p:cBhvr additive="base">
                                        <p:cTn id="8" dur="550" decel="100000" fill="hold"/>
                                        <p:tgtEl>
                                          <p:spTgt spid="101"/>
                                        </p:tgtEl>
                                        <p:attrNameLst>
                                          <p:attrName>ppt_h</p:attrName>
                                        </p:attrNameLst>
                                      </p:cBhvr>
                                      <p:tavLst>
                                        <p:tav tm="0">
                                          <p:val>
                                            <p:strVal val="#ppt_h*0.3"/>
                                          </p:val>
                                        </p:tav>
                                        <p:tav tm="100000">
                                          <p:val>
                                            <p:strVal val="#ppt_h*1.08"/>
                                          </p:val>
                                        </p:tav>
                                      </p:tavLst>
                                    </p:anim>
                                    <p:animEffect transition="in" filter="fade">
                                      <p:cBhvr>
                                        <p:cTn id="9" dur="275"/>
                                        <p:tgtEl>
                                          <p:spTgt spid="101"/>
                                        </p:tgtEl>
                                      </p:cBhvr>
                                    </p:animEffect>
                                    <p:anim calcmode="lin" valueType="num">
                                      <p:cBhvr additive="base">
                                        <p:cTn id="10" dur="160" fill="hold">
                                          <p:stCondLst>
                                            <p:cond delay="550"/>
                                          </p:stCondLst>
                                        </p:cTn>
                                        <p:tgtEl>
                                          <p:spTgt spid="101"/>
                                        </p:tgtEl>
                                        <p:attrNameLst>
                                          <p:attrName>ppt_w</p:attrName>
                                        </p:attrNameLst>
                                      </p:cBhvr>
                                      <p:tavLst>
                                        <p:tav tm="0">
                                          <p:val>
                                            <p:strVal val="#ppt_w*1.08"/>
                                          </p:val>
                                        </p:tav>
                                        <p:tav tm="100000">
                                          <p:val>
                                            <p:strVal val="#ppt_w"/>
                                          </p:val>
                                        </p:tav>
                                      </p:tavLst>
                                    </p:anim>
                                    <p:anim calcmode="lin" valueType="num">
                                      <p:cBhvr additive="base">
                                        <p:cTn id="11" dur="160" fill="hold">
                                          <p:stCondLst>
                                            <p:cond delay="550"/>
                                          </p:stCondLst>
                                        </p:cTn>
                                        <p:tgtEl>
                                          <p:spTgt spid="101"/>
                                        </p:tgtEl>
                                        <p:attrNameLst>
                                          <p:attrName>ppt_h</p:attrName>
                                        </p:attrNameLst>
                                      </p:cBhvr>
                                      <p:tavLst>
                                        <p:tav tm="0">
                                          <p:val>
                                            <p:strVal val="#ppt_h*1.08"/>
                                          </p:val>
                                        </p:tav>
                                        <p:tav tm="100000">
                                          <p:val>
                                            <p:strVal val="#ppt_h"/>
                                          </p:val>
                                        </p:tav>
                                      </p:tavLst>
                                    </p:anim>
                                  </p:childTnLst>
                                </p:cTn>
                              </p:par>
                              <p:par>
                                <p:cTn id="12" presetID="42" presetClass="entr" presetSubtype="0" fill="hold" grpId="0" nodeType="withEffect">
                                  <p:stCondLst>
                                    <p:cond delay="14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50"/>
                                        <p:tgtEl>
                                          <p:spTgt spid="102"/>
                                        </p:tgtEl>
                                      </p:cBhvr>
                                    </p:animEffect>
                                    <p:anim calcmode="lin" valueType="num">
                                      <p:cBhvr additive="base">
                                        <p:cTn id="15" dur="550" decel="100000" fill="hold"/>
                                        <p:tgtEl>
                                          <p:spTgt spid="102"/>
                                        </p:tgtEl>
                                        <p:attrNameLst>
                                          <p:attrName>ppt_y</p:attrName>
                                        </p:attrNameLst>
                                      </p:cBhvr>
                                      <p:tavLst>
                                        <p:tav tm="0">
                                          <p:val>
                                            <p:strVal val="#ppt_y+0.06"/>
                                          </p:val>
                                        </p:tav>
                                        <p:tav tm="100000">
                                          <p:val>
                                            <p:strVal val="#ppt_y"/>
                                          </p:val>
                                        </p:tav>
                                      </p:tavLst>
                                    </p:anim>
                                  </p:childTnLst>
                                </p:cTn>
                              </p:par>
                              <p:par>
                                <p:cTn id="16" presetID="42" presetClass="entr" presetSubtype="0" fill="hold" grpId="0" nodeType="withEffect">
                                  <p:stCondLst>
                                    <p:cond delay="280"/>
                                  </p:stCondLst>
                                  <p:childTnLst>
                                    <p:set>
                                      <p:cBhvr>
                                        <p:cTn id="17" dur="1" fill="hold">
                                          <p:stCondLst>
                                            <p:cond delay="0"/>
                                          </p:stCondLst>
                                        </p:cTn>
                                        <p:tgtEl>
                                          <p:spTgt spid="103"/>
                                        </p:tgtEl>
                                        <p:attrNameLst>
                                          <p:attrName>style.visibility</p:attrName>
                                        </p:attrNameLst>
                                      </p:cBhvr>
                                      <p:to>
                                        <p:strVal val="visible"/>
                                      </p:to>
                                    </p:set>
                                    <p:animEffect transition="in" filter="fade">
                                      <p:cBhvr>
                                        <p:cTn id="18" dur="550"/>
                                        <p:tgtEl>
                                          <p:spTgt spid="103"/>
                                        </p:tgtEl>
                                      </p:cBhvr>
                                    </p:animEffect>
                                    <p:anim calcmode="lin" valueType="num">
                                      <p:cBhvr additive="base">
                                        <p:cTn id="19" dur="550" decel="100000" fill="hold"/>
                                        <p:tgtEl>
                                          <p:spTgt spid="103"/>
                                        </p:tgtEl>
                                        <p:attrNameLst>
                                          <p:attrName>ppt_y</p:attrName>
                                        </p:attrNameLst>
                                      </p:cBhvr>
                                      <p:tavLst>
                                        <p:tav tm="0">
                                          <p:val>
                                            <p:strVal val="#ppt_y+0.06"/>
                                          </p:val>
                                        </p:tav>
                                        <p:tav tm="100000">
                                          <p:val>
                                            <p:strVal val="#ppt_y"/>
                                          </p:val>
                                        </p:tav>
                                      </p:tavLst>
                                    </p:anim>
                                  </p:childTnLst>
                                </p:cTn>
                              </p:par>
                              <p:par>
                                <p:cTn id="20" presetID="42" presetClass="entr" presetSubtype="0" fill="hold" grpId="0" nodeType="withEffect">
                                  <p:stCondLst>
                                    <p:cond delay="420"/>
                                  </p:stCondLst>
                                  <p:childTnLst>
                                    <p:set>
                                      <p:cBhvr>
                                        <p:cTn id="21" dur="1" fill="hold">
                                          <p:stCondLst>
                                            <p:cond delay="0"/>
                                          </p:stCondLst>
                                        </p:cTn>
                                        <p:tgtEl>
                                          <p:spTgt spid="104"/>
                                        </p:tgtEl>
                                        <p:attrNameLst>
                                          <p:attrName>style.visibility</p:attrName>
                                        </p:attrNameLst>
                                      </p:cBhvr>
                                      <p:to>
                                        <p:strVal val="visible"/>
                                      </p:to>
                                    </p:set>
                                    <p:animEffect transition="in" filter="fade">
                                      <p:cBhvr>
                                        <p:cTn id="22" dur="550"/>
                                        <p:tgtEl>
                                          <p:spTgt spid="104"/>
                                        </p:tgtEl>
                                      </p:cBhvr>
                                    </p:animEffect>
                                    <p:anim calcmode="lin" valueType="num">
                                      <p:cBhvr additive="base">
                                        <p:cTn id="23" dur="550" decel="100000" fill="hold"/>
                                        <p:tgtEl>
                                          <p:spTgt spid="104"/>
                                        </p:tgtEl>
                                        <p:attrNameLst>
                                          <p:attrName>ppt_y</p:attrName>
                                        </p:attrNameLst>
                                      </p:cBhvr>
                                      <p:tavLst>
                                        <p:tav tm="0">
                                          <p:val>
                                            <p:strVal val="#ppt_y+0.06"/>
                                          </p:val>
                                        </p:tav>
                                        <p:tav tm="100000">
                                          <p:val>
                                            <p:strVal val="#ppt_y"/>
                                          </p:val>
                                        </p:tav>
                                      </p:tavLst>
                                    </p:anim>
                                  </p:childTnLst>
                                </p:cTn>
                              </p:par>
                              <p:par>
                                <p:cTn id="24" presetID="42" presetClass="entr" presetSubtype="0" fill="hold" grpId="0" nodeType="withEffect">
                                  <p:stCondLst>
                                    <p:cond delay="56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50"/>
                                        <p:tgtEl>
                                          <p:spTgt spid="105"/>
                                        </p:tgtEl>
                                      </p:cBhvr>
                                    </p:animEffect>
                                    <p:anim calcmode="lin" valueType="num">
                                      <p:cBhvr additive="base">
                                        <p:cTn id="27" dur="550" decel="100000" fill="hold"/>
                                        <p:tgtEl>
                                          <p:spTgt spid="105"/>
                                        </p:tgtEl>
                                        <p:attrNameLst>
                                          <p:attrName>ppt_y</p:attrName>
                                        </p:attrNameLst>
                                      </p:cBhvr>
                                      <p:tavLst>
                                        <p:tav tm="0">
                                          <p:val>
                                            <p:strVal val="#ppt_y+0.06"/>
                                          </p:val>
                                        </p:tav>
                                        <p:tav tm="100000">
                                          <p:val>
                                            <p:strVal val="#ppt_y"/>
                                          </p:val>
                                        </p:tav>
                                      </p:tavLst>
                                    </p:anim>
                                  </p:childTnLst>
                                </p:cTn>
                              </p:par>
                              <p:par>
                                <p:cTn id="28" presetID="42" presetClass="entr" presetSubtype="0" fill="hold" grpId="0" nodeType="withEffect">
                                  <p:stCondLst>
                                    <p:cond delay="700"/>
                                  </p:stCondLst>
                                  <p:childTnLst>
                                    <p:set>
                                      <p:cBhvr>
                                        <p:cTn id="29" dur="1" fill="hold">
                                          <p:stCondLst>
                                            <p:cond delay="0"/>
                                          </p:stCondLst>
                                        </p:cTn>
                                        <p:tgtEl>
                                          <p:spTgt spid="106"/>
                                        </p:tgtEl>
                                        <p:attrNameLst>
                                          <p:attrName>style.visibility</p:attrName>
                                        </p:attrNameLst>
                                      </p:cBhvr>
                                      <p:to>
                                        <p:strVal val="visible"/>
                                      </p:to>
                                    </p:set>
                                    <p:animEffect transition="in" filter="fade">
                                      <p:cBhvr>
                                        <p:cTn id="30" dur="550"/>
                                        <p:tgtEl>
                                          <p:spTgt spid="106"/>
                                        </p:tgtEl>
                                      </p:cBhvr>
                                    </p:animEffect>
                                    <p:anim calcmode="lin" valueType="num">
                                      <p:cBhvr additive="base">
                                        <p:cTn id="31" dur="550" decel="100000" fill="hold"/>
                                        <p:tgtEl>
                                          <p:spTgt spid="106"/>
                                        </p:tgtEl>
                                        <p:attrNameLst>
                                          <p:attrName>ppt_y</p:attrName>
                                        </p:attrNameLst>
                                      </p:cBhvr>
                                      <p:tavLst>
                                        <p:tav tm="0">
                                          <p:val>
                                            <p:strVal val="#ppt_y+0.06"/>
                                          </p:val>
                                        </p:tav>
                                        <p:tav tm="100000">
                                          <p:val>
                                            <p:strVal val="#ppt_y"/>
                                          </p:val>
                                        </p:tav>
                                      </p:tavLst>
                                    </p:anim>
                                  </p:childTnLst>
                                </p:cTn>
                              </p:par>
                              <p:par>
                                <p:cTn id="32" presetID="10" presetClass="entr" presetSubtype="0" fill="hold" grpId="0" nodeType="withEffect">
                                  <p:stCondLst>
                                    <p:cond delay="850"/>
                                  </p:stCondLst>
                                  <p:childTnLst>
                                    <p:set>
                                      <p:cBhvr>
                                        <p:cTn id="33" dur="1" fill="hold">
                                          <p:stCondLst>
                                            <p:cond delay="0"/>
                                          </p:stCondLst>
                                        </p:cTn>
                                        <p:tgtEl>
                                          <p:spTgt spid="107"/>
                                        </p:tgtEl>
                                        <p:attrNameLst>
                                          <p:attrName>style.visibility</p:attrName>
                                        </p:attrNameLst>
                                      </p:cBhvr>
                                      <p:to>
                                        <p:strVal val="visible"/>
                                      </p:to>
                                    </p:set>
                                    <p:animEffect transition="in" filter="fade">
                                      <p:cBhvr>
                                        <p:cTn id="34" dur="500"/>
                                        <p:tgtEl>
                                          <p:spTgt spid="107"/>
                                        </p:tgtEl>
                                      </p:cBhvr>
                                    </p:animEffect>
                                  </p:childTnLst>
                                </p:cTn>
                              </p:par>
                              <p:par>
                                <p:cTn id="35" presetID="10" presetClass="entr" presetSubtype="0" fill="hold" grpId="0" nodeType="withEffect">
                                  <p:stCondLst>
                                    <p:cond delay="850"/>
                                  </p:stCondLst>
                                  <p:childTnLst>
                                    <p:set>
                                      <p:cBhvr>
                                        <p:cTn id="36" dur="1" fill="hold">
                                          <p:stCondLst>
                                            <p:cond delay="0"/>
                                          </p:stCondLst>
                                        </p:cTn>
                                        <p:tgtEl>
                                          <p:spTgt spid="108"/>
                                        </p:tgtEl>
                                        <p:attrNameLst>
                                          <p:attrName>style.visibility</p:attrName>
                                        </p:attrNameLst>
                                      </p:cBhvr>
                                      <p:to>
                                        <p:strVal val="visible"/>
                                      </p:to>
                                    </p:set>
                                    <p:animEffect transition="in" filter="fade">
                                      <p:cBhvr>
                                        <p:cTn id="37" dur="500"/>
                                        <p:tgtEl>
                                          <p:spTgt spid="108"/>
                                        </p:tgtEl>
                                      </p:cBhvr>
                                    </p:animEffect>
                                  </p:childTnLst>
                                </p:cTn>
                              </p:par>
                              <p:par>
                                <p:cTn id="38" presetID="10" presetClass="entr" presetSubtype="0" fill="hold" grpId="0" nodeType="withEffect">
                                  <p:stCondLst>
                                    <p:cond delay="85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childTnLst>
                                </p:cTn>
                              </p:par>
                              <p:par>
                                <p:cTn id="41" presetID="10" presetClass="entr" presetSubtype="0" fill="hold" grpId="0" nodeType="withEffect">
                                  <p:stCondLst>
                                    <p:cond delay="850"/>
                                  </p:stCondLst>
                                  <p:childTnLst>
                                    <p:set>
                                      <p:cBhvr>
                                        <p:cTn id="42" dur="1" fill="hold">
                                          <p:stCondLst>
                                            <p:cond delay="0"/>
                                          </p:stCondLst>
                                        </p:cTn>
                                        <p:tgtEl>
                                          <p:spTgt spid="110"/>
                                        </p:tgtEl>
                                        <p:attrNameLst>
                                          <p:attrName>style.visibility</p:attrName>
                                        </p:attrNameLst>
                                      </p:cBhvr>
                                      <p:to>
                                        <p:strVal val="visible"/>
                                      </p:to>
                                    </p:set>
                                    <p:animEffect transition="in" filter="fade">
                                      <p:cBhvr>
                                        <p:cTn id="43" dur="500"/>
                                        <p:tgtEl>
                                          <p:spTgt spid="110"/>
                                        </p:tgtEl>
                                      </p:cBhvr>
                                    </p:animEffect>
                                  </p:childTnLst>
                                </p:cTn>
                              </p:par>
                              <p:par>
                                <p:cTn id="44" presetID="10" presetClass="entr" presetSubtype="0" fill="hold" grpId="0" nodeType="withEffect">
                                  <p:stCondLst>
                                    <p:cond delay="850"/>
                                  </p:stCondLst>
                                  <p:childTnLst>
                                    <p:set>
                                      <p:cBhvr>
                                        <p:cTn id="45" dur="1" fill="hold">
                                          <p:stCondLst>
                                            <p:cond delay="0"/>
                                          </p:stCondLst>
                                        </p:cTn>
                                        <p:tgtEl>
                                          <p:spTgt spid="111"/>
                                        </p:tgtEl>
                                        <p:attrNameLst>
                                          <p:attrName>style.visibility</p:attrName>
                                        </p:attrNameLst>
                                      </p:cBhvr>
                                      <p:to>
                                        <p:strVal val="visible"/>
                                      </p:to>
                                    </p:set>
                                    <p:animEffect transition="in" filter="fade">
                                      <p:cBhvr>
                                        <p:cTn id="46" dur="500"/>
                                        <p:tgtEl>
                                          <p:spTgt spid="111"/>
                                        </p:tgtEl>
                                      </p:cBhvr>
                                    </p:animEffect>
                                  </p:childTnLst>
                                </p:cTn>
                              </p:par>
                              <p:par>
                                <p:cTn id="47" presetID="10" presetClass="entr" presetSubtype="0" fill="hold" grpId="0" nodeType="withEffect">
                                  <p:stCondLst>
                                    <p:cond delay="850"/>
                                  </p:stCondLst>
                                  <p:childTnLst>
                                    <p:set>
                                      <p:cBhvr>
                                        <p:cTn id="48" dur="1" fill="hold">
                                          <p:stCondLst>
                                            <p:cond delay="0"/>
                                          </p:stCondLst>
                                        </p:cTn>
                                        <p:tgtEl>
                                          <p:spTgt spid="112"/>
                                        </p:tgtEl>
                                        <p:attrNameLst>
                                          <p:attrName>style.visibility</p:attrName>
                                        </p:attrNameLst>
                                      </p:cBhvr>
                                      <p:to>
                                        <p:strVal val="visible"/>
                                      </p:to>
                                    </p:set>
                                    <p:animEffect transition="in" filter="fade">
                                      <p:cBhvr>
                                        <p:cTn id="49"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1148486" cy="285750"/>
          </a:xfrm>
          <a:prstGeom prst="roundRect">
            <a:avLst>
              <a:gd name="adj" fmla="val 23333"/>
            </a:avLst>
          </a:prstGeom>
          <a:solidFill>
            <a:srgbClr val="F472B6">
              <a:alpha val="18000"/>
            </a:srgbClr>
          </a:solidFill>
          <a:ln w="12700">
            <a:solidFill>
              <a:srgbClr val="F472B6"/>
            </a:solidFill>
          </a:ln>
        </p:spPr>
        <p:txBody>
          <a:bodyPr wrap="square" lIns="0" tIns="0" rIns="0" bIns="0" rtlCol="0" anchor="ctr">
            <a:noAutofit/>
          </a:bodyPr>
          <a:lstStyle/>
          <a:p>
            <a:pPr marL="0" indent="0" algn="ctr">
              <a:spcBef>
                <a:spcPts val="0"/>
              </a:spcBef>
              <a:spcAft>
                <a:spcPts val="0"/>
              </a:spcAft>
              <a:buNone/>
            </a:pPr>
            <a:r>
              <a:rPr lang="en-US" sz="1000" b="1" dirty="0">
                <a:solidFill>
                  <a:srgbClr val="F472B6"/>
                </a:solidFill>
                <a:latin typeface="Segoe UI"/>
                <a:ea typeface="Segoe UI"/>
                <a:cs typeface="Segoe UI"/>
              </a:rPr>
              <a:t>PRACTICE LAB</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From the Classroom Story to GitHub</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Same Scrum ideas, practiced on a real Student Management backlog.</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PRACTICE LAB</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308</a:t>
            </a:r>
            <a:endParaRPr lang="en-US" sz="850" dirty="0"/>
          </a:p>
        </p:txBody>
      </p:sp>
      <p:sp>
        <p:nvSpPr>
          <p:cNvPr id="101" name="s101"/>
          <p:cNvSpPr/>
          <p:nvPr/>
        </p:nvSpPr>
        <p:spPr>
          <a:xfrm>
            <a:off x="543154" y="1920240"/>
            <a:ext cx="5120640" cy="1188720"/>
          </a:xfrm>
          <a:prstGeom prst="roundRect">
            <a:avLst>
              <a:gd name="adj" fmla="val 10000"/>
            </a:avLst>
          </a:prstGeom>
          <a:solidFill>
            <a:srgbClr val="111B2E"/>
          </a:solidFill>
          <a:ln w="12700">
            <a:solidFill>
              <a:srgbClr val="60A5FA"/>
            </a:solidFill>
            <a:prstDash val="solid"/>
          </a:ln>
        </p:spPr>
        <p:txBody>
          <a:bodyPr wrap="square" lIns="182880" tIns="146304" rIns="164592" bIns="109728" rtlCol="0" anchor="t">
            <a:noAutofit/>
          </a:bodyPr>
          <a:lstStyle/>
          <a:p>
            <a:pPr marL="0" indent="0" algn="l">
              <a:spcBef>
                <a:spcPts val="0"/>
              </a:spcBef>
              <a:spcAft>
                <a:spcPts val="400"/>
              </a:spcAft>
              <a:buNone/>
            </a:pPr>
            <a:r>
              <a:rPr lang="en-US" sz="1100" b="1" dirty="0">
                <a:solidFill>
                  <a:srgbClr val="60A5FA"/>
                </a:solidFill>
                <a:latin typeface="Segoe UI"/>
                <a:ea typeface="Segoe UI"/>
                <a:cs typeface="Segoe UI"/>
              </a:rPr>
              <a:t>CARE HOSPITAL LECTURE</a:t>
            </a:r>
            <a:endParaRPr lang="en-US" sz="1100" dirty="0"/>
          </a:p>
          <a:p>
            <a:pPr marL="0" indent="0" algn="l">
              <a:spcBef>
                <a:spcPts val="0"/>
              </a:spcBef>
              <a:spcAft>
                <a:spcPts val="300"/>
              </a:spcAft>
              <a:buNone/>
            </a:pPr>
            <a:r>
              <a:rPr lang="en-US" sz="1300" b="0" dirty="0">
                <a:solidFill>
                  <a:srgbClr val="CBD5E1"/>
                </a:solidFill>
                <a:latin typeface="Segoe UI"/>
                <a:ea typeface="Segoe UI"/>
                <a:cs typeface="Segoe UI"/>
              </a:rPr>
              <a:t>You lived one Sprint: vision → backlog → plan → build → review → retro.</a:t>
            </a:r>
            <a:endParaRPr lang="en-US" sz="1300" dirty="0"/>
          </a:p>
        </p:txBody>
      </p:sp>
      <p:cxnSp>
        <p:nvCxnSpPr>
          <p:cNvPr id="102" name="ln102"/>
          <p:cNvCxnSpPr/>
          <p:nvPr/>
        </p:nvCxnSpPr>
        <p:spPr>
          <a:xfrm>
            <a:off x="5800954" y="2514600"/>
            <a:ext cx="572414" cy="0"/>
          </a:xfrm>
          <a:prstGeom prst="line">
            <a:avLst/>
          </a:prstGeom>
          <a:ln w="31750">
            <a:solidFill>
              <a:srgbClr val="F472B6"/>
            </a:solidFill>
            <a:tailEnd type="triangle" w="med" len="med"/>
          </a:ln>
        </p:spPr>
      </p:cxnSp>
      <p:sp>
        <p:nvSpPr>
          <p:cNvPr id="103" name="s103"/>
          <p:cNvSpPr/>
          <p:nvPr/>
        </p:nvSpPr>
        <p:spPr>
          <a:xfrm>
            <a:off x="6510528" y="1920240"/>
            <a:ext cx="5120640" cy="1188720"/>
          </a:xfrm>
          <a:prstGeom prst="roundRect">
            <a:avLst>
              <a:gd name="adj" fmla="val 10000"/>
            </a:avLst>
          </a:prstGeom>
          <a:solidFill>
            <a:srgbClr val="111B2E"/>
          </a:solidFill>
          <a:ln w="12700">
            <a:solidFill>
              <a:srgbClr val="F472B6"/>
            </a:solidFill>
            <a:prstDash val="solid"/>
          </a:ln>
        </p:spPr>
        <p:txBody>
          <a:bodyPr wrap="square" lIns="182880" tIns="146304" rIns="164592" bIns="109728" rtlCol="0" anchor="t">
            <a:noAutofit/>
          </a:bodyPr>
          <a:lstStyle/>
          <a:p>
            <a:pPr marL="0" indent="0" algn="l">
              <a:spcBef>
                <a:spcPts val="0"/>
              </a:spcBef>
              <a:spcAft>
                <a:spcPts val="400"/>
              </a:spcAft>
              <a:buNone/>
            </a:pPr>
            <a:r>
              <a:rPr lang="en-US" sz="1100" b="1" dirty="0">
                <a:solidFill>
                  <a:srgbClr val="F472B6"/>
                </a:solidFill>
                <a:latin typeface="Segoe UI"/>
                <a:ea typeface="Segoe UI"/>
                <a:cs typeface="Segoe UI"/>
              </a:rPr>
              <a:t>GITHUB TRAINING REPO</a:t>
            </a:r>
            <a:endParaRPr lang="en-US" sz="1100" dirty="0"/>
          </a:p>
          <a:p>
            <a:pPr marL="0" indent="0" algn="l">
              <a:spcBef>
                <a:spcPts val="0"/>
              </a:spcBef>
              <a:spcAft>
                <a:spcPts val="300"/>
              </a:spcAft>
              <a:buNone/>
            </a:pPr>
            <a:r>
              <a:rPr lang="en-US" sz="1300" b="0" dirty="0">
                <a:solidFill>
                  <a:srgbClr val="CBD5E1"/>
                </a:solidFill>
                <a:latin typeface="Segoe UI"/>
                <a:ea typeface="Segoe UI"/>
                <a:cs typeface="Segoe UI"/>
              </a:rPr>
              <a:t>Practice the same loop with Issues, Projects, PRs and code review.</a:t>
            </a:r>
            <a:endParaRPr lang="en-US" sz="1300" dirty="0"/>
          </a:p>
        </p:txBody>
      </p:sp>
      <p:sp>
        <p:nvSpPr>
          <p:cNvPr id="104" name="s104"/>
          <p:cNvSpPr/>
          <p:nvPr/>
        </p:nvSpPr>
        <p:spPr>
          <a:xfrm>
            <a:off x="543154" y="3383280"/>
            <a:ext cx="11088014" cy="347472"/>
          </a:xfrm>
          <a:prstGeom prst="rect">
            <a:avLst/>
          </a:prstGeom>
          <a:solidFill>
            <a:srgbClr val="111B2E"/>
          </a:solidFill>
          <a:ln>
            <a:noFill/>
          </a:ln>
        </p:spPr>
        <p:txBody>
          <a:bodyPr wrap="square" lIns="164592" tIns="109728" rIns="137160" bIns="91440" rtlCol="0" anchor="t">
            <a:noAutofit/>
          </a:bodyPr>
          <a:lstStyle/>
          <a:p>
            <a:endParaRPr lang="en-US"/>
          </a:p>
        </p:txBody>
      </p:sp>
      <p:sp>
        <p:nvSpPr>
          <p:cNvPr id="105" name="s105"/>
          <p:cNvSpPr txBox="1"/>
          <p:nvPr/>
        </p:nvSpPr>
        <p:spPr>
          <a:xfrm>
            <a:off x="726034" y="3383280"/>
            <a:ext cx="3657600"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Product Backlog</a:t>
            </a:r>
            <a:endParaRPr lang="en-US" sz="1250" dirty="0"/>
          </a:p>
        </p:txBody>
      </p:sp>
      <p:sp>
        <p:nvSpPr>
          <p:cNvPr id="106" name="s106"/>
          <p:cNvSpPr txBox="1"/>
          <p:nvPr/>
        </p:nvSpPr>
        <p:spPr>
          <a:xfrm>
            <a:off x="4475074" y="3383280"/>
            <a:ext cx="457200"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472B6"/>
                </a:solidFill>
                <a:latin typeface="Segoe UI"/>
                <a:ea typeface="Segoe UI"/>
                <a:cs typeface="Segoe UI"/>
              </a:rPr>
              <a:t>→</a:t>
            </a:r>
            <a:endParaRPr lang="en-US" sz="1300" dirty="0"/>
          </a:p>
        </p:txBody>
      </p:sp>
      <p:sp>
        <p:nvSpPr>
          <p:cNvPr id="107" name="s107"/>
          <p:cNvSpPr txBox="1"/>
          <p:nvPr/>
        </p:nvSpPr>
        <p:spPr>
          <a:xfrm>
            <a:off x="5023714" y="3383280"/>
            <a:ext cx="6516014"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Issues + a Project “Backlog” view</a:t>
            </a:r>
            <a:endParaRPr lang="en-US" sz="1250" dirty="0"/>
          </a:p>
        </p:txBody>
      </p:sp>
      <p:sp>
        <p:nvSpPr>
          <p:cNvPr id="108" name="s108"/>
          <p:cNvSpPr/>
          <p:nvPr/>
        </p:nvSpPr>
        <p:spPr>
          <a:xfrm>
            <a:off x="543154" y="3785616"/>
            <a:ext cx="11088014" cy="347472"/>
          </a:xfrm>
          <a:prstGeom prst="rect">
            <a:avLst/>
          </a:prstGeom>
          <a:solidFill>
            <a:srgbClr val="0F172A"/>
          </a:solidFill>
          <a:ln>
            <a:noFill/>
          </a:ln>
        </p:spPr>
        <p:txBody>
          <a:bodyPr wrap="square" lIns="164592" tIns="109728" rIns="137160" bIns="91440" rtlCol="0" anchor="t">
            <a:noAutofit/>
          </a:bodyPr>
          <a:lstStyle/>
          <a:p>
            <a:endParaRPr lang="en-US"/>
          </a:p>
        </p:txBody>
      </p:sp>
      <p:sp>
        <p:nvSpPr>
          <p:cNvPr id="109" name="s109"/>
          <p:cNvSpPr txBox="1"/>
          <p:nvPr/>
        </p:nvSpPr>
        <p:spPr>
          <a:xfrm>
            <a:off x="726034" y="3785616"/>
            <a:ext cx="3657600"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Sprint</a:t>
            </a:r>
            <a:endParaRPr lang="en-US" sz="1250" dirty="0"/>
          </a:p>
        </p:txBody>
      </p:sp>
      <p:sp>
        <p:nvSpPr>
          <p:cNvPr id="110" name="s110"/>
          <p:cNvSpPr txBox="1"/>
          <p:nvPr/>
        </p:nvSpPr>
        <p:spPr>
          <a:xfrm>
            <a:off x="4475074" y="3785616"/>
            <a:ext cx="457200"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472B6"/>
                </a:solidFill>
                <a:latin typeface="Segoe UI"/>
                <a:ea typeface="Segoe UI"/>
                <a:cs typeface="Segoe UI"/>
              </a:rPr>
              <a:t>→</a:t>
            </a:r>
            <a:endParaRPr lang="en-US" sz="1300" dirty="0"/>
          </a:p>
        </p:txBody>
      </p:sp>
      <p:sp>
        <p:nvSpPr>
          <p:cNvPr id="111" name="s111"/>
          <p:cNvSpPr txBox="1"/>
          <p:nvPr/>
        </p:nvSpPr>
        <p:spPr>
          <a:xfrm>
            <a:off x="5023714" y="3785616"/>
            <a:ext cx="6516014"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An Iteration field on the Project</a:t>
            </a:r>
            <a:endParaRPr lang="en-US" sz="1250" dirty="0"/>
          </a:p>
        </p:txBody>
      </p:sp>
      <p:sp>
        <p:nvSpPr>
          <p:cNvPr id="112" name="s112"/>
          <p:cNvSpPr/>
          <p:nvPr/>
        </p:nvSpPr>
        <p:spPr>
          <a:xfrm>
            <a:off x="543154" y="4187952"/>
            <a:ext cx="11088014" cy="347472"/>
          </a:xfrm>
          <a:prstGeom prst="rect">
            <a:avLst/>
          </a:prstGeom>
          <a:solidFill>
            <a:srgbClr val="111B2E"/>
          </a:solidFill>
          <a:ln>
            <a:noFill/>
          </a:ln>
        </p:spPr>
        <p:txBody>
          <a:bodyPr wrap="square" lIns="164592" tIns="109728" rIns="137160" bIns="91440" rtlCol="0" anchor="t">
            <a:noAutofit/>
          </a:bodyPr>
          <a:lstStyle/>
          <a:p>
            <a:endParaRPr lang="en-US"/>
          </a:p>
        </p:txBody>
      </p:sp>
      <p:sp>
        <p:nvSpPr>
          <p:cNvPr id="113" name="s113"/>
          <p:cNvSpPr txBox="1"/>
          <p:nvPr/>
        </p:nvSpPr>
        <p:spPr>
          <a:xfrm>
            <a:off x="726034" y="4187952"/>
            <a:ext cx="3657600"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Sprint Backlog</a:t>
            </a:r>
            <a:endParaRPr lang="en-US" sz="1250" dirty="0"/>
          </a:p>
        </p:txBody>
      </p:sp>
      <p:sp>
        <p:nvSpPr>
          <p:cNvPr id="114" name="s114"/>
          <p:cNvSpPr txBox="1"/>
          <p:nvPr/>
        </p:nvSpPr>
        <p:spPr>
          <a:xfrm>
            <a:off x="4475074" y="4187952"/>
            <a:ext cx="457200"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472B6"/>
                </a:solidFill>
                <a:latin typeface="Segoe UI"/>
                <a:ea typeface="Segoe UI"/>
                <a:cs typeface="Segoe UI"/>
              </a:rPr>
              <a:t>→</a:t>
            </a:r>
            <a:endParaRPr lang="en-US" sz="1300" dirty="0"/>
          </a:p>
        </p:txBody>
      </p:sp>
      <p:sp>
        <p:nvSpPr>
          <p:cNvPr id="115" name="s115"/>
          <p:cNvSpPr txBox="1"/>
          <p:nvPr/>
        </p:nvSpPr>
        <p:spPr>
          <a:xfrm>
            <a:off x="5023714" y="4187952"/>
            <a:ext cx="6516014"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The “Current Sprint” board</a:t>
            </a:r>
            <a:endParaRPr lang="en-US" sz="1250" dirty="0"/>
          </a:p>
        </p:txBody>
      </p:sp>
      <p:sp>
        <p:nvSpPr>
          <p:cNvPr id="116" name="s116"/>
          <p:cNvSpPr/>
          <p:nvPr/>
        </p:nvSpPr>
        <p:spPr>
          <a:xfrm>
            <a:off x="543154" y="4590288"/>
            <a:ext cx="11088014" cy="347472"/>
          </a:xfrm>
          <a:prstGeom prst="rect">
            <a:avLst/>
          </a:prstGeom>
          <a:solidFill>
            <a:srgbClr val="0F172A"/>
          </a:solidFill>
          <a:ln>
            <a:noFill/>
          </a:ln>
        </p:spPr>
        <p:txBody>
          <a:bodyPr wrap="square" lIns="164592" tIns="109728" rIns="137160" bIns="91440" rtlCol="0" anchor="t">
            <a:noAutofit/>
          </a:bodyPr>
          <a:lstStyle/>
          <a:p>
            <a:endParaRPr lang="en-US"/>
          </a:p>
        </p:txBody>
      </p:sp>
      <p:sp>
        <p:nvSpPr>
          <p:cNvPr id="117" name="s117"/>
          <p:cNvSpPr txBox="1"/>
          <p:nvPr/>
        </p:nvSpPr>
        <p:spPr>
          <a:xfrm>
            <a:off x="726034" y="4590288"/>
            <a:ext cx="3657600"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Acceptance Criteria</a:t>
            </a:r>
            <a:endParaRPr lang="en-US" sz="1250" dirty="0"/>
          </a:p>
        </p:txBody>
      </p:sp>
      <p:sp>
        <p:nvSpPr>
          <p:cNvPr id="118" name="s118"/>
          <p:cNvSpPr txBox="1"/>
          <p:nvPr/>
        </p:nvSpPr>
        <p:spPr>
          <a:xfrm>
            <a:off x="4475074" y="4590288"/>
            <a:ext cx="457200"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472B6"/>
                </a:solidFill>
                <a:latin typeface="Segoe UI"/>
                <a:ea typeface="Segoe UI"/>
                <a:cs typeface="Segoe UI"/>
              </a:rPr>
              <a:t>→</a:t>
            </a:r>
            <a:endParaRPr lang="en-US" sz="1300" dirty="0"/>
          </a:p>
        </p:txBody>
      </p:sp>
      <p:sp>
        <p:nvSpPr>
          <p:cNvPr id="119" name="s119"/>
          <p:cNvSpPr txBox="1"/>
          <p:nvPr/>
        </p:nvSpPr>
        <p:spPr>
          <a:xfrm>
            <a:off x="5023714" y="4590288"/>
            <a:ext cx="6516014"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A checklist in the Issue template</a:t>
            </a:r>
            <a:endParaRPr lang="en-US" sz="1250" dirty="0"/>
          </a:p>
        </p:txBody>
      </p:sp>
      <p:sp>
        <p:nvSpPr>
          <p:cNvPr id="120" name="s120"/>
          <p:cNvSpPr/>
          <p:nvPr/>
        </p:nvSpPr>
        <p:spPr>
          <a:xfrm>
            <a:off x="543154" y="4992624"/>
            <a:ext cx="11088014" cy="347472"/>
          </a:xfrm>
          <a:prstGeom prst="rect">
            <a:avLst/>
          </a:prstGeom>
          <a:solidFill>
            <a:srgbClr val="111B2E"/>
          </a:solidFill>
          <a:ln>
            <a:noFill/>
          </a:ln>
        </p:spPr>
        <p:txBody>
          <a:bodyPr wrap="square" lIns="164592" tIns="109728" rIns="137160" bIns="91440" rtlCol="0" anchor="t">
            <a:noAutofit/>
          </a:bodyPr>
          <a:lstStyle/>
          <a:p>
            <a:endParaRPr lang="en-US"/>
          </a:p>
        </p:txBody>
      </p:sp>
      <p:sp>
        <p:nvSpPr>
          <p:cNvPr id="121" name="s121"/>
          <p:cNvSpPr txBox="1"/>
          <p:nvPr/>
        </p:nvSpPr>
        <p:spPr>
          <a:xfrm>
            <a:off x="726034" y="4992624"/>
            <a:ext cx="3657600"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Definition of Done</a:t>
            </a:r>
            <a:endParaRPr lang="en-US" sz="1250" dirty="0"/>
          </a:p>
        </p:txBody>
      </p:sp>
      <p:sp>
        <p:nvSpPr>
          <p:cNvPr id="122" name="s122"/>
          <p:cNvSpPr txBox="1"/>
          <p:nvPr/>
        </p:nvSpPr>
        <p:spPr>
          <a:xfrm>
            <a:off x="4475074" y="4992624"/>
            <a:ext cx="457200"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472B6"/>
                </a:solidFill>
                <a:latin typeface="Segoe UI"/>
                <a:ea typeface="Segoe UI"/>
                <a:cs typeface="Segoe UI"/>
              </a:rPr>
              <a:t>→</a:t>
            </a:r>
            <a:endParaRPr lang="en-US" sz="1300" dirty="0"/>
          </a:p>
        </p:txBody>
      </p:sp>
      <p:sp>
        <p:nvSpPr>
          <p:cNvPr id="123" name="s123"/>
          <p:cNvSpPr txBox="1"/>
          <p:nvPr/>
        </p:nvSpPr>
        <p:spPr>
          <a:xfrm>
            <a:off x="5023714" y="4992624"/>
            <a:ext cx="6516014"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The PR template checklist + review</a:t>
            </a:r>
            <a:endParaRPr lang="en-US" sz="1250" dirty="0"/>
          </a:p>
        </p:txBody>
      </p:sp>
      <p:sp>
        <p:nvSpPr>
          <p:cNvPr id="124" name="s124"/>
          <p:cNvSpPr/>
          <p:nvPr/>
        </p:nvSpPr>
        <p:spPr>
          <a:xfrm>
            <a:off x="543154" y="5394960"/>
            <a:ext cx="11088014" cy="347472"/>
          </a:xfrm>
          <a:prstGeom prst="rect">
            <a:avLst/>
          </a:prstGeom>
          <a:solidFill>
            <a:srgbClr val="0F172A"/>
          </a:solidFill>
          <a:ln>
            <a:noFill/>
          </a:ln>
        </p:spPr>
        <p:txBody>
          <a:bodyPr wrap="square" lIns="164592" tIns="109728" rIns="137160" bIns="91440" rtlCol="0" anchor="t">
            <a:noAutofit/>
          </a:bodyPr>
          <a:lstStyle/>
          <a:p>
            <a:endParaRPr lang="en-US"/>
          </a:p>
        </p:txBody>
      </p:sp>
      <p:sp>
        <p:nvSpPr>
          <p:cNvPr id="125" name="s125"/>
          <p:cNvSpPr txBox="1"/>
          <p:nvPr/>
        </p:nvSpPr>
        <p:spPr>
          <a:xfrm>
            <a:off x="726034" y="5394960"/>
            <a:ext cx="3657600"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1" dirty="0">
                <a:solidFill>
                  <a:srgbClr val="FFFFFF"/>
                </a:solidFill>
                <a:latin typeface="Segoe UI"/>
                <a:ea typeface="Segoe UI"/>
                <a:cs typeface="Segoe UI"/>
              </a:rPr>
              <a:t>Increment</a:t>
            </a:r>
            <a:endParaRPr lang="en-US" sz="1250" dirty="0"/>
          </a:p>
        </p:txBody>
      </p:sp>
      <p:sp>
        <p:nvSpPr>
          <p:cNvPr id="126" name="s126"/>
          <p:cNvSpPr txBox="1"/>
          <p:nvPr/>
        </p:nvSpPr>
        <p:spPr>
          <a:xfrm>
            <a:off x="4475074" y="5394960"/>
            <a:ext cx="457200"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00" b="1" dirty="0">
                <a:solidFill>
                  <a:srgbClr val="F472B6"/>
                </a:solidFill>
                <a:latin typeface="Segoe UI"/>
                <a:ea typeface="Segoe UI"/>
                <a:cs typeface="Segoe UI"/>
              </a:rPr>
              <a:t>→</a:t>
            </a:r>
            <a:endParaRPr lang="en-US" sz="1300" dirty="0"/>
          </a:p>
        </p:txBody>
      </p:sp>
      <p:sp>
        <p:nvSpPr>
          <p:cNvPr id="127" name="s127"/>
          <p:cNvSpPr txBox="1"/>
          <p:nvPr/>
        </p:nvSpPr>
        <p:spPr>
          <a:xfrm>
            <a:off x="5023714" y="5394960"/>
            <a:ext cx="6516014" cy="347472"/>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250" b="0" dirty="0">
                <a:solidFill>
                  <a:srgbClr val="E2E8F0"/>
                </a:solidFill>
                <a:latin typeface="Segoe UI"/>
                <a:ea typeface="Segoe UI"/>
                <a:cs typeface="Segoe UI"/>
              </a:rPr>
              <a:t>Merged PRs on main</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anim calcmode="lin" valueType="num">
                                      <p:cBhvr additive="base">
                                        <p:cTn id="8" dur="500" decel="100000" fill="hold"/>
                                        <p:tgtEl>
                                          <p:spTgt spid="101"/>
                                        </p:tgtEl>
                                        <p:attrNameLst>
                                          <p:attrName>ppt_y</p:attrName>
                                        </p:attrNameLst>
                                      </p:cBhvr>
                                      <p:tavLst>
                                        <p:tav tm="0">
                                          <p:val>
                                            <p:strVal val="#ppt_y+0.06"/>
                                          </p:val>
                                        </p:tav>
                                        <p:tav tm="100000">
                                          <p:val>
                                            <p:strVal val="#ppt_y"/>
                                          </p:val>
                                        </p:tav>
                                      </p:tavLst>
                                    </p:anim>
                                  </p:childTnLst>
                                </p:cTn>
                              </p:par>
                              <p:par>
                                <p:cTn id="9" presetID="22" presetClass="entr" presetSubtype="8" fill="hold" nodeType="withEffect">
                                  <p:stCondLst>
                                    <p:cond delay="200"/>
                                  </p:stCondLst>
                                  <p:childTnLst>
                                    <p:set>
                                      <p:cBhvr>
                                        <p:cTn id="10" dur="1" fill="hold">
                                          <p:stCondLst>
                                            <p:cond delay="0"/>
                                          </p:stCondLst>
                                        </p:cTn>
                                        <p:tgtEl>
                                          <p:spTgt spid="102"/>
                                        </p:tgtEl>
                                        <p:attrNameLst>
                                          <p:attrName>style.visibility</p:attrName>
                                        </p:attrNameLst>
                                      </p:cBhvr>
                                      <p:to>
                                        <p:strVal val="visible"/>
                                      </p:to>
                                    </p:set>
                                    <p:animEffect transition="in" filter="wipe(left)">
                                      <p:cBhvr>
                                        <p:cTn id="11" dur="500"/>
                                        <p:tgtEl>
                                          <p:spTgt spid="102"/>
                                        </p:tgtEl>
                                      </p:cBhvr>
                                    </p:animEffect>
                                  </p:childTnLst>
                                </p:cTn>
                              </p:par>
                              <p:par>
                                <p:cTn id="12" presetID="42" presetClass="entr" presetSubtype="0" fill="hold" grpId="0" nodeType="withEffect">
                                  <p:stCondLst>
                                    <p:cond delay="400"/>
                                  </p:stCondLst>
                                  <p:childTnLst>
                                    <p:set>
                                      <p:cBhvr>
                                        <p:cTn id="13" dur="1" fill="hold">
                                          <p:stCondLst>
                                            <p:cond delay="0"/>
                                          </p:stCondLst>
                                        </p:cTn>
                                        <p:tgtEl>
                                          <p:spTgt spid="103"/>
                                        </p:tgtEl>
                                        <p:attrNameLst>
                                          <p:attrName>style.visibility</p:attrName>
                                        </p:attrNameLst>
                                      </p:cBhvr>
                                      <p:to>
                                        <p:strVal val="visible"/>
                                      </p:to>
                                    </p:set>
                                    <p:animEffect transition="in" filter="fade">
                                      <p:cBhvr>
                                        <p:cTn id="14" dur="500"/>
                                        <p:tgtEl>
                                          <p:spTgt spid="103"/>
                                        </p:tgtEl>
                                      </p:cBhvr>
                                    </p:animEffect>
                                    <p:anim calcmode="lin" valueType="num">
                                      <p:cBhvr additive="base">
                                        <p:cTn id="15" dur="500" decel="100000" fill="hold"/>
                                        <p:tgtEl>
                                          <p:spTgt spid="103"/>
                                        </p:tgtEl>
                                        <p:attrNameLst>
                                          <p:attrName>ppt_y</p:attrName>
                                        </p:attrNameLst>
                                      </p:cBhvr>
                                      <p:tavLst>
                                        <p:tav tm="0">
                                          <p:val>
                                            <p:strVal val="#ppt_y+0.06"/>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104"/>
                                        </p:tgtEl>
                                        <p:attrNameLst>
                                          <p:attrName>style.visibility</p:attrName>
                                        </p:attrNameLst>
                                      </p:cBhvr>
                                      <p:to>
                                        <p:strVal val="visible"/>
                                      </p:to>
                                    </p:set>
                                    <p:animEffect transition="in" filter="fade">
                                      <p:cBhvr>
                                        <p:cTn id="20" dur="500"/>
                                        <p:tgtEl>
                                          <p:spTgt spid="104"/>
                                        </p:tgtEl>
                                      </p:cBhvr>
                                    </p:animEffect>
                                    <p:anim calcmode="lin" valueType="num">
                                      <p:cBhvr additive="base">
                                        <p:cTn id="21" dur="500" decel="100000" fill="hold"/>
                                        <p:tgtEl>
                                          <p:spTgt spid="104"/>
                                        </p:tgtEl>
                                        <p:attrNameLst>
                                          <p:attrName>ppt_x</p:attrName>
                                        </p:attrNameLst>
                                      </p:cBhvr>
                                      <p:tavLst>
                                        <p:tav tm="0">
                                          <p:val>
                                            <p:strVal val="#ppt_x-0.05"/>
                                          </p:val>
                                        </p:tav>
                                        <p:tav tm="100000">
                                          <p:val>
                                            <p:strVal val="#ppt_x"/>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105"/>
                                        </p:tgtEl>
                                        <p:attrNameLst>
                                          <p:attrName>style.visibility</p:attrName>
                                        </p:attrNameLst>
                                      </p:cBhvr>
                                      <p:to>
                                        <p:strVal val="visible"/>
                                      </p:to>
                                    </p:set>
                                    <p:animEffect transition="in" filter="fade">
                                      <p:cBhvr>
                                        <p:cTn id="24" dur="500"/>
                                        <p:tgtEl>
                                          <p:spTgt spid="105"/>
                                        </p:tgtEl>
                                      </p:cBhvr>
                                    </p:animEffect>
                                    <p:anim calcmode="lin" valueType="num">
                                      <p:cBhvr additive="base">
                                        <p:cTn id="25" dur="500" decel="100000" fill="hold"/>
                                        <p:tgtEl>
                                          <p:spTgt spid="105"/>
                                        </p:tgtEl>
                                        <p:attrNameLst>
                                          <p:attrName>ppt_x</p:attrName>
                                        </p:attrNameLst>
                                      </p:cBhvr>
                                      <p:tavLst>
                                        <p:tav tm="0">
                                          <p:val>
                                            <p:strVal val="#ppt_x-0.05"/>
                                          </p:val>
                                        </p:tav>
                                        <p:tav tm="100000">
                                          <p:val>
                                            <p:strVal val="#ppt_x"/>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106"/>
                                        </p:tgtEl>
                                        <p:attrNameLst>
                                          <p:attrName>style.visibility</p:attrName>
                                        </p:attrNameLst>
                                      </p:cBhvr>
                                      <p:to>
                                        <p:strVal val="visible"/>
                                      </p:to>
                                    </p:set>
                                    <p:animEffect transition="in" filter="fade">
                                      <p:cBhvr>
                                        <p:cTn id="28" dur="500"/>
                                        <p:tgtEl>
                                          <p:spTgt spid="106"/>
                                        </p:tgtEl>
                                      </p:cBhvr>
                                    </p:animEffect>
                                    <p:anim calcmode="lin" valueType="num">
                                      <p:cBhvr additive="base">
                                        <p:cTn id="29" dur="500" decel="100000" fill="hold"/>
                                        <p:tgtEl>
                                          <p:spTgt spid="106"/>
                                        </p:tgtEl>
                                        <p:attrNameLst>
                                          <p:attrName>ppt_x</p:attrName>
                                        </p:attrNameLst>
                                      </p:cBhvr>
                                      <p:tavLst>
                                        <p:tav tm="0">
                                          <p:val>
                                            <p:strVal val="#ppt_x-0.05"/>
                                          </p:val>
                                        </p:tav>
                                        <p:tav tm="100000">
                                          <p:val>
                                            <p:strVal val="#ppt_x"/>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107"/>
                                        </p:tgtEl>
                                        <p:attrNameLst>
                                          <p:attrName>style.visibility</p:attrName>
                                        </p:attrNameLst>
                                      </p:cBhvr>
                                      <p:to>
                                        <p:strVal val="visible"/>
                                      </p:to>
                                    </p:set>
                                    <p:animEffect transition="in" filter="fade">
                                      <p:cBhvr>
                                        <p:cTn id="32" dur="500"/>
                                        <p:tgtEl>
                                          <p:spTgt spid="107"/>
                                        </p:tgtEl>
                                      </p:cBhvr>
                                    </p:animEffect>
                                    <p:anim calcmode="lin" valueType="num">
                                      <p:cBhvr additive="base">
                                        <p:cTn id="33" dur="500" decel="100000" fill="hold"/>
                                        <p:tgtEl>
                                          <p:spTgt spid="107"/>
                                        </p:tgtEl>
                                        <p:attrNameLst>
                                          <p:attrName>ppt_x</p:attrName>
                                        </p:attrNameLst>
                                      </p:cBhvr>
                                      <p:tavLst>
                                        <p:tav tm="0">
                                          <p:val>
                                            <p:strVal val="#ppt_x-0.05"/>
                                          </p:val>
                                        </p:tav>
                                        <p:tav tm="100000">
                                          <p:val>
                                            <p:strVal val="#ppt_x"/>
                                          </p:val>
                                        </p:tav>
                                      </p:tavLst>
                                    </p:anim>
                                  </p:childTnLst>
                                </p:cTn>
                              </p:par>
                              <p:par>
                                <p:cTn id="34" presetID="42" presetClass="entr" presetSubtype="0" fill="hold" grpId="0" nodeType="withEffect">
                                  <p:stCondLst>
                                    <p:cond delay="110"/>
                                  </p:stCondLst>
                                  <p:childTnLst>
                                    <p:set>
                                      <p:cBhvr>
                                        <p:cTn id="35" dur="1" fill="hold">
                                          <p:stCondLst>
                                            <p:cond delay="0"/>
                                          </p:stCondLst>
                                        </p:cTn>
                                        <p:tgtEl>
                                          <p:spTgt spid="108"/>
                                        </p:tgtEl>
                                        <p:attrNameLst>
                                          <p:attrName>style.visibility</p:attrName>
                                        </p:attrNameLst>
                                      </p:cBhvr>
                                      <p:to>
                                        <p:strVal val="visible"/>
                                      </p:to>
                                    </p:set>
                                    <p:animEffect transition="in" filter="fade">
                                      <p:cBhvr>
                                        <p:cTn id="36" dur="500"/>
                                        <p:tgtEl>
                                          <p:spTgt spid="108"/>
                                        </p:tgtEl>
                                      </p:cBhvr>
                                    </p:animEffect>
                                    <p:anim calcmode="lin" valueType="num">
                                      <p:cBhvr additive="base">
                                        <p:cTn id="37" dur="500" decel="100000" fill="hold"/>
                                        <p:tgtEl>
                                          <p:spTgt spid="108"/>
                                        </p:tgtEl>
                                        <p:attrNameLst>
                                          <p:attrName>ppt_x</p:attrName>
                                        </p:attrNameLst>
                                      </p:cBhvr>
                                      <p:tavLst>
                                        <p:tav tm="0">
                                          <p:val>
                                            <p:strVal val="#ppt_x-0.05"/>
                                          </p:val>
                                        </p:tav>
                                        <p:tav tm="100000">
                                          <p:val>
                                            <p:strVal val="#ppt_x"/>
                                          </p:val>
                                        </p:tav>
                                      </p:tavLst>
                                    </p:anim>
                                  </p:childTnLst>
                                </p:cTn>
                              </p:par>
                              <p:par>
                                <p:cTn id="38" presetID="42" presetClass="entr" presetSubtype="0" fill="hold" grpId="0" nodeType="withEffect">
                                  <p:stCondLst>
                                    <p:cond delay="110"/>
                                  </p:stCondLst>
                                  <p:childTnLst>
                                    <p:set>
                                      <p:cBhvr>
                                        <p:cTn id="39" dur="1" fill="hold">
                                          <p:stCondLst>
                                            <p:cond delay="0"/>
                                          </p:stCondLst>
                                        </p:cTn>
                                        <p:tgtEl>
                                          <p:spTgt spid="109"/>
                                        </p:tgtEl>
                                        <p:attrNameLst>
                                          <p:attrName>style.visibility</p:attrName>
                                        </p:attrNameLst>
                                      </p:cBhvr>
                                      <p:to>
                                        <p:strVal val="visible"/>
                                      </p:to>
                                    </p:set>
                                    <p:animEffect transition="in" filter="fade">
                                      <p:cBhvr>
                                        <p:cTn id="40" dur="500"/>
                                        <p:tgtEl>
                                          <p:spTgt spid="109"/>
                                        </p:tgtEl>
                                      </p:cBhvr>
                                    </p:animEffect>
                                    <p:anim calcmode="lin" valueType="num">
                                      <p:cBhvr additive="base">
                                        <p:cTn id="41" dur="500" decel="100000" fill="hold"/>
                                        <p:tgtEl>
                                          <p:spTgt spid="109"/>
                                        </p:tgtEl>
                                        <p:attrNameLst>
                                          <p:attrName>ppt_x</p:attrName>
                                        </p:attrNameLst>
                                      </p:cBhvr>
                                      <p:tavLst>
                                        <p:tav tm="0">
                                          <p:val>
                                            <p:strVal val="#ppt_x-0.05"/>
                                          </p:val>
                                        </p:tav>
                                        <p:tav tm="100000">
                                          <p:val>
                                            <p:strVal val="#ppt_x"/>
                                          </p:val>
                                        </p:tav>
                                      </p:tavLst>
                                    </p:anim>
                                  </p:childTnLst>
                                </p:cTn>
                              </p:par>
                              <p:par>
                                <p:cTn id="42" presetID="42" presetClass="entr" presetSubtype="0" fill="hold" grpId="0" nodeType="withEffect">
                                  <p:stCondLst>
                                    <p:cond delay="110"/>
                                  </p:stCondLst>
                                  <p:childTnLst>
                                    <p:set>
                                      <p:cBhvr>
                                        <p:cTn id="43" dur="1" fill="hold">
                                          <p:stCondLst>
                                            <p:cond delay="0"/>
                                          </p:stCondLst>
                                        </p:cTn>
                                        <p:tgtEl>
                                          <p:spTgt spid="110"/>
                                        </p:tgtEl>
                                        <p:attrNameLst>
                                          <p:attrName>style.visibility</p:attrName>
                                        </p:attrNameLst>
                                      </p:cBhvr>
                                      <p:to>
                                        <p:strVal val="visible"/>
                                      </p:to>
                                    </p:set>
                                    <p:animEffect transition="in" filter="fade">
                                      <p:cBhvr>
                                        <p:cTn id="44" dur="500"/>
                                        <p:tgtEl>
                                          <p:spTgt spid="110"/>
                                        </p:tgtEl>
                                      </p:cBhvr>
                                    </p:animEffect>
                                    <p:anim calcmode="lin" valueType="num">
                                      <p:cBhvr additive="base">
                                        <p:cTn id="45" dur="500" decel="100000" fill="hold"/>
                                        <p:tgtEl>
                                          <p:spTgt spid="110"/>
                                        </p:tgtEl>
                                        <p:attrNameLst>
                                          <p:attrName>ppt_x</p:attrName>
                                        </p:attrNameLst>
                                      </p:cBhvr>
                                      <p:tavLst>
                                        <p:tav tm="0">
                                          <p:val>
                                            <p:strVal val="#ppt_x-0.05"/>
                                          </p:val>
                                        </p:tav>
                                        <p:tav tm="100000">
                                          <p:val>
                                            <p:strVal val="#ppt_x"/>
                                          </p:val>
                                        </p:tav>
                                      </p:tavLst>
                                    </p:anim>
                                  </p:childTnLst>
                                </p:cTn>
                              </p:par>
                              <p:par>
                                <p:cTn id="46" presetID="42" presetClass="entr" presetSubtype="0" fill="hold" grpId="0" nodeType="withEffect">
                                  <p:stCondLst>
                                    <p:cond delay="110"/>
                                  </p:stCondLst>
                                  <p:childTnLst>
                                    <p:set>
                                      <p:cBhvr>
                                        <p:cTn id="47" dur="1" fill="hold">
                                          <p:stCondLst>
                                            <p:cond delay="0"/>
                                          </p:stCondLst>
                                        </p:cTn>
                                        <p:tgtEl>
                                          <p:spTgt spid="111"/>
                                        </p:tgtEl>
                                        <p:attrNameLst>
                                          <p:attrName>style.visibility</p:attrName>
                                        </p:attrNameLst>
                                      </p:cBhvr>
                                      <p:to>
                                        <p:strVal val="visible"/>
                                      </p:to>
                                    </p:set>
                                    <p:animEffect transition="in" filter="fade">
                                      <p:cBhvr>
                                        <p:cTn id="48" dur="500"/>
                                        <p:tgtEl>
                                          <p:spTgt spid="111"/>
                                        </p:tgtEl>
                                      </p:cBhvr>
                                    </p:animEffect>
                                    <p:anim calcmode="lin" valueType="num">
                                      <p:cBhvr additive="base">
                                        <p:cTn id="49" dur="500" decel="100000" fill="hold"/>
                                        <p:tgtEl>
                                          <p:spTgt spid="111"/>
                                        </p:tgtEl>
                                        <p:attrNameLst>
                                          <p:attrName>ppt_x</p:attrName>
                                        </p:attrNameLst>
                                      </p:cBhvr>
                                      <p:tavLst>
                                        <p:tav tm="0">
                                          <p:val>
                                            <p:strVal val="#ppt_x-0.05"/>
                                          </p:val>
                                        </p:tav>
                                        <p:tav tm="100000">
                                          <p:val>
                                            <p:strVal val="#ppt_x"/>
                                          </p:val>
                                        </p:tav>
                                      </p:tavLst>
                                    </p:anim>
                                  </p:childTnLst>
                                </p:cTn>
                              </p:par>
                              <p:par>
                                <p:cTn id="50" presetID="42" presetClass="entr" presetSubtype="0" fill="hold" grpId="0" nodeType="withEffect">
                                  <p:stCondLst>
                                    <p:cond delay="220"/>
                                  </p:stCondLst>
                                  <p:childTnLst>
                                    <p:set>
                                      <p:cBhvr>
                                        <p:cTn id="51" dur="1" fill="hold">
                                          <p:stCondLst>
                                            <p:cond delay="0"/>
                                          </p:stCondLst>
                                        </p:cTn>
                                        <p:tgtEl>
                                          <p:spTgt spid="112"/>
                                        </p:tgtEl>
                                        <p:attrNameLst>
                                          <p:attrName>style.visibility</p:attrName>
                                        </p:attrNameLst>
                                      </p:cBhvr>
                                      <p:to>
                                        <p:strVal val="visible"/>
                                      </p:to>
                                    </p:set>
                                    <p:animEffect transition="in" filter="fade">
                                      <p:cBhvr>
                                        <p:cTn id="52" dur="500"/>
                                        <p:tgtEl>
                                          <p:spTgt spid="112"/>
                                        </p:tgtEl>
                                      </p:cBhvr>
                                    </p:animEffect>
                                    <p:anim calcmode="lin" valueType="num">
                                      <p:cBhvr additive="base">
                                        <p:cTn id="53" dur="500" decel="100000" fill="hold"/>
                                        <p:tgtEl>
                                          <p:spTgt spid="112"/>
                                        </p:tgtEl>
                                        <p:attrNameLst>
                                          <p:attrName>ppt_x</p:attrName>
                                        </p:attrNameLst>
                                      </p:cBhvr>
                                      <p:tavLst>
                                        <p:tav tm="0">
                                          <p:val>
                                            <p:strVal val="#ppt_x-0.05"/>
                                          </p:val>
                                        </p:tav>
                                        <p:tav tm="100000">
                                          <p:val>
                                            <p:strVal val="#ppt_x"/>
                                          </p:val>
                                        </p:tav>
                                      </p:tavLst>
                                    </p:anim>
                                  </p:childTnLst>
                                </p:cTn>
                              </p:par>
                              <p:par>
                                <p:cTn id="54" presetID="42" presetClass="entr" presetSubtype="0" fill="hold" grpId="0" nodeType="withEffect">
                                  <p:stCondLst>
                                    <p:cond delay="220"/>
                                  </p:stCondLst>
                                  <p:childTnLst>
                                    <p:set>
                                      <p:cBhvr>
                                        <p:cTn id="55" dur="1" fill="hold">
                                          <p:stCondLst>
                                            <p:cond delay="0"/>
                                          </p:stCondLst>
                                        </p:cTn>
                                        <p:tgtEl>
                                          <p:spTgt spid="113"/>
                                        </p:tgtEl>
                                        <p:attrNameLst>
                                          <p:attrName>style.visibility</p:attrName>
                                        </p:attrNameLst>
                                      </p:cBhvr>
                                      <p:to>
                                        <p:strVal val="visible"/>
                                      </p:to>
                                    </p:set>
                                    <p:animEffect transition="in" filter="fade">
                                      <p:cBhvr>
                                        <p:cTn id="56" dur="500"/>
                                        <p:tgtEl>
                                          <p:spTgt spid="113"/>
                                        </p:tgtEl>
                                      </p:cBhvr>
                                    </p:animEffect>
                                    <p:anim calcmode="lin" valueType="num">
                                      <p:cBhvr additive="base">
                                        <p:cTn id="57" dur="500" decel="100000" fill="hold"/>
                                        <p:tgtEl>
                                          <p:spTgt spid="113"/>
                                        </p:tgtEl>
                                        <p:attrNameLst>
                                          <p:attrName>ppt_x</p:attrName>
                                        </p:attrNameLst>
                                      </p:cBhvr>
                                      <p:tavLst>
                                        <p:tav tm="0">
                                          <p:val>
                                            <p:strVal val="#ppt_x-0.05"/>
                                          </p:val>
                                        </p:tav>
                                        <p:tav tm="100000">
                                          <p:val>
                                            <p:strVal val="#ppt_x"/>
                                          </p:val>
                                        </p:tav>
                                      </p:tavLst>
                                    </p:anim>
                                  </p:childTnLst>
                                </p:cTn>
                              </p:par>
                              <p:par>
                                <p:cTn id="58" presetID="42" presetClass="entr" presetSubtype="0" fill="hold" grpId="0" nodeType="withEffect">
                                  <p:stCondLst>
                                    <p:cond delay="220"/>
                                  </p:stCondLst>
                                  <p:childTnLst>
                                    <p:set>
                                      <p:cBhvr>
                                        <p:cTn id="59" dur="1" fill="hold">
                                          <p:stCondLst>
                                            <p:cond delay="0"/>
                                          </p:stCondLst>
                                        </p:cTn>
                                        <p:tgtEl>
                                          <p:spTgt spid="114"/>
                                        </p:tgtEl>
                                        <p:attrNameLst>
                                          <p:attrName>style.visibility</p:attrName>
                                        </p:attrNameLst>
                                      </p:cBhvr>
                                      <p:to>
                                        <p:strVal val="visible"/>
                                      </p:to>
                                    </p:set>
                                    <p:animEffect transition="in" filter="fade">
                                      <p:cBhvr>
                                        <p:cTn id="60" dur="500"/>
                                        <p:tgtEl>
                                          <p:spTgt spid="114"/>
                                        </p:tgtEl>
                                      </p:cBhvr>
                                    </p:animEffect>
                                    <p:anim calcmode="lin" valueType="num">
                                      <p:cBhvr additive="base">
                                        <p:cTn id="61" dur="500" decel="100000" fill="hold"/>
                                        <p:tgtEl>
                                          <p:spTgt spid="114"/>
                                        </p:tgtEl>
                                        <p:attrNameLst>
                                          <p:attrName>ppt_x</p:attrName>
                                        </p:attrNameLst>
                                      </p:cBhvr>
                                      <p:tavLst>
                                        <p:tav tm="0">
                                          <p:val>
                                            <p:strVal val="#ppt_x-0.05"/>
                                          </p:val>
                                        </p:tav>
                                        <p:tav tm="100000">
                                          <p:val>
                                            <p:strVal val="#ppt_x"/>
                                          </p:val>
                                        </p:tav>
                                      </p:tavLst>
                                    </p:anim>
                                  </p:childTnLst>
                                </p:cTn>
                              </p:par>
                              <p:par>
                                <p:cTn id="62" presetID="42" presetClass="entr" presetSubtype="0" fill="hold" grpId="0" nodeType="withEffect">
                                  <p:stCondLst>
                                    <p:cond delay="220"/>
                                  </p:stCondLst>
                                  <p:childTnLst>
                                    <p:set>
                                      <p:cBhvr>
                                        <p:cTn id="63" dur="1" fill="hold">
                                          <p:stCondLst>
                                            <p:cond delay="0"/>
                                          </p:stCondLst>
                                        </p:cTn>
                                        <p:tgtEl>
                                          <p:spTgt spid="115"/>
                                        </p:tgtEl>
                                        <p:attrNameLst>
                                          <p:attrName>style.visibility</p:attrName>
                                        </p:attrNameLst>
                                      </p:cBhvr>
                                      <p:to>
                                        <p:strVal val="visible"/>
                                      </p:to>
                                    </p:set>
                                    <p:animEffect transition="in" filter="fade">
                                      <p:cBhvr>
                                        <p:cTn id="64" dur="500"/>
                                        <p:tgtEl>
                                          <p:spTgt spid="115"/>
                                        </p:tgtEl>
                                      </p:cBhvr>
                                    </p:animEffect>
                                    <p:anim calcmode="lin" valueType="num">
                                      <p:cBhvr additive="base">
                                        <p:cTn id="65" dur="500" decel="100000" fill="hold"/>
                                        <p:tgtEl>
                                          <p:spTgt spid="115"/>
                                        </p:tgtEl>
                                        <p:attrNameLst>
                                          <p:attrName>ppt_x</p:attrName>
                                        </p:attrNameLst>
                                      </p:cBhvr>
                                      <p:tavLst>
                                        <p:tav tm="0">
                                          <p:val>
                                            <p:strVal val="#ppt_x-0.05"/>
                                          </p:val>
                                        </p:tav>
                                        <p:tav tm="100000">
                                          <p:val>
                                            <p:strVal val="#ppt_x"/>
                                          </p:val>
                                        </p:tav>
                                      </p:tavLst>
                                    </p:anim>
                                  </p:childTnLst>
                                </p:cTn>
                              </p:par>
                              <p:par>
                                <p:cTn id="66" presetID="42" presetClass="entr" presetSubtype="0" fill="hold" grpId="0" nodeType="withEffect">
                                  <p:stCondLst>
                                    <p:cond delay="330"/>
                                  </p:stCondLst>
                                  <p:childTnLst>
                                    <p:set>
                                      <p:cBhvr>
                                        <p:cTn id="67" dur="1" fill="hold">
                                          <p:stCondLst>
                                            <p:cond delay="0"/>
                                          </p:stCondLst>
                                        </p:cTn>
                                        <p:tgtEl>
                                          <p:spTgt spid="116"/>
                                        </p:tgtEl>
                                        <p:attrNameLst>
                                          <p:attrName>style.visibility</p:attrName>
                                        </p:attrNameLst>
                                      </p:cBhvr>
                                      <p:to>
                                        <p:strVal val="visible"/>
                                      </p:to>
                                    </p:set>
                                    <p:animEffect transition="in" filter="fade">
                                      <p:cBhvr>
                                        <p:cTn id="68" dur="500"/>
                                        <p:tgtEl>
                                          <p:spTgt spid="116"/>
                                        </p:tgtEl>
                                      </p:cBhvr>
                                    </p:animEffect>
                                    <p:anim calcmode="lin" valueType="num">
                                      <p:cBhvr additive="base">
                                        <p:cTn id="69" dur="500" decel="100000" fill="hold"/>
                                        <p:tgtEl>
                                          <p:spTgt spid="116"/>
                                        </p:tgtEl>
                                        <p:attrNameLst>
                                          <p:attrName>ppt_x</p:attrName>
                                        </p:attrNameLst>
                                      </p:cBhvr>
                                      <p:tavLst>
                                        <p:tav tm="0">
                                          <p:val>
                                            <p:strVal val="#ppt_x-0.05"/>
                                          </p:val>
                                        </p:tav>
                                        <p:tav tm="100000">
                                          <p:val>
                                            <p:strVal val="#ppt_x"/>
                                          </p:val>
                                        </p:tav>
                                      </p:tavLst>
                                    </p:anim>
                                  </p:childTnLst>
                                </p:cTn>
                              </p:par>
                              <p:par>
                                <p:cTn id="70" presetID="42" presetClass="entr" presetSubtype="0" fill="hold" grpId="0" nodeType="withEffect">
                                  <p:stCondLst>
                                    <p:cond delay="330"/>
                                  </p:stCondLst>
                                  <p:childTnLst>
                                    <p:set>
                                      <p:cBhvr>
                                        <p:cTn id="71" dur="1" fill="hold">
                                          <p:stCondLst>
                                            <p:cond delay="0"/>
                                          </p:stCondLst>
                                        </p:cTn>
                                        <p:tgtEl>
                                          <p:spTgt spid="117"/>
                                        </p:tgtEl>
                                        <p:attrNameLst>
                                          <p:attrName>style.visibility</p:attrName>
                                        </p:attrNameLst>
                                      </p:cBhvr>
                                      <p:to>
                                        <p:strVal val="visible"/>
                                      </p:to>
                                    </p:set>
                                    <p:animEffect transition="in" filter="fade">
                                      <p:cBhvr>
                                        <p:cTn id="72" dur="500"/>
                                        <p:tgtEl>
                                          <p:spTgt spid="117"/>
                                        </p:tgtEl>
                                      </p:cBhvr>
                                    </p:animEffect>
                                    <p:anim calcmode="lin" valueType="num">
                                      <p:cBhvr additive="base">
                                        <p:cTn id="73" dur="500" decel="100000" fill="hold"/>
                                        <p:tgtEl>
                                          <p:spTgt spid="117"/>
                                        </p:tgtEl>
                                        <p:attrNameLst>
                                          <p:attrName>ppt_x</p:attrName>
                                        </p:attrNameLst>
                                      </p:cBhvr>
                                      <p:tavLst>
                                        <p:tav tm="0">
                                          <p:val>
                                            <p:strVal val="#ppt_x-0.05"/>
                                          </p:val>
                                        </p:tav>
                                        <p:tav tm="100000">
                                          <p:val>
                                            <p:strVal val="#ppt_x"/>
                                          </p:val>
                                        </p:tav>
                                      </p:tavLst>
                                    </p:anim>
                                  </p:childTnLst>
                                </p:cTn>
                              </p:par>
                              <p:par>
                                <p:cTn id="74" presetID="42" presetClass="entr" presetSubtype="0" fill="hold" grpId="0" nodeType="withEffect">
                                  <p:stCondLst>
                                    <p:cond delay="330"/>
                                  </p:stCondLst>
                                  <p:childTnLst>
                                    <p:set>
                                      <p:cBhvr>
                                        <p:cTn id="75" dur="1" fill="hold">
                                          <p:stCondLst>
                                            <p:cond delay="0"/>
                                          </p:stCondLst>
                                        </p:cTn>
                                        <p:tgtEl>
                                          <p:spTgt spid="118"/>
                                        </p:tgtEl>
                                        <p:attrNameLst>
                                          <p:attrName>style.visibility</p:attrName>
                                        </p:attrNameLst>
                                      </p:cBhvr>
                                      <p:to>
                                        <p:strVal val="visible"/>
                                      </p:to>
                                    </p:set>
                                    <p:animEffect transition="in" filter="fade">
                                      <p:cBhvr>
                                        <p:cTn id="76" dur="500"/>
                                        <p:tgtEl>
                                          <p:spTgt spid="118"/>
                                        </p:tgtEl>
                                      </p:cBhvr>
                                    </p:animEffect>
                                    <p:anim calcmode="lin" valueType="num">
                                      <p:cBhvr additive="base">
                                        <p:cTn id="77" dur="500" decel="100000" fill="hold"/>
                                        <p:tgtEl>
                                          <p:spTgt spid="118"/>
                                        </p:tgtEl>
                                        <p:attrNameLst>
                                          <p:attrName>ppt_x</p:attrName>
                                        </p:attrNameLst>
                                      </p:cBhvr>
                                      <p:tavLst>
                                        <p:tav tm="0">
                                          <p:val>
                                            <p:strVal val="#ppt_x-0.05"/>
                                          </p:val>
                                        </p:tav>
                                        <p:tav tm="100000">
                                          <p:val>
                                            <p:strVal val="#ppt_x"/>
                                          </p:val>
                                        </p:tav>
                                      </p:tavLst>
                                    </p:anim>
                                  </p:childTnLst>
                                </p:cTn>
                              </p:par>
                              <p:par>
                                <p:cTn id="78" presetID="42" presetClass="entr" presetSubtype="0" fill="hold" grpId="0" nodeType="withEffect">
                                  <p:stCondLst>
                                    <p:cond delay="330"/>
                                  </p:stCondLst>
                                  <p:childTnLst>
                                    <p:set>
                                      <p:cBhvr>
                                        <p:cTn id="79" dur="1" fill="hold">
                                          <p:stCondLst>
                                            <p:cond delay="0"/>
                                          </p:stCondLst>
                                        </p:cTn>
                                        <p:tgtEl>
                                          <p:spTgt spid="119"/>
                                        </p:tgtEl>
                                        <p:attrNameLst>
                                          <p:attrName>style.visibility</p:attrName>
                                        </p:attrNameLst>
                                      </p:cBhvr>
                                      <p:to>
                                        <p:strVal val="visible"/>
                                      </p:to>
                                    </p:set>
                                    <p:animEffect transition="in" filter="fade">
                                      <p:cBhvr>
                                        <p:cTn id="80" dur="500"/>
                                        <p:tgtEl>
                                          <p:spTgt spid="119"/>
                                        </p:tgtEl>
                                      </p:cBhvr>
                                    </p:animEffect>
                                    <p:anim calcmode="lin" valueType="num">
                                      <p:cBhvr additive="base">
                                        <p:cTn id="81" dur="500" decel="100000" fill="hold"/>
                                        <p:tgtEl>
                                          <p:spTgt spid="119"/>
                                        </p:tgtEl>
                                        <p:attrNameLst>
                                          <p:attrName>ppt_x</p:attrName>
                                        </p:attrNameLst>
                                      </p:cBhvr>
                                      <p:tavLst>
                                        <p:tav tm="0">
                                          <p:val>
                                            <p:strVal val="#ppt_x-0.05"/>
                                          </p:val>
                                        </p:tav>
                                        <p:tav tm="100000">
                                          <p:val>
                                            <p:strVal val="#ppt_x"/>
                                          </p:val>
                                        </p:tav>
                                      </p:tavLst>
                                    </p:anim>
                                  </p:childTnLst>
                                </p:cTn>
                              </p:par>
                              <p:par>
                                <p:cTn id="82" presetID="42" presetClass="entr" presetSubtype="0" fill="hold" grpId="0" nodeType="withEffect">
                                  <p:stCondLst>
                                    <p:cond delay="440"/>
                                  </p:stCondLst>
                                  <p:childTnLst>
                                    <p:set>
                                      <p:cBhvr>
                                        <p:cTn id="83" dur="1" fill="hold">
                                          <p:stCondLst>
                                            <p:cond delay="0"/>
                                          </p:stCondLst>
                                        </p:cTn>
                                        <p:tgtEl>
                                          <p:spTgt spid="120"/>
                                        </p:tgtEl>
                                        <p:attrNameLst>
                                          <p:attrName>style.visibility</p:attrName>
                                        </p:attrNameLst>
                                      </p:cBhvr>
                                      <p:to>
                                        <p:strVal val="visible"/>
                                      </p:to>
                                    </p:set>
                                    <p:animEffect transition="in" filter="fade">
                                      <p:cBhvr>
                                        <p:cTn id="84" dur="500"/>
                                        <p:tgtEl>
                                          <p:spTgt spid="120"/>
                                        </p:tgtEl>
                                      </p:cBhvr>
                                    </p:animEffect>
                                    <p:anim calcmode="lin" valueType="num">
                                      <p:cBhvr additive="base">
                                        <p:cTn id="85" dur="500" decel="100000" fill="hold"/>
                                        <p:tgtEl>
                                          <p:spTgt spid="120"/>
                                        </p:tgtEl>
                                        <p:attrNameLst>
                                          <p:attrName>ppt_x</p:attrName>
                                        </p:attrNameLst>
                                      </p:cBhvr>
                                      <p:tavLst>
                                        <p:tav tm="0">
                                          <p:val>
                                            <p:strVal val="#ppt_x-0.05"/>
                                          </p:val>
                                        </p:tav>
                                        <p:tav tm="100000">
                                          <p:val>
                                            <p:strVal val="#ppt_x"/>
                                          </p:val>
                                        </p:tav>
                                      </p:tavLst>
                                    </p:anim>
                                  </p:childTnLst>
                                </p:cTn>
                              </p:par>
                              <p:par>
                                <p:cTn id="86" presetID="42" presetClass="entr" presetSubtype="0" fill="hold" grpId="0" nodeType="withEffect">
                                  <p:stCondLst>
                                    <p:cond delay="440"/>
                                  </p:stCondLst>
                                  <p:childTnLst>
                                    <p:set>
                                      <p:cBhvr>
                                        <p:cTn id="87" dur="1" fill="hold">
                                          <p:stCondLst>
                                            <p:cond delay="0"/>
                                          </p:stCondLst>
                                        </p:cTn>
                                        <p:tgtEl>
                                          <p:spTgt spid="121"/>
                                        </p:tgtEl>
                                        <p:attrNameLst>
                                          <p:attrName>style.visibility</p:attrName>
                                        </p:attrNameLst>
                                      </p:cBhvr>
                                      <p:to>
                                        <p:strVal val="visible"/>
                                      </p:to>
                                    </p:set>
                                    <p:animEffect transition="in" filter="fade">
                                      <p:cBhvr>
                                        <p:cTn id="88" dur="500"/>
                                        <p:tgtEl>
                                          <p:spTgt spid="121"/>
                                        </p:tgtEl>
                                      </p:cBhvr>
                                    </p:animEffect>
                                    <p:anim calcmode="lin" valueType="num">
                                      <p:cBhvr additive="base">
                                        <p:cTn id="89" dur="500" decel="100000" fill="hold"/>
                                        <p:tgtEl>
                                          <p:spTgt spid="121"/>
                                        </p:tgtEl>
                                        <p:attrNameLst>
                                          <p:attrName>ppt_x</p:attrName>
                                        </p:attrNameLst>
                                      </p:cBhvr>
                                      <p:tavLst>
                                        <p:tav tm="0">
                                          <p:val>
                                            <p:strVal val="#ppt_x-0.05"/>
                                          </p:val>
                                        </p:tav>
                                        <p:tav tm="100000">
                                          <p:val>
                                            <p:strVal val="#ppt_x"/>
                                          </p:val>
                                        </p:tav>
                                      </p:tavLst>
                                    </p:anim>
                                  </p:childTnLst>
                                </p:cTn>
                              </p:par>
                              <p:par>
                                <p:cTn id="90" presetID="42" presetClass="entr" presetSubtype="0" fill="hold" grpId="0" nodeType="withEffect">
                                  <p:stCondLst>
                                    <p:cond delay="440"/>
                                  </p:stCondLst>
                                  <p:childTnLst>
                                    <p:set>
                                      <p:cBhvr>
                                        <p:cTn id="91" dur="1" fill="hold">
                                          <p:stCondLst>
                                            <p:cond delay="0"/>
                                          </p:stCondLst>
                                        </p:cTn>
                                        <p:tgtEl>
                                          <p:spTgt spid="122"/>
                                        </p:tgtEl>
                                        <p:attrNameLst>
                                          <p:attrName>style.visibility</p:attrName>
                                        </p:attrNameLst>
                                      </p:cBhvr>
                                      <p:to>
                                        <p:strVal val="visible"/>
                                      </p:to>
                                    </p:set>
                                    <p:animEffect transition="in" filter="fade">
                                      <p:cBhvr>
                                        <p:cTn id="92" dur="500"/>
                                        <p:tgtEl>
                                          <p:spTgt spid="122"/>
                                        </p:tgtEl>
                                      </p:cBhvr>
                                    </p:animEffect>
                                    <p:anim calcmode="lin" valueType="num">
                                      <p:cBhvr additive="base">
                                        <p:cTn id="93" dur="500" decel="100000" fill="hold"/>
                                        <p:tgtEl>
                                          <p:spTgt spid="122"/>
                                        </p:tgtEl>
                                        <p:attrNameLst>
                                          <p:attrName>ppt_x</p:attrName>
                                        </p:attrNameLst>
                                      </p:cBhvr>
                                      <p:tavLst>
                                        <p:tav tm="0">
                                          <p:val>
                                            <p:strVal val="#ppt_x-0.05"/>
                                          </p:val>
                                        </p:tav>
                                        <p:tav tm="100000">
                                          <p:val>
                                            <p:strVal val="#ppt_x"/>
                                          </p:val>
                                        </p:tav>
                                      </p:tavLst>
                                    </p:anim>
                                  </p:childTnLst>
                                </p:cTn>
                              </p:par>
                              <p:par>
                                <p:cTn id="94" presetID="42" presetClass="entr" presetSubtype="0" fill="hold" grpId="0" nodeType="withEffect">
                                  <p:stCondLst>
                                    <p:cond delay="440"/>
                                  </p:stCondLst>
                                  <p:childTnLst>
                                    <p:set>
                                      <p:cBhvr>
                                        <p:cTn id="95" dur="1" fill="hold">
                                          <p:stCondLst>
                                            <p:cond delay="0"/>
                                          </p:stCondLst>
                                        </p:cTn>
                                        <p:tgtEl>
                                          <p:spTgt spid="123"/>
                                        </p:tgtEl>
                                        <p:attrNameLst>
                                          <p:attrName>style.visibility</p:attrName>
                                        </p:attrNameLst>
                                      </p:cBhvr>
                                      <p:to>
                                        <p:strVal val="visible"/>
                                      </p:to>
                                    </p:set>
                                    <p:animEffect transition="in" filter="fade">
                                      <p:cBhvr>
                                        <p:cTn id="96" dur="500"/>
                                        <p:tgtEl>
                                          <p:spTgt spid="123"/>
                                        </p:tgtEl>
                                      </p:cBhvr>
                                    </p:animEffect>
                                    <p:anim calcmode="lin" valueType="num">
                                      <p:cBhvr additive="base">
                                        <p:cTn id="97" dur="500" decel="100000" fill="hold"/>
                                        <p:tgtEl>
                                          <p:spTgt spid="123"/>
                                        </p:tgtEl>
                                        <p:attrNameLst>
                                          <p:attrName>ppt_x</p:attrName>
                                        </p:attrNameLst>
                                      </p:cBhvr>
                                      <p:tavLst>
                                        <p:tav tm="0">
                                          <p:val>
                                            <p:strVal val="#ppt_x-0.05"/>
                                          </p:val>
                                        </p:tav>
                                        <p:tav tm="100000">
                                          <p:val>
                                            <p:strVal val="#ppt_x"/>
                                          </p:val>
                                        </p:tav>
                                      </p:tavLst>
                                    </p:anim>
                                  </p:childTnLst>
                                </p:cTn>
                              </p:par>
                              <p:par>
                                <p:cTn id="98" presetID="42" presetClass="entr" presetSubtype="0" fill="hold" grpId="0" nodeType="withEffect">
                                  <p:stCondLst>
                                    <p:cond delay="550"/>
                                  </p:stCondLst>
                                  <p:childTnLst>
                                    <p:set>
                                      <p:cBhvr>
                                        <p:cTn id="99" dur="1" fill="hold">
                                          <p:stCondLst>
                                            <p:cond delay="0"/>
                                          </p:stCondLst>
                                        </p:cTn>
                                        <p:tgtEl>
                                          <p:spTgt spid="124"/>
                                        </p:tgtEl>
                                        <p:attrNameLst>
                                          <p:attrName>style.visibility</p:attrName>
                                        </p:attrNameLst>
                                      </p:cBhvr>
                                      <p:to>
                                        <p:strVal val="visible"/>
                                      </p:to>
                                    </p:set>
                                    <p:animEffect transition="in" filter="fade">
                                      <p:cBhvr>
                                        <p:cTn id="100" dur="500"/>
                                        <p:tgtEl>
                                          <p:spTgt spid="124"/>
                                        </p:tgtEl>
                                      </p:cBhvr>
                                    </p:animEffect>
                                    <p:anim calcmode="lin" valueType="num">
                                      <p:cBhvr additive="base">
                                        <p:cTn id="101" dur="500" decel="100000" fill="hold"/>
                                        <p:tgtEl>
                                          <p:spTgt spid="124"/>
                                        </p:tgtEl>
                                        <p:attrNameLst>
                                          <p:attrName>ppt_x</p:attrName>
                                        </p:attrNameLst>
                                      </p:cBhvr>
                                      <p:tavLst>
                                        <p:tav tm="0">
                                          <p:val>
                                            <p:strVal val="#ppt_x-0.05"/>
                                          </p:val>
                                        </p:tav>
                                        <p:tav tm="100000">
                                          <p:val>
                                            <p:strVal val="#ppt_x"/>
                                          </p:val>
                                        </p:tav>
                                      </p:tavLst>
                                    </p:anim>
                                  </p:childTnLst>
                                </p:cTn>
                              </p:par>
                              <p:par>
                                <p:cTn id="102" presetID="42" presetClass="entr" presetSubtype="0" fill="hold" grpId="0" nodeType="withEffect">
                                  <p:stCondLst>
                                    <p:cond delay="550"/>
                                  </p:stCondLst>
                                  <p:childTnLst>
                                    <p:set>
                                      <p:cBhvr>
                                        <p:cTn id="103" dur="1" fill="hold">
                                          <p:stCondLst>
                                            <p:cond delay="0"/>
                                          </p:stCondLst>
                                        </p:cTn>
                                        <p:tgtEl>
                                          <p:spTgt spid="125"/>
                                        </p:tgtEl>
                                        <p:attrNameLst>
                                          <p:attrName>style.visibility</p:attrName>
                                        </p:attrNameLst>
                                      </p:cBhvr>
                                      <p:to>
                                        <p:strVal val="visible"/>
                                      </p:to>
                                    </p:set>
                                    <p:animEffect transition="in" filter="fade">
                                      <p:cBhvr>
                                        <p:cTn id="104" dur="500"/>
                                        <p:tgtEl>
                                          <p:spTgt spid="125"/>
                                        </p:tgtEl>
                                      </p:cBhvr>
                                    </p:animEffect>
                                    <p:anim calcmode="lin" valueType="num">
                                      <p:cBhvr additive="base">
                                        <p:cTn id="105" dur="500" decel="100000" fill="hold"/>
                                        <p:tgtEl>
                                          <p:spTgt spid="125"/>
                                        </p:tgtEl>
                                        <p:attrNameLst>
                                          <p:attrName>ppt_x</p:attrName>
                                        </p:attrNameLst>
                                      </p:cBhvr>
                                      <p:tavLst>
                                        <p:tav tm="0">
                                          <p:val>
                                            <p:strVal val="#ppt_x-0.05"/>
                                          </p:val>
                                        </p:tav>
                                        <p:tav tm="100000">
                                          <p:val>
                                            <p:strVal val="#ppt_x"/>
                                          </p:val>
                                        </p:tav>
                                      </p:tavLst>
                                    </p:anim>
                                  </p:childTnLst>
                                </p:cTn>
                              </p:par>
                              <p:par>
                                <p:cTn id="106" presetID="42" presetClass="entr" presetSubtype="0" fill="hold" grpId="0" nodeType="withEffect">
                                  <p:stCondLst>
                                    <p:cond delay="550"/>
                                  </p:stCondLst>
                                  <p:childTnLst>
                                    <p:set>
                                      <p:cBhvr>
                                        <p:cTn id="107" dur="1" fill="hold">
                                          <p:stCondLst>
                                            <p:cond delay="0"/>
                                          </p:stCondLst>
                                        </p:cTn>
                                        <p:tgtEl>
                                          <p:spTgt spid="126"/>
                                        </p:tgtEl>
                                        <p:attrNameLst>
                                          <p:attrName>style.visibility</p:attrName>
                                        </p:attrNameLst>
                                      </p:cBhvr>
                                      <p:to>
                                        <p:strVal val="visible"/>
                                      </p:to>
                                    </p:set>
                                    <p:animEffect transition="in" filter="fade">
                                      <p:cBhvr>
                                        <p:cTn id="108" dur="500"/>
                                        <p:tgtEl>
                                          <p:spTgt spid="126"/>
                                        </p:tgtEl>
                                      </p:cBhvr>
                                    </p:animEffect>
                                    <p:anim calcmode="lin" valueType="num">
                                      <p:cBhvr additive="base">
                                        <p:cTn id="109" dur="500" decel="100000" fill="hold"/>
                                        <p:tgtEl>
                                          <p:spTgt spid="126"/>
                                        </p:tgtEl>
                                        <p:attrNameLst>
                                          <p:attrName>ppt_x</p:attrName>
                                        </p:attrNameLst>
                                      </p:cBhvr>
                                      <p:tavLst>
                                        <p:tav tm="0">
                                          <p:val>
                                            <p:strVal val="#ppt_x-0.05"/>
                                          </p:val>
                                        </p:tav>
                                        <p:tav tm="100000">
                                          <p:val>
                                            <p:strVal val="#ppt_x"/>
                                          </p:val>
                                        </p:tav>
                                      </p:tavLst>
                                    </p:anim>
                                  </p:childTnLst>
                                </p:cTn>
                              </p:par>
                              <p:par>
                                <p:cTn id="110" presetID="42" presetClass="entr" presetSubtype="0" fill="hold" grpId="0" nodeType="withEffect">
                                  <p:stCondLst>
                                    <p:cond delay="550"/>
                                  </p:stCondLst>
                                  <p:childTnLst>
                                    <p:set>
                                      <p:cBhvr>
                                        <p:cTn id="111" dur="1" fill="hold">
                                          <p:stCondLst>
                                            <p:cond delay="0"/>
                                          </p:stCondLst>
                                        </p:cTn>
                                        <p:tgtEl>
                                          <p:spTgt spid="127"/>
                                        </p:tgtEl>
                                        <p:attrNameLst>
                                          <p:attrName>style.visibility</p:attrName>
                                        </p:attrNameLst>
                                      </p:cBhvr>
                                      <p:to>
                                        <p:strVal val="visible"/>
                                      </p:to>
                                    </p:set>
                                    <p:animEffect transition="in" filter="fade">
                                      <p:cBhvr>
                                        <p:cTn id="112" dur="500"/>
                                        <p:tgtEl>
                                          <p:spTgt spid="127"/>
                                        </p:tgtEl>
                                      </p:cBhvr>
                                    </p:animEffect>
                                    <p:anim calcmode="lin" valueType="num">
                                      <p:cBhvr additive="base">
                                        <p:cTn id="113" dur="500" decel="100000" fill="hold"/>
                                        <p:tgtEl>
                                          <p:spTgt spid="127"/>
                                        </p:tgtEl>
                                        <p:attrNameLst>
                                          <p:attrName>ppt_x</p:attrName>
                                        </p:attrNameLst>
                                      </p:cBhvr>
                                      <p:tavLst>
                                        <p:tav tm="0">
                                          <p:val>
                                            <p:strVal val="#ppt_x-0.05"/>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472B6">
              <a:alpha val="18000"/>
            </a:srgbClr>
          </a:solidFill>
          <a:ln w="12700">
            <a:solidFill>
              <a:srgbClr val="F472B6"/>
            </a:solidFill>
          </a:ln>
        </p:spPr>
        <p:txBody>
          <a:bodyPr wrap="square" lIns="0" tIns="0" rIns="0" bIns="0" rtlCol="0" anchor="ctr">
            <a:noAutofit/>
          </a:bodyPr>
          <a:lstStyle/>
          <a:p>
            <a:pPr marL="0" indent="0" algn="ctr">
              <a:spcBef>
                <a:spcPts val="0"/>
              </a:spcBef>
              <a:spcAft>
                <a:spcPts val="0"/>
              </a:spcAft>
              <a:buNone/>
            </a:pPr>
            <a:r>
              <a:rPr lang="en-US" sz="1000" b="1" dirty="0">
                <a:solidFill>
                  <a:srgbClr val="F472B6"/>
                </a:solidFill>
                <a:latin typeface="Segoe UI"/>
                <a:ea typeface="Segoe UI"/>
                <a:cs typeface="Segoe UI"/>
              </a:rPr>
              <a:t>TOOLING</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What You Can Do with GitHub Projects</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One board for backlog, sprint, teams, bugs and roadmap.</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PRACTICE LAB</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309</a:t>
            </a:r>
            <a:endParaRPr lang="en-US" sz="850" dirty="0"/>
          </a:p>
        </p:txBody>
      </p:sp>
      <p:sp>
        <p:nvSpPr>
          <p:cNvPr id="101" name="s101"/>
          <p:cNvSpPr/>
          <p:nvPr/>
        </p:nvSpPr>
        <p:spPr>
          <a:xfrm>
            <a:off x="543154" y="1920240"/>
            <a:ext cx="5406847" cy="1051560"/>
          </a:xfrm>
          <a:prstGeom prst="roundRect">
            <a:avLst>
              <a:gd name="adj" fmla="val 10000"/>
            </a:avLst>
          </a:prstGeom>
          <a:solidFill>
            <a:srgbClr val="111B2E"/>
          </a:solidFill>
          <a:ln w="12700">
            <a:solidFill>
              <a:srgbClr val="13D0F7"/>
            </a:solidFill>
            <a:prstDash val="solid"/>
          </a:ln>
        </p:spPr>
        <p:txBody>
          <a:bodyPr wrap="square" lIns="164592" tIns="109728" rIns="137160" bIns="91440" rtlCol="0" anchor="t">
            <a:noAutofit/>
          </a:bodyPr>
          <a:lstStyle/>
          <a:p>
            <a:endParaRPr lang="en-US"/>
          </a:p>
        </p:txBody>
      </p:sp>
      <p:sp>
        <p:nvSpPr>
          <p:cNvPr id="102" name="s102"/>
          <p:cNvSpPr/>
          <p:nvPr/>
        </p:nvSpPr>
        <p:spPr>
          <a:xfrm>
            <a:off x="771754" y="2167128"/>
            <a:ext cx="566928" cy="566928"/>
          </a:xfrm>
          <a:prstGeom prst="ellipse">
            <a:avLst/>
          </a:prstGeom>
          <a:solidFill>
            <a:srgbClr val="13D0F7">
              <a:alpha val="16000"/>
            </a:srgbClr>
          </a:solidFill>
          <a:ln w="12700">
            <a:solidFill>
              <a:srgbClr val="13D0F7">
                <a:alpha val="55000"/>
              </a:srgbClr>
            </a:solidFill>
            <a:prstDash val="solid"/>
          </a:ln>
        </p:spPr>
        <p:txBody>
          <a:bodyPr wrap="square" lIns="164592" tIns="109728" rIns="137160" bIns="91440" rtlCol="0" anchor="t">
            <a:noAutofit/>
          </a:bodyPr>
          <a:lstStyle/>
          <a:p>
            <a:endParaRPr lang="en-US"/>
          </a:p>
        </p:txBody>
      </p:sp>
      <p:pic>
        <p:nvPicPr>
          <p:cNvPr id="103" name="img103"/>
          <p:cNvPicPr>
            <a:picLocks noChangeAspect="1"/>
          </p:cNvPicPr>
          <p:nvPr/>
        </p:nvPicPr>
        <p:blipFill>
          <a:blip r:embed="rId4"/>
          <a:stretch>
            <a:fillRect/>
          </a:stretch>
        </p:blipFill>
        <p:spPr>
          <a:xfrm>
            <a:off x="907816" y="2303191"/>
            <a:ext cx="294803" cy="294803"/>
          </a:xfrm>
          <a:prstGeom prst="rect">
            <a:avLst/>
          </a:prstGeom>
        </p:spPr>
      </p:pic>
      <p:sp>
        <p:nvSpPr>
          <p:cNvPr id="104" name="s104"/>
          <p:cNvSpPr txBox="1"/>
          <p:nvPr/>
        </p:nvSpPr>
        <p:spPr>
          <a:xfrm>
            <a:off x="1548994" y="2011680"/>
            <a:ext cx="4218127" cy="8686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13D0F7"/>
                </a:solidFill>
                <a:latin typeface="Segoe UI"/>
                <a:ea typeface="Segoe UI"/>
                <a:cs typeface="Segoe UI"/>
              </a:rPr>
              <a:t>Product Backlog view</a:t>
            </a:r>
            <a:endParaRPr lang="en-US" sz="1500" dirty="0"/>
          </a:p>
          <a:p>
            <a:pPr marL="0" indent="0" algn="l">
              <a:spcBef>
                <a:spcPts val="0"/>
              </a:spcBef>
              <a:spcAft>
                <a:spcPts val="0"/>
              </a:spcAft>
              <a:buNone/>
            </a:pPr>
            <a:r>
              <a:rPr lang="en-US" sz="1250" b="0" dirty="0">
                <a:solidFill>
                  <a:srgbClr val="E2E8F0"/>
                </a:solidFill>
                <a:latin typeface="Segoe UI"/>
                <a:ea typeface="Segoe UI"/>
                <a:cs typeface="Segoe UI"/>
              </a:rPr>
              <a:t>Epics &amp; stories ordered by priority</a:t>
            </a:r>
            <a:endParaRPr lang="en-US" sz="1250" dirty="0"/>
          </a:p>
        </p:txBody>
      </p:sp>
      <p:sp>
        <p:nvSpPr>
          <p:cNvPr id="105" name="s105"/>
          <p:cNvSpPr/>
          <p:nvPr/>
        </p:nvSpPr>
        <p:spPr>
          <a:xfrm>
            <a:off x="6224321" y="1920240"/>
            <a:ext cx="5406847" cy="1051560"/>
          </a:xfrm>
          <a:prstGeom prst="roundRect">
            <a:avLst>
              <a:gd name="adj" fmla="val 10000"/>
            </a:avLst>
          </a:prstGeom>
          <a:solidFill>
            <a:srgbClr val="111B2E"/>
          </a:solidFill>
          <a:ln w="12700">
            <a:solidFill>
              <a:srgbClr val="34D399"/>
            </a:solidFill>
            <a:prstDash val="solid"/>
          </a:ln>
        </p:spPr>
        <p:txBody>
          <a:bodyPr wrap="square" lIns="164592" tIns="109728" rIns="137160" bIns="91440" rtlCol="0" anchor="t">
            <a:noAutofit/>
          </a:bodyPr>
          <a:lstStyle/>
          <a:p>
            <a:endParaRPr lang="en-US"/>
          </a:p>
        </p:txBody>
      </p:sp>
      <p:sp>
        <p:nvSpPr>
          <p:cNvPr id="106" name="s106"/>
          <p:cNvSpPr/>
          <p:nvPr/>
        </p:nvSpPr>
        <p:spPr>
          <a:xfrm>
            <a:off x="6452921" y="2167128"/>
            <a:ext cx="566928" cy="566928"/>
          </a:xfrm>
          <a:prstGeom prst="ellipse">
            <a:avLst/>
          </a:prstGeom>
          <a:solidFill>
            <a:srgbClr val="34D399">
              <a:alpha val="16000"/>
            </a:srgbClr>
          </a:solidFill>
          <a:ln w="12700">
            <a:solidFill>
              <a:srgbClr val="34D399">
                <a:alpha val="55000"/>
              </a:srgbClr>
            </a:solidFill>
            <a:prstDash val="solid"/>
          </a:ln>
        </p:spPr>
        <p:txBody>
          <a:bodyPr wrap="square" lIns="164592" tIns="109728" rIns="137160" bIns="91440" rtlCol="0" anchor="t">
            <a:noAutofit/>
          </a:bodyPr>
          <a:lstStyle/>
          <a:p>
            <a:endParaRPr lang="en-US"/>
          </a:p>
        </p:txBody>
      </p:sp>
      <p:pic>
        <p:nvPicPr>
          <p:cNvPr id="107" name="img107"/>
          <p:cNvPicPr>
            <a:picLocks noChangeAspect="1"/>
          </p:cNvPicPr>
          <p:nvPr/>
        </p:nvPicPr>
        <p:blipFill>
          <a:blip r:embed="rId5"/>
          <a:stretch>
            <a:fillRect/>
          </a:stretch>
        </p:blipFill>
        <p:spPr>
          <a:xfrm>
            <a:off x="6588984" y="2303191"/>
            <a:ext cx="294803" cy="294803"/>
          </a:xfrm>
          <a:prstGeom prst="rect">
            <a:avLst/>
          </a:prstGeom>
        </p:spPr>
      </p:pic>
      <p:sp>
        <p:nvSpPr>
          <p:cNvPr id="108" name="s108"/>
          <p:cNvSpPr txBox="1"/>
          <p:nvPr/>
        </p:nvSpPr>
        <p:spPr>
          <a:xfrm>
            <a:off x="7230161" y="2011680"/>
            <a:ext cx="4218127" cy="8686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34D399"/>
                </a:solidFill>
                <a:latin typeface="Segoe UI"/>
                <a:ea typeface="Segoe UI"/>
                <a:cs typeface="Segoe UI"/>
              </a:rPr>
              <a:t>Current Sprint board</a:t>
            </a:r>
            <a:endParaRPr lang="en-US" sz="1500" dirty="0"/>
          </a:p>
          <a:p>
            <a:pPr marL="0" indent="0" algn="l">
              <a:spcBef>
                <a:spcPts val="0"/>
              </a:spcBef>
              <a:spcAft>
                <a:spcPts val="0"/>
              </a:spcAft>
              <a:buNone/>
            </a:pPr>
            <a:r>
              <a:rPr lang="en-US" sz="1250" b="0" dirty="0">
                <a:solidFill>
                  <a:srgbClr val="E2E8F0"/>
                </a:solidFill>
                <a:latin typeface="Segoe UI"/>
                <a:ea typeface="Segoe UI"/>
                <a:cs typeface="Segoe UI"/>
              </a:rPr>
              <a:t>Status columns for the iteration</a:t>
            </a:r>
            <a:endParaRPr lang="en-US" sz="1250" dirty="0"/>
          </a:p>
        </p:txBody>
      </p:sp>
      <p:sp>
        <p:nvSpPr>
          <p:cNvPr id="109" name="s109"/>
          <p:cNvSpPr/>
          <p:nvPr/>
        </p:nvSpPr>
        <p:spPr>
          <a:xfrm>
            <a:off x="543154" y="3154680"/>
            <a:ext cx="5406847" cy="1051560"/>
          </a:xfrm>
          <a:prstGeom prst="roundRect">
            <a:avLst>
              <a:gd name="adj" fmla="val 10000"/>
            </a:avLst>
          </a:prstGeom>
          <a:solidFill>
            <a:srgbClr val="111B2E"/>
          </a:solidFill>
          <a:ln w="12700">
            <a:solidFill>
              <a:srgbClr val="F0A98B"/>
            </a:solidFill>
            <a:prstDash val="solid"/>
          </a:ln>
        </p:spPr>
        <p:txBody>
          <a:bodyPr wrap="square" lIns="164592" tIns="109728" rIns="137160" bIns="91440" rtlCol="0" anchor="t">
            <a:noAutofit/>
          </a:bodyPr>
          <a:lstStyle/>
          <a:p>
            <a:endParaRPr lang="en-US"/>
          </a:p>
        </p:txBody>
      </p:sp>
      <p:sp>
        <p:nvSpPr>
          <p:cNvPr id="110" name="s110"/>
          <p:cNvSpPr/>
          <p:nvPr/>
        </p:nvSpPr>
        <p:spPr>
          <a:xfrm>
            <a:off x="771754" y="3401568"/>
            <a:ext cx="566928" cy="566928"/>
          </a:xfrm>
          <a:prstGeom prst="ellipse">
            <a:avLst/>
          </a:prstGeom>
          <a:solidFill>
            <a:srgbClr val="F0A98B">
              <a:alpha val="16000"/>
            </a:srgbClr>
          </a:solidFill>
          <a:ln w="12700">
            <a:solidFill>
              <a:srgbClr val="F0A98B">
                <a:alpha val="55000"/>
              </a:srgbClr>
            </a:solidFill>
            <a:prstDash val="solid"/>
          </a:ln>
        </p:spPr>
        <p:txBody>
          <a:bodyPr wrap="square" lIns="164592" tIns="109728" rIns="137160" bIns="91440" rtlCol="0" anchor="t">
            <a:noAutofit/>
          </a:bodyPr>
          <a:lstStyle/>
          <a:p>
            <a:endParaRPr lang="en-US"/>
          </a:p>
        </p:txBody>
      </p:sp>
      <p:pic>
        <p:nvPicPr>
          <p:cNvPr id="111" name="img111"/>
          <p:cNvPicPr>
            <a:picLocks noChangeAspect="1"/>
          </p:cNvPicPr>
          <p:nvPr/>
        </p:nvPicPr>
        <p:blipFill>
          <a:blip r:embed="rId6"/>
          <a:stretch>
            <a:fillRect/>
          </a:stretch>
        </p:blipFill>
        <p:spPr>
          <a:xfrm>
            <a:off x="907816" y="3537631"/>
            <a:ext cx="294803" cy="294803"/>
          </a:xfrm>
          <a:prstGeom prst="rect">
            <a:avLst/>
          </a:prstGeom>
        </p:spPr>
      </p:pic>
      <p:sp>
        <p:nvSpPr>
          <p:cNvPr id="112" name="s112"/>
          <p:cNvSpPr txBox="1"/>
          <p:nvPr/>
        </p:nvSpPr>
        <p:spPr>
          <a:xfrm>
            <a:off x="1548994" y="3246120"/>
            <a:ext cx="4218127" cy="8686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0A98B"/>
                </a:solidFill>
                <a:latin typeface="Segoe UI"/>
                <a:ea typeface="Segoe UI"/>
                <a:cs typeface="Segoe UI"/>
              </a:rPr>
              <a:t>Team Work board</a:t>
            </a:r>
            <a:endParaRPr lang="en-US" sz="1500" dirty="0"/>
          </a:p>
          <a:p>
            <a:pPr marL="0" indent="0" algn="l">
              <a:spcBef>
                <a:spcPts val="0"/>
              </a:spcBef>
              <a:spcAft>
                <a:spcPts val="0"/>
              </a:spcAft>
              <a:buNone/>
            </a:pPr>
            <a:r>
              <a:rPr lang="en-US" sz="1250" b="0" dirty="0">
                <a:solidFill>
                  <a:srgbClr val="E2E8F0"/>
                </a:solidFill>
                <a:latin typeface="Segoe UI"/>
                <a:ea typeface="Segoe UI"/>
                <a:cs typeface="Segoe UI"/>
              </a:rPr>
              <a:t>Frontend / Backend / Testing / DevOps</a:t>
            </a:r>
            <a:endParaRPr lang="en-US" sz="1250" dirty="0"/>
          </a:p>
        </p:txBody>
      </p:sp>
      <p:sp>
        <p:nvSpPr>
          <p:cNvPr id="113" name="s113"/>
          <p:cNvSpPr/>
          <p:nvPr/>
        </p:nvSpPr>
        <p:spPr>
          <a:xfrm>
            <a:off x="6224321" y="3154680"/>
            <a:ext cx="5406847" cy="1051560"/>
          </a:xfrm>
          <a:prstGeom prst="roundRect">
            <a:avLst>
              <a:gd name="adj" fmla="val 10000"/>
            </a:avLst>
          </a:prstGeom>
          <a:solidFill>
            <a:srgbClr val="111B2E"/>
          </a:solidFill>
          <a:ln w="12700">
            <a:solidFill>
              <a:srgbClr val="F87171"/>
            </a:solidFill>
            <a:prstDash val="solid"/>
          </a:ln>
        </p:spPr>
        <p:txBody>
          <a:bodyPr wrap="square" lIns="164592" tIns="109728" rIns="137160" bIns="91440" rtlCol="0" anchor="t">
            <a:noAutofit/>
          </a:bodyPr>
          <a:lstStyle/>
          <a:p>
            <a:endParaRPr lang="en-US"/>
          </a:p>
        </p:txBody>
      </p:sp>
      <p:sp>
        <p:nvSpPr>
          <p:cNvPr id="114" name="s114"/>
          <p:cNvSpPr/>
          <p:nvPr/>
        </p:nvSpPr>
        <p:spPr>
          <a:xfrm>
            <a:off x="6452921" y="3401568"/>
            <a:ext cx="566928" cy="566928"/>
          </a:xfrm>
          <a:prstGeom prst="ellipse">
            <a:avLst/>
          </a:prstGeom>
          <a:solidFill>
            <a:srgbClr val="F87171">
              <a:alpha val="16000"/>
            </a:srgbClr>
          </a:solidFill>
          <a:ln w="12700">
            <a:solidFill>
              <a:srgbClr val="F87171">
                <a:alpha val="55000"/>
              </a:srgbClr>
            </a:solidFill>
            <a:prstDash val="solid"/>
          </a:ln>
        </p:spPr>
        <p:txBody>
          <a:bodyPr wrap="square" lIns="164592" tIns="109728" rIns="137160" bIns="91440" rtlCol="0" anchor="t">
            <a:noAutofit/>
          </a:bodyPr>
          <a:lstStyle/>
          <a:p>
            <a:endParaRPr lang="en-US"/>
          </a:p>
        </p:txBody>
      </p:sp>
      <p:pic>
        <p:nvPicPr>
          <p:cNvPr id="115" name="img115"/>
          <p:cNvPicPr>
            <a:picLocks noChangeAspect="1"/>
          </p:cNvPicPr>
          <p:nvPr/>
        </p:nvPicPr>
        <p:blipFill>
          <a:blip r:embed="rId7"/>
          <a:stretch>
            <a:fillRect/>
          </a:stretch>
        </p:blipFill>
        <p:spPr>
          <a:xfrm>
            <a:off x="6588984" y="3537631"/>
            <a:ext cx="294803" cy="294803"/>
          </a:xfrm>
          <a:prstGeom prst="rect">
            <a:avLst/>
          </a:prstGeom>
        </p:spPr>
      </p:pic>
      <p:sp>
        <p:nvSpPr>
          <p:cNvPr id="116" name="s116"/>
          <p:cNvSpPr txBox="1"/>
          <p:nvPr/>
        </p:nvSpPr>
        <p:spPr>
          <a:xfrm>
            <a:off x="7230161" y="3246120"/>
            <a:ext cx="4218127" cy="8686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87171"/>
                </a:solidFill>
                <a:latin typeface="Segoe UI"/>
                <a:ea typeface="Segoe UI"/>
                <a:cs typeface="Segoe UI"/>
              </a:rPr>
              <a:t>Bugs table</a:t>
            </a:r>
            <a:endParaRPr lang="en-US" sz="1500" dirty="0"/>
          </a:p>
          <a:p>
            <a:pPr marL="0" indent="0" algn="l">
              <a:spcBef>
                <a:spcPts val="0"/>
              </a:spcBef>
              <a:spcAft>
                <a:spcPts val="0"/>
              </a:spcAft>
              <a:buNone/>
            </a:pPr>
            <a:r>
              <a:rPr lang="en-US" sz="1250" b="0" dirty="0">
                <a:solidFill>
                  <a:srgbClr val="E2E8F0"/>
                </a:solidFill>
                <a:latin typeface="Segoe UI"/>
                <a:ea typeface="Segoe UI"/>
                <a:cs typeface="Segoe UI"/>
              </a:rPr>
              <a:t>Filter: Work Item Type = Bug</a:t>
            </a:r>
            <a:endParaRPr lang="en-US" sz="1250" dirty="0"/>
          </a:p>
        </p:txBody>
      </p:sp>
      <p:sp>
        <p:nvSpPr>
          <p:cNvPr id="117" name="s117"/>
          <p:cNvSpPr/>
          <p:nvPr/>
        </p:nvSpPr>
        <p:spPr>
          <a:xfrm>
            <a:off x="543154" y="4389120"/>
            <a:ext cx="5406847" cy="1051560"/>
          </a:xfrm>
          <a:prstGeom prst="roundRect">
            <a:avLst>
              <a:gd name="adj" fmla="val 10000"/>
            </a:avLst>
          </a:prstGeom>
          <a:solidFill>
            <a:srgbClr val="111B2E"/>
          </a:solidFill>
          <a:ln w="12700">
            <a:solidFill>
              <a:srgbClr val="A78BFA"/>
            </a:solidFill>
            <a:prstDash val="solid"/>
          </a:ln>
        </p:spPr>
        <p:txBody>
          <a:bodyPr wrap="square" lIns="164592" tIns="109728" rIns="137160" bIns="91440" rtlCol="0" anchor="t">
            <a:noAutofit/>
          </a:bodyPr>
          <a:lstStyle/>
          <a:p>
            <a:endParaRPr lang="en-US"/>
          </a:p>
        </p:txBody>
      </p:sp>
      <p:sp>
        <p:nvSpPr>
          <p:cNvPr id="118" name="s118"/>
          <p:cNvSpPr/>
          <p:nvPr/>
        </p:nvSpPr>
        <p:spPr>
          <a:xfrm>
            <a:off x="771754" y="4636008"/>
            <a:ext cx="566928" cy="566928"/>
          </a:xfrm>
          <a:prstGeom prst="ellipse">
            <a:avLst/>
          </a:prstGeom>
          <a:solidFill>
            <a:srgbClr val="A78BFA">
              <a:alpha val="16000"/>
            </a:srgbClr>
          </a:solidFill>
          <a:ln w="12700">
            <a:solidFill>
              <a:srgbClr val="A78BFA">
                <a:alpha val="55000"/>
              </a:srgbClr>
            </a:solidFill>
            <a:prstDash val="solid"/>
          </a:ln>
        </p:spPr>
        <p:txBody>
          <a:bodyPr wrap="square" lIns="164592" tIns="109728" rIns="137160" bIns="91440" rtlCol="0" anchor="t">
            <a:noAutofit/>
          </a:bodyPr>
          <a:lstStyle/>
          <a:p>
            <a:endParaRPr lang="en-US"/>
          </a:p>
        </p:txBody>
      </p:sp>
      <p:pic>
        <p:nvPicPr>
          <p:cNvPr id="119" name="img119"/>
          <p:cNvPicPr>
            <a:picLocks noChangeAspect="1"/>
          </p:cNvPicPr>
          <p:nvPr/>
        </p:nvPicPr>
        <p:blipFill>
          <a:blip r:embed="rId8"/>
          <a:stretch>
            <a:fillRect/>
          </a:stretch>
        </p:blipFill>
        <p:spPr>
          <a:xfrm>
            <a:off x="907816" y="4772071"/>
            <a:ext cx="294803" cy="294803"/>
          </a:xfrm>
          <a:prstGeom prst="rect">
            <a:avLst/>
          </a:prstGeom>
        </p:spPr>
      </p:pic>
      <p:sp>
        <p:nvSpPr>
          <p:cNvPr id="120" name="s120"/>
          <p:cNvSpPr txBox="1"/>
          <p:nvPr/>
        </p:nvSpPr>
        <p:spPr>
          <a:xfrm>
            <a:off x="1548994" y="4480560"/>
            <a:ext cx="4218127" cy="8686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A78BFA"/>
                </a:solidFill>
                <a:latin typeface="Segoe UI"/>
                <a:ea typeface="Segoe UI"/>
                <a:cs typeface="Segoe UI"/>
              </a:rPr>
              <a:t>Roadmap</a:t>
            </a:r>
            <a:endParaRPr lang="en-US" sz="1500" dirty="0"/>
          </a:p>
          <a:p>
            <a:pPr marL="0" indent="0" algn="l">
              <a:spcBef>
                <a:spcPts val="0"/>
              </a:spcBef>
              <a:spcAft>
                <a:spcPts val="0"/>
              </a:spcAft>
              <a:buNone/>
            </a:pPr>
            <a:r>
              <a:rPr lang="en-US" sz="1250" b="0" dirty="0">
                <a:solidFill>
                  <a:srgbClr val="E2E8F0"/>
                </a:solidFill>
                <a:latin typeface="Segoe UI"/>
                <a:ea typeface="Segoe UI"/>
                <a:cs typeface="Segoe UI"/>
              </a:rPr>
              <a:t>Progress grouped by Epic</a:t>
            </a:r>
            <a:endParaRPr lang="en-US" sz="1250" dirty="0"/>
          </a:p>
        </p:txBody>
      </p:sp>
      <p:sp>
        <p:nvSpPr>
          <p:cNvPr id="121" name="s121"/>
          <p:cNvSpPr/>
          <p:nvPr/>
        </p:nvSpPr>
        <p:spPr>
          <a:xfrm>
            <a:off x="6224321" y="4389120"/>
            <a:ext cx="5406847" cy="1051560"/>
          </a:xfrm>
          <a:prstGeom prst="roundRect">
            <a:avLst>
              <a:gd name="adj" fmla="val 10000"/>
            </a:avLst>
          </a:prstGeom>
          <a:solidFill>
            <a:srgbClr val="111B2E"/>
          </a:solidFill>
          <a:ln w="12700">
            <a:solidFill>
              <a:srgbClr val="FBBF24"/>
            </a:solidFill>
            <a:prstDash val="solid"/>
          </a:ln>
        </p:spPr>
        <p:txBody>
          <a:bodyPr wrap="square" lIns="164592" tIns="109728" rIns="137160" bIns="91440" rtlCol="0" anchor="t">
            <a:noAutofit/>
          </a:bodyPr>
          <a:lstStyle/>
          <a:p>
            <a:endParaRPr lang="en-US"/>
          </a:p>
        </p:txBody>
      </p:sp>
      <p:sp>
        <p:nvSpPr>
          <p:cNvPr id="122" name="s122"/>
          <p:cNvSpPr/>
          <p:nvPr/>
        </p:nvSpPr>
        <p:spPr>
          <a:xfrm>
            <a:off x="6452921" y="4636008"/>
            <a:ext cx="566928" cy="566928"/>
          </a:xfrm>
          <a:prstGeom prst="ellipse">
            <a:avLst/>
          </a:prstGeom>
          <a:solidFill>
            <a:srgbClr val="FBBF24">
              <a:alpha val="16000"/>
            </a:srgbClr>
          </a:solidFill>
          <a:ln w="12700">
            <a:solidFill>
              <a:srgbClr val="FBBF24">
                <a:alpha val="55000"/>
              </a:srgbClr>
            </a:solidFill>
            <a:prstDash val="solid"/>
          </a:ln>
        </p:spPr>
        <p:txBody>
          <a:bodyPr wrap="square" lIns="164592" tIns="109728" rIns="137160" bIns="91440" rtlCol="0" anchor="t">
            <a:noAutofit/>
          </a:bodyPr>
          <a:lstStyle/>
          <a:p>
            <a:endParaRPr lang="en-US"/>
          </a:p>
        </p:txBody>
      </p:sp>
      <p:pic>
        <p:nvPicPr>
          <p:cNvPr id="123" name="img123"/>
          <p:cNvPicPr>
            <a:picLocks noChangeAspect="1"/>
          </p:cNvPicPr>
          <p:nvPr/>
        </p:nvPicPr>
        <p:blipFill>
          <a:blip r:embed="rId9"/>
          <a:stretch>
            <a:fillRect/>
          </a:stretch>
        </p:blipFill>
        <p:spPr>
          <a:xfrm>
            <a:off x="6588984" y="4772071"/>
            <a:ext cx="294803" cy="294803"/>
          </a:xfrm>
          <a:prstGeom prst="rect">
            <a:avLst/>
          </a:prstGeom>
        </p:spPr>
      </p:pic>
      <p:sp>
        <p:nvSpPr>
          <p:cNvPr id="124" name="s124"/>
          <p:cNvSpPr txBox="1"/>
          <p:nvPr/>
        </p:nvSpPr>
        <p:spPr>
          <a:xfrm>
            <a:off x="7230161" y="4480560"/>
            <a:ext cx="4218127" cy="86868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500" b="1" dirty="0">
                <a:solidFill>
                  <a:srgbClr val="FBBF24"/>
                </a:solidFill>
                <a:latin typeface="Segoe UI"/>
                <a:ea typeface="Segoe UI"/>
                <a:cs typeface="Segoe UI"/>
              </a:rPr>
              <a:t>Issues + PRs</a:t>
            </a:r>
            <a:endParaRPr lang="en-US" sz="1500" dirty="0"/>
          </a:p>
          <a:p>
            <a:pPr marL="0" indent="0" algn="l">
              <a:spcBef>
                <a:spcPts val="0"/>
              </a:spcBef>
              <a:spcAft>
                <a:spcPts val="0"/>
              </a:spcAft>
              <a:buNone/>
            </a:pPr>
            <a:r>
              <a:rPr lang="en-US" sz="1250" b="0" dirty="0">
                <a:solidFill>
                  <a:srgbClr val="E2E8F0"/>
                </a:solidFill>
                <a:latin typeface="Segoe UI"/>
                <a:ea typeface="Segoe UI"/>
                <a:cs typeface="Segoe UI"/>
              </a:rPr>
              <a:t>Templates, labels, “Closes #n”, reviews</a:t>
            </a:r>
            <a:endParaRPr lang="en-US" sz="125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3" dur="500" decel="100000" fill="hold"/>
                                        <p:tgtEl>
                                          <p:spTgt spid="102"/>
                                        </p:tgtEl>
                                        <p:attrNameLst>
                                          <p:attrName>ppt_h</p:attrName>
                                        </p:attrNameLst>
                                      </p:cBhvr>
                                      <p:tavLst>
                                        <p:tav tm="0">
                                          <p:val>
                                            <p:strVal val="#ppt_h*0.55"/>
                                          </p:val>
                                        </p:tav>
                                        <p:tav tm="100000">
                                          <p:val>
                                            <p:strVal val="#ppt_h"/>
                                          </p:val>
                                        </p:tav>
                                      </p:tavLst>
                                    </p:anim>
                                    <p:animEffect transition="in" filter="fade">
                                      <p:cBhvr>
                                        <p:cTn id="14" dur="500"/>
                                        <p:tgtEl>
                                          <p:spTgt spid="102"/>
                                        </p:tgtEl>
                                      </p:cBhvr>
                                    </p:animEffect>
                                  </p:childTnLst>
                                </p:cTn>
                              </p:par>
                              <p:par>
                                <p:cTn id="15" presetID="53" presetClass="entr" presetSubtype="16" fill="hold" nodeType="withEffect">
                                  <p:stCondLst>
                                    <p:cond delay="0"/>
                                  </p:stCondLst>
                                  <p:childTnLst>
                                    <p:set>
                                      <p:cBhvr>
                                        <p:cTn id="16" dur="1" fill="hold">
                                          <p:stCondLst>
                                            <p:cond delay="0"/>
                                          </p:stCondLst>
                                        </p:cTn>
                                        <p:tgtEl>
                                          <p:spTgt spid="103"/>
                                        </p:tgtEl>
                                        <p:attrNameLst>
                                          <p:attrName>style.visibility</p:attrName>
                                        </p:attrNameLst>
                                      </p:cBhvr>
                                      <p:to>
                                        <p:strVal val="visible"/>
                                      </p:to>
                                    </p:set>
                                    <p:anim calcmode="lin" valueType="num">
                                      <p:cBhvr additive="base">
                                        <p:cTn id="17" dur="500" decel="100000" fill="hold"/>
                                        <p:tgtEl>
                                          <p:spTgt spid="103"/>
                                        </p:tgtEl>
                                        <p:attrNameLst>
                                          <p:attrName>ppt_w</p:attrName>
                                        </p:attrNameLst>
                                      </p:cBhvr>
                                      <p:tavLst>
                                        <p:tav tm="0">
                                          <p:val>
                                            <p:strVal val="#ppt_w*0.55"/>
                                          </p:val>
                                        </p:tav>
                                        <p:tav tm="100000">
                                          <p:val>
                                            <p:strVal val="#ppt_w"/>
                                          </p:val>
                                        </p:tav>
                                      </p:tavLst>
                                    </p:anim>
                                    <p:anim calcmode="lin" valueType="num">
                                      <p:cBhvr additive="base">
                                        <p:cTn id="18" dur="500" decel="100000" fill="hold"/>
                                        <p:tgtEl>
                                          <p:spTgt spid="103"/>
                                        </p:tgtEl>
                                        <p:attrNameLst>
                                          <p:attrName>ppt_h</p:attrName>
                                        </p:attrNameLst>
                                      </p:cBhvr>
                                      <p:tavLst>
                                        <p:tav tm="0">
                                          <p:val>
                                            <p:strVal val="#ppt_h*0.55"/>
                                          </p:val>
                                        </p:tav>
                                        <p:tav tm="100000">
                                          <p:val>
                                            <p:strVal val="#ppt_h"/>
                                          </p:val>
                                        </p:tav>
                                      </p:tavLst>
                                    </p:anim>
                                    <p:animEffect transition="in" filter="fade">
                                      <p:cBhvr>
                                        <p:cTn id="19" dur="500"/>
                                        <p:tgtEl>
                                          <p:spTgt spid="10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04"/>
                                        </p:tgtEl>
                                        <p:attrNameLst>
                                          <p:attrName>style.visibility</p:attrName>
                                        </p:attrNameLst>
                                      </p:cBhvr>
                                      <p:to>
                                        <p:strVal val="visible"/>
                                      </p:to>
                                    </p:set>
                                    <p:anim calcmode="lin" valueType="num">
                                      <p:cBhvr additive="base">
                                        <p:cTn id="22" dur="500" decel="100000" fill="hold"/>
                                        <p:tgtEl>
                                          <p:spTgt spid="104"/>
                                        </p:tgtEl>
                                        <p:attrNameLst>
                                          <p:attrName>ppt_w</p:attrName>
                                        </p:attrNameLst>
                                      </p:cBhvr>
                                      <p:tavLst>
                                        <p:tav tm="0">
                                          <p:val>
                                            <p:strVal val="#ppt_w*0.55"/>
                                          </p:val>
                                        </p:tav>
                                        <p:tav tm="100000">
                                          <p:val>
                                            <p:strVal val="#ppt_w"/>
                                          </p:val>
                                        </p:tav>
                                      </p:tavLst>
                                    </p:anim>
                                    <p:anim calcmode="lin" valueType="num">
                                      <p:cBhvr additive="base">
                                        <p:cTn id="23" dur="500" decel="100000" fill="hold"/>
                                        <p:tgtEl>
                                          <p:spTgt spid="104"/>
                                        </p:tgtEl>
                                        <p:attrNameLst>
                                          <p:attrName>ppt_h</p:attrName>
                                        </p:attrNameLst>
                                      </p:cBhvr>
                                      <p:tavLst>
                                        <p:tav tm="0">
                                          <p:val>
                                            <p:strVal val="#ppt_h*0.55"/>
                                          </p:val>
                                        </p:tav>
                                        <p:tav tm="100000">
                                          <p:val>
                                            <p:strVal val="#ppt_h"/>
                                          </p:val>
                                        </p:tav>
                                      </p:tavLst>
                                    </p:anim>
                                    <p:animEffect transition="in" filter="fade">
                                      <p:cBhvr>
                                        <p:cTn id="24" dur="500"/>
                                        <p:tgtEl>
                                          <p:spTgt spid="104"/>
                                        </p:tgtEl>
                                      </p:cBhvr>
                                    </p:animEffect>
                                  </p:childTnLst>
                                </p:cTn>
                              </p:par>
                              <p:par>
                                <p:cTn id="25" presetID="53" presetClass="entr" presetSubtype="16" fill="hold" grpId="0" nodeType="withEffect">
                                  <p:stCondLst>
                                    <p:cond delay="130"/>
                                  </p:stCondLst>
                                  <p:childTnLst>
                                    <p:set>
                                      <p:cBhvr>
                                        <p:cTn id="26" dur="1" fill="hold">
                                          <p:stCondLst>
                                            <p:cond delay="0"/>
                                          </p:stCondLst>
                                        </p:cTn>
                                        <p:tgtEl>
                                          <p:spTgt spid="105"/>
                                        </p:tgtEl>
                                        <p:attrNameLst>
                                          <p:attrName>style.visibility</p:attrName>
                                        </p:attrNameLst>
                                      </p:cBhvr>
                                      <p:to>
                                        <p:strVal val="visible"/>
                                      </p:to>
                                    </p:set>
                                    <p:anim calcmode="lin" valueType="num">
                                      <p:cBhvr additive="base">
                                        <p:cTn id="27" dur="500" decel="100000" fill="hold"/>
                                        <p:tgtEl>
                                          <p:spTgt spid="105"/>
                                        </p:tgtEl>
                                        <p:attrNameLst>
                                          <p:attrName>ppt_w</p:attrName>
                                        </p:attrNameLst>
                                      </p:cBhvr>
                                      <p:tavLst>
                                        <p:tav tm="0">
                                          <p:val>
                                            <p:strVal val="#ppt_w*0.55"/>
                                          </p:val>
                                        </p:tav>
                                        <p:tav tm="100000">
                                          <p:val>
                                            <p:strVal val="#ppt_w"/>
                                          </p:val>
                                        </p:tav>
                                      </p:tavLst>
                                    </p:anim>
                                    <p:anim calcmode="lin" valueType="num">
                                      <p:cBhvr additive="base">
                                        <p:cTn id="28" dur="500" decel="100000" fill="hold"/>
                                        <p:tgtEl>
                                          <p:spTgt spid="105"/>
                                        </p:tgtEl>
                                        <p:attrNameLst>
                                          <p:attrName>ppt_h</p:attrName>
                                        </p:attrNameLst>
                                      </p:cBhvr>
                                      <p:tavLst>
                                        <p:tav tm="0">
                                          <p:val>
                                            <p:strVal val="#ppt_h*0.55"/>
                                          </p:val>
                                        </p:tav>
                                        <p:tav tm="100000">
                                          <p:val>
                                            <p:strVal val="#ppt_h"/>
                                          </p:val>
                                        </p:tav>
                                      </p:tavLst>
                                    </p:anim>
                                    <p:animEffect transition="in" filter="fade">
                                      <p:cBhvr>
                                        <p:cTn id="29" dur="500"/>
                                        <p:tgtEl>
                                          <p:spTgt spid="105"/>
                                        </p:tgtEl>
                                      </p:cBhvr>
                                    </p:animEffect>
                                  </p:childTnLst>
                                </p:cTn>
                              </p:par>
                              <p:par>
                                <p:cTn id="30" presetID="53" presetClass="entr" presetSubtype="16" fill="hold" grpId="0" nodeType="withEffect">
                                  <p:stCondLst>
                                    <p:cond delay="130"/>
                                  </p:stCondLst>
                                  <p:childTnLst>
                                    <p:set>
                                      <p:cBhvr>
                                        <p:cTn id="31" dur="1" fill="hold">
                                          <p:stCondLst>
                                            <p:cond delay="0"/>
                                          </p:stCondLst>
                                        </p:cTn>
                                        <p:tgtEl>
                                          <p:spTgt spid="106"/>
                                        </p:tgtEl>
                                        <p:attrNameLst>
                                          <p:attrName>style.visibility</p:attrName>
                                        </p:attrNameLst>
                                      </p:cBhvr>
                                      <p:to>
                                        <p:strVal val="visible"/>
                                      </p:to>
                                    </p:set>
                                    <p:anim calcmode="lin" valueType="num">
                                      <p:cBhvr additive="base">
                                        <p:cTn id="32" dur="500" decel="100000" fill="hold"/>
                                        <p:tgtEl>
                                          <p:spTgt spid="106"/>
                                        </p:tgtEl>
                                        <p:attrNameLst>
                                          <p:attrName>ppt_w</p:attrName>
                                        </p:attrNameLst>
                                      </p:cBhvr>
                                      <p:tavLst>
                                        <p:tav tm="0">
                                          <p:val>
                                            <p:strVal val="#ppt_w*0.55"/>
                                          </p:val>
                                        </p:tav>
                                        <p:tav tm="100000">
                                          <p:val>
                                            <p:strVal val="#ppt_w"/>
                                          </p:val>
                                        </p:tav>
                                      </p:tavLst>
                                    </p:anim>
                                    <p:anim calcmode="lin" valueType="num">
                                      <p:cBhvr additive="base">
                                        <p:cTn id="33" dur="500" decel="100000" fill="hold"/>
                                        <p:tgtEl>
                                          <p:spTgt spid="106"/>
                                        </p:tgtEl>
                                        <p:attrNameLst>
                                          <p:attrName>ppt_h</p:attrName>
                                        </p:attrNameLst>
                                      </p:cBhvr>
                                      <p:tavLst>
                                        <p:tav tm="0">
                                          <p:val>
                                            <p:strVal val="#ppt_h*0.55"/>
                                          </p:val>
                                        </p:tav>
                                        <p:tav tm="100000">
                                          <p:val>
                                            <p:strVal val="#ppt_h"/>
                                          </p:val>
                                        </p:tav>
                                      </p:tavLst>
                                    </p:anim>
                                    <p:animEffect transition="in" filter="fade">
                                      <p:cBhvr>
                                        <p:cTn id="34" dur="500"/>
                                        <p:tgtEl>
                                          <p:spTgt spid="106"/>
                                        </p:tgtEl>
                                      </p:cBhvr>
                                    </p:animEffect>
                                  </p:childTnLst>
                                </p:cTn>
                              </p:par>
                              <p:par>
                                <p:cTn id="35" presetID="53" presetClass="entr" presetSubtype="16" fill="hold" nodeType="withEffect">
                                  <p:stCondLst>
                                    <p:cond delay="130"/>
                                  </p:stCondLst>
                                  <p:childTnLst>
                                    <p:set>
                                      <p:cBhvr>
                                        <p:cTn id="36" dur="1" fill="hold">
                                          <p:stCondLst>
                                            <p:cond delay="0"/>
                                          </p:stCondLst>
                                        </p:cTn>
                                        <p:tgtEl>
                                          <p:spTgt spid="107"/>
                                        </p:tgtEl>
                                        <p:attrNameLst>
                                          <p:attrName>style.visibility</p:attrName>
                                        </p:attrNameLst>
                                      </p:cBhvr>
                                      <p:to>
                                        <p:strVal val="visible"/>
                                      </p:to>
                                    </p:set>
                                    <p:anim calcmode="lin" valueType="num">
                                      <p:cBhvr additive="base">
                                        <p:cTn id="37" dur="500" decel="100000" fill="hold"/>
                                        <p:tgtEl>
                                          <p:spTgt spid="107"/>
                                        </p:tgtEl>
                                        <p:attrNameLst>
                                          <p:attrName>ppt_w</p:attrName>
                                        </p:attrNameLst>
                                      </p:cBhvr>
                                      <p:tavLst>
                                        <p:tav tm="0">
                                          <p:val>
                                            <p:strVal val="#ppt_w*0.55"/>
                                          </p:val>
                                        </p:tav>
                                        <p:tav tm="100000">
                                          <p:val>
                                            <p:strVal val="#ppt_w"/>
                                          </p:val>
                                        </p:tav>
                                      </p:tavLst>
                                    </p:anim>
                                    <p:anim calcmode="lin" valueType="num">
                                      <p:cBhvr additive="base">
                                        <p:cTn id="38" dur="500" decel="100000" fill="hold"/>
                                        <p:tgtEl>
                                          <p:spTgt spid="107"/>
                                        </p:tgtEl>
                                        <p:attrNameLst>
                                          <p:attrName>ppt_h</p:attrName>
                                        </p:attrNameLst>
                                      </p:cBhvr>
                                      <p:tavLst>
                                        <p:tav tm="0">
                                          <p:val>
                                            <p:strVal val="#ppt_h*0.55"/>
                                          </p:val>
                                        </p:tav>
                                        <p:tav tm="100000">
                                          <p:val>
                                            <p:strVal val="#ppt_h"/>
                                          </p:val>
                                        </p:tav>
                                      </p:tavLst>
                                    </p:anim>
                                    <p:animEffect transition="in" filter="fade">
                                      <p:cBhvr>
                                        <p:cTn id="39" dur="500"/>
                                        <p:tgtEl>
                                          <p:spTgt spid="107"/>
                                        </p:tgtEl>
                                      </p:cBhvr>
                                    </p:animEffect>
                                  </p:childTnLst>
                                </p:cTn>
                              </p:par>
                              <p:par>
                                <p:cTn id="40" presetID="53" presetClass="entr" presetSubtype="16" fill="hold" grpId="0" nodeType="withEffect">
                                  <p:stCondLst>
                                    <p:cond delay="130"/>
                                  </p:stCondLst>
                                  <p:childTnLst>
                                    <p:set>
                                      <p:cBhvr>
                                        <p:cTn id="41" dur="1" fill="hold">
                                          <p:stCondLst>
                                            <p:cond delay="0"/>
                                          </p:stCondLst>
                                        </p:cTn>
                                        <p:tgtEl>
                                          <p:spTgt spid="108"/>
                                        </p:tgtEl>
                                        <p:attrNameLst>
                                          <p:attrName>style.visibility</p:attrName>
                                        </p:attrNameLst>
                                      </p:cBhvr>
                                      <p:to>
                                        <p:strVal val="visible"/>
                                      </p:to>
                                    </p:set>
                                    <p:anim calcmode="lin" valueType="num">
                                      <p:cBhvr additive="base">
                                        <p:cTn id="42" dur="500" decel="100000" fill="hold"/>
                                        <p:tgtEl>
                                          <p:spTgt spid="108"/>
                                        </p:tgtEl>
                                        <p:attrNameLst>
                                          <p:attrName>ppt_w</p:attrName>
                                        </p:attrNameLst>
                                      </p:cBhvr>
                                      <p:tavLst>
                                        <p:tav tm="0">
                                          <p:val>
                                            <p:strVal val="#ppt_w*0.55"/>
                                          </p:val>
                                        </p:tav>
                                        <p:tav tm="100000">
                                          <p:val>
                                            <p:strVal val="#ppt_w"/>
                                          </p:val>
                                        </p:tav>
                                      </p:tavLst>
                                    </p:anim>
                                    <p:anim calcmode="lin" valueType="num">
                                      <p:cBhvr additive="base">
                                        <p:cTn id="43" dur="500" decel="100000" fill="hold"/>
                                        <p:tgtEl>
                                          <p:spTgt spid="108"/>
                                        </p:tgtEl>
                                        <p:attrNameLst>
                                          <p:attrName>ppt_h</p:attrName>
                                        </p:attrNameLst>
                                      </p:cBhvr>
                                      <p:tavLst>
                                        <p:tav tm="0">
                                          <p:val>
                                            <p:strVal val="#ppt_h*0.55"/>
                                          </p:val>
                                        </p:tav>
                                        <p:tav tm="100000">
                                          <p:val>
                                            <p:strVal val="#ppt_h"/>
                                          </p:val>
                                        </p:tav>
                                      </p:tavLst>
                                    </p:anim>
                                    <p:animEffect transition="in" filter="fade">
                                      <p:cBhvr>
                                        <p:cTn id="44" dur="500"/>
                                        <p:tgtEl>
                                          <p:spTgt spid="108"/>
                                        </p:tgtEl>
                                      </p:cBhvr>
                                    </p:animEffect>
                                  </p:childTnLst>
                                </p:cTn>
                              </p:par>
                              <p:par>
                                <p:cTn id="45" presetID="53" presetClass="entr" presetSubtype="16" fill="hold" grpId="0" nodeType="withEffect">
                                  <p:stCondLst>
                                    <p:cond delay="260"/>
                                  </p:stCondLst>
                                  <p:childTnLst>
                                    <p:set>
                                      <p:cBhvr>
                                        <p:cTn id="46" dur="1" fill="hold">
                                          <p:stCondLst>
                                            <p:cond delay="0"/>
                                          </p:stCondLst>
                                        </p:cTn>
                                        <p:tgtEl>
                                          <p:spTgt spid="109"/>
                                        </p:tgtEl>
                                        <p:attrNameLst>
                                          <p:attrName>style.visibility</p:attrName>
                                        </p:attrNameLst>
                                      </p:cBhvr>
                                      <p:to>
                                        <p:strVal val="visible"/>
                                      </p:to>
                                    </p:set>
                                    <p:anim calcmode="lin" valueType="num">
                                      <p:cBhvr additive="base">
                                        <p:cTn id="47" dur="500" decel="100000" fill="hold"/>
                                        <p:tgtEl>
                                          <p:spTgt spid="109"/>
                                        </p:tgtEl>
                                        <p:attrNameLst>
                                          <p:attrName>ppt_w</p:attrName>
                                        </p:attrNameLst>
                                      </p:cBhvr>
                                      <p:tavLst>
                                        <p:tav tm="0">
                                          <p:val>
                                            <p:strVal val="#ppt_w*0.55"/>
                                          </p:val>
                                        </p:tav>
                                        <p:tav tm="100000">
                                          <p:val>
                                            <p:strVal val="#ppt_w"/>
                                          </p:val>
                                        </p:tav>
                                      </p:tavLst>
                                    </p:anim>
                                    <p:anim calcmode="lin" valueType="num">
                                      <p:cBhvr additive="base">
                                        <p:cTn id="48" dur="500" decel="100000" fill="hold"/>
                                        <p:tgtEl>
                                          <p:spTgt spid="109"/>
                                        </p:tgtEl>
                                        <p:attrNameLst>
                                          <p:attrName>ppt_h</p:attrName>
                                        </p:attrNameLst>
                                      </p:cBhvr>
                                      <p:tavLst>
                                        <p:tav tm="0">
                                          <p:val>
                                            <p:strVal val="#ppt_h*0.55"/>
                                          </p:val>
                                        </p:tav>
                                        <p:tav tm="100000">
                                          <p:val>
                                            <p:strVal val="#ppt_h"/>
                                          </p:val>
                                        </p:tav>
                                      </p:tavLst>
                                    </p:anim>
                                    <p:animEffect transition="in" filter="fade">
                                      <p:cBhvr>
                                        <p:cTn id="49" dur="500"/>
                                        <p:tgtEl>
                                          <p:spTgt spid="109"/>
                                        </p:tgtEl>
                                      </p:cBhvr>
                                    </p:animEffect>
                                  </p:childTnLst>
                                </p:cTn>
                              </p:par>
                              <p:par>
                                <p:cTn id="50" presetID="53" presetClass="entr" presetSubtype="16" fill="hold" grpId="0" nodeType="withEffect">
                                  <p:stCondLst>
                                    <p:cond delay="260"/>
                                  </p:stCondLst>
                                  <p:childTnLst>
                                    <p:set>
                                      <p:cBhvr>
                                        <p:cTn id="51" dur="1" fill="hold">
                                          <p:stCondLst>
                                            <p:cond delay="0"/>
                                          </p:stCondLst>
                                        </p:cTn>
                                        <p:tgtEl>
                                          <p:spTgt spid="110"/>
                                        </p:tgtEl>
                                        <p:attrNameLst>
                                          <p:attrName>style.visibility</p:attrName>
                                        </p:attrNameLst>
                                      </p:cBhvr>
                                      <p:to>
                                        <p:strVal val="visible"/>
                                      </p:to>
                                    </p:set>
                                    <p:anim calcmode="lin" valueType="num">
                                      <p:cBhvr additive="base">
                                        <p:cTn id="52" dur="500" decel="100000" fill="hold"/>
                                        <p:tgtEl>
                                          <p:spTgt spid="110"/>
                                        </p:tgtEl>
                                        <p:attrNameLst>
                                          <p:attrName>ppt_w</p:attrName>
                                        </p:attrNameLst>
                                      </p:cBhvr>
                                      <p:tavLst>
                                        <p:tav tm="0">
                                          <p:val>
                                            <p:strVal val="#ppt_w*0.55"/>
                                          </p:val>
                                        </p:tav>
                                        <p:tav tm="100000">
                                          <p:val>
                                            <p:strVal val="#ppt_w"/>
                                          </p:val>
                                        </p:tav>
                                      </p:tavLst>
                                    </p:anim>
                                    <p:anim calcmode="lin" valueType="num">
                                      <p:cBhvr additive="base">
                                        <p:cTn id="53" dur="500" decel="100000" fill="hold"/>
                                        <p:tgtEl>
                                          <p:spTgt spid="110"/>
                                        </p:tgtEl>
                                        <p:attrNameLst>
                                          <p:attrName>ppt_h</p:attrName>
                                        </p:attrNameLst>
                                      </p:cBhvr>
                                      <p:tavLst>
                                        <p:tav tm="0">
                                          <p:val>
                                            <p:strVal val="#ppt_h*0.55"/>
                                          </p:val>
                                        </p:tav>
                                        <p:tav tm="100000">
                                          <p:val>
                                            <p:strVal val="#ppt_h"/>
                                          </p:val>
                                        </p:tav>
                                      </p:tavLst>
                                    </p:anim>
                                    <p:animEffect transition="in" filter="fade">
                                      <p:cBhvr>
                                        <p:cTn id="54" dur="500"/>
                                        <p:tgtEl>
                                          <p:spTgt spid="110"/>
                                        </p:tgtEl>
                                      </p:cBhvr>
                                    </p:animEffect>
                                  </p:childTnLst>
                                </p:cTn>
                              </p:par>
                              <p:par>
                                <p:cTn id="55" presetID="53" presetClass="entr" presetSubtype="16" fill="hold" nodeType="withEffect">
                                  <p:stCondLst>
                                    <p:cond delay="260"/>
                                  </p:stCondLst>
                                  <p:childTnLst>
                                    <p:set>
                                      <p:cBhvr>
                                        <p:cTn id="56" dur="1" fill="hold">
                                          <p:stCondLst>
                                            <p:cond delay="0"/>
                                          </p:stCondLst>
                                        </p:cTn>
                                        <p:tgtEl>
                                          <p:spTgt spid="111"/>
                                        </p:tgtEl>
                                        <p:attrNameLst>
                                          <p:attrName>style.visibility</p:attrName>
                                        </p:attrNameLst>
                                      </p:cBhvr>
                                      <p:to>
                                        <p:strVal val="visible"/>
                                      </p:to>
                                    </p:set>
                                    <p:anim calcmode="lin" valueType="num">
                                      <p:cBhvr additive="base">
                                        <p:cTn id="57" dur="500" decel="100000" fill="hold"/>
                                        <p:tgtEl>
                                          <p:spTgt spid="111"/>
                                        </p:tgtEl>
                                        <p:attrNameLst>
                                          <p:attrName>ppt_w</p:attrName>
                                        </p:attrNameLst>
                                      </p:cBhvr>
                                      <p:tavLst>
                                        <p:tav tm="0">
                                          <p:val>
                                            <p:strVal val="#ppt_w*0.55"/>
                                          </p:val>
                                        </p:tav>
                                        <p:tav tm="100000">
                                          <p:val>
                                            <p:strVal val="#ppt_w"/>
                                          </p:val>
                                        </p:tav>
                                      </p:tavLst>
                                    </p:anim>
                                    <p:anim calcmode="lin" valueType="num">
                                      <p:cBhvr additive="base">
                                        <p:cTn id="58" dur="500" decel="100000" fill="hold"/>
                                        <p:tgtEl>
                                          <p:spTgt spid="111"/>
                                        </p:tgtEl>
                                        <p:attrNameLst>
                                          <p:attrName>ppt_h</p:attrName>
                                        </p:attrNameLst>
                                      </p:cBhvr>
                                      <p:tavLst>
                                        <p:tav tm="0">
                                          <p:val>
                                            <p:strVal val="#ppt_h*0.55"/>
                                          </p:val>
                                        </p:tav>
                                        <p:tav tm="100000">
                                          <p:val>
                                            <p:strVal val="#ppt_h"/>
                                          </p:val>
                                        </p:tav>
                                      </p:tavLst>
                                    </p:anim>
                                    <p:animEffect transition="in" filter="fade">
                                      <p:cBhvr>
                                        <p:cTn id="59" dur="500"/>
                                        <p:tgtEl>
                                          <p:spTgt spid="111"/>
                                        </p:tgtEl>
                                      </p:cBhvr>
                                    </p:animEffect>
                                  </p:childTnLst>
                                </p:cTn>
                              </p:par>
                              <p:par>
                                <p:cTn id="60" presetID="53" presetClass="entr" presetSubtype="16" fill="hold" grpId="0" nodeType="withEffect">
                                  <p:stCondLst>
                                    <p:cond delay="260"/>
                                  </p:stCondLst>
                                  <p:childTnLst>
                                    <p:set>
                                      <p:cBhvr>
                                        <p:cTn id="61" dur="1" fill="hold">
                                          <p:stCondLst>
                                            <p:cond delay="0"/>
                                          </p:stCondLst>
                                        </p:cTn>
                                        <p:tgtEl>
                                          <p:spTgt spid="112"/>
                                        </p:tgtEl>
                                        <p:attrNameLst>
                                          <p:attrName>style.visibility</p:attrName>
                                        </p:attrNameLst>
                                      </p:cBhvr>
                                      <p:to>
                                        <p:strVal val="visible"/>
                                      </p:to>
                                    </p:set>
                                    <p:anim calcmode="lin" valueType="num">
                                      <p:cBhvr additive="base">
                                        <p:cTn id="62" dur="500" decel="100000" fill="hold"/>
                                        <p:tgtEl>
                                          <p:spTgt spid="112"/>
                                        </p:tgtEl>
                                        <p:attrNameLst>
                                          <p:attrName>ppt_w</p:attrName>
                                        </p:attrNameLst>
                                      </p:cBhvr>
                                      <p:tavLst>
                                        <p:tav tm="0">
                                          <p:val>
                                            <p:strVal val="#ppt_w*0.55"/>
                                          </p:val>
                                        </p:tav>
                                        <p:tav tm="100000">
                                          <p:val>
                                            <p:strVal val="#ppt_w"/>
                                          </p:val>
                                        </p:tav>
                                      </p:tavLst>
                                    </p:anim>
                                    <p:anim calcmode="lin" valueType="num">
                                      <p:cBhvr additive="base">
                                        <p:cTn id="63" dur="500" decel="100000" fill="hold"/>
                                        <p:tgtEl>
                                          <p:spTgt spid="112"/>
                                        </p:tgtEl>
                                        <p:attrNameLst>
                                          <p:attrName>ppt_h</p:attrName>
                                        </p:attrNameLst>
                                      </p:cBhvr>
                                      <p:tavLst>
                                        <p:tav tm="0">
                                          <p:val>
                                            <p:strVal val="#ppt_h*0.55"/>
                                          </p:val>
                                        </p:tav>
                                        <p:tav tm="100000">
                                          <p:val>
                                            <p:strVal val="#ppt_h"/>
                                          </p:val>
                                        </p:tav>
                                      </p:tavLst>
                                    </p:anim>
                                    <p:animEffect transition="in" filter="fade">
                                      <p:cBhvr>
                                        <p:cTn id="64" dur="500"/>
                                        <p:tgtEl>
                                          <p:spTgt spid="112"/>
                                        </p:tgtEl>
                                      </p:cBhvr>
                                    </p:animEffect>
                                  </p:childTnLst>
                                </p:cTn>
                              </p:par>
                              <p:par>
                                <p:cTn id="65" presetID="53" presetClass="entr" presetSubtype="16" fill="hold" grpId="0" nodeType="withEffect">
                                  <p:stCondLst>
                                    <p:cond delay="390"/>
                                  </p:stCondLst>
                                  <p:childTnLst>
                                    <p:set>
                                      <p:cBhvr>
                                        <p:cTn id="66" dur="1" fill="hold">
                                          <p:stCondLst>
                                            <p:cond delay="0"/>
                                          </p:stCondLst>
                                        </p:cTn>
                                        <p:tgtEl>
                                          <p:spTgt spid="113"/>
                                        </p:tgtEl>
                                        <p:attrNameLst>
                                          <p:attrName>style.visibility</p:attrName>
                                        </p:attrNameLst>
                                      </p:cBhvr>
                                      <p:to>
                                        <p:strVal val="visible"/>
                                      </p:to>
                                    </p:set>
                                    <p:anim calcmode="lin" valueType="num">
                                      <p:cBhvr additive="base">
                                        <p:cTn id="67" dur="500" decel="100000" fill="hold"/>
                                        <p:tgtEl>
                                          <p:spTgt spid="113"/>
                                        </p:tgtEl>
                                        <p:attrNameLst>
                                          <p:attrName>ppt_w</p:attrName>
                                        </p:attrNameLst>
                                      </p:cBhvr>
                                      <p:tavLst>
                                        <p:tav tm="0">
                                          <p:val>
                                            <p:strVal val="#ppt_w*0.55"/>
                                          </p:val>
                                        </p:tav>
                                        <p:tav tm="100000">
                                          <p:val>
                                            <p:strVal val="#ppt_w"/>
                                          </p:val>
                                        </p:tav>
                                      </p:tavLst>
                                    </p:anim>
                                    <p:anim calcmode="lin" valueType="num">
                                      <p:cBhvr additive="base">
                                        <p:cTn id="68" dur="500" decel="100000" fill="hold"/>
                                        <p:tgtEl>
                                          <p:spTgt spid="113"/>
                                        </p:tgtEl>
                                        <p:attrNameLst>
                                          <p:attrName>ppt_h</p:attrName>
                                        </p:attrNameLst>
                                      </p:cBhvr>
                                      <p:tavLst>
                                        <p:tav tm="0">
                                          <p:val>
                                            <p:strVal val="#ppt_h*0.55"/>
                                          </p:val>
                                        </p:tav>
                                        <p:tav tm="100000">
                                          <p:val>
                                            <p:strVal val="#ppt_h"/>
                                          </p:val>
                                        </p:tav>
                                      </p:tavLst>
                                    </p:anim>
                                    <p:animEffect transition="in" filter="fade">
                                      <p:cBhvr>
                                        <p:cTn id="69" dur="500"/>
                                        <p:tgtEl>
                                          <p:spTgt spid="113"/>
                                        </p:tgtEl>
                                      </p:cBhvr>
                                    </p:animEffect>
                                  </p:childTnLst>
                                </p:cTn>
                              </p:par>
                              <p:par>
                                <p:cTn id="70" presetID="53" presetClass="entr" presetSubtype="16" fill="hold" grpId="0" nodeType="withEffect">
                                  <p:stCondLst>
                                    <p:cond delay="390"/>
                                  </p:stCondLst>
                                  <p:childTnLst>
                                    <p:set>
                                      <p:cBhvr>
                                        <p:cTn id="71" dur="1" fill="hold">
                                          <p:stCondLst>
                                            <p:cond delay="0"/>
                                          </p:stCondLst>
                                        </p:cTn>
                                        <p:tgtEl>
                                          <p:spTgt spid="114"/>
                                        </p:tgtEl>
                                        <p:attrNameLst>
                                          <p:attrName>style.visibility</p:attrName>
                                        </p:attrNameLst>
                                      </p:cBhvr>
                                      <p:to>
                                        <p:strVal val="visible"/>
                                      </p:to>
                                    </p:set>
                                    <p:anim calcmode="lin" valueType="num">
                                      <p:cBhvr additive="base">
                                        <p:cTn id="72" dur="500" decel="100000" fill="hold"/>
                                        <p:tgtEl>
                                          <p:spTgt spid="114"/>
                                        </p:tgtEl>
                                        <p:attrNameLst>
                                          <p:attrName>ppt_w</p:attrName>
                                        </p:attrNameLst>
                                      </p:cBhvr>
                                      <p:tavLst>
                                        <p:tav tm="0">
                                          <p:val>
                                            <p:strVal val="#ppt_w*0.55"/>
                                          </p:val>
                                        </p:tav>
                                        <p:tav tm="100000">
                                          <p:val>
                                            <p:strVal val="#ppt_w"/>
                                          </p:val>
                                        </p:tav>
                                      </p:tavLst>
                                    </p:anim>
                                    <p:anim calcmode="lin" valueType="num">
                                      <p:cBhvr additive="base">
                                        <p:cTn id="73" dur="500" decel="100000" fill="hold"/>
                                        <p:tgtEl>
                                          <p:spTgt spid="114"/>
                                        </p:tgtEl>
                                        <p:attrNameLst>
                                          <p:attrName>ppt_h</p:attrName>
                                        </p:attrNameLst>
                                      </p:cBhvr>
                                      <p:tavLst>
                                        <p:tav tm="0">
                                          <p:val>
                                            <p:strVal val="#ppt_h*0.55"/>
                                          </p:val>
                                        </p:tav>
                                        <p:tav tm="100000">
                                          <p:val>
                                            <p:strVal val="#ppt_h"/>
                                          </p:val>
                                        </p:tav>
                                      </p:tavLst>
                                    </p:anim>
                                    <p:animEffect transition="in" filter="fade">
                                      <p:cBhvr>
                                        <p:cTn id="74" dur="500"/>
                                        <p:tgtEl>
                                          <p:spTgt spid="114"/>
                                        </p:tgtEl>
                                      </p:cBhvr>
                                    </p:animEffect>
                                  </p:childTnLst>
                                </p:cTn>
                              </p:par>
                              <p:par>
                                <p:cTn id="75" presetID="53" presetClass="entr" presetSubtype="16" fill="hold" nodeType="withEffect">
                                  <p:stCondLst>
                                    <p:cond delay="390"/>
                                  </p:stCondLst>
                                  <p:childTnLst>
                                    <p:set>
                                      <p:cBhvr>
                                        <p:cTn id="76" dur="1" fill="hold">
                                          <p:stCondLst>
                                            <p:cond delay="0"/>
                                          </p:stCondLst>
                                        </p:cTn>
                                        <p:tgtEl>
                                          <p:spTgt spid="115"/>
                                        </p:tgtEl>
                                        <p:attrNameLst>
                                          <p:attrName>style.visibility</p:attrName>
                                        </p:attrNameLst>
                                      </p:cBhvr>
                                      <p:to>
                                        <p:strVal val="visible"/>
                                      </p:to>
                                    </p:set>
                                    <p:anim calcmode="lin" valueType="num">
                                      <p:cBhvr additive="base">
                                        <p:cTn id="77" dur="500" decel="100000" fill="hold"/>
                                        <p:tgtEl>
                                          <p:spTgt spid="115"/>
                                        </p:tgtEl>
                                        <p:attrNameLst>
                                          <p:attrName>ppt_w</p:attrName>
                                        </p:attrNameLst>
                                      </p:cBhvr>
                                      <p:tavLst>
                                        <p:tav tm="0">
                                          <p:val>
                                            <p:strVal val="#ppt_w*0.55"/>
                                          </p:val>
                                        </p:tav>
                                        <p:tav tm="100000">
                                          <p:val>
                                            <p:strVal val="#ppt_w"/>
                                          </p:val>
                                        </p:tav>
                                      </p:tavLst>
                                    </p:anim>
                                    <p:anim calcmode="lin" valueType="num">
                                      <p:cBhvr additive="base">
                                        <p:cTn id="78" dur="500" decel="100000" fill="hold"/>
                                        <p:tgtEl>
                                          <p:spTgt spid="115"/>
                                        </p:tgtEl>
                                        <p:attrNameLst>
                                          <p:attrName>ppt_h</p:attrName>
                                        </p:attrNameLst>
                                      </p:cBhvr>
                                      <p:tavLst>
                                        <p:tav tm="0">
                                          <p:val>
                                            <p:strVal val="#ppt_h*0.55"/>
                                          </p:val>
                                        </p:tav>
                                        <p:tav tm="100000">
                                          <p:val>
                                            <p:strVal val="#ppt_h"/>
                                          </p:val>
                                        </p:tav>
                                      </p:tavLst>
                                    </p:anim>
                                    <p:animEffect transition="in" filter="fade">
                                      <p:cBhvr>
                                        <p:cTn id="79" dur="500"/>
                                        <p:tgtEl>
                                          <p:spTgt spid="115"/>
                                        </p:tgtEl>
                                      </p:cBhvr>
                                    </p:animEffect>
                                  </p:childTnLst>
                                </p:cTn>
                              </p:par>
                              <p:par>
                                <p:cTn id="80" presetID="53" presetClass="entr" presetSubtype="16" fill="hold" grpId="0" nodeType="withEffect">
                                  <p:stCondLst>
                                    <p:cond delay="390"/>
                                  </p:stCondLst>
                                  <p:childTnLst>
                                    <p:set>
                                      <p:cBhvr>
                                        <p:cTn id="81" dur="1" fill="hold">
                                          <p:stCondLst>
                                            <p:cond delay="0"/>
                                          </p:stCondLst>
                                        </p:cTn>
                                        <p:tgtEl>
                                          <p:spTgt spid="116"/>
                                        </p:tgtEl>
                                        <p:attrNameLst>
                                          <p:attrName>style.visibility</p:attrName>
                                        </p:attrNameLst>
                                      </p:cBhvr>
                                      <p:to>
                                        <p:strVal val="visible"/>
                                      </p:to>
                                    </p:set>
                                    <p:anim calcmode="lin" valueType="num">
                                      <p:cBhvr additive="base">
                                        <p:cTn id="82" dur="500" decel="100000" fill="hold"/>
                                        <p:tgtEl>
                                          <p:spTgt spid="116"/>
                                        </p:tgtEl>
                                        <p:attrNameLst>
                                          <p:attrName>ppt_w</p:attrName>
                                        </p:attrNameLst>
                                      </p:cBhvr>
                                      <p:tavLst>
                                        <p:tav tm="0">
                                          <p:val>
                                            <p:strVal val="#ppt_w*0.55"/>
                                          </p:val>
                                        </p:tav>
                                        <p:tav tm="100000">
                                          <p:val>
                                            <p:strVal val="#ppt_w"/>
                                          </p:val>
                                        </p:tav>
                                      </p:tavLst>
                                    </p:anim>
                                    <p:anim calcmode="lin" valueType="num">
                                      <p:cBhvr additive="base">
                                        <p:cTn id="83" dur="500" decel="100000" fill="hold"/>
                                        <p:tgtEl>
                                          <p:spTgt spid="116"/>
                                        </p:tgtEl>
                                        <p:attrNameLst>
                                          <p:attrName>ppt_h</p:attrName>
                                        </p:attrNameLst>
                                      </p:cBhvr>
                                      <p:tavLst>
                                        <p:tav tm="0">
                                          <p:val>
                                            <p:strVal val="#ppt_h*0.55"/>
                                          </p:val>
                                        </p:tav>
                                        <p:tav tm="100000">
                                          <p:val>
                                            <p:strVal val="#ppt_h"/>
                                          </p:val>
                                        </p:tav>
                                      </p:tavLst>
                                    </p:anim>
                                    <p:animEffect transition="in" filter="fade">
                                      <p:cBhvr>
                                        <p:cTn id="84" dur="500"/>
                                        <p:tgtEl>
                                          <p:spTgt spid="116"/>
                                        </p:tgtEl>
                                      </p:cBhvr>
                                    </p:animEffect>
                                  </p:childTnLst>
                                </p:cTn>
                              </p:par>
                              <p:par>
                                <p:cTn id="85" presetID="53" presetClass="entr" presetSubtype="16" fill="hold" grpId="0" nodeType="withEffect">
                                  <p:stCondLst>
                                    <p:cond delay="520"/>
                                  </p:stCondLst>
                                  <p:childTnLst>
                                    <p:set>
                                      <p:cBhvr>
                                        <p:cTn id="86" dur="1" fill="hold">
                                          <p:stCondLst>
                                            <p:cond delay="0"/>
                                          </p:stCondLst>
                                        </p:cTn>
                                        <p:tgtEl>
                                          <p:spTgt spid="117"/>
                                        </p:tgtEl>
                                        <p:attrNameLst>
                                          <p:attrName>style.visibility</p:attrName>
                                        </p:attrNameLst>
                                      </p:cBhvr>
                                      <p:to>
                                        <p:strVal val="visible"/>
                                      </p:to>
                                    </p:set>
                                    <p:anim calcmode="lin" valueType="num">
                                      <p:cBhvr additive="base">
                                        <p:cTn id="87" dur="500" decel="100000" fill="hold"/>
                                        <p:tgtEl>
                                          <p:spTgt spid="117"/>
                                        </p:tgtEl>
                                        <p:attrNameLst>
                                          <p:attrName>ppt_w</p:attrName>
                                        </p:attrNameLst>
                                      </p:cBhvr>
                                      <p:tavLst>
                                        <p:tav tm="0">
                                          <p:val>
                                            <p:strVal val="#ppt_w*0.55"/>
                                          </p:val>
                                        </p:tav>
                                        <p:tav tm="100000">
                                          <p:val>
                                            <p:strVal val="#ppt_w"/>
                                          </p:val>
                                        </p:tav>
                                      </p:tavLst>
                                    </p:anim>
                                    <p:anim calcmode="lin" valueType="num">
                                      <p:cBhvr additive="base">
                                        <p:cTn id="88" dur="500" decel="100000" fill="hold"/>
                                        <p:tgtEl>
                                          <p:spTgt spid="117"/>
                                        </p:tgtEl>
                                        <p:attrNameLst>
                                          <p:attrName>ppt_h</p:attrName>
                                        </p:attrNameLst>
                                      </p:cBhvr>
                                      <p:tavLst>
                                        <p:tav tm="0">
                                          <p:val>
                                            <p:strVal val="#ppt_h*0.55"/>
                                          </p:val>
                                        </p:tav>
                                        <p:tav tm="100000">
                                          <p:val>
                                            <p:strVal val="#ppt_h"/>
                                          </p:val>
                                        </p:tav>
                                      </p:tavLst>
                                    </p:anim>
                                    <p:animEffect transition="in" filter="fade">
                                      <p:cBhvr>
                                        <p:cTn id="89" dur="500"/>
                                        <p:tgtEl>
                                          <p:spTgt spid="117"/>
                                        </p:tgtEl>
                                      </p:cBhvr>
                                    </p:animEffect>
                                  </p:childTnLst>
                                </p:cTn>
                              </p:par>
                              <p:par>
                                <p:cTn id="90" presetID="53" presetClass="entr" presetSubtype="16" fill="hold" grpId="0" nodeType="withEffect">
                                  <p:stCondLst>
                                    <p:cond delay="520"/>
                                  </p:stCondLst>
                                  <p:childTnLst>
                                    <p:set>
                                      <p:cBhvr>
                                        <p:cTn id="91" dur="1" fill="hold">
                                          <p:stCondLst>
                                            <p:cond delay="0"/>
                                          </p:stCondLst>
                                        </p:cTn>
                                        <p:tgtEl>
                                          <p:spTgt spid="118"/>
                                        </p:tgtEl>
                                        <p:attrNameLst>
                                          <p:attrName>style.visibility</p:attrName>
                                        </p:attrNameLst>
                                      </p:cBhvr>
                                      <p:to>
                                        <p:strVal val="visible"/>
                                      </p:to>
                                    </p:set>
                                    <p:anim calcmode="lin" valueType="num">
                                      <p:cBhvr additive="base">
                                        <p:cTn id="92" dur="500" decel="100000" fill="hold"/>
                                        <p:tgtEl>
                                          <p:spTgt spid="118"/>
                                        </p:tgtEl>
                                        <p:attrNameLst>
                                          <p:attrName>ppt_w</p:attrName>
                                        </p:attrNameLst>
                                      </p:cBhvr>
                                      <p:tavLst>
                                        <p:tav tm="0">
                                          <p:val>
                                            <p:strVal val="#ppt_w*0.55"/>
                                          </p:val>
                                        </p:tav>
                                        <p:tav tm="100000">
                                          <p:val>
                                            <p:strVal val="#ppt_w"/>
                                          </p:val>
                                        </p:tav>
                                      </p:tavLst>
                                    </p:anim>
                                    <p:anim calcmode="lin" valueType="num">
                                      <p:cBhvr additive="base">
                                        <p:cTn id="93" dur="500" decel="100000" fill="hold"/>
                                        <p:tgtEl>
                                          <p:spTgt spid="118"/>
                                        </p:tgtEl>
                                        <p:attrNameLst>
                                          <p:attrName>ppt_h</p:attrName>
                                        </p:attrNameLst>
                                      </p:cBhvr>
                                      <p:tavLst>
                                        <p:tav tm="0">
                                          <p:val>
                                            <p:strVal val="#ppt_h*0.55"/>
                                          </p:val>
                                        </p:tav>
                                        <p:tav tm="100000">
                                          <p:val>
                                            <p:strVal val="#ppt_h"/>
                                          </p:val>
                                        </p:tav>
                                      </p:tavLst>
                                    </p:anim>
                                    <p:animEffect transition="in" filter="fade">
                                      <p:cBhvr>
                                        <p:cTn id="94" dur="500"/>
                                        <p:tgtEl>
                                          <p:spTgt spid="118"/>
                                        </p:tgtEl>
                                      </p:cBhvr>
                                    </p:animEffect>
                                  </p:childTnLst>
                                </p:cTn>
                              </p:par>
                              <p:par>
                                <p:cTn id="95" presetID="53" presetClass="entr" presetSubtype="16" fill="hold" nodeType="withEffect">
                                  <p:stCondLst>
                                    <p:cond delay="520"/>
                                  </p:stCondLst>
                                  <p:childTnLst>
                                    <p:set>
                                      <p:cBhvr>
                                        <p:cTn id="96" dur="1" fill="hold">
                                          <p:stCondLst>
                                            <p:cond delay="0"/>
                                          </p:stCondLst>
                                        </p:cTn>
                                        <p:tgtEl>
                                          <p:spTgt spid="119"/>
                                        </p:tgtEl>
                                        <p:attrNameLst>
                                          <p:attrName>style.visibility</p:attrName>
                                        </p:attrNameLst>
                                      </p:cBhvr>
                                      <p:to>
                                        <p:strVal val="visible"/>
                                      </p:to>
                                    </p:set>
                                    <p:anim calcmode="lin" valueType="num">
                                      <p:cBhvr additive="base">
                                        <p:cTn id="97" dur="500" decel="100000" fill="hold"/>
                                        <p:tgtEl>
                                          <p:spTgt spid="119"/>
                                        </p:tgtEl>
                                        <p:attrNameLst>
                                          <p:attrName>ppt_w</p:attrName>
                                        </p:attrNameLst>
                                      </p:cBhvr>
                                      <p:tavLst>
                                        <p:tav tm="0">
                                          <p:val>
                                            <p:strVal val="#ppt_w*0.55"/>
                                          </p:val>
                                        </p:tav>
                                        <p:tav tm="100000">
                                          <p:val>
                                            <p:strVal val="#ppt_w"/>
                                          </p:val>
                                        </p:tav>
                                      </p:tavLst>
                                    </p:anim>
                                    <p:anim calcmode="lin" valueType="num">
                                      <p:cBhvr additive="base">
                                        <p:cTn id="98" dur="500" decel="100000" fill="hold"/>
                                        <p:tgtEl>
                                          <p:spTgt spid="119"/>
                                        </p:tgtEl>
                                        <p:attrNameLst>
                                          <p:attrName>ppt_h</p:attrName>
                                        </p:attrNameLst>
                                      </p:cBhvr>
                                      <p:tavLst>
                                        <p:tav tm="0">
                                          <p:val>
                                            <p:strVal val="#ppt_h*0.55"/>
                                          </p:val>
                                        </p:tav>
                                        <p:tav tm="100000">
                                          <p:val>
                                            <p:strVal val="#ppt_h"/>
                                          </p:val>
                                        </p:tav>
                                      </p:tavLst>
                                    </p:anim>
                                    <p:animEffect transition="in" filter="fade">
                                      <p:cBhvr>
                                        <p:cTn id="99" dur="500"/>
                                        <p:tgtEl>
                                          <p:spTgt spid="119"/>
                                        </p:tgtEl>
                                      </p:cBhvr>
                                    </p:animEffect>
                                  </p:childTnLst>
                                </p:cTn>
                              </p:par>
                              <p:par>
                                <p:cTn id="100" presetID="53" presetClass="entr" presetSubtype="16" fill="hold" grpId="0" nodeType="withEffect">
                                  <p:stCondLst>
                                    <p:cond delay="520"/>
                                  </p:stCondLst>
                                  <p:childTnLst>
                                    <p:set>
                                      <p:cBhvr>
                                        <p:cTn id="101" dur="1" fill="hold">
                                          <p:stCondLst>
                                            <p:cond delay="0"/>
                                          </p:stCondLst>
                                        </p:cTn>
                                        <p:tgtEl>
                                          <p:spTgt spid="120"/>
                                        </p:tgtEl>
                                        <p:attrNameLst>
                                          <p:attrName>style.visibility</p:attrName>
                                        </p:attrNameLst>
                                      </p:cBhvr>
                                      <p:to>
                                        <p:strVal val="visible"/>
                                      </p:to>
                                    </p:set>
                                    <p:anim calcmode="lin" valueType="num">
                                      <p:cBhvr additive="base">
                                        <p:cTn id="102" dur="500" decel="100000" fill="hold"/>
                                        <p:tgtEl>
                                          <p:spTgt spid="120"/>
                                        </p:tgtEl>
                                        <p:attrNameLst>
                                          <p:attrName>ppt_w</p:attrName>
                                        </p:attrNameLst>
                                      </p:cBhvr>
                                      <p:tavLst>
                                        <p:tav tm="0">
                                          <p:val>
                                            <p:strVal val="#ppt_w*0.55"/>
                                          </p:val>
                                        </p:tav>
                                        <p:tav tm="100000">
                                          <p:val>
                                            <p:strVal val="#ppt_w"/>
                                          </p:val>
                                        </p:tav>
                                      </p:tavLst>
                                    </p:anim>
                                    <p:anim calcmode="lin" valueType="num">
                                      <p:cBhvr additive="base">
                                        <p:cTn id="103" dur="500" decel="100000" fill="hold"/>
                                        <p:tgtEl>
                                          <p:spTgt spid="120"/>
                                        </p:tgtEl>
                                        <p:attrNameLst>
                                          <p:attrName>ppt_h</p:attrName>
                                        </p:attrNameLst>
                                      </p:cBhvr>
                                      <p:tavLst>
                                        <p:tav tm="0">
                                          <p:val>
                                            <p:strVal val="#ppt_h*0.55"/>
                                          </p:val>
                                        </p:tav>
                                        <p:tav tm="100000">
                                          <p:val>
                                            <p:strVal val="#ppt_h"/>
                                          </p:val>
                                        </p:tav>
                                      </p:tavLst>
                                    </p:anim>
                                    <p:animEffect transition="in" filter="fade">
                                      <p:cBhvr>
                                        <p:cTn id="104" dur="500"/>
                                        <p:tgtEl>
                                          <p:spTgt spid="120"/>
                                        </p:tgtEl>
                                      </p:cBhvr>
                                    </p:animEffect>
                                  </p:childTnLst>
                                </p:cTn>
                              </p:par>
                              <p:par>
                                <p:cTn id="105" presetID="53" presetClass="entr" presetSubtype="16" fill="hold" grpId="0" nodeType="withEffect">
                                  <p:stCondLst>
                                    <p:cond delay="650"/>
                                  </p:stCondLst>
                                  <p:childTnLst>
                                    <p:set>
                                      <p:cBhvr>
                                        <p:cTn id="106" dur="1" fill="hold">
                                          <p:stCondLst>
                                            <p:cond delay="0"/>
                                          </p:stCondLst>
                                        </p:cTn>
                                        <p:tgtEl>
                                          <p:spTgt spid="121"/>
                                        </p:tgtEl>
                                        <p:attrNameLst>
                                          <p:attrName>style.visibility</p:attrName>
                                        </p:attrNameLst>
                                      </p:cBhvr>
                                      <p:to>
                                        <p:strVal val="visible"/>
                                      </p:to>
                                    </p:set>
                                    <p:anim calcmode="lin" valueType="num">
                                      <p:cBhvr additive="base">
                                        <p:cTn id="107" dur="500" decel="100000" fill="hold"/>
                                        <p:tgtEl>
                                          <p:spTgt spid="121"/>
                                        </p:tgtEl>
                                        <p:attrNameLst>
                                          <p:attrName>ppt_w</p:attrName>
                                        </p:attrNameLst>
                                      </p:cBhvr>
                                      <p:tavLst>
                                        <p:tav tm="0">
                                          <p:val>
                                            <p:strVal val="#ppt_w*0.55"/>
                                          </p:val>
                                        </p:tav>
                                        <p:tav tm="100000">
                                          <p:val>
                                            <p:strVal val="#ppt_w"/>
                                          </p:val>
                                        </p:tav>
                                      </p:tavLst>
                                    </p:anim>
                                    <p:anim calcmode="lin" valueType="num">
                                      <p:cBhvr additive="base">
                                        <p:cTn id="108" dur="500" decel="100000" fill="hold"/>
                                        <p:tgtEl>
                                          <p:spTgt spid="121"/>
                                        </p:tgtEl>
                                        <p:attrNameLst>
                                          <p:attrName>ppt_h</p:attrName>
                                        </p:attrNameLst>
                                      </p:cBhvr>
                                      <p:tavLst>
                                        <p:tav tm="0">
                                          <p:val>
                                            <p:strVal val="#ppt_h*0.55"/>
                                          </p:val>
                                        </p:tav>
                                        <p:tav tm="100000">
                                          <p:val>
                                            <p:strVal val="#ppt_h"/>
                                          </p:val>
                                        </p:tav>
                                      </p:tavLst>
                                    </p:anim>
                                    <p:animEffect transition="in" filter="fade">
                                      <p:cBhvr>
                                        <p:cTn id="109" dur="500"/>
                                        <p:tgtEl>
                                          <p:spTgt spid="121"/>
                                        </p:tgtEl>
                                      </p:cBhvr>
                                    </p:animEffect>
                                  </p:childTnLst>
                                </p:cTn>
                              </p:par>
                              <p:par>
                                <p:cTn id="110" presetID="53" presetClass="entr" presetSubtype="16" fill="hold" grpId="0" nodeType="withEffect">
                                  <p:stCondLst>
                                    <p:cond delay="650"/>
                                  </p:stCondLst>
                                  <p:childTnLst>
                                    <p:set>
                                      <p:cBhvr>
                                        <p:cTn id="111" dur="1" fill="hold">
                                          <p:stCondLst>
                                            <p:cond delay="0"/>
                                          </p:stCondLst>
                                        </p:cTn>
                                        <p:tgtEl>
                                          <p:spTgt spid="122"/>
                                        </p:tgtEl>
                                        <p:attrNameLst>
                                          <p:attrName>style.visibility</p:attrName>
                                        </p:attrNameLst>
                                      </p:cBhvr>
                                      <p:to>
                                        <p:strVal val="visible"/>
                                      </p:to>
                                    </p:set>
                                    <p:anim calcmode="lin" valueType="num">
                                      <p:cBhvr additive="base">
                                        <p:cTn id="112" dur="500" decel="100000" fill="hold"/>
                                        <p:tgtEl>
                                          <p:spTgt spid="122"/>
                                        </p:tgtEl>
                                        <p:attrNameLst>
                                          <p:attrName>ppt_w</p:attrName>
                                        </p:attrNameLst>
                                      </p:cBhvr>
                                      <p:tavLst>
                                        <p:tav tm="0">
                                          <p:val>
                                            <p:strVal val="#ppt_w*0.55"/>
                                          </p:val>
                                        </p:tav>
                                        <p:tav tm="100000">
                                          <p:val>
                                            <p:strVal val="#ppt_w"/>
                                          </p:val>
                                        </p:tav>
                                      </p:tavLst>
                                    </p:anim>
                                    <p:anim calcmode="lin" valueType="num">
                                      <p:cBhvr additive="base">
                                        <p:cTn id="113" dur="500" decel="100000" fill="hold"/>
                                        <p:tgtEl>
                                          <p:spTgt spid="122"/>
                                        </p:tgtEl>
                                        <p:attrNameLst>
                                          <p:attrName>ppt_h</p:attrName>
                                        </p:attrNameLst>
                                      </p:cBhvr>
                                      <p:tavLst>
                                        <p:tav tm="0">
                                          <p:val>
                                            <p:strVal val="#ppt_h*0.55"/>
                                          </p:val>
                                        </p:tav>
                                        <p:tav tm="100000">
                                          <p:val>
                                            <p:strVal val="#ppt_h"/>
                                          </p:val>
                                        </p:tav>
                                      </p:tavLst>
                                    </p:anim>
                                    <p:animEffect transition="in" filter="fade">
                                      <p:cBhvr>
                                        <p:cTn id="114" dur="500"/>
                                        <p:tgtEl>
                                          <p:spTgt spid="122"/>
                                        </p:tgtEl>
                                      </p:cBhvr>
                                    </p:animEffect>
                                  </p:childTnLst>
                                </p:cTn>
                              </p:par>
                              <p:par>
                                <p:cTn id="115" presetID="53" presetClass="entr" presetSubtype="16" fill="hold" nodeType="withEffect">
                                  <p:stCondLst>
                                    <p:cond delay="650"/>
                                  </p:stCondLst>
                                  <p:childTnLst>
                                    <p:set>
                                      <p:cBhvr>
                                        <p:cTn id="116" dur="1" fill="hold">
                                          <p:stCondLst>
                                            <p:cond delay="0"/>
                                          </p:stCondLst>
                                        </p:cTn>
                                        <p:tgtEl>
                                          <p:spTgt spid="123"/>
                                        </p:tgtEl>
                                        <p:attrNameLst>
                                          <p:attrName>style.visibility</p:attrName>
                                        </p:attrNameLst>
                                      </p:cBhvr>
                                      <p:to>
                                        <p:strVal val="visible"/>
                                      </p:to>
                                    </p:set>
                                    <p:anim calcmode="lin" valueType="num">
                                      <p:cBhvr additive="base">
                                        <p:cTn id="117" dur="500" decel="100000" fill="hold"/>
                                        <p:tgtEl>
                                          <p:spTgt spid="123"/>
                                        </p:tgtEl>
                                        <p:attrNameLst>
                                          <p:attrName>ppt_w</p:attrName>
                                        </p:attrNameLst>
                                      </p:cBhvr>
                                      <p:tavLst>
                                        <p:tav tm="0">
                                          <p:val>
                                            <p:strVal val="#ppt_w*0.55"/>
                                          </p:val>
                                        </p:tav>
                                        <p:tav tm="100000">
                                          <p:val>
                                            <p:strVal val="#ppt_w"/>
                                          </p:val>
                                        </p:tav>
                                      </p:tavLst>
                                    </p:anim>
                                    <p:anim calcmode="lin" valueType="num">
                                      <p:cBhvr additive="base">
                                        <p:cTn id="118" dur="500" decel="100000" fill="hold"/>
                                        <p:tgtEl>
                                          <p:spTgt spid="123"/>
                                        </p:tgtEl>
                                        <p:attrNameLst>
                                          <p:attrName>ppt_h</p:attrName>
                                        </p:attrNameLst>
                                      </p:cBhvr>
                                      <p:tavLst>
                                        <p:tav tm="0">
                                          <p:val>
                                            <p:strVal val="#ppt_h*0.55"/>
                                          </p:val>
                                        </p:tav>
                                        <p:tav tm="100000">
                                          <p:val>
                                            <p:strVal val="#ppt_h"/>
                                          </p:val>
                                        </p:tav>
                                      </p:tavLst>
                                    </p:anim>
                                    <p:animEffect transition="in" filter="fade">
                                      <p:cBhvr>
                                        <p:cTn id="119" dur="500"/>
                                        <p:tgtEl>
                                          <p:spTgt spid="123"/>
                                        </p:tgtEl>
                                      </p:cBhvr>
                                    </p:animEffect>
                                  </p:childTnLst>
                                </p:cTn>
                              </p:par>
                              <p:par>
                                <p:cTn id="120" presetID="53" presetClass="entr" presetSubtype="16" fill="hold" grpId="0" nodeType="withEffect">
                                  <p:stCondLst>
                                    <p:cond delay="650"/>
                                  </p:stCondLst>
                                  <p:childTnLst>
                                    <p:set>
                                      <p:cBhvr>
                                        <p:cTn id="121" dur="1" fill="hold">
                                          <p:stCondLst>
                                            <p:cond delay="0"/>
                                          </p:stCondLst>
                                        </p:cTn>
                                        <p:tgtEl>
                                          <p:spTgt spid="124"/>
                                        </p:tgtEl>
                                        <p:attrNameLst>
                                          <p:attrName>style.visibility</p:attrName>
                                        </p:attrNameLst>
                                      </p:cBhvr>
                                      <p:to>
                                        <p:strVal val="visible"/>
                                      </p:to>
                                    </p:set>
                                    <p:anim calcmode="lin" valueType="num">
                                      <p:cBhvr additive="base">
                                        <p:cTn id="122" dur="500" decel="100000" fill="hold"/>
                                        <p:tgtEl>
                                          <p:spTgt spid="124"/>
                                        </p:tgtEl>
                                        <p:attrNameLst>
                                          <p:attrName>ppt_w</p:attrName>
                                        </p:attrNameLst>
                                      </p:cBhvr>
                                      <p:tavLst>
                                        <p:tav tm="0">
                                          <p:val>
                                            <p:strVal val="#ppt_w*0.55"/>
                                          </p:val>
                                        </p:tav>
                                        <p:tav tm="100000">
                                          <p:val>
                                            <p:strVal val="#ppt_w"/>
                                          </p:val>
                                        </p:tav>
                                      </p:tavLst>
                                    </p:anim>
                                    <p:anim calcmode="lin" valueType="num">
                                      <p:cBhvr additive="base">
                                        <p:cTn id="123" dur="500" decel="100000" fill="hold"/>
                                        <p:tgtEl>
                                          <p:spTgt spid="124"/>
                                        </p:tgtEl>
                                        <p:attrNameLst>
                                          <p:attrName>ppt_h</p:attrName>
                                        </p:attrNameLst>
                                      </p:cBhvr>
                                      <p:tavLst>
                                        <p:tav tm="0">
                                          <p:val>
                                            <p:strVal val="#ppt_h*0.55"/>
                                          </p:val>
                                        </p:tav>
                                        <p:tav tm="100000">
                                          <p:val>
                                            <p:strVal val="#ppt_h"/>
                                          </p:val>
                                        </p:tav>
                                      </p:tavLst>
                                    </p:anim>
                                    <p:animEffect transition="in" filter="fade">
                                      <p:cBhvr>
                                        <p:cTn id="124" dur="500"/>
                                        <p:tgtEl>
                                          <p:spTgt spid="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4" grpId="0" animBg="1"/>
      <p:bldP spid="105" grpId="0" animBg="1"/>
      <p:bldP spid="106" grpId="0" animBg="1"/>
      <p:bldP spid="108" grpId="0" animBg="1"/>
      <p:bldP spid="109" grpId="0" animBg="1"/>
      <p:bldP spid="110" grpId="0" animBg="1"/>
      <p:bldP spid="112" grpId="0" animBg="1"/>
      <p:bldP spid="113" grpId="0" animBg="1"/>
      <p:bldP spid="114" grpId="0" animBg="1"/>
      <p:bldP spid="116" grpId="0" animBg="1"/>
      <p:bldP spid="117" grpId="0" animBg="1"/>
      <p:bldP spid="118" grpId="0" animBg="1"/>
      <p:bldP spid="120" grpId="0" animBg="1"/>
      <p:bldP spid="121" grpId="0" animBg="1"/>
      <p:bldP spid="122" grpId="0" animBg="1"/>
      <p:bldP spid="124" grpId="0"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_bg"/>
          <p:cNvSpPr/>
          <p:nvPr/>
        </p:nvSpPr>
        <p:spPr>
          <a:xfrm>
            <a:off x="0" y="0"/>
            <a:ext cx="12191970" cy="6858000"/>
          </a:xfrm>
          <a:prstGeom prst="rect">
            <a:avLst/>
          </a:prstGeom>
          <a:solidFill>
            <a:srgbClr val="0F172A"/>
          </a:solidFill>
          <a:ln w="12700">
            <a:solidFill>
              <a:srgbClr val="0F172A"/>
            </a:solidFill>
          </a:ln>
        </p:spPr>
        <p:txBody>
          <a:bodyPr/>
          <a:lstStyle/>
          <a:p>
            <a:endParaRPr lang="en-US"/>
          </a:p>
        </p:txBody>
      </p:sp>
      <p:sp>
        <p:nvSpPr>
          <p:cNvPr id="3" name="Frame_bar_blue"/>
          <p:cNvSpPr/>
          <p:nvPr/>
        </p:nvSpPr>
        <p:spPr>
          <a:xfrm>
            <a:off x="0" y="0"/>
            <a:ext cx="12191970" cy="54864"/>
          </a:xfrm>
          <a:prstGeom prst="rect">
            <a:avLst/>
          </a:prstGeom>
          <a:solidFill>
            <a:srgbClr val="005EB5"/>
          </a:solidFill>
          <a:ln w="12700">
            <a:solidFill>
              <a:srgbClr val="005EB5"/>
            </a:solidFill>
          </a:ln>
        </p:spPr>
        <p:txBody>
          <a:bodyPr/>
          <a:lstStyle/>
          <a:p>
            <a:endParaRPr lang="en-US"/>
          </a:p>
        </p:txBody>
      </p:sp>
      <p:sp>
        <p:nvSpPr>
          <p:cNvPr id="4" name="Frame_bar_cyan"/>
          <p:cNvSpPr/>
          <p:nvPr/>
        </p:nvSpPr>
        <p:spPr>
          <a:xfrm>
            <a:off x="0" y="54864"/>
            <a:ext cx="12191970" cy="19050"/>
          </a:xfrm>
          <a:prstGeom prst="rect">
            <a:avLst/>
          </a:prstGeom>
          <a:solidFill>
            <a:srgbClr val="13D0F7">
              <a:alpha val="65000"/>
            </a:srgbClr>
          </a:solidFill>
          <a:ln w="12700">
            <a:solidFill>
              <a:srgbClr val="13D0F7">
                <a:alpha val="65000"/>
              </a:srgbClr>
            </a:solidFill>
          </a:ln>
        </p:spPr>
        <p:txBody>
          <a:bodyPr/>
          <a:lstStyle/>
          <a:p>
            <a:endParaRPr lang="en-US"/>
          </a:p>
        </p:txBody>
      </p:sp>
      <p:sp>
        <p:nvSpPr>
          <p:cNvPr id="5" name="Frame_glow_left"/>
          <p:cNvSpPr/>
          <p:nvPr/>
        </p:nvSpPr>
        <p:spPr>
          <a:xfrm>
            <a:off x="-2019270" y="-1647840"/>
            <a:ext cx="6858000" cy="6858000"/>
          </a:xfrm>
          <a:prstGeom prst="ellipse">
            <a:avLst/>
          </a:prstGeom>
          <a:solidFill>
            <a:srgbClr val="13D0F7">
              <a:alpha val="7000"/>
            </a:srgbClr>
          </a:solidFill>
          <a:ln w="12700">
            <a:solidFill>
              <a:srgbClr val="13D0F7">
                <a:alpha val="7000"/>
              </a:srgbClr>
            </a:solidFill>
          </a:ln>
        </p:spPr>
        <p:txBody>
          <a:bodyPr/>
          <a:lstStyle/>
          <a:p>
            <a:endParaRPr lang="en-US"/>
          </a:p>
        </p:txBody>
      </p:sp>
      <p:sp>
        <p:nvSpPr>
          <p:cNvPr id="6" name="Frame_glow_right"/>
          <p:cNvSpPr/>
          <p:nvPr/>
        </p:nvSpPr>
        <p:spPr>
          <a:xfrm>
            <a:off x="8410560" y="4381530"/>
            <a:ext cx="5943600" cy="5943600"/>
          </a:xfrm>
          <a:prstGeom prst="ellipse">
            <a:avLst/>
          </a:prstGeom>
          <a:solidFill>
            <a:srgbClr val="005EB5">
              <a:alpha val="6000"/>
            </a:srgbClr>
          </a:solidFill>
          <a:ln w="12700">
            <a:solidFill>
              <a:srgbClr val="005EB5">
                <a:alpha val="6000"/>
              </a:srgbClr>
            </a:solidFill>
          </a:ln>
        </p:spPr>
        <p:txBody>
          <a:bodyPr/>
          <a:lstStyle/>
          <a:p>
            <a:endParaRPr lang="en-US"/>
          </a:p>
        </p:txBody>
      </p:sp>
      <p:sp>
        <p:nvSpPr>
          <p:cNvPr id="7" name="Tag_pill"/>
          <p:cNvSpPr/>
          <p:nvPr/>
        </p:nvSpPr>
        <p:spPr>
          <a:xfrm>
            <a:off x="542925" y="495300"/>
            <a:ext cx="777240" cy="285750"/>
          </a:xfrm>
          <a:prstGeom prst="roundRect">
            <a:avLst>
              <a:gd name="adj" fmla="val 23333"/>
            </a:avLst>
          </a:prstGeom>
          <a:solidFill>
            <a:srgbClr val="F472B6">
              <a:alpha val="18000"/>
            </a:srgbClr>
          </a:solidFill>
          <a:ln w="12700">
            <a:solidFill>
              <a:srgbClr val="F472B6"/>
            </a:solidFill>
          </a:ln>
        </p:spPr>
        <p:txBody>
          <a:bodyPr wrap="square" lIns="0" tIns="0" rIns="0" bIns="0" rtlCol="0" anchor="ctr">
            <a:noAutofit/>
          </a:bodyPr>
          <a:lstStyle/>
          <a:p>
            <a:pPr marL="0" indent="0" algn="ctr">
              <a:spcBef>
                <a:spcPts val="0"/>
              </a:spcBef>
              <a:spcAft>
                <a:spcPts val="0"/>
              </a:spcAft>
              <a:buNone/>
            </a:pPr>
            <a:r>
              <a:rPr lang="en-US" sz="1000" b="1" dirty="0">
                <a:solidFill>
                  <a:srgbClr val="F472B6"/>
                </a:solidFill>
                <a:latin typeface="Segoe UI"/>
                <a:ea typeface="Segoe UI"/>
                <a:cs typeface="Segoe UI"/>
              </a:rPr>
              <a:t>REPO</a:t>
            </a:r>
            <a:endParaRPr lang="en-US" sz="1000" dirty="0"/>
          </a:p>
        </p:txBody>
      </p:sp>
      <p:sp>
        <p:nvSpPr>
          <p:cNvPr id="8" name="Title"/>
          <p:cNvSpPr txBox="1"/>
          <p:nvPr/>
        </p:nvSpPr>
        <p:spPr>
          <a:xfrm>
            <a:off x="542925" y="914400"/>
            <a:ext cx="11088243" cy="542925"/>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3000" b="1" dirty="0">
                <a:solidFill>
                  <a:srgbClr val="FFFFFF"/>
                </a:solidFill>
                <a:latin typeface="Segoe UI"/>
                <a:ea typeface="Segoe UI"/>
                <a:cs typeface="Segoe UI"/>
              </a:rPr>
              <a:t>Training Repository</a:t>
            </a:r>
            <a:endParaRPr lang="en-US" sz="3000" dirty="0"/>
          </a:p>
        </p:txBody>
      </p:sp>
      <p:sp>
        <p:nvSpPr>
          <p:cNvPr id="15" name="Subtitle"/>
          <p:cNvSpPr txBox="1"/>
          <p:nvPr/>
        </p:nvSpPr>
        <p:spPr>
          <a:xfrm>
            <a:off x="542925" y="1444752"/>
            <a:ext cx="11088243" cy="292608"/>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400" b="1" dirty="0">
                <a:solidFill>
                  <a:srgbClr val="94A3B8"/>
                </a:solidFill>
                <a:latin typeface="Segoe UI"/>
                <a:ea typeface="Segoe UI"/>
                <a:cs typeface="Segoe UI"/>
              </a:rPr>
              <a:t>Simulation-Student-Management-Scrum</a:t>
            </a:r>
            <a:endParaRPr lang="en-US" sz="1400" dirty="0"/>
          </a:p>
        </p:txBody>
      </p:sp>
      <p:sp>
        <p:nvSpPr>
          <p:cNvPr id="9" name="Footer_rule"/>
          <p:cNvSpPr/>
          <p:nvPr/>
        </p:nvSpPr>
        <p:spPr>
          <a:xfrm>
            <a:off x="495300" y="6286500"/>
            <a:ext cx="11182350" cy="0"/>
          </a:xfrm>
          <a:prstGeom prst="line">
            <a:avLst/>
          </a:prstGeom>
          <a:noFill/>
          <a:ln w="9525">
            <a:solidFill>
              <a:srgbClr val="1E3A5F"/>
            </a:solidFill>
          </a:ln>
        </p:spPr>
        <p:txBody>
          <a:bodyPr/>
          <a:lstStyle/>
          <a:p>
            <a:endParaRPr lang="en-US"/>
          </a:p>
        </p:txBody>
      </p:sp>
      <p:pic>
        <p:nvPicPr>
          <p:cNvPr id="10" name="Logo" descr="SIMULATION logo"/>
          <p:cNvPicPr>
            <a:picLocks noChangeAspect="1"/>
          </p:cNvPicPr>
          <p:nvPr/>
        </p:nvPicPr>
        <p:blipFill>
          <a:blip r:embed="rId3"/>
          <a:stretch>
            <a:fillRect/>
          </a:stretch>
        </p:blipFill>
        <p:spPr>
          <a:xfrm>
            <a:off x="495300" y="6381750"/>
            <a:ext cx="342900" cy="257175"/>
          </a:xfrm>
          <a:prstGeom prst="rect">
            <a:avLst/>
          </a:prstGeom>
        </p:spPr>
      </p:pic>
      <p:sp>
        <p:nvSpPr>
          <p:cNvPr id="11" name="Footer_brand"/>
          <p:cNvSpPr txBox="1"/>
          <p:nvPr/>
        </p:nvSpPr>
        <p:spPr>
          <a:xfrm>
            <a:off x="914400" y="6362700"/>
            <a:ext cx="5029200" cy="24765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850" b="1" dirty="0">
                <a:solidFill>
                  <a:srgbClr val="FFFFFF"/>
                </a:solidFill>
                <a:latin typeface="Segoe UI"/>
                <a:ea typeface="Segoe UI"/>
                <a:cs typeface="Segoe UI"/>
              </a:rPr>
              <a:t>SIMULATION</a:t>
            </a:r>
            <a:r>
              <a:rPr lang="en-US" sz="850" b="0" dirty="0">
                <a:solidFill>
                  <a:srgbClr val="64748B"/>
                </a:solidFill>
                <a:latin typeface="Segoe UI"/>
                <a:ea typeface="Segoe UI"/>
                <a:cs typeface="Segoe UI"/>
              </a:rPr>
              <a:t>  ·  </a:t>
            </a:r>
            <a:r>
              <a:rPr lang="en-US" sz="850" b="0" dirty="0">
                <a:solidFill>
                  <a:srgbClr val="94A3B8"/>
                </a:solidFill>
                <a:latin typeface="Segoe UI"/>
                <a:ea typeface="Segoe UI"/>
                <a:cs typeface="Segoe UI"/>
              </a:rPr>
              <a:t>Software House &amp; Academy</a:t>
            </a:r>
            <a:endParaRPr lang="en-US" sz="850" dirty="0"/>
          </a:p>
        </p:txBody>
      </p:sp>
      <p:sp>
        <p:nvSpPr>
          <p:cNvPr id="12" name="Footer_label"/>
          <p:cNvSpPr txBox="1"/>
          <p:nvPr/>
        </p:nvSpPr>
        <p:spPr>
          <a:xfrm>
            <a:off x="3800475" y="6362700"/>
            <a:ext cx="4572000" cy="247650"/>
          </a:xfrm>
          <a:prstGeom prst="rect">
            <a:avLst/>
          </a:prstGeom>
          <a:noFill/>
          <a:ln>
            <a:noFill/>
          </a:ln>
        </p:spPr>
        <p:txBody>
          <a:bodyPr wrap="square" lIns="0" tIns="0" rIns="0" bIns="0" rtlCol="0" anchor="ctr">
            <a:noAutofit/>
          </a:bodyPr>
          <a:lstStyle/>
          <a:p>
            <a:pPr marL="0" indent="0" algn="ctr">
              <a:spcBef>
                <a:spcPts val="0"/>
              </a:spcBef>
              <a:spcAft>
                <a:spcPts val="0"/>
              </a:spcAft>
              <a:buNone/>
            </a:pPr>
            <a:r>
              <a:rPr lang="en-US" sz="850" b="0" dirty="0">
                <a:solidFill>
                  <a:srgbClr val="64748B"/>
                </a:solidFill>
                <a:latin typeface="Segoe UI"/>
                <a:ea typeface="Segoe UI"/>
                <a:cs typeface="Segoe UI"/>
              </a:rPr>
              <a:t>SCRUM · PRACTICE LAB</a:t>
            </a:r>
            <a:endParaRPr lang="en-US" sz="850" dirty="0"/>
          </a:p>
        </p:txBody>
      </p:sp>
      <p:sp>
        <p:nvSpPr>
          <p:cNvPr id="13" name="Footer_url"/>
          <p:cNvSpPr txBox="1"/>
          <p:nvPr/>
        </p:nvSpPr>
        <p:spPr>
          <a:xfrm>
            <a:off x="9258300" y="6362700"/>
            <a:ext cx="1457325"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4D91F0"/>
                </a:solidFill>
                <a:latin typeface="Segoe UI"/>
                <a:ea typeface="Segoe UI"/>
                <a:cs typeface="Segoe UI"/>
              </a:rPr>
              <a:t>simulationeg.com</a:t>
            </a:r>
            <a:endParaRPr lang="en-US" sz="850" dirty="0"/>
          </a:p>
        </p:txBody>
      </p:sp>
      <p:sp>
        <p:nvSpPr>
          <p:cNvPr id="14" name="Footer_num"/>
          <p:cNvSpPr txBox="1"/>
          <p:nvPr/>
        </p:nvSpPr>
        <p:spPr>
          <a:xfrm>
            <a:off x="11229975" y="6362700"/>
            <a:ext cx="457200" cy="247650"/>
          </a:xfrm>
          <a:prstGeom prst="rect">
            <a:avLst/>
          </a:prstGeom>
          <a:noFill/>
          <a:ln>
            <a:noFill/>
          </a:ln>
        </p:spPr>
        <p:txBody>
          <a:bodyPr wrap="square" lIns="0" tIns="0" rIns="0" bIns="0" rtlCol="0" anchor="ctr">
            <a:noAutofit/>
          </a:bodyPr>
          <a:lstStyle/>
          <a:p>
            <a:pPr marL="0" indent="0" algn="r">
              <a:spcBef>
                <a:spcPts val="0"/>
              </a:spcBef>
              <a:spcAft>
                <a:spcPts val="0"/>
              </a:spcAft>
              <a:buNone/>
            </a:pPr>
            <a:r>
              <a:rPr lang="en-US" sz="850" b="0" dirty="0">
                <a:solidFill>
                  <a:srgbClr val="64748B"/>
                </a:solidFill>
                <a:latin typeface="Segoe UI"/>
                <a:ea typeface="Segoe UI"/>
                <a:cs typeface="Segoe UI"/>
              </a:rPr>
              <a:t>310</a:t>
            </a:r>
            <a:endParaRPr lang="en-US" sz="850" dirty="0"/>
          </a:p>
        </p:txBody>
      </p:sp>
      <p:sp>
        <p:nvSpPr>
          <p:cNvPr id="101" name="s101"/>
          <p:cNvSpPr/>
          <p:nvPr/>
        </p:nvSpPr>
        <p:spPr>
          <a:xfrm>
            <a:off x="543154" y="1920240"/>
            <a:ext cx="11088014" cy="960120"/>
          </a:xfrm>
          <a:prstGeom prst="roundRect">
            <a:avLst>
              <a:gd name="adj" fmla="val 10000"/>
            </a:avLst>
          </a:prstGeom>
          <a:solidFill>
            <a:srgbClr val="060D18"/>
          </a:solidFill>
          <a:ln w="19050">
            <a:solidFill>
              <a:srgbClr val="F472B6"/>
            </a:solidFill>
            <a:prstDash val="solid"/>
          </a:ln>
        </p:spPr>
        <p:txBody>
          <a:bodyPr wrap="square" lIns="1005840" tIns="45720" rIns="274320" bIns="45720" rtlCol="0" anchor="ctr">
            <a:noAutofit/>
          </a:bodyPr>
          <a:lstStyle/>
          <a:p>
            <a:pPr marL="0" indent="0" algn="l">
              <a:spcBef>
                <a:spcPts val="0"/>
              </a:spcBef>
              <a:spcAft>
                <a:spcPts val="300"/>
              </a:spcAft>
              <a:buNone/>
            </a:pPr>
            <a:r>
              <a:rPr lang="en-US" sz="1050" b="1" dirty="0">
                <a:solidFill>
                  <a:srgbClr val="F472B6"/>
                </a:solidFill>
                <a:latin typeface="Segoe UI"/>
                <a:ea typeface="Segoe UI"/>
                <a:cs typeface="Segoe UI"/>
              </a:rPr>
              <a:t>OPEN THIS REPOSITORY</a:t>
            </a:r>
            <a:endParaRPr lang="en-US" sz="1050" dirty="0"/>
          </a:p>
          <a:p>
            <a:pPr marL="0" indent="0" algn="l">
              <a:spcBef>
                <a:spcPts val="0"/>
              </a:spcBef>
              <a:spcAft>
                <a:spcPts val="0"/>
              </a:spcAft>
              <a:buNone/>
            </a:pPr>
            <a:r>
              <a:rPr lang="en-US" sz="1700" b="1" dirty="0">
                <a:solidFill>
                  <a:srgbClr val="FFFFFF"/>
                </a:solidFill>
                <a:latin typeface="Consolas"/>
                <a:ea typeface="Consolas"/>
                <a:cs typeface="Consolas"/>
              </a:rPr>
              <a:t>https://github.com/SimulationEG/Simulation-Student-Management-Scrum</a:t>
            </a:r>
            <a:endParaRPr lang="en-US" sz="1700" dirty="0"/>
          </a:p>
        </p:txBody>
      </p:sp>
      <p:pic>
        <p:nvPicPr>
          <p:cNvPr id="102" name="img102"/>
          <p:cNvPicPr>
            <a:picLocks noChangeAspect="1"/>
          </p:cNvPicPr>
          <p:nvPr/>
        </p:nvPicPr>
        <p:blipFill>
          <a:blip r:embed="rId4"/>
          <a:stretch>
            <a:fillRect/>
          </a:stretch>
        </p:blipFill>
        <p:spPr>
          <a:xfrm>
            <a:off x="817474" y="2103120"/>
            <a:ext cx="594360" cy="594360"/>
          </a:xfrm>
          <a:prstGeom prst="rect">
            <a:avLst/>
          </a:prstGeom>
        </p:spPr>
      </p:pic>
      <p:sp>
        <p:nvSpPr>
          <p:cNvPr id="103" name="s103"/>
          <p:cNvSpPr/>
          <p:nvPr/>
        </p:nvSpPr>
        <p:spPr>
          <a:xfrm>
            <a:off x="543154" y="3154680"/>
            <a:ext cx="5406847" cy="2468880"/>
          </a:xfrm>
          <a:prstGeom prst="roundRect">
            <a:avLst>
              <a:gd name="adj" fmla="val 8000"/>
            </a:avLst>
          </a:prstGeom>
          <a:solidFill>
            <a:srgbClr val="111B2E"/>
          </a:solidFill>
          <a:ln w="12700">
            <a:solidFill>
              <a:srgbClr val="1E3A5F"/>
            </a:solidFill>
            <a:prstDash val="solid"/>
          </a:ln>
        </p:spPr>
        <p:txBody>
          <a:bodyPr wrap="square" lIns="164592" tIns="109728" rIns="137160" bIns="91440" rtlCol="0" anchor="t">
            <a:noAutofit/>
          </a:bodyPr>
          <a:lstStyle/>
          <a:p>
            <a:endParaRPr lang="en-US"/>
          </a:p>
        </p:txBody>
      </p:sp>
      <p:sp>
        <p:nvSpPr>
          <p:cNvPr id="104" name="s104"/>
          <p:cNvSpPr txBox="1"/>
          <p:nvPr/>
        </p:nvSpPr>
        <p:spPr>
          <a:xfrm>
            <a:off x="817474" y="3291840"/>
            <a:ext cx="4858207" cy="274320"/>
          </a:xfrm>
          <a:prstGeom prst="rect">
            <a:avLst/>
          </a:prstGeom>
          <a:noFill/>
          <a:ln>
            <a:noFill/>
          </a:ln>
        </p:spPr>
        <p:txBody>
          <a:bodyPr wrap="square" lIns="0" tIns="0" rIns="0" bIns="0" rtlCol="0" anchor="t">
            <a:noAutofit/>
          </a:bodyPr>
          <a:lstStyle/>
          <a:p>
            <a:pPr marL="0" indent="0" algn="l">
              <a:spcBef>
                <a:spcPts val="0"/>
              </a:spcBef>
              <a:spcAft>
                <a:spcPts val="0"/>
              </a:spcAft>
              <a:buNone/>
            </a:pPr>
            <a:r>
              <a:rPr lang="en-US" sz="1100" b="1" dirty="0">
                <a:solidFill>
                  <a:srgbClr val="13D0F7"/>
                </a:solidFill>
                <a:latin typeface="Segoe UI"/>
                <a:ea typeface="Segoe UI"/>
                <a:cs typeface="Segoe UI"/>
              </a:rPr>
              <a:t>INSIDE THE REPO</a:t>
            </a:r>
            <a:endParaRPr lang="en-US" sz="1100" dirty="0"/>
          </a:p>
        </p:txBody>
      </p:sp>
      <p:pic>
        <p:nvPicPr>
          <p:cNvPr id="105" name="img105"/>
          <p:cNvPicPr>
            <a:picLocks noChangeAspect="1"/>
          </p:cNvPicPr>
          <p:nvPr/>
        </p:nvPicPr>
        <p:blipFill>
          <a:blip r:embed="rId5"/>
          <a:stretch>
            <a:fillRect/>
          </a:stretch>
        </p:blipFill>
        <p:spPr>
          <a:xfrm>
            <a:off x="817474" y="3703320"/>
            <a:ext cx="329184" cy="329184"/>
          </a:xfrm>
          <a:prstGeom prst="rect">
            <a:avLst/>
          </a:prstGeom>
        </p:spPr>
      </p:pic>
      <p:sp>
        <p:nvSpPr>
          <p:cNvPr id="106" name="s106"/>
          <p:cNvSpPr txBox="1"/>
          <p:nvPr/>
        </p:nvSpPr>
        <p:spPr>
          <a:xfrm>
            <a:off x="1274674" y="3685032"/>
            <a:ext cx="4492447"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FFFFFF"/>
                </a:solidFill>
                <a:latin typeface="Segoe UI"/>
                <a:ea typeface="Segoe UI"/>
                <a:cs typeface="Segoe UI"/>
              </a:rPr>
              <a:t>Issue templates · PR template</a:t>
            </a:r>
            <a:endParaRPr lang="en-US" sz="1350" dirty="0"/>
          </a:p>
        </p:txBody>
      </p:sp>
      <p:pic>
        <p:nvPicPr>
          <p:cNvPr id="107" name="img107"/>
          <p:cNvPicPr>
            <a:picLocks noChangeAspect="1"/>
          </p:cNvPicPr>
          <p:nvPr/>
        </p:nvPicPr>
        <p:blipFill>
          <a:blip r:embed="rId6"/>
          <a:stretch>
            <a:fillRect/>
          </a:stretch>
        </p:blipFill>
        <p:spPr>
          <a:xfrm>
            <a:off x="817474" y="4160520"/>
            <a:ext cx="329184" cy="329184"/>
          </a:xfrm>
          <a:prstGeom prst="rect">
            <a:avLst/>
          </a:prstGeom>
        </p:spPr>
      </p:pic>
      <p:sp>
        <p:nvSpPr>
          <p:cNvPr id="108" name="s108"/>
          <p:cNvSpPr txBox="1"/>
          <p:nvPr/>
        </p:nvSpPr>
        <p:spPr>
          <a:xfrm>
            <a:off x="1274674" y="4142232"/>
            <a:ext cx="4492447"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FFFFFF"/>
                </a:solidFill>
                <a:latin typeface="Segoe UI"/>
                <a:ea typeface="Segoe UI"/>
                <a:cs typeface="Segoe UI"/>
              </a:rPr>
              <a:t>docs/agile</a:t>
            </a:r>
            <a:endParaRPr lang="en-US" sz="1350" dirty="0"/>
          </a:p>
        </p:txBody>
      </p:sp>
      <p:pic>
        <p:nvPicPr>
          <p:cNvPr id="109" name="img109"/>
          <p:cNvPicPr>
            <a:picLocks noChangeAspect="1"/>
          </p:cNvPicPr>
          <p:nvPr/>
        </p:nvPicPr>
        <p:blipFill>
          <a:blip r:embed="rId7"/>
          <a:stretch>
            <a:fillRect/>
          </a:stretch>
        </p:blipFill>
        <p:spPr>
          <a:xfrm>
            <a:off x="817474" y="4617720"/>
            <a:ext cx="329184" cy="329184"/>
          </a:xfrm>
          <a:prstGeom prst="rect">
            <a:avLst/>
          </a:prstGeom>
        </p:spPr>
      </p:pic>
      <p:sp>
        <p:nvSpPr>
          <p:cNvPr id="110" name="s110"/>
          <p:cNvSpPr txBox="1"/>
          <p:nvPr/>
        </p:nvSpPr>
        <p:spPr>
          <a:xfrm>
            <a:off x="1274674" y="4599432"/>
            <a:ext cx="4492447"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FFFFFF"/>
                </a:solidFill>
                <a:latin typeface="Segoe UI"/>
                <a:ea typeface="Segoe UI"/>
                <a:cs typeface="Segoe UI"/>
              </a:rPr>
              <a:t>Setup script</a:t>
            </a:r>
            <a:endParaRPr lang="en-US" sz="1350" dirty="0"/>
          </a:p>
        </p:txBody>
      </p:sp>
      <p:pic>
        <p:nvPicPr>
          <p:cNvPr id="111" name="img111"/>
          <p:cNvPicPr>
            <a:picLocks noChangeAspect="1"/>
          </p:cNvPicPr>
          <p:nvPr/>
        </p:nvPicPr>
        <p:blipFill>
          <a:blip r:embed="rId8"/>
          <a:stretch>
            <a:fillRect/>
          </a:stretch>
        </p:blipFill>
        <p:spPr>
          <a:xfrm>
            <a:off x="817474" y="5074920"/>
            <a:ext cx="329184" cy="329184"/>
          </a:xfrm>
          <a:prstGeom prst="rect">
            <a:avLst/>
          </a:prstGeom>
        </p:spPr>
      </p:pic>
      <p:sp>
        <p:nvSpPr>
          <p:cNvPr id="112" name="s112"/>
          <p:cNvSpPr txBox="1"/>
          <p:nvPr/>
        </p:nvSpPr>
        <p:spPr>
          <a:xfrm>
            <a:off x="1274674" y="5056632"/>
            <a:ext cx="4492447" cy="365760"/>
          </a:xfrm>
          <a:prstGeom prst="rect">
            <a:avLst/>
          </a:prstGeom>
          <a:noFill/>
          <a:ln>
            <a:noFill/>
          </a:ln>
        </p:spPr>
        <p:txBody>
          <a:bodyPr wrap="square" lIns="0" tIns="0" rIns="0" bIns="0" rtlCol="0" anchor="ctr">
            <a:noAutofit/>
          </a:bodyPr>
          <a:lstStyle/>
          <a:p>
            <a:pPr marL="0" indent="0" algn="l">
              <a:spcBef>
                <a:spcPts val="0"/>
              </a:spcBef>
              <a:spcAft>
                <a:spcPts val="0"/>
              </a:spcAft>
              <a:buNone/>
            </a:pPr>
            <a:r>
              <a:rPr lang="en-US" sz="1350" b="0" dirty="0">
                <a:solidFill>
                  <a:srgbClr val="FFFFFF"/>
                </a:solidFill>
                <a:latin typeface="Segoe UI"/>
                <a:ea typeface="Segoe UI"/>
                <a:cs typeface="Segoe UI"/>
              </a:rPr>
              <a:t>Sprint 1 seed backlog</a:t>
            </a:r>
            <a:endParaRPr lang="en-US" sz="1350" dirty="0"/>
          </a:p>
        </p:txBody>
      </p:sp>
      <p:sp>
        <p:nvSpPr>
          <p:cNvPr id="113" name="s113"/>
          <p:cNvSpPr/>
          <p:nvPr/>
        </p:nvSpPr>
        <p:spPr>
          <a:xfrm>
            <a:off x="6224321" y="3154680"/>
            <a:ext cx="5406847" cy="2468880"/>
          </a:xfrm>
          <a:prstGeom prst="roundRect">
            <a:avLst>
              <a:gd name="adj" fmla="val 8000"/>
            </a:avLst>
          </a:prstGeom>
          <a:solidFill>
            <a:srgbClr val="34D399">
              <a:alpha val="8000"/>
            </a:srgbClr>
          </a:solidFill>
          <a:ln w="12700">
            <a:solidFill>
              <a:srgbClr val="34D399"/>
            </a:solidFill>
            <a:prstDash val="solid"/>
          </a:ln>
        </p:spPr>
        <p:txBody>
          <a:bodyPr wrap="square" lIns="320040" tIns="91440" rIns="274320" bIns="91440" rtlCol="0" anchor="ctr">
            <a:noAutofit/>
          </a:bodyPr>
          <a:lstStyle/>
          <a:p>
            <a:pPr marL="0" indent="0" algn="l">
              <a:spcBef>
                <a:spcPts val="0"/>
              </a:spcBef>
              <a:spcAft>
                <a:spcPts val="800"/>
              </a:spcAft>
              <a:buNone/>
            </a:pPr>
            <a:r>
              <a:rPr lang="en-US" sz="1100" b="1" dirty="0">
                <a:solidFill>
                  <a:srgbClr val="34D399"/>
                </a:solidFill>
                <a:latin typeface="Segoe UI"/>
                <a:ea typeface="Segoe UI"/>
                <a:cs typeface="Segoe UI"/>
              </a:rPr>
              <a:t>SPRINT 1 GOAL</a:t>
            </a:r>
            <a:endParaRPr lang="en-US" sz="1100" dirty="0"/>
          </a:p>
          <a:p>
            <a:pPr marL="0" indent="0" algn="l">
              <a:spcBef>
                <a:spcPts val="0"/>
              </a:spcBef>
              <a:spcAft>
                <a:spcPts val="1200"/>
              </a:spcAft>
              <a:buNone/>
            </a:pPr>
            <a:r>
              <a:rPr lang="en-US" sz="1900" b="1" dirty="0">
                <a:solidFill>
                  <a:srgbClr val="FFFFFF"/>
                </a:solidFill>
                <a:latin typeface="Segoe UI"/>
                <a:ea typeface="Segoe UI"/>
                <a:cs typeface="Segoe UI"/>
              </a:rPr>
              <a:t>Users can create an account and log in successfully.</a:t>
            </a:r>
            <a:endParaRPr lang="en-US" sz="1900" dirty="0"/>
          </a:p>
          <a:p>
            <a:pPr marL="0" indent="0" algn="l">
              <a:spcBef>
                <a:spcPts val="0"/>
              </a:spcBef>
              <a:spcAft>
                <a:spcPts val="0"/>
              </a:spcAft>
              <a:buNone/>
            </a:pPr>
            <a:r>
              <a:rPr lang="en-US" sz="1400" b="0" dirty="0">
                <a:solidFill>
                  <a:srgbClr val="94A3B8"/>
                </a:solidFill>
                <a:latin typeface="Segoe UI"/>
                <a:ea typeface="Segoe UI"/>
                <a:cs typeface="Segoe UI"/>
              </a:rPr>
              <a:t>Capacity: </a:t>
            </a:r>
            <a:r>
              <a:rPr lang="en-US" sz="1400" b="1" dirty="0">
                <a:solidFill>
                  <a:srgbClr val="34D399"/>
                </a:solidFill>
                <a:latin typeface="Segoe UI"/>
                <a:ea typeface="Segoe UI"/>
                <a:cs typeface="Segoe UI"/>
              </a:rPr>
              <a:t>20 points</a:t>
            </a:r>
            <a:endParaRPr lang="en-US" sz="1400" dirty="0"/>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decel="100000" fill="hold"/>
                                        <p:tgtEl>
                                          <p:spTgt spid="101"/>
                                        </p:tgtEl>
                                        <p:attrNameLst>
                                          <p:attrName>ppt_w</p:attrName>
                                        </p:attrNameLst>
                                      </p:cBhvr>
                                      <p:tavLst>
                                        <p:tav tm="0">
                                          <p:val>
                                            <p:strVal val="#ppt_w*0.55"/>
                                          </p:val>
                                        </p:tav>
                                        <p:tav tm="100000">
                                          <p:val>
                                            <p:strVal val="#ppt_w"/>
                                          </p:val>
                                        </p:tav>
                                      </p:tavLst>
                                    </p:anim>
                                    <p:anim calcmode="lin" valueType="num">
                                      <p:cBhvr additive="base">
                                        <p:cTn id="8" dur="500" decel="100000" fill="hold"/>
                                        <p:tgtEl>
                                          <p:spTgt spid="101"/>
                                        </p:tgtEl>
                                        <p:attrNameLst>
                                          <p:attrName>ppt_h</p:attrName>
                                        </p:attrNameLst>
                                      </p:cBhvr>
                                      <p:tavLst>
                                        <p:tav tm="0">
                                          <p:val>
                                            <p:strVal val="#ppt_h*0.55"/>
                                          </p:val>
                                        </p:tav>
                                        <p:tav tm="100000">
                                          <p:val>
                                            <p:strVal val="#ppt_h"/>
                                          </p:val>
                                        </p:tav>
                                      </p:tavLst>
                                    </p:anim>
                                    <p:animEffect transition="in" filter="fade">
                                      <p:cBhvr>
                                        <p:cTn id="9" dur="500"/>
                                        <p:tgtEl>
                                          <p:spTgt spid="101"/>
                                        </p:tgtEl>
                                      </p:cBhvr>
                                    </p:animEffect>
                                  </p:childTnLst>
                                </p:cTn>
                              </p:par>
                              <p:par>
                                <p:cTn id="10" presetID="53" presetClass="entr" presetSubtype="16" fill="hold" nodeType="withEffect">
                                  <p:stCondLst>
                                    <p:cond delay="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500" decel="100000" fill="hold"/>
                                        <p:tgtEl>
                                          <p:spTgt spid="102"/>
                                        </p:tgtEl>
                                        <p:attrNameLst>
                                          <p:attrName>ppt_w</p:attrName>
                                        </p:attrNameLst>
                                      </p:cBhvr>
                                      <p:tavLst>
                                        <p:tav tm="0">
                                          <p:val>
                                            <p:strVal val="#ppt_w*0.55"/>
                                          </p:val>
                                        </p:tav>
                                        <p:tav tm="100000">
                                          <p:val>
                                            <p:strVal val="#ppt_w"/>
                                          </p:val>
                                        </p:tav>
                                      </p:tavLst>
                                    </p:anim>
                                    <p:anim calcmode="lin" valueType="num">
                                      <p:cBhvr additive="base">
                                        <p:cTn id="13" dur="500" decel="100000" fill="hold"/>
                                        <p:tgtEl>
                                          <p:spTgt spid="102"/>
                                        </p:tgtEl>
                                        <p:attrNameLst>
                                          <p:attrName>ppt_h</p:attrName>
                                        </p:attrNameLst>
                                      </p:cBhvr>
                                      <p:tavLst>
                                        <p:tav tm="0">
                                          <p:val>
                                            <p:strVal val="#ppt_h*0.55"/>
                                          </p:val>
                                        </p:tav>
                                        <p:tav tm="100000">
                                          <p:val>
                                            <p:strVal val="#ppt_h"/>
                                          </p:val>
                                        </p:tav>
                                      </p:tavLst>
                                    </p:anim>
                                    <p:animEffect transition="in" filter="fade">
                                      <p:cBhvr>
                                        <p:cTn id="14" dur="500"/>
                                        <p:tgtEl>
                                          <p:spTgt spid="102"/>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3"/>
                                        </p:tgtEl>
                                        <p:attrNameLst>
                                          <p:attrName>style.visibility</p:attrName>
                                        </p:attrNameLst>
                                      </p:cBhvr>
                                      <p:to>
                                        <p:strVal val="visible"/>
                                      </p:to>
                                    </p:set>
                                    <p:animEffect transition="in" filter="fade">
                                      <p:cBhvr>
                                        <p:cTn id="19" dur="500"/>
                                        <p:tgtEl>
                                          <p:spTgt spid="103"/>
                                        </p:tgtEl>
                                      </p:cBhvr>
                                    </p:animEffect>
                                    <p:anim calcmode="lin" valueType="num">
                                      <p:cBhvr additive="base">
                                        <p:cTn id="20" dur="500" decel="100000" fill="hold"/>
                                        <p:tgtEl>
                                          <p:spTgt spid="103"/>
                                        </p:tgtEl>
                                        <p:attrNameLst>
                                          <p:attrName>ppt_x</p:attrName>
                                        </p:attrNameLst>
                                      </p:cBhvr>
                                      <p:tavLst>
                                        <p:tav tm="0">
                                          <p:val>
                                            <p:strVal val="#ppt_x-0.05"/>
                                          </p:val>
                                        </p:tav>
                                        <p:tav tm="100000">
                                          <p:val>
                                            <p:strVal val="#ppt_x"/>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04"/>
                                        </p:tgtEl>
                                        <p:attrNameLst>
                                          <p:attrName>style.visibility</p:attrName>
                                        </p:attrNameLst>
                                      </p:cBhvr>
                                      <p:to>
                                        <p:strVal val="visible"/>
                                      </p:to>
                                    </p:set>
                                    <p:animEffect transition="in" filter="fade">
                                      <p:cBhvr>
                                        <p:cTn id="23" dur="500"/>
                                        <p:tgtEl>
                                          <p:spTgt spid="104"/>
                                        </p:tgtEl>
                                      </p:cBhvr>
                                    </p:animEffect>
                                    <p:anim calcmode="lin" valueType="num">
                                      <p:cBhvr additive="base">
                                        <p:cTn id="24" dur="500" decel="100000" fill="hold"/>
                                        <p:tgtEl>
                                          <p:spTgt spid="104"/>
                                        </p:tgtEl>
                                        <p:attrNameLst>
                                          <p:attrName>ppt_x</p:attrName>
                                        </p:attrNameLst>
                                      </p:cBhvr>
                                      <p:tavLst>
                                        <p:tav tm="0">
                                          <p:val>
                                            <p:strVal val="#ppt_x-0.05"/>
                                          </p:val>
                                        </p:tav>
                                        <p:tav tm="100000">
                                          <p:val>
                                            <p:strVal val="#ppt_x"/>
                                          </p:val>
                                        </p:tav>
                                      </p:tavLst>
                                    </p:anim>
                                  </p:childTnLst>
                                </p:cTn>
                              </p:par>
                              <p:par>
                                <p:cTn id="25" presetID="42" presetClass="entr" presetSubtype="0" fill="hold" nodeType="withEffect">
                                  <p:stCondLst>
                                    <p:cond delay="12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anim calcmode="lin" valueType="num">
                                      <p:cBhvr additive="base">
                                        <p:cTn id="28" dur="500" decel="100000" fill="hold"/>
                                        <p:tgtEl>
                                          <p:spTgt spid="105"/>
                                        </p:tgtEl>
                                        <p:attrNameLst>
                                          <p:attrName>ppt_x</p:attrName>
                                        </p:attrNameLst>
                                      </p:cBhvr>
                                      <p:tavLst>
                                        <p:tav tm="0">
                                          <p:val>
                                            <p:strVal val="#ppt_x-0.05"/>
                                          </p:val>
                                        </p:tav>
                                        <p:tav tm="100000">
                                          <p:val>
                                            <p:strVal val="#ppt_x"/>
                                          </p:val>
                                        </p:tav>
                                      </p:tavLst>
                                    </p:anim>
                                  </p:childTnLst>
                                </p:cTn>
                              </p:par>
                              <p:par>
                                <p:cTn id="29" presetID="42" presetClass="entr" presetSubtype="0" fill="hold" grpId="0" nodeType="withEffect">
                                  <p:stCondLst>
                                    <p:cond delay="120"/>
                                  </p:stCondLst>
                                  <p:childTnLst>
                                    <p:set>
                                      <p:cBhvr>
                                        <p:cTn id="30" dur="1" fill="hold">
                                          <p:stCondLst>
                                            <p:cond delay="0"/>
                                          </p:stCondLst>
                                        </p:cTn>
                                        <p:tgtEl>
                                          <p:spTgt spid="106"/>
                                        </p:tgtEl>
                                        <p:attrNameLst>
                                          <p:attrName>style.visibility</p:attrName>
                                        </p:attrNameLst>
                                      </p:cBhvr>
                                      <p:to>
                                        <p:strVal val="visible"/>
                                      </p:to>
                                    </p:set>
                                    <p:animEffect transition="in" filter="fade">
                                      <p:cBhvr>
                                        <p:cTn id="31" dur="500"/>
                                        <p:tgtEl>
                                          <p:spTgt spid="106"/>
                                        </p:tgtEl>
                                      </p:cBhvr>
                                    </p:animEffect>
                                    <p:anim calcmode="lin" valueType="num">
                                      <p:cBhvr additive="base">
                                        <p:cTn id="32" dur="500" decel="100000" fill="hold"/>
                                        <p:tgtEl>
                                          <p:spTgt spid="106"/>
                                        </p:tgtEl>
                                        <p:attrNameLst>
                                          <p:attrName>ppt_x</p:attrName>
                                        </p:attrNameLst>
                                      </p:cBhvr>
                                      <p:tavLst>
                                        <p:tav tm="0">
                                          <p:val>
                                            <p:strVal val="#ppt_x-0.05"/>
                                          </p:val>
                                        </p:tav>
                                        <p:tav tm="100000">
                                          <p:val>
                                            <p:strVal val="#ppt_x"/>
                                          </p:val>
                                        </p:tav>
                                      </p:tavLst>
                                    </p:anim>
                                  </p:childTnLst>
                                </p:cTn>
                              </p:par>
                              <p:par>
                                <p:cTn id="33" presetID="42" presetClass="entr" presetSubtype="0" fill="hold" nodeType="withEffect">
                                  <p:stCondLst>
                                    <p:cond delay="240"/>
                                  </p:stCondLst>
                                  <p:childTnLst>
                                    <p:set>
                                      <p:cBhvr>
                                        <p:cTn id="34" dur="1" fill="hold">
                                          <p:stCondLst>
                                            <p:cond delay="0"/>
                                          </p:stCondLst>
                                        </p:cTn>
                                        <p:tgtEl>
                                          <p:spTgt spid="107"/>
                                        </p:tgtEl>
                                        <p:attrNameLst>
                                          <p:attrName>style.visibility</p:attrName>
                                        </p:attrNameLst>
                                      </p:cBhvr>
                                      <p:to>
                                        <p:strVal val="visible"/>
                                      </p:to>
                                    </p:set>
                                    <p:animEffect transition="in" filter="fade">
                                      <p:cBhvr>
                                        <p:cTn id="35" dur="500"/>
                                        <p:tgtEl>
                                          <p:spTgt spid="107"/>
                                        </p:tgtEl>
                                      </p:cBhvr>
                                    </p:animEffect>
                                    <p:anim calcmode="lin" valueType="num">
                                      <p:cBhvr additive="base">
                                        <p:cTn id="36" dur="500" decel="100000" fill="hold"/>
                                        <p:tgtEl>
                                          <p:spTgt spid="107"/>
                                        </p:tgtEl>
                                        <p:attrNameLst>
                                          <p:attrName>ppt_x</p:attrName>
                                        </p:attrNameLst>
                                      </p:cBhvr>
                                      <p:tavLst>
                                        <p:tav tm="0">
                                          <p:val>
                                            <p:strVal val="#ppt_x-0.05"/>
                                          </p:val>
                                        </p:tav>
                                        <p:tav tm="100000">
                                          <p:val>
                                            <p:strVal val="#ppt_x"/>
                                          </p:val>
                                        </p:tav>
                                      </p:tavLst>
                                    </p:anim>
                                  </p:childTnLst>
                                </p:cTn>
                              </p:par>
                              <p:par>
                                <p:cTn id="37" presetID="42" presetClass="entr" presetSubtype="0" fill="hold" grpId="0" nodeType="withEffect">
                                  <p:stCondLst>
                                    <p:cond delay="240"/>
                                  </p:stCondLst>
                                  <p:childTnLst>
                                    <p:set>
                                      <p:cBhvr>
                                        <p:cTn id="38" dur="1" fill="hold">
                                          <p:stCondLst>
                                            <p:cond delay="0"/>
                                          </p:stCondLst>
                                        </p:cTn>
                                        <p:tgtEl>
                                          <p:spTgt spid="108"/>
                                        </p:tgtEl>
                                        <p:attrNameLst>
                                          <p:attrName>style.visibility</p:attrName>
                                        </p:attrNameLst>
                                      </p:cBhvr>
                                      <p:to>
                                        <p:strVal val="visible"/>
                                      </p:to>
                                    </p:set>
                                    <p:animEffect transition="in" filter="fade">
                                      <p:cBhvr>
                                        <p:cTn id="39" dur="500"/>
                                        <p:tgtEl>
                                          <p:spTgt spid="108"/>
                                        </p:tgtEl>
                                      </p:cBhvr>
                                    </p:animEffect>
                                    <p:anim calcmode="lin" valueType="num">
                                      <p:cBhvr additive="base">
                                        <p:cTn id="40" dur="500" decel="100000" fill="hold"/>
                                        <p:tgtEl>
                                          <p:spTgt spid="108"/>
                                        </p:tgtEl>
                                        <p:attrNameLst>
                                          <p:attrName>ppt_x</p:attrName>
                                        </p:attrNameLst>
                                      </p:cBhvr>
                                      <p:tavLst>
                                        <p:tav tm="0">
                                          <p:val>
                                            <p:strVal val="#ppt_x-0.05"/>
                                          </p:val>
                                        </p:tav>
                                        <p:tav tm="100000">
                                          <p:val>
                                            <p:strVal val="#ppt_x"/>
                                          </p:val>
                                        </p:tav>
                                      </p:tavLst>
                                    </p:anim>
                                  </p:childTnLst>
                                </p:cTn>
                              </p:par>
                              <p:par>
                                <p:cTn id="41" presetID="42" presetClass="entr" presetSubtype="0" fill="hold" nodeType="withEffect">
                                  <p:stCondLst>
                                    <p:cond delay="360"/>
                                  </p:stCondLst>
                                  <p:childTnLst>
                                    <p:set>
                                      <p:cBhvr>
                                        <p:cTn id="42" dur="1" fill="hold">
                                          <p:stCondLst>
                                            <p:cond delay="0"/>
                                          </p:stCondLst>
                                        </p:cTn>
                                        <p:tgtEl>
                                          <p:spTgt spid="109"/>
                                        </p:tgtEl>
                                        <p:attrNameLst>
                                          <p:attrName>style.visibility</p:attrName>
                                        </p:attrNameLst>
                                      </p:cBhvr>
                                      <p:to>
                                        <p:strVal val="visible"/>
                                      </p:to>
                                    </p:set>
                                    <p:animEffect transition="in" filter="fade">
                                      <p:cBhvr>
                                        <p:cTn id="43" dur="500"/>
                                        <p:tgtEl>
                                          <p:spTgt spid="109"/>
                                        </p:tgtEl>
                                      </p:cBhvr>
                                    </p:animEffect>
                                    <p:anim calcmode="lin" valueType="num">
                                      <p:cBhvr additive="base">
                                        <p:cTn id="44" dur="500" decel="100000" fill="hold"/>
                                        <p:tgtEl>
                                          <p:spTgt spid="109"/>
                                        </p:tgtEl>
                                        <p:attrNameLst>
                                          <p:attrName>ppt_x</p:attrName>
                                        </p:attrNameLst>
                                      </p:cBhvr>
                                      <p:tavLst>
                                        <p:tav tm="0">
                                          <p:val>
                                            <p:strVal val="#ppt_x-0.05"/>
                                          </p:val>
                                        </p:tav>
                                        <p:tav tm="100000">
                                          <p:val>
                                            <p:strVal val="#ppt_x"/>
                                          </p:val>
                                        </p:tav>
                                      </p:tavLst>
                                    </p:anim>
                                  </p:childTnLst>
                                </p:cTn>
                              </p:par>
                              <p:par>
                                <p:cTn id="45" presetID="42" presetClass="entr" presetSubtype="0" fill="hold" grpId="0" nodeType="withEffect">
                                  <p:stCondLst>
                                    <p:cond delay="360"/>
                                  </p:stCondLst>
                                  <p:childTnLst>
                                    <p:set>
                                      <p:cBhvr>
                                        <p:cTn id="46" dur="1" fill="hold">
                                          <p:stCondLst>
                                            <p:cond delay="0"/>
                                          </p:stCondLst>
                                        </p:cTn>
                                        <p:tgtEl>
                                          <p:spTgt spid="110"/>
                                        </p:tgtEl>
                                        <p:attrNameLst>
                                          <p:attrName>style.visibility</p:attrName>
                                        </p:attrNameLst>
                                      </p:cBhvr>
                                      <p:to>
                                        <p:strVal val="visible"/>
                                      </p:to>
                                    </p:set>
                                    <p:animEffect transition="in" filter="fade">
                                      <p:cBhvr>
                                        <p:cTn id="47" dur="500"/>
                                        <p:tgtEl>
                                          <p:spTgt spid="110"/>
                                        </p:tgtEl>
                                      </p:cBhvr>
                                    </p:animEffect>
                                    <p:anim calcmode="lin" valueType="num">
                                      <p:cBhvr additive="base">
                                        <p:cTn id="48" dur="500" decel="100000" fill="hold"/>
                                        <p:tgtEl>
                                          <p:spTgt spid="110"/>
                                        </p:tgtEl>
                                        <p:attrNameLst>
                                          <p:attrName>ppt_x</p:attrName>
                                        </p:attrNameLst>
                                      </p:cBhvr>
                                      <p:tavLst>
                                        <p:tav tm="0">
                                          <p:val>
                                            <p:strVal val="#ppt_x-0.05"/>
                                          </p:val>
                                        </p:tav>
                                        <p:tav tm="100000">
                                          <p:val>
                                            <p:strVal val="#ppt_x"/>
                                          </p:val>
                                        </p:tav>
                                      </p:tavLst>
                                    </p:anim>
                                  </p:childTnLst>
                                </p:cTn>
                              </p:par>
                              <p:par>
                                <p:cTn id="49" presetID="42" presetClass="entr" presetSubtype="0" fill="hold" nodeType="withEffect">
                                  <p:stCondLst>
                                    <p:cond delay="480"/>
                                  </p:stCondLst>
                                  <p:childTnLst>
                                    <p:set>
                                      <p:cBhvr>
                                        <p:cTn id="50" dur="1" fill="hold">
                                          <p:stCondLst>
                                            <p:cond delay="0"/>
                                          </p:stCondLst>
                                        </p:cTn>
                                        <p:tgtEl>
                                          <p:spTgt spid="111"/>
                                        </p:tgtEl>
                                        <p:attrNameLst>
                                          <p:attrName>style.visibility</p:attrName>
                                        </p:attrNameLst>
                                      </p:cBhvr>
                                      <p:to>
                                        <p:strVal val="visible"/>
                                      </p:to>
                                    </p:set>
                                    <p:animEffect transition="in" filter="fade">
                                      <p:cBhvr>
                                        <p:cTn id="51" dur="500"/>
                                        <p:tgtEl>
                                          <p:spTgt spid="111"/>
                                        </p:tgtEl>
                                      </p:cBhvr>
                                    </p:animEffect>
                                    <p:anim calcmode="lin" valueType="num">
                                      <p:cBhvr additive="base">
                                        <p:cTn id="52" dur="500" decel="100000" fill="hold"/>
                                        <p:tgtEl>
                                          <p:spTgt spid="111"/>
                                        </p:tgtEl>
                                        <p:attrNameLst>
                                          <p:attrName>ppt_x</p:attrName>
                                        </p:attrNameLst>
                                      </p:cBhvr>
                                      <p:tavLst>
                                        <p:tav tm="0">
                                          <p:val>
                                            <p:strVal val="#ppt_x-0.05"/>
                                          </p:val>
                                        </p:tav>
                                        <p:tav tm="100000">
                                          <p:val>
                                            <p:strVal val="#ppt_x"/>
                                          </p:val>
                                        </p:tav>
                                      </p:tavLst>
                                    </p:anim>
                                  </p:childTnLst>
                                </p:cTn>
                              </p:par>
                              <p:par>
                                <p:cTn id="53" presetID="42" presetClass="entr" presetSubtype="0" fill="hold" grpId="0" nodeType="withEffect">
                                  <p:stCondLst>
                                    <p:cond delay="480"/>
                                  </p:stCondLst>
                                  <p:childTnLst>
                                    <p:set>
                                      <p:cBhvr>
                                        <p:cTn id="54" dur="1" fill="hold">
                                          <p:stCondLst>
                                            <p:cond delay="0"/>
                                          </p:stCondLst>
                                        </p:cTn>
                                        <p:tgtEl>
                                          <p:spTgt spid="112"/>
                                        </p:tgtEl>
                                        <p:attrNameLst>
                                          <p:attrName>style.visibility</p:attrName>
                                        </p:attrNameLst>
                                      </p:cBhvr>
                                      <p:to>
                                        <p:strVal val="visible"/>
                                      </p:to>
                                    </p:set>
                                    <p:animEffect transition="in" filter="fade">
                                      <p:cBhvr>
                                        <p:cTn id="55" dur="500"/>
                                        <p:tgtEl>
                                          <p:spTgt spid="112"/>
                                        </p:tgtEl>
                                      </p:cBhvr>
                                    </p:animEffect>
                                    <p:anim calcmode="lin" valueType="num">
                                      <p:cBhvr additive="base">
                                        <p:cTn id="56" dur="500" decel="100000" fill="hold"/>
                                        <p:tgtEl>
                                          <p:spTgt spid="112"/>
                                        </p:tgtEl>
                                        <p:attrNameLst>
                                          <p:attrName>ppt_x</p:attrName>
                                        </p:attrNameLst>
                                      </p:cBhvr>
                                      <p:tavLst>
                                        <p:tav tm="0">
                                          <p:val>
                                            <p:strVal val="#ppt_x-0.05"/>
                                          </p:val>
                                        </p:tav>
                                        <p:tav tm="100000">
                                          <p:val>
                                            <p:strVal val="#ppt_x"/>
                                          </p:val>
                                        </p:tav>
                                      </p:tavLst>
                                    </p:anim>
                                  </p:childTnLst>
                                </p:cTn>
                              </p:par>
                            </p:childTnLst>
                          </p:cTn>
                        </p:par>
                      </p:childTnLst>
                    </p:cTn>
                  </p:par>
                  <p:par>
                    <p:cTn id="57" fill="hold">
                      <p:stCondLst>
                        <p:cond delay="indefinite"/>
                      </p:stCondLst>
                      <p:childTnLst>
                        <p:par>
                          <p:cTn id="58" fill="hold">
                            <p:stCondLst>
                              <p:cond delay="0"/>
                            </p:stCondLst>
                            <p:childTnLst>
                              <p:par>
                                <p:cTn id="59" presetID="53" presetClass="entr" presetSubtype="16" fill="hold" grpId="0" nodeType="clickEffect">
                                  <p:stCondLst>
                                    <p:cond delay="0"/>
                                  </p:stCondLst>
                                  <p:childTnLst>
                                    <p:set>
                                      <p:cBhvr>
                                        <p:cTn id="60" dur="1" fill="hold">
                                          <p:stCondLst>
                                            <p:cond delay="0"/>
                                          </p:stCondLst>
                                        </p:cTn>
                                        <p:tgtEl>
                                          <p:spTgt spid="113"/>
                                        </p:tgtEl>
                                        <p:attrNameLst>
                                          <p:attrName>style.visibility</p:attrName>
                                        </p:attrNameLst>
                                      </p:cBhvr>
                                      <p:to>
                                        <p:strVal val="visible"/>
                                      </p:to>
                                    </p:set>
                                    <p:anim calcmode="lin" valueType="num">
                                      <p:cBhvr additive="base">
                                        <p:cTn id="61" dur="500" decel="100000" fill="hold"/>
                                        <p:tgtEl>
                                          <p:spTgt spid="113"/>
                                        </p:tgtEl>
                                        <p:attrNameLst>
                                          <p:attrName>ppt_w</p:attrName>
                                        </p:attrNameLst>
                                      </p:cBhvr>
                                      <p:tavLst>
                                        <p:tav tm="0">
                                          <p:val>
                                            <p:strVal val="#ppt_w*0.55"/>
                                          </p:val>
                                        </p:tav>
                                        <p:tav tm="100000">
                                          <p:val>
                                            <p:strVal val="#ppt_w"/>
                                          </p:val>
                                        </p:tav>
                                      </p:tavLst>
                                    </p:anim>
                                    <p:anim calcmode="lin" valueType="num">
                                      <p:cBhvr additive="base">
                                        <p:cTn id="62" dur="500" decel="100000" fill="hold"/>
                                        <p:tgtEl>
                                          <p:spTgt spid="113"/>
                                        </p:tgtEl>
                                        <p:attrNameLst>
                                          <p:attrName>ppt_h</p:attrName>
                                        </p:attrNameLst>
                                      </p:cBhvr>
                                      <p:tavLst>
                                        <p:tav tm="0">
                                          <p:val>
                                            <p:strVal val="#ppt_h*0.55"/>
                                          </p:val>
                                        </p:tav>
                                        <p:tav tm="100000">
                                          <p:val>
                                            <p:strVal val="#ppt_h"/>
                                          </p:val>
                                        </p:tav>
                                      </p:tavLst>
                                    </p:anim>
                                    <p:animEffect transition="in" filter="fade">
                                      <p:cBhvr>
                                        <p:cTn id="63" dur="50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3" grpId="0" animBg="1"/>
      <p:bldP spid="104" grpId="0" animBg="1"/>
      <p:bldP spid="106" grpId="0" animBg="1"/>
      <p:bldP spid="108" grpId="0" animBg="1"/>
      <p:bldP spid="110" grpId="0" animBg="1"/>
      <p:bldP spid="112" grpId="0" animBg="1"/>
      <p:bldP spid="113" grpId="0" animBg="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4467</TotalTime>
  <Words>42808</Words>
  <Application>Microsoft Office PowerPoint</Application>
  <PresentationFormat>Widescreen</PresentationFormat>
  <Paragraphs>5887</Paragraphs>
  <Slides>202</Slides>
  <Notes>202</Notes>
  <HiddenSlides>0</HiddenSlides>
  <MMClips>0</MMClips>
  <ScaleCrop>false</ScaleCrop>
  <HeadingPairs>
    <vt:vector size="6" baseType="variant">
      <vt:variant>
        <vt:lpstr>Fonts Used</vt:lpstr>
      </vt:variant>
      <vt:variant>
        <vt:i4>3</vt:i4>
      </vt:variant>
      <vt:variant>
        <vt:lpstr>Theme</vt:lpstr>
      </vt:variant>
      <vt:variant>
        <vt:i4>1</vt:i4>
      </vt:variant>
      <vt:variant>
        <vt:lpstr>Slide Titles</vt:lpstr>
      </vt:variant>
      <vt:variant>
        <vt:i4>202</vt:i4>
      </vt:variant>
    </vt:vector>
  </HeadingPairs>
  <TitlesOfParts>
    <vt:vector size="206" baseType="lpstr">
      <vt:lpstr>Arial</vt:lpstr>
      <vt:lpstr>Consolas</vt:lpstr>
      <vt:lpstr>Segoe UI</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Advanced C# 03: Threads, Tasks, Async, Files &amp; Testing</dc:title>
  <dc:subject>PptxGenJS Presentation</dc:subject>
  <dc:creator>SIMULATION Software House &amp; Academy</dc:creator>
  <cp:lastModifiedBy>Abdelrahman Mohamed</cp:lastModifiedBy>
  <cp:revision>94</cp:revision>
  <dcterms:created xsi:type="dcterms:W3CDTF">2026-09-21T13:45:27Z</dcterms:created>
  <dcterms:modified xsi:type="dcterms:W3CDTF">2026-10-22T16:26:37Z</dcterms:modified>
</cp:coreProperties>
</file>